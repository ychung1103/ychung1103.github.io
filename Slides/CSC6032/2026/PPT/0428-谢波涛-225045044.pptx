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3"/>
  </p:sldMasterIdLst>
  <p:notesMasterIdLst>
    <p:notesMasterId r:id="rId5"/>
  </p:notesMasterIdLst>
  <p:sldIdLst>
    <p:sldId id="256" r:id="rId4"/>
    <p:sldId id="529" r:id="rId6"/>
    <p:sldId id="570" r:id="rId7"/>
    <p:sldId id="567" r:id="rId8"/>
    <p:sldId id="568" r:id="rId9"/>
    <p:sldId id="569" r:id="rId10"/>
    <p:sldId id="571" r:id="rId11"/>
    <p:sldId id="572" r:id="rId12"/>
    <p:sldId id="573" r:id="rId13"/>
    <p:sldId id="574" r:id="rId14"/>
    <p:sldId id="596" r:id="rId15"/>
    <p:sldId id="575" r:id="rId16"/>
    <p:sldId id="584" r:id="rId17"/>
    <p:sldId id="585" r:id="rId18"/>
    <p:sldId id="586" r:id="rId19"/>
    <p:sldId id="577" r:id="rId20"/>
    <p:sldId id="597" r:id="rId21"/>
    <p:sldId id="576" r:id="rId22"/>
    <p:sldId id="588" r:id="rId23"/>
    <p:sldId id="589" r:id="rId24"/>
    <p:sldId id="590" r:id="rId25"/>
    <p:sldId id="591" r:id="rId26"/>
    <p:sldId id="600" r:id="rId27"/>
    <p:sldId id="579" r:id="rId28"/>
    <p:sldId id="598" r:id="rId29"/>
    <p:sldId id="578" r:id="rId30"/>
    <p:sldId id="592" r:id="rId31"/>
    <p:sldId id="593" r:id="rId32"/>
    <p:sldId id="594" r:id="rId33"/>
    <p:sldId id="599" r:id="rId34"/>
    <p:sldId id="580" r:id="rId35"/>
    <p:sldId id="582" r:id="rId36"/>
    <p:sldId id="583" r:id="rId3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hepherd" initials="authorId_shepherd" lastIdx="6"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0" autoAdjust="0"/>
    <p:restoredTop sz="94660"/>
  </p:normalViewPr>
  <p:slideViewPr>
    <p:cSldViewPr snapToGrid="0">
      <p:cViewPr varScale="1">
        <p:scale>
          <a:sx n="104" d="100"/>
          <a:sy n="104" d="100"/>
        </p:scale>
        <p:origin x="61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1" Type="http://schemas.openxmlformats.org/officeDocument/2006/relationships/commentAuthors" Target="commentAuthors.xml"/><Relationship Id="rId40" Type="http://schemas.openxmlformats.org/officeDocument/2006/relationships/tableStyles" Target="tableStyles.xml"/><Relationship Id="rId4" Type="http://schemas.openxmlformats.org/officeDocument/2006/relationships/slide" Target="slides/slide1.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1F4A7B-8284-4E61-88F9-84C6CA6E31E8}" type="datetimeFigureOut">
              <a:rPr lang="zh-TW" altLang="en-US" smtClean="0"/>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1D5518-E2B7-47D3-A483-775D39982443}" type="slidenum">
              <a:rPr lang="zh-TW" altLang="en-US" smtClean="0"/>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Hello, everyone. I am Botao Xie from the School of Data Science. Today I am going to give my presentation titled: "From Storage to Intelligence: The Evolution of Agent Memory Management".</a:t>
            </a:r>
            <a:endParaRPr lang="en-US"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CN" dirty="0"/>
              <a:t>Here is the outline. Firstly, we will give a short introduction to agent memory. Secondly we will cover the background and motivation. Thirdly, we will dive into three papers: MemGPT from </a:t>
            </a:r>
            <a:r>
              <a:rPr lang="en-US" altLang="zh-CN" dirty="0">
                <a:latin typeface="Times New Roman Regular" panose="02020503050405090304" charset="0"/>
                <a:cs typeface="Times New Roman Regular" panose="02020503050405090304" charset="0"/>
                <a:sym typeface="+mn-ea"/>
              </a:rPr>
              <a:t>University of California</a:t>
            </a:r>
            <a:r>
              <a:rPr lang="en-US" altLang="zh-CN" dirty="0"/>
              <a:t>, A-MEM from *</a:t>
            </a:r>
            <a:r>
              <a:rPr lang="en-US" altLang="zh-CN" dirty="0">
                <a:latin typeface="Times New Roman Regular" panose="02020503050405090304" charset="0"/>
                <a:cs typeface="Times New Roman Regular" panose="02020503050405090304" charset="0"/>
                <a:sym typeface="+mn-ea"/>
              </a:rPr>
              <a:t>Rutgers( ru grs ) University</a:t>
            </a:r>
            <a:r>
              <a:rPr lang="en-US" altLang="zh-CN" dirty="0"/>
              <a:t>, and GAM from </a:t>
            </a:r>
            <a:r>
              <a:rPr lang="en-US" altLang="zh-CN" dirty="0" err="1">
                <a:latin typeface="Times New Roman Regular" panose="02020503050405090304" charset="0"/>
                <a:cs typeface="Times New Roman Regular" panose="02020503050405090304" charset="0"/>
                <a:sym typeface="+mn-ea"/>
              </a:rPr>
              <a:t>Zhejiang University</a:t>
            </a:r>
            <a:r>
              <a:rPr lang="en-US" altLang="zh-CN" dirty="0"/>
              <a:t>. And finally, we will conclude with the key takeaways.</a:t>
            </a:r>
            <a:endParaRPr lang="en-US" altLang="zh-CN" dirty="0"/>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fld>
            <a:endParaRPr lang="zh-TW"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CN" dirty="0"/>
              <a:t>Let’s start with the introduction.</a:t>
            </a:r>
            <a:endParaRPr lang="zh-CN" altLang="en-US" dirty="0"/>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fld>
            <a:endParaRPr lang="zh-TW"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So, what is agent memory? It is the core capability that empowers foundation models to store, manage, and evolve their experiences during complex, long-term interactions. Architecturally, it acts as a "wrapper system" built upon large language models. As shown in Figure 1, memory system works directly with LLM Agents to better interact with the environment.</a:t>
            </a:r>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Then why is using agent memory necessary? The main reason is Large Language models are stateless and have limited context windows. Once this limit is reached, the model *loses(luziz) the ability to track long-term interactions. Furthermore, while modern context windows are expanding, this growth comes at the cost of significantly higher power consumption and latency, making external memory management a much more cost-efficient alternative.</a:t>
            </a:r>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The memory lifecycle consists of three stages : </a:t>
            </a:r>
            <a:endParaRPr lang="en-US" altLang="zh-CN"/>
          </a:p>
          <a:p>
            <a:r>
              <a:rPr lang="en-US" altLang="zh-CN"/>
              <a:t>Formation, where experiences are encoded into storage; </a:t>
            </a:r>
            <a:endParaRPr lang="en-US" altLang="zh-CN"/>
          </a:p>
          <a:p>
            <a:r>
              <a:rPr lang="en-US" altLang="zh-CN"/>
              <a:t>Evolution, where memory is updated and refined through reflection and consolidation; </a:t>
            </a:r>
            <a:endParaRPr lang="en-US" altLang="zh-CN"/>
          </a:p>
          <a:p>
            <a:r>
              <a:rPr lang="en-US" altLang="zh-CN"/>
              <a:t>and *Retrieval(ritri:vl), which ensures precise access to task-relevant information based on context and semantics.</a:t>
            </a:r>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CN" dirty="0"/>
              <a:t>Let’s go to the backgound and motivation.</a:t>
            </a:r>
            <a:endParaRPr lang="en-US" altLang="zh-CN" dirty="0"/>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fld>
            <a:endParaRPr lang="zh-TW"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Managing agent memory is a complex system task that goes far beyond simple data storage. We face </a:t>
            </a:r>
            <a:r>
              <a:rPr lang="en-US" altLang="zh-CN"/>
              <a:t>three primary technical challenges:</a:t>
            </a:r>
            <a:endParaRPr lang="en-US" altLang="zh-CN"/>
          </a:p>
          <a:p>
            <a:endParaRPr lang="en-US" altLang="zh-CN"/>
          </a:p>
          <a:p>
            <a:r>
              <a:rPr lang="en-US" altLang="zh-CN"/>
              <a:t>Firstly, accuracy: We must e</a:t>
            </a:r>
            <a:r>
              <a:rPr lang="en-US" altLang="zh-CN" kern="0" dirty="0">
                <a:latin typeface="Times New Roman" panose="02020503050405090304" pitchFamily="18" charset="0"/>
                <a:cs typeface="Times New Roman" panose="02020503050405090304" pitchFamily="18" charset="0"/>
                <a:sym typeface="+mn-ea"/>
              </a:rPr>
              <a:t>nsure precise retrieval and factual consistency across sessions while preventing *hallucinations(h</a:t>
            </a:r>
            <a:r>
              <a:rPr lang="" altLang="en-US" kern="0" dirty="0">
                <a:latin typeface="Times New Roman" panose="02020503050405090304" pitchFamily="18" charset="0"/>
                <a:cs typeface="Times New Roman" panose="02020503050405090304" pitchFamily="18" charset="0"/>
                <a:sym typeface="+mn-ea"/>
              </a:rPr>
              <a:t>əˌ</a:t>
            </a:r>
            <a:r>
              <a:rPr lang="en-US" altLang="zh-CN" kern="0" dirty="0">
                <a:latin typeface="Times New Roman" panose="02020503050405090304" pitchFamily="18" charset="0"/>
                <a:cs typeface="Times New Roman" panose="02020503050405090304" pitchFamily="18" charset="0"/>
                <a:sym typeface="+mn-ea"/>
              </a:rPr>
              <a:t>lu</a:t>
            </a:r>
            <a:r>
              <a:rPr lang="en-US" altLang="en-US" kern="0" dirty="0">
                <a:latin typeface="Times New Roman" panose="02020503050405090304" pitchFamily="18" charset="0"/>
                <a:cs typeface="Times New Roman" panose="02020503050405090304" pitchFamily="18" charset="0"/>
                <a:sym typeface="+mn-ea"/>
              </a:rPr>
              <a:t>ː</a:t>
            </a:r>
            <a:r>
              <a:rPr lang="en-US" altLang="zh-CN" kern="0" dirty="0">
                <a:latin typeface="Times New Roman" panose="02020503050405090304" pitchFamily="18" charset="0"/>
                <a:cs typeface="Times New Roman" panose="02020503050405090304" pitchFamily="18" charset="0"/>
                <a:sym typeface="+mn-ea"/>
              </a:rPr>
              <a:t>s</a:t>
            </a:r>
            <a:r>
              <a:rPr lang="" altLang="en-US" kern="0" dirty="0">
                <a:latin typeface="Times New Roman" panose="02020503050405090304" pitchFamily="18" charset="0"/>
                <a:cs typeface="Times New Roman" panose="02020503050405090304" pitchFamily="18" charset="0"/>
                <a:sym typeface="+mn-ea"/>
              </a:rPr>
              <a:t>ɪˈ</a:t>
            </a:r>
            <a:r>
              <a:rPr lang="en-US" altLang="zh-CN" kern="0" dirty="0">
                <a:latin typeface="Times New Roman" panose="02020503050405090304" pitchFamily="18" charset="0"/>
                <a:cs typeface="Times New Roman" panose="02020503050405090304" pitchFamily="18" charset="0"/>
                <a:sym typeface="+mn-ea"/>
              </a:rPr>
              <a:t>ne</a:t>
            </a:r>
            <a:r>
              <a:rPr lang="" altLang="en-US" kern="0" dirty="0">
                <a:latin typeface="Times New Roman" panose="02020503050405090304" pitchFamily="18" charset="0"/>
                <a:cs typeface="Times New Roman" panose="02020503050405090304" pitchFamily="18" charset="0"/>
                <a:sym typeface="+mn-ea"/>
              </a:rPr>
              <a:t>ɪʃ(ə)</a:t>
            </a:r>
            <a:r>
              <a:rPr lang="en-US" altLang="zh-CN" kern="0" dirty="0">
                <a:latin typeface="Times New Roman" panose="02020503050405090304" pitchFamily="18" charset="0"/>
                <a:cs typeface="Times New Roman" panose="02020503050405090304" pitchFamily="18" charset="0"/>
                <a:sym typeface="+mn-ea"/>
              </a:rPr>
              <a:t>n</a:t>
            </a:r>
            <a:r>
              <a:rPr lang="en-US" altLang="zh-CN" kern="0" dirty="0">
                <a:latin typeface="Times New Roman" panose="02020503050405090304" pitchFamily="18" charset="0"/>
                <a:cs typeface="Times New Roman" panose="02020503050405090304" pitchFamily="18" charset="0"/>
                <a:sym typeface="+mn-ea"/>
              </a:rPr>
              <a:t>) from outdated or misinterpreted data.</a:t>
            </a:r>
            <a:endParaRPr lang="en-US" altLang="zh-CN"/>
          </a:p>
          <a:p>
            <a:endParaRPr lang="en-US" altLang="zh-CN"/>
          </a:p>
          <a:p>
            <a:r>
              <a:rPr lang="en-US" altLang="zh-CN"/>
              <a:t>Secondly, efficiency: Frequent memory read/write operations can lead to significant computational latency and high token costs; we need systems that perform these tasks with minimal overhead.</a:t>
            </a:r>
            <a:endParaRPr lang="en-US" altLang="zh-CN"/>
          </a:p>
          <a:p>
            <a:endParaRPr lang="en-US" altLang="zh-CN"/>
          </a:p>
          <a:p>
            <a:r>
              <a:rPr lang="en-US" altLang="zh-CN"/>
              <a:t>Thirdly, scalability: As memory *repositories(r</a:t>
            </a:r>
            <a:r>
              <a:rPr lang="" altLang="en-US"/>
              <a:t>ɪˈ</a:t>
            </a:r>
            <a:r>
              <a:rPr lang="en-US" altLang="zh-CN"/>
              <a:t>p</a:t>
            </a:r>
            <a:r>
              <a:rPr lang="en-US" altLang="en-US"/>
              <a:t>ɑː</a:t>
            </a:r>
            <a:r>
              <a:rPr lang="en-US" altLang="zh-CN"/>
              <a:t>z</a:t>
            </a:r>
            <a:r>
              <a:rPr lang="" altLang="en-US"/>
              <a:t>ə</a:t>
            </a:r>
            <a:r>
              <a:rPr lang="en-US" altLang="zh-CN"/>
              <a:t>t</a:t>
            </a:r>
            <a:r>
              <a:rPr lang="" altLang="en-US"/>
              <a:t>ɔ</a:t>
            </a:r>
            <a:r>
              <a:rPr lang="en-US" altLang="en-US"/>
              <a:t>ː</a:t>
            </a:r>
            <a:r>
              <a:rPr lang="en-US" altLang="zh-CN"/>
              <a:t>ris) grow into large-scale datasets, the challenge becomes retrieving relevant </a:t>
            </a:r>
            <a:r>
              <a:rPr lang="en-US" altLang="zh-CN" kern="0" dirty="0">
                <a:latin typeface="Times New Roman" panose="02020503050405090304" pitchFamily="18" charset="0"/>
                <a:cs typeface="Times New Roman" panose="02020503050405090304" pitchFamily="18" charset="0"/>
                <a:sym typeface="+mn-ea"/>
              </a:rPr>
              <a:t>memories </a:t>
            </a:r>
            <a:r>
              <a:rPr lang="en-US" altLang="zh-CN"/>
              <a:t>instantly without searching through an endless, unorganized backlog.</a:t>
            </a:r>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To address these challenges, the research community come up with structural token-level memory, as shown in Figure 2, *categorized by *topological(t</a:t>
            </a:r>
            <a:r>
              <a:rPr lang="" altLang="en-US"/>
              <a:t>ɒ</a:t>
            </a:r>
            <a:r>
              <a:rPr lang="en-US" altLang="zh-CN"/>
              <a:t>p</a:t>
            </a:r>
            <a:r>
              <a:rPr lang="" altLang="en-US"/>
              <a:t>əˈ</a:t>
            </a:r>
            <a:r>
              <a:rPr lang="en-US" altLang="zh-CN"/>
              <a:t>l</a:t>
            </a:r>
            <a:r>
              <a:rPr lang="" altLang="en-US"/>
              <a:t>ɒ</a:t>
            </a:r>
            <a:r>
              <a:rPr lang="en-US" altLang="zh-CN"/>
              <a:t>d</a:t>
            </a:r>
            <a:r>
              <a:rPr lang="" altLang="en-US"/>
              <a:t>ʒɪ</a:t>
            </a:r>
            <a:r>
              <a:rPr lang="en-US" altLang="zh-CN"/>
              <a:t>kl</a:t>
            </a:r>
            <a:r>
              <a:rPr lang="en-US" altLang="zh-CN"/>
              <a:t>) complexity:</a:t>
            </a:r>
            <a:endParaRPr lang="en-US" altLang="zh-CN"/>
          </a:p>
          <a:p>
            <a:endParaRPr lang="en-US" altLang="zh-CN"/>
          </a:p>
          <a:p>
            <a:r>
              <a:rPr lang="en-US" altLang="zh-CN"/>
              <a:t>The First one is Flat (1D) Memory: Early systems organized memories as discrete units, such as basic dialogue logs or experience chunks.</a:t>
            </a:r>
            <a:endParaRPr lang="en-US" altLang="zh-CN"/>
          </a:p>
          <a:p>
            <a:endParaRPr lang="en-US" altLang="zh-CN"/>
          </a:p>
          <a:p>
            <a:r>
              <a:rPr lang="en-US" altLang="zh-CN"/>
              <a:t>The second one is *Planar(ˈple</a:t>
            </a:r>
            <a:r>
              <a:rPr lang="" altLang="en-US"/>
              <a:t>ɪ</a:t>
            </a:r>
            <a:r>
              <a:rPr lang="en-US" altLang="zh-CN"/>
              <a:t>n</a:t>
            </a:r>
            <a:r>
              <a:rPr lang="" altLang="en-US"/>
              <a:t>ə</a:t>
            </a:r>
            <a:r>
              <a:rPr lang="en-US" altLang="zh-CN"/>
              <a:t>r) (2D) Memory, which are more sophisticated 2D structures, including graphs and trees, where memory nodes are connected by dynamic links.</a:t>
            </a:r>
            <a:endParaRPr lang="en-US" altLang="zh-CN"/>
          </a:p>
          <a:p>
            <a:endParaRPr lang="en-US" altLang="zh-CN"/>
          </a:p>
          <a:p>
            <a:pPr marL="0" lvl="1"/>
            <a:r>
              <a:rPr lang="en-US" altLang="zh-CN"/>
              <a:t>The third one is *Hierarchical(ˌha</a:t>
            </a:r>
            <a:r>
              <a:rPr lang="" altLang="en-US"/>
              <a:t>ɪəˈ</a:t>
            </a:r>
            <a:r>
              <a:rPr lang="en-US" altLang="zh-CN"/>
              <a:t>r</a:t>
            </a:r>
            <a:r>
              <a:rPr lang="en-US" altLang="en-US"/>
              <a:t>ɑː</a:t>
            </a:r>
            <a:r>
              <a:rPr lang="en-US" altLang="zh-CN"/>
              <a:t>rk</a:t>
            </a:r>
            <a:r>
              <a:rPr lang="" altLang="en-US"/>
              <a:t>ɪ</a:t>
            </a:r>
            <a:r>
              <a:rPr lang="en-US" altLang="zh-CN"/>
              <a:t>kl) (3D) Memory, </a:t>
            </a:r>
            <a:r>
              <a:rPr lang="en-US" altLang="zh-CN" kern="0" dirty="0">
                <a:latin typeface="Times New Roman" panose="02020503050405090304" pitchFamily="18" charset="0"/>
                <a:cs typeface="Times New Roman" panose="02020503050405090304" pitchFamily="18" charset="0"/>
                <a:sym typeface="+mn-ea"/>
              </a:rPr>
              <a:t>structured across multiple layers with inter-layer links, forming a </a:t>
            </a:r>
            <a:r>
              <a:rPr lang="en-US" altLang="zh-CN" kern="0" dirty="0">
                <a:latin typeface="Times New Roman" panose="02020503050405090304" pitchFamily="18" charset="0"/>
                <a:cs typeface="Times New Roman" panose="02020503050405090304" pitchFamily="18" charset="0"/>
                <a:sym typeface="+mn-ea"/>
              </a:rPr>
              <a:t>pyramidal or multi-layer memory. </a:t>
            </a:r>
            <a:r>
              <a:rPr lang="en-US" altLang="zh-CN"/>
              <a:t>This allows the agent to navigate between high-level abstract topics and low-level granular details.</a:t>
            </a:r>
            <a:endParaRPr lang="en-US" altLang="zh-CN"/>
          </a:p>
          <a:p>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CN" dirty="0"/>
              <a:t>Let’s go to the first paper: MemGPT from </a:t>
            </a:r>
            <a:r>
              <a:rPr lang="en-US" altLang="zh-CN" dirty="0">
                <a:solidFill>
                  <a:srgbClr val="FF0000"/>
                </a:solidFill>
                <a:latin typeface="Times New Roman Regular" panose="02020503050405090304" charset="0"/>
                <a:cs typeface="Times New Roman Regular" panose="02020503050405090304" charset="0"/>
                <a:sym typeface="+mn-ea"/>
              </a:rPr>
              <a:t>University of California, pubulished in 2024.</a:t>
            </a:r>
            <a:endParaRPr lang="en-US" altLang="zh-CN" dirty="0"/>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fld>
            <a:endParaRPr lang="zh-TW"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MemGPT is a major milestone of agent memory system. The target of MemGPT is to provide LLMs with infinitive context windows. The ideas of MemGPT lie in a simple but powerful observation: the finite context window of a LLM is functionally identical to the limited RAM in a computer. To overcome this, MemGPT applies the concept of OS Virtual Memory to LLMs. It treats the prompt tokens as the "main context", while using an vector database as "external </a:t>
            </a:r>
            <a:r>
              <a:rPr lang="en-US" altLang="zh-CN"/>
              <a:t>context". This allows the agent to "swap" information in and out of its active window, effectively providing an illusion of infinite memory.</a:t>
            </a:r>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This is the architecture of MemGPT, we can see that the finite context window acts as the main memory. Then the *archival(</a:t>
            </a:r>
            <a:r>
              <a:rPr lang="en-US" altLang="en-US"/>
              <a:t>ɑː</a:t>
            </a:r>
            <a:r>
              <a:rPr lang="en-US" altLang="zh-CN"/>
              <a:t>rˈka</a:t>
            </a:r>
            <a:r>
              <a:rPr lang="" altLang="en-US"/>
              <a:t>ɪ</a:t>
            </a:r>
            <a:r>
              <a:rPr lang="en-US" altLang="zh-CN"/>
              <a:t>v</a:t>
            </a:r>
            <a:r>
              <a:rPr lang="" altLang="en-US"/>
              <a:t>ə</a:t>
            </a:r>
            <a:r>
              <a:rPr lang="en-US" altLang="zh-CN"/>
              <a:t>l</a:t>
            </a:r>
            <a:r>
              <a:rPr lang="en-US" altLang="zh-CN"/>
              <a:t>) storage and recall storage act as the external memories. The Function Executor and the Queue Manager in the middle are disigned to implement the swap strategies between the main memory and external memories.</a:t>
            </a:r>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The prompt tokens are split into 3 parts:</a:t>
            </a:r>
            <a:endParaRPr lang="en-US" altLang="zh-CN"/>
          </a:p>
          <a:p>
            <a:endParaRPr lang="en-US" altLang="zh-CN" b="1" kern="0" dirty="0">
              <a:latin typeface="Times New Roman" panose="02020503050405090304" pitchFamily="18" charset="0"/>
              <a:cs typeface="Times New Roman" panose="02020503050405090304" pitchFamily="18" charset="0"/>
              <a:sym typeface="+mn-ea"/>
            </a:endParaRPr>
          </a:p>
          <a:p>
            <a:r>
              <a:rPr lang="en-US" altLang="zh-CN" kern="0" dirty="0">
                <a:latin typeface="Times New Roman" panose="02020503050405090304" pitchFamily="18" charset="0"/>
                <a:cs typeface="Times New Roman" panose="02020503050405090304" pitchFamily="18" charset="0"/>
                <a:sym typeface="+mn-ea"/>
              </a:rPr>
              <a:t>System instructions are r</a:t>
            </a:r>
            <a:r>
              <a:rPr lang="en-US" altLang="zh-CN" kern="0" dirty="0">
                <a:latin typeface="Times New Roman" panose="02020503050405090304" pitchFamily="18" charset="0"/>
                <a:cs typeface="Times New Roman" panose="02020503050405090304" pitchFamily="18" charset="0"/>
                <a:sym typeface="+mn-ea"/>
              </a:rPr>
              <a:t>ead-only blocks containing control flow, memory management policies, and function definitions.</a:t>
            </a:r>
            <a:endParaRPr lang="en-US" altLang="zh-CN" kern="0" dirty="0">
              <a:latin typeface="Times New Roman" panose="02020503050405090304" pitchFamily="18" charset="0"/>
              <a:cs typeface="Times New Roman" panose="02020503050405090304" pitchFamily="18" charset="0"/>
              <a:sym typeface="+mn-ea"/>
            </a:endParaRPr>
          </a:p>
          <a:p>
            <a:endParaRPr lang="en-US" altLang="zh-CN" b="1" kern="0" dirty="0">
              <a:latin typeface="Times New Roman" panose="02020503050405090304" pitchFamily="18" charset="0"/>
              <a:cs typeface="Times New Roman" panose="02020503050405090304" pitchFamily="18" charset="0"/>
              <a:sym typeface="+mn-ea"/>
            </a:endParaRPr>
          </a:p>
          <a:p>
            <a:r>
              <a:rPr lang="en-US" altLang="zh-CN" kern="0" dirty="0">
                <a:latin typeface="Times New Roman" panose="02020503050405090304" pitchFamily="18" charset="0"/>
                <a:cs typeface="Times New Roman" panose="02020503050405090304" pitchFamily="18" charset="0"/>
                <a:sym typeface="+mn-ea"/>
              </a:rPr>
              <a:t>Working context is a fixed-size read-write segment for core facts, user preferences, and agent *persona(p</a:t>
            </a:r>
            <a:r>
              <a:rPr lang="" altLang="en-US" kern="0" dirty="0">
                <a:latin typeface="Times New Roman" panose="02020503050405090304" pitchFamily="18" charset="0"/>
                <a:cs typeface="Times New Roman" panose="02020503050405090304" pitchFamily="18" charset="0"/>
                <a:sym typeface="+mn-ea"/>
              </a:rPr>
              <a:t>ə</a:t>
            </a:r>
            <a:r>
              <a:rPr lang="en-US" altLang="zh-CN" kern="0" dirty="0">
                <a:latin typeface="Times New Roman" panose="02020503050405090304" pitchFamily="18" charset="0"/>
                <a:cs typeface="Times New Roman" panose="02020503050405090304" pitchFamily="18" charset="0"/>
                <a:sym typeface="+mn-ea"/>
              </a:rPr>
              <a:t>rˈso</a:t>
            </a:r>
            <a:r>
              <a:rPr lang="" altLang="en-US" kern="0" dirty="0">
                <a:latin typeface="Times New Roman" panose="02020503050405090304" pitchFamily="18" charset="0"/>
                <a:cs typeface="Times New Roman" panose="02020503050405090304" pitchFamily="18" charset="0"/>
                <a:sym typeface="+mn-ea"/>
              </a:rPr>
              <a:t>ʊ</a:t>
            </a:r>
            <a:r>
              <a:rPr lang="en-US" altLang="zh-CN" kern="0" dirty="0">
                <a:latin typeface="Times New Roman" panose="02020503050405090304" pitchFamily="18" charset="0"/>
                <a:cs typeface="Times New Roman" panose="02020503050405090304" pitchFamily="18" charset="0"/>
                <a:sym typeface="+mn-ea"/>
              </a:rPr>
              <a:t>n</a:t>
            </a:r>
            <a:r>
              <a:rPr lang="" altLang="en-US" kern="0" dirty="0">
                <a:latin typeface="Times New Roman" panose="02020503050405090304" pitchFamily="18" charset="0"/>
                <a:cs typeface="Times New Roman" panose="02020503050405090304" pitchFamily="18" charset="0"/>
                <a:sym typeface="+mn-ea"/>
              </a:rPr>
              <a:t>ə</a:t>
            </a:r>
            <a:r>
              <a:rPr lang="en-US" altLang="zh-CN" kern="0" dirty="0">
                <a:latin typeface="Times New Roman" panose="02020503050405090304" pitchFamily="18" charset="0"/>
                <a:cs typeface="Times New Roman" panose="02020503050405090304" pitchFamily="18" charset="0"/>
                <a:sym typeface="+mn-ea"/>
              </a:rPr>
              <a:t>), </a:t>
            </a:r>
            <a:r>
              <a:rPr lang="en-US" altLang="zh-CN" kern="0" dirty="0">
                <a:latin typeface="Times New Roman" panose="02020503050405090304" pitchFamily="18" charset="0"/>
                <a:cs typeface="Times New Roman" panose="02020503050405090304" pitchFamily="18" charset="0"/>
                <a:sym typeface="+mn-ea"/>
              </a:rPr>
              <a:t>managed by the function executor.</a:t>
            </a:r>
            <a:endParaRPr lang="en-US" altLang="zh-CN" kern="0" dirty="0">
              <a:latin typeface="Times New Roman" panose="02020503050405090304" pitchFamily="18" charset="0"/>
              <a:cs typeface="Times New Roman" panose="02020503050405090304" pitchFamily="18" charset="0"/>
              <a:sym typeface="+mn-ea"/>
            </a:endParaRPr>
          </a:p>
          <a:p>
            <a:endParaRPr lang="en-US" altLang="zh-CN"/>
          </a:p>
          <a:p>
            <a:r>
              <a:rPr lang="en-US" altLang="zh-CN" kern="0" dirty="0">
                <a:latin typeface="Times New Roman" panose="02020503050405090304" pitchFamily="18" charset="0"/>
                <a:cs typeface="Times New Roman" panose="02020503050405090304" pitchFamily="18" charset="0"/>
                <a:sym typeface="+mn-ea"/>
              </a:rPr>
              <a:t>*FIFO(ˈfa</a:t>
            </a:r>
            <a:r>
              <a:rPr lang="" altLang="en-US" kern="0" dirty="0">
                <a:latin typeface="Times New Roman" panose="02020503050405090304" pitchFamily="18" charset="0"/>
                <a:cs typeface="Times New Roman" panose="02020503050405090304" pitchFamily="18" charset="0"/>
                <a:sym typeface="+mn-ea"/>
              </a:rPr>
              <a:t>ɪ</a:t>
            </a:r>
            <a:r>
              <a:rPr lang="en-US" altLang="zh-CN" kern="0" dirty="0">
                <a:latin typeface="Times New Roman" panose="02020503050405090304" pitchFamily="18" charset="0"/>
                <a:cs typeface="Times New Roman" panose="02020503050405090304" pitchFamily="18" charset="0"/>
                <a:sym typeface="+mn-ea"/>
              </a:rPr>
              <a:t>fo</a:t>
            </a:r>
            <a:r>
              <a:rPr lang="" altLang="en-US" kern="0" dirty="0">
                <a:latin typeface="Times New Roman" panose="02020503050405090304" pitchFamily="18" charset="0"/>
                <a:cs typeface="Times New Roman" panose="02020503050405090304" pitchFamily="18" charset="0"/>
                <a:sym typeface="+mn-ea"/>
              </a:rPr>
              <a:t>ʊ</a:t>
            </a:r>
            <a:r>
              <a:rPr lang="en-US" altLang="zh-CN" kern="0" dirty="0">
                <a:latin typeface="Times New Roman" panose="02020503050405090304" pitchFamily="18" charset="0"/>
                <a:cs typeface="Times New Roman" panose="02020503050405090304" pitchFamily="18" charset="0"/>
                <a:sym typeface="+mn-ea"/>
              </a:rPr>
              <a:t>) queue is the </a:t>
            </a:r>
            <a:r>
              <a:rPr lang="en-US" altLang="zh-CN" kern="0" dirty="0">
                <a:latin typeface="Times New Roman" panose="02020503050405090304" pitchFamily="18" charset="0"/>
                <a:cs typeface="Times New Roman" panose="02020503050405090304" pitchFamily="18" charset="0"/>
                <a:sym typeface="+mn-ea"/>
              </a:rPr>
              <a:t>rolling storage for dialogue history and system logs, managed by the queue manager.</a:t>
            </a:r>
            <a:endParaRPr lang="en-US" altLang="zh-CN" kern="0" dirty="0">
              <a:latin typeface="Times New Roman" panose="02020503050405090304" pitchFamily="18" charset="0"/>
              <a:cs typeface="Times New Roman" panose="02020503050405090304" pitchFamily="18" charset="0"/>
              <a:sym typeface="+mn-ea"/>
            </a:endParaRPr>
          </a:p>
          <a:p>
            <a:endParaRPr lang="en-US" altLang="zh-CN"/>
          </a:p>
          <a:p>
            <a:r>
              <a:rPr lang="en-US" altLang="zh-CN"/>
              <a:t>The Queue Manager manages memory eviction, model inference and *archival memory retrieval, ensuring the most recent context is always available while older messages are "paged" out.</a:t>
            </a:r>
            <a:endParaRPr lang="en-US" altLang="zh-CN"/>
          </a:p>
          <a:p>
            <a:endParaRPr lang="en-US" altLang="zh-CN"/>
          </a:p>
          <a:p>
            <a:r>
              <a:rPr lang="en-US" altLang="zh-CN"/>
              <a:t>The Function Executor </a:t>
            </a:r>
            <a:r>
              <a:rPr lang="en-US" altLang="zh-CN" kern="0" dirty="0">
                <a:latin typeface="Times New Roman" panose="02020503050405090304" pitchFamily="18" charset="0"/>
                <a:cs typeface="Times New Roman" panose="02020503050405090304" pitchFamily="18" charset="0"/>
                <a:sym typeface="+mn-ea"/>
              </a:rPr>
              <a:t>executes model-generated functions to transfer data between context tiers</a:t>
            </a:r>
            <a:r>
              <a:rPr lang="en-US" altLang="zh-CN"/>
              <a:t>. This makes the memory management autonomous.</a:t>
            </a:r>
            <a:endParaRPr lang="en-US" altLang="zh-CN"/>
          </a:p>
          <a:p>
            <a:endParaRPr lang="en-US" altLang="zh-CN"/>
          </a:p>
          <a:p>
            <a:endParaRPr lang="en-US" altLang="zh-CN"/>
          </a:p>
          <a:p>
            <a:endParaRPr lang="en-US" altLang="zh-CN"/>
          </a:p>
          <a:p>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Let’s take a look at the evaluation. The Deep Memory Retrieval performance is shown in Table 2. We can see that standard LLMs struggle significantly when the answer is buried deep in past interactions. For instance, GPT-4 Turbo on its own achieves only 35.3% accuracy. However, when equipped with MemGPT, that same model’s performance jumps to 93.4%. This demonstrates that the bottleneck isn't the model's reasoning capability, but rather its inability to access long-term information without a structured </a:t>
            </a:r>
            <a:r>
              <a:rPr lang="en-US" altLang="zh-CN"/>
              <a:t>memory management system.</a:t>
            </a:r>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Let’s look at the Document QA performance in Figure 4. You can see GPT-4 and GPT-3.5 Turbo dropping toward 10–30% accuracy as document *volume(ˈv</a:t>
            </a:r>
            <a:r>
              <a:rPr lang="" altLang="en-US"/>
              <a:t>ɒ</a:t>
            </a:r>
            <a:r>
              <a:rPr lang="en-US" altLang="zh-CN"/>
              <a:t>lju</a:t>
            </a:r>
            <a:r>
              <a:rPr lang="en-US" altLang="en-US"/>
              <a:t>ː</a:t>
            </a:r>
            <a:r>
              <a:rPr lang="en-US" altLang="zh-CN"/>
              <a:t>m</a:t>
            </a:r>
            <a:r>
              <a:rPr lang="en-US" altLang="zh-CN"/>
              <a:t>) grows. In contrast, the MemGPT-enhanced models remain perfectly flat and stable. This stability proves that MemGPT successfully decouples the reasoning process from the physical *constraints( k</a:t>
            </a:r>
            <a:r>
              <a:rPr lang="" altLang="en-US"/>
              <a:t>ə</a:t>
            </a:r>
            <a:r>
              <a:rPr lang="en-US" altLang="zh-CN"/>
              <a:t>nˈstre</a:t>
            </a:r>
            <a:r>
              <a:rPr lang="" altLang="en-US"/>
              <a:t>ɪ</a:t>
            </a:r>
            <a:r>
              <a:rPr lang="en-US" altLang="zh-CN"/>
              <a:t>nts ) of the context window, allowing for consistent performance regardless of the scale of the data.</a:t>
            </a:r>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CN" dirty="0"/>
              <a:t>Next, we have A-MEM from Rutgers University.</a:t>
            </a:r>
            <a:endParaRPr lang="en-US" altLang="zh-CN" dirty="0"/>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fld>
            <a:endParaRPr lang="zh-TW"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While MemGPT focuses on capacity, A-MEM tackles the qualitative(ˈkw</a:t>
            </a:r>
            <a:r>
              <a:rPr lang="en-US" altLang="en-US"/>
              <a:t>ɑː</a:t>
            </a:r>
            <a:r>
              <a:rPr lang="en-US" altLang="zh-CN"/>
              <a:t>l</a:t>
            </a:r>
            <a:r>
              <a:rPr lang="" altLang="en-US"/>
              <a:t>ɪ</a:t>
            </a:r>
            <a:r>
              <a:rPr lang="en-US" altLang="zh-CN"/>
              <a:t>te</a:t>
            </a:r>
            <a:r>
              <a:rPr lang="" altLang="en-US"/>
              <a:t>ɪ</a:t>
            </a:r>
            <a:r>
              <a:rPr lang="en-US" altLang="zh-CN"/>
              <a:t>t</a:t>
            </a:r>
            <a:r>
              <a:rPr lang="" altLang="en-US"/>
              <a:t>ɪ</a:t>
            </a:r>
            <a:r>
              <a:rPr lang="en-US" altLang="zh-CN"/>
              <a:t>v </a:t>
            </a:r>
            <a:r>
              <a:rPr lang="en-US" altLang="zh-CN"/>
              <a:t>) challenges of memory:</a:t>
            </a:r>
            <a:endParaRPr lang="en-US" altLang="zh-CN"/>
          </a:p>
          <a:p>
            <a:endParaRPr lang="en-US" altLang="zh-CN"/>
          </a:p>
          <a:p>
            <a:r>
              <a:rPr lang="en-US" altLang="zh-CN"/>
              <a:t>The first challenge is Rigid *Schemas( ˈski</a:t>
            </a:r>
            <a:r>
              <a:rPr lang="en-US" altLang="en-US"/>
              <a:t>ː</a:t>
            </a:r>
            <a:r>
              <a:rPr lang="en-US" altLang="zh-CN"/>
              <a:t>m</a:t>
            </a:r>
            <a:r>
              <a:rPr lang="" altLang="en-US"/>
              <a:t>ə</a:t>
            </a:r>
            <a:r>
              <a:rPr lang="en-US"/>
              <a:t>s </a:t>
            </a:r>
            <a:r>
              <a:rPr lang="en-US" altLang="zh-CN"/>
              <a:t>): Traditional systems often rely on predefined structures and fixed access patterns, which limit their *adaptability(</a:t>
            </a:r>
            <a:r>
              <a:rPr lang="" altLang="en-US"/>
              <a:t> əˌ</a:t>
            </a:r>
            <a:r>
              <a:rPr lang="en-US" altLang="zh-CN"/>
              <a:t>d</a:t>
            </a:r>
            <a:r>
              <a:rPr lang="" altLang="en-US"/>
              <a:t>æ</a:t>
            </a:r>
            <a:r>
              <a:rPr lang="en-US" altLang="zh-CN"/>
              <a:t>pt</a:t>
            </a:r>
            <a:r>
              <a:rPr lang="" altLang="en-US"/>
              <a:t>əˈ</a:t>
            </a:r>
            <a:r>
              <a:rPr lang="en-US" altLang="zh-CN"/>
              <a:t>b</a:t>
            </a:r>
            <a:r>
              <a:rPr lang="" altLang="en-US"/>
              <a:t>ɪ</a:t>
            </a:r>
            <a:r>
              <a:rPr lang="en-US" altLang="zh-CN"/>
              <a:t>l</a:t>
            </a:r>
            <a:r>
              <a:rPr lang="" altLang="en-US"/>
              <a:t>ə</a:t>
            </a:r>
            <a:r>
              <a:rPr lang="en-US" altLang="zh-CN"/>
              <a:t>ti </a:t>
            </a:r>
            <a:r>
              <a:rPr lang="en-US" altLang="zh-CN"/>
              <a:t>) across diverse tasks.</a:t>
            </a:r>
            <a:endParaRPr lang="en-US" altLang="zh-CN"/>
          </a:p>
          <a:p>
            <a:endParaRPr lang="en-US" altLang="zh-CN"/>
          </a:p>
          <a:p>
            <a:r>
              <a:rPr lang="en-US" altLang="zh-CN"/>
              <a:t>Secondly, The Problem of Manual Management: Most agents require pre-specified storage points and retrieval timing, which hinders autonomous, long-term interaction.</a:t>
            </a:r>
            <a:endParaRPr lang="en-US" altLang="zh-CN"/>
          </a:p>
          <a:p>
            <a:endParaRPr lang="en-US" altLang="zh-CN"/>
          </a:p>
          <a:p>
            <a:pPr marL="0" lvl="1"/>
            <a:r>
              <a:rPr lang="en-US" altLang="zh-CN"/>
              <a:t>Thirdly, the </a:t>
            </a:r>
            <a:r>
              <a:rPr lang="en-US" altLang="zh-CN" kern="0" dirty="0">
                <a:latin typeface="Times New Roman" panose="02020503050405090304" pitchFamily="18" charset="0"/>
                <a:cs typeface="Times New Roman" panose="02020503050405090304" pitchFamily="18" charset="0"/>
                <a:sym typeface="+mn-ea"/>
              </a:rPr>
              <a:t>Static knowledge</a:t>
            </a:r>
            <a:r>
              <a:rPr lang="en-US" altLang="zh-CN" b="1" kern="0" dirty="0">
                <a:latin typeface="Times New Roman" panose="02020503050405090304" pitchFamily="18" charset="0"/>
                <a:cs typeface="Times New Roman" panose="02020503050405090304" pitchFamily="18" charset="0"/>
                <a:sym typeface="+mn-ea"/>
              </a:rPr>
              <a:t> </a:t>
            </a:r>
            <a:r>
              <a:rPr lang="en-US" altLang="zh-CN" kern="0" dirty="0">
                <a:latin typeface="Times New Roman" panose="02020503050405090304" pitchFamily="18" charset="0"/>
                <a:cs typeface="Times New Roman" panose="02020503050405090304" pitchFamily="18" charset="0"/>
                <a:sym typeface="+mn-ea"/>
              </a:rPr>
              <a:t>fails to autonomously evolve as information grows, resulting in worse performance </a:t>
            </a:r>
            <a:r>
              <a:rPr lang="en-US" altLang="zh-CN" kern="0" dirty="0">
                <a:latin typeface="Times New Roman" panose="02020503050405090304" pitchFamily="18" charset="0"/>
                <a:cs typeface="Times New Roman" panose="02020503050405090304" pitchFamily="18" charset="0"/>
                <a:sym typeface="+mn-ea"/>
              </a:rPr>
              <a:t>over time.</a:t>
            </a:r>
            <a:endParaRPr lang="en-US" altLang="zh-CN" kern="0" dirty="0">
              <a:latin typeface="Times New Roman" panose="02020503050405090304" pitchFamily="18" charset="0"/>
              <a:cs typeface="Times New Roman" panose="02020503050405090304" pitchFamily="18" charset="0"/>
              <a:sym typeface="+mn-ea"/>
            </a:endParaRPr>
          </a:p>
          <a:p>
            <a:pPr marL="0" lvl="1"/>
            <a:endParaRPr lang="en-US" altLang="zh-CN"/>
          </a:p>
          <a:p>
            <a:pPr marL="0" lvl="1"/>
            <a:r>
              <a:rPr lang="en-US" altLang="zh-CN"/>
              <a:t>To solve this, A-MEM adopts the *Zettelkasten( zetl</a:t>
            </a:r>
            <a:r>
              <a:rPr lang="en-US" altLang="zh-CN">
                <a:sym typeface="+mn-ea"/>
              </a:rPr>
              <a:t>ˈ</a:t>
            </a:r>
            <a:r>
              <a:rPr lang="en-US" altLang="zh-CN"/>
              <a:t>castn ) method. This philosophy organizes information into atomic, self-contained notes interconnected through dynamic links, creating a decentralized knowledge graph.</a:t>
            </a:r>
            <a:endParaRPr lang="en-US" altLang="zh-CN"/>
          </a:p>
          <a:p>
            <a:pPr marL="0" lvl="1"/>
            <a:endParaRPr lang="en-US" altLang="zh-CN"/>
          </a:p>
          <a:p>
            <a:pPr marL="0" lvl="1"/>
            <a:r>
              <a:rPr lang="en-US" altLang="zh-CN"/>
              <a:t>The key ideas are using LLM to generate the notes, links, and evolving the existing notes autonomously.</a:t>
            </a:r>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Here is the architecture overview of A-MEM. There are 3 major designs: note construction, link generation and memory evolution.</a:t>
            </a:r>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In A-MEM, every dialogue interaction is transformed by the LLM into a Zettelkasten-style note. These notes are rich in metadata, including timestamps, origin content, contextual summary, keywords, tags, embedding, and links. An important element is the embedding, which is used to caculate the similarity between different notes.</a:t>
            </a:r>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After the note is constructed, A-MEM will generate the link between the new note and the historical notes. A-MEM uses cosine similarity to identify the top-k candidate memories and then applies LLM reasoning to</a:t>
            </a:r>
            <a:r>
              <a:rPr lang="en-US" altLang="zh-CN" kern="0" dirty="0">
                <a:latin typeface="Times New Roman" panose="02020503050405090304" pitchFamily="18" charset="0"/>
                <a:cs typeface="Times New Roman" panose="02020503050405090304" pitchFamily="18" charset="0"/>
                <a:sym typeface="+mn-ea"/>
              </a:rPr>
              <a:t> implement the Zettelkasten principle of flexible linking，which can detect causal relationships and subtle conceptual patterns between notes. Then the updated notes are stored in multiple semantic boxes.</a:t>
            </a:r>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Finally, after creating links for the new memory, A-MEM uses LLM to update the tags, context, and links of the top-k neighboring notes. As the system processes more memories, the entire graph becomes more sophisticated and interconnected autononously, just like human learning.</a:t>
            </a:r>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Let’s look at the evaluation. On the LoCoMo dataset, A-MEM consistently achieves better scores than others like MemGPT across multiple *metrics (ˈmetr</a:t>
            </a:r>
            <a:r>
              <a:rPr lang="" altLang="en-US"/>
              <a:t>ɪ</a:t>
            </a:r>
            <a:r>
              <a:rPr lang="en-US" altLang="zh-CN"/>
              <a:t>ks </a:t>
            </a:r>
            <a:r>
              <a:rPr lang="en-US" altLang="zh-CN"/>
              <a:t>). Remarkably, it achieves these results with significant less token, providing a "better-for-less" solution.</a:t>
            </a:r>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Looking at the T-SNE Visualization in Figure 9, we see an obvious difference. The red dots represent the base memory, which is scattered and unorganized. The blue dots, representing A-MEM, show a much more organized and clustered distribution, proving that the system successfully structures knowledge in a semantically meaningful way.</a:t>
            </a:r>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CN" dirty="0"/>
              <a:t>The final </a:t>
            </a:r>
            <a:r>
              <a:rPr lang="en-US" altLang="zh-CN" dirty="0"/>
              <a:t>paper is GAM from Zhejiang University.</a:t>
            </a:r>
            <a:endParaRPr lang="en-US" altLang="zh-CN" dirty="0"/>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fld>
            <a:endParaRPr lang="zh-TW"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While previous systems handled storage and linking effectively, they often struggled with two critical issues: semantic drift and memory loss over very long durations.</a:t>
            </a:r>
            <a:endParaRPr lang="en-US" altLang="zh-CN"/>
          </a:p>
          <a:p>
            <a:endParaRPr lang="en-US" altLang="zh-CN"/>
          </a:p>
          <a:p>
            <a:r>
              <a:rPr lang="en-US" altLang="zh-CN"/>
              <a:t>The key observation is researchers noticed that human memories are naturally grouped by topics rather than just being a continuous stream.</a:t>
            </a:r>
            <a:endParaRPr lang="en-US" altLang="zh-CN"/>
          </a:p>
          <a:p>
            <a:endParaRPr lang="en-US" altLang="zh-CN"/>
          </a:p>
          <a:p>
            <a:r>
              <a:rPr lang="en-US" altLang="zh-CN"/>
              <a:t>So GAM introduces a Hierarchical Graph Memory architecture and the </a:t>
            </a:r>
            <a:r>
              <a:rPr lang="en-US" altLang="zh-CN" kern="0" dirty="0">
                <a:latin typeface="Times New Roman" panose="02020503050405090304" pitchFamily="18" charset="0"/>
                <a:cs typeface="Times New Roman" panose="02020503050405090304" pitchFamily="18" charset="0"/>
                <a:sym typeface="+mn-ea"/>
              </a:rPr>
              <a:t>State-based memory consolidation</a:t>
            </a:r>
            <a:r>
              <a:rPr lang="en-US" altLang="zh-CN"/>
              <a:t> to mitigate the conflict between rapid context *perception and stable, long-term knowledge retention.</a:t>
            </a:r>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The architecture of GAM is defined by its stratified( ˈstr</a:t>
            </a:r>
            <a:r>
              <a:rPr lang="" altLang="en-US"/>
              <a:t>æ</a:t>
            </a:r>
            <a:r>
              <a:rPr lang="en-US" altLang="zh-CN"/>
              <a:t>t</a:t>
            </a:r>
            <a:r>
              <a:rPr lang="" altLang="en-US"/>
              <a:t>ɪ</a:t>
            </a:r>
            <a:r>
              <a:rPr lang="en-US" altLang="zh-CN"/>
              <a:t>fa</a:t>
            </a:r>
            <a:r>
              <a:rPr lang="" altLang="en-US"/>
              <a:t>ɪ</a:t>
            </a:r>
            <a:r>
              <a:rPr lang="en-US" altLang="zh-CN"/>
              <a:t>d </a:t>
            </a:r>
            <a:r>
              <a:rPr lang="en-US" altLang="zh-CN"/>
              <a:t>) layers, as seen in Figure 10. There are two important designs, first is the state-based memory consolidation on the left; second is the hierachical graph memory in the middle.</a:t>
            </a:r>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Let’s look at the hierarchical graph memory first. The </a:t>
            </a:r>
            <a:r>
              <a:rPr lang="en-US" altLang="zh-CN">
                <a:sym typeface="+mn-ea"/>
              </a:rPr>
              <a:t>hierarchical </a:t>
            </a:r>
            <a:r>
              <a:rPr lang="en-US" altLang="zh-CN">
                <a:sym typeface="+mn-ea"/>
              </a:rPr>
              <a:t>graph memory contains two layers.</a:t>
            </a:r>
            <a:endParaRPr lang="en-US" altLang="zh-CN">
              <a:sym typeface="+mn-ea"/>
            </a:endParaRPr>
          </a:p>
          <a:p>
            <a:endParaRPr lang="en-US" altLang="zh-CN"/>
          </a:p>
          <a:p>
            <a:r>
              <a:rPr lang="en-US" altLang="zh-CN"/>
              <a:t>The Topic Graph on the top: This acts as the "high-level" brain, storing consolidated knowledge and abstract semantic associations across the entire history of the agent.</a:t>
            </a:r>
            <a:endParaRPr lang="en-US" altLang="zh-CN"/>
          </a:p>
          <a:p>
            <a:endParaRPr lang="en-US" altLang="zh-CN"/>
          </a:p>
          <a:p>
            <a:r>
              <a:rPr lang="en-US" altLang="zh-CN"/>
              <a:t>The Event Graphs on the bottom: These capture immediate interaction flows and temporal dependencies, acting as "active scenes" of a conversation.</a:t>
            </a:r>
            <a:endParaRPr lang="en-US" altLang="zh-CN"/>
          </a:p>
          <a:p>
            <a:endParaRPr lang="en-US" altLang="zh-CN"/>
          </a:p>
          <a:p>
            <a:r>
              <a:rPr lang="en-US" altLang="zh-CN"/>
              <a:t>When a query enters, the system performs Graph-Guided Retrieval, which find the core topics on the topic graph first, broadens the scope across the topic graph, and then "drills down" into specific event graphs to retrieve precise details.</a:t>
            </a:r>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What makes GAM truly intelligent is how it moves information between these layers using State-Based Consolidation:</a:t>
            </a:r>
            <a:endParaRPr lang="en-US" altLang="zh-CN"/>
          </a:p>
          <a:p>
            <a:endParaRPr lang="en-US" altLang="zh-CN"/>
          </a:p>
          <a:p>
            <a:r>
              <a:rPr lang="en-US" altLang="zh-CN"/>
              <a:t>Instead of using fixed-size window, GAM uses the LLM to detect topic shifts. This detection serves as a "semantic boundary" that triggers the consolidation process.</a:t>
            </a:r>
            <a:endParaRPr lang="en-US" altLang="zh-CN"/>
          </a:p>
          <a:p>
            <a:endParaRPr lang="en-US" altLang="zh-CN"/>
          </a:p>
          <a:p>
            <a:r>
              <a:rPr lang="en-US" altLang="zh-CN"/>
              <a:t>During a conversation, all interactions are temporarily held in event graphs to isolate *transient(ˈtr</a:t>
            </a:r>
            <a:r>
              <a:rPr lang="" altLang="en-US"/>
              <a:t>æ</a:t>
            </a:r>
            <a:r>
              <a:rPr lang="en-US" altLang="zh-CN"/>
              <a:t>n</a:t>
            </a:r>
            <a:r>
              <a:rPr lang="" altLang="en-US"/>
              <a:t>ʃə</a:t>
            </a:r>
            <a:r>
              <a:rPr lang="en-US" altLang="zh-CN"/>
              <a:t>nt</a:t>
            </a:r>
            <a:r>
              <a:rPr lang="en-US" altLang="zh-CN"/>
              <a:t>) noise and focus on the immediate task.</a:t>
            </a:r>
            <a:endParaRPr lang="en-US" altLang="zh-CN"/>
          </a:p>
          <a:p>
            <a:endParaRPr lang="en-US" altLang="zh-CN"/>
          </a:p>
          <a:p>
            <a:r>
              <a:rPr lang="en-US" altLang="zh-CN"/>
              <a:t>Once a topic shift is detected, the system summarizes the buffered knowledge, integrating it into the permanent global topic graph.</a:t>
            </a:r>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The results of this hierarchical approach are quite remarkable:</a:t>
            </a:r>
            <a:endParaRPr lang="en-US" altLang="zh-CN"/>
          </a:p>
          <a:p>
            <a:endParaRPr lang="en-US" altLang="zh-CN"/>
          </a:p>
          <a:p>
            <a:r>
              <a:rPr lang="en-US" altLang="zh-CN"/>
              <a:t>As shown in Table 4, GAM achieves the best average performance across most settings, particularly effective in temporal reasoning tasks, where understanding the sequence of events is vital.</a:t>
            </a:r>
            <a:endParaRPr lang="en-US" altLang="zh-CN"/>
          </a:p>
          <a:p>
            <a:endParaRPr lang="en-US" altLang="zh-CN"/>
          </a:p>
          <a:p>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Figure 13 is the experiment result of different partitioning strategies, we can see that GAM achieves best score at all metrics, especially the temporal catagory. This confirms that the semantic-boundary is essential for reasoning.</a:t>
            </a:r>
            <a:endParaRPr lang="en-US" altLang="zh-CN"/>
          </a:p>
          <a:p>
            <a:endParaRPr lang="en-US" altLang="zh-CN"/>
          </a:p>
          <a:p>
            <a:r>
              <a:rPr lang="en-US" altLang="zh-CN"/>
              <a:t>Table 5 highlights that GAM consumes significantly fewer tokens per query—1,370 tokens compared to 4,221 for A-MEM—while delivering faster inference time and better accuracy. This proves that GAM’s 3D structure is not just better organized, but also more cost-effective.</a:t>
            </a:r>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CN" dirty="0"/>
              <a:t>The final part is the conclusions.</a:t>
            </a:r>
            <a:endParaRPr lang="en-US" altLang="zh-CN" dirty="0"/>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fld>
            <a:endParaRPr lang="zh-TW"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As we have seen today, agent memory system is evolving *rapidly. To summarize this evolution:</a:t>
            </a:r>
            <a:endParaRPr lang="en-US" altLang="zh-CN"/>
          </a:p>
          <a:p>
            <a:endParaRPr lang="en-US" altLang="zh-CN"/>
          </a:p>
          <a:p>
            <a:r>
              <a:rPr lang="en-US" altLang="zh-CN"/>
              <a:t>MemGPT introduced 1D text chunks for infinite context window.</a:t>
            </a:r>
            <a:endParaRPr lang="en-US" altLang="zh-CN"/>
          </a:p>
          <a:p>
            <a:endParaRPr lang="en-US" altLang="zh-CN"/>
          </a:p>
          <a:p>
            <a:r>
              <a:rPr lang="en-US" altLang="zh-CN"/>
              <a:t>A-MEM brought 2D graph-based notes for dynamic structuring and operations; </a:t>
            </a:r>
            <a:endParaRPr lang="en-US" altLang="zh-CN"/>
          </a:p>
          <a:p>
            <a:endParaRPr lang="en-US" altLang="zh-CN"/>
          </a:p>
          <a:p>
            <a:r>
              <a:rPr lang="en-US" altLang="zh-CN"/>
              <a:t>And GAM designed the 3D hierarchical approach to balance rapid perception and stable knowledge retention. </a:t>
            </a:r>
            <a:endParaRPr lang="en-US" altLang="zh-CN"/>
          </a:p>
          <a:p>
            <a:endParaRPr lang="en-US" altLang="zh-CN"/>
          </a:p>
          <a:p>
            <a:r>
              <a:rPr lang="en-US" altLang="zh-CN"/>
              <a:t>The progression is clear: we are transitioning away from linear storage toward complex hierarchical systems. This progression is essential for building agents that do not just "store" information, but truly maintain long-term reasoning consistency and sophisticated understanding.</a:t>
            </a:r>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CN" dirty="0"/>
              <a:t>Thank you for your attention. I am happy to answer any questions.</a:t>
            </a:r>
            <a:endParaRPr lang="en-US" altLang="zh-CN" dirty="0"/>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fld>
            <a:endParaRPr lang="zh-TW"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665">
                <a:latin typeface="Calibri" panose="020F0502020204030204" pitchFamily="34" charset="0"/>
                <a:ea typeface="標楷體" pitchFamily="65" charset="-120"/>
                <a:cs typeface="Calibri" panose="020F0502020204030204" pitchFamily="34" charset="0"/>
              </a:defRPr>
            </a:lvl3pPr>
            <a:lvl4pPr>
              <a:defRPr sz="2400">
                <a:latin typeface="Calibri" panose="020F0502020204030204" pitchFamily="34" charset="0"/>
                <a:ea typeface="標楷體" pitchFamily="65" charset="-120"/>
                <a:cs typeface="Calibri" panose="020F0502020204030204" pitchFamily="34" charset="0"/>
              </a:defRPr>
            </a:lvl4pPr>
            <a:lvl5pPr>
              <a:defRPr sz="2135">
                <a:latin typeface="Calibri" panose="020F0502020204030204" pitchFamily="34" charset="0"/>
                <a:ea typeface="標楷體" pitchFamily="65" charset="-120"/>
                <a:cs typeface="Calibri" panose="020F0502020204030204" pitchFamily="34" charset="0"/>
              </a:defRPr>
            </a:lvl5pPr>
          </a:lstStyle>
          <a:p>
            <a:pPr lvl="0"/>
            <a:r>
              <a:rPr lang="en-US" altLang="zh-TW" dirty="0"/>
              <a:t>Click to edit Master text styles</a:t>
            </a:r>
            <a:endParaRPr lang="en-US" altLang="zh-TW" dirty="0"/>
          </a:p>
          <a:p>
            <a:pPr lvl="1"/>
            <a:r>
              <a:rPr lang="en-US" altLang="zh-TW" dirty="0"/>
              <a:t>Second level</a:t>
            </a:r>
            <a:endParaRPr lang="en-US" altLang="zh-TW" dirty="0"/>
          </a:p>
          <a:p>
            <a:pPr lvl="2"/>
            <a:r>
              <a:rPr lang="en-US" altLang="zh-TW" dirty="0"/>
              <a:t>Third level</a:t>
            </a:r>
            <a:endParaRPr lang="en-US" altLang="zh-TW" dirty="0"/>
          </a:p>
          <a:p>
            <a:pPr lvl="3"/>
            <a:r>
              <a:rPr lang="en-US" altLang="zh-TW" dirty="0"/>
              <a:t>Fourth level</a:t>
            </a:r>
            <a:endParaRPr lang="en-US" altLang="zh-TW" dirty="0"/>
          </a:p>
          <a:p>
            <a:pPr lvl="4"/>
            <a:r>
              <a:rPr lang="en-US" altLang="zh-TW" dirty="0"/>
              <a:t>Fifth level</a:t>
            </a:r>
            <a:endParaRPr lang="zh-TW" altLang="en-US" dirty="0"/>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963084" y="4406903"/>
            <a:ext cx="10363200" cy="1362075"/>
          </a:xfrm>
        </p:spPr>
        <p:txBody>
          <a:bodyPr anchor="t"/>
          <a:lstStyle>
            <a:lvl1pPr algn="l">
              <a:defRPr sz="4265"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963084" y="2906713"/>
            <a:ext cx="10363200" cy="1500187"/>
          </a:xfrm>
        </p:spPr>
        <p:txBody>
          <a:bodyPr anchor="b"/>
          <a:lstStyle>
            <a:lvl1pPr marL="0" indent="0">
              <a:buNone/>
              <a:defRPr sz="3735"/>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TW" dirty="0"/>
              <a:t>Click to edit Master text styles</a:t>
            </a:r>
            <a:endParaRPr lang="en-US" altLang="zh-TW" dirty="0"/>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609600" y="1125536"/>
            <a:ext cx="5384800" cy="4227699"/>
          </a:xfrm>
        </p:spPr>
        <p:txBody>
          <a:bodyPr/>
          <a:lstStyle>
            <a:lvl1pPr>
              <a:defRPr sz="3735"/>
            </a:lvl1pPr>
            <a:lvl2pPr>
              <a:defRPr sz="3200"/>
            </a:lvl2pPr>
            <a:lvl3pPr>
              <a:defRPr sz="2400"/>
            </a:lvl3pPr>
            <a:lvl4pPr>
              <a:defRPr sz="2135"/>
            </a:lvl4pPr>
            <a:lvl5pPr>
              <a:defRPr sz="2135"/>
            </a:lvl5pPr>
            <a:lvl6pPr>
              <a:defRPr sz="1800"/>
            </a:lvl6pPr>
            <a:lvl7pPr>
              <a:defRPr sz="1800"/>
            </a:lvl7pPr>
            <a:lvl8pPr>
              <a:defRPr sz="1800"/>
            </a:lvl8pPr>
            <a:lvl9pPr>
              <a:defRPr sz="1800"/>
            </a:lvl9pPr>
          </a:lstStyle>
          <a:p>
            <a:pPr lvl="0"/>
            <a:r>
              <a:rPr lang="en-US" altLang="zh-TW" dirty="0"/>
              <a:t>Click to edit Master text styles</a:t>
            </a:r>
            <a:endParaRPr lang="en-US" altLang="zh-TW" dirty="0"/>
          </a:p>
          <a:p>
            <a:pPr lvl="1"/>
            <a:r>
              <a:rPr lang="en-US" altLang="zh-TW" dirty="0"/>
              <a:t>Second level</a:t>
            </a:r>
            <a:endParaRPr lang="en-US" altLang="zh-TW" dirty="0"/>
          </a:p>
          <a:p>
            <a:pPr lvl="2"/>
            <a:r>
              <a:rPr lang="en-US" altLang="zh-TW" dirty="0"/>
              <a:t>Third level</a:t>
            </a:r>
            <a:endParaRPr lang="en-US" altLang="zh-TW" dirty="0"/>
          </a:p>
          <a:p>
            <a:pPr lvl="3"/>
            <a:r>
              <a:rPr lang="en-US" altLang="zh-TW" dirty="0"/>
              <a:t>Fourth level</a:t>
            </a:r>
            <a:endParaRPr lang="en-US" altLang="zh-TW" dirty="0"/>
          </a:p>
          <a:p>
            <a:pPr lvl="4"/>
            <a:r>
              <a:rPr lang="en-US" altLang="zh-TW" dirty="0"/>
              <a:t>Fifth level</a:t>
            </a:r>
            <a:endParaRPr lang="zh-TW" altLang="en-US" dirty="0"/>
          </a:p>
        </p:txBody>
      </p:sp>
      <p:sp>
        <p:nvSpPr>
          <p:cNvPr id="4" name="內容版面配置區 3"/>
          <p:cNvSpPr>
            <a:spLocks noGrp="1"/>
          </p:cNvSpPr>
          <p:nvPr>
            <p:ph sz="half" idx="2"/>
          </p:nvPr>
        </p:nvSpPr>
        <p:spPr>
          <a:xfrm>
            <a:off x="6197600" y="1125536"/>
            <a:ext cx="5384800" cy="4227699"/>
          </a:xfrm>
        </p:spPr>
        <p:txBody>
          <a:bodyPr/>
          <a:lstStyle>
            <a:lvl1pPr>
              <a:defRPr sz="3735"/>
            </a:lvl1pPr>
            <a:lvl2pPr>
              <a:defRPr sz="3200"/>
            </a:lvl2pPr>
            <a:lvl3pPr>
              <a:defRPr sz="2400"/>
            </a:lvl3pPr>
            <a:lvl4pPr>
              <a:defRPr sz="2135"/>
            </a:lvl4pPr>
            <a:lvl5pPr>
              <a:defRPr sz="2135"/>
            </a:lvl5pPr>
            <a:lvl6pPr>
              <a:defRPr sz="1800"/>
            </a:lvl6pPr>
            <a:lvl7pPr>
              <a:defRPr sz="1800"/>
            </a:lvl7pPr>
            <a:lvl8pPr>
              <a:defRPr sz="1800"/>
            </a:lvl8pPr>
            <a:lvl9pPr>
              <a:defRPr sz="1800"/>
            </a:lvl9pPr>
          </a:lstStyle>
          <a:p>
            <a:pPr lvl="0"/>
            <a:r>
              <a:rPr lang="en-US" altLang="zh-TW" dirty="0"/>
              <a:t>Click to edit Master text styles</a:t>
            </a:r>
            <a:endParaRPr lang="en-US" altLang="zh-TW" dirty="0"/>
          </a:p>
          <a:p>
            <a:pPr lvl="1"/>
            <a:r>
              <a:rPr lang="en-US" altLang="zh-TW" dirty="0"/>
              <a:t>Second level</a:t>
            </a:r>
            <a:endParaRPr lang="en-US" altLang="zh-TW" dirty="0"/>
          </a:p>
          <a:p>
            <a:pPr lvl="2"/>
            <a:r>
              <a:rPr lang="en-US" altLang="zh-TW" dirty="0"/>
              <a:t>Third level</a:t>
            </a:r>
            <a:endParaRPr lang="en-US" altLang="zh-TW" dirty="0"/>
          </a:p>
          <a:p>
            <a:pPr lvl="3"/>
            <a:r>
              <a:rPr lang="en-US" altLang="zh-TW" dirty="0"/>
              <a:t>Fourth level</a:t>
            </a:r>
            <a:endParaRPr lang="en-US" altLang="zh-TW" dirty="0"/>
          </a:p>
          <a:p>
            <a:pPr lvl="4"/>
            <a:r>
              <a:rPr lang="en-US" altLang="zh-TW" dirty="0"/>
              <a:t>Fifth level</a:t>
            </a:r>
            <a:endParaRPr lang="zh-TW" altLang="en-US" dirty="0"/>
          </a:p>
        </p:txBody>
      </p:sp>
      <p:sp>
        <p:nvSpPr>
          <p:cNvPr id="5"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609602" y="1268773"/>
            <a:ext cx="5386917" cy="639763"/>
          </a:xfrm>
        </p:spPr>
        <p:txBody>
          <a:bodyPr anchor="b"/>
          <a:lstStyle>
            <a:lvl1pPr marL="0" indent="0">
              <a:buNone/>
              <a:defRPr sz="2665"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endParaRPr lang="en-US" altLang="zh-TW"/>
          </a:p>
        </p:txBody>
      </p:sp>
      <p:sp>
        <p:nvSpPr>
          <p:cNvPr id="4" name="內容版面配置區 3"/>
          <p:cNvSpPr>
            <a:spLocks noGrp="1"/>
          </p:cNvSpPr>
          <p:nvPr>
            <p:ph sz="half" idx="2"/>
          </p:nvPr>
        </p:nvSpPr>
        <p:spPr>
          <a:xfrm>
            <a:off x="609602" y="1908535"/>
            <a:ext cx="5386917" cy="3951288"/>
          </a:xfrm>
        </p:spPr>
        <p:txBody>
          <a:bodyPr/>
          <a:lstStyle>
            <a:lvl1pPr>
              <a:defRPr sz="2665"/>
            </a:lvl1pPr>
            <a:lvl2pPr>
              <a:defRPr sz="2135"/>
            </a:lvl2pPr>
            <a:lvl3pPr>
              <a:defRPr sz="1865"/>
            </a:lvl3pPr>
            <a:lvl4pPr>
              <a:defRPr sz="1865"/>
            </a:lvl4pPr>
            <a:lvl5pPr>
              <a:defRPr sz="1865"/>
            </a:lvl5pPr>
            <a:lvl6pPr>
              <a:defRPr sz="1600"/>
            </a:lvl6pPr>
            <a:lvl7pPr>
              <a:defRPr sz="1600"/>
            </a:lvl7pPr>
            <a:lvl8pPr>
              <a:defRPr sz="1600"/>
            </a:lvl8pPr>
            <a:lvl9pPr>
              <a:defRPr sz="1600"/>
            </a:lvl9pPr>
          </a:lstStyle>
          <a:p>
            <a:pPr lvl="0"/>
            <a:r>
              <a:rPr lang="en-US" altLang="zh-TW" dirty="0"/>
              <a:t>Click to edit Master text styles</a:t>
            </a:r>
            <a:endParaRPr lang="en-US" altLang="zh-TW" dirty="0"/>
          </a:p>
          <a:p>
            <a:pPr lvl="1"/>
            <a:r>
              <a:rPr lang="en-US" altLang="zh-TW" dirty="0"/>
              <a:t>Second level</a:t>
            </a:r>
            <a:endParaRPr lang="en-US" altLang="zh-TW" dirty="0"/>
          </a:p>
          <a:p>
            <a:pPr lvl="2"/>
            <a:r>
              <a:rPr lang="en-US" altLang="zh-TW" dirty="0"/>
              <a:t>Third level</a:t>
            </a:r>
            <a:endParaRPr lang="en-US" altLang="zh-TW" dirty="0"/>
          </a:p>
          <a:p>
            <a:pPr lvl="3"/>
            <a:r>
              <a:rPr lang="en-US" altLang="zh-TW" dirty="0"/>
              <a:t>Fourth level</a:t>
            </a:r>
            <a:endParaRPr lang="en-US" altLang="zh-TW" dirty="0"/>
          </a:p>
          <a:p>
            <a:pPr lvl="4"/>
            <a:r>
              <a:rPr lang="en-US" altLang="zh-TW" dirty="0"/>
              <a:t>Fifth level</a:t>
            </a:r>
            <a:endParaRPr lang="zh-TW" altLang="en-US" dirty="0"/>
          </a:p>
        </p:txBody>
      </p:sp>
      <p:sp>
        <p:nvSpPr>
          <p:cNvPr id="5" name="文字版面配置區 4"/>
          <p:cNvSpPr>
            <a:spLocks noGrp="1"/>
          </p:cNvSpPr>
          <p:nvPr>
            <p:ph type="body" sz="quarter" idx="3"/>
          </p:nvPr>
        </p:nvSpPr>
        <p:spPr>
          <a:xfrm>
            <a:off x="6193373" y="1268773"/>
            <a:ext cx="5389033" cy="639763"/>
          </a:xfrm>
        </p:spPr>
        <p:txBody>
          <a:bodyPr anchor="b"/>
          <a:lstStyle>
            <a:lvl1pPr marL="0" indent="0">
              <a:buNone/>
              <a:defRPr sz="2665"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endParaRPr lang="en-US" altLang="zh-TW"/>
          </a:p>
        </p:txBody>
      </p:sp>
      <p:sp>
        <p:nvSpPr>
          <p:cNvPr id="6" name="內容版面配置區 5"/>
          <p:cNvSpPr>
            <a:spLocks noGrp="1"/>
          </p:cNvSpPr>
          <p:nvPr>
            <p:ph sz="quarter" idx="4"/>
          </p:nvPr>
        </p:nvSpPr>
        <p:spPr>
          <a:xfrm>
            <a:off x="6193373" y="1908535"/>
            <a:ext cx="5389033" cy="3951288"/>
          </a:xfrm>
        </p:spPr>
        <p:txBody>
          <a:bodyPr/>
          <a:lstStyle>
            <a:lvl1pPr>
              <a:defRPr sz="2665"/>
            </a:lvl1pPr>
            <a:lvl2pPr>
              <a:defRPr sz="2135"/>
            </a:lvl2pPr>
            <a:lvl3pPr>
              <a:defRPr sz="1865"/>
            </a:lvl3pPr>
            <a:lvl4pPr>
              <a:defRPr sz="1865"/>
            </a:lvl4pPr>
            <a:lvl5pPr>
              <a:defRPr sz="1865"/>
            </a:lvl5pPr>
            <a:lvl6pPr>
              <a:defRPr sz="1600"/>
            </a:lvl6pPr>
            <a:lvl7pPr>
              <a:defRPr sz="1600"/>
            </a:lvl7pPr>
            <a:lvl8pPr>
              <a:defRPr sz="1600"/>
            </a:lvl8pPr>
            <a:lvl9pPr>
              <a:defRPr sz="1600"/>
            </a:lvl9pPr>
          </a:lstStyle>
          <a:p>
            <a:pPr lvl="0"/>
            <a:r>
              <a:rPr lang="en-US" altLang="zh-TW"/>
              <a:t>Click to edit Master text styles</a:t>
            </a:r>
            <a:endParaRPr lang="en-US" altLang="zh-TW"/>
          </a:p>
          <a:p>
            <a:pPr lvl="1"/>
            <a:r>
              <a:rPr lang="en-US" altLang="zh-TW"/>
              <a:t>Second level</a:t>
            </a:r>
            <a:endParaRPr lang="en-US" altLang="zh-TW"/>
          </a:p>
          <a:p>
            <a:pPr lvl="2"/>
            <a:r>
              <a:rPr lang="en-US" altLang="zh-TW"/>
              <a:t>Third level</a:t>
            </a:r>
            <a:endParaRPr lang="en-US" altLang="zh-TW"/>
          </a:p>
          <a:p>
            <a:pPr lvl="3"/>
            <a:r>
              <a:rPr lang="en-US" altLang="zh-TW"/>
              <a:t>Fourth level</a:t>
            </a:r>
            <a:endParaRPr lang="en-US" altLang="zh-TW"/>
          </a:p>
          <a:p>
            <a:pPr lvl="4"/>
            <a:r>
              <a:rPr lang="en-US" altLang="zh-TW"/>
              <a:t>Fifth level</a:t>
            </a:r>
            <a:endParaRPr lang="zh-TW" altLang="en-US"/>
          </a:p>
        </p:txBody>
      </p:sp>
      <p:sp>
        <p:nvSpPr>
          <p:cNvPr id="7"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
        <p:nvSpPr>
          <p:cNvPr id="8" name="標題 1"/>
          <p:cNvSpPr>
            <a:spLocks noGrp="1"/>
          </p:cNvSpPr>
          <p:nvPr>
            <p:ph type="title"/>
          </p:nvPr>
        </p:nvSpPr>
        <p:spPr>
          <a:xfrm>
            <a:off x="624421" y="144466"/>
            <a:ext cx="10943167" cy="692151"/>
          </a:xfrm>
        </p:spPr>
        <p:txBody>
          <a:bodyPr/>
          <a:lstStyle/>
          <a:p>
            <a:r>
              <a:rPr lang="en-US" altLang="zh-TW" dirty="0"/>
              <a:t>Click to edit Master title style</a:t>
            </a:r>
            <a:endParaRPr lang="zh-TW"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6" y="273049"/>
            <a:ext cx="4011084" cy="1162051"/>
          </a:xfr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4766734" y="273056"/>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endParaRPr lang="en-US" altLang="zh-TW"/>
          </a:p>
          <a:p>
            <a:pPr lvl="1"/>
            <a:r>
              <a:rPr lang="en-US" altLang="zh-TW"/>
              <a:t>Second level</a:t>
            </a:r>
            <a:endParaRPr lang="en-US" altLang="zh-TW"/>
          </a:p>
          <a:p>
            <a:pPr lvl="2"/>
            <a:r>
              <a:rPr lang="en-US" altLang="zh-TW"/>
              <a:t>Third level</a:t>
            </a:r>
            <a:endParaRPr lang="en-US" altLang="zh-TW"/>
          </a:p>
          <a:p>
            <a:pPr lvl="3"/>
            <a:r>
              <a:rPr lang="en-US" altLang="zh-TW"/>
              <a:t>Fourth level</a:t>
            </a:r>
            <a:endParaRPr lang="en-US" altLang="zh-TW"/>
          </a:p>
          <a:p>
            <a:pPr lvl="4"/>
            <a:r>
              <a:rPr lang="en-US" altLang="zh-TW"/>
              <a:t>Fifth level</a:t>
            </a:r>
            <a:endParaRPr lang="zh-TW" altLang="en-US"/>
          </a:p>
        </p:txBody>
      </p:sp>
      <p:sp>
        <p:nvSpPr>
          <p:cNvPr id="4" name="文字版面配置區 3"/>
          <p:cNvSpPr>
            <a:spLocks noGrp="1"/>
          </p:cNvSpPr>
          <p:nvPr>
            <p:ph type="body" sz="half" idx="2"/>
          </p:nvPr>
        </p:nvSpPr>
        <p:spPr>
          <a:xfrm>
            <a:off x="609606" y="1435104"/>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Click to edit Master text styles</a:t>
            </a:r>
            <a:endParaRPr lang="en-US" altLang="zh-TW"/>
          </a:p>
        </p:txBody>
      </p:sp>
      <p:sp>
        <p:nvSpPr>
          <p:cNvPr id="5"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9"/>
          </a:xfr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2389717" y="5367341"/>
            <a:ext cx="73152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Click to edit Master text styles</a:t>
            </a:r>
            <a:endParaRPr lang="en-US" altLang="zh-TW"/>
          </a:p>
        </p:txBody>
      </p:sp>
      <p:sp>
        <p:nvSpPr>
          <p:cNvPr id="5"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endParaRPr lang="en-US" altLang="zh-TW"/>
          </a:p>
          <a:p>
            <a:pPr lvl="1"/>
            <a:r>
              <a:rPr lang="en-US" altLang="zh-TW"/>
              <a:t>Second level</a:t>
            </a:r>
            <a:endParaRPr lang="en-US" altLang="zh-TW"/>
          </a:p>
          <a:p>
            <a:pPr lvl="2"/>
            <a:r>
              <a:rPr lang="en-US" altLang="zh-TW"/>
              <a:t>Third level</a:t>
            </a:r>
            <a:endParaRPr lang="en-US" altLang="zh-TW"/>
          </a:p>
          <a:p>
            <a:pPr lvl="3"/>
            <a:r>
              <a:rPr lang="en-US" altLang="zh-TW"/>
              <a:t>Fourth level</a:t>
            </a:r>
            <a:endParaRPr lang="en-US" altLang="zh-TW"/>
          </a:p>
          <a:p>
            <a:pPr lvl="4"/>
            <a:r>
              <a:rPr lang="en-US" altLang="zh-TW"/>
              <a:t>Fifth level</a:t>
            </a:r>
            <a:endParaRPr lang="zh-TW" altLang="en-US"/>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609600" y="73028"/>
            <a:ext cx="10972800" cy="1700213"/>
          </a:xfrm>
        </p:spPr>
        <p:txBody>
          <a:bodyPr/>
          <a:lstStyle/>
          <a:p>
            <a:pPr lvl="0"/>
            <a:r>
              <a:rPr lang="en-US" altLang="zh-TW"/>
              <a:t>Click to edit Master text styles</a:t>
            </a:r>
            <a:endParaRPr lang="en-US" altLang="zh-TW"/>
          </a:p>
          <a:p>
            <a:pPr lvl="1"/>
            <a:r>
              <a:rPr lang="en-US" altLang="zh-TW"/>
              <a:t>Second level</a:t>
            </a:r>
            <a:endParaRPr lang="en-US" altLang="zh-TW"/>
          </a:p>
          <a:p>
            <a:pPr lvl="2"/>
            <a:r>
              <a:rPr lang="en-US" altLang="zh-TW"/>
              <a:t>Third level</a:t>
            </a:r>
            <a:endParaRPr lang="en-US" altLang="zh-TW"/>
          </a:p>
          <a:p>
            <a:pPr lvl="3"/>
            <a:r>
              <a:rPr lang="en-US" altLang="zh-TW"/>
              <a:t>Fourth level</a:t>
            </a:r>
            <a:endParaRPr lang="en-US" altLang="zh-TW"/>
          </a:p>
          <a:p>
            <a:pPr lvl="4"/>
            <a:r>
              <a:rPr lang="en-US" altLang="zh-TW"/>
              <a:t>Fifth level</a:t>
            </a:r>
            <a:endParaRPr lang="zh-TW" altLang="en-US"/>
          </a:p>
        </p:txBody>
      </p:sp>
      <p:sp>
        <p:nvSpPr>
          <p:cNvPr id="3"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hasCustomPrompt="1"/>
          </p:nvPr>
        </p:nvSpPr>
        <p:spPr>
          <a:xfrm>
            <a:off x="609600" y="1125542"/>
            <a:ext cx="10972800" cy="647700"/>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14400" y="2130432"/>
            <a:ext cx="10363200" cy="1470025"/>
          </a:xfrm>
        </p:spPr>
        <p:txBody>
          <a:bodyPr/>
          <a:lstStyle>
            <a:lvl1pPr algn="ctr">
              <a:defRPr sz="5335"/>
            </a:lvl1pPr>
          </a:lstStyle>
          <a:p>
            <a:r>
              <a:rPr lang="en-US" altLang="zh-TW"/>
              <a:t>Click to edit Master title style</a:t>
            </a:r>
            <a:endParaRPr lang="zh-TW" altLang="en-US"/>
          </a:p>
        </p:txBody>
      </p:sp>
      <p:sp>
        <p:nvSpPr>
          <p:cNvPr id="3" name="副標題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endParaRPr lang="zh-TW" altLang="en-US"/>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endParaRPr lang="zh-TW" altLang="en-US"/>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endParaRPr lang="zh-TW" altLang="en-US"/>
          </a:p>
        </p:txBody>
      </p:sp>
      <p:sp>
        <p:nvSpPr>
          <p:cNvPr id="3" name="內容版面配置區 2"/>
          <p:cNvSpPr>
            <a:spLocks noGrp="1"/>
          </p:cNvSpPr>
          <p:nvPr>
            <p:ph idx="1" hasCustomPrompt="1"/>
          </p:nvPr>
        </p:nvSpPr>
        <p:spPr/>
        <p:txBody>
          <a:bodyPr/>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endParaRPr lang="zh-TW" altLang="en-US"/>
          </a:p>
        </p:txBody>
      </p:sp>
      <p:sp>
        <p:nvSpPr>
          <p:cNvPr id="3" name="文字版面配置區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endParaRPr lang="zh-TW" altLang="en-US"/>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endParaRPr lang="zh-TW" altLang="en-US"/>
          </a:p>
        </p:txBody>
      </p:sp>
      <p:sp>
        <p:nvSpPr>
          <p:cNvPr id="3" name="內容版面配置區 2"/>
          <p:cNvSpPr>
            <a:spLocks noGrp="1"/>
          </p:cNvSpPr>
          <p:nvPr>
            <p:ph sz="half" idx="1" hasCustomPrompt="1"/>
          </p:nvPr>
        </p:nvSpPr>
        <p:spPr>
          <a:xfrm>
            <a:off x="838200" y="1825625"/>
            <a:ext cx="5181600" cy="4351338"/>
          </a:xfrm>
        </p:spPr>
        <p:txBody>
          <a:bodyPr/>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內容版面配置區 3"/>
          <p:cNvSpPr>
            <a:spLocks noGrp="1"/>
          </p:cNvSpPr>
          <p:nvPr>
            <p:ph sz="half" idx="2" hasCustomPrompt="1"/>
          </p:nvPr>
        </p:nvSpPr>
        <p:spPr>
          <a:xfrm>
            <a:off x="6172200" y="1825625"/>
            <a:ext cx="5181600" cy="4351338"/>
          </a:xfrm>
        </p:spPr>
        <p:txBody>
          <a:bodyPr/>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endParaRPr lang="zh-TW" altLang="en-US"/>
          </a:p>
        </p:txBody>
      </p:sp>
      <p:sp>
        <p:nvSpPr>
          <p:cNvPr id="3" name="文字版面配置區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endParaRPr lang="zh-TW" altLang="en-US"/>
          </a:p>
        </p:txBody>
      </p:sp>
      <p:sp>
        <p:nvSpPr>
          <p:cNvPr id="4" name="內容版面配置區 3"/>
          <p:cNvSpPr>
            <a:spLocks noGrp="1"/>
          </p:cNvSpPr>
          <p:nvPr>
            <p:ph sz="half" idx="2" hasCustomPrompt="1"/>
          </p:nvPr>
        </p:nvSpPr>
        <p:spPr>
          <a:xfrm>
            <a:off x="839788" y="2505075"/>
            <a:ext cx="5157787" cy="3684588"/>
          </a:xfrm>
        </p:spPr>
        <p:txBody>
          <a:bodyPr/>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5" name="文字版面配置區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endParaRPr lang="zh-TW" altLang="en-US"/>
          </a:p>
        </p:txBody>
      </p:sp>
      <p:sp>
        <p:nvSpPr>
          <p:cNvPr id="6" name="內容版面配置區 5"/>
          <p:cNvSpPr>
            <a:spLocks noGrp="1"/>
          </p:cNvSpPr>
          <p:nvPr>
            <p:ph sz="quarter" idx="4" hasCustomPrompt="1"/>
          </p:nvPr>
        </p:nvSpPr>
        <p:spPr>
          <a:xfrm>
            <a:off x="6172200" y="2505075"/>
            <a:ext cx="5183188" cy="3684588"/>
          </a:xfrm>
        </p:spPr>
        <p:txBody>
          <a:bodyPr/>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7" name="日期版面配置區 6"/>
          <p:cNvSpPr>
            <a:spLocks noGrp="1"/>
          </p:cNvSpPr>
          <p:nvPr>
            <p:ph type="dt" sz="half" idx="10"/>
          </p:nvPr>
        </p:nvSpPr>
        <p:spPr/>
        <p:txBody>
          <a:bodyPr/>
          <a:lstStyle/>
          <a:p>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endParaRPr lang="zh-TW" altLang="en-US"/>
          </a:p>
        </p:txBody>
      </p:sp>
      <p:sp>
        <p:nvSpPr>
          <p:cNvPr id="3" name="日期版面配置區 2"/>
          <p:cNvSpPr>
            <a:spLocks noGrp="1"/>
          </p:cNvSpPr>
          <p:nvPr>
            <p:ph type="dt" sz="half" idx="10"/>
          </p:nvPr>
        </p:nvSpPr>
        <p:spPr/>
        <p:txBody>
          <a:bodyPr/>
          <a:lstStyle/>
          <a:p>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endParaRPr lang="zh-TW" altLang="en-US"/>
          </a:p>
        </p:txBody>
      </p:sp>
      <p:sp>
        <p:nvSpPr>
          <p:cNvPr id="3" name="內容版面配置區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文字版面配置區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endParaRPr lang="zh-TW" altLang="en-US"/>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endParaRPr lang="zh-TW" altLang="en-US"/>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endParaRPr lang="zh-TW" altLang="en-US"/>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endParaRPr lang="zh-TW" altLang="en-US"/>
          </a:p>
        </p:txBody>
      </p:sp>
      <p:sp>
        <p:nvSpPr>
          <p:cNvPr id="3" name="直排文字版面配置區 2"/>
          <p:cNvSpPr>
            <a:spLocks noGrp="1"/>
          </p:cNvSpPr>
          <p:nvPr>
            <p:ph type="body" orient="vert" idx="1" hasCustomPrompt="1"/>
          </p:nvPr>
        </p:nvSpPr>
        <p:spPr/>
        <p:txBody>
          <a:bodyPr vert="eaVert"/>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endParaRPr lang="zh-TW" altLang="en-US"/>
          </a:p>
        </p:txBody>
      </p:sp>
      <p:sp>
        <p:nvSpPr>
          <p:cNvPr id="3" name="直排文字版面配置區 2"/>
          <p:cNvSpPr>
            <a:spLocks noGrp="1"/>
          </p:cNvSpPr>
          <p:nvPr>
            <p:ph type="body" orient="vert" idx="1" hasCustomPrompt="1"/>
          </p:nvPr>
        </p:nvSpPr>
        <p:spPr>
          <a:xfrm>
            <a:off x="838200" y="365125"/>
            <a:ext cx="7734300" cy="5811838"/>
          </a:xfrm>
        </p:spPr>
        <p:txBody>
          <a:bodyPr vert="eaVert"/>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3.png"/><Relationship Id="rId15" Type="http://schemas.openxmlformats.org/officeDocument/2006/relationships/image" Target="../media/image2.jpeg"/><Relationship Id="rId14" Type="http://schemas.openxmlformats.org/officeDocument/2006/relationships/image" Target="../media/image1.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2" Type="http://schemas.openxmlformats.org/officeDocument/2006/relationships/theme" Target="../theme/theme2.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1049867" y="144466"/>
            <a:ext cx="10517721" cy="692151"/>
          </a:xfrm>
          <a:prstGeom prst="rect">
            <a:avLst/>
          </a:prstGeom>
          <a:noFill/>
          <a:ln w="9525">
            <a:noFill/>
            <a:miter lim="800000"/>
          </a:ln>
        </p:spPr>
        <p:txBody>
          <a:bodyPr vert="horz" wrap="square" lIns="91440" tIns="45720" rIns="91440" bIns="45720" numCol="1" anchor="ctr" anchorCtr="0" compatLnSpc="1"/>
          <a:lstStyle/>
          <a:p>
            <a:pPr lvl="0"/>
            <a:r>
              <a:rPr lang="zh-TW" altLang="en-US" dirty="0"/>
              <a:t>按一下以編輯母片標題樣式</a:t>
            </a:r>
            <a:endParaRPr lang="zh-TW" altLang="en-US" dirty="0"/>
          </a:p>
        </p:txBody>
      </p:sp>
      <p:sp>
        <p:nvSpPr>
          <p:cNvPr id="1028" name="Rectangle 18"/>
          <p:cNvSpPr>
            <a:spLocks noGrp="1" noChangeArrowheads="1"/>
          </p:cNvSpPr>
          <p:nvPr>
            <p:ph type="body" idx="1"/>
          </p:nvPr>
        </p:nvSpPr>
        <p:spPr bwMode="auto">
          <a:xfrm>
            <a:off x="609600" y="1125537"/>
            <a:ext cx="10972800" cy="4895851"/>
          </a:xfrm>
          <a:prstGeom prst="rect">
            <a:avLst/>
          </a:prstGeom>
          <a:noFill/>
          <a:ln w="9525">
            <a:noFill/>
            <a:miter lim="800000"/>
          </a:ln>
        </p:spPr>
        <p:txBody>
          <a:bodyPr vert="horz" wrap="square" lIns="91440" tIns="45720" rIns="91440" bIns="45720" numCol="1" anchor="t" anchorCtr="0" compatLnSpc="1"/>
          <a:lstStyle/>
          <a:p>
            <a:pPr lvl="0"/>
            <a:r>
              <a:rPr lang="zh-TW" altLang="en-US" dirty="0"/>
              <a:t>按一下以編輯母片</a:t>
            </a:r>
            <a:endParaRPr lang="zh-TW" altLang="en-US" dirty="0"/>
          </a:p>
          <a:p>
            <a:pPr lvl="1"/>
            <a:r>
              <a:rPr lang="zh-TW" altLang="en-US" dirty="0"/>
              <a:t>按一下以編輯母片</a:t>
            </a:r>
            <a:endParaRPr lang="zh-TW" altLang="en-US" dirty="0"/>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4" cstate="print"/>
          <a:srcRect/>
          <a:stretch>
            <a:fillRect/>
          </a:stretch>
        </p:blipFill>
        <p:spPr bwMode="auto">
          <a:xfrm>
            <a:off x="3" y="6357940"/>
            <a:ext cx="5111751" cy="198437"/>
          </a:xfrm>
          <a:prstGeom prst="rect">
            <a:avLst/>
          </a:prstGeom>
          <a:noFill/>
          <a:ln w="9525">
            <a:noFill/>
            <a:miter lim="800000"/>
            <a:headEnd/>
            <a:tailEnd/>
          </a:ln>
        </p:spPr>
      </p:pic>
      <p:sp>
        <p:nvSpPr>
          <p:cNvPr id="8" name="矩形 7"/>
          <p:cNvSpPr/>
          <p:nvPr/>
        </p:nvSpPr>
        <p:spPr>
          <a:xfrm>
            <a:off x="792808" y="6581777"/>
            <a:ext cx="3574825" cy="276999"/>
          </a:xfrm>
          <a:prstGeom prst="rect">
            <a:avLst/>
          </a:prstGeom>
        </p:spPr>
        <p:txBody>
          <a:bodyPr wrap="none">
            <a:spAutoFit/>
          </a:bodyPr>
          <a:lstStyle/>
          <a:p>
            <a:pPr algn="ctr">
              <a:defRPr/>
            </a:pPr>
            <a:r>
              <a:rPr lang="en-US" sz="1200" b="1" dirty="0">
                <a:solidFill>
                  <a:schemeClr val="bg1"/>
                </a:solidFill>
                <a:latin typeface="Arial" panose="020B0604020202090204" pitchFamily="34" charset="0"/>
                <a:ea typeface="PMingLiU" pitchFamily="18" charset="-120"/>
                <a:cs typeface="Arial" panose="020B0604020202090204" pitchFamily="34" charset="0"/>
              </a:rPr>
              <a:t>National Tsing Hua University ® copyright OIA</a:t>
            </a:r>
            <a:endParaRPr lang="zh-TW" altLang="en-US" sz="1200" b="1" dirty="0">
              <a:solidFill>
                <a:schemeClr val="bg1"/>
              </a:solidFill>
              <a:latin typeface="Arial" panose="020B0604020202090204" pitchFamily="34" charset="0"/>
              <a:ea typeface="PMingLiU" pitchFamily="18" charset="-120"/>
              <a:cs typeface="Arial" panose="020B0604020202090204" pitchFamily="34" charset="0"/>
            </a:endParaRPr>
          </a:p>
        </p:txBody>
      </p:sp>
      <p:sp>
        <p:nvSpPr>
          <p:cNvPr id="4105" name="Rectangle 9"/>
          <p:cNvSpPr>
            <a:spLocks noChangeArrowheads="1"/>
          </p:cNvSpPr>
          <p:nvPr/>
        </p:nvSpPr>
        <p:spPr bwMode="auto">
          <a:xfrm>
            <a:off x="0" y="908055"/>
            <a:ext cx="12192000" cy="144463"/>
          </a:xfrm>
          <a:prstGeom prst="rect">
            <a:avLst/>
          </a:prstGeom>
          <a:solidFill>
            <a:srgbClr val="990099"/>
          </a:solidFill>
          <a:ln w="15875">
            <a:noFill/>
            <a:miter lim="800000"/>
          </a:ln>
          <a:effectLst>
            <a:prstShdw prst="shdw18" dist="17961" dir="13500000">
              <a:srgbClr val="990099">
                <a:gamma/>
                <a:shade val="60000"/>
                <a:invGamma/>
              </a:srgbClr>
            </a:prstShdw>
          </a:effectLst>
        </p:spPr>
        <p:txBody>
          <a:bodyPr wrap="none" anchor="ctr"/>
          <a:lstStyle/>
          <a:p>
            <a:pPr>
              <a:defRPr/>
            </a:pPr>
            <a:endParaRPr lang="zh-TW" altLang="en-US" sz="1800">
              <a:ea typeface="PMingLiU" pitchFamily="18" charset="-120"/>
            </a:endParaRPr>
          </a:p>
        </p:txBody>
      </p:sp>
      <p:sp>
        <p:nvSpPr>
          <p:cNvPr id="4106" name="Rectangle 10"/>
          <p:cNvSpPr>
            <a:spLocks noChangeArrowheads="1"/>
          </p:cNvSpPr>
          <p:nvPr userDrawn="1"/>
        </p:nvSpPr>
        <p:spPr bwMode="auto">
          <a:xfrm>
            <a:off x="0" y="6165849"/>
            <a:ext cx="12192000" cy="719139"/>
          </a:xfrm>
          <a:prstGeom prst="rect">
            <a:avLst/>
          </a:prstGeom>
          <a:solidFill>
            <a:srgbClr val="990099"/>
          </a:solidFill>
          <a:ln w="15875">
            <a:noFill/>
            <a:miter lim="800000"/>
          </a:ln>
          <a:effectLst>
            <a:prstShdw prst="shdw18" dist="17961" dir="13500000">
              <a:srgbClr val="990099">
                <a:gamma/>
                <a:shade val="60000"/>
                <a:invGamma/>
              </a:srgbClr>
            </a:prstShdw>
          </a:effectLst>
        </p:spPr>
        <p:txBody>
          <a:bodyPr wrap="none" anchor="ctr"/>
          <a:lstStyle/>
          <a:p>
            <a:pPr>
              <a:defRPr/>
            </a:pPr>
            <a:endParaRPr lang="zh-TW" altLang="en-US" sz="1800">
              <a:ea typeface="PMingLiU" pitchFamily="18" charset="-120"/>
            </a:endParaRPr>
          </a:p>
        </p:txBody>
      </p:sp>
      <p:sp>
        <p:nvSpPr>
          <p:cNvPr id="1043" name="Rectangle 19"/>
          <p:cNvSpPr>
            <a:spLocks noGrp="1" noChangeArrowheads="1"/>
          </p:cNvSpPr>
          <p:nvPr>
            <p:ph type="sldNum" sz="quarter" idx="4"/>
          </p:nvPr>
        </p:nvSpPr>
        <p:spPr bwMode="auto">
          <a:xfrm>
            <a:off x="9108017" y="6524628"/>
            <a:ext cx="2844800" cy="339725"/>
          </a:xfrm>
          <a:prstGeom prst="rect">
            <a:avLst/>
          </a:prstGeom>
          <a:noFill/>
          <a:ln w="9525">
            <a:noFill/>
            <a:miter lim="800000"/>
          </a:ln>
          <a:effectLst/>
        </p:spPr>
        <p:txBody>
          <a:bodyPr vert="horz" wrap="square" lIns="91440" tIns="45720" rIns="91440" bIns="45720" numCol="1" anchor="t" anchorCtr="0" compatLnSpc="1"/>
          <a:lstStyle>
            <a:lvl1pPr algn="r">
              <a:defRPr sz="1200">
                <a:solidFill>
                  <a:schemeClr val="bg1"/>
                </a:solidFill>
                <a:latin typeface="Arial" panose="020B0604020202090204" pitchFamily="34" charset="0"/>
                <a:ea typeface="PMingLiU" pitchFamily="18" charset="-120"/>
              </a:defRPr>
            </a:lvl1pPr>
          </a:lstStyle>
          <a:p>
            <a:fld id="{D9B6BDF2-6896-4B98-8776-C18582F63BA5}" type="slidenum">
              <a:rPr lang="zh-TW" altLang="en-US" smtClean="0"/>
            </a:fld>
            <a:endParaRPr lang="zh-TW" altLang="en-US"/>
          </a:p>
        </p:txBody>
      </p:sp>
      <p:pic>
        <p:nvPicPr>
          <p:cNvPr id="14" name="圖片 13"/>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33280" y="124614"/>
            <a:ext cx="916587" cy="672311"/>
          </a:xfrm>
          <a:prstGeom prst="rect">
            <a:avLst/>
          </a:prstGeom>
        </p:spPr>
      </p:pic>
      <p:grpSp>
        <p:nvGrpSpPr>
          <p:cNvPr id="2" name="群組 1"/>
          <p:cNvGrpSpPr/>
          <p:nvPr userDrawn="1"/>
        </p:nvGrpSpPr>
        <p:grpSpPr>
          <a:xfrm>
            <a:off x="86980" y="6239920"/>
            <a:ext cx="3223375" cy="569415"/>
            <a:chOff x="86980" y="6239920"/>
            <a:chExt cx="3223375" cy="569415"/>
          </a:xfrm>
        </p:grpSpPr>
        <p:pic>
          <p:nvPicPr>
            <p:cNvPr id="12" name="圖片 11"/>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86980" y="6239920"/>
              <a:ext cx="817930" cy="569415"/>
            </a:xfrm>
            <a:prstGeom prst="rect">
              <a:avLst/>
            </a:prstGeom>
          </p:spPr>
        </p:pic>
        <p:sp>
          <p:nvSpPr>
            <p:cNvPr id="15" name="矩形 14"/>
            <p:cNvSpPr/>
            <p:nvPr userDrawn="1"/>
          </p:nvSpPr>
          <p:spPr>
            <a:xfrm>
              <a:off x="829837" y="6347770"/>
              <a:ext cx="2480518" cy="430887"/>
            </a:xfrm>
            <a:prstGeom prst="rect">
              <a:avLst/>
            </a:prstGeom>
          </p:spPr>
          <p:txBody>
            <a:bodyPr wrap="square">
              <a:spAutoFit/>
            </a:bodyPr>
            <a:lstStyle/>
            <a:p>
              <a:pPr algn="ctr">
                <a:spcAft>
                  <a:spcPts val="0"/>
                </a:spcAft>
              </a:pPr>
              <a:r>
                <a:rPr lang="zh-CN" altLang="zh-TW" sz="1200" kern="100" dirty="0">
                  <a:solidFill>
                    <a:schemeClr val="bg1"/>
                  </a:solidFill>
                  <a:latin typeface="楷体" panose="02010609060101010101" pitchFamily="49" charset="-122"/>
                  <a:ea typeface="楷体" panose="02010609060101010101" pitchFamily="49" charset="-122"/>
                  <a:cs typeface="Times New Roman" panose="02020503050405090304" pitchFamily="18" charset="0"/>
                </a:rPr>
                <a:t>香港中文大学（深圳）数据科学院</a:t>
              </a:r>
              <a:endParaRPr lang="zh-TW" altLang="zh-TW" sz="1200" kern="100" dirty="0">
                <a:solidFill>
                  <a:schemeClr val="bg1"/>
                </a:solidFill>
                <a:latin typeface="楷体" panose="02010609060101010101" pitchFamily="49" charset="-122"/>
                <a:ea typeface="楷体" panose="02010609060101010101" pitchFamily="49" charset="-122"/>
                <a:cs typeface="Times New Roman" panose="02020503050405090304" pitchFamily="18" charset="0"/>
              </a:endParaRPr>
            </a:p>
            <a:p>
              <a:pPr algn="ctr">
                <a:spcAft>
                  <a:spcPts val="0"/>
                </a:spcAft>
              </a:pPr>
              <a:r>
                <a:rPr lang="en-US" altLang="zh-TW" sz="1000" kern="100" dirty="0">
                  <a:solidFill>
                    <a:schemeClr val="bg1"/>
                  </a:solidFill>
                  <a:latin typeface="Times New Roman" panose="02020503050405090304" pitchFamily="18" charset="0"/>
                  <a:ea typeface="標楷體" pitchFamily="65" charset="-120"/>
                  <a:cs typeface="Times New Roman" panose="02020503050405090304" pitchFamily="18" charset="0"/>
                </a:rPr>
                <a:t>CUHK</a:t>
              </a:r>
              <a:r>
                <a:rPr lang="en-US" altLang="zh-TW" sz="1000" kern="100" dirty="0">
                  <a:solidFill>
                    <a:schemeClr val="bg1"/>
                  </a:solidFill>
                  <a:latin typeface="Times New Roman" panose="02020503050405090304" pitchFamily="18" charset="0"/>
                  <a:ea typeface="等线" panose="02010600030101010101" charset="-122"/>
                  <a:cs typeface="Times New Roman" panose="02020503050405090304" pitchFamily="18" charset="0"/>
                </a:rPr>
                <a:t>-SZ Sc</a:t>
              </a:r>
              <a:r>
                <a:rPr lang="en-US" altLang="zh-TW" sz="1000" kern="100" dirty="0">
                  <a:solidFill>
                    <a:schemeClr val="bg1"/>
                  </a:solidFill>
                  <a:latin typeface="Times New Roman" panose="02020503050405090304" pitchFamily="18" charset="0"/>
                  <a:ea typeface="標楷體" pitchFamily="65" charset="-120"/>
                  <a:cs typeface="Times New Roman" panose="02020503050405090304" pitchFamily="18" charset="0"/>
                </a:rPr>
                <a:t>hool of Data Science</a:t>
              </a:r>
              <a:endParaRPr lang="zh-TW" altLang="zh-TW" sz="1000" kern="100" dirty="0">
                <a:solidFill>
                  <a:schemeClr val="bg1"/>
                </a:solidFill>
                <a:latin typeface="Calibri" panose="020F0502020204030204" pitchFamily="34" charset="0"/>
                <a:ea typeface="PMingLiU" pitchFamily="18" charset="-120"/>
                <a:cs typeface="Times New Roman" panose="02020503050405090304" pitchFamily="18" charset="0"/>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rtl="0" eaLnBrk="1" fontAlgn="base" hangingPunct="1">
        <a:spcBef>
          <a:spcPct val="0"/>
        </a:spcBef>
        <a:spcAft>
          <a:spcPct val="0"/>
        </a:spcAft>
        <a:defRPr kumimoji="1" sz="4800" b="1">
          <a:solidFill>
            <a:schemeClr val="tx2"/>
          </a:solidFill>
          <a:latin typeface="Calibri" panose="020F0502020204030204" pitchFamily="34" charset="0"/>
          <a:ea typeface="標楷體" pitchFamily="65" charset="-120"/>
          <a:cs typeface="+mj-cs"/>
        </a:defRPr>
      </a:lvl1pPr>
      <a:lvl2pPr algn="l" rtl="0" eaLnBrk="1" fontAlgn="base" hangingPunct="1">
        <a:spcBef>
          <a:spcPct val="0"/>
        </a:spcBef>
        <a:spcAft>
          <a:spcPct val="0"/>
        </a:spcAft>
        <a:defRPr kumimoji="1" sz="3600" b="1">
          <a:solidFill>
            <a:schemeClr val="tx2"/>
          </a:solidFill>
          <a:latin typeface="Calibri" panose="020F0502020204030204" pitchFamily="34" charset="0"/>
          <a:ea typeface="標楷體" pitchFamily="65" charset="-120"/>
          <a:cs typeface="MS Sans Serif"/>
        </a:defRPr>
      </a:lvl2pPr>
      <a:lvl3pPr algn="l" rtl="0" eaLnBrk="1" fontAlgn="base" hangingPunct="1">
        <a:spcBef>
          <a:spcPct val="0"/>
        </a:spcBef>
        <a:spcAft>
          <a:spcPct val="0"/>
        </a:spcAft>
        <a:defRPr kumimoji="1" sz="3600" b="1">
          <a:solidFill>
            <a:schemeClr val="tx2"/>
          </a:solidFill>
          <a:latin typeface="Calibri" panose="020F0502020204030204" pitchFamily="34" charset="0"/>
          <a:ea typeface="標楷體" pitchFamily="65" charset="-120"/>
          <a:cs typeface="MS Sans Serif"/>
        </a:defRPr>
      </a:lvl3pPr>
      <a:lvl4pPr algn="l" rtl="0" eaLnBrk="1" fontAlgn="base" hangingPunct="1">
        <a:spcBef>
          <a:spcPct val="0"/>
        </a:spcBef>
        <a:spcAft>
          <a:spcPct val="0"/>
        </a:spcAft>
        <a:defRPr kumimoji="1" sz="3600" b="1">
          <a:solidFill>
            <a:schemeClr val="tx2"/>
          </a:solidFill>
          <a:latin typeface="Calibri" panose="020F0502020204030204" pitchFamily="34" charset="0"/>
          <a:ea typeface="標楷體" pitchFamily="65" charset="-120"/>
          <a:cs typeface="MS Sans Serif"/>
        </a:defRPr>
      </a:lvl4pPr>
      <a:lvl5pPr algn="l" rtl="0" eaLnBrk="1" fontAlgn="base" hangingPunct="1">
        <a:spcBef>
          <a:spcPct val="0"/>
        </a:spcBef>
        <a:spcAft>
          <a:spcPct val="0"/>
        </a:spcAft>
        <a:defRPr kumimoji="1" sz="3600" b="1">
          <a:solidFill>
            <a:schemeClr val="tx2"/>
          </a:solidFill>
          <a:latin typeface="Calibri" panose="020F0502020204030204" pitchFamily="34" charset="0"/>
          <a:ea typeface="標楷體" pitchFamily="65" charset="-120"/>
          <a:cs typeface="MS Sans Serif"/>
        </a:defRPr>
      </a:lvl5pPr>
      <a:lvl6pPr marL="457200" algn="l" rtl="0" eaLnBrk="1" fontAlgn="base" hangingPunct="1">
        <a:spcBef>
          <a:spcPct val="0"/>
        </a:spcBef>
        <a:spcAft>
          <a:spcPct val="0"/>
        </a:spcAft>
        <a:defRPr kumimoji="1" sz="3000" b="1">
          <a:solidFill>
            <a:schemeClr val="tx2"/>
          </a:solidFill>
          <a:latin typeface="MS Sans Serif"/>
          <a:ea typeface="MS Sans Serif"/>
          <a:cs typeface="MS Sans Serif"/>
        </a:defRPr>
      </a:lvl6pPr>
      <a:lvl7pPr marL="914400" algn="l" rtl="0" eaLnBrk="1" fontAlgn="base" hangingPunct="1">
        <a:spcBef>
          <a:spcPct val="0"/>
        </a:spcBef>
        <a:spcAft>
          <a:spcPct val="0"/>
        </a:spcAft>
        <a:defRPr kumimoji="1" sz="3000" b="1">
          <a:solidFill>
            <a:schemeClr val="tx2"/>
          </a:solidFill>
          <a:latin typeface="MS Sans Serif"/>
          <a:ea typeface="MS Sans Serif"/>
          <a:cs typeface="MS Sans Serif"/>
        </a:defRPr>
      </a:lvl7pPr>
      <a:lvl8pPr marL="1371600" algn="l" rtl="0" eaLnBrk="1" fontAlgn="base" hangingPunct="1">
        <a:spcBef>
          <a:spcPct val="0"/>
        </a:spcBef>
        <a:spcAft>
          <a:spcPct val="0"/>
        </a:spcAft>
        <a:defRPr kumimoji="1" sz="3000" b="1">
          <a:solidFill>
            <a:schemeClr val="tx2"/>
          </a:solidFill>
          <a:latin typeface="MS Sans Serif"/>
          <a:ea typeface="MS Sans Serif"/>
          <a:cs typeface="MS Sans Serif"/>
        </a:defRPr>
      </a:lvl8pPr>
      <a:lvl9pPr marL="1828800" algn="l" rtl="0" eaLnBrk="1" fontAlgn="base" hangingPunct="1">
        <a:spcBef>
          <a:spcPct val="0"/>
        </a:spcBef>
        <a:spcAft>
          <a:spcPct val="0"/>
        </a:spcAft>
        <a:defRPr kumimoji="1" sz="3000" b="1">
          <a:solidFill>
            <a:schemeClr val="tx2"/>
          </a:solidFill>
          <a:latin typeface="MS Sans Serif"/>
          <a:ea typeface="MS Sans Serif"/>
          <a:cs typeface="MS Sans Serif"/>
        </a:defRPr>
      </a:lvl9pPr>
    </p:titleStyle>
    <p:body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9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400">
          <a:solidFill>
            <a:schemeClr val="tx1"/>
          </a:solidFill>
          <a:latin typeface="+mn-lt"/>
          <a:ea typeface="+mn-ea"/>
        </a:defRPr>
      </a:lvl3pPr>
      <a:lvl4pPr marL="1600200" indent="-228600" algn="l" rtl="0" eaLnBrk="1" fontAlgn="base" hangingPunct="1">
        <a:spcBef>
          <a:spcPct val="20000"/>
        </a:spcBef>
        <a:spcAft>
          <a:spcPct val="0"/>
        </a:spcAft>
        <a:buChar char="–"/>
        <a:defRPr kumimoji="1" sz="2000">
          <a:solidFill>
            <a:schemeClr val="tx1"/>
          </a:solidFill>
          <a:latin typeface="+mn-lt"/>
          <a:ea typeface="+mn-ea"/>
        </a:defRPr>
      </a:lvl4pPr>
      <a:lvl5pPr marL="2057400" indent="-228600" algn="l" rtl="0" eaLnBrk="1" fontAlgn="base" hangingPunct="1">
        <a:spcBef>
          <a:spcPct val="20000"/>
        </a:spcBef>
        <a:spcAft>
          <a:spcPct val="0"/>
        </a:spcAft>
        <a:buChar char="»"/>
        <a:defRPr kumimoji="1" sz="2000">
          <a:solidFill>
            <a:schemeClr val="tx1"/>
          </a:solidFill>
          <a:latin typeface="+mn-lt"/>
          <a:ea typeface="+mn-ea"/>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endParaRPr lang="zh-TW" altLang="en-US"/>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11D65F-25B7-47C5-85DC-B1A2A3BE76D7}" type="slidenum">
              <a:rPr lang="zh-TW" altLang="en-US" smtClean="0"/>
            </a:fld>
            <a:endParaRPr lang="zh-TW" alt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xml"/><Relationship Id="rId2" Type="http://schemas.openxmlformats.org/officeDocument/2006/relationships/image" Target="../media/image14.png"/><Relationship Id="rId1"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image" Target="../media/image16.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image" Target="../media/image18.pn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1.xml"/><Relationship Id="rId2" Type="http://schemas.openxmlformats.org/officeDocument/2006/relationships/image" Target="../media/image20.png"/><Relationship Id="rId1" Type="http://schemas.openxmlformats.org/officeDocument/2006/relationships/image" Target="../media/image19.png"/></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1.xml"/><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1471" y="1406845"/>
            <a:ext cx="11396871" cy="1882455"/>
          </a:xfrm>
        </p:spPr>
        <p:txBody>
          <a:bodyPr/>
          <a:lstStyle/>
          <a:p>
            <a:pPr algn="ctr"/>
            <a:r>
              <a:rPr lang="en-US" altLang="zh-CN" sz="3600" dirty="0"/>
              <a:t>From Storage to Intelligence: The Evolution of Agent Memory Management</a:t>
            </a:r>
            <a:br>
              <a:rPr lang="en-US" altLang="zh-CN" sz="3600" dirty="0"/>
            </a:br>
            <a:r>
              <a:rPr lang="en-US" altLang="zh-CN" sz="3600" dirty="0"/>
              <a:t> </a:t>
            </a:r>
            <a:br>
              <a:rPr lang="en-US" altLang="zh-CN" sz="3600" dirty="0">
                <a:effectLst>
                  <a:outerShdw blurRad="38100" dist="38100" dir="2700000" algn="tl">
                    <a:srgbClr val="000000">
                      <a:alpha val="43137"/>
                    </a:srgbClr>
                  </a:outerShdw>
                </a:effectLst>
              </a:rPr>
            </a:br>
            <a:r>
              <a:rPr lang="en-US" altLang="zh-CN" sz="3600" b="0" dirty="0">
                <a:effectLst>
                  <a:outerShdw blurRad="38100" dist="38100" dir="2700000" algn="tl">
                    <a:srgbClr val="000000">
                      <a:alpha val="43137"/>
                    </a:srgbClr>
                  </a:outerShdw>
                </a:effectLst>
              </a:rPr>
              <a:t>2026.04.28</a:t>
            </a:r>
            <a:endParaRPr lang="zh-TW" altLang="en-US" sz="3600" b="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828800" y="3855632"/>
            <a:ext cx="8534400" cy="1882455"/>
          </a:xfrm>
        </p:spPr>
        <p:txBody>
          <a:bodyPr/>
          <a:lstStyle/>
          <a:p>
            <a:r>
              <a:rPr lang="en-US" altLang="zh-CN" sz="3200" dirty="0">
                <a:effectLst>
                  <a:outerShdw blurRad="38100" dist="38100" dir="2700000" algn="tl">
                    <a:srgbClr val="000000">
                      <a:alpha val="43137"/>
                    </a:srgbClr>
                  </a:outerShdw>
                </a:effectLst>
              </a:rPr>
              <a:t>Botao Xie</a:t>
            </a:r>
            <a:endParaRPr lang="en-US" altLang="zh-CN" sz="3200" dirty="0">
              <a:effectLst>
                <a:outerShdw blurRad="38100" dist="38100" dir="2700000" algn="tl">
                  <a:srgbClr val="000000">
                    <a:alpha val="43137"/>
                  </a:srgbClr>
                </a:outerShdw>
              </a:effectLst>
            </a:endParaRPr>
          </a:p>
          <a:p>
            <a:r>
              <a:rPr lang="en-US" altLang="zh-TW" sz="3200" dirty="0"/>
              <a:t>School of </a:t>
            </a:r>
            <a:r>
              <a:rPr lang="en-US" altLang="zh-CN" sz="3200" dirty="0"/>
              <a:t>Data </a:t>
            </a:r>
            <a:r>
              <a:rPr lang="en-US" altLang="zh-TW" sz="3200" dirty="0"/>
              <a:t>Science</a:t>
            </a:r>
            <a:endParaRPr lang="en-US" altLang="zh-TW" sz="3200" dirty="0"/>
          </a:p>
          <a:p>
            <a:r>
              <a:rPr lang="en-US" altLang="zh-TW" sz="3200" dirty="0"/>
              <a:t>Chinese University of Hong Kong, Shenzhen</a:t>
            </a:r>
            <a:endParaRPr lang="en-US" altLang="zh-TW"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dirty="0"/>
              <a:t>O</a:t>
            </a:r>
            <a:r>
              <a:rPr lang="en-US" altLang="zh-TW" dirty="0"/>
              <a:t>utline</a:t>
            </a:r>
            <a:endParaRPr lang="en-US" altLang="zh-TW" dirty="0"/>
          </a:p>
        </p:txBody>
      </p:sp>
      <p:sp>
        <p:nvSpPr>
          <p:cNvPr id="3" name="內容版面配置區 2"/>
          <p:cNvSpPr>
            <a:spLocks noGrp="1"/>
          </p:cNvSpPr>
          <p:nvPr>
            <p:ph idx="1"/>
          </p:nvPr>
        </p:nvSpPr>
        <p:spPr>
          <a:xfrm>
            <a:off x="1311423" y="1125537"/>
            <a:ext cx="10270977" cy="3560763"/>
          </a:xfrm>
        </p:spPr>
        <p:txBody>
          <a:bodyPr>
            <a:noAutofit/>
          </a:bodyPr>
          <a:lstStyle/>
          <a:p>
            <a:r>
              <a:rPr lang="en-US" altLang="zh-CN" sz="2935" dirty="0">
                <a:latin typeface="Times New Roman Regular" panose="02020503050405090304" charset="0"/>
                <a:cs typeface="Times New Roman Regular" panose="02020503050405090304" charset="0"/>
              </a:rPr>
              <a:t>Introduction						(5 min)</a:t>
            </a:r>
            <a:endParaRPr lang="en-US" altLang="zh-TW" sz="2935" dirty="0">
              <a:latin typeface="Times New Roman Regular" panose="02020503050405090304" charset="0"/>
              <a:cs typeface="Times New Roman Regular" panose="02020503050405090304" charset="0"/>
            </a:endParaRPr>
          </a:p>
          <a:p>
            <a:r>
              <a:rPr lang="en-US" altLang="zh-CN" sz="2935" dirty="0">
                <a:latin typeface="Times New Roman Regular" panose="02020503050405090304" charset="0"/>
                <a:cs typeface="Times New Roman Regular" panose="02020503050405090304" charset="0"/>
              </a:rPr>
              <a:t>Background &amp; Motivation 				(3 min)</a:t>
            </a:r>
            <a:endParaRPr lang="en-US" altLang="zh-CN" sz="2935" dirty="0">
              <a:latin typeface="Times New Roman Regular" panose="02020503050405090304" charset="0"/>
              <a:cs typeface="Times New Roman Regular" panose="02020503050405090304" charset="0"/>
            </a:endParaRPr>
          </a:p>
          <a:p>
            <a:r>
              <a:rPr lang="en-US" altLang="zh-CN" sz="2935" dirty="0">
                <a:latin typeface="Times New Roman Regular" panose="02020503050405090304" charset="0"/>
                <a:cs typeface="Times New Roman Regular" panose="02020503050405090304" charset="0"/>
              </a:rPr>
              <a:t>Proposed Methods &amp; Performance Evaluation (24 min)</a:t>
            </a:r>
            <a:endParaRPr lang="en-US" altLang="zh-CN" sz="2935" dirty="0">
              <a:latin typeface="Times New Roman Regular" panose="02020503050405090304" charset="0"/>
              <a:cs typeface="Times New Roman Regular" panose="02020503050405090304" charset="0"/>
            </a:endParaRPr>
          </a:p>
          <a:p>
            <a:pPr lvl="1"/>
            <a:r>
              <a:rPr lang="en-US" altLang="zh-CN" sz="2400" dirty="0">
                <a:latin typeface="Times New Roman Regular" panose="02020503050405090304" charset="0"/>
                <a:cs typeface="Times New Roman Regular" panose="02020503050405090304" charset="0"/>
              </a:rPr>
              <a:t>MemGPT (2024, University of California)</a:t>
            </a:r>
            <a:r>
              <a:rPr lang="en-US" altLang="zh-CN" sz="2400" dirty="0">
                <a:latin typeface="Times New Roman Regular" panose="02020503050405090304" charset="0"/>
                <a:cs typeface="Times New Roman Regular" panose="02020503050405090304" charset="0"/>
                <a:sym typeface="+mn-ea"/>
              </a:rPr>
              <a:t>	</a:t>
            </a:r>
            <a:r>
              <a:rPr lang="en-US" altLang="zh-CN" sz="2400" dirty="0">
                <a:latin typeface="Times New Roman Regular" panose="02020503050405090304" charset="0"/>
                <a:cs typeface="Times New Roman Regular" panose="02020503050405090304" charset="0"/>
              </a:rPr>
              <a:t>	(8 min)</a:t>
            </a:r>
            <a:endParaRPr lang="en-US" altLang="zh-CN" sz="2400" dirty="0">
              <a:latin typeface="Times New Roman Regular" panose="02020503050405090304" charset="0"/>
              <a:cs typeface="Times New Roman Regular" panose="02020503050405090304" charset="0"/>
            </a:endParaRPr>
          </a:p>
          <a:p>
            <a:pPr lvl="1"/>
            <a:r>
              <a:rPr lang="en-US" altLang="zh-CN" sz="2400" dirty="0">
                <a:latin typeface="Times New Roman Regular" panose="02020503050405090304" charset="0"/>
                <a:cs typeface="Times New Roman Regular" panose="02020503050405090304" charset="0"/>
                <a:sym typeface="+mn-ea"/>
              </a:rPr>
              <a:t>A-MEM</a:t>
            </a:r>
            <a:r>
              <a:rPr lang="en-US" altLang="zh-CN" sz="2400" dirty="0">
                <a:latin typeface="Times New Roman Regular" panose="02020503050405090304" charset="0"/>
                <a:cs typeface="Times New Roman Regular" panose="02020503050405090304" charset="0"/>
              </a:rPr>
              <a:t> (2025, Rutgers University)			(8 min)</a:t>
            </a:r>
            <a:endParaRPr lang="en-US" altLang="zh-CN" sz="2400" dirty="0">
              <a:latin typeface="Times New Roman Regular" panose="02020503050405090304" charset="0"/>
              <a:cs typeface="Times New Roman Regular" panose="02020503050405090304" charset="0"/>
            </a:endParaRPr>
          </a:p>
          <a:p>
            <a:pPr lvl="1"/>
            <a:r>
              <a:rPr lang="en-US" altLang="zh-CN" sz="2400" dirty="0" err="1">
                <a:latin typeface="Times New Roman Regular" panose="02020503050405090304" charset="0"/>
                <a:cs typeface="Times New Roman Regular" panose="02020503050405090304" charset="0"/>
              </a:rPr>
              <a:t>GAM (2026, Zhejiang University)</a:t>
            </a:r>
            <a:r>
              <a:rPr lang="en-US" altLang="zh-CN" sz="2400" dirty="0">
                <a:latin typeface="Times New Roman Regular" panose="02020503050405090304" charset="0"/>
                <a:cs typeface="Times New Roman Regular" panose="02020503050405090304" charset="0"/>
              </a:rPr>
              <a:t>			(8 min)</a:t>
            </a:r>
            <a:endParaRPr lang="en-US" altLang="zh-CN" sz="2400" dirty="0">
              <a:latin typeface="Times New Roman Regular" panose="02020503050405090304" charset="0"/>
              <a:cs typeface="Times New Roman Regular" panose="02020503050405090304" charset="0"/>
            </a:endParaRPr>
          </a:p>
          <a:p>
            <a:r>
              <a:rPr lang="en-US" altLang="zh-CN" sz="2935" dirty="0">
                <a:latin typeface="Times New Roman Regular" panose="02020503050405090304" charset="0"/>
                <a:cs typeface="Times New Roman Regular" panose="02020503050405090304" charset="0"/>
              </a:rPr>
              <a:t>Conclusions 						(2 min)</a:t>
            </a:r>
            <a:endParaRPr lang="en-US" altLang="zh-CN" sz="2935" dirty="0">
              <a:latin typeface="Times New Roman Regular" panose="02020503050405090304" charset="0"/>
              <a:cs typeface="Times New Roman Regular" panose="02020503050405090304" charset="0"/>
            </a:endParaRPr>
          </a:p>
          <a:p>
            <a:r>
              <a:rPr lang="en-US" altLang="zh-CN" sz="2935" dirty="0">
                <a:latin typeface="Times New Roman Regular" panose="02020503050405090304" charset="0"/>
                <a:cs typeface="Times New Roman Regular" panose="02020503050405090304" charset="0"/>
              </a:rPr>
              <a:t>Q &amp; A							(2 min)</a:t>
            </a:r>
            <a:endParaRPr lang="en-US" altLang="zh-CN" sz="2935" dirty="0">
              <a:latin typeface="Times New Roman Regular" panose="02020503050405090304" charset="0"/>
              <a:cs typeface="Times New Roman Regular" panose="02020503050405090304"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dirty="0">
                <a:sym typeface="+mn-ea"/>
              </a:rPr>
              <a:t>Outline</a:t>
            </a:r>
            <a:endParaRPr lang="zh-TW" altLang="en-US" dirty="0"/>
          </a:p>
        </p:txBody>
      </p:sp>
      <p:sp>
        <p:nvSpPr>
          <p:cNvPr id="3" name="內容版面配置區 2"/>
          <p:cNvSpPr>
            <a:spLocks noGrp="1"/>
          </p:cNvSpPr>
          <p:nvPr>
            <p:ph idx="1"/>
          </p:nvPr>
        </p:nvSpPr>
        <p:spPr>
          <a:xfrm>
            <a:off x="1311423" y="1125537"/>
            <a:ext cx="10270977" cy="3560763"/>
          </a:xfrm>
        </p:spPr>
        <p:txBody>
          <a:bodyPr>
            <a:noAutofit/>
          </a:bodyPr>
          <a:lstStyle/>
          <a:p>
            <a:r>
              <a:rPr lang="en-US" altLang="zh-CN" sz="2935" dirty="0">
                <a:solidFill>
                  <a:srgbClr val="FF0000"/>
                </a:solidFill>
                <a:latin typeface="Times New Roman Regular" panose="02020503050405090304" charset="0"/>
                <a:cs typeface="Times New Roman Regular" panose="02020503050405090304" charset="0"/>
              </a:rPr>
              <a:t>Introduction</a:t>
            </a:r>
            <a:r>
              <a:rPr lang="en-US" altLang="zh-CN" sz="2935" dirty="0">
                <a:latin typeface="Times New Roman Regular" panose="02020503050405090304" charset="0"/>
                <a:cs typeface="Times New Roman Regular" panose="02020503050405090304" charset="0"/>
              </a:rPr>
              <a:t>						(5 min)</a:t>
            </a:r>
            <a:endParaRPr lang="en-US" altLang="zh-TW" sz="2935" dirty="0">
              <a:latin typeface="Times New Roman Regular" panose="02020503050405090304" charset="0"/>
              <a:cs typeface="Times New Roman Regular" panose="02020503050405090304" charset="0"/>
            </a:endParaRPr>
          </a:p>
          <a:p>
            <a:r>
              <a:rPr lang="en-US" altLang="zh-CN" sz="2935" dirty="0">
                <a:latin typeface="Times New Roman Regular" panose="02020503050405090304" charset="0"/>
                <a:cs typeface="Times New Roman Regular" panose="02020503050405090304" charset="0"/>
              </a:rPr>
              <a:t>Background &amp; Motivation 				(3 min)</a:t>
            </a:r>
            <a:endParaRPr lang="en-US" altLang="zh-CN" sz="2935" dirty="0">
              <a:latin typeface="Times New Roman Regular" panose="02020503050405090304" charset="0"/>
              <a:cs typeface="Times New Roman Regular" panose="02020503050405090304" charset="0"/>
            </a:endParaRPr>
          </a:p>
          <a:p>
            <a:r>
              <a:rPr lang="en-US" altLang="zh-CN" sz="2935" dirty="0">
                <a:latin typeface="Times New Roman Regular" panose="02020503050405090304" charset="0"/>
                <a:cs typeface="Times New Roman Regular" panose="02020503050405090304" charset="0"/>
              </a:rPr>
              <a:t>Proposed Methods &amp; Performance Evaluation (24 min)</a:t>
            </a:r>
            <a:endParaRPr lang="en-US" altLang="zh-CN" sz="2935" dirty="0">
              <a:latin typeface="Times New Roman Regular" panose="02020503050405090304" charset="0"/>
              <a:cs typeface="Times New Roman Regular" panose="02020503050405090304" charset="0"/>
            </a:endParaRPr>
          </a:p>
          <a:p>
            <a:pPr lvl="1"/>
            <a:r>
              <a:rPr lang="en-US" altLang="zh-CN" sz="2400" dirty="0">
                <a:latin typeface="Times New Roman Regular" panose="02020503050405090304" charset="0"/>
                <a:cs typeface="Times New Roman Regular" panose="02020503050405090304" charset="0"/>
                <a:sym typeface="+mn-ea"/>
              </a:rPr>
              <a:t>MemGPT (2024, University of California)</a:t>
            </a:r>
            <a:r>
              <a:rPr lang="en-US" altLang="zh-CN" sz="2400" dirty="0">
                <a:latin typeface="Times New Roman Regular" panose="02020503050405090304" charset="0"/>
                <a:cs typeface="Times New Roman Regular" panose="02020503050405090304" charset="0"/>
                <a:sym typeface="+mn-ea"/>
              </a:rPr>
              <a:t>	</a:t>
            </a:r>
            <a:r>
              <a:rPr lang="en-US" altLang="zh-CN" sz="2400" dirty="0">
                <a:latin typeface="Times New Roman Regular" panose="02020503050405090304" charset="0"/>
                <a:cs typeface="Times New Roman Regular" panose="02020503050405090304" charset="0"/>
                <a:sym typeface="+mn-ea"/>
              </a:rPr>
              <a:t>	(8 min)</a:t>
            </a:r>
            <a:endParaRPr lang="en-US" altLang="zh-CN" sz="2400" dirty="0">
              <a:latin typeface="Times New Roman Regular" panose="02020503050405090304" charset="0"/>
              <a:cs typeface="Times New Roman Regular" panose="02020503050405090304" charset="0"/>
            </a:endParaRPr>
          </a:p>
          <a:p>
            <a:pPr lvl="1"/>
            <a:r>
              <a:rPr lang="en-US" altLang="zh-CN" sz="2400" dirty="0">
                <a:latin typeface="Times New Roman Regular" panose="02020503050405090304" charset="0"/>
                <a:cs typeface="Times New Roman Regular" panose="02020503050405090304" charset="0"/>
                <a:sym typeface="+mn-ea"/>
              </a:rPr>
              <a:t>A-MEM</a:t>
            </a:r>
            <a:r>
              <a:rPr lang="en-US" altLang="zh-CN" sz="2400" dirty="0">
                <a:latin typeface="Times New Roman Regular" panose="02020503050405090304" charset="0"/>
                <a:cs typeface="Times New Roman Regular" panose="02020503050405090304" charset="0"/>
                <a:sym typeface="+mn-ea"/>
              </a:rPr>
              <a:t> (2025, Rutgers University)			(8 min)</a:t>
            </a:r>
            <a:endParaRPr lang="en-US" altLang="zh-CN" sz="2400" dirty="0">
              <a:latin typeface="Times New Roman Regular" panose="02020503050405090304" charset="0"/>
              <a:cs typeface="Times New Roman Regular" panose="02020503050405090304" charset="0"/>
            </a:endParaRPr>
          </a:p>
          <a:p>
            <a:pPr lvl="1"/>
            <a:r>
              <a:rPr lang="en-US" altLang="zh-CN" sz="2400" dirty="0" err="1">
                <a:latin typeface="Times New Roman Regular" panose="02020503050405090304" charset="0"/>
                <a:cs typeface="Times New Roman Regular" panose="02020503050405090304" charset="0"/>
                <a:sym typeface="+mn-ea"/>
              </a:rPr>
              <a:t>GAM (2026, Zhejiang University)</a:t>
            </a:r>
            <a:r>
              <a:rPr lang="en-US" altLang="zh-CN" sz="2400" dirty="0">
                <a:latin typeface="Times New Roman Regular" panose="02020503050405090304" charset="0"/>
                <a:cs typeface="Times New Roman Regular" panose="02020503050405090304" charset="0"/>
                <a:sym typeface="+mn-ea"/>
              </a:rPr>
              <a:t>			(8 min)</a:t>
            </a:r>
            <a:endParaRPr lang="en-US" altLang="zh-CN" sz="2400" dirty="0">
              <a:latin typeface="Times New Roman Regular" panose="02020503050405090304" charset="0"/>
              <a:cs typeface="Times New Roman Regular" panose="02020503050405090304" charset="0"/>
            </a:endParaRPr>
          </a:p>
          <a:p>
            <a:r>
              <a:rPr lang="en-US" altLang="zh-CN" sz="2935" dirty="0">
                <a:latin typeface="Times New Roman Regular" panose="02020503050405090304" charset="0"/>
                <a:cs typeface="Times New Roman Regular" panose="02020503050405090304" charset="0"/>
              </a:rPr>
              <a:t>Conclusions 						(2 min)</a:t>
            </a:r>
            <a:endParaRPr lang="en-US" altLang="zh-CN" sz="2935" dirty="0">
              <a:latin typeface="Times New Roman Regular" panose="02020503050405090304" charset="0"/>
              <a:cs typeface="Times New Roman Regular" panose="02020503050405090304" charset="0"/>
            </a:endParaRPr>
          </a:p>
          <a:p>
            <a:r>
              <a:rPr lang="en-US" altLang="zh-CN" sz="2935" dirty="0">
                <a:latin typeface="Times New Roman Regular" panose="02020503050405090304" charset="0"/>
                <a:cs typeface="Times New Roman Regular" panose="02020503050405090304" charset="0"/>
              </a:rPr>
              <a:t>Q &amp; A							(2 min)</a:t>
            </a:r>
            <a:endParaRPr lang="en-US" altLang="zh-CN" sz="2935" dirty="0">
              <a:latin typeface="Times New Roman Regular" panose="02020503050405090304" charset="0"/>
              <a:cs typeface="Times New Roman Regular" panose="02020503050405090304"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390" y="144780"/>
            <a:ext cx="11015980" cy="692150"/>
          </a:xfrm>
        </p:spPr>
        <p:txBody>
          <a:bodyPr/>
          <a:lstStyle/>
          <a:p>
            <a:r>
              <a:rPr lang="en-US" altLang="zh-CN" dirty="0">
                <a:ea typeface="Calibri" panose="020F0502020204030204" pitchFamily="34" charset="0"/>
                <a:cs typeface="Calibri" panose="020F0502020204030204" pitchFamily="34" charset="0"/>
              </a:rPr>
              <a:t>Introduction – Agent Memory (1/3)</a:t>
            </a:r>
            <a:endParaRPr lang="en-US" dirty="0">
              <a:ea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609600" y="1125537"/>
            <a:ext cx="10594109" cy="4831917"/>
          </a:xfrm>
        </p:spPr>
        <p:txBody>
          <a:bodyPr/>
          <a:lstStyle/>
          <a:p>
            <a:r>
              <a:rPr lang="en-US" sz="2800" dirty="0">
                <a:latin typeface="Times New Roman" panose="02020503050405090304" pitchFamily="18" charset="0"/>
                <a:cs typeface="Times New Roman" panose="02020503050405090304" pitchFamily="18" charset="0"/>
              </a:rPr>
              <a:t>What is agent memory?</a:t>
            </a:r>
            <a:endParaRPr lang="en-US" sz="2800" dirty="0">
              <a:latin typeface="Times New Roman" panose="02020503050405090304" pitchFamily="18" charset="0"/>
              <a:cs typeface="Times New Roman" panose="02020503050405090304" pitchFamily="18" charset="0"/>
            </a:endParaRPr>
          </a:p>
          <a:p>
            <a:pPr lvl="1"/>
            <a:r>
              <a:rPr lang="en-US" altLang="zh-CN" sz="2200" dirty="0">
                <a:latin typeface="Times New Roman" panose="02020503050405090304" pitchFamily="18" charset="0"/>
                <a:cs typeface="Times New Roman" panose="02020503050405090304" pitchFamily="18" charset="0"/>
              </a:rPr>
              <a:t>The core capability that empowers foundation models to store, manage, and evolve experiences for complex, long-term interactions.</a:t>
            </a:r>
            <a:endParaRPr lang="en-US" altLang="zh-CN" sz="2200" dirty="0">
              <a:latin typeface="Times New Roman" panose="02020503050405090304" pitchFamily="18" charset="0"/>
              <a:cs typeface="Times New Roman" panose="02020503050405090304" pitchFamily="18" charset="0"/>
            </a:endParaRPr>
          </a:p>
          <a:p>
            <a:pPr lvl="1"/>
            <a:r>
              <a:rPr lang="en-US" altLang="zh-CN" sz="2200" dirty="0">
                <a:latin typeface="Times New Roman" panose="02020503050405090304" pitchFamily="18" charset="0"/>
                <a:cs typeface="Times New Roman" panose="02020503050405090304" pitchFamily="18" charset="0"/>
              </a:rPr>
              <a:t>Agent memory system is a wrapper system built upon large language models.</a:t>
            </a:r>
            <a:endParaRPr lang="en-US" sz="2200" dirty="0">
              <a:latin typeface="Times New Roman" panose="02020503050405090304" pitchFamily="18" charset="0"/>
              <a:cs typeface="Times New Roman" panose="02020503050405090304" pitchFamily="18" charset="0"/>
            </a:endParaRPr>
          </a:p>
        </p:txBody>
      </p:sp>
      <p:sp>
        <p:nvSpPr>
          <p:cNvPr id="4"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pic>
        <p:nvPicPr>
          <p:cNvPr id="5" name="图片 4"/>
          <p:cNvPicPr>
            <a:picLocks noChangeAspect="1"/>
          </p:cNvPicPr>
          <p:nvPr/>
        </p:nvPicPr>
        <p:blipFill>
          <a:blip r:embed="rId1"/>
          <a:stretch>
            <a:fillRect/>
          </a:stretch>
        </p:blipFill>
        <p:spPr>
          <a:xfrm>
            <a:off x="2392045" y="3107690"/>
            <a:ext cx="7028815" cy="1898650"/>
          </a:xfrm>
          <a:prstGeom prst="rect">
            <a:avLst/>
          </a:prstGeom>
        </p:spPr>
      </p:pic>
      <p:sp>
        <p:nvSpPr>
          <p:cNvPr id="7" name="文本框 6"/>
          <p:cNvSpPr txBox="1"/>
          <p:nvPr/>
        </p:nvSpPr>
        <p:spPr>
          <a:xfrm>
            <a:off x="3911600" y="5116195"/>
            <a:ext cx="4368800" cy="368300"/>
          </a:xfrm>
          <a:prstGeom prst="rect">
            <a:avLst/>
          </a:prstGeom>
          <a:noFill/>
        </p:spPr>
        <p:txBody>
          <a:bodyPr wrap="square" rtlCol="0" anchor="ctr" anchorCtr="1">
            <a:spAutoFit/>
          </a:bodyPr>
          <a:p>
            <a:r>
              <a:rPr lang="en-US" altLang="zh-CN" dirty="0" smtClean="0">
                <a:latin typeface="Times New Roman" panose="02020503050405090304" pitchFamily="18" charset="0"/>
                <a:ea typeface="標楷體" pitchFamily="65" charset="-120"/>
                <a:cs typeface="Times New Roman" panose="02020503050405090304" pitchFamily="18" charset="0"/>
              </a:rPr>
              <a:t>Figure 1: Traditional memory system</a:t>
            </a:r>
            <a:endParaRPr lang="en-US" altLang="zh-CN" dirty="0" smtClean="0">
              <a:latin typeface="Times New Roman" panose="02020503050405090304" pitchFamily="18" charset="0"/>
              <a:ea typeface="標楷體" pitchFamily="65" charset="-120"/>
              <a:cs typeface="Times New Roman" panose="0202050305040509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390" y="144780"/>
            <a:ext cx="11015980" cy="692150"/>
          </a:xfrm>
        </p:spPr>
        <p:txBody>
          <a:bodyPr/>
          <a:lstStyle/>
          <a:p>
            <a:r>
              <a:rPr lang="en-US" altLang="zh-CN" dirty="0">
                <a:ea typeface="Calibri" panose="020F0502020204030204" pitchFamily="34" charset="0"/>
                <a:cs typeface="Calibri" panose="020F0502020204030204" pitchFamily="34" charset="0"/>
              </a:rPr>
              <a:t>Introduction – </a:t>
            </a:r>
            <a:r>
              <a:rPr lang="en-US" altLang="zh-CN" dirty="0">
                <a:ea typeface="Calibri" panose="020F0502020204030204" pitchFamily="34" charset="0"/>
                <a:cs typeface="Calibri" panose="020F0502020204030204" pitchFamily="34" charset="0"/>
                <a:sym typeface="+mn-ea"/>
              </a:rPr>
              <a:t>Agent Memory</a:t>
            </a:r>
            <a:r>
              <a:rPr lang="en-US" altLang="zh-CN" dirty="0">
                <a:ea typeface="Calibri" panose="020F0502020204030204" pitchFamily="34" charset="0"/>
                <a:cs typeface="Calibri" panose="020F0502020204030204" pitchFamily="34" charset="0"/>
              </a:rPr>
              <a:t> (2/3)</a:t>
            </a:r>
            <a:endParaRPr lang="en-US" dirty="0">
              <a:ea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609600" y="1125537"/>
            <a:ext cx="10594109" cy="4831917"/>
          </a:xfrm>
        </p:spPr>
        <p:txBody>
          <a:bodyPr/>
          <a:lstStyle/>
          <a:p>
            <a:r>
              <a:rPr lang="en-US" sz="2800" dirty="0">
                <a:latin typeface="Times New Roman" panose="02020503050405090304" pitchFamily="18" charset="0"/>
                <a:cs typeface="Times New Roman" panose="02020503050405090304" pitchFamily="18" charset="0"/>
              </a:rPr>
              <a:t>Why use agent memory?</a:t>
            </a:r>
            <a:endParaRPr lang="en-US" sz="2800" dirty="0">
              <a:latin typeface="Times New Roman" panose="02020503050405090304" pitchFamily="18" charset="0"/>
              <a:cs typeface="Times New Roman" panose="02020503050405090304" pitchFamily="18" charset="0"/>
            </a:endParaRPr>
          </a:p>
          <a:p>
            <a:pPr lvl="1"/>
            <a:r>
              <a:rPr lang="en-US" altLang="zh-CN" sz="2200" dirty="0">
                <a:latin typeface="Times New Roman" panose="02020503050405090304" pitchFamily="18" charset="0"/>
                <a:cs typeface="Times New Roman" panose="02020503050405090304" pitchFamily="18" charset="0"/>
              </a:rPr>
              <a:t>Large language models are stateless.</a:t>
            </a:r>
            <a:endParaRPr lang="en-US" altLang="zh-CN" sz="2200" dirty="0">
              <a:latin typeface="Times New Roman" panose="02020503050405090304" pitchFamily="18" charset="0"/>
              <a:cs typeface="Times New Roman" panose="02020503050405090304" pitchFamily="18" charset="0"/>
            </a:endParaRPr>
          </a:p>
          <a:p>
            <a:pPr lvl="1"/>
            <a:r>
              <a:rPr lang="en-US" altLang="zh-CN" sz="2200" dirty="0">
                <a:latin typeface="Times New Roman" panose="02020503050405090304" pitchFamily="18" charset="0"/>
                <a:cs typeface="Times New Roman" panose="02020503050405090304" pitchFamily="18" charset="0"/>
                <a:sym typeface="+mn-ea"/>
              </a:rPr>
              <a:t>Large language models have limited context windows</a:t>
            </a:r>
            <a:r>
              <a:rPr lang="en-US" altLang="zh-CN" sz="2200" dirty="0">
                <a:latin typeface="Times New Roman" panose="02020503050405090304" pitchFamily="18" charset="0"/>
                <a:cs typeface="Times New Roman" panose="02020503050405090304" pitchFamily="18" charset="0"/>
              </a:rPr>
              <a:t>.</a:t>
            </a:r>
            <a:endParaRPr lang="en-US" altLang="zh-CN" sz="2200" dirty="0">
              <a:latin typeface="Times New Roman" panose="02020503050405090304" pitchFamily="18" charset="0"/>
              <a:cs typeface="Times New Roman" panose="02020503050405090304" pitchFamily="18" charset="0"/>
            </a:endParaRPr>
          </a:p>
          <a:p>
            <a:pPr lvl="1"/>
            <a:r>
              <a:rPr lang="en-US" altLang="zh-CN" sz="2200" dirty="0">
                <a:latin typeface="Times New Roman" panose="02020503050405090304" pitchFamily="18" charset="0"/>
                <a:cs typeface="Times New Roman" panose="02020503050405090304" pitchFamily="18" charset="0"/>
              </a:rPr>
              <a:t>Cost and efficiency optimization.</a:t>
            </a:r>
            <a:endParaRPr lang="en-US" altLang="zh-CN" sz="2200" dirty="0">
              <a:latin typeface="Times New Roman" panose="02020503050405090304" pitchFamily="18" charset="0"/>
              <a:cs typeface="Times New Roman" panose="02020503050405090304" pitchFamily="18" charset="0"/>
            </a:endParaRPr>
          </a:p>
        </p:txBody>
      </p:sp>
      <p:sp>
        <p:nvSpPr>
          <p:cNvPr id="4"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graphicFrame>
        <p:nvGraphicFramePr>
          <p:cNvPr id="5" name="表格 4"/>
          <p:cNvGraphicFramePr/>
          <p:nvPr/>
        </p:nvGraphicFramePr>
        <p:xfrm>
          <a:off x="1639570" y="3783965"/>
          <a:ext cx="8534400" cy="1524000"/>
        </p:xfrm>
        <a:graphic>
          <a:graphicData uri="http://schemas.openxmlformats.org/drawingml/2006/table">
            <a:tbl>
              <a:tblPr firstRow="1" bandRow="1">
                <a:tableStyleId>{5C22544A-7EE6-4342-B048-85BDC9FD1C3A}</a:tableStyleId>
              </a:tblPr>
              <a:tblGrid>
                <a:gridCol w="4267200"/>
                <a:gridCol w="4267200"/>
              </a:tblGrid>
              <a:tr h="381000">
                <a:tc>
                  <a:txBody>
                    <a:bodyPr/>
                    <a:p>
                      <a:pPr>
                        <a:buNone/>
                      </a:pPr>
                      <a:r>
                        <a:rPr lang="en-US" altLang="zh-CN"/>
                        <a:t>Model name</a:t>
                      </a:r>
                      <a:endParaRPr lang="en-US" altLang="zh-CN"/>
                    </a:p>
                  </a:txBody>
                  <a:tcPr/>
                </a:tc>
                <a:tc>
                  <a:txBody>
                    <a:bodyPr/>
                    <a:p>
                      <a:pPr>
                        <a:buNone/>
                      </a:pPr>
                      <a:r>
                        <a:rPr lang="en-US" altLang="zh-CN"/>
                        <a:t>Context window length (tokens)</a:t>
                      </a:r>
                      <a:endParaRPr lang="en-US" altLang="zh-CN"/>
                    </a:p>
                  </a:txBody>
                  <a:tcPr/>
                </a:tc>
              </a:tr>
              <a:tr h="381000">
                <a:tc>
                  <a:txBody>
                    <a:bodyPr/>
                    <a:p>
                      <a:pPr>
                        <a:buNone/>
                      </a:pPr>
                      <a:r>
                        <a:rPr lang="en-US" altLang="zh-CN"/>
                        <a:t>ChatGPT-5.2 pro</a:t>
                      </a:r>
                      <a:endParaRPr lang="en-US" altLang="zh-CN"/>
                    </a:p>
                  </a:txBody>
                  <a:tcPr/>
                </a:tc>
                <a:tc>
                  <a:txBody>
                    <a:bodyPr/>
                    <a:p>
                      <a:pPr>
                        <a:buNone/>
                      </a:pPr>
                      <a:r>
                        <a:rPr lang="en-US" altLang="zh-CN"/>
                        <a:t>400,000</a:t>
                      </a:r>
                      <a:endParaRPr lang="en-US" altLang="zh-CN"/>
                    </a:p>
                  </a:txBody>
                  <a:tcPr/>
                </a:tc>
              </a:tr>
              <a:tr h="381000">
                <a:tc>
                  <a:txBody>
                    <a:bodyPr/>
                    <a:p>
                      <a:pPr>
                        <a:buNone/>
                      </a:pPr>
                      <a:r>
                        <a:rPr lang="en-US" altLang="zh-CN"/>
                        <a:t>Claude 4.5 Opus</a:t>
                      </a:r>
                      <a:endParaRPr lang="en-US" altLang="zh-CN"/>
                    </a:p>
                  </a:txBody>
                  <a:tcPr/>
                </a:tc>
                <a:tc>
                  <a:txBody>
                    <a:bodyPr/>
                    <a:p>
                      <a:pPr>
                        <a:buNone/>
                      </a:pPr>
                      <a:r>
                        <a:rPr lang="en-US" altLang="zh-CN"/>
                        <a:t>200,000</a:t>
                      </a:r>
                      <a:endParaRPr lang="en-US" altLang="zh-CN"/>
                    </a:p>
                  </a:txBody>
                  <a:tcPr/>
                </a:tc>
              </a:tr>
              <a:tr h="381000">
                <a:tc>
                  <a:txBody>
                    <a:bodyPr/>
                    <a:p>
                      <a:pPr>
                        <a:buNone/>
                      </a:pPr>
                      <a:r>
                        <a:rPr lang="en-US" altLang="zh-CN"/>
                        <a:t>Deepseek-chat v3</a:t>
                      </a:r>
                      <a:endParaRPr lang="en-US" altLang="zh-CN"/>
                    </a:p>
                  </a:txBody>
                  <a:tcPr/>
                </a:tc>
                <a:tc>
                  <a:txBody>
                    <a:bodyPr/>
                    <a:p>
                      <a:pPr>
                        <a:buNone/>
                      </a:pPr>
                      <a:r>
                        <a:rPr lang="en-US" altLang="zh-CN"/>
                        <a:t>64,000</a:t>
                      </a:r>
                      <a:endParaRPr lang="en-US" altLang="zh-CN"/>
                    </a:p>
                  </a:txBody>
                  <a:tcPr/>
                </a:tc>
              </a:tr>
            </a:tbl>
          </a:graphicData>
        </a:graphic>
      </p:graphicFrame>
      <p:sp>
        <p:nvSpPr>
          <p:cNvPr id="7" name="文本框 6"/>
          <p:cNvSpPr txBox="1"/>
          <p:nvPr/>
        </p:nvSpPr>
        <p:spPr>
          <a:xfrm>
            <a:off x="3081655" y="3400425"/>
            <a:ext cx="5650230" cy="398780"/>
          </a:xfrm>
          <a:prstGeom prst="rect">
            <a:avLst/>
          </a:prstGeom>
          <a:noFill/>
        </p:spPr>
        <p:txBody>
          <a:bodyPr wrap="square" rtlCol="0" anchor="ctr" anchorCtr="1">
            <a:spAutoFit/>
          </a:bodyPr>
          <a:p>
            <a:r>
              <a:rPr lang="en-US" altLang="zh-CN" sz="2000" dirty="0" smtClean="0">
                <a:latin typeface="Times New Roman" panose="02020503050405090304" pitchFamily="18" charset="0"/>
                <a:ea typeface="標楷體" pitchFamily="65" charset="-120"/>
                <a:cs typeface="Times New Roman" panose="02020503050405090304" pitchFamily="18" charset="0"/>
              </a:rPr>
              <a:t>Table 1: Context window length of some LLMs</a:t>
            </a:r>
            <a:endParaRPr lang="en-US" altLang="zh-CN" sz="2000" dirty="0" smtClean="0">
              <a:latin typeface="Times New Roman" panose="02020503050405090304" pitchFamily="18" charset="0"/>
              <a:ea typeface="標楷體" pitchFamily="65" charset="-120"/>
              <a:cs typeface="Times New Roman" panose="0202050305040509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390" y="144780"/>
            <a:ext cx="11015980" cy="692150"/>
          </a:xfrm>
        </p:spPr>
        <p:txBody>
          <a:bodyPr/>
          <a:lstStyle/>
          <a:p>
            <a:r>
              <a:rPr lang="en-US" altLang="zh-CN" dirty="0">
                <a:ea typeface="Calibri" panose="020F0502020204030204" pitchFamily="34" charset="0"/>
                <a:cs typeface="Calibri" panose="020F0502020204030204" pitchFamily="34" charset="0"/>
              </a:rPr>
              <a:t>Introduction – </a:t>
            </a:r>
            <a:r>
              <a:rPr lang="en-US" altLang="zh-CN" dirty="0">
                <a:ea typeface="Calibri" panose="020F0502020204030204" pitchFamily="34" charset="0"/>
                <a:cs typeface="Calibri" panose="020F0502020204030204" pitchFamily="34" charset="0"/>
                <a:sym typeface="+mn-ea"/>
              </a:rPr>
              <a:t>Agent Memory</a:t>
            </a:r>
            <a:r>
              <a:rPr lang="en-US" altLang="zh-CN" dirty="0">
                <a:ea typeface="Calibri" panose="020F0502020204030204" pitchFamily="34" charset="0"/>
                <a:cs typeface="Calibri" panose="020F0502020204030204" pitchFamily="34" charset="0"/>
              </a:rPr>
              <a:t> (3/3)</a:t>
            </a:r>
            <a:endParaRPr lang="en-US" dirty="0">
              <a:ea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609600" y="1125537"/>
            <a:ext cx="10594109" cy="4831917"/>
          </a:xfrm>
        </p:spPr>
        <p:txBody>
          <a:bodyPr/>
          <a:lstStyle/>
          <a:p>
            <a:r>
              <a:rPr lang="en-US" sz="2800" dirty="0">
                <a:latin typeface="Times New Roman" panose="02020503050405090304" pitchFamily="18" charset="0"/>
                <a:cs typeface="Times New Roman" panose="02020503050405090304" pitchFamily="18" charset="0"/>
              </a:rPr>
              <a:t>How agent memory works?</a:t>
            </a:r>
            <a:endParaRPr lang="en-US" sz="2800" dirty="0">
              <a:latin typeface="Times New Roman" panose="02020503050405090304" pitchFamily="18" charset="0"/>
              <a:cs typeface="Times New Roman" panose="02020503050405090304" pitchFamily="18" charset="0"/>
            </a:endParaRPr>
          </a:p>
          <a:p>
            <a:pPr lvl="1"/>
            <a:r>
              <a:rPr lang="en-US" altLang="zh-CN" sz="2200" b="1" dirty="0">
                <a:latin typeface="Times New Roman" panose="02020503050405090304" pitchFamily="18" charset="0"/>
                <a:cs typeface="Times New Roman" panose="02020503050405090304" pitchFamily="18" charset="0"/>
              </a:rPr>
              <a:t>Formation: </a:t>
            </a:r>
            <a:r>
              <a:rPr lang="en-US" altLang="zh-CN" sz="2200" dirty="0">
                <a:latin typeface="Times New Roman" panose="02020503050405090304" pitchFamily="18" charset="0"/>
                <a:cs typeface="Times New Roman" panose="02020503050405090304" pitchFamily="18" charset="0"/>
              </a:rPr>
              <a:t>encoding modal experiences into structured factual and experiential storage.</a:t>
            </a:r>
            <a:endParaRPr lang="en-US" altLang="zh-CN" sz="2200" dirty="0">
              <a:latin typeface="Times New Roman" panose="02020503050405090304" pitchFamily="18" charset="0"/>
              <a:cs typeface="Times New Roman" panose="02020503050405090304" pitchFamily="18" charset="0"/>
            </a:endParaRPr>
          </a:p>
          <a:p>
            <a:pPr lvl="1"/>
            <a:r>
              <a:rPr lang="en-US" altLang="zh-CN" sz="2200" b="1" dirty="0">
                <a:latin typeface="Times New Roman" panose="02020503050405090304" pitchFamily="18" charset="0"/>
                <a:cs typeface="Times New Roman" panose="02020503050405090304" pitchFamily="18" charset="0"/>
              </a:rPr>
              <a:t>Evolution:</a:t>
            </a:r>
            <a:r>
              <a:rPr lang="en-US" altLang="zh-CN" sz="2200" dirty="0">
                <a:latin typeface="Times New Roman" panose="02020503050405090304" pitchFamily="18" charset="0"/>
                <a:cs typeface="Times New Roman" panose="02020503050405090304" pitchFamily="18" charset="0"/>
              </a:rPr>
              <a:t> dynamically updating and refining memory through reflection and consolidation.</a:t>
            </a:r>
            <a:endParaRPr lang="en-US" altLang="zh-CN" sz="2200" dirty="0">
              <a:latin typeface="Times New Roman" panose="02020503050405090304" pitchFamily="18" charset="0"/>
              <a:cs typeface="Times New Roman" panose="02020503050405090304" pitchFamily="18" charset="0"/>
            </a:endParaRPr>
          </a:p>
          <a:p>
            <a:pPr lvl="1"/>
            <a:r>
              <a:rPr lang="en-US" altLang="zh-CN" sz="2200" b="1" dirty="0">
                <a:latin typeface="Times New Roman" panose="02020503050405090304" pitchFamily="18" charset="0"/>
                <a:cs typeface="Times New Roman" panose="02020503050405090304" pitchFamily="18" charset="0"/>
              </a:rPr>
              <a:t>Retrival:</a:t>
            </a:r>
            <a:r>
              <a:rPr lang="en-US" altLang="zh-CN" sz="2200" dirty="0">
                <a:latin typeface="Times New Roman" panose="02020503050405090304" pitchFamily="18" charset="0"/>
                <a:cs typeface="Times New Roman" panose="02020503050405090304" pitchFamily="18" charset="0"/>
              </a:rPr>
              <a:t> precisely accessing task-relevant information based on context and semantics.</a:t>
            </a:r>
            <a:endParaRPr lang="en-US" altLang="zh-CN" sz="2200" dirty="0">
              <a:latin typeface="Times New Roman" panose="02020503050405090304" pitchFamily="18" charset="0"/>
              <a:cs typeface="Times New Roman" panose="02020503050405090304" pitchFamily="18" charset="0"/>
            </a:endParaRPr>
          </a:p>
        </p:txBody>
      </p:sp>
      <p:sp>
        <p:nvSpPr>
          <p:cNvPr id="4"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dirty="0">
                <a:sym typeface="+mn-ea"/>
              </a:rPr>
              <a:t>Outline</a:t>
            </a:r>
            <a:endParaRPr lang="zh-TW" altLang="en-US" dirty="0"/>
          </a:p>
        </p:txBody>
      </p:sp>
      <p:sp>
        <p:nvSpPr>
          <p:cNvPr id="3" name="內容版面配置區 2"/>
          <p:cNvSpPr>
            <a:spLocks noGrp="1"/>
          </p:cNvSpPr>
          <p:nvPr>
            <p:ph idx="1"/>
          </p:nvPr>
        </p:nvSpPr>
        <p:spPr>
          <a:xfrm>
            <a:off x="1311423" y="1125537"/>
            <a:ext cx="10270977" cy="3560763"/>
          </a:xfrm>
        </p:spPr>
        <p:txBody>
          <a:bodyPr>
            <a:noAutofit/>
          </a:bodyPr>
          <a:lstStyle/>
          <a:p>
            <a:r>
              <a:rPr lang="en-US" altLang="zh-CN" sz="2935" dirty="0">
                <a:latin typeface="Times New Roman Regular" panose="02020503050405090304" charset="0"/>
                <a:cs typeface="Times New Roman Regular" panose="02020503050405090304" charset="0"/>
              </a:rPr>
              <a:t>Introduction						(5 min)</a:t>
            </a:r>
            <a:endParaRPr lang="en-US" altLang="zh-TW" sz="2935" dirty="0">
              <a:latin typeface="Times New Roman Regular" panose="02020503050405090304" charset="0"/>
              <a:cs typeface="Times New Roman Regular" panose="02020503050405090304" charset="0"/>
            </a:endParaRPr>
          </a:p>
          <a:p>
            <a:r>
              <a:rPr lang="en-US" altLang="zh-CN" sz="2935" dirty="0">
                <a:solidFill>
                  <a:srgbClr val="FF0000"/>
                </a:solidFill>
                <a:latin typeface="Times New Roman Regular" panose="02020503050405090304" charset="0"/>
                <a:cs typeface="Times New Roman Regular" panose="02020503050405090304" charset="0"/>
              </a:rPr>
              <a:t>Background &amp; Motivation</a:t>
            </a:r>
            <a:r>
              <a:rPr lang="en-US" altLang="zh-CN" sz="2935" dirty="0">
                <a:latin typeface="Times New Roman Regular" panose="02020503050405090304" charset="0"/>
                <a:cs typeface="Times New Roman Regular" panose="02020503050405090304" charset="0"/>
              </a:rPr>
              <a:t> 				(3 min)</a:t>
            </a:r>
            <a:endParaRPr lang="en-US" altLang="zh-CN" sz="2935" dirty="0">
              <a:latin typeface="Times New Roman Regular" panose="02020503050405090304" charset="0"/>
              <a:cs typeface="Times New Roman Regular" panose="02020503050405090304" charset="0"/>
            </a:endParaRPr>
          </a:p>
          <a:p>
            <a:r>
              <a:rPr lang="en-US" altLang="zh-CN" sz="2935" dirty="0">
                <a:latin typeface="Times New Roman Regular" panose="02020503050405090304" charset="0"/>
                <a:cs typeface="Times New Roman Regular" panose="02020503050405090304" charset="0"/>
              </a:rPr>
              <a:t>Proposed Methods &amp; Performance Evaluation (24 min)</a:t>
            </a:r>
            <a:endParaRPr lang="en-US" altLang="zh-CN" sz="2935" dirty="0">
              <a:latin typeface="Times New Roman Regular" panose="02020503050405090304" charset="0"/>
              <a:cs typeface="Times New Roman Regular" panose="02020503050405090304" charset="0"/>
            </a:endParaRPr>
          </a:p>
          <a:p>
            <a:pPr lvl="1"/>
            <a:r>
              <a:rPr lang="en-US" altLang="zh-CN" sz="2400" dirty="0">
                <a:latin typeface="Times New Roman Regular" panose="02020503050405090304" charset="0"/>
                <a:cs typeface="Times New Roman Regular" panose="02020503050405090304" charset="0"/>
                <a:sym typeface="+mn-ea"/>
              </a:rPr>
              <a:t>MemGPT (2024, University of California)</a:t>
            </a:r>
            <a:r>
              <a:rPr lang="en-US" altLang="zh-CN" sz="2400" dirty="0">
                <a:latin typeface="Times New Roman Regular" panose="02020503050405090304" charset="0"/>
                <a:cs typeface="Times New Roman Regular" panose="02020503050405090304" charset="0"/>
                <a:sym typeface="+mn-ea"/>
              </a:rPr>
              <a:t>	</a:t>
            </a:r>
            <a:r>
              <a:rPr lang="en-US" altLang="zh-CN" sz="2400" dirty="0">
                <a:latin typeface="Times New Roman Regular" panose="02020503050405090304" charset="0"/>
                <a:cs typeface="Times New Roman Regular" panose="02020503050405090304" charset="0"/>
                <a:sym typeface="+mn-ea"/>
              </a:rPr>
              <a:t>	(8 min)</a:t>
            </a:r>
            <a:endParaRPr lang="en-US" altLang="zh-CN" sz="2400" dirty="0">
              <a:latin typeface="Times New Roman Regular" panose="02020503050405090304" charset="0"/>
              <a:cs typeface="Times New Roman Regular" panose="02020503050405090304" charset="0"/>
            </a:endParaRPr>
          </a:p>
          <a:p>
            <a:pPr lvl="1"/>
            <a:r>
              <a:rPr lang="en-US" altLang="zh-CN" sz="2400" dirty="0">
                <a:latin typeface="Times New Roman Regular" panose="02020503050405090304" charset="0"/>
                <a:cs typeface="Times New Roman Regular" panose="02020503050405090304" charset="0"/>
                <a:sym typeface="+mn-ea"/>
              </a:rPr>
              <a:t>A-MEM</a:t>
            </a:r>
            <a:r>
              <a:rPr lang="en-US" altLang="zh-CN" sz="2400" dirty="0">
                <a:latin typeface="Times New Roman Regular" panose="02020503050405090304" charset="0"/>
                <a:cs typeface="Times New Roman Regular" panose="02020503050405090304" charset="0"/>
                <a:sym typeface="+mn-ea"/>
              </a:rPr>
              <a:t> (2025, Rutgers University)			(8 min)</a:t>
            </a:r>
            <a:endParaRPr lang="en-US" altLang="zh-CN" sz="2400" dirty="0">
              <a:latin typeface="Times New Roman Regular" panose="02020503050405090304" charset="0"/>
              <a:cs typeface="Times New Roman Regular" panose="02020503050405090304" charset="0"/>
            </a:endParaRPr>
          </a:p>
          <a:p>
            <a:pPr lvl="1"/>
            <a:r>
              <a:rPr lang="en-US" altLang="zh-CN" sz="2400" dirty="0" err="1">
                <a:latin typeface="Times New Roman Regular" panose="02020503050405090304" charset="0"/>
                <a:cs typeface="Times New Roman Regular" panose="02020503050405090304" charset="0"/>
                <a:sym typeface="+mn-ea"/>
              </a:rPr>
              <a:t>GAM (2026, Zhejiang University)</a:t>
            </a:r>
            <a:r>
              <a:rPr lang="en-US" altLang="zh-CN" sz="2400" dirty="0">
                <a:latin typeface="Times New Roman Regular" panose="02020503050405090304" charset="0"/>
                <a:cs typeface="Times New Roman Regular" panose="02020503050405090304" charset="0"/>
                <a:sym typeface="+mn-ea"/>
              </a:rPr>
              <a:t>			(8 min)</a:t>
            </a:r>
            <a:endParaRPr lang="en-US" altLang="zh-CN" sz="2400" dirty="0">
              <a:latin typeface="Times New Roman Regular" panose="02020503050405090304" charset="0"/>
              <a:cs typeface="Times New Roman Regular" panose="02020503050405090304" charset="0"/>
            </a:endParaRPr>
          </a:p>
          <a:p>
            <a:r>
              <a:rPr lang="en-US" altLang="zh-CN" sz="2935" dirty="0">
                <a:latin typeface="Times New Roman Regular" panose="02020503050405090304" charset="0"/>
                <a:cs typeface="Times New Roman Regular" panose="02020503050405090304" charset="0"/>
              </a:rPr>
              <a:t>Conclusions 						(2 min)</a:t>
            </a:r>
            <a:endParaRPr lang="en-US" altLang="zh-CN" sz="2935" dirty="0">
              <a:latin typeface="Times New Roman Regular" panose="02020503050405090304" charset="0"/>
              <a:cs typeface="Times New Roman Regular" panose="02020503050405090304" charset="0"/>
            </a:endParaRPr>
          </a:p>
          <a:p>
            <a:r>
              <a:rPr lang="en-US" altLang="zh-CN" sz="2935" dirty="0">
                <a:latin typeface="Times New Roman Regular" panose="02020503050405090304" charset="0"/>
                <a:cs typeface="Times New Roman Regular" panose="02020503050405090304" charset="0"/>
              </a:rPr>
              <a:t>Q &amp; A							(2 min)</a:t>
            </a:r>
            <a:endParaRPr lang="en-US" altLang="zh-CN" sz="2935" dirty="0">
              <a:latin typeface="Times New Roman Regular" panose="02020503050405090304" charset="0"/>
              <a:cs typeface="Times New Roman Regular" panose="02020503050405090304"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ea typeface="Calibri" panose="020F0502020204030204" pitchFamily="34" charset="0"/>
                <a:cs typeface="Calibri" panose="020F0502020204030204" pitchFamily="34" charset="0"/>
              </a:rPr>
              <a:t>Background &amp; Motivation (1/2)</a:t>
            </a:r>
            <a:endParaRPr lang="en-US" dirty="0">
              <a:ea typeface="Calibri" panose="020F0502020204030204" pitchFamily="34" charset="0"/>
              <a:cs typeface="Calibri" panose="020F0502020204030204" pitchFamily="34" charset="0"/>
            </a:endParaRPr>
          </a:p>
        </p:txBody>
      </p:sp>
      <p:sp>
        <p:nvSpPr>
          <p:cNvPr id="4"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
        <p:nvSpPr>
          <p:cNvPr id="3" name="内容占位符 5"/>
          <p:cNvSpPr txBox="1"/>
          <p:nvPr/>
        </p:nvSpPr>
        <p:spPr bwMode="auto">
          <a:xfrm>
            <a:off x="624994" y="1125537"/>
            <a:ext cx="9876465" cy="4895851"/>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9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anose="020F0502020204030204" pitchFamily="34" charset="0"/>
                <a:ea typeface="標楷體" pitchFamily="65" charset="-120"/>
                <a:cs typeface="Calibri" panose="020F0502020204030204"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anose="020F0502020204030204" pitchFamily="34" charset="0"/>
                <a:ea typeface="標楷體" pitchFamily="65" charset="-120"/>
                <a:cs typeface="Calibri" panose="020F0502020204030204"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anose="020F0502020204030204" pitchFamily="34" charset="0"/>
                <a:ea typeface="標楷體" pitchFamily="65" charset="-120"/>
                <a:cs typeface="Calibri" panose="020F0502020204030204"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800" kern="0" dirty="0">
                <a:latin typeface="Times New Roman" panose="02020503050405090304" pitchFamily="18" charset="0"/>
                <a:cs typeface="Times New Roman" panose="02020503050405090304" pitchFamily="18" charset="0"/>
              </a:rPr>
              <a:t>Challenges of agent memory</a:t>
            </a:r>
            <a:endParaRPr lang="en-US" altLang="zh-CN" sz="2800" kern="0" dirty="0">
              <a:latin typeface="Times New Roman" panose="02020503050405090304" pitchFamily="18" charset="0"/>
              <a:cs typeface="Times New Roman" panose="02020503050405090304" pitchFamily="18" charset="0"/>
            </a:endParaRPr>
          </a:p>
          <a:p>
            <a:pPr lvl="1"/>
            <a:r>
              <a:rPr lang="en-US" altLang="zh-CN" sz="2200" b="1" kern="0" dirty="0">
                <a:latin typeface="Times New Roman" panose="02020503050405090304" pitchFamily="18" charset="0"/>
                <a:cs typeface="Times New Roman" panose="02020503050405090304" pitchFamily="18" charset="0"/>
              </a:rPr>
              <a:t>Accuracy:</a:t>
            </a:r>
            <a:r>
              <a:rPr lang="en-US" altLang="zh-CN" sz="2200" kern="0" dirty="0">
                <a:latin typeface="Times New Roman" panose="02020503050405090304" pitchFamily="18" charset="0"/>
                <a:cs typeface="Times New Roman" panose="02020503050405090304" pitchFamily="18" charset="0"/>
              </a:rPr>
              <a:t> ensuring precise retrieval and factual consistency across sessions while preventing hallucinations from outdated or misinterpreted data.</a:t>
            </a:r>
            <a:endParaRPr lang="en-US" altLang="zh-CN" sz="2200" b="1" kern="0" dirty="0">
              <a:latin typeface="Times New Roman" panose="02020503050405090304" pitchFamily="18" charset="0"/>
              <a:cs typeface="Times New Roman" panose="02020503050405090304" pitchFamily="18" charset="0"/>
            </a:endParaRPr>
          </a:p>
          <a:p>
            <a:pPr lvl="1"/>
            <a:r>
              <a:rPr lang="en-US" altLang="zh-CN" sz="2200" b="1" kern="0" dirty="0">
                <a:latin typeface="Times New Roman" panose="02020503050405090304" pitchFamily="18" charset="0"/>
                <a:cs typeface="Times New Roman" panose="02020503050405090304" pitchFamily="18" charset="0"/>
              </a:rPr>
              <a:t>Efficiency: </a:t>
            </a:r>
            <a:r>
              <a:rPr lang="en-US" altLang="zh-CN" sz="2200" kern="0" dirty="0">
                <a:latin typeface="Times New Roman" panose="02020503050405090304" pitchFamily="18" charset="0"/>
                <a:cs typeface="Times New Roman" panose="02020503050405090304" pitchFamily="18" charset="0"/>
              </a:rPr>
              <a:t>reducing computational latency and token costs during frequent memory read/write operations.</a:t>
            </a:r>
            <a:endParaRPr lang="en-US" altLang="zh-CN" sz="2200" kern="0" dirty="0">
              <a:latin typeface="Times New Roman" panose="02020503050405090304" pitchFamily="18" charset="0"/>
              <a:cs typeface="Times New Roman" panose="02020503050405090304" pitchFamily="18" charset="0"/>
            </a:endParaRPr>
          </a:p>
          <a:p>
            <a:pPr lvl="1"/>
            <a:r>
              <a:rPr lang="en-US" altLang="zh-CN" sz="2200" b="1" kern="0" dirty="0">
                <a:latin typeface="Times New Roman" panose="02020503050405090304" pitchFamily="18" charset="0"/>
                <a:cs typeface="Times New Roman" panose="02020503050405090304" pitchFamily="18" charset="0"/>
              </a:rPr>
              <a:t>Scalability: </a:t>
            </a:r>
            <a:r>
              <a:rPr lang="en-US" altLang="zh-CN" sz="2200" kern="0" dirty="0">
                <a:latin typeface="Times New Roman" panose="02020503050405090304" pitchFamily="18" charset="0"/>
                <a:cs typeface="Times New Roman" panose="02020503050405090304" pitchFamily="18" charset="0"/>
              </a:rPr>
              <a:t>managing and retrieving relevant memories from ever-growing, large-scale memory repositories.</a:t>
            </a:r>
            <a:endParaRPr lang="en-US" altLang="zh-CN" sz="2200" kern="0"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ea typeface="Calibri" panose="020F0502020204030204" pitchFamily="34" charset="0"/>
                <a:cs typeface="Calibri" panose="020F0502020204030204" pitchFamily="34" charset="0"/>
              </a:rPr>
              <a:t>Background &amp; Motivation (2/2)</a:t>
            </a:r>
            <a:endParaRPr lang="en-US" dirty="0">
              <a:ea typeface="Calibri" panose="020F0502020204030204" pitchFamily="34" charset="0"/>
              <a:cs typeface="Calibri" panose="020F0502020204030204" pitchFamily="34" charset="0"/>
            </a:endParaRPr>
          </a:p>
        </p:txBody>
      </p:sp>
      <p:sp>
        <p:nvSpPr>
          <p:cNvPr id="4"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
        <p:nvSpPr>
          <p:cNvPr id="3" name="内容占位符 5"/>
          <p:cNvSpPr txBox="1"/>
          <p:nvPr/>
        </p:nvSpPr>
        <p:spPr bwMode="auto">
          <a:xfrm>
            <a:off x="624840" y="1125220"/>
            <a:ext cx="4304665" cy="489585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9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anose="020F0502020204030204" pitchFamily="34" charset="0"/>
                <a:ea typeface="標楷體" pitchFamily="65" charset="-120"/>
                <a:cs typeface="Calibri" panose="020F0502020204030204"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anose="020F0502020204030204" pitchFamily="34" charset="0"/>
                <a:ea typeface="標楷體" pitchFamily="65" charset="-120"/>
                <a:cs typeface="Calibri" panose="020F0502020204030204"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anose="020F0502020204030204" pitchFamily="34" charset="0"/>
                <a:ea typeface="標楷體" pitchFamily="65" charset="-120"/>
                <a:cs typeface="Calibri" panose="020F0502020204030204"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800" kern="0" dirty="0">
                <a:latin typeface="Times New Roman" panose="02020503050405090304" pitchFamily="18" charset="0"/>
                <a:cs typeface="Times New Roman" panose="02020503050405090304" pitchFamily="18" charset="0"/>
              </a:rPr>
              <a:t>Solution: structural token-level memory</a:t>
            </a:r>
            <a:endParaRPr lang="en-US" altLang="zh-CN" sz="2800" kern="0" dirty="0">
              <a:latin typeface="Times New Roman" panose="02020503050405090304" pitchFamily="18" charset="0"/>
              <a:cs typeface="Times New Roman" panose="02020503050405090304" pitchFamily="18" charset="0"/>
            </a:endParaRPr>
          </a:p>
          <a:p>
            <a:pPr lvl="1"/>
            <a:r>
              <a:rPr lang="en-US" altLang="zh-CN" sz="2200" b="1" kern="0" dirty="0">
                <a:latin typeface="Times New Roman" panose="02020503050405090304" pitchFamily="18" charset="0"/>
                <a:cs typeface="Times New Roman" panose="02020503050405090304" pitchFamily="18" charset="0"/>
              </a:rPr>
              <a:t>Flat (1D):</a:t>
            </a:r>
            <a:r>
              <a:rPr lang="en-US" altLang="zh-CN" sz="2200" kern="0" dirty="0">
                <a:latin typeface="Times New Roman" panose="02020503050405090304" pitchFamily="18" charset="0"/>
                <a:cs typeface="Times New Roman" panose="02020503050405090304" pitchFamily="18" charset="0"/>
              </a:rPr>
              <a:t> memories are accumulated as discrete units.</a:t>
            </a:r>
            <a:endParaRPr lang="en-US" altLang="zh-CN" sz="2200" kern="0" dirty="0">
              <a:latin typeface="Times New Roman" panose="02020503050405090304" pitchFamily="18" charset="0"/>
              <a:cs typeface="Times New Roman" panose="02020503050405090304" pitchFamily="18" charset="0"/>
            </a:endParaRPr>
          </a:p>
          <a:p>
            <a:pPr lvl="1"/>
            <a:r>
              <a:rPr lang="en-US" altLang="zh-CN" sz="2200" b="1" kern="0" dirty="0">
                <a:latin typeface="Times New Roman" panose="02020503050405090304" pitchFamily="18" charset="0"/>
                <a:cs typeface="Times New Roman" panose="02020503050405090304" pitchFamily="18" charset="0"/>
              </a:rPr>
              <a:t>Planar (2D):</a:t>
            </a:r>
            <a:r>
              <a:rPr lang="en-US" altLang="zh-CN" sz="2200" kern="0" dirty="0">
                <a:latin typeface="Times New Roman" panose="02020503050405090304" pitchFamily="18" charset="0"/>
                <a:cs typeface="Times New Roman" panose="02020503050405090304" pitchFamily="18" charset="0"/>
              </a:rPr>
              <a:t> a structured but single-layer organization within one plane.</a:t>
            </a:r>
            <a:endParaRPr lang="en-US" altLang="zh-CN" sz="2200" kern="0" dirty="0">
              <a:latin typeface="Times New Roman" panose="02020503050405090304" pitchFamily="18" charset="0"/>
              <a:cs typeface="Times New Roman" panose="02020503050405090304" pitchFamily="18" charset="0"/>
            </a:endParaRPr>
          </a:p>
          <a:p>
            <a:pPr lvl="1"/>
            <a:r>
              <a:rPr lang="en-US" altLang="zh-CN" sz="2200" b="1" kern="0" dirty="0">
                <a:latin typeface="Times New Roman" panose="02020503050405090304" pitchFamily="18" charset="0"/>
                <a:cs typeface="Times New Roman" panose="02020503050405090304" pitchFamily="18" charset="0"/>
              </a:rPr>
              <a:t>Hirarchical (3D):</a:t>
            </a:r>
            <a:r>
              <a:rPr lang="en-US" altLang="zh-CN" sz="2200" kern="0" dirty="0">
                <a:latin typeface="Times New Roman" panose="02020503050405090304" pitchFamily="18" charset="0"/>
                <a:cs typeface="Times New Roman" panose="02020503050405090304" pitchFamily="18" charset="0"/>
              </a:rPr>
              <a:t> structured across multiple layers with inter-layer links, forming a pyramidal or multi-layer memory.</a:t>
            </a:r>
            <a:endParaRPr lang="en-US" altLang="zh-CN" sz="2200" kern="0" dirty="0">
              <a:latin typeface="Times New Roman" panose="02020503050405090304" pitchFamily="18" charset="0"/>
              <a:cs typeface="Times New Roman" panose="02020503050405090304" pitchFamily="18" charset="0"/>
            </a:endParaRPr>
          </a:p>
        </p:txBody>
      </p:sp>
      <p:pic>
        <p:nvPicPr>
          <p:cNvPr id="6" name="图片 5"/>
          <p:cNvPicPr>
            <a:picLocks noChangeAspect="1"/>
          </p:cNvPicPr>
          <p:nvPr/>
        </p:nvPicPr>
        <p:blipFill>
          <a:blip r:embed="rId1"/>
          <a:stretch>
            <a:fillRect/>
          </a:stretch>
        </p:blipFill>
        <p:spPr>
          <a:xfrm>
            <a:off x="4929505" y="1125220"/>
            <a:ext cx="7276465" cy="4083050"/>
          </a:xfrm>
          <a:prstGeom prst="rect">
            <a:avLst/>
          </a:prstGeom>
        </p:spPr>
      </p:pic>
      <p:sp>
        <p:nvSpPr>
          <p:cNvPr id="8" name="文本框 7"/>
          <p:cNvSpPr txBox="1"/>
          <p:nvPr/>
        </p:nvSpPr>
        <p:spPr>
          <a:xfrm>
            <a:off x="4915535" y="5345113"/>
            <a:ext cx="7276465" cy="706755"/>
          </a:xfrm>
          <a:prstGeom prst="rect">
            <a:avLst/>
          </a:prstGeom>
          <a:noFill/>
        </p:spPr>
        <p:txBody>
          <a:bodyPr wrap="square" rtlCol="0" anchor="ctr" anchorCtr="1">
            <a:spAutoFit/>
          </a:bodyPr>
          <a:p>
            <a:r>
              <a:rPr lang="en-US" altLang="zh-CN" sz="2000" dirty="0" smtClean="0">
                <a:latin typeface="Times New Roman" panose="02020503050405090304" pitchFamily="18" charset="0"/>
                <a:ea typeface="標楷體" pitchFamily="65" charset="-120"/>
                <a:cs typeface="Times New Roman" panose="02020503050405090304" pitchFamily="18" charset="0"/>
              </a:rPr>
              <a:t>Figure 2: Taxonomy of token-level memory organized by topological complexity</a:t>
            </a:r>
            <a:endParaRPr lang="en-US" altLang="zh-CN" sz="2000" dirty="0" smtClean="0">
              <a:latin typeface="Times New Roman" panose="02020503050405090304" pitchFamily="18" charset="0"/>
              <a:ea typeface="標楷體" pitchFamily="65" charset="-120"/>
              <a:cs typeface="Times New Roman" panose="0202050305040509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dirty="0"/>
              <a:t>O</a:t>
            </a:r>
            <a:r>
              <a:rPr lang="en-US" altLang="zh-TW" dirty="0"/>
              <a:t>utline</a:t>
            </a:r>
            <a:endParaRPr lang="en-US" altLang="zh-TW" dirty="0"/>
          </a:p>
        </p:txBody>
      </p:sp>
      <p:sp>
        <p:nvSpPr>
          <p:cNvPr id="3" name="內容版面配置區 2"/>
          <p:cNvSpPr>
            <a:spLocks noGrp="1"/>
          </p:cNvSpPr>
          <p:nvPr>
            <p:ph idx="1"/>
          </p:nvPr>
        </p:nvSpPr>
        <p:spPr>
          <a:xfrm>
            <a:off x="1311423" y="1125537"/>
            <a:ext cx="10270977" cy="3560763"/>
          </a:xfrm>
        </p:spPr>
        <p:txBody>
          <a:bodyPr>
            <a:noAutofit/>
          </a:bodyPr>
          <a:lstStyle/>
          <a:p>
            <a:r>
              <a:rPr lang="en-US" altLang="zh-CN" sz="2935" dirty="0">
                <a:latin typeface="Times New Roman Regular" panose="02020503050405090304" charset="0"/>
                <a:cs typeface="Times New Roman Regular" panose="02020503050405090304" charset="0"/>
              </a:rPr>
              <a:t>Introduction						(5 min)</a:t>
            </a:r>
            <a:endParaRPr lang="en-US" altLang="zh-TW" sz="2935" dirty="0">
              <a:latin typeface="Times New Roman Regular" panose="02020503050405090304" charset="0"/>
              <a:cs typeface="Times New Roman Regular" panose="02020503050405090304" charset="0"/>
            </a:endParaRPr>
          </a:p>
          <a:p>
            <a:r>
              <a:rPr lang="en-US" altLang="zh-CN" sz="2935" dirty="0">
                <a:latin typeface="Times New Roman Regular" panose="02020503050405090304" charset="0"/>
                <a:cs typeface="Times New Roman Regular" panose="02020503050405090304" charset="0"/>
              </a:rPr>
              <a:t>Background &amp; Motivation 				(3 min)</a:t>
            </a:r>
            <a:endParaRPr lang="en-US" altLang="zh-CN" sz="2935" dirty="0">
              <a:latin typeface="Times New Roman Regular" panose="02020503050405090304" charset="0"/>
              <a:cs typeface="Times New Roman Regular" panose="02020503050405090304" charset="0"/>
            </a:endParaRPr>
          </a:p>
          <a:p>
            <a:r>
              <a:rPr lang="en-US" altLang="zh-CN" sz="2935" dirty="0">
                <a:solidFill>
                  <a:srgbClr val="FF0000"/>
                </a:solidFill>
                <a:latin typeface="Times New Roman Regular" panose="02020503050405090304" charset="0"/>
                <a:cs typeface="Times New Roman Regular" panose="02020503050405090304" charset="0"/>
              </a:rPr>
              <a:t>Proposed Methods &amp; Performance Evaluation</a:t>
            </a:r>
            <a:r>
              <a:rPr lang="en-US" altLang="zh-CN" sz="2935" dirty="0">
                <a:latin typeface="Times New Roman Regular" panose="02020503050405090304" charset="0"/>
                <a:cs typeface="Times New Roman Regular" panose="02020503050405090304" charset="0"/>
              </a:rPr>
              <a:t> (24 min)</a:t>
            </a:r>
            <a:endParaRPr lang="en-US" altLang="zh-CN" sz="2935" dirty="0">
              <a:latin typeface="Times New Roman Regular" panose="02020503050405090304" charset="0"/>
              <a:cs typeface="Times New Roman Regular" panose="02020503050405090304" charset="0"/>
            </a:endParaRPr>
          </a:p>
          <a:p>
            <a:pPr lvl="1"/>
            <a:r>
              <a:rPr lang="en-US" altLang="zh-CN" sz="2400" dirty="0">
                <a:solidFill>
                  <a:srgbClr val="FF0000"/>
                </a:solidFill>
                <a:latin typeface="Times New Roman Regular" panose="02020503050405090304" charset="0"/>
                <a:cs typeface="Times New Roman Regular" panose="02020503050405090304" charset="0"/>
                <a:sym typeface="+mn-ea"/>
              </a:rPr>
              <a:t>MemGPT (2024, University of California)</a:t>
            </a:r>
            <a:r>
              <a:rPr lang="en-US" altLang="zh-CN" sz="2400" dirty="0">
                <a:latin typeface="Times New Roman Regular" panose="02020503050405090304" charset="0"/>
                <a:cs typeface="Times New Roman Regular" panose="02020503050405090304" charset="0"/>
                <a:sym typeface="+mn-ea"/>
              </a:rPr>
              <a:t>	</a:t>
            </a:r>
            <a:r>
              <a:rPr lang="en-US" altLang="zh-CN" sz="2400" dirty="0">
                <a:latin typeface="Times New Roman Regular" panose="02020503050405090304" charset="0"/>
                <a:cs typeface="Times New Roman Regular" panose="02020503050405090304" charset="0"/>
                <a:sym typeface="+mn-ea"/>
              </a:rPr>
              <a:t>	(8 min)</a:t>
            </a:r>
            <a:endParaRPr lang="en-US" altLang="zh-CN" sz="2400" dirty="0">
              <a:latin typeface="Times New Roman Regular" panose="02020503050405090304" charset="0"/>
              <a:cs typeface="Times New Roman Regular" panose="02020503050405090304" charset="0"/>
            </a:endParaRPr>
          </a:p>
          <a:p>
            <a:pPr lvl="1"/>
            <a:r>
              <a:rPr lang="en-US" altLang="zh-CN" sz="2400" dirty="0">
                <a:latin typeface="Times New Roman Regular" panose="02020503050405090304" charset="0"/>
                <a:cs typeface="Times New Roman Regular" panose="02020503050405090304" charset="0"/>
                <a:sym typeface="+mn-ea"/>
              </a:rPr>
              <a:t>A-MEM</a:t>
            </a:r>
            <a:r>
              <a:rPr lang="en-US" altLang="zh-CN" sz="2400" dirty="0">
                <a:latin typeface="Times New Roman Regular" panose="02020503050405090304" charset="0"/>
                <a:cs typeface="Times New Roman Regular" panose="02020503050405090304" charset="0"/>
                <a:sym typeface="+mn-ea"/>
              </a:rPr>
              <a:t> (2025, Rutgers University)			(8 min)</a:t>
            </a:r>
            <a:endParaRPr lang="en-US" altLang="zh-CN" sz="2400" dirty="0">
              <a:latin typeface="Times New Roman Regular" panose="02020503050405090304" charset="0"/>
              <a:cs typeface="Times New Roman Regular" panose="02020503050405090304" charset="0"/>
            </a:endParaRPr>
          </a:p>
          <a:p>
            <a:pPr lvl="1"/>
            <a:r>
              <a:rPr lang="en-US" altLang="zh-CN" sz="2400" dirty="0" err="1">
                <a:latin typeface="Times New Roman Regular" panose="02020503050405090304" charset="0"/>
                <a:cs typeface="Times New Roman Regular" panose="02020503050405090304" charset="0"/>
                <a:sym typeface="+mn-ea"/>
              </a:rPr>
              <a:t>GAM (2026, Zhejiang University)</a:t>
            </a:r>
            <a:r>
              <a:rPr lang="en-US" altLang="zh-CN" sz="2400" dirty="0">
                <a:latin typeface="Times New Roman Regular" panose="02020503050405090304" charset="0"/>
                <a:cs typeface="Times New Roman Regular" panose="02020503050405090304" charset="0"/>
                <a:sym typeface="+mn-ea"/>
              </a:rPr>
              <a:t>			(8 min)</a:t>
            </a:r>
            <a:endParaRPr lang="en-US" altLang="zh-CN" sz="2400" dirty="0">
              <a:latin typeface="Times New Roman Regular" panose="02020503050405090304" charset="0"/>
              <a:cs typeface="Times New Roman Regular" panose="02020503050405090304" charset="0"/>
            </a:endParaRPr>
          </a:p>
          <a:p>
            <a:r>
              <a:rPr lang="en-US" altLang="zh-CN" sz="2935" dirty="0">
                <a:latin typeface="Times New Roman Regular" panose="02020503050405090304" charset="0"/>
                <a:cs typeface="Times New Roman Regular" panose="02020503050405090304" charset="0"/>
              </a:rPr>
              <a:t>Conclusions 						(2 min)</a:t>
            </a:r>
            <a:endParaRPr lang="en-US" altLang="zh-CN" sz="2935" dirty="0">
              <a:latin typeface="Times New Roman Regular" panose="02020503050405090304" charset="0"/>
              <a:cs typeface="Times New Roman Regular" panose="02020503050405090304" charset="0"/>
            </a:endParaRPr>
          </a:p>
          <a:p>
            <a:r>
              <a:rPr lang="en-US" altLang="zh-CN" sz="2935" dirty="0">
                <a:latin typeface="Times New Roman Regular" panose="02020503050405090304" charset="0"/>
                <a:cs typeface="Times New Roman Regular" panose="02020503050405090304" charset="0"/>
              </a:rPr>
              <a:t>Q &amp; A							(2 min)</a:t>
            </a:r>
            <a:endParaRPr lang="en-US" altLang="zh-CN" sz="2935" dirty="0">
              <a:latin typeface="Times New Roman Regular" panose="02020503050405090304" charset="0"/>
              <a:cs typeface="Times New Roman Regular" panose="02020503050405090304"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MemGPT (1/5)</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624840" y="1125220"/>
            <a:ext cx="10943590" cy="441960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9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anose="020F0502020204030204" pitchFamily="34" charset="0"/>
                <a:ea typeface="標楷體" pitchFamily="65" charset="-120"/>
                <a:cs typeface="Calibri" panose="020F0502020204030204"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anose="020F0502020204030204" pitchFamily="34" charset="0"/>
                <a:ea typeface="標楷體" pitchFamily="65" charset="-120"/>
                <a:cs typeface="Calibri" panose="020F0502020204030204"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anose="020F0502020204030204" pitchFamily="34" charset="0"/>
                <a:ea typeface="標楷體" pitchFamily="65" charset="-120"/>
                <a:cs typeface="Calibri" panose="020F0502020204030204"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800" kern="0" dirty="0">
                <a:latin typeface="Times New Roman" panose="02020503050405090304" pitchFamily="18" charset="0"/>
                <a:cs typeface="Times New Roman" panose="02020503050405090304" pitchFamily="18" charset="0"/>
              </a:rPr>
              <a:t>Challenge</a:t>
            </a:r>
            <a:endParaRPr lang="en-US" altLang="zh-CN" sz="2800"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LLMs have limited context windows.</a:t>
            </a:r>
            <a:r>
              <a:rPr lang="en-US" altLang="zh-CN" sz="2055" kern="0" dirty="0">
                <a:latin typeface="Times New Roman" panose="02020503050405090304" pitchFamily="18" charset="0"/>
                <a:cs typeface="Times New Roman" panose="02020503050405090304" pitchFamily="18" charset="0"/>
              </a:rPr>
              <a:t> </a:t>
            </a:r>
            <a:endParaRPr lang="en-US" altLang="zh-CN" sz="1760" kern="0" dirty="0">
              <a:latin typeface="Times New Roman" panose="02020503050405090304" pitchFamily="18" charset="0"/>
              <a:cs typeface="Times New Roman" panose="02020503050405090304" pitchFamily="18" charset="0"/>
            </a:endParaRPr>
          </a:p>
          <a:p>
            <a:r>
              <a:rPr lang="en-US" altLang="zh-CN" sz="2800" kern="0" dirty="0">
                <a:latin typeface="Times New Roman" panose="02020503050405090304" pitchFamily="18" charset="0"/>
                <a:cs typeface="Times New Roman" panose="02020503050405090304" pitchFamily="18" charset="0"/>
              </a:rPr>
              <a:t>Key observation</a:t>
            </a:r>
            <a:endParaRPr lang="en-US" altLang="zh-CN" sz="2800"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OS virtual memory.</a:t>
            </a:r>
            <a:endParaRPr lang="en-US" altLang="zh-CN" sz="2200" kern="0" dirty="0">
              <a:latin typeface="Times New Roman" panose="02020503050405090304" pitchFamily="18" charset="0"/>
              <a:cs typeface="Times New Roman" panose="02020503050405090304" pitchFamily="18" charset="0"/>
            </a:endParaRPr>
          </a:p>
          <a:p>
            <a:r>
              <a:rPr lang="en-US" altLang="zh-CN" sz="2800" kern="0" dirty="0">
                <a:latin typeface="Times New Roman" panose="02020503050405090304" pitchFamily="18" charset="0"/>
                <a:cs typeface="Times New Roman" panose="02020503050405090304" pitchFamily="18" charset="0"/>
              </a:rPr>
              <a:t>Key ideas</a:t>
            </a:r>
            <a:endParaRPr lang="en-US" altLang="zh-CN" sz="2800"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Prompt tokens as main context.</a:t>
            </a:r>
            <a:endParaRPr lang="en-US" altLang="zh-CN" sz="2200"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Vector database as external context.</a:t>
            </a:r>
            <a:endParaRPr lang="en-US" altLang="zh-CN" sz="2200"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Use a FIFO queue to swap memory.</a:t>
            </a:r>
            <a:endParaRPr lang="en-US" altLang="zh-CN" sz="2200" kern="0" dirty="0">
              <a:latin typeface="Times New Roman" panose="02020503050405090304" pitchFamily="18" charset="0"/>
              <a:cs typeface="Times New Roman" panose="02020503050405090304" pitchFamily="18" charset="0"/>
            </a:endParaRPr>
          </a:p>
          <a:p>
            <a:endParaRPr lang="en-US" altLang="zh-CN" sz="2200" kern="0"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MemGPT (2/5)</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624205" y="1125220"/>
            <a:ext cx="10943590" cy="154559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9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anose="020F0502020204030204" pitchFamily="34" charset="0"/>
                <a:ea typeface="標楷體" pitchFamily="65" charset="-120"/>
                <a:cs typeface="Calibri" panose="020F0502020204030204"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anose="020F0502020204030204" pitchFamily="34" charset="0"/>
                <a:ea typeface="標楷體" pitchFamily="65" charset="-120"/>
                <a:cs typeface="Calibri" panose="020F0502020204030204"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anose="020F0502020204030204" pitchFamily="34" charset="0"/>
                <a:ea typeface="標楷體" pitchFamily="65" charset="-120"/>
                <a:cs typeface="Calibri" panose="020F0502020204030204"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800" kern="0" dirty="0">
                <a:latin typeface="Times New Roman" panose="02020503050405090304" pitchFamily="18" charset="0"/>
                <a:cs typeface="Times New Roman" panose="02020503050405090304" pitchFamily="18" charset="0"/>
              </a:rPr>
              <a:t>Architecture overview</a:t>
            </a:r>
            <a:r>
              <a:rPr lang="en-US" altLang="zh-CN" sz="2400" kern="0" dirty="0">
                <a:latin typeface="Times New Roman" panose="02020503050405090304" pitchFamily="18" charset="0"/>
                <a:cs typeface="Times New Roman" panose="02020503050405090304" pitchFamily="18" charset="0"/>
              </a:rPr>
              <a:t>  </a:t>
            </a:r>
            <a:endParaRPr lang="en-US" altLang="zh-CN" sz="2000" kern="0" dirty="0">
              <a:latin typeface="Times New Roman" panose="02020503050405090304" pitchFamily="18" charset="0"/>
              <a:cs typeface="Times New Roman" panose="02020503050405090304" pitchFamily="18" charset="0"/>
            </a:endParaRPr>
          </a:p>
          <a:p>
            <a:pPr marL="457200" lvl="1" indent="0">
              <a:buNone/>
            </a:pPr>
            <a:endParaRPr lang="en-US" altLang="zh-CN" sz="1465" kern="0" dirty="0">
              <a:latin typeface="Times New Roman" panose="02020503050405090304" pitchFamily="18" charset="0"/>
              <a:cs typeface="Times New Roman" panose="02020503050405090304" pitchFamily="18" charset="0"/>
            </a:endParaRPr>
          </a:p>
        </p:txBody>
      </p:sp>
      <p:pic>
        <p:nvPicPr>
          <p:cNvPr id="2" name="图片 1"/>
          <p:cNvPicPr>
            <a:picLocks noChangeAspect="1"/>
          </p:cNvPicPr>
          <p:nvPr/>
        </p:nvPicPr>
        <p:blipFill>
          <a:blip r:embed="rId1"/>
          <a:stretch>
            <a:fillRect/>
          </a:stretch>
        </p:blipFill>
        <p:spPr>
          <a:xfrm>
            <a:off x="1506220" y="1795145"/>
            <a:ext cx="9178925" cy="3517265"/>
          </a:xfrm>
          <a:prstGeom prst="rect">
            <a:avLst/>
          </a:prstGeom>
        </p:spPr>
      </p:pic>
      <p:sp>
        <p:nvSpPr>
          <p:cNvPr id="3" name="文本框 2"/>
          <p:cNvSpPr txBox="1"/>
          <p:nvPr/>
        </p:nvSpPr>
        <p:spPr>
          <a:xfrm>
            <a:off x="4064635" y="5445125"/>
            <a:ext cx="4064000" cy="398780"/>
          </a:xfrm>
          <a:prstGeom prst="rect">
            <a:avLst/>
          </a:prstGeom>
          <a:noFill/>
        </p:spPr>
        <p:txBody>
          <a:bodyPr wrap="square" rtlCol="0" anchor="ctr" anchorCtr="1">
            <a:spAutoFit/>
          </a:bodyPr>
          <a:p>
            <a:r>
              <a:rPr lang="en-US" altLang="zh-CN" sz="2000" dirty="0" smtClean="0">
                <a:latin typeface="Times New Roman" panose="02020503050405090304" pitchFamily="18" charset="0"/>
                <a:ea typeface="標楷體" pitchFamily="65" charset="-120"/>
                <a:cs typeface="Times New Roman" panose="02020503050405090304" pitchFamily="18" charset="0"/>
              </a:rPr>
              <a:t>Figure 3: MemGPT architecture</a:t>
            </a:r>
            <a:endParaRPr lang="en-US" altLang="zh-CN" sz="2000" dirty="0" smtClean="0">
              <a:latin typeface="Times New Roman" panose="02020503050405090304" pitchFamily="18" charset="0"/>
              <a:ea typeface="標楷體" pitchFamily="65" charset="-120"/>
              <a:cs typeface="Times New Roman" panose="0202050305040509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MemGPT (3/5)</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624840" y="1125220"/>
            <a:ext cx="10943590" cy="4648835"/>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9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anose="020F0502020204030204" pitchFamily="34" charset="0"/>
                <a:ea typeface="標楷體" pitchFamily="65" charset="-120"/>
                <a:cs typeface="Calibri" panose="020F0502020204030204"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anose="020F0502020204030204" pitchFamily="34" charset="0"/>
                <a:ea typeface="標楷體" pitchFamily="65" charset="-120"/>
                <a:cs typeface="Calibri" panose="020F0502020204030204"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anose="020F0502020204030204" pitchFamily="34" charset="0"/>
                <a:ea typeface="標楷體" pitchFamily="65" charset="-120"/>
                <a:cs typeface="Calibri" panose="020F0502020204030204"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800" kern="0" dirty="0">
                <a:latin typeface="Times New Roman" panose="02020503050405090304" pitchFamily="18" charset="0"/>
                <a:cs typeface="Times New Roman" panose="02020503050405090304" pitchFamily="18" charset="0"/>
              </a:rPr>
              <a:t>Prompt tokens</a:t>
            </a:r>
            <a:endParaRPr lang="en-US" altLang="zh-CN" sz="2800" kern="0" dirty="0">
              <a:latin typeface="Times New Roman" panose="02020503050405090304" pitchFamily="18" charset="0"/>
              <a:cs typeface="Times New Roman" panose="02020503050405090304" pitchFamily="18" charset="0"/>
            </a:endParaRPr>
          </a:p>
          <a:p>
            <a:pPr lvl="1"/>
            <a:r>
              <a:rPr lang="en-US" altLang="zh-CN" sz="2200" b="1" kern="0" dirty="0">
                <a:latin typeface="Times New Roman" panose="02020503050405090304" pitchFamily="18" charset="0"/>
                <a:cs typeface="Times New Roman" panose="02020503050405090304" pitchFamily="18" charset="0"/>
                <a:sym typeface="+mn-ea"/>
              </a:rPr>
              <a:t>System instructions: </a:t>
            </a:r>
            <a:r>
              <a:rPr lang="en-US" altLang="zh-CN" sz="2200" kern="0" dirty="0">
                <a:latin typeface="Times New Roman" panose="02020503050405090304" pitchFamily="18" charset="0"/>
                <a:cs typeface="Times New Roman" panose="02020503050405090304" pitchFamily="18" charset="0"/>
              </a:rPr>
              <a:t>read-only blocks containing control flow, memory management policies, and function definitions.</a:t>
            </a:r>
            <a:endParaRPr lang="en-US" altLang="zh-CN" sz="2200" kern="0" dirty="0">
              <a:latin typeface="Times New Roman" panose="02020503050405090304" pitchFamily="18" charset="0"/>
              <a:cs typeface="Times New Roman" panose="02020503050405090304" pitchFamily="18" charset="0"/>
            </a:endParaRPr>
          </a:p>
          <a:p>
            <a:pPr lvl="1"/>
            <a:r>
              <a:rPr lang="en-US" altLang="zh-CN" sz="2200" b="1" kern="0" dirty="0">
                <a:latin typeface="Times New Roman" panose="02020503050405090304" pitchFamily="18" charset="0"/>
                <a:cs typeface="Times New Roman" panose="02020503050405090304" pitchFamily="18" charset="0"/>
                <a:sym typeface="+mn-ea"/>
              </a:rPr>
              <a:t>Working context: </a:t>
            </a:r>
            <a:r>
              <a:rPr lang="en-US" altLang="zh-CN" sz="2200" kern="0" dirty="0">
                <a:latin typeface="Times New Roman" panose="02020503050405090304" pitchFamily="18" charset="0"/>
                <a:cs typeface="Times New Roman" panose="02020503050405090304" pitchFamily="18" charset="0"/>
              </a:rPr>
              <a:t>fixed-size read-write segment for core facts, user preferences, and agent persona, </a:t>
            </a:r>
            <a:r>
              <a:rPr lang="en-US" altLang="zh-CN" sz="2200" kern="0" dirty="0">
                <a:latin typeface="Times New Roman" panose="02020503050405090304" pitchFamily="18" charset="0"/>
                <a:cs typeface="Times New Roman" panose="02020503050405090304" pitchFamily="18" charset="0"/>
                <a:sym typeface="+mn-ea"/>
              </a:rPr>
              <a:t>managed by function executor.</a:t>
            </a:r>
            <a:endParaRPr lang="en-US" altLang="zh-CN" sz="2200" kern="0" dirty="0">
              <a:latin typeface="Times New Roman" panose="02020503050405090304" pitchFamily="18" charset="0"/>
              <a:cs typeface="Times New Roman" panose="02020503050405090304" pitchFamily="18" charset="0"/>
            </a:endParaRPr>
          </a:p>
          <a:p>
            <a:pPr lvl="1"/>
            <a:r>
              <a:rPr lang="en-US" altLang="zh-CN" sz="2200" b="1" kern="0" dirty="0">
                <a:latin typeface="Times New Roman" panose="02020503050405090304" pitchFamily="18" charset="0"/>
                <a:cs typeface="Times New Roman" panose="02020503050405090304" pitchFamily="18" charset="0"/>
                <a:sym typeface="+mn-ea"/>
              </a:rPr>
              <a:t>FIFO queue:</a:t>
            </a:r>
            <a:r>
              <a:rPr lang="en-US" altLang="zh-CN" sz="2200" kern="0" dirty="0">
                <a:latin typeface="Times New Roman" panose="02020503050405090304" pitchFamily="18" charset="0"/>
                <a:cs typeface="Times New Roman" panose="02020503050405090304" pitchFamily="18" charset="0"/>
                <a:sym typeface="+mn-ea"/>
              </a:rPr>
              <a:t> </a:t>
            </a:r>
            <a:r>
              <a:rPr lang="en-US" altLang="zh-CN" sz="2200" kern="0" dirty="0">
                <a:latin typeface="Times New Roman" panose="02020503050405090304" pitchFamily="18" charset="0"/>
                <a:cs typeface="Times New Roman" panose="02020503050405090304" pitchFamily="18" charset="0"/>
              </a:rPr>
              <a:t>rolling storage for dialogue history and system logs, </a:t>
            </a:r>
            <a:r>
              <a:rPr lang="en-US" altLang="zh-CN" sz="2200" kern="0" dirty="0">
                <a:latin typeface="Times New Roman" panose="02020503050405090304" pitchFamily="18" charset="0"/>
                <a:cs typeface="Times New Roman" panose="02020503050405090304" pitchFamily="18" charset="0"/>
                <a:sym typeface="+mn-ea"/>
              </a:rPr>
              <a:t>managed by queue manager</a:t>
            </a:r>
            <a:r>
              <a:rPr lang="en-US" altLang="zh-CN" sz="2200" kern="0" dirty="0">
                <a:latin typeface="Times New Roman" panose="02020503050405090304" pitchFamily="18" charset="0"/>
                <a:cs typeface="Times New Roman" panose="02020503050405090304" pitchFamily="18" charset="0"/>
              </a:rPr>
              <a:t>.</a:t>
            </a:r>
            <a:endParaRPr lang="en-US" altLang="zh-CN" sz="2200" kern="0" dirty="0">
              <a:latin typeface="Times New Roman" panose="02020503050405090304" pitchFamily="18" charset="0"/>
              <a:cs typeface="Times New Roman" panose="02020503050405090304" pitchFamily="18" charset="0"/>
            </a:endParaRPr>
          </a:p>
          <a:p>
            <a:r>
              <a:rPr lang="en-US" altLang="zh-CN" sz="2800" kern="0" dirty="0">
                <a:latin typeface="Times New Roman" panose="02020503050405090304" pitchFamily="18" charset="0"/>
                <a:cs typeface="Times New Roman" panose="02020503050405090304" pitchFamily="18" charset="0"/>
              </a:rPr>
              <a:t>Queue manager: orchestrates message eviction, model inference, and archival memory retrieval.</a:t>
            </a:r>
            <a:endParaRPr lang="en-US" altLang="zh-CN" sz="2800" kern="0" dirty="0">
              <a:latin typeface="Times New Roman" panose="02020503050405090304" pitchFamily="18" charset="0"/>
              <a:cs typeface="Times New Roman" panose="02020503050405090304" pitchFamily="18" charset="0"/>
            </a:endParaRPr>
          </a:p>
          <a:p>
            <a:r>
              <a:rPr lang="en-US" altLang="zh-CN" sz="2800" kern="0" dirty="0">
                <a:latin typeface="Times New Roman" panose="02020503050405090304" pitchFamily="18" charset="0"/>
                <a:cs typeface="Times New Roman" panose="02020503050405090304" pitchFamily="18" charset="0"/>
              </a:rPr>
              <a:t>Function executor: executes model-generated functions to transfer data between context tiers.</a:t>
            </a:r>
            <a:endParaRPr lang="en-US" altLang="zh-CN" sz="2800" kern="0"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MemGPT (4/5)</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624840" y="1125220"/>
            <a:ext cx="10943590" cy="4648835"/>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9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anose="020F0502020204030204" pitchFamily="34" charset="0"/>
                <a:ea typeface="標楷體" pitchFamily="65" charset="-120"/>
                <a:cs typeface="Calibri" panose="020F0502020204030204"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anose="020F0502020204030204" pitchFamily="34" charset="0"/>
                <a:ea typeface="標楷體" pitchFamily="65" charset="-120"/>
                <a:cs typeface="Calibri" panose="020F0502020204030204"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anose="020F0502020204030204" pitchFamily="34" charset="0"/>
                <a:ea typeface="標楷體" pitchFamily="65" charset="-120"/>
                <a:cs typeface="Calibri" panose="020F0502020204030204"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800" kern="0" dirty="0">
                <a:latin typeface="Times New Roman" panose="02020503050405090304" pitchFamily="18" charset="0"/>
                <a:cs typeface="Times New Roman" panose="02020503050405090304" pitchFamily="18" charset="0"/>
              </a:rPr>
              <a:t>Evaluation</a:t>
            </a:r>
            <a:endParaRPr lang="en-US" altLang="zh-CN" sz="2800"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Deep memory retrival performance significantly outperforms the fixed-context baselines.</a:t>
            </a:r>
            <a:endParaRPr lang="en-US" altLang="zh-CN" sz="2200" kern="0" dirty="0">
              <a:latin typeface="Times New Roman" panose="02020503050405090304" pitchFamily="18" charset="0"/>
              <a:cs typeface="Times New Roman" panose="02020503050405090304" pitchFamily="18" charset="0"/>
            </a:endParaRPr>
          </a:p>
        </p:txBody>
      </p:sp>
      <p:pic>
        <p:nvPicPr>
          <p:cNvPr id="2" name="图片 1"/>
          <p:cNvPicPr>
            <a:picLocks noChangeAspect="1"/>
          </p:cNvPicPr>
          <p:nvPr/>
        </p:nvPicPr>
        <p:blipFill>
          <a:blip r:embed="rId1"/>
          <a:stretch>
            <a:fillRect/>
          </a:stretch>
        </p:blipFill>
        <p:spPr>
          <a:xfrm>
            <a:off x="3099435" y="2602865"/>
            <a:ext cx="6418580" cy="2885440"/>
          </a:xfrm>
          <a:prstGeom prst="rect">
            <a:avLst/>
          </a:prstGeom>
        </p:spPr>
      </p:pic>
      <p:sp>
        <p:nvSpPr>
          <p:cNvPr id="3" name="文本框 2"/>
          <p:cNvSpPr txBox="1"/>
          <p:nvPr/>
        </p:nvSpPr>
        <p:spPr>
          <a:xfrm>
            <a:off x="2766695" y="2219325"/>
            <a:ext cx="7084695" cy="398780"/>
          </a:xfrm>
          <a:prstGeom prst="rect">
            <a:avLst/>
          </a:prstGeom>
          <a:noFill/>
        </p:spPr>
        <p:txBody>
          <a:bodyPr wrap="square" rtlCol="0" anchor="ctr" anchorCtr="1">
            <a:spAutoFit/>
          </a:bodyPr>
          <a:p>
            <a:r>
              <a:rPr lang="en-US" altLang="zh-CN" sz="2000" dirty="0" smtClean="0">
                <a:latin typeface="Times New Roman" panose="02020503050405090304" pitchFamily="18" charset="0"/>
                <a:ea typeface="標楷體" pitchFamily="65" charset="-120"/>
                <a:cs typeface="Times New Roman" panose="02020503050405090304" pitchFamily="18" charset="0"/>
              </a:rPr>
              <a:t>Table 2: MemGPT deep memory retrieval (DMR) performance </a:t>
            </a:r>
            <a:endParaRPr lang="en-US" altLang="zh-CN" sz="2000" dirty="0" smtClean="0">
              <a:latin typeface="Times New Roman" panose="02020503050405090304" pitchFamily="18" charset="0"/>
              <a:ea typeface="標楷體" pitchFamily="65" charset="-120"/>
              <a:cs typeface="Times New Roman" panose="0202050305040509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MemGPT (5/5)</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624840" y="1125220"/>
            <a:ext cx="10943590" cy="4648835"/>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9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anose="020F0502020204030204" pitchFamily="34" charset="0"/>
                <a:ea typeface="標楷體" pitchFamily="65" charset="-120"/>
                <a:cs typeface="Calibri" panose="020F0502020204030204"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anose="020F0502020204030204" pitchFamily="34" charset="0"/>
                <a:ea typeface="標楷體" pitchFamily="65" charset="-120"/>
                <a:cs typeface="Calibri" panose="020F0502020204030204"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anose="020F0502020204030204" pitchFamily="34" charset="0"/>
                <a:ea typeface="標楷體" pitchFamily="65" charset="-120"/>
                <a:cs typeface="Calibri" panose="020F0502020204030204"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800" kern="0" dirty="0">
                <a:latin typeface="Times New Roman" panose="02020503050405090304" pitchFamily="18" charset="0"/>
                <a:cs typeface="Times New Roman" panose="02020503050405090304" pitchFamily="18" charset="0"/>
              </a:rPr>
              <a:t>Evaluation</a:t>
            </a:r>
            <a:endParaRPr lang="en-US" altLang="zh-CN" sz="2400"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Document QA task performance is unaffected by increased context length.</a:t>
            </a:r>
            <a:endParaRPr lang="en-US" altLang="zh-CN" sz="2200" kern="0" dirty="0">
              <a:latin typeface="Times New Roman" panose="02020503050405090304" pitchFamily="18" charset="0"/>
              <a:cs typeface="Times New Roman" panose="02020503050405090304" pitchFamily="18" charset="0"/>
            </a:endParaRPr>
          </a:p>
          <a:p>
            <a:pPr marL="457200" lvl="1" indent="0">
              <a:buNone/>
            </a:pPr>
            <a:endParaRPr lang="en-US" altLang="zh-CN" sz="2200" kern="0" dirty="0">
              <a:latin typeface="Times New Roman" panose="02020503050405090304" pitchFamily="18" charset="0"/>
              <a:cs typeface="Times New Roman" panose="02020503050405090304" pitchFamily="18" charset="0"/>
            </a:endParaRPr>
          </a:p>
        </p:txBody>
      </p:sp>
      <p:sp>
        <p:nvSpPr>
          <p:cNvPr id="3" name="文本框 2"/>
          <p:cNvSpPr txBox="1"/>
          <p:nvPr/>
        </p:nvSpPr>
        <p:spPr>
          <a:xfrm>
            <a:off x="2672715" y="5575935"/>
            <a:ext cx="7084695" cy="398780"/>
          </a:xfrm>
          <a:prstGeom prst="rect">
            <a:avLst/>
          </a:prstGeom>
          <a:noFill/>
        </p:spPr>
        <p:txBody>
          <a:bodyPr wrap="square" rtlCol="0" anchor="ctr" anchorCtr="1">
            <a:spAutoFit/>
          </a:bodyPr>
          <a:p>
            <a:r>
              <a:rPr lang="en-US" altLang="zh-CN" sz="2000" dirty="0" smtClean="0">
                <a:latin typeface="Times New Roman" panose="02020503050405090304" pitchFamily="18" charset="0"/>
                <a:ea typeface="標楷體" pitchFamily="65" charset="-120"/>
                <a:cs typeface="Times New Roman" panose="02020503050405090304" pitchFamily="18" charset="0"/>
              </a:rPr>
              <a:t>Figure 4: MemGPT d</a:t>
            </a:r>
            <a:r>
              <a:rPr lang="en-US" altLang="zh-CN" sz="2000" kern="0" dirty="0">
                <a:latin typeface="Times New Roman" panose="02020503050405090304" pitchFamily="18" charset="0"/>
                <a:cs typeface="Times New Roman" panose="02020503050405090304" pitchFamily="18" charset="0"/>
                <a:sym typeface="+mn-ea"/>
              </a:rPr>
              <a:t>ocument QA task performance</a:t>
            </a:r>
            <a:r>
              <a:rPr lang="en-US" altLang="zh-CN" sz="2000" dirty="0" smtClean="0">
                <a:latin typeface="Times New Roman" panose="02020503050405090304" pitchFamily="18" charset="0"/>
                <a:ea typeface="標楷體" pitchFamily="65" charset="-120"/>
                <a:cs typeface="Times New Roman" panose="02020503050405090304" pitchFamily="18" charset="0"/>
              </a:rPr>
              <a:t> </a:t>
            </a:r>
            <a:endParaRPr lang="en-US" altLang="zh-CN" sz="2000" dirty="0" smtClean="0">
              <a:latin typeface="Times New Roman" panose="02020503050405090304" pitchFamily="18" charset="0"/>
              <a:ea typeface="標楷體" pitchFamily="65" charset="-120"/>
              <a:cs typeface="Times New Roman" panose="02020503050405090304" pitchFamily="18" charset="0"/>
            </a:endParaRPr>
          </a:p>
        </p:txBody>
      </p:sp>
      <p:pic>
        <p:nvPicPr>
          <p:cNvPr id="6" name="图片 5"/>
          <p:cNvPicPr>
            <a:picLocks noChangeAspect="1"/>
          </p:cNvPicPr>
          <p:nvPr/>
        </p:nvPicPr>
        <p:blipFill>
          <a:blip r:embed="rId1"/>
          <a:stretch>
            <a:fillRect/>
          </a:stretch>
        </p:blipFill>
        <p:spPr>
          <a:xfrm>
            <a:off x="3277235" y="2126615"/>
            <a:ext cx="5636895" cy="344932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dirty="0"/>
              <a:t>O</a:t>
            </a:r>
            <a:r>
              <a:rPr lang="en-US" altLang="zh-TW" dirty="0"/>
              <a:t>utline</a:t>
            </a:r>
            <a:endParaRPr lang="en-US" altLang="zh-TW" dirty="0"/>
          </a:p>
        </p:txBody>
      </p:sp>
      <p:sp>
        <p:nvSpPr>
          <p:cNvPr id="3" name="內容版面配置區 2"/>
          <p:cNvSpPr>
            <a:spLocks noGrp="1"/>
          </p:cNvSpPr>
          <p:nvPr>
            <p:ph idx="1"/>
          </p:nvPr>
        </p:nvSpPr>
        <p:spPr>
          <a:xfrm>
            <a:off x="1311423" y="1125537"/>
            <a:ext cx="10270977" cy="3560763"/>
          </a:xfrm>
        </p:spPr>
        <p:txBody>
          <a:bodyPr>
            <a:noAutofit/>
          </a:bodyPr>
          <a:lstStyle/>
          <a:p>
            <a:r>
              <a:rPr lang="en-US" altLang="zh-CN" sz="2935" dirty="0">
                <a:latin typeface="Times New Roman Regular" panose="02020503050405090304" charset="0"/>
                <a:cs typeface="Times New Roman Regular" panose="02020503050405090304" charset="0"/>
              </a:rPr>
              <a:t>Introduction						(5 min)</a:t>
            </a:r>
            <a:endParaRPr lang="en-US" altLang="zh-TW" sz="2935" dirty="0">
              <a:latin typeface="Times New Roman Regular" panose="02020503050405090304" charset="0"/>
              <a:cs typeface="Times New Roman Regular" panose="02020503050405090304" charset="0"/>
            </a:endParaRPr>
          </a:p>
          <a:p>
            <a:r>
              <a:rPr lang="en-US" altLang="zh-CN" sz="2935" dirty="0">
                <a:latin typeface="Times New Roman Regular" panose="02020503050405090304" charset="0"/>
                <a:cs typeface="Times New Roman Regular" panose="02020503050405090304" charset="0"/>
              </a:rPr>
              <a:t>Background &amp; Motivation 				(3 min)</a:t>
            </a:r>
            <a:endParaRPr lang="en-US" altLang="zh-CN" sz="2935" dirty="0">
              <a:latin typeface="Times New Roman Regular" panose="02020503050405090304" charset="0"/>
              <a:cs typeface="Times New Roman Regular" panose="02020503050405090304" charset="0"/>
            </a:endParaRPr>
          </a:p>
          <a:p>
            <a:r>
              <a:rPr lang="en-US" altLang="zh-CN" sz="2935" dirty="0">
                <a:latin typeface="Times New Roman Regular" panose="02020503050405090304" charset="0"/>
                <a:cs typeface="Times New Roman Regular" panose="02020503050405090304" charset="0"/>
              </a:rPr>
              <a:t>Proposed Methods &amp; Performance Evaluation (24 min)</a:t>
            </a:r>
            <a:endParaRPr lang="en-US" altLang="zh-CN" sz="2935" dirty="0">
              <a:latin typeface="Times New Roman Regular" panose="02020503050405090304" charset="0"/>
              <a:cs typeface="Times New Roman Regular" panose="02020503050405090304" charset="0"/>
            </a:endParaRPr>
          </a:p>
          <a:p>
            <a:pPr lvl="1"/>
            <a:r>
              <a:rPr lang="en-US" altLang="zh-CN" sz="2400" dirty="0">
                <a:latin typeface="Times New Roman Regular" panose="02020503050405090304" charset="0"/>
                <a:cs typeface="Times New Roman Regular" panose="02020503050405090304" charset="0"/>
                <a:sym typeface="+mn-ea"/>
              </a:rPr>
              <a:t>MemGPT (2024, University of California)</a:t>
            </a:r>
            <a:r>
              <a:rPr lang="en-US" altLang="zh-CN" sz="2400" dirty="0">
                <a:latin typeface="Times New Roman Regular" panose="02020503050405090304" charset="0"/>
                <a:cs typeface="Times New Roman Regular" panose="02020503050405090304" charset="0"/>
                <a:sym typeface="+mn-ea"/>
              </a:rPr>
              <a:t>	</a:t>
            </a:r>
            <a:r>
              <a:rPr lang="en-US" altLang="zh-CN" sz="2400" dirty="0">
                <a:latin typeface="Times New Roman Regular" panose="02020503050405090304" charset="0"/>
                <a:cs typeface="Times New Roman Regular" panose="02020503050405090304" charset="0"/>
                <a:sym typeface="+mn-ea"/>
              </a:rPr>
              <a:t>	(8 min)</a:t>
            </a:r>
            <a:endParaRPr lang="en-US" altLang="zh-CN" sz="2400" dirty="0">
              <a:latin typeface="Times New Roman Regular" panose="02020503050405090304" charset="0"/>
              <a:cs typeface="Times New Roman Regular" panose="02020503050405090304" charset="0"/>
            </a:endParaRPr>
          </a:p>
          <a:p>
            <a:pPr lvl="1"/>
            <a:r>
              <a:rPr lang="en-US" altLang="zh-CN" sz="2400" dirty="0">
                <a:solidFill>
                  <a:srgbClr val="FF0000"/>
                </a:solidFill>
                <a:latin typeface="Times New Roman Regular" panose="02020503050405090304" charset="0"/>
                <a:cs typeface="Times New Roman Regular" panose="02020503050405090304" charset="0"/>
                <a:sym typeface="+mn-ea"/>
              </a:rPr>
              <a:t>A-MEM</a:t>
            </a:r>
            <a:r>
              <a:rPr lang="en-US" altLang="zh-CN" sz="2400" dirty="0">
                <a:solidFill>
                  <a:srgbClr val="FF0000"/>
                </a:solidFill>
                <a:latin typeface="Times New Roman Regular" panose="02020503050405090304" charset="0"/>
                <a:cs typeface="Times New Roman Regular" panose="02020503050405090304" charset="0"/>
                <a:sym typeface="+mn-ea"/>
              </a:rPr>
              <a:t> (2025, Rutgers University)</a:t>
            </a:r>
            <a:r>
              <a:rPr lang="en-US" altLang="zh-CN" sz="2400" dirty="0">
                <a:latin typeface="Times New Roman Regular" panose="02020503050405090304" charset="0"/>
                <a:cs typeface="Times New Roman Regular" panose="02020503050405090304" charset="0"/>
                <a:sym typeface="+mn-ea"/>
              </a:rPr>
              <a:t>			(8 min)</a:t>
            </a:r>
            <a:endParaRPr lang="en-US" altLang="zh-CN" sz="2400" dirty="0">
              <a:latin typeface="Times New Roman Regular" panose="02020503050405090304" charset="0"/>
              <a:cs typeface="Times New Roman Regular" panose="02020503050405090304" charset="0"/>
            </a:endParaRPr>
          </a:p>
          <a:p>
            <a:pPr lvl="1"/>
            <a:r>
              <a:rPr lang="en-US" altLang="zh-CN" sz="2400" dirty="0" err="1">
                <a:latin typeface="Times New Roman Regular" panose="02020503050405090304" charset="0"/>
                <a:cs typeface="Times New Roman Regular" panose="02020503050405090304" charset="0"/>
                <a:sym typeface="+mn-ea"/>
              </a:rPr>
              <a:t>GAM (2026, Zhejiang University)</a:t>
            </a:r>
            <a:r>
              <a:rPr lang="en-US" altLang="zh-CN" sz="2400" dirty="0">
                <a:latin typeface="Times New Roman Regular" panose="02020503050405090304" charset="0"/>
                <a:cs typeface="Times New Roman Regular" panose="02020503050405090304" charset="0"/>
                <a:sym typeface="+mn-ea"/>
              </a:rPr>
              <a:t>			(8 min)</a:t>
            </a:r>
            <a:endParaRPr lang="en-US" altLang="zh-CN" sz="2400" dirty="0">
              <a:latin typeface="Times New Roman Regular" panose="02020503050405090304" charset="0"/>
              <a:cs typeface="Times New Roman Regular" panose="02020503050405090304" charset="0"/>
            </a:endParaRPr>
          </a:p>
          <a:p>
            <a:r>
              <a:rPr lang="en-US" altLang="zh-CN" sz="2935" dirty="0">
                <a:latin typeface="Times New Roman Regular" panose="02020503050405090304" charset="0"/>
                <a:cs typeface="Times New Roman Regular" panose="02020503050405090304" charset="0"/>
              </a:rPr>
              <a:t>Conclusions 						(2 min)</a:t>
            </a:r>
            <a:endParaRPr lang="en-US" altLang="zh-CN" sz="2935" dirty="0">
              <a:latin typeface="Times New Roman Regular" panose="02020503050405090304" charset="0"/>
              <a:cs typeface="Times New Roman Regular" panose="02020503050405090304" charset="0"/>
            </a:endParaRPr>
          </a:p>
          <a:p>
            <a:r>
              <a:rPr lang="en-US" altLang="zh-CN" sz="2935" dirty="0">
                <a:latin typeface="Times New Roman Regular" panose="02020503050405090304" charset="0"/>
                <a:cs typeface="Times New Roman Regular" panose="02020503050405090304" charset="0"/>
              </a:rPr>
              <a:t>Q &amp; A							(2 min)</a:t>
            </a:r>
            <a:endParaRPr lang="en-US" altLang="zh-CN" sz="2935" dirty="0">
              <a:latin typeface="Times New Roman Regular" panose="02020503050405090304" charset="0"/>
              <a:cs typeface="Times New Roman Regular" panose="02020503050405090304"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A-MEM (1/7)</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624205" y="1031240"/>
            <a:ext cx="10943590" cy="5106035"/>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9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anose="020F0502020204030204" pitchFamily="34" charset="0"/>
                <a:ea typeface="標楷體" pitchFamily="65" charset="-120"/>
                <a:cs typeface="Calibri" panose="020F0502020204030204"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anose="020F0502020204030204" pitchFamily="34" charset="0"/>
                <a:ea typeface="標楷體" pitchFamily="65" charset="-120"/>
                <a:cs typeface="Calibri" panose="020F0502020204030204"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anose="020F0502020204030204" pitchFamily="34" charset="0"/>
                <a:ea typeface="標楷體" pitchFamily="65" charset="-120"/>
                <a:cs typeface="Calibri" panose="020F0502020204030204"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a:spcBef>
                <a:spcPts val="0"/>
              </a:spcBef>
            </a:pPr>
            <a:r>
              <a:rPr lang="en-US" altLang="zh-CN" sz="2800" kern="0" dirty="0">
                <a:latin typeface="Times New Roman" panose="02020503050405090304" pitchFamily="18" charset="0"/>
                <a:cs typeface="Times New Roman" panose="02020503050405090304" pitchFamily="18" charset="0"/>
              </a:rPr>
              <a:t>Challenges</a:t>
            </a:r>
            <a:endParaRPr lang="en-US" altLang="zh-CN" sz="2400" kern="0" dirty="0">
              <a:latin typeface="Times New Roman" panose="02020503050405090304" pitchFamily="18" charset="0"/>
              <a:cs typeface="Times New Roman" panose="02020503050405090304" pitchFamily="18" charset="0"/>
            </a:endParaRPr>
          </a:p>
          <a:p>
            <a:pPr lvl="1">
              <a:spcBef>
                <a:spcPts val="0"/>
              </a:spcBef>
            </a:pPr>
            <a:r>
              <a:rPr lang="en-US" altLang="zh-CN" sz="2200" b="1" kern="0" dirty="0">
                <a:latin typeface="Times New Roman" panose="02020503050405090304" pitchFamily="18" charset="0"/>
                <a:cs typeface="Times New Roman" panose="02020503050405090304" pitchFamily="18" charset="0"/>
              </a:rPr>
              <a:t>Rigid schemas: </a:t>
            </a:r>
            <a:r>
              <a:rPr lang="en-US" altLang="zh-CN" sz="2200" kern="0" dirty="0">
                <a:latin typeface="Times New Roman" panose="02020503050405090304" pitchFamily="18" charset="0"/>
                <a:cs typeface="Times New Roman" panose="02020503050405090304" pitchFamily="18" charset="0"/>
              </a:rPr>
              <a:t>predefined structures and fixed access patterns limit adaptability across diverse tasks.</a:t>
            </a:r>
            <a:endParaRPr lang="en-US" altLang="zh-CN" sz="2200" kern="0" dirty="0">
              <a:latin typeface="Times New Roman" panose="02020503050405090304" pitchFamily="18" charset="0"/>
              <a:cs typeface="Times New Roman" panose="02020503050405090304" pitchFamily="18" charset="0"/>
            </a:endParaRPr>
          </a:p>
          <a:p>
            <a:pPr lvl="1">
              <a:spcBef>
                <a:spcPts val="0"/>
              </a:spcBef>
            </a:pPr>
            <a:r>
              <a:rPr lang="en-US" altLang="zh-CN" sz="2200" b="1" kern="0" dirty="0">
                <a:latin typeface="Times New Roman" panose="02020503050405090304" pitchFamily="18" charset="0"/>
                <a:cs typeface="Times New Roman" panose="02020503050405090304" pitchFamily="18" charset="0"/>
              </a:rPr>
              <a:t>Manual management:</a:t>
            </a:r>
            <a:r>
              <a:rPr lang="en-US" altLang="zh-CN" sz="2200" kern="0" dirty="0">
                <a:latin typeface="Times New Roman" panose="02020503050405090304" pitchFamily="18" charset="0"/>
                <a:cs typeface="Times New Roman" panose="02020503050405090304" pitchFamily="18" charset="0"/>
              </a:rPr>
              <a:t> pre-specify storage points and retrieval timing hinder autonomous long-term interaction.</a:t>
            </a:r>
            <a:endParaRPr lang="en-US" altLang="zh-CN" sz="2200" kern="0" dirty="0">
              <a:latin typeface="Times New Roman" panose="02020503050405090304" pitchFamily="18" charset="0"/>
              <a:cs typeface="Times New Roman" panose="02020503050405090304" pitchFamily="18" charset="0"/>
            </a:endParaRPr>
          </a:p>
          <a:p>
            <a:pPr lvl="1">
              <a:spcBef>
                <a:spcPts val="0"/>
              </a:spcBef>
            </a:pPr>
            <a:r>
              <a:rPr lang="en-US" altLang="zh-CN" sz="2200" b="1" kern="0" dirty="0">
                <a:latin typeface="Times New Roman" panose="02020503050405090304" pitchFamily="18" charset="0"/>
                <a:cs typeface="Times New Roman" panose="02020503050405090304" pitchFamily="18" charset="0"/>
              </a:rPr>
              <a:t>Static knowledge:</a:t>
            </a:r>
            <a:r>
              <a:rPr lang="en-US" altLang="zh-CN" sz="2200" kern="0" dirty="0">
                <a:latin typeface="Times New Roman" panose="02020503050405090304" pitchFamily="18" charset="0"/>
                <a:cs typeface="Times New Roman" panose="02020503050405090304" pitchFamily="18" charset="0"/>
              </a:rPr>
              <a:t> fails to autonomously evolve as information grows over time.</a:t>
            </a:r>
            <a:endParaRPr lang="en-US" altLang="zh-CN" sz="2200" kern="0" dirty="0">
              <a:latin typeface="Times New Roman" panose="02020503050405090304" pitchFamily="18" charset="0"/>
              <a:cs typeface="Times New Roman" panose="02020503050405090304" pitchFamily="18" charset="0"/>
            </a:endParaRPr>
          </a:p>
          <a:p>
            <a:pPr>
              <a:spcBef>
                <a:spcPts val="0"/>
              </a:spcBef>
            </a:pPr>
            <a:r>
              <a:rPr lang="en-US" altLang="zh-CN" sz="2800" kern="0" dirty="0">
                <a:latin typeface="Times New Roman" panose="02020503050405090304" pitchFamily="18" charset="0"/>
                <a:cs typeface="Times New Roman" panose="02020503050405090304" pitchFamily="18" charset="0"/>
              </a:rPr>
              <a:t>Key observation</a:t>
            </a:r>
            <a:endParaRPr lang="en-US" altLang="zh-CN" sz="2800" kern="0" dirty="0">
              <a:latin typeface="Times New Roman" panose="02020503050405090304" pitchFamily="18" charset="0"/>
              <a:cs typeface="Times New Roman" panose="02020503050405090304" pitchFamily="18" charset="0"/>
            </a:endParaRPr>
          </a:p>
          <a:p>
            <a:pPr lvl="1">
              <a:spcBef>
                <a:spcPts val="0"/>
              </a:spcBef>
            </a:pPr>
            <a:r>
              <a:rPr lang="en-US" altLang="zh-CN" sz="2200" b="1" kern="0" dirty="0">
                <a:latin typeface="Times New Roman" panose="02020503050405090304" pitchFamily="18" charset="0"/>
                <a:cs typeface="Times New Roman" panose="02020503050405090304" pitchFamily="18" charset="0"/>
              </a:rPr>
              <a:t>Zettelkasten (graph): </a:t>
            </a:r>
            <a:r>
              <a:rPr lang="en-US" altLang="zh-CN" sz="2200" kern="0" dirty="0">
                <a:latin typeface="Times New Roman" panose="02020503050405090304" pitchFamily="18" charset="0"/>
                <a:cs typeface="Times New Roman" panose="02020503050405090304" pitchFamily="18" charset="0"/>
              </a:rPr>
              <a:t>a knowledge management method that organizes information into atomic, self-contained notes interconnected through dynamic links.</a:t>
            </a:r>
            <a:endParaRPr lang="en-US" altLang="zh-CN" sz="2200" kern="0" dirty="0">
              <a:latin typeface="Times New Roman" panose="02020503050405090304" pitchFamily="18" charset="0"/>
              <a:cs typeface="Times New Roman" panose="02020503050405090304" pitchFamily="18" charset="0"/>
            </a:endParaRPr>
          </a:p>
          <a:p>
            <a:pPr>
              <a:spcBef>
                <a:spcPts val="0"/>
              </a:spcBef>
            </a:pPr>
            <a:r>
              <a:rPr lang="en-US" altLang="zh-CN" sz="2800" kern="0" dirty="0">
                <a:latin typeface="Times New Roman" panose="02020503050405090304" pitchFamily="18" charset="0"/>
                <a:cs typeface="Times New Roman" panose="02020503050405090304" pitchFamily="18" charset="0"/>
              </a:rPr>
              <a:t>Key ideas</a:t>
            </a:r>
            <a:endParaRPr lang="en-US" altLang="zh-CN" sz="2800" kern="0" dirty="0">
              <a:latin typeface="Times New Roman" panose="02020503050405090304" pitchFamily="18" charset="0"/>
              <a:cs typeface="Times New Roman" panose="02020503050405090304" pitchFamily="18" charset="0"/>
            </a:endParaRPr>
          </a:p>
          <a:p>
            <a:pPr lvl="1">
              <a:spcBef>
                <a:spcPts val="0"/>
              </a:spcBef>
            </a:pPr>
            <a:r>
              <a:rPr lang="en-US" altLang="zh-CN" sz="2200" b="1" kern="0" dirty="0">
                <a:latin typeface="Times New Roman" panose="02020503050405090304" pitchFamily="18" charset="0"/>
                <a:cs typeface="Times New Roman" panose="02020503050405090304" pitchFamily="18" charset="0"/>
              </a:rPr>
              <a:t>Atomic note construction:</a:t>
            </a:r>
            <a:r>
              <a:rPr lang="en-US" altLang="zh-CN" sz="2200" kern="0" dirty="0">
                <a:latin typeface="Times New Roman" panose="02020503050405090304" pitchFamily="18" charset="0"/>
                <a:cs typeface="Times New Roman" panose="02020503050405090304" pitchFamily="18" charset="0"/>
              </a:rPr>
              <a:t> use LLM to generate Z</a:t>
            </a:r>
            <a:r>
              <a:rPr lang="en-US" altLang="zh-CN" sz="2200" kern="0" dirty="0">
                <a:latin typeface="Times New Roman" panose="02020503050405090304" pitchFamily="18" charset="0"/>
                <a:cs typeface="Times New Roman" panose="02020503050405090304" pitchFamily="18" charset="0"/>
                <a:sym typeface="+mn-ea"/>
              </a:rPr>
              <a:t>ettelkasten style notes.</a:t>
            </a:r>
            <a:endParaRPr lang="en-US" altLang="zh-CN" sz="2200" kern="0" dirty="0">
              <a:latin typeface="Times New Roman" panose="02020503050405090304" pitchFamily="18" charset="0"/>
              <a:cs typeface="Times New Roman" panose="02020503050405090304" pitchFamily="18" charset="0"/>
            </a:endParaRPr>
          </a:p>
          <a:p>
            <a:pPr lvl="1">
              <a:spcBef>
                <a:spcPts val="0"/>
              </a:spcBef>
            </a:pPr>
            <a:r>
              <a:rPr lang="en-US" altLang="zh-CN" sz="2200" b="1" kern="0" dirty="0">
                <a:latin typeface="Times New Roman" panose="02020503050405090304" pitchFamily="18" charset="0"/>
                <a:cs typeface="Times New Roman" panose="02020503050405090304" pitchFamily="18" charset="0"/>
              </a:rPr>
              <a:t>Autonomous link generation: </a:t>
            </a:r>
            <a:r>
              <a:rPr lang="en-US" altLang="zh-CN" sz="2200" kern="0" dirty="0">
                <a:latin typeface="Times New Roman" panose="02020503050405090304" pitchFamily="18" charset="0"/>
                <a:cs typeface="Times New Roman" panose="02020503050405090304" pitchFamily="18" charset="0"/>
              </a:rPr>
              <a:t>use LLM to generate links between notes.</a:t>
            </a:r>
            <a:endParaRPr lang="en-US" altLang="zh-CN" sz="2200" kern="0" dirty="0">
              <a:latin typeface="Times New Roman" panose="02020503050405090304" pitchFamily="18" charset="0"/>
              <a:cs typeface="Times New Roman" panose="02020503050405090304" pitchFamily="18" charset="0"/>
            </a:endParaRPr>
          </a:p>
          <a:p>
            <a:pPr lvl="1">
              <a:spcBef>
                <a:spcPts val="0"/>
              </a:spcBef>
            </a:pPr>
            <a:r>
              <a:rPr lang="en-US" altLang="zh-CN" sz="2200" b="1" kern="0" dirty="0">
                <a:latin typeface="Times New Roman" panose="02020503050405090304" pitchFamily="18" charset="0"/>
                <a:cs typeface="Times New Roman" panose="02020503050405090304" pitchFamily="18" charset="0"/>
              </a:rPr>
              <a:t>Dynamic knowledge refinement:</a:t>
            </a:r>
            <a:r>
              <a:rPr lang="en-US" altLang="zh-CN" sz="2200" kern="0" dirty="0">
                <a:latin typeface="Times New Roman" panose="02020503050405090304" pitchFamily="18" charset="0"/>
                <a:cs typeface="Times New Roman" panose="02020503050405090304" pitchFamily="18" charset="0"/>
              </a:rPr>
              <a:t> use LLM to update existing notes.</a:t>
            </a:r>
            <a:endParaRPr lang="en-US" altLang="zh-CN" sz="2200" kern="0" dirty="0">
              <a:latin typeface="Times New Roman" panose="02020503050405090304" pitchFamily="18" charset="0"/>
              <a:cs typeface="Times New Roman" panose="02020503050405090304" pitchFamily="18" charset="0"/>
            </a:endParaRPr>
          </a:p>
          <a:p>
            <a:pPr marL="457200" lvl="1" indent="0">
              <a:spcBef>
                <a:spcPts val="0"/>
              </a:spcBef>
              <a:buNone/>
            </a:pPr>
            <a:endParaRPr lang="en-US" altLang="zh-CN" sz="2200" kern="0"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A-MEM (2/7)</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624840" y="1125220"/>
            <a:ext cx="10943590" cy="154559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9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anose="020F0502020204030204" pitchFamily="34" charset="0"/>
                <a:ea typeface="標楷體" pitchFamily="65" charset="-120"/>
                <a:cs typeface="Calibri" panose="020F0502020204030204"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anose="020F0502020204030204" pitchFamily="34" charset="0"/>
                <a:ea typeface="標楷體" pitchFamily="65" charset="-120"/>
                <a:cs typeface="Calibri" panose="020F0502020204030204"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anose="020F0502020204030204" pitchFamily="34" charset="0"/>
                <a:ea typeface="標楷體" pitchFamily="65" charset="-120"/>
                <a:cs typeface="Calibri" panose="020F0502020204030204"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800" kern="0" dirty="0">
                <a:latin typeface="Times New Roman" panose="02020503050405090304" pitchFamily="18" charset="0"/>
                <a:cs typeface="Times New Roman" panose="02020503050405090304" pitchFamily="18" charset="0"/>
              </a:rPr>
              <a:t>Architecture overview  </a:t>
            </a:r>
            <a:endParaRPr lang="en-US" altLang="zh-CN" sz="2400" kern="0" dirty="0">
              <a:latin typeface="Times New Roman" panose="02020503050405090304" pitchFamily="18" charset="0"/>
              <a:cs typeface="Times New Roman" panose="02020503050405090304" pitchFamily="18" charset="0"/>
            </a:endParaRPr>
          </a:p>
          <a:p>
            <a:pPr marL="457200" lvl="1" indent="0">
              <a:buNone/>
            </a:pPr>
            <a:endParaRPr lang="en-US" altLang="zh-CN" sz="2400" kern="0" dirty="0">
              <a:latin typeface="Times New Roman" panose="02020503050405090304" pitchFamily="18" charset="0"/>
              <a:cs typeface="Times New Roman" panose="02020503050405090304" pitchFamily="18" charset="0"/>
            </a:endParaRPr>
          </a:p>
        </p:txBody>
      </p:sp>
      <p:pic>
        <p:nvPicPr>
          <p:cNvPr id="3" name="图片 2"/>
          <p:cNvPicPr>
            <a:picLocks noChangeAspect="1"/>
          </p:cNvPicPr>
          <p:nvPr/>
        </p:nvPicPr>
        <p:blipFill>
          <a:blip r:embed="rId1"/>
          <a:stretch>
            <a:fillRect/>
          </a:stretch>
        </p:blipFill>
        <p:spPr>
          <a:xfrm>
            <a:off x="1223645" y="1570355"/>
            <a:ext cx="9745980" cy="4220210"/>
          </a:xfrm>
          <a:prstGeom prst="rect">
            <a:avLst/>
          </a:prstGeom>
        </p:spPr>
      </p:pic>
      <p:sp>
        <p:nvSpPr>
          <p:cNvPr id="6" name="文本框 5"/>
          <p:cNvSpPr txBox="1"/>
          <p:nvPr/>
        </p:nvSpPr>
        <p:spPr>
          <a:xfrm>
            <a:off x="4276725" y="5788660"/>
            <a:ext cx="4064000" cy="398780"/>
          </a:xfrm>
          <a:prstGeom prst="rect">
            <a:avLst/>
          </a:prstGeom>
          <a:noFill/>
        </p:spPr>
        <p:txBody>
          <a:bodyPr wrap="square" rtlCol="0" anchor="ctr" anchorCtr="1">
            <a:spAutoFit/>
          </a:bodyPr>
          <a:p>
            <a:r>
              <a:rPr lang="en-US" altLang="zh-CN" sz="2000" dirty="0" smtClean="0">
                <a:latin typeface="Times New Roman" panose="02020503050405090304" pitchFamily="18" charset="0"/>
                <a:ea typeface="標楷體" pitchFamily="65" charset="-120"/>
                <a:cs typeface="Times New Roman" panose="02020503050405090304" pitchFamily="18" charset="0"/>
              </a:rPr>
              <a:t>Figure 5: A-MEM architecture</a:t>
            </a:r>
            <a:endParaRPr lang="en-US" altLang="zh-CN" sz="2000" dirty="0" smtClean="0">
              <a:latin typeface="Times New Roman" panose="02020503050405090304" pitchFamily="18" charset="0"/>
              <a:ea typeface="標楷體" pitchFamily="65" charset="-120"/>
              <a:cs typeface="Times New Roman" panose="0202050305040509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A-MEM (3/7)</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624840" y="1125220"/>
            <a:ext cx="5888990" cy="4378325"/>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9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anose="020F0502020204030204" pitchFamily="34" charset="0"/>
                <a:ea typeface="標楷體" pitchFamily="65" charset="-120"/>
                <a:cs typeface="Calibri" panose="020F0502020204030204"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anose="020F0502020204030204" pitchFamily="34" charset="0"/>
                <a:ea typeface="標楷體" pitchFamily="65" charset="-120"/>
                <a:cs typeface="Calibri" panose="020F0502020204030204"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anose="020F0502020204030204" pitchFamily="34" charset="0"/>
                <a:ea typeface="標楷體" pitchFamily="65" charset="-120"/>
                <a:cs typeface="Calibri" panose="020F0502020204030204"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800" kern="0" dirty="0">
                <a:latin typeface="Times New Roman" panose="02020503050405090304" pitchFamily="18" charset="0"/>
                <a:cs typeface="Times New Roman" panose="02020503050405090304" pitchFamily="18" charset="0"/>
              </a:rPr>
              <a:t>Note construction: use LLM to consctruct </a:t>
            </a:r>
            <a:r>
              <a:rPr lang="en-US" altLang="zh-CN" sz="2800" kern="0" dirty="0">
                <a:latin typeface="Times New Roman" panose="02020503050405090304" pitchFamily="18" charset="0"/>
                <a:cs typeface="Times New Roman" panose="02020503050405090304" pitchFamily="18" charset="0"/>
                <a:sym typeface="+mn-ea"/>
              </a:rPr>
              <a:t>Zettelkasten-style note of every dialouge, which contains:</a:t>
            </a:r>
            <a:endParaRPr lang="en-US" altLang="zh-CN" sz="2400"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sym typeface="+mn-ea"/>
              </a:rPr>
              <a:t>Timestamp</a:t>
            </a:r>
            <a:endParaRPr lang="en-US" altLang="zh-CN" sz="2200" kern="0" dirty="0">
              <a:latin typeface="Times New Roman" panose="02020503050405090304" pitchFamily="18" charset="0"/>
              <a:cs typeface="Times New Roman" panose="02020503050405090304" pitchFamily="18" charset="0"/>
              <a:sym typeface="+mn-ea"/>
            </a:endParaRPr>
          </a:p>
          <a:p>
            <a:pPr lvl="1"/>
            <a:r>
              <a:rPr lang="en-US" altLang="zh-CN" sz="2200" kern="0" dirty="0">
                <a:latin typeface="Times New Roman" panose="02020503050405090304" pitchFamily="18" charset="0"/>
                <a:cs typeface="Times New Roman" panose="02020503050405090304" pitchFamily="18" charset="0"/>
                <a:sym typeface="+mn-ea"/>
              </a:rPr>
              <a:t>Content</a:t>
            </a:r>
            <a:endParaRPr lang="en-US" altLang="zh-CN" sz="2200"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Context</a:t>
            </a:r>
            <a:endParaRPr lang="en-US" altLang="zh-CN" sz="2200"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Keywords</a:t>
            </a:r>
            <a:endParaRPr lang="en-US" altLang="zh-CN" sz="2200"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Tags</a:t>
            </a:r>
            <a:endParaRPr lang="en-US" altLang="zh-CN" sz="2200"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Embedding</a:t>
            </a:r>
            <a:endParaRPr lang="en-US" altLang="zh-CN" sz="2200"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Links</a:t>
            </a:r>
            <a:endParaRPr lang="en-US" altLang="zh-CN" sz="2200" kern="0" dirty="0">
              <a:latin typeface="Times New Roman" panose="02020503050405090304" pitchFamily="18" charset="0"/>
              <a:cs typeface="Times New Roman" panose="02020503050405090304" pitchFamily="18" charset="0"/>
            </a:endParaRPr>
          </a:p>
          <a:p>
            <a:pPr marL="457200" lvl="1" indent="0">
              <a:buNone/>
            </a:pPr>
            <a:endParaRPr lang="en-US" altLang="zh-CN" sz="2200" kern="0" dirty="0">
              <a:latin typeface="Times New Roman" panose="02020503050405090304" pitchFamily="18" charset="0"/>
              <a:cs typeface="Times New Roman" panose="02020503050405090304" pitchFamily="18" charset="0"/>
            </a:endParaRPr>
          </a:p>
        </p:txBody>
      </p:sp>
      <p:pic>
        <p:nvPicPr>
          <p:cNvPr id="2" name="图片 1"/>
          <p:cNvPicPr>
            <a:picLocks noChangeAspect="1"/>
          </p:cNvPicPr>
          <p:nvPr/>
        </p:nvPicPr>
        <p:blipFill>
          <a:blip r:embed="rId1"/>
          <a:stretch>
            <a:fillRect/>
          </a:stretch>
        </p:blipFill>
        <p:spPr>
          <a:xfrm>
            <a:off x="7076440" y="1125220"/>
            <a:ext cx="4385945" cy="4619625"/>
          </a:xfrm>
          <a:prstGeom prst="rect">
            <a:avLst/>
          </a:prstGeom>
        </p:spPr>
      </p:pic>
      <p:sp>
        <p:nvSpPr>
          <p:cNvPr id="3" name="文本框 2"/>
          <p:cNvSpPr txBox="1"/>
          <p:nvPr/>
        </p:nvSpPr>
        <p:spPr>
          <a:xfrm>
            <a:off x="7237730" y="5729605"/>
            <a:ext cx="4064000" cy="398780"/>
          </a:xfrm>
          <a:prstGeom prst="rect">
            <a:avLst/>
          </a:prstGeom>
          <a:noFill/>
        </p:spPr>
        <p:txBody>
          <a:bodyPr wrap="square" rtlCol="0" anchor="ctr" anchorCtr="1">
            <a:spAutoFit/>
          </a:bodyPr>
          <a:p>
            <a:r>
              <a:rPr lang="en-US" altLang="zh-CN" sz="2000" dirty="0" smtClean="0">
                <a:latin typeface="Times New Roman" panose="02020503050405090304" pitchFamily="18" charset="0"/>
                <a:ea typeface="標楷體" pitchFamily="65" charset="-120"/>
                <a:cs typeface="Times New Roman" panose="02020503050405090304" pitchFamily="18" charset="0"/>
              </a:rPr>
              <a:t>Figure 6: A-MEM note construction</a:t>
            </a:r>
            <a:endParaRPr lang="en-US" altLang="zh-CN" sz="2000" dirty="0" smtClean="0">
              <a:latin typeface="Times New Roman" panose="02020503050405090304" pitchFamily="18" charset="0"/>
              <a:ea typeface="標楷體" pitchFamily="65" charset="-120"/>
              <a:cs typeface="Times New Roman" panose="0202050305040509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A-MEM (4/7)</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624840" y="1125220"/>
            <a:ext cx="6852920" cy="4733925"/>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9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anose="020F0502020204030204" pitchFamily="34" charset="0"/>
                <a:ea typeface="標楷體" pitchFamily="65" charset="-120"/>
                <a:cs typeface="Calibri" panose="020F0502020204030204"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anose="020F0502020204030204" pitchFamily="34" charset="0"/>
                <a:ea typeface="標楷體" pitchFamily="65" charset="-120"/>
                <a:cs typeface="Calibri" panose="020F0502020204030204"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anose="020F0502020204030204" pitchFamily="34" charset="0"/>
                <a:ea typeface="標楷體" pitchFamily="65" charset="-120"/>
                <a:cs typeface="Calibri" panose="020F0502020204030204"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800" kern="0" dirty="0">
                <a:latin typeface="Times New Roman" panose="02020503050405090304" pitchFamily="18" charset="0"/>
                <a:cs typeface="Times New Roman" panose="02020503050405090304" pitchFamily="18" charset="0"/>
              </a:rPr>
              <a:t>Link generation</a:t>
            </a:r>
            <a:endParaRPr lang="en-US" altLang="zh-CN" sz="2800"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Use cosine similarity of embeddings to filter and identify top-k candidate memories.</a:t>
            </a:r>
            <a:endParaRPr lang="en-US" altLang="zh-CN" sz="2200"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Apply LLM reasoning to implement the Zettelkasten principle of flexible linking，which can detect causal relationships and subtle conceptual patterns between notes.</a:t>
            </a:r>
            <a:endParaRPr lang="en-US" altLang="zh-CN" sz="2200"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The </a:t>
            </a:r>
            <a:r>
              <a:rPr lang="en-US" altLang="zh-CN" sz="2200" kern="0" dirty="0">
                <a:latin typeface="Times New Roman" panose="02020503050405090304" pitchFamily="18" charset="0"/>
                <a:cs typeface="Times New Roman" panose="02020503050405090304" pitchFamily="18" charset="0"/>
              </a:rPr>
              <a:t>updated notes are stored in multiple semantic boxes.</a:t>
            </a:r>
            <a:endParaRPr lang="en-US" altLang="zh-CN" sz="2200" kern="0" dirty="0">
              <a:latin typeface="Times New Roman" panose="02020503050405090304" pitchFamily="18" charset="0"/>
              <a:cs typeface="Times New Roman" panose="02020503050405090304" pitchFamily="18" charset="0"/>
            </a:endParaRPr>
          </a:p>
          <a:p>
            <a:pPr marL="457200" lvl="1" indent="0">
              <a:buNone/>
            </a:pPr>
            <a:endParaRPr lang="en-US" altLang="zh-CN" sz="2200" kern="0" dirty="0">
              <a:latin typeface="Times New Roman" panose="02020503050405090304" pitchFamily="18" charset="0"/>
              <a:cs typeface="Times New Roman" panose="02020503050405090304" pitchFamily="18" charset="0"/>
            </a:endParaRPr>
          </a:p>
        </p:txBody>
      </p:sp>
      <p:pic>
        <p:nvPicPr>
          <p:cNvPr id="3" name="图片 2"/>
          <p:cNvPicPr>
            <a:picLocks noChangeAspect="1"/>
          </p:cNvPicPr>
          <p:nvPr/>
        </p:nvPicPr>
        <p:blipFill>
          <a:blip r:embed="rId1"/>
          <a:stretch>
            <a:fillRect/>
          </a:stretch>
        </p:blipFill>
        <p:spPr>
          <a:xfrm>
            <a:off x="7630160" y="1062355"/>
            <a:ext cx="3308985" cy="4733290"/>
          </a:xfrm>
          <a:prstGeom prst="rect">
            <a:avLst/>
          </a:prstGeom>
        </p:spPr>
      </p:pic>
      <p:sp>
        <p:nvSpPr>
          <p:cNvPr id="7" name="文本框 6"/>
          <p:cNvSpPr txBox="1"/>
          <p:nvPr/>
        </p:nvSpPr>
        <p:spPr>
          <a:xfrm>
            <a:off x="7358380" y="5780405"/>
            <a:ext cx="4064000" cy="398780"/>
          </a:xfrm>
          <a:prstGeom prst="rect">
            <a:avLst/>
          </a:prstGeom>
          <a:noFill/>
        </p:spPr>
        <p:txBody>
          <a:bodyPr wrap="square" rtlCol="0" anchor="ctr" anchorCtr="1">
            <a:spAutoFit/>
          </a:bodyPr>
          <a:p>
            <a:r>
              <a:rPr lang="en-US" altLang="zh-CN" sz="2000" dirty="0" smtClean="0">
                <a:latin typeface="Times New Roman" panose="02020503050405090304" pitchFamily="18" charset="0"/>
                <a:ea typeface="標楷體" pitchFamily="65" charset="-120"/>
                <a:cs typeface="Times New Roman" panose="02020503050405090304" pitchFamily="18" charset="0"/>
              </a:rPr>
              <a:t>Figure 7: A-MEM link generation</a:t>
            </a:r>
            <a:endParaRPr lang="en-US" altLang="zh-CN" sz="2000" dirty="0" smtClean="0">
              <a:latin typeface="Times New Roman" panose="02020503050405090304" pitchFamily="18" charset="0"/>
              <a:ea typeface="標楷體" pitchFamily="65" charset="-120"/>
              <a:cs typeface="Times New Roman" panose="0202050305040509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A-MEM (5/7)</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624840" y="1125220"/>
            <a:ext cx="6462395" cy="4778375"/>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9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anose="020F0502020204030204" pitchFamily="34" charset="0"/>
                <a:ea typeface="標楷體" pitchFamily="65" charset="-120"/>
                <a:cs typeface="Calibri" panose="020F0502020204030204"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anose="020F0502020204030204" pitchFamily="34" charset="0"/>
                <a:ea typeface="標楷體" pitchFamily="65" charset="-120"/>
                <a:cs typeface="Calibri" panose="020F0502020204030204"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anose="020F0502020204030204" pitchFamily="34" charset="0"/>
                <a:ea typeface="標楷體" pitchFamily="65" charset="-120"/>
                <a:cs typeface="Calibri" panose="020F0502020204030204"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800" kern="0" dirty="0">
                <a:latin typeface="Times New Roman" panose="02020503050405090304" pitchFamily="18" charset="0"/>
                <a:cs typeface="Times New Roman" panose="02020503050405090304" pitchFamily="18" charset="0"/>
              </a:rPr>
              <a:t>Memory evolution</a:t>
            </a:r>
            <a:endParaRPr lang="en-US" altLang="zh-CN" sz="2400"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After creating links for the new memory, A-MEM evolves the retrieved memories.  </a:t>
            </a:r>
            <a:endParaRPr lang="en-US" altLang="zh-CN" sz="2200"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Use LLM to update the tags, context and links of the top-k neighbor notes.</a:t>
            </a:r>
            <a:endParaRPr lang="en-US" altLang="zh-CN" sz="2200"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As the system processes more memories over time, it develops increasingly sophisticated knowledge graph structures.</a:t>
            </a:r>
            <a:endParaRPr lang="en-US" altLang="zh-CN" sz="2200" kern="0" dirty="0">
              <a:latin typeface="Times New Roman" panose="02020503050405090304" pitchFamily="18" charset="0"/>
              <a:cs typeface="Times New Roman" panose="02020503050405090304" pitchFamily="18" charset="0"/>
            </a:endParaRPr>
          </a:p>
        </p:txBody>
      </p:sp>
      <p:pic>
        <p:nvPicPr>
          <p:cNvPr id="3" name="图片 2"/>
          <p:cNvPicPr>
            <a:picLocks noChangeAspect="1"/>
          </p:cNvPicPr>
          <p:nvPr/>
        </p:nvPicPr>
        <p:blipFill>
          <a:blip r:embed="rId1"/>
          <a:stretch>
            <a:fillRect/>
          </a:stretch>
        </p:blipFill>
        <p:spPr>
          <a:xfrm>
            <a:off x="8564880" y="1125220"/>
            <a:ext cx="1717040" cy="4683125"/>
          </a:xfrm>
          <a:prstGeom prst="rect">
            <a:avLst/>
          </a:prstGeom>
        </p:spPr>
      </p:pic>
      <p:sp>
        <p:nvSpPr>
          <p:cNvPr id="7" name="文本框 6"/>
          <p:cNvSpPr txBox="1"/>
          <p:nvPr/>
        </p:nvSpPr>
        <p:spPr>
          <a:xfrm>
            <a:off x="7252335" y="5780405"/>
            <a:ext cx="4064000" cy="398780"/>
          </a:xfrm>
          <a:prstGeom prst="rect">
            <a:avLst/>
          </a:prstGeom>
          <a:noFill/>
        </p:spPr>
        <p:txBody>
          <a:bodyPr wrap="square" rtlCol="0" anchor="ctr" anchorCtr="1">
            <a:spAutoFit/>
          </a:bodyPr>
          <a:p>
            <a:r>
              <a:rPr lang="en-US" altLang="zh-CN" sz="2000" dirty="0" smtClean="0">
                <a:latin typeface="Times New Roman" panose="02020503050405090304" pitchFamily="18" charset="0"/>
                <a:ea typeface="標楷體" pitchFamily="65" charset="-120"/>
                <a:cs typeface="Times New Roman" panose="02020503050405090304" pitchFamily="18" charset="0"/>
              </a:rPr>
              <a:t>Figure 8: A-MEM memory evolution</a:t>
            </a:r>
            <a:endParaRPr lang="en-US" altLang="zh-CN" sz="2000" dirty="0" smtClean="0">
              <a:latin typeface="Times New Roman" panose="02020503050405090304" pitchFamily="18" charset="0"/>
              <a:ea typeface="標楷體" pitchFamily="65" charset="-120"/>
              <a:cs typeface="Times New Roman" panose="0202050305040509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A-MEM (6/7)</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624840" y="1125220"/>
            <a:ext cx="10943590" cy="154559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9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anose="020F0502020204030204" pitchFamily="34" charset="0"/>
                <a:ea typeface="標楷體" pitchFamily="65" charset="-120"/>
                <a:cs typeface="Calibri" panose="020F0502020204030204"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anose="020F0502020204030204" pitchFamily="34" charset="0"/>
                <a:ea typeface="標楷體" pitchFamily="65" charset="-120"/>
                <a:cs typeface="Calibri" panose="020F0502020204030204"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anose="020F0502020204030204" pitchFamily="34" charset="0"/>
                <a:ea typeface="標楷體" pitchFamily="65" charset="-120"/>
                <a:cs typeface="Calibri" panose="020F0502020204030204"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800" kern="0" dirty="0">
                <a:latin typeface="Times New Roman" panose="02020503050405090304" pitchFamily="18" charset="0"/>
                <a:cs typeface="Times New Roman" panose="02020503050405090304" pitchFamily="18" charset="0"/>
              </a:rPr>
              <a:t>Evaluation</a:t>
            </a:r>
            <a:endParaRPr lang="en-US" altLang="zh-CN" sz="2400"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Better score at most settings with significant cost efficiency. </a:t>
            </a:r>
            <a:endParaRPr lang="en-US" altLang="zh-CN" sz="2200" kern="0" dirty="0">
              <a:latin typeface="Times New Roman" panose="02020503050405090304" pitchFamily="18" charset="0"/>
              <a:cs typeface="Times New Roman" panose="02020503050405090304" pitchFamily="18" charset="0"/>
            </a:endParaRPr>
          </a:p>
          <a:p>
            <a:pPr marL="457200" lvl="1" indent="0">
              <a:buNone/>
            </a:pPr>
            <a:endParaRPr lang="en-US" altLang="zh-CN" sz="2200" kern="0" dirty="0">
              <a:latin typeface="Times New Roman" panose="02020503050405090304" pitchFamily="18" charset="0"/>
              <a:cs typeface="Times New Roman" panose="02020503050405090304" pitchFamily="18" charset="0"/>
            </a:endParaRPr>
          </a:p>
        </p:txBody>
      </p:sp>
      <p:pic>
        <p:nvPicPr>
          <p:cNvPr id="2" name="图片 1"/>
          <p:cNvPicPr>
            <a:picLocks noChangeAspect="1"/>
          </p:cNvPicPr>
          <p:nvPr/>
        </p:nvPicPr>
        <p:blipFill>
          <a:blip r:embed="rId1"/>
          <a:stretch>
            <a:fillRect/>
          </a:stretch>
        </p:blipFill>
        <p:spPr>
          <a:xfrm>
            <a:off x="469265" y="3348990"/>
            <a:ext cx="11099165" cy="2054860"/>
          </a:xfrm>
          <a:prstGeom prst="rect">
            <a:avLst/>
          </a:prstGeom>
        </p:spPr>
      </p:pic>
      <p:pic>
        <p:nvPicPr>
          <p:cNvPr id="7" name="图片 6"/>
          <p:cNvPicPr>
            <a:picLocks noChangeAspect="1"/>
          </p:cNvPicPr>
          <p:nvPr/>
        </p:nvPicPr>
        <p:blipFill>
          <a:blip r:embed="rId2"/>
          <a:stretch>
            <a:fillRect/>
          </a:stretch>
        </p:blipFill>
        <p:spPr>
          <a:xfrm>
            <a:off x="469265" y="2653665"/>
            <a:ext cx="11099165" cy="658495"/>
          </a:xfrm>
          <a:prstGeom prst="rect">
            <a:avLst/>
          </a:prstGeom>
        </p:spPr>
      </p:pic>
      <p:sp>
        <p:nvSpPr>
          <p:cNvPr id="8" name="文本框 7"/>
          <p:cNvSpPr txBox="1"/>
          <p:nvPr/>
        </p:nvSpPr>
        <p:spPr>
          <a:xfrm>
            <a:off x="2459355" y="2233295"/>
            <a:ext cx="7119620" cy="398780"/>
          </a:xfrm>
          <a:prstGeom prst="rect">
            <a:avLst/>
          </a:prstGeom>
          <a:noFill/>
        </p:spPr>
        <p:txBody>
          <a:bodyPr wrap="square" rtlCol="0" anchor="ctr" anchorCtr="1">
            <a:spAutoFit/>
          </a:bodyPr>
          <a:p>
            <a:r>
              <a:rPr lang="en-US" altLang="zh-CN" sz="2000" dirty="0" smtClean="0">
                <a:latin typeface="Times New Roman" panose="02020503050405090304" pitchFamily="18" charset="0"/>
                <a:ea typeface="標楷體" pitchFamily="65" charset="-120"/>
                <a:cs typeface="Times New Roman" panose="02020503050405090304" pitchFamily="18" charset="0"/>
              </a:rPr>
              <a:t>Table 3: A-MEM experimental results on LoCoMo dataset </a:t>
            </a:r>
            <a:endParaRPr lang="en-US" altLang="zh-CN" sz="2000" dirty="0" smtClean="0">
              <a:latin typeface="Times New Roman" panose="02020503050405090304" pitchFamily="18" charset="0"/>
              <a:ea typeface="標楷體" pitchFamily="65" charset="-120"/>
              <a:cs typeface="Times New Roman" panose="0202050305040509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A-MEM (7/7)</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624840" y="1125220"/>
            <a:ext cx="10943590" cy="154559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9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anose="020F0502020204030204" pitchFamily="34" charset="0"/>
                <a:ea typeface="標楷體" pitchFamily="65" charset="-120"/>
                <a:cs typeface="Calibri" panose="020F0502020204030204"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anose="020F0502020204030204" pitchFamily="34" charset="0"/>
                <a:ea typeface="標楷體" pitchFamily="65" charset="-120"/>
                <a:cs typeface="Calibri" panose="020F0502020204030204"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anose="020F0502020204030204" pitchFamily="34" charset="0"/>
                <a:ea typeface="標楷體" pitchFamily="65" charset="-120"/>
                <a:cs typeface="Calibri" panose="020F0502020204030204"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800" kern="0" dirty="0">
                <a:latin typeface="Times New Roman" panose="02020503050405090304" pitchFamily="18" charset="0"/>
                <a:cs typeface="Times New Roman" panose="02020503050405090304" pitchFamily="18" charset="0"/>
              </a:rPr>
              <a:t>Evaluation</a:t>
            </a:r>
            <a:endParaRPr lang="en-US" altLang="zh-CN" sz="2400"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More organized distribution with A-MEM (blue) compared to base memory (red).</a:t>
            </a:r>
            <a:endParaRPr lang="en-US" altLang="zh-CN" sz="2200" kern="0" dirty="0">
              <a:latin typeface="Times New Roman" panose="02020503050405090304" pitchFamily="18" charset="0"/>
              <a:cs typeface="Times New Roman" panose="02020503050405090304" pitchFamily="18" charset="0"/>
            </a:endParaRPr>
          </a:p>
          <a:p>
            <a:pPr marL="457200" lvl="1" indent="0">
              <a:buNone/>
            </a:pPr>
            <a:endParaRPr lang="en-US" altLang="zh-CN" sz="2200" kern="0" dirty="0">
              <a:latin typeface="Times New Roman" panose="02020503050405090304" pitchFamily="18" charset="0"/>
              <a:cs typeface="Times New Roman" panose="02020503050405090304" pitchFamily="18" charset="0"/>
            </a:endParaRPr>
          </a:p>
        </p:txBody>
      </p:sp>
      <p:sp>
        <p:nvSpPr>
          <p:cNvPr id="3" name="文本框 2"/>
          <p:cNvSpPr txBox="1"/>
          <p:nvPr/>
        </p:nvSpPr>
        <p:spPr>
          <a:xfrm>
            <a:off x="2424430" y="5745798"/>
            <a:ext cx="7590790" cy="398780"/>
          </a:xfrm>
          <a:prstGeom prst="rect">
            <a:avLst/>
          </a:prstGeom>
          <a:noFill/>
        </p:spPr>
        <p:txBody>
          <a:bodyPr wrap="square" rtlCol="0" anchor="ctr" anchorCtr="1">
            <a:spAutoFit/>
          </a:bodyPr>
          <a:p>
            <a:r>
              <a:rPr lang="en-US" altLang="zh-CN" sz="2000" dirty="0" smtClean="0">
                <a:latin typeface="Times New Roman" panose="02020503050405090304" pitchFamily="18" charset="0"/>
                <a:ea typeface="標楷體" pitchFamily="65" charset="-120"/>
                <a:cs typeface="Times New Roman" panose="02020503050405090304" pitchFamily="18" charset="0"/>
              </a:rPr>
              <a:t>Figure 9: A-MEM T-SNE Visualization of Memory Embeddings</a:t>
            </a:r>
            <a:endParaRPr lang="en-US" altLang="zh-CN" sz="2000" dirty="0" smtClean="0">
              <a:latin typeface="Times New Roman" panose="02020503050405090304" pitchFamily="18" charset="0"/>
              <a:ea typeface="標楷體" pitchFamily="65" charset="-120"/>
              <a:cs typeface="Times New Roman" panose="02020503050405090304" pitchFamily="18" charset="0"/>
            </a:endParaRPr>
          </a:p>
        </p:txBody>
      </p:sp>
      <p:pic>
        <p:nvPicPr>
          <p:cNvPr id="8" name="图片 7"/>
          <p:cNvPicPr>
            <a:picLocks noChangeAspect="1"/>
          </p:cNvPicPr>
          <p:nvPr/>
        </p:nvPicPr>
        <p:blipFill>
          <a:blip r:embed="rId1"/>
          <a:stretch>
            <a:fillRect/>
          </a:stretch>
        </p:blipFill>
        <p:spPr>
          <a:xfrm>
            <a:off x="4077970" y="2058670"/>
            <a:ext cx="3894455" cy="368744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dirty="0"/>
              <a:t>O</a:t>
            </a:r>
            <a:r>
              <a:rPr lang="en-US" altLang="zh-TW" dirty="0"/>
              <a:t>utline</a:t>
            </a:r>
            <a:endParaRPr lang="en-US" altLang="zh-TW" dirty="0"/>
          </a:p>
        </p:txBody>
      </p:sp>
      <p:sp>
        <p:nvSpPr>
          <p:cNvPr id="3" name="內容版面配置區 2"/>
          <p:cNvSpPr>
            <a:spLocks noGrp="1"/>
          </p:cNvSpPr>
          <p:nvPr>
            <p:ph idx="1"/>
          </p:nvPr>
        </p:nvSpPr>
        <p:spPr>
          <a:xfrm>
            <a:off x="1311423" y="1125537"/>
            <a:ext cx="10270977" cy="3560763"/>
          </a:xfrm>
        </p:spPr>
        <p:txBody>
          <a:bodyPr>
            <a:noAutofit/>
          </a:bodyPr>
          <a:lstStyle/>
          <a:p>
            <a:r>
              <a:rPr lang="en-US" altLang="zh-CN" sz="2935" dirty="0">
                <a:latin typeface="Times New Roman Regular" panose="02020503050405090304" charset="0"/>
                <a:cs typeface="Times New Roman Regular" panose="02020503050405090304" charset="0"/>
              </a:rPr>
              <a:t>Introduction						(5 min)</a:t>
            </a:r>
            <a:endParaRPr lang="en-US" altLang="zh-TW" sz="2935" dirty="0">
              <a:latin typeface="Times New Roman Regular" panose="02020503050405090304" charset="0"/>
              <a:cs typeface="Times New Roman Regular" panose="02020503050405090304" charset="0"/>
            </a:endParaRPr>
          </a:p>
          <a:p>
            <a:r>
              <a:rPr lang="en-US" altLang="zh-CN" sz="2935" dirty="0">
                <a:latin typeface="Times New Roman Regular" panose="02020503050405090304" charset="0"/>
                <a:cs typeface="Times New Roman Regular" panose="02020503050405090304" charset="0"/>
              </a:rPr>
              <a:t>Background &amp; Motivation 				(3 min)</a:t>
            </a:r>
            <a:endParaRPr lang="en-US" altLang="zh-CN" sz="2935" dirty="0">
              <a:latin typeface="Times New Roman Regular" panose="02020503050405090304" charset="0"/>
              <a:cs typeface="Times New Roman Regular" panose="02020503050405090304" charset="0"/>
            </a:endParaRPr>
          </a:p>
          <a:p>
            <a:r>
              <a:rPr lang="en-US" altLang="zh-CN" sz="2935" dirty="0">
                <a:latin typeface="Times New Roman Regular" panose="02020503050405090304" charset="0"/>
                <a:cs typeface="Times New Roman Regular" panose="02020503050405090304" charset="0"/>
              </a:rPr>
              <a:t>Proposed Methods &amp; Performance Evaluation (24 min)</a:t>
            </a:r>
            <a:endParaRPr lang="en-US" altLang="zh-CN" sz="2935" dirty="0">
              <a:latin typeface="Times New Roman Regular" panose="02020503050405090304" charset="0"/>
              <a:cs typeface="Times New Roman Regular" panose="02020503050405090304" charset="0"/>
            </a:endParaRPr>
          </a:p>
          <a:p>
            <a:pPr lvl="1"/>
            <a:r>
              <a:rPr lang="en-US" altLang="zh-CN" sz="2400" dirty="0">
                <a:latin typeface="Times New Roman Regular" panose="02020503050405090304" charset="0"/>
                <a:cs typeface="Times New Roman Regular" panose="02020503050405090304" charset="0"/>
                <a:sym typeface="+mn-ea"/>
              </a:rPr>
              <a:t>MemGPT (2024, University of California)</a:t>
            </a:r>
            <a:r>
              <a:rPr lang="en-US" altLang="zh-CN" sz="2400" dirty="0">
                <a:latin typeface="Times New Roman Regular" panose="02020503050405090304" charset="0"/>
                <a:cs typeface="Times New Roman Regular" panose="02020503050405090304" charset="0"/>
                <a:sym typeface="+mn-ea"/>
              </a:rPr>
              <a:t>	</a:t>
            </a:r>
            <a:r>
              <a:rPr lang="en-US" altLang="zh-CN" sz="2400" dirty="0">
                <a:latin typeface="Times New Roman Regular" panose="02020503050405090304" charset="0"/>
                <a:cs typeface="Times New Roman Regular" panose="02020503050405090304" charset="0"/>
                <a:sym typeface="+mn-ea"/>
              </a:rPr>
              <a:t>	(8 min)</a:t>
            </a:r>
            <a:endParaRPr lang="en-US" altLang="zh-CN" sz="2400" dirty="0">
              <a:latin typeface="Times New Roman Regular" panose="02020503050405090304" charset="0"/>
              <a:cs typeface="Times New Roman Regular" panose="02020503050405090304" charset="0"/>
            </a:endParaRPr>
          </a:p>
          <a:p>
            <a:pPr lvl="1"/>
            <a:r>
              <a:rPr lang="en-US" altLang="zh-CN" sz="2400" dirty="0">
                <a:latin typeface="Times New Roman Regular" panose="02020503050405090304" charset="0"/>
                <a:cs typeface="Times New Roman Regular" panose="02020503050405090304" charset="0"/>
                <a:sym typeface="+mn-ea"/>
              </a:rPr>
              <a:t>A-MEM</a:t>
            </a:r>
            <a:r>
              <a:rPr lang="en-US" altLang="zh-CN" sz="2400" dirty="0">
                <a:latin typeface="Times New Roman Regular" panose="02020503050405090304" charset="0"/>
                <a:cs typeface="Times New Roman Regular" panose="02020503050405090304" charset="0"/>
                <a:sym typeface="+mn-ea"/>
              </a:rPr>
              <a:t> (2025, Rutgers University)			(8 min)</a:t>
            </a:r>
            <a:endParaRPr lang="en-US" altLang="zh-CN" sz="2400" dirty="0">
              <a:latin typeface="Times New Roman Regular" panose="02020503050405090304" charset="0"/>
              <a:cs typeface="Times New Roman Regular" panose="02020503050405090304" charset="0"/>
            </a:endParaRPr>
          </a:p>
          <a:p>
            <a:pPr lvl="1"/>
            <a:r>
              <a:rPr lang="en-US" altLang="zh-CN" sz="2400" dirty="0" err="1">
                <a:solidFill>
                  <a:srgbClr val="FF0000"/>
                </a:solidFill>
                <a:latin typeface="Times New Roman Regular" panose="02020503050405090304" charset="0"/>
                <a:cs typeface="Times New Roman Regular" panose="02020503050405090304" charset="0"/>
                <a:sym typeface="+mn-ea"/>
              </a:rPr>
              <a:t>GAM (2026, Zhejiang University)</a:t>
            </a:r>
            <a:r>
              <a:rPr lang="en-US" altLang="zh-CN" sz="2400" dirty="0">
                <a:latin typeface="Times New Roman Regular" panose="02020503050405090304" charset="0"/>
                <a:cs typeface="Times New Roman Regular" panose="02020503050405090304" charset="0"/>
                <a:sym typeface="+mn-ea"/>
              </a:rPr>
              <a:t>			(8 min)</a:t>
            </a:r>
            <a:endParaRPr lang="en-US" altLang="zh-CN" sz="2400" dirty="0">
              <a:latin typeface="Times New Roman Regular" panose="02020503050405090304" charset="0"/>
              <a:cs typeface="Times New Roman Regular" panose="02020503050405090304" charset="0"/>
            </a:endParaRPr>
          </a:p>
          <a:p>
            <a:r>
              <a:rPr lang="en-US" altLang="zh-CN" sz="2935" dirty="0">
                <a:latin typeface="Times New Roman Regular" panose="02020503050405090304" charset="0"/>
                <a:cs typeface="Times New Roman Regular" panose="02020503050405090304" charset="0"/>
              </a:rPr>
              <a:t>Conclusions 						(2 min)</a:t>
            </a:r>
            <a:endParaRPr lang="en-US" altLang="zh-CN" sz="2935" dirty="0">
              <a:latin typeface="Times New Roman Regular" panose="02020503050405090304" charset="0"/>
              <a:cs typeface="Times New Roman Regular" panose="02020503050405090304" charset="0"/>
            </a:endParaRPr>
          </a:p>
          <a:p>
            <a:r>
              <a:rPr lang="en-US" altLang="zh-CN" sz="2935" dirty="0">
                <a:latin typeface="Times New Roman Regular" panose="02020503050405090304" charset="0"/>
                <a:cs typeface="Times New Roman Regular" panose="02020503050405090304" charset="0"/>
              </a:rPr>
              <a:t>Q &amp; A							(2 min)</a:t>
            </a:r>
            <a:endParaRPr lang="en-US" altLang="zh-CN" sz="2935" dirty="0">
              <a:latin typeface="Times New Roman Regular" panose="02020503050405090304" charset="0"/>
              <a:cs typeface="Times New Roman Regular" panose="02020503050405090304"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GAM (1/6)</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624840" y="1125220"/>
            <a:ext cx="10943590" cy="481076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9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anose="020F0502020204030204" pitchFamily="34" charset="0"/>
                <a:ea typeface="標楷體" pitchFamily="65" charset="-120"/>
                <a:cs typeface="Calibri" panose="020F0502020204030204"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anose="020F0502020204030204" pitchFamily="34" charset="0"/>
                <a:ea typeface="標楷體" pitchFamily="65" charset="-120"/>
                <a:cs typeface="Calibri" panose="020F0502020204030204"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anose="020F0502020204030204" pitchFamily="34" charset="0"/>
                <a:ea typeface="標楷體" pitchFamily="65" charset="-120"/>
                <a:cs typeface="Calibri" panose="020F0502020204030204"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800" kern="0" dirty="0">
                <a:latin typeface="Times New Roman" panose="02020503050405090304" pitchFamily="18" charset="0"/>
                <a:cs typeface="Times New Roman" panose="02020503050405090304" pitchFamily="18" charset="0"/>
              </a:rPr>
              <a:t>Challenges</a:t>
            </a:r>
            <a:endParaRPr lang="en-US" altLang="zh-CN" sz="2400"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Semantic drift</a:t>
            </a:r>
            <a:endParaRPr lang="en-US" altLang="zh-CN" sz="2200"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Memory loss</a:t>
            </a:r>
            <a:endParaRPr lang="en-US" altLang="zh-CN" sz="2200" kern="0" dirty="0">
              <a:latin typeface="Times New Roman" panose="02020503050405090304" pitchFamily="18" charset="0"/>
              <a:cs typeface="Times New Roman" panose="02020503050405090304" pitchFamily="18" charset="0"/>
            </a:endParaRPr>
          </a:p>
          <a:p>
            <a:r>
              <a:rPr lang="en-US" altLang="zh-CN" sz="2800" kern="0" dirty="0">
                <a:latin typeface="Times New Roman" panose="02020503050405090304" pitchFamily="18" charset="0"/>
                <a:cs typeface="Times New Roman" panose="02020503050405090304" pitchFamily="18" charset="0"/>
              </a:rPr>
              <a:t>Key observation</a:t>
            </a:r>
            <a:endParaRPr lang="en-US" altLang="zh-CN" sz="2800"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Momories are group by topics.</a:t>
            </a:r>
            <a:r>
              <a:rPr lang="en-US" altLang="zh-CN" sz="2055" kern="0" dirty="0">
                <a:latin typeface="Times New Roman" panose="02020503050405090304" pitchFamily="18" charset="0"/>
                <a:cs typeface="Times New Roman" panose="02020503050405090304" pitchFamily="18" charset="0"/>
              </a:rPr>
              <a:t> </a:t>
            </a:r>
            <a:endParaRPr lang="en-US" altLang="zh-CN" sz="2055" kern="0" dirty="0">
              <a:latin typeface="Times New Roman" panose="02020503050405090304" pitchFamily="18" charset="0"/>
              <a:cs typeface="Times New Roman" panose="02020503050405090304" pitchFamily="18" charset="0"/>
            </a:endParaRPr>
          </a:p>
          <a:p>
            <a:r>
              <a:rPr lang="en-US" altLang="zh-CN" sz="2800" kern="0" dirty="0">
                <a:latin typeface="Times New Roman" panose="02020503050405090304" pitchFamily="18" charset="0"/>
                <a:cs typeface="Times New Roman" panose="02020503050405090304" pitchFamily="18" charset="0"/>
              </a:rPr>
              <a:t>Key ideas:</a:t>
            </a:r>
            <a:endParaRPr lang="en-US" altLang="zh-CN" sz="2800"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Hierarchical graph memory architecture.</a:t>
            </a:r>
            <a:endParaRPr lang="en-US" altLang="zh-CN" sz="2200"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State-based memory consolidation.</a:t>
            </a:r>
            <a:endParaRPr lang="en-US" altLang="zh-CN" sz="2200" kern="0" dirty="0">
              <a:latin typeface="Times New Roman" panose="02020503050405090304" pitchFamily="18" charset="0"/>
              <a:cs typeface="Times New Roman" panose="02020503050405090304" pitchFamily="18" charset="0"/>
            </a:endParaRPr>
          </a:p>
          <a:p>
            <a:pPr lvl="1"/>
            <a:endParaRPr lang="en-US" altLang="zh-CN" sz="1710" kern="0" dirty="0">
              <a:latin typeface="Times New Roman" panose="02020503050405090304" pitchFamily="18" charset="0"/>
              <a:cs typeface="Times New Roman" panose="02020503050405090304" pitchFamily="18" charset="0"/>
            </a:endParaRPr>
          </a:p>
          <a:p>
            <a:pPr marL="457200" lvl="1" indent="0">
              <a:buNone/>
            </a:pPr>
            <a:endParaRPr lang="en-US" altLang="zh-CN" sz="1465" kern="0"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GAM (2/6)</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624840" y="1125220"/>
            <a:ext cx="10943590" cy="154559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9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anose="020F0502020204030204" pitchFamily="34" charset="0"/>
                <a:ea typeface="標楷體" pitchFamily="65" charset="-120"/>
                <a:cs typeface="Calibri" panose="020F0502020204030204"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anose="020F0502020204030204" pitchFamily="34" charset="0"/>
                <a:ea typeface="標楷體" pitchFamily="65" charset="-120"/>
                <a:cs typeface="Calibri" panose="020F0502020204030204"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anose="020F0502020204030204" pitchFamily="34" charset="0"/>
                <a:ea typeface="標楷體" pitchFamily="65" charset="-120"/>
                <a:cs typeface="Calibri" panose="020F0502020204030204"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800" kern="0" dirty="0">
                <a:latin typeface="Times New Roman" panose="02020503050405090304" pitchFamily="18" charset="0"/>
                <a:cs typeface="Times New Roman" panose="02020503050405090304" pitchFamily="18" charset="0"/>
              </a:rPr>
              <a:t>Architecture overview  </a:t>
            </a:r>
            <a:endParaRPr lang="en-US" altLang="zh-CN" sz="2400" kern="0" dirty="0">
              <a:latin typeface="Times New Roman" panose="02020503050405090304" pitchFamily="18" charset="0"/>
              <a:cs typeface="Times New Roman" panose="02020503050405090304" pitchFamily="18" charset="0"/>
            </a:endParaRPr>
          </a:p>
          <a:p>
            <a:pPr marL="457200" lvl="1" indent="0">
              <a:buNone/>
            </a:pPr>
            <a:endParaRPr lang="en-US" altLang="zh-CN" sz="2400" kern="0" dirty="0">
              <a:latin typeface="Times New Roman" panose="02020503050405090304" pitchFamily="18" charset="0"/>
              <a:cs typeface="Times New Roman" panose="02020503050405090304" pitchFamily="18" charset="0"/>
            </a:endParaRPr>
          </a:p>
        </p:txBody>
      </p:sp>
      <p:sp>
        <p:nvSpPr>
          <p:cNvPr id="6" name="文本框 5"/>
          <p:cNvSpPr txBox="1"/>
          <p:nvPr/>
        </p:nvSpPr>
        <p:spPr>
          <a:xfrm>
            <a:off x="4276725" y="5788660"/>
            <a:ext cx="4064000" cy="398780"/>
          </a:xfrm>
          <a:prstGeom prst="rect">
            <a:avLst/>
          </a:prstGeom>
          <a:noFill/>
        </p:spPr>
        <p:txBody>
          <a:bodyPr wrap="square" rtlCol="0" anchor="ctr" anchorCtr="1">
            <a:spAutoFit/>
          </a:bodyPr>
          <a:p>
            <a:r>
              <a:rPr lang="en-US" altLang="zh-CN" sz="2000" dirty="0" smtClean="0">
                <a:latin typeface="Times New Roman" panose="02020503050405090304" pitchFamily="18" charset="0"/>
                <a:ea typeface="標楷體" pitchFamily="65" charset="-120"/>
                <a:cs typeface="Times New Roman" panose="02020503050405090304" pitchFamily="18" charset="0"/>
              </a:rPr>
              <a:t>Figure </a:t>
            </a:r>
            <a:r>
              <a:rPr lang="en-US" altLang="zh-CN" sz="2000" dirty="0" smtClean="0">
                <a:latin typeface="Times New Roman" panose="02020503050405090304" pitchFamily="18" charset="0"/>
                <a:ea typeface="標楷體" pitchFamily="65" charset="-120"/>
                <a:cs typeface="Times New Roman" panose="02020503050405090304" pitchFamily="18" charset="0"/>
              </a:rPr>
              <a:t>10: GAM architecture</a:t>
            </a:r>
            <a:endParaRPr lang="en-US" altLang="zh-CN" sz="2000" dirty="0" smtClean="0">
              <a:latin typeface="Times New Roman" panose="02020503050405090304" pitchFamily="18" charset="0"/>
              <a:ea typeface="標楷體" pitchFamily="65" charset="-120"/>
              <a:cs typeface="Times New Roman" panose="02020503050405090304" pitchFamily="18" charset="0"/>
            </a:endParaRPr>
          </a:p>
        </p:txBody>
      </p:sp>
      <p:pic>
        <p:nvPicPr>
          <p:cNvPr id="2" name="图片 1"/>
          <p:cNvPicPr>
            <a:picLocks noChangeAspect="1"/>
          </p:cNvPicPr>
          <p:nvPr/>
        </p:nvPicPr>
        <p:blipFill>
          <a:blip r:embed="rId1"/>
          <a:stretch>
            <a:fillRect/>
          </a:stretch>
        </p:blipFill>
        <p:spPr>
          <a:xfrm>
            <a:off x="948690" y="1596390"/>
            <a:ext cx="10294620" cy="421957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GAM (3/6)</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624840" y="1125220"/>
            <a:ext cx="5470525" cy="4895215"/>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9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anose="020F0502020204030204" pitchFamily="34" charset="0"/>
                <a:ea typeface="標楷體" pitchFamily="65" charset="-120"/>
                <a:cs typeface="Calibri" panose="020F0502020204030204"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anose="020F0502020204030204" pitchFamily="34" charset="0"/>
                <a:ea typeface="標楷體" pitchFamily="65" charset="-120"/>
                <a:cs typeface="Calibri" panose="020F0502020204030204"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anose="020F0502020204030204" pitchFamily="34" charset="0"/>
                <a:ea typeface="標楷體" pitchFamily="65" charset="-120"/>
                <a:cs typeface="Calibri" panose="020F0502020204030204"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800" kern="0" dirty="0">
                <a:latin typeface="Times New Roman" panose="02020503050405090304" pitchFamily="18" charset="0"/>
                <a:cs typeface="Times New Roman" panose="02020503050405090304" pitchFamily="18" charset="0"/>
              </a:rPr>
              <a:t>Hierarchical graph memory</a:t>
            </a:r>
            <a:endParaRPr lang="en-US" altLang="zh-CN" sz="2800" kern="0" dirty="0">
              <a:latin typeface="Times New Roman" panose="02020503050405090304" pitchFamily="18" charset="0"/>
              <a:cs typeface="Times New Roman" panose="02020503050405090304" pitchFamily="18" charset="0"/>
            </a:endParaRPr>
          </a:p>
          <a:p>
            <a:pPr lvl="1"/>
            <a:r>
              <a:rPr lang="en-US" altLang="zh-CN" sz="2200" b="1" kern="0" dirty="0">
                <a:latin typeface="Times New Roman" panose="02020503050405090304" pitchFamily="18" charset="0"/>
                <a:cs typeface="Times New Roman" panose="02020503050405090304" pitchFamily="18" charset="0"/>
              </a:rPr>
              <a:t>Topic graph:</a:t>
            </a:r>
            <a:r>
              <a:rPr lang="en-US" altLang="zh-CN" sz="2200" kern="0" dirty="0">
                <a:latin typeface="Times New Roman" panose="02020503050405090304" pitchFamily="18" charset="0"/>
                <a:cs typeface="Times New Roman" panose="02020503050405090304" pitchFamily="18" charset="0"/>
              </a:rPr>
              <a:t> global hierarchy storing consolidated knowledge and abstract semantic associations.</a:t>
            </a:r>
            <a:endParaRPr lang="en-US" altLang="zh-CN" sz="2200" kern="0" dirty="0">
              <a:latin typeface="Times New Roman" panose="02020503050405090304" pitchFamily="18" charset="0"/>
              <a:cs typeface="Times New Roman" panose="02020503050405090304" pitchFamily="18" charset="0"/>
            </a:endParaRPr>
          </a:p>
          <a:p>
            <a:pPr lvl="1"/>
            <a:r>
              <a:rPr lang="en-US" altLang="zh-CN" sz="2200" b="1" kern="0" dirty="0">
                <a:latin typeface="Times New Roman" panose="02020503050405090304" pitchFamily="18" charset="0"/>
                <a:cs typeface="Times New Roman" panose="02020503050405090304" pitchFamily="18" charset="0"/>
              </a:rPr>
              <a:t>Event graph:</a:t>
            </a:r>
            <a:r>
              <a:rPr lang="en-US" altLang="zh-CN" sz="2200" kern="0" dirty="0">
                <a:latin typeface="Times New Roman" panose="02020503050405090304" pitchFamily="18" charset="0"/>
                <a:cs typeface="Times New Roman" panose="02020503050405090304" pitchFamily="18" charset="0"/>
              </a:rPr>
              <a:t> local structure capturing immediate interaction flows and temporal dependencies.</a:t>
            </a:r>
            <a:endParaRPr lang="en-US" altLang="zh-CN" sz="2200" kern="0" dirty="0">
              <a:latin typeface="Times New Roman" panose="02020503050405090304" pitchFamily="18" charset="0"/>
              <a:cs typeface="Times New Roman" panose="02020503050405090304" pitchFamily="18" charset="0"/>
            </a:endParaRPr>
          </a:p>
          <a:p>
            <a:pPr marL="457200" lvl="1" indent="0">
              <a:buNone/>
            </a:pPr>
            <a:endParaRPr lang="en-US" altLang="zh-CN" sz="2200" kern="0" dirty="0">
              <a:latin typeface="Times New Roman" panose="02020503050405090304" pitchFamily="18" charset="0"/>
              <a:cs typeface="Times New Roman" panose="02020503050405090304" pitchFamily="18" charset="0"/>
            </a:endParaRPr>
          </a:p>
        </p:txBody>
      </p:sp>
      <p:sp>
        <p:nvSpPr>
          <p:cNvPr id="6" name="文本框 5"/>
          <p:cNvSpPr txBox="1"/>
          <p:nvPr/>
        </p:nvSpPr>
        <p:spPr>
          <a:xfrm>
            <a:off x="6440170" y="5796915"/>
            <a:ext cx="5074920" cy="398780"/>
          </a:xfrm>
          <a:prstGeom prst="rect">
            <a:avLst/>
          </a:prstGeom>
          <a:noFill/>
        </p:spPr>
        <p:txBody>
          <a:bodyPr wrap="square" rtlCol="0" anchor="ctr" anchorCtr="1">
            <a:spAutoFit/>
          </a:bodyPr>
          <a:p>
            <a:r>
              <a:rPr lang="en-US" altLang="zh-CN" sz="2000" dirty="0" smtClean="0">
                <a:latin typeface="Times New Roman" panose="02020503050405090304" pitchFamily="18" charset="0"/>
                <a:ea typeface="標楷體" pitchFamily="65" charset="-120"/>
                <a:cs typeface="Times New Roman" panose="02020503050405090304" pitchFamily="18" charset="0"/>
              </a:rPr>
              <a:t>Figure 11: GAM hierachical graph memory</a:t>
            </a:r>
            <a:endParaRPr lang="en-US" altLang="zh-CN" sz="2000" dirty="0" smtClean="0">
              <a:latin typeface="Times New Roman" panose="02020503050405090304" pitchFamily="18" charset="0"/>
              <a:ea typeface="標楷體" pitchFamily="65" charset="-120"/>
              <a:cs typeface="Times New Roman" panose="02020503050405090304" pitchFamily="18" charset="0"/>
            </a:endParaRPr>
          </a:p>
        </p:txBody>
      </p:sp>
      <p:pic>
        <p:nvPicPr>
          <p:cNvPr id="2" name="图片 1"/>
          <p:cNvPicPr>
            <a:picLocks noChangeAspect="1"/>
          </p:cNvPicPr>
          <p:nvPr/>
        </p:nvPicPr>
        <p:blipFill>
          <a:blip r:embed="rId1"/>
          <a:stretch>
            <a:fillRect/>
          </a:stretch>
        </p:blipFill>
        <p:spPr>
          <a:xfrm>
            <a:off x="6206490" y="1493520"/>
            <a:ext cx="5746115" cy="430339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GAM (4/6)</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541020" y="1033780"/>
            <a:ext cx="4281170" cy="5145405"/>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9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anose="020F0502020204030204" pitchFamily="34" charset="0"/>
                <a:ea typeface="標楷體" pitchFamily="65" charset="-120"/>
                <a:cs typeface="Calibri" panose="020F0502020204030204"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anose="020F0502020204030204" pitchFamily="34" charset="0"/>
                <a:ea typeface="標楷體" pitchFamily="65" charset="-120"/>
                <a:cs typeface="Calibri" panose="020F0502020204030204"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anose="020F0502020204030204" pitchFamily="34" charset="0"/>
                <a:ea typeface="標楷體" pitchFamily="65" charset="-120"/>
                <a:cs typeface="Calibri" panose="020F0502020204030204"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800" kern="0" dirty="0">
                <a:latin typeface="Times New Roman" panose="02020503050405090304" pitchFamily="18" charset="0"/>
                <a:cs typeface="Times New Roman" panose="02020503050405090304" pitchFamily="18" charset="0"/>
              </a:rPr>
              <a:t>State-based memory consolidation</a:t>
            </a:r>
            <a:endParaRPr lang="en-US" altLang="zh-CN" sz="2800" kern="0" dirty="0">
              <a:latin typeface="Times New Roman" panose="02020503050405090304" pitchFamily="18" charset="0"/>
              <a:cs typeface="Times New Roman" panose="02020503050405090304" pitchFamily="18" charset="0"/>
            </a:endParaRPr>
          </a:p>
          <a:p>
            <a:pPr lvl="1"/>
            <a:r>
              <a:rPr lang="en-US" altLang="zh-CN" sz="2200" b="1" kern="0" dirty="0">
                <a:latin typeface="Times New Roman" panose="02020503050405090304" pitchFamily="18" charset="0"/>
                <a:cs typeface="Times New Roman" panose="02020503050405090304" pitchFamily="18" charset="0"/>
              </a:rPr>
              <a:t>Semantic boundary:</a:t>
            </a:r>
            <a:r>
              <a:rPr lang="en-US" altLang="zh-CN" sz="2200" kern="0" dirty="0">
                <a:latin typeface="Times New Roman" panose="02020503050405090304" pitchFamily="18" charset="0"/>
                <a:cs typeface="Times New Roman" panose="02020503050405090304" pitchFamily="18" charset="0"/>
              </a:rPr>
              <a:t> LLM-driven detection of topic shifts to trigger memory consolidation processes.</a:t>
            </a:r>
            <a:endParaRPr lang="en-US" altLang="zh-CN" sz="2200" kern="0" dirty="0">
              <a:latin typeface="Times New Roman" panose="02020503050405090304" pitchFamily="18" charset="0"/>
              <a:cs typeface="Times New Roman" panose="02020503050405090304" pitchFamily="18" charset="0"/>
            </a:endParaRPr>
          </a:p>
          <a:p>
            <a:pPr lvl="1"/>
            <a:r>
              <a:rPr lang="en-US" altLang="zh-CN" sz="2200" b="1" kern="0" dirty="0">
                <a:latin typeface="Times New Roman" panose="02020503050405090304" pitchFamily="18" charset="0"/>
                <a:cs typeface="Times New Roman" panose="02020503050405090304" pitchFamily="18" charset="0"/>
              </a:rPr>
              <a:t>Episodic buffering state:</a:t>
            </a:r>
            <a:r>
              <a:rPr lang="en-US" altLang="zh-CN" sz="2200" kern="0" dirty="0">
                <a:latin typeface="Times New Roman" panose="02020503050405090304" pitchFamily="18" charset="0"/>
                <a:cs typeface="Times New Roman" panose="02020503050405090304" pitchFamily="18" charset="0"/>
              </a:rPr>
              <a:t> temporarily store interactions in event graphs to isolate transient noise.</a:t>
            </a:r>
            <a:endParaRPr lang="en-US" altLang="zh-CN" sz="2200" kern="0" dirty="0">
              <a:latin typeface="Times New Roman" panose="02020503050405090304" pitchFamily="18" charset="0"/>
              <a:cs typeface="Times New Roman" panose="02020503050405090304" pitchFamily="18" charset="0"/>
            </a:endParaRPr>
          </a:p>
          <a:p>
            <a:pPr lvl="1"/>
            <a:r>
              <a:rPr lang="en-US" altLang="zh-CN" sz="2200" b="1" kern="0" dirty="0">
                <a:latin typeface="Times New Roman" panose="02020503050405090304" pitchFamily="18" charset="0"/>
                <a:cs typeface="Times New Roman" panose="02020503050405090304" pitchFamily="18" charset="0"/>
              </a:rPr>
              <a:t>Semantic consolidation state:</a:t>
            </a:r>
            <a:r>
              <a:rPr lang="en-US" altLang="zh-CN" sz="2200" kern="0" dirty="0">
                <a:latin typeface="Times New Roman" panose="02020503050405090304" pitchFamily="18" charset="0"/>
                <a:cs typeface="Times New Roman" panose="02020503050405090304" pitchFamily="18" charset="0"/>
              </a:rPr>
              <a:t> integrate buffered episodic knowledge into the global topic graph.</a:t>
            </a:r>
            <a:endParaRPr lang="en-US" altLang="zh-CN" sz="2200" kern="0" dirty="0">
              <a:latin typeface="Times New Roman" panose="02020503050405090304" pitchFamily="18" charset="0"/>
              <a:cs typeface="Times New Roman" panose="02020503050405090304" pitchFamily="18" charset="0"/>
            </a:endParaRPr>
          </a:p>
        </p:txBody>
      </p:sp>
      <p:pic>
        <p:nvPicPr>
          <p:cNvPr id="6" name="图片 5"/>
          <p:cNvPicPr>
            <a:picLocks noChangeAspect="1"/>
          </p:cNvPicPr>
          <p:nvPr/>
        </p:nvPicPr>
        <p:blipFill>
          <a:blip r:embed="rId1"/>
          <a:stretch>
            <a:fillRect/>
          </a:stretch>
        </p:blipFill>
        <p:spPr>
          <a:xfrm>
            <a:off x="4822190" y="1202055"/>
            <a:ext cx="7289800" cy="4291330"/>
          </a:xfrm>
          <a:prstGeom prst="rect">
            <a:avLst/>
          </a:prstGeom>
        </p:spPr>
      </p:pic>
      <p:sp>
        <p:nvSpPr>
          <p:cNvPr id="8" name="文本框 7"/>
          <p:cNvSpPr txBox="1"/>
          <p:nvPr/>
        </p:nvSpPr>
        <p:spPr>
          <a:xfrm>
            <a:off x="5645785" y="5599113"/>
            <a:ext cx="5860415" cy="398780"/>
          </a:xfrm>
          <a:prstGeom prst="rect">
            <a:avLst/>
          </a:prstGeom>
          <a:noFill/>
        </p:spPr>
        <p:txBody>
          <a:bodyPr wrap="square" rtlCol="0" anchor="ctr" anchorCtr="1">
            <a:spAutoFit/>
          </a:bodyPr>
          <a:p>
            <a:r>
              <a:rPr lang="en-US" altLang="zh-CN" sz="2000" dirty="0" smtClean="0">
                <a:latin typeface="Times New Roman" panose="02020503050405090304" pitchFamily="18" charset="0"/>
                <a:ea typeface="標楷體" pitchFamily="65" charset="-120"/>
                <a:cs typeface="Times New Roman" panose="02020503050405090304" pitchFamily="18" charset="0"/>
              </a:rPr>
              <a:t>Figure 12: GAM </a:t>
            </a:r>
            <a:r>
              <a:rPr lang="en-US" altLang="zh-CN" sz="2000" kern="0" dirty="0">
                <a:latin typeface="Times New Roman" panose="02020503050405090304" pitchFamily="18" charset="0"/>
                <a:cs typeface="Times New Roman" panose="02020503050405090304" pitchFamily="18" charset="0"/>
                <a:sym typeface="+mn-ea"/>
              </a:rPr>
              <a:t>state-based memory consolidation</a:t>
            </a:r>
            <a:endParaRPr lang="en-US" altLang="zh-CN" sz="2000" kern="0" dirty="0" smtClean="0">
              <a:latin typeface="Times New Roman" panose="02020503050405090304" pitchFamily="18" charset="0"/>
              <a:ea typeface="標楷體" pitchFamily="65" charset="-120"/>
              <a:cs typeface="Times New Roman" panose="02020503050405090304" pitchFamily="18" charset="0"/>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GAM (5/6)</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624840" y="1125220"/>
            <a:ext cx="10943590" cy="154559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9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anose="020F0502020204030204" pitchFamily="34" charset="0"/>
                <a:ea typeface="標楷體" pitchFamily="65" charset="-120"/>
                <a:cs typeface="Calibri" panose="020F0502020204030204"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anose="020F0502020204030204" pitchFamily="34" charset="0"/>
                <a:ea typeface="標楷體" pitchFamily="65" charset="-120"/>
                <a:cs typeface="Calibri" panose="020F0502020204030204"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anose="020F0502020204030204" pitchFamily="34" charset="0"/>
                <a:ea typeface="標楷體" pitchFamily="65" charset="-120"/>
                <a:cs typeface="Calibri" panose="020F0502020204030204"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800" kern="0" dirty="0">
                <a:latin typeface="Times New Roman" panose="02020503050405090304" pitchFamily="18" charset="0"/>
                <a:cs typeface="Times New Roman" panose="02020503050405090304" pitchFamily="18" charset="0"/>
              </a:rPr>
              <a:t>Evaluation</a:t>
            </a:r>
            <a:endParaRPr lang="en-US" altLang="zh-CN" sz="2400"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Achieves the best average performance in most settings, particularly effective in temporal reasoning tasks.</a:t>
            </a:r>
            <a:endParaRPr lang="en-US" altLang="zh-CN" sz="2200" kern="0" dirty="0">
              <a:latin typeface="Times New Roman" panose="02020503050405090304" pitchFamily="18" charset="0"/>
              <a:cs typeface="Times New Roman" panose="02020503050405090304" pitchFamily="18" charset="0"/>
            </a:endParaRPr>
          </a:p>
        </p:txBody>
      </p:sp>
      <p:pic>
        <p:nvPicPr>
          <p:cNvPr id="7" name="图片 6"/>
          <p:cNvPicPr>
            <a:picLocks noChangeAspect="1"/>
          </p:cNvPicPr>
          <p:nvPr/>
        </p:nvPicPr>
        <p:blipFill>
          <a:blip r:embed="rId1"/>
          <a:stretch>
            <a:fillRect/>
          </a:stretch>
        </p:blipFill>
        <p:spPr>
          <a:xfrm>
            <a:off x="906780" y="3122295"/>
            <a:ext cx="9861550" cy="833120"/>
          </a:xfrm>
          <a:prstGeom prst="rect">
            <a:avLst/>
          </a:prstGeom>
        </p:spPr>
      </p:pic>
      <p:sp>
        <p:nvSpPr>
          <p:cNvPr id="2" name="文本框 1"/>
          <p:cNvSpPr txBox="1"/>
          <p:nvPr/>
        </p:nvSpPr>
        <p:spPr>
          <a:xfrm>
            <a:off x="1684655" y="2670810"/>
            <a:ext cx="8307705" cy="368300"/>
          </a:xfrm>
          <a:prstGeom prst="rect">
            <a:avLst/>
          </a:prstGeom>
          <a:noFill/>
        </p:spPr>
        <p:txBody>
          <a:bodyPr wrap="square" rtlCol="0" anchor="ctr" anchorCtr="1">
            <a:spAutoFit/>
          </a:bodyPr>
          <a:p>
            <a:r>
              <a:rPr lang="en-US" altLang="zh-CN" dirty="0" smtClean="0">
                <a:latin typeface="Times New Roman" panose="02020503050405090304" pitchFamily="18" charset="0"/>
                <a:ea typeface="標楷體" pitchFamily="65" charset="-120"/>
                <a:cs typeface="Times New Roman" panose="02020503050405090304" pitchFamily="18" charset="0"/>
              </a:rPr>
              <a:t>Table 4: GAM performance comparison on the LoCoMo dataset</a:t>
            </a:r>
            <a:endParaRPr lang="en-US" altLang="zh-CN" dirty="0" smtClean="0">
              <a:latin typeface="Times New Roman" panose="02020503050405090304" pitchFamily="18" charset="0"/>
              <a:ea typeface="標楷體" pitchFamily="65" charset="-120"/>
              <a:cs typeface="Times New Roman" panose="02020503050405090304" pitchFamily="18" charset="0"/>
            </a:endParaRPr>
          </a:p>
        </p:txBody>
      </p:sp>
      <p:pic>
        <p:nvPicPr>
          <p:cNvPr id="3" name="图片 2"/>
          <p:cNvPicPr>
            <a:picLocks noChangeAspect="1"/>
          </p:cNvPicPr>
          <p:nvPr/>
        </p:nvPicPr>
        <p:blipFill>
          <a:blip r:embed="rId2"/>
          <a:stretch>
            <a:fillRect/>
          </a:stretch>
        </p:blipFill>
        <p:spPr>
          <a:xfrm>
            <a:off x="906780" y="3871595"/>
            <a:ext cx="9861550" cy="182816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GAM (6/6)</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624840" y="1125220"/>
            <a:ext cx="5470525" cy="230378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9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anose="020F0502020204030204" pitchFamily="34" charset="0"/>
                <a:ea typeface="標楷體" pitchFamily="65" charset="-120"/>
                <a:cs typeface="Calibri" panose="020F0502020204030204"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anose="020F0502020204030204" pitchFamily="34" charset="0"/>
                <a:ea typeface="標楷體" pitchFamily="65" charset="-120"/>
                <a:cs typeface="Calibri" panose="020F0502020204030204"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anose="020F0502020204030204" pitchFamily="34" charset="0"/>
                <a:ea typeface="標楷體" pitchFamily="65" charset="-120"/>
                <a:cs typeface="Calibri" panose="020F0502020204030204"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800" kern="0" dirty="0">
                <a:latin typeface="Times New Roman" panose="02020503050405090304" pitchFamily="18" charset="0"/>
                <a:cs typeface="Times New Roman" panose="02020503050405090304" pitchFamily="18" charset="0"/>
              </a:rPr>
              <a:t>Evaluation</a:t>
            </a:r>
            <a:endParaRPr lang="en-US" altLang="zh-CN" sz="2400"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Semantic-boundary approach outperforms heuristic baselines across metrics.</a:t>
            </a:r>
            <a:endParaRPr lang="en-US" altLang="zh-CN" sz="2200" kern="0" dirty="0">
              <a:latin typeface="Times New Roman" panose="02020503050405090304" pitchFamily="18" charset="0"/>
              <a:cs typeface="Times New Roman" panose="02020503050405090304" pitchFamily="18" charset="0"/>
            </a:endParaRPr>
          </a:p>
          <a:p>
            <a:pPr lvl="1"/>
            <a:r>
              <a:rPr lang="en-US" altLang="zh-CN" sz="2200" kern="0" dirty="0">
                <a:latin typeface="Times New Roman" panose="02020503050405090304" pitchFamily="18" charset="0"/>
                <a:cs typeface="Times New Roman" panose="02020503050405090304" pitchFamily="18" charset="0"/>
              </a:rPr>
              <a:t>Lower tokens consumption and better F1 score.</a:t>
            </a:r>
            <a:endParaRPr lang="en-US" altLang="zh-CN" sz="2200" kern="0" dirty="0">
              <a:latin typeface="Times New Roman" panose="02020503050405090304" pitchFamily="18" charset="0"/>
              <a:cs typeface="Times New Roman" panose="02020503050405090304" pitchFamily="18" charset="0"/>
            </a:endParaRPr>
          </a:p>
          <a:p>
            <a:pPr lvl="1"/>
            <a:endParaRPr lang="en-US" altLang="zh-CN" sz="2200" kern="0" dirty="0">
              <a:latin typeface="Times New Roman" panose="02020503050405090304" pitchFamily="18" charset="0"/>
              <a:cs typeface="Times New Roman" panose="02020503050405090304" pitchFamily="18" charset="0"/>
            </a:endParaRPr>
          </a:p>
        </p:txBody>
      </p:sp>
      <p:sp>
        <p:nvSpPr>
          <p:cNvPr id="3" name="文本框 2"/>
          <p:cNvSpPr txBox="1"/>
          <p:nvPr/>
        </p:nvSpPr>
        <p:spPr>
          <a:xfrm>
            <a:off x="6095365" y="5792788"/>
            <a:ext cx="6213475" cy="398780"/>
          </a:xfrm>
          <a:prstGeom prst="rect">
            <a:avLst/>
          </a:prstGeom>
          <a:noFill/>
        </p:spPr>
        <p:txBody>
          <a:bodyPr wrap="square" rtlCol="0" anchor="ctr" anchorCtr="1">
            <a:spAutoFit/>
          </a:bodyPr>
          <a:p>
            <a:r>
              <a:rPr lang="en-US" altLang="zh-CN" sz="2000" dirty="0" smtClean="0">
                <a:latin typeface="Times New Roman" panose="02020503050405090304" pitchFamily="18" charset="0"/>
                <a:ea typeface="標楷體" pitchFamily="65" charset="-120"/>
                <a:cs typeface="Times New Roman" panose="02020503050405090304" pitchFamily="18" charset="0"/>
              </a:rPr>
              <a:t>Figure 13: Impact of partitioning strategies on LoCoMo</a:t>
            </a:r>
            <a:endParaRPr lang="en-US" altLang="zh-CN" sz="2000" dirty="0" smtClean="0">
              <a:latin typeface="Times New Roman" panose="02020503050405090304" pitchFamily="18" charset="0"/>
              <a:ea typeface="標楷體" pitchFamily="65" charset="-120"/>
              <a:cs typeface="Times New Roman" panose="02020503050405090304" pitchFamily="18" charset="0"/>
            </a:endParaRPr>
          </a:p>
        </p:txBody>
      </p:sp>
      <p:pic>
        <p:nvPicPr>
          <p:cNvPr id="7" name="图片 6"/>
          <p:cNvPicPr>
            <a:picLocks noChangeAspect="1"/>
          </p:cNvPicPr>
          <p:nvPr/>
        </p:nvPicPr>
        <p:blipFill>
          <a:blip r:embed="rId1"/>
          <a:stretch>
            <a:fillRect/>
          </a:stretch>
        </p:blipFill>
        <p:spPr>
          <a:xfrm>
            <a:off x="487045" y="4156075"/>
            <a:ext cx="5179695" cy="1869440"/>
          </a:xfrm>
          <a:prstGeom prst="rect">
            <a:avLst/>
          </a:prstGeom>
        </p:spPr>
      </p:pic>
      <p:sp>
        <p:nvSpPr>
          <p:cNvPr id="8" name="文本框 7"/>
          <p:cNvSpPr txBox="1"/>
          <p:nvPr/>
        </p:nvSpPr>
        <p:spPr>
          <a:xfrm>
            <a:off x="0" y="3756978"/>
            <a:ext cx="6426835" cy="398780"/>
          </a:xfrm>
          <a:prstGeom prst="rect">
            <a:avLst/>
          </a:prstGeom>
          <a:noFill/>
        </p:spPr>
        <p:txBody>
          <a:bodyPr wrap="square" rtlCol="0" anchor="ctr" anchorCtr="1">
            <a:spAutoFit/>
          </a:bodyPr>
          <a:p>
            <a:r>
              <a:rPr lang="en-US" altLang="zh-CN" sz="2000" dirty="0" smtClean="0">
                <a:latin typeface="Times New Roman" panose="02020503050405090304" pitchFamily="18" charset="0"/>
                <a:ea typeface="標楷體" pitchFamily="65" charset="-120"/>
                <a:cs typeface="Times New Roman" panose="02020503050405090304" pitchFamily="18" charset="0"/>
              </a:rPr>
              <a:t>Table 5: Efficiency comparison on the LoCoMo dataset</a:t>
            </a:r>
            <a:endParaRPr lang="en-US" altLang="zh-CN" sz="2000" dirty="0" smtClean="0">
              <a:latin typeface="Times New Roman" panose="02020503050405090304" pitchFamily="18" charset="0"/>
              <a:ea typeface="標楷體" pitchFamily="65" charset="-120"/>
              <a:cs typeface="Times New Roman" panose="02020503050405090304" pitchFamily="18" charset="0"/>
            </a:endParaRPr>
          </a:p>
        </p:txBody>
      </p:sp>
      <p:pic>
        <p:nvPicPr>
          <p:cNvPr id="2" name="图片 1"/>
          <p:cNvPicPr>
            <a:picLocks noChangeAspect="1"/>
          </p:cNvPicPr>
          <p:nvPr/>
        </p:nvPicPr>
        <p:blipFill>
          <a:blip r:embed="rId2"/>
          <a:stretch>
            <a:fillRect/>
          </a:stretch>
        </p:blipFill>
        <p:spPr>
          <a:xfrm>
            <a:off x="6789420" y="1046480"/>
            <a:ext cx="4961255" cy="2171065"/>
          </a:xfrm>
          <a:prstGeom prst="rect">
            <a:avLst/>
          </a:prstGeom>
        </p:spPr>
      </p:pic>
      <p:sp>
        <p:nvSpPr>
          <p:cNvPr id="10" name="文本框 9"/>
          <p:cNvSpPr txBox="1"/>
          <p:nvPr/>
        </p:nvSpPr>
        <p:spPr>
          <a:xfrm>
            <a:off x="7310755" y="3168968"/>
            <a:ext cx="4064000" cy="306705"/>
          </a:xfrm>
          <a:prstGeom prst="rect">
            <a:avLst/>
          </a:prstGeom>
          <a:noFill/>
        </p:spPr>
        <p:txBody>
          <a:bodyPr wrap="square" rtlCol="0" anchor="ctr" anchorCtr="1">
            <a:spAutoFit/>
          </a:bodyPr>
          <a:p>
            <a:r>
              <a:rPr lang="en-US" altLang="zh-CN" sz="1400" dirty="0" smtClean="0">
                <a:latin typeface="Times New Roman" panose="02020503050405090304" pitchFamily="18" charset="0"/>
                <a:ea typeface="標楷體" pitchFamily="65" charset="-120"/>
                <a:cs typeface="Times New Roman" panose="02020503050405090304" pitchFamily="18" charset="0"/>
              </a:rPr>
              <a:t>(a) F1</a:t>
            </a:r>
            <a:endParaRPr lang="en-US" altLang="zh-CN" sz="1400" dirty="0" smtClean="0">
              <a:latin typeface="Times New Roman" panose="02020503050405090304" pitchFamily="18" charset="0"/>
              <a:ea typeface="標楷體" pitchFamily="65" charset="-120"/>
              <a:cs typeface="Times New Roman" panose="02020503050405090304" pitchFamily="18" charset="0"/>
            </a:endParaRPr>
          </a:p>
        </p:txBody>
      </p:sp>
      <p:pic>
        <p:nvPicPr>
          <p:cNvPr id="11" name="图片 10"/>
          <p:cNvPicPr>
            <a:picLocks noChangeAspect="1"/>
          </p:cNvPicPr>
          <p:nvPr/>
        </p:nvPicPr>
        <p:blipFill>
          <a:blip r:embed="rId3"/>
          <a:stretch>
            <a:fillRect/>
          </a:stretch>
        </p:blipFill>
        <p:spPr>
          <a:xfrm>
            <a:off x="6789420" y="3414395"/>
            <a:ext cx="4944745" cy="2230120"/>
          </a:xfrm>
          <a:prstGeom prst="rect">
            <a:avLst/>
          </a:prstGeom>
        </p:spPr>
      </p:pic>
      <p:sp>
        <p:nvSpPr>
          <p:cNvPr id="12" name="文本框 11"/>
          <p:cNvSpPr txBox="1"/>
          <p:nvPr/>
        </p:nvSpPr>
        <p:spPr>
          <a:xfrm>
            <a:off x="7310755" y="5571173"/>
            <a:ext cx="4064000" cy="306705"/>
          </a:xfrm>
          <a:prstGeom prst="rect">
            <a:avLst/>
          </a:prstGeom>
          <a:noFill/>
        </p:spPr>
        <p:txBody>
          <a:bodyPr wrap="square" rtlCol="0" anchor="ctr" anchorCtr="1">
            <a:spAutoFit/>
          </a:bodyPr>
          <a:p>
            <a:r>
              <a:rPr lang="en-US" altLang="zh-CN" sz="1400" dirty="0" smtClean="0">
                <a:latin typeface="Times New Roman" panose="02020503050405090304" pitchFamily="18" charset="0"/>
                <a:ea typeface="標楷體" pitchFamily="65" charset="-120"/>
                <a:cs typeface="Times New Roman" panose="02020503050405090304" pitchFamily="18" charset="0"/>
              </a:rPr>
              <a:t>(b) BLEU-1</a:t>
            </a:r>
            <a:endParaRPr lang="en-US" altLang="zh-CN" sz="1400" dirty="0" smtClean="0">
              <a:latin typeface="Times New Roman" panose="02020503050405090304" pitchFamily="18" charset="0"/>
              <a:ea typeface="標楷體" pitchFamily="65" charset="-120"/>
              <a:cs typeface="Times New Roman" panose="0202050305040509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dirty="0"/>
              <a:t>O</a:t>
            </a:r>
            <a:r>
              <a:rPr lang="en-US" altLang="zh-TW" dirty="0"/>
              <a:t>utline</a:t>
            </a:r>
            <a:endParaRPr lang="en-US" altLang="zh-TW" dirty="0"/>
          </a:p>
        </p:txBody>
      </p:sp>
      <p:sp>
        <p:nvSpPr>
          <p:cNvPr id="3" name="內容版面配置區 2"/>
          <p:cNvSpPr>
            <a:spLocks noGrp="1"/>
          </p:cNvSpPr>
          <p:nvPr>
            <p:ph idx="1"/>
          </p:nvPr>
        </p:nvSpPr>
        <p:spPr>
          <a:xfrm>
            <a:off x="1311423" y="1125537"/>
            <a:ext cx="10270977" cy="3560763"/>
          </a:xfrm>
        </p:spPr>
        <p:txBody>
          <a:bodyPr>
            <a:noAutofit/>
          </a:bodyPr>
          <a:lstStyle/>
          <a:p>
            <a:r>
              <a:rPr lang="en-US" altLang="zh-CN" sz="2935" dirty="0">
                <a:latin typeface="Times New Roman Regular" panose="02020503050405090304" charset="0"/>
                <a:cs typeface="Times New Roman Regular" panose="02020503050405090304" charset="0"/>
              </a:rPr>
              <a:t>Introduction						(5 min)</a:t>
            </a:r>
            <a:endParaRPr lang="en-US" altLang="zh-TW" sz="2935" dirty="0">
              <a:latin typeface="Times New Roman Regular" panose="02020503050405090304" charset="0"/>
              <a:cs typeface="Times New Roman Regular" panose="02020503050405090304" charset="0"/>
            </a:endParaRPr>
          </a:p>
          <a:p>
            <a:r>
              <a:rPr lang="en-US" altLang="zh-CN" sz="2935" dirty="0">
                <a:latin typeface="Times New Roman Regular" panose="02020503050405090304" charset="0"/>
                <a:cs typeface="Times New Roman Regular" panose="02020503050405090304" charset="0"/>
              </a:rPr>
              <a:t>Background &amp; Motivation 				(3 min)</a:t>
            </a:r>
            <a:endParaRPr lang="en-US" altLang="zh-CN" sz="2935" dirty="0">
              <a:latin typeface="Times New Roman Regular" panose="02020503050405090304" charset="0"/>
              <a:cs typeface="Times New Roman Regular" panose="02020503050405090304" charset="0"/>
            </a:endParaRPr>
          </a:p>
          <a:p>
            <a:r>
              <a:rPr lang="en-US" altLang="zh-CN" sz="2935" dirty="0">
                <a:latin typeface="Times New Roman Regular" panose="02020503050405090304" charset="0"/>
                <a:cs typeface="Times New Roman Regular" panose="02020503050405090304" charset="0"/>
              </a:rPr>
              <a:t>Proposed Methods &amp; Performance Evaluation (24 min)</a:t>
            </a:r>
            <a:endParaRPr lang="en-US" altLang="zh-CN" sz="2935" dirty="0">
              <a:latin typeface="Times New Roman Regular" panose="02020503050405090304" charset="0"/>
              <a:cs typeface="Times New Roman Regular" panose="02020503050405090304" charset="0"/>
            </a:endParaRPr>
          </a:p>
          <a:p>
            <a:pPr lvl="1"/>
            <a:r>
              <a:rPr lang="en-US" altLang="zh-CN" sz="2400" dirty="0">
                <a:latin typeface="Times New Roman Regular" panose="02020503050405090304" charset="0"/>
                <a:cs typeface="Times New Roman Regular" panose="02020503050405090304" charset="0"/>
                <a:sym typeface="+mn-ea"/>
              </a:rPr>
              <a:t>MemGPT (2024, University of California)</a:t>
            </a:r>
            <a:r>
              <a:rPr lang="en-US" altLang="zh-CN" sz="2400" dirty="0">
                <a:latin typeface="Times New Roman Regular" panose="02020503050405090304" charset="0"/>
                <a:cs typeface="Times New Roman Regular" panose="02020503050405090304" charset="0"/>
                <a:sym typeface="+mn-ea"/>
              </a:rPr>
              <a:t>	</a:t>
            </a:r>
            <a:r>
              <a:rPr lang="en-US" altLang="zh-CN" sz="2400" dirty="0">
                <a:latin typeface="Times New Roman Regular" panose="02020503050405090304" charset="0"/>
                <a:cs typeface="Times New Roman Regular" panose="02020503050405090304" charset="0"/>
                <a:sym typeface="+mn-ea"/>
              </a:rPr>
              <a:t>	(8 min)</a:t>
            </a:r>
            <a:endParaRPr lang="en-US" altLang="zh-CN" sz="2400" dirty="0">
              <a:latin typeface="Times New Roman Regular" panose="02020503050405090304" charset="0"/>
              <a:cs typeface="Times New Roman Regular" panose="02020503050405090304" charset="0"/>
            </a:endParaRPr>
          </a:p>
          <a:p>
            <a:pPr lvl="1"/>
            <a:r>
              <a:rPr lang="en-US" altLang="zh-CN" sz="2400" dirty="0">
                <a:latin typeface="Times New Roman Regular" panose="02020503050405090304" charset="0"/>
                <a:cs typeface="Times New Roman Regular" panose="02020503050405090304" charset="0"/>
                <a:sym typeface="+mn-ea"/>
              </a:rPr>
              <a:t>A-MEM</a:t>
            </a:r>
            <a:r>
              <a:rPr lang="en-US" altLang="zh-CN" sz="2400" dirty="0">
                <a:latin typeface="Times New Roman Regular" panose="02020503050405090304" charset="0"/>
                <a:cs typeface="Times New Roman Regular" panose="02020503050405090304" charset="0"/>
                <a:sym typeface="+mn-ea"/>
              </a:rPr>
              <a:t> (2025, Rutgers University)			(8 min)</a:t>
            </a:r>
            <a:endParaRPr lang="en-US" altLang="zh-CN" sz="2400" dirty="0">
              <a:latin typeface="Times New Roman Regular" panose="02020503050405090304" charset="0"/>
              <a:cs typeface="Times New Roman Regular" panose="02020503050405090304" charset="0"/>
            </a:endParaRPr>
          </a:p>
          <a:p>
            <a:pPr lvl="1"/>
            <a:r>
              <a:rPr lang="en-US" altLang="zh-CN" sz="2400" dirty="0" err="1">
                <a:latin typeface="Times New Roman Regular" panose="02020503050405090304" charset="0"/>
                <a:cs typeface="Times New Roman Regular" panose="02020503050405090304" charset="0"/>
                <a:sym typeface="+mn-ea"/>
              </a:rPr>
              <a:t>GAM (2026, Zhejiang University)</a:t>
            </a:r>
            <a:r>
              <a:rPr lang="en-US" altLang="zh-CN" sz="2400" dirty="0">
                <a:latin typeface="Times New Roman Regular" panose="02020503050405090304" charset="0"/>
                <a:cs typeface="Times New Roman Regular" panose="02020503050405090304" charset="0"/>
                <a:sym typeface="+mn-ea"/>
              </a:rPr>
              <a:t>			(8 min)</a:t>
            </a:r>
            <a:endParaRPr lang="en-US" altLang="zh-CN" sz="2400" dirty="0">
              <a:latin typeface="Times New Roman Regular" panose="02020503050405090304" charset="0"/>
              <a:cs typeface="Times New Roman Regular" panose="02020503050405090304" charset="0"/>
            </a:endParaRPr>
          </a:p>
          <a:p>
            <a:r>
              <a:rPr lang="en-US" altLang="zh-CN" sz="2935" dirty="0">
                <a:solidFill>
                  <a:srgbClr val="FF0000"/>
                </a:solidFill>
                <a:latin typeface="Times New Roman Regular" panose="02020503050405090304" charset="0"/>
                <a:cs typeface="Times New Roman Regular" panose="02020503050405090304" charset="0"/>
              </a:rPr>
              <a:t>Conclusions</a:t>
            </a:r>
            <a:r>
              <a:rPr lang="en-US" altLang="zh-CN" sz="2935" dirty="0">
                <a:latin typeface="Times New Roman Regular" panose="02020503050405090304" charset="0"/>
                <a:cs typeface="Times New Roman Regular" panose="02020503050405090304" charset="0"/>
              </a:rPr>
              <a:t> 						(2 min)</a:t>
            </a:r>
            <a:endParaRPr lang="en-US" altLang="zh-CN" sz="2935" dirty="0">
              <a:latin typeface="Times New Roman Regular" panose="02020503050405090304" charset="0"/>
              <a:cs typeface="Times New Roman Regular" panose="02020503050405090304" charset="0"/>
            </a:endParaRPr>
          </a:p>
          <a:p>
            <a:r>
              <a:rPr lang="en-US" altLang="zh-CN" sz="2935" dirty="0">
                <a:latin typeface="Times New Roman Regular" panose="02020503050405090304" charset="0"/>
                <a:cs typeface="Times New Roman Regular" panose="02020503050405090304" charset="0"/>
              </a:rPr>
              <a:t>Q &amp; A							(2 min)</a:t>
            </a:r>
            <a:endParaRPr lang="en-US" altLang="zh-CN" sz="2935" dirty="0">
              <a:latin typeface="Times New Roman Regular" panose="02020503050405090304" charset="0"/>
              <a:cs typeface="Times New Roman Regular" panose="02020503050405090304"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Conclusions</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2" name="內容版面配置區 2"/>
          <p:cNvSpPr txBox="1"/>
          <p:nvPr/>
        </p:nvSpPr>
        <p:spPr bwMode="auto">
          <a:xfrm>
            <a:off x="434798" y="1150292"/>
            <a:ext cx="11132789" cy="4860764"/>
          </a:xfrm>
          <a:prstGeom prst="rect">
            <a:avLst/>
          </a:prstGeom>
          <a:noFill/>
          <a:ln w="9525">
            <a:noFill/>
            <a:miter lim="800000"/>
          </a:ln>
        </p:spPr>
        <p:txBody>
          <a:bodyPr vert="horz" wrap="square" lIns="91440" tIns="45720" rIns="91440" bIns="45720" numCol="1" anchor="t" anchorCtr="0" compatLnSpc="1">
            <a:noAutofit/>
          </a:bodyPr>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9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anose="020F0502020204030204" pitchFamily="34" charset="0"/>
                <a:ea typeface="標楷體" pitchFamily="65" charset="-120"/>
                <a:cs typeface="Calibri" panose="020F0502020204030204"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anose="020F0502020204030204" pitchFamily="34" charset="0"/>
                <a:ea typeface="標楷體" pitchFamily="65" charset="-120"/>
                <a:cs typeface="Calibri" panose="020F0502020204030204"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anose="020F0502020204030204" pitchFamily="34" charset="0"/>
                <a:ea typeface="標楷體" pitchFamily="65" charset="-120"/>
                <a:cs typeface="Calibri" panose="020F0502020204030204"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a:spcBef>
                <a:spcPts val="0"/>
              </a:spcBef>
            </a:pPr>
            <a:r>
              <a:rPr lang="en-US" altLang="en-GB" sz="2800" dirty="0">
                <a:latin typeface="Times New Roman" panose="02020503050405090304"/>
              </a:rPr>
              <a:t>MemGPT</a:t>
            </a:r>
            <a:endParaRPr lang="en-GB" altLang="zh-CN" sz="2400" dirty="0">
              <a:latin typeface="Times New Roman" panose="02020503050405090304"/>
            </a:endParaRPr>
          </a:p>
          <a:p>
            <a:pPr lvl="1">
              <a:spcBef>
                <a:spcPts val="0"/>
              </a:spcBef>
            </a:pPr>
            <a:r>
              <a:rPr lang="en-US" altLang="en-GB" sz="2200" dirty="0">
                <a:latin typeface="Times New Roman" panose="02020503050405090304"/>
              </a:rPr>
              <a:t>1D text chunks.</a:t>
            </a:r>
            <a:endParaRPr lang="en-GB" altLang="zh-CN" sz="2200" dirty="0">
              <a:latin typeface="Times New Roman" panose="02020503050405090304"/>
            </a:endParaRPr>
          </a:p>
          <a:p>
            <a:pPr lvl="1">
              <a:spcBef>
                <a:spcPts val="0"/>
              </a:spcBef>
            </a:pPr>
            <a:r>
              <a:rPr lang="en-US" altLang="en-GB" sz="2200" dirty="0">
                <a:latin typeface="Times New Roman" panose="02020503050405090304"/>
              </a:rPr>
              <a:t>Provides extended context within the LLM’s limited context window.</a:t>
            </a:r>
            <a:endParaRPr lang="en-GB" altLang="zh-CN" sz="2200" dirty="0">
              <a:latin typeface="Times New Roman" panose="02020503050405090304"/>
            </a:endParaRPr>
          </a:p>
          <a:p>
            <a:pPr>
              <a:spcBef>
                <a:spcPts val="0"/>
              </a:spcBef>
            </a:pPr>
            <a:r>
              <a:rPr lang="en-US" altLang="en-GB" sz="2800" dirty="0">
                <a:latin typeface="Times New Roman" panose="02020503050405090304"/>
              </a:rPr>
              <a:t>A-MEM</a:t>
            </a:r>
            <a:endParaRPr lang="en-GB" altLang="zh-CN" sz="2800" dirty="0">
              <a:latin typeface="Times New Roman" panose="02020503050405090304"/>
            </a:endParaRPr>
          </a:p>
          <a:p>
            <a:pPr lvl="1">
              <a:spcBef>
                <a:spcPts val="0"/>
              </a:spcBef>
            </a:pPr>
            <a:r>
              <a:rPr lang="en-US" altLang="en-GB" sz="2200" dirty="0">
                <a:latin typeface="Times New Roman" panose="02020503050405090304"/>
              </a:rPr>
              <a:t>2D graph-based notes.</a:t>
            </a:r>
            <a:endParaRPr lang="en-GB" altLang="zh-CN" sz="2200" dirty="0">
              <a:latin typeface="Times New Roman" panose="02020503050405090304"/>
            </a:endParaRPr>
          </a:p>
          <a:p>
            <a:pPr lvl="1">
              <a:spcBef>
                <a:spcPts val="0"/>
              </a:spcBef>
            </a:pPr>
            <a:r>
              <a:rPr lang="en-US" altLang="en-GB" sz="2200" dirty="0">
                <a:latin typeface="Times New Roman" panose="02020503050405090304"/>
              </a:rPr>
              <a:t>Enables dynamic memory structuring and operations.</a:t>
            </a:r>
            <a:endParaRPr lang="en-GB" altLang="zh-CN" sz="2200" dirty="0">
              <a:latin typeface="Times New Roman" panose="02020503050405090304"/>
            </a:endParaRPr>
          </a:p>
          <a:p>
            <a:pPr>
              <a:spcBef>
                <a:spcPts val="0"/>
              </a:spcBef>
            </a:pPr>
            <a:r>
              <a:rPr lang="en-US" altLang="en-GB" sz="2800" dirty="0">
                <a:latin typeface="Times New Roman" panose="02020503050405090304"/>
              </a:rPr>
              <a:t>GAM</a:t>
            </a:r>
            <a:endParaRPr lang="en-GB" altLang="zh-CN" sz="2400" dirty="0">
              <a:latin typeface="Times New Roman" panose="02020503050405090304"/>
            </a:endParaRPr>
          </a:p>
          <a:p>
            <a:pPr lvl="1">
              <a:spcBef>
                <a:spcPts val="0"/>
              </a:spcBef>
            </a:pPr>
            <a:r>
              <a:rPr lang="en-US" altLang="en-GB" sz="2200" dirty="0">
                <a:latin typeface="Times New Roman" panose="02020503050405090304"/>
              </a:rPr>
              <a:t>3D hierachical graph memory.</a:t>
            </a:r>
            <a:endParaRPr lang="en-GB" altLang="zh-CN" sz="2200" dirty="0">
              <a:latin typeface="Times New Roman" panose="02020503050405090304"/>
            </a:endParaRPr>
          </a:p>
          <a:p>
            <a:pPr lvl="1">
              <a:spcBef>
                <a:spcPts val="0"/>
              </a:spcBef>
            </a:pPr>
            <a:r>
              <a:rPr lang="en-US" altLang="zh-CN" sz="2200" dirty="0">
                <a:latin typeface="Times New Roman" panose="02020503050405090304"/>
              </a:rPr>
              <a:t>Mitigates the conflict between rapid context perception and stable knowledge retention.</a:t>
            </a:r>
            <a:endParaRPr lang="en-US" altLang="zh-CN" sz="2200" dirty="0">
              <a:latin typeface="Times New Roman" panose="02020503050405090304"/>
            </a:endParaRPr>
          </a:p>
          <a:p>
            <a:pPr>
              <a:spcBef>
                <a:spcPts val="0"/>
              </a:spcBef>
            </a:pPr>
            <a:r>
              <a:rPr lang="en-US" altLang="en-GB" sz="2800" dirty="0">
                <a:latin typeface="Times New Roman" panose="02020503050405090304"/>
              </a:rPr>
              <a:t>Progression: m</a:t>
            </a:r>
            <a:r>
              <a:rPr lang="en-US" altLang="zh-CN" sz="2800" dirty="0">
                <a:latin typeface="Times New Roman" panose="02020503050405090304"/>
              </a:rPr>
              <a:t>emory evolution transitions from linear storage to complex hierarchical systems to enhance long-term reasoning consistency and sophisticated understanding.</a:t>
            </a:r>
            <a:endParaRPr lang="en-US" altLang="zh-CN" sz="2800" dirty="0">
              <a:latin typeface="Times New Roman" panose="02020503050405090304"/>
            </a:endParaRPr>
          </a:p>
          <a:p>
            <a:pPr marL="0" indent="0">
              <a:spcBef>
                <a:spcPts val="0"/>
              </a:spcBef>
              <a:buNone/>
            </a:pPr>
            <a:endParaRPr lang="en-US" altLang="zh-CN" sz="2800" dirty="0">
              <a:latin typeface="Times New Roman" panose="02020503050405090304"/>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dirty="0"/>
              <a:t>O</a:t>
            </a:r>
            <a:r>
              <a:rPr lang="en-US" altLang="zh-TW" dirty="0"/>
              <a:t>utline</a:t>
            </a:r>
            <a:endParaRPr lang="en-US" altLang="zh-TW" dirty="0"/>
          </a:p>
        </p:txBody>
      </p:sp>
      <p:sp>
        <p:nvSpPr>
          <p:cNvPr id="3" name="內容版面配置區 2"/>
          <p:cNvSpPr>
            <a:spLocks noGrp="1"/>
          </p:cNvSpPr>
          <p:nvPr>
            <p:ph idx="1"/>
          </p:nvPr>
        </p:nvSpPr>
        <p:spPr>
          <a:xfrm>
            <a:off x="1311423" y="1125537"/>
            <a:ext cx="10270977" cy="3560763"/>
          </a:xfrm>
        </p:spPr>
        <p:txBody>
          <a:bodyPr>
            <a:noAutofit/>
          </a:bodyPr>
          <a:lstStyle/>
          <a:p>
            <a:r>
              <a:rPr lang="en-US" altLang="zh-CN" sz="2935" dirty="0">
                <a:latin typeface="Times New Roman Regular" panose="02020503050405090304" charset="0"/>
                <a:cs typeface="Times New Roman Regular" panose="02020503050405090304" charset="0"/>
              </a:rPr>
              <a:t>Introduction						(5 min)</a:t>
            </a:r>
            <a:endParaRPr lang="en-US" altLang="zh-TW" sz="2935" dirty="0">
              <a:latin typeface="Times New Roman Regular" panose="02020503050405090304" charset="0"/>
              <a:cs typeface="Times New Roman Regular" panose="02020503050405090304" charset="0"/>
            </a:endParaRPr>
          </a:p>
          <a:p>
            <a:r>
              <a:rPr lang="en-US" altLang="zh-CN" sz="2935" dirty="0">
                <a:latin typeface="Times New Roman Regular" panose="02020503050405090304" charset="0"/>
                <a:cs typeface="Times New Roman Regular" panose="02020503050405090304" charset="0"/>
              </a:rPr>
              <a:t>Background &amp; Motivation 				(3 min)</a:t>
            </a:r>
            <a:endParaRPr lang="en-US" altLang="zh-CN" sz="2935" dirty="0">
              <a:latin typeface="Times New Roman Regular" panose="02020503050405090304" charset="0"/>
              <a:cs typeface="Times New Roman Regular" panose="02020503050405090304" charset="0"/>
            </a:endParaRPr>
          </a:p>
          <a:p>
            <a:r>
              <a:rPr lang="en-US" altLang="zh-CN" sz="2935" dirty="0">
                <a:latin typeface="Times New Roman Regular" panose="02020503050405090304" charset="0"/>
                <a:cs typeface="Times New Roman Regular" panose="02020503050405090304" charset="0"/>
              </a:rPr>
              <a:t>Proposed Methods &amp; Performance Evaluation (24 min)</a:t>
            </a:r>
            <a:endParaRPr lang="en-US" altLang="zh-CN" sz="2935" dirty="0">
              <a:latin typeface="Times New Roman Regular" panose="02020503050405090304" charset="0"/>
              <a:cs typeface="Times New Roman Regular" panose="02020503050405090304" charset="0"/>
            </a:endParaRPr>
          </a:p>
          <a:p>
            <a:pPr lvl="1"/>
            <a:r>
              <a:rPr lang="en-US" altLang="zh-CN" sz="2400" dirty="0">
                <a:latin typeface="Times New Roman Regular" panose="02020503050405090304" charset="0"/>
                <a:cs typeface="Times New Roman Regular" panose="02020503050405090304" charset="0"/>
                <a:sym typeface="+mn-ea"/>
              </a:rPr>
              <a:t>MemGPT (2024, University of California)</a:t>
            </a:r>
            <a:r>
              <a:rPr lang="en-US" altLang="zh-CN" sz="2400" dirty="0">
                <a:latin typeface="Times New Roman Regular" panose="02020503050405090304" charset="0"/>
                <a:cs typeface="Times New Roman Regular" panose="02020503050405090304" charset="0"/>
                <a:sym typeface="+mn-ea"/>
              </a:rPr>
              <a:t>	</a:t>
            </a:r>
            <a:r>
              <a:rPr lang="en-US" altLang="zh-CN" sz="2400" dirty="0">
                <a:latin typeface="Times New Roman Regular" panose="02020503050405090304" charset="0"/>
                <a:cs typeface="Times New Roman Regular" panose="02020503050405090304" charset="0"/>
                <a:sym typeface="+mn-ea"/>
              </a:rPr>
              <a:t>	(8 min)</a:t>
            </a:r>
            <a:endParaRPr lang="en-US" altLang="zh-CN" sz="2400" dirty="0">
              <a:latin typeface="Times New Roman Regular" panose="02020503050405090304" charset="0"/>
              <a:cs typeface="Times New Roman Regular" panose="02020503050405090304" charset="0"/>
            </a:endParaRPr>
          </a:p>
          <a:p>
            <a:pPr lvl="1"/>
            <a:r>
              <a:rPr lang="en-US" altLang="zh-CN" sz="2400" dirty="0">
                <a:latin typeface="Times New Roman Regular" panose="02020503050405090304" charset="0"/>
                <a:cs typeface="Times New Roman Regular" panose="02020503050405090304" charset="0"/>
                <a:sym typeface="+mn-ea"/>
              </a:rPr>
              <a:t>A-MEM</a:t>
            </a:r>
            <a:r>
              <a:rPr lang="en-US" altLang="zh-CN" sz="2400" dirty="0">
                <a:latin typeface="Times New Roman Regular" panose="02020503050405090304" charset="0"/>
                <a:cs typeface="Times New Roman Regular" panose="02020503050405090304" charset="0"/>
                <a:sym typeface="+mn-ea"/>
              </a:rPr>
              <a:t> (2025, Rutgers University)			(8 min)</a:t>
            </a:r>
            <a:endParaRPr lang="en-US" altLang="zh-CN" sz="2400" dirty="0">
              <a:latin typeface="Times New Roman Regular" panose="02020503050405090304" charset="0"/>
              <a:cs typeface="Times New Roman Regular" panose="02020503050405090304" charset="0"/>
            </a:endParaRPr>
          </a:p>
          <a:p>
            <a:pPr lvl="1"/>
            <a:r>
              <a:rPr lang="en-US" altLang="zh-CN" sz="2400" dirty="0" err="1">
                <a:latin typeface="Times New Roman Regular" panose="02020503050405090304" charset="0"/>
                <a:cs typeface="Times New Roman Regular" panose="02020503050405090304" charset="0"/>
                <a:sym typeface="+mn-ea"/>
              </a:rPr>
              <a:t>GAM (2026, Zhejiang University)</a:t>
            </a:r>
            <a:r>
              <a:rPr lang="en-US" altLang="zh-CN" sz="2400" dirty="0">
                <a:latin typeface="Times New Roman Regular" panose="02020503050405090304" charset="0"/>
                <a:cs typeface="Times New Roman Regular" panose="02020503050405090304" charset="0"/>
                <a:sym typeface="+mn-ea"/>
              </a:rPr>
              <a:t>			(8 min)</a:t>
            </a:r>
            <a:endParaRPr lang="en-US" altLang="zh-CN" sz="2400" dirty="0">
              <a:latin typeface="Times New Roman Regular" panose="02020503050405090304" charset="0"/>
              <a:cs typeface="Times New Roman Regular" panose="02020503050405090304" charset="0"/>
            </a:endParaRPr>
          </a:p>
          <a:p>
            <a:r>
              <a:rPr lang="en-US" altLang="zh-CN" sz="2935" dirty="0">
                <a:solidFill>
                  <a:schemeClr val="tx1"/>
                </a:solidFill>
                <a:latin typeface="Times New Roman Regular" panose="02020503050405090304" charset="0"/>
                <a:cs typeface="Times New Roman Regular" panose="02020503050405090304" charset="0"/>
              </a:rPr>
              <a:t>Conclusions </a:t>
            </a:r>
            <a:r>
              <a:rPr lang="en-US" altLang="zh-CN" sz="2935" dirty="0">
                <a:latin typeface="Times New Roman Regular" panose="02020503050405090304" charset="0"/>
                <a:cs typeface="Times New Roman Regular" panose="02020503050405090304" charset="0"/>
              </a:rPr>
              <a:t>						(2 min)</a:t>
            </a:r>
            <a:endParaRPr lang="en-US" altLang="zh-CN" sz="2935" dirty="0">
              <a:latin typeface="Times New Roman Regular" panose="02020503050405090304" charset="0"/>
              <a:cs typeface="Times New Roman Regular" panose="02020503050405090304" charset="0"/>
            </a:endParaRPr>
          </a:p>
          <a:p>
            <a:r>
              <a:rPr lang="en-US" altLang="zh-CN" sz="2935" dirty="0">
                <a:solidFill>
                  <a:srgbClr val="FF0000"/>
                </a:solidFill>
                <a:latin typeface="Times New Roman Regular" panose="02020503050405090304" charset="0"/>
                <a:cs typeface="Times New Roman Regular" panose="02020503050405090304" charset="0"/>
              </a:rPr>
              <a:t>Q &amp; A</a:t>
            </a:r>
            <a:r>
              <a:rPr lang="en-US" altLang="zh-CN" sz="2935" dirty="0">
                <a:latin typeface="Times New Roman Regular" panose="02020503050405090304" charset="0"/>
                <a:cs typeface="Times New Roman Regular" panose="02020503050405090304" charset="0"/>
              </a:rPr>
              <a:t>							(2 min)</a:t>
            </a:r>
            <a:endParaRPr lang="en-US" altLang="zh-CN" sz="2935" dirty="0">
              <a:latin typeface="Times New Roman Regular" panose="02020503050405090304" charset="0"/>
              <a:cs typeface="Times New Roman Regular" panose="02020503050405090304"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Tree>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en-US" altLang="zh-TW" sz="1800" b="1" i="0" u="none" strike="noStrike" cap="none" normalizeH="0" baseline="0" smtClean="0">
            <a:ln>
              <a:noFill/>
            </a:ln>
            <a:solidFill>
              <a:schemeClr val="tx1"/>
            </a:solidFill>
            <a:effectLst/>
            <a:latin typeface="Arial" panose="020B0604020202090204" pitchFamily="34" charset="0"/>
            <a:ea typeface="PMingLiU"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en-US" altLang="zh-TW" sz="1800" b="1" i="0" u="none" strike="noStrike" cap="none" normalizeH="0" baseline="0" smtClean="0">
            <a:ln>
              <a:noFill/>
            </a:ln>
            <a:solidFill>
              <a:schemeClr val="tx1"/>
            </a:solidFill>
            <a:effectLst/>
            <a:latin typeface="Arial" panose="020B0604020202090204" pitchFamily="34" charset="0"/>
            <a:ea typeface="PMingLiU" pitchFamily="18" charset="-120"/>
          </a:defRPr>
        </a:defPPr>
      </a:lstStyle>
    </a:lnDef>
    <a:txDef>
      <a:spPr>
        <a:noFill/>
      </a:spPr>
      <a:bodyPr wrap="none" rtlCol="0" anchor="ctr" anchorCtr="1">
        <a:spAutoFit/>
      </a:bodyPr>
      <a:lstStyle>
        <a:defPPr>
          <a:defRPr dirty="0" smtClean="0">
            <a:ea typeface="標楷體" pitchFamily="65" charset="-120"/>
            <a:cs typeface="Calibri" panose="020F0502020204030204"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訂設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9064</Words>
  <Application>WPS 演示</Application>
  <PresentationFormat>宽屏</PresentationFormat>
  <Paragraphs>401</Paragraphs>
  <Slides>33</Slides>
  <Notes>33</Notes>
  <HiddenSlides>0</HiddenSlides>
  <MMClips>0</MMClips>
  <ScaleCrop>false</ScaleCrop>
  <HeadingPairs>
    <vt:vector size="6" baseType="variant">
      <vt:variant>
        <vt:lpstr>已用的字体</vt:lpstr>
      </vt:variant>
      <vt:variant>
        <vt:i4>30</vt:i4>
      </vt:variant>
      <vt:variant>
        <vt:lpstr>主题</vt:lpstr>
      </vt:variant>
      <vt:variant>
        <vt:i4>2</vt:i4>
      </vt:variant>
      <vt:variant>
        <vt:lpstr>幻灯片标题</vt:lpstr>
      </vt:variant>
      <vt:variant>
        <vt:i4>33</vt:i4>
      </vt:variant>
    </vt:vector>
  </HeadingPairs>
  <TitlesOfParts>
    <vt:vector size="65" baseType="lpstr">
      <vt:lpstr>Arial</vt:lpstr>
      <vt:lpstr>宋体</vt:lpstr>
      <vt:lpstr>Wingdings</vt:lpstr>
      <vt:lpstr>PMingLiU</vt:lpstr>
      <vt:lpstr>宋体-繁</vt:lpstr>
      <vt:lpstr>標楷體</vt:lpstr>
      <vt:lpstr>汉仪楷体简</vt:lpstr>
      <vt:lpstr>Calibri</vt:lpstr>
      <vt:lpstr>Helvetica Neue</vt:lpstr>
      <vt:lpstr>楷体</vt:lpstr>
      <vt:lpstr>Times New Roman</vt:lpstr>
      <vt:lpstr>等线</vt:lpstr>
      <vt:lpstr>MS Sans Serif</vt:lpstr>
      <vt:lpstr>Times New Roman Regular</vt:lpstr>
      <vt:lpstr>微软雅黑</vt:lpstr>
      <vt:lpstr>汉仪旗黑</vt:lpstr>
      <vt:lpstr>Thonburi</vt:lpstr>
      <vt:lpstr>汉仪楷体KW</vt:lpstr>
      <vt:lpstr>汉仪中等线KW</vt:lpstr>
      <vt:lpstr>PMingLiU</vt:lpstr>
      <vt:lpstr>Calibri Light</vt:lpstr>
      <vt:lpstr>汉仪书宋二KW</vt:lpstr>
      <vt:lpstr>宋体</vt:lpstr>
      <vt:lpstr>Arial Unicode MS</vt:lpstr>
      <vt:lpstr>Times New Roman</vt:lpstr>
      <vt:lpstr>MS Sans Serif</vt:lpstr>
      <vt:lpstr>標楷體</vt:lpstr>
      <vt:lpstr>等线</vt:lpstr>
      <vt:lpstr>苹方-简</vt:lpstr>
      <vt:lpstr>楷体</vt:lpstr>
      <vt:lpstr>NTHU UniCloud</vt:lpstr>
      <vt:lpstr>自訂設計</vt:lpstr>
      <vt:lpstr>From Storage to Intelligence: The Evolution of Agent Memory Management   2026.04.28</vt:lpstr>
      <vt:lpstr>Outline</vt:lpstr>
      <vt:lpstr>Outline</vt:lpstr>
      <vt:lpstr>Introduction – Agent Memory (1/3)</vt:lpstr>
      <vt:lpstr>Introduction – Agent Memory (2/3)</vt:lpstr>
      <vt:lpstr>Introduction – Agent Memory (3/3)</vt:lpstr>
      <vt:lpstr>Outline</vt:lpstr>
      <vt:lpstr>Background &amp; Motivation (1/2)</vt:lpstr>
      <vt:lpstr>Background &amp; Motivation (2/2)</vt:lpstr>
      <vt:lpstr>Outline</vt:lpstr>
      <vt:lpstr>MemGPT (1/5)</vt:lpstr>
      <vt:lpstr>MemGPT (2/5)</vt:lpstr>
      <vt:lpstr>MemGPT (3/5)</vt:lpstr>
      <vt:lpstr>MemGPT (4/5)</vt:lpstr>
      <vt:lpstr>MemGPT (5/5)</vt:lpstr>
      <vt:lpstr>Outline</vt:lpstr>
      <vt:lpstr>A-MEM (1/7)</vt:lpstr>
      <vt:lpstr>A-MEM (2/7)</vt:lpstr>
      <vt:lpstr>A-MEM (3/7)</vt:lpstr>
      <vt:lpstr>A-MEM (4/7)</vt:lpstr>
      <vt:lpstr>A-MEM (5/7)</vt:lpstr>
      <vt:lpstr>A-MEM (6/7)</vt:lpstr>
      <vt:lpstr>A-MEM (7/7)</vt:lpstr>
      <vt:lpstr>Outline</vt:lpstr>
      <vt:lpstr>GAM (1/6)</vt:lpstr>
      <vt:lpstr>GAM (2/6)</vt:lpstr>
      <vt:lpstr>GAM (3/6)</vt:lpstr>
      <vt:lpstr>GAM (4/6)</vt:lpstr>
      <vt:lpstr>GAM (5/6)</vt:lpstr>
      <vt:lpstr>GAM (6/6)</vt:lpstr>
      <vt:lpstr>Outline</vt:lpstr>
      <vt:lpstr>Conclusions</vt:lpstr>
      <vt:lpstr>Outline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香港中文大学(深圳)数据科学院 School of Data Science</dc:title>
  <dc:creator>Windows 使用者</dc:creator>
  <cp:lastModifiedBy>Shepherd</cp:lastModifiedBy>
  <cp:revision>1262</cp:revision>
  <dcterms:created xsi:type="dcterms:W3CDTF">2026-04-28T10:07:31Z</dcterms:created>
  <dcterms:modified xsi:type="dcterms:W3CDTF">2026-04-28T10:07:31Z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A561A126A15842E1BD980FEE41235EB1_12</vt:lpwstr>
  </property>
  <property fmtid="{D5CDD505-2E9C-101B-9397-08002B2CF9AE}" pid="3" name="KSOProductBuildVer">
    <vt:lpwstr>2052-12.1.25867.25867</vt:lpwstr>
  </property>
</Properties>
</file>