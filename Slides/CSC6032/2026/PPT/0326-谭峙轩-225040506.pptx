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22"/>
  </p:notesMasterIdLst>
  <p:sldIdLst>
    <p:sldId id="519" r:id="rId3"/>
    <p:sldId id="520" r:id="rId4"/>
    <p:sldId id="540" r:id="rId5"/>
    <p:sldId id="521" r:id="rId6"/>
    <p:sldId id="522" r:id="rId7"/>
    <p:sldId id="523" r:id="rId8"/>
    <p:sldId id="524" r:id="rId9"/>
    <p:sldId id="525" r:id="rId10"/>
    <p:sldId id="526" r:id="rId11"/>
    <p:sldId id="527" r:id="rId12"/>
    <p:sldId id="528" r:id="rId13"/>
    <p:sldId id="529" r:id="rId14"/>
    <p:sldId id="530" r:id="rId15"/>
    <p:sldId id="532" r:id="rId16"/>
    <p:sldId id="533" r:id="rId17"/>
    <p:sldId id="541" r:id="rId18"/>
    <p:sldId id="534" r:id="rId19"/>
    <p:sldId id="535" r:id="rId20"/>
    <p:sldId id="539"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33" autoAdjust="0"/>
    <p:restoredTop sz="92937" autoAdjust="0"/>
  </p:normalViewPr>
  <p:slideViewPr>
    <p:cSldViewPr snapToGrid="0">
      <p:cViewPr varScale="1">
        <p:scale>
          <a:sx n="58" d="100"/>
          <a:sy n="58" d="100"/>
        </p:scale>
        <p:origin x="12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"Hello everyone. Today I want to share  3 on the evolution of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we evaluate agents, we usually focus on their reasoning capabilities, tool use, or task completion rates. But I think there is another important dimension: Memory. A truly capable agent shouldn't just be smart in a single turn. It needs to remember past interactions, structure that experience into reusable knowledge, and actually keep improving after deployment.</a:t>
            </a:r>
          </a:p>
          <a:p>
            <a:r>
              <a:rPr lang="en-US" sz="1200" b="0" i="0" kern="1200" dirty="0">
                <a:solidFill>
                  <a:schemeClr val="tx1"/>
                </a:solidFill>
                <a:effectLst/>
                <a:latin typeface="+mn-lt"/>
                <a:ea typeface="+mn-ea"/>
                <a:cs typeface="+mn-cs"/>
              </a:rPr>
              <a:t>So, the key message I want to set up from the beginning is this: the next frontier for AI agents is not just about better reasoning; it is about moving from limited context windows to continuous, self-improving systems."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 probably know this from using AI agents like ChatGPT, Gemini, or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 in practice: when the context is still short, they often look very smart. But once you keep input more and more information, they can start to get confused, lose focus, and behave in weird ways. They get lost in the long history, and the really important information is no longer used properly. That is why we need to manage their memory, instead of just making the context longer and longer.</a:t>
            </a:r>
          </a:p>
          <a:p>
            <a:r>
              <a:rPr lang="en-US" sz="1200" b="0" i="0" kern="1200" dirty="0">
                <a:solidFill>
                  <a:schemeClr val="tx1"/>
                </a:solidFill>
                <a:effectLst/>
                <a:latin typeface="+mn-lt"/>
                <a:ea typeface="+mn-ea"/>
                <a:cs typeface="+mn-cs"/>
              </a:rPr>
              <a:t>Here is the three paper I going to talk today,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we will look at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which focus on the immediate memory management problem.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we'll move to Agentic Context Engineering (ACE), which prevents context collapse by turning log experience into a structured, evolving playbook.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Third, I will present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 which is use the </a:t>
            </a:r>
            <a:r>
              <a:rPr lang="zh-CN" altLang="en-US" sz="1200" b="0" i="0" kern="1200" dirty="0">
                <a:solidFill>
                  <a:schemeClr val="tx1"/>
                </a:solidFill>
                <a:effectLst/>
                <a:latin typeface="+mn-lt"/>
                <a:ea typeface="+mn-ea"/>
                <a:cs typeface="+mn-cs"/>
              </a:rPr>
              <a:t>用户 </a:t>
            </a:r>
            <a:r>
              <a:rPr lang="en-US" sz="1200" b="0" i="0" kern="1200" dirty="0" err="1">
                <a:solidFill>
                  <a:schemeClr val="tx1"/>
                </a:solidFill>
                <a:effectLst/>
                <a:latin typeface="+mn-lt"/>
                <a:ea typeface="+mn-ea"/>
                <a:cs typeface="+mn-cs"/>
              </a:rPr>
              <a:t>trajectory，to</a:t>
            </a:r>
            <a:r>
              <a:rPr lang="en-US" sz="1200" b="0" i="0" kern="1200" dirty="0">
                <a:solidFill>
                  <a:schemeClr val="tx1"/>
                </a:solidFill>
                <a:effectLst/>
                <a:latin typeface="+mn-lt"/>
                <a:ea typeface="+mn-ea"/>
                <a:cs typeface="+mn-cs"/>
              </a:rPr>
              <a:t> train RL turn the daily talk to training signal</a:t>
            </a:r>
          </a:p>
          <a:p>
            <a:r>
              <a:rPr lang="en-US" sz="1200" b="0" i="0" kern="1200" dirty="0">
                <a:solidFill>
                  <a:schemeClr val="tx1"/>
                </a:solidFill>
                <a:effectLst/>
                <a:latin typeface="+mn-lt"/>
                <a:ea typeface="+mn-ea"/>
                <a:cs typeface="+mn-cs"/>
              </a:rPr>
              <a:t>Finally, we will conclusions."</a:t>
            </a:r>
          </a:p>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a:t>
            </a:fld>
            <a:endParaRPr lang="zh-TW" altLang="en-US"/>
          </a:p>
        </p:txBody>
      </p:sp>
    </p:spTree>
    <p:extLst>
      <p:ext uri="{BB962C8B-B14F-4D97-AF65-F5344CB8AC3E}">
        <p14:creationId xmlns:p14="http://schemas.microsoft.com/office/powerpoint/2010/main" val="2978680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motivate this talk, let us start from a simple observation.</a:t>
            </a:r>
          </a:p>
          <a:p>
            <a:r>
              <a:rPr lang="en-US" sz="1200" b="0" i="0" kern="1200" dirty="0">
                <a:solidFill>
                  <a:schemeClr val="tx1"/>
                </a:solidFill>
                <a:effectLst/>
                <a:latin typeface="+mn-lt"/>
                <a:ea typeface="+mn-ea"/>
                <a:cs typeface="+mn-cs"/>
              </a:rPr>
              <a:t>As agents are used in longer and more realistic settings, they no longer face only one-step tasks. They interact repeatedly with users, tools, environments, and external systems. That means they accumulate more and more experience over time.</a:t>
            </a:r>
          </a:p>
          <a:p>
            <a:r>
              <a:rPr lang="en-US" sz="1200" b="0" i="0" kern="1200" dirty="0">
                <a:solidFill>
                  <a:schemeClr val="tx1"/>
                </a:solidFill>
                <a:effectLst/>
                <a:latin typeface="+mn-lt"/>
                <a:ea typeface="+mn-ea"/>
                <a:cs typeface="+mn-cs"/>
              </a:rPr>
              <a:t>Once that happens, three questions become central.</a:t>
            </a:r>
          </a:p>
          <a:p>
            <a:r>
              <a:rPr lang="en-US" sz="1200" b="0" i="0" kern="1200" dirty="0">
                <a:solidFill>
                  <a:schemeClr val="tx1"/>
                </a:solidFill>
                <a:effectLst/>
                <a:latin typeface="+mn-lt"/>
                <a:ea typeface="+mn-ea"/>
                <a:cs typeface="+mn-cs"/>
              </a:rPr>
              <a:t>First, how should an agent remember useful information beyond a limited context window?</a:t>
            </a:r>
          </a:p>
          <a:p>
            <a:r>
              <a:rPr lang="en-US" sz="1200" b="0" i="0" kern="1200" dirty="0">
                <a:solidFill>
                  <a:schemeClr val="tx1"/>
                </a:solidFill>
                <a:effectLst/>
                <a:latin typeface="+mn-lt"/>
                <a:ea typeface="+mn-ea"/>
                <a:cs typeface="+mn-cs"/>
              </a:rPr>
              <a:t>Second, even if the agent can store information, how should it organize that information into something actually useful for future decisions, instead of just accumulating history?</a:t>
            </a:r>
          </a:p>
          <a:p>
            <a:r>
              <a:rPr lang="en-US" sz="1200" b="0" i="0" kern="1200" dirty="0">
                <a:solidFill>
                  <a:schemeClr val="tx1"/>
                </a:solidFill>
                <a:effectLst/>
                <a:latin typeface="+mn-lt"/>
                <a:ea typeface="+mn-ea"/>
                <a:cs typeface="+mn-cs"/>
              </a:rPr>
              <a:t>And third, can the agent go one step further and actually improve through use, rather than remaining static after deployment?</a:t>
            </a:r>
          </a:p>
          <a:p>
            <a:r>
              <a:rPr lang="en-US" sz="1200" b="0" i="0" kern="1200" dirty="0">
                <a:solidFill>
                  <a:schemeClr val="tx1"/>
                </a:solidFill>
                <a:effectLst/>
                <a:latin typeface="+mn-lt"/>
                <a:ea typeface="+mn-ea"/>
                <a:cs typeface="+mn-cs"/>
              </a:rPr>
              <a:t>This is why I chose these three papers.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addresses memory, ACE addresses context evolution, and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 addresses learning from interaction.</a:t>
            </a:r>
          </a:p>
          <a:p>
            <a:r>
              <a:rPr lang="en-US" sz="1200" b="0" i="0" kern="1200" dirty="0">
                <a:solidFill>
                  <a:schemeClr val="tx1"/>
                </a:solidFill>
                <a:effectLst/>
                <a:latin typeface="+mn-lt"/>
                <a:ea typeface="+mn-ea"/>
                <a:cs typeface="+mn-cs"/>
              </a:rPr>
              <a:t>So the roadmap is very simple: first memory, then context evolution, and finally self-improvement through RL.”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I move to the first paper,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main question here is very simple: how can an LLM-based agent handle long-term information when its active context window is limited?</a:t>
            </a:r>
          </a:p>
          <a:p>
            <a:r>
              <a:rPr lang="en-US" sz="1200" b="0" i="0" kern="1200" dirty="0">
                <a:solidFill>
                  <a:schemeClr val="tx1"/>
                </a:solidFill>
                <a:effectLst/>
                <a:latin typeface="+mn-lt"/>
                <a:ea typeface="+mn-ea"/>
                <a:cs typeface="+mn-cs"/>
              </a:rPr>
              <a:t>For long-horizon tasks, the bottleneck is often not only reasoning ability. It is also memory. A standard LLM cannot keep all relevant history visible forever, because the active context is finite.</a:t>
            </a:r>
          </a:p>
          <a:p>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addresses this by treating memory as a system design problem. Instead of putting everything into one flat prompt, it separates memory into different layers.</a:t>
            </a:r>
          </a:p>
          <a:p>
            <a:r>
              <a:rPr lang="en-US" sz="1200" b="0" i="0" kern="1200" dirty="0">
                <a:solidFill>
                  <a:schemeClr val="tx1"/>
                </a:solidFill>
                <a:effectLst/>
                <a:latin typeface="+mn-lt"/>
                <a:ea typeface="+mn-ea"/>
                <a:cs typeface="+mn-cs"/>
              </a:rPr>
              <a:t>"To understand how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handles this, let's look at how it splits the finite context window into distinct memory tiers.</a:t>
            </a:r>
          </a:p>
          <a:p>
            <a:r>
              <a:rPr lang="en-US" sz="1200" b="0" i="0" kern="1200" dirty="0">
                <a:solidFill>
                  <a:schemeClr val="tx1"/>
                </a:solidFill>
                <a:effectLst/>
                <a:latin typeface="+mn-lt"/>
                <a:ea typeface="+mn-ea"/>
                <a:cs typeface="+mn-cs"/>
              </a:rPr>
              <a:t>Inside the active prompt, there are three main blocks. First, the System Instructions, which are static, read-only rules. Next is the Working Context, a read-write scratchpad where the model can actively store variables and current thoughts. Finally, the FIFO Queue holds the most recent messages.</a:t>
            </a:r>
          </a:p>
          <a:p>
            <a:r>
              <a:rPr lang="en-US" sz="1200" b="0" i="0" kern="1200" dirty="0">
                <a:solidFill>
                  <a:schemeClr val="tx1"/>
                </a:solidFill>
                <a:effectLst/>
                <a:latin typeface="+mn-lt"/>
                <a:ea typeface="+mn-ea"/>
                <a:cs typeface="+mn-cs"/>
              </a:rPr>
              <a:t>However, we know that if we just let this active window experience context bloat, the model's reasoning performance will drop compared to having clean, information.</a:t>
            </a:r>
          </a:p>
          <a:p>
            <a:r>
              <a:rPr lang="en-US" sz="1200" b="0" i="0" kern="1200" dirty="0">
                <a:solidFill>
                  <a:schemeClr val="tx1"/>
                </a:solidFill>
                <a:effectLst/>
                <a:latin typeface="+mn-lt"/>
                <a:ea typeface="+mn-ea"/>
                <a:cs typeface="+mn-cs"/>
              </a:rPr>
              <a:t>So,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provides a way out. When the queue gets full, the agent uses the Queue Manager and Function Executor to actively page data out of the prompt.</a:t>
            </a:r>
          </a:p>
          <a:p>
            <a:r>
              <a:rPr lang="en-US" sz="1200" b="0" i="0" kern="1200" dirty="0">
                <a:solidFill>
                  <a:schemeClr val="tx1"/>
                </a:solidFill>
                <a:effectLst/>
                <a:latin typeface="+mn-lt"/>
                <a:ea typeface="+mn-ea"/>
                <a:cs typeface="+mn-cs"/>
              </a:rPr>
              <a:t>It moves this data into long-term databases: Archival Storage for general facts, and Recall Storage for older conversation history. The agent can explicitly search and retrieve from these external workspaces only when necessary.</a:t>
            </a:r>
          </a:p>
          <a:p>
            <a:r>
              <a:rPr lang="en-US" sz="1200" b="0" i="0" kern="1200" dirty="0">
                <a:solidFill>
                  <a:schemeClr val="tx1"/>
                </a:solidFill>
                <a:effectLst/>
                <a:latin typeface="+mn-lt"/>
                <a:ea typeface="+mn-ea"/>
                <a:cs typeface="+mn-cs"/>
              </a:rPr>
              <a:t>So, the key contribution of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is not simply adding more text. It is introducing, operating-system-like memory management for LLM agents."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are two examples showing how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handles memory in practice.</a:t>
            </a:r>
          </a:p>
          <a:p>
            <a:r>
              <a:rPr lang="en-US" sz="1200" b="0" i="0" kern="1200" dirty="0">
                <a:solidFill>
                  <a:schemeClr val="tx1"/>
                </a:solidFill>
                <a:effectLst/>
                <a:latin typeface="+mn-lt"/>
                <a:ea typeface="+mn-ea"/>
                <a:cs typeface="+mn-cs"/>
              </a:rPr>
              <a:t>Let's look at the first scenario on February 7th. The user mentions it's her birthday and her boyfriend baked her a cake. From the user's perspective, the agent simply replies, 'Oh wow, happy birthday!'</a:t>
            </a:r>
          </a:p>
          <a:p>
            <a:r>
              <a:rPr lang="en-US" sz="1200" b="0" i="0" kern="1200" dirty="0">
                <a:solidFill>
                  <a:schemeClr val="tx1"/>
                </a:solidFill>
                <a:effectLst/>
                <a:latin typeface="+mn-lt"/>
                <a:ea typeface="+mn-ea"/>
                <a:cs typeface="+mn-cs"/>
              </a:rPr>
              <a:t>But what is happening behind the scenes? The agent actively writes down two specific facts into its working context: first, the user's birthday is February 7th, and second, her boyfriend is named James.</a:t>
            </a:r>
          </a:p>
          <a:p>
            <a:r>
              <a:rPr lang="en-US" sz="1200" b="0" i="0" kern="1200" dirty="0">
                <a:solidFill>
                  <a:schemeClr val="tx1"/>
                </a:solidFill>
                <a:effectLst/>
                <a:latin typeface="+mn-lt"/>
                <a:ea typeface="+mn-ea"/>
                <a:cs typeface="+mn-cs"/>
              </a:rPr>
              <a:t>Now, look at what happens on February 14th. The user mentions that she and James broke up. At this point, the agent doesn't just blindly retrieve old memory or append a new. Instead, it actively updates the memory, replacing 'boyfriend' with 'ex-boyfriend'.</a:t>
            </a:r>
          </a:p>
          <a:p>
            <a:r>
              <a:rPr lang="en-US" sz="1200" b="0" i="0" kern="1200" dirty="0">
                <a:solidFill>
                  <a:schemeClr val="tx1"/>
                </a:solidFill>
                <a:effectLst/>
                <a:latin typeface="+mn-lt"/>
                <a:ea typeface="+mn-ea"/>
                <a:cs typeface="+mn-cs"/>
              </a:rPr>
              <a:t>I think this example is crucial because it shows that a true agent memory isn't just a static log. It must be explicit, </a:t>
            </a:r>
            <a:r>
              <a:rPr lang="en-US" sz="1200" b="0" i="0" kern="1200" dirty="0" err="1">
                <a:solidFill>
                  <a:schemeClr val="tx1"/>
                </a:solidFill>
                <a:effectLst/>
                <a:latin typeface="+mn-lt"/>
                <a:ea typeface="+mn-ea"/>
                <a:cs typeface="+mn-cs"/>
              </a:rPr>
              <a:t>queryable</a:t>
            </a:r>
            <a:r>
              <a:rPr lang="en-US" sz="1200" b="0" i="0" kern="1200" dirty="0">
                <a:solidFill>
                  <a:schemeClr val="tx1"/>
                </a:solidFill>
                <a:effectLst/>
                <a:latin typeface="+mn-lt"/>
                <a:ea typeface="+mn-ea"/>
                <a:cs typeface="+mn-cs"/>
              </a:rPr>
              <a:t>, and completely revisable."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does this architecture work well? Let's look at the numbers.</a:t>
            </a:r>
          </a:p>
          <a:p>
            <a:r>
              <a:rPr lang="en-US" sz="1200" b="0" i="0" kern="1200" dirty="0">
                <a:solidFill>
                  <a:schemeClr val="tx1"/>
                </a:solidFill>
                <a:effectLst/>
                <a:latin typeface="+mn-lt"/>
                <a:ea typeface="+mn-ea"/>
                <a:cs typeface="+mn-cs"/>
              </a:rPr>
              <a:t>Here we have the Deep Memory Retrieval task. In this test, the agent is asked a specific question about a topic from a past conversation.</a:t>
            </a:r>
          </a:p>
          <a:p>
            <a:r>
              <a:rPr lang="en-US" sz="1200" b="0" i="0" kern="1200" dirty="0">
                <a:solidFill>
                  <a:schemeClr val="tx1"/>
                </a:solidFill>
                <a:effectLst/>
                <a:latin typeface="+mn-lt"/>
                <a:ea typeface="+mn-ea"/>
                <a:cs typeface="+mn-cs"/>
              </a:rPr>
              <a:t>Without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standard models struggle because the information is no longer in their active prompt. But look at the jump when we add memory system. For GPT-4 Turbo, accuracy skyrockets from 35.3% to 93.4%. We see a similar huge jump for GPT-4, going from 32.1% to 92.5%.</a:t>
            </a:r>
          </a:p>
          <a:p>
            <a:r>
              <a:rPr lang="en-US" sz="1200" b="0" i="0" kern="1200" dirty="0">
                <a:solidFill>
                  <a:schemeClr val="tx1"/>
                </a:solidFill>
                <a:effectLst/>
                <a:latin typeface="+mn-lt"/>
                <a:ea typeface="+mn-ea"/>
                <a:cs typeface="+mn-cs"/>
              </a:rPr>
              <a:t>The main takeaway here is very simple: If your agent needs to succeed over long interactions, you cannot just rely on the model's standard context window. You need a memory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So remembering facts is one thing, but solving tasks needs more than facts—it needs strategy.</a:t>
            </a:r>
            <a:r>
              <a:rPr lang="en-US" sz="1200" b="0" i="0" kern="1200" dirty="0">
                <a:solidFill>
                  <a:schemeClr val="tx1"/>
                </a:solidFill>
                <a:effectLst/>
                <a:latin typeface="+mn-lt"/>
                <a:ea typeface="+mn-ea"/>
                <a:cs typeface="+mn-cs"/>
              </a:rPr>
              <a:t> Instead of only storing the past, we want to turn experience into structured guidance. </a:t>
            </a:r>
            <a:r>
              <a:rPr lang="en-US" sz="1200" b="1" i="0" kern="1200" dirty="0">
                <a:solidFill>
                  <a:schemeClr val="tx1"/>
                </a:solidFill>
                <a:effectLst/>
                <a:latin typeface="+mn-lt"/>
                <a:ea typeface="+mn-ea"/>
                <a:cs typeface="+mn-cs"/>
              </a:rPr>
              <a:t>That leads us to 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paper starts from an important observation: even if an agent has memory, memory alone is not enough. The real question is how experience should be organized into useful context for future problem solving.</a:t>
            </a:r>
          </a:p>
          <a:p>
            <a:r>
              <a:rPr lang="en-US" sz="1200" b="0" i="0" kern="1200" dirty="0">
                <a:solidFill>
                  <a:schemeClr val="tx1"/>
                </a:solidFill>
                <a:effectLst/>
                <a:latin typeface="+mn-lt"/>
                <a:ea typeface="+mn-ea"/>
                <a:cs typeface="+mn-cs"/>
              </a:rPr>
              <a:t>A natural idea is to keep rewriting the context into shorter and shorter summaries. But ACE argues that this can be dangerous.</a:t>
            </a:r>
          </a:p>
          <a:p>
            <a:r>
              <a:rPr lang="en-US" sz="1200" b="0" i="0" kern="1200" dirty="0">
                <a:solidFill>
                  <a:schemeClr val="tx1"/>
                </a:solidFill>
                <a:effectLst/>
                <a:latin typeface="+mn-lt"/>
                <a:ea typeface="+mn-ea"/>
                <a:cs typeface="+mn-cs"/>
              </a:rPr>
              <a:t>The paper identifies a problem called context collapse. Repeated rewriting can make the context shorter, but also less useful, because important detail, structure, and procedural knowledge may be lost.</a:t>
            </a:r>
          </a:p>
          <a:p>
            <a:r>
              <a:rPr lang="en-US" sz="1200" b="0" i="0" kern="1200" dirty="0">
                <a:solidFill>
                  <a:schemeClr val="tx1"/>
                </a:solidFill>
                <a:effectLst/>
                <a:latin typeface="+mn-lt"/>
                <a:ea typeface="+mn-ea"/>
                <a:cs typeface="+mn-cs"/>
              </a:rPr>
              <a:t>So the key point is that shorter context is not always better context. Good context should become an evolving playbook, not just a compressed summary.”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How does ACE avoid this collapse?</a:t>
            </a:r>
          </a:p>
          <a:p>
            <a:r>
              <a:rPr lang="en-US" sz="1200" b="0" i="0" kern="1200" dirty="0">
                <a:solidFill>
                  <a:schemeClr val="tx1"/>
                </a:solidFill>
                <a:effectLst/>
                <a:latin typeface="+mn-lt"/>
                <a:ea typeface="+mn-ea"/>
                <a:cs typeface="+mn-cs"/>
              </a:rPr>
              <a:t>The core idea is to make context adaptation as a structured multi-stage process, instead of a single rewrite step.</a:t>
            </a:r>
          </a:p>
          <a:p>
            <a:r>
              <a:rPr lang="en-US" sz="1200" b="0" i="0" kern="1200" dirty="0">
                <a:solidFill>
                  <a:schemeClr val="tx1"/>
                </a:solidFill>
                <a:effectLst/>
                <a:latin typeface="+mn-lt"/>
                <a:ea typeface="+mn-ea"/>
                <a:cs typeface="+mn-cs"/>
              </a:rPr>
              <a:t>First, the Generator uses the current playbook to solve tasks and produce trajectories.</a:t>
            </a:r>
          </a:p>
          <a:p>
            <a:r>
              <a:rPr lang="en-US" sz="1200" b="0" i="0" kern="1200" dirty="0">
                <a:solidFill>
                  <a:schemeClr val="tx1"/>
                </a:solidFill>
                <a:effectLst/>
                <a:latin typeface="+mn-lt"/>
                <a:ea typeface="+mn-ea"/>
                <a:cs typeface="+mn-cs"/>
              </a:rPr>
              <a:t>Second, the Reflector analyzes those trajectories and extracts useful insights, such as what success, what failed, and what should be changed.</a:t>
            </a:r>
          </a:p>
          <a:p>
            <a:r>
              <a:rPr lang="en-US" sz="1200" b="0" i="0" kern="1200" dirty="0">
                <a:solidFill>
                  <a:schemeClr val="tx1"/>
                </a:solidFill>
                <a:effectLst/>
                <a:latin typeface="+mn-lt"/>
                <a:ea typeface="+mn-ea"/>
                <a:cs typeface="+mn-cs"/>
              </a:rPr>
              <a:t>Third, the Curator(Q er </a:t>
            </a:r>
            <a:r>
              <a:rPr lang="en-US" sz="1200" b="0" i="0" kern="1200" dirty="0" err="1">
                <a:solidFill>
                  <a:schemeClr val="tx1"/>
                </a:solidFill>
                <a:effectLst/>
                <a:latin typeface="+mn-lt"/>
                <a:ea typeface="+mn-ea"/>
                <a:cs typeface="+mn-cs"/>
              </a:rPr>
              <a:t>rator</a:t>
            </a:r>
            <a:r>
              <a:rPr lang="en-US" sz="1200" b="0" i="0" kern="1200" dirty="0">
                <a:solidFill>
                  <a:schemeClr val="tx1"/>
                </a:solidFill>
                <a:effectLst/>
                <a:latin typeface="+mn-lt"/>
                <a:ea typeface="+mn-ea"/>
                <a:cs typeface="+mn-cs"/>
              </a:rPr>
              <a:t>) converts those insights into structured delta context items and updates the playbook.</a:t>
            </a:r>
          </a:p>
          <a:p>
            <a:r>
              <a:rPr lang="en-US" sz="1200" b="0" i="0" kern="1200" dirty="0">
                <a:solidFill>
                  <a:schemeClr val="tx1"/>
                </a:solidFill>
                <a:effectLst/>
                <a:latin typeface="+mn-lt"/>
                <a:ea typeface="+mn-ea"/>
                <a:cs typeface="+mn-cs"/>
              </a:rPr>
              <a:t>So ACE does not overwrite the whole context. Instead, it improves the context incrementally through generation, reflection, and curation.</a:t>
            </a:r>
          </a:p>
          <a:p>
            <a:r>
              <a:rPr lang="en-US" sz="1200" b="0" i="0" kern="1200" dirty="0">
                <a:solidFill>
                  <a:schemeClr val="tx1"/>
                </a:solidFill>
                <a:effectLst/>
                <a:latin typeface="+mn-lt"/>
                <a:ea typeface="+mn-ea"/>
                <a:cs typeface="+mn-cs"/>
              </a:rPr>
              <a:t>I think this is the most important conceptual contribution of the paper: context is no longer a static prompt or a summary. It becomes an evolving external knowledge structure.”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what's the final output of this whole process?</a:t>
            </a:r>
          </a:p>
          <a:p>
            <a:r>
              <a:rPr lang="en-US" sz="1200" b="0" i="0" kern="1200" dirty="0">
                <a:solidFill>
                  <a:schemeClr val="tx1"/>
                </a:solidFill>
                <a:effectLst/>
                <a:latin typeface="+mn-lt"/>
                <a:ea typeface="+mn-ea"/>
                <a:cs typeface="+mn-cs"/>
              </a:rPr>
              <a:t>As you can see, it is definitely not a messy chat log. It is a highly structured playbook.</a:t>
            </a:r>
          </a:p>
          <a:p>
            <a:r>
              <a:rPr lang="en-US" sz="1200" b="0" i="0" kern="1200" dirty="0">
                <a:solidFill>
                  <a:schemeClr val="tx1"/>
                </a:solidFill>
                <a:effectLst/>
                <a:latin typeface="+mn-lt"/>
                <a:ea typeface="+mn-ea"/>
                <a:cs typeface="+mn-cs"/>
              </a:rPr>
              <a:t>It breaks down the agent's experience into three simple buckets:</a:t>
            </a:r>
          </a:p>
          <a:p>
            <a:r>
              <a:rPr lang="en-US" sz="1200" b="0" i="0" kern="1200" dirty="0">
                <a:solidFill>
                  <a:schemeClr val="tx1"/>
                </a:solidFill>
                <a:effectLst/>
                <a:latin typeface="+mn-lt"/>
                <a:ea typeface="+mn-ea"/>
                <a:cs typeface="+mn-cs"/>
              </a:rPr>
              <a:t>First, Strategies and Rules—this tells the agent exactly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to do the task next time.</a:t>
            </a:r>
          </a:p>
          <a:p>
            <a:r>
              <a:rPr lang="en-US" sz="1200" b="0" i="0" kern="1200" dirty="0">
                <a:solidFill>
                  <a:schemeClr val="tx1"/>
                </a:solidFill>
                <a:effectLst/>
                <a:latin typeface="+mn-lt"/>
                <a:ea typeface="+mn-ea"/>
                <a:cs typeface="+mn-cs"/>
              </a:rPr>
              <a:t>Second, Code Snippets—so the agent doesn't have to write the same code from scratch again.</a:t>
            </a:r>
          </a:p>
          <a:p>
            <a:r>
              <a:rPr lang="en-US" sz="1200" b="0" i="0" kern="1200" dirty="0">
                <a:solidFill>
                  <a:schemeClr val="tx1"/>
                </a:solidFill>
                <a:effectLst/>
                <a:latin typeface="+mn-lt"/>
                <a:ea typeface="+mn-ea"/>
                <a:cs typeface="+mn-cs"/>
              </a:rPr>
              <a:t>Third, Troubleshooting—so it learns from past mistakes and knows what pitfalls to avoid.</a:t>
            </a:r>
          </a:p>
          <a:p>
            <a:r>
              <a:rPr lang="en-US" sz="1200" b="0" i="0" kern="1200" dirty="0">
                <a:solidFill>
                  <a:schemeClr val="tx1"/>
                </a:solidFill>
                <a:effectLst/>
                <a:latin typeface="+mn-lt"/>
                <a:ea typeface="+mn-ea"/>
                <a:cs typeface="+mn-cs"/>
              </a:rPr>
              <a:t>In short, ACE doesn't just save history. It turns past experience into reusable skills."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does this actually work? Yes.</a:t>
            </a:r>
          </a:p>
          <a:p>
            <a:r>
              <a:rPr lang="en-US" sz="1200" b="0" i="0" kern="1200" dirty="0">
                <a:solidFill>
                  <a:schemeClr val="tx1"/>
                </a:solidFill>
                <a:effectLst/>
                <a:latin typeface="+mn-lt"/>
                <a:ea typeface="+mn-ea"/>
                <a:cs typeface="+mn-cs"/>
              </a:rPr>
              <a:t>As you can see, ACE consistently beats the baselines. they get 10.6% higher result on </a:t>
            </a:r>
            <a:r>
              <a:rPr lang="en-US" sz="1200" b="0" i="0" kern="1200" dirty="0" err="1">
                <a:solidFill>
                  <a:schemeClr val="tx1"/>
                </a:solidFill>
                <a:effectLst/>
                <a:latin typeface="+mn-lt"/>
                <a:ea typeface="+mn-ea"/>
                <a:cs typeface="+mn-cs"/>
              </a:rPr>
              <a:t>AppWorld</a:t>
            </a:r>
            <a:r>
              <a:rPr lang="en-US" sz="1200" b="0" i="0" kern="1200" dirty="0">
                <a:solidFill>
                  <a:schemeClr val="tx1"/>
                </a:solidFill>
                <a:effectLst/>
                <a:latin typeface="+mn-lt"/>
                <a:ea typeface="+mn-ea"/>
                <a:cs typeface="+mn-cs"/>
              </a:rPr>
              <a:t>, and 8.6% on finance tasks. It clearly drives better performance.</a:t>
            </a:r>
          </a:p>
          <a:p>
            <a:r>
              <a:rPr lang="en-US" sz="1200" b="0" i="0" kern="1200" dirty="0">
                <a:solidFill>
                  <a:schemeClr val="tx1"/>
                </a:solidFill>
                <a:effectLst/>
                <a:latin typeface="+mn-lt"/>
                <a:ea typeface="+mn-ea"/>
                <a:cs typeface="+mn-cs"/>
              </a:rPr>
              <a:t>But here is the Important Boundary.</a:t>
            </a:r>
          </a:p>
          <a:p>
            <a:r>
              <a:rPr lang="en-US" sz="1200" b="0" i="0" kern="1200" dirty="0">
                <a:solidFill>
                  <a:schemeClr val="tx1"/>
                </a:solidFill>
                <a:effectLst/>
                <a:latin typeface="+mn-lt"/>
                <a:ea typeface="+mn-ea"/>
                <a:cs typeface="+mn-cs"/>
              </a:rPr>
              <a:t>ACE only improves the </a:t>
            </a:r>
            <a:r>
              <a:rPr lang="en-US" sz="1200" b="0" i="1" kern="1200" dirty="0">
                <a:solidFill>
                  <a:schemeClr val="tx1"/>
                </a:solidFill>
                <a:effectLst/>
                <a:latin typeface="+mn-lt"/>
                <a:ea typeface="+mn-ea"/>
                <a:cs typeface="+mn-cs"/>
              </a:rPr>
              <a:t>external context</a:t>
            </a:r>
            <a:r>
              <a:rPr lang="en-US" sz="1200" b="0" i="0" kern="1200" dirty="0">
                <a:solidFill>
                  <a:schemeClr val="tx1"/>
                </a:solidFill>
                <a:effectLst/>
                <a:latin typeface="+mn-lt"/>
                <a:ea typeface="+mn-ea"/>
                <a:cs typeface="+mn-cs"/>
              </a:rPr>
              <a:t>. The underlying model's policy is still completely fixed.</a:t>
            </a:r>
          </a:p>
          <a:p>
            <a:r>
              <a:rPr lang="en-US" sz="1200" b="0" i="0" kern="1200" dirty="0">
                <a:solidFill>
                  <a:schemeClr val="tx1"/>
                </a:solidFill>
                <a:effectLst/>
                <a:latin typeface="+mn-lt"/>
                <a:ea typeface="+mn-ea"/>
                <a:cs typeface="+mn-cs"/>
              </a:rPr>
              <a:t>So, to sum up: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externalizes memory, and ACE externalizes strategy.</a:t>
            </a:r>
          </a:p>
          <a:p>
            <a:r>
              <a:rPr lang="en-US" sz="1200" b="0" i="0" kern="1200" dirty="0">
                <a:solidFill>
                  <a:schemeClr val="tx1"/>
                </a:solidFill>
                <a:effectLst/>
                <a:latin typeface="+mn-lt"/>
                <a:ea typeface="+mn-ea"/>
                <a:cs typeface="+mn-cs"/>
              </a:rPr>
              <a:t>But what if we want the agent itself to actually learn? That brings us to our final paper: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ACE is great, but relying only on an external playbook has limits. If you use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 a lot, you probably know that it already contains a huge number of built-in skills—something like 20 K tokens of instructions. When you keep adding even more skills, you often find that they do not help much, and sometimes the result is even worse than using the model.</a:t>
            </a:r>
          </a:p>
          <a:p>
            <a:r>
              <a:rPr lang="en-US" sz="1200" b="0" i="0" kern="1200" dirty="0">
                <a:solidFill>
                  <a:schemeClr val="tx1"/>
                </a:solidFill>
                <a:effectLst/>
                <a:latin typeface="+mn-lt"/>
                <a:ea typeface="+mn-ea"/>
                <a:cs typeface="+mn-cs"/>
              </a:rPr>
              <a:t>Why does this happen? Because once the skill context becomes too large, the model cannot pay attention to every skill equally well. Some skills may overlap, some may contradict each other, and some just get buried(</a:t>
            </a:r>
            <a:r>
              <a:rPr lang="en-US" sz="1200" b="0" i="0" kern="1200" dirty="0" err="1">
                <a:solidFill>
                  <a:schemeClr val="tx1"/>
                </a:solidFill>
                <a:effectLst/>
                <a:latin typeface="+mn-lt"/>
                <a:ea typeface="+mn-ea"/>
                <a:cs typeface="+mn-cs"/>
              </a:rPr>
              <a:t>埋葬</a:t>
            </a:r>
            <a:r>
              <a:rPr lang="en-US" sz="1200" b="0" i="0" kern="1200" dirty="0">
                <a:solidFill>
                  <a:schemeClr val="tx1"/>
                </a:solidFill>
                <a:effectLst/>
                <a:latin typeface="+mn-lt"/>
                <a:ea typeface="+mn-ea"/>
                <a:cs typeface="+mn-cs"/>
              </a:rPr>
              <a:t>) in the long prompt.</a:t>
            </a:r>
          </a:p>
          <a:p>
            <a:r>
              <a:rPr lang="en-US" sz="1200" b="0" i="0" kern="1200" dirty="0">
                <a:solidFill>
                  <a:schemeClr val="tx1"/>
                </a:solidFill>
                <a:effectLst/>
                <a:latin typeface="+mn-lt"/>
                <a:ea typeface="+mn-ea"/>
                <a:cs typeface="+mn-cs"/>
              </a:rPr>
              <a:t>So at this point, the problem is not only about adding better skills. The deeper problem is that the model itself needs to become better at understanding, selecting, and applying those skills. That is the motivation behind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look at how it actually works on this slide.</a:t>
            </a:r>
          </a:p>
          <a:p>
            <a:r>
              <a:rPr lang="en-US" sz="1200" b="0" i="0" kern="1200" dirty="0">
                <a:solidFill>
                  <a:schemeClr val="tx1"/>
                </a:solidFill>
                <a:effectLst/>
                <a:latin typeface="+mn-lt"/>
                <a:ea typeface="+mn-ea"/>
                <a:cs typeface="+mn-cs"/>
              </a:rPr>
              <a:t>The magic here is the Key Design Principle: Train while serving. It means the agent improves in the background without stopping its service.</a:t>
            </a:r>
          </a:p>
          <a:p>
            <a:r>
              <a:rPr lang="en-US" sz="1200" b="0" i="0" kern="1200" dirty="0">
                <a:solidFill>
                  <a:schemeClr val="tx1"/>
                </a:solidFill>
                <a:effectLst/>
                <a:latin typeface="+mn-lt"/>
                <a:ea typeface="+mn-ea"/>
                <a:cs typeface="+mn-cs"/>
              </a:rPr>
              <a:t>The process has three main parts:</a:t>
            </a:r>
          </a:p>
          <a:p>
            <a:r>
              <a:rPr lang="en-US" sz="1200" b="0" i="0" kern="1200" dirty="0">
                <a:solidFill>
                  <a:schemeClr val="tx1"/>
                </a:solidFill>
                <a:effectLst/>
                <a:latin typeface="+mn-lt"/>
                <a:ea typeface="+mn-ea"/>
                <a:cs typeface="+mn-cs"/>
              </a:rPr>
              <a:t>Number One: Agent Environments. On the left, we have different deployed agents—like personal assistants, terminal agents, or coding agents. They are out there interacting and making mistakes.</a:t>
            </a:r>
          </a:p>
          <a:p>
            <a:r>
              <a:rPr lang="en-US" sz="1200" b="0" i="0" kern="1200" dirty="0">
                <a:solidFill>
                  <a:schemeClr val="tx1"/>
                </a:solidFill>
                <a:effectLst/>
                <a:latin typeface="+mn-lt"/>
                <a:ea typeface="+mn-ea"/>
                <a:cs typeface="+mn-cs"/>
              </a:rPr>
              <a:t>Number Two: Environment Servers. These servers sit in the middle and collect all those interactions and feedback data.</a:t>
            </a:r>
          </a:p>
          <a:p>
            <a:r>
              <a:rPr lang="en-US" sz="1200" b="0" i="0" kern="1200" dirty="0">
                <a:solidFill>
                  <a:schemeClr val="tx1"/>
                </a:solidFill>
                <a:effectLst/>
                <a:latin typeface="+mn-lt"/>
                <a:ea typeface="+mn-ea"/>
                <a:cs typeface="+mn-cs"/>
              </a:rPr>
              <a:t>Number Three: The Training Loop. This is the RL server on the right. While the Policy Server keeps answering user requests, the Training Engine takes the collected data and asynchronously updates the model's weights.</a:t>
            </a:r>
          </a:p>
          <a:p>
            <a:r>
              <a:rPr lang="en-US" sz="1200" b="0" i="0" kern="1200" dirty="0">
                <a:solidFill>
                  <a:schemeClr val="tx1"/>
                </a:solidFill>
                <a:effectLst/>
                <a:latin typeface="+mn-lt"/>
                <a:ea typeface="+mn-ea"/>
                <a:cs typeface="+mn-cs"/>
              </a:rPr>
              <a:t>So, as the bottom line says: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 turns deployed agents into continually trainable systems."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next question is: once we have interaction data, how do we actually learn from it?</a:t>
            </a:r>
          </a:p>
          <a:p>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 uses multiple forms of learning signal.</a:t>
            </a:r>
          </a:p>
          <a:p>
            <a:r>
              <a:rPr lang="en-US" sz="1200" b="0" i="0" kern="1200" dirty="0">
                <a:solidFill>
                  <a:schemeClr val="tx1"/>
                </a:solidFill>
                <a:effectLst/>
                <a:latin typeface="+mn-lt"/>
                <a:ea typeface="+mn-ea"/>
                <a:cs typeface="+mn-cs"/>
              </a:rPr>
              <a:t>The first is binary reward. The system can treat user or environment feedback as a simple good-versus-bad signal and apply RL at the sequence level.</a:t>
            </a:r>
          </a:p>
          <a:p>
            <a:r>
              <a:rPr lang="en-US" sz="1200" b="0" i="0" kern="1200" dirty="0">
                <a:solidFill>
                  <a:schemeClr val="tx1"/>
                </a:solidFill>
                <a:effectLst/>
                <a:latin typeface="+mn-lt"/>
                <a:ea typeface="+mn-ea"/>
                <a:cs typeface="+mn-cs"/>
              </a:rPr>
              <a:t>The second is directional feedback, or on-policy distillation. Here the system is not only told whether the answer is good or bad, but also given hints or corrections about how it should improve.</a:t>
            </a:r>
          </a:p>
          <a:p>
            <a:r>
              <a:rPr lang="en-US" sz="1200" b="0" i="0" kern="1200" dirty="0">
                <a:solidFill>
                  <a:schemeClr val="tx1"/>
                </a:solidFill>
                <a:effectLst/>
                <a:latin typeface="+mn-lt"/>
                <a:ea typeface="+mn-ea"/>
                <a:cs typeface="+mn-cs"/>
              </a:rPr>
              <a:t>The third is step-wise reward for longer trajectories. Instead of assigning credit only at the end, the framework can combine final outcome signals with intermediate reward estimates, so that learning becomes denser and more stable.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paper shows that scalable RL is possible across multiple agent settings, including terminal, GUI, software engineering, and tool-call environments. </a:t>
            </a:r>
            <a:r>
              <a:rPr lang="en-US" sz="1200" kern="1200" dirty="0">
                <a:solidFill>
                  <a:schemeClr val="tx1"/>
                </a:solidFill>
                <a:effectLst/>
                <a:latin typeface="+mn-lt"/>
                <a:ea typeface="+mn-ea"/>
                <a:cs typeface="+mn-cs"/>
              </a:rPr>
              <a:t>As we just discussed, the system learns from interaction itself. And in different settings, those signals come in different forms.</a:t>
            </a:r>
          </a:p>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16</a:t>
            </a:fld>
            <a:endParaRPr lang="zh-TW" altLang="en-US"/>
          </a:p>
        </p:txBody>
      </p:sp>
    </p:spTree>
    <p:extLst>
      <p:ext uri="{BB962C8B-B14F-4D97-AF65-F5344CB8AC3E}">
        <p14:creationId xmlns:p14="http://schemas.microsoft.com/office/powerpoint/2010/main" val="410804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paper also includes a more intuitive personalization example. In the student setting, the desired response should sound less AI-like. In the teacher setting, the desired response should be more specific and friendly. After only a </a:t>
            </a:r>
            <a:r>
              <a:rPr lang="en-US" altLang="zh-CN" sz="1200" b="0" i="0" kern="1200" dirty="0">
                <a:solidFill>
                  <a:schemeClr val="tx1"/>
                </a:solidFill>
                <a:effectLst/>
                <a:latin typeface="+mn-lt"/>
                <a:ea typeface="+mn-ea"/>
                <a:cs typeface="+mn-cs"/>
              </a:rPr>
              <a:t>36</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interaction</a:t>
            </a:r>
            <a:r>
              <a:rPr lang="en-US" sz="1200" b="0" i="0" kern="1200" dirty="0">
                <a:solidFill>
                  <a:schemeClr val="tx1"/>
                </a:solidFill>
                <a:effectLst/>
                <a:latin typeface="+mn-lt"/>
                <a:ea typeface="+mn-ea"/>
                <a:cs typeface="+mn-cs"/>
              </a:rPr>
              <a:t>, the personalization</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score</a:t>
            </a:r>
            <a:r>
              <a:rPr lang="en-US" sz="1200" b="0" i="0" kern="1200" dirty="0">
                <a:solidFill>
                  <a:schemeClr val="tx1"/>
                </a:solidFill>
                <a:effectLst/>
                <a:latin typeface="+mn-lt"/>
                <a:ea typeface="+mn-ea"/>
                <a:cs typeface="+mn-cs"/>
              </a:rPr>
              <a:t> improve </a:t>
            </a:r>
            <a:r>
              <a:rPr lang="en-US" sz="1200" b="0" i="0" kern="1200" dirty="0" err="1">
                <a:solidFill>
                  <a:schemeClr val="tx1"/>
                </a:solidFill>
                <a:effectLst/>
                <a:latin typeface="+mn-lt"/>
                <a:ea typeface="+mn-ea"/>
                <a:cs typeface="+mn-cs"/>
              </a:rPr>
              <a:t>alot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So the broader significance of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 is not only that it can optimize a benchmark. It suggests a new direction for agent evolution: agents may improve simply by being used.”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we look across these three papers, the entire evolution path becomes clear.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With </a:t>
            </a:r>
            <a:r>
              <a:rPr lang="en-US" sz="1200" b="0" i="0" kern="1200" dirty="0" err="1">
                <a:solidFill>
                  <a:schemeClr val="tx1"/>
                </a:solidFill>
                <a:effectLst/>
                <a:latin typeface="+mn-lt"/>
                <a:ea typeface="+mn-ea"/>
                <a:cs typeface="+mn-cs"/>
              </a:rPr>
              <a:t>MemGPT</a:t>
            </a:r>
            <a:r>
              <a:rPr lang="en-US" sz="1200" b="0" i="0" kern="1200" dirty="0">
                <a:solidFill>
                  <a:schemeClr val="tx1"/>
                </a:solidFill>
                <a:effectLst/>
                <a:latin typeface="+mn-lt"/>
                <a:ea typeface="+mn-ea"/>
                <a:cs typeface="+mn-cs"/>
              </a:rPr>
              <a:t>, we upgraded the agent's storage—we externalized memory.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 With ACE, we upgraded the playbook—we externalized strategy.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 And with </a:t>
            </a:r>
            <a:r>
              <a:rPr lang="en-US" sz="1200" b="0" i="0" kern="1200" dirty="0" err="1">
                <a:solidFill>
                  <a:schemeClr val="tx1"/>
                </a:solidFill>
                <a:effectLst/>
                <a:latin typeface="+mn-lt"/>
                <a:ea typeface="+mn-ea"/>
                <a:cs typeface="+mn-cs"/>
              </a:rPr>
              <a:t>OpenClaw</a:t>
            </a:r>
            <a:r>
              <a:rPr lang="en-US" sz="1200" b="0" i="0" kern="1200" dirty="0">
                <a:solidFill>
                  <a:schemeClr val="tx1"/>
                </a:solidFill>
                <a:effectLst/>
                <a:latin typeface="+mn-lt"/>
                <a:ea typeface="+mn-ea"/>
                <a:cs typeface="+mn-cs"/>
              </a:rPr>
              <a:t>-RL, we upgraded the actual weight of the model—we externalized continual improvement.</a:t>
            </a:r>
          </a:p>
          <a:p>
            <a:r>
              <a:rPr lang="en-US" sz="1200" b="0" i="0" kern="1200" dirty="0">
                <a:solidFill>
                  <a:schemeClr val="tx1"/>
                </a:solidFill>
                <a:effectLst/>
                <a:latin typeface="+mn-lt"/>
                <a:ea typeface="+mn-ea"/>
                <a:cs typeface="+mn-cs"/>
              </a:rPr>
              <a:t>So, what is the ultimate takeaway here? It's that the treating AI agents as static, 'out-of-the-box' problem solvers is ending. The real frontier is what happens </a:t>
            </a:r>
            <a:r>
              <a:rPr lang="en-US" sz="1200" b="0" i="1" kern="1200" dirty="0">
                <a:solidFill>
                  <a:schemeClr val="tx1"/>
                </a:solidFill>
                <a:effectLst/>
                <a:latin typeface="+mn-lt"/>
                <a:ea typeface="+mn-ea"/>
                <a:cs typeface="+mn-cs"/>
              </a:rPr>
              <a:t>over time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But this paradigm shift leaves us with some massive open questions for the field: * First, when is it better to just update an external context versus updating the model’s weight? * Second, if an agent is constantly learning from real interaction, how do we keep that improvement stable and safe? * And third, what is the perfect architecture that balances memory, context, and RL?</a:t>
            </a:r>
          </a:p>
          <a:p>
            <a:r>
              <a:rPr lang="en-US" sz="1200" b="0" i="0" kern="1200" dirty="0">
                <a:solidFill>
                  <a:schemeClr val="tx1"/>
                </a:solidFill>
                <a:effectLst/>
                <a:latin typeface="+mn-lt"/>
                <a:ea typeface="+mn-ea"/>
                <a:cs typeface="+mn-cs"/>
              </a:rPr>
              <a:t>Ultimately, the next generation of agents won't be defined just by how smart they are on day one. They will be defined by how well they remember, organize experience, and improve through use.</a:t>
            </a:r>
          </a:p>
          <a:p>
            <a:r>
              <a:rPr lang="en-US" sz="1200" b="0" i="0" kern="1200" dirty="0">
                <a:solidFill>
                  <a:schemeClr val="tx1"/>
                </a:solidFill>
                <a:effectLst/>
                <a:latin typeface="+mn-lt"/>
                <a:ea typeface="+mn-ea"/>
                <a:cs typeface="+mn-cs"/>
              </a:rPr>
              <a:t>Thank you."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1A0AB-1DC1-25AA-1D77-F38D3D7AE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68717-61E5-AD41-DDCC-636645DD2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C2EC3-3CE0-60CA-F377-4D34E156B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FD7393-735A-AF6A-FBF6-7350F4E0BA8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82003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anose="020F0502020204030204" pitchFamily="34" charset="0"/>
                <a:ea typeface="標楷體" pitchFamily="65" charset="-120"/>
                <a:cs typeface="Calibri" panose="020F0502020204030204" pitchFamily="34" charset="0"/>
              </a:defRPr>
            </a:lvl3pPr>
            <a:lvl4pPr>
              <a:defRPr sz="2400">
                <a:latin typeface="Calibri" panose="020F0502020204030204" pitchFamily="34" charset="0"/>
                <a:ea typeface="標楷體" pitchFamily="65" charset="-120"/>
                <a:cs typeface="Calibri" panose="020F0502020204030204" pitchFamily="34" charset="0"/>
              </a:defRPr>
            </a:lvl4pPr>
            <a:lvl5pPr>
              <a:defRPr sz="2135">
                <a:latin typeface="Calibri" panose="020F0502020204030204" pitchFamily="34" charset="0"/>
                <a:ea typeface="標楷體" pitchFamily="65" charset="-120"/>
                <a:cs typeface="Calibri" panose="020F050202020403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hasCustomPrompt="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20204" pitchFamily="34" charset="0"/>
                <a:ea typeface="PMingLiU" pitchFamily="18" charset="-120"/>
                <a:cs typeface="Arial" panose="020B0604020202020204" pitchFamily="34" charset="0"/>
              </a:rPr>
              <a:t>National Tsing Hua University ® copyright OIA</a:t>
            </a:r>
            <a:endParaRPr lang="zh-TW" altLang="en-US" sz="1200" b="1"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20204" pitchFamily="34" charset="0"/>
                <a:ea typeface="PMingLiU" pitchFamily="18" charset="-120"/>
              </a:defRPr>
            </a:lvl1pPr>
          </a:lstStyle>
          <a:p>
            <a:fld id="{D9B6BDF2-6896-4B98-8776-C18582F63BA5}" type="slidenum">
              <a:rPr lang="zh-TW" altLang="en-US" smtClean="0"/>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KaiTi" panose="02010609060101010101" pitchFamily="49" charset="-122"/>
                  <a:ea typeface="KaiTi"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KaiTi" panose="02010609060101010101" pitchFamily="49" charset="-122"/>
                <a:ea typeface="KaiTi"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panose="02010600030101010101" charset="-122"/>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PMingLiU" pitchFamily="18" charset="-120"/>
                <a:cs typeface="Times New Roman" panose="0202060305040502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image" Target="../media/image5.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notesSlide" Target="../notesSlides/notesSlide6.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6.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notesSlide" Target="../notesSlides/notesSlide8.xml"/><Relationship Id="rId5" Type="http://schemas.openxmlformats.org/officeDocument/2006/relationships/tags" Target="../tags/tag24.xml"/><Relationship Id="rId10" Type="http://schemas.openxmlformats.org/officeDocument/2006/relationships/slideLayout" Target="../slideLayouts/slideLayout6.xml"/><Relationship Id="rId4" Type="http://schemas.openxmlformats.org/officeDocument/2006/relationships/tags" Target="../tags/tag23.xml"/><Relationship Id="rId9" Type="http://schemas.openxmlformats.org/officeDocument/2006/relationships/tags" Target="../tags/tag28.xml"/></Relationships>
</file>

<file path=ppt/slides/_rels/slide9.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image" Target="../media/image8.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notesSlide" Target="../notesSlides/notesSlide9.xml"/><Relationship Id="rId5" Type="http://schemas.openxmlformats.org/officeDocument/2006/relationships/tags" Target="../tags/tag33.xml"/><Relationship Id="rId10" Type="http://schemas.openxmlformats.org/officeDocument/2006/relationships/slideLayout" Target="../slideLayouts/slideLayout6.xml"/><Relationship Id="rId4" Type="http://schemas.openxmlformats.org/officeDocument/2006/relationships/tags" Target="../tags/tag32.xml"/><Relationship Id="rId9" Type="http://schemas.openxmlformats.org/officeDocument/2006/relationships/tags" Target="../tags/tag3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a:spLocks noGrp="1"/>
          </p:cNvSpPr>
          <p:nvPr/>
        </p:nvSpPr>
        <p:spPr>
          <a:xfrm>
            <a:off x="635" y="1407160"/>
            <a:ext cx="12192000" cy="1882140"/>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kumimoji="1" sz="5335"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a:lstStyle>
          <a:p>
            <a:pPr algn="ctr"/>
            <a:r>
              <a:rPr lang="en-US" altLang="zh-CN" sz="4000" kern="0" dirty="0">
                <a:effectLst>
                  <a:outerShdw blurRad="38100" dist="38100" dir="2700000" algn="tl">
                    <a:srgbClr val="000000">
                      <a:alpha val="43137"/>
                    </a:srgbClr>
                  </a:outerShdw>
                </a:effectLst>
              </a:rPr>
              <a:t>The Evolution of AI Agents:</a:t>
            </a:r>
            <a:br>
              <a:rPr lang="en-US" altLang="zh-CN" sz="4000" kern="0" dirty="0">
                <a:effectLst>
                  <a:outerShdw blurRad="38100" dist="38100" dir="2700000" algn="tl">
                    <a:srgbClr val="000000">
                      <a:alpha val="43137"/>
                    </a:srgbClr>
                  </a:outerShdw>
                </a:effectLst>
              </a:rPr>
            </a:br>
            <a:r>
              <a:rPr lang="en-US" altLang="zh-CN" sz="4000" kern="0" dirty="0">
                <a:effectLst>
                  <a:outerShdw blurRad="38100" dist="38100" dir="2700000" algn="tl">
                    <a:srgbClr val="000000">
                      <a:alpha val="43137"/>
                    </a:srgbClr>
                  </a:outerShdw>
                </a:effectLst>
              </a:rPr>
              <a:t>From Memory Architecture to Self-Improving Agents</a:t>
            </a:r>
          </a:p>
        </p:txBody>
      </p:sp>
      <p:sp>
        <p:nvSpPr>
          <p:cNvPr id="20" name="Subtitle 2"/>
          <p:cNvSpPr>
            <a:spLocks noGrp="1"/>
          </p:cNvSpPr>
          <p:nvPr/>
        </p:nvSpPr>
        <p:spPr>
          <a:xfrm>
            <a:off x="1828800" y="3855632"/>
            <a:ext cx="8534400" cy="188245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Clr>
                <a:srgbClr val="0000FF"/>
              </a:buClr>
              <a:buSzPct val="80000"/>
              <a:buFont typeface="Wingdings" panose="05000000000000000000" pitchFamily="2" charset="2"/>
              <a:buNone/>
              <a:defRPr kumimoji="1" sz="3735">
                <a:solidFill>
                  <a:schemeClr val="tx1"/>
                </a:solidFill>
                <a:latin typeface="Calibri" panose="020F0502020204030204" pitchFamily="34" charset="0"/>
                <a:ea typeface="標楷體" pitchFamily="65" charset="-120"/>
                <a:cs typeface="+mn-cs"/>
              </a:defRPr>
            </a:lvl1pPr>
            <a:lvl2pPr marL="457200" indent="0" algn="ctr" rtl="0" eaLnBrk="1" fontAlgn="base" hangingPunct="1">
              <a:spcBef>
                <a:spcPct val="20000"/>
              </a:spcBef>
              <a:spcAft>
                <a:spcPct val="0"/>
              </a:spcAft>
              <a:buClr>
                <a:srgbClr val="0000FF"/>
              </a:buClr>
              <a:buSzPct val="90000"/>
              <a:buFont typeface="Arial" panose="020B0604020202020204" pitchFamily="34" charset="0"/>
              <a:buNone/>
              <a:defRPr kumimoji="1" sz="3200">
                <a:solidFill>
                  <a:schemeClr val="tx1"/>
                </a:solidFill>
                <a:latin typeface="Calibri" panose="020F0502020204030204" pitchFamily="34" charset="0"/>
                <a:ea typeface="標楷體" pitchFamily="65" charset="-120"/>
              </a:defRPr>
            </a:lvl2pPr>
            <a:lvl3pPr marL="914400" indent="0" algn="ctr" rtl="0" eaLnBrk="1" fontAlgn="base" hangingPunct="1">
              <a:spcBef>
                <a:spcPct val="20000"/>
              </a:spcBef>
              <a:spcAft>
                <a:spcPct val="0"/>
              </a:spcAft>
              <a:buNone/>
              <a:defRPr kumimoji="1" sz="2400">
                <a:solidFill>
                  <a:schemeClr val="tx1"/>
                </a:solidFill>
                <a:latin typeface="+mn-lt"/>
                <a:ea typeface="+mn-ea"/>
              </a:defRPr>
            </a:lvl3pPr>
            <a:lvl4pPr marL="1371600" indent="0" algn="ctr" rtl="0" eaLnBrk="1" fontAlgn="base" hangingPunct="1">
              <a:spcBef>
                <a:spcPct val="20000"/>
              </a:spcBef>
              <a:spcAft>
                <a:spcPct val="0"/>
              </a:spcAft>
              <a:buNone/>
              <a:defRPr kumimoji="1" sz="2000">
                <a:solidFill>
                  <a:schemeClr val="tx1"/>
                </a:solidFill>
                <a:latin typeface="+mn-lt"/>
                <a:ea typeface="+mn-ea"/>
              </a:defRPr>
            </a:lvl4pPr>
            <a:lvl5pPr marL="1828800" indent="0" algn="ctr" rtl="0" eaLnBrk="1" fontAlgn="base" hangingPunct="1">
              <a:spcBef>
                <a:spcPct val="20000"/>
              </a:spcBef>
              <a:spcAft>
                <a:spcPct val="0"/>
              </a:spcAft>
              <a:buNone/>
              <a:defRPr kumimoji="1" sz="2000">
                <a:solidFill>
                  <a:schemeClr val="tx1"/>
                </a:solidFill>
                <a:latin typeface="+mn-lt"/>
                <a:ea typeface="+mn-ea"/>
              </a:defRPr>
            </a:lvl5pPr>
            <a:lvl6pPr marL="2286000" indent="0" algn="ctr" rtl="0" eaLnBrk="1" fontAlgn="base" hangingPunct="1">
              <a:spcBef>
                <a:spcPct val="20000"/>
              </a:spcBef>
              <a:spcAft>
                <a:spcPct val="0"/>
              </a:spcAft>
              <a:buNone/>
              <a:defRPr kumimoji="1" sz="2000">
                <a:solidFill>
                  <a:schemeClr val="tx1"/>
                </a:solidFill>
                <a:latin typeface="+mn-lt"/>
                <a:ea typeface="+mn-ea"/>
              </a:defRPr>
            </a:lvl6pPr>
            <a:lvl7pPr marL="2743200" indent="0" algn="ctr" rtl="0" eaLnBrk="1" fontAlgn="base" hangingPunct="1">
              <a:spcBef>
                <a:spcPct val="20000"/>
              </a:spcBef>
              <a:spcAft>
                <a:spcPct val="0"/>
              </a:spcAft>
              <a:buNone/>
              <a:defRPr kumimoji="1" sz="2000">
                <a:solidFill>
                  <a:schemeClr val="tx1"/>
                </a:solidFill>
                <a:latin typeface="+mn-lt"/>
                <a:ea typeface="+mn-ea"/>
              </a:defRPr>
            </a:lvl7pPr>
            <a:lvl8pPr marL="3200400" indent="0" algn="ctr" rtl="0" eaLnBrk="1" fontAlgn="base" hangingPunct="1">
              <a:spcBef>
                <a:spcPct val="20000"/>
              </a:spcBef>
              <a:spcAft>
                <a:spcPct val="0"/>
              </a:spcAft>
              <a:buNone/>
              <a:defRPr kumimoji="1" sz="2000">
                <a:solidFill>
                  <a:schemeClr val="tx1"/>
                </a:solidFill>
                <a:latin typeface="+mn-lt"/>
                <a:ea typeface="+mn-ea"/>
              </a:defRPr>
            </a:lvl8pPr>
            <a:lvl9pPr marL="3657600" indent="0" algn="ctr" rtl="0" eaLnBrk="1" fontAlgn="base" hangingPunct="1">
              <a:spcBef>
                <a:spcPct val="20000"/>
              </a:spcBef>
              <a:spcAft>
                <a:spcPct val="0"/>
              </a:spcAft>
              <a:buNone/>
              <a:defRPr kumimoji="1" sz="2000">
                <a:solidFill>
                  <a:schemeClr val="tx1"/>
                </a:solidFill>
                <a:latin typeface="+mn-lt"/>
                <a:ea typeface="+mn-ea"/>
              </a:defRPr>
            </a:lvl9pPr>
          </a:lstStyle>
          <a:p>
            <a:r>
              <a:rPr lang="en-US" altLang="zh-TW" sz="3200" dirty="0">
                <a:effectLst>
                  <a:outerShdw blurRad="38100" dist="38100" dir="2700000" algn="tl">
                    <a:srgbClr val="000000">
                      <a:alpha val="43137"/>
                    </a:srgbClr>
                  </a:outerShdw>
                </a:effectLst>
              </a:rPr>
              <a:t>Zhixuan Tan</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56665" y="381000"/>
            <a:ext cx="9475470" cy="342900"/>
          </a:xfrm>
          <a:prstGeom prst="rect">
            <a:avLst/>
          </a:prstGeom>
          <a:noFill/>
        </p:spPr>
        <p:txBody>
          <a:bodyPr wrap="square" lIns="0" tIns="0" rIns="0" bIns="0" rtlCol="0" anchor="ctr"/>
          <a:lstStyle/>
          <a:p>
            <a:pPr>
              <a:lnSpc>
                <a:spcPct val="100000"/>
              </a:lnSpc>
            </a:pPr>
            <a:r>
              <a:rPr lang="en-US" sz="4800" b="1" dirty="0">
                <a:solidFill>
                  <a:schemeClr val="tx2"/>
                </a:solidFill>
                <a:latin typeface="Noto Sans SC" panose="020B0200000000000000" pitchFamily="34" charset="-122"/>
                <a:ea typeface="Noto Sans SC" panose="020B0200000000000000" pitchFamily="34" charset="-122"/>
                <a:cs typeface="Noto Sans SC" panose="020B0200000000000000" pitchFamily="34" charset="-120"/>
              </a:rPr>
              <a:t>The Evolution Path</a:t>
            </a:r>
            <a:endParaRPr lang="en-US" sz="4800" dirty="0">
              <a:solidFill>
                <a:schemeClr val="tx2"/>
              </a:solidFill>
            </a:endParaRPr>
          </a:p>
        </p:txBody>
      </p:sp>
      <p:sp>
        <p:nvSpPr>
          <p:cNvPr id="3" name="Text 1"/>
          <p:cNvSpPr/>
          <p:nvPr/>
        </p:nvSpPr>
        <p:spPr>
          <a:xfrm>
            <a:off x="438150" y="1235710"/>
            <a:ext cx="11515725" cy="266700"/>
          </a:xfrm>
          <a:prstGeom prst="rect">
            <a:avLst/>
          </a:prstGeom>
          <a:noFill/>
        </p:spPr>
        <p:txBody>
          <a:bodyPr wrap="square" lIns="0" tIns="0" rIns="0" bIns="0" rtlCol="0" anchor="ctr"/>
          <a:lstStyle/>
          <a:p>
            <a:pPr>
              <a:lnSpc>
                <a:spcPct val="130000"/>
              </a:lnSpc>
            </a:pPr>
            <a:r>
              <a:rPr lang="en-US" sz="2800" dirty="0">
                <a:solidFill>
                  <a:srgbClr val="45556C"/>
                </a:solidFill>
                <a:latin typeface="Calibri" panose="020F0502020204030204" pitchFamily="34" charset="0"/>
                <a:ea typeface="MiSans" pitchFamily="34" charset="-122"/>
                <a:cs typeface="Calibri" panose="020F0502020204030204" pitchFamily="34" charset="0"/>
              </a:rPr>
              <a:t>From limited context to self-improving systems</a:t>
            </a:r>
          </a:p>
        </p:txBody>
      </p:sp>
      <p:sp>
        <p:nvSpPr>
          <p:cNvPr id="4" name="Shape 2"/>
          <p:cNvSpPr/>
          <p:nvPr/>
        </p:nvSpPr>
        <p:spPr>
          <a:xfrm>
            <a:off x="1256705" y="228981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E2E8F0"/>
          </a:solidFill>
        </p:spPr>
        <p:txBody>
          <a:bodyPr/>
          <a:lstStyle/>
          <a:p>
            <a:endParaRPr lang="en-US"/>
          </a:p>
        </p:txBody>
      </p:sp>
      <p:sp>
        <p:nvSpPr>
          <p:cNvPr id="5" name="Shape 3"/>
          <p:cNvSpPr/>
          <p:nvPr/>
        </p:nvSpPr>
        <p:spPr>
          <a:xfrm>
            <a:off x="1447205" y="2480310"/>
            <a:ext cx="228600" cy="228600"/>
          </a:xfrm>
          <a:custGeom>
            <a:avLst/>
            <a:gdLst/>
            <a:ahLst/>
            <a:cxnLst/>
            <a:rect l="l" t="t" r="r" b="b"/>
            <a:pathLst>
              <a:path w="228600" h="228600">
                <a:moveTo>
                  <a:pt x="78581" y="10716"/>
                </a:moveTo>
                <a:cubicBezTo>
                  <a:pt x="78581" y="4777"/>
                  <a:pt x="73804" y="0"/>
                  <a:pt x="67866" y="0"/>
                </a:cubicBezTo>
                <a:cubicBezTo>
                  <a:pt x="61927" y="0"/>
                  <a:pt x="57150" y="4777"/>
                  <a:pt x="57150" y="10716"/>
                </a:cubicBezTo>
                <a:lnTo>
                  <a:pt x="57150" y="28575"/>
                </a:lnTo>
                <a:cubicBezTo>
                  <a:pt x="41389" y="28575"/>
                  <a:pt x="28575" y="41389"/>
                  <a:pt x="28575" y="57150"/>
                </a:cubicBezTo>
                <a:lnTo>
                  <a:pt x="10716" y="57150"/>
                </a:lnTo>
                <a:cubicBezTo>
                  <a:pt x="4777" y="57150"/>
                  <a:pt x="0" y="61927"/>
                  <a:pt x="0" y="67866"/>
                </a:cubicBezTo>
                <a:cubicBezTo>
                  <a:pt x="0" y="73804"/>
                  <a:pt x="4777" y="78581"/>
                  <a:pt x="10716" y="78581"/>
                </a:cubicBezTo>
                <a:lnTo>
                  <a:pt x="28575" y="78581"/>
                </a:lnTo>
                <a:lnTo>
                  <a:pt x="28575" y="103584"/>
                </a:lnTo>
                <a:lnTo>
                  <a:pt x="10716" y="103584"/>
                </a:lnTo>
                <a:cubicBezTo>
                  <a:pt x="4777" y="103584"/>
                  <a:pt x="0" y="108362"/>
                  <a:pt x="0" y="114300"/>
                </a:cubicBezTo>
                <a:cubicBezTo>
                  <a:pt x="0" y="120238"/>
                  <a:pt x="4777" y="125016"/>
                  <a:pt x="10716" y="125016"/>
                </a:cubicBezTo>
                <a:lnTo>
                  <a:pt x="28575" y="125016"/>
                </a:lnTo>
                <a:lnTo>
                  <a:pt x="28575" y="150019"/>
                </a:lnTo>
                <a:lnTo>
                  <a:pt x="10716" y="150019"/>
                </a:lnTo>
                <a:cubicBezTo>
                  <a:pt x="4777" y="150019"/>
                  <a:pt x="0" y="154796"/>
                  <a:pt x="0" y="160734"/>
                </a:cubicBezTo>
                <a:cubicBezTo>
                  <a:pt x="0" y="166673"/>
                  <a:pt x="4777" y="171450"/>
                  <a:pt x="10716" y="171450"/>
                </a:cubicBezTo>
                <a:lnTo>
                  <a:pt x="28575" y="171450"/>
                </a:lnTo>
                <a:cubicBezTo>
                  <a:pt x="28575" y="187211"/>
                  <a:pt x="41389" y="200025"/>
                  <a:pt x="57150" y="200025"/>
                </a:cubicBezTo>
                <a:lnTo>
                  <a:pt x="57150" y="217884"/>
                </a:lnTo>
                <a:cubicBezTo>
                  <a:pt x="57150" y="223823"/>
                  <a:pt x="61927" y="228600"/>
                  <a:pt x="67866" y="228600"/>
                </a:cubicBezTo>
                <a:cubicBezTo>
                  <a:pt x="73804" y="228600"/>
                  <a:pt x="78581" y="223823"/>
                  <a:pt x="78581" y="217884"/>
                </a:cubicBezTo>
                <a:lnTo>
                  <a:pt x="78581" y="200025"/>
                </a:lnTo>
                <a:lnTo>
                  <a:pt x="103584" y="200025"/>
                </a:lnTo>
                <a:lnTo>
                  <a:pt x="103584" y="217884"/>
                </a:lnTo>
                <a:cubicBezTo>
                  <a:pt x="103584" y="223823"/>
                  <a:pt x="108362" y="228600"/>
                  <a:pt x="114300" y="228600"/>
                </a:cubicBezTo>
                <a:cubicBezTo>
                  <a:pt x="120238" y="228600"/>
                  <a:pt x="125016" y="223823"/>
                  <a:pt x="125016" y="217884"/>
                </a:cubicBezTo>
                <a:lnTo>
                  <a:pt x="125016" y="200025"/>
                </a:lnTo>
                <a:lnTo>
                  <a:pt x="150019" y="200025"/>
                </a:lnTo>
                <a:lnTo>
                  <a:pt x="150019" y="217884"/>
                </a:lnTo>
                <a:cubicBezTo>
                  <a:pt x="150019" y="223823"/>
                  <a:pt x="154796" y="228600"/>
                  <a:pt x="160734" y="228600"/>
                </a:cubicBezTo>
                <a:cubicBezTo>
                  <a:pt x="166673" y="228600"/>
                  <a:pt x="171450" y="223823"/>
                  <a:pt x="171450" y="217884"/>
                </a:cubicBezTo>
                <a:lnTo>
                  <a:pt x="171450" y="200025"/>
                </a:lnTo>
                <a:cubicBezTo>
                  <a:pt x="187211" y="200025"/>
                  <a:pt x="200025" y="187211"/>
                  <a:pt x="200025" y="171450"/>
                </a:cubicBezTo>
                <a:lnTo>
                  <a:pt x="217884" y="171450"/>
                </a:lnTo>
                <a:cubicBezTo>
                  <a:pt x="223823" y="171450"/>
                  <a:pt x="228600" y="166673"/>
                  <a:pt x="228600" y="160734"/>
                </a:cubicBezTo>
                <a:cubicBezTo>
                  <a:pt x="228600" y="154796"/>
                  <a:pt x="223823" y="150019"/>
                  <a:pt x="217884" y="150019"/>
                </a:cubicBezTo>
                <a:lnTo>
                  <a:pt x="200025" y="150019"/>
                </a:lnTo>
                <a:lnTo>
                  <a:pt x="200025" y="125016"/>
                </a:lnTo>
                <a:lnTo>
                  <a:pt x="217884" y="125016"/>
                </a:lnTo>
                <a:cubicBezTo>
                  <a:pt x="223823" y="125016"/>
                  <a:pt x="228600" y="120238"/>
                  <a:pt x="228600" y="114300"/>
                </a:cubicBezTo>
                <a:cubicBezTo>
                  <a:pt x="228600" y="108362"/>
                  <a:pt x="223823" y="103584"/>
                  <a:pt x="217884" y="103584"/>
                </a:cubicBezTo>
                <a:lnTo>
                  <a:pt x="200025" y="103584"/>
                </a:lnTo>
                <a:lnTo>
                  <a:pt x="200025" y="78581"/>
                </a:lnTo>
                <a:lnTo>
                  <a:pt x="217884" y="78581"/>
                </a:lnTo>
                <a:cubicBezTo>
                  <a:pt x="223823" y="78581"/>
                  <a:pt x="228600" y="73804"/>
                  <a:pt x="228600" y="67866"/>
                </a:cubicBezTo>
                <a:cubicBezTo>
                  <a:pt x="228600" y="61927"/>
                  <a:pt x="223823" y="57150"/>
                  <a:pt x="217884" y="57150"/>
                </a:cubicBezTo>
                <a:lnTo>
                  <a:pt x="200025" y="57150"/>
                </a:lnTo>
                <a:cubicBezTo>
                  <a:pt x="200025" y="41389"/>
                  <a:pt x="187211" y="28575"/>
                  <a:pt x="171450" y="28575"/>
                </a:cubicBezTo>
                <a:lnTo>
                  <a:pt x="171450" y="10716"/>
                </a:lnTo>
                <a:cubicBezTo>
                  <a:pt x="171450" y="4777"/>
                  <a:pt x="166673" y="0"/>
                  <a:pt x="160734" y="0"/>
                </a:cubicBezTo>
                <a:cubicBezTo>
                  <a:pt x="154796" y="0"/>
                  <a:pt x="150019" y="4777"/>
                  <a:pt x="150019" y="10716"/>
                </a:cubicBezTo>
                <a:lnTo>
                  <a:pt x="150019" y="28575"/>
                </a:lnTo>
                <a:lnTo>
                  <a:pt x="125016" y="28575"/>
                </a:lnTo>
                <a:lnTo>
                  <a:pt x="125016" y="10716"/>
                </a:lnTo>
                <a:cubicBezTo>
                  <a:pt x="125016" y="4777"/>
                  <a:pt x="120238" y="0"/>
                  <a:pt x="114300" y="0"/>
                </a:cubicBezTo>
                <a:cubicBezTo>
                  <a:pt x="108362" y="0"/>
                  <a:pt x="103584" y="4777"/>
                  <a:pt x="103584" y="10716"/>
                </a:cubicBezTo>
                <a:lnTo>
                  <a:pt x="103584" y="28575"/>
                </a:lnTo>
                <a:lnTo>
                  <a:pt x="78581" y="28575"/>
                </a:lnTo>
                <a:lnTo>
                  <a:pt x="78581" y="10716"/>
                </a:lnTo>
                <a:close/>
                <a:moveTo>
                  <a:pt x="71438" y="57150"/>
                </a:moveTo>
                <a:lnTo>
                  <a:pt x="157163" y="57150"/>
                </a:lnTo>
                <a:cubicBezTo>
                  <a:pt x="165065" y="57150"/>
                  <a:pt x="171450" y="63535"/>
                  <a:pt x="171450" y="71438"/>
                </a:cubicBezTo>
                <a:lnTo>
                  <a:pt x="171450" y="157163"/>
                </a:lnTo>
                <a:cubicBezTo>
                  <a:pt x="171450" y="165065"/>
                  <a:pt x="165065" y="171450"/>
                  <a:pt x="157163" y="171450"/>
                </a:cubicBezTo>
                <a:lnTo>
                  <a:pt x="71438" y="171450"/>
                </a:lnTo>
                <a:cubicBezTo>
                  <a:pt x="63535" y="171450"/>
                  <a:pt x="57150" y="165065"/>
                  <a:pt x="57150" y="157163"/>
                </a:cubicBezTo>
                <a:lnTo>
                  <a:pt x="57150" y="71438"/>
                </a:lnTo>
                <a:cubicBezTo>
                  <a:pt x="57150" y="63535"/>
                  <a:pt x="63535" y="57150"/>
                  <a:pt x="71438" y="57150"/>
                </a:cubicBezTo>
                <a:close/>
                <a:moveTo>
                  <a:pt x="78581" y="78581"/>
                </a:moveTo>
                <a:lnTo>
                  <a:pt x="78581" y="150019"/>
                </a:lnTo>
                <a:lnTo>
                  <a:pt x="150019" y="150019"/>
                </a:lnTo>
                <a:lnTo>
                  <a:pt x="150019" y="78581"/>
                </a:lnTo>
                <a:lnTo>
                  <a:pt x="78581" y="78581"/>
                </a:lnTo>
                <a:close/>
              </a:path>
            </a:pathLst>
          </a:custGeom>
          <a:solidFill>
            <a:srgbClr val="45556C"/>
          </a:solidFill>
        </p:spPr>
        <p:txBody>
          <a:bodyPr/>
          <a:lstStyle/>
          <a:p>
            <a:endParaRPr lang="en-US"/>
          </a:p>
        </p:txBody>
      </p:sp>
      <p:sp>
        <p:nvSpPr>
          <p:cNvPr id="6" name="Text 4"/>
          <p:cNvSpPr/>
          <p:nvPr/>
        </p:nvSpPr>
        <p:spPr>
          <a:xfrm>
            <a:off x="342900" y="3013710"/>
            <a:ext cx="2438400" cy="228600"/>
          </a:xfrm>
          <a:prstGeom prst="rect">
            <a:avLst/>
          </a:prstGeom>
          <a:noFill/>
        </p:spPr>
        <p:txBody>
          <a:bodyPr wrap="square" lIns="0" tIns="0" rIns="0" bIns="0" rtlCol="0" anchor="ctr"/>
          <a:lstStyle/>
          <a:p>
            <a:pPr algn="ctr">
              <a:lnSpc>
                <a:spcPct val="130000"/>
              </a:lnSpc>
            </a:pPr>
            <a:r>
              <a:rPr lang="en-US" sz="2000" b="1" dirty="0">
                <a:solidFill>
                  <a:srgbClr val="1D293D"/>
                </a:solidFill>
                <a:latin typeface="Calibri" panose="020F0502020204030204" pitchFamily="34" charset="0"/>
                <a:ea typeface="MiSans" pitchFamily="34" charset="-122"/>
                <a:cs typeface="Calibri" panose="020F0502020204030204" pitchFamily="34" charset="0"/>
              </a:rPr>
              <a:t>LLM with</a:t>
            </a:r>
          </a:p>
        </p:txBody>
      </p:sp>
      <p:sp>
        <p:nvSpPr>
          <p:cNvPr id="7" name="Text 5"/>
          <p:cNvSpPr/>
          <p:nvPr/>
        </p:nvSpPr>
        <p:spPr>
          <a:xfrm>
            <a:off x="342900" y="3242310"/>
            <a:ext cx="2438400" cy="228600"/>
          </a:xfrm>
          <a:prstGeom prst="rect">
            <a:avLst/>
          </a:prstGeom>
          <a:noFill/>
        </p:spPr>
        <p:txBody>
          <a:bodyPr wrap="square" lIns="0" tIns="0" rIns="0" bIns="0" rtlCol="0" anchor="ctr"/>
          <a:lstStyle/>
          <a:p>
            <a:pPr algn="ctr">
              <a:lnSpc>
                <a:spcPct val="130000"/>
              </a:lnSpc>
              <a:buClrTx/>
              <a:buSzTx/>
              <a:buFontTx/>
            </a:pPr>
            <a:r>
              <a:rPr lang="en-US" sz="2000" b="1" dirty="0">
                <a:solidFill>
                  <a:srgbClr val="1D293D"/>
                </a:solidFill>
                <a:latin typeface="Calibri" panose="020F0502020204030204" pitchFamily="34" charset="0"/>
                <a:ea typeface="MiSans" pitchFamily="34" charset="-122"/>
                <a:cs typeface="Calibri" panose="020F0502020204030204" pitchFamily="34" charset="0"/>
              </a:rPr>
              <a:t>Limited Context</a:t>
            </a:r>
          </a:p>
        </p:txBody>
      </p:sp>
      <p:sp>
        <p:nvSpPr>
          <p:cNvPr id="8" name="Shape 6"/>
          <p:cNvSpPr/>
          <p:nvPr/>
        </p:nvSpPr>
        <p:spPr>
          <a:xfrm>
            <a:off x="2932509" y="2731770"/>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615FFF"/>
          </a:solidFill>
        </p:spPr>
        <p:txBody>
          <a:bodyPr/>
          <a:lstStyle/>
          <a:p>
            <a:endParaRPr lang="zh-CN" altLang="en-US"/>
          </a:p>
        </p:txBody>
      </p:sp>
      <p:sp>
        <p:nvSpPr>
          <p:cNvPr id="9" name="Shape 7"/>
          <p:cNvSpPr/>
          <p:nvPr/>
        </p:nvSpPr>
        <p:spPr>
          <a:xfrm>
            <a:off x="4279702" y="228981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E0E7FF"/>
          </a:solidFill>
        </p:spPr>
        <p:txBody>
          <a:bodyPr/>
          <a:lstStyle/>
          <a:p>
            <a:endParaRPr lang="en-US"/>
          </a:p>
        </p:txBody>
      </p:sp>
      <p:sp>
        <p:nvSpPr>
          <p:cNvPr id="10" name="Shape 8"/>
          <p:cNvSpPr/>
          <p:nvPr/>
        </p:nvSpPr>
        <p:spPr>
          <a:xfrm>
            <a:off x="4484489" y="2480310"/>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4F39F6"/>
          </a:solidFill>
        </p:spPr>
        <p:txBody>
          <a:bodyPr/>
          <a:lstStyle/>
          <a:p>
            <a:endParaRPr lang="en-US"/>
          </a:p>
        </p:txBody>
      </p:sp>
      <p:sp>
        <p:nvSpPr>
          <p:cNvPr id="11" name="Text 9"/>
          <p:cNvSpPr/>
          <p:nvPr/>
        </p:nvSpPr>
        <p:spPr>
          <a:xfrm>
            <a:off x="3365897" y="3013710"/>
            <a:ext cx="2438400" cy="228600"/>
          </a:xfrm>
          <a:prstGeom prst="rect">
            <a:avLst/>
          </a:prstGeom>
          <a:noFill/>
        </p:spPr>
        <p:txBody>
          <a:bodyPr wrap="square" lIns="0" tIns="0" rIns="0" bIns="0" rtlCol="0" anchor="ctr"/>
          <a:lstStyle/>
          <a:p>
            <a:pPr algn="ctr">
              <a:lnSpc>
                <a:spcPct val="130000"/>
              </a:lnSpc>
              <a:buClrTx/>
              <a:buSzTx/>
              <a:buFontTx/>
            </a:pPr>
            <a:r>
              <a:rPr lang="en-US" sz="2000" b="1" dirty="0">
                <a:solidFill>
                  <a:srgbClr val="1D293D"/>
                </a:solidFill>
                <a:latin typeface="Calibri" panose="020F0502020204030204" pitchFamily="34" charset="0"/>
                <a:ea typeface="MiSans" pitchFamily="34" charset="-122"/>
                <a:cs typeface="Calibri" panose="020F0502020204030204" pitchFamily="34" charset="0"/>
              </a:rPr>
              <a:t>Memory-Managed</a:t>
            </a:r>
          </a:p>
        </p:txBody>
      </p:sp>
      <p:sp>
        <p:nvSpPr>
          <p:cNvPr id="12" name="Text 10"/>
          <p:cNvSpPr/>
          <p:nvPr/>
        </p:nvSpPr>
        <p:spPr>
          <a:xfrm>
            <a:off x="3365897" y="3242310"/>
            <a:ext cx="2438400" cy="228600"/>
          </a:xfrm>
          <a:prstGeom prst="rect">
            <a:avLst/>
          </a:prstGeom>
          <a:noFill/>
        </p:spPr>
        <p:txBody>
          <a:bodyPr wrap="square" lIns="0" tIns="0" rIns="0" bIns="0" rtlCol="0" anchor="ctr"/>
          <a:lstStyle/>
          <a:p>
            <a:pPr algn="ctr">
              <a:lnSpc>
                <a:spcPct val="130000"/>
              </a:lnSpc>
            </a:pPr>
            <a:r>
              <a:rPr lang="en-US" sz="2000" b="1" dirty="0">
                <a:solidFill>
                  <a:srgbClr val="1D293D"/>
                </a:solidFill>
                <a:latin typeface="Calibri" panose="020F0502020204030204" pitchFamily="34" charset="0"/>
                <a:ea typeface="MiSans" pitchFamily="34" charset="-122"/>
                <a:cs typeface="Calibri" panose="020F0502020204030204" pitchFamily="34" charset="0"/>
              </a:rPr>
              <a:t>Agent</a:t>
            </a:r>
          </a:p>
        </p:txBody>
      </p:sp>
      <p:sp>
        <p:nvSpPr>
          <p:cNvPr id="13" name="Shape 11"/>
          <p:cNvSpPr/>
          <p:nvPr/>
        </p:nvSpPr>
        <p:spPr>
          <a:xfrm>
            <a:off x="5955506" y="2731770"/>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615FFF"/>
          </a:solidFill>
        </p:spPr>
        <p:txBody>
          <a:bodyPr/>
          <a:lstStyle/>
          <a:p>
            <a:endParaRPr lang="en-US"/>
          </a:p>
        </p:txBody>
      </p:sp>
      <p:sp>
        <p:nvSpPr>
          <p:cNvPr id="14" name="Shape 12"/>
          <p:cNvSpPr/>
          <p:nvPr/>
        </p:nvSpPr>
        <p:spPr>
          <a:xfrm>
            <a:off x="7302698" y="228981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3E8FF"/>
          </a:solidFill>
        </p:spPr>
        <p:txBody>
          <a:bodyPr/>
          <a:lstStyle/>
          <a:p>
            <a:endParaRPr lang="en-US"/>
          </a:p>
        </p:txBody>
      </p:sp>
      <p:sp>
        <p:nvSpPr>
          <p:cNvPr id="15" name="Shape 13"/>
          <p:cNvSpPr/>
          <p:nvPr/>
        </p:nvSpPr>
        <p:spPr>
          <a:xfrm>
            <a:off x="7507486" y="2480310"/>
            <a:ext cx="200025" cy="228600"/>
          </a:xfrm>
          <a:custGeom>
            <a:avLst/>
            <a:gdLst/>
            <a:ahLst/>
            <a:cxnLst/>
            <a:rect l="l" t="t" r="r" b="b"/>
            <a:pathLst>
              <a:path w="200025" h="228600">
                <a:moveTo>
                  <a:pt x="171450" y="228600"/>
                </a:moveTo>
                <a:lnTo>
                  <a:pt x="42863" y="228600"/>
                </a:lnTo>
                <a:cubicBezTo>
                  <a:pt x="19199" y="228600"/>
                  <a:pt x="0" y="209401"/>
                  <a:pt x="0" y="185738"/>
                </a:cubicBezTo>
                <a:lnTo>
                  <a:pt x="0" y="42863"/>
                </a:lnTo>
                <a:cubicBezTo>
                  <a:pt x="0" y="19199"/>
                  <a:pt x="19199" y="0"/>
                  <a:pt x="42863" y="0"/>
                </a:cubicBezTo>
                <a:lnTo>
                  <a:pt x="178594" y="0"/>
                </a:lnTo>
                <a:cubicBezTo>
                  <a:pt x="190426" y="0"/>
                  <a:pt x="200025" y="9599"/>
                  <a:pt x="200025" y="21431"/>
                </a:cubicBezTo>
                <a:lnTo>
                  <a:pt x="200025" y="150019"/>
                </a:lnTo>
                <a:cubicBezTo>
                  <a:pt x="200025" y="159350"/>
                  <a:pt x="194042" y="167298"/>
                  <a:pt x="185738" y="170244"/>
                </a:cubicBezTo>
                <a:lnTo>
                  <a:pt x="185738" y="200025"/>
                </a:lnTo>
                <a:cubicBezTo>
                  <a:pt x="193640" y="200025"/>
                  <a:pt x="200025" y="206410"/>
                  <a:pt x="200025" y="214313"/>
                </a:cubicBezTo>
                <a:cubicBezTo>
                  <a:pt x="200025" y="222215"/>
                  <a:pt x="193640" y="228600"/>
                  <a:pt x="185738" y="228600"/>
                </a:cubicBezTo>
                <a:lnTo>
                  <a:pt x="171450" y="228600"/>
                </a:lnTo>
                <a:close/>
                <a:moveTo>
                  <a:pt x="42863" y="171450"/>
                </a:moveTo>
                <a:cubicBezTo>
                  <a:pt x="34960" y="171450"/>
                  <a:pt x="28575" y="177835"/>
                  <a:pt x="28575" y="185738"/>
                </a:cubicBezTo>
                <a:cubicBezTo>
                  <a:pt x="28575" y="193640"/>
                  <a:pt x="34960" y="200025"/>
                  <a:pt x="42863" y="200025"/>
                </a:cubicBezTo>
                <a:lnTo>
                  <a:pt x="157163" y="200025"/>
                </a:lnTo>
                <a:lnTo>
                  <a:pt x="157163" y="171450"/>
                </a:lnTo>
                <a:lnTo>
                  <a:pt x="42863" y="171450"/>
                </a:lnTo>
                <a:close/>
                <a:moveTo>
                  <a:pt x="57150" y="67866"/>
                </a:moveTo>
                <a:cubicBezTo>
                  <a:pt x="57150" y="73804"/>
                  <a:pt x="61927" y="78581"/>
                  <a:pt x="67866" y="78581"/>
                </a:cubicBezTo>
                <a:lnTo>
                  <a:pt x="146447" y="78581"/>
                </a:lnTo>
                <a:cubicBezTo>
                  <a:pt x="152385" y="78581"/>
                  <a:pt x="157163" y="73804"/>
                  <a:pt x="157163" y="67866"/>
                </a:cubicBezTo>
                <a:cubicBezTo>
                  <a:pt x="157163" y="61927"/>
                  <a:pt x="152385" y="57150"/>
                  <a:pt x="146447" y="57150"/>
                </a:cubicBezTo>
                <a:lnTo>
                  <a:pt x="67866" y="57150"/>
                </a:lnTo>
                <a:cubicBezTo>
                  <a:pt x="61927" y="57150"/>
                  <a:pt x="57150" y="61927"/>
                  <a:pt x="57150" y="67866"/>
                </a:cubicBezTo>
                <a:close/>
                <a:moveTo>
                  <a:pt x="67866" y="100013"/>
                </a:moveTo>
                <a:cubicBezTo>
                  <a:pt x="61927" y="100013"/>
                  <a:pt x="57150" y="104790"/>
                  <a:pt x="57150" y="110728"/>
                </a:cubicBezTo>
                <a:cubicBezTo>
                  <a:pt x="57150" y="116666"/>
                  <a:pt x="61927" y="121444"/>
                  <a:pt x="67866" y="121444"/>
                </a:cubicBezTo>
                <a:lnTo>
                  <a:pt x="146447" y="121444"/>
                </a:lnTo>
                <a:cubicBezTo>
                  <a:pt x="152385" y="121444"/>
                  <a:pt x="157163" y="116666"/>
                  <a:pt x="157163" y="110728"/>
                </a:cubicBezTo>
                <a:cubicBezTo>
                  <a:pt x="157163" y="104790"/>
                  <a:pt x="152385" y="100013"/>
                  <a:pt x="146447" y="100013"/>
                </a:cubicBezTo>
                <a:lnTo>
                  <a:pt x="67866" y="100013"/>
                </a:lnTo>
                <a:close/>
              </a:path>
            </a:pathLst>
          </a:custGeom>
          <a:solidFill>
            <a:srgbClr val="9810FA"/>
          </a:solidFill>
        </p:spPr>
        <p:txBody>
          <a:bodyPr/>
          <a:lstStyle/>
          <a:p>
            <a:endParaRPr lang="en-US"/>
          </a:p>
        </p:txBody>
      </p:sp>
      <p:sp>
        <p:nvSpPr>
          <p:cNvPr id="16" name="Text 14"/>
          <p:cNvSpPr/>
          <p:nvPr/>
        </p:nvSpPr>
        <p:spPr>
          <a:xfrm>
            <a:off x="6388894" y="3013710"/>
            <a:ext cx="2438400" cy="228600"/>
          </a:xfrm>
          <a:prstGeom prst="rect">
            <a:avLst/>
          </a:prstGeom>
          <a:noFill/>
        </p:spPr>
        <p:txBody>
          <a:bodyPr wrap="square" lIns="0" tIns="0" rIns="0" bIns="0" rtlCol="0" anchor="ctr"/>
          <a:lstStyle/>
          <a:p>
            <a:pPr algn="ctr">
              <a:lnSpc>
                <a:spcPct val="130000"/>
              </a:lnSpc>
              <a:buClrTx/>
              <a:buSzTx/>
              <a:buFontTx/>
            </a:pPr>
            <a:r>
              <a:rPr lang="en-US" sz="2000" b="1" dirty="0">
                <a:solidFill>
                  <a:srgbClr val="1D293D"/>
                </a:solidFill>
                <a:latin typeface="Calibri" panose="020F0502020204030204" pitchFamily="34" charset="0"/>
                <a:ea typeface="MiSans" pitchFamily="34" charset="-122"/>
                <a:cs typeface="Calibri" panose="020F0502020204030204" pitchFamily="34" charset="0"/>
              </a:rPr>
              <a:t>Context-Evolving</a:t>
            </a:r>
          </a:p>
        </p:txBody>
      </p:sp>
      <p:sp>
        <p:nvSpPr>
          <p:cNvPr id="17" name="Text 15"/>
          <p:cNvSpPr/>
          <p:nvPr/>
        </p:nvSpPr>
        <p:spPr>
          <a:xfrm>
            <a:off x="6388894" y="3242310"/>
            <a:ext cx="2438400" cy="228600"/>
          </a:xfrm>
          <a:prstGeom prst="rect">
            <a:avLst/>
          </a:prstGeom>
          <a:noFill/>
        </p:spPr>
        <p:txBody>
          <a:bodyPr wrap="square" lIns="0" tIns="0" rIns="0" bIns="0" rtlCol="0" anchor="ctr"/>
          <a:lstStyle/>
          <a:p>
            <a:pPr algn="ctr">
              <a:lnSpc>
                <a:spcPct val="130000"/>
              </a:lnSpc>
              <a:buClrTx/>
              <a:buSzTx/>
              <a:buFontTx/>
            </a:pPr>
            <a:r>
              <a:rPr lang="en-US" sz="2000" b="1" dirty="0">
                <a:solidFill>
                  <a:srgbClr val="1D293D"/>
                </a:solidFill>
                <a:latin typeface="Calibri" panose="020F0502020204030204" pitchFamily="34" charset="0"/>
                <a:ea typeface="MiSans" pitchFamily="34" charset="-122"/>
                <a:cs typeface="Calibri" panose="020F0502020204030204" pitchFamily="34" charset="0"/>
              </a:rPr>
              <a:t>Agent</a:t>
            </a:r>
          </a:p>
        </p:txBody>
      </p:sp>
      <p:sp>
        <p:nvSpPr>
          <p:cNvPr id="18" name="Shape 16"/>
          <p:cNvSpPr/>
          <p:nvPr/>
        </p:nvSpPr>
        <p:spPr>
          <a:xfrm>
            <a:off x="8978503" y="2731770"/>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615FFF"/>
          </a:solidFill>
        </p:spPr>
        <p:txBody>
          <a:bodyPr/>
          <a:lstStyle/>
          <a:p>
            <a:endParaRPr lang="en-US"/>
          </a:p>
        </p:txBody>
      </p:sp>
      <p:sp>
        <p:nvSpPr>
          <p:cNvPr id="19" name="Shape 17"/>
          <p:cNvSpPr/>
          <p:nvPr/>
        </p:nvSpPr>
        <p:spPr>
          <a:xfrm>
            <a:off x="10325695" y="228981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flip="none" rotWithShape="1">
            <a:gsLst>
              <a:gs pos="0">
                <a:srgbClr val="615FFF"/>
              </a:gs>
              <a:gs pos="100000">
                <a:srgbClr val="9810FA"/>
              </a:gs>
            </a:gsLst>
            <a:lin ang="2700000" scaled="1"/>
          </a:gradFill>
        </p:spPr>
        <p:txBody>
          <a:bodyPr/>
          <a:lstStyle/>
          <a:p>
            <a:endParaRPr lang="en-US"/>
          </a:p>
        </p:txBody>
      </p:sp>
      <p:sp>
        <p:nvSpPr>
          <p:cNvPr id="20" name="Shape 18"/>
          <p:cNvSpPr/>
          <p:nvPr/>
        </p:nvSpPr>
        <p:spPr>
          <a:xfrm>
            <a:off x="10516195" y="2480310"/>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FFFFFF"/>
          </a:solidFill>
        </p:spPr>
        <p:txBody>
          <a:bodyPr/>
          <a:lstStyle/>
          <a:p>
            <a:endParaRPr lang="en-US"/>
          </a:p>
        </p:txBody>
      </p:sp>
      <p:sp>
        <p:nvSpPr>
          <p:cNvPr id="21" name="Text 19"/>
          <p:cNvSpPr/>
          <p:nvPr/>
        </p:nvSpPr>
        <p:spPr>
          <a:xfrm>
            <a:off x="9411891" y="3013710"/>
            <a:ext cx="2438400" cy="228600"/>
          </a:xfrm>
          <a:prstGeom prst="rect">
            <a:avLst/>
          </a:prstGeom>
          <a:noFill/>
        </p:spPr>
        <p:txBody>
          <a:bodyPr wrap="square" lIns="0" tIns="0" rIns="0" bIns="0" rtlCol="0" anchor="ctr"/>
          <a:lstStyle/>
          <a:p>
            <a:pPr algn="ctr">
              <a:lnSpc>
                <a:spcPct val="130000"/>
              </a:lnSpc>
            </a:pPr>
            <a:r>
              <a:rPr lang="en-US" sz="2000" b="1" dirty="0">
                <a:solidFill>
                  <a:srgbClr val="1D293D"/>
                </a:solidFill>
                <a:latin typeface="Calibri" panose="020F0502020204030204" pitchFamily="34" charset="0"/>
                <a:ea typeface="MiSans" pitchFamily="34" charset="-122"/>
                <a:cs typeface="Calibri" panose="020F0502020204030204" pitchFamily="34" charset="0"/>
              </a:rPr>
              <a:t>Self-Improving</a:t>
            </a:r>
          </a:p>
        </p:txBody>
      </p:sp>
      <p:sp>
        <p:nvSpPr>
          <p:cNvPr id="22" name="Text 20"/>
          <p:cNvSpPr/>
          <p:nvPr/>
        </p:nvSpPr>
        <p:spPr>
          <a:xfrm>
            <a:off x="9411891" y="3242310"/>
            <a:ext cx="2438400" cy="228600"/>
          </a:xfrm>
          <a:prstGeom prst="rect">
            <a:avLst/>
          </a:prstGeom>
          <a:noFill/>
        </p:spPr>
        <p:txBody>
          <a:bodyPr wrap="square" lIns="0" tIns="0" rIns="0" bIns="0" rtlCol="0" anchor="ctr"/>
          <a:lstStyle/>
          <a:p>
            <a:pPr algn="ctr">
              <a:lnSpc>
                <a:spcPct val="130000"/>
              </a:lnSpc>
            </a:pPr>
            <a:r>
              <a:rPr lang="en-US" sz="2000" b="1" dirty="0">
                <a:solidFill>
                  <a:srgbClr val="1D293D"/>
                </a:solidFill>
                <a:latin typeface="Calibri" panose="020F0502020204030204" pitchFamily="34" charset="0"/>
                <a:ea typeface="MiSans" pitchFamily="34" charset="-122"/>
                <a:cs typeface="Calibri" panose="020F0502020204030204" pitchFamily="34" charset="0"/>
              </a:rPr>
              <a:t>Agent</a:t>
            </a:r>
          </a:p>
        </p:txBody>
      </p:sp>
      <p:sp>
        <p:nvSpPr>
          <p:cNvPr id="23" name="Shape 21"/>
          <p:cNvSpPr/>
          <p:nvPr/>
        </p:nvSpPr>
        <p:spPr>
          <a:xfrm>
            <a:off x="381000" y="3775710"/>
            <a:ext cx="2743200" cy="495300"/>
          </a:xfrm>
          <a:custGeom>
            <a:avLst/>
            <a:gdLst/>
            <a:ahLst/>
            <a:cxnLst/>
            <a:rect l="l" t="t" r="r" b="b"/>
            <a:pathLst>
              <a:path w="2743200" h="495300">
                <a:moveTo>
                  <a:pt x="76202" y="0"/>
                </a:moveTo>
                <a:lnTo>
                  <a:pt x="2666998" y="0"/>
                </a:lnTo>
                <a:cubicBezTo>
                  <a:pt x="2709083" y="0"/>
                  <a:pt x="2743200" y="34117"/>
                  <a:pt x="2743200" y="76202"/>
                </a:cubicBezTo>
                <a:lnTo>
                  <a:pt x="2743200" y="419098"/>
                </a:lnTo>
                <a:cubicBezTo>
                  <a:pt x="2743200" y="461183"/>
                  <a:pt x="2709083" y="495300"/>
                  <a:pt x="2666998" y="495300"/>
                </a:cubicBezTo>
                <a:lnTo>
                  <a:pt x="76202" y="495300"/>
                </a:lnTo>
                <a:cubicBezTo>
                  <a:pt x="34117" y="495300"/>
                  <a:pt x="0" y="461183"/>
                  <a:pt x="0" y="419098"/>
                </a:cubicBezTo>
                <a:lnTo>
                  <a:pt x="0" y="76202"/>
                </a:lnTo>
                <a:cubicBezTo>
                  <a:pt x="0" y="34117"/>
                  <a:pt x="34117" y="0"/>
                  <a:pt x="76202" y="0"/>
                </a:cubicBezTo>
                <a:close/>
              </a:path>
            </a:pathLst>
          </a:custGeom>
          <a:solidFill>
            <a:srgbClr val="F8FAFC"/>
          </a:solidFill>
        </p:spPr>
        <p:txBody>
          <a:bodyPr/>
          <a:lstStyle/>
          <a:p>
            <a:endParaRPr lang="en-US"/>
          </a:p>
        </p:txBody>
      </p:sp>
      <p:sp>
        <p:nvSpPr>
          <p:cNvPr id="24" name="Text 22"/>
          <p:cNvSpPr/>
          <p:nvPr/>
        </p:nvSpPr>
        <p:spPr>
          <a:xfrm>
            <a:off x="500063" y="3928110"/>
            <a:ext cx="2505075" cy="190500"/>
          </a:xfrm>
          <a:prstGeom prst="rect">
            <a:avLst/>
          </a:prstGeom>
          <a:noFill/>
        </p:spPr>
        <p:txBody>
          <a:bodyPr wrap="square" lIns="0" tIns="0" rIns="0" bIns="0" rtlCol="0" anchor="ctr"/>
          <a:lstStyle/>
          <a:p>
            <a:pPr algn="ctr">
              <a:lnSpc>
                <a:spcPct val="120000"/>
              </a:lnSpc>
            </a:pPr>
            <a:r>
              <a:rPr lang="en-US" sz="2000" b="1" dirty="0">
                <a:solidFill>
                  <a:srgbClr val="62748E"/>
                </a:solidFill>
                <a:latin typeface="Calibri" panose="020F0502020204030204" pitchFamily="34" charset="0"/>
                <a:ea typeface="MiSans" pitchFamily="34" charset="-122"/>
                <a:cs typeface="Calibri" panose="020F0502020204030204" pitchFamily="34" charset="0"/>
              </a:rPr>
              <a:t>Limited Context</a:t>
            </a:r>
          </a:p>
        </p:txBody>
      </p:sp>
      <p:sp>
        <p:nvSpPr>
          <p:cNvPr id="25" name="Shape 23"/>
          <p:cNvSpPr/>
          <p:nvPr/>
        </p:nvSpPr>
        <p:spPr>
          <a:xfrm>
            <a:off x="3276600" y="3775710"/>
            <a:ext cx="2743200" cy="495300"/>
          </a:xfrm>
          <a:custGeom>
            <a:avLst/>
            <a:gdLst/>
            <a:ahLst/>
            <a:cxnLst/>
            <a:rect l="l" t="t" r="r" b="b"/>
            <a:pathLst>
              <a:path w="2743200" h="495300">
                <a:moveTo>
                  <a:pt x="76202" y="0"/>
                </a:moveTo>
                <a:lnTo>
                  <a:pt x="2666998" y="0"/>
                </a:lnTo>
                <a:cubicBezTo>
                  <a:pt x="2709083" y="0"/>
                  <a:pt x="2743200" y="34117"/>
                  <a:pt x="2743200" y="76202"/>
                </a:cubicBezTo>
                <a:lnTo>
                  <a:pt x="2743200" y="419098"/>
                </a:lnTo>
                <a:cubicBezTo>
                  <a:pt x="2743200" y="461183"/>
                  <a:pt x="2709083" y="495300"/>
                  <a:pt x="2666998" y="495300"/>
                </a:cubicBezTo>
                <a:lnTo>
                  <a:pt x="76202" y="495300"/>
                </a:lnTo>
                <a:cubicBezTo>
                  <a:pt x="34117" y="495300"/>
                  <a:pt x="0" y="461183"/>
                  <a:pt x="0" y="419098"/>
                </a:cubicBezTo>
                <a:lnTo>
                  <a:pt x="0" y="76202"/>
                </a:lnTo>
                <a:cubicBezTo>
                  <a:pt x="0" y="34117"/>
                  <a:pt x="34117" y="0"/>
                  <a:pt x="76202" y="0"/>
                </a:cubicBezTo>
                <a:close/>
              </a:path>
            </a:pathLst>
          </a:custGeom>
          <a:solidFill>
            <a:srgbClr val="EEF2FF"/>
          </a:solidFill>
        </p:spPr>
        <p:txBody>
          <a:bodyPr/>
          <a:lstStyle/>
          <a:p>
            <a:endParaRPr lang="en-US"/>
          </a:p>
        </p:txBody>
      </p:sp>
      <p:sp>
        <p:nvSpPr>
          <p:cNvPr id="26" name="Text 24"/>
          <p:cNvSpPr/>
          <p:nvPr/>
        </p:nvSpPr>
        <p:spPr>
          <a:xfrm>
            <a:off x="3395663" y="3928110"/>
            <a:ext cx="2505075" cy="190500"/>
          </a:xfrm>
          <a:prstGeom prst="rect">
            <a:avLst/>
          </a:prstGeom>
          <a:noFill/>
        </p:spPr>
        <p:txBody>
          <a:bodyPr wrap="square" lIns="0" tIns="0" rIns="0" bIns="0" rtlCol="0" anchor="ctr"/>
          <a:lstStyle/>
          <a:p>
            <a:pPr algn="ctr">
              <a:lnSpc>
                <a:spcPct val="120000"/>
              </a:lnSpc>
            </a:pPr>
            <a:r>
              <a:rPr lang="en-US" sz="2000" b="1" dirty="0">
                <a:solidFill>
                  <a:srgbClr val="4F39F6"/>
                </a:solidFill>
                <a:latin typeface="Calibri" panose="020F0502020204030204" pitchFamily="34" charset="0"/>
                <a:ea typeface="MiSans" pitchFamily="34" charset="-122"/>
                <a:cs typeface="Calibri" panose="020F0502020204030204" pitchFamily="34" charset="0"/>
              </a:rPr>
              <a:t>Long-term Memory</a:t>
            </a:r>
            <a:endParaRPr lang="en-US" sz="2000" dirty="0">
              <a:latin typeface="Calibri" panose="020F0502020204030204" pitchFamily="34" charset="0"/>
              <a:cs typeface="Calibri" panose="020F0502020204030204" pitchFamily="34" charset="0"/>
            </a:endParaRPr>
          </a:p>
        </p:txBody>
      </p:sp>
      <p:sp>
        <p:nvSpPr>
          <p:cNvPr id="27" name="Shape 25"/>
          <p:cNvSpPr/>
          <p:nvPr/>
        </p:nvSpPr>
        <p:spPr>
          <a:xfrm>
            <a:off x="6172200" y="3775710"/>
            <a:ext cx="2743200" cy="495300"/>
          </a:xfrm>
          <a:custGeom>
            <a:avLst/>
            <a:gdLst/>
            <a:ahLst/>
            <a:cxnLst/>
            <a:rect l="l" t="t" r="r" b="b"/>
            <a:pathLst>
              <a:path w="2743200" h="495300">
                <a:moveTo>
                  <a:pt x="76202" y="0"/>
                </a:moveTo>
                <a:lnTo>
                  <a:pt x="2666998" y="0"/>
                </a:lnTo>
                <a:cubicBezTo>
                  <a:pt x="2709083" y="0"/>
                  <a:pt x="2743200" y="34117"/>
                  <a:pt x="2743200" y="76202"/>
                </a:cubicBezTo>
                <a:lnTo>
                  <a:pt x="2743200" y="419098"/>
                </a:lnTo>
                <a:cubicBezTo>
                  <a:pt x="2743200" y="461183"/>
                  <a:pt x="2709083" y="495300"/>
                  <a:pt x="2666998" y="495300"/>
                </a:cubicBezTo>
                <a:lnTo>
                  <a:pt x="76202" y="495300"/>
                </a:lnTo>
                <a:cubicBezTo>
                  <a:pt x="34117" y="495300"/>
                  <a:pt x="0" y="461183"/>
                  <a:pt x="0" y="419098"/>
                </a:cubicBezTo>
                <a:lnTo>
                  <a:pt x="0" y="76202"/>
                </a:lnTo>
                <a:cubicBezTo>
                  <a:pt x="0" y="34117"/>
                  <a:pt x="34117" y="0"/>
                  <a:pt x="76202" y="0"/>
                </a:cubicBezTo>
                <a:close/>
              </a:path>
            </a:pathLst>
          </a:custGeom>
          <a:solidFill>
            <a:srgbClr val="FAF5FF"/>
          </a:solidFill>
        </p:spPr>
        <p:txBody>
          <a:bodyPr/>
          <a:lstStyle/>
          <a:p>
            <a:endParaRPr lang="en-US"/>
          </a:p>
        </p:txBody>
      </p:sp>
      <p:sp>
        <p:nvSpPr>
          <p:cNvPr id="28" name="Text 26"/>
          <p:cNvSpPr/>
          <p:nvPr/>
        </p:nvSpPr>
        <p:spPr>
          <a:xfrm>
            <a:off x="6291263" y="3928110"/>
            <a:ext cx="2505075" cy="190500"/>
          </a:xfrm>
          <a:prstGeom prst="rect">
            <a:avLst/>
          </a:prstGeom>
          <a:noFill/>
        </p:spPr>
        <p:txBody>
          <a:bodyPr wrap="square" lIns="0" tIns="0" rIns="0" bIns="0" rtlCol="0" anchor="ctr"/>
          <a:lstStyle/>
          <a:p>
            <a:pPr algn="ctr">
              <a:lnSpc>
                <a:spcPct val="120000"/>
              </a:lnSpc>
            </a:pPr>
            <a:r>
              <a:rPr lang="en-US" sz="2000" b="1" dirty="0">
                <a:solidFill>
                  <a:srgbClr val="9810FA"/>
                </a:solidFill>
                <a:latin typeface="Calibri" panose="020F0502020204030204" pitchFamily="34" charset="0"/>
                <a:ea typeface="MiSans" pitchFamily="34" charset="-122"/>
                <a:cs typeface="Calibri" panose="020F0502020204030204" pitchFamily="34" charset="0"/>
              </a:rPr>
              <a:t>Evolving Playbook</a:t>
            </a:r>
            <a:endParaRPr lang="en-US" sz="2000" dirty="0">
              <a:latin typeface="Calibri" panose="020F0502020204030204" pitchFamily="34" charset="0"/>
              <a:cs typeface="Calibri" panose="020F0502020204030204" pitchFamily="34" charset="0"/>
            </a:endParaRPr>
          </a:p>
        </p:txBody>
      </p:sp>
      <p:sp>
        <p:nvSpPr>
          <p:cNvPr id="29" name="Shape 27"/>
          <p:cNvSpPr/>
          <p:nvPr/>
        </p:nvSpPr>
        <p:spPr>
          <a:xfrm>
            <a:off x="9067800" y="3695065"/>
            <a:ext cx="2743200" cy="767715"/>
          </a:xfrm>
          <a:custGeom>
            <a:avLst/>
            <a:gdLst/>
            <a:ahLst/>
            <a:cxnLst/>
            <a:rect l="l" t="t" r="r" b="b"/>
            <a:pathLst>
              <a:path w="2743200" h="495300">
                <a:moveTo>
                  <a:pt x="76202" y="0"/>
                </a:moveTo>
                <a:lnTo>
                  <a:pt x="2666998" y="0"/>
                </a:lnTo>
                <a:cubicBezTo>
                  <a:pt x="2709083" y="0"/>
                  <a:pt x="2743200" y="34117"/>
                  <a:pt x="2743200" y="76202"/>
                </a:cubicBezTo>
                <a:lnTo>
                  <a:pt x="2743200" y="419098"/>
                </a:lnTo>
                <a:cubicBezTo>
                  <a:pt x="2743200" y="461183"/>
                  <a:pt x="2709083" y="495300"/>
                  <a:pt x="2666998" y="495300"/>
                </a:cubicBezTo>
                <a:lnTo>
                  <a:pt x="76202" y="495300"/>
                </a:lnTo>
                <a:cubicBezTo>
                  <a:pt x="34117" y="495300"/>
                  <a:pt x="0" y="461183"/>
                  <a:pt x="0" y="419098"/>
                </a:cubicBezTo>
                <a:lnTo>
                  <a:pt x="0" y="76202"/>
                </a:lnTo>
                <a:cubicBezTo>
                  <a:pt x="0" y="34117"/>
                  <a:pt x="34117" y="0"/>
                  <a:pt x="76202" y="0"/>
                </a:cubicBezTo>
                <a:close/>
              </a:path>
            </a:pathLst>
          </a:custGeom>
          <a:gradFill flip="none" rotWithShape="1">
            <a:gsLst>
              <a:gs pos="0">
                <a:srgbClr val="EEF2FF"/>
              </a:gs>
              <a:gs pos="100000">
                <a:srgbClr val="FAF5FF"/>
              </a:gs>
            </a:gsLst>
            <a:lin ang="0" scaled="1"/>
          </a:gradFill>
        </p:spPr>
        <p:txBody>
          <a:bodyPr/>
          <a:lstStyle/>
          <a:p>
            <a:endParaRPr lang="en-US"/>
          </a:p>
        </p:txBody>
      </p:sp>
      <p:sp>
        <p:nvSpPr>
          <p:cNvPr id="30" name="Text 28"/>
          <p:cNvSpPr/>
          <p:nvPr/>
        </p:nvSpPr>
        <p:spPr>
          <a:xfrm>
            <a:off x="9186863" y="3928110"/>
            <a:ext cx="2505075" cy="190500"/>
          </a:xfrm>
          <a:prstGeom prst="rect">
            <a:avLst/>
          </a:prstGeom>
          <a:noFill/>
        </p:spPr>
        <p:txBody>
          <a:bodyPr wrap="square" lIns="0" tIns="0" rIns="0" bIns="0" rtlCol="0" anchor="ctr"/>
          <a:lstStyle/>
          <a:p>
            <a:pPr algn="ctr">
              <a:lnSpc>
                <a:spcPct val="120000"/>
              </a:lnSpc>
            </a:pPr>
            <a:r>
              <a:rPr lang="en-US" sz="2000" b="1" dirty="0">
                <a:solidFill>
                  <a:srgbClr val="432DD7"/>
                </a:solidFill>
                <a:latin typeface="Calibri" panose="020F0502020204030204" pitchFamily="34" charset="0"/>
                <a:ea typeface="MiSans" pitchFamily="34" charset="-122"/>
                <a:cs typeface="Calibri" panose="020F0502020204030204" pitchFamily="34" charset="0"/>
              </a:rPr>
              <a:t>Learning from Interaction</a:t>
            </a:r>
            <a:endParaRPr lang="en-US" sz="2000" dirty="0">
              <a:latin typeface="Calibri" panose="020F0502020204030204" pitchFamily="34" charset="0"/>
              <a:cs typeface="Calibri" panose="020F0502020204030204" pitchFamily="34" charset="0"/>
            </a:endParaRPr>
          </a:p>
        </p:txBody>
      </p:sp>
      <p:sp>
        <p:nvSpPr>
          <p:cNvPr id="34" name="Text 32"/>
          <p:cNvSpPr/>
          <p:nvPr/>
        </p:nvSpPr>
        <p:spPr>
          <a:xfrm>
            <a:off x="809625" y="5014594"/>
            <a:ext cx="10915650" cy="850947"/>
          </a:xfrm>
          <a:prstGeom prst="rect">
            <a:avLst/>
          </a:prstGeom>
          <a:noFill/>
        </p:spPr>
        <p:txBody>
          <a:bodyPr wrap="square" lIns="0" tIns="0" rIns="0" bIns="0" rtlCol="0" anchor="ctr"/>
          <a:lstStyle/>
          <a:p>
            <a:pPr>
              <a:lnSpc>
                <a:spcPct val="130000"/>
              </a:lnSpc>
            </a:pPr>
            <a:r>
              <a:rPr lang="en-US" sz="2000" dirty="0">
                <a:latin typeface="Times New Roman" panose="02020603050405020304" pitchFamily="18" charset="0"/>
                <a:ea typeface="MiSans" pitchFamily="34" charset="-122"/>
                <a:cs typeface="Times New Roman" panose="02020603050405020304" pitchFamily="18" charset="0"/>
              </a:rPr>
              <a:t>Key Message: AI agents are not only becoming better at reasoning; they are also becoming better at remembering, organizing experience, and improving through use.</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A9D6B6-3AC1-B3E0-B036-51AE7C97367A}"/>
              </a:ext>
            </a:extLst>
          </p:cNvPr>
          <p:cNvSpPr>
            <a:spLocks noGrp="1"/>
          </p:cNvSpPr>
          <p:nvPr>
            <p:ph type="sldNum" sz="quarter" idx="10"/>
          </p:nvPr>
        </p:nvSpPr>
        <p:spPr/>
        <p:txBody>
          <a:bodyPr/>
          <a:lstStyle/>
          <a:p>
            <a:fld id="{D9B6BDF2-6896-4B98-8776-C18582F63BA5}" type="slidenum">
              <a:rPr lang="zh-TW" altLang="en-US" smtClean="0"/>
              <a:t>3</a:t>
            </a:fld>
            <a:endParaRPr lang="zh-TW" altLang="en-US"/>
          </a:p>
        </p:txBody>
      </p:sp>
      <p:sp>
        <p:nvSpPr>
          <p:cNvPr id="3" name="內容版面配置區 2">
            <a:extLst>
              <a:ext uri="{FF2B5EF4-FFF2-40B4-BE49-F238E27FC236}">
                <a16:creationId xmlns:a16="http://schemas.microsoft.com/office/drawing/2014/main" id="{61FA5E37-E735-904F-2E6B-600832E2D3F0}"/>
              </a:ext>
            </a:extLst>
          </p:cNvPr>
          <p:cNvSpPr txBox="1">
            <a:spLocks/>
          </p:cNvSpPr>
          <p:nvPr/>
        </p:nvSpPr>
        <p:spPr>
          <a:xfrm>
            <a:off x="1311423" y="1125537"/>
            <a:ext cx="10270977" cy="4570413"/>
          </a:xfrm>
          <a:prstGeom prst="rect">
            <a:avLst/>
          </a:prstGeom>
        </p:spPr>
        <p:txBody>
          <a:bodyPr>
            <a:noAutofit/>
          </a:bodyPr>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4000" kern="0" dirty="0">
                <a:latin typeface="Times New Roman" panose="02020603050405020304" pitchFamily="18" charset="0"/>
                <a:cs typeface="Times New Roman" panose="02020603050405020304" pitchFamily="18" charset="0"/>
              </a:rPr>
              <a:t>Introduction: </a:t>
            </a:r>
            <a:r>
              <a:rPr lang="en-US" sz="4000" dirty="0">
                <a:latin typeface="Times New Roman" panose="02020603050405020304" pitchFamily="18" charset="0"/>
                <a:cs typeface="Times New Roman" panose="02020603050405020304" pitchFamily="18" charset="0"/>
              </a:rPr>
              <a:t>The need for evolution beyond reasoning</a:t>
            </a:r>
            <a:endParaRPr lang="en-US" altLang="zh-TW" sz="4000" kern="0" dirty="0">
              <a:latin typeface="Times New Roman" panose="02020603050405020304" pitchFamily="18" charset="0"/>
              <a:cs typeface="Times New Roman" panose="02020603050405020304" pitchFamily="18" charset="0"/>
            </a:endParaRPr>
          </a:p>
          <a:p>
            <a:r>
              <a:rPr lang="en-US" sz="4000" kern="0" dirty="0">
                <a:latin typeface="Times New Roman" panose="02020603050405020304" pitchFamily="18" charset="0"/>
                <a:cs typeface="Times New Roman" panose="02020603050405020304" pitchFamily="18" charset="0"/>
              </a:rPr>
              <a:t>Paper</a:t>
            </a:r>
            <a:r>
              <a:rPr lang="en-US" sz="4000" dirty="0">
                <a:latin typeface="Times New Roman" panose="02020603050405020304" pitchFamily="18" charset="0"/>
                <a:cs typeface="Times New Roman" panose="02020603050405020304" pitchFamily="18" charset="0"/>
              </a:rPr>
              <a:t> 1:  </a:t>
            </a:r>
            <a:r>
              <a:rPr lang="en-US" sz="4000" dirty="0" err="1">
                <a:latin typeface="Times New Roman" panose="02020603050405020304" pitchFamily="18" charset="0"/>
                <a:cs typeface="Times New Roman" panose="02020603050405020304" pitchFamily="18" charset="0"/>
              </a:rPr>
              <a:t>MemGPT</a:t>
            </a:r>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Paper 2: Agentic Context Engineering</a:t>
            </a:r>
            <a:endParaRPr lang="en-US" altLang="zh-CN" sz="4000" kern="0" dirty="0">
              <a:latin typeface="Times New Roman" panose="02020603050405020304" pitchFamily="18" charset="0"/>
              <a:cs typeface="Times New Roman" panose="02020603050405020304" pitchFamily="18" charset="0"/>
            </a:endParaRPr>
          </a:p>
          <a:p>
            <a:r>
              <a:rPr lang="en-US" altLang="zh-CN" sz="4000" kern="0" dirty="0">
                <a:latin typeface="Times New Roman" panose="02020603050405020304" pitchFamily="18" charset="0"/>
                <a:cs typeface="Times New Roman" panose="02020603050405020304" pitchFamily="18" charset="0"/>
              </a:rPr>
              <a:t>Paper 3: </a:t>
            </a:r>
            <a:r>
              <a:rPr lang="en-US" sz="4000" dirty="0" err="1">
                <a:latin typeface="Times New Roman" panose="02020603050405020304" pitchFamily="18" charset="0"/>
                <a:cs typeface="Times New Roman" panose="02020603050405020304" pitchFamily="18" charset="0"/>
              </a:rPr>
              <a:t>OpenClaw</a:t>
            </a:r>
            <a:r>
              <a:rPr lang="en-US" sz="4000" dirty="0">
                <a:latin typeface="Times New Roman" panose="02020603050405020304" pitchFamily="18" charset="0"/>
                <a:cs typeface="Times New Roman" panose="02020603050405020304" pitchFamily="18" charset="0"/>
              </a:rPr>
              <a:t>-RL</a:t>
            </a:r>
            <a:endParaRPr lang="en-US" altLang="zh-CN" sz="4000" kern="0" dirty="0">
              <a:latin typeface="Times New Roman" panose="02020603050405020304" pitchFamily="18" charset="0"/>
              <a:cs typeface="Times New Roman" panose="02020603050405020304" pitchFamily="18" charset="0"/>
            </a:endParaRPr>
          </a:p>
          <a:p>
            <a:r>
              <a:rPr lang="en-US" altLang="zh-CN" sz="4000" kern="0" dirty="0">
                <a:latin typeface="Times New Roman" panose="02020603050405020304" pitchFamily="18" charset="0"/>
                <a:cs typeface="Times New Roman" panose="02020603050405020304" pitchFamily="18" charset="0"/>
              </a:rPr>
              <a:t>Conclusions</a:t>
            </a:r>
          </a:p>
        </p:txBody>
      </p:sp>
      <p:sp>
        <p:nvSpPr>
          <p:cNvPr id="4" name="標題 1">
            <a:extLst>
              <a:ext uri="{FF2B5EF4-FFF2-40B4-BE49-F238E27FC236}">
                <a16:creationId xmlns:a16="http://schemas.microsoft.com/office/drawing/2014/main" id="{2DAF660F-AD98-1A34-CEAC-1D2B8C4C1F94}"/>
              </a:ext>
            </a:extLst>
          </p:cNvPr>
          <p:cNvSpPr txBox="1">
            <a:spLocks/>
          </p:cNvSpPr>
          <p:nvPr/>
        </p:nvSpPr>
        <p:spPr>
          <a:xfrm>
            <a:off x="1296610" y="144466"/>
            <a:ext cx="10270977" cy="692151"/>
          </a:xfrm>
          <a:prstGeom prst="rect">
            <a:avLst/>
          </a:prstGeom>
        </p:spPr>
        <p:txBody>
          <a:bodyPr/>
          <a:lstStyle>
            <a:lvl1pPr algn="l" rtl="0" eaLnBrk="1" fontAlgn="base" hangingPunct="1">
              <a:spcBef>
                <a:spcPct val="0"/>
              </a:spcBef>
              <a:spcAft>
                <a:spcPct val="0"/>
              </a:spcAft>
              <a:defRPr kumimoji="1" sz="4800"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a:lstStyle>
          <a:p>
            <a:r>
              <a:rPr lang="en-US" altLang="zh-TW" kern="0" dirty="0">
                <a:latin typeface="Times New Roman" panose="02020603050405020304" pitchFamily="18" charset="0"/>
                <a:cs typeface="Times New Roman" panose="02020603050405020304" pitchFamily="18" charset="0"/>
              </a:rPr>
              <a:t>Outline</a:t>
            </a:r>
            <a:endParaRPr lang="zh-TW" altLang="en-US"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72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32558" y="295275"/>
            <a:ext cx="10179004" cy="399415"/>
          </a:xfrm>
          <a:prstGeom prst="rect">
            <a:avLst/>
          </a:prstGeom>
          <a:noFill/>
        </p:spPr>
        <p:txBody>
          <a:bodyPr wrap="square" lIns="0" tIns="0" rIns="0" bIns="0" rtlCol="0" anchor="ctr"/>
          <a:lstStyle/>
          <a:p>
            <a:pPr>
              <a:lnSpc>
                <a:spcPct val="100000"/>
              </a:lnSpc>
            </a:pP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Why This Evolution Matters</a:t>
            </a:r>
            <a:endParaRPr lang="en-US" sz="4800" dirty="0">
              <a:solidFill>
                <a:schemeClr val="tx2"/>
              </a:solidFill>
              <a:latin typeface="Times New Roman" panose="02020603050405020304" pitchFamily="18" charset="0"/>
              <a:cs typeface="Times New Roman" panose="02020603050405020304" pitchFamily="18" charset="0"/>
            </a:endParaRPr>
          </a:p>
        </p:txBody>
      </p:sp>
      <p:sp>
        <p:nvSpPr>
          <p:cNvPr id="3" name="Shape 1"/>
          <p:cNvSpPr/>
          <p:nvPr/>
        </p:nvSpPr>
        <p:spPr>
          <a:xfrm>
            <a:off x="347345" y="1191895"/>
            <a:ext cx="5275580" cy="4656455"/>
          </a:xfrm>
          <a:custGeom>
            <a:avLst/>
            <a:gdLst/>
            <a:ahLst/>
            <a:cxnLst/>
            <a:rect l="l" t="t" r="r" b="b"/>
            <a:pathLst>
              <a:path w="5562600" h="5524500">
                <a:moveTo>
                  <a:pt x="114302" y="0"/>
                </a:moveTo>
                <a:lnTo>
                  <a:pt x="5448298" y="0"/>
                </a:lnTo>
                <a:cubicBezTo>
                  <a:pt x="5511425" y="0"/>
                  <a:pt x="5562600" y="51175"/>
                  <a:pt x="5562600" y="114302"/>
                </a:cubicBezTo>
                <a:lnTo>
                  <a:pt x="5562600" y="5410198"/>
                </a:lnTo>
                <a:cubicBezTo>
                  <a:pt x="5562600" y="5473325"/>
                  <a:pt x="5511425" y="5524500"/>
                  <a:pt x="5448298" y="5524500"/>
                </a:cubicBezTo>
                <a:lnTo>
                  <a:pt x="114302" y="5524500"/>
                </a:lnTo>
                <a:cubicBezTo>
                  <a:pt x="51175" y="5524500"/>
                  <a:pt x="0" y="5473325"/>
                  <a:pt x="0" y="5410198"/>
                </a:cubicBezTo>
                <a:lnTo>
                  <a:pt x="0" y="114302"/>
                </a:lnTo>
                <a:cubicBezTo>
                  <a:pt x="0" y="51217"/>
                  <a:pt x="51217" y="0"/>
                  <a:pt x="114302" y="0"/>
                </a:cubicBezTo>
                <a:close/>
              </a:path>
            </a:pathLst>
          </a:custGeom>
          <a:gradFill flip="none" rotWithShape="1">
            <a:gsLst>
              <a:gs pos="0">
                <a:srgbClr val="F8FAFC"/>
              </a:gs>
              <a:gs pos="100000">
                <a:srgbClr val="EEF2FF"/>
              </a:gs>
            </a:gsLst>
            <a:lin ang="2700000" scaled="1"/>
          </a:gradFill>
        </p:spPr>
        <p:txBody>
          <a:bodyPr/>
          <a:lstStyle/>
          <a:p>
            <a:endParaRPr lang="zh-CN" altLang="en-US"/>
          </a:p>
        </p:txBody>
      </p:sp>
      <p:sp>
        <p:nvSpPr>
          <p:cNvPr id="5" name="Text 3"/>
          <p:cNvSpPr/>
          <p:nvPr/>
        </p:nvSpPr>
        <p:spPr>
          <a:xfrm>
            <a:off x="431800" y="1301750"/>
            <a:ext cx="1914525" cy="494665"/>
          </a:xfrm>
          <a:prstGeom prst="rect">
            <a:avLst/>
          </a:prstGeom>
          <a:noFill/>
        </p:spPr>
        <p:txBody>
          <a:bodyPr wrap="square" lIns="0" tIns="0" rIns="0" bIns="0" rtlCol="0" anchor="ctr"/>
          <a:lstStyle/>
          <a:p>
            <a:pPr>
              <a:lnSpc>
                <a:spcPct val="120000"/>
              </a:lnSpc>
            </a:pPr>
            <a:r>
              <a:rPr lang="en-US" sz="2800" b="1" dirty="0">
                <a:solidFill>
                  <a:srgbClr val="1D293D"/>
                </a:solidFill>
                <a:latin typeface="Calibri" panose="020F0502020204030204" pitchFamily="34" charset="0"/>
                <a:ea typeface="Noto Sans SC" panose="020B0200000000000000" pitchFamily="34" charset="-122"/>
                <a:cs typeface="Calibri" panose="020F0502020204030204" pitchFamily="34" charset="0"/>
              </a:rPr>
              <a:t>Motivation</a:t>
            </a:r>
          </a:p>
        </p:txBody>
      </p:sp>
      <p:sp>
        <p:nvSpPr>
          <p:cNvPr id="6" name="Shape 4"/>
          <p:cNvSpPr/>
          <p:nvPr/>
        </p:nvSpPr>
        <p:spPr>
          <a:xfrm>
            <a:off x="710565" y="206502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615FFF"/>
          </a:solidFill>
        </p:spPr>
        <p:txBody>
          <a:bodyPr/>
          <a:lstStyle/>
          <a:p>
            <a:endParaRPr lang="en-US"/>
          </a:p>
        </p:txBody>
      </p:sp>
      <p:sp>
        <p:nvSpPr>
          <p:cNvPr id="7" name="Text 5"/>
          <p:cNvSpPr/>
          <p:nvPr/>
        </p:nvSpPr>
        <p:spPr>
          <a:xfrm>
            <a:off x="677228" y="2065020"/>
            <a:ext cx="371475" cy="304800"/>
          </a:xfrm>
          <a:prstGeom prst="rect">
            <a:avLst/>
          </a:prstGeom>
          <a:noFill/>
        </p:spPr>
        <p:txBody>
          <a:bodyPr wrap="square" lIns="0" tIns="0" rIns="0" bIns="0" rtlCol="0" anchor="ctr"/>
          <a:lstStyle/>
          <a:p>
            <a:pPr algn="ctr">
              <a:lnSpc>
                <a:spcPct val="120000"/>
              </a:lnSpc>
            </a:pPr>
            <a:r>
              <a:rPr lang="en-US" sz="2000" b="1" dirty="0">
                <a:solidFill>
                  <a:srgbClr val="FFFFFF"/>
                </a:solidFill>
                <a:latin typeface="Calibri" panose="020F0502020204030204" pitchFamily="34" charset="0"/>
                <a:ea typeface="MiSans" pitchFamily="34" charset="-122"/>
                <a:cs typeface="Calibri" panose="020F0502020204030204" pitchFamily="34" charset="0"/>
              </a:rPr>
              <a:t>1</a:t>
            </a:r>
            <a:endParaRPr lang="en-US" sz="2000" dirty="0">
              <a:latin typeface="Calibri" panose="020F0502020204030204" pitchFamily="34" charset="0"/>
              <a:cs typeface="Calibri" panose="020F0502020204030204" pitchFamily="34" charset="0"/>
            </a:endParaRPr>
          </a:p>
        </p:txBody>
      </p:sp>
      <p:sp>
        <p:nvSpPr>
          <p:cNvPr id="8" name="Text 6"/>
          <p:cNvSpPr/>
          <p:nvPr/>
        </p:nvSpPr>
        <p:spPr>
          <a:xfrm>
            <a:off x="1129665" y="2002155"/>
            <a:ext cx="2552700" cy="435610"/>
          </a:xfrm>
          <a:prstGeom prst="rect">
            <a:avLst/>
          </a:prstGeom>
          <a:noFill/>
        </p:spPr>
        <p:txBody>
          <a:bodyPr wrap="square" lIns="0" tIns="0" rIns="0" bIns="0" rtlCol="0" anchor="ctr"/>
          <a:lstStyle/>
          <a:p>
            <a:pPr>
              <a:lnSpc>
                <a:spcPct val="130000"/>
              </a:lnSpc>
            </a:pPr>
            <a:r>
              <a:rPr lang="en-US" sz="2000" b="1" dirty="0">
                <a:solidFill>
                  <a:srgbClr val="1D293D"/>
                </a:solidFill>
                <a:latin typeface="Calibri" panose="020F0502020204030204" pitchFamily="34" charset="0"/>
                <a:ea typeface="Noto Sans SC" panose="020B0200000000000000" pitchFamily="34" charset="-122"/>
                <a:cs typeface="Calibri" panose="020F0502020204030204" pitchFamily="34" charset="0"/>
              </a:rPr>
              <a:t>More Interaction</a:t>
            </a:r>
          </a:p>
        </p:txBody>
      </p:sp>
      <p:sp>
        <p:nvSpPr>
          <p:cNvPr id="9" name="Text 7"/>
          <p:cNvSpPr/>
          <p:nvPr/>
        </p:nvSpPr>
        <p:spPr>
          <a:xfrm>
            <a:off x="1129665" y="2293620"/>
            <a:ext cx="4319905" cy="495300"/>
          </a:xfrm>
          <a:prstGeom prst="rect">
            <a:avLst/>
          </a:prstGeom>
          <a:noFill/>
        </p:spPr>
        <p:txBody>
          <a:bodyPr wrap="square" lIns="0" tIns="0" rIns="0" bIns="0" rtlCol="0" anchor="ctr"/>
          <a:lstStyle/>
          <a:p>
            <a:pPr>
              <a:lnSpc>
                <a:spcPct val="12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Agents face longer, more realistic settings</a:t>
            </a:r>
          </a:p>
        </p:txBody>
      </p:sp>
      <p:sp>
        <p:nvSpPr>
          <p:cNvPr id="11" name="Shape 9"/>
          <p:cNvSpPr/>
          <p:nvPr/>
        </p:nvSpPr>
        <p:spPr>
          <a:xfrm>
            <a:off x="710565" y="294132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615FFF"/>
          </a:solidFill>
        </p:spPr>
        <p:txBody>
          <a:bodyPr/>
          <a:lstStyle/>
          <a:p>
            <a:endParaRPr lang="en-US"/>
          </a:p>
        </p:txBody>
      </p:sp>
      <p:sp>
        <p:nvSpPr>
          <p:cNvPr id="12" name="Text 10"/>
          <p:cNvSpPr/>
          <p:nvPr/>
        </p:nvSpPr>
        <p:spPr>
          <a:xfrm>
            <a:off x="677228" y="2941320"/>
            <a:ext cx="371475" cy="304800"/>
          </a:xfrm>
          <a:prstGeom prst="rect">
            <a:avLst/>
          </a:prstGeom>
          <a:noFill/>
        </p:spPr>
        <p:txBody>
          <a:bodyPr wrap="square" lIns="0" tIns="0" rIns="0" bIns="0" rtlCol="0" anchor="ctr"/>
          <a:lstStyle/>
          <a:p>
            <a:pPr algn="ctr">
              <a:lnSpc>
                <a:spcPct val="120000"/>
              </a:lnSpc>
            </a:pPr>
            <a:r>
              <a:rPr lang="en-US" sz="2000" b="1" dirty="0">
                <a:solidFill>
                  <a:srgbClr val="FFFFFF"/>
                </a:solidFill>
                <a:latin typeface="Calibri" panose="020F0502020204030204" pitchFamily="34" charset="0"/>
                <a:ea typeface="MiSans" pitchFamily="34" charset="-122"/>
                <a:cs typeface="Calibri" panose="020F0502020204030204" pitchFamily="34" charset="0"/>
              </a:rPr>
              <a:t>2</a:t>
            </a:r>
          </a:p>
        </p:txBody>
      </p:sp>
      <p:sp>
        <p:nvSpPr>
          <p:cNvPr id="13" name="Text 11"/>
          <p:cNvSpPr/>
          <p:nvPr/>
        </p:nvSpPr>
        <p:spPr>
          <a:xfrm>
            <a:off x="1129665" y="2749550"/>
            <a:ext cx="2190750" cy="549275"/>
          </a:xfrm>
          <a:prstGeom prst="rect">
            <a:avLst/>
          </a:prstGeom>
          <a:noFill/>
        </p:spPr>
        <p:txBody>
          <a:bodyPr wrap="square" lIns="0" tIns="0" rIns="0" bIns="0" rtlCol="0" anchor="ctr"/>
          <a:lstStyle/>
          <a:p>
            <a:pPr algn="l">
              <a:lnSpc>
                <a:spcPct val="130000"/>
              </a:lnSpc>
              <a:buClrTx/>
              <a:buSzTx/>
              <a:buFontTx/>
            </a:pPr>
            <a:r>
              <a:rPr lang="en-US" sz="2000" b="1" dirty="0">
                <a:solidFill>
                  <a:srgbClr val="1D293D"/>
                </a:solidFill>
                <a:latin typeface="Calibri" panose="020F0502020204030204" pitchFamily="34" charset="0"/>
                <a:ea typeface="Noto Sans SC" panose="020B0200000000000000" pitchFamily="34" charset="-122"/>
                <a:cs typeface="Calibri" panose="020F0502020204030204" pitchFamily="34" charset="0"/>
              </a:rPr>
              <a:t>More Experience</a:t>
            </a:r>
          </a:p>
        </p:txBody>
      </p:sp>
      <p:sp>
        <p:nvSpPr>
          <p:cNvPr id="14" name="Text 12"/>
          <p:cNvSpPr/>
          <p:nvPr/>
        </p:nvSpPr>
        <p:spPr>
          <a:xfrm>
            <a:off x="1139825" y="3225800"/>
            <a:ext cx="3975735" cy="515620"/>
          </a:xfrm>
          <a:prstGeom prst="rect">
            <a:avLst/>
          </a:prstGeom>
          <a:noFill/>
        </p:spPr>
        <p:txBody>
          <a:bodyPr wrap="square" lIns="0" tIns="0" rIns="0" bIns="0" rtlCol="0" anchor="ctr"/>
          <a:lstStyle/>
          <a:p>
            <a:pPr>
              <a:lnSpc>
                <a:spcPct val="12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Accumulate history over time</a:t>
            </a:r>
          </a:p>
        </p:txBody>
      </p:sp>
      <p:sp>
        <p:nvSpPr>
          <p:cNvPr id="16" name="Shape 14"/>
          <p:cNvSpPr/>
          <p:nvPr/>
        </p:nvSpPr>
        <p:spPr>
          <a:xfrm>
            <a:off x="710565" y="381762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AD46FF"/>
          </a:solidFill>
        </p:spPr>
        <p:txBody>
          <a:bodyPr/>
          <a:lstStyle/>
          <a:p>
            <a:endParaRPr lang="en-US"/>
          </a:p>
        </p:txBody>
      </p:sp>
      <p:sp>
        <p:nvSpPr>
          <p:cNvPr id="17" name="Text 15"/>
          <p:cNvSpPr/>
          <p:nvPr/>
        </p:nvSpPr>
        <p:spPr>
          <a:xfrm>
            <a:off x="677228" y="3817620"/>
            <a:ext cx="371475" cy="304800"/>
          </a:xfrm>
          <a:prstGeom prst="rect">
            <a:avLst/>
          </a:prstGeom>
          <a:noFill/>
        </p:spPr>
        <p:txBody>
          <a:bodyPr wrap="square" lIns="0" tIns="0" rIns="0" bIns="0" rtlCol="0" anchor="ctr"/>
          <a:lstStyle/>
          <a:p>
            <a:pPr algn="ctr">
              <a:lnSpc>
                <a:spcPct val="120000"/>
              </a:lnSpc>
            </a:pPr>
            <a:r>
              <a:rPr lang="en-US" sz="2000" dirty="0">
                <a:solidFill>
                  <a:schemeClr val="bg1"/>
                </a:solidFill>
                <a:latin typeface="Calibri" panose="020F0502020204030204" pitchFamily="34" charset="0"/>
                <a:cs typeface="Calibri" panose="020F0502020204030204" pitchFamily="34" charset="0"/>
              </a:rPr>
              <a:t>3</a:t>
            </a:r>
          </a:p>
        </p:txBody>
      </p:sp>
      <p:sp>
        <p:nvSpPr>
          <p:cNvPr id="18" name="Text 16"/>
          <p:cNvSpPr/>
          <p:nvPr/>
        </p:nvSpPr>
        <p:spPr>
          <a:xfrm>
            <a:off x="1129665" y="3817620"/>
            <a:ext cx="2352675" cy="228600"/>
          </a:xfrm>
          <a:prstGeom prst="rect">
            <a:avLst/>
          </a:prstGeom>
          <a:noFill/>
        </p:spPr>
        <p:txBody>
          <a:bodyPr wrap="square" lIns="0" tIns="0" rIns="0" bIns="0" rtlCol="0" anchor="ctr"/>
          <a:lstStyle/>
          <a:p>
            <a:pPr>
              <a:lnSpc>
                <a:spcPct val="130000"/>
              </a:lnSpc>
            </a:pPr>
            <a:r>
              <a:rPr lang="en-US" sz="2000" b="1" dirty="0">
                <a:solidFill>
                  <a:srgbClr val="1D293D"/>
                </a:solidFill>
                <a:latin typeface="Calibri" panose="020F0502020204030204" pitchFamily="34" charset="0"/>
                <a:ea typeface="Noto Sans SC" panose="020B0200000000000000" pitchFamily="34" charset="-122"/>
                <a:cs typeface="Calibri" panose="020F0502020204030204" pitchFamily="34" charset="0"/>
              </a:rPr>
              <a:t>Three Core Needs</a:t>
            </a:r>
          </a:p>
        </p:txBody>
      </p:sp>
      <p:sp>
        <p:nvSpPr>
          <p:cNvPr id="19" name="Shape 17"/>
          <p:cNvSpPr/>
          <p:nvPr/>
        </p:nvSpPr>
        <p:spPr>
          <a:xfrm>
            <a:off x="1129665" y="4122420"/>
            <a:ext cx="1492885" cy="447040"/>
          </a:xfrm>
          <a:custGeom>
            <a:avLst/>
            <a:gdLst/>
            <a:ahLst/>
            <a:cxnLst/>
            <a:rect l="l" t="t" r="r" b="b"/>
            <a:pathLst>
              <a:path w="790575" h="228600">
                <a:moveTo>
                  <a:pt x="114300" y="0"/>
                </a:moveTo>
                <a:lnTo>
                  <a:pt x="676275" y="0"/>
                </a:lnTo>
                <a:cubicBezTo>
                  <a:pt x="739359" y="0"/>
                  <a:pt x="790575" y="51216"/>
                  <a:pt x="790575" y="114300"/>
                </a:cubicBezTo>
                <a:lnTo>
                  <a:pt x="790575" y="114300"/>
                </a:lnTo>
                <a:cubicBezTo>
                  <a:pt x="790575" y="177384"/>
                  <a:pt x="739359" y="228600"/>
                  <a:pt x="676275" y="228600"/>
                </a:cubicBezTo>
                <a:lnTo>
                  <a:pt x="114300" y="228600"/>
                </a:lnTo>
                <a:cubicBezTo>
                  <a:pt x="51216" y="228600"/>
                  <a:pt x="0" y="177384"/>
                  <a:pt x="0" y="114300"/>
                </a:cubicBezTo>
                <a:lnTo>
                  <a:pt x="0" y="114300"/>
                </a:lnTo>
                <a:cubicBezTo>
                  <a:pt x="0" y="51216"/>
                  <a:pt x="51216" y="0"/>
                  <a:pt x="114300" y="0"/>
                </a:cubicBezTo>
                <a:close/>
              </a:path>
            </a:pathLst>
          </a:custGeom>
          <a:solidFill>
            <a:srgbClr val="E0E7FF"/>
          </a:solidFill>
        </p:spPr>
        <p:txBody>
          <a:bodyPr/>
          <a:lstStyle/>
          <a:p>
            <a:pPr algn="ctr">
              <a:lnSpc>
                <a:spcPct val="110000"/>
              </a:lnSpc>
            </a:pPr>
            <a:r>
              <a:rPr lang="en-US" b="1" dirty="0">
                <a:solidFill>
                  <a:srgbClr val="432DD7"/>
                </a:solidFill>
                <a:latin typeface="Calibri" panose="020F0502020204030204" pitchFamily="34" charset="0"/>
                <a:ea typeface="MiSans" pitchFamily="34" charset="-122"/>
                <a:cs typeface="Calibri" panose="020F0502020204030204" pitchFamily="34" charset="0"/>
                <a:sym typeface="+mn-ea"/>
              </a:rPr>
              <a:t>Remember</a:t>
            </a:r>
            <a:endParaRPr lang="en-GB" altLang="en-US" dirty="0"/>
          </a:p>
        </p:txBody>
      </p:sp>
      <p:sp>
        <p:nvSpPr>
          <p:cNvPr id="20" name="Text 18"/>
          <p:cNvSpPr/>
          <p:nvPr/>
        </p:nvSpPr>
        <p:spPr>
          <a:xfrm>
            <a:off x="1129665" y="4122420"/>
            <a:ext cx="1216660" cy="505460"/>
          </a:xfrm>
          <a:prstGeom prst="rect">
            <a:avLst/>
          </a:prstGeom>
          <a:noFill/>
        </p:spPr>
        <p:txBody>
          <a:bodyPr wrap="square" lIns="114300" tIns="38100" rIns="114300" bIns="38100" rtlCol="0" anchor="ctr"/>
          <a:lstStyle/>
          <a:p>
            <a:pPr>
              <a:lnSpc>
                <a:spcPct val="110000"/>
              </a:lnSpc>
            </a:pPr>
            <a:endParaRPr lang="en-US" sz="2000" b="1" dirty="0">
              <a:solidFill>
                <a:srgbClr val="432DD7"/>
              </a:solidFill>
              <a:latin typeface="Calibri" panose="020F0502020204030204" pitchFamily="34" charset="0"/>
              <a:ea typeface="MiSans" pitchFamily="34" charset="-122"/>
              <a:cs typeface="Calibri" panose="020F0502020204030204" pitchFamily="34" charset="0"/>
            </a:endParaRPr>
          </a:p>
        </p:txBody>
      </p:sp>
      <p:sp>
        <p:nvSpPr>
          <p:cNvPr id="21" name="Shape 19"/>
          <p:cNvSpPr/>
          <p:nvPr/>
        </p:nvSpPr>
        <p:spPr>
          <a:xfrm>
            <a:off x="1838325" y="4646296"/>
            <a:ext cx="1482090" cy="424180"/>
          </a:xfrm>
          <a:custGeom>
            <a:avLst/>
            <a:gdLst/>
            <a:ahLst/>
            <a:cxnLst/>
            <a:rect l="l" t="t" r="r" b="b"/>
            <a:pathLst>
              <a:path w="695325" h="228600">
                <a:moveTo>
                  <a:pt x="114300" y="0"/>
                </a:moveTo>
                <a:lnTo>
                  <a:pt x="581025" y="0"/>
                </a:lnTo>
                <a:cubicBezTo>
                  <a:pt x="644109" y="0"/>
                  <a:pt x="695325" y="51216"/>
                  <a:pt x="695325" y="114300"/>
                </a:cubicBezTo>
                <a:lnTo>
                  <a:pt x="695325" y="114300"/>
                </a:lnTo>
                <a:cubicBezTo>
                  <a:pt x="695325" y="177384"/>
                  <a:pt x="644109" y="228600"/>
                  <a:pt x="581025" y="228600"/>
                </a:cubicBezTo>
                <a:lnTo>
                  <a:pt x="114300" y="228600"/>
                </a:lnTo>
                <a:cubicBezTo>
                  <a:pt x="51216" y="228600"/>
                  <a:pt x="0" y="177384"/>
                  <a:pt x="0" y="114300"/>
                </a:cubicBezTo>
                <a:lnTo>
                  <a:pt x="0" y="114300"/>
                </a:lnTo>
                <a:cubicBezTo>
                  <a:pt x="0" y="51216"/>
                  <a:pt x="51216" y="0"/>
                  <a:pt x="114300" y="0"/>
                </a:cubicBezTo>
                <a:close/>
              </a:path>
            </a:pathLst>
          </a:custGeom>
          <a:solidFill>
            <a:srgbClr val="F3E8FF"/>
          </a:solidFill>
        </p:spPr>
        <p:txBody>
          <a:bodyPr/>
          <a:lstStyle/>
          <a:p>
            <a:pPr algn="ctr">
              <a:lnSpc>
                <a:spcPct val="110000"/>
              </a:lnSpc>
            </a:pPr>
            <a:r>
              <a:rPr lang="en-US" b="1" dirty="0">
                <a:solidFill>
                  <a:srgbClr val="8200DB"/>
                </a:solidFill>
                <a:latin typeface="MiSans" pitchFamily="34" charset="-122"/>
                <a:ea typeface="MiSans" pitchFamily="34" charset="-122"/>
                <a:cs typeface="MiSans" pitchFamily="34" charset="-120"/>
                <a:sym typeface="+mn-ea"/>
              </a:rPr>
              <a:t>Organize</a:t>
            </a:r>
            <a:endParaRPr lang="en-GB" altLang="en-US" dirty="0"/>
          </a:p>
        </p:txBody>
      </p:sp>
      <p:sp>
        <p:nvSpPr>
          <p:cNvPr id="22" name="Text 20"/>
          <p:cNvSpPr/>
          <p:nvPr/>
        </p:nvSpPr>
        <p:spPr>
          <a:xfrm>
            <a:off x="1139190" y="4994910"/>
            <a:ext cx="860425" cy="342900"/>
          </a:xfrm>
          <a:prstGeom prst="rect">
            <a:avLst/>
          </a:prstGeom>
          <a:noFill/>
        </p:spPr>
        <p:txBody>
          <a:bodyPr wrap="square" lIns="114300" tIns="38100" rIns="114300" bIns="38100" rtlCol="0" anchor="ctr"/>
          <a:lstStyle/>
          <a:p>
            <a:pPr>
              <a:lnSpc>
                <a:spcPct val="110000"/>
              </a:lnSpc>
            </a:pPr>
            <a:endParaRPr lang="en-US" sz="1600" dirty="0"/>
          </a:p>
        </p:txBody>
      </p:sp>
      <p:sp>
        <p:nvSpPr>
          <p:cNvPr id="23" name="Shape 21"/>
          <p:cNvSpPr/>
          <p:nvPr/>
        </p:nvSpPr>
        <p:spPr>
          <a:xfrm>
            <a:off x="2620645" y="5154723"/>
            <a:ext cx="1390015" cy="381524"/>
          </a:xfrm>
          <a:custGeom>
            <a:avLst/>
            <a:gdLst/>
            <a:ahLst/>
            <a:cxnLst/>
            <a:rect l="l" t="t" r="r" b="b"/>
            <a:pathLst>
              <a:path w="638175" h="228600">
                <a:moveTo>
                  <a:pt x="114300" y="0"/>
                </a:moveTo>
                <a:lnTo>
                  <a:pt x="523875" y="0"/>
                </a:lnTo>
                <a:cubicBezTo>
                  <a:pt x="586959" y="0"/>
                  <a:pt x="638175" y="51216"/>
                  <a:pt x="638175" y="114300"/>
                </a:cubicBezTo>
                <a:lnTo>
                  <a:pt x="638175" y="114300"/>
                </a:lnTo>
                <a:cubicBezTo>
                  <a:pt x="638175" y="177384"/>
                  <a:pt x="586959" y="228600"/>
                  <a:pt x="523875" y="228600"/>
                </a:cubicBezTo>
                <a:lnTo>
                  <a:pt x="114300" y="228600"/>
                </a:lnTo>
                <a:cubicBezTo>
                  <a:pt x="51216" y="228600"/>
                  <a:pt x="0" y="177384"/>
                  <a:pt x="0" y="114300"/>
                </a:cubicBezTo>
                <a:lnTo>
                  <a:pt x="0" y="114300"/>
                </a:lnTo>
                <a:cubicBezTo>
                  <a:pt x="0" y="51216"/>
                  <a:pt x="51216" y="0"/>
                  <a:pt x="114300" y="0"/>
                </a:cubicBezTo>
                <a:close/>
              </a:path>
            </a:pathLst>
          </a:custGeom>
          <a:solidFill>
            <a:srgbClr val="FCE7F3"/>
          </a:solidFill>
        </p:spPr>
        <p:txBody>
          <a:bodyPr/>
          <a:lstStyle/>
          <a:p>
            <a:pPr algn="ctr">
              <a:lnSpc>
                <a:spcPct val="110000"/>
              </a:lnSpc>
            </a:pPr>
            <a:r>
              <a:rPr lang="en-US" b="1" dirty="0">
                <a:solidFill>
                  <a:srgbClr val="C6005C"/>
                </a:solidFill>
                <a:latin typeface="MiSans" pitchFamily="34" charset="-122"/>
                <a:ea typeface="MiSans" pitchFamily="34" charset="-122"/>
                <a:cs typeface="MiSans" pitchFamily="34" charset="-120"/>
                <a:sym typeface="+mn-ea"/>
              </a:rPr>
              <a:t>Improve</a:t>
            </a:r>
            <a:endParaRPr lang="en-GB" altLang="en-US" dirty="0"/>
          </a:p>
        </p:txBody>
      </p:sp>
      <p:sp>
        <p:nvSpPr>
          <p:cNvPr id="24" name="Text 22"/>
          <p:cNvSpPr/>
          <p:nvPr/>
        </p:nvSpPr>
        <p:spPr>
          <a:xfrm>
            <a:off x="2621280" y="4565015"/>
            <a:ext cx="1638300" cy="582295"/>
          </a:xfrm>
          <a:prstGeom prst="rect">
            <a:avLst/>
          </a:prstGeom>
          <a:noFill/>
        </p:spPr>
        <p:txBody>
          <a:bodyPr wrap="square" lIns="114300" tIns="38100" rIns="114300" bIns="38100" rtlCol="0" anchor="ctr"/>
          <a:lstStyle/>
          <a:p>
            <a:pPr>
              <a:lnSpc>
                <a:spcPct val="110000"/>
              </a:lnSpc>
            </a:pPr>
            <a:endParaRPr lang="en-US" sz="1600" dirty="0"/>
          </a:p>
        </p:txBody>
      </p:sp>
      <p:sp>
        <p:nvSpPr>
          <p:cNvPr id="26" name="Text 24"/>
          <p:cNvSpPr/>
          <p:nvPr/>
        </p:nvSpPr>
        <p:spPr>
          <a:xfrm>
            <a:off x="6265545" y="1301750"/>
            <a:ext cx="1773939" cy="414020"/>
          </a:xfrm>
          <a:prstGeom prst="rect">
            <a:avLst/>
          </a:prstGeom>
          <a:noFill/>
        </p:spPr>
        <p:txBody>
          <a:bodyPr wrap="square" lIns="0" tIns="0" rIns="0" bIns="0" rtlCol="0" anchor="ctr"/>
          <a:lstStyle/>
          <a:p>
            <a:pPr>
              <a:lnSpc>
                <a:spcPct val="120000"/>
              </a:lnSpc>
            </a:pPr>
            <a:r>
              <a:rPr lang="en-US" sz="2800" b="1" dirty="0">
                <a:solidFill>
                  <a:srgbClr val="1D293D"/>
                </a:solidFill>
                <a:latin typeface="Calibri" panose="020F0502020204030204" pitchFamily="34" charset="0"/>
                <a:ea typeface="Noto Sans SC" panose="020B0200000000000000" pitchFamily="34" charset="-122"/>
                <a:cs typeface="Calibri" panose="020F0502020204030204" pitchFamily="34" charset="0"/>
              </a:rPr>
              <a:t>Roadmap</a:t>
            </a:r>
          </a:p>
        </p:txBody>
      </p:sp>
      <p:sp>
        <p:nvSpPr>
          <p:cNvPr id="27" name="Shape 25"/>
          <p:cNvSpPr/>
          <p:nvPr/>
        </p:nvSpPr>
        <p:spPr>
          <a:xfrm>
            <a:off x="6273165" y="2004060"/>
            <a:ext cx="5549265" cy="1295400"/>
          </a:xfrm>
          <a:custGeom>
            <a:avLst/>
            <a:gdLst/>
            <a:ahLst/>
            <a:cxnLst/>
            <a:rect l="l" t="t" r="r" b="b"/>
            <a:pathLst>
              <a:path w="5549265" h="891540">
                <a:moveTo>
                  <a:pt x="114304" y="0"/>
                </a:moveTo>
                <a:lnTo>
                  <a:pt x="5434961" y="0"/>
                </a:lnTo>
                <a:cubicBezTo>
                  <a:pt x="5498089" y="0"/>
                  <a:pt x="5549265" y="51176"/>
                  <a:pt x="5549265" y="114304"/>
                </a:cubicBezTo>
                <a:lnTo>
                  <a:pt x="5549265" y="777236"/>
                </a:lnTo>
                <a:cubicBezTo>
                  <a:pt x="5549265" y="840364"/>
                  <a:pt x="5498089" y="891540"/>
                  <a:pt x="5434961" y="891540"/>
                </a:cubicBezTo>
                <a:lnTo>
                  <a:pt x="114304" y="891540"/>
                </a:lnTo>
                <a:cubicBezTo>
                  <a:pt x="51176" y="891540"/>
                  <a:pt x="0" y="840364"/>
                  <a:pt x="0" y="777236"/>
                </a:cubicBezTo>
                <a:lnTo>
                  <a:pt x="0" y="114304"/>
                </a:lnTo>
                <a:cubicBezTo>
                  <a:pt x="0" y="51176"/>
                  <a:pt x="51176" y="0"/>
                  <a:pt x="114304" y="0"/>
                </a:cubicBezTo>
                <a:close/>
              </a:path>
            </a:pathLst>
          </a:custGeom>
          <a:solidFill>
            <a:srgbClr val="FFFFFF"/>
          </a:solidFill>
          <a:ln w="20320">
            <a:solidFill>
              <a:srgbClr val="C6D2FF"/>
            </a:solidFill>
            <a:prstDash val="solid"/>
          </a:ln>
        </p:spPr>
        <p:txBody>
          <a:bodyPr/>
          <a:lstStyle/>
          <a:p>
            <a:endParaRPr lang="en-US"/>
          </a:p>
        </p:txBody>
      </p:sp>
      <p:sp>
        <p:nvSpPr>
          <p:cNvPr id="28" name="Shape 26"/>
          <p:cNvSpPr/>
          <p:nvPr/>
        </p:nvSpPr>
        <p:spPr>
          <a:xfrm>
            <a:off x="6322060" y="2060892"/>
            <a:ext cx="1170940" cy="445135"/>
          </a:xfrm>
          <a:custGeom>
            <a:avLst/>
            <a:gdLst/>
            <a:ahLst/>
            <a:cxnLst/>
            <a:rect l="l" t="t" r="r" b="b"/>
            <a:pathLst>
              <a:path w="809625" h="266700">
                <a:moveTo>
                  <a:pt x="76199" y="0"/>
                </a:moveTo>
                <a:lnTo>
                  <a:pt x="733426" y="0"/>
                </a:lnTo>
                <a:cubicBezTo>
                  <a:pt x="775481" y="0"/>
                  <a:pt x="809625" y="34144"/>
                  <a:pt x="809625" y="76199"/>
                </a:cubicBezTo>
                <a:lnTo>
                  <a:pt x="809625" y="190501"/>
                </a:lnTo>
                <a:cubicBezTo>
                  <a:pt x="809625" y="232556"/>
                  <a:pt x="775481" y="266700"/>
                  <a:pt x="733426" y="266700"/>
                </a:cubicBezTo>
                <a:lnTo>
                  <a:pt x="76199" y="266700"/>
                </a:lnTo>
                <a:cubicBezTo>
                  <a:pt x="34144" y="266700"/>
                  <a:pt x="0" y="232556"/>
                  <a:pt x="0" y="190501"/>
                </a:cubicBezTo>
                <a:lnTo>
                  <a:pt x="0" y="76199"/>
                </a:lnTo>
                <a:cubicBezTo>
                  <a:pt x="0" y="34144"/>
                  <a:pt x="34144" y="0"/>
                  <a:pt x="76199" y="0"/>
                </a:cubicBezTo>
                <a:close/>
              </a:path>
            </a:pathLst>
          </a:custGeom>
          <a:solidFill>
            <a:srgbClr val="615FFF"/>
          </a:solidFill>
        </p:spPr>
        <p:txBody>
          <a:bodyPr/>
          <a:lstStyle/>
          <a:p>
            <a:pPr algn="ctr">
              <a:lnSpc>
                <a:spcPct val="120000"/>
              </a:lnSpc>
            </a:pPr>
            <a:r>
              <a:rPr lang="en-US" b="1" dirty="0">
                <a:solidFill>
                  <a:srgbClr val="FFFFFF"/>
                </a:solidFill>
                <a:latin typeface="Calibri" panose="020F0502020204030204" pitchFamily="34" charset="0"/>
                <a:ea typeface="MiSans" pitchFamily="34" charset="-122"/>
                <a:cs typeface="Calibri" panose="020F0502020204030204" pitchFamily="34" charset="0"/>
                <a:sym typeface="+mn-ea"/>
              </a:rPr>
              <a:t>MemGPT</a:t>
            </a:r>
            <a:endParaRPr lang="en-GB" altLang="en-US"/>
          </a:p>
        </p:txBody>
      </p:sp>
      <p:sp>
        <p:nvSpPr>
          <p:cNvPr id="30" name="Text 28"/>
          <p:cNvSpPr/>
          <p:nvPr/>
        </p:nvSpPr>
        <p:spPr>
          <a:xfrm>
            <a:off x="6433185" y="2506980"/>
            <a:ext cx="5305425" cy="643890"/>
          </a:xfrm>
          <a:prstGeom prst="rect">
            <a:avLst/>
          </a:prstGeom>
          <a:noFill/>
        </p:spPr>
        <p:txBody>
          <a:bodyPr wrap="square" lIns="0" tIns="0" rIns="0" bIns="0" rtlCol="0" anchor="ctr"/>
          <a:lstStyle/>
          <a:p>
            <a:pPr>
              <a:lnSpc>
                <a:spcPct val="130000"/>
              </a:lnSpc>
            </a:pPr>
            <a:r>
              <a:rPr lang="en-US" sz="2000" dirty="0">
                <a:solidFill>
                  <a:srgbClr val="314158"/>
                </a:solidFill>
                <a:latin typeface="Calibri" panose="020F0502020204030204" pitchFamily="34" charset="0"/>
                <a:ea typeface="MiSans" pitchFamily="34" charset="-122"/>
                <a:cs typeface="Calibri" panose="020F0502020204030204" pitchFamily="34" charset="0"/>
              </a:rPr>
              <a:t>How should agents manage memory beyond a limited context window?</a:t>
            </a:r>
          </a:p>
        </p:txBody>
      </p:sp>
      <p:grpSp>
        <p:nvGrpSpPr>
          <p:cNvPr id="40" name="Group 39"/>
          <p:cNvGrpSpPr/>
          <p:nvPr/>
        </p:nvGrpSpPr>
        <p:grpSpPr>
          <a:xfrm>
            <a:off x="6265545" y="3559810"/>
            <a:ext cx="5549265" cy="1006475"/>
            <a:chOff x="9879" y="4824"/>
            <a:chExt cx="8739" cy="1404"/>
          </a:xfrm>
        </p:grpSpPr>
        <p:sp>
          <p:nvSpPr>
            <p:cNvPr id="31" name="Shape 29"/>
            <p:cNvSpPr/>
            <p:nvPr/>
          </p:nvSpPr>
          <p:spPr>
            <a:xfrm>
              <a:off x="9879" y="4824"/>
              <a:ext cx="8739" cy="1404"/>
            </a:xfrm>
            <a:custGeom>
              <a:avLst/>
              <a:gdLst/>
              <a:ahLst/>
              <a:cxnLst/>
              <a:rect l="l" t="t" r="r" b="b"/>
              <a:pathLst>
                <a:path w="5549265" h="891540">
                  <a:moveTo>
                    <a:pt x="114304" y="0"/>
                  </a:moveTo>
                  <a:lnTo>
                    <a:pt x="5434961" y="0"/>
                  </a:lnTo>
                  <a:cubicBezTo>
                    <a:pt x="5498089" y="0"/>
                    <a:pt x="5549265" y="51176"/>
                    <a:pt x="5549265" y="114304"/>
                  </a:cubicBezTo>
                  <a:lnTo>
                    <a:pt x="5549265" y="777236"/>
                  </a:lnTo>
                  <a:cubicBezTo>
                    <a:pt x="5549265" y="840364"/>
                    <a:pt x="5498089" y="891540"/>
                    <a:pt x="5434961" y="891540"/>
                  </a:cubicBezTo>
                  <a:lnTo>
                    <a:pt x="114304" y="891540"/>
                  </a:lnTo>
                  <a:cubicBezTo>
                    <a:pt x="51176" y="891540"/>
                    <a:pt x="0" y="840364"/>
                    <a:pt x="0" y="777236"/>
                  </a:cubicBezTo>
                  <a:lnTo>
                    <a:pt x="0" y="114304"/>
                  </a:lnTo>
                  <a:cubicBezTo>
                    <a:pt x="0" y="51176"/>
                    <a:pt x="51176" y="0"/>
                    <a:pt x="114304" y="0"/>
                  </a:cubicBezTo>
                  <a:close/>
                </a:path>
              </a:pathLst>
            </a:custGeom>
            <a:solidFill>
              <a:srgbClr val="FFFFFF"/>
            </a:solidFill>
            <a:ln w="20320">
              <a:solidFill>
                <a:srgbClr val="E9D4FF"/>
              </a:solidFill>
              <a:prstDash val="solid"/>
            </a:ln>
          </p:spPr>
          <p:txBody>
            <a:bodyPr/>
            <a:lstStyle/>
            <a:p>
              <a:endParaRPr lang="en-GB" altLang="en-US"/>
            </a:p>
          </p:txBody>
        </p:sp>
        <p:sp>
          <p:nvSpPr>
            <p:cNvPr id="32" name="Shape 30"/>
            <p:cNvSpPr/>
            <p:nvPr/>
          </p:nvSpPr>
          <p:spPr>
            <a:xfrm>
              <a:off x="9968" y="4897"/>
              <a:ext cx="1844" cy="550"/>
            </a:xfrm>
            <a:custGeom>
              <a:avLst/>
              <a:gdLst/>
              <a:ahLst/>
              <a:cxnLst/>
              <a:rect l="l" t="t" r="r" b="b"/>
              <a:pathLst>
                <a:path w="514350" h="266700">
                  <a:moveTo>
                    <a:pt x="76199" y="0"/>
                  </a:moveTo>
                  <a:lnTo>
                    <a:pt x="438151" y="0"/>
                  </a:lnTo>
                  <a:cubicBezTo>
                    <a:pt x="480206" y="0"/>
                    <a:pt x="514350" y="34144"/>
                    <a:pt x="514350" y="76199"/>
                  </a:cubicBezTo>
                  <a:lnTo>
                    <a:pt x="514350" y="190501"/>
                  </a:lnTo>
                  <a:cubicBezTo>
                    <a:pt x="514350" y="232556"/>
                    <a:pt x="480206" y="266700"/>
                    <a:pt x="438151" y="266700"/>
                  </a:cubicBezTo>
                  <a:lnTo>
                    <a:pt x="76199" y="266700"/>
                  </a:lnTo>
                  <a:cubicBezTo>
                    <a:pt x="34144" y="266700"/>
                    <a:pt x="0" y="232556"/>
                    <a:pt x="0" y="190501"/>
                  </a:cubicBezTo>
                  <a:lnTo>
                    <a:pt x="0" y="76199"/>
                  </a:lnTo>
                  <a:cubicBezTo>
                    <a:pt x="0" y="34144"/>
                    <a:pt x="34144" y="0"/>
                    <a:pt x="76199" y="0"/>
                  </a:cubicBezTo>
                  <a:close/>
                </a:path>
              </a:pathLst>
            </a:custGeom>
            <a:solidFill>
              <a:srgbClr val="AD46FF"/>
            </a:solidFill>
          </p:spPr>
          <p:txBody>
            <a:bodyPr/>
            <a:lstStyle/>
            <a:p>
              <a:pPr algn="ctr">
                <a:lnSpc>
                  <a:spcPct val="120000"/>
                </a:lnSpc>
              </a:pPr>
              <a:r>
                <a:rPr lang="en-US" b="1" dirty="0">
                  <a:solidFill>
                    <a:srgbClr val="FFFFFF"/>
                  </a:solidFill>
                  <a:latin typeface="MiSans" pitchFamily="34" charset="-122"/>
                  <a:ea typeface="MiSans" pitchFamily="34" charset="-122"/>
                  <a:cs typeface="MiSans" pitchFamily="34" charset="-120"/>
                  <a:sym typeface="+mn-ea"/>
                </a:rPr>
                <a:t>ACE</a:t>
              </a:r>
              <a:endParaRPr lang="en-GB" altLang="en-US" dirty="0"/>
            </a:p>
          </p:txBody>
        </p:sp>
        <p:sp>
          <p:nvSpPr>
            <p:cNvPr id="33" name="Text 31"/>
            <p:cNvSpPr/>
            <p:nvPr/>
          </p:nvSpPr>
          <p:spPr>
            <a:xfrm>
              <a:off x="10131" y="5076"/>
              <a:ext cx="915" cy="420"/>
            </a:xfrm>
            <a:prstGeom prst="rect">
              <a:avLst/>
            </a:prstGeom>
            <a:noFill/>
          </p:spPr>
          <p:txBody>
            <a:bodyPr wrap="square" lIns="114300" tIns="38100" rIns="114300" bIns="38100" rtlCol="0" anchor="ctr"/>
            <a:lstStyle/>
            <a:p>
              <a:pPr>
                <a:lnSpc>
                  <a:spcPct val="120000"/>
                </a:lnSpc>
              </a:pPr>
              <a:endParaRPr lang="en-US" sz="1600" dirty="0"/>
            </a:p>
          </p:txBody>
        </p:sp>
        <p:sp>
          <p:nvSpPr>
            <p:cNvPr id="34" name="Text 32"/>
            <p:cNvSpPr/>
            <p:nvPr/>
          </p:nvSpPr>
          <p:spPr>
            <a:xfrm>
              <a:off x="10131" y="5670"/>
              <a:ext cx="8355" cy="360"/>
            </a:xfrm>
            <a:prstGeom prst="rect">
              <a:avLst/>
            </a:prstGeom>
            <a:noFill/>
          </p:spPr>
          <p:txBody>
            <a:bodyPr wrap="square" lIns="0" tIns="0" rIns="0" bIns="0" rtlCol="0" anchor="ctr"/>
            <a:lstStyle/>
            <a:p>
              <a:pPr>
                <a:lnSpc>
                  <a:spcPct val="130000"/>
                </a:lnSpc>
              </a:pPr>
              <a:r>
                <a:rPr lang="en-US" sz="2000" dirty="0">
                  <a:solidFill>
                    <a:srgbClr val="314158"/>
                  </a:solidFill>
                  <a:latin typeface="Calibri" panose="020F0502020204030204" pitchFamily="34" charset="0"/>
                  <a:ea typeface="MiSans" pitchFamily="34" charset="-122"/>
                  <a:cs typeface="Calibri" panose="020F0502020204030204" pitchFamily="34" charset="0"/>
                </a:rPr>
                <a:t>How should context evolve over time?</a:t>
              </a:r>
            </a:p>
          </p:txBody>
        </p:sp>
      </p:grpSp>
      <p:grpSp>
        <p:nvGrpSpPr>
          <p:cNvPr id="39" name="Group 38"/>
          <p:cNvGrpSpPr/>
          <p:nvPr/>
        </p:nvGrpSpPr>
        <p:grpSpPr>
          <a:xfrm>
            <a:off x="6273800" y="4834890"/>
            <a:ext cx="5549265" cy="891540"/>
            <a:chOff x="9879" y="6492"/>
            <a:chExt cx="8739" cy="1404"/>
          </a:xfrm>
        </p:grpSpPr>
        <p:sp>
          <p:nvSpPr>
            <p:cNvPr id="35" name="Shape 33"/>
            <p:cNvSpPr/>
            <p:nvPr/>
          </p:nvSpPr>
          <p:spPr>
            <a:xfrm>
              <a:off x="9879" y="6492"/>
              <a:ext cx="8739" cy="1404"/>
            </a:xfrm>
            <a:custGeom>
              <a:avLst/>
              <a:gdLst/>
              <a:ahLst/>
              <a:cxnLst/>
              <a:rect l="l" t="t" r="r" b="b"/>
              <a:pathLst>
                <a:path w="5549265" h="891540">
                  <a:moveTo>
                    <a:pt x="114304" y="0"/>
                  </a:moveTo>
                  <a:lnTo>
                    <a:pt x="5434961" y="0"/>
                  </a:lnTo>
                  <a:cubicBezTo>
                    <a:pt x="5498089" y="0"/>
                    <a:pt x="5549265" y="51176"/>
                    <a:pt x="5549265" y="114304"/>
                  </a:cubicBezTo>
                  <a:lnTo>
                    <a:pt x="5549265" y="777236"/>
                  </a:lnTo>
                  <a:cubicBezTo>
                    <a:pt x="5549265" y="840364"/>
                    <a:pt x="5498089" y="891540"/>
                    <a:pt x="5434961" y="891540"/>
                  </a:cubicBezTo>
                  <a:lnTo>
                    <a:pt x="114304" y="891540"/>
                  </a:lnTo>
                  <a:cubicBezTo>
                    <a:pt x="51176" y="891540"/>
                    <a:pt x="0" y="840364"/>
                    <a:pt x="0" y="777236"/>
                  </a:cubicBezTo>
                  <a:lnTo>
                    <a:pt x="0" y="114304"/>
                  </a:lnTo>
                  <a:cubicBezTo>
                    <a:pt x="0" y="51176"/>
                    <a:pt x="51176" y="0"/>
                    <a:pt x="114304" y="0"/>
                  </a:cubicBezTo>
                  <a:close/>
                </a:path>
              </a:pathLst>
            </a:custGeom>
            <a:solidFill>
              <a:srgbClr val="FFFFFF"/>
            </a:solidFill>
            <a:ln w="20320">
              <a:solidFill>
                <a:srgbClr val="FCCEE8"/>
              </a:solidFill>
              <a:prstDash val="solid"/>
            </a:ln>
          </p:spPr>
          <p:txBody>
            <a:bodyPr/>
            <a:lstStyle/>
            <a:p>
              <a:endParaRPr lang="en-US"/>
            </a:p>
          </p:txBody>
        </p:sp>
        <p:sp>
          <p:nvSpPr>
            <p:cNvPr id="36" name="Shape 34"/>
            <p:cNvSpPr/>
            <p:nvPr/>
          </p:nvSpPr>
          <p:spPr>
            <a:xfrm>
              <a:off x="9955" y="6570"/>
              <a:ext cx="2779" cy="654"/>
            </a:xfrm>
            <a:custGeom>
              <a:avLst/>
              <a:gdLst/>
              <a:ahLst/>
              <a:cxnLst/>
              <a:rect l="l" t="t" r="r" b="b"/>
              <a:pathLst>
                <a:path w="1104900" h="266700">
                  <a:moveTo>
                    <a:pt x="76199" y="0"/>
                  </a:moveTo>
                  <a:lnTo>
                    <a:pt x="1028701" y="0"/>
                  </a:lnTo>
                  <a:cubicBezTo>
                    <a:pt x="1070756" y="0"/>
                    <a:pt x="1104900" y="34144"/>
                    <a:pt x="1104900" y="76199"/>
                  </a:cubicBezTo>
                  <a:lnTo>
                    <a:pt x="1104900" y="190501"/>
                  </a:lnTo>
                  <a:cubicBezTo>
                    <a:pt x="1104900" y="232556"/>
                    <a:pt x="1070756" y="266700"/>
                    <a:pt x="1028701" y="266700"/>
                  </a:cubicBezTo>
                  <a:lnTo>
                    <a:pt x="76199" y="266700"/>
                  </a:lnTo>
                  <a:cubicBezTo>
                    <a:pt x="34144" y="266700"/>
                    <a:pt x="0" y="232556"/>
                    <a:pt x="0" y="190501"/>
                  </a:cubicBezTo>
                  <a:lnTo>
                    <a:pt x="0" y="76199"/>
                  </a:lnTo>
                  <a:cubicBezTo>
                    <a:pt x="0" y="34144"/>
                    <a:pt x="34144" y="0"/>
                    <a:pt x="76199" y="0"/>
                  </a:cubicBezTo>
                  <a:close/>
                </a:path>
              </a:pathLst>
            </a:custGeom>
            <a:solidFill>
              <a:srgbClr val="F6339A"/>
            </a:solidFill>
          </p:spPr>
          <p:txBody>
            <a:bodyPr/>
            <a:lstStyle/>
            <a:p>
              <a:pPr>
                <a:lnSpc>
                  <a:spcPct val="120000"/>
                </a:lnSpc>
              </a:pPr>
              <a:r>
                <a:rPr lang="en-US" b="1" dirty="0">
                  <a:solidFill>
                    <a:srgbClr val="FFFFFF"/>
                  </a:solidFill>
                  <a:latin typeface="MiSans" pitchFamily="34" charset="-122"/>
                  <a:ea typeface="MiSans" pitchFamily="34" charset="-122"/>
                  <a:cs typeface="MiSans" pitchFamily="34" charset="-120"/>
                  <a:sym typeface="+mn-ea"/>
                </a:rPr>
                <a:t>OpenClaw-RL</a:t>
              </a:r>
              <a:endParaRPr lang="en-GB" altLang="en-US" dirty="0"/>
            </a:p>
          </p:txBody>
        </p:sp>
        <p:sp>
          <p:nvSpPr>
            <p:cNvPr id="37" name="Text 35"/>
            <p:cNvSpPr/>
            <p:nvPr/>
          </p:nvSpPr>
          <p:spPr>
            <a:xfrm>
              <a:off x="10131" y="6744"/>
              <a:ext cx="1845" cy="420"/>
            </a:xfrm>
            <a:prstGeom prst="rect">
              <a:avLst/>
            </a:prstGeom>
            <a:noFill/>
          </p:spPr>
          <p:txBody>
            <a:bodyPr wrap="square" lIns="114300" tIns="38100" rIns="114300" bIns="38100" rtlCol="0" anchor="ctr"/>
            <a:lstStyle/>
            <a:p>
              <a:pPr algn="ctr">
                <a:lnSpc>
                  <a:spcPct val="120000"/>
                </a:lnSpc>
              </a:pPr>
              <a:endParaRPr lang="en-US" sz="1600" dirty="0"/>
            </a:p>
          </p:txBody>
        </p:sp>
        <p:sp>
          <p:nvSpPr>
            <p:cNvPr id="38" name="Text 36"/>
            <p:cNvSpPr/>
            <p:nvPr/>
          </p:nvSpPr>
          <p:spPr>
            <a:xfrm>
              <a:off x="10131" y="7284"/>
              <a:ext cx="8355" cy="360"/>
            </a:xfrm>
            <a:prstGeom prst="rect">
              <a:avLst/>
            </a:prstGeom>
            <a:noFill/>
          </p:spPr>
          <p:txBody>
            <a:bodyPr wrap="square" lIns="0" tIns="0" rIns="0" bIns="0" rtlCol="0" anchor="ctr"/>
            <a:lstStyle/>
            <a:p>
              <a:pPr algn="l">
                <a:lnSpc>
                  <a:spcPct val="130000"/>
                </a:lnSpc>
                <a:buClrTx/>
                <a:buSzTx/>
                <a:buFontTx/>
              </a:pPr>
              <a:r>
                <a:rPr lang="en-US" sz="2000" dirty="0">
                  <a:solidFill>
                    <a:srgbClr val="314158"/>
                  </a:solidFill>
                  <a:latin typeface="Calibri" panose="020F0502020204030204" pitchFamily="34" charset="0"/>
                  <a:ea typeface="MiSans" pitchFamily="34" charset="-122"/>
                  <a:cs typeface="Calibri" panose="020F0502020204030204" pitchFamily="34" charset="0"/>
                </a:rPr>
                <a:t>How can agents improve from ongoing interaction?</a:t>
              </a: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2">
            <a:extLst>
              <a:ext uri="{FF2B5EF4-FFF2-40B4-BE49-F238E27FC236}">
                <a16:creationId xmlns:a16="http://schemas.microsoft.com/office/drawing/2014/main" id="{0EEF4634-0292-9FCC-39EF-11F7A6D634B6}"/>
              </a:ext>
            </a:extLst>
          </p:cNvPr>
          <p:cNvSpPr/>
          <p:nvPr>
            <p:custDataLst>
              <p:tags r:id="rId1"/>
            </p:custDataLst>
          </p:nvPr>
        </p:nvSpPr>
        <p:spPr>
          <a:xfrm>
            <a:off x="1698771" y="2733492"/>
            <a:ext cx="8774884" cy="3340137"/>
          </a:xfrm>
          <a:custGeom>
            <a:avLst/>
            <a:gdLst/>
            <a:ahLst/>
            <a:cxnLst/>
            <a:rect l="l" t="t" r="r" b="b"/>
            <a:pathLst>
              <a:path w="5575935" h="3937635">
                <a:moveTo>
                  <a:pt x="114310" y="0"/>
                </a:moveTo>
                <a:lnTo>
                  <a:pt x="5461625" y="0"/>
                </a:lnTo>
                <a:cubicBezTo>
                  <a:pt x="5524757" y="0"/>
                  <a:pt x="5575935" y="51178"/>
                  <a:pt x="5575935" y="114310"/>
                </a:cubicBezTo>
                <a:lnTo>
                  <a:pt x="5575935" y="3823325"/>
                </a:lnTo>
                <a:cubicBezTo>
                  <a:pt x="5575935" y="3886457"/>
                  <a:pt x="5524757" y="3937635"/>
                  <a:pt x="5461625" y="3937635"/>
                </a:cubicBezTo>
                <a:lnTo>
                  <a:pt x="114310" y="3937635"/>
                </a:lnTo>
                <a:cubicBezTo>
                  <a:pt x="51178" y="3937635"/>
                  <a:pt x="0" y="3886457"/>
                  <a:pt x="0" y="3823325"/>
                </a:cubicBezTo>
                <a:lnTo>
                  <a:pt x="0" y="114310"/>
                </a:lnTo>
                <a:cubicBezTo>
                  <a:pt x="0" y="51178"/>
                  <a:pt x="51178" y="0"/>
                  <a:pt x="114310"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zh-CN" altLang="en-US"/>
          </a:p>
        </p:txBody>
      </p:sp>
      <p:sp>
        <p:nvSpPr>
          <p:cNvPr id="4" name="Text 2"/>
          <p:cNvSpPr/>
          <p:nvPr/>
        </p:nvSpPr>
        <p:spPr>
          <a:xfrm>
            <a:off x="1436807" y="386080"/>
            <a:ext cx="10004344" cy="266700"/>
          </a:xfrm>
          <a:prstGeom prst="rect">
            <a:avLst/>
          </a:prstGeom>
          <a:noFill/>
        </p:spPr>
        <p:txBody>
          <a:bodyPr wrap="square" lIns="0" tIns="0" rIns="0" bIns="0" rtlCol="0" anchor="ctr"/>
          <a:lstStyle/>
          <a:p>
            <a:pPr>
              <a:lnSpc>
                <a:spcPct val="100000"/>
              </a:lnSpc>
            </a:pP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MemGPT: Memory as System Design</a:t>
            </a:r>
            <a:endParaRPr lang="en-US" sz="4800" dirty="0">
              <a:solidFill>
                <a:schemeClr val="tx2"/>
              </a:solidFill>
              <a:latin typeface="Times New Roman" panose="02020603050405020304" pitchFamily="18" charset="0"/>
              <a:cs typeface="Times New Roman" panose="02020603050405020304" pitchFamily="18" charset="0"/>
            </a:endParaRPr>
          </a:p>
        </p:txBody>
      </p:sp>
      <p:sp>
        <p:nvSpPr>
          <p:cNvPr id="5" name="Text 3"/>
          <p:cNvSpPr/>
          <p:nvPr/>
        </p:nvSpPr>
        <p:spPr>
          <a:xfrm>
            <a:off x="299306" y="1066108"/>
            <a:ext cx="11515725"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A fixed context window is not enough for long-horizon agents</a:t>
            </a:r>
          </a:p>
        </p:txBody>
      </p:sp>
      <p:grpSp>
        <p:nvGrpSpPr>
          <p:cNvPr id="35" name="Group 34"/>
          <p:cNvGrpSpPr/>
          <p:nvPr/>
        </p:nvGrpSpPr>
        <p:grpSpPr>
          <a:xfrm>
            <a:off x="219075" y="1429675"/>
            <a:ext cx="5876925" cy="1234785"/>
            <a:chOff x="162" y="2220"/>
            <a:chExt cx="8790" cy="2218"/>
          </a:xfrm>
        </p:grpSpPr>
        <p:sp>
          <p:nvSpPr>
            <p:cNvPr id="6" name="Shape 4"/>
            <p:cNvSpPr/>
            <p:nvPr/>
          </p:nvSpPr>
          <p:spPr>
            <a:xfrm>
              <a:off x="162" y="2220"/>
              <a:ext cx="8790" cy="2208"/>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EF2F2"/>
            </a:solidFill>
          </p:spPr>
          <p:txBody>
            <a:bodyPr/>
            <a:lstStyle/>
            <a:p>
              <a:endParaRPr lang="zh-CN" altLang="en-US"/>
            </a:p>
          </p:txBody>
        </p:sp>
        <p:sp>
          <p:nvSpPr>
            <p:cNvPr id="7" name="Shape 5"/>
            <p:cNvSpPr/>
            <p:nvPr/>
          </p:nvSpPr>
          <p:spPr>
            <a:xfrm>
              <a:off x="162" y="2220"/>
              <a:ext cx="120" cy="2219"/>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FF6467"/>
            </a:solidFill>
          </p:spPr>
          <p:txBody>
            <a:bodyPr/>
            <a:lstStyle/>
            <a:p>
              <a:endParaRPr lang="en-US"/>
            </a:p>
          </p:txBody>
        </p:sp>
        <p:sp>
          <p:nvSpPr>
            <p:cNvPr id="8" name="Shape 6"/>
            <p:cNvSpPr/>
            <p:nvPr/>
          </p:nvSpPr>
          <p:spPr>
            <a:xfrm>
              <a:off x="432" y="2415"/>
              <a:ext cx="240" cy="24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9F0712"/>
            </a:solidFill>
          </p:spPr>
          <p:txBody>
            <a:bodyPr/>
            <a:lstStyle/>
            <a:p>
              <a:endParaRPr lang="en-US"/>
            </a:p>
          </p:txBody>
        </p:sp>
        <p:sp>
          <p:nvSpPr>
            <p:cNvPr id="9" name="Text 7"/>
            <p:cNvSpPr/>
            <p:nvPr/>
          </p:nvSpPr>
          <p:spPr>
            <a:xfrm>
              <a:off x="822" y="2280"/>
              <a:ext cx="3063" cy="360"/>
            </a:xfrm>
            <a:prstGeom prst="rect">
              <a:avLst/>
            </a:prstGeom>
            <a:noFill/>
          </p:spPr>
          <p:txBody>
            <a:bodyPr wrap="square" lIns="0" tIns="0" rIns="0" bIns="0" rtlCol="0" anchor="ctr"/>
            <a:lstStyle/>
            <a:p>
              <a:pPr>
                <a:lnSpc>
                  <a:spcPct val="130000"/>
                </a:lnSpc>
              </a:pPr>
              <a:r>
                <a:rPr lang="en-US" sz="2000" b="1" dirty="0">
                  <a:solidFill>
                    <a:srgbClr val="9F0712"/>
                  </a:solidFill>
                  <a:latin typeface="Calibri" panose="020F0502020204030204" pitchFamily="34" charset="0"/>
                  <a:ea typeface="MiSans" pitchFamily="34" charset="-122"/>
                  <a:cs typeface="Calibri" panose="020F0502020204030204" pitchFamily="34" charset="0"/>
                </a:rPr>
                <a:t>The Problem</a:t>
              </a:r>
            </a:p>
          </p:txBody>
        </p:sp>
        <p:sp>
          <p:nvSpPr>
            <p:cNvPr id="10" name="Text 8"/>
            <p:cNvSpPr/>
            <p:nvPr/>
          </p:nvSpPr>
          <p:spPr>
            <a:xfrm>
              <a:off x="432" y="2789"/>
              <a:ext cx="8400" cy="1405"/>
            </a:xfrm>
            <a:prstGeom prst="rect">
              <a:avLst/>
            </a:prstGeom>
            <a:noFill/>
          </p:spPr>
          <p:txBody>
            <a:bodyPr wrap="square" lIns="0" tIns="0" rIns="0" bIns="0" rtlCol="0" anchor="ctr"/>
            <a:lstStyle/>
            <a:p>
              <a:pPr>
                <a:lnSpc>
                  <a:spcPct val="130000"/>
                </a:lnSpc>
              </a:pPr>
              <a:r>
                <a:rPr lang="en-US" sz="1400" dirty="0">
                  <a:solidFill>
                    <a:srgbClr val="C10007"/>
                  </a:solidFill>
                  <a:latin typeface="Calibri" panose="020F0502020204030204" pitchFamily="34" charset="0"/>
                  <a:ea typeface="MiSans" pitchFamily="34" charset="-122"/>
                  <a:cs typeface="Calibri" panose="020F0502020204030204" pitchFamily="34" charset="0"/>
                </a:rPr>
                <a:t>Standard LLMs have finite context windows, but interaction history keeps growing. The bottleneck is not only reasoning ability—it's </a:t>
              </a:r>
              <a:r>
                <a:rPr lang="en-US" sz="1400" b="1" dirty="0">
                  <a:solidFill>
                    <a:srgbClr val="C10007"/>
                  </a:solidFill>
                  <a:latin typeface="Calibri" panose="020F0502020204030204" pitchFamily="34" charset="0"/>
                  <a:ea typeface="MiSans" pitchFamily="34" charset="-122"/>
                  <a:cs typeface="Calibri" panose="020F0502020204030204" pitchFamily="34" charset="0"/>
                </a:rPr>
                <a:t>memory</a:t>
              </a:r>
              <a:r>
                <a:rPr lang="en-US" sz="1400" dirty="0">
                  <a:solidFill>
                    <a:srgbClr val="C10007"/>
                  </a:solidFill>
                  <a:latin typeface="Calibri" panose="020F0502020204030204" pitchFamily="34" charset="0"/>
                  <a:ea typeface="MiSans" pitchFamily="34" charset="-122"/>
                  <a:cs typeface="Calibri" panose="020F0502020204030204" pitchFamily="34" charset="0"/>
                </a:rPr>
                <a:t>.</a:t>
              </a:r>
            </a:p>
          </p:txBody>
        </p:sp>
      </p:grpSp>
      <p:grpSp>
        <p:nvGrpSpPr>
          <p:cNvPr id="36" name="Group 35"/>
          <p:cNvGrpSpPr/>
          <p:nvPr/>
        </p:nvGrpSpPr>
        <p:grpSpPr>
          <a:xfrm>
            <a:off x="6196289" y="1429675"/>
            <a:ext cx="5876925" cy="1234785"/>
            <a:chOff x="9290" y="2162"/>
            <a:chExt cx="8820" cy="2274"/>
          </a:xfrm>
        </p:grpSpPr>
        <p:sp>
          <p:nvSpPr>
            <p:cNvPr id="11" name="Shape 9"/>
            <p:cNvSpPr/>
            <p:nvPr/>
          </p:nvSpPr>
          <p:spPr>
            <a:xfrm>
              <a:off x="9290" y="2162"/>
              <a:ext cx="8820" cy="2275"/>
            </a:xfrm>
            <a:custGeom>
              <a:avLst/>
              <a:gdLst/>
              <a:ahLst/>
              <a:cxnLst/>
              <a:rect l="l" t="t" r="r" b="b"/>
              <a:pathLst>
                <a:path w="5600700" h="1295400">
                  <a:moveTo>
                    <a:pt x="76195" y="0"/>
                  </a:moveTo>
                  <a:lnTo>
                    <a:pt x="5524505" y="0"/>
                  </a:lnTo>
                  <a:cubicBezTo>
                    <a:pt x="5566558" y="0"/>
                    <a:pt x="5600700" y="34142"/>
                    <a:pt x="5600700" y="76195"/>
                  </a:cubicBezTo>
                  <a:lnTo>
                    <a:pt x="5600700" y="1219205"/>
                  </a:lnTo>
                  <a:cubicBezTo>
                    <a:pt x="5600700" y="1261286"/>
                    <a:pt x="5566586" y="1295400"/>
                    <a:pt x="5524505" y="1295400"/>
                  </a:cubicBezTo>
                  <a:lnTo>
                    <a:pt x="76195" y="1295400"/>
                  </a:lnTo>
                  <a:cubicBezTo>
                    <a:pt x="34142" y="1295400"/>
                    <a:pt x="0" y="1261258"/>
                    <a:pt x="0" y="1219205"/>
                  </a:cubicBezTo>
                  <a:lnTo>
                    <a:pt x="0" y="76195"/>
                  </a:lnTo>
                  <a:cubicBezTo>
                    <a:pt x="0" y="34142"/>
                    <a:pt x="34142" y="0"/>
                    <a:pt x="76195" y="0"/>
                  </a:cubicBezTo>
                  <a:close/>
                </a:path>
              </a:pathLst>
            </a:custGeom>
            <a:solidFill>
              <a:srgbClr val="EEF2FF"/>
            </a:solidFill>
          </p:spPr>
          <p:txBody>
            <a:bodyPr/>
            <a:lstStyle/>
            <a:p>
              <a:endParaRPr lang="zh-CN" altLang="en-US"/>
            </a:p>
          </p:txBody>
        </p:sp>
        <p:sp>
          <p:nvSpPr>
            <p:cNvPr id="12" name="Shape 10"/>
            <p:cNvSpPr/>
            <p:nvPr/>
          </p:nvSpPr>
          <p:spPr>
            <a:xfrm>
              <a:off x="9590" y="2462"/>
              <a:ext cx="180" cy="24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372AAC"/>
            </a:solidFill>
          </p:spPr>
          <p:txBody>
            <a:bodyPr/>
            <a:lstStyle/>
            <a:p>
              <a:endParaRPr lang="en-US"/>
            </a:p>
          </p:txBody>
        </p:sp>
        <p:sp>
          <p:nvSpPr>
            <p:cNvPr id="13" name="Text 11"/>
            <p:cNvSpPr/>
            <p:nvPr/>
          </p:nvSpPr>
          <p:spPr>
            <a:xfrm>
              <a:off x="9920" y="2353"/>
              <a:ext cx="4027" cy="360"/>
            </a:xfrm>
            <a:prstGeom prst="rect">
              <a:avLst/>
            </a:prstGeom>
            <a:noFill/>
          </p:spPr>
          <p:txBody>
            <a:bodyPr wrap="square" lIns="0" tIns="0" rIns="0" bIns="0" rtlCol="0" anchor="ctr"/>
            <a:lstStyle/>
            <a:p>
              <a:pPr>
                <a:lnSpc>
                  <a:spcPct val="130000"/>
                </a:lnSpc>
              </a:pPr>
              <a:r>
                <a:rPr lang="en-US" sz="2000" b="1" dirty="0">
                  <a:solidFill>
                    <a:srgbClr val="372AAC"/>
                  </a:solidFill>
                  <a:latin typeface="Calibri" panose="020F0502020204030204" pitchFamily="34" charset="0"/>
                  <a:ea typeface="MiSans" pitchFamily="34" charset="-122"/>
                  <a:cs typeface="Calibri" panose="020F0502020204030204" pitchFamily="34" charset="0"/>
                </a:rPr>
                <a:t>MemGPT's Insight</a:t>
              </a:r>
            </a:p>
          </p:txBody>
        </p:sp>
        <p:sp>
          <p:nvSpPr>
            <p:cNvPr id="14" name="Text 12"/>
            <p:cNvSpPr/>
            <p:nvPr/>
          </p:nvSpPr>
          <p:spPr>
            <a:xfrm>
              <a:off x="9530" y="2915"/>
              <a:ext cx="8460" cy="1359"/>
            </a:xfrm>
            <a:prstGeom prst="rect">
              <a:avLst/>
            </a:prstGeom>
            <a:noFill/>
          </p:spPr>
          <p:txBody>
            <a:bodyPr wrap="square" lIns="0" tIns="0" rIns="0" bIns="0" rtlCol="0" anchor="ctr"/>
            <a:lstStyle/>
            <a:p>
              <a:pPr>
                <a:lnSpc>
                  <a:spcPct val="130000"/>
                </a:lnSpc>
              </a:pPr>
              <a:r>
                <a:rPr lang="en-US" sz="1400" dirty="0">
                  <a:solidFill>
                    <a:srgbClr val="432DD7"/>
                  </a:solidFill>
                  <a:latin typeface="Calibri" panose="020F0502020204030204" pitchFamily="34" charset="0"/>
                  <a:ea typeface="MiSans" pitchFamily="34" charset="-122"/>
                  <a:cs typeface="Calibri" panose="020F0502020204030204" pitchFamily="34" charset="0"/>
                </a:rPr>
                <a:t>Treat memory as a </a:t>
              </a:r>
              <a:r>
                <a:rPr lang="en-US" sz="1400" b="1" dirty="0">
                  <a:solidFill>
                    <a:srgbClr val="432DD7"/>
                  </a:solidFill>
                  <a:latin typeface="Calibri" panose="020F0502020204030204" pitchFamily="34" charset="0"/>
                  <a:ea typeface="MiSans" pitchFamily="34" charset="-122"/>
                  <a:cs typeface="Calibri" panose="020F0502020204030204" pitchFamily="34" charset="0"/>
                </a:rPr>
                <a:t>system design problem</a:t>
              </a:r>
              <a:r>
                <a:rPr lang="en-US" sz="1400" dirty="0">
                  <a:solidFill>
                    <a:srgbClr val="432DD7"/>
                  </a:solidFill>
                  <a:latin typeface="Calibri" panose="020F0502020204030204" pitchFamily="34" charset="0"/>
                  <a:ea typeface="MiSans" pitchFamily="34" charset="-122"/>
                  <a:cs typeface="Calibri" panose="020F0502020204030204" pitchFamily="34" charset="0"/>
                </a:rPr>
                <a:t>, like an operating system. Separate memory into different layers instead of forcing everything into one prompt.</a:t>
              </a:r>
            </a:p>
          </p:txBody>
        </p:sp>
      </p:grpSp>
      <p:sp>
        <p:nvSpPr>
          <p:cNvPr id="28" name="Shape 26"/>
          <p:cNvSpPr/>
          <p:nvPr/>
        </p:nvSpPr>
        <p:spPr>
          <a:xfrm>
            <a:off x="5751195" y="3783330"/>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29" name="Text 27"/>
          <p:cNvSpPr/>
          <p:nvPr/>
        </p:nvSpPr>
        <p:spPr>
          <a:xfrm>
            <a:off x="5199816" y="4392930"/>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30" name="Text 28"/>
          <p:cNvSpPr/>
          <p:nvPr/>
        </p:nvSpPr>
        <p:spPr>
          <a:xfrm>
            <a:off x="4684038" y="4735830"/>
            <a:ext cx="2619375"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MemGPT Architecture Diagram</a:t>
            </a:r>
            <a:endParaRPr lang="en-US" sz="1600" dirty="0"/>
          </a:p>
        </p:txBody>
      </p:sp>
      <p:sp>
        <p:nvSpPr>
          <p:cNvPr id="31" name="Text 29"/>
          <p:cNvSpPr/>
          <p:nvPr/>
        </p:nvSpPr>
        <p:spPr>
          <a:xfrm>
            <a:off x="3187303" y="5078730"/>
            <a:ext cx="5591175"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System Instructions / Working Context / FIFO Queue / Archival Storage / Recall Storage</a:t>
            </a:r>
            <a:endParaRPr lang="en-US" sz="1600" dirty="0"/>
          </a:p>
        </p:txBody>
      </p:sp>
      <p:pic>
        <p:nvPicPr>
          <p:cNvPr id="34" name="Picture 33" descr="MemGPT p1"/>
          <p:cNvPicPr>
            <a:picLocks noChangeAspect="1"/>
          </p:cNvPicPr>
          <p:nvPr/>
        </p:nvPicPr>
        <p:blipFill>
          <a:blip r:embed="rId4"/>
          <a:stretch>
            <a:fillRect/>
          </a:stretch>
        </p:blipFill>
        <p:spPr>
          <a:xfrm>
            <a:off x="1819910" y="2767330"/>
            <a:ext cx="8552180" cy="325120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14084" y="270567"/>
            <a:ext cx="10813613" cy="412115"/>
          </a:xfrm>
          <a:prstGeom prst="rect">
            <a:avLst/>
          </a:prstGeom>
          <a:noFill/>
        </p:spPr>
        <p:txBody>
          <a:bodyPr wrap="square" lIns="0" tIns="0" rIns="0" bIns="0" rtlCol="0" anchor="ctr"/>
          <a:lstStyle/>
          <a:p>
            <a:pPr>
              <a:lnSpc>
                <a:spcPct val="100000"/>
              </a:lnSpc>
            </a:pP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Memory in Practice: Update &amp; Retrieval</a:t>
            </a:r>
            <a:endParaRPr lang="en-US" sz="4800" dirty="0">
              <a:solidFill>
                <a:schemeClr val="tx2"/>
              </a:solidFill>
              <a:latin typeface="Times New Roman" panose="02020603050405020304" pitchFamily="18" charset="0"/>
              <a:cs typeface="Times New Roman" panose="02020603050405020304" pitchFamily="18" charset="0"/>
            </a:endParaRPr>
          </a:p>
        </p:txBody>
      </p:sp>
      <p:sp>
        <p:nvSpPr>
          <p:cNvPr id="5" name="Text 3"/>
          <p:cNvSpPr/>
          <p:nvPr/>
        </p:nvSpPr>
        <p:spPr>
          <a:xfrm>
            <a:off x="392430" y="1069975"/>
            <a:ext cx="11515725" cy="266700"/>
          </a:xfrm>
          <a:prstGeom prst="rect">
            <a:avLst/>
          </a:prstGeom>
          <a:noFill/>
        </p:spPr>
        <p:txBody>
          <a:bodyPr wrap="square" lIns="0" tIns="0" rIns="0" bIns="0" rtlCol="0" anchor="ctr"/>
          <a:lstStyle/>
          <a:p>
            <a:pPr>
              <a:lnSpc>
                <a:spcPct val="130000"/>
              </a:lnSpc>
            </a:pPr>
            <a:r>
              <a:rPr lang="en-US" sz="2400" b="1" dirty="0">
                <a:solidFill>
                  <a:srgbClr val="45556C"/>
                </a:solidFill>
                <a:latin typeface="Calibri" panose="020F0502020204030204" pitchFamily="34" charset="0"/>
                <a:ea typeface="MiSans" pitchFamily="34" charset="-122"/>
                <a:cs typeface="Calibri" panose="020F0502020204030204" pitchFamily="34" charset="0"/>
              </a:rPr>
              <a:t>Memory is not just storage—it also needs retrieval and revision</a:t>
            </a:r>
          </a:p>
        </p:txBody>
      </p:sp>
      <p:sp>
        <p:nvSpPr>
          <p:cNvPr id="6" name="Shape 4"/>
          <p:cNvSpPr/>
          <p:nvPr>
            <p:custDataLst>
              <p:tags r:id="rId1"/>
            </p:custDataLst>
          </p:nvPr>
        </p:nvSpPr>
        <p:spPr>
          <a:xfrm>
            <a:off x="442118" y="1443990"/>
            <a:ext cx="5527359" cy="3903331"/>
          </a:xfrm>
          <a:custGeom>
            <a:avLst/>
            <a:gdLst/>
            <a:ahLst/>
            <a:cxnLst/>
            <a:rect l="l" t="t" r="r" b="b"/>
            <a:pathLst>
              <a:path w="5575935" h="3937635">
                <a:moveTo>
                  <a:pt x="114310" y="0"/>
                </a:moveTo>
                <a:lnTo>
                  <a:pt x="5461625" y="0"/>
                </a:lnTo>
                <a:cubicBezTo>
                  <a:pt x="5524757" y="0"/>
                  <a:pt x="5575935" y="51178"/>
                  <a:pt x="5575935" y="114310"/>
                </a:cubicBezTo>
                <a:lnTo>
                  <a:pt x="5575935" y="3823325"/>
                </a:lnTo>
                <a:cubicBezTo>
                  <a:pt x="5575935" y="3886457"/>
                  <a:pt x="5524757" y="3937635"/>
                  <a:pt x="5461625" y="3937635"/>
                </a:cubicBezTo>
                <a:lnTo>
                  <a:pt x="114310" y="3937635"/>
                </a:lnTo>
                <a:cubicBezTo>
                  <a:pt x="51178" y="3937635"/>
                  <a:pt x="0" y="3886457"/>
                  <a:pt x="0" y="3823325"/>
                </a:cubicBezTo>
                <a:lnTo>
                  <a:pt x="0" y="114310"/>
                </a:lnTo>
                <a:cubicBezTo>
                  <a:pt x="0" y="51178"/>
                  <a:pt x="51178" y="0"/>
                  <a:pt x="114310"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en-US"/>
          </a:p>
        </p:txBody>
      </p:sp>
      <p:sp>
        <p:nvSpPr>
          <p:cNvPr id="7" name="Shape 5"/>
          <p:cNvSpPr/>
          <p:nvPr>
            <p:custDataLst>
              <p:tags r:id="rId2"/>
            </p:custDataLst>
          </p:nvPr>
        </p:nvSpPr>
        <p:spPr>
          <a:xfrm>
            <a:off x="3058030" y="2754542"/>
            <a:ext cx="297424" cy="339913"/>
          </a:xfrm>
          <a:custGeom>
            <a:avLst/>
            <a:gdLst/>
            <a:ahLst/>
            <a:cxnLst/>
            <a:rect l="l" t="t" r="r" b="b"/>
            <a:pathLst>
              <a:path w="300038" h="342900">
                <a:moveTo>
                  <a:pt x="42863" y="21431"/>
                </a:moveTo>
                <a:cubicBezTo>
                  <a:pt x="19221" y="21431"/>
                  <a:pt x="0" y="40652"/>
                  <a:pt x="0" y="64294"/>
                </a:cubicBezTo>
                <a:lnTo>
                  <a:pt x="0" y="278606"/>
                </a:lnTo>
                <a:cubicBezTo>
                  <a:pt x="0" y="302248"/>
                  <a:pt x="19221" y="321469"/>
                  <a:pt x="42863" y="321469"/>
                </a:cubicBezTo>
                <a:lnTo>
                  <a:pt x="257175" y="321469"/>
                </a:lnTo>
                <a:cubicBezTo>
                  <a:pt x="280816" y="321469"/>
                  <a:pt x="300038" y="302248"/>
                  <a:pt x="300038" y="278606"/>
                </a:cubicBezTo>
                <a:lnTo>
                  <a:pt x="300038" y="64294"/>
                </a:lnTo>
                <a:cubicBezTo>
                  <a:pt x="300038" y="40652"/>
                  <a:pt x="280816" y="21431"/>
                  <a:pt x="257175" y="21431"/>
                </a:cubicBezTo>
                <a:lnTo>
                  <a:pt x="42863" y="21431"/>
                </a:lnTo>
                <a:close/>
                <a:moveTo>
                  <a:pt x="85725" y="75009"/>
                </a:moveTo>
                <a:cubicBezTo>
                  <a:pt x="103467" y="75009"/>
                  <a:pt x="117872" y="89414"/>
                  <a:pt x="117872" y="107156"/>
                </a:cubicBezTo>
                <a:cubicBezTo>
                  <a:pt x="117872" y="124899"/>
                  <a:pt x="103467" y="139303"/>
                  <a:pt x="85725" y="139303"/>
                </a:cubicBezTo>
                <a:cubicBezTo>
                  <a:pt x="67983" y="139303"/>
                  <a:pt x="53578" y="124899"/>
                  <a:pt x="53578" y="107156"/>
                </a:cubicBezTo>
                <a:cubicBezTo>
                  <a:pt x="53578" y="89414"/>
                  <a:pt x="67983" y="75009"/>
                  <a:pt x="85725" y="75009"/>
                </a:cubicBezTo>
                <a:close/>
                <a:moveTo>
                  <a:pt x="182166" y="150019"/>
                </a:moveTo>
                <a:cubicBezTo>
                  <a:pt x="187791" y="150019"/>
                  <a:pt x="192948" y="152966"/>
                  <a:pt x="195895" y="157721"/>
                </a:cubicBezTo>
                <a:lnTo>
                  <a:pt x="254831" y="254161"/>
                </a:lnTo>
                <a:cubicBezTo>
                  <a:pt x="257845" y="259117"/>
                  <a:pt x="257979" y="265346"/>
                  <a:pt x="255166" y="270436"/>
                </a:cubicBezTo>
                <a:cubicBezTo>
                  <a:pt x="252353" y="275526"/>
                  <a:pt x="246928" y="278606"/>
                  <a:pt x="241102" y="278606"/>
                </a:cubicBezTo>
                <a:lnTo>
                  <a:pt x="58936" y="278606"/>
                </a:lnTo>
                <a:cubicBezTo>
                  <a:pt x="52975" y="278606"/>
                  <a:pt x="47417" y="275258"/>
                  <a:pt x="44671" y="269967"/>
                </a:cubicBezTo>
                <a:cubicBezTo>
                  <a:pt x="41925" y="264676"/>
                  <a:pt x="42327" y="258247"/>
                  <a:pt x="45742" y="253358"/>
                </a:cubicBezTo>
                <a:lnTo>
                  <a:pt x="83247" y="199779"/>
                </a:lnTo>
                <a:cubicBezTo>
                  <a:pt x="86261" y="195493"/>
                  <a:pt x="91150" y="192948"/>
                  <a:pt x="96441" y="192948"/>
                </a:cubicBezTo>
                <a:cubicBezTo>
                  <a:pt x="101731" y="192948"/>
                  <a:pt x="106620" y="195493"/>
                  <a:pt x="109634" y="199779"/>
                </a:cubicBezTo>
                <a:lnTo>
                  <a:pt x="127315" y="225095"/>
                </a:lnTo>
                <a:lnTo>
                  <a:pt x="168436" y="157788"/>
                </a:lnTo>
                <a:cubicBezTo>
                  <a:pt x="171383" y="153033"/>
                  <a:pt x="176540" y="150086"/>
                  <a:pt x="182166" y="150086"/>
                </a:cubicBezTo>
                <a:close/>
              </a:path>
            </a:pathLst>
          </a:custGeom>
          <a:solidFill>
            <a:srgbClr val="6366F1"/>
          </a:solidFill>
        </p:spPr>
        <p:txBody>
          <a:bodyPr/>
          <a:lstStyle/>
          <a:p>
            <a:endParaRPr lang="en-US"/>
          </a:p>
        </p:txBody>
      </p:sp>
      <p:sp>
        <p:nvSpPr>
          <p:cNvPr id="8" name="Text 6"/>
          <p:cNvSpPr/>
          <p:nvPr>
            <p:custDataLst>
              <p:tags r:id="rId3"/>
            </p:custDataLst>
          </p:nvPr>
        </p:nvSpPr>
        <p:spPr>
          <a:xfrm>
            <a:off x="2536358" y="3207759"/>
            <a:ext cx="1425745" cy="264377"/>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[INSERT IMAGE]</a:t>
            </a:r>
            <a:endParaRPr lang="en-US" sz="1600" dirty="0"/>
          </a:p>
        </p:txBody>
      </p:sp>
      <p:sp>
        <p:nvSpPr>
          <p:cNvPr id="9" name="Text 7"/>
          <p:cNvSpPr/>
          <p:nvPr>
            <p:custDataLst>
              <p:tags r:id="rId4"/>
            </p:custDataLst>
          </p:nvPr>
        </p:nvSpPr>
        <p:spPr>
          <a:xfrm>
            <a:off x="2220051" y="3547672"/>
            <a:ext cx="2048918" cy="226608"/>
          </a:xfrm>
          <a:prstGeom prst="rect">
            <a:avLst/>
          </a:prstGeom>
          <a:noFill/>
        </p:spPr>
        <p:txBody>
          <a:bodyPr wrap="square" lIns="0" tIns="0" rIns="0" bIns="0" rtlCol="0" anchor="ctr"/>
          <a:lstStyle/>
          <a:p>
            <a:pPr>
              <a:lnSpc>
                <a:spcPct val="130000"/>
              </a:lnSpc>
            </a:pPr>
            <a:r>
              <a:rPr lang="en-US" sz="1200" b="1" dirty="0">
                <a:solidFill>
                  <a:srgbClr val="6366F1"/>
                </a:solidFill>
                <a:latin typeface="MiSans" pitchFamily="34" charset="-122"/>
                <a:ea typeface="MiSans" pitchFamily="34" charset="-122"/>
                <a:cs typeface="MiSans" pitchFamily="34" charset="-120"/>
              </a:rPr>
              <a:t>James Example (Part 1 &amp; 2)</a:t>
            </a:r>
            <a:endParaRPr lang="en-US" sz="1600" dirty="0"/>
          </a:p>
        </p:txBody>
      </p:sp>
      <p:sp>
        <p:nvSpPr>
          <p:cNvPr id="10" name="Text 8"/>
          <p:cNvSpPr/>
          <p:nvPr>
            <p:custDataLst>
              <p:tags r:id="rId5"/>
            </p:custDataLst>
          </p:nvPr>
        </p:nvSpPr>
        <p:spPr>
          <a:xfrm>
            <a:off x="1572210" y="3849817"/>
            <a:ext cx="3333033" cy="18884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Birthday → Boyfriend James → Ex-boyfriend James</a:t>
            </a:r>
            <a:endParaRPr lang="en-US" sz="1600" dirty="0"/>
          </a:p>
        </p:txBody>
      </p:sp>
      <p:sp>
        <p:nvSpPr>
          <p:cNvPr id="11" name="Shape 9"/>
          <p:cNvSpPr/>
          <p:nvPr>
            <p:custDataLst>
              <p:tags r:id="rId6"/>
            </p:custDataLst>
          </p:nvPr>
        </p:nvSpPr>
        <p:spPr>
          <a:xfrm>
            <a:off x="430788" y="5436076"/>
            <a:ext cx="5551908" cy="415449"/>
          </a:xfrm>
          <a:custGeom>
            <a:avLst/>
            <a:gdLst/>
            <a:ahLst/>
            <a:cxnLst/>
            <a:rect l="l" t="t" r="r" b="b"/>
            <a:pathLst>
              <a:path w="5600700" h="419100">
                <a:moveTo>
                  <a:pt x="76201" y="0"/>
                </a:moveTo>
                <a:lnTo>
                  <a:pt x="5524499" y="0"/>
                </a:lnTo>
                <a:cubicBezTo>
                  <a:pt x="5566584" y="0"/>
                  <a:pt x="5600700" y="34116"/>
                  <a:pt x="5600700" y="76201"/>
                </a:cubicBezTo>
                <a:lnTo>
                  <a:pt x="5600700" y="342899"/>
                </a:lnTo>
                <a:cubicBezTo>
                  <a:pt x="5600700" y="384984"/>
                  <a:pt x="5566584" y="419100"/>
                  <a:pt x="5524499" y="419100"/>
                </a:cubicBezTo>
                <a:lnTo>
                  <a:pt x="76201" y="419100"/>
                </a:lnTo>
                <a:cubicBezTo>
                  <a:pt x="34116" y="419100"/>
                  <a:pt x="0" y="384984"/>
                  <a:pt x="0" y="342899"/>
                </a:cubicBezTo>
                <a:lnTo>
                  <a:pt x="0" y="76201"/>
                </a:lnTo>
                <a:cubicBezTo>
                  <a:pt x="0" y="34144"/>
                  <a:pt x="34144" y="0"/>
                  <a:pt x="76201" y="0"/>
                </a:cubicBezTo>
                <a:close/>
              </a:path>
            </a:pathLst>
          </a:custGeom>
          <a:solidFill>
            <a:srgbClr val="EEF2FF"/>
          </a:solidFill>
        </p:spPr>
        <p:txBody>
          <a:bodyPr/>
          <a:lstStyle/>
          <a:p>
            <a:endParaRPr lang="en-US"/>
          </a:p>
        </p:txBody>
      </p:sp>
      <p:sp>
        <p:nvSpPr>
          <p:cNvPr id="12" name="Shape 10"/>
          <p:cNvSpPr/>
          <p:nvPr>
            <p:custDataLst>
              <p:tags r:id="rId7"/>
            </p:custDataLst>
          </p:nvPr>
        </p:nvSpPr>
        <p:spPr>
          <a:xfrm>
            <a:off x="562976" y="5579595"/>
            <a:ext cx="132188" cy="132188"/>
          </a:xfrm>
          <a:custGeom>
            <a:avLst/>
            <a:gdLst/>
            <a:ahLst/>
            <a:cxnLst/>
            <a:rect l="l" t="t" r="r" b="b"/>
            <a:pathLst>
              <a:path w="133350" h="133350">
                <a:moveTo>
                  <a:pt x="87511" y="91678"/>
                </a:moveTo>
                <a:cubicBezTo>
                  <a:pt x="112827" y="91678"/>
                  <a:pt x="133350" y="71155"/>
                  <a:pt x="133350" y="45839"/>
                </a:cubicBezTo>
                <a:cubicBezTo>
                  <a:pt x="133350" y="20523"/>
                  <a:pt x="112827" y="0"/>
                  <a:pt x="87511" y="0"/>
                </a:cubicBezTo>
                <a:cubicBezTo>
                  <a:pt x="62195" y="0"/>
                  <a:pt x="41672" y="20523"/>
                  <a:pt x="41672" y="45839"/>
                </a:cubicBezTo>
                <a:cubicBezTo>
                  <a:pt x="41672" y="50709"/>
                  <a:pt x="42427" y="55424"/>
                  <a:pt x="43834" y="59825"/>
                </a:cubicBezTo>
                <a:lnTo>
                  <a:pt x="1823" y="101836"/>
                </a:lnTo>
                <a:cubicBezTo>
                  <a:pt x="651" y="103008"/>
                  <a:pt x="0" y="104596"/>
                  <a:pt x="0" y="106263"/>
                </a:cubicBezTo>
                <a:lnTo>
                  <a:pt x="0" y="127099"/>
                </a:lnTo>
                <a:cubicBezTo>
                  <a:pt x="0" y="130563"/>
                  <a:pt x="2787" y="133350"/>
                  <a:pt x="6251" y="133350"/>
                </a:cubicBezTo>
                <a:lnTo>
                  <a:pt x="27087" y="133350"/>
                </a:lnTo>
                <a:cubicBezTo>
                  <a:pt x="30551" y="133350"/>
                  <a:pt x="33337" y="130563"/>
                  <a:pt x="33337" y="127099"/>
                </a:cubicBezTo>
                <a:lnTo>
                  <a:pt x="33337" y="116681"/>
                </a:lnTo>
                <a:lnTo>
                  <a:pt x="43755" y="116681"/>
                </a:lnTo>
                <a:cubicBezTo>
                  <a:pt x="47219" y="116681"/>
                  <a:pt x="50006" y="113894"/>
                  <a:pt x="50006" y="110430"/>
                </a:cubicBezTo>
                <a:lnTo>
                  <a:pt x="50006" y="100013"/>
                </a:lnTo>
                <a:lnTo>
                  <a:pt x="60424" y="100013"/>
                </a:lnTo>
                <a:cubicBezTo>
                  <a:pt x="62091" y="100013"/>
                  <a:pt x="63680" y="99361"/>
                  <a:pt x="64852" y="98189"/>
                </a:cubicBezTo>
                <a:lnTo>
                  <a:pt x="73525" y="89516"/>
                </a:lnTo>
                <a:cubicBezTo>
                  <a:pt x="77926" y="90923"/>
                  <a:pt x="82641" y="91678"/>
                  <a:pt x="87511" y="91678"/>
                </a:cubicBezTo>
                <a:close/>
                <a:moveTo>
                  <a:pt x="97929" y="25003"/>
                </a:moveTo>
                <a:cubicBezTo>
                  <a:pt x="103679" y="25003"/>
                  <a:pt x="108347" y="29671"/>
                  <a:pt x="108347" y="35421"/>
                </a:cubicBezTo>
                <a:cubicBezTo>
                  <a:pt x="108347" y="41171"/>
                  <a:pt x="103679" y="45839"/>
                  <a:pt x="97929" y="45839"/>
                </a:cubicBezTo>
                <a:cubicBezTo>
                  <a:pt x="92179" y="45839"/>
                  <a:pt x="87511" y="41171"/>
                  <a:pt x="87511" y="35421"/>
                </a:cubicBezTo>
                <a:cubicBezTo>
                  <a:pt x="87511" y="29671"/>
                  <a:pt x="92179" y="25003"/>
                  <a:pt x="97929" y="25003"/>
                </a:cubicBezTo>
                <a:close/>
              </a:path>
            </a:pathLst>
          </a:custGeom>
          <a:solidFill>
            <a:srgbClr val="372AAC"/>
          </a:solidFill>
        </p:spPr>
        <p:txBody>
          <a:bodyPr/>
          <a:lstStyle/>
          <a:p>
            <a:endParaRPr lang="en-US"/>
          </a:p>
        </p:txBody>
      </p:sp>
      <p:sp>
        <p:nvSpPr>
          <p:cNvPr id="13" name="Text 11"/>
          <p:cNvSpPr/>
          <p:nvPr>
            <p:custDataLst>
              <p:tags r:id="rId8"/>
            </p:custDataLst>
          </p:nvPr>
        </p:nvSpPr>
        <p:spPr>
          <a:xfrm>
            <a:off x="742375" y="5549380"/>
            <a:ext cx="5193111" cy="188840"/>
          </a:xfrm>
          <a:prstGeom prst="rect">
            <a:avLst/>
          </a:prstGeom>
          <a:noFill/>
        </p:spPr>
        <p:txBody>
          <a:bodyPr wrap="square" lIns="0" tIns="0" rIns="0" bIns="0" rtlCol="0" anchor="ctr"/>
          <a:lstStyle/>
          <a:p>
            <a:pPr>
              <a:lnSpc>
                <a:spcPct val="110000"/>
              </a:lnSpc>
            </a:pPr>
            <a:r>
              <a:rPr lang="en-US" sz="1400" dirty="0">
                <a:solidFill>
                  <a:srgbClr val="372AAC"/>
                </a:solidFill>
                <a:latin typeface="Calibri" panose="020F0502020204030204" pitchFamily="34" charset="0"/>
                <a:ea typeface="MiSans" pitchFamily="34" charset="-122"/>
                <a:cs typeface="Calibri" panose="020F0502020204030204" pitchFamily="34" charset="0"/>
              </a:rPr>
              <a:t>Memory must be </a:t>
            </a:r>
            <a:r>
              <a:rPr lang="en-US" sz="1400" b="1" dirty="0">
                <a:solidFill>
                  <a:srgbClr val="372AAC"/>
                </a:solidFill>
                <a:latin typeface="Calibri" panose="020F0502020204030204" pitchFamily="34" charset="0"/>
                <a:ea typeface="MiSans" pitchFamily="34" charset="-122"/>
                <a:cs typeface="Calibri" panose="020F0502020204030204" pitchFamily="34" charset="0"/>
              </a:rPr>
              <a:t>revisable</a:t>
            </a:r>
            <a:r>
              <a:rPr lang="en-US" sz="1400" dirty="0">
                <a:solidFill>
                  <a:srgbClr val="372AAC"/>
                </a:solidFill>
                <a:latin typeface="Calibri" panose="020F0502020204030204" pitchFamily="34" charset="0"/>
                <a:ea typeface="MiSans" pitchFamily="34" charset="-122"/>
                <a:cs typeface="Calibri" panose="020F0502020204030204" pitchFamily="34" charset="0"/>
              </a:rPr>
              <a:t> and </a:t>
            </a:r>
            <a:r>
              <a:rPr lang="en-US" sz="1400" b="1" dirty="0">
                <a:solidFill>
                  <a:srgbClr val="372AAC"/>
                </a:solidFill>
                <a:latin typeface="Calibri" panose="020F0502020204030204" pitchFamily="34" charset="0"/>
                <a:ea typeface="MiSans" pitchFamily="34" charset="-122"/>
                <a:cs typeface="Calibri" panose="020F0502020204030204" pitchFamily="34" charset="0"/>
              </a:rPr>
              <a:t>state-aware</a:t>
            </a:r>
            <a:r>
              <a:rPr lang="en-US" sz="1400" dirty="0">
                <a:solidFill>
                  <a:srgbClr val="372AAC"/>
                </a:solidFill>
                <a:latin typeface="Calibri" panose="020F0502020204030204" pitchFamily="34" charset="0"/>
                <a:ea typeface="MiSans" pitchFamily="34" charset="-122"/>
                <a:cs typeface="Calibri" panose="020F0502020204030204" pitchFamily="34" charset="0"/>
              </a:rPr>
              <a:t>, not just append-only.</a:t>
            </a:r>
          </a:p>
        </p:txBody>
      </p:sp>
      <p:sp>
        <p:nvSpPr>
          <p:cNvPr id="14" name="Shape 12"/>
          <p:cNvSpPr/>
          <p:nvPr>
            <p:custDataLst>
              <p:tags r:id="rId9"/>
            </p:custDataLst>
          </p:nvPr>
        </p:nvSpPr>
        <p:spPr>
          <a:xfrm>
            <a:off x="6233853" y="1464133"/>
            <a:ext cx="5527359" cy="3903331"/>
          </a:xfrm>
          <a:custGeom>
            <a:avLst/>
            <a:gdLst/>
            <a:ahLst/>
            <a:cxnLst/>
            <a:rect l="l" t="t" r="r" b="b"/>
            <a:pathLst>
              <a:path w="5575935" h="3937635">
                <a:moveTo>
                  <a:pt x="114310" y="0"/>
                </a:moveTo>
                <a:lnTo>
                  <a:pt x="5461625" y="0"/>
                </a:lnTo>
                <a:cubicBezTo>
                  <a:pt x="5524757" y="0"/>
                  <a:pt x="5575935" y="51178"/>
                  <a:pt x="5575935" y="114310"/>
                </a:cubicBezTo>
                <a:lnTo>
                  <a:pt x="5575935" y="3823325"/>
                </a:lnTo>
                <a:cubicBezTo>
                  <a:pt x="5575935" y="3886457"/>
                  <a:pt x="5524757" y="3937635"/>
                  <a:pt x="5461625" y="3937635"/>
                </a:cubicBezTo>
                <a:lnTo>
                  <a:pt x="114310" y="3937635"/>
                </a:lnTo>
                <a:cubicBezTo>
                  <a:pt x="51178" y="3937635"/>
                  <a:pt x="0" y="3886457"/>
                  <a:pt x="0" y="3823325"/>
                </a:cubicBezTo>
                <a:lnTo>
                  <a:pt x="0" y="114310"/>
                </a:lnTo>
                <a:cubicBezTo>
                  <a:pt x="0" y="51178"/>
                  <a:pt x="51178" y="0"/>
                  <a:pt x="114310"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en-US"/>
          </a:p>
        </p:txBody>
      </p:sp>
      <p:sp>
        <p:nvSpPr>
          <p:cNvPr id="15" name="Shape 13"/>
          <p:cNvSpPr/>
          <p:nvPr>
            <p:custDataLst>
              <p:tags r:id="rId10"/>
            </p:custDataLst>
          </p:nvPr>
        </p:nvSpPr>
        <p:spPr>
          <a:xfrm>
            <a:off x="8836546" y="2754542"/>
            <a:ext cx="297424" cy="339913"/>
          </a:xfrm>
          <a:custGeom>
            <a:avLst/>
            <a:gdLst/>
            <a:ahLst/>
            <a:cxnLst/>
            <a:rect l="l" t="t" r="r" b="b"/>
            <a:pathLst>
              <a:path w="300038" h="342900">
                <a:moveTo>
                  <a:pt x="42863" y="21431"/>
                </a:moveTo>
                <a:cubicBezTo>
                  <a:pt x="19221" y="21431"/>
                  <a:pt x="0" y="40652"/>
                  <a:pt x="0" y="64294"/>
                </a:cubicBezTo>
                <a:lnTo>
                  <a:pt x="0" y="278606"/>
                </a:lnTo>
                <a:cubicBezTo>
                  <a:pt x="0" y="302248"/>
                  <a:pt x="19221" y="321469"/>
                  <a:pt x="42863" y="321469"/>
                </a:cubicBezTo>
                <a:lnTo>
                  <a:pt x="257175" y="321469"/>
                </a:lnTo>
                <a:cubicBezTo>
                  <a:pt x="280816" y="321469"/>
                  <a:pt x="300038" y="302248"/>
                  <a:pt x="300038" y="278606"/>
                </a:cubicBezTo>
                <a:lnTo>
                  <a:pt x="300038" y="64294"/>
                </a:lnTo>
                <a:cubicBezTo>
                  <a:pt x="300038" y="40652"/>
                  <a:pt x="280816" y="21431"/>
                  <a:pt x="257175" y="21431"/>
                </a:cubicBezTo>
                <a:lnTo>
                  <a:pt x="42863" y="21431"/>
                </a:lnTo>
                <a:close/>
                <a:moveTo>
                  <a:pt x="85725" y="75009"/>
                </a:moveTo>
                <a:cubicBezTo>
                  <a:pt x="103467" y="75009"/>
                  <a:pt x="117872" y="89414"/>
                  <a:pt x="117872" y="107156"/>
                </a:cubicBezTo>
                <a:cubicBezTo>
                  <a:pt x="117872" y="124899"/>
                  <a:pt x="103467" y="139303"/>
                  <a:pt x="85725" y="139303"/>
                </a:cubicBezTo>
                <a:cubicBezTo>
                  <a:pt x="67983" y="139303"/>
                  <a:pt x="53578" y="124899"/>
                  <a:pt x="53578" y="107156"/>
                </a:cubicBezTo>
                <a:cubicBezTo>
                  <a:pt x="53578" y="89414"/>
                  <a:pt x="67983" y="75009"/>
                  <a:pt x="85725" y="75009"/>
                </a:cubicBezTo>
                <a:close/>
                <a:moveTo>
                  <a:pt x="182166" y="150019"/>
                </a:moveTo>
                <a:cubicBezTo>
                  <a:pt x="187791" y="150019"/>
                  <a:pt x="192948" y="152966"/>
                  <a:pt x="195895" y="157721"/>
                </a:cubicBezTo>
                <a:lnTo>
                  <a:pt x="254831" y="254161"/>
                </a:lnTo>
                <a:cubicBezTo>
                  <a:pt x="257845" y="259117"/>
                  <a:pt x="257979" y="265346"/>
                  <a:pt x="255166" y="270436"/>
                </a:cubicBezTo>
                <a:cubicBezTo>
                  <a:pt x="252353" y="275526"/>
                  <a:pt x="246928" y="278606"/>
                  <a:pt x="241102" y="278606"/>
                </a:cubicBezTo>
                <a:lnTo>
                  <a:pt x="58936" y="278606"/>
                </a:lnTo>
                <a:cubicBezTo>
                  <a:pt x="52975" y="278606"/>
                  <a:pt x="47417" y="275258"/>
                  <a:pt x="44671" y="269967"/>
                </a:cubicBezTo>
                <a:cubicBezTo>
                  <a:pt x="41925" y="264676"/>
                  <a:pt x="42327" y="258247"/>
                  <a:pt x="45742" y="253358"/>
                </a:cubicBezTo>
                <a:lnTo>
                  <a:pt x="83247" y="199779"/>
                </a:lnTo>
                <a:cubicBezTo>
                  <a:pt x="86261" y="195493"/>
                  <a:pt x="91150" y="192948"/>
                  <a:pt x="96441" y="192948"/>
                </a:cubicBezTo>
                <a:cubicBezTo>
                  <a:pt x="101731" y="192948"/>
                  <a:pt x="106620" y="195493"/>
                  <a:pt x="109634" y="199779"/>
                </a:cubicBezTo>
                <a:lnTo>
                  <a:pt x="127315" y="225095"/>
                </a:lnTo>
                <a:lnTo>
                  <a:pt x="168436" y="157788"/>
                </a:lnTo>
                <a:cubicBezTo>
                  <a:pt x="171383" y="153033"/>
                  <a:pt x="176540" y="150086"/>
                  <a:pt x="182166" y="150086"/>
                </a:cubicBezTo>
                <a:close/>
              </a:path>
            </a:pathLst>
          </a:custGeom>
          <a:solidFill>
            <a:srgbClr val="6366F1"/>
          </a:solidFill>
        </p:spPr>
        <p:txBody>
          <a:bodyPr/>
          <a:lstStyle/>
          <a:p>
            <a:endParaRPr lang="en-US"/>
          </a:p>
        </p:txBody>
      </p:sp>
      <p:sp>
        <p:nvSpPr>
          <p:cNvPr id="16" name="Text 14"/>
          <p:cNvSpPr/>
          <p:nvPr>
            <p:custDataLst>
              <p:tags r:id="rId11"/>
            </p:custDataLst>
          </p:nvPr>
        </p:nvSpPr>
        <p:spPr>
          <a:xfrm>
            <a:off x="8314875" y="3207759"/>
            <a:ext cx="1425745" cy="264377"/>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[INSERT IMAGE]</a:t>
            </a:r>
            <a:endParaRPr lang="en-US" sz="1600" dirty="0"/>
          </a:p>
        </p:txBody>
      </p:sp>
      <p:sp>
        <p:nvSpPr>
          <p:cNvPr id="17" name="Text 15"/>
          <p:cNvSpPr/>
          <p:nvPr>
            <p:custDataLst>
              <p:tags r:id="rId12"/>
            </p:custDataLst>
          </p:nvPr>
        </p:nvSpPr>
        <p:spPr>
          <a:xfrm>
            <a:off x="7902023" y="3547672"/>
            <a:ext cx="2237759" cy="226608"/>
          </a:xfrm>
          <a:prstGeom prst="rect">
            <a:avLst/>
          </a:prstGeom>
          <a:noFill/>
        </p:spPr>
        <p:txBody>
          <a:bodyPr wrap="square" lIns="0" tIns="0" rIns="0" bIns="0" rtlCol="0" anchor="ctr"/>
          <a:lstStyle/>
          <a:p>
            <a:pPr>
              <a:lnSpc>
                <a:spcPct val="130000"/>
              </a:lnSpc>
            </a:pPr>
            <a:r>
              <a:rPr lang="en-US" sz="1200" b="1" dirty="0">
                <a:solidFill>
                  <a:srgbClr val="6366F1"/>
                </a:solidFill>
                <a:latin typeface="MiSans" pitchFamily="34" charset="-122"/>
                <a:ea typeface="MiSans" pitchFamily="34" charset="-122"/>
                <a:cs typeface="MiSans" pitchFamily="34" charset="-120"/>
              </a:rPr>
              <a:t>Nobel Prize Retrieval Example</a:t>
            </a:r>
            <a:endParaRPr lang="en-US" sz="1600" dirty="0"/>
          </a:p>
        </p:txBody>
      </p:sp>
      <p:sp>
        <p:nvSpPr>
          <p:cNvPr id="18" name="Text 16"/>
          <p:cNvSpPr/>
          <p:nvPr>
            <p:custDataLst>
              <p:tags r:id="rId13"/>
            </p:custDataLst>
          </p:nvPr>
        </p:nvSpPr>
        <p:spPr>
          <a:xfrm>
            <a:off x="7479256" y="3849817"/>
            <a:ext cx="3078099" cy="18884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Agent searches archival storage for information</a:t>
            </a:r>
            <a:endParaRPr lang="en-US" sz="1600" dirty="0"/>
          </a:p>
        </p:txBody>
      </p:sp>
      <p:sp>
        <p:nvSpPr>
          <p:cNvPr id="19" name="Shape 17"/>
          <p:cNvSpPr/>
          <p:nvPr>
            <p:custDataLst>
              <p:tags r:id="rId14"/>
            </p:custDataLst>
          </p:nvPr>
        </p:nvSpPr>
        <p:spPr>
          <a:xfrm>
            <a:off x="6209304" y="5436076"/>
            <a:ext cx="5551908" cy="415449"/>
          </a:xfrm>
          <a:custGeom>
            <a:avLst/>
            <a:gdLst/>
            <a:ahLst/>
            <a:cxnLst/>
            <a:rect l="l" t="t" r="r" b="b"/>
            <a:pathLst>
              <a:path w="5600700" h="419100">
                <a:moveTo>
                  <a:pt x="76201" y="0"/>
                </a:moveTo>
                <a:lnTo>
                  <a:pt x="5524499" y="0"/>
                </a:lnTo>
                <a:cubicBezTo>
                  <a:pt x="5566584" y="0"/>
                  <a:pt x="5600700" y="34116"/>
                  <a:pt x="5600700" y="76201"/>
                </a:cubicBezTo>
                <a:lnTo>
                  <a:pt x="5600700" y="342899"/>
                </a:lnTo>
                <a:cubicBezTo>
                  <a:pt x="5600700" y="384984"/>
                  <a:pt x="5566584" y="419100"/>
                  <a:pt x="5524499" y="419100"/>
                </a:cubicBezTo>
                <a:lnTo>
                  <a:pt x="76201" y="419100"/>
                </a:lnTo>
                <a:cubicBezTo>
                  <a:pt x="34116" y="419100"/>
                  <a:pt x="0" y="384984"/>
                  <a:pt x="0" y="342899"/>
                </a:cubicBezTo>
                <a:lnTo>
                  <a:pt x="0" y="76201"/>
                </a:lnTo>
                <a:cubicBezTo>
                  <a:pt x="0" y="34144"/>
                  <a:pt x="34144" y="0"/>
                  <a:pt x="76201" y="0"/>
                </a:cubicBezTo>
                <a:close/>
              </a:path>
            </a:pathLst>
          </a:custGeom>
          <a:solidFill>
            <a:srgbClr val="FAF5FF"/>
          </a:solidFill>
        </p:spPr>
        <p:txBody>
          <a:bodyPr/>
          <a:lstStyle/>
          <a:p>
            <a:endParaRPr lang="en-US"/>
          </a:p>
        </p:txBody>
      </p:sp>
      <p:sp>
        <p:nvSpPr>
          <p:cNvPr id="20" name="Shape 18"/>
          <p:cNvSpPr/>
          <p:nvPr>
            <p:custDataLst>
              <p:tags r:id="rId15"/>
            </p:custDataLst>
          </p:nvPr>
        </p:nvSpPr>
        <p:spPr>
          <a:xfrm>
            <a:off x="6341493" y="5579595"/>
            <a:ext cx="132188" cy="132188"/>
          </a:xfrm>
          <a:custGeom>
            <a:avLst/>
            <a:gdLst/>
            <a:ahLst/>
            <a:cxnLst/>
            <a:rect l="l" t="t" r="r" b="b"/>
            <a:pathLst>
              <a:path w="133350" h="133350">
                <a:moveTo>
                  <a:pt x="87511" y="91678"/>
                </a:moveTo>
                <a:cubicBezTo>
                  <a:pt x="112827" y="91678"/>
                  <a:pt x="133350" y="71155"/>
                  <a:pt x="133350" y="45839"/>
                </a:cubicBezTo>
                <a:cubicBezTo>
                  <a:pt x="133350" y="20523"/>
                  <a:pt x="112827" y="0"/>
                  <a:pt x="87511" y="0"/>
                </a:cubicBezTo>
                <a:cubicBezTo>
                  <a:pt x="62195" y="0"/>
                  <a:pt x="41672" y="20523"/>
                  <a:pt x="41672" y="45839"/>
                </a:cubicBezTo>
                <a:cubicBezTo>
                  <a:pt x="41672" y="50709"/>
                  <a:pt x="42427" y="55424"/>
                  <a:pt x="43834" y="59825"/>
                </a:cubicBezTo>
                <a:lnTo>
                  <a:pt x="1823" y="101836"/>
                </a:lnTo>
                <a:cubicBezTo>
                  <a:pt x="651" y="103008"/>
                  <a:pt x="0" y="104596"/>
                  <a:pt x="0" y="106263"/>
                </a:cubicBezTo>
                <a:lnTo>
                  <a:pt x="0" y="127099"/>
                </a:lnTo>
                <a:cubicBezTo>
                  <a:pt x="0" y="130563"/>
                  <a:pt x="2787" y="133350"/>
                  <a:pt x="6251" y="133350"/>
                </a:cubicBezTo>
                <a:lnTo>
                  <a:pt x="27087" y="133350"/>
                </a:lnTo>
                <a:cubicBezTo>
                  <a:pt x="30551" y="133350"/>
                  <a:pt x="33337" y="130563"/>
                  <a:pt x="33337" y="127099"/>
                </a:cubicBezTo>
                <a:lnTo>
                  <a:pt x="33337" y="116681"/>
                </a:lnTo>
                <a:lnTo>
                  <a:pt x="43755" y="116681"/>
                </a:lnTo>
                <a:cubicBezTo>
                  <a:pt x="47219" y="116681"/>
                  <a:pt x="50006" y="113894"/>
                  <a:pt x="50006" y="110430"/>
                </a:cubicBezTo>
                <a:lnTo>
                  <a:pt x="50006" y="100013"/>
                </a:lnTo>
                <a:lnTo>
                  <a:pt x="60424" y="100013"/>
                </a:lnTo>
                <a:cubicBezTo>
                  <a:pt x="62091" y="100013"/>
                  <a:pt x="63680" y="99361"/>
                  <a:pt x="64852" y="98189"/>
                </a:cubicBezTo>
                <a:lnTo>
                  <a:pt x="73525" y="89516"/>
                </a:lnTo>
                <a:cubicBezTo>
                  <a:pt x="77926" y="90923"/>
                  <a:pt x="82641" y="91678"/>
                  <a:pt x="87511" y="91678"/>
                </a:cubicBezTo>
                <a:close/>
                <a:moveTo>
                  <a:pt x="97929" y="25003"/>
                </a:moveTo>
                <a:cubicBezTo>
                  <a:pt x="103679" y="25003"/>
                  <a:pt x="108347" y="29671"/>
                  <a:pt x="108347" y="35421"/>
                </a:cubicBezTo>
                <a:cubicBezTo>
                  <a:pt x="108347" y="41171"/>
                  <a:pt x="103679" y="45839"/>
                  <a:pt x="97929" y="45839"/>
                </a:cubicBezTo>
                <a:cubicBezTo>
                  <a:pt x="92179" y="45839"/>
                  <a:pt x="87511" y="41171"/>
                  <a:pt x="87511" y="35421"/>
                </a:cubicBezTo>
                <a:cubicBezTo>
                  <a:pt x="87511" y="29671"/>
                  <a:pt x="92179" y="25003"/>
                  <a:pt x="97929" y="25003"/>
                </a:cubicBezTo>
                <a:close/>
              </a:path>
            </a:pathLst>
          </a:custGeom>
          <a:solidFill>
            <a:srgbClr val="6E11B0"/>
          </a:solidFill>
        </p:spPr>
        <p:txBody>
          <a:bodyPr/>
          <a:lstStyle/>
          <a:p>
            <a:endParaRPr lang="en-US"/>
          </a:p>
        </p:txBody>
      </p:sp>
      <p:sp>
        <p:nvSpPr>
          <p:cNvPr id="21" name="Text 19"/>
          <p:cNvSpPr/>
          <p:nvPr>
            <p:custDataLst>
              <p:tags r:id="rId16"/>
            </p:custDataLst>
          </p:nvPr>
        </p:nvSpPr>
        <p:spPr>
          <a:xfrm>
            <a:off x="6520891" y="5549380"/>
            <a:ext cx="5193111" cy="188840"/>
          </a:xfrm>
          <a:prstGeom prst="rect">
            <a:avLst/>
          </a:prstGeom>
          <a:noFill/>
        </p:spPr>
        <p:txBody>
          <a:bodyPr wrap="square" lIns="0" tIns="0" rIns="0" bIns="0" rtlCol="0" anchor="ctr"/>
          <a:lstStyle/>
          <a:p>
            <a:pPr>
              <a:lnSpc>
                <a:spcPct val="120000"/>
              </a:lnSpc>
            </a:pPr>
            <a:r>
              <a:rPr lang="en-US" sz="1050" dirty="0">
                <a:solidFill>
                  <a:srgbClr val="6E11B0"/>
                </a:solidFill>
                <a:latin typeface="MiSans" pitchFamily="34" charset="-122"/>
                <a:ea typeface="MiSans" pitchFamily="34" charset="-122"/>
                <a:cs typeface="MiSans" pitchFamily="34" charset="-120"/>
              </a:rPr>
              <a:t> </a:t>
            </a:r>
            <a:r>
              <a:rPr lang="en-US" sz="1400" dirty="0">
                <a:solidFill>
                  <a:srgbClr val="6E11B0"/>
                </a:solidFill>
                <a:latin typeface="Calibri" panose="020F0502020204030204" pitchFamily="34" charset="0"/>
                <a:ea typeface="MiSans" pitchFamily="34" charset="-122"/>
                <a:cs typeface="Calibri" panose="020F0502020204030204" pitchFamily="34" charset="0"/>
              </a:rPr>
              <a:t>Agent can </a:t>
            </a:r>
            <a:r>
              <a:rPr lang="en-US" sz="1400" b="1" dirty="0">
                <a:solidFill>
                  <a:srgbClr val="6E11B0"/>
                </a:solidFill>
                <a:latin typeface="Calibri" panose="020F0502020204030204" pitchFamily="34" charset="0"/>
                <a:ea typeface="MiSans" pitchFamily="34" charset="-122"/>
                <a:cs typeface="Calibri" panose="020F0502020204030204" pitchFamily="34" charset="0"/>
              </a:rPr>
              <a:t>explicitly retrieve</a:t>
            </a:r>
            <a:r>
              <a:rPr lang="en-US" sz="1400" dirty="0">
                <a:solidFill>
                  <a:srgbClr val="6E11B0"/>
                </a:solidFill>
                <a:latin typeface="Calibri" panose="020F0502020204030204" pitchFamily="34" charset="0"/>
                <a:ea typeface="MiSans" pitchFamily="34" charset="-122"/>
                <a:cs typeface="Calibri" panose="020F0502020204030204" pitchFamily="34" charset="0"/>
              </a:rPr>
              <a:t> from long-term storage when needed.</a:t>
            </a:r>
          </a:p>
        </p:txBody>
      </p:sp>
      <p:grpSp>
        <p:nvGrpSpPr>
          <p:cNvPr id="28" name="Group 27"/>
          <p:cNvGrpSpPr/>
          <p:nvPr/>
        </p:nvGrpSpPr>
        <p:grpSpPr>
          <a:xfrm>
            <a:off x="2692083" y="5798185"/>
            <a:ext cx="6807835" cy="266700"/>
            <a:chOff x="5685" y="9177"/>
            <a:chExt cx="10721" cy="420"/>
          </a:xfrm>
        </p:grpSpPr>
        <p:sp>
          <p:nvSpPr>
            <p:cNvPr id="24" name="Shape 22"/>
            <p:cNvSpPr/>
            <p:nvPr/>
          </p:nvSpPr>
          <p:spPr>
            <a:xfrm>
              <a:off x="5685" y="9285"/>
              <a:ext cx="304" cy="270"/>
            </a:xfrm>
            <a:custGeom>
              <a:avLst/>
              <a:gdLst/>
              <a:ahLst/>
              <a:cxnLst/>
              <a:rect l="l" t="t" r="r" b="b"/>
              <a:pathLst>
                <a:path w="192881" h="171450">
                  <a:moveTo>
                    <a:pt x="103640" y="-6329"/>
                  </a:moveTo>
                  <a:cubicBezTo>
                    <a:pt x="102267" y="-9008"/>
                    <a:pt x="99488" y="-10716"/>
                    <a:pt x="96474" y="-10716"/>
                  </a:cubicBezTo>
                  <a:cubicBezTo>
                    <a:pt x="93460" y="-10716"/>
                    <a:pt x="90681" y="-9008"/>
                    <a:pt x="89308" y="-6329"/>
                  </a:cubicBezTo>
                  <a:lnTo>
                    <a:pt x="64662" y="41958"/>
                  </a:lnTo>
                  <a:lnTo>
                    <a:pt x="11117" y="50464"/>
                  </a:lnTo>
                  <a:cubicBezTo>
                    <a:pt x="8137" y="50933"/>
                    <a:pt x="5659" y="53042"/>
                    <a:pt x="4722" y="55922"/>
                  </a:cubicBezTo>
                  <a:cubicBezTo>
                    <a:pt x="3784" y="58802"/>
                    <a:pt x="4554" y="61950"/>
                    <a:pt x="6664" y="64093"/>
                  </a:cubicBezTo>
                  <a:lnTo>
                    <a:pt x="44972" y="102435"/>
                  </a:lnTo>
                  <a:lnTo>
                    <a:pt x="36534" y="155979"/>
                  </a:lnTo>
                  <a:cubicBezTo>
                    <a:pt x="36065" y="158960"/>
                    <a:pt x="37304" y="161973"/>
                    <a:pt x="39748" y="163748"/>
                  </a:cubicBezTo>
                  <a:cubicBezTo>
                    <a:pt x="42193" y="165523"/>
                    <a:pt x="45407" y="165791"/>
                    <a:pt x="48120" y="164418"/>
                  </a:cubicBezTo>
                  <a:lnTo>
                    <a:pt x="96474" y="139839"/>
                  </a:lnTo>
                  <a:lnTo>
                    <a:pt x="144795" y="164418"/>
                  </a:lnTo>
                  <a:cubicBezTo>
                    <a:pt x="147474" y="165791"/>
                    <a:pt x="150722" y="165523"/>
                    <a:pt x="153166" y="163748"/>
                  </a:cubicBezTo>
                  <a:cubicBezTo>
                    <a:pt x="155611" y="161973"/>
                    <a:pt x="156850" y="158993"/>
                    <a:pt x="156381" y="155979"/>
                  </a:cubicBezTo>
                  <a:lnTo>
                    <a:pt x="147909" y="102435"/>
                  </a:lnTo>
                  <a:lnTo>
                    <a:pt x="186217" y="64093"/>
                  </a:lnTo>
                  <a:cubicBezTo>
                    <a:pt x="188361" y="61950"/>
                    <a:pt x="189097" y="58802"/>
                    <a:pt x="188160" y="55922"/>
                  </a:cubicBezTo>
                  <a:cubicBezTo>
                    <a:pt x="187222" y="53042"/>
                    <a:pt x="184778" y="50933"/>
                    <a:pt x="181764" y="50464"/>
                  </a:cubicBezTo>
                  <a:lnTo>
                    <a:pt x="128253" y="41958"/>
                  </a:lnTo>
                  <a:lnTo>
                    <a:pt x="103640" y="-6329"/>
                  </a:lnTo>
                  <a:close/>
                </a:path>
              </a:pathLst>
            </a:custGeom>
            <a:solidFill>
              <a:srgbClr val="372AAC"/>
            </a:solidFill>
          </p:spPr>
          <p:txBody>
            <a:bodyPr/>
            <a:lstStyle/>
            <a:p>
              <a:endParaRPr lang="en-US"/>
            </a:p>
          </p:txBody>
        </p:sp>
        <p:sp>
          <p:nvSpPr>
            <p:cNvPr id="25" name="Text 23"/>
            <p:cNvSpPr/>
            <p:nvPr/>
          </p:nvSpPr>
          <p:spPr>
            <a:xfrm>
              <a:off x="5988" y="9177"/>
              <a:ext cx="10419" cy="420"/>
            </a:xfrm>
            <a:prstGeom prst="rect">
              <a:avLst/>
            </a:prstGeom>
            <a:noFill/>
          </p:spPr>
          <p:txBody>
            <a:bodyPr wrap="square" lIns="0" tIns="0" rIns="0" bIns="0" rtlCol="0" anchor="ctr"/>
            <a:lstStyle/>
            <a:p>
              <a:pPr algn="ctr">
                <a:lnSpc>
                  <a:spcPct val="130000"/>
                </a:lnSpc>
              </a:pPr>
              <a:r>
                <a:rPr lang="en-US" sz="2000" b="1" dirty="0">
                  <a:solidFill>
                    <a:srgbClr val="372AAC"/>
                  </a:solidFill>
                  <a:latin typeface="Calibri" panose="020F0502020204030204" pitchFamily="34" charset="0"/>
                  <a:ea typeface="MiSans" pitchFamily="34" charset="-122"/>
                  <a:cs typeface="Calibri" panose="020F0502020204030204" pitchFamily="34" charset="0"/>
                </a:rPr>
                <a:t>MemGPT makes memory explicit, queryable, and revisable.</a:t>
              </a:r>
            </a:p>
          </p:txBody>
        </p:sp>
      </p:grpSp>
      <p:pic>
        <p:nvPicPr>
          <p:cNvPr id="26" name="Picture 25" descr="MemGPT p2"/>
          <p:cNvPicPr>
            <a:picLocks noChangeAspect="1"/>
          </p:cNvPicPr>
          <p:nvPr>
            <p:custDataLst>
              <p:tags r:id="rId17"/>
            </p:custDataLst>
          </p:nvPr>
        </p:nvPicPr>
        <p:blipFill>
          <a:blip r:embed="rId21"/>
          <a:stretch>
            <a:fillRect/>
          </a:stretch>
        </p:blipFill>
        <p:spPr>
          <a:xfrm>
            <a:off x="562610" y="1490345"/>
            <a:ext cx="5328920" cy="3774440"/>
          </a:xfrm>
          <a:prstGeom prst="rect">
            <a:avLst/>
          </a:prstGeom>
        </p:spPr>
      </p:pic>
      <p:pic>
        <p:nvPicPr>
          <p:cNvPr id="27" name="Picture 26" descr="MemGPT p3"/>
          <p:cNvPicPr>
            <a:picLocks noChangeAspect="1"/>
          </p:cNvPicPr>
          <p:nvPr>
            <p:custDataLst>
              <p:tags r:id="rId18"/>
            </p:custDataLst>
          </p:nvPr>
        </p:nvPicPr>
        <p:blipFill>
          <a:blip r:embed="rId22"/>
          <a:stretch>
            <a:fillRect/>
          </a:stretch>
        </p:blipFill>
        <p:spPr>
          <a:xfrm>
            <a:off x="6341745" y="1496695"/>
            <a:ext cx="5372100" cy="377952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0896" y="335280"/>
            <a:ext cx="6705932" cy="342900"/>
          </a:xfrm>
          <a:prstGeom prst="rect">
            <a:avLst/>
          </a:prstGeom>
          <a:noFill/>
        </p:spPr>
        <p:txBody>
          <a:bodyPr wrap="square" lIns="0" tIns="0" rIns="0" bIns="0" rtlCol="0" anchor="ctr"/>
          <a:lstStyle/>
          <a:p>
            <a:pPr>
              <a:lnSpc>
                <a:spcPct val="100000"/>
              </a:lnSpc>
            </a:pP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Why MemGPT Matters</a:t>
            </a:r>
          </a:p>
        </p:txBody>
      </p:sp>
      <p:sp>
        <p:nvSpPr>
          <p:cNvPr id="5" name="Text 3"/>
          <p:cNvSpPr/>
          <p:nvPr/>
        </p:nvSpPr>
        <p:spPr>
          <a:xfrm>
            <a:off x="361950" y="1148080"/>
            <a:ext cx="6413500" cy="414020"/>
          </a:xfrm>
          <a:prstGeom prst="rect">
            <a:avLst/>
          </a:prstGeom>
          <a:noFill/>
        </p:spPr>
        <p:txBody>
          <a:bodyPr wrap="square" lIns="0" tIns="0" rIns="0" bIns="0" rtlCol="0" anchor="ctr"/>
          <a:lstStyle/>
          <a:p>
            <a:pPr>
              <a:lnSpc>
                <a:spcPct val="130000"/>
              </a:lnSpc>
            </a:pPr>
            <a:r>
              <a:rPr lang="en-US" sz="2400" dirty="0">
                <a:solidFill>
                  <a:srgbClr val="45556C"/>
                </a:solidFill>
                <a:latin typeface="Calibri" panose="020F0502020204030204" pitchFamily="34" charset="0"/>
                <a:ea typeface="MiSans" pitchFamily="34" charset="-122"/>
                <a:cs typeface="Calibri" panose="020F0502020204030204" pitchFamily="34" charset="0"/>
              </a:rPr>
              <a:t>Significant improvement in deep memory retrieval</a:t>
            </a:r>
            <a:endParaRPr lang="en-US" sz="2400" dirty="0">
              <a:latin typeface="Calibri" panose="020F0502020204030204" pitchFamily="34" charset="0"/>
              <a:cs typeface="Calibri" panose="020F0502020204030204" pitchFamily="34" charset="0"/>
            </a:endParaRPr>
          </a:p>
        </p:txBody>
      </p:sp>
      <p:sp>
        <p:nvSpPr>
          <p:cNvPr id="6" name="Shape 4"/>
          <p:cNvSpPr/>
          <p:nvPr/>
        </p:nvSpPr>
        <p:spPr>
          <a:xfrm>
            <a:off x="361950" y="1969770"/>
            <a:ext cx="5581650"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0FDF4"/>
          </a:solidFill>
        </p:spPr>
        <p:txBody>
          <a:bodyPr/>
          <a:lstStyle/>
          <a:p>
            <a:endParaRPr lang="en-US"/>
          </a:p>
        </p:txBody>
      </p:sp>
      <p:sp>
        <p:nvSpPr>
          <p:cNvPr id="7" name="Shape 5"/>
          <p:cNvSpPr/>
          <p:nvPr/>
        </p:nvSpPr>
        <p:spPr>
          <a:xfrm>
            <a:off x="361950" y="1969770"/>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00C950"/>
          </a:solidFill>
        </p:spPr>
        <p:txBody>
          <a:bodyPr/>
          <a:lstStyle/>
          <a:p>
            <a:endParaRPr lang="en-US"/>
          </a:p>
        </p:txBody>
      </p:sp>
      <p:sp>
        <p:nvSpPr>
          <p:cNvPr id="8" name="Shape 6"/>
          <p:cNvSpPr/>
          <p:nvPr/>
        </p:nvSpPr>
        <p:spPr>
          <a:xfrm>
            <a:off x="552450" y="2160270"/>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016630"/>
          </a:solidFill>
        </p:spPr>
        <p:txBody>
          <a:bodyPr/>
          <a:lstStyle/>
          <a:p>
            <a:endParaRPr lang="en-US"/>
          </a:p>
        </p:txBody>
      </p:sp>
      <p:sp>
        <p:nvSpPr>
          <p:cNvPr id="9" name="Text 7"/>
          <p:cNvSpPr/>
          <p:nvPr/>
        </p:nvSpPr>
        <p:spPr>
          <a:xfrm>
            <a:off x="782955" y="2099310"/>
            <a:ext cx="5086350" cy="228600"/>
          </a:xfrm>
          <a:prstGeom prst="rect">
            <a:avLst/>
          </a:prstGeom>
          <a:noFill/>
        </p:spPr>
        <p:txBody>
          <a:bodyPr wrap="square" lIns="0" tIns="0" rIns="0" bIns="0" rtlCol="0" anchor="ctr"/>
          <a:lstStyle/>
          <a:p>
            <a:pPr>
              <a:lnSpc>
                <a:spcPct val="130000"/>
              </a:lnSpc>
            </a:pPr>
            <a:r>
              <a:rPr lang="en-US" sz="1600" b="1" dirty="0">
                <a:solidFill>
                  <a:srgbClr val="016630"/>
                </a:solidFill>
                <a:latin typeface="Calibri" panose="020F0502020204030204" pitchFamily="34" charset="0"/>
                <a:ea typeface="MiSans" pitchFamily="34" charset="-122"/>
                <a:cs typeface="Calibri" panose="020F0502020204030204" pitchFamily="34" charset="0"/>
              </a:rPr>
              <a:t>Deep Memory Retrieval</a:t>
            </a:r>
            <a:endParaRPr lang="en-US" sz="1600" dirty="0">
              <a:latin typeface="Calibri" panose="020F0502020204030204" pitchFamily="34" charset="0"/>
              <a:cs typeface="Calibri" panose="020F0502020204030204" pitchFamily="34" charset="0"/>
            </a:endParaRPr>
          </a:p>
        </p:txBody>
      </p:sp>
      <p:sp>
        <p:nvSpPr>
          <p:cNvPr id="10" name="Text 8"/>
          <p:cNvSpPr/>
          <p:nvPr/>
        </p:nvSpPr>
        <p:spPr>
          <a:xfrm>
            <a:off x="533400" y="2426970"/>
            <a:ext cx="5334000" cy="457200"/>
          </a:xfrm>
          <a:prstGeom prst="rect">
            <a:avLst/>
          </a:prstGeom>
          <a:noFill/>
        </p:spPr>
        <p:txBody>
          <a:bodyPr wrap="square" lIns="0" tIns="0" rIns="0" bIns="0" rtlCol="0" anchor="ctr"/>
          <a:lstStyle/>
          <a:p>
            <a:pPr>
              <a:lnSpc>
                <a:spcPct val="130000"/>
              </a:lnSpc>
            </a:pPr>
            <a:r>
              <a:rPr lang="en-US" sz="1400" dirty="0">
                <a:solidFill>
                  <a:srgbClr val="008236"/>
                </a:solidFill>
                <a:latin typeface="Calibri" panose="020F0502020204030204" pitchFamily="34" charset="0"/>
                <a:ea typeface="MiSans" pitchFamily="34" charset="-122"/>
                <a:cs typeface="Calibri" panose="020F0502020204030204" pitchFamily="34" charset="0"/>
              </a:rPr>
              <a:t>Agent is asked about topics from </a:t>
            </a:r>
            <a:r>
              <a:rPr lang="en-US" sz="1400" b="1" dirty="0">
                <a:solidFill>
                  <a:srgbClr val="008236"/>
                </a:solidFill>
                <a:latin typeface="Calibri" panose="020F0502020204030204" pitchFamily="34" charset="0"/>
                <a:ea typeface="MiSans" pitchFamily="34" charset="-122"/>
                <a:cs typeface="Calibri" panose="020F0502020204030204" pitchFamily="34" charset="0"/>
              </a:rPr>
              <a:t>prior sessions</a:t>
            </a:r>
            <a:r>
              <a:rPr lang="en-US" sz="1400" dirty="0">
                <a:solidFill>
                  <a:srgbClr val="008236"/>
                </a:solidFill>
                <a:latin typeface="Calibri" panose="020F0502020204030204" pitchFamily="34" charset="0"/>
                <a:ea typeface="MiSans" pitchFamily="34" charset="-122"/>
                <a:cs typeface="Calibri" panose="020F0502020204030204" pitchFamily="34" charset="0"/>
              </a:rPr>
              <a:t>. Without MemGPT, baselines perform poorly. With MemGPT, dramatic improvements.</a:t>
            </a:r>
            <a:endParaRPr lang="en-US" sz="1400" dirty="0">
              <a:latin typeface="Calibri" panose="020F0502020204030204" pitchFamily="34" charset="0"/>
              <a:cs typeface="Calibri" panose="020F0502020204030204" pitchFamily="34" charset="0"/>
            </a:endParaRPr>
          </a:p>
        </p:txBody>
      </p:sp>
      <p:sp>
        <p:nvSpPr>
          <p:cNvPr id="11" name="Shape 9"/>
          <p:cNvSpPr/>
          <p:nvPr/>
        </p:nvSpPr>
        <p:spPr>
          <a:xfrm>
            <a:off x="316230" y="3246120"/>
            <a:ext cx="5589270" cy="960120"/>
          </a:xfrm>
          <a:custGeom>
            <a:avLst/>
            <a:gdLst/>
            <a:ahLst/>
            <a:cxnLst/>
            <a:rect l="l" t="t" r="r" b="b"/>
            <a:pathLst>
              <a:path w="5589270" h="960120">
                <a:moveTo>
                  <a:pt x="76205" y="0"/>
                </a:moveTo>
                <a:lnTo>
                  <a:pt x="5513065" y="0"/>
                </a:lnTo>
                <a:cubicBezTo>
                  <a:pt x="5555152" y="0"/>
                  <a:pt x="5589270" y="34118"/>
                  <a:pt x="5589270" y="76205"/>
                </a:cubicBezTo>
                <a:lnTo>
                  <a:pt x="5589270" y="883915"/>
                </a:lnTo>
                <a:cubicBezTo>
                  <a:pt x="5589270" y="926002"/>
                  <a:pt x="5555152" y="960120"/>
                  <a:pt x="5513065" y="960120"/>
                </a:cubicBezTo>
                <a:lnTo>
                  <a:pt x="76205" y="960120"/>
                </a:lnTo>
                <a:cubicBezTo>
                  <a:pt x="34118" y="960120"/>
                  <a:pt x="0" y="926002"/>
                  <a:pt x="0" y="883915"/>
                </a:cubicBezTo>
                <a:lnTo>
                  <a:pt x="0" y="76205"/>
                </a:lnTo>
                <a:cubicBezTo>
                  <a:pt x="0" y="34118"/>
                  <a:pt x="34118" y="0"/>
                  <a:pt x="76205" y="0"/>
                </a:cubicBezTo>
                <a:close/>
              </a:path>
            </a:pathLst>
          </a:custGeom>
          <a:solidFill>
            <a:srgbClr val="FFFFFF"/>
          </a:solidFill>
          <a:ln w="10160">
            <a:solidFill>
              <a:srgbClr val="E2E8F0"/>
            </a:solidFill>
            <a:prstDash val="solid"/>
          </a:ln>
        </p:spPr>
        <p:txBody>
          <a:bodyPr/>
          <a:lstStyle/>
          <a:p>
            <a:endParaRPr lang="en-US"/>
          </a:p>
        </p:txBody>
      </p:sp>
      <p:sp>
        <p:nvSpPr>
          <p:cNvPr id="12" name="Text 10"/>
          <p:cNvSpPr/>
          <p:nvPr/>
        </p:nvSpPr>
        <p:spPr>
          <a:xfrm>
            <a:off x="472440" y="3321050"/>
            <a:ext cx="1589405" cy="382905"/>
          </a:xfrm>
          <a:prstGeom prst="rect">
            <a:avLst/>
          </a:prstGeom>
          <a:noFill/>
        </p:spPr>
        <p:txBody>
          <a:bodyPr wrap="square" lIns="0" tIns="0" rIns="0" bIns="0" rtlCol="0" anchor="ctr"/>
          <a:lstStyle/>
          <a:p>
            <a:pPr>
              <a:lnSpc>
                <a:spcPct val="130000"/>
              </a:lnSpc>
            </a:pPr>
            <a:r>
              <a:rPr lang="en-US" sz="2000" b="1" dirty="0">
                <a:solidFill>
                  <a:srgbClr val="314158"/>
                </a:solidFill>
                <a:latin typeface="Calibri" panose="020F0502020204030204" pitchFamily="34" charset="0"/>
                <a:ea typeface="MiSans" pitchFamily="34" charset="-122"/>
                <a:cs typeface="Calibri" panose="020F0502020204030204" pitchFamily="34" charset="0"/>
              </a:rPr>
              <a:t>GPT-4 Turbo</a:t>
            </a:r>
            <a:endParaRPr lang="en-US" sz="2000" dirty="0">
              <a:latin typeface="Calibri" panose="020F0502020204030204" pitchFamily="34" charset="0"/>
              <a:cs typeface="Calibri" panose="020F0502020204030204" pitchFamily="34" charset="0"/>
            </a:endParaRPr>
          </a:p>
        </p:txBody>
      </p:sp>
      <p:sp>
        <p:nvSpPr>
          <p:cNvPr id="13" name="Text 11"/>
          <p:cNvSpPr/>
          <p:nvPr/>
        </p:nvSpPr>
        <p:spPr>
          <a:xfrm>
            <a:off x="472440" y="3707130"/>
            <a:ext cx="1588770" cy="190500"/>
          </a:xfrm>
          <a:prstGeom prst="rect">
            <a:avLst/>
          </a:prstGeom>
          <a:noFill/>
        </p:spPr>
        <p:txBody>
          <a:bodyPr wrap="square" lIns="0" tIns="0" rIns="0" bIns="0" rtlCol="0" anchor="ctr"/>
          <a:lstStyle/>
          <a:p>
            <a:pPr>
              <a:lnSpc>
                <a:spcPct val="120000"/>
              </a:lnSpc>
            </a:pPr>
            <a:r>
              <a:rPr lang="en-US" sz="1400" dirty="0">
                <a:solidFill>
                  <a:srgbClr val="62748E"/>
                </a:solidFill>
                <a:latin typeface="Calibri" panose="020F0502020204030204" pitchFamily="34" charset="0"/>
                <a:ea typeface="MiSans" pitchFamily="34" charset="-122"/>
                <a:cs typeface="Calibri" panose="020F0502020204030204" pitchFamily="34" charset="0"/>
              </a:rPr>
              <a:t>Without MemGPT</a:t>
            </a:r>
          </a:p>
        </p:txBody>
      </p:sp>
      <p:sp>
        <p:nvSpPr>
          <p:cNvPr id="14" name="Text 12"/>
          <p:cNvSpPr/>
          <p:nvPr/>
        </p:nvSpPr>
        <p:spPr>
          <a:xfrm>
            <a:off x="2315845" y="3431540"/>
            <a:ext cx="873125" cy="402590"/>
          </a:xfrm>
          <a:prstGeom prst="rect">
            <a:avLst/>
          </a:prstGeom>
          <a:noFill/>
        </p:spPr>
        <p:txBody>
          <a:bodyPr wrap="square" lIns="0" tIns="0" rIns="0" bIns="0" rtlCol="0" anchor="ctr"/>
          <a:lstStyle/>
          <a:p>
            <a:pPr>
              <a:lnSpc>
                <a:spcPct val="120000"/>
              </a:lnSpc>
            </a:pPr>
            <a:r>
              <a:rPr lang="en-US" sz="2000" b="1" dirty="0">
                <a:solidFill>
                  <a:srgbClr val="314158"/>
                </a:solidFill>
                <a:latin typeface="Calibri" panose="020F0502020204030204" pitchFamily="34" charset="0"/>
                <a:ea typeface="MiSans" pitchFamily="34" charset="-122"/>
                <a:cs typeface="Calibri" panose="020F0502020204030204" pitchFamily="34" charset="0"/>
              </a:rPr>
              <a:t>35.3%</a:t>
            </a:r>
            <a:endParaRPr lang="en-US" sz="2000" dirty="0">
              <a:latin typeface="Calibri" panose="020F0502020204030204" pitchFamily="34" charset="0"/>
              <a:cs typeface="Calibri" panose="020F0502020204030204" pitchFamily="34" charset="0"/>
            </a:endParaRPr>
          </a:p>
        </p:txBody>
      </p:sp>
      <p:sp>
        <p:nvSpPr>
          <p:cNvPr id="15" name="Shape 13"/>
          <p:cNvSpPr/>
          <p:nvPr/>
        </p:nvSpPr>
        <p:spPr>
          <a:xfrm>
            <a:off x="472440" y="3935733"/>
            <a:ext cx="2390775" cy="114300"/>
          </a:xfrm>
          <a:custGeom>
            <a:avLst/>
            <a:gdLst/>
            <a:ahLst/>
            <a:cxnLst/>
            <a:rect l="l" t="t" r="r" b="b"/>
            <a:pathLst>
              <a:path w="2390775" h="114300">
                <a:moveTo>
                  <a:pt x="57150" y="0"/>
                </a:moveTo>
                <a:lnTo>
                  <a:pt x="2333625" y="0"/>
                </a:lnTo>
                <a:cubicBezTo>
                  <a:pt x="2365167" y="0"/>
                  <a:pt x="2390775" y="25608"/>
                  <a:pt x="2390775" y="57150"/>
                </a:cubicBezTo>
                <a:lnTo>
                  <a:pt x="2390775" y="57150"/>
                </a:lnTo>
                <a:cubicBezTo>
                  <a:pt x="2390775" y="88692"/>
                  <a:pt x="2365167" y="114300"/>
                  <a:pt x="2333625" y="114300"/>
                </a:cubicBezTo>
                <a:lnTo>
                  <a:pt x="57150" y="114300"/>
                </a:lnTo>
                <a:cubicBezTo>
                  <a:pt x="25608" y="114300"/>
                  <a:pt x="0" y="88692"/>
                  <a:pt x="0" y="57150"/>
                </a:cubicBezTo>
                <a:lnTo>
                  <a:pt x="0" y="57150"/>
                </a:lnTo>
                <a:cubicBezTo>
                  <a:pt x="0" y="25608"/>
                  <a:pt x="25608" y="0"/>
                  <a:pt x="57150" y="0"/>
                </a:cubicBezTo>
                <a:close/>
              </a:path>
            </a:pathLst>
          </a:custGeom>
          <a:solidFill>
            <a:srgbClr val="E2E8F0"/>
          </a:solidFill>
        </p:spPr>
        <p:txBody>
          <a:bodyPr/>
          <a:lstStyle/>
          <a:p>
            <a:endParaRPr lang="en-US"/>
          </a:p>
        </p:txBody>
      </p:sp>
      <p:sp>
        <p:nvSpPr>
          <p:cNvPr id="16" name="Shape 14"/>
          <p:cNvSpPr/>
          <p:nvPr/>
        </p:nvSpPr>
        <p:spPr>
          <a:xfrm>
            <a:off x="472440" y="3935733"/>
            <a:ext cx="847725" cy="114300"/>
          </a:xfrm>
          <a:custGeom>
            <a:avLst/>
            <a:gdLst/>
            <a:ahLst/>
            <a:cxnLst/>
            <a:rect l="l" t="t" r="r" b="b"/>
            <a:pathLst>
              <a:path w="847725" h="114300">
                <a:moveTo>
                  <a:pt x="57150" y="0"/>
                </a:moveTo>
                <a:lnTo>
                  <a:pt x="790575" y="0"/>
                </a:lnTo>
                <a:cubicBezTo>
                  <a:pt x="822117" y="0"/>
                  <a:pt x="847725" y="25608"/>
                  <a:pt x="847725" y="57150"/>
                </a:cubicBezTo>
                <a:lnTo>
                  <a:pt x="847725" y="57150"/>
                </a:lnTo>
                <a:cubicBezTo>
                  <a:pt x="847725" y="88692"/>
                  <a:pt x="822117" y="114300"/>
                  <a:pt x="790575" y="114300"/>
                </a:cubicBezTo>
                <a:lnTo>
                  <a:pt x="57150" y="114300"/>
                </a:lnTo>
                <a:cubicBezTo>
                  <a:pt x="25608" y="114300"/>
                  <a:pt x="0" y="88692"/>
                  <a:pt x="0" y="57150"/>
                </a:cubicBezTo>
                <a:lnTo>
                  <a:pt x="0" y="57150"/>
                </a:lnTo>
                <a:cubicBezTo>
                  <a:pt x="0" y="25608"/>
                  <a:pt x="25608" y="0"/>
                  <a:pt x="57150" y="0"/>
                </a:cubicBezTo>
                <a:close/>
              </a:path>
            </a:pathLst>
          </a:custGeom>
          <a:solidFill>
            <a:srgbClr val="90A1B9"/>
          </a:solidFill>
        </p:spPr>
        <p:txBody>
          <a:bodyPr/>
          <a:lstStyle/>
          <a:p>
            <a:endParaRPr lang="en-US"/>
          </a:p>
        </p:txBody>
      </p:sp>
      <p:sp>
        <p:nvSpPr>
          <p:cNvPr id="17" name="Shape 15"/>
          <p:cNvSpPr/>
          <p:nvPr/>
        </p:nvSpPr>
        <p:spPr>
          <a:xfrm>
            <a:off x="3036570" y="3802383"/>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615FFF"/>
          </a:solidFill>
        </p:spPr>
        <p:txBody>
          <a:bodyPr/>
          <a:lstStyle/>
          <a:p>
            <a:endParaRPr lang="en-US"/>
          </a:p>
        </p:txBody>
      </p:sp>
      <p:sp>
        <p:nvSpPr>
          <p:cNvPr id="18" name="Text 16"/>
          <p:cNvSpPr/>
          <p:nvPr/>
        </p:nvSpPr>
        <p:spPr>
          <a:xfrm>
            <a:off x="3360420" y="3707130"/>
            <a:ext cx="1451610" cy="190500"/>
          </a:xfrm>
          <a:prstGeom prst="rect">
            <a:avLst/>
          </a:prstGeom>
          <a:noFill/>
        </p:spPr>
        <p:txBody>
          <a:bodyPr wrap="square" lIns="0" tIns="0" rIns="0" bIns="0" rtlCol="0" anchor="ctr"/>
          <a:lstStyle/>
          <a:p>
            <a:pPr>
              <a:lnSpc>
                <a:spcPct val="120000"/>
              </a:lnSpc>
            </a:pPr>
            <a:r>
              <a:rPr lang="en-US" sz="1400" dirty="0">
                <a:solidFill>
                  <a:srgbClr val="62748E"/>
                </a:solidFill>
                <a:latin typeface="Calibri" panose="020F0502020204030204" pitchFamily="34" charset="0"/>
                <a:ea typeface="MiSans" pitchFamily="34" charset="-122"/>
                <a:cs typeface="Calibri" panose="020F0502020204030204" pitchFamily="34" charset="0"/>
              </a:rPr>
              <a:t>With MemGPT</a:t>
            </a:r>
          </a:p>
        </p:txBody>
      </p:sp>
      <p:sp>
        <p:nvSpPr>
          <p:cNvPr id="19" name="Text 17"/>
          <p:cNvSpPr/>
          <p:nvPr/>
        </p:nvSpPr>
        <p:spPr>
          <a:xfrm>
            <a:off x="5048885" y="3477260"/>
            <a:ext cx="797560" cy="374015"/>
          </a:xfrm>
          <a:prstGeom prst="rect">
            <a:avLst/>
          </a:prstGeom>
          <a:noFill/>
        </p:spPr>
        <p:txBody>
          <a:bodyPr wrap="square" lIns="0" tIns="0" rIns="0" bIns="0" rtlCol="0" anchor="ctr"/>
          <a:lstStyle/>
          <a:p>
            <a:pPr>
              <a:lnSpc>
                <a:spcPct val="120000"/>
              </a:lnSpc>
            </a:pPr>
            <a:r>
              <a:rPr lang="en-US" sz="2000" b="1" dirty="0">
                <a:solidFill>
                  <a:srgbClr val="4F39F6"/>
                </a:solidFill>
                <a:latin typeface="Calibri" panose="020F0502020204030204" pitchFamily="34" charset="0"/>
                <a:ea typeface="MiSans" pitchFamily="34" charset="-122"/>
                <a:cs typeface="Calibri" panose="020F0502020204030204" pitchFamily="34" charset="0"/>
              </a:rPr>
              <a:t>93.4%</a:t>
            </a:r>
            <a:endParaRPr lang="en-US" sz="2000" dirty="0">
              <a:latin typeface="Calibri" panose="020F0502020204030204" pitchFamily="34" charset="0"/>
              <a:cs typeface="Calibri" panose="020F0502020204030204" pitchFamily="34" charset="0"/>
            </a:endParaRPr>
          </a:p>
        </p:txBody>
      </p:sp>
      <p:sp>
        <p:nvSpPr>
          <p:cNvPr id="20" name="Shape 18"/>
          <p:cNvSpPr/>
          <p:nvPr/>
        </p:nvSpPr>
        <p:spPr>
          <a:xfrm>
            <a:off x="3360420" y="3935733"/>
            <a:ext cx="2390775" cy="114300"/>
          </a:xfrm>
          <a:custGeom>
            <a:avLst/>
            <a:gdLst/>
            <a:ahLst/>
            <a:cxnLst/>
            <a:rect l="l" t="t" r="r" b="b"/>
            <a:pathLst>
              <a:path w="2390775" h="114300">
                <a:moveTo>
                  <a:pt x="57150" y="0"/>
                </a:moveTo>
                <a:lnTo>
                  <a:pt x="2333625" y="0"/>
                </a:lnTo>
                <a:cubicBezTo>
                  <a:pt x="2365167" y="0"/>
                  <a:pt x="2390775" y="25608"/>
                  <a:pt x="2390775" y="57150"/>
                </a:cubicBezTo>
                <a:lnTo>
                  <a:pt x="2390775" y="57150"/>
                </a:lnTo>
                <a:cubicBezTo>
                  <a:pt x="2390775" y="88692"/>
                  <a:pt x="2365167" y="114300"/>
                  <a:pt x="2333625" y="114300"/>
                </a:cubicBezTo>
                <a:lnTo>
                  <a:pt x="57150" y="114300"/>
                </a:lnTo>
                <a:cubicBezTo>
                  <a:pt x="25608" y="114300"/>
                  <a:pt x="0" y="88692"/>
                  <a:pt x="0" y="57150"/>
                </a:cubicBezTo>
                <a:lnTo>
                  <a:pt x="0" y="57150"/>
                </a:lnTo>
                <a:cubicBezTo>
                  <a:pt x="0" y="25608"/>
                  <a:pt x="25608" y="0"/>
                  <a:pt x="57150" y="0"/>
                </a:cubicBezTo>
                <a:close/>
              </a:path>
            </a:pathLst>
          </a:custGeom>
          <a:solidFill>
            <a:srgbClr val="E0E7FF"/>
          </a:solidFill>
        </p:spPr>
        <p:txBody>
          <a:bodyPr/>
          <a:lstStyle/>
          <a:p>
            <a:endParaRPr lang="en-US"/>
          </a:p>
        </p:txBody>
      </p:sp>
      <p:sp>
        <p:nvSpPr>
          <p:cNvPr id="21" name="Shape 19"/>
          <p:cNvSpPr/>
          <p:nvPr/>
        </p:nvSpPr>
        <p:spPr>
          <a:xfrm>
            <a:off x="3360420" y="3935733"/>
            <a:ext cx="2238375" cy="114300"/>
          </a:xfrm>
          <a:custGeom>
            <a:avLst/>
            <a:gdLst/>
            <a:ahLst/>
            <a:cxnLst/>
            <a:rect l="l" t="t" r="r" b="b"/>
            <a:pathLst>
              <a:path w="2238375" h="114300">
                <a:moveTo>
                  <a:pt x="57150" y="0"/>
                </a:moveTo>
                <a:lnTo>
                  <a:pt x="2181225" y="0"/>
                </a:lnTo>
                <a:cubicBezTo>
                  <a:pt x="2212767" y="0"/>
                  <a:pt x="2238375" y="25608"/>
                  <a:pt x="2238375" y="57150"/>
                </a:cubicBezTo>
                <a:lnTo>
                  <a:pt x="2238375" y="57150"/>
                </a:lnTo>
                <a:cubicBezTo>
                  <a:pt x="2238375" y="88692"/>
                  <a:pt x="2212767" y="114300"/>
                  <a:pt x="2181225" y="114300"/>
                </a:cubicBezTo>
                <a:lnTo>
                  <a:pt x="57150" y="114300"/>
                </a:lnTo>
                <a:cubicBezTo>
                  <a:pt x="25608" y="114300"/>
                  <a:pt x="0" y="88692"/>
                  <a:pt x="0" y="57150"/>
                </a:cubicBezTo>
                <a:lnTo>
                  <a:pt x="0" y="57150"/>
                </a:lnTo>
                <a:cubicBezTo>
                  <a:pt x="0" y="25608"/>
                  <a:pt x="25608" y="0"/>
                  <a:pt x="57150" y="0"/>
                </a:cubicBezTo>
                <a:close/>
              </a:path>
            </a:pathLst>
          </a:custGeom>
          <a:solidFill>
            <a:srgbClr val="615FFF"/>
          </a:solidFill>
        </p:spPr>
        <p:txBody>
          <a:bodyPr/>
          <a:lstStyle/>
          <a:p>
            <a:endParaRPr lang="en-US"/>
          </a:p>
        </p:txBody>
      </p:sp>
      <p:sp>
        <p:nvSpPr>
          <p:cNvPr id="22" name="Shape 20"/>
          <p:cNvSpPr/>
          <p:nvPr/>
        </p:nvSpPr>
        <p:spPr>
          <a:xfrm>
            <a:off x="316230" y="4328161"/>
            <a:ext cx="5589270" cy="960120"/>
          </a:xfrm>
          <a:custGeom>
            <a:avLst/>
            <a:gdLst/>
            <a:ahLst/>
            <a:cxnLst/>
            <a:rect l="l" t="t" r="r" b="b"/>
            <a:pathLst>
              <a:path w="5589270" h="960120">
                <a:moveTo>
                  <a:pt x="76205" y="0"/>
                </a:moveTo>
                <a:lnTo>
                  <a:pt x="5513065" y="0"/>
                </a:lnTo>
                <a:cubicBezTo>
                  <a:pt x="5555152" y="0"/>
                  <a:pt x="5589270" y="34118"/>
                  <a:pt x="5589270" y="76205"/>
                </a:cubicBezTo>
                <a:lnTo>
                  <a:pt x="5589270" y="883915"/>
                </a:lnTo>
                <a:cubicBezTo>
                  <a:pt x="5589270" y="926002"/>
                  <a:pt x="5555152" y="960120"/>
                  <a:pt x="5513065" y="960120"/>
                </a:cubicBezTo>
                <a:lnTo>
                  <a:pt x="76205" y="960120"/>
                </a:lnTo>
                <a:cubicBezTo>
                  <a:pt x="34118" y="960120"/>
                  <a:pt x="0" y="926002"/>
                  <a:pt x="0" y="883915"/>
                </a:cubicBezTo>
                <a:lnTo>
                  <a:pt x="0" y="76205"/>
                </a:lnTo>
                <a:cubicBezTo>
                  <a:pt x="0" y="34118"/>
                  <a:pt x="34118" y="0"/>
                  <a:pt x="76205" y="0"/>
                </a:cubicBezTo>
                <a:close/>
              </a:path>
            </a:pathLst>
          </a:custGeom>
          <a:solidFill>
            <a:srgbClr val="FFFFFF"/>
          </a:solidFill>
          <a:ln w="10160">
            <a:solidFill>
              <a:srgbClr val="E2E8F0"/>
            </a:solidFill>
            <a:prstDash val="solid"/>
          </a:ln>
        </p:spPr>
        <p:txBody>
          <a:bodyPr/>
          <a:lstStyle/>
          <a:p>
            <a:endParaRPr lang="en-US"/>
          </a:p>
        </p:txBody>
      </p:sp>
      <p:sp>
        <p:nvSpPr>
          <p:cNvPr id="23" name="Text 21"/>
          <p:cNvSpPr/>
          <p:nvPr/>
        </p:nvSpPr>
        <p:spPr>
          <a:xfrm>
            <a:off x="472440" y="4484370"/>
            <a:ext cx="1273810" cy="297815"/>
          </a:xfrm>
          <a:prstGeom prst="rect">
            <a:avLst/>
          </a:prstGeom>
          <a:noFill/>
        </p:spPr>
        <p:txBody>
          <a:bodyPr wrap="square" lIns="0" tIns="0" rIns="0" bIns="0" rtlCol="0" anchor="ctr"/>
          <a:lstStyle/>
          <a:p>
            <a:pPr>
              <a:lnSpc>
                <a:spcPct val="130000"/>
              </a:lnSpc>
            </a:pPr>
            <a:r>
              <a:rPr lang="en-US" sz="2000" b="1" dirty="0">
                <a:solidFill>
                  <a:srgbClr val="314158"/>
                </a:solidFill>
                <a:latin typeface="Calibri" panose="020F0502020204030204" pitchFamily="34" charset="0"/>
                <a:ea typeface="MiSans" pitchFamily="34" charset="-122"/>
                <a:cs typeface="Calibri" panose="020F0502020204030204" pitchFamily="34" charset="0"/>
              </a:rPr>
              <a:t>GPT-4</a:t>
            </a:r>
            <a:endParaRPr lang="en-US" sz="2000" dirty="0">
              <a:latin typeface="Calibri" panose="020F0502020204030204" pitchFamily="34" charset="0"/>
              <a:cs typeface="Calibri" panose="020F0502020204030204" pitchFamily="34" charset="0"/>
            </a:endParaRPr>
          </a:p>
        </p:txBody>
      </p:sp>
      <p:sp>
        <p:nvSpPr>
          <p:cNvPr id="24" name="Text 22"/>
          <p:cNvSpPr/>
          <p:nvPr/>
        </p:nvSpPr>
        <p:spPr>
          <a:xfrm>
            <a:off x="472440" y="4789170"/>
            <a:ext cx="1913255" cy="248285"/>
          </a:xfrm>
          <a:prstGeom prst="rect">
            <a:avLst/>
          </a:prstGeom>
          <a:noFill/>
        </p:spPr>
        <p:txBody>
          <a:bodyPr wrap="square" lIns="0" tIns="0" rIns="0" bIns="0" rtlCol="0" anchor="ctr"/>
          <a:lstStyle/>
          <a:p>
            <a:pPr>
              <a:lnSpc>
                <a:spcPct val="120000"/>
              </a:lnSpc>
            </a:pPr>
            <a:r>
              <a:rPr lang="en-US" sz="1400" dirty="0">
                <a:solidFill>
                  <a:srgbClr val="62748E"/>
                </a:solidFill>
                <a:latin typeface="Calibri" panose="020F0502020204030204" pitchFamily="34" charset="0"/>
                <a:ea typeface="MiSans" pitchFamily="34" charset="-122"/>
                <a:cs typeface="Calibri" panose="020F0502020204030204" pitchFamily="34" charset="0"/>
              </a:rPr>
              <a:t>Without MemGPT</a:t>
            </a:r>
            <a:endParaRPr lang="en-US" sz="1400" dirty="0">
              <a:latin typeface="Calibri" panose="020F0502020204030204" pitchFamily="34" charset="0"/>
              <a:cs typeface="Calibri" panose="020F0502020204030204" pitchFamily="34" charset="0"/>
            </a:endParaRPr>
          </a:p>
        </p:txBody>
      </p:sp>
      <p:sp>
        <p:nvSpPr>
          <p:cNvPr id="25" name="Text 23"/>
          <p:cNvSpPr/>
          <p:nvPr/>
        </p:nvSpPr>
        <p:spPr>
          <a:xfrm>
            <a:off x="2299335" y="4514850"/>
            <a:ext cx="805815" cy="452120"/>
          </a:xfrm>
          <a:prstGeom prst="rect">
            <a:avLst/>
          </a:prstGeom>
          <a:noFill/>
        </p:spPr>
        <p:txBody>
          <a:bodyPr wrap="square" lIns="0" tIns="0" rIns="0" bIns="0" rtlCol="0" anchor="ctr"/>
          <a:lstStyle/>
          <a:p>
            <a:pPr algn="l">
              <a:lnSpc>
                <a:spcPct val="120000"/>
              </a:lnSpc>
              <a:buClrTx/>
              <a:buSzTx/>
              <a:buFontTx/>
            </a:pPr>
            <a:r>
              <a:rPr lang="en-US" sz="2000" b="1" dirty="0">
                <a:solidFill>
                  <a:srgbClr val="314158"/>
                </a:solidFill>
                <a:latin typeface="Calibri" panose="020F0502020204030204" pitchFamily="34" charset="0"/>
                <a:ea typeface="MiSans" pitchFamily="34" charset="-122"/>
                <a:cs typeface="Calibri" panose="020F0502020204030204" pitchFamily="34" charset="0"/>
              </a:rPr>
              <a:t>32.1%</a:t>
            </a:r>
          </a:p>
        </p:txBody>
      </p:sp>
      <p:sp>
        <p:nvSpPr>
          <p:cNvPr id="26" name="Shape 24"/>
          <p:cNvSpPr/>
          <p:nvPr/>
        </p:nvSpPr>
        <p:spPr>
          <a:xfrm>
            <a:off x="472440" y="5017769"/>
            <a:ext cx="2390775" cy="114300"/>
          </a:xfrm>
          <a:custGeom>
            <a:avLst/>
            <a:gdLst/>
            <a:ahLst/>
            <a:cxnLst/>
            <a:rect l="l" t="t" r="r" b="b"/>
            <a:pathLst>
              <a:path w="2390775" h="114300">
                <a:moveTo>
                  <a:pt x="57150" y="0"/>
                </a:moveTo>
                <a:lnTo>
                  <a:pt x="2333625" y="0"/>
                </a:lnTo>
                <a:cubicBezTo>
                  <a:pt x="2365167" y="0"/>
                  <a:pt x="2390775" y="25608"/>
                  <a:pt x="2390775" y="57150"/>
                </a:cubicBezTo>
                <a:lnTo>
                  <a:pt x="2390775" y="57150"/>
                </a:lnTo>
                <a:cubicBezTo>
                  <a:pt x="2390775" y="88692"/>
                  <a:pt x="2365167" y="114300"/>
                  <a:pt x="2333625" y="114300"/>
                </a:cubicBezTo>
                <a:lnTo>
                  <a:pt x="57150" y="114300"/>
                </a:lnTo>
                <a:cubicBezTo>
                  <a:pt x="25608" y="114300"/>
                  <a:pt x="0" y="88692"/>
                  <a:pt x="0" y="57150"/>
                </a:cubicBezTo>
                <a:lnTo>
                  <a:pt x="0" y="57150"/>
                </a:lnTo>
                <a:cubicBezTo>
                  <a:pt x="0" y="25608"/>
                  <a:pt x="25608" y="0"/>
                  <a:pt x="57150" y="0"/>
                </a:cubicBezTo>
                <a:close/>
              </a:path>
            </a:pathLst>
          </a:custGeom>
          <a:solidFill>
            <a:srgbClr val="E2E8F0"/>
          </a:solidFill>
        </p:spPr>
        <p:txBody>
          <a:bodyPr/>
          <a:lstStyle/>
          <a:p>
            <a:endParaRPr lang="en-US"/>
          </a:p>
        </p:txBody>
      </p:sp>
      <p:sp>
        <p:nvSpPr>
          <p:cNvPr id="27" name="Shape 25"/>
          <p:cNvSpPr/>
          <p:nvPr/>
        </p:nvSpPr>
        <p:spPr>
          <a:xfrm>
            <a:off x="472440" y="5017769"/>
            <a:ext cx="771525" cy="114300"/>
          </a:xfrm>
          <a:custGeom>
            <a:avLst/>
            <a:gdLst/>
            <a:ahLst/>
            <a:cxnLst/>
            <a:rect l="l" t="t" r="r" b="b"/>
            <a:pathLst>
              <a:path w="771525" h="114300">
                <a:moveTo>
                  <a:pt x="57150" y="0"/>
                </a:moveTo>
                <a:lnTo>
                  <a:pt x="714375" y="0"/>
                </a:lnTo>
                <a:cubicBezTo>
                  <a:pt x="745917" y="0"/>
                  <a:pt x="771525" y="25608"/>
                  <a:pt x="771525" y="57150"/>
                </a:cubicBezTo>
                <a:lnTo>
                  <a:pt x="771525" y="57150"/>
                </a:lnTo>
                <a:cubicBezTo>
                  <a:pt x="771525" y="88692"/>
                  <a:pt x="745917" y="114300"/>
                  <a:pt x="714375" y="114300"/>
                </a:cubicBezTo>
                <a:lnTo>
                  <a:pt x="57150" y="114300"/>
                </a:lnTo>
                <a:cubicBezTo>
                  <a:pt x="25608" y="114300"/>
                  <a:pt x="0" y="88692"/>
                  <a:pt x="0" y="57150"/>
                </a:cubicBezTo>
                <a:lnTo>
                  <a:pt x="0" y="57150"/>
                </a:lnTo>
                <a:cubicBezTo>
                  <a:pt x="0" y="25608"/>
                  <a:pt x="25608" y="0"/>
                  <a:pt x="57150" y="0"/>
                </a:cubicBezTo>
                <a:close/>
              </a:path>
            </a:pathLst>
          </a:custGeom>
          <a:solidFill>
            <a:srgbClr val="90A1B9"/>
          </a:solidFill>
        </p:spPr>
        <p:txBody>
          <a:bodyPr/>
          <a:lstStyle/>
          <a:p>
            <a:endParaRPr lang="en-US"/>
          </a:p>
        </p:txBody>
      </p:sp>
      <p:sp>
        <p:nvSpPr>
          <p:cNvPr id="28" name="Shape 26"/>
          <p:cNvSpPr/>
          <p:nvPr/>
        </p:nvSpPr>
        <p:spPr>
          <a:xfrm>
            <a:off x="3036570" y="4884419"/>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AD46FF"/>
          </a:solidFill>
        </p:spPr>
        <p:txBody>
          <a:bodyPr/>
          <a:lstStyle/>
          <a:p>
            <a:endParaRPr lang="en-US"/>
          </a:p>
        </p:txBody>
      </p:sp>
      <p:sp>
        <p:nvSpPr>
          <p:cNvPr id="29" name="Text 27"/>
          <p:cNvSpPr/>
          <p:nvPr/>
        </p:nvSpPr>
        <p:spPr>
          <a:xfrm>
            <a:off x="3360420" y="4789170"/>
            <a:ext cx="1856740" cy="260350"/>
          </a:xfrm>
          <a:prstGeom prst="rect">
            <a:avLst/>
          </a:prstGeom>
          <a:noFill/>
        </p:spPr>
        <p:txBody>
          <a:bodyPr wrap="square" lIns="0" tIns="0" rIns="0" bIns="0" rtlCol="0" anchor="ctr"/>
          <a:lstStyle/>
          <a:p>
            <a:pPr>
              <a:lnSpc>
                <a:spcPct val="120000"/>
              </a:lnSpc>
            </a:pPr>
            <a:r>
              <a:rPr lang="en-US" sz="1400" dirty="0">
                <a:solidFill>
                  <a:srgbClr val="9810FA"/>
                </a:solidFill>
                <a:latin typeface="Calibri" panose="020F0502020204030204" pitchFamily="34" charset="0"/>
                <a:ea typeface="MiSans" pitchFamily="34" charset="-122"/>
                <a:cs typeface="Calibri" panose="020F0502020204030204" pitchFamily="34" charset="0"/>
              </a:rPr>
              <a:t>With MemGPT</a:t>
            </a:r>
            <a:endParaRPr lang="en-US" sz="1400" dirty="0">
              <a:latin typeface="Calibri" panose="020F0502020204030204" pitchFamily="34" charset="0"/>
              <a:cs typeface="Calibri" panose="020F0502020204030204" pitchFamily="34" charset="0"/>
            </a:endParaRPr>
          </a:p>
        </p:txBody>
      </p:sp>
      <p:sp>
        <p:nvSpPr>
          <p:cNvPr id="30" name="Text 28"/>
          <p:cNvSpPr/>
          <p:nvPr/>
        </p:nvSpPr>
        <p:spPr>
          <a:xfrm>
            <a:off x="5039995" y="4477385"/>
            <a:ext cx="876300" cy="467360"/>
          </a:xfrm>
          <a:prstGeom prst="rect">
            <a:avLst/>
          </a:prstGeom>
          <a:noFill/>
        </p:spPr>
        <p:txBody>
          <a:bodyPr wrap="square" lIns="0" tIns="0" rIns="0" bIns="0" rtlCol="0" anchor="ctr"/>
          <a:lstStyle/>
          <a:p>
            <a:pPr algn="l">
              <a:lnSpc>
                <a:spcPct val="120000"/>
              </a:lnSpc>
              <a:buClrTx/>
              <a:buSzTx/>
              <a:buFontTx/>
            </a:pPr>
            <a:r>
              <a:rPr lang="en-US" sz="2000" b="1" dirty="0">
                <a:solidFill>
                  <a:srgbClr val="4F39F6"/>
                </a:solidFill>
                <a:latin typeface="Calibri" panose="020F0502020204030204" pitchFamily="34" charset="0"/>
                <a:ea typeface="MiSans" pitchFamily="34" charset="-122"/>
                <a:cs typeface="Calibri" panose="020F0502020204030204" pitchFamily="34" charset="0"/>
              </a:rPr>
              <a:t>92.5%</a:t>
            </a:r>
          </a:p>
        </p:txBody>
      </p:sp>
      <p:sp>
        <p:nvSpPr>
          <p:cNvPr id="31" name="Shape 29"/>
          <p:cNvSpPr/>
          <p:nvPr/>
        </p:nvSpPr>
        <p:spPr>
          <a:xfrm>
            <a:off x="3360420" y="5017769"/>
            <a:ext cx="2390775" cy="114300"/>
          </a:xfrm>
          <a:custGeom>
            <a:avLst/>
            <a:gdLst/>
            <a:ahLst/>
            <a:cxnLst/>
            <a:rect l="l" t="t" r="r" b="b"/>
            <a:pathLst>
              <a:path w="2390775" h="114300">
                <a:moveTo>
                  <a:pt x="57150" y="0"/>
                </a:moveTo>
                <a:lnTo>
                  <a:pt x="2333625" y="0"/>
                </a:lnTo>
                <a:cubicBezTo>
                  <a:pt x="2365167" y="0"/>
                  <a:pt x="2390775" y="25608"/>
                  <a:pt x="2390775" y="57150"/>
                </a:cubicBezTo>
                <a:lnTo>
                  <a:pt x="2390775" y="57150"/>
                </a:lnTo>
                <a:cubicBezTo>
                  <a:pt x="2390775" y="88692"/>
                  <a:pt x="2365167" y="114300"/>
                  <a:pt x="2333625" y="114300"/>
                </a:cubicBezTo>
                <a:lnTo>
                  <a:pt x="57150" y="114300"/>
                </a:lnTo>
                <a:cubicBezTo>
                  <a:pt x="25608" y="114300"/>
                  <a:pt x="0" y="88692"/>
                  <a:pt x="0" y="57150"/>
                </a:cubicBezTo>
                <a:lnTo>
                  <a:pt x="0" y="57150"/>
                </a:lnTo>
                <a:cubicBezTo>
                  <a:pt x="0" y="25608"/>
                  <a:pt x="25608" y="0"/>
                  <a:pt x="57150" y="0"/>
                </a:cubicBezTo>
                <a:close/>
              </a:path>
            </a:pathLst>
          </a:custGeom>
          <a:solidFill>
            <a:srgbClr val="F3E8FF"/>
          </a:solidFill>
        </p:spPr>
        <p:txBody>
          <a:bodyPr/>
          <a:lstStyle/>
          <a:p>
            <a:endParaRPr lang="en-US"/>
          </a:p>
        </p:txBody>
      </p:sp>
      <p:sp>
        <p:nvSpPr>
          <p:cNvPr id="32" name="Shape 30"/>
          <p:cNvSpPr/>
          <p:nvPr/>
        </p:nvSpPr>
        <p:spPr>
          <a:xfrm>
            <a:off x="3360420" y="5017769"/>
            <a:ext cx="2209800" cy="114300"/>
          </a:xfrm>
          <a:custGeom>
            <a:avLst/>
            <a:gdLst/>
            <a:ahLst/>
            <a:cxnLst/>
            <a:rect l="l" t="t" r="r" b="b"/>
            <a:pathLst>
              <a:path w="2209800" h="114300">
                <a:moveTo>
                  <a:pt x="57150" y="0"/>
                </a:moveTo>
                <a:lnTo>
                  <a:pt x="2152650" y="0"/>
                </a:lnTo>
                <a:cubicBezTo>
                  <a:pt x="2184192" y="0"/>
                  <a:pt x="2209800" y="25608"/>
                  <a:pt x="2209800" y="57150"/>
                </a:cubicBezTo>
                <a:lnTo>
                  <a:pt x="2209800" y="57150"/>
                </a:lnTo>
                <a:cubicBezTo>
                  <a:pt x="2209800" y="88692"/>
                  <a:pt x="2184192" y="114300"/>
                  <a:pt x="2152650" y="114300"/>
                </a:cubicBezTo>
                <a:lnTo>
                  <a:pt x="57150" y="114300"/>
                </a:lnTo>
                <a:cubicBezTo>
                  <a:pt x="25608" y="114300"/>
                  <a:pt x="0" y="88692"/>
                  <a:pt x="0" y="57150"/>
                </a:cubicBezTo>
                <a:lnTo>
                  <a:pt x="0" y="57150"/>
                </a:lnTo>
                <a:cubicBezTo>
                  <a:pt x="0" y="25608"/>
                  <a:pt x="25608" y="0"/>
                  <a:pt x="57150" y="0"/>
                </a:cubicBezTo>
                <a:close/>
              </a:path>
            </a:pathLst>
          </a:custGeom>
          <a:solidFill>
            <a:srgbClr val="AD46FF"/>
          </a:solidFill>
        </p:spPr>
        <p:txBody>
          <a:bodyPr/>
          <a:lstStyle/>
          <a:p>
            <a:endParaRPr lang="en-US"/>
          </a:p>
        </p:txBody>
      </p:sp>
      <p:sp>
        <p:nvSpPr>
          <p:cNvPr id="33" name="Shape 31"/>
          <p:cNvSpPr/>
          <p:nvPr/>
        </p:nvSpPr>
        <p:spPr>
          <a:xfrm>
            <a:off x="6221730" y="1630045"/>
            <a:ext cx="5575935" cy="4002405"/>
          </a:xfrm>
          <a:custGeom>
            <a:avLst/>
            <a:gdLst/>
            <a:ahLst/>
            <a:cxnLst/>
            <a:rect l="l" t="t" r="r" b="b"/>
            <a:pathLst>
              <a:path w="5575935" h="4890135">
                <a:moveTo>
                  <a:pt x="114282" y="0"/>
                </a:moveTo>
                <a:lnTo>
                  <a:pt x="5461653" y="0"/>
                </a:lnTo>
                <a:cubicBezTo>
                  <a:pt x="5524769" y="0"/>
                  <a:pt x="5575935" y="51166"/>
                  <a:pt x="5575935" y="114282"/>
                </a:cubicBezTo>
                <a:lnTo>
                  <a:pt x="5575935" y="4775853"/>
                </a:lnTo>
                <a:cubicBezTo>
                  <a:pt x="5575935" y="4838969"/>
                  <a:pt x="5524769" y="4890135"/>
                  <a:pt x="5461653" y="4890135"/>
                </a:cubicBezTo>
                <a:lnTo>
                  <a:pt x="114282" y="4890135"/>
                </a:lnTo>
                <a:cubicBezTo>
                  <a:pt x="51166" y="4890135"/>
                  <a:pt x="0" y="4838969"/>
                  <a:pt x="0" y="4775853"/>
                </a:cubicBezTo>
                <a:lnTo>
                  <a:pt x="0" y="114282"/>
                </a:lnTo>
                <a:cubicBezTo>
                  <a:pt x="0" y="51208"/>
                  <a:pt x="51208" y="0"/>
                  <a:pt x="114282"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en-US"/>
          </a:p>
        </p:txBody>
      </p:sp>
      <p:sp>
        <p:nvSpPr>
          <p:cNvPr id="34" name="Shape 32"/>
          <p:cNvSpPr/>
          <p:nvPr/>
        </p:nvSpPr>
        <p:spPr>
          <a:xfrm>
            <a:off x="8810625" y="3009900"/>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35" name="Text 33"/>
          <p:cNvSpPr/>
          <p:nvPr/>
        </p:nvSpPr>
        <p:spPr>
          <a:xfrm>
            <a:off x="8259246" y="3619500"/>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36" name="Text 34"/>
          <p:cNvSpPr/>
          <p:nvPr/>
        </p:nvSpPr>
        <p:spPr>
          <a:xfrm>
            <a:off x="7438430" y="3962400"/>
            <a:ext cx="3228975"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Deep Memory Retrieval Table (Table 2)</a:t>
            </a:r>
            <a:endParaRPr lang="en-US" sz="1600" dirty="0"/>
          </a:p>
        </p:txBody>
      </p:sp>
      <p:sp>
        <p:nvSpPr>
          <p:cNvPr id="37" name="Text 35"/>
          <p:cNvSpPr/>
          <p:nvPr/>
        </p:nvSpPr>
        <p:spPr>
          <a:xfrm>
            <a:off x="8054459" y="4305300"/>
            <a:ext cx="1981200"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93.4% accuracy with MemGPT</a:t>
            </a:r>
            <a:endParaRPr lang="en-US" sz="1600" dirty="0"/>
          </a:p>
        </p:txBody>
      </p:sp>
      <p:sp>
        <p:nvSpPr>
          <p:cNvPr id="38" name="Shape 36"/>
          <p:cNvSpPr/>
          <p:nvPr/>
        </p:nvSpPr>
        <p:spPr>
          <a:xfrm>
            <a:off x="7533918" y="6316982"/>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62748E"/>
          </a:solidFill>
        </p:spPr>
        <p:txBody>
          <a:bodyPr/>
          <a:lstStyle/>
          <a:p>
            <a:endParaRPr lang="en-US"/>
          </a:p>
        </p:txBody>
      </p:sp>
      <p:pic>
        <p:nvPicPr>
          <p:cNvPr id="40" name="Picture 39" descr="MemGPT p4"/>
          <p:cNvPicPr>
            <a:picLocks noChangeAspect="1"/>
          </p:cNvPicPr>
          <p:nvPr/>
        </p:nvPicPr>
        <p:blipFill>
          <a:blip r:embed="rId3"/>
          <a:stretch>
            <a:fillRect/>
          </a:stretch>
        </p:blipFill>
        <p:spPr>
          <a:xfrm>
            <a:off x="6240780" y="1755775"/>
            <a:ext cx="5530850" cy="373062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35450" y="1354455"/>
            <a:ext cx="3726815"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rgbClr val="E0E7FF"/>
          </a:solidFill>
        </p:spPr>
        <p:txBody>
          <a:bodyPr/>
          <a:lstStyle/>
          <a:p>
            <a:endParaRPr lang="en-US"/>
          </a:p>
        </p:txBody>
      </p:sp>
      <p:sp>
        <p:nvSpPr>
          <p:cNvPr id="3" name="Shape 1"/>
          <p:cNvSpPr/>
          <p:nvPr/>
        </p:nvSpPr>
        <p:spPr>
          <a:xfrm>
            <a:off x="4406741" y="1549400"/>
            <a:ext cx="133350" cy="133350"/>
          </a:xfrm>
          <a:custGeom>
            <a:avLst/>
            <a:gdLst/>
            <a:ahLst/>
            <a:cxnLst/>
            <a:rect l="l" t="t" r="r" b="b"/>
            <a:pathLst>
              <a:path w="133350" h="133350">
                <a:moveTo>
                  <a:pt x="8334" y="8334"/>
                </a:moveTo>
                <a:cubicBezTo>
                  <a:pt x="3724" y="8334"/>
                  <a:pt x="0" y="12059"/>
                  <a:pt x="0" y="16669"/>
                </a:cubicBezTo>
                <a:cubicBezTo>
                  <a:pt x="0" y="21279"/>
                  <a:pt x="3724" y="25003"/>
                  <a:pt x="8334" y="25003"/>
                </a:cubicBezTo>
                <a:lnTo>
                  <a:pt x="10418" y="25003"/>
                </a:lnTo>
                <a:lnTo>
                  <a:pt x="10418" y="41672"/>
                </a:lnTo>
                <a:lnTo>
                  <a:pt x="0" y="41672"/>
                </a:lnTo>
                <a:lnTo>
                  <a:pt x="0" y="70842"/>
                </a:lnTo>
                <a:cubicBezTo>
                  <a:pt x="9793" y="73290"/>
                  <a:pt x="16669" y="82094"/>
                  <a:pt x="16669" y="92199"/>
                </a:cubicBezTo>
                <a:lnTo>
                  <a:pt x="16669" y="116681"/>
                </a:lnTo>
                <a:cubicBezTo>
                  <a:pt x="16669" y="121291"/>
                  <a:pt x="20393" y="125016"/>
                  <a:pt x="25003" y="125016"/>
                </a:cubicBezTo>
                <a:lnTo>
                  <a:pt x="33337" y="125016"/>
                </a:lnTo>
                <a:cubicBezTo>
                  <a:pt x="37947" y="125016"/>
                  <a:pt x="41672" y="121291"/>
                  <a:pt x="41672" y="116681"/>
                </a:cubicBezTo>
                <a:lnTo>
                  <a:pt x="41672" y="100013"/>
                </a:lnTo>
                <a:cubicBezTo>
                  <a:pt x="41672" y="86209"/>
                  <a:pt x="52871" y="75009"/>
                  <a:pt x="66675" y="75009"/>
                </a:cubicBezTo>
                <a:cubicBezTo>
                  <a:pt x="80479" y="75009"/>
                  <a:pt x="91678" y="86209"/>
                  <a:pt x="91678" y="100013"/>
                </a:cubicBezTo>
                <a:lnTo>
                  <a:pt x="91678" y="116681"/>
                </a:lnTo>
                <a:cubicBezTo>
                  <a:pt x="91678" y="121291"/>
                  <a:pt x="95403" y="125016"/>
                  <a:pt x="100013" y="125016"/>
                </a:cubicBezTo>
                <a:lnTo>
                  <a:pt x="108347" y="125016"/>
                </a:lnTo>
                <a:cubicBezTo>
                  <a:pt x="112957" y="125016"/>
                  <a:pt x="116681" y="121291"/>
                  <a:pt x="116681" y="116681"/>
                </a:cubicBezTo>
                <a:lnTo>
                  <a:pt x="116681" y="92199"/>
                </a:lnTo>
                <a:cubicBezTo>
                  <a:pt x="116681" y="82094"/>
                  <a:pt x="123557" y="73290"/>
                  <a:pt x="133350" y="70842"/>
                </a:cubicBezTo>
                <a:lnTo>
                  <a:pt x="133350" y="41672"/>
                </a:lnTo>
                <a:lnTo>
                  <a:pt x="122932" y="41672"/>
                </a:lnTo>
                <a:lnTo>
                  <a:pt x="122932" y="25003"/>
                </a:lnTo>
                <a:lnTo>
                  <a:pt x="125016" y="25003"/>
                </a:lnTo>
                <a:cubicBezTo>
                  <a:pt x="129626" y="25003"/>
                  <a:pt x="133350" y="21279"/>
                  <a:pt x="133350" y="16669"/>
                </a:cubicBezTo>
                <a:cubicBezTo>
                  <a:pt x="133350" y="12059"/>
                  <a:pt x="129626" y="8334"/>
                  <a:pt x="125016" y="8334"/>
                </a:cubicBezTo>
                <a:lnTo>
                  <a:pt x="8334" y="8334"/>
                </a:lnTo>
                <a:close/>
                <a:moveTo>
                  <a:pt x="110430" y="25003"/>
                </a:moveTo>
                <a:lnTo>
                  <a:pt x="110430" y="41672"/>
                </a:lnTo>
                <a:lnTo>
                  <a:pt x="89595" y="41672"/>
                </a:lnTo>
                <a:lnTo>
                  <a:pt x="89595" y="25003"/>
                </a:lnTo>
                <a:lnTo>
                  <a:pt x="110430" y="25003"/>
                </a:lnTo>
                <a:close/>
                <a:moveTo>
                  <a:pt x="77093" y="25003"/>
                </a:moveTo>
                <a:lnTo>
                  <a:pt x="77093" y="41672"/>
                </a:lnTo>
                <a:lnTo>
                  <a:pt x="56257" y="41672"/>
                </a:lnTo>
                <a:lnTo>
                  <a:pt x="56257" y="25003"/>
                </a:lnTo>
                <a:lnTo>
                  <a:pt x="77093" y="25003"/>
                </a:lnTo>
                <a:close/>
                <a:moveTo>
                  <a:pt x="22920" y="25003"/>
                </a:moveTo>
                <a:lnTo>
                  <a:pt x="43755" y="25003"/>
                </a:lnTo>
                <a:lnTo>
                  <a:pt x="43755" y="41672"/>
                </a:lnTo>
                <a:lnTo>
                  <a:pt x="22920" y="41672"/>
                </a:lnTo>
                <a:lnTo>
                  <a:pt x="22920" y="25003"/>
                </a:lnTo>
                <a:close/>
              </a:path>
            </a:pathLst>
          </a:custGeom>
          <a:solidFill>
            <a:srgbClr val="432DD7"/>
          </a:solidFill>
        </p:spPr>
        <p:txBody>
          <a:bodyPr/>
          <a:lstStyle/>
          <a:p>
            <a:endParaRPr lang="en-US"/>
          </a:p>
        </p:txBody>
      </p:sp>
      <p:sp>
        <p:nvSpPr>
          <p:cNvPr id="4" name="Text 2"/>
          <p:cNvSpPr/>
          <p:nvPr/>
        </p:nvSpPr>
        <p:spPr>
          <a:xfrm>
            <a:off x="4430395" y="1353820"/>
            <a:ext cx="3094355" cy="488950"/>
          </a:xfrm>
          <a:prstGeom prst="rect">
            <a:avLst/>
          </a:prstGeom>
          <a:noFill/>
        </p:spPr>
        <p:txBody>
          <a:bodyPr wrap="square" lIns="152400" tIns="76200" rIns="152400" bIns="76200" rtlCol="0" anchor="ctr"/>
          <a:lstStyle/>
          <a:p>
            <a:pPr algn="ctr">
              <a:lnSpc>
                <a:spcPct val="120000"/>
              </a:lnSpc>
            </a:pPr>
            <a:r>
              <a:rPr lang="en-US" sz="2000" b="1" dirty="0">
                <a:solidFill>
                  <a:srgbClr val="432DD7"/>
                </a:solidFill>
                <a:latin typeface="Calibri" panose="020F0502020204030204" pitchFamily="34" charset="0"/>
                <a:ea typeface="MiSans" pitchFamily="34" charset="-122"/>
                <a:cs typeface="Calibri" panose="020F0502020204030204" pitchFamily="34" charset="0"/>
              </a:rPr>
              <a:t>Next Stage</a:t>
            </a:r>
            <a:endParaRPr lang="en-US" sz="2000" dirty="0">
              <a:latin typeface="Calibri" panose="020F0502020204030204" pitchFamily="34" charset="0"/>
              <a:cs typeface="Calibri" panose="020F0502020204030204" pitchFamily="34" charset="0"/>
            </a:endParaRPr>
          </a:p>
        </p:txBody>
      </p:sp>
      <p:sp>
        <p:nvSpPr>
          <p:cNvPr id="5" name="Text 3"/>
          <p:cNvSpPr/>
          <p:nvPr/>
        </p:nvSpPr>
        <p:spPr>
          <a:xfrm>
            <a:off x="3257074" y="2253616"/>
            <a:ext cx="5676900" cy="381000"/>
          </a:xfrm>
          <a:prstGeom prst="rect">
            <a:avLst/>
          </a:prstGeom>
          <a:noFill/>
        </p:spPr>
        <p:txBody>
          <a:bodyPr wrap="square" lIns="0" tIns="0" rIns="0" bIns="0" rtlCol="0" anchor="ctr"/>
          <a:lstStyle/>
          <a:p>
            <a:pPr algn="ctr">
              <a:lnSpc>
                <a:spcPct val="90000"/>
              </a:lnSpc>
            </a:pPr>
            <a:r>
              <a:rPr lang="en-US" sz="2700" b="1" dirty="0">
                <a:solidFill>
                  <a:srgbClr val="1D293D"/>
                </a:solidFill>
                <a:latin typeface="Calibri" panose="020F0502020204030204" pitchFamily="34" charset="0"/>
                <a:ea typeface="Noto Sans SC" panose="020B0200000000000000" pitchFamily="34" charset="-122"/>
                <a:cs typeface="Calibri" panose="020F0502020204030204" pitchFamily="34" charset="0"/>
              </a:rPr>
              <a:t>But Memory Is Only the First Step</a:t>
            </a:r>
            <a:endParaRPr lang="en-US" sz="1600" dirty="0">
              <a:latin typeface="Calibri" panose="020F0502020204030204" pitchFamily="34" charset="0"/>
              <a:cs typeface="Calibri" panose="020F0502020204030204" pitchFamily="34" charset="0"/>
            </a:endParaRPr>
          </a:p>
        </p:txBody>
      </p:sp>
      <p:sp>
        <p:nvSpPr>
          <p:cNvPr id="6" name="Shape 4"/>
          <p:cNvSpPr/>
          <p:nvPr>
            <p:custDataLst>
              <p:tags r:id="rId1"/>
            </p:custDataLst>
          </p:nvPr>
        </p:nvSpPr>
        <p:spPr>
          <a:xfrm>
            <a:off x="1828800" y="2939415"/>
            <a:ext cx="2695575" cy="1889760"/>
          </a:xfrm>
          <a:custGeom>
            <a:avLst/>
            <a:gdLst/>
            <a:ahLst/>
            <a:cxnLst/>
            <a:rect l="l" t="t" r="r" b="b"/>
            <a:pathLst>
              <a:path w="2695575" h="1323975">
                <a:moveTo>
                  <a:pt x="114299" y="0"/>
                </a:moveTo>
                <a:lnTo>
                  <a:pt x="2581276" y="0"/>
                </a:lnTo>
                <a:cubicBezTo>
                  <a:pt x="2644402" y="0"/>
                  <a:pt x="2695575" y="51173"/>
                  <a:pt x="2695575" y="114299"/>
                </a:cubicBezTo>
                <a:lnTo>
                  <a:pt x="2695575" y="1209676"/>
                </a:lnTo>
                <a:cubicBezTo>
                  <a:pt x="2695575" y="1272802"/>
                  <a:pt x="2644402" y="1323975"/>
                  <a:pt x="2581276" y="1323975"/>
                </a:cubicBezTo>
                <a:lnTo>
                  <a:pt x="114299" y="1323975"/>
                </a:lnTo>
                <a:cubicBezTo>
                  <a:pt x="51173" y="1323975"/>
                  <a:pt x="0" y="1272802"/>
                  <a:pt x="0" y="1209676"/>
                </a:cubicBezTo>
                <a:lnTo>
                  <a:pt x="0" y="114299"/>
                </a:lnTo>
                <a:cubicBezTo>
                  <a:pt x="0" y="51216"/>
                  <a:pt x="51216" y="0"/>
                  <a:pt x="114299" y="0"/>
                </a:cubicBezTo>
                <a:close/>
              </a:path>
            </a:pathLst>
          </a:custGeom>
          <a:solidFill>
            <a:srgbClr val="EEF2FF"/>
          </a:solidFill>
        </p:spPr>
        <p:txBody>
          <a:bodyPr/>
          <a:lstStyle/>
          <a:p>
            <a:endParaRPr lang="en-US"/>
          </a:p>
        </p:txBody>
      </p:sp>
      <p:sp>
        <p:nvSpPr>
          <p:cNvPr id="7" name="Shape 5"/>
          <p:cNvSpPr/>
          <p:nvPr>
            <p:custDataLst>
              <p:tags r:id="rId2"/>
            </p:custDataLst>
          </p:nvPr>
        </p:nvSpPr>
        <p:spPr>
          <a:xfrm>
            <a:off x="3034427" y="3168016"/>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89979" y="118709"/>
                </a:moveTo>
                <a:lnTo>
                  <a:pt x="145331" y="190147"/>
                </a:lnTo>
                <a:cubicBezTo>
                  <a:pt x="142987" y="193886"/>
                  <a:pt x="138968" y="196230"/>
                  <a:pt x="134559" y="196453"/>
                </a:cubicBezTo>
                <a:cubicBezTo>
                  <a:pt x="130150" y="196676"/>
                  <a:pt x="125909" y="194667"/>
                  <a:pt x="123285" y="191095"/>
                </a:cubicBezTo>
                <a:lnTo>
                  <a:pt x="96496" y="155377"/>
                </a:lnTo>
                <a:cubicBezTo>
                  <a:pt x="92032" y="149461"/>
                  <a:pt x="93259" y="141089"/>
                  <a:pt x="99175" y="136624"/>
                </a:cubicBezTo>
                <a:cubicBezTo>
                  <a:pt x="105091" y="132159"/>
                  <a:pt x="113463" y="133387"/>
                  <a:pt x="117928" y="139303"/>
                </a:cubicBezTo>
                <a:lnTo>
                  <a:pt x="132997" y="159395"/>
                </a:lnTo>
                <a:lnTo>
                  <a:pt x="167264" y="104533"/>
                </a:lnTo>
                <a:cubicBezTo>
                  <a:pt x="171171" y="98282"/>
                  <a:pt x="179431" y="96329"/>
                  <a:pt x="185738" y="100292"/>
                </a:cubicBezTo>
                <a:cubicBezTo>
                  <a:pt x="192044" y="104254"/>
                  <a:pt x="193942" y="112458"/>
                  <a:pt x="189979" y="118765"/>
                </a:cubicBezTo>
                <a:close/>
              </a:path>
            </a:pathLst>
          </a:custGeom>
          <a:solidFill>
            <a:srgbClr val="615FFF"/>
          </a:solidFill>
        </p:spPr>
        <p:txBody>
          <a:bodyPr/>
          <a:lstStyle/>
          <a:p>
            <a:endParaRPr lang="en-US"/>
          </a:p>
        </p:txBody>
      </p:sp>
      <p:sp>
        <p:nvSpPr>
          <p:cNvPr id="8" name="Text 6"/>
          <p:cNvSpPr/>
          <p:nvPr>
            <p:custDataLst>
              <p:tags r:id="rId3"/>
            </p:custDataLst>
          </p:nvPr>
        </p:nvSpPr>
        <p:spPr>
          <a:xfrm>
            <a:off x="2007870" y="3298190"/>
            <a:ext cx="2314575" cy="1141730"/>
          </a:xfrm>
          <a:prstGeom prst="rect">
            <a:avLst/>
          </a:prstGeom>
          <a:noFill/>
        </p:spPr>
        <p:txBody>
          <a:bodyPr wrap="square" lIns="0" tIns="0" rIns="0" bIns="0" rtlCol="0" anchor="ctr"/>
          <a:lstStyle/>
          <a:p>
            <a:pPr algn="ctr">
              <a:lnSpc>
                <a:spcPct val="130000"/>
              </a:lnSpc>
            </a:pPr>
            <a:r>
              <a:rPr lang="en-US" sz="2000" b="1" dirty="0">
                <a:solidFill>
                  <a:srgbClr val="1D293D"/>
                </a:solidFill>
                <a:latin typeface="Calibri" panose="020F0502020204030204" pitchFamily="34" charset="0"/>
                <a:ea typeface="MiSans" pitchFamily="34" charset="-122"/>
                <a:cs typeface="Calibri" panose="020F0502020204030204" pitchFamily="34" charset="0"/>
              </a:rPr>
              <a:t>MemGPT helps agents remember</a:t>
            </a:r>
            <a:endParaRPr lang="en-US" sz="2000" dirty="0">
              <a:latin typeface="Calibri" panose="020F0502020204030204" pitchFamily="34" charset="0"/>
              <a:cs typeface="Calibri" panose="020F0502020204030204" pitchFamily="34" charset="0"/>
            </a:endParaRPr>
          </a:p>
        </p:txBody>
      </p:sp>
      <p:sp>
        <p:nvSpPr>
          <p:cNvPr id="9" name="Shape 7"/>
          <p:cNvSpPr/>
          <p:nvPr>
            <p:custDataLst>
              <p:tags r:id="rId4"/>
            </p:custDataLst>
          </p:nvPr>
        </p:nvSpPr>
        <p:spPr>
          <a:xfrm>
            <a:off x="4749800" y="2939415"/>
            <a:ext cx="2695575" cy="1889760"/>
          </a:xfrm>
          <a:custGeom>
            <a:avLst/>
            <a:gdLst/>
            <a:ahLst/>
            <a:cxnLst/>
            <a:rect l="l" t="t" r="r" b="b"/>
            <a:pathLst>
              <a:path w="2695575" h="1323975">
                <a:moveTo>
                  <a:pt x="114299" y="0"/>
                </a:moveTo>
                <a:lnTo>
                  <a:pt x="2581276" y="0"/>
                </a:lnTo>
                <a:cubicBezTo>
                  <a:pt x="2644402" y="0"/>
                  <a:pt x="2695575" y="51173"/>
                  <a:pt x="2695575" y="114299"/>
                </a:cubicBezTo>
                <a:lnTo>
                  <a:pt x="2695575" y="1209676"/>
                </a:lnTo>
                <a:cubicBezTo>
                  <a:pt x="2695575" y="1272802"/>
                  <a:pt x="2644402" y="1323975"/>
                  <a:pt x="2581276" y="1323975"/>
                </a:cubicBezTo>
                <a:lnTo>
                  <a:pt x="114299" y="1323975"/>
                </a:lnTo>
                <a:cubicBezTo>
                  <a:pt x="51173" y="1323975"/>
                  <a:pt x="0" y="1272802"/>
                  <a:pt x="0" y="1209676"/>
                </a:cubicBezTo>
                <a:lnTo>
                  <a:pt x="0" y="114299"/>
                </a:lnTo>
                <a:cubicBezTo>
                  <a:pt x="0" y="51216"/>
                  <a:pt x="51216" y="0"/>
                  <a:pt x="114299" y="0"/>
                </a:cubicBezTo>
                <a:close/>
              </a:path>
            </a:pathLst>
          </a:custGeom>
          <a:solidFill>
            <a:srgbClr val="FEFCE8"/>
          </a:solidFill>
        </p:spPr>
        <p:txBody>
          <a:bodyPr/>
          <a:lstStyle/>
          <a:p>
            <a:endParaRPr lang="en-US"/>
          </a:p>
        </p:txBody>
      </p:sp>
      <p:sp>
        <p:nvSpPr>
          <p:cNvPr id="10" name="Shape 8"/>
          <p:cNvSpPr/>
          <p:nvPr>
            <p:custDataLst>
              <p:tags r:id="rId5"/>
            </p:custDataLst>
          </p:nvPr>
        </p:nvSpPr>
        <p:spPr>
          <a:xfrm>
            <a:off x="5955387" y="3168016"/>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42875" y="75902"/>
                </a:moveTo>
                <a:cubicBezTo>
                  <a:pt x="150298" y="75902"/>
                  <a:pt x="156270" y="81874"/>
                  <a:pt x="156270" y="89297"/>
                </a:cubicBezTo>
                <a:lnTo>
                  <a:pt x="156270" y="151805"/>
                </a:lnTo>
                <a:cubicBezTo>
                  <a:pt x="156270" y="159227"/>
                  <a:pt x="150298" y="165199"/>
                  <a:pt x="142875" y="165199"/>
                </a:cubicBezTo>
                <a:cubicBezTo>
                  <a:pt x="135452" y="165199"/>
                  <a:pt x="129480" y="159227"/>
                  <a:pt x="129480" y="151805"/>
                </a:cubicBezTo>
                <a:lnTo>
                  <a:pt x="129480" y="89297"/>
                </a:lnTo>
                <a:cubicBezTo>
                  <a:pt x="129480" y="81874"/>
                  <a:pt x="135452" y="75902"/>
                  <a:pt x="142875" y="75902"/>
                </a:cubicBezTo>
                <a:close/>
                <a:moveTo>
                  <a:pt x="127974" y="196453"/>
                </a:moveTo>
                <a:cubicBezTo>
                  <a:pt x="127635" y="190922"/>
                  <a:pt x="130393" y="185659"/>
                  <a:pt x="135135" y="182791"/>
                </a:cubicBezTo>
                <a:cubicBezTo>
                  <a:pt x="139876" y="179923"/>
                  <a:pt x="145818" y="179923"/>
                  <a:pt x="150560" y="182791"/>
                </a:cubicBezTo>
                <a:cubicBezTo>
                  <a:pt x="155301" y="185659"/>
                  <a:pt x="158060" y="190922"/>
                  <a:pt x="157721" y="196453"/>
                </a:cubicBezTo>
                <a:cubicBezTo>
                  <a:pt x="158060" y="201984"/>
                  <a:pt x="155301" y="207247"/>
                  <a:pt x="150560" y="210115"/>
                </a:cubicBezTo>
                <a:cubicBezTo>
                  <a:pt x="145818" y="212983"/>
                  <a:pt x="139876" y="212983"/>
                  <a:pt x="135135" y="210115"/>
                </a:cubicBezTo>
                <a:cubicBezTo>
                  <a:pt x="130393" y="207247"/>
                  <a:pt x="127635" y="201984"/>
                  <a:pt x="127974" y="196453"/>
                </a:cubicBezTo>
                <a:close/>
              </a:path>
            </a:pathLst>
          </a:custGeom>
          <a:solidFill>
            <a:srgbClr val="F0B100"/>
          </a:solidFill>
        </p:spPr>
        <p:txBody>
          <a:bodyPr/>
          <a:lstStyle/>
          <a:p>
            <a:endParaRPr lang="en-US"/>
          </a:p>
        </p:txBody>
      </p:sp>
      <p:sp>
        <p:nvSpPr>
          <p:cNvPr id="11" name="Text 9"/>
          <p:cNvSpPr/>
          <p:nvPr>
            <p:custDataLst>
              <p:tags r:id="rId6"/>
            </p:custDataLst>
          </p:nvPr>
        </p:nvSpPr>
        <p:spPr>
          <a:xfrm>
            <a:off x="4951730" y="3231515"/>
            <a:ext cx="2291715" cy="1504950"/>
          </a:xfrm>
          <a:prstGeom prst="rect">
            <a:avLst/>
          </a:prstGeom>
          <a:noFill/>
        </p:spPr>
        <p:txBody>
          <a:bodyPr wrap="square" lIns="0" tIns="0" rIns="0" bIns="0" rtlCol="0" anchor="ctr"/>
          <a:lstStyle/>
          <a:p>
            <a:pPr algn="ctr">
              <a:lnSpc>
                <a:spcPct val="130000"/>
              </a:lnSpc>
              <a:buClrTx/>
              <a:buSzTx/>
              <a:buFontTx/>
            </a:pPr>
            <a:r>
              <a:rPr lang="en-US" sz="2000" b="1" dirty="0">
                <a:solidFill>
                  <a:srgbClr val="1D293D"/>
                </a:solidFill>
                <a:latin typeface="Calibri" panose="020F0502020204030204" pitchFamily="34" charset="0"/>
                <a:ea typeface="MiSans" pitchFamily="34" charset="-122"/>
                <a:cs typeface="Calibri" panose="020F0502020204030204" pitchFamily="34" charset="0"/>
              </a:rPr>
              <a:t>But raw memory is not yet an evolving strategy</a:t>
            </a:r>
          </a:p>
        </p:txBody>
      </p:sp>
      <p:sp>
        <p:nvSpPr>
          <p:cNvPr id="12" name="Shape 10"/>
          <p:cNvSpPr/>
          <p:nvPr>
            <p:custDataLst>
              <p:tags r:id="rId7"/>
            </p:custDataLst>
          </p:nvPr>
        </p:nvSpPr>
        <p:spPr>
          <a:xfrm>
            <a:off x="7670800" y="2939415"/>
            <a:ext cx="2695575" cy="1889760"/>
          </a:xfrm>
          <a:custGeom>
            <a:avLst/>
            <a:gdLst/>
            <a:ahLst/>
            <a:cxnLst/>
            <a:rect l="l" t="t" r="r" b="b"/>
            <a:pathLst>
              <a:path w="2695575" h="1323975">
                <a:moveTo>
                  <a:pt x="114299" y="0"/>
                </a:moveTo>
                <a:lnTo>
                  <a:pt x="2581276" y="0"/>
                </a:lnTo>
                <a:cubicBezTo>
                  <a:pt x="2644402" y="0"/>
                  <a:pt x="2695575" y="51173"/>
                  <a:pt x="2695575" y="114299"/>
                </a:cubicBezTo>
                <a:lnTo>
                  <a:pt x="2695575" y="1209676"/>
                </a:lnTo>
                <a:cubicBezTo>
                  <a:pt x="2695575" y="1272802"/>
                  <a:pt x="2644402" y="1323975"/>
                  <a:pt x="2581276" y="1323975"/>
                </a:cubicBezTo>
                <a:lnTo>
                  <a:pt x="114299" y="1323975"/>
                </a:lnTo>
                <a:cubicBezTo>
                  <a:pt x="51173" y="1323975"/>
                  <a:pt x="0" y="1272802"/>
                  <a:pt x="0" y="1209676"/>
                </a:cubicBezTo>
                <a:lnTo>
                  <a:pt x="0" y="114299"/>
                </a:lnTo>
                <a:cubicBezTo>
                  <a:pt x="0" y="51216"/>
                  <a:pt x="51216" y="0"/>
                  <a:pt x="114299" y="0"/>
                </a:cubicBezTo>
                <a:close/>
              </a:path>
            </a:pathLst>
          </a:custGeom>
          <a:solidFill>
            <a:srgbClr val="FAF5FF"/>
          </a:solidFill>
        </p:spPr>
        <p:txBody>
          <a:bodyPr/>
          <a:lstStyle/>
          <a:p>
            <a:endParaRPr lang="en-US"/>
          </a:p>
        </p:txBody>
      </p:sp>
      <p:sp>
        <p:nvSpPr>
          <p:cNvPr id="13" name="Shape 11"/>
          <p:cNvSpPr/>
          <p:nvPr>
            <p:custDataLst>
              <p:tags r:id="rId8"/>
            </p:custDataLst>
          </p:nvPr>
        </p:nvSpPr>
        <p:spPr>
          <a:xfrm>
            <a:off x="8876467" y="3168016"/>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AD46FF"/>
          </a:solidFill>
        </p:spPr>
        <p:txBody>
          <a:bodyPr/>
          <a:lstStyle/>
          <a:p>
            <a:endParaRPr lang="en-US"/>
          </a:p>
        </p:txBody>
      </p:sp>
      <p:sp>
        <p:nvSpPr>
          <p:cNvPr id="14" name="Text 12"/>
          <p:cNvSpPr/>
          <p:nvPr>
            <p:custDataLst>
              <p:tags r:id="rId9"/>
            </p:custDataLst>
          </p:nvPr>
        </p:nvSpPr>
        <p:spPr>
          <a:xfrm>
            <a:off x="7849870" y="3256915"/>
            <a:ext cx="2314575" cy="1296670"/>
          </a:xfrm>
          <a:prstGeom prst="rect">
            <a:avLst/>
          </a:prstGeom>
          <a:noFill/>
        </p:spPr>
        <p:txBody>
          <a:bodyPr wrap="square" lIns="0" tIns="0" rIns="0" bIns="0" rtlCol="0" anchor="ctr"/>
          <a:lstStyle/>
          <a:p>
            <a:pPr algn="ctr">
              <a:lnSpc>
                <a:spcPct val="130000"/>
              </a:lnSpc>
              <a:buClrTx/>
              <a:buSzTx/>
              <a:buFontTx/>
            </a:pPr>
            <a:r>
              <a:rPr lang="en-US" sz="2000" b="1" dirty="0">
                <a:solidFill>
                  <a:srgbClr val="1D293D"/>
                </a:solidFill>
                <a:latin typeface="Calibri" panose="020F0502020204030204" pitchFamily="34" charset="0"/>
                <a:ea typeface="MiSans" pitchFamily="34" charset="-122"/>
                <a:cs typeface="Calibri" panose="020F0502020204030204" pitchFamily="34" charset="0"/>
              </a:rPr>
              <a:t>We need to organize experience into better context</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2" y="381000"/>
            <a:ext cx="9591179" cy="342900"/>
          </a:xfrm>
          <a:prstGeom prst="rect">
            <a:avLst/>
          </a:prstGeom>
          <a:noFill/>
        </p:spPr>
        <p:txBody>
          <a:bodyPr wrap="square" lIns="0" tIns="0" rIns="0" bIns="0" rtlCol="0" anchor="ctr"/>
          <a:lstStyle/>
          <a:p>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From Memory to Evolving Context</a:t>
            </a:r>
          </a:p>
        </p:txBody>
      </p:sp>
      <p:sp>
        <p:nvSpPr>
          <p:cNvPr id="5" name="Text 3"/>
          <p:cNvSpPr/>
          <p:nvPr/>
        </p:nvSpPr>
        <p:spPr>
          <a:xfrm>
            <a:off x="381000" y="1085850"/>
            <a:ext cx="11515725"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Why memory alone is not enough</a:t>
            </a:r>
          </a:p>
        </p:txBody>
      </p:sp>
      <p:sp>
        <p:nvSpPr>
          <p:cNvPr id="6" name="Shape 4"/>
          <p:cNvSpPr/>
          <p:nvPr>
            <p:custDataLst>
              <p:tags r:id="rId1"/>
            </p:custDataLst>
          </p:nvPr>
        </p:nvSpPr>
        <p:spPr>
          <a:xfrm>
            <a:off x="433705" y="1445260"/>
            <a:ext cx="5581650"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EF2F2"/>
          </a:solidFill>
        </p:spPr>
        <p:txBody>
          <a:bodyPr/>
          <a:lstStyle/>
          <a:p>
            <a:endParaRPr lang="en-US"/>
          </a:p>
        </p:txBody>
      </p:sp>
      <p:sp>
        <p:nvSpPr>
          <p:cNvPr id="7" name="Shape 5"/>
          <p:cNvSpPr/>
          <p:nvPr>
            <p:custDataLst>
              <p:tags r:id="rId2"/>
            </p:custDataLst>
          </p:nvPr>
        </p:nvSpPr>
        <p:spPr>
          <a:xfrm>
            <a:off x="433705" y="1445260"/>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FF6467"/>
          </a:solidFill>
        </p:spPr>
        <p:txBody>
          <a:bodyPr/>
          <a:lstStyle/>
          <a:p>
            <a:endParaRPr lang="en-US"/>
          </a:p>
        </p:txBody>
      </p:sp>
      <p:sp>
        <p:nvSpPr>
          <p:cNvPr id="8" name="Shape 6"/>
          <p:cNvSpPr/>
          <p:nvPr>
            <p:custDataLst>
              <p:tags r:id="rId3"/>
            </p:custDataLst>
          </p:nvPr>
        </p:nvSpPr>
        <p:spPr>
          <a:xfrm>
            <a:off x="624205" y="1670050"/>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9F0712"/>
          </a:solidFill>
        </p:spPr>
        <p:txBody>
          <a:bodyPr/>
          <a:lstStyle/>
          <a:p>
            <a:endParaRPr lang="en-US"/>
          </a:p>
        </p:txBody>
      </p:sp>
      <p:sp>
        <p:nvSpPr>
          <p:cNvPr id="9" name="Text 7"/>
          <p:cNvSpPr/>
          <p:nvPr>
            <p:custDataLst>
              <p:tags r:id="rId4"/>
            </p:custDataLst>
          </p:nvPr>
        </p:nvSpPr>
        <p:spPr>
          <a:xfrm>
            <a:off x="852805" y="1597660"/>
            <a:ext cx="5086350" cy="228600"/>
          </a:xfrm>
          <a:prstGeom prst="rect">
            <a:avLst/>
          </a:prstGeom>
          <a:noFill/>
        </p:spPr>
        <p:txBody>
          <a:bodyPr wrap="square" lIns="0" tIns="0" rIns="0" bIns="0" rtlCol="0" anchor="ctr"/>
          <a:lstStyle/>
          <a:p>
            <a:pPr>
              <a:lnSpc>
                <a:spcPct val="130000"/>
              </a:lnSpc>
            </a:pPr>
            <a:r>
              <a:rPr lang="en-US" sz="2000" b="1" dirty="0">
                <a:solidFill>
                  <a:srgbClr val="9F0712"/>
                </a:solidFill>
                <a:latin typeface="Calibri" panose="020F0502020204030204" pitchFamily="34" charset="0"/>
                <a:ea typeface="MiSans" pitchFamily="34" charset="-122"/>
                <a:cs typeface="Calibri" panose="020F0502020204030204" pitchFamily="34" charset="0"/>
              </a:rPr>
              <a:t>The Problem: Context Collapse</a:t>
            </a:r>
            <a:endParaRPr lang="en-US" sz="2000" dirty="0">
              <a:latin typeface="Calibri" panose="020F0502020204030204" pitchFamily="34" charset="0"/>
              <a:cs typeface="Calibri" panose="020F0502020204030204" pitchFamily="34" charset="0"/>
            </a:endParaRPr>
          </a:p>
        </p:txBody>
      </p:sp>
      <p:sp>
        <p:nvSpPr>
          <p:cNvPr id="10" name="Text 8"/>
          <p:cNvSpPr/>
          <p:nvPr>
            <p:custDataLst>
              <p:tags r:id="rId5"/>
            </p:custDataLst>
          </p:nvPr>
        </p:nvSpPr>
        <p:spPr>
          <a:xfrm>
            <a:off x="605155" y="1902460"/>
            <a:ext cx="5334000" cy="457200"/>
          </a:xfrm>
          <a:prstGeom prst="rect">
            <a:avLst/>
          </a:prstGeom>
          <a:noFill/>
        </p:spPr>
        <p:txBody>
          <a:bodyPr wrap="square" lIns="0" tIns="0" rIns="0" bIns="0" rtlCol="0" anchor="ctr"/>
          <a:lstStyle/>
          <a:p>
            <a:pPr>
              <a:lnSpc>
                <a:spcPct val="130000"/>
              </a:lnSpc>
            </a:pPr>
            <a:r>
              <a:rPr lang="en-US" sz="1400" dirty="0">
                <a:solidFill>
                  <a:srgbClr val="C10007"/>
                </a:solidFill>
                <a:latin typeface="Calibri" panose="020F0502020204030204" pitchFamily="34" charset="0"/>
                <a:ea typeface="MiSans" pitchFamily="34" charset="-122"/>
                <a:cs typeface="Calibri" panose="020F0502020204030204" pitchFamily="34" charset="0"/>
              </a:rPr>
              <a:t>Simply rewriting context into shorter summaries can be dangerous. Repeated monolithic rewriting causes </a:t>
            </a:r>
            <a:r>
              <a:rPr lang="en-US" sz="1400" b="1" dirty="0">
                <a:solidFill>
                  <a:srgbClr val="C10007"/>
                </a:solidFill>
                <a:latin typeface="Calibri" panose="020F0502020204030204" pitchFamily="34" charset="0"/>
                <a:ea typeface="MiSans" pitchFamily="34" charset="-122"/>
                <a:cs typeface="Calibri" panose="020F0502020204030204" pitchFamily="34" charset="0"/>
              </a:rPr>
              <a:t>context collapse</a:t>
            </a:r>
            <a:r>
              <a:rPr lang="en-US" sz="1400" dirty="0">
                <a:solidFill>
                  <a:srgbClr val="C10007"/>
                </a:solidFill>
                <a:latin typeface="Calibri" panose="020F0502020204030204" pitchFamily="34" charset="0"/>
                <a:ea typeface="MiSans" pitchFamily="34" charset="-122"/>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11" name="Shape 9"/>
          <p:cNvSpPr/>
          <p:nvPr>
            <p:custDataLst>
              <p:tags r:id="rId6"/>
            </p:custDataLst>
          </p:nvPr>
        </p:nvSpPr>
        <p:spPr>
          <a:xfrm>
            <a:off x="6129655" y="1447800"/>
            <a:ext cx="5600700" cy="1066800"/>
          </a:xfrm>
          <a:custGeom>
            <a:avLst/>
            <a:gdLst/>
            <a:ahLst/>
            <a:cxnLst/>
            <a:rect l="l" t="t" r="r" b="b"/>
            <a:pathLst>
              <a:path w="5600700" h="1066800">
                <a:moveTo>
                  <a:pt x="76202" y="0"/>
                </a:moveTo>
                <a:lnTo>
                  <a:pt x="5524498" y="0"/>
                </a:lnTo>
                <a:cubicBezTo>
                  <a:pt x="5566583" y="0"/>
                  <a:pt x="5600700" y="34117"/>
                  <a:pt x="5600700" y="76202"/>
                </a:cubicBezTo>
                <a:lnTo>
                  <a:pt x="5600700" y="990598"/>
                </a:lnTo>
                <a:cubicBezTo>
                  <a:pt x="5600700" y="1032683"/>
                  <a:pt x="5566583" y="1066800"/>
                  <a:pt x="5524498" y="1066800"/>
                </a:cubicBezTo>
                <a:lnTo>
                  <a:pt x="76202" y="1066800"/>
                </a:lnTo>
                <a:cubicBezTo>
                  <a:pt x="34117" y="1066800"/>
                  <a:pt x="0" y="1032683"/>
                  <a:pt x="0" y="990598"/>
                </a:cubicBezTo>
                <a:lnTo>
                  <a:pt x="0" y="76202"/>
                </a:lnTo>
                <a:cubicBezTo>
                  <a:pt x="0" y="34145"/>
                  <a:pt x="34145" y="0"/>
                  <a:pt x="76202" y="0"/>
                </a:cubicBezTo>
                <a:close/>
              </a:path>
            </a:pathLst>
          </a:custGeom>
          <a:solidFill>
            <a:srgbClr val="FAF5FF"/>
          </a:solidFill>
        </p:spPr>
        <p:txBody>
          <a:bodyPr/>
          <a:lstStyle/>
          <a:p>
            <a:endParaRPr lang="en-US"/>
          </a:p>
        </p:txBody>
      </p:sp>
      <p:sp>
        <p:nvSpPr>
          <p:cNvPr id="12" name="Shape 10"/>
          <p:cNvSpPr/>
          <p:nvPr>
            <p:custDataLst>
              <p:tags r:id="rId7"/>
            </p:custDataLst>
          </p:nvPr>
        </p:nvSpPr>
        <p:spPr>
          <a:xfrm>
            <a:off x="6320155" y="167259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6E11B0"/>
          </a:solidFill>
        </p:spPr>
        <p:txBody>
          <a:bodyPr/>
          <a:lstStyle/>
          <a:p>
            <a:endParaRPr lang="en-US"/>
          </a:p>
        </p:txBody>
      </p:sp>
      <p:sp>
        <p:nvSpPr>
          <p:cNvPr id="13" name="Text 11"/>
          <p:cNvSpPr/>
          <p:nvPr>
            <p:custDataLst>
              <p:tags r:id="rId8"/>
            </p:custDataLst>
          </p:nvPr>
        </p:nvSpPr>
        <p:spPr>
          <a:xfrm>
            <a:off x="6529705" y="1600200"/>
            <a:ext cx="5124450" cy="228600"/>
          </a:xfrm>
          <a:prstGeom prst="rect">
            <a:avLst/>
          </a:prstGeom>
          <a:noFill/>
        </p:spPr>
        <p:txBody>
          <a:bodyPr wrap="square" lIns="0" tIns="0" rIns="0" bIns="0" rtlCol="0" anchor="ctr"/>
          <a:lstStyle/>
          <a:p>
            <a:pPr>
              <a:lnSpc>
                <a:spcPct val="130000"/>
              </a:lnSpc>
            </a:pPr>
            <a:r>
              <a:rPr lang="en-US" sz="2000" b="1" dirty="0">
                <a:solidFill>
                  <a:srgbClr val="6E11B0"/>
                </a:solidFill>
                <a:latin typeface="Calibri" panose="020F0502020204030204" pitchFamily="34" charset="0"/>
                <a:ea typeface="MiSans" pitchFamily="34" charset="-122"/>
                <a:cs typeface="Calibri" panose="020F0502020204030204" pitchFamily="34" charset="0"/>
              </a:rPr>
              <a:t>ACE's Insight</a:t>
            </a:r>
            <a:endParaRPr lang="en-US" sz="2000" dirty="0">
              <a:latin typeface="Calibri" panose="020F0502020204030204" pitchFamily="34" charset="0"/>
              <a:cs typeface="Calibri" panose="020F0502020204030204" pitchFamily="34" charset="0"/>
            </a:endParaRPr>
          </a:p>
        </p:txBody>
      </p:sp>
      <p:sp>
        <p:nvSpPr>
          <p:cNvPr id="14" name="Text 12"/>
          <p:cNvSpPr/>
          <p:nvPr>
            <p:custDataLst>
              <p:tags r:id="rId9"/>
            </p:custDataLst>
          </p:nvPr>
        </p:nvSpPr>
        <p:spPr>
          <a:xfrm>
            <a:off x="6282055" y="1905000"/>
            <a:ext cx="5372100" cy="457200"/>
          </a:xfrm>
          <a:prstGeom prst="rect">
            <a:avLst/>
          </a:prstGeom>
          <a:noFill/>
        </p:spPr>
        <p:txBody>
          <a:bodyPr wrap="square" lIns="0" tIns="0" rIns="0" bIns="0" rtlCol="0" anchor="ctr"/>
          <a:lstStyle/>
          <a:p>
            <a:pPr algn="l">
              <a:lnSpc>
                <a:spcPct val="130000"/>
              </a:lnSpc>
              <a:buClrTx/>
              <a:buSzTx/>
              <a:buFontTx/>
            </a:pPr>
            <a:r>
              <a:rPr lang="en-US" sz="1400" dirty="0">
                <a:solidFill>
                  <a:srgbClr val="C10007"/>
                </a:solidFill>
                <a:latin typeface="Calibri" panose="020F0502020204030204" pitchFamily="34" charset="0"/>
                <a:ea typeface="MiSans" pitchFamily="34" charset="-122"/>
                <a:cs typeface="Calibri" panose="020F0502020204030204" pitchFamily="34" charset="0"/>
              </a:rPr>
              <a:t>Shorter context is not always better. Compression destroys useful knowledge. Context should become an evolving playbook.</a:t>
            </a:r>
          </a:p>
        </p:txBody>
      </p:sp>
      <p:sp>
        <p:nvSpPr>
          <p:cNvPr id="28" name="Shape 26"/>
          <p:cNvSpPr/>
          <p:nvPr/>
        </p:nvSpPr>
        <p:spPr>
          <a:xfrm>
            <a:off x="8822055" y="2550160"/>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29" name="Text 27"/>
          <p:cNvSpPr/>
          <p:nvPr/>
        </p:nvSpPr>
        <p:spPr>
          <a:xfrm>
            <a:off x="8259246" y="3276600"/>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34" name="Shape 32"/>
          <p:cNvSpPr/>
          <p:nvPr/>
        </p:nvSpPr>
        <p:spPr>
          <a:xfrm>
            <a:off x="2197100" y="5795645"/>
            <a:ext cx="7973695" cy="323850"/>
          </a:xfrm>
          <a:custGeom>
            <a:avLst/>
            <a:gdLst/>
            <a:ahLst/>
            <a:cxnLst/>
            <a:rect l="l" t="t" r="r" b="b"/>
            <a:pathLst>
              <a:path w="11410950" h="533400">
                <a:moveTo>
                  <a:pt x="0" y="0"/>
                </a:moveTo>
                <a:lnTo>
                  <a:pt x="11334748" y="0"/>
                </a:lnTo>
                <a:cubicBezTo>
                  <a:pt x="11376833" y="0"/>
                  <a:pt x="11410950" y="34117"/>
                  <a:pt x="11410950" y="76202"/>
                </a:cubicBezTo>
                <a:lnTo>
                  <a:pt x="11410950" y="457198"/>
                </a:lnTo>
                <a:cubicBezTo>
                  <a:pt x="11410950" y="499283"/>
                  <a:pt x="11376833" y="533400"/>
                  <a:pt x="11334748" y="533400"/>
                </a:cubicBezTo>
                <a:lnTo>
                  <a:pt x="0" y="533400"/>
                </a:lnTo>
                <a:lnTo>
                  <a:pt x="0" y="0"/>
                </a:lnTo>
                <a:close/>
              </a:path>
            </a:pathLst>
          </a:custGeom>
          <a:solidFill>
            <a:srgbClr val="FAF5FF"/>
          </a:solidFill>
        </p:spPr>
        <p:txBody>
          <a:bodyPr/>
          <a:lstStyle/>
          <a:p>
            <a:endParaRPr lang="en-US"/>
          </a:p>
        </p:txBody>
      </p:sp>
      <p:sp>
        <p:nvSpPr>
          <p:cNvPr id="37" name="Text 35"/>
          <p:cNvSpPr/>
          <p:nvPr/>
        </p:nvSpPr>
        <p:spPr>
          <a:xfrm>
            <a:off x="2320290" y="5795645"/>
            <a:ext cx="8272145" cy="228600"/>
          </a:xfrm>
          <a:prstGeom prst="rect">
            <a:avLst/>
          </a:prstGeom>
          <a:noFill/>
        </p:spPr>
        <p:txBody>
          <a:bodyPr wrap="square" lIns="0" tIns="0" rIns="0" bIns="0" rtlCol="0" anchor="ctr"/>
          <a:lstStyle/>
          <a:p>
            <a:pPr>
              <a:lnSpc>
                <a:spcPct val="130000"/>
              </a:lnSpc>
            </a:pPr>
            <a:r>
              <a:rPr lang="en-US" sz="2000" b="1" dirty="0">
                <a:solidFill>
                  <a:srgbClr val="6E11B0"/>
                </a:solidFill>
                <a:latin typeface="Calibri" panose="020F0502020204030204" pitchFamily="34" charset="0"/>
                <a:ea typeface="MiSans" pitchFamily="34" charset="-122"/>
                <a:cs typeface="Calibri" panose="020F0502020204030204" pitchFamily="34" charset="0"/>
              </a:rPr>
              <a:t>Good context is not just shorter; it is more structured and more reusable.</a:t>
            </a:r>
            <a:endParaRPr lang="en-US" sz="2000" dirty="0">
              <a:latin typeface="Calibri" panose="020F0502020204030204" pitchFamily="34" charset="0"/>
              <a:cs typeface="Calibri" panose="020F0502020204030204" pitchFamily="34" charset="0"/>
            </a:endParaRPr>
          </a:p>
        </p:txBody>
      </p:sp>
      <p:pic>
        <p:nvPicPr>
          <p:cNvPr id="38" name="Picture 37" descr="ACE p2"/>
          <p:cNvPicPr>
            <a:picLocks noChangeAspect="1"/>
          </p:cNvPicPr>
          <p:nvPr/>
        </p:nvPicPr>
        <p:blipFill>
          <a:blip r:embed="rId12"/>
          <a:stretch>
            <a:fillRect/>
          </a:stretch>
        </p:blipFill>
        <p:spPr>
          <a:xfrm>
            <a:off x="2286000" y="2548890"/>
            <a:ext cx="7695565" cy="306260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2" y="381000"/>
            <a:ext cx="5146770" cy="342900"/>
          </a:xfrm>
          <a:prstGeom prst="rect">
            <a:avLst/>
          </a:prstGeom>
          <a:noFill/>
        </p:spPr>
        <p:txBody>
          <a:bodyPr wrap="square" lIns="0" tIns="0" rIns="0" bIns="0" rtlCol="0" anchor="ctr"/>
          <a:lstStyle/>
          <a:p>
            <a:pPr>
              <a:lnSpc>
                <a:spcPct val="100000"/>
              </a:lnSpc>
            </a:pP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ACE Framework</a:t>
            </a:r>
          </a:p>
        </p:txBody>
      </p:sp>
      <p:sp>
        <p:nvSpPr>
          <p:cNvPr id="5" name="Text 3"/>
          <p:cNvSpPr/>
          <p:nvPr/>
        </p:nvSpPr>
        <p:spPr>
          <a:xfrm>
            <a:off x="281940" y="1104966"/>
            <a:ext cx="11515725"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Context evolves through generation, reflection, and curation</a:t>
            </a:r>
          </a:p>
        </p:txBody>
      </p:sp>
      <p:sp>
        <p:nvSpPr>
          <p:cNvPr id="6" name="Shape 4"/>
          <p:cNvSpPr/>
          <p:nvPr/>
        </p:nvSpPr>
        <p:spPr>
          <a:xfrm>
            <a:off x="386715" y="1556385"/>
            <a:ext cx="3467677" cy="1226820"/>
          </a:xfrm>
          <a:custGeom>
            <a:avLst/>
            <a:gdLst/>
            <a:ahLst/>
            <a:cxnLst/>
            <a:rect l="l" t="t" r="r" b="b"/>
            <a:pathLst>
              <a:path w="5581650" h="914400">
                <a:moveTo>
                  <a:pt x="0" y="0"/>
                </a:moveTo>
                <a:lnTo>
                  <a:pt x="5505453" y="0"/>
                </a:lnTo>
                <a:cubicBezTo>
                  <a:pt x="5547535" y="0"/>
                  <a:pt x="5581650" y="34115"/>
                  <a:pt x="5581650" y="76197"/>
                </a:cubicBezTo>
                <a:lnTo>
                  <a:pt x="5581650" y="838203"/>
                </a:lnTo>
                <a:cubicBezTo>
                  <a:pt x="5581650" y="880285"/>
                  <a:pt x="5547535" y="914400"/>
                  <a:pt x="5505453" y="914400"/>
                </a:cubicBezTo>
                <a:lnTo>
                  <a:pt x="0" y="914400"/>
                </a:lnTo>
                <a:lnTo>
                  <a:pt x="0" y="0"/>
                </a:lnTo>
                <a:close/>
              </a:path>
            </a:pathLst>
          </a:custGeom>
          <a:solidFill>
            <a:srgbClr val="EEF2FF"/>
          </a:solidFill>
        </p:spPr>
        <p:txBody>
          <a:bodyPr/>
          <a:lstStyle/>
          <a:p>
            <a:endParaRPr lang="zh-CN" altLang="en-US"/>
          </a:p>
        </p:txBody>
      </p:sp>
      <p:sp>
        <p:nvSpPr>
          <p:cNvPr id="7" name="Shape 5"/>
          <p:cNvSpPr/>
          <p:nvPr/>
        </p:nvSpPr>
        <p:spPr>
          <a:xfrm>
            <a:off x="386715" y="1564005"/>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615FFF"/>
          </a:solidFill>
        </p:spPr>
        <p:txBody>
          <a:bodyPr/>
          <a:lstStyle/>
          <a:p>
            <a:endParaRPr lang="en-US"/>
          </a:p>
        </p:txBody>
      </p:sp>
      <p:sp>
        <p:nvSpPr>
          <p:cNvPr id="8" name="Shape 6"/>
          <p:cNvSpPr/>
          <p:nvPr/>
        </p:nvSpPr>
        <p:spPr>
          <a:xfrm>
            <a:off x="558165" y="171640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615FFF"/>
          </a:solidFill>
        </p:spPr>
        <p:txBody>
          <a:bodyPr/>
          <a:lstStyle/>
          <a:p>
            <a:endParaRPr lang="en-US"/>
          </a:p>
        </p:txBody>
      </p:sp>
      <p:sp>
        <p:nvSpPr>
          <p:cNvPr id="9" name="Text 7"/>
          <p:cNvSpPr/>
          <p:nvPr/>
        </p:nvSpPr>
        <p:spPr>
          <a:xfrm>
            <a:off x="520065" y="1716405"/>
            <a:ext cx="381000" cy="3048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1</a:t>
            </a:r>
            <a:endParaRPr lang="en-US" sz="1600" dirty="0"/>
          </a:p>
        </p:txBody>
      </p:sp>
      <p:sp>
        <p:nvSpPr>
          <p:cNvPr id="10" name="Text 8"/>
          <p:cNvSpPr/>
          <p:nvPr/>
        </p:nvSpPr>
        <p:spPr>
          <a:xfrm>
            <a:off x="939164" y="1670685"/>
            <a:ext cx="1304139" cy="312420"/>
          </a:xfrm>
          <a:prstGeom prst="rect">
            <a:avLst/>
          </a:prstGeom>
          <a:noFill/>
        </p:spPr>
        <p:txBody>
          <a:bodyPr wrap="square" lIns="0" tIns="0" rIns="0" bIns="0" rtlCol="0" anchor="ctr"/>
          <a:lstStyle/>
          <a:p>
            <a:pPr>
              <a:lnSpc>
                <a:spcPct val="130000"/>
              </a:lnSpc>
            </a:pPr>
            <a:r>
              <a:rPr lang="en-US" sz="2000" b="1" dirty="0">
                <a:solidFill>
                  <a:srgbClr val="372AAC"/>
                </a:solidFill>
                <a:latin typeface="+mj-lt"/>
                <a:ea typeface="MiSans" pitchFamily="34" charset="-122"/>
                <a:cs typeface="MiSans" pitchFamily="34" charset="-120"/>
              </a:rPr>
              <a:t>Generator</a:t>
            </a:r>
            <a:endParaRPr lang="en-US" sz="2000" dirty="0">
              <a:latin typeface="+mj-lt"/>
            </a:endParaRPr>
          </a:p>
        </p:txBody>
      </p:sp>
      <p:sp>
        <p:nvSpPr>
          <p:cNvPr id="11" name="Text 9"/>
          <p:cNvSpPr/>
          <p:nvPr/>
        </p:nvSpPr>
        <p:spPr>
          <a:xfrm>
            <a:off x="558165" y="2097404"/>
            <a:ext cx="3296227" cy="545477"/>
          </a:xfrm>
          <a:prstGeom prst="rect">
            <a:avLst/>
          </a:prstGeom>
          <a:noFill/>
        </p:spPr>
        <p:txBody>
          <a:bodyPr wrap="square" lIns="0" tIns="0" rIns="0" bIns="0" rtlCol="0" anchor="ctr"/>
          <a:lstStyle/>
          <a:p>
            <a:pPr>
              <a:lnSpc>
                <a:spcPct val="130000"/>
              </a:lnSpc>
            </a:pPr>
            <a:r>
              <a:rPr lang="en-US" sz="1400" dirty="0">
                <a:solidFill>
                  <a:srgbClr val="432DD7"/>
                </a:solidFill>
                <a:ea typeface="MiSans" pitchFamily="34" charset="-122"/>
                <a:cs typeface="MiSans" pitchFamily="34" charset="-120"/>
              </a:rPr>
              <a:t>Uses current playbook to solve tasks and produce </a:t>
            </a:r>
            <a:r>
              <a:rPr lang="en-US" sz="1400" b="1" dirty="0">
                <a:solidFill>
                  <a:srgbClr val="432DD7"/>
                </a:solidFill>
                <a:ea typeface="MiSans" pitchFamily="34" charset="-122"/>
                <a:cs typeface="MiSans" pitchFamily="34" charset="-120"/>
              </a:rPr>
              <a:t>trajectories</a:t>
            </a:r>
            <a:endParaRPr lang="en-US" sz="1400" dirty="0"/>
          </a:p>
        </p:txBody>
      </p:sp>
      <p:sp>
        <p:nvSpPr>
          <p:cNvPr id="12" name="Shape 10"/>
          <p:cNvSpPr/>
          <p:nvPr/>
        </p:nvSpPr>
        <p:spPr>
          <a:xfrm>
            <a:off x="3096578" y="2592705"/>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7C86FF"/>
          </a:solidFill>
        </p:spPr>
        <p:txBody>
          <a:bodyPr/>
          <a:lstStyle/>
          <a:p>
            <a:endParaRPr lang="en-US"/>
          </a:p>
        </p:txBody>
      </p:sp>
      <p:sp>
        <p:nvSpPr>
          <p:cNvPr id="13" name="Shape 11"/>
          <p:cNvSpPr/>
          <p:nvPr/>
        </p:nvSpPr>
        <p:spPr>
          <a:xfrm>
            <a:off x="386715" y="2897505"/>
            <a:ext cx="3467677" cy="1226820"/>
          </a:xfrm>
          <a:custGeom>
            <a:avLst/>
            <a:gdLst/>
            <a:ahLst/>
            <a:cxnLst/>
            <a:rect l="l" t="t" r="r" b="b"/>
            <a:pathLst>
              <a:path w="5581650" h="914400">
                <a:moveTo>
                  <a:pt x="0" y="0"/>
                </a:moveTo>
                <a:lnTo>
                  <a:pt x="5505453" y="0"/>
                </a:lnTo>
                <a:cubicBezTo>
                  <a:pt x="5547535" y="0"/>
                  <a:pt x="5581650" y="34115"/>
                  <a:pt x="5581650" y="76197"/>
                </a:cubicBezTo>
                <a:lnTo>
                  <a:pt x="5581650" y="838203"/>
                </a:lnTo>
                <a:cubicBezTo>
                  <a:pt x="5581650" y="880285"/>
                  <a:pt x="5547535" y="914400"/>
                  <a:pt x="5505453" y="914400"/>
                </a:cubicBezTo>
                <a:lnTo>
                  <a:pt x="0" y="914400"/>
                </a:lnTo>
                <a:lnTo>
                  <a:pt x="0" y="0"/>
                </a:lnTo>
                <a:close/>
              </a:path>
            </a:pathLst>
          </a:custGeom>
          <a:solidFill>
            <a:srgbClr val="FAF5FF"/>
          </a:solidFill>
        </p:spPr>
        <p:txBody>
          <a:bodyPr/>
          <a:lstStyle/>
          <a:p>
            <a:endParaRPr lang="zh-CN" altLang="en-US"/>
          </a:p>
        </p:txBody>
      </p:sp>
      <p:sp>
        <p:nvSpPr>
          <p:cNvPr id="14" name="Shape 12"/>
          <p:cNvSpPr/>
          <p:nvPr/>
        </p:nvSpPr>
        <p:spPr>
          <a:xfrm>
            <a:off x="386715" y="2897505"/>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AD46FF"/>
          </a:solidFill>
        </p:spPr>
        <p:txBody>
          <a:bodyPr/>
          <a:lstStyle/>
          <a:p>
            <a:endParaRPr lang="en-US"/>
          </a:p>
        </p:txBody>
      </p:sp>
      <p:sp>
        <p:nvSpPr>
          <p:cNvPr id="15" name="Shape 13"/>
          <p:cNvSpPr/>
          <p:nvPr/>
        </p:nvSpPr>
        <p:spPr>
          <a:xfrm>
            <a:off x="558165" y="304990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AD46FF"/>
          </a:solidFill>
        </p:spPr>
        <p:txBody>
          <a:bodyPr/>
          <a:lstStyle/>
          <a:p>
            <a:endParaRPr lang="en-US"/>
          </a:p>
        </p:txBody>
      </p:sp>
      <p:sp>
        <p:nvSpPr>
          <p:cNvPr id="16" name="Text 14"/>
          <p:cNvSpPr/>
          <p:nvPr/>
        </p:nvSpPr>
        <p:spPr>
          <a:xfrm>
            <a:off x="520065" y="3049905"/>
            <a:ext cx="381000" cy="3048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2</a:t>
            </a:r>
            <a:endParaRPr lang="en-US" sz="1600" dirty="0"/>
          </a:p>
        </p:txBody>
      </p:sp>
      <p:sp>
        <p:nvSpPr>
          <p:cNvPr id="17" name="Text 15"/>
          <p:cNvSpPr/>
          <p:nvPr/>
        </p:nvSpPr>
        <p:spPr>
          <a:xfrm>
            <a:off x="939165" y="3004185"/>
            <a:ext cx="1216054" cy="312420"/>
          </a:xfrm>
          <a:prstGeom prst="rect">
            <a:avLst/>
          </a:prstGeom>
          <a:noFill/>
        </p:spPr>
        <p:txBody>
          <a:bodyPr wrap="square" lIns="0" tIns="0" rIns="0" bIns="0" rtlCol="0" anchor="ctr"/>
          <a:lstStyle/>
          <a:p>
            <a:pPr>
              <a:lnSpc>
                <a:spcPct val="130000"/>
              </a:lnSpc>
            </a:pPr>
            <a:r>
              <a:rPr lang="en-US" sz="2000" b="1" dirty="0">
                <a:solidFill>
                  <a:srgbClr val="6E11B0"/>
                </a:solidFill>
                <a:ea typeface="MiSans" pitchFamily="34" charset="-122"/>
                <a:cs typeface="MiSans" pitchFamily="34" charset="-120"/>
              </a:rPr>
              <a:t>Reflector</a:t>
            </a:r>
            <a:endParaRPr lang="en-US" sz="2000" dirty="0"/>
          </a:p>
        </p:txBody>
      </p:sp>
      <p:sp>
        <p:nvSpPr>
          <p:cNvPr id="18" name="Text 16"/>
          <p:cNvSpPr/>
          <p:nvPr/>
        </p:nvSpPr>
        <p:spPr>
          <a:xfrm>
            <a:off x="558165" y="3430904"/>
            <a:ext cx="3296227" cy="545477"/>
          </a:xfrm>
          <a:prstGeom prst="rect">
            <a:avLst/>
          </a:prstGeom>
          <a:noFill/>
        </p:spPr>
        <p:txBody>
          <a:bodyPr wrap="square" lIns="0" tIns="0" rIns="0" bIns="0" rtlCol="0" anchor="ctr"/>
          <a:lstStyle/>
          <a:p>
            <a:pPr>
              <a:lnSpc>
                <a:spcPct val="130000"/>
              </a:lnSpc>
            </a:pPr>
            <a:r>
              <a:rPr lang="en-US" sz="1400" dirty="0">
                <a:solidFill>
                  <a:srgbClr val="8200DB"/>
                </a:solidFill>
                <a:ea typeface="MiSans" pitchFamily="34" charset="-122"/>
                <a:cs typeface="MiSans" pitchFamily="34" charset="-120"/>
              </a:rPr>
              <a:t>Analyzes trajectories and extracts </a:t>
            </a:r>
            <a:r>
              <a:rPr lang="en-US" sz="1400" b="1" dirty="0">
                <a:solidFill>
                  <a:srgbClr val="8200DB"/>
                </a:solidFill>
                <a:ea typeface="MiSans" pitchFamily="34" charset="-122"/>
                <a:cs typeface="MiSans" pitchFamily="34" charset="-120"/>
              </a:rPr>
              <a:t>insights</a:t>
            </a:r>
            <a:r>
              <a:rPr lang="en-US" sz="1400" dirty="0">
                <a:solidFill>
                  <a:srgbClr val="8200DB"/>
                </a:solidFill>
                <a:ea typeface="MiSans" pitchFamily="34" charset="-122"/>
                <a:cs typeface="MiSans" pitchFamily="34" charset="-120"/>
              </a:rPr>
              <a:t> (what worked, what failed)</a:t>
            </a:r>
            <a:endParaRPr lang="en-US" sz="1400" dirty="0"/>
          </a:p>
        </p:txBody>
      </p:sp>
      <p:sp>
        <p:nvSpPr>
          <p:cNvPr id="19" name="Shape 17"/>
          <p:cNvSpPr/>
          <p:nvPr/>
        </p:nvSpPr>
        <p:spPr>
          <a:xfrm>
            <a:off x="3096578" y="3926205"/>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C27AFF"/>
          </a:solidFill>
        </p:spPr>
        <p:txBody>
          <a:bodyPr/>
          <a:lstStyle/>
          <a:p>
            <a:endParaRPr lang="en-US"/>
          </a:p>
        </p:txBody>
      </p:sp>
      <p:sp>
        <p:nvSpPr>
          <p:cNvPr id="20" name="Shape 18"/>
          <p:cNvSpPr/>
          <p:nvPr/>
        </p:nvSpPr>
        <p:spPr>
          <a:xfrm>
            <a:off x="386715" y="4231005"/>
            <a:ext cx="3467677" cy="1226820"/>
          </a:xfrm>
          <a:custGeom>
            <a:avLst/>
            <a:gdLst/>
            <a:ahLst/>
            <a:cxnLst/>
            <a:rect l="l" t="t" r="r" b="b"/>
            <a:pathLst>
              <a:path w="5581650" h="914400">
                <a:moveTo>
                  <a:pt x="0" y="0"/>
                </a:moveTo>
                <a:lnTo>
                  <a:pt x="5505453" y="0"/>
                </a:lnTo>
                <a:cubicBezTo>
                  <a:pt x="5547535" y="0"/>
                  <a:pt x="5581650" y="34115"/>
                  <a:pt x="5581650" y="76197"/>
                </a:cubicBezTo>
                <a:lnTo>
                  <a:pt x="5581650" y="838203"/>
                </a:lnTo>
                <a:cubicBezTo>
                  <a:pt x="5581650" y="880285"/>
                  <a:pt x="5547535" y="914400"/>
                  <a:pt x="5505453" y="914400"/>
                </a:cubicBezTo>
                <a:lnTo>
                  <a:pt x="0" y="914400"/>
                </a:lnTo>
                <a:lnTo>
                  <a:pt x="0" y="0"/>
                </a:lnTo>
                <a:close/>
              </a:path>
            </a:pathLst>
          </a:custGeom>
          <a:solidFill>
            <a:srgbClr val="FDF2F8"/>
          </a:solidFill>
        </p:spPr>
        <p:txBody>
          <a:bodyPr/>
          <a:lstStyle/>
          <a:p>
            <a:endParaRPr lang="en-US"/>
          </a:p>
        </p:txBody>
      </p:sp>
      <p:sp>
        <p:nvSpPr>
          <p:cNvPr id="21" name="Shape 19"/>
          <p:cNvSpPr/>
          <p:nvPr/>
        </p:nvSpPr>
        <p:spPr>
          <a:xfrm>
            <a:off x="386715" y="4231005"/>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F6339A"/>
          </a:solidFill>
        </p:spPr>
        <p:txBody>
          <a:bodyPr/>
          <a:lstStyle/>
          <a:p>
            <a:endParaRPr lang="en-US"/>
          </a:p>
        </p:txBody>
      </p:sp>
      <p:sp>
        <p:nvSpPr>
          <p:cNvPr id="22" name="Shape 20"/>
          <p:cNvSpPr/>
          <p:nvPr/>
        </p:nvSpPr>
        <p:spPr>
          <a:xfrm>
            <a:off x="558165" y="438340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6339A"/>
          </a:solidFill>
        </p:spPr>
        <p:txBody>
          <a:bodyPr/>
          <a:lstStyle/>
          <a:p>
            <a:endParaRPr lang="en-US"/>
          </a:p>
        </p:txBody>
      </p:sp>
      <p:sp>
        <p:nvSpPr>
          <p:cNvPr id="23" name="Text 21"/>
          <p:cNvSpPr/>
          <p:nvPr/>
        </p:nvSpPr>
        <p:spPr>
          <a:xfrm>
            <a:off x="520065" y="4383405"/>
            <a:ext cx="381000" cy="3048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3</a:t>
            </a:r>
            <a:endParaRPr lang="en-US" sz="1600" dirty="0"/>
          </a:p>
        </p:txBody>
      </p:sp>
      <p:sp>
        <p:nvSpPr>
          <p:cNvPr id="24" name="Text 22"/>
          <p:cNvSpPr/>
          <p:nvPr/>
        </p:nvSpPr>
        <p:spPr>
          <a:xfrm>
            <a:off x="939165" y="4345305"/>
            <a:ext cx="1216054" cy="304800"/>
          </a:xfrm>
          <a:prstGeom prst="rect">
            <a:avLst/>
          </a:prstGeom>
          <a:noFill/>
        </p:spPr>
        <p:txBody>
          <a:bodyPr wrap="square" lIns="0" tIns="0" rIns="0" bIns="0" rtlCol="0" anchor="ctr"/>
          <a:lstStyle/>
          <a:p>
            <a:pPr>
              <a:lnSpc>
                <a:spcPct val="130000"/>
              </a:lnSpc>
            </a:pPr>
            <a:r>
              <a:rPr lang="en-US" sz="2000" b="1" dirty="0">
                <a:solidFill>
                  <a:srgbClr val="A3004C"/>
                </a:solidFill>
                <a:ea typeface="MiSans" pitchFamily="34" charset="-122"/>
                <a:cs typeface="MiSans" pitchFamily="34" charset="-120"/>
              </a:rPr>
              <a:t>Curator</a:t>
            </a:r>
            <a:endParaRPr lang="en-US" sz="2000" dirty="0"/>
          </a:p>
        </p:txBody>
      </p:sp>
      <p:sp>
        <p:nvSpPr>
          <p:cNvPr id="25" name="Text 23"/>
          <p:cNvSpPr/>
          <p:nvPr/>
        </p:nvSpPr>
        <p:spPr>
          <a:xfrm>
            <a:off x="558165" y="4764404"/>
            <a:ext cx="3296227" cy="545477"/>
          </a:xfrm>
          <a:prstGeom prst="rect">
            <a:avLst/>
          </a:prstGeom>
          <a:noFill/>
        </p:spPr>
        <p:txBody>
          <a:bodyPr wrap="square" lIns="0" tIns="0" rIns="0" bIns="0" rtlCol="0" anchor="ctr"/>
          <a:lstStyle/>
          <a:p>
            <a:pPr>
              <a:lnSpc>
                <a:spcPct val="130000"/>
              </a:lnSpc>
            </a:pPr>
            <a:r>
              <a:rPr lang="en-US" sz="1400" dirty="0">
                <a:solidFill>
                  <a:srgbClr val="C6005C"/>
                </a:solidFill>
                <a:ea typeface="MiSans" pitchFamily="34" charset="-122"/>
                <a:cs typeface="MiSans" pitchFamily="34" charset="-120"/>
              </a:rPr>
              <a:t>Converts insights into structured </a:t>
            </a:r>
            <a:r>
              <a:rPr lang="en-US" sz="1400" b="1" dirty="0">
                <a:solidFill>
                  <a:srgbClr val="C6005C"/>
                </a:solidFill>
                <a:ea typeface="MiSans" pitchFamily="34" charset="-122"/>
                <a:cs typeface="MiSans" pitchFamily="34" charset="-120"/>
              </a:rPr>
              <a:t>delta context items</a:t>
            </a:r>
            <a:r>
              <a:rPr lang="en-US" sz="1400" dirty="0">
                <a:solidFill>
                  <a:srgbClr val="C6005C"/>
                </a:solidFill>
                <a:ea typeface="MiSans" pitchFamily="34" charset="-122"/>
                <a:cs typeface="MiSans" pitchFamily="34" charset="-120"/>
              </a:rPr>
              <a:t> and updates playbook</a:t>
            </a:r>
            <a:endParaRPr lang="en-US" sz="1400" dirty="0"/>
          </a:p>
        </p:txBody>
      </p:sp>
      <p:sp>
        <p:nvSpPr>
          <p:cNvPr id="26" name="Shape 24"/>
          <p:cNvSpPr/>
          <p:nvPr/>
        </p:nvSpPr>
        <p:spPr>
          <a:xfrm>
            <a:off x="3949642" y="2021205"/>
            <a:ext cx="7848023" cy="2995341"/>
          </a:xfrm>
          <a:custGeom>
            <a:avLst/>
            <a:gdLst/>
            <a:ahLst/>
            <a:cxnLst/>
            <a:rect l="l" t="t" r="r" b="b"/>
            <a:pathLst>
              <a:path w="5575935" h="4204335">
                <a:moveTo>
                  <a:pt x="114316" y="0"/>
                </a:moveTo>
                <a:lnTo>
                  <a:pt x="5461619" y="0"/>
                </a:lnTo>
                <a:cubicBezTo>
                  <a:pt x="5524754" y="0"/>
                  <a:pt x="5575935" y="51181"/>
                  <a:pt x="5575935" y="114316"/>
                </a:cubicBezTo>
                <a:lnTo>
                  <a:pt x="5575935" y="4090019"/>
                </a:lnTo>
                <a:cubicBezTo>
                  <a:pt x="5575935" y="4153154"/>
                  <a:pt x="5524754" y="4204335"/>
                  <a:pt x="5461619" y="4204335"/>
                </a:cubicBezTo>
                <a:lnTo>
                  <a:pt x="114316" y="4204335"/>
                </a:lnTo>
                <a:cubicBezTo>
                  <a:pt x="51181" y="4204335"/>
                  <a:pt x="0" y="4153154"/>
                  <a:pt x="0" y="4090019"/>
                </a:cubicBezTo>
                <a:lnTo>
                  <a:pt x="0" y="114316"/>
                </a:lnTo>
                <a:cubicBezTo>
                  <a:pt x="0" y="51181"/>
                  <a:pt x="51181" y="0"/>
                  <a:pt x="114316"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zh-CN" altLang="en-US"/>
          </a:p>
        </p:txBody>
      </p:sp>
      <p:sp>
        <p:nvSpPr>
          <p:cNvPr id="27" name="Shape 25"/>
          <p:cNvSpPr/>
          <p:nvPr/>
        </p:nvSpPr>
        <p:spPr>
          <a:xfrm>
            <a:off x="8810625" y="2667000"/>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31" name="Shape 29"/>
          <p:cNvSpPr/>
          <p:nvPr/>
        </p:nvSpPr>
        <p:spPr>
          <a:xfrm>
            <a:off x="7563564" y="5631182"/>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62748E"/>
          </a:solidFill>
        </p:spPr>
        <p:txBody>
          <a:bodyPr/>
          <a:lstStyle/>
          <a:p>
            <a:endParaRPr lang="en-US"/>
          </a:p>
        </p:txBody>
      </p:sp>
      <p:sp>
        <p:nvSpPr>
          <p:cNvPr id="32" name="Text 30"/>
          <p:cNvSpPr/>
          <p:nvPr/>
        </p:nvSpPr>
        <p:spPr>
          <a:xfrm>
            <a:off x="6376988" y="5600700"/>
            <a:ext cx="5467350" cy="190500"/>
          </a:xfrm>
          <a:prstGeom prst="rect">
            <a:avLst/>
          </a:prstGeom>
          <a:noFill/>
        </p:spPr>
        <p:txBody>
          <a:bodyPr wrap="square" lIns="0" tIns="0" rIns="0" bIns="0" rtlCol="0" anchor="ctr"/>
          <a:lstStyle/>
          <a:p>
            <a:pPr algn="ctr">
              <a:lnSpc>
                <a:spcPct val="120000"/>
              </a:lnSpc>
            </a:pPr>
            <a:r>
              <a:rPr lang="en-US" sz="1050" dirty="0">
                <a:solidFill>
                  <a:srgbClr val="62748E"/>
                </a:solidFill>
                <a:latin typeface="MiSans" pitchFamily="34" charset="-122"/>
                <a:ea typeface="MiSans" pitchFamily="34" charset="-122"/>
                <a:cs typeface="MiSans" pitchFamily="34" charset="-120"/>
              </a:rPr>
              <a:t>Figure: ACE p1.png - Framework architecture</a:t>
            </a:r>
            <a:endParaRPr lang="en-US" sz="1600" dirty="0"/>
          </a:p>
        </p:txBody>
      </p:sp>
      <p:sp>
        <p:nvSpPr>
          <p:cNvPr id="33" name="Shape 31"/>
          <p:cNvSpPr/>
          <p:nvPr/>
        </p:nvSpPr>
        <p:spPr>
          <a:xfrm>
            <a:off x="386715" y="5587365"/>
            <a:ext cx="11410950" cy="533400"/>
          </a:xfrm>
          <a:custGeom>
            <a:avLst/>
            <a:gdLst/>
            <a:ahLst/>
            <a:cxnLst/>
            <a:rect l="l" t="t" r="r" b="b"/>
            <a:pathLst>
              <a:path w="11410950" h="533400">
                <a:moveTo>
                  <a:pt x="0" y="0"/>
                </a:moveTo>
                <a:lnTo>
                  <a:pt x="11334748" y="0"/>
                </a:lnTo>
                <a:cubicBezTo>
                  <a:pt x="11376833" y="0"/>
                  <a:pt x="11410950" y="34117"/>
                  <a:pt x="11410950" y="76202"/>
                </a:cubicBezTo>
                <a:lnTo>
                  <a:pt x="11410950" y="457198"/>
                </a:lnTo>
                <a:cubicBezTo>
                  <a:pt x="11410950" y="499283"/>
                  <a:pt x="11376833" y="533400"/>
                  <a:pt x="11334748" y="533400"/>
                </a:cubicBezTo>
                <a:lnTo>
                  <a:pt x="0" y="533400"/>
                </a:lnTo>
                <a:lnTo>
                  <a:pt x="0" y="0"/>
                </a:lnTo>
                <a:close/>
              </a:path>
            </a:pathLst>
          </a:custGeom>
          <a:gradFill flip="none" rotWithShape="1">
            <a:gsLst>
              <a:gs pos="0">
                <a:srgbClr val="EEF2FF"/>
              </a:gs>
              <a:gs pos="100000">
                <a:srgbClr val="FDF2F8"/>
              </a:gs>
            </a:gsLst>
            <a:lin ang="0" scaled="1"/>
          </a:gradFill>
        </p:spPr>
        <p:txBody>
          <a:bodyPr/>
          <a:lstStyle/>
          <a:p>
            <a:endParaRPr lang="zh-CN" altLang="en-US"/>
          </a:p>
        </p:txBody>
      </p:sp>
      <p:sp>
        <p:nvSpPr>
          <p:cNvPr id="34" name="Shape 32"/>
          <p:cNvSpPr/>
          <p:nvPr/>
        </p:nvSpPr>
        <p:spPr>
          <a:xfrm>
            <a:off x="386715" y="5587365"/>
            <a:ext cx="38100" cy="533400"/>
          </a:xfrm>
          <a:custGeom>
            <a:avLst/>
            <a:gdLst/>
            <a:ahLst/>
            <a:cxnLst/>
            <a:rect l="l" t="t" r="r" b="b"/>
            <a:pathLst>
              <a:path w="38100" h="533400">
                <a:moveTo>
                  <a:pt x="0" y="0"/>
                </a:moveTo>
                <a:lnTo>
                  <a:pt x="38100" y="0"/>
                </a:lnTo>
                <a:lnTo>
                  <a:pt x="38100" y="533400"/>
                </a:lnTo>
                <a:lnTo>
                  <a:pt x="0" y="533400"/>
                </a:lnTo>
                <a:lnTo>
                  <a:pt x="0" y="0"/>
                </a:lnTo>
                <a:close/>
              </a:path>
            </a:pathLst>
          </a:custGeom>
          <a:solidFill>
            <a:srgbClr val="AD46FF"/>
          </a:solidFill>
        </p:spPr>
        <p:txBody>
          <a:bodyPr/>
          <a:lstStyle/>
          <a:p>
            <a:endParaRPr lang="en-US"/>
          </a:p>
        </p:txBody>
      </p:sp>
      <p:sp>
        <p:nvSpPr>
          <p:cNvPr id="35" name="Shape 33"/>
          <p:cNvSpPr/>
          <p:nvPr/>
        </p:nvSpPr>
        <p:spPr>
          <a:xfrm>
            <a:off x="567690" y="577786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6E11B0"/>
          </a:solidFill>
        </p:spPr>
        <p:txBody>
          <a:bodyPr/>
          <a:lstStyle/>
          <a:p>
            <a:endParaRPr lang="en-US"/>
          </a:p>
        </p:txBody>
      </p:sp>
      <p:sp>
        <p:nvSpPr>
          <p:cNvPr id="36" name="Text 34"/>
          <p:cNvSpPr/>
          <p:nvPr/>
        </p:nvSpPr>
        <p:spPr>
          <a:xfrm>
            <a:off x="805815" y="5739765"/>
            <a:ext cx="10915650" cy="228600"/>
          </a:xfrm>
          <a:prstGeom prst="rect">
            <a:avLst/>
          </a:prstGeom>
          <a:noFill/>
        </p:spPr>
        <p:txBody>
          <a:bodyPr wrap="square" lIns="0" tIns="0" rIns="0" bIns="0" rtlCol="0" anchor="ctr"/>
          <a:lstStyle/>
          <a:p>
            <a:pPr>
              <a:lnSpc>
                <a:spcPct val="130000"/>
              </a:lnSpc>
            </a:pPr>
            <a:r>
              <a:rPr lang="en-US" sz="2000" b="1" dirty="0">
                <a:solidFill>
                  <a:srgbClr val="6E11B0"/>
                </a:solidFill>
                <a:ea typeface="MiSans" pitchFamily="34" charset="-122"/>
                <a:cs typeface="MiSans" pitchFamily="34" charset="-120"/>
              </a:rPr>
              <a:t>ACE updates context incrementally, not monolithically.</a:t>
            </a:r>
            <a:endParaRPr lang="en-US" sz="2800" dirty="0"/>
          </a:p>
        </p:txBody>
      </p:sp>
      <p:pic>
        <p:nvPicPr>
          <p:cNvPr id="3" name="图片 2">
            <a:extLst>
              <a:ext uri="{FF2B5EF4-FFF2-40B4-BE49-F238E27FC236}">
                <a16:creationId xmlns:a16="http://schemas.microsoft.com/office/drawing/2014/main" id="{3A134068-6E1D-4504-7AB4-7EDC40C16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0653" y="2248253"/>
            <a:ext cx="7720177" cy="2567031"/>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2" y="381000"/>
            <a:ext cx="9793198" cy="342900"/>
          </a:xfrm>
          <a:prstGeom prst="rect">
            <a:avLst/>
          </a:prstGeom>
          <a:noFill/>
        </p:spPr>
        <p:txBody>
          <a:bodyPr wrap="square" lIns="0" tIns="0" rIns="0" bIns="0" rtlCol="0" anchor="ctr"/>
          <a:lstStyle/>
          <a:p>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ACE Builds a Structured Playbook</a:t>
            </a:r>
          </a:p>
        </p:txBody>
      </p:sp>
      <p:sp>
        <p:nvSpPr>
          <p:cNvPr id="5" name="Text 3"/>
          <p:cNvSpPr/>
          <p:nvPr/>
        </p:nvSpPr>
        <p:spPr>
          <a:xfrm>
            <a:off x="394335" y="1104899"/>
            <a:ext cx="11515725"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Not raw history, but reusable procedural knowledge</a:t>
            </a:r>
          </a:p>
        </p:txBody>
      </p:sp>
      <p:sp>
        <p:nvSpPr>
          <p:cNvPr id="6" name="Shape 4"/>
          <p:cNvSpPr/>
          <p:nvPr/>
        </p:nvSpPr>
        <p:spPr>
          <a:xfrm>
            <a:off x="381000" y="1575435"/>
            <a:ext cx="5581650"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0FDF4"/>
          </a:solidFill>
        </p:spPr>
        <p:txBody>
          <a:bodyPr/>
          <a:lstStyle/>
          <a:p>
            <a:endParaRPr lang="zh-CN" altLang="en-US"/>
          </a:p>
        </p:txBody>
      </p:sp>
      <p:sp>
        <p:nvSpPr>
          <p:cNvPr id="7" name="Shape 5"/>
          <p:cNvSpPr/>
          <p:nvPr/>
        </p:nvSpPr>
        <p:spPr>
          <a:xfrm>
            <a:off x="381000" y="1575435"/>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00C950"/>
          </a:solidFill>
        </p:spPr>
        <p:txBody>
          <a:bodyPr/>
          <a:lstStyle/>
          <a:p>
            <a:endParaRPr lang="en-US"/>
          </a:p>
        </p:txBody>
      </p:sp>
      <p:sp>
        <p:nvSpPr>
          <p:cNvPr id="8" name="Shape 6"/>
          <p:cNvSpPr/>
          <p:nvPr/>
        </p:nvSpPr>
        <p:spPr>
          <a:xfrm>
            <a:off x="581025" y="1765935"/>
            <a:ext cx="133350" cy="152400"/>
          </a:xfrm>
          <a:custGeom>
            <a:avLst/>
            <a:gdLst/>
            <a:ahLst/>
            <a:cxnLst/>
            <a:rect l="l" t="t" r="r" b="b"/>
            <a:pathLst>
              <a:path w="133350" h="152400">
                <a:moveTo>
                  <a:pt x="114300" y="152400"/>
                </a:moveTo>
                <a:lnTo>
                  <a:pt x="28575" y="152400"/>
                </a:lnTo>
                <a:cubicBezTo>
                  <a:pt x="12799" y="152400"/>
                  <a:pt x="0" y="139601"/>
                  <a:pt x="0" y="123825"/>
                </a:cubicBezTo>
                <a:lnTo>
                  <a:pt x="0" y="28575"/>
                </a:lnTo>
                <a:cubicBezTo>
                  <a:pt x="0" y="12799"/>
                  <a:pt x="12799" y="0"/>
                  <a:pt x="28575" y="0"/>
                </a:cubicBezTo>
                <a:lnTo>
                  <a:pt x="119062" y="0"/>
                </a:lnTo>
                <a:cubicBezTo>
                  <a:pt x="126950" y="0"/>
                  <a:pt x="133350" y="6400"/>
                  <a:pt x="133350" y="14288"/>
                </a:cubicBezTo>
                <a:lnTo>
                  <a:pt x="133350" y="100013"/>
                </a:lnTo>
                <a:cubicBezTo>
                  <a:pt x="133350" y="106234"/>
                  <a:pt x="129361" y="111532"/>
                  <a:pt x="123825" y="113496"/>
                </a:cubicBezTo>
                <a:lnTo>
                  <a:pt x="123825" y="133350"/>
                </a:lnTo>
                <a:cubicBezTo>
                  <a:pt x="129094" y="133350"/>
                  <a:pt x="133350" y="137606"/>
                  <a:pt x="133350" y="142875"/>
                </a:cubicBezTo>
                <a:cubicBezTo>
                  <a:pt x="133350" y="148144"/>
                  <a:pt x="129094" y="152400"/>
                  <a:pt x="123825" y="152400"/>
                </a:cubicBezTo>
                <a:lnTo>
                  <a:pt x="114300" y="152400"/>
                </a:lnTo>
                <a:close/>
                <a:moveTo>
                  <a:pt x="28575" y="114300"/>
                </a:moveTo>
                <a:cubicBezTo>
                  <a:pt x="23306" y="114300"/>
                  <a:pt x="19050" y="118556"/>
                  <a:pt x="19050" y="123825"/>
                </a:cubicBezTo>
                <a:cubicBezTo>
                  <a:pt x="19050" y="129094"/>
                  <a:pt x="23306" y="133350"/>
                  <a:pt x="28575" y="133350"/>
                </a:cubicBezTo>
                <a:lnTo>
                  <a:pt x="104775" y="133350"/>
                </a:lnTo>
                <a:lnTo>
                  <a:pt x="104775" y="114300"/>
                </a:lnTo>
                <a:lnTo>
                  <a:pt x="28575" y="114300"/>
                </a:lnTo>
                <a:close/>
                <a:moveTo>
                  <a:pt x="38100" y="45244"/>
                </a:moveTo>
                <a:cubicBezTo>
                  <a:pt x="38100" y="49203"/>
                  <a:pt x="41285" y="52388"/>
                  <a:pt x="45244" y="52388"/>
                </a:cubicBezTo>
                <a:lnTo>
                  <a:pt x="97631" y="52388"/>
                </a:lnTo>
                <a:cubicBezTo>
                  <a:pt x="101590" y="52388"/>
                  <a:pt x="104775" y="49203"/>
                  <a:pt x="104775" y="45244"/>
                </a:cubicBezTo>
                <a:cubicBezTo>
                  <a:pt x="104775" y="41285"/>
                  <a:pt x="101590" y="38100"/>
                  <a:pt x="97631" y="38100"/>
                </a:cubicBezTo>
                <a:lnTo>
                  <a:pt x="45244" y="38100"/>
                </a:lnTo>
                <a:cubicBezTo>
                  <a:pt x="41285" y="38100"/>
                  <a:pt x="38100" y="41285"/>
                  <a:pt x="38100" y="45244"/>
                </a:cubicBezTo>
                <a:close/>
                <a:moveTo>
                  <a:pt x="45244" y="66675"/>
                </a:moveTo>
                <a:cubicBezTo>
                  <a:pt x="41285" y="66675"/>
                  <a:pt x="38100" y="69860"/>
                  <a:pt x="38100" y="73819"/>
                </a:cubicBezTo>
                <a:cubicBezTo>
                  <a:pt x="38100" y="77778"/>
                  <a:pt x="41285" y="80962"/>
                  <a:pt x="45244" y="80962"/>
                </a:cubicBezTo>
                <a:lnTo>
                  <a:pt x="97631" y="80962"/>
                </a:lnTo>
                <a:cubicBezTo>
                  <a:pt x="101590" y="80962"/>
                  <a:pt x="104775" y="77778"/>
                  <a:pt x="104775" y="73819"/>
                </a:cubicBezTo>
                <a:cubicBezTo>
                  <a:pt x="104775" y="69860"/>
                  <a:pt x="101590" y="66675"/>
                  <a:pt x="97631" y="66675"/>
                </a:cubicBezTo>
                <a:lnTo>
                  <a:pt x="45244" y="66675"/>
                </a:lnTo>
                <a:close/>
              </a:path>
            </a:pathLst>
          </a:custGeom>
          <a:solidFill>
            <a:srgbClr val="016630"/>
          </a:solidFill>
        </p:spPr>
        <p:txBody>
          <a:bodyPr/>
          <a:lstStyle/>
          <a:p>
            <a:endParaRPr lang="en-US"/>
          </a:p>
        </p:txBody>
      </p:sp>
      <p:sp>
        <p:nvSpPr>
          <p:cNvPr id="9" name="Text 7"/>
          <p:cNvSpPr/>
          <p:nvPr/>
        </p:nvSpPr>
        <p:spPr>
          <a:xfrm>
            <a:off x="800100" y="1727835"/>
            <a:ext cx="5086350" cy="228600"/>
          </a:xfrm>
          <a:prstGeom prst="rect">
            <a:avLst/>
          </a:prstGeom>
          <a:noFill/>
        </p:spPr>
        <p:txBody>
          <a:bodyPr wrap="square" lIns="0" tIns="0" rIns="0" bIns="0" rtlCol="0" anchor="ctr"/>
          <a:lstStyle/>
          <a:p>
            <a:pPr>
              <a:lnSpc>
                <a:spcPct val="130000"/>
              </a:lnSpc>
            </a:pPr>
            <a:r>
              <a:rPr lang="en-US" sz="2000" b="1" dirty="0">
                <a:solidFill>
                  <a:srgbClr val="016630"/>
                </a:solidFill>
                <a:ea typeface="MiSans" pitchFamily="34" charset="-122"/>
                <a:cs typeface="MiSans" pitchFamily="34" charset="-120"/>
              </a:rPr>
              <a:t>What ACE Produces</a:t>
            </a:r>
            <a:endParaRPr lang="en-US" sz="2800" dirty="0"/>
          </a:p>
        </p:txBody>
      </p:sp>
      <p:sp>
        <p:nvSpPr>
          <p:cNvPr id="10" name="Text 8"/>
          <p:cNvSpPr/>
          <p:nvPr/>
        </p:nvSpPr>
        <p:spPr>
          <a:xfrm>
            <a:off x="552450" y="2032635"/>
            <a:ext cx="5334000" cy="457200"/>
          </a:xfrm>
          <a:prstGeom prst="rect">
            <a:avLst/>
          </a:prstGeom>
          <a:noFill/>
        </p:spPr>
        <p:txBody>
          <a:bodyPr wrap="square" lIns="0" tIns="0" rIns="0" bIns="0" rtlCol="0" anchor="ctr"/>
          <a:lstStyle/>
          <a:p>
            <a:pPr>
              <a:lnSpc>
                <a:spcPct val="130000"/>
              </a:lnSpc>
            </a:pPr>
            <a:r>
              <a:rPr lang="en-US" sz="1400" dirty="0">
                <a:solidFill>
                  <a:srgbClr val="008236"/>
                </a:solidFill>
                <a:ea typeface="MiSans" pitchFamily="34" charset="-122"/>
                <a:cs typeface="MiSans" pitchFamily="34" charset="-120"/>
              </a:rPr>
              <a:t>A </a:t>
            </a:r>
            <a:r>
              <a:rPr lang="en-US" sz="1400" b="1" dirty="0">
                <a:solidFill>
                  <a:srgbClr val="008236"/>
                </a:solidFill>
                <a:ea typeface="MiSans" pitchFamily="34" charset="-122"/>
                <a:cs typeface="MiSans" pitchFamily="34" charset="-120"/>
              </a:rPr>
              <a:t>structured playbook</a:t>
            </a:r>
            <a:r>
              <a:rPr lang="en-US" sz="1400" dirty="0">
                <a:solidFill>
                  <a:srgbClr val="008236"/>
                </a:solidFill>
                <a:ea typeface="MiSans" pitchFamily="34" charset="-122"/>
                <a:cs typeface="MiSans" pitchFamily="34" charset="-120"/>
              </a:rPr>
              <a:t> containing strategies, rules, templates, and troubleshooting advice—not just raw conversation history.</a:t>
            </a:r>
            <a:endParaRPr lang="en-US" dirty="0"/>
          </a:p>
        </p:txBody>
      </p:sp>
      <p:sp>
        <p:nvSpPr>
          <p:cNvPr id="11" name="Shape 9"/>
          <p:cNvSpPr/>
          <p:nvPr/>
        </p:nvSpPr>
        <p:spPr>
          <a:xfrm>
            <a:off x="361950" y="2857501"/>
            <a:ext cx="5600700"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EEF2FF"/>
          </a:solidFill>
        </p:spPr>
        <p:txBody>
          <a:bodyPr/>
          <a:lstStyle/>
          <a:p>
            <a:endParaRPr lang="en-US"/>
          </a:p>
        </p:txBody>
      </p:sp>
      <p:sp>
        <p:nvSpPr>
          <p:cNvPr id="12" name="Shape 10"/>
          <p:cNvSpPr/>
          <p:nvPr/>
        </p:nvSpPr>
        <p:spPr>
          <a:xfrm>
            <a:off x="500063" y="3086101"/>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4F39F6"/>
          </a:solidFill>
        </p:spPr>
        <p:txBody>
          <a:bodyPr/>
          <a:lstStyle/>
          <a:p>
            <a:endParaRPr lang="en-US"/>
          </a:p>
        </p:txBody>
      </p:sp>
      <p:sp>
        <p:nvSpPr>
          <p:cNvPr id="13" name="Text 11"/>
          <p:cNvSpPr/>
          <p:nvPr/>
        </p:nvSpPr>
        <p:spPr>
          <a:xfrm>
            <a:off x="828674" y="2947035"/>
            <a:ext cx="3078323" cy="253366"/>
          </a:xfrm>
          <a:prstGeom prst="rect">
            <a:avLst/>
          </a:prstGeom>
          <a:noFill/>
        </p:spPr>
        <p:txBody>
          <a:bodyPr wrap="square" lIns="0" tIns="0" rIns="0" bIns="0" rtlCol="0" anchor="ctr"/>
          <a:lstStyle/>
          <a:p>
            <a:pPr>
              <a:lnSpc>
                <a:spcPct val="130000"/>
              </a:lnSpc>
            </a:pPr>
            <a:r>
              <a:rPr lang="en-US" sz="2000" b="1" dirty="0">
                <a:solidFill>
                  <a:srgbClr val="1D293D"/>
                </a:solidFill>
                <a:ea typeface="MiSans" pitchFamily="34" charset="-122"/>
                <a:cs typeface="MiSans" pitchFamily="34" charset="-120"/>
              </a:rPr>
              <a:t>Strategies &amp; Hard Rules</a:t>
            </a:r>
            <a:endParaRPr lang="en-US" sz="2000" dirty="0"/>
          </a:p>
        </p:txBody>
      </p:sp>
      <p:sp>
        <p:nvSpPr>
          <p:cNvPr id="14" name="Text 12"/>
          <p:cNvSpPr/>
          <p:nvPr/>
        </p:nvSpPr>
        <p:spPr>
          <a:xfrm>
            <a:off x="828675" y="3200401"/>
            <a:ext cx="3216433" cy="190500"/>
          </a:xfrm>
          <a:prstGeom prst="rect">
            <a:avLst/>
          </a:prstGeom>
          <a:noFill/>
        </p:spPr>
        <p:txBody>
          <a:bodyPr wrap="square" lIns="0" tIns="0" rIns="0" bIns="0" rtlCol="0" anchor="ctr"/>
          <a:lstStyle/>
          <a:p>
            <a:pPr>
              <a:lnSpc>
                <a:spcPct val="120000"/>
              </a:lnSpc>
            </a:pPr>
            <a:r>
              <a:rPr lang="en-US" sz="1400" dirty="0">
                <a:solidFill>
                  <a:srgbClr val="45556C"/>
                </a:solidFill>
                <a:ea typeface="MiSans" pitchFamily="34" charset="-122"/>
                <a:cs typeface="MiSans" pitchFamily="34" charset="-120"/>
              </a:rPr>
              <a:t>Procedural guidelines for task execution</a:t>
            </a:r>
            <a:endParaRPr lang="en-US" sz="2400" dirty="0"/>
          </a:p>
        </p:txBody>
      </p:sp>
      <p:sp>
        <p:nvSpPr>
          <p:cNvPr id="15" name="Shape 13"/>
          <p:cNvSpPr/>
          <p:nvPr/>
        </p:nvSpPr>
        <p:spPr>
          <a:xfrm>
            <a:off x="361950" y="3728084"/>
            <a:ext cx="5600700"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FAF5FF"/>
          </a:solidFill>
        </p:spPr>
        <p:txBody>
          <a:bodyPr/>
          <a:lstStyle/>
          <a:p>
            <a:endParaRPr lang="en-US"/>
          </a:p>
        </p:txBody>
      </p:sp>
      <p:sp>
        <p:nvSpPr>
          <p:cNvPr id="16" name="Shape 14"/>
          <p:cNvSpPr/>
          <p:nvPr/>
        </p:nvSpPr>
        <p:spPr>
          <a:xfrm>
            <a:off x="488156" y="3956684"/>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9810FA"/>
          </a:solidFill>
        </p:spPr>
        <p:txBody>
          <a:bodyPr/>
          <a:lstStyle/>
          <a:p>
            <a:endParaRPr lang="en-US"/>
          </a:p>
        </p:txBody>
      </p:sp>
      <p:sp>
        <p:nvSpPr>
          <p:cNvPr id="17" name="Text 15"/>
          <p:cNvSpPr/>
          <p:nvPr/>
        </p:nvSpPr>
        <p:spPr>
          <a:xfrm>
            <a:off x="828675" y="3842384"/>
            <a:ext cx="3141240" cy="228600"/>
          </a:xfrm>
          <a:prstGeom prst="rect">
            <a:avLst/>
          </a:prstGeom>
          <a:noFill/>
        </p:spPr>
        <p:txBody>
          <a:bodyPr wrap="square" lIns="0" tIns="0" rIns="0" bIns="0" rtlCol="0" anchor="ctr"/>
          <a:lstStyle/>
          <a:p>
            <a:pPr>
              <a:lnSpc>
                <a:spcPct val="130000"/>
              </a:lnSpc>
            </a:pPr>
            <a:r>
              <a:rPr lang="en-US" sz="2000" b="1" dirty="0">
                <a:solidFill>
                  <a:srgbClr val="1D293D"/>
                </a:solidFill>
                <a:ea typeface="MiSans" pitchFamily="34" charset="-122"/>
                <a:cs typeface="MiSans" pitchFamily="34" charset="-120"/>
              </a:rPr>
              <a:t>Code Snippets &amp; Templates</a:t>
            </a:r>
            <a:endParaRPr lang="en-US" sz="2000" dirty="0"/>
          </a:p>
        </p:txBody>
      </p:sp>
      <p:sp>
        <p:nvSpPr>
          <p:cNvPr id="18" name="Text 16"/>
          <p:cNvSpPr/>
          <p:nvPr/>
        </p:nvSpPr>
        <p:spPr>
          <a:xfrm>
            <a:off x="828675" y="4070984"/>
            <a:ext cx="3355159" cy="190500"/>
          </a:xfrm>
          <a:prstGeom prst="rect">
            <a:avLst/>
          </a:prstGeom>
          <a:noFill/>
        </p:spPr>
        <p:txBody>
          <a:bodyPr wrap="square" lIns="0" tIns="0" rIns="0" bIns="0" rtlCol="0" anchor="ctr"/>
          <a:lstStyle/>
          <a:p>
            <a:pPr>
              <a:lnSpc>
                <a:spcPct val="120000"/>
              </a:lnSpc>
            </a:pPr>
            <a:r>
              <a:rPr lang="en-US" sz="1400" dirty="0">
                <a:solidFill>
                  <a:srgbClr val="45556C"/>
                </a:solidFill>
                <a:ea typeface="MiSans" pitchFamily="34" charset="-122"/>
                <a:cs typeface="MiSans" pitchFamily="34" charset="-120"/>
              </a:rPr>
              <a:t>Reusable components for common tasks</a:t>
            </a:r>
            <a:endParaRPr lang="en-US" sz="1400" dirty="0"/>
          </a:p>
        </p:txBody>
      </p:sp>
      <p:sp>
        <p:nvSpPr>
          <p:cNvPr id="19" name="Shape 17"/>
          <p:cNvSpPr/>
          <p:nvPr/>
        </p:nvSpPr>
        <p:spPr>
          <a:xfrm>
            <a:off x="381000" y="4591050"/>
            <a:ext cx="5600700"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FDF2F8"/>
          </a:solidFill>
        </p:spPr>
        <p:txBody>
          <a:bodyPr/>
          <a:lstStyle/>
          <a:p>
            <a:endParaRPr lang="en-US"/>
          </a:p>
        </p:txBody>
      </p:sp>
      <p:sp>
        <p:nvSpPr>
          <p:cNvPr id="20" name="Shape 18"/>
          <p:cNvSpPr/>
          <p:nvPr/>
        </p:nvSpPr>
        <p:spPr>
          <a:xfrm>
            <a:off x="519113" y="481965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E60076"/>
          </a:solidFill>
        </p:spPr>
        <p:txBody>
          <a:bodyPr/>
          <a:lstStyle/>
          <a:p>
            <a:endParaRPr lang="en-US"/>
          </a:p>
        </p:txBody>
      </p:sp>
      <p:sp>
        <p:nvSpPr>
          <p:cNvPr id="21" name="Text 19"/>
          <p:cNvSpPr/>
          <p:nvPr/>
        </p:nvSpPr>
        <p:spPr>
          <a:xfrm>
            <a:off x="847725" y="4705350"/>
            <a:ext cx="2986044" cy="228600"/>
          </a:xfrm>
          <a:prstGeom prst="rect">
            <a:avLst/>
          </a:prstGeom>
          <a:noFill/>
        </p:spPr>
        <p:txBody>
          <a:bodyPr wrap="square" lIns="0" tIns="0" rIns="0" bIns="0" rtlCol="0" anchor="ctr"/>
          <a:lstStyle/>
          <a:p>
            <a:pPr>
              <a:lnSpc>
                <a:spcPct val="130000"/>
              </a:lnSpc>
            </a:pPr>
            <a:r>
              <a:rPr lang="en-US" sz="2000" b="1" dirty="0">
                <a:solidFill>
                  <a:srgbClr val="1D293D"/>
                </a:solidFill>
                <a:ea typeface="MiSans" pitchFamily="34" charset="-122"/>
                <a:cs typeface="MiSans" pitchFamily="34" charset="-120"/>
              </a:rPr>
              <a:t>Troubleshooting &amp; Pitfalls</a:t>
            </a:r>
            <a:endParaRPr lang="en-US" sz="2000" dirty="0"/>
          </a:p>
        </p:txBody>
      </p:sp>
      <p:sp>
        <p:nvSpPr>
          <p:cNvPr id="22" name="Text 20"/>
          <p:cNvSpPr/>
          <p:nvPr/>
        </p:nvSpPr>
        <p:spPr>
          <a:xfrm>
            <a:off x="847725" y="4933950"/>
            <a:ext cx="3200899" cy="190500"/>
          </a:xfrm>
          <a:prstGeom prst="rect">
            <a:avLst/>
          </a:prstGeom>
          <a:noFill/>
        </p:spPr>
        <p:txBody>
          <a:bodyPr wrap="square" lIns="0" tIns="0" rIns="0" bIns="0" rtlCol="0" anchor="ctr"/>
          <a:lstStyle/>
          <a:p>
            <a:pPr>
              <a:lnSpc>
                <a:spcPct val="120000"/>
              </a:lnSpc>
            </a:pPr>
            <a:r>
              <a:rPr lang="en-US" sz="1400" dirty="0">
                <a:solidFill>
                  <a:srgbClr val="45556C"/>
                </a:solidFill>
                <a:ea typeface="MiSans" pitchFamily="34" charset="-122"/>
                <a:cs typeface="MiSans" pitchFamily="34" charset="-120"/>
              </a:rPr>
              <a:t>Common errors and how to avoid them</a:t>
            </a:r>
            <a:endParaRPr lang="en-US" sz="1400" dirty="0"/>
          </a:p>
        </p:txBody>
      </p:sp>
      <p:sp>
        <p:nvSpPr>
          <p:cNvPr id="23" name="Shape 21"/>
          <p:cNvSpPr/>
          <p:nvPr/>
        </p:nvSpPr>
        <p:spPr>
          <a:xfrm>
            <a:off x="6221730" y="1306830"/>
            <a:ext cx="5575935" cy="4204335"/>
          </a:xfrm>
          <a:custGeom>
            <a:avLst/>
            <a:gdLst/>
            <a:ahLst/>
            <a:cxnLst/>
            <a:rect l="l" t="t" r="r" b="b"/>
            <a:pathLst>
              <a:path w="5575935" h="4204335">
                <a:moveTo>
                  <a:pt x="114316" y="0"/>
                </a:moveTo>
                <a:lnTo>
                  <a:pt x="5461619" y="0"/>
                </a:lnTo>
                <a:cubicBezTo>
                  <a:pt x="5524754" y="0"/>
                  <a:pt x="5575935" y="51181"/>
                  <a:pt x="5575935" y="114316"/>
                </a:cubicBezTo>
                <a:lnTo>
                  <a:pt x="5575935" y="4090019"/>
                </a:lnTo>
                <a:cubicBezTo>
                  <a:pt x="5575935" y="4153154"/>
                  <a:pt x="5524754" y="4204335"/>
                  <a:pt x="5461619" y="4204335"/>
                </a:cubicBezTo>
                <a:lnTo>
                  <a:pt x="114316" y="4204335"/>
                </a:lnTo>
                <a:cubicBezTo>
                  <a:pt x="51181" y="4204335"/>
                  <a:pt x="0" y="4153154"/>
                  <a:pt x="0" y="4090019"/>
                </a:cubicBezTo>
                <a:lnTo>
                  <a:pt x="0" y="114316"/>
                </a:lnTo>
                <a:cubicBezTo>
                  <a:pt x="0" y="51181"/>
                  <a:pt x="51181" y="0"/>
                  <a:pt x="114316"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en-US"/>
          </a:p>
        </p:txBody>
      </p:sp>
      <p:sp>
        <p:nvSpPr>
          <p:cNvPr id="24" name="Shape 22"/>
          <p:cNvSpPr/>
          <p:nvPr/>
        </p:nvSpPr>
        <p:spPr>
          <a:xfrm>
            <a:off x="8810625" y="2667000"/>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25" name="Text 23"/>
          <p:cNvSpPr/>
          <p:nvPr/>
        </p:nvSpPr>
        <p:spPr>
          <a:xfrm>
            <a:off x="8259246" y="3276600"/>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26" name="Text 24"/>
          <p:cNvSpPr/>
          <p:nvPr/>
        </p:nvSpPr>
        <p:spPr>
          <a:xfrm>
            <a:off x="7600355" y="3619500"/>
            <a:ext cx="2905125"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Generated ACE Playbook Example</a:t>
            </a:r>
            <a:endParaRPr lang="en-US" sz="1600" dirty="0"/>
          </a:p>
        </p:txBody>
      </p:sp>
      <p:sp>
        <p:nvSpPr>
          <p:cNvPr id="27" name="Text 25"/>
          <p:cNvSpPr/>
          <p:nvPr/>
        </p:nvSpPr>
        <p:spPr>
          <a:xfrm>
            <a:off x="7317581" y="3962400"/>
            <a:ext cx="3448050"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AppWorld case showing structured playbook content</a:t>
            </a:r>
            <a:endParaRPr lang="en-US" sz="1600" dirty="0"/>
          </a:p>
        </p:txBody>
      </p:sp>
      <p:sp>
        <p:nvSpPr>
          <p:cNvPr id="28" name="Shape 26"/>
          <p:cNvSpPr/>
          <p:nvPr/>
        </p:nvSpPr>
        <p:spPr>
          <a:xfrm>
            <a:off x="7704297" y="5631182"/>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62748E"/>
          </a:solidFill>
        </p:spPr>
        <p:txBody>
          <a:bodyPr/>
          <a:lstStyle/>
          <a:p>
            <a:endParaRPr lang="en-US"/>
          </a:p>
        </p:txBody>
      </p:sp>
      <p:sp>
        <p:nvSpPr>
          <p:cNvPr id="29" name="Text 27"/>
          <p:cNvSpPr/>
          <p:nvPr/>
        </p:nvSpPr>
        <p:spPr>
          <a:xfrm>
            <a:off x="6376988" y="5600700"/>
            <a:ext cx="5467350" cy="190500"/>
          </a:xfrm>
          <a:prstGeom prst="rect">
            <a:avLst/>
          </a:prstGeom>
          <a:noFill/>
        </p:spPr>
        <p:txBody>
          <a:bodyPr wrap="square" lIns="0" tIns="0" rIns="0" bIns="0" rtlCol="0" anchor="ctr"/>
          <a:lstStyle/>
          <a:p>
            <a:pPr algn="ctr">
              <a:lnSpc>
                <a:spcPct val="120000"/>
              </a:lnSpc>
            </a:pPr>
            <a:r>
              <a:rPr lang="en-US" sz="1050" dirty="0">
                <a:solidFill>
                  <a:srgbClr val="62748E"/>
                </a:solidFill>
                <a:latin typeface="MiSans" pitchFamily="34" charset="-122"/>
                <a:ea typeface="MiSans" pitchFamily="34" charset="-122"/>
                <a:cs typeface="MiSans" pitchFamily="34" charset="-120"/>
              </a:rPr>
              <a:t>Figure: ACE p3.jpeg - Playbook example</a:t>
            </a:r>
            <a:endParaRPr lang="en-US" sz="1600" dirty="0"/>
          </a:p>
        </p:txBody>
      </p:sp>
      <p:sp>
        <p:nvSpPr>
          <p:cNvPr id="30" name="Shape 28"/>
          <p:cNvSpPr/>
          <p:nvPr/>
        </p:nvSpPr>
        <p:spPr>
          <a:xfrm>
            <a:off x="433388" y="5570220"/>
            <a:ext cx="11410950" cy="533400"/>
          </a:xfrm>
          <a:custGeom>
            <a:avLst/>
            <a:gdLst/>
            <a:ahLst/>
            <a:cxnLst/>
            <a:rect l="l" t="t" r="r" b="b"/>
            <a:pathLst>
              <a:path w="11410950" h="533400">
                <a:moveTo>
                  <a:pt x="0" y="0"/>
                </a:moveTo>
                <a:lnTo>
                  <a:pt x="11334748" y="0"/>
                </a:lnTo>
                <a:cubicBezTo>
                  <a:pt x="11376833" y="0"/>
                  <a:pt x="11410950" y="34117"/>
                  <a:pt x="11410950" y="76202"/>
                </a:cubicBezTo>
                <a:lnTo>
                  <a:pt x="11410950" y="457198"/>
                </a:lnTo>
                <a:cubicBezTo>
                  <a:pt x="11410950" y="499283"/>
                  <a:pt x="11376833" y="533400"/>
                  <a:pt x="11334748" y="533400"/>
                </a:cubicBezTo>
                <a:lnTo>
                  <a:pt x="0" y="533400"/>
                </a:lnTo>
                <a:lnTo>
                  <a:pt x="0" y="0"/>
                </a:lnTo>
                <a:close/>
              </a:path>
            </a:pathLst>
          </a:custGeom>
          <a:solidFill>
            <a:srgbClr val="FAF5FF"/>
          </a:solidFill>
        </p:spPr>
        <p:txBody>
          <a:bodyPr/>
          <a:lstStyle/>
          <a:p>
            <a:endParaRPr lang="zh-CN" altLang="en-US"/>
          </a:p>
        </p:txBody>
      </p:sp>
      <p:sp>
        <p:nvSpPr>
          <p:cNvPr id="31" name="Shape 29"/>
          <p:cNvSpPr/>
          <p:nvPr/>
        </p:nvSpPr>
        <p:spPr>
          <a:xfrm>
            <a:off x="433388" y="5570220"/>
            <a:ext cx="38100" cy="533400"/>
          </a:xfrm>
          <a:custGeom>
            <a:avLst/>
            <a:gdLst/>
            <a:ahLst/>
            <a:cxnLst/>
            <a:rect l="l" t="t" r="r" b="b"/>
            <a:pathLst>
              <a:path w="38100" h="533400">
                <a:moveTo>
                  <a:pt x="0" y="0"/>
                </a:moveTo>
                <a:lnTo>
                  <a:pt x="38100" y="0"/>
                </a:lnTo>
                <a:lnTo>
                  <a:pt x="38100" y="533400"/>
                </a:lnTo>
                <a:lnTo>
                  <a:pt x="0" y="533400"/>
                </a:lnTo>
                <a:lnTo>
                  <a:pt x="0" y="0"/>
                </a:lnTo>
                <a:close/>
              </a:path>
            </a:pathLst>
          </a:custGeom>
          <a:solidFill>
            <a:srgbClr val="AD46FF"/>
          </a:solidFill>
        </p:spPr>
        <p:txBody>
          <a:bodyPr/>
          <a:lstStyle/>
          <a:p>
            <a:endParaRPr lang="en-US"/>
          </a:p>
        </p:txBody>
      </p:sp>
      <p:sp>
        <p:nvSpPr>
          <p:cNvPr id="32" name="Shape 30"/>
          <p:cNvSpPr/>
          <p:nvPr/>
        </p:nvSpPr>
        <p:spPr>
          <a:xfrm>
            <a:off x="614363" y="576072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6E11B0"/>
          </a:solidFill>
        </p:spPr>
        <p:txBody>
          <a:bodyPr/>
          <a:lstStyle/>
          <a:p>
            <a:endParaRPr lang="en-US"/>
          </a:p>
        </p:txBody>
      </p:sp>
      <p:sp>
        <p:nvSpPr>
          <p:cNvPr id="33" name="Text 31"/>
          <p:cNvSpPr/>
          <p:nvPr/>
        </p:nvSpPr>
        <p:spPr>
          <a:xfrm>
            <a:off x="852488" y="5722620"/>
            <a:ext cx="10915650" cy="228600"/>
          </a:xfrm>
          <a:prstGeom prst="rect">
            <a:avLst/>
          </a:prstGeom>
          <a:noFill/>
        </p:spPr>
        <p:txBody>
          <a:bodyPr wrap="square" lIns="0" tIns="0" rIns="0" bIns="0" rtlCol="0" anchor="ctr"/>
          <a:lstStyle/>
          <a:p>
            <a:pPr>
              <a:lnSpc>
                <a:spcPct val="130000"/>
              </a:lnSpc>
            </a:pPr>
            <a:r>
              <a:rPr lang="en-US" sz="2000" b="1" dirty="0">
                <a:solidFill>
                  <a:srgbClr val="6E11B0"/>
                </a:solidFill>
                <a:ea typeface="MiSans" pitchFamily="34" charset="-122"/>
                <a:cs typeface="MiSans" pitchFamily="34" charset="-120"/>
              </a:rPr>
              <a:t>ACE turns experience into reusable procedural context.</a:t>
            </a:r>
            <a:endParaRPr lang="en-US" sz="2800" dirty="0"/>
          </a:p>
        </p:txBody>
      </p:sp>
      <p:pic>
        <p:nvPicPr>
          <p:cNvPr id="3" name="图片 2">
            <a:extLst>
              <a:ext uri="{FF2B5EF4-FFF2-40B4-BE49-F238E27FC236}">
                <a16:creationId xmlns:a16="http://schemas.microsoft.com/office/drawing/2014/main" id="{965FA93B-9AD9-D511-F096-6BBA315879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0312" y="1346834"/>
            <a:ext cx="5426747" cy="410146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2" y="381000"/>
            <a:ext cx="11097458" cy="342900"/>
          </a:xfrm>
          <a:prstGeom prst="rect">
            <a:avLst/>
          </a:prstGeom>
          <a:noFill/>
        </p:spPr>
        <p:txBody>
          <a:bodyPr wrap="square" lIns="0" tIns="0" rIns="0" bIns="0" rtlCol="0" anchor="ctr"/>
          <a:lstStyle/>
          <a:p>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ACE Improves Context, Not Yet the Policy</a:t>
            </a:r>
          </a:p>
        </p:txBody>
      </p:sp>
      <p:sp>
        <p:nvSpPr>
          <p:cNvPr id="5" name="Text 3"/>
          <p:cNvSpPr/>
          <p:nvPr/>
        </p:nvSpPr>
        <p:spPr>
          <a:xfrm>
            <a:off x="375285" y="1193483"/>
            <a:ext cx="5829301"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Strong empirical gains across agent and reasoning tasks</a:t>
            </a:r>
          </a:p>
        </p:txBody>
      </p:sp>
      <p:sp>
        <p:nvSpPr>
          <p:cNvPr id="6" name="Shape 4"/>
          <p:cNvSpPr/>
          <p:nvPr/>
        </p:nvSpPr>
        <p:spPr>
          <a:xfrm>
            <a:off x="394335" y="1860492"/>
            <a:ext cx="5581650"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0FDF4"/>
          </a:solidFill>
        </p:spPr>
        <p:txBody>
          <a:bodyPr/>
          <a:lstStyle/>
          <a:p>
            <a:endParaRPr lang="zh-CN" altLang="en-US"/>
          </a:p>
        </p:txBody>
      </p:sp>
      <p:sp>
        <p:nvSpPr>
          <p:cNvPr id="7" name="Shape 5"/>
          <p:cNvSpPr/>
          <p:nvPr/>
        </p:nvSpPr>
        <p:spPr>
          <a:xfrm>
            <a:off x="394335" y="1860492"/>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00C950"/>
          </a:solidFill>
        </p:spPr>
        <p:txBody>
          <a:bodyPr/>
          <a:lstStyle/>
          <a:p>
            <a:endParaRPr lang="en-US"/>
          </a:p>
        </p:txBody>
      </p:sp>
      <p:sp>
        <p:nvSpPr>
          <p:cNvPr id="8" name="Shape 6"/>
          <p:cNvSpPr/>
          <p:nvPr/>
        </p:nvSpPr>
        <p:spPr>
          <a:xfrm>
            <a:off x="584835" y="2050992"/>
            <a:ext cx="152400" cy="152400"/>
          </a:xfrm>
          <a:custGeom>
            <a:avLst/>
            <a:gdLst/>
            <a:ahLst/>
            <a:cxnLst/>
            <a:rect l="l" t="t" r="r" b="b"/>
            <a:pathLst>
              <a:path w="152400" h="152400">
                <a:moveTo>
                  <a:pt x="42952" y="0"/>
                </a:moveTo>
                <a:lnTo>
                  <a:pt x="109627" y="0"/>
                </a:lnTo>
                <a:cubicBezTo>
                  <a:pt x="117515" y="0"/>
                  <a:pt x="123944" y="6489"/>
                  <a:pt x="123646" y="14347"/>
                </a:cubicBezTo>
                <a:cubicBezTo>
                  <a:pt x="123587" y="15925"/>
                  <a:pt x="123527" y="17502"/>
                  <a:pt x="123438" y="19050"/>
                </a:cubicBezTo>
                <a:lnTo>
                  <a:pt x="138202" y="19050"/>
                </a:lnTo>
                <a:cubicBezTo>
                  <a:pt x="145971" y="19050"/>
                  <a:pt x="152817" y="25479"/>
                  <a:pt x="152221" y="33873"/>
                </a:cubicBezTo>
                <a:cubicBezTo>
                  <a:pt x="149989" y="64740"/>
                  <a:pt x="134213" y="81707"/>
                  <a:pt x="117098" y="90577"/>
                </a:cubicBezTo>
                <a:cubicBezTo>
                  <a:pt x="112395" y="93018"/>
                  <a:pt x="107603" y="94833"/>
                  <a:pt x="103049" y="96173"/>
                </a:cubicBezTo>
                <a:cubicBezTo>
                  <a:pt x="97036" y="104686"/>
                  <a:pt x="90785" y="109180"/>
                  <a:pt x="85814" y="111591"/>
                </a:cubicBezTo>
                <a:lnTo>
                  <a:pt x="85814" y="133350"/>
                </a:lnTo>
                <a:lnTo>
                  <a:pt x="104864" y="133350"/>
                </a:lnTo>
                <a:cubicBezTo>
                  <a:pt x="110133" y="133350"/>
                  <a:pt x="114389" y="137606"/>
                  <a:pt x="114389" y="142875"/>
                </a:cubicBezTo>
                <a:cubicBezTo>
                  <a:pt x="114389" y="148144"/>
                  <a:pt x="110133" y="152400"/>
                  <a:pt x="104864" y="152400"/>
                </a:cubicBezTo>
                <a:lnTo>
                  <a:pt x="47714" y="152400"/>
                </a:lnTo>
                <a:cubicBezTo>
                  <a:pt x="42446" y="152400"/>
                  <a:pt x="38189" y="148144"/>
                  <a:pt x="38189" y="142875"/>
                </a:cubicBezTo>
                <a:cubicBezTo>
                  <a:pt x="38189" y="137606"/>
                  <a:pt x="42446" y="133350"/>
                  <a:pt x="47714" y="133350"/>
                </a:cubicBezTo>
                <a:lnTo>
                  <a:pt x="66764" y="133350"/>
                </a:lnTo>
                <a:lnTo>
                  <a:pt x="66764" y="111591"/>
                </a:lnTo>
                <a:cubicBezTo>
                  <a:pt x="62002" y="109299"/>
                  <a:pt x="56078" y="105043"/>
                  <a:pt x="50304" y="97215"/>
                </a:cubicBezTo>
                <a:cubicBezTo>
                  <a:pt x="44827" y="95786"/>
                  <a:pt x="38874" y="93613"/>
                  <a:pt x="33070" y="90339"/>
                </a:cubicBezTo>
                <a:cubicBezTo>
                  <a:pt x="16966" y="81320"/>
                  <a:pt x="2441" y="64324"/>
                  <a:pt x="357" y="33814"/>
                </a:cubicBezTo>
                <a:cubicBezTo>
                  <a:pt x="-208" y="25450"/>
                  <a:pt x="6608" y="19020"/>
                  <a:pt x="14377" y="19020"/>
                </a:cubicBezTo>
                <a:lnTo>
                  <a:pt x="29141" y="19020"/>
                </a:lnTo>
                <a:cubicBezTo>
                  <a:pt x="29051" y="17472"/>
                  <a:pt x="28992" y="15925"/>
                  <a:pt x="28932" y="14317"/>
                </a:cubicBezTo>
                <a:cubicBezTo>
                  <a:pt x="28635" y="6429"/>
                  <a:pt x="35064" y="-30"/>
                  <a:pt x="42952" y="-30"/>
                </a:cubicBezTo>
                <a:close/>
                <a:moveTo>
                  <a:pt x="30212" y="33338"/>
                </a:moveTo>
                <a:lnTo>
                  <a:pt x="14615" y="33338"/>
                </a:lnTo>
                <a:cubicBezTo>
                  <a:pt x="16460" y="58549"/>
                  <a:pt x="28039" y="71170"/>
                  <a:pt x="39975" y="77867"/>
                </a:cubicBezTo>
                <a:cubicBezTo>
                  <a:pt x="35689" y="66764"/>
                  <a:pt x="32147" y="52268"/>
                  <a:pt x="30212" y="33338"/>
                </a:cubicBezTo>
                <a:close/>
                <a:moveTo>
                  <a:pt x="113109" y="76438"/>
                </a:moveTo>
                <a:cubicBezTo>
                  <a:pt x="125164" y="69354"/>
                  <a:pt x="136059" y="56763"/>
                  <a:pt x="137904" y="33338"/>
                </a:cubicBezTo>
                <a:lnTo>
                  <a:pt x="122337" y="33338"/>
                </a:lnTo>
                <a:cubicBezTo>
                  <a:pt x="120491" y="51465"/>
                  <a:pt x="117157" y="65544"/>
                  <a:pt x="113109" y="76438"/>
                </a:cubicBezTo>
                <a:close/>
              </a:path>
            </a:pathLst>
          </a:custGeom>
          <a:solidFill>
            <a:srgbClr val="016630"/>
          </a:solidFill>
        </p:spPr>
        <p:txBody>
          <a:bodyPr/>
          <a:lstStyle/>
          <a:p>
            <a:endParaRPr lang="en-US"/>
          </a:p>
        </p:txBody>
      </p:sp>
      <p:sp>
        <p:nvSpPr>
          <p:cNvPr id="9" name="Text 7"/>
          <p:cNvSpPr/>
          <p:nvPr/>
        </p:nvSpPr>
        <p:spPr>
          <a:xfrm>
            <a:off x="813435" y="1938291"/>
            <a:ext cx="5086350" cy="303201"/>
          </a:xfrm>
          <a:prstGeom prst="rect">
            <a:avLst/>
          </a:prstGeom>
          <a:noFill/>
        </p:spPr>
        <p:txBody>
          <a:bodyPr wrap="square" lIns="0" tIns="0" rIns="0" bIns="0" rtlCol="0" anchor="ctr"/>
          <a:lstStyle/>
          <a:p>
            <a:pPr>
              <a:lnSpc>
                <a:spcPct val="130000"/>
              </a:lnSpc>
            </a:pPr>
            <a:r>
              <a:rPr lang="en-US" sz="2000" b="1" dirty="0">
                <a:solidFill>
                  <a:srgbClr val="016630"/>
                </a:solidFill>
                <a:ea typeface="MiSans" pitchFamily="34" charset="-122"/>
                <a:cs typeface="MiSans" pitchFamily="34" charset="-120"/>
              </a:rPr>
              <a:t>Performance Improvements</a:t>
            </a:r>
            <a:endParaRPr lang="en-US" sz="2800" dirty="0"/>
          </a:p>
        </p:txBody>
      </p:sp>
      <p:sp>
        <p:nvSpPr>
          <p:cNvPr id="10" name="Text 8"/>
          <p:cNvSpPr/>
          <p:nvPr/>
        </p:nvSpPr>
        <p:spPr>
          <a:xfrm>
            <a:off x="565785" y="2317692"/>
            <a:ext cx="5334000" cy="457200"/>
          </a:xfrm>
          <a:prstGeom prst="rect">
            <a:avLst/>
          </a:prstGeom>
          <a:noFill/>
        </p:spPr>
        <p:txBody>
          <a:bodyPr wrap="square" lIns="0" tIns="0" rIns="0" bIns="0" rtlCol="0" anchor="ctr"/>
          <a:lstStyle/>
          <a:p>
            <a:pPr>
              <a:lnSpc>
                <a:spcPct val="130000"/>
              </a:lnSpc>
            </a:pPr>
            <a:r>
              <a:rPr lang="en-US" sz="1400" dirty="0">
                <a:solidFill>
                  <a:srgbClr val="008236"/>
                </a:solidFill>
                <a:ea typeface="MiSans" pitchFamily="34" charset="-122"/>
                <a:cs typeface="MiSans" pitchFamily="34" charset="-120"/>
              </a:rPr>
              <a:t>ACE consistently outperforms strong baselines across both </a:t>
            </a:r>
            <a:r>
              <a:rPr lang="en-US" sz="1400" b="1" dirty="0">
                <a:solidFill>
                  <a:srgbClr val="008236"/>
                </a:solidFill>
                <a:ea typeface="MiSans" pitchFamily="34" charset="-122"/>
                <a:cs typeface="MiSans" pitchFamily="34" charset="-120"/>
              </a:rPr>
              <a:t>agent tasks</a:t>
            </a:r>
            <a:r>
              <a:rPr lang="en-US" sz="1400" dirty="0">
                <a:solidFill>
                  <a:srgbClr val="008236"/>
                </a:solidFill>
                <a:ea typeface="MiSans" pitchFamily="34" charset="-122"/>
                <a:cs typeface="MiSans" pitchFamily="34" charset="-120"/>
              </a:rPr>
              <a:t> and </a:t>
            </a:r>
            <a:r>
              <a:rPr lang="en-US" sz="1400" b="1" dirty="0">
                <a:solidFill>
                  <a:srgbClr val="008236"/>
                </a:solidFill>
                <a:ea typeface="MiSans" pitchFamily="34" charset="-122"/>
                <a:cs typeface="MiSans" pitchFamily="34" charset="-120"/>
              </a:rPr>
              <a:t>domain-specific reasoning</a:t>
            </a:r>
            <a:r>
              <a:rPr lang="en-US" sz="1400" dirty="0">
                <a:solidFill>
                  <a:srgbClr val="008236"/>
                </a:solidFill>
                <a:ea typeface="MiSans" pitchFamily="34" charset="-122"/>
                <a:cs typeface="MiSans" pitchFamily="34" charset="-120"/>
              </a:rPr>
              <a:t> tasks.</a:t>
            </a:r>
            <a:endParaRPr lang="en-US" dirty="0"/>
          </a:p>
        </p:txBody>
      </p:sp>
      <p:sp>
        <p:nvSpPr>
          <p:cNvPr id="11" name="Shape 9"/>
          <p:cNvSpPr/>
          <p:nvPr/>
        </p:nvSpPr>
        <p:spPr>
          <a:xfrm>
            <a:off x="375285" y="3079692"/>
            <a:ext cx="2724150" cy="876300"/>
          </a:xfrm>
          <a:custGeom>
            <a:avLst/>
            <a:gdLst/>
            <a:ahLst/>
            <a:cxnLst/>
            <a:rect l="l" t="t" r="r" b="b"/>
            <a:pathLst>
              <a:path w="2724150" h="876300">
                <a:moveTo>
                  <a:pt x="114296" y="0"/>
                </a:moveTo>
                <a:lnTo>
                  <a:pt x="2609854" y="0"/>
                </a:lnTo>
                <a:cubicBezTo>
                  <a:pt x="2672978" y="0"/>
                  <a:pt x="2724150" y="51172"/>
                  <a:pt x="2724150" y="114296"/>
                </a:cubicBezTo>
                <a:lnTo>
                  <a:pt x="2724150" y="762004"/>
                </a:lnTo>
                <a:cubicBezTo>
                  <a:pt x="2724150" y="825128"/>
                  <a:pt x="2672978" y="876300"/>
                  <a:pt x="2609854" y="876300"/>
                </a:cubicBezTo>
                <a:lnTo>
                  <a:pt x="114296" y="876300"/>
                </a:lnTo>
                <a:cubicBezTo>
                  <a:pt x="51172" y="876300"/>
                  <a:pt x="0" y="825128"/>
                  <a:pt x="0" y="762004"/>
                </a:cubicBezTo>
                <a:lnTo>
                  <a:pt x="0" y="114296"/>
                </a:lnTo>
                <a:cubicBezTo>
                  <a:pt x="0" y="51172"/>
                  <a:pt x="51172" y="0"/>
                  <a:pt x="114296" y="0"/>
                </a:cubicBezTo>
                <a:close/>
              </a:path>
            </a:pathLst>
          </a:custGeom>
          <a:solidFill>
            <a:srgbClr val="E0E7FF"/>
          </a:solidFill>
        </p:spPr>
        <p:txBody>
          <a:bodyPr/>
          <a:lstStyle/>
          <a:p>
            <a:endParaRPr lang="en-US"/>
          </a:p>
        </p:txBody>
      </p:sp>
      <p:sp>
        <p:nvSpPr>
          <p:cNvPr id="12" name="Text 10"/>
          <p:cNvSpPr/>
          <p:nvPr/>
        </p:nvSpPr>
        <p:spPr>
          <a:xfrm>
            <a:off x="494348" y="3232092"/>
            <a:ext cx="2486025" cy="190500"/>
          </a:xfrm>
          <a:prstGeom prst="rect">
            <a:avLst/>
          </a:prstGeom>
          <a:noFill/>
        </p:spPr>
        <p:txBody>
          <a:bodyPr wrap="square" lIns="0" tIns="0" rIns="0" bIns="0" rtlCol="0" anchor="ctr"/>
          <a:lstStyle/>
          <a:p>
            <a:pPr algn="ctr">
              <a:lnSpc>
                <a:spcPct val="120000"/>
              </a:lnSpc>
            </a:pPr>
            <a:r>
              <a:rPr lang="en-US" sz="1400" dirty="0">
                <a:solidFill>
                  <a:srgbClr val="4F39F6"/>
                </a:solidFill>
                <a:ea typeface="MiSans" pitchFamily="34" charset="-122"/>
                <a:cs typeface="MiSans" pitchFamily="34" charset="-120"/>
              </a:rPr>
              <a:t>AppWorld Average Gain</a:t>
            </a:r>
            <a:endParaRPr lang="en-US" sz="2400" dirty="0"/>
          </a:p>
        </p:txBody>
      </p:sp>
      <p:sp>
        <p:nvSpPr>
          <p:cNvPr id="13" name="Text 11"/>
          <p:cNvSpPr/>
          <p:nvPr/>
        </p:nvSpPr>
        <p:spPr>
          <a:xfrm>
            <a:off x="456248" y="3460692"/>
            <a:ext cx="2562225" cy="342900"/>
          </a:xfrm>
          <a:prstGeom prst="rect">
            <a:avLst/>
          </a:prstGeom>
          <a:noFill/>
        </p:spPr>
        <p:txBody>
          <a:bodyPr wrap="square" lIns="0" tIns="0" rIns="0" bIns="0" rtlCol="0" anchor="ctr"/>
          <a:lstStyle/>
          <a:p>
            <a:pPr algn="ctr">
              <a:lnSpc>
                <a:spcPct val="100000"/>
              </a:lnSpc>
            </a:pPr>
            <a:r>
              <a:rPr lang="en-US" sz="2250" b="1" dirty="0">
                <a:solidFill>
                  <a:srgbClr val="432DD7"/>
                </a:solidFill>
                <a:latin typeface="Noto Sans SC" panose="020B0200000000000000" pitchFamily="34" charset="-122"/>
                <a:ea typeface="Noto Sans SC" panose="020B0200000000000000" pitchFamily="34" charset="-122"/>
                <a:cs typeface="Noto Sans SC" panose="020B0200000000000000" pitchFamily="34" charset="-120"/>
              </a:rPr>
              <a:t>+10.6%</a:t>
            </a:r>
            <a:endParaRPr lang="en-US" sz="1600" dirty="0"/>
          </a:p>
        </p:txBody>
      </p:sp>
      <p:sp>
        <p:nvSpPr>
          <p:cNvPr id="14" name="Shape 12"/>
          <p:cNvSpPr/>
          <p:nvPr/>
        </p:nvSpPr>
        <p:spPr>
          <a:xfrm>
            <a:off x="3251835" y="3079692"/>
            <a:ext cx="2724150" cy="876300"/>
          </a:xfrm>
          <a:custGeom>
            <a:avLst/>
            <a:gdLst/>
            <a:ahLst/>
            <a:cxnLst/>
            <a:rect l="l" t="t" r="r" b="b"/>
            <a:pathLst>
              <a:path w="2724150" h="876300">
                <a:moveTo>
                  <a:pt x="114296" y="0"/>
                </a:moveTo>
                <a:lnTo>
                  <a:pt x="2609854" y="0"/>
                </a:lnTo>
                <a:cubicBezTo>
                  <a:pt x="2672978" y="0"/>
                  <a:pt x="2724150" y="51172"/>
                  <a:pt x="2724150" y="114296"/>
                </a:cubicBezTo>
                <a:lnTo>
                  <a:pt x="2724150" y="762004"/>
                </a:lnTo>
                <a:cubicBezTo>
                  <a:pt x="2724150" y="825128"/>
                  <a:pt x="2672978" y="876300"/>
                  <a:pt x="2609854" y="876300"/>
                </a:cubicBezTo>
                <a:lnTo>
                  <a:pt x="114296" y="876300"/>
                </a:lnTo>
                <a:cubicBezTo>
                  <a:pt x="51172" y="876300"/>
                  <a:pt x="0" y="825128"/>
                  <a:pt x="0" y="762004"/>
                </a:cubicBezTo>
                <a:lnTo>
                  <a:pt x="0" y="114296"/>
                </a:lnTo>
                <a:cubicBezTo>
                  <a:pt x="0" y="51172"/>
                  <a:pt x="51172" y="0"/>
                  <a:pt x="114296" y="0"/>
                </a:cubicBezTo>
                <a:close/>
              </a:path>
            </a:pathLst>
          </a:custGeom>
          <a:solidFill>
            <a:srgbClr val="F3E8FF"/>
          </a:solidFill>
        </p:spPr>
        <p:txBody>
          <a:bodyPr/>
          <a:lstStyle/>
          <a:p>
            <a:endParaRPr lang="en-US"/>
          </a:p>
        </p:txBody>
      </p:sp>
      <p:sp>
        <p:nvSpPr>
          <p:cNvPr id="15" name="Text 13"/>
          <p:cNvSpPr/>
          <p:nvPr/>
        </p:nvSpPr>
        <p:spPr>
          <a:xfrm>
            <a:off x="3370898" y="3232092"/>
            <a:ext cx="2486025" cy="190500"/>
          </a:xfrm>
          <a:prstGeom prst="rect">
            <a:avLst/>
          </a:prstGeom>
          <a:noFill/>
        </p:spPr>
        <p:txBody>
          <a:bodyPr wrap="square" lIns="0" tIns="0" rIns="0" bIns="0" rtlCol="0" anchor="ctr"/>
          <a:lstStyle/>
          <a:p>
            <a:pPr algn="ctr">
              <a:lnSpc>
                <a:spcPct val="120000"/>
              </a:lnSpc>
            </a:pPr>
            <a:r>
              <a:rPr lang="en-US" sz="1400" dirty="0">
                <a:solidFill>
                  <a:srgbClr val="9810FA"/>
                </a:solidFill>
                <a:ea typeface="MiSans" pitchFamily="34" charset="-122"/>
                <a:cs typeface="MiSans" pitchFamily="34" charset="-120"/>
              </a:rPr>
              <a:t>Finance Average Gain</a:t>
            </a:r>
            <a:endParaRPr lang="en-US" sz="2400" dirty="0"/>
          </a:p>
        </p:txBody>
      </p:sp>
      <p:sp>
        <p:nvSpPr>
          <p:cNvPr id="16" name="Text 14"/>
          <p:cNvSpPr/>
          <p:nvPr/>
        </p:nvSpPr>
        <p:spPr>
          <a:xfrm>
            <a:off x="3332798" y="3460692"/>
            <a:ext cx="2562225" cy="342900"/>
          </a:xfrm>
          <a:prstGeom prst="rect">
            <a:avLst/>
          </a:prstGeom>
          <a:noFill/>
        </p:spPr>
        <p:txBody>
          <a:bodyPr wrap="square" lIns="0" tIns="0" rIns="0" bIns="0" rtlCol="0" anchor="ctr"/>
          <a:lstStyle/>
          <a:p>
            <a:pPr algn="ctr">
              <a:lnSpc>
                <a:spcPct val="100000"/>
              </a:lnSpc>
            </a:pPr>
            <a:r>
              <a:rPr lang="en-US" sz="2250" b="1" dirty="0">
                <a:solidFill>
                  <a:srgbClr val="8200DB"/>
                </a:solidFill>
                <a:latin typeface="Noto Sans SC" panose="020B0200000000000000" pitchFamily="34" charset="-122"/>
                <a:ea typeface="Noto Sans SC" panose="020B0200000000000000" pitchFamily="34" charset="-122"/>
                <a:cs typeface="Noto Sans SC" panose="020B0200000000000000" pitchFamily="34" charset="-120"/>
              </a:rPr>
              <a:t>+8.6%</a:t>
            </a:r>
            <a:endParaRPr lang="en-US" sz="1600" dirty="0"/>
          </a:p>
        </p:txBody>
      </p:sp>
      <p:sp>
        <p:nvSpPr>
          <p:cNvPr id="17" name="Shape 15"/>
          <p:cNvSpPr/>
          <p:nvPr/>
        </p:nvSpPr>
        <p:spPr>
          <a:xfrm>
            <a:off x="413385" y="4108392"/>
            <a:ext cx="5581650"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EFCE8"/>
          </a:solidFill>
        </p:spPr>
        <p:txBody>
          <a:bodyPr/>
          <a:lstStyle/>
          <a:p>
            <a:endParaRPr lang="zh-CN" altLang="en-US"/>
          </a:p>
        </p:txBody>
      </p:sp>
      <p:sp>
        <p:nvSpPr>
          <p:cNvPr id="18" name="Shape 16"/>
          <p:cNvSpPr/>
          <p:nvPr/>
        </p:nvSpPr>
        <p:spPr>
          <a:xfrm>
            <a:off x="394335" y="4108392"/>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F0B100"/>
          </a:solidFill>
        </p:spPr>
        <p:txBody>
          <a:bodyPr/>
          <a:lstStyle/>
          <a:p>
            <a:endParaRPr lang="en-US"/>
          </a:p>
        </p:txBody>
      </p:sp>
      <p:sp>
        <p:nvSpPr>
          <p:cNvPr id="19" name="Shape 17"/>
          <p:cNvSpPr/>
          <p:nvPr/>
        </p:nvSpPr>
        <p:spPr>
          <a:xfrm>
            <a:off x="584835" y="429889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894B00"/>
          </a:solidFill>
        </p:spPr>
        <p:txBody>
          <a:bodyPr/>
          <a:lstStyle/>
          <a:p>
            <a:endParaRPr lang="en-US"/>
          </a:p>
        </p:txBody>
      </p:sp>
      <p:sp>
        <p:nvSpPr>
          <p:cNvPr id="20" name="Text 18"/>
          <p:cNvSpPr/>
          <p:nvPr/>
        </p:nvSpPr>
        <p:spPr>
          <a:xfrm>
            <a:off x="813435" y="4184592"/>
            <a:ext cx="5086350" cy="304800"/>
          </a:xfrm>
          <a:prstGeom prst="rect">
            <a:avLst/>
          </a:prstGeom>
          <a:noFill/>
        </p:spPr>
        <p:txBody>
          <a:bodyPr wrap="square" lIns="0" tIns="0" rIns="0" bIns="0" rtlCol="0" anchor="ctr"/>
          <a:lstStyle/>
          <a:p>
            <a:pPr>
              <a:lnSpc>
                <a:spcPct val="130000"/>
              </a:lnSpc>
            </a:pPr>
            <a:r>
              <a:rPr lang="en-US" sz="2000" b="1" dirty="0">
                <a:solidFill>
                  <a:srgbClr val="894B00"/>
                </a:solidFill>
                <a:ea typeface="MiSans" pitchFamily="34" charset="-122"/>
                <a:cs typeface="MiSans" pitchFamily="34" charset="-120"/>
              </a:rPr>
              <a:t>Important Boundary</a:t>
            </a:r>
            <a:endParaRPr lang="en-US" sz="2800" dirty="0"/>
          </a:p>
        </p:txBody>
      </p:sp>
      <p:sp>
        <p:nvSpPr>
          <p:cNvPr id="21" name="Text 19"/>
          <p:cNvSpPr/>
          <p:nvPr/>
        </p:nvSpPr>
        <p:spPr>
          <a:xfrm>
            <a:off x="565785" y="4565592"/>
            <a:ext cx="5334000" cy="457200"/>
          </a:xfrm>
          <a:prstGeom prst="rect">
            <a:avLst/>
          </a:prstGeom>
          <a:noFill/>
        </p:spPr>
        <p:txBody>
          <a:bodyPr wrap="square" lIns="0" tIns="0" rIns="0" bIns="0" rtlCol="0" anchor="ctr"/>
          <a:lstStyle/>
          <a:p>
            <a:pPr>
              <a:lnSpc>
                <a:spcPct val="130000"/>
              </a:lnSpc>
            </a:pPr>
            <a:r>
              <a:rPr lang="en-US" sz="1400" dirty="0">
                <a:solidFill>
                  <a:srgbClr val="A65F00"/>
                </a:solidFill>
                <a:ea typeface="MiSans" pitchFamily="34" charset="-122"/>
                <a:cs typeface="MiSans" pitchFamily="34" charset="-120"/>
              </a:rPr>
              <a:t>ACE mainly improves the </a:t>
            </a:r>
            <a:r>
              <a:rPr lang="en-US" sz="1400" b="1" dirty="0">
                <a:solidFill>
                  <a:srgbClr val="A65F00"/>
                </a:solidFill>
                <a:ea typeface="MiSans" pitchFamily="34" charset="-122"/>
                <a:cs typeface="MiSans" pitchFamily="34" charset="-120"/>
              </a:rPr>
              <a:t>external context</a:t>
            </a:r>
            <a:r>
              <a:rPr lang="en-US" sz="1400" dirty="0">
                <a:solidFill>
                  <a:srgbClr val="A65F00"/>
                </a:solidFill>
                <a:ea typeface="MiSans" pitchFamily="34" charset="-122"/>
                <a:cs typeface="MiSans" pitchFamily="34" charset="-120"/>
              </a:rPr>
              <a:t>. The underlying model policy is still mostly fixed.</a:t>
            </a:r>
            <a:endParaRPr lang="en-US" dirty="0"/>
          </a:p>
        </p:txBody>
      </p:sp>
      <p:sp>
        <p:nvSpPr>
          <p:cNvPr id="22" name="Shape 20"/>
          <p:cNvSpPr/>
          <p:nvPr/>
        </p:nvSpPr>
        <p:spPr>
          <a:xfrm>
            <a:off x="6196967" y="2241492"/>
            <a:ext cx="5575935" cy="2663505"/>
          </a:xfrm>
          <a:custGeom>
            <a:avLst/>
            <a:gdLst/>
            <a:ahLst/>
            <a:cxnLst/>
            <a:rect l="l" t="t" r="r" b="b"/>
            <a:pathLst>
              <a:path w="5575935" h="4204335">
                <a:moveTo>
                  <a:pt x="114316" y="0"/>
                </a:moveTo>
                <a:lnTo>
                  <a:pt x="5461619" y="0"/>
                </a:lnTo>
                <a:cubicBezTo>
                  <a:pt x="5524754" y="0"/>
                  <a:pt x="5575935" y="51181"/>
                  <a:pt x="5575935" y="114316"/>
                </a:cubicBezTo>
                <a:lnTo>
                  <a:pt x="5575935" y="4090019"/>
                </a:lnTo>
                <a:cubicBezTo>
                  <a:pt x="5575935" y="4153154"/>
                  <a:pt x="5524754" y="4204335"/>
                  <a:pt x="5461619" y="4204335"/>
                </a:cubicBezTo>
                <a:lnTo>
                  <a:pt x="114316" y="4204335"/>
                </a:lnTo>
                <a:cubicBezTo>
                  <a:pt x="51181" y="4204335"/>
                  <a:pt x="0" y="4153154"/>
                  <a:pt x="0" y="4090019"/>
                </a:cubicBezTo>
                <a:lnTo>
                  <a:pt x="0" y="114316"/>
                </a:lnTo>
                <a:cubicBezTo>
                  <a:pt x="0" y="51181"/>
                  <a:pt x="51181" y="0"/>
                  <a:pt x="114316"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zh-CN" altLang="en-US"/>
          </a:p>
        </p:txBody>
      </p:sp>
      <p:sp>
        <p:nvSpPr>
          <p:cNvPr id="23" name="Shape 21"/>
          <p:cNvSpPr/>
          <p:nvPr/>
        </p:nvSpPr>
        <p:spPr>
          <a:xfrm>
            <a:off x="8785862" y="2588936"/>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24" name="Text 22"/>
          <p:cNvSpPr/>
          <p:nvPr/>
        </p:nvSpPr>
        <p:spPr>
          <a:xfrm>
            <a:off x="8234483" y="3198536"/>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25" name="Text 23"/>
          <p:cNvSpPr/>
          <p:nvPr/>
        </p:nvSpPr>
        <p:spPr>
          <a:xfrm>
            <a:off x="7732754" y="3541436"/>
            <a:ext cx="2590800"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Overall Performance Bar Chart</a:t>
            </a:r>
            <a:endParaRPr lang="en-US" sz="1600" dirty="0"/>
          </a:p>
        </p:txBody>
      </p:sp>
      <p:sp>
        <p:nvSpPr>
          <p:cNvPr id="26" name="Text 24"/>
          <p:cNvSpPr/>
          <p:nvPr/>
        </p:nvSpPr>
        <p:spPr>
          <a:xfrm>
            <a:off x="7510941" y="3884336"/>
            <a:ext cx="3019425"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ACE vs baselines across multiple benchmarks</a:t>
            </a:r>
            <a:endParaRPr lang="en-US" sz="1600" dirty="0"/>
          </a:p>
        </p:txBody>
      </p:sp>
      <p:sp>
        <p:nvSpPr>
          <p:cNvPr id="29" name="Shape 27"/>
          <p:cNvSpPr/>
          <p:nvPr/>
        </p:nvSpPr>
        <p:spPr>
          <a:xfrm>
            <a:off x="375285" y="5575502"/>
            <a:ext cx="11410950" cy="533400"/>
          </a:xfrm>
          <a:custGeom>
            <a:avLst/>
            <a:gdLst/>
            <a:ahLst/>
            <a:cxnLst/>
            <a:rect l="l" t="t" r="r" b="b"/>
            <a:pathLst>
              <a:path w="11410950" h="533400">
                <a:moveTo>
                  <a:pt x="0" y="0"/>
                </a:moveTo>
                <a:lnTo>
                  <a:pt x="11334748" y="0"/>
                </a:lnTo>
                <a:cubicBezTo>
                  <a:pt x="11376833" y="0"/>
                  <a:pt x="11410950" y="34117"/>
                  <a:pt x="11410950" y="76202"/>
                </a:cubicBezTo>
                <a:lnTo>
                  <a:pt x="11410950" y="457198"/>
                </a:lnTo>
                <a:cubicBezTo>
                  <a:pt x="11410950" y="499283"/>
                  <a:pt x="11376833" y="533400"/>
                  <a:pt x="11334748" y="533400"/>
                </a:cubicBezTo>
                <a:lnTo>
                  <a:pt x="0" y="533400"/>
                </a:lnTo>
                <a:lnTo>
                  <a:pt x="0" y="0"/>
                </a:lnTo>
                <a:close/>
              </a:path>
            </a:pathLst>
          </a:custGeom>
          <a:gradFill flip="none" rotWithShape="1">
            <a:gsLst>
              <a:gs pos="0">
                <a:srgbClr val="FAF5FF"/>
              </a:gs>
              <a:gs pos="100000">
                <a:srgbClr val="FDF2F8"/>
              </a:gs>
            </a:gsLst>
            <a:lin ang="0" scaled="1"/>
          </a:gradFill>
        </p:spPr>
        <p:txBody>
          <a:bodyPr/>
          <a:lstStyle/>
          <a:p>
            <a:endParaRPr lang="en-US"/>
          </a:p>
        </p:txBody>
      </p:sp>
      <p:sp>
        <p:nvSpPr>
          <p:cNvPr id="30" name="Shape 28"/>
          <p:cNvSpPr/>
          <p:nvPr/>
        </p:nvSpPr>
        <p:spPr>
          <a:xfrm>
            <a:off x="375285" y="5575502"/>
            <a:ext cx="38100" cy="533400"/>
          </a:xfrm>
          <a:custGeom>
            <a:avLst/>
            <a:gdLst/>
            <a:ahLst/>
            <a:cxnLst/>
            <a:rect l="l" t="t" r="r" b="b"/>
            <a:pathLst>
              <a:path w="38100" h="533400">
                <a:moveTo>
                  <a:pt x="0" y="0"/>
                </a:moveTo>
                <a:lnTo>
                  <a:pt x="38100" y="0"/>
                </a:lnTo>
                <a:lnTo>
                  <a:pt x="38100" y="533400"/>
                </a:lnTo>
                <a:lnTo>
                  <a:pt x="0" y="533400"/>
                </a:lnTo>
                <a:lnTo>
                  <a:pt x="0" y="0"/>
                </a:lnTo>
                <a:close/>
              </a:path>
            </a:pathLst>
          </a:custGeom>
          <a:solidFill>
            <a:srgbClr val="AD46FF"/>
          </a:solidFill>
        </p:spPr>
        <p:txBody>
          <a:bodyPr/>
          <a:lstStyle/>
          <a:p>
            <a:endParaRPr lang="en-US"/>
          </a:p>
        </p:txBody>
      </p:sp>
      <p:sp>
        <p:nvSpPr>
          <p:cNvPr id="31" name="Shape 29"/>
          <p:cNvSpPr/>
          <p:nvPr/>
        </p:nvSpPr>
        <p:spPr>
          <a:xfrm>
            <a:off x="556260" y="5766002"/>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6E11B0"/>
          </a:solidFill>
        </p:spPr>
        <p:txBody>
          <a:bodyPr/>
          <a:lstStyle/>
          <a:p>
            <a:endParaRPr lang="en-US"/>
          </a:p>
        </p:txBody>
      </p:sp>
      <p:sp>
        <p:nvSpPr>
          <p:cNvPr id="32" name="Text 30"/>
          <p:cNvSpPr/>
          <p:nvPr/>
        </p:nvSpPr>
        <p:spPr>
          <a:xfrm>
            <a:off x="794385" y="5727902"/>
            <a:ext cx="10915650" cy="228600"/>
          </a:xfrm>
          <a:prstGeom prst="rect">
            <a:avLst/>
          </a:prstGeom>
          <a:noFill/>
        </p:spPr>
        <p:txBody>
          <a:bodyPr wrap="square" lIns="0" tIns="0" rIns="0" bIns="0" rtlCol="0" anchor="ctr"/>
          <a:lstStyle/>
          <a:p>
            <a:pPr>
              <a:lnSpc>
                <a:spcPct val="130000"/>
              </a:lnSpc>
            </a:pPr>
            <a:r>
              <a:rPr lang="en-US" sz="2000" b="1" dirty="0">
                <a:solidFill>
                  <a:srgbClr val="6E11B0"/>
                </a:solidFill>
                <a:ea typeface="MiSans" pitchFamily="34" charset="-122"/>
                <a:cs typeface="MiSans" pitchFamily="34" charset="-120"/>
              </a:rPr>
              <a:t>MemGPT externalizes memory, while ACE externalizes strategy</a:t>
            </a:r>
            <a:r>
              <a:rPr lang="en-US" sz="1200" b="1" dirty="0">
                <a:solidFill>
                  <a:srgbClr val="6E11B0"/>
                </a:solidFill>
                <a:latin typeface="MiSans" pitchFamily="34" charset="-122"/>
                <a:ea typeface="MiSans" pitchFamily="34" charset="-122"/>
                <a:cs typeface="MiSans" pitchFamily="34" charset="-120"/>
              </a:rPr>
              <a:t>.</a:t>
            </a:r>
            <a:endParaRPr lang="en-US" sz="1600" dirty="0"/>
          </a:p>
        </p:txBody>
      </p:sp>
      <p:pic>
        <p:nvPicPr>
          <p:cNvPr id="3" name="图片 2">
            <a:extLst>
              <a:ext uri="{FF2B5EF4-FFF2-40B4-BE49-F238E27FC236}">
                <a16:creationId xmlns:a16="http://schemas.microsoft.com/office/drawing/2014/main" id="{30657662-19FC-3A58-19A7-030C3E15A1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34756" y="2367327"/>
            <a:ext cx="5501685" cy="2432807"/>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40261" y="1497159"/>
            <a:ext cx="2874945" cy="447848"/>
          </a:xfrm>
          <a:custGeom>
            <a:avLst/>
            <a:gdLst/>
            <a:ahLst/>
            <a:cxnLst/>
            <a:rect l="l" t="t" r="r" b="b"/>
            <a:pathLst>
              <a:path w="1793081" h="304800">
                <a:moveTo>
                  <a:pt x="152400" y="0"/>
                </a:moveTo>
                <a:lnTo>
                  <a:pt x="1640681" y="0"/>
                </a:lnTo>
                <a:cubicBezTo>
                  <a:pt x="1724793" y="0"/>
                  <a:pt x="1793081" y="68288"/>
                  <a:pt x="1793081" y="152400"/>
                </a:cubicBezTo>
                <a:lnTo>
                  <a:pt x="1793081" y="152400"/>
                </a:lnTo>
                <a:cubicBezTo>
                  <a:pt x="1793081" y="236512"/>
                  <a:pt x="1724793" y="304800"/>
                  <a:pt x="1640681" y="304800"/>
                </a:cubicBezTo>
                <a:lnTo>
                  <a:pt x="152400" y="304800"/>
                </a:lnTo>
                <a:cubicBezTo>
                  <a:pt x="68288" y="304800"/>
                  <a:pt x="0" y="236512"/>
                  <a:pt x="0" y="152400"/>
                </a:cubicBezTo>
                <a:lnTo>
                  <a:pt x="0" y="152400"/>
                </a:lnTo>
                <a:cubicBezTo>
                  <a:pt x="0" y="68288"/>
                  <a:pt x="68288" y="0"/>
                  <a:pt x="152400" y="0"/>
                </a:cubicBezTo>
                <a:close/>
              </a:path>
            </a:pathLst>
          </a:custGeom>
          <a:solidFill>
            <a:srgbClr val="F3E8FF"/>
          </a:solidFill>
        </p:spPr>
        <p:txBody>
          <a:bodyPr/>
          <a:lstStyle/>
          <a:p>
            <a:endParaRPr lang="en-US"/>
          </a:p>
        </p:txBody>
      </p:sp>
      <p:sp>
        <p:nvSpPr>
          <p:cNvPr id="3" name="Shape 1"/>
          <p:cNvSpPr/>
          <p:nvPr/>
        </p:nvSpPr>
        <p:spPr>
          <a:xfrm>
            <a:off x="5111711" y="1655454"/>
            <a:ext cx="133350" cy="133350"/>
          </a:xfrm>
          <a:custGeom>
            <a:avLst/>
            <a:gdLst/>
            <a:ahLst/>
            <a:cxnLst/>
            <a:rect l="l" t="t" r="r" b="b"/>
            <a:pathLst>
              <a:path w="133350" h="133350">
                <a:moveTo>
                  <a:pt x="8334" y="8334"/>
                </a:moveTo>
                <a:cubicBezTo>
                  <a:pt x="3724" y="8334"/>
                  <a:pt x="0" y="12059"/>
                  <a:pt x="0" y="16669"/>
                </a:cubicBezTo>
                <a:cubicBezTo>
                  <a:pt x="0" y="21279"/>
                  <a:pt x="3724" y="25003"/>
                  <a:pt x="8334" y="25003"/>
                </a:cubicBezTo>
                <a:lnTo>
                  <a:pt x="10418" y="25003"/>
                </a:lnTo>
                <a:lnTo>
                  <a:pt x="10418" y="41672"/>
                </a:lnTo>
                <a:lnTo>
                  <a:pt x="0" y="41672"/>
                </a:lnTo>
                <a:lnTo>
                  <a:pt x="0" y="70842"/>
                </a:lnTo>
                <a:cubicBezTo>
                  <a:pt x="9793" y="73290"/>
                  <a:pt x="16669" y="82094"/>
                  <a:pt x="16669" y="92199"/>
                </a:cubicBezTo>
                <a:lnTo>
                  <a:pt x="16669" y="116681"/>
                </a:lnTo>
                <a:cubicBezTo>
                  <a:pt x="16669" y="121291"/>
                  <a:pt x="20393" y="125016"/>
                  <a:pt x="25003" y="125016"/>
                </a:cubicBezTo>
                <a:lnTo>
                  <a:pt x="33337" y="125016"/>
                </a:lnTo>
                <a:cubicBezTo>
                  <a:pt x="37947" y="125016"/>
                  <a:pt x="41672" y="121291"/>
                  <a:pt x="41672" y="116681"/>
                </a:cubicBezTo>
                <a:lnTo>
                  <a:pt x="41672" y="100013"/>
                </a:lnTo>
                <a:cubicBezTo>
                  <a:pt x="41672" y="86209"/>
                  <a:pt x="52871" y="75009"/>
                  <a:pt x="66675" y="75009"/>
                </a:cubicBezTo>
                <a:cubicBezTo>
                  <a:pt x="80479" y="75009"/>
                  <a:pt x="91678" y="86209"/>
                  <a:pt x="91678" y="100013"/>
                </a:cubicBezTo>
                <a:lnTo>
                  <a:pt x="91678" y="116681"/>
                </a:lnTo>
                <a:cubicBezTo>
                  <a:pt x="91678" y="121291"/>
                  <a:pt x="95403" y="125016"/>
                  <a:pt x="100013" y="125016"/>
                </a:cubicBezTo>
                <a:lnTo>
                  <a:pt x="108347" y="125016"/>
                </a:lnTo>
                <a:cubicBezTo>
                  <a:pt x="112957" y="125016"/>
                  <a:pt x="116681" y="121291"/>
                  <a:pt x="116681" y="116681"/>
                </a:cubicBezTo>
                <a:lnTo>
                  <a:pt x="116681" y="92199"/>
                </a:lnTo>
                <a:cubicBezTo>
                  <a:pt x="116681" y="82094"/>
                  <a:pt x="123557" y="73290"/>
                  <a:pt x="133350" y="70842"/>
                </a:cubicBezTo>
                <a:lnTo>
                  <a:pt x="133350" y="41672"/>
                </a:lnTo>
                <a:lnTo>
                  <a:pt x="122932" y="41672"/>
                </a:lnTo>
                <a:lnTo>
                  <a:pt x="122932" y="25003"/>
                </a:lnTo>
                <a:lnTo>
                  <a:pt x="125016" y="25003"/>
                </a:lnTo>
                <a:cubicBezTo>
                  <a:pt x="129626" y="25003"/>
                  <a:pt x="133350" y="21279"/>
                  <a:pt x="133350" y="16669"/>
                </a:cubicBezTo>
                <a:cubicBezTo>
                  <a:pt x="133350" y="12059"/>
                  <a:pt x="129626" y="8334"/>
                  <a:pt x="125016" y="8334"/>
                </a:cubicBezTo>
                <a:lnTo>
                  <a:pt x="8334" y="8334"/>
                </a:lnTo>
                <a:close/>
                <a:moveTo>
                  <a:pt x="110430" y="25003"/>
                </a:moveTo>
                <a:lnTo>
                  <a:pt x="110430" y="41672"/>
                </a:lnTo>
                <a:lnTo>
                  <a:pt x="89595" y="41672"/>
                </a:lnTo>
                <a:lnTo>
                  <a:pt x="89595" y="25003"/>
                </a:lnTo>
                <a:lnTo>
                  <a:pt x="110430" y="25003"/>
                </a:lnTo>
                <a:close/>
                <a:moveTo>
                  <a:pt x="77093" y="25003"/>
                </a:moveTo>
                <a:lnTo>
                  <a:pt x="77093" y="41672"/>
                </a:lnTo>
                <a:lnTo>
                  <a:pt x="56257" y="41672"/>
                </a:lnTo>
                <a:lnTo>
                  <a:pt x="56257" y="25003"/>
                </a:lnTo>
                <a:lnTo>
                  <a:pt x="77093" y="25003"/>
                </a:lnTo>
                <a:close/>
                <a:moveTo>
                  <a:pt x="22920" y="25003"/>
                </a:moveTo>
                <a:lnTo>
                  <a:pt x="43755" y="25003"/>
                </a:lnTo>
                <a:lnTo>
                  <a:pt x="43755" y="41672"/>
                </a:lnTo>
                <a:lnTo>
                  <a:pt x="22920" y="41672"/>
                </a:lnTo>
                <a:lnTo>
                  <a:pt x="22920" y="25003"/>
                </a:lnTo>
                <a:close/>
              </a:path>
            </a:pathLst>
          </a:custGeom>
          <a:solidFill>
            <a:srgbClr val="8200DB"/>
          </a:solidFill>
        </p:spPr>
        <p:txBody>
          <a:bodyPr/>
          <a:lstStyle/>
          <a:p>
            <a:endParaRPr lang="en-US"/>
          </a:p>
        </p:txBody>
      </p:sp>
      <p:sp>
        <p:nvSpPr>
          <p:cNvPr id="4" name="Text 2"/>
          <p:cNvSpPr/>
          <p:nvPr/>
        </p:nvSpPr>
        <p:spPr>
          <a:xfrm>
            <a:off x="5111711" y="1539247"/>
            <a:ext cx="2784544" cy="304800"/>
          </a:xfrm>
          <a:prstGeom prst="rect">
            <a:avLst/>
          </a:prstGeom>
          <a:noFill/>
        </p:spPr>
        <p:txBody>
          <a:bodyPr wrap="square" lIns="152400" tIns="76200" rIns="152400" bIns="76200" rtlCol="0" anchor="ctr"/>
          <a:lstStyle/>
          <a:p>
            <a:pPr algn="ctr">
              <a:lnSpc>
                <a:spcPct val="120000"/>
              </a:lnSpc>
            </a:pPr>
            <a:r>
              <a:rPr lang="en-US" sz="2000" b="1" dirty="0">
                <a:solidFill>
                  <a:srgbClr val="8200DB"/>
                </a:solidFill>
                <a:ea typeface="MiSans" pitchFamily="34" charset="-122"/>
                <a:cs typeface="MiSans" pitchFamily="34" charset="-120"/>
              </a:rPr>
              <a:t>Final Stage</a:t>
            </a:r>
            <a:endParaRPr lang="en-US" sz="3600" dirty="0"/>
          </a:p>
        </p:txBody>
      </p:sp>
      <p:sp>
        <p:nvSpPr>
          <p:cNvPr id="5" name="Text 3"/>
          <p:cNvSpPr/>
          <p:nvPr/>
        </p:nvSpPr>
        <p:spPr>
          <a:xfrm>
            <a:off x="2609374" y="2249807"/>
            <a:ext cx="6972300" cy="381000"/>
          </a:xfrm>
          <a:prstGeom prst="rect">
            <a:avLst/>
          </a:prstGeom>
          <a:noFill/>
        </p:spPr>
        <p:txBody>
          <a:bodyPr wrap="square" lIns="0" tIns="0" rIns="0" bIns="0" rtlCol="0" anchor="ctr"/>
          <a:lstStyle/>
          <a:p>
            <a:pPr algn="ctr">
              <a:lnSpc>
                <a:spcPct val="90000"/>
              </a:lnSpc>
            </a:pPr>
            <a:r>
              <a:rPr lang="en-US" sz="2700" b="1" dirty="0">
                <a:solidFill>
                  <a:srgbClr val="1D293D"/>
                </a:solidFill>
                <a:latin typeface="Noto Sans SC" panose="020B0200000000000000" pitchFamily="34" charset="-122"/>
                <a:ea typeface="Noto Sans SC" panose="020B0200000000000000" pitchFamily="34" charset="-122"/>
                <a:cs typeface="Noto Sans SC" panose="020B0200000000000000" pitchFamily="34" charset="-120"/>
              </a:rPr>
              <a:t>From Evolving Context to Evolving Policy</a:t>
            </a:r>
            <a:endParaRPr lang="en-US" sz="1600" dirty="0"/>
          </a:p>
        </p:txBody>
      </p:sp>
      <p:sp>
        <p:nvSpPr>
          <p:cNvPr id="6" name="Shape 4"/>
          <p:cNvSpPr/>
          <p:nvPr/>
        </p:nvSpPr>
        <p:spPr>
          <a:xfrm>
            <a:off x="1828800" y="2935607"/>
            <a:ext cx="2695575" cy="1333500"/>
          </a:xfrm>
          <a:custGeom>
            <a:avLst/>
            <a:gdLst/>
            <a:ahLst/>
            <a:cxnLst/>
            <a:rect l="l" t="t" r="r" b="b"/>
            <a:pathLst>
              <a:path w="2695575" h="1333500">
                <a:moveTo>
                  <a:pt x="114294" y="0"/>
                </a:moveTo>
                <a:lnTo>
                  <a:pt x="2581281" y="0"/>
                </a:lnTo>
                <a:cubicBezTo>
                  <a:pt x="2644361" y="0"/>
                  <a:pt x="2695575" y="51214"/>
                  <a:pt x="2695575" y="114294"/>
                </a:cubicBezTo>
                <a:lnTo>
                  <a:pt x="2695575" y="1219206"/>
                </a:lnTo>
                <a:cubicBezTo>
                  <a:pt x="2695575" y="1282286"/>
                  <a:pt x="2644361" y="1333500"/>
                  <a:pt x="2581281" y="1333500"/>
                </a:cubicBezTo>
                <a:lnTo>
                  <a:pt x="114294" y="1333500"/>
                </a:lnTo>
                <a:cubicBezTo>
                  <a:pt x="51214" y="1333500"/>
                  <a:pt x="0" y="1282286"/>
                  <a:pt x="0" y="1219206"/>
                </a:cubicBezTo>
                <a:lnTo>
                  <a:pt x="0" y="114294"/>
                </a:lnTo>
                <a:cubicBezTo>
                  <a:pt x="0" y="51214"/>
                  <a:pt x="51214" y="0"/>
                  <a:pt x="114294" y="0"/>
                </a:cubicBezTo>
                <a:close/>
              </a:path>
            </a:pathLst>
          </a:custGeom>
          <a:solidFill>
            <a:srgbClr val="FAF5FF"/>
          </a:solidFill>
        </p:spPr>
        <p:txBody>
          <a:bodyPr/>
          <a:lstStyle/>
          <a:p>
            <a:endParaRPr lang="zh-CN" altLang="en-US"/>
          </a:p>
        </p:txBody>
      </p:sp>
      <p:sp>
        <p:nvSpPr>
          <p:cNvPr id="7" name="Shape 5"/>
          <p:cNvSpPr/>
          <p:nvPr/>
        </p:nvSpPr>
        <p:spPr>
          <a:xfrm>
            <a:off x="3034427" y="3164207"/>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89979" y="118709"/>
                </a:moveTo>
                <a:lnTo>
                  <a:pt x="145331" y="190147"/>
                </a:lnTo>
                <a:cubicBezTo>
                  <a:pt x="142987" y="193886"/>
                  <a:pt x="138968" y="196230"/>
                  <a:pt x="134559" y="196453"/>
                </a:cubicBezTo>
                <a:cubicBezTo>
                  <a:pt x="130150" y="196676"/>
                  <a:pt x="125909" y="194667"/>
                  <a:pt x="123285" y="191095"/>
                </a:cubicBezTo>
                <a:lnTo>
                  <a:pt x="96496" y="155377"/>
                </a:lnTo>
                <a:cubicBezTo>
                  <a:pt x="92032" y="149461"/>
                  <a:pt x="93259" y="141089"/>
                  <a:pt x="99175" y="136624"/>
                </a:cubicBezTo>
                <a:cubicBezTo>
                  <a:pt x="105091" y="132159"/>
                  <a:pt x="113463" y="133387"/>
                  <a:pt x="117928" y="139303"/>
                </a:cubicBezTo>
                <a:lnTo>
                  <a:pt x="132997" y="159395"/>
                </a:lnTo>
                <a:lnTo>
                  <a:pt x="167264" y="104533"/>
                </a:lnTo>
                <a:cubicBezTo>
                  <a:pt x="171171" y="98282"/>
                  <a:pt x="179431" y="96329"/>
                  <a:pt x="185738" y="100292"/>
                </a:cubicBezTo>
                <a:cubicBezTo>
                  <a:pt x="192044" y="104254"/>
                  <a:pt x="193942" y="112458"/>
                  <a:pt x="189979" y="118765"/>
                </a:cubicBezTo>
                <a:close/>
              </a:path>
            </a:pathLst>
          </a:custGeom>
          <a:solidFill>
            <a:srgbClr val="AD46FF"/>
          </a:solidFill>
        </p:spPr>
        <p:txBody>
          <a:bodyPr/>
          <a:lstStyle/>
          <a:p>
            <a:endParaRPr lang="en-US"/>
          </a:p>
        </p:txBody>
      </p:sp>
      <p:sp>
        <p:nvSpPr>
          <p:cNvPr id="8" name="Text 6"/>
          <p:cNvSpPr/>
          <p:nvPr/>
        </p:nvSpPr>
        <p:spPr>
          <a:xfrm>
            <a:off x="1825704" y="3564257"/>
            <a:ext cx="2695575" cy="476250"/>
          </a:xfrm>
          <a:prstGeom prst="rect">
            <a:avLst/>
          </a:prstGeom>
          <a:noFill/>
        </p:spPr>
        <p:txBody>
          <a:bodyPr wrap="square" lIns="0" tIns="0" rIns="0" bIns="0" rtlCol="0" anchor="ctr"/>
          <a:lstStyle/>
          <a:p>
            <a:pPr algn="ctr">
              <a:lnSpc>
                <a:spcPct val="130000"/>
              </a:lnSpc>
            </a:pPr>
            <a:r>
              <a:rPr lang="en-US" sz="2000" b="1" dirty="0">
                <a:solidFill>
                  <a:srgbClr val="1D293D"/>
                </a:solidFill>
                <a:ea typeface="MiSans" pitchFamily="34" charset="-122"/>
                <a:cs typeface="MiSans" pitchFamily="34" charset="-120"/>
              </a:rPr>
              <a:t>ACE improves the external playbook</a:t>
            </a:r>
            <a:endParaRPr lang="en-US" sz="2800" dirty="0"/>
          </a:p>
        </p:txBody>
      </p:sp>
      <p:sp>
        <p:nvSpPr>
          <p:cNvPr id="9" name="Shape 7"/>
          <p:cNvSpPr/>
          <p:nvPr/>
        </p:nvSpPr>
        <p:spPr>
          <a:xfrm>
            <a:off x="4749760" y="2935607"/>
            <a:ext cx="2695575" cy="1333500"/>
          </a:xfrm>
          <a:custGeom>
            <a:avLst/>
            <a:gdLst/>
            <a:ahLst/>
            <a:cxnLst/>
            <a:rect l="l" t="t" r="r" b="b"/>
            <a:pathLst>
              <a:path w="2695575" h="1333500">
                <a:moveTo>
                  <a:pt x="114294" y="0"/>
                </a:moveTo>
                <a:lnTo>
                  <a:pt x="2581281" y="0"/>
                </a:lnTo>
                <a:cubicBezTo>
                  <a:pt x="2644361" y="0"/>
                  <a:pt x="2695575" y="51214"/>
                  <a:pt x="2695575" y="114294"/>
                </a:cubicBezTo>
                <a:lnTo>
                  <a:pt x="2695575" y="1219206"/>
                </a:lnTo>
                <a:cubicBezTo>
                  <a:pt x="2695575" y="1282286"/>
                  <a:pt x="2644361" y="1333500"/>
                  <a:pt x="2581281" y="1333500"/>
                </a:cubicBezTo>
                <a:lnTo>
                  <a:pt x="114294" y="1333500"/>
                </a:lnTo>
                <a:cubicBezTo>
                  <a:pt x="51214" y="1333500"/>
                  <a:pt x="0" y="1282286"/>
                  <a:pt x="0" y="1219206"/>
                </a:cubicBezTo>
                <a:lnTo>
                  <a:pt x="0" y="114294"/>
                </a:lnTo>
                <a:cubicBezTo>
                  <a:pt x="0" y="51214"/>
                  <a:pt x="51214" y="0"/>
                  <a:pt x="114294" y="0"/>
                </a:cubicBezTo>
                <a:close/>
              </a:path>
            </a:pathLst>
          </a:custGeom>
          <a:solidFill>
            <a:srgbClr val="FEFCE8"/>
          </a:solidFill>
        </p:spPr>
        <p:txBody>
          <a:bodyPr/>
          <a:lstStyle/>
          <a:p>
            <a:endParaRPr lang="en-US"/>
          </a:p>
        </p:txBody>
      </p:sp>
      <p:sp>
        <p:nvSpPr>
          <p:cNvPr id="10" name="Shape 8"/>
          <p:cNvSpPr/>
          <p:nvPr/>
        </p:nvSpPr>
        <p:spPr>
          <a:xfrm>
            <a:off x="5955387" y="3164207"/>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42875" y="98227"/>
                </a:moveTo>
                <a:cubicBezTo>
                  <a:pt x="132997" y="98227"/>
                  <a:pt x="125016" y="106207"/>
                  <a:pt x="125016" y="116086"/>
                </a:cubicBezTo>
                <a:cubicBezTo>
                  <a:pt x="125016" y="123509"/>
                  <a:pt x="119044" y="129480"/>
                  <a:pt x="111621" y="129480"/>
                </a:cubicBezTo>
                <a:cubicBezTo>
                  <a:pt x="104198" y="129480"/>
                  <a:pt x="98227" y="123509"/>
                  <a:pt x="98227" y="116086"/>
                </a:cubicBezTo>
                <a:cubicBezTo>
                  <a:pt x="98227" y="91418"/>
                  <a:pt x="118207" y="71438"/>
                  <a:pt x="142875" y="71438"/>
                </a:cubicBezTo>
                <a:cubicBezTo>
                  <a:pt x="167543" y="71438"/>
                  <a:pt x="187523" y="91418"/>
                  <a:pt x="187523" y="116086"/>
                </a:cubicBezTo>
                <a:cubicBezTo>
                  <a:pt x="187523" y="142429"/>
                  <a:pt x="167432" y="153591"/>
                  <a:pt x="156270" y="157665"/>
                </a:cubicBezTo>
                <a:lnTo>
                  <a:pt x="156270" y="159786"/>
                </a:lnTo>
                <a:cubicBezTo>
                  <a:pt x="156270" y="167208"/>
                  <a:pt x="150298" y="173180"/>
                  <a:pt x="142875" y="173180"/>
                </a:cubicBezTo>
                <a:cubicBezTo>
                  <a:pt x="135452" y="173180"/>
                  <a:pt x="129480" y="167208"/>
                  <a:pt x="129480" y="159786"/>
                </a:cubicBezTo>
                <a:lnTo>
                  <a:pt x="129480" y="155265"/>
                </a:lnTo>
                <a:cubicBezTo>
                  <a:pt x="129480" y="143824"/>
                  <a:pt x="137740" y="135620"/>
                  <a:pt x="146279" y="132829"/>
                </a:cubicBezTo>
                <a:cubicBezTo>
                  <a:pt x="149851" y="131657"/>
                  <a:pt x="153646" y="129760"/>
                  <a:pt x="156437" y="127081"/>
                </a:cubicBezTo>
                <a:cubicBezTo>
                  <a:pt x="158837" y="124737"/>
                  <a:pt x="160734" y="121500"/>
                  <a:pt x="160734" y="116142"/>
                </a:cubicBezTo>
                <a:cubicBezTo>
                  <a:pt x="160734" y="106263"/>
                  <a:pt x="152753" y="98282"/>
                  <a:pt x="142875" y="98282"/>
                </a:cubicBezTo>
                <a:close/>
                <a:moveTo>
                  <a:pt x="125016" y="205383"/>
                </a:moveTo>
                <a:cubicBezTo>
                  <a:pt x="125016" y="195526"/>
                  <a:pt x="133018" y="187523"/>
                  <a:pt x="142875" y="187523"/>
                </a:cubicBezTo>
                <a:cubicBezTo>
                  <a:pt x="152732" y="187523"/>
                  <a:pt x="160734" y="195526"/>
                  <a:pt x="160734" y="205383"/>
                </a:cubicBezTo>
                <a:cubicBezTo>
                  <a:pt x="160734" y="215240"/>
                  <a:pt x="152732" y="223242"/>
                  <a:pt x="142875" y="223242"/>
                </a:cubicBezTo>
                <a:cubicBezTo>
                  <a:pt x="133018" y="223242"/>
                  <a:pt x="125016" y="215240"/>
                  <a:pt x="125016" y="205383"/>
                </a:cubicBezTo>
                <a:close/>
              </a:path>
            </a:pathLst>
          </a:custGeom>
          <a:solidFill>
            <a:srgbClr val="F0B100"/>
          </a:solidFill>
        </p:spPr>
        <p:txBody>
          <a:bodyPr/>
          <a:lstStyle/>
          <a:p>
            <a:endParaRPr lang="en-US"/>
          </a:p>
        </p:txBody>
      </p:sp>
      <p:sp>
        <p:nvSpPr>
          <p:cNvPr id="11" name="Text 9"/>
          <p:cNvSpPr/>
          <p:nvPr/>
        </p:nvSpPr>
        <p:spPr>
          <a:xfrm>
            <a:off x="4749760" y="3564257"/>
            <a:ext cx="2695575" cy="466725"/>
          </a:xfrm>
          <a:prstGeom prst="rect">
            <a:avLst/>
          </a:prstGeom>
          <a:noFill/>
        </p:spPr>
        <p:txBody>
          <a:bodyPr wrap="square" lIns="0" tIns="0" rIns="0" bIns="0" rtlCol="0" anchor="ctr"/>
          <a:lstStyle/>
          <a:p>
            <a:pPr algn="ctr">
              <a:lnSpc>
                <a:spcPct val="130000"/>
              </a:lnSpc>
            </a:pPr>
            <a:r>
              <a:rPr lang="en-US" sz="2000" b="1" dirty="0">
                <a:solidFill>
                  <a:srgbClr val="1D293D"/>
                </a:solidFill>
                <a:ea typeface="+mj-ea"/>
                <a:cs typeface="MiSans" pitchFamily="34" charset="-120"/>
              </a:rPr>
              <a:t>But can the agent itself continue improving?</a:t>
            </a:r>
            <a:endParaRPr lang="en-US" sz="2800" dirty="0">
              <a:ea typeface="+mj-ea"/>
            </a:endParaRPr>
          </a:p>
        </p:txBody>
      </p:sp>
      <p:sp>
        <p:nvSpPr>
          <p:cNvPr id="12" name="Shape 10"/>
          <p:cNvSpPr/>
          <p:nvPr/>
        </p:nvSpPr>
        <p:spPr>
          <a:xfrm>
            <a:off x="7670721" y="2935607"/>
            <a:ext cx="2695575" cy="1333500"/>
          </a:xfrm>
          <a:custGeom>
            <a:avLst/>
            <a:gdLst/>
            <a:ahLst/>
            <a:cxnLst/>
            <a:rect l="l" t="t" r="r" b="b"/>
            <a:pathLst>
              <a:path w="2695575" h="1333500">
                <a:moveTo>
                  <a:pt x="114294" y="0"/>
                </a:moveTo>
                <a:lnTo>
                  <a:pt x="2581281" y="0"/>
                </a:lnTo>
                <a:cubicBezTo>
                  <a:pt x="2644361" y="0"/>
                  <a:pt x="2695575" y="51214"/>
                  <a:pt x="2695575" y="114294"/>
                </a:cubicBezTo>
                <a:lnTo>
                  <a:pt x="2695575" y="1219206"/>
                </a:lnTo>
                <a:cubicBezTo>
                  <a:pt x="2695575" y="1282286"/>
                  <a:pt x="2644361" y="1333500"/>
                  <a:pt x="2581281" y="1333500"/>
                </a:cubicBezTo>
                <a:lnTo>
                  <a:pt x="114294" y="1333500"/>
                </a:lnTo>
                <a:cubicBezTo>
                  <a:pt x="51214" y="1333500"/>
                  <a:pt x="0" y="1282286"/>
                  <a:pt x="0" y="1219206"/>
                </a:cubicBezTo>
                <a:lnTo>
                  <a:pt x="0" y="114294"/>
                </a:lnTo>
                <a:cubicBezTo>
                  <a:pt x="0" y="51214"/>
                  <a:pt x="51214" y="0"/>
                  <a:pt x="114294" y="0"/>
                </a:cubicBezTo>
                <a:close/>
              </a:path>
            </a:pathLst>
          </a:custGeom>
          <a:solidFill>
            <a:srgbClr val="FDF2F8"/>
          </a:solidFill>
        </p:spPr>
        <p:txBody>
          <a:bodyPr/>
          <a:lstStyle/>
          <a:p>
            <a:endParaRPr lang="en-US"/>
          </a:p>
        </p:txBody>
      </p:sp>
      <p:sp>
        <p:nvSpPr>
          <p:cNvPr id="13" name="Shape 11"/>
          <p:cNvSpPr/>
          <p:nvPr/>
        </p:nvSpPr>
        <p:spPr>
          <a:xfrm>
            <a:off x="8876467" y="3164207"/>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F6339A"/>
          </a:solidFill>
        </p:spPr>
        <p:txBody>
          <a:bodyPr/>
          <a:lstStyle/>
          <a:p>
            <a:endParaRPr lang="en-US"/>
          </a:p>
        </p:txBody>
      </p:sp>
      <p:sp>
        <p:nvSpPr>
          <p:cNvPr id="14" name="Text 12"/>
          <p:cNvSpPr/>
          <p:nvPr/>
        </p:nvSpPr>
        <p:spPr>
          <a:xfrm>
            <a:off x="7670720" y="3564257"/>
            <a:ext cx="2692479" cy="457200"/>
          </a:xfrm>
          <a:prstGeom prst="rect">
            <a:avLst/>
          </a:prstGeom>
          <a:noFill/>
        </p:spPr>
        <p:txBody>
          <a:bodyPr wrap="square" lIns="0" tIns="0" rIns="0" bIns="0" rtlCol="0" anchor="ctr"/>
          <a:lstStyle/>
          <a:p>
            <a:pPr algn="ctr">
              <a:lnSpc>
                <a:spcPct val="130000"/>
              </a:lnSpc>
            </a:pPr>
            <a:r>
              <a:rPr lang="en-US" sz="2000" b="1" dirty="0">
                <a:solidFill>
                  <a:srgbClr val="1D293D"/>
                </a:solidFill>
                <a:ea typeface="MiSans" pitchFamily="34" charset="-122"/>
                <a:cs typeface="MiSans" pitchFamily="34" charset="-120"/>
              </a:rPr>
              <a:t>Can behavior improve through real interaction?</a:t>
            </a:r>
            <a:endParaRPr lang="en-US" sz="2800" dirty="0"/>
          </a:p>
        </p:txBody>
      </p:sp>
      <p:sp>
        <p:nvSpPr>
          <p:cNvPr id="15" name="Shape 13"/>
          <p:cNvSpPr/>
          <p:nvPr/>
        </p:nvSpPr>
        <p:spPr>
          <a:xfrm>
            <a:off x="4236839" y="4570093"/>
            <a:ext cx="3714750" cy="571500"/>
          </a:xfrm>
          <a:custGeom>
            <a:avLst/>
            <a:gdLst/>
            <a:ahLst/>
            <a:cxnLst/>
            <a:rect l="l" t="t" r="r" b="b"/>
            <a:pathLst>
              <a:path w="3714750" h="571500">
                <a:moveTo>
                  <a:pt x="114300" y="0"/>
                </a:moveTo>
                <a:lnTo>
                  <a:pt x="3600450" y="0"/>
                </a:lnTo>
                <a:cubicBezTo>
                  <a:pt x="3663534" y="0"/>
                  <a:pt x="3714750" y="51216"/>
                  <a:pt x="3714750" y="114300"/>
                </a:cubicBezTo>
                <a:lnTo>
                  <a:pt x="3714750" y="457200"/>
                </a:lnTo>
                <a:cubicBezTo>
                  <a:pt x="3714750" y="520284"/>
                  <a:pt x="3663534" y="571500"/>
                  <a:pt x="3600450" y="571500"/>
                </a:cubicBezTo>
                <a:lnTo>
                  <a:pt x="114300" y="571500"/>
                </a:lnTo>
                <a:cubicBezTo>
                  <a:pt x="51216" y="571500"/>
                  <a:pt x="0" y="520284"/>
                  <a:pt x="0" y="457200"/>
                </a:cubicBezTo>
                <a:lnTo>
                  <a:pt x="0" y="114300"/>
                </a:lnTo>
                <a:cubicBezTo>
                  <a:pt x="0" y="51216"/>
                  <a:pt x="51216" y="0"/>
                  <a:pt x="114300" y="0"/>
                </a:cubicBezTo>
                <a:close/>
              </a:path>
            </a:pathLst>
          </a:custGeom>
          <a:solidFill>
            <a:schemeClr val="accent4">
              <a:lumMod val="60000"/>
              <a:lumOff val="40000"/>
            </a:schemeClr>
          </a:solidFill>
        </p:spPr>
        <p:txBody>
          <a:bodyPr/>
          <a:lstStyle/>
          <a:p>
            <a:endParaRPr lang="en-US"/>
          </a:p>
        </p:txBody>
      </p:sp>
      <p:sp>
        <p:nvSpPr>
          <p:cNvPr id="16" name="Shape 14"/>
          <p:cNvSpPr/>
          <p:nvPr/>
        </p:nvSpPr>
        <p:spPr>
          <a:xfrm>
            <a:off x="4589264" y="4760593"/>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FFFFFF"/>
          </a:solidFill>
        </p:spPr>
        <p:txBody>
          <a:bodyPr/>
          <a:lstStyle/>
          <a:p>
            <a:endParaRPr lang="en-US"/>
          </a:p>
        </p:txBody>
      </p:sp>
      <p:sp>
        <p:nvSpPr>
          <p:cNvPr id="17" name="Text 15"/>
          <p:cNvSpPr/>
          <p:nvPr/>
        </p:nvSpPr>
        <p:spPr>
          <a:xfrm>
            <a:off x="4789289" y="4722493"/>
            <a:ext cx="3106966" cy="266700"/>
          </a:xfrm>
          <a:prstGeom prst="rect">
            <a:avLst/>
          </a:prstGeom>
          <a:noFill/>
        </p:spPr>
        <p:txBody>
          <a:bodyPr wrap="square" lIns="0" tIns="0" rIns="0" bIns="0" rtlCol="0" anchor="ctr"/>
          <a:lstStyle/>
          <a:p>
            <a:pPr algn="ctr">
              <a:lnSpc>
                <a:spcPct val="120000"/>
              </a:lnSpc>
            </a:pPr>
            <a:r>
              <a:rPr lang="en-US" sz="2000" b="1" dirty="0">
                <a:solidFill>
                  <a:srgbClr val="FFFFFF"/>
                </a:solidFill>
                <a:ea typeface="Noto Sans SC" panose="020B0200000000000000" pitchFamily="34" charset="-122"/>
                <a:cs typeface="Noto Sans SC" panose="020B0200000000000000" pitchFamily="34" charset="-120"/>
              </a:rPr>
              <a:t>This leads us to OpenClaw-RL</a:t>
            </a:r>
            <a:endParaRPr lang="en-US" sz="2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1" y="381000"/>
            <a:ext cx="9856993" cy="342900"/>
          </a:xfrm>
          <a:prstGeom prst="rect">
            <a:avLst/>
          </a:prstGeom>
          <a:noFill/>
        </p:spPr>
        <p:txBody>
          <a:bodyPr wrap="square" lIns="0" tIns="0" rIns="0" bIns="0" rtlCol="0" anchor="ctr"/>
          <a:lstStyle/>
          <a:p>
            <a:r>
              <a:rPr lang="en-US" sz="4800" b="1" dirty="0" err="1">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OpenClaw</a:t>
            </a: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-RL</a:t>
            </a:r>
          </a:p>
        </p:txBody>
      </p:sp>
      <p:sp>
        <p:nvSpPr>
          <p:cNvPr id="5" name="Text 3"/>
          <p:cNvSpPr/>
          <p:nvPr/>
        </p:nvSpPr>
        <p:spPr>
          <a:xfrm>
            <a:off x="347662" y="1038225"/>
            <a:ext cx="11515725"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A unified RL framework for personal and general agents</a:t>
            </a:r>
          </a:p>
        </p:txBody>
      </p:sp>
      <p:sp>
        <p:nvSpPr>
          <p:cNvPr id="6" name="Shape 4"/>
          <p:cNvSpPr/>
          <p:nvPr/>
        </p:nvSpPr>
        <p:spPr>
          <a:xfrm>
            <a:off x="398979" y="1419225"/>
            <a:ext cx="11410950"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DF2F8"/>
          </a:solidFill>
        </p:spPr>
        <p:txBody>
          <a:bodyPr/>
          <a:lstStyle/>
          <a:p>
            <a:endParaRPr lang="zh-CN" altLang="en-US" dirty="0"/>
          </a:p>
        </p:txBody>
      </p:sp>
      <p:sp>
        <p:nvSpPr>
          <p:cNvPr id="7" name="Shape 5"/>
          <p:cNvSpPr/>
          <p:nvPr/>
        </p:nvSpPr>
        <p:spPr>
          <a:xfrm>
            <a:off x="398979" y="1419225"/>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F6339A"/>
          </a:solidFill>
        </p:spPr>
        <p:txBody>
          <a:bodyPr/>
          <a:lstStyle/>
          <a:p>
            <a:endParaRPr lang="zh-CN" altLang="en-US"/>
          </a:p>
        </p:txBody>
      </p:sp>
      <p:sp>
        <p:nvSpPr>
          <p:cNvPr id="8" name="Shape 6"/>
          <p:cNvSpPr/>
          <p:nvPr/>
        </p:nvSpPr>
        <p:spPr>
          <a:xfrm>
            <a:off x="589479" y="1609725"/>
            <a:ext cx="152400" cy="152400"/>
          </a:xfrm>
          <a:custGeom>
            <a:avLst/>
            <a:gdLst/>
            <a:ahLst/>
            <a:cxnLst/>
            <a:rect l="l" t="t" r="r" b="b"/>
            <a:pathLst>
              <a:path w="152400" h="152400">
                <a:moveTo>
                  <a:pt x="142905" y="57150"/>
                </a:moveTo>
                <a:lnTo>
                  <a:pt x="145256" y="57150"/>
                </a:lnTo>
                <a:cubicBezTo>
                  <a:pt x="149215" y="57150"/>
                  <a:pt x="152400" y="53965"/>
                  <a:pt x="152400" y="50006"/>
                </a:cubicBezTo>
                <a:lnTo>
                  <a:pt x="152400" y="7144"/>
                </a:lnTo>
                <a:cubicBezTo>
                  <a:pt x="152400" y="4256"/>
                  <a:pt x="150674" y="1637"/>
                  <a:pt x="147995" y="536"/>
                </a:cubicBezTo>
                <a:cubicBezTo>
                  <a:pt x="145316" y="-566"/>
                  <a:pt x="142250" y="60"/>
                  <a:pt x="140196" y="2084"/>
                </a:cubicBezTo>
                <a:lnTo>
                  <a:pt x="124807" y="17502"/>
                </a:lnTo>
                <a:cubicBezTo>
                  <a:pt x="111621" y="6578"/>
                  <a:pt x="94655" y="0"/>
                  <a:pt x="76200" y="0"/>
                </a:cubicBezTo>
                <a:cubicBezTo>
                  <a:pt x="37802" y="0"/>
                  <a:pt x="6042" y="28396"/>
                  <a:pt x="774" y="65336"/>
                </a:cubicBezTo>
                <a:cubicBezTo>
                  <a:pt x="30" y="70545"/>
                  <a:pt x="3631" y="75367"/>
                  <a:pt x="8840" y="76111"/>
                </a:cubicBezTo>
                <a:cubicBezTo>
                  <a:pt x="14049" y="76855"/>
                  <a:pt x="18871" y="73223"/>
                  <a:pt x="19616" y="68044"/>
                </a:cubicBezTo>
                <a:cubicBezTo>
                  <a:pt x="23574" y="40332"/>
                  <a:pt x="47417" y="19050"/>
                  <a:pt x="76200" y="19050"/>
                </a:cubicBezTo>
                <a:cubicBezTo>
                  <a:pt x="89416" y="19050"/>
                  <a:pt x="101560" y="23515"/>
                  <a:pt x="111234" y="31046"/>
                </a:cubicBezTo>
                <a:lnTo>
                  <a:pt x="97334" y="44946"/>
                </a:lnTo>
                <a:cubicBezTo>
                  <a:pt x="95280" y="47000"/>
                  <a:pt x="94684" y="50066"/>
                  <a:pt x="95786" y="52745"/>
                </a:cubicBezTo>
                <a:cubicBezTo>
                  <a:pt x="96887" y="55424"/>
                  <a:pt x="99506" y="57150"/>
                  <a:pt x="102394" y="57150"/>
                </a:cubicBezTo>
                <a:lnTo>
                  <a:pt x="142905" y="57150"/>
                </a:lnTo>
                <a:close/>
                <a:moveTo>
                  <a:pt x="151656" y="87064"/>
                </a:moveTo>
                <a:cubicBezTo>
                  <a:pt x="152400" y="81855"/>
                  <a:pt x="148769" y="77033"/>
                  <a:pt x="143589" y="76289"/>
                </a:cubicBezTo>
                <a:cubicBezTo>
                  <a:pt x="138410" y="75545"/>
                  <a:pt x="133558" y="79177"/>
                  <a:pt x="132814" y="84356"/>
                </a:cubicBezTo>
                <a:cubicBezTo>
                  <a:pt x="128855" y="112038"/>
                  <a:pt x="105013" y="133320"/>
                  <a:pt x="76230" y="133320"/>
                </a:cubicBezTo>
                <a:cubicBezTo>
                  <a:pt x="63014" y="133320"/>
                  <a:pt x="50869" y="128855"/>
                  <a:pt x="41196" y="121325"/>
                </a:cubicBezTo>
                <a:lnTo>
                  <a:pt x="55066" y="107454"/>
                </a:lnTo>
                <a:cubicBezTo>
                  <a:pt x="57120" y="105400"/>
                  <a:pt x="57716" y="102334"/>
                  <a:pt x="56614" y="99655"/>
                </a:cubicBezTo>
                <a:cubicBezTo>
                  <a:pt x="55513" y="96976"/>
                  <a:pt x="52894" y="95250"/>
                  <a:pt x="50006" y="95250"/>
                </a:cubicBezTo>
                <a:lnTo>
                  <a:pt x="7144" y="95250"/>
                </a:lnTo>
                <a:cubicBezTo>
                  <a:pt x="3185" y="95250"/>
                  <a:pt x="0" y="98435"/>
                  <a:pt x="0" y="102394"/>
                </a:cubicBezTo>
                <a:lnTo>
                  <a:pt x="0" y="145256"/>
                </a:lnTo>
                <a:cubicBezTo>
                  <a:pt x="0" y="148144"/>
                  <a:pt x="1726" y="150763"/>
                  <a:pt x="4405" y="151864"/>
                </a:cubicBezTo>
                <a:cubicBezTo>
                  <a:pt x="7084" y="152966"/>
                  <a:pt x="10150" y="152340"/>
                  <a:pt x="12204" y="150316"/>
                </a:cubicBezTo>
                <a:lnTo>
                  <a:pt x="27622" y="134898"/>
                </a:lnTo>
                <a:cubicBezTo>
                  <a:pt x="40779" y="145822"/>
                  <a:pt x="57745" y="152400"/>
                  <a:pt x="76200" y="152400"/>
                </a:cubicBezTo>
                <a:cubicBezTo>
                  <a:pt x="114598" y="152400"/>
                  <a:pt x="146358" y="124004"/>
                  <a:pt x="151626" y="87064"/>
                </a:cubicBezTo>
                <a:close/>
              </a:path>
            </a:pathLst>
          </a:custGeom>
          <a:solidFill>
            <a:srgbClr val="A3004C"/>
          </a:solidFill>
        </p:spPr>
        <p:txBody>
          <a:bodyPr/>
          <a:lstStyle/>
          <a:p>
            <a:endParaRPr lang="en-US"/>
          </a:p>
        </p:txBody>
      </p:sp>
      <p:sp>
        <p:nvSpPr>
          <p:cNvPr id="9" name="Text 7"/>
          <p:cNvSpPr/>
          <p:nvPr/>
        </p:nvSpPr>
        <p:spPr>
          <a:xfrm>
            <a:off x="818079" y="1571625"/>
            <a:ext cx="5086350" cy="228600"/>
          </a:xfrm>
          <a:prstGeom prst="rect">
            <a:avLst/>
          </a:prstGeom>
          <a:noFill/>
        </p:spPr>
        <p:txBody>
          <a:bodyPr wrap="square" lIns="0" tIns="0" rIns="0" bIns="0" rtlCol="0" anchor="ctr"/>
          <a:lstStyle/>
          <a:p>
            <a:pPr>
              <a:lnSpc>
                <a:spcPct val="130000"/>
              </a:lnSpc>
            </a:pPr>
            <a:r>
              <a:rPr lang="en-US" sz="2000" b="1" dirty="0">
                <a:solidFill>
                  <a:srgbClr val="A3004C"/>
                </a:solidFill>
                <a:ea typeface="MiSans" pitchFamily="34" charset="-122"/>
                <a:cs typeface="MiSans" pitchFamily="34" charset="-120"/>
              </a:rPr>
              <a:t>Key Design Principle</a:t>
            </a:r>
            <a:endParaRPr lang="en-US" sz="2800" dirty="0"/>
          </a:p>
        </p:txBody>
      </p:sp>
      <p:sp>
        <p:nvSpPr>
          <p:cNvPr id="10" name="Text 8"/>
          <p:cNvSpPr/>
          <p:nvPr/>
        </p:nvSpPr>
        <p:spPr>
          <a:xfrm>
            <a:off x="570429" y="1876425"/>
            <a:ext cx="9117784" cy="457200"/>
          </a:xfrm>
          <a:prstGeom prst="rect">
            <a:avLst/>
          </a:prstGeom>
          <a:noFill/>
        </p:spPr>
        <p:txBody>
          <a:bodyPr wrap="square" lIns="0" tIns="0" rIns="0" bIns="0" rtlCol="0" anchor="ctr"/>
          <a:lstStyle/>
          <a:p>
            <a:pPr>
              <a:lnSpc>
                <a:spcPct val="130000"/>
              </a:lnSpc>
            </a:pPr>
            <a:r>
              <a:rPr lang="en-US" sz="1400" b="1" dirty="0">
                <a:solidFill>
                  <a:srgbClr val="C6005C"/>
                </a:solidFill>
                <a:ea typeface="MiSans" pitchFamily="34" charset="-122"/>
                <a:cs typeface="MiSans" pitchFamily="34" charset="-120"/>
              </a:rPr>
              <a:t>Train while serving</a:t>
            </a:r>
            <a:r>
              <a:rPr lang="en-US" sz="1400" dirty="0">
                <a:solidFill>
                  <a:srgbClr val="C6005C"/>
                </a:solidFill>
                <a:ea typeface="MiSans" pitchFamily="34" charset="-122"/>
                <a:cs typeface="MiSans" pitchFamily="34" charset="-120"/>
              </a:rPr>
              <a:t>—the system handles requests while the policy improves asynchronously in the background.</a:t>
            </a:r>
            <a:endParaRPr lang="en-US" dirty="0"/>
          </a:p>
        </p:txBody>
      </p:sp>
      <p:sp>
        <p:nvSpPr>
          <p:cNvPr id="11" name="Shape 9"/>
          <p:cNvSpPr/>
          <p:nvPr/>
        </p:nvSpPr>
        <p:spPr>
          <a:xfrm>
            <a:off x="398979" y="28765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615FFF"/>
          </a:solidFill>
        </p:spPr>
        <p:txBody>
          <a:bodyPr/>
          <a:lstStyle/>
          <a:p>
            <a:endParaRPr lang="en-US"/>
          </a:p>
        </p:txBody>
      </p:sp>
      <p:sp>
        <p:nvSpPr>
          <p:cNvPr id="12" name="Text 10"/>
          <p:cNvSpPr/>
          <p:nvPr/>
        </p:nvSpPr>
        <p:spPr>
          <a:xfrm>
            <a:off x="360879" y="2876550"/>
            <a:ext cx="457200" cy="3810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1</a:t>
            </a:r>
            <a:endParaRPr lang="en-US" sz="1600" dirty="0"/>
          </a:p>
        </p:txBody>
      </p:sp>
      <p:sp>
        <p:nvSpPr>
          <p:cNvPr id="13" name="Text 11"/>
          <p:cNvSpPr/>
          <p:nvPr/>
        </p:nvSpPr>
        <p:spPr>
          <a:xfrm>
            <a:off x="884754" y="2819400"/>
            <a:ext cx="2895600" cy="342900"/>
          </a:xfrm>
          <a:prstGeom prst="rect">
            <a:avLst/>
          </a:prstGeom>
          <a:noFill/>
        </p:spPr>
        <p:txBody>
          <a:bodyPr wrap="square" lIns="0" tIns="0" rIns="0" bIns="0" rtlCol="0" anchor="ctr"/>
          <a:lstStyle/>
          <a:p>
            <a:pPr>
              <a:lnSpc>
                <a:spcPct val="130000"/>
              </a:lnSpc>
            </a:pPr>
            <a:r>
              <a:rPr lang="en-US" b="1" dirty="0">
                <a:solidFill>
                  <a:srgbClr val="1D293D"/>
                </a:solidFill>
                <a:latin typeface="+mn-ea"/>
                <a:cs typeface="MiSans" pitchFamily="34" charset="-120"/>
              </a:rPr>
              <a:t>Agent Environments</a:t>
            </a:r>
            <a:endParaRPr lang="en-US" sz="2400" dirty="0">
              <a:latin typeface="+mn-ea"/>
            </a:endParaRPr>
          </a:p>
        </p:txBody>
      </p:sp>
      <p:sp>
        <p:nvSpPr>
          <p:cNvPr id="14" name="Text 12"/>
          <p:cNvSpPr/>
          <p:nvPr/>
        </p:nvSpPr>
        <p:spPr>
          <a:xfrm>
            <a:off x="894279" y="3086100"/>
            <a:ext cx="3355946" cy="381000"/>
          </a:xfrm>
          <a:prstGeom prst="rect">
            <a:avLst/>
          </a:prstGeom>
          <a:noFill/>
        </p:spPr>
        <p:txBody>
          <a:bodyPr wrap="square" lIns="0" tIns="0" rIns="0" bIns="0" rtlCol="0" anchor="ctr"/>
          <a:lstStyle/>
          <a:p>
            <a:pPr>
              <a:lnSpc>
                <a:spcPct val="120000"/>
              </a:lnSpc>
            </a:pPr>
            <a:r>
              <a:rPr lang="en-US" sz="1400" dirty="0">
                <a:solidFill>
                  <a:srgbClr val="45556C"/>
                </a:solidFill>
                <a:latin typeface="+mn-ea"/>
                <a:cs typeface="MiSans" pitchFamily="34" charset="-120"/>
              </a:rPr>
              <a:t>Personal, Terminal, GUI, SWE, Tool-call agents</a:t>
            </a:r>
            <a:endParaRPr lang="en-US" sz="2400" dirty="0">
              <a:latin typeface="+mn-ea"/>
            </a:endParaRPr>
          </a:p>
        </p:txBody>
      </p:sp>
      <p:sp>
        <p:nvSpPr>
          <p:cNvPr id="15" name="Shape 13"/>
          <p:cNvSpPr/>
          <p:nvPr/>
        </p:nvSpPr>
        <p:spPr>
          <a:xfrm>
            <a:off x="532329" y="3390900"/>
            <a:ext cx="114300" cy="152400"/>
          </a:xfrm>
          <a:custGeom>
            <a:avLst/>
            <a:gdLst/>
            <a:ahLst/>
            <a:cxnLst/>
            <a:rect l="l" t="t" r="r" b="b"/>
            <a:pathLst>
              <a:path w="114300" h="152400">
                <a:moveTo>
                  <a:pt x="50423" y="149602"/>
                </a:moveTo>
                <a:cubicBezTo>
                  <a:pt x="54144" y="153323"/>
                  <a:pt x="60186" y="153323"/>
                  <a:pt x="63907" y="149602"/>
                </a:cubicBezTo>
                <a:lnTo>
                  <a:pt x="111532" y="101977"/>
                </a:lnTo>
                <a:cubicBezTo>
                  <a:pt x="115253" y="98256"/>
                  <a:pt x="115253" y="92214"/>
                  <a:pt x="111532" y="88493"/>
                </a:cubicBezTo>
                <a:cubicBezTo>
                  <a:pt x="107811" y="84773"/>
                  <a:pt x="101769" y="84773"/>
                  <a:pt x="98048" y="88493"/>
                </a:cubicBezTo>
                <a:lnTo>
                  <a:pt x="66675" y="119866"/>
                </a:lnTo>
                <a:lnTo>
                  <a:pt x="66675" y="9525"/>
                </a:lnTo>
                <a:cubicBezTo>
                  <a:pt x="66675" y="4256"/>
                  <a:pt x="62419" y="0"/>
                  <a:pt x="57150" y="0"/>
                </a:cubicBezTo>
                <a:cubicBezTo>
                  <a:pt x="51881" y="0"/>
                  <a:pt x="47625" y="4256"/>
                  <a:pt x="47625" y="9525"/>
                </a:cubicBezTo>
                <a:lnTo>
                  <a:pt x="47625" y="119866"/>
                </a:lnTo>
                <a:lnTo>
                  <a:pt x="16252" y="88493"/>
                </a:lnTo>
                <a:cubicBezTo>
                  <a:pt x="12531" y="84772"/>
                  <a:pt x="6489" y="84772"/>
                  <a:pt x="2768" y="88493"/>
                </a:cubicBezTo>
                <a:cubicBezTo>
                  <a:pt x="-953" y="92214"/>
                  <a:pt x="-953" y="98256"/>
                  <a:pt x="2768" y="101977"/>
                </a:cubicBezTo>
                <a:lnTo>
                  <a:pt x="50393" y="149602"/>
                </a:lnTo>
                <a:close/>
              </a:path>
            </a:pathLst>
          </a:custGeom>
          <a:solidFill>
            <a:srgbClr val="7C86FF"/>
          </a:solidFill>
        </p:spPr>
        <p:txBody>
          <a:bodyPr/>
          <a:lstStyle/>
          <a:p>
            <a:endParaRPr lang="zh-CN" altLang="en-US"/>
          </a:p>
        </p:txBody>
      </p:sp>
      <p:sp>
        <p:nvSpPr>
          <p:cNvPr id="16" name="Shape 14"/>
          <p:cNvSpPr/>
          <p:nvPr/>
        </p:nvSpPr>
        <p:spPr>
          <a:xfrm>
            <a:off x="398979" y="36766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AD46FF"/>
          </a:solidFill>
        </p:spPr>
        <p:txBody>
          <a:bodyPr/>
          <a:lstStyle/>
          <a:p>
            <a:endParaRPr lang="en-US"/>
          </a:p>
        </p:txBody>
      </p:sp>
      <p:sp>
        <p:nvSpPr>
          <p:cNvPr id="17" name="Text 15"/>
          <p:cNvSpPr/>
          <p:nvPr/>
        </p:nvSpPr>
        <p:spPr>
          <a:xfrm>
            <a:off x="360879" y="3676650"/>
            <a:ext cx="457200" cy="3810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2</a:t>
            </a:r>
            <a:endParaRPr lang="en-US" sz="1600" dirty="0"/>
          </a:p>
        </p:txBody>
      </p:sp>
      <p:sp>
        <p:nvSpPr>
          <p:cNvPr id="18" name="Text 16"/>
          <p:cNvSpPr/>
          <p:nvPr/>
        </p:nvSpPr>
        <p:spPr>
          <a:xfrm>
            <a:off x="894279" y="3657600"/>
            <a:ext cx="2625819" cy="304800"/>
          </a:xfrm>
          <a:prstGeom prst="rect">
            <a:avLst/>
          </a:prstGeom>
          <a:noFill/>
        </p:spPr>
        <p:txBody>
          <a:bodyPr wrap="square" lIns="0" tIns="0" rIns="0" bIns="0" rtlCol="0" anchor="ctr"/>
          <a:lstStyle/>
          <a:p>
            <a:pPr>
              <a:lnSpc>
                <a:spcPct val="130000"/>
              </a:lnSpc>
            </a:pPr>
            <a:r>
              <a:rPr lang="en-US" b="1" dirty="0">
                <a:solidFill>
                  <a:srgbClr val="1D293D"/>
                </a:solidFill>
                <a:latin typeface="+mn-ea"/>
                <a:cs typeface="MiSans" pitchFamily="34" charset="-120"/>
              </a:rPr>
              <a:t>Environment Servers</a:t>
            </a:r>
            <a:endParaRPr lang="en-US" sz="2400" dirty="0">
              <a:latin typeface="+mn-ea"/>
            </a:endParaRPr>
          </a:p>
        </p:txBody>
      </p:sp>
      <p:sp>
        <p:nvSpPr>
          <p:cNvPr id="19" name="Text 17"/>
          <p:cNvSpPr/>
          <p:nvPr/>
        </p:nvSpPr>
        <p:spPr>
          <a:xfrm>
            <a:off x="894279" y="3886200"/>
            <a:ext cx="2579964" cy="381000"/>
          </a:xfrm>
          <a:prstGeom prst="rect">
            <a:avLst/>
          </a:prstGeom>
          <a:noFill/>
        </p:spPr>
        <p:txBody>
          <a:bodyPr wrap="square" lIns="0" tIns="0" rIns="0" bIns="0" rtlCol="0" anchor="ctr"/>
          <a:lstStyle/>
          <a:p>
            <a:pPr>
              <a:lnSpc>
                <a:spcPct val="120000"/>
              </a:lnSpc>
            </a:pPr>
            <a:r>
              <a:rPr lang="en-US" sz="1400" dirty="0">
                <a:solidFill>
                  <a:srgbClr val="45556C"/>
                </a:solidFill>
                <a:latin typeface="+mn-ea"/>
                <a:cs typeface="MiSans" pitchFamily="34" charset="-120"/>
              </a:rPr>
              <a:t>Route interactions, collect data</a:t>
            </a:r>
            <a:endParaRPr lang="en-US" sz="2400" dirty="0">
              <a:latin typeface="+mn-ea"/>
            </a:endParaRPr>
          </a:p>
        </p:txBody>
      </p:sp>
      <p:sp>
        <p:nvSpPr>
          <p:cNvPr id="20" name="Shape 18"/>
          <p:cNvSpPr/>
          <p:nvPr/>
        </p:nvSpPr>
        <p:spPr>
          <a:xfrm>
            <a:off x="532329" y="4191000"/>
            <a:ext cx="114300" cy="152400"/>
          </a:xfrm>
          <a:custGeom>
            <a:avLst/>
            <a:gdLst/>
            <a:ahLst/>
            <a:cxnLst/>
            <a:rect l="l" t="t" r="r" b="b"/>
            <a:pathLst>
              <a:path w="114300" h="152400">
                <a:moveTo>
                  <a:pt x="50423" y="149602"/>
                </a:moveTo>
                <a:cubicBezTo>
                  <a:pt x="54144" y="153323"/>
                  <a:pt x="60186" y="153323"/>
                  <a:pt x="63907" y="149602"/>
                </a:cubicBezTo>
                <a:lnTo>
                  <a:pt x="111532" y="101977"/>
                </a:lnTo>
                <a:cubicBezTo>
                  <a:pt x="115253" y="98256"/>
                  <a:pt x="115253" y="92214"/>
                  <a:pt x="111532" y="88493"/>
                </a:cubicBezTo>
                <a:cubicBezTo>
                  <a:pt x="107811" y="84773"/>
                  <a:pt x="101769" y="84773"/>
                  <a:pt x="98048" y="88493"/>
                </a:cubicBezTo>
                <a:lnTo>
                  <a:pt x="66675" y="119866"/>
                </a:lnTo>
                <a:lnTo>
                  <a:pt x="66675" y="9525"/>
                </a:lnTo>
                <a:cubicBezTo>
                  <a:pt x="66675" y="4256"/>
                  <a:pt x="62419" y="0"/>
                  <a:pt x="57150" y="0"/>
                </a:cubicBezTo>
                <a:cubicBezTo>
                  <a:pt x="51881" y="0"/>
                  <a:pt x="47625" y="4256"/>
                  <a:pt x="47625" y="9525"/>
                </a:cubicBezTo>
                <a:lnTo>
                  <a:pt x="47625" y="119866"/>
                </a:lnTo>
                <a:lnTo>
                  <a:pt x="16252" y="88493"/>
                </a:lnTo>
                <a:cubicBezTo>
                  <a:pt x="12531" y="84772"/>
                  <a:pt x="6489" y="84772"/>
                  <a:pt x="2768" y="88493"/>
                </a:cubicBezTo>
                <a:cubicBezTo>
                  <a:pt x="-953" y="92214"/>
                  <a:pt x="-953" y="98256"/>
                  <a:pt x="2768" y="101977"/>
                </a:cubicBezTo>
                <a:lnTo>
                  <a:pt x="50393" y="149602"/>
                </a:lnTo>
                <a:close/>
              </a:path>
            </a:pathLst>
          </a:custGeom>
          <a:solidFill>
            <a:srgbClr val="C27AFF"/>
          </a:solidFill>
        </p:spPr>
        <p:txBody>
          <a:bodyPr/>
          <a:lstStyle/>
          <a:p>
            <a:endParaRPr lang="zh-CN" altLang="en-US"/>
          </a:p>
        </p:txBody>
      </p:sp>
      <p:sp>
        <p:nvSpPr>
          <p:cNvPr id="21" name="Shape 19"/>
          <p:cNvSpPr/>
          <p:nvPr/>
        </p:nvSpPr>
        <p:spPr>
          <a:xfrm>
            <a:off x="398979" y="447675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6339A"/>
          </a:solidFill>
        </p:spPr>
        <p:txBody>
          <a:bodyPr/>
          <a:lstStyle/>
          <a:p>
            <a:endParaRPr lang="en-US"/>
          </a:p>
        </p:txBody>
      </p:sp>
      <p:sp>
        <p:nvSpPr>
          <p:cNvPr id="22" name="Text 20"/>
          <p:cNvSpPr/>
          <p:nvPr/>
        </p:nvSpPr>
        <p:spPr>
          <a:xfrm>
            <a:off x="360879" y="4476750"/>
            <a:ext cx="457200" cy="381000"/>
          </a:xfrm>
          <a:prstGeom prst="rect">
            <a:avLst/>
          </a:prstGeom>
          <a:noFill/>
        </p:spPr>
        <p:txBody>
          <a:bodyPr wrap="square" lIns="0" tIns="0" rIns="0" bIns="0" rtlCol="0" anchor="ctr"/>
          <a:lstStyle/>
          <a:p>
            <a:pPr algn="ctr">
              <a:lnSpc>
                <a:spcPct val="130000"/>
              </a:lnSpc>
            </a:pPr>
            <a:r>
              <a:rPr lang="en-US" sz="1200" b="1" dirty="0">
                <a:solidFill>
                  <a:srgbClr val="FFFFFF"/>
                </a:solidFill>
                <a:latin typeface="MiSans" pitchFamily="34" charset="-122"/>
                <a:ea typeface="MiSans" pitchFamily="34" charset="-122"/>
                <a:cs typeface="MiSans" pitchFamily="34" charset="-120"/>
              </a:rPr>
              <a:t>3</a:t>
            </a:r>
            <a:endParaRPr lang="en-US" sz="1600" dirty="0"/>
          </a:p>
        </p:txBody>
      </p:sp>
      <p:sp>
        <p:nvSpPr>
          <p:cNvPr id="23" name="Text 21"/>
          <p:cNvSpPr/>
          <p:nvPr/>
        </p:nvSpPr>
        <p:spPr>
          <a:xfrm>
            <a:off x="894280" y="4419600"/>
            <a:ext cx="1715898" cy="381000"/>
          </a:xfrm>
          <a:prstGeom prst="rect">
            <a:avLst/>
          </a:prstGeom>
          <a:noFill/>
        </p:spPr>
        <p:txBody>
          <a:bodyPr wrap="square" lIns="0" tIns="0" rIns="0" bIns="0" rtlCol="0" anchor="ctr"/>
          <a:lstStyle/>
          <a:p>
            <a:pPr>
              <a:lnSpc>
                <a:spcPct val="130000"/>
              </a:lnSpc>
            </a:pPr>
            <a:r>
              <a:rPr lang="en-US" b="1" dirty="0">
                <a:solidFill>
                  <a:srgbClr val="1D293D"/>
                </a:solidFill>
                <a:latin typeface="+mn-ea"/>
                <a:cs typeface="MiSans" pitchFamily="34" charset="-120"/>
              </a:rPr>
              <a:t>Training Loop</a:t>
            </a:r>
            <a:endParaRPr lang="en-US" sz="2400" dirty="0">
              <a:latin typeface="+mn-ea"/>
            </a:endParaRPr>
          </a:p>
        </p:txBody>
      </p:sp>
      <p:sp>
        <p:nvSpPr>
          <p:cNvPr id="24" name="Text 22"/>
          <p:cNvSpPr/>
          <p:nvPr/>
        </p:nvSpPr>
        <p:spPr>
          <a:xfrm>
            <a:off x="894279" y="4686300"/>
            <a:ext cx="3322390" cy="381000"/>
          </a:xfrm>
          <a:prstGeom prst="rect">
            <a:avLst/>
          </a:prstGeom>
          <a:noFill/>
        </p:spPr>
        <p:txBody>
          <a:bodyPr wrap="square" lIns="0" tIns="0" rIns="0" bIns="0" rtlCol="0" anchor="ctr"/>
          <a:lstStyle/>
          <a:p>
            <a:pPr>
              <a:lnSpc>
                <a:spcPct val="120000"/>
              </a:lnSpc>
            </a:pPr>
            <a:r>
              <a:rPr lang="en-US" sz="1400" dirty="0">
                <a:solidFill>
                  <a:srgbClr val="45556C"/>
                </a:solidFill>
                <a:latin typeface="+mn-ea"/>
                <a:cs typeface="MiSans" pitchFamily="34" charset="-120"/>
              </a:rPr>
              <a:t>Policy server + RL engine + reward modeling</a:t>
            </a:r>
            <a:endParaRPr lang="en-US" sz="2400" dirty="0">
              <a:latin typeface="+mn-ea"/>
            </a:endParaRPr>
          </a:p>
        </p:txBody>
      </p:sp>
      <p:sp>
        <p:nvSpPr>
          <p:cNvPr id="25" name="Shape 23"/>
          <p:cNvSpPr/>
          <p:nvPr/>
        </p:nvSpPr>
        <p:spPr>
          <a:xfrm>
            <a:off x="4497875" y="2771775"/>
            <a:ext cx="6893120" cy="2267999"/>
          </a:xfrm>
          <a:custGeom>
            <a:avLst/>
            <a:gdLst/>
            <a:ahLst/>
            <a:cxnLst/>
            <a:rect l="l" t="t" r="r" b="b"/>
            <a:pathLst>
              <a:path w="5575935" h="4204335">
                <a:moveTo>
                  <a:pt x="114316" y="0"/>
                </a:moveTo>
                <a:lnTo>
                  <a:pt x="5461619" y="0"/>
                </a:lnTo>
                <a:cubicBezTo>
                  <a:pt x="5524754" y="0"/>
                  <a:pt x="5575935" y="51181"/>
                  <a:pt x="5575935" y="114316"/>
                </a:cubicBezTo>
                <a:lnTo>
                  <a:pt x="5575935" y="4090019"/>
                </a:lnTo>
                <a:cubicBezTo>
                  <a:pt x="5575935" y="4153154"/>
                  <a:pt x="5524754" y="4204335"/>
                  <a:pt x="5461619" y="4204335"/>
                </a:cubicBezTo>
                <a:lnTo>
                  <a:pt x="114316" y="4204335"/>
                </a:lnTo>
                <a:cubicBezTo>
                  <a:pt x="51181" y="4204335"/>
                  <a:pt x="0" y="4153154"/>
                  <a:pt x="0" y="4090019"/>
                </a:cubicBezTo>
                <a:lnTo>
                  <a:pt x="0" y="114316"/>
                </a:lnTo>
                <a:cubicBezTo>
                  <a:pt x="0" y="51181"/>
                  <a:pt x="51181" y="0"/>
                  <a:pt x="114316"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zh-CN" altLang="en-US"/>
          </a:p>
        </p:txBody>
      </p:sp>
      <p:sp>
        <p:nvSpPr>
          <p:cNvPr id="27" name="Text 25"/>
          <p:cNvSpPr/>
          <p:nvPr/>
        </p:nvSpPr>
        <p:spPr>
          <a:xfrm>
            <a:off x="8259246" y="3276600"/>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28" name="Text 26"/>
          <p:cNvSpPr/>
          <p:nvPr/>
        </p:nvSpPr>
        <p:spPr>
          <a:xfrm>
            <a:off x="7652861" y="3619500"/>
            <a:ext cx="2800350"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OpenClaw-RL Overall Framework</a:t>
            </a:r>
            <a:endParaRPr lang="en-US" sz="1600" dirty="0"/>
          </a:p>
        </p:txBody>
      </p:sp>
      <p:sp>
        <p:nvSpPr>
          <p:cNvPr id="29" name="Text 27"/>
          <p:cNvSpPr/>
          <p:nvPr/>
        </p:nvSpPr>
        <p:spPr>
          <a:xfrm>
            <a:off x="6776442" y="3962400"/>
            <a:ext cx="4533900"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System architecture showing environments, servers, and training loop</a:t>
            </a:r>
            <a:endParaRPr lang="en-US" sz="1600" dirty="0"/>
          </a:p>
        </p:txBody>
      </p:sp>
      <p:sp>
        <p:nvSpPr>
          <p:cNvPr id="32" name="Shape 30"/>
          <p:cNvSpPr/>
          <p:nvPr/>
        </p:nvSpPr>
        <p:spPr>
          <a:xfrm>
            <a:off x="347662" y="5524500"/>
            <a:ext cx="11410950" cy="533400"/>
          </a:xfrm>
          <a:custGeom>
            <a:avLst/>
            <a:gdLst/>
            <a:ahLst/>
            <a:cxnLst/>
            <a:rect l="l" t="t" r="r" b="b"/>
            <a:pathLst>
              <a:path w="11410950" h="533400">
                <a:moveTo>
                  <a:pt x="0" y="0"/>
                </a:moveTo>
                <a:lnTo>
                  <a:pt x="11334748" y="0"/>
                </a:lnTo>
                <a:cubicBezTo>
                  <a:pt x="11376833" y="0"/>
                  <a:pt x="11410950" y="34117"/>
                  <a:pt x="11410950" y="76202"/>
                </a:cubicBezTo>
                <a:lnTo>
                  <a:pt x="11410950" y="457198"/>
                </a:lnTo>
                <a:cubicBezTo>
                  <a:pt x="11410950" y="499283"/>
                  <a:pt x="11376833" y="533400"/>
                  <a:pt x="11334748" y="533400"/>
                </a:cubicBezTo>
                <a:lnTo>
                  <a:pt x="0" y="533400"/>
                </a:lnTo>
                <a:lnTo>
                  <a:pt x="0" y="0"/>
                </a:lnTo>
                <a:close/>
              </a:path>
            </a:pathLst>
          </a:custGeom>
          <a:solidFill>
            <a:srgbClr val="FDF2F8"/>
          </a:solidFill>
        </p:spPr>
        <p:txBody>
          <a:bodyPr/>
          <a:lstStyle/>
          <a:p>
            <a:endParaRPr lang="zh-CN" altLang="en-US"/>
          </a:p>
        </p:txBody>
      </p:sp>
      <p:sp>
        <p:nvSpPr>
          <p:cNvPr id="33" name="Shape 31"/>
          <p:cNvSpPr/>
          <p:nvPr/>
        </p:nvSpPr>
        <p:spPr>
          <a:xfrm>
            <a:off x="347662" y="5524500"/>
            <a:ext cx="38100" cy="533400"/>
          </a:xfrm>
          <a:custGeom>
            <a:avLst/>
            <a:gdLst/>
            <a:ahLst/>
            <a:cxnLst/>
            <a:rect l="l" t="t" r="r" b="b"/>
            <a:pathLst>
              <a:path w="38100" h="533400">
                <a:moveTo>
                  <a:pt x="0" y="0"/>
                </a:moveTo>
                <a:lnTo>
                  <a:pt x="38100" y="0"/>
                </a:lnTo>
                <a:lnTo>
                  <a:pt x="38100" y="533400"/>
                </a:lnTo>
                <a:lnTo>
                  <a:pt x="0" y="533400"/>
                </a:lnTo>
                <a:lnTo>
                  <a:pt x="0" y="0"/>
                </a:lnTo>
                <a:close/>
              </a:path>
            </a:pathLst>
          </a:custGeom>
          <a:solidFill>
            <a:srgbClr val="F6339A"/>
          </a:solidFill>
        </p:spPr>
        <p:txBody>
          <a:bodyPr/>
          <a:lstStyle/>
          <a:p>
            <a:endParaRPr lang="en-US"/>
          </a:p>
        </p:txBody>
      </p:sp>
      <p:sp>
        <p:nvSpPr>
          <p:cNvPr id="34" name="Shape 32"/>
          <p:cNvSpPr/>
          <p:nvPr/>
        </p:nvSpPr>
        <p:spPr>
          <a:xfrm>
            <a:off x="528637" y="571500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A3004C"/>
          </a:solidFill>
        </p:spPr>
        <p:txBody>
          <a:bodyPr/>
          <a:lstStyle/>
          <a:p>
            <a:endParaRPr lang="en-US"/>
          </a:p>
        </p:txBody>
      </p:sp>
      <p:sp>
        <p:nvSpPr>
          <p:cNvPr id="35" name="Text 33"/>
          <p:cNvSpPr/>
          <p:nvPr/>
        </p:nvSpPr>
        <p:spPr>
          <a:xfrm>
            <a:off x="766762" y="5676900"/>
            <a:ext cx="10915650" cy="228600"/>
          </a:xfrm>
          <a:prstGeom prst="rect">
            <a:avLst/>
          </a:prstGeom>
          <a:noFill/>
        </p:spPr>
        <p:txBody>
          <a:bodyPr wrap="square" lIns="0" tIns="0" rIns="0" bIns="0" rtlCol="0" anchor="ctr"/>
          <a:lstStyle/>
          <a:p>
            <a:pPr>
              <a:lnSpc>
                <a:spcPct val="130000"/>
              </a:lnSpc>
            </a:pPr>
            <a:r>
              <a:rPr lang="en-US" sz="2000" b="1" dirty="0">
                <a:solidFill>
                  <a:srgbClr val="A3004C"/>
                </a:solidFill>
                <a:ea typeface="MiSans" pitchFamily="34" charset="-122"/>
                <a:cs typeface="MiSans" pitchFamily="34" charset="-120"/>
              </a:rPr>
              <a:t>OpenClaw-RL turns deployed agents into continually trainable systems.</a:t>
            </a:r>
            <a:endParaRPr lang="en-US" sz="2800" dirty="0"/>
          </a:p>
        </p:txBody>
      </p:sp>
      <p:pic>
        <p:nvPicPr>
          <p:cNvPr id="3" name="图片 2">
            <a:extLst>
              <a:ext uri="{FF2B5EF4-FFF2-40B4-BE49-F238E27FC236}">
                <a16:creationId xmlns:a16="http://schemas.microsoft.com/office/drawing/2014/main" id="{FF35678B-9FDF-B412-184F-E9A988B14F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47439" y="2563957"/>
            <a:ext cx="7234973" cy="2723855"/>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1" y="381000"/>
            <a:ext cx="11845281" cy="342900"/>
          </a:xfrm>
          <a:prstGeom prst="rect">
            <a:avLst/>
          </a:prstGeom>
          <a:noFill/>
        </p:spPr>
        <p:txBody>
          <a:bodyPr wrap="square" lIns="0" tIns="0" rIns="0" bIns="0" rtlCol="0" anchor="ctr"/>
          <a:lstStyle/>
          <a:p>
            <a:r>
              <a:rPr lang="en-US" sz="4800" b="1" dirty="0" err="1">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OpenClaw</a:t>
            </a: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-RL</a:t>
            </a:r>
            <a:r>
              <a:rPr lang="zh-CN" alt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 </a:t>
            </a:r>
            <a:r>
              <a:rPr lang="en-US" altLang="zh-CN"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Learns from</a:t>
            </a:r>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 Interaction</a:t>
            </a:r>
          </a:p>
        </p:txBody>
      </p:sp>
      <p:sp>
        <p:nvSpPr>
          <p:cNvPr id="5" name="Text 3"/>
          <p:cNvSpPr/>
          <p:nvPr/>
        </p:nvSpPr>
        <p:spPr>
          <a:xfrm>
            <a:off x="334862" y="1143000"/>
            <a:ext cx="5193484"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Multiple forms of learning signal</a:t>
            </a:r>
          </a:p>
        </p:txBody>
      </p:sp>
      <p:sp>
        <p:nvSpPr>
          <p:cNvPr id="6" name="Shape 4"/>
          <p:cNvSpPr/>
          <p:nvPr/>
        </p:nvSpPr>
        <p:spPr>
          <a:xfrm>
            <a:off x="353911" y="1562100"/>
            <a:ext cx="2903288" cy="1052240"/>
          </a:xfrm>
          <a:custGeom>
            <a:avLst/>
            <a:gdLst/>
            <a:ahLst/>
            <a:cxnLst/>
            <a:rect l="l" t="t" r="r" b="b"/>
            <a:pathLst>
              <a:path w="5581650" h="838200">
                <a:moveTo>
                  <a:pt x="0" y="0"/>
                </a:moveTo>
                <a:lnTo>
                  <a:pt x="5505449" y="0"/>
                </a:lnTo>
                <a:cubicBezTo>
                  <a:pt x="5547534" y="0"/>
                  <a:pt x="5581650" y="34116"/>
                  <a:pt x="5581650" y="76201"/>
                </a:cubicBezTo>
                <a:lnTo>
                  <a:pt x="5581650" y="761999"/>
                </a:lnTo>
                <a:cubicBezTo>
                  <a:pt x="5581650" y="804084"/>
                  <a:pt x="5547534" y="838200"/>
                  <a:pt x="5505449" y="838200"/>
                </a:cubicBezTo>
                <a:lnTo>
                  <a:pt x="0" y="838200"/>
                </a:lnTo>
                <a:lnTo>
                  <a:pt x="0" y="0"/>
                </a:lnTo>
                <a:close/>
              </a:path>
            </a:pathLst>
          </a:custGeom>
          <a:solidFill>
            <a:srgbClr val="EEF2FF"/>
          </a:solidFill>
        </p:spPr>
        <p:txBody>
          <a:bodyPr/>
          <a:lstStyle/>
          <a:p>
            <a:endParaRPr lang="en-US"/>
          </a:p>
        </p:txBody>
      </p:sp>
      <p:sp>
        <p:nvSpPr>
          <p:cNvPr id="7" name="Shape 5"/>
          <p:cNvSpPr/>
          <p:nvPr/>
        </p:nvSpPr>
        <p:spPr>
          <a:xfrm>
            <a:off x="353911" y="1562100"/>
            <a:ext cx="38100" cy="838200"/>
          </a:xfrm>
          <a:custGeom>
            <a:avLst/>
            <a:gdLst/>
            <a:ahLst/>
            <a:cxnLst/>
            <a:rect l="l" t="t" r="r" b="b"/>
            <a:pathLst>
              <a:path w="38100" h="838200">
                <a:moveTo>
                  <a:pt x="0" y="0"/>
                </a:moveTo>
                <a:lnTo>
                  <a:pt x="38100" y="0"/>
                </a:lnTo>
                <a:lnTo>
                  <a:pt x="38100" y="838200"/>
                </a:lnTo>
                <a:lnTo>
                  <a:pt x="0" y="838200"/>
                </a:lnTo>
                <a:lnTo>
                  <a:pt x="0" y="0"/>
                </a:lnTo>
                <a:close/>
              </a:path>
            </a:pathLst>
          </a:custGeom>
          <a:solidFill>
            <a:srgbClr val="615FFF"/>
          </a:solidFill>
        </p:spPr>
        <p:txBody>
          <a:bodyPr/>
          <a:lstStyle/>
          <a:p>
            <a:endParaRPr lang="en-US"/>
          </a:p>
        </p:txBody>
      </p:sp>
      <p:sp>
        <p:nvSpPr>
          <p:cNvPr id="8" name="Shape 6"/>
          <p:cNvSpPr/>
          <p:nvPr/>
        </p:nvSpPr>
        <p:spPr>
          <a:xfrm>
            <a:off x="482499" y="1619250"/>
            <a:ext cx="190500" cy="190500"/>
          </a:xfrm>
          <a:custGeom>
            <a:avLst/>
            <a:gdLst/>
            <a:ahLst/>
            <a:cxnLst/>
            <a:rect l="l" t="t" r="r" b="b"/>
            <a:pathLst>
              <a:path w="190500" h="190500">
                <a:moveTo>
                  <a:pt x="29766" y="59531"/>
                </a:moveTo>
                <a:cubicBezTo>
                  <a:pt x="36351" y="59531"/>
                  <a:pt x="41672" y="64852"/>
                  <a:pt x="41672" y="71438"/>
                </a:cubicBezTo>
                <a:lnTo>
                  <a:pt x="41672" y="166688"/>
                </a:lnTo>
                <a:cubicBezTo>
                  <a:pt x="41672" y="173273"/>
                  <a:pt x="36351" y="178594"/>
                  <a:pt x="29766" y="178594"/>
                </a:cubicBezTo>
                <a:lnTo>
                  <a:pt x="11906" y="178594"/>
                </a:lnTo>
                <a:cubicBezTo>
                  <a:pt x="5321" y="178594"/>
                  <a:pt x="0" y="173273"/>
                  <a:pt x="0" y="166688"/>
                </a:cubicBezTo>
                <a:lnTo>
                  <a:pt x="0" y="71438"/>
                </a:lnTo>
                <a:cubicBezTo>
                  <a:pt x="0" y="64852"/>
                  <a:pt x="5321" y="59531"/>
                  <a:pt x="11906" y="59531"/>
                </a:cubicBezTo>
                <a:lnTo>
                  <a:pt x="29766" y="59531"/>
                </a:lnTo>
                <a:close/>
                <a:moveTo>
                  <a:pt x="100682" y="5953"/>
                </a:moveTo>
                <a:cubicBezTo>
                  <a:pt x="110840" y="5953"/>
                  <a:pt x="119063" y="14176"/>
                  <a:pt x="119063" y="24333"/>
                </a:cubicBezTo>
                <a:lnTo>
                  <a:pt x="119063" y="25896"/>
                </a:lnTo>
                <a:cubicBezTo>
                  <a:pt x="119063" y="28426"/>
                  <a:pt x="118579" y="30956"/>
                  <a:pt x="117649" y="33300"/>
                </a:cubicBezTo>
                <a:lnTo>
                  <a:pt x="107156" y="59531"/>
                </a:lnTo>
                <a:lnTo>
                  <a:pt x="166688" y="59531"/>
                </a:lnTo>
                <a:cubicBezTo>
                  <a:pt x="176547" y="59531"/>
                  <a:pt x="184547" y="67531"/>
                  <a:pt x="184547" y="77391"/>
                </a:cubicBezTo>
                <a:cubicBezTo>
                  <a:pt x="184547" y="84720"/>
                  <a:pt x="180119" y="91008"/>
                  <a:pt x="173794" y="93762"/>
                </a:cubicBezTo>
                <a:cubicBezTo>
                  <a:pt x="180119" y="96515"/>
                  <a:pt x="184547" y="102803"/>
                  <a:pt x="184547" y="110133"/>
                </a:cubicBezTo>
                <a:cubicBezTo>
                  <a:pt x="184547" y="118839"/>
                  <a:pt x="178296" y="126095"/>
                  <a:pt x="170036" y="127657"/>
                </a:cubicBezTo>
                <a:cubicBezTo>
                  <a:pt x="171673" y="130373"/>
                  <a:pt x="172641" y="133536"/>
                  <a:pt x="172641" y="136922"/>
                </a:cubicBezTo>
                <a:cubicBezTo>
                  <a:pt x="172641" y="145182"/>
                  <a:pt x="167060" y="152102"/>
                  <a:pt x="159469" y="154149"/>
                </a:cubicBezTo>
                <a:cubicBezTo>
                  <a:pt x="160288" y="156195"/>
                  <a:pt x="160734" y="158428"/>
                  <a:pt x="160734" y="160734"/>
                </a:cubicBezTo>
                <a:cubicBezTo>
                  <a:pt x="160734" y="170594"/>
                  <a:pt x="152735" y="178594"/>
                  <a:pt x="142875" y="178594"/>
                </a:cubicBezTo>
                <a:lnTo>
                  <a:pt x="110170" y="178594"/>
                </a:lnTo>
                <a:cubicBezTo>
                  <a:pt x="96664" y="178594"/>
                  <a:pt x="83530" y="173980"/>
                  <a:pt x="73000" y="165534"/>
                </a:cubicBezTo>
                <a:lnTo>
                  <a:pt x="68461" y="161925"/>
                </a:lnTo>
                <a:cubicBezTo>
                  <a:pt x="62805" y="157423"/>
                  <a:pt x="59531" y="150577"/>
                  <a:pt x="59531" y="143321"/>
                </a:cubicBezTo>
                <a:lnTo>
                  <a:pt x="59531" y="73893"/>
                </a:lnTo>
                <a:cubicBezTo>
                  <a:pt x="59531" y="68349"/>
                  <a:pt x="60833" y="62880"/>
                  <a:pt x="63289" y="57931"/>
                </a:cubicBezTo>
                <a:lnTo>
                  <a:pt x="84200" y="16111"/>
                </a:lnTo>
                <a:cubicBezTo>
                  <a:pt x="87325" y="9897"/>
                  <a:pt x="93687" y="5953"/>
                  <a:pt x="100682" y="5953"/>
                </a:cubicBezTo>
                <a:close/>
              </a:path>
            </a:pathLst>
          </a:custGeom>
          <a:solidFill>
            <a:srgbClr val="4F39F6"/>
          </a:solidFill>
        </p:spPr>
        <p:txBody>
          <a:bodyPr/>
          <a:lstStyle/>
          <a:p>
            <a:endParaRPr lang="en-US"/>
          </a:p>
        </p:txBody>
      </p:sp>
      <p:sp>
        <p:nvSpPr>
          <p:cNvPr id="9" name="Text 7"/>
          <p:cNvSpPr/>
          <p:nvPr/>
        </p:nvSpPr>
        <p:spPr>
          <a:xfrm>
            <a:off x="773011" y="1600200"/>
            <a:ext cx="1314450" cy="228600"/>
          </a:xfrm>
          <a:prstGeom prst="rect">
            <a:avLst/>
          </a:prstGeom>
          <a:noFill/>
        </p:spPr>
        <p:txBody>
          <a:bodyPr wrap="square" lIns="0" tIns="0" rIns="0" bIns="0" rtlCol="0" anchor="ctr"/>
          <a:lstStyle/>
          <a:p>
            <a:pPr>
              <a:lnSpc>
                <a:spcPct val="130000"/>
              </a:lnSpc>
            </a:pPr>
            <a:r>
              <a:rPr lang="en-US" sz="1400" b="1" dirty="0">
                <a:solidFill>
                  <a:srgbClr val="372AAC"/>
                </a:solidFill>
                <a:ea typeface="MiSans" pitchFamily="34" charset="-122"/>
                <a:cs typeface="MiSans" pitchFamily="34" charset="-120"/>
              </a:rPr>
              <a:t>1. Binary Reward</a:t>
            </a:r>
            <a:endParaRPr lang="en-US" dirty="0"/>
          </a:p>
        </p:txBody>
      </p:sp>
      <p:sp>
        <p:nvSpPr>
          <p:cNvPr id="10" name="Text 8"/>
          <p:cNvSpPr/>
          <p:nvPr/>
        </p:nvSpPr>
        <p:spPr>
          <a:xfrm>
            <a:off x="482498" y="1728546"/>
            <a:ext cx="2801442" cy="867967"/>
          </a:xfrm>
          <a:prstGeom prst="rect">
            <a:avLst/>
          </a:prstGeom>
          <a:noFill/>
        </p:spPr>
        <p:txBody>
          <a:bodyPr wrap="square" lIns="0" tIns="0" rIns="0" bIns="0" rtlCol="0" anchor="ctr"/>
          <a:lstStyle/>
          <a:p>
            <a:pPr>
              <a:lnSpc>
                <a:spcPct val="130000"/>
              </a:lnSpc>
            </a:pPr>
            <a:r>
              <a:rPr lang="en-US" sz="1400" dirty="0">
                <a:solidFill>
                  <a:srgbClr val="432DD7"/>
                </a:solidFill>
                <a:ea typeface="MiSans" pitchFamily="34" charset="-122"/>
                <a:cs typeface="MiSans" pitchFamily="34" charset="-120"/>
              </a:rPr>
              <a:t>User/environment gives </a:t>
            </a:r>
            <a:r>
              <a:rPr lang="en-US" sz="1400" b="1" dirty="0">
                <a:solidFill>
                  <a:srgbClr val="432DD7"/>
                </a:solidFill>
                <a:ea typeface="MiSans" pitchFamily="34" charset="-122"/>
                <a:cs typeface="MiSans" pitchFamily="34" charset="-120"/>
              </a:rPr>
              <a:t>good vs. bad</a:t>
            </a:r>
            <a:r>
              <a:rPr lang="en-US" sz="1400" dirty="0">
                <a:solidFill>
                  <a:srgbClr val="432DD7"/>
                </a:solidFill>
                <a:ea typeface="MiSans" pitchFamily="34" charset="-122"/>
                <a:cs typeface="MiSans" pitchFamily="34" charset="-120"/>
              </a:rPr>
              <a:t> evaluation. Applied at sequence level.</a:t>
            </a:r>
            <a:endParaRPr lang="en-US" dirty="0"/>
          </a:p>
        </p:txBody>
      </p:sp>
      <p:sp>
        <p:nvSpPr>
          <p:cNvPr id="11" name="Shape 9"/>
          <p:cNvSpPr/>
          <p:nvPr/>
        </p:nvSpPr>
        <p:spPr>
          <a:xfrm>
            <a:off x="334862" y="2647950"/>
            <a:ext cx="2903288" cy="1339215"/>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AF5FF"/>
          </a:solidFill>
        </p:spPr>
        <p:txBody>
          <a:bodyPr/>
          <a:lstStyle/>
          <a:p>
            <a:endParaRPr lang="zh-CN" altLang="en-US"/>
          </a:p>
        </p:txBody>
      </p:sp>
      <p:sp>
        <p:nvSpPr>
          <p:cNvPr id="12" name="Shape 10"/>
          <p:cNvSpPr/>
          <p:nvPr/>
        </p:nvSpPr>
        <p:spPr>
          <a:xfrm>
            <a:off x="334862" y="2647951"/>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AD46FF"/>
          </a:solidFill>
        </p:spPr>
        <p:txBody>
          <a:bodyPr/>
          <a:lstStyle/>
          <a:p>
            <a:endParaRPr lang="en-US"/>
          </a:p>
        </p:txBody>
      </p:sp>
      <p:sp>
        <p:nvSpPr>
          <p:cNvPr id="13" name="Shape 11"/>
          <p:cNvSpPr/>
          <p:nvPr/>
        </p:nvSpPr>
        <p:spPr>
          <a:xfrm>
            <a:off x="482499" y="2692785"/>
            <a:ext cx="190500" cy="190500"/>
          </a:xfrm>
          <a:custGeom>
            <a:avLst/>
            <a:gdLst/>
            <a:ahLst/>
            <a:cxnLst/>
            <a:rect l="l" t="t" r="r" b="b"/>
            <a:pathLst>
              <a:path w="190500" h="190500">
                <a:moveTo>
                  <a:pt x="79995" y="6325"/>
                </a:moveTo>
                <a:lnTo>
                  <a:pt x="6325" y="79995"/>
                </a:lnTo>
                <a:cubicBezTo>
                  <a:pt x="2270" y="84051"/>
                  <a:pt x="0" y="89520"/>
                  <a:pt x="0" y="95250"/>
                </a:cubicBezTo>
                <a:cubicBezTo>
                  <a:pt x="0" y="100980"/>
                  <a:pt x="2270" y="106449"/>
                  <a:pt x="6325" y="110505"/>
                </a:cubicBezTo>
                <a:lnTo>
                  <a:pt x="79995" y="184175"/>
                </a:lnTo>
                <a:cubicBezTo>
                  <a:pt x="84051" y="188230"/>
                  <a:pt x="89520" y="190500"/>
                  <a:pt x="95250" y="190500"/>
                </a:cubicBezTo>
                <a:cubicBezTo>
                  <a:pt x="100980" y="190500"/>
                  <a:pt x="106449" y="188230"/>
                  <a:pt x="110505" y="184175"/>
                </a:cubicBezTo>
                <a:lnTo>
                  <a:pt x="184175" y="110505"/>
                </a:lnTo>
                <a:cubicBezTo>
                  <a:pt x="188230" y="106449"/>
                  <a:pt x="190500" y="100980"/>
                  <a:pt x="190500" y="95250"/>
                </a:cubicBezTo>
                <a:cubicBezTo>
                  <a:pt x="190500" y="89520"/>
                  <a:pt x="188230" y="84051"/>
                  <a:pt x="184175" y="79995"/>
                </a:cubicBezTo>
                <a:lnTo>
                  <a:pt x="110505" y="6325"/>
                </a:lnTo>
                <a:cubicBezTo>
                  <a:pt x="106449" y="2270"/>
                  <a:pt x="100980" y="0"/>
                  <a:pt x="95250" y="0"/>
                </a:cubicBezTo>
                <a:cubicBezTo>
                  <a:pt x="89520" y="0"/>
                  <a:pt x="84051" y="2270"/>
                  <a:pt x="79995" y="6325"/>
                </a:cubicBezTo>
                <a:close/>
                <a:moveTo>
                  <a:pt x="143247" y="95622"/>
                </a:moveTo>
                <a:lnTo>
                  <a:pt x="116458" y="122411"/>
                </a:lnTo>
                <a:cubicBezTo>
                  <a:pt x="112961" y="125909"/>
                  <a:pt x="107305" y="125909"/>
                  <a:pt x="103845" y="122411"/>
                </a:cubicBezTo>
                <a:cubicBezTo>
                  <a:pt x="100385" y="118914"/>
                  <a:pt x="100347" y="113258"/>
                  <a:pt x="103845" y="109798"/>
                </a:cubicBezTo>
                <a:lnTo>
                  <a:pt x="115379" y="98264"/>
                </a:lnTo>
                <a:lnTo>
                  <a:pt x="86320" y="98264"/>
                </a:lnTo>
                <a:cubicBezTo>
                  <a:pt x="81372" y="98264"/>
                  <a:pt x="77391" y="102245"/>
                  <a:pt x="77391" y="107193"/>
                </a:cubicBezTo>
                <a:lnTo>
                  <a:pt x="77391" y="122076"/>
                </a:lnTo>
                <a:cubicBezTo>
                  <a:pt x="77391" y="127025"/>
                  <a:pt x="73409" y="131006"/>
                  <a:pt x="68461" y="131006"/>
                </a:cubicBezTo>
                <a:cubicBezTo>
                  <a:pt x="63512" y="131006"/>
                  <a:pt x="59531" y="127025"/>
                  <a:pt x="59531" y="122076"/>
                </a:cubicBezTo>
                <a:lnTo>
                  <a:pt x="59531" y="107193"/>
                </a:lnTo>
                <a:cubicBezTo>
                  <a:pt x="59531" y="92385"/>
                  <a:pt x="71512" y="80404"/>
                  <a:pt x="86320" y="80404"/>
                </a:cubicBezTo>
                <a:lnTo>
                  <a:pt x="115379" y="80404"/>
                </a:lnTo>
                <a:lnTo>
                  <a:pt x="103845" y="68870"/>
                </a:lnTo>
                <a:cubicBezTo>
                  <a:pt x="100347" y="65373"/>
                  <a:pt x="100347" y="59717"/>
                  <a:pt x="103845" y="56257"/>
                </a:cubicBezTo>
                <a:cubicBezTo>
                  <a:pt x="107342" y="52797"/>
                  <a:pt x="112998" y="52760"/>
                  <a:pt x="116458" y="56257"/>
                </a:cubicBezTo>
                <a:lnTo>
                  <a:pt x="143247" y="83046"/>
                </a:lnTo>
                <a:cubicBezTo>
                  <a:pt x="146745" y="86544"/>
                  <a:pt x="146745" y="92199"/>
                  <a:pt x="143247" y="95659"/>
                </a:cubicBezTo>
                <a:close/>
              </a:path>
            </a:pathLst>
          </a:custGeom>
          <a:solidFill>
            <a:srgbClr val="9810FA"/>
          </a:solidFill>
        </p:spPr>
        <p:txBody>
          <a:bodyPr/>
          <a:lstStyle/>
          <a:p>
            <a:endParaRPr lang="en-US"/>
          </a:p>
        </p:txBody>
      </p:sp>
      <p:sp>
        <p:nvSpPr>
          <p:cNvPr id="14" name="Text 12"/>
          <p:cNvSpPr/>
          <p:nvPr/>
        </p:nvSpPr>
        <p:spPr>
          <a:xfrm>
            <a:off x="773011" y="2673735"/>
            <a:ext cx="1781175" cy="228600"/>
          </a:xfrm>
          <a:prstGeom prst="rect">
            <a:avLst/>
          </a:prstGeom>
          <a:noFill/>
        </p:spPr>
        <p:txBody>
          <a:bodyPr wrap="square" lIns="0" tIns="0" rIns="0" bIns="0" rtlCol="0" anchor="ctr"/>
          <a:lstStyle/>
          <a:p>
            <a:pPr>
              <a:lnSpc>
                <a:spcPct val="130000"/>
              </a:lnSpc>
            </a:pPr>
            <a:r>
              <a:rPr lang="en-US" sz="1400" b="1" dirty="0">
                <a:solidFill>
                  <a:srgbClr val="6E11B0"/>
                </a:solidFill>
                <a:ea typeface="MiSans" pitchFamily="34" charset="-122"/>
                <a:cs typeface="MiSans" pitchFamily="34" charset="-120"/>
              </a:rPr>
              <a:t>2. Directional Feedback</a:t>
            </a:r>
            <a:endParaRPr lang="en-US" dirty="0"/>
          </a:p>
        </p:txBody>
      </p:sp>
      <p:sp>
        <p:nvSpPr>
          <p:cNvPr id="15" name="Text 13"/>
          <p:cNvSpPr/>
          <p:nvPr/>
        </p:nvSpPr>
        <p:spPr>
          <a:xfrm>
            <a:off x="482498" y="2978535"/>
            <a:ext cx="2667568" cy="850517"/>
          </a:xfrm>
          <a:prstGeom prst="rect">
            <a:avLst/>
          </a:prstGeom>
          <a:noFill/>
        </p:spPr>
        <p:txBody>
          <a:bodyPr wrap="square" lIns="0" tIns="0" rIns="0" bIns="0" rtlCol="0" anchor="ctr"/>
          <a:lstStyle/>
          <a:p>
            <a:pPr>
              <a:lnSpc>
                <a:spcPct val="130000"/>
              </a:lnSpc>
            </a:pPr>
            <a:r>
              <a:rPr lang="en-US" sz="1400" b="1" dirty="0">
                <a:solidFill>
                  <a:srgbClr val="8200DB"/>
                </a:solidFill>
                <a:ea typeface="MiSans" pitchFamily="34" charset="-122"/>
                <a:cs typeface="MiSans" pitchFamily="34" charset="-120"/>
              </a:rPr>
              <a:t>On-policy distillation</a:t>
            </a:r>
            <a:r>
              <a:rPr lang="en-US" sz="1400" dirty="0">
                <a:solidFill>
                  <a:srgbClr val="8200DB"/>
                </a:solidFill>
                <a:ea typeface="MiSans" pitchFamily="34" charset="-122"/>
                <a:cs typeface="MiSans" pitchFamily="34" charset="-120"/>
              </a:rPr>
              <a:t>—hints and corrections provide stronger signal than scalar reward.</a:t>
            </a:r>
            <a:endParaRPr lang="en-US" dirty="0"/>
          </a:p>
        </p:txBody>
      </p:sp>
      <p:sp>
        <p:nvSpPr>
          <p:cNvPr id="16" name="Shape 14"/>
          <p:cNvSpPr/>
          <p:nvPr/>
        </p:nvSpPr>
        <p:spPr>
          <a:xfrm>
            <a:off x="334862" y="4038601"/>
            <a:ext cx="2903288" cy="1339215"/>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DF2F8"/>
          </a:solidFill>
        </p:spPr>
        <p:txBody>
          <a:bodyPr/>
          <a:lstStyle/>
          <a:p>
            <a:endParaRPr lang="zh-CN" altLang="en-US" sz="2000"/>
          </a:p>
        </p:txBody>
      </p:sp>
      <p:sp>
        <p:nvSpPr>
          <p:cNvPr id="17" name="Shape 15"/>
          <p:cNvSpPr/>
          <p:nvPr/>
        </p:nvSpPr>
        <p:spPr>
          <a:xfrm>
            <a:off x="334862" y="4038602"/>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F6339A"/>
          </a:solidFill>
        </p:spPr>
        <p:txBody>
          <a:bodyPr/>
          <a:lstStyle/>
          <a:p>
            <a:endParaRPr lang="en-US"/>
          </a:p>
        </p:txBody>
      </p:sp>
      <p:sp>
        <p:nvSpPr>
          <p:cNvPr id="18" name="Shape 16"/>
          <p:cNvSpPr/>
          <p:nvPr/>
        </p:nvSpPr>
        <p:spPr>
          <a:xfrm>
            <a:off x="482499" y="4094730"/>
            <a:ext cx="190500" cy="190500"/>
          </a:xfrm>
          <a:custGeom>
            <a:avLst/>
            <a:gdLst/>
            <a:ahLst/>
            <a:cxnLst/>
            <a:rect l="l" t="t" r="r" b="b"/>
            <a:pathLst>
              <a:path w="190500" h="190500">
                <a:moveTo>
                  <a:pt x="0" y="26789"/>
                </a:moveTo>
                <a:cubicBezTo>
                  <a:pt x="0" y="21878"/>
                  <a:pt x="3981" y="17859"/>
                  <a:pt x="8930" y="17859"/>
                </a:cubicBezTo>
                <a:lnTo>
                  <a:pt x="26789" y="17859"/>
                </a:lnTo>
                <a:cubicBezTo>
                  <a:pt x="31738" y="17859"/>
                  <a:pt x="35719" y="21841"/>
                  <a:pt x="35719" y="26789"/>
                </a:cubicBezTo>
                <a:lnTo>
                  <a:pt x="35719" y="65484"/>
                </a:lnTo>
                <a:lnTo>
                  <a:pt x="44648" y="65484"/>
                </a:lnTo>
                <a:cubicBezTo>
                  <a:pt x="49597" y="65484"/>
                  <a:pt x="53578" y="69466"/>
                  <a:pt x="53578" y="74414"/>
                </a:cubicBezTo>
                <a:cubicBezTo>
                  <a:pt x="53578" y="79363"/>
                  <a:pt x="49597" y="83344"/>
                  <a:pt x="44648" y="83344"/>
                </a:cubicBezTo>
                <a:lnTo>
                  <a:pt x="8930" y="83344"/>
                </a:lnTo>
                <a:cubicBezTo>
                  <a:pt x="3981" y="83344"/>
                  <a:pt x="0" y="79363"/>
                  <a:pt x="0" y="74414"/>
                </a:cubicBezTo>
                <a:cubicBezTo>
                  <a:pt x="0" y="69466"/>
                  <a:pt x="3981" y="65484"/>
                  <a:pt x="8930" y="65484"/>
                </a:cubicBezTo>
                <a:lnTo>
                  <a:pt x="17859" y="65484"/>
                </a:lnTo>
                <a:lnTo>
                  <a:pt x="17859" y="35719"/>
                </a:lnTo>
                <a:lnTo>
                  <a:pt x="8930" y="35719"/>
                </a:lnTo>
                <a:cubicBezTo>
                  <a:pt x="3981" y="35719"/>
                  <a:pt x="0" y="31738"/>
                  <a:pt x="0" y="26789"/>
                </a:cubicBezTo>
                <a:close/>
                <a:moveTo>
                  <a:pt x="11311" y="112068"/>
                </a:moveTo>
                <a:cubicBezTo>
                  <a:pt x="15553" y="108868"/>
                  <a:pt x="20724" y="107156"/>
                  <a:pt x="26045" y="107156"/>
                </a:cubicBezTo>
                <a:lnTo>
                  <a:pt x="27868" y="107156"/>
                </a:lnTo>
                <a:cubicBezTo>
                  <a:pt x="40407" y="107156"/>
                  <a:pt x="50602" y="117351"/>
                  <a:pt x="50602" y="129890"/>
                </a:cubicBezTo>
                <a:cubicBezTo>
                  <a:pt x="50602" y="137182"/>
                  <a:pt x="47104" y="143991"/>
                  <a:pt x="41225" y="148270"/>
                </a:cubicBezTo>
                <a:lnTo>
                  <a:pt x="32296" y="154781"/>
                </a:lnTo>
                <a:lnTo>
                  <a:pt x="44648" y="154781"/>
                </a:lnTo>
                <a:cubicBezTo>
                  <a:pt x="49597" y="154781"/>
                  <a:pt x="53578" y="158762"/>
                  <a:pt x="53578" y="163711"/>
                </a:cubicBezTo>
                <a:cubicBezTo>
                  <a:pt x="53578" y="168659"/>
                  <a:pt x="49597" y="172641"/>
                  <a:pt x="44648" y="172641"/>
                </a:cubicBezTo>
                <a:lnTo>
                  <a:pt x="10902" y="172641"/>
                </a:lnTo>
                <a:cubicBezTo>
                  <a:pt x="4874" y="172641"/>
                  <a:pt x="0" y="167767"/>
                  <a:pt x="0" y="161739"/>
                </a:cubicBezTo>
                <a:cubicBezTo>
                  <a:pt x="0" y="158242"/>
                  <a:pt x="1674" y="154967"/>
                  <a:pt x="4502" y="152921"/>
                </a:cubicBezTo>
                <a:lnTo>
                  <a:pt x="30733" y="133834"/>
                </a:lnTo>
                <a:cubicBezTo>
                  <a:pt x="31998" y="132904"/>
                  <a:pt x="32742" y="131452"/>
                  <a:pt x="32742" y="129890"/>
                </a:cubicBezTo>
                <a:cubicBezTo>
                  <a:pt x="32742" y="127211"/>
                  <a:pt x="30547" y="125016"/>
                  <a:pt x="27868" y="125016"/>
                </a:cubicBezTo>
                <a:lnTo>
                  <a:pt x="26045" y="125016"/>
                </a:lnTo>
                <a:cubicBezTo>
                  <a:pt x="24594" y="125016"/>
                  <a:pt x="23180" y="125499"/>
                  <a:pt x="22027" y="126355"/>
                </a:cubicBezTo>
                <a:lnTo>
                  <a:pt x="14288" y="132159"/>
                </a:lnTo>
                <a:cubicBezTo>
                  <a:pt x="10344" y="135136"/>
                  <a:pt x="4762" y="134317"/>
                  <a:pt x="1786" y="130373"/>
                </a:cubicBezTo>
                <a:cubicBezTo>
                  <a:pt x="-1191" y="126429"/>
                  <a:pt x="-372" y="120848"/>
                  <a:pt x="3572" y="117872"/>
                </a:cubicBezTo>
                <a:lnTo>
                  <a:pt x="11311" y="112068"/>
                </a:lnTo>
                <a:close/>
                <a:moveTo>
                  <a:pt x="83344" y="23812"/>
                </a:moveTo>
                <a:lnTo>
                  <a:pt x="178594" y="23812"/>
                </a:lnTo>
                <a:cubicBezTo>
                  <a:pt x="185179" y="23812"/>
                  <a:pt x="190500" y="29133"/>
                  <a:pt x="190500" y="35719"/>
                </a:cubicBezTo>
                <a:cubicBezTo>
                  <a:pt x="190500" y="42304"/>
                  <a:pt x="185179" y="47625"/>
                  <a:pt x="178594" y="47625"/>
                </a:cubicBezTo>
                <a:lnTo>
                  <a:pt x="83344" y="47625"/>
                </a:lnTo>
                <a:cubicBezTo>
                  <a:pt x="76758" y="47625"/>
                  <a:pt x="71438" y="42304"/>
                  <a:pt x="71438" y="35719"/>
                </a:cubicBezTo>
                <a:cubicBezTo>
                  <a:pt x="71438" y="29133"/>
                  <a:pt x="76758" y="23812"/>
                  <a:pt x="83344" y="23812"/>
                </a:cubicBezTo>
                <a:close/>
                <a:moveTo>
                  <a:pt x="83344" y="83344"/>
                </a:moveTo>
                <a:lnTo>
                  <a:pt x="178594" y="83344"/>
                </a:lnTo>
                <a:cubicBezTo>
                  <a:pt x="185179" y="83344"/>
                  <a:pt x="190500" y="88664"/>
                  <a:pt x="190500" y="95250"/>
                </a:cubicBezTo>
                <a:cubicBezTo>
                  <a:pt x="190500" y="101836"/>
                  <a:pt x="185179" y="107156"/>
                  <a:pt x="178594" y="107156"/>
                </a:cubicBezTo>
                <a:lnTo>
                  <a:pt x="83344" y="107156"/>
                </a:lnTo>
                <a:cubicBezTo>
                  <a:pt x="76758" y="107156"/>
                  <a:pt x="71438" y="101836"/>
                  <a:pt x="71438" y="95250"/>
                </a:cubicBezTo>
                <a:cubicBezTo>
                  <a:pt x="71438" y="88664"/>
                  <a:pt x="76758" y="83344"/>
                  <a:pt x="83344" y="83344"/>
                </a:cubicBezTo>
                <a:close/>
                <a:moveTo>
                  <a:pt x="83344" y="142875"/>
                </a:moveTo>
                <a:lnTo>
                  <a:pt x="178594" y="142875"/>
                </a:lnTo>
                <a:cubicBezTo>
                  <a:pt x="185179" y="142875"/>
                  <a:pt x="190500" y="148196"/>
                  <a:pt x="190500" y="154781"/>
                </a:cubicBezTo>
                <a:cubicBezTo>
                  <a:pt x="190500" y="161367"/>
                  <a:pt x="185179" y="166688"/>
                  <a:pt x="178594" y="166688"/>
                </a:cubicBezTo>
                <a:lnTo>
                  <a:pt x="83344" y="166688"/>
                </a:lnTo>
                <a:cubicBezTo>
                  <a:pt x="76758" y="166688"/>
                  <a:pt x="71438" y="161367"/>
                  <a:pt x="71438" y="154781"/>
                </a:cubicBezTo>
                <a:cubicBezTo>
                  <a:pt x="71438" y="148196"/>
                  <a:pt x="76758" y="142875"/>
                  <a:pt x="83344" y="142875"/>
                </a:cubicBezTo>
                <a:close/>
              </a:path>
            </a:pathLst>
          </a:custGeom>
          <a:solidFill>
            <a:srgbClr val="E60076"/>
          </a:solidFill>
        </p:spPr>
        <p:txBody>
          <a:bodyPr/>
          <a:lstStyle/>
          <a:p>
            <a:endParaRPr lang="en-US"/>
          </a:p>
        </p:txBody>
      </p:sp>
      <p:sp>
        <p:nvSpPr>
          <p:cNvPr id="19" name="Text 17"/>
          <p:cNvSpPr/>
          <p:nvPr/>
        </p:nvSpPr>
        <p:spPr>
          <a:xfrm>
            <a:off x="773011" y="4075680"/>
            <a:ext cx="1552575" cy="228600"/>
          </a:xfrm>
          <a:prstGeom prst="rect">
            <a:avLst/>
          </a:prstGeom>
          <a:noFill/>
        </p:spPr>
        <p:txBody>
          <a:bodyPr wrap="square" lIns="0" tIns="0" rIns="0" bIns="0" rtlCol="0" anchor="ctr"/>
          <a:lstStyle/>
          <a:p>
            <a:pPr>
              <a:lnSpc>
                <a:spcPct val="130000"/>
              </a:lnSpc>
            </a:pPr>
            <a:r>
              <a:rPr lang="en-US" sz="1400" b="1" dirty="0">
                <a:solidFill>
                  <a:srgbClr val="A3004C"/>
                </a:solidFill>
                <a:ea typeface="MiSans" pitchFamily="34" charset="-122"/>
                <a:cs typeface="MiSans" pitchFamily="34" charset="-120"/>
              </a:rPr>
              <a:t>3. Step-wise Reward</a:t>
            </a:r>
            <a:endParaRPr lang="en-US" dirty="0"/>
          </a:p>
        </p:txBody>
      </p:sp>
      <p:sp>
        <p:nvSpPr>
          <p:cNvPr id="20" name="Text 18"/>
          <p:cNvSpPr/>
          <p:nvPr/>
        </p:nvSpPr>
        <p:spPr>
          <a:xfrm>
            <a:off x="482498" y="4336666"/>
            <a:ext cx="2629469" cy="921134"/>
          </a:xfrm>
          <a:prstGeom prst="rect">
            <a:avLst/>
          </a:prstGeom>
          <a:noFill/>
        </p:spPr>
        <p:txBody>
          <a:bodyPr wrap="square" lIns="0" tIns="0" rIns="0" bIns="0" rtlCol="0" anchor="ctr"/>
          <a:lstStyle/>
          <a:p>
            <a:pPr>
              <a:lnSpc>
                <a:spcPct val="130000"/>
              </a:lnSpc>
            </a:pPr>
            <a:r>
              <a:rPr lang="en-US" sz="1400" dirty="0">
                <a:solidFill>
                  <a:srgbClr val="C6005C"/>
                </a:solidFill>
                <a:ea typeface="MiSans" pitchFamily="34" charset="-122"/>
                <a:cs typeface="MiSans" pitchFamily="34" charset="-120"/>
              </a:rPr>
              <a:t>For long trajectories: combine </a:t>
            </a:r>
            <a:r>
              <a:rPr lang="en-US" sz="1400" b="1" dirty="0">
                <a:solidFill>
                  <a:srgbClr val="C6005C"/>
                </a:solidFill>
                <a:ea typeface="MiSans" pitchFamily="34" charset="-122"/>
                <a:cs typeface="MiSans" pitchFamily="34" charset="-120"/>
              </a:rPr>
              <a:t>outcome reward</a:t>
            </a:r>
            <a:r>
              <a:rPr lang="en-US" sz="1400" dirty="0">
                <a:solidFill>
                  <a:srgbClr val="C6005C"/>
                </a:solidFill>
                <a:ea typeface="MiSans" pitchFamily="34" charset="-122"/>
                <a:cs typeface="MiSans" pitchFamily="34" charset="-120"/>
              </a:rPr>
              <a:t> with </a:t>
            </a:r>
            <a:r>
              <a:rPr lang="en-US" sz="1400" b="1" dirty="0">
                <a:solidFill>
                  <a:srgbClr val="C6005C"/>
                </a:solidFill>
                <a:ea typeface="MiSans" pitchFamily="34" charset="-122"/>
                <a:cs typeface="MiSans" pitchFamily="34" charset="-120"/>
              </a:rPr>
              <a:t>intermediate estimates</a:t>
            </a:r>
            <a:r>
              <a:rPr lang="en-US" sz="1400" dirty="0">
                <a:solidFill>
                  <a:srgbClr val="C6005C"/>
                </a:solidFill>
                <a:ea typeface="MiSans" pitchFamily="34" charset="-122"/>
                <a:cs typeface="MiSans" pitchFamily="34" charset="-120"/>
              </a:rPr>
              <a:t> for denser learning.</a:t>
            </a:r>
            <a:endParaRPr lang="en-US" dirty="0"/>
          </a:p>
        </p:txBody>
      </p:sp>
      <p:sp>
        <p:nvSpPr>
          <p:cNvPr id="22" name="Shape 20"/>
          <p:cNvSpPr/>
          <p:nvPr/>
        </p:nvSpPr>
        <p:spPr>
          <a:xfrm>
            <a:off x="8810625" y="2667000"/>
            <a:ext cx="400050" cy="457200"/>
          </a:xfrm>
          <a:custGeom>
            <a:avLst/>
            <a:gdLst/>
            <a:ahLst/>
            <a:cxnLst/>
            <a:rect l="l" t="t" r="r" b="b"/>
            <a:pathLst>
              <a:path w="400050" h="457200">
                <a:moveTo>
                  <a:pt x="57150" y="28575"/>
                </a:moveTo>
                <a:cubicBezTo>
                  <a:pt x="25628" y="28575"/>
                  <a:pt x="0" y="54203"/>
                  <a:pt x="0" y="85725"/>
                </a:cubicBezTo>
                <a:lnTo>
                  <a:pt x="0" y="371475"/>
                </a:lnTo>
                <a:cubicBezTo>
                  <a:pt x="0" y="402997"/>
                  <a:pt x="25628" y="428625"/>
                  <a:pt x="57150" y="428625"/>
                </a:cubicBezTo>
                <a:lnTo>
                  <a:pt x="342900" y="428625"/>
                </a:lnTo>
                <a:cubicBezTo>
                  <a:pt x="374422" y="428625"/>
                  <a:pt x="400050" y="402997"/>
                  <a:pt x="400050" y="371475"/>
                </a:cubicBezTo>
                <a:lnTo>
                  <a:pt x="400050" y="85725"/>
                </a:lnTo>
                <a:cubicBezTo>
                  <a:pt x="400050" y="54203"/>
                  <a:pt x="374422" y="28575"/>
                  <a:pt x="342900" y="28575"/>
                </a:cubicBezTo>
                <a:lnTo>
                  <a:pt x="57150" y="28575"/>
                </a:lnTo>
                <a:close/>
                <a:moveTo>
                  <a:pt x="114300" y="100013"/>
                </a:moveTo>
                <a:cubicBezTo>
                  <a:pt x="137956" y="100013"/>
                  <a:pt x="157163" y="119219"/>
                  <a:pt x="157163" y="142875"/>
                </a:cubicBezTo>
                <a:cubicBezTo>
                  <a:pt x="157163" y="166531"/>
                  <a:pt x="137956" y="185738"/>
                  <a:pt x="114300" y="185738"/>
                </a:cubicBezTo>
                <a:cubicBezTo>
                  <a:pt x="90644" y="185738"/>
                  <a:pt x="71438" y="166531"/>
                  <a:pt x="71438" y="142875"/>
                </a:cubicBezTo>
                <a:cubicBezTo>
                  <a:pt x="71438" y="119219"/>
                  <a:pt x="90644" y="100013"/>
                  <a:pt x="114300" y="100013"/>
                </a:cubicBezTo>
                <a:close/>
                <a:moveTo>
                  <a:pt x="242888" y="200025"/>
                </a:moveTo>
                <a:cubicBezTo>
                  <a:pt x="250388" y="200025"/>
                  <a:pt x="257264" y="203954"/>
                  <a:pt x="261193" y="210294"/>
                </a:cubicBezTo>
                <a:lnTo>
                  <a:pt x="339775" y="338882"/>
                </a:lnTo>
                <a:cubicBezTo>
                  <a:pt x="343793" y="345490"/>
                  <a:pt x="343972" y="353794"/>
                  <a:pt x="340221" y="360581"/>
                </a:cubicBezTo>
                <a:cubicBezTo>
                  <a:pt x="336471" y="367367"/>
                  <a:pt x="329238" y="371475"/>
                  <a:pt x="321469" y="371475"/>
                </a:cubicBezTo>
                <a:lnTo>
                  <a:pt x="78581" y="371475"/>
                </a:lnTo>
                <a:cubicBezTo>
                  <a:pt x="70634" y="371475"/>
                  <a:pt x="63222" y="367010"/>
                  <a:pt x="59561" y="359956"/>
                </a:cubicBezTo>
                <a:cubicBezTo>
                  <a:pt x="55900" y="352901"/>
                  <a:pt x="56436" y="344329"/>
                  <a:pt x="60990" y="337810"/>
                </a:cubicBezTo>
                <a:lnTo>
                  <a:pt x="110996" y="266373"/>
                </a:lnTo>
                <a:cubicBezTo>
                  <a:pt x="115014" y="260658"/>
                  <a:pt x="121533" y="257264"/>
                  <a:pt x="128588" y="257264"/>
                </a:cubicBezTo>
                <a:cubicBezTo>
                  <a:pt x="135642" y="257264"/>
                  <a:pt x="142161" y="260658"/>
                  <a:pt x="146179" y="266373"/>
                </a:cubicBezTo>
                <a:lnTo>
                  <a:pt x="169753" y="300127"/>
                </a:lnTo>
                <a:lnTo>
                  <a:pt x="224582" y="210383"/>
                </a:lnTo>
                <a:cubicBezTo>
                  <a:pt x="228511" y="204043"/>
                  <a:pt x="235387" y="200114"/>
                  <a:pt x="242888" y="200114"/>
                </a:cubicBezTo>
                <a:close/>
              </a:path>
            </a:pathLst>
          </a:custGeom>
          <a:solidFill>
            <a:srgbClr val="6366F1"/>
          </a:solidFill>
        </p:spPr>
        <p:txBody>
          <a:bodyPr/>
          <a:lstStyle/>
          <a:p>
            <a:endParaRPr lang="en-US"/>
          </a:p>
        </p:txBody>
      </p:sp>
      <p:sp>
        <p:nvSpPr>
          <p:cNvPr id="23" name="Text 21"/>
          <p:cNvSpPr/>
          <p:nvPr/>
        </p:nvSpPr>
        <p:spPr>
          <a:xfrm>
            <a:off x="8259246" y="3276600"/>
            <a:ext cx="1600200" cy="266700"/>
          </a:xfrm>
          <a:prstGeom prst="rect">
            <a:avLst/>
          </a:prstGeom>
          <a:noFill/>
        </p:spPr>
        <p:txBody>
          <a:bodyPr wrap="square" lIns="0" tIns="0" rIns="0" bIns="0" rtlCol="0" anchor="ctr"/>
          <a:lstStyle/>
          <a:p>
            <a:pPr>
              <a:lnSpc>
                <a:spcPct val="120000"/>
              </a:lnSpc>
            </a:pPr>
            <a:r>
              <a:rPr lang="en-US" sz="1500" b="1" dirty="0">
                <a:solidFill>
                  <a:srgbClr val="6366F1"/>
                </a:solidFill>
                <a:latin typeface="Noto Sans SC" panose="020B0200000000000000" pitchFamily="34" charset="-122"/>
                <a:ea typeface="Noto Sans SC" panose="020B0200000000000000" pitchFamily="34" charset="-122"/>
                <a:cs typeface="Noto Sans SC" panose="020B0200000000000000" pitchFamily="34" charset="-120"/>
              </a:rPr>
              <a:t>[INSERT IMAGE]</a:t>
            </a:r>
            <a:endParaRPr lang="en-US" sz="1600" dirty="0"/>
          </a:p>
        </p:txBody>
      </p:sp>
      <p:sp>
        <p:nvSpPr>
          <p:cNvPr id="24" name="Text 22"/>
          <p:cNvSpPr/>
          <p:nvPr/>
        </p:nvSpPr>
        <p:spPr>
          <a:xfrm>
            <a:off x="8096012" y="3619500"/>
            <a:ext cx="1914525"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Learning Signal Types</a:t>
            </a:r>
            <a:endParaRPr lang="en-US" sz="1600" dirty="0"/>
          </a:p>
        </p:txBody>
      </p:sp>
      <p:sp>
        <p:nvSpPr>
          <p:cNvPr id="25" name="Text 23"/>
          <p:cNvSpPr/>
          <p:nvPr/>
        </p:nvSpPr>
        <p:spPr>
          <a:xfrm>
            <a:off x="7761923" y="3962400"/>
            <a:ext cx="2562225"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Binary reward / OPD / Step-wise reward</a:t>
            </a:r>
            <a:endParaRPr lang="en-US" sz="1600" dirty="0"/>
          </a:p>
        </p:txBody>
      </p:sp>
      <p:sp>
        <p:nvSpPr>
          <p:cNvPr id="28" name="Shape 26"/>
          <p:cNvSpPr/>
          <p:nvPr/>
        </p:nvSpPr>
        <p:spPr>
          <a:xfrm>
            <a:off x="353911" y="5587365"/>
            <a:ext cx="11410950" cy="533400"/>
          </a:xfrm>
          <a:custGeom>
            <a:avLst/>
            <a:gdLst/>
            <a:ahLst/>
            <a:cxnLst/>
            <a:rect l="l" t="t" r="r" b="b"/>
            <a:pathLst>
              <a:path w="11410950" h="533400">
                <a:moveTo>
                  <a:pt x="0" y="0"/>
                </a:moveTo>
                <a:lnTo>
                  <a:pt x="11334748" y="0"/>
                </a:lnTo>
                <a:cubicBezTo>
                  <a:pt x="11376833" y="0"/>
                  <a:pt x="11410950" y="34117"/>
                  <a:pt x="11410950" y="76202"/>
                </a:cubicBezTo>
                <a:lnTo>
                  <a:pt x="11410950" y="457198"/>
                </a:lnTo>
                <a:cubicBezTo>
                  <a:pt x="11410950" y="499283"/>
                  <a:pt x="11376833" y="533400"/>
                  <a:pt x="11334748" y="533400"/>
                </a:cubicBezTo>
                <a:lnTo>
                  <a:pt x="0" y="533400"/>
                </a:lnTo>
                <a:lnTo>
                  <a:pt x="0" y="0"/>
                </a:lnTo>
                <a:close/>
              </a:path>
            </a:pathLst>
          </a:custGeom>
          <a:gradFill flip="none" rotWithShape="1">
            <a:gsLst>
              <a:gs pos="0">
                <a:srgbClr val="EEF2FF"/>
              </a:gs>
              <a:gs pos="100000">
                <a:srgbClr val="FDF2F8"/>
              </a:gs>
            </a:gsLst>
            <a:lin ang="0" scaled="1"/>
          </a:gradFill>
        </p:spPr>
        <p:txBody>
          <a:bodyPr/>
          <a:lstStyle/>
          <a:p>
            <a:endParaRPr lang="zh-CN" altLang="en-US"/>
          </a:p>
        </p:txBody>
      </p:sp>
      <p:sp>
        <p:nvSpPr>
          <p:cNvPr id="29" name="Shape 27"/>
          <p:cNvSpPr/>
          <p:nvPr/>
        </p:nvSpPr>
        <p:spPr>
          <a:xfrm>
            <a:off x="353911" y="5587365"/>
            <a:ext cx="38100" cy="533400"/>
          </a:xfrm>
          <a:custGeom>
            <a:avLst/>
            <a:gdLst/>
            <a:ahLst/>
            <a:cxnLst/>
            <a:rect l="l" t="t" r="r" b="b"/>
            <a:pathLst>
              <a:path w="38100" h="533400">
                <a:moveTo>
                  <a:pt x="0" y="0"/>
                </a:moveTo>
                <a:lnTo>
                  <a:pt x="38100" y="0"/>
                </a:lnTo>
                <a:lnTo>
                  <a:pt x="38100" y="533400"/>
                </a:lnTo>
                <a:lnTo>
                  <a:pt x="0" y="533400"/>
                </a:lnTo>
                <a:lnTo>
                  <a:pt x="0" y="0"/>
                </a:lnTo>
                <a:close/>
              </a:path>
            </a:pathLst>
          </a:custGeom>
          <a:solidFill>
            <a:srgbClr val="F6339A"/>
          </a:solidFill>
        </p:spPr>
        <p:txBody>
          <a:bodyPr/>
          <a:lstStyle/>
          <a:p>
            <a:endParaRPr lang="en-US"/>
          </a:p>
        </p:txBody>
      </p:sp>
      <p:sp>
        <p:nvSpPr>
          <p:cNvPr id="30" name="Shape 28"/>
          <p:cNvSpPr/>
          <p:nvPr/>
        </p:nvSpPr>
        <p:spPr>
          <a:xfrm>
            <a:off x="534886" y="577786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A3004C"/>
          </a:solidFill>
        </p:spPr>
        <p:txBody>
          <a:bodyPr/>
          <a:lstStyle/>
          <a:p>
            <a:endParaRPr lang="en-US"/>
          </a:p>
        </p:txBody>
      </p:sp>
      <p:sp>
        <p:nvSpPr>
          <p:cNvPr id="31" name="Text 29"/>
          <p:cNvSpPr/>
          <p:nvPr/>
        </p:nvSpPr>
        <p:spPr>
          <a:xfrm>
            <a:off x="773011" y="5739765"/>
            <a:ext cx="10915650" cy="228600"/>
          </a:xfrm>
          <a:prstGeom prst="rect">
            <a:avLst/>
          </a:prstGeom>
          <a:noFill/>
        </p:spPr>
        <p:txBody>
          <a:bodyPr wrap="square" lIns="0" tIns="0" rIns="0" bIns="0" rtlCol="0" anchor="ctr"/>
          <a:lstStyle/>
          <a:p>
            <a:pPr>
              <a:lnSpc>
                <a:spcPct val="130000"/>
              </a:lnSpc>
            </a:pPr>
            <a:r>
              <a:rPr lang="en-US" sz="2000" b="1" dirty="0">
                <a:solidFill>
                  <a:srgbClr val="A3004C"/>
                </a:solidFill>
                <a:ea typeface="MiSans" pitchFamily="34" charset="-122"/>
                <a:cs typeface="MiSans" pitchFamily="34" charset="-120"/>
              </a:rPr>
              <a:t>OpenClaw-RL combines evaluative, directional, and step-wise supervision.</a:t>
            </a:r>
            <a:endParaRPr lang="en-US" sz="2800" dirty="0"/>
          </a:p>
        </p:txBody>
      </p:sp>
      <p:grpSp>
        <p:nvGrpSpPr>
          <p:cNvPr id="32" name="组合 31">
            <a:extLst>
              <a:ext uri="{FF2B5EF4-FFF2-40B4-BE49-F238E27FC236}">
                <a16:creationId xmlns:a16="http://schemas.microsoft.com/office/drawing/2014/main" id="{53CC68F0-67BC-551A-CDEB-6F587A501571}"/>
              </a:ext>
            </a:extLst>
          </p:cNvPr>
          <p:cNvGrpSpPr/>
          <p:nvPr/>
        </p:nvGrpSpPr>
        <p:grpSpPr>
          <a:xfrm>
            <a:off x="3353018" y="2100838"/>
            <a:ext cx="8444611" cy="2795388"/>
            <a:chOff x="6222682" y="2471513"/>
            <a:chExt cx="5634456" cy="1865153"/>
          </a:xfrm>
        </p:grpSpPr>
        <p:sp>
          <p:nvSpPr>
            <p:cNvPr id="21" name="Shape 19"/>
            <p:cNvSpPr/>
            <p:nvPr/>
          </p:nvSpPr>
          <p:spPr>
            <a:xfrm>
              <a:off x="6222682" y="2471513"/>
              <a:ext cx="5634456" cy="1865153"/>
            </a:xfrm>
            <a:custGeom>
              <a:avLst/>
              <a:gdLst/>
              <a:ahLst/>
              <a:cxnLst/>
              <a:rect l="l" t="t" r="r" b="b"/>
              <a:pathLst>
                <a:path w="5575935" h="4204335">
                  <a:moveTo>
                    <a:pt x="114316" y="0"/>
                  </a:moveTo>
                  <a:lnTo>
                    <a:pt x="5461619" y="0"/>
                  </a:lnTo>
                  <a:cubicBezTo>
                    <a:pt x="5524754" y="0"/>
                    <a:pt x="5575935" y="51181"/>
                    <a:pt x="5575935" y="114316"/>
                  </a:cubicBezTo>
                  <a:lnTo>
                    <a:pt x="5575935" y="4090019"/>
                  </a:lnTo>
                  <a:cubicBezTo>
                    <a:pt x="5575935" y="4153154"/>
                    <a:pt x="5524754" y="4204335"/>
                    <a:pt x="5461619" y="4204335"/>
                  </a:cubicBezTo>
                  <a:lnTo>
                    <a:pt x="114316" y="4204335"/>
                  </a:lnTo>
                  <a:cubicBezTo>
                    <a:pt x="51181" y="4204335"/>
                    <a:pt x="0" y="4153154"/>
                    <a:pt x="0" y="4090019"/>
                  </a:cubicBezTo>
                  <a:lnTo>
                    <a:pt x="0" y="114316"/>
                  </a:lnTo>
                  <a:cubicBezTo>
                    <a:pt x="0" y="51181"/>
                    <a:pt x="51181" y="0"/>
                    <a:pt x="114316"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en-US"/>
            </a:p>
          </p:txBody>
        </p:sp>
        <p:pic>
          <p:nvPicPr>
            <p:cNvPr id="3" name="图片 2">
              <a:extLst>
                <a:ext uri="{FF2B5EF4-FFF2-40B4-BE49-F238E27FC236}">
                  <a16:creationId xmlns:a16="http://schemas.microsoft.com/office/drawing/2014/main" id="{276B4183-8B9F-C16F-1960-4ABAA604B9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4297" y="2543262"/>
              <a:ext cx="5537475" cy="1769098"/>
            </a:xfrm>
            <a:prstGeom prst="rect">
              <a:avLst/>
            </a:prstGeom>
          </p:spPr>
        </p:pic>
      </p:gr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3CCFDA-64B3-A6E6-3489-5314E5398C83}"/>
              </a:ext>
            </a:extLst>
          </p:cNvPr>
          <p:cNvSpPr>
            <a:spLocks noGrp="1"/>
          </p:cNvSpPr>
          <p:nvPr>
            <p:ph type="sldNum" sz="quarter" idx="10"/>
          </p:nvPr>
        </p:nvSpPr>
        <p:spPr/>
        <p:txBody>
          <a:bodyPr/>
          <a:lstStyle/>
          <a:p>
            <a:fld id="{D9B6BDF2-6896-4B98-8776-C18582F63BA5}" type="slidenum">
              <a:rPr lang="zh-TW" altLang="en-US" smtClean="0"/>
              <a:t>16</a:t>
            </a:fld>
            <a:endParaRPr lang="zh-TW" altLang="en-US"/>
          </a:p>
        </p:txBody>
      </p:sp>
      <p:sp>
        <p:nvSpPr>
          <p:cNvPr id="8" name="Shape 9">
            <a:extLst>
              <a:ext uri="{FF2B5EF4-FFF2-40B4-BE49-F238E27FC236}">
                <a16:creationId xmlns:a16="http://schemas.microsoft.com/office/drawing/2014/main" id="{719CFE96-DFEF-2F6F-707C-5A568DE604D4}"/>
              </a:ext>
            </a:extLst>
          </p:cNvPr>
          <p:cNvSpPr/>
          <p:nvPr/>
        </p:nvSpPr>
        <p:spPr>
          <a:xfrm>
            <a:off x="2949428" y="1169941"/>
            <a:ext cx="2574341"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EEF2FF"/>
          </a:solidFill>
        </p:spPr>
        <p:txBody>
          <a:bodyPr/>
          <a:lstStyle/>
          <a:p>
            <a:endParaRPr lang="zh-CN" altLang="en-US"/>
          </a:p>
        </p:txBody>
      </p:sp>
      <p:sp>
        <p:nvSpPr>
          <p:cNvPr id="9" name="Shape 10">
            <a:extLst>
              <a:ext uri="{FF2B5EF4-FFF2-40B4-BE49-F238E27FC236}">
                <a16:creationId xmlns:a16="http://schemas.microsoft.com/office/drawing/2014/main" id="{59E1B17F-9242-8DE9-D5CB-5BE4F153ADC1}"/>
              </a:ext>
            </a:extLst>
          </p:cNvPr>
          <p:cNvSpPr/>
          <p:nvPr/>
        </p:nvSpPr>
        <p:spPr>
          <a:xfrm>
            <a:off x="3073253" y="1417591"/>
            <a:ext cx="171450" cy="152400"/>
          </a:xfrm>
          <a:custGeom>
            <a:avLst/>
            <a:gdLst/>
            <a:ahLst/>
            <a:cxnLst/>
            <a:rect l="l" t="t" r="r" b="b"/>
            <a:pathLst>
              <a:path w="171450" h="152400">
                <a:moveTo>
                  <a:pt x="114300" y="42863"/>
                </a:moveTo>
                <a:cubicBezTo>
                  <a:pt x="114300" y="71795"/>
                  <a:pt x="88702" y="95250"/>
                  <a:pt x="57150" y="95250"/>
                </a:cubicBezTo>
                <a:cubicBezTo>
                  <a:pt x="49203" y="95250"/>
                  <a:pt x="41642" y="93762"/>
                  <a:pt x="34766" y="91083"/>
                </a:cubicBezTo>
                <a:lnTo>
                  <a:pt x="10478" y="103942"/>
                </a:lnTo>
                <a:cubicBezTo>
                  <a:pt x="7709" y="105400"/>
                  <a:pt x="4316" y="104894"/>
                  <a:pt x="2084" y="102691"/>
                </a:cubicBezTo>
                <a:cubicBezTo>
                  <a:pt x="-149" y="100489"/>
                  <a:pt x="-655" y="97066"/>
                  <a:pt x="833" y="94298"/>
                </a:cubicBezTo>
                <a:lnTo>
                  <a:pt x="11430" y="74295"/>
                </a:lnTo>
                <a:cubicBezTo>
                  <a:pt x="4256" y="65544"/>
                  <a:pt x="0" y="54650"/>
                  <a:pt x="0" y="42863"/>
                </a:cubicBezTo>
                <a:cubicBezTo>
                  <a:pt x="0" y="13930"/>
                  <a:pt x="25598" y="-9525"/>
                  <a:pt x="57150" y="-9525"/>
                </a:cubicBezTo>
                <a:cubicBezTo>
                  <a:pt x="88702" y="-9525"/>
                  <a:pt x="114300" y="13930"/>
                  <a:pt x="114300" y="42863"/>
                </a:cubicBezTo>
                <a:close/>
                <a:moveTo>
                  <a:pt x="114300" y="152400"/>
                </a:moveTo>
                <a:cubicBezTo>
                  <a:pt x="86291" y="152400"/>
                  <a:pt x="62984" y="133916"/>
                  <a:pt x="58103" y="109537"/>
                </a:cubicBezTo>
                <a:cubicBezTo>
                  <a:pt x="93821" y="109091"/>
                  <a:pt x="124867" y="83671"/>
                  <a:pt x="128290" y="49203"/>
                </a:cubicBezTo>
                <a:cubicBezTo>
                  <a:pt x="153085" y="54918"/>
                  <a:pt x="171450" y="75486"/>
                  <a:pt x="171450" y="100013"/>
                </a:cubicBezTo>
                <a:cubicBezTo>
                  <a:pt x="171450" y="111800"/>
                  <a:pt x="167194" y="122694"/>
                  <a:pt x="160020" y="131445"/>
                </a:cubicBezTo>
                <a:lnTo>
                  <a:pt x="170617" y="151448"/>
                </a:lnTo>
                <a:cubicBezTo>
                  <a:pt x="172075" y="154216"/>
                  <a:pt x="171569" y="157609"/>
                  <a:pt x="169366" y="159841"/>
                </a:cubicBezTo>
                <a:cubicBezTo>
                  <a:pt x="167164" y="162074"/>
                  <a:pt x="163741" y="162580"/>
                  <a:pt x="160973" y="161092"/>
                </a:cubicBezTo>
                <a:lnTo>
                  <a:pt x="136684" y="148233"/>
                </a:lnTo>
                <a:cubicBezTo>
                  <a:pt x="129808" y="150912"/>
                  <a:pt x="122247" y="152400"/>
                  <a:pt x="114300" y="152400"/>
                </a:cubicBezTo>
                <a:close/>
              </a:path>
            </a:pathLst>
          </a:custGeom>
          <a:solidFill>
            <a:srgbClr val="4F39F6"/>
          </a:solidFill>
        </p:spPr>
        <p:txBody>
          <a:bodyPr/>
          <a:lstStyle/>
          <a:p>
            <a:endParaRPr lang="en-US"/>
          </a:p>
        </p:txBody>
      </p:sp>
      <p:sp>
        <p:nvSpPr>
          <p:cNvPr id="10" name="Text 11">
            <a:extLst>
              <a:ext uri="{FF2B5EF4-FFF2-40B4-BE49-F238E27FC236}">
                <a16:creationId xmlns:a16="http://schemas.microsoft.com/office/drawing/2014/main" id="{A1D1092F-FC3B-33D5-B27E-5B499836E244}"/>
              </a:ext>
            </a:extLst>
          </p:cNvPr>
          <p:cNvSpPr/>
          <p:nvPr/>
        </p:nvSpPr>
        <p:spPr>
          <a:xfrm>
            <a:off x="3368527" y="1257571"/>
            <a:ext cx="3004307" cy="228600"/>
          </a:xfrm>
          <a:prstGeom prst="rect">
            <a:avLst/>
          </a:prstGeom>
          <a:noFill/>
        </p:spPr>
        <p:txBody>
          <a:bodyPr wrap="square" lIns="0" tIns="0" rIns="0" bIns="0" rtlCol="0" anchor="ctr"/>
          <a:lstStyle/>
          <a:p>
            <a:pPr>
              <a:lnSpc>
                <a:spcPct val="130000"/>
              </a:lnSpc>
            </a:pPr>
            <a:r>
              <a:rPr lang="en-US" sz="2000" b="1" dirty="0">
                <a:solidFill>
                  <a:srgbClr val="1D293D"/>
                </a:solidFill>
                <a:ea typeface="MiSans" pitchFamily="34" charset="-122"/>
                <a:cs typeface="MiSans" pitchFamily="34" charset="-120"/>
              </a:rPr>
              <a:t>Personal Assistant</a:t>
            </a:r>
            <a:endParaRPr lang="en-US" sz="2800" dirty="0"/>
          </a:p>
        </p:txBody>
      </p:sp>
      <p:sp>
        <p:nvSpPr>
          <p:cNvPr id="11" name="Text 12">
            <a:extLst>
              <a:ext uri="{FF2B5EF4-FFF2-40B4-BE49-F238E27FC236}">
                <a16:creationId xmlns:a16="http://schemas.microsoft.com/office/drawing/2014/main" id="{D23F4EC6-2B4B-B661-4FB0-D1F577848152}"/>
              </a:ext>
            </a:extLst>
          </p:cNvPr>
          <p:cNvSpPr/>
          <p:nvPr/>
        </p:nvSpPr>
        <p:spPr>
          <a:xfrm>
            <a:off x="3368528" y="1512841"/>
            <a:ext cx="2987979" cy="190500"/>
          </a:xfrm>
          <a:prstGeom prst="rect">
            <a:avLst/>
          </a:prstGeom>
          <a:noFill/>
        </p:spPr>
        <p:txBody>
          <a:bodyPr wrap="square" lIns="0" tIns="0" rIns="0" bIns="0" rtlCol="0" anchor="ctr"/>
          <a:lstStyle/>
          <a:p>
            <a:pPr>
              <a:lnSpc>
                <a:spcPct val="120000"/>
              </a:lnSpc>
            </a:pPr>
            <a:r>
              <a:rPr lang="en-US" sz="1400" dirty="0">
                <a:solidFill>
                  <a:srgbClr val="45556C"/>
                </a:solidFill>
                <a:ea typeface="MiSans" pitchFamily="34" charset="-122"/>
                <a:cs typeface="MiSans" pitchFamily="34" charset="-120"/>
              </a:rPr>
              <a:t>User replies, tool-call results</a:t>
            </a:r>
            <a:endParaRPr lang="en-US" sz="2400" dirty="0"/>
          </a:p>
        </p:txBody>
      </p:sp>
      <p:sp>
        <p:nvSpPr>
          <p:cNvPr id="12" name="Shape 13">
            <a:extLst>
              <a:ext uri="{FF2B5EF4-FFF2-40B4-BE49-F238E27FC236}">
                <a16:creationId xmlns:a16="http://schemas.microsoft.com/office/drawing/2014/main" id="{37799A68-B370-91C9-C3D0-6CD104F115D2}"/>
              </a:ext>
            </a:extLst>
          </p:cNvPr>
          <p:cNvSpPr/>
          <p:nvPr/>
        </p:nvSpPr>
        <p:spPr>
          <a:xfrm>
            <a:off x="2949428" y="1893841"/>
            <a:ext cx="2574341"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FAF5FF"/>
          </a:solidFill>
        </p:spPr>
        <p:txBody>
          <a:bodyPr/>
          <a:lstStyle/>
          <a:p>
            <a:endParaRPr lang="zh-CN" altLang="en-US"/>
          </a:p>
        </p:txBody>
      </p:sp>
      <p:sp>
        <p:nvSpPr>
          <p:cNvPr id="13" name="Shape 14">
            <a:extLst>
              <a:ext uri="{FF2B5EF4-FFF2-40B4-BE49-F238E27FC236}">
                <a16:creationId xmlns:a16="http://schemas.microsoft.com/office/drawing/2014/main" id="{66FC40C4-88F6-64BA-B0F0-0E361AAC5B0C}"/>
              </a:ext>
            </a:extLst>
          </p:cNvPr>
          <p:cNvSpPr/>
          <p:nvPr/>
        </p:nvSpPr>
        <p:spPr>
          <a:xfrm>
            <a:off x="3082778" y="2141491"/>
            <a:ext cx="152400" cy="152400"/>
          </a:xfrm>
          <a:custGeom>
            <a:avLst/>
            <a:gdLst/>
            <a:ahLst/>
            <a:cxnLst/>
            <a:rect l="l" t="t" r="r" b="b"/>
            <a:pathLst>
              <a:path w="152400" h="152400">
                <a:moveTo>
                  <a:pt x="2798" y="35302"/>
                </a:moveTo>
                <a:cubicBezTo>
                  <a:pt x="-923" y="31581"/>
                  <a:pt x="-923" y="25539"/>
                  <a:pt x="2798" y="21818"/>
                </a:cubicBezTo>
                <a:cubicBezTo>
                  <a:pt x="6519" y="18098"/>
                  <a:pt x="12561" y="18098"/>
                  <a:pt x="16282" y="21818"/>
                </a:cubicBezTo>
                <a:lnTo>
                  <a:pt x="63907" y="69443"/>
                </a:lnTo>
                <a:cubicBezTo>
                  <a:pt x="67628" y="73164"/>
                  <a:pt x="67628" y="79206"/>
                  <a:pt x="63907" y="82927"/>
                </a:cubicBezTo>
                <a:lnTo>
                  <a:pt x="16282" y="130552"/>
                </a:lnTo>
                <a:cubicBezTo>
                  <a:pt x="12561" y="134273"/>
                  <a:pt x="6519" y="134273"/>
                  <a:pt x="2798" y="130552"/>
                </a:cubicBezTo>
                <a:cubicBezTo>
                  <a:pt x="-923" y="126831"/>
                  <a:pt x="-923" y="120789"/>
                  <a:pt x="2798" y="117068"/>
                </a:cubicBezTo>
                <a:lnTo>
                  <a:pt x="43666" y="76200"/>
                </a:lnTo>
                <a:lnTo>
                  <a:pt x="2798" y="35302"/>
                </a:lnTo>
                <a:close/>
                <a:moveTo>
                  <a:pt x="66675" y="114300"/>
                </a:moveTo>
                <a:lnTo>
                  <a:pt x="142875" y="114300"/>
                </a:lnTo>
                <a:cubicBezTo>
                  <a:pt x="148144" y="114300"/>
                  <a:pt x="152400" y="118556"/>
                  <a:pt x="152400" y="123825"/>
                </a:cubicBezTo>
                <a:cubicBezTo>
                  <a:pt x="152400" y="129094"/>
                  <a:pt x="148144" y="133350"/>
                  <a:pt x="142875" y="133350"/>
                </a:cubicBezTo>
                <a:lnTo>
                  <a:pt x="66675" y="133350"/>
                </a:lnTo>
                <a:cubicBezTo>
                  <a:pt x="61406" y="133350"/>
                  <a:pt x="57150" y="129094"/>
                  <a:pt x="57150" y="123825"/>
                </a:cubicBezTo>
                <a:cubicBezTo>
                  <a:pt x="57150" y="118556"/>
                  <a:pt x="61406" y="114300"/>
                  <a:pt x="66675" y="114300"/>
                </a:cubicBezTo>
                <a:close/>
              </a:path>
            </a:pathLst>
          </a:custGeom>
          <a:solidFill>
            <a:srgbClr val="9810FA"/>
          </a:solidFill>
        </p:spPr>
        <p:txBody>
          <a:bodyPr/>
          <a:lstStyle/>
          <a:p>
            <a:endParaRPr lang="en-US"/>
          </a:p>
        </p:txBody>
      </p:sp>
      <p:sp>
        <p:nvSpPr>
          <p:cNvPr id="14" name="Text 15">
            <a:extLst>
              <a:ext uri="{FF2B5EF4-FFF2-40B4-BE49-F238E27FC236}">
                <a16:creationId xmlns:a16="http://schemas.microsoft.com/office/drawing/2014/main" id="{B848EE41-4412-B9F3-51EF-0D19BE3908D2}"/>
              </a:ext>
            </a:extLst>
          </p:cNvPr>
          <p:cNvSpPr/>
          <p:nvPr/>
        </p:nvSpPr>
        <p:spPr>
          <a:xfrm>
            <a:off x="3368527" y="1981471"/>
            <a:ext cx="2628769" cy="228600"/>
          </a:xfrm>
          <a:prstGeom prst="rect">
            <a:avLst/>
          </a:prstGeom>
          <a:noFill/>
        </p:spPr>
        <p:txBody>
          <a:bodyPr wrap="square" lIns="0" tIns="0" rIns="0" bIns="0" rtlCol="0" anchor="ctr"/>
          <a:lstStyle/>
          <a:p>
            <a:pPr>
              <a:lnSpc>
                <a:spcPct val="130000"/>
              </a:lnSpc>
            </a:pPr>
            <a:r>
              <a:rPr lang="en-US" sz="2000" b="1" dirty="0">
                <a:solidFill>
                  <a:srgbClr val="1D293D"/>
                </a:solidFill>
                <a:ea typeface="MiSans" pitchFamily="34" charset="-122"/>
                <a:cs typeface="MiSans" pitchFamily="34" charset="-120"/>
              </a:rPr>
              <a:t>Terminal</a:t>
            </a:r>
            <a:endParaRPr lang="en-US" sz="2800" dirty="0"/>
          </a:p>
        </p:txBody>
      </p:sp>
      <p:sp>
        <p:nvSpPr>
          <p:cNvPr id="15" name="Text 16">
            <a:extLst>
              <a:ext uri="{FF2B5EF4-FFF2-40B4-BE49-F238E27FC236}">
                <a16:creationId xmlns:a16="http://schemas.microsoft.com/office/drawing/2014/main" id="{DA222BD9-79AB-B08A-075D-2BEF2C5C136D}"/>
              </a:ext>
            </a:extLst>
          </p:cNvPr>
          <p:cNvSpPr/>
          <p:nvPr/>
        </p:nvSpPr>
        <p:spPr>
          <a:xfrm>
            <a:off x="3368527" y="2236741"/>
            <a:ext cx="2612441" cy="190500"/>
          </a:xfrm>
          <a:prstGeom prst="rect">
            <a:avLst/>
          </a:prstGeom>
          <a:noFill/>
        </p:spPr>
        <p:txBody>
          <a:bodyPr wrap="square" lIns="0" tIns="0" rIns="0" bIns="0" rtlCol="0" anchor="ctr"/>
          <a:lstStyle/>
          <a:p>
            <a:pPr>
              <a:lnSpc>
                <a:spcPct val="120000"/>
              </a:lnSpc>
            </a:pPr>
            <a:r>
              <a:rPr lang="en-US" sz="1400" dirty="0">
                <a:solidFill>
                  <a:srgbClr val="45556C"/>
                </a:solidFill>
                <a:ea typeface="MiSans" pitchFamily="34" charset="-122"/>
                <a:cs typeface="MiSans" pitchFamily="34" charset="-120"/>
              </a:rPr>
              <a:t>stdout, stderr, exit codes</a:t>
            </a:r>
            <a:endParaRPr lang="en-US" sz="2400" dirty="0"/>
          </a:p>
        </p:txBody>
      </p:sp>
      <p:sp>
        <p:nvSpPr>
          <p:cNvPr id="16" name="Shape 17">
            <a:extLst>
              <a:ext uri="{FF2B5EF4-FFF2-40B4-BE49-F238E27FC236}">
                <a16:creationId xmlns:a16="http://schemas.microsoft.com/office/drawing/2014/main" id="{3AA57BC2-29BC-DCAD-B571-A02531859B9D}"/>
              </a:ext>
            </a:extLst>
          </p:cNvPr>
          <p:cNvSpPr/>
          <p:nvPr/>
        </p:nvSpPr>
        <p:spPr>
          <a:xfrm>
            <a:off x="5602972" y="1169670"/>
            <a:ext cx="3423406"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FDF2F8"/>
          </a:solidFill>
        </p:spPr>
        <p:txBody>
          <a:bodyPr/>
          <a:lstStyle/>
          <a:p>
            <a:endParaRPr lang="zh-CN" altLang="en-US"/>
          </a:p>
        </p:txBody>
      </p:sp>
      <p:sp>
        <p:nvSpPr>
          <p:cNvPr id="17" name="Shape 18">
            <a:extLst>
              <a:ext uri="{FF2B5EF4-FFF2-40B4-BE49-F238E27FC236}">
                <a16:creationId xmlns:a16="http://schemas.microsoft.com/office/drawing/2014/main" id="{5FEE0A35-A92B-63CA-E5EA-66A62A8E3450}"/>
              </a:ext>
            </a:extLst>
          </p:cNvPr>
          <p:cNvSpPr/>
          <p:nvPr/>
        </p:nvSpPr>
        <p:spPr>
          <a:xfrm>
            <a:off x="5736322" y="1417320"/>
            <a:ext cx="152400" cy="152400"/>
          </a:xfrm>
          <a:custGeom>
            <a:avLst/>
            <a:gdLst/>
            <a:ahLst/>
            <a:cxnLst/>
            <a:rect l="l" t="t" r="r" b="b"/>
            <a:pathLst>
              <a:path w="152400" h="152400">
                <a:moveTo>
                  <a:pt x="19050" y="9525"/>
                </a:moveTo>
                <a:cubicBezTo>
                  <a:pt x="8543" y="9525"/>
                  <a:pt x="0" y="18068"/>
                  <a:pt x="0" y="28575"/>
                </a:cubicBezTo>
                <a:lnTo>
                  <a:pt x="0" y="104775"/>
                </a:lnTo>
                <a:cubicBezTo>
                  <a:pt x="0" y="115282"/>
                  <a:pt x="8543" y="123825"/>
                  <a:pt x="19050" y="123825"/>
                </a:cubicBezTo>
                <a:lnTo>
                  <a:pt x="61912" y="123825"/>
                </a:lnTo>
                <a:lnTo>
                  <a:pt x="57150" y="138113"/>
                </a:lnTo>
                <a:lnTo>
                  <a:pt x="35719" y="138113"/>
                </a:lnTo>
                <a:cubicBezTo>
                  <a:pt x="31760" y="138113"/>
                  <a:pt x="28575" y="141297"/>
                  <a:pt x="28575" y="145256"/>
                </a:cubicBezTo>
                <a:cubicBezTo>
                  <a:pt x="28575" y="149215"/>
                  <a:pt x="31760" y="152400"/>
                  <a:pt x="35719" y="152400"/>
                </a:cubicBezTo>
                <a:lnTo>
                  <a:pt x="116681" y="152400"/>
                </a:lnTo>
                <a:cubicBezTo>
                  <a:pt x="120640" y="152400"/>
                  <a:pt x="123825" y="149215"/>
                  <a:pt x="123825" y="145256"/>
                </a:cubicBezTo>
                <a:cubicBezTo>
                  <a:pt x="123825" y="141297"/>
                  <a:pt x="120640" y="138113"/>
                  <a:pt x="116681" y="138113"/>
                </a:cubicBezTo>
                <a:lnTo>
                  <a:pt x="95250" y="138113"/>
                </a:lnTo>
                <a:lnTo>
                  <a:pt x="90488" y="123825"/>
                </a:lnTo>
                <a:lnTo>
                  <a:pt x="133350" y="123825"/>
                </a:lnTo>
                <a:cubicBezTo>
                  <a:pt x="143857" y="123825"/>
                  <a:pt x="152400" y="115282"/>
                  <a:pt x="152400" y="104775"/>
                </a:cubicBezTo>
                <a:lnTo>
                  <a:pt x="152400" y="28575"/>
                </a:lnTo>
                <a:cubicBezTo>
                  <a:pt x="152400" y="18068"/>
                  <a:pt x="143857" y="9525"/>
                  <a:pt x="133350" y="9525"/>
                </a:cubicBezTo>
                <a:lnTo>
                  <a:pt x="19050" y="9525"/>
                </a:lnTo>
                <a:close/>
                <a:moveTo>
                  <a:pt x="28575" y="28575"/>
                </a:moveTo>
                <a:lnTo>
                  <a:pt x="123825" y="28575"/>
                </a:lnTo>
                <a:cubicBezTo>
                  <a:pt x="129094" y="28575"/>
                  <a:pt x="133350" y="32831"/>
                  <a:pt x="133350" y="38100"/>
                </a:cubicBezTo>
                <a:lnTo>
                  <a:pt x="133350" y="85725"/>
                </a:lnTo>
                <a:cubicBezTo>
                  <a:pt x="133350" y="90994"/>
                  <a:pt x="129094" y="95250"/>
                  <a:pt x="123825" y="95250"/>
                </a:cubicBezTo>
                <a:lnTo>
                  <a:pt x="28575" y="95250"/>
                </a:lnTo>
                <a:cubicBezTo>
                  <a:pt x="23306" y="95250"/>
                  <a:pt x="19050" y="90994"/>
                  <a:pt x="19050" y="85725"/>
                </a:cubicBezTo>
                <a:lnTo>
                  <a:pt x="19050" y="38100"/>
                </a:lnTo>
                <a:cubicBezTo>
                  <a:pt x="19050" y="32831"/>
                  <a:pt x="23306" y="28575"/>
                  <a:pt x="28575" y="28575"/>
                </a:cubicBezTo>
                <a:close/>
              </a:path>
            </a:pathLst>
          </a:custGeom>
          <a:solidFill>
            <a:srgbClr val="E60076"/>
          </a:solidFill>
        </p:spPr>
        <p:txBody>
          <a:bodyPr/>
          <a:lstStyle/>
          <a:p>
            <a:endParaRPr lang="en-US"/>
          </a:p>
        </p:txBody>
      </p:sp>
      <p:sp>
        <p:nvSpPr>
          <p:cNvPr id="18" name="Text 19">
            <a:extLst>
              <a:ext uri="{FF2B5EF4-FFF2-40B4-BE49-F238E27FC236}">
                <a16:creationId xmlns:a16="http://schemas.microsoft.com/office/drawing/2014/main" id="{9DEBF174-72C2-D6ED-513A-0713DF99E11B}"/>
              </a:ext>
            </a:extLst>
          </p:cNvPr>
          <p:cNvSpPr/>
          <p:nvPr/>
        </p:nvSpPr>
        <p:spPr>
          <a:xfrm>
            <a:off x="6022071" y="1253909"/>
            <a:ext cx="1255029" cy="228600"/>
          </a:xfrm>
          <a:prstGeom prst="rect">
            <a:avLst/>
          </a:prstGeom>
          <a:noFill/>
        </p:spPr>
        <p:txBody>
          <a:bodyPr wrap="square" lIns="0" tIns="0" rIns="0" bIns="0" rtlCol="0" anchor="ctr"/>
          <a:lstStyle/>
          <a:p>
            <a:pPr>
              <a:lnSpc>
                <a:spcPct val="130000"/>
              </a:lnSpc>
            </a:pPr>
            <a:r>
              <a:rPr lang="en-US" sz="2000" b="1" dirty="0">
                <a:solidFill>
                  <a:srgbClr val="1D293D"/>
                </a:solidFill>
                <a:latin typeface="MiSans" pitchFamily="34" charset="-122"/>
                <a:ea typeface="MiSans" pitchFamily="34" charset="-122"/>
                <a:cs typeface="MiSans" pitchFamily="34" charset="-120"/>
              </a:rPr>
              <a:t>GUI</a:t>
            </a:r>
            <a:endParaRPr lang="en-US" sz="2800" dirty="0"/>
          </a:p>
        </p:txBody>
      </p:sp>
      <p:sp>
        <p:nvSpPr>
          <p:cNvPr id="19" name="Text 20">
            <a:extLst>
              <a:ext uri="{FF2B5EF4-FFF2-40B4-BE49-F238E27FC236}">
                <a16:creationId xmlns:a16="http://schemas.microsoft.com/office/drawing/2014/main" id="{F793986A-B416-804A-A67B-F746A553CA01}"/>
              </a:ext>
            </a:extLst>
          </p:cNvPr>
          <p:cNvSpPr/>
          <p:nvPr/>
        </p:nvSpPr>
        <p:spPr>
          <a:xfrm>
            <a:off x="6022072" y="1512570"/>
            <a:ext cx="3069618" cy="190500"/>
          </a:xfrm>
          <a:prstGeom prst="rect">
            <a:avLst/>
          </a:prstGeom>
          <a:noFill/>
        </p:spPr>
        <p:txBody>
          <a:bodyPr wrap="square" lIns="0" tIns="0" rIns="0" bIns="0" rtlCol="0" anchor="ctr"/>
          <a:lstStyle/>
          <a:p>
            <a:pPr>
              <a:lnSpc>
                <a:spcPct val="120000"/>
              </a:lnSpc>
            </a:pPr>
            <a:r>
              <a:rPr lang="en-US" sz="1400" dirty="0">
                <a:solidFill>
                  <a:srgbClr val="45556C"/>
                </a:solidFill>
                <a:latin typeface="MiSans" pitchFamily="34" charset="-122"/>
                <a:ea typeface="MiSans" pitchFamily="34" charset="-122"/>
                <a:cs typeface="MiSans" pitchFamily="34" charset="-120"/>
              </a:rPr>
              <a:t>Visual state changes, task progress</a:t>
            </a:r>
            <a:endParaRPr lang="en-US" sz="2400" dirty="0"/>
          </a:p>
        </p:txBody>
      </p:sp>
      <p:sp>
        <p:nvSpPr>
          <p:cNvPr id="20" name="Shape 21">
            <a:extLst>
              <a:ext uri="{FF2B5EF4-FFF2-40B4-BE49-F238E27FC236}">
                <a16:creationId xmlns:a16="http://schemas.microsoft.com/office/drawing/2014/main" id="{80178EAD-0A87-83DB-D5FD-A4826BA320FB}"/>
              </a:ext>
            </a:extLst>
          </p:cNvPr>
          <p:cNvSpPr/>
          <p:nvPr/>
        </p:nvSpPr>
        <p:spPr>
          <a:xfrm>
            <a:off x="5602972" y="1893570"/>
            <a:ext cx="3423406" cy="647700"/>
          </a:xfrm>
          <a:custGeom>
            <a:avLst/>
            <a:gdLst/>
            <a:ahLst/>
            <a:cxnLst/>
            <a:rect l="l" t="t" r="r" b="b"/>
            <a:pathLst>
              <a:path w="5600700" h="647700">
                <a:moveTo>
                  <a:pt x="76202" y="0"/>
                </a:moveTo>
                <a:lnTo>
                  <a:pt x="5524498" y="0"/>
                </a:lnTo>
                <a:cubicBezTo>
                  <a:pt x="5566583" y="0"/>
                  <a:pt x="5600700" y="34117"/>
                  <a:pt x="5600700" y="76202"/>
                </a:cubicBezTo>
                <a:lnTo>
                  <a:pt x="5600700" y="571498"/>
                </a:lnTo>
                <a:cubicBezTo>
                  <a:pt x="5600700" y="613583"/>
                  <a:pt x="5566583" y="647700"/>
                  <a:pt x="5524498" y="647700"/>
                </a:cubicBezTo>
                <a:lnTo>
                  <a:pt x="76202" y="647700"/>
                </a:lnTo>
                <a:cubicBezTo>
                  <a:pt x="34117" y="647700"/>
                  <a:pt x="0" y="613583"/>
                  <a:pt x="0" y="571498"/>
                </a:cubicBezTo>
                <a:lnTo>
                  <a:pt x="0" y="76202"/>
                </a:lnTo>
                <a:cubicBezTo>
                  <a:pt x="0" y="34117"/>
                  <a:pt x="34117" y="0"/>
                  <a:pt x="76202" y="0"/>
                </a:cubicBezTo>
                <a:close/>
              </a:path>
            </a:pathLst>
          </a:custGeom>
          <a:solidFill>
            <a:srgbClr val="FFF7ED"/>
          </a:solidFill>
        </p:spPr>
        <p:txBody>
          <a:bodyPr/>
          <a:lstStyle/>
          <a:p>
            <a:endParaRPr lang="zh-CN" altLang="en-US"/>
          </a:p>
        </p:txBody>
      </p:sp>
      <p:sp>
        <p:nvSpPr>
          <p:cNvPr id="21" name="Shape 22">
            <a:extLst>
              <a:ext uri="{FF2B5EF4-FFF2-40B4-BE49-F238E27FC236}">
                <a16:creationId xmlns:a16="http://schemas.microsoft.com/office/drawing/2014/main" id="{4260399D-403C-6657-AF8C-118051EA0E3C}"/>
              </a:ext>
            </a:extLst>
          </p:cNvPr>
          <p:cNvSpPr/>
          <p:nvPr/>
        </p:nvSpPr>
        <p:spPr>
          <a:xfrm>
            <a:off x="5726797" y="2141220"/>
            <a:ext cx="171450" cy="152400"/>
          </a:xfrm>
          <a:custGeom>
            <a:avLst/>
            <a:gdLst/>
            <a:ahLst/>
            <a:cxnLst/>
            <a:rect l="l" t="t" r="r" b="b"/>
            <a:pathLst>
              <a:path w="171450" h="152400">
                <a:moveTo>
                  <a:pt x="107394" y="357"/>
                </a:moveTo>
                <a:cubicBezTo>
                  <a:pt x="102334" y="-1101"/>
                  <a:pt x="97066" y="1845"/>
                  <a:pt x="95607" y="6906"/>
                </a:cubicBezTo>
                <a:lnTo>
                  <a:pt x="57507" y="140256"/>
                </a:lnTo>
                <a:cubicBezTo>
                  <a:pt x="56049" y="145316"/>
                  <a:pt x="58995" y="150584"/>
                  <a:pt x="64056" y="152043"/>
                </a:cubicBezTo>
                <a:cubicBezTo>
                  <a:pt x="69116" y="153501"/>
                  <a:pt x="74384" y="150555"/>
                  <a:pt x="75843" y="145494"/>
                </a:cubicBezTo>
                <a:lnTo>
                  <a:pt x="113943" y="12144"/>
                </a:lnTo>
                <a:cubicBezTo>
                  <a:pt x="115401" y="7084"/>
                  <a:pt x="112455" y="1816"/>
                  <a:pt x="107394" y="357"/>
                </a:cubicBezTo>
                <a:close/>
                <a:moveTo>
                  <a:pt x="126623" y="40868"/>
                </a:moveTo>
                <a:cubicBezTo>
                  <a:pt x="122902" y="44589"/>
                  <a:pt x="122902" y="50631"/>
                  <a:pt x="126623" y="54352"/>
                </a:cubicBezTo>
                <a:lnTo>
                  <a:pt x="148471" y="76200"/>
                </a:lnTo>
                <a:lnTo>
                  <a:pt x="126623" y="98048"/>
                </a:lnTo>
                <a:cubicBezTo>
                  <a:pt x="122902" y="101769"/>
                  <a:pt x="122902" y="107811"/>
                  <a:pt x="126623" y="111532"/>
                </a:cubicBezTo>
                <a:cubicBezTo>
                  <a:pt x="130344" y="115253"/>
                  <a:pt x="136386" y="115253"/>
                  <a:pt x="140107" y="111532"/>
                </a:cubicBezTo>
                <a:lnTo>
                  <a:pt x="168682" y="82957"/>
                </a:lnTo>
                <a:cubicBezTo>
                  <a:pt x="172403" y="79236"/>
                  <a:pt x="172403" y="73194"/>
                  <a:pt x="168682" y="69473"/>
                </a:cubicBezTo>
                <a:lnTo>
                  <a:pt x="140107" y="40898"/>
                </a:lnTo>
                <a:cubicBezTo>
                  <a:pt x="136386" y="37177"/>
                  <a:pt x="130344" y="37177"/>
                  <a:pt x="126623" y="40898"/>
                </a:cubicBezTo>
                <a:close/>
                <a:moveTo>
                  <a:pt x="44857" y="40868"/>
                </a:moveTo>
                <a:cubicBezTo>
                  <a:pt x="41136" y="37147"/>
                  <a:pt x="35094" y="37147"/>
                  <a:pt x="31373" y="40868"/>
                </a:cubicBezTo>
                <a:lnTo>
                  <a:pt x="2798" y="69443"/>
                </a:lnTo>
                <a:cubicBezTo>
                  <a:pt x="-923" y="73164"/>
                  <a:pt x="-923" y="79206"/>
                  <a:pt x="2798" y="82927"/>
                </a:cubicBezTo>
                <a:lnTo>
                  <a:pt x="31373" y="111502"/>
                </a:lnTo>
                <a:cubicBezTo>
                  <a:pt x="35094" y="115223"/>
                  <a:pt x="41136" y="115223"/>
                  <a:pt x="44857" y="111502"/>
                </a:cubicBezTo>
                <a:cubicBezTo>
                  <a:pt x="48578" y="107781"/>
                  <a:pt x="48578" y="101739"/>
                  <a:pt x="44857" y="98018"/>
                </a:cubicBezTo>
                <a:lnTo>
                  <a:pt x="23009" y="76200"/>
                </a:lnTo>
                <a:lnTo>
                  <a:pt x="44827" y="54352"/>
                </a:lnTo>
                <a:cubicBezTo>
                  <a:pt x="48548" y="50631"/>
                  <a:pt x="48548" y="44589"/>
                  <a:pt x="44827" y="40868"/>
                </a:cubicBezTo>
                <a:close/>
              </a:path>
            </a:pathLst>
          </a:custGeom>
          <a:solidFill>
            <a:srgbClr val="F54900"/>
          </a:solidFill>
        </p:spPr>
        <p:txBody>
          <a:bodyPr/>
          <a:lstStyle/>
          <a:p>
            <a:endParaRPr lang="en-US"/>
          </a:p>
        </p:txBody>
      </p:sp>
      <p:sp>
        <p:nvSpPr>
          <p:cNvPr id="22" name="Text 23">
            <a:extLst>
              <a:ext uri="{FF2B5EF4-FFF2-40B4-BE49-F238E27FC236}">
                <a16:creationId xmlns:a16="http://schemas.microsoft.com/office/drawing/2014/main" id="{1EB68785-1126-B69F-3DB4-B9C004F6636E}"/>
              </a:ext>
            </a:extLst>
          </p:cNvPr>
          <p:cNvSpPr/>
          <p:nvPr/>
        </p:nvSpPr>
        <p:spPr>
          <a:xfrm>
            <a:off x="6022071" y="1969770"/>
            <a:ext cx="3085946" cy="228600"/>
          </a:xfrm>
          <a:prstGeom prst="rect">
            <a:avLst/>
          </a:prstGeom>
          <a:noFill/>
        </p:spPr>
        <p:txBody>
          <a:bodyPr wrap="square" lIns="0" tIns="0" rIns="0" bIns="0" rtlCol="0" anchor="ctr"/>
          <a:lstStyle/>
          <a:p>
            <a:pPr>
              <a:lnSpc>
                <a:spcPct val="130000"/>
              </a:lnSpc>
            </a:pPr>
            <a:r>
              <a:rPr lang="en-US" sz="2000" b="1" dirty="0">
                <a:solidFill>
                  <a:srgbClr val="1D293D"/>
                </a:solidFill>
                <a:ea typeface="MiSans" pitchFamily="34" charset="-122"/>
                <a:cs typeface="MiSans" pitchFamily="34" charset="-120"/>
              </a:rPr>
              <a:t>Software Engineering</a:t>
            </a:r>
            <a:endParaRPr lang="en-US" sz="2800" dirty="0"/>
          </a:p>
        </p:txBody>
      </p:sp>
      <p:sp>
        <p:nvSpPr>
          <p:cNvPr id="23" name="Text 24">
            <a:extLst>
              <a:ext uri="{FF2B5EF4-FFF2-40B4-BE49-F238E27FC236}">
                <a16:creationId xmlns:a16="http://schemas.microsoft.com/office/drawing/2014/main" id="{79BC0374-64A0-36F9-0700-D03B3497B16C}"/>
              </a:ext>
            </a:extLst>
          </p:cNvPr>
          <p:cNvSpPr/>
          <p:nvPr/>
        </p:nvSpPr>
        <p:spPr>
          <a:xfrm>
            <a:off x="6022072" y="2236470"/>
            <a:ext cx="3069618" cy="190500"/>
          </a:xfrm>
          <a:prstGeom prst="rect">
            <a:avLst/>
          </a:prstGeom>
          <a:noFill/>
        </p:spPr>
        <p:txBody>
          <a:bodyPr wrap="square" lIns="0" tIns="0" rIns="0" bIns="0" rtlCol="0" anchor="ctr"/>
          <a:lstStyle/>
          <a:p>
            <a:pPr>
              <a:lnSpc>
                <a:spcPct val="120000"/>
              </a:lnSpc>
            </a:pPr>
            <a:r>
              <a:rPr lang="en-US" sz="1400" dirty="0">
                <a:solidFill>
                  <a:srgbClr val="45556C"/>
                </a:solidFill>
                <a:ea typeface="MiSans" pitchFamily="34" charset="-122"/>
                <a:cs typeface="MiSans" pitchFamily="34" charset="-120"/>
              </a:rPr>
              <a:t>Test verdicts, diffs, lint output</a:t>
            </a:r>
            <a:endParaRPr lang="en-US" sz="2400" dirty="0"/>
          </a:p>
        </p:txBody>
      </p:sp>
      <p:grpSp>
        <p:nvGrpSpPr>
          <p:cNvPr id="24" name="组合 37">
            <a:extLst>
              <a:ext uri="{FF2B5EF4-FFF2-40B4-BE49-F238E27FC236}">
                <a16:creationId xmlns:a16="http://schemas.microsoft.com/office/drawing/2014/main" id="{C7274E35-9EB2-E1EC-8946-8C0C63813219}"/>
              </a:ext>
            </a:extLst>
          </p:cNvPr>
          <p:cNvGrpSpPr/>
          <p:nvPr/>
        </p:nvGrpSpPr>
        <p:grpSpPr>
          <a:xfrm>
            <a:off x="519576" y="2778223"/>
            <a:ext cx="11103867" cy="2586257"/>
            <a:chOff x="6273479" y="3854741"/>
            <a:chExt cx="5600700" cy="1304487"/>
          </a:xfrm>
        </p:grpSpPr>
        <p:sp>
          <p:nvSpPr>
            <p:cNvPr id="25" name="Shape 25">
              <a:extLst>
                <a:ext uri="{FF2B5EF4-FFF2-40B4-BE49-F238E27FC236}">
                  <a16:creationId xmlns:a16="http://schemas.microsoft.com/office/drawing/2014/main" id="{BABE45FF-E83A-2204-A748-FF2519674810}"/>
                </a:ext>
              </a:extLst>
            </p:cNvPr>
            <p:cNvSpPr/>
            <p:nvPr/>
          </p:nvSpPr>
          <p:spPr>
            <a:xfrm>
              <a:off x="6273479" y="3854741"/>
              <a:ext cx="5600700" cy="1304487"/>
            </a:xfrm>
            <a:custGeom>
              <a:avLst/>
              <a:gdLst/>
              <a:ahLst/>
              <a:cxnLst/>
              <a:rect l="l" t="t" r="r" b="b"/>
              <a:pathLst>
                <a:path w="5575935" h="4204335">
                  <a:moveTo>
                    <a:pt x="114316" y="0"/>
                  </a:moveTo>
                  <a:lnTo>
                    <a:pt x="5461619" y="0"/>
                  </a:lnTo>
                  <a:cubicBezTo>
                    <a:pt x="5524754" y="0"/>
                    <a:pt x="5575935" y="51181"/>
                    <a:pt x="5575935" y="114316"/>
                  </a:cubicBezTo>
                  <a:lnTo>
                    <a:pt x="5575935" y="4090019"/>
                  </a:lnTo>
                  <a:cubicBezTo>
                    <a:pt x="5575935" y="4153154"/>
                    <a:pt x="5524754" y="4204335"/>
                    <a:pt x="5461619" y="4204335"/>
                  </a:cubicBezTo>
                  <a:lnTo>
                    <a:pt x="114316" y="4204335"/>
                  </a:lnTo>
                  <a:cubicBezTo>
                    <a:pt x="51181" y="4204335"/>
                    <a:pt x="0" y="4153154"/>
                    <a:pt x="0" y="4090019"/>
                  </a:cubicBezTo>
                  <a:lnTo>
                    <a:pt x="0" y="114316"/>
                  </a:lnTo>
                  <a:cubicBezTo>
                    <a:pt x="0" y="51181"/>
                    <a:pt x="51181" y="0"/>
                    <a:pt x="114316"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zh-CN" altLang="en-US"/>
            </a:p>
          </p:txBody>
        </p:sp>
        <p:pic>
          <p:nvPicPr>
            <p:cNvPr id="26" name="图片 2">
              <a:extLst>
                <a:ext uri="{FF2B5EF4-FFF2-40B4-BE49-F238E27FC236}">
                  <a16:creationId xmlns:a16="http://schemas.microsoft.com/office/drawing/2014/main" id="{E216AE2C-FAC5-AE23-CF13-9E90A39CEC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1305" y="3923327"/>
              <a:ext cx="5463227" cy="1171616"/>
            </a:xfrm>
            <a:prstGeom prst="rect">
              <a:avLst/>
            </a:prstGeom>
          </p:spPr>
        </p:pic>
      </p:grpSp>
      <p:sp>
        <p:nvSpPr>
          <p:cNvPr id="27" name="Text 2">
            <a:extLst>
              <a:ext uri="{FF2B5EF4-FFF2-40B4-BE49-F238E27FC236}">
                <a16:creationId xmlns:a16="http://schemas.microsoft.com/office/drawing/2014/main" id="{7FDB7573-7D8B-7519-0930-BBC547FA4455}"/>
              </a:ext>
            </a:extLst>
          </p:cNvPr>
          <p:cNvSpPr/>
          <p:nvPr/>
        </p:nvSpPr>
        <p:spPr>
          <a:xfrm>
            <a:off x="1054312" y="335049"/>
            <a:ext cx="11845281" cy="342900"/>
          </a:xfrm>
          <a:prstGeom prst="rect">
            <a:avLst/>
          </a:prstGeom>
          <a:noFill/>
        </p:spPr>
        <p:txBody>
          <a:bodyPr wrap="square" lIns="0" tIns="0" rIns="0" bIns="0" rtlCol="0" anchor="ctr"/>
          <a:lstStyle/>
          <a:p>
            <a:endPar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endParaRPr>
          </a:p>
        </p:txBody>
      </p:sp>
      <p:sp>
        <p:nvSpPr>
          <p:cNvPr id="31" name="Text 2">
            <a:extLst>
              <a:ext uri="{FF2B5EF4-FFF2-40B4-BE49-F238E27FC236}">
                <a16:creationId xmlns:a16="http://schemas.microsoft.com/office/drawing/2014/main" id="{10027F2B-7FAD-479F-DCD4-694A585AB0E3}"/>
              </a:ext>
            </a:extLst>
          </p:cNvPr>
          <p:cNvSpPr/>
          <p:nvPr/>
        </p:nvSpPr>
        <p:spPr>
          <a:xfrm>
            <a:off x="1054312" y="331387"/>
            <a:ext cx="11845281" cy="342900"/>
          </a:xfrm>
          <a:prstGeom prst="rect">
            <a:avLst/>
          </a:prstGeom>
          <a:noFill/>
        </p:spPr>
        <p:txBody>
          <a:bodyPr wrap="square" lIns="0" tIns="0" rIns="0" bIns="0" rtlCol="0" anchor="ctr"/>
          <a:lstStyle/>
          <a:p>
            <a:r>
              <a:rPr lang="en-US" sz="4800" b="1" dirty="0">
                <a:solidFill>
                  <a:schemeClr val="tx2"/>
                </a:solidFill>
                <a:latin typeface="Times New Roman" panose="02020603050405020304" pitchFamily="18" charset="0"/>
                <a:cs typeface="Times New Roman" panose="02020603050405020304" pitchFamily="18" charset="0"/>
              </a:rPr>
              <a:t>Learning Signal</a:t>
            </a:r>
            <a:endParaRPr lang="en-US" sz="480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374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94541" y="381000"/>
            <a:ext cx="9942053" cy="342900"/>
          </a:xfrm>
          <a:prstGeom prst="rect">
            <a:avLst/>
          </a:prstGeom>
          <a:noFill/>
        </p:spPr>
        <p:txBody>
          <a:bodyPr wrap="square" lIns="0" tIns="0" rIns="0" bIns="0" rtlCol="0" anchor="ctr"/>
          <a:lstStyle/>
          <a:p>
            <a:r>
              <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rPr>
              <a:t>Agents Improve by Being Used</a:t>
            </a:r>
          </a:p>
        </p:txBody>
      </p:sp>
      <p:sp>
        <p:nvSpPr>
          <p:cNvPr id="5" name="Text 3"/>
          <p:cNvSpPr/>
          <p:nvPr/>
        </p:nvSpPr>
        <p:spPr>
          <a:xfrm>
            <a:off x="394335" y="1142767"/>
            <a:ext cx="11515725"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Scalable RL across multiple agent settings</a:t>
            </a:r>
          </a:p>
        </p:txBody>
      </p:sp>
      <p:sp>
        <p:nvSpPr>
          <p:cNvPr id="6" name="Shape 4"/>
          <p:cNvSpPr/>
          <p:nvPr/>
        </p:nvSpPr>
        <p:spPr>
          <a:xfrm>
            <a:off x="400050" y="1571858"/>
            <a:ext cx="4268932"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0FDF4"/>
          </a:solidFill>
        </p:spPr>
        <p:txBody>
          <a:bodyPr/>
          <a:lstStyle/>
          <a:p>
            <a:endParaRPr lang="zh-CN" altLang="en-US" sz="2400">
              <a:ea typeface="+mj-ea"/>
            </a:endParaRPr>
          </a:p>
        </p:txBody>
      </p:sp>
      <p:sp>
        <p:nvSpPr>
          <p:cNvPr id="7" name="Shape 5"/>
          <p:cNvSpPr/>
          <p:nvPr/>
        </p:nvSpPr>
        <p:spPr>
          <a:xfrm>
            <a:off x="400050" y="1571858"/>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00C950"/>
          </a:solidFill>
        </p:spPr>
        <p:txBody>
          <a:bodyPr/>
          <a:lstStyle/>
          <a:p>
            <a:endParaRPr lang="en-US"/>
          </a:p>
        </p:txBody>
      </p:sp>
      <p:sp>
        <p:nvSpPr>
          <p:cNvPr id="8" name="Shape 6"/>
          <p:cNvSpPr/>
          <p:nvPr/>
        </p:nvSpPr>
        <p:spPr>
          <a:xfrm>
            <a:off x="590550" y="1762358"/>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016630"/>
          </a:solidFill>
        </p:spPr>
        <p:txBody>
          <a:bodyPr/>
          <a:lstStyle/>
          <a:p>
            <a:endParaRPr lang="en-US"/>
          </a:p>
        </p:txBody>
      </p:sp>
      <p:sp>
        <p:nvSpPr>
          <p:cNvPr id="9" name="Text 7"/>
          <p:cNvSpPr/>
          <p:nvPr/>
        </p:nvSpPr>
        <p:spPr>
          <a:xfrm>
            <a:off x="819150" y="1629120"/>
            <a:ext cx="5086350" cy="323738"/>
          </a:xfrm>
          <a:prstGeom prst="rect">
            <a:avLst/>
          </a:prstGeom>
          <a:noFill/>
        </p:spPr>
        <p:txBody>
          <a:bodyPr wrap="square" lIns="0" tIns="0" rIns="0" bIns="0" rtlCol="0" anchor="ctr"/>
          <a:lstStyle/>
          <a:p>
            <a:pPr>
              <a:lnSpc>
                <a:spcPct val="130000"/>
              </a:lnSpc>
            </a:pPr>
            <a:r>
              <a:rPr lang="en-US" sz="2000" b="1" dirty="0">
                <a:solidFill>
                  <a:srgbClr val="016630"/>
                </a:solidFill>
                <a:ea typeface="+mj-ea"/>
                <a:cs typeface="MiSans" pitchFamily="34" charset="-120"/>
              </a:rPr>
              <a:t>Performance Curves</a:t>
            </a:r>
            <a:endParaRPr lang="en-US" sz="2800" dirty="0">
              <a:ea typeface="+mj-ea"/>
            </a:endParaRPr>
          </a:p>
        </p:txBody>
      </p:sp>
      <p:sp>
        <p:nvSpPr>
          <p:cNvPr id="10" name="Text 8"/>
          <p:cNvSpPr/>
          <p:nvPr/>
        </p:nvSpPr>
        <p:spPr>
          <a:xfrm>
            <a:off x="571500" y="2029058"/>
            <a:ext cx="5334000" cy="457200"/>
          </a:xfrm>
          <a:prstGeom prst="rect">
            <a:avLst/>
          </a:prstGeom>
          <a:noFill/>
        </p:spPr>
        <p:txBody>
          <a:bodyPr wrap="square" lIns="0" tIns="0" rIns="0" bIns="0" rtlCol="0" anchor="ctr"/>
          <a:lstStyle/>
          <a:p>
            <a:pPr>
              <a:lnSpc>
                <a:spcPct val="130000"/>
              </a:lnSpc>
            </a:pPr>
            <a:r>
              <a:rPr lang="en-US" sz="1400" dirty="0">
                <a:solidFill>
                  <a:srgbClr val="008236"/>
                </a:solidFill>
                <a:ea typeface="+mj-ea"/>
                <a:cs typeface="MiSans" pitchFamily="34" charset="-120"/>
              </a:rPr>
              <a:t>Across </a:t>
            </a:r>
            <a:r>
              <a:rPr lang="en-US" sz="1400" b="1" dirty="0">
                <a:solidFill>
                  <a:srgbClr val="008236"/>
                </a:solidFill>
                <a:ea typeface="+mj-ea"/>
                <a:cs typeface="MiSans" pitchFamily="34" charset="-120"/>
              </a:rPr>
              <a:t>Terminal, GUI, SWE, and Tool-call</a:t>
            </a:r>
            <a:r>
              <a:rPr lang="en-US" sz="1400" dirty="0">
                <a:solidFill>
                  <a:srgbClr val="008236"/>
                </a:solidFill>
                <a:ea typeface="+mj-ea"/>
                <a:cs typeface="MiSans" pitchFamily="34" charset="-120"/>
              </a:rPr>
              <a:t> environments,</a:t>
            </a:r>
          </a:p>
          <a:p>
            <a:pPr>
              <a:lnSpc>
                <a:spcPct val="130000"/>
              </a:lnSpc>
            </a:pPr>
            <a:r>
              <a:rPr lang="en-US" sz="1400" dirty="0">
                <a:solidFill>
                  <a:srgbClr val="008236"/>
                </a:solidFill>
                <a:ea typeface="+mj-ea"/>
                <a:cs typeface="MiSans" pitchFamily="34" charset="-120"/>
              </a:rPr>
              <a:t> performance improves as RL training proceeds.</a:t>
            </a:r>
            <a:endParaRPr lang="en-US" dirty="0">
              <a:ea typeface="+mj-ea"/>
            </a:endParaRPr>
          </a:p>
        </p:txBody>
      </p:sp>
      <p:sp>
        <p:nvSpPr>
          <p:cNvPr id="11" name="Shape 9"/>
          <p:cNvSpPr/>
          <p:nvPr/>
        </p:nvSpPr>
        <p:spPr>
          <a:xfrm>
            <a:off x="381000" y="2791058"/>
            <a:ext cx="4268932" cy="1409700"/>
          </a:xfrm>
          <a:custGeom>
            <a:avLst/>
            <a:gdLst/>
            <a:ahLst/>
            <a:cxnLst/>
            <a:rect l="l" t="t" r="r" b="b"/>
            <a:pathLst>
              <a:path w="5600700" h="1409700">
                <a:moveTo>
                  <a:pt x="76194" y="0"/>
                </a:moveTo>
                <a:lnTo>
                  <a:pt x="5524506" y="0"/>
                </a:lnTo>
                <a:cubicBezTo>
                  <a:pt x="5566558" y="0"/>
                  <a:pt x="5600700" y="34142"/>
                  <a:pt x="5600700" y="76194"/>
                </a:cubicBezTo>
                <a:lnTo>
                  <a:pt x="5600700" y="1333506"/>
                </a:lnTo>
                <a:cubicBezTo>
                  <a:pt x="5600700" y="1375587"/>
                  <a:pt x="5566587" y="1409700"/>
                  <a:pt x="5524506" y="1409700"/>
                </a:cubicBezTo>
                <a:lnTo>
                  <a:pt x="76194" y="1409700"/>
                </a:lnTo>
                <a:cubicBezTo>
                  <a:pt x="34142" y="1409700"/>
                  <a:pt x="0" y="1375558"/>
                  <a:pt x="0" y="1333506"/>
                </a:cubicBezTo>
                <a:lnTo>
                  <a:pt x="0" y="76194"/>
                </a:lnTo>
                <a:cubicBezTo>
                  <a:pt x="0" y="34142"/>
                  <a:pt x="34142" y="0"/>
                  <a:pt x="76194" y="0"/>
                </a:cubicBezTo>
                <a:close/>
              </a:path>
            </a:pathLst>
          </a:custGeom>
          <a:solidFill>
            <a:srgbClr val="EEF2FF"/>
          </a:solidFill>
        </p:spPr>
        <p:txBody>
          <a:bodyPr/>
          <a:lstStyle/>
          <a:p>
            <a:endParaRPr lang="zh-CN" altLang="en-US" sz="2400">
              <a:ea typeface="+mj-ea"/>
            </a:endParaRPr>
          </a:p>
        </p:txBody>
      </p:sp>
      <p:sp>
        <p:nvSpPr>
          <p:cNvPr id="12" name="Shape 10"/>
          <p:cNvSpPr/>
          <p:nvPr/>
        </p:nvSpPr>
        <p:spPr>
          <a:xfrm>
            <a:off x="561975" y="2981558"/>
            <a:ext cx="133350" cy="152400"/>
          </a:xfrm>
          <a:custGeom>
            <a:avLst/>
            <a:gdLst/>
            <a:ahLst/>
            <a:cxnLst/>
            <a:rect l="l" t="t" r="r" b="b"/>
            <a:pathLst>
              <a:path w="133350" h="152400">
                <a:moveTo>
                  <a:pt x="71824" y="-3870"/>
                </a:moveTo>
                <a:cubicBezTo>
                  <a:pt x="68431" y="-4554"/>
                  <a:pt x="64949" y="-4554"/>
                  <a:pt x="61555" y="-3870"/>
                </a:cubicBezTo>
                <a:lnTo>
                  <a:pt x="5745" y="7293"/>
                </a:lnTo>
                <a:cubicBezTo>
                  <a:pt x="2411" y="7947"/>
                  <a:pt x="0" y="10894"/>
                  <a:pt x="0" y="14288"/>
                </a:cubicBezTo>
                <a:cubicBezTo>
                  <a:pt x="0" y="17353"/>
                  <a:pt x="1935" y="20032"/>
                  <a:pt x="4763" y="21015"/>
                </a:cubicBezTo>
                <a:lnTo>
                  <a:pt x="4763" y="42863"/>
                </a:lnTo>
                <a:lnTo>
                  <a:pt x="89" y="66258"/>
                </a:lnTo>
                <a:cubicBezTo>
                  <a:pt x="30" y="66526"/>
                  <a:pt x="0" y="66824"/>
                  <a:pt x="0" y="67121"/>
                </a:cubicBezTo>
                <a:cubicBezTo>
                  <a:pt x="0" y="69503"/>
                  <a:pt x="1935" y="71467"/>
                  <a:pt x="4346" y="71467"/>
                </a:cubicBezTo>
                <a:lnTo>
                  <a:pt x="14734" y="71467"/>
                </a:lnTo>
                <a:cubicBezTo>
                  <a:pt x="17115" y="71467"/>
                  <a:pt x="19080" y="69533"/>
                  <a:pt x="19080" y="67121"/>
                </a:cubicBezTo>
                <a:cubicBezTo>
                  <a:pt x="19080" y="66824"/>
                  <a:pt x="19050" y="66556"/>
                  <a:pt x="18990" y="66258"/>
                </a:cubicBezTo>
                <a:lnTo>
                  <a:pt x="14288" y="42863"/>
                </a:lnTo>
                <a:lnTo>
                  <a:pt x="14288" y="23009"/>
                </a:lnTo>
                <a:lnTo>
                  <a:pt x="28575" y="25866"/>
                </a:lnTo>
                <a:lnTo>
                  <a:pt x="28575" y="42863"/>
                </a:lnTo>
                <a:cubicBezTo>
                  <a:pt x="28575" y="63907"/>
                  <a:pt x="45631" y="80962"/>
                  <a:pt x="66675" y="80962"/>
                </a:cubicBezTo>
                <a:cubicBezTo>
                  <a:pt x="87719" y="80962"/>
                  <a:pt x="104775" y="63907"/>
                  <a:pt x="104775" y="42863"/>
                </a:cubicBezTo>
                <a:lnTo>
                  <a:pt x="104775" y="25866"/>
                </a:lnTo>
                <a:lnTo>
                  <a:pt x="127605" y="21312"/>
                </a:lnTo>
                <a:cubicBezTo>
                  <a:pt x="130939" y="20628"/>
                  <a:pt x="133350" y="17681"/>
                  <a:pt x="133350" y="14288"/>
                </a:cubicBezTo>
                <a:cubicBezTo>
                  <a:pt x="133350" y="10894"/>
                  <a:pt x="130939" y="7947"/>
                  <a:pt x="127605" y="7293"/>
                </a:cubicBezTo>
                <a:lnTo>
                  <a:pt x="71824" y="-3870"/>
                </a:lnTo>
                <a:close/>
                <a:moveTo>
                  <a:pt x="66675" y="66675"/>
                </a:moveTo>
                <a:cubicBezTo>
                  <a:pt x="53519" y="66675"/>
                  <a:pt x="42863" y="56019"/>
                  <a:pt x="42863" y="42863"/>
                </a:cubicBezTo>
                <a:lnTo>
                  <a:pt x="90488" y="42863"/>
                </a:lnTo>
                <a:cubicBezTo>
                  <a:pt x="90488" y="56019"/>
                  <a:pt x="79831" y="66675"/>
                  <a:pt x="66675" y="66675"/>
                </a:cubicBezTo>
                <a:close/>
                <a:moveTo>
                  <a:pt x="35749" y="95280"/>
                </a:moveTo>
                <a:cubicBezTo>
                  <a:pt x="17472" y="103674"/>
                  <a:pt x="4763" y="122128"/>
                  <a:pt x="4763" y="143560"/>
                </a:cubicBezTo>
                <a:cubicBezTo>
                  <a:pt x="4763" y="148441"/>
                  <a:pt x="8721" y="152400"/>
                  <a:pt x="13603" y="152400"/>
                </a:cubicBezTo>
                <a:lnTo>
                  <a:pt x="59531" y="152400"/>
                </a:lnTo>
                <a:lnTo>
                  <a:pt x="59531" y="108942"/>
                </a:lnTo>
                <a:lnTo>
                  <a:pt x="42446" y="96143"/>
                </a:lnTo>
                <a:cubicBezTo>
                  <a:pt x="40511" y="94684"/>
                  <a:pt x="37921" y="94298"/>
                  <a:pt x="35719" y="95310"/>
                </a:cubicBezTo>
                <a:close/>
                <a:moveTo>
                  <a:pt x="73819" y="152400"/>
                </a:moveTo>
                <a:lnTo>
                  <a:pt x="119747" y="152400"/>
                </a:lnTo>
                <a:cubicBezTo>
                  <a:pt x="124629" y="152400"/>
                  <a:pt x="128588" y="148441"/>
                  <a:pt x="128588" y="143560"/>
                </a:cubicBezTo>
                <a:cubicBezTo>
                  <a:pt x="128588" y="122128"/>
                  <a:pt x="115878" y="103674"/>
                  <a:pt x="97601" y="95310"/>
                </a:cubicBezTo>
                <a:cubicBezTo>
                  <a:pt x="95399" y="94298"/>
                  <a:pt x="92809" y="94684"/>
                  <a:pt x="90874" y="96143"/>
                </a:cubicBezTo>
                <a:lnTo>
                  <a:pt x="73789" y="108942"/>
                </a:lnTo>
                <a:lnTo>
                  <a:pt x="73789" y="152400"/>
                </a:lnTo>
                <a:close/>
              </a:path>
            </a:pathLst>
          </a:custGeom>
          <a:solidFill>
            <a:srgbClr val="372AAC"/>
          </a:solidFill>
        </p:spPr>
        <p:txBody>
          <a:bodyPr/>
          <a:lstStyle/>
          <a:p>
            <a:endParaRPr lang="en-US"/>
          </a:p>
        </p:txBody>
      </p:sp>
      <p:sp>
        <p:nvSpPr>
          <p:cNvPr id="13" name="Text 11"/>
          <p:cNvSpPr/>
          <p:nvPr/>
        </p:nvSpPr>
        <p:spPr>
          <a:xfrm>
            <a:off x="781050" y="2943458"/>
            <a:ext cx="5124450" cy="228600"/>
          </a:xfrm>
          <a:prstGeom prst="rect">
            <a:avLst/>
          </a:prstGeom>
          <a:noFill/>
        </p:spPr>
        <p:txBody>
          <a:bodyPr wrap="square" lIns="0" tIns="0" rIns="0" bIns="0" rtlCol="0" anchor="ctr"/>
          <a:lstStyle/>
          <a:p>
            <a:pPr>
              <a:lnSpc>
                <a:spcPct val="130000"/>
              </a:lnSpc>
            </a:pPr>
            <a:r>
              <a:rPr lang="en-US" sz="2000" b="1" dirty="0">
                <a:solidFill>
                  <a:srgbClr val="372AAC"/>
                </a:solidFill>
                <a:ea typeface="+mj-ea"/>
                <a:cs typeface="MiSans" pitchFamily="34" charset="-120"/>
              </a:rPr>
              <a:t>Personalization Example</a:t>
            </a:r>
            <a:endParaRPr lang="en-US" sz="2800" dirty="0">
              <a:ea typeface="+mj-ea"/>
            </a:endParaRPr>
          </a:p>
        </p:txBody>
      </p:sp>
      <p:sp>
        <p:nvSpPr>
          <p:cNvPr id="14" name="Shape 12"/>
          <p:cNvSpPr/>
          <p:nvPr/>
        </p:nvSpPr>
        <p:spPr>
          <a:xfrm>
            <a:off x="533400" y="3248258"/>
            <a:ext cx="792463" cy="228600"/>
          </a:xfrm>
          <a:custGeom>
            <a:avLst/>
            <a:gdLst/>
            <a:ahLst/>
            <a:cxnLst/>
            <a:rect l="l" t="t" r="r" b="b"/>
            <a:pathLst>
              <a:path w="542925" h="228600">
                <a:moveTo>
                  <a:pt x="38101" y="0"/>
                </a:moveTo>
                <a:lnTo>
                  <a:pt x="504824" y="0"/>
                </a:lnTo>
                <a:cubicBezTo>
                  <a:pt x="525867" y="0"/>
                  <a:pt x="542925" y="17058"/>
                  <a:pt x="542925" y="38101"/>
                </a:cubicBezTo>
                <a:lnTo>
                  <a:pt x="542925" y="190499"/>
                </a:lnTo>
                <a:cubicBezTo>
                  <a:pt x="542925" y="211542"/>
                  <a:pt x="525867" y="228600"/>
                  <a:pt x="504824" y="228600"/>
                </a:cubicBezTo>
                <a:lnTo>
                  <a:pt x="38101" y="228600"/>
                </a:lnTo>
                <a:cubicBezTo>
                  <a:pt x="17072" y="228600"/>
                  <a:pt x="0" y="211528"/>
                  <a:pt x="0" y="190499"/>
                </a:cubicBezTo>
                <a:lnTo>
                  <a:pt x="0" y="38101"/>
                </a:lnTo>
                <a:cubicBezTo>
                  <a:pt x="0" y="17072"/>
                  <a:pt x="17072" y="0"/>
                  <a:pt x="38101" y="0"/>
                </a:cubicBezTo>
                <a:close/>
              </a:path>
            </a:pathLst>
          </a:custGeom>
          <a:solidFill>
            <a:srgbClr val="C6D2FF"/>
          </a:solidFill>
        </p:spPr>
        <p:txBody>
          <a:bodyPr/>
          <a:lstStyle/>
          <a:p>
            <a:endParaRPr lang="en-US"/>
          </a:p>
        </p:txBody>
      </p:sp>
      <p:sp>
        <p:nvSpPr>
          <p:cNvPr id="15" name="Text 13"/>
          <p:cNvSpPr/>
          <p:nvPr/>
        </p:nvSpPr>
        <p:spPr>
          <a:xfrm>
            <a:off x="581422" y="3259336"/>
            <a:ext cx="796255" cy="228600"/>
          </a:xfrm>
          <a:prstGeom prst="rect">
            <a:avLst/>
          </a:prstGeom>
          <a:noFill/>
        </p:spPr>
        <p:txBody>
          <a:bodyPr wrap="square" lIns="76200" tIns="38100" rIns="76200" bIns="38100" rtlCol="0" anchor="ctr"/>
          <a:lstStyle/>
          <a:p>
            <a:pPr>
              <a:lnSpc>
                <a:spcPct val="110000"/>
              </a:lnSpc>
            </a:pPr>
            <a:r>
              <a:rPr lang="en-US" sz="1400" dirty="0">
                <a:solidFill>
                  <a:srgbClr val="372AAC"/>
                </a:solidFill>
                <a:ea typeface="+mj-ea"/>
                <a:cs typeface="MiSans" pitchFamily="34" charset="-120"/>
              </a:rPr>
              <a:t>Student</a:t>
            </a:r>
            <a:endParaRPr lang="en-US" sz="3200" dirty="0">
              <a:ea typeface="+mj-ea"/>
            </a:endParaRPr>
          </a:p>
        </p:txBody>
      </p:sp>
      <p:sp>
        <p:nvSpPr>
          <p:cNvPr id="16" name="Text 14"/>
          <p:cNvSpPr/>
          <p:nvPr/>
        </p:nvSpPr>
        <p:spPr>
          <a:xfrm>
            <a:off x="1425120" y="3245014"/>
            <a:ext cx="1939366" cy="190500"/>
          </a:xfrm>
          <a:prstGeom prst="rect">
            <a:avLst/>
          </a:prstGeom>
          <a:noFill/>
        </p:spPr>
        <p:txBody>
          <a:bodyPr wrap="square" lIns="0" tIns="0" rIns="0" bIns="0" rtlCol="0" anchor="ctr"/>
          <a:lstStyle/>
          <a:p>
            <a:pPr>
              <a:lnSpc>
                <a:spcPct val="120000"/>
              </a:lnSpc>
            </a:pPr>
            <a:r>
              <a:rPr lang="en-US" sz="1400" dirty="0">
                <a:solidFill>
                  <a:srgbClr val="314158"/>
                </a:solidFill>
                <a:ea typeface="+mj-ea"/>
                <a:cs typeface="MiSans" pitchFamily="34" charset="-120"/>
              </a:rPr>
              <a:t>Less AI-like responses</a:t>
            </a:r>
            <a:endParaRPr lang="en-US" sz="2400" dirty="0">
              <a:ea typeface="+mj-ea"/>
            </a:endParaRPr>
          </a:p>
        </p:txBody>
      </p:sp>
      <p:sp>
        <p:nvSpPr>
          <p:cNvPr id="17" name="Shape 15"/>
          <p:cNvSpPr/>
          <p:nvPr/>
        </p:nvSpPr>
        <p:spPr>
          <a:xfrm>
            <a:off x="533400" y="3552937"/>
            <a:ext cx="792463" cy="228600"/>
          </a:xfrm>
          <a:custGeom>
            <a:avLst/>
            <a:gdLst/>
            <a:ahLst/>
            <a:cxnLst/>
            <a:rect l="l" t="t" r="r" b="b"/>
            <a:pathLst>
              <a:path w="571500" h="228600">
                <a:moveTo>
                  <a:pt x="38101" y="0"/>
                </a:moveTo>
                <a:lnTo>
                  <a:pt x="533399" y="0"/>
                </a:lnTo>
                <a:cubicBezTo>
                  <a:pt x="554442" y="0"/>
                  <a:pt x="571500" y="17058"/>
                  <a:pt x="571500" y="38101"/>
                </a:cubicBezTo>
                <a:lnTo>
                  <a:pt x="571500" y="190499"/>
                </a:lnTo>
                <a:cubicBezTo>
                  <a:pt x="571500" y="211542"/>
                  <a:pt x="554442" y="228600"/>
                  <a:pt x="533399" y="228600"/>
                </a:cubicBezTo>
                <a:lnTo>
                  <a:pt x="38101" y="228600"/>
                </a:lnTo>
                <a:cubicBezTo>
                  <a:pt x="17072" y="228600"/>
                  <a:pt x="0" y="211528"/>
                  <a:pt x="0" y="190499"/>
                </a:cubicBezTo>
                <a:lnTo>
                  <a:pt x="0" y="38101"/>
                </a:lnTo>
                <a:cubicBezTo>
                  <a:pt x="0" y="17072"/>
                  <a:pt x="17072" y="0"/>
                  <a:pt x="38101" y="0"/>
                </a:cubicBezTo>
                <a:close/>
              </a:path>
            </a:pathLst>
          </a:custGeom>
          <a:solidFill>
            <a:srgbClr val="E9D4FF"/>
          </a:solidFill>
        </p:spPr>
        <p:txBody>
          <a:bodyPr/>
          <a:lstStyle/>
          <a:p>
            <a:endParaRPr lang="zh-CN" altLang="en-US"/>
          </a:p>
        </p:txBody>
      </p:sp>
      <p:sp>
        <p:nvSpPr>
          <p:cNvPr id="18" name="Text 16"/>
          <p:cNvSpPr/>
          <p:nvPr/>
        </p:nvSpPr>
        <p:spPr>
          <a:xfrm>
            <a:off x="581422" y="3564015"/>
            <a:ext cx="834172" cy="228600"/>
          </a:xfrm>
          <a:prstGeom prst="rect">
            <a:avLst/>
          </a:prstGeom>
          <a:noFill/>
        </p:spPr>
        <p:txBody>
          <a:bodyPr wrap="square" lIns="76200" tIns="38100" rIns="76200" bIns="38100" rtlCol="0" anchor="ctr"/>
          <a:lstStyle/>
          <a:p>
            <a:pPr>
              <a:lnSpc>
                <a:spcPct val="110000"/>
              </a:lnSpc>
            </a:pPr>
            <a:r>
              <a:rPr lang="en-US" sz="1400" dirty="0">
                <a:solidFill>
                  <a:srgbClr val="6E11B0"/>
                </a:solidFill>
                <a:ea typeface="+mj-ea"/>
                <a:cs typeface="MiSans" pitchFamily="34" charset="-120"/>
              </a:rPr>
              <a:t>Teacher</a:t>
            </a:r>
            <a:endParaRPr lang="en-US" sz="3200" dirty="0">
              <a:ea typeface="+mj-ea"/>
            </a:endParaRPr>
          </a:p>
        </p:txBody>
      </p:sp>
      <p:sp>
        <p:nvSpPr>
          <p:cNvPr id="19" name="Text 17"/>
          <p:cNvSpPr/>
          <p:nvPr/>
        </p:nvSpPr>
        <p:spPr>
          <a:xfrm>
            <a:off x="1425119" y="3552937"/>
            <a:ext cx="1939367" cy="190500"/>
          </a:xfrm>
          <a:prstGeom prst="rect">
            <a:avLst/>
          </a:prstGeom>
          <a:noFill/>
        </p:spPr>
        <p:txBody>
          <a:bodyPr wrap="square" lIns="0" tIns="0" rIns="0" bIns="0" rtlCol="0" anchor="ctr"/>
          <a:lstStyle/>
          <a:p>
            <a:pPr>
              <a:lnSpc>
                <a:spcPct val="120000"/>
              </a:lnSpc>
            </a:pPr>
            <a:r>
              <a:rPr lang="en-US" sz="1400" dirty="0">
                <a:solidFill>
                  <a:srgbClr val="314158"/>
                </a:solidFill>
                <a:ea typeface="+mj-ea"/>
                <a:cs typeface="MiSans" pitchFamily="34" charset="-120"/>
              </a:rPr>
              <a:t>More specific and friendly</a:t>
            </a:r>
            <a:endParaRPr lang="en-US" sz="2400" dirty="0">
              <a:ea typeface="+mj-ea"/>
            </a:endParaRPr>
          </a:p>
        </p:txBody>
      </p:sp>
      <p:sp>
        <p:nvSpPr>
          <p:cNvPr id="20" name="Shape 18"/>
          <p:cNvSpPr/>
          <p:nvPr/>
        </p:nvSpPr>
        <p:spPr>
          <a:xfrm>
            <a:off x="569119" y="3888098"/>
            <a:ext cx="100013" cy="133350"/>
          </a:xfrm>
          <a:custGeom>
            <a:avLst/>
            <a:gdLst/>
            <a:ahLst/>
            <a:cxnLst/>
            <a:rect l="l" t="t" r="r" b="b"/>
            <a:pathLst>
              <a:path w="100013" h="133350">
                <a:moveTo>
                  <a:pt x="55892" y="4532"/>
                </a:moveTo>
                <a:cubicBezTo>
                  <a:pt x="52637" y="1276"/>
                  <a:pt x="47350" y="1276"/>
                  <a:pt x="44094" y="4532"/>
                </a:cubicBezTo>
                <a:lnTo>
                  <a:pt x="2422" y="46204"/>
                </a:lnTo>
                <a:cubicBezTo>
                  <a:pt x="-833" y="49459"/>
                  <a:pt x="-833" y="54746"/>
                  <a:pt x="2422" y="58002"/>
                </a:cubicBezTo>
                <a:cubicBezTo>
                  <a:pt x="5678" y="61258"/>
                  <a:pt x="10965" y="61258"/>
                  <a:pt x="14221" y="58002"/>
                </a:cubicBezTo>
                <a:lnTo>
                  <a:pt x="41672" y="30551"/>
                </a:lnTo>
                <a:lnTo>
                  <a:pt x="41672" y="127099"/>
                </a:lnTo>
                <a:cubicBezTo>
                  <a:pt x="41672" y="131709"/>
                  <a:pt x="45396" y="135434"/>
                  <a:pt x="50006" y="135434"/>
                </a:cubicBezTo>
                <a:cubicBezTo>
                  <a:pt x="54616" y="135434"/>
                  <a:pt x="58341" y="131709"/>
                  <a:pt x="58341" y="127099"/>
                </a:cubicBezTo>
                <a:lnTo>
                  <a:pt x="58341" y="30551"/>
                </a:lnTo>
                <a:lnTo>
                  <a:pt x="85792" y="58002"/>
                </a:lnTo>
                <a:cubicBezTo>
                  <a:pt x="89048" y="61258"/>
                  <a:pt x="94335" y="61258"/>
                  <a:pt x="97590" y="58002"/>
                </a:cubicBezTo>
                <a:cubicBezTo>
                  <a:pt x="100846" y="54746"/>
                  <a:pt x="100846" y="49459"/>
                  <a:pt x="97590" y="46204"/>
                </a:cubicBezTo>
                <a:lnTo>
                  <a:pt x="55918" y="4532"/>
                </a:lnTo>
                <a:close/>
              </a:path>
            </a:pathLst>
          </a:custGeom>
          <a:solidFill>
            <a:srgbClr val="432DD7"/>
          </a:solidFill>
        </p:spPr>
        <p:txBody>
          <a:bodyPr/>
          <a:lstStyle/>
          <a:p>
            <a:endParaRPr lang="en-US"/>
          </a:p>
        </p:txBody>
      </p:sp>
      <p:sp>
        <p:nvSpPr>
          <p:cNvPr id="21" name="Text 19"/>
          <p:cNvSpPr/>
          <p:nvPr/>
        </p:nvSpPr>
        <p:spPr>
          <a:xfrm>
            <a:off x="733425" y="3857625"/>
            <a:ext cx="5162550" cy="190500"/>
          </a:xfrm>
          <a:prstGeom prst="rect">
            <a:avLst/>
          </a:prstGeom>
          <a:noFill/>
        </p:spPr>
        <p:txBody>
          <a:bodyPr wrap="square" lIns="0" tIns="0" rIns="0" bIns="0" rtlCol="0" anchor="ctr"/>
          <a:lstStyle/>
          <a:p>
            <a:pPr>
              <a:lnSpc>
                <a:spcPct val="120000"/>
              </a:lnSpc>
            </a:pPr>
            <a:r>
              <a:rPr lang="en-US" sz="1400" dirty="0">
                <a:solidFill>
                  <a:srgbClr val="432DD7"/>
                </a:solidFill>
                <a:ea typeface="+mj-ea"/>
                <a:cs typeface="MiSans" pitchFamily="34" charset="-120"/>
              </a:rPr>
              <a:t>Ratings improve substantially after few updates</a:t>
            </a:r>
            <a:endParaRPr lang="en-US" sz="2400" dirty="0">
              <a:ea typeface="+mj-ea"/>
            </a:endParaRPr>
          </a:p>
        </p:txBody>
      </p:sp>
      <p:sp>
        <p:nvSpPr>
          <p:cNvPr id="22" name="Shape 20"/>
          <p:cNvSpPr/>
          <p:nvPr/>
        </p:nvSpPr>
        <p:spPr>
          <a:xfrm>
            <a:off x="400050" y="4352925"/>
            <a:ext cx="4268932" cy="1066800"/>
          </a:xfrm>
          <a:custGeom>
            <a:avLst/>
            <a:gdLst/>
            <a:ahLst/>
            <a:cxnLst/>
            <a:rect l="l" t="t" r="r" b="b"/>
            <a:pathLst>
              <a:path w="5581650" h="1066800">
                <a:moveTo>
                  <a:pt x="0" y="0"/>
                </a:moveTo>
                <a:lnTo>
                  <a:pt x="5505448" y="0"/>
                </a:lnTo>
                <a:cubicBezTo>
                  <a:pt x="5547533" y="0"/>
                  <a:pt x="5581650" y="34117"/>
                  <a:pt x="5581650" y="76202"/>
                </a:cubicBezTo>
                <a:lnTo>
                  <a:pt x="5581650" y="990598"/>
                </a:lnTo>
                <a:cubicBezTo>
                  <a:pt x="5581650" y="1032683"/>
                  <a:pt x="5547533" y="1066800"/>
                  <a:pt x="5505448" y="1066800"/>
                </a:cubicBezTo>
                <a:lnTo>
                  <a:pt x="0" y="1066800"/>
                </a:lnTo>
                <a:lnTo>
                  <a:pt x="0" y="0"/>
                </a:lnTo>
                <a:close/>
              </a:path>
            </a:pathLst>
          </a:custGeom>
          <a:solidFill>
            <a:srgbClr val="FDF2F8"/>
          </a:solidFill>
        </p:spPr>
        <p:txBody>
          <a:bodyPr/>
          <a:lstStyle/>
          <a:p>
            <a:endParaRPr lang="zh-CN" altLang="en-US" sz="2400">
              <a:ea typeface="+mj-ea"/>
            </a:endParaRPr>
          </a:p>
        </p:txBody>
      </p:sp>
      <p:sp>
        <p:nvSpPr>
          <p:cNvPr id="23" name="Shape 21"/>
          <p:cNvSpPr/>
          <p:nvPr/>
        </p:nvSpPr>
        <p:spPr>
          <a:xfrm>
            <a:off x="400050" y="4352925"/>
            <a:ext cx="38100" cy="1066800"/>
          </a:xfrm>
          <a:custGeom>
            <a:avLst/>
            <a:gdLst/>
            <a:ahLst/>
            <a:cxnLst/>
            <a:rect l="l" t="t" r="r" b="b"/>
            <a:pathLst>
              <a:path w="38100" h="1066800">
                <a:moveTo>
                  <a:pt x="0" y="0"/>
                </a:moveTo>
                <a:lnTo>
                  <a:pt x="38100" y="0"/>
                </a:lnTo>
                <a:lnTo>
                  <a:pt x="38100" y="1066800"/>
                </a:lnTo>
                <a:lnTo>
                  <a:pt x="0" y="1066800"/>
                </a:lnTo>
                <a:lnTo>
                  <a:pt x="0" y="0"/>
                </a:lnTo>
                <a:close/>
              </a:path>
            </a:pathLst>
          </a:custGeom>
          <a:solidFill>
            <a:srgbClr val="F6339A"/>
          </a:solidFill>
        </p:spPr>
        <p:txBody>
          <a:bodyPr/>
          <a:lstStyle/>
          <a:p>
            <a:endParaRPr lang="en-US"/>
          </a:p>
        </p:txBody>
      </p:sp>
      <p:sp>
        <p:nvSpPr>
          <p:cNvPr id="24" name="Shape 22"/>
          <p:cNvSpPr/>
          <p:nvPr/>
        </p:nvSpPr>
        <p:spPr>
          <a:xfrm>
            <a:off x="590550" y="4543425"/>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A3004C"/>
          </a:solidFill>
        </p:spPr>
        <p:txBody>
          <a:bodyPr/>
          <a:lstStyle/>
          <a:p>
            <a:endParaRPr lang="en-US"/>
          </a:p>
        </p:txBody>
      </p:sp>
      <p:sp>
        <p:nvSpPr>
          <p:cNvPr id="25" name="Text 23"/>
          <p:cNvSpPr/>
          <p:nvPr/>
        </p:nvSpPr>
        <p:spPr>
          <a:xfrm>
            <a:off x="819150" y="4505325"/>
            <a:ext cx="5086350" cy="228600"/>
          </a:xfrm>
          <a:prstGeom prst="rect">
            <a:avLst/>
          </a:prstGeom>
          <a:noFill/>
        </p:spPr>
        <p:txBody>
          <a:bodyPr wrap="square" lIns="0" tIns="0" rIns="0" bIns="0" rtlCol="0" anchor="ctr"/>
          <a:lstStyle/>
          <a:p>
            <a:pPr>
              <a:lnSpc>
                <a:spcPct val="130000"/>
              </a:lnSpc>
            </a:pPr>
            <a:r>
              <a:rPr lang="en-US" sz="2000" b="1" dirty="0">
                <a:solidFill>
                  <a:srgbClr val="A3004C"/>
                </a:solidFill>
                <a:ea typeface="+mj-ea"/>
                <a:cs typeface="MiSans" pitchFamily="34" charset="-120"/>
              </a:rPr>
              <a:t>Broader Significance</a:t>
            </a:r>
            <a:endParaRPr lang="en-US" sz="2800" dirty="0">
              <a:ea typeface="+mj-ea"/>
            </a:endParaRPr>
          </a:p>
        </p:txBody>
      </p:sp>
      <p:sp>
        <p:nvSpPr>
          <p:cNvPr id="26" name="Text 24"/>
          <p:cNvSpPr/>
          <p:nvPr/>
        </p:nvSpPr>
        <p:spPr>
          <a:xfrm>
            <a:off x="571500" y="4810125"/>
            <a:ext cx="5334000" cy="457200"/>
          </a:xfrm>
          <a:prstGeom prst="rect">
            <a:avLst/>
          </a:prstGeom>
          <a:noFill/>
        </p:spPr>
        <p:txBody>
          <a:bodyPr wrap="square" lIns="0" tIns="0" rIns="0" bIns="0" rtlCol="0" anchor="ctr"/>
          <a:lstStyle/>
          <a:p>
            <a:pPr>
              <a:lnSpc>
                <a:spcPct val="130000"/>
              </a:lnSpc>
            </a:pPr>
            <a:r>
              <a:rPr lang="en-US" sz="1400" dirty="0">
                <a:solidFill>
                  <a:srgbClr val="C6005C"/>
                </a:solidFill>
                <a:ea typeface="+mj-ea"/>
                <a:cs typeface="MiSans" pitchFamily="34" charset="-120"/>
              </a:rPr>
              <a:t>Agents may </a:t>
            </a:r>
            <a:r>
              <a:rPr lang="en-US" sz="1400" b="1" dirty="0">
                <a:solidFill>
                  <a:srgbClr val="C6005C"/>
                </a:solidFill>
                <a:ea typeface="+mj-ea"/>
                <a:cs typeface="MiSans" pitchFamily="34" charset="-120"/>
              </a:rPr>
              <a:t>improve simply by being used</a:t>
            </a:r>
            <a:r>
              <a:rPr lang="en-US" sz="1400" dirty="0">
                <a:solidFill>
                  <a:srgbClr val="C6005C"/>
                </a:solidFill>
                <a:ea typeface="+mj-ea"/>
                <a:cs typeface="MiSans" pitchFamily="34" charset="-120"/>
              </a:rPr>
              <a:t>—a new</a:t>
            </a:r>
          </a:p>
          <a:p>
            <a:pPr>
              <a:lnSpc>
                <a:spcPct val="130000"/>
              </a:lnSpc>
            </a:pPr>
            <a:r>
              <a:rPr lang="en-US" sz="1400" dirty="0">
                <a:solidFill>
                  <a:srgbClr val="C6005C"/>
                </a:solidFill>
                <a:ea typeface="+mj-ea"/>
                <a:cs typeface="MiSans" pitchFamily="34" charset="-120"/>
              </a:rPr>
              <a:t> direction for agent evolution.</a:t>
            </a:r>
            <a:endParaRPr lang="en-US" dirty="0">
              <a:ea typeface="+mj-ea"/>
            </a:endParaRPr>
          </a:p>
        </p:txBody>
      </p:sp>
      <p:grpSp>
        <p:nvGrpSpPr>
          <p:cNvPr id="41" name="组合 40">
            <a:extLst>
              <a:ext uri="{FF2B5EF4-FFF2-40B4-BE49-F238E27FC236}">
                <a16:creationId xmlns:a16="http://schemas.microsoft.com/office/drawing/2014/main" id="{78A0EA11-2562-403E-515D-9B36B294F4BE}"/>
              </a:ext>
            </a:extLst>
          </p:cNvPr>
          <p:cNvGrpSpPr/>
          <p:nvPr/>
        </p:nvGrpSpPr>
        <p:grpSpPr>
          <a:xfrm>
            <a:off x="4733275" y="1952858"/>
            <a:ext cx="7353949" cy="2756068"/>
            <a:chOff x="6221730" y="4286017"/>
            <a:chExt cx="5575935" cy="1611444"/>
          </a:xfrm>
        </p:grpSpPr>
        <p:sp>
          <p:nvSpPr>
            <p:cNvPr id="32" name="Shape 30"/>
            <p:cNvSpPr/>
            <p:nvPr/>
          </p:nvSpPr>
          <p:spPr>
            <a:xfrm>
              <a:off x="6221730" y="4286017"/>
              <a:ext cx="5575935" cy="1611444"/>
            </a:xfrm>
            <a:custGeom>
              <a:avLst/>
              <a:gdLst/>
              <a:ahLst/>
              <a:cxnLst/>
              <a:rect l="l" t="t" r="r" b="b"/>
              <a:pathLst>
                <a:path w="5575935" h="2356485">
                  <a:moveTo>
                    <a:pt x="114290" y="0"/>
                  </a:moveTo>
                  <a:lnTo>
                    <a:pt x="5461645" y="0"/>
                  </a:lnTo>
                  <a:cubicBezTo>
                    <a:pt x="5524766" y="0"/>
                    <a:pt x="5575935" y="51169"/>
                    <a:pt x="5575935" y="114290"/>
                  </a:cubicBezTo>
                  <a:lnTo>
                    <a:pt x="5575935" y="2242195"/>
                  </a:lnTo>
                  <a:cubicBezTo>
                    <a:pt x="5575935" y="2305316"/>
                    <a:pt x="5524766" y="2356485"/>
                    <a:pt x="5461645" y="2356485"/>
                  </a:cubicBezTo>
                  <a:lnTo>
                    <a:pt x="114290" y="2356485"/>
                  </a:lnTo>
                  <a:cubicBezTo>
                    <a:pt x="51169" y="2356485"/>
                    <a:pt x="0" y="2305316"/>
                    <a:pt x="0" y="2242195"/>
                  </a:cubicBezTo>
                  <a:lnTo>
                    <a:pt x="0" y="114290"/>
                  </a:lnTo>
                  <a:cubicBezTo>
                    <a:pt x="0" y="51211"/>
                    <a:pt x="51211" y="0"/>
                    <a:pt x="114290" y="0"/>
                  </a:cubicBezTo>
                  <a:close/>
                </a:path>
              </a:pathLst>
            </a:custGeom>
            <a:gradFill flip="none" rotWithShape="1">
              <a:gsLst>
                <a:gs pos="0">
                  <a:srgbClr val="F3F4F6"/>
                </a:gs>
                <a:gs pos="100000">
                  <a:srgbClr val="E5E7EB"/>
                </a:gs>
              </a:gsLst>
              <a:lin ang="2700000" scaled="1"/>
            </a:gradFill>
            <a:ln w="30480">
              <a:solidFill>
                <a:srgbClr val="6366F1"/>
              </a:solidFill>
              <a:prstDash val="dash"/>
            </a:ln>
          </p:spPr>
          <p:txBody>
            <a:bodyPr/>
            <a:lstStyle/>
            <a:p>
              <a:endParaRPr lang="zh-CN" altLang="en-US"/>
            </a:p>
          </p:txBody>
        </p:sp>
        <p:sp>
          <p:nvSpPr>
            <p:cNvPr id="33" name="Shape 31"/>
            <p:cNvSpPr/>
            <p:nvPr/>
          </p:nvSpPr>
          <p:spPr>
            <a:xfrm>
              <a:off x="8860631" y="4391025"/>
              <a:ext cx="300038" cy="342900"/>
            </a:xfrm>
            <a:custGeom>
              <a:avLst/>
              <a:gdLst/>
              <a:ahLst/>
              <a:cxnLst/>
              <a:rect l="l" t="t" r="r" b="b"/>
              <a:pathLst>
                <a:path w="300038" h="342900">
                  <a:moveTo>
                    <a:pt x="42863" y="21431"/>
                  </a:moveTo>
                  <a:cubicBezTo>
                    <a:pt x="19221" y="21431"/>
                    <a:pt x="0" y="40652"/>
                    <a:pt x="0" y="64294"/>
                  </a:cubicBezTo>
                  <a:lnTo>
                    <a:pt x="0" y="278606"/>
                  </a:lnTo>
                  <a:cubicBezTo>
                    <a:pt x="0" y="302248"/>
                    <a:pt x="19221" y="321469"/>
                    <a:pt x="42863" y="321469"/>
                  </a:cubicBezTo>
                  <a:lnTo>
                    <a:pt x="257175" y="321469"/>
                  </a:lnTo>
                  <a:cubicBezTo>
                    <a:pt x="280816" y="321469"/>
                    <a:pt x="300038" y="302248"/>
                    <a:pt x="300038" y="278606"/>
                  </a:cubicBezTo>
                  <a:lnTo>
                    <a:pt x="300038" y="64294"/>
                  </a:lnTo>
                  <a:cubicBezTo>
                    <a:pt x="300038" y="40652"/>
                    <a:pt x="280816" y="21431"/>
                    <a:pt x="257175" y="21431"/>
                  </a:cubicBezTo>
                  <a:lnTo>
                    <a:pt x="42863" y="21431"/>
                  </a:lnTo>
                  <a:close/>
                  <a:moveTo>
                    <a:pt x="85725" y="75009"/>
                  </a:moveTo>
                  <a:cubicBezTo>
                    <a:pt x="103467" y="75009"/>
                    <a:pt x="117872" y="89414"/>
                    <a:pt x="117872" y="107156"/>
                  </a:cubicBezTo>
                  <a:cubicBezTo>
                    <a:pt x="117872" y="124899"/>
                    <a:pt x="103467" y="139303"/>
                    <a:pt x="85725" y="139303"/>
                  </a:cubicBezTo>
                  <a:cubicBezTo>
                    <a:pt x="67983" y="139303"/>
                    <a:pt x="53578" y="124899"/>
                    <a:pt x="53578" y="107156"/>
                  </a:cubicBezTo>
                  <a:cubicBezTo>
                    <a:pt x="53578" y="89414"/>
                    <a:pt x="67983" y="75009"/>
                    <a:pt x="85725" y="75009"/>
                  </a:cubicBezTo>
                  <a:close/>
                  <a:moveTo>
                    <a:pt x="182166" y="150019"/>
                  </a:moveTo>
                  <a:cubicBezTo>
                    <a:pt x="187791" y="150019"/>
                    <a:pt x="192948" y="152966"/>
                    <a:pt x="195895" y="157721"/>
                  </a:cubicBezTo>
                  <a:lnTo>
                    <a:pt x="254831" y="254161"/>
                  </a:lnTo>
                  <a:cubicBezTo>
                    <a:pt x="257845" y="259117"/>
                    <a:pt x="257979" y="265346"/>
                    <a:pt x="255166" y="270436"/>
                  </a:cubicBezTo>
                  <a:cubicBezTo>
                    <a:pt x="252353" y="275526"/>
                    <a:pt x="246928" y="278606"/>
                    <a:pt x="241102" y="278606"/>
                  </a:cubicBezTo>
                  <a:lnTo>
                    <a:pt x="58936" y="278606"/>
                  </a:lnTo>
                  <a:cubicBezTo>
                    <a:pt x="52975" y="278606"/>
                    <a:pt x="47417" y="275258"/>
                    <a:pt x="44671" y="269967"/>
                  </a:cubicBezTo>
                  <a:cubicBezTo>
                    <a:pt x="41925" y="264676"/>
                    <a:pt x="42327" y="258247"/>
                    <a:pt x="45742" y="253358"/>
                  </a:cubicBezTo>
                  <a:lnTo>
                    <a:pt x="83247" y="199779"/>
                  </a:lnTo>
                  <a:cubicBezTo>
                    <a:pt x="86261" y="195493"/>
                    <a:pt x="91150" y="192948"/>
                    <a:pt x="96441" y="192948"/>
                  </a:cubicBezTo>
                  <a:cubicBezTo>
                    <a:pt x="101731" y="192948"/>
                    <a:pt x="106620" y="195493"/>
                    <a:pt x="109634" y="199779"/>
                  </a:cubicBezTo>
                  <a:lnTo>
                    <a:pt x="127315" y="225095"/>
                  </a:lnTo>
                  <a:lnTo>
                    <a:pt x="168436" y="157788"/>
                  </a:lnTo>
                  <a:cubicBezTo>
                    <a:pt x="171383" y="153033"/>
                    <a:pt x="176540" y="150086"/>
                    <a:pt x="182166" y="150086"/>
                  </a:cubicBezTo>
                  <a:close/>
                </a:path>
              </a:pathLst>
            </a:custGeom>
            <a:solidFill>
              <a:srgbClr val="6366F1"/>
            </a:solidFill>
          </p:spPr>
          <p:txBody>
            <a:bodyPr/>
            <a:lstStyle/>
            <a:p>
              <a:endParaRPr lang="en-US"/>
            </a:p>
          </p:txBody>
        </p:sp>
        <p:sp>
          <p:nvSpPr>
            <p:cNvPr id="34" name="Text 32"/>
            <p:cNvSpPr/>
            <p:nvPr/>
          </p:nvSpPr>
          <p:spPr>
            <a:xfrm>
              <a:off x="8334375" y="4848225"/>
              <a:ext cx="1438275" cy="266700"/>
            </a:xfrm>
            <a:prstGeom prst="rect">
              <a:avLst/>
            </a:prstGeom>
            <a:noFill/>
          </p:spPr>
          <p:txBody>
            <a:bodyPr wrap="square" lIns="0" tIns="0" rIns="0" bIns="0" rtlCol="0" anchor="ctr"/>
            <a:lstStyle/>
            <a:p>
              <a:pPr>
                <a:lnSpc>
                  <a:spcPct val="130000"/>
                </a:lnSpc>
              </a:pPr>
              <a:r>
                <a:rPr lang="en-US" sz="1350" b="1" dirty="0">
                  <a:solidFill>
                    <a:srgbClr val="6366F1"/>
                  </a:solidFill>
                  <a:latin typeface="MiSans" pitchFamily="34" charset="-122"/>
                  <a:ea typeface="MiSans" pitchFamily="34" charset="-122"/>
                  <a:cs typeface="MiSans" pitchFamily="34" charset="-120"/>
                </a:rPr>
                <a:t>[INSERT IMAGE]</a:t>
              </a:r>
              <a:endParaRPr lang="en-US" sz="1600" dirty="0"/>
            </a:p>
          </p:txBody>
        </p:sp>
        <p:sp>
          <p:nvSpPr>
            <p:cNvPr id="35" name="Text 33"/>
            <p:cNvSpPr/>
            <p:nvPr/>
          </p:nvSpPr>
          <p:spPr>
            <a:xfrm>
              <a:off x="8112800" y="5191125"/>
              <a:ext cx="1876425" cy="228600"/>
            </a:xfrm>
            <a:prstGeom prst="rect">
              <a:avLst/>
            </a:prstGeom>
            <a:noFill/>
          </p:spPr>
          <p:txBody>
            <a:bodyPr wrap="square" lIns="0" tIns="0" rIns="0" bIns="0" rtlCol="0" anchor="ctr"/>
            <a:lstStyle/>
            <a:p>
              <a:pPr>
                <a:lnSpc>
                  <a:spcPct val="130000"/>
                </a:lnSpc>
              </a:pPr>
              <a:r>
                <a:rPr lang="en-US" sz="1200" b="1" dirty="0">
                  <a:solidFill>
                    <a:srgbClr val="6366F1"/>
                  </a:solidFill>
                  <a:latin typeface="MiSans" pitchFamily="34" charset="-122"/>
                  <a:ea typeface="MiSans" pitchFamily="34" charset="-122"/>
                  <a:cs typeface="MiSans" pitchFamily="34" charset="-120"/>
                </a:rPr>
                <a:t>Personalization Example</a:t>
              </a:r>
              <a:endParaRPr lang="en-US" sz="1600" dirty="0"/>
            </a:p>
          </p:txBody>
        </p:sp>
        <p:sp>
          <p:nvSpPr>
            <p:cNvPr id="36" name="Text 34"/>
            <p:cNvSpPr/>
            <p:nvPr/>
          </p:nvSpPr>
          <p:spPr>
            <a:xfrm>
              <a:off x="7791569" y="5457825"/>
              <a:ext cx="2505075" cy="190500"/>
            </a:xfrm>
            <a:prstGeom prst="rect">
              <a:avLst/>
            </a:prstGeom>
            <a:noFill/>
          </p:spPr>
          <p:txBody>
            <a:bodyPr wrap="square" lIns="0" tIns="0" rIns="0" bIns="0" rtlCol="0" anchor="ctr"/>
            <a:lstStyle/>
            <a:p>
              <a:pPr>
                <a:lnSpc>
                  <a:spcPct val="120000"/>
                </a:lnSpc>
              </a:pPr>
              <a:r>
                <a:rPr lang="en-US" sz="1050" b="1" dirty="0">
                  <a:solidFill>
                    <a:srgbClr val="6366F1">
                      <a:alpha val="75000"/>
                    </a:srgbClr>
                  </a:solidFill>
                  <a:latin typeface="MiSans" pitchFamily="34" charset="-122"/>
                  <a:ea typeface="MiSans" pitchFamily="34" charset="-122"/>
                  <a:cs typeface="MiSans" pitchFamily="34" charset="-120"/>
                </a:rPr>
                <a:t>Student/teacher preference adaptation</a:t>
              </a:r>
              <a:endParaRPr lang="en-US" sz="1600" dirty="0"/>
            </a:p>
          </p:txBody>
        </p:sp>
        <p:pic>
          <p:nvPicPr>
            <p:cNvPr id="40" name="图片 39">
              <a:extLst>
                <a:ext uri="{FF2B5EF4-FFF2-40B4-BE49-F238E27FC236}">
                  <a16:creationId xmlns:a16="http://schemas.microsoft.com/office/drawing/2014/main" id="{A2DC3D60-5E60-5606-13E1-C80D3C6487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5544" y="4331215"/>
              <a:ext cx="5499735" cy="1521897"/>
            </a:xfrm>
            <a:prstGeom prst="rect">
              <a:avLst/>
            </a:prstGeom>
          </p:spPr>
        </p:pic>
      </p:gr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88720" y="413385"/>
            <a:ext cx="11572875" cy="342900"/>
          </a:xfrm>
          <a:prstGeom prst="rect">
            <a:avLst/>
          </a:prstGeom>
          <a:noFill/>
        </p:spPr>
        <p:txBody>
          <a:bodyPr wrap="square" lIns="0" tIns="0" rIns="0" bIns="0" rtlCol="0" anchor="ctr"/>
          <a:lstStyle/>
          <a:p>
            <a:r>
              <a:rPr lang="en-US" sz="4800" b="1" dirty="0">
                <a:solidFill>
                  <a:schemeClr val="tx2"/>
                </a:solidFill>
                <a:ea typeface="Noto Sans SC" panose="020B0200000000000000" pitchFamily="34" charset="-122"/>
              </a:rPr>
              <a:t>Conclusion</a:t>
            </a:r>
            <a:endParaRPr lang="en-US" sz="4800" b="1" dirty="0">
              <a:solidFill>
                <a:schemeClr val="tx2"/>
              </a:solidFill>
              <a:latin typeface="Times New Roman" panose="02020603050405020304" pitchFamily="18" charset="0"/>
              <a:ea typeface="Noto Sans SC" panose="020B0200000000000000" pitchFamily="34" charset="-122"/>
              <a:cs typeface="Times New Roman" panose="02020603050405020304" pitchFamily="18" charset="0"/>
            </a:endParaRPr>
          </a:p>
        </p:txBody>
      </p:sp>
      <p:sp>
        <p:nvSpPr>
          <p:cNvPr id="3" name="Text 1"/>
          <p:cNvSpPr/>
          <p:nvPr/>
        </p:nvSpPr>
        <p:spPr>
          <a:xfrm>
            <a:off x="263556" y="1086788"/>
            <a:ext cx="4312640" cy="266700"/>
          </a:xfrm>
          <a:prstGeom prst="rect">
            <a:avLst/>
          </a:prstGeom>
          <a:noFill/>
        </p:spPr>
        <p:txBody>
          <a:bodyPr wrap="square" lIns="0" tIns="0" rIns="0" bIns="0" rtlCol="0" anchor="ctr"/>
          <a:lstStyle/>
          <a:p>
            <a:pPr>
              <a:lnSpc>
                <a:spcPct val="130000"/>
              </a:lnSpc>
            </a:pPr>
            <a:r>
              <a:rPr lang="en-US" sz="2000" dirty="0">
                <a:solidFill>
                  <a:srgbClr val="45556C"/>
                </a:solidFill>
                <a:latin typeface="Calibri" panose="020F0502020204030204" pitchFamily="34" charset="0"/>
                <a:ea typeface="MiSans" pitchFamily="34" charset="-122"/>
                <a:cs typeface="Calibri" panose="020F0502020204030204" pitchFamily="34" charset="0"/>
              </a:rPr>
              <a:t>What changes across the three papers</a:t>
            </a:r>
          </a:p>
        </p:txBody>
      </p:sp>
      <p:graphicFrame>
        <p:nvGraphicFramePr>
          <p:cNvPr id="18" name="Table 0"/>
          <p:cNvGraphicFramePr>
            <a:graphicFrameLocks noGrp="1"/>
          </p:cNvGraphicFramePr>
          <p:nvPr>
            <p:custDataLst>
              <p:tags r:id="rId1"/>
            </p:custDataLst>
            <p:extLst>
              <p:ext uri="{D42A27DB-BD31-4B8C-83A1-F6EECF244321}">
                <p14:modId xmlns:p14="http://schemas.microsoft.com/office/powerpoint/2010/main" val="4260122009"/>
              </p:ext>
            </p:extLst>
          </p:nvPr>
        </p:nvGraphicFramePr>
        <p:xfrm>
          <a:off x="695587" y="1429385"/>
          <a:ext cx="10800826" cy="4267200"/>
        </p:xfrm>
        <a:graphic>
          <a:graphicData uri="http://schemas.openxmlformats.org/drawingml/2006/table">
            <a:tbl>
              <a:tblPr/>
              <a:tblGrid>
                <a:gridCol w="1467113">
                  <a:extLst>
                    <a:ext uri="{9D8B030D-6E8A-4147-A177-3AD203B41FA5}">
                      <a16:colId xmlns:a16="http://schemas.microsoft.com/office/drawing/2014/main" val="20000"/>
                    </a:ext>
                  </a:extLst>
                </a:gridCol>
                <a:gridCol w="3366257">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gridCol w="3024231">
                  <a:extLst>
                    <a:ext uri="{9D8B030D-6E8A-4147-A177-3AD203B41FA5}">
                      <a16:colId xmlns:a16="http://schemas.microsoft.com/office/drawing/2014/main" val="20003"/>
                    </a:ext>
                  </a:extLst>
                </a:gridCol>
              </a:tblGrid>
              <a:tr h="825956">
                <a:tc>
                  <a:txBody>
                    <a:bodyPr/>
                    <a:lstStyle/>
                    <a:p>
                      <a:pPr algn="ctr">
                        <a:lnSpc>
                          <a:spcPct val="100000"/>
                        </a:lnSpc>
                      </a:pPr>
                      <a:r>
                        <a:rPr lang="en-US" sz="1800" b="1" u="none" dirty="0">
                          <a:solidFill>
                            <a:srgbClr val="314158"/>
                          </a:solidFill>
                          <a:latin typeface="Calibri" panose="020F0502020204030204" pitchFamily="34" charset="0"/>
                          <a:ea typeface="Microsoft YaHei" panose="020B0503020204020204" charset="-122"/>
                          <a:cs typeface="Calibri" panose="020F0502020204030204" pitchFamily="34" charset="0"/>
                        </a:rPr>
                        <a:t>Main Question</a:t>
                      </a:r>
                    </a:p>
                  </a:txBody>
                  <a:tcPr marL="152400" marR="152400" marT="152400" marB="1524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How can agents remember?</a:t>
                      </a:r>
                    </a:p>
                  </a:txBody>
                  <a:tcPr marL="152400" marR="152400" marT="152400" marB="1524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How can context evolve?</a:t>
                      </a:r>
                    </a:p>
                  </a:txBody>
                  <a:tcPr marL="152400" marR="152400" marT="152400" marB="1524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How can agents learn from interaction?</a:t>
                      </a:r>
                    </a:p>
                  </a:txBody>
                  <a:tcPr marL="152400" marR="152400" marT="152400" marB="1524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832812">
                <a:tc>
                  <a:txBody>
                    <a:bodyPr/>
                    <a:lstStyle/>
                    <a:p>
                      <a:pPr algn="ctr">
                        <a:lnSpc>
                          <a:spcPct val="100000"/>
                        </a:lnSpc>
                      </a:pPr>
                      <a:r>
                        <a:rPr lang="en-US" sz="1800" b="1" u="none" dirty="0">
                          <a:solidFill>
                            <a:srgbClr val="314158"/>
                          </a:solidFill>
                          <a:latin typeface="Calibri" panose="020F0502020204030204" pitchFamily="34" charset="0"/>
                          <a:ea typeface="Microsoft YaHei" panose="020B0503020204020204" charset="-122"/>
                          <a:cs typeface="Calibri" panose="020F0502020204030204" pitchFamily="34" charset="0"/>
                        </a:rPr>
                        <a:t>What Is Improved</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tc>
                  <a:txBody>
                    <a:bodyPr/>
                    <a:lstStyle/>
                    <a:p>
                      <a:pPr algn="ctr">
                        <a:lnSpc>
                          <a:spcPct val="100000"/>
                        </a:lnSpc>
                      </a:pPr>
                      <a:r>
                        <a:rPr lang="en-US" sz="1800" u="none" dirty="0">
                          <a:solidFill>
                            <a:srgbClr val="1A1A2E"/>
                          </a:solidFill>
                          <a:latin typeface="Calibri" panose="020F0502020204030204" pitchFamily="34" charset="0"/>
                          <a:ea typeface="Microsoft YaHei" panose="020B0503020204020204" charset="-122"/>
                          <a:cs typeface="Calibri" panose="020F0502020204030204" pitchFamily="34" charset="0"/>
                        </a:rPr>
                        <a:t>Memory access &amp; storage</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tc>
                  <a:txBody>
                    <a:bodyPr/>
                    <a:lstStyle/>
                    <a:p>
                      <a:pPr algn="ctr">
                        <a:lnSpc>
                          <a:spcPct val="100000"/>
                        </a:lnSpc>
                      </a:pPr>
                      <a:r>
                        <a:rPr lang="en-US" sz="1800" u="none" dirty="0">
                          <a:solidFill>
                            <a:srgbClr val="1A1A2E"/>
                          </a:solidFill>
                          <a:latin typeface="Calibri" panose="020F0502020204030204" pitchFamily="34" charset="0"/>
                          <a:ea typeface="Microsoft YaHei" panose="020B0503020204020204" charset="-122"/>
                          <a:cs typeface="Calibri" panose="020F0502020204030204" pitchFamily="34" charset="0"/>
                        </a:rPr>
                        <a:t>External playbook / context</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tc>
                  <a:txBody>
                    <a:bodyPr/>
                    <a:lstStyle/>
                    <a:p>
                      <a:pPr algn="ctr">
                        <a:lnSpc>
                          <a:spcPct val="100000"/>
                        </a:lnSpc>
                      </a:pPr>
                      <a:r>
                        <a:rPr lang="en-US" sz="1800" u="none" dirty="0">
                          <a:solidFill>
                            <a:srgbClr val="1A1A2E"/>
                          </a:solidFill>
                          <a:latin typeface="Calibri" panose="020F0502020204030204" pitchFamily="34" charset="0"/>
                          <a:ea typeface="Microsoft YaHei" panose="020B0503020204020204" charset="-122"/>
                          <a:cs typeface="Calibri" panose="020F0502020204030204" pitchFamily="34" charset="0"/>
                        </a:rPr>
                        <a:t>Policy / behavior</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2812">
                <a:tc>
                  <a:txBody>
                    <a:bodyPr/>
                    <a:lstStyle/>
                    <a:p>
                      <a:pPr algn="ctr">
                        <a:lnSpc>
                          <a:spcPct val="100000"/>
                        </a:lnSpc>
                      </a:pPr>
                      <a:r>
                        <a:rPr lang="en-US" sz="1800" b="1" u="none" dirty="0">
                          <a:solidFill>
                            <a:srgbClr val="314158"/>
                          </a:solidFill>
                          <a:latin typeface="Calibri" panose="020F0502020204030204" pitchFamily="34" charset="0"/>
                          <a:ea typeface="Microsoft YaHei" panose="020B0503020204020204" charset="-122"/>
                          <a:cs typeface="Calibri" panose="020F0502020204030204" pitchFamily="34" charset="0"/>
                        </a:rPr>
                        <a:t>Knowledge Form</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Hierarchical memory</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Structured evolving playbook</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Rewarded &amp; distilled trajectories</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832812">
                <a:tc>
                  <a:txBody>
                    <a:bodyPr/>
                    <a:lstStyle/>
                    <a:p>
                      <a:pPr algn="ctr">
                        <a:lnSpc>
                          <a:spcPct val="100000"/>
                        </a:lnSpc>
                      </a:pPr>
                      <a:r>
                        <a:rPr lang="en-US" sz="1800" b="1" u="none" dirty="0">
                          <a:solidFill>
                            <a:srgbClr val="314158"/>
                          </a:solidFill>
                          <a:latin typeface="Calibri" panose="020F0502020204030204" pitchFamily="34" charset="0"/>
                          <a:ea typeface="Microsoft YaHei" panose="020B0503020204020204" charset="-122"/>
                          <a:cs typeface="Calibri" panose="020F0502020204030204" pitchFamily="34" charset="0"/>
                        </a:rPr>
                        <a:t>Adaptation Style</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Memory management</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Reflection + curation</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RL from ongoing interaction</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32812">
                <a:tc>
                  <a:txBody>
                    <a:bodyPr/>
                    <a:lstStyle/>
                    <a:p>
                      <a:pPr algn="ctr">
                        <a:lnSpc>
                          <a:spcPct val="100000"/>
                        </a:lnSpc>
                      </a:pPr>
                      <a:r>
                        <a:rPr lang="en-US" sz="1800" b="1" u="none" dirty="0">
                          <a:solidFill>
                            <a:srgbClr val="314158"/>
                          </a:solidFill>
                          <a:latin typeface="Calibri" panose="020F0502020204030204" pitchFamily="34" charset="0"/>
                          <a:ea typeface="Microsoft YaHei" panose="020B0503020204020204" charset="-122"/>
                          <a:cs typeface="Calibri" panose="020F0502020204030204" pitchFamily="34" charset="0"/>
                        </a:rPr>
                        <a:t>Main Limitation</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Remembers, but doesn't organize strategy deeply</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Improves context, but policy is mostly fixed</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8FAFC"/>
                    </a:solidFill>
                  </a:tcPr>
                </a:tc>
                <a:tc>
                  <a:txBody>
                    <a:bodyPr/>
                    <a:lstStyle/>
                    <a:p>
                      <a:pPr algn="ctr">
                        <a:lnSpc>
                          <a:spcPct val="100000"/>
                        </a:lnSpc>
                      </a:pPr>
                      <a:r>
                        <a:rPr lang="en-US" sz="1800" u="none" dirty="0">
                          <a:solidFill>
                            <a:srgbClr val="45556C"/>
                          </a:solidFill>
                          <a:latin typeface="Calibri" panose="020F0502020204030204" pitchFamily="34" charset="0"/>
                          <a:ea typeface="Microsoft YaHei" panose="020B0503020204020204" charset="-122"/>
                          <a:cs typeface="Calibri" panose="020F0502020204030204" pitchFamily="34" charset="0"/>
                        </a:rPr>
                        <a:t>More complex, depends on feedback quality</a:t>
                      </a:r>
                    </a:p>
                  </a:txBody>
                  <a:tcPr marL="152400" marR="152400" marT="152400" marB="1524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8FAFC"/>
                    </a:solidFill>
                  </a:tcPr>
                </a:tc>
                <a:extLst>
                  <a:ext uri="{0D108BD9-81ED-4DB2-BD59-A6C34878D82A}">
                    <a16:rowId xmlns:a16="http://schemas.microsoft.com/office/drawing/2014/main" val="10004"/>
                  </a:ext>
                </a:extLst>
              </a:tr>
            </a:tbl>
          </a:graphicData>
        </a:graphic>
      </p:graphicFrame>
      <p:sp>
        <p:nvSpPr>
          <p:cNvPr id="8" name="Text 5"/>
          <p:cNvSpPr/>
          <p:nvPr/>
        </p:nvSpPr>
        <p:spPr>
          <a:xfrm>
            <a:off x="905694" y="5771212"/>
            <a:ext cx="10896600" cy="266700"/>
          </a:xfrm>
          <a:prstGeom prst="rect">
            <a:avLst/>
          </a:prstGeom>
          <a:noFill/>
        </p:spPr>
        <p:txBody>
          <a:bodyPr wrap="square" lIns="0" tIns="0" rIns="0" bIns="0" rtlCol="0" anchor="ctr"/>
          <a:lstStyle/>
          <a:p>
            <a:pPr algn="ctr">
              <a:lnSpc>
                <a:spcPct val="130000"/>
              </a:lnSpc>
            </a:pPr>
            <a:r>
              <a:rPr lang="en-US" sz="2000" b="1" dirty="0">
                <a:solidFill>
                  <a:srgbClr val="372AAC"/>
                </a:solidFill>
                <a:latin typeface="Calibri" panose="020F0502020204030204" pitchFamily="34" charset="0"/>
                <a:ea typeface="MiSans" pitchFamily="34" charset="-122"/>
                <a:cs typeface="Calibri" panose="020F0502020204030204" pitchFamily="34" charset="0"/>
              </a:rPr>
              <a:t>The evolution is from storing information, to structuring knowledge, to updating behavior.</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B83E8-3E44-CF29-188B-9B72656FB6FC}"/>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1201B785-E019-7518-753E-5398BF510B18}"/>
              </a:ext>
            </a:extLst>
          </p:cNvPr>
          <p:cNvSpPr>
            <a:spLocks noGrp="1"/>
          </p:cNvSpPr>
          <p:nvPr/>
        </p:nvSpPr>
        <p:spPr>
          <a:xfrm>
            <a:off x="635" y="1407160"/>
            <a:ext cx="12192000" cy="1882140"/>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kumimoji="1" sz="5335"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a:lstStyle>
          <a:p>
            <a:pPr algn="ctr"/>
            <a:r>
              <a:rPr lang="en-US" altLang="zh-CN" sz="4000" kern="0" dirty="0">
                <a:effectLst>
                  <a:outerShdw blurRad="38100" dist="38100" dir="2700000" algn="tl">
                    <a:srgbClr val="000000">
                      <a:alpha val="43137"/>
                    </a:srgbClr>
                  </a:outerShdw>
                </a:effectLst>
              </a:rPr>
              <a:t>Thank you!</a:t>
            </a:r>
          </a:p>
        </p:txBody>
      </p:sp>
      <p:sp>
        <p:nvSpPr>
          <p:cNvPr id="20" name="Subtitle 2">
            <a:extLst>
              <a:ext uri="{FF2B5EF4-FFF2-40B4-BE49-F238E27FC236}">
                <a16:creationId xmlns:a16="http://schemas.microsoft.com/office/drawing/2014/main" id="{9DD74D4A-3B5F-3809-0744-22EF9564A7C5}"/>
              </a:ext>
            </a:extLst>
          </p:cNvPr>
          <p:cNvSpPr>
            <a:spLocks noGrp="1"/>
          </p:cNvSpPr>
          <p:nvPr/>
        </p:nvSpPr>
        <p:spPr>
          <a:xfrm>
            <a:off x="1828800" y="3855632"/>
            <a:ext cx="8534400" cy="1882455"/>
          </a:xfrm>
          <a:prstGeom prst="rect">
            <a:avLst/>
          </a:prstGeom>
          <a:noFill/>
          <a:ln w="9525">
            <a:noFill/>
            <a:miter lim="800000"/>
          </a:ln>
        </p:spPr>
        <p:txBody>
          <a:bodyPr vert="horz" wrap="square" lIns="91440" tIns="45720" rIns="91440" bIns="45720" numCol="1" anchor="t" anchorCtr="0" compatLnSpc="1"/>
          <a:lstStyle>
            <a:lvl1pPr marL="0" indent="0" algn="ctr" rtl="0" eaLnBrk="1" fontAlgn="base" hangingPunct="1">
              <a:spcBef>
                <a:spcPct val="20000"/>
              </a:spcBef>
              <a:spcAft>
                <a:spcPct val="0"/>
              </a:spcAft>
              <a:buClr>
                <a:srgbClr val="0000FF"/>
              </a:buClr>
              <a:buSzPct val="80000"/>
              <a:buFont typeface="Wingdings" panose="05000000000000000000" pitchFamily="2" charset="2"/>
              <a:buNone/>
              <a:defRPr kumimoji="1" sz="3735">
                <a:solidFill>
                  <a:schemeClr val="tx1"/>
                </a:solidFill>
                <a:latin typeface="Calibri" panose="020F0502020204030204" pitchFamily="34" charset="0"/>
                <a:ea typeface="標楷體" pitchFamily="65" charset="-120"/>
                <a:cs typeface="+mn-cs"/>
              </a:defRPr>
            </a:lvl1pPr>
            <a:lvl2pPr marL="457200" indent="0" algn="ctr" rtl="0" eaLnBrk="1" fontAlgn="base" hangingPunct="1">
              <a:spcBef>
                <a:spcPct val="20000"/>
              </a:spcBef>
              <a:spcAft>
                <a:spcPct val="0"/>
              </a:spcAft>
              <a:buClr>
                <a:srgbClr val="0000FF"/>
              </a:buClr>
              <a:buSzPct val="90000"/>
              <a:buFont typeface="Arial" panose="020B0604020202020204" pitchFamily="34" charset="0"/>
              <a:buNone/>
              <a:defRPr kumimoji="1" sz="3200">
                <a:solidFill>
                  <a:schemeClr val="tx1"/>
                </a:solidFill>
                <a:latin typeface="Calibri" panose="020F0502020204030204" pitchFamily="34" charset="0"/>
                <a:ea typeface="標楷體" pitchFamily="65" charset="-120"/>
              </a:defRPr>
            </a:lvl2pPr>
            <a:lvl3pPr marL="914400" indent="0" algn="ctr" rtl="0" eaLnBrk="1" fontAlgn="base" hangingPunct="1">
              <a:spcBef>
                <a:spcPct val="20000"/>
              </a:spcBef>
              <a:spcAft>
                <a:spcPct val="0"/>
              </a:spcAft>
              <a:buNone/>
              <a:defRPr kumimoji="1" sz="2400">
                <a:solidFill>
                  <a:schemeClr val="tx1"/>
                </a:solidFill>
                <a:latin typeface="+mn-lt"/>
                <a:ea typeface="+mn-ea"/>
              </a:defRPr>
            </a:lvl3pPr>
            <a:lvl4pPr marL="1371600" indent="0" algn="ctr" rtl="0" eaLnBrk="1" fontAlgn="base" hangingPunct="1">
              <a:spcBef>
                <a:spcPct val="20000"/>
              </a:spcBef>
              <a:spcAft>
                <a:spcPct val="0"/>
              </a:spcAft>
              <a:buNone/>
              <a:defRPr kumimoji="1" sz="2000">
                <a:solidFill>
                  <a:schemeClr val="tx1"/>
                </a:solidFill>
                <a:latin typeface="+mn-lt"/>
                <a:ea typeface="+mn-ea"/>
              </a:defRPr>
            </a:lvl4pPr>
            <a:lvl5pPr marL="1828800" indent="0" algn="ctr" rtl="0" eaLnBrk="1" fontAlgn="base" hangingPunct="1">
              <a:spcBef>
                <a:spcPct val="20000"/>
              </a:spcBef>
              <a:spcAft>
                <a:spcPct val="0"/>
              </a:spcAft>
              <a:buNone/>
              <a:defRPr kumimoji="1" sz="2000">
                <a:solidFill>
                  <a:schemeClr val="tx1"/>
                </a:solidFill>
                <a:latin typeface="+mn-lt"/>
                <a:ea typeface="+mn-ea"/>
              </a:defRPr>
            </a:lvl5pPr>
            <a:lvl6pPr marL="2286000" indent="0" algn="ctr" rtl="0" eaLnBrk="1" fontAlgn="base" hangingPunct="1">
              <a:spcBef>
                <a:spcPct val="20000"/>
              </a:spcBef>
              <a:spcAft>
                <a:spcPct val="0"/>
              </a:spcAft>
              <a:buNone/>
              <a:defRPr kumimoji="1" sz="2000">
                <a:solidFill>
                  <a:schemeClr val="tx1"/>
                </a:solidFill>
                <a:latin typeface="+mn-lt"/>
                <a:ea typeface="+mn-ea"/>
              </a:defRPr>
            </a:lvl6pPr>
            <a:lvl7pPr marL="2743200" indent="0" algn="ctr" rtl="0" eaLnBrk="1" fontAlgn="base" hangingPunct="1">
              <a:spcBef>
                <a:spcPct val="20000"/>
              </a:spcBef>
              <a:spcAft>
                <a:spcPct val="0"/>
              </a:spcAft>
              <a:buNone/>
              <a:defRPr kumimoji="1" sz="2000">
                <a:solidFill>
                  <a:schemeClr val="tx1"/>
                </a:solidFill>
                <a:latin typeface="+mn-lt"/>
                <a:ea typeface="+mn-ea"/>
              </a:defRPr>
            </a:lvl7pPr>
            <a:lvl8pPr marL="3200400" indent="0" algn="ctr" rtl="0" eaLnBrk="1" fontAlgn="base" hangingPunct="1">
              <a:spcBef>
                <a:spcPct val="20000"/>
              </a:spcBef>
              <a:spcAft>
                <a:spcPct val="0"/>
              </a:spcAft>
              <a:buNone/>
              <a:defRPr kumimoji="1" sz="2000">
                <a:solidFill>
                  <a:schemeClr val="tx1"/>
                </a:solidFill>
                <a:latin typeface="+mn-lt"/>
                <a:ea typeface="+mn-ea"/>
              </a:defRPr>
            </a:lvl8pPr>
            <a:lvl9pPr marL="3657600" indent="0" algn="ctr" rtl="0" eaLnBrk="1" fontAlgn="base" hangingPunct="1">
              <a:spcBef>
                <a:spcPct val="20000"/>
              </a:spcBef>
              <a:spcAft>
                <a:spcPct val="0"/>
              </a:spcAft>
              <a:buNone/>
              <a:defRPr kumimoji="1" sz="2000">
                <a:solidFill>
                  <a:schemeClr val="tx1"/>
                </a:solidFill>
                <a:latin typeface="+mn-lt"/>
                <a:ea typeface="+mn-ea"/>
              </a:defRPr>
            </a:lvl9pPr>
          </a:lstStyle>
          <a:p>
            <a:r>
              <a:rPr lang="en-US" altLang="zh-TW" sz="3200" dirty="0">
                <a:effectLst>
                  <a:outerShdw blurRad="38100" dist="38100" dir="2700000" algn="tl">
                    <a:srgbClr val="000000">
                      <a:alpha val="43137"/>
                    </a:srgbClr>
                  </a:outerShdw>
                </a:effectLst>
              </a:rPr>
              <a:t>Zhixuan Tan</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308654836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7.05,&quot;left&quot;:28.75,&quot;top&quot;:102.9,&quot;width&quot;:901.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63.2,&quot;left&quot;:144,&quot;top&quot;:231.45,&quot;width&quot;:672.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93.4,&quot;left&quot;:33.25,&quot;top&quot;:113.8,&quot;width&quot;:890.4}"/>
</p:tagLst>
</file>

<file path=ppt/tags/tag38.xml><?xml version="1.0" encoding="utf-8"?>
<p:tagLst xmlns:a="http://schemas.openxmlformats.org/drawingml/2006/main" xmlns:r="http://schemas.openxmlformats.org/officeDocument/2006/relationships" xmlns:p="http://schemas.openxmlformats.org/presentationml/2006/main">
  <p:tag name="TABLE_ENDDRAG_ORIGIN_RECT" val="900*357"/>
  <p:tag name="TABLE_ENDDRAG_RECT" val="30*142*900*357"/>
</p:tagLst>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virgle">
      <a:majorFont>
        <a:latin typeface="Calibri"/>
        <a:ea typeface="Calibri"/>
        <a:cs typeface="MS Sans Serif"/>
      </a:majorFont>
      <a:minorFont>
        <a:latin typeface="Calibri"/>
        <a:ea typeface="Calibr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defRPr>
        </a:defPPr>
      </a:lstStyle>
    </a:lnDef>
    <a:txDef>
      <a:spPr>
        <a:noFill/>
      </a:spPr>
      <a:bodyPr wrap="none" rtlCol="0" anchor="ctr" anchorCtr="1">
        <a:spAutoFit/>
      </a:bodyPr>
      <a:lstStyle>
        <a:defPPr>
          <a:defRPr dirty="0" smtClean="0">
            <a:ea typeface="標楷體" pitchFamily="65" charset="-120"/>
            <a:cs typeface="Calibri" panose="020F050202020403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1498</TotalTime>
  <Words>3636</Words>
  <Application>Microsoft Office PowerPoint</Application>
  <PresentationFormat>宽屏</PresentationFormat>
  <Paragraphs>336</Paragraphs>
  <Slides>19</Slides>
  <Notes>19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19</vt:i4>
      </vt:variant>
    </vt:vector>
  </HeadingPairs>
  <TitlesOfParts>
    <vt:vector size="30" baseType="lpstr">
      <vt:lpstr>MiSans</vt:lpstr>
      <vt:lpstr>MS Sans Serif</vt:lpstr>
      <vt:lpstr>Noto Sans SC</vt:lpstr>
      <vt:lpstr>KaiTi</vt:lpstr>
      <vt:lpstr>Arial</vt:lpstr>
      <vt:lpstr>Calibri</vt:lpstr>
      <vt:lpstr>Calibri Light</vt:lpstr>
      <vt:lpstr>Times New Roman</vt:lpstr>
      <vt:lpstr>Wingdings</vt:lpstr>
      <vt:lpstr>NTHU UniCloud</vt:lpstr>
      <vt:lpstr>自訂設計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Yeh-Ching Chung</cp:lastModifiedBy>
  <cp:revision>33</cp:revision>
  <dcterms:created xsi:type="dcterms:W3CDTF">2020-07-15T11:13:00Z</dcterms:created>
  <dcterms:modified xsi:type="dcterms:W3CDTF">2026-03-26T11:14:38Z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EC34E49EA6EC4D35BAEE485FE3F11FE6_12</vt:lpwstr>
  </property>
  <property fmtid="{D5CDD505-2E9C-101B-9397-08002B2CF9AE}" pid="3" name="KSOProductBuildVer">
    <vt:lpwstr>2057-12.2.0.23197</vt:lpwstr>
  </property>
</Properties>
</file>