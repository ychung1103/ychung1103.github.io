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60" r:id="rId5"/>
  </p:sldMasterIdLst>
  <p:notesMasterIdLst>
    <p:notesMasterId r:id="rId49"/>
  </p:notesMasterIdLst>
  <p:sldIdLst>
    <p:sldId id="256" r:id="rId6"/>
    <p:sldId id="529" r:id="rId7"/>
    <p:sldId id="572" r:id="rId8"/>
    <p:sldId id="516" r:id="rId9"/>
    <p:sldId id="569" r:id="rId10"/>
    <p:sldId id="570" r:id="rId11"/>
    <p:sldId id="571" r:id="rId12"/>
    <p:sldId id="573" r:id="rId13"/>
    <p:sldId id="521" r:id="rId14"/>
    <p:sldId id="526" r:id="rId15"/>
    <p:sldId id="577" r:id="rId16"/>
    <p:sldId id="578" r:id="rId17"/>
    <p:sldId id="579" r:id="rId18"/>
    <p:sldId id="580" r:id="rId19"/>
    <p:sldId id="581" r:id="rId20"/>
    <p:sldId id="582" r:id="rId21"/>
    <p:sldId id="583" r:id="rId22"/>
    <p:sldId id="532" r:id="rId23"/>
    <p:sldId id="585" r:id="rId24"/>
    <p:sldId id="586" r:id="rId25"/>
    <p:sldId id="587" r:id="rId26"/>
    <p:sldId id="588" r:id="rId27"/>
    <p:sldId id="589" r:id="rId28"/>
    <p:sldId id="590" r:id="rId29"/>
    <p:sldId id="591" r:id="rId30"/>
    <p:sldId id="592" r:id="rId31"/>
    <p:sldId id="593" r:id="rId32"/>
    <p:sldId id="594" r:id="rId33"/>
    <p:sldId id="595" r:id="rId34"/>
    <p:sldId id="596" r:id="rId35"/>
    <p:sldId id="597" r:id="rId36"/>
    <p:sldId id="598" r:id="rId37"/>
    <p:sldId id="599" r:id="rId38"/>
    <p:sldId id="601" r:id="rId39"/>
    <p:sldId id="602" r:id="rId40"/>
    <p:sldId id="604" r:id="rId41"/>
    <p:sldId id="603" r:id="rId42"/>
    <p:sldId id="605" r:id="rId43"/>
    <p:sldId id="606" r:id="rId44"/>
    <p:sldId id="607" r:id="rId45"/>
    <p:sldId id="610" r:id="rId46"/>
    <p:sldId id="609" r:id="rId47"/>
    <p:sldId id="608" r:id="rId4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33" autoAdjust="0"/>
    <p:restoredTop sz="94762"/>
  </p:normalViewPr>
  <p:slideViewPr>
    <p:cSldViewPr snapToGrid="0">
      <p:cViewPr varScale="1">
        <p:scale>
          <a:sx n="59" d="100"/>
          <a:sy n="59" d="100"/>
        </p:scale>
        <p:origin x="8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52885B-2818-F64C-9751-AABBF33620C1}" type="doc">
      <dgm:prSet loTypeId="urn:microsoft.com/office/officeart/2005/8/layout/process2" loCatId="process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A40334E5-CAA3-F443-82BA-B0EA8C7B1A64}">
      <dgm:prSet custT="1"/>
      <dgm:spPr/>
      <dgm:t>
        <a:bodyPr/>
        <a:lstStyle/>
        <a:p>
          <a:r>
            <a:rPr kumimoji="1"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Set U: </a:t>
          </a:r>
          <a:r>
            <a:rPr kumimoji="1"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Intermediate </a:t>
          </a:r>
          <a:br>
            <a:rPr kumimoji="1"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kumimoji="1"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(load but unexplored)</a:t>
          </a:r>
          <a:endParaRPr lang="zh-C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EFC7CD6-C30F-DE4A-9F5E-DBC89A8610E6}" type="parTrans" cxnId="{30EF1DEC-78CB-F64E-8931-1465F378C6A9}">
      <dgm:prSet/>
      <dgm:spPr/>
      <dgm:t>
        <a:bodyPr/>
        <a:lstStyle/>
        <a:p>
          <a:endParaRPr lang="zh-CN" altLang="en-US"/>
        </a:p>
      </dgm:t>
    </dgm:pt>
    <dgm:pt modelId="{D0B56E9E-5ADE-4245-95C6-DE35218F0B7B}" type="sibTrans" cxnId="{30EF1DEC-78CB-F64E-8931-1465F378C6A9}">
      <dgm:prSet custT="1"/>
      <dgm:spPr/>
      <dgm:t>
        <a:bodyPr/>
        <a:lstStyle/>
        <a:p>
          <a:endParaRPr lang="zh-CN" altLang="en-US" sz="1400"/>
        </a:p>
      </dgm:t>
    </dgm:pt>
    <dgm:pt modelId="{C8BA4EAF-5D2D-3541-A6E6-8DA94717ECBF}">
      <dgm:prSet custT="1"/>
      <dgm:spPr/>
      <dgm:t>
        <a:bodyPr/>
        <a:lstStyle/>
        <a:p>
          <a:r>
            <a:rPr kumimoji="1" lang="en-US" altLang="zh-CN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Load</a:t>
          </a:r>
          <a:r>
            <a:rPr kumimoji="1" lang="zh-CN" altLang="en-US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the smallest</a:t>
          </a:r>
          <a:r>
            <a:rPr kumimoji="1" lang="zh-CN" altLang="en-US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candidate so</a:t>
          </a:r>
          <a:r>
            <a:rPr kumimoji="1" lang="zh-CN" altLang="en-US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far</a:t>
          </a:r>
          <a:endParaRPr kumimoji="1" lang="zh-CN" altLang="en-US" sz="1800" dirty="0">
            <a:latin typeface="Times New Roman" panose="02020603050405020304" pitchFamily="18" charset="0"/>
            <a:ea typeface="標楷體" pitchFamily="65" charset="-120"/>
            <a:cs typeface="Times New Roman" panose="02020603050405020304" pitchFamily="18" charset="0"/>
          </a:endParaRPr>
        </a:p>
      </dgm:t>
    </dgm:pt>
    <dgm:pt modelId="{0DF6A90A-7D20-164C-90AF-0CD9A28F567A}" type="parTrans" cxnId="{1C51C3F4-C03F-A34D-85FF-8836F4A6A107}">
      <dgm:prSet/>
      <dgm:spPr/>
      <dgm:t>
        <a:bodyPr/>
        <a:lstStyle/>
        <a:p>
          <a:endParaRPr lang="zh-CN" altLang="en-US"/>
        </a:p>
      </dgm:t>
    </dgm:pt>
    <dgm:pt modelId="{51AEA82A-51CD-DE41-8E17-3E8BCC647DA1}" type="sibTrans" cxnId="{1C51C3F4-C03F-A34D-85FF-8836F4A6A107}">
      <dgm:prSet custT="1"/>
      <dgm:spPr/>
      <dgm:t>
        <a:bodyPr/>
        <a:lstStyle/>
        <a:p>
          <a:endParaRPr lang="zh-CN" altLang="en-US" sz="1400"/>
        </a:p>
      </dgm:t>
    </dgm:pt>
    <dgm:pt modelId="{975E9410-1A8E-F04C-846A-1A6BCD6CE582}">
      <dgm:prSet custT="1"/>
      <dgm:spPr/>
      <dgm:t>
        <a:bodyPr/>
        <a:lstStyle/>
        <a:p>
          <a:r>
            <a:rPr kumimoji="1" lang="en-US" altLang="zh-CN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Normal</a:t>
          </a:r>
          <a:r>
            <a:rPr kumimoji="1" lang="zh-CN" altLang="en-US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Compute</a:t>
          </a:r>
          <a:endParaRPr lang="zh-CN" altLang="en-US" sz="1800" dirty="0"/>
        </a:p>
      </dgm:t>
    </dgm:pt>
    <dgm:pt modelId="{A1477691-66C8-254E-A964-0930315DC01A}" type="parTrans" cxnId="{43162191-0DCC-DB47-8385-C0A1A5FE660F}">
      <dgm:prSet/>
      <dgm:spPr/>
      <dgm:t>
        <a:bodyPr/>
        <a:lstStyle/>
        <a:p>
          <a:endParaRPr lang="zh-CN" altLang="en-US"/>
        </a:p>
      </dgm:t>
    </dgm:pt>
    <dgm:pt modelId="{A124CC93-0F0F-2149-93D9-357A2EFE769F}" type="sibTrans" cxnId="{43162191-0DCC-DB47-8385-C0A1A5FE660F}">
      <dgm:prSet custT="1"/>
      <dgm:spPr/>
      <dgm:t>
        <a:bodyPr/>
        <a:lstStyle/>
        <a:p>
          <a:endParaRPr lang="zh-CN" altLang="en-US" sz="1400"/>
        </a:p>
      </dgm:t>
    </dgm:pt>
    <dgm:pt modelId="{0153148C-1ECB-5E41-A7F0-DC84AFB3D195}">
      <dgm:prSet custT="1"/>
      <dgm:spPr/>
      <dgm:t>
        <a:bodyPr/>
        <a:lstStyle/>
        <a:p>
          <a:r>
            <a:rPr kumimoji="1" lang="en-US" altLang="zh-CN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Update</a:t>
          </a:r>
          <a:r>
            <a:rPr kumimoji="1" lang="zh-CN" altLang="en-US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U</a:t>
          </a:r>
          <a:r>
            <a:rPr kumimoji="1" lang="zh-CN" altLang="en-US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with</a:t>
          </a:r>
          <a:r>
            <a:rPr kumimoji="1" lang="zh-CN" altLang="en-US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newest</a:t>
          </a:r>
          <a:r>
            <a:rPr kumimoji="1" lang="zh-CN" altLang="en-US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fetched</a:t>
          </a:r>
          <a:r>
            <a:rPr kumimoji="1" lang="zh-CN" altLang="en-US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data</a:t>
          </a:r>
          <a:endParaRPr lang="zh-CN" altLang="en-US" sz="1800" dirty="0"/>
        </a:p>
      </dgm:t>
    </dgm:pt>
    <dgm:pt modelId="{59C6FE81-2C9F-104B-80F5-F488C4CDF27B}" type="parTrans" cxnId="{33EC3E7F-E3D0-E449-B906-3EC16758876E}">
      <dgm:prSet/>
      <dgm:spPr/>
      <dgm:t>
        <a:bodyPr/>
        <a:lstStyle/>
        <a:p>
          <a:endParaRPr lang="zh-CN" altLang="en-US"/>
        </a:p>
      </dgm:t>
    </dgm:pt>
    <dgm:pt modelId="{2092F2DF-8BB4-C146-ADBC-24E0072F0CE4}" type="sibTrans" cxnId="{33EC3E7F-E3D0-E449-B906-3EC16758876E}">
      <dgm:prSet/>
      <dgm:spPr/>
      <dgm:t>
        <a:bodyPr/>
        <a:lstStyle/>
        <a:p>
          <a:endParaRPr lang="zh-CN" altLang="en-US"/>
        </a:p>
      </dgm:t>
    </dgm:pt>
    <dgm:pt modelId="{777D0DD7-6B62-3D43-8BFF-4F486786EB90}" type="pres">
      <dgm:prSet presAssocID="{1552885B-2818-F64C-9751-AABBF33620C1}" presName="linearFlow" presStyleCnt="0">
        <dgm:presLayoutVars>
          <dgm:resizeHandles val="exact"/>
        </dgm:presLayoutVars>
      </dgm:prSet>
      <dgm:spPr/>
    </dgm:pt>
    <dgm:pt modelId="{742433FB-EBC5-624F-89E3-75959DED9E6A}" type="pres">
      <dgm:prSet presAssocID="{A40334E5-CAA3-F443-82BA-B0EA8C7B1A64}" presName="node" presStyleLbl="node1" presStyleIdx="0" presStyleCnt="4">
        <dgm:presLayoutVars>
          <dgm:bulletEnabled val="1"/>
        </dgm:presLayoutVars>
      </dgm:prSet>
      <dgm:spPr/>
    </dgm:pt>
    <dgm:pt modelId="{45D923D7-5976-DD46-A078-EE977620A5F7}" type="pres">
      <dgm:prSet presAssocID="{D0B56E9E-5ADE-4245-95C6-DE35218F0B7B}" presName="sibTrans" presStyleLbl="sibTrans2D1" presStyleIdx="0" presStyleCnt="3"/>
      <dgm:spPr/>
    </dgm:pt>
    <dgm:pt modelId="{413ADEF3-CE75-FA43-B8F2-26D3FC3DEA03}" type="pres">
      <dgm:prSet presAssocID="{D0B56E9E-5ADE-4245-95C6-DE35218F0B7B}" presName="connectorText" presStyleLbl="sibTrans2D1" presStyleIdx="0" presStyleCnt="3"/>
      <dgm:spPr/>
    </dgm:pt>
    <dgm:pt modelId="{3941C3E8-1BE3-644B-B9ED-104FAA8E53E5}" type="pres">
      <dgm:prSet presAssocID="{C8BA4EAF-5D2D-3541-A6E6-8DA94717ECBF}" presName="node" presStyleLbl="node1" presStyleIdx="1" presStyleCnt="4">
        <dgm:presLayoutVars>
          <dgm:bulletEnabled val="1"/>
        </dgm:presLayoutVars>
      </dgm:prSet>
      <dgm:spPr/>
    </dgm:pt>
    <dgm:pt modelId="{E34999A2-1B12-9946-AD7B-ECD111B480B2}" type="pres">
      <dgm:prSet presAssocID="{51AEA82A-51CD-DE41-8E17-3E8BCC647DA1}" presName="sibTrans" presStyleLbl="sibTrans2D1" presStyleIdx="1" presStyleCnt="3"/>
      <dgm:spPr/>
    </dgm:pt>
    <dgm:pt modelId="{27496036-51E1-A946-94B9-413BF0EDAF64}" type="pres">
      <dgm:prSet presAssocID="{51AEA82A-51CD-DE41-8E17-3E8BCC647DA1}" presName="connectorText" presStyleLbl="sibTrans2D1" presStyleIdx="1" presStyleCnt="3"/>
      <dgm:spPr/>
    </dgm:pt>
    <dgm:pt modelId="{B9E4CEF0-8120-134F-BD9B-8DFF3FBAF500}" type="pres">
      <dgm:prSet presAssocID="{975E9410-1A8E-F04C-846A-1A6BCD6CE582}" presName="node" presStyleLbl="node1" presStyleIdx="2" presStyleCnt="4">
        <dgm:presLayoutVars>
          <dgm:bulletEnabled val="1"/>
        </dgm:presLayoutVars>
      </dgm:prSet>
      <dgm:spPr/>
    </dgm:pt>
    <dgm:pt modelId="{505AF5CF-2D1F-5F44-AC10-B8B3CBDC50D4}" type="pres">
      <dgm:prSet presAssocID="{A124CC93-0F0F-2149-93D9-357A2EFE769F}" presName="sibTrans" presStyleLbl="sibTrans2D1" presStyleIdx="2" presStyleCnt="3"/>
      <dgm:spPr/>
    </dgm:pt>
    <dgm:pt modelId="{13926D50-1317-5241-934A-6FD67EA019A1}" type="pres">
      <dgm:prSet presAssocID="{A124CC93-0F0F-2149-93D9-357A2EFE769F}" presName="connectorText" presStyleLbl="sibTrans2D1" presStyleIdx="2" presStyleCnt="3"/>
      <dgm:spPr/>
    </dgm:pt>
    <dgm:pt modelId="{C5DA2D42-035B-864B-8F49-5D6C5109A63B}" type="pres">
      <dgm:prSet presAssocID="{0153148C-1ECB-5E41-A7F0-DC84AFB3D195}" presName="node" presStyleLbl="node1" presStyleIdx="3" presStyleCnt="4">
        <dgm:presLayoutVars>
          <dgm:bulletEnabled val="1"/>
        </dgm:presLayoutVars>
      </dgm:prSet>
      <dgm:spPr/>
    </dgm:pt>
  </dgm:ptLst>
  <dgm:cxnLst>
    <dgm:cxn modelId="{EA13E712-8996-E74B-9D19-28E552561901}" type="presOf" srcId="{A124CC93-0F0F-2149-93D9-357A2EFE769F}" destId="{505AF5CF-2D1F-5F44-AC10-B8B3CBDC50D4}" srcOrd="0" destOrd="0" presId="urn:microsoft.com/office/officeart/2005/8/layout/process2"/>
    <dgm:cxn modelId="{3D8AC919-1300-1541-ADD1-442832A47500}" type="presOf" srcId="{A40334E5-CAA3-F443-82BA-B0EA8C7B1A64}" destId="{742433FB-EBC5-624F-89E3-75959DED9E6A}" srcOrd="0" destOrd="0" presId="urn:microsoft.com/office/officeart/2005/8/layout/process2"/>
    <dgm:cxn modelId="{534CD81F-1AAF-FA4B-8BD3-3BFA46A1F71A}" type="presOf" srcId="{C8BA4EAF-5D2D-3541-A6E6-8DA94717ECBF}" destId="{3941C3E8-1BE3-644B-B9ED-104FAA8E53E5}" srcOrd="0" destOrd="0" presId="urn:microsoft.com/office/officeart/2005/8/layout/process2"/>
    <dgm:cxn modelId="{279BFC32-270C-0346-9218-E27EBE6014AA}" type="presOf" srcId="{A124CC93-0F0F-2149-93D9-357A2EFE769F}" destId="{13926D50-1317-5241-934A-6FD67EA019A1}" srcOrd="1" destOrd="0" presId="urn:microsoft.com/office/officeart/2005/8/layout/process2"/>
    <dgm:cxn modelId="{2839F543-F444-F946-9C24-973559647228}" type="presOf" srcId="{0153148C-1ECB-5E41-A7F0-DC84AFB3D195}" destId="{C5DA2D42-035B-864B-8F49-5D6C5109A63B}" srcOrd="0" destOrd="0" presId="urn:microsoft.com/office/officeart/2005/8/layout/process2"/>
    <dgm:cxn modelId="{FFD0656D-0B42-A549-9090-01C0654445E7}" type="presOf" srcId="{D0B56E9E-5ADE-4245-95C6-DE35218F0B7B}" destId="{45D923D7-5976-DD46-A078-EE977620A5F7}" srcOrd="0" destOrd="0" presId="urn:microsoft.com/office/officeart/2005/8/layout/process2"/>
    <dgm:cxn modelId="{940E644E-FFE6-EF48-9C67-D204F5BD1ACB}" type="presOf" srcId="{D0B56E9E-5ADE-4245-95C6-DE35218F0B7B}" destId="{413ADEF3-CE75-FA43-B8F2-26D3FC3DEA03}" srcOrd="1" destOrd="0" presId="urn:microsoft.com/office/officeart/2005/8/layout/process2"/>
    <dgm:cxn modelId="{33EC3E7F-E3D0-E449-B906-3EC16758876E}" srcId="{1552885B-2818-F64C-9751-AABBF33620C1}" destId="{0153148C-1ECB-5E41-A7F0-DC84AFB3D195}" srcOrd="3" destOrd="0" parTransId="{59C6FE81-2C9F-104B-80F5-F488C4CDF27B}" sibTransId="{2092F2DF-8BB4-C146-ADBC-24E0072F0CE4}"/>
    <dgm:cxn modelId="{43162191-0DCC-DB47-8385-C0A1A5FE660F}" srcId="{1552885B-2818-F64C-9751-AABBF33620C1}" destId="{975E9410-1A8E-F04C-846A-1A6BCD6CE582}" srcOrd="2" destOrd="0" parTransId="{A1477691-66C8-254E-A964-0930315DC01A}" sibTransId="{A124CC93-0F0F-2149-93D9-357A2EFE769F}"/>
    <dgm:cxn modelId="{82728EA7-6A84-FC4D-9053-1FFCCB8F054F}" type="presOf" srcId="{1552885B-2818-F64C-9751-AABBF33620C1}" destId="{777D0DD7-6B62-3D43-8BFF-4F486786EB90}" srcOrd="0" destOrd="0" presId="urn:microsoft.com/office/officeart/2005/8/layout/process2"/>
    <dgm:cxn modelId="{16598CD3-BED9-3143-AD51-36B58B0FE459}" type="presOf" srcId="{975E9410-1A8E-F04C-846A-1A6BCD6CE582}" destId="{B9E4CEF0-8120-134F-BD9B-8DFF3FBAF500}" srcOrd="0" destOrd="0" presId="urn:microsoft.com/office/officeart/2005/8/layout/process2"/>
    <dgm:cxn modelId="{0531C9D3-6347-3547-8E1D-ABE2B5C88B15}" type="presOf" srcId="{51AEA82A-51CD-DE41-8E17-3E8BCC647DA1}" destId="{E34999A2-1B12-9946-AD7B-ECD111B480B2}" srcOrd="0" destOrd="0" presId="urn:microsoft.com/office/officeart/2005/8/layout/process2"/>
    <dgm:cxn modelId="{31E279E0-8D25-2548-A09C-F9AA153B9DFD}" type="presOf" srcId="{51AEA82A-51CD-DE41-8E17-3E8BCC647DA1}" destId="{27496036-51E1-A946-94B9-413BF0EDAF64}" srcOrd="1" destOrd="0" presId="urn:microsoft.com/office/officeart/2005/8/layout/process2"/>
    <dgm:cxn modelId="{30EF1DEC-78CB-F64E-8931-1465F378C6A9}" srcId="{1552885B-2818-F64C-9751-AABBF33620C1}" destId="{A40334E5-CAA3-F443-82BA-B0EA8C7B1A64}" srcOrd="0" destOrd="0" parTransId="{3EFC7CD6-C30F-DE4A-9F5E-DBC89A8610E6}" sibTransId="{D0B56E9E-5ADE-4245-95C6-DE35218F0B7B}"/>
    <dgm:cxn modelId="{1C51C3F4-C03F-A34D-85FF-8836F4A6A107}" srcId="{1552885B-2818-F64C-9751-AABBF33620C1}" destId="{C8BA4EAF-5D2D-3541-A6E6-8DA94717ECBF}" srcOrd="1" destOrd="0" parTransId="{0DF6A90A-7D20-164C-90AF-0CD9A28F567A}" sibTransId="{51AEA82A-51CD-DE41-8E17-3E8BCC647DA1}"/>
    <dgm:cxn modelId="{D3F658F4-268E-974E-82CD-BD296C509892}" type="presParOf" srcId="{777D0DD7-6B62-3D43-8BFF-4F486786EB90}" destId="{742433FB-EBC5-624F-89E3-75959DED9E6A}" srcOrd="0" destOrd="0" presId="urn:microsoft.com/office/officeart/2005/8/layout/process2"/>
    <dgm:cxn modelId="{BA7D22CC-5415-F043-8CAC-1D97FF83A5C6}" type="presParOf" srcId="{777D0DD7-6B62-3D43-8BFF-4F486786EB90}" destId="{45D923D7-5976-DD46-A078-EE977620A5F7}" srcOrd="1" destOrd="0" presId="urn:microsoft.com/office/officeart/2005/8/layout/process2"/>
    <dgm:cxn modelId="{EDBEB277-FA45-DE45-BBDB-CA4E3E5287FC}" type="presParOf" srcId="{45D923D7-5976-DD46-A078-EE977620A5F7}" destId="{413ADEF3-CE75-FA43-B8F2-26D3FC3DEA03}" srcOrd="0" destOrd="0" presId="urn:microsoft.com/office/officeart/2005/8/layout/process2"/>
    <dgm:cxn modelId="{653B8AC1-4C06-3B43-8A3D-BDFDA146571E}" type="presParOf" srcId="{777D0DD7-6B62-3D43-8BFF-4F486786EB90}" destId="{3941C3E8-1BE3-644B-B9ED-104FAA8E53E5}" srcOrd="2" destOrd="0" presId="urn:microsoft.com/office/officeart/2005/8/layout/process2"/>
    <dgm:cxn modelId="{B4077805-8303-EB4A-83D7-BDD1136799FC}" type="presParOf" srcId="{777D0DD7-6B62-3D43-8BFF-4F486786EB90}" destId="{E34999A2-1B12-9946-AD7B-ECD111B480B2}" srcOrd="3" destOrd="0" presId="urn:microsoft.com/office/officeart/2005/8/layout/process2"/>
    <dgm:cxn modelId="{C7CC900F-6163-0743-A100-498D2FC25566}" type="presParOf" srcId="{E34999A2-1B12-9946-AD7B-ECD111B480B2}" destId="{27496036-51E1-A946-94B9-413BF0EDAF64}" srcOrd="0" destOrd="0" presId="urn:microsoft.com/office/officeart/2005/8/layout/process2"/>
    <dgm:cxn modelId="{10C62D4F-6E69-9540-AB07-318677A2BF6C}" type="presParOf" srcId="{777D0DD7-6B62-3D43-8BFF-4F486786EB90}" destId="{B9E4CEF0-8120-134F-BD9B-8DFF3FBAF500}" srcOrd="4" destOrd="0" presId="urn:microsoft.com/office/officeart/2005/8/layout/process2"/>
    <dgm:cxn modelId="{0AE3B597-A4A3-5E46-80BE-533DEFF81B8B}" type="presParOf" srcId="{777D0DD7-6B62-3D43-8BFF-4F486786EB90}" destId="{505AF5CF-2D1F-5F44-AC10-B8B3CBDC50D4}" srcOrd="5" destOrd="0" presId="urn:microsoft.com/office/officeart/2005/8/layout/process2"/>
    <dgm:cxn modelId="{D88D7AAA-BDDD-D247-83DE-75BC997D53EC}" type="presParOf" srcId="{505AF5CF-2D1F-5F44-AC10-B8B3CBDC50D4}" destId="{13926D50-1317-5241-934A-6FD67EA019A1}" srcOrd="0" destOrd="0" presId="urn:microsoft.com/office/officeart/2005/8/layout/process2"/>
    <dgm:cxn modelId="{549C73C3-3B37-D240-8F48-648ED825E791}" type="presParOf" srcId="{777D0DD7-6B62-3D43-8BFF-4F486786EB90}" destId="{C5DA2D42-035B-864B-8F49-5D6C5109A63B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2433FB-EBC5-624F-89E3-75959DED9E6A}">
      <dsp:nvSpPr>
        <dsp:cNvPr id="0" name=""/>
        <dsp:cNvSpPr/>
      </dsp:nvSpPr>
      <dsp:spPr>
        <a:xfrm>
          <a:off x="110363" y="2033"/>
          <a:ext cx="2193979" cy="7565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Set U: </a:t>
          </a:r>
          <a:r>
            <a:rPr kumimoji="1"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Intermediate </a:t>
          </a:r>
          <a:br>
            <a:rPr kumimoji="1"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kumimoji="1"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(load but unexplored)</a:t>
          </a:r>
          <a:endParaRPr lang="zh-C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2521" y="24191"/>
        <a:ext cx="2149663" cy="712228"/>
      </dsp:txXfrm>
    </dsp:sp>
    <dsp:sp modelId="{45D923D7-5976-DD46-A078-EE977620A5F7}">
      <dsp:nvSpPr>
        <dsp:cNvPr id="0" name=""/>
        <dsp:cNvSpPr/>
      </dsp:nvSpPr>
      <dsp:spPr>
        <a:xfrm rot="5400000">
          <a:off x="1065500" y="777491"/>
          <a:ext cx="283704" cy="3404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4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1105219" y="805862"/>
        <a:ext cx="204267" cy="198593"/>
      </dsp:txXfrm>
    </dsp:sp>
    <dsp:sp modelId="{3941C3E8-1BE3-644B-B9ED-104FAA8E53E5}">
      <dsp:nvSpPr>
        <dsp:cNvPr id="0" name=""/>
        <dsp:cNvSpPr/>
      </dsp:nvSpPr>
      <dsp:spPr>
        <a:xfrm>
          <a:off x="110363" y="1136850"/>
          <a:ext cx="2193979" cy="7565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tint val="50000"/>
                <a:satMod val="300000"/>
              </a:schemeClr>
            </a:gs>
            <a:gs pos="35000">
              <a:schemeClr val="accent4">
                <a:hueOff val="-1488257"/>
                <a:satOff val="8966"/>
                <a:lumOff val="719"/>
                <a:alphaOff val="0"/>
                <a:tint val="37000"/>
                <a:satMod val="30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Load</a:t>
          </a:r>
          <a:r>
            <a:rPr kumimoji="1" lang="zh-CN" altLang="en-US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the smallest</a:t>
          </a:r>
          <a:r>
            <a:rPr kumimoji="1" lang="zh-CN" altLang="en-US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candidate so</a:t>
          </a:r>
          <a:r>
            <a:rPr kumimoji="1" lang="zh-CN" altLang="en-US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far</a:t>
          </a:r>
          <a:endParaRPr kumimoji="1" lang="zh-CN" altLang="en-US" sz="1800" kern="1200" dirty="0">
            <a:latin typeface="Times New Roman" panose="02020603050405020304" pitchFamily="18" charset="0"/>
            <a:ea typeface="標楷體" pitchFamily="65" charset="-120"/>
            <a:cs typeface="Times New Roman" panose="02020603050405020304" pitchFamily="18" charset="0"/>
          </a:endParaRPr>
        </a:p>
      </dsp:txBody>
      <dsp:txXfrm>
        <a:off x="132521" y="1159008"/>
        <a:ext cx="2149663" cy="712228"/>
      </dsp:txXfrm>
    </dsp:sp>
    <dsp:sp modelId="{E34999A2-1B12-9946-AD7B-ECD111B480B2}">
      <dsp:nvSpPr>
        <dsp:cNvPr id="0" name=""/>
        <dsp:cNvSpPr/>
      </dsp:nvSpPr>
      <dsp:spPr>
        <a:xfrm rot="5400000">
          <a:off x="1065500" y="1912308"/>
          <a:ext cx="283704" cy="3404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tint val="50000"/>
                <a:satMod val="300000"/>
              </a:schemeClr>
            </a:gs>
            <a:gs pos="35000">
              <a:schemeClr val="accent4">
                <a:hueOff val="-2232385"/>
                <a:satOff val="13449"/>
                <a:lumOff val="1078"/>
                <a:alphaOff val="0"/>
                <a:tint val="37000"/>
                <a:satMod val="30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1105219" y="1940679"/>
        <a:ext cx="204267" cy="198593"/>
      </dsp:txXfrm>
    </dsp:sp>
    <dsp:sp modelId="{B9E4CEF0-8120-134F-BD9B-8DFF3FBAF500}">
      <dsp:nvSpPr>
        <dsp:cNvPr id="0" name=""/>
        <dsp:cNvSpPr/>
      </dsp:nvSpPr>
      <dsp:spPr>
        <a:xfrm>
          <a:off x="110363" y="2271667"/>
          <a:ext cx="2193979" cy="7565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tint val="50000"/>
                <a:satMod val="300000"/>
              </a:schemeClr>
            </a:gs>
            <a:gs pos="35000">
              <a:schemeClr val="accent4">
                <a:hueOff val="-2976513"/>
                <a:satOff val="17933"/>
                <a:lumOff val="1437"/>
                <a:alphaOff val="0"/>
                <a:tint val="37000"/>
                <a:satMod val="30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Normal</a:t>
          </a:r>
          <a:r>
            <a:rPr kumimoji="1" lang="zh-CN" altLang="en-US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Compute</a:t>
          </a:r>
          <a:endParaRPr lang="zh-CN" altLang="en-US" sz="1800" kern="1200" dirty="0"/>
        </a:p>
      </dsp:txBody>
      <dsp:txXfrm>
        <a:off x="132521" y="2293825"/>
        <a:ext cx="2149663" cy="712228"/>
      </dsp:txXfrm>
    </dsp:sp>
    <dsp:sp modelId="{505AF5CF-2D1F-5F44-AC10-B8B3CBDC50D4}">
      <dsp:nvSpPr>
        <dsp:cNvPr id="0" name=""/>
        <dsp:cNvSpPr/>
      </dsp:nvSpPr>
      <dsp:spPr>
        <a:xfrm rot="5400000">
          <a:off x="1065500" y="3047125"/>
          <a:ext cx="283704" cy="34044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400" kern="1200"/>
        </a:p>
      </dsp:txBody>
      <dsp:txXfrm rot="-5400000">
        <a:off x="1105219" y="3075496"/>
        <a:ext cx="204267" cy="198593"/>
      </dsp:txXfrm>
    </dsp:sp>
    <dsp:sp modelId="{C5DA2D42-035B-864B-8F49-5D6C5109A63B}">
      <dsp:nvSpPr>
        <dsp:cNvPr id="0" name=""/>
        <dsp:cNvSpPr/>
      </dsp:nvSpPr>
      <dsp:spPr>
        <a:xfrm>
          <a:off x="110363" y="3406484"/>
          <a:ext cx="2193979" cy="7565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tint val="50000"/>
                <a:satMod val="300000"/>
              </a:schemeClr>
            </a:gs>
            <a:gs pos="35000">
              <a:schemeClr val="accent4">
                <a:hueOff val="-4464770"/>
                <a:satOff val="26899"/>
                <a:lumOff val="2156"/>
                <a:alphaOff val="0"/>
                <a:tint val="37000"/>
                <a:satMod val="30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zh-CN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Update</a:t>
          </a:r>
          <a:r>
            <a:rPr kumimoji="1" lang="zh-CN" altLang="en-US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U</a:t>
          </a:r>
          <a:r>
            <a:rPr kumimoji="1" lang="zh-CN" altLang="en-US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with</a:t>
          </a:r>
          <a:r>
            <a:rPr kumimoji="1" lang="zh-CN" altLang="en-US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newest</a:t>
          </a:r>
          <a:r>
            <a:rPr kumimoji="1" lang="zh-CN" altLang="en-US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fetched</a:t>
          </a:r>
          <a:r>
            <a:rPr kumimoji="1" lang="zh-CN" altLang="en-US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 </a:t>
          </a:r>
          <a:r>
            <a:rPr kumimoji="1" lang="en-US" altLang="zh-CN" sz="1800" kern="12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rPr>
            <a:t>data</a:t>
          </a:r>
          <a:endParaRPr lang="zh-CN" altLang="en-US" sz="1800" kern="1200" dirty="0"/>
        </a:p>
      </dsp:txBody>
      <dsp:txXfrm>
        <a:off x="132521" y="3428642"/>
        <a:ext cx="2149663" cy="7122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2026/5/2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CCDB5-6AAF-8239-AF71-BF50CA609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DCF9123E-782D-55B3-4F8F-6DEA98288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B0CF79C-5AA7-DEF9-1920-C22BB6BF2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AC3AC1-D4D8-AD8A-98C3-2BC443F85F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055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E0312-C14C-DA9C-C42C-65C86D2B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CE2A22A1-6459-AE62-7113-F1A3A97DB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D11A97-04F0-24B6-07C8-4F1F4C193D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E1DDEE-16EE-59A9-5E16-AD8339BB9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2071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Figure cited from: https://www.usenix.org/conference/osdi25/presentation/guo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3782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23225-A545-BE08-EDA4-ADE02F934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D96697-A813-B914-916A-867F0618F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7A50FA-8125-8D97-49C3-F4A198B39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Figure cited from: https://www.usenix.org/conference/osdi25/presentation/guo</a:t>
            </a:r>
            <a:br>
              <a:rPr lang="en-US" altLang="zh-CN"/>
            </a:br>
            <a:r>
              <a:rPr lang="en-US" altLang="zh-CN"/>
              <a:t>(explain figure)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333F63-F775-4F32-434E-0883AB491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0816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40866-C9A9-72B9-E8B4-ED6A6636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DD8CF9-2A3F-311B-49A3-461B03F54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9481E2-A789-6B3D-7238-F7781D53D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Figure cited from: https://</a:t>
            </a:r>
            <a:r>
              <a:rPr lang="en-US" altLang="zh-CN" dirty="0" err="1"/>
              <a:t>www.usenix.org</a:t>
            </a:r>
            <a:r>
              <a:rPr lang="en-US" altLang="zh-CN" dirty="0"/>
              <a:t>/conference/osdi25/presentation/</a:t>
            </a:r>
            <a:r>
              <a:rPr lang="en-US" altLang="zh-CN" dirty="0" err="1"/>
              <a:t>guo</a:t>
            </a:r>
            <a:br>
              <a:rPr lang="en-US" altLang="zh-CN" dirty="0"/>
            </a:br>
            <a:r>
              <a:rPr lang="en-US" altLang="zh-CN" dirty="0"/>
              <a:t>(explain new path to</a:t>
            </a:r>
            <a:r>
              <a:rPr lang="zh-CN" altLang="en-US" dirty="0"/>
              <a:t>🤗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851B9B-F6C7-CE89-797C-102B0157D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201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BCE9-FFC5-9E70-E0FB-A1ACE1542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4A56C6-195B-815D-AB2B-AF8D19321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795D4B-19FC-9EF7-E59F-9D74DEA02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(Detailed explanation of the three metrics)</a:t>
            </a:r>
            <a:br>
              <a:rPr lang="en-US" altLang="zh-CN"/>
            </a:b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377C21-A112-639E-898A-2F437970B5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20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B1840-F322-EF2B-1BAE-2CFDF2F0A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5446FC23-CAF1-4FE4-83BC-67A768DD29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A080B3F-0A48-5DDC-BABB-73D746D25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55F46E-A17C-A697-F362-7B44899BC5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7748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Detailed explained difference of two stages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51560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Figure cited from: https://www.usenix.org/conference/osdi25/presentation/guo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1066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E085-39E3-0899-18BB-34CD672C3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4CC8AC0-2BA3-5A33-88E6-672974C5E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C998F6-CA76-516B-BFCB-06A70009F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Figure cited from: https://www.usenix.org/conference/osdi25/presentation/guo</a:t>
            </a:r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0871A4-EF4F-D5B7-463F-40DB7DC6C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2176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9FA3E-EF35-DEF6-27E6-5D84D6397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281E4F-5E68-6851-576C-ACB91BFA3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3A9324-897E-D9DD-C6E9-B2B25303D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Figure cited from: https://www.usenix.org/conference/osdi25/presentation/guo</a:t>
            </a:r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39E07-19B5-45E2-7684-6B81CD7502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3046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ABB37-AB26-3589-1292-EC913A6F6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42C8FC-D131-EB1E-6009-657899D79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51AAE5F-E426-DA32-7BD5-15D49BBE9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Figure cited from: https://www.usenix.org/conference/osdi25/presentation/guo</a:t>
            </a:r>
          </a:p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736023-DE16-6425-B180-AD8F0F47B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54089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1E03F-E55B-3EE2-0174-441FC1946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81079DA-E204-789D-7945-F6E8E7D2F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24015E-57DB-688B-2B6E-3A40CD722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Skip the details in `gap`</a:t>
            </a: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5033F0-AC1C-2422-D11B-1AC5A1828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051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E0624-DBC5-2BFF-3604-1EDE4C75C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677E2085-79C0-67EC-D84C-760E072FF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3391F4F-7CDE-5E15-F1F3-3CE769BFB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447605-ED9D-E8FB-B65C-FFD0DDCC92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8874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D523E-1253-036B-2262-7D3F1004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E5630B-8C0D-6845-B543-542B1324D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609F9D-4B78-4135-7A8A-A6606D540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Explain</a:t>
            </a:r>
            <a:r>
              <a:rPr lang="zh-CN" altLang="en-US"/>
              <a:t> </a:t>
            </a:r>
            <a:r>
              <a:rPr lang="en-US" altLang="zh-CN"/>
              <a:t>Figures</a:t>
            </a:r>
            <a:r>
              <a:rPr lang="zh-CN" altLang="en-US"/>
              <a:t>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10B07E-C084-8BC3-F69D-4829AFD91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3188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EFB9B-A26C-EB60-2DF5-F49C0C40C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A45C251-19E0-B58A-89F0-6368778027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C1BAFB-8A79-5C4C-DE4E-E8C47BD9D2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1B751B-454A-0909-8B62-2E455D3B00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66052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Point</a:t>
            </a:r>
            <a:r>
              <a:rPr kumimoji="1" lang="zh-CN" altLang="en-US"/>
              <a:t> </a:t>
            </a:r>
            <a:r>
              <a:rPr kumimoji="1" lang="en-US" altLang="zh-CN"/>
              <a:t>out</a:t>
            </a:r>
            <a:r>
              <a:rPr kumimoji="1" lang="zh-CN" altLang="en-US"/>
              <a:t>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-US" altLang="zh-CN"/>
              <a:t>relationship</a:t>
            </a:r>
            <a:r>
              <a:rPr kumimoji="1" lang="zh-CN" altLang="en-US"/>
              <a:t> </a:t>
            </a:r>
            <a:r>
              <a:rPr kumimoji="1" lang="en-US" altLang="zh-CN"/>
              <a:t>between</a:t>
            </a:r>
            <a:r>
              <a:rPr kumimoji="1" lang="zh-CN" altLang="en-US"/>
              <a:t> </a:t>
            </a:r>
            <a:r>
              <a:rPr kumimoji="1" lang="en-US" altLang="zh-CN"/>
              <a:t>text</a:t>
            </a:r>
            <a:r>
              <a:rPr kumimoji="1" lang="zh-CN" altLang="en-US"/>
              <a:t> </a:t>
            </a:r>
            <a:r>
              <a:rPr kumimoji="1" lang="en-US" altLang="zh-CN"/>
              <a:t>and</a:t>
            </a:r>
            <a:r>
              <a:rPr kumimoji="1" lang="zh-CN" altLang="en-US"/>
              <a:t> </a:t>
            </a:r>
            <a:r>
              <a:rPr kumimoji="1" lang="en-US" altLang="zh-CN"/>
              <a:t>fig.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3747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B907F-A0B2-D767-F60E-9B9690F4F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F59BB7-B6A4-00E1-B95A-730FE5DE5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E81D1E-EF85-A538-29D6-16C38DFC6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Point</a:t>
            </a:r>
            <a:r>
              <a:rPr kumimoji="1" lang="zh-CN" altLang="en-US"/>
              <a:t> </a:t>
            </a:r>
            <a:r>
              <a:rPr kumimoji="1" lang="en-US" altLang="zh-CN" dirty="0"/>
              <a:t>out</a:t>
            </a:r>
            <a:r>
              <a:rPr kumimoji="1" lang="zh-CN" altLang="en-US"/>
              <a:t> </a:t>
            </a:r>
            <a:r>
              <a:rPr kumimoji="1" lang="en-US" altLang="zh-CN" dirty="0"/>
              <a:t>the</a:t>
            </a:r>
            <a:r>
              <a:rPr kumimoji="1" lang="zh-CN" altLang="en-US"/>
              <a:t> </a:t>
            </a:r>
            <a:r>
              <a:rPr kumimoji="1" lang="en-US" altLang="zh-CN" dirty="0"/>
              <a:t>relationship</a:t>
            </a:r>
            <a:r>
              <a:rPr kumimoji="1" lang="zh-CN" altLang="en-US"/>
              <a:t> </a:t>
            </a:r>
            <a:r>
              <a:rPr kumimoji="1" lang="en-US" altLang="zh-CN" dirty="0"/>
              <a:t>between</a:t>
            </a:r>
            <a:r>
              <a:rPr kumimoji="1" lang="zh-CN" altLang="en-US"/>
              <a:t> </a:t>
            </a:r>
            <a:r>
              <a:rPr kumimoji="1" lang="en-US" altLang="zh-CN" dirty="0"/>
              <a:t>text</a:t>
            </a:r>
            <a:r>
              <a:rPr kumimoji="1" lang="zh-CN" altLang="en-US"/>
              <a:t> </a:t>
            </a:r>
            <a:r>
              <a:rPr kumimoji="1" lang="en-US" altLang="zh-CN" dirty="0"/>
              <a:t>and</a:t>
            </a:r>
            <a:r>
              <a:rPr kumimoji="1" lang="zh-CN" altLang="en-US"/>
              <a:t> </a:t>
            </a:r>
            <a:r>
              <a:rPr kumimoji="1" lang="en-US" altLang="zh-CN" dirty="0"/>
              <a:t>fig.</a:t>
            </a:r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0F9BAE-E871-1C1D-5B85-10032B7801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1266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C4685-96C0-3A06-EF00-A6ADAD6A6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32E75ED-156D-80E2-2475-D1AC6EE7B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A61BBF-FC8D-50CB-DB2C-32751567A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Show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highlight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long-range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connection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progression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graph</a:t>
            </a:r>
            <a:r>
              <a:rPr kumimoji="1" lang="zh-CN" altLang="en-US" dirty="0"/>
              <a:t>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</a:t>
            </a:r>
            <a:r>
              <a:rPr kumimoji="1" lang="en-US" altLang="zh-CN" dirty="0"/>
              <a:t>Present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result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F20142-F1C5-26B2-BBC5-274E3F67FD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19106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93DF7-13F6-34A8-8C41-26C46671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1FFB4B-4E95-9D75-AE8D-ED04A7D0D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54FB76-B93B-F061-2697-3A77103F4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!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1F2704-2F94-7571-9B93-253C898BE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6340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944E4-60A8-C88B-28F8-500962F1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B0ABE39-D89C-FD2D-9BFA-F2497838E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4BF563-48CD-CC21-3C99-851B4E951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6CB871-8E0B-00C1-AA6E-94D9D95EF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57288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E890-AF70-61E6-6063-263E96C1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60FB73-E5C7-99CF-97B5-38E016A2D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0B3D50-901D-2DF7-B3A9-2BC1A7CEA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100</a:t>
            </a:r>
            <a:r>
              <a:rPr lang="zh-CN" altLang="en-US" dirty="0"/>
              <a:t> </a:t>
            </a:r>
            <a:r>
              <a:rPr lang="en-US" altLang="zh-CN" dirty="0"/>
              <a:t>recall@100: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Top-100,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items</a:t>
            </a:r>
            <a:r>
              <a:rPr lang="zh-CN" altLang="en-US" dirty="0"/>
              <a:t> </a:t>
            </a:r>
            <a:r>
              <a:rPr lang="en-US" altLang="zh-CN" dirty="0"/>
              <a:t>match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36A192-63A8-3F23-9C7E-78A946CC4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1876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C7DAF-4F22-2775-9B5F-6546C60BC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3DD04A87-8C2D-D64E-F279-10034476C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F551A86-E5E8-97D4-A1A9-A4FDE463D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0866D1-ED7F-4A56-CA25-F00B9522D7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15709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EF23A-B3AB-F8EE-6C8A-1B1BBE1F8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12E39B-88E4-0FDA-621B-0CA933395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75A357B-EC78-2923-E8EB-40077A09A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points.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17EDA2-F945-F4E9-923C-B7D238D012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0439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56556-B7B4-4326-2119-9A4F3D1BA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0AD748-81B9-CF82-BD27-32582CD7F9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A590F-BBBF-C94C-DD5B-09B17C261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Explain</a:t>
            </a:r>
            <a:r>
              <a:rPr kumimoji="1" lang="zh-CN" altLang="en-US" dirty="0"/>
              <a:t> </a:t>
            </a:r>
            <a:r>
              <a:rPr kumimoji="1" lang="en-US" altLang="zh-CN" dirty="0"/>
              <a:t>left</a:t>
            </a:r>
            <a:r>
              <a:rPr kumimoji="1" lang="zh-CN" altLang="en-US" dirty="0"/>
              <a:t> </a:t>
            </a:r>
            <a:r>
              <a:rPr kumimoji="1" lang="en-US" altLang="zh-CN" dirty="0"/>
              <a:t>texts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example.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Then,</a:t>
            </a:r>
            <a:r>
              <a:rPr kumimoji="1" lang="zh-CN" altLang="en-US" dirty="0"/>
              <a:t> </a:t>
            </a:r>
            <a:r>
              <a:rPr kumimoji="1" lang="en-US" altLang="zh-CN" dirty="0"/>
              <a:t>briefly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differences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PipeSearch.</a:t>
            </a:r>
          </a:p>
          <a:p>
            <a:r>
              <a:rPr lang="en-US" altLang="zh-CN" dirty="0"/>
              <a:t>Figure cited from: https://</a:t>
            </a:r>
            <a:r>
              <a:rPr lang="en-US" altLang="zh-CN" dirty="0" err="1"/>
              <a:t>www.usenix.org</a:t>
            </a:r>
            <a:r>
              <a:rPr lang="en-US" altLang="zh-CN" dirty="0"/>
              <a:t>/conference/osdi25/presentation/</a:t>
            </a:r>
            <a:r>
              <a:rPr lang="en-US" altLang="zh-CN" dirty="0" err="1"/>
              <a:t>guo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8E0913-BD4B-7B34-4F64-42D7ACFA5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58176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E3E8-1C89-2DC8-634D-366342E29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DF4F6E-F40D-6647-E933-1EB3961C1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1FF92E-6851-31D9-AB89-431CCEAC3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Figure&amp;text</a:t>
            </a:r>
            <a:r>
              <a:rPr lang="en-US" altLang="zh-CN" dirty="0"/>
              <a:t> cited from: https://</a:t>
            </a:r>
            <a:r>
              <a:rPr lang="en-US" altLang="zh-CN" dirty="0" err="1"/>
              <a:t>www.usenix.org</a:t>
            </a:r>
            <a:r>
              <a:rPr lang="en-US" altLang="zh-CN" dirty="0"/>
              <a:t>/conference/osdi25/presentation/</a:t>
            </a:r>
            <a:r>
              <a:rPr lang="en-US" altLang="zh-CN" dirty="0" err="1"/>
              <a:t>guo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003765-D595-7C47-05B9-0D9884E8C9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329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BF5D-3C8B-DE4E-AA42-AD7B64BB4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006DF4-7B9F-E7E2-FA2D-1D98E09DD1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0C3488-E410-B6E0-604B-7C7ED294D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Figure&amp;text</a:t>
            </a:r>
            <a:r>
              <a:rPr lang="en-US" altLang="zh-CN" dirty="0"/>
              <a:t> cited from: https://</a:t>
            </a:r>
            <a:r>
              <a:rPr lang="en-US" altLang="zh-CN" dirty="0" err="1"/>
              <a:t>www.usenix.org</a:t>
            </a:r>
            <a:r>
              <a:rPr lang="en-US" altLang="zh-CN" dirty="0"/>
              <a:t>/conference/osdi25/presentation/</a:t>
            </a:r>
            <a:r>
              <a:rPr lang="en-US" altLang="zh-CN" dirty="0" err="1"/>
              <a:t>guo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6F66A3-24E3-1A83-3054-6B531AD3F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87219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E1E4C-D43C-6B49-DB9A-7E0626434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240D63-F6A2-1ABB-2B96-1478C5E1A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10EA79-C016-88C8-184B-B5CB146F0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Figure&amp;text</a:t>
            </a:r>
            <a:r>
              <a:rPr lang="en-US" altLang="zh-CN" dirty="0"/>
              <a:t> cited from: https://</a:t>
            </a:r>
            <a:r>
              <a:rPr lang="en-US" altLang="zh-CN" dirty="0" err="1"/>
              <a:t>www.usenix.org</a:t>
            </a:r>
            <a:r>
              <a:rPr lang="en-US" altLang="zh-CN" dirty="0"/>
              <a:t>/conference/osdi25/presentation/</a:t>
            </a:r>
            <a:r>
              <a:rPr lang="en-US" altLang="zh-CN" dirty="0" err="1"/>
              <a:t>guo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43F19B-5E39-BB66-9F6A-D8FF318A7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63993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88F63-525A-424C-E188-840A3E46D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776ED11-C6C0-AB5B-C1CD-47412FE69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C13B2F-7470-BC3D-FE79-7918DE89E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100</a:t>
            </a:r>
            <a:r>
              <a:rPr lang="zh-CN" altLang="en-US" dirty="0"/>
              <a:t> </a:t>
            </a:r>
            <a:r>
              <a:rPr lang="en-US" altLang="zh-CN" dirty="0"/>
              <a:t>recall@100: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Top-100,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items</a:t>
            </a:r>
            <a:r>
              <a:rPr lang="zh-CN" altLang="en-US" dirty="0"/>
              <a:t> </a:t>
            </a:r>
            <a:r>
              <a:rPr lang="en-US" altLang="zh-CN" dirty="0"/>
              <a:t>match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C4259F-DF8F-B41C-76FB-AB112906AC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2952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2EDBB-BDF3-7541-5CF6-9C866856E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E9E5E6-28BC-762D-747D-2CAB5BBECE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7C8743-1D74-6B1E-1B08-0981D85D8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100</a:t>
            </a:r>
            <a:r>
              <a:rPr lang="zh-CN" altLang="en-US" dirty="0"/>
              <a:t> </a:t>
            </a:r>
            <a:r>
              <a:rPr lang="en-US" altLang="zh-CN" dirty="0"/>
              <a:t>recall@100: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Top-100,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items</a:t>
            </a:r>
            <a:r>
              <a:rPr lang="zh-CN" altLang="en-US" dirty="0"/>
              <a:t> </a:t>
            </a:r>
            <a:r>
              <a:rPr lang="en-US" altLang="zh-CN" dirty="0"/>
              <a:t>match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A616AC-0B19-2CF5-5F06-DF85DB348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81880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D6260-19A2-9624-03FB-BF3B52C7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ED8CF8-58B6-D8B7-D6F3-1700E5930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2AFF14-1665-1033-1D65-A8DC66836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100</a:t>
            </a:r>
            <a:r>
              <a:rPr lang="zh-CN" altLang="en-US" dirty="0"/>
              <a:t> </a:t>
            </a:r>
            <a:r>
              <a:rPr lang="en-US" altLang="zh-CN" dirty="0"/>
              <a:t>recall@100:</a:t>
            </a:r>
            <a:r>
              <a:rPr lang="zh-CN" altLang="en-US" dirty="0"/>
              <a:t> </a:t>
            </a:r>
            <a:r>
              <a:rPr lang="en-US" altLang="zh-CN" dirty="0"/>
              <a:t>given</a:t>
            </a:r>
            <a:r>
              <a:rPr lang="zh-CN" altLang="en-US" dirty="0"/>
              <a:t> </a:t>
            </a:r>
            <a:r>
              <a:rPr lang="en-US" altLang="zh-CN" dirty="0"/>
              <a:t>Top-100,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altLang="zh-CN" dirty="0"/>
              <a:t>many</a:t>
            </a:r>
            <a:r>
              <a:rPr lang="zh-CN" altLang="en-US" dirty="0"/>
              <a:t> </a:t>
            </a:r>
            <a:r>
              <a:rPr lang="en-US" altLang="zh-CN" dirty="0"/>
              <a:t>items</a:t>
            </a:r>
            <a:r>
              <a:rPr lang="zh-CN" altLang="en-US" dirty="0"/>
              <a:t> </a:t>
            </a:r>
            <a:r>
              <a:rPr lang="en-US" altLang="zh-CN" dirty="0"/>
              <a:t>match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13D11C-141E-5C8A-DE79-AD4B2D0C6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55885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63FE7-35C6-CE6F-D55E-B8033106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21C7FBC3-9260-E875-803E-941E504F01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99FD16-0D25-AA66-45A7-05DE76EC1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2E2057-6EFF-44A5-49EF-0308ED1C0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0778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C5531-07C2-59A1-EE37-A551818E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6AA634-7C2A-F7A9-43D3-558284C49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9E8767-0710-B7D1-8EC5-11B47EEBF3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Motivation: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 </a:t>
            </a:r>
            <a:r>
              <a:rPr kumimoji="1" lang="en-US" altLang="zh-CN" dirty="0"/>
              <a:t>is</a:t>
            </a:r>
            <a:r>
              <a:rPr kumimoji="1" lang="zh-CN" altLang="en-US" dirty="0"/>
              <a:t> </a:t>
            </a:r>
            <a:r>
              <a:rPr kumimoji="1" lang="en-US" altLang="zh-CN" dirty="0"/>
              <a:t>somehow</a:t>
            </a:r>
            <a:r>
              <a:rPr kumimoji="1" lang="zh-CN" altLang="en-US" dirty="0"/>
              <a:t> </a:t>
            </a:r>
            <a:r>
              <a:rPr kumimoji="1" lang="en-US" altLang="zh-CN" dirty="0"/>
              <a:t>different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from</a:t>
            </a:r>
            <a:r>
              <a:rPr kumimoji="1" lang="zh-CN" altLang="en-US" dirty="0"/>
              <a:t> </a:t>
            </a:r>
            <a:r>
              <a:rPr kumimoji="1" lang="en-US" altLang="zh-CN" dirty="0"/>
              <a:t>indexing: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queries</a:t>
            </a:r>
            <a:r>
              <a:rPr kumimoji="1" lang="zh-CN" altLang="en-US" dirty="0"/>
              <a:t> </a:t>
            </a:r>
            <a:r>
              <a:rPr kumimoji="1" lang="en-US" altLang="zh-CN" dirty="0"/>
              <a:t>arrive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random</a:t>
            </a:r>
            <a:r>
              <a:rPr kumimoji="1" lang="zh-CN" altLang="en-US" dirty="0"/>
              <a:t> </a:t>
            </a:r>
            <a:r>
              <a:rPr kumimoji="1" lang="en-US" altLang="zh-CN" dirty="0"/>
              <a:t>order,</a:t>
            </a:r>
            <a:r>
              <a:rPr kumimoji="1" lang="zh-CN" altLang="en-US" dirty="0"/>
              <a:t> </a:t>
            </a:r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 </a:t>
            </a:r>
            <a:r>
              <a:rPr kumimoji="1" lang="en-US" altLang="zh-CN" dirty="0"/>
              <a:t>access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multiple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clusters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graph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E42ED8-5F80-D8C9-B6E9-814F1D00BC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58204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99C42-3795-26C2-7CBC-DB2DF741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BDBA8E-B05B-0648-DF5B-DE924305B0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F4AF8F-82CD-7F99-13DE-E44AEB3A4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5EBF60-43CC-143D-AC4D-492C36EFA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00299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3D820-96DD-9EC8-2E6D-09041B71F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9BB101-51BB-EC90-C713-5F803D367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8EB3F2-31C6-4125-5920-DF95AD707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="1" dirty="0">
                <a:solidFill>
                  <a:srgbClr val="FF0000"/>
                </a:solidFill>
              </a:rPr>
              <a:t>No need to explain algorithm details.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1FBEB2-9582-4E53-DFC0-E205F8351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827814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7F8FA-4D15-DE36-A614-68F8B59A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DA297D4-FC72-9A64-09C8-4176597AB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4AD269-050D-5DDD-5CAF-5646E4492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="1" dirty="0">
                <a:solidFill>
                  <a:srgbClr val="FF0000"/>
                </a:solidFill>
              </a:rPr>
              <a:t>No need to explain algorithm details.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0604E4-9046-9B98-0FC3-3A9E6A98B8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75447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584D-D345-433D-42AB-3C3173889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81943C-25C6-8EA3-00A5-6449D52B1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20F664-9E25-DCC0-A862-3CC586A44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Skip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011DA2-5A1F-FB97-9D6D-9CF7E55C6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75070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CE75A-92B9-8D16-E39D-9814C6D05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797BED7-CBCE-5263-C908-B5493838D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D8856F-DDC7-5EAC-DD96-7C869FB66C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46845B-1D8F-60E9-86B8-E8363C7FF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99326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F6157-73A5-D060-AC8E-CE93C876B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>
            <a:extLst>
              <a:ext uri="{FF2B5EF4-FFF2-40B4-BE49-F238E27FC236}">
                <a16:creationId xmlns:a16="http://schemas.microsoft.com/office/drawing/2014/main" id="{49EE391B-FDCC-6395-34EE-7834F0806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EB0FA8E-2EAE-3A7A-90C2-700C56672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3984D01-0587-6CCE-2A1D-F95424DD7A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689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3C54-7608-3C9D-1BAE-B1FF1B95A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B365D4-93A1-D9E1-FB08-ED255E1E4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AF3F32-4591-13AB-95E8-3FC51A0AFA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5C4A04-5F08-F8DF-42E4-1894FAA1C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52059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1195F-F2E7-AF32-8A45-03959F7FB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136D66-92B1-B98F-A41A-744242887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4FD93F-22E8-AF1A-D367-DA59C7FBA7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72D1C2-B49C-77EA-007E-EDC297E6F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71421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1D5518-E2B7-47D3-A483-775D39982443}" type="slidenum">
              <a:rPr lang="zh-TW" altLang="en-US" smtClean="0"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7155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1471" y="1119913"/>
            <a:ext cx="11719229" cy="2169387"/>
          </a:xfrm>
        </p:spPr>
        <p:txBody>
          <a:bodyPr/>
          <a:lstStyle/>
          <a:p>
            <a:r>
              <a:rPr lang="en-US" altLang="zh-CN" sz="4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Beyond Algorithms : Hardware-Constrained Data Systems from Storage to Search</a:t>
            </a:r>
            <a:br>
              <a:rPr lang="en-US" altLang="zh-C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40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2026.01.27</a:t>
            </a:r>
            <a:endParaRPr lang="zh-TW" altLang="en-US" sz="4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2169387"/>
          </a:xfrm>
        </p:spPr>
        <p:txBody>
          <a:bodyPr/>
          <a:lstStyle/>
          <a:p>
            <a:r>
              <a:rPr lang="en-US" altLang="zh-CN"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Xixian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QI</a:t>
            </a:r>
          </a:p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(120090691)</a:t>
            </a: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386DA-4DA1-7214-2DBE-6D83E009A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CFFED1-5490-85A4-1E2E-7ECE14D5F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A80A5A7-93F7-336A-9D94-7FA992438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480663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(4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 (4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DiskANN (6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 Hitcher (6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(1 min)</a:t>
            </a:r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(3 min)</a:t>
            </a:r>
          </a:p>
          <a:p>
            <a:pPr lvl="6"/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AD20CBA4-52DB-AE8C-714A-0C72FE94D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3033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0044-0AB5-CE75-B298-900BF7463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FE8336-2D4E-CC97-58BC-02F637819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D72C6C-2871-F6E3-C1AF-A33013DA0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456660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(4 min)</a:t>
            </a:r>
            <a:endParaRPr lang="en-US" altLang="zh-TW" sz="2933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 (4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DiskANN (6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 Hitcher (6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(1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(3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4C4C5789-81FC-6D6F-FCEA-BC47356D9F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029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– Vector Search (1/4)</a:t>
            </a: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4D8AE41-E9DB-DC4B-0813-8BAB041C6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  <p:pic>
        <p:nvPicPr>
          <p:cNvPr id="8" name="内容占位符 7" descr="图示&#10;&#10;AI 生成的内容可能不正确。">
            <a:extLst>
              <a:ext uri="{FF2B5EF4-FFF2-40B4-BE49-F238E27FC236}">
                <a16:creationId xmlns:a16="http://schemas.microsoft.com/office/drawing/2014/main" id="{F7B11EFF-514A-E5AA-B682-E32875CC70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617" y="3079744"/>
            <a:ext cx="7438765" cy="2330457"/>
          </a:xfrm>
        </p:spPr>
      </p:pic>
      <p:sp>
        <p:nvSpPr>
          <p:cNvPr id="10" name="内容占位符 5">
            <a:extLst>
              <a:ext uri="{FF2B5EF4-FFF2-40B4-BE49-F238E27FC236}">
                <a16:creationId xmlns:a16="http://schemas.microsoft.com/office/drawing/2014/main" id="{A0B345B6-BA97-2177-D231-1EBD3FF4A033}"/>
              </a:ext>
            </a:extLst>
          </p:cNvPr>
          <p:cNvSpPr txBox="1">
            <a:spLocks/>
          </p:cNvSpPr>
          <p:nvPr/>
        </p:nvSpPr>
        <p:spPr bwMode="auto">
          <a:xfrm>
            <a:off x="1473201" y="1123264"/>
            <a:ext cx="9728200" cy="1954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vector search?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vector 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</a:t>
            </a:r>
            <a:r>
              <a:rPr lang="en-US" altLang="zh-CN" sz="2200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representation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label positioned in a geometric space, such that the 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between vectors 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encodes how similar or different those labels are.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A750AF0-9494-1574-9C7B-75276110EB64}"/>
              </a:ext>
            </a:extLst>
          </p:cNvPr>
          <p:cNvSpPr txBox="1"/>
          <p:nvPr/>
        </p:nvSpPr>
        <p:spPr>
          <a:xfrm>
            <a:off x="4562842" y="5414750"/>
            <a:ext cx="3016339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Visualization of a Vector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8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32387-3ED1-82DA-EA55-4F141EADB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0686CFA6-1368-7977-34C7-292C63049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5815"/>
            <a:ext cx="10972800" cy="4825573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vector search?</a:t>
            </a: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vector is a numerical representation of a label positioned in a geometric space, such that the distance between vectors encodes how similar or different those labels are.</a:t>
            </a:r>
          </a:p>
          <a:p>
            <a:pPr lvl="1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search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</a:t>
            </a:r>
            <a:r>
              <a:rPr lang="en-US" altLang="zh-CN" sz="2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most relevant items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comparing distances in a vector space, returning the items whose vectors lie closest to the query.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406635-05DA-35EB-5A96-84DD94583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– Vector Search (2/4)</a:t>
            </a: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9BB66A8-F025-D726-DD9E-D26B88E071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7050D06-6D50-6055-CD0A-82CF09786839}"/>
              </a:ext>
            </a:extLst>
          </p:cNvPr>
          <p:cNvGrpSpPr/>
          <p:nvPr/>
        </p:nvGrpSpPr>
        <p:grpSpPr>
          <a:xfrm>
            <a:off x="2824861" y="3282048"/>
            <a:ext cx="6542278" cy="2625624"/>
            <a:chOff x="2750780" y="3259188"/>
            <a:chExt cx="6542278" cy="2625624"/>
          </a:xfrm>
        </p:grpSpPr>
        <p:pic>
          <p:nvPicPr>
            <p:cNvPr id="13" name="图片 12" descr="图示&#10;&#10;AI 生成的内容可能不正确。">
              <a:extLst>
                <a:ext uri="{FF2B5EF4-FFF2-40B4-BE49-F238E27FC236}">
                  <a16:creationId xmlns:a16="http://schemas.microsoft.com/office/drawing/2014/main" id="{2DC46661-A62E-ED68-A3C1-48BF107BE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5005" y="3259188"/>
              <a:ext cx="2328053" cy="2625624"/>
            </a:xfrm>
            <a:prstGeom prst="rect">
              <a:avLst/>
            </a:prstGeom>
          </p:spPr>
        </p:pic>
        <p:pic>
          <p:nvPicPr>
            <p:cNvPr id="23" name="图片 22" descr="文本&#10;&#10;AI 生成的内容可能不正确。">
              <a:extLst>
                <a:ext uri="{FF2B5EF4-FFF2-40B4-BE49-F238E27FC236}">
                  <a16:creationId xmlns:a16="http://schemas.microsoft.com/office/drawing/2014/main" id="{E5D9BFEF-D302-ABB9-11D5-ACD1120EF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780" y="3371746"/>
              <a:ext cx="4214225" cy="2400508"/>
            </a:xfrm>
            <a:prstGeom prst="rect">
              <a:avLst/>
            </a:prstGeom>
          </p:spPr>
        </p:pic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1D2BE0F5-2659-8687-B3D0-2EAEABDC8E81}"/>
              </a:ext>
            </a:extLst>
          </p:cNvPr>
          <p:cNvSpPr txBox="1"/>
          <p:nvPr/>
        </p:nvSpPr>
        <p:spPr>
          <a:xfrm>
            <a:off x="4076255" y="5794674"/>
            <a:ext cx="3223831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Visualization of ANN (1/2)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781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B5B6E-E567-9F14-6C43-3E270FD2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119BCAF3-D473-7A16-7612-5C8BD2C49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5815"/>
            <a:ext cx="11254740" cy="4825573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and why is ANN?</a:t>
            </a:r>
          </a:p>
          <a:p>
            <a:pPr lvl="1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search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finds the true global nearest neighbors</a:t>
            </a:r>
          </a:p>
          <a:p>
            <a:pPr lvl="1"/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it is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expensive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compares the query against all vectors.</a:t>
            </a:r>
          </a:p>
          <a:p>
            <a:pPr marL="457176" lvl="1" indent="0">
              <a:buNone/>
            </a:pPr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 Nearest Neighbor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(ANN) methods relax this: </a:t>
            </a:r>
          </a:p>
          <a:p>
            <a:pPr marL="857206" lvl="2" indent="0">
              <a:buNone/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return for a small chance of missing the exact global minimum, ANN achieves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dramatically faster search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better scalability.</a:t>
            </a:r>
            <a:endParaRPr lang="zh-CN" altLang="en-US" sz="3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E3C03B-F767-1E03-85FF-05313A47B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1" y="144466"/>
            <a:ext cx="10722429" cy="692151"/>
          </a:xfrm>
        </p:spPr>
        <p:txBody>
          <a:bodyPr/>
          <a:lstStyle/>
          <a:p>
            <a:r>
              <a:rPr lang="en-US" altLang="zh-CN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– ANN (3/4)</a:t>
            </a:r>
            <a:endParaRPr lang="en-US" sz="4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0AC65B6-C63F-E176-802B-B0C3FF6A2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8427AFA-A4A5-0048-084C-C49E66FC00DD}"/>
              </a:ext>
            </a:extLst>
          </p:cNvPr>
          <p:cNvGrpSpPr/>
          <p:nvPr/>
        </p:nvGrpSpPr>
        <p:grpSpPr>
          <a:xfrm>
            <a:off x="3709315" y="3844164"/>
            <a:ext cx="4788132" cy="1892431"/>
            <a:chOff x="2750780" y="3259188"/>
            <a:chExt cx="6542278" cy="2625624"/>
          </a:xfrm>
        </p:grpSpPr>
        <p:pic>
          <p:nvPicPr>
            <p:cNvPr id="23" name="图片 22" descr="文本&#10;&#10;AI 生成的内容可能不正确。">
              <a:extLst>
                <a:ext uri="{FF2B5EF4-FFF2-40B4-BE49-F238E27FC236}">
                  <a16:creationId xmlns:a16="http://schemas.microsoft.com/office/drawing/2014/main" id="{634AB12A-9377-6FD1-E0AF-160A40D5C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780" y="3371746"/>
              <a:ext cx="4214225" cy="2400508"/>
            </a:xfrm>
            <a:prstGeom prst="rect">
              <a:avLst/>
            </a:prstGeom>
          </p:spPr>
        </p:pic>
        <p:pic>
          <p:nvPicPr>
            <p:cNvPr id="13" name="图片 12" descr="图示&#10;&#10;AI 生成的内容可能不正确。">
              <a:extLst>
                <a:ext uri="{FF2B5EF4-FFF2-40B4-BE49-F238E27FC236}">
                  <a16:creationId xmlns:a16="http://schemas.microsoft.com/office/drawing/2014/main" id="{AB7104D3-5584-5211-61DC-2B320BE4F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5005" y="3259188"/>
              <a:ext cx="2328053" cy="2625624"/>
            </a:xfrm>
            <a:prstGeom prst="rect">
              <a:avLst/>
            </a:prstGeom>
          </p:spPr>
        </p:pic>
      </p:grp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A218EE4F-BE85-A7FC-911B-E44149D1A690}"/>
              </a:ext>
            </a:extLst>
          </p:cNvPr>
          <p:cNvCxnSpPr/>
          <p:nvPr/>
        </p:nvCxnSpPr>
        <p:spPr bwMode="auto">
          <a:xfrm flipH="1">
            <a:off x="6937375" y="4941570"/>
            <a:ext cx="28575" cy="222885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380F8F8-183F-B0D2-5757-33CBACC96900}"/>
              </a:ext>
            </a:extLst>
          </p:cNvPr>
          <p:cNvCxnSpPr>
            <a:cxnSpLocks/>
          </p:cNvCxnSpPr>
          <p:nvPr/>
        </p:nvCxnSpPr>
        <p:spPr bwMode="auto">
          <a:xfrm>
            <a:off x="7026910" y="5324475"/>
            <a:ext cx="107315" cy="91757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E4E311F-73E5-F8D9-97E0-C422CC2B2286}"/>
              </a:ext>
            </a:extLst>
          </p:cNvPr>
          <p:cNvCxnSpPr>
            <a:cxnSpLocks/>
          </p:cNvCxnSpPr>
          <p:nvPr/>
        </p:nvCxnSpPr>
        <p:spPr bwMode="auto">
          <a:xfrm flipV="1">
            <a:off x="7328977" y="5324475"/>
            <a:ext cx="138623" cy="91757"/>
          </a:xfrm>
          <a:prstGeom prst="straightConnector1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21037DC-10DF-C03C-49A0-EE4020FF37F8}"/>
              </a:ext>
            </a:extLst>
          </p:cNvPr>
          <p:cNvCxnSpPr>
            <a:cxnSpLocks/>
          </p:cNvCxnSpPr>
          <p:nvPr/>
        </p:nvCxnSpPr>
        <p:spPr bwMode="auto">
          <a:xfrm>
            <a:off x="7623175" y="5267325"/>
            <a:ext cx="123825" cy="28575"/>
          </a:xfrm>
          <a:prstGeom prst="straightConnector1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551CD3C-DB3E-D12F-29F1-8CD8E05CFE5C}"/>
              </a:ext>
            </a:extLst>
          </p:cNvPr>
          <p:cNvCxnSpPr>
            <a:cxnSpLocks/>
          </p:cNvCxnSpPr>
          <p:nvPr/>
        </p:nvCxnSpPr>
        <p:spPr bwMode="auto">
          <a:xfrm>
            <a:off x="7908925" y="5370353"/>
            <a:ext cx="115447" cy="96997"/>
          </a:xfrm>
          <a:prstGeom prst="straightConnector1">
            <a:avLst/>
          </a:prstGeom>
          <a:ln w="12700"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AA8ABBA-27EB-35A5-39D1-108FBDDB651C}"/>
              </a:ext>
            </a:extLst>
          </p:cNvPr>
          <p:cNvSpPr txBox="1"/>
          <p:nvPr/>
        </p:nvSpPr>
        <p:spPr>
          <a:xfrm>
            <a:off x="7905750" y="5411724"/>
            <a:ext cx="4927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7F3AB7-305A-36CC-9F96-58E3037314AA}"/>
              </a:ext>
            </a:extLst>
          </p:cNvPr>
          <p:cNvSpPr txBox="1"/>
          <p:nvPr/>
        </p:nvSpPr>
        <p:spPr>
          <a:xfrm>
            <a:off x="4484084" y="5763961"/>
            <a:ext cx="3223831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3: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Visualization of ANN (2/2)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617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8833B-B673-18EB-62E5-C6DF16BC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66F81-6C31-CB5E-36DD-896A8B314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517721" cy="692151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4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ANN (4/4)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326431F0-372F-6C7A-F3A3-BCF05973E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412" y="1144621"/>
            <a:ext cx="6888480" cy="4087779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ANN (again)?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Alibaba runs a database with 2B vectors (several TB)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search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takes &gt;5min to compute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SSD!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 responds in 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~10ms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 orders faster)</a:t>
            </a:r>
            <a:endParaRPr lang="en-US" altLang="zh-CN" sz="2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76" lvl="1" indent="0">
              <a:lnSpc>
                <a:spcPct val="90000"/>
              </a:lnSpc>
              <a:buNone/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good is ANN?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</a:p>
          <a:p>
            <a:pPr lvl="1">
              <a:lnSpc>
                <a:spcPct val="90000"/>
              </a:lnSpc>
            </a:pP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</a:t>
            </a:r>
          </a:p>
          <a:p>
            <a:pPr lvl="1">
              <a:lnSpc>
                <a:spcPct val="90000"/>
              </a:lnSpc>
            </a:pP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pPr lvl="1">
              <a:lnSpc>
                <a:spcPct val="90000"/>
              </a:lnSpc>
            </a:pPr>
            <a:r>
              <a:rPr lang="en-US" altLang="zh-CN" sz="220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lang="zh-CN" altLang="en-US" sz="2200" strike="sngStrik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(trivial)</a:t>
            </a:r>
          </a:p>
          <a:p>
            <a:pPr lvl="1">
              <a:lnSpc>
                <a:spcPct val="90000"/>
              </a:lnSpc>
            </a:pPr>
            <a:endParaRPr lang="en-US" altLang="zh-CN" sz="1567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9FE5555-EF9C-B15B-A3D3-889AEC6EB2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pPr>
                <a:spcAft>
                  <a:spcPts val="600"/>
                </a:spcAft>
              </a:pPr>
              <a:t>7</a:t>
            </a:fld>
            <a:endParaRPr lang="zh-TW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21B38BD6-8A09-BE91-75A1-A9A7999970C4}"/>
              </a:ext>
            </a:extLst>
          </p:cNvPr>
          <p:cNvGrpSpPr/>
          <p:nvPr/>
        </p:nvGrpSpPr>
        <p:grpSpPr>
          <a:xfrm>
            <a:off x="7281749" y="1165100"/>
            <a:ext cx="4565239" cy="5031044"/>
            <a:chOff x="352201" y="1081833"/>
            <a:chExt cx="4565239" cy="5031044"/>
          </a:xfrm>
        </p:grpSpPr>
        <p:pic>
          <p:nvPicPr>
            <p:cNvPr id="16" name="图片 15" descr="图片包含 图形用户界面&#10;&#10;AI 生成的内容可能不正确。">
              <a:extLst>
                <a:ext uri="{FF2B5EF4-FFF2-40B4-BE49-F238E27FC236}">
                  <a16:creationId xmlns:a16="http://schemas.microsoft.com/office/drawing/2014/main" id="{7B1AD229-9E3A-050B-AAE6-4508FDFFB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201" y="1081833"/>
              <a:ext cx="4565239" cy="4694333"/>
            </a:xfrm>
            <a:prstGeom prst="rect">
              <a:avLst/>
            </a:prstGeom>
            <a:noFill/>
          </p:spPr>
        </p:pic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C30A0176-3CFE-201A-0B9A-74EEBC4315CD}"/>
                </a:ext>
              </a:extLst>
            </p:cNvPr>
            <p:cNvSpPr txBox="1"/>
            <p:nvPr/>
          </p:nvSpPr>
          <p:spPr>
            <a:xfrm>
              <a:off x="1135596" y="5774323"/>
              <a:ext cx="3342197" cy="338554"/>
            </a:xfrm>
            <a:prstGeom prst="rect">
              <a:avLst/>
            </a:prstGeom>
            <a:noFill/>
          </p:spPr>
          <p:txBody>
            <a:bodyPr wrap="none" rtlCol="0" anchor="ctr" anchorCtr="1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Figure</a:t>
              </a:r>
              <a:r>
                <a:rPr kumimoji="1" lang="zh-CN" altLang="en-US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4:</a:t>
              </a:r>
              <a:r>
                <a:rPr kumimoji="1" lang="zh-CN" altLang="en-US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1600" dirty="0">
                  <a:latin typeface="Times New Roman" panose="02020603050405020304" pitchFamily="18" charset="0"/>
                  <a:ea typeface="標楷體" pitchFamily="65" charset="-120"/>
                  <a:cs typeface="Times New Roman" panose="02020603050405020304" pitchFamily="18" charset="0"/>
                </a:rPr>
                <a:t>Searching an Item in Taobao</a:t>
              </a:r>
              <a:endPara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8807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3FAEF-C7EB-2E50-450C-EFC82A0AF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B72423-6673-910D-C73D-9CB7937F7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BFA938-4E13-E23F-148C-08021762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464661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(4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 (4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DiskANN (6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 Hitcher (6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(1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(3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61F451E4-A775-05D1-B4E5-658C7C709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8381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EE221-8BA6-11F1-B20A-2CF34722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AB607-D6AC-79C6-B8C1-241BAD7DF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867" y="144466"/>
            <a:ext cx="10902950" cy="69215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Background &amp; Overview: Best-First Search (1/6)</a:t>
            </a:r>
            <a:endParaRPr lang="en-US" sz="4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F387142-EFE2-14C5-DEBC-0A671FBA7F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  <p:sp>
        <p:nvSpPr>
          <p:cNvPr id="3" name="内容占位符 5">
            <a:extLst>
              <a:ext uri="{FF2B5EF4-FFF2-40B4-BE49-F238E27FC236}">
                <a16:creationId xmlns:a16="http://schemas.microsoft.com/office/drawing/2014/main" id="{1F167971-78C9-2C18-1981-165940526981}"/>
              </a:ext>
            </a:extLst>
          </p:cNvPr>
          <p:cNvSpPr txBox="1">
            <a:spLocks/>
          </p:cNvSpPr>
          <p:nvPr/>
        </p:nvSpPr>
        <p:spPr bwMode="auto">
          <a:xfrm>
            <a:off x="624994" y="1125537"/>
            <a:ext cx="9876465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ANNs can be categorized into:</a:t>
            </a:r>
          </a:p>
          <a:p>
            <a:pPr lvl="1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Hashing-based methods</a:t>
            </a:r>
          </a:p>
          <a:p>
            <a:pPr lvl="1"/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Tree-based methods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methods 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(best balance between metrics </a:t>
            </a:r>
            <a:r>
              <a:rPr lang="zh-CN" altLang="en-US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ea typeface="Calibri" panose="020F0502020204030204" pitchFamily="34" charset="0"/>
                <a:cs typeface="Calibri" panose="020F0502020204030204" pitchFamily="34" charset="0"/>
              </a:rPr>
              <a:t>Best-first search </a:t>
            </a:r>
            <a:r>
              <a:rPr lang="en-US" altLang="zh-CN" sz="2400" dirty="0">
                <a:ea typeface="Calibri" panose="020F0502020204030204" pitchFamily="34" charset="0"/>
                <a:cs typeface="Calibri" panose="020F0502020204030204" pitchFamily="34" charset="0"/>
              </a:rPr>
              <a:t>(norm of graph-based methods) involves 2 stages:</a:t>
            </a:r>
          </a:p>
          <a:p>
            <a:pPr lvl="1"/>
            <a:r>
              <a:rPr lang="en-US" altLang="zh-CN" sz="2200" u="sng" kern="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Index</a:t>
            </a:r>
            <a:r>
              <a:rPr lang="en-US" altLang="zh-CN" sz="2200" kern="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CN" altLang="en-US" sz="2200" kern="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200" kern="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recursively run</a:t>
            </a:r>
          </a:p>
          <a:p>
            <a:pPr lvl="2"/>
            <a:r>
              <a:rPr lang="en-US" altLang="zh-CN" sz="1667" kern="0" dirty="0">
                <a:solidFill>
                  <a:srgbClr val="7030A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Candidate Acquisition</a:t>
            </a:r>
            <a:endParaRPr lang="en-US" altLang="zh-CN" sz="1667" kern="0" dirty="0"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US" altLang="zh-CN" sz="1667" kern="0" dirty="0">
                <a:solidFill>
                  <a:srgbClr val="0070C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Neighbor Selection</a:t>
            </a:r>
            <a:endParaRPr lang="en-US" altLang="zh-CN" sz="1667" kern="0" dirty="0">
              <a:latin typeface="Times New Roman" panose="02020603050405020304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altLang="zh-CN" sz="2200" u="sng" kern="0" dirty="0">
                <a:latin typeface="Times New Roman" panose="020206030504050203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Query:</a:t>
            </a:r>
          </a:p>
          <a:p>
            <a:pPr marL="457176" lvl="1" indent="0">
              <a:buNone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Like Index phase, except filters Top-1 neighbors except Top-K ones.</a:t>
            </a: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3E272F3F-B7CF-6E26-63D3-40AF31DA7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2768" y="1125537"/>
            <a:ext cx="2278649" cy="455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E4F20F3-F035-F3EB-7022-649BE4C73A98}"/>
              </a:ext>
            </a:extLst>
          </p:cNvPr>
          <p:cNvSpPr txBox="1"/>
          <p:nvPr/>
        </p:nvSpPr>
        <p:spPr>
          <a:xfrm>
            <a:off x="8944782" y="5682834"/>
            <a:ext cx="3267241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5: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Index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phase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&amp;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Query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phase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238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188A7-FB25-BB9F-6B3E-FE0DD83AC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5">
            <a:extLst>
              <a:ext uri="{FF2B5EF4-FFF2-40B4-BE49-F238E27FC236}">
                <a16:creationId xmlns:a16="http://schemas.microsoft.com/office/drawing/2014/main" id="{678E2838-D3FB-5127-A356-BA1FB11A4551}"/>
              </a:ext>
            </a:extLst>
          </p:cNvPr>
          <p:cNvSpPr txBox="1">
            <a:spLocks/>
          </p:cNvSpPr>
          <p:nvPr/>
        </p:nvSpPr>
        <p:spPr bwMode="auto">
          <a:xfrm>
            <a:off x="525780" y="1268773"/>
            <a:ext cx="6553200" cy="144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best-first search work?</a:t>
            </a:r>
          </a:p>
          <a:p>
            <a:pPr marL="857230" lvl="2" indent="-457200">
              <a:buSzPct val="80000"/>
              <a:buFont typeface="+mj-lt"/>
              <a:buAutoNum type="arabicPeriod"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the entry point,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nearest unvisited vector </a:t>
            </a:r>
            <a:r>
              <a:rPr lang="en-US" altLang="zh-CN" sz="22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candidate pool</a:t>
            </a: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E3C9ED3-D198-F09A-14C8-95132DD84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39940" y="1268773"/>
            <a:ext cx="4442466" cy="639763"/>
          </a:xfrm>
        </p:spPr>
        <p:txBody>
          <a:bodyPr/>
          <a:lstStyle/>
          <a:p>
            <a:pPr algn="ctr"/>
            <a:r>
              <a:rPr lang="en-US" b="0"/>
              <a:t>Step 1: Select</a:t>
            </a:r>
          </a:p>
        </p:txBody>
      </p:sp>
      <p:pic>
        <p:nvPicPr>
          <p:cNvPr id="9" name="图片 8" descr="图示&#10;&#10;AI 生成的内容可能不正确。">
            <a:extLst>
              <a:ext uri="{FF2B5EF4-FFF2-40B4-BE49-F238E27FC236}">
                <a16:creationId xmlns:a16="http://schemas.microsoft.com/office/drawing/2014/main" id="{5E987406-F4A5-1C49-158A-9028E83FE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445" y="1925074"/>
            <a:ext cx="3215342" cy="3666781"/>
          </a:xfrm>
          <a:prstGeom prst="rect">
            <a:avLst/>
          </a:prstGeom>
          <a:noFill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7D0FA29-A384-69D5-F0C9-E8C684657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pPr>
                <a:spcAft>
                  <a:spcPts val="600"/>
                </a:spcAft>
              </a:pPr>
              <a:t>10</a:t>
            </a:fld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490DD-49FD-EB8C-D96B-F3F1D98F3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136846"/>
            <a:ext cx="10943167" cy="692151"/>
          </a:xfr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4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Overview: Best-First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400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earch</a:t>
            </a:r>
            <a:r>
              <a:rPr lang="en-US" altLang="zh-CN" sz="40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(2/6)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D8A378-A789-07A5-F9C9-5056DD7422E8}"/>
              </a:ext>
            </a:extLst>
          </p:cNvPr>
          <p:cNvSpPr txBox="1"/>
          <p:nvPr/>
        </p:nvSpPr>
        <p:spPr>
          <a:xfrm>
            <a:off x="7369281" y="5690546"/>
            <a:ext cx="4137671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6: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Visualization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Best-first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search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(1/4)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565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822F5-3151-C7EF-C8FE-E675164EC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5">
            <a:extLst>
              <a:ext uri="{FF2B5EF4-FFF2-40B4-BE49-F238E27FC236}">
                <a16:creationId xmlns:a16="http://schemas.microsoft.com/office/drawing/2014/main" id="{68B5F089-A632-3392-2B93-3FC2055A151B}"/>
              </a:ext>
            </a:extLst>
          </p:cNvPr>
          <p:cNvSpPr txBox="1">
            <a:spLocks/>
          </p:cNvSpPr>
          <p:nvPr/>
        </p:nvSpPr>
        <p:spPr bwMode="auto">
          <a:xfrm>
            <a:off x="525780" y="1268773"/>
            <a:ext cx="6553200" cy="184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best-first search work?</a:t>
            </a:r>
          </a:p>
          <a:p>
            <a:pPr marL="857230" lvl="2" indent="-457200">
              <a:buSzPct val="80000"/>
              <a:buFont typeface="+mj-lt"/>
              <a:buAutoNum type="arabicPeriod"/>
            </a:pPr>
            <a:r>
              <a:rPr lang="en-US" altLang="zh-CN" sz="2200" kern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the entry point,</a:t>
            </a:r>
            <a:r>
              <a:rPr lang="en-US" altLang="zh-CN" sz="2200">
                <a:latin typeface="Times New Roman" panose="02020603050405020304" pitchFamily="18" charset="0"/>
                <a:cs typeface="Times New Roman" panose="02020603050405020304" pitchFamily="18" charset="0"/>
              </a:rPr>
              <a:t> select the nearest unvisited vector 1 in the candidate pool</a:t>
            </a:r>
          </a:p>
          <a:p>
            <a:pPr marL="857230" lvl="2" indent="-457200">
              <a:buSzPct val="80000"/>
              <a:buFont typeface="+mj-lt"/>
              <a:buAutoNum type="arabicPeriod"/>
            </a:pPr>
            <a:r>
              <a:rPr lang="en-US" altLang="zh-CN" sz="2200" b="1" kern="0"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altLang="zh-CN" sz="2200" kern="0">
                <a:latin typeface="Times New Roman" panose="02020603050405020304" pitchFamily="18" charset="0"/>
                <a:cs typeface="Times New Roman" panose="02020603050405020304" pitchFamily="18" charset="0"/>
              </a:rPr>
              <a:t> its neighbor IDs </a:t>
            </a:r>
            <a:r>
              <a:rPr lang="en-US" altLang="zh-CN" sz="2200" ker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{2, 3, 4}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DB73453-A032-A5BA-070A-82A6387DC0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39940" y="1268773"/>
            <a:ext cx="4442466" cy="639763"/>
          </a:xfrm>
        </p:spPr>
        <p:txBody>
          <a:bodyPr/>
          <a:lstStyle/>
          <a:p>
            <a:pPr algn="ctr"/>
            <a:r>
              <a:rPr lang="en-US" b="0"/>
              <a:t>Step 2: </a:t>
            </a:r>
            <a:r>
              <a:rPr lang="en-US" b="0">
                <a:solidFill>
                  <a:srgbClr val="7030A0"/>
                </a:solidFill>
              </a:rPr>
              <a:t>Candidate Acquisition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352CD8E-F310-BD24-375B-54F389196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93507" y="1925637"/>
            <a:ext cx="3089218" cy="3519452"/>
          </a:xfrm>
          <a:prstGeom prst="rect">
            <a:avLst/>
          </a:prstGeom>
          <a:noFill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18718C9-35D7-E4D1-07E7-BF3BB42754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pPr>
                <a:spcAft>
                  <a:spcPts val="600"/>
                </a:spcAft>
              </a:pPr>
              <a:t>11</a:t>
            </a:fld>
            <a:endParaRPr lang="zh-TW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07B529E-E630-A93B-80B9-1B6616213DD5}"/>
              </a:ext>
            </a:extLst>
          </p:cNvPr>
          <p:cNvSpPr txBox="1">
            <a:spLocks/>
          </p:cNvSpPr>
          <p:nvPr/>
        </p:nvSpPr>
        <p:spPr bwMode="auto">
          <a:xfrm>
            <a:off x="1009650" y="136846"/>
            <a:ext cx="10943167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4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Overview: Best-First Search (3/6)</a:t>
            </a:r>
            <a:endParaRPr lang="en-US" sz="4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3C42409-BFBC-9846-7A03-0602B55F3F4E}"/>
              </a:ext>
            </a:extLst>
          </p:cNvPr>
          <p:cNvSpPr txBox="1"/>
          <p:nvPr/>
        </p:nvSpPr>
        <p:spPr>
          <a:xfrm>
            <a:off x="7369281" y="5589227"/>
            <a:ext cx="4137671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7: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Visualization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Best-first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search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(2/4)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808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6D26D-61D6-C98A-1BB0-46EA247C8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5">
            <a:extLst>
              <a:ext uri="{FF2B5EF4-FFF2-40B4-BE49-F238E27FC236}">
                <a16:creationId xmlns:a16="http://schemas.microsoft.com/office/drawing/2014/main" id="{E9CCA24B-CB84-F87B-84A8-7A134F21AEDB}"/>
              </a:ext>
            </a:extLst>
          </p:cNvPr>
          <p:cNvSpPr txBox="1">
            <a:spLocks/>
          </p:cNvSpPr>
          <p:nvPr/>
        </p:nvSpPr>
        <p:spPr bwMode="auto">
          <a:xfrm>
            <a:off x="525780" y="1268773"/>
            <a:ext cx="6553200" cy="23888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best-first search work?</a:t>
            </a:r>
          </a:p>
          <a:p>
            <a:pPr marL="857230" lvl="2" indent="-457200">
              <a:buSzPct val="80000"/>
              <a:buFont typeface="+mj-lt"/>
              <a:buAutoNum type="arabicPeriod"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the entry point,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the nearest unvisited vector 1 in the candidate pool</a:t>
            </a:r>
          </a:p>
          <a:p>
            <a:pPr marL="857230" lvl="2" indent="-457200">
              <a:buSzPct val="80000"/>
              <a:buFont typeface="+mj-lt"/>
              <a:buAutoNum type="arabicPeriod"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its neighbor IDs {2, 3, 4}</a:t>
            </a:r>
          </a:p>
          <a:p>
            <a:pPr marL="857230" lvl="2" indent="-457200">
              <a:buSzPct val="80000"/>
              <a:buFont typeface="+mj-lt"/>
              <a:buAutoNum type="arabicPeriod"/>
            </a:pP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neighbors’ (</a:t>
            </a:r>
            <a:r>
              <a:rPr lang="en-US" altLang="zh-CN" sz="2200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{2, 3, 4}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distances to the target vector </a:t>
            </a:r>
            <a:r>
              <a:rPr lang="en-US" altLang="zh-CN" sz="2200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</a:p>
          <a:p>
            <a:pPr marL="857230" lvl="2" indent="-457200">
              <a:buSzPct val="80000"/>
              <a:buFont typeface="+mj-lt"/>
              <a:buAutoNum type="arabicPeriod"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0C62F6B-9998-D042-E0F0-7D0C610BB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39940" y="1268773"/>
            <a:ext cx="4442466" cy="639763"/>
          </a:xfrm>
        </p:spPr>
        <p:txBody>
          <a:bodyPr/>
          <a:lstStyle/>
          <a:p>
            <a:pPr algn="ctr"/>
            <a:r>
              <a:rPr lang="en-US" b="0"/>
              <a:t>Step 3: </a:t>
            </a:r>
            <a:r>
              <a:rPr lang="en-US" b="0">
                <a:solidFill>
                  <a:srgbClr val="0070C0"/>
                </a:solidFill>
              </a:rPr>
              <a:t>Neighbor Selection 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AB55541-F34F-37A7-090E-50449740D5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06663" y="1968361"/>
            <a:ext cx="3089218" cy="3493083"/>
          </a:xfrm>
          <a:prstGeom prst="rect">
            <a:avLst/>
          </a:prstGeom>
          <a:noFill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0C6B257-141D-05A1-C8E4-6EF475F112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pPr>
                <a:spcAft>
                  <a:spcPts val="600"/>
                </a:spcAft>
              </a:pPr>
              <a:t>12</a:t>
            </a:fld>
            <a:endParaRPr lang="zh-TW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533995-A86A-2A53-05B4-2E05A6DE11EC}"/>
              </a:ext>
            </a:extLst>
          </p:cNvPr>
          <p:cNvSpPr txBox="1">
            <a:spLocks/>
          </p:cNvSpPr>
          <p:nvPr/>
        </p:nvSpPr>
        <p:spPr bwMode="auto">
          <a:xfrm>
            <a:off x="1009650" y="136846"/>
            <a:ext cx="10943167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4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Overview: Best-First Search (4/6)</a:t>
            </a:r>
            <a:endParaRPr lang="en-US" sz="4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6EAE78-9255-7B5D-4A56-42F272B360FD}"/>
              </a:ext>
            </a:extLst>
          </p:cNvPr>
          <p:cNvSpPr txBox="1"/>
          <p:nvPr/>
        </p:nvSpPr>
        <p:spPr>
          <a:xfrm>
            <a:off x="7682437" y="5573819"/>
            <a:ext cx="4137671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8: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Visualization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Best-first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search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(3/4)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26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31A69-320C-585B-E3AE-054FACA3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5">
            <a:extLst>
              <a:ext uri="{FF2B5EF4-FFF2-40B4-BE49-F238E27FC236}">
                <a16:creationId xmlns:a16="http://schemas.microsoft.com/office/drawing/2014/main" id="{F1497D71-7315-7D79-25DF-5EC7312BA7BA}"/>
              </a:ext>
            </a:extLst>
          </p:cNvPr>
          <p:cNvSpPr txBox="1">
            <a:spLocks/>
          </p:cNvSpPr>
          <p:nvPr/>
        </p:nvSpPr>
        <p:spPr bwMode="auto">
          <a:xfrm>
            <a:off x="525780" y="1268773"/>
            <a:ext cx="6553200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best-first search work?</a:t>
            </a:r>
          </a:p>
          <a:p>
            <a:pPr marL="857230" lvl="2" indent="-457200">
              <a:buSzPct val="80000"/>
              <a:buFont typeface="+mj-lt"/>
              <a:buAutoNum type="arabicPeriod"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the entry point,</a:t>
            </a:r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 the nearest unvisited vector 1 in the candidate pool</a:t>
            </a:r>
          </a:p>
          <a:p>
            <a:pPr marL="857230" lvl="2" indent="-457200">
              <a:buSzPct val="80000"/>
              <a:buFont typeface="+mj-lt"/>
              <a:buAutoNum type="arabicPeriod"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its neighbor IDs {2, 3, 4}</a:t>
            </a:r>
          </a:p>
          <a:p>
            <a:pPr marL="857230" lvl="2" indent="-457200">
              <a:buSzPct val="80000"/>
              <a:buFont typeface="+mj-lt"/>
              <a:buAutoNum type="arabicPeriod"/>
            </a:pP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its neighbors’ ({2, 3, 4}) distances to the target vector *</a:t>
            </a:r>
          </a:p>
          <a:p>
            <a:pPr marL="857230" lvl="2" indent="-457200">
              <a:buSzPct val="80000"/>
              <a:buFont typeface="+mj-lt"/>
              <a:buAutoNum type="arabicPeriod"/>
            </a:pP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 neighbors to the candidate pool, sort them, mark </a:t>
            </a:r>
            <a:r>
              <a:rPr lang="en-US" altLang="zh-CN" sz="2200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visited</a:t>
            </a:r>
          </a:p>
          <a:p>
            <a:pPr marL="857208" lvl="3" indent="0">
              <a:buSzPct val="80000"/>
              <a:buNone/>
            </a:pPr>
            <a:r>
              <a:rPr lang="en-US" altLang="zh-CN" sz="1933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(Candidate Pool:</a:t>
            </a:r>
            <a:r>
              <a:rPr lang="en-US" altLang="zh-CN" sz="1933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{(#2, 6), (#4, 9), (#3, 10)}</a:t>
            </a:r>
            <a:r>
              <a:rPr lang="en-US" altLang="zh-CN" sz="1933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857230" lvl="2" indent="-457200">
              <a:buSzPct val="80000"/>
              <a:buFont typeface="+mj-lt"/>
              <a:buAutoNum type="arabicPeriod"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30" lvl="2" indent="-457200">
              <a:buSzPct val="80000"/>
              <a:buFont typeface="+mj-lt"/>
              <a:buAutoNum type="arabicPeriod"/>
            </a:pPr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buSzPct val="80000"/>
              <a:buNone/>
            </a:pP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the process until no nearer node detected.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000DE19-B384-8A2E-FDB9-DDAFA29D4F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39940" y="1268773"/>
            <a:ext cx="4442466" cy="639763"/>
          </a:xfrm>
        </p:spPr>
        <p:txBody>
          <a:bodyPr/>
          <a:lstStyle/>
          <a:p>
            <a:pPr algn="ctr"/>
            <a:r>
              <a:rPr lang="en-US" b="0"/>
              <a:t>Step 4: Candidate Pool Update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5217646-032B-F47E-9332-82C4F91C5D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fld id="{D9B6BDF2-6896-4B98-8776-C18582F63BA5}" type="slidenum">
              <a:rPr lang="zh-TW" altLang="en-US" smtClean="0"/>
              <a:pPr>
                <a:spcAft>
                  <a:spcPts val="600"/>
                </a:spcAft>
              </a:pPr>
              <a:t>13</a:t>
            </a:fld>
            <a:endParaRPr lang="zh-TW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19B9CA2-43BA-AB3E-BDA8-9B3384BAEAD1}"/>
              </a:ext>
            </a:extLst>
          </p:cNvPr>
          <p:cNvSpPr txBox="1">
            <a:spLocks/>
          </p:cNvSpPr>
          <p:nvPr/>
        </p:nvSpPr>
        <p:spPr bwMode="auto">
          <a:xfrm>
            <a:off x="1009650" y="136846"/>
            <a:ext cx="10943167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4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Overview: Best-First Search (5/6)</a:t>
            </a:r>
            <a:endParaRPr lang="en-US" sz="4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580D070-F1A8-0B69-F509-3402C818B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26618" y="1915125"/>
            <a:ext cx="3249308" cy="3674102"/>
          </a:xfrm>
          <a:prstGeom prst="rect">
            <a:avLst/>
          </a:prstGeom>
          <a:noFill/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3C0BB55-3BA1-239A-EEDD-4D01B61F7220}"/>
              </a:ext>
            </a:extLst>
          </p:cNvPr>
          <p:cNvSpPr txBox="1"/>
          <p:nvPr/>
        </p:nvSpPr>
        <p:spPr>
          <a:xfrm>
            <a:off x="7682437" y="5715079"/>
            <a:ext cx="4137671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9: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Visualization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Best-first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search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(4/4)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641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A7DAD-86A7-F29C-95D9-D42921AF3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7FC67E1-9E2A-4124-B2D8-99CE6E881E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  <p:sp>
        <p:nvSpPr>
          <p:cNvPr id="3" name="内容占位符 5">
            <a:extLst>
              <a:ext uri="{FF2B5EF4-FFF2-40B4-BE49-F238E27FC236}">
                <a16:creationId xmlns:a16="http://schemas.microsoft.com/office/drawing/2014/main" id="{28C663C5-7D66-E92F-E77F-5AE34ECA11FF}"/>
              </a:ext>
            </a:extLst>
          </p:cNvPr>
          <p:cNvSpPr txBox="1">
            <a:spLocks/>
          </p:cNvSpPr>
          <p:nvPr/>
        </p:nvSpPr>
        <p:spPr bwMode="auto">
          <a:xfrm>
            <a:off x="1049338" y="1095057"/>
            <a:ext cx="10203026" cy="4785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Several algorithmic improvements on ANNs has been made.</a:t>
            </a:r>
          </a:p>
          <a:p>
            <a:pPr lvl="1"/>
            <a:r>
              <a:rPr lang="en-US" altLang="zh-CN" sz="20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navigable small world</a:t>
            </a:r>
            <a:r>
              <a:rPr lang="en-US" altLang="zh-CN" sz="2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(HNSW) with 2758 cites</a:t>
            </a:r>
          </a:p>
          <a:p>
            <a:pPr lvl="1"/>
            <a:r>
              <a:rPr lang="en-US" altLang="zh-CN" sz="2000" b="1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Navigating Spreading-out Graph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(NSG) with 578 cites</a:t>
            </a: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these algorithms improves algorithmic topology with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assumption that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entire graph fits in RAM.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 reality, ANNs suffer from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various hardware constraints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zh-CN" sz="2000" b="1" dirty="0"/>
              <a:t>Cache Misses:</a:t>
            </a:r>
            <a:r>
              <a:rPr lang="en-US" altLang="zh-CN" sz="2000" dirty="0"/>
              <a:t> Graph algorithms jump randomly between nodes.</a:t>
            </a:r>
          </a:p>
          <a:p>
            <a:pPr lvl="1"/>
            <a:r>
              <a:rPr lang="en-US" altLang="zh-CN" sz="2000" b="1" dirty="0"/>
              <a:t>OOM</a:t>
            </a:r>
            <a:r>
              <a:rPr lang="en-US" altLang="zh-CN" sz="2000" dirty="0"/>
              <a:t> (Out of Memory): the graph is too huge to fit in memory.</a:t>
            </a:r>
          </a:p>
          <a:p>
            <a:pPr lvl="1"/>
            <a:r>
              <a:rPr lang="en-US" altLang="zh-CN" sz="2000" b="1" dirty="0"/>
              <a:t>Read Amplification: </a:t>
            </a:r>
            <a:r>
              <a:rPr lang="en-US" altLang="zh-CN" sz="2000" dirty="0"/>
              <a:t>each vector (&lt;1024bits) is far smaller than the page size (4kb)</a:t>
            </a:r>
          </a:p>
          <a:p>
            <a:pPr lvl="1"/>
            <a:r>
              <a:rPr lang="en-US" altLang="zh-CN" sz="2000" b="1" dirty="0"/>
              <a:t>SIMD Under-utilization: </a:t>
            </a:r>
            <a:r>
              <a:rPr lang="en-US" altLang="zh-CN" sz="2000" dirty="0"/>
              <a:t>indirect bounds limit the capability of SIMD</a:t>
            </a:r>
          </a:p>
          <a:p>
            <a:pPr lvl="1"/>
            <a:r>
              <a:rPr lang="en-US" altLang="zh-CN" sz="2000" dirty="0"/>
              <a:t>…</a:t>
            </a:r>
          </a:p>
          <a:p>
            <a:r>
              <a:rPr lang="en-US" altLang="zh-CN" sz="2400" dirty="0"/>
              <a:t>Hardware flaws should be considered in algorithm design!</a:t>
            </a:r>
            <a:endParaRPr lang="en-US" altLang="zh-CN" sz="2000" dirty="0"/>
          </a:p>
          <a:p>
            <a:pPr lvl="1"/>
            <a:endParaRPr lang="en-US" altLang="zh-CN" sz="1867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76056BB-CF4A-5C92-FBF9-6672B8F982D8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049338" y="144463"/>
            <a:ext cx="10815002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4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Overview: Best-First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4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earch (6/6)</a:t>
            </a:r>
            <a:endParaRPr lang="en-US" sz="4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57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E7E2C-DBCB-1005-D896-34E7D62FA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63FDD6-107A-EED9-9F66-7FDF8BE8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19A219-7B8F-D2DF-4406-9283866D4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461232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(4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 (4 min)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DiskANN (6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 Hitcher (6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(1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(3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6FC957B-80EC-3D6C-D190-BE34FF58B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1973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0FFAB-23F1-43CC-0909-E078A2A2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E30AF07-FAAF-3CAF-F066-B977F0BD8F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  <p:sp>
        <p:nvSpPr>
          <p:cNvPr id="3" name="内容占位符 5">
            <a:extLst>
              <a:ext uri="{FF2B5EF4-FFF2-40B4-BE49-F238E27FC236}">
                <a16:creationId xmlns:a16="http://schemas.microsoft.com/office/drawing/2014/main" id="{86CB81E1-30CB-4FC7-8EFF-90A1090CAFB9}"/>
              </a:ext>
            </a:extLst>
          </p:cNvPr>
          <p:cNvSpPr txBox="1">
            <a:spLocks/>
          </p:cNvSpPr>
          <p:nvPr/>
        </p:nvSpPr>
        <p:spPr bwMode="auto">
          <a:xfrm>
            <a:off x="289969" y="1325880"/>
            <a:ext cx="7985814" cy="3440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265" indent="-342265"/>
            <a:r>
              <a:rPr lang="en-US" altLang="zh-CN" sz="2400" dirty="0">
                <a:latin typeface="Times New Roman"/>
                <a:ea typeface="標楷體"/>
                <a:cs typeface="Calibri"/>
              </a:rPr>
              <a:t>Index (offline): </a:t>
            </a:r>
            <a:endParaRPr lang="en-US" sz="2400" dirty="0">
              <a:latin typeface="Times New Roman"/>
              <a:ea typeface="標楷體"/>
              <a:cs typeface="Calibri"/>
            </a:endParaRPr>
          </a:p>
          <a:p>
            <a:pPr marL="0" indent="0" defTabSz="421200">
              <a:buNone/>
            </a:pPr>
            <a:r>
              <a:rPr lang="en-US" altLang="zh-CN" sz="2500" dirty="0">
                <a:latin typeface="Calibri"/>
                <a:ea typeface="標楷體"/>
                <a:cs typeface="Calibri"/>
              </a:rPr>
              <a:t>	</a:t>
            </a:r>
            <a:r>
              <a:rPr lang="en-US" altLang="zh-CN" sz="2000" dirty="0">
                <a:latin typeface="Calibri"/>
                <a:ea typeface="標楷體"/>
                <a:cs typeface="Calibri"/>
              </a:rPr>
              <a:t>both papers are I/O-aware to speed up </a:t>
            </a:r>
            <a:r>
              <a:rPr lang="en-US" altLang="zh-CN" sz="2000" kern="0" dirty="0">
                <a:solidFill>
                  <a:srgbClr val="7030A0"/>
                </a:solidFill>
                <a:latin typeface="Times New Roman"/>
                <a:ea typeface="Calibri"/>
                <a:cs typeface="Calibri"/>
              </a:rPr>
              <a:t>Candidate Acquisition</a:t>
            </a:r>
            <a:endParaRPr lang="en-US" altLang="zh-CN" sz="2000" dirty="0">
              <a:latin typeface="Times New Roman"/>
              <a:ea typeface="Calibri"/>
              <a:cs typeface="Calibri"/>
            </a:endParaRPr>
          </a:p>
          <a:p>
            <a:pPr marL="742315" lvl="1" indent="-285115"/>
            <a:r>
              <a:rPr lang="en-US" altLang="zh-CN" sz="2000" dirty="0">
                <a:latin typeface="Times New Roman"/>
                <a:ea typeface="標楷體"/>
                <a:cs typeface="Times New Roman"/>
              </a:rPr>
              <a:t>DiskANN</a:t>
            </a:r>
          </a:p>
          <a:p>
            <a:pPr marL="742315" lvl="1" indent="-285115"/>
            <a:r>
              <a:rPr lang="en-US" altLang="zh-CN" sz="2000" dirty="0" err="1">
                <a:latin typeface="Times New Roman"/>
                <a:ea typeface="標楷體"/>
                <a:cs typeface="Times New Roman"/>
              </a:rPr>
              <a:t>PipeANN</a:t>
            </a:r>
            <a:endParaRPr lang="en-US" altLang="zh-CN" sz="2000" dirty="0">
              <a:cs typeface="Calibri" pitchFamily="34" charset="0"/>
            </a:endParaRPr>
          </a:p>
          <a:p>
            <a:pPr marL="342265" indent="-342265">
              <a:buFont typeface="Wingdings" charset="0"/>
              <a:buChar char="l"/>
            </a:pPr>
            <a:endParaRPr lang="en-US" altLang="zh-CN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indent="-342265">
              <a:buFont typeface="Wingdings" charset="0"/>
              <a:buChar char="l"/>
            </a:pPr>
            <a:r>
              <a:rPr lang="en-US" altLang="zh-CN" sz="2400" dirty="0">
                <a:latin typeface="Times New Roman"/>
                <a:ea typeface="標楷體"/>
                <a:cs typeface="Times New Roman"/>
              </a:rPr>
              <a:t>Query (online):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altLang="zh-CN" sz="2000" dirty="0">
                <a:solidFill>
                  <a:srgbClr val="7030A0"/>
                </a:solidFill>
                <a:latin typeface="Times New Roman"/>
                <a:ea typeface="標楷體"/>
                <a:cs typeface="Times New Roman"/>
              </a:rPr>
              <a:t>reorder the tasks</a:t>
            </a:r>
            <a:r>
              <a:rPr lang="en-US" altLang="zh-CN" sz="2000" dirty="0">
                <a:latin typeface="Times New Roman"/>
                <a:ea typeface="標楷體"/>
                <a:cs typeface="Times New Roman"/>
              </a:rPr>
              <a:t> in pipeline to fully utilize GPU parallelism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/>
            <a:r>
              <a:rPr lang="en-US" altLang="zh-CN" sz="2000" dirty="0">
                <a:latin typeface="Times New Roman"/>
                <a:ea typeface="標楷體"/>
                <a:cs typeface="Times New Roman"/>
              </a:rPr>
              <a:t>Hitcher</a:t>
            </a:r>
          </a:p>
          <a:p>
            <a:pPr marL="800100" lvl="1" indent="-342900"/>
            <a:endParaRPr lang="en-US" altLang="zh-C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315" lvl="1" indent="-285115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315" lvl="1" indent="-285115"/>
            <a:endParaRPr lang="en-US" altLang="zh-CN" sz="1867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indent="-342265"/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315" lvl="1" indent="-285115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indent="-342265"/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3206049-3397-1A15-CE6D-FA1D765EDE43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1049337" y="144463"/>
            <a:ext cx="11077544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2"/>
                </a:solidFill>
                <a:latin typeface="Calibri" pitchFamily="34" charset="0"/>
                <a:ea typeface="標楷體" pitchFamily="65" charset="-120"/>
                <a:cs typeface="MS Sans Serif"/>
              </a:defRPr>
            </a:lvl5pPr>
            <a:lvl6pPr marL="457177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6pPr>
            <a:lvl7pPr marL="914354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7pPr>
            <a:lvl8pPr marL="1371531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8pPr>
            <a:lvl9pPr marL="1828709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3001" b="1">
                <a:solidFill>
                  <a:schemeClr val="tx2"/>
                </a:solidFill>
                <a:latin typeface="MS Sans Serif"/>
                <a:ea typeface="MS Sans Serif"/>
                <a:cs typeface="MS Sans Serif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35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Evaluation: Overview</a:t>
            </a:r>
            <a:endParaRPr lang="en-US" sz="35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75573-4443-06AE-E3A8-11E481D20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299" y="3361752"/>
            <a:ext cx="2944927" cy="25019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CA1AF7-0CA7-3285-4A02-12B699CBA1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590" b="4248"/>
          <a:stretch>
            <a:fillRect/>
          </a:stretch>
        </p:blipFill>
        <p:spPr>
          <a:xfrm>
            <a:off x="8080779" y="1240042"/>
            <a:ext cx="4084376" cy="161549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8B84157-5FD1-1D3B-C3A7-F37F2AC0D4F8}"/>
              </a:ext>
            </a:extLst>
          </p:cNvPr>
          <p:cNvSpPr txBox="1"/>
          <p:nvPr/>
        </p:nvSpPr>
        <p:spPr>
          <a:xfrm>
            <a:off x="8119053" y="2778565"/>
            <a:ext cx="4007828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10(a):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I/O contributes more to Latency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3B3A92-3327-2D1C-4388-8A0BEBB34515}"/>
              </a:ext>
            </a:extLst>
          </p:cNvPr>
          <p:cNvSpPr txBox="1"/>
          <p:nvPr/>
        </p:nvSpPr>
        <p:spPr>
          <a:xfrm>
            <a:off x="8631085" y="5814676"/>
            <a:ext cx="3113353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10(b):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GPU task scheduling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153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FD72B-7409-ADB1-1B65-435409CC6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55551E-A952-ABDC-90F1-A486BA040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DEE821A-E8B7-A65C-A2BB-96F2D3441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4669473"/>
          </a:xfrm>
        </p:spPr>
        <p:txBody>
          <a:bodyPr>
            <a:noAutofit/>
          </a:bodyPr>
          <a:lstStyle/>
          <a:p>
            <a:pPr marL="342265" indent="-342265"/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(4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indent="-342265"/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 (4 min)</a:t>
            </a:r>
          </a:p>
          <a:p>
            <a:pPr marL="342265" indent="-342265"/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</a:p>
          <a:p>
            <a:pPr marL="742315" lvl="1" indent="-285115"/>
            <a:r>
              <a:rPr lang="en-US" altLang="zh-CN" sz="2400" dirty="0">
                <a:solidFill>
                  <a:srgbClr val="FF0000"/>
                </a:solidFill>
                <a:latin typeface="Times New Roman"/>
                <a:ea typeface="標楷體"/>
                <a:cs typeface="Times New Roman"/>
              </a:rPr>
              <a:t>Index: DiskANN (6 min)</a:t>
            </a:r>
          </a:p>
          <a:p>
            <a:pPr marL="742315" lvl="1" indent="-285115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</a:p>
          <a:p>
            <a:pPr marL="742315" lvl="1" indent="-285115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 Hitcher (6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Work (1 min)</a:t>
            </a:r>
          </a:p>
          <a:p>
            <a:pPr marL="342265" indent="-342265"/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265" indent="-342265"/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(3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1B84C061-AC46-63C4-6BEC-03EE40DAD3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966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337A3A8-A18E-BA84-C43F-B25DFE84E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56198"/>
            <a:ext cx="10517721" cy="69215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DiskANN: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(1/6)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C4D0DB-67CF-0B9C-BF5F-9682768896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DFC22260-1939-BED1-CE2F-50645A3E627F}"/>
              </a:ext>
            </a:extLst>
          </p:cNvPr>
          <p:cNvSpPr txBox="1">
            <a:spLocks/>
          </p:cNvSpPr>
          <p:nvPr/>
        </p:nvSpPr>
        <p:spPr bwMode="auto">
          <a:xfrm>
            <a:off x="321447" y="1301368"/>
            <a:ext cx="6097825" cy="454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mitigate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overhead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SSD,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DiskANN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Vamana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round-trips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indexing.</a:t>
            </a: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DiskANN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memory-disk architecture to balance high-speed query routing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endParaRPr lang="en-US" altLang="zh-CN" sz="20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asynchronous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to overlap I/O operations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176" lvl="1" indent="0">
              <a:buNone/>
            </a:pPr>
            <a:endParaRPr lang="en-US" altLang="zh-CN" sz="1467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B1DEAB-101E-53A8-E3BA-642BE6D34D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708" y="1394691"/>
            <a:ext cx="5323109" cy="406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364068A-8E52-51F4-5197-8E8C1E9F00BC}"/>
              </a:ext>
            </a:extLst>
          </p:cNvPr>
          <p:cNvSpPr txBox="1"/>
          <p:nvPr/>
        </p:nvSpPr>
        <p:spPr>
          <a:xfrm>
            <a:off x="7873502" y="5507002"/>
            <a:ext cx="3008644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11: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Workflow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DiskANN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11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FA630-29A7-1DFC-F075-13ABDE5BA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E988E67-0E61-AB28-F6A9-A3E9AD83E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68898"/>
            <a:ext cx="10517721" cy="69215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DiskANN: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Vamana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(2/6)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ACED0B-0132-BF8B-BA4B-6E1B6967E6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5">
                <a:extLst>
                  <a:ext uri="{FF2B5EF4-FFF2-40B4-BE49-F238E27FC236}">
                    <a16:creationId xmlns:a16="http://schemas.microsoft.com/office/drawing/2014/main" id="{E6E48897-B68C-C19B-771C-614CF065ABD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21447" y="1301368"/>
                <a:ext cx="6157412" cy="45441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82" indent="-342882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l"/>
                  <a:defRPr kumimoji="1" sz="3733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+mn-cs"/>
                  </a:defRPr>
                </a:lvl1pPr>
                <a:lvl2pPr marL="742913" indent="-285737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charset="0"/>
                  <a:buChar char="–"/>
                  <a:defRPr kumimoji="1" sz="32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2pPr>
                <a:lvl3pPr marL="1142943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667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3pPr>
                <a:lvl4pPr marL="1600121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4pPr>
                <a:lvl5pPr marL="2057298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3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5pPr>
                <a:lvl6pPr marL="2514476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652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829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007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Vamana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employs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phases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build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graphs:</a:t>
                </a:r>
              </a:p>
              <a:p>
                <a:pPr lvl="1"/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</a:t>
                </a:r>
                <a:r>
                  <a:rPr lang="zh-CN" altLang="en-US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Phase:</a:t>
                </a:r>
                <a:r>
                  <a:rPr lang="zh-CN" altLang="en-US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vertex has R randomly chosen out-neighbors.</a:t>
                </a:r>
                <a:r>
                  <a:rPr lang="zh-CN" altLang="en-US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zh-CN" altLang="en-US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</a:t>
                </a:r>
                <a:r>
                  <a:rPr lang="zh-CN" altLang="en-US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should</a:t>
                </a:r>
                <a:r>
                  <a:rPr lang="zh-CN" altLang="en-US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</a:t>
                </a:r>
                <a:r>
                  <a:rPr lang="zh-CN" altLang="en-US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kern="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well</a:t>
                </a:r>
                <a:r>
                  <a:rPr lang="zh-CN" altLang="en-US" sz="2000" kern="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kern="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connected</a:t>
                </a:r>
                <a:r>
                  <a:rPr lang="zh-CN" altLang="en-US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</a:t>
                </a:r>
                <a:r>
                  <a:rPr lang="zh-CN" altLang="en-US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</a:t>
                </a:r>
                <a:r>
                  <a:rPr lang="zh-CN" altLang="en-US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</a:t>
                </a:r>
                <a:r>
                  <a:rPr lang="zh-CN" altLang="en-US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sz="2000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func>
                      <m:funcPr>
                        <m:ctrlPr>
                          <a:rPr lang="en-US" altLang="zh-CN" sz="200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b="0" i="0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sz="2000" b="0" i="1" kern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endParaRPr lang="en-US" altLang="zh-CN" sz="2000" b="1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Vamana Indexing</a:t>
                </a:r>
                <a:r>
                  <a:rPr lang="zh-CN" altLang="en-US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Phase:</a:t>
                </a:r>
              </a:p>
              <a:p>
                <a:pPr lvl="2"/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Run the original best-first search algorithm to connect nearby nodes.</a:t>
                </a:r>
              </a:p>
              <a:p>
                <a:pPr lvl="2"/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node, neighbors whose distance </a:t>
                </a:r>
                <a:r>
                  <a:rPr lang="en-US" altLang="zh-CN" sz="2000" b="1" kern="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exceeds the shortest distance by a factor of </a:t>
                </a:r>
                <a:r>
                  <a:rPr lang="el-GR" altLang="zh-CN" sz="2000" b="1" kern="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α </a:t>
                </a:r>
                <a:r>
                  <a:rPr lang="en-US" altLang="zh-CN" sz="20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pruned.</a:t>
                </a:r>
              </a:p>
              <a:p>
                <a:pPr marL="457176" lvl="1" indent="0">
                  <a:buNone/>
                </a:pPr>
                <a:endParaRPr lang="en-US" altLang="zh-CN" sz="1467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内容占位符 5">
                <a:extLst>
                  <a:ext uri="{FF2B5EF4-FFF2-40B4-BE49-F238E27FC236}">
                    <a16:creationId xmlns:a16="http://schemas.microsoft.com/office/drawing/2014/main" id="{E6E48897-B68C-C19B-771C-614CF065A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447" y="1301368"/>
                <a:ext cx="6157412" cy="4544188"/>
              </a:xfrm>
              <a:prstGeom prst="rect">
                <a:avLst/>
              </a:prstGeom>
              <a:blipFill>
                <a:blip r:embed="rId3"/>
                <a:stretch>
                  <a:fillRect l="-823" t="-1114" r="-144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CC76A6F3-FDBC-F2A1-0F33-8B4116EDE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708" y="1394691"/>
            <a:ext cx="5323109" cy="406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3174554-E294-54F0-67D7-EFD7F026E501}"/>
              </a:ext>
            </a:extLst>
          </p:cNvPr>
          <p:cNvSpPr txBox="1"/>
          <p:nvPr/>
        </p:nvSpPr>
        <p:spPr>
          <a:xfrm>
            <a:off x="7873502" y="5507002"/>
            <a:ext cx="3016275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12: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Workflow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DiskANN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2839A3-17EF-1AE5-2587-05C3004A1E3B}"/>
              </a:ext>
            </a:extLst>
          </p:cNvPr>
          <p:cNvSpPr/>
          <p:nvPr/>
        </p:nvSpPr>
        <p:spPr bwMode="auto">
          <a:xfrm>
            <a:off x="9679709" y="1625600"/>
            <a:ext cx="1038549" cy="1025236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2148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3F329-6E29-6BAD-10D1-2874653E1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464F472-87C0-2A5C-56A4-ABCFB1AA8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43498"/>
            <a:ext cx="10517721" cy="69215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DiskANN: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Vamana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(3/6)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F2AA4C-BBBF-D0B8-17D0-BCDA22EF01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 dirty="0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33888457-F980-4226-811F-18E5498F0EE1}"/>
              </a:ext>
            </a:extLst>
          </p:cNvPr>
          <p:cNvSpPr txBox="1">
            <a:spLocks/>
          </p:cNvSpPr>
          <p:nvPr/>
        </p:nvSpPr>
        <p:spPr bwMode="auto">
          <a:xfrm>
            <a:off x="321446" y="1301368"/>
            <a:ext cx="6904543" cy="2127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Vamana Indexing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Phase:</a:t>
            </a:r>
          </a:p>
          <a:p>
            <a:pPr lvl="2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the original best-first search algorithm to connect nearby nodes.</a:t>
            </a:r>
          </a:p>
          <a:p>
            <a:pPr lvl="2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node, neighbors whose distance </a:t>
            </a:r>
            <a:r>
              <a:rPr lang="en-US" altLang="zh-CN" sz="2000" b="1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exceeds the shortest distance by a factor of </a:t>
            </a:r>
            <a:r>
              <a:rPr lang="el-GR" altLang="zh-CN" sz="2000" b="1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pruned.</a:t>
            </a:r>
          </a:p>
          <a:p>
            <a:pPr marL="457176" lvl="1" indent="0">
              <a:buNone/>
            </a:pPr>
            <a:endParaRPr lang="en-US" altLang="zh-CN" sz="1467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B6F387-F707-ACB1-DA4B-B7AA698BCA4F}"/>
              </a:ext>
            </a:extLst>
          </p:cNvPr>
          <p:cNvSpPr txBox="1"/>
          <p:nvPr/>
        </p:nvSpPr>
        <p:spPr>
          <a:xfrm>
            <a:off x="8173243" y="4599892"/>
            <a:ext cx="3315203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Algorithm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Robust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Prune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Algorithm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图片 6" descr="文本, 信件&#10;&#10;AI 生成的内容可能不正确。">
            <a:extLst>
              <a:ext uri="{FF2B5EF4-FFF2-40B4-BE49-F238E27FC236}">
                <a16:creationId xmlns:a16="http://schemas.microsoft.com/office/drawing/2014/main" id="{7C466A95-2752-4BCB-E797-7B58A3224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124" y="1616321"/>
            <a:ext cx="3001544" cy="29835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9894B69-DC4E-D50F-37E1-A5E2F91F4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332" y="3009139"/>
            <a:ext cx="5878575" cy="285206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37CB8D1B-93D5-518B-D2C8-EFE9F02E0121}"/>
              </a:ext>
            </a:extLst>
          </p:cNvPr>
          <p:cNvSpPr txBox="1"/>
          <p:nvPr/>
        </p:nvSpPr>
        <p:spPr>
          <a:xfrm>
            <a:off x="2513966" y="5767053"/>
            <a:ext cx="3103735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13: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Progression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the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graph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E4B4D07-DD29-21AD-3394-6849D88B8118}"/>
              </a:ext>
            </a:extLst>
          </p:cNvPr>
          <p:cNvSpPr txBox="1"/>
          <p:nvPr/>
        </p:nvSpPr>
        <p:spPr>
          <a:xfrm>
            <a:off x="7433544" y="5146761"/>
            <a:ext cx="4519273" cy="830997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2400" b="1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Result:</a:t>
            </a:r>
            <a:r>
              <a:rPr kumimoji="1" lang="zh-CN" altLang="en-US" sz="2400" b="1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Some</a:t>
            </a:r>
            <a:r>
              <a:rPr kumimoji="1" lang="zh-CN" altLang="en-US" sz="2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long-range</a:t>
            </a:r>
            <a:r>
              <a:rPr kumimoji="1" lang="zh-CN" altLang="en-US" sz="2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edges</a:t>
            </a:r>
            <a:r>
              <a:rPr kumimoji="1" lang="zh-CN" altLang="en-US" sz="2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are</a:t>
            </a:r>
            <a:r>
              <a:rPr kumimoji="1" lang="zh-CN" altLang="en-US" sz="2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maintained</a:t>
            </a:r>
            <a:r>
              <a:rPr kumimoji="1" lang="zh-CN" altLang="en-US" sz="2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to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reduce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#hops</a:t>
            </a:r>
            <a:r>
              <a:rPr kumimoji="1" lang="en-US" altLang="zh-CN" sz="2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!</a:t>
            </a:r>
            <a:endParaRPr kumimoji="1" lang="zh-CN" altLang="en-US" sz="24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5003AF99-2A47-C324-E8C0-675DF9211071}"/>
              </a:ext>
            </a:extLst>
          </p:cNvPr>
          <p:cNvCxnSpPr>
            <a:cxnSpLocks/>
          </p:cNvCxnSpPr>
          <p:nvPr/>
        </p:nvCxnSpPr>
        <p:spPr bwMode="auto">
          <a:xfrm>
            <a:off x="6298415" y="4773239"/>
            <a:ext cx="466027" cy="875564"/>
          </a:xfrm>
          <a:prstGeom prst="lin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D9CFDDEE-39D9-F8FF-A177-C28603CD90E3}"/>
              </a:ext>
            </a:extLst>
          </p:cNvPr>
          <p:cNvCxnSpPr>
            <a:cxnSpLocks/>
          </p:cNvCxnSpPr>
          <p:nvPr/>
        </p:nvCxnSpPr>
        <p:spPr bwMode="auto">
          <a:xfrm flipV="1">
            <a:off x="5869857" y="4946228"/>
            <a:ext cx="581527" cy="74867"/>
          </a:xfrm>
          <a:prstGeom prst="line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957960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7205F-BE95-1BDA-10C0-746515BCB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D7EDF77-DC6A-BEFB-ECAF-FD4BA0E53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68898"/>
            <a:ext cx="10517721" cy="69215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DiskANN: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DiskANN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(4/6)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9BB1D9-9650-7B1B-06C7-DBC87F7D4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85AA5354-37E9-4D62-8C7E-EC0EE65D763C}"/>
              </a:ext>
            </a:extLst>
          </p:cNvPr>
          <p:cNvSpPr txBox="1">
            <a:spLocks/>
          </p:cNvSpPr>
          <p:nvPr/>
        </p:nvSpPr>
        <p:spPr bwMode="auto">
          <a:xfrm>
            <a:off x="321447" y="1301368"/>
            <a:ext cx="6157412" cy="4068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DiskANN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two-tier storage hierarchy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zh-CN" alt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DRAM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navigates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nodes.</a:t>
            </a:r>
          </a:p>
          <a:p>
            <a:pPr lvl="1"/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expensive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Quantization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</a:p>
          <a:p>
            <a:pPr marL="0" indent="0">
              <a:buNone/>
            </a:pPr>
            <a:r>
              <a:rPr lang="zh-CN" alt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05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SSD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distances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candidate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pool.</a:t>
            </a:r>
          </a:p>
          <a:p>
            <a:pPr lvl="1"/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cheap</a:t>
            </a:r>
            <a:endParaRPr lang="en" altLang="zh-CN" sz="2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A5222E-3A90-5CC5-F435-BE599BD19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708" y="1394691"/>
            <a:ext cx="5323109" cy="406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7E2D537-1086-BB2A-4E68-166201D63A9E}"/>
              </a:ext>
            </a:extLst>
          </p:cNvPr>
          <p:cNvSpPr txBox="1"/>
          <p:nvPr/>
        </p:nvSpPr>
        <p:spPr>
          <a:xfrm>
            <a:off x="7873502" y="5507002"/>
            <a:ext cx="3016275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14: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Workflow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DiskANN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C052E5-FAC6-BAA3-F9C4-000BFE524CCD}"/>
              </a:ext>
            </a:extLst>
          </p:cNvPr>
          <p:cNvSpPr/>
          <p:nvPr/>
        </p:nvSpPr>
        <p:spPr bwMode="auto">
          <a:xfrm>
            <a:off x="7873502" y="2564780"/>
            <a:ext cx="3835278" cy="964077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2712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62CA3-E4FB-8A85-DD61-05D229A0B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E93D3C5-D9E4-5A00-6D97-5150ADB5C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708" y="1394691"/>
            <a:ext cx="5323109" cy="406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AA30F290-5EE7-BC50-F422-F22BCBDA7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19" y="171880"/>
            <a:ext cx="10517721" cy="69215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DiskANN: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(5/6)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38F844-2619-5544-060F-2456BF19F2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574317CD-C917-27ED-00F3-D88FD09D725B}"/>
              </a:ext>
            </a:extLst>
          </p:cNvPr>
          <p:cNvSpPr txBox="1">
            <a:spLocks/>
          </p:cNvSpPr>
          <p:nvPr/>
        </p:nvSpPr>
        <p:spPr bwMode="auto">
          <a:xfrm>
            <a:off x="321447" y="1301368"/>
            <a:ext cx="6157412" cy="454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176" lvl="1" indent="0">
              <a:buNone/>
            </a:pPr>
            <a:endParaRPr lang="en-US" altLang="zh-CN" sz="1867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705B477-5867-96F7-1F15-4D6E155D53C5}"/>
              </a:ext>
            </a:extLst>
          </p:cNvPr>
          <p:cNvSpPr txBox="1"/>
          <p:nvPr/>
        </p:nvSpPr>
        <p:spPr>
          <a:xfrm>
            <a:off x="7873502" y="5507002"/>
            <a:ext cx="3016275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16: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Workflow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DiskANN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36148B-E13C-B033-A986-BB65C6AEE60F}"/>
              </a:ext>
            </a:extLst>
          </p:cNvPr>
          <p:cNvSpPr/>
          <p:nvPr/>
        </p:nvSpPr>
        <p:spPr bwMode="auto">
          <a:xfrm>
            <a:off x="9618649" y="4174131"/>
            <a:ext cx="1111313" cy="1026082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813B2A77-5932-9DCE-D614-FFCD83300CF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73847" y="1453768"/>
                <a:ext cx="6157412" cy="21459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82" indent="-342882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80000"/>
                  <a:buFont typeface="Wingdings" pitchFamily="2" charset="2"/>
                  <a:buChar char="l"/>
                  <a:defRPr kumimoji="1" sz="3733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+mn-cs"/>
                  </a:defRPr>
                </a:lvl1pPr>
                <a:lvl2pPr marL="742913" indent="-285737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rgbClr val="0000FF"/>
                  </a:buClr>
                  <a:buSzPct val="90000"/>
                  <a:buFont typeface="Arial" charset="0"/>
                  <a:buChar char="–"/>
                  <a:defRPr kumimoji="1" sz="32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</a:defRPr>
                </a:lvl2pPr>
                <a:lvl3pPr marL="1142943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667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3pPr>
                <a:lvl4pPr marL="1600121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–"/>
                  <a:defRPr kumimoji="1" sz="2400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4pPr>
                <a:lvl5pPr marL="2057298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133">
                    <a:solidFill>
                      <a:schemeClr val="tx1"/>
                    </a:solidFill>
                    <a:latin typeface="Calibri" pitchFamily="34" charset="0"/>
                    <a:ea typeface="標楷體" pitchFamily="65" charset="-120"/>
                    <a:cs typeface="Calibri" pitchFamily="34" charset="0"/>
                  </a:defRPr>
                </a:lvl5pPr>
                <a:lvl6pPr marL="2514476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652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829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007" indent="-228589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r>
                  <a:rPr lang="en-US" altLang="zh-CN" sz="24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Beam</a:t>
                </a:r>
                <a:r>
                  <a:rPr lang="zh-CN" altLang="en-US" sz="24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Search</a:t>
                </a:r>
                <a:r>
                  <a:rPr lang="zh-CN" altLang="en-US" sz="2400" b="1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achieves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latency</a:t>
                </a:r>
                <a:r>
                  <a:rPr lang="zh-CN" altLang="en-US" sz="2400" kern="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hiding</a:t>
                </a:r>
                <a:r>
                  <a:rPr lang="zh-CN" altLang="en-US" sz="2400" kern="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through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fetching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batch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neighbors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simultaneously.</a:t>
                </a:r>
              </a:p>
              <a:p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beam widths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kern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should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carefully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selected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balance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latency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zh-CN" altLang="en-US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kern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throughput.</a:t>
                </a:r>
                <a:endParaRPr lang="en-US" altLang="zh-CN" sz="24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en-US" altLang="zh-CN" sz="1867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176" lvl="1" indent="0">
                  <a:buNone/>
                </a:pPr>
                <a:endParaRPr lang="en-US" altLang="zh-CN" sz="1867" kern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813B2A77-5932-9DCE-D614-FFCD83300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847" y="1453768"/>
                <a:ext cx="6157412" cy="2145959"/>
              </a:xfrm>
              <a:prstGeom prst="rect">
                <a:avLst/>
              </a:prstGeom>
              <a:blipFill>
                <a:blip r:embed="rId4"/>
                <a:stretch>
                  <a:fillRect l="-823" t="-235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7684DADF-FB21-47E1-0B78-4EC3075D4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532" y="3773873"/>
            <a:ext cx="5683241" cy="165210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7AEC78-ACAE-1EEB-BC82-40C5A0BA513E}"/>
              </a:ext>
            </a:extLst>
          </p:cNvPr>
          <p:cNvSpPr txBox="1"/>
          <p:nvPr/>
        </p:nvSpPr>
        <p:spPr>
          <a:xfrm>
            <a:off x="1218251" y="5486799"/>
            <a:ext cx="3935180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15: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Pipeline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beam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search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with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W=4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158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ABC5E-A86E-5ADE-F2BC-FF2C3BC3D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34DDF8-2AB7-BD7D-ABE7-BA873AE367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8FC2F3AA-30A2-E760-7243-52A503D3AA4B}"/>
              </a:ext>
            </a:extLst>
          </p:cNvPr>
          <p:cNvSpPr txBox="1">
            <a:spLocks/>
          </p:cNvSpPr>
          <p:nvPr/>
        </p:nvSpPr>
        <p:spPr bwMode="auto">
          <a:xfrm>
            <a:off x="613420" y="1355761"/>
            <a:ext cx="6597608" cy="923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SIFT1M,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GIST1M,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DEEP1M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FF25E63-6CE7-05B2-793F-B9A0A73E8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DiskANN: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r>
              <a:rPr kumimoji="1" lang="zh-CN" altLang="en-US" sz="4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4000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kumimoji="1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/6)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86BAEC1-C61D-231D-15AA-5904C55DF0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218"/>
          <a:stretch>
            <a:fillRect/>
          </a:stretch>
        </p:blipFill>
        <p:spPr>
          <a:xfrm>
            <a:off x="780832" y="2559501"/>
            <a:ext cx="11055789" cy="220168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BE76B8A-FFC0-2D6D-B38E-D8B25127248D}"/>
              </a:ext>
            </a:extLst>
          </p:cNvPr>
          <p:cNvSpPr txBox="1"/>
          <p:nvPr/>
        </p:nvSpPr>
        <p:spPr>
          <a:xfrm>
            <a:off x="2523772" y="4872467"/>
            <a:ext cx="7400937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17: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Latency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(microseconds)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vs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recall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plots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comparing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HNSW,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NSG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and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Vamana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704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D8165-E93B-4FA8-8C75-4A155B698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8949C6-D1A9-CB42-3C57-FAE838DB9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6805A9-5483-6D0E-22DF-EE3FF07DE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4692333"/>
          </a:xfrm>
        </p:spPr>
        <p:txBody>
          <a:bodyPr>
            <a:noAutofit/>
          </a:bodyPr>
          <a:lstStyle/>
          <a:p>
            <a:pPr marL="342265" indent="-342265"/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(4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indent="-342265"/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 (4 min)</a:t>
            </a:r>
          </a:p>
          <a:p>
            <a:pPr marL="342265" indent="-342265"/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</a:p>
          <a:p>
            <a:pPr marL="742315" lvl="1" indent="-285115"/>
            <a:r>
              <a:rPr lang="en-US" altLang="zh-CN" sz="2400" dirty="0">
                <a:latin typeface="Times New Roman"/>
                <a:ea typeface="標楷體"/>
                <a:cs typeface="Times New Roman"/>
              </a:rPr>
              <a:t>Index: DiskANN (6 min)</a:t>
            </a:r>
          </a:p>
          <a:p>
            <a:pPr marL="742315" lvl="1" indent="-285115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Index: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</a:p>
          <a:p>
            <a:pPr marL="742315" lvl="1" indent="-285115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 Hitcher (6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Work (1 min)</a:t>
            </a:r>
          </a:p>
          <a:p>
            <a:pPr marL="342265" indent="-342265"/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265" indent="-342265"/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(3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A0F06F0A-BD19-130B-49AF-190FF3A025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778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6096F-6260-E603-AEA3-D70204CF4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A17470C7-8DE2-4783-1AB9-FCDCDF87E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68898"/>
            <a:ext cx="10517721" cy="692151"/>
          </a:xfrm>
        </p:spPr>
        <p:txBody>
          <a:bodyPr/>
          <a:lstStyle/>
          <a:p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(1/8)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B7F9CE-3B82-0FBA-E57F-44D9C1D7BB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16E360E0-261E-DE61-268E-2A353F25D995}"/>
              </a:ext>
            </a:extLst>
          </p:cNvPr>
          <p:cNvSpPr txBox="1">
            <a:spLocks/>
          </p:cNvSpPr>
          <p:nvPr/>
        </p:nvSpPr>
        <p:spPr bwMode="auto">
          <a:xfrm>
            <a:off x="205700" y="1278219"/>
            <a:ext cx="7016903" cy="4694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DiskANN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good,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it’s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CN" altLang="en-US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perfect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latency: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gathering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I/O: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still requires synchronously waiting for all the I/O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finish.</a:t>
            </a:r>
            <a:endParaRPr lang="en-US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kern="0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PipeSearch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zh-CN" altLang="en-US" sz="24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ordering</a:t>
            </a:r>
            <a:r>
              <a:rPr lang="zh-CN" altLang="en-US" sz="24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zh-CN" altLang="en-US" sz="24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zh-CN" altLang="en-US" sz="24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Besides,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with: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zh-CN" altLang="en-US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lang="zh-CN" altLang="en-US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</a:p>
          <a:p>
            <a:pPr lvl="1"/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</a:t>
            </a:r>
            <a:r>
              <a:rPr lang="zh-CN" altLang="en-US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</a:t>
            </a:r>
            <a:r>
              <a:rPr lang="zh-CN" altLang="en-US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neighbor</a:t>
            </a:r>
            <a:r>
              <a:rPr lang="zh-CN" altLang="en-US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</a:t>
            </a:r>
          </a:p>
          <a:p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65951C-B220-821E-AC64-8CFFDDFF1C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043"/>
          <a:stretch>
            <a:fillRect/>
          </a:stretch>
        </p:blipFill>
        <p:spPr>
          <a:xfrm>
            <a:off x="7810560" y="2222339"/>
            <a:ext cx="4059993" cy="2685992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EBD7B202-3705-C189-3591-4BB1B085C36C}"/>
              </a:ext>
            </a:extLst>
          </p:cNvPr>
          <p:cNvSpPr txBox="1"/>
          <p:nvPr/>
        </p:nvSpPr>
        <p:spPr>
          <a:xfrm>
            <a:off x="7780536" y="5008954"/>
            <a:ext cx="4120039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18: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Comparison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between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two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algorithms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9948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2B543-CFC9-0F66-2514-A743213C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FCDD39A6-8558-FED0-DD0A-C57CACD6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68898"/>
            <a:ext cx="10517721" cy="692151"/>
          </a:xfrm>
        </p:spPr>
        <p:txBody>
          <a:bodyPr/>
          <a:lstStyle/>
          <a:p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PipeSearch</a:t>
            </a:r>
            <a:r>
              <a:rPr lang="zh-CN" altLang="en-US" sz="4000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(2/8)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9C052E-AB52-6DEF-4F84-7217F9D307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8BB16B9B-C896-04E2-E684-27ECA2FFDD4D}"/>
              </a:ext>
            </a:extLst>
          </p:cNvPr>
          <p:cNvSpPr txBox="1">
            <a:spLocks/>
          </p:cNvSpPr>
          <p:nvPr/>
        </p:nvSpPr>
        <p:spPr bwMode="auto">
          <a:xfrm>
            <a:off x="205701" y="1278219"/>
            <a:ext cx="6090928" cy="16154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PipeSearch</a:t>
            </a:r>
            <a:r>
              <a:rPr lang="zh-CN" altLang="en-US" sz="2400" b="1" kern="0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decouples load from compute.</a:t>
            </a:r>
            <a:endParaRPr lang="en-US" altLang="zh-CN" sz="2400" b="1" kern="0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💾 Pipeline not full, read.</a:t>
            </a:r>
          </a:p>
          <a:p>
            <a:pPr lvl="1"/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🛠️ Pipeline full, compute.</a:t>
            </a:r>
          </a:p>
          <a:p>
            <a:pPr lvl="1"/>
            <a:endParaRPr lang="en-US" altLang="zh-CN" sz="22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42DEC61-2856-F076-45E5-BD36F0E16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9068" y="1278219"/>
            <a:ext cx="3414530" cy="4840013"/>
          </a:xfrm>
          <a:prstGeom prst="rect">
            <a:avLst/>
          </a:prstGeom>
        </p:spPr>
      </p:pic>
      <p:graphicFrame>
        <p:nvGraphicFramePr>
          <p:cNvPr id="14" name="图示 13">
            <a:extLst>
              <a:ext uri="{FF2B5EF4-FFF2-40B4-BE49-F238E27FC236}">
                <a16:creationId xmlns:a16="http://schemas.microsoft.com/office/drawing/2014/main" id="{49F48AB0-D6EC-B267-D3AE-813CE9D390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0364931"/>
              </p:ext>
            </p:extLst>
          </p:nvPr>
        </p:nvGraphicFramePr>
        <p:xfrm>
          <a:off x="9572474" y="1812463"/>
          <a:ext cx="2414706" cy="4165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9" name="图片 18">
            <a:extLst>
              <a:ext uri="{FF2B5EF4-FFF2-40B4-BE49-F238E27FC236}">
                <a16:creationId xmlns:a16="http://schemas.microsoft.com/office/drawing/2014/main" id="{C1863F31-E091-8556-3A8B-B1BE4350A21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797"/>
          <a:stretch>
            <a:fillRect/>
          </a:stretch>
        </p:blipFill>
        <p:spPr>
          <a:xfrm>
            <a:off x="434116" y="3576576"/>
            <a:ext cx="5628817" cy="192218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C6AF5B6-7232-C5A6-6E36-7C82450CCC9A}"/>
              </a:ext>
            </a:extLst>
          </p:cNvPr>
          <p:cNvSpPr txBox="1"/>
          <p:nvPr/>
        </p:nvSpPr>
        <p:spPr>
          <a:xfrm>
            <a:off x="1830764" y="5498757"/>
            <a:ext cx="2738250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19: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PipeSearch Pipeline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B682631-E2D7-87A2-4756-B15A2B7D7ECF}"/>
              </a:ext>
            </a:extLst>
          </p:cNvPr>
          <p:cNvSpPr txBox="1"/>
          <p:nvPr/>
        </p:nvSpPr>
        <p:spPr>
          <a:xfrm>
            <a:off x="9478830" y="1459003"/>
            <a:ext cx="2601994" cy="307777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Algorithm</a:t>
            </a:r>
            <a:r>
              <a:rPr kumimoji="1" lang="zh-CN" altLang="en-US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2:</a:t>
            </a:r>
            <a:r>
              <a:rPr kumimoji="1" lang="zh-CN" altLang="en-US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PipeSearch Pipeline</a:t>
            </a:r>
            <a:endParaRPr kumimoji="1" lang="zh-CN" altLang="en-US" sz="14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343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92312-08B0-C4C0-D01C-569E62BF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D2CD087-917F-4244-8CE3-D89720EB5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56198"/>
            <a:ext cx="10517721" cy="692151"/>
          </a:xfrm>
        </p:spPr>
        <p:txBody>
          <a:bodyPr/>
          <a:lstStyle/>
          <a:p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(3/8)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E764BA-C9CB-E888-B6DA-A202350B5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4C3446D3-B901-778E-E1C2-B7F1C9BD1838}"/>
              </a:ext>
            </a:extLst>
          </p:cNvPr>
          <p:cNvSpPr txBox="1">
            <a:spLocks/>
          </p:cNvSpPr>
          <p:nvPr/>
        </p:nvSpPr>
        <p:spPr bwMode="auto">
          <a:xfrm>
            <a:off x="205700" y="1278219"/>
            <a:ext cx="6357146" cy="3306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W?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Wider: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speculative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</a:t>
            </a:r>
          </a:p>
          <a:p>
            <a:pPr lvl="1"/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Narrower: </a:t>
            </a:r>
            <a:r>
              <a:rPr lang="en" altLang="zh-CN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</a:t>
            </a:r>
            <a:r>
              <a:rPr lang="en" altLang="zh-CN" sz="20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best-first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reads</a:t>
            </a:r>
          </a:p>
          <a:p>
            <a:pPr lvl="1"/>
            <a:endParaRPr lang="en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dynamically adjusts it’s width.</a:t>
            </a:r>
          </a:p>
          <a:p>
            <a:r>
              <a:rPr lang="e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phase</a:t>
            </a:r>
            <a:r>
              <a:rPr lang="en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Smaller W</a:t>
            </a:r>
          </a:p>
          <a:p>
            <a:pPr lvl="1"/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useful but unvisited vectors</a:t>
            </a:r>
          </a:p>
          <a:p>
            <a:pPr lvl="1"/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Speculative reads leads to wastes</a:t>
            </a:r>
            <a:endParaRPr lang="en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67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67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A69C57A-05F8-BE39-C46D-CFF9F7E47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135" y="1353825"/>
            <a:ext cx="3813842" cy="4304733"/>
          </a:xfrm>
          <a:prstGeom prst="rect">
            <a:avLst/>
          </a:prstGeom>
        </p:spPr>
      </p:pic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2E42B6CB-06EF-7EDF-7659-75D7EA70B064}"/>
              </a:ext>
            </a:extLst>
          </p:cNvPr>
          <p:cNvCxnSpPr>
            <a:cxnSpLocks/>
          </p:cNvCxnSpPr>
          <p:nvPr/>
        </p:nvCxnSpPr>
        <p:spPr bwMode="auto">
          <a:xfrm>
            <a:off x="7999923" y="3826032"/>
            <a:ext cx="321752" cy="0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B3C19A3C-66EB-EC52-6199-FBA7D82C7CA7}"/>
              </a:ext>
            </a:extLst>
          </p:cNvPr>
          <p:cNvSpPr txBox="1"/>
          <p:nvPr/>
        </p:nvSpPr>
        <p:spPr>
          <a:xfrm>
            <a:off x="7999923" y="5769498"/>
            <a:ext cx="3174267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20: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Illustration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two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phases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369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635DC-586B-01EC-CD61-2B768DCA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0F8EAF-D42A-5986-0EDA-FF4A8074E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684" y="1341426"/>
            <a:ext cx="3810000" cy="4305300"/>
          </a:xfrm>
          <a:prstGeom prst="rect">
            <a:avLst/>
          </a:prstGeom>
        </p:spPr>
      </p:pic>
      <p:sp>
        <p:nvSpPr>
          <p:cNvPr id="5" name="标题 4">
            <a:extLst>
              <a:ext uri="{FF2B5EF4-FFF2-40B4-BE49-F238E27FC236}">
                <a16:creationId xmlns:a16="http://schemas.microsoft.com/office/drawing/2014/main" id="{20088C91-E682-704B-34A4-FDADD35B5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56198"/>
            <a:ext cx="10517721" cy="692151"/>
          </a:xfrm>
        </p:spPr>
        <p:txBody>
          <a:bodyPr/>
          <a:lstStyle/>
          <a:p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(4/8)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51AE25-9418-DB40-5289-AE7CA0936B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85F3F5F6-99A4-FDD4-971E-793454BA74D8}"/>
              </a:ext>
            </a:extLst>
          </p:cNvPr>
          <p:cNvSpPr txBox="1">
            <a:spLocks/>
          </p:cNvSpPr>
          <p:nvPr/>
        </p:nvSpPr>
        <p:spPr bwMode="auto">
          <a:xfrm>
            <a:off x="205700" y="1278219"/>
            <a:ext cx="6357146" cy="4763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optimal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I/O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W?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Wider: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speculative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</a:t>
            </a:r>
          </a:p>
          <a:p>
            <a:pPr lvl="1"/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Narrower: </a:t>
            </a:r>
            <a:r>
              <a:rPr lang="en" altLang="zh-CN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</a:t>
            </a:r>
            <a:r>
              <a:rPr lang="en" altLang="zh-CN" sz="2000" kern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best-first</a:t>
            </a:r>
            <a:r>
              <a:rPr lang="en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reads</a:t>
            </a:r>
          </a:p>
          <a:p>
            <a:pPr lvl="1"/>
            <a:endParaRPr lang="en" altLang="zh-CN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dynamically adjusts it’s width.</a:t>
            </a:r>
          </a:p>
          <a:p>
            <a:r>
              <a:rPr lang="e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phase</a:t>
            </a:r>
            <a:r>
              <a:rPr lang="en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" altLang="zh-CN" sz="2400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Smaller W</a:t>
            </a:r>
          </a:p>
          <a:p>
            <a:pPr lvl="1"/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useful for unvisited vectors</a:t>
            </a:r>
          </a:p>
          <a:p>
            <a:pPr lvl="1"/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Speculative reads leads to wastes</a:t>
            </a:r>
          </a:p>
          <a:p>
            <a:r>
              <a:rPr lang="e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 phase: </a:t>
            </a:r>
            <a:r>
              <a:rPr lang="en" altLang="zh-CN" sz="2400" kern="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Larger W</a:t>
            </a:r>
          </a:p>
          <a:p>
            <a:pPr lvl="1"/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useful for unvisited vectors</a:t>
            </a:r>
            <a:endParaRPr lang="en" altLang="zh-CN" sz="2200" kern="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2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Speculative leads to acceleration</a:t>
            </a:r>
          </a:p>
          <a:p>
            <a:endParaRPr lang="en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67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1667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CADC5248-789E-CE49-0B33-0A9363BBCF9A}"/>
              </a:ext>
            </a:extLst>
          </p:cNvPr>
          <p:cNvCxnSpPr>
            <a:cxnSpLocks/>
          </p:cNvCxnSpPr>
          <p:nvPr/>
        </p:nvCxnSpPr>
        <p:spPr bwMode="auto">
          <a:xfrm>
            <a:off x="8250918" y="3732977"/>
            <a:ext cx="349250" cy="0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6B17AB5E-4EB4-78A4-C857-9C01E79B4C8E}"/>
              </a:ext>
            </a:extLst>
          </p:cNvPr>
          <p:cNvCxnSpPr>
            <a:cxnSpLocks/>
          </p:cNvCxnSpPr>
          <p:nvPr/>
        </p:nvCxnSpPr>
        <p:spPr bwMode="auto">
          <a:xfrm>
            <a:off x="9018914" y="3732977"/>
            <a:ext cx="284821" cy="0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6CD35BAB-0B63-335F-DB91-94EA1AF19A63}"/>
              </a:ext>
            </a:extLst>
          </p:cNvPr>
          <p:cNvCxnSpPr>
            <a:cxnSpLocks/>
          </p:cNvCxnSpPr>
          <p:nvPr/>
        </p:nvCxnSpPr>
        <p:spPr bwMode="auto">
          <a:xfrm>
            <a:off x="9722481" y="3720760"/>
            <a:ext cx="306182" cy="168334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618366B2-C065-C241-025F-2A0BFDFA6003}"/>
              </a:ext>
            </a:extLst>
          </p:cNvPr>
          <p:cNvCxnSpPr>
            <a:cxnSpLocks/>
          </p:cNvCxnSpPr>
          <p:nvPr/>
        </p:nvCxnSpPr>
        <p:spPr bwMode="auto">
          <a:xfrm flipH="1">
            <a:off x="8505173" y="3925402"/>
            <a:ext cx="144049" cy="765595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3C396382-F639-7374-5C18-D6B3E7529CCC}"/>
              </a:ext>
            </a:extLst>
          </p:cNvPr>
          <p:cNvCxnSpPr>
            <a:cxnSpLocks/>
          </p:cNvCxnSpPr>
          <p:nvPr/>
        </p:nvCxnSpPr>
        <p:spPr bwMode="auto">
          <a:xfrm flipV="1">
            <a:off x="8758940" y="4752079"/>
            <a:ext cx="273703" cy="146957"/>
          </a:xfrm>
          <a:prstGeom prst="straightConnector1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CCD5FC16-8CCD-EAFD-4DDF-BB96DADFB091}"/>
              </a:ext>
            </a:extLst>
          </p:cNvPr>
          <p:cNvSpPr txBox="1"/>
          <p:nvPr/>
        </p:nvSpPr>
        <p:spPr>
          <a:xfrm>
            <a:off x="7945551" y="5781897"/>
            <a:ext cx="3174267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21: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Illustration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two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phases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897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4BA1A-A6D4-9EF9-F3FB-0319E3E94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D8C0B8CE-1A17-CF11-FBFF-B8769D6E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56198"/>
            <a:ext cx="10517721" cy="692151"/>
          </a:xfrm>
        </p:spPr>
        <p:txBody>
          <a:bodyPr/>
          <a:lstStyle/>
          <a:p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(5/8)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3C4A90-F073-905F-DE93-8AC5B454B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9F19E146-0BB9-25C3-95D7-719ED592258C}"/>
              </a:ext>
            </a:extLst>
          </p:cNvPr>
          <p:cNvSpPr txBox="1">
            <a:spLocks/>
          </p:cNvSpPr>
          <p:nvPr/>
        </p:nvSpPr>
        <p:spPr bwMode="auto">
          <a:xfrm>
            <a:off x="916336" y="1167182"/>
            <a:ext cx="10359327" cy="17613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multiple I/</a:t>
            </a:r>
            <a:r>
              <a:rPr lang="en-US" altLang="zh-CN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finish simultaneously, filling up the pipeline may make I/O miss the neighbor information.</a:t>
            </a:r>
          </a:p>
          <a:p>
            <a:pPr marL="0" indent="0">
              <a:buNone/>
            </a:pPr>
            <a:endParaRPr lang="en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I/O one by one </a:t>
            </a:r>
            <a:r>
              <a:rPr lang="en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the issue!</a:t>
            </a:r>
            <a:endParaRPr lang="en-US" altLang="zh-C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DFA59B6-C0C1-E433-0086-F9D65CF1D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192177"/>
            <a:ext cx="5856817" cy="25573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3CD9706-6B64-E0B1-2D5F-5AEDA3AD6D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330"/>
          <a:stretch>
            <a:fillRect/>
          </a:stretch>
        </p:blipFill>
        <p:spPr>
          <a:xfrm>
            <a:off x="239184" y="3250880"/>
            <a:ext cx="5585769" cy="243993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03A6B85-FFD7-841C-41AF-5BA744C8CB16}"/>
              </a:ext>
            </a:extLst>
          </p:cNvPr>
          <p:cNvSpPr txBox="1"/>
          <p:nvPr/>
        </p:nvSpPr>
        <p:spPr>
          <a:xfrm>
            <a:off x="3348954" y="5749520"/>
            <a:ext cx="5208477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22: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Missing information of node 8 w/o optimization 2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973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05CAE-4F6D-99F0-FB4F-DE1DE9EE4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1E8F96-B18F-933E-02B4-D8D926D42D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D5803A48-45B6-CF6D-4C4E-8C64FCDC6C42}"/>
              </a:ext>
            </a:extLst>
          </p:cNvPr>
          <p:cNvSpPr txBox="1">
            <a:spLocks/>
          </p:cNvSpPr>
          <p:nvPr/>
        </p:nvSpPr>
        <p:spPr bwMode="auto">
          <a:xfrm>
            <a:off x="613420" y="1355760"/>
            <a:ext cx="6597608" cy="1288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SIFT, SPACEV, DEEP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DiskANN, Starling, DPANN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E16048D-9B13-3ABE-EC2C-63158180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(6/8)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CC10C35-D4A4-50C6-0813-2BE8194BF7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629"/>
          <a:stretch>
            <a:fillRect/>
          </a:stretch>
        </p:blipFill>
        <p:spPr>
          <a:xfrm>
            <a:off x="3222524" y="2644345"/>
            <a:ext cx="6172406" cy="285789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B67858A-AA08-0C0E-101C-D27C1E9894C9}"/>
              </a:ext>
            </a:extLst>
          </p:cNvPr>
          <p:cNvSpPr txBox="1"/>
          <p:nvPr/>
        </p:nvSpPr>
        <p:spPr>
          <a:xfrm>
            <a:off x="4451488" y="5505603"/>
            <a:ext cx="3714478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23: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Search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latency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100M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dataset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7716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EAF0A-79DB-5DD0-1A49-307C255AF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312261-D52C-B6FD-B858-7B37195489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28F77883-92B7-00A8-261E-D759FEB23B4B}"/>
              </a:ext>
            </a:extLst>
          </p:cNvPr>
          <p:cNvSpPr txBox="1">
            <a:spLocks/>
          </p:cNvSpPr>
          <p:nvPr/>
        </p:nvSpPr>
        <p:spPr bwMode="auto">
          <a:xfrm>
            <a:off x="613420" y="1355760"/>
            <a:ext cx="6597608" cy="1288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SIFT, SPACEV, DEEP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DiskANN, Starling, DPANN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E6F2C34-D30A-3E90-767F-B42C5687E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(7/8)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BC622B-DEE8-FF3E-0FCD-AD25F0EE86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657"/>
          <a:stretch>
            <a:fillRect/>
          </a:stretch>
        </p:blipFill>
        <p:spPr>
          <a:xfrm>
            <a:off x="2958041" y="2713963"/>
            <a:ext cx="6275917" cy="278827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3208FC3-8ECD-2138-FA62-E20E79F4ACBD}"/>
              </a:ext>
            </a:extLst>
          </p:cNvPr>
          <p:cNvSpPr txBox="1"/>
          <p:nvPr/>
        </p:nvSpPr>
        <p:spPr>
          <a:xfrm>
            <a:off x="4084871" y="5502240"/>
            <a:ext cx="4022255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24: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Search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throughput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100M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dataset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1989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0DCA8-E721-4BEA-6D21-DE5D1890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D68D91-C9E5-DFE6-3B98-2E5880E825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E88B20D4-0EA5-5C1D-FB4E-D75CBA1A6A25}"/>
              </a:ext>
            </a:extLst>
          </p:cNvPr>
          <p:cNvSpPr txBox="1">
            <a:spLocks/>
          </p:cNvSpPr>
          <p:nvPr/>
        </p:nvSpPr>
        <p:spPr bwMode="auto">
          <a:xfrm>
            <a:off x="613419" y="1355761"/>
            <a:ext cx="5058331" cy="94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indeed better than DiskANN?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In-Memory Index!</a:t>
            </a:r>
          </a:p>
          <a:p>
            <a:pPr lvl="1"/>
            <a:endParaRPr lang="en-US" altLang="zh-CN" sz="1867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5734B75-8A99-ED12-CB20-C2D371167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(8/8)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4F5D502-BCB5-17D2-D3D1-87FD0B7A1D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2508"/>
          <a:stretch>
            <a:fillRect/>
          </a:stretch>
        </p:blipFill>
        <p:spPr>
          <a:xfrm>
            <a:off x="3436973" y="2421924"/>
            <a:ext cx="5743508" cy="255997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A32999B-9837-7E3A-9330-315939E84BB8}"/>
              </a:ext>
            </a:extLst>
          </p:cNvPr>
          <p:cNvSpPr txBox="1"/>
          <p:nvPr/>
        </p:nvSpPr>
        <p:spPr>
          <a:xfrm>
            <a:off x="3744882" y="4812626"/>
            <a:ext cx="5363135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25: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Search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latency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 </a:t>
            </a:r>
            <a:r>
              <a:rPr kumimoji="1" lang="en-US" altLang="zh-CN" sz="1600" dirty="0" err="1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PipeANN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compared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with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Vamana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73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3A7AA-3C9D-C704-3455-30E76F73D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C7808D-A7BA-D946-0FE0-C0CC932FB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D290D8-1013-5B59-4D8B-E3F310F3B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4600893"/>
          </a:xfrm>
        </p:spPr>
        <p:txBody>
          <a:bodyPr>
            <a:noAutofit/>
          </a:bodyPr>
          <a:lstStyle/>
          <a:p>
            <a:pPr marL="342265" indent="-342265"/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(4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265" indent="-342265"/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 (4 min)</a:t>
            </a:r>
          </a:p>
          <a:p>
            <a:pPr marL="342265" indent="-342265"/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</a:p>
          <a:p>
            <a:pPr marL="742315" lvl="1" indent="-285115"/>
            <a:r>
              <a:rPr lang="en-US" altLang="zh-CN" sz="2400" dirty="0">
                <a:latin typeface="Times New Roman"/>
                <a:ea typeface="標楷體"/>
                <a:cs typeface="Times New Roman"/>
              </a:rPr>
              <a:t>Index: DiskANN (6 min)</a:t>
            </a:r>
          </a:p>
          <a:p>
            <a:pPr marL="742315" lvl="1" indent="-285115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</a:p>
          <a:p>
            <a:pPr marL="742315" lvl="1" indent="-285115"/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Query: Hitcher (6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Work (1 min)</a:t>
            </a:r>
          </a:p>
          <a:p>
            <a:pPr marL="342265" indent="-342265"/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265" indent="-342265"/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&amp; A (3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5B6785DE-A0D5-D37C-00DA-D757BD8FEA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0712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93AE2-DF43-AFD7-9939-BBCD8D726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4A808B0-EFD8-370D-3DF3-E0463B48E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68898"/>
            <a:ext cx="10517721" cy="69215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Hitcher: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(1/6)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ABFC83-DEE4-3548-A512-FA2EFDBF9D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799E802B-C84A-DC62-D0C9-D1B86433CFEA}"/>
              </a:ext>
            </a:extLst>
          </p:cNvPr>
          <p:cNvSpPr txBox="1">
            <a:spLocks/>
          </p:cNvSpPr>
          <p:nvPr/>
        </p:nvSpPr>
        <p:spPr bwMode="auto">
          <a:xfrm>
            <a:off x="205700" y="1278219"/>
            <a:ext cx="7283236" cy="4694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" altLang="zh-C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  <a:r>
              <a:rPr lang="zh-CN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the sequential nature of indexing, query processing involves </a:t>
            </a:r>
            <a:r>
              <a:rPr lang="en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random, scattered access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graph clusters.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Though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offering massive throughput,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bottlenecked by </a:t>
            </a:r>
            <a:r>
              <a:rPr lang="en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latency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handling such irregular access patterns. </a:t>
            </a:r>
          </a:p>
          <a:p>
            <a:pPr marL="457176" lvl="1" indent="0">
              <a:buNone/>
            </a:pP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Rummy</a:t>
            </a:r>
            <a:r>
              <a:rPr lang="en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GPU-based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each query independently →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data reuse.</a:t>
            </a:r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Hitcher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re-ordered</a:t>
            </a:r>
            <a:r>
              <a:rPr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pipeline</a:t>
            </a:r>
            <a:r>
              <a:rPr lang="zh-CN" altLang="en-US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en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Cluster-Centric Kernel</a:t>
            </a: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Hitch-Ride Ordering</a:t>
            </a:r>
          </a:p>
          <a:p>
            <a:pPr lvl="1"/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Optimizations: CPU Offloading &amp; Multi-GPU support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4561DD-3B12-C6E7-E717-69D7D73FA2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98"/>
          <a:stretch>
            <a:fillRect/>
          </a:stretch>
        </p:blipFill>
        <p:spPr>
          <a:xfrm>
            <a:off x="7514441" y="1728216"/>
            <a:ext cx="4026399" cy="344811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1BBE018-18D2-F619-48B8-016B0C362C5E}"/>
              </a:ext>
            </a:extLst>
          </p:cNvPr>
          <p:cNvSpPr txBox="1"/>
          <p:nvPr/>
        </p:nvSpPr>
        <p:spPr>
          <a:xfrm>
            <a:off x="7100026" y="5410504"/>
            <a:ext cx="5139036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26: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The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system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architecture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and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workflow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Hitcher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277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2BC26-F356-C230-AF55-BCF42278D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B62B933-1FDA-F3A3-D79D-7A17893C8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68898"/>
            <a:ext cx="10517721" cy="69215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Hitcher: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Cluster-Centric Kernel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(2/6)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39112-0A65-32ED-E4E0-F4ED3BBFD7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38C28ED2-8D32-2ADD-DCFA-FEF5B1FC72FB}"/>
              </a:ext>
            </a:extLst>
          </p:cNvPr>
          <p:cNvSpPr txBox="1">
            <a:spLocks/>
          </p:cNvSpPr>
          <p:nvPr/>
        </p:nvSpPr>
        <p:spPr bwMode="auto">
          <a:xfrm>
            <a:off x="367244" y="1389889"/>
            <a:ext cx="5960404" cy="4280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Query-centric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Rummy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decomposed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query-cluster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pair.</a:t>
            </a:r>
          </a:p>
          <a:p>
            <a:pPr lvl="1"/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</a:p>
          <a:p>
            <a:pPr lvl="1"/>
            <a:r>
              <a:rPr lang="en-US" altLang="zh-CN" sz="186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Redundant</a:t>
            </a:r>
            <a:r>
              <a:rPr lang="zh-CN" altLang="en-US" sz="186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loads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C1&amp;C5)</a:t>
            </a:r>
          </a:p>
          <a:p>
            <a:pPr lvl="1"/>
            <a:endParaRPr lang="en-US" altLang="zh-CN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Cluster-centric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Hitcher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grouped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cluster.</a:t>
            </a:r>
          </a:p>
          <a:p>
            <a:pPr lvl="1"/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thread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</a:t>
            </a:r>
            <a:r>
              <a:rPr lang="zh-CN" altLang="en-US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memory.</a:t>
            </a:r>
          </a:p>
          <a:p>
            <a:pPr lvl="1"/>
            <a:r>
              <a:rPr lang="en-US" altLang="zh-CN" sz="1867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zh-CN" altLang="en-US" sz="1867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once,</a:t>
            </a:r>
            <a:r>
              <a:rPr lang="zh-CN" altLang="en-US" sz="1867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zh-CN" altLang="en-US" sz="1867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67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en-US" altLang="zh-CN" sz="1867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" altLang="zh-CN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75D8989-2C9F-2E3E-7493-ECCDD4A47E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513"/>
          <a:stretch>
            <a:fillRect/>
          </a:stretch>
        </p:blipFill>
        <p:spPr>
          <a:xfrm>
            <a:off x="6402917" y="1739637"/>
            <a:ext cx="5549900" cy="299001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A15873C-7AE2-68BD-F614-C971857610B6}"/>
              </a:ext>
            </a:extLst>
          </p:cNvPr>
          <p:cNvSpPr txBox="1"/>
          <p:nvPr/>
        </p:nvSpPr>
        <p:spPr>
          <a:xfrm>
            <a:off x="6535754" y="4848258"/>
            <a:ext cx="5144525" cy="584775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27: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comparison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between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the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execution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the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query-centric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GPU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kernel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and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cluster-centric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GPU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kernel.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34754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615A7-0507-208E-6010-B28A73A7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A8918B6-CD34-0BAD-3173-319CF7FBF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68898"/>
            <a:ext cx="10517721" cy="69215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Hitcher: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Hitch-Ride Ordering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(3/6)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D30A60-DD78-CB44-C8DA-0A591BB0C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2E3054B8-A56F-68A9-6B0D-E7EAA649A16E}"/>
              </a:ext>
            </a:extLst>
          </p:cNvPr>
          <p:cNvSpPr txBox="1">
            <a:spLocks/>
          </p:cNvSpPr>
          <p:nvPr/>
        </p:nvSpPr>
        <p:spPr bwMode="auto">
          <a:xfrm>
            <a:off x="367243" y="1389889"/>
            <a:ext cx="6378113" cy="23566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" altLang="zh-CN" sz="2400" b="1" dirty="0"/>
              <a:t>Batch-based Re-ordering (</a:t>
            </a:r>
            <a:r>
              <a:rPr lang="en" altLang="zh-CN" sz="2400" b="1" i="1" dirty="0"/>
              <a:t>Rummy</a:t>
            </a:r>
            <a:r>
              <a:rPr lang="en" altLang="zh-CN" sz="2400" b="1" dirty="0"/>
              <a:t>)</a:t>
            </a:r>
          </a:p>
          <a:p>
            <a:pPr lvl="1"/>
            <a:r>
              <a:rPr lang="en" altLang="zh-CN" sz="2000" dirty="0"/>
              <a:t>Queries are buffered until a large</a:t>
            </a:r>
            <a:r>
              <a:rPr lang="zh-CN" altLang="en-US" sz="2000" dirty="0"/>
              <a:t> </a:t>
            </a:r>
            <a:r>
              <a:rPr lang="en" altLang="zh-CN" sz="2000" dirty="0"/>
              <a:t>batch is full.</a:t>
            </a:r>
          </a:p>
          <a:p>
            <a:pPr lvl="1"/>
            <a:r>
              <a:rPr lang="en" altLang="zh-CN" sz="2000" dirty="0"/>
              <a:t>Re-ordering and scheduling happen only after the batch closes.</a:t>
            </a:r>
          </a:p>
          <a:p>
            <a:pPr lvl="1"/>
            <a:r>
              <a:rPr lang="en" altLang="zh-CN" sz="2000" dirty="0"/>
              <a:t>Early queries must wait for the entire batch to fill</a:t>
            </a:r>
            <a:r>
              <a:rPr lang="zh-CN" altLang="en-US" sz="2000" dirty="0"/>
              <a:t> </a:t>
            </a:r>
            <a:r>
              <a:rPr lang="en-US" altLang="zh-CN" sz="2000" dirty="0"/>
              <a:t>-&gt;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High</a:t>
            </a:r>
            <a:r>
              <a:rPr lang="zh-CN" altLang="en-US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Latency</a:t>
            </a:r>
            <a:r>
              <a:rPr lang="en-US" altLang="zh-CN" sz="2000" dirty="0"/>
              <a:t>.</a:t>
            </a:r>
          </a:p>
          <a:p>
            <a:pPr lvl="1"/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7835359-8E91-427C-97FE-6DFF04247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962" y="1316981"/>
            <a:ext cx="5050689" cy="442671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353871C-2132-A608-BB74-B85F54612FD8}"/>
              </a:ext>
            </a:extLst>
          </p:cNvPr>
          <p:cNvSpPr txBox="1"/>
          <p:nvPr/>
        </p:nvSpPr>
        <p:spPr>
          <a:xfrm>
            <a:off x="6669722" y="5743692"/>
            <a:ext cx="5144525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28: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Comparison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between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Hitcher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and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Rummy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083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2F787-FC66-8AF6-C715-1459A084E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051B3DC-D1BE-52B3-5469-20DD13D0B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19" y="143498"/>
            <a:ext cx="10517721" cy="69215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Hitcher: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Hitch-Ride Ordering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(4/6)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A497D9-0F2D-85A3-2A1C-E6EDE4821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3CF96EA8-CA80-049F-773A-1E7E330EC34A}"/>
              </a:ext>
            </a:extLst>
          </p:cNvPr>
          <p:cNvSpPr txBox="1">
            <a:spLocks/>
          </p:cNvSpPr>
          <p:nvPr/>
        </p:nvSpPr>
        <p:spPr bwMode="auto">
          <a:xfrm>
            <a:off x="367243" y="1389889"/>
            <a:ext cx="6437747" cy="42808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" altLang="zh-CN" sz="2400" b="1" dirty="0"/>
              <a:t>Batch-based Re-ordering (</a:t>
            </a:r>
            <a:r>
              <a:rPr lang="en" altLang="zh-CN" sz="2400" b="1" i="1" dirty="0"/>
              <a:t>Rummy</a:t>
            </a:r>
            <a:r>
              <a:rPr lang="en" altLang="zh-CN" sz="2400" b="1" dirty="0"/>
              <a:t>)</a:t>
            </a:r>
          </a:p>
          <a:p>
            <a:pPr lvl="1"/>
            <a:r>
              <a:rPr lang="en" altLang="zh-CN" sz="2000" dirty="0"/>
              <a:t>Queries are buffered until a large</a:t>
            </a:r>
            <a:r>
              <a:rPr lang="zh-CN" altLang="en-US" sz="2000" dirty="0"/>
              <a:t> </a:t>
            </a:r>
            <a:r>
              <a:rPr lang="en" altLang="zh-CN" sz="2000" dirty="0"/>
              <a:t>batch is full.</a:t>
            </a:r>
          </a:p>
          <a:p>
            <a:pPr lvl="1"/>
            <a:r>
              <a:rPr lang="en" altLang="zh-CN" sz="2000" dirty="0"/>
              <a:t>Re-ordering and scheduling happen only after the batch closes.</a:t>
            </a:r>
          </a:p>
          <a:p>
            <a:pPr lvl="1"/>
            <a:r>
              <a:rPr lang="en" altLang="zh-CN" sz="2000" dirty="0"/>
              <a:t>Early queries must wait for the entire batch to fill</a:t>
            </a:r>
            <a:r>
              <a:rPr lang="zh-CN" altLang="en-US" sz="2000" dirty="0"/>
              <a:t> </a:t>
            </a:r>
            <a:r>
              <a:rPr lang="en-US" altLang="zh-CN" sz="2000" dirty="0"/>
              <a:t>-&gt;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High</a:t>
            </a:r>
            <a:r>
              <a:rPr lang="zh-CN" altLang="en-US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Latency</a:t>
            </a:r>
            <a:r>
              <a:rPr lang="en-US" altLang="zh-CN" sz="2000" dirty="0"/>
              <a:t>.</a:t>
            </a:r>
          </a:p>
          <a:p>
            <a:pPr lvl="1"/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2400" b="1" dirty="0"/>
              <a:t>Hitch-Ride Ordering (</a:t>
            </a:r>
            <a:r>
              <a:rPr lang="en" altLang="zh-CN" sz="2400" b="1" i="1" dirty="0"/>
              <a:t>Hitcher</a:t>
            </a:r>
            <a:r>
              <a:rPr lang="en" altLang="zh-CN" sz="2400" b="1" dirty="0"/>
              <a:t>)</a:t>
            </a:r>
          </a:p>
          <a:p>
            <a:pPr lvl="1"/>
            <a:r>
              <a:rPr lang="en" altLang="zh-CN" sz="2000" dirty="0"/>
              <a:t>Queries are processed continuously </a:t>
            </a:r>
            <a:r>
              <a:rPr lang="en-US" altLang="zh-CN" sz="2000" dirty="0"/>
              <a:t>with</a:t>
            </a:r>
            <a:r>
              <a:rPr lang="zh-CN" altLang="en-US" sz="2000" dirty="0"/>
              <a:t> </a:t>
            </a:r>
            <a:r>
              <a:rPr lang="en-US" altLang="zh-CN" sz="2000" dirty="0"/>
              <a:t>stream.</a:t>
            </a:r>
            <a:endParaRPr lang="en" altLang="zh-CN" sz="2000" dirty="0"/>
          </a:p>
          <a:p>
            <a:pPr lvl="1"/>
            <a:r>
              <a:rPr lang="en" altLang="zh-CN" sz="2000" dirty="0"/>
              <a:t>Incoming queries immediately join (“hitch a ride” on) the same cluster.</a:t>
            </a:r>
          </a:p>
          <a:p>
            <a:pPr lvl="1"/>
            <a:r>
              <a:rPr lang="en-US" altLang="zh-CN" sz="2000" dirty="0"/>
              <a:t>Instant</a:t>
            </a:r>
            <a:r>
              <a:rPr lang="zh-CN" altLang="en-US" sz="2000" dirty="0"/>
              <a:t> </a:t>
            </a:r>
            <a:r>
              <a:rPr lang="en" altLang="zh-CN" sz="2000" dirty="0"/>
              <a:t>dispatch</a:t>
            </a:r>
            <a:r>
              <a:rPr lang="zh-CN" altLang="en-US" sz="2000" dirty="0"/>
              <a:t> </a:t>
            </a:r>
            <a:r>
              <a:rPr lang="en-US" altLang="zh-CN" sz="2000" dirty="0"/>
              <a:t>-&gt;</a:t>
            </a:r>
            <a:r>
              <a:rPr lang="zh-CN" altLang="en-US" sz="2000" dirty="0"/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Low</a:t>
            </a:r>
            <a:r>
              <a:rPr lang="zh-CN" altLang="en-US" sz="2000" dirty="0">
                <a:solidFill>
                  <a:srgbClr val="00B050"/>
                </a:solidFill>
              </a:rPr>
              <a:t> </a:t>
            </a:r>
            <a:r>
              <a:rPr lang="en-US" altLang="zh-CN" sz="2000" dirty="0">
                <a:solidFill>
                  <a:srgbClr val="00B050"/>
                </a:solidFill>
              </a:rPr>
              <a:t>latency</a:t>
            </a:r>
            <a:r>
              <a:rPr lang="en-US" altLang="zh-CN" sz="2000" dirty="0"/>
              <a:t>.</a:t>
            </a:r>
            <a:endParaRPr lang="e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0D59C8-63EF-0745-2233-9DB2B5E3D2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335"/>
          <a:stretch>
            <a:fillRect/>
          </a:stretch>
        </p:blipFill>
        <p:spPr>
          <a:xfrm>
            <a:off x="7840586" y="2748974"/>
            <a:ext cx="3663244" cy="313682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9029A47-B6C3-DC18-A9FF-FB6A75F9A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575" y="1078398"/>
            <a:ext cx="3737265" cy="167057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B74061D-7F6E-F32D-5DE7-312A785A3FFE}"/>
              </a:ext>
            </a:extLst>
          </p:cNvPr>
          <p:cNvSpPr/>
          <p:nvPr/>
        </p:nvSpPr>
        <p:spPr bwMode="auto">
          <a:xfrm>
            <a:off x="9200379" y="3047999"/>
            <a:ext cx="2280418" cy="1865745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A9AFFE-A57F-AC4D-C3B0-6078E2C344C2}"/>
              </a:ext>
            </a:extLst>
          </p:cNvPr>
          <p:cNvSpPr txBox="1"/>
          <p:nvPr/>
        </p:nvSpPr>
        <p:spPr>
          <a:xfrm>
            <a:off x="7047475" y="5779602"/>
            <a:ext cx="5144525" cy="338554"/>
          </a:xfrm>
          <a:prstGeom prst="rect">
            <a:avLst/>
          </a:prstGeom>
          <a:noFill/>
        </p:spPr>
        <p:txBody>
          <a:bodyPr wrap="squar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29: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Hitch-ride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order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workflow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087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A0D17-97B0-235D-19F6-B965D13A8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BDC736B-860B-047F-C040-794E124C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4719" y="156974"/>
            <a:ext cx="10517721" cy="692151"/>
          </a:xfrm>
        </p:spPr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Hitcher: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Optimizations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(5/6)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D3CD6C-E8EE-797F-BF12-3B14989EFC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A5820DF9-F962-F840-36BC-A802CFE6A04B}"/>
              </a:ext>
            </a:extLst>
          </p:cNvPr>
          <p:cNvSpPr txBox="1">
            <a:spLocks/>
          </p:cNvSpPr>
          <p:nvPr/>
        </p:nvSpPr>
        <p:spPr bwMode="auto">
          <a:xfrm>
            <a:off x="515026" y="1560945"/>
            <a:ext cx="6153629" cy="2998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" altLang="zh-CN" sz="2400" b="1" dirty="0"/>
              <a:t>Asynchronous Data Transfer</a:t>
            </a:r>
          </a:p>
          <a:p>
            <a:pPr lvl="1"/>
            <a:r>
              <a:rPr lang="en" altLang="zh-CN" sz="2000" dirty="0"/>
              <a:t>Dual Main Task Queues</a:t>
            </a:r>
          </a:p>
          <a:p>
            <a:pPr lvl="1"/>
            <a:r>
              <a:rPr lang="en" altLang="zh-CN" sz="2000" dirty="0"/>
              <a:t>Query ID-Based Scheduling</a:t>
            </a:r>
          </a:p>
          <a:p>
            <a:pPr lvl="1"/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" altLang="zh-CN" sz="2400" b="1" dirty="0"/>
              <a:t>CPU Offloading</a:t>
            </a:r>
          </a:p>
          <a:p>
            <a:pPr lvl="1"/>
            <a:r>
              <a:rPr lang="en" altLang="zh-CN" sz="2000" dirty="0"/>
              <a:t>Strategic Offloading</a:t>
            </a:r>
          </a:p>
          <a:p>
            <a:pPr lvl="1"/>
            <a:r>
              <a:rPr lang="en" altLang="zh-CN" sz="2000" dirty="0"/>
              <a:t>Prioritization Rules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32BEBF-9558-6C49-C3D4-6C33634C1B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674"/>
          <a:stretch>
            <a:fillRect/>
          </a:stretch>
        </p:blipFill>
        <p:spPr>
          <a:xfrm>
            <a:off x="7840586" y="2643871"/>
            <a:ext cx="3663244" cy="312535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C164715-53E6-CAA8-F977-52CF672E36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586" y="1088776"/>
            <a:ext cx="3565234" cy="159367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F3C48BE-0356-2F98-8CF4-2E06CE04DA8F}"/>
              </a:ext>
            </a:extLst>
          </p:cNvPr>
          <p:cNvSpPr/>
          <p:nvPr/>
        </p:nvSpPr>
        <p:spPr bwMode="auto">
          <a:xfrm>
            <a:off x="7915564" y="4314445"/>
            <a:ext cx="3565233" cy="1454779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E6CD60-AC58-BDD3-E754-821DF3768DDF}"/>
              </a:ext>
            </a:extLst>
          </p:cNvPr>
          <p:cNvSpPr txBox="1"/>
          <p:nvPr/>
        </p:nvSpPr>
        <p:spPr>
          <a:xfrm>
            <a:off x="7097985" y="5808372"/>
            <a:ext cx="5139036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30: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The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system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architecture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and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workflow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of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Hitcher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974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0BCD7-F7B8-FE3E-F405-FD82D3A16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119413-6982-328E-E0CB-B2B6E9D91A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4198BC14-2B2C-2D54-609A-95E8F3C961CA}"/>
              </a:ext>
            </a:extLst>
          </p:cNvPr>
          <p:cNvSpPr txBox="1">
            <a:spLocks/>
          </p:cNvSpPr>
          <p:nvPr/>
        </p:nvSpPr>
        <p:spPr bwMode="auto">
          <a:xfrm>
            <a:off x="613420" y="1355760"/>
            <a:ext cx="6597608" cy="1288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MSTuring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Wiki, MQA.</a:t>
            </a:r>
          </a:p>
          <a:p>
            <a:pPr lvl="1"/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other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approaches: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Faiss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Rummy.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1F9DEA-3CF8-8C3E-1533-EEECE3068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Hitcher: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(6/6)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D46ACE-57E4-9EF7-4CAF-02E07C96A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878" y="2644345"/>
            <a:ext cx="8543697" cy="323534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27EA8E-2250-A294-0566-907D61791375}"/>
              </a:ext>
            </a:extLst>
          </p:cNvPr>
          <p:cNvSpPr txBox="1"/>
          <p:nvPr/>
        </p:nvSpPr>
        <p:spPr>
          <a:xfrm>
            <a:off x="1611425" y="5811053"/>
            <a:ext cx="9758890" cy="33855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/>
          <a:p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Figure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31:</a:t>
            </a:r>
            <a:r>
              <a:rPr kumimoji="1" lang="zh-CN" altLang="en-US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latin typeface="Times New Roman" panose="02020603050405020304" pitchFamily="18" charset="0"/>
                <a:ea typeface="標楷體" pitchFamily="65" charset="-120"/>
                <a:cs typeface="Times New Roman" panose="02020603050405020304" pitchFamily="18" charset="0"/>
              </a:rPr>
              <a:t>The P99 query latency (top row) and P50 query latency (bottom row) of Hitcher and the baseline systems</a:t>
            </a:r>
            <a:endParaRPr kumimoji="1" lang="zh-CN" altLang="en-US" sz="1600" dirty="0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0034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0D532-EE16-3C1E-5DA3-911ACFEDB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31F110-0BA5-A4B6-7850-5D21BEDCD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6610" y="144466"/>
            <a:ext cx="10270977" cy="6921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C6FB97-3EB0-7FE8-512B-50DB30E0E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454374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(4 min)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Overview (4 min)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 &amp; Performance Evaluation (18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DiskANN (6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</a:t>
            </a:r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 min)</a:t>
            </a:r>
          </a:p>
          <a:p>
            <a:pPr lvl="1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 Hitcher (6 min)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Work (1 min)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altLang="zh-CN" sz="2933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 (3 min)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F2EA0F80-597D-721A-1D35-5086AE322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33741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D24E8-4BFB-E7D4-FB03-6ACA0FD3A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2B62904-72DF-5702-5410-3358D87CE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 &amp; Future Work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8492A6-3347-5FFE-16A9-F47098725A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204D6A2C-EB5E-E0A6-5B62-3305DB0FE372}"/>
              </a:ext>
            </a:extLst>
          </p:cNvPr>
          <p:cNvSpPr txBox="1">
            <a:spLocks/>
          </p:cNvSpPr>
          <p:nvPr/>
        </p:nvSpPr>
        <p:spPr bwMode="auto">
          <a:xfrm>
            <a:off x="455371" y="1097795"/>
            <a:ext cx="10517721" cy="4388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trends of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 shifted from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algorithmic workflows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hardware-aware co-design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hardware-constrained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ANNs</a:t>
            </a:r>
            <a:r>
              <a:rPr lang="zh-CN" altLang="en-US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introduced: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DiskANN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(SSD-optimized)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Index: </a:t>
            </a:r>
            <a:r>
              <a:rPr lang="en-US" altLang="zh-C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(SSD-optimized)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Hitcher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(GPU-optimized)</a:t>
            </a:r>
          </a:p>
          <a:p>
            <a:pPr marL="457176" lvl="1" indent="0">
              <a:buNone/>
            </a:pPr>
            <a:endParaRPr lang="en-US" altLang="zh-CN" sz="1867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</a:t>
            </a:r>
            <a:r>
              <a:rPr lang="zh-CN" altLang="en-US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direction: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bottleneck,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limiting</a:t>
            </a:r>
            <a:r>
              <a:rPr lang="zh-CN" altLang="en-US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parallelism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en-US" altLang="zh-CN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zh-CN" altLang="en-US" sz="2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able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patterns,</a:t>
            </a:r>
            <a:r>
              <a:rPr lang="zh-CN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yet the </a:t>
            </a:r>
            <a:r>
              <a:rPr lang="en-US" altLang="zh-CN" sz="2000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overhead </a:t>
            </a:r>
            <a:r>
              <a:rPr lang="en-US" altLang="zh-C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model inference remains a bottleneck.</a:t>
            </a:r>
          </a:p>
        </p:txBody>
      </p:sp>
    </p:spTree>
    <p:extLst>
      <p:ext uri="{BB962C8B-B14F-4D97-AF65-F5344CB8AC3E}">
        <p14:creationId xmlns:p14="http://schemas.microsoft.com/office/powerpoint/2010/main" val="18391397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0F2FE-7569-A9A0-A443-46094BC8C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CCD953-9171-A842-CE94-D928FE0B15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9CBA192F-396C-ADE8-B8FD-F17F7D5503A9}"/>
              </a:ext>
            </a:extLst>
          </p:cNvPr>
          <p:cNvSpPr txBox="1">
            <a:spLocks/>
          </p:cNvSpPr>
          <p:nvPr/>
        </p:nvSpPr>
        <p:spPr bwMode="auto">
          <a:xfrm>
            <a:off x="765810" y="1165860"/>
            <a:ext cx="10801778" cy="4834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Algorithms)</a:t>
            </a:r>
          </a:p>
          <a:p>
            <a:pPr lvl="1"/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[HNSW]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Y. A. Malkov and D. A. </a:t>
            </a:r>
            <a:r>
              <a:rPr lang="en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Yashunin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"Efficient and robust approximate nearest neighbor search using hierarchical navigable small world graphs," </a:t>
            </a:r>
            <a:r>
              <a:rPr lang="en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Pattern Analysis and Machine Intelligence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42, no. 4, pp. 824–836, 2018.</a:t>
            </a:r>
          </a:p>
          <a:p>
            <a:pPr lvl="1"/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[NSG]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C. Fu, C. Xiang, C. Wang, and D. Cai, "Fast approximate nearest neighbor search with the navigating spreading-out graph," </a:t>
            </a:r>
            <a:r>
              <a:rPr lang="en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VLDB Endowment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no. 5, pp. 461–474, 2019.</a:t>
            </a:r>
          </a:p>
          <a:p>
            <a:r>
              <a:rPr lang="en-US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&amp; Hardware)</a:t>
            </a:r>
          </a:p>
          <a:p>
            <a:pPr lvl="1"/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[DiskANN]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J. Subramanya, F. </a:t>
            </a:r>
            <a:r>
              <a:rPr lang="en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Devvrit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H. V. Simhadri, R. </a:t>
            </a:r>
            <a:r>
              <a:rPr lang="en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Krishnawamy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R. Kaczmarek, "DiskANN: Fast accurate billion-point nearest neighbor search on a single node," in </a:t>
            </a:r>
            <a:r>
              <a:rPr lang="en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Neural Information Processing Systems (</a:t>
            </a:r>
            <a:r>
              <a:rPr lang="en" altLang="zh-C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2019.</a:t>
            </a:r>
          </a:p>
          <a:p>
            <a:pPr lvl="1"/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" altLang="zh-C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PipeANN</a:t>
            </a:r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Guo and Y. Lu, "Achieving Low-Latency Graph-Based Vector Search via Aligning Best-First Search Algorithm with SSD," in </a:t>
            </a:r>
            <a:r>
              <a:rPr lang="en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19th USENIX Symposium on Operating Systems Design and Implementation (OSDI)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lvl="1"/>
            <a:r>
              <a:rPr lang="en" altLang="zh-C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[Hitcher]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Qihui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Zhou, </a:t>
            </a:r>
            <a:r>
              <a:rPr lang="en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Changji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LI, </a:t>
            </a:r>
            <a:r>
              <a:rPr lang="en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Guanxian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Jiang, Chenhao Ma, Xiao Yan, Yu Mao, Ming-Chang Yang, James Cheng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“Hitcher: Efficient GPU-based Vector Search via Cluster-Centric Kernel and Hitch-Ride Ordering,” 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 </a:t>
            </a:r>
            <a:r>
              <a:rPr lang="en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SIGKDD Conference on Knowledge Discovery and Data Mining (KDD), 2026</a:t>
            </a:r>
            <a:r>
              <a:rPr lang="en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18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B80F05E-15A8-B8C2-9FAB-33D322145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6900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DAE23-E600-9DCD-92C9-190AD22EB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42F34A-A5E3-A0CD-5263-46994F56F5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  <p:sp>
        <p:nvSpPr>
          <p:cNvPr id="2" name="内容占位符 5">
            <a:extLst>
              <a:ext uri="{FF2B5EF4-FFF2-40B4-BE49-F238E27FC236}">
                <a16:creationId xmlns:a16="http://schemas.microsoft.com/office/drawing/2014/main" id="{9DA1CFE9-C8F7-236F-8B41-7DCF3C45FA47}"/>
              </a:ext>
            </a:extLst>
          </p:cNvPr>
          <p:cNvSpPr txBox="1">
            <a:spLocks/>
          </p:cNvSpPr>
          <p:nvPr/>
        </p:nvSpPr>
        <p:spPr bwMode="auto">
          <a:xfrm>
            <a:off x="1954530" y="2572007"/>
            <a:ext cx="8435340" cy="1713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80000"/>
              <a:buFont typeface="Wingdings" pitchFamily="2" charset="2"/>
              <a:buChar char="l"/>
              <a:defRPr kumimoji="1" sz="37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Pct val="90000"/>
              <a:buFont typeface="Arial" charset="0"/>
              <a:buChar char="–"/>
              <a:defRPr kumimoji="1" sz="3200">
                <a:solidFill>
                  <a:schemeClr val="tx1"/>
                </a:solidFill>
                <a:latin typeface="Calibri" pitchFamily="34" charset="0"/>
                <a:ea typeface="標楷體" pitchFamily="65" charset="-120"/>
              </a:defRPr>
            </a:lvl2pPr>
            <a:lvl3pPr marL="1142943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667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 marL="1600121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400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133">
                <a:solidFill>
                  <a:schemeClr val="tx1"/>
                </a:solidFill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  <a:lvl6pPr marL="251447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007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ctr">
              <a:buNone/>
            </a:pPr>
            <a:r>
              <a:rPr lang="en-US" altLang="zh-CN" sz="9600" kern="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458157606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CAC428-5038-4C9B-A98B-7F1F5FCB69D8}">
  <we:reference id="WA104380121" version="2.0.0.0" store="Omex" storeType="OMEX"/>
  <we:alternateReferences>
    <we:reference id="WA104380121" version="2.0.0.0" store="WA10438012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a6cb23d-99a3-4733-a637-4a3de07f299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EAB6B27471A56C48AE6B27A2ACCA6F48" ma:contentTypeVersion="12" ma:contentTypeDescription="新建文档。" ma:contentTypeScope="" ma:versionID="7d2645906c4b4cc53d6f55b73f2699e4">
  <xsd:schema xmlns:xsd="http://www.w3.org/2001/XMLSchema" xmlns:xs="http://www.w3.org/2001/XMLSchema" xmlns:p="http://schemas.microsoft.com/office/2006/metadata/properties" xmlns:ns3="7a6cb23d-99a3-4733-a637-4a3de07f2996" xmlns:ns4="09632840-0cdb-4245-8402-937660fe25b7" targetNamespace="http://schemas.microsoft.com/office/2006/metadata/properties" ma:root="true" ma:fieldsID="c57f0acd2cd09b1e9cd93380829e6877" ns3:_="" ns4:_="">
    <xsd:import namespace="7a6cb23d-99a3-4733-a637-4a3de07f2996"/>
    <xsd:import namespace="09632840-0cdb-4245-8402-937660fe25b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cb23d-99a3-4733-a637-4a3de07f29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632840-0cdb-4245-8402-937660fe25b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共享提示哈希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AA7FE03-F5B4-4B05-A143-7368B626B654}">
  <ds:schemaRefs>
    <ds:schemaRef ds:uri="http://purl.org/dc/terms/"/>
    <ds:schemaRef ds:uri="http://purl.org/dc/dcmitype/"/>
    <ds:schemaRef ds:uri="09632840-0cdb-4245-8402-937660fe25b7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7a6cb23d-99a3-4733-a637-4a3de07f2996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180840A-7F12-4972-BC22-710DEE90AD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6cb23d-99a3-4733-a637-4a3de07f2996"/>
    <ds:schemaRef ds:uri="09632840-0cdb-4245-8402-937660fe25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4F57AB-577D-4732-8F6F-7F97C69FC6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3020</TotalTime>
  <Words>3313</Words>
  <Application>Microsoft Office PowerPoint</Application>
  <PresentationFormat>宽屏</PresentationFormat>
  <Paragraphs>483</Paragraphs>
  <Slides>43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MS Sans Serif</vt:lpstr>
      <vt:lpstr>楷体</vt:lpstr>
      <vt:lpstr>Arial</vt:lpstr>
      <vt:lpstr>Calibri</vt:lpstr>
      <vt:lpstr>Calibri Light</vt:lpstr>
      <vt:lpstr>Cambria Math</vt:lpstr>
      <vt:lpstr>Times New Roman</vt:lpstr>
      <vt:lpstr>Wingdings</vt:lpstr>
      <vt:lpstr>NTHU UniCloud</vt:lpstr>
      <vt:lpstr>自訂設計</vt:lpstr>
      <vt:lpstr>Beyond Algorithms : Hardware-Constrained Data Systems from Storage to Search 2026.01.27</vt:lpstr>
      <vt:lpstr>Outline</vt:lpstr>
      <vt:lpstr>Outline</vt:lpstr>
      <vt:lpstr>Introduction – Vector Search (1/4)</vt:lpstr>
      <vt:lpstr>Introduction – Vector Search (2/4)</vt:lpstr>
      <vt:lpstr>Introduction – ANN (3/4)</vt:lpstr>
      <vt:lpstr>Introduction – ANN (4/4)</vt:lpstr>
      <vt:lpstr>Outline</vt:lpstr>
      <vt:lpstr>Background &amp; Overview: Best-First Search (1/6)</vt:lpstr>
      <vt:lpstr>Background &amp; Overview: Best-First Search (2/6)</vt:lpstr>
      <vt:lpstr>PowerPoint 演示文稿</vt:lpstr>
      <vt:lpstr>PowerPoint 演示文稿</vt:lpstr>
      <vt:lpstr>PowerPoint 演示文稿</vt:lpstr>
      <vt:lpstr>Background &amp; Overview: Best-First Search (6/6)</vt:lpstr>
      <vt:lpstr>Outline</vt:lpstr>
      <vt:lpstr>Proposed Methods &amp; Performance Evaluation: Overview</vt:lpstr>
      <vt:lpstr>Outline</vt:lpstr>
      <vt:lpstr>DiskANN: Architecture Overview (1/6)</vt:lpstr>
      <vt:lpstr>DiskANN: Vamana Algorithm (2/6)</vt:lpstr>
      <vt:lpstr>DiskANN: Vamana Algorithm (3/6)</vt:lpstr>
      <vt:lpstr>DiskANN: DiskANN System (4/6)</vt:lpstr>
      <vt:lpstr>DiskANN: Beam Search Optimization (5/6)</vt:lpstr>
      <vt:lpstr>DiskANN: Evaluation (6/6)</vt:lpstr>
      <vt:lpstr>Outline</vt:lpstr>
      <vt:lpstr>PipeANN: Architecture Overview (1/8)</vt:lpstr>
      <vt:lpstr>PipeANN: PipeSearch (2/8)</vt:lpstr>
      <vt:lpstr>PipeANN: Optimization 1 (3/8)</vt:lpstr>
      <vt:lpstr>PipeANN: Optimization 1 (4/8)</vt:lpstr>
      <vt:lpstr>PipeANN: Optimization 2 (5/8)</vt:lpstr>
      <vt:lpstr>PipeANN: Evaluation (6/8)</vt:lpstr>
      <vt:lpstr>PipeANN: Evaluation (7/8)</vt:lpstr>
      <vt:lpstr>PipeANN: Evaluation (8/8)</vt:lpstr>
      <vt:lpstr>Outline</vt:lpstr>
      <vt:lpstr>Hitcher: Architecture Overview (1/6)</vt:lpstr>
      <vt:lpstr>Hitcher:  Cluster-Centric Kernel (2/6)</vt:lpstr>
      <vt:lpstr>Hitcher:  Hitch-Ride Ordering (3/6)</vt:lpstr>
      <vt:lpstr>Hitcher:  Hitch-Ride Ordering (4/6)</vt:lpstr>
      <vt:lpstr>Hitcher: Other Optimizations (5/6)</vt:lpstr>
      <vt:lpstr>Hitcher: Evaluation (6/6)</vt:lpstr>
      <vt:lpstr>Outline</vt:lpstr>
      <vt:lpstr>Conclusions &amp; Future Work</vt:lpstr>
      <vt:lpstr>References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Yeh-Ching Chung</cp:lastModifiedBy>
  <cp:revision>178</cp:revision>
  <dcterms:created xsi:type="dcterms:W3CDTF">2020-07-15T11:13:39Z</dcterms:created>
  <dcterms:modified xsi:type="dcterms:W3CDTF">2026-05-02T01:33:23Z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0x010100EAB6B27471A56C48AE6B27A2ACCA6F48</vt:lpwstr>
  </property>
</Properties>
</file>