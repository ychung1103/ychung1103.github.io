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8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5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69704" autoAdjust="0"/>
  </p:normalViewPr>
  <p:slideViewPr>
    <p:cSldViewPr snapToGrid="0">
      <p:cViewPr varScale="1">
        <p:scale>
          <a:sx n="75" d="100"/>
          <a:sy n="75" d="100"/>
        </p:scale>
        <p:origin x="8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English:</a:t>
            </a:r>
          </a:p>
          <a:p>
            <a:r>
              <a:rPr lang="en-US" altLang="zh-CN" dirty="0"/>
              <a:t>Today I want to share a story about </a:t>
            </a:r>
            <a:r>
              <a:rPr lang="en-US" altLang="zh-CN" b="1" dirty="0"/>
              <a:t>making computers easier to control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Historically, Operating systems abstract away hardware complexity.</a:t>
            </a:r>
            <a:br>
              <a:rPr lang="en-US" altLang="zh-CN" dirty="0"/>
            </a:br>
            <a:r>
              <a:rPr lang="en-US" altLang="zh-CN" dirty="0"/>
              <a:t>Now, </a:t>
            </a:r>
            <a:r>
              <a:rPr lang="en-US" altLang="zh-CN" b="1" dirty="0"/>
              <a:t>LLM agents may become the next abstraction layer.</a:t>
            </a:r>
            <a:endParaRPr lang="en-US" altLang="zh-CN" dirty="0"/>
          </a:p>
          <a:p>
            <a:r>
              <a:rPr lang="en-US" altLang="zh-CN" dirty="0"/>
              <a:t>In this talk, I will walk through three key research milestones toward this vision:</a:t>
            </a:r>
          </a:p>
          <a:p>
            <a:r>
              <a:rPr lang="en-US" altLang="zh-CN" b="1" dirty="0" err="1"/>
              <a:t>OSWorld</a:t>
            </a:r>
            <a:r>
              <a:rPr lang="en-US" altLang="zh-CN" dirty="0"/>
              <a:t>, an agent-centric operating system benchmark</a:t>
            </a:r>
          </a:p>
          <a:p>
            <a:r>
              <a:rPr lang="en-US" altLang="zh-CN" b="1" dirty="0" err="1"/>
              <a:t>CogAgent</a:t>
            </a:r>
            <a:r>
              <a:rPr lang="en-US" altLang="zh-CN" dirty="0"/>
              <a:t>, designed for GUI perception and understanding</a:t>
            </a:r>
          </a:p>
          <a:p>
            <a:r>
              <a:rPr lang="en-US" altLang="zh-CN" b="1" dirty="0"/>
              <a:t>OSCAR</a:t>
            </a:r>
            <a:r>
              <a:rPr lang="en-US" altLang="zh-CN" dirty="0"/>
              <a:t>, which enables agent control and trajectory re-planning</a:t>
            </a:r>
          </a:p>
          <a:p>
            <a:r>
              <a:rPr lang="en-US" altLang="zh-CN" dirty="0"/>
              <a:t>Finally, I will discuss </a:t>
            </a:r>
            <a:r>
              <a:rPr lang="en-US" altLang="zh-CN" b="1" dirty="0"/>
              <a:t>security considerations</a:t>
            </a:r>
            <a:r>
              <a:rPr lang="en-US" altLang="zh-CN" dirty="0"/>
              <a:t> and outline our </a:t>
            </a:r>
            <a:r>
              <a:rPr lang="en-US" altLang="zh-CN" b="1" dirty="0"/>
              <a:t>future roadmap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963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Modern computing is becoming increasingly complex.</a:t>
            </a:r>
            <a:br>
              <a:rPr lang="en-US" altLang="zh-CN" dirty="0"/>
            </a:br>
            <a:r>
              <a:rPr lang="en-US" altLang="zh-CN" dirty="0"/>
              <a:t>We now have </a:t>
            </a:r>
            <a:r>
              <a:rPr lang="en-US" altLang="zh-CN" b="1" dirty="0"/>
              <a:t>too many applications and too many workflows</a:t>
            </a:r>
            <a:r>
              <a:rPr lang="en-US" altLang="zh-CN" dirty="0"/>
              <a:t> to manage.</a:t>
            </a:r>
          </a:p>
          <a:p>
            <a:r>
              <a:rPr lang="en-US" altLang="zh-CN" dirty="0"/>
              <a:t>As a result, the </a:t>
            </a:r>
            <a:r>
              <a:rPr lang="en-US" altLang="zh-CN" b="1" dirty="0"/>
              <a:t>human learning cost keeps rising</a:t>
            </a:r>
            <a:r>
              <a:rPr lang="en-US" altLang="zh-CN" dirty="0"/>
              <a:t>, and people become the bottleneck in many digital tasks.</a:t>
            </a:r>
          </a:p>
          <a:p>
            <a:r>
              <a:rPr lang="en-US" altLang="zh-CN" dirty="0"/>
              <a:t>From a systems perspective, this suggests we may need </a:t>
            </a:r>
            <a:r>
              <a:rPr lang="en-US" altLang="zh-CN" b="1" dirty="0"/>
              <a:t>a new abstraction layer for automation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Historically, abstraction layers are how computing scales for humans.</a:t>
            </a:r>
            <a:br>
              <a:rPr lang="en-US" altLang="zh-CN" dirty="0"/>
            </a:br>
            <a:r>
              <a:rPr lang="en-US" altLang="zh-CN" dirty="0"/>
              <a:t>Operating systems reduced hardware complexity.</a:t>
            </a:r>
            <a:br>
              <a:rPr lang="en-US" altLang="zh-CN" dirty="0"/>
            </a:br>
            <a:r>
              <a:rPr lang="en-US" altLang="zh-CN" dirty="0"/>
              <a:t>Then GUIs reduced application complexity.</a:t>
            </a:r>
          </a:p>
          <a:p>
            <a:r>
              <a:rPr lang="en-US" altLang="zh-CN" dirty="0"/>
              <a:t>And today, </a:t>
            </a:r>
            <a:r>
              <a:rPr lang="en-US" altLang="zh-CN" b="1" dirty="0"/>
              <a:t>agents may help reduce workflow complexity.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951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 me briefly walk through the structure of this talk.</a:t>
            </a:r>
          </a:p>
          <a:p>
            <a:r>
              <a:rPr lang="en-US" altLang="zh-CN" dirty="0"/>
              <a:t>First, I will review </a:t>
            </a:r>
            <a:r>
              <a:rPr lang="en-US" altLang="zh-CN" b="1" dirty="0"/>
              <a:t>the history of operating systems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Second, this leads to our central question: </a:t>
            </a:r>
            <a:r>
              <a:rPr lang="en-US" altLang="zh-CN" b="1" dirty="0"/>
              <a:t>can LLMs act as an agentic OS layer?</a:t>
            </a:r>
            <a:endParaRPr lang="en-US" altLang="zh-CN" dirty="0"/>
          </a:p>
          <a:p>
            <a:r>
              <a:rPr lang="en-US" altLang="zh-CN" dirty="0"/>
              <a:t>Then I’ll present </a:t>
            </a:r>
            <a:r>
              <a:rPr lang="en-US" altLang="zh-CN" b="1" dirty="0"/>
              <a:t>research path</a:t>
            </a:r>
            <a:r>
              <a:rPr lang="en-US" altLang="zh-CN" dirty="0"/>
              <a:t>, from </a:t>
            </a:r>
            <a:r>
              <a:rPr lang="en-US" altLang="zh-CN" b="1" dirty="0" err="1"/>
              <a:t>OSWorld</a:t>
            </a:r>
            <a:r>
              <a:rPr lang="en-US" altLang="zh-CN" dirty="0"/>
              <a:t>, to </a:t>
            </a:r>
            <a:r>
              <a:rPr lang="en-US" altLang="zh-CN" b="1" dirty="0" err="1"/>
              <a:t>CogAgent</a:t>
            </a:r>
            <a:r>
              <a:rPr lang="en-US" altLang="zh-CN" dirty="0"/>
              <a:t>, and then </a:t>
            </a:r>
            <a:r>
              <a:rPr lang="en-US" altLang="zh-CN" b="1" dirty="0"/>
              <a:t>OSCAR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After that, I will discuss </a:t>
            </a:r>
            <a:r>
              <a:rPr lang="en-US" altLang="zh-CN" b="1" dirty="0"/>
              <a:t>security and runtime issues</a:t>
            </a:r>
            <a:r>
              <a:rPr lang="en-US" altLang="zh-CN" dirty="0"/>
              <a:t>, using </a:t>
            </a:r>
            <a:r>
              <a:rPr lang="en-US" altLang="zh-CN" b="1" dirty="0" err="1"/>
              <a:t>OpenClaw</a:t>
            </a:r>
            <a:r>
              <a:rPr lang="en-US" altLang="zh-CN" b="1" dirty="0"/>
              <a:t> as example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Finally, I’ll conclude with a takeaway message page.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240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is a quick look at the history of operating systems.</a:t>
            </a:r>
          </a:p>
          <a:p>
            <a:r>
              <a:rPr lang="en-US" altLang="zh-CN" dirty="0"/>
              <a:t>In the </a:t>
            </a:r>
            <a:r>
              <a:rPr lang="en-US" altLang="zh-CN" b="1" dirty="0"/>
              <a:t>1950s</a:t>
            </a:r>
            <a:r>
              <a:rPr lang="en-US" altLang="zh-CN" dirty="0"/>
              <a:t>, early systems used </a:t>
            </a:r>
            <a:r>
              <a:rPr lang="en-US" altLang="zh-CN" b="1" dirty="0"/>
              <a:t>resident monitors</a:t>
            </a:r>
            <a:r>
              <a:rPr lang="en-US" altLang="zh-CN" dirty="0"/>
              <a:t>, where users interacted almost directly with hardware.</a:t>
            </a:r>
          </a:p>
          <a:p>
            <a:r>
              <a:rPr lang="en-US" altLang="zh-CN" dirty="0"/>
              <a:t>In the </a:t>
            </a:r>
            <a:r>
              <a:rPr lang="en-US" altLang="zh-CN" b="1" dirty="0"/>
              <a:t>1960s</a:t>
            </a:r>
            <a:r>
              <a:rPr lang="en-US" altLang="zh-CN" dirty="0"/>
              <a:t>, </a:t>
            </a:r>
            <a:r>
              <a:rPr lang="en-US" altLang="zh-CN" b="1" dirty="0"/>
              <a:t>time-sharing systems such as Multics</a:t>
            </a:r>
            <a:r>
              <a:rPr lang="en-US" altLang="zh-CN" dirty="0"/>
              <a:t> allowed multiple users to share a single machine, introducing a new abstraction for managing computing resources.</a:t>
            </a:r>
          </a:p>
          <a:p>
            <a:r>
              <a:rPr lang="en-US" altLang="zh-CN" dirty="0"/>
              <a:t>Then </a:t>
            </a:r>
            <a:r>
              <a:rPr lang="en-US" altLang="zh-CN" b="1" dirty="0"/>
              <a:t>IBM’s OS/360</a:t>
            </a:r>
            <a:r>
              <a:rPr lang="en-US" altLang="zh-CN" dirty="0"/>
              <a:t> standardized system software across different hardware platforms, making software more portable across machines.</a:t>
            </a:r>
          </a:p>
          <a:p>
            <a:r>
              <a:rPr lang="en-US" altLang="zh-CN" dirty="0"/>
              <a:t>Later, </a:t>
            </a:r>
            <a:r>
              <a:rPr lang="en-US" altLang="zh-CN" b="1" dirty="0"/>
              <a:t>UNIX</a:t>
            </a:r>
            <a:r>
              <a:rPr lang="en-US" altLang="zh-CN" dirty="0"/>
              <a:t> simplified system design and introduced powerful command-line tools for developers.</a:t>
            </a:r>
          </a:p>
          <a:p>
            <a:r>
              <a:rPr lang="en-US" altLang="zh-CN" dirty="0"/>
              <a:t>Finally, the </a:t>
            </a:r>
            <a:r>
              <a:rPr lang="en-US" altLang="zh-CN" b="1" dirty="0"/>
              <a:t>GUI era</a:t>
            </a:r>
            <a:r>
              <a:rPr lang="en-US" altLang="zh-CN" dirty="0"/>
              <a:t> made computers accessible to everyday users through graphical interfaces.</a:t>
            </a:r>
          </a:p>
          <a:p>
            <a:r>
              <a:rPr lang="en-US" altLang="zh-CN" dirty="0"/>
              <a:t>The key takeaway is that </a:t>
            </a:r>
            <a:r>
              <a:rPr lang="en-US" altLang="zh-CN" b="1" dirty="0"/>
              <a:t>each milestone introduced a new abstraction layer</a:t>
            </a:r>
            <a:r>
              <a:rPr lang="en-US" altLang="zh-CN" dirty="0"/>
              <a:t>, which reduced the cognitive cost of using computers.</a:t>
            </a:r>
          </a:p>
          <a:p>
            <a:r>
              <a:rPr lang="en-US" altLang="zh-CN" dirty="0"/>
              <a:t>So the natural question is:</a:t>
            </a:r>
            <a:br>
              <a:rPr lang="en-US" altLang="zh-CN" dirty="0"/>
            </a:br>
            <a:r>
              <a:rPr lang="en-US" altLang="zh-CN" b="1" dirty="0"/>
              <a:t>what could be the next abstraction layer?</a:t>
            </a:r>
            <a:br>
              <a:rPr lang="en-US" altLang="zh-CN" b="1" dirty="0"/>
            </a:br>
            <a:r>
              <a:rPr lang="zh-CN" altLang="en-US" dirty="0"/>
              <a:t>我们先快速回顾一下操作系统的发展历史。</a:t>
            </a:r>
          </a:p>
          <a:p>
            <a:r>
              <a:rPr lang="zh-CN" altLang="en-US" dirty="0"/>
              <a:t>在 </a:t>
            </a:r>
            <a:r>
              <a:rPr lang="en-US" altLang="zh-CN" b="1" dirty="0"/>
              <a:t>1950</a:t>
            </a:r>
            <a:r>
              <a:rPr lang="zh-CN" altLang="en-US" b="1" dirty="0"/>
              <a:t>年代</a:t>
            </a:r>
            <a:r>
              <a:rPr lang="zh-CN" altLang="en-US" dirty="0"/>
              <a:t>，计算机使用的是 </a:t>
            </a:r>
            <a:r>
              <a:rPr lang="en-US" altLang="zh-CN" b="1" dirty="0"/>
              <a:t>Resident Monitor</a:t>
            </a:r>
            <a:r>
              <a:rPr lang="zh-CN" altLang="en-US" dirty="0"/>
              <a:t>，用户基本上仍然需要直接与底层硬件进行交互。</a:t>
            </a:r>
          </a:p>
          <a:p>
            <a:r>
              <a:rPr lang="zh-CN" altLang="en-US" dirty="0"/>
              <a:t>到了 </a:t>
            </a:r>
            <a:r>
              <a:rPr lang="en-US" altLang="zh-CN" b="1" dirty="0"/>
              <a:t>1960</a:t>
            </a:r>
            <a:r>
              <a:rPr lang="zh-CN" altLang="en-US" b="1" dirty="0"/>
              <a:t>年代</a:t>
            </a:r>
            <a:r>
              <a:rPr lang="zh-CN" altLang="en-US" dirty="0"/>
              <a:t>，</a:t>
            </a:r>
            <a:r>
              <a:rPr lang="en-US" altLang="zh-CN" b="1" dirty="0"/>
              <a:t>Multics </a:t>
            </a:r>
            <a:r>
              <a:rPr lang="zh-CN" altLang="en-US" b="1" dirty="0"/>
              <a:t>等分时系统</a:t>
            </a:r>
            <a:r>
              <a:rPr lang="zh-CN" altLang="en-US" dirty="0"/>
              <a:t>出现，使得多用户可以共享一台计算机，引入了新的计算资源管理抽象。</a:t>
            </a:r>
          </a:p>
          <a:p>
            <a:r>
              <a:rPr lang="zh-CN" altLang="en-US" dirty="0"/>
              <a:t>随后 </a:t>
            </a:r>
            <a:r>
              <a:rPr lang="en-US" altLang="zh-CN" b="1" dirty="0"/>
              <a:t>IBM </a:t>
            </a:r>
            <a:r>
              <a:rPr lang="zh-CN" altLang="en-US" b="1" dirty="0"/>
              <a:t>的 </a:t>
            </a:r>
            <a:r>
              <a:rPr lang="en-US" altLang="zh-CN" b="1" dirty="0"/>
              <a:t>OS/360</a:t>
            </a:r>
            <a:r>
              <a:rPr lang="zh-CN" altLang="en-US" dirty="0"/>
              <a:t> 将操作系统在不同硬件平台上进行了标准化，使软件可以在不同机器之间迁移。</a:t>
            </a:r>
          </a:p>
          <a:p>
            <a:r>
              <a:rPr lang="zh-CN" altLang="en-US" dirty="0"/>
              <a:t>后来 </a:t>
            </a:r>
            <a:r>
              <a:rPr lang="en-US" altLang="zh-CN" b="1" dirty="0"/>
              <a:t>UNIX</a:t>
            </a:r>
            <a:r>
              <a:rPr lang="zh-CN" altLang="en-US" dirty="0"/>
              <a:t> 简化了系统设计，并为开发者提供了强大的命令行工具。</a:t>
            </a:r>
          </a:p>
          <a:p>
            <a:r>
              <a:rPr lang="zh-CN" altLang="en-US" dirty="0"/>
              <a:t>再到后来，</a:t>
            </a:r>
            <a:r>
              <a:rPr lang="zh-CN" altLang="en-US" b="1" dirty="0"/>
              <a:t>图形界面（</a:t>
            </a:r>
            <a:r>
              <a:rPr lang="en-US" altLang="zh-CN" b="1" dirty="0"/>
              <a:t>GUI</a:t>
            </a:r>
            <a:r>
              <a:rPr lang="zh-CN" altLang="en-US" b="1" dirty="0"/>
              <a:t>）时代</a:t>
            </a:r>
            <a:r>
              <a:rPr lang="zh-CN" altLang="en-US" dirty="0"/>
              <a:t>让普通用户也能够通过可视化界面轻松使用计算机。</a:t>
            </a:r>
          </a:p>
          <a:p>
            <a:r>
              <a:rPr lang="zh-CN" altLang="en-US" dirty="0"/>
              <a:t>关键在于，</a:t>
            </a:r>
            <a:r>
              <a:rPr lang="zh-CN" altLang="en-US" b="1" dirty="0"/>
              <a:t>每一次技术演进都引入了一层新的抽象层</a:t>
            </a:r>
            <a:r>
              <a:rPr lang="zh-CN" altLang="en-US" dirty="0"/>
              <a:t>，从而降低了人类使用计算机的认知成本。</a:t>
            </a:r>
          </a:p>
          <a:p>
            <a:r>
              <a:rPr lang="zh-CN" altLang="en-US" dirty="0"/>
              <a:t>因此一个自然的问题是：</a:t>
            </a:r>
            <a:br>
              <a:rPr lang="zh-CN" altLang="en-US" dirty="0"/>
            </a:br>
            <a:r>
              <a:rPr lang="zh-CN" altLang="en-US" b="1" dirty="0"/>
              <a:t>下一层计算抽象会是什么？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730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3E7C-5C65-E2F9-7737-E1FF042A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41B5C9-4C18-4F88-3C15-CED9CFBA4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74B2F0-E4F2-F823-A038-C5817E2B7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what do we mean by an </a:t>
            </a:r>
            <a:r>
              <a:rPr lang="en-US" altLang="zh-CN" b="1" dirty="0"/>
              <a:t>agentic OS layer</a:t>
            </a:r>
            <a:r>
              <a:rPr lang="en-US" altLang="zh-CN" dirty="0"/>
              <a:t>?</a:t>
            </a:r>
          </a:p>
          <a:p>
            <a:r>
              <a:rPr lang="en-US" altLang="zh-CN" dirty="0"/>
              <a:t>We can think of it as a new abstraction layer that sits on top of existing applications and operating systems.</a:t>
            </a:r>
          </a:p>
          <a:p>
            <a:r>
              <a:rPr lang="en-US" altLang="zh-CN" dirty="0"/>
              <a:t>First, it </a:t>
            </a:r>
            <a:r>
              <a:rPr lang="en-US" altLang="zh-CN" b="1" dirty="0"/>
              <a:t>takes user goals expressed in natural language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Then it </a:t>
            </a:r>
            <a:r>
              <a:rPr lang="en-US" altLang="zh-CN" b="1" dirty="0"/>
              <a:t>observes the real state of the computer</a:t>
            </a:r>
            <a:r>
              <a:rPr lang="en-US" altLang="zh-CN" dirty="0"/>
              <a:t>, including applications, files, and system context.</a:t>
            </a:r>
          </a:p>
          <a:p>
            <a:r>
              <a:rPr lang="en-US" altLang="zh-CN" dirty="0"/>
              <a:t>Based on that state, the agent can </a:t>
            </a:r>
            <a:r>
              <a:rPr lang="en-US" altLang="zh-CN" b="1" dirty="0"/>
              <a:t>plan and execute actions across multiple applications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After execution, it </a:t>
            </a:r>
            <a:r>
              <a:rPr lang="en-US" altLang="zh-CN" b="1" dirty="0"/>
              <a:t>verifies whether the intended outcomes are achieved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And importantly, it must </a:t>
            </a:r>
            <a:r>
              <a:rPr lang="en-US" altLang="zh-CN" b="1" dirty="0"/>
              <a:t>enforce safety boundaries</a:t>
            </a:r>
            <a:r>
              <a:rPr lang="en-US" altLang="zh-CN" dirty="0"/>
              <a:t>, ensuring that actions remain secure and aligned with user intent.</a:t>
            </a:r>
          </a:p>
          <a:p>
            <a:r>
              <a:rPr lang="en-US" altLang="zh-CN" dirty="0"/>
              <a:t>In short, the agent becomes a </a:t>
            </a:r>
            <a:r>
              <a:rPr lang="en-US" altLang="zh-CN" b="1" dirty="0"/>
              <a:t>goal-driven interface to the entire computing environment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30978-E6F2-6BA5-D8D2-AE29FF874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9365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 building agentic OS systems, we first need a benchmark.</a:t>
            </a:r>
          </a:p>
          <a:p>
            <a:r>
              <a:rPr lang="en-US" altLang="zh-CN" dirty="0"/>
              <a:t>Without a realistic benchmark, agents are not truly comparable, there is no standard OS environment, and real-world computer complexity is hard to capture.</a:t>
            </a:r>
          </a:p>
          <a:p>
            <a:r>
              <a:rPr lang="en-US" altLang="zh-CN" dirty="0"/>
              <a:t>This is why </a:t>
            </a:r>
            <a:r>
              <a:rPr lang="en-US" altLang="zh-CN" b="1" dirty="0" err="1"/>
              <a:t>OSWorld</a:t>
            </a:r>
            <a:r>
              <a:rPr lang="en-US" altLang="zh-CN" dirty="0"/>
              <a:t> comes first.</a:t>
            </a:r>
          </a:p>
          <a:p>
            <a:r>
              <a:rPr lang="en-US" altLang="zh-CN" dirty="0" err="1"/>
              <a:t>OSWorld</a:t>
            </a:r>
            <a:r>
              <a:rPr lang="en-US" altLang="zh-CN" dirty="0"/>
              <a:t> provides a </a:t>
            </a:r>
            <a:r>
              <a:rPr lang="en-US" altLang="zh-CN" b="1" dirty="0"/>
              <a:t>real computer benchmark</a:t>
            </a:r>
            <a:r>
              <a:rPr lang="en-US" altLang="zh-CN" dirty="0"/>
              <a:t> with both single-app tasks and multi-app workflows.</a:t>
            </a:r>
          </a:p>
          <a:p>
            <a:r>
              <a:rPr lang="en-US" altLang="zh-CN" dirty="0"/>
              <a:t>So in the research path, </a:t>
            </a:r>
            <a:r>
              <a:rPr lang="en-US" altLang="zh-CN" dirty="0" err="1"/>
              <a:t>OSWorld</a:t>
            </a:r>
            <a:r>
              <a:rPr lang="en-US" altLang="zh-CN" dirty="0"/>
              <a:t> is the foundation for measuring whether agents can truly operate computers.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820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key contribution of </a:t>
            </a:r>
            <a:r>
              <a:rPr lang="en-US" altLang="zh-CN" dirty="0" err="1"/>
              <a:t>OSWorld</a:t>
            </a:r>
            <a:r>
              <a:rPr lang="en-US" altLang="zh-CN" dirty="0"/>
              <a:t> is that it provides the </a:t>
            </a:r>
            <a:r>
              <a:rPr lang="en-US" altLang="zh-CN" b="1" dirty="0"/>
              <a:t>first scalable real-computer benchmark</a:t>
            </a:r>
            <a:r>
              <a:rPr lang="en-US" altLang="zh-CN" dirty="0"/>
              <a:t> for open-ended agent evaluation.</a:t>
            </a:r>
          </a:p>
          <a:p>
            <a:r>
              <a:rPr lang="en-US" altLang="zh-CN" dirty="0"/>
              <a:t>It includes </a:t>
            </a:r>
            <a:r>
              <a:rPr lang="en-US" altLang="zh-CN" b="1" dirty="0"/>
              <a:t>369 real-world tasks</a:t>
            </a:r>
            <a:r>
              <a:rPr lang="en-US" altLang="zh-CN" dirty="0"/>
              <a:t>, covering both arbitrary applications and cross-app workflows, so the benchmark reflects the complexity of actual computer use.</a:t>
            </a:r>
          </a:p>
          <a:p>
            <a:r>
              <a:rPr lang="en-US" altLang="zh-CN" dirty="0"/>
              <a:t>Just as importantly, </a:t>
            </a:r>
            <a:r>
              <a:rPr lang="en-US" altLang="zh-CN" dirty="0" err="1"/>
              <a:t>OSWorld</a:t>
            </a:r>
            <a:r>
              <a:rPr lang="en-US" altLang="zh-CN" dirty="0"/>
              <a:t> provides </a:t>
            </a:r>
            <a:r>
              <a:rPr lang="en-US" altLang="zh-CN" b="1" dirty="0"/>
              <a:t>reproducible task environments</a:t>
            </a:r>
            <a:r>
              <a:rPr lang="en-US" altLang="zh-CN" dirty="0"/>
              <a:t> and </a:t>
            </a:r>
            <a:r>
              <a:rPr lang="en-US" altLang="zh-CN" b="1" dirty="0"/>
              <a:t>execution-based evaluators</a:t>
            </a:r>
            <a:r>
              <a:rPr lang="en-US" altLang="zh-CN" dirty="0"/>
              <a:t>, which means we can measure whether an agent truly completes a task, rather than only matching text outputs.</a:t>
            </a:r>
          </a:p>
          <a:p>
            <a:r>
              <a:rPr lang="en-US" altLang="zh-CN" dirty="0"/>
              <a:t>So overall, </a:t>
            </a:r>
            <a:r>
              <a:rPr lang="en-US" altLang="zh-CN" dirty="0" err="1"/>
              <a:t>OSWorld</a:t>
            </a:r>
            <a:r>
              <a:rPr lang="en-US" altLang="zh-CN" dirty="0"/>
              <a:t> gives us a realistic and standardized foundation for evaluating computer-use agents.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71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 are the key numbers from </a:t>
            </a:r>
            <a:r>
              <a:rPr lang="en-US" altLang="zh-CN" b="1" dirty="0" err="1"/>
              <a:t>OSWorld</a:t>
            </a:r>
            <a:r>
              <a:rPr lang="en-US" altLang="zh-CN" b="1" dirty="0"/>
              <a:t> </a:t>
            </a:r>
            <a:r>
              <a:rPr lang="en-US" altLang="zh-CN" dirty="0"/>
              <a:t>benchmark.</a:t>
            </a:r>
          </a:p>
          <a:p>
            <a:r>
              <a:rPr lang="en-US" altLang="zh-CN" dirty="0"/>
              <a:t>The benchmark contains </a:t>
            </a:r>
            <a:r>
              <a:rPr lang="en-US" altLang="zh-CN" b="1" dirty="0"/>
              <a:t>Ubuntu tasks</a:t>
            </a:r>
            <a:r>
              <a:rPr lang="en-US" altLang="zh-CN" dirty="0"/>
              <a:t>, with an additional Windows analysis set, so it already covers a broad range of realistic computer-use scenarios.</a:t>
            </a:r>
          </a:p>
          <a:p>
            <a:r>
              <a:rPr lang="en-US" altLang="zh-CN" dirty="0"/>
              <a:t>What is especially showcases is the performance gap.</a:t>
            </a:r>
            <a:br>
              <a:rPr lang="en-US" altLang="zh-CN" dirty="0"/>
            </a:br>
            <a:r>
              <a:rPr lang="en-US" altLang="zh-CN" dirty="0"/>
              <a:t>Humans achieve </a:t>
            </a:r>
            <a:r>
              <a:rPr lang="en-US" altLang="zh-CN" b="1" dirty="0"/>
              <a:t>72.36% success</a:t>
            </a:r>
            <a:r>
              <a:rPr lang="en-US" altLang="zh-CN" dirty="0"/>
              <a:t>, while the best published baseline reaches only </a:t>
            </a:r>
            <a:r>
              <a:rPr lang="en-US" altLang="zh-CN" b="1" dirty="0"/>
              <a:t>12.24%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table on the right, further breaks results down across five task categories: </a:t>
            </a:r>
            <a:r>
              <a:rPr lang="en-US" altLang="zh-CN" b="1" dirty="0"/>
              <a:t>OS, Office, Daily, Professional, and Workflow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So today’s agents are still far from human-level computer use.</a:t>
            </a:r>
          </a:p>
          <a:p>
            <a:r>
              <a:rPr lang="en-US" altLang="zh-CN" dirty="0"/>
              <a:t>And this gap is not just about language understanding — it mainly reflects weaknesses in </a:t>
            </a:r>
            <a:r>
              <a:rPr lang="en-US" altLang="zh-CN" b="1" dirty="0"/>
              <a:t>GUI grounding</a:t>
            </a:r>
            <a:r>
              <a:rPr lang="en-US" altLang="zh-CN" dirty="0"/>
              <a:t> and </a:t>
            </a:r>
            <a:r>
              <a:rPr lang="en-US" altLang="zh-CN" b="1" dirty="0"/>
              <a:t>operational knowledge</a:t>
            </a:r>
            <a:r>
              <a:rPr lang="en-US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384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OSWorld</a:t>
            </a:r>
            <a:r>
              <a:rPr lang="en-US" altLang="zh-CN" dirty="0"/>
              <a:t> has substantial manual effort in data collection.</a:t>
            </a:r>
          </a:p>
          <a:p>
            <a:r>
              <a:rPr lang="en-US" altLang="zh-CN" dirty="0"/>
              <a:t>It includes </a:t>
            </a:r>
            <a:r>
              <a:rPr lang="en-US" altLang="zh-CN" b="1" dirty="0"/>
              <a:t>369 Ubuntu tasks</a:t>
            </a:r>
            <a:r>
              <a:rPr lang="en-US" altLang="zh-CN" dirty="0"/>
              <a:t> plus </a:t>
            </a:r>
            <a:r>
              <a:rPr lang="en-US" altLang="zh-CN" b="1" dirty="0"/>
              <a:t>43 Windows tasks</a:t>
            </a:r>
            <a:r>
              <a:rPr lang="en-US" altLang="zh-CN" dirty="0"/>
              <a:t>, all derived from real computer-use scenarios. </a:t>
            </a:r>
          </a:p>
          <a:p>
            <a:r>
              <a:rPr lang="en-US" altLang="zh-CN" dirty="0"/>
              <a:t>The authors also added </a:t>
            </a:r>
            <a:r>
              <a:rPr lang="en-US" altLang="zh-CN" b="1" dirty="0"/>
              <a:t>84 benchmark-integrated tasks</a:t>
            </a:r>
            <a:r>
              <a:rPr lang="en-US" altLang="zh-CN" dirty="0"/>
              <a:t> and </a:t>
            </a:r>
            <a:r>
              <a:rPr lang="en-US" altLang="zh-CN" b="1" dirty="0"/>
              <a:t>30 infeasible tasks</a:t>
            </a:r>
            <a:r>
              <a:rPr lang="en-US" altLang="zh-CN" dirty="0"/>
              <a:t> to broaden coverage and better reflect real-world requests.</a:t>
            </a:r>
          </a:p>
          <a:p>
            <a:r>
              <a:rPr lang="en-US" altLang="zh-CN" dirty="0"/>
              <a:t>In total, task collection took about </a:t>
            </a:r>
            <a:r>
              <a:rPr lang="en-US" altLang="zh-CN" b="1" dirty="0"/>
              <a:t>400 man-hours</a:t>
            </a:r>
            <a:r>
              <a:rPr lang="en-US" altLang="zh-CN" dirty="0"/>
              <a:t>, and the full pipeline — including setup, evaluation, and quality control — took about </a:t>
            </a:r>
            <a:r>
              <a:rPr lang="en-US" altLang="zh-CN" b="1" dirty="0"/>
              <a:t>1,800 man-hours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Each task was also </a:t>
            </a:r>
            <a:r>
              <a:rPr lang="en-US" altLang="zh-CN" b="1" dirty="0"/>
              <a:t>cross-checked by two other authors</a:t>
            </a:r>
            <a:r>
              <a:rPr lang="en-US" altLang="zh-CN" dirty="0"/>
              <a:t>, which made the benchmark more reliable and reproducible.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305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benchmark is not limited to one interface or one app type; it can evaluate open-ended tasks across arbitrary applications in a real OS environment. </a:t>
            </a:r>
          </a:p>
          <a:p>
            <a:r>
              <a:rPr lang="en-US" altLang="zh-CN" dirty="0"/>
              <a:t>A key design choice in </a:t>
            </a:r>
            <a:r>
              <a:rPr lang="en-US" altLang="zh-CN" dirty="0" err="1"/>
              <a:t>OSWorld</a:t>
            </a:r>
            <a:r>
              <a:rPr lang="en-US" altLang="zh-CN" dirty="0"/>
              <a:t> is </a:t>
            </a:r>
            <a:r>
              <a:rPr lang="en-US" altLang="zh-CN" b="1" dirty="0"/>
              <a:t>execution-based evaluation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Instead of only checking the final text output, </a:t>
            </a:r>
            <a:r>
              <a:rPr lang="en-US" altLang="zh-CN" dirty="0" err="1"/>
              <a:t>OSWorld</a:t>
            </a:r>
            <a:r>
              <a:rPr lang="en-US" altLang="zh-CN" dirty="0"/>
              <a:t> checks whether the agent actually changes the computer state in the right way. </a:t>
            </a:r>
          </a:p>
          <a:p>
            <a:r>
              <a:rPr lang="en-US" altLang="zh-CN" dirty="0"/>
              <a:t>For each task, </a:t>
            </a:r>
            <a:r>
              <a:rPr lang="en-US" altLang="zh-CN" dirty="0" err="1"/>
              <a:t>OSWorld</a:t>
            </a:r>
            <a:r>
              <a:rPr lang="en-US" altLang="zh-CN" dirty="0"/>
              <a:t> provides a </a:t>
            </a:r>
            <a:r>
              <a:rPr lang="en-US" altLang="zh-CN" b="1" dirty="0"/>
              <a:t>custom evaluation script</a:t>
            </a:r>
            <a:r>
              <a:rPr lang="en-US" altLang="zh-CN" dirty="0"/>
              <a:t>, so success can be verified respectively. </a:t>
            </a:r>
          </a:p>
          <a:p>
            <a:r>
              <a:rPr lang="en-US" altLang="zh-CN" dirty="0"/>
              <a:t>These evaluators can check many different outcomes, including </a:t>
            </a:r>
            <a:r>
              <a:rPr lang="en-US" altLang="zh-CN" b="1" dirty="0"/>
              <a:t>files, applications, UI states, and cross-app workflows</a:t>
            </a:r>
            <a:r>
              <a:rPr lang="en-US" altLang="zh-CN" dirty="0"/>
              <a:t>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602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 are the main failure modes observed in </a:t>
            </a:r>
            <a:r>
              <a:rPr lang="en-US" altLang="zh-CN" b="1" dirty="0" err="1"/>
              <a:t>OSWorld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first is </a:t>
            </a:r>
            <a:r>
              <a:rPr lang="en-US" altLang="zh-CN" b="1" dirty="0"/>
              <a:t>GUI errors</a:t>
            </a:r>
            <a:r>
              <a:rPr lang="en-US" altLang="zh-CN" dirty="0"/>
              <a:t>. Even when the agent understands the goal, it may still click the wrong target or make inaccurate operations in a complex interface.</a:t>
            </a:r>
          </a:p>
          <a:p>
            <a:r>
              <a:rPr lang="en-US" altLang="zh-CN" dirty="0"/>
              <a:t>The second is </a:t>
            </a:r>
            <a:r>
              <a:rPr lang="en-US" altLang="zh-CN" b="1" dirty="0"/>
              <a:t>UI state drift</a:t>
            </a:r>
            <a:r>
              <a:rPr lang="en-US" altLang="zh-CN" dirty="0"/>
              <a:t>. A small mistake early on can change the interface state and make all later actions unstable.</a:t>
            </a:r>
          </a:p>
          <a:p>
            <a:r>
              <a:rPr lang="en-US" altLang="zh-CN" dirty="0"/>
              <a:t>Third, agents are highly sensitive to </a:t>
            </a:r>
            <a:r>
              <a:rPr lang="en-US" altLang="zh-CN" b="1" dirty="0"/>
              <a:t>pop-ups and visual noise</a:t>
            </a:r>
            <a:r>
              <a:rPr lang="en-US" altLang="zh-CN" dirty="0"/>
              <a:t>. Unexpected windows or cluttered layouts can easily break an action chain.</a:t>
            </a:r>
          </a:p>
          <a:p>
            <a:r>
              <a:rPr lang="en-US" altLang="zh-CN" dirty="0"/>
              <a:t>Another major issue is </a:t>
            </a:r>
            <a:r>
              <a:rPr lang="en-US" altLang="zh-CN" b="1" dirty="0"/>
              <a:t>insufficient operational knowledge</a:t>
            </a:r>
            <a:r>
              <a:rPr lang="en-US" altLang="zh-CN" dirty="0"/>
              <a:t>. The agent may know what it wants to do, but not how to use a specific tool correctly.</a:t>
            </a:r>
          </a:p>
          <a:p>
            <a:r>
              <a:rPr lang="en-US" altLang="zh-CN" dirty="0"/>
              <a:t>Overall, for LLMs, </a:t>
            </a:r>
            <a:r>
              <a:rPr lang="en-US" altLang="zh-CN" b="1" dirty="0"/>
              <a:t>planning is often easier than execution</a:t>
            </a:r>
            <a:r>
              <a:rPr lang="en-US" altLang="zh-CN" dirty="0"/>
              <a:t>. Agents can generate reasonable high-level plans, but still fail in step-by-step computer control.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5396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From </a:t>
            </a:r>
            <a:r>
              <a:rPr lang="en-US" altLang="zh-CN" dirty="0" err="1"/>
              <a:t>OSWorld</a:t>
            </a:r>
            <a:r>
              <a:rPr lang="en-US" altLang="zh-CN" dirty="0"/>
              <a:t>, we learned that a major bottleneck is not only planning, but also </a:t>
            </a:r>
            <a:r>
              <a:rPr lang="en-US" altLang="zh-CN" b="1" dirty="0"/>
              <a:t>perception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Many failures begin with weak GUI grounding.</a:t>
            </a:r>
          </a:p>
          <a:p>
            <a:r>
              <a:rPr lang="en-US" altLang="zh-CN" dirty="0"/>
              <a:t>Modern interfaces are challenging because they contain </a:t>
            </a:r>
            <a:r>
              <a:rPr lang="en-US" altLang="zh-CN" b="1" dirty="0"/>
              <a:t>dense layouts, tiny text, and small visual targets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Even when an agent knows what to do, it may still fail to identify exactly </a:t>
            </a:r>
            <a:r>
              <a:rPr lang="en-US" altLang="zh-CN" b="1" dirty="0"/>
              <a:t>where to act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This is the gap that </a:t>
            </a:r>
            <a:r>
              <a:rPr lang="en-US" altLang="zh-CN" b="1" dirty="0" err="1"/>
              <a:t>CogAgent</a:t>
            </a:r>
            <a:r>
              <a:rPr lang="en-US" altLang="zh-CN" dirty="0"/>
              <a:t> tries to address.</a:t>
            </a:r>
            <a:br>
              <a:rPr lang="en-US" altLang="zh-CN" dirty="0"/>
            </a:br>
            <a:r>
              <a:rPr lang="en-US" altLang="zh-CN" dirty="0"/>
              <a:t>Its focus is GUI understanding from visual inputs, especially under </a:t>
            </a:r>
            <a:r>
              <a:rPr lang="en-US" altLang="zh-CN" b="1" dirty="0"/>
              <a:t>high-resolution interfaces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For step2, the key idea is simple:</a:t>
            </a:r>
            <a:br>
              <a:rPr lang="en-US" altLang="zh-CN" dirty="0"/>
            </a:br>
            <a:r>
              <a:rPr lang="en-US" altLang="zh-CN" dirty="0"/>
              <a:t>before an agent can act reliably, it must first </a:t>
            </a:r>
            <a:r>
              <a:rPr lang="en-US" altLang="zh-CN" b="1" dirty="0"/>
              <a:t>perceive the GUI accurately</a:t>
            </a:r>
            <a:r>
              <a:rPr lang="en-US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8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Next, We will move to </a:t>
            </a:r>
            <a:r>
              <a:rPr lang="en-US" altLang="zh-CN" b="1" dirty="0" err="1"/>
              <a:t>CogAgent</a:t>
            </a:r>
            <a:r>
              <a:rPr lang="en-US" altLang="zh-CN" dirty="0"/>
              <a:t>, which focuses on GUI perception.</a:t>
            </a:r>
          </a:p>
          <a:p>
            <a:endParaRPr lang="en-US" altLang="zh-CN" dirty="0"/>
          </a:p>
          <a:p>
            <a:r>
              <a:rPr lang="en-US" altLang="zh-CN" dirty="0"/>
              <a:t>The first key point is that </a:t>
            </a:r>
            <a:r>
              <a:rPr lang="en-US" altLang="zh-CN" b="1" dirty="0" err="1"/>
              <a:t>CogAgent</a:t>
            </a:r>
            <a:r>
              <a:rPr lang="en-US" altLang="zh-CN" b="1" dirty="0"/>
              <a:t> is a specialized 18B visual language model for GUI understanding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Its goal is not general vision alone, but understanding interfaces and supporting GUI-based interaction.</a:t>
            </a:r>
          </a:p>
          <a:p>
            <a:endParaRPr lang="en-US" altLang="zh-CN" dirty="0"/>
          </a:p>
          <a:p>
            <a:r>
              <a:rPr lang="en-US" altLang="zh-CN" dirty="0"/>
              <a:t>The second point is its </a:t>
            </a:r>
            <a:r>
              <a:rPr lang="en-US" altLang="zh-CN" b="1" dirty="0"/>
              <a:t>visual input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 err="1"/>
              <a:t>CogAgent</a:t>
            </a:r>
            <a:r>
              <a:rPr lang="en-US" altLang="zh-CN" dirty="0"/>
              <a:t> supports </a:t>
            </a:r>
            <a:r>
              <a:rPr lang="en-US" altLang="zh-CN" b="1" dirty="0"/>
              <a:t>a high resolution</a:t>
            </a:r>
            <a:r>
              <a:rPr lang="en-US" altLang="zh-CN" dirty="0"/>
              <a:t>, which is especially important for GUI tasks, because real interfaces often contain tiny text, small buttons, and dense layouts.</a:t>
            </a:r>
          </a:p>
          <a:p>
            <a:endParaRPr lang="en-US" altLang="zh-CN" dirty="0"/>
          </a:p>
          <a:p>
            <a:r>
              <a:rPr lang="en-US" altLang="zh-CN" dirty="0"/>
              <a:t>The third point is the empirical result: </a:t>
            </a:r>
            <a:r>
              <a:rPr lang="en-US" altLang="zh-CN" b="1" dirty="0" err="1"/>
              <a:t>CogAgent</a:t>
            </a:r>
            <a:r>
              <a:rPr lang="en-US" altLang="zh-CN" b="1" dirty="0"/>
              <a:t> achieves screenshot-only </a:t>
            </a:r>
            <a:r>
              <a:rPr lang="en-US" altLang="zh-CN" b="1" dirty="0" err="1"/>
              <a:t>sota</a:t>
            </a:r>
            <a:r>
              <a:rPr lang="en-US" altLang="zh-CN" b="1" dirty="0"/>
              <a:t> performance on GUI navigation benchmarks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This shows that stronger visual grounding can directly improve an agent’s ability to understand and navigate interfaces.</a:t>
            </a:r>
          </a:p>
          <a:p>
            <a:endParaRPr lang="en-US" altLang="zh-CN" dirty="0"/>
          </a:p>
          <a:p>
            <a:r>
              <a:rPr lang="en-US" altLang="zh-CN" dirty="0"/>
              <a:t>So overall, if </a:t>
            </a:r>
            <a:r>
              <a:rPr lang="en-US" altLang="zh-CN" dirty="0" err="1"/>
              <a:t>OSWorld</a:t>
            </a:r>
            <a:r>
              <a:rPr lang="en-US" altLang="zh-CN" dirty="0"/>
              <a:t> tells us that agents fail on GUI grounding, then </a:t>
            </a:r>
            <a:r>
              <a:rPr lang="en-US" altLang="zh-CN" dirty="0" err="1"/>
              <a:t>CogAgent</a:t>
            </a:r>
            <a:r>
              <a:rPr lang="en-US" altLang="zh-CN" dirty="0"/>
              <a:t> is an important step toward solving that perception bottleneck.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70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let’s look at the architecture of </a:t>
            </a:r>
            <a:r>
              <a:rPr lang="en-US" altLang="zh-CN" b="1" dirty="0" err="1"/>
              <a:t>CogAgent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CogAgent</a:t>
            </a:r>
            <a:r>
              <a:rPr lang="en-US" altLang="zh-CN" dirty="0"/>
              <a:t> is built on </a:t>
            </a:r>
            <a:r>
              <a:rPr lang="en-US" altLang="zh-CN" b="1" dirty="0" err="1"/>
              <a:t>CogVLM</a:t>
            </a:r>
            <a:r>
              <a:rPr lang="en-US" altLang="zh-CN" dirty="0"/>
              <a:t>, a pretrained vision-language foundation model.</a:t>
            </a:r>
            <a:br>
              <a:rPr lang="en-US" altLang="zh-CN" dirty="0"/>
            </a:br>
            <a:r>
              <a:rPr lang="en-US" altLang="zh-CN" dirty="0"/>
              <a:t>The main idea is to improve GUI grounding by combining </a:t>
            </a:r>
            <a:r>
              <a:rPr lang="en-US" altLang="zh-CN" b="1" dirty="0"/>
              <a:t>global layout perception</a:t>
            </a:r>
            <a:r>
              <a:rPr lang="en-US" altLang="zh-CN" dirty="0"/>
              <a:t> with </a:t>
            </a:r>
            <a:r>
              <a:rPr lang="en-US" altLang="zh-CN" b="1" dirty="0"/>
              <a:t>high-resolution detail perception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first component is the </a:t>
            </a:r>
            <a:r>
              <a:rPr lang="en-US" altLang="zh-CN" b="1" dirty="0" err="1"/>
              <a:t>CogVLM</a:t>
            </a:r>
            <a:r>
              <a:rPr lang="en-US" altLang="zh-CN" b="1" dirty="0"/>
              <a:t> backbone</a:t>
            </a:r>
            <a:r>
              <a:rPr lang="en-US" altLang="zh-CN" dirty="0"/>
              <a:t>, which provides the basic image-language understanding capability.</a:t>
            </a:r>
          </a:p>
          <a:p>
            <a:r>
              <a:rPr lang="en-US" altLang="zh-CN" dirty="0"/>
              <a:t>On top of that, </a:t>
            </a:r>
            <a:r>
              <a:rPr lang="en-US" altLang="zh-CN" dirty="0" err="1"/>
              <a:t>CogAgent</a:t>
            </a:r>
            <a:r>
              <a:rPr lang="en-US" altLang="zh-CN" dirty="0"/>
              <a:t> introduces </a:t>
            </a:r>
            <a:r>
              <a:rPr lang="en-US" altLang="zh-CN" b="1" dirty="0"/>
              <a:t>dual visual encoders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The low-resolution branch captures the overall page structure and layout, while the high-resolution branch focuses on small but important details, such as tiny text, icons, and fine-grained UI elements.</a:t>
            </a:r>
          </a:p>
          <a:p>
            <a:r>
              <a:rPr lang="en-US" altLang="zh-CN" dirty="0" err="1"/>
              <a:t>But,why</a:t>
            </a:r>
            <a:r>
              <a:rPr lang="en-US" altLang="zh-CN" dirty="0"/>
              <a:t> </a:t>
            </a:r>
            <a:r>
              <a:rPr lang="en-US" altLang="zh-CN" dirty="0" err="1"/>
              <a:t>CogAgent</a:t>
            </a:r>
            <a:r>
              <a:rPr lang="en-US" altLang="zh-CN" dirty="0"/>
              <a:t> supports such </a:t>
            </a:r>
            <a:r>
              <a:rPr lang="en-US" altLang="zh-CN" b="1" dirty="0"/>
              <a:t>high resolution GUI as input?</a:t>
            </a:r>
            <a:br>
              <a:rPr lang="en-US" altLang="zh-CN" dirty="0"/>
            </a:br>
            <a:r>
              <a:rPr lang="en-US" altLang="zh-CN" dirty="0"/>
              <a:t>For GUI tasks, preserving these local details is critical, because many actions depend on reading small text or identifying precise targets on the screen.</a:t>
            </a:r>
          </a:p>
          <a:p>
            <a:r>
              <a:rPr lang="en-US" altLang="zh-CN" dirty="0"/>
              <a:t>So This architecture aims to preserve both </a:t>
            </a:r>
            <a:r>
              <a:rPr lang="en-US" altLang="zh-CN" b="1" dirty="0"/>
              <a:t>global structure</a:t>
            </a:r>
            <a:r>
              <a:rPr lang="en-US" altLang="zh-CN" dirty="0"/>
              <a:t> and </a:t>
            </a:r>
            <a:r>
              <a:rPr lang="en-US" altLang="zh-CN" b="1" dirty="0"/>
              <a:t>local details</a:t>
            </a:r>
            <a:r>
              <a:rPr lang="en-US" altLang="zh-CN" dirty="0"/>
              <a:t>, enabling more accurate GUI understanding and navigation.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546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we show the main results of </a:t>
            </a:r>
            <a:r>
              <a:rPr lang="en-US" altLang="zh-CN" b="1" dirty="0" err="1"/>
              <a:t>CogAgent</a:t>
            </a:r>
            <a:r>
              <a:rPr lang="en-US" altLang="zh-CN" dirty="0"/>
              <a:t> on GUI-related benchmarks.</a:t>
            </a:r>
          </a:p>
          <a:p>
            <a:r>
              <a:rPr lang="en-US" altLang="zh-CN" dirty="0" err="1"/>
              <a:t>CogAgent</a:t>
            </a:r>
            <a:r>
              <a:rPr lang="en-US" altLang="zh-CN" dirty="0"/>
              <a:t> is evaluated on two representative benchmarks: </a:t>
            </a:r>
            <a:r>
              <a:rPr lang="en-US" altLang="zh-CN" b="1" dirty="0"/>
              <a:t>Mind2Web</a:t>
            </a:r>
            <a:r>
              <a:rPr lang="en-US" altLang="zh-CN" dirty="0"/>
              <a:t> and </a:t>
            </a:r>
            <a:r>
              <a:rPr lang="en-US" altLang="zh-CN" b="1" dirty="0"/>
              <a:t>AITW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Mind2Web focuses on </a:t>
            </a:r>
            <a:r>
              <a:rPr lang="en-US" altLang="zh-CN" b="1" dirty="0"/>
              <a:t>PC and web GUI navigation</a:t>
            </a:r>
            <a:r>
              <a:rPr lang="en-US" altLang="zh-CN" dirty="0"/>
              <a:t>, and measures step-level decision making on desktop-style interfaces.</a:t>
            </a:r>
            <a:br>
              <a:rPr lang="en-US" altLang="zh-CN" dirty="0"/>
            </a:br>
            <a:r>
              <a:rPr lang="en-US" altLang="zh-CN" dirty="0"/>
              <a:t>AITW focuses on </a:t>
            </a:r>
            <a:r>
              <a:rPr lang="en-US" altLang="zh-CN" b="1" dirty="0"/>
              <a:t>Android GUI interaction</a:t>
            </a:r>
            <a:r>
              <a:rPr lang="en-US" altLang="zh-CN" dirty="0"/>
              <a:t>, and evaluates action prediction and control on mobile interfaces.</a:t>
            </a:r>
          </a:p>
          <a:p>
            <a:r>
              <a:rPr lang="en-US" altLang="zh-CN" dirty="0"/>
              <a:t>The results show that </a:t>
            </a:r>
            <a:r>
              <a:rPr lang="en-US" altLang="zh-CN" b="1" dirty="0" err="1"/>
              <a:t>CogAgent</a:t>
            </a:r>
            <a:r>
              <a:rPr lang="en-US" altLang="zh-CN" b="1" dirty="0"/>
              <a:t> outperforms other LLM baselines using screenshots alone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This is important, because it suggests that strong visual grounding can outperform structured-text pipelines in GUI navigation.</a:t>
            </a:r>
          </a:p>
          <a:p>
            <a:r>
              <a:rPr lang="en-US" altLang="zh-CN" dirty="0"/>
              <a:t>It also achieves </a:t>
            </a:r>
            <a:r>
              <a:rPr lang="en-US" altLang="zh-CN" b="1" dirty="0"/>
              <a:t>state-of-the-art performance on mobile GUI navigation</a:t>
            </a:r>
            <a:r>
              <a:rPr lang="en-US" altLang="zh-CN" dirty="0"/>
              <a:t>, which shows that the architecture generalizes beyond web pages to real app interaction.</a:t>
            </a:r>
          </a:p>
          <a:p>
            <a:r>
              <a:rPr lang="en-US" altLang="zh-CN" dirty="0"/>
              <a:t>Finally, this also connects back to </a:t>
            </a:r>
            <a:r>
              <a:rPr lang="en-US" altLang="zh-CN" b="1" dirty="0" err="1"/>
              <a:t>OSWorld</a:t>
            </a:r>
            <a:r>
              <a:rPr lang="en-US" altLang="zh-CN" dirty="0"/>
              <a:t>: </a:t>
            </a:r>
            <a:r>
              <a:rPr lang="en-US" altLang="zh-CN" dirty="0" err="1"/>
              <a:t>CogAgent</a:t>
            </a:r>
            <a:r>
              <a:rPr lang="en-US" altLang="zh-CN" dirty="0"/>
              <a:t> is included there as a representative </a:t>
            </a:r>
            <a:r>
              <a:rPr lang="en-US" altLang="zh-CN" b="1" dirty="0"/>
              <a:t>VLM agent baseline</a:t>
            </a:r>
            <a:r>
              <a:rPr lang="en-US" altLang="zh-CN" dirty="0"/>
              <a:t> for computer-use evaluation.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7560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Why </a:t>
            </a:r>
            <a:r>
              <a:rPr lang="en-US" altLang="zh-CN" b="1" dirty="0"/>
              <a:t>high resolution matters</a:t>
            </a:r>
            <a:r>
              <a:rPr lang="en-US" altLang="zh-CN" dirty="0"/>
              <a:t> for GUI agents? Here are the details.</a:t>
            </a:r>
          </a:p>
          <a:p>
            <a:r>
              <a:rPr lang="en-US" altLang="zh-CN" dirty="0"/>
              <a:t>The first reason is that modern GUIs are </a:t>
            </a:r>
            <a:r>
              <a:rPr lang="en-US" altLang="zh-CN" b="1" dirty="0"/>
              <a:t>text-rich and detail-heavy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So higher resolution is important,.</a:t>
            </a:r>
          </a:p>
          <a:p>
            <a:r>
              <a:rPr lang="en-US" altLang="zh-CN" dirty="0"/>
              <a:t>However, the challenge is that </a:t>
            </a:r>
            <a:r>
              <a:rPr lang="en-US" altLang="zh-CN" b="1" dirty="0"/>
              <a:t>scaling resolution is computationally expensive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As shown in the figure, if we directly scale the original resolution, the FLOPs increase very quickly as its grows.</a:t>
            </a:r>
          </a:p>
          <a:p>
            <a:r>
              <a:rPr lang="en-US" altLang="zh-CN" dirty="0"/>
              <a:t>This is exactly why </a:t>
            </a:r>
            <a:r>
              <a:rPr lang="en-US" altLang="zh-CN" dirty="0" err="1"/>
              <a:t>CogAgent</a:t>
            </a:r>
            <a:r>
              <a:rPr lang="en-US" altLang="zh-CN" dirty="0"/>
              <a:t> introduces a </a:t>
            </a:r>
            <a:r>
              <a:rPr lang="en-US" altLang="zh-CN" b="1" dirty="0"/>
              <a:t>lightweight high-resolution cross-module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Instead of paying the full cost of naive scaling, it combines global low-resolution perception with local high-resolution detail caption.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442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So where </a:t>
            </a:r>
            <a:r>
              <a:rPr lang="en-US" altLang="zh-CN" dirty="0" err="1"/>
              <a:t>CogAgent’s</a:t>
            </a:r>
            <a:r>
              <a:rPr lang="en-US" altLang="zh-CN" dirty="0"/>
              <a:t> ability gains from? Here is an ablation study.</a:t>
            </a:r>
          </a:p>
          <a:p>
            <a:r>
              <a:rPr lang="en-US" altLang="zh-CN" dirty="0"/>
              <a:t>The first setting, </a:t>
            </a:r>
            <a:r>
              <a:rPr lang="en-US" altLang="zh-CN" b="1" dirty="0"/>
              <a:t>Cap</a:t>
            </a:r>
            <a:r>
              <a:rPr lang="en-US" altLang="zh-CN" dirty="0"/>
              <a:t>, uses only image captioning data.</a:t>
            </a:r>
            <a:br>
              <a:rPr lang="en-US" altLang="zh-CN" dirty="0"/>
            </a:br>
            <a:r>
              <a:rPr lang="en-US" altLang="zh-CN" dirty="0"/>
              <a:t>Then </a:t>
            </a:r>
            <a:r>
              <a:rPr lang="en-US" altLang="zh-CN" b="1" dirty="0" err="1"/>
              <a:t>Cap+OCR</a:t>
            </a:r>
            <a:r>
              <a:rPr lang="en-US" altLang="zh-CN" dirty="0"/>
              <a:t> adds OCR data, which improves the model’s ability to read text in images.</a:t>
            </a:r>
          </a:p>
          <a:p>
            <a:r>
              <a:rPr lang="en-US" altLang="zh-CN" dirty="0"/>
              <a:t>The final setting, </a:t>
            </a:r>
            <a:r>
              <a:rPr lang="en-US" altLang="zh-CN" b="1" dirty="0"/>
              <a:t>All</a:t>
            </a:r>
            <a:r>
              <a:rPr lang="en-US" altLang="zh-CN" dirty="0"/>
              <a:t>, further adds </a:t>
            </a:r>
            <a:r>
              <a:rPr lang="en-US" altLang="zh-CN" b="1" dirty="0"/>
              <a:t>GUI and grounding data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In simple terms, this means data that teaches the model how to understand screens and connect a user’s intent to the correct on-screen element.</a:t>
            </a:r>
          </a:p>
          <a:p>
            <a:r>
              <a:rPr lang="en-US" altLang="zh-CN" dirty="0"/>
              <a:t>The most important result here is on </a:t>
            </a:r>
            <a:r>
              <a:rPr lang="en-US" altLang="zh-CN" b="1" dirty="0"/>
              <a:t>Mind2Web Benchmark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When moving from the previous setting to </a:t>
            </a:r>
            <a:r>
              <a:rPr lang="en-US" altLang="zh-CN" b="1" dirty="0"/>
              <a:t>All</a:t>
            </a:r>
            <a:r>
              <a:rPr lang="en-US" altLang="zh-CN" dirty="0"/>
              <a:t>, the score increases from </a:t>
            </a:r>
            <a:r>
              <a:rPr lang="en-US" altLang="zh-CN" b="1" dirty="0"/>
              <a:t>41 to 54,</a:t>
            </a:r>
            <a:r>
              <a:rPr lang="en-US" altLang="zh-CN" dirty="0"/>
              <a:t> which is a </a:t>
            </a:r>
            <a:r>
              <a:rPr lang="en-US" altLang="zh-CN" b="1" dirty="0"/>
              <a:t>huge</a:t>
            </a:r>
            <a:r>
              <a:rPr lang="en-US" altLang="zh-CN" dirty="0"/>
              <a:t> gain.</a:t>
            </a:r>
          </a:p>
          <a:p>
            <a:r>
              <a:rPr lang="en-US" altLang="zh-CN" dirty="0"/>
              <a:t>So </a:t>
            </a:r>
            <a:r>
              <a:rPr lang="en-US" altLang="zh-CN" dirty="0" err="1"/>
              <a:t>CogAgent’s</a:t>
            </a:r>
            <a:r>
              <a:rPr lang="en-US" altLang="zh-CN" dirty="0"/>
              <a:t> improvement does not come from architecture alone.</a:t>
            </a:r>
            <a:br>
              <a:rPr lang="en-US" altLang="zh-CN" dirty="0"/>
            </a:br>
            <a:r>
              <a:rPr lang="en-US" altLang="zh-CN" b="1" dirty="0"/>
              <a:t>Domain-specific GUI and grounding data really play a major role.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914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far, we have seen that </a:t>
            </a:r>
            <a:r>
              <a:rPr lang="en-US" altLang="zh-CN" b="1" dirty="0" err="1"/>
              <a:t>CogAgent</a:t>
            </a:r>
            <a:r>
              <a:rPr lang="en-US" altLang="zh-CN" b="1" dirty="0"/>
              <a:t> significantly improves GUI perception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But perception alone is still not enough.</a:t>
            </a:r>
          </a:p>
          <a:p>
            <a:r>
              <a:rPr lang="en-US" altLang="zh-CN" dirty="0"/>
              <a:t>Even if an agent understands the UI well, errors can still happen during multi-step interaction.</a:t>
            </a:r>
            <a:br>
              <a:rPr lang="en-US" altLang="zh-CN" dirty="0"/>
            </a:br>
            <a:r>
              <a:rPr lang="en-US" altLang="zh-CN" dirty="0"/>
              <a:t>Perception helps the agent choose the right target, but robust automation also needs the ability to monitor state, recover from mistakes, and continue after unexpected changes.</a:t>
            </a:r>
          </a:p>
          <a:p>
            <a:r>
              <a:rPr lang="en-US" altLang="zh-CN" dirty="0"/>
              <a:t>So the next move is clear:</a:t>
            </a:r>
            <a:br>
              <a:rPr lang="en-US" altLang="zh-CN" dirty="0"/>
            </a:br>
            <a:r>
              <a:rPr lang="en-US" altLang="zh-CN" dirty="0"/>
              <a:t>we need </a:t>
            </a:r>
            <a:r>
              <a:rPr lang="en-US" altLang="zh-CN" b="1" dirty="0"/>
              <a:t>closed-loop operating system control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In other words, seeing the UI is necessary, but </a:t>
            </a:r>
            <a:r>
              <a:rPr lang="en-US" altLang="zh-CN" b="1" dirty="0"/>
              <a:t>closing the loop</a:t>
            </a:r>
            <a:r>
              <a:rPr lang="en-US" altLang="zh-CN" dirty="0"/>
              <a:t> is what makes agents truly reliable.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414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Lets move to </a:t>
            </a:r>
            <a:r>
              <a:rPr lang="en-US" altLang="zh-CN" b="1" dirty="0"/>
              <a:t>Step 3: state-aware control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Instead of just observing the screen once and taking actions blindly, the agent should continuously </a:t>
            </a:r>
            <a:r>
              <a:rPr lang="en-US" altLang="zh-CN" b="1" dirty="0"/>
              <a:t>observe, plan, execute, verify, and re-plan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That is the key idea shown in this figure.</a:t>
            </a:r>
            <a:br>
              <a:rPr lang="en-US" altLang="zh-CN" dirty="0"/>
            </a:br>
            <a:r>
              <a:rPr lang="en-US" altLang="zh-CN" dirty="0"/>
              <a:t>The agent starts from a user request, observes the current computer state, makes a plan, executes actions, and then checks whether the expected outcome is actually achieved.</a:t>
            </a:r>
          </a:p>
          <a:p>
            <a:r>
              <a:rPr lang="en-US" altLang="zh-CN" dirty="0"/>
              <a:t>If verification succeeds, the task moves forward.</a:t>
            </a:r>
            <a:br>
              <a:rPr lang="en-US" altLang="zh-CN" dirty="0"/>
            </a:br>
            <a:r>
              <a:rPr lang="en-US" altLang="zh-CN" dirty="0"/>
              <a:t>If not, the agent can detect failure, recover from errors, and re-enter the loop with updated state information.</a:t>
            </a:r>
          </a:p>
          <a:p>
            <a:r>
              <a:rPr lang="en-US" altLang="zh-CN" dirty="0"/>
              <a:t>So compared with perception-only agents, the important shift here is from </a:t>
            </a:r>
            <a:r>
              <a:rPr lang="en-US" altLang="zh-CN" b="1" dirty="0"/>
              <a:t>seeing the UI</a:t>
            </a:r>
            <a:r>
              <a:rPr lang="en-US" altLang="zh-CN" dirty="0"/>
              <a:t> to </a:t>
            </a:r>
            <a:r>
              <a:rPr lang="en-US" altLang="zh-CN" b="1" dirty="0"/>
              <a:t>controlling the system with feedback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And this is what makes computer-use agents much more robust in long-horizon, multi-step tasks.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470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brings us to </a:t>
            </a:r>
            <a:r>
              <a:rPr lang="en-US" altLang="zh-CN" b="1" dirty="0"/>
              <a:t>OSCAR</a:t>
            </a:r>
            <a:r>
              <a:rPr lang="en-US" altLang="zh-CN" dirty="0"/>
              <a:t>, which is a concrete system for </a:t>
            </a:r>
            <a:r>
              <a:rPr lang="en-US" altLang="zh-CN" b="1" dirty="0"/>
              <a:t>state-aware control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If </a:t>
            </a:r>
            <a:r>
              <a:rPr lang="en-US" altLang="zh-CN" dirty="0" err="1"/>
              <a:t>CogAgent</a:t>
            </a:r>
            <a:r>
              <a:rPr lang="en-US" altLang="zh-CN" dirty="0"/>
              <a:t> focuses on perception, then OSCAR focuses on what happens </a:t>
            </a:r>
            <a:r>
              <a:rPr lang="en-US" altLang="zh-CN" b="1" dirty="0"/>
              <a:t>after perception</a:t>
            </a:r>
            <a:r>
              <a:rPr lang="en-US" altLang="zh-CN" dirty="0"/>
              <a:t>: how to turn understanding into reliable action.</a:t>
            </a:r>
          </a:p>
          <a:p>
            <a:r>
              <a:rPr lang="en-US" altLang="zh-CN" b="1" dirty="0"/>
              <a:t>OSCAR</a:t>
            </a:r>
            <a:r>
              <a:rPr lang="en-US" altLang="zh-CN" dirty="0"/>
              <a:t> introduces a </a:t>
            </a:r>
            <a:r>
              <a:rPr lang="en-US" altLang="zh-CN" b="1" dirty="0"/>
              <a:t>state machine with explicit error handling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Instead of treating execution as a one-shot process, OSCAR keeps track of system state.</a:t>
            </a:r>
          </a:p>
          <a:p>
            <a:r>
              <a:rPr lang="en-US" altLang="zh-CN" dirty="0"/>
              <a:t>Also OSCAR converts user instructions into </a:t>
            </a:r>
            <a:r>
              <a:rPr lang="en-US" altLang="zh-CN" b="1" dirty="0"/>
              <a:t>executable Python control code</a:t>
            </a:r>
            <a:r>
              <a:rPr lang="en-US" altLang="zh-CN" dirty="0"/>
              <a:t>, and then performs </a:t>
            </a:r>
            <a:r>
              <a:rPr lang="en-US" altLang="zh-CN" b="1" dirty="0"/>
              <a:t>dynamic re-planning</a:t>
            </a:r>
            <a:r>
              <a:rPr lang="en-US" altLang="zh-CN" dirty="0"/>
              <a:t> based on real-time feedback from the environment.</a:t>
            </a:r>
          </a:p>
          <a:p>
            <a:r>
              <a:rPr lang="en-US" altLang="zh-CN" dirty="0"/>
              <a:t>In that sense, OSCAR moves us from </a:t>
            </a:r>
            <a:r>
              <a:rPr lang="en-US" altLang="zh-CN" b="1" dirty="0"/>
              <a:t>seeing the interface</a:t>
            </a:r>
            <a:r>
              <a:rPr lang="en-US" altLang="zh-CN" dirty="0"/>
              <a:t> to </a:t>
            </a:r>
            <a:r>
              <a:rPr lang="en-US" altLang="zh-CN" b="1" dirty="0"/>
              <a:t>reliably operating the computer</a:t>
            </a:r>
            <a:r>
              <a:rPr lang="en-US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020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shows the performance of </a:t>
            </a:r>
            <a:r>
              <a:rPr lang="en-US" altLang="zh-CN" b="1" dirty="0"/>
              <a:t>OSCAR</a:t>
            </a:r>
            <a:r>
              <a:rPr lang="en-US" altLang="zh-CN" dirty="0"/>
              <a:t> in some </a:t>
            </a:r>
            <a:r>
              <a:rPr lang="en-US" altLang="zh-CN" dirty="0" err="1"/>
              <a:t>benchamrks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b="1" dirty="0"/>
              <a:t>OSCAR improves across workflow, desktop, and mobile benchmarks.</a:t>
            </a:r>
            <a:endParaRPr lang="en-US" altLang="zh-CN" dirty="0"/>
          </a:p>
          <a:p>
            <a:r>
              <a:rPr lang="en-US" altLang="zh-CN" dirty="0"/>
              <a:t>At the same time, we should also be careful about what these numbers mean.</a:t>
            </a:r>
            <a:br>
              <a:rPr lang="en-US" altLang="zh-CN" dirty="0"/>
            </a:br>
            <a:r>
              <a:rPr lang="en-US" altLang="zh-CN" dirty="0"/>
              <a:t>Even though OSCAR is strong across settings, it is still </a:t>
            </a:r>
            <a:r>
              <a:rPr lang="en-US" altLang="zh-CN" b="1" dirty="0"/>
              <a:t>far from human performance on </a:t>
            </a:r>
            <a:r>
              <a:rPr lang="en-US" altLang="zh-CN" b="1" dirty="0" err="1"/>
              <a:t>OSWorld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So the real challenge now is no longer just perception or single-step action.</a:t>
            </a:r>
            <a:br>
              <a:rPr lang="en-US" altLang="zh-CN" dirty="0"/>
            </a:br>
            <a:r>
              <a:rPr lang="en-US" altLang="zh-CN" dirty="0"/>
              <a:t>The real bottleneck is </a:t>
            </a:r>
            <a:r>
              <a:rPr lang="en-US" altLang="zh-CN" b="1" dirty="0"/>
              <a:t>reliability under dynamic execution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56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figure breaks down OSCAR’s performance across different task categories.</a:t>
            </a:r>
          </a:p>
          <a:p>
            <a:r>
              <a:rPr lang="en-US" altLang="zh-CN" dirty="0"/>
              <a:t>A clear pattern is that simpler baselines can still work reasonably well on shorter </a:t>
            </a:r>
            <a:r>
              <a:rPr lang="en-US" altLang="zh-CN" b="1" dirty="0"/>
              <a:t>daily</a:t>
            </a:r>
            <a:r>
              <a:rPr lang="en-US" altLang="zh-CN" dirty="0"/>
              <a:t> or </a:t>
            </a:r>
            <a:r>
              <a:rPr lang="en-US" altLang="zh-CN" b="1" dirty="0"/>
              <a:t>office</a:t>
            </a:r>
            <a:r>
              <a:rPr lang="en-US" altLang="zh-CN" dirty="0"/>
              <a:t> tasks.</a:t>
            </a:r>
            <a:br>
              <a:rPr lang="en-US" altLang="zh-CN" dirty="0"/>
            </a:br>
            <a:r>
              <a:rPr lang="en-US" altLang="zh-CN" dirty="0"/>
              <a:t>But once we move to </a:t>
            </a:r>
            <a:r>
              <a:rPr lang="en-US" altLang="zh-CN" b="1" dirty="0"/>
              <a:t>professional</a:t>
            </a:r>
            <a:r>
              <a:rPr lang="en-US" altLang="zh-CN" dirty="0"/>
              <a:t> and especially </a:t>
            </a:r>
            <a:r>
              <a:rPr lang="en-US" altLang="zh-CN" b="1" dirty="0"/>
              <a:t>multi-app</a:t>
            </a:r>
            <a:r>
              <a:rPr lang="en-US" altLang="zh-CN" dirty="0"/>
              <a:t> scenarios, the gap becomes much larger.</a:t>
            </a:r>
          </a:p>
          <a:p>
            <a:r>
              <a:rPr lang="en-US" altLang="zh-CN" dirty="0"/>
              <a:t>And this is not surprising.</a:t>
            </a:r>
            <a:br>
              <a:rPr lang="en-US" altLang="zh-CN" dirty="0"/>
            </a:br>
            <a:r>
              <a:rPr lang="en-US" altLang="zh-CN" b="1" dirty="0"/>
              <a:t>Multi-app tasks remain the hardest case</a:t>
            </a:r>
            <a:r>
              <a:rPr lang="en-US" altLang="zh-CN" dirty="0"/>
              <a:t> because the trajectories are longer, the context has to be tracked across applications, and UI drift has more chances to accumulate over time.</a:t>
            </a:r>
          </a:p>
          <a:p>
            <a:r>
              <a:rPr lang="en-US" altLang="zh-CN" dirty="0"/>
              <a:t>This is exactly where OSCAR shows its advantage.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5763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 moving on, it is important compare </a:t>
            </a:r>
            <a:r>
              <a:rPr lang="en-US" altLang="zh-CN" b="1" dirty="0"/>
              <a:t>static and dynamic evaluation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In </a:t>
            </a:r>
            <a:r>
              <a:rPr lang="en-US" altLang="zh-CN" b="1" dirty="0"/>
              <a:t>static evaluation</a:t>
            </a:r>
            <a:r>
              <a:rPr lang="en-US" altLang="zh-CN" dirty="0"/>
              <a:t>, the agent is judged by how well its actions match a reference trajectory.</a:t>
            </a:r>
            <a:br>
              <a:rPr lang="en-US" altLang="zh-CN" dirty="0"/>
            </a:br>
            <a:r>
              <a:rPr lang="en-US" altLang="zh-CN" dirty="0"/>
              <a:t>That kind of evaluation is useful, but it assumes there is a preferred action path.</a:t>
            </a:r>
          </a:p>
          <a:p>
            <a:r>
              <a:rPr lang="en-US" altLang="zh-CN" dirty="0"/>
              <a:t>In contrast, </a:t>
            </a:r>
            <a:r>
              <a:rPr lang="en-US" altLang="zh-CN" b="1" dirty="0"/>
              <a:t>dynamic evaluation</a:t>
            </a:r>
            <a:r>
              <a:rPr lang="en-US" altLang="zh-CN" dirty="0"/>
              <a:t> focuses on whether the agent actually reaches the correct final OS state.</a:t>
            </a:r>
            <a:br>
              <a:rPr lang="en-US" altLang="zh-CN" dirty="0"/>
            </a:br>
            <a:r>
              <a:rPr lang="en-US" altLang="zh-CN" dirty="0"/>
              <a:t>This is the setting used in benchmarks such as </a:t>
            </a:r>
            <a:r>
              <a:rPr lang="en-US" altLang="zh-CN" b="1" dirty="0" err="1"/>
              <a:t>OSWorld</a:t>
            </a:r>
            <a:r>
              <a:rPr lang="en-US" altLang="zh-CN" dirty="0"/>
              <a:t> and </a:t>
            </a:r>
            <a:r>
              <a:rPr lang="en-US" altLang="zh-CN" b="1" dirty="0" err="1"/>
              <a:t>AndroidWorld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And this distinction matters a lot in practice.</a:t>
            </a:r>
            <a:br>
              <a:rPr lang="en-US" altLang="zh-CN" dirty="0"/>
            </a:br>
            <a:r>
              <a:rPr lang="en-US" altLang="zh-CN" dirty="0"/>
              <a:t>In real computer use, there may be multiple valid ways to complete the same task.</a:t>
            </a:r>
            <a:br>
              <a:rPr lang="en-US" altLang="zh-CN" dirty="0"/>
            </a:br>
            <a:r>
              <a:rPr lang="en-US" altLang="zh-CN" dirty="0"/>
              <a:t>An agent does not need to exactly follow a reference trajectory, as long as it successfully changes the system to the desired outcome.</a:t>
            </a:r>
          </a:p>
          <a:p>
            <a:r>
              <a:rPr lang="en-US" altLang="zh-CN" dirty="0"/>
              <a:t>This is also why dynamic execution-based evaluation is closer to real assistants.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40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summarize the whole research path.</a:t>
            </a:r>
            <a:br>
              <a:rPr lang="en-US" altLang="zh-CN" dirty="0"/>
            </a:br>
            <a:r>
              <a:rPr lang="en-US" altLang="zh-CN" b="1" dirty="0" err="1"/>
              <a:t>OSWorld</a:t>
            </a:r>
            <a:r>
              <a:rPr lang="en-US" altLang="zh-CN" dirty="0"/>
              <a:t> gives us a realistic benchmark, so progress becomes measurable and we can see clearly where current agents fail.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en-US" altLang="zh-CN" b="1" dirty="0" err="1"/>
              <a:t>CogAgent</a:t>
            </a:r>
            <a:r>
              <a:rPr lang="en-US" altLang="zh-CN" b="1" dirty="0"/>
              <a:t> shows </a:t>
            </a:r>
            <a:r>
              <a:rPr lang="en-US" altLang="zh-CN" dirty="0"/>
              <a:t>that GUI grounding is a major bottleneck, the next question is perception.</a:t>
            </a:r>
            <a:br>
              <a:rPr lang="en-US" altLang="zh-CN" dirty="0"/>
            </a:br>
            <a:r>
              <a:rPr lang="en-US" altLang="zh-CN" dirty="0"/>
              <a:t>So </a:t>
            </a:r>
            <a:r>
              <a:rPr lang="en-US" altLang="zh-CN" dirty="0" err="1"/>
              <a:t>CogAgent</a:t>
            </a:r>
            <a:r>
              <a:rPr lang="en-US" altLang="zh-CN" dirty="0"/>
              <a:t> addresses this by improving GUI understanding, especially for high-resolution, text-rich interfaces.</a:t>
            </a:r>
            <a:br>
              <a:rPr lang="en-US" altLang="zh-CN" dirty="0"/>
            </a:br>
            <a:r>
              <a:rPr lang="en-US" altLang="zh-CN" b="1" dirty="0"/>
              <a:t>OSCAR</a:t>
            </a:r>
            <a:r>
              <a:rPr lang="en-US" altLang="zh-CN" dirty="0"/>
              <a:t> adds state awareness, error handling, and closed-loop re-planning, so agents can operate more reliably in dynamic environments.</a:t>
            </a:r>
          </a:p>
          <a:p>
            <a:r>
              <a:rPr lang="en-US" altLang="zh-CN" dirty="0"/>
              <a:t>These works are not isolated pieces.</a:t>
            </a:r>
            <a:br>
              <a:rPr lang="en-US" altLang="zh-CN" dirty="0"/>
            </a:br>
            <a:r>
              <a:rPr lang="en-US" altLang="zh-CN" dirty="0"/>
              <a:t>Each of them fills in one missing layer of the stack:</a:t>
            </a:r>
            <a:br>
              <a:rPr lang="en-US" altLang="zh-CN" dirty="0"/>
            </a:br>
            <a:r>
              <a:rPr lang="en-US" altLang="zh-CN" dirty="0"/>
              <a:t>first </a:t>
            </a:r>
            <a:r>
              <a:rPr lang="en-US" altLang="zh-CN" b="1" dirty="0"/>
              <a:t>measure</a:t>
            </a:r>
            <a:r>
              <a:rPr lang="en-US" altLang="zh-CN" dirty="0"/>
              <a:t>, then </a:t>
            </a:r>
            <a:r>
              <a:rPr lang="en-US" altLang="zh-CN" b="1" dirty="0"/>
              <a:t>perceive</a:t>
            </a:r>
            <a:r>
              <a:rPr lang="en-US" altLang="zh-CN" dirty="0"/>
              <a:t>, next </a:t>
            </a:r>
            <a:r>
              <a:rPr lang="en-US" altLang="zh-CN" b="1" dirty="0"/>
              <a:t>control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And that is why they naturally compose into one path:</a:t>
            </a:r>
            <a:br>
              <a:rPr lang="en-US" altLang="zh-CN" dirty="0"/>
            </a:br>
            <a:r>
              <a:rPr lang="en-US" altLang="zh-CN" dirty="0"/>
              <a:t>toward </a:t>
            </a:r>
            <a:r>
              <a:rPr lang="en-US" altLang="zh-CN" b="1" dirty="0"/>
              <a:t>LLM-as-OS</a:t>
            </a:r>
            <a:r>
              <a:rPr lang="en-US" altLang="zh-CN" dirty="0"/>
              <a:t> that are </a:t>
            </a:r>
            <a:r>
              <a:rPr lang="en-US" altLang="zh-CN" b="1" dirty="0"/>
              <a:t>measurable, perceptive, and controllable</a:t>
            </a:r>
            <a:r>
              <a:rPr lang="en-US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543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But once we take the idea of </a:t>
            </a:r>
            <a:r>
              <a:rPr lang="en-US" altLang="zh-CN" b="1" dirty="0"/>
              <a:t>LLM as OS</a:t>
            </a:r>
            <a:r>
              <a:rPr lang="en-US" altLang="zh-CN" dirty="0"/>
              <a:t> seriously, a new question immediately appears: </a:t>
            </a:r>
            <a:r>
              <a:rPr lang="en-US" altLang="zh-CN" b="1" dirty="0"/>
              <a:t>security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When an agent starts operating the computer in the real world, the runtime itself becomes the new security boundary.</a:t>
            </a:r>
          </a:p>
          <a:p>
            <a:r>
              <a:rPr lang="en-US" altLang="zh-CN" dirty="0"/>
              <a:t>Why? Because agents do not act in an abstract sandbox.</a:t>
            </a:r>
            <a:br>
              <a:rPr lang="en-US" altLang="zh-CN" dirty="0"/>
            </a:br>
            <a:r>
              <a:rPr lang="en-US" altLang="zh-CN" dirty="0"/>
              <a:t>They run with </a:t>
            </a:r>
            <a:r>
              <a:rPr lang="en-US" altLang="zh-CN" b="1" dirty="0"/>
              <a:t>real identity</a:t>
            </a:r>
            <a:r>
              <a:rPr lang="en-US" altLang="zh-CN" dirty="0"/>
              <a:t> — real credentials, real tokens, and real account state.</a:t>
            </a:r>
          </a:p>
          <a:p>
            <a:r>
              <a:rPr lang="en-US" altLang="zh-CN" dirty="0"/>
              <a:t>They also have </a:t>
            </a:r>
            <a:r>
              <a:rPr lang="en-US" altLang="zh-CN" b="1" dirty="0"/>
              <a:t>real execution power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They can call tools, execute code, take UI actions, and modify files.</a:t>
            </a:r>
            <a:br>
              <a:rPr lang="en-US" altLang="zh-CN" dirty="0"/>
            </a:br>
            <a:r>
              <a:rPr lang="en-US" altLang="zh-CN" dirty="0"/>
              <a:t>Agents are no longer just models answering questions; they are becoming a form of </a:t>
            </a:r>
            <a:r>
              <a:rPr lang="en-US" altLang="zh-CN" b="1" dirty="0"/>
              <a:t>privileged automation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If we want to deploy agentic OS safely, then </a:t>
            </a:r>
            <a:r>
              <a:rPr lang="en-US" altLang="zh-CN" b="1" dirty="0"/>
              <a:t>isolation</a:t>
            </a:r>
            <a:r>
              <a:rPr lang="en-US" altLang="zh-CN" dirty="0"/>
              <a:t> and </a:t>
            </a:r>
            <a:r>
              <a:rPr lang="en-US" altLang="zh-CN" b="1" dirty="0"/>
              <a:t>identity governance</a:t>
            </a:r>
            <a:r>
              <a:rPr lang="en-US" altLang="zh-CN" dirty="0"/>
              <a:t> must be built into the runtime from the start.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5400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 me use </a:t>
            </a:r>
            <a:r>
              <a:rPr lang="en-US" altLang="zh-CN" b="1" dirty="0" err="1"/>
              <a:t>ClawJacked</a:t>
            </a:r>
            <a:r>
              <a:rPr lang="en-US" altLang="zh-CN" dirty="0"/>
              <a:t> as a security story.</a:t>
            </a:r>
          </a:p>
          <a:p>
            <a:r>
              <a:rPr lang="en-US" altLang="zh-CN" dirty="0"/>
              <a:t>Last month, The Security disclosed a dangerous bug in </a:t>
            </a:r>
            <a:r>
              <a:rPr lang="en-US" altLang="zh-CN" b="1" dirty="0" err="1"/>
              <a:t>OpenClaw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The key issue was that a outer website could connect to the agent’s local gateway over </a:t>
            </a:r>
            <a:r>
              <a:rPr lang="en-US" altLang="zh-CN" b="1" dirty="0"/>
              <a:t>localhost WebSocket</a:t>
            </a:r>
            <a:r>
              <a:rPr lang="en-US" altLang="zh-CN" dirty="0"/>
              <a:t> and take over the agent. </a:t>
            </a:r>
          </a:p>
          <a:p>
            <a:r>
              <a:rPr lang="en-US" altLang="zh-CN" dirty="0"/>
              <a:t>The real risk moves into the </a:t>
            </a:r>
            <a:r>
              <a:rPr lang="en-US" altLang="zh-CN" b="1" dirty="0"/>
              <a:t>runtime</a:t>
            </a:r>
            <a:r>
              <a:rPr lang="en-US" altLang="zh-CN" dirty="0"/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Anyone, anywhere, could be secretly accessing your computer. This is why we need to fundamentally rethink OS agent security.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137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are the takeaways.</a:t>
            </a:r>
          </a:p>
          <a:p>
            <a:r>
              <a:rPr lang="en-US" altLang="zh-CN" dirty="0"/>
              <a:t>First, the history of operating systems is really the history of </a:t>
            </a:r>
            <a:r>
              <a:rPr lang="en-US" altLang="zh-CN" b="1" dirty="0"/>
              <a:t>abstraction layers for humans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Second, </a:t>
            </a:r>
            <a:r>
              <a:rPr lang="en-US" altLang="zh-CN" b="1" dirty="0"/>
              <a:t>LLM agents may become the next OS layer</a:t>
            </a:r>
            <a:r>
              <a:rPr lang="en-US" altLang="zh-CN" dirty="0"/>
              <a:t>, helping reduce workflow complexity.</a:t>
            </a:r>
          </a:p>
          <a:p>
            <a:r>
              <a:rPr lang="en-US" altLang="zh-CN" dirty="0"/>
              <a:t>Third, </a:t>
            </a:r>
            <a:r>
              <a:rPr lang="en-US" altLang="zh-CN" b="1" dirty="0" err="1"/>
              <a:t>OSWorld</a:t>
            </a:r>
            <a:r>
              <a:rPr lang="en-US" altLang="zh-CN" b="1" dirty="0"/>
              <a:t>, </a:t>
            </a:r>
            <a:r>
              <a:rPr lang="en-US" altLang="zh-CN" b="1" dirty="0" err="1"/>
              <a:t>CogAgent</a:t>
            </a:r>
            <a:r>
              <a:rPr lang="en-US" altLang="zh-CN" b="1" dirty="0"/>
              <a:t>, and OSCAR</a:t>
            </a:r>
            <a:r>
              <a:rPr lang="en-US" altLang="zh-CN" dirty="0"/>
              <a:t> form one coherent path:</a:t>
            </a:r>
            <a:br>
              <a:rPr lang="en-US" altLang="zh-CN" dirty="0"/>
            </a:br>
            <a:r>
              <a:rPr lang="en-US" altLang="zh-CN" dirty="0"/>
              <a:t>from </a:t>
            </a:r>
            <a:r>
              <a:rPr lang="en-US" altLang="zh-CN" b="1" dirty="0"/>
              <a:t>measurement</a:t>
            </a:r>
            <a:r>
              <a:rPr lang="en-US" altLang="zh-CN" dirty="0"/>
              <a:t>, to </a:t>
            </a:r>
            <a:r>
              <a:rPr lang="en-US" altLang="zh-CN" b="1" dirty="0"/>
              <a:t>perception</a:t>
            </a:r>
            <a:r>
              <a:rPr lang="en-US" altLang="zh-CN" dirty="0"/>
              <a:t>, to </a:t>
            </a:r>
            <a:r>
              <a:rPr lang="en-US" altLang="zh-CN" b="1" dirty="0"/>
              <a:t>control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And finally, if we want to make this vision real, </a:t>
            </a:r>
            <a:r>
              <a:rPr lang="en-US" altLang="zh-CN" b="1" dirty="0"/>
              <a:t>runtime security will be the gating factor</a:t>
            </a:r>
            <a:r>
              <a:rPr lang="en-US" altLang="zh-CN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So overall, the opportunity is exciting — but to make </a:t>
            </a:r>
            <a:r>
              <a:rPr lang="en-US" altLang="zh-CN" b="1" dirty="0"/>
              <a:t>LLM-2-OS</a:t>
            </a:r>
            <a:r>
              <a:rPr lang="en-US" altLang="zh-CN" dirty="0"/>
              <a:t> real, we need systems that are not </a:t>
            </a:r>
            <a:r>
              <a:rPr lang="en-US" altLang="zh-CN"/>
              <a:t>only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Executable</a:t>
            </a:r>
            <a:r>
              <a:rPr lang="en-US" altLang="zh-CN"/>
              <a:t>, </a:t>
            </a:r>
            <a:r>
              <a:rPr lang="en-US" altLang="zh-CN" dirty="0"/>
              <a:t>but also reliable and secure.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733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3F244-AEBD-E10C-340A-2F06E43DE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46457"/>
            <a:ext cx="10363200" cy="1470025"/>
          </a:xfrm>
        </p:spPr>
        <p:txBody>
          <a:bodyPr/>
          <a:lstStyle/>
          <a:p>
            <a:r>
              <a:rPr lang="en-US" altLang="zh-CN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From OS to Agentic OS</a:t>
            </a:r>
            <a:endParaRPr lang="zh-CN" altLang="en-US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905BB4-7FF7-206C-BBDF-A24573012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2902225"/>
            <a:ext cx="11343217" cy="1752600"/>
          </a:xfrm>
        </p:spPr>
        <p:txBody>
          <a:bodyPr/>
          <a:lstStyle/>
          <a:p>
            <a:r>
              <a:rPr lang="en-US" altLang="zh-CN" sz="2800" dirty="0" err="1"/>
              <a:t>OSWorld</a:t>
            </a:r>
            <a:r>
              <a:rPr lang="en-US" altLang="zh-CN" sz="2800" dirty="0"/>
              <a:t>(</a:t>
            </a:r>
            <a:r>
              <a:rPr lang="en-US" altLang="zh-CN" sz="2800" dirty="0" err="1"/>
              <a:t>NeurIPS</a:t>
            </a:r>
            <a:r>
              <a:rPr lang="en-US" altLang="zh-CN" sz="2800" dirty="0"/>
              <a:t> 2024) • </a:t>
            </a:r>
            <a:r>
              <a:rPr lang="en-US" altLang="zh-CN" sz="2800" dirty="0" err="1"/>
              <a:t>CogAgent</a:t>
            </a:r>
            <a:r>
              <a:rPr lang="en-US" altLang="zh-CN" sz="2800" dirty="0"/>
              <a:t> (CVPR 2024) • OSCAR (ICLR 2025)</a:t>
            </a:r>
          </a:p>
          <a:p>
            <a:r>
              <a:rPr lang="en-US" altLang="zh-CN" sz="2800" dirty="0"/>
              <a:t>Can LLMs become a new “OS layer” for humans?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2BB9D-BE5B-4522-D73F-41D7FDC67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D04952-2F0F-0C79-726E-C262501A8029}"/>
              </a:ext>
            </a:extLst>
          </p:cNvPr>
          <p:cNvSpPr>
            <a:spLocks noGrp="1"/>
          </p:cNvSpPr>
          <p:nvPr/>
        </p:nvSpPr>
        <p:spPr bwMode="auto">
          <a:xfrm>
            <a:off x="1828800" y="4316572"/>
            <a:ext cx="8534400" cy="18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457177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None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91435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53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70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588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06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24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417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Wenqian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Zhang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255157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44DE67-46C7-F470-C8D8-EF9ABE759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81033C-4A1B-8FB2-1037-3D6250BB137A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Why agentic OS matters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D1B875-271F-00F3-5C5E-57BE390842BB}"/>
              </a:ext>
            </a:extLst>
          </p:cNvPr>
          <p:cNvSpPr/>
          <p:nvPr/>
        </p:nvSpPr>
        <p:spPr bwMode="auto">
          <a:xfrm>
            <a:off x="491206" y="1424087"/>
            <a:ext cx="3441700" cy="1449486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C30316-028A-8A27-7395-C8AE0A702327}"/>
              </a:ext>
            </a:extLst>
          </p:cNvPr>
          <p:cNvSpPr/>
          <p:nvPr/>
        </p:nvSpPr>
        <p:spPr bwMode="auto">
          <a:xfrm>
            <a:off x="643606" y="1576487"/>
            <a:ext cx="76200" cy="10922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F9B24E-B918-44C8-8E11-A4E9AF0BA3A0}"/>
              </a:ext>
            </a:extLst>
          </p:cNvPr>
          <p:cNvSpPr txBox="1"/>
          <p:nvPr/>
        </p:nvSpPr>
        <p:spPr>
          <a:xfrm>
            <a:off x="719806" y="1638300"/>
            <a:ext cx="3251200" cy="127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Complexity pressure</a:t>
            </a:r>
            <a:endParaRPr lang="zh-CN" altLang="en-US" sz="28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2BEA2D-18DB-0A86-35A1-F2BB9D2FBC1A}"/>
              </a:ext>
            </a:extLst>
          </p:cNvPr>
          <p:cNvSpPr txBox="1"/>
          <p:nvPr/>
        </p:nvSpPr>
        <p:spPr>
          <a:xfrm>
            <a:off x="999206" y="1933774"/>
            <a:ext cx="2616200" cy="863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Modern computing =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too many apps +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too many workflows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D4AF06C-083A-C217-013F-AC774BD276C0}"/>
              </a:ext>
            </a:extLst>
          </p:cNvPr>
          <p:cNvSpPr/>
          <p:nvPr/>
        </p:nvSpPr>
        <p:spPr bwMode="auto">
          <a:xfrm>
            <a:off x="4229099" y="1450330"/>
            <a:ext cx="3416299" cy="1397000"/>
          </a:xfrm>
          <a:prstGeom prst="roundRect">
            <a:avLst/>
          </a:prstGeom>
          <a:solidFill>
            <a:srgbClr val="FCF3C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7D5B9B-44CF-9AE5-ABFC-4BBE69BB5719}"/>
              </a:ext>
            </a:extLst>
          </p:cNvPr>
          <p:cNvSpPr/>
          <p:nvPr/>
        </p:nvSpPr>
        <p:spPr bwMode="auto">
          <a:xfrm>
            <a:off x="4370485" y="1576487"/>
            <a:ext cx="76200" cy="1092200"/>
          </a:xfrm>
          <a:prstGeom prst="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9C95FE-8246-9C63-4B34-6EF919CA3C5F}"/>
              </a:ext>
            </a:extLst>
          </p:cNvPr>
          <p:cNvSpPr txBox="1"/>
          <p:nvPr/>
        </p:nvSpPr>
        <p:spPr>
          <a:xfrm>
            <a:off x="4597400" y="1638300"/>
            <a:ext cx="2921001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Human bottleneck</a:t>
            </a:r>
            <a:endParaRPr lang="zh-CN" altLang="en-US" sz="2800" b="1" dirty="0">
              <a:solidFill>
                <a:srgbClr val="C0000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26C0D8-B20A-357A-91C0-D924AA3630D6}"/>
              </a:ext>
            </a:extLst>
          </p:cNvPr>
          <p:cNvSpPr txBox="1"/>
          <p:nvPr/>
        </p:nvSpPr>
        <p:spPr>
          <a:xfrm>
            <a:off x="4497487" y="1810068"/>
            <a:ext cx="2997198" cy="863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Learning cost keeps rising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5F4277-CAB9-5B63-56D2-2313AE3DEFBF}"/>
              </a:ext>
            </a:extLst>
          </p:cNvPr>
          <p:cNvSpPr/>
          <p:nvPr/>
        </p:nvSpPr>
        <p:spPr bwMode="auto">
          <a:xfrm>
            <a:off x="7924800" y="1460500"/>
            <a:ext cx="3267994" cy="13970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8C26ED-FBD2-CC05-D02B-7EC08AE4EC9E}"/>
              </a:ext>
            </a:extLst>
          </p:cNvPr>
          <p:cNvSpPr/>
          <p:nvPr/>
        </p:nvSpPr>
        <p:spPr bwMode="auto">
          <a:xfrm>
            <a:off x="8051797" y="1600200"/>
            <a:ext cx="76200" cy="1092200"/>
          </a:xfrm>
          <a:prstGeom prst="rect">
            <a:avLst/>
          </a:prstGeom>
          <a:solidFill>
            <a:srgbClr val="76923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4C05B2-FF3F-6C36-102B-8D3E378F3E7D}"/>
              </a:ext>
            </a:extLst>
          </p:cNvPr>
          <p:cNvSpPr txBox="1"/>
          <p:nvPr/>
        </p:nvSpPr>
        <p:spPr>
          <a:xfrm>
            <a:off x="8127998" y="1473200"/>
            <a:ext cx="3064795" cy="4191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Systems response</a:t>
            </a:r>
            <a:endParaRPr lang="zh-CN" altLang="en-US" sz="28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9E9433-A03F-D45C-2596-059F411218DF}"/>
              </a:ext>
            </a:extLst>
          </p:cNvPr>
          <p:cNvSpPr txBox="1"/>
          <p:nvPr/>
        </p:nvSpPr>
        <p:spPr>
          <a:xfrm>
            <a:off x="8237995" y="1805087"/>
            <a:ext cx="2844800" cy="863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Automation needs a new abstraction layer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7EE38CF-5BF7-F316-BB23-D8C584CE2C05}"/>
              </a:ext>
            </a:extLst>
          </p:cNvPr>
          <p:cNvSpPr/>
          <p:nvPr/>
        </p:nvSpPr>
        <p:spPr bwMode="auto">
          <a:xfrm>
            <a:off x="1335088" y="4140200"/>
            <a:ext cx="9160996" cy="1676400"/>
          </a:xfrm>
          <a:prstGeom prst="roundRect">
            <a:avLst/>
          </a:prstGeom>
          <a:solidFill>
            <a:srgbClr val="F8F8F8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6DCDC8-91FE-2BA5-E88C-DEAB6C27BC44}"/>
              </a:ext>
            </a:extLst>
          </p:cNvPr>
          <p:cNvSpPr txBox="1"/>
          <p:nvPr/>
        </p:nvSpPr>
        <p:spPr>
          <a:xfrm>
            <a:off x="1496088" y="4369435"/>
            <a:ext cx="8999996" cy="406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1F4E79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Abstraction layers are how computing scales for humans.</a:t>
            </a:r>
            <a:endParaRPr lang="zh-CN" altLang="en-US" sz="2800" b="1" dirty="0">
              <a:solidFill>
                <a:srgbClr val="1F4E79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1E89AD-D700-9E92-E3D1-2768CEC02BC3}"/>
              </a:ext>
            </a:extLst>
          </p:cNvPr>
          <p:cNvSpPr txBox="1"/>
          <p:nvPr/>
        </p:nvSpPr>
        <p:spPr>
          <a:xfrm>
            <a:off x="2235200" y="4953000"/>
            <a:ext cx="74168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 reduced hardware complexity. GUI reduced application complexity.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Agents may reduce workflow complexity.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1026" name="Picture 2" descr="Attack of the apps | TechCrunch">
            <a:extLst>
              <a:ext uri="{FF2B5EF4-FFF2-40B4-BE49-F238E27FC236}">
                <a16:creationId xmlns:a16="http://schemas.microsoft.com/office/drawing/2014/main" id="{0E2DF40D-614B-61B4-D447-339DD02A4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8" y="3000574"/>
            <a:ext cx="1800224" cy="101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fused man and many question marks. Confusion, difficult situation,  clueless human, misunderstanding graphic concepts. Creative flat design  vector illustration Stock-vektor | Adobe Stock">
            <a:extLst>
              <a:ext uri="{FF2B5EF4-FFF2-40B4-BE49-F238E27FC236}">
                <a16:creationId xmlns:a16="http://schemas.microsoft.com/office/drawing/2014/main" id="{F8EC0439-C379-35B6-7DCD-AC137CD2E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773" y="2998045"/>
            <a:ext cx="1012626" cy="101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commerce: Humans + AI Agents at Work - Fluent Commerce">
            <a:extLst>
              <a:ext uri="{FF2B5EF4-FFF2-40B4-BE49-F238E27FC236}">
                <a16:creationId xmlns:a16="http://schemas.microsoft.com/office/drawing/2014/main" id="{3386B577-1863-35A3-A860-36779221F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406" y="2998045"/>
            <a:ext cx="2082187" cy="101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06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1901C8-9ED2-7F31-A17D-A5760A617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A8C99A-13F8-52BE-9D74-F1BA10D62BA1}"/>
              </a:ext>
            </a:extLst>
          </p:cNvPr>
          <p:cNvSpPr txBox="1"/>
          <p:nvPr/>
        </p:nvSpPr>
        <p:spPr>
          <a:xfrm>
            <a:off x="698500" y="101599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Talk map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621FF9D-AD92-DE19-8EB2-3B3113141C44}"/>
              </a:ext>
            </a:extLst>
          </p:cNvPr>
          <p:cNvSpPr/>
          <p:nvPr/>
        </p:nvSpPr>
        <p:spPr bwMode="auto">
          <a:xfrm>
            <a:off x="1193800" y="1937067"/>
            <a:ext cx="4318000" cy="13208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C09BBA-FD34-DF37-3DFC-34EB2DC4CBA2}"/>
              </a:ext>
            </a:extLst>
          </p:cNvPr>
          <p:cNvSpPr/>
          <p:nvPr/>
        </p:nvSpPr>
        <p:spPr bwMode="auto">
          <a:xfrm>
            <a:off x="1346200" y="2089467"/>
            <a:ext cx="76200" cy="10160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E38EB-566D-F011-B5E6-01E316A0F3CB}"/>
              </a:ext>
            </a:extLst>
          </p:cNvPr>
          <p:cNvSpPr txBox="1"/>
          <p:nvPr/>
        </p:nvSpPr>
        <p:spPr>
          <a:xfrm>
            <a:off x="1549399" y="2089467"/>
            <a:ext cx="3810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Step 1</a:t>
            </a:r>
            <a:endParaRPr lang="zh-CN" altLang="en-US" sz="28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B60870-B25D-5ADC-1A2B-F20457F53644}"/>
              </a:ext>
            </a:extLst>
          </p:cNvPr>
          <p:cNvSpPr txBox="1"/>
          <p:nvPr/>
        </p:nvSpPr>
        <p:spPr>
          <a:xfrm>
            <a:off x="1549400" y="2343467"/>
            <a:ext cx="3810000" cy="787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1) OS history as abstraction layers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636AF67-621D-DB81-3392-DD01A394F7B1}"/>
              </a:ext>
            </a:extLst>
          </p:cNvPr>
          <p:cNvSpPr/>
          <p:nvPr/>
        </p:nvSpPr>
        <p:spPr bwMode="auto">
          <a:xfrm>
            <a:off x="6680200" y="1937067"/>
            <a:ext cx="4318000" cy="13208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730C5C-2530-A16B-10AA-CE6BE41BFD49}"/>
              </a:ext>
            </a:extLst>
          </p:cNvPr>
          <p:cNvSpPr/>
          <p:nvPr/>
        </p:nvSpPr>
        <p:spPr bwMode="auto">
          <a:xfrm>
            <a:off x="6832600" y="2089467"/>
            <a:ext cx="76200" cy="1016000"/>
          </a:xfrm>
          <a:prstGeom prst="rect">
            <a:avLst/>
          </a:prstGeom>
          <a:solidFill>
            <a:srgbClr val="76923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F9B713-2D2C-4DFD-BE8D-2D217AB16350}"/>
              </a:ext>
            </a:extLst>
          </p:cNvPr>
          <p:cNvSpPr txBox="1"/>
          <p:nvPr/>
        </p:nvSpPr>
        <p:spPr>
          <a:xfrm>
            <a:off x="7035799" y="2089467"/>
            <a:ext cx="3810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Step 2</a:t>
            </a:r>
            <a:endParaRPr lang="zh-CN" altLang="en-US" sz="28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EDD20-DD84-2619-EF46-AC504E01D997}"/>
              </a:ext>
            </a:extLst>
          </p:cNvPr>
          <p:cNvSpPr txBox="1"/>
          <p:nvPr/>
        </p:nvSpPr>
        <p:spPr>
          <a:xfrm>
            <a:off x="7035800" y="2343467"/>
            <a:ext cx="3810000" cy="787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2) Research question: LLM as an “agentic OS layer”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6EBD10-AA2E-E236-6F25-FCF697E589F9}"/>
              </a:ext>
            </a:extLst>
          </p:cNvPr>
          <p:cNvSpPr/>
          <p:nvPr/>
        </p:nvSpPr>
        <p:spPr bwMode="auto">
          <a:xfrm>
            <a:off x="1193800" y="3664267"/>
            <a:ext cx="4318000" cy="1320800"/>
          </a:xfrm>
          <a:prstGeom prst="roundRect">
            <a:avLst/>
          </a:prstGeom>
          <a:solidFill>
            <a:srgbClr val="FCF3C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1E0E5F-6CE7-845D-26CB-A9C61DD9A98D}"/>
              </a:ext>
            </a:extLst>
          </p:cNvPr>
          <p:cNvSpPr/>
          <p:nvPr/>
        </p:nvSpPr>
        <p:spPr bwMode="auto">
          <a:xfrm>
            <a:off x="1346200" y="3816667"/>
            <a:ext cx="76200" cy="1016000"/>
          </a:xfrm>
          <a:prstGeom prst="rect">
            <a:avLst/>
          </a:prstGeom>
          <a:solidFill>
            <a:srgbClr val="B4841F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11F901-6FB9-1DC8-7F07-FB6FEB465845}"/>
              </a:ext>
            </a:extLst>
          </p:cNvPr>
          <p:cNvSpPr txBox="1"/>
          <p:nvPr/>
        </p:nvSpPr>
        <p:spPr>
          <a:xfrm>
            <a:off x="1549399" y="3816667"/>
            <a:ext cx="3810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B4841F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Step 3</a:t>
            </a:r>
            <a:endParaRPr lang="zh-CN" altLang="en-US" sz="2800" b="1" dirty="0">
              <a:solidFill>
                <a:srgbClr val="B4841F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139BB8-8392-F8F1-A20F-6031940BE130}"/>
              </a:ext>
            </a:extLst>
          </p:cNvPr>
          <p:cNvSpPr txBox="1"/>
          <p:nvPr/>
        </p:nvSpPr>
        <p:spPr>
          <a:xfrm>
            <a:off x="1549400" y="4070667"/>
            <a:ext cx="3810000" cy="787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3)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→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→ OSCAR as a research path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C706261-6DD8-AA4D-3871-A687963B03B0}"/>
              </a:ext>
            </a:extLst>
          </p:cNvPr>
          <p:cNvSpPr/>
          <p:nvPr/>
        </p:nvSpPr>
        <p:spPr bwMode="auto">
          <a:xfrm>
            <a:off x="6680200" y="3664267"/>
            <a:ext cx="4318000" cy="1320800"/>
          </a:xfrm>
          <a:prstGeom prst="roundRect">
            <a:avLst/>
          </a:prstGeom>
          <a:solidFill>
            <a:srgbClr val="FCE4D6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3AAD27-EE68-0ED8-13AE-4B6F934D87CA}"/>
              </a:ext>
            </a:extLst>
          </p:cNvPr>
          <p:cNvSpPr/>
          <p:nvPr/>
        </p:nvSpPr>
        <p:spPr bwMode="auto">
          <a:xfrm>
            <a:off x="6832600" y="3816667"/>
            <a:ext cx="76200" cy="1016000"/>
          </a:xfrm>
          <a:prstGeom prst="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B77C10-FE66-21D4-7047-97413FE7A9FA}"/>
              </a:ext>
            </a:extLst>
          </p:cNvPr>
          <p:cNvSpPr txBox="1"/>
          <p:nvPr/>
        </p:nvSpPr>
        <p:spPr>
          <a:xfrm>
            <a:off x="7035799" y="3816667"/>
            <a:ext cx="3810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Step 4</a:t>
            </a:r>
            <a:endParaRPr lang="zh-CN" altLang="en-US" sz="2800" b="1" dirty="0">
              <a:solidFill>
                <a:srgbClr val="C0000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E1D865-211A-F465-AEA3-2B6084FB3253}"/>
              </a:ext>
            </a:extLst>
          </p:cNvPr>
          <p:cNvSpPr txBox="1"/>
          <p:nvPr/>
        </p:nvSpPr>
        <p:spPr>
          <a:xfrm>
            <a:off x="7035800" y="4070667"/>
            <a:ext cx="3810000" cy="787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4) Security + runtime (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OpenClaw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8076DD-0C85-296E-F9DB-B6421BB0666A}"/>
              </a:ext>
            </a:extLst>
          </p:cNvPr>
          <p:cNvCxnSpPr/>
          <p:nvPr/>
        </p:nvCxnSpPr>
        <p:spPr bwMode="auto">
          <a:xfrm>
            <a:off x="5511800" y="2597467"/>
            <a:ext cx="1016000" cy="0"/>
          </a:xfrm>
          <a:prstGeom prst="line">
            <a:avLst/>
          </a:prstGeom>
          <a:noFill/>
          <a:ln w="2286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8707340-5439-B1C8-0865-17E73E72CA2A}"/>
              </a:ext>
            </a:extLst>
          </p:cNvPr>
          <p:cNvCxnSpPr>
            <a:cxnSpLocks/>
          </p:cNvCxnSpPr>
          <p:nvPr/>
        </p:nvCxnSpPr>
        <p:spPr bwMode="auto">
          <a:xfrm flipH="1">
            <a:off x="5511800" y="3257867"/>
            <a:ext cx="1016000" cy="406400"/>
          </a:xfrm>
          <a:prstGeom prst="line">
            <a:avLst/>
          </a:prstGeom>
          <a:noFill/>
          <a:ln w="2286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A2CA7B4-D551-7669-8CFD-27919A4FF3BB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 bwMode="auto">
          <a:xfrm>
            <a:off x="5511800" y="4324667"/>
            <a:ext cx="1168400" cy="0"/>
          </a:xfrm>
          <a:prstGeom prst="line">
            <a:avLst/>
          </a:prstGeom>
          <a:noFill/>
          <a:ln w="2286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12210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27-inch iMac gets a major update - Apple (SG)">
            <a:extLst>
              <a:ext uri="{FF2B5EF4-FFF2-40B4-BE49-F238E27FC236}">
                <a16:creationId xmlns:a16="http://schemas.microsoft.com/office/drawing/2014/main" id="{14EC67BF-B0A1-C1CF-B59F-B00888271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954" y="4134055"/>
            <a:ext cx="1691701" cy="95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WinWorld: Windows 98 Second Edition">
            <a:extLst>
              <a:ext uri="{FF2B5EF4-FFF2-40B4-BE49-F238E27FC236}">
                <a16:creationId xmlns:a16="http://schemas.microsoft.com/office/drawing/2014/main" id="{F60E4D40-72BF-7438-C10C-768FF70C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901" y="3762565"/>
            <a:ext cx="1086810" cy="67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3903A2-64C7-AFF3-0C89-AABC3AB26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23E2F9-2AD2-96C0-A3B0-5AFCAC57C3E9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 history in 90 seconds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3F6443-56B6-96D3-79E5-C1A0110CC6A5}"/>
              </a:ext>
            </a:extLst>
          </p:cNvPr>
          <p:cNvSpPr txBox="1"/>
          <p:nvPr/>
        </p:nvSpPr>
        <p:spPr>
          <a:xfrm>
            <a:off x="1079500" y="1206500"/>
            <a:ext cx="10033000" cy="304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8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Each milestone reduces the cognitive cost of using machines.</a:t>
            </a:r>
            <a:endParaRPr lang="zh-CN" altLang="en-US" sz="28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549176-F211-A743-D19F-DA4F37219E66}"/>
              </a:ext>
            </a:extLst>
          </p:cNvPr>
          <p:cNvCxnSpPr>
            <a:cxnSpLocks/>
          </p:cNvCxnSpPr>
          <p:nvPr/>
        </p:nvCxnSpPr>
        <p:spPr bwMode="auto">
          <a:xfrm>
            <a:off x="754894" y="3327400"/>
            <a:ext cx="10078206" cy="0"/>
          </a:xfrm>
          <a:prstGeom prst="line">
            <a:avLst/>
          </a:prstGeom>
          <a:noFill/>
          <a:ln w="28575" cap="flat" cmpd="sng" algn="ctr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211A93D1-263B-9823-3216-DFAAC18D6E62}"/>
              </a:ext>
            </a:extLst>
          </p:cNvPr>
          <p:cNvSpPr/>
          <p:nvPr/>
        </p:nvSpPr>
        <p:spPr bwMode="auto">
          <a:xfrm>
            <a:off x="1600200" y="3187700"/>
            <a:ext cx="279400" cy="279400"/>
          </a:xfrm>
          <a:prstGeom prst="ellipse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D398077-158E-DA08-D726-53E9EA390BA8}"/>
              </a:ext>
            </a:extLst>
          </p:cNvPr>
          <p:cNvGrpSpPr>
            <a:grpSpLocks noChangeAspect="1"/>
          </p:cNvGrpSpPr>
          <p:nvPr/>
        </p:nvGrpSpPr>
        <p:grpSpPr>
          <a:xfrm>
            <a:off x="723901" y="1741963"/>
            <a:ext cx="1596174" cy="1306036"/>
            <a:chOff x="1171497" y="2108199"/>
            <a:chExt cx="1148577" cy="939799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6B84A37-EF4E-426D-10AC-94E4D584F5C9}"/>
                </a:ext>
              </a:extLst>
            </p:cNvPr>
            <p:cNvSpPr/>
            <p:nvPr/>
          </p:nvSpPr>
          <p:spPr bwMode="auto">
            <a:xfrm>
              <a:off x="1171497" y="2108199"/>
              <a:ext cx="1148577" cy="939799"/>
            </a:xfrm>
            <a:prstGeom prst="roundRect">
              <a:avLst/>
            </a:prstGeom>
            <a:solidFill>
              <a:srgbClr val="E7F0FA"/>
            </a:solidFill>
            <a:ln w="15875" cap="flat" cmpd="sng" algn="ctr">
              <a:solidFill>
                <a:srgbClr val="BFBFB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7961" dir="2699987" rotWithShape="0">
                <a:srgbClr val="B4B4B4"/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0AC3A57-DB9E-EAAF-C75E-977BD827D151}"/>
                </a:ext>
              </a:extLst>
            </p:cNvPr>
            <p:cNvSpPr txBox="1"/>
            <p:nvPr/>
          </p:nvSpPr>
          <p:spPr>
            <a:xfrm>
              <a:off x="1193799" y="2209800"/>
              <a:ext cx="1092200" cy="2032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606060"/>
                  </a:solidFill>
                  <a:latin typeface="Calibri" panose="020F0502020204030204" pitchFamily="34" charset="0"/>
                  <a:ea typeface="標楷體" pitchFamily="65" charset="-120"/>
                  <a:cs typeface="Calibri" pitchFamily="34" charset="0"/>
                </a:rPr>
                <a:t>1950s</a:t>
              </a:r>
              <a:endParaRPr lang="zh-CN" altLang="en-US" sz="28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29D4A02-925E-4CC7-A5B2-ADD16768A5FA}"/>
                </a:ext>
              </a:extLst>
            </p:cNvPr>
            <p:cNvSpPr txBox="1"/>
            <p:nvPr/>
          </p:nvSpPr>
          <p:spPr>
            <a:xfrm>
              <a:off x="1220963" y="2502866"/>
              <a:ext cx="1092200" cy="4064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Resident</a:t>
              </a:r>
            </a:p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monitor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13" name="椭圆 12">
            <a:extLst>
              <a:ext uri="{FF2B5EF4-FFF2-40B4-BE49-F238E27FC236}">
                <a16:creationId xmlns:a16="http://schemas.microsoft.com/office/drawing/2014/main" id="{31D7A63C-C9DA-C6B1-E34D-4A24FC1AFDFC}"/>
              </a:ext>
            </a:extLst>
          </p:cNvPr>
          <p:cNvSpPr/>
          <p:nvPr/>
        </p:nvSpPr>
        <p:spPr bwMode="auto">
          <a:xfrm>
            <a:off x="3530600" y="3187700"/>
            <a:ext cx="279400" cy="279400"/>
          </a:xfrm>
          <a:prstGeom prst="ellipse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4AF6FE1-62FB-2F72-6BB4-867BE70D68BE}"/>
              </a:ext>
            </a:extLst>
          </p:cNvPr>
          <p:cNvGrpSpPr>
            <a:grpSpLocks noChangeAspect="1"/>
          </p:cNvGrpSpPr>
          <p:nvPr/>
        </p:nvGrpSpPr>
        <p:grpSpPr>
          <a:xfrm>
            <a:off x="2502071" y="1729264"/>
            <a:ext cx="2336457" cy="1295467"/>
            <a:chOff x="2843561" y="2108200"/>
            <a:chExt cx="1694985" cy="93979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5A99D45-8454-6BE6-6E47-898F31007BA8}"/>
                </a:ext>
              </a:extLst>
            </p:cNvPr>
            <p:cNvSpPr/>
            <p:nvPr/>
          </p:nvSpPr>
          <p:spPr bwMode="auto">
            <a:xfrm>
              <a:off x="2843561" y="2108200"/>
              <a:ext cx="1694985" cy="939798"/>
            </a:xfrm>
            <a:prstGeom prst="roundRect">
              <a:avLst/>
            </a:prstGeom>
            <a:solidFill>
              <a:srgbClr val="EBF1DE"/>
            </a:solidFill>
            <a:ln w="15875" cap="flat" cmpd="sng" algn="ctr">
              <a:solidFill>
                <a:srgbClr val="BFBFB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7961" dir="2699987" rotWithShape="0">
                <a:srgbClr val="B4B4B4"/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8B8D2B4-D170-8A1E-7812-8649A90CDF16}"/>
                </a:ext>
              </a:extLst>
            </p:cNvPr>
            <p:cNvSpPr txBox="1"/>
            <p:nvPr/>
          </p:nvSpPr>
          <p:spPr>
            <a:xfrm>
              <a:off x="3124199" y="2209800"/>
              <a:ext cx="1092200" cy="2032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606060"/>
                  </a:solidFill>
                  <a:latin typeface="Calibri" panose="020F0502020204030204" pitchFamily="34" charset="0"/>
                  <a:ea typeface="標楷體" pitchFamily="65" charset="-120"/>
                  <a:cs typeface="Calibri" pitchFamily="34" charset="0"/>
                </a:rPr>
                <a:t>1960s</a:t>
              </a:r>
              <a:endParaRPr lang="zh-CN" altLang="en-US" sz="28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A2644A6-54EB-9255-04BC-B4656A2D797F}"/>
                </a:ext>
              </a:extLst>
            </p:cNvPr>
            <p:cNvSpPr txBox="1"/>
            <p:nvPr/>
          </p:nvSpPr>
          <p:spPr>
            <a:xfrm>
              <a:off x="2987505" y="2530511"/>
              <a:ext cx="1447799" cy="4064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Time-sharing</a:t>
              </a:r>
            </a:p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/ Multics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00DECACC-C800-471C-21BD-79F40FC0D27F}"/>
              </a:ext>
            </a:extLst>
          </p:cNvPr>
          <p:cNvSpPr/>
          <p:nvPr/>
        </p:nvSpPr>
        <p:spPr bwMode="auto">
          <a:xfrm>
            <a:off x="5685830" y="3187701"/>
            <a:ext cx="279400" cy="279400"/>
          </a:xfrm>
          <a:prstGeom prst="ellipse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2CCFEBA-C869-1DDF-02C1-8142CCE05413}"/>
              </a:ext>
            </a:extLst>
          </p:cNvPr>
          <p:cNvGrpSpPr>
            <a:grpSpLocks noChangeAspect="1"/>
          </p:cNvGrpSpPr>
          <p:nvPr/>
        </p:nvGrpSpPr>
        <p:grpSpPr>
          <a:xfrm>
            <a:off x="5089917" y="1716668"/>
            <a:ext cx="1595861" cy="1305776"/>
            <a:chOff x="5084336" y="2108199"/>
            <a:chExt cx="1148578" cy="939797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03E81A0-088F-EDAF-8F2B-0AFDB8F012D1}"/>
                </a:ext>
              </a:extLst>
            </p:cNvPr>
            <p:cNvSpPr/>
            <p:nvPr/>
          </p:nvSpPr>
          <p:spPr bwMode="auto">
            <a:xfrm>
              <a:off x="5084336" y="2108199"/>
              <a:ext cx="1148578" cy="939797"/>
            </a:xfrm>
            <a:prstGeom prst="roundRect">
              <a:avLst/>
            </a:prstGeom>
            <a:solidFill>
              <a:srgbClr val="FCF3CF"/>
            </a:solidFill>
            <a:ln w="15875" cap="flat" cmpd="sng" algn="ctr">
              <a:solidFill>
                <a:srgbClr val="BFBFB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7961" dir="2699987" rotWithShape="0">
                <a:srgbClr val="B4B4B4"/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CD0C592-0629-3C9A-99A4-3C4630FD5C81}"/>
                </a:ext>
              </a:extLst>
            </p:cNvPr>
            <p:cNvSpPr txBox="1"/>
            <p:nvPr/>
          </p:nvSpPr>
          <p:spPr>
            <a:xfrm>
              <a:off x="5130799" y="2209800"/>
              <a:ext cx="1092200" cy="2032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606060"/>
                  </a:solidFill>
                  <a:latin typeface="Calibri" panose="020F0502020204030204" pitchFamily="34" charset="0"/>
                  <a:ea typeface="標楷體" pitchFamily="65" charset="-120"/>
                  <a:cs typeface="Calibri" pitchFamily="34" charset="0"/>
                </a:rPr>
                <a:t>1964</a:t>
              </a:r>
              <a:endParaRPr lang="zh-CN" altLang="en-US" sz="28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E80680D-8ACB-2494-58AE-BB6AB8126399}"/>
                </a:ext>
              </a:extLst>
            </p:cNvPr>
            <p:cNvSpPr txBox="1"/>
            <p:nvPr/>
          </p:nvSpPr>
          <p:spPr>
            <a:xfrm>
              <a:off x="5118210" y="2521149"/>
              <a:ext cx="1092200" cy="4064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OS/360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F54E92C9-6207-F580-0E77-8661D1E8BF96}"/>
              </a:ext>
            </a:extLst>
          </p:cNvPr>
          <p:cNvSpPr/>
          <p:nvPr/>
        </p:nvSpPr>
        <p:spPr bwMode="auto">
          <a:xfrm>
            <a:off x="7721600" y="3187700"/>
            <a:ext cx="279400" cy="279400"/>
          </a:xfrm>
          <a:prstGeom prst="ellipse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96EAC73-A487-F0C4-E6D9-9A048F0028CB}"/>
              </a:ext>
            </a:extLst>
          </p:cNvPr>
          <p:cNvGrpSpPr>
            <a:grpSpLocks noChangeAspect="1"/>
          </p:cNvGrpSpPr>
          <p:nvPr/>
        </p:nvGrpSpPr>
        <p:grpSpPr>
          <a:xfrm>
            <a:off x="6909255" y="1741963"/>
            <a:ext cx="1827890" cy="1286982"/>
            <a:chOff x="7102084" y="2139947"/>
            <a:chExt cx="1244600" cy="876299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8D3F31A7-34AD-C38F-6CFB-A71E351A5FF5}"/>
                </a:ext>
              </a:extLst>
            </p:cNvPr>
            <p:cNvSpPr/>
            <p:nvPr/>
          </p:nvSpPr>
          <p:spPr bwMode="auto">
            <a:xfrm>
              <a:off x="7102084" y="2139947"/>
              <a:ext cx="1244600" cy="876299"/>
            </a:xfrm>
            <a:prstGeom prst="roundRect">
              <a:avLst/>
            </a:prstGeom>
            <a:solidFill>
              <a:srgbClr val="FCE4D6"/>
            </a:solidFill>
            <a:ln w="15875" cap="flat" cmpd="sng" algn="ctr">
              <a:solidFill>
                <a:srgbClr val="BFBFB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7961" dir="2699987" rotWithShape="0">
                <a:srgbClr val="B4B4B4"/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DC4680B-189F-DCD8-33B9-E23320FD7627}"/>
                </a:ext>
              </a:extLst>
            </p:cNvPr>
            <p:cNvSpPr txBox="1"/>
            <p:nvPr/>
          </p:nvSpPr>
          <p:spPr>
            <a:xfrm>
              <a:off x="7178283" y="2241548"/>
              <a:ext cx="1092200" cy="2032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606060"/>
                  </a:solidFill>
                  <a:latin typeface="Calibri" panose="020F0502020204030204" pitchFamily="34" charset="0"/>
                  <a:ea typeface="標楷體" pitchFamily="65" charset="-120"/>
                  <a:cs typeface="Calibri" pitchFamily="34" charset="0"/>
                </a:rPr>
                <a:t>1969</a:t>
              </a:r>
              <a:endParaRPr lang="zh-CN" altLang="en-US" sz="28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E28CD3E-8603-963E-F213-FC10DDC68E4A}"/>
                </a:ext>
              </a:extLst>
            </p:cNvPr>
            <p:cNvSpPr txBox="1"/>
            <p:nvPr/>
          </p:nvSpPr>
          <p:spPr>
            <a:xfrm>
              <a:off x="7178283" y="2470148"/>
              <a:ext cx="1092200" cy="4064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UNIX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ED1E9198-A347-542A-C9DC-1C4A91F76D19}"/>
              </a:ext>
            </a:extLst>
          </p:cNvPr>
          <p:cNvSpPr/>
          <p:nvPr/>
        </p:nvSpPr>
        <p:spPr bwMode="auto">
          <a:xfrm>
            <a:off x="9876830" y="3175001"/>
            <a:ext cx="279400" cy="279400"/>
          </a:xfrm>
          <a:prstGeom prst="ellipse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B787852-054B-C4A2-3F74-1D7E3893114D}"/>
              </a:ext>
            </a:extLst>
          </p:cNvPr>
          <p:cNvGrpSpPr>
            <a:grpSpLocks noChangeAspect="1"/>
          </p:cNvGrpSpPr>
          <p:nvPr/>
        </p:nvGrpSpPr>
        <p:grpSpPr>
          <a:xfrm>
            <a:off x="8978899" y="1729264"/>
            <a:ext cx="2133601" cy="1278232"/>
            <a:chOff x="9289746" y="2118603"/>
            <a:chExt cx="1462698" cy="876297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3788B53F-3A06-C371-7CA8-BA6AE1777D9D}"/>
                </a:ext>
              </a:extLst>
            </p:cNvPr>
            <p:cNvSpPr/>
            <p:nvPr/>
          </p:nvSpPr>
          <p:spPr bwMode="auto">
            <a:xfrm>
              <a:off x="9289746" y="2118603"/>
              <a:ext cx="1462698" cy="876297"/>
            </a:xfrm>
            <a:prstGeom prst="roundRect">
              <a:avLst/>
            </a:prstGeom>
            <a:solidFill>
              <a:srgbClr val="EEECF5"/>
            </a:solidFill>
            <a:ln w="15875" cap="flat" cmpd="sng" algn="ctr">
              <a:solidFill>
                <a:srgbClr val="BFBFB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7961" dir="2699987" rotWithShape="0">
                <a:srgbClr val="B4B4B4"/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C00ADA7-8779-DDBE-3F50-A43839C13E5C}"/>
                </a:ext>
              </a:extLst>
            </p:cNvPr>
            <p:cNvSpPr txBox="1"/>
            <p:nvPr/>
          </p:nvSpPr>
          <p:spPr>
            <a:xfrm>
              <a:off x="9411644" y="2210042"/>
              <a:ext cx="1253117" cy="228597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606060"/>
                  </a:solidFill>
                  <a:latin typeface="Calibri" panose="020F0502020204030204" pitchFamily="34" charset="0"/>
                  <a:ea typeface="標楷體" pitchFamily="65" charset="-120"/>
                  <a:cs typeface="Calibri" pitchFamily="34" charset="0"/>
                </a:rPr>
                <a:t>1998–Now</a:t>
              </a:r>
              <a:endParaRPr lang="zh-CN" altLang="en-US" sz="28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A95F6F9-1F41-647A-9817-DF8D3F6685FA}"/>
                </a:ext>
              </a:extLst>
            </p:cNvPr>
            <p:cNvSpPr txBox="1"/>
            <p:nvPr/>
          </p:nvSpPr>
          <p:spPr>
            <a:xfrm>
              <a:off x="9470429" y="2448804"/>
              <a:ext cx="1092200" cy="406400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itchFamily="65" charset="-120"/>
                  <a:cs typeface="Calibri" pitchFamily="34" charset="0"/>
                </a:rPr>
                <a:t>GUI era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D20C55C6-48E0-6FCD-B143-04C01E669FD6}"/>
              </a:ext>
            </a:extLst>
          </p:cNvPr>
          <p:cNvSpPr txBox="1"/>
          <p:nvPr/>
        </p:nvSpPr>
        <p:spPr>
          <a:xfrm>
            <a:off x="1549400" y="5477958"/>
            <a:ext cx="8966200" cy="579941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Each step = new abstraction for humans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2050" name="Picture 2" descr="Bare Machine and Resident Monitor - GeeksforGeeks">
            <a:extLst>
              <a:ext uri="{FF2B5EF4-FFF2-40B4-BE49-F238E27FC236}">
                <a16:creationId xmlns:a16="http://schemas.microsoft.com/office/drawing/2014/main" id="{A0F73777-6725-6861-77C8-E1757C2B1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195" y="3606800"/>
            <a:ext cx="1086810" cy="146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ersion 6 Unix - Wikipedia">
            <a:extLst>
              <a:ext uri="{FF2B5EF4-FFF2-40B4-BE49-F238E27FC236}">
                <a16:creationId xmlns:a16="http://schemas.microsoft.com/office/drawing/2014/main" id="{C861C61D-0EA4-862C-BE01-CCF0D9B39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218" y="3708393"/>
            <a:ext cx="1868329" cy="119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BM System/360 - Wikipedia">
            <a:extLst>
              <a:ext uri="{FF2B5EF4-FFF2-40B4-BE49-F238E27FC236}">
                <a16:creationId xmlns:a16="http://schemas.microsoft.com/office/drawing/2014/main" id="{DB7B541A-50ED-E8EA-6E0D-D0FF07610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454" y="3700781"/>
            <a:ext cx="1589418" cy="119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Compatible Time-Sharing System (1961-1973) Fiftieth Anniversary  Commemorative Overview">
            <a:extLst>
              <a:ext uri="{FF2B5EF4-FFF2-40B4-BE49-F238E27FC236}">
                <a16:creationId xmlns:a16="http://schemas.microsoft.com/office/drawing/2014/main" id="{1345B030-3BF1-DD07-7EDF-3805765BE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200" y="3667520"/>
            <a:ext cx="1584340" cy="121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36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A114-704F-543D-2B6E-88F40A03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4B648A-8232-4264-1773-C287E2221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862975-EACF-6999-CFFC-CD3FAAA7EECD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What is an “agentic OS layer”?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A1A8D1-510E-0618-FB36-37E03B2888B5}"/>
              </a:ext>
            </a:extLst>
          </p:cNvPr>
          <p:cNvSpPr txBox="1"/>
          <p:nvPr/>
        </p:nvSpPr>
        <p:spPr>
          <a:xfrm>
            <a:off x="806450" y="1968500"/>
            <a:ext cx="5422900" cy="30099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 layer that:</a:t>
            </a:r>
          </a:p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Takes natural language goals</a:t>
            </a:r>
          </a:p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Observes the real computer state</a:t>
            </a:r>
          </a:p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Plans + executes across apps</a:t>
            </a:r>
          </a:p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Verifies outcomes</a:t>
            </a:r>
          </a:p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Enforces safety boundaries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91C442-7A77-6FAB-CE47-830B943A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105" y="1284896"/>
            <a:ext cx="4838095" cy="4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8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AC7F47-C28C-C6C1-6796-6AA23A045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E0A79C-934B-105E-176F-1EF595764AB0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Why we need benchmarks first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8A1AF9-C984-64CA-0A34-92C989E546FE}"/>
              </a:ext>
            </a:extLst>
          </p:cNvPr>
          <p:cNvSpPr txBox="1"/>
          <p:nvPr/>
        </p:nvSpPr>
        <p:spPr>
          <a:xfrm>
            <a:off x="211015" y="1523999"/>
            <a:ext cx="4837722" cy="3606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Why benchmarks come first</a:t>
            </a:r>
          </a:p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Without a realistic benchmark:</a:t>
            </a:r>
          </a:p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LLMs are not comparable</a:t>
            </a:r>
          </a:p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No standard 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environment as base</a:t>
            </a:r>
          </a:p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Lack show case of real scenario complexity</a:t>
            </a:r>
          </a:p>
          <a:p>
            <a:pPr>
              <a:spcAft>
                <a:spcPts val="600"/>
              </a:spcAft>
            </a:pP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is the “real computer” benchmark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D95BE84-8E12-02B0-707D-E8EEE5E78878}"/>
              </a:ext>
            </a:extLst>
          </p:cNvPr>
          <p:cNvSpPr/>
          <p:nvPr/>
        </p:nvSpPr>
        <p:spPr bwMode="auto">
          <a:xfrm>
            <a:off x="5048737" y="1244599"/>
            <a:ext cx="6904080" cy="4165601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032E67-E8DF-04C4-AA05-8EE1679C5485}"/>
              </a:ext>
            </a:extLst>
          </p:cNvPr>
          <p:cNvSpPr txBox="1"/>
          <p:nvPr/>
        </p:nvSpPr>
        <p:spPr>
          <a:xfrm>
            <a:off x="736599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8D4EC8-274B-4CEB-1976-867654B41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775" y="1524000"/>
            <a:ext cx="6340078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5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239612-13FA-C9F3-BE66-DD81C8B61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206875-7EC0-36AE-C2FF-0B8D484F908F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in one slide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AECC59-671C-1F34-B67A-44EB7A95235B}"/>
              </a:ext>
            </a:extLst>
          </p:cNvPr>
          <p:cNvSpPr txBox="1"/>
          <p:nvPr/>
        </p:nvSpPr>
        <p:spPr>
          <a:xfrm>
            <a:off x="239183" y="1586865"/>
            <a:ext cx="4965982" cy="3606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present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The first scalable real-computer benchmark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for open-ended agent evaluation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itchFamily="34" charset="0"/>
              </a:rPr>
              <a:t>369 real-world tasks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Calibri" pitchFamily="34" charset="0"/>
              </a:rPr>
              <a:t>spanning arbitrary applications and cross-app workflows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itchFamily="34" charset="0"/>
              </a:rPr>
              <a:t>Reproducible task environments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Calibri" pitchFamily="34" charset="0"/>
              </a:rPr>
              <a:t>for standardized and repeatable evaluation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itchFamily="34" charset="0"/>
              </a:rPr>
              <a:t>Execution-based evaluators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Calibri" pitchFamily="34" charset="0"/>
              </a:rPr>
              <a:t>for measuring actual task success rather than text overlap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Calibri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F674FFB-E8AF-4174-744C-21594FC336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165" y="1320799"/>
            <a:ext cx="6747652" cy="415944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0E94B77-C236-9AB3-D2CB-79CABBC8B2DD}"/>
              </a:ext>
            </a:extLst>
          </p:cNvPr>
          <p:cNvSpPr txBox="1"/>
          <p:nvPr/>
        </p:nvSpPr>
        <p:spPr>
          <a:xfrm>
            <a:off x="736599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task demonstration figure.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41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8CA65F-BAF3-709A-FC43-EEC312329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DF417B-7D80-D082-A369-BF0D9722A90D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Key numbers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0D1EFF-8EC5-F47B-DE8D-6DA4BDB42299}"/>
              </a:ext>
            </a:extLst>
          </p:cNvPr>
          <p:cNvSpPr txBox="1"/>
          <p:nvPr/>
        </p:nvSpPr>
        <p:spPr>
          <a:xfrm>
            <a:off x="385764" y="1163647"/>
            <a:ext cx="5811836" cy="1901898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Baseline LLM/VLM agents evaluated on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Reported across 5 task categories: OS, Office, Daily, Professional, Workflow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Reveals the gap in GUI grounding and operational knowledge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F49BE60-5EB2-1F04-62E6-542D37FCF02F}"/>
              </a:ext>
            </a:extLst>
          </p:cNvPr>
          <p:cNvSpPr/>
          <p:nvPr/>
        </p:nvSpPr>
        <p:spPr bwMode="auto">
          <a:xfrm>
            <a:off x="377032" y="3197298"/>
            <a:ext cx="1905000" cy="12192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9A9C4A-2B39-E40D-D6B1-0DA7C253802C}"/>
              </a:ext>
            </a:extLst>
          </p:cNvPr>
          <p:cNvSpPr txBox="1"/>
          <p:nvPr/>
        </p:nvSpPr>
        <p:spPr>
          <a:xfrm>
            <a:off x="580232" y="3324298"/>
            <a:ext cx="14986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200" b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Ubuntu tasks</a:t>
            </a:r>
            <a:endParaRPr lang="zh-CN" altLang="en-US" sz="1200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6BE2FB-2672-10C4-CB0F-93DE19EE9A64}"/>
              </a:ext>
            </a:extLst>
          </p:cNvPr>
          <p:cNvSpPr txBox="1"/>
          <p:nvPr/>
        </p:nvSpPr>
        <p:spPr>
          <a:xfrm>
            <a:off x="580231" y="3629098"/>
            <a:ext cx="14986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369</a:t>
            </a:r>
            <a:endParaRPr lang="zh-CN" altLang="en-US" sz="21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98AE92-8554-962C-60CA-8FAB2C42FCCB}"/>
              </a:ext>
            </a:extLst>
          </p:cNvPr>
          <p:cNvSpPr txBox="1"/>
          <p:nvPr/>
        </p:nvSpPr>
        <p:spPr>
          <a:xfrm>
            <a:off x="580232" y="4086298"/>
            <a:ext cx="14986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00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real workflows</a:t>
            </a:r>
            <a:endParaRPr lang="zh-CN" altLang="en-US" sz="10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CA0A149-EED7-48E0-6580-19A12905AD1F}"/>
              </a:ext>
            </a:extLst>
          </p:cNvPr>
          <p:cNvSpPr/>
          <p:nvPr/>
        </p:nvSpPr>
        <p:spPr bwMode="auto">
          <a:xfrm>
            <a:off x="2459832" y="3197298"/>
            <a:ext cx="1905000" cy="12192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B66669-2292-B257-9FEB-782D17505CE9}"/>
              </a:ext>
            </a:extLst>
          </p:cNvPr>
          <p:cNvSpPr txBox="1"/>
          <p:nvPr/>
        </p:nvSpPr>
        <p:spPr>
          <a:xfrm>
            <a:off x="2663032" y="3324298"/>
            <a:ext cx="14986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200" b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Human SR</a:t>
            </a:r>
            <a:endParaRPr lang="zh-CN" altLang="en-US" sz="1200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702ACE-A7E4-50D3-F778-E50468103733}"/>
              </a:ext>
            </a:extLst>
          </p:cNvPr>
          <p:cNvSpPr txBox="1"/>
          <p:nvPr/>
        </p:nvSpPr>
        <p:spPr>
          <a:xfrm>
            <a:off x="2663031" y="3629098"/>
            <a:ext cx="14986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72.36%</a:t>
            </a:r>
            <a:endParaRPr lang="zh-CN" altLang="en-US" sz="21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1B6361-AFFE-06F0-D1A8-D2999E842354}"/>
              </a:ext>
            </a:extLst>
          </p:cNvPr>
          <p:cNvSpPr txBox="1"/>
          <p:nvPr/>
        </p:nvSpPr>
        <p:spPr>
          <a:xfrm>
            <a:off x="2663032" y="4086298"/>
            <a:ext cx="14986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00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upper bound</a:t>
            </a:r>
            <a:endParaRPr lang="zh-CN" altLang="en-US" sz="10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89C9311-E710-E252-CC6D-200779FAB257}"/>
              </a:ext>
            </a:extLst>
          </p:cNvPr>
          <p:cNvSpPr/>
          <p:nvPr/>
        </p:nvSpPr>
        <p:spPr bwMode="auto">
          <a:xfrm>
            <a:off x="1418432" y="4619698"/>
            <a:ext cx="1905000" cy="1219200"/>
          </a:xfrm>
          <a:prstGeom prst="roundRect">
            <a:avLst/>
          </a:prstGeom>
          <a:solidFill>
            <a:srgbClr val="FCE4D6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410653-D6C1-D9D6-9354-1EBF8E74D64D}"/>
              </a:ext>
            </a:extLst>
          </p:cNvPr>
          <p:cNvSpPr txBox="1"/>
          <p:nvPr/>
        </p:nvSpPr>
        <p:spPr>
          <a:xfrm>
            <a:off x="1621632" y="4746698"/>
            <a:ext cx="14986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200" b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Best baseline</a:t>
            </a:r>
            <a:endParaRPr lang="zh-CN" altLang="en-US" sz="1200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215E93-9A5F-ADE1-2294-458B3B1B91AB}"/>
              </a:ext>
            </a:extLst>
          </p:cNvPr>
          <p:cNvSpPr txBox="1"/>
          <p:nvPr/>
        </p:nvSpPr>
        <p:spPr>
          <a:xfrm>
            <a:off x="1621631" y="5051498"/>
            <a:ext cx="14986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>
                <a:solidFill>
                  <a:srgbClr val="C0000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12.24%</a:t>
            </a:r>
            <a:endParaRPr lang="zh-CN" altLang="en-US" sz="2100" b="1" dirty="0">
              <a:solidFill>
                <a:srgbClr val="C0000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1F6BFF-A9A0-B872-17A4-AF0BFE886AB3}"/>
              </a:ext>
            </a:extLst>
          </p:cNvPr>
          <p:cNvSpPr txBox="1"/>
          <p:nvPr/>
        </p:nvSpPr>
        <p:spPr>
          <a:xfrm>
            <a:off x="1621632" y="5508698"/>
            <a:ext cx="14986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00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best published</a:t>
            </a:r>
            <a:endParaRPr lang="zh-CN" altLang="en-US" sz="10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466856-5699-4305-46FD-56FDE59F4996}"/>
              </a:ext>
            </a:extLst>
          </p:cNvPr>
          <p:cNvSpPr txBox="1"/>
          <p:nvPr/>
        </p:nvSpPr>
        <p:spPr>
          <a:xfrm>
            <a:off x="3120231" y="5110919"/>
            <a:ext cx="3826934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1F4E79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Massive gap = </a:t>
            </a:r>
          </a:p>
          <a:p>
            <a:pPr algn="ctr"/>
            <a:r>
              <a:rPr lang="en-US" altLang="zh-CN" sz="2000" b="1" dirty="0">
                <a:solidFill>
                  <a:srgbClr val="1F4E79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GUI grounding + </a:t>
            </a:r>
          </a:p>
          <a:p>
            <a:pPr algn="ctr"/>
            <a:r>
              <a:rPr lang="en-US" altLang="zh-CN" sz="2000" b="1" dirty="0">
                <a:solidFill>
                  <a:srgbClr val="1F4E79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operational knowledge</a:t>
            </a:r>
            <a:endParaRPr lang="zh-CN" altLang="en-US" sz="2000" b="1" dirty="0">
              <a:solidFill>
                <a:srgbClr val="1F4E79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DC891B-51E9-2FA5-6A1C-D7E33B15B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221914"/>
            <a:ext cx="5033168" cy="447728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C8233BF-B1AB-05C7-396D-524878998F31}"/>
              </a:ext>
            </a:extLst>
          </p:cNvPr>
          <p:cNvSpPr/>
          <p:nvPr/>
        </p:nvSpPr>
        <p:spPr bwMode="auto">
          <a:xfrm>
            <a:off x="11160369" y="2040621"/>
            <a:ext cx="550985" cy="1682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A0511A9-F8D8-B7BD-73B3-D57820E6D2D3}"/>
              </a:ext>
            </a:extLst>
          </p:cNvPr>
          <p:cNvSpPr/>
          <p:nvPr/>
        </p:nvSpPr>
        <p:spPr bwMode="auto">
          <a:xfrm>
            <a:off x="11204330" y="5467884"/>
            <a:ext cx="550985" cy="1682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15A3CB-707B-5D1E-C390-80FEBACA72B1}"/>
              </a:ext>
            </a:extLst>
          </p:cNvPr>
          <p:cNvSpPr txBox="1"/>
          <p:nvPr/>
        </p:nvSpPr>
        <p:spPr>
          <a:xfrm>
            <a:off x="746369" y="5864206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Benchmark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8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C961BD-4B48-E115-C7F8-F96AF1F69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1B7D8F-EE6F-E4F7-65AC-5FB88FC84950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Data collection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9B52CF-4ED1-1B64-A831-EA084CA5F56F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task example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5CFFB0-470D-A55B-7B12-1A6ECE41D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018" y="1511300"/>
            <a:ext cx="6708175" cy="38227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65C4985-BFE8-B138-E7C8-A5DE71948067}"/>
              </a:ext>
            </a:extLst>
          </p:cNvPr>
          <p:cNvSpPr txBox="1"/>
          <p:nvPr/>
        </p:nvSpPr>
        <p:spPr>
          <a:xfrm>
            <a:off x="239183" y="1798865"/>
            <a:ext cx="5117835" cy="3265503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369 + 43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tasks from real-world computer use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400 man-hours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for task collection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84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benchmark-integrated tasks +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30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infeasible tasks for broader and more realistic coverage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Two-author cross-checking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for every task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1,800 man-hours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for setup, evaluation, and quality control</a:t>
            </a:r>
          </a:p>
        </p:txBody>
      </p:sp>
    </p:spTree>
    <p:extLst>
      <p:ext uri="{BB962C8B-B14F-4D97-AF65-F5344CB8AC3E}">
        <p14:creationId xmlns:p14="http://schemas.microsoft.com/office/powerpoint/2010/main" val="79349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5376C3-C934-7218-D3EE-DB0AF5D50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C1CEF3-6329-7477-2A6D-5762FE3E836C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Execution-based evaluation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B50CBC-4179-9C5E-6E24-3AFE0D0417BE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Fig. 9 (success case).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189743-8D89-89FE-6697-4A0C67EA0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185" y="1413248"/>
            <a:ext cx="8135816" cy="38538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E6F3F1D-2CC0-CCF1-5340-35B3B8469A40}"/>
              </a:ext>
            </a:extLst>
          </p:cNvPr>
          <p:cNvSpPr txBox="1"/>
          <p:nvPr/>
        </p:nvSpPr>
        <p:spPr>
          <a:xfrm>
            <a:off x="234463" y="1707400"/>
            <a:ext cx="3821722" cy="3265503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Custom execution-based evaluators for every task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Checks real outcomes in the OS environment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Covers files, applications, UI states, and workflows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Reliable and reproducible automatic evaluation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Beyond text matching: measures actual task success</a:t>
            </a:r>
          </a:p>
        </p:txBody>
      </p:sp>
    </p:spTree>
    <p:extLst>
      <p:ext uri="{BB962C8B-B14F-4D97-AF65-F5344CB8AC3E}">
        <p14:creationId xmlns:p14="http://schemas.microsoft.com/office/powerpoint/2010/main" val="831518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1DEB72-60A3-C46B-532D-F3D6C9CD1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905F16-D329-459B-59E4-32EF9BBCC055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Failure modes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8054ED-B9AD-2371-DFAC-E32A2C6A3B56}"/>
              </a:ext>
            </a:extLst>
          </p:cNvPr>
          <p:cNvSpPr txBox="1"/>
          <p:nvPr/>
        </p:nvSpPr>
        <p:spPr>
          <a:xfrm>
            <a:off x="211015" y="1457569"/>
            <a:ext cx="4578942" cy="3991708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Common failure modes (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GUI errors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inaccurate operations in complex interfaces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UI state drift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execution becomes unstable after small mistakes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Noise sensitivity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unexpected windows and visual clutter disrupt action chains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Insufficient operational knowledge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limited knowledge of tool usage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Planning is easier than execution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agents can propose good plans, but fail in step-by-step control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E572A7-BD57-4DA2-8346-574972D5DCA3}"/>
              </a:ext>
            </a:extLst>
          </p:cNvPr>
          <p:cNvSpPr txBox="1"/>
          <p:nvPr/>
        </p:nvSpPr>
        <p:spPr>
          <a:xfrm>
            <a:off x="736599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qualitative failure analysis.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CBE5E4-B1ED-D8E2-441A-4541F7E0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57" y="1408723"/>
            <a:ext cx="7309026" cy="412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6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A5B583-DE7B-C174-D731-C63AD4DAA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061E1C-BFDE-7128-5084-AF77B3371AC2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Step 2: Perception for GUIs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6FCFF24-A9B8-75D7-09B6-F7ECF2A9BCA3}"/>
              </a:ext>
            </a:extLst>
          </p:cNvPr>
          <p:cNvSpPr/>
          <p:nvPr/>
        </p:nvSpPr>
        <p:spPr bwMode="auto">
          <a:xfrm>
            <a:off x="384231" y="1136533"/>
            <a:ext cx="1876829" cy="835891"/>
          </a:xfrm>
          <a:prstGeom prst="round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新細明體" pitchFamily="18" charset="-120"/>
              </a:rPr>
              <a:t>STEP 2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A7FF05-3554-B9BE-60DC-649A0B1049A6}"/>
              </a:ext>
            </a:extLst>
          </p:cNvPr>
          <p:cNvSpPr txBox="1"/>
          <p:nvPr/>
        </p:nvSpPr>
        <p:spPr>
          <a:xfrm>
            <a:off x="211015" y="1432630"/>
            <a:ext cx="4578942" cy="3991708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Common failure modes (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reveals a perception gap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GUI grounding is hard in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dense, high-resolution interfaces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Agents often know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what to do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, but not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where to act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targets this gap with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high-resolution GUI perception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0C8D11D-3483-415D-5701-ADC014F93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3"/>
          <a:stretch>
            <a:fillRect/>
          </a:stretch>
        </p:blipFill>
        <p:spPr>
          <a:xfrm>
            <a:off x="4789957" y="1852467"/>
            <a:ext cx="7293978" cy="391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5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7C20BC-E39C-5682-4ED9-0A146FB875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E52314-E520-9CFD-E6DB-1A7181D3B98D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in one slide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C85F7F-53C7-D079-93F1-CD4839D7C186}"/>
              </a:ext>
            </a:extLst>
          </p:cNvPr>
          <p:cNvSpPr/>
          <p:nvPr/>
        </p:nvSpPr>
        <p:spPr bwMode="auto">
          <a:xfrm>
            <a:off x="1092199" y="1352549"/>
            <a:ext cx="3314699" cy="10922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9A2C6F-A100-F519-C223-07AE9CC5617F}"/>
              </a:ext>
            </a:extLst>
          </p:cNvPr>
          <p:cNvSpPr/>
          <p:nvPr/>
        </p:nvSpPr>
        <p:spPr bwMode="auto">
          <a:xfrm>
            <a:off x="1244600" y="1504949"/>
            <a:ext cx="76200" cy="7874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CD16D9-F1F2-540E-BFE6-FFEBC816BCC3}"/>
              </a:ext>
            </a:extLst>
          </p:cNvPr>
          <p:cNvSpPr txBox="1"/>
          <p:nvPr/>
        </p:nvSpPr>
        <p:spPr>
          <a:xfrm>
            <a:off x="1485900" y="1513747"/>
            <a:ext cx="2692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Point 1</a:t>
            </a:r>
            <a:endParaRPr lang="zh-CN" altLang="en-US" sz="20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0C0F7D-C105-6EF4-2218-499011235F82}"/>
              </a:ext>
            </a:extLst>
          </p:cNvPr>
          <p:cNvSpPr txBox="1"/>
          <p:nvPr/>
        </p:nvSpPr>
        <p:spPr>
          <a:xfrm>
            <a:off x="1447800" y="1758949"/>
            <a:ext cx="2692400" cy="558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Specialized 18B VLM for GUI understanding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C7E93C-AA53-C06F-DC55-3687A61AC0CE}"/>
              </a:ext>
            </a:extLst>
          </p:cNvPr>
          <p:cNvSpPr/>
          <p:nvPr/>
        </p:nvSpPr>
        <p:spPr bwMode="auto">
          <a:xfrm>
            <a:off x="1092200" y="2851149"/>
            <a:ext cx="3314700" cy="10922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BF62F4-455A-C8EF-8A58-F76371046C78}"/>
              </a:ext>
            </a:extLst>
          </p:cNvPr>
          <p:cNvSpPr/>
          <p:nvPr/>
        </p:nvSpPr>
        <p:spPr bwMode="auto">
          <a:xfrm>
            <a:off x="1244600" y="3003549"/>
            <a:ext cx="76200" cy="787400"/>
          </a:xfrm>
          <a:prstGeom prst="rect">
            <a:avLst/>
          </a:prstGeom>
          <a:solidFill>
            <a:srgbClr val="76923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F3D9A0-1F34-6EA3-E8D5-C4DD50050585}"/>
              </a:ext>
            </a:extLst>
          </p:cNvPr>
          <p:cNvSpPr txBox="1"/>
          <p:nvPr/>
        </p:nvSpPr>
        <p:spPr>
          <a:xfrm>
            <a:off x="1485900" y="3003549"/>
            <a:ext cx="2692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Point 2</a:t>
            </a:r>
            <a:endParaRPr lang="zh-CN" altLang="en-US" sz="20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335460-CB12-8156-54EE-AA5F44F35217}"/>
              </a:ext>
            </a:extLst>
          </p:cNvPr>
          <p:cNvSpPr txBox="1"/>
          <p:nvPr/>
        </p:nvSpPr>
        <p:spPr>
          <a:xfrm>
            <a:off x="1384300" y="3259998"/>
            <a:ext cx="2844800" cy="558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1120 × 1120 high-resolution input for tiny UI elements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6D016DF-58FE-3B1C-90C9-C454D38A877B}"/>
              </a:ext>
            </a:extLst>
          </p:cNvPr>
          <p:cNvSpPr/>
          <p:nvPr/>
        </p:nvSpPr>
        <p:spPr bwMode="auto">
          <a:xfrm>
            <a:off x="1092200" y="4438650"/>
            <a:ext cx="3314700" cy="10922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CE1FE7-A8FF-3A59-9633-B8B7FE2B75FA}"/>
              </a:ext>
            </a:extLst>
          </p:cNvPr>
          <p:cNvSpPr/>
          <p:nvPr/>
        </p:nvSpPr>
        <p:spPr bwMode="auto">
          <a:xfrm>
            <a:off x="1244600" y="4591050"/>
            <a:ext cx="76200" cy="7874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2A7CD7-1E69-66D5-2F66-E018209FCDDA}"/>
              </a:ext>
            </a:extLst>
          </p:cNvPr>
          <p:cNvSpPr txBox="1"/>
          <p:nvPr/>
        </p:nvSpPr>
        <p:spPr>
          <a:xfrm>
            <a:off x="1350433" y="4591050"/>
            <a:ext cx="2946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Point 3</a:t>
            </a:r>
            <a:endParaRPr lang="zh-CN" altLang="en-US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D4022E-1B07-DB88-DA24-4650A980E92F}"/>
              </a:ext>
            </a:extLst>
          </p:cNvPr>
          <p:cNvSpPr txBox="1"/>
          <p:nvPr/>
        </p:nvSpPr>
        <p:spPr>
          <a:xfrm>
            <a:off x="1282700" y="4851068"/>
            <a:ext cx="3124200" cy="558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Screenshot-only SOTA on GUI navigation benchmarks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7E08E5-1CBA-7404-9BFD-3F53225E828A}"/>
              </a:ext>
            </a:extLst>
          </p:cNvPr>
          <p:cNvSpPr txBox="1"/>
          <p:nvPr/>
        </p:nvSpPr>
        <p:spPr>
          <a:xfrm>
            <a:off x="736599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Fig. 1.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898A26-DBB8-962C-99C3-062F291F9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80"/>
          <a:stretch>
            <a:fillRect/>
          </a:stretch>
        </p:blipFill>
        <p:spPr>
          <a:xfrm>
            <a:off x="5338176" y="1149018"/>
            <a:ext cx="6614641" cy="455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62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6BBE19-7AB9-0889-5934-FB34434C4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ADFFD2-CF10-D0D6-61EF-E0B450FB0850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Architecture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A1F4DF-FE43-D1C2-D023-BDD4B5440623}"/>
              </a:ext>
            </a:extLst>
          </p:cNvPr>
          <p:cNvSpPr txBox="1"/>
          <p:nvPr/>
        </p:nvSpPr>
        <p:spPr>
          <a:xfrm>
            <a:off x="627529" y="1320799"/>
            <a:ext cx="5988424" cy="1234142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Built on </a:t>
            </a:r>
            <a:r>
              <a:rPr lang="en-US" altLang="zh-CN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CogVLM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, </a:t>
            </a:r>
            <a:r>
              <a:rPr lang="en-US" altLang="zh-CN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combines global layout perception with high-resolution detail perception for accurate GUI grounding.</a:t>
            </a:r>
            <a:endParaRPr lang="zh-CN" altLang="en-US" sz="19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17FDB3-EE20-6B4F-D0F5-E98BAD7A9EAA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Fig. 2 (high-resolution cross-module).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71EE424-7AE4-3464-5051-63513A783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373768"/>
              </p:ext>
            </p:extLst>
          </p:nvPr>
        </p:nvGraphicFramePr>
        <p:xfrm>
          <a:off x="6936723" y="1212981"/>
          <a:ext cx="4213877" cy="44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6800584" imgH="7152876" progId="Acrobat.Document.DC">
                  <p:embed/>
                </p:oleObj>
              </mc:Choice>
              <mc:Fallback>
                <p:oleObj name="Acrobat Document" r:id="rId3" imgW="6800584" imgH="7152876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36723" y="1212981"/>
                        <a:ext cx="4213877" cy="4432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E4B5AA4-2DC7-69A9-53F4-08F4C4277DF9}"/>
              </a:ext>
            </a:extLst>
          </p:cNvPr>
          <p:cNvSpPr txBox="1"/>
          <p:nvPr/>
        </p:nvSpPr>
        <p:spPr>
          <a:xfrm>
            <a:off x="887506" y="1878677"/>
            <a:ext cx="5486400" cy="3428426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CogVLM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backbone</a:t>
            </a:r>
          </a:p>
          <a:p>
            <a:pPr>
              <a:spcAft>
                <a:spcPts val="600"/>
              </a:spcAft>
            </a:pP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Pretrained vision-language foundation model.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Dual visual encoders</a:t>
            </a:r>
          </a:p>
          <a:p>
            <a:pPr>
              <a:spcAft>
                <a:spcPts val="600"/>
              </a:spcAft>
            </a:pP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Low-resolution for layout, high-resolution for details.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1120 × 1120 GUI input</a:t>
            </a:r>
          </a:p>
          <a:p>
            <a:pPr>
              <a:spcAft>
                <a:spcPts val="600"/>
              </a:spcAft>
            </a:pP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Captures tiny text, icons, and fine-grained UI elements.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341B31-7418-8352-11BF-6EFB87DA722D}"/>
              </a:ext>
            </a:extLst>
          </p:cNvPr>
          <p:cNvSpPr txBox="1"/>
          <p:nvPr/>
        </p:nvSpPr>
        <p:spPr>
          <a:xfrm>
            <a:off x="887506" y="4870499"/>
            <a:ext cx="6113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Key idea: preserve both page structure and local details for GUI understanding and navigation.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20029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399C34-3FD7-5D94-0211-9C96EB44D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17D3C3-6D76-4973-8CDF-85C5E9B22322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VQA numbers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32993D-94FA-D379-0DF3-04DF52966DAA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Table 3,4 (reformatted for readability).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FBFD61-B32D-661D-AA44-55B9D5F52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48" y="3003066"/>
            <a:ext cx="5010151" cy="27373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B9A04EA-B331-84EA-0005-E6BACC76D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850" y="1173647"/>
            <a:ext cx="5213349" cy="173968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4958957-57DF-657A-7E5A-7D88B19E6775}"/>
              </a:ext>
            </a:extLst>
          </p:cNvPr>
          <p:cNvSpPr/>
          <p:nvPr/>
        </p:nvSpPr>
        <p:spPr bwMode="auto">
          <a:xfrm>
            <a:off x="11267017" y="2615299"/>
            <a:ext cx="620182" cy="22103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E2EF74-081F-5880-0CFD-53895C757672}"/>
              </a:ext>
            </a:extLst>
          </p:cNvPr>
          <p:cNvSpPr/>
          <p:nvPr/>
        </p:nvSpPr>
        <p:spPr bwMode="auto">
          <a:xfrm>
            <a:off x="11150600" y="5401283"/>
            <a:ext cx="620182" cy="22103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677484-9B44-139F-19F6-5D45EA099BAF}"/>
              </a:ext>
            </a:extLst>
          </p:cNvPr>
          <p:cNvSpPr txBox="1"/>
          <p:nvPr/>
        </p:nvSpPr>
        <p:spPr>
          <a:xfrm>
            <a:off x="557678" y="1195027"/>
            <a:ext cx="6046321" cy="1456703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is evaluated on two benchmarks, 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Mind2Web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focuses on 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PC/web GUI 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navigation and measures step-level decision making. 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AITW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focuses on 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Android GUI 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interaction and evaluates action prediction and control.</a:t>
            </a:r>
            <a:endParaRPr lang="zh-CN" altLang="en-US" sz="19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49F957-5829-A9EE-FD07-EB52F7AAC898}"/>
              </a:ext>
            </a:extLst>
          </p:cNvPr>
          <p:cNvSpPr txBox="1"/>
          <p:nvPr/>
        </p:nvSpPr>
        <p:spPr>
          <a:xfrm>
            <a:off x="627527" y="2725816"/>
            <a:ext cx="6046321" cy="1766343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The results show that </a:t>
            </a:r>
            <a:r>
              <a:rPr lang="en-US" altLang="zh-CN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outperforms HTML-based LLM baselines using screenshots alone.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It also achieves state-of-the-art results on mobile GUI navigation</a:t>
            </a:r>
            <a:r>
              <a:rPr lang="en-US" altLang="zh-CN" sz="19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, showing that the architecture generalizes beyond web pages to real app interaction.</a:t>
            </a:r>
            <a:endParaRPr lang="zh-CN" altLang="en-US" sz="19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0F6E5-AB3D-6313-E394-0E814116E2EF}"/>
              </a:ext>
            </a:extLst>
          </p:cNvPr>
          <p:cNvSpPr txBox="1"/>
          <p:nvPr/>
        </p:nvSpPr>
        <p:spPr>
          <a:xfrm>
            <a:off x="974661" y="4666346"/>
            <a:ext cx="5976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OSWorld</a:t>
            </a:r>
            <a:r>
              <a:rPr lang="en-US" altLang="zh-CN" b="1" dirty="0"/>
              <a:t> includes </a:t>
            </a:r>
            <a:r>
              <a:rPr lang="en-US" altLang="zh-CN" b="1" dirty="0" err="1"/>
              <a:t>CogAgent</a:t>
            </a:r>
            <a:r>
              <a:rPr lang="en-US" altLang="zh-CN" b="1" dirty="0"/>
              <a:t> as a representative VLM agent baseline for computer-use evaluation.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63879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BE08C2-2079-5BB5-EECF-E202EFC5F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B8B22D-0117-06CE-F449-0035DC23843B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Why high-res matters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C1CADC-6A87-FE50-A662-C580450CD0AC}"/>
              </a:ext>
            </a:extLst>
          </p:cNvPr>
          <p:cNvSpPr txBox="1"/>
          <p:nvPr/>
        </p:nvSpPr>
        <p:spPr>
          <a:xfrm>
            <a:off x="330201" y="1257935"/>
            <a:ext cx="5266266" cy="3809999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/>
              <a:t>Why high-res matters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GUIs are text-rich and detail-heavy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1120 × 1120 helps read tiny text and ground small targets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Naive high-res scaling is </a:t>
            </a:r>
            <a:r>
              <a:rPr lang="en-US" altLang="zh-CN" sz="2000" b="1" dirty="0"/>
              <a:t>computationally expensive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 err="1"/>
              <a:t>CogAgent</a:t>
            </a:r>
            <a:r>
              <a:rPr lang="en-US" altLang="zh-CN" sz="2000" dirty="0"/>
              <a:t> uses a lightweight high-res cross-module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Result: better GUI grounding </a:t>
            </a:r>
            <a:r>
              <a:rPr lang="en-US" altLang="zh-CN" sz="2000" b="1" dirty="0"/>
              <a:t>at manageable cost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72C45B7-3845-5F38-39EE-1BBE84F5B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627" y="1450815"/>
            <a:ext cx="6185881" cy="37428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8D32120-FC0F-219B-C778-AD232D601AD1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fr-FR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CogAgent FLOPs comparison figure.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2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4FD0A-A661-927D-99A6-BD6AF6296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C35183-5BF3-C878-6084-802F78E58884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Ablation evidence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6A43EC-CA24-92CA-B8ED-CD5FD6B33A05}"/>
              </a:ext>
            </a:extLst>
          </p:cNvPr>
          <p:cNvSpPr txBox="1"/>
          <p:nvPr/>
        </p:nvSpPr>
        <p:spPr>
          <a:xfrm>
            <a:off x="428581" y="1301776"/>
            <a:ext cx="4198257" cy="2836334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Ablation study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Cap: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image captioning only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Cap+OCR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Add OCR data based on caption data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All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:  Add GUI and grounding data, teaching the model to understand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screens and match user intent to the right on-screen element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.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F490D36-17FC-A7FA-08F9-4A5BBD0E3390}"/>
              </a:ext>
            </a:extLst>
          </p:cNvPr>
          <p:cNvSpPr/>
          <p:nvPr/>
        </p:nvSpPr>
        <p:spPr bwMode="auto">
          <a:xfrm>
            <a:off x="5774150" y="3791681"/>
            <a:ext cx="1905000" cy="12954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8D2EF2-EFC4-50A8-39CC-58349AA9A766}"/>
              </a:ext>
            </a:extLst>
          </p:cNvPr>
          <p:cNvSpPr txBox="1"/>
          <p:nvPr/>
        </p:nvSpPr>
        <p:spPr>
          <a:xfrm>
            <a:off x="5977350" y="3918681"/>
            <a:ext cx="14986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6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Mind2Web lift</a:t>
            </a:r>
            <a:endParaRPr lang="zh-CN" altLang="en-US" sz="1600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E66D3E-3573-FCFC-6270-AB319EA916F4}"/>
              </a:ext>
            </a:extLst>
          </p:cNvPr>
          <p:cNvSpPr txBox="1"/>
          <p:nvPr/>
        </p:nvSpPr>
        <p:spPr>
          <a:xfrm>
            <a:off x="5977350" y="4261581"/>
            <a:ext cx="14986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+12.8</a:t>
            </a:r>
            <a:endParaRPr lang="zh-CN" altLang="en-US" sz="21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26F708-7BE3-05D8-0A0F-178F945AB7AB}"/>
              </a:ext>
            </a:extLst>
          </p:cNvPr>
          <p:cNvSpPr txBox="1"/>
          <p:nvPr/>
        </p:nvSpPr>
        <p:spPr>
          <a:xfrm>
            <a:off x="5977350" y="4680681"/>
            <a:ext cx="14986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41.4 → 54.2</a:t>
            </a:r>
            <a:endParaRPr lang="zh-CN" altLang="en-US" sz="16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1776BEE-7E7B-D9A8-153A-38F58878BE36}"/>
              </a:ext>
            </a:extLst>
          </p:cNvPr>
          <p:cNvSpPr/>
          <p:nvPr/>
        </p:nvSpPr>
        <p:spPr bwMode="auto">
          <a:xfrm>
            <a:off x="7983950" y="3791681"/>
            <a:ext cx="2692400" cy="1295400"/>
          </a:xfrm>
          <a:prstGeom prst="roundRect">
            <a:avLst/>
          </a:prstGeom>
          <a:solidFill>
            <a:srgbClr val="FCF3C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5CF616-A274-5F90-7183-D7ED534EDCE7}"/>
              </a:ext>
            </a:extLst>
          </p:cNvPr>
          <p:cNvSpPr/>
          <p:nvPr/>
        </p:nvSpPr>
        <p:spPr bwMode="auto">
          <a:xfrm>
            <a:off x="8136350" y="3944081"/>
            <a:ext cx="76200" cy="990600"/>
          </a:xfrm>
          <a:prstGeom prst="rect">
            <a:avLst/>
          </a:prstGeom>
          <a:solidFill>
            <a:srgbClr val="B4841F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6DB765-2314-B243-B6EB-3EA596A1768A}"/>
              </a:ext>
            </a:extLst>
          </p:cNvPr>
          <p:cNvSpPr txBox="1"/>
          <p:nvPr/>
        </p:nvSpPr>
        <p:spPr>
          <a:xfrm>
            <a:off x="8339550" y="3944081"/>
            <a:ext cx="2184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b="1" dirty="0">
                <a:solidFill>
                  <a:srgbClr val="B4841F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Takeaway</a:t>
            </a:r>
            <a:endParaRPr lang="zh-CN" altLang="en-US" b="1" dirty="0">
              <a:solidFill>
                <a:srgbClr val="B4841F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24F110-5B13-69C8-D6EC-F16CB0112E58}"/>
              </a:ext>
            </a:extLst>
          </p:cNvPr>
          <p:cNvSpPr txBox="1"/>
          <p:nvPr/>
        </p:nvSpPr>
        <p:spPr>
          <a:xfrm>
            <a:off x="8339550" y="4198081"/>
            <a:ext cx="2184400" cy="762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Adding GUI / grounding data matters, not only architecture.</a:t>
            </a:r>
            <a:endParaRPr lang="zh-CN" altLang="en-US" sz="14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B24CA9-B915-0CC2-BD14-F72BA47A29F8}"/>
              </a:ext>
            </a:extLst>
          </p:cNvPr>
          <p:cNvSpPr txBox="1"/>
          <p:nvPr/>
        </p:nvSpPr>
        <p:spPr>
          <a:xfrm>
            <a:off x="2776950" y="5716153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</a:t>
            </a:r>
            <a:r>
              <a:rPr lang="en-US" altLang="zh-CN" sz="2000" i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CogAgent</a:t>
            </a:r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Table 6 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938427-738D-2D11-5A82-0A6A41CA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638" y="1661005"/>
            <a:ext cx="6552381" cy="18285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66DEA38-2373-ABA8-6702-C9DE0C7F1D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5" t="17492" r="1962" b="22226"/>
          <a:stretch>
            <a:fillRect/>
          </a:stretch>
        </p:blipFill>
        <p:spPr>
          <a:xfrm>
            <a:off x="282973" y="4101854"/>
            <a:ext cx="5237177" cy="184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21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305BBD-F9D0-FCFB-0AF0-C64331B45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DC9C82-8C31-2B90-78EE-AA41EAA0D5B4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Limits of perception-only agents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88456F4-DCA6-CE7F-F00E-64F90F95D5EC}"/>
              </a:ext>
            </a:extLst>
          </p:cNvPr>
          <p:cNvSpPr/>
          <p:nvPr/>
        </p:nvSpPr>
        <p:spPr bwMode="auto">
          <a:xfrm>
            <a:off x="1168400" y="1600200"/>
            <a:ext cx="2946400" cy="2209800"/>
          </a:xfrm>
          <a:prstGeom prst="roundRect">
            <a:avLst/>
          </a:prstGeom>
          <a:solidFill>
            <a:srgbClr val="FCE4D6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4DF085-EB32-BD39-B270-BACA70A75BED}"/>
              </a:ext>
            </a:extLst>
          </p:cNvPr>
          <p:cNvSpPr/>
          <p:nvPr/>
        </p:nvSpPr>
        <p:spPr bwMode="auto">
          <a:xfrm>
            <a:off x="1320800" y="1752600"/>
            <a:ext cx="76200" cy="1905000"/>
          </a:xfrm>
          <a:prstGeom prst="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304375-596C-DF3B-F000-A605AA264561}"/>
              </a:ext>
            </a:extLst>
          </p:cNvPr>
          <p:cNvSpPr txBox="1"/>
          <p:nvPr/>
        </p:nvSpPr>
        <p:spPr>
          <a:xfrm>
            <a:off x="1523999" y="1752600"/>
            <a:ext cx="2438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What still breaks</a:t>
            </a:r>
            <a:endParaRPr lang="zh-CN" altLang="en-US" sz="2000" b="1" dirty="0">
              <a:solidFill>
                <a:srgbClr val="C0000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74D854-F0AD-5833-22F6-F927BBD76119}"/>
              </a:ext>
            </a:extLst>
          </p:cNvPr>
          <p:cNvSpPr txBox="1"/>
          <p:nvPr/>
        </p:nvSpPr>
        <p:spPr>
          <a:xfrm>
            <a:off x="1524000" y="2006600"/>
            <a:ext cx="2438400" cy="1676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Even with good UI understanding: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execution can drift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• errors happen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DF89737-3172-9E71-23B8-5AB9E14D2749}"/>
              </a:ext>
            </a:extLst>
          </p:cNvPr>
          <p:cNvSpPr/>
          <p:nvPr/>
        </p:nvSpPr>
        <p:spPr bwMode="auto">
          <a:xfrm>
            <a:off x="4622799" y="1600200"/>
            <a:ext cx="3746499" cy="22098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5533BF-4326-32B5-D1A1-A0E652F19F77}"/>
              </a:ext>
            </a:extLst>
          </p:cNvPr>
          <p:cNvSpPr/>
          <p:nvPr/>
        </p:nvSpPr>
        <p:spPr bwMode="auto">
          <a:xfrm>
            <a:off x="4775200" y="1752600"/>
            <a:ext cx="76200" cy="19050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F4E00E-90CF-0030-68D5-0F7BF8DBFBE0}"/>
              </a:ext>
            </a:extLst>
          </p:cNvPr>
          <p:cNvSpPr txBox="1"/>
          <p:nvPr/>
        </p:nvSpPr>
        <p:spPr>
          <a:xfrm>
            <a:off x="4813300" y="1790700"/>
            <a:ext cx="3517900" cy="152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Why perception is not enough</a:t>
            </a:r>
            <a:endParaRPr lang="zh-CN" altLang="en-US" sz="20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0F6C25-71BC-0ED0-3117-DD56A3FF5A8E}"/>
              </a:ext>
            </a:extLst>
          </p:cNvPr>
          <p:cNvSpPr txBox="1"/>
          <p:nvPr/>
        </p:nvSpPr>
        <p:spPr>
          <a:xfrm>
            <a:off x="5003800" y="1981200"/>
            <a:ext cx="3098800" cy="1676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Perception helps choose targets, but robust automation still needs recovery logic.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CA8CFBB-5550-ACCE-8BAB-FB691983FB11}"/>
              </a:ext>
            </a:extLst>
          </p:cNvPr>
          <p:cNvSpPr/>
          <p:nvPr/>
        </p:nvSpPr>
        <p:spPr bwMode="auto">
          <a:xfrm>
            <a:off x="8928100" y="1600200"/>
            <a:ext cx="2387600" cy="22098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C2D60E-E1FF-7E38-5EAC-7BD7FD17D3BB}"/>
              </a:ext>
            </a:extLst>
          </p:cNvPr>
          <p:cNvSpPr/>
          <p:nvPr/>
        </p:nvSpPr>
        <p:spPr bwMode="auto">
          <a:xfrm>
            <a:off x="9080500" y="1752600"/>
            <a:ext cx="76200" cy="1905000"/>
          </a:xfrm>
          <a:prstGeom prst="rect">
            <a:avLst/>
          </a:prstGeom>
          <a:solidFill>
            <a:srgbClr val="76923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7DA52E-4D4E-BBBC-0BD9-432563C634BD}"/>
              </a:ext>
            </a:extLst>
          </p:cNvPr>
          <p:cNvSpPr txBox="1"/>
          <p:nvPr/>
        </p:nvSpPr>
        <p:spPr>
          <a:xfrm>
            <a:off x="9283700" y="1752600"/>
            <a:ext cx="18796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Next move</a:t>
            </a:r>
            <a:endParaRPr lang="zh-CN" altLang="en-US" sz="20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D371B3-1962-2D4D-2441-DC562F97A7C8}"/>
              </a:ext>
            </a:extLst>
          </p:cNvPr>
          <p:cNvSpPr txBox="1"/>
          <p:nvPr/>
        </p:nvSpPr>
        <p:spPr>
          <a:xfrm>
            <a:off x="9283700" y="2006600"/>
            <a:ext cx="1879600" cy="1676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Need closed-loop operating system control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A18A3E9-78BF-513E-90B8-480FFFBBBCB9}"/>
              </a:ext>
            </a:extLst>
          </p:cNvPr>
          <p:cNvCxnSpPr/>
          <p:nvPr/>
        </p:nvCxnSpPr>
        <p:spPr bwMode="auto">
          <a:xfrm>
            <a:off x="4114800" y="2692400"/>
            <a:ext cx="508000" cy="0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FDED289-8CE7-35C5-F6B7-26E744DBC944}"/>
              </a:ext>
            </a:extLst>
          </p:cNvPr>
          <p:cNvCxnSpPr/>
          <p:nvPr/>
        </p:nvCxnSpPr>
        <p:spPr bwMode="auto">
          <a:xfrm>
            <a:off x="8369298" y="2692400"/>
            <a:ext cx="508000" cy="0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04E1C6E-AF91-EF5F-7AE9-AABD8EF37CFD}"/>
              </a:ext>
            </a:extLst>
          </p:cNvPr>
          <p:cNvSpPr txBox="1"/>
          <p:nvPr/>
        </p:nvSpPr>
        <p:spPr>
          <a:xfrm>
            <a:off x="2057400" y="4495800"/>
            <a:ext cx="7569200" cy="482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600" b="1" dirty="0">
                <a:solidFill>
                  <a:srgbClr val="1F4E79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Seeing the UI is necessary.  Closing the loop is what makes agents reliable.</a:t>
            </a:r>
            <a:endParaRPr lang="zh-CN" altLang="en-US" sz="2600" b="1" dirty="0">
              <a:solidFill>
                <a:srgbClr val="1F4E79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086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E656E6-92DD-37E3-EF31-8E97D69EB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2CEF78-B58D-A1E9-5031-A30E823ECFFE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Step 3: State-aware control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622BD4B-61AC-8189-BBE8-7FE807E6659D}"/>
              </a:ext>
            </a:extLst>
          </p:cNvPr>
          <p:cNvSpPr/>
          <p:nvPr/>
        </p:nvSpPr>
        <p:spPr bwMode="auto">
          <a:xfrm>
            <a:off x="1015999" y="1117600"/>
            <a:ext cx="2015299" cy="886564"/>
          </a:xfrm>
          <a:prstGeom prst="round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新細明體" pitchFamily="18" charset="-120"/>
              </a:rPr>
              <a:t>STEP 3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57AD94-E370-0E9B-D57E-B84F0FCEDEFE}"/>
              </a:ext>
            </a:extLst>
          </p:cNvPr>
          <p:cNvSpPr txBox="1"/>
          <p:nvPr/>
        </p:nvSpPr>
        <p:spPr>
          <a:xfrm>
            <a:off x="492690" y="2004164"/>
            <a:ext cx="4189969" cy="2667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 control as a closed loop:</a:t>
            </a:r>
          </a:p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Observe → Plan → Execute → Verify → Re-plan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FA37B76-23D7-C930-A3F8-26ED7E322FBD}"/>
              </a:ext>
            </a:extLst>
          </p:cNvPr>
          <p:cNvSpPr/>
          <p:nvPr/>
        </p:nvSpPr>
        <p:spPr bwMode="auto">
          <a:xfrm>
            <a:off x="4927600" y="1193800"/>
            <a:ext cx="6771710" cy="4392808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4050F69-5E60-6CC3-BDC5-02B684A4F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71" y="1448953"/>
            <a:ext cx="6096336" cy="396009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0261501-7027-7CFD-6C97-744209276BF8}"/>
              </a:ext>
            </a:extLst>
          </p:cNvPr>
          <p:cNvSpPr txBox="1"/>
          <p:nvPr/>
        </p:nvSpPr>
        <p:spPr>
          <a:xfrm>
            <a:off x="736599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OSCAR Fig. 2 (state machine).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53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EF872F-14CC-6B6B-7357-4AE934C60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8C2E1C-DDAB-41C9-053E-39E7509900A8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 in one slide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A65C9E-5C8D-FD6A-7381-9FA472C2CE6C}"/>
              </a:ext>
            </a:extLst>
          </p:cNvPr>
          <p:cNvSpPr/>
          <p:nvPr/>
        </p:nvSpPr>
        <p:spPr bwMode="auto">
          <a:xfrm>
            <a:off x="965200" y="1242164"/>
            <a:ext cx="3200400" cy="10922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F70136-D6F7-ED42-86C4-D229E0512DB1}"/>
              </a:ext>
            </a:extLst>
          </p:cNvPr>
          <p:cNvSpPr/>
          <p:nvPr/>
        </p:nvSpPr>
        <p:spPr bwMode="auto">
          <a:xfrm>
            <a:off x="1117600" y="1394564"/>
            <a:ext cx="76200" cy="7874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66E410-774A-E270-0ADC-AF9556A6927D}"/>
              </a:ext>
            </a:extLst>
          </p:cNvPr>
          <p:cNvSpPr txBox="1"/>
          <p:nvPr/>
        </p:nvSpPr>
        <p:spPr>
          <a:xfrm>
            <a:off x="1320799" y="1329498"/>
            <a:ext cx="2692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Point 1</a:t>
            </a:r>
            <a:endParaRPr lang="zh-CN" altLang="en-US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BCF7A7-DFDE-C459-A83E-2C1526608EC6}"/>
              </a:ext>
            </a:extLst>
          </p:cNvPr>
          <p:cNvSpPr txBox="1"/>
          <p:nvPr/>
        </p:nvSpPr>
        <p:spPr>
          <a:xfrm>
            <a:off x="1320799" y="1538787"/>
            <a:ext cx="2692400" cy="558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 (agent system)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4751C1-01F0-F452-D3A8-73A4B152D772}"/>
              </a:ext>
            </a:extLst>
          </p:cNvPr>
          <p:cNvSpPr/>
          <p:nvPr/>
        </p:nvSpPr>
        <p:spPr bwMode="auto">
          <a:xfrm>
            <a:off x="4368800" y="1242164"/>
            <a:ext cx="3200400" cy="10922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86C526-86FF-8F72-7548-0C05A820431C}"/>
              </a:ext>
            </a:extLst>
          </p:cNvPr>
          <p:cNvSpPr/>
          <p:nvPr/>
        </p:nvSpPr>
        <p:spPr bwMode="auto">
          <a:xfrm>
            <a:off x="4521200" y="1394564"/>
            <a:ext cx="76200" cy="787400"/>
          </a:xfrm>
          <a:prstGeom prst="rect">
            <a:avLst/>
          </a:prstGeom>
          <a:solidFill>
            <a:srgbClr val="76923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8881DA-8388-EE54-35F6-4066C888A72B}"/>
              </a:ext>
            </a:extLst>
          </p:cNvPr>
          <p:cNvSpPr txBox="1"/>
          <p:nvPr/>
        </p:nvSpPr>
        <p:spPr>
          <a:xfrm>
            <a:off x="4724398" y="1362031"/>
            <a:ext cx="2692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Point 2</a:t>
            </a:r>
            <a:endParaRPr lang="zh-CN" altLang="en-US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9F38A8-1DB2-EECE-B26D-86AB950D915F}"/>
              </a:ext>
            </a:extLst>
          </p:cNvPr>
          <p:cNvSpPr txBox="1"/>
          <p:nvPr/>
        </p:nvSpPr>
        <p:spPr>
          <a:xfrm>
            <a:off x="4667249" y="1616205"/>
            <a:ext cx="2730501" cy="558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State machine + error handling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53AF849-9260-10F9-4281-763EAE0C800A}"/>
              </a:ext>
            </a:extLst>
          </p:cNvPr>
          <p:cNvSpPr/>
          <p:nvPr/>
        </p:nvSpPr>
        <p:spPr bwMode="auto">
          <a:xfrm>
            <a:off x="7772400" y="1242164"/>
            <a:ext cx="3454400" cy="10922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018363-6052-065A-9CA9-6A19D49DE61C}"/>
              </a:ext>
            </a:extLst>
          </p:cNvPr>
          <p:cNvSpPr/>
          <p:nvPr/>
        </p:nvSpPr>
        <p:spPr bwMode="auto">
          <a:xfrm>
            <a:off x="7924799" y="1429184"/>
            <a:ext cx="76200" cy="7874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E8B23E-29D6-FBA6-4270-7F3B9BB84046}"/>
              </a:ext>
            </a:extLst>
          </p:cNvPr>
          <p:cNvSpPr txBox="1"/>
          <p:nvPr/>
        </p:nvSpPr>
        <p:spPr>
          <a:xfrm>
            <a:off x="8026400" y="1310187"/>
            <a:ext cx="29464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Point 3</a:t>
            </a:r>
            <a:endParaRPr lang="zh-CN" altLang="en-US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F5307C-FB56-C617-ED08-99502771D276}"/>
              </a:ext>
            </a:extLst>
          </p:cNvPr>
          <p:cNvSpPr txBox="1"/>
          <p:nvPr/>
        </p:nvSpPr>
        <p:spPr>
          <a:xfrm>
            <a:off x="8128000" y="1590631"/>
            <a:ext cx="3098800" cy="558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Instruction → executable Python control code &amp; Dynamic replanning from real-time feedback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D198111-93B4-B772-C52A-85B516734452}"/>
              </a:ext>
            </a:extLst>
          </p:cNvPr>
          <p:cNvSpPr/>
          <p:nvPr/>
        </p:nvSpPr>
        <p:spPr bwMode="auto">
          <a:xfrm>
            <a:off x="990600" y="2574446"/>
            <a:ext cx="9906000" cy="3098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97A4626-9BF4-E754-F7BF-213ED01981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180" y="2753290"/>
            <a:ext cx="6480838" cy="274111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51D06DC1-FF5D-4996-6326-B60DB214930A}"/>
              </a:ext>
            </a:extLst>
          </p:cNvPr>
          <p:cNvSpPr txBox="1"/>
          <p:nvPr/>
        </p:nvSpPr>
        <p:spPr>
          <a:xfrm>
            <a:off x="736599" y="58166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OSCAR task-driven re-planning figure.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735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455298-5E50-7178-EC5C-82D36A22C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30EC25-BAD1-E7C3-2FB2-FD1BC48A3814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OSCAR: Headline results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389386B-6887-1FD0-91EC-34351A52A9B0}"/>
              </a:ext>
            </a:extLst>
          </p:cNvPr>
          <p:cNvSpPr/>
          <p:nvPr/>
        </p:nvSpPr>
        <p:spPr bwMode="auto">
          <a:xfrm>
            <a:off x="5156200" y="1676400"/>
            <a:ext cx="1752600" cy="13716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A412BF-0540-61AF-DB72-48388191D39E}"/>
              </a:ext>
            </a:extLst>
          </p:cNvPr>
          <p:cNvSpPr txBox="1"/>
          <p:nvPr/>
        </p:nvSpPr>
        <p:spPr>
          <a:xfrm>
            <a:off x="5359400" y="1803400"/>
            <a:ext cx="13462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GAIA avg</a:t>
            </a:r>
            <a:endParaRPr lang="zh-CN" altLang="en-US" sz="1400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0E58AB-6177-EE99-6A33-739F3E3BBE65}"/>
              </a:ext>
            </a:extLst>
          </p:cNvPr>
          <p:cNvSpPr txBox="1"/>
          <p:nvPr/>
        </p:nvSpPr>
        <p:spPr>
          <a:xfrm>
            <a:off x="5359399" y="2108200"/>
            <a:ext cx="13462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28.7%</a:t>
            </a:r>
            <a:endParaRPr lang="zh-CN" altLang="en-US" sz="21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785399-DE6E-3B5D-DE53-FCC5E2893B10}"/>
              </a:ext>
            </a:extLst>
          </p:cNvPr>
          <p:cNvSpPr txBox="1"/>
          <p:nvPr/>
        </p:nvSpPr>
        <p:spPr>
          <a:xfrm>
            <a:off x="5422900" y="2580884"/>
            <a:ext cx="13462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Workflow QA</a:t>
            </a:r>
            <a:endParaRPr lang="zh-CN" altLang="en-US" sz="16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2C0840-363F-1353-779F-36C6182CADEB}"/>
              </a:ext>
            </a:extLst>
          </p:cNvPr>
          <p:cNvSpPr/>
          <p:nvPr/>
        </p:nvSpPr>
        <p:spPr bwMode="auto">
          <a:xfrm>
            <a:off x="7162800" y="1676400"/>
            <a:ext cx="1752600" cy="1371600"/>
          </a:xfrm>
          <a:prstGeom prst="roundRect">
            <a:avLst/>
          </a:prstGeom>
          <a:solidFill>
            <a:srgbClr val="FCF3C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D4A78A-2BD3-971B-E931-FA632329ACC9}"/>
              </a:ext>
            </a:extLst>
          </p:cNvPr>
          <p:cNvSpPr txBox="1"/>
          <p:nvPr/>
        </p:nvSpPr>
        <p:spPr>
          <a:xfrm>
            <a:off x="7341430" y="1803400"/>
            <a:ext cx="1446970" cy="304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avg</a:t>
            </a:r>
            <a:endParaRPr lang="zh-CN" altLang="en-US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8F4ACD-BEBD-D810-28F8-E7804E055BAE}"/>
              </a:ext>
            </a:extLst>
          </p:cNvPr>
          <p:cNvSpPr txBox="1"/>
          <p:nvPr/>
        </p:nvSpPr>
        <p:spPr>
          <a:xfrm>
            <a:off x="7365999" y="2108200"/>
            <a:ext cx="13462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>
                <a:solidFill>
                  <a:srgbClr val="B4841F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24.5%</a:t>
            </a:r>
            <a:endParaRPr lang="zh-CN" altLang="en-US" sz="2100" b="1" dirty="0">
              <a:solidFill>
                <a:srgbClr val="B4841F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ADBF87-95B3-ECAF-C4CE-12BCD0FF9C31}"/>
              </a:ext>
            </a:extLst>
          </p:cNvPr>
          <p:cNvSpPr txBox="1"/>
          <p:nvPr/>
        </p:nvSpPr>
        <p:spPr>
          <a:xfrm>
            <a:off x="7365999" y="2578100"/>
            <a:ext cx="13462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Desktop OS</a:t>
            </a:r>
            <a:endParaRPr lang="zh-CN" altLang="en-US" sz="16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CCCB04-AC6D-24B6-7D26-AD6AEE17423A}"/>
              </a:ext>
            </a:extLst>
          </p:cNvPr>
          <p:cNvSpPr/>
          <p:nvPr/>
        </p:nvSpPr>
        <p:spPr bwMode="auto">
          <a:xfrm>
            <a:off x="9169400" y="1676400"/>
            <a:ext cx="1752600" cy="13716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69426F-A47B-C65E-802F-FB8D27F23A59}"/>
              </a:ext>
            </a:extLst>
          </p:cNvPr>
          <p:cNvSpPr txBox="1"/>
          <p:nvPr/>
        </p:nvSpPr>
        <p:spPr>
          <a:xfrm>
            <a:off x="9270999" y="1803400"/>
            <a:ext cx="15494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400" b="1" dirty="0" err="1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AndroidWorld</a:t>
            </a:r>
            <a:r>
              <a:rPr lang="en-US" altLang="zh-CN" sz="1400" b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 avg</a:t>
            </a:r>
            <a:endParaRPr lang="zh-CN" altLang="en-US" sz="1400" b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5D8A3F-D206-D2E4-CF48-6D51B2833C2F}"/>
              </a:ext>
            </a:extLst>
          </p:cNvPr>
          <p:cNvSpPr txBox="1"/>
          <p:nvPr/>
        </p:nvSpPr>
        <p:spPr>
          <a:xfrm>
            <a:off x="9372599" y="2108200"/>
            <a:ext cx="1346200" cy="355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100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61.6%</a:t>
            </a:r>
            <a:endParaRPr lang="zh-CN" altLang="en-US" sz="2100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E6E65C-45AF-676E-D9F3-2EE494126B83}"/>
              </a:ext>
            </a:extLst>
          </p:cNvPr>
          <p:cNvSpPr txBox="1"/>
          <p:nvPr/>
        </p:nvSpPr>
        <p:spPr>
          <a:xfrm>
            <a:off x="9372599" y="2578100"/>
            <a:ext cx="1346200" cy="381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Mobile OS</a:t>
            </a:r>
            <a:endParaRPr lang="zh-CN" altLang="en-US" sz="1600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F649041-3C6A-8B42-6435-6A48DBD0816F}"/>
              </a:ext>
            </a:extLst>
          </p:cNvPr>
          <p:cNvSpPr/>
          <p:nvPr/>
        </p:nvSpPr>
        <p:spPr bwMode="auto">
          <a:xfrm>
            <a:off x="5359400" y="3657600"/>
            <a:ext cx="5334000" cy="14224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E7880-9ACE-D67D-0B64-3BD839BA2683}"/>
              </a:ext>
            </a:extLst>
          </p:cNvPr>
          <p:cNvSpPr/>
          <p:nvPr/>
        </p:nvSpPr>
        <p:spPr bwMode="auto">
          <a:xfrm>
            <a:off x="5511800" y="3810000"/>
            <a:ext cx="76200" cy="11176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E5AE4F-513A-C1BB-FCCE-23FFDE59F77F}"/>
              </a:ext>
            </a:extLst>
          </p:cNvPr>
          <p:cNvSpPr txBox="1"/>
          <p:nvPr/>
        </p:nvSpPr>
        <p:spPr>
          <a:xfrm>
            <a:off x="5715000" y="3810000"/>
            <a:ext cx="4826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Observation</a:t>
            </a:r>
            <a:endParaRPr lang="zh-CN" altLang="en-US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C67DD8-A13A-27F0-239A-E6B3680E003D}"/>
              </a:ext>
            </a:extLst>
          </p:cNvPr>
          <p:cNvSpPr txBox="1"/>
          <p:nvPr/>
        </p:nvSpPr>
        <p:spPr>
          <a:xfrm>
            <a:off x="5704417" y="4089620"/>
            <a:ext cx="4826000" cy="889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One system improves across desktop, mobile, and workflow benchmarks. The real bottleneck now is reliability under dynamic execution.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9B8152-D34E-078B-BD3E-6538AAFFDA26}"/>
              </a:ext>
            </a:extLst>
          </p:cNvPr>
          <p:cNvSpPr txBox="1"/>
          <p:nvPr/>
        </p:nvSpPr>
        <p:spPr>
          <a:xfrm>
            <a:off x="889000" y="5817235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OSCAR Tables 1–3 (headline averages, reformatted).</a:t>
            </a:r>
            <a:endParaRPr lang="zh-CN" altLang="en-US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C58E85-B053-0C19-D035-F47B19D3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53" y="1203121"/>
            <a:ext cx="4264332" cy="170855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FE04628-1F5D-3ECA-2D6E-F61AC7DDF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60" y="2961715"/>
            <a:ext cx="4395310" cy="135014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A345B9B-78E2-D7D6-631C-114912EA5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01" y="4368799"/>
            <a:ext cx="4395310" cy="1436235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C05B4A1-2C9C-AE65-3DA0-1B7A12EE1011}"/>
              </a:ext>
            </a:extLst>
          </p:cNvPr>
          <p:cNvSpPr/>
          <p:nvPr/>
        </p:nvSpPr>
        <p:spPr bwMode="auto">
          <a:xfrm>
            <a:off x="3922212" y="2578100"/>
            <a:ext cx="620182" cy="22103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0A9666-9E75-6A98-8926-CB7C58659147}"/>
              </a:ext>
            </a:extLst>
          </p:cNvPr>
          <p:cNvSpPr/>
          <p:nvPr/>
        </p:nvSpPr>
        <p:spPr bwMode="auto">
          <a:xfrm>
            <a:off x="4232303" y="3986410"/>
            <a:ext cx="620182" cy="22103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E9B65D-BBFC-E949-FB4E-03C9336ED085}"/>
              </a:ext>
            </a:extLst>
          </p:cNvPr>
          <p:cNvSpPr/>
          <p:nvPr/>
        </p:nvSpPr>
        <p:spPr bwMode="auto">
          <a:xfrm>
            <a:off x="4014447" y="5433845"/>
            <a:ext cx="620182" cy="22103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074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70F5A7-59BA-BE0E-0CA0-1E42699A1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1AAC5F-E45E-BF66-54DD-565843C2BDBB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OSCAR: Decomposed performance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FD6AA15-3701-8F6C-9EB2-5BBC2ADCC96C}"/>
              </a:ext>
            </a:extLst>
          </p:cNvPr>
          <p:cNvSpPr/>
          <p:nvPr/>
        </p:nvSpPr>
        <p:spPr bwMode="auto">
          <a:xfrm>
            <a:off x="1092198" y="1350605"/>
            <a:ext cx="3291911" cy="4025265"/>
          </a:xfrm>
          <a:prstGeom prst="roundRect">
            <a:avLst/>
          </a:prstGeom>
          <a:solidFill>
            <a:srgbClr val="FCE4D6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A6A889-0A2B-20B4-51E3-7775C995830F}"/>
              </a:ext>
            </a:extLst>
          </p:cNvPr>
          <p:cNvSpPr/>
          <p:nvPr/>
        </p:nvSpPr>
        <p:spPr bwMode="auto">
          <a:xfrm>
            <a:off x="1280090" y="1603213"/>
            <a:ext cx="144745" cy="3551825"/>
          </a:xfrm>
          <a:prstGeom prst="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A7E2D8-3490-D6E6-D322-FFA5D61CB295}"/>
              </a:ext>
            </a:extLst>
          </p:cNvPr>
          <p:cNvSpPr txBox="1"/>
          <p:nvPr/>
        </p:nvSpPr>
        <p:spPr>
          <a:xfrm>
            <a:off x="1823752" y="1518853"/>
            <a:ext cx="2138647" cy="318242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Interpretation</a:t>
            </a:r>
            <a:endParaRPr lang="zh-CN" altLang="en-US" sz="2400" b="1" dirty="0">
              <a:solidFill>
                <a:srgbClr val="C0000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56D833-B87C-5AF6-7107-44EDB6DDFF52}"/>
              </a:ext>
            </a:extLst>
          </p:cNvPr>
          <p:cNvSpPr txBox="1"/>
          <p:nvPr/>
        </p:nvSpPr>
        <p:spPr>
          <a:xfrm>
            <a:off x="1550965" y="2065588"/>
            <a:ext cx="2707014" cy="2583832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Simpler baselines can work on shorter daily or office tasks, but they become less reliable in professional and especially multi-app scenarios,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where trajectories are longer, interfaces are denser, and execution drift has more chances to accumulate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.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F1C5B3-C8FC-D0C3-3408-BF2DC657E823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OSCAR Fig 5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2BDDF0-5773-442B-0DE1-4E7431D6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124" y="1350605"/>
            <a:ext cx="5790476" cy="3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13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84F588-7464-0A96-C600-47A9EA157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F86A91-E59F-6FD1-95B6-9A70212CBBC6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OSCAR: Static vs Dynamic evaluation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6B0EF5-EBA6-472E-AF27-2D04B146C182}"/>
              </a:ext>
            </a:extLst>
          </p:cNvPr>
          <p:cNvSpPr txBox="1"/>
          <p:nvPr/>
        </p:nvSpPr>
        <p:spPr>
          <a:xfrm>
            <a:off x="304802" y="1828800"/>
            <a:ext cx="4394200" cy="279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Static: match actions to reference (Mind2Web / AITW)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Dynamic: verify final OS state (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/ 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AndroidWorld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 targets the dynamic setting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EB24968-CE3E-FA9A-C2EE-F568BC49EDD0}"/>
              </a:ext>
            </a:extLst>
          </p:cNvPr>
          <p:cNvSpPr/>
          <p:nvPr/>
        </p:nvSpPr>
        <p:spPr bwMode="auto">
          <a:xfrm>
            <a:off x="4800599" y="1320800"/>
            <a:ext cx="7086599" cy="3860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D5DBB2-6336-6FB0-C236-DD315FB37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390" y="1490710"/>
            <a:ext cx="6388275" cy="352097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5837E0D-EBA7-A6C9-836C-0797FAA1A7DB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Source: OSCAR static vs dynamic evaluation figure.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563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D04EAE-511F-4716-B5A3-6607D5A6A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2E5FF5-99E1-467D-477E-3CCFB4B7CBB8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The research path (one story)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FEF78F8-5837-BD26-0B9F-E09CE56B0D46}"/>
              </a:ext>
            </a:extLst>
          </p:cNvPr>
          <p:cNvSpPr/>
          <p:nvPr/>
        </p:nvSpPr>
        <p:spPr bwMode="auto">
          <a:xfrm>
            <a:off x="863600" y="1930400"/>
            <a:ext cx="3022600" cy="22860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179E9E-3848-EC87-A416-70E5CA22B27A}"/>
              </a:ext>
            </a:extLst>
          </p:cNvPr>
          <p:cNvSpPr txBox="1"/>
          <p:nvPr/>
        </p:nvSpPr>
        <p:spPr>
          <a:xfrm>
            <a:off x="1066800" y="2057400"/>
            <a:ext cx="2616200" cy="2032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Benchmark</a:t>
            </a:r>
            <a:endParaRPr lang="zh-CN" altLang="en-US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E06867-5883-A454-A45F-637E2C1EC9A1}"/>
              </a:ext>
            </a:extLst>
          </p:cNvPr>
          <p:cNvSpPr txBox="1"/>
          <p:nvPr/>
        </p:nvSpPr>
        <p:spPr>
          <a:xfrm>
            <a:off x="1066800" y="2311400"/>
            <a:ext cx="26162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OSWorld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904C480-93CC-499F-7566-0DCB763DBFF5}"/>
              </a:ext>
            </a:extLst>
          </p:cNvPr>
          <p:cNvSpPr/>
          <p:nvPr/>
        </p:nvSpPr>
        <p:spPr bwMode="auto">
          <a:xfrm>
            <a:off x="4445000" y="1930400"/>
            <a:ext cx="3022600" cy="2286000"/>
          </a:xfrm>
          <a:prstGeom prst="roundRect">
            <a:avLst/>
          </a:prstGeom>
          <a:solidFill>
            <a:srgbClr val="EBF1DE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65A3C6-774C-815A-3977-82493BD37DEC}"/>
              </a:ext>
            </a:extLst>
          </p:cNvPr>
          <p:cNvSpPr txBox="1"/>
          <p:nvPr/>
        </p:nvSpPr>
        <p:spPr>
          <a:xfrm>
            <a:off x="4648200" y="2057400"/>
            <a:ext cx="2616200" cy="2032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 dirty="0">
                <a:solidFill>
                  <a:srgbClr val="76923C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Perception</a:t>
            </a:r>
            <a:endParaRPr lang="zh-CN" altLang="en-US" b="1" dirty="0">
              <a:solidFill>
                <a:srgbClr val="76923C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BE1745-9EF2-79FF-74EE-388E4E0EC64F}"/>
              </a:ext>
            </a:extLst>
          </p:cNvPr>
          <p:cNvSpPr txBox="1"/>
          <p:nvPr/>
        </p:nvSpPr>
        <p:spPr>
          <a:xfrm>
            <a:off x="4648200" y="2311400"/>
            <a:ext cx="26162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CogAgent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67CAFA2-C8D0-063A-6F92-CED01E0E4741}"/>
              </a:ext>
            </a:extLst>
          </p:cNvPr>
          <p:cNvSpPr/>
          <p:nvPr/>
        </p:nvSpPr>
        <p:spPr bwMode="auto">
          <a:xfrm>
            <a:off x="8026400" y="1930400"/>
            <a:ext cx="3022600" cy="2286000"/>
          </a:xfrm>
          <a:prstGeom prst="roundRect">
            <a:avLst/>
          </a:prstGeom>
          <a:solidFill>
            <a:srgbClr val="FCF3C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003BCC-32C2-8A06-DF28-D057AA365F58}"/>
              </a:ext>
            </a:extLst>
          </p:cNvPr>
          <p:cNvSpPr txBox="1"/>
          <p:nvPr/>
        </p:nvSpPr>
        <p:spPr>
          <a:xfrm>
            <a:off x="8229600" y="2057400"/>
            <a:ext cx="2616200" cy="2032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 dirty="0">
                <a:solidFill>
                  <a:srgbClr val="B4841F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Control loops</a:t>
            </a:r>
            <a:endParaRPr lang="zh-CN" altLang="en-US" b="1" dirty="0">
              <a:solidFill>
                <a:srgbClr val="B4841F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C9EC81-2253-8ECF-8BC3-03F438469CDC}"/>
              </a:ext>
            </a:extLst>
          </p:cNvPr>
          <p:cNvSpPr txBox="1"/>
          <p:nvPr/>
        </p:nvSpPr>
        <p:spPr>
          <a:xfrm>
            <a:off x="8229599" y="2286000"/>
            <a:ext cx="2616200" cy="2540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OSCAR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14EBB23-04C9-07A3-7493-328F1EE8D62C}"/>
              </a:ext>
            </a:extLst>
          </p:cNvPr>
          <p:cNvCxnSpPr/>
          <p:nvPr/>
        </p:nvCxnSpPr>
        <p:spPr bwMode="auto">
          <a:xfrm>
            <a:off x="3886200" y="3073400"/>
            <a:ext cx="558800" cy="0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BB2855-7D48-EA6C-3D72-AD8A42B0F122}"/>
              </a:ext>
            </a:extLst>
          </p:cNvPr>
          <p:cNvCxnSpPr/>
          <p:nvPr/>
        </p:nvCxnSpPr>
        <p:spPr bwMode="auto">
          <a:xfrm>
            <a:off x="7467600" y="3073400"/>
            <a:ext cx="558800" cy="0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AA651B9-835F-BE65-BF32-BEEB0FA56D41}"/>
              </a:ext>
            </a:extLst>
          </p:cNvPr>
          <p:cNvSpPr/>
          <p:nvPr/>
        </p:nvSpPr>
        <p:spPr bwMode="auto">
          <a:xfrm>
            <a:off x="3733800" y="4660900"/>
            <a:ext cx="4724400" cy="736600"/>
          </a:xfrm>
          <a:prstGeom prst="roundRect">
            <a:avLst/>
          </a:prstGeom>
          <a:solidFill>
            <a:srgbClr val="FCE4D6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7E4A09-6BA3-E952-1F44-2FAA3795BBE6}"/>
              </a:ext>
            </a:extLst>
          </p:cNvPr>
          <p:cNvSpPr txBox="1"/>
          <p:nvPr/>
        </p:nvSpPr>
        <p:spPr>
          <a:xfrm>
            <a:off x="3962400" y="4876800"/>
            <a:ext cx="4267200" cy="2794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Toward LLM-as-OS = measurable, perceptive, controllable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52F314-4779-21D1-4E71-B250269C5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15" t="69464"/>
          <a:stretch>
            <a:fillRect/>
          </a:stretch>
        </p:blipFill>
        <p:spPr>
          <a:xfrm>
            <a:off x="1045590" y="2870200"/>
            <a:ext cx="2740133" cy="10856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C1F7F26-234C-C5BB-4CD7-A614DE5B9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564" y="2670828"/>
            <a:ext cx="1420072" cy="14844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771A7FD-0C74-9159-3473-C1023C61A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584811"/>
            <a:ext cx="2289132" cy="156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02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BC2867-C592-6B27-74EA-CEC5A7F41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D11DF4-2C17-A7EA-1302-1B4C4AD229DF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Runtime becomes the new security boundary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835488-5C30-7788-39EA-1539151ACBD0}"/>
              </a:ext>
            </a:extLst>
          </p:cNvPr>
          <p:cNvSpPr txBox="1"/>
          <p:nvPr/>
        </p:nvSpPr>
        <p:spPr>
          <a:xfrm>
            <a:off x="538618" y="2171700"/>
            <a:ext cx="4621757" cy="1955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Runtime becomes the security boundary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Agents execute actions with credentials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They ingest untrusted instructions + untrusted code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So isolation and identity governance are mandatory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6959441-1236-AFF8-1EE4-F35DB835B087}"/>
              </a:ext>
            </a:extLst>
          </p:cNvPr>
          <p:cNvSpPr/>
          <p:nvPr/>
        </p:nvSpPr>
        <p:spPr bwMode="auto">
          <a:xfrm>
            <a:off x="5160376" y="1270000"/>
            <a:ext cx="2286000" cy="15240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FE36EF-ECB7-71B4-ED2D-6DDC2193400E}"/>
              </a:ext>
            </a:extLst>
          </p:cNvPr>
          <p:cNvSpPr/>
          <p:nvPr/>
        </p:nvSpPr>
        <p:spPr bwMode="auto">
          <a:xfrm>
            <a:off x="5312776" y="1422400"/>
            <a:ext cx="76200" cy="1219200"/>
          </a:xfrm>
          <a:prstGeom prst="rect">
            <a:avLst/>
          </a:prstGeom>
          <a:solidFill>
            <a:srgbClr val="1F4E79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05D78F-B205-5E15-DF53-7BDDFAB9F680}"/>
              </a:ext>
            </a:extLst>
          </p:cNvPr>
          <p:cNvSpPr txBox="1"/>
          <p:nvPr/>
        </p:nvSpPr>
        <p:spPr>
          <a:xfrm>
            <a:off x="5515975" y="1422400"/>
            <a:ext cx="1778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1F4E79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Identity</a:t>
            </a:r>
            <a:endParaRPr lang="zh-CN" altLang="en-US" sz="2000" b="1" dirty="0">
              <a:solidFill>
                <a:srgbClr val="1F4E79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B7FA4D-177D-8E94-174C-D21A86DE916F}"/>
              </a:ext>
            </a:extLst>
          </p:cNvPr>
          <p:cNvSpPr txBox="1"/>
          <p:nvPr/>
        </p:nvSpPr>
        <p:spPr>
          <a:xfrm>
            <a:off x="5515976" y="1676400"/>
            <a:ext cx="1778000" cy="990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Agents run with real credentials, tokens, and account state.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8352BB-102B-EF69-0CA9-4E7F5E4B1F1B}"/>
              </a:ext>
            </a:extLst>
          </p:cNvPr>
          <p:cNvSpPr/>
          <p:nvPr/>
        </p:nvSpPr>
        <p:spPr bwMode="auto">
          <a:xfrm>
            <a:off x="9017000" y="1270000"/>
            <a:ext cx="2286000" cy="1524000"/>
          </a:xfrm>
          <a:prstGeom prst="roundRect">
            <a:avLst/>
          </a:prstGeom>
          <a:solidFill>
            <a:srgbClr val="FCF3CF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C7DD35-3487-1B98-8673-3C844586715A}"/>
              </a:ext>
            </a:extLst>
          </p:cNvPr>
          <p:cNvSpPr/>
          <p:nvPr/>
        </p:nvSpPr>
        <p:spPr bwMode="auto">
          <a:xfrm>
            <a:off x="9169400" y="1422400"/>
            <a:ext cx="76200" cy="1219200"/>
          </a:xfrm>
          <a:prstGeom prst="rect">
            <a:avLst/>
          </a:prstGeom>
          <a:solidFill>
            <a:srgbClr val="B4841F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1A8DB1-B25E-A13B-3C69-D4B121267A47}"/>
              </a:ext>
            </a:extLst>
          </p:cNvPr>
          <p:cNvSpPr txBox="1"/>
          <p:nvPr/>
        </p:nvSpPr>
        <p:spPr>
          <a:xfrm>
            <a:off x="9372600" y="1422400"/>
            <a:ext cx="1778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B4841F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Execution</a:t>
            </a:r>
            <a:endParaRPr lang="zh-CN" altLang="en-US" sz="2000" b="1" dirty="0">
              <a:solidFill>
                <a:srgbClr val="B4841F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9D9D68-16F7-AAC8-4409-1F3CE96978AA}"/>
              </a:ext>
            </a:extLst>
          </p:cNvPr>
          <p:cNvSpPr txBox="1"/>
          <p:nvPr/>
        </p:nvSpPr>
        <p:spPr>
          <a:xfrm>
            <a:off x="9372600" y="1676400"/>
            <a:ext cx="1778000" cy="990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They can trigger tools, code, UI actions, and file mutations.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62E6445-DB2F-62EA-C081-062126D03AFA}"/>
              </a:ext>
            </a:extLst>
          </p:cNvPr>
          <p:cNvSpPr/>
          <p:nvPr/>
        </p:nvSpPr>
        <p:spPr bwMode="auto">
          <a:xfrm>
            <a:off x="7217776" y="3987799"/>
            <a:ext cx="2286000" cy="1524000"/>
          </a:xfrm>
          <a:prstGeom prst="roundRect">
            <a:avLst/>
          </a:prstGeom>
          <a:solidFill>
            <a:srgbClr val="FCE4D6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11AC99-02C9-D528-1994-C14D4EB46B55}"/>
              </a:ext>
            </a:extLst>
          </p:cNvPr>
          <p:cNvSpPr/>
          <p:nvPr/>
        </p:nvSpPr>
        <p:spPr bwMode="auto">
          <a:xfrm>
            <a:off x="7370176" y="4140199"/>
            <a:ext cx="76200" cy="1219200"/>
          </a:xfrm>
          <a:prstGeom prst="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091254-9583-B195-14E8-B3A13756B1CA}"/>
              </a:ext>
            </a:extLst>
          </p:cNvPr>
          <p:cNvSpPr txBox="1"/>
          <p:nvPr/>
        </p:nvSpPr>
        <p:spPr>
          <a:xfrm>
            <a:off x="7573376" y="4140199"/>
            <a:ext cx="1778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Persistence</a:t>
            </a:r>
            <a:endParaRPr lang="zh-CN" altLang="en-US" sz="2000" b="1" dirty="0">
              <a:solidFill>
                <a:srgbClr val="C0000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AAB4CD-8C48-4CA2-8214-B48A55D335B6}"/>
              </a:ext>
            </a:extLst>
          </p:cNvPr>
          <p:cNvSpPr txBox="1"/>
          <p:nvPr/>
        </p:nvSpPr>
        <p:spPr>
          <a:xfrm>
            <a:off x="7573376" y="4394199"/>
            <a:ext cx="1778000" cy="990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They accumulate memory, pairing, and automation state over time.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A70480B-D6A3-7AE2-D088-35625BA44500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 bwMode="auto">
          <a:xfrm>
            <a:off x="7446376" y="2032000"/>
            <a:ext cx="1570624" cy="0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F3BF42C-1F16-E6F0-7F62-01016C931511}"/>
              </a:ext>
            </a:extLst>
          </p:cNvPr>
          <p:cNvCxnSpPr>
            <a:cxnSpLocks/>
          </p:cNvCxnSpPr>
          <p:nvPr/>
        </p:nvCxnSpPr>
        <p:spPr bwMode="auto">
          <a:xfrm flipH="1">
            <a:off x="8604164" y="2794000"/>
            <a:ext cx="1799224" cy="1193799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319A25D-385A-61B1-AA3F-1AAF63DCD5E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223349" y="2870835"/>
            <a:ext cx="1872294" cy="1104264"/>
          </a:xfrm>
          <a:prstGeom prst="line">
            <a:avLst/>
          </a:prstGeom>
          <a:noFill/>
          <a:ln w="25400" cap="flat" cmpd="sng" algn="ctr">
            <a:solidFill>
              <a:srgbClr val="606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E697836-8083-DC1E-74DC-53B773D9D005}"/>
              </a:ext>
            </a:extLst>
          </p:cNvPr>
          <p:cNvSpPr txBox="1"/>
          <p:nvPr/>
        </p:nvSpPr>
        <p:spPr>
          <a:xfrm>
            <a:off x="736600" y="5740400"/>
            <a:ext cx="10414000" cy="228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000" i="1" dirty="0">
                <a:solidFill>
                  <a:srgbClr val="606060"/>
                </a:solidFill>
                <a:latin typeface="Calibri" panose="020F0502020204030204" pitchFamily="34" charset="0"/>
                <a:ea typeface="標楷體" pitchFamily="65" charset="-120"/>
                <a:cs typeface="Calibri" pitchFamily="34" charset="0"/>
              </a:rPr>
              <a:t>Source basis: security framing summarized in the provided report.</a:t>
            </a:r>
            <a:endParaRPr lang="zh-CN" altLang="en-US" sz="2000" i="1" dirty="0">
              <a:solidFill>
                <a:srgbClr val="606060"/>
              </a:solidFill>
              <a:latin typeface="Calibri" panose="020F0502020204030204" pitchFamily="34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34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4ED44B-83CE-9103-FD67-B1BE41E4E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237620-5253-289A-A77B-40AEBE375951}"/>
              </a:ext>
            </a:extLst>
          </p:cNvPr>
          <p:cNvSpPr txBox="1"/>
          <p:nvPr/>
        </p:nvSpPr>
        <p:spPr>
          <a:xfrm>
            <a:off x="1092200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Oasis: </a:t>
            </a:r>
            <a:r>
              <a:rPr lang="en-US" altLang="zh-CN" sz="4000" b="1" dirty="0" err="1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ClawJacked</a:t>
            </a:r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 (Feb 2026)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4A2A26-682A-29C6-BE31-7C2BF559B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6" y="1319530"/>
            <a:ext cx="6881813" cy="458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78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4372FE-7025-E2E7-DE1E-6849FD456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1573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353167-F29C-2A86-B8FA-F004F9DA5EEC}"/>
              </a:ext>
            </a:extLst>
          </p:cNvPr>
          <p:cNvSpPr txBox="1"/>
          <p:nvPr/>
        </p:nvSpPr>
        <p:spPr>
          <a:xfrm>
            <a:off x="1092199" y="101600"/>
            <a:ext cx="10795000" cy="6096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000" b="1" dirty="0">
                <a:solidFill>
                  <a:srgbClr val="1F4E79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Takeaways</a:t>
            </a:r>
            <a:endParaRPr lang="zh-CN" altLang="en-US" sz="4000" b="1" dirty="0">
              <a:solidFill>
                <a:srgbClr val="1F4E79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503041-43FF-37CF-9AB4-7F46308B47B0}"/>
              </a:ext>
            </a:extLst>
          </p:cNvPr>
          <p:cNvSpPr/>
          <p:nvPr/>
        </p:nvSpPr>
        <p:spPr bwMode="auto">
          <a:xfrm>
            <a:off x="1397000" y="1524000"/>
            <a:ext cx="9144000" cy="6604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FC4640-8342-A078-3CB6-238CF4DA4E57}"/>
              </a:ext>
            </a:extLst>
          </p:cNvPr>
          <p:cNvSpPr txBox="1"/>
          <p:nvPr/>
        </p:nvSpPr>
        <p:spPr>
          <a:xfrm>
            <a:off x="1625600" y="1676400"/>
            <a:ext cx="8636000" cy="304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1) OS history = abstraction layers for humans</a:t>
            </a:r>
            <a:endParaRPr lang="zh-CN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FA6B67E-3171-9913-F221-ED477F98E4F6}"/>
              </a:ext>
            </a:extLst>
          </p:cNvPr>
          <p:cNvSpPr/>
          <p:nvPr/>
        </p:nvSpPr>
        <p:spPr bwMode="auto">
          <a:xfrm>
            <a:off x="1397000" y="2489200"/>
            <a:ext cx="9144000" cy="660400"/>
          </a:xfrm>
          <a:prstGeom prst="roundRect">
            <a:avLst/>
          </a:prstGeom>
          <a:solidFill>
            <a:srgbClr val="F8F8F8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A281D7-F45C-A06E-51F5-E26C6A50F41F}"/>
              </a:ext>
            </a:extLst>
          </p:cNvPr>
          <p:cNvSpPr txBox="1"/>
          <p:nvPr/>
        </p:nvSpPr>
        <p:spPr>
          <a:xfrm>
            <a:off x="1625600" y="2641600"/>
            <a:ext cx="8636000" cy="304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2) LLM agents may form a new OS layer</a:t>
            </a:r>
            <a:endParaRPr lang="zh-CN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4E0D9D-961C-FA98-DE33-75876D898474}"/>
              </a:ext>
            </a:extLst>
          </p:cNvPr>
          <p:cNvSpPr/>
          <p:nvPr/>
        </p:nvSpPr>
        <p:spPr bwMode="auto">
          <a:xfrm>
            <a:off x="1397000" y="3454400"/>
            <a:ext cx="9144000" cy="660400"/>
          </a:xfrm>
          <a:prstGeom prst="roundRect">
            <a:avLst/>
          </a:prstGeom>
          <a:solidFill>
            <a:srgbClr val="E7F0FA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ED86AF-0E36-3823-31EE-1C954C2D9213}"/>
              </a:ext>
            </a:extLst>
          </p:cNvPr>
          <p:cNvSpPr txBox="1"/>
          <p:nvPr/>
        </p:nvSpPr>
        <p:spPr>
          <a:xfrm>
            <a:off x="1625599" y="3606800"/>
            <a:ext cx="8636000" cy="304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3) OSWorld → CogAgent → OSCAR is a coherent path</a:t>
            </a:r>
            <a:endParaRPr lang="zh-CN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57F8BB-EDE7-086D-D681-54194FD69158}"/>
              </a:ext>
            </a:extLst>
          </p:cNvPr>
          <p:cNvSpPr/>
          <p:nvPr/>
        </p:nvSpPr>
        <p:spPr bwMode="auto">
          <a:xfrm>
            <a:off x="1397000" y="4419600"/>
            <a:ext cx="9144000" cy="660400"/>
          </a:xfrm>
          <a:prstGeom prst="roundRect">
            <a:avLst/>
          </a:prstGeom>
          <a:solidFill>
            <a:srgbClr val="F8F8F8"/>
          </a:solidFill>
          <a:ln w="1587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7961" dir="2699987" rotWithShape="0">
              <a:srgbClr val="B4B4B4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858243-AD81-392B-D247-546FBD4FA03C}"/>
              </a:ext>
            </a:extLst>
          </p:cNvPr>
          <p:cNvSpPr txBox="1"/>
          <p:nvPr/>
        </p:nvSpPr>
        <p:spPr>
          <a:xfrm>
            <a:off x="1625599" y="4572000"/>
            <a:ext cx="8636000" cy="304800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4) Runtime security is the gating factor</a:t>
            </a:r>
            <a:endParaRPr lang="zh-CN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55725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4725</Words>
  <Application>Microsoft Office PowerPoint</Application>
  <PresentationFormat>宽屏</PresentationFormat>
  <Paragraphs>424</Paragraphs>
  <Slides>27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MS Sans Serif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Acrobat Document</vt:lpstr>
      <vt:lpstr>From OS to Agentic OS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文谦 张</cp:lastModifiedBy>
  <cp:revision>40</cp:revision>
  <dcterms:created xsi:type="dcterms:W3CDTF">2020-07-15T11:13:39Z</dcterms:created>
  <dcterms:modified xsi:type="dcterms:W3CDTF">2026-03-11T09:57:42Z</dcterms:modified>
</cp:coreProperties>
</file>