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40"/>
  </p:notesMasterIdLst>
  <p:sldIdLst>
    <p:sldId id="256" r:id="rId3"/>
    <p:sldId id="529" r:id="rId4"/>
    <p:sldId id="572" r:id="rId5"/>
    <p:sldId id="516" r:id="rId6"/>
    <p:sldId id="569" r:id="rId7"/>
    <p:sldId id="573" r:id="rId8"/>
    <p:sldId id="521" r:id="rId9"/>
    <p:sldId id="517" r:id="rId10"/>
    <p:sldId id="574" r:id="rId11"/>
    <p:sldId id="575" r:id="rId12"/>
    <p:sldId id="532" r:id="rId13"/>
    <p:sldId id="580" r:id="rId14"/>
    <p:sldId id="581" r:id="rId15"/>
    <p:sldId id="582" r:id="rId16"/>
    <p:sldId id="576" r:id="rId17"/>
    <p:sldId id="577" r:id="rId18"/>
    <p:sldId id="578" r:id="rId19"/>
    <p:sldId id="579" r:id="rId20"/>
    <p:sldId id="584" r:id="rId21"/>
    <p:sldId id="585" r:id="rId22"/>
    <p:sldId id="586" r:id="rId23"/>
    <p:sldId id="587" r:id="rId24"/>
    <p:sldId id="588" r:id="rId25"/>
    <p:sldId id="533" r:id="rId26"/>
    <p:sldId id="589" r:id="rId27"/>
    <p:sldId id="590" r:id="rId28"/>
    <p:sldId id="591" r:id="rId29"/>
    <p:sldId id="592" r:id="rId30"/>
    <p:sldId id="595" r:id="rId31"/>
    <p:sldId id="596" r:id="rId32"/>
    <p:sldId id="597" r:id="rId33"/>
    <p:sldId id="598" r:id="rId34"/>
    <p:sldId id="599" r:id="rId35"/>
    <p:sldId id="600" r:id="rId36"/>
    <p:sldId id="593" r:id="rId37"/>
    <p:sldId id="564" r:id="rId38"/>
    <p:sldId id="601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(from 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function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aspect)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ensures that both the user and the assistant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maintain a persistent memory of important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personal details and characteristics, ensuring consistency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personalization over long-term interactions.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>
              <a:defRPr sz="24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>
              <a:defRPr sz="2135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5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5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5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PMingLiU" pitchFamily="18" charset="-120"/>
                <a:cs typeface="Times New Roman" panose="02020603050405020304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3735">
          <a:solidFill>
            <a:schemeClr val="tx1"/>
          </a:solidFill>
          <a:latin typeface="Calibri" panose="020F0502020204030204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604020202020204" pitchFamily="34" charset="0"/>
        <a:buChar char="–"/>
        <a:defRPr kumimoji="1" sz="3200">
          <a:solidFill>
            <a:schemeClr val="tx1"/>
          </a:solidFill>
          <a:latin typeface="Calibri" panose="020F0502020204030204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406845"/>
            <a:ext cx="11396871" cy="2109241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Memory Management for LLM-Based Agents</a:t>
            </a:r>
            <a:br>
              <a:rPr lang="en-US" altLang="zh-CN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altLang="zh-CN" sz="4000" i="0" u="none" strike="noStrike" baseline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OS-Inspired Perspective on Agent Memory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2026.3.31</a:t>
            </a:r>
            <a:endParaRPr lang="zh-TW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Yuan </a:t>
            </a:r>
            <a:r>
              <a:rPr lang="en-US" altLang="zh-CN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Xie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Introduction – Agents Memory (1/2)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25537"/>
                <a:ext cx="10594109" cy="4831917"/>
              </a:xfrm>
            </p:spPr>
            <p:txBody>
              <a:bodyPr/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agent memory?</a:t>
                </a:r>
              </a:p>
              <a:p>
                <a:pPr lvl="1"/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Enables an agent to </a:t>
                </a:r>
                <a:r>
                  <a:rPr lang="en-US" altLang="zh-CN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 and reuse past information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across interactions.</a:t>
                </a:r>
              </a:p>
              <a:p>
                <a:pPr lvl="1"/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Supports continuity, personalization, and more efficient dec ision-making.</a:t>
                </a:r>
              </a:p>
              <a:p>
                <a:pPr lvl="1"/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Capture factual knowledge, task experience, and intermediate working context.</a:t>
                </a:r>
              </a:p>
              <a:p>
                <a:pPr marL="457200" lvl="1" indent="0">
                  <a:buNone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Font typeface="Wingdings" panose="05000000000000000000" charset="0"/>
                  <a:buChar char="l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concepts:</a:t>
                </a:r>
              </a:p>
              <a:p>
                <a:pPr lvl="1">
                  <a:buFont typeface="Arial" panose="020B0604020202020204" pitchFamily="34" charset="0"/>
                  <a:buChar char="‒"/>
                </a:pP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Agent and Environment</a:t>
                </a:r>
              </a:p>
              <a:p>
                <a:pPr marL="914400" lvl="2" indent="457200">
                  <a:buFont typeface="Arial" panose="020B0604020202020204" pitchFamily="34" charset="0"/>
                  <a:buNone/>
                </a:pP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Single-agent/multi-agent; state space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action at time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200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buFont typeface="Arial" panose="020B0604020202020204" pitchFamily="34" charset="0"/>
                  <a:buChar char="‒"/>
                </a:pP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Space  </a:t>
                </a:r>
              </a:p>
              <a:p>
                <a:pPr marL="914400" lvl="2" indent="457200">
                  <a:buFont typeface="Arial" panose="020B0604020202020204" pitchFamily="34" charset="0"/>
                  <a:buNone/>
                </a:pP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Natural-language generation; planning; enviroment-control, ...</a:t>
                </a:r>
              </a:p>
              <a:p>
                <a:pPr lvl="1">
                  <a:buFont typeface="Arial" panose="020B0604020202020204" pitchFamily="34" charset="0"/>
                  <a:buChar char="‒"/>
                </a:pP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Interaction Process and Trajectories</a:t>
                </a:r>
              </a:p>
              <a:p>
                <a:pPr marL="914400" lvl="2" indent="457200">
                  <a:buFont typeface="Arial" panose="020B0604020202020204" pitchFamily="34" charset="0"/>
                  <a:buNone/>
                </a:pPr>
                <a:endPara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25537"/>
                <a:ext cx="10594109" cy="4831917"/>
              </a:xfrm>
              <a:blipFill rotWithShape="1">
                <a:blip r:embed="rId2"/>
                <a:stretch>
                  <a:fillRect t="-7" r="4" b="-1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085" y="5644515"/>
            <a:ext cx="4671695" cy="443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Introduction – Agents Memory (2/2)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25220"/>
                <a:ext cx="11247755" cy="4831715"/>
              </a:xfrm>
            </p:spPr>
            <p:txBody>
              <a:bodyPr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 lifecycle 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Formation: </a:t>
                </a:r>
              </a:p>
              <a:p>
                <a:pPr marL="457200" lvl="1" indent="457200">
                  <a:buNone/>
                </a:pP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dirty="0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</m:oMath>
                </a14:m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</a:t>
                </a:r>
                <a:r>
                  <a:rPr lang="en-US" altLang="zh-C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agent produce information artifacts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∅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sz="2200" i="1" dirty="0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</m:oMath>
                </a14:m>
                <a:endParaRPr lang="en-US" altLang="zh-CN" sz="2200" i="1" dirty="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457200" lvl="1" indent="457200">
                  <a:buNone/>
                </a:pPr>
                <a:r>
                  <a:rPr lang="en-US" altLang="zh-C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(like tool outputs, paritial plans, environmental feedback ...)</a:t>
                </a:r>
              </a:p>
              <a:p>
                <a:pPr marL="457200" lvl="1" indent="457200" algn="l">
                  <a:buNone/>
                </a:pPr>
                <a:r>
                  <a:rPr lang="en-US" altLang="zh-C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use operator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+1</m:t>
                        </m:r>
                      </m:sub>
                      <m:sup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𝑓𝑜𝑟𝑚</m:t>
                        </m:r>
                      </m:sup>
                    </m:sSubSup>
                    <m:r>
                      <a:rPr lang="en-US" altLang="zh-CN" sz="2200" i="1" dirty="0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200" i="1" dirty="0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sz="2200" i="1" dirty="0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sz="2200" i="1" dirty="0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∅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sz="2200" i="1" dirty="0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transform these artifacts into memory candidates</a:t>
                </a:r>
              </a:p>
              <a:p>
                <a:pPr lvl="1"/>
                <a:r>
                  <a:rPr lang="en-US" altLang="zh-CN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Evolution:</a:t>
                </a:r>
                <a:r>
                  <a:rPr lang="en-US" altLang="zh-C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457200" lvl="1" indent="457200">
                  <a:buNone/>
                </a:pPr>
                <a:r>
                  <a:rPr lang="en-US" altLang="zh-C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evolution operator integrate formed memory candidates into existing memory base</a:t>
                </a:r>
                <a14:m>
                  <m:oMath xmlns:m="http://schemas.openxmlformats.org/officeDocument/2006/math">
                    <m:r>
                      <a:rPr lang="en-US" altLang="zh-CN" sz="2200" dirty="0">
                        <a:solidFill>
                          <a:schemeClr val="tx1"/>
                        </a:solidFill>
                        <a:latin typeface="Cambria Math" panose="0204050305040603020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2743200" lvl="6" indent="45720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200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 = </m:t>
                      </m:r>
                      <m:r>
                        <a:rPr lang="en-US" altLang="zh-CN" sz="2200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r>
                        <a:rPr lang="en-US" altLang="zh-CN" sz="2200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𝑓𝑜𝑟𝑚</m:t>
                          </m:r>
                        </m:sup>
                      </m:sSubSup>
                      <m:r>
                        <a:rPr lang="en-US" altLang="zh-CN" sz="2200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Retrieval: </a:t>
                </a:r>
              </a:p>
              <a:p>
                <a:pPr marL="457200" lvl="1" indent="45720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selecting an action, agent retrieves a context-depent memory signal</a:t>
                </a:r>
              </a:p>
              <a:p>
                <a:pPr marL="2743200" lvl="6" indent="45720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2200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sz="22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= </m:t>
                      </m:r>
                      <m:r>
                        <a:rPr lang="en-US" altLang="zh-CN" sz="22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r>
                        <a:rPr lang="en-US" altLang="zh-CN" sz="22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2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2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2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2200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22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2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  <m:r>
                        <a:rPr lang="en-US" altLang="zh-CN" sz="22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200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457200" lvl="1" indent="457200" algn="l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is operator that constructs a task-aware query and returns relevant memory content</a:t>
                </a:r>
              </a:p>
              <a:p>
                <a:pPr marL="457200" lvl="1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25220"/>
                <a:ext cx="11247755" cy="4831715"/>
              </a:xfrm>
              <a:blipFill rotWithShape="1">
                <a:blip r:embed="rId2"/>
                <a:stretch>
                  <a:fillRect b="-8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64295" y="1255395"/>
            <a:ext cx="2386330" cy="82994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  <a:sym typeface="+mn-ea"/>
              </a:rPr>
              <a:t>persistent</a:t>
            </a:r>
            <a:r>
              <a:rPr lang="en-US" altLang="zh-CN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  <a:sym typeface="+mn-ea"/>
              </a:rPr>
              <a:t> and </a:t>
            </a:r>
            <a:endParaRPr lang="en-US" altLang="zh-CN" sz="24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  <a:sym typeface="+mn-ea"/>
              </a:rPr>
              <a:t>self-evolving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  <a:sym typeface="+mn-ea"/>
              </a:rPr>
              <a:t>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</a:rPr>
              <a:t>Background &amp; Motivation (1/2)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内容占位符 5"/>
          <p:cNvSpPr txBox="1"/>
          <p:nvPr/>
        </p:nvSpPr>
        <p:spPr bwMode="auto">
          <a:xfrm>
            <a:off x="624840" y="1125220"/>
            <a:ext cx="1125220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 which aspect can we improve agent memory?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Forms: </a:t>
            </a:r>
          </a:p>
          <a:p>
            <a:pPr marL="914400" lvl="2" indent="45720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architectural or representational forms can agent memory take?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Functions: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pPr marL="914400" lvl="2" indent="45720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Why need agent memory, and what roles or purposes does it serve?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Dynamics: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pPr marL="914400" lvl="2" indent="45720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does agent memory operate, adapt and evolve over time?</a:t>
            </a:r>
            <a:endParaRPr lang="zh-CN" altLang="en-US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458" y="836787"/>
            <a:ext cx="8019288" cy="50667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Background &amp; Motivation (2/2)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537"/>
            <a:ext cx="4285672" cy="4895851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Devided by Form</a:t>
            </a:r>
          </a:p>
          <a:p>
            <a:pPr marL="457200" lvl="1" indent="0">
              <a:buFont typeface="Arial" panose="020B0604020202020204" pitchFamily="34" charset="0"/>
              <a:buChar char="‒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Token-level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</a:t>
            </a:r>
          </a:p>
          <a:p>
            <a:pPr marL="457200" lvl="1" indent="0">
              <a:buFont typeface="Arial" panose="020B0604020202020204" pitchFamily="34" charset="0"/>
              <a:buChar char="‒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memory</a:t>
            </a:r>
          </a:p>
          <a:p>
            <a:pPr marL="457200" lvl="1" indent="0">
              <a:buFont typeface="Arial" panose="020B0604020202020204" pitchFamily="34" charset="0"/>
              <a:buChar char="‒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Latent Memory</a:t>
            </a:r>
          </a:p>
          <a:p>
            <a:pPr marL="457200" lvl="1" indent="457200">
              <a:buNone/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buFont typeface="Wingdings" panose="05000000000000000000" charset="0"/>
              <a:buChar char="l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Devided by Function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 memory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Experimential memory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memory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85905" y="5822315"/>
            <a:ext cx="5192395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1. Overview of agent memory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A-Mem (1/8)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840" y="1125220"/>
            <a:ext cx="1094232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  <a:p>
            <a:pPr marL="457200" lvl="1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memory system is too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basic storage and retrieval but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sophisticated memory organization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operations and structures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their adaptability across diverse tasks</a:t>
            </a: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3282315"/>
            <a:ext cx="10716895" cy="17633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868613" y="5045710"/>
            <a:ext cx="62293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2. Comparison between traditional memory and A-Mem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A-Mem (2/8)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405920" y="1125537"/>
            <a:ext cx="5581841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construction: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interaction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write conversation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generate attributes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constract new note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text encoder generate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embedding</a:t>
            </a: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665" y="1563370"/>
            <a:ext cx="8458200" cy="416115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758565" y="1673225"/>
            <a:ext cx="2563495" cy="402780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45890" y="5701030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3. A-Mem architecture comprises three integral parts in memory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A-Mem (3/8)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665" y="1563370"/>
            <a:ext cx="8458200" cy="41611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092825" y="1739900"/>
            <a:ext cx="2563495" cy="402780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07765" y="1739900"/>
            <a:ext cx="2385060" cy="3951605"/>
          </a:xfrm>
          <a:prstGeom prst="rect">
            <a:avLst/>
          </a:prstGeom>
          <a:solidFill>
            <a:schemeClr val="bg1">
              <a:alpha val="85000"/>
            </a:schemeClr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995" y="1125537"/>
            <a:ext cx="5581841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  <a:p>
            <a:pPr lvl="1"/>
            <a:r>
              <a:rPr lang="en-US" altLang="zh-CN" sz="22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 generation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analysis historical memories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indentify top-k relevant connections</a:t>
            </a: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establish links to meaningful similarites</a:t>
            </a: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is auto-link driven by semantics (by LLM), rather than handcraft rules.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195" y="2783205"/>
            <a:ext cx="1774825" cy="692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705" y="4001770"/>
            <a:ext cx="3495040" cy="4540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945890" y="5701030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3. A-Mem architecture comprises three integral parts in memory 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A-Mem (4/8)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665" y="1563370"/>
            <a:ext cx="8458200" cy="41611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595995" y="1666875"/>
            <a:ext cx="3596640" cy="402780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07765" y="1739900"/>
            <a:ext cx="4851400" cy="3951605"/>
          </a:xfrm>
          <a:prstGeom prst="rect">
            <a:avLst/>
          </a:prstGeom>
          <a:solidFill>
            <a:schemeClr val="bg1">
              <a:alpha val="85000"/>
            </a:schemeClr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100965" y="1106170"/>
            <a:ext cx="1221359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evolution: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using textual information and relationship with new memory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find nearest neighbor set, check update or not (context,keyword, ...)</a:t>
            </a: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retrieval: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compute dense vector representation for query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compute similarity score between query and memories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find top k historical memories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construct contextually appropriate prompt </a:t>
            </a: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using retrieved memories help agent better understand and response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85" y="2694940"/>
            <a:ext cx="4191000" cy="5086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85" y="5140325"/>
            <a:ext cx="4507230" cy="5226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A-Mem (5/8)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995" y="1125537"/>
            <a:ext cx="5581841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0" indent="0">
              <a:buNone/>
            </a:pPr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A-Mem has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accurancy &amp;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token length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455" y="1369060"/>
            <a:ext cx="7819390" cy="47771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62045" y="1068070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1. Experimental results on LoCoMo dataset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A-Mem (6/8)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840" y="1125220"/>
            <a:ext cx="996061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 anslysis - retrieval parameter k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1548130"/>
            <a:ext cx="8763000" cy="42081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71738" y="5701030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4. Impact of memory retrieval parameter k across different task categories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A-Mem (7/8)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840" y="1125220"/>
            <a:ext cx="996061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 anslysis - memory size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062"/>
          <a:stretch>
            <a:fillRect/>
          </a:stretch>
        </p:blipFill>
        <p:spPr>
          <a:xfrm>
            <a:off x="2315845" y="1929130"/>
            <a:ext cx="7897495" cy="3667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11718" y="1600835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2. Experimental results on LoCoMo dataset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A-Mem (8/8)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840" y="1125220"/>
            <a:ext cx="1114679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A-Mem shows a new way to form the memory: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use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notes + dynamic links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predifined structures to adapt     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diverse real-word tasks.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generate contextual descriptions for memory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use LLM to determine 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whether update the historical memory or not.</a:t>
            </a:r>
          </a:p>
          <a:p>
            <a:pPr marL="0" indent="0">
              <a:buNone/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Memory-OS (1/8)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840" y="1125220"/>
            <a:ext cx="1141603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  <a:p>
            <a:pPr marL="457200" lvl="1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agents suffer from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context window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memory management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to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long-term coherence, poor personalization, factual inconsistency, ...</a:t>
            </a: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Existing methods mainly optimize one single aspect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(storage, retrieval, update)</a:t>
            </a: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b="16457"/>
          <a:stretch>
            <a:fillRect/>
          </a:stretch>
        </p:blipFill>
        <p:spPr>
          <a:xfrm>
            <a:off x="1310640" y="2790825"/>
            <a:ext cx="8809355" cy="29724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6535" y="5763260"/>
            <a:ext cx="11433175" cy="39878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457200" lvl="1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MemoryOS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treats memory as a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complete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management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system, rather than only a retrieval database!</a:t>
            </a:r>
            <a:endParaRPr lang="en-US" altLang="zh-CN" sz="2000" b="1" kern="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30" y="1049020"/>
            <a:ext cx="8919210" cy="493395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Memory-OS (2/8)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129695" y="1125537"/>
            <a:ext cx="5581841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memory: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store recent interaction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(query, response, time)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build dialogue chain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 maintain contextual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information</a:t>
            </a: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generate meta-info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(update &amp; summary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chain linkage)</a:t>
            </a:r>
          </a:p>
        </p:txBody>
      </p:sp>
      <p:sp>
        <p:nvSpPr>
          <p:cNvPr id="3" name="矩形 2"/>
          <p:cNvSpPr/>
          <p:nvPr/>
        </p:nvSpPr>
        <p:spPr>
          <a:xfrm>
            <a:off x="3757295" y="1882775"/>
            <a:ext cx="1574800" cy="401764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5" y="3950335"/>
            <a:ext cx="2996338" cy="4381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45560" y="5856605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5. Impact of memory retrieval parameter k across different task categories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790" y="1125220"/>
            <a:ext cx="8919210" cy="493395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Memory-OS (3/8)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3331845" y="1936115"/>
            <a:ext cx="1995805" cy="4229100"/>
          </a:xfrm>
          <a:prstGeom prst="rect">
            <a:avLst/>
          </a:prstGeom>
          <a:solidFill>
            <a:schemeClr val="bg1">
              <a:alpha val="85000"/>
            </a:schemeClr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88420" y="1125537"/>
            <a:ext cx="5581841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Mid-term memory: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adopts segmented paging architecture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group same-topic dialogue pages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into segments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summary segment content by LLM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compute similarity between dialogue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page and segments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merge highly-similar pages  into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same segment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update/delete segment by heat 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" y="5661660"/>
            <a:ext cx="5154295" cy="36004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72075" y="1713865"/>
            <a:ext cx="3425190" cy="401764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790" y="1125220"/>
            <a:ext cx="8919210" cy="493395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Memory-OS (4/8)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8578850" y="1713865"/>
            <a:ext cx="2000250" cy="401764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2790" y="1207770"/>
            <a:ext cx="5192395" cy="4851400"/>
          </a:xfrm>
          <a:prstGeom prst="rect">
            <a:avLst/>
          </a:prstGeom>
          <a:solidFill>
            <a:schemeClr val="bg1">
              <a:alpha val="85000"/>
            </a:schemeClr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TW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468150" y="1125537"/>
            <a:ext cx="9681055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personal memory: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user persona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static user profile (gender, name, …)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write user knowledge base (KB) that stores factual information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generate user traits that contains interests, habits and preference</a:t>
            </a: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agent persona 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static agent profile (settings, roles, characters, …)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update agent traits through interactions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Memory-OS (5/8)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995" y="1125537"/>
            <a:ext cx="10703405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Updating</a:t>
            </a:r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MTM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STM is maintained as a fixed-length queue.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Old dialogue pages are transferred by first-in-first-out</a:t>
            </a:r>
          </a:p>
          <a:p>
            <a:pPr marL="457200" lvl="1" indent="0">
              <a:buNone/>
            </a:pPr>
            <a:endParaRPr lang="en-US" altLang="zh-CN" sz="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MTM internal management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dynamically maintain segments according to Heat score.</a:t>
            </a: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mainly concern: retrieval frequency, interaction length and </a:t>
            </a:r>
            <a:r>
              <a:rPr lang="en-US" altLang="zh-CN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recency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MTM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LPM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high heat segment promote into LPM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low heat segment delete to control capacity</a:t>
            </a: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551" y="3731577"/>
            <a:ext cx="4050726" cy="369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Momory</a:t>
            </a:r>
            <a:r>
              <a:rPr lang="en-US" altLang="zh-CN" dirty="0"/>
              <a:t>-OS (6/8)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995" y="1125537"/>
            <a:ext cx="5581841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0" indent="0">
              <a:buNone/>
            </a:pPr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73" y="1762114"/>
            <a:ext cx="11011854" cy="400846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54225" y="1475105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3. LoCoMo dataset comparison with per-category scores and average ranks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Momory</a:t>
            </a:r>
            <a:r>
              <a:rPr lang="en-US" altLang="zh-CN" dirty="0"/>
              <a:t>-OS (7/8)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995" y="1125537"/>
            <a:ext cx="5581841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</a:t>
            </a:r>
          </a:p>
          <a:p>
            <a:pPr marL="0" indent="0">
              <a:buNone/>
            </a:pPr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465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47" y="1719472"/>
            <a:ext cx="11720070" cy="279537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39907" y="4514850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6. The ablation study on the GVD and LoCoMo benchmark datasets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Memory-OS (8/8)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9" name="内容占位符 5"/>
          <p:cNvSpPr txBox="1"/>
          <p:nvPr/>
        </p:nvSpPr>
        <p:spPr bwMode="auto">
          <a:xfrm>
            <a:off x="624840" y="1125220"/>
            <a:ext cx="1114679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shows a </a:t>
            </a:r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novel memory management system: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sperate short/mid/long term memory.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using heat-driven eviction to manage memory tiers</a:t>
            </a:r>
          </a:p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achieving coherent, personalized conversation on long history</a:t>
            </a:r>
          </a:p>
          <a:p>
            <a:pPr marL="0" indent="0">
              <a:buNone/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Agentic Plan Caching (1/6)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55" y="2397125"/>
            <a:ext cx="8263255" cy="3408045"/>
          </a:xfrm>
          <a:prstGeom prst="rect">
            <a:avLst/>
          </a:prstGeom>
        </p:spPr>
      </p:pic>
      <p:sp>
        <p:nvSpPr>
          <p:cNvPr id="9" name="内容占位符 5"/>
          <p:cNvSpPr txBox="1"/>
          <p:nvPr/>
        </p:nvSpPr>
        <p:spPr bwMode="auto">
          <a:xfrm>
            <a:off x="624840" y="1125220"/>
            <a:ext cx="1141603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  <a:p>
            <a:pPr marL="457200" lvl="1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Reasoning or multimodel LLM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cost most in planing</a:t>
            </a:r>
          </a:p>
          <a:p>
            <a:pPr marL="457200" lvl="1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Once generate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strategy,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action stage is easier</a:t>
            </a: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55408" y="5805170"/>
            <a:ext cx="790575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7. Plan-Act LLM applications and caching techniques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Agentic Plan Caching (2/6)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1050"/>
          <a:stretch>
            <a:fillRect/>
          </a:stretch>
        </p:blipFill>
        <p:spPr>
          <a:xfrm>
            <a:off x="5119370" y="1057275"/>
            <a:ext cx="7068820" cy="4747895"/>
          </a:xfrm>
          <a:prstGeom prst="rect">
            <a:avLst/>
          </a:prstGeom>
        </p:spPr>
      </p:pic>
      <p:sp>
        <p:nvSpPr>
          <p:cNvPr id="6" name="内容占位符 5"/>
          <p:cNvSpPr txBox="1"/>
          <p:nvPr/>
        </p:nvSpPr>
        <p:spPr bwMode="auto">
          <a:xfrm>
            <a:off x="624995" y="1125537"/>
            <a:ext cx="9681055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hit:</a:t>
            </a:r>
          </a:p>
          <a:p>
            <a:pPr marL="457200" lvl="1" indent="0">
              <a:buNone/>
            </a:pP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match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small  LM do plan</a:t>
            </a: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actor LM give response</a:t>
            </a:r>
          </a:p>
          <a:p>
            <a:pPr marL="457200" lvl="1" indent="0">
              <a:buNone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miss: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1" indent="457200">
              <a:buNone/>
            </a:pP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keywords not match	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 LM fo plan</a:t>
            </a:r>
          </a:p>
          <a:p>
            <a:pPr marL="457200" lvl="1" indent="0" algn="l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then actor LM give response</a:t>
            </a:r>
          </a:p>
          <a:p>
            <a:pPr marL="457200" lvl="1" indent="0" algn="l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update cache (plan template, kw)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algn="l">
              <a:buNone/>
            </a:pP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61318" y="5805170"/>
            <a:ext cx="6384925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8. Agentic plan caching framework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Agentic Plan Caching (3/6)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624995" y="1125537"/>
            <a:ext cx="9681055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Evaluation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Query-based vs Keyword-based:</a:t>
            </a: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2282825"/>
            <a:ext cx="4540250" cy="24403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5" y="2060575"/>
            <a:ext cx="6280150" cy="3159125"/>
          </a:xfrm>
          <a:prstGeom prst="rect">
            <a:avLst/>
          </a:prstGeom>
        </p:spPr>
      </p:pic>
      <p:sp>
        <p:nvSpPr>
          <p:cNvPr id="8" name="内容占位符 5"/>
          <p:cNvSpPr txBox="1"/>
          <p:nvPr/>
        </p:nvSpPr>
        <p:spPr bwMode="auto">
          <a:xfrm>
            <a:off x="5526405" y="1182370"/>
            <a:ext cx="6202680" cy="16078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 compare:</a:t>
            </a: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06758" y="5222240"/>
            <a:ext cx="6384925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10. Results across four baselines and agentic plan caching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6705" y="4788535"/>
            <a:ext cx="5677535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9. Query-Based v. Keyword-Based Cache Search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Agentic Plan Caching (4/6)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624995" y="1125537"/>
            <a:ext cx="9681055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Evaluation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miss vs Cache hit under different setting:</a:t>
            </a: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 methods have performance trade-off despite potential cost saving, saving plan is better under some scene like finance</a:t>
            </a: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2107565"/>
            <a:ext cx="10733405" cy="26777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15628" y="4785360"/>
            <a:ext cx="6384925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11. Accuracy comparison across caching methods 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Agentic Plan Caching (5/6)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624995" y="1125537"/>
            <a:ext cx="9681055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Evaluation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analysis:</a:t>
            </a: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55" y="2317115"/>
            <a:ext cx="9463405" cy="32238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903538" y="2054860"/>
            <a:ext cx="6384925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4. Cost analysis on different dataset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Agentic Plan Caching (6/6)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6" name="内容占位符 5"/>
          <p:cNvSpPr txBox="1"/>
          <p:nvPr/>
        </p:nvSpPr>
        <p:spPr bwMode="auto">
          <a:xfrm>
            <a:off x="624840" y="1125220"/>
            <a:ext cx="1114806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Evaluation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Fuzzy keyword matching:</a:t>
            </a:r>
          </a:p>
          <a:p>
            <a:pPr lvl="1"/>
            <a:endParaRPr lang="en-US" altLang="zh-CN" sz="2055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055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055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055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055" kern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charset="0"/>
              <a:buChar char="l"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zh-CN" sz="233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‒"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APC proposed plan-level caching method and significantly reduce the cost while maintain accurancy</a:t>
            </a:r>
          </a:p>
          <a:p>
            <a:pPr lvl="1">
              <a:buFont typeface="Arial" panose="020B0604020202020204" pitchFamily="34" charset="0"/>
              <a:buChar char="‒"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caching can recude error when query hit compared with other caching stategies</a:t>
            </a: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15" y="2423160"/>
            <a:ext cx="10191115" cy="1849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03538" y="2143760"/>
            <a:ext cx="6384925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Table 5. Fuzzy Keyword Matching Results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2" name="内容占位符 5"/>
          <p:cNvSpPr txBox="1"/>
          <p:nvPr/>
        </p:nvSpPr>
        <p:spPr bwMode="auto">
          <a:xfrm>
            <a:off x="455372" y="1264050"/>
            <a:ext cx="10595455" cy="4403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20204" pitchFamily="34" charset="0"/>
              <a:buChar char="–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Agent memory is moving beyond simple context accumulation toward structured and adaptive memory systems</a:t>
            </a:r>
          </a:p>
          <a:p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should be organized, not just stored</a:t>
            </a:r>
          </a:p>
          <a:p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should evolve, not remain static </a:t>
            </a:r>
          </a:p>
          <a:p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should improve both capability and efficiency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						(5 min)</a:t>
            </a:r>
            <a:endParaRPr lang="en-US" altLang="zh-TW" sz="29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				(3 min)</a:t>
            </a: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(24 min)</a:t>
            </a:r>
          </a:p>
          <a:p>
            <a:pPr lvl="1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A-Mem	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Memory-OS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 min)</a:t>
            </a:r>
          </a:p>
          <a:p>
            <a:pPr lvl="1"/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APC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(6 min)</a:t>
            </a:r>
          </a:p>
          <a:p>
            <a:r>
              <a:rPr lang="en-US" altLang="zh-CN" sz="29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						(2 min)</a:t>
            </a:r>
          </a:p>
          <a:p>
            <a:r>
              <a:rPr lang="en-US" altLang="zh-CN" sz="29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							(2 min)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anose="020F050202020403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2086</Words>
  <Application>Microsoft Office PowerPoint</Application>
  <PresentationFormat>宽屏</PresentationFormat>
  <Paragraphs>429</Paragraphs>
  <Slides>37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MS Sans Serif</vt:lpstr>
      <vt:lpstr>楷体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Memory Management for LLM-Based Agents An OS-Inspired Perspective on Agent Memory   2026.3.31</vt:lpstr>
      <vt:lpstr>Outline</vt:lpstr>
      <vt:lpstr>Outline</vt:lpstr>
      <vt:lpstr>Introduction – Agents Memory (1/2)</vt:lpstr>
      <vt:lpstr>Introduction – Agents Memory (2/2)</vt:lpstr>
      <vt:lpstr>Outline</vt:lpstr>
      <vt:lpstr>Background &amp; Motivation (1/2)</vt:lpstr>
      <vt:lpstr>Background &amp; Motivation (2/2)</vt:lpstr>
      <vt:lpstr>Outline</vt:lpstr>
      <vt:lpstr>Outline</vt:lpstr>
      <vt:lpstr>A-Mem (1/8)</vt:lpstr>
      <vt:lpstr>A-Mem (2/8)</vt:lpstr>
      <vt:lpstr>A-Mem (3/8)</vt:lpstr>
      <vt:lpstr>A-Mem (4/8)</vt:lpstr>
      <vt:lpstr>A-Mem (5/8)</vt:lpstr>
      <vt:lpstr>A-Mem (6/8)</vt:lpstr>
      <vt:lpstr>A-Mem (7/8)</vt:lpstr>
      <vt:lpstr>A-Mem (8/8)</vt:lpstr>
      <vt:lpstr>Outline</vt:lpstr>
      <vt:lpstr>Memory-OS (1/8)</vt:lpstr>
      <vt:lpstr>Memory-OS (2/8)</vt:lpstr>
      <vt:lpstr>Memory-OS (3/8)</vt:lpstr>
      <vt:lpstr>Memory-OS (4/8)</vt:lpstr>
      <vt:lpstr>Memory-OS (5/8)</vt:lpstr>
      <vt:lpstr>Momory-OS (6/8)</vt:lpstr>
      <vt:lpstr>Momory-OS (7/8)</vt:lpstr>
      <vt:lpstr>Memory-OS (8/8)</vt:lpstr>
      <vt:lpstr>Outline</vt:lpstr>
      <vt:lpstr>Agentic Plan Caching (1/6)</vt:lpstr>
      <vt:lpstr>Agentic Plan Caching (2/6)</vt:lpstr>
      <vt:lpstr>Agentic Plan Caching (3/6)</vt:lpstr>
      <vt:lpstr>Agentic Plan Caching (4/6)</vt:lpstr>
      <vt:lpstr>Agentic Plan Caching (5/6)</vt:lpstr>
      <vt:lpstr>Agentic Plan Caching (6/6)</vt:lpstr>
      <vt:lpstr>Outline</vt:lpstr>
      <vt:lpstr>Conclusions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Yeh-Ching Chung</cp:lastModifiedBy>
  <cp:revision>358</cp:revision>
  <dcterms:created xsi:type="dcterms:W3CDTF">2020-07-15T11:13:00Z</dcterms:created>
  <dcterms:modified xsi:type="dcterms:W3CDTF">2026-04-30T10:57:15Z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A561A126A15842E1BD980FEE41235EB1_12</vt:lpwstr>
  </property>
  <property fmtid="{D5CDD505-2E9C-101B-9397-08002B2CF9AE}" pid="3" name="KSOProductBuildVer">
    <vt:lpwstr>2052-12.1.0.21541</vt:lpwstr>
  </property>
</Properties>
</file>