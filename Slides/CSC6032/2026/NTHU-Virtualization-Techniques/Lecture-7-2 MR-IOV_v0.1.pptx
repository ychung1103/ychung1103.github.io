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312" r:id="rId3"/>
    <p:sldId id="263" r:id="rId4"/>
    <p:sldId id="264" r:id="rId5"/>
    <p:sldId id="259" r:id="rId6"/>
    <p:sldId id="262" r:id="rId7"/>
    <p:sldId id="281" r:id="rId8"/>
    <p:sldId id="265" r:id="rId9"/>
    <p:sldId id="266" r:id="rId10"/>
    <p:sldId id="260" r:id="rId11"/>
    <p:sldId id="261" r:id="rId12"/>
    <p:sldId id="267" r:id="rId13"/>
    <p:sldId id="268" r:id="rId14"/>
    <p:sldId id="270" r:id="rId15"/>
    <p:sldId id="275" r:id="rId16"/>
    <p:sldId id="276" r:id="rId17"/>
    <p:sldId id="277" r:id="rId18"/>
    <p:sldId id="278" r:id="rId19"/>
    <p:sldId id="279" r:id="rId20"/>
    <p:sldId id="283" r:id="rId21"/>
    <p:sldId id="309" r:id="rId22"/>
    <p:sldId id="284" r:id="rId23"/>
    <p:sldId id="286" r:id="rId24"/>
    <p:sldId id="289" r:id="rId25"/>
    <p:sldId id="290" r:id="rId26"/>
    <p:sldId id="291" r:id="rId27"/>
    <p:sldId id="294" r:id="rId28"/>
    <p:sldId id="292" r:id="rId29"/>
    <p:sldId id="293" r:id="rId30"/>
    <p:sldId id="295" r:id="rId31"/>
    <p:sldId id="296" r:id="rId32"/>
    <p:sldId id="288" r:id="rId33"/>
    <p:sldId id="297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7" r:id="rId42"/>
    <p:sldId id="310" r:id="rId43"/>
  </p:sldIdLst>
  <p:sldSz cx="9144000" cy="6858000" type="screen4x3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17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 </a:t>
            </a:r>
            <a:r>
              <a:rPr lang="zh-TW" altLang="en-US" smtClean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將圖片拖曳至版面配置區或按一下圖示以新增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4BE9F-7955-1F41-BFF4-4C257AA54E6B}" type="datetimeFigureOut">
              <a:rPr kumimoji="1" lang="zh-TW" altLang="en-US" smtClean="0"/>
              <a:pPr/>
              <a:t>2013/2/4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4F4BF-0035-CC45-9A23-4B4724943D71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isig.com/developers/main/training_materials/get_document?doc_id=ee6c699074c0b2440bfac3abdecb74b3d89821a8" TargetMode="External"/><Relationship Id="rId2" Type="http://schemas.openxmlformats.org/officeDocument/2006/relationships/hyperlink" Target="http://www.pcisig.com/developers/main/training_materials/get_document?doc_id=e3da4046eb5314826343d9df18b60f083880bf7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cisig.com/developers/main/training_materials/get_document?doc_id=656dc1d4f27b8fdca34f583bdc9437627bc3249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TW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1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MR</a:t>
            </a:r>
            <a:r>
              <a:rPr lang="en-US" altLang="zh-TW" sz="14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-IOV</a:t>
            </a:r>
            <a:endParaRPr lang="en-US" altLang="zh-TW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endParaRPr kumimoji="1" lang="zh-TW" alt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587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MR-IOV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8826" y="1600200"/>
            <a:ext cx="4807974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Multiple servers &amp; VMs sharing one I/O adapter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Bandwidth of the I/O adapter is shared among the servers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The I/O adapter is placed into a separate chassis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Bus extender cards are placed into the servers</a:t>
            </a:r>
            <a:endParaRPr lang="zh-TW" altLang="en-US" dirty="0"/>
          </a:p>
        </p:txBody>
      </p:sp>
      <p:sp>
        <p:nvSpPr>
          <p:cNvPr id="44034" name="AutoShape 2" descr="MR-IOV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" name="圖片 4" descr="MR-I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28" y="1723292"/>
            <a:ext cx="3431298" cy="3975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MR-IOV Topology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MR components group to create Virtual Hierarchies (VH)</a:t>
            </a:r>
          </a:p>
          <a:p>
            <a:pPr lvl="1"/>
            <a:r>
              <a:rPr kumimoji="1" lang="en-US" altLang="zh-TW" dirty="0" smtClean="0"/>
              <a:t>Virtual Hierarchy = a logical </a:t>
            </a:r>
            <a:r>
              <a:rPr kumimoji="1" lang="en-US" altLang="zh-TW" dirty="0" err="1" smtClean="0"/>
              <a:t>PCIe</a:t>
            </a:r>
            <a:r>
              <a:rPr kumimoji="1" lang="en-US" altLang="zh-TW" dirty="0" smtClean="0"/>
              <a:t> hierarchy within a MR </a:t>
            </a:r>
            <a:r>
              <a:rPr kumimoji="1" lang="en-US" altLang="zh-TW" dirty="0" smtClean="0"/>
              <a:t>topology.</a:t>
            </a:r>
          </a:p>
          <a:p>
            <a:pPr lvl="1"/>
            <a:r>
              <a:rPr kumimoji="1" lang="en-US" altLang="zh-TW" dirty="0" smtClean="0"/>
              <a:t>Each VH typically contains at least one </a:t>
            </a:r>
            <a:r>
              <a:rPr kumimoji="1" lang="en-US" altLang="zh-TW" dirty="0" err="1" smtClean="0"/>
              <a:t>PCIe</a:t>
            </a:r>
            <a:r>
              <a:rPr kumimoji="1" lang="en-US" altLang="zh-TW" dirty="0" smtClean="0"/>
              <a:t> Switch.</a:t>
            </a:r>
          </a:p>
          <a:p>
            <a:pPr lvl="1"/>
            <a:r>
              <a:rPr kumimoji="1" lang="en-US" altLang="zh-TW" dirty="0" smtClean="0"/>
              <a:t>Extends from a RP to all its EPs</a:t>
            </a:r>
          </a:p>
          <a:p>
            <a:r>
              <a:rPr kumimoji="1" lang="en-US" altLang="zh-TW" dirty="0" smtClean="0"/>
              <a:t>Each VH may contain any mix of Multi-Root Aware (MRA) Devices, SR-IOV Devices, Non-IOV Devices, or </a:t>
            </a:r>
            <a:r>
              <a:rPr kumimoji="1" lang="en-US" altLang="zh-TW" dirty="0" err="1" smtClean="0"/>
              <a:t>PCIe</a:t>
            </a:r>
            <a:r>
              <a:rPr kumimoji="1" lang="en-US" altLang="zh-TW" dirty="0" smtClean="0"/>
              <a:t> to PCI/PCI-X Bridges.</a:t>
            </a:r>
            <a:endParaRPr kumimoji="1" lang="en-US" altLang="zh-TW" dirty="0" smtClean="0"/>
          </a:p>
          <a:p>
            <a:r>
              <a:rPr kumimoji="1" lang="en-US" altLang="zh-TW" dirty="0" smtClean="0"/>
              <a:t>The MR-IOV topology typically contains at least one MRA Switch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2913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MR-IOV Topology</a:t>
            </a:r>
            <a:endParaRPr lang="zh-TW" altLang="en-US" dirty="0"/>
          </a:p>
        </p:txBody>
      </p:sp>
      <p:sp>
        <p:nvSpPr>
          <p:cNvPr id="10" name="六邊形 9"/>
          <p:cNvSpPr/>
          <p:nvPr/>
        </p:nvSpPr>
        <p:spPr>
          <a:xfrm>
            <a:off x="1318701" y="3692773"/>
            <a:ext cx="1141458" cy="766830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MRA</a:t>
            </a:r>
          </a:p>
          <a:p>
            <a:pPr algn="ctr"/>
            <a:r>
              <a:rPr lang="en-US" altLang="zh-TW" dirty="0" smtClean="0"/>
              <a:t>Switch</a:t>
            </a:r>
            <a:endParaRPr lang="zh-TW" altLang="en-US" dirty="0"/>
          </a:p>
        </p:txBody>
      </p:sp>
      <p:cxnSp>
        <p:nvCxnSpPr>
          <p:cNvPr id="26" name="肘形接點 25"/>
          <p:cNvCxnSpPr>
            <a:stCxn id="8" idx="2"/>
            <a:endCxn id="10" idx="4"/>
          </p:cNvCxnSpPr>
          <p:nvPr/>
        </p:nvCxnSpPr>
        <p:spPr>
          <a:xfrm rot="16200000" flipH="1">
            <a:off x="708691" y="2891054"/>
            <a:ext cx="931177" cy="672260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6495" y="5390779"/>
            <a:ext cx="1781434" cy="7173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MRA </a:t>
            </a:r>
            <a:r>
              <a:rPr lang="en-US" altLang="zh-TW" dirty="0" err="1" smtClean="0"/>
              <a:t>PCIe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Device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01324" y="1388217"/>
            <a:ext cx="1647573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 Complex (RC)</a:t>
            </a:r>
            <a:endParaRPr lang="en-US" altLang="zh-TW" sz="1400" dirty="0" smtClean="0"/>
          </a:p>
        </p:txBody>
      </p:sp>
      <p:sp>
        <p:nvSpPr>
          <p:cNvPr id="33" name="矩形 32"/>
          <p:cNvSpPr/>
          <p:nvPr/>
        </p:nvSpPr>
        <p:spPr>
          <a:xfrm>
            <a:off x="1935074" y="1388217"/>
            <a:ext cx="1647573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 Complex (RC)</a:t>
            </a:r>
            <a:endParaRPr lang="en-US" altLang="zh-TW" sz="1400" dirty="0" smtClean="0"/>
          </a:p>
        </p:txBody>
      </p:sp>
      <p:sp>
        <p:nvSpPr>
          <p:cNvPr id="34" name="矩形 33"/>
          <p:cNvSpPr/>
          <p:nvPr/>
        </p:nvSpPr>
        <p:spPr>
          <a:xfrm>
            <a:off x="3722530" y="1388217"/>
            <a:ext cx="1647573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 Complex (RC)</a:t>
            </a:r>
            <a:endParaRPr lang="en-US" altLang="zh-TW" sz="1400" dirty="0" smtClean="0"/>
          </a:p>
        </p:txBody>
      </p:sp>
      <p:sp>
        <p:nvSpPr>
          <p:cNvPr id="35" name="矩形 34"/>
          <p:cNvSpPr/>
          <p:nvPr/>
        </p:nvSpPr>
        <p:spPr>
          <a:xfrm>
            <a:off x="5545600" y="1388217"/>
            <a:ext cx="1647573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 Complex (RC)</a:t>
            </a:r>
            <a:endParaRPr lang="en-US" altLang="zh-TW" sz="1400" dirty="0" smtClean="0"/>
          </a:p>
        </p:txBody>
      </p:sp>
      <p:sp>
        <p:nvSpPr>
          <p:cNvPr id="9" name="矩形 8"/>
          <p:cNvSpPr/>
          <p:nvPr/>
        </p:nvSpPr>
        <p:spPr>
          <a:xfrm>
            <a:off x="2460159" y="1969508"/>
            <a:ext cx="597404" cy="79208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557415" y="1969508"/>
            <a:ext cx="561467" cy="79208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36" name="矩形 35"/>
          <p:cNvSpPr/>
          <p:nvPr/>
        </p:nvSpPr>
        <p:spPr>
          <a:xfrm>
            <a:off x="4225805" y="1969508"/>
            <a:ext cx="597404" cy="79208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37" name="矩形 36"/>
          <p:cNvSpPr/>
          <p:nvPr/>
        </p:nvSpPr>
        <p:spPr>
          <a:xfrm>
            <a:off x="6070685" y="1969508"/>
            <a:ext cx="597404" cy="79208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cxnSp>
        <p:nvCxnSpPr>
          <p:cNvPr id="42" name="肘形接點 41"/>
          <p:cNvCxnSpPr>
            <a:stCxn id="9" idx="2"/>
          </p:cNvCxnSpPr>
          <p:nvPr/>
        </p:nvCxnSpPr>
        <p:spPr>
          <a:xfrm rot="5400000">
            <a:off x="2021674" y="2955585"/>
            <a:ext cx="931176" cy="543198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/>
          <p:cNvCxnSpPr/>
          <p:nvPr/>
        </p:nvCxnSpPr>
        <p:spPr>
          <a:xfrm rot="5400000">
            <a:off x="773223" y="4653592"/>
            <a:ext cx="931176" cy="543198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/>
          <p:cNvCxnSpPr/>
          <p:nvPr/>
        </p:nvCxnSpPr>
        <p:spPr>
          <a:xfrm rot="16200000" flipH="1">
            <a:off x="2086205" y="4589061"/>
            <a:ext cx="931177" cy="672260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010329" y="5390780"/>
            <a:ext cx="1781434" cy="7173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SR-IOV </a:t>
            </a:r>
            <a:r>
              <a:rPr lang="en-US" altLang="zh-TW" dirty="0" err="1" smtClean="0"/>
              <a:t>PCIe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Device</a:t>
            </a:r>
            <a:endParaRPr lang="zh-TW" altLang="en-US" dirty="0"/>
          </a:p>
        </p:txBody>
      </p:sp>
      <p:cxnSp>
        <p:nvCxnSpPr>
          <p:cNvPr id="51" name="直線單箭頭接點 26"/>
          <p:cNvCxnSpPr/>
          <p:nvPr/>
        </p:nvCxnSpPr>
        <p:spPr>
          <a:xfrm flipH="1">
            <a:off x="2495788" y="4079631"/>
            <a:ext cx="2479083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六邊形 51"/>
          <p:cNvSpPr/>
          <p:nvPr/>
        </p:nvSpPr>
        <p:spPr>
          <a:xfrm>
            <a:off x="4974871" y="3692772"/>
            <a:ext cx="1141458" cy="766830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MRA</a:t>
            </a:r>
          </a:p>
          <a:p>
            <a:pPr algn="ctr"/>
            <a:r>
              <a:rPr lang="en-US" altLang="zh-TW" dirty="0" smtClean="0"/>
              <a:t>Switch</a:t>
            </a:r>
            <a:endParaRPr lang="zh-TW" altLang="en-US" dirty="0"/>
          </a:p>
        </p:txBody>
      </p:sp>
      <p:cxnSp>
        <p:nvCxnSpPr>
          <p:cNvPr id="55" name="肘形接點 54"/>
          <p:cNvCxnSpPr/>
          <p:nvPr/>
        </p:nvCxnSpPr>
        <p:spPr>
          <a:xfrm rot="5400000">
            <a:off x="4674333" y="4519524"/>
            <a:ext cx="663043" cy="543198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接點 55"/>
          <p:cNvCxnSpPr/>
          <p:nvPr/>
        </p:nvCxnSpPr>
        <p:spPr>
          <a:xfrm rot="16200000" flipH="1">
            <a:off x="5941719" y="4500589"/>
            <a:ext cx="754239" cy="672262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764253" y="5213840"/>
            <a:ext cx="1781434" cy="51765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to PCI Bridge</a:t>
            </a:r>
            <a:endParaRPr lang="zh-TW" altLang="en-US" dirty="0"/>
          </a:p>
        </p:txBody>
      </p:sp>
      <p:cxnSp>
        <p:nvCxnSpPr>
          <p:cNvPr id="58" name="肘形接點 57"/>
          <p:cNvCxnSpPr/>
          <p:nvPr/>
        </p:nvCxnSpPr>
        <p:spPr>
          <a:xfrm rot="16200000" flipH="1">
            <a:off x="4337758" y="2891055"/>
            <a:ext cx="931177" cy="672260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接點 58"/>
          <p:cNvCxnSpPr/>
          <p:nvPr/>
        </p:nvCxnSpPr>
        <p:spPr>
          <a:xfrm rot="5400000">
            <a:off x="5650741" y="2955586"/>
            <a:ext cx="931176" cy="543198"/>
          </a:xfrm>
          <a:prstGeom prst="bentConnector3">
            <a:avLst>
              <a:gd name="adj1" fmla="val 50000"/>
            </a:avLst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六邊形 59"/>
          <p:cNvSpPr/>
          <p:nvPr/>
        </p:nvSpPr>
        <p:spPr>
          <a:xfrm>
            <a:off x="4135995" y="5122645"/>
            <a:ext cx="1141458" cy="766830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Switch</a:t>
            </a:r>
            <a:endParaRPr lang="zh-TW" altLang="en-US" dirty="0"/>
          </a:p>
        </p:txBody>
      </p:sp>
      <p:cxnSp>
        <p:nvCxnSpPr>
          <p:cNvPr id="61" name="直線單箭頭接點 21"/>
          <p:cNvCxnSpPr/>
          <p:nvPr/>
        </p:nvCxnSpPr>
        <p:spPr>
          <a:xfrm>
            <a:off x="4734255" y="5889476"/>
            <a:ext cx="0" cy="43733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1"/>
          <p:cNvCxnSpPr/>
          <p:nvPr/>
        </p:nvCxnSpPr>
        <p:spPr>
          <a:xfrm>
            <a:off x="6654970" y="5731492"/>
            <a:ext cx="13119" cy="59531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3879887" y="6326806"/>
            <a:ext cx="1708735" cy="5311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Device</a:t>
            </a:r>
            <a:endParaRPr lang="zh-TW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836952" y="6326805"/>
            <a:ext cx="1708735" cy="5311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PCI/PCI-X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Device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Topology Overview and Terms</a:t>
            </a:r>
            <a:endParaRPr kumimoji="1"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9497" y="1637070"/>
          <a:ext cx="8967018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529"/>
                <a:gridCol w="3406877"/>
                <a:gridCol w="3539612"/>
              </a:tblGrid>
              <a:tr h="4812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SR Topology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Multi-Root Topology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Terms</a:t>
                      </a:r>
                      <a:endParaRPr lang="zh-TW" altLang="en-US" sz="2400" dirty="0"/>
                    </a:p>
                  </a:txBody>
                  <a:tcPr/>
                </a:tc>
              </a:tr>
              <a:tr h="386634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Single Root (SR) IOV Overview,</a:t>
                      </a:r>
                    </a:p>
                    <a:p>
                      <a:r>
                        <a:rPr lang="en-US" altLang="zh-TW" b="0" dirty="0" smtClean="0"/>
                        <a:t>   Only has one Root.</a:t>
                      </a:r>
                    </a:p>
                    <a:p>
                      <a:r>
                        <a:rPr lang="en-US" altLang="zh-TW" b="0" dirty="0" smtClean="0"/>
                        <a:t>   Switches</a:t>
                      </a:r>
                      <a:r>
                        <a:rPr lang="en-US" altLang="zh-TW" b="0" baseline="0" dirty="0" smtClean="0"/>
                        <a:t> only need to support</a:t>
                      </a:r>
                    </a:p>
                    <a:p>
                      <a:r>
                        <a:rPr lang="en-US" altLang="zh-TW" b="0" baseline="0" dirty="0" smtClean="0"/>
                        <a:t>   </a:t>
                      </a:r>
                      <a:r>
                        <a:rPr lang="en-US" altLang="zh-TW" b="0" baseline="0" dirty="0" err="1" smtClean="0"/>
                        <a:t>PCIe</a:t>
                      </a:r>
                      <a:r>
                        <a:rPr lang="en-US" altLang="zh-TW" b="0" baseline="0" dirty="0" smtClean="0"/>
                        <a:t> base functionality.</a:t>
                      </a:r>
                    </a:p>
                    <a:p>
                      <a:r>
                        <a:rPr lang="en-US" altLang="zh-TW" b="0" baseline="0" dirty="0" smtClean="0"/>
                        <a:t>   To make full use of IOV, EP</a:t>
                      </a:r>
                    </a:p>
                    <a:p>
                      <a:r>
                        <a:rPr lang="en-US" altLang="zh-TW" b="0" baseline="0" dirty="0" smtClean="0"/>
                        <a:t>   must support SR-IOV </a:t>
                      </a:r>
                      <a:r>
                        <a:rPr lang="en-US" altLang="zh-TW" b="0" baseline="0" dirty="0" smtClean="0"/>
                        <a:t>capabilities.</a:t>
                      </a:r>
                      <a:endParaRPr lang="en-US" altLang="zh-TW" b="0" baseline="0" dirty="0" smtClean="0"/>
                    </a:p>
                    <a:p>
                      <a:r>
                        <a:rPr lang="en-US" altLang="zh-TW" b="0" baseline="0" dirty="0" smtClean="0"/>
                        <a:t>    SR-PCIM configures the EP.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/>
                        <a:t>Multi-Root (MR) IOV Overview,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/>
                        <a:t>   One or more Roots.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/>
                        <a:t>   Switches with Multi-Root Aware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/>
                        <a:t>   (MRA) functionality are needed.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/>
                        <a:t>   To make full use of IOV, EP must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/>
                        <a:t>   support SR &amp; MR-IOV </a:t>
                      </a:r>
                      <a:r>
                        <a:rPr lang="en-US" altLang="zh-TW" b="0" baseline="0" dirty="0" smtClean="0"/>
                        <a:t>capabilities.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baseline="0" dirty="0" smtClean="0"/>
                        <a:t>   MR-PCIM assigns Virtual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baseline="0" dirty="0" smtClean="0"/>
                        <a:t>   Endpoints (VEs) to RCs and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baseline="0" dirty="0" smtClean="0"/>
                        <a:t>   manages </a:t>
                      </a:r>
                      <a:r>
                        <a:rPr lang="en-US" altLang="zh-TW" b="0" baseline="0" dirty="0" err="1" smtClean="0"/>
                        <a:t>PCIe</a:t>
                      </a:r>
                      <a:r>
                        <a:rPr lang="en-US" altLang="zh-TW" b="0" baseline="0" dirty="0" smtClean="0"/>
                        <a:t> components.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baseline="0" dirty="0" smtClean="0"/>
                        <a:t>   SR-PCIM configures its VEs.</a:t>
                      </a:r>
                      <a:r>
                        <a:rPr lang="en-US" altLang="zh-TW" b="0" dirty="0" smtClean="0"/>
                        <a:t> 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4519" y="2166660"/>
            <a:ext cx="272415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712" y="2163096"/>
            <a:ext cx="15144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12913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Multi-Root IOV function Types and Terms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7200" y="1397000"/>
          <a:ext cx="7895968" cy="4998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746"/>
                <a:gridCol w="4337222"/>
              </a:tblGrid>
              <a:tr h="5182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MR Topology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MR Topology Terms</a:t>
                      </a:r>
                      <a:endParaRPr lang="zh-TW" altLang="en-US" sz="2400" dirty="0"/>
                    </a:p>
                  </a:txBody>
                  <a:tcPr/>
                </a:tc>
              </a:tr>
              <a:tr h="418851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r>
                        <a:rPr lang="en-US" altLang="zh-TW" b="1" dirty="0" smtClean="0"/>
                        <a:t>Virtual Endpoint (VE) </a:t>
                      </a:r>
                      <a:r>
                        <a:rPr lang="en-US" altLang="zh-TW" dirty="0" smtClean="0"/>
                        <a:t>is the set of physical</a:t>
                      </a:r>
                      <a:r>
                        <a:rPr lang="en-US" altLang="zh-TW" baseline="0" dirty="0" smtClean="0"/>
                        <a:t> and virtual functions assigned to an RC.</a:t>
                      </a:r>
                    </a:p>
                    <a:p>
                      <a:r>
                        <a:rPr lang="en-US" altLang="zh-TW" baseline="0" dirty="0" smtClean="0"/>
                        <a:t>Each VE is assigned to a Virtual Hierarchy (VH).</a:t>
                      </a:r>
                    </a:p>
                    <a:p>
                      <a:endParaRPr lang="en-US" altLang="zh-TW" baseline="0" dirty="0" smtClean="0"/>
                    </a:p>
                    <a:p>
                      <a:r>
                        <a:rPr lang="en-US" altLang="zh-TW" b="1" baseline="0" dirty="0" smtClean="0"/>
                        <a:t>Virtual Hierarchy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="1" baseline="0" dirty="0" smtClean="0"/>
                        <a:t>(VH)</a:t>
                      </a:r>
                      <a:r>
                        <a:rPr lang="en-US" altLang="zh-TW" baseline="0" dirty="0" smtClean="0"/>
                        <a:t> is a fully functional </a:t>
                      </a:r>
                      <a:r>
                        <a:rPr lang="en-US" altLang="zh-TW" baseline="0" dirty="0" err="1" smtClean="0"/>
                        <a:t>PCIe</a:t>
                      </a:r>
                      <a:r>
                        <a:rPr lang="en-US" altLang="zh-TW" baseline="0" dirty="0" smtClean="0"/>
                        <a:t> hierarchy that is assigned to an RC or MR-PCIM. Note, all PFs and VFs in a VE are assigned the same VH.</a:t>
                      </a:r>
                    </a:p>
                    <a:p>
                      <a:endParaRPr lang="en-US" altLang="zh-TW" b="1" baseline="0" dirty="0" smtClean="0"/>
                    </a:p>
                    <a:p>
                      <a:r>
                        <a:rPr lang="en-US" altLang="zh-TW" b="1" baseline="0" dirty="0" smtClean="0"/>
                        <a:t>Base Function (BF) </a:t>
                      </a:r>
                      <a:r>
                        <a:rPr lang="en-US" altLang="zh-TW" baseline="0" dirty="0" smtClean="0"/>
                        <a:t>only 1 per EP and is used by MR-PCIM to manage an MR aware EP (e.g. assigning functions to Virtual Endpoints).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38157"/>
            <a:ext cx="36004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Multi-Root Aware Root Port (MRA RP</a:t>
            </a:r>
            <a:r>
              <a:rPr lang="en-US" altLang="zh-TW" i="1" dirty="0" smtClean="0"/>
              <a:t>)</a:t>
            </a:r>
          </a:p>
          <a:p>
            <a:endParaRPr lang="it-IT" altLang="zh-TW" i="1" dirty="0" smtClean="0"/>
          </a:p>
          <a:p>
            <a:r>
              <a:rPr lang="it-IT" altLang="zh-TW" i="1" dirty="0" smtClean="0"/>
              <a:t>Multi-Root </a:t>
            </a:r>
            <a:r>
              <a:rPr lang="it-IT" altLang="zh-TW" i="1" dirty="0" smtClean="0"/>
              <a:t>Aware Device (MRA Device</a:t>
            </a:r>
            <a:r>
              <a:rPr lang="it-IT" altLang="zh-TW" i="1" dirty="0" smtClean="0"/>
              <a:t>)</a:t>
            </a:r>
          </a:p>
          <a:p>
            <a:endParaRPr lang="en-US" altLang="zh-TW" i="1" dirty="0" smtClean="0"/>
          </a:p>
          <a:p>
            <a:r>
              <a:rPr lang="en-US" altLang="zh-TW" i="1" dirty="0" smtClean="0"/>
              <a:t>Multi-Root </a:t>
            </a:r>
            <a:r>
              <a:rPr lang="en-US" altLang="zh-TW" i="1" dirty="0" smtClean="0"/>
              <a:t>PCI Manager (MR-PCIM</a:t>
            </a:r>
            <a:r>
              <a:rPr lang="en-US" altLang="zh-TW" i="1" dirty="0" smtClean="0"/>
              <a:t>)</a:t>
            </a:r>
          </a:p>
          <a:p>
            <a:endParaRPr lang="en-US" altLang="zh-TW" i="1" dirty="0" smtClean="0"/>
          </a:p>
          <a:p>
            <a:r>
              <a:rPr lang="en-US" altLang="zh-TW" i="1" dirty="0" smtClean="0"/>
              <a:t>Multi-Root </a:t>
            </a:r>
            <a:r>
              <a:rPr lang="en-US" altLang="zh-TW" i="1" dirty="0" smtClean="0"/>
              <a:t>Aware Switch (MRA Switch</a:t>
            </a:r>
            <a:r>
              <a:rPr lang="en-US" altLang="zh-TW" i="1" dirty="0" smtClean="0"/>
              <a:t>)</a:t>
            </a:r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Multi-Root Aware Root Port (MRA RP)</a:t>
            </a:r>
          </a:p>
          <a:p>
            <a:pPr lvl="1"/>
            <a:r>
              <a:rPr lang="en-US" altLang="zh-TW" dirty="0" smtClean="0"/>
              <a:t>Maintain state to delineate each VH. At a high level, this amounts to a set of resource mapping tables to translate the I/O function associated with each SI into a VH and MR I/O function identifier.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Participate in the MR transaction encapsulation protocol to enable an MRA Switch to derive the VH and associated routing information.</a:t>
            </a:r>
          </a:p>
          <a:p>
            <a:pPr lvl="1"/>
            <a:r>
              <a:rPr lang="en-US" altLang="zh-TW" dirty="0" smtClean="0"/>
              <a:t>Emit an MR Link. An MR Link is identical to the physical layer of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Link as defined in the </a:t>
            </a:r>
            <a:r>
              <a:rPr lang="en-US" altLang="zh-TW" i="1" dirty="0" smtClean="0"/>
              <a:t>PCI Express Base Specification.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Multi-Root Aware Root Port (MRA RP)</a:t>
            </a:r>
          </a:p>
          <a:p>
            <a:pPr lvl="1"/>
            <a:r>
              <a:rPr lang="en-US" altLang="zh-TW" dirty="0" smtClean="0"/>
              <a:t>Implement MRA congestion management. 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It does not forward TLPs for VHs where it is not the root. If this functionality is required, the MRA Root Complex may contain an embedded MRA Switch.</a:t>
            </a:r>
          </a:p>
          <a:p>
            <a:pPr lvl="2"/>
            <a:r>
              <a:rPr lang="en-US" altLang="zh-TW" dirty="0" smtClean="0"/>
              <a:t>A Translation Agent (TA) parses the contents of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DMA request transaction (TLP)</a:t>
            </a:r>
            <a:endParaRPr lang="en-US" altLang="zh-TW" dirty="0" smtClean="0"/>
          </a:p>
        </p:txBody>
      </p:sp>
      <p:pic>
        <p:nvPicPr>
          <p:cNvPr id="5" name="圖片 4" descr="PastedGraphic-1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4409346"/>
            <a:ext cx="5067300" cy="19304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729946" y="6339746"/>
            <a:ext cx="632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/>
              <a:t>PCIe</a:t>
            </a:r>
            <a:r>
              <a:rPr lang="en-US" altLang="zh-TW" b="1" dirty="0" smtClean="0"/>
              <a:t> RP and MRA RP and MRA RP Functional Block Comparison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MRA Components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smtClean="0"/>
              <a:t>Multi-Root Aware </a:t>
            </a:r>
            <a:r>
              <a:rPr kumimoji="1" lang="en-US" altLang="zh-TW" dirty="0" smtClean="0"/>
              <a:t>Device(MRA </a:t>
            </a:r>
            <a:r>
              <a:rPr kumimoji="1" lang="en-US" altLang="zh-TW" dirty="0" smtClean="0"/>
              <a:t>Device</a:t>
            </a:r>
            <a:r>
              <a:rPr kumimoji="1" lang="en-US" altLang="zh-TW" dirty="0" smtClean="0"/>
              <a:t>)</a:t>
            </a:r>
          </a:p>
          <a:p>
            <a:pPr lvl="1"/>
            <a:r>
              <a:rPr kumimoji="1" lang="en-US" altLang="zh-TW" dirty="0" smtClean="0"/>
              <a:t>Must support the new MR-IOV DLLP protocol.</a:t>
            </a:r>
          </a:p>
          <a:p>
            <a:pPr lvl="2"/>
            <a:r>
              <a:rPr kumimoji="1" lang="en-US" altLang="zh-TW" dirty="0" smtClean="0"/>
              <a:t>Non-IOV Devices and SR-IOV Devices do not support the MR-IOV capability and therefore are unable to participate in this protocol.</a:t>
            </a:r>
          </a:p>
          <a:p>
            <a:pPr lvl="2"/>
            <a:endParaRPr kumimoji="1" lang="en-US" altLang="zh-TW" dirty="0" smtClean="0"/>
          </a:p>
          <a:p>
            <a:pPr lvl="2"/>
            <a:r>
              <a:rPr kumimoji="1" lang="en-US" altLang="zh-TW" dirty="0" smtClean="0"/>
              <a:t>An MRA Switch must assume all responsibility for forwarding transactions and event handling </a:t>
            </a:r>
            <a:r>
              <a:rPr kumimoji="1" lang="en-US" altLang="zh-TW" dirty="0" smtClean="0"/>
              <a:t>on behalf of these devices through the MR-IOV topology.</a:t>
            </a:r>
          </a:p>
          <a:p>
            <a:pPr lvl="2"/>
            <a:endParaRPr kumimoji="1" lang="en-US" altLang="zh-TW" dirty="0" smtClean="0"/>
          </a:p>
          <a:p>
            <a:pPr lvl="2"/>
            <a:r>
              <a:rPr kumimoji="1" lang="en-US" altLang="zh-TW" dirty="0" smtClean="0"/>
              <a:t>The MRA Switch performs all encapsulation or de-encapsulation as appropriate.</a:t>
            </a:r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2913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Multi-Root Aware Device(MRA Device)</a:t>
            </a:r>
          </a:p>
          <a:p>
            <a:pPr lvl="1"/>
            <a:r>
              <a:rPr kumimoji="1" lang="en-US" altLang="zh-TW" dirty="0" smtClean="0"/>
              <a:t>Must </a:t>
            </a:r>
            <a:r>
              <a:rPr kumimoji="1" lang="en-US" altLang="zh-TW" dirty="0" smtClean="0"/>
              <a:t>support the MR-IOV transaction encapsulation protocol.</a:t>
            </a:r>
          </a:p>
          <a:p>
            <a:pPr lvl="2"/>
            <a:r>
              <a:rPr kumimoji="1" lang="en-US" altLang="zh-TW" dirty="0" smtClean="0"/>
              <a:t>The MR-IOV encapsulation protocol provides VH identification information to the MRA Switch to enable the transaction to be transparently forwarded through the MR-IOV topology without requiring modification to </a:t>
            </a:r>
            <a:r>
              <a:rPr kumimoji="1" lang="en-US" altLang="zh-TW" i="1" dirty="0" smtClean="0"/>
              <a:t>the PCI Express Base Specification</a:t>
            </a:r>
            <a:r>
              <a:rPr kumimoji="1" lang="en-US" altLang="zh-TW" dirty="0" smtClean="0"/>
              <a:t> TLP protocol or contents.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29130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Multi-Root Aware Device(MRA Device)</a:t>
            </a:r>
          </a:p>
          <a:p>
            <a:pPr lvl="1"/>
            <a:r>
              <a:rPr lang="en-US" altLang="zh-TW" dirty="0" smtClean="0"/>
              <a:t>It is composed of a set of Functions in each VH.</a:t>
            </a:r>
          </a:p>
          <a:p>
            <a:r>
              <a:rPr lang="en-US" altLang="zh-TW" dirty="0" smtClean="0"/>
              <a:t>There are a variety of Function types:</a:t>
            </a:r>
          </a:p>
          <a:p>
            <a:pPr lvl="1"/>
            <a:r>
              <a:rPr lang="en-US" altLang="zh-TW" dirty="0" smtClean="0"/>
              <a:t>BF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PF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VF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Non-IOV Function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BF</a:t>
            </a:r>
            <a:r>
              <a:rPr lang="en-US" altLang="zh-TW" dirty="0" smtClean="0"/>
              <a:t> is a function compliant with this specification that includes the MR-IOV Capability. A BF shall not contain an SR-IOV Capability.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PF</a:t>
            </a:r>
            <a:r>
              <a:rPr lang="en-US" altLang="zh-TW" dirty="0" smtClean="0"/>
              <a:t> is a Function compliant with the </a:t>
            </a:r>
            <a:r>
              <a:rPr lang="en-US" altLang="zh-TW" i="1" dirty="0" smtClean="0"/>
              <a:t>PCI Express Base Specification that includes the SR-IOV </a:t>
            </a:r>
            <a:r>
              <a:rPr lang="en-US" altLang="zh-TW" dirty="0" smtClean="0"/>
              <a:t>Extended Capability. Every PF is associated with a BF. The Function Offset fields in a BF’s Function Table point to the PFs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VF</a:t>
            </a:r>
            <a:r>
              <a:rPr lang="en-US" altLang="zh-TW" dirty="0" smtClean="0"/>
              <a:t> is a Function associated with a PF and is described in the </a:t>
            </a:r>
            <a:r>
              <a:rPr lang="en-US" altLang="zh-TW" i="1" dirty="0" smtClean="0"/>
              <a:t>Single-Root I/O </a:t>
            </a:r>
            <a:r>
              <a:rPr lang="en-US" altLang="zh-TW" i="1" dirty="0" smtClean="0"/>
              <a:t>Virtualization and </a:t>
            </a:r>
            <a:r>
              <a:rPr lang="en-US" altLang="zh-TW" i="1" dirty="0" smtClean="0"/>
              <a:t>Sharing Specification. VFs are associated with a PF and are thus indirectly </a:t>
            </a:r>
            <a:r>
              <a:rPr lang="en-US" altLang="zh-TW" i="1" dirty="0" smtClean="0"/>
              <a:t>as </a:t>
            </a:r>
            <a:r>
              <a:rPr lang="en-US" altLang="zh-TW" i="1" dirty="0" err="1" smtClean="0"/>
              <a:t>asociated</a:t>
            </a:r>
            <a:r>
              <a:rPr lang="en-US" altLang="zh-TW" i="1" dirty="0" smtClean="0"/>
              <a:t> </a:t>
            </a:r>
            <a:r>
              <a:rPr lang="en-US" altLang="zh-TW" i="1" dirty="0" smtClean="0"/>
              <a:t>with </a:t>
            </a:r>
            <a:r>
              <a:rPr lang="en-US" altLang="zh-TW" i="1" dirty="0" smtClean="0"/>
              <a:t>a </a:t>
            </a:r>
            <a:r>
              <a:rPr lang="en-US" altLang="zh-TW" dirty="0" smtClean="0"/>
              <a:t>BF.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Non-IOV</a:t>
            </a:r>
            <a:r>
              <a:rPr lang="en-US" altLang="zh-TW" dirty="0" smtClean="0"/>
              <a:t> Function is a Function that is not a BF, PF, or VF. Non-IOV Functions </a:t>
            </a:r>
            <a:r>
              <a:rPr lang="en-US" altLang="zh-TW" dirty="0" smtClean="0"/>
              <a:t>may or </a:t>
            </a:r>
            <a:r>
              <a:rPr lang="en-US" altLang="zh-TW" dirty="0" smtClean="0"/>
              <a:t>may not be associated with a BF.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6186" y="1204913"/>
            <a:ext cx="7190860" cy="4866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729946" y="6339746"/>
            <a:ext cx="632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Non-IOV, SR-IOV, and MRA Device Functional Block Comparison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i="1" dirty="0" smtClean="0"/>
              <a:t>Multi-Root PCI Manager (MR-PCIM</a:t>
            </a:r>
            <a:r>
              <a:rPr lang="en-US" altLang="zh-TW" i="1" dirty="0" smtClean="0"/>
              <a:t>)</a:t>
            </a:r>
          </a:p>
          <a:p>
            <a:pPr lvl="1"/>
            <a:r>
              <a:rPr lang="en-US" altLang="zh-TW" dirty="0" smtClean="0"/>
              <a:t>Each MRA component must support a corresponding MR-IOV capability. This capability </a:t>
            </a:r>
            <a:r>
              <a:rPr lang="en-US" altLang="zh-TW" dirty="0" smtClean="0"/>
              <a:t>is accessed </a:t>
            </a:r>
            <a:r>
              <a:rPr lang="en-US" altLang="zh-TW" dirty="0" smtClean="0"/>
              <a:t>and configured by the Multi Root PCI Manager (MR-PCIM). 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MR-PCIM </a:t>
            </a:r>
            <a:r>
              <a:rPr lang="en-US" altLang="zh-TW" dirty="0" smtClean="0"/>
              <a:t>can </a:t>
            </a:r>
            <a:r>
              <a:rPr lang="en-US" altLang="zh-TW" dirty="0" smtClean="0"/>
              <a:t>be implemented </a:t>
            </a:r>
            <a:r>
              <a:rPr lang="en-US" altLang="zh-TW" dirty="0" smtClean="0"/>
              <a:t>anywhere within the MR-IOV </a:t>
            </a:r>
            <a:r>
              <a:rPr lang="en-US" altLang="zh-TW" dirty="0" smtClean="0"/>
              <a:t>topology.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Alternatively</a:t>
            </a:r>
            <a:r>
              <a:rPr lang="en-US" altLang="zh-TW" dirty="0" smtClean="0"/>
              <a:t>, MR-PCIM </a:t>
            </a:r>
            <a:r>
              <a:rPr lang="en-US" altLang="zh-TW" dirty="0" smtClean="0"/>
              <a:t>can manage </a:t>
            </a:r>
            <a:r>
              <a:rPr lang="en-US" altLang="zh-TW" dirty="0" smtClean="0"/>
              <a:t>the MR-IOV topology through a private interface provided by an MRA Switch.</a:t>
            </a:r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9398" y="1581150"/>
            <a:ext cx="6861347" cy="425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2817341" y="6339746"/>
            <a:ext cx="632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MRA PCIM in an MR-IOV Topology</a:t>
            </a:r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i="1" dirty="0" smtClean="0"/>
              <a:t>Multi-Root Aware Switch (MRA Switch</a:t>
            </a:r>
            <a:r>
              <a:rPr lang="en-US" altLang="zh-TW" i="1" dirty="0" smtClean="0"/>
              <a:t>)</a:t>
            </a:r>
          </a:p>
          <a:p>
            <a:pPr lvl="1"/>
            <a:r>
              <a:rPr lang="en-US" altLang="zh-TW" dirty="0" smtClean="0"/>
              <a:t>In contrast to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Switch, an MRA Switch is as follows</a:t>
            </a:r>
            <a:r>
              <a:rPr lang="en-US" altLang="zh-TW" dirty="0" smtClean="0"/>
              <a:t>:</a:t>
            </a:r>
          </a:p>
          <a:p>
            <a:pPr lvl="2"/>
            <a:r>
              <a:rPr lang="en-US" altLang="zh-TW" dirty="0" smtClean="0"/>
              <a:t>An MRA Switch is composed of zero or more upstream Ports attached to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RP or </a:t>
            </a:r>
            <a:r>
              <a:rPr lang="en-US" altLang="zh-TW" dirty="0" smtClean="0"/>
              <a:t>an MRA </a:t>
            </a:r>
            <a:r>
              <a:rPr lang="en-US" altLang="zh-TW" dirty="0" smtClean="0"/>
              <a:t>RP or the downstream Port of an Switch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An MRA Switch is composed of zero or more downstream Ports attached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</a:t>
            </a:r>
            <a:r>
              <a:rPr lang="en-US" altLang="zh-TW" dirty="0" smtClean="0"/>
              <a:t>Devices, MRA </a:t>
            </a:r>
            <a:r>
              <a:rPr lang="en-US" altLang="zh-TW" dirty="0" smtClean="0"/>
              <a:t>Devices,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Switch upstream Ports, or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to PCI/PCI-X Bridges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An MRA Switch is composed of zero or more bidirectional Ports attached to other </a:t>
            </a:r>
            <a:r>
              <a:rPr lang="en-US" altLang="zh-TW" dirty="0" smtClean="0"/>
              <a:t>MRA Switches </a:t>
            </a:r>
            <a:r>
              <a:rPr lang="en-US" altLang="zh-TW" dirty="0" smtClean="0"/>
              <a:t>or MRA RPs.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A set of logical P2P bridges that constitute a VH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Each VH represents a separate address space.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Components</a:t>
            </a:r>
            <a:endParaRPr lang="zh-TW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3744" y="1019430"/>
            <a:ext cx="7873056" cy="363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4652317"/>
            <a:ext cx="8229600" cy="2205683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Virtual Switch per VH </a:t>
            </a:r>
          </a:p>
          <a:p>
            <a:pPr lvl="1"/>
            <a:r>
              <a:rPr lang="en-US" altLang="zh-TW" dirty="0" err="1" smtClean="0"/>
              <a:t>PCIe</a:t>
            </a:r>
            <a:r>
              <a:rPr lang="en-US" altLang="zh-TW" dirty="0" smtClean="0"/>
              <a:t> Type1 CFG space per VH</a:t>
            </a:r>
          </a:p>
          <a:p>
            <a:pPr lvl="1"/>
            <a:r>
              <a:rPr lang="en-US" altLang="zh-TW" dirty="0" smtClean="0"/>
              <a:t>Virtual Hot plug control, Power management tracking, Isolation, Error containment &amp; processing per VH</a:t>
            </a:r>
          </a:p>
          <a:p>
            <a:r>
              <a:rPr lang="en-US" altLang="zh-TW" dirty="0" smtClean="0"/>
              <a:t>VP protocol support </a:t>
            </a:r>
          </a:p>
          <a:p>
            <a:pPr lvl="1"/>
            <a:r>
              <a:rPr lang="en-US" altLang="zh-TW" dirty="0" smtClean="0"/>
              <a:t>Insert/Remove VP label 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Process Reset DLLP</a:t>
            </a:r>
          </a:p>
          <a:p>
            <a:r>
              <a:rPr lang="en-US" altLang="zh-TW" dirty="0" smtClean="0"/>
              <a:t>PCIM interface</a:t>
            </a:r>
          </a:p>
          <a:p>
            <a:pPr lvl="1"/>
            <a:r>
              <a:rPr lang="en-US" altLang="zh-TW" dirty="0" smtClean="0"/>
              <a:t>SW registers model for MR PCIM control of shared resources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72081" y="1322173"/>
            <a:ext cx="1898822" cy="3595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MRA Endpoint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93275" y="1600200"/>
            <a:ext cx="4250725" cy="4525963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VP protocol support</a:t>
            </a:r>
          </a:p>
          <a:p>
            <a:pPr lvl="1"/>
            <a:r>
              <a:rPr lang="en-US" altLang="zh-TW" dirty="0" smtClean="0"/>
              <a:t>Insert/Remove VP label at DLL</a:t>
            </a:r>
          </a:p>
          <a:p>
            <a:pPr lvl="1"/>
            <a:r>
              <a:rPr lang="en-US" altLang="zh-TW" dirty="0" smtClean="0"/>
              <a:t>Process DLLP for VP RESET</a:t>
            </a:r>
          </a:p>
          <a:p>
            <a:r>
              <a:rPr lang="en-US" altLang="zh-TW" dirty="0" smtClean="0"/>
              <a:t>Virtual Endpoint(s) per VH</a:t>
            </a:r>
          </a:p>
          <a:p>
            <a:pPr lvl="1"/>
            <a:r>
              <a:rPr lang="en-US" altLang="zh-TW" dirty="0" smtClean="0"/>
              <a:t>Type 0 CFG space per VH </a:t>
            </a:r>
          </a:p>
          <a:p>
            <a:pPr lvl="1"/>
            <a:r>
              <a:rPr lang="en-US" altLang="zh-TW" dirty="0" smtClean="0"/>
              <a:t>IOV capabilities within VH for SR IOV  support</a:t>
            </a:r>
          </a:p>
          <a:p>
            <a:r>
              <a:rPr lang="en-US" altLang="zh-TW" dirty="0" smtClean="0"/>
              <a:t>PCIM interface</a:t>
            </a:r>
          </a:p>
          <a:p>
            <a:pPr lvl="1"/>
            <a:r>
              <a:rPr lang="en-US" altLang="zh-TW" dirty="0" smtClean="0"/>
              <a:t>Registers for MR PCIM control </a:t>
            </a:r>
          </a:p>
          <a:p>
            <a:pPr lvl="1"/>
            <a:r>
              <a:rPr lang="en-US" altLang="zh-TW" dirty="0" smtClean="0"/>
              <a:t>Included in IOV CFG space of PF</a:t>
            </a:r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7200" y="1600200"/>
            <a:ext cx="1075038" cy="438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PHY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254" y="1971932"/>
            <a:ext cx="1540476" cy="438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DLL</a:t>
            </a:r>
            <a:endParaRPr lang="zh-TW" altLang="en-US" dirty="0"/>
          </a:p>
        </p:txBody>
      </p:sp>
      <p:cxnSp>
        <p:nvCxnSpPr>
          <p:cNvPr id="7" name="直線單箭頭接點 6"/>
          <p:cNvCxnSpPr>
            <a:stCxn id="5" idx="2"/>
          </p:cNvCxnSpPr>
          <p:nvPr/>
        </p:nvCxnSpPr>
        <p:spPr>
          <a:xfrm>
            <a:off x="1021492" y="2410597"/>
            <a:ext cx="0" cy="72801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77794" y="3138616"/>
            <a:ext cx="1087395" cy="43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PF0</a:t>
            </a:r>
            <a:endParaRPr lang="zh-TW" altLang="en-US" dirty="0"/>
          </a:p>
        </p:txBody>
      </p:sp>
      <p:cxnSp>
        <p:nvCxnSpPr>
          <p:cNvPr id="12" name="直線接點 11"/>
          <p:cNvCxnSpPr>
            <a:stCxn id="10" idx="2"/>
          </p:cNvCxnSpPr>
          <p:nvPr/>
        </p:nvCxnSpPr>
        <p:spPr>
          <a:xfrm>
            <a:off x="1021492" y="3577281"/>
            <a:ext cx="0" cy="302741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1254" y="3880022"/>
            <a:ext cx="1594022" cy="8031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Device Specific Functionality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07772" y="4683212"/>
            <a:ext cx="385119" cy="51898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1339678" y="4683211"/>
            <a:ext cx="385119" cy="51898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187146" y="1326289"/>
            <a:ext cx="2458995" cy="3595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2772075" y="1604316"/>
            <a:ext cx="1075038" cy="438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PHY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566129" y="1976048"/>
            <a:ext cx="1540476" cy="438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DLL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 flipH="1">
            <a:off x="2566129" y="2414713"/>
            <a:ext cx="405713" cy="69918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450804" y="3142732"/>
            <a:ext cx="543698" cy="43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PF0</a:t>
            </a:r>
            <a:endParaRPr lang="zh-TW" altLang="en-US" dirty="0"/>
          </a:p>
        </p:txBody>
      </p:sp>
      <p:cxnSp>
        <p:nvCxnSpPr>
          <p:cNvPr id="23" name="直線接點 22"/>
          <p:cNvCxnSpPr>
            <a:stCxn id="22" idx="2"/>
          </p:cNvCxnSpPr>
          <p:nvPr/>
        </p:nvCxnSpPr>
        <p:spPr>
          <a:xfrm flipH="1">
            <a:off x="2722647" y="3581397"/>
            <a:ext cx="6" cy="273911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566129" y="3884138"/>
            <a:ext cx="1594022" cy="8031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Device Specific Functionality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722647" y="4687328"/>
            <a:ext cx="385119" cy="51898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3654553" y="4687327"/>
            <a:ext cx="385119" cy="51898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3058343" y="3142732"/>
            <a:ext cx="543698" cy="438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PF1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3718400" y="3142732"/>
            <a:ext cx="543698" cy="438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PF2</a:t>
            </a:r>
            <a:endParaRPr lang="zh-TW" altLang="en-US" dirty="0"/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3323962" y="3564924"/>
            <a:ext cx="6" cy="273911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4039666" y="3564924"/>
            <a:ext cx="6" cy="273911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0" idx="2"/>
          </p:cNvCxnSpPr>
          <p:nvPr/>
        </p:nvCxnSpPr>
        <p:spPr>
          <a:xfrm flipH="1">
            <a:off x="3323962" y="2414713"/>
            <a:ext cx="12405" cy="69918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3859519" y="2443543"/>
            <a:ext cx="180147" cy="670359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214183" y="5560541"/>
            <a:ext cx="1935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1.X Endpoint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487875" y="5560541"/>
            <a:ext cx="1935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MRA Endpoint</a:t>
            </a:r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Base-SR-MR EP Progression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63295" y="1600200"/>
            <a:ext cx="3607709" cy="4911811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MR Endpoints function as SR or Base Endpoints</a:t>
            </a:r>
          </a:p>
          <a:p>
            <a:pPr lvl="1"/>
            <a:r>
              <a:rPr lang="en-US" altLang="zh-TW" dirty="0" smtClean="0"/>
              <a:t>MR capabilities unused by non-MRA SW</a:t>
            </a:r>
          </a:p>
          <a:p>
            <a:pPr lvl="1"/>
            <a:r>
              <a:rPr lang="en-US" altLang="zh-TW" dirty="0" smtClean="0"/>
              <a:t>ALL SR capabilities included in MR device</a:t>
            </a:r>
          </a:p>
          <a:p>
            <a:r>
              <a:rPr lang="en-US" altLang="zh-TW" dirty="0" smtClean="0"/>
              <a:t>SR Endpoints function as Base Endpoints</a:t>
            </a:r>
          </a:p>
          <a:p>
            <a:pPr lvl="1"/>
            <a:r>
              <a:rPr lang="en-US" altLang="zh-TW" dirty="0" smtClean="0"/>
              <a:t>IOV capability register ignored by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SW</a:t>
            </a:r>
          </a:p>
          <a:p>
            <a:r>
              <a:rPr lang="en-US" altLang="zh-TW" dirty="0" smtClean="0"/>
              <a:t>Goal is to minimize cost of new functions</a:t>
            </a:r>
          </a:p>
          <a:p>
            <a:pPr lvl="1"/>
            <a:r>
              <a:rPr lang="en-US" altLang="zh-TW" dirty="0" smtClean="0"/>
              <a:t>Minimal CFG space replication</a:t>
            </a:r>
            <a:br>
              <a:rPr lang="en-US" altLang="zh-TW" dirty="0" smtClean="0"/>
            </a:br>
            <a:r>
              <a:rPr lang="en-US" altLang="zh-TW" dirty="0" smtClean="0"/>
              <a:t>Minimal logic impact of new functions</a:t>
            </a:r>
            <a:endParaRPr lang="zh-TW" altLang="en-US" dirty="0"/>
          </a:p>
        </p:txBody>
      </p:sp>
      <p:pic>
        <p:nvPicPr>
          <p:cNvPr id="4" name="內容版面配置區 3" descr="PastedGraphic-17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638" y="1600200"/>
            <a:ext cx="5202658" cy="47995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Virtual Plane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TLP Tag</a:t>
            </a:r>
          </a:p>
          <a:p>
            <a:pPr lvl="1"/>
            <a:r>
              <a:rPr lang="en-US" altLang="zh-TW" dirty="0" smtClean="0"/>
              <a:t>Inserted/removed at DLL</a:t>
            </a:r>
          </a:p>
          <a:p>
            <a:pPr lvl="2"/>
            <a:r>
              <a:rPr lang="en-US" altLang="zh-TW" dirty="0" smtClean="0"/>
              <a:t>TLP is unmodified</a:t>
            </a:r>
          </a:p>
          <a:p>
            <a:pPr lvl="2"/>
            <a:r>
              <a:rPr lang="en-US" altLang="zh-TW" dirty="0" smtClean="0"/>
              <a:t>TLP processing uses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1.x rules</a:t>
            </a:r>
          </a:p>
          <a:p>
            <a:pPr lvl="1"/>
            <a:r>
              <a:rPr lang="en-US" altLang="zh-TW" dirty="0" smtClean="0"/>
              <a:t>Targeted for support of 256 VP</a:t>
            </a:r>
          </a:p>
          <a:p>
            <a:pPr lvl="2"/>
            <a:r>
              <a:rPr lang="en-US" altLang="zh-TW" dirty="0" smtClean="0"/>
              <a:t>Room for expansion to more VP or more functions</a:t>
            </a:r>
          </a:p>
          <a:p>
            <a:pPr lvl="2"/>
            <a:r>
              <a:rPr lang="en-US" altLang="zh-TW" dirty="0" smtClean="0"/>
              <a:t>Devices may support from 1 to 256 VP</a:t>
            </a:r>
          </a:p>
          <a:p>
            <a:r>
              <a:rPr lang="en-US" altLang="zh-TW" dirty="0" smtClean="0"/>
              <a:t>RESET DLLP</a:t>
            </a:r>
          </a:p>
          <a:p>
            <a:pPr lvl="1"/>
            <a:r>
              <a:rPr lang="en-US" altLang="zh-TW" dirty="0" smtClean="0"/>
              <a:t>Per plane RESET DLLP</a:t>
            </a:r>
          </a:p>
          <a:p>
            <a:pPr lvl="2"/>
            <a:r>
              <a:rPr lang="en-US" altLang="zh-TW" dirty="0" smtClean="0"/>
              <a:t>Guaranteed progress under all topology conditions</a:t>
            </a:r>
          </a:p>
          <a:p>
            <a:pPr lvl="2"/>
            <a:r>
              <a:rPr lang="en-US" altLang="zh-TW" dirty="0" smtClean="0"/>
              <a:t>TLP messages can stall due to FC </a:t>
            </a:r>
            <a:r>
              <a:rPr lang="en-US" altLang="zh-TW" dirty="0" err="1" smtClean="0"/>
              <a:t>congesion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Propagates using RESET logical rules </a:t>
            </a:r>
          </a:p>
          <a:p>
            <a:pPr lvl="2"/>
            <a:r>
              <a:rPr lang="en-US" altLang="zh-TW" dirty="0" smtClean="0"/>
              <a:t>Provides a mirror of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RESET within a plane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Tagging TLPs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99004" y="1600200"/>
            <a:ext cx="4287795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Header for all TLPs on MR link</a:t>
            </a:r>
          </a:p>
          <a:p>
            <a:pPr lvl="1"/>
            <a:r>
              <a:rPr lang="en-US" altLang="zh-TW" dirty="0" smtClean="0"/>
              <a:t>Not included on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1.X links</a:t>
            </a:r>
          </a:p>
          <a:p>
            <a:r>
              <a:rPr lang="en-US" altLang="zh-TW" dirty="0" smtClean="0"/>
              <a:t>Header included on all TLPs</a:t>
            </a:r>
          </a:p>
          <a:p>
            <a:pPr lvl="1"/>
            <a:r>
              <a:rPr lang="en-US" altLang="zh-TW" dirty="0" smtClean="0"/>
              <a:t>Stable during retransmissions</a:t>
            </a:r>
          </a:p>
          <a:p>
            <a:r>
              <a:rPr lang="en-US" altLang="zh-TW" dirty="0" smtClean="0"/>
              <a:t>Located between Sequence # and TLP </a:t>
            </a:r>
            <a:r>
              <a:rPr lang="en-US" altLang="zh-TW" dirty="0" err="1" smtClean="0"/>
              <a:t>Hdr</a:t>
            </a:r>
            <a:endParaRPr lang="en-US" altLang="zh-TW" dirty="0" smtClean="0"/>
          </a:p>
          <a:p>
            <a:r>
              <a:rPr lang="en-US" altLang="zh-TW" dirty="0" smtClean="0"/>
              <a:t>ACK/Sequence # concept remains per link</a:t>
            </a:r>
          </a:p>
          <a:p>
            <a:pPr lvl="1"/>
            <a:r>
              <a:rPr lang="en-US" altLang="zh-TW" dirty="0" smtClean="0"/>
              <a:t>Not affected by Virtual Plane changes</a:t>
            </a:r>
          </a:p>
          <a:p>
            <a:pPr lvl="1"/>
            <a:r>
              <a:rPr lang="en-US" altLang="zh-TW" dirty="0" smtClean="0"/>
              <a:t>Like VC today</a:t>
            </a:r>
          </a:p>
          <a:p>
            <a:r>
              <a:rPr lang="en-US" altLang="zh-TW" dirty="0" smtClean="0"/>
              <a:t>Header covered by LCRC</a:t>
            </a:r>
          </a:p>
          <a:p>
            <a:pPr lvl="1"/>
            <a:r>
              <a:rPr lang="en-US" altLang="zh-TW" dirty="0" smtClean="0"/>
              <a:t>VP# bits are not part of ECRC</a:t>
            </a:r>
            <a:endParaRPr lang="zh-TW" altLang="en-US" dirty="0"/>
          </a:p>
        </p:txBody>
      </p:sp>
      <p:pic>
        <p:nvPicPr>
          <p:cNvPr id="4" name="內容版面配置區 4" descr="PastedGraphic-2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7500" y="2758281"/>
            <a:ext cx="42545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RESET DLLP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54390" y="1600200"/>
            <a:ext cx="4232409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Provides RESET assert/clear for up to 16 VP in single DLLP</a:t>
            </a:r>
          </a:p>
          <a:p>
            <a:pPr lvl="1"/>
            <a:r>
              <a:rPr lang="en-US" altLang="zh-TW" dirty="0" smtClean="0"/>
              <a:t>RESET function remains a level event</a:t>
            </a:r>
          </a:p>
          <a:p>
            <a:pPr lvl="1"/>
            <a:r>
              <a:rPr lang="en-US" altLang="zh-TW" dirty="0" smtClean="0"/>
              <a:t>RESET state is stored and maintained by each link partner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Handshake for complete reliability of RESET propagation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Guarantees buffer flush of VH within intermediate switches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Utilizes currently RSVD DLLP</a:t>
            </a:r>
            <a:endParaRPr lang="zh-TW" altLang="en-US" dirty="0"/>
          </a:p>
        </p:txBody>
      </p:sp>
      <p:pic>
        <p:nvPicPr>
          <p:cNvPr id="4" name="內容版面配置區 3" descr="PastedGraphic-3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275518"/>
            <a:ext cx="4454390" cy="308731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Virtual Plane Operation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Initialization &amp; Enumeration</a:t>
            </a:r>
          </a:p>
          <a:p>
            <a:pPr lvl="1"/>
            <a:r>
              <a:rPr lang="en-US" altLang="zh-TW" dirty="0" smtClean="0"/>
              <a:t>MR PCIM discovers MR, SR, and Base devices</a:t>
            </a:r>
          </a:p>
          <a:p>
            <a:pPr lvl="1"/>
            <a:r>
              <a:rPr lang="en-US" altLang="zh-TW" dirty="0" smtClean="0"/>
              <a:t>MR PCIM devices and PFs to RPs </a:t>
            </a:r>
          </a:p>
          <a:p>
            <a:pPr lvl="1"/>
            <a:r>
              <a:rPr lang="en-US" altLang="zh-TW" dirty="0" smtClean="0"/>
              <a:t>MR PCIM programs MR switch and EP tables with MR assignments </a:t>
            </a:r>
          </a:p>
          <a:p>
            <a:pPr lvl="1"/>
            <a:r>
              <a:rPr lang="en-US" altLang="zh-TW" dirty="0" smtClean="0"/>
              <a:t>SR SW enumerates within its Virtual Hierarchies</a:t>
            </a:r>
          </a:p>
          <a:p>
            <a:r>
              <a:rPr lang="en-US" altLang="zh-TW" dirty="0" smtClean="0"/>
              <a:t>Traffic Flow </a:t>
            </a:r>
          </a:p>
          <a:p>
            <a:pPr lvl="1"/>
            <a:r>
              <a:rPr lang="en-US" altLang="zh-TW" dirty="0" smtClean="0"/>
              <a:t>Base RP &amp; Base/SR EP utilize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protocol</a:t>
            </a:r>
          </a:p>
          <a:p>
            <a:pPr lvl="1"/>
            <a:r>
              <a:rPr lang="en-US" altLang="zh-TW" dirty="0" smtClean="0"/>
              <a:t>MR EP inserts VP tag at DLL for appropriate PF on Base TLP</a:t>
            </a:r>
          </a:p>
          <a:p>
            <a:pPr lvl="1"/>
            <a:r>
              <a:rPr lang="en-US" altLang="zh-TW" dirty="0" smtClean="0"/>
              <a:t>Switch utilizes VP tag to index correct Type 1 CFG headers</a:t>
            </a:r>
          </a:p>
          <a:p>
            <a:pPr lvl="1"/>
            <a:r>
              <a:rPr lang="en-US" altLang="zh-TW" dirty="0" err="1" smtClean="0"/>
              <a:t>PCIe</a:t>
            </a:r>
            <a:r>
              <a:rPr lang="en-US" altLang="zh-TW" dirty="0" smtClean="0"/>
              <a:t> Base routing rules utilized within a Virtual Hierarchy</a:t>
            </a:r>
          </a:p>
          <a:p>
            <a:r>
              <a:rPr lang="en-US" altLang="zh-TW" dirty="0" smtClean="0"/>
              <a:t>RESET</a:t>
            </a:r>
          </a:p>
          <a:p>
            <a:pPr lvl="1"/>
            <a:r>
              <a:rPr lang="en-US" altLang="zh-TW" dirty="0" smtClean="0"/>
              <a:t>Base RP asserts RESET as TS1 or Fundamental RESET</a:t>
            </a:r>
          </a:p>
          <a:p>
            <a:pPr lvl="1"/>
            <a:r>
              <a:rPr lang="en-US" altLang="zh-TW" dirty="0" smtClean="0"/>
              <a:t>Switch propagates on MR link as RESET DLLP within a VP </a:t>
            </a:r>
          </a:p>
          <a:p>
            <a:pPr lvl="1"/>
            <a:r>
              <a:rPr lang="en-US" altLang="zh-TW" dirty="0" smtClean="0"/>
              <a:t>Switch propagates on Base link as TS1</a:t>
            </a:r>
          </a:p>
          <a:p>
            <a:pPr lvl="1"/>
            <a:r>
              <a:rPr lang="en-US" altLang="zh-TW" dirty="0" smtClean="0"/>
              <a:t>MR Switch or EP receiving RESET DLLP must flush according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rules</a:t>
            </a:r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Protocol 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MRA protocol usage must be enabled per link</a:t>
            </a:r>
          </a:p>
          <a:p>
            <a:pPr lvl="1"/>
            <a:r>
              <a:rPr lang="en-US" altLang="zh-TW" dirty="0" smtClean="0"/>
              <a:t>Base, SR, and MR devices all coexist </a:t>
            </a:r>
          </a:p>
          <a:p>
            <a:r>
              <a:rPr lang="en-US" altLang="zh-TW" dirty="0" smtClean="0"/>
              <a:t>Base devices must work unchanged</a:t>
            </a:r>
          </a:p>
          <a:p>
            <a:pPr lvl="1"/>
            <a:r>
              <a:rPr lang="en-US" altLang="zh-TW" dirty="0" smtClean="0"/>
              <a:t>New protocol should either be ignored or</a:t>
            </a:r>
          </a:p>
          <a:p>
            <a:pPr lvl="1"/>
            <a:r>
              <a:rPr lang="en-US" altLang="zh-TW" dirty="0" smtClean="0"/>
              <a:t>Enabled only after both link partners are determined as capable</a:t>
            </a:r>
          </a:p>
          <a:p>
            <a:r>
              <a:rPr lang="en-US" altLang="zh-TW" dirty="0" smtClean="0"/>
              <a:t>Two options under consideration </a:t>
            </a:r>
          </a:p>
          <a:p>
            <a:pPr lvl="1"/>
            <a:r>
              <a:rPr lang="en-US" altLang="zh-TW" dirty="0" smtClean="0"/>
              <a:t>Auto-negotiation at DLL</a:t>
            </a:r>
          </a:p>
          <a:p>
            <a:pPr lvl="2"/>
            <a:r>
              <a:rPr lang="en-US" altLang="zh-TW" dirty="0" smtClean="0"/>
              <a:t>Does not modify the PHY layer training</a:t>
            </a:r>
          </a:p>
          <a:p>
            <a:pPr lvl="1"/>
            <a:r>
              <a:rPr lang="en-US" altLang="zh-TW" dirty="0" smtClean="0"/>
              <a:t>SW enable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Protocol 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Auto negotiation modifies the DLL training SM</a:t>
            </a:r>
          </a:p>
          <a:p>
            <a:pPr lvl="1"/>
            <a:r>
              <a:rPr lang="en-US" altLang="zh-TW" dirty="0" smtClean="0"/>
              <a:t>New DLLPs used during DLL training to indicate capabilities of link partners </a:t>
            </a:r>
          </a:p>
          <a:p>
            <a:pPr lvl="1"/>
            <a:r>
              <a:rPr lang="en-US" altLang="zh-TW" dirty="0" smtClean="0"/>
              <a:t>New DLLPs dropped by base devices during training</a:t>
            </a:r>
          </a:p>
          <a:p>
            <a:pPr lvl="2"/>
            <a:r>
              <a:rPr lang="en-US" altLang="zh-TW" dirty="0" smtClean="0"/>
              <a:t>Once dropped, link reverts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operation</a:t>
            </a:r>
          </a:p>
          <a:p>
            <a:r>
              <a:rPr lang="en-US" altLang="zh-TW" dirty="0" smtClean="0"/>
              <a:t>SW enable controlled by MR PCIM</a:t>
            </a:r>
          </a:p>
          <a:p>
            <a:pPr lvl="1"/>
            <a:r>
              <a:rPr lang="en-US" altLang="zh-TW" dirty="0" smtClean="0"/>
              <a:t>MR PCIM uses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protocol for initial discovery</a:t>
            </a:r>
          </a:p>
          <a:p>
            <a:pPr lvl="1"/>
            <a:r>
              <a:rPr lang="en-US" altLang="zh-TW" dirty="0" smtClean="0"/>
              <a:t>MRA enabled during discovery and initialization by MR PCIM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 PCIM initialization</a:t>
            </a:r>
            <a:endParaRPr lang="zh-TW" altLang="en-US" dirty="0"/>
          </a:p>
        </p:txBody>
      </p:sp>
      <p:pic>
        <p:nvPicPr>
          <p:cNvPr id="4" name="內容版面配置區 3" descr="PastedGraphic-4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979" y="1600200"/>
            <a:ext cx="7752041" cy="452596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 PCIM Assignment</a:t>
            </a:r>
            <a:endParaRPr lang="zh-TW" altLang="en-US" dirty="0"/>
          </a:p>
        </p:txBody>
      </p:sp>
      <p:pic>
        <p:nvPicPr>
          <p:cNvPr id="4" name="內容版面配置區 3" descr="PastedGraphic-5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331" y="1600200"/>
            <a:ext cx="7733338" cy="4525963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 PCIM Assignment</a:t>
            </a:r>
            <a:endParaRPr lang="zh-TW" altLang="en-US" dirty="0"/>
          </a:p>
        </p:txBody>
      </p:sp>
      <p:pic>
        <p:nvPicPr>
          <p:cNvPr id="4" name="內容版面配置區 3" descr="PastedGraphic-6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301" y="1600200"/>
            <a:ext cx="7689398" cy="4525963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Non-Posted (NP) Request from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</a:t>
            </a:r>
            <a:endParaRPr lang="zh-TW" altLang="en-US" dirty="0"/>
          </a:p>
        </p:txBody>
      </p:sp>
      <p:pic>
        <p:nvPicPr>
          <p:cNvPr id="4" name="內容版面配置區 3" descr="PastedGraphic-7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985" y="1600200"/>
            <a:ext cx="7882030" cy="4525963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NP from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 to MRA</a:t>
            </a:r>
            <a:endParaRPr lang="zh-TW" altLang="en-US" dirty="0"/>
          </a:p>
        </p:txBody>
      </p:sp>
      <p:pic>
        <p:nvPicPr>
          <p:cNvPr id="6" name="內容版面配置區 5" descr="PastedGraphic-18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217" y="1600200"/>
            <a:ext cx="7893566" cy="4525963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Posted from MRA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</a:t>
            </a:r>
            <a:endParaRPr lang="zh-TW" altLang="en-US" dirty="0"/>
          </a:p>
        </p:txBody>
      </p:sp>
      <p:pic>
        <p:nvPicPr>
          <p:cNvPr id="4" name="內容版面配置區 3" descr="PastedGraphic-9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668" y="1600200"/>
            <a:ext cx="7902663" cy="4525963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RESET Propagation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98756" y="1600200"/>
            <a:ext cx="3188043" cy="2403389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RP Reset completely resets VH</a:t>
            </a:r>
          </a:p>
          <a:p>
            <a:r>
              <a:rPr lang="en-US" altLang="zh-TW" dirty="0" smtClean="0"/>
              <a:t>Equivalent to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1.X RESET functionality</a:t>
            </a:r>
            <a:endParaRPr lang="zh-TW" altLang="en-US" dirty="0"/>
          </a:p>
        </p:txBody>
      </p:sp>
      <p:pic>
        <p:nvPicPr>
          <p:cNvPr id="4" name="內容版面配置區 3" descr="PastedGraphic-10.tiff"/>
          <p:cNvPicPr>
            <a:picLocks noChangeAspect="1"/>
          </p:cNvPicPr>
          <p:nvPr/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" y="923969"/>
            <a:ext cx="4547286" cy="5835457"/>
          </a:xfrm>
          <a:prstGeom prst="rect">
            <a:avLst/>
          </a:prstGeom>
        </p:spPr>
      </p:pic>
      <p:pic>
        <p:nvPicPr>
          <p:cNvPr id="5" name="圖片 4" descr="PastedGraphic-12.tiff"/>
          <p:cNvPicPr>
            <a:picLocks noChangeAspect="1"/>
          </p:cNvPicPr>
          <p:nvPr/>
        </p:nvPicPr>
        <p:blipFill>
          <a:blip r:embed="rId3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3100" y="3714840"/>
            <a:ext cx="33909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Plug in MR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MRA Switches have two Hot Plug Controllers (HPC)</a:t>
            </a:r>
          </a:p>
          <a:p>
            <a:pPr lvl="1"/>
            <a:r>
              <a:rPr lang="en-US" altLang="zh-TW" dirty="0" smtClean="0"/>
              <a:t>Physical controller (1 per link)</a:t>
            </a:r>
          </a:p>
          <a:p>
            <a:pPr lvl="2"/>
            <a:r>
              <a:rPr lang="en-US" altLang="zh-TW" dirty="0" smtClean="0"/>
              <a:t>Controls events on the link</a:t>
            </a:r>
          </a:p>
          <a:p>
            <a:pPr lvl="2"/>
            <a:r>
              <a:rPr lang="en-US" altLang="zh-TW" dirty="0" smtClean="0"/>
              <a:t>Owned by MR PCIM</a:t>
            </a:r>
          </a:p>
          <a:p>
            <a:pPr lvl="1"/>
            <a:r>
              <a:rPr lang="en-US" altLang="zh-TW" dirty="0" smtClean="0"/>
              <a:t>Virtual controller (1 per VP per link)</a:t>
            </a:r>
          </a:p>
          <a:p>
            <a:pPr lvl="2"/>
            <a:r>
              <a:rPr lang="en-US" altLang="zh-TW" dirty="0" smtClean="0"/>
              <a:t>Controls events within a VH</a:t>
            </a:r>
          </a:p>
          <a:p>
            <a:pPr lvl="2"/>
            <a:r>
              <a:rPr lang="en-US" altLang="zh-TW" dirty="0" smtClean="0"/>
              <a:t>Owned by SR PCIM, coordinated with MR PCIM</a:t>
            </a:r>
          </a:p>
          <a:p>
            <a:pPr lvl="3"/>
            <a:r>
              <a:rPr lang="en-US" altLang="zh-TW" dirty="0" smtClean="0"/>
              <a:t>New registers added for MR PCIM access point</a:t>
            </a:r>
          </a:p>
          <a:p>
            <a:pPr lvl="1"/>
            <a:r>
              <a:rPr lang="en-US" altLang="zh-TW" dirty="0" smtClean="0"/>
              <a:t>Hot Plug in MR consists of two event types</a:t>
            </a:r>
          </a:p>
          <a:p>
            <a:pPr lvl="2"/>
            <a:r>
              <a:rPr lang="en-US" altLang="zh-TW" dirty="0" smtClean="0"/>
              <a:t>Physical events coordinated by MR PCIM and physical HPC (</a:t>
            </a:r>
            <a:r>
              <a:rPr lang="en-US" altLang="zh-TW" dirty="0" err="1" smtClean="0"/>
              <a:t>pHPC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Virtual events coordinated by MR PCIM, SR PCIM, and virtual HPC (</a:t>
            </a:r>
            <a:r>
              <a:rPr lang="en-US" altLang="zh-TW" dirty="0" err="1" smtClean="0"/>
              <a:t>vHPC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HPC SW interface same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Base</a:t>
            </a:r>
          </a:p>
          <a:p>
            <a:pPr lvl="2"/>
            <a:r>
              <a:rPr lang="en-US" altLang="zh-TW" dirty="0" smtClean="0"/>
              <a:t>Utilizes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Hot Plug specification within switches</a:t>
            </a:r>
            <a:endParaRPr lang="zh-TW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 Hot Plug Interfaces</a:t>
            </a:r>
            <a:endParaRPr lang="zh-TW" altLang="en-US" dirty="0"/>
          </a:p>
        </p:txBody>
      </p:sp>
      <p:pic>
        <p:nvPicPr>
          <p:cNvPr id="4" name="內容版面配置區 3" descr="PastedGraphic-13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050" y="1608931"/>
            <a:ext cx="7327900" cy="450850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Plug Event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User event initiated</a:t>
            </a:r>
          </a:p>
          <a:p>
            <a:pPr lvl="1"/>
            <a:r>
              <a:rPr lang="en-US" altLang="zh-TW" dirty="0" smtClean="0"/>
              <a:t>Example: Slot Attention Button Press for device removal</a:t>
            </a:r>
          </a:p>
          <a:p>
            <a:r>
              <a:rPr lang="en-US" altLang="zh-TW" dirty="0" err="1" smtClean="0"/>
              <a:t>pHPC</a:t>
            </a:r>
            <a:r>
              <a:rPr lang="en-US" altLang="zh-TW" dirty="0" smtClean="0"/>
              <a:t> notifies MR PCIM of event</a:t>
            </a:r>
          </a:p>
          <a:p>
            <a:pPr lvl="1"/>
            <a:r>
              <a:rPr lang="en-US" altLang="zh-TW" dirty="0" smtClean="0"/>
              <a:t>Uses MR PCIM </a:t>
            </a:r>
            <a:r>
              <a:rPr lang="en-US" altLang="zh-TW" dirty="0" err="1" smtClean="0"/>
              <a:t>pHPC</a:t>
            </a:r>
            <a:r>
              <a:rPr lang="en-US" altLang="zh-TW" dirty="0" smtClean="0"/>
              <a:t> interface (#3)</a:t>
            </a:r>
          </a:p>
          <a:p>
            <a:r>
              <a:rPr lang="en-US" altLang="zh-TW" dirty="0" smtClean="0"/>
              <a:t>MR PCIM initiated virtual HP events through </a:t>
            </a:r>
            <a:r>
              <a:rPr lang="en-US" altLang="zh-TW" dirty="0" err="1" smtClean="0"/>
              <a:t>vHPC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Uses MR PCIM </a:t>
            </a:r>
            <a:r>
              <a:rPr lang="en-US" altLang="zh-TW" dirty="0" err="1" smtClean="0"/>
              <a:t>vHPC</a:t>
            </a:r>
            <a:r>
              <a:rPr lang="en-US" altLang="zh-TW" dirty="0" smtClean="0"/>
              <a:t> interface (#2)</a:t>
            </a:r>
          </a:p>
          <a:p>
            <a:r>
              <a:rPr lang="en-US" altLang="zh-TW" dirty="0" err="1" smtClean="0"/>
              <a:t>vHPC</a:t>
            </a:r>
            <a:r>
              <a:rPr lang="en-US" altLang="zh-TW" dirty="0" smtClean="0"/>
              <a:t> notifies SR PCIM(s) of event</a:t>
            </a:r>
          </a:p>
          <a:p>
            <a:pPr lvl="1"/>
            <a:r>
              <a:rPr lang="en-US" altLang="zh-TW" dirty="0" smtClean="0"/>
              <a:t>Uses SR PCIM </a:t>
            </a:r>
            <a:r>
              <a:rPr lang="en-US" altLang="zh-TW" dirty="0" err="1" smtClean="0"/>
              <a:t>vHPC</a:t>
            </a:r>
            <a:r>
              <a:rPr lang="en-US" altLang="zh-TW" dirty="0" smtClean="0"/>
              <a:t> interface (#1)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Plug Event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SR PCIM processes event and updates state of </a:t>
            </a:r>
            <a:r>
              <a:rPr lang="en-US" altLang="zh-TW" dirty="0" err="1" smtClean="0"/>
              <a:t>vHPC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Uses SR PCIM </a:t>
            </a:r>
            <a:r>
              <a:rPr lang="en-US" altLang="zh-TW" dirty="0" err="1" smtClean="0"/>
              <a:t>vPHC</a:t>
            </a:r>
            <a:r>
              <a:rPr lang="en-US" altLang="zh-TW" dirty="0" smtClean="0"/>
              <a:t> interface (#1)</a:t>
            </a:r>
            <a:endParaRPr lang="zh-TW" altLang="en-US" dirty="0" smtClean="0"/>
          </a:p>
          <a:p>
            <a:r>
              <a:rPr lang="en-US" altLang="zh-TW" dirty="0" err="1" smtClean="0"/>
              <a:t>vHPC</a:t>
            </a:r>
            <a:r>
              <a:rPr lang="en-US" altLang="zh-TW" dirty="0" smtClean="0"/>
              <a:t> notifies MR PCIM of state change for that </a:t>
            </a:r>
            <a:r>
              <a:rPr lang="en-US" altLang="zh-TW" dirty="0" err="1" smtClean="0"/>
              <a:t>vHPC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Uses MR PCIM </a:t>
            </a:r>
            <a:r>
              <a:rPr lang="en-US" altLang="zh-TW" dirty="0" err="1" smtClean="0"/>
              <a:t>vHPC</a:t>
            </a:r>
            <a:r>
              <a:rPr lang="en-US" altLang="zh-TW" dirty="0" smtClean="0"/>
              <a:t> interface (#2)</a:t>
            </a:r>
          </a:p>
          <a:p>
            <a:r>
              <a:rPr lang="en-US" altLang="zh-TW" dirty="0" smtClean="0"/>
              <a:t>MR PCIM processes all state changes and updates state of </a:t>
            </a:r>
            <a:r>
              <a:rPr lang="en-US" altLang="zh-TW" dirty="0" err="1" smtClean="0"/>
              <a:t>pHPC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Uses MR PCIM </a:t>
            </a:r>
            <a:r>
              <a:rPr lang="en-US" altLang="zh-TW" dirty="0" err="1" smtClean="0"/>
              <a:t>pHPC</a:t>
            </a:r>
            <a:r>
              <a:rPr lang="en-US" altLang="zh-TW" dirty="0" smtClean="0"/>
              <a:t> interface (#3)</a:t>
            </a:r>
          </a:p>
          <a:p>
            <a:r>
              <a:rPr lang="en-US" altLang="zh-TW" dirty="0" err="1" smtClean="0"/>
              <a:t>pHPC</a:t>
            </a:r>
            <a:r>
              <a:rPr lang="en-US" altLang="zh-TW" dirty="0" smtClean="0"/>
              <a:t> indicates device is safe for removal</a:t>
            </a:r>
          </a:p>
          <a:p>
            <a:pPr lvl="1"/>
            <a:r>
              <a:rPr lang="en-US" altLang="zh-TW" dirty="0" smtClean="0"/>
              <a:t>Example: Slot power removed &amp; LED state change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Removal Event Initiated</a:t>
            </a:r>
            <a:endParaRPr lang="zh-TW" altLang="en-US" dirty="0"/>
          </a:p>
        </p:txBody>
      </p:sp>
      <p:pic>
        <p:nvPicPr>
          <p:cNvPr id="4" name="內容版面配置區 3" descr="PastedGraphic-14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859" y="1600200"/>
            <a:ext cx="7708281" cy="4525963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Removal Coordination</a:t>
            </a:r>
            <a:endParaRPr lang="zh-TW" altLang="en-US" dirty="0"/>
          </a:p>
        </p:txBody>
      </p:sp>
      <p:pic>
        <p:nvPicPr>
          <p:cNvPr id="4" name="內容版面配置區 3" descr="PastedGraphic-15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921" y="1600200"/>
            <a:ext cx="7630158" cy="4525963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Hot Removal Completion</a:t>
            </a:r>
            <a:endParaRPr lang="zh-TW" altLang="en-US" dirty="0"/>
          </a:p>
        </p:txBody>
      </p:sp>
      <p:pic>
        <p:nvPicPr>
          <p:cNvPr id="4" name="內容版面配置區 3" descr="PastedGraphic-16.tiff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7DFF7"/>
              </a:clrFrom>
              <a:clrTo>
                <a:srgbClr val="E7DF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142" y="1600200"/>
            <a:ext cx="7609715" cy="4525963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Multi-Root I/O Virtualization and Sharing Specification Revision 1.0</a:t>
            </a:r>
            <a:endParaRPr lang="en-US" altLang="zh-TW" dirty="0" smtClean="0">
              <a:hlinkClick r:id="rId2"/>
            </a:endParaRPr>
          </a:p>
          <a:p>
            <a:r>
              <a:rPr lang="en-US" altLang="zh-TW" dirty="0" smtClean="0"/>
              <a:t>Dennis Martin, “Innovations in storage networking: Next-gen storage networks for next-gen data centers,” in Storage Decisions </a:t>
            </a:r>
            <a:r>
              <a:rPr lang="en-US" altLang="zh-TW" dirty="0" err="1" smtClean="0"/>
              <a:t>Chincago</a:t>
            </a:r>
            <a:r>
              <a:rPr lang="en-US" altLang="zh-TW" dirty="0" smtClean="0"/>
              <a:t> presentation titled, 2012.</a:t>
            </a:r>
            <a:endParaRPr lang="en-US" altLang="zh-TW" dirty="0" smtClean="0">
              <a:hlinkClick r:id="rId2"/>
            </a:endParaRPr>
          </a:p>
          <a:p>
            <a:r>
              <a:rPr lang="en-US" altLang="zh-TW" dirty="0" smtClean="0">
                <a:hlinkClick r:id="rId2"/>
              </a:rPr>
              <a:t>http://www.pcisig.com/developers/main/training_materials/get_document?doc_id=e3da4046eb5314826343d9df18b60f083880bf7b</a:t>
            </a:r>
            <a:endParaRPr lang="en-US" altLang="zh-TW" dirty="0" smtClean="0"/>
          </a:p>
          <a:p>
            <a:r>
              <a:rPr lang="en-US" altLang="zh-TW" dirty="0" smtClean="0">
                <a:hlinkClick r:id="rId3"/>
              </a:rPr>
              <a:t>http://www.pcisig.com/developers/main/training_materials/get_document?doc_id=ee6c699074c0b2440bfac3abdecb74b3d89821a8</a:t>
            </a:r>
            <a:endParaRPr lang="en-US" altLang="zh-TW" dirty="0" smtClean="0"/>
          </a:p>
          <a:p>
            <a:r>
              <a:rPr lang="en-US" altLang="zh-TW" dirty="0" smtClean="0">
                <a:hlinkClick r:id="rId4"/>
              </a:rPr>
              <a:t>http://www.pcisig.com/developers/main/training_materials/get_document?doc_id=656dc1d4f27b8fdca34f583bdc9437627bc3249f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-IOV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SR-IOV.thmx</Template>
  <TotalTime>380</TotalTime>
  <Words>2044</Words>
  <Application>Microsoft Office PowerPoint</Application>
  <PresentationFormat>如螢幕大小 (4:3)</PresentationFormat>
  <Paragraphs>304</Paragraphs>
  <Slides>42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SR-IOV</vt:lpstr>
      <vt:lpstr>虛擬化技術 Virtualization Techniques</vt:lpstr>
      <vt:lpstr>MR-IOV Introduction</vt:lpstr>
      <vt:lpstr>MR-IOV Topology</vt:lpstr>
      <vt:lpstr>MR-IOV Topology</vt:lpstr>
      <vt:lpstr>Topology Overview and Terms</vt:lpstr>
      <vt:lpstr>Multi-Root IOV function Types and Terms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Components</vt:lpstr>
      <vt:lpstr>MRA Endpoint</vt:lpstr>
      <vt:lpstr>Base-SR-MR EP Progression</vt:lpstr>
      <vt:lpstr>Virtual Plane Protocol</vt:lpstr>
      <vt:lpstr>Tagging TLPs</vt:lpstr>
      <vt:lpstr>RESET DLLP</vt:lpstr>
      <vt:lpstr>Virtual Plane Operation</vt:lpstr>
      <vt:lpstr>Protocol Selection</vt:lpstr>
      <vt:lpstr>Protocol Selection</vt:lpstr>
      <vt:lpstr>MR PCIM initialization</vt:lpstr>
      <vt:lpstr>MR PCIM Assignment</vt:lpstr>
      <vt:lpstr>SR PCIM Assignment</vt:lpstr>
      <vt:lpstr>Non-Posted (NP) Request from PCIe Base to PCIe Base</vt:lpstr>
      <vt:lpstr>NP from PCIe Base to MRA</vt:lpstr>
      <vt:lpstr>Posted from MRA to PCIe Base</vt:lpstr>
      <vt:lpstr>RESET Propagation</vt:lpstr>
      <vt:lpstr>Hot Plug in MR</vt:lpstr>
      <vt:lpstr>MR Hot Plug Interfaces</vt:lpstr>
      <vt:lpstr>Hot Plug Event Steps</vt:lpstr>
      <vt:lpstr>Hot Plug Event Steps</vt:lpstr>
      <vt:lpstr>Hot Removal Event Initiated</vt:lpstr>
      <vt:lpstr>Hot Removal Coordination</vt:lpstr>
      <vt:lpstr>Hot Removal Completion</vt:lpstr>
      <vt:lpstr>Reference</vt:lpstr>
    </vt:vector>
  </TitlesOfParts>
  <Company>Department of Computer Science 
National Tsing Hua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虛擬化技術 Virtualization Techniques</dc:title>
  <dc:creator>Yu-Shiang Lin</dc:creator>
  <cp:lastModifiedBy>coldfunction</cp:lastModifiedBy>
  <cp:revision>90</cp:revision>
  <dcterms:created xsi:type="dcterms:W3CDTF">2013-02-04T09:19:54Z</dcterms:created>
  <dcterms:modified xsi:type="dcterms:W3CDTF">2013-02-04T15:43:07Z</dcterms:modified>
</cp:coreProperties>
</file>