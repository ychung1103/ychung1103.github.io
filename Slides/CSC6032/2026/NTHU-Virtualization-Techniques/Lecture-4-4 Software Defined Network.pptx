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0"/>
  </p:notesMasterIdLst>
  <p:sldIdLst>
    <p:sldId id="501" r:id="rId2"/>
    <p:sldId id="506" r:id="rId3"/>
    <p:sldId id="587" r:id="rId4"/>
    <p:sldId id="588" r:id="rId5"/>
    <p:sldId id="589" r:id="rId6"/>
    <p:sldId id="599" r:id="rId7"/>
    <p:sldId id="598" r:id="rId8"/>
    <p:sldId id="591" r:id="rId9"/>
    <p:sldId id="592" r:id="rId10"/>
    <p:sldId id="594" r:id="rId11"/>
    <p:sldId id="595" r:id="rId12"/>
    <p:sldId id="523" r:id="rId13"/>
    <p:sldId id="433" r:id="rId14"/>
    <p:sldId id="422" r:id="rId15"/>
    <p:sldId id="424" r:id="rId16"/>
    <p:sldId id="600" r:id="rId17"/>
    <p:sldId id="418" r:id="rId18"/>
    <p:sldId id="601" r:id="rId19"/>
    <p:sldId id="602" r:id="rId20"/>
    <p:sldId id="603" r:id="rId21"/>
    <p:sldId id="604" r:id="rId22"/>
    <p:sldId id="605" r:id="rId23"/>
    <p:sldId id="525" r:id="rId24"/>
    <p:sldId id="428" r:id="rId25"/>
    <p:sldId id="607" r:id="rId26"/>
    <p:sldId id="608" r:id="rId27"/>
    <p:sldId id="429" r:id="rId28"/>
    <p:sldId id="609" r:id="rId29"/>
    <p:sldId id="437" r:id="rId30"/>
    <p:sldId id="606" r:id="rId31"/>
    <p:sldId id="438" r:id="rId32"/>
    <p:sldId id="559" r:id="rId33"/>
    <p:sldId id="560" r:id="rId34"/>
    <p:sldId id="610" r:id="rId35"/>
    <p:sldId id="611" r:id="rId36"/>
    <p:sldId id="612" r:id="rId37"/>
    <p:sldId id="553" r:id="rId38"/>
    <p:sldId id="554" r:id="rId39"/>
    <p:sldId id="567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26" r:id="rId53"/>
    <p:sldId id="527" r:id="rId54"/>
    <p:sldId id="528" r:id="rId55"/>
    <p:sldId id="529" r:id="rId56"/>
    <p:sldId id="538" r:id="rId57"/>
    <p:sldId id="539" r:id="rId58"/>
    <p:sldId id="540" r:id="rId59"/>
    <p:sldId id="541" r:id="rId60"/>
    <p:sldId id="542" r:id="rId61"/>
    <p:sldId id="543" r:id="rId62"/>
    <p:sldId id="550" r:id="rId63"/>
    <p:sldId id="530" r:id="rId64"/>
    <p:sldId id="531" r:id="rId65"/>
    <p:sldId id="532" r:id="rId66"/>
    <p:sldId id="533" r:id="rId67"/>
    <p:sldId id="448" r:id="rId68"/>
    <p:sldId id="586" r:id="rId69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1531" autoAdjust="0"/>
  </p:normalViewPr>
  <p:slideViewPr>
    <p:cSldViewPr>
      <p:cViewPr>
        <p:scale>
          <a:sx n="33" d="100"/>
          <a:sy n="33" d="100"/>
        </p:scale>
        <p:origin x="1496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88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DAAD6F2-D02C-0D1F-65AD-4C87033FED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064924-3B47-70A9-E8A5-81FEDFD3AF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08DC323-4415-4684-B0E9-48CB52939714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4373B1F1-EBD8-E2E7-20B9-1492C740D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5A41B3D6-CD0C-AC91-F08D-8CCD3DD55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F047B3-90E9-48B7-4942-6C1731D16F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4EA66-9500-EA06-698E-D22A3D3FC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AC5B7AD-57CA-4AD0-B3CA-00C6DB3FE4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>
            <a:extLst>
              <a:ext uri="{FF2B5EF4-FFF2-40B4-BE49-F238E27FC236}">
                <a16:creationId xmlns:a16="http://schemas.microsoft.com/office/drawing/2014/main" id="{32E50C9E-3EEB-01DB-C3C2-9C100FEB82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>
            <a:extLst>
              <a:ext uri="{FF2B5EF4-FFF2-40B4-BE49-F238E27FC236}">
                <a16:creationId xmlns:a16="http://schemas.microsoft.com/office/drawing/2014/main" id="{A3EA477B-B34B-0AAE-9B81-E9E64CB10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1268" name="投影片編號版面配置區 3">
            <a:extLst>
              <a:ext uri="{FF2B5EF4-FFF2-40B4-BE49-F238E27FC236}">
                <a16:creationId xmlns:a16="http://schemas.microsoft.com/office/drawing/2014/main" id="{D8D89D56-3DFC-F83A-1ED4-851F1411E5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A31E69A-848D-4DD2-B2F7-CB452A3E51EE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圖像版面配置區 1">
            <a:extLst>
              <a:ext uri="{FF2B5EF4-FFF2-40B4-BE49-F238E27FC236}">
                <a16:creationId xmlns:a16="http://schemas.microsoft.com/office/drawing/2014/main" id="{2B380E34-97EF-4C29-9616-028F78AC1A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備忘稿版面配置區 2">
            <a:extLst>
              <a:ext uri="{FF2B5EF4-FFF2-40B4-BE49-F238E27FC236}">
                <a16:creationId xmlns:a16="http://schemas.microsoft.com/office/drawing/2014/main" id="{F96D6299-077A-6B2F-0E17-CEA59AF73D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投影片編號版面配置區 3">
            <a:extLst>
              <a:ext uri="{FF2B5EF4-FFF2-40B4-BE49-F238E27FC236}">
                <a16:creationId xmlns:a16="http://schemas.microsoft.com/office/drawing/2014/main" id="{AFF11540-DF57-64EF-EE35-CD8A755351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9DF27D7-2529-496D-BEA0-149BF6A4667A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DE420BD-6256-74A4-DA14-CE4222669C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7B9876-A6B1-41F5-938F-5BF26748AF5D}" type="slidenum">
              <a:rPr lang="en-US" altLang="zh-TW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5363" name="Rectangle 1026">
            <a:extLst>
              <a:ext uri="{FF2B5EF4-FFF2-40B4-BE49-F238E27FC236}">
                <a16:creationId xmlns:a16="http://schemas.microsoft.com/office/drawing/2014/main" id="{EA06412E-29B6-0255-7529-A2057D609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1027">
            <a:extLst>
              <a:ext uri="{FF2B5EF4-FFF2-40B4-BE49-F238E27FC236}">
                <a16:creationId xmlns:a16="http://schemas.microsoft.com/office/drawing/2014/main" id="{BA3B1614-5D9D-45C4-B90D-D1FD49FCF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55AFD98B-8FF2-334D-6AF3-9AF450A45A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C2371274-035E-EB38-1CF9-767D5200B3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B1FDD47-C5D7-6C21-81A3-D326201A7C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D776196-750C-4A09-AD34-6CBCB5FCEDA0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>
            <a:extLst>
              <a:ext uri="{FF2B5EF4-FFF2-40B4-BE49-F238E27FC236}">
                <a16:creationId xmlns:a16="http://schemas.microsoft.com/office/drawing/2014/main" id="{321B0079-A9F4-B9DD-7286-BE92A967C5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備忘稿版面配置區 2">
            <a:extLst>
              <a:ext uri="{FF2B5EF4-FFF2-40B4-BE49-F238E27FC236}">
                <a16:creationId xmlns:a16="http://schemas.microsoft.com/office/drawing/2014/main" id="{E170C0DA-03FC-7158-D771-1D37525C5F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0484" name="投影片編號版面配置區 3">
            <a:extLst>
              <a:ext uri="{FF2B5EF4-FFF2-40B4-BE49-F238E27FC236}">
                <a16:creationId xmlns:a16="http://schemas.microsoft.com/office/drawing/2014/main" id="{03A29A30-8B0B-ACD4-D302-DA4F23989C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4C8D37B-3142-4F43-87DD-2040A48440E7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05F50701-94AD-BCF3-F3E0-232B7A37FF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1203F45D-52C0-7FDF-A793-84E04F4EB2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41DCCF9-FADF-C819-C6D3-5C9D537F82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8095303-3A63-4990-99AA-711D9AEEC2E0}" type="slidenum">
              <a:rPr lang="en-US" altLang="zh-TW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>
            <a:extLst>
              <a:ext uri="{FF2B5EF4-FFF2-40B4-BE49-F238E27FC236}">
                <a16:creationId xmlns:a16="http://schemas.microsoft.com/office/drawing/2014/main" id="{22DA8ED0-6A84-8703-72D3-5AD9C2A153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備忘稿版面配置區 2">
            <a:extLst>
              <a:ext uri="{FF2B5EF4-FFF2-40B4-BE49-F238E27FC236}">
                <a16:creationId xmlns:a16="http://schemas.microsoft.com/office/drawing/2014/main" id="{D2279FDE-1E4A-B1ED-9120-F2B56AB87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8676" name="投影片編號版面配置區 3">
            <a:extLst>
              <a:ext uri="{FF2B5EF4-FFF2-40B4-BE49-F238E27FC236}">
                <a16:creationId xmlns:a16="http://schemas.microsoft.com/office/drawing/2014/main" id="{B3753EBA-962B-F047-B751-AA796DADB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2D69F9D-3135-41BF-AACE-68EA8E3D3528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7F87B98D-AA95-05CD-887E-FAFA69239C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43F8F04-B710-53A2-E89E-BEF99BFADE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endParaRPr lang="zh-TW" altLang="zh-TW" sz="6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89876D4-D942-6E7D-635B-33A1B4CC0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9AFCC55-E011-4B87-AAC2-099FCD6A61E5}" type="slidenum">
              <a:rPr lang="en-US" altLang="zh-TW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68778BF-2C8E-3E09-E0D2-F110ED76BE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594CC0B-D273-EF23-B5B9-8660376F74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62015603-AD72-3F3F-BC0F-460A04569A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431574A5-980C-FBDE-0A54-B9BC6E038D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A86A8B00-7F9D-87E7-44C9-FAB77EF38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B41EA4E-1135-4A3A-B996-FCED4D097E9F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23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04688C2-F1B7-FA53-00C9-FC2D9965B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BA143C0-3BA4-622F-D86B-E9A0680397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There are components at different levels that work together in making it work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 commercial switch details will follow in next slide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zh-TW"/>
              <a:t>There are a plethora of applications possible. I only list those available at Stanford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97EC3046-CCF6-93C6-24EB-6CBFA43EE3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F0583F4C-1F4D-F370-767B-0D46646414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defTabSz="457200"/>
            <a:r>
              <a:rPr lang="en-US" altLang="zh-TW"/>
              <a:t>Language open-source Performance cross-platform   runtime modular</a:t>
            </a:r>
          </a:p>
          <a:p>
            <a:pPr defTabSz="457200" eaLnBrk="1" hangingPunct="1">
              <a:spcBef>
                <a:spcPct val="0"/>
              </a:spcBef>
            </a:pPr>
            <a:endParaRPr lang="en-US" altLang="zh-TW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1624B6AF-B76F-C7AE-90CA-09E4046A5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9662BFE-F4E2-4380-9628-17BD1D5FCF84}" type="slidenum">
              <a:rPr lang="en-US" altLang="zh-TW"/>
              <a:pPr>
                <a:spcBef>
                  <a:spcPct val="0"/>
                </a:spcBef>
              </a:pPr>
              <a:t>28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A4FCBFD-1503-03F9-97CC-99104CEF7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87AFA45-4EE1-4DFA-8676-91F0F8A2D57A}" type="slidenum">
              <a:rPr lang="en-US" altLang="zh-TW"/>
              <a:pPr>
                <a:spcBef>
                  <a:spcPct val="0"/>
                </a:spcBef>
              </a:pPr>
              <a:t>30</a:t>
            </a:fld>
            <a:endParaRPr lang="en-US" altLang="zh-TW"/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07274BF1-518C-E2AF-5C21-1987F3486AE2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B9B94B2-F3A8-4A79-B8DC-334B58E7B670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30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7A9B4307-D3DC-502E-2D19-B55F893DB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01908550-A20D-DB31-2C26-A9BDF45733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0774292-8729-6752-44CD-546496C2B9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399C981-FF06-F22F-44D4-868975109D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330121F-8C01-82AE-623B-7E65A93D54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AFC2847-0CCB-EE03-8228-175B0C8C70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CE34F5E7-CECE-D6ED-C54C-D0EF75E1D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7A04572-790E-4BD5-86AF-F26901F7D8F4}" type="slidenum">
              <a:rPr lang="en-US" altLang="zh-TW"/>
              <a:pPr>
                <a:spcBef>
                  <a:spcPct val="0"/>
                </a:spcBef>
              </a:pPr>
              <a:t>34</a:t>
            </a:fld>
            <a:endParaRPr lang="en-US" altLang="zh-TW"/>
          </a:p>
        </p:txBody>
      </p:sp>
      <p:sp>
        <p:nvSpPr>
          <p:cNvPr id="60419" name="Rectangle 7">
            <a:extLst>
              <a:ext uri="{FF2B5EF4-FFF2-40B4-BE49-F238E27FC236}">
                <a16:creationId xmlns:a16="http://schemas.microsoft.com/office/drawing/2014/main" id="{A0726025-84F6-68F0-6A8A-A81FC63036A1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D8F13C1-029F-43D9-A091-C8E60F571CC2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34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1B3C95EE-23BE-F2A6-A5C8-36875785F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5E3F2AD2-A397-9325-BB00-6EC59B40A5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13B82407-CC13-F064-AB87-A4395D7B21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9C1BBE8-1CD6-4A80-8915-6B9E5344799B}" type="slidenum">
              <a:rPr lang="en-US" altLang="zh-TW"/>
              <a:pPr>
                <a:spcBef>
                  <a:spcPct val="0"/>
                </a:spcBef>
              </a:pPr>
              <a:t>35</a:t>
            </a:fld>
            <a:endParaRPr lang="en-US" altLang="zh-TW"/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25C3A4F1-9F51-07FE-30A4-EB63DE0EDD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2F86B75-B0FA-4F9D-AA83-24DF463D879F}" type="slidenum">
              <a:rPr lang="en-US" altLang="zh-TW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16549166-142B-C9DA-2B88-FA99FE6B9D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A131FB81-5DDC-DBF4-DFF9-7CF9859E06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664CC30B-9220-AEAD-1803-9BB3F41B4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D2900F4-8886-462C-9FFF-EDDF6B515AD2}" type="slidenum">
              <a:rPr lang="en-US" altLang="zh-TW"/>
              <a:pPr>
                <a:spcBef>
                  <a:spcPct val="0"/>
                </a:spcBef>
              </a:pPr>
              <a:t>36</a:t>
            </a:fld>
            <a:endParaRPr lang="en-US" altLang="zh-TW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8F691DB-6600-7450-2A28-FA11EE667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82A6FF5-8194-6679-5CC5-EE7053E618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zh-TW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>
            <a:extLst>
              <a:ext uri="{FF2B5EF4-FFF2-40B4-BE49-F238E27FC236}">
                <a16:creationId xmlns:a16="http://schemas.microsoft.com/office/drawing/2014/main" id="{E69BE818-EAB0-2D5C-4AA0-FBCEBA00B5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9085E6A1-8F46-190D-30B4-E6F88DC14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Experiments running on </a:t>
            </a:r>
            <a:r>
              <a:rPr lang="en-US" altLang="zh-TW" sz="16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PRODUCTION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infrastructure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Key to get scale, key to get traffic on the network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(e.g. can’t just do a reset...)</a:t>
            </a:r>
          </a:p>
          <a:p>
            <a:pPr marL="57150" eaLnBrk="1" hangingPunct="1">
              <a:spcBef>
                <a:spcPct val="0"/>
              </a:spcBef>
            </a:pPr>
            <a:endParaRPr lang="en-US" altLang="zh-TW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1826268-6441-949D-3CE7-49083CB55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0F2F1BA-3BA8-7357-6CA8-97A583EA08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0E2D28F0-28E3-A27D-AE58-AE21C6940E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5D01C-8933-91C4-71E8-A41E3A203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2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Carves Network into “Slices” and Assigns hardware resources to each slice. Switch DPID, Port.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F8E4E323-220B-4748-5D66-46CC6B5CA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405A832-6A27-4F29-B370-7629882B5235}" type="slidenum">
              <a:rPr lang="en-US" altLang="zh-TW"/>
              <a:pPr>
                <a:spcBef>
                  <a:spcPct val="0"/>
                </a:spcBef>
              </a:pPr>
              <a:t>46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95BC1C3-7A8C-4C82-01DF-54A2C359A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13F7593-32C9-A0CB-9A26-3A62F1B77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7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圖像版面配置區 1">
            <a:extLst>
              <a:ext uri="{FF2B5EF4-FFF2-40B4-BE49-F238E27FC236}">
                <a16:creationId xmlns:a16="http://schemas.microsoft.com/office/drawing/2014/main" id="{F9ABA31D-3678-5983-51FC-29E21AAC72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備忘稿版面配置區 2">
            <a:extLst>
              <a:ext uri="{FF2B5EF4-FFF2-40B4-BE49-F238E27FC236}">
                <a16:creationId xmlns:a16="http://schemas.microsoft.com/office/drawing/2014/main" id="{6AC74BD0-F277-2CFA-5C65-DC17F69042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86020" name="投影片編號版面配置區 3">
            <a:extLst>
              <a:ext uri="{FF2B5EF4-FFF2-40B4-BE49-F238E27FC236}">
                <a16:creationId xmlns:a16="http://schemas.microsoft.com/office/drawing/2014/main" id="{083E4517-0D6B-B8D3-98A3-103EB294C5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EF92CD7-1DE9-48D2-965A-A14993D9C5CF}" type="slidenum">
              <a:rPr lang="zh-TW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52</a:t>
            </a:fld>
            <a:endParaRPr lang="zh-TW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投影片圖像版面配置區 1">
            <a:extLst>
              <a:ext uri="{FF2B5EF4-FFF2-40B4-BE49-F238E27FC236}">
                <a16:creationId xmlns:a16="http://schemas.microsoft.com/office/drawing/2014/main" id="{4784BC0F-A310-0B4B-B806-DAACF924A1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備忘稿版面配置區 2">
            <a:extLst>
              <a:ext uri="{FF2B5EF4-FFF2-40B4-BE49-F238E27FC236}">
                <a16:creationId xmlns:a16="http://schemas.microsoft.com/office/drawing/2014/main" id="{C1748217-FDA2-219C-F953-BF412A0D35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89092" name="投影片編號版面配置區 3">
            <a:extLst>
              <a:ext uri="{FF2B5EF4-FFF2-40B4-BE49-F238E27FC236}">
                <a16:creationId xmlns:a16="http://schemas.microsoft.com/office/drawing/2014/main" id="{B6FEF173-661D-755F-66E2-86CE0F5C8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CBF59C4C-84A2-4C58-B2E1-A8F1BB2214F0}" type="slidenum">
              <a:rPr kumimoji="1" lang="en-US" altLang="zh-TW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54</a:t>
            </a:fld>
            <a:endParaRPr kumimoji="1" lang="en-US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投影片圖像版面配置區 1">
            <a:extLst>
              <a:ext uri="{FF2B5EF4-FFF2-40B4-BE49-F238E27FC236}">
                <a16:creationId xmlns:a16="http://schemas.microsoft.com/office/drawing/2014/main" id="{CBB25095-30EF-ED21-6F6F-0D2E5C3EB3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備忘稿版面配置區 2">
            <a:extLst>
              <a:ext uri="{FF2B5EF4-FFF2-40B4-BE49-F238E27FC236}">
                <a16:creationId xmlns:a16="http://schemas.microsoft.com/office/drawing/2014/main" id="{7DA3E4A1-2421-75E8-AF42-3629047299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04452" name="投影片編號版面配置區 3">
            <a:extLst>
              <a:ext uri="{FF2B5EF4-FFF2-40B4-BE49-F238E27FC236}">
                <a16:creationId xmlns:a16="http://schemas.microsoft.com/office/drawing/2014/main" id="{40101B0A-DDD0-59E5-21CF-884B2FE63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98B084F-478E-45D0-B061-6A5EB3D3A4C9}" type="slidenum">
              <a:rPr lang="zh-TW" altLang="en-US"/>
              <a:pPr>
                <a:spcBef>
                  <a:spcPct val="0"/>
                </a:spcBef>
              </a:pPr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">
            <a:extLst>
              <a:ext uri="{FF2B5EF4-FFF2-40B4-BE49-F238E27FC236}">
                <a16:creationId xmlns:a16="http://schemas.microsoft.com/office/drawing/2014/main" id="{B02325F6-6EE7-94B5-1B5D-74BACC274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7267487-8CA9-6E06-B147-3CBEDAE1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11C1A-7E30-4B0D-879C-2D41A18CCBE4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22418B-5365-973F-C4C4-68E21EA7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881F141-8F1E-72C6-F1B7-FAFF24C6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519CD8-4C10-4B2A-B38F-445B91AA84F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39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ADAE-976C-D4C0-6540-6D556934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DB5A5-574E-4911-AD5A-6FD032FA48D0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5CF3-6727-B3FB-09A8-9B5C2FFC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36A29-E7BD-D419-9823-1AA77EAB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264869-CB66-4974-B3F2-746831D3AC7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75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5F04E-CF19-B83E-CC8C-445A9B7C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DBE48-79E2-4360-9586-B238A0A7D627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021D3-0FC5-CB9B-DF08-A1326FCD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32F93-CE7E-3CCE-B065-9C374233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278000-9A0A-4898-8B13-F10FA84470A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11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D3112-3199-675A-DDF1-B2B24465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AB3CA-B9B3-460A-9AE3-D702EF7462EB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72031-8E44-87DE-9CED-C7DB2B1E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C5740-903B-3A2B-4858-9159F81A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C465C3-1A50-49C5-AC86-C81C75AFCD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18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6C8C6-250B-A49C-66D1-F371F6F6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C5116-2280-4B7A-B862-B7E926169DE2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5C09A-90EC-37D0-D5E8-F4D30F0C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C6EC8-9A46-1F29-4471-7F4298E6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8C62DD-6FE3-47CB-8FFA-661CB7A320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14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C120E-26E2-28F5-3B5D-20A7BC20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7A15C-C8CF-41AD-A1B4-136C52F8CA5A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451F0-F7A3-D60B-A051-EAEB3041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33A45-6D07-CAD7-CBE8-BE1CA340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E5AE7F1-9649-40EB-9DA3-9D73C61D07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B6169-3943-B423-9F69-503C2026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6BA57-924F-4351-84E8-F1A97810866B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D0A7B-1E43-0BFC-4C52-3501EB54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4DC52-A030-4441-15E9-E2605347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E4E21AC-5995-4EC3-B0DA-A292216C41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4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D69742-5F08-5BA5-9A0B-572A203B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87385-4A61-4462-82C3-F7627D71BEEE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9DF5CBC-8B98-E297-717A-CD0BE68F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EAAF34-548E-C9AC-8F3A-BC333761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80BAE-5337-4975-8D50-A5F2AD936A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90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C811F22-1B3D-6C31-3290-17A1DB7E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065F8-19FD-4BF0-9DA4-49C48A3EB5C4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AE325-B424-DB36-9BE8-FD125E14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CABC31-1AD6-01BC-D39A-8C80D816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1E67D-C898-465C-9E53-1359DEDF48C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66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5D8D3-3A5F-B19D-82E4-C2E065FF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32E40-6B3A-43CB-BB9A-293799D95AB7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D298-EF88-8FF6-D6B6-C61593FD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97E-A8EC-4039-FF66-F706A224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025C4-2C71-4531-B238-423D6138207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525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BDC96-5EF4-7DC5-19C3-BFD2FFAD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E2BF9-962C-4287-AC54-1BAC7303D418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25ECA-6641-9343-6AA1-563656E7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8E8B-8EBD-5389-2311-639EDD8B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0F48F-2C28-43F9-A209-8E972C711FF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39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710E1D5-67C1-C7D1-0EDB-62BFC931E0A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3331CC2-2B4F-BD2D-DDAD-E1BEF4FB5E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6EBAF-9CBC-0B48-A669-F21C7BA6A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4274F2B-D764-41E6-B205-89C480E16A97}" type="datetimeFigureOut">
              <a:rPr lang="zh-TW" altLang="en-US"/>
              <a:pPr>
                <a:defRPr/>
              </a:pPr>
              <a:t>2023/10/15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5A221-287D-6E9E-DD49-51F3E9A21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E610B-C242-E268-7FDC-5CD43CCD7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DB7FBB3-44BC-4C81-ADBA-3100D6F3A9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 i="1" kern="1200">
          <a:solidFill>
            <a:srgbClr val="215968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5pPr>
      <a:lvl6pPr marL="457200" algn="r" rtl="0" fontAlgn="base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6pPr>
      <a:lvl7pPr marL="914400" algn="r" rtl="0" fontAlgn="base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7pPr>
      <a:lvl8pPr marL="1371600" algn="r" rtl="0" fontAlgn="base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8pPr>
      <a:lvl9pPr marL="1828800" algn="r" rtl="0" fontAlgn="base">
        <a:spcBef>
          <a:spcPct val="0"/>
        </a:spcBef>
        <a:spcAft>
          <a:spcPct val="0"/>
        </a:spcAft>
        <a:defRPr sz="4400" b="1" i="1">
          <a:solidFill>
            <a:srgbClr val="215968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76092"/>
        </a:buClr>
        <a:buFont typeface="Arial" panose="020B0604020202020204" pitchFamily="34" charset="0"/>
        <a:buChar char="•"/>
        <a:defRPr sz="2800" kern="1200">
          <a:solidFill>
            <a:srgbClr val="17375E"/>
          </a:solidFill>
          <a:latin typeface="Cambria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4F6228"/>
        </a:buClr>
        <a:buFont typeface="Wingdings" panose="05000000000000000000" pitchFamily="2" charset="2"/>
        <a:buChar char="§"/>
        <a:defRPr sz="2800" kern="1200">
          <a:solidFill>
            <a:srgbClr val="4F6228"/>
          </a:solidFill>
          <a:latin typeface="Cambria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403152"/>
        </a:buClr>
        <a:buFont typeface="Arial" panose="020B0604020202020204" pitchFamily="34" charset="0"/>
        <a:buChar char="•"/>
        <a:defRPr sz="2400" kern="1200">
          <a:solidFill>
            <a:srgbClr val="40315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eaconcontroller.ne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noxrepo.org/wp/" TargetMode="External"/><Relationship Id="rId7" Type="http://schemas.openxmlformats.org/officeDocument/2006/relationships/hyperlink" Target="https://sites.google.com/site/routeflow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trema.github.com/trema/" TargetMode="External"/><Relationship Id="rId5" Type="http://schemas.openxmlformats.org/officeDocument/2006/relationships/hyperlink" Target="http://code.google.com/p/maestro-platform/" TargetMode="External"/><Relationship Id="rId4" Type="http://schemas.openxmlformats.org/officeDocument/2006/relationships/hyperlink" Target="http://www.beaconcontroller.net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flow.org/" TargetMode="External"/><Relationship Id="rId7" Type="http://schemas.openxmlformats.org/officeDocument/2006/relationships/hyperlink" Target="http://searchnetworking.techtarget.com/" TargetMode="External"/><Relationship Id="rId2" Type="http://schemas.openxmlformats.org/officeDocument/2006/relationships/hyperlink" Target="https://sites.google.com/site/routeflow/ho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nferences.sigcomm.org/sigcomm/2010/papers/sigcomm/p195.pdf" TargetMode="External"/><Relationship Id="rId5" Type="http://schemas.openxmlformats.org/officeDocument/2006/relationships/hyperlink" Target="https://www.opennetworking.org/" TargetMode="External"/><Relationship Id="rId4" Type="http://schemas.openxmlformats.org/officeDocument/2006/relationships/hyperlink" Target="http://www.opennetsummit.org/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flow.org/wk/index.php/OpenFlow_Tutorial" TargetMode="External"/><Relationship Id="rId3" Type="http://schemas.openxmlformats.org/officeDocument/2006/relationships/hyperlink" Target="http://ieeexplore.ieee.org/xpls/abs_all.jsp?arnumber=6121394&amp;tag=1" TargetMode="External"/><Relationship Id="rId7" Type="http://schemas.openxmlformats.org/officeDocument/2006/relationships/hyperlink" Target="http://www.definethecloud.net/access-layer-network-virtualization-vn-tag-and-vep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penvswitch.org/slides/OVS-Overview-110303.pdf" TargetMode="External"/><Relationship Id="rId5" Type="http://schemas.openxmlformats.org/officeDocument/2006/relationships/hyperlink" Target="http://openvswitch.org/slides/LinuxSummit-2011.pdf" TargetMode="External"/><Relationship Id="rId4" Type="http://schemas.openxmlformats.org/officeDocument/2006/relationships/hyperlink" Target="http://openvswitch.org/slides/openvswitch.en-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74E0-DDB8-8AD3-9BA9-BC9CBA378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altLang="zh-TW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altLang="zh-TW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sz="4000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9F359-40AA-39D9-E6AF-193CBB013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450" y="3200400"/>
            <a:ext cx="6584950" cy="2362200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altLang="zh-TW" sz="3200"/>
              <a:t>Network Virtualization</a:t>
            </a:r>
            <a:endParaRPr lang="zh-TW" altLang="zh-TW" sz="3200"/>
          </a:p>
          <a:p>
            <a:pPr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altLang="zh-TW" sz="2400"/>
              <a:t>Software Defined Network</a:t>
            </a:r>
            <a:endParaRPr altLang="zh-TW" sz="1600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altLang="zh-TW" sz="3200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63C17D5-9022-7466-775A-51E18778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1EEACBA-6F29-D260-CF06-E78C0EB01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052513"/>
            <a:ext cx="7772400" cy="33543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/>
              <a:t>Introduction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>
            <a:extLst>
              <a:ext uri="{FF2B5EF4-FFF2-40B4-BE49-F238E27FC236}">
                <a16:creationId xmlns:a16="http://schemas.microsoft.com/office/drawing/2014/main" id="{E9029BB5-4C81-58A4-0D85-8FC11FF3C344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2068513"/>
            <a:ext cx="2065338" cy="1482725"/>
            <a:chOff x="1728" y="1416"/>
            <a:chExt cx="1301" cy="672"/>
          </a:xfrm>
        </p:grpSpPr>
        <p:sp>
          <p:nvSpPr>
            <p:cNvPr id="14368" name="AutoShape 22">
              <a:extLst>
                <a:ext uri="{FF2B5EF4-FFF2-40B4-BE49-F238E27FC236}">
                  <a16:creationId xmlns:a16="http://schemas.microsoft.com/office/drawing/2014/main" id="{4E42DE0F-87AC-3321-7775-481A2AADE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1416"/>
              <a:ext cx="192" cy="672"/>
            </a:xfrm>
            <a:prstGeom prst="rightBrace">
              <a:avLst>
                <a:gd name="adj1" fmla="val 45306"/>
                <a:gd name="adj2" fmla="val 48514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TW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69" name="Text Box 23">
              <a:extLst>
                <a:ext uri="{FF2B5EF4-FFF2-40B4-BE49-F238E27FC236}">
                  <a16:creationId xmlns:a16="http://schemas.microsoft.com/office/drawing/2014/main" id="{F646ED88-1F5B-8551-767D-3D93B417C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566"/>
              <a:ext cx="1061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Million of lines</a:t>
              </a:r>
              <a:b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</a:b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of source code</a:t>
              </a:r>
            </a:p>
          </p:txBody>
        </p:sp>
      </p:grpSp>
      <p:sp>
        <p:nvSpPr>
          <p:cNvPr id="679960" name="Text Box 24">
            <a:extLst>
              <a:ext uri="{FF2B5EF4-FFF2-40B4-BE49-F238E27FC236}">
                <a16:creationId xmlns:a16="http://schemas.microsoft.com/office/drawing/2014/main" id="{D1BF61CA-BAB4-0143-F2FE-DCB2A8F0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25" y="2486025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5400 RFCs</a:t>
            </a:r>
          </a:p>
        </p:txBody>
      </p:sp>
      <p:sp>
        <p:nvSpPr>
          <p:cNvPr id="679961" name="Text Box 25">
            <a:extLst>
              <a:ext uri="{FF2B5EF4-FFF2-40B4-BE49-F238E27FC236}">
                <a16:creationId xmlns:a16="http://schemas.microsoft.com/office/drawing/2014/main" id="{5B2E6043-9F35-A2F3-3DC2-AE910AFFA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2486025"/>
            <a:ext cx="169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Barrier to entry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35E39BBB-3AA7-A84D-0D41-428AEBAC4F11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3654425"/>
            <a:ext cx="2114550" cy="952500"/>
            <a:chOff x="1728" y="2232"/>
            <a:chExt cx="1332" cy="672"/>
          </a:xfrm>
        </p:grpSpPr>
        <p:sp>
          <p:nvSpPr>
            <p:cNvPr id="14366" name="AutoShape 27">
              <a:extLst>
                <a:ext uri="{FF2B5EF4-FFF2-40B4-BE49-F238E27FC236}">
                  <a16:creationId xmlns:a16="http://schemas.microsoft.com/office/drawing/2014/main" id="{6B8A19CF-9C97-EFAF-CB0B-B7107DA4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232"/>
              <a:ext cx="192" cy="672"/>
            </a:xfrm>
            <a:prstGeom prst="rightBrace">
              <a:avLst>
                <a:gd name="adj1" fmla="val 45306"/>
                <a:gd name="adj2" fmla="val 48514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TW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67" name="Text Box 28">
              <a:extLst>
                <a:ext uri="{FF2B5EF4-FFF2-40B4-BE49-F238E27FC236}">
                  <a16:creationId xmlns:a16="http://schemas.microsoft.com/office/drawing/2014/main" id="{E43BACD1-1B86-C0A0-A4D2-534920CB6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28"/>
              <a:ext cx="1092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500M gates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10Gbytes RAM</a:t>
              </a:r>
            </a:p>
          </p:txBody>
        </p:sp>
      </p:grpSp>
      <p:sp>
        <p:nvSpPr>
          <p:cNvPr id="679965" name="Text Box 29">
            <a:extLst>
              <a:ext uri="{FF2B5EF4-FFF2-40B4-BE49-F238E27FC236}">
                <a16:creationId xmlns:a16="http://schemas.microsoft.com/office/drawing/2014/main" id="{7D461B94-097B-0BEE-D7D8-476BE92BA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25" y="379571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Bloated</a:t>
            </a:r>
          </a:p>
        </p:txBody>
      </p:sp>
      <p:sp>
        <p:nvSpPr>
          <p:cNvPr id="679966" name="Text Box 30">
            <a:extLst>
              <a:ext uri="{FF2B5EF4-FFF2-40B4-BE49-F238E27FC236}">
                <a16:creationId xmlns:a16="http://schemas.microsoft.com/office/drawing/2014/main" id="{E7963D3F-29B9-262B-CA95-63CEA5ED2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3795713"/>
            <a:ext cx="163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Power Hungry</a:t>
            </a:r>
          </a:p>
        </p:txBody>
      </p:sp>
      <p:sp>
        <p:nvSpPr>
          <p:cNvPr id="679968" name="Text Box 32">
            <a:extLst>
              <a:ext uri="{FF2B5EF4-FFF2-40B4-BE49-F238E27FC236}">
                <a16:creationId xmlns:a16="http://schemas.microsoft.com/office/drawing/2014/main" id="{26190D76-BB87-B403-A2F7-2377CD850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4789488"/>
            <a:ext cx="702310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4572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</a:rPr>
              <a:t>Many complex functions baked into the infrastructure</a:t>
            </a:r>
          </a:p>
          <a:p>
            <a:pPr lvl="2" eaLnBrk="1" hangingPunct="1">
              <a:lnSpc>
                <a:spcPct val="80000"/>
              </a:lnSpc>
              <a:buClr>
                <a:schemeClr val="tx1"/>
              </a:buClr>
              <a:buSzPct val="75000"/>
              <a:buFontTx/>
              <a:buNone/>
            </a:pPr>
            <a:r>
              <a:rPr kumimoji="0" lang="en-US" altLang="zh-TW" sz="2000" i="1">
                <a:solidFill>
                  <a:schemeClr val="tx2"/>
                </a:solidFill>
              </a:rPr>
              <a:t>OSPF, BGP, multicast, differentiated services,</a:t>
            </a:r>
            <a:br>
              <a:rPr kumimoji="0" lang="en-US" altLang="zh-TW" sz="2000" i="1">
                <a:solidFill>
                  <a:schemeClr val="tx2"/>
                </a:solidFill>
              </a:rPr>
            </a:br>
            <a:r>
              <a:rPr kumimoji="0" lang="en-US" altLang="zh-TW" sz="2000" i="1">
                <a:solidFill>
                  <a:schemeClr val="tx2"/>
                </a:solidFill>
              </a:rPr>
              <a:t>Traffic Engineering, NAT, firewalls, MPLS, redundant layers, …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kumimoji="0" lang="en-US" altLang="zh-TW" sz="2400">
              <a:solidFill>
                <a:schemeClr val="accent2"/>
              </a:solidFill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Tx/>
              <a:buNone/>
            </a:pPr>
            <a:r>
              <a:rPr kumimoji="0" lang="en-US" altLang="zh-TW" sz="2400">
                <a:solidFill>
                  <a:srgbClr val="000000"/>
                </a:solidFill>
                <a:latin typeface="Calibri" panose="020F0502020204030204" pitchFamily="34" charset="0"/>
              </a:rPr>
              <a:t>An industry with a “mainframe-mentality”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endParaRPr kumimoji="0" lang="en-US" altLang="zh-TW" sz="24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4345" name="Title 26">
            <a:extLst>
              <a:ext uri="{FF2B5EF4-FFF2-40B4-BE49-F238E27FC236}">
                <a16:creationId xmlns:a16="http://schemas.microsoft.com/office/drawing/2014/main" id="{75B713E8-4915-42FB-6620-359FC9B3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We have lost our way</a:t>
            </a:r>
          </a:p>
        </p:txBody>
      </p:sp>
      <p:pic>
        <p:nvPicPr>
          <p:cNvPr id="14346" name="Picture 24">
            <a:extLst>
              <a:ext uri="{FF2B5EF4-FFF2-40B4-BE49-F238E27FC236}">
                <a16:creationId xmlns:a16="http://schemas.microsoft.com/office/drawing/2014/main" id="{F279E659-6D90-C2DF-2D79-9FD19D8F3A9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22225"/>
            <a:ext cx="2262188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C61899-F928-96A5-544B-3A1082B83A0E}"/>
              </a:ext>
            </a:extLst>
          </p:cNvPr>
          <p:cNvSpPr/>
          <p:nvPr/>
        </p:nvSpPr>
        <p:spPr>
          <a:xfrm>
            <a:off x="457201" y="3654186"/>
            <a:ext cx="2366984" cy="9525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>
                <a:solidFill>
                  <a:srgbClr val="C3D69B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1400" b="1">
              <a:solidFill>
                <a:srgbClr val="C3D69B"/>
              </a:solidFill>
              <a:ea typeface="ＭＳ Ｐゴシック" pitchFamily="-109" charset="-128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99C582-3197-60A8-29E5-9977D8C6BFB1}"/>
              </a:ext>
            </a:extLst>
          </p:cNvPr>
          <p:cNvSpPr/>
          <p:nvPr/>
        </p:nvSpPr>
        <p:spPr>
          <a:xfrm>
            <a:off x="457200" y="2763022"/>
            <a:ext cx="2366985" cy="788185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44E7B97-7541-9B6D-3081-9F2FE314DF6B}"/>
              </a:ext>
            </a:extLst>
          </p:cNvPr>
          <p:cNvSpPr/>
          <p:nvPr/>
        </p:nvSpPr>
        <p:spPr>
          <a:xfrm>
            <a:off x="457201" y="2069064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F982615-A902-E8C1-C60B-400CF0011711}"/>
              </a:ext>
            </a:extLst>
          </p:cNvPr>
          <p:cNvSpPr/>
          <p:nvPr/>
        </p:nvSpPr>
        <p:spPr>
          <a:xfrm>
            <a:off x="1048947" y="2069064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9541454-0690-2350-867B-3276EB943A58}"/>
              </a:ext>
            </a:extLst>
          </p:cNvPr>
          <p:cNvSpPr/>
          <p:nvPr/>
        </p:nvSpPr>
        <p:spPr>
          <a:xfrm>
            <a:off x="2232439" y="2069064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14362" name="Straight Connector 30">
            <a:extLst>
              <a:ext uri="{FF2B5EF4-FFF2-40B4-BE49-F238E27FC236}">
                <a16:creationId xmlns:a16="http://schemas.microsoft.com/office/drawing/2014/main" id="{8095666F-2770-2672-0EC5-208000FD02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1475" y="2365375"/>
            <a:ext cx="590550" cy="15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Group 37">
            <a:extLst>
              <a:ext uri="{FF2B5EF4-FFF2-40B4-BE49-F238E27FC236}">
                <a16:creationId xmlns:a16="http://schemas.microsoft.com/office/drawing/2014/main" id="{AD1FE122-E03F-16F7-798D-971DAA6AFE1B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1285875"/>
            <a:ext cx="5314950" cy="782638"/>
            <a:chOff x="2528312" y="1285694"/>
            <a:chExt cx="5315140" cy="78337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F73DD4-243F-00CA-7020-7D3B31A174C5}"/>
                </a:ext>
              </a:extLst>
            </p:cNvPr>
            <p:cNvSpPr txBox="1"/>
            <p:nvPr/>
          </p:nvSpPr>
          <p:spPr>
            <a:xfrm>
              <a:off x="3349078" y="1285694"/>
              <a:ext cx="4494374" cy="64671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>
                  <a:latin typeface="Calibri" pitchFamily="-109" charset="0"/>
                  <a:ea typeface="+mn-ea"/>
                </a:rPr>
                <a:t>Routing, management, mobility management, </a:t>
              </a:r>
              <a:br>
                <a:rPr kumimoji="0" lang="en-US" altLang="zh-TW">
                  <a:latin typeface="Calibri" pitchFamily="-109" charset="0"/>
                  <a:ea typeface="+mn-ea"/>
                </a:rPr>
              </a:br>
              <a:r>
                <a:rPr kumimoji="0" lang="en-US" altLang="zh-TW">
                  <a:latin typeface="Calibri" pitchFamily="-109" charset="0"/>
                  <a:ea typeface="+mn-ea"/>
                </a:rPr>
                <a:t>access control, VPNs, …</a:t>
              </a:r>
            </a:p>
          </p:txBody>
        </p:sp>
        <p:cxnSp>
          <p:nvCxnSpPr>
            <p:cNvPr id="14365" name="Straight Arrow Connector 36">
              <a:extLst>
                <a:ext uri="{FF2B5EF4-FFF2-40B4-BE49-F238E27FC236}">
                  <a16:creationId xmlns:a16="http://schemas.microsoft.com/office/drawing/2014/main" id="{7A7A3CE7-E165-1DD1-E54E-C176B1AA0E3D}"/>
                </a:ext>
              </a:extLst>
            </p:cNvPr>
            <p:cNvCxnSpPr>
              <a:cxnSpLocks noChangeShapeType="1"/>
              <a:stCxn id="33" idx="1"/>
            </p:cNvCxnSpPr>
            <p:nvPr/>
          </p:nvCxnSpPr>
          <p:spPr bwMode="auto">
            <a:xfrm rot="10800000" flipV="1">
              <a:off x="2528312" y="1608258"/>
              <a:ext cx="820766" cy="460806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60" grpId="0"/>
      <p:bldP spid="679961" grpId="0"/>
      <p:bldP spid="679965" grpId="0"/>
      <p:bldP spid="679966" grpId="0"/>
      <p:bldP spid="6799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90">
            <a:extLst>
              <a:ext uri="{FF2B5EF4-FFF2-40B4-BE49-F238E27FC236}">
                <a16:creationId xmlns:a16="http://schemas.microsoft.com/office/drawing/2014/main" id="{105B3CA8-6801-BE6A-D0EF-46844B63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825" y="2176463"/>
            <a:ext cx="2366963" cy="1558925"/>
          </a:xfrm>
          <a:custGeom>
            <a:avLst/>
            <a:gdLst>
              <a:gd name="T0" fmla="*/ 0 w 2451027"/>
              <a:gd name="T1" fmla="*/ 0 h 1403627"/>
              <a:gd name="T2" fmla="*/ 548710 w 2451027"/>
              <a:gd name="T3" fmla="*/ 12378 h 1403627"/>
              <a:gd name="T4" fmla="*/ 914517 w 2451027"/>
              <a:gd name="T5" fmla="*/ 507485 h 1403627"/>
              <a:gd name="T6" fmla="*/ 1269564 w 2451027"/>
              <a:gd name="T7" fmla="*/ 482730 h 1403627"/>
              <a:gd name="T8" fmla="*/ 1366395 w 2451027"/>
              <a:gd name="T9" fmla="*/ 210420 h 1403627"/>
              <a:gd name="T10" fmla="*/ 1635371 w 2451027"/>
              <a:gd name="T11" fmla="*/ 198043 h 1403627"/>
              <a:gd name="T12" fmla="*/ 1613852 w 2451027"/>
              <a:gd name="T13" fmla="*/ 742661 h 1403627"/>
              <a:gd name="T14" fmla="*/ 2033454 w 2451027"/>
              <a:gd name="T15" fmla="*/ 742661 h 1403627"/>
              <a:gd name="T16" fmla="*/ 2044213 w 2451027"/>
              <a:gd name="T17" fmla="*/ 12378 h 1403627"/>
              <a:gd name="T18" fmla="*/ 2366984 w 2451027"/>
              <a:gd name="T19" fmla="*/ 0 h 1403627"/>
              <a:gd name="T20" fmla="*/ 2356225 w 2451027"/>
              <a:gd name="T21" fmla="*/ 1027348 h 1403627"/>
              <a:gd name="T22" fmla="*/ 1796756 w 2451027"/>
              <a:gd name="T23" fmla="*/ 1027348 h 1403627"/>
              <a:gd name="T24" fmla="*/ 1785997 w 2451027"/>
              <a:gd name="T25" fmla="*/ 1559588 h 1403627"/>
              <a:gd name="T26" fmla="*/ 1291082 w 2451027"/>
              <a:gd name="T27" fmla="*/ 1386301 h 1403627"/>
              <a:gd name="T28" fmla="*/ 1248045 w 2451027"/>
              <a:gd name="T29" fmla="*/ 841682 h 1403627"/>
              <a:gd name="T30" fmla="*/ 602505 w 2451027"/>
              <a:gd name="T31" fmla="*/ 940704 h 1403627"/>
              <a:gd name="T32" fmla="*/ 494914 w 2451027"/>
              <a:gd name="T33" fmla="*/ 1225391 h 1403627"/>
              <a:gd name="T34" fmla="*/ 150626 w 2451027"/>
              <a:gd name="T35" fmla="*/ 1200635 h 1403627"/>
              <a:gd name="T36" fmla="*/ 0 w 2451027"/>
              <a:gd name="T37" fmla="*/ 594129 h 1403627"/>
              <a:gd name="T38" fmla="*/ 0 w 2451027"/>
              <a:gd name="T39" fmla="*/ 0 h 1403627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451027"/>
              <a:gd name="T61" fmla="*/ 0 h 1403627"/>
              <a:gd name="T62" fmla="*/ 2451027 w 2451027"/>
              <a:gd name="T63" fmla="*/ 1403627 h 1403627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451027" h="1403627">
                <a:moveTo>
                  <a:pt x="0" y="0"/>
                </a:moveTo>
                <a:lnTo>
                  <a:pt x="568193" y="11140"/>
                </a:lnTo>
                <a:lnTo>
                  <a:pt x="946988" y="456736"/>
                </a:lnTo>
                <a:lnTo>
                  <a:pt x="1314642" y="434456"/>
                </a:lnTo>
                <a:lnTo>
                  <a:pt x="1414911" y="189378"/>
                </a:lnTo>
                <a:lnTo>
                  <a:pt x="1693437" y="178238"/>
                </a:lnTo>
                <a:lnTo>
                  <a:pt x="1671154" y="668394"/>
                </a:lnTo>
                <a:lnTo>
                  <a:pt x="2105655" y="668394"/>
                </a:lnTo>
                <a:lnTo>
                  <a:pt x="2116796" y="11140"/>
                </a:lnTo>
                <a:lnTo>
                  <a:pt x="2451027" y="0"/>
                </a:lnTo>
                <a:lnTo>
                  <a:pt x="2439886" y="924612"/>
                </a:lnTo>
                <a:lnTo>
                  <a:pt x="1860552" y="924612"/>
                </a:lnTo>
                <a:lnTo>
                  <a:pt x="1849411" y="1403627"/>
                </a:lnTo>
                <a:lnTo>
                  <a:pt x="1336924" y="1247669"/>
                </a:lnTo>
                <a:lnTo>
                  <a:pt x="1292359" y="757513"/>
                </a:lnTo>
                <a:lnTo>
                  <a:pt x="623898" y="846632"/>
                </a:lnTo>
                <a:lnTo>
                  <a:pt x="512487" y="1102850"/>
                </a:lnTo>
                <a:lnTo>
                  <a:pt x="155974" y="1080570"/>
                </a:lnTo>
                <a:lnTo>
                  <a:pt x="0" y="534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>
                <a:solidFill>
                  <a:srgbClr val="FFFFFF"/>
                </a:solidFill>
                <a:latin typeface="Calibri" pitchFamily="-109" charset="0"/>
                <a:ea typeface="+mn-ea"/>
              </a:rPr>
              <a:t>Operating System</a:t>
            </a:r>
          </a:p>
        </p:txBody>
      </p:sp>
      <p:sp>
        <p:nvSpPr>
          <p:cNvPr id="16387" name="Title 47">
            <a:extLst>
              <a:ext uri="{FF2B5EF4-FFF2-40B4-BE49-F238E27FC236}">
                <a16:creationId xmlns:a16="http://schemas.microsoft.com/office/drawing/2014/main" id="{2F2646A3-B27E-629B-828F-A6A861ED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/>
            <a:r>
              <a:rPr lang="en-US" altLang="zh-TW"/>
              <a:t>Reality</a:t>
            </a:r>
          </a:p>
        </p:txBody>
      </p:sp>
      <p:sp>
        <p:nvSpPr>
          <p:cNvPr id="16388" name="TextBox 48">
            <a:extLst>
              <a:ext uri="{FF2B5EF4-FFF2-40B4-BE49-F238E27FC236}">
                <a16:creationId xmlns:a16="http://schemas.microsoft.com/office/drawing/2014/main" id="{E5EA37C9-55D5-CE86-3255-A76CC6F0C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9785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TW" altLang="zh-TW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533173E-9308-E944-628F-7A5D6D1B90F0}"/>
              </a:ext>
            </a:extLst>
          </p:cNvPr>
          <p:cNvSpPr/>
          <p:nvPr/>
        </p:nvSpPr>
        <p:spPr>
          <a:xfrm>
            <a:off x="5330905" y="1485962"/>
            <a:ext cx="591746" cy="100220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9AA2251-F4D7-8C8F-944C-C152C014A549}"/>
              </a:ext>
            </a:extLst>
          </p:cNvPr>
          <p:cNvSpPr/>
          <p:nvPr/>
        </p:nvSpPr>
        <p:spPr>
          <a:xfrm>
            <a:off x="6218524" y="2005872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DE85BE6-B12A-B47F-A278-DE006845A2E8}"/>
              </a:ext>
            </a:extLst>
          </p:cNvPr>
          <p:cNvSpPr/>
          <p:nvPr/>
        </p:nvSpPr>
        <p:spPr>
          <a:xfrm>
            <a:off x="7106143" y="1340768"/>
            <a:ext cx="591746" cy="1503886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62DE7445-21B5-A0FF-E2A2-8590150A2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2944813"/>
            <a:ext cx="2373312" cy="1092200"/>
          </a:xfrm>
          <a:custGeom>
            <a:avLst/>
            <a:gdLst>
              <a:gd name="T0" fmla="*/ 11141 w 2373039"/>
              <a:gd name="T1" fmla="*/ 0 h 1091710"/>
              <a:gd name="T2" fmla="*/ 0 w 2373039"/>
              <a:gd name="T3" fmla="*/ 1036011 h 1091710"/>
              <a:gd name="T4" fmla="*/ 2373039 w 2373039"/>
              <a:gd name="T5" fmla="*/ 1091710 h 1091710"/>
              <a:gd name="T6" fmla="*/ 2373039 w 2373039"/>
              <a:gd name="T7" fmla="*/ 311917 h 1091710"/>
              <a:gd name="T8" fmla="*/ 1548603 w 2373039"/>
              <a:gd name="T9" fmla="*/ 300778 h 1091710"/>
              <a:gd name="T10" fmla="*/ 1526321 w 2373039"/>
              <a:gd name="T11" fmla="*/ 846633 h 1091710"/>
              <a:gd name="T12" fmla="*/ 1136385 w 2373039"/>
              <a:gd name="T13" fmla="*/ 802073 h 1091710"/>
              <a:gd name="T14" fmla="*/ 935846 w 2373039"/>
              <a:gd name="T15" fmla="*/ 189379 h 1091710"/>
              <a:gd name="T16" fmla="*/ 523628 w 2373039"/>
              <a:gd name="T17" fmla="*/ 189379 h 1091710"/>
              <a:gd name="T18" fmla="*/ 300807 w 2373039"/>
              <a:gd name="T19" fmla="*/ 345337 h 1091710"/>
              <a:gd name="T20" fmla="*/ 11141 w 2373039"/>
              <a:gd name="T21" fmla="*/ 0 h 109171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73039"/>
              <a:gd name="T34" fmla="*/ 0 h 1091710"/>
              <a:gd name="T35" fmla="*/ 2373039 w 2373039"/>
              <a:gd name="T36" fmla="*/ 1091710 h 109171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73039" h="1091710">
                <a:moveTo>
                  <a:pt x="11141" y="0"/>
                </a:moveTo>
                <a:lnTo>
                  <a:pt x="0" y="1036011"/>
                </a:lnTo>
                <a:lnTo>
                  <a:pt x="2373039" y="1091710"/>
                </a:lnTo>
                <a:lnTo>
                  <a:pt x="2373039" y="311917"/>
                </a:lnTo>
                <a:lnTo>
                  <a:pt x="1548603" y="300778"/>
                </a:lnTo>
                <a:lnTo>
                  <a:pt x="1526321" y="846633"/>
                </a:lnTo>
                <a:lnTo>
                  <a:pt x="1136385" y="802073"/>
                </a:lnTo>
                <a:lnTo>
                  <a:pt x="935846" y="189379"/>
                </a:lnTo>
                <a:lnTo>
                  <a:pt x="523628" y="189379"/>
                </a:lnTo>
                <a:lnTo>
                  <a:pt x="300807" y="345337"/>
                </a:lnTo>
                <a:lnTo>
                  <a:pt x="11141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b="1">
                <a:solidFill>
                  <a:srgbClr val="C3D69B"/>
                </a:solidFill>
                <a:latin typeface="Calibri" pitchFamily="-109" charset="0"/>
                <a:ea typeface="+mn-ea"/>
              </a:rPr>
              <a:t>Specialized Packet Forwarding Hardware</a:t>
            </a:r>
            <a:endParaRPr kumimoji="0" lang="en-US" altLang="zh-TW" sz="1600" b="1">
              <a:solidFill>
                <a:srgbClr val="C3D69B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629EC941-695A-04DA-1B29-A90C6DB6E898}"/>
              </a:ext>
            </a:extLst>
          </p:cNvPr>
          <p:cNvSpPr/>
          <p:nvPr/>
        </p:nvSpPr>
        <p:spPr>
          <a:xfrm>
            <a:off x="698844" y="3030514"/>
            <a:ext cx="2366984" cy="9525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b="1">
                <a:solidFill>
                  <a:srgbClr val="D7E4BD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1600" b="1">
              <a:solidFill>
                <a:srgbClr val="D7E4BD"/>
              </a:solidFill>
              <a:ea typeface="ＭＳ Ｐゴシック" pitchFamily="-109" charset="-128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65FA73F-0757-4BFA-C649-41CEB2984E68}"/>
              </a:ext>
            </a:extLst>
          </p:cNvPr>
          <p:cNvSpPr/>
          <p:nvPr/>
        </p:nvSpPr>
        <p:spPr>
          <a:xfrm>
            <a:off x="698843" y="2139350"/>
            <a:ext cx="2366985" cy="788185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CE310361-5AF9-C2F4-516E-B83940B784F8}"/>
              </a:ext>
            </a:extLst>
          </p:cNvPr>
          <p:cNvSpPr/>
          <p:nvPr/>
        </p:nvSpPr>
        <p:spPr>
          <a:xfrm>
            <a:off x="698844" y="1445392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F0E8398C-DA1E-A52A-EF9B-E1FE5C3A65AA}"/>
              </a:ext>
            </a:extLst>
          </p:cNvPr>
          <p:cNvSpPr/>
          <p:nvPr/>
        </p:nvSpPr>
        <p:spPr>
          <a:xfrm>
            <a:off x="1290590" y="1445392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E4A58A-E50B-98A3-5F84-C809EE2CCD44}"/>
              </a:ext>
            </a:extLst>
          </p:cNvPr>
          <p:cNvSpPr/>
          <p:nvPr/>
        </p:nvSpPr>
        <p:spPr>
          <a:xfrm>
            <a:off x="2474082" y="1445392"/>
            <a:ext cx="591746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6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16414" name="Straight Connector 99">
            <a:extLst>
              <a:ext uri="{FF2B5EF4-FFF2-40B4-BE49-F238E27FC236}">
                <a16:creationId xmlns:a16="http://schemas.microsoft.com/office/drawing/2014/main" id="{CAB5DBB2-7F35-009A-94E6-2233132DF0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2775" y="1741488"/>
            <a:ext cx="590550" cy="158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Right Arrow 100">
            <a:extLst>
              <a:ext uri="{FF2B5EF4-FFF2-40B4-BE49-F238E27FC236}">
                <a16:creationId xmlns:a16="http://schemas.microsoft.com/office/drawing/2014/main" id="{1A36075C-435D-B8C0-A13D-7AAA73168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2487613"/>
            <a:ext cx="685800" cy="5334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2320" name="TextBox 102">
            <a:extLst>
              <a:ext uri="{FF2B5EF4-FFF2-40B4-BE49-F238E27FC236}">
                <a16:creationId xmlns:a16="http://schemas.microsoft.com/office/drawing/2014/main" id="{29AF4E9F-CF58-B839-6085-D0F7C11D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365625"/>
            <a:ext cx="6718300" cy="23082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Calibri" pitchFamily="34" charset="0"/>
              </a:rPr>
              <a:t> Lack of competition means glacial innovation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Calibri" pitchFamily="34" charset="0"/>
              </a:rPr>
              <a:t> Closed architecture means blurry, closed interfaces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Calibri" pitchFamily="34" charset="0"/>
                <a:cs typeface="Times New Roman" pitchFamily="18" charset="0"/>
              </a:rPr>
              <a:t> </a:t>
            </a:r>
            <a:r>
              <a:rPr kumimoji="0" lang="en-US" altLang="zh-TW" sz="2400" dirty="0">
                <a:latin typeface="+mn-lt"/>
                <a:cs typeface="Times New Roman" pitchFamily="18" charset="0"/>
              </a:rPr>
              <a:t>Vertically integrated, complex, closed, proprietary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+mn-lt"/>
                <a:cs typeface="Times New Roman" pitchFamily="18" charset="0"/>
              </a:rPr>
              <a:t> Not suitable for experimental ideas</a:t>
            </a:r>
            <a:endParaRPr kumimoji="0" lang="zh-TW" altLang="en-US" sz="2400" dirty="0">
              <a:latin typeface="+mn-lt"/>
              <a:cs typeface="Times New Roman" pitchFamily="18" charset="0"/>
            </a:endParaRP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+mn-lt"/>
              </a:rPr>
              <a:t> </a:t>
            </a:r>
            <a:r>
              <a:rPr kumimoji="0" lang="en-US" altLang="zh-TW" sz="2400" dirty="0">
                <a:latin typeface="+mn-lt"/>
                <a:cs typeface="Times New Roman" pitchFamily="18" charset="0"/>
              </a:rPr>
              <a:t>Not good for network owners &amp; users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kumimoji="0" lang="en-US" altLang="zh-TW" sz="2400" dirty="0">
                <a:latin typeface="+mn-lt"/>
                <a:cs typeface="Times New Roman" pitchFamily="18" charset="0"/>
              </a:rPr>
              <a:t> Not good for researchers</a:t>
            </a:r>
            <a:endParaRPr kumimoji="0" lang="en-US" altLang="zh-TW" sz="24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333CAE24-C7B0-3283-6BDA-19295E44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>
                <a:solidFill>
                  <a:schemeClr val="accent5">
                    <a:lumMod val="50000"/>
                  </a:schemeClr>
                </a:solidFill>
              </a:rPr>
              <a:t>Glacial process of innovation made worse by captive standards process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816AF4EB-8568-FF5E-B8C5-6E44F4DC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38400"/>
            <a:ext cx="1295400" cy="1143000"/>
          </a:xfrm>
          <a:custGeom>
            <a:avLst/>
            <a:gdLst>
              <a:gd name="T0" fmla="*/ 1294321 w 43200"/>
              <a:gd name="T1" fmla="*/ 571500 h 43200"/>
              <a:gd name="T2" fmla="*/ 647700 w 43200"/>
              <a:gd name="T3" fmla="*/ 1141783 h 43200"/>
              <a:gd name="T4" fmla="*/ 4018 w 43200"/>
              <a:gd name="T5" fmla="*/ 571500 h 43200"/>
              <a:gd name="T6" fmla="*/ 647700 w 43200"/>
              <a:gd name="T7" fmla="*/ 65352 h 43200"/>
              <a:gd name="T8" fmla="*/ 0 60000 65536"/>
              <a:gd name="T9" fmla="*/ 1 60000 65536"/>
              <a:gd name="T10" fmla="*/ 2 60000 65536"/>
              <a:gd name="T11" fmla="*/ 3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cxnSp>
        <p:nvCxnSpPr>
          <p:cNvPr id="18436" name="Straight Arrow Connector 5">
            <a:extLst>
              <a:ext uri="{FF2B5EF4-FFF2-40B4-BE49-F238E27FC236}">
                <a16:creationId xmlns:a16="http://schemas.microsoft.com/office/drawing/2014/main" id="{A40C7551-1364-6FDC-9FBE-D89A86EA4C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6000" y="2971800"/>
            <a:ext cx="838200" cy="1588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Can 8">
            <a:extLst>
              <a:ext uri="{FF2B5EF4-FFF2-40B4-BE49-F238E27FC236}">
                <a16:creationId xmlns:a16="http://schemas.microsoft.com/office/drawing/2014/main" id="{E0E0DADE-B103-21A8-12F1-2EB7559B0BD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57600" y="1905000"/>
            <a:ext cx="1219200" cy="2286000"/>
          </a:xfrm>
          <a:prstGeom prst="can">
            <a:avLst>
              <a:gd name="adj" fmla="val 29852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91F0B3-D8F8-3E2B-7157-75411852B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43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cxnSp>
        <p:nvCxnSpPr>
          <p:cNvPr id="18439" name="Straight Arrow Connector 13">
            <a:extLst>
              <a:ext uri="{FF2B5EF4-FFF2-40B4-BE49-F238E27FC236}">
                <a16:creationId xmlns:a16="http://schemas.microsoft.com/office/drawing/2014/main" id="{6F967F30-81FA-DF67-4172-FAC5420C7C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57800" y="2971800"/>
            <a:ext cx="838200" cy="1588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7B0FD3-CFBB-3E40-C2C9-FC415805E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133600"/>
            <a:ext cx="2362200" cy="17526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8441" name="TextBox 15">
            <a:extLst>
              <a:ext uri="{FF2B5EF4-FFF2-40B4-BE49-F238E27FC236}">
                <a16:creationId xmlns:a16="http://schemas.microsoft.com/office/drawing/2014/main" id="{6DCE536D-7274-615D-B014-DD67F422A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1752600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Deployment</a:t>
            </a:r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0E607BF5-3EF6-A429-DA42-A9692029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514600"/>
            <a:ext cx="914400" cy="838200"/>
          </a:xfrm>
          <a:custGeom>
            <a:avLst/>
            <a:gdLst>
              <a:gd name="T0" fmla="*/ 914400 w 914400"/>
              <a:gd name="T1" fmla="*/ 419100 h 838200"/>
              <a:gd name="T2" fmla="*/ 780489 w 914400"/>
              <a:gd name="T3" fmla="*/ 715448 h 838200"/>
              <a:gd name="T4" fmla="*/ 457200 w 914400"/>
              <a:gd name="T5" fmla="*/ 838200 h 838200"/>
              <a:gd name="T6" fmla="*/ 133911 w 914400"/>
              <a:gd name="T7" fmla="*/ 715448 h 838200"/>
              <a:gd name="T8" fmla="*/ 0 w 914400"/>
              <a:gd name="T9" fmla="*/ 419100 h 838200"/>
              <a:gd name="T10" fmla="*/ 133911 w 914400"/>
              <a:gd name="T11" fmla="*/ 122752 h 838200"/>
              <a:gd name="T12" fmla="*/ 457200 w 914400"/>
              <a:gd name="T13" fmla="*/ 0 h 838200"/>
              <a:gd name="T14" fmla="*/ 914400 w 914400"/>
              <a:gd name="T15" fmla="*/ 0 h 838200"/>
              <a:gd name="T16" fmla="*/ 0 60000 65536"/>
              <a:gd name="T17" fmla="*/ 1 60000 65536"/>
              <a:gd name="T18" fmla="*/ 1 60000 65536"/>
              <a:gd name="T19" fmla="*/ 1 60000 65536"/>
              <a:gd name="T20" fmla="*/ 2 60000 65536"/>
              <a:gd name="T21" fmla="*/ 3 60000 65536"/>
              <a:gd name="T22" fmla="*/ 3 60000 65536"/>
              <a:gd name="T23" fmla="*/ 3 60000 65536"/>
              <a:gd name="T24" fmla="*/ 133911 w 914400"/>
              <a:gd name="T25" fmla="*/ 122752 h 838200"/>
              <a:gd name="T26" fmla="*/ 780489 w 914400"/>
              <a:gd name="T27" fmla="*/ 715448 h 8382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14400" h="838200">
                <a:moveTo>
                  <a:pt x="0" y="419100"/>
                </a:moveTo>
                <a:lnTo>
                  <a:pt x="0" y="419100"/>
                </a:lnTo>
                <a:cubicBezTo>
                  <a:pt x="0" y="187637"/>
                  <a:pt x="204695" y="0"/>
                  <a:pt x="457199" y="0"/>
                </a:cubicBezTo>
                <a:cubicBezTo>
                  <a:pt x="609600" y="0"/>
                  <a:pt x="762000" y="0"/>
                  <a:pt x="914400" y="0"/>
                </a:cubicBezTo>
                <a:lnTo>
                  <a:pt x="914400" y="0"/>
                </a:lnTo>
                <a:cubicBezTo>
                  <a:pt x="914400" y="139700"/>
                  <a:pt x="914400" y="279400"/>
                  <a:pt x="914400" y="419100"/>
                </a:cubicBezTo>
                <a:lnTo>
                  <a:pt x="914400" y="419100"/>
                </a:lnTo>
                <a:cubicBezTo>
                  <a:pt x="914400" y="650562"/>
                  <a:pt x="709704" y="838199"/>
                  <a:pt x="457200" y="838200"/>
                </a:cubicBezTo>
                <a:cubicBezTo>
                  <a:pt x="204695" y="838200"/>
                  <a:pt x="0" y="650562"/>
                  <a:pt x="0" y="419100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D707F6-8CA2-2BA2-1EE1-5FC6482B1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048000"/>
            <a:ext cx="609600" cy="533400"/>
          </a:xfrm>
          <a:prstGeom prst="plus">
            <a:avLst>
              <a:gd name="adj" fmla="val 25000"/>
            </a:avLst>
          </a:prstGeom>
          <a:solidFill>
            <a:srgbClr val="FF00FF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8444" name="TextBox 16">
            <a:extLst>
              <a:ext uri="{FF2B5EF4-FFF2-40B4-BE49-F238E27FC236}">
                <a16:creationId xmlns:a16="http://schemas.microsoft.com/office/drawing/2014/main" id="{F6E7AEB4-0D63-9A2B-3C2E-04B80F53F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633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Idea</a:t>
            </a:r>
          </a:p>
        </p:txBody>
      </p:sp>
      <p:sp>
        <p:nvSpPr>
          <p:cNvPr id="18445" name="TextBox 17">
            <a:extLst>
              <a:ext uri="{FF2B5EF4-FFF2-40B4-BE49-F238E27FC236}">
                <a16:creationId xmlns:a16="http://schemas.microsoft.com/office/drawing/2014/main" id="{9B86AF4D-9923-3006-192C-F4280AEB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057400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Standardize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24AADEC-13BA-F3BD-55A2-4A05CF76775B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743200"/>
            <a:ext cx="2057400" cy="838200"/>
            <a:chOff x="3429000" y="2743200"/>
            <a:chExt cx="2057400" cy="838200"/>
          </a:xfrm>
        </p:grpSpPr>
        <p:sp>
          <p:nvSpPr>
            <p:cNvPr id="18448" name="TextBox 12">
              <a:extLst>
                <a:ext uri="{FF2B5EF4-FFF2-40B4-BE49-F238E27FC236}">
                  <a16:creationId xmlns:a16="http://schemas.microsoft.com/office/drawing/2014/main" id="{0E6E0911-70D1-F874-F360-A6D6D55AB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3212068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Wait 10 years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F4774D0-8897-01BA-5BFC-9271A4BB4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743200"/>
              <a:ext cx="457200" cy="4572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solidFill>
                  <a:srgbClr val="FFFFFF"/>
                </a:solidFill>
                <a:latin typeface="Calibri" pitchFamily="-109" charset="0"/>
                <a:ea typeface="+mn-ea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E79B42B-1B09-F19B-15CB-7F273A796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244975"/>
            <a:ext cx="671353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5760" anchor="ctr"/>
          <a:lstStyle>
            <a:lvl1pPr marL="228600" indent="-2286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</a:rPr>
              <a:t>Driven by vendors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</a:rPr>
              <a:t>Consumers largely locked out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</a:rPr>
              <a:t>Lowest common denominator features</a:t>
            </a:r>
          </a:p>
          <a:p>
            <a:pPr eaLnBrk="1" hangingPunct="1">
              <a:spcBef>
                <a:spcPct val="0"/>
              </a:spcBef>
              <a:buClrTx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</a:rPr>
              <a:t>Glacial innovation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4883C18-CB12-AA5F-5D04-30AB23A9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9799044F-925F-8663-E9CE-9AF3FB7A7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052513"/>
            <a:ext cx="7772400" cy="33543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/>
              <a:t>Motivation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910F34D2-A193-D852-3224-4E1F11AD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85900"/>
            <a:ext cx="3733800" cy="3733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noFill/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58140A8-3E94-FF97-C762-EC3AF6437DA0}"/>
              </a:ext>
            </a:extLst>
          </p:cNvPr>
          <p:cNvSpPr/>
          <p:nvPr/>
        </p:nvSpPr>
        <p:spPr>
          <a:xfrm>
            <a:off x="815009" y="2748089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Windows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FD322EC-2BCD-00C7-4235-9116622F095A}"/>
              </a:ext>
            </a:extLst>
          </p:cNvPr>
          <p:cNvSpPr/>
          <p:nvPr/>
        </p:nvSpPr>
        <p:spPr>
          <a:xfrm>
            <a:off x="750404" y="2814056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Windows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B333057-D8E0-AE2F-B1E3-D0DA332BB2EF}"/>
              </a:ext>
            </a:extLst>
          </p:cNvPr>
          <p:cNvSpPr/>
          <p:nvPr/>
        </p:nvSpPr>
        <p:spPr>
          <a:xfrm>
            <a:off x="2042491" y="2748089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9D9F41D-3E06-FAD1-CA7B-F30C4BA2651C}"/>
              </a:ext>
            </a:extLst>
          </p:cNvPr>
          <p:cNvSpPr/>
          <p:nvPr/>
        </p:nvSpPr>
        <p:spPr>
          <a:xfrm>
            <a:off x="2882348" y="2748089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Mac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5E446-81A8-C165-CF74-FB93C8362D71}"/>
              </a:ext>
            </a:extLst>
          </p:cNvPr>
          <p:cNvSpPr/>
          <p:nvPr/>
        </p:nvSpPr>
        <p:spPr>
          <a:xfrm>
            <a:off x="1461052" y="4265319"/>
            <a:ext cx="1615109" cy="725632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>
                <a:solidFill>
                  <a:schemeClr val="bg1"/>
                </a:solidFill>
                <a:ea typeface="ＭＳ Ｐゴシック" pitchFamily="-109" charset="-128"/>
              </a:rPr>
              <a:t>x86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>
                <a:solidFill>
                  <a:schemeClr val="bg1"/>
                </a:solidFill>
                <a:ea typeface="ＭＳ Ｐゴシック" pitchFamily="-109" charset="-128"/>
              </a:rPr>
              <a:t>(Computer)</a:t>
            </a:r>
            <a:endParaRPr kumimoji="0" lang="en-US" altLang="zh-TW" sz="14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1058E26-DD22-0D17-12CE-AC8E2C7E5F13}"/>
              </a:ext>
            </a:extLst>
          </p:cNvPr>
          <p:cNvSpPr/>
          <p:nvPr/>
        </p:nvSpPr>
        <p:spPr>
          <a:xfrm>
            <a:off x="685800" y="2880023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Windows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C1F711A-6C34-EAB9-A7B7-E771F08DE9F7}"/>
              </a:ext>
            </a:extLst>
          </p:cNvPr>
          <p:cNvSpPr/>
          <p:nvPr/>
        </p:nvSpPr>
        <p:spPr>
          <a:xfrm>
            <a:off x="2882348" y="2088424"/>
            <a:ext cx="646044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0CF667B-CA6B-18B0-F046-4011D5E9B260}"/>
              </a:ext>
            </a:extLst>
          </p:cNvPr>
          <p:cNvSpPr/>
          <p:nvPr/>
        </p:nvSpPr>
        <p:spPr>
          <a:xfrm>
            <a:off x="879613" y="2088424"/>
            <a:ext cx="775252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E6CD5CA-9EEB-4F4B-B48B-37F96880CBC6}"/>
              </a:ext>
            </a:extLst>
          </p:cNvPr>
          <p:cNvSpPr/>
          <p:nvPr/>
        </p:nvSpPr>
        <p:spPr>
          <a:xfrm>
            <a:off x="1977887" y="2814056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429B81D-4149-B961-7E69-A85E2F9A545F}"/>
              </a:ext>
            </a:extLst>
          </p:cNvPr>
          <p:cNvSpPr/>
          <p:nvPr/>
        </p:nvSpPr>
        <p:spPr>
          <a:xfrm>
            <a:off x="1913282" y="2880023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42E7312-2C87-731C-BA3B-800EC9E7E738}"/>
              </a:ext>
            </a:extLst>
          </p:cNvPr>
          <p:cNvSpPr/>
          <p:nvPr/>
        </p:nvSpPr>
        <p:spPr>
          <a:xfrm>
            <a:off x="2817744" y="2814056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Mac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AB46A2A-D752-5B8C-FB8B-397AE74ED888}"/>
              </a:ext>
            </a:extLst>
          </p:cNvPr>
          <p:cNvSpPr/>
          <p:nvPr/>
        </p:nvSpPr>
        <p:spPr>
          <a:xfrm>
            <a:off x="2753139" y="2880023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Mac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9A0831C-D4C6-D87D-2189-83808BACEDA4}"/>
              </a:ext>
            </a:extLst>
          </p:cNvPr>
          <p:cNvSpPr/>
          <p:nvPr/>
        </p:nvSpPr>
        <p:spPr>
          <a:xfrm>
            <a:off x="685800" y="3671620"/>
            <a:ext cx="2971800" cy="527732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>
                <a:solidFill>
                  <a:schemeClr val="tx1"/>
                </a:solidFill>
                <a:ea typeface="ＭＳ Ｐゴシック" pitchFamily="-109" charset="-128"/>
              </a:rPr>
              <a:t>Virtualization layer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8F64EF2-5F23-4597-69D5-006531915133}"/>
              </a:ext>
            </a:extLst>
          </p:cNvPr>
          <p:cNvSpPr/>
          <p:nvPr/>
        </p:nvSpPr>
        <p:spPr>
          <a:xfrm>
            <a:off x="1977887" y="2088424"/>
            <a:ext cx="646044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>
                <a:solidFill>
                  <a:srgbClr val="FFFFFF"/>
                </a:solidFill>
              </a:rPr>
              <a:t>App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F564E2CB-0AD7-F33E-A500-D43617A9D07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485900"/>
            <a:ext cx="4648200" cy="4075113"/>
            <a:chOff x="4191000" y="990600"/>
            <a:chExt cx="4648200" cy="4075113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E81A094A-4DD9-4783-4E6C-F4D11A317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990600"/>
              <a:ext cx="3962400" cy="37338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9525">
              <a:noFill/>
              <a:round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solidFill>
                  <a:srgbClr val="FFFFFF"/>
                </a:solidFill>
                <a:latin typeface="Calibri" pitchFamily="-109" charset="0"/>
                <a:ea typeface="+mn-ea"/>
              </a:endParaRP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B6EC2375-444A-AB32-08EC-B40F4570D88D}"/>
                </a:ext>
              </a:extLst>
            </p:cNvPr>
            <p:cNvSpPr/>
            <p:nvPr/>
          </p:nvSpPr>
          <p:spPr>
            <a:xfrm>
              <a:off x="5181600" y="2120062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79333FE5-B7A6-60A4-E799-EEE39CDF1FE5}"/>
                </a:ext>
              </a:extLst>
            </p:cNvPr>
            <p:cNvSpPr/>
            <p:nvPr/>
          </p:nvSpPr>
          <p:spPr>
            <a:xfrm>
              <a:off x="7530548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8065E569-0468-D918-E4C7-D03702ABFB2C}"/>
                </a:ext>
              </a:extLst>
            </p:cNvPr>
            <p:cNvSpPr/>
            <p:nvPr/>
          </p:nvSpPr>
          <p:spPr>
            <a:xfrm>
              <a:off x="5527813" y="1371600"/>
              <a:ext cx="775252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BA0A6037-3686-A0C8-7474-882AE09B9E39}"/>
                </a:ext>
              </a:extLst>
            </p:cNvPr>
            <p:cNvSpPr/>
            <p:nvPr/>
          </p:nvSpPr>
          <p:spPr>
            <a:xfrm>
              <a:off x="7239000" y="21336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Controller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7531B692-5D97-C860-ABE3-9F0669BA4332}"/>
                </a:ext>
              </a:extLst>
            </p:cNvPr>
            <p:cNvSpPr/>
            <p:nvPr/>
          </p:nvSpPr>
          <p:spPr>
            <a:xfrm>
              <a:off x="5029199" y="3107196"/>
              <a:ext cx="3706813" cy="52773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000">
                  <a:solidFill>
                    <a:schemeClr val="tx1"/>
                  </a:solidFill>
                  <a:ea typeface="ＭＳ Ｐゴシック" pitchFamily="-109" charset="-128"/>
                </a:rPr>
                <a:t>Virtualization or “Slicing”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040CA72E-71D5-4C71-9F88-51812722A18C}"/>
                </a:ext>
              </a:extLst>
            </p:cNvPr>
            <p:cNvSpPr/>
            <p:nvPr/>
          </p:nvSpPr>
          <p:spPr>
            <a:xfrm>
              <a:off x="6626087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A3A532D2-6013-998E-88AE-AF94FC0C1D5C}"/>
                </a:ext>
              </a:extLst>
            </p:cNvPr>
            <p:cNvSpPr/>
            <p:nvPr/>
          </p:nvSpPr>
          <p:spPr>
            <a:xfrm>
              <a:off x="5547691" y="3770168"/>
              <a:ext cx="1615109" cy="725632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b="1">
                  <a:solidFill>
                    <a:schemeClr val="bg1"/>
                  </a:solidFill>
                  <a:ea typeface="ＭＳ Ｐゴシック" pitchFamily="-109" charset="-128"/>
                </a:rPr>
                <a:t>OpenFlow</a:t>
              </a:r>
              <a:endParaRPr kumimoji="0" lang="en-US" altLang="zh-TW" sz="1400" b="1">
                <a:solidFill>
                  <a:schemeClr val="bg1"/>
                </a:solidFill>
                <a:ea typeface="ＭＳ Ｐゴシック" pitchFamily="-109" charset="-128"/>
              </a:endParaRPr>
            </a:p>
          </p:txBody>
        </p:sp>
        <p:grpSp>
          <p:nvGrpSpPr>
            <p:cNvPr id="21576" name="Group 71">
              <a:extLst>
                <a:ext uri="{FF2B5EF4-FFF2-40B4-BE49-F238E27FC236}">
                  <a16:creationId xmlns:a16="http://schemas.microsoft.com/office/drawing/2014/main" id="{C2CC6CFF-2CBB-3F66-54F7-B07FDE292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96075" y="3810000"/>
              <a:ext cx="2039938" cy="1255713"/>
              <a:chOff x="3419475" y="3048000"/>
              <a:chExt cx="4460534" cy="3767139"/>
            </a:xfrm>
          </p:grpSpPr>
          <p:sp>
            <p:nvSpPr>
              <p:cNvPr id="21591" name="Line 16">
                <a:extLst>
                  <a:ext uri="{FF2B5EF4-FFF2-40B4-BE49-F238E27FC236}">
                    <a16:creationId xmlns:a16="http://schemas.microsoft.com/office/drawing/2014/main" id="{A86D9EFC-3017-2593-FFE0-317587C75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1475" y="3505200"/>
                <a:ext cx="1752600" cy="10668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2" name="Line 17">
                <a:extLst>
                  <a:ext uri="{FF2B5EF4-FFF2-40B4-BE49-F238E27FC236}">
                    <a16:creationId xmlns:a16="http://schemas.microsoft.com/office/drawing/2014/main" id="{6C02456B-1EB0-9764-8B10-212549454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275" y="4876800"/>
                <a:ext cx="990600" cy="12954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3" name="Line 18">
                <a:extLst>
                  <a:ext uri="{FF2B5EF4-FFF2-40B4-BE49-F238E27FC236}">
                    <a16:creationId xmlns:a16="http://schemas.microsoft.com/office/drawing/2014/main" id="{E5BD5733-DC8E-2354-05A1-BEC7F1EFD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6875" y="4876800"/>
                <a:ext cx="1295400" cy="11430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4" name="Line 19">
                <a:extLst>
                  <a:ext uri="{FF2B5EF4-FFF2-40B4-BE49-F238E27FC236}">
                    <a16:creationId xmlns:a16="http://schemas.microsoft.com/office/drawing/2014/main" id="{E23686E0-F7FC-7A7A-6338-8208882B8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4075" y="3657600"/>
                <a:ext cx="762000" cy="9906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5" name="Line 20">
                <a:extLst>
                  <a:ext uri="{FF2B5EF4-FFF2-40B4-BE49-F238E27FC236}">
                    <a16:creationId xmlns:a16="http://schemas.microsoft.com/office/drawing/2014/main" id="{CA1E56E9-3873-F057-8D53-56CC7EAF4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86275" y="4953000"/>
                <a:ext cx="190500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AutoShape 7">
                <a:extLst>
                  <a:ext uri="{FF2B5EF4-FFF2-40B4-BE49-F238E27FC236}">
                    <a16:creationId xmlns:a16="http://schemas.microsoft.com/office/drawing/2014/main" id="{B620CAB1-131E-11B5-2FBF-1D9B3A0F7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947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zh-TW">
                  <a:latin typeface="+mn-lt"/>
                  <a:ea typeface="+mn-ea"/>
                </a:endParaRPr>
              </a:p>
            </p:txBody>
          </p:sp>
          <p:sp>
            <p:nvSpPr>
              <p:cNvPr id="68" name="AutoShape 8">
                <a:extLst>
                  <a:ext uri="{FF2B5EF4-FFF2-40B4-BE49-F238E27FC236}">
                    <a16:creationId xmlns:a16="http://schemas.microsoft.com/office/drawing/2014/main" id="{FDE87151-A5F1-CADC-14D1-A9185D4F0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815" y="30480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zh-TW">
                  <a:latin typeface="+mn-lt"/>
                  <a:ea typeface="+mn-ea"/>
                </a:endParaRPr>
              </a:p>
            </p:txBody>
          </p:sp>
          <p:sp>
            <p:nvSpPr>
              <p:cNvPr id="69" name="AutoShape 9">
                <a:extLst>
                  <a:ext uri="{FF2B5EF4-FFF2-40B4-BE49-F238E27FC236}">
                    <a16:creationId xmlns:a16="http://schemas.microsoft.com/office/drawing/2014/main" id="{023F8E47-58B3-5D60-DC7C-29AFEC0FF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811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zh-TW">
                  <a:latin typeface="+mn-lt"/>
                  <a:ea typeface="+mn-ea"/>
                </a:endParaRPr>
              </a:p>
            </p:txBody>
          </p:sp>
          <p:sp>
            <p:nvSpPr>
              <p:cNvPr id="70" name="AutoShape 10">
                <a:extLst>
                  <a:ext uri="{FF2B5EF4-FFF2-40B4-BE49-F238E27FC236}">
                    <a16:creationId xmlns:a16="http://schemas.microsoft.com/office/drawing/2014/main" id="{AE9751AB-ED39-707A-263A-AA1A61484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1511" y="59436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zh-TW">
                  <a:latin typeface="+mn-lt"/>
                  <a:ea typeface="+mn-ea"/>
                </a:endParaRPr>
              </a:p>
            </p:txBody>
          </p:sp>
          <p:sp>
            <p:nvSpPr>
              <p:cNvPr id="21600" name="Text Box 28">
                <a:extLst>
                  <a:ext uri="{FF2B5EF4-FFF2-40B4-BE49-F238E27FC236}">
                    <a16:creationId xmlns:a16="http://schemas.microsoft.com/office/drawing/2014/main" id="{4885EDC2-790E-FDD7-8D18-668778125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77346" y="5715000"/>
                <a:ext cx="402663" cy="1100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TW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7A8862D6-D4FE-CA2E-BC96-E1021CD83D64}"/>
                </a:ext>
              </a:extLst>
            </p:cNvPr>
            <p:cNvSpPr/>
            <p:nvPr/>
          </p:nvSpPr>
          <p:spPr>
            <a:xfrm>
              <a:off x="5105400" y="2203031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BD1B1AF4-9BE1-C879-AA24-B37A8A4E9835}"/>
                </a:ext>
              </a:extLst>
            </p:cNvPr>
            <p:cNvSpPr/>
            <p:nvPr/>
          </p:nvSpPr>
          <p:spPr>
            <a:xfrm>
              <a:off x="5029200" y="2286000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 dirty="0">
                  <a:solidFill>
                    <a:srgbClr val="FFFFFF"/>
                  </a:solidFill>
                </a:rPr>
                <a:t>NOX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200" dirty="0">
                  <a:solidFill>
                    <a:srgbClr val="FFFFFF"/>
                  </a:solidFill>
                </a:rPr>
                <a:t>(Network OS)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74FA5864-F073-E1AD-87C6-EA64B0BC3034}"/>
                </a:ext>
              </a:extLst>
            </p:cNvPr>
            <p:cNvSpPr/>
            <p:nvPr/>
          </p:nvSpPr>
          <p:spPr>
            <a:xfrm>
              <a:off x="7162800" y="22098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Controller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7477BD83-3D09-B40E-CEB5-952DFC3CF252}"/>
                </a:ext>
              </a:extLst>
            </p:cNvPr>
            <p:cNvSpPr/>
            <p:nvPr/>
          </p:nvSpPr>
          <p:spPr>
            <a:xfrm>
              <a:off x="7086600" y="22860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600" dirty="0">
                  <a:solidFill>
                    <a:srgbClr val="FFFFFF"/>
                  </a:solidFill>
                </a:rPr>
                <a:t>Network OS</a:t>
              </a:r>
            </a:p>
          </p:txBody>
        </p:sp>
        <p:cxnSp>
          <p:nvCxnSpPr>
            <p:cNvPr id="21589" name="Straight Connector 80">
              <a:extLst>
                <a:ext uri="{FF2B5EF4-FFF2-40B4-BE49-F238E27FC236}">
                  <a16:creationId xmlns:a16="http://schemas.microsoft.com/office/drawing/2014/main" id="{E2928ED0-31B7-2C3B-5FBD-662097FDA8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24600" y="2649538"/>
              <a:ext cx="762000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76443CE9-627B-E446-BD6E-8332C2D0A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514600"/>
              <a:ext cx="685800" cy="533400"/>
            </a:xfrm>
            <a:prstGeom prst="rightArrow">
              <a:avLst>
                <a:gd name="adj1" fmla="val 50000"/>
                <a:gd name="adj2" fmla="val 50000"/>
              </a:avLst>
            </a:prstGeom>
            <a:gradFill rotWithShape="1">
              <a:gsLst>
                <a:gs pos="0">
                  <a:srgbClr val="9BC1FF"/>
                </a:gs>
                <a:gs pos="100000">
                  <a:srgbClr val="3F80CD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solidFill>
                  <a:srgbClr val="FFFFFF"/>
                </a:solidFill>
                <a:latin typeface="Calibri" pitchFamily="-109" charset="0"/>
                <a:ea typeface="+mn-ea"/>
              </a:endParaRPr>
            </a:p>
          </p:txBody>
        </p:sp>
      </p:grpSp>
      <p:sp>
        <p:nvSpPr>
          <p:cNvPr id="21550" name="Title 47">
            <a:extLst>
              <a:ext uri="{FF2B5EF4-FFF2-40B4-BE49-F238E27FC236}">
                <a16:creationId xmlns:a16="http://schemas.microsoft.com/office/drawing/2014/main" id="{FBD608C8-0E8C-7940-C55A-61A9ABCE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Trend</a:t>
            </a:r>
          </a:p>
        </p:txBody>
      </p:sp>
      <p:sp>
        <p:nvSpPr>
          <p:cNvPr id="21551" name="TextBox 48">
            <a:extLst>
              <a:ext uri="{FF2B5EF4-FFF2-40B4-BE49-F238E27FC236}">
                <a16:creationId xmlns:a16="http://schemas.microsoft.com/office/drawing/2014/main" id="{7503D21B-6749-340E-386C-B3625009E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9785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TW" altLang="zh-TW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1552" name="TextBox 47">
            <a:extLst>
              <a:ext uri="{FF2B5EF4-FFF2-40B4-BE49-F238E27FC236}">
                <a16:creationId xmlns:a16="http://schemas.microsoft.com/office/drawing/2014/main" id="{6CA1ABAD-A491-8176-3D81-C7053ECB9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5630863"/>
            <a:ext cx="1954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Computer Industry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4E2218-DF06-A3C1-E8A8-461D8A660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150" y="5630863"/>
            <a:ext cx="1819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Network Industry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606A5B-B7C5-3B43-8316-D4C96F2D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3922713"/>
            <a:ext cx="1525587" cy="1309687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 sz="1000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AF6945-7FB6-22F3-C208-6DCA2FC173D4}"/>
              </a:ext>
            </a:extLst>
          </p:cNvPr>
          <p:cNvSpPr/>
          <p:nvPr/>
        </p:nvSpPr>
        <p:spPr>
          <a:xfrm>
            <a:off x="565830" y="4723029"/>
            <a:ext cx="1339620" cy="420131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8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3061FA2B-4380-8CAB-7D8F-4C4140557BC2}"/>
              </a:ext>
            </a:extLst>
          </p:cNvPr>
          <p:cNvGrpSpPr>
            <a:grpSpLocks/>
          </p:cNvGrpSpPr>
          <p:nvPr/>
        </p:nvGrpSpPr>
        <p:grpSpPr bwMode="auto">
          <a:xfrm>
            <a:off x="565150" y="4011613"/>
            <a:ext cx="1339850" cy="344487"/>
            <a:chOff x="558086" y="3810293"/>
            <a:chExt cx="1339620" cy="34374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6781933-67E9-D9A0-5493-8864F8E1363C}"/>
                </a:ext>
              </a:extLst>
            </p:cNvPr>
            <p:cNvSpPr/>
            <p:nvPr/>
          </p:nvSpPr>
          <p:spPr>
            <a:xfrm>
              <a:off x="558086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41B7620B-ECC3-3E03-99AD-2EB8F658C45A}"/>
                </a:ext>
              </a:extLst>
            </p:cNvPr>
            <p:cNvSpPr/>
            <p:nvPr/>
          </p:nvSpPr>
          <p:spPr>
            <a:xfrm>
              <a:off x="892991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1D80462-4354-40B3-6679-2AD317551D29}"/>
                </a:ext>
              </a:extLst>
            </p:cNvPr>
            <p:cNvSpPr/>
            <p:nvPr/>
          </p:nvSpPr>
          <p:spPr>
            <a:xfrm>
              <a:off x="1562801" y="38102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62" name="Straight Connector 7">
              <a:extLst>
                <a:ext uri="{FF2B5EF4-FFF2-40B4-BE49-F238E27FC236}">
                  <a16:creationId xmlns:a16="http://schemas.microsoft.com/office/drawing/2014/main" id="{296411B9-F1BC-8080-675A-ADBD53573B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27896" y="3982957"/>
              <a:ext cx="33490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C6AF6F7D-A506-F904-0783-0946589AB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647950"/>
            <a:ext cx="1525587" cy="1308100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 sz="1000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D56E96-2C36-2895-F29C-5ED23F83F798}"/>
              </a:ext>
            </a:extLst>
          </p:cNvPr>
          <p:cNvSpPr/>
          <p:nvPr/>
        </p:nvSpPr>
        <p:spPr>
          <a:xfrm>
            <a:off x="2988148" y="3447646"/>
            <a:ext cx="1339620" cy="420131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8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0" name="Group 58">
            <a:extLst>
              <a:ext uri="{FF2B5EF4-FFF2-40B4-BE49-F238E27FC236}">
                <a16:creationId xmlns:a16="http://schemas.microsoft.com/office/drawing/2014/main" id="{0C60318D-D97F-AD30-3C52-33DEE0DBABAD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2736850"/>
            <a:ext cx="1339850" cy="342900"/>
            <a:chOff x="2988148" y="2012694"/>
            <a:chExt cx="1339620" cy="34374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5E47E98-F16F-9616-E2D1-07F6E88999E0}"/>
                </a:ext>
              </a:extLst>
            </p:cNvPr>
            <p:cNvSpPr/>
            <p:nvPr/>
          </p:nvSpPr>
          <p:spPr>
            <a:xfrm>
              <a:off x="2988148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DC1A105-E84D-67A8-19FB-B6D8E3040BF0}"/>
                </a:ext>
              </a:extLst>
            </p:cNvPr>
            <p:cNvSpPr/>
            <p:nvPr/>
          </p:nvSpPr>
          <p:spPr>
            <a:xfrm>
              <a:off x="3323053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27A6D8CE-03E0-E3A4-E0EC-2741F875EAB7}"/>
                </a:ext>
              </a:extLst>
            </p:cNvPr>
            <p:cNvSpPr/>
            <p:nvPr/>
          </p:nvSpPr>
          <p:spPr>
            <a:xfrm>
              <a:off x="3992863" y="2012694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52" name="Straight Connector 17">
              <a:extLst>
                <a:ext uri="{FF2B5EF4-FFF2-40B4-BE49-F238E27FC236}">
                  <a16:creationId xmlns:a16="http://schemas.microsoft.com/office/drawing/2014/main" id="{C18DBDE1-B133-8C65-CC1F-00E411F8F8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57958" y="2184566"/>
              <a:ext cx="334905" cy="159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E0EA8-71EE-C2B4-0D26-335B8F23B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3243263"/>
            <a:ext cx="1525588" cy="1308100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 sz="1000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4D1833B-318D-57E0-677C-EB5F6C80557F}"/>
              </a:ext>
            </a:extLst>
          </p:cNvPr>
          <p:cNvSpPr/>
          <p:nvPr/>
        </p:nvSpPr>
        <p:spPr>
          <a:xfrm>
            <a:off x="6717510" y="4043205"/>
            <a:ext cx="1339620" cy="420131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8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1" name="Group 57">
            <a:extLst>
              <a:ext uri="{FF2B5EF4-FFF2-40B4-BE49-F238E27FC236}">
                <a16:creationId xmlns:a16="http://schemas.microsoft.com/office/drawing/2014/main" id="{EF6A31B1-6195-B415-DB53-ABDED586D6E1}"/>
              </a:ext>
            </a:extLst>
          </p:cNvPr>
          <p:cNvGrpSpPr>
            <a:grpSpLocks/>
          </p:cNvGrpSpPr>
          <p:nvPr/>
        </p:nvGrpSpPr>
        <p:grpSpPr bwMode="auto">
          <a:xfrm>
            <a:off x="6718300" y="3332163"/>
            <a:ext cx="1338263" cy="344487"/>
            <a:chOff x="6717510" y="2608253"/>
            <a:chExt cx="1339620" cy="34374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29BE194-92CA-E0D9-1B40-9D5BDD516149}"/>
                </a:ext>
              </a:extLst>
            </p:cNvPr>
            <p:cNvSpPr/>
            <p:nvPr/>
          </p:nvSpPr>
          <p:spPr>
            <a:xfrm>
              <a:off x="6717510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C99C7DA-FCC8-CD8D-9610-3B5C0EB88947}"/>
                </a:ext>
              </a:extLst>
            </p:cNvPr>
            <p:cNvSpPr/>
            <p:nvPr/>
          </p:nvSpPr>
          <p:spPr>
            <a:xfrm>
              <a:off x="7052415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8562FD33-C9E9-E707-BC84-1F6F575C5A08}"/>
                </a:ext>
              </a:extLst>
            </p:cNvPr>
            <p:cNvSpPr/>
            <p:nvPr/>
          </p:nvSpPr>
          <p:spPr>
            <a:xfrm>
              <a:off x="7722225" y="260825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42" name="Straight Connector 25">
              <a:extLst>
                <a:ext uri="{FF2B5EF4-FFF2-40B4-BE49-F238E27FC236}">
                  <a16:creationId xmlns:a16="http://schemas.microsoft.com/office/drawing/2014/main" id="{46254B60-6579-BC69-A982-6DB2B5BE0A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88114" y="2780917"/>
              <a:ext cx="333713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AEC2DC6-B0F0-995E-7CB5-8CB313EED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5338763"/>
            <a:ext cx="1525588" cy="1309687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 sz="1000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9248FD2-1839-459E-4840-0B95F63DE51A}"/>
              </a:ext>
            </a:extLst>
          </p:cNvPr>
          <p:cNvSpPr/>
          <p:nvPr/>
        </p:nvSpPr>
        <p:spPr>
          <a:xfrm>
            <a:off x="2392599" y="6139763"/>
            <a:ext cx="1339620" cy="420131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8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grpSp>
        <p:nvGrpSpPr>
          <p:cNvPr id="19" name="Group 55">
            <a:extLst>
              <a:ext uri="{FF2B5EF4-FFF2-40B4-BE49-F238E27FC236}">
                <a16:creationId xmlns:a16="http://schemas.microsoft.com/office/drawing/2014/main" id="{67770943-0F55-F568-72C5-71EA8C545B27}"/>
              </a:ext>
            </a:extLst>
          </p:cNvPr>
          <p:cNvGrpSpPr>
            <a:grpSpLocks/>
          </p:cNvGrpSpPr>
          <p:nvPr/>
        </p:nvGrpSpPr>
        <p:grpSpPr bwMode="auto">
          <a:xfrm>
            <a:off x="2392363" y="5429250"/>
            <a:ext cx="1339850" cy="342900"/>
            <a:chOff x="2995893" y="5485693"/>
            <a:chExt cx="1339620" cy="343744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86ED327-4D22-0FB4-84EA-78236EAAF4DC}"/>
                </a:ext>
              </a:extLst>
            </p:cNvPr>
            <p:cNvSpPr/>
            <p:nvPr/>
          </p:nvSpPr>
          <p:spPr>
            <a:xfrm>
              <a:off x="2995893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DC98C50B-49A7-211A-54EA-A5AC68BBC5D6}"/>
                </a:ext>
              </a:extLst>
            </p:cNvPr>
            <p:cNvSpPr/>
            <p:nvPr/>
          </p:nvSpPr>
          <p:spPr>
            <a:xfrm>
              <a:off x="3330798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750334D-DD3C-B4CB-96B1-470D079ED382}"/>
                </a:ext>
              </a:extLst>
            </p:cNvPr>
            <p:cNvSpPr/>
            <p:nvPr/>
          </p:nvSpPr>
          <p:spPr>
            <a:xfrm>
              <a:off x="4000608" y="548569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32" name="Straight Connector 33">
              <a:extLst>
                <a:ext uri="{FF2B5EF4-FFF2-40B4-BE49-F238E27FC236}">
                  <a16:creationId xmlns:a16="http://schemas.microsoft.com/office/drawing/2014/main" id="{1A9842A0-36DD-11A5-869C-089AEE5840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65703" y="5657565"/>
              <a:ext cx="334905" cy="159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0D2B509-2B9C-8565-190F-8769CC46F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88" y="4464050"/>
            <a:ext cx="1525587" cy="1308100"/>
          </a:xfrm>
          <a:prstGeom prst="rect">
            <a:avLst/>
          </a:prstGeom>
          <a:gradFill rotWithShape="1">
            <a:gsLst>
              <a:gs pos="0">
                <a:srgbClr val="9BC1FF"/>
              </a:gs>
              <a:gs pos="100000">
                <a:srgbClr val="3F80CD"/>
              </a:gs>
            </a:gsLst>
            <a:lin ang="54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zh-TW" sz="1000">
              <a:solidFill>
                <a:srgbClr val="FFFFFF"/>
              </a:solidFill>
              <a:latin typeface="Calibri" pitchFamily="-109" charset="0"/>
              <a:ea typeface="+mn-ea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AAFFDBE-35FC-3A90-3CCF-151F6319BC7C}"/>
              </a:ext>
            </a:extLst>
          </p:cNvPr>
          <p:cNvSpPr/>
          <p:nvPr/>
        </p:nvSpPr>
        <p:spPr>
          <a:xfrm>
            <a:off x="4521796" y="5263755"/>
            <a:ext cx="1339620" cy="420131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 b="1">
                <a:solidFill>
                  <a:schemeClr val="bg1"/>
                </a:solidFill>
                <a:ea typeface="ＭＳ Ｐゴシック" pitchFamily="-109" charset="-128"/>
              </a:rPr>
              <a:t>Specialized Packet Forwarding Hardware</a:t>
            </a:r>
            <a:endParaRPr kumimoji="0" lang="en-US" altLang="zh-TW" sz="8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AAEB7D-B5BD-965E-565D-C25762394EA3}"/>
              </a:ext>
            </a:extLst>
          </p:cNvPr>
          <p:cNvSpPr/>
          <p:nvPr/>
        </p:nvSpPr>
        <p:spPr>
          <a:xfrm>
            <a:off x="565829" y="4355921"/>
            <a:ext cx="1339620" cy="35379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D8C11F-73F0-3FF5-D245-74AEBD1FD2BF}"/>
              </a:ext>
            </a:extLst>
          </p:cNvPr>
          <p:cNvSpPr/>
          <p:nvPr/>
        </p:nvSpPr>
        <p:spPr>
          <a:xfrm>
            <a:off x="2988147" y="3080538"/>
            <a:ext cx="1339620" cy="35379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DCA2C9-6118-77EA-FA2A-7759416F4B8B}"/>
              </a:ext>
            </a:extLst>
          </p:cNvPr>
          <p:cNvSpPr/>
          <p:nvPr/>
        </p:nvSpPr>
        <p:spPr>
          <a:xfrm>
            <a:off x="6717509" y="3676097"/>
            <a:ext cx="1339620" cy="35379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2D8BD35-457D-0F5E-D880-5C54C888883D}"/>
              </a:ext>
            </a:extLst>
          </p:cNvPr>
          <p:cNvSpPr/>
          <p:nvPr/>
        </p:nvSpPr>
        <p:spPr>
          <a:xfrm>
            <a:off x="2392598" y="5772655"/>
            <a:ext cx="1339620" cy="35379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9E1FEE8-8541-5C6D-3775-DE094922DAAF}"/>
              </a:ext>
            </a:extLst>
          </p:cNvPr>
          <p:cNvSpPr/>
          <p:nvPr/>
        </p:nvSpPr>
        <p:spPr>
          <a:xfrm>
            <a:off x="4521795" y="4896647"/>
            <a:ext cx="1339620" cy="35379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Operating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900">
                <a:solidFill>
                  <a:srgbClr val="FFFFFF"/>
                </a:solidFill>
                <a:ea typeface="ＭＳ Ｐゴシック" pitchFamily="-109" charset="-128"/>
              </a:rPr>
              <a:t>System</a:t>
            </a:r>
          </a:p>
        </p:txBody>
      </p:sp>
      <p:grpSp>
        <p:nvGrpSpPr>
          <p:cNvPr id="27" name="Group 56">
            <a:extLst>
              <a:ext uri="{FF2B5EF4-FFF2-40B4-BE49-F238E27FC236}">
                <a16:creationId xmlns:a16="http://schemas.microsoft.com/office/drawing/2014/main" id="{9D15B39F-2B34-8414-CB32-D2E8DB38D4DC}"/>
              </a:ext>
            </a:extLst>
          </p:cNvPr>
          <p:cNvGrpSpPr>
            <a:grpSpLocks/>
          </p:cNvGrpSpPr>
          <p:nvPr/>
        </p:nvGrpSpPr>
        <p:grpSpPr bwMode="auto">
          <a:xfrm>
            <a:off x="4521200" y="4552950"/>
            <a:ext cx="1339850" cy="344488"/>
            <a:chOff x="4521796" y="3828803"/>
            <a:chExt cx="1339620" cy="343744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D06C6B8-AE76-C85E-D5A9-73B0B7E37B73}"/>
                </a:ext>
              </a:extLst>
            </p:cNvPr>
            <p:cNvSpPr/>
            <p:nvPr/>
          </p:nvSpPr>
          <p:spPr>
            <a:xfrm>
              <a:off x="4521796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33F11D51-DE5F-C349-F772-C2CE14F2844C}"/>
                </a:ext>
              </a:extLst>
            </p:cNvPr>
            <p:cNvSpPr/>
            <p:nvPr/>
          </p:nvSpPr>
          <p:spPr>
            <a:xfrm>
              <a:off x="4856701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E24087B-0FD0-4D27-BC60-A2EA96C16F25}"/>
                </a:ext>
              </a:extLst>
            </p:cNvPr>
            <p:cNvSpPr/>
            <p:nvPr/>
          </p:nvSpPr>
          <p:spPr>
            <a:xfrm>
              <a:off x="5526511" y="3828803"/>
              <a:ext cx="334905" cy="343744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600">
                  <a:solidFill>
                    <a:srgbClr val="FFFFFF"/>
                  </a:solidFill>
                </a:rPr>
                <a:t>App</a:t>
              </a:r>
            </a:p>
          </p:txBody>
        </p:sp>
        <p:cxnSp>
          <p:nvCxnSpPr>
            <p:cNvPr id="23622" name="Straight Connector 41">
              <a:extLst>
                <a:ext uri="{FF2B5EF4-FFF2-40B4-BE49-F238E27FC236}">
                  <a16:creationId xmlns:a16="http://schemas.microsoft.com/office/drawing/2014/main" id="{8BC989EB-BD84-6788-931B-31F8779D5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91606" y="4001467"/>
              <a:ext cx="334905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prstDash val="dot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3594" name="Straight Connector 43">
            <a:extLst>
              <a:ext uri="{FF2B5EF4-FFF2-40B4-BE49-F238E27FC236}">
                <a16:creationId xmlns:a16="http://schemas.microsoft.com/office/drawing/2014/main" id="{5BD91172-B58F-D5DB-FDEF-6E67ED426C33}"/>
              </a:ext>
            </a:extLst>
          </p:cNvPr>
          <p:cNvCxnSpPr>
            <a:cxnSpLocks noChangeShapeType="1"/>
            <a:stCxn id="9" idx="3"/>
            <a:endCxn id="12" idx="2"/>
          </p:cNvCxnSpPr>
          <p:nvPr/>
        </p:nvCxnSpPr>
        <p:spPr bwMode="auto">
          <a:xfrm flipV="1">
            <a:off x="1990725" y="3956050"/>
            <a:ext cx="1658938" cy="6207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5" name="Straight Connector 45">
            <a:extLst>
              <a:ext uri="{FF2B5EF4-FFF2-40B4-BE49-F238E27FC236}">
                <a16:creationId xmlns:a16="http://schemas.microsoft.com/office/drawing/2014/main" id="{53DF4BE7-E652-1508-C94B-B0764E8D9514}"/>
              </a:ext>
            </a:extLst>
          </p:cNvPr>
          <p:cNvCxnSpPr>
            <a:cxnSpLocks noChangeShapeType="1"/>
            <a:stCxn id="12" idx="3"/>
            <a:endCxn id="36" idx="0"/>
          </p:cNvCxnSpPr>
          <p:nvPr/>
        </p:nvCxnSpPr>
        <p:spPr bwMode="auto">
          <a:xfrm>
            <a:off x="4413250" y="3302000"/>
            <a:ext cx="769938" cy="1162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6" name="Straight Connector 47">
            <a:extLst>
              <a:ext uri="{FF2B5EF4-FFF2-40B4-BE49-F238E27FC236}">
                <a16:creationId xmlns:a16="http://schemas.microsoft.com/office/drawing/2014/main" id="{20D40FD3-8E8B-59BF-7F70-DF5A347F03DF}"/>
              </a:ext>
            </a:extLst>
          </p:cNvPr>
          <p:cNvCxnSpPr>
            <a:cxnSpLocks noChangeShapeType="1"/>
            <a:stCxn id="28" idx="0"/>
            <a:endCxn id="36" idx="1"/>
          </p:cNvCxnSpPr>
          <p:nvPr/>
        </p:nvCxnSpPr>
        <p:spPr bwMode="auto">
          <a:xfrm rot="5400000" flipH="1" flipV="1">
            <a:off x="3627437" y="4545013"/>
            <a:ext cx="220663" cy="13668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7" name="Straight Connector 49">
            <a:extLst>
              <a:ext uri="{FF2B5EF4-FFF2-40B4-BE49-F238E27FC236}">
                <a16:creationId xmlns:a16="http://schemas.microsoft.com/office/drawing/2014/main" id="{AE6F0D32-9F9F-42A4-ED3E-4BABC6D8184D}"/>
              </a:ext>
            </a:extLst>
          </p:cNvPr>
          <p:cNvCxnSpPr>
            <a:cxnSpLocks noChangeShapeType="1"/>
            <a:stCxn id="9" idx="2"/>
            <a:endCxn id="28" idx="1"/>
          </p:cNvCxnSpPr>
          <p:nvPr/>
        </p:nvCxnSpPr>
        <p:spPr bwMode="auto">
          <a:xfrm rot="16200000" flipH="1">
            <a:off x="1378744" y="5080794"/>
            <a:ext cx="762000" cy="1065212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98" name="Straight Connector 51">
            <a:extLst>
              <a:ext uri="{FF2B5EF4-FFF2-40B4-BE49-F238E27FC236}">
                <a16:creationId xmlns:a16="http://schemas.microsoft.com/office/drawing/2014/main" id="{75104BF5-E5E2-918A-9D2B-B618F0C9E183}"/>
              </a:ext>
            </a:extLst>
          </p:cNvPr>
          <p:cNvCxnSpPr>
            <a:cxnSpLocks noChangeShapeType="1"/>
            <a:stCxn id="36" idx="3"/>
            <a:endCxn id="20" idx="2"/>
          </p:cNvCxnSpPr>
          <p:nvPr/>
        </p:nvCxnSpPr>
        <p:spPr bwMode="auto">
          <a:xfrm flipV="1">
            <a:off x="5946775" y="4551363"/>
            <a:ext cx="1433513" cy="56673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0A5697A6-418F-5026-D92D-D7BD940BDB0E}"/>
              </a:ext>
            </a:extLst>
          </p:cNvPr>
          <p:cNvSpPr/>
          <p:nvPr/>
        </p:nvSpPr>
        <p:spPr>
          <a:xfrm>
            <a:off x="821267" y="1979174"/>
            <a:ext cx="6663266" cy="41631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</a:t>
            </a:r>
          </a:p>
        </p:txBody>
      </p:sp>
      <p:grpSp>
        <p:nvGrpSpPr>
          <p:cNvPr id="35" name="Group 62">
            <a:extLst>
              <a:ext uri="{FF2B5EF4-FFF2-40B4-BE49-F238E27FC236}">
                <a16:creationId xmlns:a16="http://schemas.microsoft.com/office/drawing/2014/main" id="{DEF5B9CE-CB2B-E1DD-8DFF-4F31BFF5918E}"/>
              </a:ext>
            </a:extLst>
          </p:cNvPr>
          <p:cNvGrpSpPr>
            <a:grpSpLocks/>
          </p:cNvGrpSpPr>
          <p:nvPr/>
        </p:nvGrpSpPr>
        <p:grpSpPr bwMode="auto">
          <a:xfrm>
            <a:off x="2682875" y="1387475"/>
            <a:ext cx="2941638" cy="495300"/>
            <a:chOff x="2682096" y="715997"/>
            <a:chExt cx="2942976" cy="495228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9E808809-4758-A561-A19C-F90E05A43BAC}"/>
                </a:ext>
              </a:extLst>
            </p:cNvPr>
            <p:cNvSpPr/>
            <p:nvPr/>
          </p:nvSpPr>
          <p:spPr>
            <a:xfrm>
              <a:off x="2682096" y="719194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0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2A4BF98-31B5-403C-F7E3-EAB0A6FD9980}"/>
                </a:ext>
              </a:extLst>
            </p:cNvPr>
            <p:cNvSpPr/>
            <p:nvPr/>
          </p:nvSpPr>
          <p:spPr>
            <a:xfrm>
              <a:off x="3732218" y="719194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00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0B4A77F2-791B-936F-9695-AB5620695AFE}"/>
                </a:ext>
              </a:extLst>
            </p:cNvPr>
            <p:cNvSpPr/>
            <p:nvPr/>
          </p:nvSpPr>
          <p:spPr>
            <a:xfrm>
              <a:off x="4742651" y="715997"/>
              <a:ext cx="882421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2000" dirty="0">
                  <a:solidFill>
                    <a:srgbClr val="FFFFFF"/>
                  </a:solidFill>
                </a:rPr>
                <a:t>App</a:t>
              </a:r>
            </a:p>
          </p:txBody>
        </p:sp>
      </p:grpSp>
      <p:sp>
        <p:nvSpPr>
          <p:cNvPr id="23603" name="Title 71">
            <a:extLst>
              <a:ext uri="{FF2B5EF4-FFF2-40B4-BE49-F238E27FC236}">
                <a16:creationId xmlns:a16="http://schemas.microsoft.com/office/drawing/2014/main" id="{0DB501C9-1D94-5B97-BC8F-E205B8C26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274638"/>
            <a:ext cx="7561262" cy="706437"/>
          </a:xfrm>
        </p:spPr>
        <p:txBody>
          <a:bodyPr/>
          <a:lstStyle/>
          <a:p>
            <a:pPr eaLnBrk="1" hangingPunct="1"/>
            <a:r>
              <a:rPr lang="en-US" altLang="zh-TW" sz="3600"/>
              <a:t>The “Software-defined Network”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0228E-7 -3.80842E-6 L 1.70228E-7 -0.323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581E-6 -2.11013E-6 L 0.00087 -0.137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0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5492E-6 1.12911E-6 L 0.00296 -0.2242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12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14E-7 2.59139E-7 L -3.4914E-7 -0.52962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5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884E-6 -4.38223E-6 L 0.00018 -0.40189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1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581E-6 2.16566E-6 L 1.5581E-6 -0.08654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0228E-7 -1.4484E-6 L 0.00017 -0.34775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4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914E-7 1.24479E-6 L -3.4914E-7 -0.55437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7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884E-6 -1.06432E-7 L -4.16884E-6 -0.42665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5492E-6 -3.22073E-6 L -3.45492E-6 -0.24872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40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943457-C695-F6A0-B6FE-86887A2CDA33}"/>
              </a:ext>
            </a:extLst>
          </p:cNvPr>
          <p:cNvSpPr/>
          <p:nvPr/>
        </p:nvSpPr>
        <p:spPr>
          <a:xfrm>
            <a:off x="2682096" y="1396370"/>
            <a:ext cx="882421" cy="492031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00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24581" name="Straight Connector 43">
            <a:extLst>
              <a:ext uri="{FF2B5EF4-FFF2-40B4-BE49-F238E27FC236}">
                <a16:creationId xmlns:a16="http://schemas.microsoft.com/office/drawing/2014/main" id="{29CF5EF5-B6A5-A873-D512-C04A924DCB9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82788" y="3965575"/>
            <a:ext cx="1666875" cy="12763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2" name="Straight Connector 45">
            <a:extLst>
              <a:ext uri="{FF2B5EF4-FFF2-40B4-BE49-F238E27FC236}">
                <a16:creationId xmlns:a16="http://schemas.microsoft.com/office/drawing/2014/main" id="{F78BE7B7-8F91-1616-C16C-66BDD53143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3250" y="3511550"/>
            <a:ext cx="769938" cy="1162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3" name="Straight Connector 47">
            <a:extLst>
              <a:ext uri="{FF2B5EF4-FFF2-40B4-BE49-F238E27FC236}">
                <a16:creationId xmlns:a16="http://schemas.microsoft.com/office/drawing/2014/main" id="{B1116516-E7CC-BE4E-DE05-49724566087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675063" y="5222875"/>
            <a:ext cx="1154112" cy="57308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4" name="Straight Connector 49">
            <a:extLst>
              <a:ext uri="{FF2B5EF4-FFF2-40B4-BE49-F238E27FC236}">
                <a16:creationId xmlns:a16="http://schemas.microsoft.com/office/drawing/2014/main" id="{86336692-61C4-624E-B947-79911B1FEAB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967707" y="5168106"/>
            <a:ext cx="603250" cy="183673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5" name="Straight Connector 51">
            <a:extLst>
              <a:ext uri="{FF2B5EF4-FFF2-40B4-BE49-F238E27FC236}">
                <a16:creationId xmlns:a16="http://schemas.microsoft.com/office/drawing/2014/main" id="{7422E4B3-B1A9-F4E2-E9E2-99195309D56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46775" y="4394200"/>
            <a:ext cx="1433513" cy="566738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BF6E22-A4A6-562D-B368-2610CF48ECBE}"/>
              </a:ext>
            </a:extLst>
          </p:cNvPr>
          <p:cNvSpPr/>
          <p:nvPr/>
        </p:nvSpPr>
        <p:spPr>
          <a:xfrm>
            <a:off x="574291" y="5180909"/>
            <a:ext cx="1554801" cy="60368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7F9EFB4-0215-6601-AA35-C1DD89F92C90}"/>
              </a:ext>
            </a:extLst>
          </p:cNvPr>
          <p:cNvSpPr/>
          <p:nvPr/>
        </p:nvSpPr>
        <p:spPr>
          <a:xfrm>
            <a:off x="4538001" y="4631283"/>
            <a:ext cx="1554801" cy="60368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A795518-7238-79BC-D075-5F1FCEDCD253}"/>
              </a:ext>
            </a:extLst>
          </p:cNvPr>
          <p:cNvSpPr/>
          <p:nvPr/>
        </p:nvSpPr>
        <p:spPr>
          <a:xfrm>
            <a:off x="3187850" y="6086441"/>
            <a:ext cx="1554801" cy="60368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B649CFF-8000-7196-0E64-C83D91B7867C}"/>
              </a:ext>
            </a:extLst>
          </p:cNvPr>
          <p:cNvSpPr/>
          <p:nvPr/>
        </p:nvSpPr>
        <p:spPr>
          <a:xfrm>
            <a:off x="3732218" y="1396370"/>
            <a:ext cx="882421" cy="492031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000" dirty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B7A2C67-3F62-8A51-9F31-BD47B93E8A4A}"/>
              </a:ext>
            </a:extLst>
          </p:cNvPr>
          <p:cNvSpPr/>
          <p:nvPr/>
        </p:nvSpPr>
        <p:spPr>
          <a:xfrm>
            <a:off x="4742651" y="1393173"/>
            <a:ext cx="882421" cy="492031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000" dirty="0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24601" name="Straight Connector 69">
            <a:extLst>
              <a:ext uri="{FF2B5EF4-FFF2-40B4-BE49-F238E27FC236}">
                <a16:creationId xmlns:a16="http://schemas.microsoft.com/office/drawing/2014/main" id="{65B8EC45-BF4B-038A-26BA-67376E0A74D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-453231" y="3793332"/>
            <a:ext cx="277653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2" name="Straight Connector 70">
            <a:extLst>
              <a:ext uri="{FF2B5EF4-FFF2-40B4-BE49-F238E27FC236}">
                <a16:creationId xmlns:a16="http://schemas.microsoft.com/office/drawing/2014/main" id="{34867312-1041-9433-248B-E3E206B18C1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836863" y="2898775"/>
            <a:ext cx="989012" cy="15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3" name="Straight Connector 72">
            <a:extLst>
              <a:ext uri="{FF2B5EF4-FFF2-40B4-BE49-F238E27FC236}">
                <a16:creationId xmlns:a16="http://schemas.microsoft.com/office/drawing/2014/main" id="{B67F9DF7-2CA0-D1F2-D993-F5E5DF1E221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368800" y="3538538"/>
            <a:ext cx="2268537" cy="15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04" name="Straight Connector 74">
            <a:extLst>
              <a:ext uri="{FF2B5EF4-FFF2-40B4-BE49-F238E27FC236}">
                <a16:creationId xmlns:a16="http://schemas.microsoft.com/office/drawing/2014/main" id="{1FC502B1-A085-8CA2-3D5D-2E6C8B4E2E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665912" y="3119438"/>
            <a:ext cx="1427163" cy="15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DA39B65-8754-E8E7-B67E-9D1F5896E9AA}"/>
              </a:ext>
            </a:extLst>
          </p:cNvPr>
          <p:cNvSpPr/>
          <p:nvPr/>
        </p:nvSpPr>
        <p:spPr>
          <a:xfrm>
            <a:off x="3037775" y="3394450"/>
            <a:ext cx="1554801" cy="60368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A01DDEB-D878-3630-C0DD-752658DAE2DD}"/>
              </a:ext>
            </a:extLst>
          </p:cNvPr>
          <p:cNvSpPr/>
          <p:nvPr/>
        </p:nvSpPr>
        <p:spPr>
          <a:xfrm>
            <a:off x="6611164" y="3834049"/>
            <a:ext cx="1554801" cy="603688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7CFCC40-8E3F-8114-A064-3F5AE49924FC}"/>
              </a:ext>
            </a:extLst>
          </p:cNvPr>
          <p:cNvSpPr/>
          <p:nvPr/>
        </p:nvSpPr>
        <p:spPr>
          <a:xfrm>
            <a:off x="821267" y="1988440"/>
            <a:ext cx="6663266" cy="416311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</a:t>
            </a:r>
          </a:p>
        </p:txBody>
      </p:sp>
      <p:grpSp>
        <p:nvGrpSpPr>
          <p:cNvPr id="2" name="Group 119">
            <a:extLst>
              <a:ext uri="{FF2B5EF4-FFF2-40B4-BE49-F238E27FC236}">
                <a16:creationId xmlns:a16="http://schemas.microsoft.com/office/drawing/2014/main" id="{1E24587E-115C-3072-29D9-6FAAEE5EE713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406650"/>
            <a:ext cx="3213100" cy="987425"/>
            <a:chOff x="3650213" y="1672972"/>
            <a:chExt cx="3213252" cy="673471"/>
          </a:xfrm>
        </p:grpSpPr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D301DAFF-8F7F-91A7-BBDB-0E3B8C114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085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latin typeface="Calibri" pitchFamily="-109" charset="0"/>
                <a:ea typeface="+mn-ea"/>
              </a:endParaRPr>
            </a:p>
          </p:txBody>
        </p:sp>
        <p:sp>
          <p:nvSpPr>
            <p:cNvPr id="24624" name="TextBox 101">
              <a:extLst>
                <a:ext uri="{FF2B5EF4-FFF2-40B4-BE49-F238E27FC236}">
                  <a16:creationId xmlns:a16="http://schemas.microsoft.com/office/drawing/2014/main" id="{7BB01CF5-AA0A-FC06-AB86-7811812AC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3002670" cy="2517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1. Open interface to hardware</a:t>
              </a:r>
            </a:p>
          </p:txBody>
        </p:sp>
      </p:grpSp>
      <p:grpSp>
        <p:nvGrpSpPr>
          <p:cNvPr id="4" name="Group 121">
            <a:extLst>
              <a:ext uri="{FF2B5EF4-FFF2-40B4-BE49-F238E27FC236}">
                <a16:creationId xmlns:a16="http://schemas.microsoft.com/office/drawing/2014/main" id="{62BC5655-DD95-6BB6-1FBA-E2DEF819A0EA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965200"/>
            <a:ext cx="5475287" cy="977900"/>
            <a:chOff x="360953" y="231801"/>
            <a:chExt cx="5475244" cy="977815"/>
          </a:xfrm>
        </p:grpSpPr>
        <p:cxnSp>
          <p:nvCxnSpPr>
            <p:cNvPr id="24620" name="Straight Connector 108">
              <a:extLst>
                <a:ext uri="{FF2B5EF4-FFF2-40B4-BE49-F238E27FC236}">
                  <a16:creationId xmlns:a16="http://schemas.microsoft.com/office/drawing/2014/main" id="{A5E65448-BEE4-201C-D5F1-24051F35B2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27838" y="1208029"/>
              <a:ext cx="3608359" cy="15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21" name="TextBox 109">
              <a:extLst>
                <a:ext uri="{FF2B5EF4-FFF2-40B4-BE49-F238E27FC236}">
                  <a16:creationId xmlns:a16="http://schemas.microsoft.com/office/drawing/2014/main" id="{DC8E827E-0AA2-F149-3723-938A9A914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53" y="231801"/>
              <a:ext cx="25086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3. Well-defined open API</a:t>
              </a:r>
            </a:p>
          </p:txBody>
        </p:sp>
        <p:cxnSp>
          <p:nvCxnSpPr>
            <p:cNvPr id="24622" name="Straight Connector 112">
              <a:extLst>
                <a:ext uri="{FF2B5EF4-FFF2-40B4-BE49-F238E27FC236}">
                  <a16:creationId xmlns:a16="http://schemas.microsoft.com/office/drawing/2014/main" id="{A2520D8C-2FFB-784A-68BF-5DEA8D134484}"/>
                </a:ext>
              </a:extLst>
            </p:cNvPr>
            <p:cNvCxnSpPr>
              <a:cxnSpLocks noChangeShapeType="1"/>
              <a:endCxn id="24621" idx="2"/>
            </p:cNvCxnSpPr>
            <p:nvPr/>
          </p:nvCxnSpPr>
          <p:spPr bwMode="auto">
            <a:xfrm rot="10800000">
              <a:off x="1615068" y="601657"/>
              <a:ext cx="612770" cy="6063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120">
            <a:extLst>
              <a:ext uri="{FF2B5EF4-FFF2-40B4-BE49-F238E27FC236}">
                <a16:creationId xmlns:a16="http://schemas.microsoft.com/office/drawing/2014/main" id="{121EF9B1-3A1F-FF0A-F0E1-88D0DCB63C76}"/>
              </a:ext>
            </a:extLst>
          </p:cNvPr>
          <p:cNvGrpSpPr>
            <a:grpSpLocks/>
          </p:cNvGrpSpPr>
          <p:nvPr/>
        </p:nvGrpSpPr>
        <p:grpSpPr bwMode="auto">
          <a:xfrm>
            <a:off x="5437188" y="774700"/>
            <a:ext cx="3705225" cy="1416050"/>
            <a:chOff x="5538906" y="277967"/>
            <a:chExt cx="3704071" cy="1416079"/>
          </a:xfrm>
        </p:grpSpPr>
        <p:sp>
          <p:nvSpPr>
            <p:cNvPr id="24618" name="TextBox 103">
              <a:extLst>
                <a:ext uri="{FF2B5EF4-FFF2-40B4-BE49-F238E27FC236}">
                  <a16:creationId xmlns:a16="http://schemas.microsoft.com/office/drawing/2014/main" id="{8E3D4A36-866A-F3FE-C363-53241929D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8906" y="277967"/>
              <a:ext cx="370407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2. At least one good operating system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Extensible, possibly open-source</a:t>
              </a:r>
            </a:p>
          </p:txBody>
        </p:sp>
        <p:cxnSp>
          <p:nvCxnSpPr>
            <p:cNvPr id="24619" name="Straight Arrow Connector 118">
              <a:extLst>
                <a:ext uri="{FF2B5EF4-FFF2-40B4-BE49-F238E27FC236}">
                  <a16:creationId xmlns:a16="http://schemas.microsoft.com/office/drawing/2014/main" id="{84C5DB81-AAD7-833C-77CE-07C46A896E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029956" y="1088476"/>
              <a:ext cx="769953" cy="44118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" name="Title 31">
            <a:extLst>
              <a:ext uri="{FF2B5EF4-FFF2-40B4-BE49-F238E27FC236}">
                <a16:creationId xmlns:a16="http://schemas.microsoft.com/office/drawing/2014/main" id="{6ED6393A-CFEF-3A3D-74CA-62D755C0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4000" dirty="0">
                <a:solidFill>
                  <a:schemeClr val="accent5">
                    <a:lumMod val="50000"/>
                  </a:schemeClr>
                </a:solidFill>
              </a:rPr>
              <a:t>The “Software-defined Network”</a:t>
            </a:r>
            <a:br>
              <a:rPr lang="en-US" altLang="zh-TW" sz="4000" dirty="0">
                <a:solidFill>
                  <a:schemeClr val="accent5">
                    <a:lumMod val="50000"/>
                  </a:schemeClr>
                </a:solidFill>
              </a:rPr>
            </a:br>
            <a:endParaRPr lang="en-US" altLang="zh-TW" sz="4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02" name="Straight Connector 43">
            <a:extLst>
              <a:ext uri="{FF2B5EF4-FFF2-40B4-BE49-F238E27FC236}">
                <a16:creationId xmlns:a16="http://schemas.microsoft.com/office/drawing/2014/main" id="{D521D20C-5B87-92BA-DB53-BDC01B18B6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82863" y="4724400"/>
            <a:ext cx="1366837" cy="8366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3" name="Straight Connector 45">
            <a:extLst>
              <a:ext uri="{FF2B5EF4-FFF2-40B4-BE49-F238E27FC236}">
                <a16:creationId xmlns:a16="http://schemas.microsoft.com/office/drawing/2014/main" id="{B59B7176-812F-1DB9-6420-20A7D9F9F5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6763" y="4295775"/>
            <a:ext cx="631825" cy="762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4" name="Straight Connector 47">
            <a:extLst>
              <a:ext uri="{FF2B5EF4-FFF2-40B4-BE49-F238E27FC236}">
                <a16:creationId xmlns:a16="http://schemas.microsoft.com/office/drawing/2014/main" id="{DC993E81-3C1A-6086-3AC7-542A6E226C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941763" y="5500687"/>
            <a:ext cx="655638" cy="62706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Straight Connector 49">
            <a:extLst>
              <a:ext uri="{FF2B5EF4-FFF2-40B4-BE49-F238E27FC236}">
                <a16:creationId xmlns:a16="http://schemas.microsoft.com/office/drawing/2014/main" id="{6AC064CC-4713-3C4F-AD7A-94CC4A02B85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359819" y="5599906"/>
            <a:ext cx="668338" cy="127317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6" name="Straight Connector 51">
            <a:extLst>
              <a:ext uri="{FF2B5EF4-FFF2-40B4-BE49-F238E27FC236}">
                <a16:creationId xmlns:a16="http://schemas.microsoft.com/office/drawing/2014/main" id="{27529E89-0FAA-78CD-E7FC-C6AA8DBADB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834063" y="5114925"/>
            <a:ext cx="1176337" cy="37147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B6CC54A-422A-DB4A-621F-D0A8D3C88149}"/>
              </a:ext>
            </a:extLst>
          </p:cNvPr>
          <p:cNvSpPr/>
          <p:nvPr/>
        </p:nvSpPr>
        <p:spPr>
          <a:xfrm>
            <a:off x="6379433" y="458963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31289258-95FD-96EB-851D-7B6B9394C997}"/>
              </a:ext>
            </a:extLst>
          </p:cNvPr>
          <p:cNvSpPr/>
          <p:nvPr/>
        </p:nvSpPr>
        <p:spPr>
          <a:xfrm>
            <a:off x="1211367" y="154053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 1</a:t>
            </a:r>
          </a:p>
        </p:txBody>
      </p:sp>
      <p:grpSp>
        <p:nvGrpSpPr>
          <p:cNvPr id="2" name="Group 119">
            <a:extLst>
              <a:ext uri="{FF2B5EF4-FFF2-40B4-BE49-F238E27FC236}">
                <a16:creationId xmlns:a16="http://schemas.microsoft.com/office/drawing/2014/main" id="{65012CFE-ADAA-C287-E0B1-3EB1F4651770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3471863"/>
            <a:ext cx="2986088" cy="673100"/>
            <a:chOff x="3650213" y="1672972"/>
            <a:chExt cx="2985801" cy="673471"/>
          </a:xfrm>
        </p:grpSpPr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01301622-E49E-EB98-4E51-165B9098C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054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latin typeface="Calibri" pitchFamily="-109" charset="0"/>
                <a:ea typeface="+mn-ea"/>
              </a:endParaRPr>
            </a:p>
          </p:txBody>
        </p:sp>
        <p:sp>
          <p:nvSpPr>
            <p:cNvPr id="25677" name="TextBox 101">
              <a:extLst>
                <a:ext uri="{FF2B5EF4-FFF2-40B4-BE49-F238E27FC236}">
                  <a16:creationId xmlns:a16="http://schemas.microsoft.com/office/drawing/2014/main" id="{342F8E80-3A65-A4A2-F2FD-95BFA2760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277521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Open interface to hardware</a:t>
              </a:r>
            </a:p>
          </p:txBody>
        </p:sp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28A8B9E-B963-28C4-90E1-62A9F6C8CB13}"/>
              </a:ext>
            </a:extLst>
          </p:cNvPr>
          <p:cNvSpPr/>
          <p:nvPr/>
        </p:nvSpPr>
        <p:spPr bwMode="auto">
          <a:xfrm>
            <a:off x="821267" y="2943632"/>
            <a:ext cx="6915182" cy="527732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>
                <a:solidFill>
                  <a:schemeClr val="bg1"/>
                </a:solidFill>
                <a:ea typeface="ＭＳ Ｐゴシック" pitchFamily="-109" charset="-128"/>
              </a:rPr>
              <a:t>Virtualization or “Slicing” Layer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C2F3168-5894-4779-0953-132C403A5B5D}"/>
              </a:ext>
            </a:extLst>
          </p:cNvPr>
          <p:cNvSpPr/>
          <p:nvPr/>
        </p:nvSpPr>
        <p:spPr>
          <a:xfrm>
            <a:off x="2804501" y="155167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105CD3B-4E81-5557-D4F9-D91C522761F6}"/>
              </a:ext>
            </a:extLst>
          </p:cNvPr>
          <p:cNvSpPr/>
          <p:nvPr/>
        </p:nvSpPr>
        <p:spPr>
          <a:xfrm>
            <a:off x="4397635" y="156281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 3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9CDD9FF-5DBE-E1BA-AD6C-9102FFAAC6C0}"/>
              </a:ext>
            </a:extLst>
          </p:cNvPr>
          <p:cNvSpPr/>
          <p:nvPr/>
        </p:nvSpPr>
        <p:spPr>
          <a:xfrm>
            <a:off x="5990769" y="157395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>
                <a:solidFill>
                  <a:srgbClr val="FFFFFF"/>
                </a:solidFill>
                <a:ea typeface="ＭＳ Ｐゴシック" pitchFamily="-109" charset="-128"/>
              </a:rPr>
              <a:t>Network Operating  System 4</a:t>
            </a:r>
          </a:p>
        </p:txBody>
      </p:sp>
      <p:grpSp>
        <p:nvGrpSpPr>
          <p:cNvPr id="3" name="Group 85">
            <a:extLst>
              <a:ext uri="{FF2B5EF4-FFF2-40B4-BE49-F238E27FC236}">
                <a16:creationId xmlns:a16="http://schemas.microsoft.com/office/drawing/2014/main" id="{3B0F9FD1-D848-061C-C3F1-0CBF5279BE9C}"/>
              </a:ext>
            </a:extLst>
          </p:cNvPr>
          <p:cNvGrpSpPr>
            <a:grpSpLocks/>
          </p:cNvGrpSpPr>
          <p:nvPr/>
        </p:nvGrpSpPr>
        <p:grpSpPr bwMode="auto">
          <a:xfrm>
            <a:off x="1257300" y="1030288"/>
            <a:ext cx="6096000" cy="492125"/>
            <a:chOff x="1256791" y="1030784"/>
            <a:chExt cx="6096247" cy="49203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CB76411-64A4-895B-E5D0-D0169DD00976}"/>
                </a:ext>
              </a:extLst>
            </p:cNvPr>
            <p:cNvSpPr/>
            <p:nvPr/>
          </p:nvSpPr>
          <p:spPr>
            <a:xfrm>
              <a:off x="125679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18C09848-6FB9-76CB-23F1-DB789F00B8B2}"/>
                </a:ext>
              </a:extLst>
            </p:cNvPr>
            <p:cNvSpPr/>
            <p:nvPr/>
          </p:nvSpPr>
          <p:spPr>
            <a:xfrm>
              <a:off x="200575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A78D6BBD-CF13-C712-FA77-81EF0C4E2E44}"/>
                </a:ext>
              </a:extLst>
            </p:cNvPr>
            <p:cNvSpPr/>
            <p:nvPr/>
          </p:nvSpPr>
          <p:spPr>
            <a:xfrm>
              <a:off x="286012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D535E21-09B1-DCF1-8494-94DD1A0169A7}"/>
                </a:ext>
              </a:extLst>
            </p:cNvPr>
            <p:cNvSpPr/>
            <p:nvPr/>
          </p:nvSpPr>
          <p:spPr>
            <a:xfrm>
              <a:off x="3609087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7917CC98-88B0-4C0F-7B42-03B308A1D6CB}"/>
                </a:ext>
              </a:extLst>
            </p:cNvPr>
            <p:cNvSpPr/>
            <p:nvPr/>
          </p:nvSpPr>
          <p:spPr>
            <a:xfrm>
              <a:off x="4463459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41D9AA1A-2288-E700-9607-98C176406011}"/>
                </a:ext>
              </a:extLst>
            </p:cNvPr>
            <p:cNvSpPr/>
            <p:nvPr/>
          </p:nvSpPr>
          <p:spPr>
            <a:xfrm>
              <a:off x="521242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94E7149C-F87D-1DCF-FF74-27CB9D9DF2A3}"/>
                </a:ext>
              </a:extLst>
            </p:cNvPr>
            <p:cNvSpPr/>
            <p:nvPr/>
          </p:nvSpPr>
          <p:spPr>
            <a:xfrm>
              <a:off x="606679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7F928727-5AA4-5007-7C17-DFD3A43EE2DC}"/>
                </a:ext>
              </a:extLst>
            </p:cNvPr>
            <p:cNvSpPr/>
            <p:nvPr/>
          </p:nvSpPr>
          <p:spPr>
            <a:xfrm>
              <a:off x="681575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sz="1400">
                  <a:solidFill>
                    <a:srgbClr val="FFFFFF"/>
                  </a:solidFill>
                </a:rPr>
                <a:t>App</a:t>
              </a:r>
            </a:p>
          </p:txBody>
        </p:sp>
      </p:grpSp>
      <p:grpSp>
        <p:nvGrpSpPr>
          <p:cNvPr id="4" name="Group 87">
            <a:extLst>
              <a:ext uri="{FF2B5EF4-FFF2-40B4-BE49-F238E27FC236}">
                <a16:creationId xmlns:a16="http://schemas.microsoft.com/office/drawing/2014/main" id="{E39983CB-151E-63CA-5E5C-96681DC061EB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57150"/>
            <a:ext cx="2774950" cy="1658938"/>
            <a:chOff x="5410666" y="56921"/>
            <a:chExt cx="2775119" cy="1658623"/>
          </a:xfrm>
        </p:grpSpPr>
        <p:sp>
          <p:nvSpPr>
            <p:cNvPr id="25650" name="TextBox 103">
              <a:extLst>
                <a:ext uri="{FF2B5EF4-FFF2-40B4-BE49-F238E27FC236}">
                  <a16:creationId xmlns:a16="http://schemas.microsoft.com/office/drawing/2014/main" id="{CB615B58-9E9E-FA97-6988-BAC0DF613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666" y="56921"/>
              <a:ext cx="277511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Many operating systems, or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Many versions</a:t>
              </a:r>
            </a:p>
          </p:txBody>
        </p:sp>
        <p:cxnSp>
          <p:nvCxnSpPr>
            <p:cNvPr id="25651" name="Straight Arrow Connector 118">
              <a:extLst>
                <a:ext uri="{FF2B5EF4-FFF2-40B4-BE49-F238E27FC236}">
                  <a16:creationId xmlns:a16="http://schemas.microsoft.com/office/drawing/2014/main" id="{84A1EBB7-F7A0-C687-A883-5F8C6CF1C2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96651" y="1220338"/>
              <a:ext cx="99041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43904BA8-1678-C1E0-DB9A-1CF18EBAE146}"/>
              </a:ext>
            </a:extLst>
          </p:cNvPr>
          <p:cNvGrpSpPr>
            <a:grpSpLocks/>
          </p:cNvGrpSpPr>
          <p:nvPr/>
        </p:nvGrpSpPr>
        <p:grpSpPr bwMode="auto">
          <a:xfrm>
            <a:off x="2701925" y="735013"/>
            <a:ext cx="3176588" cy="2224087"/>
            <a:chOff x="2701157" y="278760"/>
            <a:chExt cx="3178140" cy="2680825"/>
          </a:xfrm>
        </p:grpSpPr>
        <p:cxnSp>
          <p:nvCxnSpPr>
            <p:cNvPr id="25647" name="Straight Connector 68">
              <a:extLst>
                <a:ext uri="{FF2B5EF4-FFF2-40B4-BE49-F238E27FC236}">
                  <a16:creationId xmlns:a16="http://schemas.microsoft.com/office/drawing/2014/main" id="{B4C4377F-6D60-3C29-4821-77AD8EE765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369192" y="1610725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8" name="Straight Connector 71">
              <a:extLst>
                <a:ext uri="{FF2B5EF4-FFF2-40B4-BE49-F238E27FC236}">
                  <a16:creationId xmlns:a16="http://schemas.microsoft.com/office/drawing/2014/main" id="{9D401430-A275-2417-2872-DB7A058BDC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957468" y="1618379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9" name="Straight Connector 73">
              <a:extLst>
                <a:ext uri="{FF2B5EF4-FFF2-40B4-BE49-F238E27FC236}">
                  <a16:creationId xmlns:a16="http://schemas.microsoft.com/office/drawing/2014/main" id="{65BF919A-DBF1-FCE2-A8BB-4A33028F72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545744" y="1626033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119">
            <a:extLst>
              <a:ext uri="{FF2B5EF4-FFF2-40B4-BE49-F238E27FC236}">
                <a16:creationId xmlns:a16="http://schemas.microsoft.com/office/drawing/2014/main" id="{D467F9D1-603A-696A-B1B6-09E035B19668}"/>
              </a:ext>
            </a:extLst>
          </p:cNvPr>
          <p:cNvGrpSpPr>
            <a:grpSpLocks/>
          </p:cNvGrpSpPr>
          <p:nvPr/>
        </p:nvGrpSpPr>
        <p:grpSpPr bwMode="auto">
          <a:xfrm>
            <a:off x="4460875" y="2384425"/>
            <a:ext cx="2984500" cy="574675"/>
            <a:chOff x="3650213" y="1672972"/>
            <a:chExt cx="2985801" cy="673471"/>
          </a:xfrm>
        </p:grpSpPr>
        <p:sp>
          <p:nvSpPr>
            <p:cNvPr id="81" name="Right Brace 80">
              <a:extLst>
                <a:ext uri="{FF2B5EF4-FFF2-40B4-BE49-F238E27FC236}">
                  <a16:creationId xmlns:a16="http://schemas.microsoft.com/office/drawing/2014/main" id="{5B29DB40-B869-4930-73C9-4F9A7758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213" y="1672972"/>
              <a:ext cx="219170" cy="673471"/>
            </a:xfrm>
            <a:prstGeom prst="rightBrace">
              <a:avLst>
                <a:gd name="adj1" fmla="val 3152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0000" dir="5400000" rotWithShape="0">
                <a:srgbClr val="808080">
                  <a:alpha val="68999"/>
                </a:srgbClr>
              </a:outerShdw>
            </a:effectLst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zh-TW">
                <a:latin typeface="Calibri" pitchFamily="-109" charset="0"/>
                <a:ea typeface="+mn-ea"/>
              </a:endParaRPr>
            </a:p>
          </p:txBody>
        </p:sp>
        <p:sp>
          <p:nvSpPr>
            <p:cNvPr id="25646" name="TextBox 81">
              <a:extLst>
                <a:ext uri="{FF2B5EF4-FFF2-40B4-BE49-F238E27FC236}">
                  <a16:creationId xmlns:a16="http://schemas.microsoft.com/office/drawing/2014/main" id="{226A2382-D29C-B25D-90CF-F10F04E9D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0795" y="1810253"/>
              <a:ext cx="2775219" cy="4320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Open interface to hardware</a:t>
              </a:r>
            </a:p>
          </p:txBody>
        </p:sp>
      </p:grpSp>
      <p:grpSp>
        <p:nvGrpSpPr>
          <p:cNvPr id="8" name="Group 86">
            <a:extLst>
              <a:ext uri="{FF2B5EF4-FFF2-40B4-BE49-F238E27FC236}">
                <a16:creationId xmlns:a16="http://schemas.microsoft.com/office/drawing/2014/main" id="{22442CD1-45B9-7940-34F5-1A69222A9A4F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57150"/>
            <a:ext cx="1665288" cy="690563"/>
            <a:chOff x="1205767" y="56921"/>
            <a:chExt cx="1666254" cy="690891"/>
          </a:xfrm>
        </p:grpSpPr>
        <p:sp>
          <p:nvSpPr>
            <p:cNvPr id="25643" name="TextBox 82">
              <a:extLst>
                <a:ext uri="{FF2B5EF4-FFF2-40B4-BE49-F238E27FC236}">
                  <a16:creationId xmlns:a16="http://schemas.microsoft.com/office/drawing/2014/main" id="{751D3149-A795-5016-A068-76AD01CAF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5767" y="56921"/>
              <a:ext cx="16662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Isolated “slices”</a:t>
              </a:r>
            </a:p>
          </p:txBody>
        </p:sp>
        <p:cxnSp>
          <p:nvCxnSpPr>
            <p:cNvPr id="25644" name="Straight Arrow Connector 83">
              <a:extLst>
                <a:ext uri="{FF2B5EF4-FFF2-40B4-BE49-F238E27FC236}">
                  <a16:creationId xmlns:a16="http://schemas.microsoft.com/office/drawing/2014/main" id="{61474003-29AB-09B4-2037-CDFEEA9AB2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06331" y="426985"/>
              <a:ext cx="694140" cy="32082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992279E-5EB3-DAE9-C06E-8CB0658347CA}"/>
              </a:ext>
            </a:extLst>
          </p:cNvPr>
          <p:cNvSpPr/>
          <p:nvPr/>
        </p:nvSpPr>
        <p:spPr>
          <a:xfrm>
            <a:off x="4397635" y="497105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06D2045-5787-08B0-D6EC-4048D154629E}"/>
              </a:ext>
            </a:extLst>
          </p:cNvPr>
          <p:cNvSpPr/>
          <p:nvPr/>
        </p:nvSpPr>
        <p:spPr>
          <a:xfrm>
            <a:off x="1153551" y="535247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57848F2-D7CA-A177-A9B0-6D92D4EF610D}"/>
              </a:ext>
            </a:extLst>
          </p:cNvPr>
          <p:cNvSpPr/>
          <p:nvPr/>
        </p:nvSpPr>
        <p:spPr>
          <a:xfrm>
            <a:off x="3194390" y="6142288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C043380-FB07-7B9B-E3D4-932570814E64}"/>
              </a:ext>
            </a:extLst>
          </p:cNvPr>
          <p:cNvSpPr/>
          <p:nvPr/>
        </p:nvSpPr>
        <p:spPr>
          <a:xfrm>
            <a:off x="2959903" y="416771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Simple Packet </a:t>
            </a:r>
            <a:b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</a:br>
            <a:r>
              <a:rPr kumimoji="0" lang="en-US" altLang="zh-TW" sz="1200" b="1">
                <a:solidFill>
                  <a:schemeClr val="bg1"/>
                </a:solidFill>
                <a:ea typeface="ＭＳ Ｐゴシック" pitchFamily="-109" charset="-128"/>
              </a:rPr>
              <a:t>Forwarding Hardware</a:t>
            </a:r>
            <a:endParaRPr kumimoji="0" lang="en-US" altLang="zh-TW" sz="1100" b="1">
              <a:solidFill>
                <a:schemeClr val="bg1"/>
              </a:solidFill>
              <a:ea typeface="ＭＳ Ｐゴシック" pitchFamily="-10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FCA9A9D-DD66-86EB-E29C-AE653521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Consequences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43BAB96-3DEE-78CD-D921-C532502B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/>
              <a:t>More innovation in network services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Owners, operators, 3</a:t>
            </a:r>
            <a:r>
              <a:rPr lang="en-US" altLang="zh-TW" baseline="30000">
                <a:solidFill>
                  <a:srgbClr val="1F497D"/>
                </a:solidFill>
              </a:rPr>
              <a:t>rd</a:t>
            </a:r>
            <a:r>
              <a:rPr lang="en-US" altLang="zh-TW">
                <a:solidFill>
                  <a:srgbClr val="1F497D"/>
                </a:solidFill>
              </a:rPr>
              <a:t> party developers, researchers can improve the network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E.g. energy management, data center management, policy routing, access control, denial of service, mobility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/>
              <a:t>Lower barrier to entry for competition</a:t>
            </a:r>
          </a:p>
          <a:p>
            <a:pPr lvl="1" eaLnBrk="1" hangingPunct="1"/>
            <a:r>
              <a:rPr lang="en-US" altLang="zh-TW">
                <a:solidFill>
                  <a:srgbClr val="1F497D"/>
                </a:solidFill>
              </a:rPr>
              <a:t>Healthier market place, new players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FA9C69B-0092-217F-D802-83EAC559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85420A01-3A77-BE71-C5F6-6AB6F58A9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205038"/>
            <a:ext cx="7772400" cy="22018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Concept 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9785F04F-722E-1C1B-677E-176A38D1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Traditional network node: Router</a:t>
            </a:r>
            <a:endParaRPr lang="zh-TW" altLang="en-US"/>
          </a:p>
        </p:txBody>
      </p:sp>
      <p:sp>
        <p:nvSpPr>
          <p:cNvPr id="29699" name="內容版面配置區 2">
            <a:extLst>
              <a:ext uri="{FF2B5EF4-FFF2-40B4-BE49-F238E27FC236}">
                <a16:creationId xmlns:a16="http://schemas.microsoft.com/office/drawing/2014/main" id="{B6433062-2710-8131-694E-48C07614E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341438"/>
            <a:ext cx="8583612" cy="4525962"/>
          </a:xfrm>
        </p:spPr>
        <p:txBody>
          <a:bodyPr/>
          <a:lstStyle/>
          <a:p>
            <a:pPr eaLnBrk="1" hangingPunct="1"/>
            <a:r>
              <a:rPr lang="en-US" altLang="zh-TW"/>
              <a:t>Router can be partitioned into control and data plane</a:t>
            </a:r>
          </a:p>
          <a:p>
            <a:pPr lvl="1" eaLnBrk="1" hangingPunct="1"/>
            <a:r>
              <a:rPr lang="en-US" altLang="zh-TW"/>
              <a:t>Management plane/ configuration </a:t>
            </a:r>
          </a:p>
          <a:p>
            <a:pPr lvl="1" eaLnBrk="1" hangingPunct="1"/>
            <a:r>
              <a:rPr lang="en-US" altLang="zh-TW"/>
              <a:t>Control</a:t>
            </a:r>
            <a:r>
              <a:rPr lang="zh-TW" altLang="en-US"/>
              <a:t> </a:t>
            </a:r>
            <a:r>
              <a:rPr lang="en-US" altLang="zh-TW"/>
              <a:t>plane / Decision:  OSPF (Open Shortest Path First)</a:t>
            </a:r>
          </a:p>
          <a:p>
            <a:pPr lvl="1" eaLnBrk="1" hangingPunct="1"/>
            <a:r>
              <a:rPr lang="en-US" altLang="zh-TW"/>
              <a:t>Data plane / Forwarding</a:t>
            </a:r>
          </a:p>
        </p:txBody>
      </p:sp>
      <p:grpSp>
        <p:nvGrpSpPr>
          <p:cNvPr id="29700" name="群組 3">
            <a:extLst>
              <a:ext uri="{FF2B5EF4-FFF2-40B4-BE49-F238E27FC236}">
                <a16:creationId xmlns:a16="http://schemas.microsoft.com/office/drawing/2014/main" id="{42DB219F-A50A-29DE-B242-22E116A05A29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3348038"/>
            <a:ext cx="8856662" cy="3208337"/>
            <a:chOff x="179512" y="1274490"/>
            <a:chExt cx="8992542" cy="558351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7928D7B-5533-E630-E409-1BDFB08ABA8F}"/>
                </a:ext>
              </a:extLst>
            </p:cNvPr>
            <p:cNvSpPr/>
            <p:nvPr/>
          </p:nvSpPr>
          <p:spPr>
            <a:xfrm>
              <a:off x="179512" y="1282777"/>
              <a:ext cx="2016431" cy="5575223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7BC802E-A95F-D91B-13E9-4D734EB9F5C5}"/>
                </a:ext>
              </a:extLst>
            </p:cNvPr>
            <p:cNvSpPr/>
            <p:nvPr/>
          </p:nvSpPr>
          <p:spPr>
            <a:xfrm>
              <a:off x="2484466" y="1288303"/>
              <a:ext cx="4464840" cy="5569697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7" name="圓角矩形 6">
              <a:extLst>
                <a:ext uri="{FF2B5EF4-FFF2-40B4-BE49-F238E27FC236}">
                  <a16:creationId xmlns:a16="http://schemas.microsoft.com/office/drawing/2014/main" id="{CB4FDF5F-0B9B-094E-D752-ABB2E5728AB0}"/>
                </a:ext>
              </a:extLst>
            </p:cNvPr>
            <p:cNvSpPr/>
            <p:nvPr/>
          </p:nvSpPr>
          <p:spPr>
            <a:xfrm>
              <a:off x="2697230" y="1796648"/>
              <a:ext cx="3960329" cy="1127201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44992163-276B-59FB-AAFC-D560975238C7}"/>
                </a:ext>
              </a:extLst>
            </p:cNvPr>
            <p:cNvSpPr/>
            <p:nvPr/>
          </p:nvSpPr>
          <p:spPr>
            <a:xfrm>
              <a:off x="2735915" y="3296821"/>
              <a:ext cx="3960329" cy="2077585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29705" name="文字方塊 8">
              <a:extLst>
                <a:ext uri="{FF2B5EF4-FFF2-40B4-BE49-F238E27FC236}">
                  <a16:creationId xmlns:a16="http://schemas.microsoft.com/office/drawing/2014/main" id="{BF230F7A-747D-1391-F616-C22C63D4F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12" y="1289322"/>
              <a:ext cx="17013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Adjacent Router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06" name="文字方塊 9">
              <a:extLst>
                <a:ext uri="{FF2B5EF4-FFF2-40B4-BE49-F238E27FC236}">
                  <a16:creationId xmlns:a16="http://schemas.microsoft.com/office/drawing/2014/main" id="{21FE075B-67DF-F5D6-279A-FA4E9678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9523" y="1316581"/>
              <a:ext cx="8186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Router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07" name="文字方塊 10">
              <a:extLst>
                <a:ext uri="{FF2B5EF4-FFF2-40B4-BE49-F238E27FC236}">
                  <a16:creationId xmlns:a16="http://schemas.microsoft.com/office/drawing/2014/main" id="{835968EE-3421-4B0F-DD53-75AE40BFD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964" y="1797980"/>
              <a:ext cx="26526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Management/Policy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E03E90A2-E34F-51DD-CB73-73CC4A18C1CE}"/>
                </a:ext>
              </a:extLst>
            </p:cNvPr>
            <p:cNvSpPr/>
            <p:nvPr/>
          </p:nvSpPr>
          <p:spPr>
            <a:xfrm>
              <a:off x="2898712" y="2360249"/>
              <a:ext cx="3546082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Configuration / CLI / GUI</a:t>
              </a:r>
              <a:endParaRPr kumimoji="0" lang="zh-TW" altLang="en-US" dirty="0"/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95D9BDE1-F25D-4C92-65B5-14A1364A42C5}"/>
                </a:ext>
              </a:extLst>
            </p:cNvPr>
            <p:cNvSpPr/>
            <p:nvPr/>
          </p:nvSpPr>
          <p:spPr>
            <a:xfrm>
              <a:off x="4823268" y="3382465"/>
              <a:ext cx="1621527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Static routes</a:t>
              </a:r>
              <a:endParaRPr kumimoji="0" lang="zh-TW" altLang="en-US" dirty="0"/>
            </a:p>
          </p:txBody>
        </p:sp>
        <p:sp>
          <p:nvSpPr>
            <p:cNvPr id="29710" name="文字方塊 13">
              <a:extLst>
                <a:ext uri="{FF2B5EF4-FFF2-40B4-BE49-F238E27FC236}">
                  <a16:creationId xmlns:a16="http://schemas.microsoft.com/office/drawing/2014/main" id="{48B02AD5-6E49-7B0B-97F8-48BC946E7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964" y="3302173"/>
              <a:ext cx="1453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9DA28E0C-3DBA-1E9C-56DA-00EAC7890077}"/>
                </a:ext>
              </a:extLst>
            </p:cNvPr>
            <p:cNvSpPr/>
            <p:nvPr/>
          </p:nvSpPr>
          <p:spPr>
            <a:xfrm>
              <a:off x="2906772" y="3935014"/>
              <a:ext cx="3031900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OSPF</a:t>
              </a:r>
              <a:endParaRPr kumimoji="0" lang="zh-TW" altLang="en-US" dirty="0"/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A7DFC497-9F9F-4C9D-7298-51ED4A8B89C6}"/>
                </a:ext>
              </a:extLst>
            </p:cNvPr>
            <p:cNvSpPr/>
            <p:nvPr/>
          </p:nvSpPr>
          <p:spPr>
            <a:xfrm>
              <a:off x="2906772" y="4680956"/>
              <a:ext cx="1155700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Neighbor table</a:t>
              </a:r>
              <a:endParaRPr kumimoji="0" lang="zh-TW" altLang="en-US" sz="1400" dirty="0"/>
            </a:p>
          </p:txBody>
        </p:sp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30FE936B-FE32-AD94-01E8-895D00A64F53}"/>
                </a:ext>
              </a:extLst>
            </p:cNvPr>
            <p:cNvSpPr/>
            <p:nvPr/>
          </p:nvSpPr>
          <p:spPr>
            <a:xfrm>
              <a:off x="4210762" y="4680956"/>
              <a:ext cx="1010634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Link state database</a:t>
              </a:r>
              <a:endParaRPr kumimoji="0" lang="zh-TW" altLang="en-US" sz="1400" dirty="0"/>
            </a:p>
          </p:txBody>
        </p:sp>
        <p:sp>
          <p:nvSpPr>
            <p:cNvPr id="18" name="圓角矩形 17">
              <a:extLst>
                <a:ext uri="{FF2B5EF4-FFF2-40B4-BE49-F238E27FC236}">
                  <a16:creationId xmlns:a16="http://schemas.microsoft.com/office/drawing/2014/main" id="{300E8CA6-0C42-C2C3-F8EF-D30E324F84C4}"/>
                </a:ext>
              </a:extLst>
            </p:cNvPr>
            <p:cNvSpPr/>
            <p:nvPr/>
          </p:nvSpPr>
          <p:spPr>
            <a:xfrm>
              <a:off x="5432549" y="4680956"/>
              <a:ext cx="1012245" cy="60504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IP routing table</a:t>
              </a:r>
              <a:endParaRPr kumimoji="0" lang="zh-TW" altLang="en-US" sz="1400" dirty="0"/>
            </a:p>
          </p:txBody>
        </p:sp>
        <p:sp>
          <p:nvSpPr>
            <p:cNvPr id="19" name="圓角矩形 18">
              <a:extLst>
                <a:ext uri="{FF2B5EF4-FFF2-40B4-BE49-F238E27FC236}">
                  <a16:creationId xmlns:a16="http://schemas.microsoft.com/office/drawing/2014/main" id="{856983D9-9C68-7BDF-F154-948FA06BA80A}"/>
                </a:ext>
              </a:extLst>
            </p:cNvPr>
            <p:cNvSpPr/>
            <p:nvPr/>
          </p:nvSpPr>
          <p:spPr>
            <a:xfrm>
              <a:off x="2735915" y="5589900"/>
              <a:ext cx="3960329" cy="100840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20" name="圓角矩形 19">
              <a:extLst>
                <a:ext uri="{FF2B5EF4-FFF2-40B4-BE49-F238E27FC236}">
                  <a16:creationId xmlns:a16="http://schemas.microsoft.com/office/drawing/2014/main" id="{E4B7075B-F105-6F75-5A35-7C7158D340C4}"/>
                </a:ext>
              </a:extLst>
            </p:cNvPr>
            <p:cNvSpPr/>
            <p:nvPr/>
          </p:nvSpPr>
          <p:spPr>
            <a:xfrm>
              <a:off x="4014116" y="5926955"/>
              <a:ext cx="2430678" cy="52768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Forwarding table</a:t>
              </a:r>
              <a:endParaRPr kumimoji="0" lang="zh-TW" altLang="en-US" dirty="0"/>
            </a:p>
          </p:txBody>
        </p:sp>
        <p:sp>
          <p:nvSpPr>
            <p:cNvPr id="29717" name="文字方塊 20">
              <a:extLst>
                <a:ext uri="{FF2B5EF4-FFF2-40B4-BE49-F238E27FC236}">
                  <a16:creationId xmlns:a16="http://schemas.microsoft.com/office/drawing/2014/main" id="{EBAA606C-956E-6492-3FC0-AB54D04DE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592" y="5608022"/>
              <a:ext cx="1196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09620CEC-6A90-6475-4E1F-BD040AA8E8F5}"/>
                </a:ext>
              </a:extLst>
            </p:cNvPr>
            <p:cNvSpPr/>
            <p:nvPr/>
          </p:nvSpPr>
          <p:spPr>
            <a:xfrm>
              <a:off x="385830" y="3296821"/>
              <a:ext cx="1603796" cy="2077585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DF92193C-137A-A6D9-1F5E-57589589088D}"/>
                </a:ext>
              </a:extLst>
            </p:cNvPr>
            <p:cNvSpPr/>
            <p:nvPr/>
          </p:nvSpPr>
          <p:spPr>
            <a:xfrm>
              <a:off x="405172" y="5589900"/>
              <a:ext cx="1603796" cy="100840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29720" name="文字方塊 23">
              <a:extLst>
                <a:ext uri="{FF2B5EF4-FFF2-40B4-BE49-F238E27FC236}">
                  <a16:creationId xmlns:a16="http://schemas.microsoft.com/office/drawing/2014/main" id="{639BE230-DB7E-F5E6-8C56-71469733D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76" y="5610581"/>
              <a:ext cx="1196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21" name="文字方塊 24">
              <a:extLst>
                <a:ext uri="{FF2B5EF4-FFF2-40B4-BE49-F238E27FC236}">
                  <a16:creationId xmlns:a16="http://schemas.microsoft.com/office/drawing/2014/main" id="{CB225165-2C7D-18E1-C5C4-41C54A1F0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37" y="3302173"/>
              <a:ext cx="1453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6" name="圓角矩形 25">
              <a:extLst>
                <a:ext uri="{FF2B5EF4-FFF2-40B4-BE49-F238E27FC236}">
                  <a16:creationId xmlns:a16="http://schemas.microsoft.com/office/drawing/2014/main" id="{8146C6BF-DB8F-E867-3378-BE9C13256D9D}"/>
                </a:ext>
              </a:extLst>
            </p:cNvPr>
            <p:cNvSpPr/>
            <p:nvPr/>
          </p:nvSpPr>
          <p:spPr>
            <a:xfrm>
              <a:off x="609877" y="3940540"/>
              <a:ext cx="1228234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OSPF</a:t>
              </a:r>
              <a:endParaRPr kumimoji="0" lang="zh-TW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BAA0B33-850A-6B16-E30B-E0A82291E951}"/>
                </a:ext>
              </a:extLst>
            </p:cNvPr>
            <p:cNvSpPr/>
            <p:nvPr/>
          </p:nvSpPr>
          <p:spPr>
            <a:xfrm>
              <a:off x="7155623" y="1274490"/>
              <a:ext cx="2016431" cy="5575223"/>
            </a:xfrm>
            <a:prstGeom prst="rect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dirty="0"/>
            </a:p>
          </p:txBody>
        </p:sp>
        <p:sp>
          <p:nvSpPr>
            <p:cNvPr id="29724" name="文字方塊 27">
              <a:extLst>
                <a:ext uri="{FF2B5EF4-FFF2-40B4-BE49-F238E27FC236}">
                  <a16:creationId xmlns:a16="http://schemas.microsoft.com/office/drawing/2014/main" id="{0AA32710-04BA-FFEB-6683-6E2025AD5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5830" y="1281906"/>
              <a:ext cx="17013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Adjacent Router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" name="圓角矩形 28">
              <a:extLst>
                <a:ext uri="{FF2B5EF4-FFF2-40B4-BE49-F238E27FC236}">
                  <a16:creationId xmlns:a16="http://schemas.microsoft.com/office/drawing/2014/main" id="{EC6BFFDB-4685-B427-1361-BE332E8B25B9}"/>
                </a:ext>
              </a:extLst>
            </p:cNvPr>
            <p:cNvSpPr/>
            <p:nvPr/>
          </p:nvSpPr>
          <p:spPr>
            <a:xfrm>
              <a:off x="7361941" y="3291295"/>
              <a:ext cx="1603796" cy="207482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30" name="圓角矩形 29">
              <a:extLst>
                <a:ext uri="{FF2B5EF4-FFF2-40B4-BE49-F238E27FC236}">
                  <a16:creationId xmlns:a16="http://schemas.microsoft.com/office/drawing/2014/main" id="{606BB2C5-AB35-639F-B84B-98ECCF06A05E}"/>
                </a:ext>
              </a:extLst>
            </p:cNvPr>
            <p:cNvSpPr/>
            <p:nvPr/>
          </p:nvSpPr>
          <p:spPr>
            <a:xfrm>
              <a:off x="7381283" y="5581611"/>
              <a:ext cx="1603796" cy="1008403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/>
            </a:p>
          </p:txBody>
        </p:sp>
        <p:sp>
          <p:nvSpPr>
            <p:cNvPr id="29727" name="文字方塊 30">
              <a:extLst>
                <a:ext uri="{FF2B5EF4-FFF2-40B4-BE49-F238E27FC236}">
                  <a16:creationId xmlns:a16="http://schemas.microsoft.com/office/drawing/2014/main" id="{1B942B81-FA4D-D735-995B-662A8E4A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8494" y="5603165"/>
              <a:ext cx="1196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Data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728" name="文字方塊 31">
              <a:extLst>
                <a:ext uri="{FF2B5EF4-FFF2-40B4-BE49-F238E27FC236}">
                  <a16:creationId xmlns:a16="http://schemas.microsoft.com/office/drawing/2014/main" id="{284B5D6B-86C2-83AE-F4A3-04F578398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2055" y="3294757"/>
              <a:ext cx="1453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rPr>
                <a:t>Control plane</a:t>
              </a:r>
              <a:endParaRPr kumimoji="0" lang="zh-TW" alt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0E0E7B5E-129E-9685-59A3-C5C28A396362}"/>
                </a:ext>
              </a:extLst>
            </p:cNvPr>
            <p:cNvSpPr/>
            <p:nvPr/>
          </p:nvSpPr>
          <p:spPr>
            <a:xfrm>
              <a:off x="7569870" y="3935014"/>
              <a:ext cx="1226623" cy="4199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OSPF</a:t>
              </a:r>
              <a:endParaRPr kumimoji="0" lang="zh-TW" altLang="en-US" dirty="0"/>
            </a:p>
          </p:txBody>
        </p: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5ABE2D94-4E84-9ABF-D11E-99F4274C497C}"/>
                </a:ext>
              </a:extLst>
            </p:cNvPr>
            <p:cNvCxnSpPr>
              <a:stCxn id="26" idx="3"/>
              <a:endCxn id="15" idx="1"/>
            </p:cNvCxnSpPr>
            <p:nvPr/>
          </p:nvCxnSpPr>
          <p:spPr>
            <a:xfrm flipV="1">
              <a:off x="1838111" y="4144983"/>
              <a:ext cx="1068661" cy="5525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24E181BC-F1C2-8342-81C3-DFB4FD054E90}"/>
                </a:ext>
              </a:extLst>
            </p:cNvPr>
            <p:cNvCxnSpPr>
              <a:stCxn id="15" idx="3"/>
              <a:endCxn id="33" idx="1"/>
            </p:cNvCxnSpPr>
            <p:nvPr/>
          </p:nvCxnSpPr>
          <p:spPr>
            <a:xfrm>
              <a:off x="5938672" y="4144983"/>
              <a:ext cx="1631198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ABBD5F21-F788-075C-896A-C872F8C46D9F}"/>
                </a:ext>
              </a:extLst>
            </p:cNvPr>
            <p:cNvCxnSpPr>
              <a:stCxn id="23" idx="3"/>
              <a:endCxn id="19" idx="1"/>
            </p:cNvCxnSpPr>
            <p:nvPr/>
          </p:nvCxnSpPr>
          <p:spPr>
            <a:xfrm>
              <a:off x="2008968" y="6092720"/>
              <a:ext cx="726947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A436344D-66FD-550B-2649-64111CFE3D0A}"/>
                </a:ext>
              </a:extLst>
            </p:cNvPr>
            <p:cNvCxnSpPr>
              <a:stCxn id="19" idx="3"/>
              <a:endCxn id="30" idx="1"/>
            </p:cNvCxnSpPr>
            <p:nvPr/>
          </p:nvCxnSpPr>
          <p:spPr>
            <a:xfrm flipV="1">
              <a:off x="6696244" y="6087195"/>
              <a:ext cx="685039" cy="5525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FC429F8F-DD85-55EB-20F5-3E535ADF4AA0}"/>
                </a:ext>
              </a:extLst>
            </p:cNvPr>
            <p:cNvCxnSpPr/>
            <p:nvPr/>
          </p:nvCxnSpPr>
          <p:spPr>
            <a:xfrm>
              <a:off x="5796828" y="2780186"/>
              <a:ext cx="0" cy="60227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1ADE773-B9A8-DFD0-0F6E-1F18736404DD}"/>
                </a:ext>
              </a:extLst>
            </p:cNvPr>
            <p:cNvCxnSpPr/>
            <p:nvPr/>
          </p:nvCxnSpPr>
          <p:spPr>
            <a:xfrm>
              <a:off x="4215598" y="2769135"/>
              <a:ext cx="0" cy="122665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78005E09-07C1-02C3-F6B0-227DB71AB3FC}"/>
                </a:ext>
              </a:extLst>
            </p:cNvPr>
            <p:cNvCxnSpPr/>
            <p:nvPr/>
          </p:nvCxnSpPr>
          <p:spPr>
            <a:xfrm>
              <a:off x="3340360" y="4360477"/>
              <a:ext cx="0" cy="314953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3435DA09-280D-5F63-B976-A4080F1D0B79}"/>
                </a:ext>
              </a:extLst>
            </p:cNvPr>
            <p:cNvCxnSpPr/>
            <p:nvPr/>
          </p:nvCxnSpPr>
          <p:spPr>
            <a:xfrm>
              <a:off x="4397738" y="4368766"/>
              <a:ext cx="0" cy="31218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2BD66D6E-2823-F486-1185-51D6FBDA0D70}"/>
                </a:ext>
              </a:extLst>
            </p:cNvPr>
            <p:cNvCxnSpPr/>
            <p:nvPr/>
          </p:nvCxnSpPr>
          <p:spPr>
            <a:xfrm>
              <a:off x="5748473" y="4368766"/>
              <a:ext cx="0" cy="32600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7B62D270-C60E-D5DE-FE36-36D3FB175140}"/>
                </a:ext>
              </a:extLst>
            </p:cNvPr>
            <p:cNvCxnSpPr/>
            <p:nvPr/>
          </p:nvCxnSpPr>
          <p:spPr>
            <a:xfrm>
              <a:off x="5650150" y="5285998"/>
              <a:ext cx="0" cy="64095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5B1E5D4-6ED9-D03A-8B22-18C62F5A68EA}"/>
                </a:ext>
              </a:extLst>
            </p:cNvPr>
            <p:cNvSpPr/>
            <p:nvPr/>
          </p:nvSpPr>
          <p:spPr>
            <a:xfrm>
              <a:off x="1254521" y="2924944"/>
              <a:ext cx="1341638" cy="36577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Routing</a:t>
              </a:r>
              <a:endParaRPr kumimoji="0" lang="zh-TW" altLang="en-US" dirty="0"/>
            </a:p>
          </p:txBody>
        </p: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12092677-63AF-E2BE-6BB1-9E085021BB29}"/>
                </a:ext>
              </a:extLst>
            </p:cNvPr>
            <p:cNvCxnSpPr/>
            <p:nvPr/>
          </p:nvCxnSpPr>
          <p:spPr>
            <a:xfrm>
              <a:off x="6299727" y="3843844"/>
              <a:ext cx="0" cy="83711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0BCD758-F51A-BC63-2351-64C6BF2CDC03}"/>
                </a:ext>
              </a:extLst>
            </p:cNvPr>
            <p:cNvSpPr/>
            <p:nvPr/>
          </p:nvSpPr>
          <p:spPr>
            <a:xfrm>
              <a:off x="1223713" y="5244811"/>
              <a:ext cx="1341638" cy="365770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/>
                <a:t>Switching</a:t>
              </a:r>
              <a:endParaRPr kumimoji="0" lang="zh-TW" altLang="en-US" dirty="0"/>
            </a:p>
          </p:txBody>
        </p:sp>
        <p:cxnSp>
          <p:nvCxnSpPr>
            <p:cNvPr id="47" name="弧形接點 46">
              <a:extLst>
                <a:ext uri="{FF2B5EF4-FFF2-40B4-BE49-F238E27FC236}">
                  <a16:creationId xmlns:a16="http://schemas.microsoft.com/office/drawing/2014/main" id="{425600EB-DCCA-1CE8-007A-D4CB66BE91DE}"/>
                </a:ext>
              </a:extLst>
            </p:cNvPr>
            <p:cNvCxnSpPr/>
            <p:nvPr/>
          </p:nvCxnSpPr>
          <p:spPr>
            <a:xfrm rot="16200000" flipH="1">
              <a:off x="1795228" y="3485693"/>
              <a:ext cx="770805" cy="382010"/>
            </a:xfrm>
            <a:prstGeom prst="curved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弧形接點 47">
              <a:extLst>
                <a:ext uri="{FF2B5EF4-FFF2-40B4-BE49-F238E27FC236}">
                  <a16:creationId xmlns:a16="http://schemas.microsoft.com/office/drawing/2014/main" id="{FC7DB794-D766-C3D4-0C90-DCD6949F7C5A}"/>
                </a:ext>
              </a:extLst>
            </p:cNvPr>
            <p:cNvCxnSpPr/>
            <p:nvPr/>
          </p:nvCxnSpPr>
          <p:spPr>
            <a:xfrm rot="16200000" flipH="1">
              <a:off x="1842992" y="5660773"/>
              <a:ext cx="580177" cy="477109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ABCA1D5B-B148-8116-85A3-94B44B7F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Traditional network node: Switch</a:t>
            </a:r>
            <a:endParaRPr lang="zh-TW" altLang="en-US"/>
          </a:p>
        </p:txBody>
      </p:sp>
      <p:sp>
        <p:nvSpPr>
          <p:cNvPr id="30723" name="內容版面配置區 2">
            <a:extLst>
              <a:ext uri="{FF2B5EF4-FFF2-40B4-BE49-F238E27FC236}">
                <a16:creationId xmlns:a16="http://schemas.microsoft.com/office/drawing/2014/main" id="{7BEDFDB7-BCA8-DAD7-3D7B-E764D8803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Typical Networking Software</a:t>
            </a:r>
          </a:p>
          <a:p>
            <a:pPr lvl="1" eaLnBrk="1" hangingPunct="1"/>
            <a:r>
              <a:rPr lang="en-US" altLang="zh-TW"/>
              <a:t>Management plane</a:t>
            </a:r>
          </a:p>
          <a:p>
            <a:pPr lvl="1" eaLnBrk="1" hangingPunct="1"/>
            <a:r>
              <a:rPr lang="en-US" altLang="zh-TW"/>
              <a:t>Control Plane – The brain/decision maker</a:t>
            </a:r>
          </a:p>
          <a:p>
            <a:pPr lvl="1" eaLnBrk="1" hangingPunct="1"/>
            <a:r>
              <a:rPr lang="en-US" altLang="zh-TW"/>
              <a:t>Data Plane – Packet forwarder</a:t>
            </a: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B2B2D912-7845-470A-02B9-20EEDA413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4076700"/>
            <a:ext cx="901382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00CC38E6-5F1C-7767-5D63-989FB25D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SDN Concept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305AC5-4499-2F6A-BC2B-0F80B3AA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18488" cy="5184775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Separate Control plane and Data plane entities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/>
              <a:t>Network intelligence and state are logically centralized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/>
              <a:t>The underlying network infrastructure is abstracted from the applications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Execute or run Control plane software on general purpose hardware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Decouple from specific networking hardware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Use commodity servers</a:t>
            </a:r>
          </a:p>
          <a:p>
            <a:pPr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Have programmable data planes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Maintain, control and program data plane state from a central entity</a:t>
            </a:r>
          </a:p>
          <a:p>
            <a:pPr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An architecture to control not just a networking device but an entire network</a:t>
            </a:r>
            <a:endParaRPr lang="zh-TW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03E8FC8-705F-CE8F-5D51-802C266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Control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9F461-69A1-08F0-FE2D-505E0F4F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Control program operates on view of network</a:t>
            </a:r>
          </a:p>
          <a:p>
            <a:pPr lvl="1" eaLnBrk="1" hangingPunct="1"/>
            <a:r>
              <a:rPr lang="en-US" altLang="zh-TW" b="1">
                <a:ea typeface="ＭＳ Ｐゴシック" panose="020B0600070205080204" pitchFamily="34" charset="-128"/>
              </a:rPr>
              <a:t>Input</a:t>
            </a:r>
            <a:r>
              <a:rPr lang="en-US" altLang="zh-TW">
                <a:ea typeface="ＭＳ Ｐゴシック" panose="020B0600070205080204" pitchFamily="34" charset="-128"/>
              </a:rPr>
              <a:t>: global network view (graph/database)</a:t>
            </a:r>
          </a:p>
          <a:p>
            <a:pPr lvl="1" eaLnBrk="1" hangingPunct="1"/>
            <a:r>
              <a:rPr lang="en-US" altLang="zh-TW" b="1">
                <a:ea typeface="ＭＳ Ｐゴシック" panose="020B0600070205080204" pitchFamily="34" charset="-128"/>
              </a:rPr>
              <a:t>Output</a:t>
            </a:r>
            <a:r>
              <a:rPr lang="en-US" altLang="zh-TW">
                <a:ea typeface="ＭＳ Ｐゴシック" panose="020B0600070205080204" pitchFamily="34" charset="-128"/>
              </a:rPr>
              <a:t>: configuration of each network device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Control program is not a distributed system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Abstraction hides details of distributed state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67DB5-A649-6491-A217-5D484BFF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Software-Defined Network with key Abstractions in the Control Plane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58706385-4689-67C1-F9EC-C77B0559780D}"/>
              </a:ext>
            </a:extLst>
          </p:cNvPr>
          <p:cNvSpPr/>
          <p:nvPr/>
        </p:nvSpPr>
        <p:spPr>
          <a:xfrm>
            <a:off x="442913" y="2755900"/>
            <a:ext cx="6577012" cy="457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Network Operating System</a:t>
            </a:r>
            <a:endParaRPr kumimoji="0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640BD47-6C3C-4D8A-C888-D2B5E33E2DDF}"/>
              </a:ext>
            </a:extLst>
          </p:cNvPr>
          <p:cNvSpPr/>
          <p:nvPr/>
        </p:nvSpPr>
        <p:spPr>
          <a:xfrm>
            <a:off x="2760663" y="2070100"/>
            <a:ext cx="1152525" cy="4572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Routing</a:t>
            </a:r>
            <a:endParaRPr kumimoji="0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0D76E5F-04B3-1EC4-172A-0FA85266DA48}"/>
              </a:ext>
            </a:extLst>
          </p:cNvPr>
          <p:cNvSpPr/>
          <p:nvPr/>
        </p:nvSpPr>
        <p:spPr>
          <a:xfrm>
            <a:off x="4211638" y="2085975"/>
            <a:ext cx="1127125" cy="457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/>
              <a:t>Traffic Engineering</a:t>
            </a:r>
            <a:endParaRPr kumimoji="0" lang="zh-TW" altLang="en-US" sz="1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BF409F2-379B-5A99-AEB8-9CCC4C07884A}"/>
              </a:ext>
            </a:extLst>
          </p:cNvPr>
          <p:cNvSpPr/>
          <p:nvPr/>
        </p:nvSpPr>
        <p:spPr>
          <a:xfrm>
            <a:off x="5651500" y="2070100"/>
            <a:ext cx="1152525" cy="4572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/>
              <a:t>Other Applications</a:t>
            </a:r>
            <a:endParaRPr kumimoji="0" lang="zh-TW" altLang="en-US" sz="1400" dirty="0"/>
          </a:p>
        </p:txBody>
      </p:sp>
      <p:sp>
        <p:nvSpPr>
          <p:cNvPr id="33799" name="文字方塊 7">
            <a:extLst>
              <a:ext uri="{FF2B5EF4-FFF2-40B4-BE49-F238E27FC236}">
                <a16:creationId xmlns:a16="http://schemas.microsoft.com/office/drawing/2014/main" id="{7BB45E64-90C2-D438-1A5B-D59CCC6B3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716088"/>
            <a:ext cx="1790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 b="1">
                <a:solidFill>
                  <a:schemeClr val="tx1"/>
                </a:solidFill>
                <a:latin typeface="Calibri" panose="020F0502020204030204" pitchFamily="34" charset="0"/>
              </a:rPr>
              <a:t>Well-defined API</a:t>
            </a:r>
            <a:endParaRPr kumimoji="0" lang="zh-TW" altLang="en-US" sz="18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F324047-1B0C-F3D0-CD0C-6FD99244F8B5}"/>
              </a:ext>
            </a:extLst>
          </p:cNvPr>
          <p:cNvCxnSpPr/>
          <p:nvPr/>
        </p:nvCxnSpPr>
        <p:spPr>
          <a:xfrm>
            <a:off x="1390650" y="2130425"/>
            <a:ext cx="804863" cy="50482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10804C-90AC-80F7-195B-B8246CD2900B}"/>
              </a:ext>
            </a:extLst>
          </p:cNvPr>
          <p:cNvCxnSpPr/>
          <p:nvPr/>
        </p:nvCxnSpPr>
        <p:spPr>
          <a:xfrm>
            <a:off x="2195513" y="2636838"/>
            <a:ext cx="5184775" cy="0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802" name="文字方塊 17">
            <a:extLst>
              <a:ext uri="{FF2B5EF4-FFF2-40B4-BE49-F238E27FC236}">
                <a16:creationId xmlns:a16="http://schemas.microsoft.com/office/drawing/2014/main" id="{0BE2CCE2-DB61-938F-9EB4-507F24630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2306638"/>
            <a:ext cx="15287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Network Map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Abstraction</a:t>
            </a:r>
            <a:endParaRPr kumimoji="0" lang="zh-TW" altLang="en-US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FE82F34-D8EC-356E-DC43-701594BA212A}"/>
              </a:ext>
            </a:extLst>
          </p:cNvPr>
          <p:cNvSpPr/>
          <p:nvPr/>
        </p:nvSpPr>
        <p:spPr>
          <a:xfrm>
            <a:off x="23038" y="4952897"/>
            <a:ext cx="1296144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Forwarding</a:t>
            </a:r>
            <a:endParaRPr kumimoji="0" lang="zh-TW" altLang="en-US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C1459723-CD90-A304-05B4-62AEEC5C7589}"/>
              </a:ext>
            </a:extLst>
          </p:cNvPr>
          <p:cNvSpPr/>
          <p:nvPr/>
        </p:nvSpPr>
        <p:spPr>
          <a:xfrm>
            <a:off x="2195736" y="4088801"/>
            <a:ext cx="1296144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Forwarding</a:t>
            </a:r>
            <a:endParaRPr kumimoji="0" lang="zh-TW" altLang="en-US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F88B3D1-EEC5-F50E-2F23-525F97E53E9D}"/>
              </a:ext>
            </a:extLst>
          </p:cNvPr>
          <p:cNvSpPr/>
          <p:nvPr/>
        </p:nvSpPr>
        <p:spPr>
          <a:xfrm>
            <a:off x="3121806" y="5991148"/>
            <a:ext cx="1296144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Forwarding</a:t>
            </a:r>
            <a:endParaRPr kumimoji="0" lang="zh-TW" altLang="en-US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7BE00C56-265A-62B1-9996-0C6E2A0DB298}"/>
              </a:ext>
            </a:extLst>
          </p:cNvPr>
          <p:cNvSpPr/>
          <p:nvPr/>
        </p:nvSpPr>
        <p:spPr>
          <a:xfrm>
            <a:off x="5220072" y="4664865"/>
            <a:ext cx="1296144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dirty="0"/>
              <a:t>Forwarding</a:t>
            </a:r>
            <a:endParaRPr kumimoji="0" lang="zh-TW" altLang="en-US" dirty="0"/>
          </a:p>
        </p:txBody>
      </p:sp>
      <p:sp>
        <p:nvSpPr>
          <p:cNvPr id="33815" name="文字方塊 25">
            <a:extLst>
              <a:ext uri="{FF2B5EF4-FFF2-40B4-BE49-F238E27FC236}">
                <a16:creationId xmlns:a16="http://schemas.microsoft.com/office/drawing/2014/main" id="{13F5D379-0D16-DC1E-5CDB-BA6D86D5F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4154488"/>
            <a:ext cx="19827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Separation of Data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and Control Plane</a:t>
            </a:r>
            <a:endParaRPr kumimoji="0" lang="zh-TW" altLang="en-US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上-下雙向箭號 26">
            <a:extLst>
              <a:ext uri="{FF2B5EF4-FFF2-40B4-BE49-F238E27FC236}">
                <a16:creationId xmlns:a16="http://schemas.microsoft.com/office/drawing/2014/main" id="{3E2DFAFC-2D2D-9ABB-F6E0-F75D82ABF0ED}"/>
              </a:ext>
            </a:extLst>
          </p:cNvPr>
          <p:cNvSpPr/>
          <p:nvPr/>
        </p:nvSpPr>
        <p:spPr>
          <a:xfrm>
            <a:off x="7018338" y="3405188"/>
            <a:ext cx="142875" cy="3095625"/>
          </a:xfrm>
          <a:prstGeom prst="up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D000017-5F1E-CE64-7773-7A066DD29BFB}"/>
              </a:ext>
            </a:extLst>
          </p:cNvPr>
          <p:cNvCxnSpPr/>
          <p:nvPr/>
        </p:nvCxnSpPr>
        <p:spPr>
          <a:xfrm>
            <a:off x="827088" y="3213100"/>
            <a:ext cx="0" cy="178276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0833CDDF-BA47-9E6E-A08D-922C56C23C0F}"/>
              </a:ext>
            </a:extLst>
          </p:cNvPr>
          <p:cNvCxnSpPr/>
          <p:nvPr/>
        </p:nvCxnSpPr>
        <p:spPr>
          <a:xfrm>
            <a:off x="2843213" y="3213100"/>
            <a:ext cx="0" cy="8763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167E04E-861E-6884-47B2-89FBEB051883}"/>
              </a:ext>
            </a:extLst>
          </p:cNvPr>
          <p:cNvCxnSpPr/>
          <p:nvPr/>
        </p:nvCxnSpPr>
        <p:spPr>
          <a:xfrm>
            <a:off x="3770313" y="3213100"/>
            <a:ext cx="0" cy="277812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681D8A7C-EF7A-3E03-323C-00CA7AB5EECB}"/>
              </a:ext>
            </a:extLst>
          </p:cNvPr>
          <p:cNvCxnSpPr/>
          <p:nvPr/>
        </p:nvCxnSpPr>
        <p:spPr>
          <a:xfrm>
            <a:off x="5867400" y="3213100"/>
            <a:ext cx="22225" cy="151923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7705FF3-B8F8-E65B-0BC6-35D2EB2C9B37}"/>
              </a:ext>
            </a:extLst>
          </p:cNvPr>
          <p:cNvCxnSpPr/>
          <p:nvPr/>
        </p:nvCxnSpPr>
        <p:spPr>
          <a:xfrm>
            <a:off x="671513" y="5529263"/>
            <a:ext cx="2449512" cy="74930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18B410C8-6E83-CF7E-7CEB-298F1B7F8936}"/>
              </a:ext>
            </a:extLst>
          </p:cNvPr>
          <p:cNvCxnSpPr/>
          <p:nvPr/>
        </p:nvCxnSpPr>
        <p:spPr>
          <a:xfrm flipV="1">
            <a:off x="4418013" y="5240338"/>
            <a:ext cx="1449387" cy="1038225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4FEF462A-B59D-836F-FDB8-E8D5231060B6}"/>
              </a:ext>
            </a:extLst>
          </p:cNvPr>
          <p:cNvCxnSpPr/>
          <p:nvPr/>
        </p:nvCxnSpPr>
        <p:spPr>
          <a:xfrm>
            <a:off x="3492500" y="4376738"/>
            <a:ext cx="1727200" cy="576262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C819398-9945-5B13-9C93-5DF70E915256}"/>
              </a:ext>
            </a:extLst>
          </p:cNvPr>
          <p:cNvCxnSpPr/>
          <p:nvPr/>
        </p:nvCxnSpPr>
        <p:spPr>
          <a:xfrm flipV="1">
            <a:off x="1319213" y="4376738"/>
            <a:ext cx="876300" cy="86360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E4B0D157-F2B8-EA2A-1B24-5F312795F587}"/>
              </a:ext>
            </a:extLst>
          </p:cNvPr>
          <p:cNvCxnSpPr/>
          <p:nvPr/>
        </p:nvCxnSpPr>
        <p:spPr>
          <a:xfrm flipH="1" flipV="1">
            <a:off x="2843213" y="4664075"/>
            <a:ext cx="927100" cy="132715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橢圓 72">
            <a:extLst>
              <a:ext uri="{FF2B5EF4-FFF2-40B4-BE49-F238E27FC236}">
                <a16:creationId xmlns:a16="http://schemas.microsoft.com/office/drawing/2014/main" id="{B12A043A-ED3E-AC1C-B5AF-06268AF3B362}"/>
              </a:ext>
            </a:extLst>
          </p:cNvPr>
          <p:cNvSpPr/>
          <p:nvPr/>
        </p:nvSpPr>
        <p:spPr>
          <a:xfrm>
            <a:off x="3113088" y="1392238"/>
            <a:ext cx="193675" cy="17303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9085CBC8-5640-A103-5129-2CA2AF34B6F9}"/>
              </a:ext>
            </a:extLst>
          </p:cNvPr>
          <p:cNvSpPr/>
          <p:nvPr/>
        </p:nvSpPr>
        <p:spPr>
          <a:xfrm>
            <a:off x="2801938" y="1660525"/>
            <a:ext cx="193675" cy="17303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241F7449-7D79-F74C-DFBA-78C73BB77AA7}"/>
              </a:ext>
            </a:extLst>
          </p:cNvPr>
          <p:cNvSpPr/>
          <p:nvPr/>
        </p:nvSpPr>
        <p:spPr>
          <a:xfrm>
            <a:off x="3336925" y="1814513"/>
            <a:ext cx="193675" cy="17303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9D1D4D5A-1B7D-8315-EABE-57870B590F00}"/>
              </a:ext>
            </a:extLst>
          </p:cNvPr>
          <p:cNvCxnSpPr>
            <a:stCxn id="73" idx="2"/>
            <a:endCxn id="74" idx="7"/>
          </p:cNvCxnSpPr>
          <p:nvPr/>
        </p:nvCxnSpPr>
        <p:spPr>
          <a:xfrm flipH="1">
            <a:off x="2967038" y="1479550"/>
            <a:ext cx="146050" cy="206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4DD8B1DD-4012-776C-4F5D-788E8F61A522}"/>
              </a:ext>
            </a:extLst>
          </p:cNvPr>
          <p:cNvCxnSpPr>
            <a:stCxn id="73" idx="5"/>
            <a:endCxn id="75" idx="0"/>
          </p:cNvCxnSpPr>
          <p:nvPr/>
        </p:nvCxnSpPr>
        <p:spPr>
          <a:xfrm>
            <a:off x="3278188" y="1539875"/>
            <a:ext cx="155575" cy="274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26FA0639-C5EB-C71A-7DD7-9694E16FBEED}"/>
              </a:ext>
            </a:extLst>
          </p:cNvPr>
          <p:cNvCxnSpPr>
            <a:stCxn id="74" idx="5"/>
            <a:endCxn id="75" idx="2"/>
          </p:cNvCxnSpPr>
          <p:nvPr/>
        </p:nvCxnSpPr>
        <p:spPr>
          <a:xfrm>
            <a:off x="2967038" y="1808163"/>
            <a:ext cx="369887" cy="92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>
            <a:extLst>
              <a:ext uri="{FF2B5EF4-FFF2-40B4-BE49-F238E27FC236}">
                <a16:creationId xmlns:a16="http://schemas.microsoft.com/office/drawing/2014/main" id="{2AA853C7-3622-2DB2-46C4-7859566910C6}"/>
              </a:ext>
            </a:extLst>
          </p:cNvPr>
          <p:cNvSpPr/>
          <p:nvPr/>
        </p:nvSpPr>
        <p:spPr>
          <a:xfrm>
            <a:off x="5145088" y="1598613"/>
            <a:ext cx="193675" cy="1746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1B7A8C9F-4A16-F4D9-E70B-9BF92ACDBC25}"/>
              </a:ext>
            </a:extLst>
          </p:cNvPr>
          <p:cNvSpPr/>
          <p:nvPr/>
        </p:nvSpPr>
        <p:spPr>
          <a:xfrm>
            <a:off x="4106863" y="1677988"/>
            <a:ext cx="195262" cy="17303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92" name="橢圓 91">
            <a:extLst>
              <a:ext uri="{FF2B5EF4-FFF2-40B4-BE49-F238E27FC236}">
                <a16:creationId xmlns:a16="http://schemas.microsoft.com/office/drawing/2014/main" id="{CC5B838E-DAC9-3F25-B427-880D698249E6}"/>
              </a:ext>
            </a:extLst>
          </p:cNvPr>
          <p:cNvSpPr/>
          <p:nvPr/>
        </p:nvSpPr>
        <p:spPr>
          <a:xfrm>
            <a:off x="4787900" y="1844675"/>
            <a:ext cx="193675" cy="1730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1D463124-6A18-06AC-9F7E-35892135992B}"/>
              </a:ext>
            </a:extLst>
          </p:cNvPr>
          <p:cNvCxnSpPr>
            <a:stCxn id="90" idx="2"/>
            <a:endCxn id="91" idx="7"/>
          </p:cNvCxnSpPr>
          <p:nvPr/>
        </p:nvCxnSpPr>
        <p:spPr>
          <a:xfrm flipH="1">
            <a:off x="4273550" y="1685925"/>
            <a:ext cx="871538" cy="1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511227FB-1DB3-232B-6B8E-0927919356E5}"/>
              </a:ext>
            </a:extLst>
          </p:cNvPr>
          <p:cNvCxnSpPr>
            <a:stCxn id="90" idx="5"/>
            <a:endCxn id="92" idx="6"/>
          </p:cNvCxnSpPr>
          <p:nvPr/>
        </p:nvCxnSpPr>
        <p:spPr>
          <a:xfrm flipH="1">
            <a:off x="4981575" y="1747838"/>
            <a:ext cx="328613" cy="182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4CEF71F2-5CA1-2272-06A1-619225298BE0}"/>
              </a:ext>
            </a:extLst>
          </p:cNvPr>
          <p:cNvCxnSpPr>
            <a:stCxn id="91" idx="5"/>
            <a:endCxn id="92" idx="2"/>
          </p:cNvCxnSpPr>
          <p:nvPr/>
        </p:nvCxnSpPr>
        <p:spPr>
          <a:xfrm>
            <a:off x="4273550" y="1825625"/>
            <a:ext cx="514350" cy="104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6C115747-9EAA-2364-7AA0-72700931D3D2}"/>
              </a:ext>
            </a:extLst>
          </p:cNvPr>
          <p:cNvCxnSpPr/>
          <p:nvPr/>
        </p:nvCxnSpPr>
        <p:spPr>
          <a:xfrm flipV="1">
            <a:off x="1319213" y="4953000"/>
            <a:ext cx="3900487" cy="287338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橢圓 111">
            <a:extLst>
              <a:ext uri="{FF2B5EF4-FFF2-40B4-BE49-F238E27FC236}">
                <a16:creationId xmlns:a16="http://schemas.microsoft.com/office/drawing/2014/main" id="{2D57043E-ADC7-0BD9-14B2-04520F9230D7}"/>
              </a:ext>
            </a:extLst>
          </p:cNvPr>
          <p:cNvSpPr/>
          <p:nvPr/>
        </p:nvSpPr>
        <p:spPr>
          <a:xfrm>
            <a:off x="6707188" y="1565275"/>
            <a:ext cx="193675" cy="17303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079961E4-8BC2-8D60-6644-4C6788C821C6}"/>
              </a:ext>
            </a:extLst>
          </p:cNvPr>
          <p:cNvSpPr/>
          <p:nvPr/>
        </p:nvSpPr>
        <p:spPr>
          <a:xfrm>
            <a:off x="5668963" y="1643063"/>
            <a:ext cx="195262" cy="17303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754696A2-97B1-F649-DCE0-9EDFC74CE338}"/>
              </a:ext>
            </a:extLst>
          </p:cNvPr>
          <p:cNvSpPr/>
          <p:nvPr/>
        </p:nvSpPr>
        <p:spPr>
          <a:xfrm>
            <a:off x="6350000" y="1809750"/>
            <a:ext cx="195263" cy="17462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18013C70-934B-D28B-B739-05F2B6BECA78}"/>
              </a:ext>
            </a:extLst>
          </p:cNvPr>
          <p:cNvCxnSpPr>
            <a:stCxn id="112" idx="0"/>
            <a:endCxn id="118" idx="6"/>
          </p:cNvCxnSpPr>
          <p:nvPr/>
        </p:nvCxnSpPr>
        <p:spPr>
          <a:xfrm flipH="1" flipV="1">
            <a:off x="6189663" y="1454150"/>
            <a:ext cx="614362" cy="111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A2F589F2-E062-A2C3-6030-920EBAD9D94A}"/>
              </a:ext>
            </a:extLst>
          </p:cNvPr>
          <p:cNvCxnSpPr>
            <a:stCxn id="112" idx="4"/>
            <a:endCxn id="114" idx="6"/>
          </p:cNvCxnSpPr>
          <p:nvPr/>
        </p:nvCxnSpPr>
        <p:spPr>
          <a:xfrm flipH="1">
            <a:off x="6545263" y="1738313"/>
            <a:ext cx="258762" cy="158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44AAF6FB-A51E-A71C-0D3C-5CDCEF6AD098}"/>
              </a:ext>
            </a:extLst>
          </p:cNvPr>
          <p:cNvCxnSpPr>
            <a:stCxn id="113" idx="5"/>
            <a:endCxn id="114" idx="2"/>
          </p:cNvCxnSpPr>
          <p:nvPr/>
        </p:nvCxnSpPr>
        <p:spPr>
          <a:xfrm>
            <a:off x="5835650" y="1790700"/>
            <a:ext cx="514350" cy="106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橢圓 117">
            <a:extLst>
              <a:ext uri="{FF2B5EF4-FFF2-40B4-BE49-F238E27FC236}">
                <a16:creationId xmlns:a16="http://schemas.microsoft.com/office/drawing/2014/main" id="{655DAF61-D2C0-172F-E75E-3DBCC7A35050}"/>
              </a:ext>
            </a:extLst>
          </p:cNvPr>
          <p:cNvSpPr/>
          <p:nvPr/>
        </p:nvSpPr>
        <p:spPr>
          <a:xfrm>
            <a:off x="5995988" y="1366838"/>
            <a:ext cx="193675" cy="17303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CB7CEF34-A802-C1A6-D1CB-E31F6FDDF4CA}"/>
              </a:ext>
            </a:extLst>
          </p:cNvPr>
          <p:cNvCxnSpPr>
            <a:stCxn id="113" idx="1"/>
            <a:endCxn id="118" idx="2"/>
          </p:cNvCxnSpPr>
          <p:nvPr/>
        </p:nvCxnSpPr>
        <p:spPr>
          <a:xfrm flipV="1">
            <a:off x="5697538" y="1454150"/>
            <a:ext cx="298450" cy="214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47" name="文字方塊 125">
            <a:extLst>
              <a:ext uri="{FF2B5EF4-FFF2-40B4-BE49-F238E27FC236}">
                <a16:creationId xmlns:a16="http://schemas.microsoft.com/office/drawing/2014/main" id="{D59FFADD-4AC7-E43B-FF66-9A2130B9A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1354138"/>
            <a:ext cx="14716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 b="1">
                <a:solidFill>
                  <a:schemeClr val="tx1"/>
                </a:solidFill>
                <a:latin typeface="Calibri" panose="020F0502020204030204" pitchFamily="34" charset="0"/>
              </a:rPr>
              <a:t>Network </a:t>
            </a:r>
            <a:br>
              <a:rPr kumimoji="0" lang="en-US" altLang="zh-TW" sz="1800" b="1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kumimoji="0" lang="en-US" altLang="zh-TW" sz="1800" b="1">
                <a:solidFill>
                  <a:schemeClr val="tx1"/>
                </a:solidFill>
                <a:latin typeface="Calibri" panose="020F0502020204030204" pitchFamily="34" charset="0"/>
              </a:rPr>
              <a:t>Virtualization</a:t>
            </a:r>
            <a:endParaRPr kumimoji="0" lang="zh-TW" altLang="en-US" sz="18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27" name="右大括弧 126">
            <a:extLst>
              <a:ext uri="{FF2B5EF4-FFF2-40B4-BE49-F238E27FC236}">
                <a16:creationId xmlns:a16="http://schemas.microsoft.com/office/drawing/2014/main" id="{B8F2F592-8A6A-47E2-D498-D96FCA43F500}"/>
              </a:ext>
            </a:extLst>
          </p:cNvPr>
          <p:cNvSpPr/>
          <p:nvPr/>
        </p:nvSpPr>
        <p:spPr>
          <a:xfrm>
            <a:off x="7085013" y="1309688"/>
            <a:ext cx="212725" cy="6746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DF3472B-05F8-42E3-3AD6-62B1C726A6FD}"/>
              </a:ext>
            </a:extLst>
          </p:cNvPr>
          <p:cNvSpPr/>
          <p:nvPr/>
        </p:nvSpPr>
        <p:spPr>
          <a:xfrm>
            <a:off x="2746375" y="3870325"/>
            <a:ext cx="195263" cy="17303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29" name="橢圓 128">
            <a:extLst>
              <a:ext uri="{FF2B5EF4-FFF2-40B4-BE49-F238E27FC236}">
                <a16:creationId xmlns:a16="http://schemas.microsoft.com/office/drawing/2014/main" id="{E5C859E3-B027-0554-18A5-22E8D9624E8B}"/>
              </a:ext>
            </a:extLst>
          </p:cNvPr>
          <p:cNvSpPr/>
          <p:nvPr/>
        </p:nvSpPr>
        <p:spPr>
          <a:xfrm>
            <a:off x="730250" y="4713288"/>
            <a:ext cx="195263" cy="173037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30" name="橢圓 129">
            <a:extLst>
              <a:ext uri="{FF2B5EF4-FFF2-40B4-BE49-F238E27FC236}">
                <a16:creationId xmlns:a16="http://schemas.microsoft.com/office/drawing/2014/main" id="{57365E7C-BB3C-6694-F7CD-FB4C43A3DE8D}"/>
              </a:ext>
            </a:extLst>
          </p:cNvPr>
          <p:cNvSpPr/>
          <p:nvPr/>
        </p:nvSpPr>
        <p:spPr>
          <a:xfrm>
            <a:off x="3673475" y="5759450"/>
            <a:ext cx="193675" cy="17303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F2201F55-6BD3-AD09-621F-F7FDB017D438}"/>
              </a:ext>
            </a:extLst>
          </p:cNvPr>
          <p:cNvCxnSpPr>
            <a:stCxn id="128" idx="2"/>
            <a:endCxn id="129" idx="7"/>
          </p:cNvCxnSpPr>
          <p:nvPr/>
        </p:nvCxnSpPr>
        <p:spPr>
          <a:xfrm flipH="1">
            <a:off x="896938" y="3956050"/>
            <a:ext cx="1849437" cy="7826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D39A3730-2403-83E1-A280-7C6993C23FF6}"/>
              </a:ext>
            </a:extLst>
          </p:cNvPr>
          <p:cNvCxnSpPr>
            <a:stCxn id="130" idx="2"/>
            <a:endCxn id="129" idx="4"/>
          </p:cNvCxnSpPr>
          <p:nvPr/>
        </p:nvCxnSpPr>
        <p:spPr>
          <a:xfrm flipH="1" flipV="1">
            <a:off x="827088" y="4886325"/>
            <a:ext cx="2846387" cy="9604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25D69E65-52A9-8115-D737-44C00B93E3C3}"/>
              </a:ext>
            </a:extLst>
          </p:cNvPr>
          <p:cNvCxnSpPr>
            <a:stCxn id="130" idx="0"/>
            <a:endCxn id="128" idx="5"/>
          </p:cNvCxnSpPr>
          <p:nvPr/>
        </p:nvCxnSpPr>
        <p:spPr>
          <a:xfrm flipH="1" flipV="1">
            <a:off x="2913063" y="4017963"/>
            <a:ext cx="857250" cy="174148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3" name="橢圓 142">
            <a:extLst>
              <a:ext uri="{FF2B5EF4-FFF2-40B4-BE49-F238E27FC236}">
                <a16:creationId xmlns:a16="http://schemas.microsoft.com/office/drawing/2014/main" id="{A867247B-8520-998E-E1E6-F207B9ECA299}"/>
              </a:ext>
            </a:extLst>
          </p:cNvPr>
          <p:cNvSpPr/>
          <p:nvPr/>
        </p:nvSpPr>
        <p:spPr>
          <a:xfrm>
            <a:off x="5781675" y="4379913"/>
            <a:ext cx="195263" cy="17303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44" name="橢圓 143">
            <a:extLst>
              <a:ext uri="{FF2B5EF4-FFF2-40B4-BE49-F238E27FC236}">
                <a16:creationId xmlns:a16="http://schemas.microsoft.com/office/drawing/2014/main" id="{8FE0BCC5-4ABF-F42B-41A0-C8ED0A0539EF}"/>
              </a:ext>
            </a:extLst>
          </p:cNvPr>
          <p:cNvSpPr/>
          <p:nvPr/>
        </p:nvSpPr>
        <p:spPr>
          <a:xfrm>
            <a:off x="701675" y="4476750"/>
            <a:ext cx="195263" cy="1730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45" name="橢圓 144">
            <a:extLst>
              <a:ext uri="{FF2B5EF4-FFF2-40B4-BE49-F238E27FC236}">
                <a16:creationId xmlns:a16="http://schemas.microsoft.com/office/drawing/2014/main" id="{EB1BE4F5-A895-10E9-78F4-4105E7613C6D}"/>
              </a:ext>
            </a:extLst>
          </p:cNvPr>
          <p:cNvSpPr/>
          <p:nvPr/>
        </p:nvSpPr>
        <p:spPr>
          <a:xfrm>
            <a:off x="3659188" y="5522913"/>
            <a:ext cx="195262" cy="17303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0765A648-EC0D-33D5-AEE0-30D0383B0778}"/>
              </a:ext>
            </a:extLst>
          </p:cNvPr>
          <p:cNvCxnSpPr>
            <a:stCxn id="145" idx="2"/>
            <a:endCxn id="144" idx="5"/>
          </p:cNvCxnSpPr>
          <p:nvPr/>
        </p:nvCxnSpPr>
        <p:spPr>
          <a:xfrm flipH="1" flipV="1">
            <a:off x="868363" y="4624388"/>
            <a:ext cx="2790825" cy="98583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4E085091-52EC-65FA-39DA-C117D2F0C9A7}"/>
              </a:ext>
            </a:extLst>
          </p:cNvPr>
          <p:cNvCxnSpPr>
            <a:stCxn id="143" idx="2"/>
            <a:endCxn id="144" idx="7"/>
          </p:cNvCxnSpPr>
          <p:nvPr/>
        </p:nvCxnSpPr>
        <p:spPr>
          <a:xfrm flipH="1">
            <a:off x="868363" y="4465638"/>
            <a:ext cx="4913312" cy="3651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1751E413-0A52-9104-4906-AAF8A5F97AEE}"/>
              </a:ext>
            </a:extLst>
          </p:cNvPr>
          <p:cNvCxnSpPr>
            <a:stCxn id="143" idx="4"/>
            <a:endCxn id="145" idx="6"/>
          </p:cNvCxnSpPr>
          <p:nvPr/>
        </p:nvCxnSpPr>
        <p:spPr>
          <a:xfrm flipH="1">
            <a:off x="3854450" y="4552950"/>
            <a:ext cx="2024063" cy="105727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5" name="橢圓 154">
            <a:extLst>
              <a:ext uri="{FF2B5EF4-FFF2-40B4-BE49-F238E27FC236}">
                <a16:creationId xmlns:a16="http://schemas.microsoft.com/office/drawing/2014/main" id="{03AB0963-3117-7038-687D-103393435B87}"/>
              </a:ext>
            </a:extLst>
          </p:cNvPr>
          <p:cNvSpPr/>
          <p:nvPr/>
        </p:nvSpPr>
        <p:spPr>
          <a:xfrm>
            <a:off x="2746375" y="3649663"/>
            <a:ext cx="195263" cy="17303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1F2983D3-CABF-833C-4035-881EB1441609}"/>
              </a:ext>
            </a:extLst>
          </p:cNvPr>
          <p:cNvSpPr/>
          <p:nvPr/>
        </p:nvSpPr>
        <p:spPr>
          <a:xfrm>
            <a:off x="730250" y="4205288"/>
            <a:ext cx="195263" cy="17462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4286CF23-9BAE-12F0-3ADE-312A6BA6D5AF}"/>
              </a:ext>
            </a:extLst>
          </p:cNvPr>
          <p:cNvSpPr/>
          <p:nvPr/>
        </p:nvSpPr>
        <p:spPr>
          <a:xfrm>
            <a:off x="5767388" y="4135438"/>
            <a:ext cx="193675" cy="173037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D94535E6-7914-4779-7686-5CBD92FE997C}"/>
              </a:ext>
            </a:extLst>
          </p:cNvPr>
          <p:cNvSpPr/>
          <p:nvPr/>
        </p:nvSpPr>
        <p:spPr>
          <a:xfrm>
            <a:off x="3659188" y="5280025"/>
            <a:ext cx="195262" cy="17303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/>
          </a:p>
        </p:txBody>
      </p: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0F4824E0-42A4-4ED6-FC24-A0133EBEC90F}"/>
              </a:ext>
            </a:extLst>
          </p:cNvPr>
          <p:cNvCxnSpPr>
            <a:stCxn id="155" idx="1"/>
            <a:endCxn id="156" idx="7"/>
          </p:cNvCxnSpPr>
          <p:nvPr/>
        </p:nvCxnSpPr>
        <p:spPr>
          <a:xfrm flipH="1">
            <a:off x="896938" y="3675063"/>
            <a:ext cx="1878012" cy="55562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6F7CDC77-6DF9-4E50-CC05-FA16B4317CD5}"/>
              </a:ext>
            </a:extLst>
          </p:cNvPr>
          <p:cNvCxnSpPr>
            <a:stCxn id="158" idx="2"/>
            <a:endCxn id="156" idx="4"/>
          </p:cNvCxnSpPr>
          <p:nvPr/>
        </p:nvCxnSpPr>
        <p:spPr>
          <a:xfrm flipH="1" flipV="1">
            <a:off x="827088" y="4379913"/>
            <a:ext cx="2832100" cy="98742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0843ECCC-ACEA-4FA8-E49E-8DA8C2E21628}"/>
              </a:ext>
            </a:extLst>
          </p:cNvPr>
          <p:cNvCxnSpPr>
            <a:stCxn id="157" idx="4"/>
            <a:endCxn id="158" idx="6"/>
          </p:cNvCxnSpPr>
          <p:nvPr/>
        </p:nvCxnSpPr>
        <p:spPr>
          <a:xfrm flipH="1">
            <a:off x="3854450" y="4308475"/>
            <a:ext cx="2009775" cy="105886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D72CD386-37C4-38E2-6F26-40D0DC799885}"/>
              </a:ext>
            </a:extLst>
          </p:cNvPr>
          <p:cNvCxnSpPr>
            <a:stCxn id="157" idx="2"/>
            <a:endCxn id="155" idx="7"/>
          </p:cNvCxnSpPr>
          <p:nvPr/>
        </p:nvCxnSpPr>
        <p:spPr>
          <a:xfrm flipH="1" flipV="1">
            <a:off x="2913063" y="3675063"/>
            <a:ext cx="2854325" cy="54610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1C30E74-1A3B-0257-64D1-27C3D264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Forwarding Abstraction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040CFFE-1D92-7E2A-AD95-B51C2FEF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Purpose: Abstract away forwarding hardware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Flexible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Behavior specified by control plane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Built from basic set of forwarding primitives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Minimal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Streamlined for speed and low-power</a:t>
            </a:r>
          </a:p>
          <a:p>
            <a:pPr lvl="1" eaLnBrk="1" hangingPunct="1"/>
            <a:r>
              <a:rPr lang="en-US" altLang="zh-TW">
                <a:ea typeface="ＭＳ Ｐゴシック" panose="020B0600070205080204" pitchFamily="34" charset="-128"/>
              </a:rPr>
              <a:t>Control program not vendor-specific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OpenFlow is an example of such an abstraction</a:t>
            </a:r>
          </a:p>
          <a:p>
            <a:pPr lvl="1" eaLnBrk="1" hangingPunct="1"/>
            <a:endParaRPr lang="en-US" altLang="zh-TW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8">
            <a:extLst>
              <a:ext uri="{FF2B5EF4-FFF2-40B4-BE49-F238E27FC236}">
                <a16:creationId xmlns:a16="http://schemas.microsoft.com/office/drawing/2014/main" id="{B45B4DAE-2432-F0A4-4DDC-F011F0BC5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3151188"/>
            <a:ext cx="0" cy="1454150"/>
          </a:xfrm>
          <a:prstGeom prst="line">
            <a:avLst/>
          </a:prstGeom>
          <a:noFill/>
          <a:ln w="88900">
            <a:solidFill>
              <a:srgbClr val="FF7F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5843" name="Rectangle 9">
            <a:extLst>
              <a:ext uri="{FF2B5EF4-FFF2-40B4-BE49-F238E27FC236}">
                <a16:creationId xmlns:a16="http://schemas.microsoft.com/office/drawing/2014/main" id="{41F0C909-4E56-462B-0889-27882F97A492}"/>
              </a:ext>
            </a:extLst>
          </p:cNvPr>
          <p:cNvSpPr>
            <a:spLocks/>
          </p:cNvSpPr>
          <p:nvPr/>
        </p:nvSpPr>
        <p:spPr bwMode="auto">
          <a:xfrm>
            <a:off x="2044700" y="3692525"/>
            <a:ext cx="3160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464" bIns="0">
            <a:spAutoFit/>
          </a:bodyPr>
          <a:lstStyle>
            <a:lvl1pPr marL="41275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solidFill>
                  <a:srgbClr val="1F497D"/>
                </a:solidFill>
                <a:latin typeface="Calibri" panose="020F0502020204030204" pitchFamily="34" charset="0"/>
                <a:sym typeface="Gill Sans" pitchFamily="-108" charset="0"/>
              </a:rPr>
              <a:t>OpenFlow Protocol</a:t>
            </a:r>
          </a:p>
        </p:txBody>
      </p:sp>
      <p:sp>
        <p:nvSpPr>
          <p:cNvPr id="35844" name="AutoShape 1">
            <a:extLst>
              <a:ext uri="{FF2B5EF4-FFF2-40B4-BE49-F238E27FC236}">
                <a16:creationId xmlns:a16="http://schemas.microsoft.com/office/drawing/2014/main" id="{7E70ED33-B526-471D-2D5D-6BA7092B8FF4}"/>
              </a:ext>
            </a:extLst>
          </p:cNvPr>
          <p:cNvSpPr>
            <a:spLocks/>
          </p:cNvSpPr>
          <p:nvPr/>
        </p:nvSpPr>
        <p:spPr bwMode="auto">
          <a:xfrm>
            <a:off x="1828800" y="4605338"/>
            <a:ext cx="5364163" cy="1368425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000000"/>
              </a:gs>
              <a:gs pos="50000">
                <a:srgbClr val="000000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rgbClr val="FFFFFF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solidFill>
                <a:srgbClr val="000000"/>
              </a:solidFill>
              <a:latin typeface="Helvetica" panose="020B0604020202020204" pitchFamily="34" charset="0"/>
              <a:ea typeface="ヒラギノ明朝 ProN W3"/>
              <a:cs typeface="ヒラギノ明朝 ProN W3"/>
              <a:sym typeface="Times New Roman" panose="02020603050405020304" pitchFamily="18" charset="0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4EDD348-7903-568E-0B5E-F373DA53D9A1}"/>
              </a:ext>
            </a:extLst>
          </p:cNvPr>
          <p:cNvSpPr>
            <a:spLocks/>
          </p:cNvSpPr>
          <p:nvPr/>
        </p:nvSpPr>
        <p:spPr bwMode="auto">
          <a:xfrm>
            <a:off x="1997075" y="5380038"/>
            <a:ext cx="5008563" cy="476250"/>
          </a:xfrm>
          <a:prstGeom prst="roundRect">
            <a:avLst>
              <a:gd name="adj" fmla="val 8472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41464" bIns="0" anchor="ctr"/>
          <a:lstStyle/>
          <a:p>
            <a:pPr marL="41299" algn="ctr" eaLnBrk="1" hangingPunct="1">
              <a:defRPr/>
            </a:pPr>
            <a:r>
              <a:rPr lang="en-US" sz="20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Data Path (Hardware)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0C122610-C141-3B1D-0CFA-F88808A5330F}"/>
              </a:ext>
            </a:extLst>
          </p:cNvPr>
          <p:cNvSpPr>
            <a:spLocks/>
          </p:cNvSpPr>
          <p:nvPr/>
        </p:nvSpPr>
        <p:spPr bwMode="auto">
          <a:xfrm>
            <a:off x="1997075" y="4718050"/>
            <a:ext cx="3489325" cy="468313"/>
          </a:xfrm>
          <a:prstGeom prst="roundRect">
            <a:avLst>
              <a:gd name="adj" fmla="val 6894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41464" bIns="0" anchor="ctr"/>
          <a:lstStyle/>
          <a:p>
            <a:pPr marL="41299" algn="ctr" eaLnBrk="1" hangingPunct="1">
              <a:defRPr/>
            </a:pPr>
            <a:r>
              <a:rPr lang="en-US" sz="20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Control Path</a:t>
            </a:r>
          </a:p>
        </p:txBody>
      </p:sp>
      <p:sp>
        <p:nvSpPr>
          <p:cNvPr id="35847" name="Line 4">
            <a:extLst>
              <a:ext uri="{FF2B5EF4-FFF2-40B4-BE49-F238E27FC236}">
                <a16:creationId xmlns:a16="http://schemas.microsoft.com/office/drawing/2014/main" id="{9AF987C4-BC2C-C920-BAC5-04053FB9CCFC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944688" y="5284788"/>
            <a:ext cx="5138737" cy="7937"/>
          </a:xfrm>
          <a:prstGeom prst="line">
            <a:avLst/>
          </a:prstGeom>
          <a:noFill/>
          <a:ln w="38100">
            <a:solidFill>
              <a:srgbClr val="00194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14B12A9D-D53E-A585-1784-430E76B3C833}"/>
              </a:ext>
            </a:extLst>
          </p:cNvPr>
          <p:cNvSpPr>
            <a:spLocks/>
          </p:cNvSpPr>
          <p:nvPr/>
        </p:nvSpPr>
        <p:spPr bwMode="auto">
          <a:xfrm>
            <a:off x="5638800" y="4718050"/>
            <a:ext cx="1366838" cy="468313"/>
          </a:xfrm>
          <a:prstGeom prst="roundRect">
            <a:avLst>
              <a:gd name="adj" fmla="val 6894"/>
            </a:avLst>
          </a:prstGeom>
          <a:solidFill>
            <a:srgbClr val="C8D2DF"/>
          </a:solidFill>
          <a:ln w="25400" cap="flat">
            <a:solidFill>
              <a:schemeClr val="bg1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41464" bIns="0" anchor="ctr"/>
          <a:lstStyle/>
          <a:p>
            <a:pPr marL="41299" algn="ctr" eaLnBrk="1" hangingPunct="1">
              <a:defRPr/>
            </a:pPr>
            <a:r>
              <a:rPr lang="en-US" sz="2000" b="1" dirty="0">
                <a:solidFill>
                  <a:srgbClr val="001949"/>
                </a:solidFill>
                <a:latin typeface="Helvetica"/>
                <a:ea typeface="Gill Sans" charset="0"/>
                <a:cs typeface="Helvetica"/>
                <a:sym typeface="Gill Sans" charset="0"/>
              </a:rPr>
              <a:t>OpenFlow</a:t>
            </a:r>
          </a:p>
        </p:txBody>
      </p:sp>
      <p:grpSp>
        <p:nvGrpSpPr>
          <p:cNvPr id="2" name="Group 57">
            <a:extLst>
              <a:ext uri="{FF2B5EF4-FFF2-40B4-BE49-F238E27FC236}">
                <a16:creationId xmlns:a16="http://schemas.microsoft.com/office/drawing/2014/main" id="{2CA506B6-DC3B-86A0-6DCB-001D2B9223CA}"/>
              </a:ext>
            </a:extLst>
          </p:cNvPr>
          <p:cNvGrpSpPr/>
          <p:nvPr/>
        </p:nvGrpSpPr>
        <p:grpSpPr>
          <a:xfrm>
            <a:off x="1828551" y="4599729"/>
            <a:ext cx="5410200" cy="1381761"/>
            <a:chOff x="3276600" y="4755203"/>
            <a:chExt cx="5410200" cy="1381761"/>
          </a:xfrm>
          <a:effectLst>
            <a:reflection stA="50000" endPos="15000" dist="12700" dir="5400000" sy="-100000" algn="bl" rotWithShape="0"/>
          </a:effectLst>
        </p:grpSpPr>
        <p:grpSp>
          <p:nvGrpSpPr>
            <p:cNvPr id="3" name="Group 56">
              <a:extLst>
                <a:ext uri="{FF2B5EF4-FFF2-40B4-BE49-F238E27FC236}">
                  <a16:creationId xmlns:a16="http://schemas.microsoft.com/office/drawing/2014/main" id="{CA2B3CB1-ED51-BBD9-A815-AAF1BDFDBC6A}"/>
                </a:ext>
              </a:extLst>
            </p:cNvPr>
            <p:cNvGrpSpPr/>
            <p:nvPr/>
          </p:nvGrpSpPr>
          <p:grpSpPr>
            <a:xfrm>
              <a:off x="3276600" y="4755203"/>
              <a:ext cx="5410200" cy="1381761"/>
              <a:chOff x="3276600" y="4755203"/>
              <a:chExt cx="5410200" cy="1381761"/>
            </a:xfrm>
          </p:grpSpPr>
          <p:sp>
            <p:nvSpPr>
              <p:cNvPr id="21" name="AutoShape 1">
                <a:extLst>
                  <a:ext uri="{FF2B5EF4-FFF2-40B4-BE49-F238E27FC236}">
                    <a16:creationId xmlns:a16="http://schemas.microsoft.com/office/drawing/2014/main" id="{8282E92D-C0EF-3C74-27F8-097D094AC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600" y="4755203"/>
                <a:ext cx="5410200" cy="1381761"/>
              </a:xfrm>
              <a:prstGeom prst="roundRect">
                <a:avLst>
                  <a:gd name="adj" fmla="val 6486"/>
                </a:avLst>
              </a:prstGeom>
              <a:gradFill>
                <a:gsLst>
                  <a:gs pos="0">
                    <a:schemeClr val="bg1">
                      <a:lumMod val="85000"/>
                      <a:lumOff val="15000"/>
                    </a:schemeClr>
                  </a:gs>
                  <a:gs pos="50000">
                    <a:schemeClr val="tx1">
                      <a:lumMod val="50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</a:gradFill>
              <a:ln w="12700" cap="flat" cmpd="sng" algn="ctr">
                <a:solidFill>
                  <a:schemeClr val="bg1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lIns="0" tIns="0" rIns="0" bIns="0"/>
              <a:lstStyle/>
              <a:p>
                <a:pPr eaLnBrk="1" hangingPunct="1">
                  <a:defRPr/>
                </a:pPr>
                <a:endParaRPr lang="en-US" sz="2400">
                  <a:solidFill>
                    <a:srgbClr val="000000"/>
                  </a:solidFill>
                  <a:latin typeface="Helvetica"/>
                  <a:ea typeface="ヒラギノ明朝 ProN W3" charset="-128"/>
                  <a:cs typeface="Helvetica"/>
                  <a:sym typeface="Times New Roman" charset="0"/>
                </a:endParaRPr>
              </a:p>
            </p:txBody>
          </p:sp>
          <p:grpSp>
            <p:nvGrpSpPr>
              <p:cNvPr id="4" name="Group 53">
                <a:extLst>
                  <a:ext uri="{FF2B5EF4-FFF2-40B4-BE49-F238E27FC236}">
                    <a16:creationId xmlns:a16="http://schemas.microsoft.com/office/drawing/2014/main" id="{846334F7-79CE-C548-E0D4-BE89DA92E741}"/>
                  </a:ext>
                </a:extLst>
              </p:cNvPr>
              <p:cNvGrpSpPr/>
              <p:nvPr/>
            </p:nvGrpSpPr>
            <p:grpSpPr>
              <a:xfrm>
                <a:off x="3559955" y="5405444"/>
                <a:ext cx="4965347" cy="577142"/>
                <a:chOff x="3702749" y="5194834"/>
                <a:chExt cx="4685609" cy="375437"/>
              </a:xfrm>
            </p:grpSpPr>
            <p:pic>
              <p:nvPicPr>
                <p:cNvPr id="26" name="Picture 2">
                  <a:extLst>
                    <a:ext uri="{FF2B5EF4-FFF2-40B4-BE49-F238E27FC236}">
                      <a16:creationId xmlns:a16="http://schemas.microsoft.com/office/drawing/2014/main" id="{7D3CE25F-AC6D-529C-6B69-009AF007DA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702749" y="5194834"/>
                  <a:ext cx="2264094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7" name="Picture 4">
                  <a:extLst>
                    <a:ext uri="{FF2B5EF4-FFF2-40B4-BE49-F238E27FC236}">
                      <a16:creationId xmlns:a16="http://schemas.microsoft.com/office/drawing/2014/main" id="{58F4718A-8EE6-4A23-D7DE-34D63E5BF3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3702749" y="5383030"/>
                  <a:ext cx="2265637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8" name="Picture 5">
                  <a:extLst>
                    <a:ext uri="{FF2B5EF4-FFF2-40B4-BE49-F238E27FC236}">
                      <a16:creationId xmlns:a16="http://schemas.microsoft.com/office/drawing/2014/main" id="{E507F2E8-19C7-BAE4-AE32-5293464219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6122721" y="5194834"/>
                  <a:ext cx="2264094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9" name="Picture 6">
                  <a:extLst>
                    <a:ext uri="{FF2B5EF4-FFF2-40B4-BE49-F238E27FC236}">
                      <a16:creationId xmlns:a16="http://schemas.microsoft.com/office/drawing/2014/main" id="{3845D996-2FC8-0FBA-ABD7-11AE2B9289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122721" y="5383030"/>
                  <a:ext cx="2265637" cy="187241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</p:grpSp>
          <p:grpSp>
            <p:nvGrpSpPr>
              <p:cNvPr id="5" name="Group 54">
                <a:extLst>
                  <a:ext uri="{FF2B5EF4-FFF2-40B4-BE49-F238E27FC236}">
                    <a16:creationId xmlns:a16="http://schemas.microsoft.com/office/drawing/2014/main" id="{568C3DFF-322A-2059-1BC4-15672129664E}"/>
                  </a:ext>
                </a:extLst>
              </p:cNvPr>
              <p:cNvGrpSpPr/>
              <p:nvPr/>
            </p:nvGrpSpPr>
            <p:grpSpPr>
              <a:xfrm>
                <a:off x="7935721" y="4917764"/>
                <a:ext cx="589596" cy="243840"/>
                <a:chOff x="7799710" y="4630432"/>
                <a:chExt cx="556378" cy="183420"/>
              </a:xfrm>
            </p:grpSpPr>
            <p:pic>
              <p:nvPicPr>
                <p:cNvPr id="24" name="Picture 7">
                  <a:extLst>
                    <a:ext uri="{FF2B5EF4-FFF2-40B4-BE49-F238E27FC236}">
                      <a16:creationId xmlns:a16="http://schemas.microsoft.com/office/drawing/2014/main" id="{64CC40AF-7225-FBCA-AE29-F9AA652B803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7799710" y="4630432"/>
                  <a:ext cx="278575" cy="183420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  <p:pic>
              <p:nvPicPr>
                <p:cNvPr id="25" name="Picture 8">
                  <a:extLst>
                    <a:ext uri="{FF2B5EF4-FFF2-40B4-BE49-F238E27FC236}">
                      <a16:creationId xmlns:a16="http://schemas.microsoft.com/office/drawing/2014/main" id="{682E7739-458F-853E-D2F1-7FC0265138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8077513" y="4630432"/>
                  <a:ext cx="278575" cy="183420"/>
                </a:xfrm>
                <a:prstGeom prst="rect">
                  <a:avLst/>
                </a:prstGeom>
                <a:ln>
                  <a:noFill/>
                  <a:headEnd/>
                  <a:tailEnd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pic>
          </p:grp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7309BD-AB7B-0159-1280-ABE4F537D79F}"/>
                </a:ext>
              </a:extLst>
            </p:cNvPr>
            <p:cNvSpPr/>
            <p:nvPr/>
          </p:nvSpPr>
          <p:spPr>
            <a:xfrm>
              <a:off x="3489960" y="4836484"/>
              <a:ext cx="2837439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defTabSz="914139" eaLnBrk="1" hangingPunct="1">
                <a:defRPr/>
              </a:pPr>
              <a:r>
                <a:rPr lang="en-US" sz="2800" b="1" noProof="1">
                  <a:solidFill>
                    <a:prstClr val="white"/>
                  </a:solidFill>
                  <a:effectLst>
                    <a:outerShdw blurRad="92075" dist="25400" dir="2700000" algn="tl" rotWithShape="0">
                      <a:srgbClr val="000000">
                        <a:alpha val="76000"/>
                      </a:srgbClr>
                    </a:outerShdw>
                  </a:effectLst>
                  <a:latin typeface="Helvetica"/>
                  <a:cs typeface="Helvetica"/>
                  <a:sym typeface="Times New Roman" charset="0"/>
                </a:rPr>
                <a:t>Ethernet Switch</a:t>
              </a:r>
            </a:p>
          </p:txBody>
        </p:sp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349C129-C427-3A5E-ED11-B4FAE6B7B15E}"/>
              </a:ext>
            </a:extLst>
          </p:cNvPr>
          <p:cNvSpPr/>
          <p:nvPr/>
        </p:nvSpPr>
        <p:spPr>
          <a:xfrm>
            <a:off x="1219200" y="2347867"/>
            <a:ext cx="6663266" cy="81855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rgbClr val="FFFFFF"/>
                </a:solidFill>
                <a:latin typeface="+mj-lt"/>
              </a:rPr>
              <a:t>Network OS</a:t>
            </a:r>
          </a:p>
        </p:txBody>
      </p:sp>
      <p:grpSp>
        <p:nvGrpSpPr>
          <p:cNvPr id="6" name="Group 64">
            <a:extLst>
              <a:ext uri="{FF2B5EF4-FFF2-40B4-BE49-F238E27FC236}">
                <a16:creationId xmlns:a16="http://schemas.microsoft.com/office/drawing/2014/main" id="{1A425254-32DC-0E65-78DD-CA8EFA7F9AC4}"/>
              </a:ext>
            </a:extLst>
          </p:cNvPr>
          <p:cNvGrpSpPr/>
          <p:nvPr/>
        </p:nvGrpSpPr>
        <p:grpSpPr>
          <a:xfrm>
            <a:off x="5655733" y="2404421"/>
            <a:ext cx="838200" cy="609600"/>
            <a:chOff x="7848600" y="1752600"/>
            <a:chExt cx="1143000" cy="838200"/>
          </a:xfrm>
          <a:solidFill>
            <a:schemeClr val="bg1"/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E451B91-0163-476E-066D-A80E3B4FBD27}"/>
                </a:ext>
              </a:extLst>
            </p:cNvPr>
            <p:cNvSpPr/>
            <p:nvPr/>
          </p:nvSpPr>
          <p:spPr>
            <a:xfrm>
              <a:off x="8001000" y="1981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7EF165-D303-471E-8E55-1EA6D38FEB76}"/>
                </a:ext>
              </a:extLst>
            </p:cNvPr>
            <p:cNvSpPr/>
            <p:nvPr/>
          </p:nvSpPr>
          <p:spPr>
            <a:xfrm>
              <a:off x="8382000" y="17526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FBAD772-5F2F-95E8-6E91-849A6D613A51}"/>
                </a:ext>
              </a:extLst>
            </p:cNvPr>
            <p:cNvSpPr/>
            <p:nvPr/>
          </p:nvSpPr>
          <p:spPr>
            <a:xfrm>
              <a:off x="83820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60798FE-08CF-DF14-2569-14BF23D2DA03}"/>
                </a:ext>
              </a:extLst>
            </p:cNvPr>
            <p:cNvSpPr/>
            <p:nvPr/>
          </p:nvSpPr>
          <p:spPr>
            <a:xfrm>
              <a:off x="8763000" y="20574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243318C-3648-CC2C-9330-4DB10432A3AD}"/>
                </a:ext>
              </a:extLst>
            </p:cNvPr>
            <p:cNvSpPr/>
            <p:nvPr/>
          </p:nvSpPr>
          <p:spPr>
            <a:xfrm>
              <a:off x="78486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1C1A152-360E-285B-600E-906954EA3C84}"/>
                </a:ext>
              </a:extLst>
            </p:cNvPr>
            <p:cNvCxnSpPr>
              <a:stCxn id="36" idx="7"/>
              <a:endCxn id="37" idx="3"/>
            </p:cNvCxnSpPr>
            <p:nvPr/>
          </p:nvCxnSpPr>
          <p:spPr>
            <a:xfrm rot="5400000" flipH="1" flipV="1">
              <a:off x="8272322" y="1871522"/>
              <a:ext cx="66956" cy="2193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722E206-3FAF-6655-7ABC-118A5BE9E52E}"/>
                </a:ext>
              </a:extLst>
            </p:cNvPr>
            <p:cNvCxnSpPr>
              <a:stCxn id="40" idx="0"/>
              <a:endCxn id="36" idx="3"/>
            </p:cNvCxnSpPr>
            <p:nvPr/>
          </p:nvCxnSpPr>
          <p:spPr>
            <a:xfrm rot="5400000" flipH="1" flipV="1">
              <a:off x="7905750" y="2233472"/>
              <a:ext cx="185878" cy="71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C5F941C-CF71-77C3-A663-9755F0AD6256}"/>
                </a:ext>
              </a:extLst>
            </p:cNvPr>
            <p:cNvCxnSpPr>
              <a:stCxn id="40" idx="7"/>
              <a:endCxn id="37" idx="4"/>
            </p:cNvCxnSpPr>
            <p:nvPr/>
          </p:nvCxnSpPr>
          <p:spPr>
            <a:xfrm rot="5400000" flipH="1" flipV="1">
              <a:off x="8062772" y="1962150"/>
              <a:ext cx="414478" cy="452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4F9405D-3A92-000F-4385-78B38A0E06FB}"/>
                </a:ext>
              </a:extLst>
            </p:cNvPr>
            <p:cNvCxnSpPr>
              <a:stCxn id="40" idx="5"/>
              <a:endCxn id="38" idx="3"/>
            </p:cNvCxnSpPr>
            <p:nvPr/>
          </p:nvCxnSpPr>
          <p:spPr>
            <a:xfrm rot="16200000" flipH="1">
              <a:off x="8229600" y="2371444"/>
              <a:ext cx="1588" cy="3717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FA4F3C8-8521-D37C-FF8D-BF468BEDD7F6}"/>
                </a:ext>
              </a:extLst>
            </p:cNvPr>
            <p:cNvCxnSpPr>
              <a:stCxn id="37" idx="4"/>
              <a:endCxn id="39" idx="1"/>
            </p:cNvCxnSpPr>
            <p:nvPr/>
          </p:nvCxnSpPr>
          <p:spPr>
            <a:xfrm rot="16200000" flipH="1">
              <a:off x="8591550" y="1885950"/>
              <a:ext cx="109678" cy="3001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00F611-2929-6148-F09C-24767F9E5A97}"/>
                </a:ext>
              </a:extLst>
            </p:cNvPr>
            <p:cNvCxnSpPr>
              <a:stCxn id="38" idx="6"/>
              <a:endCxn id="39" idx="3"/>
            </p:cNvCxnSpPr>
            <p:nvPr/>
          </p:nvCxnSpPr>
          <p:spPr>
            <a:xfrm flipV="1">
              <a:off x="8610600" y="2252522"/>
              <a:ext cx="185878" cy="2239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784EE06-56E2-C228-2D98-DF5E8BB6765C}"/>
              </a:ext>
            </a:extLst>
          </p:cNvPr>
          <p:cNvSpPr/>
          <p:nvPr/>
        </p:nvSpPr>
        <p:spPr>
          <a:xfrm>
            <a:off x="1998133" y="1755797"/>
            <a:ext cx="2514600" cy="49203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>
                <a:solidFill>
                  <a:srgbClr val="000000"/>
                </a:solidFill>
                <a:ea typeface="ＭＳ Ｐゴシック" pitchFamily="34" charset="-128"/>
              </a:rPr>
              <a:t>Control Program A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109F245-F891-1872-A564-1E3B98D2276A}"/>
              </a:ext>
            </a:extLst>
          </p:cNvPr>
          <p:cNvSpPr/>
          <p:nvPr/>
        </p:nvSpPr>
        <p:spPr>
          <a:xfrm>
            <a:off x="4582584" y="1752600"/>
            <a:ext cx="2520950" cy="49203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>
                <a:solidFill>
                  <a:srgbClr val="000000"/>
                </a:solidFill>
                <a:ea typeface="ＭＳ Ｐゴシック" pitchFamily="34" charset="-128"/>
              </a:rPr>
              <a:t>Control Program B</a:t>
            </a:r>
          </a:p>
        </p:txBody>
      </p:sp>
      <p:sp>
        <p:nvSpPr>
          <p:cNvPr id="35860" name="Title 31">
            <a:extLst>
              <a:ext uri="{FF2B5EF4-FFF2-40B4-BE49-F238E27FC236}">
                <a16:creationId xmlns:a16="http://schemas.microsoft.com/office/drawing/2014/main" id="{81D21748-BCA4-8D0A-E657-35675836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OpenFlow Basics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1D4F0B9-466B-7783-83AF-15A781DEA771}"/>
              </a:ext>
            </a:extLst>
          </p:cNvPr>
          <p:cNvCxnSpPr>
            <a:cxnSpLocks noChangeShapeType="1"/>
            <a:endCxn id="74" idx="0"/>
          </p:cNvCxnSpPr>
          <p:nvPr/>
        </p:nvCxnSpPr>
        <p:spPr bwMode="auto">
          <a:xfrm rot="5400000">
            <a:off x="3181350" y="3714750"/>
            <a:ext cx="2133600" cy="381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DEFC63-65B2-3B9B-638F-67D5355A4904}"/>
              </a:ext>
            </a:extLst>
          </p:cNvPr>
          <p:cNvSpPr/>
          <p:nvPr/>
        </p:nvSpPr>
        <p:spPr>
          <a:xfrm>
            <a:off x="1065212" y="1637376"/>
            <a:ext cx="2514600" cy="49203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>
                <a:solidFill>
                  <a:srgbClr val="000000"/>
                </a:solidFill>
                <a:ea typeface="ＭＳ Ｐゴシック" pitchFamily="34" charset="-128"/>
              </a:rPr>
              <a:t>Control Program A</a:t>
            </a:r>
          </a:p>
        </p:txBody>
      </p:sp>
      <p:cxnSp>
        <p:nvCxnSpPr>
          <p:cNvPr id="37894" name="Straight Connector 43">
            <a:extLst>
              <a:ext uri="{FF2B5EF4-FFF2-40B4-BE49-F238E27FC236}">
                <a16:creationId xmlns:a16="http://schemas.microsoft.com/office/drawing/2014/main" id="{339C0233-86B0-1EDA-B259-47F7F56025A0}"/>
              </a:ext>
            </a:extLst>
          </p:cNvPr>
          <p:cNvCxnSpPr>
            <a:cxnSpLocks noChangeShapeType="1"/>
            <a:stCxn id="34" idx="1"/>
          </p:cNvCxnSpPr>
          <p:nvPr/>
        </p:nvCxnSpPr>
        <p:spPr bwMode="auto">
          <a:xfrm rot="5400000" flipH="1" flipV="1">
            <a:off x="606425" y="4194175"/>
            <a:ext cx="122555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5" name="Straight Connector 45">
            <a:extLst>
              <a:ext uri="{FF2B5EF4-FFF2-40B4-BE49-F238E27FC236}">
                <a16:creationId xmlns:a16="http://schemas.microsoft.com/office/drawing/2014/main" id="{C8155AB3-6B29-6F0E-89A2-E0B6D718D40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1200" y="4114800"/>
            <a:ext cx="2590800" cy="1905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BA06118-2E52-A128-6EF8-52EB96747405}"/>
              </a:ext>
            </a:extLst>
          </p:cNvPr>
          <p:cNvSpPr/>
          <p:nvPr/>
        </p:nvSpPr>
        <p:spPr>
          <a:xfrm>
            <a:off x="3649663" y="1634179"/>
            <a:ext cx="2520950" cy="49203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TW" sz="2400">
                <a:solidFill>
                  <a:srgbClr val="000000"/>
                </a:solidFill>
                <a:ea typeface="ＭＳ Ｐゴシック" pitchFamily="34" charset="-128"/>
              </a:rPr>
              <a:t>Control Program B</a:t>
            </a:r>
          </a:p>
        </p:txBody>
      </p:sp>
      <p:cxnSp>
        <p:nvCxnSpPr>
          <p:cNvPr id="37899" name="Straight Connector 69">
            <a:extLst>
              <a:ext uri="{FF2B5EF4-FFF2-40B4-BE49-F238E27FC236}">
                <a16:creationId xmlns:a16="http://schemas.microsoft.com/office/drawing/2014/main" id="{64750021-2DAC-CB47-393F-D5E0132EFEF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-988219" y="4034632"/>
            <a:ext cx="2776537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Straight Connector 70">
            <a:extLst>
              <a:ext uri="{FF2B5EF4-FFF2-40B4-BE49-F238E27FC236}">
                <a16:creationId xmlns:a16="http://schemas.microsoft.com/office/drawing/2014/main" id="{D9F43351-6965-B658-DF1B-F95197D61C6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258887" y="3236913"/>
            <a:ext cx="989013" cy="1588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Straight Connector 72">
            <a:extLst>
              <a:ext uri="{FF2B5EF4-FFF2-40B4-BE49-F238E27FC236}">
                <a16:creationId xmlns:a16="http://schemas.microsoft.com/office/drawing/2014/main" id="{ED98BCA2-5433-78E7-D04D-B86F8BB58764}"/>
              </a:ext>
            </a:extLst>
          </p:cNvPr>
          <p:cNvCxnSpPr>
            <a:cxnSpLocks noChangeShapeType="1"/>
            <a:endCxn id="37" idx="1"/>
          </p:cNvCxnSpPr>
          <p:nvPr/>
        </p:nvCxnSpPr>
        <p:spPr bwMode="auto">
          <a:xfrm rot="5400000">
            <a:off x="3505201" y="4114800"/>
            <a:ext cx="3048000" cy="3175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ot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7FE1CB45-BE61-9086-C8F7-4F7532B890E3}"/>
              </a:ext>
            </a:extLst>
          </p:cNvPr>
          <p:cNvSpPr/>
          <p:nvPr/>
        </p:nvSpPr>
        <p:spPr>
          <a:xfrm>
            <a:off x="286279" y="2229446"/>
            <a:ext cx="6663266" cy="818554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rgbClr val="FFFFFF"/>
                </a:solidFill>
                <a:latin typeface="+mj-lt"/>
              </a:rPr>
              <a:t>Network OS</a:t>
            </a:r>
          </a:p>
        </p:txBody>
      </p:sp>
      <p:sp>
        <p:nvSpPr>
          <p:cNvPr id="37905" name="Title 31">
            <a:extLst>
              <a:ext uri="{FF2B5EF4-FFF2-40B4-BE49-F238E27FC236}">
                <a16:creationId xmlns:a16="http://schemas.microsoft.com/office/drawing/2014/main" id="{09E25735-00DC-5E4A-DA10-AABB1258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OpenFlow Basics</a:t>
            </a:r>
          </a:p>
        </p:txBody>
      </p:sp>
      <p:sp>
        <p:nvSpPr>
          <p:cNvPr id="34" name="AutoShape 7">
            <a:extLst>
              <a:ext uri="{FF2B5EF4-FFF2-40B4-BE49-F238E27FC236}">
                <a16:creationId xmlns:a16="http://schemas.microsoft.com/office/drawing/2014/main" id="{351535D4-FC61-1656-5F9D-EC78868D0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5264150"/>
            <a:ext cx="1371600" cy="7620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81E5B14E-CAF6-8087-10A7-6FFC2BBBF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581400"/>
            <a:ext cx="1371600" cy="7620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7" name="AutoShape 7">
            <a:extLst>
              <a:ext uri="{FF2B5EF4-FFF2-40B4-BE49-F238E27FC236}">
                <a16:creationId xmlns:a16="http://schemas.microsoft.com/office/drawing/2014/main" id="{5BECDBA2-E116-EF0F-EAEC-919EF7BE7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8800"/>
            <a:ext cx="1371600" cy="762000"/>
          </a:xfrm>
          <a:prstGeom prst="can">
            <a:avLst>
              <a:gd name="adj" fmla="val 43620"/>
            </a:avLst>
          </a:prstGeom>
          <a:solidFill>
            <a:schemeClr val="tx2"/>
          </a:solidFill>
          <a:ln w="9525">
            <a:noFill/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Packet</a:t>
            </a:r>
          </a:p>
          <a:p>
            <a:pPr algn="ctr" eaLnBrk="1" hangingPunct="1">
              <a:defRPr/>
            </a:pPr>
            <a:r>
              <a:rPr lang="en-US" altLang="zh-TW">
                <a:solidFill>
                  <a:schemeClr val="bg1"/>
                </a:solidFill>
                <a:latin typeface="Calibri" pitchFamily="34" charset="0"/>
              </a:rPr>
              <a:t>Forwarding </a:t>
            </a:r>
          </a:p>
          <a:p>
            <a:pPr algn="ctr" eaLnBrk="1" hangingPunct="1">
              <a:defRPr/>
            </a:pPr>
            <a:endParaRPr lang="en-US" altLang="zh-TW">
              <a:solidFill>
                <a:schemeClr val="bg1"/>
              </a:solidFill>
              <a:latin typeface="Calibri" pitchFamily="34" charset="0"/>
            </a:endParaRP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1B10C5BA-D4E4-C792-7EFC-8CFD17B7F0BE}"/>
              </a:ext>
            </a:extLst>
          </p:cNvPr>
          <p:cNvGrpSpPr/>
          <p:nvPr/>
        </p:nvGrpSpPr>
        <p:grpSpPr>
          <a:xfrm>
            <a:off x="4722812" y="2286000"/>
            <a:ext cx="838200" cy="609600"/>
            <a:chOff x="7848600" y="1752600"/>
            <a:chExt cx="1143000" cy="838200"/>
          </a:xfrm>
          <a:solidFill>
            <a:schemeClr val="bg1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13E74CC-C2C9-A993-2761-D7F5CDA4CE1B}"/>
                </a:ext>
              </a:extLst>
            </p:cNvPr>
            <p:cNvSpPr/>
            <p:nvPr/>
          </p:nvSpPr>
          <p:spPr>
            <a:xfrm>
              <a:off x="8001000" y="1981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526AEC-AE8F-4A3B-83EA-256D0E3D4512}"/>
                </a:ext>
              </a:extLst>
            </p:cNvPr>
            <p:cNvSpPr/>
            <p:nvPr/>
          </p:nvSpPr>
          <p:spPr>
            <a:xfrm>
              <a:off x="8382000" y="17526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0619264-2501-ABFF-C0D5-70FD76AEAE25}"/>
                </a:ext>
              </a:extLst>
            </p:cNvPr>
            <p:cNvSpPr/>
            <p:nvPr/>
          </p:nvSpPr>
          <p:spPr>
            <a:xfrm>
              <a:off x="83820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C45AD82-836F-86FD-33A6-BCEC2A133879}"/>
                </a:ext>
              </a:extLst>
            </p:cNvPr>
            <p:cNvSpPr/>
            <p:nvPr/>
          </p:nvSpPr>
          <p:spPr>
            <a:xfrm>
              <a:off x="8763000" y="20574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CBDF1B4-6935-30F9-7012-75D9C6DC7F88}"/>
                </a:ext>
              </a:extLst>
            </p:cNvPr>
            <p:cNvSpPr/>
            <p:nvPr/>
          </p:nvSpPr>
          <p:spPr>
            <a:xfrm>
              <a:off x="7848600" y="2362200"/>
              <a:ext cx="228600" cy="228600"/>
            </a:xfrm>
            <a:prstGeom prst="ellips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E2C794-21E6-9594-704D-889987EB1E8D}"/>
                </a:ext>
              </a:extLst>
            </p:cNvPr>
            <p:cNvCxnSpPr>
              <a:stCxn id="33" idx="7"/>
              <a:endCxn id="40" idx="3"/>
            </p:cNvCxnSpPr>
            <p:nvPr/>
          </p:nvCxnSpPr>
          <p:spPr>
            <a:xfrm rot="5400000" flipH="1" flipV="1">
              <a:off x="8272322" y="1871522"/>
              <a:ext cx="66956" cy="2193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A9C6285-9D2E-DEB5-7C18-9ACD44CBD5D1}"/>
                </a:ext>
              </a:extLst>
            </p:cNvPr>
            <p:cNvCxnSpPr>
              <a:stCxn id="43" idx="0"/>
              <a:endCxn id="33" idx="3"/>
            </p:cNvCxnSpPr>
            <p:nvPr/>
          </p:nvCxnSpPr>
          <p:spPr>
            <a:xfrm rot="5400000" flipH="1" flipV="1">
              <a:off x="7905750" y="2233472"/>
              <a:ext cx="185878" cy="71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FC43C0C-8455-06B7-05ED-3026EF2BB7DC}"/>
                </a:ext>
              </a:extLst>
            </p:cNvPr>
            <p:cNvCxnSpPr>
              <a:stCxn id="43" idx="7"/>
              <a:endCxn id="40" idx="4"/>
            </p:cNvCxnSpPr>
            <p:nvPr/>
          </p:nvCxnSpPr>
          <p:spPr>
            <a:xfrm rot="5400000" flipH="1" flipV="1">
              <a:off x="8062772" y="1962150"/>
              <a:ext cx="414478" cy="4525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58F2116-DF11-51D1-923B-FA29A31BE55C}"/>
                </a:ext>
              </a:extLst>
            </p:cNvPr>
            <p:cNvCxnSpPr>
              <a:stCxn id="43" idx="5"/>
              <a:endCxn id="41" idx="3"/>
            </p:cNvCxnSpPr>
            <p:nvPr/>
          </p:nvCxnSpPr>
          <p:spPr>
            <a:xfrm rot="16200000" flipH="1">
              <a:off x="8229600" y="2371444"/>
              <a:ext cx="1588" cy="371756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0DECE7F-4709-AF65-17C8-BFDBD21E06F3}"/>
                </a:ext>
              </a:extLst>
            </p:cNvPr>
            <p:cNvCxnSpPr>
              <a:stCxn id="40" idx="4"/>
              <a:endCxn id="42" idx="1"/>
            </p:cNvCxnSpPr>
            <p:nvPr/>
          </p:nvCxnSpPr>
          <p:spPr>
            <a:xfrm rot="16200000" flipH="1">
              <a:off x="8591550" y="1885950"/>
              <a:ext cx="109678" cy="3001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E238D61-A104-C1D4-9BFA-8F41E57FDBBC}"/>
                </a:ext>
              </a:extLst>
            </p:cNvPr>
            <p:cNvCxnSpPr>
              <a:stCxn id="41" idx="6"/>
              <a:endCxn id="42" idx="3"/>
            </p:cNvCxnSpPr>
            <p:nvPr/>
          </p:nvCxnSpPr>
          <p:spPr>
            <a:xfrm flipV="1">
              <a:off x="8610600" y="2252522"/>
              <a:ext cx="185878" cy="223978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D4FC7A69-91CD-B77D-8A7A-2D8E62460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800600"/>
            <a:ext cx="990600" cy="1143000"/>
          </a:xfrm>
          <a:prstGeom prst="rect">
            <a:avLst/>
          </a:prstGeom>
          <a:gradFill rotWithShape="1">
            <a:gsLst>
              <a:gs pos="0">
                <a:srgbClr val="E6B9B8"/>
              </a:gs>
              <a:gs pos="100000">
                <a:srgbClr val="953735"/>
              </a:gs>
            </a:gsLst>
            <a:lin ang="5400000"/>
          </a:gra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Flow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Table(s)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708EEF-67F8-E7D3-9928-F2E57C11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638" y="3124200"/>
            <a:ext cx="3198812" cy="400050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“If header = </a:t>
            </a:r>
            <a:r>
              <a:rPr lang="en-US" altLang="zh-TW" sz="2000" b="1" i="1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, send to port 4”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FFA34-A9CA-0F20-2E7F-9C713F221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50" y="4114800"/>
            <a:ext cx="2941638" cy="400050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“If header = </a:t>
            </a:r>
            <a:r>
              <a:rPr lang="en-US" altLang="zh-TW" sz="2000" b="1">
                <a:solidFill>
                  <a:srgbClr val="FF0000"/>
                </a:solidFill>
                <a:latin typeface="Arial" panose="020B0604020202020204" pitchFamily="34" charset="0"/>
              </a:rPr>
              <a:t>?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, send to me”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144FD5-521E-AA32-2F37-4EDB9F1ED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50" y="3486150"/>
            <a:ext cx="4141788" cy="708025"/>
          </a:xfrm>
          <a:prstGeom prst="rect">
            <a:avLst/>
          </a:prstGeom>
          <a:solidFill>
            <a:schemeClr val="bg1">
              <a:alpha val="4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“If header =</a:t>
            </a: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2000" b="1" i="1">
                <a:solidFill>
                  <a:srgbClr val="FF0000"/>
                </a:solidFill>
                <a:latin typeface="Arial" panose="020B0604020202020204" pitchFamily="34" charset="0"/>
              </a:rPr>
              <a:t>q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, overwrite header with </a:t>
            </a:r>
            <a:r>
              <a:rPr lang="en-US" altLang="zh-TW" sz="2000" b="1" i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b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   add header </a:t>
            </a:r>
            <a:r>
              <a:rPr lang="en-US" altLang="zh-TW" sz="2000" b="1" i="1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, and send to ports 5,6”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32" grpId="0" animBg="1"/>
      <p:bldP spid="39" grpId="0" animBg="1"/>
      <p:bldP spid="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2A37F2F4-9384-E060-022E-AF788D11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Plumbing Primitives</a:t>
            </a:r>
            <a:br>
              <a:rPr lang="en-US" altLang="zh-TW">
                <a:ea typeface="ＭＳ Ｐゴシック" panose="020B0600070205080204" pitchFamily="34" charset="-128"/>
              </a:rPr>
            </a:br>
            <a:r>
              <a:rPr lang="en-US" altLang="zh-TW" sz="3600">
                <a:solidFill>
                  <a:srgbClr val="1F497D"/>
                </a:solidFill>
                <a:ea typeface="ＭＳ Ｐゴシック" panose="020B0600070205080204" pitchFamily="34" charset="-128"/>
              </a:rPr>
              <a:t>&lt;Match, Action&gt;</a:t>
            </a:r>
            <a:endParaRPr lang="en-US" altLang="zh-TW">
              <a:solidFill>
                <a:srgbClr val="1F497D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1479CEE-DCBD-ACCD-E764-0B2378A5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Arial" panose="020B0604020202020204" pitchFamily="34" charset="0"/>
              <a:buNone/>
            </a:pPr>
            <a:r>
              <a:rPr lang="en-US" altLang="zh-TW" b="1" i="1">
                <a:solidFill>
                  <a:srgbClr val="1F497D"/>
                </a:solidFill>
                <a:ea typeface="ＭＳ Ｐゴシック" panose="020B0600070205080204" pitchFamily="34" charset="-128"/>
              </a:rPr>
              <a:t>Match</a:t>
            </a:r>
            <a:r>
              <a:rPr lang="en-US" altLang="zh-TW" b="1">
                <a:ea typeface="ＭＳ Ｐゴシック" panose="020B0600070205080204" pitchFamily="34" charset="-128"/>
              </a:rPr>
              <a:t> </a:t>
            </a:r>
            <a:r>
              <a:rPr lang="en-US" altLang="zh-TW">
                <a:ea typeface="ＭＳ Ｐゴシック" panose="020B0600070205080204" pitchFamily="34" charset="-128"/>
              </a:rPr>
              <a:t>arbitrary bits in headers: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796925" lvl="1" indent="-396875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marL="796925" lvl="1" indent="-396875" eaLnBrk="1" hangingPunct="1"/>
            <a:r>
              <a:rPr lang="en-US" altLang="zh-TW">
                <a:ea typeface="ＭＳ Ｐゴシック" panose="020B0600070205080204" pitchFamily="34" charset="-128"/>
              </a:rPr>
              <a:t>Match on any header, or new header</a:t>
            </a:r>
          </a:p>
          <a:p>
            <a:pPr marL="796925" lvl="1" indent="-396875" eaLnBrk="1" hangingPunct="1"/>
            <a:r>
              <a:rPr lang="en-US" altLang="zh-TW">
                <a:ea typeface="ＭＳ Ｐゴシック" panose="020B0600070205080204" pitchFamily="34" charset="-128"/>
              </a:rPr>
              <a:t>Allows any flow granularity</a:t>
            </a:r>
          </a:p>
          <a:p>
            <a:pPr marL="514350" indent="-514350" eaLnBrk="1" hangingPunct="1">
              <a:buFont typeface="Arial" panose="020B0604020202020204" pitchFamily="34" charset="0"/>
              <a:buNone/>
            </a:pPr>
            <a:r>
              <a:rPr lang="en-US" altLang="zh-TW" b="1" i="1">
                <a:solidFill>
                  <a:srgbClr val="1F497D"/>
                </a:solidFill>
                <a:ea typeface="ＭＳ Ｐゴシック" panose="020B0600070205080204" pitchFamily="34" charset="-128"/>
              </a:rPr>
              <a:t>Action</a:t>
            </a:r>
          </a:p>
          <a:p>
            <a:pPr marL="796925" lvl="1" indent="-396875" eaLnBrk="1" hangingPunct="1"/>
            <a:r>
              <a:rPr lang="en-US" altLang="zh-TW">
                <a:ea typeface="ＭＳ Ｐゴシック" panose="020B0600070205080204" pitchFamily="34" charset="-128"/>
              </a:rPr>
              <a:t>Forward to port(s), drop, send to controller</a:t>
            </a:r>
          </a:p>
          <a:p>
            <a:pPr marL="796925" lvl="1" indent="-396875" eaLnBrk="1" hangingPunct="1"/>
            <a:r>
              <a:rPr lang="en-US" altLang="zh-TW">
                <a:ea typeface="ＭＳ Ｐゴシック" panose="020B0600070205080204" pitchFamily="34" charset="-128"/>
              </a:rPr>
              <a:t>Overwrite header with mask, push or pop</a:t>
            </a:r>
          </a:p>
          <a:p>
            <a:pPr marL="796925" lvl="1" indent="-396875" eaLnBrk="1" hangingPunct="1"/>
            <a:r>
              <a:rPr lang="en-US" altLang="zh-TW">
                <a:ea typeface="ＭＳ Ｐゴシック" panose="020B0600070205080204" pitchFamily="34" charset="-128"/>
              </a:rPr>
              <a:t>Forward at specific bit-rate</a:t>
            </a:r>
          </a:p>
          <a:p>
            <a:pPr marL="796925" lvl="1" indent="-396875" eaLnBrk="1" hangingPunct="1">
              <a:buFont typeface="Calibri" panose="020F0502020204030204" pitchFamily="34" charset="0"/>
              <a:buAutoNum type="arabicPeriod"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796925" lvl="1" indent="-396875" eaLnBrk="1" hangingPunct="1"/>
            <a:endParaRPr lang="en-US" altLang="zh-TW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None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None/>
            </a:pPr>
            <a:endParaRPr lang="en-US" altLang="zh-TW">
              <a:ea typeface="ＭＳ Ｐゴシック" panose="020B0600070205080204" pitchFamily="34" charset="-128"/>
            </a:endParaRPr>
          </a:p>
          <a:p>
            <a:pPr marL="514350" indent="-514350" eaLnBrk="1" hangingPunct="1">
              <a:buFont typeface="Arial" panose="020B0604020202020204" pitchFamily="34" charset="0"/>
              <a:buNone/>
            </a:pPr>
            <a:r>
              <a:rPr lang="en-US" altLang="zh-TW" sz="2400">
                <a:ea typeface="ＭＳ Ｐゴシック" panose="020B0600070205080204" pitchFamily="34" charset="-128"/>
              </a:rPr>
              <a:t>										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D42D36DC-1521-F4F8-25D9-3BD50FD43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246E34-E81B-4886-972C-B4088EF8C185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A08B3-E8BF-9BEE-21E5-4BA1676BF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2465388"/>
            <a:ext cx="2800350" cy="576262"/>
          </a:xfrm>
          <a:prstGeom prst="rect">
            <a:avLst/>
          </a:prstGeom>
          <a:solidFill>
            <a:srgbClr val="D7E4BD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1F497D"/>
                </a:solidFill>
                <a:latin typeface="+mj-lt"/>
                <a:ea typeface="+mn-ea"/>
              </a:rPr>
              <a:t>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2746A-D30B-2791-774A-17C0CFDE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2465388"/>
            <a:ext cx="4265613" cy="576262"/>
          </a:xfrm>
          <a:prstGeom prst="rect">
            <a:avLst/>
          </a:prstGeom>
          <a:solidFill>
            <a:srgbClr val="CCC1DA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rgbClr val="1F497D"/>
                </a:solidFill>
                <a:latin typeface="+mj-lt"/>
                <a:ea typeface="+mn-ea"/>
              </a:rPr>
              <a:t>Data</a:t>
            </a:r>
          </a:p>
        </p:txBody>
      </p:sp>
      <p:sp>
        <p:nvSpPr>
          <p:cNvPr id="37895" name="TextBox 6">
            <a:extLst>
              <a:ext uri="{FF2B5EF4-FFF2-40B4-BE49-F238E27FC236}">
                <a16:creationId xmlns:a16="http://schemas.microsoft.com/office/drawing/2014/main" id="{5672C7E8-6830-8411-0A71-E1711F77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3059113"/>
            <a:ext cx="2825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>
                <a:latin typeface="+mj-lt"/>
                <a:ea typeface="+mn-ea"/>
              </a:rPr>
              <a:t>Match: 1000x01xx0101001x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FE6BCE7-892A-97D5-C805-B056CB03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ＭＳ Ｐゴシック" panose="020B0600070205080204" pitchFamily="34" charset="-128"/>
              </a:rPr>
              <a:t>General Forwarding Abstraction</a:t>
            </a:r>
          </a:p>
        </p:txBody>
      </p:sp>
      <p:sp>
        <p:nvSpPr>
          <p:cNvPr id="40963" name="Rounded Rectangle 3">
            <a:extLst>
              <a:ext uri="{FF2B5EF4-FFF2-40B4-BE49-F238E27FC236}">
                <a16:creationId xmlns:a16="http://schemas.microsoft.com/office/drawing/2014/main" id="{245E8398-2297-8351-D404-628ED9D3A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666875"/>
            <a:ext cx="5224463" cy="149225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3200">
                <a:solidFill>
                  <a:srgbClr val="1F497D"/>
                </a:solidFill>
                <a:latin typeface="Calibri" panose="020F0502020204030204" pitchFamily="34" charset="0"/>
              </a:rPr>
              <a:t>Small set of primitives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3200">
                <a:solidFill>
                  <a:srgbClr val="1F497D"/>
                </a:solidFill>
                <a:latin typeface="Calibri" panose="020F0502020204030204" pitchFamily="34" charset="0"/>
              </a:rPr>
              <a:t>“Forwarding instruction set”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A82A91-BF98-29CE-AAB4-9A21E3E22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379788"/>
            <a:ext cx="5224463" cy="14906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Protocol independent</a:t>
            </a:r>
          </a:p>
          <a:p>
            <a:pPr algn="ctr" eaLnBrk="1" hangingPunct="1">
              <a:defRPr/>
            </a:pP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Backward compatible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37B702-7808-8377-52C0-A9BEE5E6C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5091113"/>
            <a:ext cx="5224463" cy="149066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F7F7F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Switches, routers, </a:t>
            </a:r>
            <a:r>
              <a:rPr lang="en-US" sz="3200" dirty="0" err="1">
                <a:solidFill>
                  <a:srgbClr val="1F497D"/>
                </a:solidFill>
                <a:latin typeface="+mn-lt"/>
                <a:ea typeface="+mn-ea"/>
              </a:rPr>
              <a:t>WiFi</a:t>
            </a: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 </a:t>
            </a:r>
            <a:r>
              <a:rPr lang="en-US" sz="3200" dirty="0" err="1">
                <a:solidFill>
                  <a:srgbClr val="1F497D"/>
                </a:solidFill>
                <a:latin typeface="+mn-lt"/>
                <a:ea typeface="+mn-ea"/>
              </a:rPr>
              <a:t>APs</a:t>
            </a: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, </a:t>
            </a:r>
            <a:r>
              <a:rPr lang="en-US" sz="3200" dirty="0" err="1">
                <a:solidFill>
                  <a:srgbClr val="1F497D"/>
                </a:solidFill>
                <a:latin typeface="+mn-lt"/>
                <a:ea typeface="+mn-ea"/>
              </a:rPr>
              <a:t>basestations</a:t>
            </a:r>
            <a:r>
              <a:rPr lang="en-US" sz="3200" dirty="0">
                <a:solidFill>
                  <a:srgbClr val="1F497D"/>
                </a:solidFill>
                <a:latin typeface="+mn-lt"/>
                <a:ea typeface="+mn-ea"/>
              </a:rPr>
              <a:t>, TDM/WDM</a:t>
            </a:r>
          </a:p>
        </p:txBody>
      </p:sp>
    </p:spTree>
  </p:cSld>
  <p:clrMapOvr>
    <a:masterClrMapping/>
  </p:clrMapOvr>
  <p:transition advClick="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222667E-683F-8F15-F551-27246A08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ED3C08E-B4E6-C4F2-7175-091394242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773238"/>
            <a:ext cx="7772400" cy="26336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Open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691CF499-9D68-52DB-0782-01303E1C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What is OpenFlow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9A4AFE-06D0-423E-226F-ABD8C70C8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412875"/>
            <a:ext cx="7632700" cy="5040313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is similar to an x86 instruction set for the network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Provide open interface to “black box” networking node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ie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. Routers, L2/L3 switch) to enable visibility and openness in network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FF0000"/>
                </a:solidFill>
              </a:rPr>
              <a:t>Separation of control plane and data plane.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The 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datapath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 of an </a:t>
            </a: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 Switch consists of a </a:t>
            </a:r>
            <a:r>
              <a:rPr lang="en-US" altLang="zh-TW" b="1" dirty="0">
                <a:solidFill>
                  <a:srgbClr val="FF0000"/>
                </a:solidFill>
              </a:rPr>
              <a:t>Flow Table</a:t>
            </a: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, and an action associated with each flow entry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The control path consists of a controller which programs the flow entry in the flow table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is based on an Ethernet switch, with an internal flow-table, and a </a:t>
            </a:r>
            <a:r>
              <a:rPr lang="en-US" altLang="zh-TW" dirty="0">
                <a:solidFill>
                  <a:srgbClr val="FF0000"/>
                </a:solidFill>
              </a:rPr>
              <a:t>standardized interface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to add and remove flow entries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DA7F116-7019-FA11-1F92-010E6FAB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Consortium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B856A5A-19D0-686C-1493-45505EC7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440363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>
              <a:hlinkClick r:id="rId2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>
                <a:hlinkClick r:id="rId2"/>
              </a:rPr>
              <a:t>http://OpenFlowSwitch.org</a:t>
            </a:r>
            <a:endParaRPr lang="en-US" altLang="zh-TW"/>
          </a:p>
          <a:p>
            <a:pPr eaLnBrk="1" hangingPunct="1">
              <a:lnSpc>
                <a:spcPct val="80000"/>
              </a:lnSpc>
            </a:pPr>
            <a:r>
              <a:rPr lang="en-US" altLang="zh-TW"/>
              <a:t>Goal</a:t>
            </a:r>
          </a:p>
          <a:p>
            <a:pPr marL="1143000" lvl="1" indent="-457200" eaLnBrk="1" hangingPunct="1">
              <a:lnSpc>
                <a:spcPct val="80000"/>
              </a:lnSpc>
            </a:pPr>
            <a:r>
              <a:rPr lang="en-US" altLang="zh-TW"/>
              <a:t>Evangelize OpenFlow to vendors</a:t>
            </a:r>
          </a:p>
          <a:p>
            <a:pPr marL="1143000" lvl="1" indent="-457200" eaLnBrk="1" hangingPunct="1">
              <a:lnSpc>
                <a:spcPct val="80000"/>
              </a:lnSpc>
            </a:pPr>
            <a:r>
              <a:rPr lang="en-US" altLang="zh-TW"/>
              <a:t>Free membership for all researchers</a:t>
            </a:r>
          </a:p>
          <a:p>
            <a:pPr marL="1143000" lvl="1" indent="-457200" eaLnBrk="1" hangingPunct="1">
              <a:lnSpc>
                <a:spcPct val="80000"/>
              </a:lnSpc>
            </a:pPr>
            <a:r>
              <a:rPr lang="en-US" altLang="zh-TW"/>
              <a:t>Whitepaper, OpenFlow Switch Specification, Reference Designs</a:t>
            </a:r>
          </a:p>
          <a:p>
            <a:pPr marL="1143000" lvl="1" indent="-457200" eaLnBrk="1" hangingPunct="1">
              <a:lnSpc>
                <a:spcPct val="80000"/>
              </a:lnSpc>
            </a:pPr>
            <a:r>
              <a:rPr lang="en-US" altLang="zh-TW"/>
              <a:t>Licensing: Free for research and commercial use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1A5CC64-AC61-C9E2-3FE1-7662139C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1220788"/>
            <a:ext cx="8335963" cy="838200"/>
          </a:xfrm>
          <a:prstGeom prst="roundRect">
            <a:avLst>
              <a:gd name="adj" fmla="val 16667"/>
            </a:avLst>
          </a:prstGeom>
          <a:solidFill>
            <a:srgbClr val="B3A2C7"/>
          </a:solidFill>
          <a:ln w="9525">
            <a:solidFill>
              <a:srgbClr val="604A7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83590E6-619E-2889-C9DA-7F842FA5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building blocks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723D5B6-B348-AA00-FC9F-31B240AB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3238500"/>
            <a:ext cx="8334375" cy="712788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DEAD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9317" name="TextBox 25">
            <a:extLst>
              <a:ext uri="{FF2B5EF4-FFF2-40B4-BE49-F238E27FC236}">
                <a16:creationId xmlns:a16="http://schemas.microsoft.com/office/drawing/2014/main" id="{DAE2CB58-18A5-230F-9967-F4B87428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1713" y="3344863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Controller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25D769-A8F4-21E4-4D2C-6826A8B71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3330575"/>
            <a:ext cx="1033463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NOX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E8CE3D2-F6DD-0E10-DDEF-2B497D90F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4008438"/>
            <a:ext cx="8334375" cy="887412"/>
          </a:xfrm>
          <a:prstGeom prst="roundRect">
            <a:avLst>
              <a:gd name="adj" fmla="val 16667"/>
            </a:avLst>
          </a:prstGeom>
          <a:solidFill>
            <a:srgbClr val="DBEEF4"/>
          </a:solidFill>
          <a:ln w="9525">
            <a:solidFill>
              <a:srgbClr val="DBEEF4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9320" name="TextBox 22">
            <a:extLst>
              <a:ext uri="{FF2B5EF4-FFF2-40B4-BE49-F238E27FC236}">
                <a16:creationId xmlns:a16="http://schemas.microsoft.com/office/drawing/2014/main" id="{5DA796F1-0136-DE4F-2886-592A36EE9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008438"/>
            <a:ext cx="1301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Slicing</a:t>
            </a: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Software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F074DE-2E68-DDEE-0454-5213B1C1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200" y="4254500"/>
            <a:ext cx="3313113" cy="522288"/>
          </a:xfrm>
          <a:prstGeom prst="roundRect">
            <a:avLst>
              <a:gd name="adj" fmla="val 16667"/>
            </a:avLst>
          </a:prstGeom>
          <a:solidFill>
            <a:srgbClr val="215968"/>
          </a:solidFill>
          <a:ln w="9525">
            <a:solidFill>
              <a:srgbClr val="215968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EB6D9A-7276-96F4-6085-E02BAFB5AAC1}"/>
              </a:ext>
            </a:extLst>
          </p:cNvPr>
          <p:cNvCxnSpPr>
            <a:cxnSpLocks noChangeShapeType="1"/>
            <a:stCxn id="25" idx="1"/>
          </p:cNvCxnSpPr>
          <p:nvPr/>
        </p:nvCxnSpPr>
        <p:spPr bwMode="auto">
          <a:xfrm rot="10800000">
            <a:off x="2465388" y="4514850"/>
            <a:ext cx="404812" cy="1588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 type="arrow" w="med" len="med"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A65CB1A-CAB0-D0C6-7D05-53DBC4A1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4210050"/>
            <a:ext cx="1220787" cy="520700"/>
          </a:xfrm>
          <a:prstGeom prst="roundRect">
            <a:avLst>
              <a:gd name="adj" fmla="val 16667"/>
            </a:avLst>
          </a:prstGeom>
          <a:solidFill>
            <a:srgbClr val="31859C">
              <a:alpha val="70979"/>
            </a:srgbClr>
          </a:solidFill>
          <a:ln w="9525">
            <a:solidFill>
              <a:srgbClr val="31859C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FlowVisor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rgbClr val="FFFFFF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Console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E390DFAE-9554-09BE-13E6-2A3FA4B4F19C}"/>
              </a:ext>
            </a:extLst>
          </p:cNvPr>
          <p:cNvSpPr txBox="1">
            <a:spLocks noGrp="1"/>
          </p:cNvSpPr>
          <p:nvPr/>
        </p:nvSpPr>
        <p:spPr bwMode="auto">
          <a:xfrm>
            <a:off x="6181725" y="64706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3377B0D-9028-490F-AAEE-09BD5FB44D7F}" type="slidenum">
              <a:rPr kumimoji="0" lang="en-US" altLang="zh-TW" sz="1200">
                <a:solidFill>
                  <a:srgbClr val="898989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zh-TW" sz="1200">
              <a:solidFill>
                <a:srgbClr val="898989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8A66858-0925-8495-A385-B8EC427BC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2095500"/>
            <a:ext cx="8334375" cy="1089025"/>
          </a:xfrm>
          <a:prstGeom prst="roundRect">
            <a:avLst>
              <a:gd name="adj" fmla="val 16667"/>
            </a:avLst>
          </a:prstGeom>
          <a:solidFill>
            <a:srgbClr val="F2DCDB"/>
          </a:solidFill>
          <a:ln w="9525">
            <a:solidFill>
              <a:srgbClr val="F2DCDB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69326" name="TextBox 26">
            <a:extLst>
              <a:ext uri="{FF2B5EF4-FFF2-40B4-BE49-F238E27FC236}">
                <a16:creationId xmlns:a16="http://schemas.microsoft.com/office/drawing/2014/main" id="{1E09BB0B-54E6-28AD-BBAC-19F54210C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2476500"/>
            <a:ext cx="170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Applications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88C6E8D-AD30-1FD5-6C71-52F4515D6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24765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LAVI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AB7B12-7C98-8AA4-829E-F8CFC73E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24765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ENVI (GUI)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8882019-8547-D0EC-1280-D11478EE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2476500"/>
            <a:ext cx="182880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Expedient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8A4C7F9-ECEE-B4D0-8A4A-ACD704B41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2501900"/>
            <a:ext cx="146685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n-Casting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015E470-DAAD-3C5F-FAAB-0F7535CFC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4957763"/>
            <a:ext cx="8334375" cy="1755775"/>
          </a:xfrm>
          <a:prstGeom prst="roundRect">
            <a:avLst>
              <a:gd name="adj" fmla="val 16667"/>
            </a:avLst>
          </a:prstGeom>
          <a:solidFill>
            <a:srgbClr val="C6D9F1"/>
          </a:solidFill>
          <a:ln w="9525">
            <a:solidFill>
              <a:srgbClr val="DCE6F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0310BE-1732-71B6-0E27-00A23452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5302250"/>
            <a:ext cx="1343025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NetFPGA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76CAF1-A3BB-96E7-A91E-1173B9F69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302250"/>
            <a:ext cx="1295400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Software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6B1097-A5DB-CEF7-4598-07C9F79CE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25" y="5302250"/>
            <a:ext cx="1355725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Broadcom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051BD9-6502-53F4-5406-1043703D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976938"/>
            <a:ext cx="12954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OpenWRT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38EF3EE-C1D6-6785-3AD0-FB8BE50C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5976938"/>
            <a:ext cx="13716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PCEngine  </a:t>
            </a:r>
            <a:b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WiFi AP</a:t>
            </a:r>
          </a:p>
        </p:txBody>
      </p:sp>
      <p:sp>
        <p:nvSpPr>
          <p:cNvPr id="269337" name="TextBox 18">
            <a:extLst>
              <a:ext uri="{FF2B5EF4-FFF2-40B4-BE49-F238E27FC236}">
                <a16:creationId xmlns:a16="http://schemas.microsoft.com/office/drawing/2014/main" id="{C60A4AEE-49C7-CF24-1D87-4D22DA470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4989513"/>
            <a:ext cx="2166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Commercial Switches</a:t>
            </a:r>
          </a:p>
        </p:txBody>
      </p:sp>
      <p:sp>
        <p:nvSpPr>
          <p:cNvPr id="269338" name="TextBox 19">
            <a:extLst>
              <a:ext uri="{FF2B5EF4-FFF2-40B4-BE49-F238E27FC236}">
                <a16:creationId xmlns:a16="http://schemas.microsoft.com/office/drawing/2014/main" id="{63FFE4F1-BB05-A76E-9489-2F1D897B3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00" y="4957763"/>
            <a:ext cx="1866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Stanford Provided</a:t>
            </a:r>
          </a:p>
        </p:txBody>
      </p:sp>
      <p:sp>
        <p:nvSpPr>
          <p:cNvPr id="269339" name="TextBox 21">
            <a:extLst>
              <a:ext uri="{FF2B5EF4-FFF2-40B4-BE49-F238E27FC236}">
                <a16:creationId xmlns:a16="http://schemas.microsoft.com/office/drawing/2014/main" id="{E5D1A674-BE35-B550-C462-862AF54D5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663" y="5465763"/>
            <a:ext cx="14462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OpenFlow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Switches</a:t>
            </a:r>
          </a:p>
        </p:txBody>
      </p:sp>
      <p:sp>
        <p:nvSpPr>
          <p:cNvPr id="2" name="Rounded Rectangle 27">
            <a:extLst>
              <a:ext uri="{FF2B5EF4-FFF2-40B4-BE49-F238E27FC236}">
                <a16:creationId xmlns:a16="http://schemas.microsoft.com/office/drawing/2014/main" id="{E9CB3C11-7524-7CEB-4E16-A5CD5F39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340100"/>
            <a:ext cx="895350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ONIX</a:t>
            </a:r>
          </a:p>
        </p:txBody>
      </p:sp>
      <p:sp>
        <p:nvSpPr>
          <p:cNvPr id="269341" name="TextBox 19">
            <a:extLst>
              <a:ext uri="{FF2B5EF4-FFF2-40B4-BE49-F238E27FC236}">
                <a16:creationId xmlns:a16="http://schemas.microsoft.com/office/drawing/2014/main" id="{9B39614C-42C0-E4A1-1DD9-057DB39E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2095500"/>
            <a:ext cx="1866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Stanford Provided</a:t>
            </a:r>
          </a:p>
        </p:txBody>
      </p:sp>
      <p:sp>
        <p:nvSpPr>
          <p:cNvPr id="269342" name="TextBox 26">
            <a:extLst>
              <a:ext uri="{FF2B5EF4-FFF2-40B4-BE49-F238E27FC236}">
                <a16:creationId xmlns:a16="http://schemas.microsoft.com/office/drawing/2014/main" id="{6342A25B-21AF-FD9B-3BD4-E31D7910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333500"/>
            <a:ext cx="21558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Monitoring/</a:t>
            </a:r>
            <a:b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</a:br>
            <a:r>
              <a:rPr kumimoji="0" lang="en-US" altLang="zh-TW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t>debugging tools</a:t>
            </a:r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B138EA92-E0DC-5642-114A-B18928EE2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25" y="14097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oflops</a:t>
            </a:r>
          </a:p>
        </p:txBody>
      </p:sp>
      <p:sp>
        <p:nvSpPr>
          <p:cNvPr id="4" name="Rounded Rectangle 38">
            <a:extLst>
              <a:ext uri="{FF2B5EF4-FFF2-40B4-BE49-F238E27FC236}">
                <a16:creationId xmlns:a16="http://schemas.microsoft.com/office/drawing/2014/main" id="{6A1D9E6E-1DB9-8A1A-C0B1-88C69EA0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4097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oftrace</a:t>
            </a:r>
          </a:p>
        </p:txBody>
      </p:sp>
      <p:sp>
        <p:nvSpPr>
          <p:cNvPr id="5" name="Rounded Rectangle 63">
            <a:extLst>
              <a:ext uri="{FF2B5EF4-FFF2-40B4-BE49-F238E27FC236}">
                <a16:creationId xmlns:a16="http://schemas.microsoft.com/office/drawing/2014/main" id="{B6347C0D-9A97-D9F5-6CD5-03434ACA1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1435100"/>
            <a:ext cx="146685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openseer</a:t>
            </a:r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DB12A330-3A31-E46F-27C7-E6E0ACA7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5967413"/>
            <a:ext cx="13081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7000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 dirty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 </a:t>
            </a:r>
            <a:r>
              <a:rPr kumimoji="0" lang="en-US" sz="1700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vSwitch</a:t>
            </a:r>
            <a:endParaRPr kumimoji="0" lang="en-US" sz="1700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DF90EB77-BB83-185A-0180-8F3A261BE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5448300"/>
            <a:ext cx="1911350" cy="93662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HP, NEC, Pronto, Juniper.. and many more </a:t>
            </a:r>
          </a:p>
        </p:txBody>
      </p:sp>
      <p:sp>
        <p:nvSpPr>
          <p:cNvPr id="8" name="Rounded Rectangle 27">
            <a:extLst>
              <a:ext uri="{FF2B5EF4-FFF2-40B4-BE49-F238E27FC236}">
                <a16:creationId xmlns:a16="http://schemas.microsoft.com/office/drawing/2014/main" id="{3D4E6FEE-1C9F-1312-37A8-491E3EA22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330575"/>
            <a:ext cx="1131887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Beacon</a:t>
            </a:r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C08C3A05-4DCF-A504-C479-9DE8C6FD0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344863"/>
            <a:ext cx="895350" cy="522287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dirty="0" err="1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Trema</a:t>
            </a:r>
            <a:endParaRPr kumimoji="0" lang="en-US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4F5822D8-AC29-1D0A-874E-79148DEF4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3344863"/>
            <a:ext cx="1104900" cy="522287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Maestro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1" grpId="0" animBg="1"/>
      <p:bldP spid="269317" grpId="0"/>
      <p:bldP spid="28" grpId="0" animBg="1"/>
      <p:bldP spid="30" grpId="0" animBg="1"/>
      <p:bldP spid="269320" grpId="0"/>
      <p:bldP spid="25" grpId="0" animBg="1"/>
      <p:bldP spid="34" grpId="0" animBg="1"/>
      <p:bldP spid="48" grpId="0"/>
      <p:bldP spid="37" grpId="0" animBg="1"/>
      <p:bldP spid="269326" grpId="0"/>
      <p:bldP spid="38" grpId="0" animBg="1"/>
      <p:bldP spid="39" grpId="0" animBg="1"/>
      <p:bldP spid="63" grpId="0" animBg="1"/>
      <p:bldP spid="64" grpId="0" animBg="1"/>
      <p:bldP spid="2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69337" grpId="0"/>
      <p:bldP spid="269338" grpId="0"/>
      <p:bldP spid="269339" grpId="0"/>
      <p:bldP spid="2" grpId="0" animBg="1"/>
      <p:bldP spid="269341" grpId="0"/>
      <p:bldP spid="26934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78B9B1-3D1C-7018-1385-D3C3BA74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Components of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8131" name="內容版面配置區 2">
            <a:extLst>
              <a:ext uri="{FF2B5EF4-FFF2-40B4-BE49-F238E27FC236}">
                <a16:creationId xmlns:a16="http://schemas.microsoft.com/office/drawing/2014/main" id="{F104CA04-3A40-1C09-5674-10EA7A33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1600200"/>
            <a:ext cx="8578850" cy="4924425"/>
          </a:xfrm>
        </p:spPr>
        <p:txBody>
          <a:bodyPr/>
          <a:lstStyle/>
          <a:p>
            <a:pPr eaLnBrk="1" hangingPunct="1"/>
            <a:r>
              <a:rPr lang="en-US" altLang="zh-TW"/>
              <a:t>Controller</a:t>
            </a:r>
          </a:p>
          <a:p>
            <a:pPr lvl="1" eaLnBrk="1" hangingPunct="1"/>
            <a:r>
              <a:rPr lang="en-US" altLang="zh-TW"/>
              <a:t>OpenFlow protocol messages </a:t>
            </a:r>
          </a:p>
          <a:p>
            <a:pPr lvl="1" eaLnBrk="1" hangingPunct="1"/>
            <a:r>
              <a:rPr lang="en-US" altLang="zh-TW"/>
              <a:t>Controlled channel</a:t>
            </a:r>
          </a:p>
          <a:p>
            <a:pPr lvl="1" eaLnBrk="1" hangingPunct="1"/>
            <a:r>
              <a:rPr lang="en-US" altLang="zh-TW"/>
              <a:t>Processing</a:t>
            </a:r>
          </a:p>
          <a:p>
            <a:pPr lvl="2" eaLnBrk="1" hangingPunct="1"/>
            <a:r>
              <a:rPr lang="en-US" altLang="zh-TW"/>
              <a:t>Pipeline Processing</a:t>
            </a:r>
          </a:p>
          <a:p>
            <a:pPr lvl="2" eaLnBrk="1" hangingPunct="1"/>
            <a:r>
              <a:rPr lang="en-US" altLang="zh-TW"/>
              <a:t>Packet Matching</a:t>
            </a:r>
          </a:p>
          <a:p>
            <a:pPr lvl="2" eaLnBrk="1" hangingPunct="1"/>
            <a:r>
              <a:rPr lang="en-US" altLang="zh-TW"/>
              <a:t>Instructions &amp; Action Set</a:t>
            </a:r>
          </a:p>
          <a:p>
            <a:pPr eaLnBrk="1" hangingPunct="1"/>
            <a:r>
              <a:rPr lang="en-US" altLang="zh-TW"/>
              <a:t>OpenFlow switch</a:t>
            </a:r>
          </a:p>
          <a:p>
            <a:pPr lvl="1" eaLnBrk="1" hangingPunct="1"/>
            <a:r>
              <a:rPr lang="en-US" altLang="zh-TW"/>
              <a:t>Secure Channel (SC)</a:t>
            </a:r>
          </a:p>
          <a:p>
            <a:pPr lvl="1" eaLnBrk="1" hangingPunct="1"/>
            <a:r>
              <a:rPr lang="en-US" altLang="zh-TW"/>
              <a:t>Flow Table</a:t>
            </a:r>
          </a:p>
          <a:p>
            <a:pPr lvl="2" eaLnBrk="1" hangingPunct="1"/>
            <a:r>
              <a:rPr lang="en-US" altLang="zh-TW"/>
              <a:t>Flow entry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9C9EAC69-D5AD-5505-B84F-F472B0A0E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484313"/>
            <a:ext cx="3887788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BD932596-9CB5-2585-7060-D6640F7E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OpenFlow Controllers</a:t>
            </a: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id="{00B5FEEF-5313-63E9-E9DD-644D30BDE7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5EBB2B-98A1-4782-A514-C705CC544514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F3B2CD-AD6C-E395-6115-5D02B50006DB}"/>
              </a:ext>
            </a:extLst>
          </p:cNvPr>
          <p:cNvGraphicFramePr>
            <a:graphicFrameLocks noGrp="1"/>
          </p:cNvGraphicFramePr>
          <p:nvPr/>
        </p:nvGraphicFramePr>
        <p:xfrm>
          <a:off x="0" y="1316038"/>
          <a:ext cx="9144000" cy="5627687"/>
        </p:xfrm>
        <a:graphic>
          <a:graphicData uri="http://schemas.openxmlformats.org/drawingml/2006/table">
            <a:tbl>
              <a:tblPr/>
              <a:tblGrid>
                <a:gridCol w="120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3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Lang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Platform(s)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License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Original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Author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Notes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OpenFlow Reference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OpenFlow License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Stanford/Nicira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not designed for extensibility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3"/>
                        </a:rPr>
                        <a:t>NOX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Python, C++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Nicira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actively developed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4"/>
                        </a:rPr>
                        <a:t>Beacon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Java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Win, Mac, Linux, Android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 (core), FOSS Licenses for your code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David Erickson (Stanford)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runtime modular, web UI framework, regression test framework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5"/>
                        </a:rPr>
                        <a:t>Maestro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Java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Win, Mac, Linux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LGPL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Zheng Cai (Rice)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6"/>
                        </a:rPr>
                        <a:t>Trema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Ruby, 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GPL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NEC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includes emulator, regression test framework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2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  <a:hlinkClick r:id="rId7"/>
                        </a:rPr>
                        <a:t>RouteFlow</a:t>
                      </a: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Linux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Apache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CPqD (Brazil)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 virtual IP routing as a  service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標題 1">
            <a:extLst>
              <a:ext uri="{FF2B5EF4-FFF2-40B4-BE49-F238E27FC236}">
                <a16:creationId xmlns:a16="http://schemas.microsoft.com/office/drawing/2014/main" id="{DAE99491-13A1-43C4-CF0E-D40D92FF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Secure Channel (SC)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7FF7DA-F021-C89E-BCBE-7883A691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268413"/>
            <a:ext cx="7848600" cy="5256212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SC is the </a:t>
            </a:r>
            <a:r>
              <a:rPr lang="en-US" altLang="zh-TW" dirty="0">
                <a:solidFill>
                  <a:srgbClr val="FF0000"/>
                </a:solidFill>
              </a:rPr>
              <a:t>interface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that connects each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switch to controller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 </a:t>
            </a:r>
            <a:r>
              <a:rPr lang="en-US" altLang="zh-TW" dirty="0">
                <a:solidFill>
                  <a:schemeClr val="tx1"/>
                </a:solidFill>
              </a:rPr>
              <a:t>controller</a:t>
            </a:r>
            <a:r>
              <a:rPr lang="en-US" altLang="zh-TW" dirty="0">
                <a:solidFill>
                  <a:srgbClr val="FF0000"/>
                </a:solidFill>
              </a:rPr>
              <a:t> configures </a:t>
            </a:r>
            <a:r>
              <a:rPr lang="en-US" altLang="zh-TW" dirty="0">
                <a:solidFill>
                  <a:schemeClr val="tx1"/>
                </a:solidFill>
              </a:rPr>
              <a:t>and</a:t>
            </a:r>
            <a:r>
              <a:rPr lang="en-US" altLang="zh-TW" dirty="0">
                <a:solidFill>
                  <a:srgbClr val="FF0000"/>
                </a:solidFill>
              </a:rPr>
              <a:t> manages the switch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via this interface.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Receives events from the switch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Send packets out the switch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SC </a:t>
            </a:r>
            <a:r>
              <a:rPr lang="en-US" altLang="zh-TW" dirty="0">
                <a:solidFill>
                  <a:srgbClr val="FF0000"/>
                </a:solidFill>
              </a:rPr>
              <a:t>establishes </a:t>
            </a:r>
            <a:r>
              <a:rPr lang="en-US" altLang="zh-TW" dirty="0">
                <a:solidFill>
                  <a:schemeClr val="tx1"/>
                </a:solidFill>
              </a:rPr>
              <a:t>and</a:t>
            </a:r>
            <a:r>
              <a:rPr lang="en-US" altLang="zh-TW" dirty="0">
                <a:solidFill>
                  <a:srgbClr val="FF0000"/>
                </a:solidFill>
              </a:rPr>
              <a:t> terminates the connection 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between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OpneFlow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Switch and the controller using the procedures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Connection Setup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Connection Interrupt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SC connection is a </a:t>
            </a:r>
            <a:r>
              <a:rPr lang="en-US" altLang="zh-TW" dirty="0">
                <a:solidFill>
                  <a:srgbClr val="FF0000"/>
                </a:solidFill>
              </a:rPr>
              <a:t>TLS  connection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.  Switch and controller mutually authenticate by exchanging certificates signed by a site-specific private key.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4341EB48-5512-4AC2-D15A-07AC25100092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50800" tIns="50800" rIns="132080" bIns="50800"/>
          <a:lstStyle/>
          <a:p>
            <a:pPr marL="39688" eaLnBrk="1" hangingPunct="1"/>
            <a:r>
              <a:rPr lang="en-US" altLang="zh-TW">
                <a:ea typeface="ＭＳ Ｐゴシック" panose="020B0600070205080204" pitchFamily="34" charset="-128"/>
              </a:rPr>
              <a:t>Flow Table</a:t>
            </a:r>
          </a:p>
        </p:txBody>
      </p:sp>
      <p:grpSp>
        <p:nvGrpSpPr>
          <p:cNvPr id="52227" name="Group 4">
            <a:extLst>
              <a:ext uri="{FF2B5EF4-FFF2-40B4-BE49-F238E27FC236}">
                <a16:creationId xmlns:a16="http://schemas.microsoft.com/office/drawing/2014/main" id="{05C7557C-B7DA-501C-90DF-A9E2D63CF29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133600"/>
            <a:ext cx="2209800" cy="685800"/>
            <a:chOff x="0" y="0"/>
            <a:chExt cx="1392" cy="432"/>
          </a:xfrm>
        </p:grpSpPr>
        <p:sp>
          <p:nvSpPr>
            <p:cNvPr id="52271" name="AutoShape 5">
              <a:extLst>
                <a:ext uri="{FF2B5EF4-FFF2-40B4-BE49-F238E27FC236}">
                  <a16:creationId xmlns:a16="http://schemas.microsoft.com/office/drawing/2014/main" id="{551FEBA2-AA10-9485-4F1E-45B7E78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72" name="Rectangle 6">
              <a:extLst>
                <a:ext uri="{FF2B5EF4-FFF2-40B4-BE49-F238E27FC236}">
                  <a16:creationId xmlns:a16="http://schemas.microsoft.com/office/drawing/2014/main" id="{9EAE9898-C2D3-BC59-82E0-786CE71FE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" y="0"/>
              <a:ext cx="1360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055" bIns="38100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Rule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(exact &amp; wildcard)</a:t>
              </a:r>
            </a:p>
          </p:txBody>
        </p:sp>
      </p:grpSp>
      <p:grpSp>
        <p:nvGrpSpPr>
          <p:cNvPr id="52228" name="Group 7">
            <a:extLst>
              <a:ext uri="{FF2B5EF4-FFF2-40B4-BE49-F238E27FC236}">
                <a16:creationId xmlns:a16="http://schemas.microsoft.com/office/drawing/2014/main" id="{001761B2-4A62-FD32-3880-F948DD0240FB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133600"/>
            <a:ext cx="2209800" cy="685800"/>
            <a:chOff x="0" y="0"/>
            <a:chExt cx="1392" cy="432"/>
          </a:xfrm>
        </p:grpSpPr>
        <p:sp>
          <p:nvSpPr>
            <p:cNvPr id="52269" name="AutoShape 8">
              <a:extLst>
                <a:ext uri="{FF2B5EF4-FFF2-40B4-BE49-F238E27FC236}">
                  <a16:creationId xmlns:a16="http://schemas.microsoft.com/office/drawing/2014/main" id="{9CD8BAA3-C940-247F-85CD-DA7370689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99CC00">
                <a:alpha val="61960"/>
              </a:srgbClr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70" name="Rectangle 9">
              <a:extLst>
                <a:ext uri="{FF2B5EF4-FFF2-40B4-BE49-F238E27FC236}">
                  <a16:creationId xmlns:a16="http://schemas.microsoft.com/office/drawing/2014/main" id="{710E2CD3-54D3-71F6-C270-A207E9769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96"/>
              <a:ext cx="5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055" bIns="38100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Action</a:t>
              </a:r>
            </a:p>
          </p:txBody>
        </p:sp>
      </p:grpSp>
      <p:grpSp>
        <p:nvGrpSpPr>
          <p:cNvPr id="52229" name="Group 10">
            <a:extLst>
              <a:ext uri="{FF2B5EF4-FFF2-40B4-BE49-F238E27FC236}">
                <a16:creationId xmlns:a16="http://schemas.microsoft.com/office/drawing/2014/main" id="{DB8BAACA-69D2-0EBB-D77C-E8F487AFAD9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133600"/>
            <a:ext cx="2209800" cy="685800"/>
            <a:chOff x="0" y="0"/>
            <a:chExt cx="1392" cy="432"/>
          </a:xfrm>
        </p:grpSpPr>
        <p:sp>
          <p:nvSpPr>
            <p:cNvPr id="52267" name="AutoShape 11">
              <a:extLst>
                <a:ext uri="{FF2B5EF4-FFF2-40B4-BE49-F238E27FC236}">
                  <a16:creationId xmlns:a16="http://schemas.microsoft.com/office/drawing/2014/main" id="{32DFE8CD-EA91-7032-9E9F-B76943DD3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92" cy="432"/>
            </a:xfrm>
            <a:prstGeom prst="roundRect">
              <a:avLst>
                <a:gd name="adj" fmla="val 16667"/>
              </a:avLst>
            </a:prstGeom>
            <a:solidFill>
              <a:srgbClr val="FFCC99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2268" name="Rectangle 12">
              <a:extLst>
                <a:ext uri="{FF2B5EF4-FFF2-40B4-BE49-F238E27FC236}">
                  <a16:creationId xmlns:a16="http://schemas.microsoft.com/office/drawing/2014/main" id="{16D58835-E8C1-F330-B8EB-4CBFE909B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" y="96"/>
              <a:ext cx="72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055" bIns="38100" anchor="ctr">
              <a:spAutoFit/>
            </a:bodyPr>
            <a:lstStyle>
              <a:lvl1pPr marL="127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rgbClr val="333399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Statistics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9AC68971-4D42-A467-2F3C-56E51FFE5B3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057400"/>
            <a:ext cx="6934200" cy="3886200"/>
            <a:chOff x="0" y="0"/>
            <a:chExt cx="4368" cy="2448"/>
          </a:xfrm>
        </p:grpSpPr>
        <p:sp>
          <p:nvSpPr>
            <p:cNvPr id="52237" name="Rectangle 14">
              <a:extLst>
                <a:ext uri="{FF2B5EF4-FFF2-40B4-BE49-F238E27FC236}">
                  <a16:creationId xmlns:a16="http://schemas.microsoft.com/office/drawing/2014/main" id="{E5B6291C-900B-1B67-2514-A5B101C19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368" cy="2448"/>
            </a:xfrm>
            <a:prstGeom prst="rect">
              <a:avLst/>
            </a:prstGeom>
            <a:noFill/>
            <a:ln w="25400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grpSp>
          <p:nvGrpSpPr>
            <p:cNvPr id="52238" name="Group 15">
              <a:extLst>
                <a:ext uri="{FF2B5EF4-FFF2-40B4-BE49-F238E27FC236}">
                  <a16:creationId xmlns:a16="http://schemas.microsoft.com/office/drawing/2014/main" id="{042FEFC7-E437-AB04-E1C7-7FBB1019F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27"/>
              <a:ext cx="4272" cy="1873"/>
              <a:chOff x="0" y="-1"/>
              <a:chExt cx="4272" cy="1873"/>
            </a:xfrm>
          </p:grpSpPr>
          <p:grpSp>
            <p:nvGrpSpPr>
              <p:cNvPr id="52239" name="Group 16">
                <a:extLst>
                  <a:ext uri="{FF2B5EF4-FFF2-40B4-BE49-F238E27FC236}">
                    <a16:creationId xmlns:a16="http://schemas.microsoft.com/office/drawing/2014/main" id="{20F13CAD-9664-A2E3-A72A-F7BD475D3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1"/>
                <a:ext cx="1392" cy="433"/>
                <a:chOff x="0" y="-1"/>
                <a:chExt cx="1392" cy="433"/>
              </a:xfrm>
            </p:grpSpPr>
            <p:sp>
              <p:nvSpPr>
                <p:cNvPr id="52265" name="AutoShape 17">
                  <a:extLst>
                    <a:ext uri="{FF2B5EF4-FFF2-40B4-BE49-F238E27FC236}">
                      <a16:creationId xmlns:a16="http://schemas.microsoft.com/office/drawing/2014/main" id="{A783AEFE-5C64-6E16-4AE1-8217A5D00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6" name="Rectangle 18">
                  <a:extLst>
                    <a:ext uri="{FF2B5EF4-FFF2-40B4-BE49-F238E27FC236}">
                      <a16:creationId xmlns:a16="http://schemas.microsoft.com/office/drawing/2014/main" id="{5B8129AE-CC19-A642-F728-4E5070C9AC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-1"/>
                  <a:ext cx="1360" cy="4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0" name="Group 19">
                <a:extLst>
                  <a:ext uri="{FF2B5EF4-FFF2-40B4-BE49-F238E27FC236}">
                    <a16:creationId xmlns:a16="http://schemas.microsoft.com/office/drawing/2014/main" id="{60EC40D3-7AAA-23E7-C49F-4D339B9ED3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0"/>
                <a:ext cx="1392" cy="432"/>
                <a:chOff x="0" y="0"/>
                <a:chExt cx="1392" cy="432"/>
              </a:xfrm>
            </p:grpSpPr>
            <p:sp>
              <p:nvSpPr>
                <p:cNvPr id="52263" name="AutoShape 20">
                  <a:extLst>
                    <a:ext uri="{FF2B5EF4-FFF2-40B4-BE49-F238E27FC236}">
                      <a16:creationId xmlns:a16="http://schemas.microsoft.com/office/drawing/2014/main" id="{53A54DA9-EADD-14D5-FF83-1D61BB6564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4" name="Rectangle 21">
                  <a:extLst>
                    <a:ext uri="{FF2B5EF4-FFF2-40B4-BE49-F238E27FC236}">
                      <a16:creationId xmlns:a16="http://schemas.microsoft.com/office/drawing/2014/main" id="{2C47276A-8486-AA0C-3D49-19096CCCFD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9" y="96"/>
                  <a:ext cx="534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Action</a:t>
                  </a:r>
                </a:p>
              </p:txBody>
            </p:sp>
          </p:grpSp>
          <p:grpSp>
            <p:nvGrpSpPr>
              <p:cNvPr id="52241" name="Group 22">
                <a:extLst>
                  <a:ext uri="{FF2B5EF4-FFF2-40B4-BE49-F238E27FC236}">
                    <a16:creationId xmlns:a16="http://schemas.microsoft.com/office/drawing/2014/main" id="{3172E061-86AB-9D4D-271E-BE66E80CFE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0"/>
                <a:ext cx="1392" cy="432"/>
                <a:chOff x="0" y="0"/>
                <a:chExt cx="1392" cy="432"/>
              </a:xfrm>
            </p:grpSpPr>
            <p:sp>
              <p:nvSpPr>
                <p:cNvPr id="52261" name="AutoShape 23">
                  <a:extLst>
                    <a:ext uri="{FF2B5EF4-FFF2-40B4-BE49-F238E27FC236}">
                      <a16:creationId xmlns:a16="http://schemas.microsoft.com/office/drawing/2014/main" id="{88B02665-1B62-12DD-D0E8-259A523DA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2" name="Rectangle 24">
                  <a:extLst>
                    <a:ext uri="{FF2B5EF4-FFF2-40B4-BE49-F238E27FC236}">
                      <a16:creationId xmlns:a16="http://schemas.microsoft.com/office/drawing/2014/main" id="{CC964B6E-7EEE-FB72-3424-6350C6C7C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1" y="96"/>
                  <a:ext cx="729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grpSp>
            <p:nvGrpSpPr>
              <p:cNvPr id="52242" name="Group 25">
                <a:extLst>
                  <a:ext uri="{FF2B5EF4-FFF2-40B4-BE49-F238E27FC236}">
                    <a16:creationId xmlns:a16="http://schemas.microsoft.com/office/drawing/2014/main" id="{18C70BAC-025A-C136-60F3-92A5FA39A5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80"/>
                <a:ext cx="1392" cy="432"/>
                <a:chOff x="0" y="0"/>
                <a:chExt cx="1392" cy="432"/>
              </a:xfrm>
            </p:grpSpPr>
            <p:sp>
              <p:nvSpPr>
                <p:cNvPr id="52259" name="AutoShape 26">
                  <a:extLst>
                    <a:ext uri="{FF2B5EF4-FFF2-40B4-BE49-F238E27FC236}">
                      <a16:creationId xmlns:a16="http://schemas.microsoft.com/office/drawing/2014/main" id="{12765446-01C9-F87A-DE08-3CBAC06A1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60" name="Rectangle 27">
                  <a:extLst>
                    <a:ext uri="{FF2B5EF4-FFF2-40B4-BE49-F238E27FC236}">
                      <a16:creationId xmlns:a16="http://schemas.microsoft.com/office/drawing/2014/main" id="{1A01125A-321B-A768-15B4-4221B5F280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0"/>
                  <a:ext cx="1360" cy="4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3" name="Group 28">
                <a:extLst>
                  <a:ext uri="{FF2B5EF4-FFF2-40B4-BE49-F238E27FC236}">
                    <a16:creationId xmlns:a16="http://schemas.microsoft.com/office/drawing/2014/main" id="{BBBC7801-7274-2824-45F4-07391B1B1C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480"/>
                <a:ext cx="1392" cy="432"/>
                <a:chOff x="0" y="0"/>
                <a:chExt cx="1392" cy="432"/>
              </a:xfrm>
            </p:grpSpPr>
            <p:sp>
              <p:nvSpPr>
                <p:cNvPr id="52257" name="AutoShape 29">
                  <a:extLst>
                    <a:ext uri="{FF2B5EF4-FFF2-40B4-BE49-F238E27FC236}">
                      <a16:creationId xmlns:a16="http://schemas.microsoft.com/office/drawing/2014/main" id="{279EC2EC-C585-CF3F-D52E-39CCD1E1F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8" name="Rectangle 30">
                  <a:extLst>
                    <a:ext uri="{FF2B5EF4-FFF2-40B4-BE49-F238E27FC236}">
                      <a16:creationId xmlns:a16="http://schemas.microsoft.com/office/drawing/2014/main" id="{C4233F3B-4A46-9074-861E-37352C539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9" y="96"/>
                  <a:ext cx="534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Action</a:t>
                  </a:r>
                </a:p>
              </p:txBody>
            </p:sp>
          </p:grpSp>
          <p:grpSp>
            <p:nvGrpSpPr>
              <p:cNvPr id="52244" name="Group 31">
                <a:extLst>
                  <a:ext uri="{FF2B5EF4-FFF2-40B4-BE49-F238E27FC236}">
                    <a16:creationId xmlns:a16="http://schemas.microsoft.com/office/drawing/2014/main" id="{ACA578F2-B8C4-83F8-E284-D041B8ED2C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480"/>
                <a:ext cx="1392" cy="432"/>
                <a:chOff x="0" y="0"/>
                <a:chExt cx="1392" cy="432"/>
              </a:xfrm>
            </p:grpSpPr>
            <p:sp>
              <p:nvSpPr>
                <p:cNvPr id="52255" name="AutoShape 32">
                  <a:extLst>
                    <a:ext uri="{FF2B5EF4-FFF2-40B4-BE49-F238E27FC236}">
                      <a16:creationId xmlns:a16="http://schemas.microsoft.com/office/drawing/2014/main" id="{1FCFD5A9-C549-6037-B9C1-1C5E43411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6" name="Rectangle 33">
                  <a:extLst>
                    <a:ext uri="{FF2B5EF4-FFF2-40B4-BE49-F238E27FC236}">
                      <a16:creationId xmlns:a16="http://schemas.microsoft.com/office/drawing/2014/main" id="{5FC8F63B-A45A-FDDF-C049-78DD8EDA1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1" y="96"/>
                  <a:ext cx="729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grpSp>
            <p:nvGrpSpPr>
              <p:cNvPr id="52245" name="Group 34">
                <a:extLst>
                  <a:ext uri="{FF2B5EF4-FFF2-40B4-BE49-F238E27FC236}">
                    <a16:creationId xmlns:a16="http://schemas.microsoft.com/office/drawing/2014/main" id="{DF399D88-178F-4A28-7EFB-EDE14ACC5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40"/>
                <a:ext cx="1392" cy="432"/>
                <a:chOff x="0" y="0"/>
                <a:chExt cx="1392" cy="432"/>
              </a:xfrm>
            </p:grpSpPr>
            <p:sp>
              <p:nvSpPr>
                <p:cNvPr id="52253" name="AutoShape 35">
                  <a:extLst>
                    <a:ext uri="{FF2B5EF4-FFF2-40B4-BE49-F238E27FC236}">
                      <a16:creationId xmlns:a16="http://schemas.microsoft.com/office/drawing/2014/main" id="{AD257FE3-BF56-0FB1-CC95-40EC1F5142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4" name="Rectangle 36">
                  <a:extLst>
                    <a:ext uri="{FF2B5EF4-FFF2-40B4-BE49-F238E27FC236}">
                      <a16:creationId xmlns:a16="http://schemas.microsoft.com/office/drawing/2014/main" id="{36F91E37-D556-36B0-2727-B3BF74269C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" y="0"/>
                  <a:ext cx="1360" cy="4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Rule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(exact &amp; wildcard)</a:t>
                  </a:r>
                </a:p>
              </p:txBody>
            </p:sp>
          </p:grpSp>
          <p:grpSp>
            <p:nvGrpSpPr>
              <p:cNvPr id="52246" name="Group 37">
                <a:extLst>
                  <a:ext uri="{FF2B5EF4-FFF2-40B4-BE49-F238E27FC236}">
                    <a16:creationId xmlns:a16="http://schemas.microsoft.com/office/drawing/2014/main" id="{196B9E7A-98DB-7A71-AECB-5A784D0BA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0" y="1440"/>
                <a:ext cx="1392" cy="432"/>
                <a:chOff x="0" y="0"/>
                <a:chExt cx="1392" cy="432"/>
              </a:xfrm>
            </p:grpSpPr>
            <p:sp>
              <p:nvSpPr>
                <p:cNvPr id="52251" name="AutoShape 38">
                  <a:extLst>
                    <a:ext uri="{FF2B5EF4-FFF2-40B4-BE49-F238E27FC236}">
                      <a16:creationId xmlns:a16="http://schemas.microsoft.com/office/drawing/2014/main" id="{A9CF8851-845C-655B-1998-47869CC28A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9CC00">
                    <a:alpha val="61960"/>
                  </a:srgbClr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2" name="Rectangle 39">
                  <a:extLst>
                    <a:ext uri="{FF2B5EF4-FFF2-40B4-BE49-F238E27FC236}">
                      <a16:creationId xmlns:a16="http://schemas.microsoft.com/office/drawing/2014/main" id="{D2E62E62-B2F6-F99E-08FA-C137800E18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" y="96"/>
                  <a:ext cx="1085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Default Action</a:t>
                  </a:r>
                </a:p>
              </p:txBody>
            </p:sp>
          </p:grpSp>
          <p:grpSp>
            <p:nvGrpSpPr>
              <p:cNvPr id="52247" name="Group 40">
                <a:extLst>
                  <a:ext uri="{FF2B5EF4-FFF2-40B4-BE49-F238E27FC236}">
                    <a16:creationId xmlns:a16="http://schemas.microsoft.com/office/drawing/2014/main" id="{A1FCDD4E-48B7-C422-1A32-C9B85FBDAC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1440"/>
                <a:ext cx="1392" cy="432"/>
                <a:chOff x="0" y="0"/>
                <a:chExt cx="1392" cy="432"/>
              </a:xfrm>
            </p:grpSpPr>
            <p:sp>
              <p:nvSpPr>
                <p:cNvPr id="52249" name="AutoShape 41">
                  <a:extLst>
                    <a:ext uri="{FF2B5EF4-FFF2-40B4-BE49-F238E27FC236}">
                      <a16:creationId xmlns:a16="http://schemas.microsoft.com/office/drawing/2014/main" id="{8E1F4BE8-4BEE-27B6-F1A8-D5ADB2A046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392" cy="4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CC99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TW" altLang="zh-TW" sz="1800">
                    <a:solidFill>
                      <a:srgbClr val="000000"/>
                    </a:solidFill>
                    <a:latin typeface="Arial" panose="020B0604020202020204" pitchFamily="34" charset="0"/>
                    <a:ea typeface="ヒラギノ角ゴ ProN W3" pitchFamily="-108" charset="-128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250" name="Rectangle 42">
                  <a:extLst>
                    <a:ext uri="{FF2B5EF4-FFF2-40B4-BE49-F238E27FC236}">
                      <a16:creationId xmlns:a16="http://schemas.microsoft.com/office/drawing/2014/main" id="{7DBE5A78-315E-FF39-99D9-2EACD065B7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1" y="96"/>
                  <a:ext cx="729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38100" tIns="38100" rIns="90055" bIns="38100" anchor="ctr">
                  <a:spAutoFit/>
                </a:bodyPr>
                <a:lstStyle>
                  <a:lvl1pPr marL="12700"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000">
                      <a:solidFill>
                        <a:srgbClr val="333399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rPr>
                    <a:t>Statistics</a:t>
                  </a:r>
                </a:p>
              </p:txBody>
            </p:sp>
          </p:grpSp>
          <p:sp>
            <p:nvSpPr>
              <p:cNvPr id="52248" name="Line 43">
                <a:extLst>
                  <a:ext uri="{FF2B5EF4-FFF2-40B4-BE49-F238E27FC236}">
                    <a16:creationId xmlns:a16="http://schemas.microsoft.com/office/drawing/2014/main" id="{F698A563-4AFE-5B8F-1F72-6E65421A2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200"/>
                <a:ext cx="1344" cy="1"/>
              </a:xfrm>
              <a:prstGeom prst="line">
                <a:avLst/>
              </a:prstGeom>
              <a:noFill/>
              <a:ln w="38100">
                <a:solidFill>
                  <a:srgbClr val="80808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231" name="Rectangle 44">
            <a:extLst>
              <a:ext uri="{FF2B5EF4-FFF2-40B4-BE49-F238E27FC236}">
                <a16:creationId xmlns:a16="http://schemas.microsoft.com/office/drawing/2014/main" id="{0E00EE68-A70C-8DE9-C66E-32CA0A714F8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341438"/>
            <a:ext cx="8229600" cy="4784725"/>
          </a:xfrm>
        </p:spPr>
        <p:txBody>
          <a:bodyPr lIns="50800" tIns="50800" rIns="132080" bIns="50800"/>
          <a:lstStyle/>
          <a:p>
            <a:pPr marL="382588" eaLnBrk="1" hangingPunct="1"/>
            <a:r>
              <a:rPr lang="en-US" altLang="zh-TW" sz="2400">
                <a:ea typeface="ＭＳ Ｐゴシック" panose="020B0600070205080204" pitchFamily="34" charset="-128"/>
              </a:rPr>
              <a:t>Flow table in switches, routers, and chipsets</a:t>
            </a:r>
          </a:p>
        </p:txBody>
      </p:sp>
      <p:grpSp>
        <p:nvGrpSpPr>
          <p:cNvPr id="16" name="Group 45">
            <a:extLst>
              <a:ext uri="{FF2B5EF4-FFF2-40B4-BE49-F238E27FC236}">
                <a16:creationId xmlns:a16="http://schemas.microsoft.com/office/drawing/2014/main" id="{DE92BFA6-16BB-55B6-4044-01D60D3BA3F3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2224088"/>
            <a:ext cx="909638" cy="3432175"/>
            <a:chOff x="0" y="0"/>
            <a:chExt cx="573" cy="2162"/>
          </a:xfrm>
        </p:grpSpPr>
        <p:sp>
          <p:nvSpPr>
            <p:cNvPr id="52233" name="Rectangle 46">
              <a:extLst>
                <a:ext uri="{FF2B5EF4-FFF2-40B4-BE49-F238E27FC236}">
                  <a16:creationId xmlns:a16="http://schemas.microsoft.com/office/drawing/2014/main" id="{B8AE9534-2B5F-3A19-851E-F6FB1E05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1.</a:t>
              </a:r>
            </a:p>
          </p:txBody>
        </p:sp>
        <p:sp>
          <p:nvSpPr>
            <p:cNvPr id="52234" name="Rectangle 47">
              <a:extLst>
                <a:ext uri="{FF2B5EF4-FFF2-40B4-BE49-F238E27FC236}">
                  <a16:creationId xmlns:a16="http://schemas.microsoft.com/office/drawing/2014/main" id="{7B9F3729-C5D0-8CB8-9DDD-1964DD2EF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0"/>
              <a:ext cx="5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2.</a:t>
              </a:r>
            </a:p>
          </p:txBody>
        </p:sp>
        <p:sp>
          <p:nvSpPr>
            <p:cNvPr id="52235" name="Rectangle 48">
              <a:extLst>
                <a:ext uri="{FF2B5EF4-FFF2-40B4-BE49-F238E27FC236}">
                  <a16:creationId xmlns:a16="http://schemas.microsoft.com/office/drawing/2014/main" id="{3AAE6F8B-B2A7-AE36-6D33-77756182F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960"/>
              <a:ext cx="5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3.</a:t>
              </a:r>
            </a:p>
          </p:txBody>
        </p:sp>
        <p:sp>
          <p:nvSpPr>
            <p:cNvPr id="52236" name="Rectangle 49">
              <a:extLst>
                <a:ext uri="{FF2B5EF4-FFF2-40B4-BE49-F238E27FC236}">
                  <a16:creationId xmlns:a16="http://schemas.microsoft.com/office/drawing/2014/main" id="{CC0006A6-47C6-BECC-6564-A95D4369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68"/>
              <a:ext cx="5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 N.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標題 1">
            <a:extLst>
              <a:ext uri="{FF2B5EF4-FFF2-40B4-BE49-F238E27FC236}">
                <a16:creationId xmlns:a16="http://schemas.microsoft.com/office/drawing/2014/main" id="{5E4BC536-0DF6-6604-41C4-11A06C19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 Entry</a:t>
            </a:r>
            <a:endParaRPr lang="zh-TW" altLang="en-US"/>
          </a:p>
        </p:txBody>
      </p:sp>
      <p:sp>
        <p:nvSpPr>
          <p:cNvPr id="54275" name="內容版面配置區 2">
            <a:extLst>
              <a:ext uri="{FF2B5EF4-FFF2-40B4-BE49-F238E27FC236}">
                <a16:creationId xmlns:a16="http://schemas.microsoft.com/office/drawing/2014/main" id="{25CE9E41-FD78-E80D-E2E0-7CF7C229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6480175" cy="3095625"/>
          </a:xfrm>
        </p:spPr>
        <p:txBody>
          <a:bodyPr/>
          <a:lstStyle/>
          <a:p>
            <a:pPr eaLnBrk="1" hangingPunct="1"/>
            <a:r>
              <a:rPr lang="en-US" altLang="zh-TW"/>
              <a:t>A flow entry consists of</a:t>
            </a:r>
          </a:p>
          <a:p>
            <a:pPr lvl="1" eaLnBrk="1" hangingPunct="1"/>
            <a:r>
              <a:rPr lang="en-US" altLang="zh-TW"/>
              <a:t>Match fields </a:t>
            </a:r>
          </a:p>
          <a:p>
            <a:pPr lvl="2" eaLnBrk="1" hangingPunct="1"/>
            <a:r>
              <a:rPr lang="en-US" altLang="zh-TW"/>
              <a:t>Match against packets</a:t>
            </a:r>
            <a:endParaRPr lang="zh-TW" altLang="en-US"/>
          </a:p>
          <a:p>
            <a:pPr lvl="1" eaLnBrk="1" hangingPunct="1"/>
            <a:r>
              <a:rPr lang="en-US" altLang="zh-TW"/>
              <a:t>Action</a:t>
            </a:r>
          </a:p>
          <a:p>
            <a:pPr lvl="2" eaLnBrk="1" hangingPunct="1"/>
            <a:r>
              <a:rPr lang="en-US" altLang="zh-TW"/>
              <a:t>Modify the action set or pipeline processing</a:t>
            </a:r>
            <a:endParaRPr lang="en-US" altLang="zh-TW" sz="2400"/>
          </a:p>
          <a:p>
            <a:pPr lvl="1" eaLnBrk="1" hangingPunct="1"/>
            <a:r>
              <a:rPr lang="en-US" altLang="zh-TW"/>
              <a:t>Stats</a:t>
            </a:r>
          </a:p>
          <a:p>
            <a:pPr lvl="2" eaLnBrk="1" hangingPunct="1"/>
            <a:r>
              <a:rPr lang="en-US" altLang="zh-TW"/>
              <a:t> Update the matching packets </a:t>
            </a:r>
            <a:endParaRPr lang="en-US" altLang="zh-TW" sz="2400"/>
          </a:p>
        </p:txBody>
      </p:sp>
      <p:grpSp>
        <p:nvGrpSpPr>
          <p:cNvPr id="54276" name="群組 12">
            <a:extLst>
              <a:ext uri="{FF2B5EF4-FFF2-40B4-BE49-F238E27FC236}">
                <a16:creationId xmlns:a16="http://schemas.microsoft.com/office/drawing/2014/main" id="{B0FC9126-488D-329D-DC8F-F29FB3E0A163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213100"/>
            <a:ext cx="3921125" cy="457200"/>
            <a:chOff x="1187624" y="4581128"/>
            <a:chExt cx="3921815" cy="4572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10F1EC-C7FC-FB93-F02F-40FA96F76162}"/>
                </a:ext>
              </a:extLst>
            </p:cNvPr>
            <p:cNvSpPr/>
            <p:nvPr/>
          </p:nvSpPr>
          <p:spPr>
            <a:xfrm>
              <a:off x="1187624" y="4581128"/>
              <a:ext cx="1130499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dirty="0">
                  <a:solidFill>
                    <a:srgbClr val="FF0000"/>
                  </a:solidFill>
                </a:rPr>
                <a:t>Match Fields</a:t>
              </a:r>
              <a:endParaRPr kumimoji="0"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726FDB3-3133-28C7-C4D7-5C8D44CA8A4C}"/>
                </a:ext>
              </a:extLst>
            </p:cNvPr>
            <p:cNvSpPr/>
            <p:nvPr/>
          </p:nvSpPr>
          <p:spPr>
            <a:xfrm>
              <a:off x="3936071" y="4581128"/>
              <a:ext cx="1173368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Stats</a:t>
              </a:r>
              <a:endParaRPr kumimoji="0" lang="zh-TW" altLang="en-US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CB4323C-D0F1-CB77-28FE-28FFD4878F13}"/>
                </a:ext>
              </a:extLst>
            </p:cNvPr>
            <p:cNvSpPr/>
            <p:nvPr/>
          </p:nvSpPr>
          <p:spPr>
            <a:xfrm>
              <a:off x="2330825" y="4581128"/>
              <a:ext cx="1595719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dirty="0">
                  <a:solidFill>
                    <a:srgbClr val="00B0F0"/>
                  </a:solidFill>
                </a:rPr>
                <a:t>Action</a:t>
              </a:r>
              <a:endParaRPr kumimoji="0" lang="zh-TW" altLang="en-US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54277" name="群組 16">
            <a:extLst>
              <a:ext uri="{FF2B5EF4-FFF2-40B4-BE49-F238E27FC236}">
                <a16:creationId xmlns:a16="http://schemas.microsoft.com/office/drawing/2014/main" id="{56937085-AFEB-450C-8F11-1AE442CD36C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284663"/>
            <a:ext cx="8064500" cy="647700"/>
            <a:chOff x="1259632" y="5013176"/>
            <a:chExt cx="8064896" cy="64807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F72E35E-2278-9592-0939-53B21DE53464}"/>
                </a:ext>
              </a:extLst>
            </p:cNvPr>
            <p:cNvSpPr/>
            <p:nvPr/>
          </p:nvSpPr>
          <p:spPr>
            <a:xfrm>
              <a:off x="125963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In Port</a:t>
              </a:r>
              <a:endParaRPr kumimoji="0" lang="zh-TW" altLang="en-US" sz="14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DD42638-199D-20C2-2892-ABF28483718D}"/>
                </a:ext>
              </a:extLst>
            </p:cNvPr>
            <p:cNvSpPr/>
            <p:nvPr/>
          </p:nvSpPr>
          <p:spPr>
            <a:xfrm>
              <a:off x="197971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 err="1"/>
                <a:t>Src</a:t>
              </a:r>
              <a:r>
                <a:rPr kumimoji="0" lang="en-US" altLang="zh-TW" sz="1400" dirty="0"/>
                <a:t> MAC</a:t>
              </a:r>
              <a:endParaRPr kumimoji="0" lang="zh-TW" altLang="en-US" sz="14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C0AAFA7-B7B5-2329-EC95-0D789AA953EC}"/>
                </a:ext>
              </a:extLst>
            </p:cNvPr>
            <p:cNvSpPr/>
            <p:nvPr/>
          </p:nvSpPr>
          <p:spPr>
            <a:xfrm>
              <a:off x="269979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 err="1"/>
                <a:t>Dst</a:t>
              </a:r>
              <a:r>
                <a:rPr kumimoji="0" lang="en-US" altLang="zh-TW" sz="1400" dirty="0"/>
                <a:t> MAC</a:t>
              </a:r>
              <a:endParaRPr kumimoji="0" lang="zh-TW" altLang="en-US" sz="14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8C83995-44AF-81B6-E041-7A6BB4F7E8B3}"/>
                </a:ext>
              </a:extLst>
            </p:cNvPr>
            <p:cNvSpPr/>
            <p:nvPr/>
          </p:nvSpPr>
          <p:spPr>
            <a:xfrm>
              <a:off x="341987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Eth Type</a:t>
              </a:r>
              <a:endParaRPr kumimoji="0" lang="zh-TW" altLang="en-US" sz="14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FA65617-78F2-A0C2-63C0-2DC85D04E615}"/>
                </a:ext>
              </a:extLst>
            </p:cNvPr>
            <p:cNvSpPr/>
            <p:nvPr/>
          </p:nvSpPr>
          <p:spPr>
            <a:xfrm>
              <a:off x="413995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 err="1"/>
                <a:t>Vlan</a:t>
              </a:r>
              <a:r>
                <a:rPr kumimoji="0" lang="en-US" altLang="zh-TW" sz="1400" dirty="0"/>
                <a:t> Id</a:t>
              </a:r>
              <a:endParaRPr kumimoji="0" lang="zh-TW" altLang="en-US" sz="14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821DE5A-56F3-FA40-40D9-A9254E26F029}"/>
                </a:ext>
              </a:extLst>
            </p:cNvPr>
            <p:cNvSpPr/>
            <p:nvPr/>
          </p:nvSpPr>
          <p:spPr>
            <a:xfrm>
              <a:off x="486003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IP </a:t>
              </a:r>
              <a:r>
                <a:rPr kumimoji="0" lang="en-US" altLang="zh-TW" sz="1400" dirty="0" err="1"/>
                <a:t>Tos</a:t>
              </a:r>
              <a:endParaRPr kumimoji="0" lang="zh-TW" altLang="en-US" sz="14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1D82BCE-AF35-0700-FF84-DB9BD69D6642}"/>
                </a:ext>
              </a:extLst>
            </p:cNvPr>
            <p:cNvSpPr/>
            <p:nvPr/>
          </p:nvSpPr>
          <p:spPr>
            <a:xfrm>
              <a:off x="558011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IP Proto</a:t>
              </a:r>
              <a:endParaRPr kumimoji="0" lang="zh-TW" altLang="en-US" sz="14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29E48DF-CF56-94A6-E53D-B94683C84104}"/>
                </a:ext>
              </a:extLst>
            </p:cNvPr>
            <p:cNvSpPr/>
            <p:nvPr/>
          </p:nvSpPr>
          <p:spPr>
            <a:xfrm>
              <a:off x="630019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IP </a:t>
              </a:r>
              <a:r>
                <a:rPr kumimoji="0" lang="en-US" altLang="zh-TW" sz="1400" dirty="0" err="1"/>
                <a:t>Src</a:t>
              </a:r>
              <a:endParaRPr kumimoji="0" lang="zh-TW" altLang="en-US" sz="14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5B835F6-3B5B-9875-A13F-53EF66BD0F1B}"/>
                </a:ext>
              </a:extLst>
            </p:cNvPr>
            <p:cNvSpPr/>
            <p:nvPr/>
          </p:nvSpPr>
          <p:spPr>
            <a:xfrm>
              <a:off x="702027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IP </a:t>
              </a:r>
              <a:r>
                <a:rPr kumimoji="0" lang="en-US" altLang="zh-TW" sz="1400" dirty="0" err="1"/>
                <a:t>Dst</a:t>
              </a:r>
              <a:endParaRPr kumimoji="0" lang="zh-TW" altLang="en-US" sz="14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7C998C7-4E44-84AE-0954-362A697E52B7}"/>
                </a:ext>
              </a:extLst>
            </p:cNvPr>
            <p:cNvSpPr/>
            <p:nvPr/>
          </p:nvSpPr>
          <p:spPr>
            <a:xfrm>
              <a:off x="7740352" y="5013176"/>
              <a:ext cx="720080" cy="64807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TCP </a:t>
              </a:r>
              <a:r>
                <a:rPr kumimoji="0" lang="en-US" altLang="zh-TW" sz="1400" dirty="0" err="1"/>
                <a:t>Src</a:t>
              </a:r>
              <a:r>
                <a:rPr kumimoji="0" lang="en-US" altLang="zh-TW" sz="1400" dirty="0"/>
                <a:t> Port</a:t>
              </a:r>
              <a:endParaRPr kumimoji="0" lang="zh-TW" altLang="en-US" sz="1400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9FD6F58-2720-1D31-466F-39F6F417E3AF}"/>
                </a:ext>
              </a:extLst>
            </p:cNvPr>
            <p:cNvSpPr/>
            <p:nvPr/>
          </p:nvSpPr>
          <p:spPr>
            <a:xfrm>
              <a:off x="8460432" y="5013176"/>
              <a:ext cx="864096" cy="64807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400" dirty="0"/>
                <a:t>TCP </a:t>
              </a:r>
              <a:r>
                <a:rPr kumimoji="0" lang="en-US" altLang="zh-TW" sz="1400" dirty="0" err="1"/>
                <a:t>Dst</a:t>
              </a:r>
              <a:r>
                <a:rPr kumimoji="0" lang="en-US" altLang="zh-TW" sz="1400" dirty="0"/>
                <a:t> Port</a:t>
              </a:r>
              <a:endParaRPr kumimoji="0" lang="zh-TW" altLang="en-US" sz="1400" dirty="0"/>
            </a:p>
          </p:txBody>
        </p:sp>
      </p:grpSp>
      <p:sp>
        <p:nvSpPr>
          <p:cNvPr id="29" name="左-右雙向箭號 28">
            <a:extLst>
              <a:ext uri="{FF2B5EF4-FFF2-40B4-BE49-F238E27FC236}">
                <a16:creationId xmlns:a16="http://schemas.microsoft.com/office/drawing/2014/main" id="{A346A6D2-92A8-8DD1-1A42-047615EC3828}"/>
              </a:ext>
            </a:extLst>
          </p:cNvPr>
          <p:cNvSpPr/>
          <p:nvPr/>
        </p:nvSpPr>
        <p:spPr>
          <a:xfrm>
            <a:off x="900113" y="5148263"/>
            <a:ext cx="2879725" cy="122237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/>
          </a:p>
        </p:txBody>
      </p:sp>
      <p:sp>
        <p:nvSpPr>
          <p:cNvPr id="54279" name="文字方塊 29">
            <a:extLst>
              <a:ext uri="{FF2B5EF4-FFF2-40B4-BE49-F238E27FC236}">
                <a16:creationId xmlns:a16="http://schemas.microsoft.com/office/drawing/2014/main" id="{7DA8E75E-389B-A2CE-4F76-8F5D80FE1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5084763"/>
            <a:ext cx="855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Layer 2</a:t>
            </a:r>
            <a:endParaRPr kumimoji="0" lang="zh-TW" altLang="en-US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左-右雙向箭號 31">
            <a:extLst>
              <a:ext uri="{FF2B5EF4-FFF2-40B4-BE49-F238E27FC236}">
                <a16:creationId xmlns:a16="http://schemas.microsoft.com/office/drawing/2014/main" id="{348791C0-5131-80E5-7AB5-7D9340E049C5}"/>
              </a:ext>
            </a:extLst>
          </p:cNvPr>
          <p:cNvSpPr/>
          <p:nvPr/>
        </p:nvSpPr>
        <p:spPr>
          <a:xfrm>
            <a:off x="3779838" y="5148263"/>
            <a:ext cx="2879725" cy="122237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/>
          </a:p>
        </p:txBody>
      </p:sp>
      <p:sp>
        <p:nvSpPr>
          <p:cNvPr id="54281" name="文字方塊 32">
            <a:extLst>
              <a:ext uri="{FF2B5EF4-FFF2-40B4-BE49-F238E27FC236}">
                <a16:creationId xmlns:a16="http://schemas.microsoft.com/office/drawing/2014/main" id="{584570D6-9A22-EEE1-3478-152C8A772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663" y="5095875"/>
            <a:ext cx="85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Layer 3</a:t>
            </a:r>
            <a:endParaRPr kumimoji="0" lang="zh-TW" altLang="en-US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左-右雙向箭號 34">
            <a:extLst>
              <a:ext uri="{FF2B5EF4-FFF2-40B4-BE49-F238E27FC236}">
                <a16:creationId xmlns:a16="http://schemas.microsoft.com/office/drawing/2014/main" id="{72C628AF-4CA4-7450-E44D-6182CB7360C5}"/>
              </a:ext>
            </a:extLst>
          </p:cNvPr>
          <p:cNvSpPr/>
          <p:nvPr/>
        </p:nvSpPr>
        <p:spPr>
          <a:xfrm>
            <a:off x="6659563" y="5162550"/>
            <a:ext cx="1584325" cy="92075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/>
          </a:p>
        </p:txBody>
      </p:sp>
      <p:sp>
        <p:nvSpPr>
          <p:cNvPr id="54283" name="文字方塊 35">
            <a:extLst>
              <a:ext uri="{FF2B5EF4-FFF2-40B4-BE49-F238E27FC236}">
                <a16:creationId xmlns:a16="http://schemas.microsoft.com/office/drawing/2014/main" id="{55A37A40-414B-5E9D-5CB6-D3E807E72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688" y="5095875"/>
            <a:ext cx="855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Layer 4</a:t>
            </a:r>
            <a:endParaRPr kumimoji="0" lang="zh-TW" altLang="en-US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F20B2BF4-0D73-9F50-9940-E0DC13A67BF6}"/>
              </a:ext>
            </a:extLst>
          </p:cNvPr>
          <p:cNvCxnSpPr/>
          <p:nvPr/>
        </p:nvCxnSpPr>
        <p:spPr>
          <a:xfrm flipH="1">
            <a:off x="179388" y="3670300"/>
            <a:ext cx="4613275" cy="61436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251B483B-08F9-F4CB-1F33-9F0DB93B6CE5}"/>
              </a:ext>
            </a:extLst>
          </p:cNvPr>
          <p:cNvCxnSpPr/>
          <p:nvPr/>
        </p:nvCxnSpPr>
        <p:spPr>
          <a:xfrm>
            <a:off x="5918200" y="3670300"/>
            <a:ext cx="2325688" cy="61436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C552AB65-9EB0-C764-EFBA-03EFB068E39E}"/>
              </a:ext>
            </a:extLst>
          </p:cNvPr>
          <p:cNvSpPr/>
          <p:nvPr/>
        </p:nvSpPr>
        <p:spPr>
          <a:xfrm>
            <a:off x="250825" y="5732463"/>
            <a:ext cx="3432175" cy="1022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altLang="zh-TW" sz="1400" dirty="0"/>
              <a:t>Forward packet to port(s)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altLang="zh-TW" sz="1400" dirty="0"/>
              <a:t>Encapsulate and forward to controller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altLang="zh-TW" sz="1400" dirty="0"/>
              <a:t>Drop packet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kumimoji="0" lang="en-US" altLang="zh-TW" sz="1400" dirty="0"/>
              <a:t>Send to normal processing pipeline</a:t>
            </a:r>
            <a:endParaRPr kumimoji="0" lang="zh-TW" altLang="en-US" sz="1400" dirty="0"/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3C9D57C-A1BD-1B4E-7A2A-7B1F6706345A}"/>
              </a:ext>
            </a:extLst>
          </p:cNvPr>
          <p:cNvCxnSpPr/>
          <p:nvPr/>
        </p:nvCxnSpPr>
        <p:spPr>
          <a:xfrm flipH="1">
            <a:off x="8437563" y="3644900"/>
            <a:ext cx="238125" cy="224948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99681864-8BC9-F263-9BAC-0F8AE7DF2E6E}"/>
              </a:ext>
            </a:extLst>
          </p:cNvPr>
          <p:cNvCxnSpPr/>
          <p:nvPr/>
        </p:nvCxnSpPr>
        <p:spPr>
          <a:xfrm flipH="1">
            <a:off x="6948488" y="3644900"/>
            <a:ext cx="576262" cy="220503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2B622EB3-C584-1DE6-9396-E0F72D7715CD}"/>
              </a:ext>
            </a:extLst>
          </p:cNvPr>
          <p:cNvSpPr/>
          <p:nvPr/>
        </p:nvSpPr>
        <p:spPr>
          <a:xfrm>
            <a:off x="6588125" y="5876925"/>
            <a:ext cx="2220913" cy="64928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/>
              <a:t>1. Packet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/>
              <a:t>2. Byte counters</a:t>
            </a:r>
            <a:endParaRPr kumimoji="0" lang="zh-TW" altLang="en-US" sz="1400" dirty="0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8702845-CAF2-B3AC-8E32-FB1706A917DC}"/>
              </a:ext>
            </a:extLst>
          </p:cNvPr>
          <p:cNvCxnSpPr/>
          <p:nvPr/>
        </p:nvCxnSpPr>
        <p:spPr>
          <a:xfrm flipH="1">
            <a:off x="1042988" y="3670300"/>
            <a:ext cx="4897437" cy="2062163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8286C4B7-E681-0C5F-D4D4-486EFD2D25C6}"/>
              </a:ext>
            </a:extLst>
          </p:cNvPr>
          <p:cNvCxnSpPr/>
          <p:nvPr/>
        </p:nvCxnSpPr>
        <p:spPr>
          <a:xfrm flipH="1">
            <a:off x="3276600" y="3500438"/>
            <a:ext cx="4619625" cy="2232025"/>
          </a:xfrm>
          <a:prstGeom prst="straightConnector1">
            <a:avLst/>
          </a:prstGeom>
          <a:ln>
            <a:solidFill>
              <a:srgbClr val="00B05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">
            <a:extLst>
              <a:ext uri="{FF2B5EF4-FFF2-40B4-BE49-F238E27FC236}">
                <a16:creationId xmlns:a16="http://schemas.microsoft.com/office/drawing/2014/main" id="{E356CFDC-2007-1BC8-1476-6BB57685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900"/>
              <a:t>Examples</a:t>
            </a: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EADFB43-0E67-5808-1584-DF2DBE635774}"/>
              </a:ext>
            </a:extLst>
          </p:cNvPr>
          <p:cNvSpPr>
            <a:spLocks/>
          </p:cNvSpPr>
          <p:nvPr/>
        </p:nvSpPr>
        <p:spPr bwMode="auto">
          <a:xfrm>
            <a:off x="563563" y="1346200"/>
            <a:ext cx="895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Switching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DF0BAE3-9C4B-5230-C2C5-83B04A31F9E1}"/>
              </a:ext>
            </a:extLst>
          </p:cNvPr>
          <p:cNvSpPr>
            <a:spLocks/>
          </p:cNvSpPr>
          <p:nvPr/>
        </p:nvSpPr>
        <p:spPr bwMode="auto">
          <a:xfrm>
            <a:off x="6858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5301" name="Group 4">
            <a:extLst>
              <a:ext uri="{FF2B5EF4-FFF2-40B4-BE49-F238E27FC236}">
                <a16:creationId xmlns:a16="http://schemas.microsoft.com/office/drawing/2014/main" id="{55B2D0E8-1B3B-CE2D-86F1-FEEB73854598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1878013"/>
            <a:ext cx="7483475" cy="571500"/>
            <a:chOff x="0" y="0"/>
            <a:chExt cx="6704" cy="512"/>
          </a:xfrm>
        </p:grpSpPr>
        <p:sp>
          <p:nvSpPr>
            <p:cNvPr id="55383" name="Rectangle 5">
              <a:extLst>
                <a:ext uri="{FF2B5EF4-FFF2-40B4-BE49-F238E27FC236}">
                  <a16:creationId xmlns:a16="http://schemas.microsoft.com/office/drawing/2014/main" id="{34AE6164-AF06-3C1D-D292-1D83CD6C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4" name="Rectangle 6">
              <a:extLst>
                <a:ext uri="{FF2B5EF4-FFF2-40B4-BE49-F238E27FC236}">
                  <a16:creationId xmlns:a16="http://schemas.microsoft.com/office/drawing/2014/main" id="{5552FDCF-21D8-360E-A6CF-FF14BB9DA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85" name="Rectangle 7">
              <a:extLst>
                <a:ext uri="{FF2B5EF4-FFF2-40B4-BE49-F238E27FC236}">
                  <a16:creationId xmlns:a16="http://schemas.microsoft.com/office/drawing/2014/main" id="{57D5F7E4-ABC2-30ED-2B52-1F915F571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6" name="Rectangle 8">
              <a:extLst>
                <a:ext uri="{FF2B5EF4-FFF2-40B4-BE49-F238E27FC236}">
                  <a16:creationId xmlns:a16="http://schemas.microsoft.com/office/drawing/2014/main" id="{D8AA16AE-B3BB-3010-04DF-C6497B1C0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87" name="Rectangle 9">
              <a:extLst>
                <a:ext uri="{FF2B5EF4-FFF2-40B4-BE49-F238E27FC236}">
                  <a16:creationId xmlns:a16="http://schemas.microsoft.com/office/drawing/2014/main" id="{1A749AE2-8BA0-2E78-C022-FBFC45116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8" name="Rectangle 10">
              <a:extLst>
                <a:ext uri="{FF2B5EF4-FFF2-40B4-BE49-F238E27FC236}">
                  <a16:creationId xmlns:a16="http://schemas.microsoft.com/office/drawing/2014/main" id="{3198204F-C20C-6B78-6BAA-A1CBF1F87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89" name="Rectangle 11">
              <a:extLst>
                <a:ext uri="{FF2B5EF4-FFF2-40B4-BE49-F238E27FC236}">
                  <a16:creationId xmlns:a16="http://schemas.microsoft.com/office/drawing/2014/main" id="{BE80C006-A6D7-872C-F2E2-A61AFD63C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0" name="Rectangle 12">
              <a:extLst>
                <a:ext uri="{FF2B5EF4-FFF2-40B4-BE49-F238E27FC236}">
                  <a16:creationId xmlns:a16="http://schemas.microsoft.com/office/drawing/2014/main" id="{CFA723A1-32F8-B8AE-F7AE-5D3915121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91" name="Rectangle 13">
              <a:extLst>
                <a:ext uri="{FF2B5EF4-FFF2-40B4-BE49-F238E27FC236}">
                  <a16:creationId xmlns:a16="http://schemas.microsoft.com/office/drawing/2014/main" id="{1D4E15FE-EDB2-AD8A-C0A4-1E2C305E3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2" name="Rectangle 14">
              <a:extLst>
                <a:ext uri="{FF2B5EF4-FFF2-40B4-BE49-F238E27FC236}">
                  <a16:creationId xmlns:a16="http://schemas.microsoft.com/office/drawing/2014/main" id="{B671E3AB-802A-B9DC-2411-E0C57DFC3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93" name="Rectangle 15">
              <a:extLst>
                <a:ext uri="{FF2B5EF4-FFF2-40B4-BE49-F238E27FC236}">
                  <a16:creationId xmlns:a16="http://schemas.microsoft.com/office/drawing/2014/main" id="{6818056D-F555-7F90-80AA-F08EA58FD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4" name="Rectangle 16">
              <a:extLst>
                <a:ext uri="{FF2B5EF4-FFF2-40B4-BE49-F238E27FC236}">
                  <a16:creationId xmlns:a16="http://schemas.microsoft.com/office/drawing/2014/main" id="{E80BC1DB-48EF-6C61-32D6-E11062302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95" name="Rectangle 17">
              <a:extLst>
                <a:ext uri="{FF2B5EF4-FFF2-40B4-BE49-F238E27FC236}">
                  <a16:creationId xmlns:a16="http://schemas.microsoft.com/office/drawing/2014/main" id="{CD0E0CF8-CEE2-A101-0FA0-A75E0C96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6" name="Rectangle 18">
              <a:extLst>
                <a:ext uri="{FF2B5EF4-FFF2-40B4-BE49-F238E27FC236}">
                  <a16:creationId xmlns:a16="http://schemas.microsoft.com/office/drawing/2014/main" id="{38B1BA26-96F9-E08E-E459-677961B6B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97" name="Rectangle 19">
              <a:extLst>
                <a:ext uri="{FF2B5EF4-FFF2-40B4-BE49-F238E27FC236}">
                  <a16:creationId xmlns:a16="http://schemas.microsoft.com/office/drawing/2014/main" id="{B882E148-8869-2DB5-1906-245B120EA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98" name="Rectangle 20">
              <a:extLst>
                <a:ext uri="{FF2B5EF4-FFF2-40B4-BE49-F238E27FC236}">
                  <a16:creationId xmlns:a16="http://schemas.microsoft.com/office/drawing/2014/main" id="{06EBB14D-7B1A-CE7A-14D4-DE963F46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99" name="Rectangle 21">
              <a:extLst>
                <a:ext uri="{FF2B5EF4-FFF2-40B4-BE49-F238E27FC236}">
                  <a16:creationId xmlns:a16="http://schemas.microsoft.com/office/drawing/2014/main" id="{9270F1FE-6D92-F0BB-95F5-47C315FB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0" name="Rectangle 22">
              <a:extLst>
                <a:ext uri="{FF2B5EF4-FFF2-40B4-BE49-F238E27FC236}">
                  <a16:creationId xmlns:a16="http://schemas.microsoft.com/office/drawing/2014/main" id="{A6D5F8CC-63B8-1352-B3C7-3AD7A17C8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401" name="Rectangle 23">
              <a:extLst>
                <a:ext uri="{FF2B5EF4-FFF2-40B4-BE49-F238E27FC236}">
                  <a16:creationId xmlns:a16="http://schemas.microsoft.com/office/drawing/2014/main" id="{2A8EE381-2F03-B373-917D-3B3ABBBEA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2" name="Rectangle 24">
              <a:extLst>
                <a:ext uri="{FF2B5EF4-FFF2-40B4-BE49-F238E27FC236}">
                  <a16:creationId xmlns:a16="http://schemas.microsoft.com/office/drawing/2014/main" id="{C8FF9D53-DC33-6941-055E-76A71B286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403" name="Rectangle 25">
              <a:extLst>
                <a:ext uri="{FF2B5EF4-FFF2-40B4-BE49-F238E27FC236}">
                  <a16:creationId xmlns:a16="http://schemas.microsoft.com/office/drawing/2014/main" id="{80E36168-2E75-997E-B69E-2BB8FFC7C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404" name="Rectangle 26">
              <a:extLst>
                <a:ext uri="{FF2B5EF4-FFF2-40B4-BE49-F238E27FC236}">
                  <a16:creationId xmlns:a16="http://schemas.microsoft.com/office/drawing/2014/main" id="{6AE8C0F9-C41F-F976-AA78-EF6389485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02" name="Rectangle 27">
            <a:extLst>
              <a:ext uri="{FF2B5EF4-FFF2-40B4-BE49-F238E27FC236}">
                <a16:creationId xmlns:a16="http://schemas.microsoft.com/office/drawing/2014/main" id="{77A60F27-D189-6CC0-03A1-367A05EADFE0}"/>
              </a:ext>
            </a:extLst>
          </p:cNvPr>
          <p:cNvSpPr>
            <a:spLocks/>
          </p:cNvSpPr>
          <p:nvPr/>
        </p:nvSpPr>
        <p:spPr bwMode="auto">
          <a:xfrm>
            <a:off x="13462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3" name="Rectangle 28">
            <a:extLst>
              <a:ext uri="{FF2B5EF4-FFF2-40B4-BE49-F238E27FC236}">
                <a16:creationId xmlns:a16="http://schemas.microsoft.com/office/drawing/2014/main" id="{337A155E-C3CF-F44F-5E5C-FE2A0F8F3254}"/>
              </a:ext>
            </a:extLst>
          </p:cNvPr>
          <p:cNvSpPr>
            <a:spLocks/>
          </p:cNvSpPr>
          <p:nvPr/>
        </p:nvSpPr>
        <p:spPr bwMode="auto">
          <a:xfrm>
            <a:off x="1943100" y="2525713"/>
            <a:ext cx="1135063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00:1f:..</a:t>
            </a:r>
          </a:p>
        </p:txBody>
      </p:sp>
      <p:sp>
        <p:nvSpPr>
          <p:cNvPr id="55304" name="Rectangle 29">
            <a:extLst>
              <a:ext uri="{FF2B5EF4-FFF2-40B4-BE49-F238E27FC236}">
                <a16:creationId xmlns:a16="http://schemas.microsoft.com/office/drawing/2014/main" id="{EEF7C925-8110-E920-73CA-B4FECBDDBD2A}"/>
              </a:ext>
            </a:extLst>
          </p:cNvPr>
          <p:cNvSpPr>
            <a:spLocks/>
          </p:cNvSpPr>
          <p:nvPr/>
        </p:nvSpPr>
        <p:spPr bwMode="auto">
          <a:xfrm>
            <a:off x="2667000" y="2546350"/>
            <a:ext cx="6619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5" name="Rectangle 30">
            <a:extLst>
              <a:ext uri="{FF2B5EF4-FFF2-40B4-BE49-F238E27FC236}">
                <a16:creationId xmlns:a16="http://schemas.microsoft.com/office/drawing/2014/main" id="{26D951F1-5A5F-2261-7415-93B4B0638B47}"/>
              </a:ext>
            </a:extLst>
          </p:cNvPr>
          <p:cNvSpPr>
            <a:spLocks/>
          </p:cNvSpPr>
          <p:nvPr/>
        </p:nvSpPr>
        <p:spPr bwMode="auto">
          <a:xfrm>
            <a:off x="33289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6" name="Rectangle 31">
            <a:extLst>
              <a:ext uri="{FF2B5EF4-FFF2-40B4-BE49-F238E27FC236}">
                <a16:creationId xmlns:a16="http://schemas.microsoft.com/office/drawing/2014/main" id="{2CCD1D1B-99A7-AA68-901C-800BCEAF7ACA}"/>
              </a:ext>
            </a:extLst>
          </p:cNvPr>
          <p:cNvSpPr>
            <a:spLocks/>
          </p:cNvSpPr>
          <p:nvPr/>
        </p:nvSpPr>
        <p:spPr bwMode="auto">
          <a:xfrm>
            <a:off x="39893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7" name="Rectangle 32">
            <a:extLst>
              <a:ext uri="{FF2B5EF4-FFF2-40B4-BE49-F238E27FC236}">
                <a16:creationId xmlns:a16="http://schemas.microsoft.com/office/drawing/2014/main" id="{8C9B721B-2C8A-9ED3-8FC1-CE1B07EFF607}"/>
              </a:ext>
            </a:extLst>
          </p:cNvPr>
          <p:cNvSpPr>
            <a:spLocks/>
          </p:cNvSpPr>
          <p:nvPr/>
        </p:nvSpPr>
        <p:spPr bwMode="auto">
          <a:xfrm>
            <a:off x="46497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8" name="Rectangle 33">
            <a:extLst>
              <a:ext uri="{FF2B5EF4-FFF2-40B4-BE49-F238E27FC236}">
                <a16:creationId xmlns:a16="http://schemas.microsoft.com/office/drawing/2014/main" id="{58A44A99-575A-ACCE-2510-01E37C9326A0}"/>
              </a:ext>
            </a:extLst>
          </p:cNvPr>
          <p:cNvSpPr>
            <a:spLocks/>
          </p:cNvSpPr>
          <p:nvPr/>
        </p:nvSpPr>
        <p:spPr bwMode="auto">
          <a:xfrm>
            <a:off x="5319713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09" name="Rectangle 34">
            <a:extLst>
              <a:ext uri="{FF2B5EF4-FFF2-40B4-BE49-F238E27FC236}">
                <a16:creationId xmlns:a16="http://schemas.microsoft.com/office/drawing/2014/main" id="{D535CAD2-57D9-DEAE-D93E-8AFDF813A743}"/>
              </a:ext>
            </a:extLst>
          </p:cNvPr>
          <p:cNvSpPr>
            <a:spLocks/>
          </p:cNvSpPr>
          <p:nvPr/>
        </p:nvSpPr>
        <p:spPr bwMode="auto">
          <a:xfrm>
            <a:off x="5980113" y="2546350"/>
            <a:ext cx="6619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10" name="Rectangle 35">
            <a:extLst>
              <a:ext uri="{FF2B5EF4-FFF2-40B4-BE49-F238E27FC236}">
                <a16:creationId xmlns:a16="http://schemas.microsoft.com/office/drawing/2014/main" id="{9A7B37BE-5577-78C3-E39D-7A9340B7DF07}"/>
              </a:ext>
            </a:extLst>
          </p:cNvPr>
          <p:cNvSpPr>
            <a:spLocks/>
          </p:cNvSpPr>
          <p:nvPr/>
        </p:nvSpPr>
        <p:spPr bwMode="auto">
          <a:xfrm>
            <a:off x="66421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11" name="Rectangle 36">
            <a:extLst>
              <a:ext uri="{FF2B5EF4-FFF2-40B4-BE49-F238E27FC236}">
                <a16:creationId xmlns:a16="http://schemas.microsoft.com/office/drawing/2014/main" id="{96EB4CEA-C80D-3D3B-0A96-8249993DE3D2}"/>
              </a:ext>
            </a:extLst>
          </p:cNvPr>
          <p:cNvSpPr>
            <a:spLocks/>
          </p:cNvSpPr>
          <p:nvPr/>
        </p:nvSpPr>
        <p:spPr bwMode="auto">
          <a:xfrm>
            <a:off x="7400925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5312" name="Rectangle 37">
            <a:extLst>
              <a:ext uri="{FF2B5EF4-FFF2-40B4-BE49-F238E27FC236}">
                <a16:creationId xmlns:a16="http://schemas.microsoft.com/office/drawing/2014/main" id="{3A7BCD4B-60CF-7523-956B-D0F0293A8AC3}"/>
              </a:ext>
            </a:extLst>
          </p:cNvPr>
          <p:cNvSpPr>
            <a:spLocks/>
          </p:cNvSpPr>
          <p:nvPr/>
        </p:nvSpPr>
        <p:spPr bwMode="auto">
          <a:xfrm>
            <a:off x="565150" y="3070225"/>
            <a:ext cx="13890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Flow Switching</a:t>
            </a:r>
          </a:p>
        </p:txBody>
      </p:sp>
      <p:sp>
        <p:nvSpPr>
          <p:cNvPr id="55313" name="Rectangle 38">
            <a:extLst>
              <a:ext uri="{FF2B5EF4-FFF2-40B4-BE49-F238E27FC236}">
                <a16:creationId xmlns:a16="http://schemas.microsoft.com/office/drawing/2014/main" id="{F7D1399F-BF78-D0AF-8EA6-92684BB31536}"/>
              </a:ext>
            </a:extLst>
          </p:cNvPr>
          <p:cNvSpPr>
            <a:spLocks/>
          </p:cNvSpPr>
          <p:nvPr/>
        </p:nvSpPr>
        <p:spPr bwMode="auto">
          <a:xfrm>
            <a:off x="685800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port3</a:t>
            </a:r>
          </a:p>
        </p:txBody>
      </p:sp>
      <p:grpSp>
        <p:nvGrpSpPr>
          <p:cNvPr id="55314" name="Group 39">
            <a:extLst>
              <a:ext uri="{FF2B5EF4-FFF2-40B4-BE49-F238E27FC236}">
                <a16:creationId xmlns:a16="http://schemas.microsoft.com/office/drawing/2014/main" id="{AF07F763-D69D-D9C9-A878-B52BE0C331C0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3557588"/>
            <a:ext cx="7483475" cy="571500"/>
            <a:chOff x="0" y="0"/>
            <a:chExt cx="6704" cy="512"/>
          </a:xfrm>
        </p:grpSpPr>
        <p:sp>
          <p:nvSpPr>
            <p:cNvPr id="55361" name="Rectangle 40">
              <a:extLst>
                <a:ext uri="{FF2B5EF4-FFF2-40B4-BE49-F238E27FC236}">
                  <a16:creationId xmlns:a16="http://schemas.microsoft.com/office/drawing/2014/main" id="{FC3DAD31-B838-C7AB-FEEE-9A0B52A10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2" name="Rectangle 41">
              <a:extLst>
                <a:ext uri="{FF2B5EF4-FFF2-40B4-BE49-F238E27FC236}">
                  <a16:creationId xmlns:a16="http://schemas.microsoft.com/office/drawing/2014/main" id="{658649F5-553A-1483-F525-B9046955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63" name="Rectangle 42">
              <a:extLst>
                <a:ext uri="{FF2B5EF4-FFF2-40B4-BE49-F238E27FC236}">
                  <a16:creationId xmlns:a16="http://schemas.microsoft.com/office/drawing/2014/main" id="{90863D75-156C-E3AC-792B-195C62FBC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4" name="Rectangle 43">
              <a:extLst>
                <a:ext uri="{FF2B5EF4-FFF2-40B4-BE49-F238E27FC236}">
                  <a16:creationId xmlns:a16="http://schemas.microsoft.com/office/drawing/2014/main" id="{9824E3DC-20B9-AFCF-09FF-D9E9EEFCD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65" name="Rectangle 44">
              <a:extLst>
                <a:ext uri="{FF2B5EF4-FFF2-40B4-BE49-F238E27FC236}">
                  <a16:creationId xmlns:a16="http://schemas.microsoft.com/office/drawing/2014/main" id="{9FFED51A-44D7-D34F-E7A7-8EBBDE855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6" name="Rectangle 45">
              <a:extLst>
                <a:ext uri="{FF2B5EF4-FFF2-40B4-BE49-F238E27FC236}">
                  <a16:creationId xmlns:a16="http://schemas.microsoft.com/office/drawing/2014/main" id="{6A82A1E2-C52C-0717-DB00-884401D09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67" name="Rectangle 46">
              <a:extLst>
                <a:ext uri="{FF2B5EF4-FFF2-40B4-BE49-F238E27FC236}">
                  <a16:creationId xmlns:a16="http://schemas.microsoft.com/office/drawing/2014/main" id="{ABB5C824-431B-492B-10C9-0C3EADDD0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8" name="Rectangle 47">
              <a:extLst>
                <a:ext uri="{FF2B5EF4-FFF2-40B4-BE49-F238E27FC236}">
                  <a16:creationId xmlns:a16="http://schemas.microsoft.com/office/drawing/2014/main" id="{4DA7BC1B-E6EA-E8F8-B663-D3A2982D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69" name="Rectangle 48">
              <a:extLst>
                <a:ext uri="{FF2B5EF4-FFF2-40B4-BE49-F238E27FC236}">
                  <a16:creationId xmlns:a16="http://schemas.microsoft.com/office/drawing/2014/main" id="{CD5FF3D0-BEAB-ABDB-77A3-2189866BA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0" name="Rectangle 49">
              <a:extLst>
                <a:ext uri="{FF2B5EF4-FFF2-40B4-BE49-F238E27FC236}">
                  <a16:creationId xmlns:a16="http://schemas.microsoft.com/office/drawing/2014/main" id="{1686EB21-0003-96D2-1E49-5F09AF327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71" name="Rectangle 50">
              <a:extLst>
                <a:ext uri="{FF2B5EF4-FFF2-40B4-BE49-F238E27FC236}">
                  <a16:creationId xmlns:a16="http://schemas.microsoft.com/office/drawing/2014/main" id="{D0CBF9FE-761F-FFCE-DDB6-D12F51C85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2" name="Rectangle 51">
              <a:extLst>
                <a:ext uri="{FF2B5EF4-FFF2-40B4-BE49-F238E27FC236}">
                  <a16:creationId xmlns:a16="http://schemas.microsoft.com/office/drawing/2014/main" id="{52DFD2DB-AA76-4D43-E136-904CD29A5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73" name="Rectangle 52">
              <a:extLst>
                <a:ext uri="{FF2B5EF4-FFF2-40B4-BE49-F238E27FC236}">
                  <a16:creationId xmlns:a16="http://schemas.microsoft.com/office/drawing/2014/main" id="{6E30E0DB-5F43-9B4C-D082-85D834D6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4" name="Rectangle 53">
              <a:extLst>
                <a:ext uri="{FF2B5EF4-FFF2-40B4-BE49-F238E27FC236}">
                  <a16:creationId xmlns:a16="http://schemas.microsoft.com/office/drawing/2014/main" id="{D61657CF-CE19-728F-70ED-05149BC99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75" name="Rectangle 54">
              <a:extLst>
                <a:ext uri="{FF2B5EF4-FFF2-40B4-BE49-F238E27FC236}">
                  <a16:creationId xmlns:a16="http://schemas.microsoft.com/office/drawing/2014/main" id="{D9C96124-1A13-90EE-8FA8-3BBADE584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6" name="Rectangle 55">
              <a:extLst>
                <a:ext uri="{FF2B5EF4-FFF2-40B4-BE49-F238E27FC236}">
                  <a16:creationId xmlns:a16="http://schemas.microsoft.com/office/drawing/2014/main" id="{0BDE4959-3D63-3002-2D5C-C0524951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77" name="Rectangle 56">
              <a:extLst>
                <a:ext uri="{FF2B5EF4-FFF2-40B4-BE49-F238E27FC236}">
                  <a16:creationId xmlns:a16="http://schemas.microsoft.com/office/drawing/2014/main" id="{35CC67A3-4F85-253B-FC5B-EA347564E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78" name="Rectangle 57">
              <a:extLst>
                <a:ext uri="{FF2B5EF4-FFF2-40B4-BE49-F238E27FC236}">
                  <a16:creationId xmlns:a16="http://schemas.microsoft.com/office/drawing/2014/main" id="{A2C09E90-DE33-E666-BB74-813C60ED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379" name="Rectangle 58">
              <a:extLst>
                <a:ext uri="{FF2B5EF4-FFF2-40B4-BE49-F238E27FC236}">
                  <a16:creationId xmlns:a16="http://schemas.microsoft.com/office/drawing/2014/main" id="{ABC86660-6EDE-7381-8D71-13180F5AA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0" name="Rectangle 59">
              <a:extLst>
                <a:ext uri="{FF2B5EF4-FFF2-40B4-BE49-F238E27FC236}">
                  <a16:creationId xmlns:a16="http://schemas.microsoft.com/office/drawing/2014/main" id="{172CAB20-CB94-9047-CE54-361BEA9D7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381" name="Rectangle 60">
              <a:extLst>
                <a:ext uri="{FF2B5EF4-FFF2-40B4-BE49-F238E27FC236}">
                  <a16:creationId xmlns:a16="http://schemas.microsoft.com/office/drawing/2014/main" id="{475656FE-6CF2-2B99-EF2B-19BEB47E4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82" name="Rectangle 61">
              <a:extLst>
                <a:ext uri="{FF2B5EF4-FFF2-40B4-BE49-F238E27FC236}">
                  <a16:creationId xmlns:a16="http://schemas.microsoft.com/office/drawing/2014/main" id="{67DFE2FF-5EA2-D55A-CF07-0579EC8E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15" name="Rectangle 62">
            <a:extLst>
              <a:ext uri="{FF2B5EF4-FFF2-40B4-BE49-F238E27FC236}">
                <a16:creationId xmlns:a16="http://schemas.microsoft.com/office/drawing/2014/main" id="{47EB0611-A48D-14DF-A52B-5D10DCBEB95D}"/>
              </a:ext>
            </a:extLst>
          </p:cNvPr>
          <p:cNvSpPr>
            <a:spLocks/>
          </p:cNvSpPr>
          <p:nvPr/>
        </p:nvSpPr>
        <p:spPr bwMode="auto">
          <a:xfrm>
            <a:off x="1346200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00:20..</a:t>
            </a:r>
          </a:p>
        </p:txBody>
      </p:sp>
      <p:sp>
        <p:nvSpPr>
          <p:cNvPr id="55316" name="Rectangle 63">
            <a:extLst>
              <a:ext uri="{FF2B5EF4-FFF2-40B4-BE49-F238E27FC236}">
                <a16:creationId xmlns:a16="http://schemas.microsoft.com/office/drawing/2014/main" id="{36BE287C-EB57-1D1D-1745-7C4AF3744876}"/>
              </a:ext>
            </a:extLst>
          </p:cNvPr>
          <p:cNvSpPr>
            <a:spLocks/>
          </p:cNvSpPr>
          <p:nvPr/>
        </p:nvSpPr>
        <p:spPr bwMode="auto">
          <a:xfrm>
            <a:off x="2039938" y="4224338"/>
            <a:ext cx="868362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00:1f..</a:t>
            </a:r>
          </a:p>
        </p:txBody>
      </p:sp>
      <p:sp>
        <p:nvSpPr>
          <p:cNvPr id="55317" name="Rectangle 64">
            <a:extLst>
              <a:ext uri="{FF2B5EF4-FFF2-40B4-BE49-F238E27FC236}">
                <a16:creationId xmlns:a16="http://schemas.microsoft.com/office/drawing/2014/main" id="{800AA662-10A2-4132-7EA5-691D7A957FBB}"/>
              </a:ext>
            </a:extLst>
          </p:cNvPr>
          <p:cNvSpPr>
            <a:spLocks/>
          </p:cNvSpPr>
          <p:nvPr/>
        </p:nvSpPr>
        <p:spPr bwMode="auto">
          <a:xfrm>
            <a:off x="2667000" y="4224338"/>
            <a:ext cx="661988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0800</a:t>
            </a:r>
          </a:p>
        </p:txBody>
      </p:sp>
      <p:sp>
        <p:nvSpPr>
          <p:cNvPr id="55318" name="Rectangle 65">
            <a:extLst>
              <a:ext uri="{FF2B5EF4-FFF2-40B4-BE49-F238E27FC236}">
                <a16:creationId xmlns:a16="http://schemas.microsoft.com/office/drawing/2014/main" id="{EB1595DC-4C99-165C-9FBB-7821B771E2C3}"/>
              </a:ext>
            </a:extLst>
          </p:cNvPr>
          <p:cNvSpPr>
            <a:spLocks/>
          </p:cNvSpPr>
          <p:nvPr/>
        </p:nvSpPr>
        <p:spPr bwMode="auto">
          <a:xfrm>
            <a:off x="3328988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vlan1</a:t>
            </a:r>
          </a:p>
        </p:txBody>
      </p:sp>
      <p:sp>
        <p:nvSpPr>
          <p:cNvPr id="55319" name="Rectangle 66">
            <a:extLst>
              <a:ext uri="{FF2B5EF4-FFF2-40B4-BE49-F238E27FC236}">
                <a16:creationId xmlns:a16="http://schemas.microsoft.com/office/drawing/2014/main" id="{8E775699-058D-9A90-A81A-ACA34F259EF3}"/>
              </a:ext>
            </a:extLst>
          </p:cNvPr>
          <p:cNvSpPr>
            <a:spLocks/>
          </p:cNvSpPr>
          <p:nvPr/>
        </p:nvSpPr>
        <p:spPr bwMode="auto">
          <a:xfrm>
            <a:off x="3989388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1.2.3.4</a:t>
            </a:r>
          </a:p>
        </p:txBody>
      </p:sp>
      <p:sp>
        <p:nvSpPr>
          <p:cNvPr id="55320" name="Rectangle 67">
            <a:extLst>
              <a:ext uri="{FF2B5EF4-FFF2-40B4-BE49-F238E27FC236}">
                <a16:creationId xmlns:a16="http://schemas.microsoft.com/office/drawing/2014/main" id="{85E361C7-318B-A433-9AE4-D765CB8EA989}"/>
              </a:ext>
            </a:extLst>
          </p:cNvPr>
          <p:cNvSpPr>
            <a:spLocks/>
          </p:cNvSpPr>
          <p:nvPr/>
        </p:nvSpPr>
        <p:spPr bwMode="auto">
          <a:xfrm>
            <a:off x="4686300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5.6.7.8</a:t>
            </a:r>
          </a:p>
        </p:txBody>
      </p:sp>
      <p:sp>
        <p:nvSpPr>
          <p:cNvPr id="55321" name="Rectangle 68">
            <a:extLst>
              <a:ext uri="{FF2B5EF4-FFF2-40B4-BE49-F238E27FC236}">
                <a16:creationId xmlns:a16="http://schemas.microsoft.com/office/drawing/2014/main" id="{C4AF5FDC-D151-1A15-6DF4-62C8B2A3ABE6}"/>
              </a:ext>
            </a:extLst>
          </p:cNvPr>
          <p:cNvSpPr>
            <a:spLocks/>
          </p:cNvSpPr>
          <p:nvPr/>
        </p:nvSpPr>
        <p:spPr bwMode="auto">
          <a:xfrm>
            <a:off x="5548313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55322" name="Rectangle 69">
            <a:extLst>
              <a:ext uri="{FF2B5EF4-FFF2-40B4-BE49-F238E27FC236}">
                <a16:creationId xmlns:a16="http://schemas.microsoft.com/office/drawing/2014/main" id="{A34EF3A3-CB3E-E547-AE85-1A97C8888270}"/>
              </a:ext>
            </a:extLst>
          </p:cNvPr>
          <p:cNvSpPr>
            <a:spLocks/>
          </p:cNvSpPr>
          <p:nvPr/>
        </p:nvSpPr>
        <p:spPr bwMode="auto">
          <a:xfrm>
            <a:off x="5980113" y="4224338"/>
            <a:ext cx="6619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17264</a:t>
            </a:r>
          </a:p>
        </p:txBody>
      </p:sp>
      <p:sp>
        <p:nvSpPr>
          <p:cNvPr id="55323" name="Rectangle 70">
            <a:extLst>
              <a:ext uri="{FF2B5EF4-FFF2-40B4-BE49-F238E27FC236}">
                <a16:creationId xmlns:a16="http://schemas.microsoft.com/office/drawing/2014/main" id="{A7D6C696-49A7-065B-965B-6DEDAB3739DC}"/>
              </a:ext>
            </a:extLst>
          </p:cNvPr>
          <p:cNvSpPr>
            <a:spLocks/>
          </p:cNvSpPr>
          <p:nvPr/>
        </p:nvSpPr>
        <p:spPr bwMode="auto">
          <a:xfrm>
            <a:off x="6642100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80</a:t>
            </a:r>
          </a:p>
        </p:txBody>
      </p:sp>
      <p:sp>
        <p:nvSpPr>
          <p:cNvPr id="55324" name="Rectangle 71">
            <a:extLst>
              <a:ext uri="{FF2B5EF4-FFF2-40B4-BE49-F238E27FC236}">
                <a16:creationId xmlns:a16="http://schemas.microsoft.com/office/drawing/2014/main" id="{2E12B5DA-BB12-6C46-B715-3D05789CE265}"/>
              </a:ext>
            </a:extLst>
          </p:cNvPr>
          <p:cNvSpPr>
            <a:spLocks/>
          </p:cNvSpPr>
          <p:nvPr/>
        </p:nvSpPr>
        <p:spPr bwMode="auto">
          <a:xfrm>
            <a:off x="7400925" y="42243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5325" name="Rectangle 72">
            <a:extLst>
              <a:ext uri="{FF2B5EF4-FFF2-40B4-BE49-F238E27FC236}">
                <a16:creationId xmlns:a16="http://schemas.microsoft.com/office/drawing/2014/main" id="{5F68178E-F38E-42AF-04B6-510D043C0D87}"/>
              </a:ext>
            </a:extLst>
          </p:cNvPr>
          <p:cNvSpPr>
            <a:spLocks/>
          </p:cNvSpPr>
          <p:nvPr/>
        </p:nvSpPr>
        <p:spPr bwMode="auto">
          <a:xfrm>
            <a:off x="561975" y="4730750"/>
            <a:ext cx="7286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Firewall</a:t>
            </a:r>
          </a:p>
        </p:txBody>
      </p:sp>
      <p:sp>
        <p:nvSpPr>
          <p:cNvPr id="55326" name="Rectangle 73">
            <a:extLst>
              <a:ext uri="{FF2B5EF4-FFF2-40B4-BE49-F238E27FC236}">
                <a16:creationId xmlns:a16="http://schemas.microsoft.com/office/drawing/2014/main" id="{9E92E251-799F-31D5-52DE-6E88A928E683}"/>
              </a:ext>
            </a:extLst>
          </p:cNvPr>
          <p:cNvSpPr>
            <a:spLocks/>
          </p:cNvSpPr>
          <p:nvPr/>
        </p:nvSpPr>
        <p:spPr bwMode="auto">
          <a:xfrm>
            <a:off x="685800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5327" name="Group 74">
            <a:extLst>
              <a:ext uri="{FF2B5EF4-FFF2-40B4-BE49-F238E27FC236}">
                <a16:creationId xmlns:a16="http://schemas.microsoft.com/office/drawing/2014/main" id="{AD8E8E42-586B-4D8C-8769-8F7A723503D7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5272088"/>
            <a:ext cx="7483475" cy="571500"/>
            <a:chOff x="0" y="0"/>
            <a:chExt cx="6704" cy="512"/>
          </a:xfrm>
        </p:grpSpPr>
        <p:sp>
          <p:nvSpPr>
            <p:cNvPr id="55339" name="Rectangle 75">
              <a:extLst>
                <a:ext uri="{FF2B5EF4-FFF2-40B4-BE49-F238E27FC236}">
                  <a16:creationId xmlns:a16="http://schemas.microsoft.com/office/drawing/2014/main" id="{D4583CF4-0AB4-AC99-D761-3CDF0AD26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0" name="Rectangle 76">
              <a:extLst>
                <a:ext uri="{FF2B5EF4-FFF2-40B4-BE49-F238E27FC236}">
                  <a16:creationId xmlns:a16="http://schemas.microsoft.com/office/drawing/2014/main" id="{0810C583-3FFA-DD12-96BD-44EB39A19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5341" name="Rectangle 77">
              <a:extLst>
                <a:ext uri="{FF2B5EF4-FFF2-40B4-BE49-F238E27FC236}">
                  <a16:creationId xmlns:a16="http://schemas.microsoft.com/office/drawing/2014/main" id="{27227AC3-3FD4-ABBB-0EDA-021C46CFF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2" name="Rectangle 78">
              <a:extLst>
                <a:ext uri="{FF2B5EF4-FFF2-40B4-BE49-F238E27FC236}">
                  <a16:creationId xmlns:a16="http://schemas.microsoft.com/office/drawing/2014/main" id="{555A4350-CC5C-67AC-2C6E-C88566C4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43" name="Rectangle 79">
              <a:extLst>
                <a:ext uri="{FF2B5EF4-FFF2-40B4-BE49-F238E27FC236}">
                  <a16:creationId xmlns:a16="http://schemas.microsoft.com/office/drawing/2014/main" id="{301C410F-FE5D-B9AD-D58A-3C01416A5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4" name="Rectangle 80">
              <a:extLst>
                <a:ext uri="{FF2B5EF4-FFF2-40B4-BE49-F238E27FC236}">
                  <a16:creationId xmlns:a16="http://schemas.microsoft.com/office/drawing/2014/main" id="{01DDBCD8-C621-5839-B659-366AA6064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45" name="Rectangle 81">
              <a:extLst>
                <a:ext uri="{FF2B5EF4-FFF2-40B4-BE49-F238E27FC236}">
                  <a16:creationId xmlns:a16="http://schemas.microsoft.com/office/drawing/2014/main" id="{0311413B-EB11-B9D4-1D93-94586C2BA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6" name="Rectangle 82">
              <a:extLst>
                <a:ext uri="{FF2B5EF4-FFF2-40B4-BE49-F238E27FC236}">
                  <a16:creationId xmlns:a16="http://schemas.microsoft.com/office/drawing/2014/main" id="{7162D6D0-A956-8969-E603-C2BB0015A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5347" name="Rectangle 83">
              <a:extLst>
                <a:ext uri="{FF2B5EF4-FFF2-40B4-BE49-F238E27FC236}">
                  <a16:creationId xmlns:a16="http://schemas.microsoft.com/office/drawing/2014/main" id="{15D5D176-E21D-4209-993C-21979A660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48" name="Rectangle 84">
              <a:extLst>
                <a:ext uri="{FF2B5EF4-FFF2-40B4-BE49-F238E27FC236}">
                  <a16:creationId xmlns:a16="http://schemas.microsoft.com/office/drawing/2014/main" id="{6616D2B4-AFF9-E592-325D-D0A472B75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5349" name="Rectangle 85">
              <a:extLst>
                <a:ext uri="{FF2B5EF4-FFF2-40B4-BE49-F238E27FC236}">
                  <a16:creationId xmlns:a16="http://schemas.microsoft.com/office/drawing/2014/main" id="{A39C5D44-6046-B331-B855-65C6227D1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0" name="Rectangle 86">
              <a:extLst>
                <a:ext uri="{FF2B5EF4-FFF2-40B4-BE49-F238E27FC236}">
                  <a16:creationId xmlns:a16="http://schemas.microsoft.com/office/drawing/2014/main" id="{9639A36E-87A8-7E36-FA0C-5C60D4ACF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5351" name="Rectangle 87">
              <a:extLst>
                <a:ext uri="{FF2B5EF4-FFF2-40B4-BE49-F238E27FC236}">
                  <a16:creationId xmlns:a16="http://schemas.microsoft.com/office/drawing/2014/main" id="{96505C6B-0F0A-9680-E175-F07CA4792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2" name="Rectangle 88">
              <a:extLst>
                <a:ext uri="{FF2B5EF4-FFF2-40B4-BE49-F238E27FC236}">
                  <a16:creationId xmlns:a16="http://schemas.microsoft.com/office/drawing/2014/main" id="{F71F59BD-FD54-7ACE-61C6-683977CF0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5353" name="Rectangle 89">
              <a:extLst>
                <a:ext uri="{FF2B5EF4-FFF2-40B4-BE49-F238E27FC236}">
                  <a16:creationId xmlns:a16="http://schemas.microsoft.com/office/drawing/2014/main" id="{80596C5D-3EA2-0135-D1A3-D6A3F6A93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4" name="Rectangle 90">
              <a:extLst>
                <a:ext uri="{FF2B5EF4-FFF2-40B4-BE49-F238E27FC236}">
                  <a16:creationId xmlns:a16="http://schemas.microsoft.com/office/drawing/2014/main" id="{27C11257-B708-803D-9833-C13570FB1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5355" name="Rectangle 91">
              <a:extLst>
                <a:ext uri="{FF2B5EF4-FFF2-40B4-BE49-F238E27FC236}">
                  <a16:creationId xmlns:a16="http://schemas.microsoft.com/office/drawing/2014/main" id="{00B30B0A-1A05-299E-161F-F055BE5A4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6" name="Rectangle 92">
              <a:extLst>
                <a:ext uri="{FF2B5EF4-FFF2-40B4-BE49-F238E27FC236}">
                  <a16:creationId xmlns:a16="http://schemas.microsoft.com/office/drawing/2014/main" id="{C17917C1-8DD2-23DF-6DDF-0F95F9797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5357" name="Rectangle 93">
              <a:extLst>
                <a:ext uri="{FF2B5EF4-FFF2-40B4-BE49-F238E27FC236}">
                  <a16:creationId xmlns:a16="http://schemas.microsoft.com/office/drawing/2014/main" id="{63104B61-7FA3-1054-6489-180E64413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58" name="Rectangle 94">
              <a:extLst>
                <a:ext uri="{FF2B5EF4-FFF2-40B4-BE49-F238E27FC236}">
                  <a16:creationId xmlns:a16="http://schemas.microsoft.com/office/drawing/2014/main" id="{F797DA23-FB0E-752E-BDB9-CFDD34E64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5359" name="Rectangle 95">
              <a:extLst>
                <a:ext uri="{FF2B5EF4-FFF2-40B4-BE49-F238E27FC236}">
                  <a16:creationId xmlns:a16="http://schemas.microsoft.com/office/drawing/2014/main" id="{9E04A318-CCB3-B4D9-6358-0A8F7639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5360" name="Rectangle 96">
              <a:extLst>
                <a:ext uri="{FF2B5EF4-FFF2-40B4-BE49-F238E27FC236}">
                  <a16:creationId xmlns:a16="http://schemas.microsoft.com/office/drawing/2014/main" id="{A34AE18B-1669-0A75-5638-7F81D5382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5328" name="Rectangle 97">
            <a:extLst>
              <a:ext uri="{FF2B5EF4-FFF2-40B4-BE49-F238E27FC236}">
                <a16:creationId xmlns:a16="http://schemas.microsoft.com/office/drawing/2014/main" id="{7C83C7AC-9092-B76B-DC6C-C0A42B1E6545}"/>
              </a:ext>
            </a:extLst>
          </p:cNvPr>
          <p:cNvSpPr>
            <a:spLocks/>
          </p:cNvSpPr>
          <p:nvPr/>
        </p:nvSpPr>
        <p:spPr bwMode="auto">
          <a:xfrm>
            <a:off x="1346200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29" name="Rectangle 98">
            <a:extLst>
              <a:ext uri="{FF2B5EF4-FFF2-40B4-BE49-F238E27FC236}">
                <a16:creationId xmlns:a16="http://schemas.microsoft.com/office/drawing/2014/main" id="{83801879-684C-AC6B-DF33-381CC1735C5B}"/>
              </a:ext>
            </a:extLst>
          </p:cNvPr>
          <p:cNvSpPr>
            <a:spLocks/>
          </p:cNvSpPr>
          <p:nvPr/>
        </p:nvSpPr>
        <p:spPr bwMode="auto">
          <a:xfrm>
            <a:off x="1774825" y="5938838"/>
            <a:ext cx="1133475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0" name="Rectangle 99">
            <a:extLst>
              <a:ext uri="{FF2B5EF4-FFF2-40B4-BE49-F238E27FC236}">
                <a16:creationId xmlns:a16="http://schemas.microsoft.com/office/drawing/2014/main" id="{5E3B0C2C-17C8-3E74-11AA-1E0BF59D0B80}"/>
              </a:ext>
            </a:extLst>
          </p:cNvPr>
          <p:cNvSpPr>
            <a:spLocks/>
          </p:cNvSpPr>
          <p:nvPr/>
        </p:nvSpPr>
        <p:spPr bwMode="auto">
          <a:xfrm>
            <a:off x="2667000" y="5938838"/>
            <a:ext cx="661988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1" name="Rectangle 100">
            <a:extLst>
              <a:ext uri="{FF2B5EF4-FFF2-40B4-BE49-F238E27FC236}">
                <a16:creationId xmlns:a16="http://schemas.microsoft.com/office/drawing/2014/main" id="{4B2BA9F2-61B4-3ED8-F0FC-A8452D05A521}"/>
              </a:ext>
            </a:extLst>
          </p:cNvPr>
          <p:cNvSpPr>
            <a:spLocks/>
          </p:cNvSpPr>
          <p:nvPr/>
        </p:nvSpPr>
        <p:spPr bwMode="auto">
          <a:xfrm>
            <a:off x="3328988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2" name="Rectangle 101">
            <a:extLst>
              <a:ext uri="{FF2B5EF4-FFF2-40B4-BE49-F238E27FC236}">
                <a16:creationId xmlns:a16="http://schemas.microsoft.com/office/drawing/2014/main" id="{4F8E3E56-7936-1C9C-D8DF-9BEC1D4860D2}"/>
              </a:ext>
            </a:extLst>
          </p:cNvPr>
          <p:cNvSpPr>
            <a:spLocks/>
          </p:cNvSpPr>
          <p:nvPr/>
        </p:nvSpPr>
        <p:spPr bwMode="auto">
          <a:xfrm>
            <a:off x="3989388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3" name="Rectangle 102">
            <a:extLst>
              <a:ext uri="{FF2B5EF4-FFF2-40B4-BE49-F238E27FC236}">
                <a16:creationId xmlns:a16="http://schemas.microsoft.com/office/drawing/2014/main" id="{018BF5FE-578D-9823-DB6B-8E7667EB8E3C}"/>
              </a:ext>
            </a:extLst>
          </p:cNvPr>
          <p:cNvSpPr>
            <a:spLocks/>
          </p:cNvSpPr>
          <p:nvPr/>
        </p:nvSpPr>
        <p:spPr bwMode="auto">
          <a:xfrm>
            <a:off x="4649788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4" name="Rectangle 103">
            <a:extLst>
              <a:ext uri="{FF2B5EF4-FFF2-40B4-BE49-F238E27FC236}">
                <a16:creationId xmlns:a16="http://schemas.microsoft.com/office/drawing/2014/main" id="{51F56219-003D-AB09-A8D9-343BDD75F86E}"/>
              </a:ext>
            </a:extLst>
          </p:cNvPr>
          <p:cNvSpPr>
            <a:spLocks/>
          </p:cNvSpPr>
          <p:nvPr/>
        </p:nvSpPr>
        <p:spPr bwMode="auto">
          <a:xfrm>
            <a:off x="5319713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5" name="Rectangle 104">
            <a:extLst>
              <a:ext uri="{FF2B5EF4-FFF2-40B4-BE49-F238E27FC236}">
                <a16:creationId xmlns:a16="http://schemas.microsoft.com/office/drawing/2014/main" id="{BBE70EF7-6BEB-61C8-78AF-A5D8F2E20865}"/>
              </a:ext>
            </a:extLst>
          </p:cNvPr>
          <p:cNvSpPr>
            <a:spLocks/>
          </p:cNvSpPr>
          <p:nvPr/>
        </p:nvSpPr>
        <p:spPr bwMode="auto">
          <a:xfrm>
            <a:off x="5980113" y="5938838"/>
            <a:ext cx="6619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5336" name="Rectangle 105">
            <a:extLst>
              <a:ext uri="{FF2B5EF4-FFF2-40B4-BE49-F238E27FC236}">
                <a16:creationId xmlns:a16="http://schemas.microsoft.com/office/drawing/2014/main" id="{A0FF216C-3F45-79EB-42B6-8F6D02FBFC7B}"/>
              </a:ext>
            </a:extLst>
          </p:cNvPr>
          <p:cNvSpPr>
            <a:spLocks/>
          </p:cNvSpPr>
          <p:nvPr/>
        </p:nvSpPr>
        <p:spPr bwMode="auto">
          <a:xfrm>
            <a:off x="6642100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22</a:t>
            </a:r>
          </a:p>
        </p:txBody>
      </p:sp>
      <p:sp>
        <p:nvSpPr>
          <p:cNvPr id="55337" name="Rectangle 106">
            <a:extLst>
              <a:ext uri="{FF2B5EF4-FFF2-40B4-BE49-F238E27FC236}">
                <a16:creationId xmlns:a16="http://schemas.microsoft.com/office/drawing/2014/main" id="{FAD9F887-0759-3EEE-A787-C508395A9111}"/>
              </a:ext>
            </a:extLst>
          </p:cNvPr>
          <p:cNvSpPr>
            <a:spLocks/>
          </p:cNvSpPr>
          <p:nvPr/>
        </p:nvSpPr>
        <p:spPr bwMode="auto">
          <a:xfrm>
            <a:off x="7400925" y="5938838"/>
            <a:ext cx="660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drop</a:t>
            </a:r>
          </a:p>
        </p:txBody>
      </p:sp>
      <p:sp>
        <p:nvSpPr>
          <p:cNvPr id="55338" name="Slide Number Placeholder 107">
            <a:extLst>
              <a:ext uri="{FF2B5EF4-FFF2-40B4-BE49-F238E27FC236}">
                <a16:creationId xmlns:a16="http://schemas.microsoft.com/office/drawing/2014/main" id="{831A1CBB-5B83-2A7E-7F68-8F7BCA87D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4A52AB-E304-4750-B821-34A694D6BAA7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>
            <a:extLst>
              <a:ext uri="{FF2B5EF4-FFF2-40B4-BE49-F238E27FC236}">
                <a16:creationId xmlns:a16="http://schemas.microsoft.com/office/drawing/2014/main" id="{9778C1EA-0A26-0DE2-D0C8-7B75B747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900"/>
              <a:t>Examples</a:t>
            </a: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D1BCB11-62F6-5075-2811-DCB1EC506456}"/>
              </a:ext>
            </a:extLst>
          </p:cNvPr>
          <p:cNvSpPr>
            <a:spLocks/>
          </p:cNvSpPr>
          <p:nvPr/>
        </p:nvSpPr>
        <p:spPr bwMode="auto">
          <a:xfrm>
            <a:off x="563563" y="1346200"/>
            <a:ext cx="7223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Routing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9ECD94B-7B02-4A34-FD3D-59CA83E009ED}"/>
              </a:ext>
            </a:extLst>
          </p:cNvPr>
          <p:cNvSpPr>
            <a:spLocks/>
          </p:cNvSpPr>
          <p:nvPr/>
        </p:nvSpPr>
        <p:spPr bwMode="auto">
          <a:xfrm>
            <a:off x="6858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7349" name="Group 4">
            <a:extLst>
              <a:ext uri="{FF2B5EF4-FFF2-40B4-BE49-F238E27FC236}">
                <a16:creationId xmlns:a16="http://schemas.microsoft.com/office/drawing/2014/main" id="{8ED398A8-7763-5593-7649-48D98920C32B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1878013"/>
            <a:ext cx="7483475" cy="571500"/>
            <a:chOff x="0" y="0"/>
            <a:chExt cx="6704" cy="512"/>
          </a:xfrm>
        </p:grpSpPr>
        <p:sp>
          <p:nvSpPr>
            <p:cNvPr id="57396" name="Rectangle 5">
              <a:extLst>
                <a:ext uri="{FF2B5EF4-FFF2-40B4-BE49-F238E27FC236}">
                  <a16:creationId xmlns:a16="http://schemas.microsoft.com/office/drawing/2014/main" id="{E8BF3673-5CE9-258A-81CF-41A33F361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7" name="Rectangle 6">
              <a:extLst>
                <a:ext uri="{FF2B5EF4-FFF2-40B4-BE49-F238E27FC236}">
                  <a16:creationId xmlns:a16="http://schemas.microsoft.com/office/drawing/2014/main" id="{7884FB1A-EAF4-A9F2-5770-5192B9D6C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7398" name="Rectangle 7">
              <a:extLst>
                <a:ext uri="{FF2B5EF4-FFF2-40B4-BE49-F238E27FC236}">
                  <a16:creationId xmlns:a16="http://schemas.microsoft.com/office/drawing/2014/main" id="{D4DCD202-B800-09E2-DEEB-B489DF90A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9" name="Rectangle 8">
              <a:extLst>
                <a:ext uri="{FF2B5EF4-FFF2-40B4-BE49-F238E27FC236}">
                  <a16:creationId xmlns:a16="http://schemas.microsoft.com/office/drawing/2014/main" id="{79EDB99A-B353-F672-9A9E-AAEED264D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400" name="Rectangle 9">
              <a:extLst>
                <a:ext uri="{FF2B5EF4-FFF2-40B4-BE49-F238E27FC236}">
                  <a16:creationId xmlns:a16="http://schemas.microsoft.com/office/drawing/2014/main" id="{C5064594-EEDA-6AA3-F717-D1C1192E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1" name="Rectangle 10">
              <a:extLst>
                <a:ext uri="{FF2B5EF4-FFF2-40B4-BE49-F238E27FC236}">
                  <a16:creationId xmlns:a16="http://schemas.microsoft.com/office/drawing/2014/main" id="{ABA29A16-BC41-85E6-7888-00E805614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402" name="Rectangle 11">
              <a:extLst>
                <a:ext uri="{FF2B5EF4-FFF2-40B4-BE49-F238E27FC236}">
                  <a16:creationId xmlns:a16="http://schemas.microsoft.com/office/drawing/2014/main" id="{AFD68124-218D-A0CB-5D2C-D3EB0E134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3" name="Rectangle 12">
              <a:extLst>
                <a:ext uri="{FF2B5EF4-FFF2-40B4-BE49-F238E27FC236}">
                  <a16:creationId xmlns:a16="http://schemas.microsoft.com/office/drawing/2014/main" id="{28AE56E5-126E-2F0A-07F7-39FA441C5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7404" name="Rectangle 13">
              <a:extLst>
                <a:ext uri="{FF2B5EF4-FFF2-40B4-BE49-F238E27FC236}">
                  <a16:creationId xmlns:a16="http://schemas.microsoft.com/office/drawing/2014/main" id="{1ABF9AB6-E0AF-90CE-5436-9AC9D6A8A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5" name="Rectangle 14">
              <a:extLst>
                <a:ext uri="{FF2B5EF4-FFF2-40B4-BE49-F238E27FC236}">
                  <a16:creationId xmlns:a16="http://schemas.microsoft.com/office/drawing/2014/main" id="{62C82C0B-24D3-43F4-7949-C63C298B3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7406" name="Rectangle 15">
              <a:extLst>
                <a:ext uri="{FF2B5EF4-FFF2-40B4-BE49-F238E27FC236}">
                  <a16:creationId xmlns:a16="http://schemas.microsoft.com/office/drawing/2014/main" id="{BEB3DDF2-C4E4-314D-5276-69677FC84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7" name="Rectangle 16">
              <a:extLst>
                <a:ext uri="{FF2B5EF4-FFF2-40B4-BE49-F238E27FC236}">
                  <a16:creationId xmlns:a16="http://schemas.microsoft.com/office/drawing/2014/main" id="{237A6D8D-A493-8BCC-7198-0F9FD62DE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408" name="Rectangle 17">
              <a:extLst>
                <a:ext uri="{FF2B5EF4-FFF2-40B4-BE49-F238E27FC236}">
                  <a16:creationId xmlns:a16="http://schemas.microsoft.com/office/drawing/2014/main" id="{C0F62242-B2D0-9162-FFCE-B66B3FC3F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09" name="Rectangle 18">
              <a:extLst>
                <a:ext uri="{FF2B5EF4-FFF2-40B4-BE49-F238E27FC236}">
                  <a16:creationId xmlns:a16="http://schemas.microsoft.com/office/drawing/2014/main" id="{0CE852BC-90BE-0468-4BB7-4D638D380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410" name="Rectangle 19">
              <a:extLst>
                <a:ext uri="{FF2B5EF4-FFF2-40B4-BE49-F238E27FC236}">
                  <a16:creationId xmlns:a16="http://schemas.microsoft.com/office/drawing/2014/main" id="{1EE96BC9-243C-EDEE-52DE-A0342B1DF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1" name="Rectangle 20">
              <a:extLst>
                <a:ext uri="{FF2B5EF4-FFF2-40B4-BE49-F238E27FC236}">
                  <a16:creationId xmlns:a16="http://schemas.microsoft.com/office/drawing/2014/main" id="{22998CC8-057E-BD45-E9F9-E71682C0F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7412" name="Rectangle 21">
              <a:extLst>
                <a:ext uri="{FF2B5EF4-FFF2-40B4-BE49-F238E27FC236}">
                  <a16:creationId xmlns:a16="http://schemas.microsoft.com/office/drawing/2014/main" id="{CFB4E696-26A0-5CDB-C0EE-261CFFFFF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3" name="Rectangle 22">
              <a:extLst>
                <a:ext uri="{FF2B5EF4-FFF2-40B4-BE49-F238E27FC236}">
                  <a16:creationId xmlns:a16="http://schemas.microsoft.com/office/drawing/2014/main" id="{969EB696-AB05-1779-AF14-CA6E1E130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7414" name="Rectangle 23">
              <a:extLst>
                <a:ext uri="{FF2B5EF4-FFF2-40B4-BE49-F238E27FC236}">
                  <a16:creationId xmlns:a16="http://schemas.microsoft.com/office/drawing/2014/main" id="{5B531BEA-E21B-2BED-77D9-B58F6E5FD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5" name="Rectangle 24">
              <a:extLst>
                <a:ext uri="{FF2B5EF4-FFF2-40B4-BE49-F238E27FC236}">
                  <a16:creationId xmlns:a16="http://schemas.microsoft.com/office/drawing/2014/main" id="{3E55203A-B5B7-E9CF-32E2-C6347687C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7416" name="Rectangle 25">
              <a:extLst>
                <a:ext uri="{FF2B5EF4-FFF2-40B4-BE49-F238E27FC236}">
                  <a16:creationId xmlns:a16="http://schemas.microsoft.com/office/drawing/2014/main" id="{7E06E770-4FCF-5C40-3996-4C8F5B7CB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417" name="Rectangle 26">
              <a:extLst>
                <a:ext uri="{FF2B5EF4-FFF2-40B4-BE49-F238E27FC236}">
                  <a16:creationId xmlns:a16="http://schemas.microsoft.com/office/drawing/2014/main" id="{1789707D-D743-E9BD-5F3E-F9918A58D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7350" name="Rectangle 27">
            <a:extLst>
              <a:ext uri="{FF2B5EF4-FFF2-40B4-BE49-F238E27FC236}">
                <a16:creationId xmlns:a16="http://schemas.microsoft.com/office/drawing/2014/main" id="{5AE34057-AE21-24AF-671A-B08E4D2F7E45}"/>
              </a:ext>
            </a:extLst>
          </p:cNvPr>
          <p:cNvSpPr>
            <a:spLocks/>
          </p:cNvSpPr>
          <p:nvPr/>
        </p:nvSpPr>
        <p:spPr bwMode="auto">
          <a:xfrm>
            <a:off x="13462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1" name="Rectangle 28">
            <a:extLst>
              <a:ext uri="{FF2B5EF4-FFF2-40B4-BE49-F238E27FC236}">
                <a16:creationId xmlns:a16="http://schemas.microsoft.com/office/drawing/2014/main" id="{06FD4900-A0B9-D812-6245-DB1E07EAE45E}"/>
              </a:ext>
            </a:extLst>
          </p:cNvPr>
          <p:cNvSpPr>
            <a:spLocks/>
          </p:cNvSpPr>
          <p:nvPr/>
        </p:nvSpPr>
        <p:spPr bwMode="auto">
          <a:xfrm>
            <a:off x="1774825" y="2546350"/>
            <a:ext cx="11334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2" name="Rectangle 29">
            <a:extLst>
              <a:ext uri="{FF2B5EF4-FFF2-40B4-BE49-F238E27FC236}">
                <a16:creationId xmlns:a16="http://schemas.microsoft.com/office/drawing/2014/main" id="{22B2796F-D70F-589E-C34F-ECA62119F24C}"/>
              </a:ext>
            </a:extLst>
          </p:cNvPr>
          <p:cNvSpPr>
            <a:spLocks/>
          </p:cNvSpPr>
          <p:nvPr/>
        </p:nvSpPr>
        <p:spPr bwMode="auto">
          <a:xfrm>
            <a:off x="2667000" y="2546350"/>
            <a:ext cx="6619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3" name="Rectangle 30">
            <a:extLst>
              <a:ext uri="{FF2B5EF4-FFF2-40B4-BE49-F238E27FC236}">
                <a16:creationId xmlns:a16="http://schemas.microsoft.com/office/drawing/2014/main" id="{1886A27C-3FDE-5BAF-A9B1-E71DCEC9D133}"/>
              </a:ext>
            </a:extLst>
          </p:cNvPr>
          <p:cNvSpPr>
            <a:spLocks/>
          </p:cNvSpPr>
          <p:nvPr/>
        </p:nvSpPr>
        <p:spPr bwMode="auto">
          <a:xfrm>
            <a:off x="33289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4" name="Rectangle 31">
            <a:extLst>
              <a:ext uri="{FF2B5EF4-FFF2-40B4-BE49-F238E27FC236}">
                <a16:creationId xmlns:a16="http://schemas.microsoft.com/office/drawing/2014/main" id="{FAD475A7-58AA-37A7-6D7A-F115F66D119A}"/>
              </a:ext>
            </a:extLst>
          </p:cNvPr>
          <p:cNvSpPr>
            <a:spLocks/>
          </p:cNvSpPr>
          <p:nvPr/>
        </p:nvSpPr>
        <p:spPr bwMode="auto">
          <a:xfrm>
            <a:off x="39893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5" name="Rectangle 32">
            <a:extLst>
              <a:ext uri="{FF2B5EF4-FFF2-40B4-BE49-F238E27FC236}">
                <a16:creationId xmlns:a16="http://schemas.microsoft.com/office/drawing/2014/main" id="{A4FF0632-32FE-7817-92F5-81D3FE491690}"/>
              </a:ext>
            </a:extLst>
          </p:cNvPr>
          <p:cNvSpPr>
            <a:spLocks/>
          </p:cNvSpPr>
          <p:nvPr/>
        </p:nvSpPr>
        <p:spPr bwMode="auto">
          <a:xfrm>
            <a:off x="4649788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5.6.7.8</a:t>
            </a:r>
          </a:p>
        </p:txBody>
      </p:sp>
      <p:sp>
        <p:nvSpPr>
          <p:cNvPr id="57356" name="Rectangle 33">
            <a:extLst>
              <a:ext uri="{FF2B5EF4-FFF2-40B4-BE49-F238E27FC236}">
                <a16:creationId xmlns:a16="http://schemas.microsoft.com/office/drawing/2014/main" id="{41C9419F-7927-8C56-7D2D-90A5C040385E}"/>
              </a:ext>
            </a:extLst>
          </p:cNvPr>
          <p:cNvSpPr>
            <a:spLocks/>
          </p:cNvSpPr>
          <p:nvPr/>
        </p:nvSpPr>
        <p:spPr bwMode="auto">
          <a:xfrm>
            <a:off x="5319713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7" name="Rectangle 34">
            <a:extLst>
              <a:ext uri="{FF2B5EF4-FFF2-40B4-BE49-F238E27FC236}">
                <a16:creationId xmlns:a16="http://schemas.microsoft.com/office/drawing/2014/main" id="{AB1B4CFB-F752-3DE3-B32D-9CF26CF742C6}"/>
              </a:ext>
            </a:extLst>
          </p:cNvPr>
          <p:cNvSpPr>
            <a:spLocks/>
          </p:cNvSpPr>
          <p:nvPr/>
        </p:nvSpPr>
        <p:spPr bwMode="auto">
          <a:xfrm>
            <a:off x="5980113" y="2546350"/>
            <a:ext cx="6619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8" name="Rectangle 35">
            <a:extLst>
              <a:ext uri="{FF2B5EF4-FFF2-40B4-BE49-F238E27FC236}">
                <a16:creationId xmlns:a16="http://schemas.microsoft.com/office/drawing/2014/main" id="{706C79BF-2D8B-8067-5D94-8B3E05E316DA}"/>
              </a:ext>
            </a:extLst>
          </p:cNvPr>
          <p:cNvSpPr>
            <a:spLocks/>
          </p:cNvSpPr>
          <p:nvPr/>
        </p:nvSpPr>
        <p:spPr bwMode="auto">
          <a:xfrm>
            <a:off x="6642100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59" name="Rectangle 36">
            <a:extLst>
              <a:ext uri="{FF2B5EF4-FFF2-40B4-BE49-F238E27FC236}">
                <a16:creationId xmlns:a16="http://schemas.microsoft.com/office/drawing/2014/main" id="{BF70EEF9-45DB-8031-B03E-021EC382AE45}"/>
              </a:ext>
            </a:extLst>
          </p:cNvPr>
          <p:cNvSpPr>
            <a:spLocks/>
          </p:cNvSpPr>
          <p:nvPr/>
        </p:nvSpPr>
        <p:spPr bwMode="auto">
          <a:xfrm>
            <a:off x="7400925" y="2546350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port6</a:t>
            </a:r>
          </a:p>
        </p:txBody>
      </p:sp>
      <p:sp>
        <p:nvSpPr>
          <p:cNvPr id="57360" name="Rectangle 37">
            <a:extLst>
              <a:ext uri="{FF2B5EF4-FFF2-40B4-BE49-F238E27FC236}">
                <a16:creationId xmlns:a16="http://schemas.microsoft.com/office/drawing/2014/main" id="{1E6715AC-686C-244A-A5AA-07D3D42392F6}"/>
              </a:ext>
            </a:extLst>
          </p:cNvPr>
          <p:cNvSpPr>
            <a:spLocks/>
          </p:cNvSpPr>
          <p:nvPr/>
        </p:nvSpPr>
        <p:spPr bwMode="auto">
          <a:xfrm>
            <a:off x="565150" y="3070225"/>
            <a:ext cx="145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rPr>
              <a:t>VLAN Switching</a:t>
            </a:r>
          </a:p>
        </p:txBody>
      </p:sp>
      <p:sp>
        <p:nvSpPr>
          <p:cNvPr id="57361" name="Rectangle 38">
            <a:extLst>
              <a:ext uri="{FF2B5EF4-FFF2-40B4-BE49-F238E27FC236}">
                <a16:creationId xmlns:a16="http://schemas.microsoft.com/office/drawing/2014/main" id="{BD2ED668-2311-A39B-3E82-305ADE3DA1C8}"/>
              </a:ext>
            </a:extLst>
          </p:cNvPr>
          <p:cNvSpPr>
            <a:spLocks/>
          </p:cNvSpPr>
          <p:nvPr/>
        </p:nvSpPr>
        <p:spPr bwMode="auto">
          <a:xfrm>
            <a:off x="685800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grpSp>
        <p:nvGrpSpPr>
          <p:cNvPr id="57362" name="Group 39">
            <a:extLst>
              <a:ext uri="{FF2B5EF4-FFF2-40B4-BE49-F238E27FC236}">
                <a16:creationId xmlns:a16="http://schemas.microsoft.com/office/drawing/2014/main" id="{CBBEA0F4-74B9-1C98-05D4-D62E6E869035}"/>
              </a:ext>
            </a:extLst>
          </p:cNvPr>
          <p:cNvGrpSpPr>
            <a:grpSpLocks/>
          </p:cNvGrpSpPr>
          <p:nvPr/>
        </p:nvGrpSpPr>
        <p:grpSpPr bwMode="auto">
          <a:xfrm>
            <a:off x="687388" y="3557588"/>
            <a:ext cx="7483475" cy="571500"/>
            <a:chOff x="0" y="0"/>
            <a:chExt cx="6704" cy="512"/>
          </a:xfrm>
        </p:grpSpPr>
        <p:sp>
          <p:nvSpPr>
            <p:cNvPr id="57374" name="Rectangle 40">
              <a:extLst>
                <a:ext uri="{FF2B5EF4-FFF2-40B4-BE49-F238E27FC236}">
                  <a16:creationId xmlns:a16="http://schemas.microsoft.com/office/drawing/2014/main" id="{C31ACF1E-E5F8-D96B-55EA-AEAF4979E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5" name="Rectangle 41">
              <a:extLst>
                <a:ext uri="{FF2B5EF4-FFF2-40B4-BE49-F238E27FC236}">
                  <a16:creationId xmlns:a16="http://schemas.microsoft.com/office/drawing/2014/main" id="{09C149A8-A3C8-F172-04F1-093FF68F5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Switch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Port</a:t>
              </a:r>
            </a:p>
          </p:txBody>
        </p:sp>
        <p:sp>
          <p:nvSpPr>
            <p:cNvPr id="57376" name="Rectangle 42">
              <a:extLst>
                <a:ext uri="{FF2B5EF4-FFF2-40B4-BE49-F238E27FC236}">
                  <a16:creationId xmlns:a16="http://schemas.microsoft.com/office/drawing/2014/main" id="{A4BC224C-471D-9022-7652-F50F87421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7" name="Rectangle 43">
              <a:extLst>
                <a:ext uri="{FF2B5EF4-FFF2-40B4-BE49-F238E27FC236}">
                  <a16:creationId xmlns:a16="http://schemas.microsoft.com/office/drawing/2014/main" id="{979861D7-F03E-429A-0EB5-3181F1094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378" name="Rectangle 44">
              <a:extLst>
                <a:ext uri="{FF2B5EF4-FFF2-40B4-BE49-F238E27FC236}">
                  <a16:creationId xmlns:a16="http://schemas.microsoft.com/office/drawing/2014/main" id="{C5A988B4-27E7-7A39-3717-2AC437B71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79" name="Rectangle 45">
              <a:extLst>
                <a:ext uri="{FF2B5EF4-FFF2-40B4-BE49-F238E27FC236}">
                  <a16:creationId xmlns:a16="http://schemas.microsoft.com/office/drawing/2014/main" id="{3FF820F1-E9BF-9904-6CB4-BD3BCAE2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MAC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380" name="Rectangle 46">
              <a:extLst>
                <a:ext uri="{FF2B5EF4-FFF2-40B4-BE49-F238E27FC236}">
                  <a16:creationId xmlns:a16="http://schemas.microsoft.com/office/drawing/2014/main" id="{06E7E1E7-DA85-0204-4C4D-497E7D063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1" name="Rectangle 47">
              <a:extLst>
                <a:ext uri="{FF2B5EF4-FFF2-40B4-BE49-F238E27FC236}">
                  <a16:creationId xmlns:a16="http://schemas.microsoft.com/office/drawing/2014/main" id="{B3B49AAE-EB36-9B28-F546-22736724D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Eth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type</a:t>
              </a:r>
            </a:p>
          </p:txBody>
        </p:sp>
        <p:sp>
          <p:nvSpPr>
            <p:cNvPr id="57382" name="Rectangle 48">
              <a:extLst>
                <a:ext uri="{FF2B5EF4-FFF2-40B4-BE49-F238E27FC236}">
                  <a16:creationId xmlns:a16="http://schemas.microsoft.com/office/drawing/2014/main" id="{4F63FC58-3861-3312-CDB4-14A969F54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3" name="Rectangle 49">
              <a:extLst>
                <a:ext uri="{FF2B5EF4-FFF2-40B4-BE49-F238E27FC236}">
                  <a16:creationId xmlns:a16="http://schemas.microsoft.com/office/drawing/2014/main" id="{544DF498-F4B7-186B-1A08-70CE15B68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VLAN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ID</a:t>
              </a:r>
            </a:p>
          </p:txBody>
        </p:sp>
        <p:sp>
          <p:nvSpPr>
            <p:cNvPr id="57384" name="Rectangle 50">
              <a:extLst>
                <a:ext uri="{FF2B5EF4-FFF2-40B4-BE49-F238E27FC236}">
                  <a16:creationId xmlns:a16="http://schemas.microsoft.com/office/drawing/2014/main" id="{A36F6604-5FB8-0528-9F88-AC6E16C4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5" name="Rectangle 51">
              <a:extLst>
                <a:ext uri="{FF2B5EF4-FFF2-40B4-BE49-F238E27FC236}">
                  <a16:creationId xmlns:a16="http://schemas.microsoft.com/office/drawing/2014/main" id="{6AFB71EC-87EE-7684-1A22-3C6CFA48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Src</a:t>
              </a:r>
            </a:p>
          </p:txBody>
        </p:sp>
        <p:sp>
          <p:nvSpPr>
            <p:cNvPr id="57386" name="Rectangle 52">
              <a:extLst>
                <a:ext uri="{FF2B5EF4-FFF2-40B4-BE49-F238E27FC236}">
                  <a16:creationId xmlns:a16="http://schemas.microsoft.com/office/drawing/2014/main" id="{0044D8CD-1D48-6480-B80F-2A3764C6A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7" name="Rectangle 53">
              <a:extLst>
                <a:ext uri="{FF2B5EF4-FFF2-40B4-BE49-F238E27FC236}">
                  <a16:creationId xmlns:a16="http://schemas.microsoft.com/office/drawing/2014/main" id="{29009B9F-A029-09D9-F4EC-9AB20549D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Dst</a:t>
              </a:r>
            </a:p>
          </p:txBody>
        </p:sp>
        <p:sp>
          <p:nvSpPr>
            <p:cNvPr id="57388" name="Rectangle 54">
              <a:extLst>
                <a:ext uri="{FF2B5EF4-FFF2-40B4-BE49-F238E27FC236}">
                  <a16:creationId xmlns:a16="http://schemas.microsoft.com/office/drawing/2014/main" id="{8CF0DB95-1495-8C34-AF9F-8A280B5F9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89" name="Rectangle 55">
              <a:extLst>
                <a:ext uri="{FF2B5EF4-FFF2-40B4-BE49-F238E27FC236}">
                  <a16:creationId xmlns:a16="http://schemas.microsoft.com/office/drawing/2014/main" id="{5640F158-96C0-41F2-0985-34833836C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IP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Prot</a:t>
              </a:r>
            </a:p>
          </p:txBody>
        </p:sp>
        <p:sp>
          <p:nvSpPr>
            <p:cNvPr id="57390" name="Rectangle 56">
              <a:extLst>
                <a:ext uri="{FF2B5EF4-FFF2-40B4-BE49-F238E27FC236}">
                  <a16:creationId xmlns:a16="http://schemas.microsoft.com/office/drawing/2014/main" id="{F8649AA9-F211-8B89-29CA-707469324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1" name="Rectangle 57">
              <a:extLst>
                <a:ext uri="{FF2B5EF4-FFF2-40B4-BE49-F238E27FC236}">
                  <a16:creationId xmlns:a16="http://schemas.microsoft.com/office/drawing/2014/main" id="{81B21414-BEED-0505-C319-D31B3DA52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sport</a:t>
              </a:r>
            </a:p>
          </p:txBody>
        </p:sp>
        <p:sp>
          <p:nvSpPr>
            <p:cNvPr id="57392" name="Rectangle 58">
              <a:extLst>
                <a:ext uri="{FF2B5EF4-FFF2-40B4-BE49-F238E27FC236}">
                  <a16:creationId xmlns:a16="http://schemas.microsoft.com/office/drawing/2014/main" id="{BF52338E-9C69-2689-66A7-84242E16C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3" name="Rectangle 59">
              <a:extLst>
                <a:ext uri="{FF2B5EF4-FFF2-40B4-BE49-F238E27FC236}">
                  <a16:creationId xmlns:a16="http://schemas.microsoft.com/office/drawing/2014/main" id="{F80D6D3A-719B-618B-AC2B-B2F5A14C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TCP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dport</a:t>
              </a:r>
            </a:p>
          </p:txBody>
        </p:sp>
        <p:sp>
          <p:nvSpPr>
            <p:cNvPr id="57394" name="Rectangle 60">
              <a:extLst>
                <a:ext uri="{FF2B5EF4-FFF2-40B4-BE49-F238E27FC236}">
                  <a16:creationId xmlns:a16="http://schemas.microsoft.com/office/drawing/2014/main" id="{9138CF3A-42A1-1D52-4B96-EF0297F23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7395" name="Rectangle 61">
              <a:extLst>
                <a:ext uri="{FF2B5EF4-FFF2-40B4-BE49-F238E27FC236}">
                  <a16:creationId xmlns:a16="http://schemas.microsoft.com/office/drawing/2014/main" id="{C3609113-1206-2CD5-2CD6-1C23D1782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</a:rPr>
                <a:t>Action</a:t>
              </a:r>
            </a:p>
          </p:txBody>
        </p:sp>
      </p:grpSp>
      <p:sp>
        <p:nvSpPr>
          <p:cNvPr id="57363" name="Rectangle 62">
            <a:extLst>
              <a:ext uri="{FF2B5EF4-FFF2-40B4-BE49-F238E27FC236}">
                <a16:creationId xmlns:a16="http://schemas.microsoft.com/office/drawing/2014/main" id="{4CBF524C-0C31-A52B-D9E9-9D05EBB3DA50}"/>
              </a:ext>
            </a:extLst>
          </p:cNvPr>
          <p:cNvSpPr>
            <a:spLocks/>
          </p:cNvSpPr>
          <p:nvPr/>
        </p:nvSpPr>
        <p:spPr bwMode="auto">
          <a:xfrm>
            <a:off x="1346200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4" name="Rectangle 64">
            <a:extLst>
              <a:ext uri="{FF2B5EF4-FFF2-40B4-BE49-F238E27FC236}">
                <a16:creationId xmlns:a16="http://schemas.microsoft.com/office/drawing/2014/main" id="{F0E4A0D2-0729-B7E1-EC1A-B840C2C864F0}"/>
              </a:ext>
            </a:extLst>
          </p:cNvPr>
          <p:cNvSpPr>
            <a:spLocks/>
          </p:cNvSpPr>
          <p:nvPr/>
        </p:nvSpPr>
        <p:spPr bwMode="auto">
          <a:xfrm>
            <a:off x="2667000" y="4386263"/>
            <a:ext cx="66198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5" name="Rectangle 65">
            <a:extLst>
              <a:ext uri="{FF2B5EF4-FFF2-40B4-BE49-F238E27FC236}">
                <a16:creationId xmlns:a16="http://schemas.microsoft.com/office/drawing/2014/main" id="{90C02707-CE15-34C9-C3FE-AEC2BD1AA5A9}"/>
              </a:ext>
            </a:extLst>
          </p:cNvPr>
          <p:cNvSpPr>
            <a:spLocks/>
          </p:cNvSpPr>
          <p:nvPr/>
        </p:nvSpPr>
        <p:spPr bwMode="auto">
          <a:xfrm>
            <a:off x="3311525" y="434181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vlan1</a:t>
            </a:r>
          </a:p>
        </p:txBody>
      </p:sp>
      <p:sp>
        <p:nvSpPr>
          <p:cNvPr id="57366" name="Rectangle 66">
            <a:extLst>
              <a:ext uri="{FF2B5EF4-FFF2-40B4-BE49-F238E27FC236}">
                <a16:creationId xmlns:a16="http://schemas.microsoft.com/office/drawing/2014/main" id="{A8B9A18B-C502-97D0-3F00-469721C2E1F6}"/>
              </a:ext>
            </a:extLst>
          </p:cNvPr>
          <p:cNvSpPr>
            <a:spLocks/>
          </p:cNvSpPr>
          <p:nvPr/>
        </p:nvSpPr>
        <p:spPr bwMode="auto">
          <a:xfrm>
            <a:off x="3989388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7" name="Rectangle 67">
            <a:extLst>
              <a:ext uri="{FF2B5EF4-FFF2-40B4-BE49-F238E27FC236}">
                <a16:creationId xmlns:a16="http://schemas.microsoft.com/office/drawing/2014/main" id="{77527281-9349-9A66-57B5-20F49333BA56}"/>
              </a:ext>
            </a:extLst>
          </p:cNvPr>
          <p:cNvSpPr>
            <a:spLocks/>
          </p:cNvSpPr>
          <p:nvPr/>
        </p:nvSpPr>
        <p:spPr bwMode="auto">
          <a:xfrm>
            <a:off x="4686300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8" name="Rectangle 68">
            <a:extLst>
              <a:ext uri="{FF2B5EF4-FFF2-40B4-BE49-F238E27FC236}">
                <a16:creationId xmlns:a16="http://schemas.microsoft.com/office/drawing/2014/main" id="{C02A9AA9-FC7D-7F5E-231D-4CD2439A969C}"/>
              </a:ext>
            </a:extLst>
          </p:cNvPr>
          <p:cNvSpPr>
            <a:spLocks/>
          </p:cNvSpPr>
          <p:nvPr/>
        </p:nvSpPr>
        <p:spPr bwMode="auto">
          <a:xfrm>
            <a:off x="5319713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69" name="Rectangle 69">
            <a:extLst>
              <a:ext uri="{FF2B5EF4-FFF2-40B4-BE49-F238E27FC236}">
                <a16:creationId xmlns:a16="http://schemas.microsoft.com/office/drawing/2014/main" id="{540B3885-8106-ADB9-D663-AEDF75CFFC55}"/>
              </a:ext>
            </a:extLst>
          </p:cNvPr>
          <p:cNvSpPr>
            <a:spLocks/>
          </p:cNvSpPr>
          <p:nvPr/>
        </p:nvSpPr>
        <p:spPr bwMode="auto">
          <a:xfrm>
            <a:off x="5980113" y="4386263"/>
            <a:ext cx="6619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70" name="Rectangle 70">
            <a:extLst>
              <a:ext uri="{FF2B5EF4-FFF2-40B4-BE49-F238E27FC236}">
                <a16:creationId xmlns:a16="http://schemas.microsoft.com/office/drawing/2014/main" id="{A24DC035-56F3-FE1A-AED8-7618677428A3}"/>
              </a:ext>
            </a:extLst>
          </p:cNvPr>
          <p:cNvSpPr>
            <a:spLocks/>
          </p:cNvSpPr>
          <p:nvPr/>
        </p:nvSpPr>
        <p:spPr bwMode="auto">
          <a:xfrm>
            <a:off x="6642100" y="4386263"/>
            <a:ext cx="660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*</a:t>
            </a:r>
          </a:p>
        </p:txBody>
      </p:sp>
      <p:sp>
        <p:nvSpPr>
          <p:cNvPr id="57371" name="Rectangle 71">
            <a:extLst>
              <a:ext uri="{FF2B5EF4-FFF2-40B4-BE49-F238E27FC236}">
                <a16:creationId xmlns:a16="http://schemas.microsoft.com/office/drawing/2014/main" id="{275F4A2C-49C3-F511-8F83-2E374B2260B5}"/>
              </a:ext>
            </a:extLst>
          </p:cNvPr>
          <p:cNvSpPr>
            <a:spLocks/>
          </p:cNvSpPr>
          <p:nvPr/>
        </p:nvSpPr>
        <p:spPr bwMode="auto">
          <a:xfrm>
            <a:off x="7400925" y="4191000"/>
            <a:ext cx="660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port6,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port7,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port9</a:t>
            </a:r>
          </a:p>
        </p:txBody>
      </p:sp>
      <p:sp>
        <p:nvSpPr>
          <p:cNvPr id="57372" name="Rectangle 63">
            <a:extLst>
              <a:ext uri="{FF2B5EF4-FFF2-40B4-BE49-F238E27FC236}">
                <a16:creationId xmlns:a16="http://schemas.microsoft.com/office/drawing/2014/main" id="{6706F190-A237-409F-EEA0-B360F847EF64}"/>
              </a:ext>
            </a:extLst>
          </p:cNvPr>
          <p:cNvSpPr>
            <a:spLocks/>
          </p:cNvSpPr>
          <p:nvPr/>
        </p:nvSpPr>
        <p:spPr bwMode="auto">
          <a:xfrm>
            <a:off x="1939925" y="4351338"/>
            <a:ext cx="8683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</a:rPr>
              <a:t>00:1f..</a:t>
            </a:r>
          </a:p>
        </p:txBody>
      </p:sp>
      <p:sp>
        <p:nvSpPr>
          <p:cNvPr id="57373" name="Slide Number Placeholder 73">
            <a:extLst>
              <a:ext uri="{FF2B5EF4-FFF2-40B4-BE49-F238E27FC236}">
                <a16:creationId xmlns:a16="http://schemas.microsoft.com/office/drawing/2014/main" id="{A3299733-B828-941A-AD9E-413023732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D23160-806C-4620-809C-E8533E35BA54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">
            <a:extLst>
              <a:ext uri="{FF2B5EF4-FFF2-40B4-BE49-F238E27FC236}">
                <a16:creationId xmlns:a16="http://schemas.microsoft.com/office/drawing/2014/main" id="{3BB6055B-5F72-D8E0-8BFC-956D6DC6AC0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94463"/>
            <a:ext cx="3905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Rectangle 2">
            <a:extLst>
              <a:ext uri="{FF2B5EF4-FFF2-40B4-BE49-F238E27FC236}">
                <a16:creationId xmlns:a16="http://schemas.microsoft.com/office/drawing/2014/main" id="{EDB83300-87BB-D052-D074-3DF020A68EAA}"/>
              </a:ext>
            </a:extLst>
          </p:cNvPr>
          <p:cNvSpPr>
            <a:spLocks/>
          </p:cNvSpPr>
          <p:nvPr/>
        </p:nvSpPr>
        <p:spPr bwMode="auto">
          <a:xfrm>
            <a:off x="381000" y="6477000"/>
            <a:ext cx="2190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OpenFlowSwitch.org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FDBF21E-25B5-AD8E-26BC-BCF31770C64D}"/>
              </a:ext>
            </a:extLst>
          </p:cNvPr>
          <p:cNvSpPr>
            <a:spLocks/>
          </p:cNvSpPr>
          <p:nvPr/>
        </p:nvSpPr>
        <p:spPr bwMode="auto">
          <a:xfrm>
            <a:off x="0" y="6172200"/>
            <a:ext cx="3505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800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pic>
        <p:nvPicPr>
          <p:cNvPr id="59397" name="Picture 4">
            <a:extLst>
              <a:ext uri="{FF2B5EF4-FFF2-40B4-BE49-F238E27FC236}">
                <a16:creationId xmlns:a16="http://schemas.microsoft.com/office/drawing/2014/main" id="{D8AD9AA1-5701-64D5-ECC6-C19D4B2703F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7912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5">
            <a:extLst>
              <a:ext uri="{FF2B5EF4-FFF2-40B4-BE49-F238E27FC236}">
                <a16:creationId xmlns:a16="http://schemas.microsoft.com/office/drawing/2014/main" id="{37793063-F684-6F20-6242-C5322C19AD1F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7912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9" name="Line 6">
            <a:extLst>
              <a:ext uri="{FF2B5EF4-FFF2-40B4-BE49-F238E27FC236}">
                <a16:creationId xmlns:a16="http://schemas.microsoft.com/office/drawing/2014/main" id="{69406290-06B0-657B-D722-CB3761852D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2667000"/>
            <a:ext cx="990600" cy="1905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0" name="Line 7">
            <a:extLst>
              <a:ext uri="{FF2B5EF4-FFF2-40B4-BE49-F238E27FC236}">
                <a16:creationId xmlns:a16="http://schemas.microsoft.com/office/drawing/2014/main" id="{55F740AC-0DA3-ADCE-7873-1E9ACA3FE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5410200"/>
            <a:ext cx="457200" cy="5334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1" name="Rectangle 8">
            <a:extLst>
              <a:ext uri="{FF2B5EF4-FFF2-40B4-BE49-F238E27FC236}">
                <a16:creationId xmlns:a16="http://schemas.microsoft.com/office/drawing/2014/main" id="{F865E07E-B01B-2CEA-313A-F39654F0E495}"/>
              </a:ext>
            </a:extLst>
          </p:cNvPr>
          <p:cNvSpPr>
            <a:spLocks/>
          </p:cNvSpPr>
          <p:nvPr/>
        </p:nvSpPr>
        <p:spPr bwMode="auto">
          <a:xfrm>
            <a:off x="7258050" y="971550"/>
            <a:ext cx="16033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Controller</a:t>
            </a:r>
          </a:p>
        </p:txBody>
      </p:sp>
      <p:grpSp>
        <p:nvGrpSpPr>
          <p:cNvPr id="59402" name="Group 9">
            <a:extLst>
              <a:ext uri="{FF2B5EF4-FFF2-40B4-BE49-F238E27FC236}">
                <a16:creationId xmlns:a16="http://schemas.microsoft.com/office/drawing/2014/main" id="{354A7DEC-A051-EA1B-4C46-17DB61685775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572000"/>
            <a:ext cx="2057400" cy="838200"/>
            <a:chOff x="0" y="0"/>
            <a:chExt cx="1296" cy="528"/>
          </a:xfrm>
        </p:grpSpPr>
        <p:sp>
          <p:nvSpPr>
            <p:cNvPr id="59465" name="AutoShape 10">
              <a:extLst>
                <a:ext uri="{FF2B5EF4-FFF2-40B4-BE49-F238E27FC236}">
                  <a16:creationId xmlns:a16="http://schemas.microsoft.com/office/drawing/2014/main" id="{0E3C8727-D0FA-2B89-2EBE-0E4571EF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6" name="AutoShape 11">
              <a:extLst>
                <a:ext uri="{FF2B5EF4-FFF2-40B4-BE49-F238E27FC236}">
                  <a16:creationId xmlns:a16="http://schemas.microsoft.com/office/drawing/2014/main" id="{39D738E6-1934-2D0D-DC58-2DAE43766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7" name="Rectangle 12">
              <a:extLst>
                <a:ext uri="{FF2B5EF4-FFF2-40B4-BE49-F238E27FC236}">
                  <a16:creationId xmlns:a16="http://schemas.microsoft.com/office/drawing/2014/main" id="{22665538-003F-892B-9C37-8E3640640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pic>
        <p:nvPicPr>
          <p:cNvPr id="59403" name="Picture 13">
            <a:extLst>
              <a:ext uri="{FF2B5EF4-FFF2-40B4-BE49-F238E27FC236}">
                <a16:creationId xmlns:a16="http://schemas.microsoft.com/office/drawing/2014/main" id="{96DDD229-211D-715B-2384-01C05D713E6B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371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4" name="Rectangle 14">
            <a:extLst>
              <a:ext uri="{FF2B5EF4-FFF2-40B4-BE49-F238E27FC236}">
                <a16:creationId xmlns:a16="http://schemas.microsoft.com/office/drawing/2014/main" id="{9E77F4D7-D2F4-072A-5D0B-E93A92D2EF81}"/>
              </a:ext>
            </a:extLst>
          </p:cNvPr>
          <p:cNvSpPr>
            <a:spLocks/>
          </p:cNvSpPr>
          <p:nvPr/>
        </p:nvSpPr>
        <p:spPr bwMode="auto">
          <a:xfrm>
            <a:off x="5105400" y="4632325"/>
            <a:ext cx="116363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sp>
        <p:nvSpPr>
          <p:cNvPr id="59405" name="Rectangle 15">
            <a:extLst>
              <a:ext uri="{FF2B5EF4-FFF2-40B4-BE49-F238E27FC236}">
                <a16:creationId xmlns:a16="http://schemas.microsoft.com/office/drawing/2014/main" id="{286916EA-D433-F7D0-55A6-24BD59CB219A}"/>
              </a:ext>
            </a:extLst>
          </p:cNvPr>
          <p:cNvSpPr>
            <a:spLocks/>
          </p:cNvSpPr>
          <p:nvPr/>
        </p:nvSpPr>
        <p:spPr bwMode="auto">
          <a:xfrm>
            <a:off x="7850188" y="1828800"/>
            <a:ext cx="5048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PC</a:t>
            </a:r>
          </a:p>
        </p:txBody>
      </p:sp>
      <p:sp>
        <p:nvSpPr>
          <p:cNvPr id="59406" name="Rectangle 16">
            <a:extLst>
              <a:ext uri="{FF2B5EF4-FFF2-40B4-BE49-F238E27FC236}">
                <a16:creationId xmlns:a16="http://schemas.microsoft.com/office/drawing/2014/main" id="{D2297E80-3EE6-D85A-B708-1CD5EF4F66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76200"/>
            <a:ext cx="8229600" cy="1008063"/>
          </a:xfrm>
        </p:spPr>
        <p:txBody>
          <a:bodyPr lIns="50800" tIns="50800" rIns="132080" bIns="50800"/>
          <a:lstStyle/>
          <a:p>
            <a:pPr marL="39688" eaLnBrk="1" hangingPunct="1"/>
            <a:r>
              <a:rPr lang="en-US" altLang="zh-TW" sz="4000">
                <a:ea typeface="ＭＳ Ｐゴシック" panose="020B0600070205080204" pitchFamily="34" charset="-128"/>
              </a:rPr>
              <a:t>OpenFlow Usage </a:t>
            </a:r>
            <a:endParaRPr lang="en-US" altLang="zh-TW" sz="2800">
              <a:solidFill>
                <a:srgbClr val="333399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59407" name="Picture 17">
            <a:extLst>
              <a:ext uri="{FF2B5EF4-FFF2-40B4-BE49-F238E27FC236}">
                <a16:creationId xmlns:a16="http://schemas.microsoft.com/office/drawing/2014/main" id="{087C1840-4479-1847-89BF-FA59826F2EF2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708525"/>
            <a:ext cx="6191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08" name="Group 18">
            <a:extLst>
              <a:ext uri="{FF2B5EF4-FFF2-40B4-BE49-F238E27FC236}">
                <a16:creationId xmlns:a16="http://schemas.microsoft.com/office/drawing/2014/main" id="{E6AE21CB-A526-8C96-5ED1-CB3C508431F6}"/>
              </a:ext>
            </a:extLst>
          </p:cNvPr>
          <p:cNvGrpSpPr>
            <a:grpSpLocks/>
          </p:cNvGrpSpPr>
          <p:nvPr/>
        </p:nvGrpSpPr>
        <p:grpSpPr bwMode="auto">
          <a:xfrm>
            <a:off x="977900" y="4572000"/>
            <a:ext cx="2057400" cy="838200"/>
            <a:chOff x="0" y="0"/>
            <a:chExt cx="1296" cy="528"/>
          </a:xfrm>
        </p:grpSpPr>
        <p:sp>
          <p:nvSpPr>
            <p:cNvPr id="59462" name="AutoShape 19">
              <a:extLst>
                <a:ext uri="{FF2B5EF4-FFF2-40B4-BE49-F238E27FC236}">
                  <a16:creationId xmlns:a16="http://schemas.microsoft.com/office/drawing/2014/main" id="{D8E96868-3BAD-89F4-2C4C-95BA77717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3" name="AutoShape 20">
              <a:extLst>
                <a:ext uri="{FF2B5EF4-FFF2-40B4-BE49-F238E27FC236}">
                  <a16:creationId xmlns:a16="http://schemas.microsoft.com/office/drawing/2014/main" id="{D6671982-9A1C-88FC-B113-DCE377613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4" name="Rectangle 21">
              <a:extLst>
                <a:ext uri="{FF2B5EF4-FFF2-40B4-BE49-F238E27FC236}">
                  <a16:creationId xmlns:a16="http://schemas.microsoft.com/office/drawing/2014/main" id="{6460EB05-3805-4F15-EBC1-B1C1F1C7F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sp>
        <p:nvSpPr>
          <p:cNvPr id="59409" name="Rectangle 22">
            <a:extLst>
              <a:ext uri="{FF2B5EF4-FFF2-40B4-BE49-F238E27FC236}">
                <a16:creationId xmlns:a16="http://schemas.microsoft.com/office/drawing/2014/main" id="{4F96ADD7-4B75-A24F-C3FD-E149393764B4}"/>
              </a:ext>
            </a:extLst>
          </p:cNvPr>
          <p:cNvSpPr>
            <a:spLocks/>
          </p:cNvSpPr>
          <p:nvPr/>
        </p:nvSpPr>
        <p:spPr bwMode="auto">
          <a:xfrm>
            <a:off x="1447800" y="4632325"/>
            <a:ext cx="116363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pic>
        <p:nvPicPr>
          <p:cNvPr id="59410" name="Picture 23">
            <a:extLst>
              <a:ext uri="{FF2B5EF4-FFF2-40B4-BE49-F238E27FC236}">
                <a16:creationId xmlns:a16="http://schemas.microsoft.com/office/drawing/2014/main" id="{F67417B9-E2F0-45B6-A32E-8A3BDE12B204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08525"/>
            <a:ext cx="6191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11" name="Group 24">
            <a:extLst>
              <a:ext uri="{FF2B5EF4-FFF2-40B4-BE49-F238E27FC236}">
                <a16:creationId xmlns:a16="http://schemas.microsoft.com/office/drawing/2014/main" id="{97CF28B3-771C-BC47-C99F-C7F2DA5FFE1C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905000"/>
            <a:ext cx="2057400" cy="838200"/>
            <a:chOff x="0" y="0"/>
            <a:chExt cx="1296" cy="528"/>
          </a:xfrm>
        </p:grpSpPr>
        <p:sp>
          <p:nvSpPr>
            <p:cNvPr id="59459" name="AutoShape 25">
              <a:extLst>
                <a:ext uri="{FF2B5EF4-FFF2-40B4-BE49-F238E27FC236}">
                  <a16:creationId xmlns:a16="http://schemas.microsoft.com/office/drawing/2014/main" id="{E9ACCA4A-4A89-571F-A7BA-BBCBCD869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528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2 w 21600"/>
                <a:gd name="T7" fmla="*/ 0 h 21600"/>
                <a:gd name="T8" fmla="*/ 5 w 21600"/>
                <a:gd name="T9" fmla="*/ 0 h 21600"/>
                <a:gd name="T10" fmla="*/ 5 w 21600"/>
                <a:gd name="T11" fmla="*/ 0 h 21600"/>
                <a:gd name="T12" fmla="*/ 2 w 21600"/>
                <a:gd name="T13" fmla="*/ 0 h 21600"/>
                <a:gd name="T14" fmla="*/ 2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gradFill rotWithShape="0">
              <a:gsLst>
                <a:gs pos="0">
                  <a:srgbClr val="BBE0E3"/>
                </a:gs>
                <a:gs pos="100000">
                  <a:srgbClr val="56676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0" name="AutoShape 26">
              <a:extLst>
                <a:ext uri="{FF2B5EF4-FFF2-40B4-BE49-F238E27FC236}">
                  <a16:creationId xmlns:a16="http://schemas.microsoft.com/office/drawing/2014/main" id="{637A2CC1-2D93-5381-FBB6-3EBB55496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296" cy="264"/>
            </a:xfrm>
            <a:custGeom>
              <a:avLst/>
              <a:gdLst>
                <a:gd name="T0" fmla="*/ 2 w 21600"/>
                <a:gd name="T1" fmla="*/ 0 h 21600"/>
                <a:gd name="T2" fmla="*/ 0 w 21600"/>
                <a:gd name="T3" fmla="*/ 0 h 21600"/>
                <a:gd name="T4" fmla="*/ 2 w 21600"/>
                <a:gd name="T5" fmla="*/ 0 h 21600"/>
                <a:gd name="T6" fmla="*/ 5 w 21600"/>
                <a:gd name="T7" fmla="*/ 0 h 21600"/>
                <a:gd name="T8" fmla="*/ 2 w 21600"/>
                <a:gd name="T9" fmla="*/ 0 h 21600"/>
                <a:gd name="T10" fmla="*/ 2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C8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59461" name="Rectangle 27">
              <a:extLst>
                <a:ext uri="{FF2B5EF4-FFF2-40B4-BE49-F238E27FC236}">
                  <a16:creationId xmlns:a16="http://schemas.microsoft.com/office/drawing/2014/main" id="{5F5FB56E-0EAC-CB11-CA5A-B935F9FDD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64"/>
              <a:ext cx="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</p:grpSp>
      <p:sp>
        <p:nvSpPr>
          <p:cNvPr id="59412" name="Rectangle 28">
            <a:extLst>
              <a:ext uri="{FF2B5EF4-FFF2-40B4-BE49-F238E27FC236}">
                <a16:creationId xmlns:a16="http://schemas.microsoft.com/office/drawing/2014/main" id="{BFCFEE6C-DDB6-2E7D-36C5-FFFAAE97C8F6}"/>
              </a:ext>
            </a:extLst>
          </p:cNvPr>
          <p:cNvSpPr>
            <a:spLocks/>
          </p:cNvSpPr>
          <p:nvPr/>
        </p:nvSpPr>
        <p:spPr bwMode="auto">
          <a:xfrm>
            <a:off x="3560763" y="1965325"/>
            <a:ext cx="11636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OpenFlow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333399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Switch</a:t>
            </a:r>
          </a:p>
        </p:txBody>
      </p:sp>
      <p:pic>
        <p:nvPicPr>
          <p:cNvPr id="59413" name="Picture 29">
            <a:extLst>
              <a:ext uri="{FF2B5EF4-FFF2-40B4-BE49-F238E27FC236}">
                <a16:creationId xmlns:a16="http://schemas.microsoft.com/office/drawing/2014/main" id="{BED90026-8CBA-4FEF-3901-1CE9AA404A7E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041525"/>
            <a:ext cx="6191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14" name="Line 30">
            <a:extLst>
              <a:ext uri="{FF2B5EF4-FFF2-40B4-BE49-F238E27FC236}">
                <a16:creationId xmlns:a16="http://schemas.microsoft.com/office/drawing/2014/main" id="{1F6ADA04-6830-BB77-F0DA-D08765A4A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667000"/>
            <a:ext cx="990600" cy="1905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15" name="Line 31">
            <a:extLst>
              <a:ext uri="{FF2B5EF4-FFF2-40B4-BE49-F238E27FC236}">
                <a16:creationId xmlns:a16="http://schemas.microsoft.com/office/drawing/2014/main" id="{F0A3D75D-C1F2-AB53-F12F-CF600A9E7F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5410200"/>
            <a:ext cx="533400" cy="5334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32">
            <a:extLst>
              <a:ext uri="{FF2B5EF4-FFF2-40B4-BE49-F238E27FC236}">
                <a16:creationId xmlns:a16="http://schemas.microsoft.com/office/drawing/2014/main" id="{F505AC2F-71AF-11B5-7AA1-82940DFF645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133600"/>
            <a:ext cx="5045075" cy="2590800"/>
            <a:chOff x="0" y="0"/>
            <a:chExt cx="3178" cy="1632"/>
          </a:xfrm>
        </p:grpSpPr>
        <p:sp>
          <p:nvSpPr>
            <p:cNvPr id="59454" name="Rectangle 33">
              <a:extLst>
                <a:ext uri="{FF2B5EF4-FFF2-40B4-BE49-F238E27FC236}">
                  <a16:creationId xmlns:a16="http://schemas.microsoft.com/office/drawing/2014/main" id="{52C3D308-FFF4-665F-EF02-7C6D6C4B5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816"/>
              <a:ext cx="63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Protocol</a:t>
              </a:r>
            </a:p>
          </p:txBody>
        </p:sp>
        <p:grpSp>
          <p:nvGrpSpPr>
            <p:cNvPr id="59455" name="Group 34">
              <a:extLst>
                <a:ext uri="{FF2B5EF4-FFF2-40B4-BE49-F238E27FC236}">
                  <a16:creationId xmlns:a16="http://schemas.microsoft.com/office/drawing/2014/main" id="{00BC03B1-410A-5DCA-78F1-5BE2261CB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880" cy="1632"/>
              <a:chOff x="0" y="0"/>
              <a:chExt cx="2880" cy="1632"/>
            </a:xfrm>
          </p:grpSpPr>
          <p:sp>
            <p:nvSpPr>
              <p:cNvPr id="59456" name="Line 35">
                <a:extLst>
                  <a:ext uri="{FF2B5EF4-FFF2-40B4-BE49-F238E27FC236}">
                    <a16:creationId xmlns:a16="http://schemas.microsoft.com/office/drawing/2014/main" id="{870FCFEF-6E98-97BA-8672-93CF79AC9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112" y="288"/>
                <a:ext cx="768" cy="1248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57" name="Line 36">
                <a:extLst>
                  <a:ext uri="{FF2B5EF4-FFF2-40B4-BE49-F238E27FC236}">
                    <a16:creationId xmlns:a16="http://schemas.microsoft.com/office/drawing/2014/main" id="{F523CF6E-11AA-A535-20C2-DA0F7EBDB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344" y="0"/>
                <a:ext cx="1488" cy="144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58" name="Line 37">
                <a:extLst>
                  <a:ext uri="{FF2B5EF4-FFF2-40B4-BE49-F238E27FC236}">
                    <a16:creationId xmlns:a16="http://schemas.microsoft.com/office/drawing/2014/main" id="{18DFE0DB-D7A6-016E-D5D1-2A6F35C06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0" y="192"/>
                <a:ext cx="2832" cy="1440"/>
              </a:xfrm>
              <a:prstGeom prst="line">
                <a:avLst/>
              </a:prstGeom>
              <a:noFill/>
              <a:ln w="38100">
                <a:solidFill>
                  <a:srgbClr val="FF9966"/>
                </a:solidFill>
                <a:prstDash val="sysDot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326" name="AutoShape 38">
            <a:extLst>
              <a:ext uri="{FF2B5EF4-FFF2-40B4-BE49-F238E27FC236}">
                <a16:creationId xmlns:a16="http://schemas.microsoft.com/office/drawing/2014/main" id="{D4B4DA77-8CA6-5C57-6A6D-4788C035B262}"/>
              </a:ext>
            </a:extLst>
          </p:cNvPr>
          <p:cNvSpPr>
            <a:spLocks/>
          </p:cNvSpPr>
          <p:nvPr/>
        </p:nvSpPr>
        <p:spPr bwMode="auto">
          <a:xfrm>
            <a:off x="7010400" y="5334000"/>
            <a:ext cx="8382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80808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zh-TW" sz="1800">
              <a:solidFill>
                <a:srgbClr val="000000"/>
              </a:solidFill>
              <a:latin typeface="Arial" panose="020B0604020202020204" pitchFamily="34" charset="0"/>
              <a:ea typeface="ヒラギノ角ゴ ProN W3" pitchFamily="-108" charset="-128"/>
              <a:sym typeface="Arial" panose="020B0604020202020204" pitchFamily="34" charset="0"/>
            </a:endParaRPr>
          </a:p>
        </p:txBody>
      </p:sp>
      <p:grpSp>
        <p:nvGrpSpPr>
          <p:cNvPr id="7" name="Group 39">
            <a:extLst>
              <a:ext uri="{FF2B5EF4-FFF2-40B4-BE49-F238E27FC236}">
                <a16:creationId xmlns:a16="http://schemas.microsoft.com/office/drawing/2014/main" id="{31739735-1AB8-51DF-D441-B28C1A1B47EE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371600"/>
            <a:ext cx="1627188" cy="609600"/>
            <a:chOff x="-2" y="0"/>
            <a:chExt cx="851" cy="384"/>
          </a:xfrm>
        </p:grpSpPr>
        <p:sp>
          <p:nvSpPr>
            <p:cNvPr id="59452" name="Rectangle 40">
              <a:extLst>
                <a:ext uri="{FF2B5EF4-FFF2-40B4-BE49-F238E27FC236}">
                  <a16:creationId xmlns:a16="http://schemas.microsoft.com/office/drawing/2014/main" id="{06B8CB9B-7046-85B3-4368-5FF4EB171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" y="0"/>
              <a:ext cx="816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pitchFamily="-108" charset="-128"/>
                <a:sym typeface="Arial" panose="020B0604020202020204" pitchFamily="34" charset="0"/>
              </a:endParaRPr>
            </a:p>
          </p:txBody>
        </p:sp>
        <p:sp>
          <p:nvSpPr>
            <p:cNvPr id="59453" name="Rectangle 41">
              <a:extLst>
                <a:ext uri="{FF2B5EF4-FFF2-40B4-BE49-F238E27FC236}">
                  <a16:creationId xmlns:a16="http://schemas.microsoft.com/office/drawing/2014/main" id="{FF2B3628-9229-1A76-41D7-7DFE41295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-2" y="105"/>
              <a:ext cx="85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Peter’s code</a:t>
              </a:r>
            </a:p>
          </p:txBody>
        </p:sp>
      </p:grpSp>
      <p:grpSp>
        <p:nvGrpSpPr>
          <p:cNvPr id="8" name="Group 42">
            <a:extLst>
              <a:ext uri="{FF2B5EF4-FFF2-40B4-BE49-F238E27FC236}">
                <a16:creationId xmlns:a16="http://schemas.microsoft.com/office/drawing/2014/main" id="{228FBA14-B9A7-4EA3-FBCD-3D6DCA9F843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286000"/>
            <a:ext cx="2593975" cy="304800"/>
            <a:chOff x="0" y="0"/>
            <a:chExt cx="1634" cy="192"/>
          </a:xfrm>
        </p:grpSpPr>
        <p:grpSp>
          <p:nvGrpSpPr>
            <p:cNvPr id="59443" name="Group 43">
              <a:extLst>
                <a:ext uri="{FF2B5EF4-FFF2-40B4-BE49-F238E27FC236}">
                  <a16:creationId xmlns:a16="http://schemas.microsoft.com/office/drawing/2014/main" id="{33DF8D82-DB48-7C5F-DB17-23B768802B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50" name="AutoShape 44">
                <a:extLst>
                  <a:ext uri="{FF2B5EF4-FFF2-40B4-BE49-F238E27FC236}">
                    <a16:creationId xmlns:a16="http://schemas.microsoft.com/office/drawing/2014/main" id="{717567BC-4F92-EAA7-7C75-34F59B227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51" name="Rectangle 45">
                <a:extLst>
                  <a:ext uri="{FF2B5EF4-FFF2-40B4-BE49-F238E27FC236}">
                    <a16:creationId xmlns:a16="http://schemas.microsoft.com/office/drawing/2014/main" id="{2C1AD0BF-089B-66E7-136D-391D038DB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" y="5"/>
                <a:ext cx="319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44" name="Group 46">
              <a:extLst>
                <a:ext uri="{FF2B5EF4-FFF2-40B4-BE49-F238E27FC236}">
                  <a16:creationId xmlns:a16="http://schemas.microsoft.com/office/drawing/2014/main" id="{030CDA7C-D6C3-A20E-9FC0-678130373D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48" name="AutoShape 47">
                <a:extLst>
                  <a:ext uri="{FF2B5EF4-FFF2-40B4-BE49-F238E27FC236}">
                    <a16:creationId xmlns:a16="http://schemas.microsoft.com/office/drawing/2014/main" id="{820AC4DC-385C-849D-B8D7-0E795F9FD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9" name="Rectangle 48">
                <a:extLst>
                  <a:ext uri="{FF2B5EF4-FFF2-40B4-BE49-F238E27FC236}">
                    <a16:creationId xmlns:a16="http://schemas.microsoft.com/office/drawing/2014/main" id="{0484B79C-2F84-6508-C807-4D032131F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" y="5"/>
                <a:ext cx="40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45" name="Group 49">
              <a:extLst>
                <a:ext uri="{FF2B5EF4-FFF2-40B4-BE49-F238E27FC236}">
                  <a16:creationId xmlns:a16="http://schemas.microsoft.com/office/drawing/2014/main" id="{64665705-3871-04EA-C124-41BA91979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7" y="0"/>
              <a:ext cx="537" cy="192"/>
              <a:chOff x="0" y="0"/>
              <a:chExt cx="536" cy="192"/>
            </a:xfrm>
          </p:grpSpPr>
          <p:sp>
            <p:nvSpPr>
              <p:cNvPr id="59446" name="AutoShape 50">
                <a:extLst>
                  <a:ext uri="{FF2B5EF4-FFF2-40B4-BE49-F238E27FC236}">
                    <a16:creationId xmlns:a16="http://schemas.microsoft.com/office/drawing/2014/main" id="{95159552-85AA-E4DB-F2BD-00C61B43D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7" name="Rectangle 51">
                <a:extLst>
                  <a:ext uri="{FF2B5EF4-FFF2-40B4-BE49-F238E27FC236}">
                    <a16:creationId xmlns:a16="http://schemas.microsoft.com/office/drawing/2014/main" id="{9829ABE8-B487-5E1E-50CD-1B3BDA576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"/>
                <a:ext cx="53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12" name="Group 52">
            <a:extLst>
              <a:ext uri="{FF2B5EF4-FFF2-40B4-BE49-F238E27FC236}">
                <a16:creationId xmlns:a16="http://schemas.microsoft.com/office/drawing/2014/main" id="{F4EE78BB-22BC-6F07-9D13-DCA834D310DE}"/>
              </a:ext>
            </a:extLst>
          </p:cNvPr>
          <p:cNvGrpSpPr>
            <a:grpSpLocks/>
          </p:cNvGrpSpPr>
          <p:nvPr/>
        </p:nvGrpSpPr>
        <p:grpSpPr bwMode="auto">
          <a:xfrm>
            <a:off x="989013" y="4800600"/>
            <a:ext cx="2595562" cy="304800"/>
            <a:chOff x="0" y="0"/>
            <a:chExt cx="1634" cy="192"/>
          </a:xfrm>
        </p:grpSpPr>
        <p:grpSp>
          <p:nvGrpSpPr>
            <p:cNvPr id="59434" name="Group 53">
              <a:extLst>
                <a:ext uri="{FF2B5EF4-FFF2-40B4-BE49-F238E27FC236}">
                  <a16:creationId xmlns:a16="http://schemas.microsoft.com/office/drawing/2014/main" id="{895DE833-55D5-C60B-7B63-0C666D6E8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41" name="AutoShape 54">
                <a:extLst>
                  <a:ext uri="{FF2B5EF4-FFF2-40B4-BE49-F238E27FC236}">
                    <a16:creationId xmlns:a16="http://schemas.microsoft.com/office/drawing/2014/main" id="{869C7C00-AA11-DD63-26AC-35EE0E5D7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2" name="Rectangle 55">
                <a:extLst>
                  <a:ext uri="{FF2B5EF4-FFF2-40B4-BE49-F238E27FC236}">
                    <a16:creationId xmlns:a16="http://schemas.microsoft.com/office/drawing/2014/main" id="{841A210E-98C0-19BA-6158-D9E35E379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" y="5"/>
                <a:ext cx="319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35" name="Group 56">
              <a:extLst>
                <a:ext uri="{FF2B5EF4-FFF2-40B4-BE49-F238E27FC236}">
                  <a16:creationId xmlns:a16="http://schemas.microsoft.com/office/drawing/2014/main" id="{67D47C83-5DDE-945A-B7D7-C287A658C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39" name="AutoShape 57">
                <a:extLst>
                  <a:ext uri="{FF2B5EF4-FFF2-40B4-BE49-F238E27FC236}">
                    <a16:creationId xmlns:a16="http://schemas.microsoft.com/office/drawing/2014/main" id="{F9F3E572-DF1F-CA07-35FF-09DF3D135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40" name="Rectangle 58">
                <a:extLst>
                  <a:ext uri="{FF2B5EF4-FFF2-40B4-BE49-F238E27FC236}">
                    <a16:creationId xmlns:a16="http://schemas.microsoft.com/office/drawing/2014/main" id="{E374A49F-78B5-4A62-19C5-8525BF007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" y="5"/>
                <a:ext cx="399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36" name="Group 59">
              <a:extLst>
                <a:ext uri="{FF2B5EF4-FFF2-40B4-BE49-F238E27FC236}">
                  <a16:creationId xmlns:a16="http://schemas.microsoft.com/office/drawing/2014/main" id="{1BBAA2A1-3CA9-7679-FA66-9B0EA88C1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7" y="0"/>
              <a:ext cx="537" cy="192"/>
              <a:chOff x="0" y="0"/>
              <a:chExt cx="536" cy="192"/>
            </a:xfrm>
          </p:grpSpPr>
          <p:sp>
            <p:nvSpPr>
              <p:cNvPr id="59437" name="AutoShape 60">
                <a:extLst>
                  <a:ext uri="{FF2B5EF4-FFF2-40B4-BE49-F238E27FC236}">
                    <a16:creationId xmlns:a16="http://schemas.microsoft.com/office/drawing/2014/main" id="{62935AD6-1462-D45B-1860-E21A38F50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8" name="Rectangle 61">
                <a:extLst>
                  <a:ext uri="{FF2B5EF4-FFF2-40B4-BE49-F238E27FC236}">
                    <a16:creationId xmlns:a16="http://schemas.microsoft.com/office/drawing/2014/main" id="{655E30BE-997A-63B4-7654-395C0E7FA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"/>
                <a:ext cx="53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16" name="Group 62">
            <a:extLst>
              <a:ext uri="{FF2B5EF4-FFF2-40B4-BE49-F238E27FC236}">
                <a16:creationId xmlns:a16="http://schemas.microsoft.com/office/drawing/2014/main" id="{737CEF67-97AF-330F-2EFB-A8FC7360ABD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800600"/>
            <a:ext cx="2593975" cy="304800"/>
            <a:chOff x="0" y="0"/>
            <a:chExt cx="1634" cy="192"/>
          </a:xfrm>
        </p:grpSpPr>
        <p:grpSp>
          <p:nvGrpSpPr>
            <p:cNvPr id="59425" name="Group 63">
              <a:extLst>
                <a:ext uri="{FF2B5EF4-FFF2-40B4-BE49-F238E27FC236}">
                  <a16:creationId xmlns:a16="http://schemas.microsoft.com/office/drawing/2014/main" id="{2E01C66B-CEAC-0EAD-F7DE-6C3436998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1" cy="192"/>
              <a:chOff x="0" y="0"/>
              <a:chExt cx="531" cy="192"/>
            </a:xfrm>
          </p:grpSpPr>
          <p:sp>
            <p:nvSpPr>
              <p:cNvPr id="59432" name="AutoShape 64">
                <a:extLst>
                  <a:ext uri="{FF2B5EF4-FFF2-40B4-BE49-F238E27FC236}">
                    <a16:creationId xmlns:a16="http://schemas.microsoft.com/office/drawing/2014/main" id="{310F026D-0004-5240-EC05-EF38FDC9F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3" name="Rectangle 65">
                <a:extLst>
                  <a:ext uri="{FF2B5EF4-FFF2-40B4-BE49-F238E27FC236}">
                    <a16:creationId xmlns:a16="http://schemas.microsoft.com/office/drawing/2014/main" id="{1DE98B50-E1BC-EFD0-475F-F4E026A02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" y="5"/>
                <a:ext cx="319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Rule</a:t>
                </a:r>
              </a:p>
            </p:txBody>
          </p:sp>
        </p:grpSp>
        <p:grpSp>
          <p:nvGrpSpPr>
            <p:cNvPr id="59426" name="Group 66">
              <a:extLst>
                <a:ext uri="{FF2B5EF4-FFF2-40B4-BE49-F238E27FC236}">
                  <a16:creationId xmlns:a16="http://schemas.microsoft.com/office/drawing/2014/main" id="{800E9BA0-41FF-D203-FE42-4CF60CDC7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0"/>
              <a:ext cx="531" cy="192"/>
              <a:chOff x="0" y="0"/>
              <a:chExt cx="531" cy="192"/>
            </a:xfrm>
          </p:grpSpPr>
          <p:sp>
            <p:nvSpPr>
              <p:cNvPr id="59430" name="AutoShape 67">
                <a:extLst>
                  <a:ext uri="{FF2B5EF4-FFF2-40B4-BE49-F238E27FC236}">
                    <a16:creationId xmlns:a16="http://schemas.microsoft.com/office/drawing/2014/main" id="{2654737A-48A7-5030-F43A-2C6DF7780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531" cy="192"/>
              </a:xfrm>
              <a:prstGeom prst="roundRect">
                <a:avLst>
                  <a:gd name="adj" fmla="val 16667"/>
                </a:avLst>
              </a:prstGeom>
              <a:solidFill>
                <a:srgbClr val="99CC00">
                  <a:alpha val="61960"/>
                </a:srgbClr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31" name="Rectangle 68">
                <a:extLst>
                  <a:ext uri="{FF2B5EF4-FFF2-40B4-BE49-F238E27FC236}">
                    <a16:creationId xmlns:a16="http://schemas.microsoft.com/office/drawing/2014/main" id="{CEA2E068-3F07-10B9-E8CD-A98F7C7DE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" y="5"/>
                <a:ext cx="40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Action</a:t>
                </a:r>
              </a:p>
            </p:txBody>
          </p:sp>
        </p:grpSp>
        <p:grpSp>
          <p:nvGrpSpPr>
            <p:cNvPr id="59427" name="Group 69">
              <a:extLst>
                <a:ext uri="{FF2B5EF4-FFF2-40B4-BE49-F238E27FC236}">
                  <a16:creationId xmlns:a16="http://schemas.microsoft.com/office/drawing/2014/main" id="{7FAD2B19-2201-0A03-3A0B-195A83D10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7" y="0"/>
              <a:ext cx="537" cy="192"/>
              <a:chOff x="0" y="0"/>
              <a:chExt cx="536" cy="192"/>
            </a:xfrm>
          </p:grpSpPr>
          <p:sp>
            <p:nvSpPr>
              <p:cNvPr id="59428" name="AutoShape 70">
                <a:extLst>
                  <a:ext uri="{FF2B5EF4-FFF2-40B4-BE49-F238E27FC236}">
                    <a16:creationId xmlns:a16="http://schemas.microsoft.com/office/drawing/2014/main" id="{828A8841-BB71-D679-3F71-4A2CF50B5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0"/>
                <a:ext cx="532" cy="192"/>
              </a:xfrm>
              <a:prstGeom prst="roundRect">
                <a:avLst>
                  <a:gd name="adj" fmla="val 16667"/>
                </a:avLst>
              </a:prstGeom>
              <a:solidFill>
                <a:srgbClr val="FFCC99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rgbClr val="000000"/>
                  </a:solidFill>
                  <a:latin typeface="Arial" panose="020B0604020202020204" pitchFamily="34" charset="0"/>
                  <a:ea typeface="ヒラギノ角ゴ ProN W3" pitchFamily="-108" charset="-128"/>
                  <a:sym typeface="Arial" panose="020B0604020202020204" pitchFamily="34" charset="0"/>
                </a:endParaRPr>
              </a:p>
            </p:txBody>
          </p:sp>
          <p:sp>
            <p:nvSpPr>
              <p:cNvPr id="59429" name="Rectangle 71">
                <a:extLst>
                  <a:ext uri="{FF2B5EF4-FFF2-40B4-BE49-F238E27FC236}">
                    <a16:creationId xmlns:a16="http://schemas.microsoft.com/office/drawing/2014/main" id="{A6E820EA-0AEE-40BC-3BA1-9BA7192DF1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"/>
                <a:ext cx="53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89829" bIns="38100" anchor="ctr">
                <a:spAutoFit/>
              </a:bodyPr>
              <a:lstStyle>
                <a:lvl1pPr marL="127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400">
                    <a:solidFill>
                      <a:srgbClr val="333399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Statistics</a:t>
                </a:r>
              </a:p>
            </p:txBody>
          </p:sp>
        </p:grpSp>
      </p:grpSp>
      <p:grpSp>
        <p:nvGrpSpPr>
          <p:cNvPr id="20" name="Group 77">
            <a:extLst>
              <a:ext uri="{FF2B5EF4-FFF2-40B4-BE49-F238E27FC236}">
                <a16:creationId xmlns:a16="http://schemas.microsoft.com/office/drawing/2014/main" id="{BC20E526-7DCE-621C-60BA-736B6F9F4BF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5486400"/>
            <a:ext cx="1143000" cy="1279525"/>
            <a:chOff x="3168" y="3456"/>
            <a:chExt cx="720" cy="806"/>
          </a:xfrm>
        </p:grpSpPr>
        <p:sp>
          <p:nvSpPr>
            <p:cNvPr id="59423" name="Rectangle 73">
              <a:extLst>
                <a:ext uri="{FF2B5EF4-FFF2-40B4-BE49-F238E27FC236}">
                  <a16:creationId xmlns:a16="http://schemas.microsoft.com/office/drawing/2014/main" id="{DE68001C-5756-C89F-DCAC-01C0891DC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4089"/>
              <a:ext cx="39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Peter</a:t>
              </a:r>
            </a:p>
          </p:txBody>
        </p:sp>
        <p:pic>
          <p:nvPicPr>
            <p:cNvPr id="59424" name="Picture 76">
              <a:extLst>
                <a:ext uri="{FF2B5EF4-FFF2-40B4-BE49-F238E27FC236}">
                  <a16:creationId xmlns:a16="http://schemas.microsoft.com/office/drawing/2014/main" id="{006E1CA5-2456-266E-6858-B73AEA1A6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4" t="3322" r="63333" b="63373"/>
            <a:stretch>
              <a:fillRect/>
            </a:stretch>
          </p:blipFill>
          <p:spPr bwMode="auto">
            <a:xfrm>
              <a:off x="3168" y="3456"/>
              <a:ext cx="720" cy="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5 -0.08883 " pathEditMode="relative" ptsTypes="AA">
                                      <p:cBhvr>
                                        <p:cTn id="14" dur="5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674 -0.09322 L -0.33247 -0.45524 L -0.58038 -0.05668 L -0.70417 0.06222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12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00" y="-10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6" grpId="0" animBg="1"/>
      <p:bldP spid="12326" grpId="1" animBg="1"/>
      <p:bldP spid="12326" grpId="2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>
            <a:extLst>
              <a:ext uri="{FF2B5EF4-FFF2-40B4-BE49-F238E27FC236}">
                <a16:creationId xmlns:a16="http://schemas.microsoft.com/office/drawing/2014/main" id="{56B2C325-F726-B619-3811-CAEEC1F3972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 lIns="50800" tIns="50800" rIns="132080" bIns="50800"/>
          <a:lstStyle/>
          <a:p>
            <a:pPr marL="39688" eaLnBrk="1" hangingPunct="1"/>
            <a:r>
              <a:rPr lang="en-US" altLang="zh-TW">
                <a:ea typeface="ＭＳ Ｐゴシック" panose="020B0600070205080204" pitchFamily="34" charset="-128"/>
              </a:rPr>
              <a:t>Usage examples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202E70E3-800C-5B6B-732E-33494A99F5B2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 lIns="50800" tIns="50800" rIns="132080" bIns="50800"/>
          <a:lstStyle/>
          <a:p>
            <a:pPr marL="382588" eaLnBrk="1" hangingPunct="1">
              <a:lnSpc>
                <a:spcPct val="90000"/>
              </a:lnSpc>
            </a:pPr>
            <a:r>
              <a:rPr lang="en-US" altLang="zh-TW" sz="2400">
                <a:ea typeface="ＭＳ Ｐゴシック" panose="020B0600070205080204" pitchFamily="34" charset="-128"/>
              </a:rPr>
              <a:t>Peter’s code: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Static “VLANs”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His own new routing protocol: unicast, multicast, multipath, load-balancing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Network access control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Home network manager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Mobility manager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Energy manager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Packet processor (in controller)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IPvPeter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Network measurement and visualization</a:t>
            </a:r>
          </a:p>
          <a:p>
            <a:pPr marL="782638" lvl="1" eaLnBrk="1" hangingPunct="1">
              <a:lnSpc>
                <a:spcPct val="90000"/>
              </a:lnSpc>
            </a:pPr>
            <a:r>
              <a:rPr lang="en-US" altLang="zh-TW" sz="2000">
                <a:ea typeface="ＭＳ Ｐゴシック" panose="020B0600070205080204" pitchFamily="34" charset="-128"/>
              </a:rPr>
              <a:t>…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>
            <a:extLst>
              <a:ext uri="{FF2B5EF4-FFF2-40B4-BE49-F238E27FC236}">
                <a16:creationId xmlns:a16="http://schemas.microsoft.com/office/drawing/2014/main" id="{C349CAE4-0AED-7335-2D71-EC6376D2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zh-TW" sz="4000">
                <a:ea typeface="ＭＳ Ｐゴシック" panose="020B0600070205080204" pitchFamily="34" charset="-128"/>
              </a:rPr>
              <a:t>Separate VLANs for Production and Research Traffic</a:t>
            </a:r>
          </a:p>
        </p:txBody>
      </p:sp>
      <p:grpSp>
        <p:nvGrpSpPr>
          <p:cNvPr id="63491" name="Group 4">
            <a:extLst>
              <a:ext uri="{FF2B5EF4-FFF2-40B4-BE49-F238E27FC236}">
                <a16:creationId xmlns:a16="http://schemas.microsoft.com/office/drawing/2014/main" id="{58F8B2AF-49B3-6329-4D82-25DB132415B7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667000"/>
            <a:ext cx="3352800" cy="1371600"/>
            <a:chOff x="0" y="0"/>
            <a:chExt cx="2112" cy="864"/>
          </a:xfrm>
        </p:grpSpPr>
        <p:sp>
          <p:nvSpPr>
            <p:cNvPr id="63519" name="AutoShape 5">
              <a:extLst>
                <a:ext uri="{FF2B5EF4-FFF2-40B4-BE49-F238E27FC236}">
                  <a16:creationId xmlns:a16="http://schemas.microsoft.com/office/drawing/2014/main" id="{779917C3-3F77-5353-F3ED-05D419AAD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864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0 w 21600"/>
                <a:gd name="T5" fmla="*/ 1 h 21600"/>
                <a:gd name="T6" fmla="*/ 10 w 21600"/>
                <a:gd name="T7" fmla="*/ 1 h 21600"/>
                <a:gd name="T8" fmla="*/ 20 w 21600"/>
                <a:gd name="T9" fmla="*/ 1 h 21600"/>
                <a:gd name="T10" fmla="*/ 20 w 21600"/>
                <a:gd name="T11" fmla="*/ 0 h 21600"/>
                <a:gd name="T12" fmla="*/ 10 w 21600"/>
                <a:gd name="T13" fmla="*/ 0 h 21600"/>
                <a:gd name="T14" fmla="*/ 1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3520" name="AutoShape 6">
              <a:extLst>
                <a:ext uri="{FF2B5EF4-FFF2-40B4-BE49-F238E27FC236}">
                  <a16:creationId xmlns:a16="http://schemas.microsoft.com/office/drawing/2014/main" id="{E8387D01-0A99-30EE-4CA1-7CAF858B7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432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10 w 21600"/>
                <a:gd name="T5" fmla="*/ 0 h 21600"/>
                <a:gd name="T6" fmla="*/ 20 w 21600"/>
                <a:gd name="T7" fmla="*/ 0 h 21600"/>
                <a:gd name="T8" fmla="*/ 10 w 21600"/>
                <a:gd name="T9" fmla="*/ 0 h 21600"/>
                <a:gd name="T10" fmla="*/ 1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5B5B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3521" name="Rectangle 7">
              <a:extLst>
                <a:ext uri="{FF2B5EF4-FFF2-40B4-BE49-F238E27FC236}">
                  <a16:creationId xmlns:a16="http://schemas.microsoft.com/office/drawing/2014/main" id="{B35F4F90-D6E1-49F8-89C3-47AC57B78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476"/>
              <a:ext cx="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chemeClr val="tx1"/>
                </a:solidFill>
                <a:latin typeface="Arial" panose="020B0604020202020204" pitchFamily="34" charset="0"/>
                <a:ea typeface="ヒラギノ角ゴ ProN W3" pitchFamily="-108" charset="-128"/>
              </a:endParaRP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76963355-D0CC-C0F6-705F-7FD144389F77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905000"/>
            <a:ext cx="3352800" cy="1371600"/>
            <a:chOff x="0" y="0"/>
            <a:chExt cx="2112" cy="864"/>
          </a:xfrm>
        </p:grpSpPr>
        <p:sp>
          <p:nvSpPr>
            <p:cNvPr id="63516" name="AutoShape 9">
              <a:extLst>
                <a:ext uri="{FF2B5EF4-FFF2-40B4-BE49-F238E27FC236}">
                  <a16:creationId xmlns:a16="http://schemas.microsoft.com/office/drawing/2014/main" id="{D90CE1D1-B2E1-F6E5-2EE3-32E83F24F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864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0 w 21600"/>
                <a:gd name="T5" fmla="*/ 1 h 21600"/>
                <a:gd name="T6" fmla="*/ 10 w 21600"/>
                <a:gd name="T7" fmla="*/ 1 h 21600"/>
                <a:gd name="T8" fmla="*/ 20 w 21600"/>
                <a:gd name="T9" fmla="*/ 1 h 21600"/>
                <a:gd name="T10" fmla="*/ 20 w 21600"/>
                <a:gd name="T11" fmla="*/ 0 h 21600"/>
                <a:gd name="T12" fmla="*/ 10 w 21600"/>
                <a:gd name="T13" fmla="*/ 0 h 21600"/>
                <a:gd name="T14" fmla="*/ 1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2418"/>
                    <a:pt x="0" y="5400"/>
                  </a:cubicBezTo>
                  <a:lnTo>
                    <a:pt x="0" y="16200"/>
                  </a:lnTo>
                  <a:cubicBezTo>
                    <a:pt x="0" y="19182"/>
                    <a:pt x="4835" y="21600"/>
                    <a:pt x="10800" y="21600"/>
                  </a:cubicBezTo>
                  <a:cubicBezTo>
                    <a:pt x="16765" y="21600"/>
                    <a:pt x="21600" y="19182"/>
                    <a:pt x="21600" y="16200"/>
                  </a:cubicBezTo>
                  <a:lnTo>
                    <a:pt x="21600" y="5400"/>
                  </a:lnTo>
                  <a:cubicBezTo>
                    <a:pt x="21600" y="2418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297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3517" name="AutoShape 10">
              <a:extLst>
                <a:ext uri="{FF2B5EF4-FFF2-40B4-BE49-F238E27FC236}">
                  <a16:creationId xmlns:a16="http://schemas.microsoft.com/office/drawing/2014/main" id="{1BB943D8-79F8-6E51-D7EF-E4CED7F0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112" cy="432"/>
            </a:xfrm>
            <a:custGeom>
              <a:avLst/>
              <a:gdLst>
                <a:gd name="T0" fmla="*/ 10 w 21600"/>
                <a:gd name="T1" fmla="*/ 0 h 21600"/>
                <a:gd name="T2" fmla="*/ 0 w 21600"/>
                <a:gd name="T3" fmla="*/ 0 h 21600"/>
                <a:gd name="T4" fmla="*/ 10 w 21600"/>
                <a:gd name="T5" fmla="*/ 0 h 21600"/>
                <a:gd name="T6" fmla="*/ 20 w 21600"/>
                <a:gd name="T7" fmla="*/ 0 h 21600"/>
                <a:gd name="T8" fmla="*/ 10 w 21600"/>
                <a:gd name="T9" fmla="*/ 0 h 21600"/>
                <a:gd name="T10" fmla="*/ 1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0800" y="0"/>
                  </a:moveTo>
                </a:path>
              </a:pathLst>
            </a:custGeom>
            <a:solidFill>
              <a:srgbClr val="538F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3518" name="Rectangle 11">
              <a:extLst>
                <a:ext uri="{FF2B5EF4-FFF2-40B4-BE49-F238E27FC236}">
                  <a16:creationId xmlns:a16="http://schemas.microsoft.com/office/drawing/2014/main" id="{34DEEDDF-2255-C0F2-CBF3-41CC8A6B7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476"/>
              <a:ext cx="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1800">
                <a:solidFill>
                  <a:schemeClr val="tx1"/>
                </a:solidFill>
                <a:latin typeface="Arial" panose="020B0604020202020204" pitchFamily="34" charset="0"/>
                <a:ea typeface="ヒラギノ角ゴ ProN W3" pitchFamily="-108" charset="-128"/>
              </a:endParaRPr>
            </a:p>
          </p:txBody>
        </p:sp>
      </p:grpSp>
      <p:sp>
        <p:nvSpPr>
          <p:cNvPr id="63493" name="Line 12">
            <a:extLst>
              <a:ext uri="{FF2B5EF4-FFF2-40B4-BE49-F238E27FC236}">
                <a16:creationId xmlns:a16="http://schemas.microsoft.com/office/drawing/2014/main" id="{69D1D13D-ACED-C665-6D6C-0F833DB41E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3886200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3494" name="Picture 13">
            <a:extLst>
              <a:ext uri="{FF2B5EF4-FFF2-40B4-BE49-F238E27FC236}">
                <a16:creationId xmlns:a16="http://schemas.microsoft.com/office/drawing/2014/main" id="{01CB3EC2-6E80-3713-C329-19399F8D2F7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029200"/>
            <a:ext cx="10668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5" name="Picture 14">
            <a:extLst>
              <a:ext uri="{FF2B5EF4-FFF2-40B4-BE49-F238E27FC236}">
                <a16:creationId xmlns:a16="http://schemas.microsoft.com/office/drawing/2014/main" id="{EAA7940C-012B-CAB0-ACE1-AF220641A51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264150"/>
            <a:ext cx="10668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6" name="Picture 15">
            <a:extLst>
              <a:ext uri="{FF2B5EF4-FFF2-40B4-BE49-F238E27FC236}">
                <a16:creationId xmlns:a16="http://schemas.microsoft.com/office/drawing/2014/main" id="{457CB9AD-AB83-9E07-B617-739A5751C65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257800"/>
            <a:ext cx="10668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7" name="Picture 16">
            <a:extLst>
              <a:ext uri="{FF2B5EF4-FFF2-40B4-BE49-F238E27FC236}">
                <a16:creationId xmlns:a16="http://schemas.microsoft.com/office/drawing/2014/main" id="{3EF06F7F-740D-EB5B-7D6E-01F93D3DD8F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959350"/>
            <a:ext cx="10668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8" name="Line 17">
            <a:extLst>
              <a:ext uri="{FF2B5EF4-FFF2-40B4-BE49-F238E27FC236}">
                <a16:creationId xmlns:a16="http://schemas.microsoft.com/office/drawing/2014/main" id="{C34AE39B-6C05-26CF-70BF-1936D6201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4038600"/>
            <a:ext cx="171450" cy="12192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9" name="Line 18">
            <a:extLst>
              <a:ext uri="{FF2B5EF4-FFF2-40B4-BE49-F238E27FC236}">
                <a16:creationId xmlns:a16="http://schemas.microsoft.com/office/drawing/2014/main" id="{0F6AB437-EF5F-7369-6A33-9F2824602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171450" cy="12192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00" name="Line 19">
            <a:extLst>
              <a:ext uri="{FF2B5EF4-FFF2-40B4-BE49-F238E27FC236}">
                <a16:creationId xmlns:a16="http://schemas.microsoft.com/office/drawing/2014/main" id="{23073311-5324-EC5B-968F-A8C44AFEA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886200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AutoShape 20">
            <a:extLst>
              <a:ext uri="{FF2B5EF4-FFF2-40B4-BE49-F238E27FC236}">
                <a16:creationId xmlns:a16="http://schemas.microsoft.com/office/drawing/2014/main" id="{3D38F166-161C-C6F5-A366-DE409D532247}"/>
              </a:ext>
            </a:extLst>
          </p:cNvPr>
          <p:cNvSpPr>
            <a:spLocks/>
          </p:cNvSpPr>
          <p:nvPr/>
        </p:nvSpPr>
        <p:spPr bwMode="auto">
          <a:xfrm>
            <a:off x="2209800" y="3627438"/>
            <a:ext cx="4495800" cy="1554162"/>
          </a:xfrm>
          <a:custGeom>
            <a:avLst/>
            <a:gdLst>
              <a:gd name="T0" fmla="*/ 0 w 21600"/>
              <a:gd name="T1" fmla="*/ 2147483646 h 20640"/>
              <a:gd name="T2" fmla="*/ 2147483646 w 21600"/>
              <a:gd name="T3" fmla="*/ 1031043344 h 20640"/>
              <a:gd name="T4" fmla="*/ 2147483646 w 21600"/>
              <a:gd name="T5" fmla="*/ 166501426 h 20640"/>
              <a:gd name="T6" fmla="*/ 2147483646 w 21600"/>
              <a:gd name="T7" fmla="*/ 166501426 h 20640"/>
              <a:gd name="T8" fmla="*/ 2147483646 w 21600"/>
              <a:gd name="T9" fmla="*/ 1895585338 h 20640"/>
              <a:gd name="T10" fmla="*/ 2147483646 w 21600"/>
              <a:gd name="T11" fmla="*/ 2147483646 h 206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0640"/>
              <a:gd name="T20" fmla="*/ 21600 w 21600"/>
              <a:gd name="T21" fmla="*/ 20640 h 206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0640">
                <a:moveTo>
                  <a:pt x="0" y="20640"/>
                </a:moveTo>
                <a:cubicBezTo>
                  <a:pt x="1556" y="13215"/>
                  <a:pt x="3112" y="5790"/>
                  <a:pt x="4393" y="2415"/>
                </a:cubicBezTo>
                <a:cubicBezTo>
                  <a:pt x="5675" y="-960"/>
                  <a:pt x="5675" y="727"/>
                  <a:pt x="7688" y="390"/>
                </a:cubicBezTo>
                <a:cubicBezTo>
                  <a:pt x="9702" y="52"/>
                  <a:pt x="14644" y="-285"/>
                  <a:pt x="16475" y="390"/>
                </a:cubicBezTo>
                <a:cubicBezTo>
                  <a:pt x="18305" y="1065"/>
                  <a:pt x="17817" y="1402"/>
                  <a:pt x="18671" y="4440"/>
                </a:cubicBezTo>
                <a:cubicBezTo>
                  <a:pt x="19525" y="7478"/>
                  <a:pt x="20563" y="13046"/>
                  <a:pt x="21600" y="18615"/>
                </a:cubicBezTo>
              </a:path>
            </a:pathLst>
          </a:custGeom>
          <a:noFill/>
          <a:ln w="76200">
            <a:solidFill>
              <a:srgbClr val="E36853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3502" name="Rectangle 21">
            <a:extLst>
              <a:ext uri="{FF2B5EF4-FFF2-40B4-BE49-F238E27FC236}">
                <a16:creationId xmlns:a16="http://schemas.microsoft.com/office/drawing/2014/main" id="{006219C3-A822-5AAC-840F-8F683A0B9D5C}"/>
              </a:ext>
            </a:extLst>
          </p:cNvPr>
          <p:cNvSpPr>
            <a:spLocks/>
          </p:cNvSpPr>
          <p:nvPr/>
        </p:nvSpPr>
        <p:spPr bwMode="auto">
          <a:xfrm>
            <a:off x="3105150" y="3429000"/>
            <a:ext cx="2932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FFFFFF"/>
                </a:solidFill>
                <a:latin typeface="Arial" panose="020B0604020202020204" pitchFamily="34" charset="0"/>
              </a:rPr>
              <a:t>Normal L2/L3 Processing</a:t>
            </a:r>
          </a:p>
        </p:txBody>
      </p:sp>
      <p:sp>
        <p:nvSpPr>
          <p:cNvPr id="22550" name="AutoShape 22">
            <a:extLst>
              <a:ext uri="{FF2B5EF4-FFF2-40B4-BE49-F238E27FC236}">
                <a16:creationId xmlns:a16="http://schemas.microsoft.com/office/drawing/2014/main" id="{DC5F1082-ED21-5562-69CE-EBE1D06A808A}"/>
              </a:ext>
            </a:extLst>
          </p:cNvPr>
          <p:cNvSpPr>
            <a:spLocks/>
          </p:cNvSpPr>
          <p:nvPr/>
        </p:nvSpPr>
        <p:spPr bwMode="auto">
          <a:xfrm>
            <a:off x="1979613" y="2847975"/>
            <a:ext cx="5030787" cy="2282825"/>
          </a:xfrm>
          <a:custGeom>
            <a:avLst/>
            <a:gdLst>
              <a:gd name="T0" fmla="*/ 0 w 21600"/>
              <a:gd name="T1" fmla="*/ 2147483646 h 20640"/>
              <a:gd name="T2" fmla="*/ 2147483646 w 21600"/>
              <a:gd name="T3" fmla="*/ 2147483646 h 20640"/>
              <a:gd name="T4" fmla="*/ 2147483646 w 21600"/>
              <a:gd name="T5" fmla="*/ 527661837 h 20640"/>
              <a:gd name="T6" fmla="*/ 2147483646 w 21600"/>
              <a:gd name="T7" fmla="*/ 527661837 h 20640"/>
              <a:gd name="T8" fmla="*/ 2147483646 w 21600"/>
              <a:gd name="T9" fmla="*/ 2147483646 h 20640"/>
              <a:gd name="T10" fmla="*/ 2147483646 w 21600"/>
              <a:gd name="T11" fmla="*/ 2147483646 h 206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600"/>
              <a:gd name="T19" fmla="*/ 0 h 20640"/>
              <a:gd name="T20" fmla="*/ 21600 w 21600"/>
              <a:gd name="T21" fmla="*/ 20640 h 206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0640">
                <a:moveTo>
                  <a:pt x="0" y="20640"/>
                </a:moveTo>
                <a:cubicBezTo>
                  <a:pt x="1556" y="13215"/>
                  <a:pt x="3112" y="5790"/>
                  <a:pt x="4393" y="2415"/>
                </a:cubicBezTo>
                <a:cubicBezTo>
                  <a:pt x="5675" y="-960"/>
                  <a:pt x="5675" y="728"/>
                  <a:pt x="7688" y="390"/>
                </a:cubicBezTo>
                <a:cubicBezTo>
                  <a:pt x="9702" y="53"/>
                  <a:pt x="14644" y="-285"/>
                  <a:pt x="16475" y="390"/>
                </a:cubicBezTo>
                <a:cubicBezTo>
                  <a:pt x="18305" y="1065"/>
                  <a:pt x="17817" y="1403"/>
                  <a:pt x="18671" y="4440"/>
                </a:cubicBezTo>
                <a:cubicBezTo>
                  <a:pt x="19525" y="7478"/>
                  <a:pt x="20563" y="13046"/>
                  <a:pt x="21600" y="18615"/>
                </a:cubicBezTo>
              </a:path>
            </a:pathLst>
          </a:custGeom>
          <a:noFill/>
          <a:ln w="76200">
            <a:solidFill>
              <a:srgbClr val="99CC00"/>
            </a:solidFill>
            <a:miter lim="800000"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C0987669-D698-E75E-EB26-A2CF67624F3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667000"/>
            <a:ext cx="1752600" cy="457200"/>
            <a:chOff x="0" y="0"/>
            <a:chExt cx="1104" cy="288"/>
          </a:xfrm>
        </p:grpSpPr>
        <p:grpSp>
          <p:nvGrpSpPr>
            <p:cNvPr id="63512" name="Group 24">
              <a:extLst>
                <a:ext uri="{FF2B5EF4-FFF2-40B4-BE49-F238E27FC236}">
                  <a16:creationId xmlns:a16="http://schemas.microsoft.com/office/drawing/2014/main" id="{00D034A9-B9EC-B22F-60FD-BEC11C013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104" cy="288"/>
              <a:chOff x="0" y="0"/>
              <a:chExt cx="1104" cy="288"/>
            </a:xfrm>
          </p:grpSpPr>
          <p:sp>
            <p:nvSpPr>
              <p:cNvPr id="63514" name="Rectangle 25">
                <a:extLst>
                  <a:ext uri="{FF2B5EF4-FFF2-40B4-BE49-F238E27FC236}">
                    <a16:creationId xmlns:a16="http://schemas.microsoft.com/office/drawing/2014/main" id="{1301119C-E150-C75F-3E7B-7C8BFA367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104" cy="28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TW" altLang="zh-TW" sz="1800">
                  <a:solidFill>
                    <a:schemeClr val="tx1"/>
                  </a:solidFill>
                  <a:latin typeface="Arial" panose="020B0604020202020204" pitchFamily="34" charset="0"/>
                  <a:ea typeface="ヒラギノ角ゴ ProN W3" pitchFamily="-108" charset="-128"/>
                </a:endParaRPr>
              </a:p>
            </p:txBody>
          </p:sp>
          <p:sp>
            <p:nvSpPr>
              <p:cNvPr id="63515" name="Rectangle 26">
                <a:extLst>
                  <a:ext uri="{FF2B5EF4-FFF2-40B4-BE49-F238E27FC236}">
                    <a16:creationId xmlns:a16="http://schemas.microsoft.com/office/drawing/2014/main" id="{F4DF08F2-84A3-E692-F510-E41DAD778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" y="57"/>
                <a:ext cx="91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1800">
                    <a:solidFill>
                      <a:schemeClr val="tx1"/>
                    </a:solidFill>
                    <a:latin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3513" name="Picture 27">
              <a:extLst>
                <a:ext uri="{FF2B5EF4-FFF2-40B4-BE49-F238E27FC236}">
                  <a16:creationId xmlns:a16="http://schemas.microsoft.com/office/drawing/2014/main" id="{1A72EBA7-8182-7686-A58E-848D368E636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"/>
              <a:ext cx="288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56" name="Rectangle 28">
            <a:extLst>
              <a:ext uri="{FF2B5EF4-FFF2-40B4-BE49-F238E27FC236}">
                <a16:creationId xmlns:a16="http://schemas.microsoft.com/office/drawing/2014/main" id="{153C7F09-1BD8-DFF5-5852-63B6485D7F77}"/>
              </a:ext>
            </a:extLst>
          </p:cNvPr>
          <p:cNvSpPr>
            <a:spLocks/>
          </p:cNvSpPr>
          <p:nvPr/>
        </p:nvSpPr>
        <p:spPr bwMode="auto">
          <a:xfrm>
            <a:off x="889000" y="3276600"/>
            <a:ext cx="194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Production VLANs</a:t>
            </a:r>
          </a:p>
        </p:txBody>
      </p:sp>
      <p:sp>
        <p:nvSpPr>
          <p:cNvPr id="22557" name="Rectangle 29">
            <a:extLst>
              <a:ext uri="{FF2B5EF4-FFF2-40B4-BE49-F238E27FC236}">
                <a16:creationId xmlns:a16="http://schemas.microsoft.com/office/drawing/2014/main" id="{1D086835-49BF-F42C-308E-217CED31510E}"/>
              </a:ext>
            </a:extLst>
          </p:cNvPr>
          <p:cNvSpPr>
            <a:spLocks/>
          </p:cNvSpPr>
          <p:nvPr/>
        </p:nvSpPr>
        <p:spPr bwMode="auto">
          <a:xfrm>
            <a:off x="965200" y="2438400"/>
            <a:ext cx="1833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</a:rPr>
              <a:t>Research VLANs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CED45040-4D5E-122C-37C6-4641D446FB5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752600"/>
            <a:ext cx="2284413" cy="1219200"/>
            <a:chOff x="0" y="0"/>
            <a:chExt cx="1439" cy="768"/>
          </a:xfrm>
        </p:grpSpPr>
        <p:grpSp>
          <p:nvGrpSpPr>
            <p:cNvPr id="63508" name="Group 31">
              <a:extLst>
                <a:ext uri="{FF2B5EF4-FFF2-40B4-BE49-F238E27FC236}">
                  <a16:creationId xmlns:a16="http://schemas.microsoft.com/office/drawing/2014/main" id="{C66F1C90-0749-96EE-FDA6-BB744DCFA3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92"/>
              <a:ext cx="576" cy="576"/>
              <a:chOff x="0" y="0"/>
              <a:chExt cx="576" cy="576"/>
            </a:xfrm>
          </p:grpSpPr>
          <p:pic>
            <p:nvPicPr>
              <p:cNvPr id="63511" name="Picture 32">
                <a:extLst>
                  <a:ext uri="{FF2B5EF4-FFF2-40B4-BE49-F238E27FC236}">
                    <a16:creationId xmlns:a16="http://schemas.microsoft.com/office/drawing/2014/main" id="{86636629-5D9E-2664-BB26-07319D2CD004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3509" name="Line 33">
              <a:extLst>
                <a:ext uri="{FF2B5EF4-FFF2-40B4-BE49-F238E27FC236}">
                  <a16:creationId xmlns:a16="http://schemas.microsoft.com/office/drawing/2014/main" id="{5DDAF266-4B2F-D85D-5B1E-4D40F7BA52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384"/>
              <a:ext cx="720" cy="24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0" name="Rectangle 34">
              <a:extLst>
                <a:ext uri="{FF2B5EF4-FFF2-40B4-BE49-F238E27FC236}">
                  <a16:creationId xmlns:a16="http://schemas.microsoft.com/office/drawing/2014/main" id="{4143D848-86B3-C472-8A3E-EB5D27485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" y="0"/>
              <a:ext cx="99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>
              <a:lvl1pPr marL="39688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ts val="1050"/>
                </a:spcBef>
                <a:buClrTx/>
                <a:buFontTx/>
                <a:buNone/>
              </a:pPr>
              <a:r>
                <a:rPr lang="en-US" altLang="zh-TW" sz="1800">
                  <a:solidFill>
                    <a:srgbClr val="FA3D2E"/>
                  </a:solidFill>
                  <a:latin typeface="Arial" panose="020B0604020202020204" pitchFamily="34" charset="0"/>
                </a:rPr>
                <a:t>Controller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6" grpId="0" autoUpdateAnimBg="0"/>
      <p:bldP spid="2255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BC8061-6123-5A1B-0C7B-67313C4C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2827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Dynamic Flow Aggregation on an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5539" name="內容版面配置區 2">
            <a:extLst>
              <a:ext uri="{FF2B5EF4-FFF2-40B4-BE49-F238E27FC236}">
                <a16:creationId xmlns:a16="http://schemas.microsoft.com/office/drawing/2014/main" id="{B77EA083-7AE4-2B8F-3D3D-647413DE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81325"/>
          </a:xfrm>
        </p:spPr>
        <p:txBody>
          <a:bodyPr/>
          <a:lstStyle/>
          <a:p>
            <a:pPr eaLnBrk="1" hangingPunct="1"/>
            <a:r>
              <a:rPr lang="en-US" altLang="zh-TW"/>
              <a:t>Scope</a:t>
            </a:r>
          </a:p>
          <a:p>
            <a:pPr lvl="1" eaLnBrk="1" hangingPunct="1"/>
            <a:r>
              <a:rPr lang="en-US" altLang="zh-TW"/>
              <a:t>Different Networks want different flow granularity (ISP, Backbone,…)</a:t>
            </a:r>
          </a:p>
          <a:p>
            <a:pPr lvl="1" eaLnBrk="1" hangingPunct="1"/>
            <a:r>
              <a:rPr lang="en-US" altLang="zh-TW"/>
              <a:t>Switch resources are limited (flow entries, memory)</a:t>
            </a:r>
          </a:p>
          <a:p>
            <a:pPr lvl="1" eaLnBrk="1" hangingPunct="1"/>
            <a:r>
              <a:rPr lang="en-US" altLang="zh-TW"/>
              <a:t>Network management is hard</a:t>
            </a:r>
          </a:p>
          <a:p>
            <a:pPr lvl="1" eaLnBrk="1" hangingPunct="1"/>
            <a:r>
              <a:rPr lang="en-US" altLang="zh-TW"/>
              <a:t>Current Solutions : MPLS, IP aggregation</a:t>
            </a:r>
            <a:endParaRPr lang="en-US" altLang="zh-TW" sz="36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8C273-9ACB-F616-3D88-630D01B78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274638"/>
            <a:ext cx="8785225" cy="1066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Dynamic Flow Aggregation on an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Network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6563" name="內容版面配置區 2">
            <a:extLst>
              <a:ext uri="{FF2B5EF4-FFF2-40B4-BE49-F238E27FC236}">
                <a16:creationId xmlns:a16="http://schemas.microsoft.com/office/drawing/2014/main" id="{6AFD87D0-CD9F-B44B-2398-E42C8FA63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213350"/>
          </a:xfrm>
        </p:spPr>
        <p:txBody>
          <a:bodyPr/>
          <a:lstStyle/>
          <a:p>
            <a:pPr eaLnBrk="1" hangingPunct="1"/>
            <a:r>
              <a:rPr lang="en-US" altLang="zh-TW"/>
              <a:t>How do OpenFlow Help?</a:t>
            </a:r>
          </a:p>
          <a:p>
            <a:pPr lvl="1" eaLnBrk="1" hangingPunct="1"/>
            <a:r>
              <a:rPr lang="en-US" altLang="zh-TW"/>
              <a:t>Dynamically define flow granularity by wildcarding arbitrary header fields</a:t>
            </a:r>
          </a:p>
          <a:p>
            <a:pPr lvl="1" eaLnBrk="1" hangingPunct="1"/>
            <a:r>
              <a:rPr lang="en-US" altLang="zh-TW"/>
              <a:t>Granularity is on the switch flow entries, no packet rewrite or encapsulation</a:t>
            </a:r>
          </a:p>
          <a:p>
            <a:pPr lvl="1" eaLnBrk="1" hangingPunct="1"/>
            <a:r>
              <a:rPr lang="en-US" altLang="zh-TW"/>
              <a:t>Create meaningful bundles and manage them using your own software (reroute, monitor)</a:t>
            </a:r>
          </a:p>
          <a:p>
            <a:pPr eaLnBrk="1" hangingPunct="1"/>
            <a:endParaRPr lang="en-US" altLang="zh-TW" sz="3600">
              <a:latin typeface="Calibri" panose="020F0502020204030204" pitchFamily="34" charset="0"/>
            </a:endParaRPr>
          </a:p>
          <a:p>
            <a:pPr eaLnBrk="1" hangingPunct="1"/>
            <a:endParaRPr lang="zh-TW" altLang="en-US"/>
          </a:p>
        </p:txBody>
      </p:sp>
      <p:pic>
        <p:nvPicPr>
          <p:cNvPr id="66564" name="Picture 5" descr="unaggregated.png">
            <a:extLst>
              <a:ext uri="{FF2B5EF4-FFF2-40B4-BE49-F238E27FC236}">
                <a16:creationId xmlns:a16="http://schemas.microsoft.com/office/drawing/2014/main" id="{FCF2E770-C815-923A-4672-2F6F41E3C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4527550"/>
            <a:ext cx="2735263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17" descr="modified.png">
            <a:extLst>
              <a:ext uri="{FF2B5EF4-FFF2-40B4-BE49-F238E27FC236}">
                <a16:creationId xmlns:a16="http://schemas.microsoft.com/office/drawing/2014/main" id="{55F249F6-156B-F770-2CE9-B3FCE64373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4527550"/>
            <a:ext cx="275590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Right Arrow 24">
            <a:extLst>
              <a:ext uri="{FF2B5EF4-FFF2-40B4-BE49-F238E27FC236}">
                <a16:creationId xmlns:a16="http://schemas.microsoft.com/office/drawing/2014/main" id="{EAAEEC27-1B89-5E8F-18E1-35F9F05C8FB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427538" y="5229225"/>
            <a:ext cx="620712" cy="269875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8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36576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365760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3657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3657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3657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3657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de-DE" altLang="zh-TW" sz="72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E6B5BBF9-7C82-90F1-9D6F-F28D637B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Virtualizing OpenFlow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31FC1859-FEAE-3E89-C7E1-9045F412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Network operators “Delegate” control of subsets of network hardware and/or traffic to other network operators or users</a:t>
            </a:r>
          </a:p>
          <a:p>
            <a:pPr eaLnBrk="1" hangingPunct="1"/>
            <a:r>
              <a:rPr lang="en-US" altLang="zh-TW"/>
              <a:t>Multiple controllers can talk to the same set of switches</a:t>
            </a:r>
          </a:p>
          <a:p>
            <a:pPr eaLnBrk="1" hangingPunct="1"/>
            <a:r>
              <a:rPr lang="en-US" altLang="zh-TW"/>
              <a:t>Imagine a </a:t>
            </a:r>
            <a:r>
              <a:rPr lang="en-US" altLang="zh-TW">
                <a:solidFill>
                  <a:srgbClr val="FF0000"/>
                </a:solidFill>
              </a:rPr>
              <a:t>hypervisor</a:t>
            </a:r>
            <a:r>
              <a:rPr lang="en-US" altLang="zh-TW"/>
              <a:t> for network equipments</a:t>
            </a:r>
          </a:p>
          <a:p>
            <a:pPr eaLnBrk="1" hangingPunct="1"/>
            <a:r>
              <a:rPr lang="en-US" altLang="zh-TW"/>
              <a:t>Allow experiments to be run on the network in isolation of each other and production traffic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>
            <a:extLst>
              <a:ext uri="{FF2B5EF4-FFF2-40B4-BE49-F238E27FC236}">
                <a16:creationId xmlns:a16="http://schemas.microsoft.com/office/drawing/2014/main" id="{EE9C32AD-7F22-58B4-5C30-BD6965C57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241300"/>
            <a:ext cx="8232775" cy="892175"/>
          </a:xfrm>
        </p:spPr>
        <p:txBody>
          <a:bodyPr rIns="81277" rtlCol="0">
            <a:normAutofit fontScale="90000"/>
          </a:bodyPr>
          <a:lstStyle/>
          <a:p>
            <a:pPr marL="38100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accent5">
                    <a:lumMod val="50000"/>
                  </a:schemeClr>
                </a:solidFill>
                <a:sym typeface="Helvetica" charset="0"/>
              </a:rPr>
              <a:t>Switch Based Virtualization</a:t>
            </a:r>
            <a:br>
              <a:rPr lang="en-US">
                <a:solidFill>
                  <a:schemeClr val="accent5">
                    <a:lumMod val="50000"/>
                  </a:schemeClr>
                </a:solidFill>
                <a:ea typeface="ヒラギノ角ゴ ProN W6" charset="-128"/>
                <a:cs typeface="ヒラギノ角ゴ ProN W6" charset="-128"/>
                <a:sym typeface="Helvetica" charset="0"/>
              </a:rPr>
            </a:br>
            <a:r>
              <a:rPr lang="en-US" sz="1800">
                <a:solidFill>
                  <a:schemeClr val="accent5">
                    <a:lumMod val="50000"/>
                  </a:schemeClr>
                </a:solidFill>
                <a:latin typeface="Helvetica" charset="0"/>
                <a:sym typeface="Helvetica" charset="0"/>
              </a:rPr>
              <a:t>Exists for NEC, HP switches but not flexible enough</a:t>
            </a:r>
          </a:p>
        </p:txBody>
      </p:sp>
      <p:grpSp>
        <p:nvGrpSpPr>
          <p:cNvPr id="68611" name="Group 2">
            <a:extLst>
              <a:ext uri="{FF2B5EF4-FFF2-40B4-BE49-F238E27FC236}">
                <a16:creationId xmlns:a16="http://schemas.microsoft.com/office/drawing/2014/main" id="{11334515-D7E5-D973-C31D-3E89F3C97733}"/>
              </a:ext>
            </a:extLst>
          </p:cNvPr>
          <p:cNvGrpSpPr>
            <a:grpSpLocks/>
          </p:cNvGrpSpPr>
          <p:nvPr/>
        </p:nvGrpSpPr>
        <p:grpSpPr bwMode="auto">
          <a:xfrm>
            <a:off x="2894013" y="3038475"/>
            <a:ext cx="3348037" cy="1374775"/>
            <a:chOff x="0" y="0"/>
            <a:chExt cx="3000" cy="1232"/>
          </a:xfrm>
        </p:grpSpPr>
        <p:grpSp>
          <p:nvGrpSpPr>
            <p:cNvPr id="68669" name="Group 3">
              <a:extLst>
                <a:ext uri="{FF2B5EF4-FFF2-40B4-BE49-F238E27FC236}">
                  <a16:creationId xmlns:a16="http://schemas.microsoft.com/office/drawing/2014/main" id="{CD1F799A-08AE-169E-9470-F8D0AF420F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73" name="AutoShape 4">
                <a:extLst>
                  <a:ext uri="{FF2B5EF4-FFF2-40B4-BE49-F238E27FC236}">
                    <a16:creationId xmlns:a16="http://schemas.microsoft.com/office/drawing/2014/main" id="{82E5DF66-F376-BED3-25AE-C29DAF422A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3333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74" name="Rectangle 5">
                <a:extLst>
                  <a:ext uri="{FF2B5EF4-FFF2-40B4-BE49-F238E27FC236}">
                    <a16:creationId xmlns:a16="http://schemas.microsoft.com/office/drawing/2014/main" id="{E67FD913-B3D9-3F84-4797-F7F826467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70" name="Group 6">
              <a:extLst>
                <a:ext uri="{FF2B5EF4-FFF2-40B4-BE49-F238E27FC236}">
                  <a16:creationId xmlns:a16="http://schemas.microsoft.com/office/drawing/2014/main" id="{C28F77EF-7CFB-5379-8EC2-EBD9515012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71" name="AutoShape 7">
                <a:extLst>
                  <a:ext uri="{FF2B5EF4-FFF2-40B4-BE49-F238E27FC236}">
                    <a16:creationId xmlns:a16="http://schemas.microsoft.com/office/drawing/2014/main" id="{095A33EF-AE59-DDFA-E802-EBB5699CC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B5B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72" name="Rectangle 8">
                <a:extLst>
                  <a:ext uri="{FF2B5EF4-FFF2-40B4-BE49-F238E27FC236}">
                    <a16:creationId xmlns:a16="http://schemas.microsoft.com/office/drawing/2014/main" id="{0418B89F-54FC-BCA4-84B3-6368B68499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41833BE8-55A6-E3A7-3E9B-5F609A299DD8}"/>
              </a:ext>
            </a:extLst>
          </p:cNvPr>
          <p:cNvGrpSpPr>
            <a:grpSpLocks/>
          </p:cNvGrpSpPr>
          <p:nvPr/>
        </p:nvGrpSpPr>
        <p:grpSpPr bwMode="auto">
          <a:xfrm>
            <a:off x="2894013" y="2270125"/>
            <a:ext cx="3348037" cy="1374775"/>
            <a:chOff x="0" y="0"/>
            <a:chExt cx="3000" cy="1232"/>
          </a:xfrm>
        </p:grpSpPr>
        <p:grpSp>
          <p:nvGrpSpPr>
            <p:cNvPr id="68663" name="Group 10">
              <a:extLst>
                <a:ext uri="{FF2B5EF4-FFF2-40B4-BE49-F238E27FC236}">
                  <a16:creationId xmlns:a16="http://schemas.microsoft.com/office/drawing/2014/main" id="{3451F9AC-54F9-4983-C820-A1EC355A9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67" name="AutoShape 11">
                <a:extLst>
                  <a:ext uri="{FF2B5EF4-FFF2-40B4-BE49-F238E27FC236}">
                    <a16:creationId xmlns:a16="http://schemas.microsoft.com/office/drawing/2014/main" id="{28CC09A5-D4DC-A411-ECDC-AE604ABC0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68" name="Rectangle 12">
                <a:extLst>
                  <a:ext uri="{FF2B5EF4-FFF2-40B4-BE49-F238E27FC236}">
                    <a16:creationId xmlns:a16="http://schemas.microsoft.com/office/drawing/2014/main" id="{7CF81500-B390-C1C1-36C7-070593EBB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64" name="Group 13">
              <a:extLst>
                <a:ext uri="{FF2B5EF4-FFF2-40B4-BE49-F238E27FC236}">
                  <a16:creationId xmlns:a16="http://schemas.microsoft.com/office/drawing/2014/main" id="{8882958B-3E73-7FE4-51E2-FED40CD30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65" name="AutoShape 14">
                <a:extLst>
                  <a:ext uri="{FF2B5EF4-FFF2-40B4-BE49-F238E27FC236}">
                    <a16:creationId xmlns:a16="http://schemas.microsoft.com/office/drawing/2014/main" id="{6395F70A-1AAE-4A45-3DC8-572A4CDA1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66" name="Rectangle 15">
                <a:extLst>
                  <a:ext uri="{FF2B5EF4-FFF2-40B4-BE49-F238E27FC236}">
                    <a16:creationId xmlns:a16="http://schemas.microsoft.com/office/drawing/2014/main" id="{262C856F-B4C4-02E5-7B22-3B94B7C0A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68613" name="Line 16">
            <a:extLst>
              <a:ext uri="{FF2B5EF4-FFF2-40B4-BE49-F238E27FC236}">
                <a16:creationId xmlns:a16="http://schemas.microsoft.com/office/drawing/2014/main" id="{AAFAA354-DE98-BC2B-8B88-3D2345AFA1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0175" y="4252913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pic>
        <p:nvPicPr>
          <p:cNvPr id="68614" name="Picture 17">
            <a:extLst>
              <a:ext uri="{FF2B5EF4-FFF2-40B4-BE49-F238E27FC236}">
                <a16:creationId xmlns:a16="http://schemas.microsoft.com/office/drawing/2014/main" id="{539981B5-4B16-3594-1338-B8A0EBB3743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5395913"/>
            <a:ext cx="1063625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18">
            <a:extLst>
              <a:ext uri="{FF2B5EF4-FFF2-40B4-BE49-F238E27FC236}">
                <a16:creationId xmlns:a16="http://schemas.microsoft.com/office/drawing/2014/main" id="{93614517-DF53-0501-9F6A-8AE6090E071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5632450"/>
            <a:ext cx="106362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9">
            <a:extLst>
              <a:ext uri="{FF2B5EF4-FFF2-40B4-BE49-F238E27FC236}">
                <a16:creationId xmlns:a16="http://schemas.microsoft.com/office/drawing/2014/main" id="{B50D3858-AC20-79C1-B05E-EC4BCFF8271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627688"/>
            <a:ext cx="1062038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7" name="Picture 20">
            <a:extLst>
              <a:ext uri="{FF2B5EF4-FFF2-40B4-BE49-F238E27FC236}">
                <a16:creationId xmlns:a16="http://schemas.microsoft.com/office/drawing/2014/main" id="{EB9D6FC5-BDAF-019A-1DC4-2087C50C801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775" y="5327650"/>
            <a:ext cx="106362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8" name="Line 21">
            <a:extLst>
              <a:ext uri="{FF2B5EF4-FFF2-40B4-BE49-F238E27FC236}">
                <a16:creationId xmlns:a16="http://schemas.microsoft.com/office/drawing/2014/main" id="{DD231E81-1BF4-F196-CA2F-A90660F916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4613" y="4405313"/>
            <a:ext cx="169862" cy="1217612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8619" name="Line 22">
            <a:extLst>
              <a:ext uri="{FF2B5EF4-FFF2-40B4-BE49-F238E27FC236}">
                <a16:creationId xmlns:a16="http://schemas.microsoft.com/office/drawing/2014/main" id="{343BB4C5-D644-47EB-8E88-2BA8FD790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7613" y="4405313"/>
            <a:ext cx="169862" cy="1217612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8620" name="Line 23">
            <a:extLst>
              <a:ext uri="{FF2B5EF4-FFF2-40B4-BE49-F238E27FC236}">
                <a16:creationId xmlns:a16="http://schemas.microsoft.com/office/drawing/2014/main" id="{FEB06237-B89C-0BE8-A793-9D8AF080E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252913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id="{23A2950E-F5BE-1AE1-EEC3-F939FA5EAE43}"/>
              </a:ext>
            </a:extLst>
          </p:cNvPr>
          <p:cNvGrpSpPr>
            <a:grpSpLocks/>
          </p:cNvGrpSpPr>
          <p:nvPr/>
        </p:nvGrpSpPr>
        <p:grpSpPr bwMode="auto">
          <a:xfrm>
            <a:off x="2205038" y="3994150"/>
            <a:ext cx="4548187" cy="1555750"/>
            <a:chOff x="0" y="0"/>
            <a:chExt cx="4074" cy="1392"/>
          </a:xfrm>
        </p:grpSpPr>
        <p:sp>
          <p:nvSpPr>
            <p:cNvPr id="68661" name="Freeform 25">
              <a:extLst>
                <a:ext uri="{FF2B5EF4-FFF2-40B4-BE49-F238E27FC236}">
                  <a16:creationId xmlns:a16="http://schemas.microsoft.com/office/drawing/2014/main" id="{8523A3C0-F498-436C-1C07-7466CCBB2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074" cy="1392"/>
            </a:xfrm>
            <a:custGeom>
              <a:avLst/>
              <a:gdLst>
                <a:gd name="T0" fmla="*/ 0 w 21600"/>
                <a:gd name="T1" fmla="*/ 0 h 20640"/>
                <a:gd name="T2" fmla="*/ 0 w 21600"/>
                <a:gd name="T3" fmla="*/ 0 h 20640"/>
                <a:gd name="T4" fmla="*/ 0 w 21600"/>
                <a:gd name="T5" fmla="*/ 0 h 20640"/>
                <a:gd name="T6" fmla="*/ 0 w 21600"/>
                <a:gd name="T7" fmla="*/ 0 h 20640"/>
                <a:gd name="T8" fmla="*/ 0 w 21600"/>
                <a:gd name="T9" fmla="*/ 0 h 20640"/>
                <a:gd name="T10" fmla="*/ 0 w 21600"/>
                <a:gd name="T11" fmla="*/ 0 h 20640"/>
                <a:gd name="T12" fmla="*/ 0 w 21600"/>
                <a:gd name="T13" fmla="*/ 0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37" y="13215"/>
                    <a:pt x="3074" y="5790"/>
                    <a:pt x="4339" y="2415"/>
                  </a:cubicBezTo>
                  <a:cubicBezTo>
                    <a:pt x="5605" y="-960"/>
                    <a:pt x="5605" y="727"/>
                    <a:pt x="7594" y="390"/>
                  </a:cubicBezTo>
                  <a:cubicBezTo>
                    <a:pt x="9583" y="52"/>
                    <a:pt x="14464" y="-285"/>
                    <a:pt x="16273" y="390"/>
                  </a:cubicBezTo>
                  <a:cubicBezTo>
                    <a:pt x="18080" y="1065"/>
                    <a:pt x="17598" y="1402"/>
                    <a:pt x="18442" y="4440"/>
                  </a:cubicBezTo>
                  <a:cubicBezTo>
                    <a:pt x="19285" y="7478"/>
                    <a:pt x="20311" y="13046"/>
                    <a:pt x="21335" y="18615"/>
                  </a:cubicBezTo>
                  <a:lnTo>
                    <a:pt x="21600" y="20057"/>
                  </a:lnTo>
                </a:path>
              </a:pathLst>
            </a:custGeom>
            <a:noFill/>
            <a:ln w="76200" cap="flat">
              <a:solidFill>
                <a:srgbClr val="E36853"/>
              </a:solidFill>
              <a:prstDash val="solid"/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8662" name="Rectangle 26">
              <a:extLst>
                <a:ext uri="{FF2B5EF4-FFF2-40B4-BE49-F238E27FC236}">
                  <a16:creationId xmlns:a16="http://schemas.microsoft.com/office/drawing/2014/main" id="{FAA3F998-ED90-26EC-5885-AA0004668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88"/>
              <a:ext cx="402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8622" name="Rectangle 27">
            <a:extLst>
              <a:ext uri="{FF2B5EF4-FFF2-40B4-BE49-F238E27FC236}">
                <a16:creationId xmlns:a16="http://schemas.microsoft.com/office/drawing/2014/main" id="{DBB38BD5-59A6-1061-E367-5A78E1BB9597}"/>
              </a:ext>
            </a:extLst>
          </p:cNvPr>
          <p:cNvSpPr>
            <a:spLocks/>
          </p:cNvSpPr>
          <p:nvPr/>
        </p:nvSpPr>
        <p:spPr bwMode="auto">
          <a:xfrm>
            <a:off x="3268663" y="3797300"/>
            <a:ext cx="2632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000">
                <a:solidFill>
                  <a:srgbClr val="FFFFFF"/>
                </a:solidFill>
                <a:latin typeface="Calibri" panose="020F0502020204030204" pitchFamily="34" charset="0"/>
              </a:rPr>
              <a:t>Normal L2/L3 Processing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59F23306-5536-9BFA-DD21-E6D5182AFCCD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3216275"/>
            <a:ext cx="5075237" cy="2282825"/>
            <a:chOff x="0" y="0"/>
            <a:chExt cx="4546" cy="2045"/>
          </a:xfrm>
        </p:grpSpPr>
        <p:sp>
          <p:nvSpPr>
            <p:cNvPr id="68659" name="Freeform 29">
              <a:extLst>
                <a:ext uri="{FF2B5EF4-FFF2-40B4-BE49-F238E27FC236}">
                  <a16:creationId xmlns:a16="http://schemas.microsoft.com/office/drawing/2014/main" id="{02DA7597-FE13-339C-FB6D-E9BF0ED31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546" cy="2045"/>
            </a:xfrm>
            <a:custGeom>
              <a:avLst/>
              <a:gdLst>
                <a:gd name="T0" fmla="*/ 0 w 21600"/>
                <a:gd name="T1" fmla="*/ 0 h 20640"/>
                <a:gd name="T2" fmla="*/ 0 w 21600"/>
                <a:gd name="T3" fmla="*/ 0 h 20640"/>
                <a:gd name="T4" fmla="*/ 0 w 21600"/>
                <a:gd name="T5" fmla="*/ 0 h 20640"/>
                <a:gd name="T6" fmla="*/ 0 w 21600"/>
                <a:gd name="T7" fmla="*/ 0 h 20640"/>
                <a:gd name="T8" fmla="*/ 0 w 21600"/>
                <a:gd name="T9" fmla="*/ 0 h 20640"/>
                <a:gd name="T10" fmla="*/ 0 w 21600"/>
                <a:gd name="T11" fmla="*/ 0 h 20640"/>
                <a:gd name="T12" fmla="*/ 0 w 21600"/>
                <a:gd name="T13" fmla="*/ 0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42" y="13215"/>
                    <a:pt x="3085" y="5790"/>
                    <a:pt x="4354" y="2415"/>
                  </a:cubicBezTo>
                  <a:cubicBezTo>
                    <a:pt x="5625" y="-960"/>
                    <a:pt x="5625" y="728"/>
                    <a:pt x="7621" y="390"/>
                  </a:cubicBezTo>
                  <a:cubicBezTo>
                    <a:pt x="9617" y="53"/>
                    <a:pt x="14515" y="-285"/>
                    <a:pt x="16330" y="390"/>
                  </a:cubicBezTo>
                  <a:cubicBezTo>
                    <a:pt x="18144" y="1065"/>
                    <a:pt x="17661" y="1403"/>
                    <a:pt x="18507" y="4440"/>
                  </a:cubicBezTo>
                  <a:cubicBezTo>
                    <a:pt x="19354" y="7478"/>
                    <a:pt x="20382" y="13046"/>
                    <a:pt x="21410" y="18615"/>
                  </a:cubicBezTo>
                  <a:lnTo>
                    <a:pt x="21600" y="19642"/>
                  </a:lnTo>
                </a:path>
              </a:pathLst>
            </a:custGeom>
            <a:noFill/>
            <a:ln w="76200" cap="flat">
              <a:solidFill>
                <a:srgbClr val="99CC00"/>
              </a:solidFill>
              <a:prstDash val="solid"/>
              <a:round/>
              <a:headEnd type="none" w="med" len="med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8660" name="Rectangle 30">
              <a:extLst>
                <a:ext uri="{FF2B5EF4-FFF2-40B4-BE49-F238E27FC236}">
                  <a16:creationId xmlns:a16="http://schemas.microsoft.com/office/drawing/2014/main" id="{0084FF79-598D-3459-1672-EAEE771B1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914"/>
              <a:ext cx="450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Group 31">
            <a:extLst>
              <a:ext uri="{FF2B5EF4-FFF2-40B4-BE49-F238E27FC236}">
                <a16:creationId xmlns:a16="http://schemas.microsoft.com/office/drawing/2014/main" id="{0633C85C-6800-B433-70D5-803A7E7C6B6D}"/>
              </a:ext>
            </a:extLst>
          </p:cNvPr>
          <p:cNvGrpSpPr>
            <a:grpSpLocks/>
          </p:cNvGrpSpPr>
          <p:nvPr/>
        </p:nvGrpSpPr>
        <p:grpSpPr bwMode="auto">
          <a:xfrm>
            <a:off x="3660775" y="3038475"/>
            <a:ext cx="1751013" cy="455613"/>
            <a:chOff x="0" y="0"/>
            <a:chExt cx="1568" cy="408"/>
          </a:xfrm>
        </p:grpSpPr>
        <p:grpSp>
          <p:nvGrpSpPr>
            <p:cNvPr id="68653" name="Group 32">
              <a:extLst>
                <a:ext uri="{FF2B5EF4-FFF2-40B4-BE49-F238E27FC236}">
                  <a16:creationId xmlns:a16="http://schemas.microsoft.com/office/drawing/2014/main" id="{C381D9A4-BD0C-A1EB-DFA3-010273E1AA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68655" name="Group 33">
                <a:extLst>
                  <a:ext uri="{FF2B5EF4-FFF2-40B4-BE49-F238E27FC236}">
                    <a16:creationId xmlns:a16="http://schemas.microsoft.com/office/drawing/2014/main" id="{74C61A89-A2B8-A25E-1031-9F2E4A66BE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68657" name="Rectangle 34">
                  <a:extLst>
                    <a:ext uri="{FF2B5EF4-FFF2-40B4-BE49-F238E27FC236}">
                      <a16:creationId xmlns:a16="http://schemas.microsoft.com/office/drawing/2014/main" id="{5C0E3F99-A039-6C16-F626-2F83674BE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TW" sz="180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8658" name="Rectangle 35">
                  <a:extLst>
                    <a:ext uri="{FF2B5EF4-FFF2-40B4-BE49-F238E27FC236}">
                      <a16:creationId xmlns:a16="http://schemas.microsoft.com/office/drawing/2014/main" id="{9C796BB9-4ECF-1F84-D57E-5E402E3953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TW" sz="180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8656" name="Rectangle 36">
                <a:extLst>
                  <a:ext uri="{FF2B5EF4-FFF2-40B4-BE49-F238E27FC236}">
                    <a16:creationId xmlns:a16="http://schemas.microsoft.com/office/drawing/2014/main" id="{BEFA0550-1C87-113F-D313-3585EEEDB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" y="82"/>
                <a:ext cx="1248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57797" bIns="0" anchor="ctr">
                <a:spAutoFit/>
              </a:bodyPr>
              <a:lstStyle>
                <a:lvl1pPr marL="381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TW" sz="1700"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8654" name="Picture 37">
              <a:extLst>
                <a:ext uri="{FF2B5EF4-FFF2-40B4-BE49-F238E27FC236}">
                  <a16:creationId xmlns:a16="http://schemas.microsoft.com/office/drawing/2014/main" id="{0C876737-BB8B-92D1-3A4C-5498482458D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5574" name="Rectangle 38">
            <a:extLst>
              <a:ext uri="{FF2B5EF4-FFF2-40B4-BE49-F238E27FC236}">
                <a16:creationId xmlns:a16="http://schemas.microsoft.com/office/drawing/2014/main" id="{E66B44EE-0F7D-57B5-0B99-7D9D4C5C6098}"/>
              </a:ext>
            </a:extLst>
          </p:cNvPr>
          <p:cNvSpPr>
            <a:spLocks/>
          </p:cNvSpPr>
          <p:nvPr/>
        </p:nvSpPr>
        <p:spPr bwMode="auto">
          <a:xfrm>
            <a:off x="1036638" y="3644900"/>
            <a:ext cx="16383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500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Production VLANs</a:t>
            </a:r>
          </a:p>
        </p:txBody>
      </p:sp>
      <p:sp>
        <p:nvSpPr>
          <p:cNvPr id="65575" name="Rectangle 39">
            <a:extLst>
              <a:ext uri="{FF2B5EF4-FFF2-40B4-BE49-F238E27FC236}">
                <a16:creationId xmlns:a16="http://schemas.microsoft.com/office/drawing/2014/main" id="{173D3292-DB0B-AA59-4FD4-A2276AA23CDE}"/>
              </a:ext>
            </a:extLst>
          </p:cNvPr>
          <p:cNvSpPr>
            <a:spLocks/>
          </p:cNvSpPr>
          <p:nvPr/>
        </p:nvSpPr>
        <p:spPr bwMode="auto">
          <a:xfrm>
            <a:off x="1103313" y="2806700"/>
            <a:ext cx="16065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500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Research VLAN 1</a:t>
            </a:r>
          </a:p>
        </p:txBody>
      </p:sp>
      <p:grpSp>
        <p:nvGrpSpPr>
          <p:cNvPr id="13" name="Group 40">
            <a:extLst>
              <a:ext uri="{FF2B5EF4-FFF2-40B4-BE49-F238E27FC236}">
                <a16:creationId xmlns:a16="http://schemas.microsoft.com/office/drawing/2014/main" id="{D9CA81E6-BFCD-3F21-D939-84F52F3815C2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1476375"/>
            <a:ext cx="2279650" cy="1035050"/>
            <a:chOff x="0" y="272"/>
            <a:chExt cx="2041" cy="927"/>
          </a:xfrm>
        </p:grpSpPr>
        <p:grpSp>
          <p:nvGrpSpPr>
            <p:cNvPr id="68649" name="Group 41">
              <a:extLst>
                <a:ext uri="{FF2B5EF4-FFF2-40B4-BE49-F238E27FC236}">
                  <a16:creationId xmlns:a16="http://schemas.microsoft.com/office/drawing/2014/main" id="{7AC05824-9E48-D4FC-73E4-FC1F8B073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68652" name="Picture 42">
                <a:extLst>
                  <a:ext uri="{FF2B5EF4-FFF2-40B4-BE49-F238E27FC236}">
                    <a16:creationId xmlns:a16="http://schemas.microsoft.com/office/drawing/2014/main" id="{2E7F0488-9133-D46A-4248-A540C66FD288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8650" name="Line 43">
              <a:extLst>
                <a:ext uri="{FF2B5EF4-FFF2-40B4-BE49-F238E27FC236}">
                  <a16:creationId xmlns:a16="http://schemas.microsoft.com/office/drawing/2014/main" id="{F44CD686-4EE2-A583-59C0-6D3EBBEACC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8651" name="Rectangle 44">
              <a:extLst>
                <a:ext uri="{FF2B5EF4-FFF2-40B4-BE49-F238E27FC236}">
                  <a16:creationId xmlns:a16="http://schemas.microsoft.com/office/drawing/2014/main" id="{55A810BE-5F22-2847-AD30-53A4A3779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" y="983"/>
              <a:ext cx="140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ts val="105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rgbClr val="FA3D2E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Controller</a:t>
              </a:r>
            </a:p>
          </p:txBody>
        </p:sp>
      </p:grpSp>
      <p:sp>
        <p:nvSpPr>
          <p:cNvPr id="53" name="Rectangle 39">
            <a:extLst>
              <a:ext uri="{FF2B5EF4-FFF2-40B4-BE49-F238E27FC236}">
                <a16:creationId xmlns:a16="http://schemas.microsoft.com/office/drawing/2014/main" id="{21F0D6E3-52B7-A894-BAB8-16559BFBAAF9}"/>
              </a:ext>
            </a:extLst>
          </p:cNvPr>
          <p:cNvSpPr>
            <a:spLocks/>
          </p:cNvSpPr>
          <p:nvPr/>
        </p:nvSpPr>
        <p:spPr bwMode="auto">
          <a:xfrm>
            <a:off x="1135063" y="1885950"/>
            <a:ext cx="16065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500">
                <a:solidFill>
                  <a:schemeClr val="tx1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Research VLAN 2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11CDBFBD-C402-8808-9554-F0A796E195A4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511300"/>
            <a:ext cx="3348038" cy="1376363"/>
            <a:chOff x="0" y="0"/>
            <a:chExt cx="3000" cy="1232"/>
          </a:xfrm>
        </p:grpSpPr>
        <p:grpSp>
          <p:nvGrpSpPr>
            <p:cNvPr id="68643" name="Group 10">
              <a:extLst>
                <a:ext uri="{FF2B5EF4-FFF2-40B4-BE49-F238E27FC236}">
                  <a16:creationId xmlns:a16="http://schemas.microsoft.com/office/drawing/2014/main" id="{995D3712-8894-960C-99E6-B9D4991BE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68647" name="AutoShape 11">
                <a:extLst>
                  <a:ext uri="{FF2B5EF4-FFF2-40B4-BE49-F238E27FC236}">
                    <a16:creationId xmlns:a16="http://schemas.microsoft.com/office/drawing/2014/main" id="{60F1FC03-3D0B-1B22-72C3-1DE3F82A3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0 w 21600"/>
                  <a:gd name="T5" fmla="*/ 924 h 21600"/>
                  <a:gd name="T6" fmla="*/ 1500 w 21600"/>
                  <a:gd name="T7" fmla="*/ 1232 h 21600"/>
                  <a:gd name="T8" fmla="*/ 3000 w 21600"/>
                  <a:gd name="T9" fmla="*/ 924 h 21600"/>
                  <a:gd name="T10" fmla="*/ 3000 w 21600"/>
                  <a:gd name="T11" fmla="*/ 308 h 21600"/>
                  <a:gd name="T12" fmla="*/ 1500 w 21600"/>
                  <a:gd name="T13" fmla="*/ 0 h 21600"/>
                  <a:gd name="T14" fmla="*/ 150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600"/>
                  <a:gd name="T25" fmla="*/ 0 h 21600"/>
                  <a:gd name="T26" fmla="*/ 21600 w 21600"/>
                  <a:gd name="T27" fmla="*/ 21600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48" name="Rectangle 12">
                <a:extLst>
                  <a:ext uri="{FF2B5EF4-FFF2-40B4-BE49-F238E27FC236}">
                    <a16:creationId xmlns:a16="http://schemas.microsoft.com/office/drawing/2014/main" id="{1A79A418-A57D-880F-12EA-B06070EF0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68644" name="Group 13">
              <a:extLst>
                <a:ext uri="{FF2B5EF4-FFF2-40B4-BE49-F238E27FC236}">
                  <a16:creationId xmlns:a16="http://schemas.microsoft.com/office/drawing/2014/main" id="{BE7EAA15-7C75-0E50-8431-2AA1A29CB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68645" name="AutoShape 14">
                <a:extLst>
                  <a:ext uri="{FF2B5EF4-FFF2-40B4-BE49-F238E27FC236}">
                    <a16:creationId xmlns:a16="http://schemas.microsoft.com/office/drawing/2014/main" id="{11E43F59-6377-5F6D-CE44-E9D73F670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1500 w 21600"/>
                  <a:gd name="T1" fmla="*/ 0 h 21600"/>
                  <a:gd name="T2" fmla="*/ 0 w 21600"/>
                  <a:gd name="T3" fmla="*/ 308 h 21600"/>
                  <a:gd name="T4" fmla="*/ 1500 w 21600"/>
                  <a:gd name="T5" fmla="*/ 616 h 21600"/>
                  <a:gd name="T6" fmla="*/ 3000 w 21600"/>
                  <a:gd name="T7" fmla="*/ 308 h 21600"/>
                  <a:gd name="T8" fmla="*/ 1500 w 21600"/>
                  <a:gd name="T9" fmla="*/ 0 h 21600"/>
                  <a:gd name="T10" fmla="*/ 1500 w 21600"/>
                  <a:gd name="T11" fmla="*/ 0 h 216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00"/>
                  <a:gd name="T19" fmla="*/ 0 h 21600"/>
                  <a:gd name="T20" fmla="*/ 21600 w 21600"/>
                  <a:gd name="T21" fmla="*/ 21600 h 216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68646" name="Rectangle 15">
                <a:extLst>
                  <a:ext uri="{FF2B5EF4-FFF2-40B4-BE49-F238E27FC236}">
                    <a16:creationId xmlns:a16="http://schemas.microsoft.com/office/drawing/2014/main" id="{0E4212D2-350A-2529-453D-C3E3D135C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8" name="Group 31">
            <a:extLst>
              <a:ext uri="{FF2B5EF4-FFF2-40B4-BE49-F238E27FC236}">
                <a16:creationId xmlns:a16="http://schemas.microsoft.com/office/drawing/2014/main" id="{1D5FA842-9FEE-0341-9D09-F201A912ED2C}"/>
              </a:ext>
            </a:extLst>
          </p:cNvPr>
          <p:cNvGrpSpPr>
            <a:grpSpLocks/>
          </p:cNvGrpSpPr>
          <p:nvPr/>
        </p:nvGrpSpPr>
        <p:grpSpPr bwMode="auto">
          <a:xfrm>
            <a:off x="3673475" y="2279650"/>
            <a:ext cx="1749425" cy="455613"/>
            <a:chOff x="0" y="0"/>
            <a:chExt cx="1568" cy="408"/>
          </a:xfrm>
        </p:grpSpPr>
        <p:grpSp>
          <p:nvGrpSpPr>
            <p:cNvPr id="68637" name="Group 32">
              <a:extLst>
                <a:ext uri="{FF2B5EF4-FFF2-40B4-BE49-F238E27FC236}">
                  <a16:creationId xmlns:a16="http://schemas.microsoft.com/office/drawing/2014/main" id="{A4FA3523-8565-FFEB-CC6D-8089E486C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68639" name="Group 33">
                <a:extLst>
                  <a:ext uri="{FF2B5EF4-FFF2-40B4-BE49-F238E27FC236}">
                    <a16:creationId xmlns:a16="http://schemas.microsoft.com/office/drawing/2014/main" id="{79EDB5B8-215A-A174-F722-71FC480FE5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68641" name="Rectangle 34">
                  <a:extLst>
                    <a:ext uri="{FF2B5EF4-FFF2-40B4-BE49-F238E27FC236}">
                      <a16:creationId xmlns:a16="http://schemas.microsoft.com/office/drawing/2014/main" id="{9359BB19-5D65-BD63-A5E0-F10673E40A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TW" sz="180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68642" name="Rectangle 35">
                  <a:extLst>
                    <a:ext uri="{FF2B5EF4-FFF2-40B4-BE49-F238E27FC236}">
                      <a16:creationId xmlns:a16="http://schemas.microsoft.com/office/drawing/2014/main" id="{552DAA85-352F-C072-08F6-02BA84B9F7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rgbClr val="376092"/>
                    </a:buClr>
                    <a:buFont typeface="Arial" panose="020B0604020202020204" pitchFamily="34" charset="0"/>
                    <a:buChar char="•"/>
                    <a:defRPr sz="2800">
                      <a:solidFill>
                        <a:srgbClr val="17375E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4F6228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rgbClr val="4F6228"/>
                      </a:solidFill>
                      <a:latin typeface="Cambria" panose="02040503050406030204" pitchFamily="18" charset="0"/>
                      <a:ea typeface="新細明體" panose="02020500000000000000" pitchFamily="18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403152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rgbClr val="403152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zh-TW" sz="1800">
                    <a:solidFill>
                      <a:schemeClr val="tx1"/>
                    </a:solidFill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8640" name="Rectangle 36">
                <a:extLst>
                  <a:ext uri="{FF2B5EF4-FFF2-40B4-BE49-F238E27FC236}">
                    <a16:creationId xmlns:a16="http://schemas.microsoft.com/office/drawing/2014/main" id="{A181A82A-8869-F17A-5B11-837F1ABEC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" y="82"/>
                <a:ext cx="1249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57797" bIns="0" anchor="ctr">
                <a:spAutoFit/>
              </a:bodyPr>
              <a:lstStyle>
                <a:lvl1pPr marL="38100"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TW" sz="1700"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    Flow Table</a:t>
                </a:r>
              </a:p>
            </p:txBody>
          </p:sp>
        </p:grpSp>
        <p:pic>
          <p:nvPicPr>
            <p:cNvPr id="68638" name="Picture 37">
              <a:extLst>
                <a:ext uri="{FF2B5EF4-FFF2-40B4-BE49-F238E27FC236}">
                  <a16:creationId xmlns:a16="http://schemas.microsoft.com/office/drawing/2014/main" id="{61383BC6-CDD7-48E9-B11C-674420A149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40">
            <a:extLst>
              <a:ext uri="{FF2B5EF4-FFF2-40B4-BE49-F238E27FC236}">
                <a16:creationId xmlns:a16="http://schemas.microsoft.com/office/drawing/2014/main" id="{13DAAEF0-AE53-C85C-5EA7-D6318DDE8DAF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2533650"/>
            <a:ext cx="2274888" cy="1111250"/>
            <a:chOff x="0" y="272"/>
            <a:chExt cx="2038" cy="996"/>
          </a:xfrm>
        </p:grpSpPr>
        <p:grpSp>
          <p:nvGrpSpPr>
            <p:cNvPr id="68633" name="Group 41">
              <a:extLst>
                <a:ext uri="{FF2B5EF4-FFF2-40B4-BE49-F238E27FC236}">
                  <a16:creationId xmlns:a16="http://schemas.microsoft.com/office/drawing/2014/main" id="{BE2BCEFD-4193-D740-5855-128EF45BD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68636" name="Picture 42">
                <a:extLst>
                  <a:ext uri="{FF2B5EF4-FFF2-40B4-BE49-F238E27FC236}">
                    <a16:creationId xmlns:a16="http://schemas.microsoft.com/office/drawing/2014/main" id="{682252CC-0F6A-2189-4622-F82A102BD542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8634" name="Line 43">
              <a:extLst>
                <a:ext uri="{FF2B5EF4-FFF2-40B4-BE49-F238E27FC236}">
                  <a16:creationId xmlns:a16="http://schemas.microsoft.com/office/drawing/2014/main" id="{887333DB-631A-F21F-510D-D2FE079BAC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8635" name="Rectangle 44">
              <a:extLst>
                <a:ext uri="{FF2B5EF4-FFF2-40B4-BE49-F238E27FC236}">
                  <a16:creationId xmlns:a16="http://schemas.microsoft.com/office/drawing/2014/main" id="{5A3A524C-C762-8F95-51BB-AB3B397CB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1052"/>
              <a:ext cx="140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ts val="105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rgbClr val="FA3D2E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Controller</a:t>
              </a:r>
            </a:p>
          </p:txBody>
        </p:sp>
      </p:grpSp>
      <p:sp>
        <p:nvSpPr>
          <p:cNvPr id="68632" name="Slide Number Placeholder 68">
            <a:extLst>
              <a:ext uri="{FF2B5EF4-FFF2-40B4-BE49-F238E27FC236}">
                <a16:creationId xmlns:a16="http://schemas.microsoft.com/office/drawing/2014/main" id="{8482463A-98C0-D78A-79DF-4067959F2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C0BC7-3FA4-4D82-83AF-9E524C167478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74" grpId="0" autoUpdateAnimBg="0"/>
      <p:bldP spid="65575" grpId="0" autoUpdateAnimBg="0"/>
      <p:bldP spid="5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5C07226D-35E7-C0FF-A333-37D7BE1D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91E3-F638-AC8D-043B-BC0E07C0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dirty="0">
                <a:solidFill>
                  <a:srgbClr val="FF0000"/>
                </a:solidFill>
              </a:rPr>
              <a:t>A network hypervisor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developed by Stanford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software proxy between the forwarding and control planes of network devices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None/>
              <a:defRPr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13BC79C-FC35-89FA-7B2C-18E8DF9F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75" y="274638"/>
            <a:ext cx="8518525" cy="868362"/>
          </a:xfrm>
        </p:spPr>
        <p:txBody>
          <a:bodyPr/>
          <a:lstStyle/>
          <a:p>
            <a:pPr eaLnBrk="1" hangingPunct="1"/>
            <a:r>
              <a:rPr lang="en-US" altLang="zh-TW"/>
              <a:t>FlowVisor-based Virtualization</a:t>
            </a:r>
          </a:p>
        </p:txBody>
      </p:sp>
      <p:pic>
        <p:nvPicPr>
          <p:cNvPr id="71683" name="Picture 1">
            <a:extLst>
              <a:ext uri="{FF2B5EF4-FFF2-40B4-BE49-F238E27FC236}">
                <a16:creationId xmlns:a16="http://schemas.microsoft.com/office/drawing/2014/main" id="{33562CFA-1164-756F-7D49-CA4C428E734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6108700"/>
            <a:ext cx="7239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2">
            <a:extLst>
              <a:ext uri="{FF2B5EF4-FFF2-40B4-BE49-F238E27FC236}">
                <a16:creationId xmlns:a16="http://schemas.microsoft.com/office/drawing/2014/main" id="{87AD696E-684F-CD66-3856-F72BE50D389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513" y="6108700"/>
            <a:ext cx="7254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Line 3">
            <a:extLst>
              <a:ext uri="{FF2B5EF4-FFF2-40B4-BE49-F238E27FC236}">
                <a16:creationId xmlns:a16="http://schemas.microsoft.com/office/drawing/2014/main" id="{ABF4F530-CEF2-60EA-D45E-92F5A4B6E2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2125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86" name="Line 4">
            <a:extLst>
              <a:ext uri="{FF2B5EF4-FFF2-40B4-BE49-F238E27FC236}">
                <a16:creationId xmlns:a16="http://schemas.microsoft.com/office/drawing/2014/main" id="{204CC3D1-27FF-5A94-5B0D-726820041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5881688"/>
            <a:ext cx="290513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71687" name="Group 5">
            <a:extLst>
              <a:ext uri="{FF2B5EF4-FFF2-40B4-BE49-F238E27FC236}">
                <a16:creationId xmlns:a16="http://schemas.microsoft.com/office/drawing/2014/main" id="{4863743E-5CE4-0BCE-833C-D6DE80FB5077}"/>
              </a:ext>
            </a:extLst>
          </p:cNvPr>
          <p:cNvGrpSpPr>
            <a:grpSpLocks/>
          </p:cNvGrpSpPr>
          <p:nvPr/>
        </p:nvGrpSpPr>
        <p:grpSpPr bwMode="auto">
          <a:xfrm>
            <a:off x="2027238" y="3768725"/>
            <a:ext cx="1473200" cy="463550"/>
            <a:chOff x="0" y="0"/>
            <a:chExt cx="1320" cy="416"/>
          </a:xfrm>
        </p:grpSpPr>
        <p:sp>
          <p:nvSpPr>
            <p:cNvPr id="71725" name="AutoShape 6">
              <a:extLst>
                <a:ext uri="{FF2B5EF4-FFF2-40B4-BE49-F238E27FC236}">
                  <a16:creationId xmlns:a16="http://schemas.microsoft.com/office/drawing/2014/main" id="{83655696-23DA-640D-C552-52F89B6E2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26" name="Rectangle 7">
              <a:extLst>
                <a:ext uri="{FF2B5EF4-FFF2-40B4-BE49-F238E27FC236}">
                  <a16:creationId xmlns:a16="http://schemas.microsoft.com/office/drawing/2014/main" id="{9F526B3F-8BD5-3E8C-7CE1-0EBB8F066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27" name="Picture 8">
              <a:extLst>
                <a:ext uri="{FF2B5EF4-FFF2-40B4-BE49-F238E27FC236}">
                  <a16:creationId xmlns:a16="http://schemas.microsoft.com/office/drawing/2014/main" id="{71B0A2C9-FEE5-B92C-5A2E-6F8D6ABFA5F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1688" name="Line 9">
            <a:extLst>
              <a:ext uri="{FF2B5EF4-FFF2-40B4-BE49-F238E27FC236}">
                <a16:creationId xmlns:a16="http://schemas.microsoft.com/office/drawing/2014/main" id="{1F0E78DE-D3BD-4BFC-2663-573D76D54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89" name="Line 10">
            <a:extLst>
              <a:ext uri="{FF2B5EF4-FFF2-40B4-BE49-F238E27FC236}">
                <a16:creationId xmlns:a16="http://schemas.microsoft.com/office/drawing/2014/main" id="{F4E88947-63FF-87B4-481D-6DA913E1C7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50" y="5881688"/>
            <a:ext cx="338138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8619" name="Rectangle 11">
            <a:extLst>
              <a:ext uri="{FF2B5EF4-FFF2-40B4-BE49-F238E27FC236}">
                <a16:creationId xmlns:a16="http://schemas.microsoft.com/office/drawing/2014/main" id="{2C5F42EB-9A02-4561-8D7A-983D2B84AAB2}"/>
              </a:ext>
            </a:extLst>
          </p:cNvPr>
          <p:cNvSpPr>
            <a:spLocks/>
          </p:cNvSpPr>
          <p:nvPr/>
        </p:nvSpPr>
        <p:spPr bwMode="auto">
          <a:xfrm>
            <a:off x="5180013" y="4773613"/>
            <a:ext cx="949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40637" bIns="0">
            <a:spAutoFit/>
          </a:bodyPr>
          <a:lstStyle/>
          <a:p>
            <a:pPr marL="3906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500" dirty="0" err="1">
                <a:latin typeface="+mn-lt"/>
                <a:ea typeface="Arial" charset="0"/>
                <a:cs typeface="Arial" charset="0"/>
                <a:sym typeface="Arial" charset="0"/>
              </a:rPr>
              <a:t>OpenFlow</a:t>
            </a:r>
            <a:endParaRPr kumimoji="0" lang="en-US" sz="1500" dirty="0">
              <a:latin typeface="+mn-lt"/>
              <a:ea typeface="Arial" charset="0"/>
              <a:cs typeface="Arial" charset="0"/>
              <a:sym typeface="Arial" charset="0"/>
            </a:endParaRPr>
          </a:p>
          <a:p>
            <a:pPr marL="3906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500" dirty="0">
                <a:latin typeface="+mn-lt"/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71691" name="Line 12">
            <a:extLst>
              <a:ext uri="{FF2B5EF4-FFF2-40B4-BE49-F238E27FC236}">
                <a16:creationId xmlns:a16="http://schemas.microsoft.com/office/drawing/2014/main" id="{B11F0A08-402C-9898-38A7-CD2C58C740C9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419600" y="4394200"/>
            <a:ext cx="1371600" cy="10652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2" name="Line 13">
            <a:extLst>
              <a:ext uri="{FF2B5EF4-FFF2-40B4-BE49-F238E27FC236}">
                <a16:creationId xmlns:a16="http://schemas.microsoft.com/office/drawing/2014/main" id="{CF2BEDBA-AAFE-E680-79C1-BACB52E547E3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509963" y="3935413"/>
            <a:ext cx="1752600" cy="762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3" name="Line 14">
            <a:extLst>
              <a:ext uri="{FF2B5EF4-FFF2-40B4-BE49-F238E27FC236}">
                <a16:creationId xmlns:a16="http://schemas.microsoft.com/office/drawing/2014/main" id="{FE40ED3B-CE17-F99B-7B98-70799387344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2133600" y="4316413"/>
            <a:ext cx="3124200" cy="11430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71694" name="Group 15">
            <a:extLst>
              <a:ext uri="{FF2B5EF4-FFF2-40B4-BE49-F238E27FC236}">
                <a16:creationId xmlns:a16="http://schemas.microsoft.com/office/drawing/2014/main" id="{17A6A7FF-D582-1585-376F-1963616A47DF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3652838"/>
            <a:ext cx="3349625" cy="739775"/>
            <a:chOff x="0" y="0"/>
            <a:chExt cx="3000" cy="664"/>
          </a:xfrm>
        </p:grpSpPr>
        <p:grpSp>
          <p:nvGrpSpPr>
            <p:cNvPr id="71721" name="Group 16">
              <a:extLst>
                <a:ext uri="{FF2B5EF4-FFF2-40B4-BE49-F238E27FC236}">
                  <a16:creationId xmlns:a16="http://schemas.microsoft.com/office/drawing/2014/main" id="{0780DB08-34DA-000A-BA7E-9D060D7503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68625" name="AutoShape 17">
                <a:extLst>
                  <a:ext uri="{FF2B5EF4-FFF2-40B4-BE49-F238E27FC236}">
                    <a16:creationId xmlns:a16="http://schemas.microsoft.com/office/drawing/2014/main" id="{20F23025-347F-7018-9031-89F3C6BC5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>
                  <a:latin typeface="+mn-lt"/>
                  <a:ea typeface="+mn-ea"/>
                </a:endParaRPr>
              </a:p>
            </p:txBody>
          </p:sp>
          <p:sp>
            <p:nvSpPr>
              <p:cNvPr id="71724" name="Rectangle 18">
                <a:extLst>
                  <a:ext uri="{FF2B5EF4-FFF2-40B4-BE49-F238E27FC236}">
                    <a16:creationId xmlns:a16="http://schemas.microsoft.com/office/drawing/2014/main" id="{E80626DE-D53A-337E-08FB-610C66E36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1722" name="Rectangle 19">
              <a:extLst>
                <a:ext uri="{FF2B5EF4-FFF2-40B4-BE49-F238E27FC236}">
                  <a16:creationId xmlns:a16="http://schemas.microsoft.com/office/drawing/2014/main" id="{A93AB891-A46A-6DE0-7277-4991B0B44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" y="88"/>
              <a:ext cx="2800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112557" bIns="38100" anchor="ctr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 FlowVisor </a:t>
              </a:r>
              <a:b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</a:b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&amp; Policy Control</a:t>
              </a: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BC993A79-1A6F-BF12-5F2B-8B6425034D4E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973263"/>
            <a:ext cx="914400" cy="911225"/>
            <a:chOff x="0" y="0"/>
            <a:chExt cx="820" cy="816"/>
          </a:xfrm>
        </p:grpSpPr>
        <p:pic>
          <p:nvPicPr>
            <p:cNvPr id="71720" name="Picture 21">
              <a:extLst>
                <a:ext uri="{FF2B5EF4-FFF2-40B4-BE49-F238E27FC236}">
                  <a16:creationId xmlns:a16="http://schemas.microsoft.com/office/drawing/2014/main" id="{B352A29C-C445-F722-32EC-48BD55A649B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20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630" name="Line 22">
            <a:extLst>
              <a:ext uri="{FF2B5EF4-FFF2-40B4-BE49-F238E27FC236}">
                <a16:creationId xmlns:a16="http://schemas.microsoft.com/office/drawing/2014/main" id="{1915ADD4-ADE3-281E-C6D3-14D00FE4ECAB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7543800" y="2813050"/>
            <a:ext cx="458788" cy="8366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F15B65E3-195B-065F-D197-E9FB90D0D9A2}"/>
              </a:ext>
            </a:extLst>
          </p:cNvPr>
          <p:cNvSpPr>
            <a:spLocks/>
          </p:cNvSpPr>
          <p:nvPr/>
        </p:nvSpPr>
        <p:spPr bwMode="auto">
          <a:xfrm>
            <a:off x="6915150" y="1214438"/>
            <a:ext cx="1016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Craig’s</a:t>
            </a: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494D729D-7A03-83D0-46AE-E1CBB65B7715}"/>
              </a:ext>
            </a:extLst>
          </p:cNvPr>
          <p:cNvSpPr>
            <a:spLocks/>
          </p:cNvSpPr>
          <p:nvPr/>
        </p:nvSpPr>
        <p:spPr bwMode="auto">
          <a:xfrm>
            <a:off x="5532438" y="1214438"/>
            <a:ext cx="1016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Heidi’s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8FF97029-7CC7-3397-6734-8B8CC883784B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1820863"/>
            <a:ext cx="911225" cy="911225"/>
            <a:chOff x="0" y="0"/>
            <a:chExt cx="816" cy="816"/>
          </a:xfrm>
        </p:grpSpPr>
        <p:pic>
          <p:nvPicPr>
            <p:cNvPr id="71719" name="Picture 26">
              <a:extLst>
                <a:ext uri="{FF2B5EF4-FFF2-40B4-BE49-F238E27FC236}">
                  <a16:creationId xmlns:a16="http://schemas.microsoft.com/office/drawing/2014/main" id="{451391D3-144A-702C-00CF-099E0A959C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635" name="Line 27">
            <a:extLst>
              <a:ext uri="{FF2B5EF4-FFF2-40B4-BE49-F238E27FC236}">
                <a16:creationId xmlns:a16="http://schemas.microsoft.com/office/drawing/2014/main" id="{AEBA0808-4579-DA89-1A4E-E132472E7A1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867400" y="2660650"/>
            <a:ext cx="531813" cy="9906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701" name="Rectangle 28">
            <a:extLst>
              <a:ext uri="{FF2B5EF4-FFF2-40B4-BE49-F238E27FC236}">
                <a16:creationId xmlns:a16="http://schemas.microsoft.com/office/drawing/2014/main" id="{01C6FF37-D73F-326A-B8DB-1905739E0AB3}"/>
              </a:ext>
            </a:extLst>
          </p:cNvPr>
          <p:cNvSpPr>
            <a:spLocks/>
          </p:cNvSpPr>
          <p:nvPr/>
        </p:nvSpPr>
        <p:spPr bwMode="auto">
          <a:xfrm>
            <a:off x="3540125" y="1366838"/>
            <a:ext cx="1016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Aaron’s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Controller</a:t>
            </a:r>
          </a:p>
        </p:txBody>
      </p:sp>
      <p:grpSp>
        <p:nvGrpSpPr>
          <p:cNvPr id="71702" name="Group 29">
            <a:extLst>
              <a:ext uri="{FF2B5EF4-FFF2-40B4-BE49-F238E27FC236}">
                <a16:creationId xmlns:a16="http://schemas.microsoft.com/office/drawing/2014/main" id="{5452A284-EF39-74CE-ED78-7DD794775DCD}"/>
              </a:ext>
            </a:extLst>
          </p:cNvPr>
          <p:cNvGrpSpPr>
            <a:grpSpLocks/>
          </p:cNvGrpSpPr>
          <p:nvPr/>
        </p:nvGrpSpPr>
        <p:grpSpPr bwMode="auto">
          <a:xfrm>
            <a:off x="3616325" y="1973263"/>
            <a:ext cx="911225" cy="911225"/>
            <a:chOff x="0" y="0"/>
            <a:chExt cx="816" cy="816"/>
          </a:xfrm>
        </p:grpSpPr>
        <p:pic>
          <p:nvPicPr>
            <p:cNvPr id="71718" name="Picture 30">
              <a:extLst>
                <a:ext uri="{FF2B5EF4-FFF2-40B4-BE49-F238E27FC236}">
                  <a16:creationId xmlns:a16="http://schemas.microsoft.com/office/drawing/2014/main" id="{4124FF69-E255-3331-71B1-6D4298F0874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703" name="Line 31">
            <a:extLst>
              <a:ext uri="{FF2B5EF4-FFF2-40B4-BE49-F238E27FC236}">
                <a16:creationId xmlns:a16="http://schemas.microsoft.com/office/drawing/2014/main" id="{E371A5D6-0C2A-2E54-5DA8-35B109E8B77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268788" y="2813050"/>
            <a:ext cx="1370012" cy="8366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8640" name="Rectangle 32">
            <a:extLst>
              <a:ext uri="{FF2B5EF4-FFF2-40B4-BE49-F238E27FC236}">
                <a16:creationId xmlns:a16="http://schemas.microsoft.com/office/drawing/2014/main" id="{5E512567-AE4A-7FD1-2118-E2837D87A509}"/>
              </a:ext>
            </a:extLst>
          </p:cNvPr>
          <p:cNvSpPr>
            <a:spLocks/>
          </p:cNvSpPr>
          <p:nvPr/>
        </p:nvSpPr>
        <p:spPr bwMode="auto">
          <a:xfrm>
            <a:off x="4572000" y="2841625"/>
            <a:ext cx="949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40637" bIns="0">
            <a:spAutoFit/>
          </a:bodyPr>
          <a:lstStyle/>
          <a:p>
            <a:pPr marL="3906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500" dirty="0" err="1">
                <a:latin typeface="+mn-lt"/>
                <a:ea typeface="Arial" charset="0"/>
                <a:cs typeface="Arial" charset="0"/>
                <a:sym typeface="Arial" charset="0"/>
              </a:rPr>
              <a:t>OpenFlow</a:t>
            </a:r>
            <a:endParaRPr kumimoji="0" lang="en-US" sz="1500" dirty="0">
              <a:latin typeface="+mn-lt"/>
              <a:ea typeface="Arial" charset="0"/>
              <a:cs typeface="Arial" charset="0"/>
              <a:sym typeface="Arial" charset="0"/>
            </a:endParaRPr>
          </a:p>
          <a:p>
            <a:pPr marL="3906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500" dirty="0">
                <a:latin typeface="+mn-lt"/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pic>
        <p:nvPicPr>
          <p:cNvPr id="71705" name="Picture 33">
            <a:extLst>
              <a:ext uri="{FF2B5EF4-FFF2-40B4-BE49-F238E27FC236}">
                <a16:creationId xmlns:a16="http://schemas.microsoft.com/office/drawing/2014/main" id="{A800B6EF-3E45-0ED5-3267-063E702E85AD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1" t="7971" r="14650" b="23914"/>
          <a:stretch>
            <a:fillRect/>
          </a:stretch>
        </p:blipFill>
        <p:spPr bwMode="auto">
          <a:xfrm>
            <a:off x="2589213" y="1366838"/>
            <a:ext cx="91122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42" name="Picture 34">
            <a:extLst>
              <a:ext uri="{FF2B5EF4-FFF2-40B4-BE49-F238E27FC236}">
                <a16:creationId xmlns:a16="http://schemas.microsoft.com/office/drawing/2014/main" id="{9000A5AC-AE0F-2DF4-B94F-16C8A353F0DD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822450"/>
            <a:ext cx="7794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43" name="Picture 35">
            <a:extLst>
              <a:ext uri="{FF2B5EF4-FFF2-40B4-BE49-F238E27FC236}">
                <a16:creationId xmlns:a16="http://schemas.microsoft.com/office/drawing/2014/main" id="{35BA482F-2EAC-F2FD-CA9C-D411E14FF6FC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51" b="29576"/>
          <a:stretch>
            <a:fillRect/>
          </a:stretch>
        </p:blipFill>
        <p:spPr bwMode="auto">
          <a:xfrm>
            <a:off x="4702175" y="1133475"/>
            <a:ext cx="81597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08" name="Group 37">
            <a:extLst>
              <a:ext uri="{FF2B5EF4-FFF2-40B4-BE49-F238E27FC236}">
                <a16:creationId xmlns:a16="http://schemas.microsoft.com/office/drawing/2014/main" id="{D5478114-157E-94A9-D671-51E4FFE238B6}"/>
              </a:ext>
            </a:extLst>
          </p:cNvPr>
          <p:cNvGrpSpPr>
            <a:grpSpLocks/>
          </p:cNvGrpSpPr>
          <p:nvPr/>
        </p:nvGrpSpPr>
        <p:grpSpPr bwMode="auto">
          <a:xfrm>
            <a:off x="652463" y="5402263"/>
            <a:ext cx="1473200" cy="465137"/>
            <a:chOff x="0" y="0"/>
            <a:chExt cx="1320" cy="416"/>
          </a:xfrm>
        </p:grpSpPr>
        <p:sp>
          <p:nvSpPr>
            <p:cNvPr id="71715" name="AutoShape 38">
              <a:extLst>
                <a:ext uri="{FF2B5EF4-FFF2-40B4-BE49-F238E27FC236}">
                  <a16:creationId xmlns:a16="http://schemas.microsoft.com/office/drawing/2014/main" id="{70230235-3940-24A1-22B0-65062A72F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16" name="Rectangle 39">
              <a:extLst>
                <a:ext uri="{FF2B5EF4-FFF2-40B4-BE49-F238E27FC236}">
                  <a16:creationId xmlns:a16="http://schemas.microsoft.com/office/drawing/2014/main" id="{EF517590-D439-9C20-0B49-3530D3318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17" name="Picture 40">
              <a:extLst>
                <a:ext uri="{FF2B5EF4-FFF2-40B4-BE49-F238E27FC236}">
                  <a16:creationId xmlns:a16="http://schemas.microsoft.com/office/drawing/2014/main" id="{CF33CBF8-C9AC-016C-5744-4939B57D8FF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1709" name="Group 41">
            <a:extLst>
              <a:ext uri="{FF2B5EF4-FFF2-40B4-BE49-F238E27FC236}">
                <a16:creationId xmlns:a16="http://schemas.microsoft.com/office/drawing/2014/main" id="{A02FC328-B764-2EB1-B8CE-88B6EDF3734A}"/>
              </a:ext>
            </a:extLst>
          </p:cNvPr>
          <p:cNvGrpSpPr>
            <a:grpSpLocks/>
          </p:cNvGrpSpPr>
          <p:nvPr/>
        </p:nvGrpSpPr>
        <p:grpSpPr bwMode="auto">
          <a:xfrm>
            <a:off x="2938463" y="5402263"/>
            <a:ext cx="1473200" cy="465137"/>
            <a:chOff x="0" y="0"/>
            <a:chExt cx="1320" cy="416"/>
          </a:xfrm>
        </p:grpSpPr>
        <p:sp>
          <p:nvSpPr>
            <p:cNvPr id="71712" name="AutoShape 42">
              <a:extLst>
                <a:ext uri="{FF2B5EF4-FFF2-40B4-BE49-F238E27FC236}">
                  <a16:creationId xmlns:a16="http://schemas.microsoft.com/office/drawing/2014/main" id="{6BB7CC37-BD6D-6733-223F-DE2078E4B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713" name="Rectangle 43">
              <a:extLst>
                <a:ext uri="{FF2B5EF4-FFF2-40B4-BE49-F238E27FC236}">
                  <a16:creationId xmlns:a16="http://schemas.microsoft.com/office/drawing/2014/main" id="{EB69EBA2-93F3-0356-FE28-BE0EC7429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1714" name="Picture 44">
              <a:extLst>
                <a:ext uri="{FF2B5EF4-FFF2-40B4-BE49-F238E27FC236}">
                  <a16:creationId xmlns:a16="http://schemas.microsoft.com/office/drawing/2014/main" id="{0EFFC62F-1548-1F18-F310-8733DA18A2E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1710" name="Slide Number Placeholder 45">
            <a:extLst>
              <a:ext uri="{FF2B5EF4-FFF2-40B4-BE49-F238E27FC236}">
                <a16:creationId xmlns:a16="http://schemas.microsoft.com/office/drawing/2014/main" id="{7AB8DB0F-0863-8200-E6CE-E52EE4793BE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FE869B4-44C4-4DD5-A56F-7ADA381A8590}" type="slidenum">
              <a:rPr kumimoji="0"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kumimoji="0"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1711" name="Rectangle 48">
            <a:extLst>
              <a:ext uri="{FF2B5EF4-FFF2-40B4-BE49-F238E27FC236}">
                <a16:creationId xmlns:a16="http://schemas.microsoft.com/office/drawing/2014/main" id="{25B6FA0E-9274-A21D-278B-8E7CABE51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806575"/>
            <a:ext cx="1593850" cy="10064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0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Topology discovery is per slice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2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4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1" grpId="0" autoUpdateAnimBg="0"/>
      <p:bldP spid="68632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1">
            <a:extLst>
              <a:ext uri="{FF2B5EF4-FFF2-40B4-BE49-F238E27FC236}">
                <a16:creationId xmlns:a16="http://schemas.microsoft.com/office/drawing/2014/main" id="{F9880BEC-A123-18BB-D262-3C80132F49D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6108700"/>
            <a:ext cx="7239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2">
            <a:extLst>
              <a:ext uri="{FF2B5EF4-FFF2-40B4-BE49-F238E27FC236}">
                <a16:creationId xmlns:a16="http://schemas.microsoft.com/office/drawing/2014/main" id="{BF39C9B6-8692-131A-01A8-153B37683EB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513" y="6108700"/>
            <a:ext cx="7254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Line 3">
            <a:extLst>
              <a:ext uri="{FF2B5EF4-FFF2-40B4-BE49-F238E27FC236}">
                <a16:creationId xmlns:a16="http://schemas.microsoft.com/office/drawing/2014/main" id="{9BBAA4B0-5754-0B62-1918-4918C026CB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2125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09" name="Line 4">
            <a:extLst>
              <a:ext uri="{FF2B5EF4-FFF2-40B4-BE49-F238E27FC236}">
                <a16:creationId xmlns:a16="http://schemas.microsoft.com/office/drawing/2014/main" id="{ED5CDBD3-B2B1-B7DC-5A72-1B1D83C2F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5881688"/>
            <a:ext cx="290513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0" name="Line 5">
            <a:extLst>
              <a:ext uri="{FF2B5EF4-FFF2-40B4-BE49-F238E27FC236}">
                <a16:creationId xmlns:a16="http://schemas.microsoft.com/office/drawing/2014/main" id="{2CC0AEFB-A5ED-F723-BCD0-AEAF87A5C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1" name="Line 6">
            <a:extLst>
              <a:ext uri="{FF2B5EF4-FFF2-40B4-BE49-F238E27FC236}">
                <a16:creationId xmlns:a16="http://schemas.microsoft.com/office/drawing/2014/main" id="{B6D919B9-8C34-BFFD-8806-D7C774A7D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550" y="5881688"/>
            <a:ext cx="338138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2" name="Rectangle 7">
            <a:extLst>
              <a:ext uri="{FF2B5EF4-FFF2-40B4-BE49-F238E27FC236}">
                <a16:creationId xmlns:a16="http://schemas.microsoft.com/office/drawing/2014/main" id="{F1877173-42C1-5149-0C45-C964FBC8CA02}"/>
              </a:ext>
            </a:extLst>
          </p:cNvPr>
          <p:cNvSpPr>
            <a:spLocks/>
          </p:cNvSpPr>
          <p:nvPr/>
        </p:nvSpPr>
        <p:spPr bwMode="auto">
          <a:xfrm>
            <a:off x="5180013" y="4773613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5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OpenFlow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5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Protocol</a:t>
            </a:r>
          </a:p>
        </p:txBody>
      </p:sp>
      <p:sp>
        <p:nvSpPr>
          <p:cNvPr id="72713" name="Line 8">
            <a:extLst>
              <a:ext uri="{FF2B5EF4-FFF2-40B4-BE49-F238E27FC236}">
                <a16:creationId xmlns:a16="http://schemas.microsoft.com/office/drawing/2014/main" id="{386E582B-48DF-85A9-3F76-B7962A0AFEE1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419600" y="4394200"/>
            <a:ext cx="1371600" cy="10652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4" name="Line 9">
            <a:extLst>
              <a:ext uri="{FF2B5EF4-FFF2-40B4-BE49-F238E27FC236}">
                <a16:creationId xmlns:a16="http://schemas.microsoft.com/office/drawing/2014/main" id="{8D4FD2D6-B3D0-6EC1-5D93-2A587A2617B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509963" y="3935413"/>
            <a:ext cx="1752600" cy="762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5" name="Line 10">
            <a:extLst>
              <a:ext uri="{FF2B5EF4-FFF2-40B4-BE49-F238E27FC236}">
                <a16:creationId xmlns:a16="http://schemas.microsoft.com/office/drawing/2014/main" id="{D7CF724D-9FCA-F57F-8B03-3CDE07697C2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2133600" y="4316413"/>
            <a:ext cx="3124200" cy="11430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72716" name="Group 11">
            <a:extLst>
              <a:ext uri="{FF2B5EF4-FFF2-40B4-BE49-F238E27FC236}">
                <a16:creationId xmlns:a16="http://schemas.microsoft.com/office/drawing/2014/main" id="{09A7C0C4-6C0A-811C-F64B-7C60CED102BC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3652838"/>
            <a:ext cx="3349625" cy="739775"/>
            <a:chOff x="0" y="0"/>
            <a:chExt cx="3000" cy="664"/>
          </a:xfrm>
        </p:grpSpPr>
        <p:grpSp>
          <p:nvGrpSpPr>
            <p:cNvPr id="72748" name="Group 12">
              <a:extLst>
                <a:ext uri="{FF2B5EF4-FFF2-40B4-BE49-F238E27FC236}">
                  <a16:creationId xmlns:a16="http://schemas.microsoft.com/office/drawing/2014/main" id="{819F6A83-DB32-A27B-C49F-C4DC73DBDD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72750" name="AutoShape 13">
                <a:extLst>
                  <a:ext uri="{FF2B5EF4-FFF2-40B4-BE49-F238E27FC236}">
                    <a16:creationId xmlns:a16="http://schemas.microsoft.com/office/drawing/2014/main" id="{2CC2DBAD-F1E5-8229-579C-F9E30E4E3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2751" name="Rectangle 14">
                <a:extLst>
                  <a:ext uri="{FF2B5EF4-FFF2-40B4-BE49-F238E27FC236}">
                    <a16:creationId xmlns:a16="http://schemas.microsoft.com/office/drawing/2014/main" id="{B0297F96-0D11-E46C-08AE-CFFA6CDCE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rgbClr val="376092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17375E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4F6228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4F6228"/>
                    </a:solidFill>
                    <a:latin typeface="Cambria" panose="02040503050406030204" pitchFamily="18" charset="0"/>
                    <a:ea typeface="新細明體" panose="02020500000000000000" pitchFamily="18" charset="-12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40315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rgbClr val="403152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TW" sz="18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2749" name="Rectangle 15">
              <a:extLst>
                <a:ext uri="{FF2B5EF4-FFF2-40B4-BE49-F238E27FC236}">
                  <a16:creationId xmlns:a16="http://schemas.microsoft.com/office/drawing/2014/main" id="{F52402BB-D58E-89D0-C33C-A2C874777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66"/>
              <a:ext cx="2415" cy="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112557" bIns="38100" anchor="ctr">
              <a:spAutoFit/>
            </a:bodyPr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7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FlowVisor &amp; Policy Control</a:t>
              </a:r>
            </a:p>
          </p:txBody>
        </p:sp>
      </p:grpSp>
      <p:sp>
        <p:nvSpPr>
          <p:cNvPr id="72717" name="Rectangle 16">
            <a:extLst>
              <a:ext uri="{FF2B5EF4-FFF2-40B4-BE49-F238E27FC236}">
                <a16:creationId xmlns:a16="http://schemas.microsoft.com/office/drawing/2014/main" id="{54CB0F76-AB73-7283-F3E8-E3EC9905FEFA}"/>
              </a:ext>
            </a:extLst>
          </p:cNvPr>
          <p:cNvSpPr>
            <a:spLocks/>
          </p:cNvSpPr>
          <p:nvPr/>
        </p:nvSpPr>
        <p:spPr bwMode="auto">
          <a:xfrm>
            <a:off x="3490913" y="1660525"/>
            <a:ext cx="10541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Broadcast</a:t>
            </a:r>
          </a:p>
        </p:txBody>
      </p:sp>
      <p:sp>
        <p:nvSpPr>
          <p:cNvPr id="72718" name="Rectangle 17">
            <a:extLst>
              <a:ext uri="{FF2B5EF4-FFF2-40B4-BE49-F238E27FC236}">
                <a16:creationId xmlns:a16="http://schemas.microsoft.com/office/drawing/2014/main" id="{A3D18CBC-B791-980F-AD81-0BBA6B6E013E}"/>
              </a:ext>
            </a:extLst>
          </p:cNvPr>
          <p:cNvSpPr>
            <a:spLocks/>
          </p:cNvSpPr>
          <p:nvPr/>
        </p:nvSpPr>
        <p:spPr bwMode="auto">
          <a:xfrm>
            <a:off x="5465763" y="1535113"/>
            <a:ext cx="93186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Multicast</a:t>
            </a:r>
          </a:p>
        </p:txBody>
      </p:sp>
      <p:grpSp>
        <p:nvGrpSpPr>
          <p:cNvPr id="72719" name="Group 18">
            <a:extLst>
              <a:ext uri="{FF2B5EF4-FFF2-40B4-BE49-F238E27FC236}">
                <a16:creationId xmlns:a16="http://schemas.microsoft.com/office/drawing/2014/main" id="{70391EF7-72DE-1ACC-D1A5-FBF853018A7D}"/>
              </a:ext>
            </a:extLst>
          </p:cNvPr>
          <p:cNvGrpSpPr>
            <a:grpSpLocks/>
          </p:cNvGrpSpPr>
          <p:nvPr/>
        </p:nvGrpSpPr>
        <p:grpSpPr bwMode="auto">
          <a:xfrm>
            <a:off x="3616325" y="1822450"/>
            <a:ext cx="4911725" cy="1828800"/>
            <a:chOff x="0" y="0"/>
            <a:chExt cx="4399" cy="1639"/>
          </a:xfrm>
        </p:grpSpPr>
        <p:grpSp>
          <p:nvGrpSpPr>
            <p:cNvPr id="72738" name="Group 19">
              <a:extLst>
                <a:ext uri="{FF2B5EF4-FFF2-40B4-BE49-F238E27FC236}">
                  <a16:creationId xmlns:a16="http://schemas.microsoft.com/office/drawing/2014/main" id="{F3757D36-EE03-42DC-2C24-5FDB6B73F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36"/>
              <a:ext cx="816" cy="816"/>
              <a:chOff x="0" y="0"/>
              <a:chExt cx="816" cy="816"/>
            </a:xfrm>
          </p:grpSpPr>
          <p:pic>
            <p:nvPicPr>
              <p:cNvPr id="72747" name="Picture 20">
                <a:extLst>
                  <a:ext uri="{FF2B5EF4-FFF2-40B4-BE49-F238E27FC236}">
                    <a16:creationId xmlns:a16="http://schemas.microsoft.com/office/drawing/2014/main" id="{5BE4E50C-7251-8659-AB2A-7793B862918F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2739" name="Group 21">
              <a:extLst>
                <a:ext uri="{FF2B5EF4-FFF2-40B4-BE49-F238E27FC236}">
                  <a16:creationId xmlns:a16="http://schemas.microsoft.com/office/drawing/2014/main" id="{AD57B360-9990-5B79-A6E4-82D1E8CE1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9" y="0"/>
              <a:ext cx="816" cy="816"/>
              <a:chOff x="0" y="0"/>
              <a:chExt cx="816" cy="816"/>
            </a:xfrm>
          </p:grpSpPr>
          <p:pic>
            <p:nvPicPr>
              <p:cNvPr id="72746" name="Picture 22">
                <a:extLst>
                  <a:ext uri="{FF2B5EF4-FFF2-40B4-BE49-F238E27FC236}">
                    <a16:creationId xmlns:a16="http://schemas.microsoft.com/office/drawing/2014/main" id="{DDFC7D2A-B4C6-2AA3-0957-67619BD267E6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2740" name="Group 23">
              <a:extLst>
                <a:ext uri="{FF2B5EF4-FFF2-40B4-BE49-F238E27FC236}">
                  <a16:creationId xmlns:a16="http://schemas.microsoft.com/office/drawing/2014/main" id="{3114572B-0DCF-AB5E-0C08-F6F18270AF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3" y="136"/>
              <a:ext cx="816" cy="816"/>
              <a:chOff x="0" y="0"/>
              <a:chExt cx="816" cy="816"/>
            </a:xfrm>
          </p:grpSpPr>
          <p:pic>
            <p:nvPicPr>
              <p:cNvPr id="72745" name="Picture 24">
                <a:extLst>
                  <a:ext uri="{FF2B5EF4-FFF2-40B4-BE49-F238E27FC236}">
                    <a16:creationId xmlns:a16="http://schemas.microsoft.com/office/drawing/2014/main" id="{B9D10C8B-117E-699D-F2F7-8CF7A798CFC7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2741" name="Line 25">
              <a:extLst>
                <a:ext uri="{FF2B5EF4-FFF2-40B4-BE49-F238E27FC236}">
                  <a16:creationId xmlns:a16="http://schemas.microsoft.com/office/drawing/2014/main" id="{9EAB055F-B5E3-16B1-B915-963BBB454B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83" y="887"/>
              <a:ext cx="1228" cy="75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72742" name="Line 26">
              <a:extLst>
                <a:ext uri="{FF2B5EF4-FFF2-40B4-BE49-F238E27FC236}">
                  <a16:creationId xmlns:a16="http://schemas.microsoft.com/office/drawing/2014/main" id="{E3A51E68-A686-02B3-2C9B-90DF7738FA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015" y="752"/>
              <a:ext cx="477" cy="887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72743" name="Line 27">
              <a:extLst>
                <a:ext uri="{FF2B5EF4-FFF2-40B4-BE49-F238E27FC236}">
                  <a16:creationId xmlns:a16="http://schemas.microsoft.com/office/drawing/2014/main" id="{826321B8-258C-6850-8778-B3E50FD304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519" y="888"/>
              <a:ext cx="409" cy="75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72744" name="Rectangle 28">
              <a:extLst>
                <a:ext uri="{FF2B5EF4-FFF2-40B4-BE49-F238E27FC236}">
                  <a16:creationId xmlns:a16="http://schemas.microsoft.com/office/drawing/2014/main" id="{2E42A66D-9C3D-8580-5AF0-0FD08A1B2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9" y="1120"/>
              <a:ext cx="865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57797" bIns="0">
              <a:spAutoFit/>
            </a:bodyPr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5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OpenFlow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500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Protocol</a:t>
              </a:r>
            </a:p>
          </p:txBody>
        </p:sp>
      </p:grpSp>
      <p:sp>
        <p:nvSpPr>
          <p:cNvPr id="72720" name="Rectangle 29">
            <a:extLst>
              <a:ext uri="{FF2B5EF4-FFF2-40B4-BE49-F238E27FC236}">
                <a16:creationId xmlns:a16="http://schemas.microsoft.com/office/drawing/2014/main" id="{72E1C4C5-40EC-A95D-0F3D-C1635BFF4719}"/>
              </a:ext>
            </a:extLst>
          </p:cNvPr>
          <p:cNvSpPr>
            <a:spLocks/>
          </p:cNvSpPr>
          <p:nvPr/>
        </p:nvSpPr>
        <p:spPr bwMode="auto">
          <a:xfrm>
            <a:off x="7123113" y="1285875"/>
            <a:ext cx="14636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7" bIns="0">
            <a:spAutoFit/>
          </a:bodyPr>
          <a:lstStyle>
            <a:lvl1pPr marL="38100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1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Load-balancer</a:t>
            </a:r>
          </a:p>
        </p:txBody>
      </p:sp>
      <p:sp>
        <p:nvSpPr>
          <p:cNvPr id="101392" name="Rectangle 30">
            <a:extLst>
              <a:ext uri="{FF2B5EF4-FFF2-40B4-BE49-F238E27FC236}">
                <a16:creationId xmlns:a16="http://schemas.microsoft.com/office/drawing/2014/main" id="{B9EC5AF0-8F12-F064-D54E-36277AFF2D0A}"/>
              </a:ext>
            </a:extLst>
          </p:cNvPr>
          <p:cNvSpPr>
            <a:spLocks/>
          </p:cNvSpPr>
          <p:nvPr/>
        </p:nvSpPr>
        <p:spPr bwMode="auto">
          <a:xfrm>
            <a:off x="34925" y="241300"/>
            <a:ext cx="8653463" cy="892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81277" bIns="0" anchor="ctr"/>
          <a:lstStyle/>
          <a:p>
            <a:pPr marL="38100" algn="r" eaLnBrk="1" fontAlgn="auto" hangingPunct="1">
              <a:spcAft>
                <a:spcPts val="0"/>
              </a:spcAft>
              <a:defRPr/>
            </a:pPr>
            <a:r>
              <a:rPr kumimoji="0" lang="en-US" sz="4400" b="1" i="1" dirty="0" err="1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FlowVisor</a:t>
            </a:r>
            <a:r>
              <a:rPr kumimoji="0" lang="en-US" sz="44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-based Virtualization</a:t>
            </a:r>
            <a:r>
              <a:rPr kumimoji="0" lang="en-US" sz="44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  <a:sym typeface="Helvetica" charset="0"/>
              </a:rPr>
              <a:t> </a:t>
            </a:r>
          </a:p>
        </p:txBody>
      </p:sp>
      <p:grpSp>
        <p:nvGrpSpPr>
          <p:cNvPr id="72722" name="Group 31">
            <a:extLst>
              <a:ext uri="{FF2B5EF4-FFF2-40B4-BE49-F238E27FC236}">
                <a16:creationId xmlns:a16="http://schemas.microsoft.com/office/drawing/2014/main" id="{B1271C96-CF19-B410-63C2-E570835C650C}"/>
              </a:ext>
            </a:extLst>
          </p:cNvPr>
          <p:cNvGrpSpPr>
            <a:grpSpLocks/>
          </p:cNvGrpSpPr>
          <p:nvPr/>
        </p:nvGrpSpPr>
        <p:grpSpPr bwMode="auto">
          <a:xfrm>
            <a:off x="2027238" y="3768725"/>
            <a:ext cx="1473200" cy="463550"/>
            <a:chOff x="0" y="0"/>
            <a:chExt cx="1320" cy="416"/>
          </a:xfrm>
        </p:grpSpPr>
        <p:sp>
          <p:nvSpPr>
            <p:cNvPr id="72735" name="AutoShape 32">
              <a:extLst>
                <a:ext uri="{FF2B5EF4-FFF2-40B4-BE49-F238E27FC236}">
                  <a16:creationId xmlns:a16="http://schemas.microsoft.com/office/drawing/2014/main" id="{EBB9B5D0-4A3D-8E65-0F74-502E36C70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6" name="Rectangle 33">
              <a:extLst>
                <a:ext uri="{FF2B5EF4-FFF2-40B4-BE49-F238E27FC236}">
                  <a16:creationId xmlns:a16="http://schemas.microsoft.com/office/drawing/2014/main" id="{CC1FE2E8-9737-9F90-CAA1-750654BBA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7" name="Picture 34">
              <a:extLst>
                <a:ext uri="{FF2B5EF4-FFF2-40B4-BE49-F238E27FC236}">
                  <a16:creationId xmlns:a16="http://schemas.microsoft.com/office/drawing/2014/main" id="{011F89EE-DA21-10CD-ACE2-5C20F5B2365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2723" name="Group 35">
            <a:extLst>
              <a:ext uri="{FF2B5EF4-FFF2-40B4-BE49-F238E27FC236}">
                <a16:creationId xmlns:a16="http://schemas.microsoft.com/office/drawing/2014/main" id="{917F7D15-A13D-E482-092F-79411D479B8E}"/>
              </a:ext>
            </a:extLst>
          </p:cNvPr>
          <p:cNvGrpSpPr>
            <a:grpSpLocks/>
          </p:cNvGrpSpPr>
          <p:nvPr/>
        </p:nvGrpSpPr>
        <p:grpSpPr bwMode="auto">
          <a:xfrm>
            <a:off x="652463" y="5402263"/>
            <a:ext cx="1473200" cy="465137"/>
            <a:chOff x="0" y="0"/>
            <a:chExt cx="1320" cy="416"/>
          </a:xfrm>
        </p:grpSpPr>
        <p:sp>
          <p:nvSpPr>
            <p:cNvPr id="72732" name="AutoShape 36">
              <a:extLst>
                <a:ext uri="{FF2B5EF4-FFF2-40B4-BE49-F238E27FC236}">
                  <a16:creationId xmlns:a16="http://schemas.microsoft.com/office/drawing/2014/main" id="{A44B34AC-1A86-3EC0-32A4-A8E895EF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3" name="Rectangle 37">
              <a:extLst>
                <a:ext uri="{FF2B5EF4-FFF2-40B4-BE49-F238E27FC236}">
                  <a16:creationId xmlns:a16="http://schemas.microsoft.com/office/drawing/2014/main" id="{A2296092-DDBD-0F11-6F8F-5856F8568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4" name="Picture 38">
              <a:extLst>
                <a:ext uri="{FF2B5EF4-FFF2-40B4-BE49-F238E27FC236}">
                  <a16:creationId xmlns:a16="http://schemas.microsoft.com/office/drawing/2014/main" id="{9253F79B-5435-BB7A-84F4-B553A6AED36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grpSp>
        <p:nvGrpSpPr>
          <p:cNvPr id="72724" name="Group 39">
            <a:extLst>
              <a:ext uri="{FF2B5EF4-FFF2-40B4-BE49-F238E27FC236}">
                <a16:creationId xmlns:a16="http://schemas.microsoft.com/office/drawing/2014/main" id="{89461F9B-B01C-CCB0-9BDC-237F1710489B}"/>
              </a:ext>
            </a:extLst>
          </p:cNvPr>
          <p:cNvGrpSpPr>
            <a:grpSpLocks/>
          </p:cNvGrpSpPr>
          <p:nvPr/>
        </p:nvGrpSpPr>
        <p:grpSpPr bwMode="auto">
          <a:xfrm>
            <a:off x="2938463" y="5402263"/>
            <a:ext cx="1473200" cy="465137"/>
            <a:chOff x="0" y="0"/>
            <a:chExt cx="1320" cy="416"/>
          </a:xfrm>
        </p:grpSpPr>
        <p:sp>
          <p:nvSpPr>
            <p:cNvPr id="72729" name="AutoShape 40">
              <a:extLst>
                <a:ext uri="{FF2B5EF4-FFF2-40B4-BE49-F238E27FC236}">
                  <a16:creationId xmlns:a16="http://schemas.microsoft.com/office/drawing/2014/main" id="{1DEEEB5C-B86C-09DC-5CDF-FA7DEF472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en-US" altLang="zh-TW" sz="180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2730" name="Rectangle 41">
              <a:extLst>
                <a:ext uri="{FF2B5EF4-FFF2-40B4-BE49-F238E27FC236}">
                  <a16:creationId xmlns:a16="http://schemas.microsoft.com/office/drawing/2014/main" id="{85AFFD9A-FA15-13F0-26E9-BA28E2AF6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57797" bIns="0"/>
            <a:lstStyle>
              <a:lvl1pPr marL="38100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OpenFlow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TW" sz="1300"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  <a:sym typeface="Tahoma" panose="020B0604030504040204" pitchFamily="34" charset="0"/>
                </a:rPr>
                <a:t>Switch</a:t>
              </a:r>
            </a:p>
          </p:txBody>
        </p:sp>
        <p:pic>
          <p:nvPicPr>
            <p:cNvPr id="72731" name="Picture 42">
              <a:extLst>
                <a:ext uri="{FF2B5EF4-FFF2-40B4-BE49-F238E27FC236}">
                  <a16:creationId xmlns:a16="http://schemas.microsoft.com/office/drawing/2014/main" id="{E16F5ABB-0849-FC79-FDF5-5B5D7DA8344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</p:grpSp>
      <p:sp>
        <p:nvSpPr>
          <p:cNvPr id="72725" name="Slide Number Placeholder 43">
            <a:extLst>
              <a:ext uri="{FF2B5EF4-FFF2-40B4-BE49-F238E27FC236}">
                <a16:creationId xmlns:a16="http://schemas.microsoft.com/office/drawing/2014/main" id="{703F420B-98F0-77FF-DDB6-E30B63B31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74B6F1-9B72-4C5F-A2D0-3A396E3041AD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2726" name="Rectangle 45">
            <a:extLst>
              <a:ext uri="{FF2B5EF4-FFF2-40B4-BE49-F238E27FC236}">
                <a16:creationId xmlns:a16="http://schemas.microsoft.com/office/drawing/2014/main" id="{38F776DE-0081-5C76-12C6-BCD4221F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1806575"/>
            <a:ext cx="2212975" cy="100647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prstShdw prst="shdw17" dist="17961" dir="2700000">
              <a:srgbClr val="99995C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0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Separation not only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0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by VLANs, but any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TW" sz="2000">
                <a:solidFill>
                  <a:schemeClr val="tx1"/>
                </a:solidFill>
                <a:latin typeface="Calibri" panose="020F0502020204030204" pitchFamily="34" charset="0"/>
                <a:sym typeface="Helvetica" panose="020B0604020202020204" pitchFamily="34" charset="0"/>
              </a:rPr>
              <a:t>L1-L4 pattern</a:t>
            </a:r>
          </a:p>
        </p:txBody>
      </p:sp>
      <p:sp>
        <p:nvSpPr>
          <p:cNvPr id="101422" name="Rectangle 46">
            <a:extLst>
              <a:ext uri="{FF2B5EF4-FFF2-40B4-BE49-F238E27FC236}">
                <a16:creationId xmlns:a16="http://schemas.microsoft.com/office/drawing/2014/main" id="{D8657B09-CC54-7942-3AC7-79C361192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3071813"/>
            <a:ext cx="13938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00" dirty="0" err="1">
                <a:latin typeface="+mn-lt"/>
                <a:ea typeface="+mn-ea"/>
              </a:rPr>
              <a:t>dl_dst</a:t>
            </a:r>
            <a:r>
              <a:rPr kumimoji="0" lang="en-US" sz="900" dirty="0">
                <a:latin typeface="+mn-lt"/>
                <a:ea typeface="+mn-ea"/>
              </a:rPr>
              <a:t>=FFFFFFFFFFFF</a:t>
            </a:r>
          </a:p>
        </p:txBody>
      </p:sp>
      <p:sp>
        <p:nvSpPr>
          <p:cNvPr id="101423" name="Rectangle 47">
            <a:extLst>
              <a:ext uri="{FF2B5EF4-FFF2-40B4-BE49-F238E27FC236}">
                <a16:creationId xmlns:a16="http://schemas.microsoft.com/office/drawing/2014/main" id="{4FDD6C79-FC0A-1F39-E174-5097DEE0A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75" y="3071813"/>
            <a:ext cx="925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000">
                <a:latin typeface="+mn-lt"/>
                <a:ea typeface="+mn-ea"/>
              </a:rPr>
              <a:t>tp_src=80, or</a:t>
            </a:r>
            <a:br>
              <a:rPr kumimoji="0" lang="en-US" sz="1000">
                <a:latin typeface="+mn-lt"/>
                <a:ea typeface="+mn-ea"/>
              </a:rPr>
            </a:br>
            <a:r>
              <a:rPr kumimoji="0" lang="en-US" sz="1000">
                <a:latin typeface="+mn-lt"/>
                <a:ea typeface="+mn-ea"/>
              </a:rPr>
              <a:t>tp_dst=80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CC1A7AA6-1F7F-83B1-5113-7558E20E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6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/>
              <a:t>FlowVisor Slicing</a:t>
            </a:r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0F5520F2-7A67-B0D3-04D0-78C8C034D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3863"/>
            <a:ext cx="8229600" cy="4432300"/>
          </a:xfrm>
        </p:spPr>
        <p:txBody>
          <a:bodyPr/>
          <a:lstStyle/>
          <a:p>
            <a:pPr eaLnBrk="1" hangingPunct="1"/>
            <a:r>
              <a:rPr lang="en-US" altLang="zh-TW"/>
              <a:t>Slices are defined using a slice definition </a:t>
            </a:r>
            <a:r>
              <a:rPr lang="en-US" altLang="zh-TW">
                <a:solidFill>
                  <a:srgbClr val="FF0000"/>
                </a:solidFill>
              </a:rPr>
              <a:t>policy</a:t>
            </a:r>
          </a:p>
          <a:p>
            <a:pPr lvl="1" eaLnBrk="1" hangingPunct="1"/>
            <a:r>
              <a:rPr lang="en-US" altLang="zh-TW"/>
              <a:t>The policy language specifies the slice’s </a:t>
            </a:r>
            <a:r>
              <a:rPr lang="en-US" altLang="zh-TW">
                <a:solidFill>
                  <a:srgbClr val="FF0000"/>
                </a:solidFill>
              </a:rPr>
              <a:t>resource limits, flowspace, and controller’s location in terms of IP and TCP port-pair</a:t>
            </a:r>
          </a:p>
          <a:p>
            <a:pPr lvl="1" eaLnBrk="1" hangingPunct="1"/>
            <a:r>
              <a:rPr lang="en-US" altLang="zh-TW"/>
              <a:t>FlowVisor enforces </a:t>
            </a:r>
            <a:r>
              <a:rPr lang="en-US" altLang="zh-TW">
                <a:solidFill>
                  <a:srgbClr val="FF0000"/>
                </a:solidFill>
              </a:rPr>
              <a:t>transparency</a:t>
            </a:r>
            <a:r>
              <a:rPr lang="en-US" altLang="zh-TW"/>
              <a:t> and </a:t>
            </a:r>
            <a:r>
              <a:rPr lang="en-US" altLang="zh-TW">
                <a:solidFill>
                  <a:srgbClr val="FF0000"/>
                </a:solidFill>
              </a:rPr>
              <a:t>isolation </a:t>
            </a:r>
            <a:r>
              <a:rPr lang="en-US" altLang="zh-TW"/>
              <a:t>between slices by inspecting, rewriting, and policing OpenFlow messages as they pass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8243747A-1F4A-7400-8E8A-6B0B6E5C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Resource Limits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184AD38B-1873-DC5D-F5C4-CAFE406A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913"/>
          </a:xfrm>
        </p:spPr>
        <p:txBody>
          <a:bodyPr/>
          <a:lstStyle/>
          <a:p>
            <a:pPr eaLnBrk="1" hangingPunct="1"/>
            <a:r>
              <a:rPr lang="en-US" altLang="zh-TW"/>
              <a:t>FV assigns hardware resources to “Slices”</a:t>
            </a:r>
          </a:p>
          <a:p>
            <a:pPr lvl="1" eaLnBrk="1" hangingPunct="1"/>
            <a:r>
              <a:rPr lang="en-US" altLang="zh-TW"/>
              <a:t>Topology</a:t>
            </a:r>
          </a:p>
          <a:p>
            <a:pPr lvl="2" eaLnBrk="1" hangingPunct="1"/>
            <a:r>
              <a:rPr lang="en-US" altLang="zh-TW"/>
              <a:t>Network Device or Openflow Instance (DPID)</a:t>
            </a:r>
          </a:p>
          <a:p>
            <a:pPr lvl="2" eaLnBrk="1" hangingPunct="1"/>
            <a:r>
              <a:rPr lang="en-US" altLang="zh-TW"/>
              <a:t>Physical Ports</a:t>
            </a:r>
          </a:p>
          <a:p>
            <a:pPr lvl="1" eaLnBrk="1" hangingPunct="1"/>
            <a:r>
              <a:rPr lang="en-US" altLang="zh-TW"/>
              <a:t>Bandwidth</a:t>
            </a:r>
          </a:p>
          <a:p>
            <a:pPr lvl="2" eaLnBrk="1" hangingPunct="1"/>
            <a:r>
              <a:rPr lang="en-US" altLang="zh-TW"/>
              <a:t>Each slice can be assigned a per port queue with a fraction of the total bandwidth</a:t>
            </a:r>
          </a:p>
          <a:p>
            <a:pPr lvl="1" eaLnBrk="1" hangingPunct="1"/>
            <a:r>
              <a:rPr lang="en-US" altLang="zh-TW"/>
              <a:t>CPU</a:t>
            </a:r>
          </a:p>
          <a:p>
            <a:pPr lvl="2" eaLnBrk="1" hangingPunct="1"/>
            <a:r>
              <a:rPr lang="en-US" altLang="zh-TW"/>
              <a:t>Employs Course Rate Limiting techniques to keep new flow events from one slice from overrunning the CPU</a:t>
            </a:r>
          </a:p>
          <a:p>
            <a:pPr lvl="1" eaLnBrk="1" hangingPunct="1"/>
            <a:r>
              <a:rPr lang="en-US" altLang="zh-TW"/>
              <a:t>Forwarding Tables</a:t>
            </a:r>
          </a:p>
          <a:p>
            <a:pPr lvl="2" eaLnBrk="1" hangingPunct="1"/>
            <a:r>
              <a:rPr lang="en-US" altLang="zh-TW"/>
              <a:t>Each slice has a finite quota of forwarding rules per device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0F7BC1E4-B02C-F461-0F0F-59DDFBAE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Slicing</a:t>
            </a:r>
          </a:p>
        </p:txBody>
      </p:sp>
      <p:pic>
        <p:nvPicPr>
          <p:cNvPr id="76803" name="Picture 2">
            <a:extLst>
              <a:ext uri="{FF2B5EF4-FFF2-40B4-BE49-F238E27FC236}">
                <a16:creationId xmlns:a16="http://schemas.microsoft.com/office/drawing/2014/main" id="{8B13F4BE-F66E-D3DC-A185-4D63E9E50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7625"/>
            <a:ext cx="9144000" cy="553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427AD79C-2F71-3E17-72FA-6ACEF940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FlowSpace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C3F4C26A-9971-91A5-9219-BEC427AE4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49750"/>
          </a:xfrm>
        </p:spPr>
        <p:txBody>
          <a:bodyPr/>
          <a:lstStyle/>
          <a:p>
            <a:pPr eaLnBrk="1" hangingPunct="1"/>
            <a:r>
              <a:rPr lang="en-US" altLang="zh-TW"/>
              <a:t>FlowSpace is defined by a collection of packet headers and assigned to “Slices”</a:t>
            </a:r>
          </a:p>
          <a:p>
            <a:pPr lvl="1" eaLnBrk="1" hangingPunct="1"/>
            <a:r>
              <a:rPr lang="en-US" altLang="zh-TW"/>
              <a:t>Source/Destination MAC address</a:t>
            </a:r>
          </a:p>
          <a:p>
            <a:pPr lvl="1" eaLnBrk="1" hangingPunct="1"/>
            <a:r>
              <a:rPr lang="en-US" altLang="zh-TW"/>
              <a:t>VLAN ID</a:t>
            </a:r>
          </a:p>
          <a:p>
            <a:pPr lvl="1" eaLnBrk="1" hangingPunct="1"/>
            <a:r>
              <a:rPr lang="en-US" altLang="zh-TW"/>
              <a:t>Ethertype</a:t>
            </a:r>
          </a:p>
          <a:p>
            <a:pPr lvl="1" eaLnBrk="1" hangingPunct="1"/>
            <a:r>
              <a:rPr lang="en-US" altLang="zh-TW"/>
              <a:t>IP protocol</a:t>
            </a:r>
          </a:p>
          <a:p>
            <a:pPr lvl="1" eaLnBrk="1" hangingPunct="1"/>
            <a:r>
              <a:rPr lang="en-US" altLang="zh-TW"/>
              <a:t>Source/Destination IP address</a:t>
            </a:r>
          </a:p>
          <a:p>
            <a:pPr lvl="1" eaLnBrk="1" hangingPunct="1"/>
            <a:r>
              <a:rPr lang="en-US" altLang="zh-TW"/>
              <a:t>ToS/DSCP</a:t>
            </a:r>
          </a:p>
          <a:p>
            <a:pPr lvl="1" eaLnBrk="1" hangingPunct="1"/>
            <a:r>
              <a:rPr lang="en-US" altLang="zh-TW"/>
              <a:t>Source/Destination port number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3">
            <a:extLst>
              <a:ext uri="{FF2B5EF4-FFF2-40B4-BE49-F238E27FC236}">
                <a16:creationId xmlns:a16="http://schemas.microsoft.com/office/drawing/2014/main" id="{823D20B5-2BB5-A112-2F97-6D3CFC1AF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700213"/>
            <a:ext cx="5997575" cy="503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</p:pic>
      <p:sp>
        <p:nvSpPr>
          <p:cNvPr id="79875" name="Rectangle 2">
            <a:extLst>
              <a:ext uri="{FF2B5EF4-FFF2-40B4-BE49-F238E27FC236}">
                <a16:creationId xmlns:a16="http://schemas.microsoft.com/office/drawing/2014/main" id="{BE6D005A-9070-62A5-244D-6B035347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FlowSpace: Maps Packets to Slices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8EEC5787-8D08-8FDA-1232-9CDEF9E8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FlowVisor Slicing Policy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89F5C669-6DAD-29CA-015F-64D2E62E9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FV intercepts OF messages from devices </a:t>
            </a:r>
          </a:p>
          <a:p>
            <a:pPr lvl="1" eaLnBrk="1" hangingPunct="1"/>
            <a:r>
              <a:rPr lang="en-US" altLang="zh-TW"/>
              <a:t>FV only sends control plane messages to the Slice controller if the source device is in the Slice topology.</a:t>
            </a:r>
          </a:p>
          <a:p>
            <a:pPr lvl="1" eaLnBrk="1" hangingPunct="1"/>
            <a:r>
              <a:rPr lang="en-US" altLang="zh-TW"/>
              <a:t>Rewrites OF feature negotiation messages so the slice controller only sees the ports in it’s slice</a:t>
            </a:r>
          </a:p>
          <a:p>
            <a:pPr lvl="1" eaLnBrk="1" hangingPunct="1"/>
            <a:r>
              <a:rPr lang="en-US" altLang="zh-TW"/>
              <a:t>Port up/down messages are pruned and only forwarded to affected slices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3E800161-2733-E87D-D905-BD20154A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8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/>
              <a:t>FlowVisor Slicing Policy</a:t>
            </a:r>
          </a:p>
        </p:txBody>
      </p:sp>
      <p:sp>
        <p:nvSpPr>
          <p:cNvPr id="81923" name="Content Placeholder 2">
            <a:extLst>
              <a:ext uri="{FF2B5EF4-FFF2-40B4-BE49-F238E27FC236}">
                <a16:creationId xmlns:a16="http://schemas.microsoft.com/office/drawing/2014/main" id="{CADE304F-7185-6AAD-E8B9-671C4115E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8875"/>
            <a:ext cx="8229600" cy="5078413"/>
          </a:xfrm>
        </p:spPr>
        <p:txBody>
          <a:bodyPr/>
          <a:lstStyle/>
          <a:p>
            <a:pPr eaLnBrk="1" hangingPunct="1"/>
            <a:r>
              <a:rPr lang="en-US" altLang="zh-TW"/>
              <a:t>FV intercepts OF messages from controllers</a:t>
            </a:r>
          </a:p>
          <a:p>
            <a:pPr lvl="1" eaLnBrk="1" hangingPunct="1"/>
            <a:r>
              <a:rPr lang="en-US" altLang="zh-TW"/>
              <a:t>Rewrites flow insertion, deletion &amp; modification rules so they don’t violate the slice definition</a:t>
            </a:r>
          </a:p>
          <a:p>
            <a:pPr lvl="2" eaLnBrk="1" hangingPunct="1"/>
            <a:r>
              <a:rPr lang="en-US" altLang="zh-TW"/>
              <a:t>Flow definition – ex. Limit Control to HTTP traffic only</a:t>
            </a:r>
          </a:p>
          <a:p>
            <a:pPr lvl="2" eaLnBrk="1" hangingPunct="1"/>
            <a:r>
              <a:rPr lang="en-US" altLang="zh-TW"/>
              <a:t>Actions – ex. Limit forwarding to only ports in the slice</a:t>
            </a:r>
          </a:p>
          <a:p>
            <a:pPr lvl="1" eaLnBrk="1" hangingPunct="1"/>
            <a:r>
              <a:rPr lang="en-US" altLang="zh-TW"/>
              <a:t>Expand Flow rules into multiple rules to fit policy</a:t>
            </a:r>
          </a:p>
          <a:p>
            <a:pPr lvl="2" eaLnBrk="1" hangingPunct="1"/>
            <a:r>
              <a:rPr lang="en-US" altLang="zh-TW"/>
              <a:t>Flow definition – ex. If there is a policy for John’s HTTP traffic and another for Uwe’s HTTP traffic, FV would expand a single rule intended to control all HTTP traffic into 2 rules.</a:t>
            </a:r>
          </a:p>
          <a:p>
            <a:pPr lvl="2" eaLnBrk="1" hangingPunct="1"/>
            <a:r>
              <a:rPr lang="en-US" altLang="zh-TW"/>
              <a:t>Actions – ex. Rule action is send out all ports. FV will create one rule for each port in the slice.</a:t>
            </a:r>
          </a:p>
          <a:p>
            <a:pPr lvl="1" eaLnBrk="1" hangingPunct="1"/>
            <a:r>
              <a:rPr lang="en-US" altLang="zh-TW"/>
              <a:t>Returns “action is invalid” error if trying to control a port outside of the slice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18633B2-7F47-BD34-9FE7-159A9731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231188" cy="914400"/>
          </a:xfrm>
        </p:spPr>
        <p:txBody>
          <a:bodyPr lIns="81000" tIns="77046" rIns="81000" bIns="42120"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TW"/>
              <a:t>FlowVisor Message Handling</a:t>
            </a:r>
          </a:p>
        </p:txBody>
      </p:sp>
      <p:grpSp>
        <p:nvGrpSpPr>
          <p:cNvPr id="82947" name="Group 3">
            <a:extLst>
              <a:ext uri="{FF2B5EF4-FFF2-40B4-BE49-F238E27FC236}">
                <a16:creationId xmlns:a16="http://schemas.microsoft.com/office/drawing/2014/main" id="{C023B0D7-9AE3-E28B-68A4-C342654D0857}"/>
              </a:ext>
            </a:extLst>
          </p:cNvPr>
          <p:cNvGrpSpPr>
            <a:grpSpLocks/>
          </p:cNvGrpSpPr>
          <p:nvPr/>
        </p:nvGrpSpPr>
        <p:grpSpPr bwMode="auto">
          <a:xfrm>
            <a:off x="2198688" y="1720850"/>
            <a:ext cx="4746625" cy="4576763"/>
            <a:chOff x="1539" y="1205"/>
            <a:chExt cx="3321" cy="3204"/>
          </a:xfrm>
        </p:grpSpPr>
        <p:sp>
          <p:nvSpPr>
            <p:cNvPr id="82955" name="Rectangle 4">
              <a:extLst>
                <a:ext uri="{FF2B5EF4-FFF2-40B4-BE49-F238E27FC236}">
                  <a16:creationId xmlns:a16="http://schemas.microsoft.com/office/drawing/2014/main" id="{4001A297-050C-6353-B544-638262A6A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107"/>
              <a:ext cx="1296" cy="576"/>
            </a:xfrm>
            <a:prstGeom prst="rect">
              <a:avLst/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lIns="81000" tIns="40500" rIns="81000" bIns="40500" anchor="ctr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OpenFlow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Firmware</a:t>
              </a:r>
            </a:p>
          </p:txBody>
        </p:sp>
        <p:sp>
          <p:nvSpPr>
            <p:cNvPr id="82956" name="AutoShape 5">
              <a:extLst>
                <a:ext uri="{FF2B5EF4-FFF2-40B4-BE49-F238E27FC236}">
                  <a16:creationId xmlns:a16="http://schemas.microsoft.com/office/drawing/2014/main" id="{D31FD193-214B-6899-F888-9DEE702BA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3691"/>
              <a:ext cx="1296" cy="720"/>
            </a:xfrm>
            <a:prstGeom prst="roundRect">
              <a:avLst>
                <a:gd name="adj" fmla="val 139"/>
              </a:avLst>
            </a:prstGeom>
            <a:solidFill>
              <a:srgbClr val="FFFF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Data Path</a:t>
              </a:r>
            </a:p>
          </p:txBody>
        </p:sp>
        <p:sp>
          <p:nvSpPr>
            <p:cNvPr id="82957" name="AutoShape 6">
              <a:extLst>
                <a:ext uri="{FF2B5EF4-FFF2-40B4-BE49-F238E27FC236}">
                  <a16:creationId xmlns:a16="http://schemas.microsoft.com/office/drawing/2014/main" id="{C87CC130-3E51-4BF5-1B8B-6AFB365EC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205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Alice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58" name="AutoShape 7">
              <a:extLst>
                <a:ext uri="{FF2B5EF4-FFF2-40B4-BE49-F238E27FC236}">
                  <a16:creationId xmlns:a16="http://schemas.microsoft.com/office/drawing/2014/main" id="{40958D59-4533-C037-8E01-BD42958F0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6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Bob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59" name="AutoShape 8">
              <a:extLst>
                <a:ext uri="{FF2B5EF4-FFF2-40B4-BE49-F238E27FC236}">
                  <a16:creationId xmlns:a16="http://schemas.microsoft.com/office/drawing/2014/main" id="{285AD729-D861-5BA3-2688-A57D05804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Cathy</a:t>
              </a:r>
            </a:p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00"/>
                  </a:solidFill>
                  <a:latin typeface="Calibri" panose="020F0502020204030204" pitchFamily="34" charset="0"/>
                </a:rPr>
                <a:t>Controller</a:t>
              </a:r>
            </a:p>
          </p:txBody>
        </p:sp>
        <p:sp>
          <p:nvSpPr>
            <p:cNvPr id="82960" name="AutoShape 9">
              <a:extLst>
                <a:ext uri="{FF2B5EF4-FFF2-40B4-BE49-F238E27FC236}">
                  <a16:creationId xmlns:a16="http://schemas.microsoft.com/office/drawing/2014/main" id="{1AF66824-46BF-895D-69EB-2421D845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" y="2304"/>
              <a:ext cx="1584" cy="432"/>
            </a:xfrm>
            <a:prstGeom prst="roundRect">
              <a:avLst>
                <a:gd name="adj" fmla="val 231"/>
              </a:avLst>
            </a:prstGeom>
            <a:solidFill>
              <a:srgbClr val="FF3333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500">
                  <a:solidFill>
                    <a:srgbClr val="FFFFFF"/>
                  </a:solidFill>
                  <a:latin typeface="Calibri" panose="020F0502020204030204" pitchFamily="34" charset="0"/>
                </a:rPr>
                <a:t>FlowVisor</a:t>
              </a:r>
            </a:p>
          </p:txBody>
        </p:sp>
        <p:sp>
          <p:nvSpPr>
            <p:cNvPr id="82961" name="Line 10">
              <a:extLst>
                <a:ext uri="{FF2B5EF4-FFF2-40B4-BE49-F238E27FC236}">
                  <a16:creationId xmlns:a16="http://schemas.microsoft.com/office/drawing/2014/main" id="{813234E3-9438-42EC-D8D9-E9C5F82F9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2" name="Line 11">
              <a:extLst>
                <a:ext uri="{FF2B5EF4-FFF2-40B4-BE49-F238E27FC236}">
                  <a16:creationId xmlns:a16="http://schemas.microsoft.com/office/drawing/2014/main" id="{3098E43E-5CD4-4D7F-40A9-50B5F8E5FF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3" name="Line 12">
              <a:extLst>
                <a:ext uri="{FF2B5EF4-FFF2-40B4-BE49-F238E27FC236}">
                  <a16:creationId xmlns:a16="http://schemas.microsoft.com/office/drawing/2014/main" id="{32D0421D-39C2-FA56-C0F0-7549CFD5C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3" y="1972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4" name="Line 13">
              <a:extLst>
                <a:ext uri="{FF2B5EF4-FFF2-40B4-BE49-F238E27FC236}">
                  <a16:creationId xmlns:a16="http://schemas.microsoft.com/office/drawing/2014/main" id="{492C62C6-AFBF-6420-C34F-8942E4CDA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5" y="1924"/>
              <a:ext cx="435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Text Box 14">
              <a:extLst>
                <a:ext uri="{FF2B5EF4-FFF2-40B4-BE49-F238E27FC236}">
                  <a16:creationId xmlns:a16="http://schemas.microsoft.com/office/drawing/2014/main" id="{CA689917-0532-685C-FAFC-4F4F35E16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9" y="2751"/>
              <a:ext cx="92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672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14:hiddenLine>
              </a:ext>
            </a:extLst>
          </p:spPr>
          <p:txBody>
            <a:bodyPr wrap="none" lIns="81000" tIns="40500" rIns="81000" bIns="40500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FF"/>
                  </a:solidFill>
                  <a:latin typeface="Calibri" panose="020F0502020204030204" pitchFamily="34" charset="0"/>
                </a:rPr>
                <a:t>OpenFlow</a:t>
              </a:r>
            </a:p>
          </p:txBody>
        </p:sp>
        <p:sp>
          <p:nvSpPr>
            <p:cNvPr id="82966" name="Text Box 15">
              <a:extLst>
                <a:ext uri="{FF2B5EF4-FFF2-40B4-BE49-F238E27FC236}">
                  <a16:creationId xmlns:a16="http://schemas.microsoft.com/office/drawing/2014/main" id="{A2400D34-43ED-6CE9-0BFF-F1BB67CB2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3" y="1912"/>
              <a:ext cx="927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672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14:hiddenLine>
              </a:ext>
            </a:extLst>
          </p:spPr>
          <p:txBody>
            <a:bodyPr wrap="none" lIns="81000" tIns="40500" rIns="81000" bIns="40500"/>
            <a:lstStyle>
              <a:lvl1pPr defTabSz="411163">
                <a:spcBef>
                  <a:spcPct val="20000"/>
                </a:spcBef>
                <a:buClr>
                  <a:srgbClr val="37609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17375E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1pPr>
              <a:lvl2pPr marL="742950" indent="-285750" defTabSz="411163">
                <a:spcBef>
                  <a:spcPct val="20000"/>
                </a:spcBef>
                <a:buClr>
                  <a:srgbClr val="4F6228"/>
                </a:buClr>
                <a:buFont typeface="Wingdings" panose="05000000000000000000" pitchFamily="2" charset="2"/>
                <a:buChar char="§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800">
                  <a:solidFill>
                    <a:srgbClr val="4F6228"/>
                  </a:solidFill>
                  <a:latin typeface="Cambria" panose="02040503050406030204" pitchFamily="18" charset="0"/>
                  <a:ea typeface="新細明體" panose="02020500000000000000" pitchFamily="18" charset="-120"/>
                </a:defRPr>
              </a:lvl2pPr>
              <a:lvl3pPr marL="1143000" indent="-228600" defTabSz="411163">
                <a:spcBef>
                  <a:spcPct val="20000"/>
                </a:spcBef>
                <a:buClr>
                  <a:srgbClr val="403152"/>
                </a:buClr>
                <a:buFont typeface="Arial" panose="020B0604020202020204" pitchFamily="34" charset="0"/>
                <a:buChar char="•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400">
                  <a:solidFill>
                    <a:srgbClr val="403152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defTabSz="411163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defTabSz="411163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defTabSz="41116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r>
                <a:rPr kumimoji="0" lang="en-US" altLang="zh-TW" sz="2000">
                  <a:solidFill>
                    <a:srgbClr val="0000FF"/>
                  </a:solidFill>
                  <a:latin typeface="Calibri" panose="020F0502020204030204" pitchFamily="34" charset="0"/>
                </a:rPr>
                <a:t>OpenFlow</a:t>
              </a:r>
            </a:p>
          </p:txBody>
        </p:sp>
        <p:sp>
          <p:nvSpPr>
            <p:cNvPr id="82967" name="Line 16">
              <a:extLst>
                <a:ext uri="{FF2B5EF4-FFF2-40B4-BE49-F238E27FC236}">
                  <a16:creationId xmlns:a16="http://schemas.microsoft.com/office/drawing/2014/main" id="{8EA04590-0F74-E1CA-54B5-A4911C2F3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1" y="1924"/>
              <a:ext cx="433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9937" name="AutoShape 17">
            <a:extLst>
              <a:ext uri="{FF2B5EF4-FFF2-40B4-BE49-F238E27FC236}">
                <a16:creationId xmlns:a16="http://schemas.microsoft.com/office/drawing/2014/main" id="{FB7F7E0D-4DA2-3470-5033-A16880E7F393}"/>
              </a:ext>
            </a:extLst>
          </p:cNvPr>
          <p:cNvSpPr>
            <a:spLocks/>
          </p:cNvSpPr>
          <p:nvPr/>
        </p:nvSpPr>
        <p:spPr bwMode="auto">
          <a:xfrm>
            <a:off x="2454275" y="5326063"/>
            <a:ext cx="1030288" cy="823912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000">
                <a:solidFill>
                  <a:srgbClr val="FFFFFF"/>
                </a:solidFill>
                <a:latin typeface="Calibri" panose="020F0502020204030204" pitchFamily="34" charset="0"/>
              </a:rPr>
              <a:t>Packet</a:t>
            </a:r>
          </a:p>
        </p:txBody>
      </p:sp>
      <p:sp>
        <p:nvSpPr>
          <p:cNvPr id="209938" name="AutoShape 18">
            <a:extLst>
              <a:ext uri="{FF2B5EF4-FFF2-40B4-BE49-F238E27FC236}">
                <a16:creationId xmlns:a16="http://schemas.microsoft.com/office/drawing/2014/main" id="{B0124F22-A296-E871-483E-8E6AF07D9ABD}"/>
              </a:ext>
            </a:extLst>
          </p:cNvPr>
          <p:cNvSpPr>
            <a:spLocks/>
          </p:cNvSpPr>
          <p:nvPr/>
        </p:nvSpPr>
        <p:spPr bwMode="auto">
          <a:xfrm>
            <a:off x="5464175" y="4457700"/>
            <a:ext cx="1349375" cy="617538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000">
                <a:solidFill>
                  <a:srgbClr val="000000"/>
                </a:solidFill>
                <a:latin typeface="Calibri" panose="020F0502020204030204" pitchFamily="34" charset="0"/>
              </a:rPr>
              <a:t>Exception</a:t>
            </a:r>
          </a:p>
        </p:txBody>
      </p:sp>
      <p:sp>
        <p:nvSpPr>
          <p:cNvPr id="209939" name="Text Box 19">
            <a:extLst>
              <a:ext uri="{FF2B5EF4-FFF2-40B4-BE49-F238E27FC236}">
                <a16:creationId xmlns:a16="http://schemas.microsoft.com/office/drawing/2014/main" id="{5E0D81D8-A565-FF1C-7C31-514527A4C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2879725"/>
            <a:ext cx="2262188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81000" tIns="40500" rIns="81000" bIns="40500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FF0000"/>
                </a:solidFill>
                <a:latin typeface="Calibri" panose="020F0502020204030204" pitchFamily="34" charset="0"/>
              </a:rPr>
              <a:t>Policy Check: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000000"/>
                </a:solidFill>
                <a:latin typeface="Calibri" panose="020F0502020204030204" pitchFamily="34" charset="0"/>
              </a:rPr>
              <a:t>Is this rule allowed?</a:t>
            </a:r>
          </a:p>
        </p:txBody>
      </p:sp>
      <p:sp>
        <p:nvSpPr>
          <p:cNvPr id="209940" name="Text Box 20">
            <a:extLst>
              <a:ext uri="{FF2B5EF4-FFF2-40B4-BE49-F238E27FC236}">
                <a16:creationId xmlns:a16="http://schemas.microsoft.com/office/drawing/2014/main" id="{4CE52BEF-D572-9640-B149-F5630423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813" y="2879725"/>
            <a:ext cx="226377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81000" tIns="40500" rIns="81000" bIns="40500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FF0000"/>
                </a:solidFill>
                <a:latin typeface="Calibri" panose="020F0502020204030204" pitchFamily="34" charset="0"/>
              </a:rPr>
              <a:t>Policy Check: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000000"/>
                </a:solidFill>
                <a:latin typeface="Calibri" panose="020F0502020204030204" pitchFamily="34" charset="0"/>
              </a:rPr>
              <a:t>Who controls this packet?</a:t>
            </a:r>
          </a:p>
        </p:txBody>
      </p:sp>
      <p:sp>
        <p:nvSpPr>
          <p:cNvPr id="209941" name="Text Box 21">
            <a:extLst>
              <a:ext uri="{FF2B5EF4-FFF2-40B4-BE49-F238E27FC236}">
                <a16:creationId xmlns:a16="http://schemas.microsoft.com/office/drawing/2014/main" id="{EB0759AC-C1A2-2671-2352-07AD8A44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4319588"/>
            <a:ext cx="2676525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6720">
                <a:solidFill>
                  <a:srgbClr val="000000"/>
                </a:solidFill>
                <a:round/>
                <a:headEnd type="triangle" w="med" len="med"/>
                <a:tailEnd type="triangle" w="med" len="med"/>
              </a14:hiddenLine>
            </a:ext>
          </a:extLst>
        </p:spPr>
        <p:txBody>
          <a:bodyPr lIns="81000" tIns="40500" rIns="81000" bIns="40500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000000"/>
                </a:solidFill>
                <a:latin typeface="Calibri" panose="020F0502020204030204" pitchFamily="34" charset="0"/>
              </a:rPr>
              <a:t>Full Line Rate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500">
                <a:solidFill>
                  <a:srgbClr val="000000"/>
                </a:solidFill>
                <a:latin typeface="Calibri" panose="020F0502020204030204" pitchFamily="34" charset="0"/>
              </a:rPr>
              <a:t>Forwarding</a:t>
            </a:r>
          </a:p>
        </p:txBody>
      </p:sp>
      <p:sp>
        <p:nvSpPr>
          <p:cNvPr id="209942" name="Rectangle 22">
            <a:extLst>
              <a:ext uri="{FF2B5EF4-FFF2-40B4-BE49-F238E27FC236}">
                <a16:creationId xmlns:a16="http://schemas.microsoft.com/office/drawing/2014/main" id="{F66BA742-787D-9843-5534-8847D7C62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3888" y="1716088"/>
            <a:ext cx="1371600" cy="6159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82296" tIns="41148" rIns="82296" bIns="41148" anchor="ctr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000">
                <a:solidFill>
                  <a:schemeClr val="tx1"/>
                </a:solidFill>
                <a:latin typeface="Calibri" panose="020F0502020204030204" pitchFamily="34" charset="0"/>
              </a:rPr>
              <a:t>Rule</a:t>
            </a:r>
          </a:p>
        </p:txBody>
      </p:sp>
      <p:sp>
        <p:nvSpPr>
          <p:cNvPr id="209943" name="AutoShape 23">
            <a:extLst>
              <a:ext uri="{FF2B5EF4-FFF2-40B4-BE49-F238E27FC236}">
                <a16:creationId xmlns:a16="http://schemas.microsoft.com/office/drawing/2014/main" id="{16ABFEBA-3BF7-C406-13FA-84E461D05C03}"/>
              </a:ext>
            </a:extLst>
          </p:cNvPr>
          <p:cNvSpPr>
            <a:spLocks/>
          </p:cNvSpPr>
          <p:nvPr/>
        </p:nvSpPr>
        <p:spPr bwMode="auto">
          <a:xfrm>
            <a:off x="2446338" y="5418138"/>
            <a:ext cx="1028700" cy="822325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/>
          <a:lstStyle>
            <a:lvl1pPr defTabSz="411163"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 defTabSz="411163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 defTabSz="411163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defTabSz="41116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defTabSz="411163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4111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kumimoji="0" lang="en-US" altLang="zh-TW" sz="2000">
                <a:solidFill>
                  <a:srgbClr val="FFFFFF"/>
                </a:solidFill>
                <a:latin typeface="Calibri" panose="020F0502020204030204" pitchFamily="34" charset="0"/>
              </a:rPr>
              <a:t>Packet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66667E-6 L 0.00125 -0.19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9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5 -0.195 L 0.18125 -0.3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00" y="-9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 0.015 L -0.1875 0.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0" y="11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5 0.245 L -0.2025 0.445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7" grpId="0" animBg="1" autoUpdateAnimBg="0"/>
      <p:bldP spid="209937" grpId="1" animBg="1"/>
      <p:bldP spid="209937" grpId="2" animBg="1"/>
      <p:bldP spid="209938" grpId="0" animBg="1" autoUpdateAnimBg="0"/>
      <p:bldP spid="209938" grpId="1" animBg="1"/>
      <p:bldP spid="209938" grpId="2" animBg="1"/>
      <p:bldP spid="209938" grpId="3" animBg="1"/>
      <p:bldP spid="209939" grpId="0" autoUpdateAnimBg="0"/>
      <p:bldP spid="209940" grpId="0" autoUpdateAnimBg="0"/>
      <p:bldP spid="209941" grpId="0" autoUpdateAnimBg="0"/>
      <p:bldP spid="209942" grpId="0" animBg="1" autoUpdateAnimBg="0"/>
      <p:bldP spid="209942" grpId="1" animBg="1"/>
      <p:bldP spid="209942" grpId="2" animBg="1"/>
      <p:bldP spid="209943" grpId="0" animBg="1" autoUpdateAnimBg="0"/>
      <p:bldP spid="209943" grpId="1" animBg="1"/>
      <p:bldP spid="209943" grpId="2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914C32D-F88F-8B31-26F5-BBF7978F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Software defined network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50AC825C-37A9-8B48-FBA1-54E8BFEB6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773238"/>
            <a:ext cx="7772400" cy="26336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Motivation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Concept 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Open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rgbClr val="C00000"/>
                </a:solidFill>
              </a:rPr>
              <a:t>Virtual Switch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標題 1">
            <a:extLst>
              <a:ext uri="{FF2B5EF4-FFF2-40B4-BE49-F238E27FC236}">
                <a16:creationId xmlns:a16="http://schemas.microsoft.com/office/drawing/2014/main" id="{169F45CF-623C-BE7D-B8F9-8059CEA1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zh-TW"/>
              <a:t>             INTRODUCTION</a:t>
            </a:r>
            <a:endParaRPr lang="zh-TW" altLang="en-US"/>
          </a:p>
        </p:txBody>
      </p:sp>
      <p:sp>
        <p:nvSpPr>
          <p:cNvPr id="87043" name="內容版面配置區 2">
            <a:extLst>
              <a:ext uri="{FF2B5EF4-FFF2-40B4-BE49-F238E27FC236}">
                <a16:creationId xmlns:a16="http://schemas.microsoft.com/office/drawing/2014/main" id="{413C2B59-D965-2654-581D-5FF7A3A3E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73488"/>
          </a:xfrm>
        </p:spPr>
        <p:txBody>
          <a:bodyPr/>
          <a:lstStyle/>
          <a:p>
            <a:pPr eaLnBrk="1" hangingPunct="1"/>
            <a:r>
              <a:rPr lang="en-US" altLang="zh-TW"/>
              <a:t>Due to the cloud computing service, the number of virtual switches begins to expand dramatically</a:t>
            </a:r>
          </a:p>
          <a:p>
            <a:pPr lvl="1" eaLnBrk="1" hangingPunct="1"/>
            <a:r>
              <a:rPr lang="en-US" altLang="zh-TW"/>
              <a:t>Management complexity, security issues and even performance degradation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Software/hardware based virtual switches as well as integration of open-source hypervisor with virtual switch technology is exhibited</a:t>
            </a:r>
            <a:endParaRPr lang="zh-TW" altLang="en-US"/>
          </a:p>
        </p:txBody>
      </p:sp>
      <p:sp>
        <p:nvSpPr>
          <p:cNvPr id="87044" name="投影片編號版面配置區 3">
            <a:extLst>
              <a:ext uri="{FF2B5EF4-FFF2-40B4-BE49-F238E27FC236}">
                <a16:creationId xmlns:a16="http://schemas.microsoft.com/office/drawing/2014/main" id="{4F41BA84-AC9D-FCFB-E7F9-CB05719E7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2C817D96-898F-4A41-8AE8-48CC26346098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>
            <a:extLst>
              <a:ext uri="{FF2B5EF4-FFF2-40B4-BE49-F238E27FC236}">
                <a16:creationId xmlns:a16="http://schemas.microsoft.com/office/drawing/2014/main" id="{F4CB0CC7-B28C-B837-316E-AB0E6D26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  Software-Based Virtual Switch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123" name="內容版面配置區 2">
            <a:extLst>
              <a:ext uri="{FF2B5EF4-FFF2-40B4-BE49-F238E27FC236}">
                <a16:creationId xmlns:a16="http://schemas.microsoft.com/office/drawing/2014/main" id="{76FEADB7-9172-CA2F-2157-A330E794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563" y="1371600"/>
            <a:ext cx="4554537" cy="5349875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hypervisors implement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vSwitch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Each VM has at least one virtual network interface cards (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vNICs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) and shared physical network interface cards (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pNICs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) on the physical host through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vSwitch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Administrators don’t have effective solution to separate packets from different VM users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For VMs reside in the same physical machine, their traffic visibility is a big issue</a:t>
            </a:r>
          </a:p>
        </p:txBody>
      </p:sp>
      <p:sp>
        <p:nvSpPr>
          <p:cNvPr id="88068" name="投影片編號版面配置區 3">
            <a:extLst>
              <a:ext uri="{FF2B5EF4-FFF2-40B4-BE49-F238E27FC236}">
                <a16:creationId xmlns:a16="http://schemas.microsoft.com/office/drawing/2014/main" id="{1A18479C-8738-2FF6-389F-34B5E0302C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BE952B9A-119D-4AD3-BA0F-205965818091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8069" name="Picture 5">
            <a:extLst>
              <a:ext uri="{FF2B5EF4-FFF2-40B4-BE49-F238E27FC236}">
                <a16:creationId xmlns:a16="http://schemas.microsoft.com/office/drawing/2014/main" id="{8063FE59-C6BE-BA94-A156-7AD668720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12875"/>
            <a:ext cx="4051300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標題 1">
            <a:extLst>
              <a:ext uri="{FF2B5EF4-FFF2-40B4-BE49-F238E27FC236}">
                <a16:creationId xmlns:a16="http://schemas.microsoft.com/office/drawing/2014/main" id="{19FE0A17-53E5-8CEF-5D84-8EF2884D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868363"/>
          </a:xfrm>
        </p:spPr>
        <p:txBody>
          <a:bodyPr anchor="t"/>
          <a:lstStyle/>
          <a:p>
            <a:pPr eaLnBrk="1" hangingPunct="1"/>
            <a:r>
              <a:rPr lang="en-US" altLang="zh-TW"/>
              <a:t>Issues of Traditional vSwitch</a:t>
            </a:r>
            <a:endParaRPr lang="zh-TW" altLang="en-US"/>
          </a:p>
        </p:txBody>
      </p:sp>
      <p:sp>
        <p:nvSpPr>
          <p:cNvPr id="90115" name="內容版面配置區 2">
            <a:extLst>
              <a:ext uri="{FF2B5EF4-FFF2-40B4-BE49-F238E27FC236}">
                <a16:creationId xmlns:a16="http://schemas.microsoft.com/office/drawing/2014/main" id="{39742EA0-3517-BABC-362F-D3FD8608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traditional vSwitches lack of advanced networking features such as VLAN, port mirror, port channel, etc.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Some hypervisor vSwitch vendors provide technologies to fix the above problems</a:t>
            </a:r>
          </a:p>
          <a:p>
            <a:pPr lvl="1" eaLnBrk="1" hangingPunct="1"/>
            <a:r>
              <a:rPr lang="en-US" altLang="zh-TW"/>
              <a:t>OpenvSwitch may be superior in quality for the reasons</a:t>
            </a:r>
          </a:p>
        </p:txBody>
      </p:sp>
      <p:sp>
        <p:nvSpPr>
          <p:cNvPr id="90116" name="投影片編號版面配置區 3">
            <a:extLst>
              <a:ext uri="{FF2B5EF4-FFF2-40B4-BE49-F238E27FC236}">
                <a16:creationId xmlns:a16="http://schemas.microsoft.com/office/drawing/2014/main" id="{3FB18AA0-CBB4-1F99-E771-12E887A671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5F2296DA-9FDE-4954-99C3-DF4E8B0CEF13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6FBA6587-CF2F-6024-65EE-2998062A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</a:t>
            </a:r>
            <a:endParaRPr lang="zh-TW" altLang="en-US"/>
          </a:p>
        </p:txBody>
      </p:sp>
      <p:sp>
        <p:nvSpPr>
          <p:cNvPr id="91139" name="內容版面配置區 2">
            <a:extLst>
              <a:ext uri="{FF2B5EF4-FFF2-40B4-BE49-F238E27FC236}">
                <a16:creationId xmlns:a16="http://schemas.microsoft.com/office/drawing/2014/main" id="{EE25F8A9-7C6F-8F03-929E-4A65CEE73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2808287"/>
          </a:xfrm>
        </p:spPr>
        <p:txBody>
          <a:bodyPr/>
          <a:lstStyle/>
          <a:p>
            <a:pPr eaLnBrk="1" hangingPunct="1"/>
            <a:r>
              <a:rPr lang="en-US" altLang="zh-TW"/>
              <a:t>A software-based solution</a:t>
            </a:r>
          </a:p>
          <a:p>
            <a:pPr lvl="1" eaLnBrk="1" hangingPunct="1"/>
            <a:r>
              <a:rPr lang="en-US" altLang="zh-TW"/>
              <a:t>Resolve the problems of network separation and traffic visibility, so the cloud users can be assigned VMs with elastic and secure network configurations </a:t>
            </a:r>
          </a:p>
          <a:p>
            <a:pPr eaLnBrk="1" hangingPunct="1"/>
            <a:r>
              <a:rPr lang="en-US" altLang="zh-TW"/>
              <a:t>Flexible Controller in User-Space</a:t>
            </a:r>
          </a:p>
          <a:p>
            <a:pPr eaLnBrk="1" hangingPunct="1"/>
            <a:r>
              <a:rPr lang="en-US" altLang="zh-TW"/>
              <a:t>Fast Datapath in Kernel</a:t>
            </a:r>
          </a:p>
          <a:p>
            <a:pPr eaLnBrk="1" hangingPunct="1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0A90D0-8418-EB66-48E2-937D5EF284A8}"/>
              </a:ext>
            </a:extLst>
          </p:cNvPr>
          <p:cNvSpPr/>
          <p:nvPr/>
        </p:nvSpPr>
        <p:spPr>
          <a:xfrm>
            <a:off x="3203575" y="4292600"/>
            <a:ext cx="5329238" cy="23415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A83610-3787-3BB5-46A8-3AB936D4F419}"/>
              </a:ext>
            </a:extLst>
          </p:cNvPr>
          <p:cNvSpPr txBox="1"/>
          <p:nvPr/>
        </p:nvSpPr>
        <p:spPr>
          <a:xfrm>
            <a:off x="3260725" y="4300538"/>
            <a:ext cx="1184275" cy="522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8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Server</a:t>
            </a:r>
            <a:endParaRPr kumimoji="0" lang="zh-TW" altLang="en-US" sz="2800" dirty="0">
              <a:solidFill>
                <a:schemeClr val="tx2">
                  <a:lumMod val="75000"/>
                </a:schemeClr>
              </a:solidFill>
              <a:latin typeface="Cambria" pitchFamily="18" charset="0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881836-36D3-806E-F77D-D1BF7D727525}"/>
              </a:ext>
            </a:extLst>
          </p:cNvPr>
          <p:cNvSpPr/>
          <p:nvPr/>
        </p:nvSpPr>
        <p:spPr>
          <a:xfrm>
            <a:off x="4033838" y="4778375"/>
            <a:ext cx="3743325" cy="14303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299EC3-5DC5-32E2-8B80-A22039593EFB}"/>
              </a:ext>
            </a:extLst>
          </p:cNvPr>
          <p:cNvSpPr txBox="1"/>
          <p:nvPr/>
        </p:nvSpPr>
        <p:spPr>
          <a:xfrm>
            <a:off x="4210050" y="5591175"/>
            <a:ext cx="37798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kumimoji="0"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Open </a:t>
            </a:r>
            <a:r>
              <a:rPr kumimoji="0"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vSwitch</a:t>
            </a:r>
            <a:r>
              <a:rPr kumimoji="0"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 </a:t>
            </a:r>
            <a:r>
              <a:rPr kumimoji="0"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Datapath</a:t>
            </a:r>
            <a:endParaRPr kumimoji="0" lang="zh-TW" altLang="en-US" sz="2400" dirty="0">
              <a:solidFill>
                <a:schemeClr val="tx2">
                  <a:lumMod val="75000"/>
                </a:schemeClr>
              </a:solidFill>
              <a:latin typeface="Cambria" pitchFamily="18" charset="0"/>
              <a:ea typeface="+mn-ea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9ABF06-A24E-B62A-0B92-57BA8DBE25C4}"/>
              </a:ext>
            </a:extLst>
          </p:cNvPr>
          <p:cNvSpPr txBox="1"/>
          <p:nvPr/>
        </p:nvSpPr>
        <p:spPr>
          <a:xfrm>
            <a:off x="4210050" y="4864100"/>
            <a:ext cx="3390900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kumimoji="0"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Open </a:t>
            </a:r>
            <a:r>
              <a:rPr kumimoji="0"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vSwitch</a:t>
            </a:r>
            <a:r>
              <a:rPr kumimoji="0"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+mn-ea"/>
              </a:rPr>
              <a:t> Controller</a:t>
            </a:r>
            <a:endParaRPr kumimoji="0" lang="zh-TW" altLang="en-US" sz="2400" dirty="0">
              <a:solidFill>
                <a:schemeClr val="tx2">
                  <a:lumMod val="75000"/>
                </a:schemeClr>
              </a:solidFill>
              <a:latin typeface="Cambria" pitchFamily="18" charset="0"/>
              <a:ea typeface="+mn-ea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9519F8B-BAAE-F260-83A8-F4B53F0CA6E9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033838" y="5494338"/>
            <a:ext cx="374332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A552DC4-F404-F31E-0420-2ABF4BAC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35" tIns="45717" rIns="91435" bIns="45717" anchor="t"/>
          <a:lstStyle/>
          <a:p>
            <a:pPr eaLnBrk="1" hangingPunct="1"/>
            <a:r>
              <a:rPr lang="en-US" altLang="zh-TW"/>
              <a:t>Open vSwitch Concepts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FD7467F-3960-37ED-9A0D-F49D7EC55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563" y="1268413"/>
            <a:ext cx="8229600" cy="5441950"/>
          </a:xfrm>
        </p:spPr>
        <p:txBody>
          <a:bodyPr lIns="91435" tIns="45717" rIns="91435" bIns="45717"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Multiple ports to physical switches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A port may have one or more interfaces</a:t>
            </a:r>
          </a:p>
          <a:p>
            <a:pPr lvl="2" eaLnBrk="1" fontAlgn="auto" hangingPunct="1">
              <a:spcAft>
                <a:spcPts val="0"/>
              </a:spcAft>
              <a:buClr>
                <a:schemeClr val="accent4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4">
                    <a:lumMod val="50000"/>
                  </a:schemeClr>
                </a:solidFill>
              </a:rPr>
              <a:t>Bonding allows more than once interface per port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Packets are forwarded by flow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Visibility 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NetFlow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 err="1">
                <a:solidFill>
                  <a:schemeClr val="accent3">
                    <a:lumMod val="50000"/>
                  </a:schemeClr>
                </a:solidFill>
              </a:rPr>
              <a:t>sFlow</a:t>
            </a:r>
            <a:endParaRPr lang="en-US" altLang="zh-TW" dirty="0">
              <a:solidFill>
                <a:schemeClr val="accent3">
                  <a:lumMod val="50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Mirroring (SPAN/RSPAN/ERSPAN)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IEEE 802.1Q Support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Enable virtual LAN function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By attaching VLAN ID to Linux virtual interfaces, each user will have its own LAN environment separated from other users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None/>
              <a:defRPr/>
            </a:pPr>
            <a:endParaRPr lang="en-US" altLang="zh-TW" sz="24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zh-TW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標題 1">
            <a:extLst>
              <a:ext uri="{FF2B5EF4-FFF2-40B4-BE49-F238E27FC236}">
                <a16:creationId xmlns:a16="http://schemas.microsoft.com/office/drawing/2014/main" id="{FF866B12-21B8-FDC3-5B98-6599F8D4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 Concepts</a:t>
            </a:r>
            <a:endParaRPr lang="zh-TW" altLang="en-US"/>
          </a:p>
        </p:txBody>
      </p:sp>
      <p:sp>
        <p:nvSpPr>
          <p:cNvPr id="93187" name="內容版面配置區 2">
            <a:extLst>
              <a:ext uri="{FF2B5EF4-FFF2-40B4-BE49-F238E27FC236}">
                <a16:creationId xmlns:a16="http://schemas.microsoft.com/office/drawing/2014/main" id="{50347D30-9859-C7A5-A04A-4CEB8187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zh-TW"/>
              <a:t>Fine-grained ACLs and QoS policies</a:t>
            </a:r>
          </a:p>
          <a:p>
            <a:pPr lvl="1" eaLnBrk="1" hangingPunct="1"/>
            <a:r>
              <a:rPr lang="en-US" altLang="zh-TW"/>
              <a:t>L2-­‐L4 matching</a:t>
            </a:r>
          </a:p>
          <a:p>
            <a:pPr lvl="1" eaLnBrk="1" hangingPunct="1"/>
            <a:r>
              <a:rPr lang="en-US" altLang="zh-TW"/>
              <a:t>Actions to forward, drop, modify, and queue</a:t>
            </a:r>
          </a:p>
          <a:p>
            <a:pPr lvl="1" eaLnBrk="1" hangingPunct="1"/>
            <a:r>
              <a:rPr lang="en-US" altLang="zh-TW"/>
              <a:t>HTB and HFSC queuing disciplines</a:t>
            </a:r>
          </a:p>
          <a:p>
            <a:pPr eaLnBrk="1" hangingPunct="1"/>
            <a:r>
              <a:rPr lang="en-US" altLang="zh-TW"/>
              <a:t>Centralized control through OpenFlow</a:t>
            </a:r>
          </a:p>
          <a:p>
            <a:pPr eaLnBrk="1" hangingPunct="1"/>
            <a:r>
              <a:rPr lang="en-US" altLang="zh-TW"/>
              <a:t>Works on Linux-based hypervisors: </a:t>
            </a:r>
          </a:p>
          <a:p>
            <a:pPr lvl="1" eaLnBrk="1" hangingPunct="1"/>
            <a:r>
              <a:rPr lang="en-US" altLang="zh-TW"/>
              <a:t>Xen</a:t>
            </a:r>
          </a:p>
          <a:p>
            <a:pPr lvl="1" eaLnBrk="1" hangingPunct="1"/>
            <a:r>
              <a:rPr lang="en-US" altLang="zh-TW"/>
              <a:t>XenServer</a:t>
            </a:r>
          </a:p>
          <a:p>
            <a:pPr lvl="1" eaLnBrk="1" hangingPunct="1"/>
            <a:r>
              <a:rPr lang="en-US" altLang="zh-TW"/>
              <a:t>KVM</a:t>
            </a:r>
          </a:p>
          <a:p>
            <a:pPr lvl="1" eaLnBrk="1" hangingPunct="1"/>
            <a:r>
              <a:rPr lang="en-US" altLang="zh-TW"/>
              <a:t>VirtualBox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標題 1">
            <a:extLst>
              <a:ext uri="{FF2B5EF4-FFF2-40B4-BE49-F238E27FC236}">
                <a16:creationId xmlns:a16="http://schemas.microsoft.com/office/drawing/2014/main" id="{3BECC6FF-4CE9-D2B1-2364-0CF177A2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Open vSwitch Contributors(Partial)</a:t>
            </a:r>
            <a:endParaRPr lang="zh-TW" altLang="en-US"/>
          </a:p>
        </p:txBody>
      </p:sp>
      <p:pic>
        <p:nvPicPr>
          <p:cNvPr id="94211" name="內容版面配置區 3">
            <a:extLst>
              <a:ext uri="{FF2B5EF4-FFF2-40B4-BE49-F238E27FC236}">
                <a16:creationId xmlns:a16="http://schemas.microsoft.com/office/drawing/2014/main" id="{F2C3ECA9-9CF1-CCBA-F4C1-5E768218A2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9975" y="1600200"/>
            <a:ext cx="7004050" cy="4525963"/>
          </a:xfr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B90A83C-CD9A-A32D-41ED-14A3DEE2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280988"/>
            <a:ext cx="8713787" cy="1049337"/>
          </a:xfrm>
        </p:spPr>
        <p:txBody>
          <a:bodyPr lIns="91435" tIns="45717" rIns="91435" bIns="45717" anchor="t"/>
          <a:lstStyle/>
          <a:p>
            <a:pPr eaLnBrk="1" hangingPunct="1"/>
            <a:r>
              <a:rPr lang="en-US" altLang="zh-TW"/>
              <a:t>Packets are Managed as Flows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7981DE6-0B43-F05C-6DDA-96DC47D28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91435" tIns="45717" rIns="91435" bIns="45717"/>
          <a:lstStyle/>
          <a:p>
            <a:pPr eaLnBrk="1" hangingPunct="1"/>
            <a:r>
              <a:rPr lang="en-US" altLang="zh-TW"/>
              <a:t>A flow may be identied by any combination of</a:t>
            </a:r>
          </a:p>
          <a:p>
            <a:pPr lvl="1" eaLnBrk="1" hangingPunct="1"/>
            <a:r>
              <a:rPr lang="en-US" altLang="zh-TW"/>
              <a:t>Input port</a:t>
            </a:r>
          </a:p>
          <a:p>
            <a:pPr lvl="1" eaLnBrk="1" hangingPunct="1"/>
            <a:r>
              <a:rPr lang="en-US" altLang="zh-TW"/>
              <a:t>VLAN ID (802.1Q)</a:t>
            </a:r>
          </a:p>
          <a:p>
            <a:pPr lvl="1" eaLnBrk="1" hangingPunct="1"/>
            <a:r>
              <a:rPr lang="en-US" altLang="zh-TW"/>
              <a:t>Ethernet Source MAC address</a:t>
            </a:r>
          </a:p>
          <a:p>
            <a:pPr lvl="1" eaLnBrk="1" hangingPunct="1"/>
            <a:r>
              <a:rPr lang="en-US" altLang="zh-TW"/>
              <a:t>Ethernet Destination MAC address</a:t>
            </a:r>
          </a:p>
          <a:p>
            <a:pPr lvl="1" eaLnBrk="1" hangingPunct="1"/>
            <a:r>
              <a:rPr lang="en-US" altLang="zh-TW"/>
              <a:t>IP Source MAC address</a:t>
            </a:r>
          </a:p>
          <a:p>
            <a:pPr lvl="1" eaLnBrk="1" hangingPunct="1"/>
            <a:r>
              <a:rPr lang="en-US" altLang="zh-TW"/>
              <a:t>IP Destination MAC address</a:t>
            </a:r>
          </a:p>
          <a:p>
            <a:pPr lvl="1" eaLnBrk="1" hangingPunct="1"/>
            <a:r>
              <a:rPr lang="en-US" altLang="zh-TW"/>
              <a:t>TCP/UDP/... Source Port</a:t>
            </a:r>
          </a:p>
          <a:p>
            <a:pPr lvl="1" eaLnBrk="1" hangingPunct="1"/>
            <a:r>
              <a:rPr lang="en-US" altLang="zh-TW"/>
              <a:t>TCP/UDP/... Destination Port</a:t>
            </a:r>
            <a:endParaRPr lang="en-US" altLang="zh-TW" sz="1800"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圖片 1">
            <a:extLst>
              <a:ext uri="{FF2B5EF4-FFF2-40B4-BE49-F238E27FC236}">
                <a16:creationId xmlns:a16="http://schemas.microsoft.com/office/drawing/2014/main" id="{1FB541C2-8D55-075F-C485-C3EAD8726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068638"/>
            <a:ext cx="39243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Rectangle 2">
            <a:extLst>
              <a:ext uri="{FF2B5EF4-FFF2-40B4-BE49-F238E27FC236}">
                <a16:creationId xmlns:a16="http://schemas.microsoft.com/office/drawing/2014/main" id="{2ACDAEDC-DBC1-AF1B-E06E-08595E173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8964613" cy="1055687"/>
          </a:xfrm>
        </p:spPr>
        <p:txBody>
          <a:bodyPr lIns="91435" tIns="45717" rIns="91435" bIns="45717" anchor="t"/>
          <a:lstStyle/>
          <a:p>
            <a:pPr eaLnBrk="1" hangingPunct="1"/>
            <a:r>
              <a:rPr lang="en-US" altLang="zh-TW"/>
              <a:t>Packets are Managed as Flows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A55FB95B-6579-00E1-AF0C-02894FE2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268413"/>
            <a:ext cx="8229600" cy="5257800"/>
          </a:xfrm>
        </p:spPr>
        <p:txBody>
          <a:bodyPr lIns="91435" tIns="45717" rIns="91435" bIns="45717"/>
          <a:lstStyle/>
          <a:p>
            <a:pPr eaLnBrk="1" hangingPunct="1"/>
            <a:r>
              <a:rPr lang="en-US" altLang="zh-TW"/>
              <a:t>The 1st packet of a flow is sent to the controller</a:t>
            </a:r>
          </a:p>
          <a:p>
            <a:pPr eaLnBrk="1" hangingPunct="1"/>
            <a:r>
              <a:rPr lang="en-US" altLang="zh-TW"/>
              <a:t>The controller programs the datapath's actions for a flow</a:t>
            </a:r>
          </a:p>
          <a:p>
            <a:pPr lvl="1" eaLnBrk="1" hangingPunct="1"/>
            <a:r>
              <a:rPr lang="en-US" altLang="zh-TW"/>
              <a:t>Usually one, but may be a list</a:t>
            </a:r>
          </a:p>
          <a:p>
            <a:pPr lvl="1" eaLnBrk="1" hangingPunct="1"/>
            <a:r>
              <a:rPr lang="en-US" altLang="zh-TW"/>
              <a:t>Actions include:</a:t>
            </a:r>
          </a:p>
          <a:p>
            <a:pPr lvl="2" eaLnBrk="1" hangingPunct="1"/>
            <a:r>
              <a:rPr lang="en-US" altLang="zh-TW"/>
              <a:t>Forward to a port or ports</a:t>
            </a:r>
          </a:p>
          <a:p>
            <a:pPr lvl="2" eaLnBrk="1" hangingPunct="1"/>
            <a:r>
              <a:rPr lang="en-US" altLang="zh-TW"/>
              <a:t>mirror</a:t>
            </a:r>
          </a:p>
          <a:p>
            <a:pPr lvl="2" eaLnBrk="1" hangingPunct="1"/>
            <a:r>
              <a:rPr lang="en-US" altLang="zh-TW"/>
              <a:t>Encapsulate and forward to controller</a:t>
            </a:r>
          </a:p>
          <a:p>
            <a:pPr lvl="2" eaLnBrk="1" hangingPunct="1"/>
            <a:r>
              <a:rPr lang="en-US" altLang="zh-TW"/>
              <a:t>Drop</a:t>
            </a:r>
          </a:p>
          <a:p>
            <a:pPr eaLnBrk="1" hangingPunct="1"/>
            <a:r>
              <a:rPr lang="en-US" altLang="zh-TW"/>
              <a:t>And returns the packet to the datapath</a:t>
            </a:r>
          </a:p>
          <a:p>
            <a:pPr eaLnBrk="1" hangingPunct="1"/>
            <a:r>
              <a:rPr lang="en-US" altLang="zh-TW"/>
              <a:t>Subsequent packets are handled directly by the datapath</a:t>
            </a:r>
          </a:p>
          <a:p>
            <a:pPr eaLnBrk="1" hangingPunct="1">
              <a:buFontTx/>
              <a:buNone/>
            </a:pPr>
            <a:endParaRPr lang="en-US" altLang="zh-TW" sz="2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標題 1">
            <a:extLst>
              <a:ext uri="{FF2B5EF4-FFF2-40B4-BE49-F238E27FC236}">
                <a16:creationId xmlns:a16="http://schemas.microsoft.com/office/drawing/2014/main" id="{3025309F-C9DD-A777-8230-67B03C08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Migration</a:t>
            </a:r>
            <a:endParaRPr lang="zh-TW" altLang="en-US"/>
          </a:p>
        </p:txBody>
      </p:sp>
      <p:sp>
        <p:nvSpPr>
          <p:cNvPr id="97283" name="內容版面配置區 2">
            <a:extLst>
              <a:ext uri="{FF2B5EF4-FFF2-40B4-BE49-F238E27FC236}">
                <a16:creationId xmlns:a16="http://schemas.microsoft.com/office/drawing/2014/main" id="{4DEF118B-7B6A-3EA6-3C36-62F84BD4D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KVM and Xen provide Live Migration</a:t>
            </a:r>
          </a:p>
          <a:p>
            <a:pPr eaLnBrk="1" hangingPunct="1"/>
            <a:r>
              <a:rPr lang="en-US" altLang="zh-TW"/>
              <a:t>With bridging, IP address migration must occur with in the same L2 network</a:t>
            </a:r>
          </a:p>
          <a:p>
            <a:pPr eaLnBrk="1" hangingPunct="1"/>
            <a:r>
              <a:rPr lang="en-US" altLang="zh-TW"/>
              <a:t>Open vSwitch avoids this problem using GRE tunnels</a:t>
            </a:r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>
            <a:extLst>
              <a:ext uri="{FF2B5EF4-FFF2-40B4-BE49-F238E27FC236}">
                <a16:creationId xmlns:a16="http://schemas.microsoft.com/office/drawing/2014/main" id="{C53536C1-D12F-0DEA-5199-A65275C2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Hardware-Based Virtual Switch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8307" name="內容版面配置區 2">
            <a:extLst>
              <a:ext uri="{FF2B5EF4-FFF2-40B4-BE49-F238E27FC236}">
                <a16:creationId xmlns:a16="http://schemas.microsoft.com/office/drawing/2014/main" id="{3C8705AC-D4D5-1D2D-4BDE-EB1E023F7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TW" sz="3000"/>
              <a:t>Why hardware-based?</a:t>
            </a:r>
            <a:endParaRPr lang="en-US" altLang="zh-TW"/>
          </a:p>
          <a:p>
            <a:pPr lvl="1" eaLnBrk="1" hangingPunct="1"/>
            <a:r>
              <a:rPr lang="en-US" altLang="zh-TW"/>
              <a:t>Software virtual switches consume CPU and memory usage</a:t>
            </a:r>
          </a:p>
          <a:p>
            <a:pPr lvl="1" eaLnBrk="1" hangingPunct="1"/>
            <a:r>
              <a:rPr lang="en-US" altLang="zh-TW"/>
              <a:t>Possible inconsistence of network and server configurations may cause errors and is very hard to troubleshooting and maintenance</a:t>
            </a:r>
          </a:p>
          <a:p>
            <a:pPr eaLnBrk="1" hangingPunct="1"/>
            <a:endParaRPr lang="en-US" altLang="zh-TW" sz="3000"/>
          </a:p>
          <a:p>
            <a:pPr eaLnBrk="1" hangingPunct="1"/>
            <a:r>
              <a:rPr lang="en-US" altLang="zh-TW" sz="3000"/>
              <a:t>Hardware-based virtual switch solution emerges for better resource utilization and configuration consistency</a:t>
            </a:r>
          </a:p>
        </p:txBody>
      </p:sp>
      <p:sp>
        <p:nvSpPr>
          <p:cNvPr id="98308" name="投影片編號版面配置區 3">
            <a:extLst>
              <a:ext uri="{FF2B5EF4-FFF2-40B4-BE49-F238E27FC236}">
                <a16:creationId xmlns:a16="http://schemas.microsoft.com/office/drawing/2014/main" id="{6A1A6F12-D798-83CA-A301-E4230B8F4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A8602DBF-03FD-4B86-AC6D-9F661709EAB4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id="{48443606-5371-C5E0-2153-82C6F29B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100"/>
            <a:ext cx="8229600" cy="922338"/>
          </a:xfrm>
        </p:spPr>
        <p:txBody>
          <a:bodyPr rtlCol="0"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Virtual Ethernet Port Aggregator 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195" name="內容版面配置區 2">
            <a:extLst>
              <a:ext uri="{FF2B5EF4-FFF2-40B4-BE49-F238E27FC236}">
                <a16:creationId xmlns:a16="http://schemas.microsoft.com/office/drawing/2014/main" id="{7EA64B29-224C-DA9C-7F5E-21F14B5C2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 standard led by HP, Extreme, IBM, Brocade, Juniper, etc.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An emerging technology as part of IEEE 802.1Qbg Edge Virtual Bridge (EVB) standard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The main goal of VEPA is to allow traffic of VMs to exit and re-enter the same server physical port to enable switching among VMs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9332" name="投影片編號版面配置區 3">
            <a:extLst>
              <a:ext uri="{FF2B5EF4-FFF2-40B4-BE49-F238E27FC236}">
                <a16:creationId xmlns:a16="http://schemas.microsoft.com/office/drawing/2014/main" id="{410D4C89-BC9F-0B11-A2F8-A3C8F651C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E13A50DB-7C25-493F-B320-AB54F8F6BDF8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>
            <a:extLst>
              <a:ext uri="{FF2B5EF4-FFF2-40B4-BE49-F238E27FC236}">
                <a16:creationId xmlns:a16="http://schemas.microsoft.com/office/drawing/2014/main" id="{A27724B4-53E1-B18B-1BE1-F9756067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4289425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標題 1">
            <a:extLst>
              <a:ext uri="{FF2B5EF4-FFF2-40B4-BE49-F238E27FC236}">
                <a16:creationId xmlns:a16="http://schemas.microsoft.com/office/drawing/2014/main" id="{19D09F2C-1B99-771F-0185-8FF22BA3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Virtual Ethernet Port Aggregator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219" name="內容版面配置區 2">
            <a:extLst>
              <a:ext uri="{FF2B5EF4-FFF2-40B4-BE49-F238E27FC236}">
                <a16:creationId xmlns:a16="http://schemas.microsoft.com/office/drawing/2014/main" id="{3D384B4F-4F5A-9209-C135-BE0DEB3A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1600200"/>
            <a:ext cx="4859337" cy="5121275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2600" dirty="0">
                <a:solidFill>
                  <a:schemeClr val="tx2">
                    <a:lumMod val="75000"/>
                  </a:schemeClr>
                </a:solidFill>
              </a:rPr>
              <a:t>VEPA software update is required for host servers in order to force packets to be transmitted to external switches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2600" dirty="0">
                <a:solidFill>
                  <a:schemeClr val="tx2">
                    <a:lumMod val="75000"/>
                  </a:schemeClr>
                </a:solidFill>
              </a:rPr>
              <a:t>An external VEPA enabled switch is required for communications between VMs in the same server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2600" dirty="0">
                <a:solidFill>
                  <a:schemeClr val="tx2">
                    <a:lumMod val="75000"/>
                  </a:schemeClr>
                </a:solidFill>
              </a:rPr>
              <a:t>VEPA supports “hairpin” mode which allows traffic to “hairpin” back out the same port it just received it from--- requires firmware update to existing switches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0357" name="投影片編號版面配置區 3">
            <a:extLst>
              <a:ext uri="{FF2B5EF4-FFF2-40B4-BE49-F238E27FC236}">
                <a16:creationId xmlns:a16="http://schemas.microsoft.com/office/drawing/2014/main" id="{EDBC4A19-8CA7-C282-3AF6-E44B38EEFC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616FD360-BACD-44D6-BD9F-34FAEE71AC49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D7A50650-BA53-D453-7E73-0372EC65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Pros. and Cons. for VEPA</a:t>
            </a: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</a:b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F07656-2D0E-A832-1C33-3BD585CA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Pros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Minor software/firmware update, network configuration maintained by external switches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Cons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>
                  <a:lumMod val="50000"/>
                </a:schemeClr>
              </a:buClr>
              <a:defRPr/>
            </a:pPr>
            <a:r>
              <a:rPr lang="en-US" altLang="zh-TW" dirty="0">
                <a:solidFill>
                  <a:schemeClr val="accent3">
                    <a:lumMod val="50000"/>
                  </a:schemeClr>
                </a:solidFill>
              </a:rPr>
              <a:t>VEPA still consumes server resources in order to perform forwarding table lookup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zh-TW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1380" name="投影片編號版面配置區 3">
            <a:extLst>
              <a:ext uri="{FF2B5EF4-FFF2-40B4-BE49-F238E27FC236}">
                <a16:creationId xmlns:a16="http://schemas.microsoft.com/office/drawing/2014/main" id="{A6A3D12A-D3AB-3D72-17BA-624EF00F9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124200" y="6356350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376092"/>
              </a:buClr>
              <a:buFont typeface="Arial" panose="020B0604020202020204" pitchFamily="34" charset="0"/>
              <a:buChar char="•"/>
              <a:defRPr sz="2800">
                <a:solidFill>
                  <a:srgbClr val="17375E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4F6228"/>
              </a:buClr>
              <a:buFont typeface="Wingdings" panose="05000000000000000000" pitchFamily="2" charset="2"/>
              <a:buChar char="§"/>
              <a:defRPr sz="2800">
                <a:solidFill>
                  <a:srgbClr val="4F6228"/>
                </a:solidFill>
                <a:latin typeface="Cambria" panose="020405030504060302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403152"/>
              </a:buClr>
              <a:buFont typeface="Arial" panose="020B0604020202020204" pitchFamily="34" charset="0"/>
              <a:buChar char="•"/>
              <a:defRPr sz="2400">
                <a:solidFill>
                  <a:srgbClr val="403152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fld id="{831D08A1-E677-4A30-BED4-0D30F8D3278A}" type="slidenum">
              <a:rPr kumimoji="1" lang="en-US" altLang="zh-TW" sz="12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kumimoji="1" lang="en-US" altLang="zh-TW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標題 1">
            <a:extLst>
              <a:ext uri="{FF2B5EF4-FFF2-40B4-BE49-F238E27FC236}">
                <a16:creationId xmlns:a16="http://schemas.microsoft.com/office/drawing/2014/main" id="{0EC95912-CF62-AF5C-B047-64536EEF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References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6608D-94F0-8A93-C81E-0D8BADA5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196975"/>
            <a:ext cx="8497888" cy="547211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"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: Enabling Innovation in Campus Networks“  N.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T.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Andershnan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G.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Parulkar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L. Peterson, J. Rexford, S.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Shenker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and J.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Turneron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H.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Balakris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ACM Computer Communication Review, Vol. 38, Issue 2, pp. 69-74 April 2008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Switch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Specication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V 1.1.0.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Richard Wang, Dana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Butnariu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and Jennifer Rexford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-based server load balancing gone wild, Workshop on Hot Topics in Management of Internet, Cloud, and Enterprise 66 IP Infusion Proprietary and Confidential, released under Customer NDA , Roadmap items subject to change without notice    © 2011 IP Infusion Inc. gone wild, Workshop on Hot Topics in Management of Internet, Cloud, and Enterprise Networks and Services (Hot-ICE), Boston, MA, March 2011. 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Saurav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Das, Guru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Parulkar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Preeti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Singh, Daniel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Getachew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Lyndon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Ong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Nick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Packet and Circuit Network Convergence with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Optical Fiber Conference (OFC/NFOEC'10), San Diego, March 2010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Nikhil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Handigol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Srini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Seetharaman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Mario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Flajslik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Nick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McKeown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Ramesh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Johari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Plug-n-Serve: Load-Balancing Web Traffic using </a:t>
            </a:r>
            <a:r>
              <a:rPr lang="en-US" altLang="zh-TW" sz="1600" dirty="0" err="1">
                <a:solidFill>
                  <a:schemeClr val="tx2">
                    <a:lumMod val="75000"/>
                  </a:schemeClr>
                </a:solidFill>
              </a:rPr>
              <a:t>OpenFlow</a:t>
            </a: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, ACM SIGCOMM Demo, Aug 2009.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</a:rPr>
              <a:t>NOX: Towards an Operating System for Networks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2"/>
              </a:rPr>
              <a:t>https://sites.google.com/site/routeflow/home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3"/>
              </a:rPr>
              <a:t>http://www.openflow.org/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4"/>
              </a:rPr>
              <a:t>http://www.opennetsummit.org/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5"/>
              </a:rPr>
              <a:t>https://www.opennetworking.org/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6"/>
              </a:rPr>
              <a:t>http://conferences.sigcomm.org/sigcomm/2010/papers/sigcomm/p195.pdf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sz="1600" dirty="0">
                <a:solidFill>
                  <a:schemeClr val="tx2">
                    <a:lumMod val="75000"/>
                  </a:schemeClr>
                </a:solidFill>
                <a:hlinkClick r:id="rId7"/>
              </a:rPr>
              <a:t>http://searchnetworking.techtarget.com/</a:t>
            </a:r>
            <a:endParaRPr lang="en-US" altLang="zh-TW" sz="1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標題 1">
            <a:extLst>
              <a:ext uri="{FF2B5EF4-FFF2-40B4-BE49-F238E27FC236}">
                <a16:creationId xmlns:a16="http://schemas.microsoft.com/office/drawing/2014/main" id="{1C7E42C6-CA2E-2AAB-6DDD-474842EB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References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004DF-7EBD-5D35-2BD5-0C3FCC442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341438"/>
            <a:ext cx="8507412" cy="48958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+mj-lt"/>
                <a:hlinkClick r:id="rId3"/>
              </a:rPr>
              <a:t>Network Virtualization with Cloud Virtual Switch</a:t>
            </a:r>
            <a:endParaRPr lang="en-US" altLang="zh-TW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S.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Horman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4"/>
              </a:rPr>
              <a:t>An Introduction to 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4"/>
              </a:rPr>
              <a:t>vSwitch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</a:t>
            </a: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</a:rPr>
              <a:t>LinuxCon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 Japan, Yokohama, Jun. 2, 2011.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J. Pettit, J. Gross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5"/>
              </a:rPr>
              <a:t>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5"/>
              </a:rPr>
              <a:t>vSwitch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5"/>
              </a:rPr>
              <a:t> Overview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Linux Collaboration Summit, San Francisco, Apr. 7, 2011.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J. Pettit, “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6"/>
              </a:rPr>
              <a:t>Open </a:t>
            </a:r>
            <a:r>
              <a:rPr lang="en-US" altLang="zh-TW" b="1" dirty="0" err="1">
                <a:solidFill>
                  <a:schemeClr val="tx2">
                    <a:lumMod val="75000"/>
                  </a:schemeClr>
                </a:solidFill>
                <a:hlinkClick r:id="rId6"/>
              </a:rPr>
              <a:t>vSwitch</a:t>
            </a:r>
            <a:r>
              <a:rPr lang="en-US" altLang="zh-TW" b="1" dirty="0">
                <a:solidFill>
                  <a:schemeClr val="tx2">
                    <a:lumMod val="75000"/>
                  </a:schemeClr>
                </a:solidFill>
                <a:hlinkClick r:id="rId6"/>
              </a:rPr>
              <a:t>: A Whirlwind Tour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</a:rPr>
              <a:t>,” Mar. 3, 2011.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hlinkClick r:id="rId7"/>
              </a:rPr>
              <a:t>Access Layer Network Virtualization: VN-Tag and VEPA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altLang="zh-TW" dirty="0" err="1">
                <a:solidFill>
                  <a:schemeClr val="tx2">
                    <a:lumMod val="75000"/>
                  </a:schemeClr>
                </a:solidFill>
                <a:latin typeface="+mj-lt"/>
                <a:hlinkClick r:id="rId8"/>
              </a:rPr>
              <a:t>OpenFlow</a:t>
            </a:r>
            <a:r>
              <a:rPr lang="en-US" altLang="zh-TW" dirty="0">
                <a:solidFill>
                  <a:schemeClr val="tx2">
                    <a:lumMod val="75000"/>
                  </a:schemeClr>
                </a:solidFill>
                <a:latin typeface="+mj-lt"/>
                <a:hlinkClick r:id="rId8"/>
              </a:rPr>
              <a:t> Tutorial</a:t>
            </a:r>
            <a:endParaRPr lang="en-US" altLang="zh-TW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None/>
              <a:defRPr/>
            </a:pP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26754</TotalTime>
  <Words>3673</Words>
  <Application>Microsoft Office PowerPoint</Application>
  <PresentationFormat>全屏显示(4:3)</PresentationFormat>
  <Paragraphs>992</Paragraphs>
  <Slides>68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3" baseType="lpstr">
      <vt:lpstr>Arial</vt:lpstr>
      <vt:lpstr>新細明體</vt:lpstr>
      <vt:lpstr>Calibri</vt:lpstr>
      <vt:lpstr>Cambria</vt:lpstr>
      <vt:lpstr>Wingdings</vt:lpstr>
      <vt:lpstr>標楷體</vt:lpstr>
      <vt:lpstr>ＭＳ Ｐゴシック</vt:lpstr>
      <vt:lpstr>Times New Roman</vt:lpstr>
      <vt:lpstr>Gill Sans</vt:lpstr>
      <vt:lpstr>Helvetica</vt:lpstr>
      <vt:lpstr>ヒラギノ明朝 ProN W3</vt:lpstr>
      <vt:lpstr>ヒラギノ角ゴ ProN W3</vt:lpstr>
      <vt:lpstr>Tahoma</vt:lpstr>
      <vt:lpstr>ヒラギノ角ゴ ProN W6</vt:lpstr>
      <vt:lpstr>Course Themes</vt:lpstr>
      <vt:lpstr>虛擬化技術 Virtualization Techniques</vt:lpstr>
      <vt:lpstr>Software defined network</vt:lpstr>
      <vt:lpstr>We have lost our way</vt:lpstr>
      <vt:lpstr>Reality</vt:lpstr>
      <vt:lpstr>Glacial process of innovation made worse by captive standards process</vt:lpstr>
      <vt:lpstr>Software defined network</vt:lpstr>
      <vt:lpstr>Trend</vt:lpstr>
      <vt:lpstr>The “Software-defined Network” </vt:lpstr>
      <vt:lpstr>The “Software-defined Network” </vt:lpstr>
      <vt:lpstr>PowerPoint 演示文稿</vt:lpstr>
      <vt:lpstr>Consequences</vt:lpstr>
      <vt:lpstr>Software defined network</vt:lpstr>
      <vt:lpstr>Traditional network node: Router</vt:lpstr>
      <vt:lpstr>Traditional network node: Switch</vt:lpstr>
      <vt:lpstr>SDN Concept</vt:lpstr>
      <vt:lpstr>Control Program</vt:lpstr>
      <vt:lpstr>Software-Defined Network with key Abstractions in the Control Plane</vt:lpstr>
      <vt:lpstr>Forwarding Abstraction</vt:lpstr>
      <vt:lpstr>OpenFlow Basics</vt:lpstr>
      <vt:lpstr>OpenFlow Basics</vt:lpstr>
      <vt:lpstr>Plumbing Primitives &lt;Match, Action&gt;</vt:lpstr>
      <vt:lpstr>General Forwarding Abstraction</vt:lpstr>
      <vt:lpstr>Software defined network</vt:lpstr>
      <vt:lpstr>What is OpenFlow</vt:lpstr>
      <vt:lpstr>OpenFlow Consortium</vt:lpstr>
      <vt:lpstr>OpenFlow building blocks</vt:lpstr>
      <vt:lpstr>Components of OpenFlow Network</vt:lpstr>
      <vt:lpstr>OpenFlow Controllers</vt:lpstr>
      <vt:lpstr>Secure Channel (SC)</vt:lpstr>
      <vt:lpstr>Flow Table</vt:lpstr>
      <vt:lpstr>Flow Entry</vt:lpstr>
      <vt:lpstr>Examples</vt:lpstr>
      <vt:lpstr>Examples</vt:lpstr>
      <vt:lpstr>OpenFlow Usage </vt:lpstr>
      <vt:lpstr>Usage examples</vt:lpstr>
      <vt:lpstr>Separate VLANs for Production and Research Traffic</vt:lpstr>
      <vt:lpstr> Dynamic Flow Aggregation on an OpenFlow Network </vt:lpstr>
      <vt:lpstr> Dynamic Flow Aggregation on an OpenFlow Network </vt:lpstr>
      <vt:lpstr>Virtualizing OpenFlow</vt:lpstr>
      <vt:lpstr>Switch Based Virtualization Exists for NEC, HP switches but not flexible enough</vt:lpstr>
      <vt:lpstr>FlowVisor </vt:lpstr>
      <vt:lpstr>FlowVisor-based Virtualization</vt:lpstr>
      <vt:lpstr>PowerPoint 演示文稿</vt:lpstr>
      <vt:lpstr>FlowVisor Slicing</vt:lpstr>
      <vt:lpstr>FlowVisor Resource Limits</vt:lpstr>
      <vt:lpstr>Slicing</vt:lpstr>
      <vt:lpstr>FlowVisor FlowSpace</vt:lpstr>
      <vt:lpstr>FlowSpace: Maps Packets to Slices</vt:lpstr>
      <vt:lpstr>FlowVisor Slicing Policy</vt:lpstr>
      <vt:lpstr>FlowVisor Slicing Policy</vt:lpstr>
      <vt:lpstr>FlowVisor Message Handling</vt:lpstr>
      <vt:lpstr>Software defined network</vt:lpstr>
      <vt:lpstr>             INTRODUCTION</vt:lpstr>
      <vt:lpstr>   Software-Based Virtual Switch</vt:lpstr>
      <vt:lpstr>Issues of Traditional vSwitch</vt:lpstr>
      <vt:lpstr>Open vSwitch</vt:lpstr>
      <vt:lpstr>Open vSwitch Concepts</vt:lpstr>
      <vt:lpstr>Open vSwitch Concepts</vt:lpstr>
      <vt:lpstr>Open vSwitch Contributors(Partial)</vt:lpstr>
      <vt:lpstr>Packets are Managed as Flows</vt:lpstr>
      <vt:lpstr>Packets are Managed as Flows</vt:lpstr>
      <vt:lpstr>Migration</vt:lpstr>
      <vt:lpstr>Hardware-Based Virtual Switch</vt:lpstr>
      <vt:lpstr>Virtual Ethernet Port Aggregator  </vt:lpstr>
      <vt:lpstr>Virtual Ethernet Port Aggregator </vt:lpstr>
      <vt:lpstr>Pros. and Cons. for VEPA  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Prof. Chung Yehching (SDS)</cp:lastModifiedBy>
  <cp:revision>1559</cp:revision>
  <dcterms:created xsi:type="dcterms:W3CDTF">2010-08-10T05:14:29Z</dcterms:created>
  <dcterms:modified xsi:type="dcterms:W3CDTF">2023-10-15T01:13:56Z</dcterms:modified>
</cp:coreProperties>
</file>