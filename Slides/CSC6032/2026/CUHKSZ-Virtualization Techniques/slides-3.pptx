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7"/>
  </p:notesMasterIdLst>
  <p:handoutMasterIdLst>
    <p:handoutMasterId r:id="rId118"/>
  </p:handout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5" r:id="rId47"/>
    <p:sldId id="336" r:id="rId48"/>
    <p:sldId id="337" r:id="rId49"/>
    <p:sldId id="338" r:id="rId50"/>
    <p:sldId id="351" r:id="rId51"/>
    <p:sldId id="409" r:id="rId52"/>
    <p:sldId id="339" r:id="rId53"/>
    <p:sldId id="410" r:id="rId54"/>
    <p:sldId id="411" r:id="rId55"/>
    <p:sldId id="412" r:id="rId56"/>
    <p:sldId id="413" r:id="rId57"/>
    <p:sldId id="414" r:id="rId58"/>
    <p:sldId id="415" r:id="rId59"/>
    <p:sldId id="416" r:id="rId60"/>
    <p:sldId id="340" r:id="rId61"/>
    <p:sldId id="341" r:id="rId62"/>
    <p:sldId id="342" r:id="rId63"/>
    <p:sldId id="343" r:id="rId64"/>
    <p:sldId id="344" r:id="rId65"/>
    <p:sldId id="345" r:id="rId66"/>
    <p:sldId id="346" r:id="rId67"/>
    <p:sldId id="347" r:id="rId68"/>
    <p:sldId id="348" r:id="rId69"/>
    <p:sldId id="349" r:id="rId70"/>
    <p:sldId id="350" r:id="rId71"/>
    <p:sldId id="408" r:id="rId72"/>
    <p:sldId id="357" r:id="rId73"/>
    <p:sldId id="407" r:id="rId74"/>
    <p:sldId id="406" r:id="rId75"/>
    <p:sldId id="283" r:id="rId76"/>
    <p:sldId id="399" r:id="rId77"/>
    <p:sldId id="400" r:id="rId78"/>
    <p:sldId id="401" r:id="rId79"/>
    <p:sldId id="402" r:id="rId80"/>
    <p:sldId id="403" r:id="rId81"/>
    <p:sldId id="404" r:id="rId82"/>
    <p:sldId id="405" r:id="rId83"/>
    <p:sldId id="353" r:id="rId84"/>
    <p:sldId id="354" r:id="rId85"/>
    <p:sldId id="355" r:id="rId86"/>
    <p:sldId id="356" r:id="rId87"/>
    <p:sldId id="368" r:id="rId88"/>
    <p:sldId id="369" r:id="rId89"/>
    <p:sldId id="370" r:id="rId90"/>
    <p:sldId id="371" r:id="rId91"/>
    <p:sldId id="372" r:id="rId92"/>
    <p:sldId id="373" r:id="rId93"/>
    <p:sldId id="374" r:id="rId94"/>
    <p:sldId id="375" r:id="rId95"/>
    <p:sldId id="376" r:id="rId96"/>
    <p:sldId id="377" r:id="rId97"/>
    <p:sldId id="378" r:id="rId98"/>
    <p:sldId id="379" r:id="rId99"/>
    <p:sldId id="380" r:id="rId100"/>
    <p:sldId id="381" r:id="rId101"/>
    <p:sldId id="382" r:id="rId102"/>
    <p:sldId id="383" r:id="rId103"/>
    <p:sldId id="384" r:id="rId104"/>
    <p:sldId id="385" r:id="rId105"/>
    <p:sldId id="387" r:id="rId106"/>
    <p:sldId id="388" r:id="rId107"/>
    <p:sldId id="389" r:id="rId108"/>
    <p:sldId id="390" r:id="rId109"/>
    <p:sldId id="391" r:id="rId110"/>
    <p:sldId id="392" r:id="rId111"/>
    <p:sldId id="393" r:id="rId112"/>
    <p:sldId id="394" r:id="rId113"/>
    <p:sldId id="395" r:id="rId114"/>
    <p:sldId id="396" r:id="rId115"/>
    <p:sldId id="397" r:id="rId11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FF87C-2B6D-4AB4-8D2A-EA90E93D86B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FA091-31A9-4520-BFD6-2D31EAF5EE3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FA091-31A9-4520-BFD6-2D31EAF5EE3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107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storage-system.fujitsu.com/jp/term/raid/" TargetMode="External"/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storage-system.fujitsu.com/jp/term/raid/" TargetMode="External"/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storage-system.fujitsu.com/jp/term/raid/" TargetMode="External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storage-system.fujitsu.com/jp/term/raid/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://storage-system.fujitsu.com/jp/term/raid/" TargetMode="Externa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55676" y="1005576"/>
            <a:ext cx="5829300" cy="1102519"/>
          </a:xfrm>
        </p:spPr>
        <p:txBody>
          <a:bodyPr>
            <a:normAutofit/>
          </a:bodyPr>
          <a:lstStyle/>
          <a:p>
            <a:r>
              <a:rPr lang="zh-TW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虛擬化技術</a:t>
            </a:r>
            <a:b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and Virtual Machines</a:t>
            </a:r>
            <a:endParaRPr lang="zh-TW" alt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249742" y="2463738"/>
            <a:ext cx="4800600" cy="1009278"/>
          </a:xfrm>
        </p:spPr>
        <p:txBody>
          <a:bodyPr/>
          <a:lstStyle/>
          <a:p>
            <a:pPr algn="ctr"/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</a:rPr>
              <a:t>Storage Virtualization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1804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951570"/>
            <a:ext cx="6172200" cy="394243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/>
              <a:t>Overview</a:t>
            </a:r>
          </a:p>
          <a:p>
            <a:pPr lvl="1"/>
            <a:r>
              <a:rPr lang="en-US" altLang="zh-TW" dirty="0"/>
              <a:t>Introduction</a:t>
            </a:r>
          </a:p>
          <a:p>
            <a:pPr lvl="1"/>
            <a:r>
              <a:rPr lang="en-US" altLang="zh-TW" dirty="0"/>
              <a:t>What to be virtualized</a:t>
            </a:r>
          </a:p>
          <a:p>
            <a:pPr lvl="1"/>
            <a:r>
              <a:rPr lang="en-US" altLang="zh-TW" dirty="0"/>
              <a:t>Where to be virtualized</a:t>
            </a:r>
          </a:p>
          <a:p>
            <a:pPr lvl="1"/>
            <a:r>
              <a:rPr lang="en-US" altLang="zh-TW" dirty="0"/>
              <a:t>How to be virtualized</a:t>
            </a:r>
          </a:p>
          <a:p>
            <a:r>
              <a:rPr lang="en-US" altLang="zh-TW" dirty="0"/>
              <a:t>Case study</a:t>
            </a:r>
          </a:p>
          <a:p>
            <a:pPr lvl="1"/>
            <a:r>
              <a:rPr lang="en-US" altLang="zh-TW" dirty="0"/>
              <a:t>On </a:t>
            </a:r>
            <a:r>
              <a:rPr lang="en-US" altLang="zh-TW" dirty="0" err="1"/>
              <a:t>linux</a:t>
            </a:r>
            <a:r>
              <a:rPr lang="en-US" altLang="zh-TW" dirty="0"/>
              <a:t> system</a:t>
            </a:r>
          </a:p>
          <a:p>
            <a:pPr lvl="2"/>
            <a:r>
              <a:rPr lang="en-US" altLang="zh-TW" dirty="0"/>
              <a:t>RAID</a:t>
            </a:r>
          </a:p>
          <a:p>
            <a:pPr lvl="2"/>
            <a:r>
              <a:rPr lang="en-US" altLang="zh-TW" dirty="0"/>
              <a:t>LVM</a:t>
            </a:r>
          </a:p>
          <a:p>
            <a:pPr lvl="2"/>
            <a:r>
              <a:rPr lang="en-US" altLang="zh-TW" dirty="0"/>
              <a:t>NFS</a:t>
            </a:r>
          </a:p>
          <a:p>
            <a:pPr lvl="1"/>
            <a:r>
              <a:rPr lang="en-US" altLang="zh-TW" dirty="0"/>
              <a:t>In distributed system</a:t>
            </a:r>
          </a:p>
          <a:p>
            <a:pPr lvl="2"/>
            <a:r>
              <a:rPr lang="en-US" altLang="zh-TW" dirty="0" err="1"/>
              <a:t>Vastsky</a:t>
            </a:r>
            <a:endParaRPr lang="en-US" altLang="zh-TW" dirty="0"/>
          </a:p>
          <a:p>
            <a:pPr lvl="2"/>
            <a:r>
              <a:rPr lang="en-US" altLang="zh-TW" dirty="0" err="1"/>
              <a:t>Lustre</a:t>
            </a:r>
            <a:endParaRPr lang="en-US" altLang="zh-TW" dirty="0"/>
          </a:p>
          <a:p>
            <a:pPr lvl="2"/>
            <a:r>
              <a:rPr lang="en-US" altLang="zh-TW" dirty="0" err="1"/>
              <a:t>Ceph</a:t>
            </a:r>
            <a:endParaRPr lang="en-US" altLang="zh-TW" dirty="0"/>
          </a:p>
          <a:p>
            <a:pPr lvl="2"/>
            <a:r>
              <a:rPr lang="en-US" altLang="zh-TW" dirty="0"/>
              <a:t>HDFS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804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What to be virtualized ?</a:t>
            </a:r>
          </a:p>
          <a:p>
            <a:pPr lvl="1"/>
            <a:r>
              <a:rPr lang="en-US" dirty="0"/>
              <a:t>Block, File system</a:t>
            </a:r>
          </a:p>
          <a:p>
            <a:r>
              <a:rPr lang="en-US" dirty="0"/>
              <a:t>Where to be virtualized ?</a:t>
            </a:r>
          </a:p>
          <a:p>
            <a:pPr lvl="1"/>
            <a:r>
              <a:rPr lang="en-US" dirty="0"/>
              <a:t>Host-based, Network-based, Storage-based</a:t>
            </a:r>
          </a:p>
          <a:p>
            <a:r>
              <a:rPr lang="en-US" dirty="0"/>
              <a:t>How to be virtualized ?</a:t>
            </a:r>
          </a:p>
          <a:p>
            <a:pPr lvl="1"/>
            <a:r>
              <a:rPr lang="en-US" dirty="0"/>
              <a:t>In-band, Out-of-band</a:t>
            </a:r>
          </a:p>
        </p:txBody>
      </p:sp>
    </p:spTree>
    <p:extLst>
      <p:ext uri="{BB962C8B-B14F-4D97-AF65-F5344CB8AC3E}">
        <p14:creationId xmlns:p14="http://schemas.microsoft.com/office/powerpoint/2010/main" val="166088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57175" lvl="2" indent="-257175"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accent2"/>
                </a:solidFill>
              </a:rPr>
              <a:t>Introduction</a:t>
            </a:r>
            <a:endParaRPr lang="en-US" sz="1950" dirty="0">
              <a:solidFill>
                <a:schemeClr val="accent2"/>
              </a:solidFill>
            </a:endParaRP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What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Where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How to be virtualized</a:t>
            </a:r>
            <a:endParaRPr lang="en-US" altLang="zh-TW" sz="1950" dirty="0">
              <a:solidFill>
                <a:schemeClr val="tx1">
                  <a:tint val="75000"/>
                </a:schemeClr>
              </a:solidFill>
            </a:endParaRPr>
          </a:p>
          <a:p>
            <a:pPr marL="257175" indent="-257175"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tx1">
                    <a:tint val="75000"/>
                  </a:schemeClr>
                </a:solidFill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633515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benjr.tw/files/images/other/storage_syste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0" y="1028701"/>
            <a:ext cx="3143250" cy="411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71550"/>
            <a:ext cx="3943350" cy="4057650"/>
          </a:xfrm>
        </p:spPr>
        <p:txBody>
          <a:bodyPr>
            <a:noAutofit/>
          </a:bodyPr>
          <a:lstStyle/>
          <a:p>
            <a:r>
              <a:rPr lang="en-US" dirty="0"/>
              <a:t>Common storage architecture :</a:t>
            </a:r>
          </a:p>
          <a:p>
            <a:pPr lvl="1"/>
            <a:r>
              <a:rPr lang="en-US" dirty="0"/>
              <a:t>DAS - Direct Attached Storage</a:t>
            </a:r>
          </a:p>
          <a:p>
            <a:pPr lvl="2"/>
            <a:r>
              <a:rPr lang="en-US" dirty="0"/>
              <a:t>Storage device was directly attached to a server or workstation, without a storage network in between.</a:t>
            </a:r>
          </a:p>
          <a:p>
            <a:pPr lvl="1"/>
            <a:r>
              <a:rPr lang="en-US" dirty="0"/>
              <a:t>NAS - Network Attached Storage</a:t>
            </a:r>
          </a:p>
          <a:p>
            <a:pPr lvl="2"/>
            <a:r>
              <a:rPr lang="en-US" dirty="0"/>
              <a:t>File-level computer data storage connected to a computer network providing data access to heterogeneous clients.</a:t>
            </a:r>
          </a:p>
          <a:p>
            <a:pPr lvl="1"/>
            <a:r>
              <a:rPr lang="en-US" dirty="0"/>
              <a:t>SAN - Storage Area Network</a:t>
            </a:r>
          </a:p>
          <a:p>
            <a:pPr lvl="2"/>
            <a:r>
              <a:rPr lang="en-US" dirty="0"/>
              <a:t>Attach remote storage devices to servers in such a way that the devices appear as locally attached to the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339771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Desirable properties of storage virtualization:</a:t>
            </a:r>
          </a:p>
          <a:p>
            <a:pPr lvl="1"/>
            <a:r>
              <a:rPr lang="en-US" dirty="0"/>
              <a:t>Manageability</a:t>
            </a:r>
          </a:p>
          <a:p>
            <a:pPr lvl="2"/>
            <a:r>
              <a:rPr lang="en-US" dirty="0"/>
              <a:t>Storage resource should be easily configured and deployed.</a:t>
            </a:r>
          </a:p>
          <a:p>
            <a:pPr lvl="1"/>
            <a:r>
              <a:rPr lang="en-US" dirty="0"/>
              <a:t>Availability</a:t>
            </a:r>
          </a:p>
          <a:p>
            <a:pPr lvl="2"/>
            <a:r>
              <a:rPr lang="en-US" dirty="0"/>
              <a:t>Storage hardware failures should not affect the application.</a:t>
            </a:r>
          </a:p>
          <a:p>
            <a:pPr lvl="1"/>
            <a:r>
              <a:rPr lang="en-US" dirty="0"/>
              <a:t>Scalability</a:t>
            </a:r>
          </a:p>
          <a:p>
            <a:pPr lvl="2"/>
            <a:r>
              <a:rPr lang="en-US" dirty="0"/>
              <a:t>Storage resource can easily scale up and down.</a:t>
            </a:r>
          </a:p>
          <a:p>
            <a:pPr lvl="1"/>
            <a:r>
              <a:rPr lang="en-US" dirty="0"/>
              <a:t>Security</a:t>
            </a:r>
          </a:p>
          <a:p>
            <a:pPr lvl="2"/>
            <a:r>
              <a:rPr lang="en-US" dirty="0"/>
              <a:t>Storage resource should be securely isolated.</a:t>
            </a:r>
          </a:p>
        </p:txBody>
      </p:sp>
    </p:spTree>
    <p:extLst>
      <p:ext uri="{BB962C8B-B14F-4D97-AF65-F5344CB8AC3E}">
        <p14:creationId xmlns:p14="http://schemas.microsoft.com/office/powerpoint/2010/main" val="272638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Storage concept and technique</a:t>
            </a:r>
          </a:p>
          <a:p>
            <a:pPr lvl="1"/>
            <a:r>
              <a:rPr lang="en-US" altLang="zh-TW" dirty="0"/>
              <a:t>Storage resource mapping table</a:t>
            </a:r>
          </a:p>
          <a:p>
            <a:pPr lvl="1"/>
            <a:r>
              <a:rPr lang="en-US" altLang="zh-TW" dirty="0"/>
              <a:t>Redundant data</a:t>
            </a:r>
          </a:p>
          <a:p>
            <a:pPr lvl="1"/>
            <a:r>
              <a:rPr lang="en-US" altLang="zh-TW" dirty="0"/>
              <a:t>Multi-path</a:t>
            </a:r>
          </a:p>
          <a:p>
            <a:pPr lvl="1"/>
            <a:r>
              <a:rPr lang="en-US" altLang="zh-TW" dirty="0"/>
              <a:t>Data sharing</a:t>
            </a:r>
          </a:p>
          <a:p>
            <a:pPr lvl="1"/>
            <a:r>
              <a:rPr lang="en-US" altLang="zh-TW" dirty="0" err="1"/>
              <a:t>Tiering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2430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 and Technique</a:t>
            </a:r>
            <a:endParaRPr lang="en-US" dirty="0"/>
          </a:p>
        </p:txBody>
      </p:sp>
      <p:pic>
        <p:nvPicPr>
          <p:cNvPr id="4" name="Picture 3" descr="c_program1.png"/>
          <p:cNvPicPr>
            <a:picLocks noChangeAspect="1"/>
          </p:cNvPicPr>
          <p:nvPr/>
        </p:nvPicPr>
        <p:blipFill>
          <a:blip r:embed="rId2" cstate="print"/>
          <a:srcRect l="756"/>
          <a:stretch>
            <a:fillRect/>
          </a:stretch>
        </p:blipFill>
        <p:spPr>
          <a:xfrm>
            <a:off x="2370643" y="1978244"/>
            <a:ext cx="4402715" cy="3222406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485900" y="914400"/>
            <a:ext cx="6172200" cy="13716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257175" indent="-257175">
              <a:spcBef>
                <a:spcPct val="20000"/>
              </a:spcBef>
              <a:buClr>
                <a:srgbClr val="4F81BD">
                  <a:lumMod val="75000"/>
                </a:srgbClr>
              </a:buClr>
              <a:buFont typeface="Arial" pitchFamily="34" charset="0"/>
              <a:buChar char="•"/>
            </a:pPr>
            <a:r>
              <a:rPr lang="en-US" altLang="zh-TW" sz="1650" dirty="0">
                <a:solidFill>
                  <a:srgbClr val="1F497D">
                    <a:lumMod val="75000"/>
                  </a:srgbClr>
                </a:solidFill>
                <a:latin typeface="Cambria" pitchFamily="18" charset="0"/>
              </a:rPr>
              <a:t>Storage resource mapping table</a:t>
            </a:r>
          </a:p>
          <a:p>
            <a:pPr marL="557213" lvl="1" indent="-214313">
              <a:spcBef>
                <a:spcPct val="20000"/>
              </a:spcBef>
              <a:buClr>
                <a:srgbClr val="9BBB59">
                  <a:lumMod val="50000"/>
                </a:srgbClr>
              </a:buClr>
              <a:buFont typeface="Wingdings" pitchFamily="2" charset="2"/>
              <a:buChar char="§"/>
            </a:pPr>
            <a:r>
              <a:rPr lang="en-US" altLang="zh-TW" sz="1425" dirty="0">
                <a:solidFill>
                  <a:srgbClr val="9BBB59">
                    <a:lumMod val="50000"/>
                  </a:srgbClr>
                </a:solidFill>
                <a:latin typeface="Cambria" pitchFamily="18" charset="0"/>
              </a:rPr>
              <a:t>Maintain tables to map storage resource to target.</a:t>
            </a:r>
          </a:p>
          <a:p>
            <a:pPr marL="557213" lvl="1" indent="-214313">
              <a:spcBef>
                <a:spcPct val="20000"/>
              </a:spcBef>
              <a:buClr>
                <a:srgbClr val="9BBB59">
                  <a:lumMod val="50000"/>
                </a:srgbClr>
              </a:buClr>
              <a:buFont typeface="Wingdings" pitchFamily="2" charset="2"/>
              <a:buChar char="§"/>
            </a:pPr>
            <a:r>
              <a:rPr lang="en-US" altLang="zh-TW" sz="1425" dirty="0">
                <a:solidFill>
                  <a:srgbClr val="9BBB59">
                    <a:lumMod val="50000"/>
                  </a:srgbClr>
                </a:solidFill>
                <a:latin typeface="Cambria" pitchFamily="18" charset="0"/>
              </a:rPr>
              <a:t>Dynamic modify table entries for thin provisioning.</a:t>
            </a:r>
          </a:p>
          <a:p>
            <a:pPr marL="557213" lvl="1" indent="-214313">
              <a:spcBef>
                <a:spcPct val="20000"/>
              </a:spcBef>
              <a:buClr>
                <a:srgbClr val="9BBB59">
                  <a:lumMod val="50000"/>
                </a:srgbClr>
              </a:buClr>
              <a:buFont typeface="Wingdings" pitchFamily="2" charset="2"/>
              <a:buChar char="§"/>
            </a:pPr>
            <a:r>
              <a:rPr lang="en-US" altLang="zh-TW" sz="1425" dirty="0">
                <a:solidFill>
                  <a:srgbClr val="9BBB59">
                    <a:lumMod val="50000"/>
                  </a:srgbClr>
                </a:solidFill>
                <a:latin typeface="Cambria" pitchFamily="18" charset="0"/>
              </a:rPr>
              <a:t>Use table to isolate different storage address space.</a:t>
            </a:r>
            <a:endParaRPr lang="en-US" sz="1500" dirty="0">
              <a:solidFill>
                <a:schemeClr val="accent3">
                  <a:lumMod val="50000"/>
                </a:schemeClr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30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 and Technique</a:t>
            </a:r>
            <a:endParaRPr 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Redundant data</a:t>
            </a:r>
          </a:p>
          <a:p>
            <a:pPr lvl="1"/>
            <a:r>
              <a:rPr lang="en-US" altLang="zh-TW" dirty="0"/>
              <a:t>Maintain replicas to provide high availability.</a:t>
            </a:r>
          </a:p>
          <a:p>
            <a:pPr lvl="1"/>
            <a:r>
              <a:rPr lang="en-US" altLang="zh-TW" dirty="0"/>
              <a:t>Use RAID technique to improve performance and availability.</a:t>
            </a:r>
          </a:p>
          <a:p>
            <a:endParaRPr lang="zh-TW" altLang="en-US" dirty="0"/>
          </a:p>
        </p:txBody>
      </p:sp>
      <p:pic>
        <p:nvPicPr>
          <p:cNvPr id="1026" name="Picture 2" descr="http://pooyaparand.net/fa/aboutrstorage_clip_image001_00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2643188"/>
            <a:ext cx="2500313" cy="2107406"/>
          </a:xfrm>
          <a:prstGeom prst="rect">
            <a:avLst/>
          </a:prstGeom>
          <a:noFill/>
        </p:spPr>
      </p:pic>
      <p:pic>
        <p:nvPicPr>
          <p:cNvPr id="1028" name="Picture 4" descr="http://docs.hp.com/en/B7660-90018/img/gfx8.gif"/>
          <p:cNvPicPr>
            <a:picLocks noChangeAspect="1" noChangeArrowheads="1"/>
          </p:cNvPicPr>
          <p:nvPr/>
        </p:nvPicPr>
        <p:blipFill>
          <a:blip r:embed="rId3" cstate="print"/>
          <a:srcRect l="22170"/>
          <a:stretch>
            <a:fillRect/>
          </a:stretch>
        </p:blipFill>
        <p:spPr bwMode="auto">
          <a:xfrm>
            <a:off x="1574352" y="2628900"/>
            <a:ext cx="3397698" cy="2171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8802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 and Technique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2628900"/>
          </a:xfrm>
        </p:spPr>
        <p:txBody>
          <a:bodyPr>
            <a:normAutofit/>
          </a:bodyPr>
          <a:lstStyle/>
          <a:p>
            <a:r>
              <a:rPr lang="en-US" dirty="0"/>
              <a:t>Multi-path</a:t>
            </a:r>
          </a:p>
          <a:p>
            <a:pPr lvl="1">
              <a:lnSpc>
                <a:spcPts val="2025"/>
              </a:lnSpc>
            </a:pPr>
            <a:r>
              <a:rPr lang="en-US" dirty="0"/>
              <a:t>A fault-tolerance and performance </a:t>
            </a:r>
            <a:br>
              <a:rPr lang="en-US" dirty="0"/>
            </a:br>
            <a:r>
              <a:rPr lang="en-US" dirty="0"/>
              <a:t>enhancement technique. </a:t>
            </a:r>
          </a:p>
          <a:p>
            <a:pPr lvl="1">
              <a:lnSpc>
                <a:spcPts val="2025"/>
              </a:lnSpc>
            </a:pPr>
            <a:r>
              <a:rPr lang="en-US" dirty="0"/>
              <a:t>There is more than one physical path </a:t>
            </a:r>
            <a:br>
              <a:rPr lang="en-US" dirty="0"/>
            </a:br>
            <a:r>
              <a:rPr lang="en-US" dirty="0"/>
              <a:t>between the host and storage devices </a:t>
            </a:r>
            <a:br>
              <a:rPr lang="en-US" dirty="0"/>
            </a:br>
            <a:r>
              <a:rPr lang="en-US" dirty="0"/>
              <a:t>through the buses, controllers, </a:t>
            </a:r>
            <a:br>
              <a:rPr lang="en-US" dirty="0"/>
            </a:br>
            <a:r>
              <a:rPr lang="en-US" dirty="0"/>
              <a:t>switches, and bridge devices </a:t>
            </a:r>
            <a:br>
              <a:rPr lang="en-US" dirty="0"/>
            </a:br>
            <a:r>
              <a:rPr lang="en-US" dirty="0"/>
              <a:t>connecting them.</a:t>
            </a:r>
          </a:p>
        </p:txBody>
      </p:sp>
      <p:pic>
        <p:nvPicPr>
          <p:cNvPr id="37890" name="Picture 2" descr="Active/Active Multipath Configuration with One RAID Device"/>
          <p:cNvPicPr>
            <a:picLocks noChangeAspect="1" noChangeArrowheads="1"/>
          </p:cNvPicPr>
          <p:nvPr/>
        </p:nvPicPr>
        <p:blipFill>
          <a:blip r:embed="rId2" cstate="print"/>
          <a:srcRect l="18301" t="9907" r="18954" b="15789"/>
          <a:stretch>
            <a:fillRect/>
          </a:stretch>
        </p:blipFill>
        <p:spPr bwMode="auto">
          <a:xfrm>
            <a:off x="5440680" y="1657350"/>
            <a:ext cx="2331720" cy="2914650"/>
          </a:xfrm>
          <a:prstGeom prst="roundRect">
            <a:avLst>
              <a:gd name="adj" fmla="val 6111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3845942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 and Technique</a:t>
            </a:r>
            <a:endParaRPr lang="en-US" dirty="0"/>
          </a:p>
        </p:txBody>
      </p:sp>
      <p:pic>
        <p:nvPicPr>
          <p:cNvPr id="54274" name="Picture 2" descr="http://blogs.netapp.com/.a/6a00d8341ca27e53ef0128758ea65b970c-pi"/>
          <p:cNvPicPr>
            <a:picLocks noChangeAspect="1" noChangeArrowheads="1"/>
          </p:cNvPicPr>
          <p:nvPr/>
        </p:nvPicPr>
        <p:blipFill>
          <a:blip r:embed="rId2" cstate="print"/>
          <a:srcRect b="32026"/>
          <a:stretch>
            <a:fillRect/>
          </a:stretch>
        </p:blipFill>
        <p:spPr bwMode="auto">
          <a:xfrm>
            <a:off x="1771650" y="2514600"/>
            <a:ext cx="5440241" cy="1885950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1143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Data sharing</a:t>
            </a:r>
          </a:p>
          <a:p>
            <a:pPr lvl="1"/>
            <a:r>
              <a:rPr lang="en-US" dirty="0"/>
              <a:t>Use data de-duplication technique to eliminate duplicated data.</a:t>
            </a:r>
          </a:p>
          <a:p>
            <a:pPr lvl="1"/>
            <a:r>
              <a:rPr lang="en-US" dirty="0"/>
              <a:t>Save and improve the usage of storage space</a:t>
            </a:r>
          </a:p>
        </p:txBody>
      </p:sp>
    </p:spTree>
    <p:extLst>
      <p:ext uri="{BB962C8B-B14F-4D97-AF65-F5344CB8AC3E}">
        <p14:creationId xmlns:p14="http://schemas.microsoft.com/office/powerpoint/2010/main" val="3634123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 and Technique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14859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Tiering</a:t>
            </a:r>
            <a:endParaRPr lang="en-US" dirty="0"/>
          </a:p>
          <a:p>
            <a:pPr lvl="1"/>
            <a:r>
              <a:rPr lang="en-US" dirty="0"/>
              <a:t>Automatic migrate data across storage resources with different properties according to the significance or access frequency of data.</a:t>
            </a:r>
          </a:p>
          <a:p>
            <a:pPr lvl="1"/>
            <a:r>
              <a:rPr lang="en-US" dirty="0"/>
              <a:t>Example:  iMac fusion drive</a:t>
            </a:r>
          </a:p>
        </p:txBody>
      </p:sp>
      <p:grpSp>
        <p:nvGrpSpPr>
          <p:cNvPr id="3" name="Group 11"/>
          <p:cNvGrpSpPr/>
          <p:nvPr/>
        </p:nvGrpSpPr>
        <p:grpSpPr>
          <a:xfrm>
            <a:off x="2343150" y="2514600"/>
            <a:ext cx="4457700" cy="2407482"/>
            <a:chOff x="1905000" y="3648024"/>
            <a:chExt cx="5715000" cy="3057576"/>
          </a:xfrm>
        </p:grpSpPr>
        <p:pic>
          <p:nvPicPr>
            <p:cNvPr id="34818" name="Picture 2" descr="http://storagenerve.com/wp-content/uploads/2009/12/Screen-shot-2009-12-08-at-5.13.31-PM.png"/>
            <p:cNvPicPr>
              <a:picLocks noChangeAspect="1" noChangeArrowheads="1"/>
            </p:cNvPicPr>
            <p:nvPr/>
          </p:nvPicPr>
          <p:blipFill>
            <a:blip r:embed="rId2" cstate="print"/>
            <a:srcRect b="72273"/>
            <a:stretch>
              <a:fillRect/>
            </a:stretch>
          </p:blipFill>
          <p:spPr bwMode="auto">
            <a:xfrm>
              <a:off x="1905000" y="3648024"/>
              <a:ext cx="5715000" cy="847776"/>
            </a:xfrm>
            <a:prstGeom prst="rect">
              <a:avLst/>
            </a:prstGeom>
            <a:noFill/>
          </p:spPr>
        </p:pic>
        <p:pic>
          <p:nvPicPr>
            <p:cNvPr id="8" name="Picture 2" descr="http://storagenerve.com/wp-content/uploads/2009/12/Screen-shot-2009-12-08-at-5.13.31-PM.png"/>
            <p:cNvPicPr>
              <a:picLocks noChangeAspect="1" noChangeArrowheads="1"/>
            </p:cNvPicPr>
            <p:nvPr/>
          </p:nvPicPr>
          <p:blipFill>
            <a:blip r:embed="rId2" cstate="print"/>
            <a:srcRect t="37696"/>
            <a:stretch>
              <a:fillRect/>
            </a:stretch>
          </p:blipFill>
          <p:spPr bwMode="auto">
            <a:xfrm>
              <a:off x="1905000" y="4800600"/>
              <a:ext cx="5715000" cy="1905000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2528767" y="4505960"/>
              <a:ext cx="970433" cy="351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497D">
                      <a:lumMod val="75000"/>
                    </a:srgbClr>
                  </a:solidFill>
                </a:rPr>
                <a:t>Storage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98042" y="4505960"/>
              <a:ext cx="982765" cy="351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497D">
                      <a:lumMod val="75000"/>
                    </a:srgbClr>
                  </a:solidFill>
                </a:rPr>
                <a:t>Policies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00923" y="4505960"/>
              <a:ext cx="1572588" cy="351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497D">
                      <a:lumMod val="75000"/>
                    </a:srgbClr>
                  </a:solidFill>
                </a:rPr>
                <a:t>Access Group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2242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57175" lvl="2" indent="-257175"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  <a:endParaRPr lang="en-US" sz="1950" dirty="0">
              <a:solidFill>
                <a:schemeClr val="bg1">
                  <a:lumMod val="50000"/>
                </a:schemeClr>
              </a:solidFill>
            </a:endParaRP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accent2"/>
                </a:solidFill>
              </a:rPr>
              <a:t>What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Where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How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tx1">
                    <a:tint val="75000"/>
                  </a:schemeClr>
                </a:solidFill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651856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71450"/>
            <a:ext cx="6172200" cy="857250"/>
          </a:xfrm>
        </p:spPr>
        <p:txBody>
          <a:bodyPr/>
          <a:lstStyle/>
          <a:p>
            <a:r>
              <a:rPr lang="en-US" dirty="0"/>
              <a:t>What To Be Virtualized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900" y="1200151"/>
            <a:ext cx="3371850" cy="3394472"/>
          </a:xfrm>
        </p:spPr>
        <p:txBody>
          <a:bodyPr/>
          <a:lstStyle/>
          <a:p>
            <a:r>
              <a:rPr lang="en-US" dirty="0"/>
              <a:t>Layers can be virtualized</a:t>
            </a:r>
          </a:p>
          <a:p>
            <a:pPr lvl="1"/>
            <a:r>
              <a:rPr lang="en-US" dirty="0"/>
              <a:t>File system</a:t>
            </a:r>
          </a:p>
          <a:p>
            <a:pPr lvl="2"/>
            <a:r>
              <a:rPr lang="en-US" dirty="0"/>
              <a:t>Provide compatible system call interface to user space applications.</a:t>
            </a:r>
          </a:p>
          <a:p>
            <a:pPr lvl="1"/>
            <a:r>
              <a:rPr lang="en-US" dirty="0"/>
              <a:t>Block device</a:t>
            </a:r>
          </a:p>
          <a:p>
            <a:pPr lvl="2"/>
            <a:r>
              <a:rPr lang="en-US" dirty="0"/>
              <a:t>Provide compatible block device interface to file system.</a:t>
            </a:r>
          </a:p>
          <a:p>
            <a:pPr lvl="2"/>
            <a:r>
              <a:rPr lang="en-US" dirty="0"/>
              <a:t>Through the interface such as SCSI, SAS, ATA, SATA, etc.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72050" y="2400300"/>
            <a:ext cx="2514600" cy="1314450"/>
          </a:xfrm>
          <a:prstGeom prst="rect">
            <a:avLst/>
          </a:prstGeom>
          <a:gradFill>
            <a:gsLst>
              <a:gs pos="100000">
                <a:schemeClr val="accent3">
                  <a:tint val="50000"/>
                  <a:satMod val="300000"/>
                </a:schemeClr>
              </a:gs>
              <a:gs pos="65000">
                <a:schemeClr val="accent3">
                  <a:tint val="37000"/>
                  <a:satMod val="300000"/>
                </a:schemeClr>
              </a:gs>
              <a:gs pos="0">
                <a:schemeClr val="accent3">
                  <a:tint val="15000"/>
                  <a:satMod val="350000"/>
                </a:schemeClr>
              </a:gs>
            </a:gsLst>
          </a:gradFill>
          <a:ln>
            <a:solidFill>
              <a:schemeClr val="bg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b"/>
          <a:lstStyle/>
          <a:p>
            <a:pPr algn="ctr"/>
            <a:r>
              <a:rPr lang="en-US" sz="1350" dirty="0">
                <a:solidFill>
                  <a:prstClr val="black"/>
                </a:solidFill>
              </a:rPr>
              <a:t>Kernel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72050" y="1371600"/>
            <a:ext cx="2514600" cy="971550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b"/>
          <a:lstStyle/>
          <a:p>
            <a:pPr algn="ctr"/>
            <a:r>
              <a:rPr lang="en-US" sz="1350" dirty="0">
                <a:solidFill>
                  <a:prstClr val="black"/>
                </a:solidFill>
              </a:rPr>
              <a:t>User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43500" y="1714500"/>
            <a:ext cx="2000250" cy="342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43500" y="2171700"/>
            <a:ext cx="2000250" cy="2857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System call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0" y="2571750"/>
            <a:ext cx="2000250" cy="342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File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3028950"/>
            <a:ext cx="2000250" cy="2857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Block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0" y="3429000"/>
            <a:ext cx="2000250" cy="342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Device driver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2050" y="3829050"/>
            <a:ext cx="2514600" cy="3429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Storage Device</a:t>
            </a:r>
          </a:p>
        </p:txBody>
      </p:sp>
    </p:spTree>
    <p:extLst>
      <p:ext uri="{BB962C8B-B14F-4D97-AF65-F5344CB8AC3E}">
        <p14:creationId xmlns:p14="http://schemas.microsoft.com/office/powerpoint/2010/main" val="1984621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and Files</a:t>
            </a:r>
          </a:p>
          <a:p>
            <a:pPr lvl="1"/>
            <a:r>
              <a:rPr lang="en-US" dirty="0"/>
              <a:t>What is data ?</a:t>
            </a:r>
          </a:p>
          <a:p>
            <a:pPr lvl="2"/>
            <a:r>
              <a:rPr lang="en-US" dirty="0"/>
              <a:t>Data is information that has been converted to a machine-readable, digital binary format.</a:t>
            </a:r>
          </a:p>
          <a:p>
            <a:pPr lvl="2"/>
            <a:r>
              <a:rPr lang="en-US" dirty="0"/>
              <a:t>Control information indicates how data should be processed.</a:t>
            </a:r>
          </a:p>
          <a:p>
            <a:pPr lvl="2"/>
            <a:r>
              <a:rPr lang="en-US" dirty="0"/>
              <a:t>Applications may embed control information in user data for formatting or presentation.</a:t>
            </a:r>
          </a:p>
          <a:p>
            <a:pPr lvl="2"/>
            <a:r>
              <a:rPr lang="en-US" dirty="0"/>
              <a:t>Data and its associated control information is organized into discrete units as files or records.</a:t>
            </a:r>
          </a:p>
          <a:p>
            <a:pPr lvl="1"/>
            <a:r>
              <a:rPr lang="en-US" dirty="0"/>
              <a:t>What is file ?</a:t>
            </a:r>
          </a:p>
          <a:p>
            <a:pPr lvl="2"/>
            <a:r>
              <a:rPr lang="en-US" dirty="0"/>
              <a:t>Files are the common containers for user data, application code, and operating system executables and parameters.</a:t>
            </a:r>
          </a:p>
        </p:txBody>
      </p:sp>
    </p:spTree>
    <p:extLst>
      <p:ext uri="{BB962C8B-B14F-4D97-AF65-F5344CB8AC3E}">
        <p14:creationId xmlns:p14="http://schemas.microsoft.com/office/powerpoint/2010/main" val="3993693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28700"/>
            <a:ext cx="6286500" cy="38290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About the files</a:t>
            </a:r>
          </a:p>
          <a:p>
            <a:pPr lvl="1"/>
            <a:r>
              <a:rPr lang="en-US" dirty="0"/>
              <a:t>Metadata</a:t>
            </a:r>
          </a:p>
          <a:p>
            <a:pPr lvl="2"/>
            <a:r>
              <a:rPr lang="en-US" dirty="0"/>
              <a:t>The control information for file management is known as metadata.</a:t>
            </a:r>
          </a:p>
          <a:p>
            <a:pPr lvl="2"/>
            <a:r>
              <a:rPr lang="en-US" dirty="0"/>
              <a:t>File metadata includes file attributes and pointers to the location of file data content.</a:t>
            </a:r>
          </a:p>
          <a:p>
            <a:pPr lvl="2"/>
            <a:r>
              <a:rPr lang="en-US" dirty="0"/>
              <a:t>File metadata may be segregated from a file's data content.</a:t>
            </a:r>
          </a:p>
          <a:p>
            <a:pPr lvl="2"/>
            <a:r>
              <a:rPr lang="en-US" dirty="0"/>
              <a:t>Metadata on file ownership and permissions is used in file access.</a:t>
            </a:r>
          </a:p>
          <a:p>
            <a:pPr lvl="2"/>
            <a:r>
              <a:rPr lang="en-US" dirty="0"/>
              <a:t>File timestamp metadata facilitates automated processes such as backup and life cycle management.</a:t>
            </a:r>
          </a:p>
          <a:p>
            <a:pPr lvl="1"/>
            <a:r>
              <a:rPr lang="en-US" dirty="0"/>
              <a:t>Different file systems</a:t>
            </a:r>
          </a:p>
          <a:p>
            <a:pPr lvl="2"/>
            <a:r>
              <a:rPr lang="en-US" dirty="0"/>
              <a:t>In Unix systems, file metadata is contained in the </a:t>
            </a:r>
            <a:r>
              <a:rPr lang="en-US" i="1" dirty="0" err="1"/>
              <a:t>i</a:t>
            </a:r>
            <a:r>
              <a:rPr lang="en-US" dirty="0"/>
              <a:t>-node structure.</a:t>
            </a:r>
          </a:p>
          <a:p>
            <a:pPr lvl="2"/>
            <a:r>
              <a:rPr lang="en-US" dirty="0"/>
              <a:t>In Windows systems, file metadata is contained in records of file attributes.</a:t>
            </a:r>
          </a:p>
        </p:txBody>
      </p:sp>
    </p:spTree>
    <p:extLst>
      <p:ext uri="{BB962C8B-B14F-4D97-AF65-F5344CB8AC3E}">
        <p14:creationId xmlns:p14="http://schemas.microsoft.com/office/powerpoint/2010/main" val="169673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857250"/>
            <a:ext cx="6172200" cy="4057650"/>
          </a:xfrm>
        </p:spPr>
        <p:txBody>
          <a:bodyPr>
            <a:noAutofit/>
          </a:bodyPr>
          <a:lstStyle/>
          <a:p>
            <a:r>
              <a:rPr lang="en-US" dirty="0"/>
              <a:t>File system</a:t>
            </a:r>
          </a:p>
          <a:p>
            <a:pPr lvl="1"/>
            <a:r>
              <a:rPr lang="en-US" dirty="0"/>
              <a:t>What is file system ?</a:t>
            </a:r>
          </a:p>
          <a:p>
            <a:pPr lvl="2"/>
            <a:r>
              <a:rPr lang="en-US" dirty="0"/>
              <a:t>A file system is a software layer responsible for organizing and policing the creation, modification, and deletion of files.</a:t>
            </a:r>
          </a:p>
          <a:p>
            <a:pPr lvl="2"/>
            <a:r>
              <a:rPr lang="en-US" dirty="0"/>
              <a:t>File systems provide a hierarchical organization of files into directories and subdirectories.</a:t>
            </a:r>
          </a:p>
          <a:p>
            <a:pPr lvl="2"/>
            <a:r>
              <a:rPr lang="en-US" dirty="0"/>
              <a:t>The </a:t>
            </a:r>
            <a:r>
              <a:rPr lang="en-US" i="1" dirty="0"/>
              <a:t>B</a:t>
            </a:r>
            <a:r>
              <a:rPr lang="en-US" dirty="0"/>
              <a:t>-tree algorithm facilitates more rapid search and retrieval of files by name.</a:t>
            </a:r>
          </a:p>
          <a:p>
            <a:pPr lvl="2"/>
            <a:r>
              <a:rPr lang="en-US" dirty="0"/>
              <a:t>File system integrity is maintained through duplication of master tables, change logs, and immediate writes off file changes.</a:t>
            </a:r>
          </a:p>
          <a:p>
            <a:pPr lvl="1"/>
            <a:r>
              <a:rPr lang="en-US" dirty="0"/>
              <a:t>Different file systems</a:t>
            </a:r>
          </a:p>
          <a:p>
            <a:pPr lvl="2"/>
            <a:r>
              <a:rPr lang="en-US" dirty="0"/>
              <a:t>In Unix, the super block contains information on the current state of the file system and its resources.</a:t>
            </a:r>
          </a:p>
          <a:p>
            <a:pPr lvl="2"/>
            <a:r>
              <a:rPr lang="en-US" dirty="0"/>
              <a:t>In Windows NTFS, the master file table contains information on all file entries and status.</a:t>
            </a:r>
          </a:p>
        </p:txBody>
      </p:sp>
    </p:spTree>
    <p:extLst>
      <p:ext uri="{BB962C8B-B14F-4D97-AF65-F5344CB8AC3E}">
        <p14:creationId xmlns:p14="http://schemas.microsoft.com/office/powerpoint/2010/main" val="4047087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4000500" cy="3143250"/>
          </a:xfrm>
        </p:spPr>
        <p:txBody>
          <a:bodyPr/>
          <a:lstStyle/>
          <a:p>
            <a:r>
              <a:rPr lang="en-US" dirty="0"/>
              <a:t>File system level virtualization</a:t>
            </a:r>
          </a:p>
          <a:p>
            <a:pPr lvl="1"/>
            <a:r>
              <a:rPr lang="en-US" dirty="0"/>
              <a:t>File system maintains metadata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 err="1"/>
              <a:t>i</a:t>
            </a:r>
            <a:r>
              <a:rPr lang="en-US" dirty="0"/>
              <a:t>-node) of each file.</a:t>
            </a:r>
          </a:p>
          <a:p>
            <a:pPr lvl="1"/>
            <a:r>
              <a:rPr lang="en-US" dirty="0"/>
              <a:t>Translate file access requests to underlining file system.</a:t>
            </a:r>
          </a:p>
          <a:p>
            <a:pPr lvl="1"/>
            <a:r>
              <a:rPr lang="en-US" dirty="0"/>
              <a:t>Sometime divide large file into small sub-files (chunks) for parallel access, which improves the performance</a:t>
            </a:r>
          </a:p>
        </p:txBody>
      </p:sp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2100" y="1085850"/>
            <a:ext cx="256103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62213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Device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0175" y="1143000"/>
            <a:ext cx="6200775" cy="3657600"/>
          </a:xfrm>
        </p:spPr>
        <p:txBody>
          <a:bodyPr>
            <a:noAutofit/>
          </a:bodyPr>
          <a:lstStyle/>
          <a:p>
            <a:r>
              <a:rPr lang="en-US" dirty="0"/>
              <a:t>Block level data</a:t>
            </a:r>
          </a:p>
          <a:p>
            <a:pPr lvl="1"/>
            <a:r>
              <a:rPr lang="en-US" dirty="0"/>
              <a:t>The file system block</a:t>
            </a:r>
          </a:p>
          <a:p>
            <a:pPr lvl="2"/>
            <a:r>
              <a:rPr lang="en-US" dirty="0"/>
              <a:t>The atomic unit of file system management is the file system block.</a:t>
            </a:r>
          </a:p>
          <a:p>
            <a:pPr lvl="2"/>
            <a:r>
              <a:rPr lang="en-US" dirty="0"/>
              <a:t>A file's data may span multiple file system blocks.</a:t>
            </a:r>
          </a:p>
          <a:p>
            <a:pPr lvl="2"/>
            <a:r>
              <a:rPr lang="en-US" dirty="0"/>
              <a:t>A file system block is composed of a consecutive range of disk block addresses.</a:t>
            </a:r>
          </a:p>
          <a:p>
            <a:pPr lvl="1"/>
            <a:r>
              <a:rPr lang="en-US" dirty="0"/>
              <a:t>Data in disk</a:t>
            </a:r>
          </a:p>
          <a:p>
            <a:pPr lvl="2"/>
            <a:r>
              <a:rPr lang="en-US" dirty="0"/>
              <a:t>Disk drives read and write data to media through cylinder, head, and sector geometry.</a:t>
            </a:r>
          </a:p>
          <a:p>
            <a:pPr lvl="2"/>
            <a:r>
              <a:rPr lang="en-US" dirty="0"/>
              <a:t>Microcode on a disk translates between disk block numbers and cylinder/head/sector locations.</a:t>
            </a:r>
          </a:p>
          <a:p>
            <a:pPr lvl="2"/>
            <a:r>
              <a:rPr lang="en-US" dirty="0"/>
              <a:t>This translation is an elementary form of virtualization.</a:t>
            </a:r>
          </a:p>
        </p:txBody>
      </p:sp>
    </p:spTree>
    <p:extLst>
      <p:ext uri="{BB962C8B-B14F-4D97-AF65-F5344CB8AC3E}">
        <p14:creationId xmlns:p14="http://schemas.microsoft.com/office/powerpoint/2010/main" val="725272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Device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857250"/>
            <a:ext cx="6172200" cy="2514600"/>
          </a:xfrm>
        </p:spPr>
        <p:txBody>
          <a:bodyPr/>
          <a:lstStyle/>
          <a:p>
            <a:r>
              <a:rPr lang="en-US" dirty="0"/>
              <a:t>Block device interface</a:t>
            </a:r>
          </a:p>
          <a:p>
            <a:pPr lvl="1"/>
            <a:r>
              <a:rPr lang="en-US" dirty="0"/>
              <a:t>SCSI (</a:t>
            </a:r>
            <a:r>
              <a:rPr lang="en-US" i="1" dirty="0"/>
              <a:t>Small Computer System Interface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The exchange of data blocks between the host system and storage is governed by the SCSI protocol.</a:t>
            </a:r>
          </a:p>
          <a:p>
            <a:pPr lvl="2"/>
            <a:r>
              <a:rPr lang="en-US" dirty="0"/>
              <a:t>The SCSI protocol is implemented in a client/server model.</a:t>
            </a:r>
          </a:p>
          <a:p>
            <a:pPr lvl="2"/>
            <a:r>
              <a:rPr lang="en-US" dirty="0"/>
              <a:t>The SCSI protocol is responsible for block exchange but does not define how data blocks will be placed on disk.</a:t>
            </a:r>
          </a:p>
          <a:p>
            <a:pPr lvl="2"/>
            <a:r>
              <a:rPr lang="en-US" dirty="0"/>
              <a:t>Multiple instances of SCSI client/server sessions may run concurrently between a server and storage.</a:t>
            </a:r>
          </a:p>
        </p:txBody>
      </p:sp>
      <p:pic>
        <p:nvPicPr>
          <p:cNvPr id="7" name="Picture 6" descr="Network_2.png"/>
          <p:cNvPicPr>
            <a:picLocks noChangeAspect="1"/>
          </p:cNvPicPr>
          <p:nvPr/>
        </p:nvPicPr>
        <p:blipFill>
          <a:blip r:embed="rId2" cstate="print"/>
          <a:srcRect l="769"/>
          <a:stretch>
            <a:fillRect/>
          </a:stretch>
        </p:blipFill>
        <p:spPr>
          <a:xfrm>
            <a:off x="2360295" y="3143250"/>
            <a:ext cx="4423411" cy="188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93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Device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0175" y="971550"/>
            <a:ext cx="6343650" cy="4057650"/>
          </a:xfrm>
        </p:spPr>
        <p:txBody>
          <a:bodyPr>
            <a:noAutofit/>
          </a:bodyPr>
          <a:lstStyle/>
          <a:p>
            <a:r>
              <a:rPr lang="en-US" dirty="0"/>
              <a:t>Logical unit and Logical volume</a:t>
            </a:r>
          </a:p>
          <a:p>
            <a:pPr lvl="1"/>
            <a:r>
              <a:rPr lang="en-US" dirty="0"/>
              <a:t>Logical unit</a:t>
            </a:r>
          </a:p>
          <a:p>
            <a:pPr lvl="2"/>
            <a:r>
              <a:rPr lang="en-US" dirty="0"/>
              <a:t>The SCSI command processing entity within the storage target represents a logical unit (LU) and is assigned a logical unit number (LUN) for identification by the host platform.</a:t>
            </a:r>
          </a:p>
          <a:p>
            <a:pPr lvl="2"/>
            <a:r>
              <a:rPr lang="en-US" dirty="0"/>
              <a:t>LUN assignment can be manipulated through LUN mapping, which substitutes virtual LUN numbers for actual ones.</a:t>
            </a:r>
          </a:p>
          <a:p>
            <a:pPr lvl="1"/>
            <a:r>
              <a:rPr lang="en-US" dirty="0"/>
              <a:t>Logical volume</a:t>
            </a:r>
          </a:p>
          <a:p>
            <a:pPr lvl="2"/>
            <a:r>
              <a:rPr lang="en-US" dirty="0"/>
              <a:t>A volume represents the storage capacity of one or more disk drives.</a:t>
            </a:r>
          </a:p>
          <a:p>
            <a:pPr lvl="2"/>
            <a:r>
              <a:rPr lang="en-US" dirty="0"/>
              <a:t>Logical volume management may sit between the file system and the device drivers that control system I/O.</a:t>
            </a:r>
          </a:p>
          <a:p>
            <a:pPr lvl="2"/>
            <a:r>
              <a:rPr lang="en-US" dirty="0"/>
              <a:t>Volume management is responsible for creating and maintaining metadata about storage capacity.</a:t>
            </a:r>
          </a:p>
          <a:p>
            <a:pPr lvl="2"/>
            <a:r>
              <a:rPr lang="en-US" dirty="0"/>
              <a:t>Volumes are an archetypal form of storage virtualization.</a:t>
            </a:r>
          </a:p>
        </p:txBody>
      </p:sp>
    </p:spTree>
    <p:extLst>
      <p:ext uri="{BB962C8B-B14F-4D97-AF65-F5344CB8AC3E}">
        <p14:creationId xmlns:p14="http://schemas.microsoft.com/office/powerpoint/2010/main" val="42737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5101" y="822960"/>
            <a:ext cx="2558034" cy="4069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Device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085851"/>
            <a:ext cx="3657600" cy="3394472"/>
          </a:xfrm>
        </p:spPr>
        <p:txBody>
          <a:bodyPr/>
          <a:lstStyle/>
          <a:p>
            <a:r>
              <a:rPr lang="en-US" dirty="0"/>
              <a:t>Data block level virtualization</a:t>
            </a:r>
          </a:p>
          <a:p>
            <a:pPr lvl="1"/>
            <a:r>
              <a:rPr lang="en-US" dirty="0"/>
              <a:t>LUN &amp; LBA</a:t>
            </a:r>
          </a:p>
          <a:p>
            <a:pPr lvl="2"/>
            <a:r>
              <a:rPr lang="en-US" dirty="0"/>
              <a:t>A single block of information is addressed using a logical unit identifier (LUN) and an offset within that LUN, which known as a Logical Block Address (LBA).</a:t>
            </a:r>
          </a:p>
          <a:p>
            <a:pPr lvl="1"/>
            <a:r>
              <a:rPr lang="en-US" dirty="0"/>
              <a:t>Apply address space remapping</a:t>
            </a:r>
          </a:p>
          <a:p>
            <a:pPr lvl="2"/>
            <a:r>
              <a:rPr lang="en-US" dirty="0"/>
              <a:t>The address space mapping is between a logical disk and a logical unit presented by one or more storage controllers.</a:t>
            </a:r>
          </a:p>
        </p:txBody>
      </p:sp>
    </p:spTree>
    <p:extLst>
      <p:ext uri="{BB962C8B-B14F-4D97-AF65-F5344CB8AC3E}">
        <p14:creationId xmlns:p14="http://schemas.microsoft.com/office/powerpoint/2010/main" val="256193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57175" lvl="2" indent="-257175"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  <a:endParaRPr lang="en-US" sz="1950" dirty="0">
              <a:solidFill>
                <a:schemeClr val="bg1">
                  <a:lumMod val="50000"/>
                </a:schemeClr>
              </a:solidFill>
            </a:endParaRP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bg1">
                    <a:lumMod val="50000"/>
                  </a:schemeClr>
                </a:solidFill>
              </a:rPr>
              <a:t>What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rgbClr val="C00000"/>
                </a:solidFill>
              </a:rPr>
              <a:t>Where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How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2416307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Be Virtualized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650" y="1177528"/>
            <a:ext cx="5543550" cy="2594372"/>
          </a:xfrm>
        </p:spPr>
        <p:txBody>
          <a:bodyPr/>
          <a:lstStyle/>
          <a:p>
            <a:r>
              <a:rPr lang="en-US" dirty="0"/>
              <a:t>Storage interconnection</a:t>
            </a:r>
          </a:p>
          <a:p>
            <a:pPr lvl="1"/>
            <a:r>
              <a:rPr lang="en-US" dirty="0"/>
              <a:t>The path to storage</a:t>
            </a:r>
          </a:p>
          <a:p>
            <a:pPr lvl="2"/>
            <a:r>
              <a:rPr lang="en-US" dirty="0"/>
              <a:t>The storage interconnection provides the data path between servers and storage.</a:t>
            </a:r>
          </a:p>
          <a:p>
            <a:pPr lvl="2"/>
            <a:r>
              <a:rPr lang="en-US" dirty="0"/>
              <a:t>The storage interconnection is composed of both hardware and software components.</a:t>
            </a:r>
          </a:p>
          <a:p>
            <a:pPr lvl="2"/>
            <a:r>
              <a:rPr lang="en-US" dirty="0"/>
              <a:t>Operating systems provide drivers for I/O to storage assets.</a:t>
            </a:r>
          </a:p>
          <a:p>
            <a:pPr lvl="2"/>
            <a:r>
              <a:rPr lang="en-US" dirty="0"/>
              <a:t>Storage connectivity for hosts is provided by host bus adapters (HBAs) or network interface cards (NICs).</a:t>
            </a:r>
          </a:p>
        </p:txBody>
      </p:sp>
      <p:pic>
        <p:nvPicPr>
          <p:cNvPr id="6" name="Picture 5" descr="Storage_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85834" y="3543300"/>
            <a:ext cx="5772333" cy="144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97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Be Virtualized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600450"/>
          </a:xfrm>
        </p:spPr>
        <p:txBody>
          <a:bodyPr>
            <a:noAutofit/>
          </a:bodyPr>
          <a:lstStyle/>
          <a:p>
            <a:r>
              <a:rPr lang="en-US" dirty="0"/>
              <a:t>Storage interconnection protocol</a:t>
            </a:r>
          </a:p>
          <a:p>
            <a:pPr lvl="1"/>
            <a:r>
              <a:rPr lang="en-US" dirty="0" err="1"/>
              <a:t>Fibre</a:t>
            </a:r>
            <a:r>
              <a:rPr lang="en-US" dirty="0"/>
              <a:t> Channel</a:t>
            </a:r>
          </a:p>
          <a:p>
            <a:pPr lvl="2"/>
            <a:r>
              <a:rPr lang="en-US" dirty="0"/>
              <a:t>Usually for high performance requirements.</a:t>
            </a:r>
          </a:p>
          <a:p>
            <a:pPr lvl="2"/>
            <a:r>
              <a:rPr lang="en-US" dirty="0"/>
              <a:t>Supports point-to-point, arbitrated loop, and fabric interconnects.</a:t>
            </a:r>
          </a:p>
          <a:p>
            <a:pPr lvl="2"/>
            <a:r>
              <a:rPr lang="en-US" dirty="0"/>
              <a:t>Device discovery is provided by the simple name server (SNS).</a:t>
            </a:r>
          </a:p>
          <a:p>
            <a:pPr lvl="2"/>
            <a:r>
              <a:rPr lang="en-US" dirty="0" err="1"/>
              <a:t>Fibre</a:t>
            </a:r>
            <a:r>
              <a:rPr lang="en-US" dirty="0"/>
              <a:t> Channel fabrics are self-configuring via fabric protocols.</a:t>
            </a:r>
          </a:p>
          <a:p>
            <a:pPr lvl="1"/>
            <a:r>
              <a:rPr lang="en-US" dirty="0" err="1"/>
              <a:t>iSCSI</a:t>
            </a:r>
            <a:r>
              <a:rPr lang="en-US" dirty="0"/>
              <a:t> ( </a:t>
            </a:r>
            <a:r>
              <a:rPr lang="en-US" i="1" dirty="0"/>
              <a:t>internet SCSI 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For moderate performance requirements.</a:t>
            </a:r>
          </a:p>
          <a:p>
            <a:pPr lvl="2"/>
            <a:r>
              <a:rPr lang="en-US" dirty="0"/>
              <a:t>Encapsulates SCSI commands, status and data in TCP/IP.</a:t>
            </a:r>
          </a:p>
          <a:p>
            <a:pPr lvl="2"/>
            <a:r>
              <a:rPr lang="en-US" dirty="0"/>
              <a:t>Device discovery by the Internet Storage Name Service (</a:t>
            </a:r>
            <a:r>
              <a:rPr lang="en-US" dirty="0" err="1"/>
              <a:t>iSNS</a:t>
            </a:r>
            <a:r>
              <a:rPr lang="en-US" dirty="0"/>
              <a:t>).</a:t>
            </a:r>
          </a:p>
          <a:p>
            <a:pPr lvl="2"/>
            <a:r>
              <a:rPr lang="en-US" dirty="0" err="1"/>
              <a:t>iSCSI</a:t>
            </a:r>
            <a:r>
              <a:rPr lang="en-US" dirty="0"/>
              <a:t> servers can be integrated into </a:t>
            </a:r>
            <a:r>
              <a:rPr lang="en-US" dirty="0" err="1"/>
              <a:t>Fibre</a:t>
            </a:r>
            <a:r>
              <a:rPr lang="en-US" dirty="0"/>
              <a:t> Channel SANs through IP storage routers.</a:t>
            </a:r>
          </a:p>
        </p:txBody>
      </p:sp>
    </p:spTree>
    <p:extLst>
      <p:ext uri="{BB962C8B-B14F-4D97-AF65-F5344CB8AC3E}">
        <p14:creationId xmlns:p14="http://schemas.microsoft.com/office/powerpoint/2010/main" val="265094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Be Virtualized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897564"/>
            <a:ext cx="6172200" cy="4050450"/>
          </a:xfrm>
        </p:spPr>
        <p:txBody>
          <a:bodyPr>
            <a:noAutofit/>
          </a:bodyPr>
          <a:lstStyle/>
          <a:p>
            <a:r>
              <a:rPr lang="en-US" dirty="0"/>
              <a:t>Abstraction of physical storage</a:t>
            </a:r>
          </a:p>
          <a:p>
            <a:pPr lvl="1"/>
            <a:r>
              <a:rPr lang="en-US" dirty="0"/>
              <a:t>Physical to virtual</a:t>
            </a:r>
          </a:p>
          <a:p>
            <a:pPr lvl="2"/>
            <a:r>
              <a:rPr lang="en-US" dirty="0"/>
              <a:t>The cylinder, head and sector geometry of individual disks is virtualized into logical block addresses (LBAs).</a:t>
            </a:r>
          </a:p>
          <a:p>
            <a:pPr lvl="2"/>
            <a:r>
              <a:rPr lang="en-US" dirty="0"/>
              <a:t>For storage networks, the physical storage system is identified by a network address / LUN pair.</a:t>
            </a:r>
          </a:p>
          <a:p>
            <a:pPr lvl="2"/>
            <a:r>
              <a:rPr lang="en-US" dirty="0"/>
              <a:t>Combining RAID and JBOD assets to create a virtualized mirror must accommodate performance differences. </a:t>
            </a: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Metadata integrity</a:t>
            </a:r>
          </a:p>
          <a:p>
            <a:pPr lvl="2"/>
            <a:r>
              <a:rPr lang="en-US" dirty="0"/>
              <a:t>Storage metadata integrity requires redundancy for failover or load balancing.</a:t>
            </a:r>
          </a:p>
          <a:p>
            <a:pPr lvl="2"/>
            <a:r>
              <a:rPr lang="en-US" dirty="0"/>
              <a:t>Virtualization intelligence may need to interface with upper layer applications to ensure data consistency.</a:t>
            </a:r>
          </a:p>
        </p:txBody>
      </p:sp>
      <p:pic>
        <p:nvPicPr>
          <p:cNvPr id="94210" name="Picture 2" descr="http://upload.wikimedia.org/wikipedia/commons/thumb/e/e2/JBOD.svg/300px-JBO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30162" y="2631244"/>
            <a:ext cx="1428750" cy="1428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5294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Be Virtualized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0200" y="1167595"/>
            <a:ext cx="3429000" cy="334725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Different approaches :</a:t>
            </a:r>
          </a:p>
          <a:p>
            <a:pPr lvl="1"/>
            <a:r>
              <a:rPr lang="en-US" dirty="0"/>
              <a:t>Host-based approach</a:t>
            </a:r>
            <a:endParaRPr lang="en-US" altLang="zh-TW" dirty="0"/>
          </a:p>
          <a:p>
            <a:pPr lvl="2"/>
            <a:r>
              <a:rPr lang="en-US" altLang="zh-TW" dirty="0"/>
              <a:t>Implemented as a software running on host systems.</a:t>
            </a:r>
          </a:p>
          <a:p>
            <a:pPr lvl="1"/>
            <a:r>
              <a:rPr lang="en-US" dirty="0"/>
              <a:t>Network-based approach</a:t>
            </a:r>
          </a:p>
          <a:p>
            <a:pPr lvl="2"/>
            <a:r>
              <a:rPr lang="en-US" dirty="0"/>
              <a:t>Implemented on network devices.</a:t>
            </a:r>
          </a:p>
          <a:p>
            <a:pPr lvl="1"/>
            <a:r>
              <a:rPr lang="en-US" dirty="0"/>
              <a:t>Storage-based approach</a:t>
            </a:r>
          </a:p>
          <a:p>
            <a:pPr lvl="2"/>
            <a:r>
              <a:rPr lang="en-US" dirty="0"/>
              <a:t>Implemented on storage target subsystem.</a:t>
            </a:r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86350" y="1143000"/>
            <a:ext cx="267533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93128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3600450" cy="38290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Host-based approach</a:t>
            </a:r>
          </a:p>
          <a:p>
            <a:pPr lvl="1"/>
            <a:r>
              <a:rPr lang="en-US" dirty="0"/>
              <a:t>File level</a:t>
            </a:r>
          </a:p>
          <a:p>
            <a:pPr lvl="2"/>
            <a:r>
              <a:rPr lang="en-US" dirty="0"/>
              <a:t>Run virtualized file system on the host to map files into data blocks, which distributed among several storage devices.</a:t>
            </a:r>
          </a:p>
          <a:p>
            <a:pPr lvl="1"/>
            <a:r>
              <a:rPr lang="en-US" dirty="0"/>
              <a:t>Block level</a:t>
            </a:r>
          </a:p>
          <a:p>
            <a:pPr lvl="2"/>
            <a:r>
              <a:rPr lang="en-US" dirty="0"/>
              <a:t>Run logical volume management software on the host to intercept I/O requests and redirect them to storage devices.</a:t>
            </a:r>
          </a:p>
          <a:p>
            <a:pPr lvl="1"/>
            <a:r>
              <a:rPr lang="en-US" dirty="0"/>
              <a:t>Provide services</a:t>
            </a:r>
          </a:p>
          <a:p>
            <a:pPr lvl="2"/>
            <a:r>
              <a:rPr lang="en-US" dirty="0"/>
              <a:t>Software RAID</a:t>
            </a:r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0056" y="1204317"/>
            <a:ext cx="2866644" cy="353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41378" y="1550671"/>
            <a:ext cx="2303867" cy="3159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 descr="file-txt.png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07562" y="1143000"/>
            <a:ext cx="571500" cy="571500"/>
          </a:xfrm>
          <a:prstGeom prst="rect">
            <a:avLst/>
          </a:prstGeom>
        </p:spPr>
      </p:pic>
      <p:grpSp>
        <p:nvGrpSpPr>
          <p:cNvPr id="5" name="Group 16"/>
          <p:cNvGrpSpPr/>
          <p:nvPr/>
        </p:nvGrpSpPr>
        <p:grpSpPr>
          <a:xfrm>
            <a:off x="5429250" y="2040593"/>
            <a:ext cx="514350" cy="404622"/>
            <a:chOff x="3124200" y="3810000"/>
            <a:chExt cx="685800" cy="539496"/>
          </a:xfrm>
        </p:grpSpPr>
        <p:pic>
          <p:nvPicPr>
            <p:cNvPr id="18" name="Picture 17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1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6229350" y="2040593"/>
            <a:ext cx="514350" cy="404622"/>
            <a:chOff x="3124200" y="3810000"/>
            <a:chExt cx="685800" cy="539496"/>
          </a:xfrm>
        </p:grpSpPr>
        <p:pic>
          <p:nvPicPr>
            <p:cNvPr id="21" name="Picture 20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2</a:t>
              </a:r>
            </a:p>
          </p:txBody>
        </p:sp>
      </p:grpSp>
      <p:grpSp>
        <p:nvGrpSpPr>
          <p:cNvPr id="8" name="Group 22"/>
          <p:cNvGrpSpPr/>
          <p:nvPr/>
        </p:nvGrpSpPr>
        <p:grpSpPr>
          <a:xfrm>
            <a:off x="6972300" y="2040593"/>
            <a:ext cx="514350" cy="404622"/>
            <a:chOff x="3124200" y="3810000"/>
            <a:chExt cx="685800" cy="539496"/>
          </a:xfrm>
        </p:grpSpPr>
        <p:pic>
          <p:nvPicPr>
            <p:cNvPr id="24" name="Picture 2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3</a:t>
              </a:r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57800" y="1507679"/>
            <a:ext cx="2460490" cy="324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67667" y="914400"/>
            <a:ext cx="2240756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" name="Round Diagonal Corner Rectangle 53"/>
          <p:cNvSpPr/>
          <p:nvPr/>
        </p:nvSpPr>
        <p:spPr>
          <a:xfrm>
            <a:off x="5371430" y="2114550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55" name="Round Diagonal Corner Rectangle 54"/>
          <p:cNvSpPr/>
          <p:nvPr/>
        </p:nvSpPr>
        <p:spPr>
          <a:xfrm>
            <a:off x="5857205" y="2114550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2</a:t>
            </a:r>
          </a:p>
        </p:txBody>
      </p:sp>
      <p:sp>
        <p:nvSpPr>
          <p:cNvPr id="56" name="Round Diagonal Corner Rectangle 55"/>
          <p:cNvSpPr/>
          <p:nvPr/>
        </p:nvSpPr>
        <p:spPr>
          <a:xfrm>
            <a:off x="6342980" y="2114550"/>
            <a:ext cx="342900" cy="17145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57" name="Round Diagonal Corner Rectangle 56"/>
          <p:cNvSpPr/>
          <p:nvPr/>
        </p:nvSpPr>
        <p:spPr>
          <a:xfrm>
            <a:off x="6828755" y="2114550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2</a:t>
            </a:r>
          </a:p>
        </p:txBody>
      </p:sp>
      <p:sp>
        <p:nvSpPr>
          <p:cNvPr id="58" name="Round Diagonal Corner Rectangle 57"/>
          <p:cNvSpPr/>
          <p:nvPr/>
        </p:nvSpPr>
        <p:spPr>
          <a:xfrm>
            <a:off x="7314530" y="2114550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</p:spTree>
    <p:extLst>
      <p:ext uri="{BB962C8B-B14F-4D97-AF65-F5344CB8AC3E}">
        <p14:creationId xmlns:p14="http://schemas.microsoft.com/office/powerpoint/2010/main" val="265632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53366E-6 L -0.1625 0.1526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00" y="760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53366E-6 L 0.07916 0.1526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00" y="760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53366E-6 L 0.14583 0.1526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0" y="7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0.15267 L -0.1125 0.36363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00" y="1050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0.15267 L 0.22917 0.36363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00" y="1050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0.15267 L -0.10417 0.3636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0" y="1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7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9.16031E-7 L -0.15816 0.161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00" y="8000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9.16031E-7 L -0.04566 0.161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0" y="800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9.16031E-7 L 0.05851 0.21652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0" y="1080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9.16031E-7 L 0.01267 0.161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" y="8000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84178E-7 L 0.20833 0.16655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00" y="8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84 0.161 L 0.03351 0.44969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00" y="14400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67 0.161 L 0.17934 0.40528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00" y="12200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51 0.21652 L 0.00017 0.40528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0" y="940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816 0.161 L -0.24983 0.40528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0" y="12200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566 0.161 L -0.07066 0.44969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0" y="14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343650" cy="37147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Important issues</a:t>
            </a:r>
          </a:p>
          <a:p>
            <a:pPr lvl="1"/>
            <a:r>
              <a:rPr lang="en-US" dirty="0"/>
              <a:t>Storage metadata servers</a:t>
            </a:r>
          </a:p>
          <a:p>
            <a:pPr lvl="2"/>
            <a:r>
              <a:rPr lang="en-US" dirty="0"/>
              <a:t>Storage metadata may be shared by multiple servers.</a:t>
            </a:r>
          </a:p>
          <a:p>
            <a:pPr lvl="2"/>
            <a:r>
              <a:rPr lang="en-US" dirty="0"/>
              <a:t>Shared metadata enables a SAN file system view for multiple servers.</a:t>
            </a:r>
          </a:p>
          <a:p>
            <a:pPr lvl="2"/>
            <a:r>
              <a:rPr lang="en-US" dirty="0"/>
              <a:t>Provides virtual to real logical block address mapping for client.</a:t>
            </a:r>
          </a:p>
          <a:p>
            <a:pPr lvl="2"/>
            <a:r>
              <a:rPr lang="en-US" dirty="0"/>
              <a:t>A distributed SAN file system requires file locking mechanisms to preserve data integrity.</a:t>
            </a:r>
          </a:p>
          <a:p>
            <a:pPr lvl="1"/>
            <a:r>
              <a:rPr lang="en-US" dirty="0"/>
              <a:t>Host-based storage APIs</a:t>
            </a:r>
          </a:p>
          <a:p>
            <a:pPr lvl="2"/>
            <a:r>
              <a:rPr lang="en-US" dirty="0"/>
              <a:t>May be implemented by the operating system to provide a common interface to disparate virtualized resources.</a:t>
            </a:r>
          </a:p>
          <a:p>
            <a:pPr lvl="2"/>
            <a:r>
              <a:rPr lang="en-US" dirty="0"/>
              <a:t>Microsoft's virtual disk service (VDS) provides a management interface for dynamic generation of virtualized storage.</a:t>
            </a:r>
          </a:p>
        </p:txBody>
      </p:sp>
    </p:spTree>
    <p:extLst>
      <p:ext uri="{BB962C8B-B14F-4D97-AF65-F5344CB8AC3E}">
        <p14:creationId xmlns:p14="http://schemas.microsoft.com/office/powerpoint/2010/main" val="3716076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050" y="1314451"/>
            <a:ext cx="3657600" cy="33944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typical example :</a:t>
            </a:r>
          </a:p>
          <a:p>
            <a:pPr lvl="1"/>
            <a:r>
              <a:rPr lang="en-US" dirty="0"/>
              <a:t>LVM</a:t>
            </a:r>
          </a:p>
          <a:p>
            <a:pPr lvl="2"/>
            <a:r>
              <a:rPr lang="en-US" dirty="0"/>
              <a:t>Software layer between the file system and the disk driver.</a:t>
            </a:r>
          </a:p>
          <a:p>
            <a:pPr lvl="2"/>
            <a:r>
              <a:rPr lang="en-US" dirty="0"/>
              <a:t>Executed by the host CPU.</a:t>
            </a:r>
          </a:p>
          <a:p>
            <a:pPr lvl="2"/>
            <a:r>
              <a:rPr lang="en-US" dirty="0"/>
              <a:t>Lack hardware-assist for functions such as software RAID.</a:t>
            </a:r>
          </a:p>
          <a:p>
            <a:pPr lvl="2"/>
            <a:r>
              <a:rPr lang="en-US" dirty="0"/>
              <a:t>Independence from vendor-specific storage architectures.</a:t>
            </a:r>
          </a:p>
          <a:p>
            <a:pPr lvl="2"/>
            <a:r>
              <a:rPr lang="en-US" dirty="0"/>
              <a:t>Dynamic capacity allocation to expand or shrink volumes.</a:t>
            </a:r>
          </a:p>
          <a:p>
            <a:pPr lvl="2"/>
            <a:r>
              <a:rPr lang="en-US" dirty="0"/>
              <a:t>Support alternate </a:t>
            </a:r>
            <a:r>
              <a:rPr lang="en-US" dirty="0" err="1"/>
              <a:t>pathing</a:t>
            </a:r>
            <a:r>
              <a:rPr lang="en-US" dirty="0"/>
              <a:t> for high availability.</a:t>
            </a:r>
          </a:p>
        </p:txBody>
      </p:sp>
      <p:pic>
        <p:nvPicPr>
          <p:cNvPr id="5" name="Picture 4" descr="Storage_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43500" y="1805619"/>
            <a:ext cx="2743200" cy="276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34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7719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Host-based implementation</a:t>
            </a:r>
          </a:p>
          <a:p>
            <a:pPr lvl="1"/>
            <a:r>
              <a:rPr lang="en-US" dirty="0"/>
              <a:t>Pros</a:t>
            </a:r>
          </a:p>
          <a:p>
            <a:pPr lvl="2"/>
            <a:r>
              <a:rPr lang="en-US" dirty="0"/>
              <a:t>No additional hardware or infrastructure requirements</a:t>
            </a:r>
          </a:p>
          <a:p>
            <a:pPr lvl="2"/>
            <a:r>
              <a:rPr lang="en-US" dirty="0"/>
              <a:t>Simple to design and implement</a:t>
            </a:r>
          </a:p>
          <a:p>
            <a:pPr lvl="2"/>
            <a:r>
              <a:rPr lang="en-US" dirty="0"/>
              <a:t>Improve storage utilization</a:t>
            </a:r>
          </a:p>
          <a:p>
            <a:pPr lvl="1"/>
            <a:r>
              <a:rPr lang="en-US" dirty="0"/>
              <a:t>Cons</a:t>
            </a:r>
          </a:p>
          <a:p>
            <a:pPr lvl="2"/>
            <a:r>
              <a:rPr lang="en-US" dirty="0"/>
              <a:t>Storage utilization optimized only on a per host base</a:t>
            </a:r>
          </a:p>
          <a:p>
            <a:pPr lvl="2"/>
            <a:r>
              <a:rPr lang="en-US" dirty="0"/>
              <a:t>Software implementation is dependent to each operating system</a:t>
            </a:r>
          </a:p>
          <a:p>
            <a:pPr lvl="2"/>
            <a:r>
              <a:rPr lang="en-US" dirty="0"/>
              <a:t>Consume CPU clock cycle for virtualization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LVM, NFS</a:t>
            </a:r>
          </a:p>
        </p:txBody>
      </p:sp>
    </p:spTree>
    <p:extLst>
      <p:ext uri="{BB962C8B-B14F-4D97-AF65-F5344CB8AC3E}">
        <p14:creationId xmlns:p14="http://schemas.microsoft.com/office/powerpoint/2010/main" val="3601889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3543300" cy="35433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Network-based approach</a:t>
            </a:r>
          </a:p>
          <a:p>
            <a:pPr lvl="1"/>
            <a:r>
              <a:rPr lang="en-US" dirty="0"/>
              <a:t>File level</a:t>
            </a:r>
          </a:p>
          <a:p>
            <a:pPr lvl="2"/>
            <a:r>
              <a:rPr lang="en-US" dirty="0"/>
              <a:t>Seldom implement file level virtualization on network device.</a:t>
            </a:r>
          </a:p>
          <a:p>
            <a:pPr lvl="1"/>
            <a:r>
              <a:rPr lang="en-US" dirty="0"/>
              <a:t>Block level</a:t>
            </a:r>
          </a:p>
          <a:p>
            <a:pPr lvl="2"/>
            <a:r>
              <a:rPr lang="en-US" dirty="0"/>
              <a:t>Run software on dedicated appliances or intelligent switches and routers.</a:t>
            </a:r>
          </a:p>
          <a:p>
            <a:pPr lvl="1"/>
            <a:r>
              <a:rPr lang="en-US" dirty="0"/>
              <a:t>Provide services</a:t>
            </a:r>
          </a:p>
          <a:p>
            <a:pPr lvl="2"/>
            <a:r>
              <a:rPr lang="en-US" dirty="0"/>
              <a:t>Multi-path</a:t>
            </a:r>
          </a:p>
          <a:p>
            <a:pPr lvl="2"/>
            <a:r>
              <a:rPr lang="en-US" dirty="0"/>
              <a:t>Storage pooling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0144" y="1364457"/>
            <a:ext cx="2926556" cy="3264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35990" y="1360853"/>
            <a:ext cx="2501503" cy="3274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 b="6119"/>
          <a:stretch>
            <a:fillRect/>
          </a:stretch>
        </p:blipFill>
        <p:spPr bwMode="auto">
          <a:xfrm>
            <a:off x="5166364" y="970420"/>
            <a:ext cx="2240756" cy="54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ound Diagonal Corner Rectangle 11"/>
          <p:cNvSpPr/>
          <p:nvPr/>
        </p:nvSpPr>
        <p:spPr>
          <a:xfrm>
            <a:off x="5100284" y="1849169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9" name="Round Diagonal Corner Rectangle 12"/>
          <p:cNvSpPr/>
          <p:nvPr/>
        </p:nvSpPr>
        <p:spPr>
          <a:xfrm>
            <a:off x="5500334" y="1849169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2</a:t>
            </a:r>
          </a:p>
        </p:txBody>
      </p:sp>
      <p:sp>
        <p:nvSpPr>
          <p:cNvPr id="10" name="Round Diagonal Corner Rectangle 13"/>
          <p:cNvSpPr/>
          <p:nvPr/>
        </p:nvSpPr>
        <p:spPr>
          <a:xfrm>
            <a:off x="6128984" y="1849169"/>
            <a:ext cx="342900" cy="17145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11" name="Round Diagonal Corner Rectangle 14"/>
          <p:cNvSpPr/>
          <p:nvPr/>
        </p:nvSpPr>
        <p:spPr>
          <a:xfrm>
            <a:off x="6750490" y="1849169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2</a:t>
            </a:r>
          </a:p>
        </p:txBody>
      </p:sp>
      <p:sp>
        <p:nvSpPr>
          <p:cNvPr id="12" name="Round Diagonal Corner Rectangle 15"/>
          <p:cNvSpPr/>
          <p:nvPr/>
        </p:nvSpPr>
        <p:spPr>
          <a:xfrm>
            <a:off x="7143396" y="1849169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</p:spTree>
    <p:extLst>
      <p:ext uri="{BB962C8B-B14F-4D97-AF65-F5344CB8AC3E}">
        <p14:creationId xmlns:p14="http://schemas.microsoft.com/office/powerpoint/2010/main" val="257613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29331E-6 L 0.05625 0.211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1050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29331E-6 L 0.04791 0.211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0" y="1050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29331E-6 L -0.00208 0.211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1050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63174E-6 L -0.04271 0.2125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" y="1060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63174E-6 L -0.05 0.21258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10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25 0.2112 L 0.15625 0.4332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110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1 0.2112 L 0.21458 0.47768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00" y="1330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0.2112 L -0.11041 0.47768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00" y="1330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271 0.21258 L -0.20104 0.43465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00" y="111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 0.21258 L -0.025 0.4346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" y="11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Requirements of storage network</a:t>
            </a:r>
          </a:p>
          <a:p>
            <a:pPr lvl="1"/>
            <a:r>
              <a:rPr lang="en-US" dirty="0"/>
              <a:t>Intelligent services</a:t>
            </a:r>
          </a:p>
          <a:p>
            <a:pPr lvl="2"/>
            <a:r>
              <a:rPr lang="en-US" dirty="0"/>
              <a:t>Logon services</a:t>
            </a:r>
          </a:p>
          <a:p>
            <a:pPr lvl="2"/>
            <a:r>
              <a:rPr lang="en-US" dirty="0"/>
              <a:t>Simple name server</a:t>
            </a:r>
          </a:p>
          <a:p>
            <a:pPr lvl="2"/>
            <a:r>
              <a:rPr lang="en-US" dirty="0"/>
              <a:t>Change notification</a:t>
            </a:r>
          </a:p>
          <a:p>
            <a:pPr lvl="2"/>
            <a:r>
              <a:rPr lang="en-US" dirty="0"/>
              <a:t>Network address assignment</a:t>
            </a:r>
          </a:p>
          <a:p>
            <a:pPr lvl="2"/>
            <a:r>
              <a:rPr lang="en-US" dirty="0"/>
              <a:t>Zoning</a:t>
            </a:r>
          </a:p>
          <a:p>
            <a:pPr lvl="1"/>
            <a:r>
              <a:rPr lang="en-US" dirty="0"/>
              <a:t>Fabric switch should provide</a:t>
            </a:r>
          </a:p>
          <a:p>
            <a:pPr lvl="2"/>
            <a:r>
              <a:rPr lang="en-US" dirty="0"/>
              <a:t>Connectivity for all storage transactions</a:t>
            </a:r>
          </a:p>
          <a:p>
            <a:pPr lvl="2"/>
            <a:r>
              <a:rPr lang="en-US" dirty="0"/>
              <a:t>Interoperability between disparate servers,</a:t>
            </a:r>
            <a:br>
              <a:rPr lang="en-US" dirty="0"/>
            </a:br>
            <a:r>
              <a:rPr lang="en-US" dirty="0"/>
              <a:t>operating systems, and target devices</a:t>
            </a:r>
          </a:p>
        </p:txBody>
      </p:sp>
    </p:spTree>
    <p:extLst>
      <p:ext uri="{BB962C8B-B14F-4D97-AF65-F5344CB8AC3E}">
        <p14:creationId xmlns:p14="http://schemas.microsoft.com/office/powerpoint/2010/main" val="2180048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rage_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00551" y="2711767"/>
            <a:ext cx="3565280" cy="23174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57300"/>
            <a:ext cx="6172200" cy="35433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Techniques for fabric switch virtualization</a:t>
            </a:r>
          </a:p>
          <a:p>
            <a:pPr lvl="1"/>
            <a:r>
              <a:rPr lang="en-US" dirty="0"/>
              <a:t>Hosted on departmental switches</a:t>
            </a:r>
          </a:p>
          <a:p>
            <a:pPr lvl="2"/>
            <a:r>
              <a:rPr lang="en-US" dirty="0"/>
              <a:t>A PC engine provisioned as an option blade.</a:t>
            </a:r>
          </a:p>
          <a:p>
            <a:pPr lvl="1"/>
            <a:r>
              <a:rPr lang="en-US" dirty="0"/>
              <a:t>Data center directors</a:t>
            </a:r>
          </a:p>
          <a:p>
            <a:pPr lvl="2"/>
            <a:r>
              <a:rPr lang="en-US" dirty="0"/>
              <a:t>Should be able to preserve the five nines availability characteristic of director-class switches.</a:t>
            </a:r>
          </a:p>
          <a:p>
            <a:pPr lvl="2"/>
            <a:r>
              <a:rPr lang="en-US" dirty="0"/>
              <a:t>Dedicated virtualization ASICs provide</a:t>
            </a:r>
            <a:br>
              <a:rPr lang="en-US" dirty="0"/>
            </a:br>
            <a:r>
              <a:rPr lang="en-US" dirty="0"/>
              <a:t>high-performance frame processing</a:t>
            </a:r>
            <a:br>
              <a:rPr lang="en-US" dirty="0"/>
            </a:br>
            <a:r>
              <a:rPr lang="en-US" dirty="0"/>
              <a:t>and block address mapping.</a:t>
            </a:r>
          </a:p>
          <a:p>
            <a:pPr lvl="1"/>
            <a:r>
              <a:rPr lang="en-US" dirty="0"/>
              <a:t>Interoperability between</a:t>
            </a:r>
            <a:br>
              <a:rPr lang="en-US" dirty="0"/>
            </a:br>
            <a:r>
              <a:rPr lang="en-US" dirty="0"/>
              <a:t>different implementations</a:t>
            </a:r>
            <a:br>
              <a:rPr lang="en-US" dirty="0"/>
            </a:br>
            <a:r>
              <a:rPr lang="en-US" dirty="0"/>
              <a:t>will become a priority.</a:t>
            </a:r>
          </a:p>
        </p:txBody>
      </p:sp>
    </p:spTree>
    <p:extLst>
      <p:ext uri="{BB962C8B-B14F-4D97-AF65-F5344CB8AC3E}">
        <p14:creationId xmlns:p14="http://schemas.microsoft.com/office/powerpoint/2010/main" val="348145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rage_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48449" y="2971800"/>
            <a:ext cx="4247102" cy="20345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914401"/>
            <a:ext cx="6343650" cy="2571750"/>
          </a:xfrm>
        </p:spPr>
        <p:txBody>
          <a:bodyPr/>
          <a:lstStyle/>
          <a:p>
            <a:r>
              <a:rPr lang="en-US" dirty="0"/>
              <a:t>Interoperability issue</a:t>
            </a:r>
          </a:p>
          <a:p>
            <a:pPr lvl="1"/>
            <a:r>
              <a:rPr lang="en-US" dirty="0"/>
              <a:t>FAIS ( </a:t>
            </a:r>
            <a:r>
              <a:rPr lang="en-US" i="1" dirty="0"/>
              <a:t>Fabric Application Interface Standard</a:t>
            </a:r>
            <a:r>
              <a:rPr lang="en-US" dirty="0"/>
              <a:t> )</a:t>
            </a:r>
          </a:p>
          <a:p>
            <a:pPr lvl="2"/>
            <a:r>
              <a:rPr lang="en-US" dirty="0"/>
              <a:t>Define a set of standard APIs to integrate applications and switches.</a:t>
            </a:r>
          </a:p>
          <a:p>
            <a:pPr lvl="2"/>
            <a:r>
              <a:rPr lang="en-US" dirty="0"/>
              <a:t>FAIS separates control information and data paths.</a:t>
            </a:r>
          </a:p>
          <a:p>
            <a:pPr lvl="2"/>
            <a:r>
              <a:rPr lang="en-US" dirty="0"/>
              <a:t>The control path processor (CPP) supports the FAIS APIs and upper layer storage virtualization application.</a:t>
            </a:r>
          </a:p>
          <a:p>
            <a:pPr lvl="2"/>
            <a:r>
              <a:rPr lang="en-US" dirty="0"/>
              <a:t>The data path controller (DPC) executes the virtualized SCSI I/Os under the management of one or more CPPs</a:t>
            </a:r>
          </a:p>
        </p:txBody>
      </p:sp>
    </p:spTree>
    <p:extLst>
      <p:ext uri="{BB962C8B-B14F-4D97-AF65-F5344CB8AC3E}">
        <p14:creationId xmlns:p14="http://schemas.microsoft.com/office/powerpoint/2010/main" val="24508950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600450"/>
          </a:xfrm>
        </p:spPr>
        <p:txBody>
          <a:bodyPr>
            <a:noAutofit/>
          </a:bodyPr>
          <a:lstStyle/>
          <a:p>
            <a:r>
              <a:rPr lang="en-US" dirty="0"/>
              <a:t>Network-based implementation</a:t>
            </a:r>
          </a:p>
          <a:p>
            <a:pPr lvl="1"/>
            <a:r>
              <a:rPr lang="en-US" dirty="0"/>
              <a:t>Pros</a:t>
            </a:r>
          </a:p>
          <a:p>
            <a:pPr lvl="2"/>
            <a:r>
              <a:rPr lang="en-US" dirty="0"/>
              <a:t>True heterogeneous storage virtualization</a:t>
            </a:r>
          </a:p>
          <a:p>
            <a:pPr lvl="2"/>
            <a:r>
              <a:rPr lang="en-US" dirty="0"/>
              <a:t>No need for modification of host or storage system</a:t>
            </a:r>
          </a:p>
          <a:p>
            <a:pPr lvl="2"/>
            <a:r>
              <a:rPr lang="en-US" dirty="0"/>
              <a:t>Multi-path technique improve the access performance</a:t>
            </a:r>
          </a:p>
          <a:p>
            <a:pPr lvl="1"/>
            <a:r>
              <a:rPr lang="en-US" dirty="0"/>
              <a:t>Cons</a:t>
            </a:r>
          </a:p>
          <a:p>
            <a:pPr lvl="2"/>
            <a:r>
              <a:rPr lang="en-US" dirty="0"/>
              <a:t>Complex interoperability matrices - limited by vendors support</a:t>
            </a:r>
          </a:p>
          <a:p>
            <a:pPr lvl="2"/>
            <a:r>
              <a:rPr lang="en-US" dirty="0"/>
              <a:t>Difficult to implement fast metadata updates in switch device</a:t>
            </a:r>
          </a:p>
          <a:p>
            <a:pPr lvl="2"/>
            <a:r>
              <a:rPr lang="en-US" dirty="0"/>
              <a:t>Usually require to build specific network equipments (e.g., </a:t>
            </a:r>
            <a:r>
              <a:rPr lang="en-US" altLang="zh-TW" dirty="0" err="1"/>
              <a:t>Fibre</a:t>
            </a:r>
            <a:r>
              <a:rPr lang="en-US" altLang="zh-TW" dirty="0"/>
              <a:t> Channel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IBM SVC ( SAN Volume Controller ), EMC </a:t>
            </a:r>
            <a:r>
              <a:rPr lang="en-US" dirty="0" err="1"/>
              <a:t>Invista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138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463" y="1257300"/>
            <a:ext cx="2909907" cy="3652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3714750" cy="38290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Storage-based approach</a:t>
            </a:r>
          </a:p>
          <a:p>
            <a:pPr lvl="1"/>
            <a:r>
              <a:rPr lang="en-US" dirty="0"/>
              <a:t>File level</a:t>
            </a:r>
          </a:p>
          <a:p>
            <a:pPr lvl="2"/>
            <a:r>
              <a:rPr lang="en-US" dirty="0"/>
              <a:t>Run software on storage device to provide file based data storage services to host through network.</a:t>
            </a:r>
          </a:p>
          <a:p>
            <a:pPr lvl="1"/>
            <a:r>
              <a:rPr lang="en-US" dirty="0"/>
              <a:t>Block level</a:t>
            </a:r>
          </a:p>
          <a:p>
            <a:pPr lvl="2"/>
            <a:r>
              <a:rPr lang="en-US" dirty="0"/>
              <a:t>Embeds the technology in the target storage devices.</a:t>
            </a:r>
          </a:p>
          <a:p>
            <a:pPr lvl="1"/>
            <a:r>
              <a:rPr lang="en-US" dirty="0"/>
              <a:t>Provide services</a:t>
            </a:r>
          </a:p>
          <a:p>
            <a:pPr lvl="2"/>
            <a:r>
              <a:rPr lang="en-US" dirty="0"/>
              <a:t>Storage pooling</a:t>
            </a:r>
          </a:p>
          <a:p>
            <a:pPr lvl="2"/>
            <a:r>
              <a:rPr lang="en-US" dirty="0"/>
              <a:t>Replication and RAID</a:t>
            </a:r>
          </a:p>
          <a:p>
            <a:pPr lvl="2"/>
            <a:r>
              <a:rPr lang="en-US" dirty="0"/>
              <a:t>Data sharing and </a:t>
            </a:r>
            <a:r>
              <a:rPr lang="en-US" dirty="0" err="1"/>
              <a:t>tiering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5101" y="1248177"/>
            <a:ext cx="2387203" cy="3274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742950"/>
            <a:ext cx="5810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3133725"/>
            <a:ext cx="5810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61"/>
          <p:cNvGrpSpPr/>
          <p:nvPr/>
        </p:nvGrpSpPr>
        <p:grpSpPr>
          <a:xfrm>
            <a:off x="5429250" y="3886200"/>
            <a:ext cx="514350" cy="404622"/>
            <a:chOff x="3124200" y="3810000"/>
            <a:chExt cx="685800" cy="539496"/>
          </a:xfrm>
        </p:grpSpPr>
        <p:pic>
          <p:nvPicPr>
            <p:cNvPr id="11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2" name="TextBox 64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1</a:t>
              </a:r>
            </a:p>
          </p:txBody>
        </p:sp>
      </p:grpSp>
      <p:grpSp>
        <p:nvGrpSpPr>
          <p:cNvPr id="6" name="Group 65"/>
          <p:cNvGrpSpPr/>
          <p:nvPr/>
        </p:nvGrpSpPr>
        <p:grpSpPr>
          <a:xfrm>
            <a:off x="6229350" y="3886200"/>
            <a:ext cx="514350" cy="404622"/>
            <a:chOff x="3124200" y="3810000"/>
            <a:chExt cx="685800" cy="539496"/>
          </a:xfrm>
        </p:grpSpPr>
        <p:pic>
          <p:nvPicPr>
            <p:cNvPr id="14" name="Picture 66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5" name="TextBox 67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2</a:t>
              </a:r>
            </a:p>
          </p:txBody>
        </p:sp>
      </p:grpSp>
      <p:grpSp>
        <p:nvGrpSpPr>
          <p:cNvPr id="7" name="Group 68"/>
          <p:cNvGrpSpPr/>
          <p:nvPr/>
        </p:nvGrpSpPr>
        <p:grpSpPr>
          <a:xfrm>
            <a:off x="6972300" y="3886200"/>
            <a:ext cx="514350" cy="404622"/>
            <a:chOff x="3124200" y="3810000"/>
            <a:chExt cx="685800" cy="539496"/>
          </a:xfrm>
        </p:grpSpPr>
        <p:pic>
          <p:nvPicPr>
            <p:cNvPr id="17" name="Picture 69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8" name="TextBox 70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3</a:t>
              </a:r>
            </a:p>
          </p:txBody>
        </p:sp>
      </p:grpSp>
      <p:grpSp>
        <p:nvGrpSpPr>
          <p:cNvPr id="8" name="Group 61"/>
          <p:cNvGrpSpPr/>
          <p:nvPr/>
        </p:nvGrpSpPr>
        <p:grpSpPr>
          <a:xfrm>
            <a:off x="5429250" y="3886200"/>
            <a:ext cx="514350" cy="404622"/>
            <a:chOff x="3124200" y="3810000"/>
            <a:chExt cx="685800" cy="539496"/>
          </a:xfrm>
        </p:grpSpPr>
        <p:pic>
          <p:nvPicPr>
            <p:cNvPr id="20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1" name="TextBox 64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1.bak</a:t>
              </a:r>
            </a:p>
          </p:txBody>
        </p:sp>
      </p:grpSp>
      <p:grpSp>
        <p:nvGrpSpPr>
          <p:cNvPr id="10" name="Group 61"/>
          <p:cNvGrpSpPr/>
          <p:nvPr/>
        </p:nvGrpSpPr>
        <p:grpSpPr>
          <a:xfrm>
            <a:off x="6229350" y="3886200"/>
            <a:ext cx="514350" cy="404622"/>
            <a:chOff x="3124200" y="3810000"/>
            <a:chExt cx="685800" cy="539496"/>
          </a:xfrm>
        </p:grpSpPr>
        <p:pic>
          <p:nvPicPr>
            <p:cNvPr id="23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4" name="TextBox 64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altLang="zh-TW" sz="675" b="1" dirty="0">
                  <a:solidFill>
                    <a:prstClr val="black"/>
                  </a:solidFill>
                </a:rPr>
                <a:t>2.bak</a:t>
              </a:r>
              <a:endParaRPr lang="en-US" sz="675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80801" y="1248177"/>
            <a:ext cx="2501503" cy="3274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11174" y="816237"/>
            <a:ext cx="2240756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Round Diagonal Corner Rectangle 11"/>
          <p:cNvSpPr/>
          <p:nvPr/>
        </p:nvSpPr>
        <p:spPr>
          <a:xfrm>
            <a:off x="5454126" y="1721644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2" name="Round Diagonal Corner Rectangle 13"/>
          <p:cNvSpPr/>
          <p:nvPr/>
        </p:nvSpPr>
        <p:spPr>
          <a:xfrm>
            <a:off x="6282801" y="1721644"/>
            <a:ext cx="342900" cy="17145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3" name="Round Diagonal Corner Rectangle 15"/>
          <p:cNvSpPr/>
          <p:nvPr/>
        </p:nvSpPr>
        <p:spPr>
          <a:xfrm>
            <a:off x="7111476" y="1714500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4" name="Round Diagonal Corner Rectangle 11"/>
          <p:cNvSpPr/>
          <p:nvPr/>
        </p:nvSpPr>
        <p:spPr>
          <a:xfrm>
            <a:off x="5543550" y="3943350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5" name="Round Diagonal Corner Rectangle 13"/>
          <p:cNvSpPr/>
          <p:nvPr/>
        </p:nvSpPr>
        <p:spPr>
          <a:xfrm>
            <a:off x="6294569" y="3943350"/>
            <a:ext cx="342900" cy="17145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6" name="Round Diagonal Corner Rectangle 15"/>
          <p:cNvSpPr/>
          <p:nvPr/>
        </p:nvSpPr>
        <p:spPr>
          <a:xfrm>
            <a:off x="7099038" y="3936206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7" name="Round Diagonal Corner Rectangle 11"/>
          <p:cNvSpPr/>
          <p:nvPr/>
        </p:nvSpPr>
        <p:spPr>
          <a:xfrm>
            <a:off x="5543550" y="3942425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Replica</a:t>
            </a:r>
          </a:p>
        </p:txBody>
      </p:sp>
      <p:sp>
        <p:nvSpPr>
          <p:cNvPr id="38" name="Round Diagonal Corner Rectangle 13"/>
          <p:cNvSpPr/>
          <p:nvPr/>
        </p:nvSpPr>
        <p:spPr>
          <a:xfrm>
            <a:off x="6294569" y="3942425"/>
            <a:ext cx="342900" cy="17145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Replica</a:t>
            </a:r>
          </a:p>
        </p:txBody>
      </p:sp>
      <p:sp>
        <p:nvSpPr>
          <p:cNvPr id="39" name="Round Diagonal Corner Rectangle 15"/>
          <p:cNvSpPr/>
          <p:nvPr/>
        </p:nvSpPr>
        <p:spPr>
          <a:xfrm>
            <a:off x="7099038" y="3935282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Replica</a:t>
            </a:r>
          </a:p>
        </p:txBody>
      </p:sp>
    </p:spTree>
    <p:extLst>
      <p:ext uri="{BB962C8B-B14F-4D97-AF65-F5344CB8AC3E}">
        <p14:creationId xmlns:p14="http://schemas.microsoft.com/office/powerpoint/2010/main" val="411909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50914E-6 L -0.05069 0.3432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17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69 0.34328 L -0.00069 0.4654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6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59259E-6 L 0.1375 0.03842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00" y="190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0.12916 0.03842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00" y="190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02083 -0.01713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" y="-90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-0.02084 -0.0171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" y="-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9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96183E-6 L 0.17968 0.19292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00" y="960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-0.05 0.18796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940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-0.17031 0.22778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00" y="11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8 0.19292 L 0.12135 0.3483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0" y="780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48 0.19305 L 0.08385 0.34861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0" y="780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031 0.22778 L -0.20364 0.35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0" y="6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05277E-6 L -0.1184 0.05161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00" y="2600"/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6.20227E-7 L -0.10955 0.05022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0" y="2500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6.20227E-7 L 0.225 0.05022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0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1" grpId="2" animBg="1"/>
      <p:bldP spid="31" grpId="3" animBg="1"/>
      <p:bldP spid="32" grpId="0" animBg="1"/>
      <p:bldP spid="32" grpId="1" animBg="1"/>
      <p:bldP spid="32" grpId="2" animBg="1"/>
      <p:bldP spid="32" grpId="3" animBg="1"/>
      <p:bldP spid="33" grpId="0" animBg="1"/>
      <p:bldP spid="33" grpId="1" animBg="1"/>
      <p:bldP spid="33" grpId="2" animBg="1"/>
      <p:bldP spid="33" grpId="3" animBg="1"/>
      <p:bldP spid="34" grpId="0" animBg="1"/>
      <p:bldP spid="35" grpId="0" animBg="1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4343400" y="2228850"/>
            <a:ext cx="3600450" cy="2797168"/>
            <a:chOff x="4267200" y="2823643"/>
            <a:chExt cx="4800600" cy="3729557"/>
          </a:xfrm>
        </p:grpSpPr>
        <p:pic>
          <p:nvPicPr>
            <p:cNvPr id="5" name="Picture 4" descr="Storage_6.png"/>
            <p:cNvPicPr>
              <a:picLocks noChangeAspect="1"/>
            </p:cNvPicPr>
            <p:nvPr/>
          </p:nvPicPr>
          <p:blipFill>
            <a:blip r:embed="rId2" cstate="print"/>
            <a:srcRect r="55279"/>
            <a:stretch>
              <a:fillRect/>
            </a:stretch>
          </p:blipFill>
          <p:spPr>
            <a:xfrm>
              <a:off x="4267200" y="2823643"/>
              <a:ext cx="2262935" cy="3729557"/>
            </a:xfrm>
            <a:prstGeom prst="rect">
              <a:avLst/>
            </a:prstGeom>
          </p:spPr>
        </p:pic>
        <p:pic>
          <p:nvPicPr>
            <p:cNvPr id="6" name="Picture 5" descr="Storage_6.png"/>
            <p:cNvPicPr>
              <a:picLocks noChangeAspect="1"/>
            </p:cNvPicPr>
            <p:nvPr/>
          </p:nvPicPr>
          <p:blipFill>
            <a:blip r:embed="rId2" cstate="print"/>
            <a:srcRect l="49328"/>
            <a:stretch>
              <a:fillRect/>
            </a:stretch>
          </p:blipFill>
          <p:spPr>
            <a:xfrm>
              <a:off x="6503730" y="2823644"/>
              <a:ext cx="2564070" cy="37295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857250"/>
            <a:ext cx="6172200" cy="405765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Array-based virtualization</a:t>
            </a:r>
          </a:p>
          <a:p>
            <a:pPr lvl="1"/>
            <a:r>
              <a:rPr lang="en-US" dirty="0"/>
              <a:t>Storage controller</a:t>
            </a:r>
          </a:p>
          <a:p>
            <a:pPr lvl="2"/>
            <a:r>
              <a:rPr lang="en-US" dirty="0"/>
              <a:t>Provide basic disk virtualization in the form of RAID management, mirroring, and LUN mapping or masking.</a:t>
            </a:r>
          </a:p>
          <a:p>
            <a:pPr lvl="2"/>
            <a:r>
              <a:rPr lang="en-US" dirty="0"/>
              <a:t>Allocate a single LUN to multiple servers.</a:t>
            </a:r>
          </a:p>
          <a:p>
            <a:pPr lvl="2"/>
            <a:r>
              <a:rPr lang="en-US" dirty="0"/>
              <a:t>Offer </a:t>
            </a:r>
            <a:r>
              <a:rPr lang="en-US" dirty="0" err="1"/>
              <a:t>Fibre</a:t>
            </a:r>
            <a:r>
              <a:rPr lang="en-US" dirty="0"/>
              <a:t> Channel, </a:t>
            </a:r>
            <a:r>
              <a:rPr lang="en-US" dirty="0" err="1"/>
              <a:t>iSCSI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SCSI protocol.</a:t>
            </a:r>
          </a:p>
          <a:p>
            <a:pPr lvl="1"/>
            <a:r>
              <a:rPr lang="en-US" dirty="0"/>
              <a:t>Cache memory</a:t>
            </a:r>
          </a:p>
          <a:p>
            <a:pPr lvl="2"/>
            <a:r>
              <a:rPr lang="en-US" dirty="0"/>
              <a:t>Enhance performance.</a:t>
            </a:r>
          </a:p>
          <a:p>
            <a:pPr lvl="1"/>
            <a:r>
              <a:rPr lang="en-US" dirty="0"/>
              <a:t>Storage assets coordination</a:t>
            </a:r>
          </a:p>
          <a:p>
            <a:pPr lvl="2"/>
            <a:r>
              <a:rPr lang="en-US" dirty="0"/>
              <a:t>Coordination between</a:t>
            </a:r>
            <a:br>
              <a:rPr lang="en-US" dirty="0"/>
            </a:br>
            <a:r>
              <a:rPr lang="en-US" dirty="0"/>
              <a:t>multiple storage systems</a:t>
            </a:r>
            <a:br>
              <a:rPr lang="en-US" dirty="0"/>
            </a:br>
            <a:r>
              <a:rPr lang="en-US" dirty="0"/>
              <a:t>is necessary to ensure high</a:t>
            </a:r>
            <a:br>
              <a:rPr lang="en-US" dirty="0"/>
            </a:br>
            <a:r>
              <a:rPr lang="en-US" dirty="0"/>
              <a:t>availability.</a:t>
            </a:r>
          </a:p>
        </p:txBody>
      </p:sp>
    </p:spTree>
    <p:extLst>
      <p:ext uri="{BB962C8B-B14F-4D97-AF65-F5344CB8AC3E}">
        <p14:creationId xmlns:p14="http://schemas.microsoft.com/office/powerpoint/2010/main" val="1902959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5943600" cy="3394472"/>
          </a:xfrm>
        </p:spPr>
        <p:txBody>
          <a:bodyPr/>
          <a:lstStyle/>
          <a:p>
            <a:r>
              <a:rPr lang="en-US" dirty="0"/>
              <a:t>Data replication</a:t>
            </a:r>
          </a:p>
          <a:p>
            <a:pPr lvl="1"/>
            <a:r>
              <a:rPr lang="en-US" dirty="0"/>
              <a:t>Array-based data replication</a:t>
            </a:r>
          </a:p>
          <a:p>
            <a:pPr lvl="2"/>
            <a:r>
              <a:rPr lang="en-US" dirty="0"/>
              <a:t>Referred to as disk-to-disk replication.</a:t>
            </a:r>
          </a:p>
          <a:p>
            <a:pPr lvl="2"/>
            <a:r>
              <a:rPr lang="en-US" dirty="0"/>
              <a:t>Requires that a storage controller function concurrently as both an initiator and target.</a:t>
            </a:r>
          </a:p>
          <a:p>
            <a:pPr lvl="1"/>
            <a:r>
              <a:rPr lang="en-US" dirty="0"/>
              <a:t>Synchronous vs. Asynchronous</a:t>
            </a:r>
          </a:p>
          <a:p>
            <a:pPr lvl="2"/>
            <a:r>
              <a:rPr lang="en-US" dirty="0"/>
              <a:t>Synchronous data replication ensures that a write operation to a secondary disk array is completed before the primary array acknowledges task completion to the server.</a:t>
            </a:r>
          </a:p>
          <a:p>
            <a:pPr lvl="2"/>
            <a:r>
              <a:rPr lang="en-US" dirty="0"/>
              <a:t>Asynchronous data replication provides write completion by the primary array, although the transaction may still be pending to the secondary array.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3985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Storage-based Virtualization</a:t>
            </a:r>
          </a:p>
        </p:txBody>
      </p:sp>
      <p:pic>
        <p:nvPicPr>
          <p:cNvPr id="5" name="Content Placeholder 4" descr="Storage_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18325" y="2057400"/>
            <a:ext cx="3173453" cy="2263140"/>
          </a:xfrm>
        </p:spPr>
      </p:pic>
      <p:pic>
        <p:nvPicPr>
          <p:cNvPr id="6" name="Picture 5" descr="Storage_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33024" y="2057400"/>
            <a:ext cx="3196526" cy="2263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30777" y="1143000"/>
            <a:ext cx="19062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Synchronous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85022" y="1143000"/>
            <a:ext cx="206979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Asynchronous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001" y="1543050"/>
            <a:ext cx="308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2">
                    <a:lumMod val="50000"/>
                  </a:schemeClr>
                </a:solidFill>
              </a:rPr>
              <a:t>To preserve performance, synchronous data replication is limited to metropolitan distances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237" y="1543050"/>
            <a:ext cx="308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2">
                    <a:lumMod val="50000"/>
                  </a:schemeClr>
                </a:solidFill>
              </a:rPr>
              <a:t>Asynchronous data replication is largely immune to transmission latency</a:t>
            </a:r>
          </a:p>
        </p:txBody>
      </p:sp>
    </p:spTree>
    <p:extLst>
      <p:ext uri="{BB962C8B-B14F-4D97-AF65-F5344CB8AC3E}">
        <p14:creationId xmlns:p14="http://schemas.microsoft.com/office/powerpoint/2010/main" val="181308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Other features</a:t>
            </a:r>
          </a:p>
          <a:p>
            <a:pPr lvl="1"/>
            <a:r>
              <a:rPr lang="en-US" dirty="0"/>
              <a:t>Point-in-time copy ( snapshot )</a:t>
            </a:r>
          </a:p>
          <a:p>
            <a:pPr lvl="2"/>
            <a:r>
              <a:rPr lang="en-US" dirty="0"/>
              <a:t>Provide point-in-time copies of an entire storage volume.</a:t>
            </a:r>
          </a:p>
          <a:p>
            <a:pPr lvl="2"/>
            <a:r>
              <a:rPr lang="en-US" dirty="0"/>
              <a:t>Snapshot copies may be written to secondary storage arrays.</a:t>
            </a:r>
          </a:p>
          <a:p>
            <a:pPr lvl="2"/>
            <a:r>
              <a:rPr lang="en-US" dirty="0"/>
              <a:t>Provide an efficient means to quickly recover a known good volume state in the event of data from the host.</a:t>
            </a:r>
          </a:p>
          <a:p>
            <a:pPr lvl="1"/>
            <a:r>
              <a:rPr lang="en-US" dirty="0"/>
              <a:t>Distributed modular virtualization</a:t>
            </a:r>
          </a:p>
          <a:p>
            <a:pPr lvl="2"/>
            <a:r>
              <a:rPr lang="en-US" dirty="0"/>
              <a:t>Decoupling storage controller logic from physical disk banks provides flexibility for supporting heterogeneous disk assets and facilitates distributed virtualization intelligence.</a:t>
            </a:r>
          </a:p>
          <a:p>
            <a:pPr lvl="2"/>
            <a:r>
              <a:rPr lang="en-US" dirty="0"/>
              <a:t>Accommodates class of storage services and data lifecycle management.</a:t>
            </a:r>
          </a:p>
        </p:txBody>
      </p:sp>
    </p:spTree>
    <p:extLst>
      <p:ext uri="{BB962C8B-B14F-4D97-AF65-F5344CB8AC3E}">
        <p14:creationId xmlns:p14="http://schemas.microsoft.com/office/powerpoint/2010/main" val="965510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Storage-based Virtualization</a:t>
            </a:r>
          </a:p>
        </p:txBody>
      </p:sp>
      <p:pic>
        <p:nvPicPr>
          <p:cNvPr id="5" name="Picture 4" descr="Storage_9.png"/>
          <p:cNvPicPr>
            <a:picLocks noChangeAspect="1"/>
          </p:cNvPicPr>
          <p:nvPr/>
        </p:nvPicPr>
        <p:blipFill>
          <a:blip r:embed="rId2" cstate="print"/>
          <a:srcRect l="699" r="1080"/>
          <a:stretch>
            <a:fillRect/>
          </a:stretch>
        </p:blipFill>
        <p:spPr>
          <a:xfrm>
            <a:off x="2415098" y="2171700"/>
            <a:ext cx="4313805" cy="28759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1422053"/>
            <a:ext cx="5486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i="1" dirty="0">
                <a:solidFill>
                  <a:schemeClr val="accent2">
                    <a:lumMod val="50000"/>
                  </a:schemeClr>
                </a:solidFill>
              </a:rPr>
              <a:t>Decoupling storage controller intelligence and virtualization engines from physical disk banks facilitates multi-protocol block data access and accommodation of a broad range of disk architectures.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9148" y="1005865"/>
            <a:ext cx="44883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Distributed Modular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1932922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Storage-based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Storage-based implementation</a:t>
            </a:r>
          </a:p>
          <a:p>
            <a:pPr lvl="1"/>
            <a:r>
              <a:rPr lang="en-US" dirty="0"/>
              <a:t>Pros</a:t>
            </a:r>
          </a:p>
          <a:p>
            <a:pPr lvl="2"/>
            <a:r>
              <a:rPr lang="en-US" dirty="0"/>
              <a:t>Provide most of the benefits of storage virtualization</a:t>
            </a:r>
          </a:p>
          <a:p>
            <a:pPr lvl="2"/>
            <a:r>
              <a:rPr lang="en-US" dirty="0"/>
              <a:t>Reduce additional latency to individual IO</a:t>
            </a:r>
          </a:p>
          <a:p>
            <a:pPr lvl="1"/>
            <a:r>
              <a:rPr lang="en-US" dirty="0"/>
              <a:t>Cons</a:t>
            </a:r>
          </a:p>
          <a:p>
            <a:pPr lvl="2"/>
            <a:r>
              <a:rPr lang="en-US" dirty="0"/>
              <a:t>Storage utilization optimized only across the connected controllers</a:t>
            </a:r>
          </a:p>
          <a:p>
            <a:pPr lvl="2"/>
            <a:r>
              <a:rPr lang="en-US" dirty="0"/>
              <a:t>Replication and data migration only possible across the connected controllers and the same vendors devices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Disk array products</a:t>
            </a:r>
          </a:p>
        </p:txBody>
      </p:sp>
    </p:spTree>
    <p:extLst>
      <p:ext uri="{BB962C8B-B14F-4D97-AF65-F5344CB8AC3E}">
        <p14:creationId xmlns:p14="http://schemas.microsoft.com/office/powerpoint/2010/main" val="3102060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57175" lvl="2" indent="-257175"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  <a:endParaRPr lang="en-US" sz="1950" dirty="0">
              <a:solidFill>
                <a:schemeClr val="bg1">
                  <a:lumMod val="50000"/>
                </a:schemeClr>
              </a:solidFill>
            </a:endParaRP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bg1">
                    <a:lumMod val="50000"/>
                  </a:schemeClr>
                </a:solidFill>
              </a:rPr>
              <a:t>What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bg1">
                    <a:lumMod val="50000"/>
                  </a:schemeClr>
                </a:solidFill>
              </a:rPr>
              <a:t>Where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rgbClr val="C00000"/>
                </a:solidFill>
              </a:rPr>
              <a:t>How to be virtualized</a:t>
            </a:r>
          </a:p>
        </p:txBody>
      </p:sp>
    </p:spTree>
    <p:extLst>
      <p:ext uri="{BB962C8B-B14F-4D97-AF65-F5344CB8AC3E}">
        <p14:creationId xmlns:p14="http://schemas.microsoft.com/office/powerpoint/2010/main" val="17242787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In-band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914400"/>
            <a:ext cx="3429000" cy="39433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Implementation methods :</a:t>
            </a:r>
          </a:p>
          <a:p>
            <a:pPr lvl="1"/>
            <a:r>
              <a:rPr lang="en-US" dirty="0"/>
              <a:t>In-band</a:t>
            </a:r>
          </a:p>
          <a:p>
            <a:pPr lvl="2"/>
            <a:r>
              <a:rPr lang="en-US" dirty="0"/>
              <a:t>Also known as </a:t>
            </a:r>
            <a:r>
              <a:rPr lang="en-US" b="1" i="1" dirty="0"/>
              <a:t>symmetric</a:t>
            </a:r>
            <a:r>
              <a:rPr lang="en-US" dirty="0"/>
              <a:t>, virtualization devices actually sit in the data path between the host and storage.</a:t>
            </a:r>
          </a:p>
          <a:p>
            <a:pPr lvl="2"/>
            <a:r>
              <a:rPr lang="en-US" dirty="0"/>
              <a:t>Hosts perform IO to the virtualized device and never interact with the actual storage device.</a:t>
            </a:r>
          </a:p>
          <a:p>
            <a:pPr lvl="1"/>
            <a:r>
              <a:rPr lang="en-US" dirty="0"/>
              <a:t>Pros</a:t>
            </a:r>
          </a:p>
          <a:p>
            <a:pPr lvl="2"/>
            <a:r>
              <a:rPr lang="en-US" dirty="0"/>
              <a:t>Easy to implement</a:t>
            </a:r>
          </a:p>
          <a:p>
            <a:pPr lvl="1"/>
            <a:r>
              <a:rPr lang="en-US" dirty="0"/>
              <a:t>Cons</a:t>
            </a:r>
          </a:p>
          <a:p>
            <a:pPr lvl="2"/>
            <a:r>
              <a:rPr lang="en-US" dirty="0"/>
              <a:t>Bad scalability &amp; Bottle neck</a:t>
            </a:r>
          </a:p>
        </p:txBody>
      </p:sp>
      <p:pic>
        <p:nvPicPr>
          <p:cNvPr id="29" name="Picture 28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29250" y="971550"/>
            <a:ext cx="742950" cy="742950"/>
          </a:xfrm>
          <a:prstGeom prst="rect">
            <a:avLst/>
          </a:prstGeom>
        </p:spPr>
      </p:pic>
      <p:pic>
        <p:nvPicPr>
          <p:cNvPr id="30" name="Picture 29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72200" y="914400"/>
            <a:ext cx="742950" cy="742950"/>
          </a:xfrm>
          <a:prstGeom prst="rect">
            <a:avLst/>
          </a:prstGeom>
        </p:spPr>
      </p:pic>
      <p:pic>
        <p:nvPicPr>
          <p:cNvPr id="31" name="Picture 30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15150" y="914400"/>
            <a:ext cx="742950" cy="742950"/>
          </a:xfrm>
          <a:prstGeom prst="rect">
            <a:avLst/>
          </a:prstGeom>
        </p:spPr>
      </p:pic>
      <p:pic>
        <p:nvPicPr>
          <p:cNvPr id="32" name="Picture 31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76282" y="1808512"/>
            <a:ext cx="742950" cy="494062"/>
          </a:xfrm>
          <a:prstGeom prst="rect">
            <a:avLst/>
          </a:prstGeom>
        </p:spPr>
      </p:pic>
      <p:pic>
        <p:nvPicPr>
          <p:cNvPr id="33" name="Picture 32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76282" y="3445574"/>
            <a:ext cx="742950" cy="494062"/>
          </a:xfrm>
          <a:prstGeom prst="rect">
            <a:avLst/>
          </a:prstGeom>
        </p:spPr>
      </p:pic>
      <p:pic>
        <p:nvPicPr>
          <p:cNvPr id="34" name="Picture 33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29250" y="4056221"/>
            <a:ext cx="740664" cy="740664"/>
          </a:xfrm>
          <a:prstGeom prst="rect">
            <a:avLst/>
          </a:prstGeom>
        </p:spPr>
      </p:pic>
      <p:pic>
        <p:nvPicPr>
          <p:cNvPr id="35" name="Picture 34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74486" y="4056221"/>
            <a:ext cx="740664" cy="740664"/>
          </a:xfrm>
          <a:prstGeom prst="rect">
            <a:avLst/>
          </a:prstGeom>
        </p:spPr>
      </p:pic>
      <p:pic>
        <p:nvPicPr>
          <p:cNvPr id="36" name="Picture 35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17436" y="4056221"/>
            <a:ext cx="740664" cy="740664"/>
          </a:xfrm>
          <a:prstGeom prst="rect">
            <a:avLst/>
          </a:prstGeom>
        </p:spPr>
      </p:pic>
      <p:cxnSp>
        <p:nvCxnSpPr>
          <p:cNvPr id="37" name="Straight Connector 36"/>
          <p:cNvCxnSpPr>
            <a:stCxn id="29" idx="2"/>
            <a:endCxn id="32" idx="0"/>
          </p:cNvCxnSpPr>
          <p:nvPr/>
        </p:nvCxnSpPr>
        <p:spPr>
          <a:xfrm rot="16200000" flipH="1">
            <a:off x="6127236" y="1387990"/>
            <a:ext cx="94012" cy="7470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0" idx="2"/>
            <a:endCxn id="32" idx="0"/>
          </p:cNvCxnSpPr>
          <p:nvPr/>
        </p:nvCxnSpPr>
        <p:spPr>
          <a:xfrm rot="16200000" flipH="1">
            <a:off x="6470136" y="1730890"/>
            <a:ext cx="151162" cy="408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1" idx="2"/>
            <a:endCxn id="32" idx="0"/>
          </p:cNvCxnSpPr>
          <p:nvPr/>
        </p:nvCxnSpPr>
        <p:spPr>
          <a:xfrm rot="5400000">
            <a:off x="6841611" y="1363496"/>
            <a:ext cx="151162" cy="73886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3" idx="2"/>
            <a:endCxn id="34" idx="0"/>
          </p:cNvCxnSpPr>
          <p:nvPr/>
        </p:nvCxnSpPr>
        <p:spPr>
          <a:xfrm rot="5400000">
            <a:off x="6115376" y="3623841"/>
            <a:ext cx="116586" cy="74817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3" idx="2"/>
            <a:endCxn id="35" idx="0"/>
          </p:cNvCxnSpPr>
          <p:nvPr/>
        </p:nvCxnSpPr>
        <p:spPr>
          <a:xfrm rot="5400000">
            <a:off x="6487994" y="3996459"/>
            <a:ext cx="116586" cy="29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3" idx="2"/>
            <a:endCxn id="36" idx="0"/>
          </p:cNvCxnSpPr>
          <p:nvPr/>
        </p:nvCxnSpPr>
        <p:spPr>
          <a:xfrm rot="16200000" flipH="1">
            <a:off x="6859469" y="3627922"/>
            <a:ext cx="116586" cy="74001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3" name="Picture 42" descr="Server2.png"/>
          <p:cNvPicPr>
            <a:picLocks noChangeAspect="1"/>
          </p:cNvPicPr>
          <p:nvPr/>
        </p:nvPicPr>
        <p:blipFill>
          <a:blip r:embed="rId5" cstate="print"/>
          <a:srcRect r="33036"/>
          <a:stretch>
            <a:fillRect/>
          </a:stretch>
        </p:blipFill>
        <p:spPr>
          <a:xfrm>
            <a:off x="6290582" y="2474024"/>
            <a:ext cx="514350" cy="768095"/>
          </a:xfrm>
          <a:prstGeom prst="rect">
            <a:avLst/>
          </a:prstGeom>
        </p:spPr>
      </p:pic>
      <p:cxnSp>
        <p:nvCxnSpPr>
          <p:cNvPr id="44" name="Straight Connector 43"/>
          <p:cNvCxnSpPr>
            <a:stCxn id="32" idx="2"/>
            <a:endCxn id="43" idx="0"/>
          </p:cNvCxnSpPr>
          <p:nvPr/>
        </p:nvCxnSpPr>
        <p:spPr>
          <a:xfrm rot="5400000">
            <a:off x="6462032" y="2388299"/>
            <a:ext cx="17145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3" idx="2"/>
            <a:endCxn id="33" idx="0"/>
          </p:cNvCxnSpPr>
          <p:nvPr/>
        </p:nvCxnSpPr>
        <p:spPr>
          <a:xfrm rot="5400000">
            <a:off x="6446030" y="3343846"/>
            <a:ext cx="20345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6" name="Round Diagonal Corner Rectangle 45"/>
          <p:cNvSpPr/>
          <p:nvPr/>
        </p:nvSpPr>
        <p:spPr>
          <a:xfrm>
            <a:off x="5542407" y="4274249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47" name="Round Diagonal Corner Rectangle 46"/>
          <p:cNvSpPr/>
          <p:nvPr/>
        </p:nvSpPr>
        <p:spPr>
          <a:xfrm>
            <a:off x="6287643" y="4274249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48" name="Round Diagonal Corner Rectangle 47"/>
          <p:cNvSpPr/>
          <p:nvPr/>
        </p:nvSpPr>
        <p:spPr>
          <a:xfrm>
            <a:off x="7030593" y="4274249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49" name="Oval 48"/>
          <p:cNvSpPr/>
          <p:nvPr/>
        </p:nvSpPr>
        <p:spPr>
          <a:xfrm>
            <a:off x="5453742" y="1188149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0" name="Oval 49"/>
          <p:cNvSpPr/>
          <p:nvPr/>
        </p:nvSpPr>
        <p:spPr>
          <a:xfrm>
            <a:off x="6229349" y="1188149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1" name="Oval 50"/>
          <p:cNvSpPr/>
          <p:nvPr/>
        </p:nvSpPr>
        <p:spPr>
          <a:xfrm>
            <a:off x="7004956" y="1188149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3" name="Oval 52"/>
          <p:cNvSpPr/>
          <p:nvPr/>
        </p:nvSpPr>
        <p:spPr>
          <a:xfrm>
            <a:off x="6270363" y="2743200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4" name="Oval 53"/>
          <p:cNvSpPr/>
          <p:nvPr/>
        </p:nvSpPr>
        <p:spPr>
          <a:xfrm>
            <a:off x="6270363" y="2743200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5" name="Oval 54"/>
          <p:cNvSpPr/>
          <p:nvPr/>
        </p:nvSpPr>
        <p:spPr>
          <a:xfrm>
            <a:off x="6270363" y="2743200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</p:spTree>
    <p:extLst>
      <p:ext uri="{BB962C8B-B14F-4D97-AF65-F5344CB8AC3E}">
        <p14:creationId xmlns:p14="http://schemas.microsoft.com/office/powerpoint/2010/main" val="312272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0.00578 L 0.1099 0.3078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5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0.00509 L -0.00087 0.3071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25168E-6 L -0.11511 0.31044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" y="1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17835E-6 L 0.10191 0.27758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" y="139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717 L -0.11528 0.28152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14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0648 L -0.00018 0.27944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-0.00879 L -0.11702 -0.30627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-149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694 L -0.00243 -0.29332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" y="-143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2 -0.00486 L 0.10816 -0.2912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-1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28 -0.28059 L -0.00434 -0.58617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" y="-153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94 -0.28059 L -0.00434 -0.58617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-153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74 -0.28059 L -0.00399 -0.58617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" y="-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8" grpId="0" animBg="1"/>
      <p:bldP spid="48" grpId="1" animBg="1"/>
      <p:bldP spid="48" grpId="2" animBg="1"/>
      <p:bldP spid="49" grpId="0" animBg="1"/>
      <p:bldP spid="49" grpId="1" animBg="1"/>
      <p:bldP spid="49" grpId="2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3" grpId="0" animBg="1"/>
      <p:bldP spid="53" grpId="1" animBg="1"/>
      <p:bldP spid="53" grpId="2" animBg="1"/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Out-of-band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1085850"/>
            <a:ext cx="3429000" cy="3943350"/>
          </a:xfrm>
        </p:spPr>
        <p:txBody>
          <a:bodyPr/>
          <a:lstStyle/>
          <a:p>
            <a:r>
              <a:rPr lang="en-US" dirty="0"/>
              <a:t>Implementation methods :</a:t>
            </a:r>
          </a:p>
          <a:p>
            <a:pPr lvl="1"/>
            <a:r>
              <a:rPr lang="en-US" dirty="0"/>
              <a:t>Out-of-band</a:t>
            </a:r>
          </a:p>
          <a:p>
            <a:pPr lvl="2"/>
            <a:r>
              <a:rPr lang="en-US" dirty="0"/>
              <a:t>Also known as </a:t>
            </a:r>
            <a:r>
              <a:rPr lang="en-US" b="1" i="1" dirty="0"/>
              <a:t>asymmetric</a:t>
            </a:r>
            <a:r>
              <a:rPr lang="en-US" dirty="0"/>
              <a:t>, virtualization devices are sometimes called metadata servers.</a:t>
            </a:r>
          </a:p>
          <a:p>
            <a:pPr lvl="2"/>
            <a:r>
              <a:rPr lang="en-US" dirty="0"/>
              <a:t>Require additional software in the host which knows </a:t>
            </a:r>
            <a:r>
              <a:rPr lang="en-US" altLang="zh-TW" dirty="0"/>
              <a:t>the </a:t>
            </a:r>
            <a:r>
              <a:rPr lang="en-US" dirty="0"/>
              <a:t>first request location of the actual data.</a:t>
            </a:r>
          </a:p>
          <a:p>
            <a:pPr lvl="1"/>
            <a:r>
              <a:rPr lang="en-US" dirty="0"/>
              <a:t>Pros</a:t>
            </a:r>
          </a:p>
          <a:p>
            <a:pPr lvl="2"/>
            <a:r>
              <a:rPr lang="en-US" dirty="0"/>
              <a:t>Scalability &amp; Performance</a:t>
            </a:r>
          </a:p>
          <a:p>
            <a:pPr lvl="1"/>
            <a:r>
              <a:rPr lang="en-US" dirty="0"/>
              <a:t>Cons</a:t>
            </a:r>
          </a:p>
          <a:p>
            <a:pPr lvl="2"/>
            <a:r>
              <a:rPr lang="en-US" dirty="0"/>
              <a:t>Hard to implement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6" name="Picture 5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69764" y="1485900"/>
            <a:ext cx="742950" cy="742950"/>
          </a:xfrm>
          <a:prstGeom prst="rect">
            <a:avLst/>
          </a:prstGeom>
        </p:spPr>
      </p:pic>
      <p:pic>
        <p:nvPicPr>
          <p:cNvPr id="7" name="Picture 6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2714" y="1485900"/>
            <a:ext cx="742950" cy="742950"/>
          </a:xfrm>
          <a:prstGeom prst="rect">
            <a:avLst/>
          </a:prstGeom>
        </p:spPr>
      </p:pic>
      <p:pic>
        <p:nvPicPr>
          <p:cNvPr id="8" name="Picture 7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55664" y="1485900"/>
            <a:ext cx="742950" cy="742950"/>
          </a:xfrm>
          <a:prstGeom prst="rect">
            <a:avLst/>
          </a:prstGeom>
        </p:spPr>
      </p:pic>
      <p:pic>
        <p:nvPicPr>
          <p:cNvPr id="9" name="Picture 8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12664" y="2934939"/>
            <a:ext cx="742950" cy="494062"/>
          </a:xfrm>
          <a:prstGeom prst="rect">
            <a:avLst/>
          </a:prstGeom>
        </p:spPr>
      </p:pic>
      <p:pic>
        <p:nvPicPr>
          <p:cNvPr id="10" name="Picture 9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55614" y="2934939"/>
            <a:ext cx="742950" cy="494062"/>
          </a:xfrm>
          <a:prstGeom prst="rect">
            <a:avLst/>
          </a:prstGeom>
        </p:spPr>
      </p:pic>
      <p:pic>
        <p:nvPicPr>
          <p:cNvPr id="11" name="Picture 10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969764" y="4000500"/>
            <a:ext cx="740664" cy="740664"/>
          </a:xfrm>
          <a:prstGeom prst="rect">
            <a:avLst/>
          </a:prstGeom>
        </p:spPr>
      </p:pic>
      <p:pic>
        <p:nvPicPr>
          <p:cNvPr id="12" name="Picture 11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15000" y="4000500"/>
            <a:ext cx="740664" cy="740664"/>
          </a:xfrm>
          <a:prstGeom prst="rect">
            <a:avLst/>
          </a:prstGeom>
        </p:spPr>
      </p:pic>
      <p:pic>
        <p:nvPicPr>
          <p:cNvPr id="13" name="Picture 12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57950" y="4000500"/>
            <a:ext cx="740664" cy="740664"/>
          </a:xfrm>
          <a:prstGeom prst="rect">
            <a:avLst/>
          </a:prstGeom>
        </p:spPr>
      </p:pic>
      <p:cxnSp>
        <p:nvCxnSpPr>
          <p:cNvPr id="14" name="Straight Connector 13"/>
          <p:cNvCxnSpPr>
            <a:stCxn id="6" idx="2"/>
            <a:endCxn id="9" idx="0"/>
          </p:cNvCxnSpPr>
          <p:nvPr/>
        </p:nvCxnSpPr>
        <p:spPr>
          <a:xfrm rot="16200000" flipH="1">
            <a:off x="5159646" y="2410444"/>
            <a:ext cx="706088" cy="3429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2"/>
            <a:endCxn id="10" idx="0"/>
          </p:cNvCxnSpPr>
          <p:nvPr/>
        </p:nvCxnSpPr>
        <p:spPr>
          <a:xfrm rot="16200000" flipH="1">
            <a:off x="5531121" y="2038969"/>
            <a:ext cx="706088" cy="10858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2"/>
            <a:endCxn id="9" idx="0"/>
          </p:cNvCxnSpPr>
          <p:nvPr/>
        </p:nvCxnSpPr>
        <p:spPr>
          <a:xfrm rot="5400000">
            <a:off x="5531121" y="2381869"/>
            <a:ext cx="706088" cy="4000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2"/>
            <a:endCxn id="9" idx="0"/>
          </p:cNvCxnSpPr>
          <p:nvPr/>
        </p:nvCxnSpPr>
        <p:spPr>
          <a:xfrm rot="5400000">
            <a:off x="5902596" y="2010394"/>
            <a:ext cx="706088" cy="1143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2"/>
            <a:endCxn id="10" idx="0"/>
          </p:cNvCxnSpPr>
          <p:nvPr/>
        </p:nvCxnSpPr>
        <p:spPr>
          <a:xfrm rot="16200000" flipH="1">
            <a:off x="5902596" y="2410444"/>
            <a:ext cx="706088" cy="3429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2"/>
            <a:endCxn id="10" idx="0"/>
          </p:cNvCxnSpPr>
          <p:nvPr/>
        </p:nvCxnSpPr>
        <p:spPr>
          <a:xfrm rot="5400000">
            <a:off x="6274071" y="2381869"/>
            <a:ext cx="706088" cy="4000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2"/>
            <a:endCxn id="11" idx="0"/>
          </p:cNvCxnSpPr>
          <p:nvPr/>
        </p:nvCxnSpPr>
        <p:spPr>
          <a:xfrm rot="5400000">
            <a:off x="5226368" y="3542729"/>
            <a:ext cx="571500" cy="3440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2" idx="0"/>
          </p:cNvCxnSpPr>
          <p:nvPr/>
        </p:nvCxnSpPr>
        <p:spPr>
          <a:xfrm rot="16200000" flipH="1">
            <a:off x="5598986" y="3514154"/>
            <a:ext cx="571500" cy="4011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3" idx="0"/>
          </p:cNvCxnSpPr>
          <p:nvPr/>
        </p:nvCxnSpPr>
        <p:spPr>
          <a:xfrm rot="16200000" flipH="1">
            <a:off x="5970461" y="3142679"/>
            <a:ext cx="571500" cy="11441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2"/>
            <a:endCxn id="11" idx="0"/>
          </p:cNvCxnSpPr>
          <p:nvPr/>
        </p:nvCxnSpPr>
        <p:spPr>
          <a:xfrm rot="5400000">
            <a:off x="5597843" y="3171254"/>
            <a:ext cx="571500" cy="10869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2"/>
            <a:endCxn id="12" idx="0"/>
          </p:cNvCxnSpPr>
          <p:nvPr/>
        </p:nvCxnSpPr>
        <p:spPr>
          <a:xfrm rot="5400000">
            <a:off x="5970461" y="3543872"/>
            <a:ext cx="571500" cy="34175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2"/>
            <a:endCxn id="13" idx="0"/>
          </p:cNvCxnSpPr>
          <p:nvPr/>
        </p:nvCxnSpPr>
        <p:spPr>
          <a:xfrm rot="16200000" flipH="1">
            <a:off x="6341936" y="3514154"/>
            <a:ext cx="571500" cy="4011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6" name="Picture 25" descr="Server2.png"/>
          <p:cNvPicPr>
            <a:picLocks noChangeAspect="1"/>
          </p:cNvPicPr>
          <p:nvPr/>
        </p:nvPicPr>
        <p:blipFill>
          <a:blip r:embed="rId5" cstate="print"/>
          <a:srcRect r="33036"/>
          <a:stretch>
            <a:fillRect/>
          </a:stretch>
        </p:blipFill>
        <p:spPr>
          <a:xfrm>
            <a:off x="7255764" y="2797411"/>
            <a:ext cx="514350" cy="768095"/>
          </a:xfrm>
          <a:prstGeom prst="rect">
            <a:avLst/>
          </a:prstGeom>
        </p:spPr>
      </p:pic>
      <p:cxnSp>
        <p:nvCxnSpPr>
          <p:cNvPr id="27" name="Straight Connector 26"/>
          <p:cNvCxnSpPr>
            <a:stCxn id="10" idx="3"/>
            <a:endCxn id="26" idx="1"/>
          </p:cNvCxnSpPr>
          <p:nvPr/>
        </p:nvCxnSpPr>
        <p:spPr>
          <a:xfrm flipV="1">
            <a:off x="6798564" y="3181459"/>
            <a:ext cx="457200" cy="51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010585" y="1712214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29" name="Oval 28"/>
          <p:cNvSpPr/>
          <p:nvPr/>
        </p:nvSpPr>
        <p:spPr>
          <a:xfrm>
            <a:off x="5786192" y="1712214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0" name="Oval 29"/>
          <p:cNvSpPr/>
          <p:nvPr/>
        </p:nvSpPr>
        <p:spPr>
          <a:xfrm>
            <a:off x="6561799" y="1712214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1" name="Oval 30"/>
          <p:cNvSpPr/>
          <p:nvPr/>
        </p:nvSpPr>
        <p:spPr>
          <a:xfrm>
            <a:off x="7198614" y="3026664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2" name="Oval 31"/>
          <p:cNvSpPr/>
          <p:nvPr/>
        </p:nvSpPr>
        <p:spPr>
          <a:xfrm>
            <a:off x="7198614" y="3026664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3" name="Oval 32"/>
          <p:cNvSpPr/>
          <p:nvPr/>
        </p:nvSpPr>
        <p:spPr>
          <a:xfrm>
            <a:off x="7198614" y="3026664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4" name="Round Diagonal Corner Rectangle 33"/>
          <p:cNvSpPr/>
          <p:nvPr/>
        </p:nvSpPr>
        <p:spPr>
          <a:xfrm>
            <a:off x="5084064" y="4283964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35" name="Round Diagonal Corner Rectangle 34"/>
          <p:cNvSpPr/>
          <p:nvPr/>
        </p:nvSpPr>
        <p:spPr>
          <a:xfrm>
            <a:off x="5829300" y="4283964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36" name="Round Diagonal Corner Rectangle 35"/>
          <p:cNvSpPr/>
          <p:nvPr/>
        </p:nvSpPr>
        <p:spPr>
          <a:xfrm>
            <a:off x="6572250" y="4283964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64052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152 0.09537 0.04322 0.19097 0.09635 0.23333 C 0.14947 0.27569 0.2342 0.26481 0.31909 0.25393 " pathEditMode="relative" ptsTypes="aaA">
                                      <p:cBhvr>
                                        <p:cTn id="1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059 0.09074 0.02135 0.18148 0.05468 0.22384 C 0.08802 0.2662 0.14392 0.26018 0.2 0.25416 " pathEditMode="relative" ptsTypes="aaA">
                                      <p:cBhvr>
                                        <p:cTn id="1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4635 0.09328 -0.09271 0.18657 -0.07847 0.23009 C -0.06423 0.27361 0.05868 0.25648 0.08577 0.2618 " pathEditMode="relative" ptsTypes="aaA">
                                      <p:cBhvr>
                                        <p:cTn id="2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8.67362E-19 C -0.08681 -0.01227 -0.17344 -0.02453 -0.22622 0.01111 C -0.27899 0.04676 -0.29792 0.13033 -0.31667 0.21412 " pathEditMode="relative" ptsTypes="aaA">
                                      <p:cBhvr>
                                        <p:cTn id="4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5017 -0.01435 -0.10017 -0.0287 -0.13454 0.00648 C -0.16892 0.04167 -0.1875 0.12639 -0.2059 0.21111 " pathEditMode="relative" ptsTypes="aaA">
                                      <p:cBhvr>
                                        <p:cTn id="4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69 -0.01366 -0.15122 -0.02731 -0.16667 0.0081 C -0.18212 0.04352 -0.1375 0.12801 -0.09288 0.21273 " pathEditMode="relative" ptsTypes="aaA">
                                      <p:cBhvr>
                                        <p:cTn id="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6 0.00023 L 0.22431 -0.4886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00" y="-2440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00046 L -0.00365 -0.48843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" y="-2440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2 -0.00046 L -0.2243 -0.4892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00" y="-24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torage_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59561" y="2289810"/>
            <a:ext cx="3139580" cy="2743200"/>
          </a:xfrm>
          <a:prstGeom prst="rect">
            <a:avLst/>
          </a:prstGeom>
        </p:spPr>
      </p:pic>
      <p:pic>
        <p:nvPicPr>
          <p:cNvPr id="5" name="Picture 4" descr="Storage_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22444" y="2289810"/>
            <a:ext cx="3184414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Virtualization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150" y="1479203"/>
            <a:ext cx="342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2">
                    <a:lumMod val="50000"/>
                  </a:schemeClr>
                </a:solidFill>
              </a:rPr>
              <a:t>In a virtualized storage pool, virtual assets may be dynamically resized and allocated to servers by drawing on the total storage capacity of the SAN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9884" y="800100"/>
            <a:ext cx="320953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Pooling Heterogeneous</a:t>
            </a:r>
            <a:b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Storage Assets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57750" y="961682"/>
            <a:ext cx="340189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Heterogeneous Mirroring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14850" y="1479203"/>
            <a:ext cx="3429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i="1" dirty="0">
                <a:solidFill>
                  <a:schemeClr val="accent2">
                    <a:lumMod val="50000"/>
                  </a:schemeClr>
                </a:solidFill>
              </a:rPr>
              <a:t>Heterogeneous mirroring offers more flexible options than conventional mirroring, including three-way mirroring within storage capacity carved from different storage systems</a:t>
            </a:r>
          </a:p>
        </p:txBody>
      </p:sp>
    </p:spTree>
    <p:extLst>
      <p:ext uri="{BB962C8B-B14F-4D97-AF65-F5344CB8AC3E}">
        <p14:creationId xmlns:p14="http://schemas.microsoft.com/office/powerpoint/2010/main" val="37178567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torage_1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46020" y="2135319"/>
            <a:ext cx="4251960" cy="2568185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Virtualization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0250" y="1543051"/>
            <a:ext cx="51435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350" i="1" dirty="0">
                <a:solidFill>
                  <a:schemeClr val="accent2">
                    <a:lumMod val="50000"/>
                  </a:schemeClr>
                </a:solidFill>
              </a:rPr>
              <a:t>Heterogeneous data replication enables duplication of storage data between otherwise incompatible storage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6463" y="1085850"/>
            <a:ext cx="43284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Heterogeneous Data Replication</a:t>
            </a:r>
          </a:p>
        </p:txBody>
      </p:sp>
    </p:spTree>
    <p:extLst>
      <p:ext uri="{BB962C8B-B14F-4D97-AF65-F5344CB8AC3E}">
        <p14:creationId xmlns:p14="http://schemas.microsoft.com/office/powerpoint/2010/main" val="17563626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771900"/>
          </a:xfrm>
        </p:spPr>
        <p:txBody>
          <a:bodyPr/>
          <a:lstStyle/>
          <a:p>
            <a:r>
              <a:rPr lang="en-US" dirty="0"/>
              <a:t>Storage virtualization technique :</a:t>
            </a:r>
          </a:p>
          <a:p>
            <a:pPr lvl="1"/>
            <a:r>
              <a:rPr lang="en-US" dirty="0"/>
              <a:t>Virtualization layer</a:t>
            </a:r>
          </a:p>
          <a:p>
            <a:pPr lvl="2"/>
            <a:r>
              <a:rPr lang="en-US" dirty="0"/>
              <a:t>File level and block level</a:t>
            </a:r>
          </a:p>
          <a:p>
            <a:pPr lvl="1"/>
            <a:r>
              <a:rPr lang="en-US" dirty="0"/>
              <a:t>Virtualization location</a:t>
            </a:r>
          </a:p>
          <a:p>
            <a:pPr lvl="2"/>
            <a:r>
              <a:rPr lang="en-US" dirty="0"/>
              <a:t>Host, network and storage base</a:t>
            </a:r>
          </a:p>
          <a:p>
            <a:pPr lvl="1"/>
            <a:r>
              <a:rPr lang="en-US" dirty="0"/>
              <a:t>Virtualization method</a:t>
            </a:r>
          </a:p>
          <a:p>
            <a:pPr lvl="2"/>
            <a:r>
              <a:rPr lang="en-US" dirty="0"/>
              <a:t>In-band and out-of-band</a:t>
            </a:r>
          </a:p>
          <a:p>
            <a:r>
              <a:rPr lang="en-US" dirty="0"/>
              <a:t>Storage virtualization services</a:t>
            </a:r>
          </a:p>
          <a:p>
            <a:pPr lvl="1"/>
            <a:r>
              <a:rPr lang="en-US" dirty="0"/>
              <a:t>Storage pooling and sharing</a:t>
            </a:r>
          </a:p>
          <a:p>
            <a:pPr lvl="1"/>
            <a:r>
              <a:rPr lang="en-US" dirty="0"/>
              <a:t>Data replication and mirroring</a:t>
            </a:r>
          </a:p>
          <a:p>
            <a:pPr lvl="1"/>
            <a:r>
              <a:rPr lang="en-US" dirty="0"/>
              <a:t>Snapshot and multi-</a:t>
            </a:r>
            <a:r>
              <a:rPr lang="en-US" dirty="0" err="1"/>
              <a:t>pathing</a:t>
            </a:r>
            <a:endParaRPr lang="en-US" dirty="0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2030" y="1843650"/>
            <a:ext cx="3017520" cy="2271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086062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57175" lvl="2" indent="-257175"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  <a:endParaRPr lang="en-US" sz="1950" dirty="0">
              <a:solidFill>
                <a:schemeClr val="bg1">
                  <a:lumMod val="50000"/>
                </a:schemeClr>
              </a:solidFill>
            </a:endParaRP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bg1">
                    <a:lumMod val="50000"/>
                  </a:schemeClr>
                </a:solidFill>
              </a:rPr>
              <a:t>What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bg1">
                    <a:lumMod val="50000"/>
                  </a:schemeClr>
                </a:solidFill>
              </a:rPr>
              <a:t>Where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bg1">
                    <a:lumMod val="50000"/>
                  </a:schemeClr>
                </a:solidFill>
              </a:rPr>
              <a:t>How to be virtualized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rgbClr val="C00000"/>
                </a:solidFill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4194130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</a:t>
            </a:r>
            <a:br>
              <a:rPr lang="en-US" dirty="0"/>
            </a:br>
            <a:r>
              <a:rPr lang="en-US" sz="1800" dirty="0">
                <a:solidFill>
                  <a:schemeClr val="tx1">
                    <a:tint val="75000"/>
                  </a:schemeClr>
                </a:solidFill>
              </a:rPr>
              <a:t>on </a:t>
            </a:r>
            <a:r>
              <a:rPr lang="en-US" sz="1800" dirty="0" err="1">
                <a:solidFill>
                  <a:schemeClr val="tx1">
                    <a:tint val="75000"/>
                  </a:schemeClr>
                </a:solidFill>
              </a:rPr>
              <a:t>linux</a:t>
            </a:r>
            <a:r>
              <a:rPr lang="en-US" sz="1800" dirty="0">
                <a:solidFill>
                  <a:schemeClr val="tx1">
                    <a:tint val="75000"/>
                  </a:schemeClr>
                </a:solidFill>
              </a:rPr>
              <a:t> system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4735" y="1599643"/>
            <a:ext cx="5829300" cy="1705533"/>
          </a:xfrm>
        </p:spPr>
        <p:txBody>
          <a:bodyPr>
            <a:noAutofit/>
          </a:bodyPr>
          <a:lstStyle/>
          <a:p>
            <a:pPr marL="257175" indent="-257175">
              <a:buFont typeface="Arial" pitchFamily="34" charset="0"/>
              <a:buChar char="•"/>
            </a:pP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Case-study, virtualization on </a:t>
            </a:r>
            <a:r>
              <a:rPr lang="en-US" sz="1950" dirty="0" err="1">
                <a:solidFill>
                  <a:schemeClr val="tx1">
                    <a:tint val="75000"/>
                  </a:schemeClr>
                </a:solidFill>
              </a:rPr>
              <a:t>linux</a:t>
            </a:r>
            <a:r>
              <a:rPr lang="en-US" sz="1950" dirty="0">
                <a:solidFill>
                  <a:schemeClr val="tx1">
                    <a:tint val="75000"/>
                  </a:schemeClr>
                </a:solidFill>
              </a:rPr>
              <a:t> system</a:t>
            </a:r>
          </a:p>
          <a:p>
            <a:pPr marL="600075" lvl="1" indent="-257175">
              <a:buFont typeface="Arial" pitchFamily="34" charset="0"/>
              <a:buChar char="•"/>
            </a:pPr>
            <a:r>
              <a:rPr lang="en-US" sz="1800" dirty="0"/>
              <a:t>Block-based</a:t>
            </a:r>
          </a:p>
          <a:p>
            <a:pPr marL="942975" lvl="2" indent="-257175">
              <a:buFont typeface="Arial" pitchFamily="34" charset="0"/>
              <a:buChar char="•"/>
            </a:pPr>
            <a:r>
              <a:rPr lang="en-US" sz="1650" dirty="0">
                <a:solidFill>
                  <a:srgbClr val="FF0000"/>
                </a:solidFill>
              </a:rPr>
              <a:t>Redundant Array of Independent Disks (RAID)</a:t>
            </a: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>
                <a:solidFill>
                  <a:srgbClr val="FF0000"/>
                </a:solidFill>
              </a:rPr>
              <a:t>Logical Volume Management (LVM)</a:t>
            </a:r>
          </a:p>
          <a:p>
            <a:pPr marL="600075" lvl="1" indent="-257175">
              <a:buFont typeface="Arial" pitchFamily="34" charset="0"/>
              <a:buChar char="•"/>
            </a:pPr>
            <a:r>
              <a:rPr lang="en-US" altLang="zh-TW" sz="1800" dirty="0"/>
              <a:t>File-based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sz="1650" dirty="0">
                <a:solidFill>
                  <a:srgbClr val="FF0000"/>
                </a:solidFill>
              </a:rPr>
              <a:t>Network File System (NFS)</a:t>
            </a:r>
            <a:endParaRPr lang="en-US" sz="1650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2239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RAID (redundant array of independent disks)</a:t>
            </a:r>
          </a:p>
          <a:p>
            <a:pPr lvl="2"/>
            <a:r>
              <a:rPr lang="en-US" altLang="zh-TW" dirty="0"/>
              <a:t>Originally: redundant array of </a:t>
            </a:r>
            <a:r>
              <a:rPr lang="en-US" altLang="zh-TW" u="sng" dirty="0"/>
              <a:t>inexpensive</a:t>
            </a:r>
            <a:r>
              <a:rPr lang="en-US" altLang="zh-TW" dirty="0"/>
              <a:t> disks</a:t>
            </a:r>
          </a:p>
          <a:p>
            <a:pPr lvl="1"/>
            <a:r>
              <a:rPr lang="en-US" altLang="zh-TW" dirty="0"/>
              <a:t>RAID schemes provide different balance between the key goals:</a:t>
            </a:r>
          </a:p>
          <a:p>
            <a:pPr lvl="2"/>
            <a:r>
              <a:rPr lang="en-US" altLang="zh-TW" dirty="0"/>
              <a:t>Reliability</a:t>
            </a:r>
          </a:p>
          <a:p>
            <a:pPr lvl="2"/>
            <a:r>
              <a:rPr lang="en-US" altLang="zh-TW" dirty="0"/>
              <a:t>Availability</a:t>
            </a:r>
          </a:p>
          <a:p>
            <a:pPr lvl="2"/>
            <a:r>
              <a:rPr lang="en-US" altLang="zh-TW" dirty="0"/>
              <a:t>Performance</a:t>
            </a:r>
          </a:p>
          <a:p>
            <a:pPr lvl="2"/>
            <a:r>
              <a:rPr lang="en-US" altLang="zh-TW" dirty="0"/>
              <a:t>Capacity</a:t>
            </a:r>
          </a:p>
        </p:txBody>
      </p:sp>
      <p:pic>
        <p:nvPicPr>
          <p:cNvPr id="1026" name="Picture 2" descr="http://www.pcstats.com/articleimages/200402/raidarticle_whatis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036" y="2517744"/>
            <a:ext cx="2500313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9882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RAID level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1500" dirty="0"/>
              <a:t>The most used:</a:t>
            </a:r>
          </a:p>
          <a:p>
            <a:pPr lvl="1"/>
            <a:r>
              <a:rPr lang="en-US" altLang="zh-TW" sz="1350" dirty="0">
                <a:solidFill>
                  <a:srgbClr val="FF0000"/>
                </a:solidFill>
              </a:rPr>
              <a:t>RAID0</a:t>
            </a:r>
          </a:p>
          <a:p>
            <a:pPr lvl="2"/>
            <a:r>
              <a:rPr lang="en-US" altLang="zh-TW" sz="1200" dirty="0">
                <a:solidFill>
                  <a:srgbClr val="FF0000"/>
                </a:solidFill>
              </a:rPr>
              <a:t>block-level striping without parity or mirroring</a:t>
            </a:r>
          </a:p>
          <a:p>
            <a:pPr lvl="1"/>
            <a:r>
              <a:rPr lang="en-US" altLang="zh-TW" sz="1350" dirty="0">
                <a:solidFill>
                  <a:srgbClr val="FF0000"/>
                </a:solidFill>
              </a:rPr>
              <a:t>RAID1</a:t>
            </a:r>
          </a:p>
          <a:p>
            <a:pPr lvl="2"/>
            <a:r>
              <a:rPr lang="en-US" altLang="zh-TW" sz="1200" dirty="0">
                <a:solidFill>
                  <a:srgbClr val="FF0000"/>
                </a:solidFill>
              </a:rPr>
              <a:t>mirroring without parity or striping</a:t>
            </a:r>
          </a:p>
          <a:p>
            <a:pPr lvl="1"/>
            <a:r>
              <a:rPr lang="en-US" altLang="zh-TW" sz="1350" dirty="0">
                <a:solidFill>
                  <a:srgbClr val="FF0000"/>
                </a:solidFill>
              </a:rPr>
              <a:t>RAID1+0</a:t>
            </a:r>
          </a:p>
          <a:p>
            <a:pPr lvl="2"/>
            <a:r>
              <a:rPr lang="en-US" altLang="zh-TW" sz="1200" dirty="0">
                <a:solidFill>
                  <a:srgbClr val="FF0000"/>
                </a:solidFill>
              </a:rPr>
              <a:t>referred to as RAID 1+0, mirroring and striping</a:t>
            </a:r>
          </a:p>
          <a:p>
            <a:pPr lvl="1"/>
            <a:r>
              <a:rPr lang="en-US" altLang="zh-TW" sz="1350" dirty="0"/>
              <a:t>RAID2</a:t>
            </a:r>
          </a:p>
          <a:p>
            <a:pPr lvl="1"/>
            <a:r>
              <a:rPr lang="en-US" altLang="zh-TW" sz="1350" dirty="0"/>
              <a:t>RAID3</a:t>
            </a:r>
          </a:p>
          <a:p>
            <a:pPr lvl="1"/>
            <a:r>
              <a:rPr lang="en-US" altLang="zh-TW" sz="1350" dirty="0"/>
              <a:t>RAID4</a:t>
            </a:r>
          </a:p>
          <a:p>
            <a:pPr lvl="1"/>
            <a:r>
              <a:rPr lang="en-US" altLang="zh-TW" sz="1350" dirty="0">
                <a:solidFill>
                  <a:srgbClr val="FF0000"/>
                </a:solidFill>
              </a:rPr>
              <a:t>RAID5</a:t>
            </a:r>
          </a:p>
          <a:p>
            <a:pPr lvl="2"/>
            <a:r>
              <a:rPr lang="en-US" altLang="zh-TW" sz="1200" dirty="0">
                <a:solidFill>
                  <a:srgbClr val="FF0000"/>
                </a:solidFill>
              </a:rPr>
              <a:t>block-level striping with distributed parity</a:t>
            </a:r>
          </a:p>
          <a:p>
            <a:pPr lvl="1"/>
            <a:r>
              <a:rPr lang="en-US" altLang="zh-TW" sz="1350" dirty="0">
                <a:solidFill>
                  <a:srgbClr val="FF0000"/>
                </a:solidFill>
              </a:rPr>
              <a:t>RAID5+0</a:t>
            </a:r>
          </a:p>
          <a:p>
            <a:pPr lvl="2"/>
            <a:r>
              <a:rPr lang="en-US" altLang="zh-TW" sz="1200" dirty="0">
                <a:solidFill>
                  <a:srgbClr val="FF0000"/>
                </a:solidFill>
              </a:rPr>
              <a:t>referred to as RAID 5+0, distributed parity and striping</a:t>
            </a:r>
          </a:p>
          <a:p>
            <a:pPr lvl="1"/>
            <a:r>
              <a:rPr lang="en-US" altLang="zh-TW" sz="1350" dirty="0"/>
              <a:t>RAID6</a:t>
            </a:r>
          </a:p>
        </p:txBody>
      </p:sp>
      <p:pic>
        <p:nvPicPr>
          <p:cNvPr id="2050" name="Picture 2" descr="http://freeuseful.info/assets/images/rai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894" y="3273828"/>
            <a:ext cx="1346448" cy="134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3966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RAID 0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85646" y="1200151"/>
            <a:ext cx="3780420" cy="2451720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b="1" dirty="0"/>
              <a:t>RAID 0</a:t>
            </a:r>
            <a:r>
              <a:rPr lang="en-US" altLang="zh-TW" dirty="0"/>
              <a:t>: Block-level striping without parity or mirroring</a:t>
            </a:r>
          </a:p>
          <a:p>
            <a:pPr lvl="1"/>
            <a:r>
              <a:rPr lang="en-US" altLang="zh-TW" dirty="0"/>
              <a:t>It has no (or zero) redundancy. </a:t>
            </a:r>
          </a:p>
          <a:p>
            <a:pPr lvl="1"/>
            <a:r>
              <a:rPr lang="en-US" altLang="zh-TW" dirty="0"/>
              <a:t>It provides improved performance and additional storage </a:t>
            </a:r>
          </a:p>
          <a:p>
            <a:pPr lvl="1"/>
            <a:r>
              <a:rPr lang="en-US" altLang="zh-TW" dirty="0"/>
              <a:t>It has no fault tolerance.  Any drive failure destroys the array, and the likelihood of failure increases with more drives in the array. </a:t>
            </a:r>
          </a:p>
        </p:txBody>
      </p:sp>
      <p:pic>
        <p:nvPicPr>
          <p:cNvPr id="3074" name="Picture 2" descr="RAID0の概要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090" y="1221600"/>
            <a:ext cx="2268252" cy="34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113838" y="4677984"/>
            <a:ext cx="45365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figure from: </a:t>
            </a:r>
            <a:r>
              <a:rPr lang="en-US" altLang="zh-TW" sz="1350" b="1" dirty="0">
                <a:hlinkClick r:id="rId3"/>
              </a:rPr>
              <a:t>http://storage-system.fujitsu.com/jp/term/raid/</a:t>
            </a:r>
            <a:endParaRPr lang="en-US" altLang="zh-TW" sz="1350" b="1" dirty="0"/>
          </a:p>
        </p:txBody>
      </p:sp>
    </p:spTree>
    <p:extLst>
      <p:ext uri="{BB962C8B-B14F-4D97-AF65-F5344CB8AC3E}">
        <p14:creationId xmlns:p14="http://schemas.microsoft.com/office/powerpoint/2010/main" val="15052302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RAID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77634" y="1200150"/>
            <a:ext cx="3950196" cy="36938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sz="2175" b="1" dirty="0"/>
              <a:t>RAID 1</a:t>
            </a:r>
            <a:r>
              <a:rPr lang="en-US" altLang="zh-TW" sz="2175" dirty="0"/>
              <a:t>: Mirroring without parity or striping</a:t>
            </a:r>
          </a:p>
          <a:p>
            <a:pPr lvl="1"/>
            <a:r>
              <a:rPr lang="en-US" altLang="zh-TW" sz="1725" dirty="0"/>
              <a:t>Data is written identically to two drives, thereby producing a "mirrored set"; </a:t>
            </a:r>
          </a:p>
          <a:p>
            <a:pPr lvl="1"/>
            <a:r>
              <a:rPr lang="en-US" altLang="zh-TW" sz="1725" dirty="0"/>
              <a:t>A read request is serviced by one of the two drives containing with least seek time plus rotational latency. </a:t>
            </a:r>
          </a:p>
          <a:p>
            <a:pPr lvl="1"/>
            <a:r>
              <a:rPr lang="en-US" altLang="zh-TW" sz="1725" dirty="0"/>
              <a:t>A write request updates the stripes of both drives. The write performance depends on the slower of the two. </a:t>
            </a:r>
          </a:p>
          <a:p>
            <a:pPr lvl="1"/>
            <a:r>
              <a:rPr lang="en-US" altLang="zh-TW" sz="1725" dirty="0"/>
              <a:t>At least two drives are required to constitute such an array. </a:t>
            </a:r>
          </a:p>
          <a:p>
            <a:pPr lvl="1"/>
            <a:r>
              <a:rPr lang="en-US" altLang="zh-TW" sz="1725" dirty="0"/>
              <a:t>The array continues to operate as long as at least one drive is functioning.</a:t>
            </a:r>
          </a:p>
          <a:p>
            <a:r>
              <a:rPr lang="en-US" altLang="zh-TW" sz="2175" dirty="0"/>
              <a:t>Space efficiency</a:t>
            </a:r>
          </a:p>
          <a:p>
            <a:pPr lvl="1"/>
            <a:r>
              <a:rPr lang="en-US" altLang="zh-TW" dirty="0"/>
              <a:t>1 / N</a:t>
            </a:r>
          </a:p>
          <a:p>
            <a:pPr lvl="2"/>
            <a:r>
              <a:rPr lang="en-US" altLang="zh-TW" dirty="0"/>
              <a:t>N = 2</a:t>
            </a:r>
          </a:p>
          <a:p>
            <a:r>
              <a:rPr lang="en-US" altLang="zh-TW" sz="2175" dirty="0"/>
              <a:t>Fault tolerance</a:t>
            </a:r>
          </a:p>
          <a:p>
            <a:pPr lvl="1"/>
            <a:r>
              <a:rPr lang="en-US" altLang="zh-TW" dirty="0"/>
              <a:t>N – 1</a:t>
            </a:r>
          </a:p>
          <a:p>
            <a:pPr lvl="2"/>
            <a:r>
              <a:rPr lang="en-US" altLang="zh-TW" dirty="0"/>
              <a:t>N = 2</a:t>
            </a:r>
          </a:p>
        </p:txBody>
      </p:sp>
      <p:pic>
        <p:nvPicPr>
          <p:cNvPr id="4098" name="Picture 2" descr="RAID1の概要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084" y="1221600"/>
            <a:ext cx="2318287" cy="336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13838" y="4677984"/>
            <a:ext cx="45365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figure from: </a:t>
            </a:r>
            <a:r>
              <a:rPr lang="en-US" altLang="zh-TW" sz="1350" b="1" dirty="0">
                <a:hlinkClick r:id="rId3"/>
              </a:rPr>
              <a:t>http://storage-system.fujitsu.com/jp/term/raid/</a:t>
            </a:r>
            <a:endParaRPr lang="en-US" altLang="zh-TW" sz="1350" b="1" dirty="0"/>
          </a:p>
        </p:txBody>
      </p:sp>
    </p:spTree>
    <p:extLst>
      <p:ext uri="{BB962C8B-B14F-4D97-AF65-F5344CB8AC3E}">
        <p14:creationId xmlns:p14="http://schemas.microsoft.com/office/powerpoint/2010/main" val="36501626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RAID 5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3572154" cy="339447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RAID5: Block-level striping with distributed parity</a:t>
            </a:r>
          </a:p>
          <a:p>
            <a:pPr lvl="1"/>
            <a:r>
              <a:rPr lang="en-US" altLang="zh-TW" dirty="0"/>
              <a:t>distributes parity on different disk</a:t>
            </a:r>
          </a:p>
          <a:p>
            <a:pPr lvl="1"/>
            <a:r>
              <a:rPr lang="en-US" altLang="zh-TW" dirty="0"/>
              <a:t>requires at least 3 disks</a:t>
            </a:r>
          </a:p>
          <a:p>
            <a:r>
              <a:rPr lang="en-US" altLang="zh-TW" dirty="0"/>
              <a:t>Space efficiency</a:t>
            </a:r>
          </a:p>
          <a:p>
            <a:pPr lvl="1"/>
            <a:r>
              <a:rPr lang="en-US" altLang="zh-TW" dirty="0"/>
              <a:t>1 − 1/N</a:t>
            </a:r>
          </a:p>
          <a:p>
            <a:r>
              <a:rPr lang="en-US" altLang="zh-TW" dirty="0"/>
              <a:t>Fault tolerance</a:t>
            </a:r>
          </a:p>
          <a:p>
            <a:pPr lvl="1"/>
            <a:r>
              <a:rPr lang="en-US" altLang="zh-TW" dirty="0"/>
              <a:t>1</a:t>
            </a:r>
          </a:p>
        </p:txBody>
      </p:sp>
      <p:pic>
        <p:nvPicPr>
          <p:cNvPr id="5122" name="Picture 2" descr="RAID5の概要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054" y="1221600"/>
            <a:ext cx="2597641" cy="337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13838" y="4677984"/>
            <a:ext cx="45365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figure from: </a:t>
            </a:r>
            <a:r>
              <a:rPr lang="en-US" altLang="zh-TW" sz="1350" b="1" dirty="0">
                <a:hlinkClick r:id="rId3"/>
              </a:rPr>
              <a:t>http://storage-system.fujitsu.com/jp/term/raid/</a:t>
            </a:r>
            <a:endParaRPr lang="en-US" altLang="zh-TW" sz="1350" b="1" dirty="0"/>
          </a:p>
        </p:txBody>
      </p:sp>
    </p:spTree>
    <p:extLst>
      <p:ext uri="{BB962C8B-B14F-4D97-AF65-F5344CB8AC3E}">
        <p14:creationId xmlns:p14="http://schemas.microsoft.com/office/powerpoint/2010/main" val="9439988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RAID 1+0 / RAID 5+0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RAID 1+0</a:t>
            </a:r>
          </a:p>
          <a:p>
            <a:r>
              <a:rPr lang="en-US" altLang="zh-TW" dirty="0"/>
              <a:t>RAID1(mirror) + Stripe</a:t>
            </a:r>
            <a:endParaRPr lang="zh-TW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RAID 5+0</a:t>
            </a:r>
          </a:p>
          <a:p>
            <a:r>
              <a:rPr lang="en-US" altLang="zh-TW" dirty="0"/>
              <a:t>RAID5(parity) + Stripe</a:t>
            </a:r>
            <a:endParaRPr lang="zh-TW" altLang="en-US" dirty="0"/>
          </a:p>
        </p:txBody>
      </p:sp>
      <p:pic>
        <p:nvPicPr>
          <p:cNvPr id="10" name="Picture 2" descr="RAID 1+0の概要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814" y="1684139"/>
            <a:ext cx="2500313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AID5+0の概要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657" y="1631156"/>
            <a:ext cx="2469555" cy="296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/>
          <p:cNvSpPr txBox="1"/>
          <p:nvPr/>
        </p:nvSpPr>
        <p:spPr>
          <a:xfrm>
            <a:off x="3113838" y="4677984"/>
            <a:ext cx="45365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figure from: </a:t>
            </a:r>
            <a:r>
              <a:rPr lang="en-US" altLang="zh-TW" sz="1350" b="1" dirty="0">
                <a:hlinkClick r:id="rId4"/>
              </a:rPr>
              <a:t>http://storage-system.fujitsu.com/jp/term/raid/</a:t>
            </a:r>
            <a:endParaRPr lang="en-US" altLang="zh-TW" sz="1350" b="1" dirty="0"/>
          </a:p>
        </p:txBody>
      </p:sp>
    </p:spTree>
    <p:extLst>
      <p:ext uri="{BB962C8B-B14F-4D97-AF65-F5344CB8AC3E}">
        <p14:creationId xmlns:p14="http://schemas.microsoft.com/office/powerpoint/2010/main" val="14522415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RAID Level Comparison</a:t>
            </a:r>
            <a:endParaRPr lang="zh-TW" altLang="en-US" dirty="0"/>
          </a:p>
        </p:txBody>
      </p:sp>
      <p:graphicFrame>
        <p:nvGraphicFramePr>
          <p:cNvPr id="9" name="內容版面配置區 8"/>
          <p:cNvGraphicFramePr>
            <a:graphicFrameLocks noGrp="1"/>
          </p:cNvGraphicFramePr>
          <p:nvPr>
            <p:ph idx="1"/>
          </p:nvPr>
        </p:nvGraphicFramePr>
        <p:xfrm>
          <a:off x="1485900" y="1200150"/>
          <a:ext cx="6172200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RAID</a:t>
                      </a:r>
                      <a:r>
                        <a:rPr lang="en-US" altLang="zh-TW" sz="1000" baseline="0" dirty="0"/>
                        <a:t> level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Reliability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Write Performance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Space efficiency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RAID 0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×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2/2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RAID 1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◎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1/2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RAID 1+0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◎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2/4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RAID</a:t>
                      </a:r>
                      <a:r>
                        <a:rPr lang="en-US" altLang="zh-TW" sz="1000" baseline="0" dirty="0"/>
                        <a:t> 5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△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2/3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RAID 5+0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/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/>
                        <a:t>4/6</a:t>
                      </a:r>
                      <a:endParaRPr lang="zh-TW" alt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3167844" y="4677984"/>
            <a:ext cx="45365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table from: </a:t>
            </a:r>
            <a:r>
              <a:rPr lang="en-US" altLang="zh-TW" sz="1350" b="1" dirty="0">
                <a:hlinkClick r:id="rId2"/>
              </a:rPr>
              <a:t>http://storage-system.fujitsu.com/jp/term/raid/</a:t>
            </a:r>
            <a:endParaRPr lang="en-US" altLang="zh-TW" sz="1350" b="1" dirty="0"/>
          </a:p>
        </p:txBody>
      </p:sp>
    </p:spTree>
    <p:extLst>
      <p:ext uri="{BB962C8B-B14F-4D97-AF65-F5344CB8AC3E}">
        <p14:creationId xmlns:p14="http://schemas.microsoft.com/office/powerpoint/2010/main" val="15545750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28700"/>
            <a:ext cx="6172200" cy="342900"/>
          </a:xfrm>
        </p:spPr>
        <p:txBody>
          <a:bodyPr/>
          <a:lstStyle/>
          <a:p>
            <a:r>
              <a:rPr lang="en-US" dirty="0"/>
              <a:t>LVM architecture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543051"/>
            <a:ext cx="5486400" cy="3490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920444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LVM project is implemented in two components:</a:t>
            </a:r>
          </a:p>
          <a:p>
            <a:pPr lvl="1"/>
            <a:r>
              <a:rPr lang="en-US" dirty="0"/>
              <a:t>In user space</a:t>
            </a:r>
          </a:p>
          <a:p>
            <a:pPr lvl="2"/>
            <a:r>
              <a:rPr lang="en-US" dirty="0"/>
              <a:t>Some management utilities and configuration tools</a:t>
            </a:r>
            <a:br>
              <a:rPr lang="en-US" dirty="0"/>
            </a:br>
            <a:r>
              <a:rPr lang="en-US" dirty="0"/>
              <a:t>     Ex.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lvm</a:t>
            </a:r>
            <a:r>
              <a:rPr lang="en-US" dirty="0"/>
              <a:t> ,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dmsetup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dirty="0"/>
              <a:t>Programming interface with a well-designed library</a:t>
            </a:r>
            <a:br>
              <a:rPr lang="en-US" dirty="0"/>
            </a:br>
            <a:r>
              <a:rPr lang="en-US" dirty="0"/>
              <a:t>     Ex.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libdevmapper.h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/>
              <a:t>In kernel space</a:t>
            </a:r>
          </a:p>
          <a:p>
            <a:pPr lvl="2"/>
            <a:r>
              <a:rPr lang="en-US" dirty="0"/>
              <a:t>Implement device </a:t>
            </a:r>
            <a:r>
              <a:rPr lang="en-US" dirty="0" err="1"/>
              <a:t>mapper</a:t>
            </a:r>
            <a:r>
              <a:rPr lang="en-US" dirty="0"/>
              <a:t> framework</a:t>
            </a:r>
          </a:p>
          <a:p>
            <a:pPr lvl="2"/>
            <a:r>
              <a:rPr lang="en-US" dirty="0"/>
              <a:t>Provide different mapped device targets</a:t>
            </a:r>
            <a:br>
              <a:rPr lang="en-US" dirty="0"/>
            </a:br>
            <a:r>
              <a:rPr lang="en-US" dirty="0"/>
              <a:t>     Ex.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linear</a:t>
            </a:r>
            <a:r>
              <a:rPr lang="en-US" dirty="0"/>
              <a:t> ,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stripe</a:t>
            </a:r>
            <a:r>
              <a:rPr lang="en-US" dirty="0"/>
              <a:t> ,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  <a:cs typeface="Consolas" pitchFamily="49" charset="0"/>
              </a:rPr>
              <a:t>mirror</a:t>
            </a:r>
            <a:r>
              <a:rPr lang="en-US" dirty="0"/>
              <a:t> …etc.</a:t>
            </a:r>
          </a:p>
        </p:txBody>
      </p:sp>
    </p:spTree>
    <p:extLst>
      <p:ext uri="{BB962C8B-B14F-4D97-AF65-F5344CB8AC3E}">
        <p14:creationId xmlns:p14="http://schemas.microsoft.com/office/powerpoint/2010/main" val="27581205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400050"/>
          </a:xfrm>
        </p:spPr>
        <p:txBody>
          <a:bodyPr/>
          <a:lstStyle/>
          <a:p>
            <a:r>
              <a:rPr lang="en-US" dirty="0"/>
              <a:t>Tools and utilities are in user space.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2057401" y="1771650"/>
            <a:ext cx="4973903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4450" y="1657350"/>
            <a:ext cx="189495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655241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4290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err="1">
                <a:latin typeface="Consolas" pitchFamily="49" charset="0"/>
                <a:cs typeface="Consolas" pitchFamily="49" charset="0"/>
              </a:rPr>
              <a:t>lvm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/>
              <a:t>Command-line tools for LVM2. </a:t>
            </a:r>
          </a:p>
          <a:p>
            <a:pPr lvl="2"/>
            <a:r>
              <a:rPr lang="en-US" dirty="0"/>
              <a:t>logical volume ( </a:t>
            </a:r>
            <a:r>
              <a:rPr lang="en-US" b="1" dirty="0" err="1"/>
              <a:t>lv</a:t>
            </a:r>
            <a:r>
              <a:rPr lang="en-US" b="1" dirty="0"/>
              <a:t> </a:t>
            </a:r>
            <a:r>
              <a:rPr lang="en-US" dirty="0"/>
              <a:t>) operations</a:t>
            </a:r>
          </a:p>
          <a:p>
            <a:pPr lvl="2"/>
            <a:r>
              <a:rPr lang="en-US" dirty="0"/>
              <a:t>volume group ( </a:t>
            </a:r>
            <a:r>
              <a:rPr lang="en-US" b="1" dirty="0"/>
              <a:t>vg </a:t>
            </a:r>
            <a:r>
              <a:rPr lang="en-US" dirty="0"/>
              <a:t>) operations</a:t>
            </a:r>
          </a:p>
          <a:p>
            <a:pPr lvl="2"/>
            <a:r>
              <a:rPr lang="en-US" dirty="0"/>
              <a:t>physical volume ( </a:t>
            </a:r>
            <a:r>
              <a:rPr lang="en-US" b="1" dirty="0" err="1"/>
              <a:t>pv</a:t>
            </a:r>
            <a:r>
              <a:rPr lang="en-US" b="1" dirty="0"/>
              <a:t> </a:t>
            </a:r>
            <a:r>
              <a:rPr lang="en-US" dirty="0"/>
              <a:t>) operations</a:t>
            </a:r>
          </a:p>
          <a:p>
            <a:pPr lvl="1"/>
            <a:r>
              <a:rPr lang="en-US" dirty="0"/>
              <a:t>Limited controllability</a:t>
            </a:r>
          </a:p>
          <a:p>
            <a:pPr lvl="2"/>
            <a:r>
              <a:rPr lang="en-US" dirty="0"/>
              <a:t>Only can create logical volume with simple</a:t>
            </a:r>
            <a:br>
              <a:rPr lang="en-US" dirty="0"/>
            </a:br>
            <a:r>
              <a:rPr lang="en-US" dirty="0"/>
              <a:t>mapping mechanisms.</a:t>
            </a:r>
          </a:p>
          <a:p>
            <a:pPr lvl="2"/>
            <a:r>
              <a:rPr lang="en-US" dirty="0"/>
              <a:t>Do not allow cross machine mappings.</a:t>
            </a:r>
            <a:br>
              <a:rPr lang="en-US" dirty="0"/>
            </a:br>
            <a:endParaRPr lang="en-US" dirty="0"/>
          </a:p>
          <a:p>
            <a:r>
              <a:rPr lang="en-US" b="1" dirty="0" err="1">
                <a:latin typeface="Consolas" pitchFamily="49" charset="0"/>
                <a:cs typeface="Consolas" pitchFamily="49" charset="0"/>
              </a:rPr>
              <a:t>dmsetup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/>
              <a:t>Limitations</a:t>
            </a:r>
          </a:p>
          <a:p>
            <a:pPr lvl="2"/>
            <a:r>
              <a:rPr lang="en-US" dirty="0"/>
              <a:t>Still cannot provide cross machine mappings.</a:t>
            </a:r>
          </a:p>
        </p:txBody>
      </p:sp>
    </p:spTree>
    <p:extLst>
      <p:ext uri="{BB962C8B-B14F-4D97-AF65-F5344CB8AC3E}">
        <p14:creationId xmlns:p14="http://schemas.microsoft.com/office/powerpoint/2010/main" val="23522075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85850"/>
            <a:ext cx="6172200" cy="1257300"/>
          </a:xfrm>
        </p:spPr>
        <p:txBody>
          <a:bodyPr/>
          <a:lstStyle/>
          <a:p>
            <a:r>
              <a:rPr lang="en-US" b="1" dirty="0" err="1">
                <a:latin typeface="Consolas" pitchFamily="49" charset="0"/>
                <a:cs typeface="Consolas" pitchFamily="49" charset="0"/>
              </a:rPr>
              <a:t>dmsetup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en-US" dirty="0"/>
              <a:t>low level logical volume management</a:t>
            </a:r>
          </a:p>
          <a:p>
            <a:pPr lvl="2"/>
            <a:r>
              <a:rPr lang="en-US" dirty="0"/>
              <a:t>Operate create, delete, suspend and resume …etc</a:t>
            </a:r>
          </a:p>
          <a:p>
            <a:pPr lvl="2"/>
            <a:r>
              <a:rPr lang="en-US" dirty="0"/>
              <a:t>Work with mapping table file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2081" y="2228850"/>
            <a:ext cx="443984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124966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200151"/>
            <a:ext cx="5657850" cy="628650"/>
          </a:xfrm>
        </p:spPr>
        <p:txBody>
          <a:bodyPr/>
          <a:lstStyle/>
          <a:p>
            <a:r>
              <a:rPr lang="en-US" dirty="0"/>
              <a:t>File system will build upon device </a:t>
            </a:r>
            <a:r>
              <a:rPr lang="en-US" dirty="0" err="1"/>
              <a:t>mapper</a:t>
            </a:r>
            <a:r>
              <a:rPr lang="en-US" dirty="0"/>
              <a:t> framework by means of system calls.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2057400" y="1943100"/>
            <a:ext cx="485048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498" y="2000250"/>
            <a:ext cx="1969082" cy="1303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211119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system in operating system will invoke a set of block device system calls.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 l="18576" r="1655"/>
          <a:stretch>
            <a:fillRect/>
          </a:stretch>
        </p:blipFill>
        <p:spPr bwMode="auto">
          <a:xfrm>
            <a:off x="2504982" y="1943100"/>
            <a:ext cx="4171950" cy="2971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Oval 5"/>
          <p:cNvSpPr/>
          <p:nvPr/>
        </p:nvSpPr>
        <p:spPr>
          <a:xfrm>
            <a:off x="4741901" y="2571750"/>
            <a:ext cx="120015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/>
          <p:cNvSpPr txBox="1"/>
          <p:nvPr/>
        </p:nvSpPr>
        <p:spPr>
          <a:xfrm>
            <a:off x="4918373" y="2057401"/>
            <a:ext cx="236795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i="1" dirty="0">
                <a:solidFill>
                  <a:srgbClr val="C00000"/>
                </a:solidFill>
              </a:rPr>
              <a:t>Device </a:t>
            </a:r>
            <a:r>
              <a:rPr lang="en-US" sz="1350" b="1" i="1" dirty="0" err="1">
                <a:solidFill>
                  <a:srgbClr val="C00000"/>
                </a:solidFill>
              </a:rPr>
              <a:t>Mapper</a:t>
            </a:r>
            <a:r>
              <a:rPr lang="en-US" sz="1350" b="1" i="1" dirty="0">
                <a:solidFill>
                  <a:srgbClr val="C00000"/>
                </a:solidFill>
              </a:rPr>
              <a:t> framework</a:t>
            </a:r>
            <a:br>
              <a:rPr lang="en-US" sz="1350" b="1" i="1" dirty="0">
                <a:solidFill>
                  <a:srgbClr val="C00000"/>
                </a:solidFill>
              </a:rPr>
            </a:br>
            <a:r>
              <a:rPr lang="en-US" sz="1350" b="1" i="1" dirty="0">
                <a:solidFill>
                  <a:srgbClr val="C00000"/>
                </a:solidFill>
              </a:rPr>
              <a:t>reload operation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115346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system can be also implemented in the user space only.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 t="4313" b="5121"/>
          <a:stretch>
            <a:fillRect/>
          </a:stretch>
        </p:blipFill>
        <p:spPr bwMode="auto">
          <a:xfrm>
            <a:off x="2428875" y="1828800"/>
            <a:ext cx="4286250" cy="29391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86673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 </a:t>
            </a:r>
            <a:r>
              <a:rPr lang="en-US" dirty="0" err="1"/>
              <a:t>mapper</a:t>
            </a:r>
            <a:r>
              <a:rPr lang="en-US" dirty="0"/>
              <a:t> framework implements a Linux kernel driver for different mappings.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998561"/>
            <a:ext cx="4114800" cy="2030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2057400" y="1855562"/>
            <a:ext cx="5006340" cy="1346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567348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Device </a:t>
            </a:r>
            <a:r>
              <a:rPr lang="en-US" dirty="0" err="1"/>
              <a:t>mapper</a:t>
            </a:r>
            <a:r>
              <a:rPr lang="en-US" dirty="0"/>
              <a:t> framework defines a set of target device mapping interfaces.</a:t>
            </a:r>
          </a:p>
          <a:p>
            <a:pPr lvl="1"/>
            <a:r>
              <a:rPr lang="en-US" b="1" dirty="0" err="1">
                <a:latin typeface="Consolas" pitchFamily="49" charset="0"/>
                <a:cs typeface="Consolas" pitchFamily="49" charset="0"/>
              </a:rPr>
              <a:t>dm_ctr_fn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>
                <a:latin typeface="Consolas" pitchFamily="49" charset="0"/>
                <a:cs typeface="Consolas" pitchFamily="49" charset="0"/>
              </a:rPr>
              <a:t>ctr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dirty="0"/>
              <a:t>Initiator of each newly created mapped device</a:t>
            </a:r>
          </a:p>
          <a:p>
            <a:pPr lvl="1"/>
            <a:r>
              <a:rPr lang="en-US" b="1" dirty="0" err="1">
                <a:latin typeface="Consolas" pitchFamily="49" charset="0"/>
                <a:cs typeface="Consolas" pitchFamily="49" charset="0"/>
              </a:rPr>
              <a:t>dm_dtr_fn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>
                <a:latin typeface="Consolas" pitchFamily="49" charset="0"/>
                <a:cs typeface="Consolas" pitchFamily="49" charset="0"/>
              </a:rPr>
              <a:t>dtr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dirty="0"/>
              <a:t>Destructor of each removing mapped device</a:t>
            </a:r>
          </a:p>
          <a:p>
            <a:pPr lvl="1"/>
            <a:r>
              <a:rPr lang="en-US" b="1" dirty="0" err="1">
                <a:latin typeface="Consolas" pitchFamily="49" charset="0"/>
                <a:cs typeface="Consolas" pitchFamily="49" charset="0"/>
              </a:rPr>
              <a:t>dm_map_fn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map</a:t>
            </a:r>
          </a:p>
          <a:p>
            <a:pPr lvl="2"/>
            <a:r>
              <a:rPr lang="en-US" dirty="0"/>
              <a:t>Setup the mapping relations</a:t>
            </a:r>
          </a:p>
          <a:p>
            <a:pPr lvl="1"/>
            <a:r>
              <a:rPr lang="en-US" b="1" dirty="0" err="1">
                <a:latin typeface="Consolas" pitchFamily="49" charset="0"/>
                <a:cs typeface="Consolas" pitchFamily="49" charset="0"/>
              </a:rPr>
              <a:t>dm_ioctl_fn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>
                <a:latin typeface="Consolas" pitchFamily="49" charset="0"/>
                <a:cs typeface="Consolas" pitchFamily="49" charset="0"/>
              </a:rPr>
              <a:t>ioctl</a:t>
            </a:r>
            <a:endParaRPr lang="en-US" b="1" dirty="0">
              <a:latin typeface="Consolas" pitchFamily="49" charset="0"/>
              <a:cs typeface="Consolas" pitchFamily="49" charset="0"/>
            </a:endParaRPr>
          </a:p>
          <a:p>
            <a:pPr lvl="2"/>
            <a:r>
              <a:rPr lang="en-US" dirty="0"/>
              <a:t>Exactly perform system IO invocations</a:t>
            </a:r>
          </a:p>
          <a:p>
            <a:pPr lvl="1"/>
            <a:r>
              <a:rPr lang="en-US" dirty="0"/>
              <a:t>… etc.</a:t>
            </a:r>
          </a:p>
        </p:txBody>
      </p:sp>
    </p:spTree>
    <p:extLst>
      <p:ext uri="{BB962C8B-B14F-4D97-AF65-F5344CB8AC3E}">
        <p14:creationId xmlns:p14="http://schemas.microsoft.com/office/powerpoint/2010/main" val="20575258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Volume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914400"/>
            <a:ext cx="5257800" cy="1143000"/>
          </a:xfrm>
        </p:spPr>
        <p:txBody>
          <a:bodyPr/>
          <a:lstStyle/>
          <a:p>
            <a:r>
              <a:rPr lang="en-US" dirty="0"/>
              <a:t>Develop a new mapped device target and add it into device </a:t>
            </a:r>
            <a:r>
              <a:rPr lang="en-US" dirty="0" err="1"/>
              <a:t>mapper</a:t>
            </a:r>
            <a:r>
              <a:rPr lang="en-US" dirty="0"/>
              <a:t> framework.</a:t>
            </a:r>
          </a:p>
          <a:p>
            <a:pPr lvl="1"/>
            <a:r>
              <a:rPr lang="en-US" dirty="0"/>
              <a:t>Improve scalability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5469" y="2991879"/>
            <a:ext cx="4869180" cy="2076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2057400" y="1855562"/>
            <a:ext cx="5006340" cy="1346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22022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NFS architecture</a:t>
            </a:r>
            <a:endParaRPr lang="zh-TW" altLang="en-US" dirty="0"/>
          </a:p>
        </p:txBody>
      </p:sp>
      <p:pic>
        <p:nvPicPr>
          <p:cNvPr id="1026" name="Picture 2" descr="C:\Users\soem.SOEM-AT-SSLAB\Documents\nfs_concept2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2"/>
          <a:stretch/>
        </p:blipFill>
        <p:spPr bwMode="auto">
          <a:xfrm>
            <a:off x="1979712" y="1599642"/>
            <a:ext cx="5311527" cy="332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3946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What is NFS ?</a:t>
            </a:r>
          </a:p>
          <a:p>
            <a:pPr lvl="1"/>
            <a:r>
              <a:rPr lang="en-US" altLang="zh-TW" dirty="0"/>
              <a:t>NFS is a POSIX-compliant distributed file system</a:t>
            </a:r>
          </a:p>
          <a:p>
            <a:pPr lvl="2"/>
            <a:r>
              <a:rPr lang="en-US" altLang="zh-TW" dirty="0"/>
              <a:t>Work </a:t>
            </a:r>
            <a:r>
              <a:rPr lang="en-US" altLang="zh-TW" dirty="0" err="1"/>
              <a:t>distributedly</a:t>
            </a:r>
            <a:r>
              <a:rPr lang="en-US" altLang="zh-TW" dirty="0"/>
              <a:t> as server-client model</a:t>
            </a:r>
          </a:p>
          <a:p>
            <a:pPr lvl="1"/>
            <a:r>
              <a:rPr lang="en-US" altLang="zh-TW" dirty="0"/>
              <a:t>NFS builds on the </a:t>
            </a:r>
            <a:r>
              <a:rPr lang="en-US" altLang="zh-TW" i="1" dirty="0"/>
              <a:t>Remote Procedure Call </a:t>
            </a:r>
            <a:r>
              <a:rPr lang="en-US" altLang="zh-TW" dirty="0"/>
              <a:t>(RPC) system.</a:t>
            </a:r>
          </a:p>
          <a:p>
            <a:pPr lvl="1"/>
            <a:r>
              <a:rPr lang="en-US" altLang="zh-TW" dirty="0"/>
              <a:t>The Network File System is an open standard defined in RFCs.</a:t>
            </a:r>
          </a:p>
          <a:p>
            <a:r>
              <a:rPr lang="en-US" altLang="zh-TW" dirty="0"/>
              <a:t>Some features :</a:t>
            </a:r>
          </a:p>
          <a:p>
            <a:pPr lvl="1"/>
            <a:r>
              <a:rPr lang="en-US" altLang="zh-TW" dirty="0"/>
              <a:t>Shared POSIX file system</a:t>
            </a:r>
          </a:p>
          <a:p>
            <a:pPr lvl="1"/>
            <a:r>
              <a:rPr lang="en-US" altLang="zh-TW" dirty="0"/>
              <a:t>Common module in </a:t>
            </a:r>
            <a:r>
              <a:rPr lang="en-US" altLang="zh-TW" dirty="0" err="1"/>
              <a:t>linux</a:t>
            </a:r>
            <a:r>
              <a:rPr lang="en-US" altLang="zh-TW" dirty="0"/>
              <a:t> kernel</a:t>
            </a:r>
          </a:p>
          <a:p>
            <a:pPr lvl="1"/>
            <a:r>
              <a:rPr lang="en-US" altLang="zh-TW" dirty="0"/>
              <a:t>well performance</a:t>
            </a:r>
          </a:p>
        </p:txBody>
      </p:sp>
    </p:spTree>
    <p:extLst>
      <p:ext uri="{BB962C8B-B14F-4D97-AF65-F5344CB8AC3E}">
        <p14:creationId xmlns:p14="http://schemas.microsoft.com/office/powerpoint/2010/main" val="20848026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Dynamic Port and its handle</a:t>
            </a:r>
          </a:p>
          <a:p>
            <a:pPr lvl="1"/>
            <a:r>
              <a:rPr lang="en-US" altLang="zh-TW" dirty="0"/>
              <a:t>In NFSv3, service listens on random </a:t>
            </a:r>
            <a:r>
              <a:rPr lang="en-US" altLang="zh-TW" dirty="0" err="1"/>
              <a:t>tcp</a:t>
            </a:r>
            <a:r>
              <a:rPr lang="en-US" altLang="zh-TW" dirty="0"/>
              <a:t> port.</a:t>
            </a:r>
          </a:p>
          <a:p>
            <a:pPr lvl="1"/>
            <a:r>
              <a:rPr lang="en-US" altLang="zh-TW" dirty="0"/>
              <a:t>NFS use RPC(Remote Procedure Call) to get the port of service.</a:t>
            </a:r>
            <a:endParaRPr lang="zh-TW" altLang="en-US" dirty="0"/>
          </a:p>
        </p:txBody>
      </p:sp>
      <p:pic>
        <p:nvPicPr>
          <p:cNvPr id="3074" name="Picture 2" descr="http://www.opsers.org/wp-content/uploads/2010/02/xn__2_jf0b415f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766" y="2091369"/>
            <a:ext cx="5172075" cy="296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0930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File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Consistency and concurrency in NFS</a:t>
            </a:r>
          </a:p>
          <a:p>
            <a:pPr lvl="1"/>
            <a:r>
              <a:rPr lang="en-US" altLang="zh-TW" dirty="0" err="1"/>
              <a:t>Lockd</a:t>
            </a:r>
            <a:r>
              <a:rPr lang="en-US" altLang="zh-TW" dirty="0"/>
              <a:t> offers a write lock to handle concurrent update.</a:t>
            </a:r>
          </a:p>
          <a:p>
            <a:pPr lvl="1"/>
            <a:r>
              <a:rPr lang="en-US" altLang="zh-TW" dirty="0" err="1"/>
              <a:t>Statd</a:t>
            </a:r>
            <a:r>
              <a:rPr lang="en-US" altLang="zh-TW" dirty="0"/>
              <a:t> handles the consistency between server and clients.</a:t>
            </a:r>
          </a:p>
          <a:p>
            <a:pPr lvl="1"/>
            <a:endParaRPr lang="zh-TW" altLang="en-US" dirty="0"/>
          </a:p>
        </p:txBody>
      </p:sp>
      <p:pic>
        <p:nvPicPr>
          <p:cNvPr id="2050" name="Picture 2" descr="http://www.cs.tsukuba.ac.jp/~yas/sie/csys-2009/2010-01-08/images/rpc-lockd-stat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893" y="2235330"/>
            <a:ext cx="4047920" cy="239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9315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Storage Virtualization</a:t>
            </a:r>
            <a:br>
              <a:rPr lang="en-US" altLang="zh-TW" dirty="0"/>
            </a:br>
            <a:r>
              <a:rPr lang="en-US" altLang="zh-TW" sz="1800" dirty="0">
                <a:solidFill>
                  <a:schemeClr val="tx1">
                    <a:tint val="75000"/>
                  </a:schemeClr>
                </a:solidFill>
              </a:rPr>
              <a:t>in distributed system</a:t>
            </a:r>
            <a:endParaRPr lang="zh-TW" altLang="en-US" sz="1800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>
          <a:xfrm>
            <a:off x="1684735" y="1113588"/>
            <a:ext cx="5829300" cy="2191588"/>
          </a:xfrm>
        </p:spPr>
        <p:txBody>
          <a:bodyPr>
            <a:normAutofit fontScale="92500" lnSpcReduction="20000"/>
          </a:bodyPr>
          <a:lstStyle/>
          <a:p>
            <a:pPr marL="257175" indent="-257175"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tx1">
                    <a:tint val="75000"/>
                  </a:schemeClr>
                </a:solidFill>
              </a:rPr>
              <a:t>Case-study, virtualization in distributed system</a:t>
            </a:r>
          </a:p>
          <a:p>
            <a:pPr marL="600075" lvl="1" indent="-257175">
              <a:buFont typeface="Arial" pitchFamily="34" charset="0"/>
              <a:buChar char="•"/>
            </a:pPr>
            <a:r>
              <a:rPr lang="en-US" altLang="zh-TW" sz="1800" dirty="0"/>
              <a:t>Block-based</a:t>
            </a:r>
            <a:endParaRPr lang="en-US" altLang="zh-TW" sz="1800" dirty="0">
              <a:solidFill>
                <a:schemeClr val="tx1">
                  <a:tint val="75000"/>
                </a:schemeClr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 err="1">
                <a:solidFill>
                  <a:srgbClr val="FF0000"/>
                </a:solidFill>
              </a:rPr>
              <a:t>VastSky</a:t>
            </a:r>
            <a:endParaRPr lang="en-US" altLang="zh-TW" sz="1650" dirty="0">
              <a:solidFill>
                <a:srgbClr val="FF0000"/>
              </a:solidFill>
            </a:endParaRPr>
          </a:p>
          <a:p>
            <a:pPr marL="600075" lvl="1" indent="-257175">
              <a:buFont typeface="Arial" pitchFamily="34" charset="0"/>
              <a:buChar char="•"/>
            </a:pPr>
            <a:r>
              <a:rPr lang="en-US" altLang="zh-TW" sz="1800" dirty="0"/>
              <a:t>File-based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 err="1">
                <a:solidFill>
                  <a:srgbClr val="FF0000"/>
                </a:solidFill>
              </a:rPr>
              <a:t>Lustre</a:t>
            </a:r>
            <a:endParaRPr lang="en-US" altLang="zh-TW" sz="1650" dirty="0">
              <a:solidFill>
                <a:srgbClr val="FF0000"/>
              </a:solidFill>
            </a:endParaRPr>
          </a:p>
          <a:p>
            <a:pPr marL="600075" lvl="1" indent="-257175">
              <a:buFont typeface="Arial" pitchFamily="34" charset="0"/>
              <a:buChar char="•"/>
            </a:pPr>
            <a:r>
              <a:rPr lang="en-US" altLang="zh-TW" sz="1800" dirty="0"/>
              <a:t>Object-based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 err="1">
                <a:solidFill>
                  <a:srgbClr val="FF0000"/>
                </a:solidFill>
              </a:rPr>
              <a:t>Ceph</a:t>
            </a:r>
            <a:endParaRPr lang="en-US" altLang="zh-TW" sz="1650" dirty="0">
              <a:solidFill>
                <a:srgbClr val="FF0000"/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>
                <a:solidFill>
                  <a:srgbClr val="FF0000"/>
                </a:solidFill>
              </a:rPr>
              <a:t>HDFS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VastSky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500" b="1" dirty="0"/>
              <a:t>Overview</a:t>
            </a:r>
          </a:p>
          <a:p>
            <a:pPr lvl="1"/>
            <a:r>
              <a:rPr lang="en-US" altLang="zh-TW" sz="1350" dirty="0" err="1"/>
              <a:t>VastSky</a:t>
            </a:r>
            <a:r>
              <a:rPr lang="en-US" altLang="zh-TW" sz="1350" dirty="0"/>
              <a:t> is a </a:t>
            </a:r>
            <a:r>
              <a:rPr lang="en-US" altLang="zh-TW" sz="1350" dirty="0" err="1"/>
              <a:t>linux</a:t>
            </a:r>
            <a:r>
              <a:rPr lang="en-US" altLang="zh-TW" sz="1350" dirty="0"/>
              <a:t>-based cluster storage system, which provides logical volumes to users by aggregating disks over a network.</a:t>
            </a:r>
          </a:p>
          <a:p>
            <a:r>
              <a:rPr lang="en-US" altLang="zh-TW" sz="1500" b="1" dirty="0"/>
              <a:t>Three kinds of servers</a:t>
            </a:r>
            <a:endParaRPr lang="en-US" altLang="zh-TW" sz="1650" b="1" dirty="0"/>
          </a:p>
          <a:p>
            <a:pPr lvl="1"/>
            <a:r>
              <a:rPr lang="en-US" altLang="zh-TW" sz="1350" b="1" dirty="0"/>
              <a:t>storage manager</a:t>
            </a:r>
          </a:p>
          <a:p>
            <a:pPr lvl="2"/>
            <a:r>
              <a:rPr lang="en-US" altLang="zh-TW" sz="1200" dirty="0"/>
              <a:t>Maintaining a database which describes physical and logical resources in a system.</a:t>
            </a:r>
          </a:p>
          <a:p>
            <a:pPr lvl="2"/>
            <a:r>
              <a:rPr lang="en-US" altLang="zh-TW" sz="1200" dirty="0"/>
              <a:t>e.g. create and attach logical volumes.</a:t>
            </a:r>
            <a:endParaRPr lang="en-US" altLang="zh-TW" sz="1200" b="1" dirty="0"/>
          </a:p>
          <a:p>
            <a:pPr lvl="1"/>
            <a:r>
              <a:rPr lang="en-US" altLang="zh-TW" sz="1350" b="1" dirty="0"/>
              <a:t>head servers</a:t>
            </a:r>
          </a:p>
          <a:p>
            <a:pPr lvl="2"/>
            <a:r>
              <a:rPr lang="en-US" altLang="zh-TW" sz="1200" dirty="0"/>
              <a:t> Running user applications or virtual machines which actually use </a:t>
            </a:r>
            <a:r>
              <a:rPr lang="en-US" altLang="zh-TW" sz="1200" dirty="0" err="1"/>
              <a:t>VastSky</a:t>
            </a:r>
            <a:r>
              <a:rPr lang="en-US" altLang="zh-TW" sz="1200" dirty="0"/>
              <a:t> logical volumes.</a:t>
            </a:r>
            <a:endParaRPr lang="en-US" altLang="zh-TW" sz="1200" b="1" dirty="0"/>
          </a:p>
          <a:p>
            <a:pPr lvl="1"/>
            <a:r>
              <a:rPr lang="en-US" altLang="zh-TW" sz="1350" b="1" dirty="0"/>
              <a:t>storage servers</a:t>
            </a:r>
          </a:p>
          <a:p>
            <a:pPr lvl="2"/>
            <a:r>
              <a:rPr lang="en-US" altLang="zh-TW" sz="1200" dirty="0"/>
              <a:t>Storage servers have physical disks which are used to store user data.</a:t>
            </a:r>
          </a:p>
          <a:p>
            <a:pPr lvl="2"/>
            <a:r>
              <a:rPr lang="en-US" altLang="zh-TW" sz="1200" dirty="0"/>
              <a:t>They are exported over the network and used to provide logical volumes on head servers. (</a:t>
            </a:r>
            <a:r>
              <a:rPr lang="en-US" altLang="zh-TW" sz="1200" dirty="0" err="1"/>
              <a:t>iSCSI</a:t>
            </a:r>
            <a:r>
              <a:rPr lang="en-US" altLang="zh-TW" sz="1200" dirty="0"/>
              <a:t>)</a:t>
            </a:r>
          </a:p>
          <a:p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0319007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圓角矩形 60"/>
          <p:cNvSpPr/>
          <p:nvPr/>
        </p:nvSpPr>
        <p:spPr>
          <a:xfrm>
            <a:off x="1871700" y="3165816"/>
            <a:ext cx="3942438" cy="18362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>
              <a:solidFill>
                <a:schemeClr val="tx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VastSky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6172200" cy="399492"/>
          </a:xfrm>
        </p:spPr>
        <p:txBody>
          <a:bodyPr/>
          <a:lstStyle/>
          <a:p>
            <a:r>
              <a:rPr lang="en-US" altLang="zh-TW" b="1" dirty="0" err="1"/>
              <a:t>VastSky</a:t>
            </a:r>
            <a:r>
              <a:rPr lang="en-US" altLang="zh-TW" b="1" dirty="0"/>
              <a:t> Architecture</a:t>
            </a:r>
            <a:endParaRPr lang="zh-TW" altLang="en-US" b="1" dirty="0"/>
          </a:p>
        </p:txBody>
      </p:sp>
      <p:sp>
        <p:nvSpPr>
          <p:cNvPr id="26" name="矩形 25"/>
          <p:cNvSpPr/>
          <p:nvPr/>
        </p:nvSpPr>
        <p:spPr>
          <a:xfrm>
            <a:off x="6786246" y="2085696"/>
            <a:ext cx="972108" cy="540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>
                <a:solidFill>
                  <a:schemeClr val="tx1"/>
                </a:solidFill>
              </a:rPr>
              <a:t>Storage </a:t>
            </a:r>
          </a:p>
          <a:p>
            <a:pPr algn="ctr"/>
            <a:r>
              <a:rPr lang="en-US" altLang="zh-TW" sz="1350" dirty="0">
                <a:solidFill>
                  <a:schemeClr val="tx1"/>
                </a:solidFill>
              </a:rPr>
              <a:t>Manager</a:t>
            </a:r>
            <a:endParaRPr lang="zh-TW" altLang="en-US" sz="1350" dirty="0">
              <a:solidFill>
                <a:schemeClr val="tx1"/>
              </a:solidFill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17994" y="1653648"/>
            <a:ext cx="1024764" cy="111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29862" y="1653648"/>
            <a:ext cx="1024764" cy="111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1730" y="1653648"/>
            <a:ext cx="1024764" cy="111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9742" y="3219822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4191930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3219822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9922" y="3219822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0012" y="3219822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4191930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9922" y="4191930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0012" y="4191930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" name="文字方塊 68"/>
          <p:cNvSpPr txBox="1"/>
          <p:nvPr/>
        </p:nvSpPr>
        <p:spPr>
          <a:xfrm>
            <a:off x="3329862" y="3921900"/>
            <a:ext cx="11849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 Pool</a:t>
            </a:r>
            <a:endParaRPr lang="zh-TW" altLang="en-US" sz="1350" dirty="0"/>
          </a:p>
        </p:txBody>
      </p:sp>
      <p:sp>
        <p:nvSpPr>
          <p:cNvPr id="70" name="向右箭號 69"/>
          <p:cNvSpPr/>
          <p:nvPr/>
        </p:nvSpPr>
        <p:spPr>
          <a:xfrm>
            <a:off x="5544108" y="2139702"/>
            <a:ext cx="1188132" cy="37804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scene3d>
            <a:camera prst="orthographicFront">
              <a:rot lat="0" lon="10799999" rev="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en-US" altLang="zh-TW" sz="1350" dirty="0"/>
              <a:t>XML-RPC</a:t>
            </a:r>
            <a:endParaRPr lang="zh-TW" altLang="en-US" sz="1350" dirty="0"/>
          </a:p>
        </p:txBody>
      </p:sp>
      <p:sp>
        <p:nvSpPr>
          <p:cNvPr id="71" name="向右箭號 70"/>
          <p:cNvSpPr/>
          <p:nvPr/>
        </p:nvSpPr>
        <p:spPr>
          <a:xfrm rot="19318232">
            <a:off x="5862454" y="3150769"/>
            <a:ext cx="1659358" cy="37804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scene3d>
            <a:camera prst="orthographicFront">
              <a:rot lat="0" lon="10799999" rev="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en-US" altLang="zh-TW" sz="1350" dirty="0"/>
              <a:t>XML-RPC</a:t>
            </a:r>
            <a:endParaRPr lang="zh-TW" altLang="en-US" sz="1350" dirty="0"/>
          </a:p>
        </p:txBody>
      </p:sp>
      <p:sp>
        <p:nvSpPr>
          <p:cNvPr id="72" name="向右箭號 71"/>
          <p:cNvSpPr/>
          <p:nvPr/>
        </p:nvSpPr>
        <p:spPr>
          <a:xfrm rot="14740945">
            <a:off x="2939858" y="2775805"/>
            <a:ext cx="679531" cy="17531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scene3d>
            <a:camera prst="orthographicFront">
              <a:rot lat="0" lon="10799999" rev="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flatTx/>
          </a:bodyPr>
          <a:lstStyle/>
          <a:p>
            <a:pPr algn="ctr"/>
            <a:endParaRPr lang="zh-TW" altLang="en-US" sz="135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3491880" y="2787774"/>
            <a:ext cx="125226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 err="1"/>
              <a:t>iSCSI</a:t>
            </a:r>
            <a:r>
              <a:rPr lang="en-US" altLang="zh-TW" sz="1350" dirty="0"/>
              <a:t> request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4267136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VastSky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Logical Volume</a:t>
            </a:r>
          </a:p>
          <a:p>
            <a:pPr lvl="1"/>
            <a:r>
              <a:rPr lang="en-US" altLang="zh-TW" dirty="0"/>
              <a:t>a set of several mirrored disks </a:t>
            </a:r>
          </a:p>
          <a:p>
            <a:pPr lvl="1"/>
            <a:r>
              <a:rPr lang="en-US" altLang="zh-TW" dirty="0"/>
              <a:t>several physical disk chunks on different servers</a:t>
            </a:r>
            <a:endParaRPr lang="zh-TW" altLang="en-US" dirty="0"/>
          </a:p>
        </p:txBody>
      </p:sp>
      <p:grpSp>
        <p:nvGrpSpPr>
          <p:cNvPr id="30726" name="群組 30725"/>
          <p:cNvGrpSpPr/>
          <p:nvPr/>
        </p:nvGrpSpPr>
        <p:grpSpPr>
          <a:xfrm>
            <a:off x="1709682" y="2092145"/>
            <a:ext cx="5253603" cy="2953336"/>
            <a:chOff x="504693" y="2852936"/>
            <a:chExt cx="7004804" cy="3937780"/>
          </a:xfrm>
        </p:grpSpPr>
        <p:grpSp>
          <p:nvGrpSpPr>
            <p:cNvPr id="30721" name="群組 30720"/>
            <p:cNvGrpSpPr/>
            <p:nvPr/>
          </p:nvGrpSpPr>
          <p:grpSpPr>
            <a:xfrm>
              <a:off x="4052008" y="2852936"/>
              <a:ext cx="3457489" cy="3937780"/>
              <a:chOff x="4052008" y="2852936"/>
              <a:chExt cx="3457489" cy="3937780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052008" y="3353634"/>
                <a:ext cx="3457489" cy="3437082"/>
                <a:chOff x="4079961" y="2939397"/>
                <a:chExt cx="3457489" cy="3437082"/>
              </a:xfrm>
            </p:grpSpPr>
            <p:grpSp>
              <p:nvGrpSpPr>
                <p:cNvPr id="9" name="群組 8"/>
                <p:cNvGrpSpPr/>
                <p:nvPr/>
              </p:nvGrpSpPr>
              <p:grpSpPr>
                <a:xfrm>
                  <a:off x="4086654" y="3823489"/>
                  <a:ext cx="3450796" cy="787239"/>
                  <a:chOff x="4788024" y="2204864"/>
                  <a:chExt cx="3939825" cy="1029465"/>
                </a:xfrm>
              </p:grpSpPr>
              <p:grpSp>
                <p:nvGrpSpPr>
                  <p:cNvPr id="10" name="群組 9"/>
                  <p:cNvGrpSpPr/>
                  <p:nvPr/>
                </p:nvGrpSpPr>
                <p:grpSpPr>
                  <a:xfrm>
                    <a:off x="4788024" y="2204864"/>
                    <a:ext cx="2304256" cy="936104"/>
                    <a:chOff x="4499992" y="2276872"/>
                    <a:chExt cx="2736304" cy="1008112"/>
                  </a:xfrm>
                </p:grpSpPr>
                <p:grpSp>
                  <p:nvGrpSpPr>
                    <p:cNvPr id="12" name="群組 16"/>
                    <p:cNvGrpSpPr/>
                    <p:nvPr/>
                  </p:nvGrpSpPr>
                  <p:grpSpPr>
                    <a:xfrm>
                      <a:off x="449999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28" name="圓柱 27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29" name="圓柱 28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30" name="圓柱 29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31" name="圓柱 30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13" name="群組 17"/>
                    <p:cNvGrpSpPr/>
                    <p:nvPr/>
                  </p:nvGrpSpPr>
                  <p:grpSpPr>
                    <a:xfrm>
                      <a:off x="522007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24" name="圓柱 23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25" name="圓柱 24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26" name="圓柱 25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27" name="圓柱 26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14" name="群組 22"/>
                    <p:cNvGrpSpPr/>
                    <p:nvPr/>
                  </p:nvGrpSpPr>
                  <p:grpSpPr>
                    <a:xfrm>
                      <a:off x="594015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20" name="圓柱 19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21" name="圓柱 20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22" name="圓柱 21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23" name="圓柱 22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15" name="群組 27"/>
                    <p:cNvGrpSpPr/>
                    <p:nvPr/>
                  </p:nvGrpSpPr>
                  <p:grpSpPr>
                    <a:xfrm>
                      <a:off x="666023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16" name="圓柱 15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7" name="圓柱 16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8" name="圓柱 17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E80059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9" name="圓柱 18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</p:grpSp>
              <p:sp>
                <p:nvSpPr>
                  <p:cNvPr id="11" name="文字方塊 10"/>
                  <p:cNvSpPr txBox="1"/>
                  <p:nvPr/>
                </p:nvSpPr>
                <p:spPr>
                  <a:xfrm>
                    <a:off x="7524328" y="2348881"/>
                    <a:ext cx="1203521" cy="8854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350" dirty="0"/>
                      <a:t>Storage</a:t>
                    </a:r>
                  </a:p>
                  <a:p>
                    <a:r>
                      <a:rPr lang="en-US" altLang="zh-TW" sz="1350" dirty="0"/>
                      <a:t>Server2</a:t>
                    </a:r>
                    <a:endParaRPr lang="zh-TW" altLang="en-US" sz="1350" dirty="0"/>
                  </a:p>
                </p:txBody>
              </p:sp>
            </p:grpSp>
            <p:grpSp>
              <p:nvGrpSpPr>
                <p:cNvPr id="55" name="群組 54"/>
                <p:cNvGrpSpPr/>
                <p:nvPr/>
              </p:nvGrpSpPr>
              <p:grpSpPr>
                <a:xfrm>
                  <a:off x="4086654" y="2939397"/>
                  <a:ext cx="3450796" cy="787239"/>
                  <a:chOff x="4788024" y="2204864"/>
                  <a:chExt cx="3939825" cy="1029465"/>
                </a:xfrm>
              </p:grpSpPr>
              <p:grpSp>
                <p:nvGrpSpPr>
                  <p:cNvPr id="56" name="群組 55"/>
                  <p:cNvGrpSpPr/>
                  <p:nvPr/>
                </p:nvGrpSpPr>
                <p:grpSpPr>
                  <a:xfrm>
                    <a:off x="4788024" y="2204864"/>
                    <a:ext cx="2304256" cy="936104"/>
                    <a:chOff x="4499992" y="2276872"/>
                    <a:chExt cx="2736304" cy="1008112"/>
                  </a:xfrm>
                </p:grpSpPr>
                <p:grpSp>
                  <p:nvGrpSpPr>
                    <p:cNvPr id="58" name="群組 16"/>
                    <p:cNvGrpSpPr/>
                    <p:nvPr/>
                  </p:nvGrpSpPr>
                  <p:grpSpPr>
                    <a:xfrm>
                      <a:off x="449999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74" name="圓柱 73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75" name="圓柱 74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76" name="圓柱 75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77" name="圓柱 76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59" name="群組 17"/>
                    <p:cNvGrpSpPr/>
                    <p:nvPr/>
                  </p:nvGrpSpPr>
                  <p:grpSpPr>
                    <a:xfrm>
                      <a:off x="522007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70" name="圓柱 69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71" name="圓柱 70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72" name="圓柱 71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73" name="圓柱 72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60" name="群組 22"/>
                    <p:cNvGrpSpPr/>
                    <p:nvPr/>
                  </p:nvGrpSpPr>
                  <p:grpSpPr>
                    <a:xfrm>
                      <a:off x="594015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66" name="圓柱 65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67" name="圓柱 66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68" name="圓柱 67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69" name="圓柱 68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61" name="群組 27"/>
                    <p:cNvGrpSpPr/>
                    <p:nvPr/>
                  </p:nvGrpSpPr>
                  <p:grpSpPr>
                    <a:xfrm>
                      <a:off x="666023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62" name="圓柱 61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63" name="圓柱 62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64" name="圓柱 63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65" name="圓柱 64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</p:grpSp>
              <p:sp>
                <p:nvSpPr>
                  <p:cNvPr id="57" name="文字方塊 56"/>
                  <p:cNvSpPr txBox="1"/>
                  <p:nvPr/>
                </p:nvSpPr>
                <p:spPr>
                  <a:xfrm>
                    <a:off x="7524328" y="2348881"/>
                    <a:ext cx="1203521" cy="8854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350" dirty="0"/>
                      <a:t>Storage</a:t>
                    </a:r>
                  </a:p>
                  <a:p>
                    <a:r>
                      <a:rPr lang="en-US" altLang="zh-TW" sz="1350" dirty="0"/>
                      <a:t>Server1</a:t>
                    </a:r>
                    <a:endParaRPr lang="zh-TW" altLang="en-US" sz="1350" dirty="0"/>
                  </a:p>
                </p:txBody>
              </p:sp>
            </p:grpSp>
            <p:grpSp>
              <p:nvGrpSpPr>
                <p:cNvPr id="78" name="群組 77"/>
                <p:cNvGrpSpPr/>
                <p:nvPr/>
              </p:nvGrpSpPr>
              <p:grpSpPr>
                <a:xfrm>
                  <a:off x="4079961" y="4695285"/>
                  <a:ext cx="3450796" cy="787239"/>
                  <a:chOff x="4788024" y="2204864"/>
                  <a:chExt cx="3939825" cy="1029465"/>
                </a:xfrm>
              </p:grpSpPr>
              <p:grpSp>
                <p:nvGrpSpPr>
                  <p:cNvPr id="79" name="群組 78"/>
                  <p:cNvGrpSpPr/>
                  <p:nvPr/>
                </p:nvGrpSpPr>
                <p:grpSpPr>
                  <a:xfrm>
                    <a:off x="4788024" y="2204864"/>
                    <a:ext cx="2304256" cy="936104"/>
                    <a:chOff x="4499992" y="2276872"/>
                    <a:chExt cx="2736304" cy="1008112"/>
                  </a:xfrm>
                </p:grpSpPr>
                <p:grpSp>
                  <p:nvGrpSpPr>
                    <p:cNvPr id="81" name="群組 16"/>
                    <p:cNvGrpSpPr/>
                    <p:nvPr/>
                  </p:nvGrpSpPr>
                  <p:grpSpPr>
                    <a:xfrm>
                      <a:off x="449999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97" name="圓柱 96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98" name="圓柱 97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99" name="圓柱 98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E80059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00" name="圓柱 99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82" name="群組 17"/>
                    <p:cNvGrpSpPr/>
                    <p:nvPr/>
                  </p:nvGrpSpPr>
                  <p:grpSpPr>
                    <a:xfrm>
                      <a:off x="522007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93" name="圓柱 92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94" name="圓柱 93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95" name="圓柱 94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96" name="圓柱 95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83" name="群組 22"/>
                    <p:cNvGrpSpPr/>
                    <p:nvPr/>
                  </p:nvGrpSpPr>
                  <p:grpSpPr>
                    <a:xfrm>
                      <a:off x="594015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89" name="圓柱 88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90" name="圓柱 89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91" name="圓柱 90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92" name="圓柱 91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84" name="群組 27"/>
                    <p:cNvGrpSpPr/>
                    <p:nvPr/>
                  </p:nvGrpSpPr>
                  <p:grpSpPr>
                    <a:xfrm>
                      <a:off x="666023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85" name="圓柱 84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86" name="圓柱 85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87" name="圓柱 86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88" name="圓柱 87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</p:grpSp>
              <p:sp>
                <p:nvSpPr>
                  <p:cNvPr id="80" name="文字方塊 79"/>
                  <p:cNvSpPr txBox="1"/>
                  <p:nvPr/>
                </p:nvSpPr>
                <p:spPr>
                  <a:xfrm>
                    <a:off x="7524328" y="2348881"/>
                    <a:ext cx="1203521" cy="8854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350" dirty="0"/>
                      <a:t>Storage</a:t>
                    </a:r>
                  </a:p>
                  <a:p>
                    <a:r>
                      <a:rPr lang="en-US" altLang="zh-TW" sz="1350" dirty="0"/>
                      <a:t>Server3</a:t>
                    </a:r>
                    <a:endParaRPr lang="zh-TW" altLang="en-US" sz="1350" dirty="0"/>
                  </a:p>
                </p:txBody>
              </p:sp>
            </p:grpSp>
            <p:grpSp>
              <p:nvGrpSpPr>
                <p:cNvPr id="101" name="群組 100"/>
                <p:cNvGrpSpPr/>
                <p:nvPr/>
              </p:nvGrpSpPr>
              <p:grpSpPr>
                <a:xfrm>
                  <a:off x="4086654" y="5589240"/>
                  <a:ext cx="3450796" cy="787239"/>
                  <a:chOff x="4788024" y="2204864"/>
                  <a:chExt cx="3939825" cy="1029465"/>
                </a:xfrm>
              </p:grpSpPr>
              <p:grpSp>
                <p:nvGrpSpPr>
                  <p:cNvPr id="102" name="群組 101"/>
                  <p:cNvGrpSpPr/>
                  <p:nvPr/>
                </p:nvGrpSpPr>
                <p:grpSpPr>
                  <a:xfrm>
                    <a:off x="4788024" y="2204864"/>
                    <a:ext cx="2304256" cy="936104"/>
                    <a:chOff x="4499992" y="2276872"/>
                    <a:chExt cx="2736304" cy="1008112"/>
                  </a:xfrm>
                </p:grpSpPr>
                <p:grpSp>
                  <p:nvGrpSpPr>
                    <p:cNvPr id="104" name="群組 16"/>
                    <p:cNvGrpSpPr/>
                    <p:nvPr/>
                  </p:nvGrpSpPr>
                  <p:grpSpPr>
                    <a:xfrm>
                      <a:off x="449999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120" name="圓柱 119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21" name="圓柱 120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22" name="圓柱 121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23" name="圓柱 122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105" name="群組 17"/>
                    <p:cNvGrpSpPr/>
                    <p:nvPr/>
                  </p:nvGrpSpPr>
                  <p:grpSpPr>
                    <a:xfrm>
                      <a:off x="522007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116" name="圓柱 115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17" name="圓柱 116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18" name="圓柱 117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19" name="圓柱 118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E80059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106" name="群組 22"/>
                    <p:cNvGrpSpPr/>
                    <p:nvPr/>
                  </p:nvGrpSpPr>
                  <p:grpSpPr>
                    <a:xfrm>
                      <a:off x="594015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112" name="圓柱 111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13" name="圓柱 112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14" name="圓柱 113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15" name="圓柱 114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  <p:grpSp>
                  <p:nvGrpSpPr>
                    <p:cNvPr id="107" name="群組 27"/>
                    <p:cNvGrpSpPr/>
                    <p:nvPr/>
                  </p:nvGrpSpPr>
                  <p:grpSpPr>
                    <a:xfrm>
                      <a:off x="666023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108" name="圓柱 107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09" name="圓柱 108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10" name="圓柱 109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  <p:sp>
                    <p:nvSpPr>
                      <p:cNvPr id="111" name="圓柱 110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350"/>
                      </a:p>
                    </p:txBody>
                  </p:sp>
                </p:grpSp>
              </p:grpSp>
              <p:sp>
                <p:nvSpPr>
                  <p:cNvPr id="103" name="文字方塊 102"/>
                  <p:cNvSpPr txBox="1"/>
                  <p:nvPr/>
                </p:nvSpPr>
                <p:spPr>
                  <a:xfrm>
                    <a:off x="7524328" y="2348881"/>
                    <a:ext cx="1203521" cy="8854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350" dirty="0"/>
                      <a:t>Storage</a:t>
                    </a:r>
                  </a:p>
                  <a:p>
                    <a:r>
                      <a:rPr lang="en-US" altLang="zh-TW" sz="1350" dirty="0"/>
                      <a:t>Server4</a:t>
                    </a:r>
                    <a:endParaRPr lang="zh-TW" altLang="en-US" sz="1350" dirty="0"/>
                  </a:p>
                </p:txBody>
              </p:sp>
            </p:grpSp>
          </p:grpSp>
          <p:sp>
            <p:nvSpPr>
              <p:cNvPr id="30720" name="文字方塊 30719"/>
              <p:cNvSpPr txBox="1"/>
              <p:nvPr/>
            </p:nvSpPr>
            <p:spPr>
              <a:xfrm>
                <a:off x="4964239" y="2852936"/>
                <a:ext cx="1579920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350" dirty="0"/>
                  <a:t>Storage Pool</a:t>
                </a:r>
                <a:endParaRPr lang="zh-TW" altLang="en-US" sz="1350" dirty="0"/>
              </a:p>
            </p:txBody>
          </p:sp>
        </p:grpSp>
        <p:grpSp>
          <p:nvGrpSpPr>
            <p:cNvPr id="30723" name="群組 30722"/>
            <p:cNvGrpSpPr/>
            <p:nvPr/>
          </p:nvGrpSpPr>
          <p:grpSpPr>
            <a:xfrm>
              <a:off x="1253456" y="3347297"/>
              <a:ext cx="1810838" cy="1277058"/>
              <a:chOff x="1084207" y="2868664"/>
              <a:chExt cx="1810838" cy="1277058"/>
            </a:xfrm>
          </p:grpSpPr>
          <p:grpSp>
            <p:nvGrpSpPr>
              <p:cNvPr id="5" name="群組 4"/>
              <p:cNvGrpSpPr/>
              <p:nvPr/>
            </p:nvGrpSpPr>
            <p:grpSpPr>
              <a:xfrm>
                <a:off x="1475656" y="3353634"/>
                <a:ext cx="576064" cy="792088"/>
                <a:chOff x="2411760" y="3356992"/>
                <a:chExt cx="720080" cy="936104"/>
              </a:xfrm>
            </p:grpSpPr>
            <p:sp>
              <p:nvSpPr>
                <p:cNvPr id="6" name="圓柱 5"/>
                <p:cNvSpPr/>
                <p:nvPr/>
              </p:nvSpPr>
              <p:spPr>
                <a:xfrm>
                  <a:off x="2411760" y="3933056"/>
                  <a:ext cx="720080" cy="360040"/>
                </a:xfrm>
                <a:prstGeom prst="can">
                  <a:avLst/>
                </a:prstGeom>
                <a:solidFill>
                  <a:srgbClr val="E8005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0" dirty="0"/>
                </a:p>
              </p:txBody>
            </p:sp>
            <p:sp>
              <p:nvSpPr>
                <p:cNvPr id="7" name="圓柱 6"/>
                <p:cNvSpPr/>
                <p:nvPr/>
              </p:nvSpPr>
              <p:spPr>
                <a:xfrm>
                  <a:off x="2411760" y="3645024"/>
                  <a:ext cx="720080" cy="360040"/>
                </a:xfrm>
                <a:prstGeom prst="can">
                  <a:avLst/>
                </a:prstGeom>
                <a:solidFill>
                  <a:srgbClr val="00E6E8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8" name="圓柱 7"/>
                <p:cNvSpPr/>
                <p:nvPr/>
              </p:nvSpPr>
              <p:spPr>
                <a:xfrm>
                  <a:off x="2411760" y="3356992"/>
                  <a:ext cx="720080" cy="360040"/>
                </a:xfrm>
                <a:prstGeom prst="can">
                  <a:avLst/>
                </a:prstGeom>
                <a:solidFill>
                  <a:srgbClr val="FFE7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>
                    <a:solidFill>
                      <a:srgbClr val="FFFF99"/>
                    </a:solidFill>
                  </a:endParaRPr>
                </a:p>
              </p:txBody>
            </p:sp>
          </p:grpSp>
          <p:sp>
            <p:nvSpPr>
              <p:cNvPr id="127" name="文字方塊 126"/>
              <p:cNvSpPr txBox="1"/>
              <p:nvPr/>
            </p:nvSpPr>
            <p:spPr>
              <a:xfrm>
                <a:off x="1084207" y="2868664"/>
                <a:ext cx="181083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350" dirty="0"/>
                  <a:t>Logical Volume</a:t>
                </a:r>
                <a:endParaRPr lang="zh-TW" altLang="en-US" sz="1350" dirty="0"/>
              </a:p>
            </p:txBody>
          </p:sp>
        </p:grpSp>
        <p:sp>
          <p:nvSpPr>
            <p:cNvPr id="30725" name="文字方塊 30724"/>
            <p:cNvSpPr txBox="1"/>
            <p:nvPr/>
          </p:nvSpPr>
          <p:spPr>
            <a:xfrm>
              <a:off x="504693" y="4921562"/>
              <a:ext cx="3349635" cy="954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There are 3 mirrored disks </a:t>
              </a:r>
            </a:p>
            <a:p>
              <a:r>
                <a:rPr lang="en-US" altLang="zh-TW" sz="1350" dirty="0"/>
                <a:t>and all of them are distributed </a:t>
              </a:r>
            </a:p>
            <a:p>
              <a:r>
                <a:rPr lang="en-US" altLang="zh-TW" sz="1350" dirty="0"/>
                <a:t>in 3 different servers.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44945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VastSky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Redundancy</a:t>
            </a:r>
          </a:p>
          <a:p>
            <a:pPr lvl="1"/>
            <a:r>
              <a:rPr lang="en-US" altLang="zh-TW" dirty="0" err="1"/>
              <a:t>VastSky</a:t>
            </a:r>
            <a:r>
              <a:rPr lang="en-US" altLang="zh-TW" dirty="0"/>
              <a:t> mirrors user data to </a:t>
            </a:r>
            <a:r>
              <a:rPr lang="en-US" altLang="zh-TW" dirty="0">
                <a:solidFill>
                  <a:srgbClr val="FF0000"/>
                </a:solidFill>
              </a:rPr>
              <a:t>three storage servers </a:t>
            </a:r>
            <a:r>
              <a:rPr lang="en-US" altLang="zh-TW" dirty="0"/>
              <a:t>by default and all of them are updated synchronously.</a:t>
            </a:r>
          </a:p>
          <a:p>
            <a:pPr lvl="1"/>
            <a:r>
              <a:rPr lang="en-US" altLang="zh-TW" dirty="0" err="1"/>
              <a:t>VastSky</a:t>
            </a:r>
            <a:r>
              <a:rPr lang="en-US" altLang="zh-TW" dirty="0"/>
              <a:t> can be configured to use </a:t>
            </a:r>
            <a:r>
              <a:rPr lang="en-US" altLang="zh-TW" dirty="0">
                <a:solidFill>
                  <a:srgbClr val="FF0000"/>
                </a:solidFill>
              </a:rPr>
              <a:t>two networks </a:t>
            </a:r>
            <a:r>
              <a:rPr lang="en-US" altLang="zh-TW" dirty="0"/>
              <a:t>(e.g. two independent </a:t>
            </a:r>
            <a:r>
              <a:rPr lang="en-US" altLang="zh-TW" dirty="0" err="1"/>
              <a:t>ethernet</a:t>
            </a:r>
            <a:r>
              <a:rPr lang="en-US" altLang="zh-TW" dirty="0"/>
              <a:t> segments) for redundancy.</a:t>
            </a:r>
          </a:p>
          <a:p>
            <a:r>
              <a:rPr lang="en-US" altLang="zh-TW" b="1" dirty="0"/>
              <a:t> Fault detection</a:t>
            </a:r>
          </a:p>
          <a:p>
            <a:pPr lvl="1"/>
            <a:r>
              <a:rPr lang="en-US" altLang="zh-TW" dirty="0"/>
              <a:t>The storage manager periodically checks if each head and storage servers are responsive.</a:t>
            </a:r>
          </a:p>
          <a:p>
            <a:r>
              <a:rPr lang="en-US" altLang="zh-TW" b="1" dirty="0"/>
              <a:t> Recovery</a:t>
            </a:r>
          </a:p>
          <a:p>
            <a:pPr lvl="1"/>
            <a:r>
              <a:rPr lang="en-US" altLang="zh-TW" dirty="0"/>
              <a:t>On a failure, the storage manager attempts to reconfigure mirrors by allocating new extents from other disks automatically.</a:t>
            </a:r>
            <a:endParaRPr lang="en-US" altLang="zh-TW" b="1" dirty="0"/>
          </a:p>
          <a:p>
            <a:endParaRPr lang="en-US" altLang="zh-TW" dirty="0"/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7780479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VastSky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Recovery Mechanism</a:t>
            </a:r>
          </a:p>
          <a:p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2357754" y="2409732"/>
            <a:ext cx="432048" cy="594066"/>
            <a:chOff x="2411760" y="3356992"/>
            <a:chExt cx="720080" cy="936104"/>
          </a:xfrm>
        </p:grpSpPr>
        <p:sp>
          <p:nvSpPr>
            <p:cNvPr id="8" name="圓柱 7"/>
            <p:cNvSpPr/>
            <p:nvPr/>
          </p:nvSpPr>
          <p:spPr>
            <a:xfrm>
              <a:off x="2411760" y="3933056"/>
              <a:ext cx="720080" cy="360040"/>
            </a:xfrm>
            <a:prstGeom prst="can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data</a:t>
              </a:r>
              <a:endParaRPr lang="zh-TW" altLang="en-US" sz="1200" dirty="0"/>
            </a:p>
          </p:txBody>
        </p:sp>
        <p:sp>
          <p:nvSpPr>
            <p:cNvPr id="9" name="圓柱 8"/>
            <p:cNvSpPr/>
            <p:nvPr/>
          </p:nvSpPr>
          <p:spPr>
            <a:xfrm>
              <a:off x="2411760" y="3645024"/>
              <a:ext cx="720080" cy="360040"/>
            </a:xfrm>
            <a:prstGeom prst="can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7" name="圓柱 6"/>
            <p:cNvSpPr/>
            <p:nvPr/>
          </p:nvSpPr>
          <p:spPr>
            <a:xfrm>
              <a:off x="2411760" y="3356992"/>
              <a:ext cx="720080" cy="360040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2033718" y="2031690"/>
            <a:ext cx="135812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Logical Volume</a:t>
            </a:r>
            <a:endParaRPr lang="zh-TW" altLang="en-US" sz="1350" dirty="0"/>
          </a:p>
        </p:txBody>
      </p:sp>
      <p:grpSp>
        <p:nvGrpSpPr>
          <p:cNvPr id="34" name="群組 33"/>
          <p:cNvGrpSpPr/>
          <p:nvPr/>
        </p:nvGrpSpPr>
        <p:grpSpPr>
          <a:xfrm>
            <a:off x="4734018" y="2409732"/>
            <a:ext cx="1728192" cy="702078"/>
            <a:chOff x="4499992" y="2276872"/>
            <a:chExt cx="2736304" cy="1008112"/>
          </a:xfrm>
        </p:grpSpPr>
        <p:grpSp>
          <p:nvGrpSpPr>
            <p:cNvPr id="17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3" name="圓柱 12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4" name="圓柱 13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FFFF0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5" name="圓柱 14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6" name="圓柱 15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8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9" name="圓柱 18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0" name="圓柱 19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1" name="圓柱 20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2" name="圓柱 21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24" name="圓柱 23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5" name="圓柱 24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6" name="圓柱 25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7" name="圓柱 26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28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29" name="圓柱 28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0" name="圓柱 29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1" name="圓柱 30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rgbClr val="00B0F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2" name="圓柱 31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sp>
        <p:nvSpPr>
          <p:cNvPr id="33" name="文字方塊 32"/>
          <p:cNvSpPr txBox="1"/>
          <p:nvPr/>
        </p:nvSpPr>
        <p:spPr>
          <a:xfrm>
            <a:off x="4950042" y="1275606"/>
            <a:ext cx="11849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 Pool</a:t>
            </a:r>
            <a:endParaRPr lang="zh-TW" altLang="en-US" sz="1350" dirty="0"/>
          </a:p>
        </p:txBody>
      </p:sp>
      <p:grpSp>
        <p:nvGrpSpPr>
          <p:cNvPr id="77" name="群組 76"/>
          <p:cNvGrpSpPr/>
          <p:nvPr/>
        </p:nvGrpSpPr>
        <p:grpSpPr>
          <a:xfrm>
            <a:off x="4734018" y="3165816"/>
            <a:ext cx="1728192" cy="702078"/>
            <a:chOff x="4499992" y="2276872"/>
            <a:chExt cx="2736304" cy="1008112"/>
          </a:xfrm>
        </p:grpSpPr>
        <p:grpSp>
          <p:nvGrpSpPr>
            <p:cNvPr id="78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94" name="圓柱 93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5" name="圓柱 94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FFFF0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6" name="圓柱 95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7" name="圓柱 96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79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90" name="圓柱 89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1" name="圓柱 90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2" name="圓柱 91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3" name="圓柱 92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80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86" name="圓柱 85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7" name="圓柱 86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8" name="圓柱 87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9" name="圓柱 88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81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82" name="圓柱 81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3" name="圓柱 82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00B0F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data</a:t>
                </a:r>
                <a:endParaRPr lang="zh-TW" altLang="en-US" sz="900" dirty="0"/>
              </a:p>
            </p:txBody>
          </p:sp>
          <p:sp>
            <p:nvSpPr>
              <p:cNvPr id="84" name="圓柱 83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5" name="圓柱 84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grpSp>
        <p:nvGrpSpPr>
          <p:cNvPr id="119" name="群組 118"/>
          <p:cNvGrpSpPr/>
          <p:nvPr/>
        </p:nvGrpSpPr>
        <p:grpSpPr>
          <a:xfrm>
            <a:off x="4734018" y="3921900"/>
            <a:ext cx="1728192" cy="702078"/>
            <a:chOff x="4499992" y="2276872"/>
            <a:chExt cx="2736304" cy="1008112"/>
          </a:xfrm>
        </p:grpSpPr>
        <p:grpSp>
          <p:nvGrpSpPr>
            <p:cNvPr id="120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36" name="圓柱 135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7" name="圓柱 136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8" name="圓柱 137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9" name="圓柱 138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21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32" name="圓柱 131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3" name="圓柱 132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00B0F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4" name="圓柱 133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5" name="圓柱 134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22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28" name="圓柱 127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9" name="圓柱 128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0" name="圓柱 129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1" name="圓柱 130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23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24" name="圓柱 123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5" name="圓柱 124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6" name="圓柱 125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7" name="圓柱 126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grpSp>
        <p:nvGrpSpPr>
          <p:cNvPr id="4" name="群組 3"/>
          <p:cNvGrpSpPr/>
          <p:nvPr/>
        </p:nvGrpSpPr>
        <p:grpSpPr>
          <a:xfrm>
            <a:off x="4734019" y="1653648"/>
            <a:ext cx="2842830" cy="702078"/>
            <a:chOff x="4788024" y="2204864"/>
            <a:chExt cx="3790439" cy="936104"/>
          </a:xfrm>
        </p:grpSpPr>
        <p:grpSp>
          <p:nvGrpSpPr>
            <p:cNvPr id="98" name="群組 97"/>
            <p:cNvGrpSpPr/>
            <p:nvPr/>
          </p:nvGrpSpPr>
          <p:grpSpPr>
            <a:xfrm>
              <a:off x="4788024" y="2204864"/>
              <a:ext cx="2304256" cy="936104"/>
              <a:chOff x="4499992" y="2276872"/>
              <a:chExt cx="2736304" cy="1008112"/>
            </a:xfrm>
          </p:grpSpPr>
          <p:grpSp>
            <p:nvGrpSpPr>
              <p:cNvPr id="99" name="群組 16"/>
              <p:cNvGrpSpPr/>
              <p:nvPr/>
            </p:nvGrpSpPr>
            <p:grpSpPr>
              <a:xfrm>
                <a:off x="4499992" y="2276872"/>
                <a:ext cx="576064" cy="1008112"/>
                <a:chOff x="3779912" y="1844824"/>
                <a:chExt cx="720080" cy="1224136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15" name="圓柱 114"/>
                <p:cNvSpPr/>
                <p:nvPr/>
              </p:nvSpPr>
              <p:spPr>
                <a:xfrm>
                  <a:off x="3779912" y="2708920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6" name="圓柱 115"/>
                <p:cNvSpPr/>
                <p:nvPr/>
              </p:nvSpPr>
              <p:spPr>
                <a:xfrm>
                  <a:off x="3779912" y="2420888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7" name="圓柱 116"/>
                <p:cNvSpPr/>
                <p:nvPr/>
              </p:nvSpPr>
              <p:spPr>
                <a:xfrm>
                  <a:off x="3779912" y="2132856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8" name="圓柱 117"/>
                <p:cNvSpPr/>
                <p:nvPr/>
              </p:nvSpPr>
              <p:spPr>
                <a:xfrm>
                  <a:off x="3779912" y="1844824"/>
                  <a:ext cx="720080" cy="360040"/>
                </a:xfrm>
                <a:prstGeom prst="can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</p:grpSp>
          <p:grpSp>
            <p:nvGrpSpPr>
              <p:cNvPr id="100" name="群組 17"/>
              <p:cNvGrpSpPr/>
              <p:nvPr/>
            </p:nvGrpSpPr>
            <p:grpSpPr>
              <a:xfrm>
                <a:off x="5220072" y="2276872"/>
                <a:ext cx="576064" cy="1008112"/>
                <a:chOff x="3779912" y="1844824"/>
                <a:chExt cx="720080" cy="1224136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11" name="圓柱 110"/>
                <p:cNvSpPr/>
                <p:nvPr/>
              </p:nvSpPr>
              <p:spPr>
                <a:xfrm>
                  <a:off x="3779912" y="2708920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2" name="圓柱 111"/>
                <p:cNvSpPr/>
                <p:nvPr/>
              </p:nvSpPr>
              <p:spPr>
                <a:xfrm>
                  <a:off x="3779912" y="2420888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3" name="圓柱 112"/>
                <p:cNvSpPr/>
                <p:nvPr/>
              </p:nvSpPr>
              <p:spPr>
                <a:xfrm>
                  <a:off x="3779912" y="2132856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4" name="圓柱 113"/>
                <p:cNvSpPr/>
                <p:nvPr/>
              </p:nvSpPr>
              <p:spPr>
                <a:xfrm>
                  <a:off x="3779912" y="1844824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</p:grpSp>
          <p:grpSp>
            <p:nvGrpSpPr>
              <p:cNvPr id="101" name="群組 22"/>
              <p:cNvGrpSpPr/>
              <p:nvPr/>
            </p:nvGrpSpPr>
            <p:grpSpPr>
              <a:xfrm>
                <a:off x="5940152" y="2276872"/>
                <a:ext cx="576064" cy="1008112"/>
                <a:chOff x="3779912" y="1844824"/>
                <a:chExt cx="720080" cy="1224136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07" name="圓柱 106"/>
                <p:cNvSpPr/>
                <p:nvPr/>
              </p:nvSpPr>
              <p:spPr>
                <a:xfrm>
                  <a:off x="3779912" y="2708920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8" name="圓柱 107"/>
                <p:cNvSpPr/>
                <p:nvPr/>
              </p:nvSpPr>
              <p:spPr>
                <a:xfrm>
                  <a:off x="3779912" y="2420888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9" name="圓柱 108"/>
                <p:cNvSpPr/>
                <p:nvPr/>
              </p:nvSpPr>
              <p:spPr>
                <a:xfrm>
                  <a:off x="3779912" y="2132856"/>
                  <a:ext cx="720080" cy="360040"/>
                </a:xfrm>
                <a:prstGeom prst="can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0" name="圓柱 109"/>
                <p:cNvSpPr/>
                <p:nvPr/>
              </p:nvSpPr>
              <p:spPr>
                <a:xfrm>
                  <a:off x="3779912" y="1844824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</p:grpSp>
          <p:grpSp>
            <p:nvGrpSpPr>
              <p:cNvPr id="102" name="群組 27"/>
              <p:cNvGrpSpPr/>
              <p:nvPr/>
            </p:nvGrpSpPr>
            <p:grpSpPr>
              <a:xfrm>
                <a:off x="6660232" y="2276872"/>
                <a:ext cx="576064" cy="1008112"/>
                <a:chOff x="3779912" y="1844824"/>
                <a:chExt cx="720080" cy="1224136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03" name="圓柱 102"/>
                <p:cNvSpPr/>
                <p:nvPr/>
              </p:nvSpPr>
              <p:spPr>
                <a:xfrm>
                  <a:off x="3779912" y="2708920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4" name="圓柱 103"/>
                <p:cNvSpPr/>
                <p:nvPr/>
              </p:nvSpPr>
              <p:spPr>
                <a:xfrm>
                  <a:off x="3779912" y="2420888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5" name="圓柱 104"/>
                <p:cNvSpPr/>
                <p:nvPr/>
              </p:nvSpPr>
              <p:spPr>
                <a:xfrm>
                  <a:off x="3779912" y="2132856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6" name="圓柱 105"/>
                <p:cNvSpPr/>
                <p:nvPr/>
              </p:nvSpPr>
              <p:spPr>
                <a:xfrm>
                  <a:off x="3779912" y="1844824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</p:grpSp>
        </p:grpSp>
        <p:sp>
          <p:nvSpPr>
            <p:cNvPr id="142" name="文字方塊 141"/>
            <p:cNvSpPr txBox="1"/>
            <p:nvPr/>
          </p:nvSpPr>
          <p:spPr>
            <a:xfrm>
              <a:off x="7524328" y="2348880"/>
              <a:ext cx="1054135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Storage</a:t>
              </a:r>
            </a:p>
            <a:p>
              <a:r>
                <a:rPr lang="en-US" altLang="zh-TW" sz="1350" dirty="0"/>
                <a:t>Server1</a:t>
              </a:r>
              <a:endParaRPr lang="zh-TW" altLang="en-US" sz="1350" dirty="0"/>
            </a:p>
          </p:txBody>
        </p:sp>
      </p:grpSp>
      <p:sp>
        <p:nvSpPr>
          <p:cNvPr id="143" name="文字方塊 142"/>
          <p:cNvSpPr txBox="1"/>
          <p:nvPr/>
        </p:nvSpPr>
        <p:spPr>
          <a:xfrm>
            <a:off x="6786246" y="2517745"/>
            <a:ext cx="7906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Server2</a:t>
            </a:r>
            <a:endParaRPr lang="zh-TW" altLang="en-US" sz="135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6786246" y="3219823"/>
            <a:ext cx="7906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Server3</a:t>
            </a:r>
            <a:endParaRPr lang="zh-TW" altLang="en-US" sz="135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6786246" y="4029913"/>
            <a:ext cx="7906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Server4</a:t>
            </a:r>
            <a:endParaRPr lang="zh-TW" altLang="en-US" sz="1350" dirty="0"/>
          </a:p>
        </p:txBody>
      </p:sp>
      <p:grpSp>
        <p:nvGrpSpPr>
          <p:cNvPr id="156" name="群組 155"/>
          <p:cNvGrpSpPr/>
          <p:nvPr/>
        </p:nvGrpSpPr>
        <p:grpSpPr>
          <a:xfrm>
            <a:off x="6030163" y="3165816"/>
            <a:ext cx="607859" cy="648072"/>
            <a:chOff x="2555776" y="4869160"/>
            <a:chExt cx="810479" cy="864096"/>
          </a:xfrm>
        </p:grpSpPr>
        <p:grpSp>
          <p:nvGrpSpPr>
            <p:cNvPr id="154" name="群組 153"/>
            <p:cNvGrpSpPr/>
            <p:nvPr/>
          </p:nvGrpSpPr>
          <p:grpSpPr>
            <a:xfrm>
              <a:off x="2699792" y="4869160"/>
              <a:ext cx="360040" cy="864096"/>
              <a:chOff x="2699792" y="4869160"/>
              <a:chExt cx="360040" cy="864096"/>
            </a:xfrm>
          </p:grpSpPr>
          <p:cxnSp>
            <p:nvCxnSpPr>
              <p:cNvPr id="147" name="直線接點 146"/>
              <p:cNvCxnSpPr/>
              <p:nvPr/>
            </p:nvCxnSpPr>
            <p:spPr>
              <a:xfrm>
                <a:off x="2699792" y="4869160"/>
                <a:ext cx="360040" cy="864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直線接點 147"/>
              <p:cNvCxnSpPr/>
              <p:nvPr/>
            </p:nvCxnSpPr>
            <p:spPr>
              <a:xfrm flipH="1">
                <a:off x="2771800" y="4869160"/>
                <a:ext cx="216024" cy="864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文字方塊 154"/>
            <p:cNvSpPr txBox="1"/>
            <p:nvPr/>
          </p:nvSpPr>
          <p:spPr>
            <a:xfrm>
              <a:off x="2555776" y="5085184"/>
              <a:ext cx="81047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crash</a:t>
              </a:r>
              <a:endParaRPr lang="zh-TW" altLang="en-US" sz="1350" dirty="0"/>
            </a:p>
          </p:txBody>
        </p:sp>
      </p:grpSp>
      <p:sp>
        <p:nvSpPr>
          <p:cNvPr id="157" name="圓柱 156"/>
          <p:cNvSpPr/>
          <p:nvPr/>
        </p:nvSpPr>
        <p:spPr>
          <a:xfrm>
            <a:off x="5652121" y="3165816"/>
            <a:ext cx="363830" cy="206494"/>
          </a:xfrm>
          <a:prstGeom prst="can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788" dirty="0"/>
              <a:t>spare</a:t>
            </a:r>
            <a:endParaRPr lang="zh-TW" altLang="en-US" sz="788" dirty="0"/>
          </a:p>
        </p:txBody>
      </p:sp>
      <p:sp>
        <p:nvSpPr>
          <p:cNvPr id="158" name="向右箭號 157"/>
          <p:cNvSpPr/>
          <p:nvPr/>
        </p:nvSpPr>
        <p:spPr>
          <a:xfrm rot="17264172">
            <a:off x="5225404" y="3647666"/>
            <a:ext cx="809698" cy="32403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Copy</a:t>
            </a:r>
            <a:endParaRPr lang="zh-TW" altLang="en-US" sz="1350" dirty="0"/>
          </a:p>
        </p:txBody>
      </p:sp>
      <p:sp>
        <p:nvSpPr>
          <p:cNvPr id="161" name="圓柱 160"/>
          <p:cNvSpPr/>
          <p:nvPr/>
        </p:nvSpPr>
        <p:spPr>
          <a:xfrm>
            <a:off x="5166066" y="4245936"/>
            <a:ext cx="432048" cy="228487"/>
          </a:xfrm>
          <a:prstGeom prst="can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data</a:t>
            </a:r>
            <a:endParaRPr lang="zh-TW" altLang="en-US" sz="1200" dirty="0"/>
          </a:p>
        </p:txBody>
      </p:sp>
      <p:grpSp>
        <p:nvGrpSpPr>
          <p:cNvPr id="35" name="群組 34"/>
          <p:cNvGrpSpPr/>
          <p:nvPr/>
        </p:nvGrpSpPr>
        <p:grpSpPr>
          <a:xfrm>
            <a:off x="2846887" y="2748578"/>
            <a:ext cx="3261662" cy="606889"/>
            <a:chOff x="2271849" y="3664770"/>
            <a:chExt cx="4348883" cy="809185"/>
          </a:xfrm>
        </p:grpSpPr>
        <p:sp>
          <p:nvSpPr>
            <p:cNvPr id="5" name="左-右雙向箭號 4"/>
            <p:cNvSpPr/>
            <p:nvPr/>
          </p:nvSpPr>
          <p:spPr>
            <a:xfrm rot="817210">
              <a:off x="2271849" y="4116033"/>
              <a:ext cx="4348883" cy="357922"/>
            </a:xfrm>
            <a:prstGeom prst="left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Attach</a:t>
              </a:r>
              <a:endParaRPr lang="zh-TW" altLang="en-US" sz="1350" dirty="0"/>
            </a:p>
          </p:txBody>
        </p:sp>
        <p:sp>
          <p:nvSpPr>
            <p:cNvPr id="6" name="文字方塊 5"/>
            <p:cNvSpPr txBox="1"/>
            <p:nvPr/>
          </p:nvSpPr>
          <p:spPr>
            <a:xfrm rot="804705">
              <a:off x="3631718" y="3664770"/>
              <a:ext cx="146450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1st Network</a:t>
              </a:r>
              <a:endParaRPr lang="zh-TW" altLang="en-US" sz="1350" dirty="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2478526" y="3575435"/>
            <a:ext cx="2806685" cy="517662"/>
            <a:chOff x="1780700" y="4767246"/>
            <a:chExt cx="3742247" cy="690215"/>
          </a:xfrm>
        </p:grpSpPr>
        <p:sp>
          <p:nvSpPr>
            <p:cNvPr id="140" name="左-右雙向箭號 139"/>
            <p:cNvSpPr/>
            <p:nvPr/>
          </p:nvSpPr>
          <p:spPr>
            <a:xfrm rot="1641306">
              <a:off x="1780700" y="4767246"/>
              <a:ext cx="3742247" cy="357922"/>
            </a:xfrm>
            <a:prstGeom prst="left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Attach</a:t>
              </a:r>
              <a:endParaRPr lang="zh-TW" altLang="en-US" sz="1350" dirty="0"/>
            </a:p>
          </p:txBody>
        </p:sp>
        <p:sp>
          <p:nvSpPr>
            <p:cNvPr id="146" name="文字方塊 145"/>
            <p:cNvSpPr txBox="1"/>
            <p:nvPr/>
          </p:nvSpPr>
          <p:spPr>
            <a:xfrm rot="1570810">
              <a:off x="2542644" y="5057352"/>
              <a:ext cx="154144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2nd Network</a:t>
              </a:r>
              <a:endParaRPr lang="zh-TW" altLang="en-US" sz="1350" dirty="0"/>
            </a:p>
          </p:txBody>
        </p:sp>
      </p:grpSp>
      <p:grpSp>
        <p:nvGrpSpPr>
          <p:cNvPr id="150" name="群組 149"/>
          <p:cNvGrpSpPr/>
          <p:nvPr/>
        </p:nvGrpSpPr>
        <p:grpSpPr>
          <a:xfrm rot="21074509">
            <a:off x="2890190" y="2608937"/>
            <a:ext cx="2640864" cy="606891"/>
            <a:chOff x="2271849" y="3664766"/>
            <a:chExt cx="4348883" cy="809189"/>
          </a:xfrm>
        </p:grpSpPr>
        <p:sp>
          <p:nvSpPr>
            <p:cNvPr id="151" name="左-右雙向箭號 150"/>
            <p:cNvSpPr/>
            <p:nvPr/>
          </p:nvSpPr>
          <p:spPr>
            <a:xfrm rot="817210">
              <a:off x="2271849" y="4116033"/>
              <a:ext cx="4348883" cy="357922"/>
            </a:xfrm>
            <a:prstGeom prst="left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Attach</a:t>
              </a:r>
              <a:endParaRPr lang="zh-TW" altLang="en-US" sz="1350" dirty="0"/>
            </a:p>
          </p:txBody>
        </p:sp>
        <p:sp>
          <p:nvSpPr>
            <p:cNvPr id="152" name="文字方塊 151"/>
            <p:cNvSpPr txBox="1"/>
            <p:nvPr/>
          </p:nvSpPr>
          <p:spPr>
            <a:xfrm rot="804705">
              <a:off x="3491260" y="3664766"/>
              <a:ext cx="17454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Recovering</a:t>
              </a:r>
              <a:endParaRPr lang="zh-TW" alt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1918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VastSky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Scalability</a:t>
            </a:r>
          </a:p>
          <a:p>
            <a:pPr lvl="1"/>
            <a:r>
              <a:rPr lang="en-US" altLang="zh-TW" dirty="0"/>
              <a:t>Most of cluster file-systems and storage systems which have a meta-data control node have a scalability problem.</a:t>
            </a:r>
          </a:p>
          <a:p>
            <a:pPr lvl="1"/>
            <a:r>
              <a:rPr lang="en-US" altLang="zh-TW" dirty="0" err="1"/>
              <a:t>VastSky</a:t>
            </a:r>
            <a:r>
              <a:rPr lang="en-US" altLang="zh-TW" dirty="0"/>
              <a:t> doesn't have this problem since once a logical volume is set up, all I/O operations will be done only through Linux drivers without any storage manager interactions.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14683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VastSky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85900" y="1200151"/>
            <a:ext cx="6110436" cy="3394472"/>
          </a:xfrm>
        </p:spPr>
        <p:txBody>
          <a:bodyPr/>
          <a:lstStyle/>
          <a:p>
            <a:r>
              <a:rPr lang="en-US" altLang="zh-TW" dirty="0"/>
              <a:t> </a:t>
            </a:r>
            <a:r>
              <a:rPr lang="en-US" altLang="zh-TW" b="1" dirty="0"/>
              <a:t>Load Balance</a:t>
            </a:r>
          </a:p>
          <a:p>
            <a:pPr lvl="1"/>
            <a:r>
              <a:rPr lang="en-US" altLang="zh-TW" dirty="0"/>
              <a:t>With </a:t>
            </a:r>
            <a:r>
              <a:rPr lang="en-US" altLang="zh-TW" dirty="0" err="1"/>
              <a:t>VastSky's</a:t>
            </a:r>
            <a:r>
              <a:rPr lang="en-US" altLang="zh-TW" dirty="0"/>
              <a:t> approach, the loads will be equalized across the physical disks, which leads that it utilizes the I/O bandwidth of them. </a:t>
            </a:r>
            <a:endParaRPr lang="zh-TW" altLang="en-US" b="1" dirty="0"/>
          </a:p>
        </p:txBody>
      </p:sp>
      <p:grpSp>
        <p:nvGrpSpPr>
          <p:cNvPr id="31745" name="群組 31744"/>
          <p:cNvGrpSpPr/>
          <p:nvPr/>
        </p:nvGrpSpPr>
        <p:grpSpPr>
          <a:xfrm>
            <a:off x="2951821" y="2004607"/>
            <a:ext cx="4348283" cy="2899790"/>
            <a:chOff x="2411760" y="2672809"/>
            <a:chExt cx="5797711" cy="3866386"/>
          </a:xfrm>
        </p:grpSpPr>
        <p:grpSp>
          <p:nvGrpSpPr>
            <p:cNvPr id="6" name="群組 5"/>
            <p:cNvGrpSpPr/>
            <p:nvPr/>
          </p:nvGrpSpPr>
          <p:grpSpPr>
            <a:xfrm>
              <a:off x="4929380" y="2672809"/>
              <a:ext cx="3280091" cy="3866386"/>
              <a:chOff x="4052009" y="2852936"/>
              <a:chExt cx="3280091" cy="3866386"/>
            </a:xfrm>
          </p:grpSpPr>
          <p:grpSp>
            <p:nvGrpSpPr>
              <p:cNvPr id="14" name="群組 13"/>
              <p:cNvGrpSpPr/>
              <p:nvPr/>
            </p:nvGrpSpPr>
            <p:grpSpPr>
              <a:xfrm>
                <a:off x="4052009" y="3353634"/>
                <a:ext cx="3280091" cy="3365688"/>
                <a:chOff x="4079962" y="2939397"/>
                <a:chExt cx="3280091" cy="3365688"/>
              </a:xfrm>
            </p:grpSpPr>
            <p:grpSp>
              <p:nvGrpSpPr>
                <p:cNvPr id="16" name="群組 15"/>
                <p:cNvGrpSpPr/>
                <p:nvPr/>
              </p:nvGrpSpPr>
              <p:grpSpPr>
                <a:xfrm>
                  <a:off x="4086655" y="3823489"/>
                  <a:ext cx="3273398" cy="715845"/>
                  <a:chOff x="4788024" y="2204864"/>
                  <a:chExt cx="3737287" cy="936104"/>
                </a:xfrm>
              </p:grpSpPr>
              <p:grpSp>
                <p:nvGrpSpPr>
                  <p:cNvPr id="86" name="群組 85"/>
                  <p:cNvGrpSpPr/>
                  <p:nvPr/>
                </p:nvGrpSpPr>
                <p:grpSpPr>
                  <a:xfrm>
                    <a:off x="4788024" y="2204864"/>
                    <a:ext cx="2304256" cy="936104"/>
                    <a:chOff x="4499992" y="2276872"/>
                    <a:chExt cx="2736304" cy="1008112"/>
                  </a:xfrm>
                </p:grpSpPr>
                <p:grpSp>
                  <p:nvGrpSpPr>
                    <p:cNvPr id="88" name="群組 16"/>
                    <p:cNvGrpSpPr/>
                    <p:nvPr/>
                  </p:nvGrpSpPr>
                  <p:grpSpPr>
                    <a:xfrm>
                      <a:off x="449999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104" name="圓柱 103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5" name="圓柱 104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6" name="圓柱 105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7" name="圓柱 106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89" name="群組 17"/>
                    <p:cNvGrpSpPr/>
                    <p:nvPr/>
                  </p:nvGrpSpPr>
                  <p:grpSpPr>
                    <a:xfrm>
                      <a:off x="522007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100" name="圓柱 99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1" name="圓柱 100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2" name="圓柱 101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3" name="圓柱 102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0" name="群組 22"/>
                    <p:cNvGrpSpPr/>
                    <p:nvPr/>
                  </p:nvGrpSpPr>
                  <p:grpSpPr>
                    <a:xfrm>
                      <a:off x="594015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96" name="圓柱 95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97" name="圓柱 96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98" name="圓柱 97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99" name="圓柱 98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1" name="群組 27"/>
                    <p:cNvGrpSpPr/>
                    <p:nvPr/>
                  </p:nvGrpSpPr>
                  <p:grpSpPr>
                    <a:xfrm>
                      <a:off x="666023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92" name="圓柱 91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93" name="圓柱 92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94" name="圓柱 93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95" name="圓柱 94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87" name="文字方塊 86"/>
                  <p:cNvSpPr txBox="1"/>
                  <p:nvPr/>
                </p:nvSpPr>
                <p:spPr>
                  <a:xfrm>
                    <a:off x="7524328" y="2348881"/>
                    <a:ext cx="1000983" cy="7244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050" dirty="0"/>
                      <a:t>Storage</a:t>
                    </a:r>
                  </a:p>
                  <a:p>
                    <a:r>
                      <a:rPr lang="en-US" altLang="zh-TW" sz="1050" dirty="0"/>
                      <a:t>Server2</a:t>
                    </a:r>
                    <a:endParaRPr lang="zh-TW" altLang="en-US" sz="1050" dirty="0"/>
                  </a:p>
                </p:txBody>
              </p:sp>
            </p:grpSp>
            <p:grpSp>
              <p:nvGrpSpPr>
                <p:cNvPr id="17" name="群組 16"/>
                <p:cNvGrpSpPr/>
                <p:nvPr/>
              </p:nvGrpSpPr>
              <p:grpSpPr>
                <a:xfrm>
                  <a:off x="4086655" y="2939397"/>
                  <a:ext cx="3273398" cy="715845"/>
                  <a:chOff x="4788024" y="2204864"/>
                  <a:chExt cx="3737287" cy="936104"/>
                </a:xfrm>
              </p:grpSpPr>
              <p:grpSp>
                <p:nvGrpSpPr>
                  <p:cNvPr id="64" name="群組 63"/>
                  <p:cNvGrpSpPr/>
                  <p:nvPr/>
                </p:nvGrpSpPr>
                <p:grpSpPr>
                  <a:xfrm>
                    <a:off x="4788024" y="2204864"/>
                    <a:ext cx="2304256" cy="936104"/>
                    <a:chOff x="4499992" y="2276872"/>
                    <a:chExt cx="2736304" cy="1008112"/>
                  </a:xfrm>
                </p:grpSpPr>
                <p:grpSp>
                  <p:nvGrpSpPr>
                    <p:cNvPr id="66" name="群組 16"/>
                    <p:cNvGrpSpPr/>
                    <p:nvPr/>
                  </p:nvGrpSpPr>
                  <p:grpSpPr>
                    <a:xfrm>
                      <a:off x="449999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82" name="圓柱 81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83" name="圓柱 82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84" name="圓柱 83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85" name="圓柱 84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7" name="群組 17"/>
                    <p:cNvGrpSpPr/>
                    <p:nvPr/>
                  </p:nvGrpSpPr>
                  <p:grpSpPr>
                    <a:xfrm>
                      <a:off x="522007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78" name="圓柱 77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9" name="圓柱 78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80" name="圓柱 79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81" name="圓柱 80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8" name="群組 22"/>
                    <p:cNvGrpSpPr/>
                    <p:nvPr/>
                  </p:nvGrpSpPr>
                  <p:grpSpPr>
                    <a:xfrm>
                      <a:off x="594015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74" name="圓柱 73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5" name="圓柱 74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6" name="圓柱 75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77" name="圓柱 76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9" name="群組 27"/>
                    <p:cNvGrpSpPr/>
                    <p:nvPr/>
                  </p:nvGrpSpPr>
                  <p:grpSpPr>
                    <a:xfrm>
                      <a:off x="666023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70" name="圓柱 69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1" name="圓柱 70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2" name="圓柱 71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3" name="圓柱 72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65" name="文字方塊 64"/>
                  <p:cNvSpPr txBox="1"/>
                  <p:nvPr/>
                </p:nvSpPr>
                <p:spPr>
                  <a:xfrm>
                    <a:off x="7524328" y="2348881"/>
                    <a:ext cx="1000983" cy="7244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050" dirty="0"/>
                      <a:t>Storage</a:t>
                    </a:r>
                  </a:p>
                  <a:p>
                    <a:r>
                      <a:rPr lang="en-US" altLang="zh-TW" sz="1050" dirty="0"/>
                      <a:t>Server1</a:t>
                    </a:r>
                    <a:endParaRPr lang="zh-TW" altLang="en-US" sz="1050" dirty="0"/>
                  </a:p>
                </p:txBody>
              </p:sp>
            </p:grpSp>
            <p:grpSp>
              <p:nvGrpSpPr>
                <p:cNvPr id="18" name="群組 17"/>
                <p:cNvGrpSpPr/>
                <p:nvPr/>
              </p:nvGrpSpPr>
              <p:grpSpPr>
                <a:xfrm>
                  <a:off x="4079962" y="4695285"/>
                  <a:ext cx="3273398" cy="715845"/>
                  <a:chOff x="4788024" y="2204864"/>
                  <a:chExt cx="3737287" cy="936104"/>
                </a:xfrm>
              </p:grpSpPr>
              <p:grpSp>
                <p:nvGrpSpPr>
                  <p:cNvPr id="42" name="群組 41"/>
                  <p:cNvGrpSpPr/>
                  <p:nvPr/>
                </p:nvGrpSpPr>
                <p:grpSpPr>
                  <a:xfrm>
                    <a:off x="4788024" y="2204864"/>
                    <a:ext cx="2304256" cy="936104"/>
                    <a:chOff x="4499992" y="2276872"/>
                    <a:chExt cx="2736304" cy="1008112"/>
                  </a:xfrm>
                </p:grpSpPr>
                <p:grpSp>
                  <p:nvGrpSpPr>
                    <p:cNvPr id="44" name="群組 16"/>
                    <p:cNvGrpSpPr/>
                    <p:nvPr/>
                  </p:nvGrpSpPr>
                  <p:grpSpPr>
                    <a:xfrm>
                      <a:off x="449999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60" name="圓柱 59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61" name="圓柱 60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62" name="圓柱 61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63" name="圓柱 62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45" name="群組 17"/>
                    <p:cNvGrpSpPr/>
                    <p:nvPr/>
                  </p:nvGrpSpPr>
                  <p:grpSpPr>
                    <a:xfrm>
                      <a:off x="522007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56" name="圓柱 55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57" name="圓柱 56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8" name="圓柱 57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9" name="圓柱 58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46" name="群組 22"/>
                    <p:cNvGrpSpPr/>
                    <p:nvPr/>
                  </p:nvGrpSpPr>
                  <p:grpSpPr>
                    <a:xfrm>
                      <a:off x="594015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52" name="圓柱 51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3" name="圓柱 52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54" name="圓柱 53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5" name="圓柱 54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47" name="群組 27"/>
                    <p:cNvGrpSpPr/>
                    <p:nvPr/>
                  </p:nvGrpSpPr>
                  <p:grpSpPr>
                    <a:xfrm>
                      <a:off x="666023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48" name="圓柱 47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9" name="圓柱 48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0" name="圓柱 49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1" name="圓柱 50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43" name="文字方塊 42"/>
                  <p:cNvSpPr txBox="1"/>
                  <p:nvPr/>
                </p:nvSpPr>
                <p:spPr>
                  <a:xfrm>
                    <a:off x="7524328" y="2348881"/>
                    <a:ext cx="1000983" cy="7244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050" dirty="0"/>
                      <a:t>Storage</a:t>
                    </a:r>
                  </a:p>
                  <a:p>
                    <a:r>
                      <a:rPr lang="en-US" altLang="zh-TW" sz="1050" dirty="0"/>
                      <a:t>Server3</a:t>
                    </a:r>
                    <a:endParaRPr lang="zh-TW" altLang="en-US" sz="1050" dirty="0"/>
                  </a:p>
                </p:txBody>
              </p:sp>
            </p:grpSp>
            <p:grpSp>
              <p:nvGrpSpPr>
                <p:cNvPr id="19" name="群組 18"/>
                <p:cNvGrpSpPr/>
                <p:nvPr/>
              </p:nvGrpSpPr>
              <p:grpSpPr>
                <a:xfrm>
                  <a:off x="4086655" y="5589240"/>
                  <a:ext cx="3273398" cy="715845"/>
                  <a:chOff x="4788024" y="2204864"/>
                  <a:chExt cx="3737287" cy="936104"/>
                </a:xfrm>
              </p:grpSpPr>
              <p:grpSp>
                <p:nvGrpSpPr>
                  <p:cNvPr id="20" name="群組 19"/>
                  <p:cNvGrpSpPr/>
                  <p:nvPr/>
                </p:nvGrpSpPr>
                <p:grpSpPr>
                  <a:xfrm>
                    <a:off x="4788024" y="2204864"/>
                    <a:ext cx="2304256" cy="936104"/>
                    <a:chOff x="4499992" y="2276872"/>
                    <a:chExt cx="2736304" cy="1008112"/>
                  </a:xfrm>
                </p:grpSpPr>
                <p:grpSp>
                  <p:nvGrpSpPr>
                    <p:cNvPr id="22" name="群組 16"/>
                    <p:cNvGrpSpPr/>
                    <p:nvPr/>
                  </p:nvGrpSpPr>
                  <p:grpSpPr>
                    <a:xfrm>
                      <a:off x="449999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38" name="圓柱 37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39" name="圓柱 38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0" name="圓柱 39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1" name="圓柱 40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23" name="群組 17"/>
                    <p:cNvGrpSpPr/>
                    <p:nvPr/>
                  </p:nvGrpSpPr>
                  <p:grpSpPr>
                    <a:xfrm>
                      <a:off x="522007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34" name="圓柱 33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35" name="圓柱 34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FF96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36" name="圓柱 35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37" name="圓柱 36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24" name="群組 22"/>
                    <p:cNvGrpSpPr/>
                    <p:nvPr/>
                  </p:nvGrpSpPr>
                  <p:grpSpPr>
                    <a:xfrm>
                      <a:off x="594015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30" name="圓柱 29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31" name="圓柱 30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8C8564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bg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32" name="圓柱 31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D3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33" name="圓柱 32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25" name="群組 27"/>
                    <p:cNvGrpSpPr/>
                    <p:nvPr/>
                  </p:nvGrpSpPr>
                  <p:grpSpPr>
                    <a:xfrm>
                      <a:off x="6660232" y="2276872"/>
                      <a:ext cx="576064" cy="1008112"/>
                      <a:chOff x="3779912" y="1844824"/>
                      <a:chExt cx="720080" cy="1224136"/>
                    </a:xfrm>
                    <a:solidFill>
                      <a:schemeClr val="bg1">
                        <a:lumMod val="95000"/>
                      </a:schemeClr>
                    </a:solidFill>
                  </p:grpSpPr>
                  <p:sp>
                    <p:nvSpPr>
                      <p:cNvPr id="26" name="圓柱 25"/>
                      <p:cNvSpPr/>
                      <p:nvPr/>
                    </p:nvSpPr>
                    <p:spPr>
                      <a:xfrm>
                        <a:off x="3779912" y="2708920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27" name="圓柱 26"/>
                      <p:cNvSpPr/>
                      <p:nvPr/>
                    </p:nvSpPr>
                    <p:spPr>
                      <a:xfrm>
                        <a:off x="3779912" y="2420888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FFE700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D1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28" name="圓柱 27"/>
                      <p:cNvSpPr/>
                      <p:nvPr/>
                    </p:nvSpPr>
                    <p:spPr>
                      <a:xfrm>
                        <a:off x="3779912" y="2132856"/>
                        <a:ext cx="720080" cy="360040"/>
                      </a:xfrm>
                      <a:prstGeom prst="can">
                        <a:avLst/>
                      </a:prstGeom>
                      <a:grpFill/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sz="105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29" name="圓柱 28"/>
                      <p:cNvSpPr/>
                      <p:nvPr/>
                    </p:nvSpPr>
                    <p:spPr>
                      <a:xfrm>
                        <a:off x="3779912" y="1844824"/>
                        <a:ext cx="720080" cy="360040"/>
                      </a:xfrm>
                      <a:prstGeom prst="can">
                        <a:avLst/>
                      </a:prstGeom>
                      <a:solidFill>
                        <a:srgbClr val="00E6E8"/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sz="1050" dirty="0">
                            <a:solidFill>
                              <a:schemeClr val="tx1"/>
                            </a:solidFill>
                          </a:rPr>
                          <a:t>D2</a:t>
                        </a:r>
                        <a:endParaRPr lang="zh-TW" altLang="en-US" sz="105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1" name="文字方塊 20"/>
                  <p:cNvSpPr txBox="1"/>
                  <p:nvPr/>
                </p:nvSpPr>
                <p:spPr>
                  <a:xfrm>
                    <a:off x="7524328" y="2348881"/>
                    <a:ext cx="1000983" cy="72445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050" dirty="0"/>
                      <a:t>Storage</a:t>
                    </a:r>
                  </a:p>
                  <a:p>
                    <a:r>
                      <a:rPr lang="en-US" altLang="zh-TW" sz="1050" dirty="0"/>
                      <a:t>Server4</a:t>
                    </a:r>
                    <a:endParaRPr lang="zh-TW" altLang="en-US" sz="1050" dirty="0"/>
                  </a:p>
                </p:txBody>
              </p:sp>
            </p:grpSp>
          </p:grpSp>
          <p:sp>
            <p:nvSpPr>
              <p:cNvPr id="15" name="文字方塊 14"/>
              <p:cNvSpPr txBox="1"/>
              <p:nvPr/>
            </p:nvSpPr>
            <p:spPr>
              <a:xfrm>
                <a:off x="4964238" y="2852936"/>
                <a:ext cx="1287105" cy="338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/>
                  <a:t>Storage Pool</a:t>
                </a:r>
                <a:endParaRPr lang="zh-TW" altLang="en-US" sz="1050" dirty="0"/>
              </a:p>
            </p:txBody>
          </p:sp>
        </p:grpSp>
        <p:sp>
          <p:nvSpPr>
            <p:cNvPr id="10" name="文字方塊 9"/>
            <p:cNvSpPr txBox="1"/>
            <p:nvPr/>
          </p:nvSpPr>
          <p:spPr>
            <a:xfrm>
              <a:off x="2411760" y="2783446"/>
              <a:ext cx="181083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Logical Volume</a:t>
              </a:r>
              <a:endParaRPr lang="zh-TW" altLang="en-US" sz="1350" dirty="0"/>
            </a:p>
          </p:txBody>
        </p:sp>
        <p:grpSp>
          <p:nvGrpSpPr>
            <p:cNvPr id="138" name="群組 137"/>
            <p:cNvGrpSpPr/>
            <p:nvPr/>
          </p:nvGrpSpPr>
          <p:grpSpPr>
            <a:xfrm>
              <a:off x="2822988" y="3219436"/>
              <a:ext cx="438222" cy="632734"/>
              <a:chOff x="2822988" y="3239707"/>
              <a:chExt cx="438222" cy="632734"/>
            </a:xfrm>
          </p:grpSpPr>
          <p:sp>
            <p:nvSpPr>
              <p:cNvPr id="116" name="圓柱 115"/>
              <p:cNvSpPr/>
              <p:nvPr/>
            </p:nvSpPr>
            <p:spPr>
              <a:xfrm>
                <a:off x="2822988" y="3626379"/>
                <a:ext cx="438222" cy="246062"/>
              </a:xfrm>
              <a:prstGeom prst="can">
                <a:avLst/>
              </a:prstGeom>
              <a:solidFill>
                <a:srgbClr val="FFE700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D3   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圓柱 138"/>
              <p:cNvSpPr/>
              <p:nvPr/>
            </p:nvSpPr>
            <p:spPr>
              <a:xfrm>
                <a:off x="2822988" y="3429453"/>
                <a:ext cx="438222" cy="246062"/>
              </a:xfrm>
              <a:prstGeom prst="can">
                <a:avLst/>
              </a:prstGeom>
              <a:solidFill>
                <a:srgbClr val="FFE700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D2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圓柱 139"/>
              <p:cNvSpPr/>
              <p:nvPr/>
            </p:nvSpPr>
            <p:spPr>
              <a:xfrm>
                <a:off x="2822988" y="3239707"/>
                <a:ext cx="438222" cy="246062"/>
              </a:xfrm>
              <a:prstGeom prst="can">
                <a:avLst/>
              </a:prstGeom>
              <a:solidFill>
                <a:srgbClr val="FFE700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D1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4" name="群組 153"/>
            <p:cNvGrpSpPr/>
            <p:nvPr/>
          </p:nvGrpSpPr>
          <p:grpSpPr>
            <a:xfrm>
              <a:off x="2822988" y="3972276"/>
              <a:ext cx="438222" cy="632734"/>
              <a:chOff x="2822988" y="3239707"/>
              <a:chExt cx="438222" cy="632734"/>
            </a:xfrm>
          </p:grpSpPr>
          <p:sp>
            <p:nvSpPr>
              <p:cNvPr id="155" name="圓柱 154"/>
              <p:cNvSpPr/>
              <p:nvPr/>
            </p:nvSpPr>
            <p:spPr>
              <a:xfrm>
                <a:off x="2822988" y="3626379"/>
                <a:ext cx="438222" cy="246062"/>
              </a:xfrm>
              <a:prstGeom prst="can">
                <a:avLst/>
              </a:prstGeom>
              <a:solidFill>
                <a:srgbClr val="00FF96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D3   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圓柱 155"/>
              <p:cNvSpPr/>
              <p:nvPr/>
            </p:nvSpPr>
            <p:spPr>
              <a:xfrm>
                <a:off x="2822988" y="3429453"/>
                <a:ext cx="438222" cy="246062"/>
              </a:xfrm>
              <a:prstGeom prst="can">
                <a:avLst/>
              </a:prstGeom>
              <a:solidFill>
                <a:srgbClr val="00FF96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D2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圓柱 156"/>
              <p:cNvSpPr/>
              <p:nvPr/>
            </p:nvSpPr>
            <p:spPr>
              <a:xfrm>
                <a:off x="2822988" y="3239707"/>
                <a:ext cx="438222" cy="246062"/>
              </a:xfrm>
              <a:prstGeom prst="can">
                <a:avLst/>
              </a:prstGeom>
              <a:solidFill>
                <a:srgbClr val="00FF96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D1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8" name="群組 157"/>
            <p:cNvGrpSpPr/>
            <p:nvPr/>
          </p:nvGrpSpPr>
          <p:grpSpPr>
            <a:xfrm>
              <a:off x="2818695" y="4765499"/>
              <a:ext cx="438222" cy="632734"/>
              <a:chOff x="2822988" y="3239707"/>
              <a:chExt cx="438222" cy="632734"/>
            </a:xfrm>
          </p:grpSpPr>
          <p:sp>
            <p:nvSpPr>
              <p:cNvPr id="159" name="圓柱 158"/>
              <p:cNvSpPr/>
              <p:nvPr/>
            </p:nvSpPr>
            <p:spPr>
              <a:xfrm>
                <a:off x="2822988" y="3626379"/>
                <a:ext cx="438222" cy="246062"/>
              </a:xfrm>
              <a:prstGeom prst="can">
                <a:avLst/>
              </a:prstGeom>
              <a:solidFill>
                <a:srgbClr val="00E6E8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D3   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圓柱 159"/>
              <p:cNvSpPr/>
              <p:nvPr/>
            </p:nvSpPr>
            <p:spPr>
              <a:xfrm>
                <a:off x="2822988" y="3429453"/>
                <a:ext cx="438222" cy="246062"/>
              </a:xfrm>
              <a:prstGeom prst="can">
                <a:avLst/>
              </a:prstGeom>
              <a:solidFill>
                <a:srgbClr val="00E6E8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D2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圓柱 160"/>
              <p:cNvSpPr/>
              <p:nvPr/>
            </p:nvSpPr>
            <p:spPr>
              <a:xfrm>
                <a:off x="2822988" y="3239707"/>
                <a:ext cx="438222" cy="246062"/>
              </a:xfrm>
              <a:prstGeom prst="can">
                <a:avLst/>
              </a:prstGeom>
              <a:solidFill>
                <a:srgbClr val="00E6E8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tx1"/>
                    </a:solidFill>
                  </a:rPr>
                  <a:t>D1</a:t>
                </a:r>
                <a:endParaRPr lang="zh-TW" alt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2" name="群組 161"/>
            <p:cNvGrpSpPr/>
            <p:nvPr/>
          </p:nvGrpSpPr>
          <p:grpSpPr>
            <a:xfrm>
              <a:off x="2822988" y="5700319"/>
              <a:ext cx="438222" cy="632734"/>
              <a:chOff x="2822988" y="3475705"/>
              <a:chExt cx="438222" cy="632734"/>
            </a:xfrm>
          </p:grpSpPr>
          <p:sp>
            <p:nvSpPr>
              <p:cNvPr id="163" name="圓柱 162"/>
              <p:cNvSpPr/>
              <p:nvPr/>
            </p:nvSpPr>
            <p:spPr>
              <a:xfrm>
                <a:off x="2822988" y="3862377"/>
                <a:ext cx="438222" cy="246062"/>
              </a:xfrm>
              <a:prstGeom prst="can">
                <a:avLst/>
              </a:prstGeom>
              <a:solidFill>
                <a:srgbClr val="8C8564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bg1"/>
                    </a:solidFill>
                  </a:rPr>
                  <a:t>D3   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圓柱 163"/>
              <p:cNvSpPr/>
              <p:nvPr/>
            </p:nvSpPr>
            <p:spPr>
              <a:xfrm>
                <a:off x="2822988" y="3665451"/>
                <a:ext cx="438222" cy="246062"/>
              </a:xfrm>
              <a:prstGeom prst="can">
                <a:avLst/>
              </a:prstGeom>
              <a:solidFill>
                <a:srgbClr val="8C8564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bg1"/>
                    </a:solidFill>
                  </a:rPr>
                  <a:t>D2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5" name="圓柱 164"/>
              <p:cNvSpPr/>
              <p:nvPr/>
            </p:nvSpPr>
            <p:spPr>
              <a:xfrm>
                <a:off x="2822988" y="3475705"/>
                <a:ext cx="438222" cy="246062"/>
              </a:xfrm>
              <a:prstGeom prst="can">
                <a:avLst/>
              </a:prstGeom>
              <a:solidFill>
                <a:srgbClr val="8C8564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bg1"/>
                    </a:solidFill>
                  </a:rPr>
                  <a:t>D1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44682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28700"/>
            <a:ext cx="6172200" cy="3771900"/>
          </a:xfrm>
        </p:spPr>
        <p:txBody>
          <a:bodyPr>
            <a:no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Lustre</a:t>
            </a:r>
            <a:r>
              <a:rPr lang="en-US" dirty="0"/>
              <a:t> ?</a:t>
            </a:r>
          </a:p>
          <a:p>
            <a:pPr lvl="1"/>
            <a:r>
              <a:rPr lang="en-US" dirty="0" err="1"/>
              <a:t>Lustre</a:t>
            </a:r>
            <a:r>
              <a:rPr lang="en-US" dirty="0"/>
              <a:t> is a POSIX-compliant global, distributed, parallel </a:t>
            </a:r>
            <a:r>
              <a:rPr lang="en-US" dirty="0" err="1"/>
              <a:t>filesystem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Lustre</a:t>
            </a:r>
            <a:r>
              <a:rPr lang="en-US" dirty="0"/>
              <a:t> is licensed under GPL.</a:t>
            </a:r>
          </a:p>
          <a:p>
            <a:r>
              <a:rPr lang="en-US" dirty="0"/>
              <a:t>Some features :</a:t>
            </a:r>
          </a:p>
          <a:p>
            <a:pPr lvl="1"/>
            <a:r>
              <a:rPr lang="en-US" dirty="0"/>
              <a:t>Parallel shared POSIX file system</a:t>
            </a:r>
          </a:p>
          <a:p>
            <a:pPr lvl="1"/>
            <a:r>
              <a:rPr lang="en-US" dirty="0"/>
              <a:t>Scalable</a:t>
            </a:r>
          </a:p>
          <a:p>
            <a:pPr lvl="2"/>
            <a:r>
              <a:rPr lang="en-US" dirty="0"/>
              <a:t>High performance</a:t>
            </a:r>
          </a:p>
          <a:p>
            <a:pPr lvl="2"/>
            <a:r>
              <a:rPr lang="en-US" dirty="0" err="1"/>
              <a:t>Petabytes</a:t>
            </a:r>
            <a:r>
              <a:rPr lang="en-US" dirty="0"/>
              <a:t> of storage</a:t>
            </a:r>
          </a:p>
          <a:p>
            <a:pPr lvl="1"/>
            <a:r>
              <a:rPr lang="en-US" dirty="0"/>
              <a:t>Coherent</a:t>
            </a:r>
          </a:p>
          <a:p>
            <a:pPr lvl="2"/>
            <a:r>
              <a:rPr lang="en-US" dirty="0"/>
              <a:t>Single namespace</a:t>
            </a:r>
          </a:p>
          <a:p>
            <a:pPr lvl="2"/>
            <a:r>
              <a:rPr lang="en-US" dirty="0"/>
              <a:t>Strict concurrency control</a:t>
            </a:r>
          </a:p>
          <a:p>
            <a:pPr lvl="1"/>
            <a:r>
              <a:rPr lang="en-US" dirty="0"/>
              <a:t>Heterogeneous networking</a:t>
            </a:r>
          </a:p>
          <a:p>
            <a:pPr lvl="1"/>
            <a:r>
              <a:rPr lang="en-US" dirty="0"/>
              <a:t>High availability</a:t>
            </a:r>
          </a:p>
        </p:txBody>
      </p:sp>
      <p:pic>
        <p:nvPicPr>
          <p:cNvPr id="4" name="Picture 2" descr="http://insidehpc.com/wp-content/uploads/2008/01/lustre-logo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1" y="4286250"/>
            <a:ext cx="1632857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60148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857250"/>
            <a:ext cx="6172200" cy="405765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Lustre</a:t>
            </a:r>
            <a:r>
              <a:rPr lang="en-US" dirty="0"/>
              <a:t> components :</a:t>
            </a:r>
          </a:p>
          <a:p>
            <a:pPr lvl="1"/>
            <a:r>
              <a:rPr lang="en-US" dirty="0"/>
              <a:t>Metadata Server (MDS)</a:t>
            </a:r>
          </a:p>
          <a:p>
            <a:pPr lvl="2"/>
            <a:r>
              <a:rPr lang="en-US" dirty="0"/>
              <a:t>The MDS server makes metadata stored in one or more MDTs.</a:t>
            </a:r>
          </a:p>
          <a:p>
            <a:pPr lvl="1"/>
            <a:r>
              <a:rPr lang="en-US" dirty="0"/>
              <a:t>Metadata Target (MDT)</a:t>
            </a:r>
          </a:p>
          <a:p>
            <a:pPr lvl="2"/>
            <a:r>
              <a:rPr lang="en-US" dirty="0"/>
              <a:t>The MDT stores metadata (such as filenames, permissions) on an MDS.</a:t>
            </a:r>
          </a:p>
          <a:p>
            <a:pPr lvl="1"/>
            <a:r>
              <a:rPr lang="en-US" dirty="0"/>
              <a:t>Object Storage Servers (OSS)</a:t>
            </a:r>
          </a:p>
          <a:p>
            <a:pPr lvl="2"/>
            <a:r>
              <a:rPr lang="en-US" dirty="0"/>
              <a:t>The OSS provides file I/O service, and network request handling for one or more local OSTs.</a:t>
            </a:r>
          </a:p>
          <a:p>
            <a:pPr lvl="1"/>
            <a:r>
              <a:rPr lang="en-US" dirty="0"/>
              <a:t>Object Storage Target (OST)</a:t>
            </a:r>
          </a:p>
          <a:p>
            <a:pPr lvl="2"/>
            <a:r>
              <a:rPr lang="en-US" dirty="0"/>
              <a:t>The OST stores file data as data objects on one or more OSSs.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Lustre</a:t>
            </a:r>
            <a:r>
              <a:rPr lang="en-US" dirty="0"/>
              <a:t> network :</a:t>
            </a:r>
          </a:p>
          <a:p>
            <a:pPr lvl="1"/>
            <a:r>
              <a:rPr lang="en-US" dirty="0"/>
              <a:t>Supports several network types</a:t>
            </a:r>
          </a:p>
          <a:p>
            <a:pPr lvl="2"/>
            <a:r>
              <a:rPr lang="en-US" dirty="0" err="1"/>
              <a:t>Infiniband</a:t>
            </a:r>
            <a:r>
              <a:rPr lang="en-US" dirty="0"/>
              <a:t>, TCP/IP on Ethernet, </a:t>
            </a:r>
            <a:r>
              <a:rPr lang="en-US" dirty="0" err="1"/>
              <a:t>Myrinet</a:t>
            </a:r>
            <a:r>
              <a:rPr lang="en-US" dirty="0"/>
              <a:t>, Quadrics, …etc.</a:t>
            </a:r>
          </a:p>
          <a:p>
            <a:pPr lvl="1"/>
            <a:r>
              <a:rPr lang="en-US" dirty="0"/>
              <a:t>Take advantage of remote direct memory access (RDMA)</a:t>
            </a:r>
          </a:p>
          <a:p>
            <a:pPr lvl="2"/>
            <a:r>
              <a:rPr lang="en-US" dirty="0"/>
              <a:t>Improve throughput and reduce CPU usage</a:t>
            </a:r>
          </a:p>
        </p:txBody>
      </p:sp>
    </p:spTree>
    <p:extLst>
      <p:ext uri="{BB962C8B-B14F-4D97-AF65-F5344CB8AC3E}">
        <p14:creationId xmlns:p14="http://schemas.microsoft.com/office/powerpoint/2010/main" val="28050103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5901" y="886418"/>
            <a:ext cx="6093618" cy="4185051"/>
          </a:xfrm>
          <a:prstGeom prst="roundRect">
            <a:avLst>
              <a:gd name="adj" fmla="val 318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</a:t>
            </a:r>
          </a:p>
        </p:txBody>
      </p:sp>
    </p:spTree>
    <p:extLst>
      <p:ext uri="{BB962C8B-B14F-4D97-AF65-F5344CB8AC3E}">
        <p14:creationId xmlns:p14="http://schemas.microsoft.com/office/powerpoint/2010/main" val="35273322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143001"/>
            <a:ext cx="6172200" cy="3394472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Lustre</a:t>
            </a:r>
            <a:r>
              <a:rPr lang="en-US" dirty="0"/>
              <a:t> in HPC</a:t>
            </a:r>
          </a:p>
          <a:p>
            <a:pPr lvl="1"/>
            <a:r>
              <a:rPr lang="en-US" dirty="0" err="1"/>
              <a:t>Lustre</a:t>
            </a:r>
            <a:r>
              <a:rPr lang="en-US" dirty="0"/>
              <a:t> is the leading HPC file system</a:t>
            </a:r>
          </a:p>
          <a:p>
            <a:pPr lvl="2"/>
            <a:r>
              <a:rPr lang="en-US" dirty="0"/>
              <a:t>15 of Top 30</a:t>
            </a:r>
          </a:p>
          <a:p>
            <a:pPr lvl="2"/>
            <a:r>
              <a:rPr lang="en-US" dirty="0"/>
              <a:t>Demonstrated scalability</a:t>
            </a:r>
          </a:p>
          <a:p>
            <a:pPr lvl="1"/>
            <a:r>
              <a:rPr lang="en-US" dirty="0"/>
              <a:t>Performance</a:t>
            </a:r>
          </a:p>
          <a:p>
            <a:pPr lvl="2"/>
            <a:r>
              <a:rPr lang="en-US" altLang="zh-TW" dirty="0"/>
              <a:t>Systems with over 1,000 nodes</a:t>
            </a:r>
            <a:endParaRPr lang="en-US" dirty="0"/>
          </a:p>
          <a:p>
            <a:pPr lvl="2"/>
            <a:r>
              <a:rPr lang="en-US" dirty="0"/>
              <a:t>190 GB/sec IO</a:t>
            </a:r>
          </a:p>
          <a:p>
            <a:pPr lvl="2"/>
            <a:r>
              <a:rPr lang="en-US" dirty="0"/>
              <a:t>26,000 clients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/>
              <a:t>Titan supercomputer at Oak Ridge National Laboratory</a:t>
            </a:r>
          </a:p>
          <a:p>
            <a:pPr lvl="3"/>
            <a:r>
              <a:rPr lang="en-US" sz="1200" dirty="0"/>
              <a:t>TOP500: #1, November 2012</a:t>
            </a:r>
          </a:p>
          <a:p>
            <a:pPr lvl="2"/>
            <a:r>
              <a:rPr lang="en-US" dirty="0"/>
              <a:t>System at Lawrence Livermore National Laboratory (LLNL)</a:t>
            </a:r>
          </a:p>
          <a:p>
            <a:pPr lvl="2"/>
            <a:r>
              <a:rPr lang="en-US" dirty="0"/>
              <a:t>Texas Advanced Computing Center (TACC)</a:t>
            </a:r>
          </a:p>
        </p:txBody>
      </p:sp>
      <p:pic>
        <p:nvPicPr>
          <p:cNvPr id="1026" name="Picture 2" descr="http://upload.wikimedia.org/wikipedia/commons/thumb/b/b0/Titan1.jpg/640px-Titan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994" y="2306197"/>
            <a:ext cx="3474132" cy="1237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7090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Ceph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Overview</a:t>
            </a:r>
          </a:p>
          <a:p>
            <a:pPr lvl="1"/>
            <a:r>
              <a:rPr lang="en-US" altLang="zh-TW" dirty="0" err="1"/>
              <a:t>Ceph</a:t>
            </a:r>
            <a:r>
              <a:rPr lang="en-US" altLang="zh-TW" dirty="0"/>
              <a:t> is a free software distributed file system.</a:t>
            </a:r>
          </a:p>
          <a:p>
            <a:pPr lvl="1"/>
            <a:r>
              <a:rPr lang="en-US" altLang="zh-TW" dirty="0" err="1"/>
              <a:t>Ceph's</a:t>
            </a:r>
            <a:r>
              <a:rPr lang="en-US" altLang="zh-TW" dirty="0"/>
              <a:t> main goals are to be POSIX-compatible, and completely distributed without a single point of failure.</a:t>
            </a:r>
          </a:p>
          <a:p>
            <a:pPr lvl="1"/>
            <a:r>
              <a:rPr lang="en-US" altLang="zh-TW" dirty="0"/>
              <a:t>The data is seamlessly replicated, making it fault tolerant.</a:t>
            </a:r>
          </a:p>
          <a:p>
            <a:pPr lvl="1"/>
            <a:endParaRPr lang="en-US" altLang="zh-TW" dirty="0"/>
          </a:p>
          <a:p>
            <a:r>
              <a:rPr lang="en-US" altLang="zh-TW" b="1" dirty="0"/>
              <a:t>Release</a:t>
            </a:r>
          </a:p>
          <a:p>
            <a:pPr lvl="1"/>
            <a:r>
              <a:rPr lang="en-US" altLang="zh-TW" dirty="0"/>
              <a:t>On July 3, 2012, the </a:t>
            </a:r>
            <a:r>
              <a:rPr lang="en-US" altLang="zh-TW" dirty="0" err="1"/>
              <a:t>Ceph</a:t>
            </a:r>
            <a:r>
              <a:rPr lang="en-US" altLang="zh-TW" dirty="0"/>
              <a:t> development team released Argonaut, the first release of </a:t>
            </a:r>
            <a:r>
              <a:rPr lang="en-US" altLang="zh-TW" dirty="0" err="1"/>
              <a:t>Ceph</a:t>
            </a:r>
            <a:r>
              <a:rPr lang="en-US" altLang="zh-TW" dirty="0"/>
              <a:t> with long-term support.</a:t>
            </a:r>
            <a:endParaRPr lang="en-US" altLang="zh-TW" b="1" dirty="0"/>
          </a:p>
          <a:p>
            <a:pPr lvl="1"/>
            <a:endParaRPr lang="en-US" altLang="zh-TW" sz="1200" b="1" dirty="0"/>
          </a:p>
          <a:p>
            <a:endParaRPr lang="en-US" altLang="zh-TW" b="1" dirty="0"/>
          </a:p>
          <a:p>
            <a:pPr>
              <a:buNone/>
            </a:pPr>
            <a:endParaRPr lang="zh-TW" altLang="en-US" sz="1350" dirty="0"/>
          </a:p>
        </p:txBody>
      </p:sp>
      <p:pic>
        <p:nvPicPr>
          <p:cNvPr id="36866" name="Picture 2" descr="http://upload.wikimedia.org/wikipedia/en/a/aa/Ceph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98114" y="3813888"/>
            <a:ext cx="1736497" cy="5940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19130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Ceph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  <a:p>
            <a:pPr lvl="1"/>
            <a:r>
              <a:rPr lang="en-US" altLang="zh-TW" dirty="0" err="1"/>
              <a:t>Ceph</a:t>
            </a:r>
            <a:r>
              <a:rPr lang="en-US" altLang="zh-TW" dirty="0"/>
              <a:t> is a distributed file system that provides excellent performance ,reliability and scalability.</a:t>
            </a:r>
          </a:p>
          <a:p>
            <a:pPr lvl="1"/>
            <a:r>
              <a:rPr lang="en-US" altLang="zh-TW" dirty="0"/>
              <a:t>Objected-based Storage.</a:t>
            </a:r>
          </a:p>
          <a:p>
            <a:pPr lvl="1"/>
            <a:r>
              <a:rPr lang="en-US" altLang="zh-TW" dirty="0" err="1"/>
              <a:t>Ceph</a:t>
            </a:r>
            <a:r>
              <a:rPr lang="en-US" altLang="zh-TW" dirty="0"/>
              <a:t> separates data and metadata operations by eliminating file allocation tables and replacing them with generating functions.</a:t>
            </a:r>
          </a:p>
          <a:p>
            <a:pPr lvl="1"/>
            <a:r>
              <a:rPr lang="en-US" altLang="zh-TW" dirty="0" err="1"/>
              <a:t>Ceph</a:t>
            </a:r>
            <a:r>
              <a:rPr lang="en-US" altLang="zh-TW" dirty="0"/>
              <a:t> utilizes a highly adaptive distributed metadata cluster, improving scalability.</a:t>
            </a:r>
          </a:p>
          <a:p>
            <a:pPr lvl="1"/>
            <a:r>
              <a:rPr lang="en-US" altLang="zh-TW" dirty="0"/>
              <a:t>Using object-based storage device (OSD) to directly access data, high performance.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74871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Ceph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-300038"/>
            <a:r>
              <a:rPr lang="en-US" altLang="zh-TW" dirty="0"/>
              <a:t>Objected-Based Storage</a:t>
            </a:r>
          </a:p>
        </p:txBody>
      </p:sp>
      <p:pic>
        <p:nvPicPr>
          <p:cNvPr id="1028" name="Picture 4" descr="C:\Users\dosa\Pictures\未命名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724" y="1548192"/>
            <a:ext cx="5292588" cy="315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9443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Ceph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Goal</a:t>
            </a:r>
          </a:p>
          <a:p>
            <a:pPr lvl="1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Scalability</a:t>
            </a:r>
          </a:p>
          <a:p>
            <a:pPr lvl="2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Storage capacity, throughput, client performance.  Emphasis on HPC.</a:t>
            </a:r>
          </a:p>
          <a:p>
            <a:pPr lvl="1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Reliability</a:t>
            </a:r>
          </a:p>
          <a:p>
            <a:pPr lvl="2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Failures are the norm rather than the exception, so the system must have </a:t>
            </a:r>
            <a:r>
              <a:rPr lang="en-US" altLang="zh-TW" dirty="0"/>
              <a:t>fault detection and recovery mechanism</a:t>
            </a:r>
            <a:r>
              <a:rPr lang="en-GB" altLang="zh-TW" dirty="0">
                <a:ea typeface="新細明體" charset="-120"/>
              </a:rPr>
              <a:t>.</a:t>
            </a:r>
          </a:p>
          <a:p>
            <a:pPr lvl="1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Performance</a:t>
            </a:r>
          </a:p>
          <a:p>
            <a:pPr lvl="2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Dynamic workloads    </a:t>
            </a:r>
            <a:r>
              <a:rPr lang="en-GB" altLang="zh-TW" dirty="0">
                <a:latin typeface="Wingdings" pitchFamily="2" charset="2"/>
                <a:ea typeface="新細明體" charset="-120"/>
              </a:rPr>
              <a:t> </a:t>
            </a:r>
            <a:r>
              <a:rPr lang="en-GB" altLang="zh-TW" dirty="0">
                <a:ea typeface="新細明體" charset="-120"/>
              </a:rPr>
              <a:t>Load balance.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635922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Ceph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Three main components</a:t>
            </a:r>
          </a:p>
          <a:p>
            <a:pPr marL="637794" lvl="1" indent="-342900"/>
            <a:r>
              <a:rPr lang="en-US" altLang="zh-TW" dirty="0"/>
              <a:t>Clients : Near-POSIX file system interface.</a:t>
            </a:r>
          </a:p>
          <a:p>
            <a:pPr marL="637794" lvl="1" indent="-342900"/>
            <a:r>
              <a:rPr lang="en-US" altLang="zh-TW" dirty="0"/>
              <a:t>Cluster of OSDs : Store all data and metadata.</a:t>
            </a:r>
          </a:p>
          <a:p>
            <a:pPr marL="637794" lvl="1" indent="-342900"/>
            <a:r>
              <a:rPr lang="en-US" altLang="zh-TW" dirty="0"/>
              <a:t>Metadata server cluster : Manage namespace (file name).</a:t>
            </a:r>
          </a:p>
          <a:p>
            <a:pPr lvl="1"/>
            <a:endParaRPr lang="zh-TW" altLang="en-US" dirty="0"/>
          </a:p>
        </p:txBody>
      </p:sp>
      <p:pic>
        <p:nvPicPr>
          <p:cNvPr id="4" name="Picture 2" descr="C:\Users\Dosa\Desktop\未命名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9742" y="2679762"/>
            <a:ext cx="4264387" cy="18902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50158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Three Fundamental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TW" b="1" dirty="0"/>
              <a:t>Separating Data and Metadata</a:t>
            </a:r>
          </a:p>
          <a:p>
            <a:pPr lvl="1"/>
            <a:r>
              <a:rPr lang="en-US" altLang="zh-TW" dirty="0"/>
              <a:t>Separation of file metadata management from the storage.</a:t>
            </a:r>
          </a:p>
          <a:p>
            <a:pPr lvl="1"/>
            <a:r>
              <a:rPr lang="en-US" altLang="zh-TW" dirty="0"/>
              <a:t>Metadata operations are collectively managed by a metadata server cluster.</a:t>
            </a:r>
          </a:p>
          <a:p>
            <a:pPr lvl="1"/>
            <a:r>
              <a:rPr lang="en-US" altLang="zh-TW" dirty="0"/>
              <a:t>User can direct access OSDs to get data by metadata.</a:t>
            </a:r>
          </a:p>
          <a:p>
            <a:pPr lvl="1"/>
            <a:r>
              <a:rPr lang="en-US" altLang="zh-TW" dirty="0" err="1"/>
              <a:t>Ceph</a:t>
            </a:r>
            <a:r>
              <a:rPr lang="en-US" altLang="zh-TW" dirty="0"/>
              <a:t> removed data allocation lists entirely.</a:t>
            </a:r>
          </a:p>
          <a:p>
            <a:pPr lvl="1"/>
            <a:r>
              <a:rPr lang="en-US" altLang="zh-TW" dirty="0" err="1"/>
              <a:t>Usr</a:t>
            </a:r>
            <a:r>
              <a:rPr lang="en-US" altLang="zh-TW" dirty="0"/>
              <a:t> CRUSH assigns objects to storage devices.</a:t>
            </a:r>
            <a:endParaRPr lang="zh-TW" altLang="en-US" dirty="0"/>
          </a:p>
          <a:p>
            <a:pPr lvl="1"/>
            <a:endParaRPr lang="en-US" altLang="zh-TW" dirty="0"/>
          </a:p>
          <a:p>
            <a:pPr lvl="1"/>
            <a:endParaRPr lang="en-US" altLang="zh-TW" b="1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90294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Separating Data and Metadata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Ceph</a:t>
            </a:r>
            <a:r>
              <a:rPr lang="en-US" altLang="zh-TW" dirty="0"/>
              <a:t> separates data and metadata operations</a:t>
            </a:r>
            <a:endParaRPr lang="zh-TW" altLang="en-US" dirty="0"/>
          </a:p>
        </p:txBody>
      </p:sp>
      <p:pic>
        <p:nvPicPr>
          <p:cNvPr id="2050" name="Picture 2" descr="C:\Users\dosa\Pictures\未命名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742" y="1815666"/>
            <a:ext cx="4536504" cy="291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3410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Separating Data and Metadata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CRUSH(Controlled Replication Under Scalable Hashing)</a:t>
            </a:r>
          </a:p>
          <a:p>
            <a:pPr lvl="1"/>
            <a:r>
              <a:rPr lang="en-US" altLang="zh-TW" dirty="0"/>
              <a:t>CRUSH is a scalable pseudo-random data distribution function designed for distributed object-based storage systems .</a:t>
            </a:r>
          </a:p>
          <a:p>
            <a:pPr lvl="1"/>
            <a:r>
              <a:rPr lang="en-US" altLang="zh-TW" dirty="0"/>
              <a:t>Define some simple hash functions.</a:t>
            </a:r>
          </a:p>
          <a:p>
            <a:pPr lvl="1"/>
            <a:r>
              <a:rPr lang="en-US" altLang="zh-TW" dirty="0"/>
              <a:t>Use hash functions to </a:t>
            </a:r>
            <a:r>
              <a:rPr lang="en-US" altLang="zh-TW" dirty="0" err="1"/>
              <a:t>efﬁciently</a:t>
            </a:r>
            <a:r>
              <a:rPr lang="en-US" altLang="zh-TW" dirty="0"/>
              <a:t> map data objects to storage devices without relying on a central directory.</a:t>
            </a:r>
          </a:p>
          <a:p>
            <a:pPr lvl="1"/>
            <a:r>
              <a:rPr lang="en-US" altLang="zh-TW" dirty="0"/>
              <a:t>Advantages</a:t>
            </a:r>
          </a:p>
          <a:p>
            <a:pPr lvl="2"/>
            <a:r>
              <a:rPr lang="en-US" altLang="zh-TW" dirty="0"/>
              <a:t>Because using hash functions, client can </a:t>
            </a:r>
            <a:r>
              <a:rPr lang="en-GB" altLang="zh-TW" dirty="0">
                <a:ea typeface="新細明體" charset="-120"/>
              </a:rPr>
              <a:t>calculate object location directly.</a:t>
            </a:r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22979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Separating Data and Metadata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CRUSH(x) </a:t>
            </a:r>
            <a:r>
              <a:rPr lang="en-GB" altLang="zh-TW" dirty="0">
                <a:latin typeface="Wingdings" pitchFamily="2" charset="2"/>
                <a:ea typeface="新細明體" charset="-120"/>
              </a:rPr>
              <a:t></a:t>
            </a:r>
            <a:r>
              <a:rPr lang="en-GB" altLang="zh-TW" dirty="0">
                <a:ea typeface="新細明體" charset="-120"/>
              </a:rPr>
              <a:t> (osd</a:t>
            </a:r>
            <a:r>
              <a:rPr lang="en-GB" altLang="zh-TW" baseline="-25000" dirty="0">
                <a:ea typeface="新細明體" charset="-120"/>
              </a:rPr>
              <a:t>n1</a:t>
            </a:r>
            <a:r>
              <a:rPr lang="en-GB" altLang="zh-TW" dirty="0">
                <a:ea typeface="新細明體" charset="-120"/>
              </a:rPr>
              <a:t>, osd</a:t>
            </a:r>
            <a:r>
              <a:rPr lang="en-GB" altLang="zh-TW" baseline="-25000" dirty="0">
                <a:ea typeface="新細明體" charset="-120"/>
              </a:rPr>
              <a:t>n2</a:t>
            </a:r>
            <a:r>
              <a:rPr lang="en-GB" altLang="zh-TW" dirty="0">
                <a:ea typeface="新細明體" charset="-120"/>
              </a:rPr>
              <a:t>, osd</a:t>
            </a:r>
            <a:r>
              <a:rPr lang="en-GB" altLang="zh-TW" baseline="-25000" dirty="0">
                <a:ea typeface="新細明體" charset="-120"/>
              </a:rPr>
              <a:t>n3</a:t>
            </a:r>
            <a:r>
              <a:rPr lang="en-GB" altLang="zh-TW" dirty="0">
                <a:ea typeface="新細明體" charset="-120"/>
              </a:rPr>
              <a:t>)</a:t>
            </a:r>
          </a:p>
          <a:p>
            <a:pPr lvl="1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Inputs</a:t>
            </a:r>
          </a:p>
          <a:p>
            <a:pPr lvl="2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x is the placement group</a:t>
            </a:r>
          </a:p>
          <a:p>
            <a:pPr lvl="2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Hierarchical cluster map</a:t>
            </a:r>
          </a:p>
          <a:p>
            <a:pPr lvl="2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Placement rules</a:t>
            </a:r>
          </a:p>
          <a:p>
            <a:pPr lvl="1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Outputs a list of OSDs</a:t>
            </a:r>
          </a:p>
          <a:p>
            <a:pPr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Advantages</a:t>
            </a:r>
          </a:p>
          <a:p>
            <a:pPr lvl="1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Anyone can calculate object location</a:t>
            </a:r>
          </a:p>
          <a:p>
            <a:pPr lvl="1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Cluster map infrequently updated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37006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Separating Data and Metadata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Data Distribution with CRUSH</a:t>
            </a:r>
          </a:p>
          <a:p>
            <a:pPr lvl="1"/>
            <a:r>
              <a:rPr lang="en-US" altLang="zh-TW" dirty="0"/>
              <a:t>In order to avoid imbalance (OSD idle, empty) or load asymmetries (hot data on new device).</a:t>
            </a:r>
            <a:br>
              <a:rPr lang="en-US" altLang="zh-TW" dirty="0"/>
            </a:br>
            <a:r>
              <a:rPr lang="en-US" altLang="zh-TW" dirty="0"/>
              <a:t> →</a:t>
            </a:r>
            <a:r>
              <a:rPr lang="en-US" altLang="zh-TW" dirty="0">
                <a:solidFill>
                  <a:srgbClr val="FF0000"/>
                </a:solidFill>
              </a:rPr>
              <a:t>distributing new data randomly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Use a simple hash function,  </a:t>
            </a:r>
            <a:r>
              <a:rPr lang="en-US" altLang="zh-TW" dirty="0" err="1"/>
              <a:t>Ceph</a:t>
            </a:r>
            <a:r>
              <a:rPr lang="en-US" altLang="zh-TW" dirty="0"/>
              <a:t> maps objects to Placement groups (PGs).  PGs are assigned to OSDs by CRUSH.</a:t>
            </a:r>
            <a:endParaRPr lang="zh-TW" altLang="en-US" dirty="0"/>
          </a:p>
          <a:p>
            <a:pPr lvl="1"/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4" name="Picture 2" descr="C:\Users\Dosa\Desktop\未命名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869214"/>
            <a:ext cx="4105392" cy="20684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637008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2863" indent="-342900"/>
            <a:r>
              <a:rPr lang="en-US" altLang="zh-TW" dirty="0"/>
              <a:t>Dynamic Distributed Metadata Management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2863" indent="-342900">
              <a:buFont typeface="+mj-lt"/>
              <a:buAutoNum type="arabicPeriod" startAt="2"/>
            </a:pPr>
            <a:r>
              <a:rPr lang="en-US" altLang="zh-TW" b="1" dirty="0"/>
              <a:t>Dynamic Distributed Metadata Management</a:t>
            </a:r>
          </a:p>
          <a:p>
            <a:pPr marL="642938" lvl="2" indent="-342900">
              <a:buClr>
                <a:schemeClr val="accent3">
                  <a:lumMod val="50000"/>
                </a:schemeClr>
              </a:buClr>
              <a:buFont typeface="Wingdings" pitchFamily="2" charset="2"/>
              <a:buChar char=""/>
            </a:pPr>
            <a:r>
              <a:rPr lang="pt-BR" altLang="zh-TW" sz="1500" dirty="0">
                <a:solidFill>
                  <a:schemeClr val="accent3">
                    <a:lumMod val="50000"/>
                  </a:schemeClr>
                </a:solidFill>
              </a:rPr>
              <a:t>Ceph utilizes a metadata </a:t>
            </a:r>
            <a:r>
              <a:rPr lang="en-US" altLang="zh-TW" sz="1500" dirty="0">
                <a:solidFill>
                  <a:schemeClr val="accent3">
                    <a:lumMod val="50000"/>
                  </a:schemeClr>
                </a:solidFill>
              </a:rPr>
              <a:t>cluster architecture based on Dynamic </a:t>
            </a:r>
            <a:r>
              <a:rPr lang="en-US" altLang="zh-TW" sz="1500" dirty="0" err="1">
                <a:solidFill>
                  <a:schemeClr val="accent3">
                    <a:lumMod val="50000"/>
                  </a:schemeClr>
                </a:solidFill>
              </a:rPr>
              <a:t>Subtree</a:t>
            </a:r>
            <a:r>
              <a:rPr lang="en-US" altLang="zh-TW" sz="1500" dirty="0">
                <a:solidFill>
                  <a:schemeClr val="accent3">
                    <a:lumMod val="50000"/>
                  </a:schemeClr>
                </a:solidFill>
              </a:rPr>
              <a:t> Partitioning.(workload balance)</a:t>
            </a:r>
          </a:p>
          <a:p>
            <a:pPr lvl="1"/>
            <a:r>
              <a:rPr lang="en-US" altLang="zh-TW" dirty="0"/>
              <a:t>Dynamic </a:t>
            </a:r>
            <a:r>
              <a:rPr lang="en-US" altLang="zh-TW" dirty="0" err="1"/>
              <a:t>Subtree</a:t>
            </a:r>
            <a:r>
              <a:rPr lang="en-US" altLang="zh-TW" dirty="0"/>
              <a:t> Partitioning</a:t>
            </a:r>
          </a:p>
          <a:p>
            <a:pPr lvl="2"/>
            <a:r>
              <a:rPr lang="en-US" altLang="zh-TW" dirty="0"/>
              <a:t>Most FS ,use static </a:t>
            </a:r>
            <a:r>
              <a:rPr lang="en-US" altLang="zh-TW" dirty="0" err="1"/>
              <a:t>subtree</a:t>
            </a:r>
            <a:r>
              <a:rPr lang="en-US" altLang="zh-TW" dirty="0"/>
              <a:t> partitioning</a:t>
            </a:r>
            <a:br>
              <a:rPr lang="en-US" altLang="zh-TW" b="1" dirty="0"/>
            </a:br>
            <a:r>
              <a:rPr lang="en-US" altLang="zh-TW" dirty="0"/>
              <a:t> →imbalance workloads.</a:t>
            </a:r>
            <a:br>
              <a:rPr lang="en-US" altLang="zh-TW" dirty="0"/>
            </a:br>
            <a:r>
              <a:rPr lang="en-US" altLang="zh-TW" dirty="0"/>
              <a:t> →</a:t>
            </a:r>
            <a:r>
              <a:rPr lang="en-US" altLang="zh-TW" dirty="0">
                <a:solidFill>
                  <a:srgbClr val="FF0000"/>
                </a:solidFill>
              </a:rPr>
              <a:t>simple hash function can get directory</a:t>
            </a:r>
            <a:r>
              <a:rPr lang="en-US" altLang="zh-TW" dirty="0"/>
              <a:t>.</a:t>
            </a:r>
            <a:endParaRPr lang="en-US" altLang="zh-TW" b="1" dirty="0"/>
          </a:p>
          <a:p>
            <a:pPr lvl="2"/>
            <a:r>
              <a:rPr lang="en-US" altLang="zh-TW" dirty="0" err="1"/>
              <a:t>Ceph’s</a:t>
            </a:r>
            <a:r>
              <a:rPr lang="en-US" altLang="zh-TW" dirty="0"/>
              <a:t> MDS cluster is based on a dynamic </a:t>
            </a:r>
            <a:r>
              <a:rPr lang="en-US" altLang="zh-TW" dirty="0" err="1"/>
              <a:t>subtree</a:t>
            </a:r>
            <a:r>
              <a:rPr lang="en-US" altLang="zh-TW" dirty="0"/>
              <a:t> partitioning. →</a:t>
            </a:r>
            <a:r>
              <a:rPr lang="en-US" altLang="zh-TW" dirty="0">
                <a:solidFill>
                  <a:srgbClr val="FF0000"/>
                </a:solidFill>
              </a:rPr>
              <a:t>balance workloads</a:t>
            </a:r>
            <a:endParaRPr lang="en-US" altLang="zh-TW" sz="1350" dirty="0">
              <a:solidFill>
                <a:schemeClr val="accent3">
                  <a:lumMod val="50000"/>
                </a:schemeClr>
              </a:solidFill>
            </a:endParaRPr>
          </a:p>
          <a:p>
            <a:pPr marL="342900" lvl="1" indent="-342900">
              <a:buFont typeface="+mj-lt"/>
              <a:buAutoNum type="arabicPeriod"/>
            </a:pPr>
            <a:endParaRPr lang="en-US" altLang="zh-TW" b="1" dirty="0"/>
          </a:p>
          <a:p>
            <a:endParaRPr lang="zh-TW" altLang="en-US" dirty="0"/>
          </a:p>
        </p:txBody>
      </p:sp>
      <p:pic>
        <p:nvPicPr>
          <p:cNvPr id="4" name="Picture 2" descr="C:\Users\Dosa\Desktop\未命名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3399700"/>
            <a:ext cx="4212468" cy="1671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96367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Reliable Distributed Object Storage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2863" indent="-342900">
              <a:buFont typeface="+mj-lt"/>
              <a:buAutoNum type="arabicPeriod" startAt="3"/>
            </a:pPr>
            <a:r>
              <a:rPr lang="en-US" altLang="zh-TW" b="1" dirty="0"/>
              <a:t>Reliable Autonomic Distributed Object Storage</a:t>
            </a:r>
          </a:p>
          <a:p>
            <a:pPr marL="642938" lvl="1" indent="-342900"/>
            <a:r>
              <a:rPr lang="en-US" altLang="zh-TW" dirty="0"/>
              <a:t>Replica.</a:t>
            </a:r>
          </a:p>
          <a:p>
            <a:pPr marL="642938" lvl="1" indent="-342900"/>
            <a:r>
              <a:rPr lang="en-GB" altLang="zh-TW" dirty="0">
                <a:ea typeface="新細明體" charset="-120"/>
              </a:rPr>
              <a:t>Failure Detection and Recovery.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59711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</a:rPr>
              <a:t>Client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TW" b="1" dirty="0">
                <a:ea typeface="新細明體" charset="-120"/>
              </a:rPr>
              <a:t>Client Operation</a:t>
            </a:r>
          </a:p>
          <a:p>
            <a:pPr lvl="1"/>
            <a:r>
              <a:rPr lang="en-US" altLang="zh-TW" b="1" dirty="0"/>
              <a:t>File I/O and Capabilities</a:t>
            </a:r>
            <a:endParaRPr lang="zh-TW" altLang="en-US" dirty="0"/>
          </a:p>
          <a:p>
            <a:pPr lvl="1"/>
            <a:endParaRPr lang="zh-TW" altLang="en-US" b="1" dirty="0"/>
          </a:p>
        </p:txBody>
      </p:sp>
      <p:grpSp>
        <p:nvGrpSpPr>
          <p:cNvPr id="4" name="群組 3"/>
          <p:cNvGrpSpPr/>
          <p:nvPr/>
        </p:nvGrpSpPr>
        <p:grpSpPr>
          <a:xfrm>
            <a:off x="1327553" y="1894877"/>
            <a:ext cx="6346086" cy="2875675"/>
            <a:chOff x="107504" y="2420888"/>
            <a:chExt cx="8928992" cy="3960440"/>
          </a:xfrm>
        </p:grpSpPr>
        <p:sp>
          <p:nvSpPr>
            <p:cNvPr id="5" name="文字方塊 4"/>
            <p:cNvSpPr txBox="1"/>
            <p:nvPr/>
          </p:nvSpPr>
          <p:spPr>
            <a:xfrm>
              <a:off x="3491880" y="2780928"/>
              <a:ext cx="1166512" cy="41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Request</a:t>
              </a:r>
              <a:endParaRPr lang="zh-TW" altLang="en-US" sz="1350" dirty="0"/>
            </a:p>
          </p:txBody>
        </p:sp>
        <p:grpSp>
          <p:nvGrpSpPr>
            <p:cNvPr id="6" name="群組 5"/>
            <p:cNvGrpSpPr/>
            <p:nvPr/>
          </p:nvGrpSpPr>
          <p:grpSpPr>
            <a:xfrm>
              <a:off x="107504" y="2420888"/>
              <a:ext cx="8928992" cy="3960440"/>
              <a:chOff x="107504" y="2420888"/>
              <a:chExt cx="8928992" cy="3960440"/>
            </a:xfrm>
          </p:grpSpPr>
          <p:sp>
            <p:nvSpPr>
              <p:cNvPr id="7" name="橢圓 6"/>
              <p:cNvSpPr/>
              <p:nvPr/>
            </p:nvSpPr>
            <p:spPr>
              <a:xfrm>
                <a:off x="755576" y="3284984"/>
                <a:ext cx="2160240" cy="7200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Client</a:t>
                </a:r>
              </a:p>
              <a:p>
                <a:pPr algn="ctr"/>
                <a:r>
                  <a:rPr lang="en-US" altLang="zh-TW" sz="1350" dirty="0"/>
                  <a:t>(open file)</a:t>
                </a:r>
                <a:endParaRPr lang="zh-TW" altLang="en-US" sz="1350" dirty="0"/>
              </a:p>
              <a:p>
                <a:pPr algn="ctr"/>
                <a:endParaRPr lang="zh-TW" altLang="en-US" sz="1350" dirty="0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5220072" y="3140968"/>
                <a:ext cx="1728192" cy="7920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/>
                  <a:t>MDS</a:t>
                </a:r>
                <a:endParaRPr lang="zh-TW" altLang="en-US" sz="1350" dirty="0"/>
              </a:p>
            </p:txBody>
          </p:sp>
          <p:sp>
            <p:nvSpPr>
              <p:cNvPr id="9" name="迴轉箭號 8"/>
              <p:cNvSpPr/>
              <p:nvPr/>
            </p:nvSpPr>
            <p:spPr>
              <a:xfrm>
                <a:off x="1752640" y="2547095"/>
                <a:ext cx="4464496" cy="648072"/>
              </a:xfrm>
              <a:prstGeom prst="utur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7020272" y="2420888"/>
                <a:ext cx="2016224" cy="230425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/>
                  <a:t>Translate file name into </a:t>
                </a:r>
                <a:r>
                  <a:rPr lang="en-US" altLang="zh-TW" sz="1350" dirty="0" err="1"/>
                  <a:t>inode</a:t>
                </a:r>
                <a:r>
                  <a:rPr lang="en-US" altLang="zh-TW" sz="1350" dirty="0"/>
                  <a:t>(</a:t>
                </a:r>
                <a:r>
                  <a:rPr lang="en-US" altLang="zh-TW" sz="1350" dirty="0" err="1"/>
                  <a:t>inode</a:t>
                </a:r>
                <a:r>
                  <a:rPr lang="en-US" altLang="zh-TW" sz="1350" dirty="0"/>
                  <a:t> number, file owner, mode, size, …)</a:t>
                </a:r>
                <a:endParaRPr lang="zh-TW" altLang="en-US" sz="1350" dirty="0"/>
              </a:p>
            </p:txBody>
          </p:sp>
          <p:sp>
            <p:nvSpPr>
              <p:cNvPr id="11" name="迴轉箭號 10"/>
              <p:cNvSpPr/>
              <p:nvPr/>
            </p:nvSpPr>
            <p:spPr>
              <a:xfrm rot="10800000">
                <a:off x="1763688" y="4005064"/>
                <a:ext cx="4464496" cy="792088"/>
              </a:xfrm>
              <a:prstGeom prst="utur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3059833" y="4149080"/>
                <a:ext cx="2208524" cy="413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350" dirty="0"/>
                  <a:t>Check OK, return </a:t>
                </a:r>
                <a:endParaRPr lang="zh-TW" altLang="en-US" sz="1350" dirty="0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843808" y="4941168"/>
                <a:ext cx="2448272" cy="1124744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/>
                  <a:t>Return </a:t>
                </a:r>
                <a:r>
                  <a:rPr lang="en-US" altLang="zh-TW" sz="1350" dirty="0" err="1"/>
                  <a:t>inode</a:t>
                </a:r>
                <a:r>
                  <a:rPr lang="en-US" altLang="zh-TW" sz="1350" dirty="0"/>
                  <a:t> number, map file data into objects(CRUSH) </a:t>
                </a:r>
                <a:endParaRPr lang="zh-TW" altLang="en-US" sz="1350" dirty="0"/>
              </a:p>
            </p:txBody>
          </p:sp>
          <p:sp>
            <p:nvSpPr>
              <p:cNvPr id="14" name="橢圓 13"/>
              <p:cNvSpPr/>
              <p:nvPr/>
            </p:nvSpPr>
            <p:spPr>
              <a:xfrm>
                <a:off x="323528" y="5517232"/>
                <a:ext cx="1944216" cy="86409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/>
                  <a:t>OSD</a:t>
                </a:r>
                <a:endParaRPr lang="zh-TW" altLang="en-US" sz="1350" dirty="0"/>
              </a:p>
            </p:txBody>
          </p:sp>
          <p:sp>
            <p:nvSpPr>
              <p:cNvPr id="15" name="上-下雙向箭號 14"/>
              <p:cNvSpPr/>
              <p:nvPr/>
            </p:nvSpPr>
            <p:spPr>
              <a:xfrm>
                <a:off x="971600" y="4077072"/>
                <a:ext cx="360040" cy="1296144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107504" y="4293097"/>
                <a:ext cx="1017654" cy="699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350" dirty="0"/>
                  <a:t>Direct </a:t>
                </a:r>
              </a:p>
              <a:p>
                <a:r>
                  <a:rPr lang="en-US" altLang="zh-TW" sz="1350" dirty="0"/>
                  <a:t>access</a:t>
                </a:r>
                <a:endParaRPr lang="zh-TW" altLang="en-US" sz="13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830861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</a:rPr>
              <a:t>Client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Client Synchronization</a:t>
            </a:r>
          </a:p>
          <a:p>
            <a:pPr lvl="1"/>
            <a:r>
              <a:rPr lang="en-US" altLang="zh-TW" dirty="0"/>
              <a:t>If multiple clients (readers and writers) use the same file, cancel any previously read and write requests until OSD check OK.</a:t>
            </a:r>
          </a:p>
          <a:p>
            <a:pPr lvl="2"/>
            <a:r>
              <a:rPr lang="en-US" altLang="zh-TW" dirty="0"/>
              <a:t>Traditional: Update serialization. → </a:t>
            </a:r>
            <a:r>
              <a:rPr lang="en-US" altLang="zh-TW" dirty="0">
                <a:solidFill>
                  <a:srgbClr val="FF0000"/>
                </a:solidFill>
              </a:rPr>
              <a:t>Bad performance</a:t>
            </a:r>
            <a:endParaRPr lang="en-US" altLang="zh-TW" dirty="0"/>
          </a:p>
          <a:p>
            <a:pPr lvl="2"/>
            <a:r>
              <a:rPr lang="en-US" altLang="zh-TW" dirty="0" err="1"/>
              <a:t>Ceph</a:t>
            </a:r>
            <a:r>
              <a:rPr lang="en-US" altLang="zh-TW" dirty="0"/>
              <a:t>: Use for HPC (high-performance computing community) can read and write different parts of same file (diff objects).</a:t>
            </a:r>
            <a:br>
              <a:rPr lang="en-US" altLang="zh-TW" dirty="0"/>
            </a:br>
            <a:r>
              <a:rPr lang="en-US" altLang="zh-TW" dirty="0"/>
              <a:t>→ </a:t>
            </a:r>
            <a:r>
              <a:rPr lang="en-US" altLang="zh-TW" dirty="0">
                <a:solidFill>
                  <a:srgbClr val="FF0000"/>
                </a:solidFill>
              </a:rPr>
              <a:t>increase performance</a:t>
            </a:r>
          </a:p>
          <a:p>
            <a:pPr lvl="2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54604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Metadata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dirty="0"/>
              <a:t>Dynamically Distributed Metadata</a:t>
            </a:r>
          </a:p>
          <a:p>
            <a:pPr lvl="1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MDSs use journaling</a:t>
            </a:r>
          </a:p>
          <a:p>
            <a:pPr lvl="2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Repetitive metadata updates handled in memory.</a:t>
            </a:r>
          </a:p>
          <a:p>
            <a:pPr lvl="2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Optimizes on-disk layout for read access.</a:t>
            </a:r>
            <a:endParaRPr lang="en-US" altLang="zh-TW" b="1" dirty="0"/>
          </a:p>
          <a:p>
            <a:pPr lvl="1"/>
            <a:r>
              <a:rPr lang="en-US" altLang="zh-TW" dirty="0"/>
              <a:t>Per-MDS has journal (usually a circular log in a dedicated area of the file system), when MDS failure another node can quickly recover with journal.</a:t>
            </a:r>
          </a:p>
          <a:p>
            <a:pPr lvl="1"/>
            <a:r>
              <a:rPr lang="en-US" altLang="zh-TW" dirty="0" err="1"/>
              <a:t>Inodes</a:t>
            </a:r>
            <a:r>
              <a:rPr lang="en-US" altLang="zh-TW" dirty="0"/>
              <a:t> are embedded directly within directories.</a:t>
            </a:r>
          </a:p>
          <a:p>
            <a:pPr lvl="1"/>
            <a:r>
              <a:rPr lang="en-US" altLang="zh-TW" dirty="0"/>
              <a:t>Each directory’s content is written to the OSD cluster using the same striping and distribution strategy as metadata journals and file data.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88395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Replica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Replication</a:t>
            </a:r>
          </a:p>
          <a:p>
            <a:pPr lvl="1"/>
            <a:r>
              <a:rPr lang="en-US" altLang="zh-TW" dirty="0"/>
              <a:t>Data is replicated in terms of </a:t>
            </a:r>
            <a:r>
              <a:rPr lang="en-US" altLang="zh-TW" dirty="0" err="1"/>
              <a:t>PGs.</a:t>
            </a:r>
            <a:endParaRPr lang="en-US" altLang="zh-TW" dirty="0"/>
          </a:p>
          <a:p>
            <a:pPr lvl="1"/>
            <a:r>
              <a:rPr lang="en-US" altLang="zh-TW" dirty="0"/>
              <a:t>Clients send all writes to the first non-failed OSD in an object’s PG (the </a:t>
            </a:r>
            <a:r>
              <a:rPr lang="en-US" altLang="zh-TW" i="1" dirty="0"/>
              <a:t>primary</a:t>
            </a:r>
            <a:r>
              <a:rPr lang="en-US" altLang="zh-TW" dirty="0"/>
              <a:t>)</a:t>
            </a:r>
            <a:r>
              <a:rPr lang="en-US" altLang="zh-TW" i="1" dirty="0"/>
              <a:t>, </a:t>
            </a:r>
            <a:r>
              <a:rPr lang="en-US" altLang="zh-TW" dirty="0"/>
              <a:t>which</a:t>
            </a:r>
            <a:r>
              <a:rPr lang="en-US" altLang="zh-TW" i="1" dirty="0"/>
              <a:t> </a:t>
            </a:r>
            <a:r>
              <a:rPr lang="en-US" altLang="zh-TW" dirty="0"/>
              <a:t>assigns a new version number for the object and PG; and forwards the write to any additional </a:t>
            </a:r>
            <a:r>
              <a:rPr lang="en-US" altLang="zh-TW" i="1" dirty="0"/>
              <a:t>replica </a:t>
            </a:r>
            <a:r>
              <a:rPr lang="en-US" altLang="zh-TW" dirty="0"/>
              <a:t>OSDs</a:t>
            </a:r>
            <a:r>
              <a:rPr lang="en-US" altLang="zh-TW" i="1" dirty="0"/>
              <a:t>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Picture 2" descr="C:\Users\Dosa\Desktop\未命名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9682" y="2625756"/>
            <a:ext cx="5621269" cy="21602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193339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Failure detection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Failure detection</a:t>
            </a:r>
          </a:p>
          <a:p>
            <a:pPr lvl="1"/>
            <a:r>
              <a:rPr lang="en-US" altLang="zh-TW" dirty="0"/>
              <a:t>When OSD not response → sign “</a:t>
            </a:r>
            <a:r>
              <a:rPr lang="en-US" altLang="zh-TW" dirty="0">
                <a:solidFill>
                  <a:srgbClr val="FF0000"/>
                </a:solidFill>
              </a:rPr>
              <a:t>down</a:t>
            </a:r>
            <a:r>
              <a:rPr lang="en-US" altLang="zh-TW" dirty="0"/>
              <a:t>”</a:t>
            </a:r>
          </a:p>
          <a:p>
            <a:pPr lvl="1"/>
            <a:r>
              <a:rPr lang="en-US" altLang="zh-TW" dirty="0"/>
              <a:t>Pass to the next OSD.</a:t>
            </a:r>
          </a:p>
          <a:p>
            <a:pPr lvl="1"/>
            <a:r>
              <a:rPr lang="en-US" altLang="zh-TW" dirty="0"/>
              <a:t>If first OSD doesn’t recover →sign “</a:t>
            </a:r>
            <a:r>
              <a:rPr lang="en-US" altLang="zh-TW" dirty="0">
                <a:solidFill>
                  <a:srgbClr val="FF0000"/>
                </a:solidFill>
              </a:rPr>
              <a:t>out</a:t>
            </a:r>
            <a:r>
              <a:rPr lang="en-US" altLang="zh-TW" dirty="0"/>
              <a:t>”</a:t>
            </a:r>
          </a:p>
          <a:p>
            <a:pPr lvl="1"/>
            <a:r>
              <a:rPr lang="en-US" altLang="zh-TW" dirty="0"/>
              <a:t>Another OSD join.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94726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Recovery and Cluster Updates</a:t>
            </a:r>
          </a:p>
          <a:p>
            <a:pPr lvl="1"/>
            <a:r>
              <a:rPr lang="en-US" altLang="zh-TW" dirty="0"/>
              <a:t>If OSD1 crashes → sign “</a:t>
            </a:r>
            <a:r>
              <a:rPr lang="en-US" altLang="zh-TW" dirty="0">
                <a:solidFill>
                  <a:srgbClr val="FF0000"/>
                </a:solidFill>
              </a:rPr>
              <a:t>down</a:t>
            </a:r>
            <a:r>
              <a:rPr lang="en-US" altLang="zh-TW" dirty="0"/>
              <a:t>”</a:t>
            </a:r>
          </a:p>
          <a:p>
            <a:pPr lvl="1"/>
            <a:r>
              <a:rPr lang="en-US" altLang="zh-TW" dirty="0"/>
              <a:t>The OSD2 takes over as primary.</a:t>
            </a:r>
          </a:p>
          <a:p>
            <a:pPr lvl="1"/>
            <a:r>
              <a:rPr lang="en-US" altLang="zh-TW" dirty="0"/>
              <a:t>If OSD1 recovers → sign “</a:t>
            </a:r>
            <a:r>
              <a:rPr lang="en-US" altLang="zh-TW" dirty="0">
                <a:solidFill>
                  <a:srgbClr val="FF0000"/>
                </a:solidFill>
              </a:rPr>
              <a:t>up</a:t>
            </a:r>
            <a:r>
              <a:rPr lang="en-US" altLang="zh-TW" dirty="0"/>
              <a:t>”</a:t>
            </a:r>
          </a:p>
          <a:p>
            <a:pPr lvl="1"/>
            <a:r>
              <a:rPr lang="en-US" altLang="zh-TW" dirty="0"/>
              <a:t>The OSD2 receives update request, sent new version data to OSD1. 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639371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485900" y="1200151"/>
            <a:ext cx="3116610" cy="3394472"/>
          </a:xfrm>
        </p:spPr>
        <p:txBody>
          <a:bodyPr/>
          <a:lstStyle/>
          <a:p>
            <a:r>
              <a:rPr lang="en-US" altLang="zh-TW" dirty="0"/>
              <a:t>Overview</a:t>
            </a:r>
          </a:p>
          <a:p>
            <a:pPr lvl="1"/>
            <a:r>
              <a:rPr lang="en-US" altLang="zh-TW" dirty="0"/>
              <a:t>HDFS(</a:t>
            </a:r>
            <a:r>
              <a:rPr lang="en-US" altLang="zh-TW" dirty="0" err="1">
                <a:solidFill>
                  <a:srgbClr val="FF0000"/>
                </a:solidFill>
              </a:rPr>
              <a:t>H</a:t>
            </a:r>
            <a:r>
              <a:rPr lang="en-US" altLang="zh-TW" dirty="0" err="1"/>
              <a:t>adoop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D</a:t>
            </a:r>
            <a:r>
              <a:rPr lang="en-US" altLang="zh-TW" dirty="0"/>
              <a:t>istributed </a:t>
            </a:r>
            <a:r>
              <a:rPr lang="en-US" altLang="zh-TW" dirty="0">
                <a:solidFill>
                  <a:srgbClr val="FF0000"/>
                </a:solidFill>
              </a:rPr>
              <a:t>F</a:t>
            </a:r>
            <a:r>
              <a:rPr lang="en-US" altLang="zh-TW" dirty="0"/>
              <a:t>ile </a:t>
            </a:r>
            <a:r>
              <a:rPr lang="en-US" altLang="zh-TW" dirty="0">
                <a:solidFill>
                  <a:srgbClr val="FF0000"/>
                </a:solidFill>
              </a:rPr>
              <a:t>S</a:t>
            </a:r>
            <a:r>
              <a:rPr lang="en-US" altLang="zh-TW" dirty="0"/>
              <a:t>ystem).</a:t>
            </a:r>
          </a:p>
          <a:p>
            <a:pPr lvl="1"/>
            <a:r>
              <a:rPr lang="en-US" altLang="zh-TW" dirty="0"/>
              <a:t>Reference from Google File System.</a:t>
            </a:r>
          </a:p>
          <a:p>
            <a:pPr lvl="1"/>
            <a:r>
              <a:rPr lang="en-US" altLang="zh-TW" dirty="0"/>
              <a:t>A scalable distributed file system for large data analysis.</a:t>
            </a:r>
          </a:p>
          <a:p>
            <a:pPr lvl="1"/>
            <a:r>
              <a:rPr lang="en-US" altLang="zh-TW" dirty="0"/>
              <a:t>Based on commodity hardware with high fault-tolerant.</a:t>
            </a:r>
          </a:p>
          <a:p>
            <a:pPr lvl="1"/>
            <a:r>
              <a:rPr lang="en-US" altLang="zh-TW" dirty="0"/>
              <a:t>The primary storage used by </a:t>
            </a:r>
            <a:r>
              <a:rPr lang="en-US" altLang="zh-TW" dirty="0" err="1"/>
              <a:t>Hadoop</a:t>
            </a:r>
            <a:r>
              <a:rPr lang="en-US" altLang="zh-TW" dirty="0"/>
              <a:t> applications.</a:t>
            </a: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4707998" y="1383618"/>
            <a:ext cx="2916324" cy="2808597"/>
            <a:chOff x="5004048" y="1988840"/>
            <a:chExt cx="3888432" cy="3744796"/>
          </a:xfrm>
        </p:grpSpPr>
        <p:sp>
          <p:nvSpPr>
            <p:cNvPr id="7" name="圓角矩形 6"/>
            <p:cNvSpPr/>
            <p:nvPr/>
          </p:nvSpPr>
          <p:spPr>
            <a:xfrm>
              <a:off x="5148064" y="3794367"/>
              <a:ext cx="3734344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 err="1"/>
                <a:t>Hadoop</a:t>
              </a:r>
              <a:r>
                <a:rPr lang="en-US" altLang="zh-TW" sz="1350" dirty="0"/>
                <a:t> Distributed File System (HDFS)</a:t>
              </a:r>
              <a:endParaRPr lang="zh-TW" altLang="en-US" sz="1350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5148064" y="2991910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 err="1"/>
                <a:t>MapReduce</a:t>
              </a:r>
              <a:endParaRPr lang="zh-TW" altLang="en-US" sz="1350" dirty="0"/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7081921" y="2991910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 err="1"/>
                <a:t>Hbase</a:t>
              </a:r>
              <a:endParaRPr lang="zh-TW" altLang="en-US" sz="1350" dirty="0"/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5148064" y="4797437"/>
              <a:ext cx="3734344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 Cluster of Machines</a:t>
              </a:r>
              <a:endParaRPr lang="zh-TW" altLang="en-US" sz="1350" dirty="0"/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5153003" y="1988840"/>
              <a:ext cx="3734344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Cloud Applications</a:t>
              </a:r>
              <a:endParaRPr lang="zh-TW" altLang="en-US" sz="135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5004048" y="3717032"/>
              <a:ext cx="3888432" cy="108012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96793629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Hadoop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  <a:p>
            <a:pPr lvl="1"/>
            <a:r>
              <a:rPr lang="en-US" altLang="zh-TW" dirty="0"/>
              <a:t>An Apache project</a:t>
            </a:r>
          </a:p>
          <a:p>
            <a:pPr lvl="1"/>
            <a:r>
              <a:rPr lang="en-US" altLang="zh-TW" dirty="0"/>
              <a:t>A distributed computing platform</a:t>
            </a:r>
          </a:p>
          <a:p>
            <a:pPr lvl="1"/>
            <a:r>
              <a:rPr lang="en-US" altLang="zh-TW" dirty="0"/>
              <a:t>A software framework that lets one easily write and run applications that process vast amounts of data</a:t>
            </a:r>
          </a:p>
          <a:p>
            <a:r>
              <a:rPr lang="en-US" altLang="zh-TW" dirty="0"/>
              <a:t>From three papers</a:t>
            </a:r>
          </a:p>
          <a:p>
            <a:pPr lvl="1"/>
            <a:r>
              <a:rPr lang="en-US" altLang="zh-TW" dirty="0"/>
              <a:t>SOSP 2003 : “The </a:t>
            </a:r>
            <a:r>
              <a:rPr lang="en-US" altLang="zh-TW" b="1" dirty="0">
                <a:solidFill>
                  <a:srgbClr val="FF0000"/>
                </a:solidFill>
              </a:rPr>
              <a:t>G</a:t>
            </a:r>
            <a:r>
              <a:rPr lang="en-US" altLang="zh-TW" dirty="0"/>
              <a:t>oogle </a:t>
            </a:r>
            <a:r>
              <a:rPr lang="en-US" altLang="zh-TW" b="1" dirty="0">
                <a:solidFill>
                  <a:srgbClr val="FF0000"/>
                </a:solidFill>
              </a:rPr>
              <a:t>F</a:t>
            </a:r>
            <a:r>
              <a:rPr lang="en-US" altLang="zh-TW" dirty="0"/>
              <a:t>ile </a:t>
            </a:r>
            <a:r>
              <a:rPr lang="en-US" altLang="zh-TW" b="1" dirty="0">
                <a:solidFill>
                  <a:srgbClr val="FF0000"/>
                </a:solidFill>
              </a:rPr>
              <a:t>S</a:t>
            </a:r>
            <a:r>
              <a:rPr lang="en-US" altLang="zh-TW" dirty="0"/>
              <a:t>ystem”</a:t>
            </a:r>
          </a:p>
          <a:p>
            <a:pPr lvl="1"/>
            <a:r>
              <a:rPr lang="en-US" altLang="zh-TW" dirty="0"/>
              <a:t>OSDI 2004 : “</a:t>
            </a:r>
            <a:r>
              <a:rPr lang="en-US" altLang="zh-TW" b="1" dirty="0" err="1">
                <a:solidFill>
                  <a:srgbClr val="FF0000"/>
                </a:solidFill>
              </a:rPr>
              <a:t>MapReduce</a:t>
            </a:r>
            <a:r>
              <a:rPr lang="en-US" altLang="zh-TW" dirty="0"/>
              <a:t> : </a:t>
            </a:r>
            <a:r>
              <a:rPr lang="en-US" altLang="zh-TW" dirty="0" err="1"/>
              <a:t>Simplifed</a:t>
            </a:r>
            <a:r>
              <a:rPr lang="en-US" altLang="zh-TW" dirty="0"/>
              <a:t> Data Processing on Large Cluster”</a:t>
            </a:r>
          </a:p>
          <a:p>
            <a:pPr lvl="1"/>
            <a:r>
              <a:rPr lang="en-US" altLang="zh-TW" dirty="0"/>
              <a:t>OSDI 2006 : “</a:t>
            </a:r>
            <a:r>
              <a:rPr lang="en-US" altLang="zh-TW" b="1" dirty="0" err="1">
                <a:solidFill>
                  <a:srgbClr val="FF0000"/>
                </a:solidFill>
              </a:rPr>
              <a:t>Bigtable</a:t>
            </a:r>
            <a:r>
              <a:rPr lang="en-US" altLang="zh-TW" dirty="0"/>
              <a:t>: A Distributed Storage System for Structured Data”</a:t>
            </a:r>
          </a:p>
          <a:p>
            <a:pPr lvl="1"/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135368" y="4137924"/>
            <a:ext cx="3422917" cy="810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703010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/>
              <a:t>Hadoop</a:t>
            </a:r>
            <a:r>
              <a:rPr lang="en-US" altLang="zh-TW" dirty="0"/>
              <a:t> Features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latin typeface="+mj-lt"/>
              </a:rPr>
              <a:t>Efficiency</a:t>
            </a:r>
          </a:p>
          <a:p>
            <a:pPr lvl="1"/>
            <a:r>
              <a:rPr lang="en-US" altLang="zh-TW" dirty="0">
                <a:latin typeface="+mj-lt"/>
              </a:rPr>
              <a:t>Process in parallel on the nodes where the data is located</a:t>
            </a:r>
          </a:p>
          <a:p>
            <a:r>
              <a:rPr lang="en-US" altLang="zh-TW" dirty="0">
                <a:latin typeface="+mj-lt"/>
              </a:rPr>
              <a:t>Robustness</a:t>
            </a:r>
          </a:p>
          <a:p>
            <a:pPr lvl="1"/>
            <a:r>
              <a:rPr lang="en-US" altLang="zh-TW" dirty="0">
                <a:latin typeface="+mn-lt"/>
              </a:rPr>
              <a:t>Automatically maintain multiple copies of data and automatically re-deploys computing tasks based on failures</a:t>
            </a:r>
          </a:p>
          <a:p>
            <a:r>
              <a:rPr lang="en-US" altLang="zh-TW" dirty="0">
                <a:latin typeface="+mj-lt"/>
              </a:rPr>
              <a:t>Cost Efficiency</a:t>
            </a:r>
          </a:p>
          <a:p>
            <a:pPr lvl="1"/>
            <a:r>
              <a:rPr lang="en-US" altLang="zh-TW" dirty="0">
                <a:latin typeface="+mn-lt"/>
              </a:rPr>
              <a:t>Distribute the data and processing across clusters of commodity computers</a:t>
            </a:r>
          </a:p>
          <a:p>
            <a:r>
              <a:rPr lang="en-US" altLang="zh-TW" dirty="0">
                <a:latin typeface="+mj-lt"/>
              </a:rPr>
              <a:t>Scalability</a:t>
            </a:r>
          </a:p>
          <a:p>
            <a:pPr lvl="1"/>
            <a:r>
              <a:rPr lang="en-US" altLang="zh-TW" dirty="0">
                <a:latin typeface="+mn-lt"/>
              </a:rPr>
              <a:t>Reliably store and process massive data</a:t>
            </a:r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46272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HDFS Architecture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5706" y="1545636"/>
            <a:ext cx="5076564" cy="3165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53067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HDFS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NameNode</a:t>
            </a:r>
            <a:endParaRPr lang="en-US" altLang="zh-TW" dirty="0"/>
          </a:p>
          <a:p>
            <a:pPr lvl="1"/>
            <a:r>
              <a:rPr lang="en-US" altLang="zh-TW" dirty="0"/>
              <a:t>The file content is split into blocks (default 128MB,3 replica).</a:t>
            </a:r>
          </a:p>
          <a:p>
            <a:pPr lvl="1"/>
            <a:r>
              <a:rPr lang="en-US" altLang="zh-TW" dirty="0"/>
              <a:t>Files and directories are represented on the </a:t>
            </a:r>
            <a:r>
              <a:rPr lang="en-US" altLang="zh-TW" dirty="0" err="1"/>
              <a:t>NameNode</a:t>
            </a:r>
            <a:r>
              <a:rPr lang="en-US" altLang="zh-TW" dirty="0"/>
              <a:t> by </a:t>
            </a:r>
            <a:r>
              <a:rPr lang="en-US" altLang="zh-TW" i="1" dirty="0" err="1">
                <a:solidFill>
                  <a:srgbClr val="FF0000"/>
                </a:solidFill>
              </a:rPr>
              <a:t>inodes</a:t>
            </a:r>
            <a:r>
              <a:rPr lang="en-US" altLang="zh-TW" i="1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(permissions, modification and access times, namespace and disk space quotas</a:t>
            </a:r>
            <a:r>
              <a:rPr lang="en-US" altLang="zh-TW" i="1" dirty="0"/>
              <a:t>).</a:t>
            </a:r>
          </a:p>
          <a:p>
            <a:pPr lvl="1"/>
            <a:r>
              <a:rPr lang="en-US" altLang="zh-TW" dirty="0"/>
              <a:t>Namespace is a hierarchy of files and directories.</a:t>
            </a:r>
          </a:p>
          <a:p>
            <a:pPr lvl="1"/>
            <a:r>
              <a:rPr lang="en-US" altLang="zh-TW" dirty="0" err="1"/>
              <a:t>NameNode</a:t>
            </a:r>
            <a:r>
              <a:rPr lang="en-US" altLang="zh-TW" dirty="0"/>
              <a:t> maintains the namespace tree and the mapping of file blocks to </a:t>
            </a:r>
            <a:r>
              <a:rPr lang="en-US" altLang="zh-TW" dirty="0" err="1"/>
              <a:t>DataNodes</a:t>
            </a:r>
            <a:r>
              <a:rPr lang="en-US" altLang="zh-TW" dirty="0"/>
              <a:t>.</a:t>
            </a:r>
            <a:endParaRPr lang="en-US" altLang="zh-TW" i="1" dirty="0"/>
          </a:p>
          <a:p>
            <a:pPr lvl="1"/>
            <a:r>
              <a:rPr lang="en-US" altLang="zh-TW" dirty="0"/>
              <a:t>Three components</a:t>
            </a:r>
          </a:p>
          <a:p>
            <a:pPr lvl="2"/>
            <a:r>
              <a:rPr lang="en-US" altLang="zh-TW" dirty="0"/>
              <a:t>Image:  the </a:t>
            </a:r>
            <a:r>
              <a:rPr lang="en-US" altLang="zh-TW" dirty="0" err="1"/>
              <a:t>inode</a:t>
            </a:r>
            <a:r>
              <a:rPr lang="en-US" altLang="zh-TW" dirty="0"/>
              <a:t> data and the list of blocks (name system).</a:t>
            </a:r>
          </a:p>
          <a:p>
            <a:pPr lvl="2"/>
            <a:r>
              <a:rPr lang="en-US" altLang="zh-TW" dirty="0"/>
              <a:t>Checkpoint: the persistent record of the image (file system).</a:t>
            </a:r>
          </a:p>
          <a:p>
            <a:pPr lvl="2"/>
            <a:r>
              <a:rPr lang="en-US" altLang="zh-TW" dirty="0"/>
              <a:t>Journal: the modification log of the image (file system).</a:t>
            </a:r>
            <a:endParaRPr lang="zh-TW" altLang="en-US" dirty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29777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HDFS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Image and Journal</a:t>
            </a:r>
          </a:p>
          <a:p>
            <a:pPr lvl="1"/>
            <a:r>
              <a:rPr lang="en-US" altLang="zh-TW" dirty="0"/>
              <a:t>When Startup </a:t>
            </a:r>
            <a:r>
              <a:rPr lang="en-US" altLang="zh-TW" dirty="0" err="1"/>
              <a:t>NameNode</a:t>
            </a:r>
            <a:r>
              <a:rPr lang="en-US" altLang="zh-TW" dirty="0"/>
              <a:t> </a:t>
            </a:r>
          </a:p>
          <a:p>
            <a:pPr marL="937832" lvl="2" indent="-342900">
              <a:buFont typeface="+mj-lt"/>
              <a:buAutoNum type="arabicPeriod"/>
            </a:pPr>
            <a:r>
              <a:rPr lang="en-US" altLang="zh-TW" dirty="0"/>
              <a:t>Load checkpoint.</a:t>
            </a:r>
          </a:p>
          <a:p>
            <a:pPr marL="937832" lvl="2" indent="-342900">
              <a:buFont typeface="+mj-lt"/>
              <a:buAutoNum type="arabicPeriod"/>
            </a:pPr>
            <a:r>
              <a:rPr lang="en-US" altLang="zh-TW" dirty="0"/>
              <a:t>Use journal.</a:t>
            </a:r>
          </a:p>
          <a:p>
            <a:r>
              <a:rPr lang="en-US" altLang="zh-TW" dirty="0" err="1"/>
              <a:t>CheckpointNode</a:t>
            </a:r>
            <a:endParaRPr lang="en-US" altLang="zh-TW" dirty="0"/>
          </a:p>
          <a:p>
            <a:pPr lvl="1"/>
            <a:r>
              <a:rPr lang="en-US" altLang="zh-TW" dirty="0"/>
              <a:t>The </a:t>
            </a:r>
            <a:r>
              <a:rPr lang="en-US" altLang="zh-TW" dirty="0" err="1"/>
              <a:t>CheckpointNode</a:t>
            </a:r>
            <a:r>
              <a:rPr lang="en-US" altLang="zh-TW" dirty="0"/>
              <a:t> periodically combines the existing checkpoint and journal to create a new checkpoint and an empty journal.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err="1"/>
              <a:t>CheckpointNode</a:t>
            </a:r>
            <a:r>
              <a:rPr lang="en-US" altLang="zh-TW" dirty="0"/>
              <a:t> downloads checkpoint and journal from </a:t>
            </a:r>
            <a:r>
              <a:rPr lang="en-US" altLang="zh-TW" dirty="0" err="1"/>
              <a:t>NameNode</a:t>
            </a:r>
            <a:r>
              <a:rPr lang="en-US" altLang="zh-TW" dirty="0"/>
              <a:t> and return a new checkpoint and an empty journal.</a:t>
            </a:r>
          </a:p>
          <a:p>
            <a:r>
              <a:rPr lang="en-US" altLang="zh-TW" dirty="0" err="1"/>
              <a:t>BackupNode</a:t>
            </a:r>
            <a:endParaRPr lang="en-US" altLang="zh-TW" dirty="0"/>
          </a:p>
          <a:p>
            <a:pPr lvl="1"/>
            <a:r>
              <a:rPr lang="en-US" altLang="zh-TW" dirty="0"/>
              <a:t>The </a:t>
            </a:r>
            <a:r>
              <a:rPr lang="en-US" altLang="zh-TW" dirty="0" err="1"/>
              <a:t>BackupNode</a:t>
            </a:r>
            <a:r>
              <a:rPr lang="en-US" altLang="zh-TW" dirty="0"/>
              <a:t> always follows journal to keep </a:t>
            </a:r>
            <a:r>
              <a:rPr lang="en-US" altLang="zh-TW" dirty="0" err="1"/>
              <a:t>NameNode</a:t>
            </a:r>
            <a:r>
              <a:rPr lang="en-US" altLang="zh-TW" dirty="0"/>
              <a:t> latest version.</a:t>
            </a:r>
          </a:p>
          <a:p>
            <a:pPr lvl="1"/>
            <a:r>
              <a:rPr lang="en-US" altLang="zh-TW" dirty="0"/>
              <a:t>If </a:t>
            </a:r>
            <a:r>
              <a:rPr lang="en-US" altLang="zh-TW" dirty="0" err="1"/>
              <a:t>NameNode</a:t>
            </a:r>
            <a:r>
              <a:rPr lang="en-US" altLang="zh-TW" dirty="0"/>
              <a:t> fails, use </a:t>
            </a:r>
            <a:r>
              <a:rPr lang="en-US" altLang="zh-TW" dirty="0" err="1"/>
              <a:t>BackupNode</a:t>
            </a:r>
            <a:r>
              <a:rPr lang="en-US" altLang="zh-TW" dirty="0"/>
              <a:t> </a:t>
            </a:r>
            <a:r>
              <a:rPr lang="en-US" altLang="zh-TW" dirty="0" err="1"/>
              <a:t>untill</a:t>
            </a:r>
            <a:r>
              <a:rPr lang="en-US" altLang="zh-TW" dirty="0"/>
              <a:t> </a:t>
            </a:r>
            <a:r>
              <a:rPr lang="en-US" altLang="zh-TW" dirty="0" err="1"/>
              <a:t>NameNode</a:t>
            </a:r>
            <a:r>
              <a:rPr lang="en-US" altLang="zh-TW" dirty="0"/>
              <a:t> recovers.</a:t>
            </a:r>
            <a:endParaRPr lang="zh-TW" altLang="en-US" dirty="0"/>
          </a:p>
          <a:p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03667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HDFS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 err="1"/>
              <a:t>DataNode</a:t>
            </a:r>
            <a:endParaRPr lang="en-US" altLang="zh-TW" dirty="0"/>
          </a:p>
          <a:p>
            <a:pPr lvl="1"/>
            <a:r>
              <a:rPr lang="en-US" altLang="zh-TW" dirty="0"/>
              <a:t>Each block replica on a </a:t>
            </a:r>
            <a:r>
              <a:rPr lang="en-US" altLang="zh-TW" dirty="0" err="1"/>
              <a:t>DataNode</a:t>
            </a:r>
            <a:r>
              <a:rPr lang="en-US" altLang="zh-TW" dirty="0"/>
              <a:t> is represented by two files:</a:t>
            </a:r>
          </a:p>
          <a:p>
            <a:pPr lvl="2"/>
            <a:r>
              <a:rPr lang="en-US" altLang="zh-TW" dirty="0"/>
              <a:t>Data</a:t>
            </a:r>
          </a:p>
          <a:p>
            <a:pPr lvl="2"/>
            <a:r>
              <a:rPr lang="en-US" altLang="zh-TW" dirty="0"/>
              <a:t>Block’s metadata (checksum, generation stamp)</a:t>
            </a:r>
          </a:p>
          <a:p>
            <a:pPr lvl="1"/>
            <a:r>
              <a:rPr lang="en-US" altLang="zh-TW" dirty="0"/>
              <a:t>When startup </a:t>
            </a:r>
            <a:r>
              <a:rPr lang="en-US" altLang="zh-TW" dirty="0" err="1"/>
              <a:t>DataNode</a:t>
            </a:r>
            <a:r>
              <a:rPr lang="en-US" altLang="zh-TW" dirty="0"/>
              <a:t>, </a:t>
            </a:r>
            <a:r>
              <a:rPr lang="en-US" altLang="zh-TW" dirty="0" err="1"/>
              <a:t>NameNode</a:t>
            </a:r>
            <a:r>
              <a:rPr lang="en-US" altLang="zh-TW" dirty="0"/>
              <a:t> performs handshaking:</a:t>
            </a:r>
          </a:p>
          <a:p>
            <a:pPr lvl="2"/>
            <a:r>
              <a:rPr lang="en-US" altLang="zh-TW" dirty="0"/>
              <a:t>Verify the name space ID.</a:t>
            </a:r>
          </a:p>
          <a:p>
            <a:pPr lvl="2"/>
            <a:r>
              <a:rPr lang="en-US" altLang="zh-TW" dirty="0"/>
              <a:t>Verify the soft version.</a:t>
            </a:r>
          </a:p>
          <a:p>
            <a:pPr lvl="1"/>
            <a:r>
              <a:rPr lang="en-US" altLang="zh-TW" dirty="0"/>
              <a:t>A new </a:t>
            </a:r>
            <a:r>
              <a:rPr lang="en-US" altLang="zh-TW" dirty="0" err="1"/>
              <a:t>DataNode</a:t>
            </a:r>
            <a:r>
              <a:rPr lang="en-US" altLang="zh-TW" dirty="0"/>
              <a:t> will receive namespace ID .</a:t>
            </a:r>
          </a:p>
          <a:p>
            <a:pPr lvl="1"/>
            <a:r>
              <a:rPr lang="en-US" altLang="zh-TW" dirty="0"/>
              <a:t>After the handshaking the </a:t>
            </a:r>
            <a:r>
              <a:rPr lang="en-US" altLang="zh-TW" dirty="0" err="1"/>
              <a:t>DataNode</a:t>
            </a:r>
            <a:r>
              <a:rPr lang="en-US" altLang="zh-TW" dirty="0"/>
              <a:t> registers will get Storage ID. 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 err="1"/>
              <a:t>DataNode</a:t>
            </a:r>
            <a:r>
              <a:rPr lang="en-US" altLang="zh-TW" dirty="0"/>
              <a:t> identifies block replicas in its possession to the </a:t>
            </a:r>
            <a:r>
              <a:rPr lang="en-US" altLang="zh-TW" dirty="0" err="1"/>
              <a:t>NameNode</a:t>
            </a:r>
            <a:r>
              <a:rPr lang="en-US" altLang="zh-TW" dirty="0"/>
              <a:t> by sending a block report (block ID, generation stamp). (1 time/hr)</a:t>
            </a:r>
          </a:p>
          <a:p>
            <a:pPr lvl="1"/>
            <a:r>
              <a:rPr lang="en-US" altLang="zh-TW" dirty="0" err="1"/>
              <a:t>Hearbeats</a:t>
            </a:r>
            <a:r>
              <a:rPr lang="en-US" altLang="zh-TW" dirty="0"/>
              <a:t>: 1 time/3 sec</a:t>
            </a:r>
          </a:p>
          <a:p>
            <a:pPr lvl="1"/>
            <a:endParaRPr lang="en-US" altLang="zh-TW" dirty="0"/>
          </a:p>
          <a:p>
            <a:pPr lvl="2"/>
            <a:endParaRPr lang="en-US" altLang="zh-TW" dirty="0"/>
          </a:p>
          <a:p>
            <a:pPr lvl="1"/>
            <a:endParaRPr lang="en-US" altLang="zh-TW" dirty="0"/>
          </a:p>
          <a:p>
            <a:pPr lvl="2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051464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HDFS Client</a:t>
            </a:r>
            <a:endParaRPr lang="zh-TW" altLang="en-US" dirty="0"/>
          </a:p>
        </p:txBody>
      </p:sp>
      <p:pic>
        <p:nvPicPr>
          <p:cNvPr id="4" name="Picture 2" descr="C:\Users\Dosa\Desktop\未命名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9683" y="1612996"/>
            <a:ext cx="5610386" cy="31538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047692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HDFS Client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File Write</a:t>
            </a:r>
            <a:endParaRPr lang="en-US" altLang="zh-TW" dirty="0"/>
          </a:p>
          <a:p>
            <a:pPr lvl="1"/>
            <a:r>
              <a:rPr lang="en-US" altLang="zh-TW" dirty="0"/>
              <a:t>HDFS implements a single-writer, multiple-reader model.</a:t>
            </a:r>
          </a:p>
          <a:p>
            <a:pPr lvl="1"/>
            <a:r>
              <a:rPr lang="en-US" altLang="zh-TW" dirty="0"/>
              <a:t>The writing client periodically renews the lease by heartbeat:</a:t>
            </a:r>
          </a:p>
          <a:p>
            <a:pPr lvl="2"/>
            <a:r>
              <a:rPr lang="en-US" altLang="zh-TW" dirty="0"/>
              <a:t>Soft limit: client fails to renew the lease, another client can preempt.</a:t>
            </a:r>
          </a:p>
          <a:p>
            <a:pPr lvl="2"/>
            <a:r>
              <a:rPr lang="en-US" altLang="zh-TW" dirty="0"/>
              <a:t>Hard limit: client fails to renew the lease, the client quit and close file.</a:t>
            </a:r>
          </a:p>
          <a:p>
            <a:pPr lvl="1"/>
            <a:r>
              <a:rPr lang="en-US" altLang="zh-TW" dirty="0"/>
              <a:t>Form a pipeline.</a:t>
            </a:r>
          </a:p>
          <a:p>
            <a:pPr lvl="1"/>
            <a:r>
              <a:rPr lang="en-US" altLang="zh-TW" dirty="0"/>
              <a:t>A full packet buffer is pushed </a:t>
            </a:r>
            <a:br>
              <a:rPr lang="en-US" altLang="zh-TW" dirty="0"/>
            </a:br>
            <a:r>
              <a:rPr lang="en-US" altLang="zh-TW" dirty="0"/>
              <a:t>to the pipeline.</a:t>
            </a:r>
            <a:endParaRPr lang="zh-TW" altLang="en-US" dirty="0"/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Picture 2" descr="C:\Users\Dosa\Desktop\未命名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9" y="2569213"/>
            <a:ext cx="2430269" cy="23430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366041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HDFS Client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File Read</a:t>
            </a:r>
          </a:p>
          <a:p>
            <a:pPr lvl="1"/>
            <a:r>
              <a:rPr lang="en-US" altLang="zh-TW" dirty="0"/>
              <a:t>When a client opens a file to read, it fetches the list of blocks and the locations of each block replica from the </a:t>
            </a:r>
            <a:r>
              <a:rPr lang="en-US" altLang="zh-TW" dirty="0" err="1"/>
              <a:t>NameNode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Read from the nearest replica first. If fails,  read from the next nearest replica.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990770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REPLICA MANGEMENT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Block Placement</a:t>
            </a:r>
          </a:p>
          <a:p>
            <a:pPr lvl="1"/>
            <a:r>
              <a:rPr lang="en-US" altLang="zh-TW" dirty="0"/>
              <a:t>When a </a:t>
            </a:r>
            <a:r>
              <a:rPr lang="en-US" altLang="zh-TW" dirty="0" err="1"/>
              <a:t>DataNode</a:t>
            </a:r>
            <a:r>
              <a:rPr lang="en-US" altLang="zh-TW" dirty="0"/>
              <a:t> registers to the </a:t>
            </a:r>
            <a:r>
              <a:rPr lang="en-US" altLang="zh-TW" dirty="0" err="1"/>
              <a:t>NameNode</a:t>
            </a:r>
            <a:r>
              <a:rPr lang="en-US" altLang="zh-TW" dirty="0"/>
              <a:t>, the </a:t>
            </a:r>
            <a:r>
              <a:rPr lang="en-US" altLang="zh-TW" dirty="0" err="1"/>
              <a:t>NameNode</a:t>
            </a:r>
            <a:r>
              <a:rPr lang="en-US" altLang="zh-TW" dirty="0"/>
              <a:t> runs a configured script to decide which rack the node belongs to.</a:t>
            </a:r>
          </a:p>
          <a:p>
            <a:pPr lvl="1"/>
            <a:r>
              <a:rPr lang="en-US" altLang="zh-TW" dirty="0"/>
              <a:t>The default HDFS block placement policy provides a tradeoff between </a:t>
            </a:r>
            <a:r>
              <a:rPr lang="en-US" altLang="zh-TW" dirty="0">
                <a:solidFill>
                  <a:srgbClr val="FF0000"/>
                </a:solidFill>
              </a:rPr>
              <a:t>minimizing the write cost</a:t>
            </a:r>
            <a:r>
              <a:rPr lang="en-US" altLang="zh-TW" dirty="0"/>
              <a:t>, and </a:t>
            </a:r>
            <a:r>
              <a:rPr lang="en-US" altLang="zh-TW" dirty="0">
                <a:solidFill>
                  <a:srgbClr val="FF0000"/>
                </a:solidFill>
              </a:rPr>
              <a:t>maximizing data reliability.</a:t>
            </a:r>
          </a:p>
          <a:p>
            <a:pPr lvl="1"/>
            <a:r>
              <a:rPr lang="en-US" altLang="zh-TW" dirty="0"/>
              <a:t>The default HDFS replica </a:t>
            </a:r>
            <a:r>
              <a:rPr lang="en-US" altLang="zh-TW"/>
              <a:t>placement policy:</a:t>
            </a:r>
            <a:endParaRPr lang="en-US" altLang="zh-TW" dirty="0"/>
          </a:p>
          <a:p>
            <a:pPr lvl="2"/>
            <a:r>
              <a:rPr lang="en-US" altLang="zh-TW" dirty="0"/>
              <a:t>No </a:t>
            </a:r>
            <a:r>
              <a:rPr lang="en-US" altLang="zh-TW" dirty="0" err="1"/>
              <a:t>DataNode</a:t>
            </a:r>
            <a:r>
              <a:rPr lang="en-US" altLang="zh-TW" dirty="0"/>
              <a:t> contains more than one replica of any block.</a:t>
            </a:r>
          </a:p>
          <a:p>
            <a:pPr lvl="2"/>
            <a:r>
              <a:rPr lang="en-US" altLang="zh-TW" dirty="0"/>
              <a:t>No rack contains more than two replicas of the same block.</a:t>
            </a:r>
            <a:endParaRPr lang="zh-TW" altLang="en-US" dirty="0">
              <a:solidFill>
                <a:srgbClr val="FF0000"/>
              </a:solidFill>
            </a:endParaRPr>
          </a:p>
          <a:p>
            <a:pPr lvl="1"/>
            <a:endParaRPr lang="zh-TW" altLang="en-US" dirty="0"/>
          </a:p>
        </p:txBody>
      </p:sp>
      <p:pic>
        <p:nvPicPr>
          <p:cNvPr id="4" name="Picture 2" descr="C:\Users\Dosa\Desktop\未命名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1820" y="3427286"/>
            <a:ext cx="3148049" cy="14041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738651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2444</TotalTime>
  <Words>5774</Words>
  <Application>Microsoft Office PowerPoint</Application>
  <PresentationFormat>全屏显示(16:9)</PresentationFormat>
  <Paragraphs>1015</Paragraphs>
  <Slides>115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115</vt:i4>
      </vt:variant>
    </vt:vector>
  </HeadingPairs>
  <TitlesOfParts>
    <vt:vector size="124" baseType="lpstr">
      <vt:lpstr>標楷體</vt:lpstr>
      <vt:lpstr>MS Sans Serif</vt:lpstr>
      <vt:lpstr>Arial</vt:lpstr>
      <vt:lpstr>Calibri</vt:lpstr>
      <vt:lpstr>Cambria</vt:lpstr>
      <vt:lpstr>Consolas</vt:lpstr>
      <vt:lpstr>Times New Roman</vt:lpstr>
      <vt:lpstr>Wingdings</vt:lpstr>
      <vt:lpstr>NTHU UniCloud</vt:lpstr>
      <vt:lpstr>CSC6032 – Advanced Operating Systems</vt:lpstr>
      <vt:lpstr>虛擬化技術 Virtualization and Virtual Machines</vt:lpstr>
      <vt:lpstr>Agenda</vt:lpstr>
      <vt:lpstr>Overview</vt:lpstr>
      <vt:lpstr>Storage Virtualization</vt:lpstr>
      <vt:lpstr>Introduction</vt:lpstr>
      <vt:lpstr>Introduction</vt:lpstr>
      <vt:lpstr>Introduction</vt:lpstr>
      <vt:lpstr>Concept and Technique</vt:lpstr>
      <vt:lpstr>Concept and Technique</vt:lpstr>
      <vt:lpstr>Concept and Technique</vt:lpstr>
      <vt:lpstr>Concept and Technique</vt:lpstr>
      <vt:lpstr>Concept and Technique</vt:lpstr>
      <vt:lpstr>Storage Virtualization</vt:lpstr>
      <vt:lpstr>What To Be Virtualized</vt:lpstr>
      <vt:lpstr>File System Level</vt:lpstr>
      <vt:lpstr>File System Level</vt:lpstr>
      <vt:lpstr>File System Level</vt:lpstr>
      <vt:lpstr>File System Level</vt:lpstr>
      <vt:lpstr>Block Device Level</vt:lpstr>
      <vt:lpstr>Block Device Level</vt:lpstr>
      <vt:lpstr>Block Device Level</vt:lpstr>
      <vt:lpstr>Block Device Level</vt:lpstr>
      <vt:lpstr>Storage Virtualization</vt:lpstr>
      <vt:lpstr>Where To Be Virtualized</vt:lpstr>
      <vt:lpstr>Where To Be Virtualized</vt:lpstr>
      <vt:lpstr>Where To Be Virtualized</vt:lpstr>
      <vt:lpstr>Where To Be Virtualized</vt:lpstr>
      <vt:lpstr>Host-based Virtualization</vt:lpstr>
      <vt:lpstr>Host-based Virtualization</vt:lpstr>
      <vt:lpstr>Host-based Virtualization</vt:lpstr>
      <vt:lpstr>Host-based Virtualization</vt:lpstr>
      <vt:lpstr>Network-based Virtualization</vt:lpstr>
      <vt:lpstr>Network-based Virtualization</vt:lpstr>
      <vt:lpstr>Network-based Virtualization</vt:lpstr>
      <vt:lpstr>Network-based Virtualization</vt:lpstr>
      <vt:lpstr>Network-based Virtualization</vt:lpstr>
      <vt:lpstr>Storage-based Virtualization</vt:lpstr>
      <vt:lpstr>Storage-based Virtualization</vt:lpstr>
      <vt:lpstr>Storage-based Virtualization</vt:lpstr>
      <vt:lpstr>Storage-based Virtualization</vt:lpstr>
      <vt:lpstr>Storage-based Virtualization</vt:lpstr>
      <vt:lpstr>Storage-based Virtualization</vt:lpstr>
      <vt:lpstr>Storage-based Virtualization</vt:lpstr>
      <vt:lpstr>Storage Virtualization</vt:lpstr>
      <vt:lpstr>In-band Virtualization</vt:lpstr>
      <vt:lpstr>Out-of-band Virtualization</vt:lpstr>
      <vt:lpstr>Other Virtualization Services</vt:lpstr>
      <vt:lpstr>Other Virtualization Services</vt:lpstr>
      <vt:lpstr>Summary</vt:lpstr>
      <vt:lpstr>Storage Virtualization</vt:lpstr>
      <vt:lpstr>Storage Virtualization on linux system</vt:lpstr>
      <vt:lpstr>RAID</vt:lpstr>
      <vt:lpstr>RAID level</vt:lpstr>
      <vt:lpstr>RAID 0</vt:lpstr>
      <vt:lpstr>RAID 1</vt:lpstr>
      <vt:lpstr>RAID 5</vt:lpstr>
      <vt:lpstr>RAID 1+0 / RAID 5+0</vt:lpstr>
      <vt:lpstr>RAID Level Comparison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Logical Volume Management</vt:lpstr>
      <vt:lpstr>Network File System</vt:lpstr>
      <vt:lpstr>Network File System</vt:lpstr>
      <vt:lpstr>Network File System</vt:lpstr>
      <vt:lpstr>Network File System</vt:lpstr>
      <vt:lpstr>Storage Virtualization in distributed system</vt:lpstr>
      <vt:lpstr>VastSky</vt:lpstr>
      <vt:lpstr>VastSky</vt:lpstr>
      <vt:lpstr>VastSky</vt:lpstr>
      <vt:lpstr>VastSky</vt:lpstr>
      <vt:lpstr>VastSky</vt:lpstr>
      <vt:lpstr>VastSky</vt:lpstr>
      <vt:lpstr>VastSky</vt:lpstr>
      <vt:lpstr>Lustre File System</vt:lpstr>
      <vt:lpstr>Lustre File System</vt:lpstr>
      <vt:lpstr>Lustre File System</vt:lpstr>
      <vt:lpstr>Lustre File System</vt:lpstr>
      <vt:lpstr>Ceph</vt:lpstr>
      <vt:lpstr>Ceph</vt:lpstr>
      <vt:lpstr>Ceph</vt:lpstr>
      <vt:lpstr>Ceph</vt:lpstr>
      <vt:lpstr>Ceph</vt:lpstr>
      <vt:lpstr>Three Fundamental Design</vt:lpstr>
      <vt:lpstr>Separating Data and Metadata</vt:lpstr>
      <vt:lpstr>Separating Data and Metadata</vt:lpstr>
      <vt:lpstr>Separating Data and Metadata</vt:lpstr>
      <vt:lpstr>Separating Data and Metadata</vt:lpstr>
      <vt:lpstr>Dynamic Distributed Metadata Management</vt:lpstr>
      <vt:lpstr>Reliable Distributed Object Storage</vt:lpstr>
      <vt:lpstr>Client</vt:lpstr>
      <vt:lpstr>Client</vt:lpstr>
      <vt:lpstr>Metadata</vt:lpstr>
      <vt:lpstr>Replica</vt:lpstr>
      <vt:lpstr>Failure detection</vt:lpstr>
      <vt:lpstr>Recovery</vt:lpstr>
      <vt:lpstr>HDFS</vt:lpstr>
      <vt:lpstr>Hadoop</vt:lpstr>
      <vt:lpstr>Hadoop Features</vt:lpstr>
      <vt:lpstr>HDFS Architecture</vt:lpstr>
      <vt:lpstr>HDFS Architecture</vt:lpstr>
      <vt:lpstr>HDFS Architecture</vt:lpstr>
      <vt:lpstr>HDFS Architecture</vt:lpstr>
      <vt:lpstr>HDFS Client</vt:lpstr>
      <vt:lpstr>HDFS Client</vt:lpstr>
      <vt:lpstr>HDFS Client</vt:lpstr>
      <vt:lpstr>REPLICA MANGEMENT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271</cp:revision>
  <dcterms:created xsi:type="dcterms:W3CDTF">2015-06-05T07:23:35Z</dcterms:created>
  <dcterms:modified xsi:type="dcterms:W3CDTF">2023-10-15T06:11:00Z</dcterms:modified>
</cp:coreProperties>
</file>