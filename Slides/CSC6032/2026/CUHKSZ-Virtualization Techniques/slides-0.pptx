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56" r:id="rId2"/>
    <p:sldId id="352" r:id="rId3"/>
    <p:sldId id="353" r:id="rId4"/>
    <p:sldId id="354" r:id="rId5"/>
    <p:sldId id="359" r:id="rId6"/>
    <p:sldId id="356" r:id="rId7"/>
    <p:sldId id="357" r:id="rId8"/>
    <p:sldId id="358" r:id="rId9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9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2023/10/14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2023/10/14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220019062@link.cuhk.edu" TargetMode="External"/><Relationship Id="rId2" Type="http://schemas.openxmlformats.org/officeDocument/2006/relationships/hyperlink" Target="mailto:117010177@link.cuhk.edu.cn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cs.nthu.edu.tw/~ychung/syllabus/CSC4180-2023-Spring.htm" TargetMode="External"/><Relationship Id="rId4" Type="http://schemas.openxmlformats.org/officeDocument/2006/relationships/hyperlink" Target="https://bb.cuhk.edu.c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Advanced Operating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125" y="822251"/>
            <a:ext cx="8138598" cy="377223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Instructor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Dr. Yeh-Ching Chung (ychung@cuhk.edu.hk)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Course T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As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lvl="1"/>
            <a:r>
              <a:rPr lang="zh-CN" altLang="en-US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刘一汉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: </a:t>
            </a:r>
            <a:r>
              <a:rPr lang="en-US" altLang="zh-CN" dirty="0">
                <a:effectLst/>
                <a:hlinkClick r:id="rId2"/>
              </a:rPr>
              <a:t>117010177@link.cuhk.edu.cn</a:t>
            </a:r>
            <a:endParaRPr lang="en-US" altLang="zh-CN" dirty="0"/>
          </a:p>
          <a:p>
            <a:pPr lvl="1"/>
            <a:r>
              <a:rPr lang="zh-CN" altLang="en-US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杨宇凡</a:t>
            </a:r>
            <a:r>
              <a:rPr lang="zh-CN" altLang="en-US" dirty="0">
                <a:effectLst/>
              </a:rPr>
              <a:t> </a:t>
            </a:r>
            <a:r>
              <a:rPr lang="en-US" altLang="zh-CN" dirty="0">
                <a:effectLst/>
              </a:rPr>
              <a:t>: </a:t>
            </a:r>
            <a:r>
              <a:rPr lang="en-US" altLang="zh-CN" dirty="0">
                <a:effectLst/>
                <a:hlinkClick r:id="rId3"/>
              </a:rPr>
              <a:t>117010349@link.cuhk.edu.cn</a:t>
            </a:r>
            <a:r>
              <a:rPr lang="zh-CN" altLang="en-US" dirty="0">
                <a:effectLst/>
              </a:rPr>
              <a:t>　</a:t>
            </a:r>
            <a:endParaRPr lang="en-US" altLang="zh-TW" dirty="0">
              <a:solidFill>
                <a:schemeClr val="bg2">
                  <a:lumMod val="10000"/>
                </a:schemeClr>
              </a:solidFill>
              <a:cs typeface="Calibri" panose="020F0502020204030204" pitchFamily="34" charset="0"/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Lectures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Mon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day	15: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 – 16: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	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Zhixin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Building 110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Wednesday	15: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3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 – 16: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5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0pm	</a:t>
            </a:r>
            <a:r>
              <a:rPr lang="en-US" altLang="zh-CN" dirty="0" err="1">
                <a:solidFill>
                  <a:schemeClr val="bg2">
                    <a:lumMod val="10000"/>
                  </a:schemeClr>
                </a:solidFill>
              </a:rPr>
              <a:t>Zhixin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 Building 110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Tutorials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3 sessions (TA will announce the time and classrooms)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Online Platform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Blackboard (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hlinkClick r:id="rId4"/>
              </a:rPr>
              <a:t>https://bb.cuhk.edu.cn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)</a:t>
            </a:r>
          </a:p>
          <a:p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Website</a:t>
            </a:r>
          </a:p>
          <a:p>
            <a:pPr lvl="1"/>
            <a:r>
              <a:rPr lang="en-US" altLang="zh-CN" dirty="0">
                <a:solidFill>
                  <a:schemeClr val="bg2">
                    <a:lumMod val="10000"/>
                  </a:schemeClr>
                </a:solidFill>
                <a:hlinkClick r:id="rId5"/>
              </a:rPr>
              <a:t>http://www.cs.nthu.edu.tw/~ychung/syllabus/CSC4180-2023-Spring.htm</a:t>
            </a:r>
            <a:r>
              <a:rPr lang="en-US" altLang="zh-CN" dirty="0">
                <a:solidFill>
                  <a:schemeClr val="bg2">
                    <a:lumMod val="10000"/>
                  </a:schemeClr>
                </a:solidFill>
              </a:rPr>
              <a:t>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992038" y="108349"/>
            <a:ext cx="768365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7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34289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685783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02867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371566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225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r>
              <a:rPr lang="en-US" sz="3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Information</a:t>
            </a:r>
          </a:p>
        </p:txBody>
      </p:sp>
    </p:spTree>
    <p:extLst>
      <p:ext uri="{BB962C8B-B14F-4D97-AF65-F5344CB8AC3E}">
        <p14:creationId xmlns:p14="http://schemas.microsoft.com/office/powerpoint/2010/main" val="4104089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Textbook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Reference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516929" y="3283696"/>
            <a:ext cx="2278733" cy="778639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/>
              <a:t>(Textbook)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dirty="0"/>
              <a:t>Crafting a Compiler with C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C. Fisher and R. Leblanc, 1991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823680" y="3306180"/>
            <a:ext cx="3200399" cy="82361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00" b="1" dirty="0"/>
              <a:t>(Reference)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Compilers, Principles, Techniques, and Tools,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altLang="zh-CN" sz="1300" dirty="0"/>
              <a:t>A. </a:t>
            </a:r>
            <a:r>
              <a:rPr lang="en-US" altLang="zh-CN" sz="1300" dirty="0" err="1"/>
              <a:t>Aho</a:t>
            </a:r>
            <a:r>
              <a:rPr lang="en-US" altLang="zh-CN" sz="1300" dirty="0"/>
              <a:t>, R. </a:t>
            </a:r>
            <a:r>
              <a:rPr lang="en-US" altLang="zh-CN" sz="1300" dirty="0" err="1"/>
              <a:t>Sethi</a:t>
            </a:r>
            <a:r>
              <a:rPr lang="en-US" altLang="zh-CN" sz="1300" dirty="0"/>
              <a:t>, J. </a:t>
            </a:r>
            <a:r>
              <a:rPr lang="en-US" altLang="zh-CN" sz="1300" dirty="0" err="1"/>
              <a:t>Ullmman</a:t>
            </a:r>
            <a:r>
              <a:rPr lang="en-US" altLang="zh-CN" sz="1300" dirty="0"/>
              <a:t>, 2007</a:t>
            </a:r>
            <a:endParaRPr lang="en-US" sz="13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7B908A-820D-458D-8065-FBD4AF43B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26" y="1131758"/>
            <a:ext cx="1656657" cy="215686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5F6E2C-958C-42E2-9C02-3BB646ECE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217" y="1139505"/>
            <a:ext cx="1614383" cy="2105865"/>
          </a:xfrm>
          <a:prstGeom prst="rect">
            <a:avLst/>
          </a:prstGeom>
        </p:spPr>
      </p:pic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1C904C3B-586F-419E-B5FE-E6AD2F8BBA27}"/>
              </a:ext>
            </a:extLst>
          </p:cNvPr>
          <p:cNvSpPr txBox="1">
            <a:spLocks/>
          </p:cNvSpPr>
          <p:nvPr/>
        </p:nvSpPr>
        <p:spPr bwMode="auto">
          <a:xfrm>
            <a:off x="3342466" y="3263707"/>
            <a:ext cx="2143929" cy="1120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257168" indent="-25716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28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557199" indent="-21430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857229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21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12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6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04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6pPr>
            <a:lvl7pPr marL="2228795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7pPr>
            <a:lvl8pPr marL="2571686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8pPr>
            <a:lvl9pPr marL="2914578" indent="-171446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135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300" b="1" kern="0" dirty="0"/>
              <a:t>(Textbook)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300" kern="0" dirty="0"/>
              <a:t>Crafting a Compiler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300" dirty="0"/>
              <a:t>C. Fisher, Ron K. </a:t>
            </a:r>
            <a:r>
              <a:rPr lang="en-US" altLang="zh-CN" sz="1300" dirty="0" err="1"/>
              <a:t>Cytron</a:t>
            </a:r>
            <a:r>
              <a:rPr lang="en-US" altLang="zh-CN" sz="1300" dirty="0"/>
              <a:t>, and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altLang="zh-CN" sz="1300" dirty="0"/>
              <a:t>R. Leblanc, 2010</a:t>
            </a:r>
            <a:endParaRPr lang="en-US" altLang="zh-CN" sz="1300" kern="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45CCB2A-4620-4110-A092-3C4446336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3222" y="1146747"/>
            <a:ext cx="1693889" cy="2149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40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8881" y="831355"/>
            <a:ext cx="7109460" cy="370739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000" dirty="0"/>
              <a:t>Advanced operating systems topics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Co</a:t>
            </a:r>
            <a:r>
              <a:rPr lang="en-US" altLang="zh-CN" sz="2000" dirty="0"/>
              <a:t>ntents </a:t>
            </a:r>
            <a:endParaRPr lang="en-US" sz="2000" dirty="0"/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Introduction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A Simple Compiler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Scanning - Theory and Practice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Grammar and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Top-Down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Bottom-Up Parsing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Syntax-Directed Translation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Symbol Table and Declaration Processing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/>
              <a:t>Semantics Analysis</a:t>
            </a:r>
            <a:r>
              <a:rPr lang="en-US" altLang="zh-CN" sz="1800" dirty="0">
                <a:effectLst/>
              </a:rPr>
              <a:t> </a:t>
            </a:r>
          </a:p>
          <a:p>
            <a:pPr lvl="1">
              <a:spcBef>
                <a:spcPts val="0"/>
              </a:spcBef>
              <a:buSzPct val="70000"/>
            </a:pPr>
            <a:r>
              <a:rPr lang="en-US" altLang="zh-CN" sz="1800" dirty="0">
                <a:effectLst/>
              </a:rPr>
              <a:t>Code Generation</a:t>
            </a:r>
          </a:p>
        </p:txBody>
      </p:sp>
    </p:spTree>
    <p:extLst>
      <p:ext uri="{BB962C8B-B14F-4D97-AF65-F5344CB8AC3E}">
        <p14:creationId xmlns:p14="http://schemas.microsoft.com/office/powerpoint/2010/main" val="199612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313" y="108349"/>
            <a:ext cx="7768378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Syllabus (2)</a:t>
            </a:r>
          </a:p>
        </p:txBody>
      </p:sp>
      <p:grpSp>
        <p:nvGrpSpPr>
          <p:cNvPr id="5" name="组合 1">
            <a:extLst>
              <a:ext uri="{FF2B5EF4-FFF2-40B4-BE49-F238E27FC236}">
                <a16:creationId xmlns:a16="http://schemas.microsoft.com/office/drawing/2014/main" id="{C476B8B4-39A8-4632-91DF-257DF1B42D74}"/>
              </a:ext>
            </a:extLst>
          </p:cNvPr>
          <p:cNvGrpSpPr/>
          <p:nvPr/>
        </p:nvGrpSpPr>
        <p:grpSpPr>
          <a:xfrm>
            <a:off x="1170595" y="897719"/>
            <a:ext cx="6884399" cy="3631601"/>
            <a:chOff x="958119" y="852908"/>
            <a:chExt cx="7325807" cy="3777446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A5F8B99C-B7B0-4129-9B43-62F1CAE9A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46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Scanner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3B88432E-9E75-4200-B0DF-8065751C4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3418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Parser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864C0E-C4C4-4FA1-9E7C-7F95A6CC5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97275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Semantic</a:t>
              </a:r>
            </a:p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Routines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367E43-172A-4A97-A9C4-0B3BF6EE2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3658803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Code</a:t>
              </a:r>
            </a:p>
            <a:p>
              <a:pPr algn="ctr">
                <a:defRPr/>
              </a:pPr>
              <a:r>
                <a:rPr lang="en-US" altLang="zh-TW" sz="13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Generator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407575-EC8E-4D0D-8953-E1E0DA05A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1100" y="2401502"/>
              <a:ext cx="914400" cy="5143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300" b="1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Optimizer</a:t>
              </a: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3A47537A-20E9-4B88-9D48-F90996639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2913" y="1201361"/>
              <a:ext cx="1691724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19D8C08-9EC6-4067-A2EC-75BF29974B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9038" y="1201362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852DBBEA-3BFB-4E93-A1E2-97E37B9D6B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57838" y="1197780"/>
              <a:ext cx="1173261" cy="35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C4D7B621-9B04-47A5-85C7-5DECD3C89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18" y="1487112"/>
              <a:ext cx="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BDBA59E0-83E1-47E9-A3C7-30F67B600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2915862"/>
              <a:ext cx="0" cy="742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5B2E4D39-3746-41BC-9FDF-9F2B65C95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447" y="852908"/>
              <a:ext cx="171731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Source</a:t>
              </a:r>
              <a:r>
                <a:rPr lang="zh-TW" altLang="en-US" sz="1400" b="1" dirty="0">
                  <a:latin typeface="Arial Unicode MS" pitchFamily="34" charset="-120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Program</a:t>
              </a:r>
            </a:p>
          </p:txBody>
        </p:sp>
        <p:sp>
          <p:nvSpPr>
            <p:cNvPr id="17" name="Text Box 18">
              <a:extLst>
                <a:ext uri="{FF2B5EF4-FFF2-40B4-BE49-F238E27FC236}">
                  <a16:creationId xmlns:a16="http://schemas.microsoft.com/office/drawing/2014/main" id="{A351FB31-7651-4F5F-8F9C-13F705AF4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6188" y="915612"/>
              <a:ext cx="8475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Tokens</a:t>
              </a:r>
            </a:p>
          </p:txBody>
        </p:sp>
        <p:sp>
          <p:nvSpPr>
            <p:cNvPr id="18" name="Text Box 19">
              <a:extLst>
                <a:ext uri="{FF2B5EF4-FFF2-40B4-BE49-F238E27FC236}">
                  <a16:creationId xmlns:a16="http://schemas.microsoft.com/office/drawing/2014/main" id="{F42E000A-26AB-414A-AAEB-261ED7131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40186" y="872935"/>
              <a:ext cx="1042573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Syntactic</a:t>
              </a:r>
            </a:p>
          </p:txBody>
        </p:sp>
        <p:sp>
          <p:nvSpPr>
            <p:cNvPr id="19" name="Text Box 20">
              <a:extLst>
                <a:ext uri="{FF2B5EF4-FFF2-40B4-BE49-F238E27FC236}">
                  <a16:creationId xmlns:a16="http://schemas.microsoft.com/office/drawing/2014/main" id="{D0455F9F-5305-44BF-B526-524934C77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5349" y="1219309"/>
              <a:ext cx="1044280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Structure</a:t>
              </a:r>
            </a:p>
          </p:txBody>
        </p:sp>
        <p:sp>
          <p:nvSpPr>
            <p:cNvPr id="20" name="Line 23">
              <a:extLst>
                <a:ext uri="{FF2B5EF4-FFF2-40B4-BE49-F238E27FC236}">
                  <a16:creationId xmlns:a16="http://schemas.microsoft.com/office/drawing/2014/main" id="{C6CD1C8B-CDA8-4892-999C-1D2AAE131B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2D33461B-AE41-445F-BFBF-D720B67977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5367" y="2230062"/>
              <a:ext cx="0" cy="1085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9DC39279-1A6D-48F8-9516-262BBCBAAB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5367" y="3315912"/>
              <a:ext cx="7429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E4AF4B55-B6C5-4CC2-82EF-80F0F76B8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7468" y="2458653"/>
              <a:ext cx="1543050" cy="742950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Symbol and</a:t>
              </a:r>
            </a:p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Attribute</a:t>
              </a:r>
            </a:p>
            <a:p>
              <a:pPr algn="ctr">
                <a:defRPr/>
              </a:pP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  <a:cs typeface="Arial Unicode MS" pitchFamily="34" charset="-120"/>
                </a:rPr>
                <a:t>Tables</a:t>
              </a:r>
            </a:p>
          </p:txBody>
        </p:sp>
        <p:sp>
          <p:nvSpPr>
            <p:cNvPr id="24" name="Text Box 28">
              <a:extLst>
                <a:ext uri="{FF2B5EF4-FFF2-40B4-BE49-F238E27FC236}">
                  <a16:creationId xmlns:a16="http://schemas.microsoft.com/office/drawing/2014/main" id="{A072DFE9-0FFC-4AE3-A0D2-B169D7269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021" y="3304002"/>
              <a:ext cx="3547941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(Used By All</a:t>
              </a:r>
              <a:r>
                <a:rPr lang="zh-TW" altLang="en-US" sz="1400" b="1" dirty="0">
                  <a:latin typeface="Arial Unicode MS" pitchFamily="34" charset="-120"/>
                  <a:ea typeface="Arial Unicode MS" pitchFamily="34" charset="-120"/>
                </a:rPr>
                <a:t> </a:t>
              </a:r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Phases of The Compiler)</a:t>
              </a:r>
            </a:p>
          </p:txBody>
        </p:sp>
        <p:sp>
          <p:nvSpPr>
            <p:cNvPr id="25" name="Text Box 17">
              <a:extLst>
                <a:ext uri="{FF2B5EF4-FFF2-40B4-BE49-F238E27FC236}">
                  <a16:creationId xmlns:a16="http://schemas.microsoft.com/office/drawing/2014/main" id="{E73F01B2-173E-464C-B569-70C2CF1AB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8119" y="1260355"/>
              <a:ext cx="1925969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(Character Stream)</a:t>
              </a:r>
            </a:p>
          </p:txBody>
        </p:sp>
        <p:sp>
          <p:nvSpPr>
            <p:cNvPr id="26" name="Text Box 22">
              <a:extLst>
                <a:ext uri="{FF2B5EF4-FFF2-40B4-BE49-F238E27FC236}">
                  <a16:creationId xmlns:a16="http://schemas.microsoft.com/office/drawing/2014/main" id="{3B232C5F-79EF-4B3D-9761-39A067D86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5384" y="1597840"/>
              <a:ext cx="1581601" cy="544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Intermediate</a:t>
              </a:r>
            </a:p>
            <a:p>
              <a:pPr eaLnBrk="1" hangingPunct="1"/>
              <a:r>
                <a:rPr lang="en-US" altLang="zh-TW" sz="1400" b="1">
                  <a:latin typeface="Arial Unicode MS" pitchFamily="34" charset="-120"/>
                  <a:ea typeface="Arial Unicode MS" pitchFamily="34" charset="-120"/>
                </a:rPr>
                <a:t>Representation</a:t>
              </a:r>
            </a:p>
          </p:txBody>
        </p:sp>
        <p:sp>
          <p:nvSpPr>
            <p:cNvPr id="27" name="矩形 25">
              <a:extLst>
                <a:ext uri="{FF2B5EF4-FFF2-40B4-BE49-F238E27FC236}">
                  <a16:creationId xmlns:a16="http://schemas.microsoft.com/office/drawing/2014/main" id="{5A864441-9E87-4C5E-ABFA-EABBD5A4E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7489" y="4310217"/>
              <a:ext cx="2106437" cy="320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r>
                <a:rPr lang="en-US" altLang="zh-TW" sz="1400" b="1" dirty="0">
                  <a:latin typeface="Arial Unicode MS" pitchFamily="34" charset="-120"/>
                  <a:ea typeface="Arial Unicode MS" pitchFamily="34" charset="-120"/>
                </a:rPr>
                <a:t>Target Machine Code</a:t>
              </a:r>
            </a:p>
          </p:txBody>
        </p:sp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7E0D2224-08CA-41C2-9A0C-BD0FB03EB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8320" y="4116013"/>
              <a:ext cx="0" cy="2643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4225312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3026" y="108349"/>
            <a:ext cx="7752664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980" y="822959"/>
            <a:ext cx="7208520" cy="3032761"/>
          </a:xfrm>
        </p:spPr>
        <p:txBody>
          <a:bodyPr>
            <a:noAutofit/>
          </a:bodyPr>
          <a:lstStyle/>
          <a:p>
            <a:r>
              <a:rPr lang="en-US" sz="2000" dirty="0"/>
              <a:t>Class</a:t>
            </a:r>
            <a:r>
              <a:rPr lang="zh-TW" altLang="en-US" sz="2000" dirty="0"/>
              <a:t> </a:t>
            </a:r>
            <a:r>
              <a:rPr lang="en-US" altLang="zh-TW" sz="2000" dirty="0"/>
              <a:t>participation</a:t>
            </a:r>
            <a:r>
              <a:rPr lang="en-US" sz="2000" dirty="0"/>
              <a:t> (5%)</a:t>
            </a:r>
          </a:p>
          <a:p>
            <a:r>
              <a:rPr lang="en-US" sz="2000" dirty="0"/>
              <a:t>Programming Projects (70%)</a:t>
            </a:r>
          </a:p>
          <a:p>
            <a:r>
              <a:rPr lang="en-US" sz="2000" dirty="0"/>
              <a:t>Final Exam (25%)</a:t>
            </a:r>
          </a:p>
          <a:p>
            <a:r>
              <a:rPr lang="en-US" sz="2000" dirty="0"/>
              <a:t>If you need to apply for a leave for final exam, send email to me with supporting document beforehand.</a:t>
            </a:r>
          </a:p>
          <a:p>
            <a:r>
              <a:rPr lang="en-US" sz="2000" dirty="0"/>
              <a:t>If you are ill, obtain a medical note and email it to me as soon as possible and no later than a week after your absence.</a:t>
            </a:r>
          </a:p>
          <a:p>
            <a:r>
              <a:rPr lang="en-US" sz="2000" dirty="0"/>
              <a:t>Students are responsible to keep track on their marks.</a:t>
            </a:r>
          </a:p>
        </p:txBody>
      </p:sp>
    </p:spTree>
    <p:extLst>
      <p:ext uri="{BB962C8B-B14F-4D97-AF65-F5344CB8AC3E}">
        <p14:creationId xmlns:p14="http://schemas.microsoft.com/office/powerpoint/2010/main" val="82181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42" y="108349"/>
            <a:ext cx="7734548" cy="519113"/>
          </a:xfrm>
        </p:spPr>
        <p:txBody>
          <a:bodyPr/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1142" y="845821"/>
            <a:ext cx="7608498" cy="2077261"/>
          </a:xfrm>
        </p:spPr>
        <p:txBody>
          <a:bodyPr/>
          <a:lstStyle/>
          <a:p>
            <a:r>
              <a:rPr lang="en-US" sz="2400" dirty="0"/>
              <a:t>Upon completing this course, students will be able to</a:t>
            </a:r>
            <a:endParaRPr lang="en-US" dirty="0"/>
          </a:p>
          <a:p>
            <a:pPr lvl="1"/>
            <a:r>
              <a:rPr lang="en-US" altLang="zh-CN" sz="2000" dirty="0"/>
              <a:t>Understand the theory of scanner and parser</a:t>
            </a:r>
          </a:p>
          <a:p>
            <a:pPr lvl="1"/>
            <a:r>
              <a:rPr lang="en-US" altLang="zh-CN" sz="2000" dirty="0"/>
              <a:t>Understand the contents of code generation</a:t>
            </a:r>
          </a:p>
          <a:p>
            <a:pPr lvl="1"/>
            <a:r>
              <a:rPr lang="en-US" sz="2000" dirty="0"/>
              <a:t>Use Lex and </a:t>
            </a:r>
            <a:r>
              <a:rPr lang="en-US" altLang="zh-CN" sz="2000" dirty="0"/>
              <a:t>YACC to design a scanner and a parser</a:t>
            </a:r>
          </a:p>
          <a:p>
            <a:pPr lvl="1"/>
            <a:r>
              <a:rPr lang="en-US" sz="2000" dirty="0"/>
              <a:t>Design a simplified C compiler</a:t>
            </a:r>
          </a:p>
        </p:txBody>
      </p:sp>
    </p:spTree>
    <p:extLst>
      <p:ext uri="{BB962C8B-B14F-4D97-AF65-F5344CB8AC3E}">
        <p14:creationId xmlns:p14="http://schemas.microsoft.com/office/powerpoint/2010/main" val="373098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038" y="108349"/>
            <a:ext cx="7683652" cy="51911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Honesty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2038" y="844153"/>
            <a:ext cx="7443302" cy="36718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Zero Tolerance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Plagiarism, cheating, misconduct in test/exam will be reported to the School for handing.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Consequences</a:t>
            </a:r>
          </a:p>
          <a:p>
            <a:pPr lvl="1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Zero marks for the concerned assignments/test/exam/whole course, reviewable demerits, non-reviewable demerits, suspension of study, dismissal from University.</a:t>
            </a:r>
          </a:p>
          <a:p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University Policy to Academic Honesty</a:t>
            </a:r>
          </a:p>
          <a:p>
            <a:pPr marL="457189" lvl="1" indent="0">
              <a:buNone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http://www.cuhk.edu.cn/departsite/ar/en/Academic.html</a:t>
            </a:r>
          </a:p>
        </p:txBody>
      </p:sp>
    </p:spTree>
    <p:extLst>
      <p:ext uri="{BB962C8B-B14F-4D97-AF65-F5344CB8AC3E}">
        <p14:creationId xmlns:p14="http://schemas.microsoft.com/office/powerpoint/2010/main" val="2385786242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2438</TotalTime>
  <Words>463</Words>
  <Application>Microsoft Office PowerPoint</Application>
  <PresentationFormat>全屏显示(16:9)</PresentationFormat>
  <Paragraphs>84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 Unicode MS</vt:lpstr>
      <vt:lpstr>MS Sans Serif</vt:lpstr>
      <vt:lpstr>楷体</vt:lpstr>
      <vt:lpstr>Arial</vt:lpstr>
      <vt:lpstr>Calibri</vt:lpstr>
      <vt:lpstr>Times New Roman</vt:lpstr>
      <vt:lpstr>Wingdings</vt:lpstr>
      <vt:lpstr>NTHU UniCloud</vt:lpstr>
      <vt:lpstr>CSC6032 – Advanced Operating Systems</vt:lpstr>
      <vt:lpstr>PowerPoint 演示文稿</vt:lpstr>
      <vt:lpstr>Textbook &amp; Reference</vt:lpstr>
      <vt:lpstr>Course Syllabus (1)</vt:lpstr>
      <vt:lpstr>Course Syllabus (2)</vt:lpstr>
      <vt:lpstr>Course Assessment</vt:lpstr>
      <vt:lpstr>Learning Outcome</vt:lpstr>
      <vt:lpstr>Academic Honesty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269</cp:revision>
  <dcterms:created xsi:type="dcterms:W3CDTF">2015-06-05T07:23:35Z</dcterms:created>
  <dcterms:modified xsi:type="dcterms:W3CDTF">2023-10-13T18:52:28Z</dcterms:modified>
</cp:coreProperties>
</file>