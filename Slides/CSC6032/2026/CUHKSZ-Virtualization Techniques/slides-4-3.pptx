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9"/>
  </p:notesMasterIdLst>
  <p:handoutMasterIdLst>
    <p:handoutMasterId r:id="rId90"/>
  </p:handoutMasterIdLst>
  <p:sldIdLst>
    <p:sldId id="256" r:id="rId2"/>
    <p:sldId id="459" r:id="rId3"/>
    <p:sldId id="460" r:id="rId4"/>
    <p:sldId id="289" r:id="rId5"/>
    <p:sldId id="434" r:id="rId6"/>
    <p:sldId id="435" r:id="rId7"/>
    <p:sldId id="436" r:id="rId8"/>
    <p:sldId id="461" r:id="rId9"/>
    <p:sldId id="437" r:id="rId10"/>
    <p:sldId id="438" r:id="rId11"/>
    <p:sldId id="439" r:id="rId12"/>
    <p:sldId id="440" r:id="rId13"/>
    <p:sldId id="462" r:id="rId14"/>
    <p:sldId id="441" r:id="rId15"/>
    <p:sldId id="447" r:id="rId16"/>
    <p:sldId id="446" r:id="rId17"/>
    <p:sldId id="443" r:id="rId18"/>
    <p:sldId id="463" r:id="rId19"/>
    <p:sldId id="458" r:id="rId20"/>
    <p:sldId id="418" r:id="rId21"/>
    <p:sldId id="414" r:id="rId22"/>
    <p:sldId id="428" r:id="rId23"/>
    <p:sldId id="420" r:id="rId24"/>
    <p:sldId id="415" r:id="rId25"/>
    <p:sldId id="416" r:id="rId26"/>
    <p:sldId id="469" r:id="rId27"/>
    <p:sldId id="421" r:id="rId28"/>
    <p:sldId id="422" r:id="rId29"/>
    <p:sldId id="423" r:id="rId30"/>
    <p:sldId id="424" r:id="rId31"/>
    <p:sldId id="425" r:id="rId32"/>
    <p:sldId id="432" r:id="rId33"/>
    <p:sldId id="419" r:id="rId34"/>
    <p:sldId id="455" r:id="rId35"/>
    <p:sldId id="470" r:id="rId36"/>
    <p:sldId id="464" r:id="rId37"/>
    <p:sldId id="465" r:id="rId38"/>
    <p:sldId id="466" r:id="rId39"/>
    <p:sldId id="471" r:id="rId40"/>
    <p:sldId id="490" r:id="rId41"/>
    <p:sldId id="467" r:id="rId42"/>
    <p:sldId id="468" r:id="rId43"/>
    <p:sldId id="522" r:id="rId44"/>
    <p:sldId id="521" r:id="rId45"/>
    <p:sldId id="523" r:id="rId46"/>
    <p:sldId id="472" r:id="rId47"/>
    <p:sldId id="473" r:id="rId48"/>
    <p:sldId id="474" r:id="rId49"/>
    <p:sldId id="475" r:id="rId50"/>
    <p:sldId id="476" r:id="rId51"/>
    <p:sldId id="477" r:id="rId52"/>
    <p:sldId id="487" r:id="rId53"/>
    <p:sldId id="488" r:id="rId54"/>
    <p:sldId id="478" r:id="rId55"/>
    <p:sldId id="479" r:id="rId56"/>
    <p:sldId id="480" r:id="rId57"/>
    <p:sldId id="524" r:id="rId58"/>
    <p:sldId id="481" r:id="rId59"/>
    <p:sldId id="482" r:id="rId60"/>
    <p:sldId id="483" r:id="rId61"/>
    <p:sldId id="484" r:id="rId62"/>
    <p:sldId id="525" r:id="rId63"/>
    <p:sldId id="493" r:id="rId64"/>
    <p:sldId id="494" r:id="rId65"/>
    <p:sldId id="495" r:id="rId66"/>
    <p:sldId id="496" r:id="rId67"/>
    <p:sldId id="526" r:id="rId68"/>
    <p:sldId id="503" r:id="rId69"/>
    <p:sldId id="497" r:id="rId70"/>
    <p:sldId id="498" r:id="rId71"/>
    <p:sldId id="504" r:id="rId72"/>
    <p:sldId id="505" r:id="rId73"/>
    <p:sldId id="506" r:id="rId74"/>
    <p:sldId id="507" r:id="rId75"/>
    <p:sldId id="499" r:id="rId76"/>
    <p:sldId id="508" r:id="rId77"/>
    <p:sldId id="509" r:id="rId78"/>
    <p:sldId id="500" r:id="rId79"/>
    <p:sldId id="527" r:id="rId80"/>
    <p:sldId id="485" r:id="rId81"/>
    <p:sldId id="489" r:id="rId82"/>
    <p:sldId id="514" r:id="rId83"/>
    <p:sldId id="517" r:id="rId84"/>
    <p:sldId id="516" r:id="rId85"/>
    <p:sldId id="518" r:id="rId86"/>
    <p:sldId id="519" r:id="rId87"/>
    <p:sldId id="448" r:id="rId8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42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785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619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655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307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66244D0-A7D0-482B-AB94-BD450D7C1C75}" type="slidenum">
              <a:rPr lang="en-US" altLang="zh-TW"/>
              <a:pPr eaLnBrk="1" hangingPunct="1"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36007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933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356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670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29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771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532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404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964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7585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83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415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1109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D7375EC-47A7-420E-A369-D4D05721E2EE}" type="slidenum">
              <a:rPr lang="en-US" altLang="zh-TW"/>
              <a:pPr eaLnBrk="1" hangingPunct="1"/>
              <a:t>60</a:t>
            </a:fld>
            <a:endParaRPr lang="en-US" altLang="zh-TW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5890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338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1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Arial" charset="0"/>
              </a:rPr>
              <a:t>Hidden slide  (just for backup reasons)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>
                <a:latin typeface="Arial" charset="0"/>
              </a:rPr>
              <a:t>Shows how far along we can go in opening up the network</a:t>
            </a:r>
          </a:p>
        </p:txBody>
      </p:sp>
      <p:sp>
        <p:nvSpPr>
          <p:cNvPr id="23142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6A919B76-E7A6-614B-82F7-1DFA7B31EA65}" type="slidenum">
              <a:rPr lang="en-US" sz="1200">
                <a:latin typeface="Calibri" charset="0"/>
                <a:ea typeface="ＭＳ Ｐゴシック" charset="-128"/>
                <a:cs typeface="ＭＳ Ｐゴシック" charset="-128"/>
              </a:rPr>
              <a:pPr algn="r"/>
              <a:t>64</a:t>
            </a:fld>
            <a:endParaRPr lang="en-US" sz="1200"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1077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58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8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57150" eaLnBrk="1" hangingPunct="1"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Experiments running on </a:t>
            </a:r>
            <a:r>
              <a:rPr lang="en-US" sz="16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PRODUCTION</a:t>
            </a:r>
            <a:r>
              <a:rPr lang="en-US" sz="16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infrastructure</a:t>
            </a:r>
          </a:p>
          <a:p>
            <a:pPr marL="57150" eaLnBrk="1" hangingPunct="1"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Key to get scale, key to get traffic on the network</a:t>
            </a:r>
          </a:p>
          <a:p>
            <a:pPr marL="57150" eaLnBrk="1" hangingPunct="1"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(e.g. can’t just do a reset...)</a:t>
            </a:r>
          </a:p>
          <a:p>
            <a:pPr marL="57150" eaLnBrk="1" hangingPunct="1">
              <a:spcBef>
                <a:spcPct val="0"/>
              </a:spcBef>
            </a:pPr>
            <a:endParaRPr lang="en-US" sz="160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79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60783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925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Carves Network into “Slices”</a:t>
            </a:r>
            <a:r>
              <a:rPr lang="en-US" baseline="0" dirty="0"/>
              <a:t> and </a:t>
            </a:r>
            <a:r>
              <a:rPr lang="en-US" dirty="0"/>
              <a:t>Assigns hardware resources</a:t>
            </a:r>
            <a:r>
              <a:rPr lang="en-US" baseline="0" dirty="0"/>
              <a:t> to each slice.</a:t>
            </a:r>
            <a:r>
              <a:rPr lang="en-US" dirty="0"/>
              <a:t> Switch DPID, Port.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51D007-90AC-C949-AF99-50B9CB862B58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354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7975"/>
          </a:xfrm>
          <a:noFill/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076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124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033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•"/>
            </a:pPr>
            <a:r>
              <a:rPr lang="en-US" dirty="0"/>
              <a:t>There are components at different levels that work together in making it work</a:t>
            </a:r>
          </a:p>
          <a:p>
            <a:pPr>
              <a:buFontTx/>
              <a:buChar char="•"/>
            </a:pPr>
            <a:r>
              <a:rPr lang="en-US" dirty="0"/>
              <a:t>The commercial switch details will follow in next slide</a:t>
            </a:r>
          </a:p>
          <a:p>
            <a:pPr>
              <a:buFontTx/>
              <a:buChar char="•"/>
            </a:pPr>
            <a:r>
              <a:rPr lang="en-US" dirty="0"/>
              <a:t>There are a plethora of applications possible. I only list those available at Stanford</a:t>
            </a:r>
          </a:p>
        </p:txBody>
      </p:sp>
    </p:spTree>
    <p:extLst>
      <p:ext uri="{BB962C8B-B14F-4D97-AF65-F5344CB8AC3E}">
        <p14:creationId xmlns:p14="http://schemas.microsoft.com/office/powerpoint/2010/main" val="22587323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467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All support </a:t>
            </a:r>
            <a:r>
              <a:rPr lang="en-US" dirty="0" err="1"/>
              <a:t>ver</a:t>
            </a:r>
            <a:r>
              <a:rPr lang="en-US" dirty="0"/>
              <a:t> 1.0</a:t>
            </a:r>
          </a:p>
          <a:p>
            <a:r>
              <a:rPr lang="en-US" dirty="0"/>
              <a:t>All have </a:t>
            </a:r>
            <a:r>
              <a:rPr lang="en-US" dirty="0" err="1"/>
              <a:t>approx</a:t>
            </a:r>
            <a:r>
              <a:rPr lang="en-US" dirty="0"/>
              <a:t> 1500 flow table entry limit</a:t>
            </a:r>
          </a:p>
        </p:txBody>
      </p:sp>
    </p:spTree>
    <p:extLst>
      <p:ext uri="{BB962C8B-B14F-4D97-AF65-F5344CB8AC3E}">
        <p14:creationId xmlns:p14="http://schemas.microsoft.com/office/powerpoint/2010/main" val="36570731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Language open-source</a:t>
            </a:r>
            <a:r>
              <a:rPr lang="en-US" baseline="0" dirty="0"/>
              <a:t> </a:t>
            </a:r>
            <a:r>
              <a:rPr lang="en-US" dirty="0"/>
              <a:t>Performance cross-platform   runtime</a:t>
            </a:r>
            <a:r>
              <a:rPr lang="en-US" baseline="0" dirty="0"/>
              <a:t> modular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48EE0-52B5-5E4F-BBA7-60F48B59AEE3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987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9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eg"/><Relationship Id="rId4" Type="http://schemas.openxmlformats.org/officeDocument/2006/relationships/image" Target="../media/image17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1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://openflowswitch.org/" TargetMode="Externa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3.jpe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tags" Target="../tags/tag2.xml"/><Relationship Id="rId16" Type="http://schemas.openxmlformats.org/officeDocument/2006/relationships/image" Target="../media/image3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1.png"/><Relationship Id="rId5" Type="http://schemas.openxmlformats.org/officeDocument/2006/relationships/tags" Target="../tags/tag5.xml"/><Relationship Id="rId15" Type="http://schemas.openxmlformats.org/officeDocument/2006/relationships/image" Target="../media/image35.jpeg"/><Relationship Id="rId10" Type="http://schemas.openxmlformats.org/officeDocument/2006/relationships/image" Target="../media/image30.jpe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5.xml"/><Relationship Id="rId14" Type="http://schemas.openxmlformats.org/officeDocument/2006/relationships/image" Target="../media/image3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://noxrepo.org/wp/" TargetMode="External"/><Relationship Id="rId7" Type="http://schemas.openxmlformats.org/officeDocument/2006/relationships/hyperlink" Target="https://sites.google.com/site/routeflow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trema.github.com/trema/" TargetMode="External"/><Relationship Id="rId5" Type="http://schemas.openxmlformats.org/officeDocument/2006/relationships/hyperlink" Target="http://code.google.com/p/maestro-platform/" TargetMode="External"/><Relationship Id="rId4" Type="http://schemas.openxmlformats.org/officeDocument/2006/relationships/hyperlink" Target="http://www.beaconcontroller.net/" TargetMode="Externa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58.png"/><Relationship Id="rId7" Type="http://schemas.openxmlformats.org/officeDocument/2006/relationships/image" Target="../media/image44.jpe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jpeg"/><Relationship Id="rId2" Type="http://schemas.openxmlformats.org/officeDocument/2006/relationships/tags" Target="../tags/tag10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tags" Target="../tags/tag9.xml"/><Relationship Id="rId6" Type="http://schemas.openxmlformats.org/officeDocument/2006/relationships/image" Target="../media/image43.jpeg"/><Relationship Id="rId11" Type="http://schemas.openxmlformats.org/officeDocument/2006/relationships/image" Target="../media/image48.jpeg"/><Relationship Id="rId24" Type="http://schemas.openxmlformats.org/officeDocument/2006/relationships/image" Target="../media/image61.jpeg"/><Relationship Id="rId5" Type="http://schemas.openxmlformats.org/officeDocument/2006/relationships/image" Target="../media/image42.jpeg"/><Relationship Id="rId15" Type="http://schemas.openxmlformats.org/officeDocument/2006/relationships/image" Target="../media/image52.png"/><Relationship Id="rId23" Type="http://schemas.openxmlformats.org/officeDocument/2006/relationships/image" Target="../media/image60.jpeg"/><Relationship Id="rId28" Type="http://schemas.openxmlformats.org/officeDocument/2006/relationships/image" Target="../media/image65.jpeg"/><Relationship Id="rId10" Type="http://schemas.openxmlformats.org/officeDocument/2006/relationships/image" Target="../media/image47.jpe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penflow.org/wk/index.php/OpenFlow_Tutorial" TargetMode="External"/><Relationship Id="rId3" Type="http://schemas.openxmlformats.org/officeDocument/2006/relationships/hyperlink" Target="http://ieeexplore.ieee.org/xpls/abs_all.jsp?arnumber=6121394&amp;tag=1" TargetMode="External"/><Relationship Id="rId7" Type="http://schemas.openxmlformats.org/officeDocument/2006/relationships/hyperlink" Target="http://www.definethecloud.net/access-layer-network-virtualization-vn-tag-and-vepa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openvswitch.org/slides/OVS-Overview-110303.pdf" TargetMode="External"/><Relationship Id="rId5" Type="http://schemas.openxmlformats.org/officeDocument/2006/relationships/hyperlink" Target="http://openvswitch.org/slides/LinuxSummit-2011.pdf" TargetMode="External"/><Relationship Id="rId4" Type="http://schemas.openxmlformats.org/officeDocument/2006/relationships/hyperlink" Target="http://openvswitch.org/slides/openvswitch.en-2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650" y="1028700"/>
            <a:ext cx="5829300" cy="1428750"/>
          </a:xfrm>
        </p:spPr>
        <p:txBody>
          <a:bodyPr>
            <a:normAutofit/>
          </a:bodyPr>
          <a:lstStyle/>
          <a:p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b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2400300"/>
            <a:ext cx="4800600" cy="1771650"/>
          </a:xfrm>
        </p:spPr>
        <p:txBody>
          <a:bodyPr>
            <a:normAutofit/>
          </a:bodyPr>
          <a:lstStyle/>
          <a:p>
            <a:pPr lvl="0" algn="ctr"/>
            <a:r>
              <a:rPr lang="en-US" altLang="zh-TW" sz="2400" dirty="0"/>
              <a:t>Network Virtualization</a:t>
            </a:r>
            <a:endParaRPr lang="zh-TW" altLang="zh-TW" sz="2400" dirty="0"/>
          </a:p>
          <a:p>
            <a:pPr algn="ctr"/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Open </a:t>
            </a:r>
            <a:r>
              <a:rPr lang="en-US" altLang="zh-TW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vSwitch</a:t>
            </a:r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 </a:t>
            </a:r>
            <a:endParaRPr lang="en-US" altLang="zh-TW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algn="ctr"/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6452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j-lt"/>
              </a:rPr>
              <a:t>Virtual Switch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vSwitch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architecture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245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 Switch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707655"/>
            <a:ext cx="5829300" cy="1597521"/>
          </a:xfrm>
        </p:spPr>
        <p:txBody>
          <a:bodyPr>
            <a:normAutofit/>
          </a:bodyPr>
          <a:lstStyle/>
          <a:p>
            <a:r>
              <a:rPr lang="en-US" altLang="zh-TW" dirty="0"/>
              <a:t>SOFTWARE-BASED VIRTAUL SWITCH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HARDWARE-BASED VIRTAUL SWITCH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VN-Tag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/>
              <a:t>             INTRODUCTION</a:t>
            </a:r>
            <a:endParaRPr lang="zh-TW" altLang="en-US"/>
          </a:p>
        </p:txBody>
      </p:sp>
      <p:sp>
        <p:nvSpPr>
          <p:cNvPr id="4099" name="內容版面配置區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943350"/>
          </a:xfrm>
        </p:spPr>
        <p:txBody>
          <a:bodyPr>
            <a:normAutofit fontScale="92500"/>
          </a:bodyPr>
          <a:lstStyle/>
          <a:p>
            <a:r>
              <a:rPr lang="en-US" altLang="zh-TW" b="0" dirty="0"/>
              <a:t>Owing to the emergence of cloud computing service, the number of virtual switches begins to dramatically expand</a:t>
            </a:r>
          </a:p>
          <a:p>
            <a:pPr lvl="1"/>
            <a:r>
              <a:rPr lang="en-US" altLang="zh-TW" dirty="0"/>
              <a:t>Management complexity</a:t>
            </a:r>
            <a:r>
              <a:rPr lang="en-US" altLang="zh-TW" b="0" dirty="0"/>
              <a:t>, </a:t>
            </a:r>
            <a:r>
              <a:rPr lang="en-US" altLang="zh-TW" dirty="0"/>
              <a:t>security issues </a:t>
            </a:r>
            <a:r>
              <a:rPr lang="en-US" altLang="zh-TW" b="0" dirty="0"/>
              <a:t>and even </a:t>
            </a:r>
            <a:r>
              <a:rPr lang="en-US" altLang="zh-TW" dirty="0"/>
              <a:t>performance degradation</a:t>
            </a:r>
            <a:endParaRPr lang="en-US" altLang="zh-TW" b="0" dirty="0"/>
          </a:p>
          <a:p>
            <a:r>
              <a:rPr lang="en-US" altLang="zh-TW" dirty="0"/>
              <a:t>S</a:t>
            </a:r>
            <a:r>
              <a:rPr lang="en-US" altLang="zh-TW" b="0" dirty="0"/>
              <a:t>oftware/hardware based virtual switch as well as integration of open-source hypervisor with virtual switch technology is exhibited</a:t>
            </a:r>
            <a:endParaRPr lang="zh-TW" altLang="en-US" b="0" dirty="0"/>
          </a:p>
        </p:txBody>
      </p:sp>
      <p:sp>
        <p:nvSpPr>
          <p:cNvPr id="4100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7599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   SOFTWARE-BASED VIRTAUL SWITCH</a:t>
            </a:r>
            <a:endParaRPr lang="zh-TW" altLang="en-US" dirty="0"/>
          </a:p>
        </p:txBody>
      </p:sp>
      <p:sp>
        <p:nvSpPr>
          <p:cNvPr id="5123" name="內容版面配置區 2"/>
          <p:cNvSpPr>
            <a:spLocks noGrp="1"/>
          </p:cNvSpPr>
          <p:nvPr>
            <p:ph idx="1"/>
          </p:nvPr>
        </p:nvSpPr>
        <p:spPr>
          <a:xfrm>
            <a:off x="4626006" y="1028700"/>
            <a:ext cx="3308319" cy="4012406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b="0" dirty="0"/>
              <a:t>The 80x86 hypervisors implemented </a:t>
            </a:r>
            <a:r>
              <a:rPr lang="en-US" altLang="zh-TW" b="0" dirty="0" err="1"/>
              <a:t>vSwitch</a:t>
            </a:r>
            <a:endParaRPr lang="en-US" altLang="zh-TW" b="0" dirty="0"/>
          </a:p>
          <a:p>
            <a:r>
              <a:rPr lang="en-US" altLang="zh-TW" b="0" dirty="0"/>
              <a:t>Each VM has at least one virtual network interface cards (</a:t>
            </a:r>
            <a:r>
              <a:rPr lang="en-US" altLang="zh-TW" b="0" dirty="0" err="1"/>
              <a:t>vNICs</a:t>
            </a:r>
            <a:r>
              <a:rPr lang="en-US" altLang="zh-TW" b="0" dirty="0"/>
              <a:t>) that are sharing physical network interface cards (</a:t>
            </a:r>
            <a:r>
              <a:rPr lang="en-US" altLang="zh-TW" b="0" dirty="0" err="1"/>
              <a:t>pNICs</a:t>
            </a:r>
            <a:r>
              <a:rPr lang="en-US" altLang="zh-TW" b="0" dirty="0"/>
              <a:t>) on the physical host through </a:t>
            </a:r>
            <a:r>
              <a:rPr lang="en-US" altLang="zh-TW" b="0" dirty="0" err="1"/>
              <a:t>vSwitch</a:t>
            </a:r>
            <a:endParaRPr lang="en-US" altLang="zh-TW" b="0" dirty="0"/>
          </a:p>
          <a:p>
            <a:r>
              <a:rPr lang="en-US" altLang="zh-TW" b="0" dirty="0"/>
              <a:t>Administrator don’t have effective solution to separate packets from different VM users</a:t>
            </a:r>
          </a:p>
          <a:p>
            <a:r>
              <a:rPr lang="en-US" altLang="zh-TW" b="0" dirty="0"/>
              <a:t>For VMs reside in the same physical machine, their traffic visibility is a big issue</a:t>
            </a:r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29917"/>
            <a:ext cx="3038382" cy="390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829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dirty="0"/>
              <a:t>Problems of original </a:t>
            </a:r>
            <a:r>
              <a:rPr lang="en-US" altLang="zh-TW" dirty="0" err="1"/>
              <a:t>vSwitch</a:t>
            </a:r>
            <a:endParaRPr lang="zh-TW" altLang="en-US" dirty="0"/>
          </a:p>
        </p:txBody>
      </p:sp>
      <p:sp>
        <p:nvSpPr>
          <p:cNvPr id="6147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dirty="0"/>
              <a:t>The original </a:t>
            </a:r>
            <a:r>
              <a:rPr lang="en-US" altLang="zh-TW" dirty="0" err="1"/>
              <a:t>vSwitchs</a:t>
            </a:r>
            <a:r>
              <a:rPr lang="en-US" altLang="zh-TW" dirty="0"/>
              <a:t> lack of advanced networking features such as VLAN, port mirror and port channel etc.</a:t>
            </a:r>
          </a:p>
          <a:p>
            <a:pPr>
              <a:defRPr/>
            </a:pPr>
            <a:r>
              <a:rPr lang="en-US" altLang="zh-TW" dirty="0"/>
              <a:t>Nowadays, some hypervisor </a:t>
            </a:r>
            <a:r>
              <a:rPr lang="en-US" altLang="zh-TW" dirty="0" err="1"/>
              <a:t>vSwitch</a:t>
            </a:r>
            <a:r>
              <a:rPr lang="en-US" altLang="zh-TW" dirty="0"/>
              <a:t> vendors provide technologies to fix the above problems</a:t>
            </a:r>
          </a:p>
          <a:p>
            <a:pPr lvl="1">
              <a:defRPr/>
            </a:pPr>
            <a:r>
              <a:rPr lang="en-US" altLang="zh-TW" dirty="0" err="1"/>
              <a:t>OpenvSwitch</a:t>
            </a:r>
            <a:r>
              <a:rPr lang="en-US" altLang="zh-TW" dirty="0"/>
              <a:t> may be superior in quality for the reasons</a:t>
            </a:r>
          </a:p>
        </p:txBody>
      </p:sp>
      <p:sp>
        <p:nvSpPr>
          <p:cNvPr id="6148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3355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 Switch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707655"/>
            <a:ext cx="5829300" cy="1597521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SOFTWARE-BASED VIRTAUL SWITCH </a:t>
            </a:r>
          </a:p>
          <a:p>
            <a:r>
              <a:rPr lang="en-US" altLang="zh-TW" dirty="0"/>
              <a:t>HARDWARE-BASED VIRTAUL SWITCH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VN-Tag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760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HARDWARE-BASED VIRTAUL SWITCH</a:t>
            </a:r>
            <a:endParaRPr lang="zh-TW" altLang="en-US" dirty="0"/>
          </a:p>
        </p:txBody>
      </p:sp>
      <p:sp>
        <p:nvSpPr>
          <p:cNvPr id="717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2250" dirty="0"/>
              <a:t>Why hardware-based?</a:t>
            </a:r>
            <a:endParaRPr lang="en-US" altLang="zh-TW" b="0" dirty="0"/>
          </a:p>
          <a:p>
            <a:pPr lvl="1">
              <a:defRPr/>
            </a:pPr>
            <a:r>
              <a:rPr lang="en-US" altLang="zh-TW" b="0" dirty="0"/>
              <a:t>Software virtual switches consume CPU and memory usage</a:t>
            </a:r>
          </a:p>
          <a:p>
            <a:pPr lvl="1">
              <a:defRPr/>
            </a:pPr>
            <a:r>
              <a:rPr lang="en-US" altLang="zh-TW" b="0" dirty="0"/>
              <a:t>Possible inconsistence of network and server configurations may cause errors and is very hard to troubleshooting and maintenance</a:t>
            </a:r>
          </a:p>
          <a:p>
            <a:pPr>
              <a:defRPr/>
            </a:pPr>
            <a:r>
              <a:rPr lang="en-US" altLang="zh-TW" sz="2250" dirty="0"/>
              <a:t>Hardware-based virtual switch solution emerges for better resource utilization and configuration consistence</a:t>
            </a:r>
          </a:p>
          <a:p>
            <a:pPr>
              <a:defRPr/>
            </a:pPr>
            <a:endParaRPr lang="zh-TW" altLang="en-US" dirty="0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83093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/>
          <p:cNvSpPr>
            <a:spLocks noGrp="1"/>
          </p:cNvSpPr>
          <p:nvPr>
            <p:ph type="title"/>
          </p:nvPr>
        </p:nvSpPr>
        <p:spPr bwMode="auto">
          <a:xfrm>
            <a:off x="1485900" y="205978"/>
            <a:ext cx="6172200" cy="9941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Virtual Ethernet Port Aggregator (1/2)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819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A standardization led by HP, Extreme, IBM, Brocade and Juniper etc.</a:t>
            </a:r>
          </a:p>
          <a:p>
            <a:pPr>
              <a:defRPr/>
            </a:pPr>
            <a:r>
              <a:rPr lang="en-US" altLang="zh-TW" dirty="0"/>
              <a:t>An emerging technology as part of IEEE 802.1Qbg Edge Virtual Bridge (EVB) standard</a:t>
            </a:r>
          </a:p>
          <a:p>
            <a:pPr>
              <a:defRPr/>
            </a:pPr>
            <a:r>
              <a:rPr lang="en-US" altLang="zh-TW" dirty="0"/>
              <a:t>The main goal of VEPA is to allow traffic of VM to exit and re-enter the same server physical port to enable switching among VMs</a:t>
            </a:r>
          </a:p>
          <a:p>
            <a:pPr marL="0" indent="0">
              <a:buNone/>
              <a:defRPr/>
            </a:pPr>
            <a:endParaRPr lang="en-US" altLang="zh-TW" dirty="0"/>
          </a:p>
          <a:p>
            <a:pPr>
              <a:defRPr/>
            </a:pPr>
            <a:endParaRPr lang="zh-TW" altLang="en-US" b="0" dirty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5478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314450"/>
            <a:ext cx="3217394" cy="345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18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Virtual Ethernet Port Aggregator (2/2)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355976" y="1200542"/>
            <a:ext cx="3645024" cy="3840565"/>
          </a:xfrm>
        </p:spPr>
        <p:txBody>
          <a:bodyPr>
            <a:normAutofit fontScale="92500"/>
          </a:bodyPr>
          <a:lstStyle/>
          <a:p>
            <a:r>
              <a:rPr lang="en-US" altLang="zh-TW" sz="1950" dirty="0"/>
              <a:t>VEPA software update is required for host servers in order to force packets to be transmitted to external switches</a:t>
            </a:r>
          </a:p>
          <a:p>
            <a:r>
              <a:rPr lang="en-US" altLang="zh-TW" sz="1950" dirty="0"/>
              <a:t>An external VEPA enabled switch is required for communications between VMs in the same server</a:t>
            </a:r>
          </a:p>
          <a:p>
            <a:r>
              <a:rPr lang="en-US" altLang="zh-TW" sz="1950" dirty="0"/>
              <a:t>VEPA supports “hairpin” mode which allows traffic to “hairpin” back out the same port it just received it from--- requires firmware update to existing switches</a:t>
            </a:r>
          </a:p>
          <a:p>
            <a:endParaRPr lang="zh-TW" altLang="en-US" b="0" dirty="0"/>
          </a:p>
        </p:txBody>
      </p:sp>
      <p:sp>
        <p:nvSpPr>
          <p:cNvPr id="9220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7206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Pros. and Cons. for VEPA</a:t>
            </a:r>
            <a:br>
              <a:rPr lang="en-US" altLang="zh-TW" dirty="0"/>
            </a:b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Pros</a:t>
            </a:r>
          </a:p>
          <a:p>
            <a:pPr lvl="1">
              <a:defRPr/>
            </a:pPr>
            <a:r>
              <a:rPr lang="en-US" altLang="zh-TW" dirty="0"/>
              <a:t>Minor software/firmware update , network configuration maintained by external switches</a:t>
            </a:r>
          </a:p>
          <a:p>
            <a:pPr>
              <a:defRPr/>
            </a:pPr>
            <a:r>
              <a:rPr lang="en-US" altLang="zh-TW" dirty="0"/>
              <a:t>Cons</a:t>
            </a:r>
          </a:p>
          <a:p>
            <a:pPr lvl="1">
              <a:defRPr/>
            </a:pPr>
            <a:r>
              <a:rPr lang="en-US" altLang="zh-TW" dirty="0"/>
              <a:t>VEPA still consumes server resources in order to perform forwarding table lookup</a:t>
            </a:r>
          </a:p>
          <a:p>
            <a:pPr marL="0" indent="0">
              <a:buNone/>
              <a:defRPr/>
            </a:pPr>
            <a:endParaRPr lang="en-US" altLang="zh-TW" b="0" dirty="0"/>
          </a:p>
          <a:p>
            <a:pPr>
              <a:defRPr/>
            </a:pPr>
            <a:endParaRPr lang="zh-TW" altLang="en-US" dirty="0"/>
          </a:p>
        </p:txBody>
      </p:sp>
      <p:sp>
        <p:nvSpPr>
          <p:cNvPr id="10244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4822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 Switch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707655"/>
            <a:ext cx="5829300" cy="1597521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SOFTWARE-BASED VIRTAUL SWITCH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HARDWARE-BASED VIRTAUL SWITCH</a:t>
            </a:r>
          </a:p>
          <a:p>
            <a:r>
              <a:rPr lang="en-US" altLang="zh-TW" dirty="0"/>
              <a:t>VN-Tag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6535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VN-Tag(1/3)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1024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zh-TW" b="0" dirty="0"/>
              <a:t>Proposed by Cisco, adopted by the IEEE as the basis for 802.1Qbh ‘Bridge Port Extension’</a:t>
            </a:r>
          </a:p>
          <a:p>
            <a:pPr>
              <a:defRPr/>
            </a:pPr>
            <a:r>
              <a:rPr lang="en-US" altLang="zh-TW" b="0" dirty="0"/>
              <a:t>A VN-Tag between Layer2 and 802.1Q header is inserted to indicate what path the frame should travel on its way to another VM</a:t>
            </a:r>
          </a:p>
          <a:p>
            <a:pPr>
              <a:defRPr/>
            </a:pPr>
            <a:r>
              <a:rPr lang="en-US" altLang="zh-TW" b="0" dirty="0"/>
              <a:t>The VN-Tag contains two essential fields: the source virtual interface identifier (SVIF_ID) of the sending host and the destination virtual interface identifier (DVIF_ID) of the receiving host</a:t>
            </a:r>
          </a:p>
          <a:p>
            <a:pPr>
              <a:defRPr/>
            </a:pPr>
            <a:endParaRPr lang="zh-TW" altLang="en-US" dirty="0"/>
          </a:p>
        </p:txBody>
      </p:sp>
      <p:sp>
        <p:nvSpPr>
          <p:cNvPr id="11268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48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VN-Tag(2/3)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601521" y="1005575"/>
          <a:ext cx="3327911" cy="3746547"/>
        </p:xfrm>
        <a:graphic>
          <a:graphicData uri="http://schemas.openxmlformats.org/drawingml/2006/table">
            <a:tbl>
              <a:tblPr/>
              <a:tblGrid>
                <a:gridCol w="620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05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>
                          <a:effectLst/>
                        </a:rPr>
                        <a:t>Ethertype</a:t>
                      </a:r>
                      <a:endParaRPr lang="en-US" sz="1100" dirty="0">
                        <a:effectLst/>
                      </a:endParaRP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Identifies the VN tag</a:t>
                      </a: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592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</a:rPr>
                        <a:t>D</a:t>
                      </a:r>
                      <a:endParaRPr lang="en-US" sz="1100">
                        <a:effectLst/>
                      </a:endParaRP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Direction, 1 indicates that the frame is traveling from the bridge to the interface virtualizer (IV.)</a:t>
                      </a: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052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</a:rPr>
                        <a:t>P</a:t>
                      </a:r>
                      <a:endParaRPr lang="en-US" sz="1100">
                        <a:effectLst/>
                      </a:endParaRP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Pointer, 1 indicates that a vif_list_id is included in the tag.</a:t>
                      </a: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59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>
                          <a:effectLst/>
                        </a:rPr>
                        <a:t>vif_list_id</a:t>
                      </a:r>
                      <a:endParaRPr lang="en-US" sz="1100" dirty="0">
                        <a:effectLst/>
                      </a:endParaRP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 list of downlink ports to which this frame is to be forwarded (replicated). (multicast/broadcast operation)</a:t>
                      </a: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052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</a:rPr>
                        <a:t>Dvif_id</a:t>
                      </a:r>
                      <a:endParaRPr lang="en-US" sz="1100">
                        <a:effectLst/>
                      </a:endParaRP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Destination </a:t>
                      </a:r>
                      <a:r>
                        <a:rPr lang="en-US" sz="1100" dirty="0" err="1"/>
                        <a:t>vif_id</a:t>
                      </a:r>
                      <a:r>
                        <a:rPr lang="en-US" sz="1100" dirty="0"/>
                        <a:t> of the port to which this frame is to be forwarded.</a:t>
                      </a: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6671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</a:rPr>
                        <a:t>L</a:t>
                      </a:r>
                      <a:endParaRPr lang="en-US" sz="1100">
                        <a:effectLst/>
                      </a:endParaRP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Looped, 1 indicates that this is a multicast frame that was forwarded out the bridge port on which it was received. In this case, the IV must check the </a:t>
                      </a:r>
                      <a:r>
                        <a:rPr lang="en-US" sz="1100" dirty="0" err="1"/>
                        <a:t>Svif_id</a:t>
                      </a:r>
                      <a:r>
                        <a:rPr lang="en-US" sz="1100" dirty="0"/>
                        <a:t> and filter the frame from the corresponding port.</a:t>
                      </a: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513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</a:rPr>
                        <a:t>R</a:t>
                      </a:r>
                      <a:endParaRPr lang="en-US" sz="1100">
                        <a:effectLst/>
                      </a:endParaRP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Reserved</a:t>
                      </a: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513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</a:rPr>
                        <a:t>VER</a:t>
                      </a:r>
                      <a:endParaRPr lang="en-US" sz="1100">
                        <a:effectLst/>
                      </a:endParaRP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Version of the tag</a:t>
                      </a: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513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</a:rPr>
                        <a:t>SVIF_ID</a:t>
                      </a:r>
                      <a:endParaRPr lang="en-US" sz="1100">
                        <a:effectLst/>
                      </a:endParaRP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The </a:t>
                      </a:r>
                      <a:r>
                        <a:rPr lang="en-US" sz="1100" dirty="0" err="1"/>
                        <a:t>vif_id</a:t>
                      </a:r>
                      <a:r>
                        <a:rPr lang="en-US" sz="1100" dirty="0"/>
                        <a:t> of the source of the frame</a:t>
                      </a:r>
                    </a:p>
                  </a:txBody>
                  <a:tcPr marL="11641" marR="11641" marT="11641" marB="1164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32" name="Picture 8" descr="http://www.definethecloud.net/wp-content/uploads/2010/09/image6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71" y="1005577"/>
            <a:ext cx="3438749" cy="210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351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VN-Tag(3/3)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12291" name="內容版面配置區 2"/>
          <p:cNvSpPr>
            <a:spLocks noGrp="1"/>
          </p:cNvSpPr>
          <p:nvPr>
            <p:ph idx="1"/>
          </p:nvPr>
        </p:nvSpPr>
        <p:spPr>
          <a:xfrm>
            <a:off x="4517994" y="857250"/>
            <a:ext cx="3109150" cy="4183856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sz="2325" dirty="0"/>
              <a:t>The VN-Tag capable NIC and the VN-Tag aware switch are the necessary</a:t>
            </a:r>
          </a:p>
          <a:p>
            <a:r>
              <a:rPr lang="en-US" altLang="zh-TW" sz="2325" dirty="0"/>
              <a:t>VN-Tag capable physical NIC</a:t>
            </a:r>
          </a:p>
          <a:p>
            <a:pPr lvl="1"/>
            <a:r>
              <a:rPr lang="en-US" altLang="zh-TW" sz="1950" dirty="0"/>
              <a:t>Insert Tag at layer2 of the data frame that identify a network packet as part of a specified VM</a:t>
            </a:r>
          </a:p>
          <a:p>
            <a:r>
              <a:rPr lang="en-US" altLang="zh-TW" sz="2325" dirty="0"/>
              <a:t>VN-Tag aware switch</a:t>
            </a:r>
          </a:p>
          <a:p>
            <a:pPr lvl="1"/>
            <a:r>
              <a:rPr lang="en-US" altLang="zh-TW" sz="1950" dirty="0"/>
              <a:t>Strip the tag from the frame header at the stage of forwarding to normal switch</a:t>
            </a:r>
          </a:p>
          <a:p>
            <a:pPr lvl="1"/>
            <a:r>
              <a:rPr lang="en-US" altLang="zh-TW" sz="1950" dirty="0"/>
              <a:t>Convert a stripped or untagged frame, if the packet is to be transmitted to a VM destination via a VIF port</a:t>
            </a:r>
          </a:p>
        </p:txBody>
      </p:sp>
      <p:sp>
        <p:nvSpPr>
          <p:cNvPr id="12292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  <p:pic>
        <p:nvPicPr>
          <p:cNvPr id="1229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876222"/>
            <a:ext cx="3206688" cy="4100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6172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Pros. and Cons. for VN-Tag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1229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Pros</a:t>
            </a:r>
          </a:p>
          <a:p>
            <a:pPr lvl="1">
              <a:defRPr/>
            </a:pPr>
            <a:r>
              <a:rPr lang="en-US" altLang="zh-TW" dirty="0"/>
              <a:t>With VN-Tag technique, the switching will be totally performed by external VN-Tag aware switches</a:t>
            </a:r>
          </a:p>
          <a:p>
            <a:pPr lvl="1">
              <a:defRPr/>
            </a:pPr>
            <a:r>
              <a:rPr lang="en-US" altLang="zh-TW" dirty="0"/>
              <a:t>No forwarding decision table will be left in host servers</a:t>
            </a:r>
          </a:p>
          <a:p>
            <a:pPr>
              <a:defRPr/>
            </a:pPr>
            <a:r>
              <a:rPr lang="en-US" altLang="zh-TW" dirty="0"/>
              <a:t>Cons</a:t>
            </a:r>
          </a:p>
          <a:p>
            <a:pPr lvl="1">
              <a:defRPr/>
            </a:pPr>
            <a:r>
              <a:rPr lang="en-US" altLang="zh-TW" dirty="0"/>
              <a:t>The Ethernet frame format is modified</a:t>
            </a:r>
          </a:p>
          <a:p>
            <a:pPr lvl="1">
              <a:defRPr/>
            </a:pPr>
            <a:r>
              <a:rPr lang="en-US" altLang="zh-TW" dirty="0"/>
              <a:t>We have to invest new host NICs and external switches in order to recognize VN-Tag</a:t>
            </a:r>
            <a:endParaRPr lang="zh-TW" altLang="en-US" dirty="0"/>
          </a:p>
          <a:p>
            <a:pPr marL="0" indent="0">
              <a:buNone/>
              <a:defRPr/>
            </a:pPr>
            <a:endParaRPr lang="en-US" altLang="zh-TW" b="0" dirty="0"/>
          </a:p>
        </p:txBody>
      </p:sp>
      <p:sp>
        <p:nvSpPr>
          <p:cNvPr id="13316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1299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Virtual Switch</a:t>
            </a:r>
          </a:p>
          <a:p>
            <a:r>
              <a:rPr lang="en-US" altLang="zh-TW" dirty="0">
                <a:latin typeface="+mj-lt"/>
              </a:rPr>
              <a:t>Open </a:t>
            </a:r>
            <a:r>
              <a:rPr lang="en-US" altLang="zh-TW" dirty="0" err="1">
                <a:latin typeface="+mj-lt"/>
              </a:rPr>
              <a:t>vSwitch</a:t>
            </a:r>
            <a:r>
              <a:rPr lang="en-US" altLang="zh-TW" dirty="0">
                <a:latin typeface="+mj-lt"/>
              </a:rPr>
              <a:t> architecture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3147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architecture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707655"/>
            <a:ext cx="5829300" cy="1597521"/>
          </a:xfrm>
        </p:spPr>
        <p:txBody>
          <a:bodyPr>
            <a:normAutofit/>
          </a:bodyPr>
          <a:lstStyle/>
          <a:p>
            <a:r>
              <a:rPr lang="en-US" altLang="zh-TW" dirty="0"/>
              <a:t>Introduction to Open </a:t>
            </a:r>
            <a:r>
              <a:rPr lang="en-US" altLang="zh-TW" dirty="0" err="1"/>
              <a:t>vSwitch</a:t>
            </a:r>
            <a:endParaRPr lang="en-US" altLang="zh-TW" dirty="0"/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Main components of 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vSwitch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vSwitch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Testing Case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744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863687"/>
          </a:xfrm>
        </p:spPr>
        <p:txBody>
          <a:bodyPr/>
          <a:lstStyle/>
          <a:p>
            <a:r>
              <a:rPr lang="en-US" altLang="zh-TW" dirty="0"/>
              <a:t>A software-based solution</a:t>
            </a:r>
          </a:p>
          <a:p>
            <a:pPr lvl="1"/>
            <a:r>
              <a:rPr lang="en-US" altLang="zh-TW" dirty="0"/>
              <a:t>Resolve the problems of network separation and traffic visibility, so the cloud users can be assigned VMs with elastic and secure network configurations </a:t>
            </a:r>
          </a:p>
          <a:p>
            <a:r>
              <a:rPr lang="en-US" altLang="zh-TW" dirty="0"/>
              <a:t>Flexible Controller in User-Space</a:t>
            </a:r>
          </a:p>
          <a:p>
            <a:r>
              <a:rPr lang="en-US" altLang="zh-TW" dirty="0"/>
              <a:t>Fast </a:t>
            </a:r>
            <a:r>
              <a:rPr lang="en-US" altLang="zh-TW" dirty="0" err="1"/>
              <a:t>Datapath</a:t>
            </a:r>
            <a:r>
              <a:rPr lang="en-US" altLang="zh-TW" dirty="0"/>
              <a:t> in Kernel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45886" y="3327835"/>
            <a:ext cx="3996444" cy="17562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sz="135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588365" y="3333430"/>
            <a:ext cx="93281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1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Server</a:t>
            </a:r>
            <a:endParaRPr lang="zh-TW" altLang="en-US" sz="2100" dirty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68095" y="3692020"/>
            <a:ext cx="2808313" cy="107318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sz="135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300580" y="4301251"/>
            <a:ext cx="2834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chemeClr val="accent1">
                  <a:lumMod val="75000"/>
                </a:schemeClr>
              </a:buClr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Open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vSwitch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Datapath</a:t>
            </a:r>
            <a:endParaRPr lang="zh-TW" altLang="en-US" dirty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300579" y="3756555"/>
            <a:ext cx="2589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  <a:buClr>
                <a:schemeClr val="accent1">
                  <a:lumMod val="75000"/>
                </a:schemeClr>
              </a:buClr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Open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vSwitch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 Controller</a:t>
            </a:r>
            <a:endParaRPr lang="zh-TW" altLang="en-US" dirty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</p:txBody>
      </p:sp>
      <p:cxnSp>
        <p:nvCxnSpPr>
          <p:cNvPr id="11" name="直線接點 10"/>
          <p:cNvCxnSpPr>
            <a:stCxn id="7" idx="1"/>
            <a:endCxn id="7" idx="3"/>
          </p:cNvCxnSpPr>
          <p:nvPr/>
        </p:nvCxnSpPr>
        <p:spPr>
          <a:xfrm>
            <a:off x="4168095" y="4228615"/>
            <a:ext cx="2808313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75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6" tIns="34288" rIns="68576" bIns="34288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Concepts(1/2)</a:t>
            </a:r>
            <a:endParaRPr lang="en-US" altLang="zh-TW" b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0593" y="1136877"/>
            <a:ext cx="6172200" cy="40811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6" tIns="34288" rIns="68576" bIns="34288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r>
              <a:rPr lang="en-US" altLang="zh-TW" dirty="0"/>
              <a:t>Multiple ports to physical switches</a:t>
            </a:r>
          </a:p>
          <a:p>
            <a:pPr lvl="1"/>
            <a:r>
              <a:rPr lang="en-US" altLang="zh-TW" dirty="0"/>
              <a:t>A port may have one or more interfaces</a:t>
            </a:r>
          </a:p>
          <a:p>
            <a:pPr lvl="2"/>
            <a:r>
              <a:rPr lang="en-US" altLang="zh-TW" dirty="0"/>
              <a:t>Bonding allows more than once interface per port</a:t>
            </a:r>
          </a:p>
          <a:p>
            <a:r>
              <a:rPr lang="en-US" altLang="zh-TW" dirty="0"/>
              <a:t>Packets are forwarded by flow</a:t>
            </a:r>
          </a:p>
          <a:p>
            <a:r>
              <a:rPr lang="en-US" altLang="zh-TW" dirty="0"/>
              <a:t>Visibility </a:t>
            </a:r>
          </a:p>
          <a:p>
            <a:pPr lvl="1"/>
            <a:r>
              <a:rPr lang="en-US" altLang="zh-TW" dirty="0" err="1"/>
              <a:t>NetFlow</a:t>
            </a:r>
            <a:endParaRPr lang="en-US" altLang="zh-TW" dirty="0"/>
          </a:p>
          <a:p>
            <a:pPr lvl="1"/>
            <a:r>
              <a:rPr lang="en-US" altLang="zh-TW" dirty="0" err="1"/>
              <a:t>sFlow</a:t>
            </a:r>
            <a:endParaRPr lang="en-US" altLang="zh-TW" dirty="0"/>
          </a:p>
          <a:p>
            <a:pPr lvl="1"/>
            <a:r>
              <a:rPr lang="en-US" altLang="zh-TW" dirty="0"/>
              <a:t>Mirroring (SPAN/RSPAN/ERSPAN)</a:t>
            </a:r>
          </a:p>
          <a:p>
            <a:r>
              <a:rPr lang="en-US" altLang="zh-TW" dirty="0"/>
              <a:t>IEEE 802.1Q Support</a:t>
            </a:r>
          </a:p>
          <a:p>
            <a:pPr lvl="1"/>
            <a:r>
              <a:rPr lang="en-US" altLang="zh-TW" dirty="0"/>
              <a:t>Enable virtual LAN function</a:t>
            </a:r>
          </a:p>
          <a:p>
            <a:pPr lvl="1"/>
            <a:r>
              <a:rPr lang="en-US" altLang="zh-TW" dirty="0"/>
              <a:t>By attaching VLAN ID to Linux virtual interfaces, each user will have its own LAN environment separated from other users</a:t>
            </a:r>
          </a:p>
          <a:p>
            <a:pPr marL="0" indent="0">
              <a:buNone/>
            </a:pPr>
            <a:endParaRPr lang="en-US" altLang="zh-TW" sz="1800" dirty="0"/>
          </a:p>
          <a:p>
            <a:endParaRPr lang="zh-TW" altLang="zh-TW" sz="1800" dirty="0"/>
          </a:p>
        </p:txBody>
      </p:sp>
    </p:spTree>
    <p:extLst>
      <p:ext uri="{BB962C8B-B14F-4D97-AF65-F5344CB8AC3E}">
        <p14:creationId xmlns:p14="http://schemas.microsoft.com/office/powerpoint/2010/main" val="2507336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Concepts(2/2)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94335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Fine-grained ACLs and </a:t>
            </a:r>
            <a:r>
              <a:rPr lang="en-US" altLang="zh-TW" dirty="0" err="1"/>
              <a:t>QoS</a:t>
            </a:r>
            <a:r>
              <a:rPr lang="en-US" altLang="zh-TW" dirty="0"/>
              <a:t> policies</a:t>
            </a:r>
          </a:p>
          <a:p>
            <a:pPr lvl="1"/>
            <a:r>
              <a:rPr lang="en-US" altLang="zh-TW" dirty="0"/>
              <a:t>L2-­‐L4 matching</a:t>
            </a:r>
          </a:p>
          <a:p>
            <a:pPr lvl="1"/>
            <a:r>
              <a:rPr lang="en-US" altLang="zh-TW" dirty="0"/>
              <a:t>Actions to forward, drop, modify, and queue</a:t>
            </a:r>
          </a:p>
          <a:p>
            <a:pPr lvl="1"/>
            <a:r>
              <a:rPr lang="en-US" altLang="zh-TW" dirty="0"/>
              <a:t>HTB and HFSC queuing disciplines</a:t>
            </a:r>
          </a:p>
          <a:p>
            <a:r>
              <a:rPr lang="en-US" altLang="zh-TW" dirty="0"/>
              <a:t>Centralized control through </a:t>
            </a:r>
            <a:r>
              <a:rPr lang="en-US" altLang="zh-TW" dirty="0" err="1"/>
              <a:t>OpenFlow</a:t>
            </a:r>
            <a:endParaRPr lang="en-US" altLang="zh-TW" dirty="0"/>
          </a:p>
          <a:p>
            <a:r>
              <a:rPr lang="en-US" altLang="zh-TW" dirty="0"/>
              <a:t>Works on Linux-based hypervisors: </a:t>
            </a:r>
          </a:p>
          <a:p>
            <a:pPr lvl="1"/>
            <a:r>
              <a:rPr lang="en-US" altLang="zh-TW" dirty="0" err="1"/>
              <a:t>Xen</a:t>
            </a:r>
            <a:endParaRPr lang="en-US" altLang="zh-TW" dirty="0"/>
          </a:p>
          <a:p>
            <a:pPr lvl="1"/>
            <a:r>
              <a:rPr lang="en-US" altLang="zh-TW" dirty="0" err="1"/>
              <a:t>XenServer</a:t>
            </a:r>
            <a:endParaRPr lang="en-US" altLang="zh-TW" dirty="0"/>
          </a:p>
          <a:p>
            <a:pPr lvl="1"/>
            <a:r>
              <a:rPr lang="en-US" altLang="zh-TW" dirty="0"/>
              <a:t>KVM</a:t>
            </a:r>
          </a:p>
          <a:p>
            <a:pPr lvl="1"/>
            <a:r>
              <a:rPr lang="en-US" altLang="zh-TW" dirty="0" err="1"/>
              <a:t>VirtualBox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8739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Contributors(Partial)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5948" y="1200151"/>
            <a:ext cx="5252104" cy="339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35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7635" y="211251"/>
            <a:ext cx="6720305" cy="7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6" tIns="34288" rIns="68576" bIns="34288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/>
              <a:t>Packets are Managed as Flows(1/2)</a:t>
            </a:r>
            <a:endParaRPr lang="en-US" altLang="zh-TW" b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6" tIns="34288" rIns="68576" bIns="34288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altLang="zh-TW" dirty="0"/>
              <a:t>A flow may be </a:t>
            </a:r>
            <a:r>
              <a:rPr lang="en-US" altLang="zh-TW" dirty="0" err="1"/>
              <a:t>identied</a:t>
            </a:r>
            <a:r>
              <a:rPr lang="en-US" altLang="zh-TW" dirty="0"/>
              <a:t> by any combination of</a:t>
            </a:r>
          </a:p>
          <a:p>
            <a:pPr lvl="1"/>
            <a:r>
              <a:rPr lang="en-US" altLang="zh-TW" dirty="0"/>
              <a:t>Input port</a:t>
            </a:r>
          </a:p>
          <a:p>
            <a:pPr lvl="1"/>
            <a:r>
              <a:rPr lang="en-US" altLang="zh-TW" dirty="0"/>
              <a:t>VLAN ID (802.1Q)</a:t>
            </a:r>
          </a:p>
          <a:p>
            <a:pPr lvl="1"/>
            <a:r>
              <a:rPr lang="en-US" altLang="zh-TW" dirty="0"/>
              <a:t>Ethernet Source MAC address</a:t>
            </a:r>
          </a:p>
          <a:p>
            <a:pPr lvl="1"/>
            <a:r>
              <a:rPr lang="en-US" altLang="zh-TW" dirty="0"/>
              <a:t>Ethernet Destination MAC address</a:t>
            </a:r>
          </a:p>
          <a:p>
            <a:pPr lvl="1"/>
            <a:r>
              <a:rPr lang="en-US" altLang="zh-TW" dirty="0"/>
              <a:t>IP Source MAC address</a:t>
            </a:r>
          </a:p>
          <a:p>
            <a:pPr lvl="1"/>
            <a:r>
              <a:rPr lang="en-US" altLang="zh-TW" dirty="0"/>
              <a:t>IP Destination MAC address</a:t>
            </a:r>
          </a:p>
          <a:p>
            <a:pPr lvl="1"/>
            <a:r>
              <a:rPr lang="en-US" altLang="zh-TW" dirty="0"/>
              <a:t>TCP/UDP/... Source Port</a:t>
            </a:r>
          </a:p>
          <a:p>
            <a:pPr lvl="1"/>
            <a:r>
              <a:rPr lang="en-US" altLang="zh-TW" dirty="0"/>
              <a:t>TCP/UDP/... Destination Port</a:t>
            </a:r>
            <a:endParaRPr lang="en-US" altLang="zh-TW" sz="1350" b="1" dirty="0"/>
          </a:p>
        </p:txBody>
      </p:sp>
    </p:spTree>
    <p:extLst>
      <p:ext uri="{BB962C8B-B14F-4D97-AF65-F5344CB8AC3E}">
        <p14:creationId xmlns:p14="http://schemas.microsoft.com/office/powerpoint/2010/main" val="2509131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054" y="2301720"/>
            <a:ext cx="2942946" cy="1399384"/>
          </a:xfrm>
          <a:prstGeom prst="rect">
            <a:avLst/>
          </a:prstGeom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1" y="206148"/>
            <a:ext cx="6854939" cy="791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6" tIns="34288" rIns="68576" bIns="34288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/>
              <a:t>Packets are Managed as Flows(2/2)</a:t>
            </a:r>
            <a:endParaRPr lang="en-US" altLang="zh-TW" b="1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5900" y="1200150"/>
            <a:ext cx="6172200" cy="39433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6" tIns="34288" rIns="68576" bIns="34288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r>
              <a:rPr lang="en-US" altLang="zh-TW" dirty="0"/>
              <a:t>The 1rst packet of a flow is sent to the controller</a:t>
            </a:r>
          </a:p>
          <a:p>
            <a:r>
              <a:rPr lang="en-US" altLang="zh-TW" dirty="0"/>
              <a:t>The controller programs the </a:t>
            </a:r>
            <a:r>
              <a:rPr lang="en-US" altLang="zh-TW" dirty="0" err="1"/>
              <a:t>datapath's</a:t>
            </a:r>
            <a:r>
              <a:rPr lang="en-US" altLang="zh-TW" dirty="0"/>
              <a:t> actions for a flow</a:t>
            </a:r>
          </a:p>
          <a:p>
            <a:pPr lvl="1"/>
            <a:r>
              <a:rPr lang="en-US" altLang="zh-TW" dirty="0"/>
              <a:t>Usually one, but may be a list</a:t>
            </a:r>
          </a:p>
          <a:p>
            <a:pPr lvl="1"/>
            <a:r>
              <a:rPr lang="en-US" altLang="zh-TW" dirty="0"/>
              <a:t>Actions include:</a:t>
            </a:r>
          </a:p>
          <a:p>
            <a:pPr lvl="2"/>
            <a:r>
              <a:rPr lang="en-US" altLang="zh-TW" dirty="0"/>
              <a:t>Forward to a port or ports, mirror</a:t>
            </a:r>
          </a:p>
          <a:p>
            <a:pPr lvl="2"/>
            <a:r>
              <a:rPr lang="en-US" altLang="zh-TW" dirty="0"/>
              <a:t>Encapsulate and forward to controller</a:t>
            </a:r>
          </a:p>
          <a:p>
            <a:pPr lvl="2"/>
            <a:r>
              <a:rPr lang="en-US" altLang="zh-TW" dirty="0"/>
              <a:t>Drop</a:t>
            </a:r>
          </a:p>
          <a:p>
            <a:r>
              <a:rPr lang="en-US" altLang="zh-TW" dirty="0"/>
              <a:t>And returns the packet to the </a:t>
            </a:r>
            <a:r>
              <a:rPr lang="en-US" altLang="zh-TW" dirty="0" err="1"/>
              <a:t>datapath</a:t>
            </a:r>
            <a:endParaRPr lang="en-US" altLang="zh-TW" dirty="0"/>
          </a:p>
          <a:p>
            <a:r>
              <a:rPr lang="en-US" altLang="zh-TW" dirty="0"/>
              <a:t>Subsequent packets are handled directly by the </a:t>
            </a:r>
            <a:r>
              <a:rPr lang="en-US" altLang="zh-TW" dirty="0" err="1"/>
              <a:t>datapath</a:t>
            </a:r>
            <a:endParaRPr lang="en-US" altLang="zh-TW" dirty="0"/>
          </a:p>
          <a:p>
            <a:pPr>
              <a:buFontTx/>
              <a:buNone/>
            </a:pP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167767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architecture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707655"/>
            <a:ext cx="5829300" cy="1597521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vSwitch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/>
              <a:t>Main components of Open </a:t>
            </a:r>
            <a:r>
              <a:rPr lang="en-US" altLang="zh-TW" dirty="0" err="1"/>
              <a:t>vSwitch</a:t>
            </a:r>
            <a:endParaRPr lang="en-US" altLang="zh-TW" dirty="0"/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vSwitch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Testing Case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821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Main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30" y="1767293"/>
            <a:ext cx="5463540" cy="314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75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ovsdb</a:t>
            </a:r>
            <a:r>
              <a:rPr lang="en-US" altLang="zh-TW" dirty="0"/>
              <a:t>-­‐server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Database that holds switch--‐level configuration</a:t>
            </a:r>
          </a:p>
          <a:p>
            <a:r>
              <a:rPr lang="en-US" altLang="zh-TW" dirty="0"/>
              <a:t>Custom database with nice properties:</a:t>
            </a:r>
          </a:p>
          <a:p>
            <a:pPr lvl="1"/>
            <a:r>
              <a:rPr lang="en-US" altLang="zh-TW" dirty="0"/>
              <a:t>Value constraints</a:t>
            </a:r>
          </a:p>
          <a:p>
            <a:pPr lvl="1"/>
            <a:r>
              <a:rPr lang="en-US" altLang="zh-TW" dirty="0"/>
              <a:t>Weak references</a:t>
            </a:r>
          </a:p>
          <a:p>
            <a:pPr lvl="1"/>
            <a:r>
              <a:rPr lang="en-US" altLang="zh-TW" dirty="0"/>
              <a:t>Garbage collection</a:t>
            </a:r>
          </a:p>
          <a:p>
            <a:r>
              <a:rPr lang="en-US" altLang="zh-TW" dirty="0"/>
              <a:t>Log--‐based</a:t>
            </a:r>
          </a:p>
          <a:p>
            <a:r>
              <a:rPr lang="en-US" altLang="zh-TW" dirty="0"/>
              <a:t>Speaks management protocol(JSON--‐RPC) to manager and </a:t>
            </a:r>
            <a:r>
              <a:rPr lang="en-US" altLang="zh-TW" dirty="0" err="1"/>
              <a:t>ovs</a:t>
            </a:r>
            <a:r>
              <a:rPr lang="en-US" altLang="zh-TW" dirty="0"/>
              <a:t>--‐</a:t>
            </a:r>
            <a:r>
              <a:rPr lang="en-US" altLang="zh-TW" dirty="0" err="1"/>
              <a:t>vswitchd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3447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ovs</a:t>
            </a:r>
            <a:r>
              <a:rPr lang="en-US" altLang="zh-TW" dirty="0"/>
              <a:t>-­‐</a:t>
            </a:r>
            <a:r>
              <a:rPr lang="en-US" altLang="zh-TW" dirty="0" err="1"/>
              <a:t>vswitchd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0"/>
            <a:ext cx="6434472" cy="3943350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Core component in the system:</a:t>
            </a:r>
          </a:p>
          <a:p>
            <a:pPr lvl="1"/>
            <a:r>
              <a:rPr lang="en-US" altLang="zh-TW" dirty="0"/>
              <a:t>Communicates with outside world using </a:t>
            </a:r>
            <a:r>
              <a:rPr lang="en-US" altLang="zh-TW" dirty="0" err="1"/>
              <a:t>OpenFlow</a:t>
            </a:r>
            <a:endParaRPr lang="en-US" altLang="zh-TW" dirty="0"/>
          </a:p>
          <a:p>
            <a:pPr lvl="1"/>
            <a:r>
              <a:rPr lang="en-US" altLang="zh-TW" dirty="0"/>
              <a:t>Communicates with </a:t>
            </a:r>
            <a:r>
              <a:rPr lang="en-US" altLang="zh-TW" dirty="0" err="1"/>
              <a:t>ovsdb</a:t>
            </a:r>
            <a:r>
              <a:rPr lang="en-US" altLang="zh-TW" dirty="0"/>
              <a:t>-­‐server using management protocol</a:t>
            </a:r>
          </a:p>
          <a:p>
            <a:pPr lvl="1"/>
            <a:r>
              <a:rPr lang="en-US" altLang="zh-TW" dirty="0"/>
              <a:t>Communicates with kernel module over </a:t>
            </a:r>
            <a:r>
              <a:rPr lang="en-US" altLang="zh-TW" dirty="0" err="1"/>
              <a:t>netlink</a:t>
            </a:r>
            <a:endParaRPr lang="en-US" altLang="zh-TW" dirty="0"/>
          </a:p>
          <a:p>
            <a:pPr lvl="1"/>
            <a:r>
              <a:rPr lang="en-US" altLang="zh-TW" dirty="0"/>
              <a:t>Communicates with the system through </a:t>
            </a:r>
            <a:r>
              <a:rPr lang="en-US" altLang="zh-TW" dirty="0" err="1"/>
              <a:t>netdev</a:t>
            </a:r>
            <a:r>
              <a:rPr lang="en-US" altLang="zh-TW" dirty="0"/>
              <a:t> abstract interface</a:t>
            </a:r>
          </a:p>
          <a:p>
            <a:r>
              <a:rPr lang="en-US" altLang="zh-TW" dirty="0"/>
              <a:t>Supports multiple independent </a:t>
            </a:r>
            <a:r>
              <a:rPr lang="en-US" altLang="zh-TW" dirty="0" err="1"/>
              <a:t>datapaths</a:t>
            </a:r>
            <a:r>
              <a:rPr lang="en-US" altLang="zh-TW" dirty="0"/>
              <a:t> (bridges)</a:t>
            </a:r>
          </a:p>
          <a:p>
            <a:r>
              <a:rPr lang="en-US" altLang="zh-TW" dirty="0"/>
              <a:t>Packet classiﬁer supports eﬃcient ﬂow lookup with wildcards and “explodes” these (possibly) wildcard rules for fast processing by the </a:t>
            </a:r>
            <a:r>
              <a:rPr lang="en-US" altLang="zh-TW" dirty="0" err="1"/>
              <a:t>datapath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9268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ovs</a:t>
            </a:r>
            <a:r>
              <a:rPr lang="en-US" altLang="zh-TW" dirty="0"/>
              <a:t>-­‐</a:t>
            </a:r>
            <a:r>
              <a:rPr lang="en-US" altLang="zh-TW" dirty="0" err="1"/>
              <a:t>vswitchd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Implements mirroring, bonding, and VLANs through modiﬁcations of the same ﬂow table exposed through </a:t>
            </a:r>
            <a:r>
              <a:rPr lang="en-US" altLang="zh-TW" dirty="0" err="1"/>
              <a:t>OpenFlow</a:t>
            </a:r>
            <a:endParaRPr lang="en-US" altLang="zh-TW" dirty="0"/>
          </a:p>
          <a:p>
            <a:r>
              <a:rPr lang="en-US" altLang="zh-TW" dirty="0"/>
              <a:t>Checks </a:t>
            </a:r>
            <a:r>
              <a:rPr lang="en-US" altLang="zh-TW" dirty="0" err="1"/>
              <a:t>datapath</a:t>
            </a:r>
            <a:r>
              <a:rPr lang="en-US" altLang="zh-TW" dirty="0"/>
              <a:t> ﬂow counters to handle ﬂow expiration and </a:t>
            </a:r>
            <a:r>
              <a:rPr lang="en-US" altLang="zh-TW"/>
              <a:t>stats requests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63551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openvswitch_mod.ko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943350"/>
          </a:xfrm>
        </p:spPr>
        <p:txBody>
          <a:bodyPr/>
          <a:lstStyle/>
          <a:p>
            <a:r>
              <a:rPr lang="en-US" altLang="zh-TW" dirty="0"/>
              <a:t>Kernel module that handles switching and tunneling</a:t>
            </a:r>
          </a:p>
          <a:p>
            <a:r>
              <a:rPr lang="en-US" altLang="zh-TW" dirty="0"/>
              <a:t>Exact-­‐match cache of ﬂows</a:t>
            </a:r>
          </a:p>
          <a:p>
            <a:r>
              <a:rPr lang="en-US" altLang="zh-TW" dirty="0"/>
              <a:t>Designed to be fast and simple</a:t>
            </a:r>
          </a:p>
          <a:p>
            <a:pPr lvl="1"/>
            <a:r>
              <a:rPr lang="en-US" altLang="zh-TW" dirty="0"/>
              <a:t>Packet comes in, if found, associated actions executed and counters updated. Otherwise, sent to </a:t>
            </a:r>
            <a:r>
              <a:rPr lang="en-US" altLang="zh-TW" dirty="0" err="1"/>
              <a:t>userspace</a:t>
            </a:r>
            <a:endParaRPr lang="en-US" altLang="zh-TW" dirty="0"/>
          </a:p>
          <a:p>
            <a:pPr lvl="1"/>
            <a:r>
              <a:rPr lang="en-US" altLang="zh-TW" dirty="0"/>
              <a:t>Does no ﬂow expiration</a:t>
            </a:r>
          </a:p>
          <a:p>
            <a:pPr lvl="1"/>
            <a:r>
              <a:rPr lang="en-US" altLang="zh-TW" dirty="0"/>
              <a:t>Knows nothing of </a:t>
            </a:r>
            <a:r>
              <a:rPr lang="en-US" altLang="zh-TW" dirty="0" err="1"/>
              <a:t>OpenFlow</a:t>
            </a:r>
            <a:endParaRPr lang="en-US" altLang="zh-TW" dirty="0"/>
          </a:p>
          <a:p>
            <a:r>
              <a:rPr lang="en-US" altLang="zh-TW" dirty="0"/>
              <a:t>Implements tunnels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55916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/>
              <a:t>Tunneling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Required to provide “true” virtual networks</a:t>
            </a:r>
          </a:p>
          <a:p>
            <a:r>
              <a:rPr lang="en-US" altLang="zh-TW" dirty="0"/>
              <a:t>Focus on performance</a:t>
            </a:r>
          </a:p>
          <a:p>
            <a:pPr lvl="1"/>
            <a:r>
              <a:rPr lang="en-US" altLang="zh-TW" dirty="0"/>
              <a:t>Header caching</a:t>
            </a:r>
          </a:p>
          <a:p>
            <a:pPr lvl="1"/>
            <a:r>
              <a:rPr lang="en-US" altLang="zh-TW" dirty="0"/>
              <a:t>Hardware oﬄoading</a:t>
            </a:r>
          </a:p>
          <a:p>
            <a:r>
              <a:rPr lang="en-US" altLang="zh-TW" dirty="0"/>
              <a:t>Supported tunneling modes</a:t>
            </a:r>
          </a:p>
          <a:p>
            <a:pPr lvl="1"/>
            <a:r>
              <a:rPr lang="en-US" altLang="zh-TW" dirty="0"/>
              <a:t>GRE</a:t>
            </a:r>
          </a:p>
          <a:p>
            <a:pPr lvl="1"/>
            <a:r>
              <a:rPr lang="en-US" altLang="zh-TW" dirty="0"/>
              <a:t>GRE-­‐over-­‐IPsec</a:t>
            </a:r>
          </a:p>
          <a:p>
            <a:pPr lvl="1"/>
            <a:r>
              <a:rPr lang="en-US" altLang="zh-TW" dirty="0"/>
              <a:t>CAPWAP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1917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Migration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KVM and </a:t>
            </a:r>
            <a:r>
              <a:rPr lang="en-US" altLang="zh-TW" dirty="0" err="1"/>
              <a:t>Xen</a:t>
            </a:r>
            <a:r>
              <a:rPr lang="en-US" altLang="zh-TW" dirty="0"/>
              <a:t> provide Live Migration</a:t>
            </a:r>
          </a:p>
          <a:p>
            <a:r>
              <a:rPr lang="en-US" altLang="zh-TW" dirty="0"/>
              <a:t>With bridging, IP address migration must occur with in the same L2 network</a:t>
            </a:r>
          </a:p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avoids this problem using GRE tunnels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2456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sz="3675" dirty="0"/>
              <a:t>Distributed Virtual Switch</a:t>
            </a:r>
            <a:br>
              <a:rPr lang="en-US" altLang="zh-TW" sz="3675" dirty="0"/>
            </a:br>
            <a:endParaRPr lang="zh-TW" altLang="en-US" sz="3675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900" y="1788112"/>
            <a:ext cx="6172200" cy="221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93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architecture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707655"/>
            <a:ext cx="5829300" cy="1597521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vSwitch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Main components of 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vSwitch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Testing Case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67527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6" tIns="34288" rIns="68576" bIns="34288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Virtual LAN</a:t>
            </a:r>
            <a:endParaRPr lang="en-US" altLang="zh-TW" b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6" tIns="34288" rIns="68576" bIns="34288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/>
              <a:t>Per-Customer VLANs are desirable for security reasons</a:t>
            </a:r>
          </a:p>
          <a:p>
            <a:r>
              <a:rPr lang="en-US" altLang="zh-TW" dirty="0"/>
              <a:t>But there is a limit of 4094 VLANs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3527654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34" y="1005576"/>
            <a:ext cx="3680814" cy="3132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3" name="內容版面配置區 2"/>
          <p:cNvSpPr>
            <a:spLocks noGrp="1"/>
          </p:cNvSpPr>
          <p:nvPr>
            <p:ph idx="1"/>
          </p:nvPr>
        </p:nvSpPr>
        <p:spPr>
          <a:xfrm>
            <a:off x="4784799" y="1101351"/>
            <a:ext cx="3135574" cy="4042149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b="0" dirty="0"/>
              <a:t>VM1 and VM3 belong to a user assigned with VLAN ID 1 through tap0 virtual interface; VM2 and VM4 belong to a user assigned with VLAN ID 2 through tap1 virtual interface</a:t>
            </a:r>
          </a:p>
          <a:p>
            <a:r>
              <a:rPr lang="en-US" altLang="zh-TW" b="0" dirty="0"/>
              <a:t>Data Network is used for VMs to transmit data packets; Management Network is used for out-of-band management and packet mirroring</a:t>
            </a:r>
          </a:p>
          <a:p>
            <a:r>
              <a:rPr lang="en-US" altLang="zh-TW" b="0" dirty="0"/>
              <a:t>On both hosts, we have to install an OVS bridge interface (br0) for performing virtual switch function and attach it with physical Data Network interface eth1</a:t>
            </a:r>
            <a:endParaRPr lang="zh-TW" altLang="en-US" dirty="0"/>
          </a:p>
        </p:txBody>
      </p:sp>
      <p:sp>
        <p:nvSpPr>
          <p:cNvPr id="15364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Testing(1/2)</a:t>
            </a:r>
          </a:p>
        </p:txBody>
      </p:sp>
    </p:spTree>
    <p:extLst>
      <p:ext uri="{BB962C8B-B14F-4D97-AF65-F5344CB8AC3E}">
        <p14:creationId xmlns:p14="http://schemas.microsoft.com/office/powerpoint/2010/main" val="22942790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1975884"/>
            <a:ext cx="3286404" cy="1246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6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Testing(2/2)</a:t>
            </a:r>
            <a:endParaRPr lang="zh-TW" altLang="en-US" dirty="0"/>
          </a:p>
        </p:txBody>
      </p:sp>
      <p:sp>
        <p:nvSpPr>
          <p:cNvPr id="16387" name="內容版面配置區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3840956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b="0" dirty="0"/>
              <a:t>Attach virtual interfaces of each VM (tap0 and tap1) to the OVS bridge interface (br0) with proper VLAN ID as follows:</a:t>
            </a:r>
          </a:p>
          <a:p>
            <a:endParaRPr lang="en-US" altLang="zh-TW" b="0" dirty="0"/>
          </a:p>
          <a:p>
            <a:endParaRPr lang="en-US" altLang="zh-TW" b="0" dirty="0"/>
          </a:p>
          <a:p>
            <a:endParaRPr lang="en-US" altLang="zh-TW" b="0" dirty="0"/>
          </a:p>
          <a:p>
            <a:r>
              <a:rPr lang="en-US" altLang="zh-TW" b="0" dirty="0"/>
              <a:t>Assign VM1~VM4 within the same IP range. Basically, VM1 and VM3 can ping each other and VM2 and VM4 can ping each other successfully</a:t>
            </a:r>
          </a:p>
          <a:p>
            <a:r>
              <a:rPr lang="en-US" altLang="zh-TW" b="0" dirty="0"/>
              <a:t>VM1 cannot access VM2 and VM3 cannot access VM4 even they exist on the same host machine</a:t>
            </a:r>
          </a:p>
        </p:txBody>
      </p:sp>
      <p:sp>
        <p:nvSpPr>
          <p:cNvPr id="16388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9556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Virtual Switch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vSwitch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architecture</a:t>
            </a:r>
          </a:p>
          <a:p>
            <a:r>
              <a:rPr lang="en-US" altLang="zh-TW" dirty="0" err="1">
                <a:latin typeface="+mj-lt"/>
              </a:rPr>
              <a:t>OpenFlow</a:t>
            </a:r>
            <a:endParaRPr lang="en-US" altLang="zh-TW" dirty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91901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29612"/>
            <a:ext cx="5829300" cy="1975564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Introduction to </a:t>
            </a:r>
            <a:r>
              <a:rPr lang="en-US" altLang="zh-TW" dirty="0" err="1"/>
              <a:t>OpenFlow</a:t>
            </a:r>
            <a:endParaRPr lang="en-US" altLang="zh-TW" dirty="0"/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Switching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Usage models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Virtualizing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FlowVisor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-based Virtualization</a:t>
            </a: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references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886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 err="1"/>
              <a:t>OpenFlow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943350"/>
          </a:xfrm>
        </p:spPr>
        <p:txBody>
          <a:bodyPr/>
          <a:lstStyle/>
          <a:p>
            <a:r>
              <a:rPr lang="en-US" altLang="zh-TW" dirty="0"/>
              <a:t>Idealized view of a switch’s </a:t>
            </a:r>
            <a:r>
              <a:rPr lang="en-US" altLang="zh-TW" dirty="0" err="1"/>
              <a:t>datapath</a:t>
            </a:r>
            <a:endParaRPr lang="en-US" altLang="zh-TW" dirty="0"/>
          </a:p>
          <a:p>
            <a:r>
              <a:rPr lang="en-US" altLang="zh-TW" dirty="0"/>
              <a:t>Centralized controller conﬁgures ﬂow table</a:t>
            </a:r>
          </a:p>
          <a:p>
            <a:pPr lvl="1"/>
            <a:r>
              <a:rPr lang="en-US" altLang="zh-TW" dirty="0"/>
              <a:t>Lookup based on L2-­‐L4</a:t>
            </a:r>
          </a:p>
          <a:p>
            <a:pPr lvl="1"/>
            <a:r>
              <a:rPr lang="en-US" altLang="zh-TW" dirty="0"/>
              <a:t>Supports full wildcarding and priorities</a:t>
            </a:r>
          </a:p>
          <a:p>
            <a:pPr lvl="1"/>
            <a:r>
              <a:rPr lang="en-US" altLang="zh-TW" dirty="0"/>
              <a:t>Flows associated with actions: forward, drop, modify</a:t>
            </a:r>
          </a:p>
          <a:p>
            <a:pPr lvl="1"/>
            <a:r>
              <a:rPr lang="en-US" altLang="zh-TW" dirty="0"/>
              <a:t>Missed ﬂows go to controller</a:t>
            </a:r>
          </a:p>
          <a:p>
            <a:r>
              <a:rPr lang="en-US" altLang="zh-TW" dirty="0"/>
              <a:t>Remote visibility</a:t>
            </a:r>
          </a:p>
          <a:p>
            <a:pPr lvl="1"/>
            <a:r>
              <a:rPr lang="en-US" altLang="zh-TW" dirty="0"/>
              <a:t>Description of switch (supported actions, ﬂow tables’  sizes, etc.)</a:t>
            </a:r>
          </a:p>
          <a:p>
            <a:pPr lvl="1"/>
            <a:r>
              <a:rPr lang="en-US" altLang="zh-TW" dirty="0"/>
              <a:t>Statistics (ﬂows, tables, ports)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9227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 err="1"/>
              <a:t>Nicira</a:t>
            </a:r>
            <a:r>
              <a:rPr lang="en-US" altLang="zh-TW" dirty="0"/>
              <a:t> Extensions to </a:t>
            </a:r>
            <a:r>
              <a:rPr lang="en-US" altLang="zh-TW" dirty="0" err="1"/>
              <a:t>OpenFlow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943350"/>
          </a:xfrm>
        </p:spPr>
        <p:txBody>
          <a:bodyPr/>
          <a:lstStyle/>
          <a:p>
            <a:r>
              <a:rPr lang="en-US" altLang="zh-TW" dirty="0"/>
              <a:t>Resubmit</a:t>
            </a:r>
          </a:p>
          <a:p>
            <a:r>
              <a:rPr lang="en-US" altLang="zh-TW" dirty="0"/>
              <a:t>NXM (Extensible Match)</a:t>
            </a:r>
          </a:p>
          <a:p>
            <a:pPr lvl="1"/>
            <a:r>
              <a:rPr lang="en-US" altLang="zh-TW" dirty="0"/>
              <a:t>Tunnels</a:t>
            </a:r>
          </a:p>
          <a:p>
            <a:pPr lvl="1"/>
            <a:r>
              <a:rPr lang="en-US" altLang="zh-TW" dirty="0"/>
              <a:t>Registers</a:t>
            </a:r>
          </a:p>
          <a:p>
            <a:pPr lvl="1"/>
            <a:r>
              <a:rPr lang="en-US" altLang="zh-TW" dirty="0"/>
              <a:t>IPv6</a:t>
            </a:r>
          </a:p>
          <a:p>
            <a:pPr lvl="1"/>
            <a:r>
              <a:rPr lang="en-US" altLang="zh-TW" dirty="0"/>
              <a:t>Labels used by new actions</a:t>
            </a:r>
          </a:p>
          <a:p>
            <a:r>
              <a:rPr lang="en-US" altLang="zh-TW" dirty="0"/>
              <a:t>Flexible tunnel tagging</a:t>
            </a:r>
          </a:p>
          <a:p>
            <a:r>
              <a:rPr lang="en-US" altLang="zh-TW" dirty="0"/>
              <a:t>Multiple controllers</a:t>
            </a:r>
          </a:p>
          <a:p>
            <a:r>
              <a:rPr lang="pt-BR" altLang="zh-TW" dirty="0"/>
              <a:t>Separate setting a QoS queue from transmitting</a:t>
            </a:r>
          </a:p>
          <a:p>
            <a:r>
              <a:rPr lang="pt-BR" altLang="zh-TW" dirty="0"/>
              <a:t>Multipathing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04578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77634" y="205978"/>
            <a:ext cx="6588732" cy="651272"/>
          </a:xfrm>
        </p:spPr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/>
              <a:t>Dynamic Flow Aggregation on an </a:t>
            </a:r>
            <a:r>
              <a:rPr lang="en-US" altLang="zh-TW" dirty="0" err="1"/>
              <a:t>OpenFlow</a:t>
            </a:r>
            <a:r>
              <a:rPr lang="en-US" altLang="zh-TW" dirty="0"/>
              <a:t> Network(1/2)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909882"/>
          </a:xfrm>
        </p:spPr>
        <p:txBody>
          <a:bodyPr/>
          <a:lstStyle/>
          <a:p>
            <a:r>
              <a:rPr lang="en-US" altLang="zh-TW" dirty="0"/>
              <a:t>Scope</a:t>
            </a:r>
          </a:p>
          <a:p>
            <a:pPr lvl="1"/>
            <a:r>
              <a:rPr lang="en-US" altLang="zh-TW" dirty="0"/>
              <a:t>Different Networks want different flow granularity (ISP, Backbone,…)</a:t>
            </a:r>
          </a:p>
          <a:p>
            <a:pPr lvl="1"/>
            <a:r>
              <a:rPr lang="en-US" altLang="zh-TW" dirty="0"/>
              <a:t>Switch resources are limited (flow entries, memory)</a:t>
            </a:r>
          </a:p>
          <a:p>
            <a:pPr lvl="1"/>
            <a:r>
              <a:rPr lang="en-US" altLang="zh-TW" dirty="0"/>
              <a:t>Network management is hard</a:t>
            </a:r>
          </a:p>
          <a:p>
            <a:pPr lvl="1"/>
            <a:r>
              <a:rPr lang="en-US" altLang="zh-TW" dirty="0"/>
              <a:t>Current Solutions : MPLS, IP aggregation</a:t>
            </a:r>
            <a:endParaRPr lang="en-US" altLang="zh-TW" sz="27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51967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77634" y="205978"/>
            <a:ext cx="6588732" cy="651272"/>
          </a:xfrm>
        </p:spPr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/>
              <a:t>Dynamic Flow Aggregation on an </a:t>
            </a:r>
            <a:r>
              <a:rPr lang="en-US" altLang="zh-TW" dirty="0" err="1"/>
              <a:t>OpenFlow</a:t>
            </a:r>
            <a:r>
              <a:rPr lang="en-US" altLang="zh-TW" dirty="0"/>
              <a:t> Network(2/2)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909882"/>
          </a:xfrm>
        </p:spPr>
        <p:txBody>
          <a:bodyPr/>
          <a:lstStyle/>
          <a:p>
            <a:r>
              <a:rPr lang="en-US" altLang="zh-TW" dirty="0"/>
              <a:t>How do </a:t>
            </a:r>
            <a:r>
              <a:rPr lang="en-US" altLang="zh-TW" dirty="0" err="1"/>
              <a:t>OpenFlow</a:t>
            </a:r>
            <a:r>
              <a:rPr lang="en-US" altLang="zh-TW" dirty="0"/>
              <a:t> Help?</a:t>
            </a:r>
          </a:p>
          <a:p>
            <a:pPr lvl="1"/>
            <a:r>
              <a:rPr lang="en-US" altLang="zh-TW" dirty="0"/>
              <a:t>Dynamically define flow granularity by wildcarding arbitrary header fields</a:t>
            </a:r>
          </a:p>
          <a:p>
            <a:pPr lvl="1"/>
            <a:r>
              <a:rPr lang="en-US" altLang="zh-TW" dirty="0"/>
              <a:t>Granularity is on the switch flow entries, no packet rewrite or encapsulation</a:t>
            </a:r>
          </a:p>
          <a:p>
            <a:pPr lvl="1"/>
            <a:r>
              <a:rPr lang="en-US" altLang="zh-TW" dirty="0"/>
              <a:t>Create meaningful bundles and manage them using your own software (reroute, monitor)</a:t>
            </a:r>
          </a:p>
          <a:p>
            <a:endParaRPr lang="en-US" altLang="zh-TW" sz="2700" dirty="0"/>
          </a:p>
          <a:p>
            <a:endParaRPr lang="zh-TW" altLang="en-US" dirty="0"/>
          </a:p>
        </p:txBody>
      </p:sp>
      <p:pic>
        <p:nvPicPr>
          <p:cNvPr id="4" name="Picture 5" descr="unaggregat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2406" y="3395369"/>
            <a:ext cx="2052228" cy="173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7" descr="modified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78994" y="3395369"/>
            <a:ext cx="2067036" cy="1696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ight Arrow 24"/>
          <p:cNvSpPr>
            <a:spLocks noChangeArrowheads="1"/>
          </p:cNvSpPr>
          <p:nvPr/>
        </p:nvSpPr>
        <p:spPr bwMode="auto">
          <a:xfrm rot="10800000" flipH="1">
            <a:off x="4463988" y="3921901"/>
            <a:ext cx="465535" cy="202406"/>
          </a:xfrm>
          <a:prstGeom prst="rightArrow">
            <a:avLst>
              <a:gd name="adj1" fmla="val 50000"/>
              <a:gd name="adj2" fmla="val 49993"/>
            </a:avLst>
          </a:prstGeom>
          <a:solidFill>
            <a:srgbClr val="8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2743200"/>
            <a:endParaRPr lang="de-DE" sz="54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563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29612"/>
            <a:ext cx="5829300" cy="1975564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/>
              <a:t>OpenFlow</a:t>
            </a:r>
            <a:r>
              <a:rPr lang="en-US" altLang="zh-TW" dirty="0"/>
              <a:t> Switching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Usage models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Virtualizing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FlowVisor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-based Virtualization</a:t>
            </a: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references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0471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OpenFlow Switching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948928"/>
            <a:ext cx="6172200" cy="4080272"/>
          </a:xfrm>
        </p:spPr>
        <p:txBody>
          <a:bodyPr/>
          <a:lstStyle/>
          <a:p>
            <a:pPr>
              <a:buSzTx/>
            </a:pPr>
            <a:r>
              <a:rPr lang="en-US" altLang="zh-TW" dirty="0"/>
              <a:t>A way to run experiments in the networks </a:t>
            </a:r>
          </a:p>
          <a:p>
            <a:pPr>
              <a:buSzTx/>
            </a:pPr>
            <a:r>
              <a:rPr lang="en-US" altLang="zh-TW" dirty="0"/>
              <a:t>Bring GENI to college campuses</a:t>
            </a:r>
            <a:endParaRPr lang="en-US" altLang="zh-TW" sz="2100" dirty="0">
              <a:ea typeface="新細明體" panose="02020500000000000000" pitchFamily="18" charset="-120"/>
            </a:endParaRPr>
          </a:p>
          <a:p>
            <a:r>
              <a:rPr lang="en-US" altLang="zh-TW" dirty="0"/>
              <a:t>A “pragmatic” compromise</a:t>
            </a:r>
          </a:p>
          <a:p>
            <a:pPr lvl="1"/>
            <a:r>
              <a:rPr lang="en-US" altLang="zh-TW" dirty="0"/>
              <a:t>Allow researchers to run experiments in their network without requiring vendors to expose internal workings</a:t>
            </a:r>
            <a:endParaRPr lang="en-US" altLang="zh-TW" sz="1800" i="1" dirty="0">
              <a:ea typeface="新細明體" panose="02020500000000000000" pitchFamily="18" charset="-120"/>
            </a:endParaRPr>
          </a:p>
          <a:p>
            <a:r>
              <a:rPr lang="en-US" altLang="zh-TW" dirty="0"/>
              <a:t>Basic requirements</a:t>
            </a:r>
          </a:p>
          <a:p>
            <a:pPr lvl="1"/>
            <a:r>
              <a:rPr lang="en-US" altLang="zh-TW" dirty="0"/>
              <a:t>An Ethernet switch (e.g. 128-ports of 1GE) </a:t>
            </a:r>
          </a:p>
          <a:p>
            <a:pPr lvl="1"/>
            <a:r>
              <a:rPr lang="en-US" altLang="zh-TW" dirty="0"/>
              <a:t>An open protocol to remotely add/remove flow entries</a:t>
            </a:r>
          </a:p>
        </p:txBody>
      </p:sp>
    </p:spTree>
    <p:extLst>
      <p:ext uri="{BB962C8B-B14F-4D97-AF65-F5344CB8AC3E}">
        <p14:creationId xmlns:p14="http://schemas.microsoft.com/office/powerpoint/2010/main" val="7104606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000" dirty="0">
                <a:ea typeface="新細明體" panose="02020500000000000000" pitchFamily="18" charset="-120"/>
              </a:rPr>
              <a:t>Experimenter’s Dream</a:t>
            </a:r>
            <a:br>
              <a:rPr lang="en-US" altLang="zh-TW" sz="3000" dirty="0">
                <a:ea typeface="新細明體" panose="02020500000000000000" pitchFamily="18" charset="-120"/>
              </a:rPr>
            </a:br>
            <a:r>
              <a:rPr lang="en-US" altLang="zh-TW" sz="2100" dirty="0">
                <a:ea typeface="新細明體" panose="02020500000000000000" pitchFamily="18" charset="-120"/>
              </a:rPr>
              <a:t>(Vendor’s Nightmare)</a:t>
            </a:r>
          </a:p>
        </p:txBody>
      </p:sp>
      <p:pic>
        <p:nvPicPr>
          <p:cNvPr id="6148" name="Picture 5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4000500"/>
            <a:ext cx="857250" cy="64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6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850" y="4213623"/>
            <a:ext cx="857250" cy="64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7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213623"/>
            <a:ext cx="857250" cy="64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8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50" y="4057650"/>
            <a:ext cx="857250" cy="64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Line 9"/>
          <p:cNvSpPr>
            <a:spLocks noChangeShapeType="1"/>
          </p:cNvSpPr>
          <p:nvPr/>
        </p:nvSpPr>
        <p:spPr bwMode="auto">
          <a:xfrm flipH="1">
            <a:off x="2857500" y="3371850"/>
            <a:ext cx="85725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6153" name="Line 10"/>
          <p:cNvSpPr>
            <a:spLocks noChangeShapeType="1"/>
          </p:cNvSpPr>
          <p:nvPr/>
        </p:nvSpPr>
        <p:spPr bwMode="auto">
          <a:xfrm flipH="1">
            <a:off x="3886200" y="3429000"/>
            <a:ext cx="400050" cy="857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6154" name="Line 11"/>
          <p:cNvSpPr>
            <a:spLocks noChangeShapeType="1"/>
          </p:cNvSpPr>
          <p:nvPr/>
        </p:nvSpPr>
        <p:spPr bwMode="auto">
          <a:xfrm>
            <a:off x="4800600" y="3429000"/>
            <a:ext cx="114300" cy="857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6155" name="Line 12"/>
          <p:cNvSpPr>
            <a:spLocks noChangeShapeType="1"/>
          </p:cNvSpPr>
          <p:nvPr/>
        </p:nvSpPr>
        <p:spPr bwMode="auto">
          <a:xfrm>
            <a:off x="5257800" y="3371850"/>
            <a:ext cx="685800" cy="742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625677" name="AutoShape 13"/>
          <p:cNvSpPr>
            <a:spLocks noChangeArrowheads="1"/>
          </p:cNvSpPr>
          <p:nvPr/>
        </p:nvSpPr>
        <p:spPr bwMode="auto">
          <a:xfrm>
            <a:off x="3028950" y="971550"/>
            <a:ext cx="2800350" cy="2428875"/>
          </a:xfrm>
          <a:prstGeom prst="can">
            <a:avLst>
              <a:gd name="adj" fmla="val 21718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350"/>
          </a:p>
        </p:txBody>
      </p:sp>
      <p:sp>
        <p:nvSpPr>
          <p:cNvPr id="625678" name="Rectangle 14"/>
          <p:cNvSpPr>
            <a:spLocks noChangeArrowheads="1"/>
          </p:cNvSpPr>
          <p:nvPr/>
        </p:nvSpPr>
        <p:spPr bwMode="auto">
          <a:xfrm>
            <a:off x="3429000" y="1600200"/>
            <a:ext cx="971550" cy="154305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dirty="0">
                <a:ea typeface="新細明體" panose="02020500000000000000" pitchFamily="18" charset="-120"/>
              </a:rPr>
              <a:t>Standard</a:t>
            </a:r>
          </a:p>
          <a:p>
            <a:pPr algn="ctr" eaLnBrk="1" hangingPunct="1"/>
            <a:r>
              <a:rPr lang="en-US" altLang="zh-TW" sz="1500" dirty="0">
                <a:ea typeface="新細明體" panose="02020500000000000000" pitchFamily="18" charset="-120"/>
              </a:rPr>
              <a:t>Network</a:t>
            </a:r>
          </a:p>
          <a:p>
            <a:pPr algn="ctr" eaLnBrk="1" hangingPunct="1"/>
            <a:r>
              <a:rPr lang="en-US" altLang="zh-TW" sz="1500" dirty="0">
                <a:ea typeface="新細明體" panose="02020500000000000000" pitchFamily="18" charset="-120"/>
              </a:rPr>
              <a:t>Processing</a:t>
            </a:r>
          </a:p>
          <a:p>
            <a:pPr algn="ctr" eaLnBrk="1" hangingPunct="1"/>
            <a:endParaRPr lang="en-US" altLang="zh-TW" sz="1500" dirty="0">
              <a:ea typeface="新細明體" panose="02020500000000000000" pitchFamily="18" charset="-120"/>
            </a:endParaRPr>
          </a:p>
        </p:txBody>
      </p:sp>
      <p:sp>
        <p:nvSpPr>
          <p:cNvPr id="6158" name="Text Box 17"/>
          <p:cNvSpPr txBox="1">
            <a:spLocks noChangeArrowheads="1"/>
          </p:cNvSpPr>
          <p:nvPr/>
        </p:nvSpPr>
        <p:spPr bwMode="auto">
          <a:xfrm>
            <a:off x="2971800" y="2343150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>
                <a:solidFill>
                  <a:srgbClr val="CC0000"/>
                </a:solidFill>
                <a:ea typeface="新細明體" panose="02020500000000000000" pitchFamily="18" charset="-120"/>
              </a:rPr>
              <a:t>hw</a:t>
            </a:r>
          </a:p>
        </p:txBody>
      </p:sp>
      <p:sp>
        <p:nvSpPr>
          <p:cNvPr id="6159" name="Text Box 18"/>
          <p:cNvSpPr txBox="1">
            <a:spLocks noChangeArrowheads="1"/>
          </p:cNvSpPr>
          <p:nvPr/>
        </p:nvSpPr>
        <p:spPr bwMode="auto">
          <a:xfrm>
            <a:off x="2971800" y="2057400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>
                <a:solidFill>
                  <a:srgbClr val="CC0000"/>
                </a:solidFill>
                <a:ea typeface="新細明體" panose="02020500000000000000" pitchFamily="18" charset="-120"/>
              </a:rPr>
              <a:t>sw</a:t>
            </a:r>
          </a:p>
        </p:txBody>
      </p:sp>
      <p:sp>
        <p:nvSpPr>
          <p:cNvPr id="6160" name="Line 19"/>
          <p:cNvSpPr>
            <a:spLocks noChangeShapeType="1"/>
          </p:cNvSpPr>
          <p:nvPr/>
        </p:nvSpPr>
        <p:spPr bwMode="auto">
          <a:xfrm>
            <a:off x="4286250" y="3829050"/>
            <a:ext cx="3429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6161" name="AutoShape 27"/>
          <p:cNvSpPr>
            <a:spLocks noChangeArrowheads="1"/>
          </p:cNvSpPr>
          <p:nvPr/>
        </p:nvSpPr>
        <p:spPr bwMode="auto">
          <a:xfrm>
            <a:off x="4514850" y="1428750"/>
            <a:ext cx="3200400" cy="1885950"/>
          </a:xfrm>
          <a:prstGeom prst="roundRect">
            <a:avLst>
              <a:gd name="adj" fmla="val 16667"/>
            </a:avLst>
          </a:prstGeom>
          <a:solidFill>
            <a:srgbClr val="FFCC99">
              <a:alpha val="4784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sp>
        <p:nvSpPr>
          <p:cNvPr id="6162" name="Text Box 28"/>
          <p:cNvSpPr txBox="1">
            <a:spLocks noChangeArrowheads="1"/>
          </p:cNvSpPr>
          <p:nvPr/>
        </p:nvSpPr>
        <p:spPr bwMode="auto">
          <a:xfrm>
            <a:off x="5853156" y="1988344"/>
            <a:ext cx="1887056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500" dirty="0">
                <a:solidFill>
                  <a:srgbClr val="FA3D2E"/>
                </a:solidFill>
                <a:ea typeface="新細明體" panose="02020500000000000000" pitchFamily="18" charset="-120"/>
              </a:rPr>
              <a:t>Experimenter writes</a:t>
            </a:r>
            <a:br>
              <a:rPr lang="en-US" altLang="zh-TW" sz="1500" dirty="0">
                <a:solidFill>
                  <a:srgbClr val="FA3D2E"/>
                </a:solidFill>
                <a:ea typeface="新細明體" panose="02020500000000000000" pitchFamily="18" charset="-120"/>
              </a:rPr>
            </a:br>
            <a:r>
              <a:rPr lang="en-US" altLang="zh-TW" sz="1500" dirty="0">
                <a:solidFill>
                  <a:srgbClr val="FA3D2E"/>
                </a:solidFill>
                <a:ea typeface="新細明體" panose="02020500000000000000" pitchFamily="18" charset="-120"/>
              </a:rPr>
              <a:t>experimental code</a:t>
            </a:r>
            <a:br>
              <a:rPr lang="en-US" altLang="zh-TW" sz="1500" dirty="0">
                <a:solidFill>
                  <a:srgbClr val="FA3D2E"/>
                </a:solidFill>
                <a:ea typeface="新細明體" panose="02020500000000000000" pitchFamily="18" charset="-120"/>
              </a:rPr>
            </a:br>
            <a:r>
              <a:rPr lang="en-US" altLang="zh-TW" sz="1500" dirty="0">
                <a:solidFill>
                  <a:srgbClr val="FA3D2E"/>
                </a:solidFill>
                <a:ea typeface="新細明體" panose="02020500000000000000" pitchFamily="18" charset="-120"/>
              </a:rPr>
              <a:t>on switch/router</a:t>
            </a:r>
          </a:p>
        </p:txBody>
      </p:sp>
      <p:sp>
        <p:nvSpPr>
          <p:cNvPr id="625689" name="Rectangle 25"/>
          <p:cNvSpPr>
            <a:spLocks noChangeArrowheads="1"/>
          </p:cNvSpPr>
          <p:nvPr/>
        </p:nvSpPr>
        <p:spPr bwMode="auto">
          <a:xfrm>
            <a:off x="4629150" y="1600200"/>
            <a:ext cx="971550" cy="154305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500">
                <a:ea typeface="新細明體" panose="02020500000000000000" pitchFamily="18" charset="-120"/>
              </a:rPr>
              <a:t>User-</a:t>
            </a:r>
          </a:p>
          <a:p>
            <a:pPr algn="ctr" eaLnBrk="1" hangingPunct="1"/>
            <a:r>
              <a:rPr lang="en-US" altLang="zh-TW" sz="1500">
                <a:ea typeface="新細明體" panose="02020500000000000000" pitchFamily="18" charset="-120"/>
              </a:rPr>
              <a:t>defined</a:t>
            </a:r>
          </a:p>
          <a:p>
            <a:pPr algn="ctr" eaLnBrk="1" hangingPunct="1"/>
            <a:r>
              <a:rPr lang="en-US" altLang="zh-TW" sz="1500">
                <a:ea typeface="新細明體" panose="02020500000000000000" pitchFamily="18" charset="-120"/>
              </a:rPr>
              <a:t>Processing</a:t>
            </a:r>
          </a:p>
          <a:p>
            <a:pPr algn="ctr" eaLnBrk="1" hangingPunct="1"/>
            <a:endParaRPr lang="en-US" altLang="zh-TW" sz="1350">
              <a:ea typeface="新細明體" panose="02020500000000000000" pitchFamily="18" charset="-120"/>
            </a:endParaRPr>
          </a:p>
        </p:txBody>
      </p:sp>
      <p:sp>
        <p:nvSpPr>
          <p:cNvPr id="6164" name="Line 16"/>
          <p:cNvSpPr>
            <a:spLocks noChangeShapeType="1"/>
          </p:cNvSpPr>
          <p:nvPr/>
        </p:nvSpPr>
        <p:spPr bwMode="auto">
          <a:xfrm>
            <a:off x="3130153" y="2400300"/>
            <a:ext cx="2641997" cy="0"/>
          </a:xfrm>
          <a:prstGeom prst="line">
            <a:avLst/>
          </a:prstGeom>
          <a:noFill/>
          <a:ln w="38100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15852403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No obvious way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Commercial vendor won’t open software and hardware development environment</a:t>
            </a:r>
          </a:p>
          <a:p>
            <a:pPr lvl="1"/>
            <a:r>
              <a:rPr lang="en-US" altLang="zh-TW" dirty="0"/>
              <a:t>Complexity of support</a:t>
            </a:r>
          </a:p>
          <a:p>
            <a:pPr lvl="1"/>
            <a:r>
              <a:rPr lang="en-US" altLang="zh-TW" dirty="0"/>
              <a:t>Market protection and barrier to entry</a:t>
            </a:r>
            <a:endParaRPr lang="en-US" altLang="zh-TW" sz="1800" dirty="0">
              <a:ea typeface="新細明體" panose="02020500000000000000" pitchFamily="18" charset="-120"/>
            </a:endParaRPr>
          </a:p>
          <a:p>
            <a:r>
              <a:rPr lang="en-US" altLang="zh-TW" dirty="0"/>
              <a:t>Hard to build my own</a:t>
            </a:r>
          </a:p>
          <a:p>
            <a:pPr lvl="1"/>
            <a:r>
              <a:rPr lang="en-US" altLang="zh-TW" dirty="0"/>
              <a:t>Prototypes are flakey</a:t>
            </a:r>
          </a:p>
          <a:p>
            <a:pPr lvl="1"/>
            <a:r>
              <a:rPr lang="en-US" altLang="zh-TW" dirty="0"/>
              <a:t>Software only: Too slow</a:t>
            </a:r>
          </a:p>
          <a:p>
            <a:pPr lvl="1"/>
            <a:r>
              <a:rPr lang="en-US" altLang="zh-TW" dirty="0"/>
              <a:t>Hardware/software: </a:t>
            </a:r>
            <a:r>
              <a:rPr lang="en-US" altLang="zh-TW" dirty="0" err="1"/>
              <a:t>Fanout</a:t>
            </a:r>
            <a:r>
              <a:rPr lang="en-US" altLang="zh-TW" dirty="0"/>
              <a:t> too small </a:t>
            </a:r>
            <a:br>
              <a:rPr lang="en-US" altLang="zh-TW" dirty="0"/>
            </a:br>
            <a:r>
              <a:rPr lang="en-US" altLang="zh-TW" dirty="0"/>
              <a:t>(need &gt;100 ports for wiring closet)</a:t>
            </a:r>
          </a:p>
        </p:txBody>
      </p:sp>
    </p:spTree>
    <p:extLst>
      <p:ext uri="{BB962C8B-B14F-4D97-AF65-F5344CB8AC3E}">
        <p14:creationId xmlns:p14="http://schemas.microsoft.com/office/powerpoint/2010/main" val="35284334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Furthermore, we need…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7350" y="1063228"/>
            <a:ext cx="6172200" cy="399279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dirty="0"/>
              <a:t>Isolation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Regular production traffic untouched</a:t>
            </a:r>
          </a:p>
          <a:p>
            <a:pPr>
              <a:lnSpc>
                <a:spcPct val="90000"/>
              </a:lnSpc>
            </a:pPr>
            <a:r>
              <a:rPr lang="en-US" altLang="zh-TW" dirty="0"/>
              <a:t>Virtualized and programmable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Different flows processed in different ways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100" dirty="0">
                <a:ea typeface="新細明體" panose="02020500000000000000" pitchFamily="18" charset="-120"/>
              </a:rPr>
              <a:t>Equipment we can trust in our wiring closet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100" dirty="0">
                <a:ea typeface="新細明體" panose="02020500000000000000" pitchFamily="18" charset="-120"/>
              </a:rPr>
              <a:t>Open development environment for all researchers (e.g. Linux, Verilog, </a:t>
            </a:r>
            <a:r>
              <a:rPr lang="en-US" altLang="zh-TW" sz="2100" dirty="0" err="1">
                <a:ea typeface="新細明體" panose="02020500000000000000" pitchFamily="18" charset="-120"/>
              </a:rPr>
              <a:t>etc</a:t>
            </a:r>
            <a:r>
              <a:rPr lang="en-US" altLang="zh-TW" sz="2100" dirty="0">
                <a:ea typeface="新細明體" panose="02020500000000000000" pitchFamily="18" charset="-120"/>
              </a:rPr>
              <a:t>).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100" dirty="0">
                <a:ea typeface="新細明體" panose="02020500000000000000" pitchFamily="18" charset="-120"/>
              </a:rPr>
              <a:t>Flexible definitions of a flow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Individual application traffic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Aggregated flows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Alternatives to IP running side-by-side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…</a:t>
            </a:r>
          </a:p>
          <a:p>
            <a:pPr eaLnBrk="1" hangingPunct="1">
              <a:lnSpc>
                <a:spcPct val="90000"/>
              </a:lnSpc>
            </a:pPr>
            <a:endParaRPr lang="en-US" altLang="zh-TW" sz="21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35223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/>
          <p:cNvSpPr>
            <a:spLocks noChangeArrowheads="1"/>
          </p:cNvSpPr>
          <p:nvPr/>
        </p:nvSpPr>
        <p:spPr bwMode="auto">
          <a:xfrm>
            <a:off x="2171700" y="800100"/>
            <a:ext cx="4457700" cy="32004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pic>
        <p:nvPicPr>
          <p:cNvPr id="9220" name="Picture 3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4000500"/>
            <a:ext cx="857250" cy="64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4213623"/>
            <a:ext cx="857250" cy="64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5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213623"/>
            <a:ext cx="857250" cy="64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6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0" y="4057650"/>
            <a:ext cx="857250" cy="64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4" name="Line 7"/>
          <p:cNvSpPr>
            <a:spLocks noChangeShapeType="1"/>
          </p:cNvSpPr>
          <p:nvPr/>
        </p:nvSpPr>
        <p:spPr bwMode="auto">
          <a:xfrm flipH="1">
            <a:off x="1943100" y="3314700"/>
            <a:ext cx="1085850" cy="742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9225" name="Line 8"/>
          <p:cNvSpPr>
            <a:spLocks noChangeShapeType="1"/>
          </p:cNvSpPr>
          <p:nvPr/>
        </p:nvSpPr>
        <p:spPr bwMode="auto">
          <a:xfrm flipH="1">
            <a:off x="2971800" y="3429000"/>
            <a:ext cx="400050" cy="857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9226" name="Line 9"/>
          <p:cNvSpPr>
            <a:spLocks noChangeShapeType="1"/>
          </p:cNvSpPr>
          <p:nvPr/>
        </p:nvSpPr>
        <p:spPr bwMode="auto">
          <a:xfrm>
            <a:off x="3886200" y="3429000"/>
            <a:ext cx="114300" cy="857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9227" name="Line 10"/>
          <p:cNvSpPr>
            <a:spLocks noChangeShapeType="1"/>
          </p:cNvSpPr>
          <p:nvPr/>
        </p:nvSpPr>
        <p:spPr bwMode="auto">
          <a:xfrm>
            <a:off x="4343400" y="3371850"/>
            <a:ext cx="685800" cy="742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9228" name="Text Box 11"/>
          <p:cNvSpPr txBox="1">
            <a:spLocks noChangeArrowheads="1"/>
          </p:cNvSpPr>
          <p:nvPr/>
        </p:nvSpPr>
        <p:spPr bwMode="auto">
          <a:xfrm>
            <a:off x="6520074" y="442912"/>
            <a:ext cx="1336649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TW" sz="2100" dirty="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Controller</a:t>
            </a:r>
          </a:p>
        </p:txBody>
      </p:sp>
      <p:sp>
        <p:nvSpPr>
          <p:cNvPr id="559116" name="AutoShape 12"/>
          <p:cNvSpPr>
            <a:spLocks noChangeArrowheads="1"/>
          </p:cNvSpPr>
          <p:nvPr/>
        </p:nvSpPr>
        <p:spPr bwMode="auto">
          <a:xfrm>
            <a:off x="2914651" y="1028700"/>
            <a:ext cx="1716881" cy="2428875"/>
          </a:xfrm>
          <a:prstGeom prst="can">
            <a:avLst>
              <a:gd name="adj" fmla="val 30724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350"/>
          </a:p>
        </p:txBody>
      </p:sp>
      <p:pic>
        <p:nvPicPr>
          <p:cNvPr id="9230" name="Picture 13" descr="MCj0431616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742950"/>
            <a:ext cx="108585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1" name="Text Box 14"/>
          <p:cNvSpPr txBox="1">
            <a:spLocks noChangeArrowheads="1"/>
          </p:cNvSpPr>
          <p:nvPr/>
        </p:nvSpPr>
        <p:spPr bwMode="auto">
          <a:xfrm>
            <a:off x="2693913" y="719138"/>
            <a:ext cx="222503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TW" sz="2100">
              <a:solidFill>
                <a:srgbClr val="CC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  <a:p>
            <a:pPr algn="ctr" eaLnBrk="1" hangingPunct="1"/>
            <a:r>
              <a:rPr lang="en-US" altLang="zh-TW" sz="21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OpenFlow Switch</a:t>
            </a:r>
          </a:p>
        </p:txBody>
      </p:sp>
      <p:sp>
        <p:nvSpPr>
          <p:cNvPr id="559119" name="Rectangle 15"/>
          <p:cNvSpPr>
            <a:spLocks noChangeArrowheads="1"/>
          </p:cNvSpPr>
          <p:nvPr/>
        </p:nvSpPr>
        <p:spPr bwMode="auto">
          <a:xfrm>
            <a:off x="3314700" y="2628900"/>
            <a:ext cx="857250" cy="6858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latin typeface="Arial" charset="0"/>
              </a:rPr>
              <a:t>Flow</a:t>
            </a:r>
          </a:p>
          <a:p>
            <a:pPr algn="ctr">
              <a:defRPr/>
            </a:pPr>
            <a:r>
              <a:rPr lang="en-US">
                <a:latin typeface="Arial" charset="0"/>
              </a:rPr>
              <a:t>Table</a:t>
            </a:r>
          </a:p>
        </p:txBody>
      </p:sp>
      <p:sp>
        <p:nvSpPr>
          <p:cNvPr id="559120" name="Rectangle 16"/>
          <p:cNvSpPr>
            <a:spLocks noChangeArrowheads="1"/>
          </p:cNvSpPr>
          <p:nvPr/>
        </p:nvSpPr>
        <p:spPr bwMode="auto">
          <a:xfrm>
            <a:off x="3314700" y="1714500"/>
            <a:ext cx="857250" cy="6858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latin typeface="Arial" charset="0"/>
              </a:rPr>
              <a:t>Secure</a:t>
            </a:r>
          </a:p>
          <a:p>
            <a:pPr algn="ctr">
              <a:defRPr/>
            </a:pPr>
            <a:r>
              <a:rPr lang="en-US">
                <a:latin typeface="Arial" charset="0"/>
              </a:rPr>
              <a:t>Channel</a:t>
            </a:r>
          </a:p>
        </p:txBody>
      </p:sp>
      <p:sp>
        <p:nvSpPr>
          <p:cNvPr id="9234" name="Line 17"/>
          <p:cNvSpPr>
            <a:spLocks noChangeShapeType="1"/>
          </p:cNvSpPr>
          <p:nvPr/>
        </p:nvSpPr>
        <p:spPr bwMode="auto">
          <a:xfrm flipV="1">
            <a:off x="4171950" y="1257300"/>
            <a:ext cx="2514600" cy="914400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9235" name="Text Box 18"/>
          <p:cNvSpPr txBox="1">
            <a:spLocks noChangeArrowheads="1"/>
          </p:cNvSpPr>
          <p:nvPr/>
        </p:nvSpPr>
        <p:spPr bwMode="auto">
          <a:xfrm>
            <a:off x="7030642" y="1085850"/>
            <a:ext cx="5052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dirty="0">
                <a:solidFill>
                  <a:schemeClr val="bg1"/>
                </a:solidFill>
                <a:ea typeface="新細明體" panose="02020500000000000000" pitchFamily="18" charset="-120"/>
              </a:rPr>
              <a:t>PC</a:t>
            </a:r>
          </a:p>
        </p:txBody>
      </p:sp>
      <p:sp>
        <p:nvSpPr>
          <p:cNvPr id="9236" name="Text Box 19"/>
          <p:cNvSpPr txBox="1">
            <a:spLocks noChangeArrowheads="1"/>
          </p:cNvSpPr>
          <p:nvPr/>
        </p:nvSpPr>
        <p:spPr bwMode="auto">
          <a:xfrm rot="-1283188">
            <a:off x="5143795" y="1129591"/>
            <a:ext cx="9733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350">
                <a:ea typeface="新細明體" panose="02020500000000000000" pitchFamily="18" charset="-120"/>
              </a:rPr>
              <a:t>OpenFlow</a:t>
            </a:r>
          </a:p>
          <a:p>
            <a:pPr eaLnBrk="1" hangingPunct="1"/>
            <a:r>
              <a:rPr lang="en-US" altLang="zh-TW" sz="1350">
                <a:ea typeface="新細明體" panose="02020500000000000000" pitchFamily="18" charset="-120"/>
              </a:rPr>
              <a:t>Protocol</a:t>
            </a:r>
          </a:p>
        </p:txBody>
      </p:sp>
      <p:sp>
        <p:nvSpPr>
          <p:cNvPr id="9237" name="Text Box 20"/>
          <p:cNvSpPr txBox="1">
            <a:spLocks noChangeArrowheads="1"/>
          </p:cNvSpPr>
          <p:nvPr/>
        </p:nvSpPr>
        <p:spPr bwMode="auto">
          <a:xfrm rot="-956723">
            <a:off x="5459161" y="1587676"/>
            <a:ext cx="51167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350">
                <a:ea typeface="新細明體" panose="02020500000000000000" pitchFamily="18" charset="-120"/>
              </a:rPr>
              <a:t>SSL</a:t>
            </a:r>
          </a:p>
        </p:txBody>
      </p:sp>
      <p:sp>
        <p:nvSpPr>
          <p:cNvPr id="9238" name="Line 21"/>
          <p:cNvSpPr>
            <a:spLocks noChangeShapeType="1"/>
          </p:cNvSpPr>
          <p:nvPr/>
        </p:nvSpPr>
        <p:spPr bwMode="auto">
          <a:xfrm>
            <a:off x="3086100" y="2514600"/>
            <a:ext cx="131445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9239" name="Text Box 22"/>
          <p:cNvSpPr txBox="1">
            <a:spLocks noChangeArrowheads="1"/>
          </p:cNvSpPr>
          <p:nvPr/>
        </p:nvSpPr>
        <p:spPr bwMode="auto">
          <a:xfrm>
            <a:off x="2927747" y="2743200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>
                <a:solidFill>
                  <a:srgbClr val="CC0000"/>
                </a:solidFill>
                <a:ea typeface="新細明體" panose="02020500000000000000" pitchFamily="18" charset="-120"/>
              </a:rPr>
              <a:t>hw</a:t>
            </a:r>
          </a:p>
        </p:txBody>
      </p:sp>
      <p:sp>
        <p:nvSpPr>
          <p:cNvPr id="9240" name="Text Box 23"/>
          <p:cNvSpPr txBox="1">
            <a:spLocks noChangeArrowheads="1"/>
          </p:cNvSpPr>
          <p:nvPr/>
        </p:nvSpPr>
        <p:spPr bwMode="auto">
          <a:xfrm>
            <a:off x="2932510" y="1849041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>
                <a:solidFill>
                  <a:srgbClr val="CC0000"/>
                </a:solidFill>
                <a:ea typeface="新細明體" panose="02020500000000000000" pitchFamily="18" charset="-120"/>
              </a:rPr>
              <a:t>sw</a:t>
            </a:r>
          </a:p>
        </p:txBody>
      </p:sp>
      <p:sp>
        <p:nvSpPr>
          <p:cNvPr id="9241" name="Line 24"/>
          <p:cNvSpPr>
            <a:spLocks noChangeShapeType="1"/>
          </p:cNvSpPr>
          <p:nvPr/>
        </p:nvSpPr>
        <p:spPr bwMode="auto">
          <a:xfrm>
            <a:off x="3371850" y="3829050"/>
            <a:ext cx="3429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9242" name="Text Box 25"/>
          <p:cNvSpPr txBox="1">
            <a:spLocks noChangeArrowheads="1"/>
          </p:cNvSpPr>
          <p:nvPr/>
        </p:nvSpPr>
        <p:spPr bwMode="auto">
          <a:xfrm>
            <a:off x="2457450" y="742950"/>
            <a:ext cx="253146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350" i="1">
                <a:ea typeface="新細明體" panose="02020500000000000000" pitchFamily="18" charset="-120"/>
              </a:rPr>
              <a:t>OpenFlow Switch specification</a:t>
            </a:r>
          </a:p>
        </p:txBody>
      </p:sp>
      <p:sp>
        <p:nvSpPr>
          <p:cNvPr id="9243" name="Rectangle 26"/>
          <p:cNvSpPr>
            <a:spLocks noGrp="1" noChangeArrowheads="1"/>
          </p:cNvSpPr>
          <p:nvPr>
            <p:ph type="title"/>
          </p:nvPr>
        </p:nvSpPr>
        <p:spPr>
          <a:xfrm>
            <a:off x="1485900" y="0"/>
            <a:ext cx="6172200" cy="857250"/>
          </a:xfrm>
        </p:spPr>
        <p:txBody>
          <a:bodyPr/>
          <a:lstStyle/>
          <a:p>
            <a:pPr algn="ctr" eaLnBrk="1" hangingPunct="1"/>
            <a:r>
              <a:rPr lang="en-US" altLang="zh-TW" dirty="0" err="1">
                <a:ea typeface="新細明體" panose="02020500000000000000" pitchFamily="18" charset="-120"/>
              </a:rPr>
              <a:t>OpenFlow</a:t>
            </a:r>
            <a:r>
              <a:rPr lang="en-US" altLang="zh-TW" dirty="0">
                <a:ea typeface="新細明體" panose="02020500000000000000" pitchFamily="18" charset="-120"/>
              </a:rPr>
              <a:t> Switching</a:t>
            </a:r>
          </a:p>
        </p:txBody>
      </p:sp>
    </p:spTree>
    <p:extLst>
      <p:ext uri="{BB962C8B-B14F-4D97-AF65-F5344CB8AC3E}">
        <p14:creationId xmlns:p14="http://schemas.microsoft.com/office/powerpoint/2010/main" val="16649374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000" dirty="0">
                <a:ea typeface="新細明體" panose="02020500000000000000" pitchFamily="18" charset="-120"/>
              </a:rPr>
              <a:t>Flow Table Entry</a:t>
            </a:r>
            <a:br>
              <a:rPr lang="en-US" altLang="zh-TW" sz="3000" dirty="0">
                <a:ea typeface="新細明體" panose="02020500000000000000" pitchFamily="18" charset="-120"/>
              </a:rPr>
            </a:br>
            <a:r>
              <a:rPr lang="en-US" altLang="zh-TW" sz="2100" dirty="0">
                <a:ea typeface="新細明體" panose="02020500000000000000" pitchFamily="18" charset="-120"/>
              </a:rPr>
              <a:t>“Type 0” </a:t>
            </a:r>
            <a:r>
              <a:rPr lang="en-US" altLang="zh-TW" sz="2100" dirty="0" err="1">
                <a:ea typeface="新細明體" panose="02020500000000000000" pitchFamily="18" charset="-120"/>
              </a:rPr>
              <a:t>OpenFlow</a:t>
            </a:r>
            <a:r>
              <a:rPr lang="en-US" altLang="zh-TW" sz="2100" dirty="0">
                <a:ea typeface="新細明體" panose="02020500000000000000" pitchFamily="18" charset="-120"/>
              </a:rPr>
              <a:t> Switch</a:t>
            </a: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2171700" y="3954066"/>
            <a:ext cx="5715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Switch</a:t>
            </a:r>
          </a:p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Port</a:t>
            </a:r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2743200" y="3954066"/>
            <a:ext cx="5715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MAC</a:t>
            </a:r>
          </a:p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src</a:t>
            </a:r>
          </a:p>
        </p:txBody>
      </p:sp>
      <p:sp>
        <p:nvSpPr>
          <p:cNvPr id="10246" name="Rectangle 7"/>
          <p:cNvSpPr>
            <a:spLocks noChangeArrowheads="1"/>
          </p:cNvSpPr>
          <p:nvPr/>
        </p:nvSpPr>
        <p:spPr bwMode="auto">
          <a:xfrm>
            <a:off x="3314700" y="3954066"/>
            <a:ext cx="5715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MAC</a:t>
            </a:r>
          </a:p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dst</a:t>
            </a:r>
          </a:p>
        </p:txBody>
      </p:sp>
      <p:sp>
        <p:nvSpPr>
          <p:cNvPr id="10247" name="Rectangle 8"/>
          <p:cNvSpPr>
            <a:spLocks noChangeArrowheads="1"/>
          </p:cNvSpPr>
          <p:nvPr/>
        </p:nvSpPr>
        <p:spPr bwMode="auto">
          <a:xfrm>
            <a:off x="3886200" y="3954066"/>
            <a:ext cx="5715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Eth</a:t>
            </a:r>
          </a:p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type</a:t>
            </a:r>
          </a:p>
        </p:txBody>
      </p:sp>
      <p:sp>
        <p:nvSpPr>
          <p:cNvPr id="10248" name="Rectangle 9"/>
          <p:cNvSpPr>
            <a:spLocks noChangeArrowheads="1"/>
          </p:cNvSpPr>
          <p:nvPr/>
        </p:nvSpPr>
        <p:spPr bwMode="auto">
          <a:xfrm>
            <a:off x="4457700" y="3954066"/>
            <a:ext cx="5715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VLAN</a:t>
            </a:r>
          </a:p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10249" name="Rectangle 10"/>
          <p:cNvSpPr>
            <a:spLocks noChangeArrowheads="1"/>
          </p:cNvSpPr>
          <p:nvPr/>
        </p:nvSpPr>
        <p:spPr bwMode="auto">
          <a:xfrm>
            <a:off x="5029200" y="3954066"/>
            <a:ext cx="5715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IP</a:t>
            </a:r>
          </a:p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Src</a:t>
            </a:r>
          </a:p>
        </p:txBody>
      </p:sp>
      <p:sp>
        <p:nvSpPr>
          <p:cNvPr id="10250" name="Rectangle 11"/>
          <p:cNvSpPr>
            <a:spLocks noChangeArrowheads="1"/>
          </p:cNvSpPr>
          <p:nvPr/>
        </p:nvSpPr>
        <p:spPr bwMode="auto">
          <a:xfrm>
            <a:off x="5600700" y="3954066"/>
            <a:ext cx="5715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IP</a:t>
            </a:r>
          </a:p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Dst</a:t>
            </a:r>
          </a:p>
        </p:txBody>
      </p:sp>
      <p:sp>
        <p:nvSpPr>
          <p:cNvPr id="10251" name="Rectangle 12"/>
          <p:cNvSpPr>
            <a:spLocks noChangeArrowheads="1"/>
          </p:cNvSpPr>
          <p:nvPr/>
        </p:nvSpPr>
        <p:spPr bwMode="auto">
          <a:xfrm>
            <a:off x="6172200" y="3954066"/>
            <a:ext cx="5715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IP</a:t>
            </a:r>
          </a:p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Prot</a:t>
            </a:r>
          </a:p>
        </p:txBody>
      </p:sp>
      <p:sp>
        <p:nvSpPr>
          <p:cNvPr id="10252" name="Rectangle 13"/>
          <p:cNvSpPr>
            <a:spLocks noChangeArrowheads="1"/>
          </p:cNvSpPr>
          <p:nvPr/>
        </p:nvSpPr>
        <p:spPr bwMode="auto">
          <a:xfrm>
            <a:off x="6743700" y="3954066"/>
            <a:ext cx="5715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TCP</a:t>
            </a:r>
          </a:p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sport</a:t>
            </a:r>
          </a:p>
        </p:txBody>
      </p:sp>
      <p:sp>
        <p:nvSpPr>
          <p:cNvPr id="10253" name="Rectangle 14"/>
          <p:cNvSpPr>
            <a:spLocks noChangeArrowheads="1"/>
          </p:cNvSpPr>
          <p:nvPr/>
        </p:nvSpPr>
        <p:spPr bwMode="auto">
          <a:xfrm>
            <a:off x="7315200" y="3954066"/>
            <a:ext cx="5715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TCP</a:t>
            </a:r>
          </a:p>
          <a:p>
            <a:pPr algn="ctr" eaLnBrk="1" hangingPunct="1"/>
            <a:r>
              <a:rPr lang="en-US" altLang="zh-TW" sz="1350">
                <a:ea typeface="新細明體" panose="02020500000000000000" pitchFamily="18" charset="-120"/>
              </a:rPr>
              <a:t>dport</a:t>
            </a:r>
          </a:p>
        </p:txBody>
      </p:sp>
      <p:sp>
        <p:nvSpPr>
          <p:cNvPr id="10254" name="Rectangle 15"/>
          <p:cNvSpPr>
            <a:spLocks noChangeArrowheads="1"/>
          </p:cNvSpPr>
          <p:nvPr/>
        </p:nvSpPr>
        <p:spPr bwMode="auto">
          <a:xfrm>
            <a:off x="2171700" y="1200150"/>
            <a:ext cx="1085850" cy="5143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100">
                <a:ea typeface="新細明體" panose="02020500000000000000" pitchFamily="18" charset="-120"/>
              </a:rPr>
              <a:t>Rule</a:t>
            </a:r>
          </a:p>
        </p:txBody>
      </p:sp>
      <p:sp>
        <p:nvSpPr>
          <p:cNvPr id="10255" name="Rectangle 16"/>
          <p:cNvSpPr>
            <a:spLocks noChangeArrowheads="1"/>
          </p:cNvSpPr>
          <p:nvPr/>
        </p:nvSpPr>
        <p:spPr bwMode="auto">
          <a:xfrm>
            <a:off x="3257550" y="1200150"/>
            <a:ext cx="1085850" cy="5143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100">
                <a:ea typeface="新細明體" panose="02020500000000000000" pitchFamily="18" charset="-120"/>
              </a:rPr>
              <a:t>Action</a:t>
            </a:r>
          </a:p>
        </p:txBody>
      </p:sp>
      <p:sp>
        <p:nvSpPr>
          <p:cNvPr id="10256" name="Rectangle 17"/>
          <p:cNvSpPr>
            <a:spLocks noChangeArrowheads="1"/>
          </p:cNvSpPr>
          <p:nvPr/>
        </p:nvSpPr>
        <p:spPr bwMode="auto">
          <a:xfrm>
            <a:off x="4343400" y="1200150"/>
            <a:ext cx="1085850" cy="51435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100">
                <a:ea typeface="新細明體" panose="02020500000000000000" pitchFamily="18" charset="-120"/>
              </a:rPr>
              <a:t>Stats</a:t>
            </a:r>
          </a:p>
        </p:txBody>
      </p:sp>
      <p:sp>
        <p:nvSpPr>
          <p:cNvPr id="10257" name="Text Box 18"/>
          <p:cNvSpPr txBox="1">
            <a:spLocks noChangeArrowheads="1"/>
          </p:cNvSpPr>
          <p:nvPr/>
        </p:nvSpPr>
        <p:spPr bwMode="auto">
          <a:xfrm>
            <a:off x="3657600" y="2731294"/>
            <a:ext cx="3722494" cy="1015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zh-TW" sz="1500" dirty="0">
                <a:ea typeface="新細明體" panose="02020500000000000000" pitchFamily="18" charset="-120"/>
              </a:rPr>
              <a:t>Forward packet to port(s)</a:t>
            </a:r>
          </a:p>
          <a:p>
            <a:pPr eaLnBrk="1" hangingPunct="1">
              <a:buFontTx/>
              <a:buAutoNum type="arabicPeriod"/>
            </a:pPr>
            <a:r>
              <a:rPr lang="en-US" altLang="zh-TW" sz="1500" dirty="0">
                <a:ea typeface="新細明體" panose="02020500000000000000" pitchFamily="18" charset="-120"/>
              </a:rPr>
              <a:t>Encapsulate and forward to controller</a:t>
            </a:r>
          </a:p>
          <a:p>
            <a:pPr eaLnBrk="1" hangingPunct="1">
              <a:buFontTx/>
              <a:buAutoNum type="arabicPeriod"/>
            </a:pPr>
            <a:r>
              <a:rPr lang="en-US" altLang="zh-TW" sz="1500" dirty="0">
                <a:ea typeface="新細明體" panose="02020500000000000000" pitchFamily="18" charset="-120"/>
              </a:rPr>
              <a:t>Drop packet</a:t>
            </a:r>
          </a:p>
          <a:p>
            <a:pPr eaLnBrk="1" hangingPunct="1">
              <a:buFontTx/>
              <a:buAutoNum type="arabicPeriod"/>
            </a:pPr>
            <a:r>
              <a:rPr lang="en-US" altLang="zh-TW" sz="1500" dirty="0">
                <a:ea typeface="新細明體" panose="02020500000000000000" pitchFamily="18" charset="-120"/>
              </a:rPr>
              <a:t>Send to normal processing pipeline</a:t>
            </a:r>
          </a:p>
        </p:txBody>
      </p:sp>
      <p:sp>
        <p:nvSpPr>
          <p:cNvPr id="10258" name="Text Box 19"/>
          <p:cNvSpPr txBox="1">
            <a:spLocks noChangeArrowheads="1"/>
          </p:cNvSpPr>
          <p:nvPr/>
        </p:nvSpPr>
        <p:spPr bwMode="auto">
          <a:xfrm>
            <a:off x="2114550" y="4354116"/>
            <a:ext cx="74732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350">
                <a:ea typeface="新細明體" panose="02020500000000000000" pitchFamily="18" charset="-120"/>
              </a:rPr>
              <a:t>+ mask</a:t>
            </a:r>
          </a:p>
        </p:txBody>
      </p:sp>
      <p:sp>
        <p:nvSpPr>
          <p:cNvPr id="10259" name="Line 20"/>
          <p:cNvSpPr>
            <a:spLocks noChangeShapeType="1"/>
          </p:cNvSpPr>
          <p:nvPr/>
        </p:nvSpPr>
        <p:spPr bwMode="auto">
          <a:xfrm>
            <a:off x="2171700" y="1771650"/>
            <a:ext cx="0" cy="21717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0260" name="Line 21"/>
          <p:cNvSpPr>
            <a:spLocks noChangeShapeType="1"/>
          </p:cNvSpPr>
          <p:nvPr/>
        </p:nvSpPr>
        <p:spPr bwMode="auto">
          <a:xfrm>
            <a:off x="3657600" y="1714500"/>
            <a:ext cx="0" cy="10287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0261" name="Rectangle 22"/>
          <p:cNvSpPr>
            <a:spLocks noChangeArrowheads="1"/>
          </p:cNvSpPr>
          <p:nvPr/>
        </p:nvSpPr>
        <p:spPr bwMode="auto">
          <a:xfrm>
            <a:off x="4743450" y="2057400"/>
            <a:ext cx="2286000" cy="285750"/>
          </a:xfrm>
          <a:prstGeom prst="rect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500">
                <a:ea typeface="新細明體" panose="02020500000000000000" pitchFamily="18" charset="-120"/>
              </a:rPr>
              <a:t>Packet + byte counters</a:t>
            </a:r>
          </a:p>
        </p:txBody>
      </p:sp>
      <p:sp>
        <p:nvSpPr>
          <p:cNvPr id="10262" name="Line 23"/>
          <p:cNvSpPr>
            <a:spLocks noChangeShapeType="1"/>
          </p:cNvSpPr>
          <p:nvPr/>
        </p:nvSpPr>
        <p:spPr bwMode="auto">
          <a:xfrm flipV="1">
            <a:off x="4743450" y="1714500"/>
            <a:ext cx="0" cy="28575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5889017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925" dirty="0">
                <a:latin typeface="Calibri" charset="0"/>
              </a:rPr>
              <a:t>Examples(1/2)</a:t>
            </a:r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1565673" y="1008765"/>
            <a:ext cx="676147" cy="2077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Calibri" charset="0"/>
              </a:rPr>
              <a:t>Switching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1657350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grpSp>
        <p:nvGrpSpPr>
          <p:cNvPr id="54276" name="Group 4"/>
          <p:cNvGrpSpPr>
            <a:grpSpLocks/>
          </p:cNvGrpSpPr>
          <p:nvPr/>
        </p:nvGrpSpPr>
        <p:grpSpPr bwMode="auto">
          <a:xfrm>
            <a:off x="1658542" y="1408510"/>
            <a:ext cx="5612606" cy="428625"/>
            <a:chOff x="0" y="0"/>
            <a:chExt cx="6704" cy="512"/>
          </a:xfrm>
        </p:grpSpPr>
        <p:sp>
          <p:nvSpPr>
            <p:cNvPr id="54358" name="Rectangle 5"/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59" name="Rectangle 6"/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Switch</a:t>
              </a:r>
            </a:p>
            <a:p>
              <a:r>
                <a:rPr lang="en-US" sz="1275">
                  <a:latin typeface="Calibri" charset="0"/>
                </a:rPr>
                <a:t>Port</a:t>
              </a:r>
            </a:p>
          </p:txBody>
        </p:sp>
        <p:sp>
          <p:nvSpPr>
            <p:cNvPr id="54360" name="Rectangle 7"/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61" name="Rectangle 8"/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MAC</a:t>
              </a:r>
            </a:p>
            <a:p>
              <a:r>
                <a:rPr lang="en-US" sz="1275">
                  <a:latin typeface="Calibri" charset="0"/>
                </a:rPr>
                <a:t>src</a:t>
              </a:r>
            </a:p>
          </p:txBody>
        </p:sp>
        <p:sp>
          <p:nvSpPr>
            <p:cNvPr id="54362" name="Rectangle 9"/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63" name="Rectangle 10"/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MAC</a:t>
              </a:r>
            </a:p>
            <a:p>
              <a:r>
                <a:rPr lang="en-US" sz="1275">
                  <a:latin typeface="Calibri" charset="0"/>
                </a:rPr>
                <a:t>dst</a:t>
              </a:r>
            </a:p>
          </p:txBody>
        </p:sp>
        <p:sp>
          <p:nvSpPr>
            <p:cNvPr id="54364" name="Rectangle 11"/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65" name="Rectangle 12"/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 dirty="0">
                  <a:latin typeface="Calibri" charset="0"/>
                </a:rPr>
                <a:t>Eth</a:t>
              </a:r>
            </a:p>
            <a:p>
              <a:r>
                <a:rPr lang="en-US" sz="1275" dirty="0">
                  <a:latin typeface="Calibri" charset="0"/>
                </a:rPr>
                <a:t>type</a:t>
              </a:r>
            </a:p>
          </p:txBody>
        </p:sp>
        <p:sp>
          <p:nvSpPr>
            <p:cNvPr id="54366" name="Rectangle 13"/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67" name="Rectangle 14"/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VLAN</a:t>
              </a:r>
            </a:p>
            <a:p>
              <a:r>
                <a:rPr lang="en-US" sz="1275">
                  <a:latin typeface="Calibri" charset="0"/>
                </a:rPr>
                <a:t>ID</a:t>
              </a:r>
            </a:p>
          </p:txBody>
        </p:sp>
        <p:sp>
          <p:nvSpPr>
            <p:cNvPr id="54368" name="Rectangle 15"/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69" name="Rectangle 16"/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Src</a:t>
              </a:r>
            </a:p>
          </p:txBody>
        </p:sp>
        <p:sp>
          <p:nvSpPr>
            <p:cNvPr id="54370" name="Rectangle 17"/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71" name="Rectangle 18"/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Dst</a:t>
              </a:r>
            </a:p>
          </p:txBody>
        </p:sp>
        <p:sp>
          <p:nvSpPr>
            <p:cNvPr id="54372" name="Rectangle 19"/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73" name="Rectangle 20"/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Prot</a:t>
              </a:r>
            </a:p>
          </p:txBody>
        </p:sp>
        <p:sp>
          <p:nvSpPr>
            <p:cNvPr id="54374" name="Rectangle 21"/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75" name="Rectangle 22"/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TCP</a:t>
              </a:r>
            </a:p>
            <a:p>
              <a:r>
                <a:rPr lang="en-US" sz="1275">
                  <a:latin typeface="Calibri" charset="0"/>
                </a:rPr>
                <a:t>sport</a:t>
              </a:r>
            </a:p>
          </p:txBody>
        </p:sp>
        <p:sp>
          <p:nvSpPr>
            <p:cNvPr id="54376" name="Rectangle 23"/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77" name="Rectangle 24"/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TCP</a:t>
              </a:r>
            </a:p>
            <a:p>
              <a:r>
                <a:rPr lang="en-US" sz="1275">
                  <a:latin typeface="Calibri" charset="0"/>
                </a:rPr>
                <a:t>dport</a:t>
              </a:r>
            </a:p>
          </p:txBody>
        </p:sp>
        <p:sp>
          <p:nvSpPr>
            <p:cNvPr id="54378" name="Rectangle 25"/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79" name="Rectangle 26"/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Action</a:t>
              </a:r>
            </a:p>
          </p:txBody>
        </p:sp>
      </p:grpSp>
      <p:sp>
        <p:nvSpPr>
          <p:cNvPr id="54277" name="Rectangle 27"/>
          <p:cNvSpPr>
            <a:spLocks/>
          </p:cNvSpPr>
          <p:nvPr/>
        </p:nvSpPr>
        <p:spPr bwMode="auto">
          <a:xfrm>
            <a:off x="2152650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278" name="Rectangle 28"/>
          <p:cNvSpPr>
            <a:spLocks/>
          </p:cNvSpPr>
          <p:nvPr/>
        </p:nvSpPr>
        <p:spPr bwMode="auto">
          <a:xfrm>
            <a:off x="2600326" y="1894285"/>
            <a:ext cx="851297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00:1f:..</a:t>
            </a:r>
          </a:p>
        </p:txBody>
      </p:sp>
      <p:sp>
        <p:nvSpPr>
          <p:cNvPr id="54279" name="Rectangle 29"/>
          <p:cNvSpPr>
            <a:spLocks/>
          </p:cNvSpPr>
          <p:nvPr/>
        </p:nvSpPr>
        <p:spPr bwMode="auto">
          <a:xfrm>
            <a:off x="3143250" y="1909763"/>
            <a:ext cx="496491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280" name="Rectangle 30"/>
          <p:cNvSpPr>
            <a:spLocks/>
          </p:cNvSpPr>
          <p:nvPr/>
        </p:nvSpPr>
        <p:spPr bwMode="auto">
          <a:xfrm>
            <a:off x="3639741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281" name="Rectangle 31"/>
          <p:cNvSpPr>
            <a:spLocks/>
          </p:cNvSpPr>
          <p:nvPr/>
        </p:nvSpPr>
        <p:spPr bwMode="auto">
          <a:xfrm>
            <a:off x="4135041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282" name="Rectangle 32"/>
          <p:cNvSpPr>
            <a:spLocks/>
          </p:cNvSpPr>
          <p:nvPr/>
        </p:nvSpPr>
        <p:spPr bwMode="auto">
          <a:xfrm>
            <a:off x="4630341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283" name="Rectangle 33"/>
          <p:cNvSpPr>
            <a:spLocks/>
          </p:cNvSpPr>
          <p:nvPr/>
        </p:nvSpPr>
        <p:spPr bwMode="auto">
          <a:xfrm>
            <a:off x="5132785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284" name="Rectangle 34"/>
          <p:cNvSpPr>
            <a:spLocks/>
          </p:cNvSpPr>
          <p:nvPr/>
        </p:nvSpPr>
        <p:spPr bwMode="auto">
          <a:xfrm>
            <a:off x="5628085" y="1909763"/>
            <a:ext cx="49649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285" name="Rectangle 35"/>
          <p:cNvSpPr>
            <a:spLocks/>
          </p:cNvSpPr>
          <p:nvPr/>
        </p:nvSpPr>
        <p:spPr bwMode="auto">
          <a:xfrm>
            <a:off x="6124575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286" name="Rectangle 36"/>
          <p:cNvSpPr>
            <a:spLocks/>
          </p:cNvSpPr>
          <p:nvPr/>
        </p:nvSpPr>
        <p:spPr bwMode="auto">
          <a:xfrm>
            <a:off x="6693694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port6</a:t>
            </a:r>
          </a:p>
        </p:txBody>
      </p:sp>
      <p:sp>
        <p:nvSpPr>
          <p:cNvPr id="54287" name="Rectangle 37"/>
          <p:cNvSpPr>
            <a:spLocks/>
          </p:cNvSpPr>
          <p:nvPr/>
        </p:nvSpPr>
        <p:spPr bwMode="auto">
          <a:xfrm>
            <a:off x="1566862" y="2301784"/>
            <a:ext cx="1048942" cy="2077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Calibri" charset="0"/>
              </a:rPr>
              <a:t>Flow Switching</a:t>
            </a:r>
          </a:p>
        </p:txBody>
      </p:sp>
      <p:sp>
        <p:nvSpPr>
          <p:cNvPr id="54288" name="Rectangle 38"/>
          <p:cNvSpPr>
            <a:spLocks/>
          </p:cNvSpPr>
          <p:nvPr/>
        </p:nvSpPr>
        <p:spPr bwMode="auto">
          <a:xfrm>
            <a:off x="1657350" y="3168253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port3</a:t>
            </a:r>
          </a:p>
        </p:txBody>
      </p:sp>
      <p:grpSp>
        <p:nvGrpSpPr>
          <p:cNvPr id="54289" name="Group 39"/>
          <p:cNvGrpSpPr>
            <a:grpSpLocks/>
          </p:cNvGrpSpPr>
          <p:nvPr/>
        </p:nvGrpSpPr>
        <p:grpSpPr bwMode="auto">
          <a:xfrm>
            <a:off x="1658542" y="2668191"/>
            <a:ext cx="5612606" cy="428625"/>
            <a:chOff x="0" y="0"/>
            <a:chExt cx="6704" cy="512"/>
          </a:xfrm>
        </p:grpSpPr>
        <p:sp>
          <p:nvSpPr>
            <p:cNvPr id="54336" name="Rectangle 40"/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37" name="Rectangle 41"/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Switch</a:t>
              </a:r>
            </a:p>
            <a:p>
              <a:r>
                <a:rPr lang="en-US" sz="1275">
                  <a:latin typeface="Calibri" charset="0"/>
                </a:rPr>
                <a:t>Port</a:t>
              </a:r>
            </a:p>
          </p:txBody>
        </p:sp>
        <p:sp>
          <p:nvSpPr>
            <p:cNvPr id="54338" name="Rectangle 42"/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39" name="Rectangle 43"/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MAC</a:t>
              </a:r>
            </a:p>
            <a:p>
              <a:r>
                <a:rPr lang="en-US" sz="1275">
                  <a:latin typeface="Calibri" charset="0"/>
                </a:rPr>
                <a:t>src</a:t>
              </a:r>
            </a:p>
          </p:txBody>
        </p:sp>
        <p:sp>
          <p:nvSpPr>
            <p:cNvPr id="54340" name="Rectangle 44"/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41" name="Rectangle 45"/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MAC</a:t>
              </a:r>
            </a:p>
            <a:p>
              <a:r>
                <a:rPr lang="en-US" sz="1275">
                  <a:latin typeface="Calibri" charset="0"/>
                </a:rPr>
                <a:t>dst</a:t>
              </a:r>
            </a:p>
          </p:txBody>
        </p:sp>
        <p:sp>
          <p:nvSpPr>
            <p:cNvPr id="54342" name="Rectangle 46"/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43" name="Rectangle 47"/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 dirty="0">
                  <a:latin typeface="Calibri" charset="0"/>
                </a:rPr>
                <a:t>Eth</a:t>
              </a:r>
            </a:p>
            <a:p>
              <a:r>
                <a:rPr lang="en-US" sz="1275" dirty="0">
                  <a:latin typeface="Calibri" charset="0"/>
                </a:rPr>
                <a:t>type</a:t>
              </a:r>
            </a:p>
          </p:txBody>
        </p:sp>
        <p:sp>
          <p:nvSpPr>
            <p:cNvPr id="54344" name="Rectangle 48"/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45" name="Rectangle 49"/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VLAN</a:t>
              </a:r>
            </a:p>
            <a:p>
              <a:r>
                <a:rPr lang="en-US" sz="1275">
                  <a:latin typeface="Calibri" charset="0"/>
                </a:rPr>
                <a:t>ID</a:t>
              </a:r>
            </a:p>
          </p:txBody>
        </p:sp>
        <p:sp>
          <p:nvSpPr>
            <p:cNvPr id="54346" name="Rectangle 50"/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47" name="Rectangle 51"/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Src</a:t>
              </a:r>
            </a:p>
          </p:txBody>
        </p:sp>
        <p:sp>
          <p:nvSpPr>
            <p:cNvPr id="54348" name="Rectangle 52"/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49" name="Rectangle 53"/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Dst</a:t>
              </a:r>
            </a:p>
          </p:txBody>
        </p:sp>
        <p:sp>
          <p:nvSpPr>
            <p:cNvPr id="54350" name="Rectangle 54"/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51" name="Rectangle 55"/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Prot</a:t>
              </a:r>
            </a:p>
          </p:txBody>
        </p:sp>
        <p:sp>
          <p:nvSpPr>
            <p:cNvPr id="54352" name="Rectangle 56"/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53" name="Rectangle 57"/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TCP</a:t>
              </a:r>
            </a:p>
            <a:p>
              <a:r>
                <a:rPr lang="en-US" sz="1275">
                  <a:latin typeface="Calibri" charset="0"/>
                </a:rPr>
                <a:t>sport</a:t>
              </a:r>
            </a:p>
          </p:txBody>
        </p:sp>
        <p:sp>
          <p:nvSpPr>
            <p:cNvPr id="54354" name="Rectangle 58"/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55" name="Rectangle 59"/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TCP</a:t>
              </a:r>
            </a:p>
            <a:p>
              <a:r>
                <a:rPr lang="en-US" sz="1275">
                  <a:latin typeface="Calibri" charset="0"/>
                </a:rPr>
                <a:t>dport</a:t>
              </a:r>
            </a:p>
          </p:txBody>
        </p:sp>
        <p:sp>
          <p:nvSpPr>
            <p:cNvPr id="54356" name="Rectangle 60"/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57" name="Rectangle 61"/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Action</a:t>
              </a:r>
            </a:p>
          </p:txBody>
        </p:sp>
      </p:grpSp>
      <p:sp>
        <p:nvSpPr>
          <p:cNvPr id="54290" name="Rectangle 62"/>
          <p:cNvSpPr>
            <a:spLocks/>
          </p:cNvSpPr>
          <p:nvPr/>
        </p:nvSpPr>
        <p:spPr bwMode="auto">
          <a:xfrm>
            <a:off x="2152650" y="3168253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00:20..</a:t>
            </a:r>
          </a:p>
        </p:txBody>
      </p:sp>
      <p:sp>
        <p:nvSpPr>
          <p:cNvPr id="54291" name="Rectangle 63"/>
          <p:cNvSpPr>
            <a:spLocks/>
          </p:cNvSpPr>
          <p:nvPr/>
        </p:nvSpPr>
        <p:spPr bwMode="auto">
          <a:xfrm>
            <a:off x="2672953" y="3168253"/>
            <a:ext cx="651272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00:1f..</a:t>
            </a:r>
          </a:p>
        </p:txBody>
      </p:sp>
      <p:sp>
        <p:nvSpPr>
          <p:cNvPr id="54292" name="Rectangle 64"/>
          <p:cNvSpPr>
            <a:spLocks/>
          </p:cNvSpPr>
          <p:nvPr/>
        </p:nvSpPr>
        <p:spPr bwMode="auto">
          <a:xfrm>
            <a:off x="3143250" y="3168253"/>
            <a:ext cx="496491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0800</a:t>
            </a:r>
          </a:p>
        </p:txBody>
      </p:sp>
      <p:sp>
        <p:nvSpPr>
          <p:cNvPr id="54293" name="Rectangle 65"/>
          <p:cNvSpPr>
            <a:spLocks/>
          </p:cNvSpPr>
          <p:nvPr/>
        </p:nvSpPr>
        <p:spPr bwMode="auto">
          <a:xfrm>
            <a:off x="3639741" y="3168253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vlan1</a:t>
            </a:r>
          </a:p>
        </p:txBody>
      </p:sp>
      <p:sp>
        <p:nvSpPr>
          <p:cNvPr id="54294" name="Rectangle 66"/>
          <p:cNvSpPr>
            <a:spLocks/>
          </p:cNvSpPr>
          <p:nvPr/>
        </p:nvSpPr>
        <p:spPr bwMode="auto">
          <a:xfrm>
            <a:off x="4135041" y="3168253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1.2.3.4</a:t>
            </a:r>
          </a:p>
        </p:txBody>
      </p:sp>
      <p:sp>
        <p:nvSpPr>
          <p:cNvPr id="54295" name="Rectangle 67"/>
          <p:cNvSpPr>
            <a:spLocks/>
          </p:cNvSpPr>
          <p:nvPr/>
        </p:nvSpPr>
        <p:spPr bwMode="auto">
          <a:xfrm>
            <a:off x="4657725" y="3168253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5.6.7.8</a:t>
            </a:r>
          </a:p>
        </p:txBody>
      </p:sp>
      <p:sp>
        <p:nvSpPr>
          <p:cNvPr id="54296" name="Rectangle 68"/>
          <p:cNvSpPr>
            <a:spLocks/>
          </p:cNvSpPr>
          <p:nvPr/>
        </p:nvSpPr>
        <p:spPr bwMode="auto">
          <a:xfrm>
            <a:off x="5304235" y="3168253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4</a:t>
            </a:r>
          </a:p>
        </p:txBody>
      </p:sp>
      <p:sp>
        <p:nvSpPr>
          <p:cNvPr id="54297" name="Rectangle 69"/>
          <p:cNvSpPr>
            <a:spLocks/>
          </p:cNvSpPr>
          <p:nvPr/>
        </p:nvSpPr>
        <p:spPr bwMode="auto">
          <a:xfrm>
            <a:off x="5628085" y="3168253"/>
            <a:ext cx="49649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17264</a:t>
            </a:r>
          </a:p>
        </p:txBody>
      </p:sp>
      <p:sp>
        <p:nvSpPr>
          <p:cNvPr id="54298" name="Rectangle 70"/>
          <p:cNvSpPr>
            <a:spLocks/>
          </p:cNvSpPr>
          <p:nvPr/>
        </p:nvSpPr>
        <p:spPr bwMode="auto">
          <a:xfrm>
            <a:off x="6124575" y="3168253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80</a:t>
            </a:r>
          </a:p>
        </p:txBody>
      </p:sp>
      <p:sp>
        <p:nvSpPr>
          <p:cNvPr id="54299" name="Rectangle 71"/>
          <p:cNvSpPr>
            <a:spLocks/>
          </p:cNvSpPr>
          <p:nvPr/>
        </p:nvSpPr>
        <p:spPr bwMode="auto">
          <a:xfrm>
            <a:off x="6693694" y="3168253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port6</a:t>
            </a:r>
          </a:p>
        </p:txBody>
      </p:sp>
      <p:sp>
        <p:nvSpPr>
          <p:cNvPr id="54300" name="Rectangle 72"/>
          <p:cNvSpPr>
            <a:spLocks/>
          </p:cNvSpPr>
          <p:nvPr/>
        </p:nvSpPr>
        <p:spPr bwMode="auto">
          <a:xfrm>
            <a:off x="1564481" y="3547773"/>
            <a:ext cx="549574" cy="2077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Calibri" charset="0"/>
              </a:rPr>
              <a:t>Firewall</a:t>
            </a:r>
          </a:p>
        </p:txBody>
      </p:sp>
      <p:sp>
        <p:nvSpPr>
          <p:cNvPr id="54301" name="Rectangle 73"/>
          <p:cNvSpPr>
            <a:spLocks/>
          </p:cNvSpPr>
          <p:nvPr/>
        </p:nvSpPr>
        <p:spPr bwMode="auto">
          <a:xfrm>
            <a:off x="1657350" y="4454128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grpSp>
        <p:nvGrpSpPr>
          <p:cNvPr id="54302" name="Group 74"/>
          <p:cNvGrpSpPr>
            <a:grpSpLocks/>
          </p:cNvGrpSpPr>
          <p:nvPr/>
        </p:nvGrpSpPr>
        <p:grpSpPr bwMode="auto">
          <a:xfrm>
            <a:off x="1658542" y="3954066"/>
            <a:ext cx="5612606" cy="428625"/>
            <a:chOff x="0" y="0"/>
            <a:chExt cx="6704" cy="512"/>
          </a:xfrm>
        </p:grpSpPr>
        <p:sp>
          <p:nvSpPr>
            <p:cNvPr id="54314" name="Rectangle 75"/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15" name="Rectangle 76"/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Switch</a:t>
              </a:r>
            </a:p>
            <a:p>
              <a:r>
                <a:rPr lang="en-US" sz="1275">
                  <a:latin typeface="Calibri" charset="0"/>
                </a:rPr>
                <a:t>Port</a:t>
              </a:r>
            </a:p>
          </p:txBody>
        </p:sp>
        <p:sp>
          <p:nvSpPr>
            <p:cNvPr id="54316" name="Rectangle 77"/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17" name="Rectangle 78"/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MAC</a:t>
              </a:r>
            </a:p>
            <a:p>
              <a:r>
                <a:rPr lang="en-US" sz="1275">
                  <a:latin typeface="Calibri" charset="0"/>
                </a:rPr>
                <a:t>src</a:t>
              </a:r>
            </a:p>
          </p:txBody>
        </p:sp>
        <p:sp>
          <p:nvSpPr>
            <p:cNvPr id="54318" name="Rectangle 79"/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19" name="Rectangle 80"/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MAC</a:t>
              </a:r>
            </a:p>
            <a:p>
              <a:r>
                <a:rPr lang="en-US" sz="1275">
                  <a:latin typeface="Calibri" charset="0"/>
                </a:rPr>
                <a:t>dst</a:t>
              </a:r>
            </a:p>
          </p:txBody>
        </p:sp>
        <p:sp>
          <p:nvSpPr>
            <p:cNvPr id="54320" name="Rectangle 81"/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21" name="Rectangle 82"/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 dirty="0">
                  <a:latin typeface="Calibri" charset="0"/>
                </a:rPr>
                <a:t>Eth</a:t>
              </a:r>
            </a:p>
            <a:p>
              <a:r>
                <a:rPr lang="en-US" sz="1275" dirty="0">
                  <a:latin typeface="Calibri" charset="0"/>
                </a:rPr>
                <a:t>type</a:t>
              </a:r>
            </a:p>
          </p:txBody>
        </p:sp>
        <p:sp>
          <p:nvSpPr>
            <p:cNvPr id="54322" name="Rectangle 83"/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23" name="Rectangle 84"/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VLAN</a:t>
              </a:r>
            </a:p>
            <a:p>
              <a:r>
                <a:rPr lang="en-US" sz="1275">
                  <a:latin typeface="Calibri" charset="0"/>
                </a:rPr>
                <a:t>ID</a:t>
              </a:r>
            </a:p>
          </p:txBody>
        </p:sp>
        <p:sp>
          <p:nvSpPr>
            <p:cNvPr id="54324" name="Rectangle 85"/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25" name="Rectangle 86"/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Src</a:t>
              </a:r>
            </a:p>
          </p:txBody>
        </p:sp>
        <p:sp>
          <p:nvSpPr>
            <p:cNvPr id="54326" name="Rectangle 87"/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27" name="Rectangle 88"/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Dst</a:t>
              </a:r>
            </a:p>
          </p:txBody>
        </p:sp>
        <p:sp>
          <p:nvSpPr>
            <p:cNvPr id="54328" name="Rectangle 89"/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29" name="Rectangle 90"/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Prot</a:t>
              </a:r>
            </a:p>
          </p:txBody>
        </p:sp>
        <p:sp>
          <p:nvSpPr>
            <p:cNvPr id="54330" name="Rectangle 91"/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31" name="Rectangle 92"/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TCP</a:t>
              </a:r>
            </a:p>
            <a:p>
              <a:r>
                <a:rPr lang="en-US" sz="1275">
                  <a:latin typeface="Calibri" charset="0"/>
                </a:rPr>
                <a:t>sport</a:t>
              </a:r>
            </a:p>
          </p:txBody>
        </p:sp>
        <p:sp>
          <p:nvSpPr>
            <p:cNvPr id="54332" name="Rectangle 93"/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33" name="Rectangle 94"/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TCP</a:t>
              </a:r>
            </a:p>
            <a:p>
              <a:r>
                <a:rPr lang="en-US" sz="1275">
                  <a:latin typeface="Calibri" charset="0"/>
                </a:rPr>
                <a:t>dport</a:t>
              </a:r>
            </a:p>
          </p:txBody>
        </p:sp>
        <p:sp>
          <p:nvSpPr>
            <p:cNvPr id="54334" name="Rectangle 95"/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4335" name="Rectangle 96"/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Action</a:t>
              </a:r>
            </a:p>
          </p:txBody>
        </p:sp>
      </p:grpSp>
      <p:sp>
        <p:nvSpPr>
          <p:cNvPr id="54303" name="Rectangle 97"/>
          <p:cNvSpPr>
            <a:spLocks/>
          </p:cNvSpPr>
          <p:nvPr/>
        </p:nvSpPr>
        <p:spPr bwMode="auto">
          <a:xfrm>
            <a:off x="2152650" y="4454128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304" name="Rectangle 98"/>
          <p:cNvSpPr>
            <a:spLocks/>
          </p:cNvSpPr>
          <p:nvPr/>
        </p:nvSpPr>
        <p:spPr bwMode="auto">
          <a:xfrm>
            <a:off x="2474119" y="4454128"/>
            <a:ext cx="850106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305" name="Rectangle 99"/>
          <p:cNvSpPr>
            <a:spLocks/>
          </p:cNvSpPr>
          <p:nvPr/>
        </p:nvSpPr>
        <p:spPr bwMode="auto">
          <a:xfrm>
            <a:off x="3143250" y="4454128"/>
            <a:ext cx="496491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306" name="Rectangle 100"/>
          <p:cNvSpPr>
            <a:spLocks/>
          </p:cNvSpPr>
          <p:nvPr/>
        </p:nvSpPr>
        <p:spPr bwMode="auto">
          <a:xfrm>
            <a:off x="3639741" y="4454128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307" name="Rectangle 101"/>
          <p:cNvSpPr>
            <a:spLocks/>
          </p:cNvSpPr>
          <p:nvPr/>
        </p:nvSpPr>
        <p:spPr bwMode="auto">
          <a:xfrm>
            <a:off x="4135041" y="4454128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308" name="Rectangle 102"/>
          <p:cNvSpPr>
            <a:spLocks/>
          </p:cNvSpPr>
          <p:nvPr/>
        </p:nvSpPr>
        <p:spPr bwMode="auto">
          <a:xfrm>
            <a:off x="4630341" y="4454128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309" name="Rectangle 103"/>
          <p:cNvSpPr>
            <a:spLocks/>
          </p:cNvSpPr>
          <p:nvPr/>
        </p:nvSpPr>
        <p:spPr bwMode="auto">
          <a:xfrm>
            <a:off x="5132785" y="4454128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310" name="Rectangle 104"/>
          <p:cNvSpPr>
            <a:spLocks/>
          </p:cNvSpPr>
          <p:nvPr/>
        </p:nvSpPr>
        <p:spPr bwMode="auto">
          <a:xfrm>
            <a:off x="5628085" y="4454128"/>
            <a:ext cx="49649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4311" name="Rectangle 105"/>
          <p:cNvSpPr>
            <a:spLocks/>
          </p:cNvSpPr>
          <p:nvPr/>
        </p:nvSpPr>
        <p:spPr bwMode="auto">
          <a:xfrm>
            <a:off x="6124575" y="4454128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22</a:t>
            </a:r>
          </a:p>
        </p:txBody>
      </p:sp>
      <p:sp>
        <p:nvSpPr>
          <p:cNvPr id="54312" name="Rectangle 106"/>
          <p:cNvSpPr>
            <a:spLocks/>
          </p:cNvSpPr>
          <p:nvPr/>
        </p:nvSpPr>
        <p:spPr bwMode="auto">
          <a:xfrm>
            <a:off x="6693694" y="4454128"/>
            <a:ext cx="495300" cy="241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drop</a:t>
            </a:r>
          </a:p>
        </p:txBody>
      </p:sp>
      <p:sp>
        <p:nvSpPr>
          <p:cNvPr id="108" name="Slide Number Placeholder 107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83273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925" dirty="0">
                <a:latin typeface="Calibri" charset="0"/>
              </a:rPr>
              <a:t>Examples(2/2)</a:t>
            </a:r>
          </a:p>
        </p:txBody>
      </p:sp>
      <p:sp>
        <p:nvSpPr>
          <p:cNvPr id="56322" name="Rectangle 2"/>
          <p:cNvSpPr>
            <a:spLocks/>
          </p:cNvSpPr>
          <p:nvPr/>
        </p:nvSpPr>
        <p:spPr bwMode="auto">
          <a:xfrm>
            <a:off x="1565673" y="1009361"/>
            <a:ext cx="544701" cy="2077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Calibri" charset="0"/>
              </a:rPr>
              <a:t>Routing</a:t>
            </a:r>
          </a:p>
        </p:txBody>
      </p:sp>
      <p:sp>
        <p:nvSpPr>
          <p:cNvPr id="56323" name="Rectangle 3"/>
          <p:cNvSpPr>
            <a:spLocks/>
          </p:cNvSpPr>
          <p:nvPr/>
        </p:nvSpPr>
        <p:spPr bwMode="auto">
          <a:xfrm>
            <a:off x="1657350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grpSp>
        <p:nvGrpSpPr>
          <p:cNvPr id="56324" name="Group 4"/>
          <p:cNvGrpSpPr>
            <a:grpSpLocks/>
          </p:cNvGrpSpPr>
          <p:nvPr/>
        </p:nvGrpSpPr>
        <p:grpSpPr bwMode="auto">
          <a:xfrm>
            <a:off x="1658542" y="1408510"/>
            <a:ext cx="5612606" cy="428625"/>
            <a:chOff x="0" y="0"/>
            <a:chExt cx="6704" cy="512"/>
          </a:xfrm>
        </p:grpSpPr>
        <p:sp>
          <p:nvSpPr>
            <p:cNvPr id="56371" name="Rectangle 5"/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72" name="Rectangle 6"/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Switch</a:t>
              </a:r>
            </a:p>
            <a:p>
              <a:r>
                <a:rPr lang="en-US" sz="1275">
                  <a:latin typeface="Calibri" charset="0"/>
                </a:rPr>
                <a:t>Port</a:t>
              </a:r>
            </a:p>
          </p:txBody>
        </p:sp>
        <p:sp>
          <p:nvSpPr>
            <p:cNvPr id="56373" name="Rectangle 7"/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74" name="Rectangle 8"/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MAC</a:t>
              </a:r>
            </a:p>
            <a:p>
              <a:r>
                <a:rPr lang="en-US" sz="1275">
                  <a:latin typeface="Calibri" charset="0"/>
                </a:rPr>
                <a:t>src</a:t>
              </a:r>
            </a:p>
          </p:txBody>
        </p:sp>
        <p:sp>
          <p:nvSpPr>
            <p:cNvPr id="56375" name="Rectangle 9"/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76" name="Rectangle 10"/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MAC</a:t>
              </a:r>
            </a:p>
            <a:p>
              <a:r>
                <a:rPr lang="en-US" sz="1275">
                  <a:latin typeface="Calibri" charset="0"/>
                </a:rPr>
                <a:t>dst</a:t>
              </a:r>
            </a:p>
          </p:txBody>
        </p:sp>
        <p:sp>
          <p:nvSpPr>
            <p:cNvPr id="56377" name="Rectangle 11"/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78" name="Rectangle 12"/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 dirty="0">
                  <a:latin typeface="Calibri" charset="0"/>
                </a:rPr>
                <a:t>Eth</a:t>
              </a:r>
            </a:p>
            <a:p>
              <a:r>
                <a:rPr lang="en-US" sz="1275" dirty="0">
                  <a:latin typeface="Calibri" charset="0"/>
                </a:rPr>
                <a:t>type</a:t>
              </a:r>
            </a:p>
          </p:txBody>
        </p:sp>
        <p:sp>
          <p:nvSpPr>
            <p:cNvPr id="56379" name="Rectangle 13"/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80" name="Rectangle 14"/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VLAN</a:t>
              </a:r>
            </a:p>
            <a:p>
              <a:r>
                <a:rPr lang="en-US" sz="1275">
                  <a:latin typeface="Calibri" charset="0"/>
                </a:rPr>
                <a:t>ID</a:t>
              </a:r>
            </a:p>
          </p:txBody>
        </p:sp>
        <p:sp>
          <p:nvSpPr>
            <p:cNvPr id="56381" name="Rectangle 15"/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82" name="Rectangle 16"/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Src</a:t>
              </a:r>
            </a:p>
          </p:txBody>
        </p:sp>
        <p:sp>
          <p:nvSpPr>
            <p:cNvPr id="56383" name="Rectangle 17"/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84" name="Rectangle 18"/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Dst</a:t>
              </a:r>
            </a:p>
          </p:txBody>
        </p:sp>
        <p:sp>
          <p:nvSpPr>
            <p:cNvPr id="56385" name="Rectangle 19"/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86" name="Rectangle 20"/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Prot</a:t>
              </a:r>
            </a:p>
          </p:txBody>
        </p:sp>
        <p:sp>
          <p:nvSpPr>
            <p:cNvPr id="56387" name="Rectangle 21"/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88" name="Rectangle 22"/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TCP</a:t>
              </a:r>
            </a:p>
            <a:p>
              <a:r>
                <a:rPr lang="en-US" sz="1275">
                  <a:latin typeface="Calibri" charset="0"/>
                </a:rPr>
                <a:t>sport</a:t>
              </a:r>
            </a:p>
          </p:txBody>
        </p:sp>
        <p:sp>
          <p:nvSpPr>
            <p:cNvPr id="56389" name="Rectangle 23"/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90" name="Rectangle 24"/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TCP</a:t>
              </a:r>
            </a:p>
            <a:p>
              <a:r>
                <a:rPr lang="en-US" sz="1275">
                  <a:latin typeface="Calibri" charset="0"/>
                </a:rPr>
                <a:t>dport</a:t>
              </a:r>
            </a:p>
          </p:txBody>
        </p:sp>
        <p:sp>
          <p:nvSpPr>
            <p:cNvPr id="56391" name="Rectangle 25"/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92" name="Rectangle 26"/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Action</a:t>
              </a:r>
            </a:p>
          </p:txBody>
        </p:sp>
      </p:grpSp>
      <p:sp>
        <p:nvSpPr>
          <p:cNvPr id="56325" name="Rectangle 27"/>
          <p:cNvSpPr>
            <a:spLocks/>
          </p:cNvSpPr>
          <p:nvPr/>
        </p:nvSpPr>
        <p:spPr bwMode="auto">
          <a:xfrm>
            <a:off x="2152650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26" name="Rectangle 28"/>
          <p:cNvSpPr>
            <a:spLocks/>
          </p:cNvSpPr>
          <p:nvPr/>
        </p:nvSpPr>
        <p:spPr bwMode="auto">
          <a:xfrm>
            <a:off x="2474119" y="1909763"/>
            <a:ext cx="850106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27" name="Rectangle 29"/>
          <p:cNvSpPr>
            <a:spLocks/>
          </p:cNvSpPr>
          <p:nvPr/>
        </p:nvSpPr>
        <p:spPr bwMode="auto">
          <a:xfrm>
            <a:off x="3143250" y="1909763"/>
            <a:ext cx="496491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28" name="Rectangle 30"/>
          <p:cNvSpPr>
            <a:spLocks/>
          </p:cNvSpPr>
          <p:nvPr/>
        </p:nvSpPr>
        <p:spPr bwMode="auto">
          <a:xfrm>
            <a:off x="3639741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29" name="Rectangle 31"/>
          <p:cNvSpPr>
            <a:spLocks/>
          </p:cNvSpPr>
          <p:nvPr/>
        </p:nvSpPr>
        <p:spPr bwMode="auto">
          <a:xfrm>
            <a:off x="4135041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30" name="Rectangle 32"/>
          <p:cNvSpPr>
            <a:spLocks/>
          </p:cNvSpPr>
          <p:nvPr/>
        </p:nvSpPr>
        <p:spPr bwMode="auto">
          <a:xfrm>
            <a:off x="4630341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5.6.7.8</a:t>
            </a:r>
          </a:p>
        </p:txBody>
      </p:sp>
      <p:sp>
        <p:nvSpPr>
          <p:cNvPr id="56331" name="Rectangle 33"/>
          <p:cNvSpPr>
            <a:spLocks/>
          </p:cNvSpPr>
          <p:nvPr/>
        </p:nvSpPr>
        <p:spPr bwMode="auto">
          <a:xfrm>
            <a:off x="5132785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32" name="Rectangle 34"/>
          <p:cNvSpPr>
            <a:spLocks/>
          </p:cNvSpPr>
          <p:nvPr/>
        </p:nvSpPr>
        <p:spPr bwMode="auto">
          <a:xfrm>
            <a:off x="5628085" y="1909763"/>
            <a:ext cx="49649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33" name="Rectangle 35"/>
          <p:cNvSpPr>
            <a:spLocks/>
          </p:cNvSpPr>
          <p:nvPr/>
        </p:nvSpPr>
        <p:spPr bwMode="auto">
          <a:xfrm>
            <a:off x="6124575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34" name="Rectangle 36"/>
          <p:cNvSpPr>
            <a:spLocks/>
          </p:cNvSpPr>
          <p:nvPr/>
        </p:nvSpPr>
        <p:spPr bwMode="auto">
          <a:xfrm>
            <a:off x="6693694" y="1909763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port6</a:t>
            </a:r>
          </a:p>
        </p:txBody>
      </p:sp>
      <p:sp>
        <p:nvSpPr>
          <p:cNvPr id="56335" name="Rectangle 37"/>
          <p:cNvSpPr>
            <a:spLocks/>
          </p:cNvSpPr>
          <p:nvPr/>
        </p:nvSpPr>
        <p:spPr bwMode="auto">
          <a:xfrm>
            <a:off x="1566862" y="2301784"/>
            <a:ext cx="1096134" cy="2077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Calibri" charset="0"/>
              </a:rPr>
              <a:t>VLAN Switching</a:t>
            </a:r>
          </a:p>
        </p:txBody>
      </p:sp>
      <p:sp>
        <p:nvSpPr>
          <p:cNvPr id="56336" name="Rectangle 38"/>
          <p:cNvSpPr>
            <a:spLocks/>
          </p:cNvSpPr>
          <p:nvPr/>
        </p:nvSpPr>
        <p:spPr bwMode="auto">
          <a:xfrm>
            <a:off x="1657350" y="3289698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grpSp>
        <p:nvGrpSpPr>
          <p:cNvPr id="56337" name="Group 39"/>
          <p:cNvGrpSpPr>
            <a:grpSpLocks/>
          </p:cNvGrpSpPr>
          <p:nvPr/>
        </p:nvGrpSpPr>
        <p:grpSpPr bwMode="auto">
          <a:xfrm>
            <a:off x="1658542" y="2668191"/>
            <a:ext cx="5612606" cy="428625"/>
            <a:chOff x="0" y="0"/>
            <a:chExt cx="6704" cy="512"/>
          </a:xfrm>
        </p:grpSpPr>
        <p:sp>
          <p:nvSpPr>
            <p:cNvPr id="56349" name="Rectangle 40"/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50" name="Rectangle 41"/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Switch</a:t>
              </a:r>
            </a:p>
            <a:p>
              <a:r>
                <a:rPr lang="en-US" sz="1275">
                  <a:latin typeface="Calibri" charset="0"/>
                </a:rPr>
                <a:t>Port</a:t>
              </a:r>
            </a:p>
          </p:txBody>
        </p:sp>
        <p:sp>
          <p:nvSpPr>
            <p:cNvPr id="56351" name="Rectangle 42"/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52" name="Rectangle 43"/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MAC</a:t>
              </a:r>
            </a:p>
            <a:p>
              <a:r>
                <a:rPr lang="en-US" sz="1275">
                  <a:latin typeface="Calibri" charset="0"/>
                </a:rPr>
                <a:t>src</a:t>
              </a:r>
            </a:p>
          </p:txBody>
        </p:sp>
        <p:sp>
          <p:nvSpPr>
            <p:cNvPr id="56353" name="Rectangle 44"/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54" name="Rectangle 45"/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MAC</a:t>
              </a:r>
            </a:p>
            <a:p>
              <a:r>
                <a:rPr lang="en-US" sz="1275">
                  <a:latin typeface="Calibri" charset="0"/>
                </a:rPr>
                <a:t>dst</a:t>
              </a:r>
            </a:p>
          </p:txBody>
        </p:sp>
        <p:sp>
          <p:nvSpPr>
            <p:cNvPr id="56355" name="Rectangle 46"/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56" name="Rectangle 47"/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 dirty="0">
                  <a:latin typeface="Calibri" charset="0"/>
                </a:rPr>
                <a:t>Eth</a:t>
              </a:r>
            </a:p>
            <a:p>
              <a:r>
                <a:rPr lang="en-US" sz="1275" dirty="0">
                  <a:latin typeface="Calibri" charset="0"/>
                </a:rPr>
                <a:t>type</a:t>
              </a:r>
            </a:p>
          </p:txBody>
        </p:sp>
        <p:sp>
          <p:nvSpPr>
            <p:cNvPr id="56357" name="Rectangle 48"/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58" name="Rectangle 49"/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VLAN</a:t>
              </a:r>
            </a:p>
            <a:p>
              <a:r>
                <a:rPr lang="en-US" sz="1275">
                  <a:latin typeface="Calibri" charset="0"/>
                </a:rPr>
                <a:t>ID</a:t>
              </a:r>
            </a:p>
          </p:txBody>
        </p:sp>
        <p:sp>
          <p:nvSpPr>
            <p:cNvPr id="56359" name="Rectangle 50"/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60" name="Rectangle 51"/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Src</a:t>
              </a:r>
            </a:p>
          </p:txBody>
        </p:sp>
        <p:sp>
          <p:nvSpPr>
            <p:cNvPr id="56361" name="Rectangle 52"/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62" name="Rectangle 53"/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Dst</a:t>
              </a:r>
            </a:p>
          </p:txBody>
        </p:sp>
        <p:sp>
          <p:nvSpPr>
            <p:cNvPr id="56363" name="Rectangle 54"/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64" name="Rectangle 55"/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IP</a:t>
              </a:r>
            </a:p>
            <a:p>
              <a:r>
                <a:rPr lang="en-US" sz="1275">
                  <a:latin typeface="Calibri" charset="0"/>
                </a:rPr>
                <a:t>Prot</a:t>
              </a:r>
            </a:p>
          </p:txBody>
        </p:sp>
        <p:sp>
          <p:nvSpPr>
            <p:cNvPr id="56365" name="Rectangle 56"/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66" name="Rectangle 57"/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TCP</a:t>
              </a:r>
            </a:p>
            <a:p>
              <a:r>
                <a:rPr lang="en-US" sz="1275">
                  <a:latin typeface="Calibri" charset="0"/>
                </a:rPr>
                <a:t>sport</a:t>
              </a:r>
            </a:p>
          </p:txBody>
        </p:sp>
        <p:sp>
          <p:nvSpPr>
            <p:cNvPr id="56367" name="Rectangle 58"/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68" name="Rectangle 59"/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TCP</a:t>
              </a:r>
            </a:p>
            <a:p>
              <a:r>
                <a:rPr lang="en-US" sz="1275">
                  <a:latin typeface="Calibri" charset="0"/>
                </a:rPr>
                <a:t>dport</a:t>
              </a:r>
            </a:p>
          </p:txBody>
        </p:sp>
        <p:sp>
          <p:nvSpPr>
            <p:cNvPr id="56369" name="Rectangle 60"/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  <p:sp>
          <p:nvSpPr>
            <p:cNvPr id="56370" name="Rectangle 61"/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275">
                  <a:latin typeface="Calibri" charset="0"/>
                </a:rPr>
                <a:t>Action</a:t>
              </a:r>
            </a:p>
          </p:txBody>
        </p:sp>
      </p:grpSp>
      <p:sp>
        <p:nvSpPr>
          <p:cNvPr id="56338" name="Rectangle 62"/>
          <p:cNvSpPr>
            <a:spLocks/>
          </p:cNvSpPr>
          <p:nvPr/>
        </p:nvSpPr>
        <p:spPr bwMode="auto">
          <a:xfrm>
            <a:off x="2152650" y="3289698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39" name="Rectangle 64"/>
          <p:cNvSpPr>
            <a:spLocks/>
          </p:cNvSpPr>
          <p:nvPr/>
        </p:nvSpPr>
        <p:spPr bwMode="auto">
          <a:xfrm>
            <a:off x="3143250" y="3289698"/>
            <a:ext cx="496491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40" name="Rectangle 65"/>
          <p:cNvSpPr>
            <a:spLocks/>
          </p:cNvSpPr>
          <p:nvPr/>
        </p:nvSpPr>
        <p:spPr bwMode="auto">
          <a:xfrm>
            <a:off x="3626644" y="3256360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vlan1</a:t>
            </a:r>
          </a:p>
        </p:txBody>
      </p:sp>
      <p:sp>
        <p:nvSpPr>
          <p:cNvPr id="56341" name="Rectangle 66"/>
          <p:cNvSpPr>
            <a:spLocks/>
          </p:cNvSpPr>
          <p:nvPr/>
        </p:nvSpPr>
        <p:spPr bwMode="auto">
          <a:xfrm>
            <a:off x="4135041" y="3289698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42" name="Rectangle 67"/>
          <p:cNvSpPr>
            <a:spLocks/>
          </p:cNvSpPr>
          <p:nvPr/>
        </p:nvSpPr>
        <p:spPr bwMode="auto">
          <a:xfrm>
            <a:off x="4657725" y="3289698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43" name="Rectangle 68"/>
          <p:cNvSpPr>
            <a:spLocks/>
          </p:cNvSpPr>
          <p:nvPr/>
        </p:nvSpPr>
        <p:spPr bwMode="auto">
          <a:xfrm>
            <a:off x="5132785" y="3289698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44" name="Rectangle 69"/>
          <p:cNvSpPr>
            <a:spLocks/>
          </p:cNvSpPr>
          <p:nvPr/>
        </p:nvSpPr>
        <p:spPr bwMode="auto">
          <a:xfrm>
            <a:off x="5628085" y="3289698"/>
            <a:ext cx="49649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45" name="Rectangle 70"/>
          <p:cNvSpPr>
            <a:spLocks/>
          </p:cNvSpPr>
          <p:nvPr/>
        </p:nvSpPr>
        <p:spPr bwMode="auto">
          <a:xfrm>
            <a:off x="6124575" y="3289698"/>
            <a:ext cx="495300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*</a:t>
            </a:r>
          </a:p>
        </p:txBody>
      </p:sp>
      <p:sp>
        <p:nvSpPr>
          <p:cNvPr id="56346" name="Rectangle 71"/>
          <p:cNvSpPr>
            <a:spLocks/>
          </p:cNvSpPr>
          <p:nvPr/>
        </p:nvSpPr>
        <p:spPr bwMode="auto">
          <a:xfrm>
            <a:off x="6693694" y="3040857"/>
            <a:ext cx="495300" cy="6167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port6, </a:t>
            </a:r>
          </a:p>
          <a:p>
            <a:r>
              <a:rPr lang="en-US" sz="1275">
                <a:latin typeface="Calibri" charset="0"/>
              </a:rPr>
              <a:t>port7,</a:t>
            </a:r>
          </a:p>
          <a:p>
            <a:r>
              <a:rPr lang="en-US" sz="1275">
                <a:latin typeface="Calibri" charset="0"/>
              </a:rPr>
              <a:t>port9</a:t>
            </a:r>
          </a:p>
        </p:txBody>
      </p:sp>
      <p:sp>
        <p:nvSpPr>
          <p:cNvPr id="56347" name="Rectangle 63"/>
          <p:cNvSpPr>
            <a:spLocks/>
          </p:cNvSpPr>
          <p:nvPr/>
        </p:nvSpPr>
        <p:spPr bwMode="auto">
          <a:xfrm>
            <a:off x="2597944" y="3263504"/>
            <a:ext cx="651272" cy="2405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275">
                <a:latin typeface="Calibri" charset="0"/>
              </a:rPr>
              <a:t>00:1f..</a:t>
            </a:r>
          </a:p>
        </p:txBody>
      </p:sp>
      <p:sp>
        <p:nvSpPr>
          <p:cNvPr id="74" name="Slide Number Placeholder 7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3594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OpenFlow “Type 1”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5676" y="1063228"/>
            <a:ext cx="6516774" cy="339447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Additional actions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Rewrite headers 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Map to queue/class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Encrypt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More flexible header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Allow arbitrary matching of first few bytes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Support multiple controllers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Load-balancing and reliability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14816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Secure Channel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5676" y="1314451"/>
            <a:ext cx="6288174" cy="3394472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SSL Connection, site-specific key</a:t>
            </a:r>
          </a:p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Controller discovery protocol</a:t>
            </a:r>
          </a:p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Encapsulate packets for controller</a:t>
            </a:r>
          </a:p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Send link/port state to controller</a:t>
            </a:r>
          </a:p>
        </p:txBody>
      </p:sp>
    </p:spTree>
    <p:extLst>
      <p:ext uri="{BB962C8B-B14F-4D97-AF65-F5344CB8AC3E}">
        <p14:creationId xmlns:p14="http://schemas.microsoft.com/office/powerpoint/2010/main" val="39718735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15" name="AutoShape 4"/>
          <p:cNvCxnSpPr>
            <a:cxnSpLocks noChangeShapeType="1"/>
            <a:stCxn id="13362" idx="2"/>
            <a:endCxn id="13318" idx="1"/>
          </p:cNvCxnSpPr>
          <p:nvPr/>
        </p:nvCxnSpPr>
        <p:spPr bwMode="auto">
          <a:xfrm flipV="1">
            <a:off x="6775847" y="2181613"/>
            <a:ext cx="383381" cy="83900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6734704" y="1601391"/>
            <a:ext cx="100502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TW" sz="15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Controller</a:t>
            </a:r>
          </a:p>
        </p:txBody>
      </p:sp>
      <p:pic>
        <p:nvPicPr>
          <p:cNvPr id="13317" name="Picture 6" descr="MCj0431616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629" y="1831182"/>
            <a:ext cx="602456" cy="683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7159228" y="2043113"/>
            <a:ext cx="3978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200">
                <a:solidFill>
                  <a:schemeClr val="bg1"/>
                </a:solidFill>
                <a:ea typeface="新細明體" panose="02020500000000000000" pitchFamily="18" charset="-120"/>
              </a:rPr>
              <a:t>PC</a:t>
            </a:r>
          </a:p>
        </p:txBody>
      </p:sp>
      <p:cxnSp>
        <p:nvCxnSpPr>
          <p:cNvPr id="13319" name="AutoShape 8"/>
          <p:cNvCxnSpPr>
            <a:cxnSpLocks noChangeShapeType="1"/>
            <a:stCxn id="647219" idx="4"/>
            <a:endCxn id="647208" idx="2"/>
          </p:cNvCxnSpPr>
          <p:nvPr/>
        </p:nvCxnSpPr>
        <p:spPr bwMode="auto">
          <a:xfrm flipV="1">
            <a:off x="5342335" y="3120629"/>
            <a:ext cx="1001315" cy="159544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0" name="AutoShape 9"/>
          <p:cNvCxnSpPr>
            <a:cxnSpLocks noChangeShapeType="1"/>
            <a:stCxn id="647214" idx="4"/>
            <a:endCxn id="647219" idx="2"/>
          </p:cNvCxnSpPr>
          <p:nvPr/>
        </p:nvCxnSpPr>
        <p:spPr bwMode="auto">
          <a:xfrm>
            <a:off x="2700337" y="3200401"/>
            <a:ext cx="1100138" cy="7977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1" name="Line 10"/>
          <p:cNvSpPr>
            <a:spLocks noChangeShapeType="1"/>
          </p:cNvSpPr>
          <p:nvPr/>
        </p:nvSpPr>
        <p:spPr bwMode="auto">
          <a:xfrm flipH="1" flipV="1">
            <a:off x="1943100" y="1057275"/>
            <a:ext cx="1143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3322" name="Line 11"/>
          <p:cNvSpPr>
            <a:spLocks noChangeShapeType="1"/>
          </p:cNvSpPr>
          <p:nvPr/>
        </p:nvSpPr>
        <p:spPr bwMode="auto">
          <a:xfrm flipH="1" flipV="1">
            <a:off x="2171700" y="1057275"/>
            <a:ext cx="5715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3323" name="Line 12"/>
          <p:cNvSpPr>
            <a:spLocks noChangeShapeType="1"/>
          </p:cNvSpPr>
          <p:nvPr/>
        </p:nvSpPr>
        <p:spPr bwMode="auto">
          <a:xfrm flipV="1">
            <a:off x="2343150" y="1057275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3324" name="Line 13"/>
          <p:cNvSpPr>
            <a:spLocks noChangeShapeType="1"/>
          </p:cNvSpPr>
          <p:nvPr/>
        </p:nvSpPr>
        <p:spPr bwMode="auto">
          <a:xfrm flipV="1">
            <a:off x="2457450" y="942975"/>
            <a:ext cx="114300" cy="62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grpSp>
        <p:nvGrpSpPr>
          <p:cNvPr id="13325" name="Group 14"/>
          <p:cNvGrpSpPr>
            <a:grpSpLocks/>
          </p:cNvGrpSpPr>
          <p:nvPr/>
        </p:nvGrpSpPr>
        <p:grpSpPr bwMode="auto">
          <a:xfrm>
            <a:off x="1714500" y="542925"/>
            <a:ext cx="1200150" cy="576263"/>
            <a:chOff x="576" y="144"/>
            <a:chExt cx="1008" cy="484"/>
          </a:xfrm>
        </p:grpSpPr>
        <p:grpSp>
          <p:nvGrpSpPr>
            <p:cNvPr id="13367" name="Group 15"/>
            <p:cNvGrpSpPr>
              <a:grpSpLocks/>
            </p:cNvGrpSpPr>
            <p:nvPr/>
          </p:nvGrpSpPr>
          <p:grpSpPr bwMode="auto">
            <a:xfrm>
              <a:off x="632" y="144"/>
              <a:ext cx="952" cy="388"/>
              <a:chOff x="632" y="144"/>
              <a:chExt cx="952" cy="388"/>
            </a:xfrm>
          </p:grpSpPr>
          <p:pic>
            <p:nvPicPr>
              <p:cNvPr id="13372" name="Picture 16" descr="MCj04316160000[1]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" y="144"/>
                <a:ext cx="38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73" name="Picture 17" descr="MCj04316160000[1]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" y="144"/>
                <a:ext cx="38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74" name="Picture 18" descr="MCj04316160000[1]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" y="144"/>
                <a:ext cx="38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75" name="Picture 19" descr="MCj04316160000[1]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6" y="144"/>
                <a:ext cx="38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3368" name="Picture 20" descr="MCj0431616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240"/>
              <a:ext cx="38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9" name="Picture 21" descr="MCj0431616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" y="240"/>
              <a:ext cx="38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0" name="Picture 22" descr="MCj0431616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" y="240"/>
              <a:ext cx="38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1" name="Picture 23" descr="MCj0431616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0" y="240"/>
              <a:ext cx="38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326" name="Line 24"/>
          <p:cNvSpPr>
            <a:spLocks noChangeShapeType="1"/>
          </p:cNvSpPr>
          <p:nvPr/>
        </p:nvSpPr>
        <p:spPr bwMode="auto">
          <a:xfrm>
            <a:off x="5172076" y="4007644"/>
            <a:ext cx="402431" cy="3012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3327" name="Line 25"/>
          <p:cNvSpPr>
            <a:spLocks noChangeShapeType="1"/>
          </p:cNvSpPr>
          <p:nvPr/>
        </p:nvSpPr>
        <p:spPr bwMode="auto">
          <a:xfrm flipV="1">
            <a:off x="3686175" y="3950494"/>
            <a:ext cx="4572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3328" name="Line 26"/>
          <p:cNvSpPr>
            <a:spLocks noChangeShapeType="1"/>
          </p:cNvSpPr>
          <p:nvPr/>
        </p:nvSpPr>
        <p:spPr bwMode="auto">
          <a:xfrm flipV="1">
            <a:off x="4657725" y="4007644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3329" name="Line 27"/>
          <p:cNvSpPr>
            <a:spLocks noChangeShapeType="1"/>
          </p:cNvSpPr>
          <p:nvPr/>
        </p:nvSpPr>
        <p:spPr bwMode="auto">
          <a:xfrm flipH="1" flipV="1">
            <a:off x="4602956" y="1200150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3330" name="Line 28"/>
          <p:cNvSpPr>
            <a:spLocks noChangeShapeType="1"/>
          </p:cNvSpPr>
          <p:nvPr/>
        </p:nvSpPr>
        <p:spPr bwMode="auto">
          <a:xfrm>
            <a:off x="4607719" y="1270397"/>
            <a:ext cx="0" cy="342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grpSp>
        <p:nvGrpSpPr>
          <p:cNvPr id="13331" name="Group 29"/>
          <p:cNvGrpSpPr>
            <a:grpSpLocks/>
          </p:cNvGrpSpPr>
          <p:nvPr/>
        </p:nvGrpSpPr>
        <p:grpSpPr bwMode="auto">
          <a:xfrm>
            <a:off x="4486275" y="1270397"/>
            <a:ext cx="228600" cy="114300"/>
            <a:chOff x="2854" y="1284"/>
            <a:chExt cx="192" cy="96"/>
          </a:xfrm>
        </p:grpSpPr>
        <p:sp>
          <p:nvSpPr>
            <p:cNvPr id="13365" name="Line 30"/>
            <p:cNvSpPr>
              <a:spLocks noChangeShapeType="1"/>
            </p:cNvSpPr>
            <p:nvPr/>
          </p:nvSpPr>
          <p:spPr bwMode="auto">
            <a:xfrm>
              <a:off x="2854" y="128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3366" name="Line 31"/>
            <p:cNvSpPr>
              <a:spLocks noChangeShapeType="1"/>
            </p:cNvSpPr>
            <p:nvPr/>
          </p:nvSpPr>
          <p:spPr bwMode="auto">
            <a:xfrm flipH="1">
              <a:off x="2950" y="128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</p:grpSp>
      <p:sp>
        <p:nvSpPr>
          <p:cNvPr id="647200" name="AutoShape 32"/>
          <p:cNvSpPr>
            <a:spLocks noChangeArrowheads="1"/>
          </p:cNvSpPr>
          <p:nvPr/>
        </p:nvSpPr>
        <p:spPr bwMode="auto">
          <a:xfrm>
            <a:off x="4068366" y="1471612"/>
            <a:ext cx="1085850" cy="642938"/>
          </a:xfrm>
          <a:prstGeom prst="can">
            <a:avLst>
              <a:gd name="adj" fmla="val 50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13333" name="Text Box 33"/>
          <p:cNvSpPr txBox="1">
            <a:spLocks noChangeArrowheads="1"/>
          </p:cNvSpPr>
          <p:nvPr/>
        </p:nvSpPr>
        <p:spPr bwMode="auto">
          <a:xfrm>
            <a:off x="4175088" y="1439466"/>
            <a:ext cx="91884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05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OpenFlow</a:t>
            </a:r>
          </a:p>
          <a:p>
            <a:pPr algn="ctr" eaLnBrk="1" hangingPunct="1"/>
            <a:r>
              <a:rPr lang="en-US" altLang="zh-TW" sz="105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Access Point</a:t>
            </a:r>
          </a:p>
        </p:txBody>
      </p:sp>
      <p:grpSp>
        <p:nvGrpSpPr>
          <p:cNvPr id="13334" name="Group 34"/>
          <p:cNvGrpSpPr>
            <a:grpSpLocks/>
          </p:cNvGrpSpPr>
          <p:nvPr/>
        </p:nvGrpSpPr>
        <p:grpSpPr bwMode="auto">
          <a:xfrm>
            <a:off x="4486275" y="1170385"/>
            <a:ext cx="228600" cy="114300"/>
            <a:chOff x="2880" y="1296"/>
            <a:chExt cx="192" cy="96"/>
          </a:xfrm>
        </p:grpSpPr>
        <p:sp>
          <p:nvSpPr>
            <p:cNvPr id="13363" name="Line 35"/>
            <p:cNvSpPr>
              <a:spLocks noChangeShapeType="1"/>
            </p:cNvSpPr>
            <p:nvPr/>
          </p:nvSpPr>
          <p:spPr bwMode="auto">
            <a:xfrm>
              <a:off x="2880" y="129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3364" name="Line 36"/>
            <p:cNvSpPr>
              <a:spLocks noChangeShapeType="1"/>
            </p:cNvSpPr>
            <p:nvPr/>
          </p:nvSpPr>
          <p:spPr bwMode="auto">
            <a:xfrm flipH="1">
              <a:off x="2976" y="129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</p:grpSp>
      <p:sp>
        <p:nvSpPr>
          <p:cNvPr id="13335" name="Text Box 37"/>
          <p:cNvSpPr txBox="1">
            <a:spLocks noChangeArrowheads="1"/>
          </p:cNvSpPr>
          <p:nvPr/>
        </p:nvSpPr>
        <p:spPr bwMode="auto">
          <a:xfrm>
            <a:off x="1785938" y="314325"/>
            <a:ext cx="11849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350">
                <a:ea typeface="新細明體" panose="02020500000000000000" pitchFamily="18" charset="-120"/>
              </a:rPr>
              <a:t>Server room </a:t>
            </a:r>
          </a:p>
        </p:txBody>
      </p:sp>
      <p:sp>
        <p:nvSpPr>
          <p:cNvPr id="13336" name="AutoShape 38"/>
          <p:cNvSpPr>
            <a:spLocks noChangeArrowheads="1"/>
          </p:cNvSpPr>
          <p:nvPr/>
        </p:nvSpPr>
        <p:spPr bwMode="auto">
          <a:xfrm rot="-1518297">
            <a:off x="4073129" y="656035"/>
            <a:ext cx="228600" cy="628650"/>
          </a:xfrm>
          <a:prstGeom prst="lightningBol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grpSp>
        <p:nvGrpSpPr>
          <p:cNvPr id="13337" name="Group 39"/>
          <p:cNvGrpSpPr>
            <a:grpSpLocks/>
          </p:cNvGrpSpPr>
          <p:nvPr/>
        </p:nvGrpSpPr>
        <p:grpSpPr bwMode="auto">
          <a:xfrm>
            <a:off x="6343650" y="2743200"/>
            <a:ext cx="862013" cy="720329"/>
            <a:chOff x="3036" y="2467"/>
            <a:chExt cx="724" cy="605"/>
          </a:xfrm>
        </p:grpSpPr>
        <p:sp>
          <p:nvSpPr>
            <p:cNvPr id="647208" name="AutoShape 40"/>
            <p:cNvSpPr>
              <a:spLocks noChangeArrowheads="1"/>
            </p:cNvSpPr>
            <p:nvPr/>
          </p:nvSpPr>
          <p:spPr bwMode="auto">
            <a:xfrm>
              <a:off x="3036" y="2496"/>
              <a:ext cx="724" cy="576"/>
            </a:xfrm>
            <a:prstGeom prst="can">
              <a:avLst>
                <a:gd name="adj" fmla="val 33509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zh-TW" altLang="zh-TW" sz="900"/>
            </a:p>
          </p:txBody>
        </p:sp>
        <p:sp>
          <p:nvSpPr>
            <p:cNvPr id="13362" name="Text Box 41"/>
            <p:cNvSpPr txBox="1">
              <a:spLocks noChangeArrowheads="1"/>
            </p:cNvSpPr>
            <p:nvPr/>
          </p:nvSpPr>
          <p:spPr bwMode="auto">
            <a:xfrm>
              <a:off x="3038" y="2467"/>
              <a:ext cx="7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1200">
                  <a:solidFill>
                    <a:srgbClr val="CC0000"/>
                  </a:solidFill>
                  <a:latin typeface="Tahoma" panose="020B0604030504040204" pitchFamily="34" charset="0"/>
                  <a:ea typeface="新細明體" panose="02020500000000000000" pitchFamily="18" charset="-120"/>
                </a:rPr>
                <a:t>OpenFlow</a:t>
              </a:r>
            </a:p>
          </p:txBody>
        </p:sp>
      </p:grpSp>
      <p:pic>
        <p:nvPicPr>
          <p:cNvPr id="13338" name="Picture 42" descr="j028575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506" y="4251723"/>
            <a:ext cx="800100" cy="491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9" name="Picture 43" descr="j028575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056" y="4251723"/>
            <a:ext cx="800100" cy="491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40" name="Picture 44" descr="j028575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606" y="4251723"/>
            <a:ext cx="800100" cy="491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1" name="Line 45"/>
          <p:cNvSpPr>
            <a:spLocks noChangeShapeType="1"/>
          </p:cNvSpPr>
          <p:nvPr/>
        </p:nvSpPr>
        <p:spPr bwMode="auto">
          <a:xfrm>
            <a:off x="2259806" y="2239566"/>
            <a:ext cx="0" cy="64650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647214" name="AutoShape 46"/>
          <p:cNvSpPr>
            <a:spLocks noChangeArrowheads="1"/>
          </p:cNvSpPr>
          <p:nvPr/>
        </p:nvSpPr>
        <p:spPr bwMode="auto">
          <a:xfrm>
            <a:off x="1838325" y="2857500"/>
            <a:ext cx="862013" cy="685800"/>
          </a:xfrm>
          <a:prstGeom prst="can">
            <a:avLst>
              <a:gd name="adj" fmla="val 32468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647215" name="AutoShape 47"/>
          <p:cNvSpPr>
            <a:spLocks noChangeArrowheads="1"/>
          </p:cNvSpPr>
          <p:nvPr/>
        </p:nvSpPr>
        <p:spPr bwMode="auto">
          <a:xfrm>
            <a:off x="1813322" y="1539479"/>
            <a:ext cx="862013" cy="732234"/>
          </a:xfrm>
          <a:prstGeom prst="can">
            <a:avLst>
              <a:gd name="adj" fmla="val 3756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13344" name="Text Box 48"/>
          <p:cNvSpPr txBox="1">
            <a:spLocks noChangeArrowheads="1"/>
          </p:cNvSpPr>
          <p:nvPr/>
        </p:nvSpPr>
        <p:spPr bwMode="auto">
          <a:xfrm>
            <a:off x="1815159" y="1551385"/>
            <a:ext cx="8595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2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OpenFlow</a:t>
            </a:r>
          </a:p>
        </p:txBody>
      </p:sp>
      <p:sp>
        <p:nvSpPr>
          <p:cNvPr id="13345" name="Text Box 49"/>
          <p:cNvSpPr txBox="1">
            <a:spLocks noChangeArrowheads="1"/>
          </p:cNvSpPr>
          <p:nvPr/>
        </p:nvSpPr>
        <p:spPr bwMode="auto">
          <a:xfrm>
            <a:off x="1838972" y="2822973"/>
            <a:ext cx="8595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2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OpenFlow</a:t>
            </a:r>
          </a:p>
        </p:txBody>
      </p:sp>
      <p:grpSp>
        <p:nvGrpSpPr>
          <p:cNvPr id="13346" name="Group 50"/>
          <p:cNvGrpSpPr>
            <a:grpSpLocks/>
          </p:cNvGrpSpPr>
          <p:nvPr/>
        </p:nvGrpSpPr>
        <p:grpSpPr bwMode="auto">
          <a:xfrm>
            <a:off x="3800475" y="2437210"/>
            <a:ext cx="1541860" cy="1684734"/>
            <a:chOff x="1486" y="3679"/>
            <a:chExt cx="1295" cy="1415"/>
          </a:xfrm>
        </p:grpSpPr>
        <p:sp>
          <p:nvSpPr>
            <p:cNvPr id="647219" name="AutoShape 51"/>
            <p:cNvSpPr>
              <a:spLocks noChangeArrowheads="1"/>
            </p:cNvSpPr>
            <p:nvPr/>
          </p:nvSpPr>
          <p:spPr bwMode="auto">
            <a:xfrm>
              <a:off x="1486" y="3679"/>
              <a:ext cx="1295" cy="1415"/>
            </a:xfrm>
            <a:prstGeom prst="can">
              <a:avLst>
                <a:gd name="adj" fmla="val 37839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zh-TW" altLang="zh-TW" sz="900"/>
            </a:p>
          </p:txBody>
        </p:sp>
        <p:sp>
          <p:nvSpPr>
            <p:cNvPr id="13353" name="Text Box 52"/>
            <p:cNvSpPr txBox="1">
              <a:spLocks noChangeArrowheads="1"/>
            </p:cNvSpPr>
            <p:nvPr/>
          </p:nvSpPr>
          <p:spPr bwMode="auto">
            <a:xfrm>
              <a:off x="1510" y="3750"/>
              <a:ext cx="123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1200">
                  <a:solidFill>
                    <a:srgbClr val="CC0000"/>
                  </a:solidFill>
                  <a:latin typeface="Tahoma" panose="020B0604030504040204" pitchFamily="34" charset="0"/>
                  <a:ea typeface="新細明體" panose="02020500000000000000" pitchFamily="18" charset="-120"/>
                </a:rPr>
                <a:t>OpenFlow-enabled</a:t>
              </a:r>
            </a:p>
            <a:p>
              <a:pPr algn="ctr" eaLnBrk="1" hangingPunct="1"/>
              <a:r>
                <a:rPr lang="en-US" altLang="zh-TW" sz="1200">
                  <a:solidFill>
                    <a:srgbClr val="CC0000"/>
                  </a:solidFill>
                  <a:latin typeface="Tahoma" panose="020B0604030504040204" pitchFamily="34" charset="0"/>
                  <a:ea typeface="新細明體" panose="02020500000000000000" pitchFamily="18" charset="-120"/>
                </a:rPr>
                <a:t>Commercial Switch</a:t>
              </a:r>
            </a:p>
          </p:txBody>
        </p:sp>
        <p:sp>
          <p:nvSpPr>
            <p:cNvPr id="13354" name="Rectangle 53"/>
            <p:cNvSpPr>
              <a:spLocks noChangeArrowheads="1"/>
            </p:cNvSpPr>
            <p:nvPr/>
          </p:nvSpPr>
          <p:spPr bwMode="auto">
            <a:xfrm>
              <a:off x="2325" y="4292"/>
              <a:ext cx="358" cy="64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647222" name="Rectangle 54"/>
            <p:cNvSpPr>
              <a:spLocks noChangeArrowheads="1"/>
            </p:cNvSpPr>
            <p:nvPr/>
          </p:nvSpPr>
          <p:spPr bwMode="auto">
            <a:xfrm>
              <a:off x="2353" y="4655"/>
              <a:ext cx="299" cy="242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750">
                  <a:latin typeface="Arial" charset="0"/>
                </a:rPr>
                <a:t>Flow</a:t>
              </a:r>
            </a:p>
            <a:p>
              <a:pPr algn="ctr">
                <a:defRPr/>
              </a:pPr>
              <a:r>
                <a:rPr lang="en-US" sz="750">
                  <a:latin typeface="Arial" charset="0"/>
                </a:rPr>
                <a:t>Table</a:t>
              </a:r>
            </a:p>
          </p:txBody>
        </p:sp>
        <p:sp>
          <p:nvSpPr>
            <p:cNvPr id="647223" name="Rectangle 55"/>
            <p:cNvSpPr>
              <a:spLocks noChangeArrowheads="1"/>
            </p:cNvSpPr>
            <p:nvPr/>
          </p:nvSpPr>
          <p:spPr bwMode="auto">
            <a:xfrm>
              <a:off x="2353" y="4333"/>
              <a:ext cx="302" cy="242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750">
                  <a:latin typeface="Arial" charset="0"/>
                </a:rPr>
                <a:t>Secure</a:t>
              </a:r>
            </a:p>
            <a:p>
              <a:pPr algn="ctr">
                <a:defRPr/>
              </a:pPr>
              <a:r>
                <a:rPr lang="en-US" sz="675">
                  <a:latin typeface="Arial" charset="0"/>
                </a:rPr>
                <a:t>Channel</a:t>
              </a:r>
            </a:p>
          </p:txBody>
        </p:sp>
        <p:sp>
          <p:nvSpPr>
            <p:cNvPr id="13357" name="Rectangle 56"/>
            <p:cNvSpPr>
              <a:spLocks noChangeArrowheads="1"/>
            </p:cNvSpPr>
            <p:nvPr/>
          </p:nvSpPr>
          <p:spPr bwMode="auto">
            <a:xfrm>
              <a:off x="1581" y="4218"/>
              <a:ext cx="606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13358" name="Line 57"/>
            <p:cNvSpPr>
              <a:spLocks noChangeShapeType="1"/>
            </p:cNvSpPr>
            <p:nvPr/>
          </p:nvSpPr>
          <p:spPr bwMode="auto">
            <a:xfrm>
              <a:off x="1581" y="4618"/>
              <a:ext cx="11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3359" name="Text Box 58"/>
            <p:cNvSpPr txBox="1">
              <a:spLocks noChangeArrowheads="1"/>
            </p:cNvSpPr>
            <p:nvPr/>
          </p:nvSpPr>
          <p:spPr bwMode="auto">
            <a:xfrm>
              <a:off x="1579" y="4291"/>
              <a:ext cx="602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050">
                  <a:ea typeface="新細明體" panose="02020500000000000000" pitchFamily="18" charset="-120"/>
                </a:rPr>
                <a:t>Normal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lang="en-US" altLang="zh-TW" sz="1050">
                  <a:ea typeface="新細明體" panose="02020500000000000000" pitchFamily="18" charset="-120"/>
                </a:rPr>
                <a:t>Software</a:t>
              </a:r>
            </a:p>
          </p:txBody>
        </p:sp>
        <p:sp>
          <p:nvSpPr>
            <p:cNvPr id="13360" name="Text Box 59"/>
            <p:cNvSpPr txBox="1">
              <a:spLocks noChangeArrowheads="1"/>
            </p:cNvSpPr>
            <p:nvPr/>
          </p:nvSpPr>
          <p:spPr bwMode="auto">
            <a:xfrm>
              <a:off x="1570" y="4618"/>
              <a:ext cx="61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1050">
                  <a:ea typeface="新細明體" panose="02020500000000000000" pitchFamily="18" charset="-120"/>
                </a:rPr>
                <a:t>Normal</a:t>
              </a:r>
            </a:p>
            <a:p>
              <a:pPr algn="ctr" eaLnBrk="1" hangingPunct="1"/>
              <a:r>
                <a:rPr lang="en-US" altLang="zh-TW" sz="1050">
                  <a:ea typeface="新細明體" panose="02020500000000000000" pitchFamily="18" charset="-120"/>
                </a:rPr>
                <a:t>Datapath</a:t>
              </a:r>
            </a:p>
          </p:txBody>
        </p:sp>
      </p:grpSp>
      <p:pic>
        <p:nvPicPr>
          <p:cNvPr id="13347" name="Picture 60" descr="MCj0424782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894" y="389335"/>
            <a:ext cx="489347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8" name="AutoShape 61"/>
          <p:cNvSpPr>
            <a:spLocks noChangeArrowheads="1"/>
          </p:cNvSpPr>
          <p:nvPr/>
        </p:nvSpPr>
        <p:spPr bwMode="auto">
          <a:xfrm rot="1375045">
            <a:off x="4504135" y="441722"/>
            <a:ext cx="228600" cy="628650"/>
          </a:xfrm>
          <a:prstGeom prst="lightningBol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pic>
        <p:nvPicPr>
          <p:cNvPr id="13349" name="Picture 62" descr="MCj0424782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166" y="117872"/>
            <a:ext cx="489347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50" name="AutoShape 63"/>
          <p:cNvSpPr>
            <a:spLocks noChangeArrowheads="1"/>
          </p:cNvSpPr>
          <p:nvPr/>
        </p:nvSpPr>
        <p:spPr bwMode="auto">
          <a:xfrm rot="3620780">
            <a:off x="4930379" y="556022"/>
            <a:ext cx="228600" cy="628650"/>
          </a:xfrm>
          <a:prstGeom prst="lightningBol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pic>
        <p:nvPicPr>
          <p:cNvPr id="13351" name="Picture 64" descr="MCj0424782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488" y="339328"/>
            <a:ext cx="489347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8520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29612"/>
            <a:ext cx="5829300" cy="1975564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Switching</a:t>
            </a:r>
          </a:p>
          <a:p>
            <a:r>
              <a:rPr lang="en-US" altLang="zh-TW" dirty="0"/>
              <a:t>Usage models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Virtualizing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FlowVisor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-based Virtualization</a:t>
            </a: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references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0247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err="1">
                <a:ea typeface="新細明體" panose="02020500000000000000" pitchFamily="18" charset="-120"/>
              </a:rPr>
              <a:t>OpenFlow</a:t>
            </a:r>
            <a:r>
              <a:rPr lang="en-US" altLang="zh-TW" dirty="0">
                <a:ea typeface="新細明體" panose="02020500000000000000" pitchFamily="18" charset="-120"/>
              </a:rPr>
              <a:t> Usage Models(1/2)</a:t>
            </a:r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1063228"/>
            <a:ext cx="6172200" cy="408027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Experiments at the flow level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User-defined routing protocols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Admission control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Network access control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Network management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Energy management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VOIP mobility and handoff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…</a:t>
            </a:r>
            <a:endParaRPr lang="en-US" altLang="zh-TW" sz="1500" dirty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Experiments at the packet level</a:t>
            </a:r>
          </a:p>
          <a:p>
            <a:pPr lvl="1"/>
            <a:r>
              <a:rPr lang="en-US" altLang="zh-TW" dirty="0"/>
              <a:t>Slow: Controller handles packet processing</a:t>
            </a:r>
          </a:p>
          <a:p>
            <a:pPr lvl="1"/>
            <a:r>
              <a:rPr lang="en-US" altLang="zh-TW" dirty="0"/>
              <a:t>Fast: Redirect flows through programmable hardware</a:t>
            </a:r>
          </a:p>
          <a:p>
            <a:pPr lvl="1"/>
            <a:r>
              <a:rPr lang="en-US" altLang="zh-TW" dirty="0"/>
              <a:t>Modified routers, firewalls, NAT, congestion control…</a:t>
            </a:r>
            <a:endParaRPr lang="en-US" altLang="zh-TW" sz="1500" dirty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Alternatives to IP</a:t>
            </a:r>
          </a:p>
        </p:txBody>
      </p:sp>
      <p:sp>
        <p:nvSpPr>
          <p:cNvPr id="14341" name="AutoShape 4"/>
          <p:cNvSpPr>
            <a:spLocks/>
          </p:cNvSpPr>
          <p:nvPr/>
        </p:nvSpPr>
        <p:spPr bwMode="auto">
          <a:xfrm>
            <a:off x="5143500" y="1073701"/>
            <a:ext cx="228600" cy="1984103"/>
          </a:xfrm>
          <a:prstGeom prst="rightBrace">
            <a:avLst>
              <a:gd name="adj1" fmla="val 5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sp>
        <p:nvSpPr>
          <p:cNvPr id="14342" name="Text Box 5"/>
          <p:cNvSpPr txBox="1">
            <a:spLocks noChangeArrowheads="1"/>
          </p:cNvSpPr>
          <p:nvPr/>
        </p:nvSpPr>
        <p:spPr bwMode="auto">
          <a:xfrm>
            <a:off x="5374482" y="1825246"/>
            <a:ext cx="269817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TW" sz="1350" dirty="0">
                <a:ea typeface="新細明體" panose="02020500000000000000" pitchFamily="18" charset="-120"/>
              </a:rPr>
              <a:t>  Experiment-specific controllers</a:t>
            </a:r>
          </a:p>
          <a:p>
            <a:pPr eaLnBrk="1" hangingPunct="1">
              <a:buFontTx/>
              <a:buChar char="•"/>
            </a:pPr>
            <a:r>
              <a:rPr lang="en-US" altLang="zh-TW" sz="1350" dirty="0">
                <a:ea typeface="新細明體" panose="02020500000000000000" pitchFamily="18" charset="-120"/>
              </a:rPr>
              <a:t>  Static or dynamic flow-entries</a:t>
            </a:r>
          </a:p>
        </p:txBody>
      </p:sp>
    </p:spTree>
    <p:extLst>
      <p:ext uri="{BB962C8B-B14F-4D97-AF65-F5344CB8AC3E}">
        <p14:creationId xmlns:p14="http://schemas.microsoft.com/office/powerpoint/2010/main" val="251740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5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/>
              <a:t>The Stanford Clean Slate Program 		                 http://</a:t>
            </a:r>
            <a:r>
              <a:rPr lang="en-US" altLang="zh-TW" u="sng">
                <a:solidFill>
                  <a:schemeClr val="accent2"/>
                </a:solidFill>
              </a:rPr>
              <a:t>cleanslate.stanford.edu</a:t>
            </a:r>
            <a:r>
              <a:rPr lang="en-US" altLang="zh-TW"/>
              <a:t>			</a:t>
            </a:r>
            <a:endParaRPr lang="en-US" altLang="zh-TW" sz="750"/>
          </a:p>
        </p:txBody>
      </p:sp>
      <p:sp>
        <p:nvSpPr>
          <p:cNvPr id="15363" name="Rectangle 136"/>
          <p:cNvSpPr>
            <a:spLocks noChangeArrowheads="1"/>
          </p:cNvSpPr>
          <p:nvPr/>
        </p:nvSpPr>
        <p:spPr bwMode="auto">
          <a:xfrm>
            <a:off x="914400" y="4457700"/>
            <a:ext cx="7372350" cy="8572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sp>
        <p:nvSpPr>
          <p:cNvPr id="15364" name="AutoShape 21"/>
          <p:cNvSpPr>
            <a:spLocks noChangeArrowheads="1"/>
          </p:cNvSpPr>
          <p:nvPr/>
        </p:nvSpPr>
        <p:spPr bwMode="auto">
          <a:xfrm>
            <a:off x="2971800" y="2914650"/>
            <a:ext cx="400050" cy="28575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rgbClr val="765E47"/>
              </a:gs>
              <a:gs pos="50000">
                <a:srgbClr val="FFCC99"/>
              </a:gs>
              <a:gs pos="100000">
                <a:srgbClr val="765E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15365" name="AutoShape 16"/>
          <p:cNvSpPr>
            <a:spLocks noChangeArrowheads="1"/>
          </p:cNvSpPr>
          <p:nvPr/>
        </p:nvSpPr>
        <p:spPr bwMode="auto">
          <a:xfrm>
            <a:off x="4400550" y="1371600"/>
            <a:ext cx="862013" cy="457200"/>
          </a:xfrm>
          <a:prstGeom prst="can">
            <a:avLst>
              <a:gd name="adj" fmla="val 50000"/>
            </a:avLst>
          </a:prstGeom>
          <a:gradFill rotWithShape="1">
            <a:gsLst>
              <a:gs pos="0">
                <a:srgbClr val="FFCC99"/>
              </a:gs>
              <a:gs pos="100000">
                <a:srgbClr val="765E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629766" name="AutoShape 6"/>
          <p:cNvSpPr>
            <a:spLocks noChangeArrowheads="1"/>
          </p:cNvSpPr>
          <p:nvPr/>
        </p:nvSpPr>
        <p:spPr bwMode="auto">
          <a:xfrm>
            <a:off x="3767137" y="1314450"/>
            <a:ext cx="862013" cy="457200"/>
          </a:xfrm>
          <a:prstGeom prst="can">
            <a:avLst>
              <a:gd name="adj" fmla="val 50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629777" name="AutoShape 17"/>
          <p:cNvSpPr>
            <a:spLocks noChangeArrowheads="1"/>
          </p:cNvSpPr>
          <p:nvPr/>
        </p:nvSpPr>
        <p:spPr bwMode="auto">
          <a:xfrm>
            <a:off x="2686050" y="2800350"/>
            <a:ext cx="400050" cy="28575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15368" name="AutoShape 18"/>
          <p:cNvSpPr>
            <a:spLocks noChangeArrowheads="1"/>
          </p:cNvSpPr>
          <p:nvPr/>
        </p:nvSpPr>
        <p:spPr bwMode="auto">
          <a:xfrm>
            <a:off x="2000250" y="3771900"/>
            <a:ext cx="514350" cy="2286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2400" b="1">
              <a:solidFill>
                <a:srgbClr val="F25D44"/>
              </a:solidFill>
            </a:endParaRPr>
          </a:p>
        </p:txBody>
      </p:sp>
      <p:sp>
        <p:nvSpPr>
          <p:cNvPr id="15369" name="AutoShape 19"/>
          <p:cNvSpPr>
            <a:spLocks noChangeArrowheads="1"/>
          </p:cNvSpPr>
          <p:nvPr/>
        </p:nvSpPr>
        <p:spPr bwMode="auto">
          <a:xfrm>
            <a:off x="2571750" y="3771900"/>
            <a:ext cx="514350" cy="2286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2400" b="1">
              <a:solidFill>
                <a:srgbClr val="F25D44"/>
              </a:solidFill>
            </a:endParaRPr>
          </a:p>
        </p:txBody>
      </p:sp>
      <p:sp>
        <p:nvSpPr>
          <p:cNvPr id="15370" name="AutoShape 20"/>
          <p:cNvSpPr>
            <a:spLocks noChangeArrowheads="1"/>
          </p:cNvSpPr>
          <p:nvPr/>
        </p:nvSpPr>
        <p:spPr bwMode="auto">
          <a:xfrm>
            <a:off x="3143250" y="3771900"/>
            <a:ext cx="514350" cy="2286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2400" b="1">
              <a:solidFill>
                <a:srgbClr val="F25D44"/>
              </a:solidFill>
            </a:endParaRPr>
          </a:p>
        </p:txBody>
      </p:sp>
      <p:cxnSp>
        <p:nvCxnSpPr>
          <p:cNvPr id="15371" name="AutoShape 22"/>
          <p:cNvCxnSpPr>
            <a:cxnSpLocks noChangeShapeType="1"/>
            <a:stCxn id="15368" idx="0"/>
            <a:endCxn id="629777" idx="3"/>
          </p:cNvCxnSpPr>
          <p:nvPr/>
        </p:nvCxnSpPr>
        <p:spPr bwMode="auto">
          <a:xfrm flipV="1">
            <a:off x="2315766" y="3086100"/>
            <a:ext cx="570309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2" name="AutoShape 23"/>
          <p:cNvCxnSpPr>
            <a:cxnSpLocks noChangeShapeType="1"/>
            <a:stCxn id="15369" idx="0"/>
            <a:endCxn id="629777" idx="3"/>
          </p:cNvCxnSpPr>
          <p:nvPr/>
        </p:nvCxnSpPr>
        <p:spPr bwMode="auto">
          <a:xfrm flipH="1" flipV="1">
            <a:off x="2886075" y="3086100"/>
            <a:ext cx="1191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3" name="AutoShape 24"/>
          <p:cNvCxnSpPr>
            <a:cxnSpLocks noChangeShapeType="1"/>
            <a:stCxn id="15370" idx="0"/>
            <a:endCxn id="629777" idx="3"/>
          </p:cNvCxnSpPr>
          <p:nvPr/>
        </p:nvCxnSpPr>
        <p:spPr bwMode="auto">
          <a:xfrm flipH="1" flipV="1">
            <a:off x="2886075" y="3086100"/>
            <a:ext cx="572691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4" name="AutoShape 25"/>
          <p:cNvCxnSpPr>
            <a:cxnSpLocks noChangeShapeType="1"/>
            <a:stCxn id="15368" idx="0"/>
            <a:endCxn id="15364" idx="3"/>
          </p:cNvCxnSpPr>
          <p:nvPr/>
        </p:nvCxnSpPr>
        <p:spPr bwMode="auto">
          <a:xfrm flipV="1">
            <a:off x="2315766" y="3200400"/>
            <a:ext cx="856059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5" name="AutoShape 26"/>
          <p:cNvCxnSpPr>
            <a:cxnSpLocks noChangeShapeType="1"/>
            <a:stCxn id="15369" idx="0"/>
            <a:endCxn id="15364" idx="3"/>
          </p:cNvCxnSpPr>
          <p:nvPr/>
        </p:nvCxnSpPr>
        <p:spPr bwMode="auto">
          <a:xfrm flipV="1">
            <a:off x="2887266" y="3200400"/>
            <a:ext cx="284559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6" name="AutoShape 27"/>
          <p:cNvCxnSpPr>
            <a:cxnSpLocks noChangeShapeType="1"/>
            <a:stCxn id="15364" idx="3"/>
            <a:endCxn id="15370" idx="0"/>
          </p:cNvCxnSpPr>
          <p:nvPr/>
        </p:nvCxnSpPr>
        <p:spPr bwMode="auto">
          <a:xfrm>
            <a:off x="3171825" y="3200400"/>
            <a:ext cx="286941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7" name="AutoShape 28"/>
          <p:cNvCxnSpPr>
            <a:cxnSpLocks noChangeShapeType="1"/>
            <a:stCxn id="629777" idx="1"/>
            <a:endCxn id="629766" idx="3"/>
          </p:cNvCxnSpPr>
          <p:nvPr/>
        </p:nvCxnSpPr>
        <p:spPr bwMode="auto">
          <a:xfrm flipV="1">
            <a:off x="2886075" y="1771650"/>
            <a:ext cx="1312069" cy="1028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8" name="AutoShape 29"/>
          <p:cNvCxnSpPr>
            <a:cxnSpLocks noChangeShapeType="1"/>
            <a:stCxn id="629777" idx="1"/>
            <a:endCxn id="15365" idx="3"/>
          </p:cNvCxnSpPr>
          <p:nvPr/>
        </p:nvCxnSpPr>
        <p:spPr bwMode="auto">
          <a:xfrm flipV="1">
            <a:off x="2886076" y="1828800"/>
            <a:ext cx="1945481" cy="971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9" name="AutoShape 30"/>
          <p:cNvCxnSpPr>
            <a:cxnSpLocks noChangeShapeType="1"/>
            <a:stCxn id="15364" idx="1"/>
            <a:endCxn id="629766" idx="3"/>
          </p:cNvCxnSpPr>
          <p:nvPr/>
        </p:nvCxnSpPr>
        <p:spPr bwMode="auto">
          <a:xfrm flipV="1">
            <a:off x="3171825" y="1771650"/>
            <a:ext cx="1026319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0" name="AutoShape 31"/>
          <p:cNvCxnSpPr>
            <a:cxnSpLocks noChangeShapeType="1"/>
            <a:stCxn id="15364" idx="1"/>
            <a:endCxn id="15365" idx="3"/>
          </p:cNvCxnSpPr>
          <p:nvPr/>
        </p:nvCxnSpPr>
        <p:spPr bwMode="auto">
          <a:xfrm flipV="1">
            <a:off x="3171826" y="1828800"/>
            <a:ext cx="1659731" cy="1085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1" name="AutoShape 32"/>
          <p:cNvSpPr>
            <a:spLocks noChangeArrowheads="1"/>
          </p:cNvSpPr>
          <p:nvPr/>
        </p:nvSpPr>
        <p:spPr bwMode="auto">
          <a:xfrm>
            <a:off x="5029200" y="2914650"/>
            <a:ext cx="400050" cy="28575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rgbClr val="FFCC99"/>
              </a:gs>
              <a:gs pos="100000">
                <a:srgbClr val="765E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629793" name="AutoShape 33"/>
          <p:cNvSpPr>
            <a:spLocks noChangeArrowheads="1"/>
          </p:cNvSpPr>
          <p:nvPr/>
        </p:nvSpPr>
        <p:spPr bwMode="auto">
          <a:xfrm>
            <a:off x="4800600" y="2971800"/>
            <a:ext cx="400050" cy="28575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15383" name="AutoShape 34"/>
          <p:cNvSpPr>
            <a:spLocks noChangeArrowheads="1"/>
          </p:cNvSpPr>
          <p:nvPr/>
        </p:nvSpPr>
        <p:spPr bwMode="auto">
          <a:xfrm>
            <a:off x="4572000" y="3714750"/>
            <a:ext cx="514350" cy="2286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2400" b="1">
              <a:solidFill>
                <a:srgbClr val="F25D44"/>
              </a:solidFill>
            </a:endParaRPr>
          </a:p>
        </p:txBody>
      </p:sp>
      <p:sp>
        <p:nvSpPr>
          <p:cNvPr id="15384" name="AutoShape 35"/>
          <p:cNvSpPr>
            <a:spLocks noChangeArrowheads="1"/>
          </p:cNvSpPr>
          <p:nvPr/>
        </p:nvSpPr>
        <p:spPr bwMode="auto">
          <a:xfrm>
            <a:off x="5143500" y="3714750"/>
            <a:ext cx="514350" cy="2286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2400" b="1">
              <a:solidFill>
                <a:srgbClr val="F25D44"/>
              </a:solidFill>
            </a:endParaRPr>
          </a:p>
        </p:txBody>
      </p:sp>
      <p:sp>
        <p:nvSpPr>
          <p:cNvPr id="15385" name="AutoShape 36"/>
          <p:cNvSpPr>
            <a:spLocks noChangeArrowheads="1"/>
          </p:cNvSpPr>
          <p:nvPr/>
        </p:nvSpPr>
        <p:spPr bwMode="auto">
          <a:xfrm>
            <a:off x="5715000" y="3714750"/>
            <a:ext cx="514350" cy="2286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2400" b="1">
              <a:solidFill>
                <a:srgbClr val="F25D44"/>
              </a:solidFill>
            </a:endParaRPr>
          </a:p>
        </p:txBody>
      </p:sp>
      <p:cxnSp>
        <p:nvCxnSpPr>
          <p:cNvPr id="15386" name="AutoShape 37"/>
          <p:cNvCxnSpPr>
            <a:cxnSpLocks noChangeShapeType="1"/>
            <a:stCxn id="15383" idx="0"/>
            <a:endCxn id="629793" idx="3"/>
          </p:cNvCxnSpPr>
          <p:nvPr/>
        </p:nvCxnSpPr>
        <p:spPr bwMode="auto">
          <a:xfrm flipV="1">
            <a:off x="4887516" y="3257550"/>
            <a:ext cx="113109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7" name="AutoShape 38"/>
          <p:cNvCxnSpPr>
            <a:cxnSpLocks noChangeShapeType="1"/>
            <a:stCxn id="15384" idx="0"/>
            <a:endCxn id="629793" idx="3"/>
          </p:cNvCxnSpPr>
          <p:nvPr/>
        </p:nvCxnSpPr>
        <p:spPr bwMode="auto">
          <a:xfrm flipH="1" flipV="1">
            <a:off x="5000625" y="3257550"/>
            <a:ext cx="458391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8" name="AutoShape 39"/>
          <p:cNvCxnSpPr>
            <a:cxnSpLocks noChangeShapeType="1"/>
            <a:stCxn id="15385" idx="0"/>
            <a:endCxn id="629793" idx="3"/>
          </p:cNvCxnSpPr>
          <p:nvPr/>
        </p:nvCxnSpPr>
        <p:spPr bwMode="auto">
          <a:xfrm flipH="1" flipV="1">
            <a:off x="5000625" y="3257550"/>
            <a:ext cx="1029891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9" name="AutoShape 40"/>
          <p:cNvCxnSpPr>
            <a:cxnSpLocks noChangeShapeType="1"/>
            <a:stCxn id="15383" idx="0"/>
            <a:endCxn id="15381" idx="3"/>
          </p:cNvCxnSpPr>
          <p:nvPr/>
        </p:nvCxnSpPr>
        <p:spPr bwMode="auto">
          <a:xfrm flipV="1">
            <a:off x="4887516" y="3200400"/>
            <a:ext cx="341709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0" name="AutoShape 41"/>
          <p:cNvCxnSpPr>
            <a:cxnSpLocks noChangeShapeType="1"/>
            <a:stCxn id="15384" idx="0"/>
            <a:endCxn id="15381" idx="3"/>
          </p:cNvCxnSpPr>
          <p:nvPr/>
        </p:nvCxnSpPr>
        <p:spPr bwMode="auto">
          <a:xfrm flipH="1" flipV="1">
            <a:off x="5229225" y="3200400"/>
            <a:ext cx="229791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1" name="AutoShape 42"/>
          <p:cNvCxnSpPr>
            <a:cxnSpLocks noChangeShapeType="1"/>
            <a:stCxn id="15381" idx="3"/>
            <a:endCxn id="15385" idx="0"/>
          </p:cNvCxnSpPr>
          <p:nvPr/>
        </p:nvCxnSpPr>
        <p:spPr bwMode="auto">
          <a:xfrm>
            <a:off x="5229225" y="3200400"/>
            <a:ext cx="801291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2" name="AutoShape 43"/>
          <p:cNvCxnSpPr>
            <a:cxnSpLocks noChangeShapeType="1"/>
            <a:stCxn id="629793" idx="1"/>
            <a:endCxn id="15365" idx="3"/>
          </p:cNvCxnSpPr>
          <p:nvPr/>
        </p:nvCxnSpPr>
        <p:spPr bwMode="auto">
          <a:xfrm flipH="1" flipV="1">
            <a:off x="4831557" y="1828800"/>
            <a:ext cx="169069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3" name="AutoShape 44"/>
          <p:cNvCxnSpPr>
            <a:cxnSpLocks noChangeShapeType="1"/>
            <a:stCxn id="629793" idx="1"/>
            <a:endCxn id="629766" idx="3"/>
          </p:cNvCxnSpPr>
          <p:nvPr/>
        </p:nvCxnSpPr>
        <p:spPr bwMode="auto">
          <a:xfrm flipH="1" flipV="1">
            <a:off x="4198144" y="1771650"/>
            <a:ext cx="802481" cy="1200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4" name="AutoShape 45"/>
          <p:cNvCxnSpPr>
            <a:cxnSpLocks noChangeShapeType="1"/>
            <a:stCxn id="15381" idx="1"/>
            <a:endCxn id="15365" idx="3"/>
          </p:cNvCxnSpPr>
          <p:nvPr/>
        </p:nvCxnSpPr>
        <p:spPr bwMode="auto">
          <a:xfrm flipH="1" flipV="1">
            <a:off x="4831557" y="1828800"/>
            <a:ext cx="397669" cy="1085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5" name="AutoShape 46"/>
          <p:cNvCxnSpPr>
            <a:cxnSpLocks noChangeShapeType="1"/>
            <a:stCxn id="15381" idx="1"/>
            <a:endCxn id="629766" idx="3"/>
          </p:cNvCxnSpPr>
          <p:nvPr/>
        </p:nvCxnSpPr>
        <p:spPr bwMode="auto">
          <a:xfrm flipH="1" flipV="1">
            <a:off x="4198144" y="1771650"/>
            <a:ext cx="1031081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96" name="AutoShape 47"/>
          <p:cNvSpPr>
            <a:spLocks noChangeArrowheads="1"/>
          </p:cNvSpPr>
          <p:nvPr/>
        </p:nvSpPr>
        <p:spPr bwMode="auto">
          <a:xfrm>
            <a:off x="6000750" y="2057400"/>
            <a:ext cx="400050" cy="28575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rgbClr val="FFCC99"/>
              </a:gs>
              <a:gs pos="100000">
                <a:srgbClr val="765E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629808" name="AutoShape 48"/>
          <p:cNvSpPr>
            <a:spLocks noChangeArrowheads="1"/>
          </p:cNvSpPr>
          <p:nvPr/>
        </p:nvSpPr>
        <p:spPr bwMode="auto">
          <a:xfrm>
            <a:off x="5943600" y="2286000"/>
            <a:ext cx="400050" cy="28575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900"/>
          </a:p>
        </p:txBody>
      </p:sp>
      <p:sp>
        <p:nvSpPr>
          <p:cNvPr id="15398" name="AutoShape 49"/>
          <p:cNvSpPr>
            <a:spLocks noChangeArrowheads="1"/>
          </p:cNvSpPr>
          <p:nvPr/>
        </p:nvSpPr>
        <p:spPr bwMode="auto">
          <a:xfrm>
            <a:off x="6858000" y="2514600"/>
            <a:ext cx="514350" cy="2286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2400" b="1">
              <a:solidFill>
                <a:srgbClr val="F25D44"/>
              </a:solidFill>
            </a:endParaRPr>
          </a:p>
        </p:txBody>
      </p:sp>
      <p:sp>
        <p:nvSpPr>
          <p:cNvPr id="15399" name="AutoShape 50"/>
          <p:cNvSpPr>
            <a:spLocks noChangeArrowheads="1"/>
          </p:cNvSpPr>
          <p:nvPr/>
        </p:nvSpPr>
        <p:spPr bwMode="auto">
          <a:xfrm>
            <a:off x="6858000" y="2171700"/>
            <a:ext cx="514350" cy="2286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2400" b="1">
              <a:solidFill>
                <a:srgbClr val="F25D44"/>
              </a:solidFill>
            </a:endParaRPr>
          </a:p>
        </p:txBody>
      </p:sp>
      <p:sp>
        <p:nvSpPr>
          <p:cNvPr id="15400" name="AutoShape 51"/>
          <p:cNvSpPr>
            <a:spLocks noChangeArrowheads="1"/>
          </p:cNvSpPr>
          <p:nvPr/>
        </p:nvSpPr>
        <p:spPr bwMode="auto">
          <a:xfrm>
            <a:off x="6858000" y="1828800"/>
            <a:ext cx="514350" cy="2286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2400" b="1">
              <a:solidFill>
                <a:srgbClr val="F25D44"/>
              </a:solidFill>
            </a:endParaRPr>
          </a:p>
        </p:txBody>
      </p:sp>
      <p:cxnSp>
        <p:nvCxnSpPr>
          <p:cNvPr id="15401" name="AutoShape 52"/>
          <p:cNvCxnSpPr>
            <a:cxnSpLocks noChangeShapeType="1"/>
            <a:stCxn id="15398" idx="2"/>
            <a:endCxn id="629808" idx="4"/>
          </p:cNvCxnSpPr>
          <p:nvPr/>
        </p:nvCxnSpPr>
        <p:spPr bwMode="auto">
          <a:xfrm flipH="1" flipV="1">
            <a:off x="6343650" y="2428875"/>
            <a:ext cx="514350" cy="25836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2" name="AutoShape 53"/>
          <p:cNvCxnSpPr>
            <a:cxnSpLocks noChangeShapeType="1"/>
            <a:stCxn id="15399" idx="2"/>
            <a:endCxn id="629808" idx="4"/>
          </p:cNvCxnSpPr>
          <p:nvPr/>
        </p:nvCxnSpPr>
        <p:spPr bwMode="auto">
          <a:xfrm flipH="1">
            <a:off x="6343650" y="2344341"/>
            <a:ext cx="514350" cy="845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3" name="AutoShape 54"/>
          <p:cNvCxnSpPr>
            <a:cxnSpLocks noChangeShapeType="1"/>
            <a:stCxn id="15400" idx="2"/>
            <a:endCxn id="629808" idx="4"/>
          </p:cNvCxnSpPr>
          <p:nvPr/>
        </p:nvCxnSpPr>
        <p:spPr bwMode="auto">
          <a:xfrm flipH="1">
            <a:off x="6343650" y="2001441"/>
            <a:ext cx="514350" cy="4274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4" name="AutoShape 55"/>
          <p:cNvCxnSpPr>
            <a:cxnSpLocks noChangeShapeType="1"/>
            <a:stCxn id="15398" idx="2"/>
            <a:endCxn id="15396" idx="4"/>
          </p:cNvCxnSpPr>
          <p:nvPr/>
        </p:nvCxnSpPr>
        <p:spPr bwMode="auto">
          <a:xfrm flipH="1" flipV="1">
            <a:off x="6400800" y="2200275"/>
            <a:ext cx="457200" cy="48696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5" name="AutoShape 56"/>
          <p:cNvCxnSpPr>
            <a:cxnSpLocks noChangeShapeType="1"/>
            <a:stCxn id="15399" idx="2"/>
            <a:endCxn id="15396" idx="4"/>
          </p:cNvCxnSpPr>
          <p:nvPr/>
        </p:nvCxnSpPr>
        <p:spPr bwMode="auto">
          <a:xfrm flipH="1" flipV="1">
            <a:off x="6400800" y="2200275"/>
            <a:ext cx="457200" cy="14406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6" name="AutoShape 57"/>
          <p:cNvCxnSpPr>
            <a:cxnSpLocks noChangeShapeType="1"/>
            <a:stCxn id="15396" idx="4"/>
            <a:endCxn id="15400" idx="2"/>
          </p:cNvCxnSpPr>
          <p:nvPr/>
        </p:nvCxnSpPr>
        <p:spPr bwMode="auto">
          <a:xfrm flipV="1">
            <a:off x="6400800" y="2001441"/>
            <a:ext cx="457200" cy="1988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7" name="AutoShape 58"/>
          <p:cNvCxnSpPr>
            <a:cxnSpLocks noChangeShapeType="1"/>
            <a:stCxn id="629808" idx="2"/>
            <a:endCxn id="629766" idx="3"/>
          </p:cNvCxnSpPr>
          <p:nvPr/>
        </p:nvCxnSpPr>
        <p:spPr bwMode="auto">
          <a:xfrm flipH="1" flipV="1">
            <a:off x="4198144" y="1771650"/>
            <a:ext cx="1745456" cy="657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8" name="AutoShape 59"/>
          <p:cNvCxnSpPr>
            <a:cxnSpLocks noChangeShapeType="1"/>
            <a:stCxn id="629808" idx="2"/>
            <a:endCxn id="15365" idx="3"/>
          </p:cNvCxnSpPr>
          <p:nvPr/>
        </p:nvCxnSpPr>
        <p:spPr bwMode="auto">
          <a:xfrm flipH="1" flipV="1">
            <a:off x="4831557" y="1828800"/>
            <a:ext cx="1112044" cy="600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9" name="AutoShape 60"/>
          <p:cNvCxnSpPr>
            <a:cxnSpLocks noChangeShapeType="1"/>
            <a:stCxn id="15396" idx="2"/>
            <a:endCxn id="629766" idx="3"/>
          </p:cNvCxnSpPr>
          <p:nvPr/>
        </p:nvCxnSpPr>
        <p:spPr bwMode="auto">
          <a:xfrm flipH="1" flipV="1">
            <a:off x="4198144" y="1771650"/>
            <a:ext cx="1802606" cy="42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0" name="AutoShape 61"/>
          <p:cNvCxnSpPr>
            <a:cxnSpLocks noChangeShapeType="1"/>
            <a:stCxn id="15396" idx="2"/>
            <a:endCxn id="15365" idx="3"/>
          </p:cNvCxnSpPr>
          <p:nvPr/>
        </p:nvCxnSpPr>
        <p:spPr bwMode="auto">
          <a:xfrm flipH="1" flipV="1">
            <a:off x="4831557" y="1828800"/>
            <a:ext cx="1169194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11" name="AutoShape 62"/>
          <p:cNvSpPr>
            <a:spLocks noChangeArrowheads="1"/>
          </p:cNvSpPr>
          <p:nvPr/>
        </p:nvSpPr>
        <p:spPr bwMode="auto">
          <a:xfrm>
            <a:off x="2000250" y="1485900"/>
            <a:ext cx="457200" cy="1028700"/>
          </a:xfrm>
          <a:prstGeom prst="cube">
            <a:avLst>
              <a:gd name="adj" fmla="val 43750"/>
            </a:avLst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cxnSp>
        <p:nvCxnSpPr>
          <p:cNvPr id="15412" name="AutoShape 65"/>
          <p:cNvCxnSpPr>
            <a:cxnSpLocks noChangeShapeType="1"/>
            <a:stCxn id="15365" idx="1"/>
          </p:cNvCxnSpPr>
          <p:nvPr/>
        </p:nvCxnSpPr>
        <p:spPr bwMode="auto">
          <a:xfrm flipV="1">
            <a:off x="4831557" y="857250"/>
            <a:ext cx="83344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3" name="AutoShape 67"/>
          <p:cNvCxnSpPr>
            <a:cxnSpLocks noChangeShapeType="1"/>
            <a:stCxn id="629766" idx="1"/>
          </p:cNvCxnSpPr>
          <p:nvPr/>
        </p:nvCxnSpPr>
        <p:spPr bwMode="auto">
          <a:xfrm flipV="1">
            <a:off x="4198144" y="857250"/>
            <a:ext cx="431006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5414" name="Group 75"/>
          <p:cNvGrpSpPr>
            <a:grpSpLocks/>
          </p:cNvGrpSpPr>
          <p:nvPr/>
        </p:nvGrpSpPr>
        <p:grpSpPr bwMode="auto">
          <a:xfrm>
            <a:off x="1771650" y="4229100"/>
            <a:ext cx="342900" cy="342900"/>
            <a:chOff x="2256" y="3744"/>
            <a:chExt cx="288" cy="288"/>
          </a:xfrm>
        </p:grpSpPr>
        <p:sp>
          <p:nvSpPr>
            <p:cNvPr id="629834" name="AutoShape 74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15464" name="Line 71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65" name="Line 72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66" name="Line 73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</p:grpSp>
      <p:pic>
        <p:nvPicPr>
          <p:cNvPr id="629838" name="Picture 78" descr="MCj0433869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46863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416" name="Group 79"/>
          <p:cNvGrpSpPr>
            <a:grpSpLocks/>
          </p:cNvGrpSpPr>
          <p:nvPr/>
        </p:nvGrpSpPr>
        <p:grpSpPr bwMode="auto">
          <a:xfrm>
            <a:off x="2571750" y="4229100"/>
            <a:ext cx="342900" cy="342900"/>
            <a:chOff x="2256" y="3744"/>
            <a:chExt cx="288" cy="288"/>
          </a:xfrm>
        </p:grpSpPr>
        <p:sp>
          <p:nvSpPr>
            <p:cNvPr id="629840" name="AutoShape 80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15460" name="Line 81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61" name="Line 82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62" name="Line 83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</p:grpSp>
      <p:grpSp>
        <p:nvGrpSpPr>
          <p:cNvPr id="15417" name="Group 84"/>
          <p:cNvGrpSpPr>
            <a:grpSpLocks/>
          </p:cNvGrpSpPr>
          <p:nvPr/>
        </p:nvGrpSpPr>
        <p:grpSpPr bwMode="auto">
          <a:xfrm>
            <a:off x="3371850" y="4229100"/>
            <a:ext cx="342900" cy="342900"/>
            <a:chOff x="2256" y="3744"/>
            <a:chExt cx="288" cy="288"/>
          </a:xfrm>
        </p:grpSpPr>
        <p:sp>
          <p:nvSpPr>
            <p:cNvPr id="629845" name="AutoShape 85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15456" name="Line 86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57" name="Line 87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58" name="Line 88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</p:grpSp>
      <p:grpSp>
        <p:nvGrpSpPr>
          <p:cNvPr id="15418" name="Group 89"/>
          <p:cNvGrpSpPr>
            <a:grpSpLocks/>
          </p:cNvGrpSpPr>
          <p:nvPr/>
        </p:nvGrpSpPr>
        <p:grpSpPr bwMode="auto">
          <a:xfrm>
            <a:off x="4572000" y="4114800"/>
            <a:ext cx="342900" cy="342900"/>
            <a:chOff x="2256" y="3744"/>
            <a:chExt cx="288" cy="288"/>
          </a:xfrm>
        </p:grpSpPr>
        <p:sp>
          <p:nvSpPr>
            <p:cNvPr id="629850" name="AutoShape 90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15452" name="Line 91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53" name="Line 92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54" name="Line 93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</p:grpSp>
      <p:grpSp>
        <p:nvGrpSpPr>
          <p:cNvPr id="15419" name="Group 94"/>
          <p:cNvGrpSpPr>
            <a:grpSpLocks/>
          </p:cNvGrpSpPr>
          <p:nvPr/>
        </p:nvGrpSpPr>
        <p:grpSpPr bwMode="auto">
          <a:xfrm>
            <a:off x="5143500" y="4114800"/>
            <a:ext cx="342900" cy="342900"/>
            <a:chOff x="2256" y="3744"/>
            <a:chExt cx="288" cy="288"/>
          </a:xfrm>
        </p:grpSpPr>
        <p:sp>
          <p:nvSpPr>
            <p:cNvPr id="629855" name="AutoShape 95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15448" name="Line 96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49" name="Line 97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50" name="Line 98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</p:grpSp>
      <p:grpSp>
        <p:nvGrpSpPr>
          <p:cNvPr id="15420" name="Group 99"/>
          <p:cNvGrpSpPr>
            <a:grpSpLocks/>
          </p:cNvGrpSpPr>
          <p:nvPr/>
        </p:nvGrpSpPr>
        <p:grpSpPr bwMode="auto">
          <a:xfrm>
            <a:off x="5715000" y="4114800"/>
            <a:ext cx="342900" cy="342900"/>
            <a:chOff x="2256" y="3744"/>
            <a:chExt cx="288" cy="288"/>
          </a:xfrm>
        </p:grpSpPr>
        <p:sp>
          <p:nvSpPr>
            <p:cNvPr id="629860" name="AutoShape 100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15444" name="Line 101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45" name="Line 102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46" name="Line 103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</p:grpSp>
      <p:grpSp>
        <p:nvGrpSpPr>
          <p:cNvPr id="15421" name="Group 104"/>
          <p:cNvGrpSpPr>
            <a:grpSpLocks/>
          </p:cNvGrpSpPr>
          <p:nvPr/>
        </p:nvGrpSpPr>
        <p:grpSpPr bwMode="auto">
          <a:xfrm>
            <a:off x="7486650" y="1428750"/>
            <a:ext cx="342900" cy="342900"/>
            <a:chOff x="2256" y="3744"/>
            <a:chExt cx="288" cy="288"/>
          </a:xfrm>
        </p:grpSpPr>
        <p:sp>
          <p:nvSpPr>
            <p:cNvPr id="629865" name="AutoShape 105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15440" name="Line 106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41" name="Line 107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5442" name="Line 108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</p:grpSp>
      <p:cxnSp>
        <p:nvCxnSpPr>
          <p:cNvPr id="15422" name="AutoShape 109"/>
          <p:cNvCxnSpPr>
            <a:cxnSpLocks noChangeShapeType="1"/>
            <a:stCxn id="15368" idx="3"/>
            <a:endCxn id="629834" idx="0"/>
          </p:cNvCxnSpPr>
          <p:nvPr/>
        </p:nvCxnSpPr>
        <p:spPr bwMode="auto">
          <a:xfrm flipH="1">
            <a:off x="1988344" y="4000500"/>
            <a:ext cx="210741" cy="400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3" name="AutoShape 110"/>
          <p:cNvCxnSpPr>
            <a:cxnSpLocks noChangeShapeType="1"/>
            <a:stCxn id="15369" idx="3"/>
            <a:endCxn id="629840" idx="0"/>
          </p:cNvCxnSpPr>
          <p:nvPr/>
        </p:nvCxnSpPr>
        <p:spPr bwMode="auto">
          <a:xfrm>
            <a:off x="2770585" y="4000500"/>
            <a:ext cx="17859" cy="400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4" name="AutoShape 111"/>
          <p:cNvCxnSpPr>
            <a:cxnSpLocks noChangeShapeType="1"/>
            <a:stCxn id="15370" idx="3"/>
            <a:endCxn id="629845" idx="0"/>
          </p:cNvCxnSpPr>
          <p:nvPr/>
        </p:nvCxnSpPr>
        <p:spPr bwMode="auto">
          <a:xfrm>
            <a:off x="3342085" y="4000500"/>
            <a:ext cx="246459" cy="400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5" name="AutoShape 112"/>
          <p:cNvCxnSpPr>
            <a:cxnSpLocks noChangeShapeType="1"/>
            <a:stCxn id="15383" idx="3"/>
            <a:endCxn id="629850" idx="0"/>
          </p:cNvCxnSpPr>
          <p:nvPr/>
        </p:nvCxnSpPr>
        <p:spPr bwMode="auto">
          <a:xfrm>
            <a:off x="4770835" y="3943350"/>
            <a:ext cx="17859" cy="342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6" name="AutoShape 113"/>
          <p:cNvCxnSpPr>
            <a:cxnSpLocks noChangeShapeType="1"/>
            <a:stCxn id="15384" idx="3"/>
            <a:endCxn id="629855" idx="0"/>
          </p:cNvCxnSpPr>
          <p:nvPr/>
        </p:nvCxnSpPr>
        <p:spPr bwMode="auto">
          <a:xfrm>
            <a:off x="5342335" y="3943350"/>
            <a:ext cx="17859" cy="342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7" name="AutoShape 114"/>
          <p:cNvCxnSpPr>
            <a:cxnSpLocks noChangeShapeType="1"/>
            <a:stCxn id="15385" idx="3"/>
            <a:endCxn id="629860" idx="0"/>
          </p:cNvCxnSpPr>
          <p:nvPr/>
        </p:nvCxnSpPr>
        <p:spPr bwMode="auto">
          <a:xfrm>
            <a:off x="5913835" y="3943350"/>
            <a:ext cx="17859" cy="342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9875" name="Freeform 115"/>
          <p:cNvSpPr>
            <a:spLocks/>
          </p:cNvSpPr>
          <p:nvPr/>
        </p:nvSpPr>
        <p:spPr bwMode="auto">
          <a:xfrm>
            <a:off x="2000251" y="2950369"/>
            <a:ext cx="860822" cy="1507331"/>
          </a:xfrm>
          <a:custGeom>
            <a:avLst/>
            <a:gdLst>
              <a:gd name="T0" fmla="*/ 723 w 723"/>
              <a:gd name="T1" fmla="*/ 0 h 1266"/>
              <a:gd name="T2" fmla="*/ 720 w 723"/>
              <a:gd name="T3" fmla="*/ 18 h 1266"/>
              <a:gd name="T4" fmla="*/ 192 w 723"/>
              <a:gd name="T5" fmla="*/ 738 h 1266"/>
              <a:gd name="T6" fmla="*/ 0 w 723"/>
              <a:gd name="T7" fmla="*/ 1266 h 1266"/>
              <a:gd name="T8" fmla="*/ 0 60000 65536"/>
              <a:gd name="T9" fmla="*/ 0 60000 65536"/>
              <a:gd name="T10" fmla="*/ 0 60000 65536"/>
              <a:gd name="T11" fmla="*/ 0 60000 65536"/>
              <a:gd name="T12" fmla="*/ 0 w 723"/>
              <a:gd name="T13" fmla="*/ 0 h 1266"/>
              <a:gd name="T14" fmla="*/ 723 w 723"/>
              <a:gd name="T15" fmla="*/ 1266 h 12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3" h="1266">
                <a:moveTo>
                  <a:pt x="723" y="0"/>
                </a:moveTo>
                <a:lnTo>
                  <a:pt x="720" y="18"/>
                </a:lnTo>
                <a:lnTo>
                  <a:pt x="192" y="738"/>
                </a:lnTo>
                <a:lnTo>
                  <a:pt x="0" y="1266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sp>
        <p:nvSpPr>
          <p:cNvPr id="629878" name="Freeform 118"/>
          <p:cNvSpPr>
            <a:spLocks/>
          </p:cNvSpPr>
          <p:nvPr/>
        </p:nvSpPr>
        <p:spPr bwMode="auto">
          <a:xfrm>
            <a:off x="2800351" y="3068241"/>
            <a:ext cx="60722" cy="1389459"/>
          </a:xfrm>
          <a:custGeom>
            <a:avLst/>
            <a:gdLst>
              <a:gd name="T0" fmla="*/ 51 w 51"/>
              <a:gd name="T1" fmla="*/ 0 h 1167"/>
              <a:gd name="T2" fmla="*/ 48 w 51"/>
              <a:gd name="T3" fmla="*/ 15 h 1167"/>
              <a:gd name="T4" fmla="*/ 48 w 51"/>
              <a:gd name="T5" fmla="*/ 591 h 1167"/>
              <a:gd name="T6" fmla="*/ 0 w 51"/>
              <a:gd name="T7" fmla="*/ 1167 h 1167"/>
              <a:gd name="T8" fmla="*/ 0 60000 65536"/>
              <a:gd name="T9" fmla="*/ 0 60000 65536"/>
              <a:gd name="T10" fmla="*/ 0 60000 65536"/>
              <a:gd name="T11" fmla="*/ 0 60000 65536"/>
              <a:gd name="T12" fmla="*/ 0 w 51"/>
              <a:gd name="T13" fmla="*/ 0 h 1167"/>
              <a:gd name="T14" fmla="*/ 51 w 51"/>
              <a:gd name="T15" fmla="*/ 1167 h 11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" h="1167">
                <a:moveTo>
                  <a:pt x="51" y="0"/>
                </a:moveTo>
                <a:lnTo>
                  <a:pt x="48" y="15"/>
                </a:lnTo>
                <a:lnTo>
                  <a:pt x="48" y="591"/>
                </a:lnTo>
                <a:lnTo>
                  <a:pt x="0" y="1167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sp>
        <p:nvSpPr>
          <p:cNvPr id="629879" name="Freeform 119"/>
          <p:cNvSpPr>
            <a:spLocks/>
          </p:cNvSpPr>
          <p:nvPr/>
        </p:nvSpPr>
        <p:spPr bwMode="auto">
          <a:xfrm>
            <a:off x="2882503" y="2971800"/>
            <a:ext cx="660797" cy="1428750"/>
          </a:xfrm>
          <a:custGeom>
            <a:avLst/>
            <a:gdLst>
              <a:gd name="T0" fmla="*/ 0 w 555"/>
              <a:gd name="T1" fmla="*/ 0 h 1200"/>
              <a:gd name="T2" fmla="*/ 267 w 555"/>
              <a:gd name="T3" fmla="*/ 96 h 1200"/>
              <a:gd name="T4" fmla="*/ 459 w 555"/>
              <a:gd name="T5" fmla="*/ 816 h 1200"/>
              <a:gd name="T6" fmla="*/ 555 w 555"/>
              <a:gd name="T7" fmla="*/ 1200 h 1200"/>
              <a:gd name="T8" fmla="*/ 0 60000 65536"/>
              <a:gd name="T9" fmla="*/ 0 60000 65536"/>
              <a:gd name="T10" fmla="*/ 0 60000 65536"/>
              <a:gd name="T11" fmla="*/ 0 60000 65536"/>
              <a:gd name="T12" fmla="*/ 0 w 555"/>
              <a:gd name="T13" fmla="*/ 0 h 1200"/>
              <a:gd name="T14" fmla="*/ 555 w 555"/>
              <a:gd name="T15" fmla="*/ 1200 h 1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5" h="1200">
                <a:moveTo>
                  <a:pt x="0" y="0"/>
                </a:moveTo>
                <a:lnTo>
                  <a:pt x="267" y="96"/>
                </a:lnTo>
                <a:lnTo>
                  <a:pt x="459" y="816"/>
                </a:lnTo>
                <a:lnTo>
                  <a:pt x="555" y="1200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sp>
        <p:nvSpPr>
          <p:cNvPr id="629883" name="Freeform 123"/>
          <p:cNvSpPr>
            <a:spLocks/>
          </p:cNvSpPr>
          <p:nvPr/>
        </p:nvSpPr>
        <p:spPr bwMode="auto">
          <a:xfrm>
            <a:off x="4800600" y="1760935"/>
            <a:ext cx="228600" cy="2582465"/>
          </a:xfrm>
          <a:custGeom>
            <a:avLst/>
            <a:gdLst>
              <a:gd name="T0" fmla="*/ 36 w 192"/>
              <a:gd name="T1" fmla="*/ 0 h 2169"/>
              <a:gd name="T2" fmla="*/ 45 w 192"/>
              <a:gd name="T3" fmla="*/ 0 h 2169"/>
              <a:gd name="T4" fmla="*/ 48 w 192"/>
              <a:gd name="T5" fmla="*/ 9 h 2169"/>
              <a:gd name="T6" fmla="*/ 192 w 192"/>
              <a:gd name="T7" fmla="*/ 1113 h 2169"/>
              <a:gd name="T8" fmla="*/ 0 w 192"/>
              <a:gd name="T9" fmla="*/ 1785 h 2169"/>
              <a:gd name="T10" fmla="*/ 0 w 192"/>
              <a:gd name="T11" fmla="*/ 2169 h 21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2"/>
              <a:gd name="T19" fmla="*/ 0 h 2169"/>
              <a:gd name="T20" fmla="*/ 192 w 192"/>
              <a:gd name="T21" fmla="*/ 2169 h 21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2" h="2169">
                <a:moveTo>
                  <a:pt x="36" y="0"/>
                </a:moveTo>
                <a:lnTo>
                  <a:pt x="45" y="0"/>
                </a:lnTo>
                <a:lnTo>
                  <a:pt x="48" y="9"/>
                </a:lnTo>
                <a:lnTo>
                  <a:pt x="192" y="1113"/>
                </a:lnTo>
                <a:lnTo>
                  <a:pt x="0" y="1785"/>
                </a:lnTo>
                <a:lnTo>
                  <a:pt x="0" y="2169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sp>
        <p:nvSpPr>
          <p:cNvPr id="629884" name="Freeform 124"/>
          <p:cNvSpPr>
            <a:spLocks/>
          </p:cNvSpPr>
          <p:nvPr/>
        </p:nvSpPr>
        <p:spPr bwMode="auto">
          <a:xfrm>
            <a:off x="5029200" y="3257550"/>
            <a:ext cx="400050" cy="1085850"/>
          </a:xfrm>
          <a:custGeom>
            <a:avLst/>
            <a:gdLst>
              <a:gd name="T0" fmla="*/ 0 w 336"/>
              <a:gd name="T1" fmla="*/ 0 h 912"/>
              <a:gd name="T2" fmla="*/ 336 w 336"/>
              <a:gd name="T3" fmla="*/ 384 h 912"/>
              <a:gd name="T4" fmla="*/ 240 w 336"/>
              <a:gd name="T5" fmla="*/ 912 h 912"/>
              <a:gd name="T6" fmla="*/ 0 60000 65536"/>
              <a:gd name="T7" fmla="*/ 0 60000 65536"/>
              <a:gd name="T8" fmla="*/ 0 60000 65536"/>
              <a:gd name="T9" fmla="*/ 0 w 336"/>
              <a:gd name="T10" fmla="*/ 0 h 912"/>
              <a:gd name="T11" fmla="*/ 336 w 336"/>
              <a:gd name="T12" fmla="*/ 912 h 9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912">
                <a:moveTo>
                  <a:pt x="0" y="0"/>
                </a:moveTo>
                <a:lnTo>
                  <a:pt x="336" y="384"/>
                </a:lnTo>
                <a:lnTo>
                  <a:pt x="240" y="912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sp>
        <p:nvSpPr>
          <p:cNvPr id="629885" name="Freeform 125"/>
          <p:cNvSpPr>
            <a:spLocks/>
          </p:cNvSpPr>
          <p:nvPr/>
        </p:nvSpPr>
        <p:spPr bwMode="auto">
          <a:xfrm>
            <a:off x="5029200" y="3257550"/>
            <a:ext cx="971550" cy="1028700"/>
          </a:xfrm>
          <a:custGeom>
            <a:avLst/>
            <a:gdLst>
              <a:gd name="T0" fmla="*/ 0 w 816"/>
              <a:gd name="T1" fmla="*/ 0 h 864"/>
              <a:gd name="T2" fmla="*/ 816 w 816"/>
              <a:gd name="T3" fmla="*/ 384 h 864"/>
              <a:gd name="T4" fmla="*/ 720 w 816"/>
              <a:gd name="T5" fmla="*/ 864 h 864"/>
              <a:gd name="T6" fmla="*/ 0 60000 65536"/>
              <a:gd name="T7" fmla="*/ 0 60000 65536"/>
              <a:gd name="T8" fmla="*/ 0 60000 65536"/>
              <a:gd name="T9" fmla="*/ 0 w 816"/>
              <a:gd name="T10" fmla="*/ 0 h 864"/>
              <a:gd name="T11" fmla="*/ 816 w 81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864">
                <a:moveTo>
                  <a:pt x="0" y="0"/>
                </a:moveTo>
                <a:lnTo>
                  <a:pt x="816" y="384"/>
                </a:lnTo>
                <a:lnTo>
                  <a:pt x="720" y="864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sp>
        <p:nvSpPr>
          <p:cNvPr id="629888" name="Line 128"/>
          <p:cNvSpPr>
            <a:spLocks noChangeShapeType="1"/>
          </p:cNvSpPr>
          <p:nvPr/>
        </p:nvSpPr>
        <p:spPr bwMode="auto">
          <a:xfrm>
            <a:off x="2343150" y="2400300"/>
            <a:ext cx="514350" cy="571500"/>
          </a:xfrm>
          <a:prstGeom prst="line">
            <a:avLst/>
          </a:pr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629889" name="Freeform 129"/>
          <p:cNvSpPr>
            <a:spLocks/>
          </p:cNvSpPr>
          <p:nvPr/>
        </p:nvSpPr>
        <p:spPr bwMode="auto">
          <a:xfrm>
            <a:off x="4857750" y="1657350"/>
            <a:ext cx="2743200" cy="571500"/>
          </a:xfrm>
          <a:custGeom>
            <a:avLst/>
            <a:gdLst>
              <a:gd name="T0" fmla="*/ 0 w 2304"/>
              <a:gd name="T1" fmla="*/ 144 h 480"/>
              <a:gd name="T2" fmla="*/ 1104 w 2304"/>
              <a:gd name="T3" fmla="*/ 480 h 480"/>
              <a:gd name="T4" fmla="*/ 1968 w 2304"/>
              <a:gd name="T5" fmla="*/ 192 h 480"/>
              <a:gd name="T6" fmla="*/ 2304 w 2304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2304"/>
              <a:gd name="T13" fmla="*/ 0 h 480"/>
              <a:gd name="T14" fmla="*/ 2304 w 2304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04" h="480">
                <a:moveTo>
                  <a:pt x="0" y="144"/>
                </a:moveTo>
                <a:lnTo>
                  <a:pt x="1104" y="480"/>
                </a:lnTo>
                <a:lnTo>
                  <a:pt x="1968" y="192"/>
                </a:lnTo>
                <a:lnTo>
                  <a:pt x="2304" y="0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sp>
        <p:nvSpPr>
          <p:cNvPr id="629891" name="Line 131"/>
          <p:cNvSpPr>
            <a:spLocks noChangeShapeType="1"/>
          </p:cNvSpPr>
          <p:nvPr/>
        </p:nvSpPr>
        <p:spPr bwMode="auto">
          <a:xfrm flipV="1">
            <a:off x="2800350" y="1771650"/>
            <a:ext cx="2057400" cy="1085850"/>
          </a:xfrm>
          <a:prstGeom prst="line">
            <a:avLst/>
          </a:pr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5437" name="Rectangle 134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6858000" cy="85725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zh-TW" sz="3000" dirty="0">
                <a:ea typeface="新細明體" panose="02020500000000000000" pitchFamily="18" charset="-120"/>
              </a:rPr>
              <a:t>Example Experiment at the flow level</a:t>
            </a:r>
            <a:br>
              <a:rPr lang="en-US" altLang="zh-TW" sz="3000" dirty="0">
                <a:ea typeface="新細明體" panose="02020500000000000000" pitchFamily="18" charset="-120"/>
              </a:rPr>
            </a:br>
            <a:r>
              <a:rPr lang="en-US" altLang="zh-TW" sz="2400" i="1" dirty="0">
                <a:ea typeface="新細明體" panose="02020500000000000000" pitchFamily="18" charset="-120"/>
              </a:rPr>
              <a:t>Mobility</a:t>
            </a:r>
          </a:p>
        </p:txBody>
      </p:sp>
      <p:sp>
        <p:nvSpPr>
          <p:cNvPr id="629895" name="Rectangle 135"/>
          <p:cNvSpPr>
            <a:spLocks noChangeArrowheads="1"/>
          </p:cNvSpPr>
          <p:nvPr/>
        </p:nvSpPr>
        <p:spPr bwMode="auto">
          <a:xfrm>
            <a:off x="3429000" y="2400300"/>
            <a:ext cx="3143250" cy="1428750"/>
          </a:xfrm>
          <a:prstGeom prst="rect">
            <a:avLst/>
          </a:prstGeom>
          <a:solidFill>
            <a:srgbClr val="66FFFF"/>
          </a:solidFill>
          <a:ln>
            <a:noFill/>
          </a:ln>
          <a:effectLst>
            <a:prstShdw prst="shdw17" dist="17961" dir="2700000">
              <a:srgbClr val="3D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500">
                <a:ea typeface="新細明體" panose="02020500000000000000" pitchFamily="18" charset="-120"/>
              </a:rPr>
              <a:t>Lots of interesting questions</a:t>
            </a:r>
          </a:p>
          <a:p>
            <a:pPr eaLnBrk="1" hangingPunct="1"/>
            <a:endParaRPr lang="en-US" altLang="zh-TW" sz="1500">
              <a:ea typeface="新細明體" panose="02020500000000000000" pitchFamily="18" charset="-120"/>
            </a:endParaRPr>
          </a:p>
          <a:p>
            <a:pPr eaLnBrk="1" hangingPunct="1">
              <a:buFontTx/>
              <a:buChar char="•"/>
            </a:pPr>
            <a:r>
              <a:rPr lang="en-US" altLang="zh-TW" sz="1350">
                <a:solidFill>
                  <a:schemeClr val="accent2"/>
                </a:solidFill>
                <a:ea typeface="新細明體" panose="02020500000000000000" pitchFamily="18" charset="-120"/>
              </a:rPr>
              <a:t> Management of flows</a:t>
            </a:r>
          </a:p>
          <a:p>
            <a:pPr eaLnBrk="1" hangingPunct="1">
              <a:buFontTx/>
              <a:buChar char="•"/>
            </a:pPr>
            <a:r>
              <a:rPr lang="en-US" altLang="zh-TW" sz="1350">
                <a:solidFill>
                  <a:schemeClr val="accent2"/>
                </a:solidFill>
                <a:ea typeface="新細明體" panose="02020500000000000000" pitchFamily="18" charset="-120"/>
              </a:rPr>
              <a:t> Control of switches</a:t>
            </a:r>
          </a:p>
          <a:p>
            <a:pPr eaLnBrk="1" hangingPunct="1">
              <a:buFontTx/>
              <a:buChar char="•"/>
            </a:pPr>
            <a:r>
              <a:rPr lang="en-US" altLang="zh-TW" sz="1350">
                <a:solidFill>
                  <a:schemeClr val="accent2"/>
                </a:solidFill>
                <a:ea typeface="新細明體" panose="02020500000000000000" pitchFamily="18" charset="-120"/>
              </a:rPr>
              <a:t> Access control of users and devices</a:t>
            </a:r>
          </a:p>
          <a:p>
            <a:pPr eaLnBrk="1" hangingPunct="1">
              <a:buFontTx/>
              <a:buChar char="•"/>
            </a:pPr>
            <a:r>
              <a:rPr lang="en-US" altLang="zh-TW" sz="1350">
                <a:solidFill>
                  <a:schemeClr val="accent2"/>
                </a:solidFill>
                <a:ea typeface="新細明體" panose="02020500000000000000" pitchFamily="18" charset="-120"/>
              </a:rPr>
              <a:t> Tracking user location and motion</a:t>
            </a:r>
          </a:p>
        </p:txBody>
      </p:sp>
    </p:spTree>
    <p:extLst>
      <p:ext uri="{BB962C8B-B14F-4D97-AF65-F5344CB8AC3E}">
        <p14:creationId xmlns:p14="http://schemas.microsoft.com/office/powerpoint/2010/main" val="268219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98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0.1 -4.44444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629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98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 -4.44444E-6 L 0.21666 -4.44444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629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33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98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6 -4.44444E-6 L 0.48333 -4.44444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629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33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629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298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298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333 -4.21965E-6 C 0.54548 0.00648 0.60781 0.01295 0.65208 0.0044 C 0.69635 -0.00439 0.72222 -0.01618 0.74878 -0.05225 C 0.77534 -0.08855 0.79791 -0.13711 0.81111 -0.21387 C 0.8243 -0.29063 0.82586 -0.40185 0.8276 -0.51306 " pathEditMode="relative" ptsTypes="aaaaA">
                                      <p:cBhvr>
                                        <p:cTn id="55" dur="1000" fill="hold"/>
                                        <p:tgtEl>
                                          <p:spTgt spid="629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2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875" grpId="0" animBg="1"/>
      <p:bldP spid="629878" grpId="0" animBg="1"/>
      <p:bldP spid="629879" grpId="0" animBg="1"/>
      <p:bldP spid="629883" grpId="0" animBg="1"/>
      <p:bldP spid="629883" grpId="1" animBg="1"/>
      <p:bldP spid="629884" grpId="0" animBg="1"/>
      <p:bldP spid="629884" grpId="1" animBg="1"/>
      <p:bldP spid="629885" grpId="0" animBg="1"/>
      <p:bldP spid="629885" grpId="1" animBg="1"/>
      <p:bldP spid="629888" grpId="0" animBg="1"/>
      <p:bldP spid="629889" grpId="0" animBg="1"/>
      <p:bldP spid="629891" grpId="0" animBg="1"/>
      <p:bldP spid="62989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2" descr="co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3074194"/>
            <a:ext cx="857250" cy="64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3" descr="co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131344"/>
            <a:ext cx="857250" cy="64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389" name="AutoShape 4"/>
          <p:cNvCxnSpPr>
            <a:cxnSpLocks noChangeShapeType="1"/>
            <a:endCxn id="16392" idx="1"/>
          </p:cNvCxnSpPr>
          <p:nvPr/>
        </p:nvCxnSpPr>
        <p:spPr bwMode="auto">
          <a:xfrm flipV="1">
            <a:off x="5250657" y="1324363"/>
            <a:ext cx="1264443" cy="196066"/>
          </a:xfrm>
          <a:prstGeom prst="straightConnector1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0" name="Text Box 5"/>
          <p:cNvSpPr txBox="1">
            <a:spLocks noChangeArrowheads="1"/>
          </p:cNvSpPr>
          <p:nvPr/>
        </p:nvSpPr>
        <p:spPr bwMode="auto">
          <a:xfrm>
            <a:off x="6114389" y="683419"/>
            <a:ext cx="100502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TW" sz="15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Controller</a:t>
            </a:r>
          </a:p>
        </p:txBody>
      </p:sp>
      <p:pic>
        <p:nvPicPr>
          <p:cNvPr id="16391" name="Picture 6" descr="MCj0431616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694" y="973932"/>
            <a:ext cx="602456" cy="683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 Box 7"/>
          <p:cNvSpPr txBox="1">
            <a:spLocks noChangeArrowheads="1"/>
          </p:cNvSpPr>
          <p:nvPr/>
        </p:nvSpPr>
        <p:spPr bwMode="auto">
          <a:xfrm>
            <a:off x="6515100" y="1185863"/>
            <a:ext cx="3978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200">
                <a:solidFill>
                  <a:schemeClr val="bg1"/>
                </a:solidFill>
                <a:ea typeface="新細明體" panose="02020500000000000000" pitchFamily="18" charset="-120"/>
              </a:rPr>
              <a:t>PC</a:t>
            </a:r>
          </a:p>
        </p:txBody>
      </p:sp>
      <p:sp>
        <p:nvSpPr>
          <p:cNvPr id="16393" name="Line 8"/>
          <p:cNvSpPr>
            <a:spLocks noChangeShapeType="1"/>
          </p:cNvSpPr>
          <p:nvPr/>
        </p:nvSpPr>
        <p:spPr bwMode="auto">
          <a:xfrm>
            <a:off x="5154216" y="2788444"/>
            <a:ext cx="1017984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6394" name="Line 9"/>
          <p:cNvSpPr>
            <a:spLocks noChangeShapeType="1"/>
          </p:cNvSpPr>
          <p:nvPr/>
        </p:nvSpPr>
        <p:spPr bwMode="auto">
          <a:xfrm flipV="1">
            <a:off x="2857500" y="2731294"/>
            <a:ext cx="1268016" cy="571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6395" name="Rectangle 10"/>
          <p:cNvSpPr>
            <a:spLocks noChangeArrowheads="1"/>
          </p:cNvSpPr>
          <p:nvPr/>
        </p:nvSpPr>
        <p:spPr bwMode="auto">
          <a:xfrm>
            <a:off x="3486150" y="3645694"/>
            <a:ext cx="2000250" cy="1257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  <p:pic>
        <p:nvPicPr>
          <p:cNvPr id="16396" name="Picture 2" descr="NetFPGA_system_tiny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4045744"/>
            <a:ext cx="1028700" cy="69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7" name="Text Box 28"/>
          <p:cNvSpPr txBox="1">
            <a:spLocks noChangeArrowheads="1"/>
          </p:cNvSpPr>
          <p:nvPr/>
        </p:nvSpPr>
        <p:spPr bwMode="auto">
          <a:xfrm>
            <a:off x="4343400" y="4685110"/>
            <a:ext cx="92525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350">
                <a:ea typeface="新細明體" panose="02020500000000000000" pitchFamily="18" charset="-120"/>
              </a:rPr>
              <a:t>NetFPGA</a:t>
            </a:r>
          </a:p>
        </p:txBody>
      </p:sp>
      <p:sp>
        <p:nvSpPr>
          <p:cNvPr id="16398" name="Text Box 13"/>
          <p:cNvSpPr txBox="1">
            <a:spLocks noChangeArrowheads="1"/>
          </p:cNvSpPr>
          <p:nvPr/>
        </p:nvSpPr>
        <p:spPr bwMode="auto">
          <a:xfrm>
            <a:off x="3429000" y="3588544"/>
            <a:ext cx="108876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350" b="1">
                <a:solidFill>
                  <a:schemeClr val="bg1"/>
                </a:solidFill>
                <a:ea typeface="新細明體" panose="02020500000000000000" pitchFamily="18" charset="-120"/>
              </a:rPr>
              <a:t>Laboratory</a:t>
            </a:r>
          </a:p>
        </p:txBody>
      </p:sp>
      <p:sp>
        <p:nvSpPr>
          <p:cNvPr id="16399" name="Line 14"/>
          <p:cNvSpPr>
            <a:spLocks noChangeShapeType="1"/>
          </p:cNvSpPr>
          <p:nvPr/>
        </p:nvSpPr>
        <p:spPr bwMode="auto">
          <a:xfrm flipH="1" flipV="1">
            <a:off x="4554141" y="2788444"/>
            <a:ext cx="17859" cy="13144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6400" name="Line 15"/>
          <p:cNvSpPr>
            <a:spLocks noChangeShapeType="1"/>
          </p:cNvSpPr>
          <p:nvPr/>
        </p:nvSpPr>
        <p:spPr bwMode="auto">
          <a:xfrm flipH="1" flipV="1">
            <a:off x="4839891" y="2845594"/>
            <a:ext cx="17859" cy="13144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50"/>
          </a:p>
        </p:txBody>
      </p:sp>
      <p:sp>
        <p:nvSpPr>
          <p:cNvPr id="16401" name="Rectangle 30"/>
          <p:cNvSpPr>
            <a:spLocks noGrp="1" noChangeArrowheads="1"/>
          </p:cNvSpPr>
          <p:nvPr>
            <p:ph type="title"/>
          </p:nvPr>
        </p:nvSpPr>
        <p:spPr>
          <a:xfrm>
            <a:off x="1485900" y="-57150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Experiments at the packet level</a:t>
            </a:r>
          </a:p>
        </p:txBody>
      </p:sp>
      <p:grpSp>
        <p:nvGrpSpPr>
          <p:cNvPr id="16402" name="Group 31"/>
          <p:cNvGrpSpPr>
            <a:grpSpLocks/>
          </p:cNvGrpSpPr>
          <p:nvPr/>
        </p:nvGrpSpPr>
        <p:grpSpPr bwMode="auto">
          <a:xfrm>
            <a:off x="3886200" y="1257300"/>
            <a:ext cx="1541860" cy="1684735"/>
            <a:chOff x="1486" y="3679"/>
            <a:chExt cx="1295" cy="1415"/>
          </a:xfrm>
        </p:grpSpPr>
        <p:sp>
          <p:nvSpPr>
            <p:cNvPr id="562208" name="AutoShape 32"/>
            <p:cNvSpPr>
              <a:spLocks noChangeArrowheads="1"/>
            </p:cNvSpPr>
            <p:nvPr/>
          </p:nvSpPr>
          <p:spPr bwMode="auto">
            <a:xfrm>
              <a:off x="1486" y="3679"/>
              <a:ext cx="1295" cy="1415"/>
            </a:xfrm>
            <a:prstGeom prst="can">
              <a:avLst>
                <a:gd name="adj" fmla="val 37839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zh-TW" altLang="zh-TW" sz="900"/>
            </a:p>
          </p:txBody>
        </p:sp>
        <p:sp>
          <p:nvSpPr>
            <p:cNvPr id="16405" name="Text Box 33"/>
            <p:cNvSpPr txBox="1">
              <a:spLocks noChangeArrowheads="1"/>
            </p:cNvSpPr>
            <p:nvPr/>
          </p:nvSpPr>
          <p:spPr bwMode="auto">
            <a:xfrm>
              <a:off x="1510" y="3750"/>
              <a:ext cx="123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1200">
                  <a:solidFill>
                    <a:srgbClr val="CC0000"/>
                  </a:solidFill>
                  <a:latin typeface="Tahoma" panose="020B0604030504040204" pitchFamily="34" charset="0"/>
                  <a:ea typeface="新細明體" panose="02020500000000000000" pitchFamily="18" charset="-120"/>
                </a:rPr>
                <a:t>OpenFlow-enabled</a:t>
              </a:r>
            </a:p>
            <a:p>
              <a:pPr algn="ctr" eaLnBrk="1" hangingPunct="1"/>
              <a:r>
                <a:rPr lang="en-US" altLang="zh-TW" sz="1200">
                  <a:solidFill>
                    <a:srgbClr val="CC0000"/>
                  </a:solidFill>
                  <a:latin typeface="Tahoma" panose="020B0604030504040204" pitchFamily="34" charset="0"/>
                  <a:ea typeface="新細明體" panose="02020500000000000000" pitchFamily="18" charset="-120"/>
                </a:rPr>
                <a:t>Commercial Switch</a:t>
              </a:r>
            </a:p>
          </p:txBody>
        </p:sp>
        <p:sp>
          <p:nvSpPr>
            <p:cNvPr id="16406" name="Rectangle 34"/>
            <p:cNvSpPr>
              <a:spLocks noChangeArrowheads="1"/>
            </p:cNvSpPr>
            <p:nvPr/>
          </p:nvSpPr>
          <p:spPr bwMode="auto">
            <a:xfrm>
              <a:off x="2325" y="4292"/>
              <a:ext cx="358" cy="64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562211" name="Rectangle 35"/>
            <p:cNvSpPr>
              <a:spLocks noChangeArrowheads="1"/>
            </p:cNvSpPr>
            <p:nvPr/>
          </p:nvSpPr>
          <p:spPr bwMode="auto">
            <a:xfrm>
              <a:off x="2353" y="4655"/>
              <a:ext cx="299" cy="242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750">
                  <a:latin typeface="Arial" charset="0"/>
                </a:rPr>
                <a:t>Flow</a:t>
              </a:r>
            </a:p>
            <a:p>
              <a:pPr algn="ctr">
                <a:defRPr/>
              </a:pPr>
              <a:r>
                <a:rPr lang="en-US" sz="750">
                  <a:latin typeface="Arial" charset="0"/>
                </a:rPr>
                <a:t>Table</a:t>
              </a:r>
            </a:p>
          </p:txBody>
        </p:sp>
        <p:sp>
          <p:nvSpPr>
            <p:cNvPr id="562212" name="Rectangle 36"/>
            <p:cNvSpPr>
              <a:spLocks noChangeArrowheads="1"/>
            </p:cNvSpPr>
            <p:nvPr/>
          </p:nvSpPr>
          <p:spPr bwMode="auto">
            <a:xfrm>
              <a:off x="2353" y="4333"/>
              <a:ext cx="302" cy="242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750">
                  <a:latin typeface="Arial" charset="0"/>
                </a:rPr>
                <a:t>Secure</a:t>
              </a:r>
            </a:p>
            <a:p>
              <a:pPr algn="ctr">
                <a:defRPr/>
              </a:pPr>
              <a:r>
                <a:rPr lang="en-US" sz="675">
                  <a:latin typeface="Arial" charset="0"/>
                </a:rPr>
                <a:t>Channel</a:t>
              </a:r>
            </a:p>
          </p:txBody>
        </p:sp>
        <p:sp>
          <p:nvSpPr>
            <p:cNvPr id="16409" name="Rectangle 37"/>
            <p:cNvSpPr>
              <a:spLocks noChangeArrowheads="1"/>
            </p:cNvSpPr>
            <p:nvPr/>
          </p:nvSpPr>
          <p:spPr bwMode="auto">
            <a:xfrm>
              <a:off x="1581" y="4218"/>
              <a:ext cx="606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 sz="1350"/>
            </a:p>
          </p:txBody>
        </p:sp>
        <p:sp>
          <p:nvSpPr>
            <p:cNvPr id="16410" name="Line 38"/>
            <p:cNvSpPr>
              <a:spLocks noChangeShapeType="1"/>
            </p:cNvSpPr>
            <p:nvPr/>
          </p:nvSpPr>
          <p:spPr bwMode="auto">
            <a:xfrm>
              <a:off x="1581" y="4618"/>
              <a:ext cx="11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6411" name="Text Box 39"/>
            <p:cNvSpPr txBox="1">
              <a:spLocks noChangeArrowheads="1"/>
            </p:cNvSpPr>
            <p:nvPr/>
          </p:nvSpPr>
          <p:spPr bwMode="auto">
            <a:xfrm>
              <a:off x="1579" y="4291"/>
              <a:ext cx="602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050">
                  <a:ea typeface="新細明體" panose="02020500000000000000" pitchFamily="18" charset="-120"/>
                </a:rPr>
                <a:t>Normal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lang="en-US" altLang="zh-TW" sz="1050">
                  <a:ea typeface="新細明體" panose="02020500000000000000" pitchFamily="18" charset="-120"/>
                </a:rPr>
                <a:t>Software</a:t>
              </a:r>
            </a:p>
          </p:txBody>
        </p:sp>
        <p:sp>
          <p:nvSpPr>
            <p:cNvPr id="16412" name="Text Box 40"/>
            <p:cNvSpPr txBox="1">
              <a:spLocks noChangeArrowheads="1"/>
            </p:cNvSpPr>
            <p:nvPr/>
          </p:nvSpPr>
          <p:spPr bwMode="auto">
            <a:xfrm>
              <a:off x="1570" y="4618"/>
              <a:ext cx="61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1050">
                  <a:ea typeface="新細明體" panose="02020500000000000000" pitchFamily="18" charset="-120"/>
                </a:rPr>
                <a:t>Normal</a:t>
              </a:r>
            </a:p>
            <a:p>
              <a:pPr algn="ctr" eaLnBrk="1" hangingPunct="1"/>
              <a:r>
                <a:rPr lang="en-US" altLang="zh-TW" sz="1050">
                  <a:ea typeface="新細明體" panose="02020500000000000000" pitchFamily="18" charset="-120"/>
                </a:rPr>
                <a:t>Datapath</a:t>
              </a:r>
            </a:p>
          </p:txBody>
        </p:sp>
      </p:grpSp>
      <p:sp>
        <p:nvSpPr>
          <p:cNvPr id="16403" name="Freeform 29"/>
          <p:cNvSpPr>
            <a:spLocks/>
          </p:cNvSpPr>
          <p:nvPr/>
        </p:nvSpPr>
        <p:spPr bwMode="auto">
          <a:xfrm>
            <a:off x="2857500" y="2455069"/>
            <a:ext cx="3429000" cy="1962150"/>
          </a:xfrm>
          <a:custGeom>
            <a:avLst/>
            <a:gdLst>
              <a:gd name="T0" fmla="*/ 2880 w 2880"/>
              <a:gd name="T1" fmla="*/ 616 h 1648"/>
              <a:gd name="T2" fmla="*/ 1872 w 2880"/>
              <a:gd name="T3" fmla="*/ 136 h 1648"/>
              <a:gd name="T4" fmla="*/ 1728 w 2880"/>
              <a:gd name="T5" fmla="*/ 1432 h 1648"/>
              <a:gd name="T6" fmla="*/ 1488 w 2880"/>
              <a:gd name="T7" fmla="*/ 1432 h 1648"/>
              <a:gd name="T8" fmla="*/ 1488 w 2880"/>
              <a:gd name="T9" fmla="*/ 328 h 1648"/>
              <a:gd name="T10" fmla="*/ 1728 w 2880"/>
              <a:gd name="T11" fmla="*/ 88 h 1648"/>
              <a:gd name="T12" fmla="*/ 0 w 2880"/>
              <a:gd name="T13" fmla="*/ 808 h 16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0"/>
              <a:gd name="T22" fmla="*/ 0 h 1648"/>
              <a:gd name="T23" fmla="*/ 2880 w 2880"/>
              <a:gd name="T24" fmla="*/ 1648 h 16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0" h="1648">
                <a:moveTo>
                  <a:pt x="2880" y="616"/>
                </a:moveTo>
                <a:cubicBezTo>
                  <a:pt x="2472" y="308"/>
                  <a:pt x="2064" y="0"/>
                  <a:pt x="1872" y="136"/>
                </a:cubicBezTo>
                <a:cubicBezTo>
                  <a:pt x="1680" y="272"/>
                  <a:pt x="1792" y="1216"/>
                  <a:pt x="1728" y="1432"/>
                </a:cubicBezTo>
                <a:cubicBezTo>
                  <a:pt x="1664" y="1648"/>
                  <a:pt x="1528" y="1616"/>
                  <a:pt x="1488" y="1432"/>
                </a:cubicBezTo>
                <a:cubicBezTo>
                  <a:pt x="1448" y="1248"/>
                  <a:pt x="1448" y="552"/>
                  <a:pt x="1488" y="328"/>
                </a:cubicBezTo>
                <a:cubicBezTo>
                  <a:pt x="1528" y="104"/>
                  <a:pt x="1976" y="8"/>
                  <a:pt x="1728" y="88"/>
                </a:cubicBezTo>
                <a:cubicBezTo>
                  <a:pt x="1480" y="168"/>
                  <a:pt x="740" y="488"/>
                  <a:pt x="0" y="808"/>
                </a:cubicBezTo>
              </a:path>
            </a:pathLst>
          </a:custGeom>
          <a:noFill/>
          <a:ln w="38100" cap="rnd">
            <a:solidFill>
              <a:srgbClr val="FF33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 sz="1350"/>
          </a:p>
        </p:txBody>
      </p:sp>
    </p:spTree>
    <p:extLst>
      <p:ext uri="{BB962C8B-B14F-4D97-AF65-F5344CB8AC3E}">
        <p14:creationId xmlns:p14="http://schemas.microsoft.com/office/powerpoint/2010/main" val="29820752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err="1">
                <a:ea typeface="新細明體" panose="02020500000000000000" pitchFamily="18" charset="-120"/>
              </a:rPr>
              <a:t>OpenFlow</a:t>
            </a:r>
            <a:r>
              <a:rPr lang="en-US" altLang="zh-TW" dirty="0">
                <a:ea typeface="新細明體" panose="02020500000000000000" pitchFamily="18" charset="-120"/>
              </a:rPr>
              <a:t> Usage Models(2/2)</a:t>
            </a:r>
          </a:p>
        </p:txBody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1063228"/>
            <a:ext cx="6172200" cy="362307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ea typeface="新細明體" panose="02020500000000000000" pitchFamily="18" charset="-120"/>
              </a:rPr>
              <a:t>Experiments at the flow level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ea typeface="新細明體" panose="02020500000000000000" pitchFamily="18" charset="-120"/>
              </a:rPr>
              <a:t>Experiments at the packet level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Alternatives to IP</a:t>
            </a:r>
          </a:p>
          <a:p>
            <a:pPr marL="771525" lvl="1" indent="-257175"/>
            <a:r>
              <a:rPr lang="en-US" altLang="zh-TW" dirty="0">
                <a:ea typeface="新細明體" panose="02020500000000000000" pitchFamily="18" charset="-120"/>
              </a:rPr>
              <a:t>Flow-table is Layer-2 based</a:t>
            </a:r>
          </a:p>
          <a:p>
            <a:pPr marL="771525" lvl="1" indent="-257175"/>
            <a:r>
              <a:rPr lang="en-US" altLang="zh-TW" dirty="0">
                <a:ea typeface="新細明體" panose="02020500000000000000" pitchFamily="18" charset="-120"/>
              </a:rPr>
              <a:t>e.g. new naming and addressing schemes</a:t>
            </a:r>
          </a:p>
          <a:p>
            <a:pPr marL="771525" lvl="1" indent="-257175"/>
            <a:r>
              <a:rPr lang="en-US" altLang="zh-TW" dirty="0">
                <a:ea typeface="新細明體" panose="02020500000000000000" pitchFamily="18" charset="-12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4782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39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29612"/>
            <a:ext cx="5829300" cy="1975564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Switching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Usage models </a:t>
            </a:r>
          </a:p>
          <a:p>
            <a:r>
              <a:rPr lang="en-US" altLang="zh-TW" dirty="0"/>
              <a:t>Virtualizing </a:t>
            </a:r>
            <a:r>
              <a:rPr lang="en-US" altLang="zh-TW" dirty="0" err="1"/>
              <a:t>OpenFlow</a:t>
            </a:r>
            <a:endParaRPr lang="en-US" altLang="zh-TW" dirty="0"/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FlowVisor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-based Virtualization</a:t>
            </a: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references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705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Operators “Delegate” control of subsets of network hardware and/or traffic to other Network Operators or Users</a:t>
            </a:r>
          </a:p>
          <a:p>
            <a:r>
              <a:rPr lang="en-US" dirty="0"/>
              <a:t>Multiple Controllers can talk to same set of switches</a:t>
            </a:r>
          </a:p>
          <a:p>
            <a:r>
              <a:rPr lang="en-US" dirty="0"/>
              <a:t>Imagine a </a:t>
            </a:r>
            <a:r>
              <a:rPr lang="en-US" dirty="0">
                <a:solidFill>
                  <a:srgbClr val="FF0000"/>
                </a:solidFill>
              </a:rPr>
              <a:t>Hypervisor</a:t>
            </a:r>
            <a:r>
              <a:rPr lang="en-US" dirty="0"/>
              <a:t> for network equipment</a:t>
            </a:r>
          </a:p>
          <a:p>
            <a:r>
              <a:rPr lang="en-US" dirty="0"/>
              <a:t>Allows experiments to be run on the network in isolation of each other and production traffic</a:t>
            </a:r>
          </a:p>
        </p:txBody>
      </p:sp>
    </p:spTree>
    <p:extLst>
      <p:ext uri="{BB962C8B-B14F-4D97-AF65-F5344CB8AC3E}">
        <p14:creationId xmlns:p14="http://schemas.microsoft.com/office/powerpoint/2010/main" val="24385233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77"/>
          <p:cNvSpPr/>
          <p:nvPr/>
        </p:nvSpPr>
        <p:spPr>
          <a:xfrm>
            <a:off x="1428750" y="1114425"/>
            <a:ext cx="2800350" cy="28003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754257" y="2061067"/>
            <a:ext cx="775253" cy="54422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Windows</a:t>
            </a:r>
          </a:p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05803" y="2110542"/>
            <a:ext cx="775253" cy="54422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Windows</a:t>
            </a:r>
          </a:p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74868" y="2061067"/>
            <a:ext cx="484533" cy="544224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04761" y="2061067"/>
            <a:ext cx="484533" cy="544224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Mac</a:t>
            </a:r>
          </a:p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38789" y="3198989"/>
            <a:ext cx="1211332" cy="544224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1200" b="1">
                <a:solidFill>
                  <a:schemeClr val="bg1"/>
                </a:solidFill>
              </a:rPr>
              <a:t>x86</a:t>
            </a:r>
          </a:p>
          <a:p>
            <a:pPr algn="ctr">
              <a:defRPr/>
            </a:pPr>
            <a:r>
              <a:rPr lang="en-US" sz="1200" b="1">
                <a:solidFill>
                  <a:schemeClr val="bg1"/>
                </a:solidFill>
              </a:rPr>
              <a:t>(Computer)</a:t>
            </a:r>
            <a:endParaRPr lang="en-US" sz="1050" b="1">
              <a:solidFill>
                <a:schemeClr val="bg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657350" y="2160017"/>
            <a:ext cx="775253" cy="54422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Windows</a:t>
            </a:r>
          </a:p>
          <a:p>
            <a:pPr>
              <a:defRPr/>
            </a:pPr>
            <a:r>
              <a:rPr lang="en-US" sz="105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04761" y="1566319"/>
            <a:ext cx="484533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02710" y="1566319"/>
            <a:ext cx="581439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26415" y="2110542"/>
            <a:ext cx="484533" cy="544224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77962" y="2160017"/>
            <a:ext cx="484533" cy="544224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56308" y="2110542"/>
            <a:ext cx="484533" cy="544224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Mac</a:t>
            </a:r>
          </a:p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7854" y="2160017"/>
            <a:ext cx="484533" cy="544224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Mac</a:t>
            </a:r>
          </a:p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57350" y="2753715"/>
            <a:ext cx="2228850" cy="395799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1500" dirty="0">
                <a:solidFill>
                  <a:schemeClr val="tx1"/>
                </a:solidFill>
              </a:rPr>
              <a:t>Virtualization layer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26415" y="1566319"/>
            <a:ext cx="484533" cy="445274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</a:rPr>
              <a:t>App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286250" y="1114425"/>
            <a:ext cx="3486150" cy="3081382"/>
            <a:chOff x="4191000" y="990600"/>
            <a:chExt cx="4648200" cy="4108509"/>
          </a:xfrm>
        </p:grpSpPr>
        <p:sp>
          <p:nvSpPr>
            <p:cNvPr id="79" name="Rounded Rectangle 78"/>
            <p:cNvSpPr/>
            <p:nvPr/>
          </p:nvSpPr>
          <p:spPr>
            <a:xfrm>
              <a:off x="4876800" y="990600"/>
              <a:ext cx="3962400" cy="3733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350">
                <a:solidFill>
                  <a:srgbClr val="FFFFFF"/>
                </a:solidFill>
              </a:endParaRP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5181600" y="2120062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Controller 1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7530548" y="1371600"/>
              <a:ext cx="646044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9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5527813" y="1371600"/>
              <a:ext cx="775252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9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7239000" y="21336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Controller</a:t>
              </a:r>
            </a:p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5029199" y="3107196"/>
              <a:ext cx="3706813" cy="52773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r>
                <a:rPr lang="en-US" sz="1500" dirty="0">
                  <a:solidFill>
                    <a:schemeClr val="tx1"/>
                  </a:solidFill>
                </a:rPr>
                <a:t>Virtualization or “Slicing”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6626087" y="1371600"/>
              <a:ext cx="646044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9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5547691" y="3770168"/>
              <a:ext cx="1615109" cy="725632"/>
            </a:xfrm>
            <a:prstGeom prst="roundRect">
              <a:avLst/>
            </a:prstGeom>
            <a:solidFill>
              <a:srgbClr val="00009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1200" b="1">
                  <a:solidFill>
                    <a:schemeClr val="bg1"/>
                  </a:solidFill>
                </a:rPr>
                <a:t>OpenFlow</a:t>
              </a:r>
              <a:endParaRPr lang="en-US" sz="1050" b="1">
                <a:solidFill>
                  <a:schemeClr val="bg1"/>
                </a:solidFill>
              </a:endParaRPr>
            </a:p>
          </p:txBody>
        </p:sp>
        <p:grpSp>
          <p:nvGrpSpPr>
            <p:cNvPr id="230468" name="Group 71"/>
            <p:cNvGrpSpPr>
              <a:grpSpLocks/>
            </p:cNvGrpSpPr>
            <p:nvPr/>
          </p:nvGrpSpPr>
          <p:grpSpPr bwMode="auto">
            <a:xfrm>
              <a:off x="6696075" y="3810000"/>
              <a:ext cx="2102096" cy="1289109"/>
              <a:chOff x="3419475" y="3048000"/>
              <a:chExt cx="4596449" cy="3867328"/>
            </a:xfrm>
          </p:grpSpPr>
          <p:sp>
            <p:nvSpPr>
              <p:cNvPr id="230469" name="Line 16"/>
              <p:cNvSpPr>
                <a:spLocks noChangeShapeType="1"/>
              </p:cNvSpPr>
              <p:nvPr/>
            </p:nvSpPr>
            <p:spPr bwMode="auto">
              <a:xfrm flipV="1">
                <a:off x="4181475" y="3505200"/>
                <a:ext cx="1752600" cy="10668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0470" name="Line 17"/>
              <p:cNvSpPr>
                <a:spLocks noChangeShapeType="1"/>
              </p:cNvSpPr>
              <p:nvPr/>
            </p:nvSpPr>
            <p:spPr bwMode="auto">
              <a:xfrm>
                <a:off x="4105275" y="4876800"/>
                <a:ext cx="990600" cy="12954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0471" name="Line 18"/>
              <p:cNvSpPr>
                <a:spLocks noChangeShapeType="1"/>
              </p:cNvSpPr>
              <p:nvPr/>
            </p:nvSpPr>
            <p:spPr bwMode="auto">
              <a:xfrm flipV="1">
                <a:off x="5476875" y="4876800"/>
                <a:ext cx="1295400" cy="11430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0472" name="Line 19"/>
              <p:cNvSpPr>
                <a:spLocks noChangeShapeType="1"/>
              </p:cNvSpPr>
              <p:nvPr/>
            </p:nvSpPr>
            <p:spPr bwMode="auto">
              <a:xfrm>
                <a:off x="5934075" y="3657600"/>
                <a:ext cx="762000" cy="9906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30473" name="Line 20"/>
              <p:cNvSpPr>
                <a:spLocks noChangeShapeType="1"/>
              </p:cNvSpPr>
              <p:nvPr/>
            </p:nvSpPr>
            <p:spPr bwMode="auto">
              <a:xfrm>
                <a:off x="4486275" y="4953000"/>
                <a:ext cx="190500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67" name="AutoShape 7"/>
              <p:cNvSpPr>
                <a:spLocks noChangeArrowheads="1"/>
              </p:cNvSpPr>
              <p:nvPr/>
            </p:nvSpPr>
            <p:spPr bwMode="auto">
              <a:xfrm>
                <a:off x="3419475" y="4419600"/>
                <a:ext cx="1371138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sz="1350">
                  <a:latin typeface="Arial" pitchFamily="-112" charset="0"/>
                </a:endParaRPr>
              </a:p>
            </p:txBody>
          </p:sp>
          <p:sp>
            <p:nvSpPr>
              <p:cNvPr id="68" name="AutoShape 8"/>
              <p:cNvSpPr>
                <a:spLocks noChangeArrowheads="1"/>
              </p:cNvSpPr>
              <p:nvPr/>
            </p:nvSpPr>
            <p:spPr bwMode="auto">
              <a:xfrm>
                <a:off x="5248815" y="3048000"/>
                <a:ext cx="1371135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sz="1350">
                  <a:latin typeface="Arial" pitchFamily="-112" charset="0"/>
                </a:endParaRPr>
              </a:p>
            </p:txBody>
          </p:sp>
          <p:sp>
            <p:nvSpPr>
              <p:cNvPr id="69" name="AutoShape 9"/>
              <p:cNvSpPr>
                <a:spLocks noChangeArrowheads="1"/>
              </p:cNvSpPr>
              <p:nvPr/>
            </p:nvSpPr>
            <p:spPr bwMode="auto">
              <a:xfrm>
                <a:off x="6238115" y="4419600"/>
                <a:ext cx="1371138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sz="1350">
                  <a:latin typeface="Arial" pitchFamily="-112" charset="0"/>
                </a:endParaRPr>
              </a:p>
            </p:txBody>
          </p:sp>
          <p:sp>
            <p:nvSpPr>
              <p:cNvPr id="70" name="AutoShape 10"/>
              <p:cNvSpPr>
                <a:spLocks noChangeArrowheads="1"/>
              </p:cNvSpPr>
              <p:nvPr/>
            </p:nvSpPr>
            <p:spPr bwMode="auto">
              <a:xfrm>
                <a:off x="4561511" y="5943600"/>
                <a:ext cx="1371135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sz="1350">
                  <a:latin typeface="Arial" pitchFamily="-112" charset="0"/>
                </a:endParaRPr>
              </a:p>
            </p:txBody>
          </p:sp>
          <p:sp>
            <p:nvSpPr>
              <p:cNvPr id="230478" name="Text Box 28"/>
              <p:cNvSpPr txBox="1">
                <a:spLocks noChangeArrowheads="1"/>
              </p:cNvSpPr>
              <p:nvPr/>
            </p:nvSpPr>
            <p:spPr bwMode="auto">
              <a:xfrm>
                <a:off x="7477346" y="5715000"/>
                <a:ext cx="538578" cy="1200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endParaRPr lang="en-US" sz="1350">
                  <a:latin typeface="Calibri" charset="0"/>
                  <a:ea typeface="ＭＳ Ｐゴシック" charset="-128"/>
                  <a:cs typeface="ＭＳ Ｐゴシック" charset="-128"/>
                </a:endParaRPr>
              </a:p>
            </p:txBody>
          </p:sp>
        </p:grpSp>
        <p:sp>
          <p:nvSpPr>
            <p:cNvPr id="74" name="Rounded Rectangle 73"/>
            <p:cNvSpPr/>
            <p:nvPr/>
          </p:nvSpPr>
          <p:spPr>
            <a:xfrm>
              <a:off x="5105400" y="2203031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Controller 1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5029200" y="2286000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FFFF"/>
                  </a:solidFill>
                </a:rPr>
                <a:t>NOX</a:t>
              </a:r>
            </a:p>
            <a:p>
              <a:pPr>
                <a:defRPr/>
              </a:pPr>
              <a:r>
                <a:rPr lang="en-US" sz="900" dirty="0">
                  <a:solidFill>
                    <a:srgbClr val="FFFFFF"/>
                  </a:solidFill>
                </a:rPr>
                <a:t>(Network OS)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7162800" y="22098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Controller</a:t>
              </a:r>
            </a:p>
            <a:p>
              <a:pPr>
                <a:defRPr/>
              </a:pPr>
              <a:r>
                <a:rPr lang="en-US" sz="120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7086600" y="22860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FFFF"/>
                  </a:solidFill>
                </a:rPr>
                <a:t>Network OS</a:t>
              </a:r>
            </a:p>
          </p:txBody>
        </p:sp>
        <p:cxnSp>
          <p:nvCxnSpPr>
            <p:cNvPr id="81" name="Straight Connector 80"/>
            <p:cNvCxnSpPr/>
            <p:nvPr/>
          </p:nvCxnSpPr>
          <p:spPr>
            <a:xfrm>
              <a:off x="6324600" y="2649538"/>
              <a:ext cx="762000" cy="1587"/>
            </a:xfrm>
            <a:prstGeom prst="line">
              <a:avLst/>
            </a:prstGeom>
            <a:ln w="2540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ight Arrow 46"/>
            <p:cNvSpPr/>
            <p:nvPr/>
          </p:nvSpPr>
          <p:spPr>
            <a:xfrm>
              <a:off x="4191000" y="2514600"/>
              <a:ext cx="685800" cy="533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en-US" sz="1350"/>
            </a:p>
          </p:txBody>
        </p:sp>
      </p:grpSp>
      <p:sp>
        <p:nvSpPr>
          <p:cNvPr id="230493" name="Title 47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Trend</a:t>
            </a:r>
          </a:p>
        </p:txBody>
      </p:sp>
      <p:sp>
        <p:nvSpPr>
          <p:cNvPr id="230494" name="TextBox 48"/>
          <p:cNvSpPr txBox="1">
            <a:spLocks noChangeArrowheads="1"/>
          </p:cNvSpPr>
          <p:nvPr/>
        </p:nvSpPr>
        <p:spPr bwMode="auto">
          <a:xfrm>
            <a:off x="1428751" y="4483894"/>
            <a:ext cx="184731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350"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0495" name="TextBox 47"/>
          <p:cNvSpPr txBox="1">
            <a:spLocks noChangeArrowheads="1"/>
          </p:cNvSpPr>
          <p:nvPr/>
        </p:nvSpPr>
        <p:spPr bwMode="auto">
          <a:xfrm>
            <a:off x="2078832" y="4223147"/>
            <a:ext cx="151220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Calibri" charset="0"/>
                <a:ea typeface="ＭＳ Ｐゴシック" charset="-128"/>
                <a:cs typeface="ＭＳ Ｐゴシック" charset="-128"/>
              </a:rPr>
              <a:t>Computer Industry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5662612" y="4223147"/>
            <a:ext cx="1412118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Calibri" charset="0"/>
                <a:ea typeface="ＭＳ Ｐゴシック" charset="-128"/>
                <a:cs typeface="ＭＳ Ｐゴシック" charset="-128"/>
              </a:rPr>
              <a:t>Network Industry</a:t>
            </a:r>
          </a:p>
        </p:txBody>
      </p:sp>
    </p:spTree>
    <p:extLst>
      <p:ext uri="{BB962C8B-B14F-4D97-AF65-F5344CB8AC3E}">
        <p14:creationId xmlns:p14="http://schemas.microsoft.com/office/powerpoint/2010/main" val="27763244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/>
          <p:cNvCxnSpPr>
            <a:cxnSpLocks noChangeShapeType="1"/>
          </p:cNvCxnSpPr>
          <p:nvPr/>
        </p:nvCxnSpPr>
        <p:spPr bwMode="auto">
          <a:xfrm flipV="1">
            <a:off x="3080148" y="3543300"/>
            <a:ext cx="1025128" cy="62746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46" name="Straight Connector 45"/>
          <p:cNvCxnSpPr>
            <a:cxnSpLocks noChangeShapeType="1"/>
          </p:cNvCxnSpPr>
          <p:nvPr/>
        </p:nvCxnSpPr>
        <p:spPr bwMode="auto">
          <a:xfrm>
            <a:off x="4575573" y="3221831"/>
            <a:ext cx="473869" cy="5715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48" name="Straight Connector 47"/>
          <p:cNvCxnSpPr>
            <a:cxnSpLocks noChangeShapeType="1"/>
          </p:cNvCxnSpPr>
          <p:nvPr/>
        </p:nvCxnSpPr>
        <p:spPr bwMode="auto">
          <a:xfrm rot="5400000" flipH="1" flipV="1">
            <a:off x="4099322" y="4125516"/>
            <a:ext cx="491729" cy="470297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50" name="Straight Connector 49"/>
          <p:cNvCxnSpPr>
            <a:cxnSpLocks noChangeShapeType="1"/>
          </p:cNvCxnSpPr>
          <p:nvPr/>
        </p:nvCxnSpPr>
        <p:spPr bwMode="auto">
          <a:xfrm rot="16200000" flipH="1">
            <a:off x="2912864" y="4199930"/>
            <a:ext cx="501254" cy="954881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52" name="Straight Connector 51"/>
          <p:cNvCxnSpPr>
            <a:cxnSpLocks noChangeShapeType="1"/>
          </p:cNvCxnSpPr>
          <p:nvPr/>
        </p:nvCxnSpPr>
        <p:spPr bwMode="auto">
          <a:xfrm flipV="1">
            <a:off x="5518548" y="3836194"/>
            <a:ext cx="882253" cy="278606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65" name="Rounded Rectangle 64"/>
          <p:cNvSpPr/>
          <p:nvPr/>
        </p:nvSpPr>
        <p:spPr>
          <a:xfrm>
            <a:off x="5927575" y="3442229"/>
            <a:ext cx="1354764" cy="44206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Simple Packet </a:t>
            </a:r>
            <a:br>
              <a:rPr lang="en-US" sz="900" b="1">
                <a:solidFill>
                  <a:schemeClr val="bg1"/>
                </a:solidFill>
              </a:rPr>
            </a:br>
            <a:r>
              <a:rPr lang="en-US" sz="900" b="1">
                <a:solidFill>
                  <a:schemeClr val="bg1"/>
                </a:solidFill>
              </a:rPr>
              <a:t>Forwarding Hardware</a:t>
            </a:r>
            <a:endParaRPr lang="en-US" sz="825" b="1">
              <a:solidFill>
                <a:schemeClr val="bg1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2051526" y="1155398"/>
            <a:ext cx="1055209" cy="607491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rgbClr val="FFFFFF"/>
                </a:solidFill>
              </a:rPr>
              <a:t>Network Operating  System 1</a:t>
            </a:r>
          </a:p>
        </p:txBody>
      </p:sp>
      <p:grpSp>
        <p:nvGrpSpPr>
          <p:cNvPr id="2" name="Group 119"/>
          <p:cNvGrpSpPr>
            <a:grpSpLocks/>
          </p:cNvGrpSpPr>
          <p:nvPr/>
        </p:nvGrpSpPr>
        <p:grpSpPr bwMode="auto">
          <a:xfrm>
            <a:off x="4464844" y="2603897"/>
            <a:ext cx="2291566" cy="504825"/>
            <a:chOff x="3650213" y="1672972"/>
            <a:chExt cx="3055127" cy="673471"/>
          </a:xfrm>
        </p:grpSpPr>
        <p:sp>
          <p:nvSpPr>
            <p:cNvPr id="101" name="Right Brace 100"/>
            <p:cNvSpPr>
              <a:spLocks/>
            </p:cNvSpPr>
            <p:nvPr/>
          </p:nvSpPr>
          <p:spPr bwMode="auto">
            <a:xfrm>
              <a:off x="3650213" y="1672972"/>
              <a:ext cx="219054" cy="673471"/>
            </a:xfrm>
            <a:prstGeom prst="rightBrace">
              <a:avLst>
                <a:gd name="adj1" fmla="val 31527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68999"/>
                </a:srgbClr>
              </a:outerShdw>
            </a:effectLst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91213" name="TextBox 101"/>
            <p:cNvSpPr txBox="1">
              <a:spLocks noChangeArrowheads="1"/>
            </p:cNvSpPr>
            <p:nvPr/>
          </p:nvSpPr>
          <p:spPr bwMode="auto">
            <a:xfrm>
              <a:off x="3861330" y="1809573"/>
              <a:ext cx="2844010" cy="400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350">
                  <a:latin typeface="Calibri" charset="0"/>
                </a:rPr>
                <a:t>Open interface to hardware</a:t>
              </a:r>
            </a:p>
          </p:txBody>
        </p:sp>
      </p:grpSp>
      <p:sp>
        <p:nvSpPr>
          <p:cNvPr id="41" name="Rounded Rectangle 40"/>
          <p:cNvSpPr/>
          <p:nvPr/>
        </p:nvSpPr>
        <p:spPr bwMode="auto">
          <a:xfrm>
            <a:off x="1758950" y="2207724"/>
            <a:ext cx="5186387" cy="395799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Virtualization or “Slicing” Layer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46376" y="1163753"/>
            <a:ext cx="1055209" cy="607491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rgbClr val="FFFFFF"/>
                </a:solidFill>
              </a:rPr>
              <a:t>Network Operating  System 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41227" y="1172108"/>
            <a:ext cx="1055209" cy="607491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rgbClr val="FFFFFF"/>
                </a:solidFill>
              </a:rPr>
              <a:t>Network Operating  System 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36077" y="1180463"/>
            <a:ext cx="1055209" cy="607491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rgbClr val="FFFFFF"/>
                </a:solidFill>
              </a:rPr>
              <a:t>Network Operating  System 4</a:t>
            </a:r>
          </a:p>
        </p:txBody>
      </p:sp>
      <p:grpSp>
        <p:nvGrpSpPr>
          <p:cNvPr id="3" name="Group 85"/>
          <p:cNvGrpSpPr>
            <a:grpSpLocks/>
          </p:cNvGrpSpPr>
          <p:nvPr/>
        </p:nvGrpSpPr>
        <p:grpSpPr bwMode="auto">
          <a:xfrm>
            <a:off x="2085975" y="772716"/>
            <a:ext cx="4572000" cy="369094"/>
            <a:chOff x="1256791" y="1030784"/>
            <a:chExt cx="6096247" cy="492031"/>
          </a:xfrm>
        </p:grpSpPr>
        <p:sp>
          <p:nvSpPr>
            <p:cNvPr id="5" name="Rounded Rectangle 4"/>
            <p:cNvSpPr/>
            <p:nvPr/>
          </p:nvSpPr>
          <p:spPr>
            <a:xfrm>
              <a:off x="1256791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005753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2860125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3609087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4463459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5212421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6066793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6815755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</p:grpSp>
      <p:grpSp>
        <p:nvGrpSpPr>
          <p:cNvPr id="4" name="Group 87"/>
          <p:cNvGrpSpPr>
            <a:grpSpLocks/>
          </p:cNvGrpSpPr>
          <p:nvPr/>
        </p:nvGrpSpPr>
        <p:grpSpPr bwMode="auto">
          <a:xfrm>
            <a:off x="5177922" y="42862"/>
            <a:ext cx="2126672" cy="1244204"/>
            <a:chOff x="5380359" y="56921"/>
            <a:chExt cx="2835735" cy="1658623"/>
          </a:xfrm>
        </p:grpSpPr>
        <p:sp>
          <p:nvSpPr>
            <p:cNvPr id="91186" name="TextBox 103"/>
            <p:cNvSpPr txBox="1">
              <a:spLocks noChangeArrowheads="1"/>
            </p:cNvSpPr>
            <p:nvPr/>
          </p:nvSpPr>
          <p:spPr bwMode="auto">
            <a:xfrm>
              <a:off x="5380359" y="56921"/>
              <a:ext cx="2835735" cy="676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50">
                  <a:latin typeface="Calibri" charset="0"/>
                </a:rPr>
                <a:t>Many operating systems, or</a:t>
              </a:r>
            </a:p>
            <a:p>
              <a:pPr algn="ctr"/>
              <a:r>
                <a:rPr lang="en-US" sz="1350">
                  <a:latin typeface="Calibri" charset="0"/>
                </a:rPr>
                <a:t>Many versions</a:t>
              </a:r>
            </a:p>
          </p:txBody>
        </p:sp>
        <p:cxnSp>
          <p:nvCxnSpPr>
            <p:cNvPr id="119" name="Straight Arrow Connector 118"/>
            <p:cNvCxnSpPr>
              <a:cxnSpLocks noChangeShapeType="1"/>
            </p:cNvCxnSpPr>
            <p:nvPr/>
          </p:nvCxnSpPr>
          <p:spPr bwMode="auto">
            <a:xfrm rot="16200000" flipH="1">
              <a:off x="6196651" y="1220338"/>
              <a:ext cx="990412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</p:grpSp>
      <p:grpSp>
        <p:nvGrpSpPr>
          <p:cNvPr id="6" name="Group 75"/>
          <p:cNvGrpSpPr>
            <a:grpSpLocks/>
          </p:cNvGrpSpPr>
          <p:nvPr/>
        </p:nvGrpSpPr>
        <p:grpSpPr bwMode="auto">
          <a:xfrm>
            <a:off x="3169444" y="551260"/>
            <a:ext cx="2382441" cy="1668065"/>
            <a:chOff x="2701157" y="278760"/>
            <a:chExt cx="3178140" cy="2680825"/>
          </a:xfrm>
        </p:grpSpPr>
        <p:cxnSp>
          <p:nvCxnSpPr>
            <p:cNvPr id="69" name="Straight Connector 68"/>
            <p:cNvCxnSpPr>
              <a:cxnSpLocks noChangeShapeType="1"/>
            </p:cNvCxnSpPr>
            <p:nvPr/>
          </p:nvCxnSpPr>
          <p:spPr bwMode="auto">
            <a:xfrm rot="5400000">
              <a:off x="1369192" y="1610725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72" name="Straight Connector 71"/>
            <p:cNvCxnSpPr>
              <a:cxnSpLocks noChangeShapeType="1"/>
            </p:cNvCxnSpPr>
            <p:nvPr/>
          </p:nvCxnSpPr>
          <p:spPr bwMode="auto">
            <a:xfrm rot="5400000">
              <a:off x="2957468" y="1618379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74" name="Straight Connector 73"/>
            <p:cNvCxnSpPr>
              <a:cxnSpLocks noChangeShapeType="1"/>
            </p:cNvCxnSpPr>
            <p:nvPr/>
          </p:nvCxnSpPr>
          <p:spPr bwMode="auto">
            <a:xfrm rot="5400000">
              <a:off x="4545744" y="1626033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</p:grpSp>
      <p:grpSp>
        <p:nvGrpSpPr>
          <p:cNvPr id="7" name="Group 119"/>
          <p:cNvGrpSpPr>
            <a:grpSpLocks/>
          </p:cNvGrpSpPr>
          <p:nvPr/>
        </p:nvGrpSpPr>
        <p:grpSpPr bwMode="auto">
          <a:xfrm>
            <a:off x="4488657" y="1788319"/>
            <a:ext cx="2437210" cy="431006"/>
            <a:chOff x="3650213" y="1672972"/>
            <a:chExt cx="2985801" cy="673471"/>
          </a:xfrm>
        </p:grpSpPr>
        <p:sp>
          <p:nvSpPr>
            <p:cNvPr id="81" name="Right Brace 80"/>
            <p:cNvSpPr>
              <a:spLocks/>
            </p:cNvSpPr>
            <p:nvPr/>
          </p:nvSpPr>
          <p:spPr bwMode="auto">
            <a:xfrm>
              <a:off x="3650213" y="1672972"/>
              <a:ext cx="219170" cy="673471"/>
            </a:xfrm>
            <a:prstGeom prst="rightBrace">
              <a:avLst>
                <a:gd name="adj1" fmla="val 31525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68999"/>
                </a:srgbClr>
              </a:outerShdw>
            </a:effectLst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91182" name="TextBox 81"/>
            <p:cNvSpPr txBox="1">
              <a:spLocks noChangeArrowheads="1"/>
            </p:cNvSpPr>
            <p:nvPr/>
          </p:nvSpPr>
          <p:spPr bwMode="auto">
            <a:xfrm>
              <a:off x="3861712" y="1810643"/>
              <a:ext cx="2774302" cy="46889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350">
                  <a:latin typeface="Calibri" charset="0"/>
                </a:rPr>
                <a:t>Open interface to hardware</a:t>
              </a:r>
            </a:p>
          </p:txBody>
        </p:sp>
      </p:grpSp>
      <p:grpSp>
        <p:nvGrpSpPr>
          <p:cNvPr id="8" name="Group 86"/>
          <p:cNvGrpSpPr>
            <a:grpSpLocks/>
          </p:cNvGrpSpPr>
          <p:nvPr/>
        </p:nvGrpSpPr>
        <p:grpSpPr bwMode="auto">
          <a:xfrm>
            <a:off x="2023701" y="42863"/>
            <a:ext cx="1296124" cy="517922"/>
            <a:chOff x="1173516" y="56921"/>
            <a:chExt cx="1729169" cy="690891"/>
          </a:xfrm>
        </p:grpSpPr>
        <p:sp>
          <p:nvSpPr>
            <p:cNvPr id="91179" name="TextBox 82"/>
            <p:cNvSpPr txBox="1">
              <a:spLocks noChangeArrowheads="1"/>
            </p:cNvSpPr>
            <p:nvPr/>
          </p:nvSpPr>
          <p:spPr bwMode="auto">
            <a:xfrm>
              <a:off x="1173516" y="56921"/>
              <a:ext cx="1729169" cy="400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50">
                  <a:latin typeface="Calibri" charset="0"/>
                </a:rPr>
                <a:t>Isolated “slices”</a:t>
              </a:r>
            </a:p>
          </p:txBody>
        </p:sp>
        <p:cxnSp>
          <p:nvCxnSpPr>
            <p:cNvPr id="84" name="Straight Arrow Connector 83"/>
            <p:cNvCxnSpPr>
              <a:cxnSpLocks noChangeShapeType="1"/>
            </p:cNvCxnSpPr>
            <p:nvPr/>
          </p:nvCxnSpPr>
          <p:spPr bwMode="auto">
            <a:xfrm>
              <a:off x="2006331" y="426985"/>
              <a:ext cx="694140" cy="320827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</p:grpSp>
      <p:sp>
        <p:nvSpPr>
          <p:cNvPr id="89" name="Rounded Rectangle 88"/>
          <p:cNvSpPr/>
          <p:nvPr/>
        </p:nvSpPr>
        <p:spPr>
          <a:xfrm>
            <a:off x="4441226" y="3728294"/>
            <a:ext cx="1354764" cy="44206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Simple Packet </a:t>
            </a:r>
            <a:br>
              <a:rPr lang="en-US" sz="900" b="1">
                <a:solidFill>
                  <a:schemeClr val="bg1"/>
                </a:solidFill>
              </a:rPr>
            </a:br>
            <a:r>
              <a:rPr lang="en-US" sz="900" b="1">
                <a:solidFill>
                  <a:schemeClr val="bg1"/>
                </a:solidFill>
              </a:rPr>
              <a:t>Forwarding Hardware</a:t>
            </a:r>
            <a:endParaRPr lang="en-US" sz="825" b="1">
              <a:solidFill>
                <a:schemeClr val="bg1"/>
              </a:solidFill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2008163" y="4014359"/>
            <a:ext cx="1354764" cy="44206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Simple Packet </a:t>
            </a:r>
            <a:br>
              <a:rPr lang="en-US" sz="900" b="1">
                <a:solidFill>
                  <a:schemeClr val="bg1"/>
                </a:solidFill>
              </a:rPr>
            </a:br>
            <a:r>
              <a:rPr lang="en-US" sz="900" b="1">
                <a:solidFill>
                  <a:schemeClr val="bg1"/>
                </a:solidFill>
              </a:rPr>
              <a:t>Forwarding Hardware</a:t>
            </a:r>
            <a:endParaRPr lang="en-US" sz="825" b="1">
              <a:solidFill>
                <a:schemeClr val="bg1"/>
              </a:solidFill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3538793" y="4606716"/>
            <a:ext cx="1354764" cy="44206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Simple Packet </a:t>
            </a:r>
            <a:br>
              <a:rPr lang="en-US" sz="900" b="1">
                <a:solidFill>
                  <a:schemeClr val="bg1"/>
                </a:solidFill>
              </a:rPr>
            </a:br>
            <a:r>
              <a:rPr lang="en-US" sz="900" b="1">
                <a:solidFill>
                  <a:schemeClr val="bg1"/>
                </a:solidFill>
              </a:rPr>
              <a:t>Forwarding Hardware</a:t>
            </a:r>
            <a:endParaRPr lang="en-US" sz="825" b="1">
              <a:solidFill>
                <a:schemeClr val="bg1"/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3362927" y="3125789"/>
            <a:ext cx="1354764" cy="442065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Simple Packet </a:t>
            </a:r>
            <a:br>
              <a:rPr lang="en-US" sz="900" b="1">
                <a:solidFill>
                  <a:schemeClr val="bg1"/>
                </a:solidFill>
              </a:rPr>
            </a:br>
            <a:r>
              <a:rPr lang="en-US" sz="900" b="1">
                <a:solidFill>
                  <a:schemeClr val="bg1"/>
                </a:solidFill>
              </a:rPr>
              <a:t>Forwarding Hardware</a:t>
            </a:r>
            <a:endParaRPr lang="en-US" sz="825" b="1">
              <a:solidFill>
                <a:schemeClr val="bg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41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"/>
          <p:cNvSpPr>
            <a:spLocks noGrp="1" noChangeArrowheads="1"/>
          </p:cNvSpPr>
          <p:nvPr>
            <p:ph type="title"/>
          </p:nvPr>
        </p:nvSpPr>
        <p:spPr>
          <a:xfrm>
            <a:off x="1484710" y="180976"/>
            <a:ext cx="6174581" cy="669131"/>
          </a:xfrm>
        </p:spPr>
        <p:txBody>
          <a:bodyPr vert="horz" wrap="square" lIns="91440" tIns="45720" rIns="60958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marL="28575"/>
            <a:r>
              <a:rPr lang="en-US">
                <a:latin typeface="Calibri" charset="0"/>
                <a:sym typeface="Helvetica" charset="0"/>
              </a:rPr>
              <a:t>Switch Based Virtualization</a:t>
            </a:r>
            <a:br>
              <a:rPr lang="en-US">
                <a:latin typeface="Calibri" charset="0"/>
                <a:ea typeface="ヒラギノ角ゴ ProN W6" charset="-128"/>
                <a:cs typeface="ヒラギノ角ゴ ProN W6" charset="-128"/>
                <a:sym typeface="Helvetica" charset="0"/>
              </a:rPr>
            </a:br>
            <a:r>
              <a:rPr lang="en-US" sz="1350">
                <a:latin typeface="Helvetica" charset="0"/>
                <a:sym typeface="Helvetica" charset="0"/>
              </a:rPr>
              <a:t>Exists for NEC, HP switches but not flexible enough</a:t>
            </a:r>
          </a:p>
        </p:txBody>
      </p:sp>
      <p:grpSp>
        <p:nvGrpSpPr>
          <p:cNvPr id="95234" name="Group 2"/>
          <p:cNvGrpSpPr>
            <a:grpSpLocks/>
          </p:cNvGrpSpPr>
          <p:nvPr/>
        </p:nvGrpSpPr>
        <p:grpSpPr bwMode="auto">
          <a:xfrm>
            <a:off x="3313510" y="2278857"/>
            <a:ext cx="2511028" cy="1031081"/>
            <a:chOff x="0" y="0"/>
            <a:chExt cx="3000" cy="1232"/>
          </a:xfrm>
        </p:grpSpPr>
        <p:grpSp>
          <p:nvGrpSpPr>
            <p:cNvPr id="95292" name="Group 3"/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95296" name="AutoShape 4"/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333399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95297" name="Rectangle 5"/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>
                  <a:latin typeface="Calibri" charset="0"/>
                </a:endParaRPr>
              </a:p>
            </p:txBody>
          </p:sp>
        </p:grpSp>
        <p:grpSp>
          <p:nvGrpSpPr>
            <p:cNvPr id="95293" name="Group 6"/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95294" name="AutoShape 7"/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B5BAD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95295" name="Rectangle 8"/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>
                  <a:latin typeface="Calibri" charset="0"/>
                </a:endParaRPr>
              </a:p>
            </p:txBody>
          </p:sp>
        </p:grpSp>
      </p:grp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3313510" y="1702594"/>
            <a:ext cx="2511028" cy="1031081"/>
            <a:chOff x="0" y="0"/>
            <a:chExt cx="3000" cy="1232"/>
          </a:xfrm>
        </p:grpSpPr>
        <p:grpSp>
          <p:nvGrpSpPr>
            <p:cNvPr id="95286" name="Group 10"/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95290" name="AutoShape 11"/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2973B5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95291" name="Rectangle 12"/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>
                  <a:latin typeface="Calibri" charset="0"/>
                </a:endParaRPr>
              </a:p>
            </p:txBody>
          </p:sp>
        </p:grpSp>
        <p:grpSp>
          <p:nvGrpSpPr>
            <p:cNvPr id="95287" name="Group 13"/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95288" name="AutoShape 14"/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38FC3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95289" name="Rectangle 15"/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>
                  <a:latin typeface="Calibri" charset="0"/>
                </a:endParaRPr>
              </a:p>
            </p:txBody>
          </p:sp>
        </p:grpSp>
      </p:grpSp>
      <p:sp>
        <p:nvSpPr>
          <p:cNvPr id="95236" name="Line 16"/>
          <p:cNvSpPr>
            <a:spLocks noChangeShapeType="1"/>
          </p:cNvSpPr>
          <p:nvPr/>
        </p:nvSpPr>
        <p:spPr bwMode="auto">
          <a:xfrm flipH="1">
            <a:off x="3145631" y="3189685"/>
            <a:ext cx="471488" cy="8572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95237" name="Picture 1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5791" y="4046935"/>
            <a:ext cx="797719" cy="5655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95238" name="Picture 18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4029" y="4224337"/>
            <a:ext cx="797719" cy="566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95239" name="Picture 19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4220766"/>
            <a:ext cx="796529" cy="5655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95240" name="Picture 20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03082" y="3995737"/>
            <a:ext cx="797719" cy="566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95241" name="Line 21"/>
          <p:cNvSpPr>
            <a:spLocks noChangeShapeType="1"/>
          </p:cNvSpPr>
          <p:nvPr/>
        </p:nvSpPr>
        <p:spPr bwMode="auto">
          <a:xfrm flipH="1">
            <a:off x="4056460" y="3303985"/>
            <a:ext cx="127397" cy="913209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5242" name="Line 22"/>
          <p:cNvSpPr>
            <a:spLocks noChangeShapeType="1"/>
          </p:cNvSpPr>
          <p:nvPr/>
        </p:nvSpPr>
        <p:spPr bwMode="auto">
          <a:xfrm>
            <a:off x="4913710" y="3303985"/>
            <a:ext cx="127397" cy="913209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5243" name="Line 23"/>
          <p:cNvSpPr>
            <a:spLocks noChangeShapeType="1"/>
          </p:cNvSpPr>
          <p:nvPr/>
        </p:nvSpPr>
        <p:spPr bwMode="auto">
          <a:xfrm>
            <a:off x="5429250" y="3189685"/>
            <a:ext cx="471488" cy="85725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796779" y="2995612"/>
            <a:ext cx="3411140" cy="1166813"/>
            <a:chOff x="0" y="0"/>
            <a:chExt cx="4074" cy="1392"/>
          </a:xfrm>
        </p:grpSpPr>
        <p:sp>
          <p:nvSpPr>
            <p:cNvPr id="95284" name="Freeform 25"/>
            <p:cNvSpPr>
              <a:spLocks/>
            </p:cNvSpPr>
            <p:nvPr/>
          </p:nvSpPr>
          <p:spPr bwMode="auto">
            <a:xfrm>
              <a:off x="0" y="0"/>
              <a:ext cx="4074" cy="1392"/>
            </a:xfrm>
            <a:custGeom>
              <a:avLst/>
              <a:gdLst>
                <a:gd name="T0" fmla="*/ 0 w 21600"/>
                <a:gd name="T1" fmla="*/ 6 h 20640"/>
                <a:gd name="T2" fmla="*/ 29 w 21600"/>
                <a:gd name="T3" fmla="*/ 1 h 20640"/>
                <a:gd name="T4" fmla="*/ 51 w 21600"/>
                <a:gd name="T5" fmla="*/ 0 h 20640"/>
                <a:gd name="T6" fmla="*/ 109 w 21600"/>
                <a:gd name="T7" fmla="*/ 0 h 20640"/>
                <a:gd name="T8" fmla="*/ 124 w 21600"/>
                <a:gd name="T9" fmla="*/ 1 h 20640"/>
                <a:gd name="T10" fmla="*/ 143 w 21600"/>
                <a:gd name="T11" fmla="*/ 6 h 20640"/>
                <a:gd name="T12" fmla="*/ 145 w 21600"/>
                <a:gd name="T13" fmla="*/ 6 h 206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0640"/>
                <a:gd name="T23" fmla="*/ 21600 w 21600"/>
                <a:gd name="T24" fmla="*/ 20640 h 206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0640">
                  <a:moveTo>
                    <a:pt x="0" y="20640"/>
                  </a:moveTo>
                  <a:cubicBezTo>
                    <a:pt x="1537" y="13215"/>
                    <a:pt x="3074" y="5790"/>
                    <a:pt x="4339" y="2415"/>
                  </a:cubicBezTo>
                  <a:cubicBezTo>
                    <a:pt x="5605" y="-960"/>
                    <a:pt x="5605" y="727"/>
                    <a:pt x="7594" y="390"/>
                  </a:cubicBezTo>
                  <a:cubicBezTo>
                    <a:pt x="9583" y="52"/>
                    <a:pt x="14464" y="-285"/>
                    <a:pt x="16273" y="390"/>
                  </a:cubicBezTo>
                  <a:cubicBezTo>
                    <a:pt x="18080" y="1065"/>
                    <a:pt x="17598" y="1402"/>
                    <a:pt x="18442" y="4440"/>
                  </a:cubicBezTo>
                  <a:cubicBezTo>
                    <a:pt x="19285" y="7478"/>
                    <a:pt x="20311" y="13046"/>
                    <a:pt x="21335" y="18615"/>
                  </a:cubicBezTo>
                  <a:lnTo>
                    <a:pt x="21600" y="20057"/>
                  </a:lnTo>
                </a:path>
              </a:pathLst>
            </a:custGeom>
            <a:noFill/>
            <a:ln w="76200" cap="flat">
              <a:solidFill>
                <a:srgbClr val="E36853"/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95285" name="Rectangle 26"/>
            <p:cNvSpPr>
              <a:spLocks/>
            </p:cNvSpPr>
            <p:nvPr/>
          </p:nvSpPr>
          <p:spPr bwMode="auto">
            <a:xfrm>
              <a:off x="0" y="588"/>
              <a:ext cx="4024" cy="2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</p:grpSp>
      <p:sp>
        <p:nvSpPr>
          <p:cNvPr id="95245" name="Rectangle 27"/>
          <p:cNvSpPr>
            <a:spLocks/>
          </p:cNvSpPr>
          <p:nvPr/>
        </p:nvSpPr>
        <p:spPr bwMode="auto">
          <a:xfrm>
            <a:off x="3594497" y="2847975"/>
            <a:ext cx="1986567" cy="2308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/>
            <a:r>
              <a:rPr lang="en-US" sz="1500">
                <a:solidFill>
                  <a:srgbClr val="FFFFFF"/>
                </a:solidFill>
                <a:latin typeface="Calibri" charset="0"/>
              </a:rPr>
              <a:t>Normal L2/L3 Processing</a:t>
            </a:r>
          </a:p>
        </p:txBody>
      </p:sp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2627710" y="2412207"/>
            <a:ext cx="3806428" cy="1712119"/>
            <a:chOff x="0" y="0"/>
            <a:chExt cx="4546" cy="2045"/>
          </a:xfrm>
        </p:grpSpPr>
        <p:sp>
          <p:nvSpPr>
            <p:cNvPr id="95282" name="Freeform 29"/>
            <p:cNvSpPr>
              <a:spLocks/>
            </p:cNvSpPr>
            <p:nvPr/>
          </p:nvSpPr>
          <p:spPr bwMode="auto">
            <a:xfrm>
              <a:off x="0" y="0"/>
              <a:ext cx="4546" cy="2045"/>
            </a:xfrm>
            <a:custGeom>
              <a:avLst/>
              <a:gdLst>
                <a:gd name="T0" fmla="*/ 0 w 21600"/>
                <a:gd name="T1" fmla="*/ 20 h 20640"/>
                <a:gd name="T2" fmla="*/ 41 w 21600"/>
                <a:gd name="T3" fmla="*/ 2 h 20640"/>
                <a:gd name="T4" fmla="*/ 71 w 21600"/>
                <a:gd name="T5" fmla="*/ 0 h 20640"/>
                <a:gd name="T6" fmla="*/ 152 w 21600"/>
                <a:gd name="T7" fmla="*/ 0 h 20640"/>
                <a:gd name="T8" fmla="*/ 173 w 21600"/>
                <a:gd name="T9" fmla="*/ 4 h 20640"/>
                <a:gd name="T10" fmla="*/ 200 w 21600"/>
                <a:gd name="T11" fmla="*/ 18 h 20640"/>
                <a:gd name="T12" fmla="*/ 201 w 21600"/>
                <a:gd name="T13" fmla="*/ 19 h 206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0640"/>
                <a:gd name="T23" fmla="*/ 21600 w 21600"/>
                <a:gd name="T24" fmla="*/ 20640 h 206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0640">
                  <a:moveTo>
                    <a:pt x="0" y="20640"/>
                  </a:moveTo>
                  <a:cubicBezTo>
                    <a:pt x="1542" y="13215"/>
                    <a:pt x="3085" y="5790"/>
                    <a:pt x="4354" y="2415"/>
                  </a:cubicBezTo>
                  <a:cubicBezTo>
                    <a:pt x="5625" y="-960"/>
                    <a:pt x="5625" y="728"/>
                    <a:pt x="7621" y="390"/>
                  </a:cubicBezTo>
                  <a:cubicBezTo>
                    <a:pt x="9617" y="53"/>
                    <a:pt x="14515" y="-285"/>
                    <a:pt x="16330" y="390"/>
                  </a:cubicBezTo>
                  <a:cubicBezTo>
                    <a:pt x="18144" y="1065"/>
                    <a:pt x="17661" y="1403"/>
                    <a:pt x="18507" y="4440"/>
                  </a:cubicBezTo>
                  <a:cubicBezTo>
                    <a:pt x="19354" y="7478"/>
                    <a:pt x="20382" y="13046"/>
                    <a:pt x="21410" y="18615"/>
                  </a:cubicBezTo>
                  <a:lnTo>
                    <a:pt x="21600" y="19642"/>
                  </a:lnTo>
                </a:path>
              </a:pathLst>
            </a:custGeom>
            <a:noFill/>
            <a:ln w="76200" cap="flat">
              <a:solidFill>
                <a:srgbClr val="99CC00"/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95283" name="Rectangle 30"/>
            <p:cNvSpPr>
              <a:spLocks/>
            </p:cNvSpPr>
            <p:nvPr/>
          </p:nvSpPr>
          <p:spPr bwMode="auto">
            <a:xfrm>
              <a:off x="1" y="914"/>
              <a:ext cx="4504" cy="2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latin typeface="Calibri" charset="0"/>
              </a:endParaRPr>
            </a:p>
          </p:txBody>
        </p:sp>
      </p:grpSp>
      <p:grpSp>
        <p:nvGrpSpPr>
          <p:cNvPr id="10" name="Group 31"/>
          <p:cNvGrpSpPr>
            <a:grpSpLocks/>
          </p:cNvGrpSpPr>
          <p:nvPr/>
        </p:nvGrpSpPr>
        <p:grpSpPr bwMode="auto">
          <a:xfrm>
            <a:off x="3888582" y="2278857"/>
            <a:ext cx="1313260" cy="341710"/>
            <a:chOff x="0" y="0"/>
            <a:chExt cx="1568" cy="408"/>
          </a:xfrm>
        </p:grpSpPr>
        <p:grpSp>
          <p:nvGrpSpPr>
            <p:cNvPr id="95276" name="Group 32"/>
            <p:cNvGrpSpPr>
              <a:grpSpLocks/>
            </p:cNvGrpSpPr>
            <p:nvPr/>
          </p:nvGrpSpPr>
          <p:grpSpPr bwMode="auto">
            <a:xfrm>
              <a:off x="0" y="0"/>
              <a:ext cx="1568" cy="408"/>
              <a:chOff x="0" y="0"/>
              <a:chExt cx="1568" cy="408"/>
            </a:xfrm>
          </p:grpSpPr>
          <p:grpSp>
            <p:nvGrpSpPr>
              <p:cNvPr id="95278" name="Group 33"/>
              <p:cNvGrpSpPr>
                <a:grpSpLocks/>
              </p:cNvGrpSpPr>
              <p:nvPr/>
            </p:nvGrpSpPr>
            <p:grpSpPr bwMode="auto">
              <a:xfrm>
                <a:off x="0" y="0"/>
                <a:ext cx="1568" cy="408"/>
                <a:chOff x="0" y="0"/>
                <a:chExt cx="1568" cy="408"/>
              </a:xfrm>
            </p:grpSpPr>
            <p:sp>
              <p:nvSpPr>
                <p:cNvPr id="95280" name="Rectangle 34"/>
                <p:cNvSpPr>
                  <a:spLocks/>
                </p:cNvSpPr>
                <p:nvPr/>
              </p:nvSpPr>
              <p:spPr bwMode="auto">
                <a:xfrm>
                  <a:off x="0" y="0"/>
                  <a:ext cx="1568" cy="40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endParaRPr lang="en-US" sz="1350">
                    <a:latin typeface="Calibri" charset="0"/>
                  </a:endParaRPr>
                </a:p>
              </p:txBody>
            </p:sp>
            <p:sp>
              <p:nvSpPr>
                <p:cNvPr id="95281" name="Rectangle 35"/>
                <p:cNvSpPr>
                  <a:spLocks/>
                </p:cNvSpPr>
                <p:nvPr/>
              </p:nvSpPr>
              <p:spPr bwMode="auto">
                <a:xfrm>
                  <a:off x="0" y="96"/>
                  <a:ext cx="1568" cy="21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endParaRPr lang="en-US" sz="1350">
                    <a:latin typeface="Calibri" charset="0"/>
                  </a:endParaRPr>
                </a:p>
              </p:txBody>
            </p:sp>
          </p:grpSp>
          <p:sp>
            <p:nvSpPr>
              <p:cNvPr id="95279" name="Rectangle 36"/>
              <p:cNvSpPr>
                <a:spLocks/>
              </p:cNvSpPr>
              <p:nvPr/>
            </p:nvSpPr>
            <p:spPr bwMode="auto">
              <a:xfrm>
                <a:off x="195" y="81"/>
                <a:ext cx="1233" cy="23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43348" bIns="0" anchor="ctr">
                <a:prstTxWarp prst="textNoShape">
                  <a:avLst/>
                </a:prstTxWarp>
                <a:spAutoFit/>
              </a:bodyPr>
              <a:lstStyle/>
              <a:p>
                <a:pPr marL="28575"/>
                <a:r>
                  <a:rPr lang="en-US" sz="1275">
                    <a:ea typeface="Arial" charset="0"/>
                    <a:cs typeface="Arial" charset="0"/>
                    <a:sym typeface="Arial" charset="0"/>
                  </a:rPr>
                  <a:t>    Flow Table</a:t>
                </a:r>
              </a:p>
            </p:txBody>
          </p:sp>
        </p:grpSp>
        <p:pic>
          <p:nvPicPr>
            <p:cNvPr id="95277" name="Picture 3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47"/>
              <a:ext cx="408" cy="3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65574" name="Rectangle 38"/>
          <p:cNvSpPr>
            <a:spLocks/>
          </p:cNvSpPr>
          <p:nvPr/>
        </p:nvSpPr>
        <p:spPr bwMode="auto">
          <a:xfrm>
            <a:off x="1920479" y="2733675"/>
            <a:ext cx="1237837" cy="1731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/>
            <a:r>
              <a:rPr lang="en-US" sz="1125">
                <a:latin typeface="Helvetica" charset="0"/>
                <a:sym typeface="Helvetica" charset="0"/>
              </a:rPr>
              <a:t>Production VLANs</a:t>
            </a:r>
          </a:p>
        </p:txBody>
      </p:sp>
      <p:sp>
        <p:nvSpPr>
          <p:cNvPr id="65575" name="Rectangle 39"/>
          <p:cNvSpPr>
            <a:spLocks/>
          </p:cNvSpPr>
          <p:nvPr/>
        </p:nvSpPr>
        <p:spPr bwMode="auto">
          <a:xfrm>
            <a:off x="1970485" y="2105025"/>
            <a:ext cx="1213792" cy="1731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/>
            <a:r>
              <a:rPr lang="en-US" sz="1125">
                <a:latin typeface="Helvetica" charset="0"/>
                <a:sym typeface="Helvetica" charset="0"/>
              </a:rPr>
              <a:t>Research VLAN 1</a:t>
            </a:r>
          </a:p>
        </p:txBody>
      </p:sp>
      <p:grpSp>
        <p:nvGrpSpPr>
          <p:cNvPr id="13" name="Group 40"/>
          <p:cNvGrpSpPr>
            <a:grpSpLocks/>
          </p:cNvGrpSpPr>
          <p:nvPr/>
        </p:nvGrpSpPr>
        <p:grpSpPr bwMode="auto">
          <a:xfrm>
            <a:off x="5830491" y="1107281"/>
            <a:ext cx="1709738" cy="776288"/>
            <a:chOff x="0" y="272"/>
            <a:chExt cx="2041" cy="927"/>
          </a:xfrm>
        </p:grpSpPr>
        <p:grpSp>
          <p:nvGrpSpPr>
            <p:cNvPr id="95272" name="Group 41"/>
            <p:cNvGrpSpPr>
              <a:grpSpLocks/>
            </p:cNvGrpSpPr>
            <p:nvPr/>
          </p:nvGrpSpPr>
          <p:grpSpPr bwMode="auto">
            <a:xfrm>
              <a:off x="952" y="272"/>
              <a:ext cx="816" cy="816"/>
              <a:chOff x="0" y="0"/>
              <a:chExt cx="816" cy="816"/>
            </a:xfrm>
          </p:grpSpPr>
          <p:pic>
            <p:nvPicPr>
              <p:cNvPr id="95275" name="Picture 42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sp>
          <p:nvSpPr>
            <p:cNvPr id="95273" name="Line 43"/>
            <p:cNvSpPr>
              <a:spLocks noChangeShapeType="1"/>
            </p:cNvSpPr>
            <p:nvPr/>
          </p:nvSpPr>
          <p:spPr bwMode="auto">
            <a:xfrm rot="10800000" flipH="1">
              <a:off x="0" y="552"/>
              <a:ext cx="1024" cy="34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95274" name="Rectangle 44"/>
            <p:cNvSpPr>
              <a:spLocks/>
            </p:cNvSpPr>
            <p:nvPr/>
          </p:nvSpPr>
          <p:spPr bwMode="auto">
            <a:xfrm>
              <a:off x="633" y="983"/>
              <a:ext cx="1408" cy="2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3348" bIns="0">
              <a:prstTxWarp prst="textNoShape">
                <a:avLst/>
              </a:prstTxWarp>
            </a:bodyPr>
            <a:lstStyle/>
            <a:p>
              <a:pPr marL="28575">
                <a:spcBef>
                  <a:spcPts val="788"/>
                </a:spcBef>
              </a:pPr>
              <a:r>
                <a:rPr lang="en-US" sz="1275">
                  <a:solidFill>
                    <a:srgbClr val="FA3D2E"/>
                  </a:solidFill>
                  <a:ea typeface="Arial" charset="0"/>
                  <a:cs typeface="Arial" charset="0"/>
                  <a:sym typeface="Arial" charset="0"/>
                </a:rPr>
                <a:t>Controller</a:t>
              </a:r>
            </a:p>
          </p:txBody>
        </p:sp>
      </p:grpSp>
      <p:sp>
        <p:nvSpPr>
          <p:cNvPr id="53" name="Rectangle 39"/>
          <p:cNvSpPr>
            <a:spLocks/>
          </p:cNvSpPr>
          <p:nvPr/>
        </p:nvSpPr>
        <p:spPr bwMode="auto">
          <a:xfrm>
            <a:off x="1994297" y="1414463"/>
            <a:ext cx="1213792" cy="1731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/>
            <a:r>
              <a:rPr lang="en-US" sz="1125">
                <a:latin typeface="Helvetica" charset="0"/>
                <a:sym typeface="Helvetica" charset="0"/>
              </a:rPr>
              <a:t>Research VLAN 2</a:t>
            </a:r>
          </a:p>
        </p:txBody>
      </p:sp>
      <p:grpSp>
        <p:nvGrpSpPr>
          <p:cNvPr id="15" name="Group 9"/>
          <p:cNvGrpSpPr>
            <a:grpSpLocks/>
          </p:cNvGrpSpPr>
          <p:nvPr/>
        </p:nvGrpSpPr>
        <p:grpSpPr bwMode="auto">
          <a:xfrm>
            <a:off x="3314700" y="1133476"/>
            <a:ext cx="2511029" cy="1032272"/>
            <a:chOff x="0" y="0"/>
            <a:chExt cx="3000" cy="1232"/>
          </a:xfrm>
        </p:grpSpPr>
        <p:grpSp>
          <p:nvGrpSpPr>
            <p:cNvPr id="95266" name="Group 10"/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95270" name="AutoShape 11"/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2973B5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95271" name="Rectangle 12"/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>
                  <a:latin typeface="Calibri" charset="0"/>
                </a:endParaRPr>
              </a:p>
            </p:txBody>
          </p:sp>
        </p:grpSp>
        <p:grpSp>
          <p:nvGrpSpPr>
            <p:cNvPr id="95267" name="Group 13"/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95268" name="AutoShape 14"/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38FC3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95269" name="Rectangle 15"/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>
                  <a:latin typeface="Calibri" charset="0"/>
                </a:endParaRPr>
              </a:p>
            </p:txBody>
          </p:sp>
        </p:grpSp>
      </p:grpSp>
      <p:grpSp>
        <p:nvGrpSpPr>
          <p:cNvPr id="18" name="Group 31"/>
          <p:cNvGrpSpPr>
            <a:grpSpLocks/>
          </p:cNvGrpSpPr>
          <p:nvPr/>
        </p:nvGrpSpPr>
        <p:grpSpPr bwMode="auto">
          <a:xfrm>
            <a:off x="3898107" y="1709738"/>
            <a:ext cx="1312069" cy="341710"/>
            <a:chOff x="0" y="0"/>
            <a:chExt cx="1568" cy="408"/>
          </a:xfrm>
        </p:grpSpPr>
        <p:grpSp>
          <p:nvGrpSpPr>
            <p:cNvPr id="95260" name="Group 32"/>
            <p:cNvGrpSpPr>
              <a:grpSpLocks/>
            </p:cNvGrpSpPr>
            <p:nvPr/>
          </p:nvGrpSpPr>
          <p:grpSpPr bwMode="auto">
            <a:xfrm>
              <a:off x="0" y="0"/>
              <a:ext cx="1568" cy="408"/>
              <a:chOff x="0" y="0"/>
              <a:chExt cx="1568" cy="408"/>
            </a:xfrm>
          </p:grpSpPr>
          <p:grpSp>
            <p:nvGrpSpPr>
              <p:cNvPr id="95262" name="Group 33"/>
              <p:cNvGrpSpPr>
                <a:grpSpLocks/>
              </p:cNvGrpSpPr>
              <p:nvPr/>
            </p:nvGrpSpPr>
            <p:grpSpPr bwMode="auto">
              <a:xfrm>
                <a:off x="0" y="0"/>
                <a:ext cx="1568" cy="408"/>
                <a:chOff x="0" y="0"/>
                <a:chExt cx="1568" cy="408"/>
              </a:xfrm>
            </p:grpSpPr>
            <p:sp>
              <p:nvSpPr>
                <p:cNvPr id="95264" name="Rectangle 34"/>
                <p:cNvSpPr>
                  <a:spLocks/>
                </p:cNvSpPr>
                <p:nvPr/>
              </p:nvSpPr>
              <p:spPr bwMode="auto">
                <a:xfrm>
                  <a:off x="0" y="0"/>
                  <a:ext cx="1568" cy="40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endParaRPr lang="en-US" sz="1350">
                    <a:latin typeface="Calibri" charset="0"/>
                  </a:endParaRPr>
                </a:p>
              </p:txBody>
            </p:sp>
            <p:sp>
              <p:nvSpPr>
                <p:cNvPr id="95265" name="Rectangle 35"/>
                <p:cNvSpPr>
                  <a:spLocks/>
                </p:cNvSpPr>
                <p:nvPr/>
              </p:nvSpPr>
              <p:spPr bwMode="auto">
                <a:xfrm>
                  <a:off x="0" y="96"/>
                  <a:ext cx="1568" cy="21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endParaRPr lang="en-US" sz="1350">
                    <a:latin typeface="Calibri" charset="0"/>
                  </a:endParaRPr>
                </a:p>
              </p:txBody>
            </p:sp>
          </p:grpSp>
          <p:sp>
            <p:nvSpPr>
              <p:cNvPr id="95263" name="Rectangle 36"/>
              <p:cNvSpPr>
                <a:spLocks/>
              </p:cNvSpPr>
              <p:nvPr/>
            </p:nvSpPr>
            <p:spPr bwMode="auto">
              <a:xfrm>
                <a:off x="195" y="81"/>
                <a:ext cx="1234" cy="23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43348" bIns="0" anchor="ctr">
                <a:prstTxWarp prst="textNoShape">
                  <a:avLst/>
                </a:prstTxWarp>
                <a:spAutoFit/>
              </a:bodyPr>
              <a:lstStyle/>
              <a:p>
                <a:pPr marL="28575"/>
                <a:r>
                  <a:rPr lang="en-US" sz="1275">
                    <a:ea typeface="Arial" charset="0"/>
                    <a:cs typeface="Arial" charset="0"/>
                    <a:sym typeface="Arial" charset="0"/>
                  </a:rPr>
                  <a:t>    Flow Table</a:t>
                </a:r>
              </a:p>
            </p:txBody>
          </p:sp>
        </p:grpSp>
        <p:pic>
          <p:nvPicPr>
            <p:cNvPr id="95261" name="Picture 3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47"/>
              <a:ext cx="408" cy="3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grpSp>
        <p:nvGrpSpPr>
          <p:cNvPr id="21" name="Group 40"/>
          <p:cNvGrpSpPr>
            <a:grpSpLocks/>
          </p:cNvGrpSpPr>
          <p:nvPr/>
        </p:nvGrpSpPr>
        <p:grpSpPr bwMode="auto">
          <a:xfrm>
            <a:off x="5834063" y="1900237"/>
            <a:ext cx="1706166" cy="833438"/>
            <a:chOff x="0" y="272"/>
            <a:chExt cx="2038" cy="996"/>
          </a:xfrm>
        </p:grpSpPr>
        <p:grpSp>
          <p:nvGrpSpPr>
            <p:cNvPr id="95256" name="Group 41"/>
            <p:cNvGrpSpPr>
              <a:grpSpLocks/>
            </p:cNvGrpSpPr>
            <p:nvPr/>
          </p:nvGrpSpPr>
          <p:grpSpPr bwMode="auto">
            <a:xfrm>
              <a:off x="952" y="272"/>
              <a:ext cx="816" cy="816"/>
              <a:chOff x="0" y="0"/>
              <a:chExt cx="816" cy="816"/>
            </a:xfrm>
          </p:grpSpPr>
          <p:pic>
            <p:nvPicPr>
              <p:cNvPr id="95259" name="Picture 42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sp>
          <p:nvSpPr>
            <p:cNvPr id="95257" name="Line 43"/>
            <p:cNvSpPr>
              <a:spLocks noChangeShapeType="1"/>
            </p:cNvSpPr>
            <p:nvPr/>
          </p:nvSpPr>
          <p:spPr bwMode="auto">
            <a:xfrm rot="10800000" flipH="1">
              <a:off x="0" y="552"/>
              <a:ext cx="1024" cy="34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95258" name="Rectangle 44"/>
            <p:cNvSpPr>
              <a:spLocks/>
            </p:cNvSpPr>
            <p:nvPr/>
          </p:nvSpPr>
          <p:spPr bwMode="auto">
            <a:xfrm>
              <a:off x="630" y="1052"/>
              <a:ext cx="1408" cy="2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3348" bIns="0">
              <a:prstTxWarp prst="textNoShape">
                <a:avLst/>
              </a:prstTxWarp>
            </a:bodyPr>
            <a:lstStyle/>
            <a:p>
              <a:pPr marL="28575">
                <a:spcBef>
                  <a:spcPts val="788"/>
                </a:spcBef>
              </a:pPr>
              <a:r>
                <a:rPr lang="en-US" sz="1275">
                  <a:solidFill>
                    <a:srgbClr val="FA3D2E"/>
                  </a:solidFill>
                  <a:ea typeface="Arial" charset="0"/>
                  <a:cs typeface="Arial" charset="0"/>
                  <a:sym typeface="Arial" charset="0"/>
                </a:rPr>
                <a:t>Controller</a:t>
              </a:r>
            </a:p>
          </p:txBody>
        </p:sp>
      </p:grpSp>
      <p:sp>
        <p:nvSpPr>
          <p:cNvPr id="69" name="Slide Number Placeholder 6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055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1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2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1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74" grpId="0" autoUpdateAnimBg="0"/>
      <p:bldP spid="65575" grpId="0" autoUpdateAnimBg="0"/>
      <p:bldP spid="53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29612"/>
            <a:ext cx="5829300" cy="1975564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Switching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Usage models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Virtualizing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/>
              <a:t>FlowVisor</a:t>
            </a:r>
            <a:r>
              <a:rPr lang="en-US" altLang="zh-TW" dirty="0"/>
              <a:t>-based Virtualization</a:t>
            </a: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references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3300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FlowVisor</a:t>
            </a:r>
            <a:r>
              <a:rPr lang="en-US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Network Hypervisor </a:t>
            </a:r>
            <a:r>
              <a:rPr lang="en-US" dirty="0"/>
              <a:t>developed by Stanford</a:t>
            </a:r>
          </a:p>
          <a:p>
            <a:r>
              <a:rPr lang="en-US" dirty="0"/>
              <a:t>A software proxy between the forwarding and control planes of network devices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398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/>
          </p:cNvSpPr>
          <p:nvPr>
            <p:ph type="title"/>
          </p:nvPr>
        </p:nvSpPr>
        <p:spPr>
          <a:xfrm>
            <a:off x="1269207" y="205978"/>
            <a:ext cx="6388894" cy="651272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Calibri" charset="0"/>
              </a:rPr>
              <a:t>FlowVisor</a:t>
            </a:r>
            <a:r>
              <a:rPr lang="en-US" dirty="0">
                <a:latin typeface="Calibri" charset="0"/>
              </a:rPr>
              <a:t>-based Virtualization(1/2)</a:t>
            </a:r>
          </a:p>
        </p:txBody>
      </p:sp>
      <p:pic>
        <p:nvPicPr>
          <p:cNvPr id="285700" name="Picture 1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4710" y="4581525"/>
            <a:ext cx="542925" cy="385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85701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13635" y="4581525"/>
            <a:ext cx="544115" cy="385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85702" name="Line 3"/>
          <p:cNvSpPr>
            <a:spLocks noChangeShapeType="1"/>
          </p:cNvSpPr>
          <p:nvPr/>
        </p:nvSpPr>
        <p:spPr bwMode="auto">
          <a:xfrm flipH="1">
            <a:off x="2464594" y="3178969"/>
            <a:ext cx="471488" cy="85606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85703" name="Line 4"/>
          <p:cNvSpPr>
            <a:spLocks noChangeShapeType="1"/>
          </p:cNvSpPr>
          <p:nvPr/>
        </p:nvSpPr>
        <p:spPr bwMode="auto">
          <a:xfrm>
            <a:off x="4241007" y="4411267"/>
            <a:ext cx="217885" cy="240506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285704" name="Group 5"/>
          <p:cNvGrpSpPr>
            <a:grpSpLocks/>
          </p:cNvGrpSpPr>
          <p:nvPr/>
        </p:nvGrpSpPr>
        <p:grpSpPr bwMode="auto">
          <a:xfrm>
            <a:off x="2663429" y="2826544"/>
            <a:ext cx="1104900" cy="347663"/>
            <a:chOff x="0" y="0"/>
            <a:chExt cx="1320" cy="416"/>
          </a:xfrm>
        </p:grpSpPr>
        <p:sp>
          <p:nvSpPr>
            <p:cNvPr id="285705" name="AutoShape 6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285706" name="Rectangle 7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3348" bIns="0">
              <a:prstTxWarp prst="textNoShape">
                <a:avLst/>
              </a:prstTxWarp>
            </a:bodyPr>
            <a:lstStyle/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285707" name="Picture 8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sp>
        <p:nvSpPr>
          <p:cNvPr id="285708" name="Line 9"/>
          <p:cNvSpPr>
            <a:spLocks noChangeShapeType="1"/>
          </p:cNvSpPr>
          <p:nvPr/>
        </p:nvSpPr>
        <p:spPr bwMode="auto">
          <a:xfrm>
            <a:off x="3554016" y="3178969"/>
            <a:ext cx="471488" cy="85606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85709" name="Line 10"/>
          <p:cNvSpPr>
            <a:spLocks noChangeShapeType="1"/>
          </p:cNvSpPr>
          <p:nvPr/>
        </p:nvSpPr>
        <p:spPr bwMode="auto">
          <a:xfrm flipH="1">
            <a:off x="1776412" y="4411267"/>
            <a:ext cx="253604" cy="240506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619" name="Rectangle 11"/>
          <p:cNvSpPr>
            <a:spLocks/>
          </p:cNvSpPr>
          <p:nvPr/>
        </p:nvSpPr>
        <p:spPr bwMode="auto">
          <a:xfrm>
            <a:off x="5028010" y="3580210"/>
            <a:ext cx="717502" cy="3462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9300">
              <a:defRPr/>
            </a:pPr>
            <a:r>
              <a:rPr lang="en-US" sz="1125" dirty="0" err="1">
                <a:ea typeface="Arial" charset="0"/>
                <a:cs typeface="Arial" charset="0"/>
                <a:sym typeface="Arial" charset="0"/>
              </a:rPr>
              <a:t>OpenFlow</a:t>
            </a:r>
            <a:endParaRPr lang="en-US" sz="1125" dirty="0">
              <a:ea typeface="Arial" charset="0"/>
              <a:cs typeface="Arial" charset="0"/>
              <a:sym typeface="Arial" charset="0"/>
            </a:endParaRPr>
          </a:p>
          <a:p>
            <a:pPr marL="29300">
              <a:defRPr/>
            </a:pPr>
            <a:r>
              <a:rPr lang="en-US" sz="1125" dirty="0">
                <a:ea typeface="Arial" charset="0"/>
                <a:cs typeface="Arial" charset="0"/>
                <a:sym typeface="Arial" charset="0"/>
              </a:rPr>
              <a:t>Protocol</a:t>
            </a:r>
          </a:p>
        </p:txBody>
      </p:sp>
      <p:sp>
        <p:nvSpPr>
          <p:cNvPr id="285711" name="Line 12"/>
          <p:cNvSpPr>
            <a:spLocks noChangeShapeType="1"/>
          </p:cNvSpPr>
          <p:nvPr/>
        </p:nvSpPr>
        <p:spPr bwMode="auto">
          <a:xfrm rot="10800000" flipH="1">
            <a:off x="4457700" y="3295650"/>
            <a:ext cx="1028700" cy="79891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85712" name="Line 13"/>
          <p:cNvSpPr>
            <a:spLocks noChangeShapeType="1"/>
          </p:cNvSpPr>
          <p:nvPr/>
        </p:nvSpPr>
        <p:spPr bwMode="auto">
          <a:xfrm rot="10800000" flipH="1">
            <a:off x="3775472" y="2951560"/>
            <a:ext cx="1314450" cy="5715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85713" name="Line 14"/>
          <p:cNvSpPr>
            <a:spLocks noChangeShapeType="1"/>
          </p:cNvSpPr>
          <p:nvPr/>
        </p:nvSpPr>
        <p:spPr bwMode="auto">
          <a:xfrm rot="10800000" flipH="1">
            <a:off x="2743200" y="3237310"/>
            <a:ext cx="2343150" cy="85725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285714" name="Group 15"/>
          <p:cNvGrpSpPr>
            <a:grpSpLocks/>
          </p:cNvGrpSpPr>
          <p:nvPr/>
        </p:nvGrpSpPr>
        <p:grpSpPr bwMode="auto">
          <a:xfrm>
            <a:off x="5087541" y="2739629"/>
            <a:ext cx="2512219" cy="554831"/>
            <a:chOff x="0" y="0"/>
            <a:chExt cx="3000" cy="664"/>
          </a:xfrm>
        </p:grpSpPr>
        <p:grpSp>
          <p:nvGrpSpPr>
            <p:cNvPr id="285715" name="Group 16"/>
            <p:cNvGrpSpPr>
              <a:grpSpLocks/>
            </p:cNvGrpSpPr>
            <p:nvPr/>
          </p:nvGrpSpPr>
          <p:grpSpPr bwMode="auto">
            <a:xfrm>
              <a:off x="0" y="0"/>
              <a:ext cx="3000" cy="664"/>
              <a:chOff x="0" y="0"/>
              <a:chExt cx="3000" cy="664"/>
            </a:xfrm>
          </p:grpSpPr>
          <p:sp>
            <p:nvSpPr>
              <p:cNvPr id="68625" name="AutoShape 17"/>
              <p:cNvSpPr>
                <a:spLocks/>
              </p:cNvSpPr>
              <p:nvPr/>
            </p:nvSpPr>
            <p:spPr bwMode="auto">
              <a:xfrm>
                <a:off x="0" y="0"/>
                <a:ext cx="3000" cy="664"/>
              </a:xfrm>
              <a:prstGeom prst="roundRect">
                <a:avLst>
                  <a:gd name="adj" fmla="val 11718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285717" name="Rectangle 18"/>
              <p:cNvSpPr>
                <a:spLocks/>
              </p:cNvSpPr>
              <p:nvPr/>
            </p:nvSpPr>
            <p:spPr bwMode="auto">
              <a:xfrm>
                <a:off x="33" y="224"/>
                <a:ext cx="2936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>
                  <a:latin typeface="Calibri" charset="0"/>
                </a:endParaRPr>
              </a:p>
            </p:txBody>
          </p:sp>
        </p:grpSp>
        <p:sp>
          <p:nvSpPr>
            <p:cNvPr id="285718" name="Rectangle 19"/>
            <p:cNvSpPr>
              <a:spLocks/>
            </p:cNvSpPr>
            <p:nvPr/>
          </p:nvSpPr>
          <p:spPr bwMode="auto">
            <a:xfrm>
              <a:off x="109" y="88"/>
              <a:ext cx="2800" cy="4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28575" tIns="28575" rIns="84418" bIns="28575" anchor="ctr">
              <a:prstTxWarp prst="textNoShape">
                <a:avLst/>
              </a:prstTxWarp>
            </a:bodyPr>
            <a:lstStyle/>
            <a:p>
              <a:r>
                <a:rPr lang="en-US" sz="1275">
                  <a:ea typeface="Arial" charset="0"/>
                  <a:cs typeface="Arial" charset="0"/>
                  <a:sym typeface="Arial" charset="0"/>
                </a:rPr>
                <a:t>OpenFlow FlowVisor </a:t>
              </a:r>
              <a:br>
                <a:rPr lang="en-US" sz="1275">
                  <a:ea typeface="Arial" charset="0"/>
                  <a:cs typeface="Arial" charset="0"/>
                  <a:sym typeface="Arial" charset="0"/>
                </a:rPr>
              </a:br>
              <a:r>
                <a:rPr lang="en-US" sz="1275">
                  <a:ea typeface="Arial" charset="0"/>
                  <a:cs typeface="Arial" charset="0"/>
                  <a:sym typeface="Arial" charset="0"/>
                </a:rPr>
                <a:t>&amp; Policy Control</a:t>
              </a:r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6858000" y="1479948"/>
            <a:ext cx="685800" cy="683419"/>
            <a:chOff x="0" y="0"/>
            <a:chExt cx="820" cy="816"/>
          </a:xfrm>
        </p:grpSpPr>
        <p:pic>
          <p:nvPicPr>
            <p:cNvPr id="285720" name="Picture 21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0"/>
              <a:ext cx="820" cy="8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68630" name="Line 22"/>
          <p:cNvSpPr>
            <a:spLocks noChangeShapeType="1"/>
          </p:cNvSpPr>
          <p:nvPr/>
        </p:nvSpPr>
        <p:spPr bwMode="auto">
          <a:xfrm rot="10800000" flipH="1">
            <a:off x="6800850" y="2109788"/>
            <a:ext cx="344091" cy="62746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631" name="Rectangle 23"/>
          <p:cNvSpPr>
            <a:spLocks/>
          </p:cNvSpPr>
          <p:nvPr/>
        </p:nvSpPr>
        <p:spPr bwMode="auto">
          <a:xfrm>
            <a:off x="6320000" y="910829"/>
            <a:ext cx="771363" cy="39241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 algn="r"/>
            <a:r>
              <a:rPr lang="en-US" sz="1275">
                <a:ea typeface="Arial" charset="0"/>
                <a:cs typeface="Arial" charset="0"/>
                <a:sym typeface="Arial" charset="0"/>
              </a:rPr>
              <a:t>Craig’s</a:t>
            </a:r>
          </a:p>
          <a:p>
            <a:pPr marL="28575" algn="r"/>
            <a:r>
              <a:rPr lang="en-US" sz="1275">
                <a:ea typeface="Arial" charset="0"/>
                <a:cs typeface="Arial" charset="0"/>
                <a:sym typeface="Arial" charset="0"/>
              </a:rPr>
              <a:t>Controller</a:t>
            </a:r>
          </a:p>
        </p:txBody>
      </p:sp>
      <p:sp>
        <p:nvSpPr>
          <p:cNvPr id="68632" name="Rectangle 24"/>
          <p:cNvSpPr>
            <a:spLocks/>
          </p:cNvSpPr>
          <p:nvPr/>
        </p:nvSpPr>
        <p:spPr bwMode="auto">
          <a:xfrm>
            <a:off x="5292329" y="910829"/>
            <a:ext cx="771363" cy="39241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/>
            <a:r>
              <a:rPr lang="en-US" sz="1275">
                <a:ea typeface="Arial" charset="0"/>
                <a:cs typeface="Arial" charset="0"/>
                <a:sym typeface="Arial" charset="0"/>
              </a:rPr>
              <a:t>Heidi’s</a:t>
            </a:r>
          </a:p>
          <a:p>
            <a:pPr marL="28575"/>
            <a:r>
              <a:rPr lang="en-US" sz="1275">
                <a:ea typeface="Arial" charset="0"/>
                <a:cs typeface="Arial" charset="0"/>
                <a:sym typeface="Arial" charset="0"/>
              </a:rPr>
              <a:t>Controller</a:t>
            </a: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261373" y="1365648"/>
            <a:ext cx="683419" cy="683419"/>
            <a:chOff x="0" y="0"/>
            <a:chExt cx="816" cy="816"/>
          </a:xfrm>
        </p:grpSpPr>
        <p:pic>
          <p:nvPicPr>
            <p:cNvPr id="285725" name="Picture 26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0"/>
              <a:ext cx="816" cy="8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68635" name="Line 27"/>
          <p:cNvSpPr>
            <a:spLocks noChangeShapeType="1"/>
          </p:cNvSpPr>
          <p:nvPr/>
        </p:nvSpPr>
        <p:spPr bwMode="auto">
          <a:xfrm rot="10800000">
            <a:off x="5543550" y="1995488"/>
            <a:ext cx="398860" cy="74295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85727" name="Rectangle 28"/>
          <p:cNvSpPr>
            <a:spLocks/>
          </p:cNvSpPr>
          <p:nvPr/>
        </p:nvSpPr>
        <p:spPr bwMode="auto">
          <a:xfrm>
            <a:off x="3798094" y="1025129"/>
            <a:ext cx="771363" cy="39241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/>
            <a:r>
              <a:rPr lang="en-US" sz="1275">
                <a:ea typeface="Arial" charset="0"/>
                <a:cs typeface="Arial" charset="0"/>
                <a:sym typeface="Arial" charset="0"/>
              </a:rPr>
              <a:t>Aaron’s</a:t>
            </a:r>
          </a:p>
          <a:p>
            <a:pPr marL="28575"/>
            <a:r>
              <a:rPr lang="en-US" sz="1275">
                <a:ea typeface="Arial" charset="0"/>
                <a:cs typeface="Arial" charset="0"/>
                <a:sym typeface="Arial" charset="0"/>
              </a:rPr>
              <a:t>Controller</a:t>
            </a:r>
          </a:p>
        </p:txBody>
      </p:sp>
      <p:grpSp>
        <p:nvGrpSpPr>
          <p:cNvPr id="285728" name="Group 29"/>
          <p:cNvGrpSpPr>
            <a:grpSpLocks/>
          </p:cNvGrpSpPr>
          <p:nvPr/>
        </p:nvGrpSpPr>
        <p:grpSpPr bwMode="auto">
          <a:xfrm>
            <a:off x="3855244" y="1479948"/>
            <a:ext cx="683419" cy="683419"/>
            <a:chOff x="0" y="0"/>
            <a:chExt cx="816" cy="816"/>
          </a:xfrm>
        </p:grpSpPr>
        <p:pic>
          <p:nvPicPr>
            <p:cNvPr id="285729" name="Picture 30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0"/>
              <a:ext cx="816" cy="8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285730" name="Line 31"/>
          <p:cNvSpPr>
            <a:spLocks noChangeShapeType="1"/>
          </p:cNvSpPr>
          <p:nvPr/>
        </p:nvSpPr>
        <p:spPr bwMode="auto">
          <a:xfrm rot="10800000">
            <a:off x="4344591" y="2109788"/>
            <a:ext cx="1027509" cy="62746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8640" name="Rectangle 32"/>
          <p:cNvSpPr>
            <a:spLocks/>
          </p:cNvSpPr>
          <p:nvPr/>
        </p:nvSpPr>
        <p:spPr bwMode="auto">
          <a:xfrm>
            <a:off x="4572000" y="2131219"/>
            <a:ext cx="717502" cy="3462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9300">
              <a:defRPr/>
            </a:pPr>
            <a:r>
              <a:rPr lang="en-US" sz="1125" dirty="0" err="1">
                <a:ea typeface="Arial" charset="0"/>
                <a:cs typeface="Arial" charset="0"/>
                <a:sym typeface="Arial" charset="0"/>
              </a:rPr>
              <a:t>OpenFlow</a:t>
            </a:r>
            <a:endParaRPr lang="en-US" sz="1125" dirty="0">
              <a:ea typeface="Arial" charset="0"/>
              <a:cs typeface="Arial" charset="0"/>
              <a:sym typeface="Arial" charset="0"/>
            </a:endParaRPr>
          </a:p>
          <a:p>
            <a:pPr marL="29300">
              <a:defRPr/>
            </a:pPr>
            <a:r>
              <a:rPr lang="en-US" sz="1125" dirty="0">
                <a:ea typeface="Arial" charset="0"/>
                <a:cs typeface="Arial" charset="0"/>
                <a:sym typeface="Arial" charset="0"/>
              </a:rPr>
              <a:t>Protocol</a:t>
            </a:r>
          </a:p>
        </p:txBody>
      </p:sp>
      <p:pic>
        <p:nvPicPr>
          <p:cNvPr id="285732" name="Picture 33"/>
          <p:cNvPicPr>
            <a:picLocks noChangeArrowheads="1"/>
          </p:cNvPicPr>
          <p:nvPr/>
        </p:nvPicPr>
        <p:blipFill>
          <a:blip r:embed="rId5"/>
          <a:srcRect l="14651" t="7971" r="14650" b="23914"/>
          <a:stretch>
            <a:fillRect/>
          </a:stretch>
        </p:blipFill>
        <p:spPr bwMode="auto">
          <a:xfrm>
            <a:off x="3084910" y="1025129"/>
            <a:ext cx="683419" cy="847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68642" name="Picture 34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286501" y="1366838"/>
            <a:ext cx="584597" cy="68699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68643" name="Picture 35"/>
          <p:cNvPicPr>
            <a:picLocks noChangeArrowheads="1"/>
          </p:cNvPicPr>
          <p:nvPr/>
        </p:nvPicPr>
        <p:blipFill>
          <a:blip r:embed="rId7"/>
          <a:srcRect r="9351" b="29576"/>
          <a:stretch>
            <a:fillRect/>
          </a:stretch>
        </p:blipFill>
        <p:spPr bwMode="auto">
          <a:xfrm>
            <a:off x="4669632" y="850107"/>
            <a:ext cx="611981" cy="6834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285735" name="Group 37"/>
          <p:cNvGrpSpPr>
            <a:grpSpLocks/>
          </p:cNvGrpSpPr>
          <p:nvPr/>
        </p:nvGrpSpPr>
        <p:grpSpPr bwMode="auto">
          <a:xfrm>
            <a:off x="1632347" y="4051698"/>
            <a:ext cx="1104900" cy="348853"/>
            <a:chOff x="0" y="0"/>
            <a:chExt cx="1320" cy="416"/>
          </a:xfrm>
        </p:grpSpPr>
        <p:sp>
          <p:nvSpPr>
            <p:cNvPr id="285736" name="AutoShape 38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285737" name="Rectangle 39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3348" bIns="0">
              <a:prstTxWarp prst="textNoShape">
                <a:avLst/>
              </a:prstTxWarp>
            </a:bodyPr>
            <a:lstStyle/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285738" name="Picture 40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grpSp>
        <p:nvGrpSpPr>
          <p:cNvPr id="285739" name="Group 41"/>
          <p:cNvGrpSpPr>
            <a:grpSpLocks/>
          </p:cNvGrpSpPr>
          <p:nvPr/>
        </p:nvGrpSpPr>
        <p:grpSpPr bwMode="auto">
          <a:xfrm>
            <a:off x="3346847" y="4051698"/>
            <a:ext cx="1104900" cy="348853"/>
            <a:chOff x="0" y="0"/>
            <a:chExt cx="1320" cy="416"/>
          </a:xfrm>
        </p:grpSpPr>
        <p:sp>
          <p:nvSpPr>
            <p:cNvPr id="285740" name="AutoShape 42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285741" name="Rectangle 43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3348" bIns="0">
              <a:prstTxWarp prst="textNoShape">
                <a:avLst/>
              </a:prstTxWarp>
            </a:bodyPr>
            <a:lstStyle/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285742" name="Picture 44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sp>
        <p:nvSpPr>
          <p:cNvPr id="46" name="Slide Number Placeholder 45"/>
          <p:cNvSpPr txBox="1">
            <a:spLocks noGrp="1"/>
          </p:cNvSpPr>
          <p:nvPr/>
        </p:nvSpPr>
        <p:spPr>
          <a:xfrm>
            <a:off x="6057900" y="4767263"/>
            <a:ext cx="1600200" cy="273844"/>
          </a:xfrm>
          <a:prstGeom prst="rect">
            <a:avLst/>
          </a:prstGeom>
          <a:noFill/>
        </p:spPr>
        <p:txBody>
          <a:bodyPr anchor="ctr">
            <a:prstTxWarp prst="textNoShape">
              <a:avLst/>
            </a:prstTxWarp>
          </a:bodyPr>
          <a:lstStyle/>
          <a:p>
            <a:pPr algn="r"/>
            <a:fld id="{BBD686CF-5E3F-D942-901F-0BF85BEAA4A0}" type="slidenum">
              <a:rPr lang="en-US" sz="900">
                <a:solidFill>
                  <a:srgbClr val="898989"/>
                </a:solidFill>
                <a:latin typeface="Calibri" charset="0"/>
              </a:rPr>
              <a:pPr algn="r"/>
              <a:t>69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285744" name="Rectangle 48"/>
          <p:cNvSpPr>
            <a:spLocks noChangeArrowheads="1"/>
          </p:cNvSpPr>
          <p:nvPr/>
        </p:nvSpPr>
        <p:spPr bwMode="auto">
          <a:xfrm>
            <a:off x="1269206" y="1354931"/>
            <a:ext cx="1195388" cy="78483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FFFF99">
                <a:gamma/>
                <a:shade val="60000"/>
                <a:invGamma/>
                <a:alpha val="74998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>
                <a:latin typeface="Calibri" charset="0"/>
                <a:sym typeface="Helvetica" charset="0"/>
              </a:rPr>
              <a:t>Topology discovery is per slice</a:t>
            </a:r>
          </a:p>
        </p:txBody>
      </p:sp>
    </p:spTree>
    <p:extLst>
      <p:ext uri="{BB962C8B-B14F-4D97-AF65-F5344CB8AC3E}">
        <p14:creationId xmlns:p14="http://schemas.microsoft.com/office/powerpoint/2010/main" val="38586406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1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2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3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4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5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6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30" grpId="0" animBg="1"/>
      <p:bldP spid="68631" grpId="0" autoUpdateAnimBg="0"/>
      <p:bldP spid="68632" grpId="0" autoUpdateAnimBg="0"/>
      <p:bldP spid="6863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7" name="Picture 1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84710" y="4581525"/>
            <a:ext cx="542925" cy="385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01378" name="Picture 2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3635" y="4581525"/>
            <a:ext cx="544115" cy="385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01379" name="Line 3"/>
          <p:cNvSpPr>
            <a:spLocks noChangeShapeType="1"/>
          </p:cNvSpPr>
          <p:nvPr/>
        </p:nvSpPr>
        <p:spPr bwMode="auto">
          <a:xfrm flipH="1">
            <a:off x="2464594" y="3178969"/>
            <a:ext cx="471488" cy="85606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1380" name="Line 4"/>
          <p:cNvSpPr>
            <a:spLocks noChangeShapeType="1"/>
          </p:cNvSpPr>
          <p:nvPr/>
        </p:nvSpPr>
        <p:spPr bwMode="auto">
          <a:xfrm>
            <a:off x="4241007" y="4411267"/>
            <a:ext cx="217885" cy="240506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1381" name="Line 5"/>
          <p:cNvSpPr>
            <a:spLocks noChangeShapeType="1"/>
          </p:cNvSpPr>
          <p:nvPr/>
        </p:nvSpPr>
        <p:spPr bwMode="auto">
          <a:xfrm>
            <a:off x="3554016" y="3178969"/>
            <a:ext cx="471488" cy="85606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1382" name="Line 6"/>
          <p:cNvSpPr>
            <a:spLocks noChangeShapeType="1"/>
          </p:cNvSpPr>
          <p:nvPr/>
        </p:nvSpPr>
        <p:spPr bwMode="auto">
          <a:xfrm flipH="1">
            <a:off x="1776412" y="4411267"/>
            <a:ext cx="253604" cy="240506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1383" name="Rectangle 7"/>
          <p:cNvSpPr>
            <a:spLocks/>
          </p:cNvSpPr>
          <p:nvPr/>
        </p:nvSpPr>
        <p:spPr bwMode="auto">
          <a:xfrm>
            <a:off x="5028010" y="3580210"/>
            <a:ext cx="716861" cy="3462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/>
            <a:r>
              <a:rPr lang="en-US" sz="1125">
                <a:ea typeface="Arial" charset="0"/>
                <a:cs typeface="Arial" charset="0"/>
                <a:sym typeface="Arial" charset="0"/>
              </a:rPr>
              <a:t>OpenFlow</a:t>
            </a:r>
          </a:p>
          <a:p>
            <a:pPr marL="28575"/>
            <a:r>
              <a:rPr lang="en-US" sz="1125">
                <a:ea typeface="Arial" charset="0"/>
                <a:cs typeface="Arial" charset="0"/>
                <a:sym typeface="Arial" charset="0"/>
              </a:rPr>
              <a:t>Protocol</a:t>
            </a:r>
          </a:p>
        </p:txBody>
      </p:sp>
      <p:sp>
        <p:nvSpPr>
          <p:cNvPr id="101384" name="Line 8"/>
          <p:cNvSpPr>
            <a:spLocks noChangeShapeType="1"/>
          </p:cNvSpPr>
          <p:nvPr/>
        </p:nvSpPr>
        <p:spPr bwMode="auto">
          <a:xfrm rot="10800000" flipH="1">
            <a:off x="4457700" y="3295650"/>
            <a:ext cx="1028700" cy="79891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1385" name="Line 9"/>
          <p:cNvSpPr>
            <a:spLocks noChangeShapeType="1"/>
          </p:cNvSpPr>
          <p:nvPr/>
        </p:nvSpPr>
        <p:spPr bwMode="auto">
          <a:xfrm rot="10800000" flipH="1">
            <a:off x="3775472" y="2951560"/>
            <a:ext cx="1314450" cy="5715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1386" name="Line 10"/>
          <p:cNvSpPr>
            <a:spLocks noChangeShapeType="1"/>
          </p:cNvSpPr>
          <p:nvPr/>
        </p:nvSpPr>
        <p:spPr bwMode="auto">
          <a:xfrm rot="10800000" flipH="1">
            <a:off x="2743200" y="3237310"/>
            <a:ext cx="2343150" cy="85725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 sz="1350"/>
          </a:p>
        </p:txBody>
      </p:sp>
      <p:grpSp>
        <p:nvGrpSpPr>
          <p:cNvPr id="101387" name="Group 11"/>
          <p:cNvGrpSpPr>
            <a:grpSpLocks/>
          </p:cNvGrpSpPr>
          <p:nvPr/>
        </p:nvGrpSpPr>
        <p:grpSpPr bwMode="auto">
          <a:xfrm>
            <a:off x="5087541" y="2739629"/>
            <a:ext cx="2512219" cy="554831"/>
            <a:chOff x="0" y="0"/>
            <a:chExt cx="3000" cy="664"/>
          </a:xfrm>
        </p:grpSpPr>
        <p:grpSp>
          <p:nvGrpSpPr>
            <p:cNvPr id="101416" name="Group 12"/>
            <p:cNvGrpSpPr>
              <a:grpSpLocks/>
            </p:cNvGrpSpPr>
            <p:nvPr/>
          </p:nvGrpSpPr>
          <p:grpSpPr bwMode="auto">
            <a:xfrm>
              <a:off x="0" y="0"/>
              <a:ext cx="3000" cy="664"/>
              <a:chOff x="0" y="0"/>
              <a:chExt cx="3000" cy="664"/>
            </a:xfrm>
          </p:grpSpPr>
          <p:sp>
            <p:nvSpPr>
              <p:cNvPr id="101418" name="AutoShape 13"/>
              <p:cNvSpPr>
                <a:spLocks/>
              </p:cNvSpPr>
              <p:nvPr/>
            </p:nvSpPr>
            <p:spPr bwMode="auto">
              <a:xfrm>
                <a:off x="0" y="0"/>
                <a:ext cx="3000" cy="664"/>
              </a:xfrm>
              <a:prstGeom prst="roundRect">
                <a:avLst>
                  <a:gd name="adj" fmla="val 11718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>
                  <a:latin typeface="Calibri" charset="0"/>
                </a:endParaRPr>
              </a:p>
            </p:txBody>
          </p:sp>
          <p:sp>
            <p:nvSpPr>
              <p:cNvPr id="101419" name="Rectangle 14"/>
              <p:cNvSpPr>
                <a:spLocks/>
              </p:cNvSpPr>
              <p:nvPr/>
            </p:nvSpPr>
            <p:spPr bwMode="auto">
              <a:xfrm>
                <a:off x="33" y="224"/>
                <a:ext cx="2936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 sz="1350">
                  <a:latin typeface="Calibri" charset="0"/>
                </a:endParaRPr>
              </a:p>
            </p:txBody>
          </p:sp>
        </p:grpSp>
        <p:sp>
          <p:nvSpPr>
            <p:cNvPr id="101417" name="Rectangle 15"/>
            <p:cNvSpPr>
              <a:spLocks/>
            </p:cNvSpPr>
            <p:nvPr/>
          </p:nvSpPr>
          <p:spPr bwMode="auto">
            <a:xfrm>
              <a:off x="340" y="62"/>
              <a:ext cx="2437" cy="53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28575" tIns="28575" rIns="84418" bIns="28575" anchor="ctr">
              <a:prstTxWarp prst="textNoShape">
                <a:avLst/>
              </a:prstTxWarp>
              <a:spAutoFit/>
            </a:bodyPr>
            <a:lstStyle/>
            <a:p>
              <a:r>
                <a:rPr lang="en-US" sz="1275">
                  <a:ea typeface="Arial" charset="0"/>
                  <a:cs typeface="Arial" charset="0"/>
                  <a:sym typeface="Arial" charset="0"/>
                </a:rPr>
                <a:t>OpenFlow</a:t>
              </a:r>
            </a:p>
            <a:p>
              <a:r>
                <a:rPr lang="en-US" sz="1275">
                  <a:ea typeface="Arial" charset="0"/>
                  <a:cs typeface="Arial" charset="0"/>
                  <a:sym typeface="Arial" charset="0"/>
                </a:rPr>
                <a:t>FlowVisor &amp; Policy Control</a:t>
              </a:r>
            </a:p>
          </p:txBody>
        </p:sp>
      </p:grpSp>
      <p:sp>
        <p:nvSpPr>
          <p:cNvPr id="101388" name="Rectangle 16"/>
          <p:cNvSpPr>
            <a:spLocks/>
          </p:cNvSpPr>
          <p:nvPr/>
        </p:nvSpPr>
        <p:spPr bwMode="auto">
          <a:xfrm>
            <a:off x="3761185" y="1245394"/>
            <a:ext cx="797011" cy="19620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/>
            <a:r>
              <a:rPr lang="en-US" sz="1275">
                <a:ea typeface="Arial" charset="0"/>
                <a:cs typeface="Arial" charset="0"/>
                <a:sym typeface="Arial" charset="0"/>
              </a:rPr>
              <a:t>Broadcast</a:t>
            </a:r>
          </a:p>
        </p:txBody>
      </p:sp>
      <p:sp>
        <p:nvSpPr>
          <p:cNvPr id="101389" name="Rectangle 17"/>
          <p:cNvSpPr>
            <a:spLocks/>
          </p:cNvSpPr>
          <p:nvPr/>
        </p:nvSpPr>
        <p:spPr bwMode="auto">
          <a:xfrm>
            <a:off x="5242323" y="1151335"/>
            <a:ext cx="705640" cy="19620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/>
            <a:r>
              <a:rPr lang="en-US" sz="1275">
                <a:ea typeface="Arial" charset="0"/>
                <a:cs typeface="Arial" charset="0"/>
                <a:sym typeface="Arial" charset="0"/>
              </a:rPr>
              <a:t>Multicast</a:t>
            </a:r>
          </a:p>
        </p:txBody>
      </p:sp>
      <p:grpSp>
        <p:nvGrpSpPr>
          <p:cNvPr id="101390" name="Group 18"/>
          <p:cNvGrpSpPr>
            <a:grpSpLocks/>
          </p:cNvGrpSpPr>
          <p:nvPr/>
        </p:nvGrpSpPr>
        <p:grpSpPr bwMode="auto">
          <a:xfrm>
            <a:off x="3855244" y="1366838"/>
            <a:ext cx="3683794" cy="1371600"/>
            <a:chOff x="0" y="0"/>
            <a:chExt cx="4399" cy="1639"/>
          </a:xfrm>
        </p:grpSpPr>
        <p:grpSp>
          <p:nvGrpSpPr>
            <p:cNvPr id="101406" name="Group 19"/>
            <p:cNvGrpSpPr>
              <a:grpSpLocks/>
            </p:cNvGrpSpPr>
            <p:nvPr/>
          </p:nvGrpSpPr>
          <p:grpSpPr bwMode="auto">
            <a:xfrm>
              <a:off x="0" y="136"/>
              <a:ext cx="816" cy="816"/>
              <a:chOff x="0" y="0"/>
              <a:chExt cx="816" cy="816"/>
            </a:xfrm>
          </p:grpSpPr>
          <p:pic>
            <p:nvPicPr>
              <p:cNvPr id="101415" name="Picture 20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grpSp>
          <p:nvGrpSpPr>
            <p:cNvPr id="101407" name="Group 21"/>
            <p:cNvGrpSpPr>
              <a:grpSpLocks/>
            </p:cNvGrpSpPr>
            <p:nvPr/>
          </p:nvGrpSpPr>
          <p:grpSpPr bwMode="auto">
            <a:xfrm>
              <a:off x="1679" y="0"/>
              <a:ext cx="816" cy="816"/>
              <a:chOff x="0" y="0"/>
              <a:chExt cx="816" cy="816"/>
            </a:xfrm>
          </p:grpSpPr>
          <p:pic>
            <p:nvPicPr>
              <p:cNvPr id="101414" name="Picture 22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grpSp>
          <p:nvGrpSpPr>
            <p:cNvPr id="101408" name="Group 23"/>
            <p:cNvGrpSpPr>
              <a:grpSpLocks/>
            </p:cNvGrpSpPr>
            <p:nvPr/>
          </p:nvGrpSpPr>
          <p:grpSpPr bwMode="auto">
            <a:xfrm>
              <a:off x="3583" y="136"/>
              <a:ext cx="816" cy="816"/>
              <a:chOff x="0" y="0"/>
              <a:chExt cx="816" cy="816"/>
            </a:xfrm>
          </p:grpSpPr>
          <p:pic>
            <p:nvPicPr>
              <p:cNvPr id="101413" name="Picture 24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sp>
          <p:nvSpPr>
            <p:cNvPr id="101409" name="Line 25"/>
            <p:cNvSpPr>
              <a:spLocks noChangeShapeType="1"/>
            </p:cNvSpPr>
            <p:nvPr/>
          </p:nvSpPr>
          <p:spPr bwMode="auto">
            <a:xfrm rot="10800000">
              <a:off x="583" y="887"/>
              <a:ext cx="1228" cy="75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01410" name="Line 26"/>
            <p:cNvSpPr>
              <a:spLocks noChangeShapeType="1"/>
            </p:cNvSpPr>
            <p:nvPr/>
          </p:nvSpPr>
          <p:spPr bwMode="auto">
            <a:xfrm rot="10800000">
              <a:off x="2015" y="752"/>
              <a:ext cx="477" cy="887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01411" name="Line 27"/>
            <p:cNvSpPr>
              <a:spLocks noChangeShapeType="1"/>
            </p:cNvSpPr>
            <p:nvPr/>
          </p:nvSpPr>
          <p:spPr bwMode="auto">
            <a:xfrm rot="10800000" flipH="1">
              <a:off x="3519" y="888"/>
              <a:ext cx="409" cy="750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01412" name="Rectangle 28"/>
            <p:cNvSpPr>
              <a:spLocks/>
            </p:cNvSpPr>
            <p:nvPr/>
          </p:nvSpPr>
          <p:spPr bwMode="auto">
            <a:xfrm>
              <a:off x="2559" y="1120"/>
              <a:ext cx="872" cy="4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43348" bIns="0">
              <a:prstTxWarp prst="textNoShape">
                <a:avLst/>
              </a:prstTxWarp>
              <a:spAutoFit/>
            </a:bodyPr>
            <a:lstStyle/>
            <a:p>
              <a:pPr marL="28575"/>
              <a:r>
                <a:rPr lang="en-US" sz="1125">
                  <a:ea typeface="Arial" charset="0"/>
                  <a:cs typeface="Arial" charset="0"/>
                  <a:sym typeface="Arial" charset="0"/>
                </a:rPr>
                <a:t>OpenFlow</a:t>
              </a:r>
            </a:p>
            <a:p>
              <a:pPr marL="28575"/>
              <a:r>
                <a:rPr lang="en-US" sz="1125">
                  <a:ea typeface="Arial" charset="0"/>
                  <a:cs typeface="Arial" charset="0"/>
                  <a:sym typeface="Arial" charset="0"/>
                </a:rPr>
                <a:t>Protocol</a:t>
              </a:r>
            </a:p>
          </p:txBody>
        </p:sp>
      </p:grpSp>
      <p:sp>
        <p:nvSpPr>
          <p:cNvPr id="101391" name="Rectangle 29"/>
          <p:cNvSpPr>
            <a:spLocks/>
          </p:cNvSpPr>
          <p:nvPr/>
        </p:nvSpPr>
        <p:spPr bwMode="auto">
          <a:xfrm>
            <a:off x="6485335" y="964407"/>
            <a:ext cx="1109597" cy="39241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0478" bIns="0">
            <a:prstTxWarp prst="textNoShape">
              <a:avLst/>
            </a:prstTxWarp>
            <a:spAutoFit/>
          </a:bodyPr>
          <a:lstStyle/>
          <a:p>
            <a:pPr marL="28575"/>
            <a:r>
              <a:rPr lang="en-US" sz="1275">
                <a:ea typeface="Arial" charset="0"/>
                <a:cs typeface="Arial" charset="0"/>
                <a:sym typeface="Arial" charset="0"/>
              </a:rPr>
              <a:t>http</a:t>
            </a:r>
          </a:p>
          <a:p>
            <a:pPr marL="28575"/>
            <a:r>
              <a:rPr lang="en-US" sz="1275">
                <a:ea typeface="Arial" charset="0"/>
                <a:cs typeface="Arial" charset="0"/>
                <a:sym typeface="Arial" charset="0"/>
              </a:rPr>
              <a:t>Load-balancer</a:t>
            </a:r>
          </a:p>
        </p:txBody>
      </p:sp>
      <p:sp>
        <p:nvSpPr>
          <p:cNvPr id="101392" name="Rectangle 30"/>
          <p:cNvSpPr>
            <a:spLocks/>
          </p:cNvSpPr>
          <p:nvPr/>
        </p:nvSpPr>
        <p:spPr bwMode="auto">
          <a:xfrm>
            <a:off x="1169623" y="180976"/>
            <a:ext cx="6489669" cy="6691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60958" bIns="0" anchor="ctr">
            <a:prstTxWarp prst="textNoShape">
              <a:avLst/>
            </a:prstTxWarp>
          </a:bodyPr>
          <a:lstStyle/>
          <a:p>
            <a:pPr marL="28575" algn="r">
              <a:spcBef>
                <a:spcPct val="0"/>
              </a:spcBef>
            </a:pPr>
            <a:r>
              <a:rPr lang="en-US" sz="3300" b="1" i="1" dirty="0" err="1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</a:rPr>
              <a:t>FlowVisor</a:t>
            </a:r>
            <a:r>
              <a:rPr lang="en-US" sz="3300" b="1" i="1" dirty="0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</a:rPr>
              <a:t>-based Virtualization(2/2)</a:t>
            </a:r>
            <a:r>
              <a:rPr lang="en-US" sz="3300" b="1" i="1" dirty="0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  <a:sym typeface="Helvetica" charset="0"/>
              </a:rPr>
              <a:t> </a:t>
            </a:r>
          </a:p>
        </p:txBody>
      </p:sp>
      <p:grpSp>
        <p:nvGrpSpPr>
          <p:cNvPr id="101393" name="Group 31"/>
          <p:cNvGrpSpPr>
            <a:grpSpLocks/>
          </p:cNvGrpSpPr>
          <p:nvPr/>
        </p:nvGrpSpPr>
        <p:grpSpPr bwMode="auto">
          <a:xfrm>
            <a:off x="2663429" y="2826544"/>
            <a:ext cx="1104900" cy="347663"/>
            <a:chOff x="0" y="0"/>
            <a:chExt cx="1320" cy="416"/>
          </a:xfrm>
        </p:grpSpPr>
        <p:sp>
          <p:nvSpPr>
            <p:cNvPr id="101403" name="AutoShape 32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101404" name="Rectangle 33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3348" bIns="0">
              <a:prstTxWarp prst="textNoShape">
                <a:avLst/>
              </a:prstTxWarp>
            </a:bodyPr>
            <a:lstStyle/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101405" name="Picture 34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grpSp>
        <p:nvGrpSpPr>
          <p:cNvPr id="101394" name="Group 35"/>
          <p:cNvGrpSpPr>
            <a:grpSpLocks/>
          </p:cNvGrpSpPr>
          <p:nvPr/>
        </p:nvGrpSpPr>
        <p:grpSpPr bwMode="auto">
          <a:xfrm>
            <a:off x="1632347" y="4051698"/>
            <a:ext cx="1104900" cy="348853"/>
            <a:chOff x="0" y="0"/>
            <a:chExt cx="1320" cy="416"/>
          </a:xfrm>
        </p:grpSpPr>
        <p:sp>
          <p:nvSpPr>
            <p:cNvPr id="101400" name="AutoShape 36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101401" name="Rectangle 37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3348" bIns="0">
              <a:prstTxWarp prst="textNoShape">
                <a:avLst/>
              </a:prstTxWarp>
            </a:bodyPr>
            <a:lstStyle/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101402" name="Picture 38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grpSp>
        <p:nvGrpSpPr>
          <p:cNvPr id="101395" name="Group 39"/>
          <p:cNvGrpSpPr>
            <a:grpSpLocks/>
          </p:cNvGrpSpPr>
          <p:nvPr/>
        </p:nvGrpSpPr>
        <p:grpSpPr bwMode="auto">
          <a:xfrm>
            <a:off x="3346847" y="4051698"/>
            <a:ext cx="1104900" cy="348853"/>
            <a:chOff x="0" y="0"/>
            <a:chExt cx="1320" cy="416"/>
          </a:xfrm>
        </p:grpSpPr>
        <p:sp>
          <p:nvSpPr>
            <p:cNvPr id="101397" name="AutoShape 40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 sz="1350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101398" name="Rectangle 41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3348" bIns="0">
              <a:prstTxWarp prst="textNoShape">
                <a:avLst/>
              </a:prstTxWarp>
            </a:bodyPr>
            <a:lstStyle/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28575"/>
              <a:r>
                <a:rPr lang="en-US" sz="975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101399" name="Picture 42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70</a:t>
            </a:fld>
            <a:endParaRPr lang="en-US"/>
          </a:p>
        </p:txBody>
      </p:sp>
      <p:sp>
        <p:nvSpPr>
          <p:cNvPr id="101421" name="Rectangle 45"/>
          <p:cNvSpPr>
            <a:spLocks noChangeArrowheads="1"/>
          </p:cNvSpPr>
          <p:nvPr/>
        </p:nvSpPr>
        <p:spPr bwMode="auto">
          <a:xfrm>
            <a:off x="1436270" y="1354931"/>
            <a:ext cx="1711366" cy="78483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FFFF99">
                <a:gamma/>
                <a:shade val="60000"/>
                <a:invGamma/>
                <a:alpha val="74998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defTabSz="685800"/>
            <a:r>
              <a:rPr lang="en-US" sz="1500">
                <a:latin typeface="Calibri" charset="0"/>
                <a:sym typeface="Helvetica" charset="0"/>
              </a:rPr>
              <a:t>Separation not only</a:t>
            </a:r>
          </a:p>
          <a:p>
            <a:pPr algn="ctr" defTabSz="685800"/>
            <a:r>
              <a:rPr lang="en-US" sz="1500">
                <a:latin typeface="Calibri" charset="0"/>
                <a:sym typeface="Helvetica" charset="0"/>
              </a:rPr>
              <a:t>by VLANs, but any</a:t>
            </a:r>
          </a:p>
          <a:p>
            <a:pPr algn="ctr" defTabSz="685800"/>
            <a:r>
              <a:rPr lang="en-US" sz="1500">
                <a:latin typeface="Calibri" charset="0"/>
                <a:sym typeface="Helvetica" charset="0"/>
              </a:rPr>
              <a:t>L1-L4 pattern</a:t>
            </a:r>
          </a:p>
        </p:txBody>
      </p:sp>
      <p:sp>
        <p:nvSpPr>
          <p:cNvPr id="101422" name="Rectangle 46"/>
          <p:cNvSpPr>
            <a:spLocks noChangeArrowheads="1"/>
          </p:cNvSpPr>
          <p:nvPr/>
        </p:nvSpPr>
        <p:spPr bwMode="auto">
          <a:xfrm>
            <a:off x="4118372" y="2303860"/>
            <a:ext cx="1101584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675" dirty="0" err="1"/>
              <a:t>dl_dst</a:t>
            </a:r>
            <a:r>
              <a:rPr lang="en-US" sz="675" dirty="0"/>
              <a:t>=FFFFFFFFFFFF</a:t>
            </a:r>
          </a:p>
        </p:txBody>
      </p:sp>
      <p:sp>
        <p:nvSpPr>
          <p:cNvPr id="101423" name="Rectangle 47"/>
          <p:cNvSpPr>
            <a:spLocks noChangeArrowheads="1"/>
          </p:cNvSpPr>
          <p:nvPr/>
        </p:nvSpPr>
        <p:spPr bwMode="auto">
          <a:xfrm>
            <a:off x="6965156" y="2303860"/>
            <a:ext cx="74732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750"/>
              <a:t>tp_src=80, or</a:t>
            </a:r>
            <a:br>
              <a:rPr lang="en-US" sz="750"/>
            </a:br>
            <a:r>
              <a:rPr lang="en-US" sz="750"/>
              <a:t>tp_dst=80</a:t>
            </a:r>
          </a:p>
        </p:txBody>
      </p:sp>
    </p:spTree>
    <p:extLst>
      <p:ext uri="{BB962C8B-B14F-4D97-AF65-F5344CB8AC3E}">
        <p14:creationId xmlns:p14="http://schemas.microsoft.com/office/powerpoint/2010/main" val="1917131207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65014"/>
            <a:ext cx="6172200" cy="857250"/>
          </a:xfrm>
        </p:spPr>
        <p:txBody>
          <a:bodyPr/>
          <a:lstStyle/>
          <a:p>
            <a:r>
              <a:rPr lang="en-US" dirty="0" err="1"/>
              <a:t>FlowVisor</a:t>
            </a:r>
            <a:r>
              <a:rPr lang="en-US" dirty="0"/>
              <a:t> 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69874"/>
            <a:ext cx="6172200" cy="33247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Slices are defined using a slice definition </a:t>
            </a:r>
            <a:r>
              <a:rPr lang="en-US" dirty="0">
                <a:solidFill>
                  <a:srgbClr val="FF0000"/>
                </a:solidFill>
              </a:rPr>
              <a:t>policy</a:t>
            </a:r>
          </a:p>
          <a:p>
            <a:pPr lvl="1"/>
            <a:r>
              <a:rPr lang="en-US" dirty="0"/>
              <a:t>The policy language specifies the slice’s </a:t>
            </a:r>
            <a:r>
              <a:rPr lang="en-US" dirty="0">
                <a:solidFill>
                  <a:srgbClr val="FF0000"/>
                </a:solidFill>
              </a:rPr>
              <a:t>resource limits, </a:t>
            </a:r>
            <a:r>
              <a:rPr lang="en-US" dirty="0" err="1">
                <a:solidFill>
                  <a:srgbClr val="FF0000"/>
                </a:solidFill>
              </a:rPr>
              <a:t>flowspace</a:t>
            </a:r>
            <a:r>
              <a:rPr lang="en-US" dirty="0">
                <a:solidFill>
                  <a:srgbClr val="FF0000"/>
                </a:solidFill>
              </a:rPr>
              <a:t>, and controller’s location in terms of IP and TCP port-pair</a:t>
            </a:r>
          </a:p>
          <a:p>
            <a:pPr lvl="1"/>
            <a:r>
              <a:rPr lang="en-US" dirty="0" err="1"/>
              <a:t>FlowVisor</a:t>
            </a:r>
            <a:r>
              <a:rPr lang="en-US" dirty="0"/>
              <a:t> enforces </a:t>
            </a:r>
            <a:r>
              <a:rPr lang="en-US" dirty="0">
                <a:solidFill>
                  <a:srgbClr val="FF0000"/>
                </a:solidFill>
              </a:rPr>
              <a:t>transparency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isolation </a:t>
            </a:r>
            <a:r>
              <a:rPr lang="en-US" dirty="0"/>
              <a:t>between slices by inspecting, rewriting, and policing OpenFlow messages as they pass</a:t>
            </a:r>
          </a:p>
        </p:txBody>
      </p:sp>
    </p:spTree>
    <p:extLst>
      <p:ext uri="{BB962C8B-B14F-4D97-AF65-F5344CB8AC3E}">
        <p14:creationId xmlns:p14="http://schemas.microsoft.com/office/powerpoint/2010/main" val="2456560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FlowVisor</a:t>
            </a:r>
            <a:r>
              <a:rPr lang="en-US" dirty="0"/>
              <a:t> Resource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8558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FV assigns hardware resources to “Slices”</a:t>
            </a:r>
          </a:p>
          <a:p>
            <a:pPr lvl="1"/>
            <a:r>
              <a:rPr lang="en-US" dirty="0"/>
              <a:t>Topology</a:t>
            </a:r>
          </a:p>
          <a:p>
            <a:pPr lvl="2"/>
            <a:r>
              <a:rPr lang="en-US" dirty="0"/>
              <a:t>Network Device or </a:t>
            </a:r>
            <a:r>
              <a:rPr lang="en-US" dirty="0" err="1"/>
              <a:t>Openflow</a:t>
            </a:r>
            <a:r>
              <a:rPr lang="en-US" dirty="0"/>
              <a:t> Instance (DPID)</a:t>
            </a:r>
          </a:p>
          <a:p>
            <a:pPr lvl="2"/>
            <a:r>
              <a:rPr lang="en-US" dirty="0"/>
              <a:t>Physical Ports</a:t>
            </a:r>
          </a:p>
          <a:p>
            <a:pPr lvl="1"/>
            <a:r>
              <a:rPr lang="en-US" dirty="0"/>
              <a:t>Bandwidth</a:t>
            </a:r>
          </a:p>
          <a:p>
            <a:pPr lvl="2"/>
            <a:r>
              <a:rPr lang="en-US" dirty="0"/>
              <a:t>Each slice can be assigned a per port queue with a fraction of the total bandwidth</a:t>
            </a:r>
          </a:p>
          <a:p>
            <a:pPr lvl="1"/>
            <a:r>
              <a:rPr lang="en-US" dirty="0"/>
              <a:t>CPU</a:t>
            </a:r>
          </a:p>
          <a:p>
            <a:pPr lvl="2"/>
            <a:r>
              <a:rPr lang="en-US" dirty="0"/>
              <a:t>Employs Course Rate Limiting techniques to keep new flow events from one slice from overrunning the CPU</a:t>
            </a:r>
          </a:p>
          <a:p>
            <a:pPr lvl="1"/>
            <a:r>
              <a:rPr lang="en-US" dirty="0"/>
              <a:t>Forwarding Tables</a:t>
            </a:r>
          </a:p>
          <a:p>
            <a:pPr lvl="2"/>
            <a:r>
              <a:rPr lang="en-US" dirty="0"/>
              <a:t>Each slice has a finite quota of forwarding rules per device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5946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88064"/>
            <a:ext cx="6858000" cy="414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0647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FlowVisor</a:t>
            </a:r>
            <a:r>
              <a:rPr lang="en-US" dirty="0"/>
              <a:t> </a:t>
            </a:r>
            <a:r>
              <a:rPr lang="en-US" dirty="0" err="1"/>
              <a:t>FlowSpace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80187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FlowSpace</a:t>
            </a:r>
            <a:r>
              <a:rPr lang="en-US" dirty="0"/>
              <a:t> is defined by a collection of packet headers and assigned to “Slices”</a:t>
            </a:r>
          </a:p>
          <a:p>
            <a:pPr lvl="1"/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Dst</a:t>
            </a:r>
            <a:r>
              <a:rPr lang="en-US" dirty="0"/>
              <a:t> MAC Address</a:t>
            </a:r>
          </a:p>
          <a:p>
            <a:pPr lvl="1"/>
            <a:r>
              <a:rPr lang="en-US" dirty="0"/>
              <a:t>VLAN ID</a:t>
            </a:r>
          </a:p>
          <a:p>
            <a:pPr lvl="1"/>
            <a:r>
              <a:rPr lang="en-US" dirty="0" err="1"/>
              <a:t>Ethertype</a:t>
            </a:r>
            <a:endParaRPr lang="en-US" dirty="0"/>
          </a:p>
          <a:p>
            <a:pPr lvl="1"/>
            <a:r>
              <a:rPr lang="en-US" dirty="0"/>
              <a:t>IP Protocol</a:t>
            </a:r>
          </a:p>
          <a:p>
            <a:pPr lvl="1"/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Dst</a:t>
            </a:r>
            <a:r>
              <a:rPr lang="en-US" dirty="0"/>
              <a:t> IP Address</a:t>
            </a:r>
          </a:p>
          <a:p>
            <a:pPr lvl="1"/>
            <a:r>
              <a:rPr lang="en-US" dirty="0" err="1"/>
              <a:t>ToS</a:t>
            </a:r>
            <a:r>
              <a:rPr lang="en-US" dirty="0"/>
              <a:t>/DSCP</a:t>
            </a:r>
          </a:p>
          <a:p>
            <a:pPr lvl="1"/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Dst</a:t>
            </a:r>
            <a:r>
              <a:rPr lang="en-US" dirty="0"/>
              <a:t> Port Number</a:t>
            </a:r>
          </a:p>
        </p:txBody>
      </p:sp>
    </p:spTree>
    <p:extLst>
      <p:ext uri="{BB962C8B-B14F-4D97-AF65-F5344CB8AC3E}">
        <p14:creationId xmlns:p14="http://schemas.microsoft.com/office/powerpoint/2010/main" val="28258560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53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1731" y="1275606"/>
            <a:ext cx="4498181" cy="3777853"/>
          </a:xfrm>
          <a:prstGeom prst="rect">
            <a:avLst/>
          </a:prstGeom>
          <a:noFill/>
          <a:ln w="36720">
            <a:noFill/>
            <a:round/>
            <a:headEnd type="triangle" w="med" len="med"/>
            <a:tailEnd type="triangle" w="med" len="med"/>
          </a:ln>
        </p:spPr>
      </p:pic>
      <p:sp>
        <p:nvSpPr>
          <p:cNvPr id="27853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FlowSpace: Maps Packets to Slices</a:t>
            </a:r>
          </a:p>
        </p:txBody>
      </p:sp>
    </p:spTree>
    <p:extLst>
      <p:ext uri="{BB962C8B-B14F-4D97-AF65-F5344CB8AC3E}">
        <p14:creationId xmlns:p14="http://schemas.microsoft.com/office/powerpoint/2010/main" val="1090271331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FlowVisor</a:t>
            </a:r>
            <a:r>
              <a:rPr lang="en-US" dirty="0"/>
              <a:t> Slicing Policy(1/2)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FV intercepts OF messages from devices </a:t>
            </a:r>
          </a:p>
          <a:p>
            <a:pPr lvl="1"/>
            <a:r>
              <a:rPr lang="en-US" dirty="0"/>
              <a:t>FV only sends control plane messages to the Slice controller if the </a:t>
            </a:r>
            <a:r>
              <a:rPr lang="en-US" dirty="0" err="1"/>
              <a:t>src</a:t>
            </a:r>
            <a:r>
              <a:rPr lang="en-US" dirty="0"/>
              <a:t> device is in the Slice Topology.</a:t>
            </a:r>
          </a:p>
          <a:p>
            <a:pPr lvl="1"/>
            <a:r>
              <a:rPr lang="en-US" dirty="0"/>
              <a:t>Rewrites OF feature negotiation messages so the slice controller only sees the ports in it’s slice</a:t>
            </a:r>
          </a:p>
          <a:p>
            <a:pPr lvl="1"/>
            <a:r>
              <a:rPr lang="en-US" dirty="0"/>
              <a:t>Port up/down messages are pruned and only forwarded to affected slices</a:t>
            </a:r>
          </a:p>
        </p:txBody>
      </p:sp>
    </p:spTree>
    <p:extLst>
      <p:ext uri="{BB962C8B-B14F-4D97-AF65-F5344CB8AC3E}">
        <p14:creationId xmlns:p14="http://schemas.microsoft.com/office/powerpoint/2010/main" val="39635983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1401"/>
            <a:ext cx="6172200" cy="857250"/>
          </a:xfrm>
        </p:spPr>
        <p:txBody>
          <a:bodyPr/>
          <a:lstStyle/>
          <a:p>
            <a:r>
              <a:rPr lang="en-US" dirty="0" err="1"/>
              <a:t>FlowVisor</a:t>
            </a:r>
            <a:r>
              <a:rPr lang="en-US" dirty="0"/>
              <a:t> Slicing Policy(2/2)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868651"/>
            <a:ext cx="6172200" cy="413336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FV intercepts OF messages from controllers</a:t>
            </a:r>
          </a:p>
          <a:p>
            <a:pPr lvl="1"/>
            <a:r>
              <a:rPr lang="en-US" dirty="0"/>
              <a:t>Rewrites Flow Insertion, Deletion &amp; Modifications so they don’t violate the slice definition</a:t>
            </a:r>
          </a:p>
          <a:p>
            <a:pPr lvl="2"/>
            <a:r>
              <a:rPr lang="en-US" dirty="0"/>
              <a:t>Flow definition – ex. Limit Control to HTTP traffic only</a:t>
            </a:r>
          </a:p>
          <a:p>
            <a:pPr lvl="2"/>
            <a:r>
              <a:rPr lang="en-US" dirty="0"/>
              <a:t>Actions – ex. Limit forwarding to only ports in the slice</a:t>
            </a:r>
          </a:p>
          <a:p>
            <a:pPr lvl="1"/>
            <a:r>
              <a:rPr lang="en-US" dirty="0"/>
              <a:t>Expand Flow rules into multiple rules to fit policy</a:t>
            </a:r>
          </a:p>
          <a:p>
            <a:pPr lvl="2"/>
            <a:r>
              <a:rPr lang="en-US" dirty="0"/>
              <a:t>Flow definition – ex. If there is a policy for John’s HTTP traffic and another for </a:t>
            </a:r>
            <a:r>
              <a:rPr lang="en-US" dirty="0" err="1"/>
              <a:t>Uwe’s</a:t>
            </a:r>
            <a:r>
              <a:rPr lang="en-US" dirty="0"/>
              <a:t> HTTP traffic, FV would expand a single rule intended to control all HTTP traffic into 2 rules.</a:t>
            </a:r>
          </a:p>
          <a:p>
            <a:pPr lvl="2"/>
            <a:r>
              <a:rPr lang="en-US" dirty="0"/>
              <a:t>Actions – ex. Rule action is send out all ports. FV will create one rule for each port in the slice.</a:t>
            </a:r>
          </a:p>
          <a:p>
            <a:pPr lvl="1"/>
            <a:r>
              <a:rPr lang="en-US" dirty="0"/>
              <a:t>Returns “action is invalid” error if trying to control a port outside of the slice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2859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/>
          </p:cNvSpPr>
          <p:nvPr>
            <p:ph type="title"/>
          </p:nvPr>
        </p:nvSpPr>
        <p:spPr>
          <a:xfrm>
            <a:off x="1485900" y="185738"/>
            <a:ext cx="6173391" cy="685800"/>
          </a:xfrm>
        </p:spPr>
        <p:txBody>
          <a:bodyPr vert="horz" wrap="square" lIns="60750" tIns="57785" rIns="60750" bIns="3159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US">
                <a:latin typeface="Calibri" charset="0"/>
              </a:rPr>
              <a:t>FlowVisor Message Handling</a:t>
            </a:r>
          </a:p>
        </p:txBody>
      </p:sp>
      <p:grpSp>
        <p:nvGrpSpPr>
          <p:cNvPr id="105474" name="Group 3"/>
          <p:cNvGrpSpPr>
            <a:grpSpLocks/>
          </p:cNvGrpSpPr>
          <p:nvPr/>
        </p:nvGrpSpPr>
        <p:grpSpPr bwMode="auto">
          <a:xfrm>
            <a:off x="2792016" y="1290638"/>
            <a:ext cx="3559969" cy="3432572"/>
            <a:chOff x="1539" y="1205"/>
            <a:chExt cx="3321" cy="3204"/>
          </a:xfrm>
        </p:grpSpPr>
        <p:sp>
          <p:nvSpPr>
            <p:cNvPr id="105482" name="Rectangle 4"/>
            <p:cNvSpPr>
              <a:spLocks/>
            </p:cNvSpPr>
            <p:nvPr/>
          </p:nvSpPr>
          <p:spPr bwMode="auto">
            <a:xfrm>
              <a:off x="2508" y="3107"/>
              <a:ext cx="1296" cy="576"/>
            </a:xfrm>
            <a:prstGeom prst="rect">
              <a:avLst/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wrap="none" lIns="60750" tIns="30375" rIns="60750" bIns="30375" anchor="ctr">
              <a:prstTxWarp prst="textNoShape">
                <a:avLst/>
              </a:prstTxWarp>
            </a:bodyPr>
            <a:lstStyle/>
            <a:p>
              <a:pPr algn="ctr"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OpenFlow</a:t>
              </a:r>
            </a:p>
            <a:p>
              <a:pPr algn="ctr"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Firmware</a:t>
              </a:r>
            </a:p>
          </p:txBody>
        </p:sp>
        <p:sp>
          <p:nvSpPr>
            <p:cNvPr id="105483" name="AutoShape 5"/>
            <p:cNvSpPr>
              <a:spLocks/>
            </p:cNvSpPr>
            <p:nvPr/>
          </p:nvSpPr>
          <p:spPr bwMode="auto">
            <a:xfrm>
              <a:off x="2507" y="3691"/>
              <a:ext cx="1296" cy="720"/>
            </a:xfrm>
            <a:prstGeom prst="roundRect">
              <a:avLst>
                <a:gd name="adj" fmla="val 139"/>
              </a:avLst>
            </a:prstGeom>
            <a:solidFill>
              <a:srgbClr val="FFFF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60750" tIns="30375" rIns="60750" bIns="30375" anchor="ctr" anchorCtr="1">
              <a:prstTxWarp prst="textNoShape">
                <a:avLst/>
              </a:prstTxWarp>
            </a:bodyPr>
            <a:lstStyle/>
            <a:p>
              <a:pPr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Data Path</a:t>
              </a:r>
            </a:p>
          </p:txBody>
        </p:sp>
        <p:sp>
          <p:nvSpPr>
            <p:cNvPr id="105484" name="AutoShape 6"/>
            <p:cNvSpPr>
              <a:spLocks/>
            </p:cNvSpPr>
            <p:nvPr/>
          </p:nvSpPr>
          <p:spPr bwMode="auto">
            <a:xfrm>
              <a:off x="1539" y="1205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60750" tIns="30375" rIns="60750" bIns="30375" anchor="ctr" anchorCtr="1">
              <a:prstTxWarp prst="textNoShape">
                <a:avLst/>
              </a:prstTxWarp>
            </a:bodyPr>
            <a:lstStyle/>
            <a:p>
              <a:pPr algn="ctr"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Alice</a:t>
              </a:r>
            </a:p>
            <a:p>
              <a:pPr algn="ctr"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Controller</a:t>
              </a:r>
            </a:p>
          </p:txBody>
        </p:sp>
        <p:sp>
          <p:nvSpPr>
            <p:cNvPr id="105485" name="AutoShape 7"/>
            <p:cNvSpPr>
              <a:spLocks/>
            </p:cNvSpPr>
            <p:nvPr/>
          </p:nvSpPr>
          <p:spPr bwMode="auto">
            <a:xfrm>
              <a:off x="2696" y="1206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60750" tIns="30375" rIns="60750" bIns="30375" anchor="ctr" anchorCtr="1">
              <a:prstTxWarp prst="textNoShape">
                <a:avLst/>
              </a:prstTxWarp>
            </a:bodyPr>
            <a:lstStyle/>
            <a:p>
              <a:pPr algn="ctr"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Bob</a:t>
              </a:r>
            </a:p>
            <a:p>
              <a:pPr algn="ctr"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Controller</a:t>
              </a:r>
            </a:p>
          </p:txBody>
        </p:sp>
        <p:sp>
          <p:nvSpPr>
            <p:cNvPr id="105486" name="AutoShape 8"/>
            <p:cNvSpPr>
              <a:spLocks/>
            </p:cNvSpPr>
            <p:nvPr/>
          </p:nvSpPr>
          <p:spPr bwMode="auto">
            <a:xfrm>
              <a:off x="3853" y="1206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60750" tIns="30375" rIns="60750" bIns="30375" anchor="ctr" anchorCtr="1">
              <a:prstTxWarp prst="textNoShape">
                <a:avLst/>
              </a:prstTxWarp>
            </a:bodyPr>
            <a:lstStyle/>
            <a:p>
              <a:pPr algn="ctr"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Cathy</a:t>
              </a:r>
            </a:p>
            <a:p>
              <a:pPr algn="ctr"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Controller</a:t>
              </a:r>
            </a:p>
          </p:txBody>
        </p:sp>
        <p:sp>
          <p:nvSpPr>
            <p:cNvPr id="105487" name="AutoShape 9"/>
            <p:cNvSpPr>
              <a:spLocks/>
            </p:cNvSpPr>
            <p:nvPr/>
          </p:nvSpPr>
          <p:spPr bwMode="auto">
            <a:xfrm>
              <a:off x="2358" y="2304"/>
              <a:ext cx="1584" cy="432"/>
            </a:xfrm>
            <a:prstGeom prst="roundRect">
              <a:avLst>
                <a:gd name="adj" fmla="val 231"/>
              </a:avLst>
            </a:prstGeom>
            <a:solidFill>
              <a:srgbClr val="FF3333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60750" tIns="30375" rIns="60750" bIns="30375" anchor="ctr" anchorCtr="1">
              <a:prstTxWarp prst="textNoShape">
                <a:avLst/>
              </a:prstTxWarp>
            </a:bodyPr>
            <a:lstStyle/>
            <a:p>
              <a:pPr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875">
                  <a:solidFill>
                    <a:srgbClr val="FFFFFF"/>
                  </a:solidFill>
                  <a:latin typeface="Calibri" charset="0"/>
                </a:rPr>
                <a:t>FlowVisor</a:t>
              </a:r>
            </a:p>
          </p:txBody>
        </p:sp>
        <p:sp>
          <p:nvSpPr>
            <p:cNvPr id="105488" name="Line 10"/>
            <p:cNvSpPr>
              <a:spLocks noChangeShapeType="1"/>
            </p:cNvSpPr>
            <p:nvPr/>
          </p:nvSpPr>
          <p:spPr bwMode="auto">
            <a:xfrm flipV="1">
              <a:off x="2646" y="2788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05489" name="Line 11"/>
            <p:cNvSpPr>
              <a:spLocks noChangeShapeType="1"/>
            </p:cNvSpPr>
            <p:nvPr/>
          </p:nvSpPr>
          <p:spPr bwMode="auto">
            <a:xfrm flipV="1">
              <a:off x="2646" y="2788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05490" name="Line 12"/>
            <p:cNvSpPr>
              <a:spLocks noChangeShapeType="1"/>
            </p:cNvSpPr>
            <p:nvPr/>
          </p:nvSpPr>
          <p:spPr bwMode="auto">
            <a:xfrm flipV="1">
              <a:off x="3213" y="1972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05491" name="Line 13"/>
            <p:cNvSpPr>
              <a:spLocks noChangeShapeType="1"/>
            </p:cNvSpPr>
            <p:nvPr/>
          </p:nvSpPr>
          <p:spPr bwMode="auto">
            <a:xfrm flipH="1" flipV="1">
              <a:off x="1925" y="1924"/>
              <a:ext cx="435" cy="335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  <p:sp>
          <p:nvSpPr>
            <p:cNvPr id="105492" name="Text Box 14"/>
            <p:cNvSpPr txBox="1">
              <a:spLocks noChangeArrowheads="1"/>
            </p:cNvSpPr>
            <p:nvPr/>
          </p:nvSpPr>
          <p:spPr bwMode="auto">
            <a:xfrm>
              <a:off x="2749" y="2751"/>
              <a:ext cx="927" cy="287"/>
            </a:xfrm>
            <a:prstGeom prst="rect">
              <a:avLst/>
            </a:prstGeom>
            <a:noFill/>
            <a:ln w="36720">
              <a:noFill/>
              <a:round/>
              <a:headEnd type="triangle" w="med" len="med"/>
              <a:tailEnd type="triangle" w="med" len="med"/>
            </a:ln>
          </p:spPr>
          <p:txBody>
            <a:bodyPr wrap="none" lIns="60750" tIns="30375" rIns="60750" bIns="30375">
              <a:prstTxWarp prst="textNoShape">
                <a:avLst/>
              </a:prstTxWarp>
            </a:bodyPr>
            <a:lstStyle/>
            <a:p>
              <a:pPr algn="ctr"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FF"/>
                  </a:solidFill>
                  <a:latin typeface="Calibri" charset="0"/>
                </a:rPr>
                <a:t>OpenFlow</a:t>
              </a:r>
            </a:p>
          </p:txBody>
        </p:sp>
        <p:sp>
          <p:nvSpPr>
            <p:cNvPr id="105493" name="Text Box 15"/>
            <p:cNvSpPr txBox="1">
              <a:spLocks noChangeArrowheads="1"/>
            </p:cNvSpPr>
            <p:nvPr/>
          </p:nvSpPr>
          <p:spPr bwMode="auto">
            <a:xfrm>
              <a:off x="2273" y="1912"/>
              <a:ext cx="927" cy="287"/>
            </a:xfrm>
            <a:prstGeom prst="rect">
              <a:avLst/>
            </a:prstGeom>
            <a:noFill/>
            <a:ln w="36720">
              <a:noFill/>
              <a:round/>
              <a:headEnd type="triangle" w="med" len="med"/>
              <a:tailEnd type="triangle" w="med" len="med"/>
            </a:ln>
          </p:spPr>
          <p:txBody>
            <a:bodyPr wrap="none" lIns="60750" tIns="30375" rIns="60750" bIns="30375">
              <a:prstTxWarp prst="textNoShape">
                <a:avLst/>
              </a:prstTxWarp>
            </a:bodyPr>
            <a:lstStyle/>
            <a:p>
              <a:pPr algn="ctr" defTabSz="308372">
                <a:buClr>
                  <a:srgbClr val="000000"/>
                </a:buClr>
                <a:buSzPct val="100000"/>
                <a:tabLst>
                  <a:tab pos="0" algn="l"/>
                  <a:tab pos="616744" algn="l"/>
                  <a:tab pos="1234679" algn="l"/>
                  <a:tab pos="1851422" algn="l"/>
                  <a:tab pos="2469356" algn="l"/>
                  <a:tab pos="3086100" algn="l"/>
                  <a:tab pos="3702844" algn="l"/>
                  <a:tab pos="4320779" algn="l"/>
                  <a:tab pos="4937522" algn="l"/>
                  <a:tab pos="5555456" algn="l"/>
                  <a:tab pos="6172200" algn="l"/>
                  <a:tab pos="6788944" algn="l"/>
                </a:tabLst>
              </a:pPr>
              <a:r>
                <a:rPr lang="en-US" sz="1500">
                  <a:solidFill>
                    <a:srgbClr val="0000FF"/>
                  </a:solidFill>
                  <a:latin typeface="Calibri" charset="0"/>
                </a:rPr>
                <a:t>OpenFlow</a:t>
              </a:r>
            </a:p>
          </p:txBody>
        </p:sp>
        <p:sp>
          <p:nvSpPr>
            <p:cNvPr id="105494" name="Line 16"/>
            <p:cNvSpPr>
              <a:spLocks noChangeShapeType="1"/>
            </p:cNvSpPr>
            <p:nvPr/>
          </p:nvSpPr>
          <p:spPr bwMode="auto">
            <a:xfrm flipV="1">
              <a:off x="3921" y="1924"/>
              <a:ext cx="433" cy="335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</p:grpSp>
      <p:sp>
        <p:nvSpPr>
          <p:cNvPr id="209937" name="AutoShape 17"/>
          <p:cNvSpPr>
            <a:spLocks/>
          </p:cNvSpPr>
          <p:nvPr/>
        </p:nvSpPr>
        <p:spPr bwMode="auto">
          <a:xfrm>
            <a:off x="2983706" y="3994547"/>
            <a:ext cx="772716" cy="617934"/>
          </a:xfrm>
          <a:prstGeom prst="roundRect">
            <a:avLst>
              <a:gd name="adj" fmla="val 171"/>
            </a:avLst>
          </a:prstGeom>
          <a:solidFill>
            <a:srgbClr val="999999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60750" tIns="30375" rIns="60750" bIns="30375" anchor="ctr" anchorCtr="1">
            <a:prstTxWarp prst="textNoShape">
              <a:avLst/>
            </a:prstTxWarp>
          </a:bodyPr>
          <a:lstStyle/>
          <a:p>
            <a:pPr defTabSz="308372">
              <a:buClr>
                <a:srgbClr val="000000"/>
              </a:buClr>
              <a:buSzPct val="100000"/>
              <a:tabLst>
                <a:tab pos="0" algn="l"/>
                <a:tab pos="616744" algn="l"/>
                <a:tab pos="1234679" algn="l"/>
                <a:tab pos="1851422" algn="l"/>
                <a:tab pos="2469356" algn="l"/>
                <a:tab pos="3086100" algn="l"/>
                <a:tab pos="3702844" algn="l"/>
                <a:tab pos="4320779" algn="l"/>
                <a:tab pos="4937522" algn="l"/>
                <a:tab pos="5555456" algn="l"/>
                <a:tab pos="6172200" algn="l"/>
                <a:tab pos="6788944" algn="l"/>
              </a:tabLst>
            </a:pPr>
            <a:r>
              <a:rPr lang="en-US" sz="1500">
                <a:solidFill>
                  <a:srgbClr val="FFFFFF"/>
                </a:solidFill>
                <a:latin typeface="Calibri" charset="0"/>
              </a:rPr>
              <a:t>Packet</a:t>
            </a:r>
          </a:p>
        </p:txBody>
      </p:sp>
      <p:sp>
        <p:nvSpPr>
          <p:cNvPr id="209938" name="AutoShape 18"/>
          <p:cNvSpPr>
            <a:spLocks/>
          </p:cNvSpPr>
          <p:nvPr/>
        </p:nvSpPr>
        <p:spPr bwMode="auto">
          <a:xfrm>
            <a:off x="5241132" y="3343275"/>
            <a:ext cx="1012031" cy="463154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60750" tIns="30375" rIns="60750" bIns="30375" anchor="ctr" anchorCtr="1">
            <a:prstTxWarp prst="textNoShape">
              <a:avLst/>
            </a:prstTxWarp>
          </a:bodyPr>
          <a:lstStyle/>
          <a:p>
            <a:pPr defTabSz="308372">
              <a:buClr>
                <a:srgbClr val="000000"/>
              </a:buClr>
              <a:buSzPct val="100000"/>
              <a:tabLst>
                <a:tab pos="0" algn="l"/>
                <a:tab pos="616744" algn="l"/>
                <a:tab pos="1234679" algn="l"/>
                <a:tab pos="1851422" algn="l"/>
                <a:tab pos="2469356" algn="l"/>
                <a:tab pos="3086100" algn="l"/>
                <a:tab pos="3702844" algn="l"/>
                <a:tab pos="4320779" algn="l"/>
                <a:tab pos="4937522" algn="l"/>
                <a:tab pos="5555456" algn="l"/>
                <a:tab pos="6172200" algn="l"/>
                <a:tab pos="6788944" algn="l"/>
              </a:tabLst>
            </a:pPr>
            <a:r>
              <a:rPr lang="en-US" sz="1500">
                <a:solidFill>
                  <a:srgbClr val="000000"/>
                </a:solidFill>
                <a:latin typeface="Calibri" charset="0"/>
              </a:rPr>
              <a:t>Exception</a:t>
            </a:r>
          </a:p>
        </p:txBody>
      </p:sp>
      <p:sp>
        <p:nvSpPr>
          <p:cNvPr id="209939" name="Text Box 19"/>
          <p:cNvSpPr txBox="1">
            <a:spLocks noChangeArrowheads="1"/>
          </p:cNvSpPr>
          <p:nvPr/>
        </p:nvSpPr>
        <p:spPr bwMode="auto">
          <a:xfrm>
            <a:off x="1297781" y="2159794"/>
            <a:ext cx="1696641" cy="1047750"/>
          </a:xfrm>
          <a:prstGeom prst="rect">
            <a:avLst/>
          </a:prstGeom>
          <a:noFill/>
          <a:ln w="36720">
            <a:noFill/>
            <a:round/>
            <a:headEnd type="triangle" w="med" len="med"/>
            <a:tailEnd type="triangle" w="med" len="med"/>
          </a:ln>
        </p:spPr>
        <p:txBody>
          <a:bodyPr lIns="60750" tIns="30375" rIns="60750" bIns="30375">
            <a:prstTxWarp prst="textNoShape">
              <a:avLst/>
            </a:prstTxWarp>
          </a:bodyPr>
          <a:lstStyle/>
          <a:p>
            <a:pPr defTabSz="308372">
              <a:buClr>
                <a:srgbClr val="000000"/>
              </a:buClr>
              <a:buSzPct val="100000"/>
              <a:tabLst>
                <a:tab pos="0" algn="l"/>
                <a:tab pos="616744" algn="l"/>
                <a:tab pos="1234679" algn="l"/>
                <a:tab pos="1851422" algn="l"/>
                <a:tab pos="2469356" algn="l"/>
                <a:tab pos="3086100" algn="l"/>
                <a:tab pos="3702844" algn="l"/>
                <a:tab pos="4320779" algn="l"/>
                <a:tab pos="4937522" algn="l"/>
                <a:tab pos="5555456" algn="l"/>
                <a:tab pos="6172200" algn="l"/>
                <a:tab pos="6788944" algn="l"/>
              </a:tabLst>
            </a:pPr>
            <a:r>
              <a:rPr lang="en-US" sz="1875">
                <a:solidFill>
                  <a:srgbClr val="FF0000"/>
                </a:solidFill>
                <a:latin typeface="Calibri" charset="0"/>
              </a:rPr>
              <a:t>Policy Check:</a:t>
            </a:r>
          </a:p>
          <a:p>
            <a:pPr defTabSz="308372">
              <a:buClr>
                <a:srgbClr val="000000"/>
              </a:buClr>
              <a:buSzPct val="100000"/>
              <a:tabLst>
                <a:tab pos="0" algn="l"/>
                <a:tab pos="616744" algn="l"/>
                <a:tab pos="1234679" algn="l"/>
                <a:tab pos="1851422" algn="l"/>
                <a:tab pos="2469356" algn="l"/>
                <a:tab pos="3086100" algn="l"/>
                <a:tab pos="3702844" algn="l"/>
                <a:tab pos="4320779" algn="l"/>
                <a:tab pos="4937522" algn="l"/>
                <a:tab pos="5555456" algn="l"/>
                <a:tab pos="6172200" algn="l"/>
                <a:tab pos="6788944" algn="l"/>
              </a:tabLst>
            </a:pPr>
            <a:r>
              <a:rPr lang="en-US" sz="1875">
                <a:solidFill>
                  <a:srgbClr val="000000"/>
                </a:solidFill>
                <a:latin typeface="Calibri" charset="0"/>
              </a:rPr>
              <a:t>Is this rule allowed?</a:t>
            </a:r>
          </a:p>
        </p:txBody>
      </p:sp>
      <p:sp>
        <p:nvSpPr>
          <p:cNvPr id="209940" name="Text Box 20"/>
          <p:cNvSpPr txBox="1">
            <a:spLocks noChangeArrowheads="1"/>
          </p:cNvSpPr>
          <p:nvPr/>
        </p:nvSpPr>
        <p:spPr bwMode="auto">
          <a:xfrm>
            <a:off x="6304360" y="2159794"/>
            <a:ext cx="1697831" cy="1047750"/>
          </a:xfrm>
          <a:prstGeom prst="rect">
            <a:avLst/>
          </a:prstGeom>
          <a:noFill/>
          <a:ln w="36720">
            <a:noFill/>
            <a:round/>
            <a:headEnd type="triangle" w="med" len="med"/>
            <a:tailEnd type="triangle" w="med" len="med"/>
          </a:ln>
        </p:spPr>
        <p:txBody>
          <a:bodyPr lIns="60750" tIns="30375" rIns="60750" bIns="30375">
            <a:prstTxWarp prst="textNoShape">
              <a:avLst/>
            </a:prstTxWarp>
          </a:bodyPr>
          <a:lstStyle/>
          <a:p>
            <a:pPr defTabSz="308372">
              <a:buClr>
                <a:srgbClr val="000000"/>
              </a:buClr>
              <a:buSzPct val="100000"/>
              <a:tabLst>
                <a:tab pos="0" algn="l"/>
                <a:tab pos="616744" algn="l"/>
                <a:tab pos="1234679" algn="l"/>
                <a:tab pos="1851422" algn="l"/>
                <a:tab pos="2469356" algn="l"/>
                <a:tab pos="3086100" algn="l"/>
                <a:tab pos="3702844" algn="l"/>
                <a:tab pos="4320779" algn="l"/>
                <a:tab pos="4937522" algn="l"/>
                <a:tab pos="5555456" algn="l"/>
                <a:tab pos="6172200" algn="l"/>
                <a:tab pos="6788944" algn="l"/>
              </a:tabLst>
            </a:pPr>
            <a:r>
              <a:rPr lang="en-US" sz="1875">
                <a:solidFill>
                  <a:srgbClr val="FF0000"/>
                </a:solidFill>
                <a:latin typeface="Calibri" charset="0"/>
              </a:rPr>
              <a:t>Policy Check:</a:t>
            </a:r>
          </a:p>
          <a:p>
            <a:pPr defTabSz="308372">
              <a:buClr>
                <a:srgbClr val="000000"/>
              </a:buClr>
              <a:buSzPct val="100000"/>
              <a:tabLst>
                <a:tab pos="0" algn="l"/>
                <a:tab pos="616744" algn="l"/>
                <a:tab pos="1234679" algn="l"/>
                <a:tab pos="1851422" algn="l"/>
                <a:tab pos="2469356" algn="l"/>
                <a:tab pos="3086100" algn="l"/>
                <a:tab pos="3702844" algn="l"/>
                <a:tab pos="4320779" algn="l"/>
                <a:tab pos="4937522" algn="l"/>
                <a:tab pos="5555456" algn="l"/>
                <a:tab pos="6172200" algn="l"/>
                <a:tab pos="6788944" algn="l"/>
              </a:tabLst>
            </a:pPr>
            <a:r>
              <a:rPr lang="en-US" sz="1875">
                <a:solidFill>
                  <a:srgbClr val="000000"/>
                </a:solidFill>
                <a:latin typeface="Calibri" charset="0"/>
              </a:rPr>
              <a:t>Who controls this packet?</a:t>
            </a:r>
          </a:p>
        </p:txBody>
      </p:sp>
      <p:sp>
        <p:nvSpPr>
          <p:cNvPr id="209941" name="Text Box 21"/>
          <p:cNvSpPr txBox="1">
            <a:spLocks noChangeArrowheads="1"/>
          </p:cNvSpPr>
          <p:nvPr/>
        </p:nvSpPr>
        <p:spPr bwMode="auto">
          <a:xfrm>
            <a:off x="1759744" y="3239691"/>
            <a:ext cx="2007394" cy="719138"/>
          </a:xfrm>
          <a:prstGeom prst="rect">
            <a:avLst/>
          </a:prstGeom>
          <a:noFill/>
          <a:ln w="36720">
            <a:noFill/>
            <a:round/>
            <a:headEnd type="triangle" w="med" len="med"/>
            <a:tailEnd type="triangle" w="med" len="med"/>
          </a:ln>
        </p:spPr>
        <p:txBody>
          <a:bodyPr lIns="60750" tIns="30375" rIns="60750" bIns="30375">
            <a:prstTxWarp prst="textNoShape">
              <a:avLst/>
            </a:prstTxWarp>
          </a:bodyPr>
          <a:lstStyle/>
          <a:p>
            <a:pPr algn="ctr" defTabSz="308372">
              <a:buClr>
                <a:srgbClr val="000000"/>
              </a:buClr>
              <a:buSzPct val="100000"/>
              <a:tabLst>
                <a:tab pos="0" algn="l"/>
                <a:tab pos="616744" algn="l"/>
                <a:tab pos="1234679" algn="l"/>
                <a:tab pos="1851422" algn="l"/>
                <a:tab pos="2469356" algn="l"/>
                <a:tab pos="3086100" algn="l"/>
                <a:tab pos="3702844" algn="l"/>
                <a:tab pos="4320779" algn="l"/>
                <a:tab pos="4937522" algn="l"/>
                <a:tab pos="5555456" algn="l"/>
                <a:tab pos="6172200" algn="l"/>
                <a:tab pos="6788944" algn="l"/>
              </a:tabLst>
            </a:pPr>
            <a:r>
              <a:rPr lang="en-US" sz="1875">
                <a:solidFill>
                  <a:srgbClr val="000000"/>
                </a:solidFill>
                <a:latin typeface="Calibri" charset="0"/>
              </a:rPr>
              <a:t>Full Line Rate</a:t>
            </a:r>
          </a:p>
          <a:p>
            <a:pPr algn="ctr" defTabSz="308372">
              <a:buClr>
                <a:srgbClr val="000000"/>
              </a:buClr>
              <a:buSzPct val="100000"/>
              <a:tabLst>
                <a:tab pos="0" algn="l"/>
                <a:tab pos="616744" algn="l"/>
                <a:tab pos="1234679" algn="l"/>
                <a:tab pos="1851422" algn="l"/>
                <a:tab pos="2469356" algn="l"/>
                <a:tab pos="3086100" algn="l"/>
                <a:tab pos="3702844" algn="l"/>
                <a:tab pos="4320779" algn="l"/>
                <a:tab pos="4937522" algn="l"/>
                <a:tab pos="5555456" algn="l"/>
                <a:tab pos="6172200" algn="l"/>
                <a:tab pos="6788944" algn="l"/>
              </a:tabLst>
            </a:pPr>
            <a:r>
              <a:rPr lang="en-US" sz="1875">
                <a:solidFill>
                  <a:srgbClr val="000000"/>
                </a:solidFill>
                <a:latin typeface="Calibri" charset="0"/>
              </a:rPr>
              <a:t>Forwarding</a:t>
            </a:r>
          </a:p>
        </p:txBody>
      </p:sp>
      <p:sp>
        <p:nvSpPr>
          <p:cNvPr id="209942" name="Rectangle 22"/>
          <p:cNvSpPr>
            <a:spLocks noChangeArrowheads="1"/>
          </p:cNvSpPr>
          <p:nvPr/>
        </p:nvSpPr>
        <p:spPr bwMode="auto">
          <a:xfrm>
            <a:off x="6373416" y="1287066"/>
            <a:ext cx="1028700" cy="4619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61722" tIns="30861" rIns="61722" bIns="30861" anchor="ctr">
            <a:prstTxWarp prst="textNoShape">
              <a:avLst/>
            </a:prstTxWarp>
          </a:bodyPr>
          <a:lstStyle/>
          <a:p>
            <a:pPr algn="ctr" defTabSz="308372">
              <a:buClr>
                <a:srgbClr val="000000"/>
              </a:buClr>
              <a:buSzPct val="100000"/>
            </a:pPr>
            <a:r>
              <a:rPr lang="en-US" sz="1500">
                <a:latin typeface="Calibri" charset="0"/>
              </a:rPr>
              <a:t>Rule</a:t>
            </a:r>
          </a:p>
        </p:txBody>
      </p:sp>
      <p:sp>
        <p:nvSpPr>
          <p:cNvPr id="209943" name="AutoShape 23"/>
          <p:cNvSpPr>
            <a:spLocks/>
          </p:cNvSpPr>
          <p:nvPr/>
        </p:nvSpPr>
        <p:spPr bwMode="auto">
          <a:xfrm>
            <a:off x="2977754" y="4063604"/>
            <a:ext cx="771525" cy="616744"/>
          </a:xfrm>
          <a:prstGeom prst="roundRect">
            <a:avLst>
              <a:gd name="adj" fmla="val 171"/>
            </a:avLst>
          </a:prstGeom>
          <a:solidFill>
            <a:srgbClr val="999999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60750" tIns="30375" rIns="60750" bIns="30375" anchor="ctr" anchorCtr="1">
            <a:prstTxWarp prst="textNoShape">
              <a:avLst/>
            </a:prstTxWarp>
          </a:bodyPr>
          <a:lstStyle/>
          <a:p>
            <a:pPr defTabSz="308372">
              <a:buClr>
                <a:srgbClr val="000000"/>
              </a:buClr>
              <a:buSzPct val="100000"/>
              <a:tabLst>
                <a:tab pos="0" algn="l"/>
                <a:tab pos="616744" algn="l"/>
                <a:tab pos="1234679" algn="l"/>
                <a:tab pos="1851422" algn="l"/>
                <a:tab pos="2469356" algn="l"/>
                <a:tab pos="3086100" algn="l"/>
                <a:tab pos="3702844" algn="l"/>
                <a:tab pos="4320779" algn="l"/>
                <a:tab pos="4937522" algn="l"/>
                <a:tab pos="5555456" algn="l"/>
                <a:tab pos="6172200" algn="l"/>
                <a:tab pos="6788944" algn="l"/>
              </a:tabLst>
            </a:pPr>
            <a:r>
              <a:rPr lang="en-US" sz="1500">
                <a:solidFill>
                  <a:srgbClr val="FFFFFF"/>
                </a:solidFill>
                <a:latin typeface="Calibri" charset="0"/>
              </a:rPr>
              <a:t>Packet</a:t>
            </a:r>
          </a:p>
        </p:txBody>
      </p:sp>
    </p:spTree>
    <p:extLst>
      <p:ext uri="{BB962C8B-B14F-4D97-AF65-F5344CB8AC3E}">
        <p14:creationId xmlns:p14="http://schemas.microsoft.com/office/powerpoint/2010/main" val="12447564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66667E-6 L 0.00125 -0.195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-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9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5 -0.195 L 0.18125 -0.385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-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 0.015 L -0.1875 0.25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" y="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25 0.245 L -0.2025 0.445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5E-6 L 0.67515 0.00333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5E-6 L 0.67515 0.00333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7" grpId="0" animBg="1" autoUpdateAnimBg="0"/>
      <p:bldP spid="209937" grpId="1" animBg="1"/>
      <p:bldP spid="209937" grpId="2" animBg="1"/>
      <p:bldP spid="209938" grpId="0" animBg="1" autoUpdateAnimBg="0"/>
      <p:bldP spid="209938" grpId="1" animBg="1"/>
      <p:bldP spid="209938" grpId="2" animBg="1"/>
      <p:bldP spid="209938" grpId="3" animBg="1"/>
      <p:bldP spid="209939" grpId="0" autoUpdateAnimBg="0"/>
      <p:bldP spid="209940" grpId="0" autoUpdateAnimBg="0"/>
      <p:bldP spid="209941" grpId="0" autoUpdateAnimBg="0"/>
      <p:bldP spid="209942" grpId="0" animBg="1" autoUpdateAnimBg="0"/>
      <p:bldP spid="209942" grpId="1" animBg="1"/>
      <p:bldP spid="209942" grpId="2" animBg="1"/>
      <p:bldP spid="209943" grpId="0" animBg="1" autoUpdateAnimBg="0"/>
      <p:bldP spid="209943" grpId="1" animBg="1"/>
      <p:bldP spid="209943" grpId="2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29612"/>
            <a:ext cx="5829300" cy="1975564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Switching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Usage models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Virtualizing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FlowVisor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-based Virtualization</a:t>
            </a:r>
          </a:p>
          <a:p>
            <a:r>
              <a:rPr lang="en-US" altLang="zh-TW" dirty="0" err="1"/>
              <a:t>OpenFlow</a:t>
            </a:r>
            <a:r>
              <a:rPr lang="en-US" altLang="zh-TW" dirty="0"/>
              <a:t> references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630516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err="1">
                <a:ea typeface="新細明體" panose="02020500000000000000" pitchFamily="18" charset="-120"/>
              </a:rPr>
              <a:t>OpenFlow</a:t>
            </a:r>
            <a:r>
              <a:rPr lang="en-US" altLang="zh-TW" dirty="0">
                <a:ea typeface="新細明體" panose="02020500000000000000" pitchFamily="18" charset="-120"/>
              </a:rPr>
              <a:t> Consortium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742951"/>
            <a:ext cx="6172200" cy="4080272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100" dirty="0">
              <a:ea typeface="新細明體" panose="02020500000000000000" pitchFamily="18" charset="-120"/>
              <a:hlinkClick r:id="rId2"/>
            </a:endParaRP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ea typeface="新細明體" panose="02020500000000000000" pitchFamily="18" charset="-120"/>
                <a:hlinkClick r:id="rId2"/>
              </a:rPr>
              <a:t>http://OpenFlowSwitch.org</a:t>
            </a:r>
            <a:endParaRPr lang="en-US" altLang="zh-TW" sz="2100" dirty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Goal</a:t>
            </a:r>
          </a:p>
          <a:p>
            <a:pPr marL="857250" lvl="1" indent="-342900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Evangelize </a:t>
            </a:r>
            <a:r>
              <a:rPr lang="en-US" altLang="zh-TW" dirty="0" err="1">
                <a:ea typeface="新細明體" panose="02020500000000000000" pitchFamily="18" charset="-120"/>
              </a:rPr>
              <a:t>OpenFlow</a:t>
            </a:r>
            <a:r>
              <a:rPr lang="en-US" altLang="zh-TW" dirty="0">
                <a:ea typeface="新細明體" panose="02020500000000000000" pitchFamily="18" charset="-120"/>
              </a:rPr>
              <a:t> to vendors</a:t>
            </a:r>
          </a:p>
          <a:p>
            <a:pPr marL="857250" lvl="1" indent="-342900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Free membership for all researchers</a:t>
            </a:r>
          </a:p>
          <a:p>
            <a:pPr marL="857250" lvl="1" indent="-342900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Whitepaper, </a:t>
            </a:r>
            <a:r>
              <a:rPr lang="en-US" altLang="zh-TW" dirty="0" err="1">
                <a:ea typeface="新細明體" panose="02020500000000000000" pitchFamily="18" charset="-120"/>
              </a:rPr>
              <a:t>OpenFlow</a:t>
            </a:r>
            <a:r>
              <a:rPr lang="en-US" altLang="zh-TW" dirty="0">
                <a:ea typeface="新細明體" panose="02020500000000000000" pitchFamily="18" charset="-120"/>
              </a:rPr>
              <a:t> Switch Specification, Reference Designs</a:t>
            </a:r>
          </a:p>
          <a:p>
            <a:pPr marL="857250" lvl="1" indent="-342900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Licensing: Free for research and commercial use</a:t>
            </a:r>
          </a:p>
        </p:txBody>
      </p:sp>
    </p:spTree>
    <p:extLst>
      <p:ext uri="{BB962C8B-B14F-4D97-AF65-F5344CB8AC3E}">
        <p14:creationId xmlns:p14="http://schemas.microsoft.com/office/powerpoint/2010/main" val="17756370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/>
          <p:cNvSpPr>
            <a:spLocks noChangeArrowheads="1"/>
          </p:cNvSpPr>
          <p:nvPr/>
        </p:nvSpPr>
        <p:spPr bwMode="auto">
          <a:xfrm>
            <a:off x="1445419" y="915591"/>
            <a:ext cx="6251972" cy="628650"/>
          </a:xfrm>
          <a:prstGeom prst="roundRect">
            <a:avLst>
              <a:gd name="adj" fmla="val 16667"/>
            </a:avLst>
          </a:prstGeom>
          <a:solidFill>
            <a:srgbClr val="B3A2C7"/>
          </a:solidFill>
          <a:ln w="9525">
            <a:solidFill>
              <a:srgbClr val="604A7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 sz="135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9315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OpenFlow building blocks</a:t>
            </a:r>
          </a:p>
        </p:txBody>
      </p:sp>
      <p:sp>
        <p:nvSpPr>
          <p:cNvPr id="31" name="Rounded Rectangle 30"/>
          <p:cNvSpPr>
            <a:spLocks noChangeArrowheads="1"/>
          </p:cNvSpPr>
          <p:nvPr/>
        </p:nvSpPr>
        <p:spPr bwMode="auto">
          <a:xfrm>
            <a:off x="1435894" y="2428875"/>
            <a:ext cx="6250781" cy="534591"/>
          </a:xfrm>
          <a:prstGeom prst="roundRect">
            <a:avLst>
              <a:gd name="adj" fmla="val 16667"/>
            </a:avLst>
          </a:prstGeom>
          <a:solidFill>
            <a:srgbClr val="FDEADA"/>
          </a:solidFill>
          <a:ln w="9525">
            <a:solidFill>
              <a:srgbClr val="FDEAD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269317" name="TextBox 25"/>
          <p:cNvSpPr txBox="1">
            <a:spLocks noChangeArrowheads="1"/>
          </p:cNvSpPr>
          <p:nvPr/>
        </p:nvSpPr>
        <p:spPr bwMode="auto">
          <a:xfrm>
            <a:off x="6656785" y="2508647"/>
            <a:ext cx="11262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Controller</a:t>
            </a: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1550194" y="2497931"/>
            <a:ext cx="775097" cy="391716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NOX</a:t>
            </a:r>
          </a:p>
        </p:txBody>
      </p:sp>
      <p:sp>
        <p:nvSpPr>
          <p:cNvPr id="30" name="Rounded Rectangle 29"/>
          <p:cNvSpPr>
            <a:spLocks noChangeArrowheads="1"/>
          </p:cNvSpPr>
          <p:nvPr/>
        </p:nvSpPr>
        <p:spPr bwMode="auto">
          <a:xfrm>
            <a:off x="1435894" y="3006329"/>
            <a:ext cx="6250781" cy="665559"/>
          </a:xfrm>
          <a:prstGeom prst="roundRect">
            <a:avLst>
              <a:gd name="adj" fmla="val 16667"/>
            </a:avLst>
          </a:prstGeom>
          <a:solidFill>
            <a:srgbClr val="DBEEF4"/>
          </a:solidFill>
          <a:ln w="9525">
            <a:solidFill>
              <a:srgbClr val="DBEEF4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269320" name="TextBox 22"/>
          <p:cNvSpPr txBox="1">
            <a:spLocks noChangeArrowheads="1"/>
          </p:cNvSpPr>
          <p:nvPr/>
        </p:nvSpPr>
        <p:spPr bwMode="auto">
          <a:xfrm>
            <a:off x="6694539" y="3006329"/>
            <a:ext cx="102547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Slicing</a:t>
            </a:r>
          </a:p>
          <a:p>
            <a:pPr algn="r"/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Software</a:t>
            </a:r>
          </a:p>
        </p:txBody>
      </p:sp>
      <p:sp>
        <p:nvSpPr>
          <p:cNvPr id="25" name="Rounded Rectangle 24"/>
          <p:cNvSpPr>
            <a:spLocks noChangeArrowheads="1"/>
          </p:cNvSpPr>
          <p:nvPr/>
        </p:nvSpPr>
        <p:spPr bwMode="auto">
          <a:xfrm>
            <a:off x="3295650" y="3190875"/>
            <a:ext cx="2484835" cy="391716"/>
          </a:xfrm>
          <a:prstGeom prst="roundRect">
            <a:avLst>
              <a:gd name="adj" fmla="val 16667"/>
            </a:avLst>
          </a:prstGeom>
          <a:solidFill>
            <a:srgbClr val="215968"/>
          </a:solidFill>
          <a:ln w="9525">
            <a:solidFill>
              <a:srgbClr val="215968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FlowVisor</a:t>
            </a:r>
          </a:p>
        </p:txBody>
      </p:sp>
      <p:cxnSp>
        <p:nvCxnSpPr>
          <p:cNvPr id="33" name="Straight Arrow Connector 32"/>
          <p:cNvCxnSpPr>
            <a:cxnSpLocks noChangeShapeType="1"/>
            <a:stCxn id="25" idx="1"/>
          </p:cNvCxnSpPr>
          <p:nvPr/>
        </p:nvCxnSpPr>
        <p:spPr bwMode="auto">
          <a:xfrm rot="10800000">
            <a:off x="2992041" y="3386138"/>
            <a:ext cx="303609" cy="1191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 type="arrow" w="med" len="med"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34" name="Rounded Rectangle 33"/>
          <p:cNvSpPr>
            <a:spLocks noChangeArrowheads="1"/>
          </p:cNvSpPr>
          <p:nvPr/>
        </p:nvSpPr>
        <p:spPr bwMode="auto">
          <a:xfrm>
            <a:off x="2068117" y="3157538"/>
            <a:ext cx="915590" cy="390525"/>
          </a:xfrm>
          <a:prstGeom prst="roundRect">
            <a:avLst>
              <a:gd name="adj" fmla="val 16667"/>
            </a:avLst>
          </a:prstGeom>
          <a:solidFill>
            <a:srgbClr val="31859C">
              <a:alpha val="70979"/>
            </a:srgbClr>
          </a:solidFill>
          <a:ln w="9525">
            <a:solidFill>
              <a:srgbClr val="31859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FlowVisor</a:t>
            </a:r>
          </a:p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Console</a:t>
            </a:r>
          </a:p>
        </p:txBody>
      </p:sp>
      <p:sp>
        <p:nvSpPr>
          <p:cNvPr id="48" name="Slide Number Placeholder 47"/>
          <p:cNvSpPr txBox="1">
            <a:spLocks noGrp="1"/>
          </p:cNvSpPr>
          <p:nvPr/>
        </p:nvSpPr>
        <p:spPr>
          <a:xfrm>
            <a:off x="5779294" y="4852988"/>
            <a:ext cx="1600200" cy="273844"/>
          </a:xfrm>
          <a:prstGeom prst="rect">
            <a:avLst/>
          </a:prstGeom>
          <a:noFill/>
        </p:spPr>
        <p:txBody>
          <a:bodyPr anchor="ctr">
            <a:prstTxWarp prst="textNoShape">
              <a:avLst/>
            </a:prstTxWarp>
          </a:bodyPr>
          <a:lstStyle/>
          <a:p>
            <a:pPr algn="r"/>
            <a:fld id="{BE387FAD-5540-1E40-862B-5EB6AB300F3B}" type="slidenum">
              <a:rPr lang="en-US" sz="900">
                <a:solidFill>
                  <a:srgbClr val="898989"/>
                </a:solidFill>
                <a:latin typeface="Calibri" charset="0"/>
                <a:ea typeface="ＭＳ Ｐゴシック" charset="-128"/>
                <a:cs typeface="ＭＳ Ｐゴシック" charset="-128"/>
              </a:rPr>
              <a:pPr algn="r"/>
              <a:t>81</a:t>
            </a:fld>
            <a:endParaRPr lang="en-US" sz="900">
              <a:solidFill>
                <a:srgbClr val="898989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1435894" y="1571625"/>
            <a:ext cx="6250781" cy="816769"/>
          </a:xfrm>
          <a:prstGeom prst="roundRect">
            <a:avLst>
              <a:gd name="adj" fmla="val 16667"/>
            </a:avLst>
          </a:prstGeom>
          <a:solidFill>
            <a:srgbClr val="F2DCDB"/>
          </a:solidFill>
          <a:ln w="9525">
            <a:solidFill>
              <a:srgbClr val="F2DCDB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269326" name="TextBox 26"/>
          <p:cNvSpPr txBox="1">
            <a:spLocks noChangeArrowheads="1"/>
          </p:cNvSpPr>
          <p:nvPr/>
        </p:nvSpPr>
        <p:spPr bwMode="auto">
          <a:xfrm>
            <a:off x="6442473" y="1857375"/>
            <a:ext cx="13347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Applications</a:t>
            </a:r>
          </a:p>
        </p:txBody>
      </p:sp>
      <p:sp>
        <p:nvSpPr>
          <p:cNvPr id="38" name="Rounded Rectangle 37"/>
          <p:cNvSpPr>
            <a:spLocks noChangeArrowheads="1"/>
          </p:cNvSpPr>
          <p:nvPr/>
        </p:nvSpPr>
        <p:spPr bwMode="auto">
          <a:xfrm>
            <a:off x="2636044" y="1857375"/>
            <a:ext cx="1001316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LAVI</a:t>
            </a:r>
          </a:p>
        </p:txBody>
      </p:sp>
      <p:sp>
        <p:nvSpPr>
          <p:cNvPr id="39" name="Rounded Rectangle 38"/>
          <p:cNvSpPr>
            <a:spLocks noChangeArrowheads="1"/>
          </p:cNvSpPr>
          <p:nvPr/>
        </p:nvSpPr>
        <p:spPr bwMode="auto">
          <a:xfrm>
            <a:off x="1550194" y="1857375"/>
            <a:ext cx="1001316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ENVI (GUI)</a:t>
            </a:r>
          </a:p>
        </p:txBody>
      </p:sp>
      <p:sp>
        <p:nvSpPr>
          <p:cNvPr id="63" name="Rounded Rectangle 62"/>
          <p:cNvSpPr>
            <a:spLocks noChangeArrowheads="1"/>
          </p:cNvSpPr>
          <p:nvPr/>
        </p:nvSpPr>
        <p:spPr bwMode="auto">
          <a:xfrm>
            <a:off x="4922044" y="1857375"/>
            <a:ext cx="1371600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Expedient</a:t>
            </a:r>
          </a:p>
        </p:txBody>
      </p:sp>
      <p:sp>
        <p:nvSpPr>
          <p:cNvPr id="64" name="Rounded Rectangle 63"/>
          <p:cNvSpPr>
            <a:spLocks noChangeArrowheads="1"/>
          </p:cNvSpPr>
          <p:nvPr/>
        </p:nvSpPr>
        <p:spPr bwMode="auto">
          <a:xfrm>
            <a:off x="3721894" y="1876425"/>
            <a:ext cx="1100138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n-Casting</a:t>
            </a:r>
          </a:p>
        </p:txBody>
      </p:sp>
      <p:sp>
        <p:nvSpPr>
          <p:cNvPr id="29" name="Rounded Rectangle 28"/>
          <p:cNvSpPr>
            <a:spLocks noChangeArrowheads="1"/>
          </p:cNvSpPr>
          <p:nvPr/>
        </p:nvSpPr>
        <p:spPr bwMode="auto">
          <a:xfrm>
            <a:off x="1435894" y="3718323"/>
            <a:ext cx="6250781" cy="1316831"/>
          </a:xfrm>
          <a:prstGeom prst="roundRect">
            <a:avLst>
              <a:gd name="adj" fmla="val 16667"/>
            </a:avLst>
          </a:prstGeom>
          <a:solidFill>
            <a:srgbClr val="C6D9F1"/>
          </a:solidFill>
          <a:ln w="9525">
            <a:solidFill>
              <a:srgbClr val="DCE6F2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13" name="Rounded Rectangle 12"/>
          <p:cNvSpPr>
            <a:spLocks noChangeArrowheads="1"/>
          </p:cNvSpPr>
          <p:nvPr/>
        </p:nvSpPr>
        <p:spPr bwMode="auto">
          <a:xfrm>
            <a:off x="4543425" y="3976688"/>
            <a:ext cx="1007269" cy="391716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NetFPGA</a:t>
            </a:r>
          </a:p>
        </p:txBody>
      </p:sp>
      <p:sp>
        <p:nvSpPr>
          <p:cNvPr id="14" name="Rounded Rectangle 13"/>
          <p:cNvSpPr>
            <a:spLocks noChangeArrowheads="1"/>
          </p:cNvSpPr>
          <p:nvPr/>
        </p:nvSpPr>
        <p:spPr bwMode="auto">
          <a:xfrm>
            <a:off x="3543300" y="3976688"/>
            <a:ext cx="971550" cy="391716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Software </a:t>
            </a:r>
          </a:p>
          <a:p>
            <a:pPr algn="ctr"/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Ref. Switch</a:t>
            </a:r>
          </a:p>
        </p:txBody>
      </p:sp>
      <p:sp>
        <p:nvSpPr>
          <p:cNvPr id="15" name="Rounded Rectangle 14"/>
          <p:cNvSpPr>
            <a:spLocks noChangeArrowheads="1"/>
          </p:cNvSpPr>
          <p:nvPr/>
        </p:nvSpPr>
        <p:spPr bwMode="auto">
          <a:xfrm>
            <a:off x="5579269" y="3976688"/>
            <a:ext cx="1016794" cy="391716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Broadcom </a:t>
            </a:r>
          </a:p>
          <a:p>
            <a:pPr algn="ctr"/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Ref. Switch</a:t>
            </a:r>
          </a:p>
        </p:txBody>
      </p:sp>
      <p:sp>
        <p:nvSpPr>
          <p:cNvPr id="16" name="Rounded Rectangle 15"/>
          <p:cNvSpPr>
            <a:spLocks noChangeArrowheads="1"/>
          </p:cNvSpPr>
          <p:nvPr/>
        </p:nvSpPr>
        <p:spPr bwMode="auto">
          <a:xfrm>
            <a:off x="3543300" y="4482704"/>
            <a:ext cx="971550" cy="391715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OpenWRT</a:t>
            </a:r>
          </a:p>
        </p:txBody>
      </p:sp>
      <p:sp>
        <p:nvSpPr>
          <p:cNvPr id="17" name="Rounded Rectangle 16"/>
          <p:cNvSpPr>
            <a:spLocks noChangeArrowheads="1"/>
          </p:cNvSpPr>
          <p:nvPr/>
        </p:nvSpPr>
        <p:spPr bwMode="auto">
          <a:xfrm>
            <a:off x="4543425" y="4482704"/>
            <a:ext cx="1028700" cy="391715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PCEngine  </a:t>
            </a:r>
            <a:b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</a:br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WiFi AP</a:t>
            </a:r>
          </a:p>
        </p:txBody>
      </p:sp>
      <p:sp>
        <p:nvSpPr>
          <p:cNvPr id="269337" name="TextBox 18"/>
          <p:cNvSpPr txBox="1">
            <a:spLocks noChangeArrowheads="1"/>
          </p:cNvSpPr>
          <p:nvPr/>
        </p:nvSpPr>
        <p:spPr bwMode="auto">
          <a:xfrm>
            <a:off x="1613297" y="3742135"/>
            <a:ext cx="1682192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Calibri" charset="0"/>
                <a:ea typeface="ＭＳ Ｐゴシック" charset="-128"/>
                <a:cs typeface="ＭＳ Ｐゴシック" charset="-128"/>
              </a:rPr>
              <a:t>Commercial Switches</a:t>
            </a:r>
          </a:p>
        </p:txBody>
      </p:sp>
      <p:sp>
        <p:nvSpPr>
          <p:cNvPr id="269338" name="TextBox 19"/>
          <p:cNvSpPr txBox="1">
            <a:spLocks noChangeArrowheads="1"/>
          </p:cNvSpPr>
          <p:nvPr/>
        </p:nvSpPr>
        <p:spPr bwMode="auto">
          <a:xfrm>
            <a:off x="4305301" y="3718322"/>
            <a:ext cx="144949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Calibri" charset="0"/>
                <a:ea typeface="ＭＳ Ｐゴシック" charset="-128"/>
                <a:cs typeface="ＭＳ Ｐゴシック" charset="-128"/>
              </a:rPr>
              <a:t>Stanford Provided</a:t>
            </a:r>
          </a:p>
        </p:txBody>
      </p:sp>
      <p:sp>
        <p:nvSpPr>
          <p:cNvPr id="269339" name="TextBox 21"/>
          <p:cNvSpPr txBox="1">
            <a:spLocks noChangeArrowheads="1"/>
          </p:cNvSpPr>
          <p:nvPr/>
        </p:nvSpPr>
        <p:spPr bwMode="auto">
          <a:xfrm>
            <a:off x="6642497" y="4099323"/>
            <a:ext cx="114076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OpenFlow</a:t>
            </a:r>
          </a:p>
          <a:p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Switches</a:t>
            </a:r>
          </a:p>
        </p:txBody>
      </p:sp>
      <p:sp>
        <p:nvSpPr>
          <p:cNvPr id="2" name="Rounded Rectangle 27"/>
          <p:cNvSpPr>
            <a:spLocks noChangeArrowheads="1"/>
          </p:cNvSpPr>
          <p:nvPr/>
        </p:nvSpPr>
        <p:spPr bwMode="auto">
          <a:xfrm>
            <a:off x="5422106" y="2505075"/>
            <a:ext cx="671513" cy="391716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 dirty="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ONIX</a:t>
            </a:r>
          </a:p>
        </p:txBody>
      </p:sp>
      <p:sp>
        <p:nvSpPr>
          <p:cNvPr id="269341" name="TextBox 19"/>
          <p:cNvSpPr txBox="1">
            <a:spLocks noChangeArrowheads="1"/>
          </p:cNvSpPr>
          <p:nvPr/>
        </p:nvSpPr>
        <p:spPr bwMode="auto">
          <a:xfrm>
            <a:off x="3550444" y="1571625"/>
            <a:ext cx="144949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Calibri" charset="0"/>
                <a:ea typeface="ＭＳ Ｐゴシック" charset="-128"/>
                <a:cs typeface="ＭＳ Ｐゴシック" charset="-128"/>
              </a:rPr>
              <a:t>Stanford Provided</a:t>
            </a:r>
          </a:p>
        </p:txBody>
      </p:sp>
      <p:sp>
        <p:nvSpPr>
          <p:cNvPr id="269342" name="TextBox 26"/>
          <p:cNvSpPr txBox="1">
            <a:spLocks noChangeArrowheads="1"/>
          </p:cNvSpPr>
          <p:nvPr/>
        </p:nvSpPr>
        <p:spPr bwMode="auto">
          <a:xfrm>
            <a:off x="5991423" y="1000125"/>
            <a:ext cx="1683346" cy="541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Monitoring/</a:t>
            </a:r>
            <a:br>
              <a:rPr lang="en-US">
                <a:latin typeface="Calibri" charset="0"/>
                <a:ea typeface="ＭＳ Ｐゴシック" charset="-128"/>
                <a:cs typeface="ＭＳ Ｐゴシック" charset="-128"/>
              </a:rPr>
            </a:br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debugging tools</a:t>
            </a:r>
          </a:p>
        </p:txBody>
      </p:sp>
      <p:sp>
        <p:nvSpPr>
          <p:cNvPr id="3" name="Rounded Rectangle 37"/>
          <p:cNvSpPr>
            <a:spLocks noChangeArrowheads="1"/>
          </p:cNvSpPr>
          <p:nvPr/>
        </p:nvSpPr>
        <p:spPr bwMode="auto">
          <a:xfrm>
            <a:off x="2921794" y="1057275"/>
            <a:ext cx="1001316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oflops</a:t>
            </a:r>
          </a:p>
        </p:txBody>
      </p:sp>
      <p:sp>
        <p:nvSpPr>
          <p:cNvPr id="4" name="Rounded Rectangle 38"/>
          <p:cNvSpPr>
            <a:spLocks noChangeArrowheads="1"/>
          </p:cNvSpPr>
          <p:nvPr/>
        </p:nvSpPr>
        <p:spPr bwMode="auto">
          <a:xfrm>
            <a:off x="1835944" y="1057275"/>
            <a:ext cx="1001316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oftrace</a:t>
            </a:r>
          </a:p>
        </p:txBody>
      </p:sp>
      <p:sp>
        <p:nvSpPr>
          <p:cNvPr id="5" name="Rounded Rectangle 63"/>
          <p:cNvSpPr>
            <a:spLocks noChangeArrowheads="1"/>
          </p:cNvSpPr>
          <p:nvPr/>
        </p:nvSpPr>
        <p:spPr bwMode="auto">
          <a:xfrm>
            <a:off x="4007644" y="1076325"/>
            <a:ext cx="1100138" cy="381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openseer</a:t>
            </a:r>
          </a:p>
        </p:txBody>
      </p:sp>
      <p:sp>
        <p:nvSpPr>
          <p:cNvPr id="6" name="Rounded Rectangle 16"/>
          <p:cNvSpPr>
            <a:spLocks noChangeArrowheads="1"/>
          </p:cNvSpPr>
          <p:nvPr/>
        </p:nvSpPr>
        <p:spPr bwMode="auto">
          <a:xfrm>
            <a:off x="5591175" y="4475560"/>
            <a:ext cx="981075" cy="391715"/>
          </a:xfrm>
          <a:prstGeom prst="roundRect">
            <a:avLst>
              <a:gd name="adj" fmla="val 16667"/>
            </a:avLst>
          </a:prstGeom>
          <a:solidFill>
            <a:srgbClr val="17375E">
              <a:alpha val="77000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n-US" sz="1275" dirty="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 </a:t>
            </a:r>
            <a:r>
              <a:rPr lang="en-US" sz="1275" dirty="0" err="1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vSwitch</a:t>
            </a:r>
            <a:endParaRPr lang="en-US" sz="1275" dirty="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" name="Rounded Rectangle 13"/>
          <p:cNvSpPr>
            <a:spLocks noChangeArrowheads="1"/>
          </p:cNvSpPr>
          <p:nvPr/>
        </p:nvSpPr>
        <p:spPr bwMode="auto">
          <a:xfrm>
            <a:off x="1635919" y="4086225"/>
            <a:ext cx="1433513" cy="702469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75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HP, NEC, Pronto, Juniper.. and many more </a:t>
            </a:r>
          </a:p>
        </p:txBody>
      </p:sp>
      <p:sp>
        <p:nvSpPr>
          <p:cNvPr id="8" name="Rounded Rectangle 27"/>
          <p:cNvSpPr>
            <a:spLocks noChangeArrowheads="1"/>
          </p:cNvSpPr>
          <p:nvPr/>
        </p:nvSpPr>
        <p:spPr bwMode="auto">
          <a:xfrm>
            <a:off x="2496742" y="2497931"/>
            <a:ext cx="848915" cy="391716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Beacon</a:t>
            </a:r>
          </a:p>
        </p:txBody>
      </p:sp>
      <p:sp>
        <p:nvSpPr>
          <p:cNvPr id="9" name="Rounded Rectangle 27"/>
          <p:cNvSpPr>
            <a:spLocks noChangeArrowheads="1"/>
          </p:cNvSpPr>
          <p:nvPr/>
        </p:nvSpPr>
        <p:spPr bwMode="auto">
          <a:xfrm>
            <a:off x="3543300" y="2508648"/>
            <a:ext cx="671513" cy="391715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 dirty="0" err="1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Trema</a:t>
            </a:r>
            <a:endParaRPr lang="en-US" sz="1350" dirty="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0" name="Rounded Rectangle 27"/>
          <p:cNvSpPr>
            <a:spLocks noChangeArrowheads="1"/>
          </p:cNvSpPr>
          <p:nvPr/>
        </p:nvSpPr>
        <p:spPr bwMode="auto">
          <a:xfrm>
            <a:off x="4407694" y="2508648"/>
            <a:ext cx="828675" cy="391715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Maestro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58021" y="4419691"/>
            <a:ext cx="1106091" cy="506015"/>
          </a:xfrm>
          <a:prstGeom prst="rect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5691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1" grpId="0" animBg="1"/>
      <p:bldP spid="269317" grpId="0"/>
      <p:bldP spid="28" grpId="0" animBg="1"/>
      <p:bldP spid="30" grpId="0" animBg="1"/>
      <p:bldP spid="269320" grpId="0"/>
      <p:bldP spid="25" grpId="0" animBg="1"/>
      <p:bldP spid="34" grpId="0" animBg="1"/>
      <p:bldP spid="48" grpId="0"/>
      <p:bldP spid="37" grpId="0" animBg="1"/>
      <p:bldP spid="269326" grpId="0"/>
      <p:bldP spid="38" grpId="0" animBg="1"/>
      <p:bldP spid="39" grpId="0" animBg="1"/>
      <p:bldP spid="63" grpId="0" animBg="1"/>
      <p:bldP spid="64" grpId="0" animBg="1"/>
      <p:bldP spid="2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69337" grpId="0"/>
      <p:bldP spid="269338" grpId="0"/>
      <p:bldP spid="269339" grpId="0"/>
      <p:bldP spid="2" grpId="0" animBg="1"/>
      <p:bldP spid="269341" grpId="0"/>
      <p:bldP spid="269342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4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AutoShape 2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3600451" y="3381375"/>
            <a:ext cx="1889522" cy="1025129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54000" tIns="297000" rIns="54000" bIns="54000">
            <a:prstTxWarp prst="textNoShape">
              <a:avLst/>
            </a:prstTxWarp>
          </a:bodyPr>
          <a:lstStyle/>
          <a:p>
            <a:pPr marL="102394" indent="-102394" defTabSz="6858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</a:pPr>
            <a:endParaRPr lang="en-US" sz="9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38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3600451" y="3327797"/>
            <a:ext cx="1889522" cy="27027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685800">
              <a:lnSpc>
                <a:spcPct val="90000"/>
              </a:lnSpc>
            </a:pPr>
            <a:r>
              <a:rPr lang="en-GB" sz="1200">
                <a:solidFill>
                  <a:schemeClr val="bg1"/>
                </a:solidFill>
                <a:latin typeface="Tele-GroteskFet" pitchFamily="2" charset="0"/>
              </a:rPr>
              <a:t>Ciena Coredirector</a:t>
            </a:r>
          </a:p>
        </p:txBody>
      </p:sp>
      <p:sp>
        <p:nvSpPr>
          <p:cNvPr id="272388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5880497" y="2070498"/>
            <a:ext cx="1889522" cy="1025128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54000" tIns="297000" rIns="54000" bIns="54000">
            <a:prstTxWarp prst="textNoShape">
              <a:avLst/>
            </a:prstTxWarp>
          </a:bodyPr>
          <a:lstStyle/>
          <a:p>
            <a:pPr marL="102394" indent="-102394" defTabSz="6858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</a:pPr>
            <a:endParaRPr lang="en-US" sz="9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72389" name="AutoShape 5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3620691" y="845344"/>
            <a:ext cx="1889522" cy="1025129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54000" tIns="297000" rIns="54000" bIns="54000">
            <a:prstTxWarp prst="textNoShape">
              <a:avLst/>
            </a:prstTxWarp>
          </a:bodyPr>
          <a:lstStyle/>
          <a:p>
            <a:pPr marL="102394" indent="-102394" defTabSz="6858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</a:pPr>
            <a:endParaRPr lang="en-US" sz="9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3620691" y="845344"/>
            <a:ext cx="1889522" cy="27027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685800">
              <a:lnSpc>
                <a:spcPct val="90000"/>
              </a:lnSpc>
            </a:pPr>
            <a:r>
              <a:rPr lang="en-GB" sz="1200">
                <a:solidFill>
                  <a:schemeClr val="bg1"/>
                </a:solidFill>
                <a:latin typeface="Tele-GroteskFet" pitchFamily="2" charset="0"/>
              </a:rPr>
              <a:t>NEC IP8800</a:t>
            </a:r>
          </a:p>
        </p:txBody>
      </p:sp>
      <p:sp>
        <p:nvSpPr>
          <p:cNvPr id="272391" name="AutoShape 7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5880497" y="853679"/>
            <a:ext cx="1889522" cy="1025128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54000" tIns="297000" rIns="54000" bIns="54000">
            <a:prstTxWarp prst="textNoShape">
              <a:avLst/>
            </a:prstTxWarp>
          </a:bodyPr>
          <a:lstStyle/>
          <a:p>
            <a:pPr marL="102394" indent="-102394" defTabSz="6858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</a:pPr>
            <a:endParaRPr lang="en-US" sz="9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72392" name="AutoShape 8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373982" y="2062162"/>
            <a:ext cx="1889522" cy="1025129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54000" tIns="297000" rIns="54000" bIns="54000">
            <a:prstTxWarp prst="textNoShape">
              <a:avLst/>
            </a:prstTxWarp>
          </a:bodyPr>
          <a:lstStyle/>
          <a:p>
            <a:pPr marL="102394" indent="-102394" defTabSz="6858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</a:pPr>
            <a:endParaRPr lang="en-US" sz="9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72393" name="AutoShape 9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1373982" y="3327798"/>
            <a:ext cx="1889522" cy="1025128"/>
          </a:xfrm>
          <a:prstGeom prst="roundRect">
            <a:avLst>
              <a:gd name="adj" fmla="val 4528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54000" tIns="297000" rIns="54000" bIns="54000">
            <a:prstTxWarp prst="textNoShape">
              <a:avLst/>
            </a:prstTxWarp>
          </a:bodyPr>
          <a:lstStyle/>
          <a:p>
            <a:pPr marL="102394" indent="-102394" defTabSz="6858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</a:pPr>
            <a:endParaRPr lang="en-US" sz="9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72394" name="Rectangle 10"/>
          <p:cNvSpPr>
            <a:spLocks noGrp="1"/>
          </p:cNvSpPr>
          <p:nvPr>
            <p:ph type="title"/>
          </p:nvPr>
        </p:nvSpPr>
        <p:spPr>
          <a:xfrm>
            <a:off x="1385888" y="188119"/>
            <a:ext cx="6399610" cy="871538"/>
          </a:xfrm>
        </p:spPr>
        <p:txBody>
          <a:bodyPr>
            <a:normAutofit fontScale="90000"/>
          </a:bodyPr>
          <a:lstStyle/>
          <a:p>
            <a:r>
              <a:rPr lang="en-US">
                <a:latin typeface="Calibri" charset="0"/>
              </a:rPr>
              <a:t>Current SDN hardware</a:t>
            </a:r>
            <a:br>
              <a:rPr lang="en-US">
                <a:latin typeface="Calibri" charset="0"/>
              </a:rPr>
            </a:br>
            <a:endParaRPr lang="en-US">
              <a:solidFill>
                <a:srgbClr val="666666"/>
              </a:solidFill>
              <a:latin typeface="Calibri" charset="0"/>
            </a:endParaRPr>
          </a:p>
        </p:txBody>
      </p:sp>
      <p:pic>
        <p:nvPicPr>
          <p:cNvPr id="272395" name="Picture 3"/>
          <p:cNvPicPr>
            <a:picLocks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57363" y="2332435"/>
            <a:ext cx="1122760" cy="738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72396" name="Picture 4"/>
          <p:cNvPicPr>
            <a:picLocks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59994" y="1173956"/>
            <a:ext cx="1609725" cy="6298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72397" name="Rectangle 9"/>
          <p:cNvSpPr>
            <a:spLocks/>
          </p:cNvSpPr>
          <p:nvPr/>
        </p:nvSpPr>
        <p:spPr bwMode="auto">
          <a:xfrm>
            <a:off x="1943100" y="1578769"/>
            <a:ext cx="1714500" cy="3167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30479" bIns="0">
            <a:prstTxWarp prst="textNoShape">
              <a:avLst/>
            </a:prstTxWarp>
          </a:bodyPr>
          <a:lstStyle/>
          <a:p>
            <a:pPr marL="29766" defTabSz="685800"/>
            <a:endParaRPr lang="en-US" sz="1350">
              <a:ea typeface="ＭＳ Ｐゴシック" charset="-128"/>
              <a:cs typeface="Times New Roman" charset="0"/>
            </a:endParaRPr>
          </a:p>
        </p:txBody>
      </p:sp>
      <p:pic>
        <p:nvPicPr>
          <p:cNvPr id="272398" name="Picture 10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516291" y="2380060"/>
            <a:ext cx="552450" cy="683419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</p:pic>
      <p:pic>
        <p:nvPicPr>
          <p:cNvPr id="272399" name="Picture 1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334125" y="1176338"/>
            <a:ext cx="981075" cy="654844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</p:pic>
      <p:pic>
        <p:nvPicPr>
          <p:cNvPr id="272400" name="Picture 14"/>
          <p:cNvPicPr>
            <a:picLocks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545431" y="3794522"/>
            <a:ext cx="1547813" cy="475059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</p:pic>
      <p:sp>
        <p:nvSpPr>
          <p:cNvPr id="272401" name="Rectangle 16"/>
          <p:cNvSpPr>
            <a:spLocks/>
          </p:cNvSpPr>
          <p:nvPr/>
        </p:nvSpPr>
        <p:spPr bwMode="auto">
          <a:xfrm>
            <a:off x="5651897" y="3759994"/>
            <a:ext cx="2119313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marL="29766" algn="r" defTabSz="685800"/>
            <a:r>
              <a:rPr lang="en-US" sz="1950" dirty="0">
                <a:solidFill>
                  <a:schemeClr val="tx2"/>
                </a:solidFill>
                <a:latin typeface="Tele-GroteskFet" pitchFamily="2" charset="0"/>
                <a:ea typeface="ＭＳ Ｐゴシック" charset="-128"/>
                <a:cs typeface="Times New Roman" charset="0"/>
              </a:rPr>
              <a:t>Ask your vendors</a:t>
            </a:r>
          </a:p>
        </p:txBody>
      </p:sp>
      <p:sp>
        <p:nvSpPr>
          <p:cNvPr id="272402" name="AutoShape 18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373982" y="845344"/>
            <a:ext cx="1889522" cy="1025129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54000" tIns="297000" rIns="54000" bIns="54000">
            <a:prstTxWarp prst="textNoShape">
              <a:avLst/>
            </a:prstTxWarp>
          </a:bodyPr>
          <a:lstStyle/>
          <a:p>
            <a:pPr marL="102394" indent="-102394" defTabSz="6858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</a:pPr>
            <a:endParaRPr lang="en-US" sz="9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pic>
        <p:nvPicPr>
          <p:cNvPr id="272403" name="Picture 2"/>
          <p:cNvPicPr>
            <a:picLocks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39529" y="1169194"/>
            <a:ext cx="759619" cy="6703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1373982" y="845344"/>
            <a:ext cx="1889522" cy="27027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685800">
              <a:lnSpc>
                <a:spcPct val="90000"/>
              </a:lnSpc>
            </a:pPr>
            <a:r>
              <a:rPr lang="en-GB" sz="1200">
                <a:solidFill>
                  <a:schemeClr val="bg1"/>
                </a:solidFill>
                <a:latin typeface="Tele-GroteskFet" pitchFamily="2" charset="0"/>
              </a:rPr>
              <a:t>Juniper MX-series</a:t>
            </a:r>
          </a:p>
        </p:txBody>
      </p:sp>
      <p:sp>
        <p:nvSpPr>
          <p:cNvPr id="5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1373982" y="2062163"/>
            <a:ext cx="1889522" cy="27027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685800">
              <a:lnSpc>
                <a:spcPct val="90000"/>
              </a:lnSpc>
            </a:pPr>
            <a:r>
              <a:rPr lang="en-GB" sz="1200">
                <a:solidFill>
                  <a:schemeClr val="bg1"/>
                </a:solidFill>
                <a:latin typeface="Tele-GroteskFet" pitchFamily="2" charset="0"/>
              </a:rPr>
              <a:t>HP Procurve 5400</a:t>
            </a:r>
          </a:p>
        </p:txBody>
      </p:sp>
      <p:sp>
        <p:nvSpPr>
          <p:cNvPr id="6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1373982" y="3327797"/>
            <a:ext cx="1889522" cy="27027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685800">
              <a:lnSpc>
                <a:spcPct val="90000"/>
              </a:lnSpc>
            </a:pPr>
            <a:r>
              <a:rPr lang="en-GB" sz="1200">
                <a:solidFill>
                  <a:schemeClr val="bg1"/>
                </a:solidFill>
                <a:latin typeface="Tele-GroteskFet" pitchFamily="2" charset="0"/>
              </a:rPr>
              <a:t>Pronto 3240/3290</a:t>
            </a:r>
          </a:p>
        </p:txBody>
      </p:sp>
      <p:sp>
        <p:nvSpPr>
          <p:cNvPr id="7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5880497" y="853678"/>
            <a:ext cx="1889522" cy="27027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685800">
              <a:lnSpc>
                <a:spcPct val="90000"/>
              </a:lnSpc>
            </a:pPr>
            <a:r>
              <a:rPr lang="en-GB" sz="1200">
                <a:solidFill>
                  <a:schemeClr val="bg1"/>
                </a:solidFill>
                <a:latin typeface="Tele-GroteskFet" pitchFamily="2" charset="0"/>
              </a:rPr>
              <a:t>WiMax (NEC)</a:t>
            </a:r>
          </a:p>
        </p:txBody>
      </p:sp>
      <p:sp>
        <p:nvSpPr>
          <p:cNvPr id="8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5880497" y="2070497"/>
            <a:ext cx="1889522" cy="27027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685800">
              <a:lnSpc>
                <a:spcPct val="90000"/>
              </a:lnSpc>
            </a:pPr>
            <a:r>
              <a:rPr lang="en-GB" sz="1200">
                <a:solidFill>
                  <a:schemeClr val="bg1"/>
                </a:solidFill>
                <a:latin typeface="Tele-GroteskFet" pitchFamily="2" charset="0"/>
              </a:rPr>
              <a:t>PC Engines</a:t>
            </a:r>
          </a:p>
        </p:txBody>
      </p:sp>
      <p:pic>
        <p:nvPicPr>
          <p:cNvPr id="272409" name="Picture 25"/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94572" y="3598069"/>
            <a:ext cx="576263" cy="863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2410" name="AutoShape 26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3600451" y="2069306"/>
            <a:ext cx="1889522" cy="1025129"/>
          </a:xfrm>
          <a:prstGeom prst="roundRect">
            <a:avLst>
              <a:gd name="adj" fmla="val 4528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54000" tIns="297000" rIns="54000" bIns="54000">
            <a:prstTxWarp prst="textNoShape">
              <a:avLst/>
            </a:prstTxWarp>
          </a:bodyPr>
          <a:lstStyle/>
          <a:p>
            <a:pPr marL="102394" indent="-102394" defTabSz="6858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</a:pPr>
            <a:endParaRPr lang="en-US" sz="9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3600451" y="2069307"/>
            <a:ext cx="1889522" cy="27027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685800">
              <a:lnSpc>
                <a:spcPct val="90000"/>
              </a:lnSpc>
            </a:pPr>
            <a:r>
              <a:rPr lang="en-GB" sz="1200">
                <a:solidFill>
                  <a:schemeClr val="bg1"/>
                </a:solidFill>
                <a:latin typeface="Tele-GroteskFet" pitchFamily="2" charset="0"/>
              </a:rPr>
              <a:t>Netgear 7324</a:t>
            </a:r>
          </a:p>
        </p:txBody>
      </p:sp>
      <p:pic>
        <p:nvPicPr>
          <p:cNvPr id="272412" name="Picture 28"/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54029" y="2556272"/>
            <a:ext cx="1665684" cy="342900"/>
          </a:xfrm>
          <a:prstGeom prst="rect">
            <a:avLst/>
          </a:prstGeom>
          <a:noFill/>
        </p:spPr>
      </p:pic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6057900" y="4767263"/>
            <a:ext cx="1600200" cy="273844"/>
          </a:xfrm>
          <a:prstGeom prst="rect">
            <a:avLst/>
          </a:prstGeom>
          <a:noFill/>
        </p:spPr>
        <p:txBody>
          <a:bodyPr anchor="ctr">
            <a:prstTxWarp prst="textNoShape">
              <a:avLst/>
            </a:prstTxWarp>
          </a:bodyPr>
          <a:lstStyle/>
          <a:p>
            <a:pPr algn="r"/>
            <a:fld id="{2A59A62A-C4F6-2F4B-9DA7-C5C2D2F36C99}" type="slidenum">
              <a:rPr lang="en-US" sz="900">
                <a:solidFill>
                  <a:srgbClr val="898989"/>
                </a:solidFill>
                <a:latin typeface="Calibri" charset="0"/>
              </a:rPr>
              <a:pPr algn="r"/>
              <a:t>82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8062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Commercial Switch Vendors</a:t>
            </a:r>
          </a:p>
        </p:txBody>
      </p:sp>
      <p:graphicFrame>
        <p:nvGraphicFramePr>
          <p:cNvPr id="281704" name="Group 104"/>
          <p:cNvGraphicFramePr>
            <a:graphicFrameLocks noGrp="1"/>
          </p:cNvGraphicFramePr>
          <p:nvPr>
            <p:ph idx="1"/>
          </p:nvPr>
        </p:nvGraphicFramePr>
        <p:xfrm>
          <a:off x="1466455" y="873505"/>
          <a:ext cx="6172200" cy="4152854"/>
        </p:xfrm>
        <a:graphic>
          <a:graphicData uri="http://schemas.openxmlformats.org/drawingml/2006/table">
            <a:tbl>
              <a:tblPr/>
              <a:tblGrid>
                <a:gridCol w="1693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81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charset="0"/>
                        </a:rPr>
                        <a:t>Model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charset="0"/>
                        </a:rPr>
                        <a:t>Virtualize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charset="0"/>
                        </a:rPr>
                        <a:t>Notes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charset="0"/>
                      </a:endParaRP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846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HP Procurve 5400zl or 6600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1 OF instance per VLAN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LACP, VLAN and STP processing before OpenFlow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Wildcard rules or non-IP pkts processed in s/w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Header rewriting in s/w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CPU protects mgmt during loop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alibri" charset="0"/>
                      </a:endParaRP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46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NEC IP8800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1 OF instance per VLAN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OpenFlow takes precedence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Most actions processed in hardware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MAC header rewriting in h/w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alibri" charset="0"/>
                      </a:endParaRP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990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Pronto 3240 or 3290 with Pica8 or Indigo firmware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1 OF instance per switch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No legacy protocols (like VLAN and STP)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Most actions processed in hardware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MAC header rewriting in h/w</a:t>
                      </a: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alibri" charset="0"/>
                      </a:endParaRPr>
                    </a:p>
                  </a:txBody>
                  <a:tcPr marL="66131" marR="66131" marT="34290" marB="3429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1641" name="Picture 4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50742" y="4137924"/>
            <a:ext cx="1428750" cy="491729"/>
          </a:xfrm>
          <a:prstGeom prst="rect">
            <a:avLst/>
          </a:prstGeom>
          <a:noFill/>
        </p:spPr>
      </p:pic>
      <p:pic>
        <p:nvPicPr>
          <p:cNvPr id="281642" name="Picture 4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35613" y="1622227"/>
            <a:ext cx="1028700" cy="757238"/>
          </a:xfrm>
          <a:prstGeom prst="rect">
            <a:avLst/>
          </a:prstGeom>
          <a:noFill/>
        </p:spPr>
      </p:pic>
      <p:pic>
        <p:nvPicPr>
          <p:cNvPr id="28160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8354" y="3060799"/>
            <a:ext cx="1533525" cy="317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6057900" y="4767263"/>
            <a:ext cx="1600200" cy="273844"/>
          </a:xfrm>
          <a:prstGeom prst="rect">
            <a:avLst/>
          </a:prstGeom>
          <a:noFill/>
        </p:spPr>
        <p:txBody>
          <a:bodyPr anchor="ctr">
            <a:prstTxWarp prst="textNoShape">
              <a:avLst/>
            </a:prstTxWarp>
          </a:bodyPr>
          <a:lstStyle/>
          <a:p>
            <a:pPr algn="r"/>
            <a:fld id="{8B4F7CDA-4ABA-0E42-9E16-504A85C8E484}" type="slidenum">
              <a:rPr lang="en-US" sz="900">
                <a:solidFill>
                  <a:srgbClr val="898989"/>
                </a:solidFill>
                <a:latin typeface="Calibri" charset="0"/>
              </a:rPr>
              <a:pPr algn="r"/>
              <a:t>83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249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OpenFlow</a:t>
            </a:r>
            <a:r>
              <a:rPr lang="en-US" dirty="0"/>
              <a:t> Controllers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84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3000" y="987575"/>
          <a:ext cx="6858001" cy="4220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Lang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Platform(s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License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Original</a:t>
                      </a:r>
                    </a:p>
                    <a:p>
                      <a:r>
                        <a:rPr lang="en-US" sz="1200" dirty="0"/>
                        <a:t>Author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691">
                <a:tc>
                  <a:txBody>
                    <a:bodyPr/>
                    <a:lstStyle/>
                    <a:p>
                      <a:r>
                        <a:rPr lang="en-US" sz="1200" dirty="0" err="1"/>
                        <a:t>OpenFlow</a:t>
                      </a:r>
                      <a:r>
                        <a:rPr lang="en-US" sz="1200" baseline="0" dirty="0"/>
                        <a:t> Reference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Linux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OpenFlow</a:t>
                      </a:r>
                      <a:r>
                        <a:rPr lang="en-US" sz="1200" dirty="0"/>
                        <a:t> License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Stanford/</a:t>
                      </a:r>
                      <a:r>
                        <a:rPr lang="en-US" sz="1200" dirty="0" err="1"/>
                        <a:t>Nicira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designed for extensibility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608">
                <a:tc>
                  <a:txBody>
                    <a:bodyPr/>
                    <a:lstStyle/>
                    <a:p>
                      <a:r>
                        <a:rPr lang="en-US" sz="1200" dirty="0">
                          <a:hlinkClick r:id="rId3"/>
                        </a:rPr>
                        <a:t>NOX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Python,</a:t>
                      </a:r>
                      <a:r>
                        <a:rPr lang="en-US" sz="1200" baseline="0" dirty="0"/>
                        <a:t> C++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Linux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GPL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Nicira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actively</a:t>
                      </a:r>
                      <a:r>
                        <a:rPr lang="en-US" sz="1200" baseline="0"/>
                        <a:t> developed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lang="en-US" sz="1200" dirty="0">
                          <a:hlinkClick r:id="rId4"/>
                        </a:rPr>
                        <a:t>Beacon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Java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Win, Mac, Linux, Android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GPL</a:t>
                      </a:r>
                      <a:r>
                        <a:rPr lang="en-US" sz="1200" baseline="0" dirty="0"/>
                        <a:t> (core), FOSS Licenses for your code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David</a:t>
                      </a:r>
                      <a:r>
                        <a:rPr lang="en-US" sz="1200" baseline="0" dirty="0"/>
                        <a:t> Erickson (Stanford)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runtime modular, web UI framework, regression test framework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608">
                <a:tc>
                  <a:txBody>
                    <a:bodyPr/>
                    <a:lstStyle/>
                    <a:p>
                      <a:r>
                        <a:rPr lang="en-US" sz="1200" dirty="0">
                          <a:hlinkClick r:id="rId5"/>
                        </a:rPr>
                        <a:t>Maestro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Java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Win,</a:t>
                      </a:r>
                      <a:r>
                        <a:rPr lang="en-US" sz="1200" baseline="0" dirty="0"/>
                        <a:t> Mac, Linux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LGPL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Zheng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Cai</a:t>
                      </a:r>
                      <a:r>
                        <a:rPr lang="en-US" sz="1200" baseline="0" dirty="0"/>
                        <a:t> (</a:t>
                      </a:r>
                      <a:r>
                        <a:rPr lang="en-US" sz="1200" dirty="0"/>
                        <a:t>Rice)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608">
                <a:tc>
                  <a:txBody>
                    <a:bodyPr/>
                    <a:lstStyle/>
                    <a:p>
                      <a:r>
                        <a:rPr lang="en-US" sz="1200" dirty="0" err="1">
                          <a:hlinkClick r:id="rId6"/>
                        </a:rPr>
                        <a:t>Trema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Ruby,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Linux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GPL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includes emulator, regression test framework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608">
                <a:tc>
                  <a:txBody>
                    <a:bodyPr/>
                    <a:lstStyle/>
                    <a:p>
                      <a:r>
                        <a:rPr lang="en-US" sz="1200" dirty="0" err="1">
                          <a:hlinkClick r:id="rId7"/>
                        </a:rPr>
                        <a:t>RouteFlow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Linux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Apache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CPqD</a:t>
                      </a:r>
                      <a:r>
                        <a:rPr lang="en-US" sz="1200" baseline="0" dirty="0"/>
                        <a:t> (Brazil)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 virtual IP routing as a  service</a:t>
                      </a:r>
                      <a:endParaRPr lang="en-US" sz="12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7870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/>
          </p:cNvSpPr>
          <p:nvPr>
            <p:ph type="title"/>
          </p:nvPr>
        </p:nvSpPr>
        <p:spPr>
          <a:xfrm>
            <a:off x="1485900" y="189310"/>
            <a:ext cx="6173391" cy="536972"/>
          </a:xfrm>
        </p:spPr>
        <p:txBody>
          <a:bodyPr>
            <a:normAutofit fontScale="90000"/>
          </a:bodyPr>
          <a:lstStyle/>
          <a:p>
            <a:r>
              <a:rPr lang="en-US">
                <a:latin typeface="Calibri" charset="0"/>
              </a:rPr>
              <a:t>Growing Community</a:t>
            </a:r>
            <a:endParaRPr lang="en-US">
              <a:solidFill>
                <a:srgbClr val="666666"/>
              </a:solidFill>
              <a:latin typeface="Calibri" charset="0"/>
            </a:endParaRPr>
          </a:p>
        </p:txBody>
      </p:sp>
      <p:sp>
        <p:nvSpPr>
          <p:cNvPr id="271363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1373982" y="935832"/>
            <a:ext cx="3089672" cy="3580210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54000" tIns="297000" rIns="54000" bIns="54000">
            <a:prstTxWarp prst="textNoShape">
              <a:avLst/>
            </a:prstTxWarp>
          </a:bodyPr>
          <a:lstStyle/>
          <a:p>
            <a:pPr marL="102394" indent="-102394" defTabSz="6858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</a:pPr>
            <a:endParaRPr lang="en-US" sz="9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38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1373982" y="935832"/>
            <a:ext cx="3089672" cy="27027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685800">
              <a:lnSpc>
                <a:spcPct val="90000"/>
              </a:lnSpc>
            </a:pPr>
            <a:r>
              <a:rPr lang="en-GB" sz="1200">
                <a:solidFill>
                  <a:schemeClr val="bg1"/>
                </a:solidFill>
                <a:latin typeface="Tele-GroteskFet" pitchFamily="2" charset="0"/>
                <a:ea typeface="Arial" charset="0"/>
                <a:cs typeface="Arial" charset="0"/>
              </a:rPr>
              <a:t>Vendors and start-ups   </a:t>
            </a:r>
          </a:p>
        </p:txBody>
      </p:sp>
      <p:sp>
        <p:nvSpPr>
          <p:cNvPr id="271365" name="AutoShape 5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625578" y="935832"/>
            <a:ext cx="3089672" cy="3580210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54000" tIns="297000" rIns="54000" bIns="54000">
            <a:prstTxWarp prst="textNoShape">
              <a:avLst/>
            </a:prstTxWarp>
          </a:bodyPr>
          <a:lstStyle/>
          <a:p>
            <a:pPr marL="102394" indent="-102394" defTabSz="6858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</a:pPr>
            <a:endParaRPr lang="en-US" sz="9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4625578" y="935832"/>
            <a:ext cx="3089672" cy="27027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685800">
              <a:lnSpc>
                <a:spcPct val="90000"/>
              </a:lnSpc>
            </a:pPr>
            <a:r>
              <a:rPr lang="en-GB" sz="1200">
                <a:solidFill>
                  <a:schemeClr val="bg1"/>
                </a:solidFill>
                <a:latin typeface="Tele-GroteskFet" pitchFamily="2" charset="0"/>
                <a:ea typeface="Arial" charset="0"/>
                <a:cs typeface="Arial" charset="0"/>
              </a:rPr>
              <a:t>Providers and business-unit</a:t>
            </a:r>
          </a:p>
        </p:txBody>
      </p:sp>
      <p:sp>
        <p:nvSpPr>
          <p:cNvPr id="271367" name="Rectangle 7"/>
          <p:cNvSpPr>
            <a:spLocks noGrp="1" noChangeArrowheads="1"/>
          </p:cNvSpPr>
          <p:nvPr>
            <p:ph type="body" idx="1"/>
          </p:nvPr>
        </p:nvSpPr>
        <p:spPr bwMode="gray">
          <a:xfrm>
            <a:off x="1603773" y="1195388"/>
            <a:ext cx="2721769" cy="3342085"/>
          </a:xfrm>
          <a:noFill/>
          <a:ln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285750" indent="-285750" defTabSz="685800">
              <a:buNone/>
            </a:pPr>
            <a:endParaRPr lang="en-US"/>
          </a:p>
          <a:p>
            <a:pPr marL="285750" indent="-285750" defTabSz="685800">
              <a:buNone/>
            </a:pPr>
            <a:endParaRPr lang="en-US"/>
          </a:p>
          <a:p>
            <a:pPr marL="285750" indent="-285750" defTabSz="685800">
              <a:buNone/>
            </a:pPr>
            <a:endParaRPr lang="en-US"/>
          </a:p>
          <a:p>
            <a:pPr marL="285750" indent="-285750" defTabSz="685800">
              <a:buNone/>
            </a:pPr>
            <a:endParaRPr lang="en-US"/>
          </a:p>
          <a:p>
            <a:pPr marL="285750" indent="-285750" defTabSz="685800">
              <a:buNone/>
            </a:pPr>
            <a:endParaRPr lang="en-US"/>
          </a:p>
          <a:p>
            <a:pPr marL="285750" indent="-285750" defTabSz="685800">
              <a:buNone/>
            </a:pPr>
            <a:endParaRPr lang="en-US"/>
          </a:p>
          <a:p>
            <a:pPr marL="285750" indent="-285750" defTabSz="685800">
              <a:buNone/>
            </a:pPr>
            <a:endParaRPr lang="en-US"/>
          </a:p>
        </p:txBody>
      </p:sp>
      <p:pic>
        <p:nvPicPr>
          <p:cNvPr id="271368" name="Picture 8" descr="hp-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94235" y="1815704"/>
            <a:ext cx="747713" cy="494109"/>
          </a:xfrm>
          <a:prstGeom prst="rect">
            <a:avLst/>
          </a:prstGeom>
          <a:noFill/>
        </p:spPr>
      </p:pic>
      <p:pic>
        <p:nvPicPr>
          <p:cNvPr id="271369" name="Picture 9" descr="nec-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12207" y="1815704"/>
            <a:ext cx="607219" cy="494109"/>
          </a:xfrm>
          <a:prstGeom prst="rect">
            <a:avLst/>
          </a:prstGeom>
          <a:noFill/>
        </p:spPr>
      </p:pic>
      <p:pic>
        <p:nvPicPr>
          <p:cNvPr id="271370" name="Picture 10" descr="Dell_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47812" y="2518172"/>
            <a:ext cx="423863" cy="432197"/>
          </a:xfrm>
          <a:prstGeom prst="rect">
            <a:avLst/>
          </a:prstGeom>
          <a:noFill/>
        </p:spPr>
      </p:pic>
      <p:pic>
        <p:nvPicPr>
          <p:cNvPr id="271371" name="Picture 11" descr="arista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494235" y="3112294"/>
            <a:ext cx="539353" cy="539354"/>
          </a:xfrm>
          <a:prstGeom prst="rect">
            <a:avLst/>
          </a:prstGeom>
          <a:noFill/>
        </p:spPr>
      </p:pic>
      <p:pic>
        <p:nvPicPr>
          <p:cNvPr id="271372" name="Picture 12" descr="netgear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087166" y="2518173"/>
            <a:ext cx="1188244" cy="440531"/>
          </a:xfrm>
          <a:prstGeom prst="rect">
            <a:avLst/>
          </a:prstGeom>
          <a:noFill/>
        </p:spPr>
      </p:pic>
      <p:sp>
        <p:nvSpPr>
          <p:cNvPr id="271373" name="Rectangle 16"/>
          <p:cNvSpPr>
            <a:spLocks/>
          </p:cNvSpPr>
          <p:nvPr/>
        </p:nvSpPr>
        <p:spPr bwMode="auto">
          <a:xfrm>
            <a:off x="1899047" y="4002881"/>
            <a:ext cx="2119313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marL="29766" algn="ctr" defTabSz="685800"/>
            <a:r>
              <a:rPr lang="en-US" sz="1950">
                <a:solidFill>
                  <a:schemeClr val="tx2"/>
                </a:solidFill>
                <a:latin typeface="Tele-GroteskFet" pitchFamily="2" charset="0"/>
                <a:ea typeface="Arial" charset="0"/>
                <a:cs typeface="Arial" charset="0"/>
              </a:rPr>
              <a:t>More...</a:t>
            </a:r>
          </a:p>
        </p:txBody>
      </p:sp>
      <p:pic>
        <p:nvPicPr>
          <p:cNvPr id="271374" name="Picture 14" descr="huawei_logo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693319" y="3057526"/>
            <a:ext cx="392906" cy="392906"/>
          </a:xfrm>
          <a:prstGeom prst="rect">
            <a:avLst/>
          </a:prstGeom>
          <a:noFill/>
        </p:spPr>
      </p:pic>
      <p:pic>
        <p:nvPicPr>
          <p:cNvPr id="271375" name="Picture 15" descr="BT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842273" y="1381125"/>
            <a:ext cx="972740" cy="542925"/>
          </a:xfrm>
          <a:prstGeom prst="rect">
            <a:avLst/>
          </a:prstGeom>
          <a:noFill/>
        </p:spPr>
      </p:pic>
      <p:pic>
        <p:nvPicPr>
          <p:cNvPr id="271376" name="Picture 16" descr="verizon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787504" y="2021682"/>
            <a:ext cx="864394" cy="560785"/>
          </a:xfrm>
          <a:prstGeom prst="rect">
            <a:avLst/>
          </a:prstGeom>
          <a:noFill/>
        </p:spPr>
      </p:pic>
      <p:sp>
        <p:nvSpPr>
          <p:cNvPr id="271377" name="Rectangle 16"/>
          <p:cNvSpPr>
            <a:spLocks/>
          </p:cNvSpPr>
          <p:nvPr/>
        </p:nvSpPr>
        <p:spPr bwMode="auto">
          <a:xfrm>
            <a:off x="5031581" y="3975497"/>
            <a:ext cx="2119313" cy="3000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marL="29766" algn="ctr" defTabSz="685800"/>
            <a:r>
              <a:rPr lang="en-US" sz="1950">
                <a:solidFill>
                  <a:schemeClr val="tx2"/>
                </a:solidFill>
                <a:latin typeface="Tele-GroteskFet" pitchFamily="2" charset="0"/>
                <a:ea typeface="Arial" charset="0"/>
                <a:cs typeface="Arial" charset="0"/>
              </a:rPr>
              <a:t>More...</a:t>
            </a:r>
          </a:p>
        </p:txBody>
      </p:sp>
      <p:pic>
        <p:nvPicPr>
          <p:cNvPr id="271378" name="Picture 18" descr="google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5975748" y="1437085"/>
            <a:ext cx="1134665" cy="452438"/>
          </a:xfrm>
          <a:prstGeom prst="rect">
            <a:avLst/>
          </a:prstGeom>
          <a:noFill/>
        </p:spPr>
      </p:pic>
      <p:pic>
        <p:nvPicPr>
          <p:cNvPr id="271379" name="Picture 19" descr="ericsson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437335" y="1275160"/>
            <a:ext cx="702469" cy="501253"/>
          </a:xfrm>
          <a:prstGeom prst="rect">
            <a:avLst/>
          </a:prstGeom>
          <a:noFill/>
        </p:spPr>
      </p:pic>
      <p:pic>
        <p:nvPicPr>
          <p:cNvPr id="271380" name="Picture 20" descr="nicira-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2250281" y="3219450"/>
            <a:ext cx="485775" cy="409575"/>
          </a:xfrm>
          <a:prstGeom prst="rect">
            <a:avLst/>
          </a:prstGeom>
          <a:noFill/>
        </p:spPr>
      </p:pic>
      <p:pic>
        <p:nvPicPr>
          <p:cNvPr id="271381" name="Picture 21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5813823" y="2049066"/>
            <a:ext cx="754856" cy="559594"/>
          </a:xfrm>
          <a:prstGeom prst="rect">
            <a:avLst/>
          </a:prstGeom>
          <a:noFill/>
        </p:spPr>
      </p:pic>
      <p:pic>
        <p:nvPicPr>
          <p:cNvPr id="271382" name="Picture 22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6704410" y="1977628"/>
            <a:ext cx="795338" cy="746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1383" name="Picture 39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6300788" y="3489722"/>
            <a:ext cx="935831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4" name="Picture 36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680348" y="3219450"/>
            <a:ext cx="1297781" cy="311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5" name="Picture 37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4625579" y="3651648"/>
            <a:ext cx="1351359" cy="501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6" name="Picture 39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6354366" y="2895600"/>
            <a:ext cx="1294209" cy="465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7" name="Picture 40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5166122" y="2733675"/>
            <a:ext cx="11620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8" name="Picture 32" descr="extreme.gif"/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 bwMode="auto">
          <a:xfrm>
            <a:off x="3221832" y="2571750"/>
            <a:ext cx="1188244" cy="34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9" name="Picture 34" descr="ciena.jpg"/>
          <p:cNvPicPr>
            <a:picLocks noChangeAspect="1"/>
          </p:cNvPicPr>
          <p:nvPr/>
        </p:nvPicPr>
        <p:blipFill>
          <a:blip r:embed="rId23"/>
          <a:srcRect/>
          <a:stretch>
            <a:fillRect/>
          </a:stretch>
        </p:blipFill>
        <p:spPr bwMode="auto">
          <a:xfrm>
            <a:off x="3275410" y="1924051"/>
            <a:ext cx="810815" cy="259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90" name="Picture 38" descr="broadcom.jpg"/>
          <p:cNvPicPr>
            <a:picLocks noChangeAspect="1"/>
          </p:cNvPicPr>
          <p:nvPr/>
        </p:nvPicPr>
        <p:blipFill>
          <a:blip r:embed="rId24"/>
          <a:srcRect/>
          <a:stretch>
            <a:fillRect/>
          </a:stretch>
        </p:blipFill>
        <p:spPr bwMode="auto">
          <a:xfrm>
            <a:off x="1709738" y="1275160"/>
            <a:ext cx="502444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91" name="Picture 42" descr="Fujitsu.jpg"/>
          <p:cNvPicPr>
            <a:picLocks noChangeAspect="1"/>
          </p:cNvPicPr>
          <p:nvPr/>
        </p:nvPicPr>
        <p:blipFill>
          <a:blip r:embed="rId25"/>
          <a:srcRect/>
          <a:stretch>
            <a:fillRect/>
          </a:stretch>
        </p:blipFill>
        <p:spPr bwMode="auto">
          <a:xfrm>
            <a:off x="2897981" y="3165873"/>
            <a:ext cx="547688" cy="27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92" name="Picture 31" descr="Juniper.gif"/>
          <p:cNvPicPr>
            <a:picLocks noChangeAspect="1"/>
          </p:cNvPicPr>
          <p:nvPr/>
        </p:nvPicPr>
        <p:blipFill>
          <a:blip r:embed="rId26"/>
          <a:srcRect/>
          <a:stretch>
            <a:fillRect/>
          </a:stretch>
        </p:blipFill>
        <p:spPr bwMode="auto">
          <a:xfrm>
            <a:off x="2519363" y="1383507"/>
            <a:ext cx="781050" cy="22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93" name="Picture 27" descr="Logo-Google.png"/>
          <p:cNvPicPr>
            <a:picLocks noChangeAspect="1"/>
          </p:cNvPicPr>
          <p:nvPr/>
        </p:nvPicPr>
        <p:blipFill>
          <a:blip r:embed="rId27"/>
          <a:srcRect/>
          <a:stretch>
            <a:fillRect/>
          </a:stretch>
        </p:blipFill>
        <p:spPr bwMode="auto">
          <a:xfrm>
            <a:off x="1547813" y="3813573"/>
            <a:ext cx="723900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94" name="Picture 39" descr="Marevell.jpg"/>
          <p:cNvPicPr>
            <a:picLocks noChangeAspect="1"/>
          </p:cNvPicPr>
          <p:nvPr/>
        </p:nvPicPr>
        <p:blipFill>
          <a:blip r:embed="rId28"/>
          <a:srcRect/>
          <a:stretch>
            <a:fillRect/>
          </a:stretch>
        </p:blipFill>
        <p:spPr bwMode="auto">
          <a:xfrm>
            <a:off x="3599260" y="3598069"/>
            <a:ext cx="540544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6057900" y="4767263"/>
            <a:ext cx="1600200" cy="273844"/>
          </a:xfrm>
          <a:prstGeom prst="rect">
            <a:avLst/>
          </a:prstGeom>
          <a:noFill/>
        </p:spPr>
        <p:txBody>
          <a:bodyPr anchor="ctr">
            <a:prstTxWarp prst="textNoShape">
              <a:avLst/>
            </a:prstTxWarp>
          </a:bodyPr>
          <a:lstStyle/>
          <a:p>
            <a:pPr algn="r"/>
            <a:fld id="{926A45A4-C770-3243-8AE0-DE43DEF31028}" type="slidenum">
              <a:rPr lang="en-US" sz="900">
                <a:solidFill>
                  <a:srgbClr val="898989"/>
                </a:solidFill>
                <a:latin typeface="Calibri" charset="0"/>
              </a:rPr>
              <a:pPr algn="r"/>
              <a:t>85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271396" name="Rectangle 36"/>
          <p:cNvSpPr>
            <a:spLocks noChangeArrowheads="1"/>
          </p:cNvSpPr>
          <p:nvPr/>
        </p:nvSpPr>
        <p:spPr bwMode="auto">
          <a:xfrm>
            <a:off x="1394222" y="4619625"/>
            <a:ext cx="2377574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350" dirty="0"/>
              <a:t>Note: Level of interest varies</a:t>
            </a:r>
          </a:p>
        </p:txBody>
      </p:sp>
    </p:spTree>
    <p:extLst>
      <p:ext uri="{BB962C8B-B14F-4D97-AF65-F5344CB8AC3E}">
        <p14:creationId xmlns:p14="http://schemas.microsoft.com/office/powerpoint/2010/main" val="25840873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870347"/>
            <a:ext cx="6172200" cy="4170759"/>
          </a:xfrm>
        </p:spPr>
        <p:txBody>
          <a:bodyPr>
            <a:normAutofit lnSpcReduction="10000"/>
          </a:bodyPr>
          <a:lstStyle/>
          <a:p>
            <a:r>
              <a:rPr lang="en-US" sz="2100" dirty="0"/>
              <a:t>DIFANE</a:t>
            </a:r>
          </a:p>
          <a:p>
            <a:pPr lvl="1"/>
            <a:r>
              <a:rPr lang="en-US" sz="1800" dirty="0"/>
              <a:t>Rule partitioning for controller-less flow insertion</a:t>
            </a:r>
          </a:p>
          <a:p>
            <a:r>
              <a:rPr lang="en-US" sz="2100" dirty="0"/>
              <a:t>UCSD Fat Tree Series: Scalable Commodity Data Center, </a:t>
            </a:r>
            <a:r>
              <a:rPr lang="en-US" sz="2100" dirty="0" err="1"/>
              <a:t>PortLand</a:t>
            </a:r>
            <a:r>
              <a:rPr lang="en-US" sz="2100" dirty="0"/>
              <a:t>, </a:t>
            </a:r>
            <a:r>
              <a:rPr lang="en-US" sz="2100" dirty="0" err="1"/>
              <a:t>Hedera</a:t>
            </a:r>
            <a:endParaRPr lang="en-US" sz="2100" dirty="0"/>
          </a:p>
          <a:p>
            <a:pPr lvl="1"/>
            <a:r>
              <a:rPr lang="en-US" sz="1800" dirty="0"/>
              <a:t>Scale-out data centers that use </a:t>
            </a:r>
            <a:r>
              <a:rPr lang="en-US" sz="1800" dirty="0" err="1"/>
              <a:t>OpenFlow</a:t>
            </a:r>
            <a:endParaRPr lang="en-US" sz="1800" dirty="0"/>
          </a:p>
          <a:p>
            <a:r>
              <a:rPr lang="en-US" sz="2100" dirty="0" err="1"/>
              <a:t>Tesseract</a:t>
            </a:r>
            <a:endParaRPr lang="en-US" sz="2100" dirty="0"/>
          </a:p>
          <a:p>
            <a:pPr lvl="1"/>
            <a:r>
              <a:rPr lang="en-US" sz="1800" dirty="0"/>
              <a:t>Centralized WAN in the 4D Architecture</a:t>
            </a:r>
          </a:p>
          <a:p>
            <a:r>
              <a:rPr lang="en-US" sz="2100" dirty="0"/>
              <a:t>ONIX</a:t>
            </a:r>
          </a:p>
          <a:p>
            <a:pPr lvl="1"/>
            <a:r>
              <a:rPr lang="en-US" sz="1800" dirty="0"/>
              <a:t>Fault-tolerant controller platform from </a:t>
            </a:r>
            <a:r>
              <a:rPr lang="en-US" sz="1800" dirty="0" err="1"/>
              <a:t>Nicira</a:t>
            </a:r>
            <a:r>
              <a:rPr lang="en-US" sz="1800" dirty="0"/>
              <a:t>, Google, NEC</a:t>
            </a:r>
          </a:p>
          <a:p>
            <a:r>
              <a:rPr lang="en-US" sz="2100" dirty="0" err="1"/>
              <a:t>DevoFlow</a:t>
            </a:r>
            <a:endParaRPr lang="en-US" sz="2100" dirty="0"/>
          </a:p>
          <a:p>
            <a:pPr lvl="1"/>
            <a:r>
              <a:rPr lang="en-US" sz="1800" dirty="0"/>
              <a:t>Practical scalability limits to </a:t>
            </a:r>
            <a:r>
              <a:rPr lang="en-US" sz="1800" dirty="0" err="1"/>
              <a:t>OpenFlow</a:t>
            </a:r>
            <a:r>
              <a:rPr lang="en-US" sz="1800" dirty="0"/>
              <a:t> and modifications to get around them</a:t>
            </a:r>
          </a:p>
          <a:p>
            <a:pPr lvl="1"/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371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0"/>
            <a:ext cx="6380466" cy="3943350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>
                <a:latin typeface="+mj-lt"/>
                <a:hlinkClick r:id="rId3"/>
              </a:rPr>
              <a:t>Network Virtualization with Cloud Virtual Switch</a:t>
            </a:r>
            <a:endParaRPr lang="en-US" altLang="zh-TW" b="1" dirty="0">
              <a:latin typeface="Times New Roman" panose="02020603050405020304" pitchFamily="18" charset="0"/>
            </a:endParaRPr>
          </a:p>
          <a:p>
            <a:r>
              <a:rPr lang="en-US" altLang="zh-TW" dirty="0"/>
              <a:t>S. </a:t>
            </a:r>
            <a:r>
              <a:rPr lang="en-US" altLang="zh-TW" dirty="0" err="1"/>
              <a:t>Horman</a:t>
            </a:r>
            <a:r>
              <a:rPr lang="en-US" altLang="zh-TW" dirty="0"/>
              <a:t>, “</a:t>
            </a:r>
            <a:r>
              <a:rPr lang="en-US" altLang="zh-TW" b="1" dirty="0">
                <a:hlinkClick r:id="rId4"/>
              </a:rPr>
              <a:t>An Introduction to Open </a:t>
            </a:r>
            <a:r>
              <a:rPr lang="en-US" altLang="zh-TW" b="1" dirty="0" err="1">
                <a:hlinkClick r:id="rId4"/>
              </a:rPr>
              <a:t>vSwitch</a:t>
            </a:r>
            <a:r>
              <a:rPr lang="en-US" altLang="zh-TW" dirty="0"/>
              <a:t>,” </a:t>
            </a:r>
            <a:r>
              <a:rPr lang="en-US" altLang="zh-TW" dirty="0" err="1"/>
              <a:t>LinuxCon</a:t>
            </a:r>
            <a:r>
              <a:rPr lang="en-US" altLang="zh-TW" dirty="0"/>
              <a:t> Japan, Yokohama, Jun. 2, 2011.</a:t>
            </a:r>
          </a:p>
          <a:p>
            <a:r>
              <a:rPr lang="en-US" altLang="zh-TW" dirty="0"/>
              <a:t>J. Pettit, J. Gross “</a:t>
            </a:r>
            <a:r>
              <a:rPr lang="en-US" altLang="zh-TW" b="1" dirty="0">
                <a:hlinkClick r:id="rId5"/>
              </a:rPr>
              <a:t>Open </a:t>
            </a:r>
            <a:r>
              <a:rPr lang="en-US" altLang="zh-TW" b="1" dirty="0" err="1">
                <a:hlinkClick r:id="rId5"/>
              </a:rPr>
              <a:t>vSwitch</a:t>
            </a:r>
            <a:r>
              <a:rPr lang="en-US" altLang="zh-TW" b="1" dirty="0">
                <a:hlinkClick r:id="rId5"/>
              </a:rPr>
              <a:t> Overview</a:t>
            </a:r>
            <a:r>
              <a:rPr lang="en-US" altLang="zh-TW" dirty="0"/>
              <a:t>,” Linux Collaboration Summit, San Francisco, Apr. 7, 2011.</a:t>
            </a:r>
          </a:p>
          <a:p>
            <a:r>
              <a:rPr lang="en-US" altLang="zh-TW" dirty="0"/>
              <a:t>J. Pettit, “</a:t>
            </a:r>
            <a:r>
              <a:rPr lang="en-US" altLang="zh-TW" b="1" dirty="0">
                <a:hlinkClick r:id="rId6"/>
              </a:rPr>
              <a:t>Open </a:t>
            </a:r>
            <a:r>
              <a:rPr lang="en-US" altLang="zh-TW" b="1" dirty="0" err="1">
                <a:hlinkClick r:id="rId6"/>
              </a:rPr>
              <a:t>vSwitch</a:t>
            </a:r>
            <a:r>
              <a:rPr lang="en-US" altLang="zh-TW" b="1" dirty="0">
                <a:hlinkClick r:id="rId6"/>
              </a:rPr>
              <a:t>: A Whirlwind Tour</a:t>
            </a:r>
            <a:r>
              <a:rPr lang="en-US" altLang="zh-TW" dirty="0"/>
              <a:t>,” Mar. 3, 2011.</a:t>
            </a:r>
          </a:p>
          <a:p>
            <a:r>
              <a:rPr lang="en-US" altLang="zh-TW" dirty="0">
                <a:hlinkClick r:id="rId7"/>
              </a:rPr>
              <a:t>Access Layer Network Virtualization: VN-Tag and VEPA</a:t>
            </a:r>
            <a:endParaRPr lang="en-US" altLang="zh-TW" dirty="0"/>
          </a:p>
          <a:p>
            <a:r>
              <a:rPr lang="en-US" altLang="zh-TW" dirty="0" err="1">
                <a:latin typeface="+mj-lt"/>
                <a:hlinkClick r:id="rId8"/>
              </a:rPr>
              <a:t>OpenFlow</a:t>
            </a:r>
            <a:r>
              <a:rPr lang="en-US" altLang="zh-TW" dirty="0">
                <a:latin typeface="+mj-lt"/>
                <a:hlinkClick r:id="rId8"/>
              </a:rPr>
              <a:t> Tutorial</a:t>
            </a:r>
            <a:endParaRPr lang="en-US" altLang="zh-TW" dirty="0">
              <a:latin typeface="+mj-lt"/>
            </a:endParaRP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917058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2445</TotalTime>
  <Words>3962</Words>
  <Application>Microsoft Office PowerPoint</Application>
  <PresentationFormat>全屏显示(16:9)</PresentationFormat>
  <Paragraphs>1001</Paragraphs>
  <Slides>87</Slides>
  <Notes>30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87</vt:i4>
      </vt:variant>
    </vt:vector>
  </HeadingPairs>
  <TitlesOfParts>
    <vt:vector size="99" baseType="lpstr">
      <vt:lpstr>標楷體</vt:lpstr>
      <vt:lpstr>MS Sans Serif</vt:lpstr>
      <vt:lpstr>Tele-GroteskFet</vt:lpstr>
      <vt:lpstr>Tele-GroteskNor</vt:lpstr>
      <vt:lpstr>Arial</vt:lpstr>
      <vt:lpstr>Calibri</vt:lpstr>
      <vt:lpstr>Cambria</vt:lpstr>
      <vt:lpstr>Helvetica</vt:lpstr>
      <vt:lpstr>Tahoma</vt:lpstr>
      <vt:lpstr>Times New Roman</vt:lpstr>
      <vt:lpstr>Wingdings</vt:lpstr>
      <vt:lpstr>NTHU UniCloud</vt:lpstr>
      <vt:lpstr>CSC6032 – Advanced Operating Systems</vt:lpstr>
      <vt:lpstr>雲端計算 Cloud Computing</vt:lpstr>
      <vt:lpstr>Open vSwitch </vt:lpstr>
      <vt:lpstr>Virtual Switch</vt:lpstr>
      <vt:lpstr>             INTRODUCTION</vt:lpstr>
      <vt:lpstr>   SOFTWARE-BASED VIRTAUL SWITCH</vt:lpstr>
      <vt:lpstr>Problems of original vSwitch</vt:lpstr>
      <vt:lpstr>Virtual Switch</vt:lpstr>
      <vt:lpstr>HARDWARE-BASED VIRTAUL SWITCH</vt:lpstr>
      <vt:lpstr>Virtual Ethernet Port Aggregator (1/2) </vt:lpstr>
      <vt:lpstr>Virtual Ethernet Port Aggregator (2/2) </vt:lpstr>
      <vt:lpstr>Pros. and Cons. for VEPA  </vt:lpstr>
      <vt:lpstr>Virtual Switch</vt:lpstr>
      <vt:lpstr>VN-Tag(1/3) </vt:lpstr>
      <vt:lpstr>VN-Tag(2/3)</vt:lpstr>
      <vt:lpstr>VN-Tag(3/3) </vt:lpstr>
      <vt:lpstr>Pros. and Cons. for VN-Tag </vt:lpstr>
      <vt:lpstr>Open vSwitch </vt:lpstr>
      <vt:lpstr>Open vSwitch architecture</vt:lpstr>
      <vt:lpstr>Open vSwitch</vt:lpstr>
      <vt:lpstr>Open vSwitch Concepts(1/2)</vt:lpstr>
      <vt:lpstr>Open vSwitch Concepts(2/2)</vt:lpstr>
      <vt:lpstr>Open vSwitch Contributors(Partial)</vt:lpstr>
      <vt:lpstr>Packets are Managed as Flows(1/2)</vt:lpstr>
      <vt:lpstr>Packets are Managed as Flows(2/2)</vt:lpstr>
      <vt:lpstr>Open vSwitch architecture</vt:lpstr>
      <vt:lpstr>Main Components</vt:lpstr>
      <vt:lpstr>ovsdb-­‐server</vt:lpstr>
      <vt:lpstr>ovs-­‐vswitchd(1/2)</vt:lpstr>
      <vt:lpstr>ovs-­‐vswitchd(2/2)</vt:lpstr>
      <vt:lpstr>openvswitch_mod.ko</vt:lpstr>
      <vt:lpstr> Tunneling </vt:lpstr>
      <vt:lpstr>Migration</vt:lpstr>
      <vt:lpstr> Distributed Virtual Switch </vt:lpstr>
      <vt:lpstr>Open vSwitch architecture</vt:lpstr>
      <vt:lpstr>Virtual LAN</vt:lpstr>
      <vt:lpstr>Open vSwitch Testing(1/2)</vt:lpstr>
      <vt:lpstr>Open vSwitch Testing(2/2)</vt:lpstr>
      <vt:lpstr>Open vSwitch </vt:lpstr>
      <vt:lpstr>OpenFlow</vt:lpstr>
      <vt:lpstr> OpenFlow </vt:lpstr>
      <vt:lpstr> Nicira Extensions to OpenFlow </vt:lpstr>
      <vt:lpstr> Dynamic Flow Aggregation on an OpenFlow Network(1/2) </vt:lpstr>
      <vt:lpstr> Dynamic Flow Aggregation on an OpenFlow Network(2/2) </vt:lpstr>
      <vt:lpstr>OpenFlow</vt:lpstr>
      <vt:lpstr>OpenFlow Switching</vt:lpstr>
      <vt:lpstr>Experimenter’s Dream (Vendor’s Nightmare)</vt:lpstr>
      <vt:lpstr>No obvious way</vt:lpstr>
      <vt:lpstr>Furthermore, we need…</vt:lpstr>
      <vt:lpstr>OpenFlow Switching</vt:lpstr>
      <vt:lpstr>Flow Table Entry “Type 0” OpenFlow Switch</vt:lpstr>
      <vt:lpstr>Examples(1/2)</vt:lpstr>
      <vt:lpstr>Examples(2/2)</vt:lpstr>
      <vt:lpstr>OpenFlow “Type 1”</vt:lpstr>
      <vt:lpstr>Secure Channel</vt:lpstr>
      <vt:lpstr>PowerPoint 演示文稿</vt:lpstr>
      <vt:lpstr>OpenFlow</vt:lpstr>
      <vt:lpstr>OpenFlow Usage Models(1/2)</vt:lpstr>
      <vt:lpstr>Example Experiment at the flow level Mobility</vt:lpstr>
      <vt:lpstr>Experiments at the packet level</vt:lpstr>
      <vt:lpstr>OpenFlow Usage Models(2/2)</vt:lpstr>
      <vt:lpstr>OpenFlow</vt:lpstr>
      <vt:lpstr>Network Virtualization</vt:lpstr>
      <vt:lpstr>Trend</vt:lpstr>
      <vt:lpstr>PowerPoint 演示文稿</vt:lpstr>
      <vt:lpstr>Switch Based Virtualization Exists for NEC, HP switches but not flexible enough</vt:lpstr>
      <vt:lpstr>OpenFlow</vt:lpstr>
      <vt:lpstr>FlowVisor </vt:lpstr>
      <vt:lpstr>FlowVisor-based Virtualization(1/2)</vt:lpstr>
      <vt:lpstr>PowerPoint 演示文稿</vt:lpstr>
      <vt:lpstr>FlowVisor Slicing</vt:lpstr>
      <vt:lpstr>FlowVisor Resource Limits</vt:lpstr>
      <vt:lpstr>Slicing</vt:lpstr>
      <vt:lpstr>FlowVisor FlowSpace</vt:lpstr>
      <vt:lpstr>FlowSpace: Maps Packets to Slices</vt:lpstr>
      <vt:lpstr>FlowVisor Slicing Policy(1/2)</vt:lpstr>
      <vt:lpstr>FlowVisor Slicing Policy(2/2)</vt:lpstr>
      <vt:lpstr>FlowVisor Message Handling</vt:lpstr>
      <vt:lpstr>OpenFlow</vt:lpstr>
      <vt:lpstr>OpenFlow Consortium</vt:lpstr>
      <vt:lpstr>OpenFlow building blocks</vt:lpstr>
      <vt:lpstr>Current SDN hardware </vt:lpstr>
      <vt:lpstr>Commercial Switch Vendors</vt:lpstr>
      <vt:lpstr>OpenFlow Controllers</vt:lpstr>
      <vt:lpstr>Growing Community</vt:lpstr>
      <vt:lpstr>Related Research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2023-10-15T06:15:13Z</dcterms:modified>
</cp:coreProperties>
</file>