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0"/>
  </p:notesMasterIdLst>
  <p:handoutMasterIdLst>
    <p:handoutMasterId r:id="rId81"/>
  </p:handoutMasterIdLst>
  <p:sldIdLst>
    <p:sldId id="256" r:id="rId2"/>
    <p:sldId id="266" r:id="rId3"/>
    <p:sldId id="257" r:id="rId4"/>
    <p:sldId id="449" r:id="rId5"/>
    <p:sldId id="444" r:id="rId6"/>
    <p:sldId id="482" r:id="rId7"/>
    <p:sldId id="486" r:id="rId8"/>
    <p:sldId id="487" r:id="rId9"/>
    <p:sldId id="446" r:id="rId10"/>
    <p:sldId id="447" r:id="rId11"/>
    <p:sldId id="445" r:id="rId12"/>
    <p:sldId id="448" r:id="rId13"/>
    <p:sldId id="456" r:id="rId14"/>
    <p:sldId id="475" r:id="rId15"/>
    <p:sldId id="477" r:id="rId16"/>
    <p:sldId id="476" r:id="rId17"/>
    <p:sldId id="480" r:id="rId18"/>
    <p:sldId id="481" r:id="rId19"/>
    <p:sldId id="479" r:id="rId20"/>
    <p:sldId id="450" r:id="rId21"/>
    <p:sldId id="451" r:id="rId22"/>
    <p:sldId id="488" r:id="rId23"/>
    <p:sldId id="431" r:id="rId24"/>
    <p:sldId id="457" r:id="rId25"/>
    <p:sldId id="458" r:id="rId26"/>
    <p:sldId id="459" r:id="rId27"/>
    <p:sldId id="415" r:id="rId28"/>
    <p:sldId id="416" r:id="rId29"/>
    <p:sldId id="422" r:id="rId30"/>
    <p:sldId id="423" r:id="rId31"/>
    <p:sldId id="424" r:id="rId32"/>
    <p:sldId id="426" r:id="rId33"/>
    <p:sldId id="443" r:id="rId34"/>
    <p:sldId id="428" r:id="rId35"/>
    <p:sldId id="435" r:id="rId36"/>
    <p:sldId id="436" r:id="rId37"/>
    <p:sldId id="437" r:id="rId38"/>
    <p:sldId id="438" r:id="rId39"/>
    <p:sldId id="440" r:id="rId40"/>
    <p:sldId id="514" r:id="rId41"/>
    <p:sldId id="515" r:id="rId42"/>
    <p:sldId id="509" r:id="rId43"/>
    <p:sldId id="510" r:id="rId44"/>
    <p:sldId id="511" r:id="rId45"/>
    <p:sldId id="429" r:id="rId46"/>
    <p:sldId id="463" r:id="rId47"/>
    <p:sldId id="502" r:id="rId48"/>
    <p:sldId id="491" r:id="rId49"/>
    <p:sldId id="492" r:id="rId50"/>
    <p:sldId id="504" r:id="rId51"/>
    <p:sldId id="505" r:id="rId52"/>
    <p:sldId id="493" r:id="rId53"/>
    <p:sldId id="506" r:id="rId54"/>
    <p:sldId id="452" r:id="rId55"/>
    <p:sldId id="453" r:id="rId56"/>
    <p:sldId id="455" r:id="rId57"/>
    <p:sldId id="454" r:id="rId58"/>
    <p:sldId id="516" r:id="rId59"/>
    <p:sldId id="470" r:id="rId60"/>
    <p:sldId id="517" r:id="rId61"/>
    <p:sldId id="518" r:id="rId62"/>
    <p:sldId id="522" r:id="rId63"/>
    <p:sldId id="523" r:id="rId64"/>
    <p:sldId id="524" r:id="rId65"/>
    <p:sldId id="525" r:id="rId66"/>
    <p:sldId id="526" r:id="rId67"/>
    <p:sldId id="527" r:id="rId68"/>
    <p:sldId id="528" r:id="rId69"/>
    <p:sldId id="529" r:id="rId70"/>
    <p:sldId id="530" r:id="rId71"/>
    <p:sldId id="519" r:id="rId72"/>
    <p:sldId id="520" r:id="rId73"/>
    <p:sldId id="521" r:id="rId74"/>
    <p:sldId id="466" r:id="rId75"/>
    <p:sldId id="467" r:id="rId76"/>
    <p:sldId id="461" r:id="rId77"/>
    <p:sldId id="265" r:id="rId78"/>
    <p:sldId id="468" r:id="rId79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9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5780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1692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-</a:t>
            </a:r>
            <a:r>
              <a:rPr lang="en-US" baseline="0" dirty="0"/>
              <a:t>Modern GPUs have more transistors, draw more power, and offer at least an order of magnitude more compute power than CPUs</a:t>
            </a:r>
          </a:p>
          <a:p>
            <a:r>
              <a:rPr lang="en-US" baseline="0" dirty="0"/>
              <a:t>-That’s a lot of wasted computation potential in virt solutions which don’t support the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7182D-35F3-43D5-8570-67C624D3F4B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-GPU</a:t>
            </a:r>
            <a:r>
              <a:rPr lang="en-US" baseline="0" dirty="0"/>
              <a:t> technology is largely being driven by games</a:t>
            </a:r>
          </a:p>
          <a:p>
            <a:r>
              <a:rPr lang="en-US" baseline="0" dirty="0"/>
              <a:t>-But they’re also used by CAD apps, productivity apps like Google Earth, video processing</a:t>
            </a:r>
          </a:p>
          <a:p>
            <a:r>
              <a:rPr lang="en-US" baseline="0" dirty="0"/>
              <a:t>-And now, Windows, Mac OS, and Linux all have a user interface which supports GPU acceleration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7182D-35F3-43D5-8570-67C624D3F4B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-GPUs</a:t>
            </a:r>
            <a:r>
              <a:rPr lang="en-US" baseline="0" dirty="0"/>
              <a:t> are currently most important on the desktop</a:t>
            </a:r>
          </a:p>
          <a:p>
            <a:r>
              <a:rPr lang="en-US" baseline="0" dirty="0"/>
              <a:t>   - The use cases are consumer apps (Windows games on Mac), professional apps, and GPU-accelerated windowing systems</a:t>
            </a:r>
          </a:p>
          <a:p>
            <a:r>
              <a:rPr lang="en-US" baseline="0" dirty="0"/>
              <a:t>   - This means that the most immediate need is for a hosted solution: coexists with the user’s existing OS</a:t>
            </a:r>
          </a:p>
          <a:p>
            <a:r>
              <a:rPr lang="en-US" baseline="0" dirty="0"/>
              <a:t>-But GPUs in the data center are also expected to emerge as an important solution space</a:t>
            </a:r>
          </a:p>
          <a:p>
            <a:r>
              <a:rPr lang="en-US" baseline="0" dirty="0"/>
              <a:t>   - GPGPU apps (scientific, financial)</a:t>
            </a:r>
          </a:p>
          <a:p>
            <a:r>
              <a:rPr lang="en-US" baseline="0" dirty="0"/>
              <a:t>   - Server-hosted virtual desktops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7182D-35F3-43D5-8570-67C624D3F4B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Tx/>
              <a:buChar char="-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7182D-35F3-43D5-8570-67C624D3F4B9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Tx/>
              <a:buChar char="-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7182D-35F3-43D5-8570-67C624D3F4B9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CDE99C-9F60-448B-8B89-55286B9D747E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The simplest approach... (one extreme)</a:t>
            </a:r>
          </a:p>
          <a:p>
            <a:r>
              <a:rPr lang="en-US" dirty="0"/>
              <a:t>Analogous to full paravirtualization</a:t>
            </a:r>
            <a:r>
              <a:rPr lang="en-US" baseline="0" dirty="0"/>
              <a:t> of a TCP offload engine.</a:t>
            </a:r>
          </a:p>
          <a:p>
            <a:r>
              <a:rPr lang="en-US" dirty="0"/>
              <a:t>Easy, but</a:t>
            </a:r>
            <a:r>
              <a:rPr lang="en-US" baseline="0" dirty="0"/>
              <a:t> you get what you pay for.</a:t>
            </a:r>
            <a:endParaRPr lang="en-US" dirty="0"/>
          </a:p>
          <a:p>
            <a:endParaRPr lang="en-US" dirty="0"/>
          </a:p>
          <a:p>
            <a:r>
              <a:rPr lang="en-US" dirty="0"/>
              <a:t>Pro:</a:t>
            </a:r>
          </a:p>
          <a:p>
            <a:pPr lvl="1"/>
            <a:r>
              <a:rPr lang="en-US" dirty="0"/>
              <a:t>Easy to get working</a:t>
            </a:r>
          </a:p>
          <a:p>
            <a:pPr lvl="1"/>
            <a:r>
              <a:rPr lang="en-US" dirty="0"/>
              <a:t>easy to support new APIs/features</a:t>
            </a:r>
          </a:p>
          <a:p>
            <a:r>
              <a:rPr lang="en-US" dirty="0"/>
              <a:t>Con:</a:t>
            </a:r>
          </a:p>
          <a:p>
            <a:pPr lvl="1"/>
            <a:r>
              <a:rPr lang="en-US" dirty="0"/>
              <a:t>Hard to make performant (Where do objects live? When to cross RPC boundary? Caches? Batching?)</a:t>
            </a:r>
          </a:p>
          <a:p>
            <a:pPr lvl="1"/>
            <a:r>
              <a:rPr lang="en-US" dirty="0"/>
              <a:t>VM Goodness (checkpointing, portability) is really hard</a:t>
            </a:r>
          </a:p>
          <a:p>
            <a:r>
              <a:rPr lang="en-US" dirty="0"/>
              <a:t>Who’s using it?</a:t>
            </a:r>
          </a:p>
          <a:p>
            <a:pPr lvl="1"/>
            <a:r>
              <a:rPr lang="en-US" dirty="0"/>
              <a:t>Parallels’ initial GL implementation</a:t>
            </a:r>
          </a:p>
          <a:p>
            <a:pPr lvl="1"/>
            <a:r>
              <a:rPr lang="en-US" dirty="0"/>
              <a:t>Remote rendering: GLX, Chromium project</a:t>
            </a:r>
          </a:p>
          <a:p>
            <a:pPr lvl="1"/>
            <a:r>
              <a:rPr lang="en-US" dirty="0"/>
              <a:t>Open source “VMGL”: OpenGL on VMware and Xen</a:t>
            </a:r>
          </a:p>
          <a:p>
            <a:pPr lvl="2"/>
            <a:r>
              <a:rPr lang="en-US" dirty="0"/>
              <a:t>http://www.cs.toronto.edu/~andreslc/xen-gl/</a:t>
            </a:r>
          </a:p>
        </p:txBody>
      </p:sp>
      <p:sp>
        <p:nvSpPr>
          <p:cNvPr id="45060" name="Slide Image Placeholder 6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41FEA8-4A0B-42F9-9101-EA3C1E8C7C21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6084" name="Slide Image Placeholder 6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41FEA8-4A0B-42F9-9101-EA3C1E8C7C21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6084" name="Slide Image Placeholder 6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1713D0-61B3-45AE-BE0D-7F3BA738ABE2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8132" name="Slide Image Placeholder 6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1713D0-61B3-45AE-BE0D-7F3BA738ABE2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8132" name="Slide Image Placeholder 6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BCE2C7-AB73-4541-8171-F5B7E2E67041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1"/>
            <a:endParaRPr lang="en-US" dirty="0"/>
          </a:p>
        </p:txBody>
      </p:sp>
      <p:sp>
        <p:nvSpPr>
          <p:cNvPr id="49156" name="Slide Image Placeholder 6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BCE2C7-AB73-4541-8171-F5B7E2E67041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1"/>
            <a:endParaRPr lang="en-US" dirty="0"/>
          </a:p>
        </p:txBody>
      </p:sp>
      <p:sp>
        <p:nvSpPr>
          <p:cNvPr id="49156" name="Slide Image Placeholder 6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BCE2C7-AB73-4541-8171-F5B7E2E67041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9156" name="Slide Image Placeholder 6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06329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77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46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vidia.com/object/cuda_home_new.html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op500.org/site/47347" TargetMode="External"/><Relationship Id="rId13" Type="http://schemas.openxmlformats.org/officeDocument/2006/relationships/hyperlink" Target="http://www.top500.org/system/177719" TargetMode="External"/><Relationship Id="rId18" Type="http://schemas.openxmlformats.org/officeDocument/2006/relationships/hyperlink" Target="http://www.top500.org/site/47495" TargetMode="External"/><Relationship Id="rId3" Type="http://schemas.openxmlformats.org/officeDocument/2006/relationships/hyperlink" Target="http://www.top500.org/system/177975" TargetMode="External"/><Relationship Id="rId21" Type="http://schemas.openxmlformats.org/officeDocument/2006/relationships/hyperlink" Target="http://www.top500.org/system/177725" TargetMode="External"/><Relationship Id="rId7" Type="http://schemas.openxmlformats.org/officeDocument/2006/relationships/hyperlink" Target="http://www.top500.org/system/177232" TargetMode="External"/><Relationship Id="rId12" Type="http://schemas.openxmlformats.org/officeDocument/2006/relationships/hyperlink" Target="http://www.top500.org/site/48248" TargetMode="External"/><Relationship Id="rId17" Type="http://schemas.openxmlformats.org/officeDocument/2006/relationships/hyperlink" Target="http://www.top500.org/system/176929" TargetMode="External"/><Relationship Id="rId2" Type="http://schemas.openxmlformats.org/officeDocument/2006/relationships/hyperlink" Target="http://www.top500.org/site/48553" TargetMode="External"/><Relationship Id="rId16" Type="http://schemas.openxmlformats.org/officeDocument/2006/relationships/hyperlink" Target="http://www.top500.org/site/50310" TargetMode="External"/><Relationship Id="rId20" Type="http://schemas.openxmlformats.org/officeDocument/2006/relationships/hyperlink" Target="http://www.top500.org/site/50402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top500.org/site/50313" TargetMode="External"/><Relationship Id="rId11" Type="http://schemas.openxmlformats.org/officeDocument/2006/relationships/hyperlink" Target="http://www.top500.org/system/177722" TargetMode="External"/><Relationship Id="rId5" Type="http://schemas.openxmlformats.org/officeDocument/2006/relationships/hyperlink" Target="http://www.top500.org/system/177556" TargetMode="External"/><Relationship Id="rId15" Type="http://schemas.openxmlformats.org/officeDocument/2006/relationships/hyperlink" Target="http://www.top500.org/system/177931" TargetMode="External"/><Relationship Id="rId10" Type="http://schemas.openxmlformats.org/officeDocument/2006/relationships/hyperlink" Target="http://www.top500.org/site/47871" TargetMode="External"/><Relationship Id="rId19" Type="http://schemas.openxmlformats.org/officeDocument/2006/relationships/hyperlink" Target="http://www.top500.org/system/177720" TargetMode="External"/><Relationship Id="rId4" Type="http://schemas.openxmlformats.org/officeDocument/2006/relationships/hyperlink" Target="http://www.top500.org/site/49763" TargetMode="External"/><Relationship Id="rId9" Type="http://schemas.openxmlformats.org/officeDocument/2006/relationships/hyperlink" Target="http://www.top500.org/system/177718" TargetMode="External"/><Relationship Id="rId14" Type="http://schemas.openxmlformats.org/officeDocument/2006/relationships/hyperlink" Target="http://www.top500.org/site/48958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1650" y="1028700"/>
            <a:ext cx="5829300" cy="1428750"/>
          </a:xfrm>
        </p:spPr>
        <p:txBody>
          <a:bodyPr>
            <a:normAutofit/>
          </a:bodyPr>
          <a:lstStyle/>
          <a:p>
            <a:r>
              <a:rPr lang="zh-TW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虛擬化技術</a:t>
            </a:r>
            <a:b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 Techniques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1700" y="2400300"/>
            <a:ext cx="4800600" cy="177165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GPU Virtualization</a:t>
            </a:r>
            <a:endParaRPr lang="en-US" altLang="zh-TW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  <a:p>
            <a:pPr algn="ctr"/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+mj-lt"/>
              </a:rPr>
              <a:t>Introduction GPGPU </a:t>
            </a:r>
          </a:p>
          <a:p>
            <a:r>
              <a:rPr lang="en-US" altLang="zh-TW" dirty="0">
                <a:latin typeface="+mj-lt"/>
              </a:rPr>
              <a:t>High Performance Computing Clouds</a:t>
            </a:r>
          </a:p>
          <a:p>
            <a:r>
              <a:rPr lang="en-US" altLang="zh-TW" dirty="0">
                <a:latin typeface="+mj-lt"/>
              </a:rPr>
              <a:t>GPU Virtualization with Hardware Support</a:t>
            </a:r>
          </a:p>
          <a:p>
            <a:r>
              <a:rPr lang="en-US" altLang="zh-TW" dirty="0">
                <a:latin typeface="+mj-lt"/>
              </a:rPr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 GPGPU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5176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" t="3800" r="1176" b="1701"/>
          <a:stretch/>
        </p:blipFill>
        <p:spPr>
          <a:xfrm>
            <a:off x="4409982" y="3057804"/>
            <a:ext cx="2646294" cy="1984721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GPU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843559"/>
            <a:ext cx="6172200" cy="1890210"/>
          </a:xfrm>
        </p:spPr>
        <p:txBody>
          <a:bodyPr/>
          <a:lstStyle/>
          <a:p>
            <a:r>
              <a:rPr lang="en-US" altLang="zh-TW" dirty="0"/>
              <a:t> Graphics Processing Unit (GPU)</a:t>
            </a:r>
          </a:p>
          <a:p>
            <a:pPr lvl="1"/>
            <a:r>
              <a:rPr lang="en-US" altLang="zh-TW" dirty="0"/>
              <a:t>Driven by the market demand for real-time and high-definition 3D graphics, the programmable Graphic Processor Unit (GPU) has evolved into a highly parallel, multithreaded, many</a:t>
            </a:r>
            <a:r>
              <a:rPr lang="zh-TW" altLang="en-US" dirty="0"/>
              <a:t> </a:t>
            </a:r>
            <a:r>
              <a:rPr lang="en-US" altLang="zh-TW" dirty="0"/>
              <a:t>core processor with tremendous computational power and very high memory bandwidth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 cstate="print"/>
          <a:srcRect l="860" t="6245" r="860" b="3814"/>
          <a:stretch/>
        </p:blipFill>
        <p:spPr>
          <a:xfrm>
            <a:off x="3815916" y="3560857"/>
            <a:ext cx="1350150" cy="96068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4" cstate="print"/>
          <a:srcRect l="1652" t="21933" r="32419" b="4356"/>
          <a:stretch/>
        </p:blipFill>
        <p:spPr>
          <a:xfrm>
            <a:off x="2340881" y="3111810"/>
            <a:ext cx="1782198" cy="102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93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computation?</a:t>
            </a:r>
          </a:p>
        </p:txBody>
      </p:sp>
      <p:pic>
        <p:nvPicPr>
          <p:cNvPr id="16386" name="Picture 2" descr="http://images.anandtech.com/reviews/video/NVIDIA/GeForceGTX200/gtxvspenry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29100" y="1314450"/>
            <a:ext cx="3106725" cy="3150394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143000" y="4866501"/>
            <a:ext cx="355757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Source: </a:t>
            </a:r>
            <a:r>
              <a:rPr lang="en-US" sz="1350" dirty="0" err="1"/>
              <a:t>AnandTech</a:t>
            </a:r>
            <a:r>
              <a:rPr lang="en-US" sz="1350" dirty="0"/>
              <a:t> review of </a:t>
            </a:r>
            <a:r>
              <a:rPr lang="en-US" sz="1350" dirty="0" err="1"/>
              <a:t>NVidia</a:t>
            </a:r>
            <a:r>
              <a:rPr lang="en-US" sz="1350" dirty="0"/>
              <a:t> GT200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600451"/>
            <a:ext cx="2783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Intel Core 2 Duo:</a:t>
            </a:r>
          </a:p>
          <a:p>
            <a:r>
              <a:rPr lang="en-US" sz="2100" dirty="0"/>
              <a:t>291 million transistors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000250"/>
            <a:ext cx="263405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NVIDIA </a:t>
            </a:r>
            <a:r>
              <a:rPr lang="en-US" sz="1350" dirty="0" err="1"/>
              <a:t>GeForce</a:t>
            </a:r>
            <a:r>
              <a:rPr lang="en-US" sz="1350" dirty="0"/>
              <a:t> GTX 280</a:t>
            </a:r>
            <a:r>
              <a:rPr lang="en-US" sz="2100" dirty="0"/>
              <a:t>:</a:t>
            </a:r>
          </a:p>
          <a:p>
            <a:r>
              <a:rPr lang="en-US" sz="2100" dirty="0"/>
              <a:t>1.4 billion transistors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GPUs good for?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Desktop Apps</a:t>
            </a:r>
          </a:p>
          <a:p>
            <a:pPr lvl="1"/>
            <a:r>
              <a:rPr lang="en-US" dirty="0"/>
              <a:t>Entertainment</a:t>
            </a:r>
          </a:p>
          <a:p>
            <a:pPr lvl="1"/>
            <a:r>
              <a:rPr lang="en-US" dirty="0"/>
              <a:t>CAD</a:t>
            </a:r>
          </a:p>
          <a:p>
            <a:pPr lvl="1"/>
            <a:r>
              <a:rPr lang="en-US" dirty="0"/>
              <a:t>Multimedia</a:t>
            </a:r>
          </a:p>
          <a:p>
            <a:pPr lvl="1"/>
            <a:r>
              <a:rPr lang="en-US" dirty="0"/>
              <a:t>Productivity</a:t>
            </a:r>
          </a:p>
          <a:p>
            <a:endParaRPr lang="en-US" dirty="0"/>
          </a:p>
          <a:p>
            <a:r>
              <a:rPr lang="en-US" dirty="0"/>
              <a:t>Desktop GUIs</a:t>
            </a:r>
          </a:p>
          <a:p>
            <a:pPr lvl="1"/>
            <a:r>
              <a:rPr lang="en-US" dirty="0"/>
              <a:t>Quartz Extreme</a:t>
            </a:r>
          </a:p>
          <a:p>
            <a:pPr lvl="1"/>
            <a:r>
              <a:rPr lang="en-US" dirty="0"/>
              <a:t>Vista Aero</a:t>
            </a:r>
          </a:p>
          <a:p>
            <a:pPr lvl="1"/>
            <a:r>
              <a:rPr lang="en-US" dirty="0"/>
              <a:t>Compiz</a:t>
            </a: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229100" y="3429000"/>
            <a:ext cx="1856096" cy="1392072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56" name="Picture 8" descr="http://images.amazon.com/images/G/01/software/detail-page/final-cut-pro.jp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5543550" y="2743200"/>
            <a:ext cx="2006221" cy="1232990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  <a:pPr/>
              <a:t>7</a:t>
            </a:fld>
            <a:endParaRPr lang="en-US"/>
          </a:p>
        </p:txBody>
      </p:sp>
      <p:pic>
        <p:nvPicPr>
          <p:cNvPr id="2052" name="Picture 4" descr="Genie animation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14800" y="1943100"/>
            <a:ext cx="2006221" cy="1254993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362" name="Picture 2" descr="http://engweb.eng.vmware.com/~micah/screenshots/portal-20080116/Screenshot-Steam_Games_-_VMware_Workstation_(e.x.p_build-00000)-6.png"/>
          <p:cNvPicPr>
            <a:picLocks noChangeAspect="1" noChangeArrowheads="1"/>
          </p:cNvPicPr>
          <p:nvPr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5742295" y="1143001"/>
            <a:ext cx="1801505" cy="1333397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GPUs in the Data Center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1485900" y="1113588"/>
            <a:ext cx="4976310" cy="810090"/>
          </a:xfrm>
        </p:spPr>
        <p:txBody>
          <a:bodyPr/>
          <a:lstStyle/>
          <a:p>
            <a:r>
              <a:rPr lang="en-US" dirty="0"/>
              <a:t>Server-hosted Desktops</a:t>
            </a:r>
          </a:p>
          <a:p>
            <a:r>
              <a:rPr lang="en-US" dirty="0"/>
              <a:t>GPGPU</a:t>
            </a:r>
          </a:p>
        </p:txBody>
      </p:sp>
      <p:pic>
        <p:nvPicPr>
          <p:cNvPr id="5" name="Picture 4" descr="Genie animati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85646" y="2247714"/>
            <a:ext cx="3024337" cy="1891876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484" name="Picture 4" descr="folding@hom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2243243"/>
            <a:ext cx="3138024" cy="1887918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CPU vs. GPU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1485900" y="1005577"/>
            <a:ext cx="6172200" cy="216024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The reason behind the discrepancy between the CPU and the GPU is </a:t>
            </a:r>
          </a:p>
          <a:p>
            <a:pPr lvl="1"/>
            <a:r>
              <a:rPr lang="en-US" altLang="zh-TW" dirty="0"/>
              <a:t>The GPU is specialized for compute-intensive, highly parallel computation. </a:t>
            </a:r>
          </a:p>
          <a:p>
            <a:pPr lvl="1"/>
            <a:r>
              <a:rPr lang="en-US" altLang="zh-TW" dirty="0"/>
              <a:t>The GPU is designed for data processing rather than data caching and flow control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2" cstate="print"/>
          <a:srcRect l="15533" r="3884" b="7344"/>
          <a:stretch/>
        </p:blipFill>
        <p:spPr>
          <a:xfrm>
            <a:off x="2330751" y="3219822"/>
            <a:ext cx="4482498" cy="167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265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CPU vs. GPU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1377888" y="1200151"/>
            <a:ext cx="6380466" cy="3394472"/>
          </a:xfrm>
        </p:spPr>
        <p:txBody>
          <a:bodyPr/>
          <a:lstStyle/>
          <a:p>
            <a:r>
              <a:rPr lang="en-US" altLang="zh-TW" dirty="0"/>
              <a:t>GPU is especially well-suited for data-parallel computations</a:t>
            </a:r>
          </a:p>
          <a:p>
            <a:pPr lvl="1"/>
            <a:r>
              <a:rPr lang="en-US" altLang="zh-TW" dirty="0"/>
              <a:t>The same program is executed on many data elements in parallel</a:t>
            </a:r>
          </a:p>
          <a:p>
            <a:pPr lvl="1"/>
            <a:r>
              <a:rPr lang="en-US" altLang="zh-TW" dirty="0"/>
              <a:t>Lower requirement for sophisticated flow control</a:t>
            </a:r>
          </a:p>
          <a:p>
            <a:pPr lvl="1"/>
            <a:r>
              <a:rPr lang="en-US" altLang="zh-TW" dirty="0"/>
              <a:t>Execute on many data elements and is arithmetic intensity</a:t>
            </a:r>
          </a:p>
          <a:p>
            <a:pPr lvl="1"/>
            <a:r>
              <a:rPr lang="en-US" altLang="zh-TW" dirty="0"/>
              <a:t>The memory access latency can be overlapped with calculations instead of big data caches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8225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CPU vs. GPU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>
          <a:xfrm>
            <a:off x="1593912" y="1273157"/>
            <a:ext cx="2762064" cy="479822"/>
          </a:xfrm>
        </p:spPr>
        <p:txBody>
          <a:bodyPr anchor="ctr">
            <a:normAutofit fontScale="70000" lnSpcReduction="20000"/>
          </a:bodyPr>
          <a:lstStyle/>
          <a:p>
            <a:pPr algn="ctr"/>
            <a:r>
              <a:rPr lang="en-US" altLang="zh-TW" dirty="0"/>
              <a:t>Floating-Point Operations per Second</a:t>
            </a:r>
            <a:endParaRPr lang="zh-TW" alt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1485900" y="1919197"/>
            <a:ext cx="3030141" cy="2387384"/>
          </a:xfrm>
          <a:prstGeom prst="rect">
            <a:avLst/>
          </a:prstGeom>
        </p:spPr>
      </p:pic>
      <p:sp>
        <p:nvSpPr>
          <p:cNvPr id="6" name="文字版面配置區 5"/>
          <p:cNvSpPr>
            <a:spLocks noGrp="1"/>
          </p:cNvSpPr>
          <p:nvPr>
            <p:ph type="body" sz="quarter" idx="3"/>
          </p:nvPr>
        </p:nvSpPr>
        <p:spPr>
          <a:xfrm>
            <a:off x="5220835" y="1151335"/>
            <a:ext cx="2213483" cy="479822"/>
          </a:xfrm>
        </p:spPr>
        <p:txBody>
          <a:bodyPr anchor="ctr">
            <a:normAutofit fontScale="92500"/>
          </a:bodyPr>
          <a:lstStyle/>
          <a:p>
            <a:r>
              <a:rPr lang="en-US" altLang="zh-TW" dirty="0"/>
              <a:t>Memory Bandwidth</a:t>
            </a:r>
            <a:endParaRPr lang="zh-TW" altLang="en-US" dirty="0"/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sz="quarter" idx="4"/>
          </p:nvPr>
        </p:nvPicPr>
        <p:blipFill>
          <a:blip r:embed="rId3" cstate="print"/>
          <a:stretch>
            <a:fillRect/>
          </a:stretch>
        </p:blipFill>
        <p:spPr>
          <a:xfrm>
            <a:off x="4626769" y="1867137"/>
            <a:ext cx="3031331" cy="249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77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GPGPU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general-purpose graphic processing unit (GPGPU) is the utilization of GPUs to perform computations that are traditionally handled by the CPUs</a:t>
            </a:r>
          </a:p>
          <a:p>
            <a:endParaRPr lang="en-US" altLang="zh-TW" dirty="0"/>
          </a:p>
          <a:p>
            <a:r>
              <a:rPr lang="en-US" altLang="zh-TW" dirty="0"/>
              <a:t>GPU with a complete set of operations performed on arbitrary bits can compute any computable value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8090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GPGPU Computing Scenarios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059582"/>
            <a:ext cx="6172200" cy="3780420"/>
          </a:xfrm>
        </p:spPr>
        <p:txBody>
          <a:bodyPr>
            <a:noAutofit/>
          </a:bodyPr>
          <a:lstStyle/>
          <a:p>
            <a:r>
              <a:rPr lang="en-US" altLang="zh-TW" sz="1800" dirty="0"/>
              <a:t>Low-level of data parallelism</a:t>
            </a:r>
          </a:p>
          <a:p>
            <a:pPr lvl="1"/>
            <a:r>
              <a:rPr lang="en-US" altLang="zh-TW" sz="1500" dirty="0"/>
              <a:t>No GPU is needed, just proceed with the traditional HPC strategies</a:t>
            </a:r>
          </a:p>
          <a:p>
            <a:r>
              <a:rPr lang="en-US" altLang="zh-TW" sz="1800" dirty="0"/>
              <a:t>High-level of data parallelism</a:t>
            </a:r>
          </a:p>
          <a:p>
            <a:pPr lvl="1"/>
            <a:r>
              <a:rPr lang="en-US" altLang="zh-TW" sz="1500" dirty="0"/>
              <a:t>Add one or more GPUs to every node in the system and rewrite applications to use them</a:t>
            </a:r>
          </a:p>
          <a:p>
            <a:r>
              <a:rPr lang="en-US" altLang="zh-TW" sz="1800" dirty="0"/>
              <a:t>Moderate-level of data parallelism</a:t>
            </a:r>
          </a:p>
          <a:p>
            <a:pPr lvl="1"/>
            <a:r>
              <a:rPr lang="en-US" altLang="zh-TW" sz="1500" dirty="0"/>
              <a:t>The GPUs in the system are used only for some parts of the application,</a:t>
            </a:r>
          </a:p>
          <a:p>
            <a:pPr lvl="1"/>
            <a:r>
              <a:rPr lang="en-US" altLang="zh-TW" sz="1500" dirty="0"/>
              <a:t>Remain idle the rest of the time and, thus waste resources and energy</a:t>
            </a:r>
          </a:p>
          <a:p>
            <a:r>
              <a:rPr lang="en-US" altLang="zh-TW" sz="1800" dirty="0"/>
              <a:t>Applications for multi-GPU computing</a:t>
            </a:r>
          </a:p>
          <a:p>
            <a:pPr lvl="1"/>
            <a:r>
              <a:rPr lang="en-US" altLang="zh-TW" sz="1500" dirty="0"/>
              <a:t>The code running in a node can only access the GPUs in that node, but it would run faster if it could have access to more GPUs</a:t>
            </a:r>
          </a:p>
        </p:txBody>
      </p:sp>
    </p:spTree>
    <p:extLst>
      <p:ext uri="{BB962C8B-B14F-4D97-AF65-F5344CB8AC3E}">
        <p14:creationId xmlns:p14="http://schemas.microsoft.com/office/powerpoint/2010/main" val="1546782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NVIDIA GPGPUs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493658" y="897564"/>
          <a:ext cx="6156684" cy="4055839"/>
        </p:xfrm>
        <a:graphic>
          <a:graphicData uri="http://schemas.openxmlformats.org/drawingml/2006/table">
            <a:tbl>
              <a:tblPr/>
              <a:tblGrid>
                <a:gridCol w="1026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6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61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9838">
                <a:tc>
                  <a:txBody>
                    <a:bodyPr/>
                    <a:lstStyle/>
                    <a:p>
                      <a:r>
                        <a:rPr lang="en-US" sz="1100" b="1" dirty="0"/>
                        <a:t>Features</a:t>
                      </a:r>
                      <a:endParaRPr lang="en-US" sz="1100" dirty="0"/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Tesla K20X</a:t>
                      </a:r>
                      <a:endParaRPr lang="en-US" sz="1100"/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Tesla K20</a:t>
                      </a:r>
                      <a:endParaRPr lang="en-US" sz="1100"/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Tesla K10</a:t>
                      </a:r>
                      <a:endParaRPr lang="en-US" sz="1100"/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Tesla M2090</a:t>
                      </a:r>
                      <a:endParaRPr lang="en-US" sz="1100"/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Tesla M2075</a:t>
                      </a:r>
                      <a:endParaRPr lang="en-US" sz="1100"/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77">
                <a:tc>
                  <a:txBody>
                    <a:bodyPr/>
                    <a:lstStyle/>
                    <a:p>
                      <a:r>
                        <a:rPr lang="en-US" sz="1100" b="1" dirty="0"/>
                        <a:t>Number and Type of GPU</a:t>
                      </a:r>
                      <a:endParaRPr lang="en-US" sz="1100" dirty="0"/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/>
                        <a:t>1 Kepler GK110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 Kepler GK104s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 Fermi GPU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 Fermi GPU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6459">
                <a:tc>
                  <a:txBody>
                    <a:bodyPr/>
                    <a:lstStyle/>
                    <a:p>
                      <a:r>
                        <a:rPr lang="en-US" sz="1100" b="1"/>
                        <a:t>GPU Computing Applications</a:t>
                      </a:r>
                      <a:endParaRPr lang="en-US" sz="1100"/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 dirty="0"/>
                        <a:t>Seismic processing, CFD, CAE, Financial computing, Computational chemistry and Physics, Data analytics, Satellite imaging, Weather modeling</a:t>
                      </a:r>
                    </a:p>
                  </a:txBody>
                  <a:tcPr marL="22712" marR="0" marT="11357" marB="11357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Seismic processing, signal and image processing, video analytics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/>
                        <a:t>Seismic processing, CFD, CAE, Financial computing, Computational chemistry and Physics, Data analytics, Satellite imaging, Weather modeling</a:t>
                      </a:r>
                    </a:p>
                  </a:txBody>
                  <a:tcPr marL="22712" marR="0" marT="11357" marB="11357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640">
                <a:tc>
                  <a:txBody>
                    <a:bodyPr/>
                    <a:lstStyle/>
                    <a:p>
                      <a:r>
                        <a:rPr lang="en-US" sz="1100" b="1" dirty="0"/>
                        <a:t>Peak double precision floating point performance</a:t>
                      </a:r>
                      <a:endParaRPr lang="en-US" sz="1100" dirty="0"/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1.31 Tflops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1.17 Tflops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190 Gigaflops</a:t>
                      </a:r>
                      <a:br>
                        <a:rPr lang="en-US" sz="1100"/>
                      </a:br>
                      <a:r>
                        <a:rPr lang="en-US" sz="1100"/>
                        <a:t>(95 Gflops per GPU)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665 Gigaflops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515 Gigaflops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355">
                <a:tc>
                  <a:txBody>
                    <a:bodyPr/>
                    <a:lstStyle/>
                    <a:p>
                      <a:r>
                        <a:rPr lang="en-US" sz="1100" b="1"/>
                        <a:t>Peak single precision floating point performance</a:t>
                      </a:r>
                      <a:endParaRPr lang="en-US" sz="1100"/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3.95 Tflops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3.52 Tflops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4577 Gigaflops</a:t>
                      </a:r>
                      <a:br>
                        <a:rPr lang="en-US" sz="1100"/>
                      </a:br>
                      <a:r>
                        <a:rPr lang="en-US" sz="1100"/>
                        <a:t>(2288 Gflops per GPU)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1331 Gigaflops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1030 Gigaflops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516">
                <a:tc>
                  <a:txBody>
                    <a:bodyPr/>
                    <a:lstStyle/>
                    <a:p>
                      <a:r>
                        <a:rPr lang="en-US" sz="1100" b="1"/>
                        <a:t>Memory bandwidth (ECC off)</a:t>
                      </a:r>
                      <a:endParaRPr lang="en-US" sz="1100"/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250 GB/sec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208 GB/sec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320 GB/sec</a:t>
                      </a:r>
                      <a:br>
                        <a:rPr lang="en-US" sz="1100"/>
                      </a:br>
                      <a:r>
                        <a:rPr lang="en-US" sz="1100"/>
                        <a:t>(160 GB/sec per GPU)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177 GB/sec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150 GB/sec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77">
                <a:tc>
                  <a:txBody>
                    <a:bodyPr/>
                    <a:lstStyle/>
                    <a:p>
                      <a:r>
                        <a:rPr lang="en-US" sz="1100" b="1"/>
                        <a:t>Memory size (GDDR5)</a:t>
                      </a:r>
                      <a:endParaRPr lang="en-US" sz="1100"/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6 GB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5 GB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100"/>
                        <a:t>8GB</a:t>
                      </a:r>
                      <a:br>
                        <a:rPr lang="it-IT" sz="1100"/>
                      </a:br>
                      <a:r>
                        <a:rPr lang="it-IT" sz="1100"/>
                        <a:t>(4 GB per GPU)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6 GigaBytes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6 GigaBytes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677">
                <a:tc>
                  <a:txBody>
                    <a:bodyPr/>
                    <a:lstStyle/>
                    <a:p>
                      <a:r>
                        <a:rPr lang="en-US" sz="1100" b="1">
                          <a:hlinkClick r:id="rId2"/>
                        </a:rPr>
                        <a:t>CUDA</a:t>
                      </a:r>
                      <a:r>
                        <a:rPr lang="en-US" sz="1100" b="1"/>
                        <a:t> cores</a:t>
                      </a:r>
                      <a:endParaRPr lang="en-US" sz="1100"/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2688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/>
                        <a:t>2496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3072</a:t>
                      </a:r>
                      <a:br>
                        <a:rPr lang="en-US" sz="1100"/>
                      </a:br>
                      <a:r>
                        <a:rPr lang="en-US" sz="1100"/>
                        <a:t>(1536 per GPU)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/>
                        <a:t>512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448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2955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NVIDIA K20 Series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1485900" y="951570"/>
            <a:ext cx="6172200" cy="3672408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/>
              <a:t>NVIDIA Tesla K-series GPU Accelerators are based on the NVIDIA </a:t>
            </a:r>
            <a:r>
              <a:rPr lang="en-US" altLang="zh-TW" dirty="0" err="1"/>
              <a:t>Kepler</a:t>
            </a:r>
            <a:r>
              <a:rPr lang="en-US" altLang="zh-TW" dirty="0"/>
              <a:t> compute architecture  that includes</a:t>
            </a:r>
          </a:p>
          <a:p>
            <a:pPr lvl="1"/>
            <a:r>
              <a:rPr lang="en-US" altLang="zh-TW" dirty="0"/>
              <a:t>SMX (streaming multiprocessor) design that delivers up to 3x more performance per watt compared to the SM in Fermi</a:t>
            </a:r>
          </a:p>
          <a:p>
            <a:pPr lvl="1"/>
            <a:r>
              <a:rPr lang="en-US" altLang="zh-TW" dirty="0"/>
              <a:t>Dynamic Parallelism capability that enables GPU threads to automatically spawn new threads</a:t>
            </a:r>
          </a:p>
          <a:p>
            <a:pPr lvl="1"/>
            <a:r>
              <a:rPr lang="en-US" altLang="zh-TW" dirty="0"/>
              <a:t>Hyper-Q feature that enables multiple CPU cores to simultaneously utilize the CUDA cores on a single </a:t>
            </a:r>
            <a:r>
              <a:rPr lang="en-US" altLang="zh-TW" dirty="0" err="1"/>
              <a:t>Kepler</a:t>
            </a:r>
            <a:r>
              <a:rPr lang="en-US" altLang="zh-TW" dirty="0"/>
              <a:t> GPU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8622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NVIDIA K20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1485900" y="897564"/>
            <a:ext cx="6172200" cy="432048"/>
          </a:xfrm>
        </p:spPr>
        <p:txBody>
          <a:bodyPr/>
          <a:lstStyle/>
          <a:p>
            <a:r>
              <a:rPr lang="en-US" altLang="zh-TW" dirty="0"/>
              <a:t>NVIDIA Tesla K20 (GK110) Block Diagram</a:t>
            </a:r>
          </a:p>
          <a:p>
            <a:endParaRPr lang="zh-TW" altLang="en-US" dirty="0"/>
          </a:p>
        </p:txBody>
      </p:sp>
      <p:pic>
        <p:nvPicPr>
          <p:cNvPr id="70660" name="Picture 4" descr="http://images.anandtech.com/doci/5840/GK110Block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1375902"/>
            <a:ext cx="5251617" cy="36261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12903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NVIDIA K20 Series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1485900" y="951570"/>
            <a:ext cx="6172200" cy="1026114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SMX (streaming multiprocessor) design that delivers up to 3x more performance per watt compared to the SM in Fermi</a:t>
            </a:r>
            <a:endParaRPr lang="zh-TW" altLang="en-US" dirty="0"/>
          </a:p>
        </p:txBody>
      </p:sp>
      <p:pic>
        <p:nvPicPr>
          <p:cNvPr id="78850" name="Picture 2" descr="http://mag.udn.com/html/digital/event/2012/11/13/K20_0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26006" y="2453647"/>
            <a:ext cx="3024336" cy="1903070"/>
          </a:xfrm>
          <a:prstGeom prst="rect">
            <a:avLst/>
          </a:prstGeom>
          <a:noFill/>
        </p:spPr>
      </p:pic>
      <p:pic>
        <p:nvPicPr>
          <p:cNvPr id="78856" name="Picture 8" descr="https://encrypted-tbn0.gstatic.com/images?q=tbn:ANd9GcQObcTV8Xx2ZObdT8oLzKkHwWuk1-yXUHRt5-ESzX4MNjwAVEgUr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93658" y="2445867"/>
            <a:ext cx="2867333" cy="19080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8133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NVIDIA K20 Series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1485900" y="789552"/>
            <a:ext cx="6172200" cy="486054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Dynamic Parallelism</a:t>
            </a:r>
          </a:p>
        </p:txBody>
      </p:sp>
      <p:pic>
        <p:nvPicPr>
          <p:cNvPr id="79876" name="Picture 4" descr="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1022" y="1221600"/>
            <a:ext cx="3489170" cy="37598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6157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NVIDIA K20 Series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1485900" y="897564"/>
            <a:ext cx="2330016" cy="324036"/>
          </a:xfrm>
        </p:spPr>
        <p:txBody>
          <a:bodyPr>
            <a:normAutofit fontScale="62500" lnSpcReduction="20000"/>
          </a:bodyPr>
          <a:lstStyle/>
          <a:p>
            <a:r>
              <a:rPr lang="en-US" altLang="zh-TW" dirty="0"/>
              <a:t>Hyper-Q Feature</a:t>
            </a:r>
          </a:p>
          <a:p>
            <a:endParaRPr lang="zh-TW" altLang="en-US" dirty="0"/>
          </a:p>
        </p:txBody>
      </p:sp>
      <p:pic>
        <p:nvPicPr>
          <p:cNvPr id="77828" name="Picture 4" descr="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9802" y="1221600"/>
            <a:ext cx="3780420" cy="37013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5820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GPGPU TOOLS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1485900" y="1059583"/>
            <a:ext cx="6172200" cy="3535040"/>
          </a:xfrm>
        </p:spPr>
        <p:txBody>
          <a:bodyPr/>
          <a:lstStyle/>
          <a:p>
            <a:r>
              <a:rPr lang="en-US" altLang="zh-TW" dirty="0"/>
              <a:t>Two main approaches in GPGPU computing development environments</a:t>
            </a:r>
          </a:p>
          <a:p>
            <a:r>
              <a:rPr lang="en-US" altLang="zh-TW" dirty="0"/>
              <a:t>CUDA</a:t>
            </a:r>
          </a:p>
          <a:p>
            <a:pPr lvl="1"/>
            <a:r>
              <a:rPr lang="en-US" altLang="zh-TW" dirty="0"/>
              <a:t>NVIDIA proprietary</a:t>
            </a:r>
          </a:p>
          <a:p>
            <a:r>
              <a:rPr lang="en-US" altLang="zh-TW" dirty="0" err="1"/>
              <a:t>OpenCL</a:t>
            </a:r>
            <a:endParaRPr lang="en-US" altLang="zh-TW" dirty="0"/>
          </a:p>
          <a:p>
            <a:pPr lvl="1"/>
            <a:r>
              <a:rPr lang="en-US" altLang="zh-TW" dirty="0"/>
              <a:t>Open standard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35796" y="3537273"/>
            <a:ext cx="3407569" cy="97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19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High Performance Computing clouds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92657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3000" dirty="0"/>
              <a:t>Top 10 Supercomputers (Nov. 2012)</a:t>
            </a:r>
            <a:endParaRPr lang="zh-TW" altLang="en-US" sz="3000" dirty="0"/>
          </a:p>
        </p:txBody>
      </p:sp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1277635" y="841086"/>
          <a:ext cx="6588734" cy="4217299"/>
        </p:xfrm>
        <a:graphic>
          <a:graphicData uri="http://schemas.openxmlformats.org/drawingml/2006/table">
            <a:tbl>
              <a:tblPr/>
              <a:tblGrid>
                <a:gridCol w="32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7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25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7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6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32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198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Rank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Site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System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Cores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err="1"/>
                        <a:t>Rmax</a:t>
                      </a:r>
                      <a:r>
                        <a:rPr lang="en-US" sz="800" dirty="0"/>
                        <a:t> (</a:t>
                      </a:r>
                      <a:r>
                        <a:rPr lang="en-US" sz="800" dirty="0" err="1"/>
                        <a:t>TFlop</a:t>
                      </a:r>
                      <a:r>
                        <a:rPr lang="en-US" sz="800" dirty="0"/>
                        <a:t>/s)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err="1"/>
                        <a:t>Rpeak</a:t>
                      </a:r>
                      <a:r>
                        <a:rPr lang="en-US" sz="800" dirty="0"/>
                        <a:t> (</a:t>
                      </a:r>
                      <a:r>
                        <a:rPr lang="en-US" sz="800" dirty="0" err="1"/>
                        <a:t>TFlop</a:t>
                      </a:r>
                      <a:r>
                        <a:rPr lang="en-US" sz="800" dirty="0"/>
                        <a:t>/s)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Power (kW)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51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1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hlinkClick r:id="rId2"/>
                        </a:rPr>
                        <a:t>DOE/SC/Oak Ridge National Laboratory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United States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hlinkClick r:id="rId3"/>
                        </a:rPr>
                        <a:t>Titan</a:t>
                      </a:r>
                      <a:r>
                        <a:rPr lang="en-US" sz="800" dirty="0">
                          <a:hlinkClick r:id="rId3"/>
                        </a:rPr>
                        <a:t> - Cray XK7 , </a:t>
                      </a:r>
                      <a:r>
                        <a:rPr lang="en-US" sz="800" dirty="0" err="1">
                          <a:hlinkClick r:id="rId3"/>
                        </a:rPr>
                        <a:t>Opteron</a:t>
                      </a:r>
                      <a:r>
                        <a:rPr lang="en-US" sz="800" dirty="0">
                          <a:hlinkClick r:id="rId3"/>
                        </a:rPr>
                        <a:t> 6274 16C 2.200GHz, Cray Gemini interconnect, NVIDIA K20x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Cray Inc.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560640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17590.0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27112.5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8209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2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2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hlinkClick r:id="rId4"/>
                        </a:rPr>
                        <a:t>DOE/NNSA/LLNL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United States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hlinkClick r:id="rId5"/>
                        </a:rPr>
                        <a:t>Sequoia</a:t>
                      </a:r>
                      <a:r>
                        <a:rPr lang="en-US" sz="800" dirty="0">
                          <a:hlinkClick r:id="rId5"/>
                        </a:rPr>
                        <a:t> - </a:t>
                      </a:r>
                      <a:r>
                        <a:rPr lang="en-US" sz="800" dirty="0" err="1">
                          <a:hlinkClick r:id="rId5"/>
                        </a:rPr>
                        <a:t>BlueGene</a:t>
                      </a:r>
                      <a:r>
                        <a:rPr lang="en-US" sz="800" dirty="0">
                          <a:hlinkClick r:id="rId5"/>
                        </a:rPr>
                        <a:t>/Q, Power BQC 16C 1.60 GHz, Custom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IBM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1572864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16324.8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20132.7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7890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2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3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hlinkClick r:id="rId6"/>
                        </a:rPr>
                        <a:t>RIKEN Advanced Institute for Computational Science (AICS)</a:t>
                      </a:r>
                      <a:br>
                        <a:rPr lang="en-US" sz="800"/>
                      </a:br>
                      <a:r>
                        <a:rPr lang="en-US" sz="800"/>
                        <a:t>Japan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hlinkClick r:id="rId7"/>
                        </a:rPr>
                        <a:t>K computer, SPARC64 </a:t>
                      </a:r>
                      <a:r>
                        <a:rPr lang="en-US" sz="800" dirty="0" err="1">
                          <a:hlinkClick r:id="rId7"/>
                        </a:rPr>
                        <a:t>VIIIfx</a:t>
                      </a:r>
                      <a:r>
                        <a:rPr lang="en-US" sz="800" dirty="0">
                          <a:hlinkClick r:id="rId7"/>
                        </a:rPr>
                        <a:t> 2.0GHz, Tofu interconnect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Fujitsu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705024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10510.0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11280.4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12660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2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hlinkClick r:id="rId8"/>
                        </a:rPr>
                        <a:t>DOE/SC/Argonne National Laboratory</a:t>
                      </a:r>
                      <a:br>
                        <a:rPr lang="en-US" sz="800"/>
                      </a:br>
                      <a:r>
                        <a:rPr lang="en-US" sz="800"/>
                        <a:t>United States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hlinkClick r:id="rId9"/>
                        </a:rPr>
                        <a:t>Mira</a:t>
                      </a:r>
                      <a:r>
                        <a:rPr lang="en-US" sz="800">
                          <a:hlinkClick r:id="rId9"/>
                        </a:rPr>
                        <a:t> - BlueGene/Q, Power BQC 16C 1.60GHz, Custom</a:t>
                      </a:r>
                      <a:br>
                        <a:rPr lang="en-US" sz="800"/>
                      </a:br>
                      <a:r>
                        <a:rPr lang="en-US" sz="800"/>
                        <a:t>IBM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786432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8162.4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10066.3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3945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2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5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 err="1">
                          <a:hlinkClick r:id="rId10"/>
                        </a:rPr>
                        <a:t>Forschungszentrum</a:t>
                      </a:r>
                      <a:r>
                        <a:rPr lang="en-US" sz="800" dirty="0">
                          <a:hlinkClick r:id="rId10"/>
                        </a:rPr>
                        <a:t> </a:t>
                      </a:r>
                      <a:r>
                        <a:rPr lang="en-US" sz="800" dirty="0" err="1">
                          <a:hlinkClick r:id="rId10"/>
                        </a:rPr>
                        <a:t>Juelich</a:t>
                      </a:r>
                      <a:r>
                        <a:rPr lang="en-US" sz="800" dirty="0">
                          <a:hlinkClick r:id="rId10"/>
                        </a:rPr>
                        <a:t> (FZJ)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Germany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hlinkClick r:id="rId11"/>
                        </a:rPr>
                        <a:t>JUQUEEN</a:t>
                      </a:r>
                      <a:r>
                        <a:rPr lang="en-US" sz="800">
                          <a:hlinkClick r:id="rId11"/>
                        </a:rPr>
                        <a:t> - BlueGene/Q, Power BQC 16C 1.600GHz, Custom Interconnect</a:t>
                      </a:r>
                      <a:br>
                        <a:rPr lang="en-US" sz="800"/>
                      </a:br>
                      <a:r>
                        <a:rPr lang="en-US" sz="800"/>
                        <a:t>IBM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393216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4141.2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5033.2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1970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9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6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hlinkClick r:id="rId12"/>
                        </a:rPr>
                        <a:t>Leibniz Rechenzentrum</a:t>
                      </a:r>
                      <a:br>
                        <a:rPr lang="en-US" sz="800"/>
                      </a:br>
                      <a:r>
                        <a:rPr lang="en-US" sz="800"/>
                        <a:t>Germany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hlinkClick r:id="rId13"/>
                        </a:rPr>
                        <a:t>SuperMUC</a:t>
                      </a:r>
                      <a:r>
                        <a:rPr lang="en-US" sz="800">
                          <a:hlinkClick r:id="rId13"/>
                        </a:rPr>
                        <a:t> - iDataPlex DX360M4, Xeon E5-2680 8C 2.70GHz, Infiniband FDR</a:t>
                      </a:r>
                      <a:br>
                        <a:rPr lang="en-US" sz="800"/>
                      </a:br>
                      <a:r>
                        <a:rPr lang="en-US" sz="800"/>
                        <a:t>IBM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147456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2897.0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3185.1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3423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9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7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hlinkClick r:id="rId14"/>
                        </a:rPr>
                        <a:t>Texas Advanced Computing Center/Univ. of Texas</a:t>
                      </a:r>
                      <a:br>
                        <a:rPr lang="en-US" sz="800"/>
                      </a:br>
                      <a:r>
                        <a:rPr lang="en-US" sz="800"/>
                        <a:t>United States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hlinkClick r:id="rId15"/>
                        </a:rPr>
                        <a:t>Stampede</a:t>
                      </a:r>
                      <a:r>
                        <a:rPr lang="en-US" sz="800" dirty="0">
                          <a:hlinkClick r:id="rId15"/>
                        </a:rPr>
                        <a:t> - </a:t>
                      </a:r>
                      <a:r>
                        <a:rPr lang="en-US" sz="800" dirty="0" err="1">
                          <a:hlinkClick r:id="rId15"/>
                        </a:rPr>
                        <a:t>PowerEdge</a:t>
                      </a:r>
                      <a:r>
                        <a:rPr lang="en-US" sz="800" dirty="0">
                          <a:hlinkClick r:id="rId15"/>
                        </a:rPr>
                        <a:t> C8220, Xeon E5-2680 8C 2.700GHz, </a:t>
                      </a:r>
                      <a:r>
                        <a:rPr lang="en-US" sz="800" dirty="0" err="1">
                          <a:hlinkClick r:id="rId15"/>
                        </a:rPr>
                        <a:t>Infiniband</a:t>
                      </a:r>
                      <a:r>
                        <a:rPr lang="en-US" sz="800" dirty="0">
                          <a:hlinkClick r:id="rId15"/>
                        </a:rPr>
                        <a:t> FDR,  NVIDIA K20, Intel Xeon Phi</a:t>
                      </a:r>
                      <a:r>
                        <a:rPr lang="en-US" sz="800" dirty="0"/>
                        <a:t>,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Dell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204900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2660.3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3959.0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800" dirty="0"/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2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8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hlinkClick r:id="rId16"/>
                        </a:rPr>
                        <a:t>National Supercomputing Center in Tianjin</a:t>
                      </a:r>
                      <a:br>
                        <a:rPr lang="en-US" sz="800"/>
                      </a:br>
                      <a:r>
                        <a:rPr lang="en-US" sz="800"/>
                        <a:t>China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hlinkClick r:id="rId17"/>
                        </a:rPr>
                        <a:t>Tianhe-1A</a:t>
                      </a:r>
                      <a:r>
                        <a:rPr lang="en-US" sz="800">
                          <a:hlinkClick r:id="rId17"/>
                        </a:rPr>
                        <a:t> - NUDT YH MPP, Xeon X5670 6C 2.93 GHz, NVIDIA 2050</a:t>
                      </a:r>
                      <a:br>
                        <a:rPr lang="en-US" sz="800"/>
                      </a:br>
                      <a:r>
                        <a:rPr lang="en-US" sz="800"/>
                        <a:t>NUDT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186368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2566.0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4701.0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4040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2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9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hlinkClick r:id="rId18"/>
                        </a:rPr>
                        <a:t>CINECA</a:t>
                      </a:r>
                      <a:br>
                        <a:rPr lang="en-US" sz="800"/>
                      </a:br>
                      <a:r>
                        <a:rPr lang="en-US" sz="800"/>
                        <a:t>Italy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hlinkClick r:id="rId19"/>
                        </a:rPr>
                        <a:t>Fermi</a:t>
                      </a:r>
                      <a:r>
                        <a:rPr lang="en-US" sz="800">
                          <a:hlinkClick r:id="rId19"/>
                        </a:rPr>
                        <a:t> - BlueGene/Q, Power BQC 16C 1.60GHz, Custom</a:t>
                      </a:r>
                      <a:br>
                        <a:rPr lang="en-US" sz="800"/>
                      </a:br>
                      <a:r>
                        <a:rPr lang="en-US" sz="800"/>
                        <a:t>IBM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163840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1725.5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2097.2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822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2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10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hlinkClick r:id="rId20"/>
                        </a:rPr>
                        <a:t>IBM Development Engineering</a:t>
                      </a:r>
                      <a:br>
                        <a:rPr lang="en-US" sz="800"/>
                      </a:br>
                      <a:r>
                        <a:rPr lang="en-US" sz="800"/>
                        <a:t>United States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hlinkClick r:id="rId21"/>
                        </a:rPr>
                        <a:t>DARPA Trial Subset</a:t>
                      </a:r>
                      <a:r>
                        <a:rPr lang="en-US" sz="800" dirty="0">
                          <a:hlinkClick r:id="rId21"/>
                        </a:rPr>
                        <a:t> - Power 775, POWER7 8C 3.836GHz, Custom Interconnect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IBM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63360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1515.0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/>
                        <a:t>1944.4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/>
                        <a:t>3576</a:t>
                      </a:r>
                    </a:p>
                  </a:txBody>
                  <a:tcPr marL="7023" marR="7023" marT="3512" marB="3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251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High Performance Computing Clouds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059583"/>
            <a:ext cx="6172200" cy="3535040"/>
          </a:xfrm>
        </p:spPr>
        <p:txBody>
          <a:bodyPr/>
          <a:lstStyle/>
          <a:p>
            <a:r>
              <a:rPr lang="en-US" altLang="zh-TW" dirty="0"/>
              <a:t>Fast interconnects</a:t>
            </a:r>
          </a:p>
          <a:p>
            <a:r>
              <a:rPr lang="en-US" altLang="zh-TW" dirty="0"/>
              <a:t>Hundreds of nodes, with multiple cores per node</a:t>
            </a:r>
          </a:p>
          <a:p>
            <a:r>
              <a:rPr lang="en-US" altLang="zh-TW" dirty="0"/>
              <a:t>Hardware accelerators</a:t>
            </a:r>
          </a:p>
          <a:p>
            <a:pPr lvl="1"/>
            <a:r>
              <a:rPr lang="en-US" altLang="zh-TW" dirty="0"/>
              <a:t>better performance-watt, performance-cost ratios for certain applications</a:t>
            </a:r>
            <a:endParaRPr lang="zh-TW" altLang="en-US" dirty="0"/>
          </a:p>
        </p:txBody>
      </p:sp>
      <p:grpSp>
        <p:nvGrpSpPr>
          <p:cNvPr id="102" name="群組 101"/>
          <p:cNvGrpSpPr/>
          <p:nvPr/>
        </p:nvGrpSpPr>
        <p:grpSpPr>
          <a:xfrm>
            <a:off x="2735797" y="3003798"/>
            <a:ext cx="3337976" cy="1785901"/>
            <a:chOff x="1615317" y="3744962"/>
            <a:chExt cx="5216007" cy="2790694"/>
          </a:xfrm>
        </p:grpSpPr>
        <p:sp>
          <p:nvSpPr>
            <p:cNvPr id="4" name="矩形 3"/>
            <p:cNvSpPr/>
            <p:nvPr/>
          </p:nvSpPr>
          <p:spPr>
            <a:xfrm>
              <a:off x="4745442" y="3744962"/>
              <a:ext cx="1081879" cy="4472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App</a:t>
              </a:r>
              <a:endParaRPr lang="zh-TW" altLang="en-US" sz="1350" dirty="0"/>
            </a:p>
          </p:txBody>
        </p:sp>
        <p:sp>
          <p:nvSpPr>
            <p:cNvPr id="5" name="雲朵形圖說文字 4"/>
            <p:cNvSpPr/>
            <p:nvPr/>
          </p:nvSpPr>
          <p:spPr>
            <a:xfrm>
              <a:off x="3270158" y="4282244"/>
              <a:ext cx="2016224" cy="1512168"/>
            </a:xfrm>
            <a:prstGeom prst="cloudCallou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6" name="矩形 5"/>
            <p:cNvSpPr/>
            <p:nvPr/>
          </p:nvSpPr>
          <p:spPr>
            <a:xfrm>
              <a:off x="2606098" y="3983845"/>
              <a:ext cx="914400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App</a:t>
              </a:r>
              <a:endParaRPr lang="zh-TW" altLang="en-US" sz="1350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4607678" y="6043906"/>
              <a:ext cx="698376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App</a:t>
              </a:r>
              <a:endParaRPr lang="zh-TW" altLang="en-US" sz="135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2033283" y="5240591"/>
              <a:ext cx="664041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App</a:t>
              </a:r>
              <a:endParaRPr lang="zh-TW" altLang="en-US" sz="135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098576" y="5675212"/>
              <a:ext cx="1171582" cy="2880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App</a:t>
              </a:r>
              <a:endParaRPr lang="zh-TW" altLang="en-US" sz="135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5144453" y="5445224"/>
              <a:ext cx="914400" cy="43877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App</a:t>
              </a:r>
              <a:endParaRPr lang="zh-TW" altLang="en-US" sz="1350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5614990" y="4571494"/>
              <a:ext cx="1216333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App</a:t>
              </a:r>
              <a:endParaRPr lang="zh-TW" altLang="en-US" sz="135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2182416" y="4407441"/>
              <a:ext cx="914400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App</a:t>
              </a:r>
              <a:endParaRPr lang="zh-TW" altLang="en-US" sz="1350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5916924" y="4976188"/>
              <a:ext cx="914400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App</a:t>
              </a:r>
              <a:endParaRPr lang="zh-TW" altLang="en-US" sz="1350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1615317" y="4824016"/>
              <a:ext cx="914400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App</a:t>
              </a:r>
              <a:endParaRPr lang="zh-TW" altLang="en-US" sz="135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2915816" y="6108055"/>
              <a:ext cx="955558" cy="4276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App</a:t>
              </a:r>
              <a:endParaRPr lang="zh-TW" altLang="en-US" sz="1350" dirty="0"/>
            </a:p>
          </p:txBody>
        </p:sp>
        <p:cxnSp>
          <p:nvCxnSpPr>
            <p:cNvPr id="18" name="直線單箭頭接點 17"/>
            <p:cNvCxnSpPr>
              <a:stCxn id="8" idx="3"/>
              <a:endCxn id="46" idx="1"/>
            </p:cNvCxnSpPr>
            <p:nvPr/>
          </p:nvCxnSpPr>
          <p:spPr>
            <a:xfrm flipV="1">
              <a:off x="2697324" y="5022550"/>
              <a:ext cx="1536746" cy="3620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stCxn id="12" idx="3"/>
              <a:endCxn id="46" idx="1"/>
            </p:cNvCxnSpPr>
            <p:nvPr/>
          </p:nvCxnSpPr>
          <p:spPr>
            <a:xfrm>
              <a:off x="3096816" y="4551457"/>
              <a:ext cx="1137254" cy="4710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stCxn id="14" idx="3"/>
              <a:endCxn id="46" idx="1"/>
            </p:cNvCxnSpPr>
            <p:nvPr/>
          </p:nvCxnSpPr>
          <p:spPr>
            <a:xfrm>
              <a:off x="2529717" y="4968032"/>
              <a:ext cx="1704353" cy="545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stCxn id="9" idx="3"/>
              <a:endCxn id="46" idx="1"/>
            </p:cNvCxnSpPr>
            <p:nvPr/>
          </p:nvCxnSpPr>
          <p:spPr>
            <a:xfrm flipV="1">
              <a:off x="3270158" y="5022550"/>
              <a:ext cx="963912" cy="7966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>
              <a:stCxn id="7" idx="0"/>
              <a:endCxn id="46" idx="1"/>
            </p:cNvCxnSpPr>
            <p:nvPr/>
          </p:nvCxnSpPr>
          <p:spPr>
            <a:xfrm flipH="1" flipV="1">
              <a:off x="4234070" y="5022550"/>
              <a:ext cx="722796" cy="10213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stCxn id="15" idx="0"/>
              <a:endCxn id="46" idx="1"/>
            </p:cNvCxnSpPr>
            <p:nvPr/>
          </p:nvCxnSpPr>
          <p:spPr>
            <a:xfrm flipV="1">
              <a:off x="3393595" y="5022550"/>
              <a:ext cx="840475" cy="10855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10" idx="1"/>
              <a:endCxn id="46" idx="1"/>
            </p:cNvCxnSpPr>
            <p:nvPr/>
          </p:nvCxnSpPr>
          <p:spPr>
            <a:xfrm flipH="1" flipV="1">
              <a:off x="4234070" y="5022550"/>
              <a:ext cx="910383" cy="6420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>
              <a:stCxn id="6" idx="2"/>
              <a:endCxn id="46" idx="1"/>
            </p:cNvCxnSpPr>
            <p:nvPr/>
          </p:nvCxnSpPr>
          <p:spPr>
            <a:xfrm>
              <a:off x="3063298" y="4271877"/>
              <a:ext cx="1170772" cy="7506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矩形 45"/>
            <p:cNvSpPr/>
            <p:nvPr/>
          </p:nvSpPr>
          <p:spPr>
            <a:xfrm>
              <a:off x="4234070" y="4920141"/>
              <a:ext cx="204818" cy="20481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cxnSp>
          <p:nvCxnSpPr>
            <p:cNvPr id="69" name="直線單箭頭接點 68"/>
            <p:cNvCxnSpPr>
              <a:stCxn id="11" idx="1"/>
              <a:endCxn id="46" idx="1"/>
            </p:cNvCxnSpPr>
            <p:nvPr/>
          </p:nvCxnSpPr>
          <p:spPr>
            <a:xfrm flipH="1">
              <a:off x="4234070" y="4715510"/>
              <a:ext cx="1380920" cy="3070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線單箭頭接點 69"/>
            <p:cNvCxnSpPr>
              <a:stCxn id="13" idx="1"/>
              <a:endCxn id="46" idx="1"/>
            </p:cNvCxnSpPr>
            <p:nvPr/>
          </p:nvCxnSpPr>
          <p:spPr>
            <a:xfrm flipH="1" flipV="1">
              <a:off x="4234070" y="5022550"/>
              <a:ext cx="1682854" cy="976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線單箭頭接點 70"/>
            <p:cNvCxnSpPr>
              <a:stCxn id="4" idx="1"/>
              <a:endCxn id="46" idx="1"/>
            </p:cNvCxnSpPr>
            <p:nvPr/>
          </p:nvCxnSpPr>
          <p:spPr>
            <a:xfrm flipH="1">
              <a:off x="4234070" y="3968601"/>
              <a:ext cx="511372" cy="10539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矩形 15"/>
            <p:cNvSpPr/>
            <p:nvPr/>
          </p:nvSpPr>
          <p:spPr>
            <a:xfrm>
              <a:off x="3830289" y="4630562"/>
              <a:ext cx="799274" cy="799274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GPU array</a:t>
              </a:r>
              <a:endParaRPr lang="zh-TW" altLang="en-US" sz="1350" dirty="0"/>
            </a:p>
          </p:txBody>
        </p:sp>
      </p:grpSp>
      <p:sp>
        <p:nvSpPr>
          <p:cNvPr id="104" name="橢圓形圖說文字 103"/>
          <p:cNvSpPr/>
          <p:nvPr/>
        </p:nvSpPr>
        <p:spPr>
          <a:xfrm>
            <a:off x="5688200" y="2745880"/>
            <a:ext cx="1969901" cy="686012"/>
          </a:xfrm>
          <a:prstGeom prst="wedgeEllipseCallou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How to achieve the High Performance Computing?</a:t>
            </a:r>
          </a:p>
        </p:txBody>
      </p:sp>
    </p:spTree>
    <p:extLst>
      <p:ext uri="{BB962C8B-B14F-4D97-AF65-F5344CB8AC3E}">
        <p14:creationId xmlns:p14="http://schemas.microsoft.com/office/powerpoint/2010/main" val="2047471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High Performance Computing Clouds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1485900" y="1113588"/>
            <a:ext cx="6172200" cy="1188132"/>
          </a:xfrm>
        </p:spPr>
        <p:txBody>
          <a:bodyPr/>
          <a:lstStyle/>
          <a:p>
            <a:r>
              <a:rPr lang="en-US" altLang="zh-TW" dirty="0"/>
              <a:t>Add GPUs at each node </a:t>
            </a:r>
          </a:p>
          <a:p>
            <a:pPr lvl="1"/>
            <a:r>
              <a:rPr lang="en-US" altLang="zh-TW" dirty="0"/>
              <a:t>Some GPUs may be idle for long periods of time </a:t>
            </a:r>
          </a:p>
          <a:p>
            <a:pPr lvl="1"/>
            <a:r>
              <a:rPr lang="en-US" altLang="zh-TW" dirty="0"/>
              <a:t>A waste of money and energy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71625" y="2517744"/>
            <a:ext cx="6000750" cy="215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047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High Performance Computing Clouds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831540"/>
          </a:xfrm>
        </p:spPr>
        <p:txBody>
          <a:bodyPr/>
          <a:lstStyle/>
          <a:p>
            <a:r>
              <a:rPr lang="en-US" altLang="zh-TW" dirty="0"/>
              <a:t>Add GPUs at some nodes</a:t>
            </a:r>
          </a:p>
          <a:p>
            <a:pPr lvl="1"/>
            <a:r>
              <a:rPr lang="en-US" altLang="zh-TW" dirty="0"/>
              <a:t>Lack flexibility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53766" y="2517745"/>
            <a:ext cx="6036469" cy="216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14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High Performance Computing Clouds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113588"/>
            <a:ext cx="6172200" cy="777534"/>
          </a:xfrm>
        </p:spPr>
        <p:txBody>
          <a:bodyPr/>
          <a:lstStyle/>
          <a:p>
            <a:r>
              <a:rPr lang="en-US" altLang="zh-TW" dirty="0"/>
              <a:t>Add GPUs at some nodes and make them accessible from every node (GPU virtualization)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70048" y="2247714"/>
            <a:ext cx="5203905" cy="2474497"/>
          </a:xfrm>
          <a:prstGeom prst="rect">
            <a:avLst/>
          </a:prstGeom>
        </p:spPr>
      </p:pic>
      <p:sp>
        <p:nvSpPr>
          <p:cNvPr id="5" name="橢圓形圖說文字 4"/>
          <p:cNvSpPr/>
          <p:nvPr/>
        </p:nvSpPr>
        <p:spPr>
          <a:xfrm>
            <a:off x="6056212" y="2247714"/>
            <a:ext cx="1359815" cy="473552"/>
          </a:xfrm>
          <a:prstGeom prst="wedgeEllipseCallou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How to achieve it?</a:t>
            </a:r>
          </a:p>
        </p:txBody>
      </p:sp>
    </p:spTree>
    <p:extLst>
      <p:ext uri="{BB962C8B-B14F-4D97-AF65-F5344CB8AC3E}">
        <p14:creationId xmlns:p14="http://schemas.microsoft.com/office/powerpoint/2010/main" val="194145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GPU Virtualization 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005577"/>
            <a:ext cx="6172200" cy="1512168"/>
          </a:xfrm>
        </p:spPr>
        <p:txBody>
          <a:bodyPr/>
          <a:lstStyle/>
          <a:p>
            <a:r>
              <a:rPr lang="en-US" altLang="zh-TW" dirty="0"/>
              <a:t>GPU device is under control of the hypervisor</a:t>
            </a:r>
          </a:p>
          <a:p>
            <a:r>
              <a:rPr lang="en-US" altLang="zh-TW" dirty="0"/>
              <a:t>GPU access is routed via the front-end/back-end</a:t>
            </a:r>
          </a:p>
          <a:p>
            <a:r>
              <a:rPr lang="en-US" altLang="zh-TW" dirty="0"/>
              <a:t>The management component controls invocation and data movement</a:t>
            </a:r>
            <a:endParaRPr lang="zh-TW" altLang="en-US" dirty="0"/>
          </a:p>
        </p:txBody>
      </p:sp>
      <p:grpSp>
        <p:nvGrpSpPr>
          <p:cNvPr id="99" name="群組 98"/>
          <p:cNvGrpSpPr/>
          <p:nvPr/>
        </p:nvGrpSpPr>
        <p:grpSpPr>
          <a:xfrm>
            <a:off x="1657294" y="3049228"/>
            <a:ext cx="2431089" cy="1466738"/>
            <a:chOff x="685725" y="2409454"/>
            <a:chExt cx="3241452" cy="1955650"/>
          </a:xfrm>
        </p:grpSpPr>
        <p:sp>
          <p:nvSpPr>
            <p:cNvPr id="33" name="矩形 32"/>
            <p:cNvSpPr/>
            <p:nvPr/>
          </p:nvSpPr>
          <p:spPr>
            <a:xfrm>
              <a:off x="685725" y="4005064"/>
              <a:ext cx="3240000" cy="36004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Device(GPU)</a:t>
              </a:r>
              <a:endParaRPr lang="zh-TW" altLang="en-US" sz="1350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687177" y="3567239"/>
              <a:ext cx="3240000" cy="36004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Hypervisor</a:t>
              </a:r>
              <a:endParaRPr lang="zh-TW" altLang="en-US" sz="1350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768704" y="3603259"/>
              <a:ext cx="900000" cy="2880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/>
                <a:t>back-end </a:t>
              </a:r>
            </a:p>
          </p:txBody>
        </p:sp>
        <p:grpSp>
          <p:nvGrpSpPr>
            <p:cNvPr id="8" name="群組 7"/>
            <p:cNvGrpSpPr/>
            <p:nvPr/>
          </p:nvGrpSpPr>
          <p:grpSpPr>
            <a:xfrm>
              <a:off x="732704" y="2409454"/>
              <a:ext cx="972000" cy="1080000"/>
              <a:chOff x="1889704" y="2636912"/>
              <a:chExt cx="972000" cy="108000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1889704" y="2636912"/>
                <a:ext cx="972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altLang="zh-TW" sz="1350" dirty="0"/>
                  <a:t>VM</a:t>
                </a:r>
                <a:endParaRPr lang="zh-TW" altLang="en-US" sz="1350" dirty="0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1925704" y="2708920"/>
                <a:ext cx="900000" cy="36004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 err="1"/>
                  <a:t>vGPU</a:t>
                </a:r>
                <a:endParaRPr lang="zh-TW" altLang="en-US" sz="1350" dirty="0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1921521" y="3107060"/>
                <a:ext cx="900000" cy="2880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/>
                  <a:t>front-end </a:t>
                </a:r>
              </a:p>
            </p:txBody>
          </p:sp>
        </p:grpSp>
        <p:grpSp>
          <p:nvGrpSpPr>
            <p:cNvPr id="37" name="群組 36"/>
            <p:cNvGrpSpPr/>
            <p:nvPr/>
          </p:nvGrpSpPr>
          <p:grpSpPr>
            <a:xfrm>
              <a:off x="1820451" y="2409454"/>
              <a:ext cx="972000" cy="1080000"/>
              <a:chOff x="1889704" y="2636912"/>
              <a:chExt cx="972000" cy="1080000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1889704" y="2636912"/>
                <a:ext cx="972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altLang="zh-TW" sz="1350" dirty="0"/>
                  <a:t>VM</a:t>
                </a:r>
                <a:endParaRPr lang="zh-TW" altLang="en-US" sz="1350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1925704" y="2708920"/>
                <a:ext cx="900000" cy="36004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 err="1"/>
                  <a:t>vGPU</a:t>
                </a:r>
                <a:endParaRPr lang="zh-TW" altLang="en-US" sz="1350" dirty="0"/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1925704" y="3107060"/>
                <a:ext cx="900000" cy="2880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/>
                  <a:t>front-end </a:t>
                </a:r>
              </a:p>
            </p:txBody>
          </p:sp>
        </p:grpSp>
        <p:grpSp>
          <p:nvGrpSpPr>
            <p:cNvPr id="43" name="群組 42"/>
            <p:cNvGrpSpPr/>
            <p:nvPr/>
          </p:nvGrpSpPr>
          <p:grpSpPr>
            <a:xfrm>
              <a:off x="2908198" y="2409454"/>
              <a:ext cx="972000" cy="1080000"/>
              <a:chOff x="1889704" y="2636912"/>
              <a:chExt cx="972000" cy="1080000"/>
            </a:xfrm>
          </p:grpSpPr>
          <p:sp>
            <p:nvSpPr>
              <p:cNvPr id="45" name="矩形 44"/>
              <p:cNvSpPr/>
              <p:nvPr/>
            </p:nvSpPr>
            <p:spPr>
              <a:xfrm>
                <a:off x="1889704" y="2636912"/>
                <a:ext cx="972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altLang="zh-TW" sz="1350" dirty="0"/>
                  <a:t>VM</a:t>
                </a:r>
                <a:endParaRPr lang="zh-TW" altLang="en-US" sz="1350" dirty="0"/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1925704" y="2708920"/>
                <a:ext cx="900000" cy="36004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 err="1"/>
                  <a:t>vGPU</a:t>
                </a:r>
                <a:endParaRPr lang="zh-TW" altLang="en-US" sz="1350" dirty="0"/>
              </a:p>
            </p:txBody>
          </p:sp>
          <p:sp>
            <p:nvSpPr>
              <p:cNvPr id="47" name="矩形 46"/>
              <p:cNvSpPr/>
              <p:nvPr/>
            </p:nvSpPr>
            <p:spPr>
              <a:xfrm>
                <a:off x="1925704" y="3107060"/>
                <a:ext cx="900000" cy="2880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/>
                  <a:t>front-end </a:t>
                </a:r>
              </a:p>
            </p:txBody>
          </p:sp>
        </p:grpSp>
      </p:grpSp>
      <p:grpSp>
        <p:nvGrpSpPr>
          <p:cNvPr id="98" name="群組 97"/>
          <p:cNvGrpSpPr/>
          <p:nvPr/>
        </p:nvGrpSpPr>
        <p:grpSpPr>
          <a:xfrm>
            <a:off x="5058054" y="2712895"/>
            <a:ext cx="2431089" cy="1803071"/>
            <a:chOff x="5220072" y="2465066"/>
            <a:chExt cx="3241452" cy="2404094"/>
          </a:xfrm>
        </p:grpSpPr>
        <p:sp>
          <p:nvSpPr>
            <p:cNvPr id="80" name="矩形 79"/>
            <p:cNvSpPr/>
            <p:nvPr/>
          </p:nvSpPr>
          <p:spPr>
            <a:xfrm>
              <a:off x="5220072" y="4067756"/>
              <a:ext cx="3240000" cy="36004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Host OS</a:t>
              </a:r>
              <a:endParaRPr lang="zh-TW" altLang="en-US" sz="1350" dirty="0"/>
            </a:p>
          </p:txBody>
        </p:sp>
        <p:sp>
          <p:nvSpPr>
            <p:cNvPr id="81" name="矩形 80"/>
            <p:cNvSpPr/>
            <p:nvPr/>
          </p:nvSpPr>
          <p:spPr>
            <a:xfrm>
              <a:off x="5221524" y="3626391"/>
              <a:ext cx="3240000" cy="36004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Hypervisor</a:t>
              </a:r>
              <a:endParaRPr lang="zh-TW" altLang="en-US" sz="1350" dirty="0"/>
            </a:p>
          </p:txBody>
        </p:sp>
        <p:sp>
          <p:nvSpPr>
            <p:cNvPr id="82" name="矩形 81"/>
            <p:cNvSpPr/>
            <p:nvPr/>
          </p:nvSpPr>
          <p:spPr>
            <a:xfrm>
              <a:off x="5303051" y="4103776"/>
              <a:ext cx="900000" cy="2880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/>
                <a:t>back-end </a:t>
              </a:r>
            </a:p>
          </p:txBody>
        </p:sp>
        <p:grpSp>
          <p:nvGrpSpPr>
            <p:cNvPr id="97" name="群組 96"/>
            <p:cNvGrpSpPr/>
            <p:nvPr/>
          </p:nvGrpSpPr>
          <p:grpSpPr>
            <a:xfrm>
              <a:off x="5267051" y="2465066"/>
              <a:ext cx="3147494" cy="1080000"/>
              <a:chOff x="5267051" y="2465066"/>
              <a:chExt cx="3147494" cy="1080000"/>
            </a:xfrm>
          </p:grpSpPr>
          <p:grpSp>
            <p:nvGrpSpPr>
              <p:cNvPr id="83" name="群組 82"/>
              <p:cNvGrpSpPr/>
              <p:nvPr/>
            </p:nvGrpSpPr>
            <p:grpSpPr>
              <a:xfrm>
                <a:off x="5267051" y="2465066"/>
                <a:ext cx="972000" cy="1080000"/>
                <a:chOff x="1889704" y="2636912"/>
                <a:chExt cx="972000" cy="1080000"/>
              </a:xfrm>
            </p:grpSpPr>
            <p:sp>
              <p:nvSpPr>
                <p:cNvPr id="84" name="矩形 83"/>
                <p:cNvSpPr/>
                <p:nvPr/>
              </p:nvSpPr>
              <p:spPr>
                <a:xfrm>
                  <a:off x="1889704" y="2636912"/>
                  <a:ext cx="972000" cy="1080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altLang="zh-TW" sz="1350" dirty="0"/>
                    <a:t>VM</a:t>
                  </a:r>
                  <a:endParaRPr lang="zh-TW" altLang="en-US" sz="1350" dirty="0"/>
                </a:p>
              </p:txBody>
            </p:sp>
            <p:sp>
              <p:nvSpPr>
                <p:cNvPr id="85" name="矩形 84"/>
                <p:cNvSpPr/>
                <p:nvPr/>
              </p:nvSpPr>
              <p:spPr>
                <a:xfrm>
                  <a:off x="1925704" y="2708920"/>
                  <a:ext cx="900000" cy="360040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dirty="0" err="1"/>
                    <a:t>vGPU</a:t>
                  </a:r>
                  <a:endParaRPr lang="zh-TW" altLang="en-US" sz="1350" dirty="0"/>
                </a:p>
              </p:txBody>
            </p:sp>
            <p:sp>
              <p:nvSpPr>
                <p:cNvPr id="86" name="矩形 85"/>
                <p:cNvSpPr/>
                <p:nvPr/>
              </p:nvSpPr>
              <p:spPr>
                <a:xfrm>
                  <a:off x="1921521" y="3107060"/>
                  <a:ext cx="900000" cy="288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/>
                    <a:t>front-end </a:t>
                  </a:r>
                </a:p>
              </p:txBody>
            </p:sp>
          </p:grpSp>
          <p:grpSp>
            <p:nvGrpSpPr>
              <p:cNvPr id="87" name="群組 86"/>
              <p:cNvGrpSpPr/>
              <p:nvPr/>
            </p:nvGrpSpPr>
            <p:grpSpPr>
              <a:xfrm>
                <a:off x="6354798" y="2465066"/>
                <a:ext cx="972000" cy="1080000"/>
                <a:chOff x="1889704" y="2636912"/>
                <a:chExt cx="972000" cy="1080000"/>
              </a:xfrm>
            </p:grpSpPr>
            <p:sp>
              <p:nvSpPr>
                <p:cNvPr id="88" name="矩形 87"/>
                <p:cNvSpPr/>
                <p:nvPr/>
              </p:nvSpPr>
              <p:spPr>
                <a:xfrm>
                  <a:off x="1889704" y="2636912"/>
                  <a:ext cx="972000" cy="1080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altLang="zh-TW" sz="1350" dirty="0"/>
                    <a:t>VM</a:t>
                  </a:r>
                  <a:endParaRPr lang="zh-TW" altLang="en-US" sz="1350" dirty="0"/>
                </a:p>
              </p:txBody>
            </p:sp>
            <p:sp>
              <p:nvSpPr>
                <p:cNvPr id="89" name="矩形 88"/>
                <p:cNvSpPr/>
                <p:nvPr/>
              </p:nvSpPr>
              <p:spPr>
                <a:xfrm>
                  <a:off x="1925704" y="2708920"/>
                  <a:ext cx="900000" cy="360040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dirty="0" err="1"/>
                    <a:t>vGPU</a:t>
                  </a:r>
                  <a:endParaRPr lang="zh-TW" altLang="en-US" sz="1350" dirty="0"/>
                </a:p>
              </p:txBody>
            </p:sp>
            <p:sp>
              <p:nvSpPr>
                <p:cNvPr id="90" name="矩形 89"/>
                <p:cNvSpPr/>
                <p:nvPr/>
              </p:nvSpPr>
              <p:spPr>
                <a:xfrm>
                  <a:off x="1925704" y="3107060"/>
                  <a:ext cx="900000" cy="288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/>
                    <a:t>front-end </a:t>
                  </a:r>
                </a:p>
              </p:txBody>
            </p:sp>
          </p:grpSp>
          <p:grpSp>
            <p:nvGrpSpPr>
              <p:cNvPr id="91" name="群組 90"/>
              <p:cNvGrpSpPr/>
              <p:nvPr/>
            </p:nvGrpSpPr>
            <p:grpSpPr>
              <a:xfrm>
                <a:off x="7442545" y="2465066"/>
                <a:ext cx="972000" cy="1080000"/>
                <a:chOff x="1889704" y="2636912"/>
                <a:chExt cx="972000" cy="1080000"/>
              </a:xfrm>
            </p:grpSpPr>
            <p:sp>
              <p:nvSpPr>
                <p:cNvPr id="92" name="矩形 91"/>
                <p:cNvSpPr/>
                <p:nvPr/>
              </p:nvSpPr>
              <p:spPr>
                <a:xfrm>
                  <a:off x="1889704" y="2636912"/>
                  <a:ext cx="972000" cy="1080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altLang="zh-TW" sz="1350" dirty="0"/>
                    <a:t>VM</a:t>
                  </a:r>
                  <a:endParaRPr lang="zh-TW" altLang="en-US" sz="1350" dirty="0"/>
                </a:p>
              </p:txBody>
            </p:sp>
            <p:sp>
              <p:nvSpPr>
                <p:cNvPr id="93" name="矩形 92"/>
                <p:cNvSpPr/>
                <p:nvPr/>
              </p:nvSpPr>
              <p:spPr>
                <a:xfrm>
                  <a:off x="1925704" y="2708920"/>
                  <a:ext cx="900000" cy="360040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350" dirty="0" err="1"/>
                    <a:t>vGPU</a:t>
                  </a:r>
                  <a:endParaRPr lang="zh-TW" altLang="en-US" sz="1350" dirty="0"/>
                </a:p>
              </p:txBody>
            </p:sp>
            <p:sp>
              <p:nvSpPr>
                <p:cNvPr id="94" name="矩形 93"/>
                <p:cNvSpPr/>
                <p:nvPr/>
              </p:nvSpPr>
              <p:spPr>
                <a:xfrm>
                  <a:off x="1925704" y="3107060"/>
                  <a:ext cx="900000" cy="288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/>
                    <a:t>front-end </a:t>
                  </a:r>
                </a:p>
              </p:txBody>
            </p:sp>
          </p:grpSp>
        </p:grpSp>
        <p:sp>
          <p:nvSpPr>
            <p:cNvPr id="95" name="矩形 94"/>
            <p:cNvSpPr/>
            <p:nvPr/>
          </p:nvSpPr>
          <p:spPr>
            <a:xfrm>
              <a:off x="5220072" y="4509120"/>
              <a:ext cx="3240000" cy="36004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Device(GPU)</a:t>
              </a:r>
              <a:endParaRPr lang="zh-TW" altLang="en-US" sz="1350" dirty="0"/>
            </a:p>
          </p:txBody>
        </p:sp>
      </p:grpSp>
      <p:cxnSp>
        <p:nvCxnSpPr>
          <p:cNvPr id="102" name="直線單箭頭接點 101"/>
          <p:cNvCxnSpPr>
            <a:stCxn id="7" idx="2"/>
            <a:endCxn id="34" idx="0"/>
          </p:cNvCxnSpPr>
          <p:nvPr/>
        </p:nvCxnSpPr>
        <p:spPr>
          <a:xfrm>
            <a:off x="2053891" y="3617840"/>
            <a:ext cx="3137" cy="326743"/>
          </a:xfrm>
          <a:prstGeom prst="straightConnector1">
            <a:avLst/>
          </a:prstGeom>
          <a:ln w="57150">
            <a:solidFill>
              <a:srgbClr val="000000">
                <a:alpha val="89804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>
            <a:stCxn id="86" idx="2"/>
            <a:endCxn id="82" idx="0"/>
          </p:cNvCxnSpPr>
          <p:nvPr/>
        </p:nvCxnSpPr>
        <p:spPr>
          <a:xfrm>
            <a:off x="5454652" y="3281506"/>
            <a:ext cx="3137" cy="660422"/>
          </a:xfrm>
          <a:prstGeom prst="straightConnector1">
            <a:avLst/>
          </a:prstGeom>
          <a:ln w="57150">
            <a:solidFill>
              <a:srgbClr val="000000">
                <a:alpha val="89804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文字方塊 106"/>
          <p:cNvSpPr txBox="1"/>
          <p:nvPr/>
        </p:nvSpPr>
        <p:spPr>
          <a:xfrm>
            <a:off x="5350807" y="4575648"/>
            <a:ext cx="21579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※Hypervisor independent</a:t>
            </a:r>
            <a:endParaRPr lang="zh-TW" altLang="en-US" sz="1350" dirty="0"/>
          </a:p>
        </p:txBody>
      </p:sp>
      <p:cxnSp>
        <p:nvCxnSpPr>
          <p:cNvPr id="109" name="肘形接點 108"/>
          <p:cNvCxnSpPr>
            <a:stCxn id="82" idx="1"/>
            <a:endCxn id="107" idx="1"/>
          </p:cNvCxnSpPr>
          <p:nvPr/>
        </p:nvCxnSpPr>
        <p:spPr>
          <a:xfrm rot="10800000" flipH="1" flipV="1">
            <a:off x="5120287" y="4049927"/>
            <a:ext cx="230519" cy="675761"/>
          </a:xfrm>
          <a:prstGeom prst="bentConnector3">
            <a:avLst>
              <a:gd name="adj1" fmla="val -99168"/>
            </a:avLst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6940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Interface Layers Design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Normal GPU Component Stack</a:t>
            </a:r>
          </a:p>
          <a:p>
            <a:endParaRPr lang="zh-TW" altLang="en-US" dirty="0"/>
          </a:p>
        </p:txBody>
      </p:sp>
      <p:sp>
        <p:nvSpPr>
          <p:cNvPr id="19" name="內容版面配置區 1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/>
              <a:t>Split the stack into hardware and software binding </a:t>
            </a:r>
          </a:p>
          <a:p>
            <a:endParaRPr lang="zh-TW" altLang="en-US" dirty="0"/>
          </a:p>
        </p:txBody>
      </p:sp>
      <p:grpSp>
        <p:nvGrpSpPr>
          <p:cNvPr id="18" name="群組 17"/>
          <p:cNvGrpSpPr/>
          <p:nvPr/>
        </p:nvGrpSpPr>
        <p:grpSpPr>
          <a:xfrm>
            <a:off x="1485900" y="1923678"/>
            <a:ext cx="2700000" cy="1188102"/>
            <a:chOff x="1692000" y="2132856"/>
            <a:chExt cx="5760000" cy="1584136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1692000" y="3356992"/>
              <a:ext cx="5760000" cy="3600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GPU Enabled Device</a:t>
              </a: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692000" y="2540901"/>
              <a:ext cx="5760000" cy="360000"/>
            </a:xfrm>
            <a:prstGeom prst="rect">
              <a:avLst/>
            </a:prstGeom>
            <a:solidFill>
              <a:srgbClr val="6666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GPU Driver API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1692000" y="2948946"/>
              <a:ext cx="5760000" cy="360000"/>
            </a:xfrm>
            <a:prstGeom prst="rect">
              <a:avLst/>
            </a:prstGeom>
            <a:solidFill>
              <a:srgbClr val="333333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GPU Driver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692000" y="2132856"/>
              <a:ext cx="5760000" cy="360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>
                  <a:latin typeface="+mn-lt"/>
                </a:rPr>
                <a:t>User Application</a:t>
              </a:r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4614891" y="1923678"/>
            <a:ext cx="2783092" cy="2558765"/>
            <a:chOff x="4629188" y="2564904"/>
            <a:chExt cx="3710789" cy="3411686"/>
          </a:xfrm>
        </p:grpSpPr>
        <p:sp>
          <p:nvSpPr>
            <p:cNvPr id="33" name="圓角矩形 32"/>
            <p:cNvSpPr/>
            <p:nvPr/>
          </p:nvSpPr>
          <p:spPr>
            <a:xfrm>
              <a:off x="4629188" y="4800725"/>
              <a:ext cx="3708000" cy="928032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31" name="圓角矩形 30"/>
            <p:cNvSpPr/>
            <p:nvPr/>
          </p:nvSpPr>
          <p:spPr>
            <a:xfrm>
              <a:off x="4631977" y="3663914"/>
              <a:ext cx="3708000" cy="468000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21" name="Text Box 11"/>
            <p:cNvSpPr txBox="1">
              <a:spLocks noChangeArrowheads="1"/>
            </p:cNvSpPr>
            <p:nvPr/>
          </p:nvSpPr>
          <p:spPr bwMode="auto">
            <a:xfrm>
              <a:off x="4858170" y="5589240"/>
              <a:ext cx="1225998" cy="387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lIns="67500" tIns="33750" rIns="67500" bIns="33750"/>
            <a:lstStyle>
              <a:lvl1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latin typeface="+mn-lt"/>
                </a:rPr>
                <a:t>hard binding</a:t>
              </a:r>
            </a:p>
          </p:txBody>
        </p:sp>
        <p:grpSp>
          <p:nvGrpSpPr>
            <p:cNvPr id="24" name="群組 23"/>
            <p:cNvGrpSpPr/>
            <p:nvPr/>
          </p:nvGrpSpPr>
          <p:grpSpPr>
            <a:xfrm>
              <a:off x="4683188" y="4869160"/>
              <a:ext cx="3600000" cy="774036"/>
              <a:chOff x="1692000" y="5301208"/>
              <a:chExt cx="5760000" cy="774036"/>
            </a:xfrm>
          </p:grpSpPr>
          <p:sp>
            <p:nvSpPr>
              <p:cNvPr id="29" name="Rectangle 4"/>
              <p:cNvSpPr>
                <a:spLocks noChangeArrowheads="1"/>
              </p:cNvSpPr>
              <p:nvPr/>
            </p:nvSpPr>
            <p:spPr bwMode="auto">
              <a:xfrm>
                <a:off x="1692000" y="5715244"/>
                <a:ext cx="5760000" cy="3600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GPU Enabled Device</a:t>
                </a:r>
              </a:p>
            </p:txBody>
          </p:sp>
          <p:sp>
            <p:nvSpPr>
              <p:cNvPr id="30" name="Rectangle 7"/>
              <p:cNvSpPr>
                <a:spLocks noChangeArrowheads="1"/>
              </p:cNvSpPr>
              <p:nvPr/>
            </p:nvSpPr>
            <p:spPr bwMode="auto">
              <a:xfrm>
                <a:off x="1692000" y="5301208"/>
                <a:ext cx="5760000" cy="360000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GPU Driver</a:t>
                </a:r>
              </a:p>
            </p:txBody>
          </p:sp>
        </p:grpSp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4683188" y="2564904"/>
              <a:ext cx="3600000" cy="360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>
                  <a:latin typeface="+mn-lt"/>
                </a:rPr>
                <a:t>User Application</a:t>
              </a:r>
            </a:p>
          </p:txBody>
        </p:sp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>
              <a:off x="6528193" y="4279421"/>
              <a:ext cx="1358304" cy="387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/>
            <a:lstStyle>
              <a:lvl1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latin typeface="+mn-lt"/>
                </a:rPr>
                <a:t>direct communication</a:t>
              </a:r>
            </a:p>
          </p:txBody>
        </p:sp>
        <p:cxnSp>
          <p:nvCxnSpPr>
            <p:cNvPr id="28" name="直線單箭頭接點 27"/>
            <p:cNvCxnSpPr>
              <a:stCxn id="26" idx="2"/>
              <a:endCxn id="30" idx="0"/>
            </p:cNvCxnSpPr>
            <p:nvPr/>
          </p:nvCxnSpPr>
          <p:spPr>
            <a:xfrm>
              <a:off x="6483188" y="4077032"/>
              <a:ext cx="0" cy="792128"/>
            </a:xfrm>
            <a:prstGeom prst="straightConnector1">
              <a:avLst/>
            </a:prstGeom>
            <a:ln w="7620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 Box 12"/>
            <p:cNvSpPr txBox="1">
              <a:spLocks noChangeArrowheads="1"/>
            </p:cNvSpPr>
            <p:nvPr/>
          </p:nvSpPr>
          <p:spPr bwMode="auto">
            <a:xfrm>
              <a:off x="4858170" y="4010398"/>
              <a:ext cx="1225998" cy="387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/>
            <a:lstStyle>
              <a:lvl1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latin typeface="+mn-lt"/>
                </a:rPr>
                <a:t>soft binding</a:t>
              </a:r>
            </a:p>
          </p:txBody>
        </p:sp>
        <p:sp>
          <p:nvSpPr>
            <p:cNvPr id="26" name="Rectangle 5"/>
            <p:cNvSpPr>
              <a:spLocks noChangeArrowheads="1"/>
            </p:cNvSpPr>
            <p:nvPr/>
          </p:nvSpPr>
          <p:spPr bwMode="auto">
            <a:xfrm>
              <a:off x="4683188" y="3717032"/>
              <a:ext cx="3600000" cy="360000"/>
            </a:xfrm>
            <a:prstGeom prst="rect">
              <a:avLst/>
            </a:prstGeom>
            <a:solidFill>
              <a:srgbClr val="666666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GPU Driver API</a:t>
              </a:r>
            </a:p>
          </p:txBody>
        </p:sp>
      </p:grpSp>
      <p:sp>
        <p:nvSpPr>
          <p:cNvPr id="37" name="向右箭號 36"/>
          <p:cNvSpPr/>
          <p:nvPr/>
        </p:nvSpPr>
        <p:spPr>
          <a:xfrm>
            <a:off x="3921585" y="1209649"/>
            <a:ext cx="733806" cy="3634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23" name="直線單箭頭接點 22"/>
          <p:cNvCxnSpPr>
            <a:stCxn id="25" idx="2"/>
            <a:endCxn id="26" idx="0"/>
          </p:cNvCxnSpPr>
          <p:nvPr/>
        </p:nvCxnSpPr>
        <p:spPr>
          <a:xfrm>
            <a:off x="6005391" y="2193678"/>
            <a:ext cx="0" cy="594096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爆炸 2 11"/>
          <p:cNvSpPr/>
          <p:nvPr/>
        </p:nvSpPr>
        <p:spPr>
          <a:xfrm rot="3161591">
            <a:off x="2070107" y="3033142"/>
            <a:ext cx="1615427" cy="1813834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4" name="文字方塊 13"/>
          <p:cNvSpPr txBox="1"/>
          <p:nvPr/>
        </p:nvSpPr>
        <p:spPr>
          <a:xfrm>
            <a:off x="2125083" y="3680024"/>
            <a:ext cx="142163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We can cheat the application!</a:t>
            </a:r>
            <a:endParaRPr lang="zh-TW" altLang="en-US" sz="1350" dirty="0"/>
          </a:p>
        </p:txBody>
      </p:sp>
      <p:cxnSp>
        <p:nvCxnSpPr>
          <p:cNvPr id="16" name="直線單箭頭接點 15"/>
          <p:cNvCxnSpPr>
            <a:stCxn id="32" idx="2"/>
          </p:cNvCxnSpPr>
          <p:nvPr/>
        </p:nvCxnSpPr>
        <p:spPr>
          <a:xfrm flipH="1">
            <a:off x="3544171" y="2483105"/>
            <a:ext cx="2329424" cy="110459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橢圓 31"/>
          <p:cNvSpPr/>
          <p:nvPr/>
        </p:nvSpPr>
        <p:spPr>
          <a:xfrm>
            <a:off x="5873595" y="2114064"/>
            <a:ext cx="270030" cy="738082"/>
          </a:xfrm>
          <a:prstGeom prst="ellipse">
            <a:avLst/>
          </a:prstGeom>
          <a:noFill/>
          <a:ln w="3810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</p:spTree>
    <p:extLst>
      <p:ext uri="{BB962C8B-B14F-4D97-AF65-F5344CB8AC3E}">
        <p14:creationId xmlns:p14="http://schemas.microsoft.com/office/powerpoint/2010/main" val="2013867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Architecture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Re-group the stack into host and remote side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2195737" y="2031690"/>
            <a:ext cx="3763382" cy="2826209"/>
            <a:chOff x="1570760" y="2708920"/>
            <a:chExt cx="6002859" cy="3768278"/>
          </a:xfrm>
        </p:grpSpPr>
        <p:grpSp>
          <p:nvGrpSpPr>
            <p:cNvPr id="55" name="群組 54"/>
            <p:cNvGrpSpPr/>
            <p:nvPr/>
          </p:nvGrpSpPr>
          <p:grpSpPr>
            <a:xfrm>
              <a:off x="1686455" y="2708920"/>
              <a:ext cx="5760000" cy="3676061"/>
              <a:chOff x="1686455" y="2924944"/>
              <a:chExt cx="5760000" cy="3676061"/>
            </a:xfrm>
          </p:grpSpPr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1686455" y="2924944"/>
                <a:ext cx="5760000" cy="360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>
                    <a:latin typeface="+mn-lt"/>
                  </a:rPr>
                  <a:t>User Application</a:t>
                </a:r>
              </a:p>
            </p:txBody>
          </p:sp>
          <p:grpSp>
            <p:nvGrpSpPr>
              <p:cNvPr id="5" name="群組 4"/>
              <p:cNvGrpSpPr/>
              <p:nvPr/>
            </p:nvGrpSpPr>
            <p:grpSpPr>
              <a:xfrm>
                <a:off x="1686455" y="3463454"/>
                <a:ext cx="5760000" cy="773443"/>
                <a:chOff x="1680911" y="3876593"/>
                <a:chExt cx="5760000" cy="773443"/>
              </a:xfrm>
            </p:grpSpPr>
            <p:sp>
              <p:nvSpPr>
                <p:cNvPr id="15" name="Rectangle 5"/>
                <p:cNvSpPr>
                  <a:spLocks noChangeArrowheads="1"/>
                </p:cNvSpPr>
                <p:nvPr/>
              </p:nvSpPr>
              <p:spPr bwMode="auto">
                <a:xfrm>
                  <a:off x="1680911" y="3876593"/>
                  <a:ext cx="5760000" cy="360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67500" tIns="33750" rIns="67500" bIns="33750" anchor="ctr"/>
                <a:lstStyle>
                  <a:lvl1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15367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19939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24511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29083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sz="1350" dirty="0" err="1">
                      <a:solidFill>
                        <a:srgbClr val="FFFFFF"/>
                      </a:solidFill>
                      <a:latin typeface="+mn-lt"/>
                    </a:rPr>
                    <a:t>vGPU</a:t>
                  </a:r>
                  <a:r>
                    <a:rPr lang="en-US" sz="1350" dirty="0">
                      <a:solidFill>
                        <a:srgbClr val="FFFFFF"/>
                      </a:solidFill>
                      <a:latin typeface="+mn-lt"/>
                    </a:rPr>
                    <a:t> Driver API</a:t>
                  </a:r>
                </a:p>
              </p:txBody>
            </p:sp>
            <p:sp>
              <p:nvSpPr>
                <p:cNvPr id="50" name="Rectangle 5"/>
                <p:cNvSpPr>
                  <a:spLocks noChangeArrowheads="1"/>
                </p:cNvSpPr>
                <p:nvPr/>
              </p:nvSpPr>
              <p:spPr bwMode="auto">
                <a:xfrm>
                  <a:off x="1680911" y="4290036"/>
                  <a:ext cx="5760000" cy="360000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67500" tIns="33750" rIns="67500" bIns="33750" anchor="ctr"/>
                <a:lstStyle>
                  <a:lvl1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15367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19939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24511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2908300" indent="-215900" defTabSz="449263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tabLst>
                      <a:tab pos="723900" algn="l"/>
                      <a:tab pos="1447800" algn="l"/>
                      <a:tab pos="2171700" algn="l"/>
                      <a:tab pos="2895600" algn="l"/>
                      <a:tab pos="3619500" algn="l"/>
                      <a:tab pos="4343400" algn="l"/>
                      <a:tab pos="5067300" algn="l"/>
                      <a:tab pos="5791200" algn="l"/>
                    </a:tabLst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sz="1350" dirty="0">
                      <a:solidFill>
                        <a:srgbClr val="FFFFFF"/>
                      </a:solidFill>
                      <a:latin typeface="+mn-lt"/>
                    </a:rPr>
                    <a:t>Front End</a:t>
                  </a:r>
                </a:p>
              </p:txBody>
            </p:sp>
          </p:grpSp>
          <p:sp>
            <p:nvSpPr>
              <p:cNvPr id="11" name="Rectangle 4"/>
              <p:cNvSpPr>
                <a:spLocks noChangeArrowheads="1"/>
              </p:cNvSpPr>
              <p:nvPr/>
            </p:nvSpPr>
            <p:spPr bwMode="auto">
              <a:xfrm>
                <a:off x="1686455" y="6241005"/>
                <a:ext cx="5760000" cy="3600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GPU Enabled Device</a:t>
                </a:r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686455" y="5831391"/>
                <a:ext cx="5760000" cy="36000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GPU Driver</a:t>
                </a:r>
              </a:p>
            </p:txBody>
          </p:sp>
          <p:sp>
            <p:nvSpPr>
              <p:cNvPr id="49" name="Rectangle 5"/>
              <p:cNvSpPr>
                <a:spLocks noChangeArrowheads="1"/>
              </p:cNvSpPr>
              <p:nvPr/>
            </p:nvSpPr>
            <p:spPr bwMode="auto">
              <a:xfrm>
                <a:off x="1686455" y="5421776"/>
                <a:ext cx="5760000" cy="360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GPU Driver API</a:t>
                </a:r>
              </a:p>
            </p:txBody>
          </p:sp>
          <p:sp>
            <p:nvSpPr>
              <p:cNvPr id="52" name="Rectangle 5"/>
              <p:cNvSpPr>
                <a:spLocks noChangeArrowheads="1"/>
              </p:cNvSpPr>
              <p:nvPr/>
            </p:nvSpPr>
            <p:spPr bwMode="auto">
              <a:xfrm>
                <a:off x="1686455" y="5013176"/>
                <a:ext cx="5760000" cy="360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Back End</a:t>
                </a:r>
              </a:p>
            </p:txBody>
          </p:sp>
          <p:cxnSp>
            <p:nvCxnSpPr>
              <p:cNvPr id="8" name="直線單箭頭接點 7"/>
              <p:cNvCxnSpPr>
                <a:stCxn id="50" idx="2"/>
                <a:endCxn id="52" idx="0"/>
              </p:cNvCxnSpPr>
              <p:nvPr/>
            </p:nvCxnSpPr>
            <p:spPr>
              <a:xfrm>
                <a:off x="4566455" y="4236897"/>
                <a:ext cx="0" cy="776279"/>
              </a:xfrm>
              <a:prstGeom prst="straightConnector1">
                <a:avLst/>
              </a:prstGeom>
              <a:ln w="76200">
                <a:solidFill>
                  <a:srgbClr val="000000"/>
                </a:solidFill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Text Box 14"/>
              <p:cNvSpPr txBox="1">
                <a:spLocks noChangeArrowheads="1"/>
              </p:cNvSpPr>
              <p:nvPr/>
            </p:nvSpPr>
            <p:spPr bwMode="auto">
              <a:xfrm>
                <a:off x="4644008" y="4432471"/>
                <a:ext cx="2173287" cy="3873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/>
              <a:lstStyle>
                <a:lvl1pPr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sz="1350" dirty="0">
                    <a:latin typeface="+mn-lt"/>
                  </a:rPr>
                  <a:t>Communicator (network)</a:t>
                </a:r>
              </a:p>
            </p:txBody>
          </p:sp>
        </p:grpSp>
        <p:sp>
          <p:nvSpPr>
            <p:cNvPr id="56" name="圓角矩形 55"/>
            <p:cNvSpPr/>
            <p:nvPr/>
          </p:nvSpPr>
          <p:spPr>
            <a:xfrm>
              <a:off x="1570760" y="3139799"/>
              <a:ext cx="5991390" cy="988358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57" name="圓角矩形 56"/>
            <p:cNvSpPr/>
            <p:nvPr/>
          </p:nvSpPr>
          <p:spPr>
            <a:xfrm>
              <a:off x="1582229" y="4702606"/>
              <a:ext cx="5991390" cy="1774592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</p:grp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5890989" y="4047663"/>
            <a:ext cx="1057275" cy="2905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lIns="67500" tIns="33750" rIns="67500" bIns="33750"/>
          <a:lstStyle>
            <a:lvl1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350" dirty="0">
                <a:latin typeface="+mn-lt"/>
              </a:rPr>
              <a:t>host binding</a:t>
            </a:r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5895921" y="2504296"/>
            <a:ext cx="1160356" cy="4374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lIns="67500" tIns="33750" rIns="67500" bIns="33750"/>
          <a:lstStyle>
            <a:lvl1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350" dirty="0">
                <a:latin typeface="+mn-lt"/>
              </a:rPr>
              <a:t>remote binding</a:t>
            </a:r>
            <a:br>
              <a:rPr lang="en-US" sz="1350" dirty="0">
                <a:latin typeface="+mn-lt"/>
              </a:rPr>
            </a:br>
            <a:r>
              <a:rPr lang="en-US" sz="1350" dirty="0">
                <a:latin typeface="+mn-lt"/>
              </a:rPr>
              <a:t>(guest OS)</a:t>
            </a:r>
          </a:p>
        </p:txBody>
      </p:sp>
    </p:spTree>
    <p:extLst>
      <p:ext uri="{BB962C8B-B14F-4D97-AF65-F5344CB8AC3E}">
        <p14:creationId xmlns:p14="http://schemas.microsoft.com/office/powerpoint/2010/main" val="14163563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Key Component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31640" y="1200151"/>
            <a:ext cx="4544262" cy="3394472"/>
          </a:xfrm>
        </p:spPr>
        <p:txBody>
          <a:bodyPr>
            <a:normAutofit fontScale="62500" lnSpcReduction="20000"/>
          </a:bodyPr>
          <a:lstStyle/>
          <a:p>
            <a:r>
              <a:rPr lang="en-US" altLang="zh-TW" dirty="0" err="1"/>
              <a:t>vGPU</a:t>
            </a:r>
            <a:r>
              <a:rPr lang="en-US" altLang="zh-TW" dirty="0"/>
              <a:t> Driver API</a:t>
            </a:r>
          </a:p>
          <a:p>
            <a:pPr lvl="1"/>
            <a:r>
              <a:rPr lang="en-US" altLang="zh-TW" dirty="0"/>
              <a:t>A fake API as adapter to adapt the instant driver and the virtual driver</a:t>
            </a:r>
          </a:p>
          <a:p>
            <a:pPr lvl="1"/>
            <a:r>
              <a:rPr lang="en-US" altLang="zh-TW" dirty="0"/>
              <a:t>Run on guest OS kernel mode</a:t>
            </a:r>
          </a:p>
          <a:p>
            <a:endParaRPr lang="en-US" altLang="zh-TW" dirty="0"/>
          </a:p>
          <a:p>
            <a:r>
              <a:rPr lang="en-US" altLang="zh-TW" dirty="0"/>
              <a:t>Front End</a:t>
            </a:r>
          </a:p>
          <a:p>
            <a:pPr lvl="1"/>
            <a:r>
              <a:rPr lang="en-US" altLang="zh-TW" dirty="0"/>
              <a:t>API interception </a:t>
            </a:r>
          </a:p>
          <a:p>
            <a:pPr lvl="2"/>
            <a:r>
              <a:rPr lang="en-US" altLang="zh-TW" dirty="0"/>
              <a:t>parameters passed</a:t>
            </a:r>
          </a:p>
          <a:p>
            <a:pPr lvl="2"/>
            <a:r>
              <a:rPr lang="en-US" altLang="zh-TW" dirty="0"/>
              <a:t>order semantics </a:t>
            </a:r>
          </a:p>
          <a:p>
            <a:pPr lvl="1"/>
            <a:r>
              <a:rPr lang="en-US" altLang="zh-TW" dirty="0"/>
              <a:t>Pack the library function invocation </a:t>
            </a:r>
          </a:p>
          <a:p>
            <a:pPr lvl="1"/>
            <a:r>
              <a:rPr lang="en-US" altLang="zh-TW" dirty="0"/>
              <a:t>Send packs to the back end</a:t>
            </a:r>
          </a:p>
          <a:p>
            <a:pPr lvl="1"/>
            <a:r>
              <a:rPr lang="en-US" altLang="zh-TW" dirty="0"/>
              <a:t>Interact with the GPU library (GPU driver ) by terminating the GPU operation</a:t>
            </a:r>
          </a:p>
          <a:p>
            <a:pPr lvl="1"/>
            <a:r>
              <a:rPr lang="en-US" altLang="zh-TW" dirty="0"/>
              <a:t>Provide results to the calling program</a:t>
            </a:r>
          </a:p>
        </p:txBody>
      </p:sp>
      <p:grpSp>
        <p:nvGrpSpPr>
          <p:cNvPr id="12" name="群組 11"/>
          <p:cNvGrpSpPr/>
          <p:nvPr/>
        </p:nvGrpSpPr>
        <p:grpSpPr>
          <a:xfrm>
            <a:off x="5706126" y="1329613"/>
            <a:ext cx="2106234" cy="2946296"/>
            <a:chOff x="1029049" y="2924944"/>
            <a:chExt cx="6417406" cy="3676061"/>
          </a:xfrm>
        </p:grpSpPr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686455" y="2924944"/>
              <a:ext cx="57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>
                  <a:solidFill>
                    <a:schemeClr val="bg1"/>
                  </a:solidFill>
                  <a:latin typeface="+mn-lt"/>
                </a:rPr>
                <a:t>User Application</a:t>
              </a:r>
            </a:p>
          </p:txBody>
        </p:sp>
        <p:grpSp>
          <p:nvGrpSpPr>
            <p:cNvPr id="14" name="群組 13"/>
            <p:cNvGrpSpPr/>
            <p:nvPr/>
          </p:nvGrpSpPr>
          <p:grpSpPr>
            <a:xfrm>
              <a:off x="1686455" y="3463454"/>
              <a:ext cx="5760000" cy="773443"/>
              <a:chOff x="1680911" y="3876593"/>
              <a:chExt cx="5760000" cy="773443"/>
            </a:xfrm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680911" y="3876593"/>
                <a:ext cx="5760000" cy="3600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 err="1">
                    <a:solidFill>
                      <a:srgbClr val="FFFFFF"/>
                    </a:solidFill>
                    <a:latin typeface="+mn-lt"/>
                  </a:rPr>
                  <a:t>vGPU</a:t>
                </a:r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 Driver API</a:t>
                </a:r>
              </a:p>
            </p:txBody>
          </p:sp>
          <p:sp>
            <p:nvSpPr>
              <p:cNvPr id="22" name="Rectangle 5"/>
              <p:cNvSpPr>
                <a:spLocks noChangeArrowheads="1"/>
              </p:cNvSpPr>
              <p:nvPr/>
            </p:nvSpPr>
            <p:spPr bwMode="auto">
              <a:xfrm>
                <a:off x="1680911" y="4290036"/>
                <a:ext cx="5760000" cy="3600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Front End</a:t>
                </a:r>
              </a:p>
            </p:txBody>
          </p:sp>
        </p:grp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1686455" y="6241005"/>
              <a:ext cx="57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Enabled Device</a:t>
              </a:r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1686455" y="5831391"/>
              <a:ext cx="57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</a:t>
              </a:r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1686455" y="5421776"/>
              <a:ext cx="57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 API</a:t>
              </a:r>
            </a:p>
          </p:txBody>
        </p:sp>
        <p:sp>
          <p:nvSpPr>
            <p:cNvPr id="18" name="Rectangle 5"/>
            <p:cNvSpPr>
              <a:spLocks noChangeArrowheads="1"/>
            </p:cNvSpPr>
            <p:nvPr/>
          </p:nvSpPr>
          <p:spPr bwMode="auto">
            <a:xfrm>
              <a:off x="1686455" y="5013176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Back End</a:t>
              </a:r>
            </a:p>
          </p:txBody>
        </p:sp>
        <p:cxnSp>
          <p:nvCxnSpPr>
            <p:cNvPr id="19" name="直線單箭頭接點 18"/>
            <p:cNvCxnSpPr>
              <a:stCxn id="22" idx="2"/>
              <a:endCxn id="18" idx="0"/>
            </p:cNvCxnSpPr>
            <p:nvPr/>
          </p:nvCxnSpPr>
          <p:spPr>
            <a:xfrm>
              <a:off x="4566455" y="4236897"/>
              <a:ext cx="0" cy="776279"/>
            </a:xfrm>
            <a:prstGeom prst="straightConnector1">
              <a:avLst/>
            </a:prstGeom>
            <a:ln w="76200">
              <a:solidFill>
                <a:srgbClr val="000000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 Box 14"/>
            <p:cNvSpPr txBox="1">
              <a:spLocks noChangeArrowheads="1"/>
            </p:cNvSpPr>
            <p:nvPr/>
          </p:nvSpPr>
          <p:spPr bwMode="auto">
            <a:xfrm>
              <a:off x="1029049" y="4432471"/>
              <a:ext cx="4800952" cy="387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/>
            <a:lstStyle>
              <a:lvl1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chemeClr val="accent3">
                      <a:lumMod val="50000"/>
                    </a:schemeClr>
                  </a:solidFill>
                  <a:latin typeface="+mn-lt"/>
                </a:rPr>
                <a:t>communicator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58324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Key Component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85646" y="1113589"/>
            <a:ext cx="4544262" cy="3481034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/>
              <a:t>Communicator</a:t>
            </a:r>
          </a:p>
          <a:p>
            <a:pPr lvl="1"/>
            <a:r>
              <a:rPr lang="en-US" altLang="zh-TW" dirty="0"/>
              <a:t>Provide a high performance communication between VM and host</a:t>
            </a:r>
          </a:p>
          <a:p>
            <a:endParaRPr lang="en-US" altLang="zh-TW" dirty="0"/>
          </a:p>
          <a:p>
            <a:r>
              <a:rPr lang="en-US" altLang="zh-TW" dirty="0"/>
              <a:t>Back End</a:t>
            </a:r>
          </a:p>
          <a:p>
            <a:pPr lvl="1"/>
            <a:r>
              <a:rPr lang="en-US" altLang="zh-TW" dirty="0"/>
              <a:t>Deal with the hardware using the GPU driver</a:t>
            </a:r>
          </a:p>
          <a:p>
            <a:pPr lvl="1"/>
            <a:r>
              <a:rPr lang="en-US" altLang="zh-TW" dirty="0"/>
              <a:t>Unpack the library function invocation</a:t>
            </a:r>
          </a:p>
          <a:p>
            <a:pPr lvl="1"/>
            <a:r>
              <a:rPr lang="en-US" altLang="zh-TW" dirty="0"/>
              <a:t>Map memory pointers</a:t>
            </a:r>
          </a:p>
          <a:p>
            <a:pPr lvl="1"/>
            <a:r>
              <a:rPr lang="en-US" altLang="zh-TW" dirty="0"/>
              <a:t>Execute the GPU operations</a:t>
            </a:r>
          </a:p>
          <a:p>
            <a:pPr lvl="1"/>
            <a:r>
              <a:rPr lang="en-US" altLang="zh-TW" dirty="0"/>
              <a:t>Retrieve the results</a:t>
            </a:r>
          </a:p>
          <a:p>
            <a:pPr lvl="1"/>
            <a:r>
              <a:rPr lang="en-US" altLang="zh-TW" dirty="0"/>
              <a:t>Send results to the front end using the communicator</a:t>
            </a:r>
          </a:p>
        </p:txBody>
      </p:sp>
      <p:grpSp>
        <p:nvGrpSpPr>
          <p:cNvPr id="11" name="群組 10"/>
          <p:cNvGrpSpPr/>
          <p:nvPr/>
        </p:nvGrpSpPr>
        <p:grpSpPr>
          <a:xfrm>
            <a:off x="5706126" y="1518863"/>
            <a:ext cx="2052488" cy="2757046"/>
            <a:chOff x="606617" y="2924944"/>
            <a:chExt cx="6839838" cy="3676061"/>
          </a:xfrm>
        </p:grpSpPr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1686455" y="2924944"/>
              <a:ext cx="57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>
                  <a:solidFill>
                    <a:schemeClr val="bg1"/>
                  </a:solidFill>
                  <a:latin typeface="+mn-lt"/>
                </a:rPr>
                <a:t>User Application</a:t>
              </a:r>
            </a:p>
          </p:txBody>
        </p:sp>
        <p:grpSp>
          <p:nvGrpSpPr>
            <p:cNvPr id="13" name="群組 12"/>
            <p:cNvGrpSpPr/>
            <p:nvPr/>
          </p:nvGrpSpPr>
          <p:grpSpPr>
            <a:xfrm>
              <a:off x="1686455" y="3463454"/>
              <a:ext cx="5760000" cy="773443"/>
              <a:chOff x="1680911" y="3876593"/>
              <a:chExt cx="5760000" cy="773443"/>
            </a:xfrm>
          </p:grpSpPr>
          <p:sp>
            <p:nvSpPr>
              <p:cNvPr id="20" name="Rectangle 5"/>
              <p:cNvSpPr>
                <a:spLocks noChangeArrowheads="1"/>
              </p:cNvSpPr>
              <p:nvPr/>
            </p:nvSpPr>
            <p:spPr bwMode="auto">
              <a:xfrm>
                <a:off x="1680911" y="3876593"/>
                <a:ext cx="5760000" cy="3600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 err="1">
                    <a:solidFill>
                      <a:srgbClr val="FFFFFF"/>
                    </a:solidFill>
                    <a:latin typeface="+mn-lt"/>
                  </a:rPr>
                  <a:t>vGPU</a:t>
                </a:r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 Driver API</a:t>
                </a:r>
              </a:p>
            </p:txBody>
          </p:sp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680911" y="4290036"/>
                <a:ext cx="5760000" cy="3600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Front End</a:t>
                </a:r>
              </a:p>
            </p:txBody>
          </p:sp>
        </p:grp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1686455" y="6241005"/>
              <a:ext cx="57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Enabled Device</a:t>
              </a:r>
            </a:p>
          </p:txBody>
        </p:sp>
        <p:sp>
          <p:nvSpPr>
            <p:cNvPr id="15" name="Rectangle 7"/>
            <p:cNvSpPr>
              <a:spLocks noChangeArrowheads="1"/>
            </p:cNvSpPr>
            <p:nvPr/>
          </p:nvSpPr>
          <p:spPr bwMode="auto">
            <a:xfrm>
              <a:off x="1686455" y="5831391"/>
              <a:ext cx="57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</a:t>
              </a:r>
            </a:p>
          </p:txBody>
        </p:sp>
        <p:sp>
          <p:nvSpPr>
            <p:cNvPr id="16" name="Rectangle 5"/>
            <p:cNvSpPr>
              <a:spLocks noChangeArrowheads="1"/>
            </p:cNvSpPr>
            <p:nvPr/>
          </p:nvSpPr>
          <p:spPr bwMode="auto">
            <a:xfrm>
              <a:off x="1686455" y="5421776"/>
              <a:ext cx="57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 API</a:t>
              </a:r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1686455" y="5013176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Back End</a:t>
              </a:r>
            </a:p>
          </p:txBody>
        </p:sp>
        <p:cxnSp>
          <p:nvCxnSpPr>
            <p:cNvPr id="18" name="直線單箭頭接點 17"/>
            <p:cNvCxnSpPr>
              <a:stCxn id="21" idx="2"/>
              <a:endCxn id="17" idx="0"/>
            </p:cNvCxnSpPr>
            <p:nvPr/>
          </p:nvCxnSpPr>
          <p:spPr>
            <a:xfrm>
              <a:off x="4566455" y="4236897"/>
              <a:ext cx="0" cy="776279"/>
            </a:xfrm>
            <a:prstGeom prst="straightConnector1">
              <a:avLst/>
            </a:prstGeom>
            <a:ln w="76200">
              <a:solidFill>
                <a:srgbClr val="000000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606617" y="4432471"/>
              <a:ext cx="6210677" cy="387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/>
            <a:lstStyle>
              <a:lvl1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chemeClr val="accent3">
                      <a:lumMod val="50000"/>
                    </a:schemeClr>
                  </a:solidFill>
                  <a:latin typeface="+mn-lt"/>
                </a:rPr>
                <a:t>communicator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70992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Communicator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005577"/>
            <a:ext cx="6172200" cy="3394472"/>
          </a:xfrm>
        </p:spPr>
        <p:txBody>
          <a:bodyPr>
            <a:normAutofit/>
          </a:bodyPr>
          <a:lstStyle/>
          <a:p>
            <a:r>
              <a:rPr lang="en-US" altLang="zh-TW" sz="1800" dirty="0"/>
              <a:t>The choice of the hypervisor deeply affects the efficiency of the communication</a:t>
            </a:r>
          </a:p>
          <a:p>
            <a:r>
              <a:rPr lang="en-US" altLang="zh-TW" sz="1800" dirty="0"/>
              <a:t>Communication may be a bottleneck</a:t>
            </a:r>
            <a:endParaRPr lang="zh-TW" altLang="en-US" sz="18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01670" y="2031690"/>
          <a:ext cx="5940660" cy="3010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4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5027">
                <a:tc>
                  <a:txBody>
                    <a:bodyPr/>
                    <a:lstStyle/>
                    <a:p>
                      <a:r>
                        <a:rPr lang="en-US" altLang="zh-TW" sz="900" dirty="0"/>
                        <a:t>Platform</a:t>
                      </a:r>
                      <a:endParaRPr lang="zh-TW" altLang="en-US" sz="9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TW" sz="900" dirty="0"/>
                        <a:t>Communicator</a:t>
                      </a:r>
                      <a:endParaRPr lang="zh-TW" altLang="en-US" sz="900" dirty="0"/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900" dirty="0"/>
                        <a:t>Note</a:t>
                      </a:r>
                      <a:endParaRPr lang="zh-TW" altLang="en-US" sz="9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940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Generic</a:t>
                      </a:r>
                      <a:endParaRPr lang="zh-TW" alt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Unix Sockets,</a:t>
                      </a:r>
                      <a:r>
                        <a:rPr lang="en-US" altLang="zh-TW" sz="1100" baseline="0" dirty="0"/>
                        <a:t> </a:t>
                      </a:r>
                      <a:r>
                        <a:rPr lang="en-US" altLang="zh-TW" sz="1100" dirty="0"/>
                        <a:t>TCP/IP, RPC</a:t>
                      </a:r>
                      <a:endParaRPr lang="zh-TW" altLang="en-US" sz="1100" dirty="0"/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100" dirty="0"/>
                        <a:t>Hypervisor independent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lang="en-US" altLang="zh-TW" sz="1100" dirty="0" err="1"/>
                        <a:t>Xen</a:t>
                      </a:r>
                      <a:endParaRPr lang="zh-TW" alt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 err="1"/>
                        <a:t>XenLoop</a:t>
                      </a:r>
                      <a:endParaRPr lang="zh-TW" altLang="en-US" sz="1100" dirty="0"/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100" dirty="0"/>
                        <a:t>Provide a communication library between guest and host machines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100" dirty="0"/>
                        <a:t>Implement low latency and wide bandwidth TCP/IP and UDP connections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100" dirty="0"/>
                        <a:t>Application transparent and offers an automatic discovery of the supported VMS</a:t>
                      </a:r>
                      <a:endParaRPr lang="zh-TW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1766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VMware</a:t>
                      </a:r>
                      <a:endParaRPr lang="zh-TW" alt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VM</a:t>
                      </a:r>
                      <a:r>
                        <a:rPr lang="en-US" altLang="zh-TW" sz="1100" baseline="0" dirty="0"/>
                        <a:t> </a:t>
                      </a:r>
                      <a:r>
                        <a:rPr lang="en-US" altLang="zh-TW" sz="900" dirty="0"/>
                        <a:t>Communication Interface</a:t>
                      </a:r>
                      <a:endParaRPr lang="en-US" altLang="zh-TW" sz="1100" dirty="0"/>
                    </a:p>
                    <a:p>
                      <a:r>
                        <a:rPr lang="en-US" altLang="zh-TW" sz="1100" dirty="0"/>
                        <a:t>(VMCI)</a:t>
                      </a:r>
                      <a:endParaRPr lang="zh-TW" altLang="en-US" sz="1100" dirty="0"/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100" dirty="0"/>
                        <a:t>Provide a datagram API to exchange small messages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100" dirty="0"/>
                        <a:t>A shared memory API to share data, an access control API to control which resources a virtual machine can access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100" dirty="0"/>
                        <a:t>A discovery service for publishing and retrieving resources.</a:t>
                      </a:r>
                      <a:endParaRPr lang="zh-TW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055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KVM/QEMU</a:t>
                      </a:r>
                      <a:endParaRPr lang="zh-TW" alt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 err="1"/>
                        <a:t>VMchannel</a:t>
                      </a:r>
                      <a:endParaRPr lang="zh-TW" altLang="en-US" sz="1100" dirty="0"/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100" dirty="0"/>
                        <a:t>Linux kernel module now embedded as a standard component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100" dirty="0"/>
                        <a:t>Provide a high performance guest/host communication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100" dirty="0"/>
                        <a:t>Based on a shared memory approach.</a:t>
                      </a:r>
                      <a:endParaRPr lang="zh-TW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5454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Lazy Communication 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Reduce the overhead of switching between host OS and guest OS</a:t>
            </a:r>
          </a:p>
          <a:p>
            <a:endParaRPr lang="zh-TW" altLang="en-US" dirty="0"/>
          </a:p>
        </p:txBody>
      </p:sp>
      <p:grpSp>
        <p:nvGrpSpPr>
          <p:cNvPr id="83" name="群組 82"/>
          <p:cNvGrpSpPr/>
          <p:nvPr/>
        </p:nvGrpSpPr>
        <p:grpSpPr>
          <a:xfrm>
            <a:off x="1866166" y="2409732"/>
            <a:ext cx="5411669" cy="2274325"/>
            <a:chOff x="457200" y="3487761"/>
            <a:chExt cx="7215559" cy="3032433"/>
          </a:xfrm>
        </p:grpSpPr>
        <p:sp>
          <p:nvSpPr>
            <p:cNvPr id="35" name="Text Box 33"/>
            <p:cNvSpPr txBox="1">
              <a:spLocks noChangeArrowheads="1"/>
            </p:cNvSpPr>
            <p:nvPr/>
          </p:nvSpPr>
          <p:spPr bwMode="auto">
            <a:xfrm>
              <a:off x="3179055" y="4577062"/>
              <a:ext cx="1439863" cy="325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67500" tIns="33750" rIns="67500" bIns="33750"/>
            <a:lstStyle>
              <a:lvl1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900" b="1" dirty="0"/>
                <a:t>Instant API call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457200" y="5377035"/>
              <a:ext cx="1671638" cy="288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/>
            <a:lstStyle>
              <a:lvl1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900" b="1" dirty="0" err="1"/>
                <a:t>NonInstant</a:t>
              </a:r>
              <a:r>
                <a:rPr lang="en-US" sz="900" b="1" dirty="0"/>
                <a:t> API call</a:t>
              </a:r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1131980" y="6231269"/>
              <a:ext cx="1743894" cy="288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/>
            <a:lstStyle>
              <a:lvl1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900" b="1" dirty="0" err="1"/>
                <a:t>NonInstant</a:t>
              </a:r>
              <a:r>
                <a:rPr lang="en-US" sz="900" b="1" dirty="0"/>
                <a:t> API Buffer</a:t>
              </a:r>
            </a:p>
          </p:txBody>
        </p:sp>
        <p:grpSp>
          <p:nvGrpSpPr>
            <p:cNvPr id="78" name="群組 77"/>
            <p:cNvGrpSpPr/>
            <p:nvPr/>
          </p:nvGrpSpPr>
          <p:grpSpPr>
            <a:xfrm>
              <a:off x="851626" y="3487761"/>
              <a:ext cx="2304602" cy="780952"/>
              <a:chOff x="874453" y="3245650"/>
              <a:chExt cx="2304602" cy="780952"/>
            </a:xfrm>
          </p:grpSpPr>
          <p:sp>
            <p:nvSpPr>
              <p:cNvPr id="43" name="Rectangle 8"/>
              <p:cNvSpPr>
                <a:spLocks noChangeArrowheads="1"/>
              </p:cNvSpPr>
              <p:nvPr/>
            </p:nvSpPr>
            <p:spPr bwMode="auto">
              <a:xfrm>
                <a:off x="874453" y="3245650"/>
                <a:ext cx="2304602" cy="360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>
                    <a:solidFill>
                      <a:schemeClr val="bg1"/>
                    </a:solidFill>
                    <a:latin typeface="+mn-lt"/>
                  </a:rPr>
                  <a:t>User Application</a:t>
                </a:r>
              </a:p>
            </p:txBody>
          </p:sp>
          <p:sp>
            <p:nvSpPr>
              <p:cNvPr id="51" name="Rectangle 5"/>
              <p:cNvSpPr>
                <a:spLocks noChangeArrowheads="1"/>
              </p:cNvSpPr>
              <p:nvPr/>
            </p:nvSpPr>
            <p:spPr bwMode="auto">
              <a:xfrm>
                <a:off x="874453" y="3666602"/>
                <a:ext cx="2304602" cy="3600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 err="1">
                    <a:solidFill>
                      <a:srgbClr val="FFFFFF"/>
                    </a:solidFill>
                    <a:latin typeface="+mn-lt"/>
                  </a:rPr>
                  <a:t>vGPU</a:t>
                </a:r>
                <a:r>
                  <a:rPr lang="en-US" sz="1350" dirty="0">
                    <a:solidFill>
                      <a:srgbClr val="FFFFFF"/>
                    </a:solidFill>
                    <a:latin typeface="+mn-lt"/>
                  </a:rPr>
                  <a:t> Driver API</a:t>
                </a:r>
              </a:p>
            </p:txBody>
          </p:sp>
        </p:grpSp>
        <p:sp>
          <p:nvSpPr>
            <p:cNvPr id="52" name="Rectangle 5"/>
            <p:cNvSpPr>
              <a:spLocks noChangeArrowheads="1"/>
            </p:cNvSpPr>
            <p:nvPr/>
          </p:nvSpPr>
          <p:spPr bwMode="auto">
            <a:xfrm>
              <a:off x="851626" y="4516627"/>
              <a:ext cx="2304602" cy="64056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t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Front End</a:t>
              </a:r>
              <a:br>
                <a:rPr lang="en-US" sz="1350" dirty="0">
                  <a:solidFill>
                    <a:srgbClr val="FFFFFF"/>
                  </a:solidFill>
                  <a:latin typeface="+mn-lt"/>
                </a:rPr>
              </a:br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(API interception)</a:t>
              </a:r>
            </a:p>
          </p:txBody>
        </p:sp>
        <p:grpSp>
          <p:nvGrpSpPr>
            <p:cNvPr id="82" name="群組 81"/>
            <p:cNvGrpSpPr/>
            <p:nvPr/>
          </p:nvGrpSpPr>
          <p:grpSpPr>
            <a:xfrm>
              <a:off x="5368157" y="5083156"/>
              <a:ext cx="2304602" cy="1203148"/>
              <a:chOff x="-1976331" y="634506"/>
              <a:chExt cx="2304602" cy="1203148"/>
            </a:xfrm>
          </p:grpSpPr>
          <p:sp>
            <p:nvSpPr>
              <p:cNvPr id="45" name="Rectangle 4"/>
              <p:cNvSpPr>
                <a:spLocks noChangeArrowheads="1"/>
              </p:cNvSpPr>
              <p:nvPr/>
            </p:nvSpPr>
            <p:spPr bwMode="auto">
              <a:xfrm>
                <a:off x="-1976331" y="1477654"/>
                <a:ext cx="2304602" cy="360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chemeClr val="bg1"/>
                    </a:solidFill>
                    <a:latin typeface="+mn-lt"/>
                  </a:rPr>
                  <a:t>GPU Enabled Device</a:t>
                </a:r>
              </a:p>
            </p:txBody>
          </p:sp>
          <p:sp>
            <p:nvSpPr>
              <p:cNvPr id="46" name="Rectangle 7"/>
              <p:cNvSpPr>
                <a:spLocks noChangeArrowheads="1"/>
              </p:cNvSpPr>
              <p:nvPr/>
            </p:nvSpPr>
            <p:spPr bwMode="auto">
              <a:xfrm>
                <a:off x="-1976331" y="1056080"/>
                <a:ext cx="2304602" cy="360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chemeClr val="bg1"/>
                    </a:solidFill>
                    <a:latin typeface="+mn-lt"/>
                  </a:rPr>
                  <a:t>GPU Driver</a:t>
                </a:r>
              </a:p>
            </p:txBody>
          </p:sp>
          <p:sp>
            <p:nvSpPr>
              <p:cNvPr id="47" name="Rectangle 5"/>
              <p:cNvSpPr>
                <a:spLocks noChangeArrowheads="1"/>
              </p:cNvSpPr>
              <p:nvPr/>
            </p:nvSpPr>
            <p:spPr bwMode="auto">
              <a:xfrm>
                <a:off x="-1976331" y="634506"/>
                <a:ext cx="2304602" cy="360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67500" tIns="33750" rIns="67500" bIns="33750" anchor="ctr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15367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19939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24511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2908300" indent="-215900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  <a:tab pos="4343400" algn="l"/>
                    <a:tab pos="5067300" algn="l"/>
                    <a:tab pos="57912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sz="1350" dirty="0">
                    <a:solidFill>
                      <a:schemeClr val="bg1"/>
                    </a:solidFill>
                    <a:latin typeface="+mn-lt"/>
                  </a:rPr>
                  <a:t>GPU Driver API</a:t>
                </a:r>
              </a:p>
            </p:txBody>
          </p:sp>
        </p:grpSp>
        <p:sp>
          <p:nvSpPr>
            <p:cNvPr id="48" name="Rectangle 5"/>
            <p:cNvSpPr>
              <a:spLocks noChangeArrowheads="1"/>
            </p:cNvSpPr>
            <p:nvPr/>
          </p:nvSpPr>
          <p:spPr bwMode="auto">
            <a:xfrm>
              <a:off x="5363742" y="4656910"/>
              <a:ext cx="2304602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Back End</a:t>
              </a:r>
            </a:p>
          </p:txBody>
        </p:sp>
        <p:sp>
          <p:nvSpPr>
            <p:cNvPr id="50" name="Text Box 14"/>
            <p:cNvSpPr txBox="1">
              <a:spLocks noChangeArrowheads="1"/>
            </p:cNvSpPr>
            <p:nvPr/>
          </p:nvSpPr>
          <p:spPr bwMode="auto">
            <a:xfrm>
              <a:off x="3721534" y="4787578"/>
              <a:ext cx="1474353" cy="387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/>
            <a:lstStyle>
              <a:lvl1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chemeClr val="accent3">
                      <a:lumMod val="50000"/>
                    </a:schemeClr>
                  </a:solidFill>
                  <a:latin typeface="+mn-lt"/>
                </a:rPr>
                <a:t>communication</a:t>
              </a:r>
            </a:p>
          </p:txBody>
        </p:sp>
        <p:grpSp>
          <p:nvGrpSpPr>
            <p:cNvPr id="62" name="Group 13"/>
            <p:cNvGrpSpPr>
              <a:grpSpLocks/>
            </p:cNvGrpSpPr>
            <p:nvPr/>
          </p:nvGrpSpPr>
          <p:grpSpPr bwMode="auto">
            <a:xfrm>
              <a:off x="851626" y="5846142"/>
              <a:ext cx="2304602" cy="358775"/>
              <a:chOff x="3583" y="2676"/>
              <a:chExt cx="1586" cy="226"/>
            </a:xfrm>
          </p:grpSpPr>
          <p:sp>
            <p:nvSpPr>
              <p:cNvPr id="63" name="Rectangle 14"/>
              <p:cNvSpPr>
                <a:spLocks noChangeArrowheads="1"/>
              </p:cNvSpPr>
              <p:nvPr/>
            </p:nvSpPr>
            <p:spPr bwMode="auto">
              <a:xfrm>
                <a:off x="3583" y="2676"/>
                <a:ext cx="227" cy="22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 sz="1350"/>
              </a:p>
            </p:txBody>
          </p:sp>
          <p:sp>
            <p:nvSpPr>
              <p:cNvPr id="64" name="Rectangle 15"/>
              <p:cNvSpPr>
                <a:spLocks noChangeArrowheads="1"/>
              </p:cNvSpPr>
              <p:nvPr/>
            </p:nvSpPr>
            <p:spPr bwMode="auto">
              <a:xfrm>
                <a:off x="3810" y="2676"/>
                <a:ext cx="227" cy="22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 sz="1350"/>
              </a:p>
            </p:txBody>
          </p:sp>
          <p:sp>
            <p:nvSpPr>
              <p:cNvPr id="65" name="Rectangle 16"/>
              <p:cNvSpPr>
                <a:spLocks noChangeArrowheads="1"/>
              </p:cNvSpPr>
              <p:nvPr/>
            </p:nvSpPr>
            <p:spPr bwMode="auto">
              <a:xfrm>
                <a:off x="4037" y="2676"/>
                <a:ext cx="227" cy="22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 sz="1350"/>
              </a:p>
            </p:txBody>
          </p:sp>
          <p:sp>
            <p:nvSpPr>
              <p:cNvPr id="66" name="Rectangle 17"/>
              <p:cNvSpPr>
                <a:spLocks noChangeArrowheads="1"/>
              </p:cNvSpPr>
              <p:nvPr/>
            </p:nvSpPr>
            <p:spPr bwMode="auto">
              <a:xfrm>
                <a:off x="4263" y="2676"/>
                <a:ext cx="227" cy="22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 sz="1350"/>
              </a:p>
            </p:txBody>
          </p:sp>
          <p:sp>
            <p:nvSpPr>
              <p:cNvPr id="67" name="Rectangle 18"/>
              <p:cNvSpPr>
                <a:spLocks noChangeArrowheads="1"/>
              </p:cNvSpPr>
              <p:nvPr/>
            </p:nvSpPr>
            <p:spPr bwMode="auto">
              <a:xfrm>
                <a:off x="4490" y="2676"/>
                <a:ext cx="227" cy="22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 sz="1350"/>
              </a:p>
            </p:txBody>
          </p:sp>
          <p:sp>
            <p:nvSpPr>
              <p:cNvPr id="68" name="Rectangle 19"/>
              <p:cNvSpPr>
                <a:spLocks noChangeArrowheads="1"/>
              </p:cNvSpPr>
              <p:nvPr/>
            </p:nvSpPr>
            <p:spPr bwMode="auto">
              <a:xfrm>
                <a:off x="4717" y="2676"/>
                <a:ext cx="227" cy="22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 sz="1350"/>
              </a:p>
            </p:txBody>
          </p:sp>
          <p:sp>
            <p:nvSpPr>
              <p:cNvPr id="69" name="Rectangle 20"/>
              <p:cNvSpPr>
                <a:spLocks noChangeArrowheads="1"/>
              </p:cNvSpPr>
              <p:nvPr/>
            </p:nvSpPr>
            <p:spPr bwMode="auto">
              <a:xfrm>
                <a:off x="4944" y="2676"/>
                <a:ext cx="227" cy="22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 sz="1350"/>
              </a:p>
            </p:txBody>
          </p:sp>
        </p:grpSp>
        <p:cxnSp>
          <p:nvCxnSpPr>
            <p:cNvPr id="71" name="直線單箭頭接點 70"/>
            <p:cNvCxnSpPr>
              <a:stCxn id="52" idx="2"/>
              <a:endCxn id="66" idx="0"/>
            </p:cNvCxnSpPr>
            <p:nvPr/>
          </p:nvCxnSpPr>
          <p:spPr>
            <a:xfrm>
              <a:off x="2003927" y="5157193"/>
              <a:ext cx="727" cy="6889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>
              <a:stCxn id="52" idx="3"/>
              <a:endCxn id="48" idx="1"/>
            </p:cNvCxnSpPr>
            <p:nvPr/>
          </p:nvCxnSpPr>
          <p:spPr>
            <a:xfrm>
              <a:off x="3156228" y="4836910"/>
              <a:ext cx="220751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肘形接點 76"/>
            <p:cNvCxnSpPr>
              <a:stCxn id="69" idx="3"/>
              <a:endCxn id="48" idx="1"/>
            </p:cNvCxnSpPr>
            <p:nvPr/>
          </p:nvCxnSpPr>
          <p:spPr>
            <a:xfrm flipV="1">
              <a:off x="3159135" y="4836910"/>
              <a:ext cx="2204607" cy="1189414"/>
            </a:xfrm>
            <a:prstGeom prst="bentConnector3">
              <a:avLst>
                <a:gd name="adj1" fmla="val 1543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單箭頭接點 79"/>
            <p:cNvCxnSpPr>
              <a:stCxn id="51" idx="2"/>
              <a:endCxn id="52" idx="0"/>
            </p:cNvCxnSpPr>
            <p:nvPr/>
          </p:nvCxnSpPr>
          <p:spPr>
            <a:xfrm>
              <a:off x="2003927" y="4268713"/>
              <a:ext cx="0" cy="24791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文字方塊 85"/>
          <p:cNvSpPr txBox="1"/>
          <p:nvPr/>
        </p:nvSpPr>
        <p:spPr>
          <a:xfrm>
            <a:off x="4447505" y="1749899"/>
            <a:ext cx="3148832" cy="1592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TW" sz="1500" dirty="0">
                <a:solidFill>
                  <a:schemeClr val="accent1">
                    <a:lumMod val="50000"/>
                  </a:schemeClr>
                </a:solidFill>
              </a:rPr>
              <a:t>Instant API:</a:t>
            </a:r>
            <a:r>
              <a:rPr lang="en-US" altLang="zh-TW" sz="1350" dirty="0"/>
              <a:t> whose executions have immediate effects on the state of GPU hardware, ex: GPU memory allocation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TW" sz="1500" dirty="0">
                <a:solidFill>
                  <a:schemeClr val="accent1">
                    <a:lumMod val="50000"/>
                  </a:schemeClr>
                </a:solidFill>
              </a:rPr>
              <a:t>Non-instant API:</a:t>
            </a:r>
            <a:r>
              <a:rPr lang="en-US" altLang="zh-TW" sz="1350" dirty="0"/>
              <a:t> which are side-effect free on the runtime state, ex: setup GPU arguments</a:t>
            </a:r>
          </a:p>
        </p:txBody>
      </p:sp>
    </p:spTree>
    <p:extLst>
      <p:ext uri="{BB962C8B-B14F-4D97-AF65-F5344CB8AC3E}">
        <p14:creationId xmlns:p14="http://schemas.microsoft.com/office/powerpoint/2010/main" val="6651941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Walkthrough</a:t>
            </a:r>
            <a:endParaRPr lang="zh-TW" altLang="en-US" dirty="0"/>
          </a:p>
        </p:txBody>
      </p:sp>
      <p:sp>
        <p:nvSpPr>
          <p:cNvPr id="118" name="上-下雙向箭號 117"/>
          <p:cNvSpPr/>
          <p:nvPr/>
        </p:nvSpPr>
        <p:spPr>
          <a:xfrm>
            <a:off x="2484469" y="3270860"/>
            <a:ext cx="363474" cy="562862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7" name="上-下雙向箭號 116"/>
          <p:cNvSpPr/>
          <p:nvPr/>
        </p:nvSpPr>
        <p:spPr>
          <a:xfrm>
            <a:off x="4788024" y="2207689"/>
            <a:ext cx="363474" cy="1633613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507312" y="1597259"/>
            <a:ext cx="1728452" cy="27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350" dirty="0">
                <a:solidFill>
                  <a:schemeClr val="bg1"/>
                </a:solidFill>
                <a:latin typeface="+mn-lt"/>
              </a:rPr>
              <a:t>User Application</a:t>
            </a:r>
          </a:p>
        </p:txBody>
      </p:sp>
      <p:grpSp>
        <p:nvGrpSpPr>
          <p:cNvPr id="7" name="群組 6"/>
          <p:cNvGrpSpPr/>
          <p:nvPr/>
        </p:nvGrpSpPr>
        <p:grpSpPr>
          <a:xfrm>
            <a:off x="1485900" y="2670868"/>
            <a:ext cx="1728452" cy="580082"/>
            <a:chOff x="1680911" y="3876593"/>
            <a:chExt cx="5760000" cy="773443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1680911" y="3876593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 err="1">
                  <a:solidFill>
                    <a:srgbClr val="FFFFFF"/>
                  </a:solidFill>
                  <a:latin typeface="+mn-lt"/>
                </a:rPr>
                <a:t>vGPU</a:t>
              </a:r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 Driver API</a:t>
              </a: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680911" y="4290036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Front End</a:t>
              </a: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598114" y="2673865"/>
            <a:ext cx="2059986" cy="884422"/>
            <a:chOff x="6516216" y="4521982"/>
            <a:chExt cx="2304602" cy="1179229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516216" y="5341211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Enabled Device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6516216" y="4931597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6516216" y="4521982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 API</a:t>
              </a:r>
            </a:p>
          </p:txBody>
        </p:sp>
      </p:grp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4734018" y="1631335"/>
            <a:ext cx="2924082" cy="5660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t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rgbClr val="FFFFFF"/>
                </a:solidFill>
                <a:latin typeface="+mn-lt"/>
              </a:rPr>
              <a:t>Back End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2411760" y="3856164"/>
            <a:ext cx="3132348" cy="5517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67500" tIns="33750" rIns="67500" bIns="3375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chemeClr val="accent3">
                    <a:lumMod val="50000"/>
                  </a:schemeClr>
                </a:solidFill>
                <a:latin typeface="+mn-lt"/>
              </a:rPr>
              <a:t>communicator</a:t>
            </a:r>
          </a:p>
        </p:txBody>
      </p:sp>
      <p:cxnSp>
        <p:nvCxnSpPr>
          <p:cNvPr id="40" name="直線單箭頭接點 39"/>
          <p:cNvCxnSpPr/>
          <p:nvPr/>
        </p:nvCxnSpPr>
        <p:spPr>
          <a:xfrm>
            <a:off x="2847943" y="1707730"/>
            <a:ext cx="0" cy="1208594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上-下雙向箭號 115"/>
          <p:cNvSpPr/>
          <p:nvPr/>
        </p:nvSpPr>
        <p:spPr>
          <a:xfrm>
            <a:off x="6716400" y="2207689"/>
            <a:ext cx="363474" cy="463178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9" name="上-下雙向箭號 118"/>
          <p:cNvSpPr/>
          <p:nvPr/>
        </p:nvSpPr>
        <p:spPr>
          <a:xfrm>
            <a:off x="2126165" y="1867260"/>
            <a:ext cx="363474" cy="798514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1" name="文字方塊 120"/>
          <p:cNvSpPr txBox="1"/>
          <p:nvPr/>
        </p:nvSpPr>
        <p:spPr>
          <a:xfrm>
            <a:off x="2047255" y="1248621"/>
            <a:ext cx="6078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guest</a:t>
            </a:r>
            <a:endParaRPr lang="zh-TW" altLang="en-US" sz="1350" dirty="0"/>
          </a:p>
        </p:txBody>
      </p:sp>
      <p:sp>
        <p:nvSpPr>
          <p:cNvPr id="122" name="文字方塊 121"/>
          <p:cNvSpPr txBox="1"/>
          <p:nvPr/>
        </p:nvSpPr>
        <p:spPr>
          <a:xfrm>
            <a:off x="5957118" y="1248621"/>
            <a:ext cx="5116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host</a:t>
            </a:r>
            <a:endParaRPr lang="zh-TW" altLang="en-US" sz="1350" dirty="0"/>
          </a:p>
        </p:txBody>
      </p:sp>
      <p:sp>
        <p:nvSpPr>
          <p:cNvPr id="5" name="文字方塊 4"/>
          <p:cNvSpPr txBox="1"/>
          <p:nvPr/>
        </p:nvSpPr>
        <p:spPr>
          <a:xfrm>
            <a:off x="2779684" y="541922"/>
            <a:ext cx="1861022" cy="113107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A fake API as adapter to adapt the instant driver and the virtual driver</a:t>
            </a:r>
            <a:endParaRPr lang="zh-TW" altLang="en-US" sz="135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8113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Walkthrough</a:t>
            </a:r>
            <a:endParaRPr lang="zh-TW" altLang="en-US" dirty="0"/>
          </a:p>
        </p:txBody>
      </p:sp>
      <p:sp>
        <p:nvSpPr>
          <p:cNvPr id="118" name="上-下雙向箭號 117"/>
          <p:cNvSpPr/>
          <p:nvPr/>
        </p:nvSpPr>
        <p:spPr>
          <a:xfrm>
            <a:off x="2484469" y="3270860"/>
            <a:ext cx="363474" cy="562862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7" name="上-下雙向箭號 116"/>
          <p:cNvSpPr/>
          <p:nvPr/>
        </p:nvSpPr>
        <p:spPr>
          <a:xfrm>
            <a:off x="4788024" y="2207689"/>
            <a:ext cx="363474" cy="1633613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507312" y="1597259"/>
            <a:ext cx="1728452" cy="27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350" dirty="0">
                <a:solidFill>
                  <a:schemeClr val="bg1"/>
                </a:solidFill>
                <a:latin typeface="+mn-lt"/>
              </a:rPr>
              <a:t>User Application</a:t>
            </a:r>
          </a:p>
        </p:txBody>
      </p:sp>
      <p:grpSp>
        <p:nvGrpSpPr>
          <p:cNvPr id="7" name="群組 6"/>
          <p:cNvGrpSpPr/>
          <p:nvPr/>
        </p:nvGrpSpPr>
        <p:grpSpPr>
          <a:xfrm>
            <a:off x="1485900" y="2670868"/>
            <a:ext cx="1728452" cy="580082"/>
            <a:chOff x="1680911" y="3876593"/>
            <a:chExt cx="5760000" cy="773443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1680911" y="3876593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 err="1">
                  <a:solidFill>
                    <a:srgbClr val="FFFFFF"/>
                  </a:solidFill>
                  <a:latin typeface="+mn-lt"/>
                </a:rPr>
                <a:t>vGPU</a:t>
              </a:r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 Driver API</a:t>
              </a: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680911" y="4290036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Front End</a:t>
              </a: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598114" y="2673865"/>
            <a:ext cx="2059986" cy="884422"/>
            <a:chOff x="6516216" y="4521982"/>
            <a:chExt cx="2304602" cy="1179229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516216" y="5341211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Enabled Device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6516216" y="4931597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6516216" y="4521982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 API</a:t>
              </a:r>
            </a:p>
          </p:txBody>
        </p:sp>
      </p:grp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4734018" y="1631335"/>
            <a:ext cx="2924082" cy="5660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t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rgbClr val="FFFFFF"/>
                </a:solidFill>
                <a:latin typeface="+mn-lt"/>
              </a:rPr>
              <a:t>Back End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2411760" y="3856164"/>
            <a:ext cx="3132348" cy="5517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67500" tIns="33750" rIns="67500" bIns="3375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chemeClr val="accent3">
                    <a:lumMod val="50000"/>
                  </a:schemeClr>
                </a:solidFill>
                <a:latin typeface="+mn-lt"/>
              </a:rPr>
              <a:t>communicator</a:t>
            </a:r>
          </a:p>
        </p:txBody>
      </p:sp>
      <p:cxnSp>
        <p:nvCxnSpPr>
          <p:cNvPr id="40" name="直線單箭頭接點 39"/>
          <p:cNvCxnSpPr/>
          <p:nvPr/>
        </p:nvCxnSpPr>
        <p:spPr>
          <a:xfrm>
            <a:off x="2847943" y="2754306"/>
            <a:ext cx="0" cy="445282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上-下雙向箭號 115"/>
          <p:cNvSpPr/>
          <p:nvPr/>
        </p:nvSpPr>
        <p:spPr>
          <a:xfrm>
            <a:off x="6716400" y="2207689"/>
            <a:ext cx="363474" cy="463178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9" name="上-下雙向箭號 118"/>
          <p:cNvSpPr/>
          <p:nvPr/>
        </p:nvSpPr>
        <p:spPr>
          <a:xfrm>
            <a:off x="2126165" y="1867260"/>
            <a:ext cx="363474" cy="798514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1" name="文字方塊 120"/>
          <p:cNvSpPr txBox="1"/>
          <p:nvPr/>
        </p:nvSpPr>
        <p:spPr>
          <a:xfrm>
            <a:off x="2047255" y="1248621"/>
            <a:ext cx="6078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guest</a:t>
            </a:r>
            <a:endParaRPr lang="zh-TW" altLang="en-US" sz="1350" dirty="0"/>
          </a:p>
        </p:txBody>
      </p:sp>
      <p:sp>
        <p:nvSpPr>
          <p:cNvPr id="122" name="文字方塊 121"/>
          <p:cNvSpPr txBox="1"/>
          <p:nvPr/>
        </p:nvSpPr>
        <p:spPr>
          <a:xfrm>
            <a:off x="5957118" y="1248621"/>
            <a:ext cx="5116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host</a:t>
            </a:r>
            <a:endParaRPr lang="zh-TW" altLang="en-US" sz="1350" dirty="0"/>
          </a:p>
        </p:txBody>
      </p:sp>
      <p:sp>
        <p:nvSpPr>
          <p:cNvPr id="5" name="文字方塊 4"/>
          <p:cNvSpPr txBox="1"/>
          <p:nvPr/>
        </p:nvSpPr>
        <p:spPr>
          <a:xfrm>
            <a:off x="3314205" y="1906941"/>
            <a:ext cx="1713716" cy="13388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API interception </a:t>
            </a:r>
          </a:p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Pack the library function invocation </a:t>
            </a:r>
          </a:p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Sends packs to the back end</a:t>
            </a:r>
          </a:p>
        </p:txBody>
      </p:sp>
    </p:spTree>
    <p:extLst>
      <p:ext uri="{BB962C8B-B14F-4D97-AF65-F5344CB8AC3E}">
        <p14:creationId xmlns:p14="http://schemas.microsoft.com/office/powerpoint/2010/main" val="31320046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Walkthrough</a:t>
            </a:r>
            <a:endParaRPr lang="zh-TW" altLang="en-US" dirty="0"/>
          </a:p>
        </p:txBody>
      </p:sp>
      <p:sp>
        <p:nvSpPr>
          <p:cNvPr id="118" name="上-下雙向箭號 117"/>
          <p:cNvSpPr/>
          <p:nvPr/>
        </p:nvSpPr>
        <p:spPr>
          <a:xfrm>
            <a:off x="2484469" y="3270860"/>
            <a:ext cx="363474" cy="562862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7" name="上-下雙向箭號 116"/>
          <p:cNvSpPr/>
          <p:nvPr/>
        </p:nvSpPr>
        <p:spPr>
          <a:xfrm>
            <a:off x="4788024" y="2207689"/>
            <a:ext cx="363474" cy="1633613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507312" y="1597259"/>
            <a:ext cx="1728452" cy="27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350" dirty="0">
                <a:solidFill>
                  <a:schemeClr val="bg1"/>
                </a:solidFill>
                <a:latin typeface="+mn-lt"/>
              </a:rPr>
              <a:t>User Application</a:t>
            </a:r>
          </a:p>
        </p:txBody>
      </p:sp>
      <p:grpSp>
        <p:nvGrpSpPr>
          <p:cNvPr id="7" name="群組 6"/>
          <p:cNvGrpSpPr/>
          <p:nvPr/>
        </p:nvGrpSpPr>
        <p:grpSpPr>
          <a:xfrm>
            <a:off x="1485900" y="2670868"/>
            <a:ext cx="1728452" cy="580082"/>
            <a:chOff x="1680911" y="3876593"/>
            <a:chExt cx="5760000" cy="773443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1680911" y="3876593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 err="1">
                  <a:solidFill>
                    <a:srgbClr val="FFFFFF"/>
                  </a:solidFill>
                  <a:latin typeface="+mn-lt"/>
                </a:rPr>
                <a:t>vGPU</a:t>
              </a:r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 Driver API</a:t>
              </a: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680911" y="4290036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Front End</a:t>
              </a: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598114" y="2673865"/>
            <a:ext cx="2059986" cy="884422"/>
            <a:chOff x="6516216" y="4521982"/>
            <a:chExt cx="2304602" cy="1179229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516216" y="5341211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Enabled Device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6516216" y="4931597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6516216" y="4521982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 API</a:t>
              </a:r>
            </a:p>
          </p:txBody>
        </p:sp>
      </p:grp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4734018" y="1631335"/>
            <a:ext cx="2924082" cy="5660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t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rgbClr val="FFFFFF"/>
                </a:solidFill>
                <a:latin typeface="+mn-lt"/>
              </a:rPr>
              <a:t>Back End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2411760" y="3856164"/>
            <a:ext cx="3132348" cy="5517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67500" tIns="33750" rIns="67500" bIns="3375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chemeClr val="accent3">
                    <a:lumMod val="50000"/>
                  </a:schemeClr>
                </a:solidFill>
                <a:latin typeface="+mn-lt"/>
              </a:rPr>
              <a:t>communicator</a:t>
            </a:r>
          </a:p>
        </p:txBody>
      </p:sp>
      <p:sp>
        <p:nvSpPr>
          <p:cNvPr id="116" name="上-下雙向箭號 115"/>
          <p:cNvSpPr/>
          <p:nvPr/>
        </p:nvSpPr>
        <p:spPr>
          <a:xfrm>
            <a:off x="6716400" y="2207689"/>
            <a:ext cx="363474" cy="463178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9" name="上-下雙向箭號 118"/>
          <p:cNvSpPr/>
          <p:nvPr/>
        </p:nvSpPr>
        <p:spPr>
          <a:xfrm>
            <a:off x="2126165" y="1867260"/>
            <a:ext cx="363474" cy="798514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1" name="文字方塊 120"/>
          <p:cNvSpPr txBox="1"/>
          <p:nvPr/>
        </p:nvSpPr>
        <p:spPr>
          <a:xfrm>
            <a:off x="2047255" y="1248621"/>
            <a:ext cx="6078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guest</a:t>
            </a:r>
            <a:endParaRPr lang="zh-TW" altLang="en-US" sz="1350" dirty="0"/>
          </a:p>
        </p:txBody>
      </p:sp>
      <p:sp>
        <p:nvSpPr>
          <p:cNvPr id="122" name="文字方塊 121"/>
          <p:cNvSpPr txBox="1"/>
          <p:nvPr/>
        </p:nvSpPr>
        <p:spPr>
          <a:xfrm>
            <a:off x="5957118" y="1248621"/>
            <a:ext cx="5116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host</a:t>
            </a:r>
            <a:endParaRPr lang="zh-TW" altLang="en-US" sz="1350" dirty="0"/>
          </a:p>
        </p:txBody>
      </p:sp>
      <p:sp>
        <p:nvSpPr>
          <p:cNvPr id="5" name="文字方塊 4"/>
          <p:cNvSpPr txBox="1"/>
          <p:nvPr/>
        </p:nvSpPr>
        <p:spPr>
          <a:xfrm>
            <a:off x="3235764" y="428035"/>
            <a:ext cx="1880203" cy="113107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Deal with the hardware using the GPU driver</a:t>
            </a:r>
          </a:p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Unpack the library function invocation</a:t>
            </a:r>
          </a:p>
        </p:txBody>
      </p:sp>
      <p:cxnSp>
        <p:nvCxnSpPr>
          <p:cNvPr id="3" name="肘形接點 2"/>
          <p:cNvCxnSpPr>
            <a:stCxn id="68" idx="2"/>
            <a:endCxn id="69" idx="2"/>
          </p:cNvCxnSpPr>
          <p:nvPr/>
        </p:nvCxnSpPr>
        <p:spPr>
          <a:xfrm rot="5400000" flipH="1" flipV="1">
            <a:off x="3449514" y="1384892"/>
            <a:ext cx="1205344" cy="2310807"/>
          </a:xfrm>
          <a:prstGeom prst="bentConnector3">
            <a:avLst>
              <a:gd name="adj1" fmla="val -89528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34765" y="2818931"/>
            <a:ext cx="324036" cy="324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9" name="矩形 68"/>
          <p:cNvSpPr/>
          <p:nvPr/>
        </p:nvSpPr>
        <p:spPr>
          <a:xfrm>
            <a:off x="5045572" y="1613588"/>
            <a:ext cx="324036" cy="324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</p:spTree>
    <p:extLst>
      <p:ext uri="{BB962C8B-B14F-4D97-AF65-F5344CB8AC3E}">
        <p14:creationId xmlns:p14="http://schemas.microsoft.com/office/powerpoint/2010/main" val="18019848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Walkthrough</a:t>
            </a:r>
            <a:endParaRPr lang="zh-TW" altLang="en-US" dirty="0"/>
          </a:p>
        </p:txBody>
      </p:sp>
      <p:sp>
        <p:nvSpPr>
          <p:cNvPr id="118" name="上-下雙向箭號 117"/>
          <p:cNvSpPr/>
          <p:nvPr/>
        </p:nvSpPr>
        <p:spPr>
          <a:xfrm>
            <a:off x="2484469" y="3270860"/>
            <a:ext cx="363474" cy="562862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7" name="上-下雙向箭號 116"/>
          <p:cNvSpPr/>
          <p:nvPr/>
        </p:nvSpPr>
        <p:spPr>
          <a:xfrm>
            <a:off x="4788024" y="2207689"/>
            <a:ext cx="363474" cy="1633613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507312" y="1597259"/>
            <a:ext cx="1728452" cy="27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350" dirty="0">
                <a:solidFill>
                  <a:schemeClr val="bg1"/>
                </a:solidFill>
                <a:latin typeface="+mn-lt"/>
              </a:rPr>
              <a:t>User Application</a:t>
            </a:r>
          </a:p>
        </p:txBody>
      </p:sp>
      <p:grpSp>
        <p:nvGrpSpPr>
          <p:cNvPr id="7" name="群組 6"/>
          <p:cNvGrpSpPr/>
          <p:nvPr/>
        </p:nvGrpSpPr>
        <p:grpSpPr>
          <a:xfrm>
            <a:off x="1485900" y="2670868"/>
            <a:ext cx="1728452" cy="580082"/>
            <a:chOff x="1680911" y="3876593"/>
            <a:chExt cx="5760000" cy="773443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1680911" y="3876593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 err="1">
                  <a:solidFill>
                    <a:srgbClr val="FFFFFF"/>
                  </a:solidFill>
                  <a:latin typeface="+mn-lt"/>
                </a:rPr>
                <a:t>vGPU</a:t>
              </a:r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 Driver API</a:t>
              </a: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680911" y="4290036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Front End</a:t>
              </a: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598114" y="2673865"/>
            <a:ext cx="2059986" cy="884422"/>
            <a:chOff x="6516216" y="4521982"/>
            <a:chExt cx="2304602" cy="1179229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516216" y="5341211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Enabled Device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6516216" y="4931597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6516216" y="4521982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 API</a:t>
              </a:r>
            </a:p>
          </p:txBody>
        </p:sp>
      </p:grp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4734018" y="1631335"/>
            <a:ext cx="2924082" cy="5660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t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rgbClr val="FFFFFF"/>
                </a:solidFill>
                <a:latin typeface="+mn-lt"/>
              </a:rPr>
              <a:t>Back End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2411760" y="3856164"/>
            <a:ext cx="3132348" cy="5517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67500" tIns="33750" rIns="67500" bIns="3375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chemeClr val="accent3">
                    <a:lumMod val="50000"/>
                  </a:schemeClr>
                </a:solidFill>
                <a:latin typeface="+mn-lt"/>
              </a:rPr>
              <a:t>communicator</a:t>
            </a:r>
          </a:p>
        </p:txBody>
      </p:sp>
      <p:cxnSp>
        <p:nvCxnSpPr>
          <p:cNvPr id="70" name="直線接點 69"/>
          <p:cNvCxnSpPr/>
          <p:nvPr/>
        </p:nvCxnSpPr>
        <p:spPr>
          <a:xfrm>
            <a:off x="6403350" y="1901374"/>
            <a:ext cx="0" cy="1014950"/>
          </a:xfrm>
          <a:prstGeom prst="line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上-下雙向箭號 115"/>
          <p:cNvSpPr/>
          <p:nvPr/>
        </p:nvSpPr>
        <p:spPr>
          <a:xfrm>
            <a:off x="6716400" y="2207689"/>
            <a:ext cx="363474" cy="463178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9" name="上-下雙向箭號 118"/>
          <p:cNvSpPr/>
          <p:nvPr/>
        </p:nvSpPr>
        <p:spPr>
          <a:xfrm>
            <a:off x="2126165" y="1867260"/>
            <a:ext cx="363474" cy="798514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1" name="文字方塊 120"/>
          <p:cNvSpPr txBox="1"/>
          <p:nvPr/>
        </p:nvSpPr>
        <p:spPr>
          <a:xfrm>
            <a:off x="2047255" y="1248621"/>
            <a:ext cx="6078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guest</a:t>
            </a:r>
            <a:endParaRPr lang="zh-TW" altLang="en-US" sz="1350" dirty="0"/>
          </a:p>
        </p:txBody>
      </p:sp>
      <p:sp>
        <p:nvSpPr>
          <p:cNvPr id="122" name="文字方塊 121"/>
          <p:cNvSpPr txBox="1"/>
          <p:nvPr/>
        </p:nvSpPr>
        <p:spPr>
          <a:xfrm>
            <a:off x="5957118" y="1248621"/>
            <a:ext cx="5116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host</a:t>
            </a:r>
            <a:endParaRPr lang="zh-TW" altLang="en-US" sz="1350" dirty="0"/>
          </a:p>
        </p:txBody>
      </p:sp>
      <p:sp>
        <p:nvSpPr>
          <p:cNvPr id="5" name="文字方塊 4"/>
          <p:cNvSpPr txBox="1"/>
          <p:nvPr/>
        </p:nvSpPr>
        <p:spPr>
          <a:xfrm>
            <a:off x="3492069" y="1040872"/>
            <a:ext cx="2362350" cy="715581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Map memory pointers</a:t>
            </a:r>
          </a:p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Execute the GPU operations</a:t>
            </a:r>
          </a:p>
        </p:txBody>
      </p:sp>
    </p:spTree>
    <p:extLst>
      <p:ext uri="{BB962C8B-B14F-4D97-AF65-F5344CB8AC3E}">
        <p14:creationId xmlns:p14="http://schemas.microsoft.com/office/powerpoint/2010/main" val="29242982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Walkthrough</a:t>
            </a:r>
            <a:endParaRPr lang="zh-TW" altLang="en-US" dirty="0"/>
          </a:p>
        </p:txBody>
      </p:sp>
      <p:sp>
        <p:nvSpPr>
          <p:cNvPr id="118" name="上-下雙向箭號 117"/>
          <p:cNvSpPr/>
          <p:nvPr/>
        </p:nvSpPr>
        <p:spPr>
          <a:xfrm>
            <a:off x="2484469" y="3270860"/>
            <a:ext cx="363474" cy="562862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7" name="上-下雙向箭號 116"/>
          <p:cNvSpPr/>
          <p:nvPr/>
        </p:nvSpPr>
        <p:spPr>
          <a:xfrm>
            <a:off x="4788024" y="2207689"/>
            <a:ext cx="363474" cy="1633613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507312" y="1597259"/>
            <a:ext cx="1728452" cy="27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350" dirty="0">
                <a:solidFill>
                  <a:schemeClr val="bg1"/>
                </a:solidFill>
                <a:latin typeface="+mn-lt"/>
              </a:rPr>
              <a:t>User Application</a:t>
            </a:r>
          </a:p>
        </p:txBody>
      </p:sp>
      <p:grpSp>
        <p:nvGrpSpPr>
          <p:cNvPr id="7" name="群組 6"/>
          <p:cNvGrpSpPr/>
          <p:nvPr/>
        </p:nvGrpSpPr>
        <p:grpSpPr>
          <a:xfrm>
            <a:off x="1485900" y="2670868"/>
            <a:ext cx="1728452" cy="580082"/>
            <a:chOff x="1680911" y="3876593"/>
            <a:chExt cx="5760000" cy="773443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1680911" y="3876593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 err="1">
                  <a:solidFill>
                    <a:srgbClr val="FFFFFF"/>
                  </a:solidFill>
                  <a:latin typeface="+mn-lt"/>
                </a:rPr>
                <a:t>vGPU</a:t>
              </a:r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 Driver API</a:t>
              </a: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680911" y="4290036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Front End</a:t>
              </a: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598114" y="2673865"/>
            <a:ext cx="2059986" cy="884422"/>
            <a:chOff x="6516216" y="4521982"/>
            <a:chExt cx="2304602" cy="1179229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516216" y="5341211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Enabled Device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6516216" y="4931597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6516216" y="4521982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 API</a:t>
              </a:r>
            </a:p>
          </p:txBody>
        </p:sp>
      </p:grp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4734018" y="1631335"/>
            <a:ext cx="2924082" cy="5660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t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rgbClr val="FFFFFF"/>
                </a:solidFill>
                <a:latin typeface="+mn-lt"/>
              </a:rPr>
              <a:t>Back End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2411760" y="3856164"/>
            <a:ext cx="3132348" cy="5517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67500" tIns="33750" rIns="67500" bIns="3375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chemeClr val="accent3">
                    <a:lumMod val="50000"/>
                  </a:schemeClr>
                </a:solidFill>
                <a:latin typeface="+mn-lt"/>
              </a:rPr>
              <a:t>communicator</a:t>
            </a:r>
          </a:p>
        </p:txBody>
      </p:sp>
      <p:sp>
        <p:nvSpPr>
          <p:cNvPr id="33" name="矩形 32"/>
          <p:cNvSpPr/>
          <p:nvPr/>
        </p:nvSpPr>
        <p:spPr>
          <a:xfrm>
            <a:off x="7988399" y="1316049"/>
            <a:ext cx="324036" cy="324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70" name="直線接點 69"/>
          <p:cNvCxnSpPr/>
          <p:nvPr/>
        </p:nvCxnSpPr>
        <p:spPr>
          <a:xfrm>
            <a:off x="6403350" y="1901374"/>
            <a:ext cx="0" cy="1014950"/>
          </a:xfrm>
          <a:prstGeom prst="line">
            <a:avLst/>
          </a:prstGeom>
          <a:ln w="762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上-下雙向箭號 115"/>
          <p:cNvSpPr/>
          <p:nvPr/>
        </p:nvSpPr>
        <p:spPr>
          <a:xfrm>
            <a:off x="6716400" y="2207689"/>
            <a:ext cx="363474" cy="463178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9" name="上-下雙向箭號 118"/>
          <p:cNvSpPr/>
          <p:nvPr/>
        </p:nvSpPr>
        <p:spPr>
          <a:xfrm>
            <a:off x="2126165" y="1867260"/>
            <a:ext cx="363474" cy="798514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1" name="文字方塊 120"/>
          <p:cNvSpPr txBox="1"/>
          <p:nvPr/>
        </p:nvSpPr>
        <p:spPr>
          <a:xfrm>
            <a:off x="2047255" y="1248621"/>
            <a:ext cx="6078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guest</a:t>
            </a:r>
            <a:endParaRPr lang="zh-TW" altLang="en-US" sz="1350" dirty="0"/>
          </a:p>
        </p:txBody>
      </p:sp>
      <p:sp>
        <p:nvSpPr>
          <p:cNvPr id="122" name="文字方塊 121"/>
          <p:cNvSpPr txBox="1"/>
          <p:nvPr/>
        </p:nvSpPr>
        <p:spPr>
          <a:xfrm>
            <a:off x="5957118" y="1248621"/>
            <a:ext cx="5116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host</a:t>
            </a:r>
            <a:endParaRPr lang="zh-TW" altLang="en-US" sz="1350" dirty="0"/>
          </a:p>
        </p:txBody>
      </p:sp>
      <p:sp>
        <p:nvSpPr>
          <p:cNvPr id="5" name="文字方塊 4"/>
          <p:cNvSpPr txBox="1"/>
          <p:nvPr/>
        </p:nvSpPr>
        <p:spPr>
          <a:xfrm>
            <a:off x="3372465" y="873039"/>
            <a:ext cx="2362350" cy="92333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Retrieve the results</a:t>
            </a:r>
          </a:p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Send results to the front end using the communicator</a:t>
            </a:r>
          </a:p>
        </p:txBody>
      </p:sp>
    </p:spTree>
    <p:extLst>
      <p:ext uri="{BB962C8B-B14F-4D97-AF65-F5344CB8AC3E}">
        <p14:creationId xmlns:p14="http://schemas.microsoft.com/office/powerpoint/2010/main" val="19864751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Walkthrough</a:t>
            </a:r>
            <a:endParaRPr lang="zh-TW" altLang="en-US" dirty="0"/>
          </a:p>
        </p:txBody>
      </p:sp>
      <p:sp>
        <p:nvSpPr>
          <p:cNvPr id="118" name="上-下雙向箭號 117"/>
          <p:cNvSpPr/>
          <p:nvPr/>
        </p:nvSpPr>
        <p:spPr>
          <a:xfrm>
            <a:off x="2484469" y="3270860"/>
            <a:ext cx="363474" cy="562862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7" name="上-下雙向箭號 116"/>
          <p:cNvSpPr/>
          <p:nvPr/>
        </p:nvSpPr>
        <p:spPr>
          <a:xfrm>
            <a:off x="4788024" y="2207689"/>
            <a:ext cx="363474" cy="1633613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507312" y="1597259"/>
            <a:ext cx="1728452" cy="27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350" dirty="0">
                <a:solidFill>
                  <a:schemeClr val="bg1"/>
                </a:solidFill>
                <a:latin typeface="+mn-lt"/>
              </a:rPr>
              <a:t>User Application</a:t>
            </a:r>
          </a:p>
        </p:txBody>
      </p:sp>
      <p:grpSp>
        <p:nvGrpSpPr>
          <p:cNvPr id="7" name="群組 6"/>
          <p:cNvGrpSpPr/>
          <p:nvPr/>
        </p:nvGrpSpPr>
        <p:grpSpPr>
          <a:xfrm>
            <a:off x="1485900" y="2670868"/>
            <a:ext cx="1728452" cy="580082"/>
            <a:chOff x="1680911" y="3876593"/>
            <a:chExt cx="5760000" cy="773443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1680911" y="3876593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 err="1">
                  <a:solidFill>
                    <a:srgbClr val="FFFFFF"/>
                  </a:solidFill>
                  <a:latin typeface="+mn-lt"/>
                </a:rPr>
                <a:t>vGPU</a:t>
              </a:r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 Driver API</a:t>
              </a: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680911" y="4290036"/>
              <a:ext cx="5760000" cy="36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350" dirty="0">
                  <a:solidFill>
                    <a:srgbClr val="FFFFFF"/>
                  </a:solidFill>
                  <a:latin typeface="+mn-lt"/>
                </a:rPr>
                <a:t>Front End</a:t>
              </a: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598114" y="2673865"/>
            <a:ext cx="2059986" cy="884422"/>
            <a:chOff x="6516216" y="4521982"/>
            <a:chExt cx="2304602" cy="1179229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516216" y="5341211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Enabled Device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6516216" y="4931597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6516216" y="4521982"/>
              <a:ext cx="2304602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67500" tIns="33750" rIns="67500" bIns="33750" anchor="ctr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15367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19939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24511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2908300" indent="-215900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sz="1350" dirty="0">
                  <a:solidFill>
                    <a:schemeClr val="bg1"/>
                  </a:solidFill>
                  <a:latin typeface="+mn-lt"/>
                </a:rPr>
                <a:t>GPU Driver API</a:t>
              </a:r>
            </a:p>
          </p:txBody>
        </p:sp>
      </p:grp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4734018" y="1631335"/>
            <a:ext cx="2924082" cy="56603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7500" tIns="33750" rIns="67500" bIns="33750" anchor="t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rgbClr val="FFFFFF"/>
                </a:solidFill>
                <a:latin typeface="+mn-lt"/>
              </a:rPr>
              <a:t>Back End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2411760" y="3856164"/>
            <a:ext cx="3132348" cy="5517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67500" tIns="33750" rIns="67500" bIns="3375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15367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19939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24511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2908300" indent="-2159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350" dirty="0">
                <a:solidFill>
                  <a:schemeClr val="accent3">
                    <a:lumMod val="50000"/>
                  </a:schemeClr>
                </a:solidFill>
                <a:latin typeface="+mn-lt"/>
              </a:rPr>
              <a:t>communicator</a:t>
            </a:r>
          </a:p>
        </p:txBody>
      </p:sp>
      <p:sp>
        <p:nvSpPr>
          <p:cNvPr id="33" name="矩形 32"/>
          <p:cNvSpPr/>
          <p:nvPr/>
        </p:nvSpPr>
        <p:spPr>
          <a:xfrm>
            <a:off x="7988399" y="1316049"/>
            <a:ext cx="324036" cy="324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6" name="上-下雙向箭號 115"/>
          <p:cNvSpPr/>
          <p:nvPr/>
        </p:nvSpPr>
        <p:spPr>
          <a:xfrm>
            <a:off x="6716400" y="2207689"/>
            <a:ext cx="363474" cy="463178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9" name="上-下雙向箭號 118"/>
          <p:cNvSpPr/>
          <p:nvPr/>
        </p:nvSpPr>
        <p:spPr>
          <a:xfrm>
            <a:off x="2126165" y="1867260"/>
            <a:ext cx="363474" cy="798514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1" name="文字方塊 120"/>
          <p:cNvSpPr txBox="1"/>
          <p:nvPr/>
        </p:nvSpPr>
        <p:spPr>
          <a:xfrm>
            <a:off x="2047255" y="1248621"/>
            <a:ext cx="6078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guest</a:t>
            </a:r>
            <a:endParaRPr lang="zh-TW" altLang="en-US" sz="1350" dirty="0"/>
          </a:p>
        </p:txBody>
      </p:sp>
      <p:sp>
        <p:nvSpPr>
          <p:cNvPr id="122" name="文字方塊 121"/>
          <p:cNvSpPr txBox="1"/>
          <p:nvPr/>
        </p:nvSpPr>
        <p:spPr>
          <a:xfrm>
            <a:off x="5957118" y="1248621"/>
            <a:ext cx="5116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host</a:t>
            </a:r>
            <a:endParaRPr lang="zh-TW" altLang="en-US" sz="1350" dirty="0"/>
          </a:p>
        </p:txBody>
      </p:sp>
      <p:sp>
        <p:nvSpPr>
          <p:cNvPr id="5" name="文字方塊 4"/>
          <p:cNvSpPr txBox="1"/>
          <p:nvPr/>
        </p:nvSpPr>
        <p:spPr>
          <a:xfrm>
            <a:off x="2628850" y="390265"/>
            <a:ext cx="2452189" cy="13388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Interact with the GPU library (GPU driver ) by terminating the GPU operation</a:t>
            </a:r>
          </a:p>
          <a:p>
            <a:pPr marL="214313" lvl="1" indent="-214313">
              <a:buFont typeface="Arial" panose="020B0604020202020204" pitchFamily="34" charset="0"/>
              <a:buChar char="•"/>
            </a:pPr>
            <a:r>
              <a:rPr lang="en-US" altLang="zh-TW" sz="1350" dirty="0">
                <a:solidFill>
                  <a:schemeClr val="accent6">
                    <a:lumMod val="50000"/>
                  </a:schemeClr>
                </a:solidFill>
              </a:rPr>
              <a:t>Provide results to the calling program</a:t>
            </a:r>
          </a:p>
        </p:txBody>
      </p:sp>
      <p:cxnSp>
        <p:nvCxnSpPr>
          <p:cNvPr id="3" name="肘形接點 2"/>
          <p:cNvCxnSpPr>
            <a:stCxn id="68" idx="2"/>
            <a:endCxn id="69" idx="2"/>
          </p:cNvCxnSpPr>
          <p:nvPr/>
        </p:nvCxnSpPr>
        <p:spPr>
          <a:xfrm rot="5400000" flipH="1" flipV="1">
            <a:off x="3675374" y="1185600"/>
            <a:ext cx="780191" cy="2284240"/>
          </a:xfrm>
          <a:prstGeom prst="bentConnector3">
            <a:avLst>
              <a:gd name="adj1" fmla="val -194115"/>
            </a:avLst>
          </a:prstGeom>
          <a:ln w="762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761332" y="2393779"/>
            <a:ext cx="324036" cy="324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9" name="矩形 68"/>
          <p:cNvSpPr/>
          <p:nvPr/>
        </p:nvSpPr>
        <p:spPr>
          <a:xfrm>
            <a:off x="5045572" y="1613588"/>
            <a:ext cx="324036" cy="324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</p:spTree>
    <p:extLst>
      <p:ext uri="{BB962C8B-B14F-4D97-AF65-F5344CB8AC3E}">
        <p14:creationId xmlns:p14="http://schemas.microsoft.com/office/powerpoint/2010/main" val="12959050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Virtualization Taxonomy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371600" y="2914650"/>
            <a:ext cx="6286500" cy="119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71600" y="257175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1465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Back-end</a:t>
            </a: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000250" y="3657600"/>
            <a:ext cx="2286000" cy="6858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Fixed Pass-through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1:1</a:t>
            </a: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4743450" y="3657600"/>
            <a:ext cx="2400300" cy="6858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Mediated Pass-through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1:N</a:t>
            </a:r>
          </a:p>
        </p:txBody>
      </p:sp>
      <p:sp>
        <p:nvSpPr>
          <p:cNvPr id="13" name="AutoShape 8"/>
          <p:cNvSpPr>
            <a:spLocks noChangeArrowheads="1"/>
          </p:cNvSpPr>
          <p:nvPr/>
        </p:nvSpPr>
        <p:spPr bwMode="auto">
          <a:xfrm>
            <a:off x="3829050" y="2571750"/>
            <a:ext cx="1371600" cy="6858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Hybrid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(Driver VM)</a:t>
            </a:r>
          </a:p>
        </p:txBody>
      </p:sp>
      <p:sp>
        <p:nvSpPr>
          <p:cNvPr id="14" name="Left-Right Arrow 13"/>
          <p:cNvSpPr/>
          <p:nvPr/>
        </p:nvSpPr>
        <p:spPr>
          <a:xfrm>
            <a:off x="2286000" y="1828800"/>
            <a:ext cx="4457700" cy="342900"/>
          </a:xfrm>
          <a:prstGeom prst="left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TextBox 14"/>
          <p:cNvSpPr txBox="1"/>
          <p:nvPr/>
        </p:nvSpPr>
        <p:spPr>
          <a:xfrm>
            <a:off x="1714500" y="14859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API Remoting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2150" y="148590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Device Emulation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396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Virtualization Taxonomy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  <a:pPr/>
              <a:t>41</a:t>
            </a:fld>
            <a:endParaRPr lang="en-US"/>
          </a:p>
        </p:txBody>
      </p:sp>
      <p:sp>
        <p:nvSpPr>
          <p:cNvPr id="20" name="內容版面配置區 19"/>
          <p:cNvSpPr>
            <a:spLocks noGrp="1"/>
          </p:cNvSpPr>
          <p:nvPr>
            <p:ph idx="1"/>
          </p:nvPr>
        </p:nvSpPr>
        <p:spPr>
          <a:xfrm>
            <a:off x="1547664" y="951570"/>
            <a:ext cx="6172200" cy="3888432"/>
          </a:xfrm>
        </p:spPr>
        <p:txBody>
          <a:bodyPr>
            <a:normAutofit fontScale="40000" lnSpcReduction="20000"/>
          </a:bodyPr>
          <a:lstStyle/>
          <a:p>
            <a:pPr>
              <a:buFont typeface="Wingdings" pitchFamily="2" charset="2"/>
              <a:buChar char="l"/>
            </a:pPr>
            <a:r>
              <a:rPr lang="en-US" altLang="zh-TW" sz="3300" dirty="0"/>
              <a:t>Major distinction is based on where we cut the driver stack</a:t>
            </a:r>
          </a:p>
          <a:p>
            <a:pPr lvl="1">
              <a:buFont typeface="Wingdings" pitchFamily="2" charset="2"/>
              <a:buChar char="n"/>
            </a:pPr>
            <a:r>
              <a:rPr lang="en-US" altLang="zh-TW" sz="2850" dirty="0"/>
              <a:t>Front-end: Hardware-specific drivers are in the VM</a:t>
            </a:r>
          </a:p>
          <a:p>
            <a:pPr lvl="2">
              <a:buFont typeface="Wingdings" pitchFamily="2" charset="2"/>
              <a:buChar char="n"/>
            </a:pPr>
            <a:r>
              <a:rPr lang="en-US" altLang="zh-TW" sz="2550" dirty="0"/>
              <a:t>Good portability, mediocre speed</a:t>
            </a:r>
          </a:p>
          <a:p>
            <a:pPr lvl="1">
              <a:buFont typeface="Wingdings" pitchFamily="2" charset="2"/>
              <a:buChar char="n"/>
            </a:pPr>
            <a:r>
              <a:rPr lang="en-US" altLang="zh-TW" sz="2850" dirty="0"/>
              <a:t>Back-end: Hardware-specific drivers are in the host or hypervisor</a:t>
            </a:r>
          </a:p>
          <a:p>
            <a:pPr lvl="2">
              <a:buFont typeface="Wingdings" pitchFamily="2" charset="2"/>
              <a:buChar char="n"/>
            </a:pPr>
            <a:r>
              <a:rPr lang="en-US" altLang="zh-TW" sz="2550" dirty="0"/>
              <a:t>Bad portability, good speed</a:t>
            </a:r>
          </a:p>
          <a:p>
            <a:pPr lvl="0">
              <a:buFont typeface="Wingdings" pitchFamily="2" charset="2"/>
              <a:buChar char="l"/>
            </a:pPr>
            <a:endParaRPr lang="en-US" altLang="zh-TW" dirty="0"/>
          </a:p>
          <a:p>
            <a:pPr lvl="0">
              <a:buFont typeface="Wingdings" pitchFamily="2" charset="2"/>
              <a:buChar char="l"/>
            </a:pPr>
            <a:r>
              <a:rPr lang="en-US" altLang="zh-TW" sz="3300" dirty="0"/>
              <a:t>Back-end: Fixed vs. Mediated</a:t>
            </a:r>
          </a:p>
          <a:p>
            <a:pPr lvl="1">
              <a:buFont typeface="Wingdings" pitchFamily="2" charset="2"/>
              <a:buChar char="n"/>
            </a:pPr>
            <a:r>
              <a:rPr lang="en-US" altLang="zh-TW" sz="2850" dirty="0"/>
              <a:t>Fixed: one device, one VM. Easy with an IOMMU</a:t>
            </a:r>
          </a:p>
          <a:p>
            <a:pPr lvl="1">
              <a:buFont typeface="Wingdings" pitchFamily="2" charset="2"/>
              <a:buChar char="n"/>
            </a:pPr>
            <a:r>
              <a:rPr lang="en-US" altLang="zh-TW" sz="2850" dirty="0"/>
              <a:t>Mediated: Hardware-assisted multiplexing, to share one device with multiple VMs</a:t>
            </a:r>
          </a:p>
          <a:p>
            <a:pPr lvl="2">
              <a:buFont typeface="Wingdings" pitchFamily="2" charset="2"/>
              <a:buChar char="n"/>
            </a:pPr>
            <a:r>
              <a:rPr lang="en-US" altLang="zh-TW" sz="3000" dirty="0"/>
              <a:t>Requires modified GPU hardware/drivers (Vendor support)</a:t>
            </a:r>
          </a:p>
          <a:p>
            <a:pPr lvl="0">
              <a:buFont typeface="Wingdings" pitchFamily="2" charset="2"/>
              <a:buChar char="l"/>
            </a:pPr>
            <a:endParaRPr lang="en-US" altLang="zh-TW" dirty="0"/>
          </a:p>
          <a:p>
            <a:pPr lvl="0">
              <a:buFont typeface="Wingdings" pitchFamily="2" charset="2"/>
              <a:buChar char="l"/>
            </a:pPr>
            <a:r>
              <a:rPr lang="en-US" altLang="zh-TW" sz="3300" dirty="0"/>
              <a:t>Front-end</a:t>
            </a:r>
          </a:p>
          <a:p>
            <a:pPr lvl="1">
              <a:buFont typeface="Wingdings" pitchFamily="2" charset="2"/>
              <a:buChar char="n"/>
            </a:pPr>
            <a:r>
              <a:rPr lang="en-US" altLang="zh-TW" sz="2850" dirty="0"/>
              <a:t>API </a:t>
            </a:r>
            <a:r>
              <a:rPr lang="en-US" altLang="zh-TW" sz="2850" dirty="0" err="1"/>
              <a:t>remoting</a:t>
            </a:r>
            <a:r>
              <a:rPr lang="en-US" altLang="zh-TW" sz="2850" dirty="0"/>
              <a:t>: replace API in VM with a forwarding layer. Marshall each call, execute on host</a:t>
            </a:r>
          </a:p>
          <a:p>
            <a:pPr lvl="1">
              <a:buFont typeface="Wingdings" pitchFamily="2" charset="2"/>
              <a:buChar char="n"/>
            </a:pPr>
            <a:r>
              <a:rPr lang="en-US" altLang="zh-TW" sz="2850" dirty="0"/>
              <a:t>Device emulation: Exact emulation of a physical GPU</a:t>
            </a:r>
          </a:p>
          <a:p>
            <a:pPr lvl="0">
              <a:buFont typeface="Wingdings" pitchFamily="2" charset="2"/>
              <a:buChar char="l"/>
            </a:pPr>
            <a:endParaRPr lang="en-US" altLang="zh-TW" dirty="0"/>
          </a:p>
          <a:p>
            <a:pPr lvl="0">
              <a:buFont typeface="Wingdings" pitchFamily="2" charset="2"/>
              <a:buChar char="l"/>
            </a:pPr>
            <a:r>
              <a:rPr lang="en-US" altLang="zh-TW" sz="3300" dirty="0"/>
              <a:t>There are also hybrid approaches: For example, a driver VM using fixed pass-through plus API </a:t>
            </a:r>
            <a:r>
              <a:rPr lang="en-US" altLang="zh-TW" sz="3300" dirty="0" err="1"/>
              <a:t>remoting</a:t>
            </a:r>
            <a:endParaRPr lang="en-US" altLang="zh-TW" sz="3300" dirty="0"/>
          </a:p>
        </p:txBody>
      </p:sp>
    </p:spTree>
    <p:extLst>
      <p:ext uri="{BB962C8B-B14F-4D97-AF65-F5344CB8AC3E}">
        <p14:creationId xmlns:p14="http://schemas.microsoft.com/office/powerpoint/2010/main" val="42516426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API </a:t>
            </a:r>
            <a:r>
              <a:rPr lang="en-US" altLang="zh-TW" dirty="0" err="1"/>
              <a:t>Remoting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959476"/>
            <a:ext cx="6172200" cy="2908418"/>
          </a:xfrm>
        </p:spPr>
        <p:txBody>
          <a:bodyPr/>
          <a:lstStyle/>
          <a:p>
            <a:r>
              <a:rPr lang="en-US" altLang="zh-TW" dirty="0"/>
              <a:t>Time-sharing real device</a:t>
            </a:r>
          </a:p>
          <a:p>
            <a:r>
              <a:rPr lang="en-US" altLang="zh-TW" dirty="0"/>
              <a:t>Client-server architecture</a:t>
            </a:r>
          </a:p>
          <a:p>
            <a:r>
              <a:rPr lang="en-US" altLang="zh-TW" dirty="0"/>
              <a:t>Analogous to full </a:t>
            </a:r>
            <a:r>
              <a:rPr lang="en-US" altLang="zh-TW" dirty="0" err="1"/>
              <a:t>paravirtualization</a:t>
            </a:r>
            <a:r>
              <a:rPr lang="en-US" altLang="zh-TW" dirty="0"/>
              <a:t> of a TCP offload engine</a:t>
            </a:r>
          </a:p>
          <a:p>
            <a:r>
              <a:rPr lang="en-US" altLang="zh-TW" dirty="0"/>
              <a:t>Hardware varied by vendors, it is not necessary for VM-developer to implements hardware drivers for them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138" y="3909916"/>
            <a:ext cx="1254919" cy="675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00" y="3989687"/>
            <a:ext cx="1214438" cy="59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017"/>
          <a:stretch/>
        </p:blipFill>
        <p:spPr bwMode="auto">
          <a:xfrm>
            <a:off x="2573276" y="3951587"/>
            <a:ext cx="836879" cy="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9758" y="3977186"/>
            <a:ext cx="945356" cy="540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814" y="3929556"/>
            <a:ext cx="1079897" cy="640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74135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API Remoting</a:t>
            </a:r>
          </a:p>
        </p:txBody>
      </p:sp>
      <p:grpSp>
        <p:nvGrpSpPr>
          <p:cNvPr id="22" name="群組 21"/>
          <p:cNvGrpSpPr/>
          <p:nvPr/>
        </p:nvGrpSpPr>
        <p:grpSpPr>
          <a:xfrm>
            <a:off x="2133328" y="1275606"/>
            <a:ext cx="4868943" cy="3407550"/>
            <a:chOff x="796479" y="1371600"/>
            <a:chExt cx="8118921" cy="4800600"/>
          </a:xfrm>
        </p:grpSpPr>
        <p:sp>
          <p:nvSpPr>
            <p:cNvPr id="16387" name="AutoShape 40"/>
            <p:cNvSpPr>
              <a:spLocks noChangeArrowheads="1"/>
            </p:cNvSpPr>
            <p:nvPr/>
          </p:nvSpPr>
          <p:spPr bwMode="auto">
            <a:xfrm>
              <a:off x="4876800" y="47244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GPU</a:t>
              </a:r>
            </a:p>
          </p:txBody>
        </p:sp>
        <p:sp>
          <p:nvSpPr>
            <p:cNvPr id="5" name="AutoShape 37"/>
            <p:cNvSpPr>
              <a:spLocks noChangeArrowheads="1"/>
            </p:cNvSpPr>
            <p:nvPr/>
          </p:nvSpPr>
          <p:spPr bwMode="auto">
            <a:xfrm>
              <a:off x="4876800" y="3124200"/>
              <a:ext cx="2667000" cy="60960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en-US" sz="1050" dirty="0"/>
            </a:p>
          </p:txBody>
        </p:sp>
        <p:sp>
          <p:nvSpPr>
            <p:cNvPr id="16389" name="AutoShape 8"/>
            <p:cNvSpPr>
              <a:spLocks noChangeArrowheads="1"/>
            </p:cNvSpPr>
            <p:nvPr/>
          </p:nvSpPr>
          <p:spPr bwMode="auto">
            <a:xfrm>
              <a:off x="4876800" y="4267200"/>
              <a:ext cx="2667000" cy="304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GPU Driver</a:t>
              </a:r>
            </a:p>
          </p:txBody>
        </p:sp>
        <p:sp>
          <p:nvSpPr>
            <p:cNvPr id="16390" name="AutoShape 8"/>
            <p:cNvSpPr>
              <a:spLocks noChangeArrowheads="1"/>
            </p:cNvSpPr>
            <p:nvPr/>
          </p:nvSpPr>
          <p:spPr bwMode="auto">
            <a:xfrm>
              <a:off x="4876800" y="3886200"/>
              <a:ext cx="2667000" cy="304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OpenGL / Direct3D</a:t>
              </a:r>
            </a:p>
          </p:txBody>
        </p:sp>
        <p:sp>
          <p:nvSpPr>
            <p:cNvPr id="16391" name="TextBox 12"/>
            <p:cNvSpPr txBox="1">
              <a:spLocks noChangeArrowheads="1"/>
            </p:cNvSpPr>
            <p:nvPr/>
          </p:nvSpPr>
          <p:spPr bwMode="auto">
            <a:xfrm>
              <a:off x="7543800" y="4800600"/>
              <a:ext cx="1371600" cy="357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50"/>
                <a:t>Hardware</a:t>
              </a:r>
            </a:p>
          </p:txBody>
        </p:sp>
        <p:sp>
          <p:nvSpPr>
            <p:cNvPr id="16392" name="TextBox 13"/>
            <p:cNvSpPr txBox="1">
              <a:spLocks noChangeArrowheads="1"/>
            </p:cNvSpPr>
            <p:nvPr/>
          </p:nvSpPr>
          <p:spPr bwMode="auto">
            <a:xfrm>
              <a:off x="7543800" y="4267199"/>
              <a:ext cx="1371600" cy="357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50"/>
                <a:t>Kernel</a:t>
              </a:r>
            </a:p>
          </p:txBody>
        </p:sp>
        <p:cxnSp>
          <p:nvCxnSpPr>
            <p:cNvPr id="19" name="Straight Connector 18"/>
            <p:cNvCxnSpPr/>
            <p:nvPr/>
          </p:nvCxnSpPr>
          <p:spPr>
            <a:xfrm rot="5400000">
              <a:off x="2097088" y="3771900"/>
              <a:ext cx="4799012" cy="1588"/>
            </a:xfrm>
            <a:prstGeom prst="line">
              <a:avLst/>
            </a:prstGeom>
            <a:ln w="4762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94" name="TextBox 20"/>
            <p:cNvSpPr txBox="1">
              <a:spLocks noChangeArrowheads="1"/>
            </p:cNvSpPr>
            <p:nvPr/>
          </p:nvSpPr>
          <p:spPr bwMode="auto">
            <a:xfrm>
              <a:off x="4572000" y="1371600"/>
              <a:ext cx="901334" cy="4227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350"/>
                <a:t>Host</a:t>
              </a:r>
            </a:p>
          </p:txBody>
        </p:sp>
        <p:sp>
          <p:nvSpPr>
            <p:cNvPr id="16395" name="TextBox 21"/>
            <p:cNvSpPr txBox="1">
              <a:spLocks noChangeArrowheads="1"/>
            </p:cNvSpPr>
            <p:nvPr/>
          </p:nvSpPr>
          <p:spPr bwMode="auto">
            <a:xfrm>
              <a:off x="3313274" y="1371600"/>
              <a:ext cx="1077751" cy="4227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350"/>
                <a:t>Guest</a:t>
              </a:r>
            </a:p>
          </p:txBody>
        </p:sp>
        <p:sp>
          <p:nvSpPr>
            <p:cNvPr id="16396" name="TextBox 22"/>
            <p:cNvSpPr txBox="1">
              <a:spLocks noChangeArrowheads="1"/>
            </p:cNvSpPr>
            <p:nvPr/>
          </p:nvSpPr>
          <p:spPr bwMode="auto">
            <a:xfrm>
              <a:off x="7543800" y="3886200"/>
              <a:ext cx="1371600" cy="357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50"/>
                <a:t>API</a:t>
              </a:r>
            </a:p>
          </p:txBody>
        </p:sp>
        <p:sp>
          <p:nvSpPr>
            <p:cNvPr id="16397" name="TextBox 23"/>
            <p:cNvSpPr txBox="1">
              <a:spLocks noChangeArrowheads="1"/>
            </p:cNvSpPr>
            <p:nvPr/>
          </p:nvSpPr>
          <p:spPr bwMode="auto">
            <a:xfrm>
              <a:off x="7543800" y="3276601"/>
              <a:ext cx="1371600" cy="357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50" dirty="0"/>
                <a:t>User-level</a:t>
              </a:r>
            </a:p>
          </p:txBody>
        </p:sp>
        <p:sp>
          <p:nvSpPr>
            <p:cNvPr id="16398" name="AutoShape 10"/>
            <p:cNvSpPr>
              <a:spLocks noChangeArrowheads="1"/>
            </p:cNvSpPr>
            <p:nvPr/>
          </p:nvSpPr>
          <p:spPr bwMode="auto">
            <a:xfrm>
              <a:off x="5029200" y="3276600"/>
              <a:ext cx="2362200" cy="304800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RPC Endpoint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6399" name="AutoShape 37"/>
            <p:cNvSpPr>
              <a:spLocks noChangeArrowheads="1"/>
            </p:cNvSpPr>
            <p:nvPr/>
          </p:nvSpPr>
          <p:spPr bwMode="auto">
            <a:xfrm>
              <a:off x="1447800" y="3048000"/>
              <a:ext cx="8382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6400" name="AutoShape 37"/>
            <p:cNvSpPr>
              <a:spLocks noChangeArrowheads="1"/>
            </p:cNvSpPr>
            <p:nvPr/>
          </p:nvSpPr>
          <p:spPr bwMode="auto">
            <a:xfrm>
              <a:off x="2362200" y="3048000"/>
              <a:ext cx="8382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6401" name="AutoShape 37"/>
            <p:cNvSpPr>
              <a:spLocks noChangeArrowheads="1"/>
            </p:cNvSpPr>
            <p:nvPr/>
          </p:nvSpPr>
          <p:spPr bwMode="auto">
            <a:xfrm>
              <a:off x="3276600" y="3048000"/>
              <a:ext cx="8382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6402" name="TextBox 50"/>
            <p:cNvSpPr txBox="1">
              <a:spLocks noChangeArrowheads="1"/>
            </p:cNvSpPr>
            <p:nvPr/>
          </p:nvSpPr>
          <p:spPr bwMode="auto">
            <a:xfrm>
              <a:off x="796479" y="3886200"/>
              <a:ext cx="668784" cy="357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50"/>
                <a:t>API</a:t>
              </a:r>
            </a:p>
          </p:txBody>
        </p:sp>
        <p:sp>
          <p:nvSpPr>
            <p:cNvPr id="16403" name="AutoShape 8"/>
            <p:cNvSpPr>
              <a:spLocks noChangeArrowheads="1"/>
            </p:cNvSpPr>
            <p:nvPr/>
          </p:nvSpPr>
          <p:spPr bwMode="auto">
            <a:xfrm>
              <a:off x="1447800" y="3886200"/>
              <a:ext cx="2667000" cy="304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OpenGL / Direct3D Redirector</a:t>
              </a:r>
            </a:p>
          </p:txBody>
        </p:sp>
        <p:cxnSp>
          <p:nvCxnSpPr>
            <p:cNvPr id="56" name="Shape 55"/>
            <p:cNvCxnSpPr>
              <a:stCxn id="16403" idx="3"/>
              <a:endCxn id="16398" idx="1"/>
            </p:cNvCxnSpPr>
            <p:nvPr/>
          </p:nvCxnSpPr>
          <p:spPr>
            <a:xfrm flipV="1">
              <a:off x="4114800" y="3429000"/>
              <a:ext cx="914400" cy="609600"/>
            </a:xfrm>
            <a:prstGeom prst="curvedConnector3">
              <a:avLst>
                <a:gd name="adj1" fmla="val 50000"/>
              </a:avLst>
            </a:prstGeom>
            <a:ln w="95250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57857845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API </a:t>
            </a:r>
            <a:r>
              <a:rPr lang="en-US" altLang="zh-TW" dirty="0" err="1"/>
              <a:t>Remoting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897565"/>
            <a:ext cx="6172200" cy="4050450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Pro</a:t>
            </a:r>
          </a:p>
          <a:p>
            <a:pPr lvl="1"/>
            <a:r>
              <a:rPr lang="en-US" altLang="zh-TW" dirty="0"/>
              <a:t>Easy to get working</a:t>
            </a:r>
          </a:p>
          <a:p>
            <a:pPr lvl="1"/>
            <a:r>
              <a:rPr lang="en-US" altLang="zh-TW" dirty="0"/>
              <a:t>Easy to support new APIs/features</a:t>
            </a:r>
          </a:p>
          <a:p>
            <a:endParaRPr lang="en-US" altLang="zh-TW" dirty="0"/>
          </a:p>
          <a:p>
            <a:r>
              <a:rPr lang="en-US" altLang="zh-TW" dirty="0"/>
              <a:t>Con</a:t>
            </a:r>
          </a:p>
          <a:p>
            <a:pPr lvl="1"/>
            <a:r>
              <a:rPr lang="en-US" altLang="zh-TW" dirty="0"/>
              <a:t>Hard to make </a:t>
            </a:r>
            <a:r>
              <a:rPr lang="en-US" altLang="zh-TW" dirty="0" err="1"/>
              <a:t>performant</a:t>
            </a:r>
            <a:r>
              <a:rPr lang="en-US" altLang="zh-TW" dirty="0"/>
              <a:t> (Where do objects live? When to cross RPC boundary? Caches? Batching?)</a:t>
            </a:r>
          </a:p>
          <a:p>
            <a:pPr lvl="1"/>
            <a:r>
              <a:rPr lang="en-US" altLang="zh-TW" dirty="0"/>
              <a:t>VM Goodness (</a:t>
            </a:r>
            <a:r>
              <a:rPr lang="en-US" altLang="zh-TW" dirty="0" err="1"/>
              <a:t>checkpointing</a:t>
            </a:r>
            <a:r>
              <a:rPr lang="en-US" altLang="zh-TW" dirty="0"/>
              <a:t>, portability) is really hard</a:t>
            </a:r>
          </a:p>
          <a:p>
            <a:endParaRPr lang="en-US" altLang="zh-TW" dirty="0"/>
          </a:p>
          <a:p>
            <a:r>
              <a:rPr lang="en-US" altLang="zh-TW" dirty="0"/>
              <a:t>Who’s using it?</a:t>
            </a:r>
          </a:p>
          <a:p>
            <a:pPr lvl="1"/>
            <a:r>
              <a:rPr lang="en-US" altLang="zh-TW" dirty="0"/>
              <a:t>Parallels’ initial GL implementation</a:t>
            </a:r>
          </a:p>
          <a:p>
            <a:pPr lvl="1"/>
            <a:r>
              <a:rPr lang="en-US" altLang="zh-TW" dirty="0"/>
              <a:t>Remote rendering: GLX, Chromium project</a:t>
            </a:r>
          </a:p>
          <a:p>
            <a:pPr lvl="1"/>
            <a:r>
              <a:rPr lang="en-US" altLang="zh-TW" dirty="0"/>
              <a:t>Open source “VMGL”: OpenGL on VMware and </a:t>
            </a:r>
            <a:r>
              <a:rPr lang="en-US" altLang="zh-TW" dirty="0" err="1"/>
              <a:t>Xen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292095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Related work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These are downloadable and can be used</a:t>
            </a:r>
          </a:p>
          <a:p>
            <a:pPr lvl="1"/>
            <a:r>
              <a:rPr lang="en-US" altLang="zh-TW" dirty="0" err="1"/>
              <a:t>rCUDA</a:t>
            </a:r>
            <a:endParaRPr lang="en-US" altLang="zh-TW" dirty="0"/>
          </a:p>
          <a:p>
            <a:pPr lvl="2"/>
            <a:r>
              <a:rPr lang="en-US" altLang="zh-TW" dirty="0"/>
              <a:t>http://www.rcuda.net/</a:t>
            </a:r>
          </a:p>
          <a:p>
            <a:pPr lvl="1"/>
            <a:r>
              <a:rPr lang="en-US" altLang="zh-TW" dirty="0" err="1"/>
              <a:t>vCUDA</a:t>
            </a:r>
            <a:endParaRPr lang="en-US" altLang="zh-TW" dirty="0"/>
          </a:p>
          <a:p>
            <a:pPr lvl="2"/>
            <a:r>
              <a:rPr lang="en-US" altLang="zh-TW" dirty="0"/>
              <a:t>http://hgpu.org/?p=8070</a:t>
            </a:r>
          </a:p>
          <a:p>
            <a:pPr lvl="1"/>
            <a:r>
              <a:rPr lang="en-US" altLang="zh-TW" dirty="0" err="1"/>
              <a:t>gVirtuS</a:t>
            </a:r>
            <a:endParaRPr lang="en-US" altLang="zh-TW" dirty="0"/>
          </a:p>
          <a:p>
            <a:pPr lvl="2"/>
            <a:r>
              <a:rPr lang="en-US" altLang="zh-TW" dirty="0"/>
              <a:t>http://osl.uniparthenope.it/projects/gvirtus/</a:t>
            </a:r>
          </a:p>
          <a:p>
            <a:pPr lvl="1"/>
            <a:r>
              <a:rPr lang="en-US" altLang="zh-TW" dirty="0" err="1"/>
              <a:t>VirtualGL</a:t>
            </a:r>
            <a:endParaRPr lang="en-US" altLang="zh-TW" dirty="0"/>
          </a:p>
          <a:p>
            <a:pPr lvl="2"/>
            <a:r>
              <a:rPr lang="en-US" altLang="zh-TW" dirty="0"/>
              <a:t>http://www.virtualgl.org/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04048" y="1599643"/>
            <a:ext cx="2490782" cy="9153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88025" y="3975907"/>
            <a:ext cx="2431226" cy="7699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290097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Other Issues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The concept of “API </a:t>
            </a:r>
            <a:r>
              <a:rPr lang="en-US" altLang="zh-TW" dirty="0" err="1"/>
              <a:t>Remoting</a:t>
            </a:r>
            <a:r>
              <a:rPr lang="en-US" altLang="zh-TW" dirty="0"/>
              <a:t>” is simple, but implementation is cumbersome. </a:t>
            </a:r>
          </a:p>
          <a:p>
            <a:r>
              <a:rPr lang="en-US" altLang="zh-TW" dirty="0"/>
              <a:t>Engineers have to maintain all APIs to be emulated, but API spec may change in the future. </a:t>
            </a:r>
          </a:p>
          <a:p>
            <a:r>
              <a:rPr lang="en-US" altLang="zh-TW" dirty="0"/>
              <a:t>There are many different APIs related to GPU. Example: OpenGL, DirectX, CUDA, </a:t>
            </a:r>
            <a:r>
              <a:rPr lang="en-US" altLang="zh-TW" dirty="0" err="1"/>
              <a:t>OpenCL</a:t>
            </a:r>
            <a:r>
              <a:rPr lang="en-US" altLang="zh-TW" dirty="0"/>
              <a:t>…</a:t>
            </a:r>
          </a:p>
          <a:p>
            <a:pPr lvl="1"/>
            <a:r>
              <a:rPr lang="en-US" altLang="zh-TW" dirty="0"/>
              <a:t>VMware View 5.2 </a:t>
            </a:r>
            <a:r>
              <a:rPr lang="en-US" altLang="zh-TW" dirty="0" err="1"/>
              <a:t>vSGA</a:t>
            </a:r>
            <a:r>
              <a:rPr lang="en-US" altLang="zh-TW" dirty="0"/>
              <a:t> support DirectX</a:t>
            </a:r>
          </a:p>
          <a:p>
            <a:pPr lvl="1"/>
            <a:r>
              <a:rPr lang="en-US" altLang="zh-TW" dirty="0" err="1"/>
              <a:t>rCUDA</a:t>
            </a:r>
            <a:r>
              <a:rPr lang="en-US" altLang="zh-TW" dirty="0"/>
              <a:t> support CUDA</a:t>
            </a:r>
          </a:p>
          <a:p>
            <a:pPr lvl="1"/>
            <a:r>
              <a:rPr lang="en-US" altLang="zh-TW" dirty="0" err="1"/>
              <a:t>VirtualGL</a:t>
            </a:r>
            <a:r>
              <a:rPr lang="en-US" altLang="zh-TW" dirty="0"/>
              <a:t> support OpenGL</a:t>
            </a:r>
          </a:p>
        </p:txBody>
      </p:sp>
    </p:spTree>
    <p:extLst>
      <p:ext uri="{BB962C8B-B14F-4D97-AF65-F5344CB8AC3E}">
        <p14:creationId xmlns:p14="http://schemas.microsoft.com/office/powerpoint/2010/main" val="16303726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Device Emulation</a:t>
            </a:r>
          </a:p>
        </p:txBody>
      </p:sp>
      <p:grpSp>
        <p:nvGrpSpPr>
          <p:cNvPr id="2" name="群組 30"/>
          <p:cNvGrpSpPr/>
          <p:nvPr/>
        </p:nvGrpSpPr>
        <p:grpSpPr>
          <a:xfrm>
            <a:off x="1803032" y="2139702"/>
            <a:ext cx="5540464" cy="2808312"/>
            <a:chOff x="98242" y="1371600"/>
            <a:chExt cx="8817158" cy="4953000"/>
          </a:xfrm>
        </p:grpSpPr>
        <p:sp>
          <p:nvSpPr>
            <p:cNvPr id="17411" name="AutoShape 40"/>
            <p:cNvSpPr>
              <a:spLocks noChangeArrowheads="1"/>
            </p:cNvSpPr>
            <p:nvPr/>
          </p:nvSpPr>
          <p:spPr bwMode="auto">
            <a:xfrm>
              <a:off x="4876800" y="48006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GPU</a:t>
              </a:r>
            </a:p>
          </p:txBody>
        </p:sp>
        <p:sp>
          <p:nvSpPr>
            <p:cNvPr id="5" name="AutoShape 37"/>
            <p:cNvSpPr>
              <a:spLocks noChangeArrowheads="1"/>
            </p:cNvSpPr>
            <p:nvPr/>
          </p:nvSpPr>
          <p:spPr bwMode="auto">
            <a:xfrm>
              <a:off x="4876800" y="2057400"/>
              <a:ext cx="2667000" cy="1752600"/>
            </a:xfrm>
            <a:prstGeom prst="roundRect">
              <a:avLst>
                <a:gd name="adj" fmla="val 7992"/>
              </a:avLst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en-US" sz="1050" dirty="0"/>
            </a:p>
          </p:txBody>
        </p:sp>
        <p:sp>
          <p:nvSpPr>
            <p:cNvPr id="17413" name="AutoShape 8"/>
            <p:cNvSpPr>
              <a:spLocks noChangeArrowheads="1"/>
            </p:cNvSpPr>
            <p:nvPr/>
          </p:nvSpPr>
          <p:spPr bwMode="auto">
            <a:xfrm>
              <a:off x="4876800" y="4343400"/>
              <a:ext cx="2667000" cy="304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GPU Driver</a:t>
              </a:r>
            </a:p>
          </p:txBody>
        </p:sp>
        <p:sp>
          <p:nvSpPr>
            <p:cNvPr id="17414" name="AutoShape 8"/>
            <p:cNvSpPr>
              <a:spLocks noChangeArrowheads="1"/>
            </p:cNvSpPr>
            <p:nvPr/>
          </p:nvSpPr>
          <p:spPr bwMode="auto">
            <a:xfrm>
              <a:off x="4876800" y="3962400"/>
              <a:ext cx="2667000" cy="304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OpenGL / Direct3D</a:t>
              </a:r>
            </a:p>
          </p:txBody>
        </p:sp>
        <p:sp>
          <p:nvSpPr>
            <p:cNvPr id="17415" name="TextBox 12"/>
            <p:cNvSpPr txBox="1">
              <a:spLocks noChangeArrowheads="1"/>
            </p:cNvSpPr>
            <p:nvPr/>
          </p:nvSpPr>
          <p:spPr bwMode="auto">
            <a:xfrm>
              <a:off x="7543801" y="4876799"/>
              <a:ext cx="1371599" cy="447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50"/>
                <a:t>Hardware</a:t>
              </a:r>
            </a:p>
          </p:txBody>
        </p:sp>
        <p:sp>
          <p:nvSpPr>
            <p:cNvPr id="17416" name="TextBox 13"/>
            <p:cNvSpPr txBox="1">
              <a:spLocks noChangeArrowheads="1"/>
            </p:cNvSpPr>
            <p:nvPr/>
          </p:nvSpPr>
          <p:spPr bwMode="auto">
            <a:xfrm>
              <a:off x="7543801" y="4343401"/>
              <a:ext cx="1371599" cy="447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50"/>
                <a:t>Kernel</a:t>
              </a:r>
            </a:p>
          </p:txBody>
        </p:sp>
        <p:cxnSp>
          <p:nvCxnSpPr>
            <p:cNvPr id="19" name="Straight Connector 18"/>
            <p:cNvCxnSpPr/>
            <p:nvPr/>
          </p:nvCxnSpPr>
          <p:spPr>
            <a:xfrm rot="5400000">
              <a:off x="2020888" y="3848100"/>
              <a:ext cx="4951412" cy="1588"/>
            </a:xfrm>
            <a:prstGeom prst="line">
              <a:avLst/>
            </a:prstGeom>
            <a:ln w="4762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18" name="TextBox 20"/>
            <p:cNvSpPr txBox="1">
              <a:spLocks noChangeArrowheads="1"/>
            </p:cNvSpPr>
            <p:nvPr/>
          </p:nvSpPr>
          <p:spPr bwMode="auto">
            <a:xfrm>
              <a:off x="4572001" y="1371600"/>
              <a:ext cx="860210" cy="529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350"/>
                <a:t>Host</a:t>
              </a:r>
            </a:p>
          </p:txBody>
        </p:sp>
        <p:sp>
          <p:nvSpPr>
            <p:cNvPr id="17419" name="TextBox 21"/>
            <p:cNvSpPr txBox="1">
              <a:spLocks noChangeArrowheads="1"/>
            </p:cNvSpPr>
            <p:nvPr/>
          </p:nvSpPr>
          <p:spPr bwMode="auto">
            <a:xfrm>
              <a:off x="3362447" y="1371600"/>
              <a:ext cx="1028579" cy="529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350" dirty="0"/>
                <a:t>Guest</a:t>
              </a:r>
            </a:p>
          </p:txBody>
        </p:sp>
        <p:sp>
          <p:nvSpPr>
            <p:cNvPr id="17420" name="TextBox 22"/>
            <p:cNvSpPr txBox="1">
              <a:spLocks noChangeArrowheads="1"/>
            </p:cNvSpPr>
            <p:nvPr/>
          </p:nvSpPr>
          <p:spPr bwMode="auto">
            <a:xfrm>
              <a:off x="7543801" y="3962401"/>
              <a:ext cx="1371599" cy="447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50"/>
                <a:t>API</a:t>
              </a:r>
            </a:p>
          </p:txBody>
        </p:sp>
        <p:sp>
          <p:nvSpPr>
            <p:cNvPr id="17421" name="TextBox 23"/>
            <p:cNvSpPr txBox="1">
              <a:spLocks noChangeArrowheads="1"/>
            </p:cNvSpPr>
            <p:nvPr/>
          </p:nvSpPr>
          <p:spPr bwMode="auto">
            <a:xfrm>
              <a:off x="7543801" y="2743199"/>
              <a:ext cx="1371599" cy="447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50" dirty="0"/>
                <a:t>User-level</a:t>
              </a:r>
            </a:p>
          </p:txBody>
        </p:sp>
        <p:sp>
          <p:nvSpPr>
            <p:cNvPr id="17422" name="AutoShape 10"/>
            <p:cNvSpPr>
              <a:spLocks noChangeArrowheads="1"/>
            </p:cNvSpPr>
            <p:nvPr/>
          </p:nvSpPr>
          <p:spPr bwMode="auto">
            <a:xfrm>
              <a:off x="5029200" y="3352800"/>
              <a:ext cx="2362200" cy="304800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Rendering Backend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7423" name="AutoShape 40"/>
            <p:cNvSpPr>
              <a:spLocks noChangeArrowheads="1"/>
            </p:cNvSpPr>
            <p:nvPr/>
          </p:nvSpPr>
          <p:spPr bwMode="auto">
            <a:xfrm>
              <a:off x="1447800" y="48006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Virtual GPU</a:t>
              </a:r>
            </a:p>
          </p:txBody>
        </p:sp>
        <p:sp>
          <p:nvSpPr>
            <p:cNvPr id="17424" name="AutoShape 8"/>
            <p:cNvSpPr>
              <a:spLocks noChangeArrowheads="1"/>
            </p:cNvSpPr>
            <p:nvPr/>
          </p:nvSpPr>
          <p:spPr bwMode="auto">
            <a:xfrm>
              <a:off x="1447800" y="4343400"/>
              <a:ext cx="2667000" cy="304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Virtual GPU Driver</a:t>
              </a:r>
            </a:p>
          </p:txBody>
        </p:sp>
        <p:sp>
          <p:nvSpPr>
            <p:cNvPr id="17425" name="AutoShape 37"/>
            <p:cNvSpPr>
              <a:spLocks noChangeArrowheads="1"/>
            </p:cNvSpPr>
            <p:nvPr/>
          </p:nvSpPr>
          <p:spPr bwMode="auto">
            <a:xfrm>
              <a:off x="1447800" y="3124200"/>
              <a:ext cx="8382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7426" name="AutoShape 37"/>
            <p:cNvSpPr>
              <a:spLocks noChangeArrowheads="1"/>
            </p:cNvSpPr>
            <p:nvPr/>
          </p:nvSpPr>
          <p:spPr bwMode="auto">
            <a:xfrm>
              <a:off x="2362200" y="3124200"/>
              <a:ext cx="8382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7427" name="AutoShape 37"/>
            <p:cNvSpPr>
              <a:spLocks noChangeArrowheads="1"/>
            </p:cNvSpPr>
            <p:nvPr/>
          </p:nvSpPr>
          <p:spPr bwMode="auto">
            <a:xfrm>
              <a:off x="3276600" y="3124200"/>
              <a:ext cx="8382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7428" name="TextBox 48"/>
            <p:cNvSpPr txBox="1">
              <a:spLocks noChangeArrowheads="1"/>
            </p:cNvSpPr>
            <p:nvPr/>
          </p:nvSpPr>
          <p:spPr bwMode="auto">
            <a:xfrm>
              <a:off x="98242" y="4876799"/>
              <a:ext cx="1319396" cy="447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50"/>
                <a:t>Virtual HW</a:t>
              </a:r>
            </a:p>
          </p:txBody>
        </p:sp>
        <p:sp>
          <p:nvSpPr>
            <p:cNvPr id="17429" name="TextBox 49"/>
            <p:cNvSpPr txBox="1">
              <a:spLocks noChangeArrowheads="1"/>
            </p:cNvSpPr>
            <p:nvPr/>
          </p:nvSpPr>
          <p:spPr bwMode="auto">
            <a:xfrm>
              <a:off x="547342" y="4343401"/>
              <a:ext cx="916333" cy="447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50"/>
                <a:t>Kernel</a:t>
              </a:r>
            </a:p>
          </p:txBody>
        </p:sp>
        <p:sp>
          <p:nvSpPr>
            <p:cNvPr id="17430" name="TextBox 50"/>
            <p:cNvSpPr txBox="1">
              <a:spLocks noChangeArrowheads="1"/>
            </p:cNvSpPr>
            <p:nvPr/>
          </p:nvSpPr>
          <p:spPr bwMode="auto">
            <a:xfrm>
              <a:off x="826991" y="3962401"/>
              <a:ext cx="638271" cy="447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50"/>
                <a:t>API</a:t>
              </a:r>
            </a:p>
          </p:txBody>
        </p:sp>
        <p:sp>
          <p:nvSpPr>
            <p:cNvPr id="17431" name="AutoShape 8"/>
            <p:cNvSpPr>
              <a:spLocks noChangeArrowheads="1"/>
            </p:cNvSpPr>
            <p:nvPr/>
          </p:nvSpPr>
          <p:spPr bwMode="auto">
            <a:xfrm>
              <a:off x="1447800" y="3962400"/>
              <a:ext cx="2667000" cy="304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OpenGL / Direct3D</a:t>
              </a:r>
            </a:p>
          </p:txBody>
        </p:sp>
        <p:sp>
          <p:nvSpPr>
            <p:cNvPr id="17432" name="AutoShape 10"/>
            <p:cNvSpPr>
              <a:spLocks noChangeArrowheads="1"/>
            </p:cNvSpPr>
            <p:nvPr/>
          </p:nvSpPr>
          <p:spPr bwMode="auto">
            <a:xfrm>
              <a:off x="5029200" y="2971800"/>
              <a:ext cx="2362200" cy="304800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Shader / State Translator</a:t>
              </a:r>
              <a:endParaRPr lang="en-US" sz="600">
                <a:solidFill>
                  <a:schemeClr val="bg1"/>
                </a:solidFill>
              </a:endParaRPr>
            </a:p>
          </p:txBody>
        </p:sp>
        <p:sp>
          <p:nvSpPr>
            <p:cNvPr id="17433" name="AutoShape 10"/>
            <p:cNvSpPr>
              <a:spLocks noChangeArrowheads="1"/>
            </p:cNvSpPr>
            <p:nvPr/>
          </p:nvSpPr>
          <p:spPr bwMode="auto">
            <a:xfrm>
              <a:off x="5029200" y="2590800"/>
              <a:ext cx="2362200" cy="304800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Resource Management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7434" name="AutoShape 10"/>
            <p:cNvSpPr>
              <a:spLocks noChangeArrowheads="1"/>
            </p:cNvSpPr>
            <p:nvPr/>
          </p:nvSpPr>
          <p:spPr bwMode="auto">
            <a:xfrm>
              <a:off x="5029200" y="2209800"/>
              <a:ext cx="2362200" cy="304800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</a:rPr>
                <a:t>GPU Emulator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cxnSp>
          <p:nvCxnSpPr>
            <p:cNvPr id="29" name="Shape 55"/>
            <p:cNvCxnSpPr>
              <a:stCxn id="17423" idx="3"/>
              <a:endCxn id="17434" idx="1"/>
            </p:cNvCxnSpPr>
            <p:nvPr/>
          </p:nvCxnSpPr>
          <p:spPr>
            <a:xfrm flipV="1">
              <a:off x="4114800" y="2362200"/>
              <a:ext cx="914400" cy="2667000"/>
            </a:xfrm>
            <a:prstGeom prst="curvedConnector3">
              <a:avLst>
                <a:gd name="adj1" fmla="val 40361"/>
              </a:avLst>
            </a:prstGeom>
            <a:ln w="95250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36" name="AutoShape 40"/>
            <p:cNvSpPr>
              <a:spLocks noChangeArrowheads="1"/>
            </p:cNvSpPr>
            <p:nvPr/>
          </p:nvSpPr>
          <p:spPr bwMode="auto">
            <a:xfrm>
              <a:off x="3581400" y="5562600"/>
              <a:ext cx="1828800" cy="609600"/>
            </a:xfrm>
            <a:prstGeom prst="roundRect">
              <a:avLst>
                <a:gd name="adj" fmla="val 16667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Shared System</a:t>
              </a:r>
            </a:p>
            <a:p>
              <a:pPr algn="ctr"/>
              <a:r>
                <a:rPr lang="en-US" sz="1050">
                  <a:solidFill>
                    <a:srgbClr val="FFFFFF"/>
                  </a:solidFill>
                </a:rPr>
                <a:t>Memory</a:t>
              </a:r>
            </a:p>
          </p:txBody>
        </p:sp>
      </p:grpSp>
      <p:sp>
        <p:nvSpPr>
          <p:cNvPr id="30" name="內容版面配置區 2"/>
          <p:cNvSpPr>
            <a:spLocks noGrp="1"/>
          </p:cNvSpPr>
          <p:nvPr>
            <p:ph idx="1"/>
          </p:nvPr>
        </p:nvSpPr>
        <p:spPr>
          <a:xfrm>
            <a:off x="1601670" y="951570"/>
            <a:ext cx="6048672" cy="1080120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Fully </a:t>
            </a:r>
            <a:r>
              <a:rPr lang="en-US" altLang="zh-TW" dirty="0" err="1"/>
              <a:t>virtualize</a:t>
            </a:r>
            <a:r>
              <a:rPr lang="en-US" altLang="zh-TW" dirty="0"/>
              <a:t> an existing physical GPU </a:t>
            </a:r>
          </a:p>
          <a:p>
            <a:r>
              <a:rPr lang="en-US" altLang="zh-TW" dirty="0"/>
              <a:t>Like API </a:t>
            </a:r>
            <a:r>
              <a:rPr lang="en-US" altLang="zh-TW" dirty="0" err="1"/>
              <a:t>remoting</a:t>
            </a:r>
            <a:r>
              <a:rPr lang="en-US" altLang="zh-TW" dirty="0"/>
              <a:t>, but Back-end have to maintain GPU resources and GPU state</a:t>
            </a:r>
            <a:endParaRPr lang="zh-TW" altLang="en-US" dirty="0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Device Emulation</a:t>
            </a:r>
          </a:p>
        </p:txBody>
      </p:sp>
      <p:sp>
        <p:nvSpPr>
          <p:cNvPr id="30" name="內容版面配置區 2"/>
          <p:cNvSpPr>
            <a:spLocks noGrp="1"/>
          </p:cNvSpPr>
          <p:nvPr>
            <p:ph idx="1"/>
          </p:nvPr>
        </p:nvSpPr>
        <p:spPr>
          <a:xfrm>
            <a:off x="1601670" y="951570"/>
            <a:ext cx="6048672" cy="3672408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Pro</a:t>
            </a:r>
          </a:p>
          <a:p>
            <a:pPr lvl="1"/>
            <a:r>
              <a:rPr lang="en-US" altLang="zh-TW" dirty="0"/>
              <a:t>Easy interposition (debugging, </a:t>
            </a:r>
            <a:r>
              <a:rPr lang="en-US" altLang="zh-TW" dirty="0" err="1"/>
              <a:t>checkpointing</a:t>
            </a:r>
            <a:r>
              <a:rPr lang="en-US" altLang="zh-TW" dirty="0"/>
              <a:t>, portability)</a:t>
            </a:r>
          </a:p>
          <a:p>
            <a:pPr lvl="1"/>
            <a:r>
              <a:rPr lang="en-US" altLang="zh-TW" dirty="0"/>
              <a:t>Thin and idealized interface between guest and host</a:t>
            </a:r>
          </a:p>
          <a:p>
            <a:pPr lvl="1"/>
            <a:r>
              <a:rPr lang="en-US" altLang="zh-TW" dirty="0"/>
              <a:t>Great portability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Con</a:t>
            </a:r>
          </a:p>
          <a:p>
            <a:pPr lvl="1"/>
            <a:r>
              <a:rPr lang="en-US" altLang="zh-TW" dirty="0"/>
              <a:t>Extremely hard, inefficient</a:t>
            </a:r>
          </a:p>
          <a:p>
            <a:pPr lvl="1"/>
            <a:r>
              <a:rPr lang="en-US" altLang="zh-TW" dirty="0"/>
              <a:t>Very hard to emulate a real GPU</a:t>
            </a:r>
          </a:p>
          <a:p>
            <a:pPr lvl="1"/>
            <a:r>
              <a:rPr lang="en-US" altLang="zh-TW" dirty="0"/>
              <a:t>Moving target- real GPUs change often</a:t>
            </a:r>
          </a:p>
          <a:p>
            <a:pPr lvl="1"/>
            <a:r>
              <a:rPr lang="en-US" altLang="zh-TW" dirty="0"/>
              <a:t>At the mercy of vendor’s driver bugs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Fixed Pass-Through</a:t>
            </a:r>
          </a:p>
        </p:txBody>
      </p:sp>
      <p:grpSp>
        <p:nvGrpSpPr>
          <p:cNvPr id="22" name="群組 21"/>
          <p:cNvGrpSpPr/>
          <p:nvPr/>
        </p:nvGrpSpPr>
        <p:grpSpPr>
          <a:xfrm>
            <a:off x="4696758" y="2191680"/>
            <a:ext cx="2845571" cy="2864346"/>
            <a:chOff x="3066279" y="1524000"/>
            <a:chExt cx="3105921" cy="4572000"/>
          </a:xfrm>
        </p:grpSpPr>
        <p:sp>
          <p:nvSpPr>
            <p:cNvPr id="19458" name="AutoShape 10"/>
            <p:cNvSpPr>
              <a:spLocks noChangeArrowheads="1"/>
            </p:cNvSpPr>
            <p:nvPr/>
          </p:nvSpPr>
          <p:spPr bwMode="auto">
            <a:xfrm>
              <a:off x="3124200" y="1524000"/>
              <a:ext cx="3048000" cy="2971800"/>
            </a:xfrm>
            <a:prstGeom prst="roundRect">
              <a:avLst>
                <a:gd name="adj" fmla="val 6602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Virtual Machine</a:t>
              </a:r>
              <a:endParaRPr lang="en-US" sz="600">
                <a:solidFill>
                  <a:schemeClr val="bg1"/>
                </a:solidFill>
              </a:endParaRPr>
            </a:p>
          </p:txBody>
        </p:sp>
        <p:sp>
          <p:nvSpPr>
            <p:cNvPr id="27" name="AutoShape 8"/>
            <p:cNvSpPr>
              <a:spLocks noChangeArrowheads="1"/>
            </p:cNvSpPr>
            <p:nvPr/>
          </p:nvSpPr>
          <p:spPr bwMode="auto">
            <a:xfrm>
              <a:off x="3276600" y="1905000"/>
              <a:ext cx="2743200" cy="2438400"/>
            </a:xfrm>
            <a:prstGeom prst="roundRect">
              <a:avLst>
                <a:gd name="adj" fmla="val 6219"/>
              </a:avLst>
            </a:prstGeom>
            <a:ln>
              <a:noFill/>
              <a:headEnd/>
              <a:tailEnd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sz="1050" dirty="0">
                  <a:solidFill>
                    <a:schemeClr val="bg1"/>
                  </a:solidFill>
                </a:rPr>
                <a:t>OpenGL / Direct3D / Compute</a:t>
              </a:r>
            </a:p>
          </p:txBody>
        </p:sp>
        <p:sp>
          <p:nvSpPr>
            <p:cNvPr id="19461" name="AutoShape 37"/>
            <p:cNvSpPr>
              <a:spLocks noChangeArrowheads="1"/>
            </p:cNvSpPr>
            <p:nvPr/>
          </p:nvSpPr>
          <p:spPr bwMode="auto">
            <a:xfrm>
              <a:off x="3429000" y="2057400"/>
              <a:ext cx="7620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9462" name="AutoShape 8"/>
            <p:cNvSpPr>
              <a:spLocks noChangeArrowheads="1"/>
            </p:cNvSpPr>
            <p:nvPr/>
          </p:nvSpPr>
          <p:spPr bwMode="auto">
            <a:xfrm>
              <a:off x="3429000" y="3276600"/>
              <a:ext cx="2438400" cy="3810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GPU Driver</a:t>
              </a:r>
            </a:p>
          </p:txBody>
        </p:sp>
        <p:sp>
          <p:nvSpPr>
            <p:cNvPr id="19463" name="AutoShape 37"/>
            <p:cNvSpPr>
              <a:spLocks noChangeArrowheads="1"/>
            </p:cNvSpPr>
            <p:nvPr/>
          </p:nvSpPr>
          <p:spPr bwMode="auto">
            <a:xfrm>
              <a:off x="4267200" y="2057400"/>
              <a:ext cx="7620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9464" name="AutoShape 37"/>
            <p:cNvSpPr>
              <a:spLocks noChangeArrowheads="1"/>
            </p:cNvSpPr>
            <p:nvPr/>
          </p:nvSpPr>
          <p:spPr bwMode="auto">
            <a:xfrm>
              <a:off x="5105400" y="2057400"/>
              <a:ext cx="762000" cy="685800"/>
            </a:xfrm>
            <a:prstGeom prst="roundRect">
              <a:avLst>
                <a:gd name="adj" fmla="val 16667"/>
              </a:avLst>
            </a:prstGeom>
            <a:solidFill>
              <a:srgbClr val="FF640A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9465" name="AutoShape 8"/>
            <p:cNvSpPr>
              <a:spLocks noChangeArrowheads="1"/>
            </p:cNvSpPr>
            <p:nvPr/>
          </p:nvSpPr>
          <p:spPr bwMode="auto">
            <a:xfrm>
              <a:off x="3429000" y="2819400"/>
              <a:ext cx="2438400" cy="3810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chemeClr val="bg1"/>
                  </a:solidFill>
                </a:rPr>
                <a:t>API</a:t>
              </a:r>
            </a:p>
          </p:txBody>
        </p:sp>
        <p:cxnSp>
          <p:nvCxnSpPr>
            <p:cNvPr id="57" name="Straight Connector 56"/>
            <p:cNvCxnSpPr/>
            <p:nvPr/>
          </p:nvCxnSpPr>
          <p:spPr>
            <a:xfrm rot="5400000">
              <a:off x="3544094" y="4914106"/>
              <a:ext cx="1447800" cy="1588"/>
            </a:xfrm>
            <a:prstGeom prst="line">
              <a:avLst/>
            </a:prstGeom>
            <a:ln w="123825">
              <a:solidFill>
                <a:srgbClr val="00206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5400000">
              <a:off x="5068094" y="5066506"/>
              <a:ext cx="1143000" cy="1588"/>
            </a:xfrm>
            <a:prstGeom prst="line">
              <a:avLst/>
            </a:prstGeom>
            <a:ln w="4445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68" name="AutoShape 40"/>
            <p:cNvSpPr>
              <a:spLocks noChangeArrowheads="1"/>
            </p:cNvSpPr>
            <p:nvPr/>
          </p:nvSpPr>
          <p:spPr bwMode="auto">
            <a:xfrm>
              <a:off x="3429000" y="3733800"/>
              <a:ext cx="2438400" cy="457200"/>
            </a:xfrm>
            <a:prstGeom prst="roundRect">
              <a:avLst>
                <a:gd name="adj" fmla="val 16667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</a:rPr>
                <a:t>Pass-through GPU</a:t>
              </a:r>
            </a:p>
          </p:txBody>
        </p:sp>
        <p:sp>
          <p:nvSpPr>
            <p:cNvPr id="19469" name="AutoShape 40"/>
            <p:cNvSpPr>
              <a:spLocks noChangeArrowheads="1"/>
            </p:cNvSpPr>
            <p:nvPr/>
          </p:nvSpPr>
          <p:spPr bwMode="auto">
            <a:xfrm>
              <a:off x="3429000" y="5638800"/>
              <a:ext cx="2438400" cy="457200"/>
            </a:xfrm>
            <a:prstGeom prst="roundRect">
              <a:avLst>
                <a:gd name="adj" fmla="val 16667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Physical GPU</a:t>
              </a:r>
            </a:p>
          </p:txBody>
        </p:sp>
        <p:sp>
          <p:nvSpPr>
            <p:cNvPr id="19470" name="TextBox 63"/>
            <p:cNvSpPr txBox="1">
              <a:spLocks noChangeArrowheads="1"/>
            </p:cNvSpPr>
            <p:nvPr/>
          </p:nvSpPr>
          <p:spPr bwMode="auto">
            <a:xfrm>
              <a:off x="5638800" y="4572000"/>
              <a:ext cx="516501" cy="478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350"/>
                <a:t>PCI</a:t>
              </a:r>
            </a:p>
          </p:txBody>
        </p:sp>
        <p:cxnSp>
          <p:nvCxnSpPr>
            <p:cNvPr id="67" name="Straight Connector 66"/>
            <p:cNvCxnSpPr/>
            <p:nvPr/>
          </p:nvCxnSpPr>
          <p:spPr>
            <a:xfrm rot="5400000">
              <a:off x="4306094" y="4914106"/>
              <a:ext cx="1447800" cy="1588"/>
            </a:xfrm>
            <a:prstGeom prst="line">
              <a:avLst/>
            </a:prstGeom>
            <a:ln w="44450">
              <a:solidFill>
                <a:srgbClr val="002060"/>
              </a:solidFill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72" name="TextBox 67"/>
            <p:cNvSpPr txBox="1">
              <a:spLocks noChangeArrowheads="1"/>
            </p:cNvSpPr>
            <p:nvPr/>
          </p:nvSpPr>
          <p:spPr bwMode="auto">
            <a:xfrm>
              <a:off x="5029200" y="4572000"/>
              <a:ext cx="537498" cy="478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350"/>
                <a:t>IRQ</a:t>
              </a:r>
            </a:p>
          </p:txBody>
        </p:sp>
        <p:sp>
          <p:nvSpPr>
            <p:cNvPr id="19473" name="TextBox 70"/>
            <p:cNvSpPr txBox="1">
              <a:spLocks noChangeArrowheads="1"/>
            </p:cNvSpPr>
            <p:nvPr/>
          </p:nvSpPr>
          <p:spPr bwMode="auto">
            <a:xfrm>
              <a:off x="4267200" y="4572000"/>
              <a:ext cx="715964" cy="478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350"/>
                <a:t>MMIO</a:t>
              </a:r>
            </a:p>
          </p:txBody>
        </p:sp>
        <p:cxnSp>
          <p:nvCxnSpPr>
            <p:cNvPr id="73" name="Straight Connector 72"/>
            <p:cNvCxnSpPr/>
            <p:nvPr/>
          </p:nvCxnSpPr>
          <p:spPr>
            <a:xfrm rot="5400000">
              <a:off x="3011487" y="4913313"/>
              <a:ext cx="1446213" cy="1588"/>
            </a:xfrm>
            <a:prstGeom prst="line">
              <a:avLst/>
            </a:prstGeom>
            <a:ln w="123825">
              <a:solidFill>
                <a:srgbClr val="00206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75" name="AutoShape 40"/>
            <p:cNvSpPr>
              <a:spLocks noChangeArrowheads="1"/>
            </p:cNvSpPr>
            <p:nvPr/>
          </p:nvSpPr>
          <p:spPr bwMode="auto">
            <a:xfrm>
              <a:off x="3429000" y="5029200"/>
              <a:ext cx="533400" cy="457200"/>
            </a:xfrm>
            <a:prstGeom prst="roundRect">
              <a:avLst>
                <a:gd name="adj" fmla="val 16667"/>
              </a:avLst>
            </a:prstGeom>
            <a:solidFill>
              <a:srgbClr val="33691C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>
                  <a:solidFill>
                    <a:srgbClr val="FFFFFF"/>
                  </a:solidFill>
                </a:rPr>
                <a:t>VT-d</a:t>
              </a:r>
            </a:p>
          </p:txBody>
        </p:sp>
        <p:sp>
          <p:nvSpPr>
            <p:cNvPr id="19476" name="TextBox 77"/>
            <p:cNvSpPr txBox="1">
              <a:spLocks noChangeArrowheads="1"/>
            </p:cNvSpPr>
            <p:nvPr/>
          </p:nvSpPr>
          <p:spPr bwMode="auto">
            <a:xfrm>
              <a:off x="3066279" y="4572000"/>
              <a:ext cx="621483" cy="478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350"/>
                <a:t>DMA</a:t>
              </a:r>
            </a:p>
          </p:txBody>
        </p:sp>
      </p:grpSp>
      <p:sp>
        <p:nvSpPr>
          <p:cNvPr id="21" name="內容版面配置區 2"/>
          <p:cNvSpPr>
            <a:spLocks noGrp="1"/>
          </p:cNvSpPr>
          <p:nvPr>
            <p:ph idx="1"/>
          </p:nvPr>
        </p:nvSpPr>
        <p:spPr>
          <a:xfrm>
            <a:off x="1439652" y="951570"/>
            <a:ext cx="6048672" cy="1890210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/>
              <a:t>Use VT-d to </a:t>
            </a:r>
            <a:r>
              <a:rPr lang="en-US" altLang="zh-TW" dirty="0" err="1"/>
              <a:t>virtualize</a:t>
            </a:r>
            <a:r>
              <a:rPr lang="en-US" altLang="zh-TW" dirty="0"/>
              <a:t> memory</a:t>
            </a:r>
          </a:p>
          <a:p>
            <a:r>
              <a:rPr lang="en-US" altLang="zh-TW" dirty="0"/>
              <a:t>VM accesses GPU MMIO directly</a:t>
            </a:r>
          </a:p>
          <a:p>
            <a:r>
              <a:rPr lang="en-US" altLang="zh-TW" dirty="0"/>
              <a:t>GPU accesses guest memory directly</a:t>
            </a:r>
          </a:p>
          <a:p>
            <a:r>
              <a:rPr lang="en-US" altLang="zh-TW" dirty="0"/>
              <a:t>Example</a:t>
            </a:r>
          </a:p>
          <a:p>
            <a:pPr lvl="1"/>
            <a:r>
              <a:rPr lang="en-US" altLang="zh-TW" dirty="0"/>
              <a:t>Citrix </a:t>
            </a:r>
            <a:r>
              <a:rPr lang="en-US" altLang="zh-TW" dirty="0" err="1"/>
              <a:t>XenServer</a:t>
            </a:r>
            <a:endParaRPr lang="en-US" altLang="zh-TW" dirty="0"/>
          </a:p>
          <a:p>
            <a:pPr lvl="1"/>
            <a:r>
              <a:rPr lang="en-US" altLang="zh-TW" dirty="0"/>
              <a:t>VMware </a:t>
            </a:r>
            <a:r>
              <a:rPr lang="en-US" altLang="zh-TW" dirty="0" err="1"/>
              <a:t>ESXi</a:t>
            </a:r>
            <a:endParaRPr lang="zh-TW" altLang="en-US" dirty="0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Fixed Pass-Through</a:t>
            </a:r>
          </a:p>
        </p:txBody>
      </p:sp>
      <p:sp>
        <p:nvSpPr>
          <p:cNvPr id="21" name="內容版面配置區 2"/>
          <p:cNvSpPr>
            <a:spLocks noGrp="1"/>
          </p:cNvSpPr>
          <p:nvPr>
            <p:ph idx="1"/>
          </p:nvPr>
        </p:nvSpPr>
        <p:spPr>
          <a:xfrm>
            <a:off x="1439652" y="843558"/>
            <a:ext cx="6048672" cy="3780420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Pro</a:t>
            </a:r>
          </a:p>
          <a:p>
            <a:pPr lvl="1"/>
            <a:r>
              <a:rPr lang="en-US" altLang="zh-TW" dirty="0"/>
              <a:t>Native speed</a:t>
            </a:r>
          </a:p>
          <a:p>
            <a:pPr lvl="1"/>
            <a:r>
              <a:rPr lang="en-US" altLang="zh-TW" dirty="0"/>
              <a:t>Full GPU feature set available</a:t>
            </a:r>
          </a:p>
          <a:p>
            <a:pPr lvl="1"/>
            <a:r>
              <a:rPr lang="en-US" altLang="zh-TW" dirty="0"/>
              <a:t>Should be extremely simple</a:t>
            </a:r>
          </a:p>
          <a:p>
            <a:pPr lvl="1"/>
            <a:r>
              <a:rPr lang="en-US" altLang="zh-TW" dirty="0"/>
              <a:t>No drivers to write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Con</a:t>
            </a:r>
          </a:p>
          <a:p>
            <a:pPr lvl="1"/>
            <a:r>
              <a:rPr lang="en-US" altLang="zh-TW" dirty="0"/>
              <a:t>Need vendor-specific drivers in VM</a:t>
            </a:r>
          </a:p>
          <a:p>
            <a:pPr lvl="1"/>
            <a:r>
              <a:rPr lang="en-US" altLang="zh-TW" dirty="0"/>
              <a:t>No VM goodness: No portability, no </a:t>
            </a:r>
            <a:r>
              <a:rPr lang="en-US" altLang="zh-TW" dirty="0" err="1"/>
              <a:t>checkpointing</a:t>
            </a:r>
            <a:endParaRPr lang="en-US" altLang="zh-TW" dirty="0"/>
          </a:p>
          <a:p>
            <a:pPr lvl="2"/>
            <a:r>
              <a:rPr lang="en-US" altLang="zh-TW" dirty="0"/>
              <a:t>(Unless you hot-swap the GPU device...)</a:t>
            </a:r>
          </a:p>
          <a:p>
            <a:pPr lvl="1"/>
            <a:r>
              <a:rPr lang="en-US" altLang="zh-TW" dirty="0"/>
              <a:t>The big one: One physical GPU per VM</a:t>
            </a:r>
          </a:p>
          <a:p>
            <a:pPr lvl="2"/>
            <a:r>
              <a:rPr lang="en-US" altLang="zh-TW" dirty="0"/>
              <a:t>(Can’t even share it with a host OS)</a:t>
            </a: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Mediated pass-through</a:t>
            </a:r>
          </a:p>
        </p:txBody>
      </p:sp>
      <p:sp>
        <p:nvSpPr>
          <p:cNvPr id="28" name="內容版面配置區 2"/>
          <p:cNvSpPr>
            <a:spLocks noGrp="1"/>
          </p:cNvSpPr>
          <p:nvPr>
            <p:ph idx="1"/>
          </p:nvPr>
        </p:nvSpPr>
        <p:spPr>
          <a:xfrm>
            <a:off x="1439652" y="1005576"/>
            <a:ext cx="6264696" cy="3780420"/>
          </a:xfrm>
        </p:spPr>
        <p:txBody>
          <a:bodyPr>
            <a:normAutofit fontScale="62500" lnSpcReduction="20000"/>
          </a:bodyPr>
          <a:lstStyle/>
          <a:p>
            <a:r>
              <a:rPr lang="en-US" altLang="zh-TW" dirty="0"/>
              <a:t>Similar to “self-</a:t>
            </a:r>
            <a:r>
              <a:rPr lang="en-US" altLang="zh-TW" dirty="0" err="1"/>
              <a:t>virtualizing</a:t>
            </a:r>
            <a:r>
              <a:rPr lang="en-US" altLang="zh-TW" dirty="0"/>
              <a:t>” devices, may or may not require new hardware support</a:t>
            </a:r>
          </a:p>
          <a:p>
            <a:endParaRPr lang="en-US" altLang="zh-TW" dirty="0"/>
          </a:p>
          <a:p>
            <a:r>
              <a:rPr lang="en-US" altLang="zh-TW" dirty="0"/>
              <a:t>Some GPUs already do something similar to allow multiple unprivileged processes to submit commands directly to the GPU</a:t>
            </a:r>
          </a:p>
          <a:p>
            <a:endParaRPr lang="en-US" altLang="zh-TW" dirty="0"/>
          </a:p>
          <a:p>
            <a:r>
              <a:rPr lang="en-US" altLang="zh-TW" dirty="0"/>
              <a:t>The hardware GPU interface is divided into two logical pieces</a:t>
            </a:r>
          </a:p>
          <a:p>
            <a:pPr lvl="1"/>
            <a:r>
              <a:rPr lang="en-US" altLang="zh-TW" dirty="0"/>
              <a:t>One piece is </a:t>
            </a:r>
            <a:r>
              <a:rPr lang="en-US" altLang="zh-TW" dirty="0" err="1"/>
              <a:t>virtualizable</a:t>
            </a:r>
            <a:r>
              <a:rPr lang="en-US" altLang="zh-TW" dirty="0"/>
              <a:t>, and parts of it can be mapped directly into each VM.</a:t>
            </a:r>
          </a:p>
          <a:p>
            <a:pPr lvl="2"/>
            <a:r>
              <a:rPr lang="en-US" altLang="zh-TW" dirty="0"/>
              <a:t>Rendering, DMA, other high-bandwidth activities</a:t>
            </a:r>
          </a:p>
          <a:p>
            <a:pPr lvl="1"/>
            <a:r>
              <a:rPr lang="en-US" altLang="zh-TW" dirty="0"/>
              <a:t>One piece is emulated in VMs, and backed by a system-wide resource manager driver within the VM implementation.</a:t>
            </a:r>
          </a:p>
          <a:p>
            <a:pPr lvl="2"/>
            <a:r>
              <a:rPr lang="en-US" altLang="zh-TW" dirty="0"/>
              <a:t>Memory allocation, command channel allocation, etc.</a:t>
            </a:r>
          </a:p>
          <a:p>
            <a:pPr lvl="2"/>
            <a:r>
              <a:rPr lang="en-US" altLang="zh-TW" dirty="0"/>
              <a:t>(Low-bandwidth, security/reliability critical)</a:t>
            </a:r>
            <a:endParaRPr lang="zh-TW" altLang="en-US" dirty="0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Mediated pass-through</a:t>
            </a:r>
          </a:p>
        </p:txBody>
      </p:sp>
      <p:sp>
        <p:nvSpPr>
          <p:cNvPr id="20483" name="AutoShape 40"/>
          <p:cNvSpPr>
            <a:spLocks noChangeArrowheads="1"/>
          </p:cNvSpPr>
          <p:nvPr/>
        </p:nvSpPr>
        <p:spPr bwMode="auto">
          <a:xfrm>
            <a:off x="2171700" y="4171950"/>
            <a:ext cx="4800600" cy="342900"/>
          </a:xfrm>
          <a:prstGeom prst="roundRect">
            <a:avLst>
              <a:gd name="adj" fmla="val 16667"/>
            </a:avLst>
          </a:prstGeom>
          <a:solidFill>
            <a:srgbClr val="33691C"/>
          </a:soli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50">
                <a:solidFill>
                  <a:srgbClr val="FFFFFF"/>
                </a:solidFill>
              </a:rPr>
              <a:t>Physical GPU</a:t>
            </a:r>
          </a:p>
        </p:txBody>
      </p:sp>
      <p:sp>
        <p:nvSpPr>
          <p:cNvPr id="20484" name="AutoShape 8"/>
          <p:cNvSpPr>
            <a:spLocks noChangeArrowheads="1"/>
          </p:cNvSpPr>
          <p:nvPr/>
        </p:nvSpPr>
        <p:spPr bwMode="auto">
          <a:xfrm>
            <a:off x="2171700" y="3829050"/>
            <a:ext cx="4800600" cy="2857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GPU Resource Manager</a:t>
            </a:r>
          </a:p>
        </p:txBody>
      </p:sp>
      <p:sp>
        <p:nvSpPr>
          <p:cNvPr id="20498" name="AutoShape 10"/>
          <p:cNvSpPr>
            <a:spLocks noChangeArrowheads="1"/>
          </p:cNvSpPr>
          <p:nvPr/>
        </p:nvSpPr>
        <p:spPr bwMode="auto">
          <a:xfrm>
            <a:off x="2171700" y="1143000"/>
            <a:ext cx="2286000" cy="2457450"/>
          </a:xfrm>
          <a:prstGeom prst="roundRect">
            <a:avLst>
              <a:gd name="adj" fmla="val 6602"/>
            </a:avLst>
          </a:prstGeom>
          <a:solidFill>
            <a:schemeClr val="accent1"/>
          </a:solidFill>
          <a:ln w="19050" algn="ctr">
            <a:noFill/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Virtual Machine</a:t>
            </a:r>
            <a:endParaRPr lang="en-US" sz="600">
              <a:solidFill>
                <a:schemeClr val="bg1"/>
              </a:solidFill>
            </a:endParaRPr>
          </a:p>
        </p:txBody>
      </p:sp>
      <p:sp>
        <p:nvSpPr>
          <p:cNvPr id="27" name="AutoShape 8"/>
          <p:cNvSpPr>
            <a:spLocks noChangeArrowheads="1"/>
          </p:cNvSpPr>
          <p:nvPr/>
        </p:nvSpPr>
        <p:spPr bwMode="auto">
          <a:xfrm>
            <a:off x="2286000" y="1428750"/>
            <a:ext cx="2057400" cy="1828800"/>
          </a:xfrm>
          <a:prstGeom prst="roundRect">
            <a:avLst>
              <a:gd name="adj" fmla="val 6219"/>
            </a:avLst>
          </a:prstGeom>
          <a:ln>
            <a:noFill/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1050" dirty="0">
                <a:solidFill>
                  <a:schemeClr val="bg1"/>
                </a:solidFill>
              </a:rPr>
              <a:t>OpenGL / Direct3D / Compute</a:t>
            </a:r>
          </a:p>
        </p:txBody>
      </p:sp>
      <p:sp>
        <p:nvSpPr>
          <p:cNvPr id="20500" name="AutoShape 37"/>
          <p:cNvSpPr>
            <a:spLocks noChangeArrowheads="1"/>
          </p:cNvSpPr>
          <p:nvPr/>
        </p:nvSpPr>
        <p:spPr bwMode="auto">
          <a:xfrm>
            <a:off x="2400300" y="1543050"/>
            <a:ext cx="571500" cy="514350"/>
          </a:xfrm>
          <a:prstGeom prst="roundRect">
            <a:avLst>
              <a:gd name="adj" fmla="val 16667"/>
            </a:avLst>
          </a:prstGeom>
          <a:solidFill>
            <a:srgbClr val="FF640A"/>
          </a:soli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5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20501" name="AutoShape 8"/>
          <p:cNvSpPr>
            <a:spLocks noChangeArrowheads="1"/>
          </p:cNvSpPr>
          <p:nvPr/>
        </p:nvSpPr>
        <p:spPr bwMode="auto">
          <a:xfrm>
            <a:off x="2400300" y="2457450"/>
            <a:ext cx="1828800" cy="2857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GPU Driver</a:t>
            </a:r>
          </a:p>
        </p:txBody>
      </p:sp>
      <p:sp>
        <p:nvSpPr>
          <p:cNvPr id="20502" name="AutoShape 37"/>
          <p:cNvSpPr>
            <a:spLocks noChangeArrowheads="1"/>
          </p:cNvSpPr>
          <p:nvPr/>
        </p:nvSpPr>
        <p:spPr bwMode="auto">
          <a:xfrm>
            <a:off x="3028950" y="1543050"/>
            <a:ext cx="571500" cy="514350"/>
          </a:xfrm>
          <a:prstGeom prst="roundRect">
            <a:avLst>
              <a:gd name="adj" fmla="val 16667"/>
            </a:avLst>
          </a:prstGeom>
          <a:solidFill>
            <a:srgbClr val="FF640A"/>
          </a:soli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5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20503" name="AutoShape 37"/>
          <p:cNvSpPr>
            <a:spLocks noChangeArrowheads="1"/>
          </p:cNvSpPr>
          <p:nvPr/>
        </p:nvSpPr>
        <p:spPr bwMode="auto">
          <a:xfrm>
            <a:off x="3657600" y="1543050"/>
            <a:ext cx="571500" cy="514350"/>
          </a:xfrm>
          <a:prstGeom prst="roundRect">
            <a:avLst>
              <a:gd name="adj" fmla="val 16667"/>
            </a:avLst>
          </a:prstGeom>
          <a:solidFill>
            <a:srgbClr val="FF640A"/>
          </a:soli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5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20504" name="AutoShape 8"/>
          <p:cNvSpPr>
            <a:spLocks noChangeArrowheads="1"/>
          </p:cNvSpPr>
          <p:nvPr/>
        </p:nvSpPr>
        <p:spPr bwMode="auto">
          <a:xfrm>
            <a:off x="2400300" y="2114550"/>
            <a:ext cx="1828800" cy="2857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API</a:t>
            </a:r>
          </a:p>
        </p:txBody>
      </p:sp>
      <p:cxnSp>
        <p:nvCxnSpPr>
          <p:cNvPr id="73" name="Straight Connector 72"/>
          <p:cNvCxnSpPr/>
          <p:nvPr/>
        </p:nvCxnSpPr>
        <p:spPr bwMode="auto">
          <a:xfrm rot="5400000">
            <a:off x="2658071" y="3685580"/>
            <a:ext cx="285750" cy="1191"/>
          </a:xfrm>
          <a:prstGeom prst="line">
            <a:avLst/>
          </a:prstGeom>
          <a:ln w="123825">
            <a:solidFill>
              <a:srgbClr val="00206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06" name="AutoShape 40"/>
          <p:cNvSpPr>
            <a:spLocks noChangeArrowheads="1"/>
          </p:cNvSpPr>
          <p:nvPr/>
        </p:nvSpPr>
        <p:spPr bwMode="auto">
          <a:xfrm>
            <a:off x="2400300" y="2971800"/>
            <a:ext cx="800100" cy="571500"/>
          </a:xfrm>
          <a:prstGeom prst="roundRect">
            <a:avLst>
              <a:gd name="adj" fmla="val 21144"/>
            </a:avLst>
          </a:prstGeom>
          <a:solidFill>
            <a:srgbClr val="33691C"/>
          </a:solidFill>
          <a:ln w="19050" algn="ctr">
            <a:noFill/>
            <a:round/>
            <a:headEnd/>
            <a:tailEnd/>
          </a:ln>
        </p:spPr>
        <p:txBody>
          <a:bodyPr wrap="none" anchor="b"/>
          <a:lstStyle/>
          <a:p>
            <a:pPr algn="ctr"/>
            <a:r>
              <a:rPr lang="en-US" sz="1050">
                <a:solidFill>
                  <a:srgbClr val="FFFFFF"/>
                </a:solidFill>
              </a:rPr>
              <a:t>Emulation</a:t>
            </a:r>
          </a:p>
        </p:txBody>
      </p:sp>
      <p:sp>
        <p:nvSpPr>
          <p:cNvPr id="20507" name="AutoShape 40"/>
          <p:cNvSpPr>
            <a:spLocks noChangeArrowheads="1"/>
          </p:cNvSpPr>
          <p:nvPr/>
        </p:nvSpPr>
        <p:spPr bwMode="auto">
          <a:xfrm>
            <a:off x="2400300" y="2800350"/>
            <a:ext cx="1828800" cy="342900"/>
          </a:xfrm>
          <a:prstGeom prst="roundRect">
            <a:avLst>
              <a:gd name="adj" fmla="val 16667"/>
            </a:avLst>
          </a:prstGeom>
          <a:solidFill>
            <a:srgbClr val="33691C"/>
          </a:soli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50">
                <a:solidFill>
                  <a:srgbClr val="FFFFFF"/>
                </a:solidFill>
              </a:rPr>
              <a:t>Pass-through GPU</a:t>
            </a:r>
          </a:p>
        </p:txBody>
      </p:sp>
      <p:cxnSp>
        <p:nvCxnSpPr>
          <p:cNvPr id="48" name="Straight Connector 47"/>
          <p:cNvCxnSpPr/>
          <p:nvPr/>
        </p:nvCxnSpPr>
        <p:spPr bwMode="auto">
          <a:xfrm rot="5400000">
            <a:off x="3200996" y="3657005"/>
            <a:ext cx="1028700" cy="1191"/>
          </a:xfrm>
          <a:prstGeom prst="line">
            <a:avLst/>
          </a:prstGeom>
          <a:ln w="123825">
            <a:solidFill>
              <a:srgbClr val="00206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487" name="AutoShape 10"/>
          <p:cNvSpPr>
            <a:spLocks noChangeArrowheads="1"/>
          </p:cNvSpPr>
          <p:nvPr/>
        </p:nvSpPr>
        <p:spPr bwMode="auto">
          <a:xfrm>
            <a:off x="4686300" y="1143000"/>
            <a:ext cx="2286000" cy="2457450"/>
          </a:xfrm>
          <a:prstGeom prst="roundRect">
            <a:avLst>
              <a:gd name="adj" fmla="val 6602"/>
            </a:avLst>
          </a:prstGeom>
          <a:solidFill>
            <a:schemeClr val="accent1"/>
          </a:solidFill>
          <a:ln w="19050" algn="ctr">
            <a:noFill/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Virtual Machine</a:t>
            </a:r>
            <a:endParaRPr lang="en-US" sz="600">
              <a:solidFill>
                <a:schemeClr val="bg1"/>
              </a:solidFill>
            </a:endParaRPr>
          </a:p>
        </p:txBody>
      </p:sp>
      <p:sp>
        <p:nvSpPr>
          <p:cNvPr id="56" name="AutoShape 8"/>
          <p:cNvSpPr>
            <a:spLocks noChangeArrowheads="1"/>
          </p:cNvSpPr>
          <p:nvPr/>
        </p:nvSpPr>
        <p:spPr bwMode="auto">
          <a:xfrm>
            <a:off x="4800600" y="1428750"/>
            <a:ext cx="2057400" cy="1828800"/>
          </a:xfrm>
          <a:prstGeom prst="roundRect">
            <a:avLst>
              <a:gd name="adj" fmla="val 6219"/>
            </a:avLst>
          </a:prstGeom>
          <a:ln>
            <a:noFill/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1050" dirty="0">
                <a:solidFill>
                  <a:schemeClr val="bg1"/>
                </a:solidFill>
              </a:rPr>
              <a:t>OpenGL / Direct3D / Compute</a:t>
            </a:r>
          </a:p>
        </p:txBody>
      </p:sp>
      <p:sp>
        <p:nvSpPr>
          <p:cNvPr id="20489" name="AutoShape 37"/>
          <p:cNvSpPr>
            <a:spLocks noChangeArrowheads="1"/>
          </p:cNvSpPr>
          <p:nvPr/>
        </p:nvSpPr>
        <p:spPr bwMode="auto">
          <a:xfrm>
            <a:off x="4914900" y="1543050"/>
            <a:ext cx="571500" cy="514350"/>
          </a:xfrm>
          <a:prstGeom prst="roundRect">
            <a:avLst>
              <a:gd name="adj" fmla="val 16667"/>
            </a:avLst>
          </a:prstGeom>
          <a:solidFill>
            <a:srgbClr val="FF640A"/>
          </a:soli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5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20490" name="AutoShape 8"/>
          <p:cNvSpPr>
            <a:spLocks noChangeArrowheads="1"/>
          </p:cNvSpPr>
          <p:nvPr/>
        </p:nvSpPr>
        <p:spPr bwMode="auto">
          <a:xfrm>
            <a:off x="4914900" y="2457450"/>
            <a:ext cx="1828800" cy="2857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GPU Driver</a:t>
            </a:r>
          </a:p>
        </p:txBody>
      </p:sp>
      <p:sp>
        <p:nvSpPr>
          <p:cNvPr id="20491" name="AutoShape 37"/>
          <p:cNvSpPr>
            <a:spLocks noChangeArrowheads="1"/>
          </p:cNvSpPr>
          <p:nvPr/>
        </p:nvSpPr>
        <p:spPr bwMode="auto">
          <a:xfrm>
            <a:off x="5543550" y="1543050"/>
            <a:ext cx="571500" cy="514350"/>
          </a:xfrm>
          <a:prstGeom prst="roundRect">
            <a:avLst>
              <a:gd name="adj" fmla="val 16667"/>
            </a:avLst>
          </a:prstGeom>
          <a:solidFill>
            <a:srgbClr val="FF640A"/>
          </a:soli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5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20492" name="AutoShape 37"/>
          <p:cNvSpPr>
            <a:spLocks noChangeArrowheads="1"/>
          </p:cNvSpPr>
          <p:nvPr/>
        </p:nvSpPr>
        <p:spPr bwMode="auto">
          <a:xfrm>
            <a:off x="6172200" y="1543050"/>
            <a:ext cx="571500" cy="514350"/>
          </a:xfrm>
          <a:prstGeom prst="roundRect">
            <a:avLst>
              <a:gd name="adj" fmla="val 16667"/>
            </a:avLst>
          </a:prstGeom>
          <a:solidFill>
            <a:srgbClr val="FF640A"/>
          </a:soli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5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20493" name="AutoShape 8"/>
          <p:cNvSpPr>
            <a:spLocks noChangeArrowheads="1"/>
          </p:cNvSpPr>
          <p:nvPr/>
        </p:nvSpPr>
        <p:spPr bwMode="auto">
          <a:xfrm>
            <a:off x="4914900" y="2114550"/>
            <a:ext cx="1828800" cy="2857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API</a:t>
            </a:r>
          </a:p>
        </p:txBody>
      </p:sp>
      <p:cxnSp>
        <p:nvCxnSpPr>
          <p:cNvPr id="65" name="Straight Connector 64"/>
          <p:cNvCxnSpPr/>
          <p:nvPr/>
        </p:nvCxnSpPr>
        <p:spPr bwMode="auto">
          <a:xfrm rot="5400000">
            <a:off x="5172671" y="3685580"/>
            <a:ext cx="285750" cy="1191"/>
          </a:xfrm>
          <a:prstGeom prst="line">
            <a:avLst/>
          </a:prstGeom>
          <a:ln w="123825">
            <a:solidFill>
              <a:srgbClr val="00206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495" name="AutoShape 40"/>
          <p:cNvSpPr>
            <a:spLocks noChangeArrowheads="1"/>
          </p:cNvSpPr>
          <p:nvPr/>
        </p:nvSpPr>
        <p:spPr bwMode="auto">
          <a:xfrm>
            <a:off x="4914900" y="2971800"/>
            <a:ext cx="800100" cy="571500"/>
          </a:xfrm>
          <a:prstGeom prst="roundRect">
            <a:avLst>
              <a:gd name="adj" fmla="val 21144"/>
            </a:avLst>
          </a:prstGeom>
          <a:solidFill>
            <a:srgbClr val="33691C"/>
          </a:solidFill>
          <a:ln w="19050" algn="ctr">
            <a:noFill/>
            <a:round/>
            <a:headEnd/>
            <a:tailEnd/>
          </a:ln>
        </p:spPr>
        <p:txBody>
          <a:bodyPr wrap="none" anchor="b"/>
          <a:lstStyle/>
          <a:p>
            <a:pPr algn="ctr"/>
            <a:r>
              <a:rPr lang="en-US" sz="1050">
                <a:solidFill>
                  <a:srgbClr val="FFFFFF"/>
                </a:solidFill>
              </a:rPr>
              <a:t>Emulation</a:t>
            </a:r>
          </a:p>
        </p:txBody>
      </p:sp>
      <p:sp>
        <p:nvSpPr>
          <p:cNvPr id="20496" name="AutoShape 40"/>
          <p:cNvSpPr>
            <a:spLocks noChangeArrowheads="1"/>
          </p:cNvSpPr>
          <p:nvPr/>
        </p:nvSpPr>
        <p:spPr bwMode="auto">
          <a:xfrm>
            <a:off x="4914900" y="2800350"/>
            <a:ext cx="1828800" cy="342900"/>
          </a:xfrm>
          <a:prstGeom prst="roundRect">
            <a:avLst>
              <a:gd name="adj" fmla="val 16667"/>
            </a:avLst>
          </a:prstGeom>
          <a:solidFill>
            <a:srgbClr val="33691C"/>
          </a:soli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50">
                <a:solidFill>
                  <a:srgbClr val="FFFFFF"/>
                </a:solidFill>
              </a:rPr>
              <a:t>Pass-through GPU</a:t>
            </a:r>
          </a:p>
        </p:txBody>
      </p:sp>
      <p:cxnSp>
        <p:nvCxnSpPr>
          <p:cNvPr id="70" name="Straight Connector 69"/>
          <p:cNvCxnSpPr/>
          <p:nvPr/>
        </p:nvCxnSpPr>
        <p:spPr bwMode="auto">
          <a:xfrm rot="5400000">
            <a:off x="5715596" y="3657005"/>
            <a:ext cx="1028700" cy="1191"/>
          </a:xfrm>
          <a:prstGeom prst="line">
            <a:avLst/>
          </a:prstGeom>
          <a:ln w="123825">
            <a:solidFill>
              <a:srgbClr val="00206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Mediated pass-through</a:t>
            </a:r>
          </a:p>
        </p:txBody>
      </p:sp>
      <p:sp>
        <p:nvSpPr>
          <p:cNvPr id="28" name="內容版面配置區 2"/>
          <p:cNvSpPr>
            <a:spLocks noGrp="1"/>
          </p:cNvSpPr>
          <p:nvPr>
            <p:ph idx="1"/>
          </p:nvPr>
        </p:nvSpPr>
        <p:spPr>
          <a:xfrm>
            <a:off x="1439652" y="1005576"/>
            <a:ext cx="6264696" cy="378042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Pro</a:t>
            </a:r>
          </a:p>
          <a:p>
            <a:pPr lvl="1"/>
            <a:r>
              <a:rPr lang="en-US" altLang="zh-TW" dirty="0"/>
              <a:t>Like fixed pass-through, native speed and full GPU feature set</a:t>
            </a:r>
          </a:p>
          <a:p>
            <a:pPr lvl="1"/>
            <a:r>
              <a:rPr lang="en-US" altLang="zh-TW" dirty="0"/>
              <a:t>Full GPU sharing</a:t>
            </a:r>
          </a:p>
          <a:p>
            <a:pPr lvl="1"/>
            <a:r>
              <a:rPr lang="en-US" altLang="zh-TW" dirty="0"/>
              <a:t>Good for VDI workloads</a:t>
            </a:r>
          </a:p>
          <a:p>
            <a:pPr lvl="1"/>
            <a:r>
              <a:rPr lang="en-US" altLang="zh-TW" dirty="0"/>
              <a:t>Relies on GPU vendor hardware/software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Con</a:t>
            </a:r>
          </a:p>
          <a:p>
            <a:pPr lvl="1"/>
            <a:r>
              <a:rPr lang="en-US" altLang="zh-TW" dirty="0"/>
              <a:t>Need vendor-specific drivers in VM</a:t>
            </a:r>
          </a:p>
          <a:p>
            <a:pPr lvl="1"/>
            <a:r>
              <a:rPr lang="en-US" altLang="zh-TW" dirty="0"/>
              <a:t>Like fixed pass-through, “VM goodness” is hard</a:t>
            </a: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GPU virtualization with hardware support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65345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400" dirty="0"/>
              <a:t>GPU Virtualization with Hardware Support</a:t>
            </a:r>
            <a:endParaRPr lang="zh-TW" altLang="en-US" sz="240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Single Root I/O Virtualization (SR-IOV)</a:t>
            </a:r>
          </a:p>
          <a:p>
            <a:pPr lvl="1"/>
            <a:r>
              <a:rPr lang="en-US" altLang="zh-TW" dirty="0"/>
              <a:t>SR-IOV supports native I/O virtualization in existing single root complex PCI-E topologies. 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Multi-root I/O Virtualization (MR-IOV)</a:t>
            </a:r>
          </a:p>
          <a:p>
            <a:pPr lvl="1"/>
            <a:r>
              <a:rPr lang="en-US" altLang="zh-TW" dirty="0"/>
              <a:t>MR-IOV supports native IOV in new topologies (e.g., blade servers) by building on SR-IOV to provide multiple root complexes which share a common PCI-E hierarchy</a:t>
            </a:r>
          </a:p>
        </p:txBody>
      </p:sp>
    </p:spTree>
    <p:extLst>
      <p:ext uri="{BB962C8B-B14F-4D97-AF65-F5344CB8AC3E}">
        <p14:creationId xmlns:p14="http://schemas.microsoft.com/office/powerpoint/2010/main" val="8757076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400" dirty="0"/>
              <a:t>GPU Virtualization with Hardware Support</a:t>
            </a:r>
            <a:endParaRPr lang="zh-TW" altLang="en-US" sz="240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1485900" y="1005577"/>
            <a:ext cx="6172200" cy="2175296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/>
              <a:t>SR-IOV have two major components</a:t>
            </a:r>
          </a:p>
          <a:p>
            <a:pPr lvl="1"/>
            <a:r>
              <a:rPr lang="en-US" altLang="zh-TW" dirty="0"/>
              <a:t>Physical Function(PF) is a PCI-E function of a device, includes the SR-IOV Extended Capability in the PCI-E Configuration space.</a:t>
            </a:r>
          </a:p>
          <a:p>
            <a:pPr lvl="1"/>
            <a:r>
              <a:rPr lang="en-US" altLang="zh-TW" dirty="0"/>
              <a:t>Virtual Function(VF) is associated with the PCI-E Physical Function, represents a virtualized instance of a device.</a:t>
            </a:r>
          </a:p>
        </p:txBody>
      </p:sp>
      <p:grpSp>
        <p:nvGrpSpPr>
          <p:cNvPr id="22" name="群組 21"/>
          <p:cNvGrpSpPr/>
          <p:nvPr/>
        </p:nvGrpSpPr>
        <p:grpSpPr>
          <a:xfrm>
            <a:off x="4338831" y="3126865"/>
            <a:ext cx="2592288" cy="1821149"/>
            <a:chOff x="5220072" y="2465066"/>
            <a:chExt cx="3241452" cy="2277203"/>
          </a:xfrm>
        </p:grpSpPr>
        <p:sp>
          <p:nvSpPr>
            <p:cNvPr id="23" name="矩形 22"/>
            <p:cNvSpPr/>
            <p:nvPr/>
          </p:nvSpPr>
          <p:spPr>
            <a:xfrm>
              <a:off x="5220072" y="3671599"/>
              <a:ext cx="3240000" cy="36004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Host OS</a:t>
              </a:r>
              <a:endParaRPr lang="zh-TW" altLang="en-US" sz="1350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5221524" y="3230235"/>
              <a:ext cx="3240000" cy="36004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Hypervisor</a:t>
              </a:r>
              <a:endParaRPr lang="zh-TW" altLang="en-US" sz="1350" dirty="0"/>
            </a:p>
          </p:txBody>
        </p:sp>
        <p:sp>
          <p:nvSpPr>
            <p:cNvPr id="25" name="矩形 24"/>
            <p:cNvSpPr/>
            <p:nvPr/>
          </p:nvSpPr>
          <p:spPr>
            <a:xfrm>
              <a:off x="5303051" y="3262120"/>
              <a:ext cx="900000" cy="2880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/>
                <a:t>PF</a:t>
              </a:r>
              <a:r>
                <a:rPr lang="zh-TW" altLang="en-US" sz="1050" dirty="0"/>
                <a:t> </a:t>
              </a:r>
              <a:r>
                <a:rPr lang="en-US" altLang="zh-TW" sz="1050" dirty="0"/>
                <a:t>driver</a:t>
              </a:r>
            </a:p>
          </p:txBody>
        </p:sp>
        <p:grpSp>
          <p:nvGrpSpPr>
            <p:cNvPr id="26" name="群組 25"/>
            <p:cNvGrpSpPr/>
            <p:nvPr/>
          </p:nvGrpSpPr>
          <p:grpSpPr>
            <a:xfrm>
              <a:off x="5267051" y="2465066"/>
              <a:ext cx="3147494" cy="675303"/>
              <a:chOff x="5267051" y="2465066"/>
              <a:chExt cx="3147494" cy="675303"/>
            </a:xfrm>
          </p:grpSpPr>
          <p:grpSp>
            <p:nvGrpSpPr>
              <p:cNvPr id="28" name="群組 27"/>
              <p:cNvGrpSpPr/>
              <p:nvPr/>
            </p:nvGrpSpPr>
            <p:grpSpPr>
              <a:xfrm>
                <a:off x="5267051" y="2465066"/>
                <a:ext cx="972000" cy="675303"/>
                <a:chOff x="1889704" y="2636912"/>
                <a:chExt cx="972000" cy="675303"/>
              </a:xfrm>
            </p:grpSpPr>
            <p:sp>
              <p:nvSpPr>
                <p:cNvPr id="37" name="矩形 36"/>
                <p:cNvSpPr/>
                <p:nvPr/>
              </p:nvSpPr>
              <p:spPr>
                <a:xfrm>
                  <a:off x="1889704" y="2636912"/>
                  <a:ext cx="972000" cy="67530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altLang="zh-TW" sz="1350" dirty="0"/>
                    <a:t>VM</a:t>
                  </a:r>
                  <a:endParaRPr lang="zh-TW" altLang="en-US" sz="1350" dirty="0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>
                  <a:off x="1921521" y="2704443"/>
                  <a:ext cx="900000" cy="288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/>
                    <a:t>VF</a:t>
                  </a:r>
                  <a:r>
                    <a:rPr lang="zh-TW" altLang="en-US" sz="1050" dirty="0"/>
                    <a:t> </a:t>
                  </a:r>
                  <a:r>
                    <a:rPr lang="en-US" altLang="zh-TW" sz="1050" dirty="0"/>
                    <a:t>driver</a:t>
                  </a:r>
                </a:p>
              </p:txBody>
            </p:sp>
          </p:grpSp>
          <p:grpSp>
            <p:nvGrpSpPr>
              <p:cNvPr id="29" name="群組 28"/>
              <p:cNvGrpSpPr/>
              <p:nvPr/>
            </p:nvGrpSpPr>
            <p:grpSpPr>
              <a:xfrm>
                <a:off x="6354798" y="2465066"/>
                <a:ext cx="972000" cy="675303"/>
                <a:chOff x="1889704" y="2636912"/>
                <a:chExt cx="972000" cy="675303"/>
              </a:xfrm>
            </p:grpSpPr>
            <p:sp>
              <p:nvSpPr>
                <p:cNvPr id="34" name="矩形 33"/>
                <p:cNvSpPr/>
                <p:nvPr/>
              </p:nvSpPr>
              <p:spPr>
                <a:xfrm>
                  <a:off x="1889704" y="2636912"/>
                  <a:ext cx="972000" cy="67530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altLang="zh-TW" sz="1350" dirty="0"/>
                    <a:t>VM</a:t>
                  </a:r>
                  <a:endParaRPr lang="zh-TW" altLang="en-US" sz="1350" dirty="0"/>
                </a:p>
              </p:txBody>
            </p:sp>
            <p:sp>
              <p:nvSpPr>
                <p:cNvPr id="36" name="矩形 35"/>
                <p:cNvSpPr/>
                <p:nvPr/>
              </p:nvSpPr>
              <p:spPr>
                <a:xfrm>
                  <a:off x="1925704" y="2704443"/>
                  <a:ext cx="900000" cy="288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/>
                    <a:t>VF</a:t>
                  </a:r>
                  <a:r>
                    <a:rPr lang="zh-TW" altLang="en-US" sz="1050" dirty="0"/>
                    <a:t> </a:t>
                  </a:r>
                  <a:r>
                    <a:rPr lang="en-US" altLang="zh-TW" sz="1050" dirty="0"/>
                    <a:t>driver</a:t>
                  </a:r>
                </a:p>
              </p:txBody>
            </p:sp>
          </p:grpSp>
          <p:grpSp>
            <p:nvGrpSpPr>
              <p:cNvPr id="30" name="群組 29"/>
              <p:cNvGrpSpPr/>
              <p:nvPr/>
            </p:nvGrpSpPr>
            <p:grpSpPr>
              <a:xfrm>
                <a:off x="7442545" y="2465066"/>
                <a:ext cx="972000" cy="675303"/>
                <a:chOff x="1889704" y="2636912"/>
                <a:chExt cx="972000" cy="675303"/>
              </a:xfrm>
            </p:grpSpPr>
            <p:sp>
              <p:nvSpPr>
                <p:cNvPr id="31" name="矩形 30"/>
                <p:cNvSpPr/>
                <p:nvPr/>
              </p:nvSpPr>
              <p:spPr>
                <a:xfrm>
                  <a:off x="1889704" y="2636912"/>
                  <a:ext cx="972000" cy="67530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altLang="zh-TW" sz="1350" dirty="0"/>
                    <a:t>VM</a:t>
                  </a:r>
                  <a:endParaRPr lang="zh-TW" altLang="en-US" sz="1350" dirty="0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1925704" y="2704443"/>
                  <a:ext cx="900000" cy="2880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/>
                    <a:t>VF</a:t>
                  </a:r>
                  <a:r>
                    <a:rPr lang="zh-TW" altLang="en-US" sz="1050" dirty="0"/>
                    <a:t> </a:t>
                  </a:r>
                  <a:r>
                    <a:rPr lang="en-US" altLang="zh-TW" sz="1050" dirty="0"/>
                    <a:t>driver</a:t>
                  </a:r>
                </a:p>
              </p:txBody>
            </p:sp>
          </p:grpSp>
        </p:grpSp>
        <p:sp>
          <p:nvSpPr>
            <p:cNvPr id="27" name="矩形 26"/>
            <p:cNvSpPr/>
            <p:nvPr/>
          </p:nvSpPr>
          <p:spPr>
            <a:xfrm>
              <a:off x="5220072" y="4112965"/>
              <a:ext cx="3240000" cy="62930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1350" dirty="0"/>
                <a:t>Device(GPU)</a:t>
              </a:r>
              <a:endParaRPr lang="zh-TW" altLang="en-US" sz="1350" dirty="0"/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5325236" y="4540547"/>
            <a:ext cx="1551888" cy="324036"/>
            <a:chOff x="5576856" y="6093296"/>
            <a:chExt cx="1475641" cy="308116"/>
          </a:xfrm>
        </p:grpSpPr>
        <p:sp>
          <p:nvSpPr>
            <p:cNvPr id="2" name="矩形 1"/>
            <p:cNvSpPr/>
            <p:nvPr/>
          </p:nvSpPr>
          <p:spPr>
            <a:xfrm>
              <a:off x="5576856" y="6093611"/>
              <a:ext cx="307801" cy="30780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50" dirty="0"/>
                <a:t>PF</a:t>
              </a:r>
              <a:endParaRPr lang="zh-TW" altLang="en-US" sz="750" dirty="0"/>
            </a:p>
          </p:txBody>
        </p:sp>
        <p:sp>
          <p:nvSpPr>
            <p:cNvPr id="42" name="矩形 41"/>
            <p:cNvSpPr/>
            <p:nvPr/>
          </p:nvSpPr>
          <p:spPr>
            <a:xfrm>
              <a:off x="5939378" y="6093611"/>
              <a:ext cx="333727" cy="30780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50" dirty="0"/>
                <a:t>VF</a:t>
              </a:r>
              <a:endParaRPr lang="zh-TW" altLang="en-US" sz="750" dirty="0"/>
            </a:p>
          </p:txBody>
        </p:sp>
        <p:sp>
          <p:nvSpPr>
            <p:cNvPr id="43" name="矩形 42"/>
            <p:cNvSpPr/>
            <p:nvPr/>
          </p:nvSpPr>
          <p:spPr>
            <a:xfrm>
              <a:off x="6329074" y="6093611"/>
              <a:ext cx="333727" cy="30780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50" dirty="0"/>
                <a:t>VF</a:t>
              </a:r>
              <a:endParaRPr lang="zh-TW" altLang="en-US" sz="750" dirty="0"/>
            </a:p>
          </p:txBody>
        </p:sp>
        <p:sp>
          <p:nvSpPr>
            <p:cNvPr id="44" name="矩形 43"/>
            <p:cNvSpPr/>
            <p:nvPr/>
          </p:nvSpPr>
          <p:spPr>
            <a:xfrm>
              <a:off x="6718770" y="6093296"/>
              <a:ext cx="333727" cy="30780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50" dirty="0"/>
                <a:t>VF</a:t>
              </a:r>
              <a:endParaRPr lang="zh-TW" altLang="en-US" sz="750" dirty="0"/>
            </a:p>
          </p:txBody>
        </p:sp>
      </p:grpSp>
      <p:cxnSp>
        <p:nvCxnSpPr>
          <p:cNvPr id="46" name="直線單箭頭接點 45"/>
          <p:cNvCxnSpPr>
            <a:stCxn id="39" idx="2"/>
            <a:endCxn id="42" idx="0"/>
          </p:cNvCxnSpPr>
          <p:nvPr/>
        </p:nvCxnSpPr>
        <p:spPr>
          <a:xfrm>
            <a:off x="4761726" y="3411195"/>
            <a:ext cx="1120249" cy="1129684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36" idx="2"/>
            <a:endCxn id="43" idx="0"/>
          </p:cNvCxnSpPr>
          <p:nvPr/>
        </p:nvCxnSpPr>
        <p:spPr>
          <a:xfrm>
            <a:off x="5634976" y="3411195"/>
            <a:ext cx="656831" cy="1129684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33" idx="2"/>
            <a:endCxn id="44" idx="0"/>
          </p:cNvCxnSpPr>
          <p:nvPr/>
        </p:nvCxnSpPr>
        <p:spPr>
          <a:xfrm>
            <a:off x="6504880" y="3411196"/>
            <a:ext cx="196759" cy="1129352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4440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000" dirty="0"/>
              <a:t>NVIDIA Approach</a:t>
            </a:r>
            <a:endParaRPr lang="zh-TW" altLang="en-US" sz="300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1485900" y="897565"/>
            <a:ext cx="6172200" cy="1728192"/>
          </a:xfrm>
        </p:spPr>
        <p:txBody>
          <a:bodyPr>
            <a:normAutofit/>
          </a:bodyPr>
          <a:lstStyle/>
          <a:p>
            <a:r>
              <a:rPr lang="en-US" altLang="zh-TW" sz="1800" dirty="0"/>
              <a:t>NVIDIA GRID BOARDS</a:t>
            </a:r>
          </a:p>
          <a:p>
            <a:pPr lvl="1"/>
            <a:r>
              <a:rPr lang="en-US" altLang="zh-TW" sz="1500" dirty="0"/>
              <a:t>NVIDIA’s </a:t>
            </a:r>
            <a:r>
              <a:rPr lang="en-US" altLang="zh-TW" sz="1500" dirty="0" err="1"/>
              <a:t>Kepler</a:t>
            </a:r>
            <a:r>
              <a:rPr lang="en-US" altLang="zh-TW" sz="1500" dirty="0"/>
              <a:t>-based GPUs allow hardware virtualization of the GPU</a:t>
            </a:r>
          </a:p>
          <a:p>
            <a:pPr lvl="1"/>
            <a:r>
              <a:rPr lang="en-US" altLang="zh-TW" sz="1500" dirty="0"/>
              <a:t>A key technology is VGX Hypervisor. It allows multiple virtual machines to interact directly with a GPU, manages the GPU resources, and improves user density</a:t>
            </a:r>
            <a:endParaRPr lang="zh-TW" altLang="en-US" sz="15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 cstate="print"/>
          <a:srcRect t="8066"/>
          <a:stretch/>
        </p:blipFill>
        <p:spPr>
          <a:xfrm>
            <a:off x="4355976" y="2841781"/>
            <a:ext cx="3298834" cy="1868084"/>
          </a:xfrm>
          <a:prstGeom prst="rect">
            <a:avLst/>
          </a:prstGeom>
        </p:spPr>
      </p:pic>
      <p:pic>
        <p:nvPicPr>
          <p:cNvPr id="1026" name="Picture 2" descr="http://www.ithome.com.tw/img/158/79381_1_2_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120" y="2820746"/>
            <a:ext cx="2525820" cy="189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7067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Key Components of GRID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306" y="1121415"/>
            <a:ext cx="6225043" cy="350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429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Key Component of Grid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897565"/>
            <a:ext cx="6172200" cy="3394472"/>
          </a:xfrm>
        </p:spPr>
        <p:txBody>
          <a:bodyPr/>
          <a:lstStyle/>
          <a:p>
            <a:r>
              <a:rPr lang="en-US" altLang="zh-TW" dirty="0"/>
              <a:t>GRID VGX Software 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 cstate="print"/>
          <a:srcRect t="8066"/>
          <a:stretch/>
        </p:blipFill>
        <p:spPr>
          <a:xfrm>
            <a:off x="1745436" y="1456447"/>
            <a:ext cx="5688883" cy="322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0822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Key Component of Grid</a:t>
            </a:r>
            <a:endParaRPr lang="zh-TW" altLang="en-US" dirty="0"/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532" y="1391524"/>
            <a:ext cx="6032937" cy="3394472"/>
          </a:xfrm>
        </p:spPr>
      </p:pic>
      <p:sp>
        <p:nvSpPr>
          <p:cNvPr id="9" name="內容版面配置區 2"/>
          <p:cNvSpPr txBox="1">
            <a:spLocks/>
          </p:cNvSpPr>
          <p:nvPr/>
        </p:nvSpPr>
        <p:spPr>
          <a:xfrm>
            <a:off x="1485900" y="897565"/>
            <a:ext cx="6172200" cy="43204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Font typeface="Wingdings" pitchFamily="2" charset="2"/>
              <a:buChar char="§"/>
              <a:defRPr sz="2400" kern="1200">
                <a:solidFill>
                  <a:schemeClr val="accent3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4">
                  <a:lumMod val="5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100" dirty="0"/>
              <a:t>GRID GPUs</a:t>
            </a:r>
            <a:endParaRPr lang="zh-TW" altLang="en-US" sz="2100" dirty="0"/>
          </a:p>
        </p:txBody>
      </p:sp>
    </p:spTree>
    <p:extLst>
      <p:ext uri="{BB962C8B-B14F-4D97-AF65-F5344CB8AC3E}">
        <p14:creationId xmlns:p14="http://schemas.microsoft.com/office/powerpoint/2010/main" val="21643842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Key Component of Grid</a:t>
            </a:r>
            <a:endParaRPr lang="zh-TW" altLang="en-US" dirty="0"/>
          </a:p>
        </p:txBody>
      </p:sp>
      <p:sp>
        <p:nvSpPr>
          <p:cNvPr id="9" name="內容版面配置區 2"/>
          <p:cNvSpPr txBox="1">
            <a:spLocks/>
          </p:cNvSpPr>
          <p:nvPr/>
        </p:nvSpPr>
        <p:spPr>
          <a:xfrm>
            <a:off x="1485900" y="897565"/>
            <a:ext cx="6172200" cy="43204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Font typeface="Wingdings" pitchFamily="2" charset="2"/>
              <a:buChar char="§"/>
              <a:defRPr sz="2400" kern="1200">
                <a:solidFill>
                  <a:schemeClr val="accent3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4">
                  <a:lumMod val="5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100" dirty="0"/>
              <a:t>GRID Visual Computing Appliance (VCA)</a:t>
            </a:r>
            <a:endParaRPr lang="zh-TW" altLang="en-US" sz="2100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532" y="1437625"/>
            <a:ext cx="6032937" cy="3394472"/>
          </a:xfrm>
        </p:spPr>
      </p:pic>
    </p:spTree>
    <p:extLst>
      <p:ext uri="{BB962C8B-B14F-4D97-AF65-F5344CB8AC3E}">
        <p14:creationId xmlns:p14="http://schemas.microsoft.com/office/powerpoint/2010/main" val="32606297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Desktop Virtualization</a:t>
            </a:r>
            <a:endParaRPr lang="zh-TW" altLang="en-US" dirty="0"/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200151"/>
            <a:ext cx="6034617" cy="3394472"/>
          </a:xfrm>
        </p:spPr>
      </p:pic>
    </p:spTree>
    <p:extLst>
      <p:ext uri="{BB962C8B-B14F-4D97-AF65-F5344CB8AC3E}">
        <p14:creationId xmlns:p14="http://schemas.microsoft.com/office/powerpoint/2010/main" val="21107303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Desktop Virtualization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200151"/>
            <a:ext cx="6034617" cy="3394472"/>
          </a:xfrm>
        </p:spPr>
      </p:pic>
    </p:spTree>
    <p:extLst>
      <p:ext uri="{BB962C8B-B14F-4D97-AF65-F5344CB8AC3E}">
        <p14:creationId xmlns:p14="http://schemas.microsoft.com/office/powerpoint/2010/main" val="36799435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Desktop Virtualization</a:t>
            </a:r>
            <a:endParaRPr lang="zh-TW" altLang="en-US" dirty="0"/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200151"/>
            <a:ext cx="6034617" cy="3394472"/>
          </a:xfrm>
        </p:spPr>
      </p:pic>
    </p:spTree>
    <p:extLst>
      <p:ext uri="{BB962C8B-B14F-4D97-AF65-F5344CB8AC3E}">
        <p14:creationId xmlns:p14="http://schemas.microsoft.com/office/powerpoint/2010/main" val="4851335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Desktop Virtualization Methods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200151"/>
            <a:ext cx="6034617" cy="3394472"/>
          </a:xfrm>
        </p:spPr>
      </p:pic>
    </p:spTree>
    <p:extLst>
      <p:ext uri="{BB962C8B-B14F-4D97-AF65-F5344CB8AC3E}">
        <p14:creationId xmlns:p14="http://schemas.microsoft.com/office/powerpoint/2010/main" val="38296426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Desktop Virtualization Methods</a:t>
            </a:r>
            <a:endParaRPr lang="zh-TW" altLang="en-US" dirty="0"/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200151"/>
            <a:ext cx="6034617" cy="3394472"/>
          </a:xfrm>
        </p:spPr>
      </p:pic>
    </p:spTree>
    <p:extLst>
      <p:ext uri="{BB962C8B-B14F-4D97-AF65-F5344CB8AC3E}">
        <p14:creationId xmlns:p14="http://schemas.microsoft.com/office/powerpoint/2010/main" val="36349381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Desktop Virtualization Methods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200151"/>
            <a:ext cx="6034617" cy="3394472"/>
          </a:xfrm>
        </p:spPr>
      </p:pic>
    </p:spTree>
    <p:extLst>
      <p:ext uri="{BB962C8B-B14F-4D97-AF65-F5344CB8AC3E}">
        <p14:creationId xmlns:p14="http://schemas.microsoft.com/office/powerpoint/2010/main" val="76854098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Desktop Virtualization Methods</a:t>
            </a:r>
            <a:endParaRPr lang="zh-TW" altLang="en-US" dirty="0"/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200151"/>
            <a:ext cx="6034617" cy="3394472"/>
          </a:xfrm>
        </p:spPr>
      </p:pic>
    </p:spTree>
    <p:extLst>
      <p:ext uri="{BB962C8B-B14F-4D97-AF65-F5344CB8AC3E}">
        <p14:creationId xmlns:p14="http://schemas.microsoft.com/office/powerpoint/2010/main" val="8790935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Desktop Virtualization Methods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200151"/>
            <a:ext cx="6034617" cy="3394472"/>
          </a:xfrm>
        </p:spPr>
      </p:pic>
    </p:spTree>
    <p:extLst>
      <p:ext uri="{BB962C8B-B14F-4D97-AF65-F5344CB8AC3E}">
        <p14:creationId xmlns:p14="http://schemas.microsoft.com/office/powerpoint/2010/main" val="36921814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Desktop Virtualization Methods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200151"/>
            <a:ext cx="6034617" cy="3394472"/>
          </a:xfrm>
        </p:spPr>
      </p:pic>
    </p:spTree>
    <p:extLst>
      <p:ext uri="{BB962C8B-B14F-4D97-AF65-F5344CB8AC3E}">
        <p14:creationId xmlns:p14="http://schemas.microsoft.com/office/powerpoint/2010/main" val="27832581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Desktop Virtualization Methods</a:t>
            </a:r>
            <a:endParaRPr lang="zh-TW" altLang="en-US" dirty="0"/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167595"/>
            <a:ext cx="6034617" cy="3394472"/>
          </a:xfrm>
        </p:spPr>
      </p:pic>
    </p:spTree>
    <p:extLst>
      <p:ext uri="{BB962C8B-B14F-4D97-AF65-F5344CB8AC3E}">
        <p14:creationId xmlns:p14="http://schemas.microsoft.com/office/powerpoint/2010/main" val="361300461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Desktop Virtualization Methods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167595"/>
            <a:ext cx="6034617" cy="3394472"/>
          </a:xfrm>
        </p:spPr>
      </p:pic>
    </p:spTree>
    <p:extLst>
      <p:ext uri="{BB962C8B-B14F-4D97-AF65-F5344CB8AC3E}">
        <p14:creationId xmlns:p14="http://schemas.microsoft.com/office/powerpoint/2010/main" val="396701512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Desktop Virtualization Methods</a:t>
            </a:r>
            <a:endParaRPr lang="zh-TW" altLang="en-US" dirty="0"/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2" y="1167595"/>
            <a:ext cx="6034617" cy="3394472"/>
          </a:xfrm>
        </p:spPr>
      </p:pic>
    </p:spTree>
    <p:extLst>
      <p:ext uri="{BB962C8B-B14F-4D97-AF65-F5344CB8AC3E}">
        <p14:creationId xmlns:p14="http://schemas.microsoft.com/office/powerpoint/2010/main" val="144618651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NVIDIA GRID K2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897564"/>
            <a:ext cx="6172200" cy="2106234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sz="1800" dirty="0"/>
              <a:t>Hardware feature</a:t>
            </a:r>
          </a:p>
          <a:p>
            <a:pPr lvl="1"/>
            <a:r>
              <a:rPr lang="en-US" altLang="zh-TW" sz="1500" dirty="0"/>
              <a:t>2 </a:t>
            </a:r>
            <a:r>
              <a:rPr lang="en-US" altLang="zh-TW" sz="1500" dirty="0" err="1"/>
              <a:t>Kepler</a:t>
            </a:r>
            <a:r>
              <a:rPr lang="en-US" altLang="zh-TW" sz="1500" dirty="0"/>
              <a:t> GPUs, contains a total of 3072 cores</a:t>
            </a:r>
          </a:p>
          <a:p>
            <a:pPr lvl="1"/>
            <a:r>
              <a:rPr lang="en-US" altLang="zh-TW" sz="1500" dirty="0"/>
              <a:t>GRID K2 has own MMU (Memory Management Unit)</a:t>
            </a:r>
          </a:p>
          <a:p>
            <a:pPr lvl="1"/>
            <a:r>
              <a:rPr lang="en-US" altLang="zh-TW" sz="1500" dirty="0"/>
              <a:t>Each VM has own channel to pass through to VGX Hypervisor and GRID K2</a:t>
            </a:r>
          </a:p>
          <a:p>
            <a:pPr lvl="1"/>
            <a:r>
              <a:rPr lang="en-US" altLang="zh-TW" sz="1500" dirty="0"/>
              <a:t>1 GPU can support 16 VMs</a:t>
            </a:r>
          </a:p>
          <a:p>
            <a:pPr lvl="1"/>
            <a:endParaRPr lang="en-US" altLang="zh-TW" dirty="0"/>
          </a:p>
          <a:p>
            <a:r>
              <a:rPr lang="en-US" altLang="zh-TW" sz="1800" dirty="0"/>
              <a:t>Driver feature</a:t>
            </a:r>
          </a:p>
          <a:p>
            <a:pPr lvl="1"/>
            <a:r>
              <a:rPr lang="en-US" altLang="zh-TW" sz="1500" dirty="0"/>
              <a:t>User-Selectable Machines: depend on VM requirement, VGX Hypervisor will assign specific GPU resources to that VM</a:t>
            </a:r>
          </a:p>
          <a:p>
            <a:pPr lvl="1"/>
            <a:r>
              <a:rPr lang="en-US" altLang="zh-TW" sz="1500" dirty="0"/>
              <a:t>It can support remote desktop</a:t>
            </a:r>
            <a:endParaRPr lang="zh-TW" altLang="en-US" sz="1500" dirty="0"/>
          </a:p>
        </p:txBody>
      </p:sp>
      <p:pic>
        <p:nvPicPr>
          <p:cNvPr id="3074" name="Picture 2" descr="http://www.sabrepc.com/Images/Overview%20Images/Nvidia%20Hyperviso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895786"/>
            <a:ext cx="2986088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5459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NVIDIA GRID K2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Two major paths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TW" dirty="0"/>
              <a:t>App → Guest OS → </a:t>
            </a:r>
            <a:r>
              <a:rPr lang="en-US" altLang="zh-TW" dirty="0" err="1"/>
              <a:t>Nvidia</a:t>
            </a:r>
            <a:r>
              <a:rPr lang="en-US" altLang="zh-TW" dirty="0"/>
              <a:t> driver → GPU MMU → VGX Hypervisor → GPU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TW" dirty="0"/>
              <a:t>App → Guest OS → </a:t>
            </a:r>
            <a:r>
              <a:rPr lang="en-US" altLang="zh-TW" dirty="0" err="1"/>
              <a:t>Nvidia</a:t>
            </a:r>
            <a:r>
              <a:rPr lang="en-US" altLang="zh-TW" dirty="0"/>
              <a:t> driver → VM channel → GPU</a:t>
            </a:r>
          </a:p>
          <a:p>
            <a:endParaRPr lang="en-US" altLang="zh-TW" dirty="0"/>
          </a:p>
          <a:p>
            <a:r>
              <a:rPr lang="en-US" altLang="zh-TW" dirty="0"/>
              <a:t>The first path is similar to “Device Emulation”</a:t>
            </a:r>
          </a:p>
          <a:p>
            <a:pPr lvl="1"/>
            <a:r>
              <a:rPr lang="en-US" altLang="zh-TW" dirty="0" err="1"/>
              <a:t>Nvidia</a:t>
            </a:r>
            <a:r>
              <a:rPr lang="en-US" altLang="zh-TW" dirty="0"/>
              <a:t> driver is front-end and VGX Hypervisor is back-end</a:t>
            </a:r>
          </a:p>
          <a:p>
            <a:endParaRPr lang="en-US" altLang="zh-TW" dirty="0"/>
          </a:p>
          <a:p>
            <a:r>
              <a:rPr lang="en-US" altLang="zh-TW" dirty="0"/>
              <a:t>The second path is similar to “GPU pass-through”</a:t>
            </a:r>
          </a:p>
          <a:p>
            <a:pPr lvl="1"/>
            <a:r>
              <a:rPr lang="en-US" altLang="zh-TW" dirty="0"/>
              <a:t>Part of VMs use specific GPU resources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073611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874844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1"/>
            <a:ext cx="6380466" cy="3394472"/>
          </a:xfrm>
        </p:spPr>
        <p:txBody>
          <a:bodyPr>
            <a:noAutofit/>
          </a:bodyPr>
          <a:lstStyle/>
          <a:p>
            <a:r>
              <a:rPr lang="en-US" altLang="zh-TW" sz="1500" dirty="0"/>
              <a:t>Micah </a:t>
            </a:r>
            <a:r>
              <a:rPr lang="en-US" altLang="zh-TW" sz="1500" dirty="0" err="1"/>
              <a:t>Dowty</a:t>
            </a:r>
            <a:r>
              <a:rPr lang="en-US" altLang="zh-TW" sz="1500" dirty="0"/>
              <a:t>, Jeremy </a:t>
            </a:r>
            <a:r>
              <a:rPr lang="en-US" altLang="zh-TW" sz="1500" dirty="0" err="1"/>
              <a:t>Sugerman</a:t>
            </a:r>
            <a:r>
              <a:rPr lang="en-US" altLang="zh-TW" sz="1500" dirty="0"/>
              <a:t>, VMware, Inc. </a:t>
            </a:r>
            <a:r>
              <a:rPr lang="en-US" altLang="zh-TW" sz="1500" dirty="0">
                <a:latin typeface="+mj-lt"/>
              </a:rPr>
              <a:t>“GPU Virtualization on VMware’s Hosted I/O Architecture,” USENIX Workshop on I/O Virtualization, 2008.</a:t>
            </a:r>
          </a:p>
          <a:p>
            <a:r>
              <a:rPr lang="en-US" altLang="zh-TW" sz="1500" dirty="0">
                <a:latin typeface="+mj-lt"/>
              </a:rPr>
              <a:t>J. </a:t>
            </a:r>
            <a:r>
              <a:rPr lang="en-US" altLang="zh-TW" sz="1500" dirty="0" err="1">
                <a:latin typeface="+mj-lt"/>
              </a:rPr>
              <a:t>Duato</a:t>
            </a:r>
            <a:r>
              <a:rPr lang="en-US" altLang="zh-TW" sz="1500" dirty="0">
                <a:latin typeface="+mj-lt"/>
              </a:rPr>
              <a:t>, A. J. </a:t>
            </a:r>
            <a:r>
              <a:rPr lang="en-US" altLang="zh-TW" sz="1500" dirty="0" err="1">
                <a:latin typeface="+mj-lt"/>
              </a:rPr>
              <a:t>Pe˜na</a:t>
            </a:r>
            <a:r>
              <a:rPr lang="en-US" altLang="zh-TW" sz="1500" dirty="0">
                <a:latin typeface="+mj-lt"/>
              </a:rPr>
              <a:t>, F. </a:t>
            </a:r>
            <a:r>
              <a:rPr lang="en-US" altLang="zh-TW" sz="1500" dirty="0" err="1">
                <a:latin typeface="+mj-lt"/>
              </a:rPr>
              <a:t>Silla</a:t>
            </a:r>
            <a:r>
              <a:rPr lang="en-US" altLang="zh-TW" sz="1500" dirty="0">
                <a:latin typeface="+mj-lt"/>
              </a:rPr>
              <a:t>, R. Mayo, and E. S. Quintana-</a:t>
            </a:r>
            <a:r>
              <a:rPr lang="en-US" altLang="zh-TW" sz="1500" dirty="0" err="1">
                <a:latin typeface="+mj-lt"/>
              </a:rPr>
              <a:t>Ort´ı</a:t>
            </a:r>
            <a:r>
              <a:rPr lang="en-US" altLang="zh-TW" sz="1500" dirty="0">
                <a:latin typeface="+mj-lt"/>
              </a:rPr>
              <a:t>, “</a:t>
            </a:r>
            <a:r>
              <a:rPr lang="en-US" altLang="zh-TW" sz="1500" dirty="0" err="1">
                <a:latin typeface="+mj-lt"/>
              </a:rPr>
              <a:t>rCUDA</a:t>
            </a:r>
            <a:r>
              <a:rPr lang="en-US" altLang="zh-TW" sz="1500" dirty="0">
                <a:latin typeface="+mj-lt"/>
              </a:rPr>
              <a:t>: Reducing the number of </a:t>
            </a:r>
            <a:r>
              <a:rPr lang="en-US" altLang="zh-TW" sz="1500" dirty="0" err="1">
                <a:latin typeface="+mj-lt"/>
              </a:rPr>
              <a:t>GPUbased</a:t>
            </a:r>
            <a:r>
              <a:rPr lang="en-US" altLang="zh-TW" sz="1500" dirty="0">
                <a:latin typeface="+mj-lt"/>
              </a:rPr>
              <a:t> accelerators in high performance clusters,” in Proceedings of the 2010 International Conference on High Performance Computing &amp; Simulation, Jun. 2010, pp. 224–231.</a:t>
            </a:r>
          </a:p>
          <a:p>
            <a:r>
              <a:rPr lang="en-US" altLang="zh-TW" sz="1500" dirty="0" err="1">
                <a:latin typeface="+mj-lt"/>
              </a:rPr>
              <a:t>Giunta</a:t>
            </a:r>
            <a:r>
              <a:rPr lang="en-US" altLang="zh-TW" sz="1500" dirty="0">
                <a:latin typeface="+mj-lt"/>
              </a:rPr>
              <a:t> G., R. </a:t>
            </a:r>
            <a:r>
              <a:rPr lang="en-US" altLang="zh-TW" sz="1500" dirty="0" err="1">
                <a:latin typeface="+mj-lt"/>
              </a:rPr>
              <a:t>Montella</a:t>
            </a:r>
            <a:r>
              <a:rPr lang="en-US" altLang="zh-TW" sz="1500" dirty="0">
                <a:latin typeface="+mj-lt"/>
              </a:rPr>
              <a:t>, G. </a:t>
            </a:r>
            <a:r>
              <a:rPr lang="en-US" altLang="zh-TW" sz="1500" dirty="0" err="1">
                <a:latin typeface="+mj-lt"/>
              </a:rPr>
              <a:t>Agrillo</a:t>
            </a:r>
            <a:r>
              <a:rPr lang="en-US" altLang="zh-TW" sz="1500" dirty="0">
                <a:latin typeface="+mj-lt"/>
              </a:rPr>
              <a:t>, and G. </a:t>
            </a:r>
            <a:r>
              <a:rPr lang="en-US" altLang="zh-TW" sz="1500" dirty="0" err="1">
                <a:latin typeface="+mj-lt"/>
              </a:rPr>
              <a:t>Coviello</a:t>
            </a:r>
            <a:r>
              <a:rPr lang="en-US" altLang="zh-TW" sz="1500" dirty="0">
                <a:latin typeface="+mj-lt"/>
              </a:rPr>
              <a:t>. A </a:t>
            </a:r>
            <a:r>
              <a:rPr lang="en-US" altLang="zh-TW" sz="1500" dirty="0" err="1">
                <a:latin typeface="+mj-lt"/>
              </a:rPr>
              <a:t>gpgpu</a:t>
            </a:r>
            <a:r>
              <a:rPr lang="en-US" altLang="zh-TW" sz="1500" dirty="0">
                <a:latin typeface="+mj-lt"/>
              </a:rPr>
              <a:t> transparent virtualization component for high performance computing clouds. In P. </a:t>
            </a:r>
            <a:r>
              <a:rPr lang="en-US" altLang="zh-TW" sz="1500" dirty="0" err="1">
                <a:latin typeface="+mj-lt"/>
              </a:rPr>
              <a:t>D’Ambra</a:t>
            </a:r>
            <a:r>
              <a:rPr lang="en-US" altLang="zh-TW" sz="1500" dirty="0">
                <a:latin typeface="+mj-lt"/>
              </a:rPr>
              <a:t>, M. </a:t>
            </a:r>
            <a:r>
              <a:rPr lang="en-US" altLang="zh-TW" sz="1500" dirty="0" err="1">
                <a:latin typeface="+mj-lt"/>
              </a:rPr>
              <a:t>Guarracino</a:t>
            </a:r>
            <a:r>
              <a:rPr lang="en-US" altLang="zh-TW" sz="1500" dirty="0">
                <a:latin typeface="+mj-lt"/>
              </a:rPr>
              <a:t>, and D. Talia, editors, Euro-Par 2010 - Parallel Processing, volume 6271 of Lecture Notes in Computer Science, chapter 37, pages 379–391. Springer Berlin / Heidelberg, Berlin, Heidelberg, 2010.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1500" dirty="0"/>
              <a:t>A. </a:t>
            </a:r>
            <a:r>
              <a:rPr lang="en-US" altLang="zh-TW" sz="1500" dirty="0" err="1"/>
              <a:t>Weggerle</a:t>
            </a:r>
            <a:r>
              <a:rPr lang="en-US" altLang="zh-TW" sz="1500" dirty="0"/>
              <a:t>, T. Schmitt, C. </a:t>
            </a:r>
            <a:r>
              <a:rPr lang="en-US" altLang="zh-TW" sz="1500" dirty="0" err="1"/>
              <a:t>Löw</a:t>
            </a:r>
            <a:r>
              <a:rPr lang="en-US" altLang="zh-TW" sz="1500" dirty="0"/>
              <a:t>, C. </a:t>
            </a:r>
            <a:r>
              <a:rPr lang="en-US" altLang="zh-TW" sz="1500" dirty="0" err="1"/>
              <a:t>Himpel</a:t>
            </a:r>
            <a:r>
              <a:rPr lang="en-US" altLang="zh-TW" sz="1500" dirty="0"/>
              <a:t> and P. </a:t>
            </a:r>
            <a:r>
              <a:rPr lang="en-US" altLang="zh-TW" sz="1500" dirty="0" err="1"/>
              <a:t>Schulthess</a:t>
            </a:r>
            <a:r>
              <a:rPr lang="en-US" altLang="zh-TW" sz="1500" dirty="0"/>
              <a:t>, “ </a:t>
            </a:r>
            <a:r>
              <a:rPr lang="en-US" altLang="zh-TW" sz="1500" dirty="0" err="1"/>
              <a:t>VirtGL</a:t>
            </a:r>
            <a:r>
              <a:rPr lang="en-US" altLang="zh-TW" sz="1500" dirty="0"/>
              <a:t> - a lean approach to accelerated 3D graphics virtualization,” In Cloud Computing and Virtualization, CCV ’10, 2010.</a:t>
            </a:r>
          </a:p>
          <a:p>
            <a:r>
              <a:rPr lang="en-US" altLang="zh-TW" sz="1500" dirty="0"/>
              <a:t>Lin Shi, </a:t>
            </a:r>
            <a:r>
              <a:rPr lang="en-US" altLang="zh-TW" sz="1500" dirty="0" err="1"/>
              <a:t>Hao</a:t>
            </a:r>
            <a:r>
              <a:rPr lang="en-US" altLang="zh-TW" sz="1500" dirty="0"/>
              <a:t> Chen, </a:t>
            </a:r>
            <a:r>
              <a:rPr lang="en-US" altLang="zh-TW" sz="1500" dirty="0" err="1"/>
              <a:t>Jianhua</a:t>
            </a:r>
            <a:r>
              <a:rPr lang="en-US" altLang="zh-TW" sz="1500" dirty="0"/>
              <a:t> Sun and </a:t>
            </a:r>
            <a:r>
              <a:rPr lang="en-US" altLang="zh-TW" sz="1500" dirty="0" err="1"/>
              <a:t>Kenli</a:t>
            </a:r>
            <a:r>
              <a:rPr lang="en-US" altLang="zh-TW" sz="1500" dirty="0"/>
              <a:t> Li, “ </a:t>
            </a:r>
            <a:r>
              <a:rPr lang="en-US" altLang="zh-TW" sz="1500" dirty="0" err="1"/>
              <a:t>vCUDA</a:t>
            </a:r>
            <a:r>
              <a:rPr lang="en-US" altLang="zh-TW" sz="1500" dirty="0"/>
              <a:t>: GPU-Accelerated High-Performance Computing in Virtual Machines ,” IEEE Transactions on Computers, June 2012, pp. 804–816.</a:t>
            </a:r>
          </a:p>
          <a:p>
            <a:r>
              <a:rPr lang="en-US" altLang="zh-TW" sz="1500" dirty="0"/>
              <a:t>NVIDIA Inc. “NVIDIA GRID™ GPU Acceleration for Virtualization,” GTC, 2013</a:t>
            </a:r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179645789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2444</TotalTime>
  <Words>3631</Words>
  <Application>Microsoft Office PowerPoint</Application>
  <PresentationFormat>全屏显示(16:9)</PresentationFormat>
  <Paragraphs>767</Paragraphs>
  <Slides>78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78</vt:i4>
      </vt:variant>
    </vt:vector>
  </HeadingPairs>
  <TitlesOfParts>
    <vt:vector size="86" baseType="lpstr">
      <vt:lpstr>標楷體</vt:lpstr>
      <vt:lpstr>MS Sans Serif</vt:lpstr>
      <vt:lpstr>Arial</vt:lpstr>
      <vt:lpstr>Calibri</vt:lpstr>
      <vt:lpstr>Cambria</vt:lpstr>
      <vt:lpstr>Times New Roman</vt:lpstr>
      <vt:lpstr>Wingdings</vt:lpstr>
      <vt:lpstr>NTHU UniCloud</vt:lpstr>
      <vt:lpstr>CSC6032 – Advanced Operating Systems</vt:lpstr>
      <vt:lpstr>虛擬化技術 Virtualization Techniques</vt:lpstr>
      <vt:lpstr>Agenda</vt:lpstr>
      <vt:lpstr>Introduction GPGPU</vt:lpstr>
      <vt:lpstr>GPU</vt:lpstr>
      <vt:lpstr>How much computation?</vt:lpstr>
      <vt:lpstr>What are GPUs good for?</vt:lpstr>
      <vt:lpstr>GPUs in the Data Center</vt:lpstr>
      <vt:lpstr>CPU vs. GPU</vt:lpstr>
      <vt:lpstr>CPU vs. GPU</vt:lpstr>
      <vt:lpstr>CPU vs. GPU</vt:lpstr>
      <vt:lpstr>GPGPU</vt:lpstr>
      <vt:lpstr>GPGPU Computing Scenarios</vt:lpstr>
      <vt:lpstr>NVIDIA GPGPUs</vt:lpstr>
      <vt:lpstr>NVIDIA K20 Series</vt:lpstr>
      <vt:lpstr>NVIDIA K20</vt:lpstr>
      <vt:lpstr>NVIDIA K20 Series</vt:lpstr>
      <vt:lpstr>NVIDIA K20 Series</vt:lpstr>
      <vt:lpstr>NVIDIA K20 Series</vt:lpstr>
      <vt:lpstr>GPGPU TOOLS</vt:lpstr>
      <vt:lpstr>High Performance Computing clouds</vt:lpstr>
      <vt:lpstr>Top 10 Supercomputers (Nov. 2012)</vt:lpstr>
      <vt:lpstr>High Performance Computing Clouds</vt:lpstr>
      <vt:lpstr>High Performance Computing Clouds</vt:lpstr>
      <vt:lpstr>High Performance Computing Clouds</vt:lpstr>
      <vt:lpstr>High Performance Computing Clouds</vt:lpstr>
      <vt:lpstr>GPU Virtualization Overview</vt:lpstr>
      <vt:lpstr>Interface Layers Design</vt:lpstr>
      <vt:lpstr>Architecture</vt:lpstr>
      <vt:lpstr>Key Component</vt:lpstr>
      <vt:lpstr>Key Component</vt:lpstr>
      <vt:lpstr>Communicator</vt:lpstr>
      <vt:lpstr>Lazy Communication  </vt:lpstr>
      <vt:lpstr>Walkthrough</vt:lpstr>
      <vt:lpstr>Walkthrough</vt:lpstr>
      <vt:lpstr>Walkthrough</vt:lpstr>
      <vt:lpstr>Walkthrough</vt:lpstr>
      <vt:lpstr>Walkthrough</vt:lpstr>
      <vt:lpstr>Walkthrough</vt:lpstr>
      <vt:lpstr>GPU Virtualization Taxonomy</vt:lpstr>
      <vt:lpstr>GPU Virtualization Taxonomy</vt:lpstr>
      <vt:lpstr>API Remoting</vt:lpstr>
      <vt:lpstr>API Remoting</vt:lpstr>
      <vt:lpstr>API Remoting</vt:lpstr>
      <vt:lpstr>Related work</vt:lpstr>
      <vt:lpstr>Other Issues</vt:lpstr>
      <vt:lpstr>Device Emulation</vt:lpstr>
      <vt:lpstr>Device Emulation</vt:lpstr>
      <vt:lpstr>Fixed Pass-Through</vt:lpstr>
      <vt:lpstr>Fixed Pass-Through</vt:lpstr>
      <vt:lpstr>Mediated pass-through</vt:lpstr>
      <vt:lpstr>Mediated pass-through</vt:lpstr>
      <vt:lpstr>Mediated pass-through</vt:lpstr>
      <vt:lpstr>GPU virtualization with hardware support</vt:lpstr>
      <vt:lpstr>GPU Virtualization with Hardware Support</vt:lpstr>
      <vt:lpstr>GPU Virtualization with Hardware Support</vt:lpstr>
      <vt:lpstr>NVIDIA Approach</vt:lpstr>
      <vt:lpstr>Key Components of GRID</vt:lpstr>
      <vt:lpstr>Key Component of Grid</vt:lpstr>
      <vt:lpstr>Key Component of Grid</vt:lpstr>
      <vt:lpstr>Key Component of Grid</vt:lpstr>
      <vt:lpstr>Desktop Virtualization</vt:lpstr>
      <vt:lpstr>Desktop Virtualization</vt:lpstr>
      <vt:lpstr>Desktop Virtualization</vt:lpstr>
      <vt:lpstr>Desktop Virtualization Methods</vt:lpstr>
      <vt:lpstr>Desktop Virtualization Methods</vt:lpstr>
      <vt:lpstr>Desktop Virtualization Methods</vt:lpstr>
      <vt:lpstr>Desktop Virtualization Methods</vt:lpstr>
      <vt:lpstr>Desktop Virtualization Methods</vt:lpstr>
      <vt:lpstr>Desktop Virtualization Methods</vt:lpstr>
      <vt:lpstr>Desktop Virtualization Methods</vt:lpstr>
      <vt:lpstr>Desktop Virtualization Methods</vt:lpstr>
      <vt:lpstr>Desktop Virtualization Methods</vt:lpstr>
      <vt:lpstr>NVIDIA GRID K2</vt:lpstr>
      <vt:lpstr>NVIDIA GRID K2</vt:lpstr>
      <vt:lpstr>References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271</cp:revision>
  <dcterms:created xsi:type="dcterms:W3CDTF">2015-06-05T07:23:35Z</dcterms:created>
  <dcterms:modified xsi:type="dcterms:W3CDTF">2023-10-15T06:18:35Z</dcterms:modified>
</cp:coreProperties>
</file>