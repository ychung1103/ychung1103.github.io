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media/image14.jpg" ContentType="image/jpg"/>
  <Override PartName="/ppt/media/image18.jpg" ContentType="image/jpg"/>
  <Override PartName="/ppt/media/image20.jpg" ContentType="image/jpg"/>
  <Override PartName="/ppt/media/image24.jpg" ContentType="image/jpg"/>
  <Override PartName="/ppt/media/image26.jpg" ContentType="image/jpg"/>
  <Override PartName="/ppt/media/image27.jpg" ContentType="image/jpg"/>
  <Override PartName="/ppt/media/image28.jpg" ContentType="image/jpg"/>
  <Override PartName="/ppt/media/image29.jpg" ContentType="image/jpg"/>
  <Override PartName="/ppt/media/image30.jpg" ContentType="image/jpg"/>
  <Override PartName="/ppt/media/image31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handoutMasterIdLst>
    <p:handoutMasterId r:id="rId33"/>
  </p:handoutMasterIdLst>
  <p:sldIdLst>
    <p:sldId id="256" r:id="rId2"/>
    <p:sldId id="257" r:id="rId3"/>
    <p:sldId id="258" r:id="rId4"/>
    <p:sldId id="261" r:id="rId5"/>
    <p:sldId id="262" r:id="rId6"/>
    <p:sldId id="309" r:id="rId7"/>
    <p:sldId id="265" r:id="rId8"/>
    <p:sldId id="266" r:id="rId9"/>
    <p:sldId id="270" r:id="rId10"/>
    <p:sldId id="310" r:id="rId11"/>
    <p:sldId id="311" r:id="rId12"/>
    <p:sldId id="279" r:id="rId13"/>
    <p:sldId id="312" r:id="rId14"/>
    <p:sldId id="313" r:id="rId15"/>
    <p:sldId id="314" r:id="rId16"/>
    <p:sldId id="287" r:id="rId17"/>
    <p:sldId id="315" r:id="rId18"/>
    <p:sldId id="288" r:id="rId19"/>
    <p:sldId id="289" r:id="rId20"/>
    <p:sldId id="316" r:id="rId21"/>
    <p:sldId id="297" r:id="rId22"/>
    <p:sldId id="317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72" y="64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2026/9/28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2026/9/28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5" b="0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A4CCE-3EB0-4036-BAC4-C14F5C74E96A}" type="datetime1">
              <a:rPr lang="en-US" altLang="zh-CN" smtClean="0"/>
              <a:t>9/28/2026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89117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88678" y="344524"/>
            <a:ext cx="3516612" cy="4085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5" b="0" i="0">
                <a:solidFill>
                  <a:schemeClr val="tx1"/>
                </a:solidFill>
                <a:latin typeface="Arial Narrow"/>
                <a:cs typeface="Arial Narro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2607" y="2880360"/>
            <a:ext cx="6405500" cy="182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89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3AC4F-0055-4682-AC40-52A79D4440A1}" type="datetime1">
              <a:rPr lang="en-US" altLang="zh-CN" smtClean="0"/>
              <a:t>9/28/2026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3117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67791-3CEE-48AA-ACE5-FE4D1AAF4D6B}" type="datetime1">
              <a:rPr lang="en-US" altLang="zh-CN" smtClean="0"/>
              <a:t>9/28/2026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6787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imes New Roman" panose="02020603050405020304" pitchFamily="18" charset="0"/>
          <a:ea typeface="標楷體" pitchFamily="65" charset="-120"/>
          <a:cs typeface="Times New Roman" panose="02020603050405020304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Times New Roman" panose="02020603050405020304" pitchFamily="18" charset="0"/>
          <a:ea typeface="標楷體" pitchFamily="65" charset="-120"/>
          <a:cs typeface="Times New Roman" panose="02020603050405020304" pitchFamily="18" charset="0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Times New Roman" panose="02020603050405020304" pitchFamily="18" charset="0"/>
          <a:ea typeface="標楷體" pitchFamily="65" charset="-120"/>
          <a:cs typeface="Times New Roman" panose="02020603050405020304" pitchFamily="18" charset="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IOT-OS/RIOT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ummit.riot-os.org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riot-os.org/" TargetMode="External"/><Relationship Id="rId2" Type="http://schemas.openxmlformats.org/officeDocument/2006/relationships/hyperlink" Target="https://ci.riot-os.org/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hyperlink" Target="https://github.com/apache/mynewt-nimble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racker.ietf.org/wg/suit/about/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riot-os.org/files/RIOT-Summit-2017-slides/6-2-Network-Session-DropWatcher.pdf" TargetMode="External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diegogo.com/projects/the-venture-algramo-chile%23/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hyperlink" Target="http://summit.riot-os.org/2018/wp-content/uploads/sites/10/2018/09/2_2-Bas-Stottelaar-KNX.pdf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hyperlink" Target="https://www.iot-lab.info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iot-os/riot-course" TargetMode="External"/><Relationship Id="rId2" Type="http://schemas.openxmlformats.org/officeDocument/2006/relationships/hyperlink" Target="https://github.com/RIOT-OS/Tutorials" TargetMode="Externa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6032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Advanced Operating Systems</a:t>
            </a:r>
            <a:b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RIOT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CN" sz="2400" dirty="0"/>
              <a:t>Data </a:t>
            </a:r>
            <a:r>
              <a:rPr lang="en-US" altLang="zh-TW" sz="2400" dirty="0"/>
              <a:t>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ECDBE3-98D7-B8FC-0EEA-DDCCCA7459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85C818D-FD60-6805-C2D1-A4FE9D458CE1}"/>
              </a:ext>
            </a:extLst>
          </p:cNvPr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D7A7F0D-7BD4-E326-3260-347DE6C8BBA1}"/>
              </a:ext>
            </a:extLst>
          </p:cNvPr>
          <p:cNvSpPr txBox="1">
            <a:spLocks/>
          </p:cNvSpPr>
          <p:nvPr/>
        </p:nvSpPr>
        <p:spPr>
          <a:xfrm>
            <a:off x="1078029" y="818147"/>
            <a:ext cx="7272951" cy="2608634"/>
          </a:xfrm>
          <a:prstGeom prst="rect">
            <a:avLst/>
          </a:prstGeom>
        </p:spPr>
        <p:txBody>
          <a:bodyPr>
            <a:no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kern="0" dirty="0">
                <a:solidFill>
                  <a:srgbClr val="FF0000"/>
                </a:solidFill>
              </a:rPr>
              <a:t>Introduction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kern="0" dirty="0"/>
              <a:t>Technical Overview</a:t>
            </a:r>
            <a:endParaRPr lang="en-US" altLang="zh-CN" sz="2400" kern="0" spc="-8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kern="0" dirty="0"/>
              <a:t>RIOT in Action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FA89297F-C180-77BF-1F07-87E17BC25C7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>
                <a:solidFill>
                  <a:schemeClr val="bg1"/>
                </a:solidFill>
              </a:rPr>
              <a:t>2</a:t>
            </a:fld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1A6B333B-2E8F-46F6-6FBE-E97A460EF9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18" name="标题 17">
            <a:extLst>
              <a:ext uri="{FF2B5EF4-FFF2-40B4-BE49-F238E27FC236}">
                <a16:creationId xmlns:a16="http://schemas.microsoft.com/office/drawing/2014/main" id="{F8178F52-5017-10CB-9805-E30DCCDD2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323" y="108349"/>
            <a:ext cx="7755367" cy="519113"/>
          </a:xfrm>
        </p:spPr>
        <p:txBody>
          <a:bodyPr/>
          <a:lstStyle/>
          <a:p>
            <a:r>
              <a:rPr lang="en-US" altLang="zh-CN" dirty="0"/>
              <a:t>What is RIOT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3DA28C7-20EF-071B-DC2F-24A9B2E56A5E}"/>
              </a:ext>
            </a:extLst>
          </p:cNvPr>
          <p:cNvSpPr txBox="1"/>
          <p:nvPr/>
        </p:nvSpPr>
        <p:spPr>
          <a:xfrm>
            <a:off x="1049862" y="829509"/>
            <a:ext cx="7347377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for microcontrollers</a:t>
            </a:r>
          </a:p>
          <a:p>
            <a:pPr marL="742950" lvl="1" indent="-285750"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icrokernel architecture ⇒ require very low resources</a:t>
            </a:r>
          </a:p>
          <a:p>
            <a:pPr marL="742950" lvl="1" indent="-285750"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eal-time and multi-threaded</a:t>
            </a:r>
          </a:p>
          <a:p>
            <a:pPr marL="742950" lvl="1" indent="-285750">
              <a:spcAft>
                <a:spcPts val="600"/>
              </a:spcAft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omes with in-house networking stacks</a:t>
            </a:r>
          </a:p>
          <a:p>
            <a:pPr marL="285750" indent="-285750" algn="l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pen-source: </a:t>
            </a:r>
            <a:r>
              <a:rPr lang="en-US" altLang="zh-CN" sz="2000" b="0" i="0" u="none" strike="noStrike" baseline="0" dirty="0">
                <a:solidFill>
                  <a:srgbClr val="0000E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https://github.com/RIOT-OS/RIOT</a:t>
            </a:r>
            <a:endParaRPr lang="en-US" altLang="zh-CN" sz="2000" b="0" i="0" u="none" strike="noStrike" baseline="0" dirty="0">
              <a:solidFill>
                <a:srgbClr val="0000E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ree software platform</a:t>
            </a:r>
          </a:p>
          <a:p>
            <a:pPr marL="742950" lvl="1" indent="-285750">
              <a:spcAft>
                <a:spcPts val="600"/>
              </a:spcAft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orld-wide community of developers</a:t>
            </a:r>
          </a:p>
          <a:p>
            <a:pPr marL="285750" indent="-285750" algn="l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use and reuse</a:t>
            </a:r>
          </a:p>
          <a:p>
            <a:pPr marL="742950" lvl="1" indent="-285750"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programming in C</a:t>
            </a:r>
          </a:p>
          <a:p>
            <a:pPr marL="742950" lvl="1" indent="-285750"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tooling</a:t>
            </a:r>
          </a:p>
          <a:p>
            <a:pPr marL="742950" lvl="1" indent="-285750"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is independent from the hardware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7553" y="1447908"/>
            <a:ext cx="5328893" cy="2963225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E42783-6DA3-F231-7436-D1448E3825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1F8D7E36-43C2-ED83-24CF-0F3F4964D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8267" y="108349"/>
            <a:ext cx="7727423" cy="519113"/>
          </a:xfrm>
        </p:spPr>
        <p:txBody>
          <a:bodyPr/>
          <a:lstStyle/>
          <a:p>
            <a:r>
              <a:rPr lang="en-US" altLang="zh-CN" dirty="0"/>
              <a:t>RTOS in IoT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143CD18-3AE5-20C0-4177-DEF91CF0A181}"/>
              </a:ext>
            </a:extLst>
          </p:cNvPr>
          <p:cNvSpPr txBox="1"/>
          <p:nvPr/>
        </p:nvSpPr>
        <p:spPr>
          <a:xfrm>
            <a:off x="1015996" y="853019"/>
            <a:ext cx="73473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RIOT</a:t>
            </a:r>
            <a:r>
              <a:rPr lang="en-US" altLang="zh-CN" sz="20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zh-CN" sz="20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</a:t>
            </a:r>
            <a:r>
              <a:rPr lang="en-US" altLang="zh-CN" sz="20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altLang="zh-CN" sz="20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low-end</a:t>
            </a:r>
            <a:r>
              <a:rPr lang="en-US" altLang="zh-CN" sz="20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(kB</a:t>
            </a:r>
            <a:r>
              <a:rPr lang="en-US" altLang="zh-CN" sz="2000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RAM,</a:t>
            </a:r>
            <a:r>
              <a:rPr lang="en-US" altLang="zh-CN" sz="2000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MHz,</a:t>
            </a:r>
            <a:r>
              <a:rPr lang="en-US" altLang="zh-CN" sz="20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2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mW</a:t>
            </a:r>
            <a:r>
              <a:rPr lang="en-US" altLang="zh-C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0683" y="1634742"/>
            <a:ext cx="52612" cy="52612"/>
          </a:xfrm>
          <a:prstGeom prst="rect">
            <a:avLst/>
          </a:prstGeom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4290F0-7D53-4442-56AC-2275F9E63D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9" name="标题 6">
            <a:extLst>
              <a:ext uri="{FF2B5EF4-FFF2-40B4-BE49-F238E27FC236}">
                <a16:creationId xmlns:a16="http://schemas.microsoft.com/office/drawing/2014/main" id="{F4A46D82-0FE6-0159-DC6E-85E9CD2761B1}"/>
              </a:ext>
            </a:extLst>
          </p:cNvPr>
          <p:cNvSpPr txBox="1">
            <a:spLocks/>
          </p:cNvSpPr>
          <p:nvPr/>
        </p:nvSpPr>
        <p:spPr bwMode="auto">
          <a:xfrm>
            <a:off x="948267" y="108349"/>
            <a:ext cx="772742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dirty="0"/>
              <a:t>History</a:t>
            </a:r>
            <a:r>
              <a:rPr lang="en-US" altLang="zh-CN" spc="-159" dirty="0"/>
              <a:t> </a:t>
            </a:r>
            <a:r>
              <a:rPr lang="en-US" altLang="zh-CN" spc="-99" dirty="0"/>
              <a:t>of</a:t>
            </a:r>
            <a:r>
              <a:rPr lang="en-US" altLang="zh-CN" spc="-159" dirty="0"/>
              <a:t> </a:t>
            </a:r>
            <a:r>
              <a:rPr lang="en-US" altLang="zh-CN" spc="-95" dirty="0"/>
              <a:t>the</a:t>
            </a:r>
            <a:r>
              <a:rPr lang="en-US" altLang="zh-CN" spc="-159" dirty="0"/>
              <a:t> </a:t>
            </a:r>
            <a:r>
              <a:rPr lang="en-US" altLang="zh-CN" spc="-103" dirty="0"/>
              <a:t>Project (1)</a:t>
            </a:r>
            <a:endParaRPr lang="zh-CN" altLang="en-US" kern="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E8C96A6-92F4-FE11-5B30-CFDC96BAD9C6}"/>
              </a:ext>
            </a:extLst>
          </p:cNvPr>
          <p:cNvSpPr txBox="1"/>
          <p:nvPr/>
        </p:nvSpPr>
        <p:spPr>
          <a:xfrm>
            <a:off x="1138289" y="914400"/>
            <a:ext cx="734737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5816" indent="-285750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spc="-8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Inria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</a:t>
            </a:r>
            <a:r>
              <a:rPr lang="en-US" altLang="zh-C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Berlin,</a:t>
            </a:r>
            <a:r>
              <a:rPr lang="en-US" altLang="zh-C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zh-CN" sz="2000" spc="-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HAW</a:t>
            </a:r>
            <a:r>
              <a:rPr lang="en-US" altLang="zh-C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founded</a:t>
            </a:r>
            <a:r>
              <a:rPr lang="en-US" altLang="zh-C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RIOT in 2013</a:t>
            </a:r>
          </a:p>
          <a:p>
            <a:pPr marL="810166" lvl="1" indent="-342900"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Stemed</a:t>
            </a:r>
            <a:r>
              <a:rPr lang="en-US" altLang="zh-C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French-German</a:t>
            </a:r>
            <a:r>
              <a:rPr lang="en-US" altLang="zh-C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en-US" altLang="zh-C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</a:p>
          <a:p>
            <a:pPr marL="810166" lvl="1" indent="-342900"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en-US" altLang="zh-CN" sz="2000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evolved</a:t>
            </a:r>
            <a:r>
              <a:rPr lang="en-US" altLang="zh-CN" sz="20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0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FireKernel</a:t>
            </a:r>
            <a:endParaRPr lang="en-US" altLang="zh-CN" sz="20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5816" indent="-285750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community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</a:t>
            </a:r>
            <a:endParaRPr lang="en-US" altLang="zh-CN" sz="2000" spc="-1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0166" lvl="1" indent="-342900"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far, +200 different contributors to the master branch</a:t>
            </a:r>
          </a:p>
          <a:p>
            <a:pPr marL="810166" lvl="1" indent="-342900"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Academics: Berkeley, UCLA, MIT, AIT, TZI,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0166" lvl="1" indent="-342900"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Industrial: Cisco, Samsung,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ImgTec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Fujitsu,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Thalès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0166" lvl="1" indent="-342900"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SME: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Zolertia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OTAKeys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Mesotic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Eistec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We-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0166" lvl="1" indent="-342900"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of the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EdgeXFoundry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initiative</a:t>
            </a:r>
            <a:r>
              <a:rPr lang="en-US" altLang="zh-CN" sz="24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10166" lvl="1" indent="-342900"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en-US" altLang="zh-CN" sz="2000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evolved</a:t>
            </a:r>
            <a:r>
              <a:rPr lang="en-US" altLang="zh-CN" sz="20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z="20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FireKernel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0683" y="1634742"/>
            <a:ext cx="52612" cy="52612"/>
          </a:xfrm>
          <a:prstGeom prst="rect">
            <a:avLst/>
          </a:prstGeom>
        </p:spPr>
      </p:pic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4290F0-7D53-4442-56AC-2275F9E63D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9" name="标题 6">
            <a:extLst>
              <a:ext uri="{FF2B5EF4-FFF2-40B4-BE49-F238E27FC236}">
                <a16:creationId xmlns:a16="http://schemas.microsoft.com/office/drawing/2014/main" id="{F4A46D82-0FE6-0159-DC6E-85E9CD2761B1}"/>
              </a:ext>
            </a:extLst>
          </p:cNvPr>
          <p:cNvSpPr txBox="1">
            <a:spLocks/>
          </p:cNvSpPr>
          <p:nvPr/>
        </p:nvSpPr>
        <p:spPr bwMode="auto">
          <a:xfrm>
            <a:off x="948267" y="108349"/>
            <a:ext cx="772742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dirty="0"/>
              <a:t>History of the Project (2)</a:t>
            </a:r>
            <a:endParaRPr lang="zh-CN" altLang="en-US" kern="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E8C96A6-92F4-FE11-5B30-CFDC96BAD9C6}"/>
              </a:ext>
            </a:extLst>
          </p:cNvPr>
          <p:cNvSpPr txBox="1"/>
          <p:nvPr/>
        </p:nvSpPr>
        <p:spPr>
          <a:xfrm>
            <a:off x="1138289" y="914400"/>
            <a:ext cx="73473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5816" indent="-285750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</a:t>
            </a:r>
            <a:r>
              <a:rPr lang="en-US" altLang="zh-CN" sz="2000" spc="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RIOT</a:t>
            </a:r>
            <a:r>
              <a:rPr lang="en-US" altLang="zh-CN" sz="2000" spc="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Summit:</a:t>
            </a:r>
            <a:r>
              <a:rPr lang="en-US" altLang="zh-CN" sz="2000" spc="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u="heavy" spc="-32" dirty="0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https://summit.riot-</a:t>
            </a:r>
            <a:r>
              <a:rPr lang="en-US" altLang="zh-CN" sz="2000" u="heavy" spc="-8" dirty="0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os.org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F614F69-A0BA-2325-111C-ABDF3ACE4BE7}"/>
              </a:ext>
            </a:extLst>
          </p:cNvPr>
          <p:cNvGrpSpPr/>
          <p:nvPr/>
        </p:nvGrpSpPr>
        <p:grpSpPr>
          <a:xfrm>
            <a:off x="1013262" y="1491916"/>
            <a:ext cx="7347377" cy="2906829"/>
            <a:chOff x="612163" y="1434165"/>
            <a:chExt cx="8159651" cy="3041582"/>
          </a:xfrm>
        </p:grpSpPr>
        <p:pic>
          <p:nvPicPr>
            <p:cNvPr id="2" name="object 15">
              <a:extLst>
                <a:ext uri="{FF2B5EF4-FFF2-40B4-BE49-F238E27FC236}">
                  <a16:creationId xmlns:a16="http://schemas.microsoft.com/office/drawing/2014/main" id="{29E30308-C660-E5A7-13B7-0880DAF1AF4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2163" y="1434165"/>
              <a:ext cx="3959837" cy="3041582"/>
            </a:xfrm>
            <a:prstGeom prst="rect">
              <a:avLst/>
            </a:prstGeom>
          </p:spPr>
        </p:pic>
        <p:pic>
          <p:nvPicPr>
            <p:cNvPr id="3" name="object 16">
              <a:extLst>
                <a:ext uri="{FF2B5EF4-FFF2-40B4-BE49-F238E27FC236}">
                  <a16:creationId xmlns:a16="http://schemas.microsoft.com/office/drawing/2014/main" id="{41DC905D-37E3-D682-B91B-EC5D0DCC881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11977" y="1434165"/>
              <a:ext cx="3959837" cy="30415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3342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877B3596-4E42-DB8A-B637-5AA98A43DB6C}"/>
              </a:ext>
            </a:extLst>
          </p:cNvPr>
          <p:cNvGrpSpPr/>
          <p:nvPr/>
        </p:nvGrpSpPr>
        <p:grpSpPr>
          <a:xfrm>
            <a:off x="1376412" y="2059999"/>
            <a:ext cx="6044665" cy="2119915"/>
            <a:chOff x="1923340" y="1085073"/>
            <a:chExt cx="5399180" cy="174358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49697" y="1085073"/>
              <a:ext cx="4429170" cy="1250990"/>
            </a:xfrm>
            <a:prstGeom prst="rect">
              <a:avLst/>
            </a:prstGeom>
          </p:spPr>
        </p:pic>
        <p:sp>
          <p:nvSpPr>
            <p:cNvPr id="8" name="object 8"/>
            <p:cNvSpPr txBox="1"/>
            <p:nvPr/>
          </p:nvSpPr>
          <p:spPr>
            <a:xfrm>
              <a:off x="1923340" y="2464234"/>
              <a:ext cx="5399180" cy="364428"/>
            </a:xfrm>
            <a:prstGeom prst="rect">
              <a:avLst/>
            </a:prstGeom>
          </p:spPr>
          <p:txBody>
            <a:bodyPr vert="horz" wrap="square" lIns="0" tIns="12079" rIns="0" bIns="0" rtlCol="0">
              <a:spAutoFit/>
            </a:bodyPr>
            <a:lstStyle/>
            <a:p>
              <a:pPr marL="10066" algn="ctr">
                <a:spcBef>
                  <a:spcPts val="95"/>
                </a:spcBef>
              </a:pPr>
              <a:r>
                <a:rPr sz="1400" i="1" spc="-16" dirty="0">
                  <a:latin typeface="Trebuchet MS"/>
                  <a:cs typeface="Trebuchet MS"/>
                </a:rPr>
                <a:t>Reference:</a:t>
              </a:r>
              <a:r>
                <a:rPr sz="1400" i="1" spc="-8" dirty="0">
                  <a:latin typeface="Trebuchet MS"/>
                  <a:cs typeface="Trebuchet MS"/>
                </a:rPr>
                <a:t> </a:t>
              </a:r>
              <a:r>
                <a:rPr sz="1400" i="1" spc="-32" dirty="0">
                  <a:latin typeface="Trebuchet MS"/>
                  <a:cs typeface="Trebuchet MS"/>
                </a:rPr>
                <a:t>O.</a:t>
              </a:r>
              <a:r>
                <a:rPr sz="1400" i="1" spc="-8" dirty="0">
                  <a:latin typeface="Trebuchet MS"/>
                  <a:cs typeface="Trebuchet MS"/>
                </a:rPr>
                <a:t> </a:t>
              </a:r>
              <a:r>
                <a:rPr sz="1400" i="1" dirty="0">
                  <a:latin typeface="Trebuchet MS"/>
                  <a:cs typeface="Trebuchet MS"/>
                </a:rPr>
                <a:t>Hahm</a:t>
              </a:r>
              <a:r>
                <a:rPr sz="1400" i="1" spc="-4" dirty="0">
                  <a:latin typeface="Trebuchet MS"/>
                  <a:cs typeface="Trebuchet MS"/>
                </a:rPr>
                <a:t> </a:t>
              </a:r>
              <a:r>
                <a:rPr sz="1400" i="1" spc="-40" dirty="0">
                  <a:latin typeface="Trebuchet MS"/>
                  <a:cs typeface="Trebuchet MS"/>
                </a:rPr>
                <a:t>et</a:t>
              </a:r>
              <a:r>
                <a:rPr sz="1400" i="1" spc="-8" dirty="0">
                  <a:latin typeface="Trebuchet MS"/>
                  <a:cs typeface="Trebuchet MS"/>
                </a:rPr>
                <a:t> </a:t>
              </a:r>
              <a:r>
                <a:rPr sz="1400" i="1" spc="-44" dirty="0">
                  <a:latin typeface="Trebuchet MS"/>
                  <a:cs typeface="Trebuchet MS"/>
                </a:rPr>
                <a:t>al.</a:t>
              </a:r>
              <a:r>
                <a:rPr sz="1400" i="1" spc="-4" dirty="0">
                  <a:latin typeface="Trebuchet MS"/>
                  <a:cs typeface="Trebuchet MS"/>
                </a:rPr>
                <a:t> </a:t>
              </a:r>
              <a:r>
                <a:rPr sz="1400" i="1" dirty="0">
                  <a:latin typeface="Trebuchet MS"/>
                  <a:cs typeface="Trebuchet MS"/>
                </a:rPr>
                <a:t>"Operating</a:t>
              </a:r>
              <a:r>
                <a:rPr sz="1400" i="1" spc="-8" dirty="0">
                  <a:latin typeface="Trebuchet MS"/>
                  <a:cs typeface="Trebuchet MS"/>
                </a:rPr>
                <a:t> </a:t>
              </a:r>
              <a:r>
                <a:rPr sz="1400" i="1" dirty="0">
                  <a:latin typeface="Trebuchet MS"/>
                  <a:cs typeface="Trebuchet MS"/>
                </a:rPr>
                <a:t>Systems</a:t>
              </a:r>
              <a:r>
                <a:rPr sz="1400" i="1" spc="-4" dirty="0">
                  <a:latin typeface="Trebuchet MS"/>
                  <a:cs typeface="Trebuchet MS"/>
                </a:rPr>
                <a:t> </a:t>
              </a:r>
              <a:r>
                <a:rPr sz="1400" i="1" spc="-16" dirty="0">
                  <a:latin typeface="Trebuchet MS"/>
                  <a:cs typeface="Trebuchet MS"/>
                </a:rPr>
                <a:t>for</a:t>
              </a:r>
              <a:r>
                <a:rPr sz="1400" i="1" spc="-8" dirty="0">
                  <a:latin typeface="Trebuchet MS"/>
                  <a:cs typeface="Trebuchet MS"/>
                </a:rPr>
                <a:t> </a:t>
              </a:r>
              <a:r>
                <a:rPr sz="1400" i="1" dirty="0">
                  <a:latin typeface="Trebuchet MS"/>
                  <a:cs typeface="Trebuchet MS"/>
                </a:rPr>
                <a:t>Low-End</a:t>
              </a:r>
              <a:r>
                <a:rPr sz="1400" i="1" spc="-4" dirty="0">
                  <a:latin typeface="Trebuchet MS"/>
                  <a:cs typeface="Trebuchet MS"/>
                </a:rPr>
                <a:t> </a:t>
              </a:r>
              <a:r>
                <a:rPr sz="1400" i="1" spc="-8" dirty="0">
                  <a:latin typeface="Trebuchet MS"/>
                  <a:cs typeface="Trebuchet MS"/>
                </a:rPr>
                <a:t>Devices</a:t>
              </a:r>
              <a:r>
                <a:rPr lang="en-US" sz="1400" i="1" spc="-8" dirty="0">
                  <a:latin typeface="Trebuchet MS"/>
                  <a:cs typeface="Trebuchet MS"/>
                </a:rPr>
                <a:t> </a:t>
              </a:r>
              <a:r>
                <a:rPr sz="1400" i="1" dirty="0">
                  <a:latin typeface="Trebuchet MS"/>
                  <a:cs typeface="Trebuchet MS"/>
                </a:rPr>
                <a:t>in</a:t>
              </a:r>
              <a:r>
                <a:rPr sz="1400" i="1" spc="-24" dirty="0">
                  <a:latin typeface="Trebuchet MS"/>
                  <a:cs typeface="Trebuchet MS"/>
                </a:rPr>
                <a:t> </a:t>
              </a:r>
              <a:r>
                <a:rPr sz="1400" i="1" spc="-16" dirty="0">
                  <a:latin typeface="Trebuchet MS"/>
                  <a:cs typeface="Trebuchet MS"/>
                </a:rPr>
                <a:t>the</a:t>
              </a:r>
              <a:r>
                <a:rPr sz="1400" i="1" spc="-20" dirty="0">
                  <a:latin typeface="Trebuchet MS"/>
                  <a:cs typeface="Trebuchet MS"/>
                </a:rPr>
                <a:t> </a:t>
              </a:r>
              <a:r>
                <a:rPr sz="1400" i="1" spc="-8" dirty="0">
                  <a:latin typeface="Trebuchet MS"/>
                  <a:cs typeface="Trebuchet MS"/>
                </a:rPr>
                <a:t>Internet</a:t>
              </a:r>
              <a:r>
                <a:rPr sz="1400" i="1" spc="-20" dirty="0">
                  <a:latin typeface="Trebuchet MS"/>
                  <a:cs typeface="Trebuchet MS"/>
                </a:rPr>
                <a:t> </a:t>
              </a:r>
              <a:r>
                <a:rPr sz="1400" i="1" spc="-16" dirty="0">
                  <a:latin typeface="Trebuchet MS"/>
                  <a:cs typeface="Trebuchet MS"/>
                </a:rPr>
                <a:t>of</a:t>
              </a:r>
              <a:r>
                <a:rPr sz="1400" i="1" spc="-20" dirty="0">
                  <a:latin typeface="Trebuchet MS"/>
                  <a:cs typeface="Trebuchet MS"/>
                </a:rPr>
                <a:t> </a:t>
              </a:r>
              <a:r>
                <a:rPr sz="1400" i="1" spc="-8" dirty="0">
                  <a:latin typeface="Trebuchet MS"/>
                  <a:cs typeface="Trebuchet MS"/>
                </a:rPr>
                <a:t>Things:</a:t>
              </a:r>
              <a:r>
                <a:rPr sz="1400" i="1" spc="-20" dirty="0">
                  <a:latin typeface="Trebuchet MS"/>
                  <a:cs typeface="Trebuchet MS"/>
                </a:rPr>
                <a:t> </a:t>
              </a:r>
              <a:r>
                <a:rPr sz="1400" i="1" dirty="0">
                  <a:latin typeface="Trebuchet MS"/>
                  <a:cs typeface="Trebuchet MS"/>
                </a:rPr>
                <a:t>A</a:t>
              </a:r>
              <a:r>
                <a:rPr sz="1400" i="1" spc="-20" dirty="0">
                  <a:latin typeface="Trebuchet MS"/>
                  <a:cs typeface="Trebuchet MS"/>
                </a:rPr>
                <a:t> </a:t>
              </a:r>
              <a:r>
                <a:rPr sz="1400" i="1" spc="-8" dirty="0">
                  <a:latin typeface="Trebuchet MS"/>
                  <a:cs typeface="Trebuchet MS"/>
                </a:rPr>
                <a:t>survey,"</a:t>
              </a:r>
              <a:r>
                <a:rPr sz="1400" i="1" spc="-24" dirty="0">
                  <a:latin typeface="Trebuchet MS"/>
                  <a:cs typeface="Trebuchet MS"/>
                </a:rPr>
                <a:t> </a:t>
              </a:r>
              <a:r>
                <a:rPr sz="1400" i="1" dirty="0">
                  <a:latin typeface="Trebuchet MS"/>
                  <a:cs typeface="Trebuchet MS"/>
                </a:rPr>
                <a:t>IEEE</a:t>
              </a:r>
              <a:r>
                <a:rPr sz="1400" i="1" spc="-20" dirty="0">
                  <a:latin typeface="Trebuchet MS"/>
                  <a:cs typeface="Trebuchet MS"/>
                </a:rPr>
                <a:t> </a:t>
              </a:r>
              <a:r>
                <a:rPr sz="1400" i="1" spc="-8" dirty="0">
                  <a:latin typeface="Trebuchet MS"/>
                  <a:cs typeface="Trebuchet MS"/>
                </a:rPr>
                <a:t>Internet</a:t>
              </a:r>
              <a:r>
                <a:rPr sz="1400" i="1" spc="-20" dirty="0">
                  <a:latin typeface="Trebuchet MS"/>
                  <a:cs typeface="Trebuchet MS"/>
                </a:rPr>
                <a:t> </a:t>
              </a:r>
              <a:r>
                <a:rPr sz="1400" i="1" spc="-16" dirty="0">
                  <a:latin typeface="Trebuchet MS"/>
                  <a:cs typeface="Trebuchet MS"/>
                </a:rPr>
                <a:t>of</a:t>
              </a:r>
              <a:r>
                <a:rPr sz="1400" i="1" spc="-20" dirty="0">
                  <a:latin typeface="Trebuchet MS"/>
                  <a:cs typeface="Trebuchet MS"/>
                </a:rPr>
                <a:t> ThingsJournal, </a:t>
              </a:r>
              <a:r>
                <a:rPr sz="1400" i="1" spc="-8" dirty="0">
                  <a:latin typeface="Trebuchet MS"/>
                  <a:cs typeface="Trebuchet MS"/>
                </a:rPr>
                <a:t>2016.</a:t>
              </a:r>
              <a:endParaRPr sz="1400" dirty="0">
                <a:latin typeface="Trebuchet MS"/>
                <a:cs typeface="Trebuchet MS"/>
              </a:endParaRPr>
            </a:p>
          </p:txBody>
        </p: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D379F07-2A76-C8FC-2794-E20E8DB050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5C62ACB-C7DC-84B9-1778-1695B9B8D301}"/>
              </a:ext>
            </a:extLst>
          </p:cNvPr>
          <p:cNvSpPr txBox="1"/>
          <p:nvPr/>
        </p:nvSpPr>
        <p:spPr>
          <a:xfrm>
            <a:off x="948267" y="835899"/>
            <a:ext cx="80057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5816" indent="-285750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</a:t>
            </a:r>
            <a:r>
              <a:rPr lang="en-US" altLang="zh-CN" sz="20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</a:t>
            </a:r>
            <a:r>
              <a:rPr lang="en-US" altLang="zh-CN" sz="20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zh-CN" sz="2000" spc="-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altLang="zh-CN" sz="20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adapts</a:t>
            </a:r>
            <a:r>
              <a:rPr lang="en-US" altLang="zh-CN" sz="2000" spc="-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zh-CN" sz="20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wider</a:t>
            </a:r>
            <a:r>
              <a:rPr lang="en-US" altLang="zh-CN" sz="2000" spc="-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en-US" altLang="zh-CN" sz="20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altLang="zh-CN" sz="2000" spc="-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architectures</a:t>
            </a:r>
          </a:p>
          <a:p>
            <a:pPr marL="295816" indent="-285750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Fosters</a:t>
            </a:r>
            <a:r>
              <a:rPr lang="en-US" altLang="zh-CN" sz="20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altLang="zh-CN" sz="20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</a:t>
            </a:r>
            <a:r>
              <a:rPr lang="en-US" altLang="zh-CN" sz="20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philosophy</a:t>
            </a:r>
            <a:r>
              <a:rPr lang="en-US" altLang="zh-CN" sz="20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5816" indent="-285750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en-US" altLang="zh-CN" sz="20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akin</a:t>
            </a:r>
            <a:r>
              <a:rPr lang="en-US" altLang="zh-CN" sz="20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zh-CN" sz="20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lang="en-US" altLang="zh-CN" sz="20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</a:t>
            </a:r>
            <a:r>
              <a:rPr lang="en-US" altLang="zh-CN" sz="20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</a:t>
            </a:r>
            <a:r>
              <a:rPr lang="en-US" altLang="zh-CN" sz="20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en-US" altLang="zh-CN" sz="20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标题 6">
            <a:extLst>
              <a:ext uri="{FF2B5EF4-FFF2-40B4-BE49-F238E27FC236}">
                <a16:creationId xmlns:a16="http://schemas.microsoft.com/office/drawing/2014/main" id="{D920D9B6-B0C1-B60F-C95C-57ED188F1867}"/>
              </a:ext>
            </a:extLst>
          </p:cNvPr>
          <p:cNvSpPr txBox="1">
            <a:spLocks/>
          </p:cNvSpPr>
          <p:nvPr/>
        </p:nvSpPr>
        <p:spPr bwMode="auto">
          <a:xfrm>
            <a:off x="986767" y="89099"/>
            <a:ext cx="772742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dirty="0"/>
              <a:t>Competitors</a:t>
            </a:r>
            <a:endParaRPr lang="zh-CN" altLang="en-US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65971" y="983768"/>
            <a:ext cx="669124" cy="810723"/>
          </a:xfrm>
          <a:prstGeom prst="rect">
            <a:avLst/>
          </a:prstGeom>
        </p:spPr>
      </p:pic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EB96A49-3AA9-6F45-DDA2-5F895AD953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3F695F-A025-948F-C355-77D25A452E0B}"/>
              </a:ext>
            </a:extLst>
          </p:cNvPr>
          <p:cNvSpPr txBox="1"/>
          <p:nvPr/>
        </p:nvSpPr>
        <p:spPr>
          <a:xfrm>
            <a:off x="1078029" y="846182"/>
            <a:ext cx="71124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5816" indent="-285750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RIOT</a:t>
            </a:r>
            <a:r>
              <a:rPr lang="en-US" altLang="zh-CN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zh-CN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free-</a:t>
            </a:r>
            <a:r>
              <a:rPr lang="en-US" altLang="zh-CN" spc="-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software,</a:t>
            </a:r>
            <a:r>
              <a:rPr lang="en-US" altLang="zh-CN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licensed</a:t>
            </a:r>
            <a:r>
              <a:rPr lang="en-US" altLang="zh-CN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LGPLv2.1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5816" indent="-285750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</a:t>
            </a:r>
            <a:r>
              <a:rPr lang="en-US" altLang="zh-CN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</a:t>
            </a:r>
            <a:r>
              <a:rPr lang="en-US" altLang="zh-CN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inspiration</a:t>
            </a:r>
            <a:r>
              <a:rPr lang="en-US" altLang="zh-CN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altLang="zh-CN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</a:t>
            </a:r>
          </a:p>
          <a:p>
            <a:pPr marL="295816" indent="-285750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en-US" altLang="zh-CN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standards</a:t>
            </a:r>
            <a:r>
              <a:rPr lang="en-US" altLang="zh-CN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whenever</a:t>
            </a:r>
            <a:r>
              <a:rPr lang="en-US" altLang="zh-CN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 </a:t>
            </a:r>
            <a:r>
              <a:rPr lang="en-US" altLang="zh-CN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(C-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ANSI,</a:t>
            </a:r>
            <a:r>
              <a:rPr lang="en-US" altLang="zh-CN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r>
              <a:rPr lang="en-US" altLang="zh-CN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tools,</a:t>
            </a:r>
            <a:r>
              <a:rPr lang="en-US" altLang="zh-CN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r>
              <a:rPr lang="en-US" altLang="zh-CN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protocols,</a:t>
            </a:r>
            <a:r>
              <a:rPr lang="en-US" altLang="zh-CN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r>
              <a:rPr lang="en-US" altLang="zh-CN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procedures)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5816" indent="-285750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POSIX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5816" indent="-285750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</a:t>
            </a:r>
            <a:r>
              <a:rPr lang="en-US" altLang="zh-CN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US" altLang="zh-CN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duplication,</a:t>
            </a:r>
            <a:r>
              <a:rPr lang="en-US" altLang="zh-CN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</a:t>
            </a:r>
            <a:r>
              <a:rPr lang="en-US" altLang="zh-CN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zh-CN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program,</a:t>
            </a:r>
            <a:r>
              <a:rPr lang="en-US" altLang="zh-CN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portability</a:t>
            </a:r>
            <a:r>
              <a:rPr lang="en-US" altLang="zh-CN" spc="-1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pc="-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modularity</a:t>
            </a:r>
          </a:p>
          <a:p>
            <a:pPr marL="295816" indent="-285750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</a:t>
            </a:r>
            <a:r>
              <a:rPr lang="en-US" altLang="zh-CN" spc="-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altLang="zh-CN" spc="-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independence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5816" indent="-285750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Decisions</a:t>
            </a:r>
            <a:r>
              <a:rPr lang="en-US" altLang="zh-CN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zh-CN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orientations</a:t>
            </a:r>
            <a:r>
              <a:rPr lang="en-US" altLang="zh-CN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altLang="zh-CN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taken</a:t>
            </a:r>
            <a:r>
              <a:rPr lang="en-US" altLang="zh-CN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altLang="zh-CN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grass-root community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object 16">
            <a:extLst>
              <a:ext uri="{FF2B5EF4-FFF2-40B4-BE49-F238E27FC236}">
                <a16:creationId xmlns:a16="http://schemas.microsoft.com/office/drawing/2014/main" id="{4592A9F3-6DCD-2342-4038-60AE60F853C5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49152" y="3275627"/>
            <a:ext cx="2908886" cy="1204313"/>
          </a:xfrm>
          <a:prstGeom prst="rect">
            <a:avLst/>
          </a:prstGeom>
        </p:spPr>
      </p:pic>
      <p:sp>
        <p:nvSpPr>
          <p:cNvPr id="11" name="标题 6">
            <a:extLst>
              <a:ext uri="{FF2B5EF4-FFF2-40B4-BE49-F238E27FC236}">
                <a16:creationId xmlns:a16="http://schemas.microsoft.com/office/drawing/2014/main" id="{86A18271-0502-620F-F1E8-435FE2F5FB7E}"/>
              </a:ext>
            </a:extLst>
          </p:cNvPr>
          <p:cNvSpPr txBox="1">
            <a:spLocks/>
          </p:cNvSpPr>
          <p:nvPr/>
        </p:nvSpPr>
        <p:spPr bwMode="auto">
          <a:xfrm>
            <a:off x="948267" y="108349"/>
            <a:ext cx="772742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dirty="0"/>
              <a:t>The RIOT Philosophy &amp; Community</a:t>
            </a:r>
            <a:endParaRPr lang="zh-CN" altLang="en-US" kern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0221" y="57127"/>
            <a:ext cx="7692891" cy="565178"/>
          </a:xfrm>
          <a:prstGeom prst="rect">
            <a:avLst/>
          </a:prstGeom>
        </p:spPr>
        <p:txBody>
          <a:bodyPr vert="horz" wrap="square" lIns="0" tIns="1107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066">
              <a:spcBef>
                <a:spcPts val="87"/>
              </a:spcBef>
            </a:pPr>
            <a:r>
              <a:rPr lang="en-US" dirty="0"/>
              <a:t>Ecosystem &amp; C</a:t>
            </a:r>
            <a:r>
              <a:rPr dirty="0"/>
              <a:t>ommunity </a:t>
            </a:r>
            <a:r>
              <a:rPr lang="en-US" dirty="0"/>
              <a:t>P</a:t>
            </a:r>
            <a:r>
              <a:rPr dirty="0"/>
              <a:t>rocesses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F77DEDC2-1B8B-8784-7CB4-380E763259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6A85601-B6BA-1F9B-10A7-7A38A2BFAB13}"/>
              </a:ext>
            </a:extLst>
          </p:cNvPr>
          <p:cNvSpPr txBox="1"/>
          <p:nvPr/>
        </p:nvSpPr>
        <p:spPr>
          <a:xfrm>
            <a:off x="960221" y="860522"/>
            <a:ext cx="7251081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5816" indent="-285750">
              <a:spcAft>
                <a:spcPts val="60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tooling and build system: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Makefiles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OpenOCD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GDB</a:t>
            </a:r>
          </a:p>
          <a:p>
            <a:pPr marL="295816" indent="-285750">
              <a:spcAft>
                <a:spcPts val="60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 and fast CI, Murdock: </a:t>
            </a:r>
            <a:r>
              <a:rPr lang="en-US" altLang="zh-CN" sz="2000" dirty="0">
                <a:solidFill>
                  <a:srgbClr val="0000E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https://ci.riot-os.org</a:t>
            </a:r>
            <a:endParaRPr lang="en-US" altLang="zh-CN" sz="2000" dirty="0">
              <a:solidFill>
                <a:srgbClr val="0000E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066">
              <a:spcAft>
                <a:spcPts val="600"/>
              </a:spcAft>
              <a:buClr>
                <a:srgbClr val="0000FF"/>
              </a:buClr>
            </a:pPr>
            <a:r>
              <a:rPr lang="en-US" altLang="zh-CN" sz="2000" dirty="0">
                <a:solidFill>
                  <a:srgbClr val="0000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⇒ Build and run all test/example applications</a:t>
            </a:r>
          </a:p>
          <a:p>
            <a:pPr marL="10066">
              <a:spcAft>
                <a:spcPts val="600"/>
              </a:spcAft>
              <a:buClr>
                <a:srgbClr val="0000FF"/>
              </a:buClr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⇒ Static tests (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Cppcheck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Coccinelle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295816" indent="-285750">
              <a:spcAft>
                <a:spcPts val="60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documentation ⇒ </a:t>
            </a:r>
            <a:r>
              <a:rPr lang="en-US" altLang="zh-CN" sz="2000" dirty="0">
                <a:solidFill>
                  <a:srgbClr val="0000EF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https://doc.riot-os.org</a:t>
            </a:r>
            <a:endParaRPr lang="en-US" altLang="zh-CN" sz="2000" dirty="0">
              <a:solidFill>
                <a:srgbClr val="0000E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5816" indent="-285750">
              <a:spcAft>
                <a:spcPts val="60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In-depth code reviews</a:t>
            </a:r>
          </a:p>
          <a:p>
            <a:pPr marL="295816" indent="-285750">
              <a:spcAft>
                <a:spcPts val="60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Stable release every 3 months: . (ex: 2018.07, 2018.10,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85C818D-FD60-6805-C2D1-A4FE9D458CE1}"/>
              </a:ext>
            </a:extLst>
          </p:cNvPr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D7A7F0D-7BD4-E326-3260-347DE6C8BBA1}"/>
              </a:ext>
            </a:extLst>
          </p:cNvPr>
          <p:cNvSpPr txBox="1">
            <a:spLocks/>
          </p:cNvSpPr>
          <p:nvPr/>
        </p:nvSpPr>
        <p:spPr>
          <a:xfrm>
            <a:off x="1078029" y="818147"/>
            <a:ext cx="7272951" cy="2608634"/>
          </a:xfrm>
          <a:prstGeom prst="rect">
            <a:avLst/>
          </a:prstGeom>
        </p:spPr>
        <p:txBody>
          <a:bodyPr>
            <a:no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kern="0" dirty="0"/>
              <a:t>Introduction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kern="0" dirty="0">
                <a:solidFill>
                  <a:srgbClr val="FF0000"/>
                </a:solidFill>
              </a:rPr>
              <a:t>Technical Overview</a:t>
            </a:r>
            <a:endParaRPr lang="en-US" altLang="zh-CN" sz="2400" kern="0" spc="-8" dirty="0">
              <a:solidFill>
                <a:srgbClr val="FF0000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kern="0" dirty="0"/>
              <a:t>RIOT in Action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FA89297F-C180-77BF-1F07-87E17BC25C7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>
                <a:solidFill>
                  <a:schemeClr val="bg1"/>
                </a:solidFill>
              </a:rPr>
              <a:t>10</a:t>
            </a:fld>
            <a:endParaRPr lang="en-US" altLang="zh-CN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5176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0221" y="57127"/>
            <a:ext cx="7692891" cy="565178"/>
          </a:xfrm>
          <a:prstGeom prst="rect">
            <a:avLst/>
          </a:prstGeom>
        </p:spPr>
        <p:txBody>
          <a:bodyPr vert="horz" wrap="square" lIns="0" tIns="1107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066">
              <a:spcBef>
                <a:spcPts val="87"/>
              </a:spcBef>
            </a:pPr>
            <a:r>
              <a:rPr lang="en-US" dirty="0"/>
              <a:t>OS Characteristics</a:t>
            </a:r>
            <a:endParaRPr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F77DEDC2-1B8B-8784-7CB4-380E763259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6A85601-B6BA-1F9B-10A7-7A38A2BFAB13}"/>
              </a:ext>
            </a:extLst>
          </p:cNvPr>
          <p:cNvSpPr txBox="1"/>
          <p:nvPr/>
        </p:nvSpPr>
        <p:spPr>
          <a:xfrm>
            <a:off x="268735" y="826486"/>
            <a:ext cx="6562278" cy="343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5816" indent="-285750">
              <a:spcBef>
                <a:spcPts val="300"/>
              </a:spcBef>
              <a:spcAft>
                <a:spcPts val="30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Micro-kernel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</a:t>
            </a:r>
            <a:r>
              <a:rPr lang="en-US" altLang="zh-CN"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r>
              <a:rPr lang="en-US" altLang="zh-CN" sz="2000" spc="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</a:t>
            </a:r>
            <a:r>
              <a:rPr lang="en-US" altLang="zh-CN" sz="2000" spc="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</a:p>
          <a:p>
            <a:pPr marL="295816" indent="-285750">
              <a:spcBef>
                <a:spcPts val="300"/>
              </a:spcBef>
              <a:spcAft>
                <a:spcPts val="30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r>
              <a:rPr lang="en-US" altLang="zh-CN" sz="2000" spc="-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footprint</a:t>
            </a:r>
          </a:p>
          <a:p>
            <a:pPr marL="810166" lvl="1" indent="-342900">
              <a:spcBef>
                <a:spcPts val="300"/>
              </a:spcBef>
              <a:spcAft>
                <a:spcPts val="300"/>
              </a:spcAft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2.8KB RAM, 3.2KB ROM on 32-bit Cortex-M</a:t>
            </a:r>
          </a:p>
          <a:p>
            <a:pPr marL="295816" indent="-285750">
              <a:spcBef>
                <a:spcPts val="300"/>
              </a:spcBef>
              <a:spcAft>
                <a:spcPts val="30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scheduler</a:t>
            </a:r>
          </a:p>
          <a:p>
            <a:pPr marL="10066">
              <a:lnSpc>
                <a:spcPts val="1423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2000" spc="-1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⇒</a:t>
            </a:r>
            <a:r>
              <a:rPr lang="en-US" altLang="zh-CN" sz="2000" spc="-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  <a:r>
              <a:rPr lang="en-US" altLang="zh-CN" sz="2000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priorities</a:t>
            </a:r>
            <a:r>
              <a:rPr lang="en-US" altLang="zh-CN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preemption</a:t>
            </a:r>
            <a:r>
              <a:rPr lang="en-US" altLang="zh-CN" sz="2000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altLang="zh-CN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  <a:r>
              <a:rPr lang="en-US" altLang="zh-CN" sz="2000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066">
              <a:lnSpc>
                <a:spcPts val="1423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sz="2000" spc="-1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⇒</a:t>
            </a:r>
            <a:r>
              <a:rPr lang="en-US" altLang="zh-CN" sz="2000" spc="-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Tickless</a:t>
            </a:r>
            <a:r>
              <a:rPr lang="en-US" altLang="zh-CN" sz="2000" spc="-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scheduler</a:t>
            </a:r>
          </a:p>
          <a:p>
            <a:pPr marL="295816" indent="-285750">
              <a:spcBef>
                <a:spcPts val="300"/>
              </a:spcBef>
              <a:spcAft>
                <a:spcPts val="30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Multithreading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IPC</a:t>
            </a:r>
          </a:p>
          <a:p>
            <a:pPr marL="753016" lvl="1" indent="-285750">
              <a:spcBef>
                <a:spcPts val="300"/>
              </a:spcBef>
              <a:spcAft>
                <a:spcPts val="300"/>
              </a:spcAft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</a:t>
            </a:r>
            <a:r>
              <a:rPr lang="en-US" altLang="zh-CN" spc="-6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</a:t>
            </a:r>
            <a:r>
              <a:rPr lang="en-US" altLang="zh-CN" spc="-6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contexts</a:t>
            </a:r>
            <a:r>
              <a:rPr lang="en-US" altLang="zh-CN" spc="-6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altLang="zh-CN" spc="-6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</a:t>
            </a:r>
            <a:r>
              <a:rPr lang="en-US" altLang="zh-CN" spc="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altLang="zh-CN" spc="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3016" lvl="1" indent="-285750">
              <a:spcBef>
                <a:spcPts val="300"/>
              </a:spcBef>
              <a:spcAft>
                <a:spcPts val="300"/>
              </a:spcAft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</a:t>
            </a:r>
            <a:r>
              <a:rPr lang="en-US" altLang="zh-CN" spc="-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</a:t>
            </a:r>
            <a:r>
              <a:rPr lang="en-US" altLang="zh-CN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en-US" altLang="zh-CN" spc="-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US" altLang="zh-CN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(TCB)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 synchronization using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mutexes,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semaphores</a:t>
            </a:r>
            <a:r>
              <a:rPr lang="en-US" altLang="zh-CN" spc="10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zh-CN" spc="10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messaging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6">
            <a:extLst>
              <a:ext uri="{FF2B5EF4-FFF2-40B4-BE49-F238E27FC236}">
                <a16:creationId xmlns:a16="http://schemas.microsoft.com/office/drawing/2014/main" id="{E89281C2-8234-55DF-3063-983A59BFA70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12234" y="880176"/>
            <a:ext cx="2312987" cy="1138292"/>
          </a:xfrm>
          <a:prstGeom prst="rect">
            <a:avLst/>
          </a:prstGeom>
        </p:spPr>
      </p:pic>
      <p:pic>
        <p:nvPicPr>
          <p:cNvPr id="4" name="object 22">
            <a:extLst>
              <a:ext uri="{FF2B5EF4-FFF2-40B4-BE49-F238E27FC236}">
                <a16:creationId xmlns:a16="http://schemas.microsoft.com/office/drawing/2014/main" id="{7E33DE8C-E719-8301-79AF-DF1B8684F66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70405" y="2554043"/>
            <a:ext cx="2254816" cy="180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92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9845" y="56392"/>
            <a:ext cx="6251971" cy="565178"/>
          </a:xfrm>
          <a:prstGeom prst="rect">
            <a:avLst/>
          </a:prstGeom>
        </p:spPr>
        <p:txBody>
          <a:bodyPr vert="horz" wrap="square" lIns="0" tIns="1107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066">
              <a:spcBef>
                <a:spcPts val="87"/>
              </a:spcBef>
            </a:pPr>
            <a:r>
              <a:rPr dirty="0"/>
              <a:t>Multi-Threading</a:t>
            </a: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70405" y="2779576"/>
            <a:ext cx="2254816" cy="1803853"/>
          </a:xfrm>
          <a:prstGeom prst="rect">
            <a:avLst/>
          </a:prstGeom>
        </p:spPr>
      </p:pic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752E5E6-6D8D-519A-B4E6-11276B68C5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FDC861-9E9F-3805-794C-96719BA00A82}"/>
              </a:ext>
            </a:extLst>
          </p:cNvPr>
          <p:cNvSpPr txBox="1"/>
          <p:nvPr/>
        </p:nvSpPr>
        <p:spPr>
          <a:xfrm>
            <a:off x="614245" y="754507"/>
            <a:ext cx="751001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5816" indent="-285750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2 threads</a:t>
            </a:r>
          </a:p>
          <a:p>
            <a:pPr marL="810166" lvl="1" indent="-342900"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thread running the main function</a:t>
            </a:r>
          </a:p>
          <a:p>
            <a:pPr marL="810166" lvl="1" indent="-342900"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idle thread</a:t>
            </a:r>
          </a:p>
          <a:p>
            <a:pPr marL="1267366" lvl="2" indent="-342900"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priority</a:t>
            </a:r>
          </a:p>
          <a:p>
            <a:pPr marL="924466" lvl="2">
              <a:buClr>
                <a:srgbClr val="0000FF"/>
              </a:buClr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⇒ fallback thread when all other threads are blocked or terminated</a:t>
            </a:r>
          </a:p>
          <a:p>
            <a:pPr marL="1267366" lvl="2" indent="-342900"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Switches the system to low-power mode</a:t>
            </a:r>
          </a:p>
          <a:p>
            <a:pPr marL="285750" indent="-285750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ISR context handles external events and notifies</a:t>
            </a:r>
            <a:endParaRPr lang="en-US" altLang="zh-CN" sz="20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0791" y="58928"/>
            <a:ext cx="7750821" cy="565178"/>
          </a:xfrm>
          <a:prstGeom prst="rect">
            <a:avLst/>
          </a:prstGeom>
        </p:spPr>
        <p:txBody>
          <a:bodyPr vert="horz" wrap="square" lIns="0" tIns="1107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066">
              <a:spcBef>
                <a:spcPts val="87"/>
              </a:spcBef>
            </a:pPr>
            <a:r>
              <a:rPr dirty="0"/>
              <a:t>Hardware </a:t>
            </a:r>
            <a:r>
              <a:rPr lang="en-US" dirty="0"/>
              <a:t>A</a:t>
            </a:r>
            <a:r>
              <a:rPr dirty="0"/>
              <a:t>bstraction </a:t>
            </a:r>
            <a:r>
              <a:rPr lang="en-US" dirty="0"/>
              <a:t>L</a:t>
            </a:r>
            <a:r>
              <a:rPr dirty="0"/>
              <a:t>ayer</a:t>
            </a: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4691" y="3040532"/>
            <a:ext cx="3353085" cy="1549666"/>
          </a:xfrm>
          <a:prstGeom prst="rect">
            <a:avLst/>
          </a:prstGeom>
        </p:spPr>
      </p:pic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F6C3F792-8004-5F65-80AA-41E5AC08D8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3A38FAC-C50B-BEE1-1B06-AF211F661D3D}"/>
              </a:ext>
            </a:extLst>
          </p:cNvPr>
          <p:cNvSpPr txBox="1"/>
          <p:nvPr/>
        </p:nvSpPr>
        <p:spPr>
          <a:xfrm>
            <a:off x="656857" y="818001"/>
            <a:ext cx="8307756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5816" indent="-285750">
              <a:spcAft>
                <a:spcPts val="30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Divided</a:t>
            </a:r>
            <a:r>
              <a:rPr lang="en-US" altLang="zh-CN" sz="2000" spc="-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zh-CN" sz="2000" spc="-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blocks:</a:t>
            </a:r>
            <a:r>
              <a:rPr lang="en-US" altLang="zh-CN" sz="2000" spc="-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boards,</a:t>
            </a:r>
            <a:r>
              <a:rPr lang="en-US" altLang="zh-CN" sz="2000" spc="-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cpus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drivers</a:t>
            </a:r>
          </a:p>
          <a:p>
            <a:pPr marL="295816" indent="-285750">
              <a:spcAft>
                <a:spcPts val="30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CPUs are organized as follows:</a:t>
            </a:r>
          </a:p>
          <a:p>
            <a:pPr marL="467266" lvl="1">
              <a:spcAft>
                <a:spcPts val="300"/>
              </a:spcAft>
              <a:buClr>
                <a:srgbClr val="0000FF"/>
              </a:buClr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Architecture (ARM) &gt; family (stm32) &gt; type (stm32l4) &gt; model (stm32l476rg)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5816" indent="-285750">
              <a:spcAft>
                <a:spcPts val="30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API for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peripherals 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gpio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uart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pwm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10066">
              <a:spcAft>
                <a:spcPts val="300"/>
              </a:spcAft>
              <a:buClr>
                <a:srgbClr val="0000FF"/>
              </a:buClr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⇒ same API for all architectures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30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based on vendor header files (CMSIS) ⇒ implementation from scratch ⇒ less code duplication, more efficient, more work</a:t>
            </a:r>
          </a:p>
          <a:p>
            <a:pPr marL="285750" indent="-285750">
              <a:spcAft>
                <a:spcPts val="30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application ⇒ one board ⇒ one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  <a:endParaRPr lang="en-US" altLang="zh-CN" sz="24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01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0792" y="58928"/>
            <a:ext cx="5608180" cy="565178"/>
          </a:xfrm>
          <a:prstGeom prst="rect">
            <a:avLst/>
          </a:prstGeom>
        </p:spPr>
        <p:txBody>
          <a:bodyPr vert="horz" wrap="square" lIns="0" tIns="1107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066">
              <a:spcBef>
                <a:spcPts val="87"/>
              </a:spcBef>
            </a:pPr>
            <a:r>
              <a:rPr dirty="0"/>
              <a:t>Hardware</a:t>
            </a:r>
            <a:r>
              <a:rPr spc="-143" dirty="0"/>
              <a:t> </a:t>
            </a:r>
            <a:r>
              <a:rPr lang="en-US" spc="-123" dirty="0"/>
              <a:t>Support Review</a:t>
            </a:r>
            <a:endParaRPr spc="-127" dirty="0"/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F6C3F792-8004-5F65-80AA-41E5AC08D8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3A38FAC-C50B-BEE1-1B06-AF211F661D3D}"/>
              </a:ext>
            </a:extLst>
          </p:cNvPr>
          <p:cNvSpPr txBox="1"/>
          <p:nvPr/>
        </p:nvSpPr>
        <p:spPr>
          <a:xfrm>
            <a:off x="940792" y="808376"/>
            <a:ext cx="7518484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5816" indent="-285750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abstraction layer </a:t>
            </a:r>
          </a:p>
          <a:p>
            <a:pPr marL="810166" lvl="1" indent="-342900"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lang="en-US" altLang="zh-CN" sz="200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8/16/32</a:t>
            </a:r>
            <a:r>
              <a:rPr lang="en-US" altLang="zh-CN" sz="200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6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bit,</a:t>
            </a:r>
            <a:r>
              <a:rPr lang="en-US" altLang="zh-CN" sz="200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ARM,</a:t>
            </a:r>
            <a:r>
              <a:rPr lang="en-US" altLang="zh-CN" sz="200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52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AVR,</a:t>
            </a:r>
            <a:r>
              <a:rPr lang="en-US" altLang="zh-CN" sz="2000" spc="-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MIPS CPUs</a:t>
            </a:r>
          </a:p>
          <a:p>
            <a:pPr marL="810166" lvl="1" indent="-342900"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Supported</a:t>
            </a:r>
            <a:r>
              <a:rPr lang="en-US" altLang="zh-CN" sz="2000" spc="-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vendors:</a:t>
            </a:r>
            <a:r>
              <a:rPr lang="en-US" altLang="zh-CN" sz="2000" spc="-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Microchip,</a:t>
            </a:r>
            <a:r>
              <a:rPr lang="en-US" altLang="zh-C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NXP,</a:t>
            </a:r>
            <a:r>
              <a:rPr lang="en-US" altLang="zh-CN" sz="2000" spc="-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STMicroelectronics,</a:t>
            </a:r>
            <a:r>
              <a:rPr lang="en-US" altLang="zh-CN" sz="2000" spc="-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Nordic,</a:t>
            </a:r>
            <a:r>
              <a:rPr lang="en-US" altLang="zh-C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TI,</a:t>
            </a:r>
            <a:r>
              <a:rPr lang="en-US" altLang="zh-CN" sz="2000" spc="-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6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ESP,</a:t>
            </a:r>
            <a:r>
              <a:rPr lang="en-US" altLang="zh-CN" sz="2000" spc="-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RISC-</a:t>
            </a:r>
            <a:r>
              <a:rPr lang="en-US" altLang="zh-CN" sz="2000" spc="-1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V,</a:t>
            </a:r>
            <a:r>
              <a:rPr lang="en-US" altLang="zh-CN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  <a:endParaRPr lang="en-US" altLang="zh-CN" sz="20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5816" indent="-285750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list of sensors and actuators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supported (drivers)</a:t>
            </a:r>
          </a:p>
          <a:p>
            <a:pPr marL="295816" indent="-285750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Native board – Run RIOT as process on your computer</a:t>
            </a:r>
          </a:p>
          <a:p>
            <a:pPr marL="285750" indent="-285750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+100 boards supported</a:t>
            </a:r>
          </a:p>
        </p:txBody>
      </p:sp>
      <p:pic>
        <p:nvPicPr>
          <p:cNvPr id="3" name="object 13">
            <a:extLst>
              <a:ext uri="{FF2B5EF4-FFF2-40B4-BE49-F238E27FC236}">
                <a16:creationId xmlns:a16="http://schemas.microsoft.com/office/drawing/2014/main" id="{B6D26CFB-38E0-D305-9537-AB1D54B6357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04658" y="2818790"/>
            <a:ext cx="4659955" cy="167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2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0792" y="58928"/>
            <a:ext cx="5608180" cy="565178"/>
          </a:xfrm>
          <a:prstGeom prst="rect">
            <a:avLst/>
          </a:prstGeom>
        </p:spPr>
        <p:txBody>
          <a:bodyPr vert="horz" wrap="square" lIns="0" tIns="1107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066">
              <a:spcBef>
                <a:spcPts val="87"/>
              </a:spcBef>
            </a:pPr>
            <a:r>
              <a:rPr lang="en-US" dirty="0"/>
              <a:t>A Modular OS</a:t>
            </a:r>
            <a:endParaRPr dirty="0"/>
          </a:p>
        </p:txBody>
      </p: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F6C3F792-8004-5F65-80AA-41E5AC08D8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3A38FAC-C50B-BEE1-1B06-AF211F661D3D}"/>
              </a:ext>
            </a:extLst>
          </p:cNvPr>
          <p:cNvSpPr txBox="1"/>
          <p:nvPr/>
        </p:nvSpPr>
        <p:spPr>
          <a:xfrm>
            <a:off x="940792" y="808376"/>
            <a:ext cx="7518484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5816" indent="-285750"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en-US" altLang="zh-CN" sz="20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altLang="zh-CN" sz="20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</a:t>
            </a:r>
            <a:r>
              <a:rPr lang="en-US" altLang="zh-CN" sz="2000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altLang="zh-CN" sz="20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r>
              <a:rPr lang="en-US" altLang="zh-CN" sz="20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⇒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built what’s required</a:t>
            </a:r>
            <a:endParaRPr lang="en-US" altLang="zh-CN" sz="2000" spc="4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0166" lvl="1" indent="-342900">
              <a:spcBef>
                <a:spcPts val="300"/>
              </a:spcBef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libraries :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xtimer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shell, crypto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</a:t>
            </a:r>
            <a:endParaRPr lang="en-US" altLang="zh-CN" sz="20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5816" indent="-285750"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and actuators</a:t>
            </a:r>
          </a:p>
          <a:p>
            <a:pPr marL="295816" indent="-285750"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drivers, filesystems, etc.</a:t>
            </a:r>
          </a:p>
          <a:p>
            <a:pPr marL="285750" indent="-285750"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</a:t>
            </a:r>
            <a:r>
              <a:rPr lang="en-US" altLang="zh-CN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1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interpretors</a:t>
            </a:r>
            <a:r>
              <a:rPr lang="en-US" altLang="zh-CN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pc="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44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US" altLang="zh-CN" spc="-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Micropython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pc="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LUA</a:t>
            </a:r>
          </a:p>
          <a:p>
            <a:pPr marL="285750" indent="-285750"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en-US" altLang="zh-CN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lang="en-US" altLang="zh-CN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protocols:</a:t>
            </a:r>
            <a:r>
              <a:rPr lang="en-US" altLang="zh-CN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CoAP,</a:t>
            </a:r>
            <a:r>
              <a:rPr lang="en-US" altLang="zh-CN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MQTT-SN,</a:t>
            </a:r>
            <a:r>
              <a:rPr lang="en-US" altLang="zh-CN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</a:p>
          <a:p>
            <a:pPr marL="285750" indent="-285750"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</a:t>
            </a:r>
            <a:r>
              <a:rPr lang="en-US" altLang="zh-CN" spc="-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endParaRPr lang="en-US" altLang="zh-CN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10">
            <a:extLst>
              <a:ext uri="{FF2B5EF4-FFF2-40B4-BE49-F238E27FC236}">
                <a16:creationId xmlns:a16="http://schemas.microsoft.com/office/drawing/2014/main" id="{6C83C673-3E1D-CDC4-3368-6A150BCEB7E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79407" y="3449076"/>
            <a:ext cx="1503211" cy="1127408"/>
          </a:xfrm>
          <a:prstGeom prst="rect">
            <a:avLst/>
          </a:prstGeom>
        </p:spPr>
      </p:pic>
      <p:pic>
        <p:nvPicPr>
          <p:cNvPr id="5" name="object 13">
            <a:extLst>
              <a:ext uri="{FF2B5EF4-FFF2-40B4-BE49-F238E27FC236}">
                <a16:creationId xmlns:a16="http://schemas.microsoft.com/office/drawing/2014/main" id="{D74FA3BB-679F-2D68-0D9A-3C380E5B82C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78161" y="3298755"/>
            <a:ext cx="3006423" cy="127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7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3651" y="49415"/>
            <a:ext cx="6240040" cy="565178"/>
          </a:xfrm>
          <a:prstGeom prst="rect">
            <a:avLst/>
          </a:prstGeom>
        </p:spPr>
        <p:txBody>
          <a:bodyPr vert="horz" wrap="square" lIns="0" tIns="1107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066">
              <a:spcBef>
                <a:spcPts val="87"/>
              </a:spcBef>
            </a:pPr>
            <a:r>
              <a:rPr spc="-170" dirty="0"/>
              <a:t>Useful</a:t>
            </a:r>
            <a:r>
              <a:rPr spc="-159" dirty="0"/>
              <a:t> </a:t>
            </a:r>
            <a:r>
              <a:rPr lang="en-US" spc="-162" dirty="0"/>
              <a:t>S</a:t>
            </a:r>
            <a:r>
              <a:rPr dirty="0"/>
              <a:t>ystem</a:t>
            </a:r>
            <a:r>
              <a:rPr spc="-162" dirty="0"/>
              <a:t> </a:t>
            </a:r>
            <a:r>
              <a:rPr lang="en-US" spc="-99" dirty="0"/>
              <a:t>L</a:t>
            </a:r>
            <a:r>
              <a:rPr spc="-99" dirty="0"/>
              <a:t>ibraries</a:t>
            </a:r>
            <a:r>
              <a:rPr lang="en-US" spc="-99" dirty="0"/>
              <a:t> (1)</a:t>
            </a:r>
            <a:endParaRPr spc="-99" dirty="0"/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EAB94500-52ED-02AC-3229-97C52E4287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4C83726-8DB3-0A16-041F-C194557A7593}"/>
              </a:ext>
            </a:extLst>
          </p:cNvPr>
          <p:cNvSpPr txBox="1"/>
          <p:nvPr/>
        </p:nvSpPr>
        <p:spPr>
          <a:xfrm>
            <a:off x="933651" y="895003"/>
            <a:ext cx="7518484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5816" indent="-285750"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en-US" altLang="zh-CN" sz="20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altLang="zh-CN" sz="20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</a:t>
            </a:r>
            <a:r>
              <a:rPr lang="en-US" altLang="zh-CN" sz="2000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altLang="zh-CN" sz="20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r>
              <a:rPr lang="en-US" altLang="zh-CN" sz="20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⇒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built what’s required</a:t>
            </a:r>
            <a:endParaRPr lang="en-US" altLang="zh-CN" sz="2000" spc="4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0166" lvl="1" indent="-342900">
              <a:spcBef>
                <a:spcPts val="300"/>
              </a:spcBef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libraries :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xtimer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shell, crypto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</a:t>
            </a:r>
            <a:endParaRPr lang="en-US" altLang="zh-CN" sz="20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5816" indent="-285750"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and actuators</a:t>
            </a:r>
          </a:p>
          <a:p>
            <a:pPr marL="295816" indent="-285750"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drivers, filesystems, etc.</a:t>
            </a:r>
          </a:p>
          <a:p>
            <a:pPr marL="285750" indent="-285750"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</a:t>
            </a:r>
            <a:r>
              <a:rPr lang="en-US" altLang="zh-CN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1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interpretors</a:t>
            </a:r>
            <a:r>
              <a:rPr lang="en-US" altLang="zh-CN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pc="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44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r>
              <a:rPr lang="en-US" altLang="zh-CN" spc="-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pc="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Micropython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pc="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LUA</a:t>
            </a:r>
          </a:p>
          <a:p>
            <a:pPr marL="285750" indent="-285750"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  <a:r>
              <a:rPr lang="en-US" altLang="zh-CN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lang="en-US" altLang="zh-CN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protocols:</a:t>
            </a:r>
            <a:r>
              <a:rPr lang="en-US" altLang="zh-CN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CoAP,</a:t>
            </a:r>
            <a:r>
              <a:rPr lang="en-US" altLang="zh-CN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MQTT-SN,</a:t>
            </a:r>
            <a:r>
              <a:rPr lang="en-US" altLang="zh-CN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</a:p>
          <a:p>
            <a:pPr marL="285750" indent="-285750"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</a:t>
            </a:r>
            <a:r>
              <a:rPr lang="en-US" altLang="zh-CN" spc="-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endParaRPr lang="en-US" altLang="zh-CN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3651" y="49415"/>
            <a:ext cx="6240040" cy="565178"/>
          </a:xfrm>
          <a:prstGeom prst="rect">
            <a:avLst/>
          </a:prstGeom>
        </p:spPr>
        <p:txBody>
          <a:bodyPr vert="horz" wrap="square" lIns="0" tIns="1107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066">
              <a:spcBef>
                <a:spcPts val="87"/>
              </a:spcBef>
            </a:pPr>
            <a:r>
              <a:rPr spc="-170" dirty="0"/>
              <a:t>Useful</a:t>
            </a:r>
            <a:r>
              <a:rPr spc="-159" dirty="0"/>
              <a:t> </a:t>
            </a:r>
            <a:r>
              <a:rPr lang="en-US" spc="-162" dirty="0"/>
              <a:t>S</a:t>
            </a:r>
            <a:r>
              <a:rPr dirty="0"/>
              <a:t>ystem</a:t>
            </a:r>
            <a:r>
              <a:rPr spc="-162" dirty="0"/>
              <a:t> </a:t>
            </a:r>
            <a:r>
              <a:rPr lang="en-US" spc="-99" dirty="0"/>
              <a:t>L</a:t>
            </a:r>
            <a:r>
              <a:rPr spc="-99" dirty="0"/>
              <a:t>ibraries</a:t>
            </a:r>
            <a:r>
              <a:rPr lang="en-US" spc="-99" dirty="0"/>
              <a:t> (2)</a:t>
            </a:r>
            <a:endParaRPr spc="-99" dirty="0"/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EAB94500-52ED-02AC-3229-97C52E4287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FD71398-E68A-A7DD-76E1-EF0D1B89B934}"/>
              </a:ext>
            </a:extLst>
          </p:cNvPr>
          <p:cNvSpPr txBox="1"/>
          <p:nvPr/>
        </p:nvSpPr>
        <p:spPr>
          <a:xfrm>
            <a:off x="933651" y="895003"/>
            <a:ext cx="744995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Xtimer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timer subsystem that provides full abstraction from the hardware timer</a:t>
            </a:r>
          </a:p>
          <a:p>
            <a:pPr marL="742950" lvl="1" indent="-285750"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set callbacks, put a thread to sleep,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Shell</a:t>
            </a:r>
          </a:p>
          <a:p>
            <a:pPr marL="742950" lvl="1" indent="-285750"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interactive command line interface </a:t>
            </a:r>
          </a:p>
          <a:p>
            <a:pPr marL="742950" lvl="1" indent="-285750"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interactive debugging or examples</a:t>
            </a:r>
          </a:p>
          <a:p>
            <a:pPr marL="285750" indent="-285750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742950" lvl="1" indent="-285750"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fmt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math,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altLang="zh-CN"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988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3651" y="44193"/>
            <a:ext cx="6208712" cy="565178"/>
          </a:xfrm>
          <a:prstGeom prst="rect">
            <a:avLst/>
          </a:prstGeom>
        </p:spPr>
        <p:txBody>
          <a:bodyPr vert="horz" wrap="square" lIns="0" tIns="1107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066">
              <a:spcBef>
                <a:spcPts val="87"/>
              </a:spcBef>
            </a:pPr>
            <a:r>
              <a:rPr dirty="0"/>
              <a:t>External</a:t>
            </a:r>
            <a:r>
              <a:rPr spc="-151" dirty="0"/>
              <a:t> </a:t>
            </a:r>
            <a:r>
              <a:rPr lang="en-US" altLang="zh-CN" spc="-222" dirty="0"/>
              <a:t>P</a:t>
            </a:r>
            <a:r>
              <a:rPr spc="-222" dirty="0"/>
              <a:t>ackages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8478" y="846746"/>
            <a:ext cx="6779335" cy="1778863"/>
          </a:xfrm>
          <a:prstGeom prst="rect">
            <a:avLst/>
          </a:prstGeom>
        </p:spPr>
        <p:txBody>
          <a:bodyPr vert="horz" wrap="square" lIns="0" tIns="9059" rIns="0" bIns="0" rtlCol="0">
            <a:spAutoFit/>
          </a:bodyPr>
          <a:lstStyle/>
          <a:p>
            <a:pPr marL="352966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RIOT</a:t>
            </a:r>
            <a:r>
              <a:rPr lang="en-US" sz="2000" spc="-5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2000" spc="-5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sz="2000" spc="-5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extended</a:t>
            </a:r>
            <a:r>
              <a:rPr lang="en-US" sz="2000" spc="-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sz="2000" spc="-5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</a:t>
            </a:r>
            <a:r>
              <a:rPr lang="en-US" sz="2000" spc="-5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</a:p>
          <a:p>
            <a:pPr marL="352966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</a:t>
            </a:r>
            <a:r>
              <a:rPr lang="en-US" sz="20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(and</a:t>
            </a:r>
            <a:r>
              <a:rPr lang="en-US" sz="20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eventually</a:t>
            </a:r>
            <a:r>
              <a:rPr lang="en-US" sz="20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patched)</a:t>
            </a:r>
            <a:r>
              <a:rPr lang="en-US" sz="20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on-the-</a:t>
            </a:r>
            <a:r>
              <a:rPr lang="en-US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fly</a:t>
            </a:r>
            <a:r>
              <a:rPr lang="en-US" sz="20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sz="20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</a:t>
            </a:r>
            <a:r>
              <a:rPr lang="en-US" sz="20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20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</a:t>
            </a:r>
          </a:p>
          <a:p>
            <a:pPr marL="352966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</a:t>
            </a:r>
            <a:r>
              <a:rPr lang="en-US" sz="2000" spc="-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add: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8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Makefiles</a:t>
            </a:r>
            <a:endParaRPr lang="en-US" sz="20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966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000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packages:</a:t>
            </a:r>
            <a:r>
              <a:rPr lang="en-US" sz="20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2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lwIP</a:t>
            </a:r>
            <a:r>
              <a:rPr lang="en-US" sz="2000" spc="-52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8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Openthread</a:t>
            </a:r>
            <a:r>
              <a:rPr lang="en-US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2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lvgl</a:t>
            </a:r>
            <a:r>
              <a:rPr lang="en-US" sz="2000" spc="-52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loramac</a:t>
            </a:r>
            <a:r>
              <a:rPr lang="en-US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2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2000" y="2931061"/>
            <a:ext cx="3777257" cy="1656958"/>
          </a:xfrm>
          <a:prstGeom prst="rect">
            <a:avLst/>
          </a:prstGeom>
        </p:spPr>
      </p:pic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D661CD8-371D-F22A-C47C-5ACC406AD7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4249" y="56102"/>
            <a:ext cx="6181315" cy="565178"/>
          </a:xfrm>
          <a:prstGeom prst="rect">
            <a:avLst/>
          </a:prstGeom>
        </p:spPr>
        <p:txBody>
          <a:bodyPr vert="horz" wrap="square" lIns="0" tIns="1107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066">
              <a:spcBef>
                <a:spcPts val="87"/>
              </a:spcBef>
            </a:pPr>
            <a:r>
              <a:rPr dirty="0"/>
              <a:t>Network </a:t>
            </a:r>
            <a:r>
              <a:rPr lang="en-US" dirty="0"/>
              <a:t>S</a:t>
            </a:r>
            <a:r>
              <a:rPr dirty="0"/>
              <a:t>tacks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F2C82C-1700-474F-2E6E-E0A4D3AF1F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5B99F62D-F937-8A7F-D29B-5EF95CEEBDE6}"/>
              </a:ext>
            </a:extLst>
          </p:cNvPr>
          <p:cNvSpPr txBox="1"/>
          <p:nvPr/>
        </p:nvSpPr>
        <p:spPr>
          <a:xfrm>
            <a:off x="974098" y="757767"/>
            <a:ext cx="7823393" cy="3902521"/>
          </a:xfrm>
          <a:prstGeom prst="rect">
            <a:avLst/>
          </a:prstGeom>
        </p:spPr>
        <p:txBody>
          <a:bodyPr vert="horz" wrap="square" lIns="0" tIns="9059" rIns="0" bIns="0" rtlCol="0">
            <a:spAutoFit/>
          </a:bodyPr>
          <a:lstStyle/>
          <a:p>
            <a:pPr marL="352966" indent="-342900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 oriented stack</a:t>
            </a:r>
            <a:r>
              <a:rPr lang="en-US" sz="2000" spc="-8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sz="2000" spc="-1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⇒</a:t>
            </a:r>
            <a:r>
              <a:rPr lang="en-US" altLang="zh-CN" sz="2000" spc="-5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</a:t>
            </a:r>
            <a:r>
              <a:rPr lang="en-US" altLang="zh-CN" sz="20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altLang="zh-CN" sz="20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Ethernet,</a:t>
            </a:r>
            <a:r>
              <a:rPr lang="en-US" altLang="zh-CN" sz="20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52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altLang="zh-CN" sz="2000" spc="-52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0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802.15.4</a:t>
            </a:r>
            <a:r>
              <a:rPr lang="en-US" altLang="zh-CN" sz="20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</a:t>
            </a:r>
            <a:endParaRPr lang="en-US" sz="2000" spc="-8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0166" lvl="1" indent="-342900"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GNRC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2000" spc="-12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US" altLang="zh-CN" sz="2000" spc="-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in-house</a:t>
            </a:r>
            <a:r>
              <a:rPr lang="en-US" altLang="zh-CN" sz="2000" spc="-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802.15.4/6LowPAN/IPv6</a:t>
            </a:r>
            <a:r>
              <a:rPr lang="en-US" altLang="zh-CN" sz="2000" spc="-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US" altLang="zh-CN" sz="2000" spc="-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altLang="zh-C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RIOT</a:t>
            </a:r>
          </a:p>
          <a:p>
            <a:pPr marL="810166" lvl="1" indent="-342900"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sz="18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</a:t>
            </a:r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802.15.4 IPv6 stack provided by the </a:t>
            </a:r>
            <a:r>
              <a:rPr lang="en-US" altLang="zh-CN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ThreadGroup</a:t>
            </a:r>
            <a:endParaRPr lang="en-US" altLang="zh-CN" sz="18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0166" lvl="1" indent="-342900">
              <a:buClr>
                <a:srgbClr val="0000FF"/>
              </a:buClr>
              <a:buFont typeface="Symbol" panose="05050102010706020507" pitchFamily="18" charset="2"/>
              <a:buChar char="-"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0166" lvl="1" indent="-342900">
              <a:spcBef>
                <a:spcPts val="600"/>
              </a:spcBef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OpenWSN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(experimental):</a:t>
            </a: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deterministic </a:t>
            </a:r>
            <a:r>
              <a:rPr lang="en-US" altLang="zh-CN" sz="2000" spc="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</a:t>
            </a: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</a:t>
            </a: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lang="en-US" altLang="zh-CN" sz="20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802.15.4e</a:t>
            </a:r>
            <a:r>
              <a:rPr lang="en-US" altLang="zh-CN" sz="20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TSCH</a:t>
            </a:r>
            <a:r>
              <a:rPr lang="en-US" altLang="zh-CN" sz="20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0166" lvl="1" indent="-342900">
              <a:buClr>
                <a:srgbClr val="0000FF"/>
              </a:buClr>
              <a:buFont typeface="Symbol" panose="05050102010706020507" pitchFamily="18" charset="2"/>
              <a:buChar char="-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0166" lvl="1" indent="-342900">
              <a:buFont typeface="Symbol" panose="05050102010706020507" pitchFamily="18" charset="2"/>
              <a:buChar char="-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0166" lvl="1" indent="-342900">
              <a:buFont typeface="Symbol" panose="05050102010706020507" pitchFamily="18" charset="2"/>
              <a:buChar char="-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altLang="zh-CN" sz="2000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IPv6</a:t>
            </a:r>
            <a:r>
              <a:rPr lang="en-US" altLang="zh-CN" sz="2000" spc="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stacks:</a:t>
            </a:r>
          </a:p>
          <a:p>
            <a:pPr marL="1267366" lvl="2" indent="-342900">
              <a:buFont typeface="Symbol" panose="05050102010706020507" pitchFamily="18" charset="2"/>
              <a:buChar char="-"/>
            </a:pPr>
            <a:r>
              <a:rPr lang="en-US" altLang="zh-CN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lwIP</a:t>
            </a:r>
            <a:r>
              <a:rPr lang="en-US" altLang="zh-CN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full-featured network stack designed for low memory consumption</a:t>
            </a:r>
          </a:p>
          <a:p>
            <a:pPr marL="1267366" lvl="2" indent="-342900">
              <a:buFont typeface="Symbol" panose="05050102010706020507" pitchFamily="18" charset="2"/>
              <a:buChar char="-"/>
            </a:pPr>
            <a:r>
              <a:rPr lang="en-US" altLang="zh-CN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emb6: A fork of Contiki network stack that can be used without protothreads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object 9">
            <a:extLst>
              <a:ext uri="{FF2B5EF4-FFF2-40B4-BE49-F238E27FC236}">
                <a16:creationId xmlns:a16="http://schemas.microsoft.com/office/drawing/2014/main" id="{0BBED8B1-43A0-E45A-B665-1B7196397E4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3155" y="1722729"/>
            <a:ext cx="1491040" cy="293126"/>
          </a:xfrm>
          <a:prstGeom prst="rect">
            <a:avLst/>
          </a:prstGeom>
        </p:spPr>
      </p:pic>
      <p:pic>
        <p:nvPicPr>
          <p:cNvPr id="10" name="object 13">
            <a:extLst>
              <a:ext uri="{FF2B5EF4-FFF2-40B4-BE49-F238E27FC236}">
                <a16:creationId xmlns:a16="http://schemas.microsoft.com/office/drawing/2014/main" id="{E6C9FA27-4598-5162-443B-1C43F9C03A9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12590" y="2808579"/>
            <a:ext cx="751605" cy="55618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4291" y="64809"/>
            <a:ext cx="5293854" cy="565178"/>
          </a:xfrm>
          <a:prstGeom prst="rect">
            <a:avLst/>
          </a:prstGeom>
        </p:spPr>
        <p:txBody>
          <a:bodyPr vert="horz" wrap="square" lIns="0" tIns="1107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066">
              <a:spcBef>
                <a:spcPts val="87"/>
              </a:spcBef>
            </a:pPr>
            <a:r>
              <a:rPr spc="-178" dirty="0"/>
              <a:t>Other</a:t>
            </a:r>
            <a:r>
              <a:rPr spc="-147" dirty="0"/>
              <a:t> </a:t>
            </a:r>
            <a:r>
              <a:rPr lang="en-US" spc="-119" dirty="0"/>
              <a:t>N</a:t>
            </a:r>
            <a:r>
              <a:rPr spc="-119" dirty="0"/>
              <a:t>etwork</a:t>
            </a:r>
            <a:r>
              <a:rPr spc="-147" dirty="0"/>
              <a:t> </a:t>
            </a:r>
            <a:r>
              <a:rPr lang="en-US" spc="-95" dirty="0"/>
              <a:t>S</a:t>
            </a:r>
            <a:r>
              <a:rPr spc="-95" dirty="0"/>
              <a:t>upport</a:t>
            </a:r>
          </a:p>
        </p:txBody>
      </p:sp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C2E28F3A-B320-FE94-8218-A79C482D5D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  <p:sp>
        <p:nvSpPr>
          <p:cNvPr id="17" name="object 4">
            <a:extLst>
              <a:ext uri="{FF2B5EF4-FFF2-40B4-BE49-F238E27FC236}">
                <a16:creationId xmlns:a16="http://schemas.microsoft.com/office/drawing/2014/main" id="{A5185BAB-6311-B2A8-8A8C-1661AF488083}"/>
              </a:ext>
            </a:extLst>
          </p:cNvPr>
          <p:cNvSpPr txBox="1"/>
          <p:nvPr/>
        </p:nvSpPr>
        <p:spPr>
          <a:xfrm>
            <a:off x="1118478" y="846746"/>
            <a:ext cx="6779335" cy="2933025"/>
          </a:xfrm>
          <a:prstGeom prst="rect">
            <a:avLst/>
          </a:prstGeom>
        </p:spPr>
        <p:txBody>
          <a:bodyPr vert="horz" wrap="square" lIns="0" tIns="9059" rIns="0" bIns="0" rtlCol="0">
            <a:spAutoFit/>
          </a:bodyPr>
          <a:lstStyle/>
          <a:p>
            <a:pPr marL="352966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In-house</a:t>
            </a:r>
            <a:r>
              <a:rPr lang="en-US" altLang="zh-CN"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r>
              <a:rPr lang="en-US" altLang="zh-CN" sz="2000" spc="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en-US" altLang="zh-CN"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lang="en-US" altLang="zh-CN" sz="2000" spc="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(CAN)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966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endParaRPr lang="en-US" altLang="zh-CN" sz="2000" spc="-16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966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spc="-16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</a:t>
            </a: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stack</a:t>
            </a:r>
            <a:r>
              <a:rPr lang="en-US" altLang="zh-CN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support:</a:t>
            </a:r>
            <a:r>
              <a:rPr lang="en-US" altLang="zh-CN" sz="2000" spc="-5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u="heavy" spc="-8" dirty="0" err="1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NimBLE</a:t>
            </a:r>
            <a:endParaRPr lang="en-US" altLang="zh-CN" sz="2000" u="heavy" spc="-8" dirty="0">
              <a:solidFill>
                <a:srgbClr val="0000ED"/>
              </a:solidFill>
              <a:uFill>
                <a:solidFill>
                  <a:srgbClr val="0000ED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966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966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spc="-16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LoRaWAN</a:t>
            </a: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stack</a:t>
            </a:r>
            <a:r>
              <a:rPr lang="en-US" altLang="zh-CN" sz="20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⇒</a:t>
            </a:r>
            <a:r>
              <a:rPr lang="en-US" altLang="zh-CN" sz="2000" spc="-5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Compliant</a:t>
            </a:r>
            <a:r>
              <a:rPr lang="en-US" altLang="zh-CN" sz="20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altLang="zh-CN" sz="20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LoRaWAN</a:t>
            </a:r>
            <a:r>
              <a:rPr lang="en-US" altLang="zh-CN" sz="20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1.0.2</a:t>
            </a:r>
          </a:p>
          <a:p>
            <a:pPr marL="352966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966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sz="2000" spc="-8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SigFax</a:t>
            </a:r>
            <a:r>
              <a:rPr lang="en-US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lang="en-US" altLang="zh-CN" sz="2000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ATA8520e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000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packages:</a:t>
            </a:r>
            <a:r>
              <a:rPr lang="en-US" sz="20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2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lwIP</a:t>
            </a:r>
            <a:r>
              <a:rPr lang="en-US" sz="2000" spc="-52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8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Openthread</a:t>
            </a:r>
            <a:r>
              <a:rPr lang="en-US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52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lvgl</a:t>
            </a:r>
            <a:r>
              <a:rPr lang="en-US" sz="2000" spc="-52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loramac</a:t>
            </a:r>
            <a:r>
              <a:rPr lang="en-US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2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object 8">
            <a:extLst>
              <a:ext uri="{FF2B5EF4-FFF2-40B4-BE49-F238E27FC236}">
                <a16:creationId xmlns:a16="http://schemas.microsoft.com/office/drawing/2014/main" id="{760CD600-A108-875D-99D9-593B6A4A8590}"/>
              </a:ext>
            </a:extLst>
          </p:cNvPr>
          <p:cNvPicPr/>
          <p:nvPr/>
        </p:nvPicPr>
        <p:blipFill>
          <a:blip r:embed="rId3" cstate="print"/>
          <a:srcRect r="12131" b="13799"/>
          <a:stretch/>
        </p:blipFill>
        <p:spPr>
          <a:xfrm>
            <a:off x="4572000" y="1321300"/>
            <a:ext cx="987213" cy="874647"/>
          </a:xfrm>
          <a:prstGeom prst="rect">
            <a:avLst/>
          </a:prstGeom>
        </p:spPr>
      </p:pic>
      <p:pic>
        <p:nvPicPr>
          <p:cNvPr id="19" name="object 12">
            <a:extLst>
              <a:ext uri="{FF2B5EF4-FFF2-40B4-BE49-F238E27FC236}">
                <a16:creationId xmlns:a16="http://schemas.microsoft.com/office/drawing/2014/main" id="{83FC28DA-AE58-5C28-1FC9-760A5B5D1A2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84237" y="2168876"/>
            <a:ext cx="1503211" cy="751606"/>
          </a:xfrm>
          <a:prstGeom prst="rect">
            <a:avLst/>
          </a:prstGeom>
        </p:spPr>
      </p:pic>
      <p:pic>
        <p:nvPicPr>
          <p:cNvPr id="20" name="object 15">
            <a:extLst>
              <a:ext uri="{FF2B5EF4-FFF2-40B4-BE49-F238E27FC236}">
                <a16:creationId xmlns:a16="http://schemas.microsoft.com/office/drawing/2014/main" id="{5A7E2047-8C0A-F2AF-3227-DA8BE0789CC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97813" y="2974323"/>
            <a:ext cx="751605" cy="75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652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47730" y="931393"/>
            <a:ext cx="911979" cy="617508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10184B-1084-B260-4C98-398804D669B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21</a:t>
            </a:fld>
            <a:endParaRPr lang="en-US" altLang="zh-CN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1A5B1AB3-DED9-C939-591D-09271DB8D10E}"/>
              </a:ext>
            </a:extLst>
          </p:cNvPr>
          <p:cNvSpPr txBox="1">
            <a:spLocks/>
          </p:cNvSpPr>
          <p:nvPr/>
        </p:nvSpPr>
        <p:spPr bwMode="auto">
          <a:xfrm>
            <a:off x="984291" y="64809"/>
            <a:ext cx="7763778" cy="565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11072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655" b="0" i="0">
                <a:solidFill>
                  <a:schemeClr val="tx1"/>
                </a:solidFill>
                <a:latin typeface="Arial Narrow"/>
                <a:ea typeface="標楷體" pitchFamily="65" charset="-120"/>
                <a:cs typeface="Arial Narrow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 marL="10066">
              <a:spcBef>
                <a:spcPts val="87"/>
              </a:spcBef>
            </a:pPr>
            <a:r>
              <a:rPr lang="en-US" sz="3600" b="1" kern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Important Features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209C2DE-8C01-231D-D055-08AF768BF10C}"/>
              </a:ext>
            </a:extLst>
          </p:cNvPr>
          <p:cNvSpPr txBox="1"/>
          <p:nvPr/>
        </p:nvSpPr>
        <p:spPr>
          <a:xfrm>
            <a:off x="984291" y="964087"/>
            <a:ext cx="6504164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5816" indent="-285750"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</a:t>
            </a:r>
            <a:r>
              <a:rPr lang="en-US" altLang="zh-CN" sz="2000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featured</a:t>
            </a:r>
            <a:r>
              <a:rPr lang="en-US" altLang="zh-CN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</a:t>
            </a:r>
            <a:r>
              <a:rPr lang="en-US" altLang="zh-CN" sz="2000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US" altLang="zh-CN" sz="2000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(CDC-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ACM,</a:t>
            </a:r>
            <a:r>
              <a:rPr lang="en-US" altLang="zh-CN" sz="2000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CDC-ECM,</a:t>
            </a:r>
            <a:r>
              <a:rPr lang="en-US" altLang="zh-CN" sz="2000" spc="-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95816" indent="-285750"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5816" indent="-285750"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r>
              <a:rPr lang="en-US" altLang="zh-CN" sz="2000" spc="-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altLang="zh-C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</a:t>
            </a:r>
            <a:r>
              <a:rPr lang="en-US" altLang="zh-C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US" altLang="zh-C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en-US" altLang="zh-C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94680">
              <a:spcBef>
                <a:spcPts val="1177"/>
              </a:spcBef>
            </a:pPr>
            <a:r>
              <a:rPr lang="en-US" altLang="zh-CN" sz="2000" u="heavy" spc="-44" dirty="0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https://datatracker.ietf.org/wg/suit/about/</a:t>
            </a:r>
            <a:endParaRPr lang="en-US" altLang="zh-CN" sz="2000" u="heavy" spc="-44" dirty="0">
              <a:solidFill>
                <a:srgbClr val="0000ED"/>
              </a:solidFill>
              <a:uFill>
                <a:solidFill>
                  <a:srgbClr val="0000ED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5816" indent="-285750"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endParaRPr lang="en-US" altLang="zh-CN" sz="2000" spc="-2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5816" indent="-285750"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NB-IoT support</a:t>
            </a:r>
          </a:p>
          <a:p>
            <a:pPr marL="295816" indent="-285750"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5816" indent="-285750"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advanced configuration with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Kconfig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369D572-BEA3-BE12-A5A3-7F4106E30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289" y="2783506"/>
            <a:ext cx="1352891" cy="47184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8243355-6D6B-744A-00D7-3460794F89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3580" y="3185093"/>
            <a:ext cx="1865153" cy="12434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85C818D-FD60-6805-C2D1-A4FE9D458CE1}"/>
              </a:ext>
            </a:extLst>
          </p:cNvPr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altLang="zh-CN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D7A7F0D-7BD4-E326-3260-347DE6C8BBA1}"/>
              </a:ext>
            </a:extLst>
          </p:cNvPr>
          <p:cNvSpPr txBox="1">
            <a:spLocks/>
          </p:cNvSpPr>
          <p:nvPr/>
        </p:nvSpPr>
        <p:spPr>
          <a:xfrm>
            <a:off x="1078029" y="818147"/>
            <a:ext cx="7272951" cy="2608634"/>
          </a:xfrm>
          <a:prstGeom prst="rect">
            <a:avLst/>
          </a:prstGeom>
        </p:spPr>
        <p:txBody>
          <a:bodyPr>
            <a:no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kern="0" dirty="0"/>
              <a:t>Introduction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kern="0" dirty="0"/>
              <a:t>Technical Overview</a:t>
            </a:r>
            <a:endParaRPr lang="en-US" altLang="zh-CN" sz="2400" kern="0" spc="-8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kern="0" dirty="0">
                <a:solidFill>
                  <a:srgbClr val="FF0000"/>
                </a:solidFill>
              </a:rPr>
              <a:t>RIOT in Action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FA89297F-C180-77BF-1F07-87E17BC25C7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>
                <a:solidFill>
                  <a:schemeClr val="bg1"/>
                </a:solidFill>
              </a:rPr>
              <a:t>22</a:t>
            </a:fld>
            <a:endParaRPr lang="en-US" altLang="zh-CN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1763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2152" y="55302"/>
            <a:ext cx="7010061" cy="565178"/>
          </a:xfrm>
          <a:prstGeom prst="rect">
            <a:avLst/>
          </a:prstGeom>
        </p:spPr>
        <p:txBody>
          <a:bodyPr vert="horz" wrap="square" lIns="0" tIns="1107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066">
              <a:spcBef>
                <a:spcPts val="87"/>
              </a:spcBef>
            </a:pPr>
            <a:r>
              <a:rPr dirty="0"/>
              <a:t>IoT </a:t>
            </a:r>
            <a:r>
              <a:rPr lang="en-US" dirty="0"/>
              <a:t>D</a:t>
            </a:r>
            <a:r>
              <a:rPr dirty="0"/>
              <a:t>eployments </a:t>
            </a:r>
            <a:r>
              <a:rPr lang="en-US" dirty="0"/>
              <a:t>U</a:t>
            </a:r>
            <a:r>
              <a:rPr dirty="0"/>
              <a:t>sing RIOT</a:t>
            </a:r>
            <a:r>
              <a:rPr lang="en-US" dirty="0"/>
              <a:t> (1)</a:t>
            </a:r>
            <a:endParaRPr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9409" y="1413019"/>
            <a:ext cx="4735116" cy="293126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946792" y="4364279"/>
            <a:ext cx="1220449" cy="192146"/>
          </a:xfrm>
          <a:prstGeom prst="rect">
            <a:avLst/>
          </a:prstGeom>
        </p:spPr>
        <p:txBody>
          <a:bodyPr vert="horz" wrap="square" lIns="0" tIns="9059" rIns="0" bIns="0" rtlCol="0">
            <a:spAutoFit/>
          </a:bodyPr>
          <a:lstStyle/>
          <a:p>
            <a:pPr marL="10066">
              <a:spcBef>
                <a:spcPts val="71"/>
              </a:spcBef>
            </a:pPr>
            <a:r>
              <a:rPr sz="1189" u="heavy" spc="52" dirty="0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Trebuchet MS"/>
                <a:cs typeface="Trebuchet MS"/>
                <a:hlinkClick r:id="rId3"/>
              </a:rPr>
              <a:t>More</a:t>
            </a:r>
            <a:r>
              <a:rPr sz="1189" u="heavy" spc="-40" dirty="0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189" u="heavy" spc="-8" dirty="0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Trebuchet MS"/>
                <a:cs typeface="Trebuchet MS"/>
                <a:hlinkClick r:id="rId3"/>
              </a:rPr>
              <a:t>information</a:t>
            </a:r>
            <a:endParaRPr sz="1189" dirty="0">
              <a:latin typeface="Trebuchet MS"/>
              <a:cs typeface="Trebuchet M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3E092A-858F-AAEE-6E77-19BB384A64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D73A5A25-97BD-9C67-4580-C6287F018357}"/>
              </a:ext>
            </a:extLst>
          </p:cNvPr>
          <p:cNvSpPr txBox="1"/>
          <p:nvPr/>
        </p:nvSpPr>
        <p:spPr>
          <a:xfrm>
            <a:off x="972152" y="863829"/>
            <a:ext cx="5451097" cy="316924"/>
          </a:xfrm>
          <a:prstGeom prst="rect">
            <a:avLst/>
          </a:prstGeom>
        </p:spPr>
        <p:txBody>
          <a:bodyPr vert="horz" wrap="square" lIns="0" tIns="9059" rIns="0" bIns="0" rtlCol="0">
            <a:spAutoFit/>
          </a:bodyPr>
          <a:lstStyle/>
          <a:p>
            <a:pPr marL="352966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Telefonica Chile –LoRa devices in a mine</a:t>
            </a:r>
            <a:endParaRPr lang="en-US" sz="20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05361" y="1413019"/>
            <a:ext cx="1503211" cy="284106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946792" y="4274087"/>
            <a:ext cx="1220449" cy="192146"/>
          </a:xfrm>
          <a:prstGeom prst="rect">
            <a:avLst/>
          </a:prstGeom>
        </p:spPr>
        <p:txBody>
          <a:bodyPr vert="horz" wrap="square" lIns="0" tIns="9059" rIns="0" bIns="0" rtlCol="0">
            <a:spAutoFit/>
          </a:bodyPr>
          <a:lstStyle/>
          <a:p>
            <a:pPr marL="10066">
              <a:spcBef>
                <a:spcPts val="71"/>
              </a:spcBef>
            </a:pPr>
            <a:r>
              <a:rPr sz="1189" u="heavy" spc="52" dirty="0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Trebuchet MS"/>
                <a:cs typeface="Trebuchet MS"/>
                <a:hlinkClick r:id="rId3"/>
              </a:rPr>
              <a:t>More</a:t>
            </a:r>
            <a:r>
              <a:rPr sz="1189" u="heavy" spc="-40" dirty="0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189" u="heavy" spc="-8" dirty="0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Trebuchet MS"/>
                <a:cs typeface="Trebuchet MS"/>
                <a:hlinkClick r:id="rId3"/>
              </a:rPr>
              <a:t>information</a:t>
            </a:r>
            <a:endParaRPr sz="1189">
              <a:latin typeface="Trebuchet MS"/>
              <a:cs typeface="Trebuchet M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59FB78-96F3-4064-0776-7B2B7F1F0B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AD84E474-DF70-BEE6-9D4C-AE96D8FED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149" y="82948"/>
            <a:ext cx="7780541" cy="519113"/>
          </a:xfrm>
        </p:spPr>
        <p:txBody>
          <a:bodyPr/>
          <a:lstStyle/>
          <a:p>
            <a:r>
              <a:rPr lang="en-US" altLang="zh-CN" dirty="0"/>
              <a:t>IoT Deployments Using RIOT (2)</a:t>
            </a:r>
            <a:endParaRPr lang="zh-CN" altLang="en-US" dirty="0"/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717D8F3E-0925-B0BC-BCBB-348494607C41}"/>
              </a:ext>
            </a:extLst>
          </p:cNvPr>
          <p:cNvSpPr txBox="1"/>
          <p:nvPr/>
        </p:nvSpPr>
        <p:spPr>
          <a:xfrm>
            <a:off x="1079812" y="889412"/>
            <a:ext cx="5451097" cy="316924"/>
          </a:xfrm>
          <a:prstGeom prst="rect">
            <a:avLst/>
          </a:prstGeom>
        </p:spPr>
        <p:txBody>
          <a:bodyPr vert="horz" wrap="square" lIns="0" tIns="9059" rIns="0" bIns="0" rtlCol="0">
            <a:spAutoFit/>
          </a:bodyPr>
          <a:lstStyle/>
          <a:p>
            <a:pPr marL="352966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Algramo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Automatic cereal dispenser</a:t>
            </a:r>
            <a:endParaRPr lang="en-US" sz="20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3730157" y="3518239"/>
            <a:ext cx="2154177" cy="316924"/>
          </a:xfrm>
          <a:prstGeom prst="rect">
            <a:avLst/>
          </a:prstGeom>
        </p:spPr>
        <p:txBody>
          <a:bodyPr vert="horz" wrap="square" lIns="0" tIns="9059" rIns="0" bIns="0" rtlCol="0">
            <a:spAutoFit/>
          </a:bodyPr>
          <a:lstStyle/>
          <a:p>
            <a:pPr marL="10066">
              <a:spcBef>
                <a:spcPts val="71"/>
              </a:spcBef>
            </a:pPr>
            <a:r>
              <a:rPr sz="2000" spc="52" dirty="0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Trebuchet MS"/>
                <a:cs typeface="Trebuchet MS"/>
                <a:hlinkClick r:id="rId2"/>
              </a:rPr>
              <a:t>More</a:t>
            </a:r>
            <a:r>
              <a:rPr sz="2000" spc="-40" dirty="0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2000" spc="-8" dirty="0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Trebuchet MS"/>
                <a:cs typeface="Trebuchet MS"/>
                <a:hlinkClick r:id="rId2"/>
              </a:rPr>
              <a:t>information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464A0CA3-B5D5-3BBD-A53E-3C1EB940F3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10" name="标题 9">
            <a:extLst>
              <a:ext uri="{FF2B5EF4-FFF2-40B4-BE49-F238E27FC236}">
                <a16:creationId xmlns:a16="http://schemas.microsoft.com/office/drawing/2014/main" id="{C4D1492C-CBE0-6084-C4EE-76BE5A643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524" y="79474"/>
            <a:ext cx="7790166" cy="519113"/>
          </a:xfrm>
        </p:spPr>
        <p:txBody>
          <a:bodyPr/>
          <a:lstStyle/>
          <a:p>
            <a:r>
              <a:rPr lang="en-US" altLang="zh-CN" dirty="0"/>
              <a:t>IoT Deployments Using RIOT (3)</a:t>
            </a:r>
            <a:endParaRPr lang="zh-CN" altLang="en-US" dirty="0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5F4A6286-CC57-D6EA-760F-7367275158A6}"/>
              </a:ext>
            </a:extLst>
          </p:cNvPr>
          <p:cNvSpPr txBox="1"/>
          <p:nvPr/>
        </p:nvSpPr>
        <p:spPr>
          <a:xfrm>
            <a:off x="1043731" y="890227"/>
            <a:ext cx="5451097" cy="316924"/>
          </a:xfrm>
          <a:prstGeom prst="rect">
            <a:avLst/>
          </a:prstGeom>
        </p:spPr>
        <p:txBody>
          <a:bodyPr vert="horz" wrap="square" lIns="0" tIns="9059" rIns="0" bIns="0" rtlCol="0">
            <a:spAutoFit/>
          </a:bodyPr>
          <a:lstStyle/>
          <a:p>
            <a:pPr marL="352966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automation using KNX</a:t>
            </a:r>
            <a:endParaRPr lang="en-US" sz="2000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4FF5FB2-167C-4A5B-967E-46B3BF828AB0}"/>
              </a:ext>
            </a:extLst>
          </p:cNvPr>
          <p:cNvGrpSpPr/>
          <p:nvPr/>
        </p:nvGrpSpPr>
        <p:grpSpPr>
          <a:xfrm>
            <a:off x="1452391" y="1728466"/>
            <a:ext cx="6656432" cy="1456040"/>
            <a:chOff x="1241381" y="2050199"/>
            <a:chExt cx="6656432" cy="145604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rcRect r="53028"/>
            <a:stretch/>
          </p:blipFill>
          <p:spPr>
            <a:xfrm>
              <a:off x="1241381" y="2085704"/>
              <a:ext cx="1408943" cy="142053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80607" y="2260648"/>
              <a:ext cx="1503211" cy="99963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70405" y="2193004"/>
              <a:ext cx="1127408" cy="1134924"/>
            </a:xfrm>
            <a:prstGeom prst="rect">
              <a:avLst/>
            </a:prstGeom>
          </p:spPr>
        </p:pic>
        <p:pic>
          <p:nvPicPr>
            <p:cNvPr id="11" name="object 4">
              <a:extLst>
                <a:ext uri="{FF2B5EF4-FFF2-40B4-BE49-F238E27FC236}">
                  <a16:creationId xmlns:a16="http://schemas.microsoft.com/office/drawing/2014/main" id="{0DB51A97-9380-5970-7644-0A162C7088F2}"/>
                </a:ext>
              </a:extLst>
            </p:cNvPr>
            <p:cNvPicPr/>
            <p:nvPr/>
          </p:nvPicPr>
          <p:blipFill>
            <a:blip r:embed="rId3" cstate="print"/>
            <a:srcRect l="53718"/>
            <a:stretch/>
          </p:blipFill>
          <p:spPr>
            <a:xfrm>
              <a:off x="2825804" y="2050199"/>
              <a:ext cx="1388234" cy="142053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0595" y="55944"/>
            <a:ext cx="8014017" cy="565178"/>
          </a:xfrm>
          <a:prstGeom prst="rect">
            <a:avLst/>
          </a:prstGeom>
        </p:spPr>
        <p:txBody>
          <a:bodyPr vert="horz" wrap="square" lIns="0" tIns="1107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066">
              <a:spcBef>
                <a:spcPts val="87"/>
              </a:spcBef>
            </a:pPr>
            <a:r>
              <a:rPr dirty="0"/>
              <a:t>IoT </a:t>
            </a:r>
            <a:r>
              <a:rPr lang="en-US" dirty="0"/>
              <a:t>P</a:t>
            </a:r>
            <a:r>
              <a:rPr dirty="0"/>
              <a:t>roducts &amp; </a:t>
            </a:r>
            <a:r>
              <a:rPr lang="en-US" dirty="0"/>
              <a:t>S</a:t>
            </a:r>
            <a:r>
              <a:rPr dirty="0"/>
              <a:t>ervices </a:t>
            </a:r>
            <a:r>
              <a:rPr lang="en-US" dirty="0"/>
              <a:t>U</a:t>
            </a:r>
            <a:r>
              <a:rPr dirty="0"/>
              <a:t>sing RIOT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A1C2374-9C88-4597-6AF6-98A2895F0E79}"/>
              </a:ext>
            </a:extLst>
          </p:cNvPr>
          <p:cNvGrpSpPr/>
          <p:nvPr/>
        </p:nvGrpSpPr>
        <p:grpSpPr>
          <a:xfrm>
            <a:off x="882861" y="874405"/>
            <a:ext cx="7897877" cy="3394690"/>
            <a:chOff x="950595" y="926010"/>
            <a:chExt cx="7897877" cy="3394690"/>
          </a:xfrm>
        </p:grpSpPr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E4F86186-809A-7FC5-0165-5BDD45B41050}"/>
                </a:ext>
              </a:extLst>
            </p:cNvPr>
            <p:cNvSpPr txBox="1"/>
            <p:nvPr/>
          </p:nvSpPr>
          <p:spPr>
            <a:xfrm>
              <a:off x="950595" y="926010"/>
              <a:ext cx="7897877" cy="3394690"/>
            </a:xfrm>
            <a:prstGeom prst="rect">
              <a:avLst/>
            </a:prstGeom>
          </p:spPr>
          <p:txBody>
            <a:bodyPr vert="horz" wrap="square" lIns="0" tIns="9059" rIns="0" bIns="0" rtlCol="0">
              <a:spAutoFit/>
            </a:bodyPr>
            <a:lstStyle/>
            <a:p>
              <a:pPr marL="352966" indent="-342900">
                <a:spcBef>
                  <a:spcPts val="6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</a:pP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Environment</a:t>
              </a:r>
              <a:r>
                <a:rPr lang="en-US" altLang="zh-CN" sz="2000" spc="-24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monitoring:</a:t>
              </a:r>
              <a:r>
                <a:rPr lang="en-US" altLang="zh-CN" sz="2000" spc="-12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Hamilton</a:t>
              </a:r>
              <a:r>
                <a:rPr lang="en-US" altLang="zh-CN" sz="2000" spc="-12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IoT</a:t>
              </a:r>
              <a:r>
                <a:rPr lang="en-US" altLang="zh-CN" sz="2000" spc="-12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spc="-4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(USA),</a:t>
              </a:r>
              <a:r>
                <a:rPr lang="en-US" altLang="zh-CN" sz="2000" spc="-12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Unwired</a:t>
              </a:r>
              <a:r>
                <a:rPr lang="en-US" altLang="zh-CN" sz="2000" spc="-12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Devices</a:t>
              </a:r>
              <a:r>
                <a:rPr lang="en-US" altLang="zh-CN" sz="2000" spc="-12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spc="-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(Russia)</a:t>
              </a:r>
              <a:endPara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52966" indent="-342900">
                <a:spcBef>
                  <a:spcPts val="6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</a:pPr>
              <a:endPara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52966" indent="-342900">
                <a:spcBef>
                  <a:spcPts val="6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</a:pPr>
              <a:endPara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52966" indent="-342900">
                <a:spcBef>
                  <a:spcPts val="6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</a:pPr>
              <a:endPara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52966" indent="-342900">
                <a:spcBef>
                  <a:spcPts val="6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</a:pPr>
              <a:endPara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52966" indent="-342900">
                <a:spcBef>
                  <a:spcPts val="6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</a:pPr>
              <a:endPara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52966" indent="-342900">
                <a:spcBef>
                  <a:spcPts val="6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</a:pPr>
              <a:endPara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52966" indent="-342900">
                <a:spcBef>
                  <a:spcPts val="6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</a:pP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On-Board</a:t>
              </a:r>
              <a:r>
                <a:rPr lang="en-US" altLang="zh-CN" sz="2000" spc="-4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diagnostics</a:t>
              </a:r>
              <a:r>
                <a:rPr lang="en-US" altLang="zh-CN" sz="2000" spc="-4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</a:t>
              </a:r>
              <a:r>
                <a:rPr lang="en-US" altLang="zh-CN" sz="2000" spc="-4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spc="-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connected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spc="-2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cars:</a:t>
              </a:r>
              <a:r>
                <a:rPr lang="en-US" altLang="zh-CN" sz="2000" spc="-4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spc="-16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OTAKeys</a:t>
              </a:r>
              <a:r>
                <a:rPr lang="en-US" altLang="zh-CN" sz="2000" spc="-4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spc="-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(Continental)</a:t>
              </a:r>
              <a:endPara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52966" indent="-342900">
                <a:spcBef>
                  <a:spcPts val="6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</a:pP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Design</a:t>
              </a:r>
              <a:r>
                <a:rPr lang="en-US" altLang="zh-CN" sz="2000" spc="4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spc="-32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Office:</a:t>
              </a:r>
              <a:r>
                <a:rPr lang="en-US" altLang="zh-CN" sz="2000" spc="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spc="-2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Eistec</a:t>
              </a:r>
              <a:r>
                <a:rPr lang="en-US" altLang="zh-CN" sz="2000" spc="4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spc="-2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000" spc="-28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Sweeden</a:t>
              </a:r>
              <a:r>
                <a:rPr lang="en-US" altLang="zh-CN" sz="2000" spc="-2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en-US" altLang="zh-CN" sz="2000" spc="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Mesotic</a:t>
              </a:r>
              <a:r>
                <a:rPr lang="en-US" altLang="zh-CN" sz="2000" spc="4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spc="-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(France)</a:t>
              </a:r>
              <a:endPara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BFE01225-6098-4382-FB2C-813BF91462F6}"/>
                </a:ext>
              </a:extLst>
            </p:cNvPr>
            <p:cNvGrpSpPr/>
            <p:nvPr/>
          </p:nvGrpSpPr>
          <p:grpSpPr>
            <a:xfrm>
              <a:off x="2996629" y="1483041"/>
              <a:ext cx="3429571" cy="1802026"/>
              <a:chOff x="3031208" y="1382955"/>
              <a:chExt cx="3007605" cy="1503211"/>
            </a:xfrm>
          </p:grpSpPr>
          <p:pic>
            <p:nvPicPr>
              <p:cNvPr id="5" name="object 5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031208" y="1382955"/>
                <a:ext cx="1503211" cy="1503211"/>
              </a:xfrm>
              <a:prstGeom prst="rect">
                <a:avLst/>
              </a:prstGeom>
            </p:spPr>
          </p:pic>
          <p:pic>
            <p:nvPicPr>
              <p:cNvPr id="6" name="object 6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4579516" y="1570856"/>
                <a:ext cx="1459297" cy="1315309"/>
              </a:xfrm>
              <a:prstGeom prst="rect">
                <a:avLst/>
              </a:prstGeom>
            </p:spPr>
          </p:pic>
        </p:grpSp>
      </p:grp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6C7D03E3-884F-8623-BDF2-0E4C66E044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4">
            <a:extLst>
              <a:ext uri="{FF2B5EF4-FFF2-40B4-BE49-F238E27FC236}">
                <a16:creationId xmlns:a16="http://schemas.microsoft.com/office/drawing/2014/main" id="{5667F89D-0D6D-530A-6402-5973A20C6207}"/>
              </a:ext>
            </a:extLst>
          </p:cNvPr>
          <p:cNvSpPr txBox="1"/>
          <p:nvPr/>
        </p:nvSpPr>
        <p:spPr>
          <a:xfrm>
            <a:off x="684385" y="929407"/>
            <a:ext cx="8078616" cy="1471086"/>
          </a:xfrm>
          <a:prstGeom prst="rect">
            <a:avLst/>
          </a:prstGeom>
        </p:spPr>
        <p:txBody>
          <a:bodyPr vert="horz" wrap="square" lIns="0" tIns="9059" rIns="0" bIns="0" rtlCol="0">
            <a:spAutoFit/>
          </a:bodyPr>
          <a:lstStyle/>
          <a:p>
            <a:pPr marL="352966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(</a:t>
            </a:r>
            <a:r>
              <a:rPr lang="en-US" altLang="zh-CN" sz="2000" u="heavy" spc="-44" dirty="0">
                <a:solidFill>
                  <a:srgbClr val="541A8B"/>
                </a:solidFill>
                <a:uFill>
                  <a:solidFill>
                    <a:srgbClr val="541A8B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https://www.iot-</a:t>
            </a:r>
            <a:r>
              <a:rPr lang="en-US" altLang="zh-CN" sz="2000" u="heavy" spc="-28" dirty="0">
                <a:solidFill>
                  <a:srgbClr val="541A8B"/>
                </a:solidFill>
                <a:uFill>
                  <a:solidFill>
                    <a:srgbClr val="541A8B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lab.info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zh-CN" sz="2000" spc="-5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large scale experimentation testbed</a:t>
            </a:r>
          </a:p>
          <a:p>
            <a:pPr marL="352966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for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wireless communication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 on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devices</a:t>
            </a:r>
          </a:p>
          <a:p>
            <a:pPr marL="352966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for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IoT programming and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protocols</a:t>
            </a:r>
          </a:p>
          <a:p>
            <a:pPr marL="352966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for testing software platforms on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heterogeneous hardware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8254" y="90429"/>
            <a:ext cx="7902341" cy="503623"/>
          </a:xfrm>
          <a:prstGeom prst="rect">
            <a:avLst/>
          </a:prstGeom>
        </p:spPr>
        <p:txBody>
          <a:bodyPr vert="horz" wrap="square" lIns="0" tIns="1107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066">
              <a:spcBef>
                <a:spcPts val="87"/>
              </a:spcBef>
            </a:pPr>
            <a:r>
              <a:rPr sz="3200" dirty="0"/>
              <a:t>RIOT on FIT/IoT-LAB </a:t>
            </a:r>
            <a:r>
              <a:rPr lang="en-US" sz="3200" dirty="0"/>
              <a:t>L</a:t>
            </a:r>
            <a:r>
              <a:rPr sz="3200" dirty="0"/>
              <a:t>arge </a:t>
            </a:r>
            <a:r>
              <a:rPr lang="en-US" sz="3200" dirty="0"/>
              <a:t>S</a:t>
            </a:r>
            <a:r>
              <a:rPr sz="3200" dirty="0"/>
              <a:t>cale </a:t>
            </a:r>
            <a:r>
              <a:rPr lang="en-US" sz="3200" dirty="0"/>
              <a:t>T</a:t>
            </a:r>
            <a:r>
              <a:rPr sz="3200" dirty="0"/>
              <a:t>estbed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A1CF6D8-30A1-4A7F-8B5B-664DF3A15407}"/>
              </a:ext>
            </a:extLst>
          </p:cNvPr>
          <p:cNvGrpSpPr/>
          <p:nvPr/>
        </p:nvGrpSpPr>
        <p:grpSpPr>
          <a:xfrm>
            <a:off x="2640373" y="2477494"/>
            <a:ext cx="3944831" cy="2094111"/>
            <a:chOff x="2640373" y="2800516"/>
            <a:chExt cx="3681889" cy="1758757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0373" y="3251973"/>
              <a:ext cx="1879014" cy="124263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43248" y="2800516"/>
              <a:ext cx="1879014" cy="1758757"/>
            </a:xfrm>
            <a:prstGeom prst="rect">
              <a:avLst/>
            </a:prstGeom>
          </p:spPr>
        </p:pic>
      </p:grp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9E35DFC0-6D8F-31A3-22E8-26219E1EC5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526" y="58985"/>
            <a:ext cx="6249666" cy="565178"/>
          </a:xfrm>
          <a:prstGeom prst="rect">
            <a:avLst/>
          </a:prstGeom>
        </p:spPr>
        <p:txBody>
          <a:bodyPr vert="horz" wrap="square" lIns="0" tIns="1107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066">
              <a:spcBef>
                <a:spcPts val="87"/>
              </a:spcBef>
            </a:pPr>
            <a:r>
              <a:rPr dirty="0"/>
              <a:t>Learn RIOT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0F7D8C-FE4E-829A-7A08-F0225E7540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588C6CBB-06DA-8CC3-872C-EB7C93E94E65}"/>
              </a:ext>
            </a:extLst>
          </p:cNvPr>
          <p:cNvSpPr txBox="1"/>
          <p:nvPr/>
        </p:nvSpPr>
        <p:spPr>
          <a:xfrm>
            <a:off x="1049649" y="1111358"/>
            <a:ext cx="7044702" cy="1086365"/>
          </a:xfrm>
          <a:prstGeom prst="rect">
            <a:avLst/>
          </a:prstGeom>
        </p:spPr>
        <p:txBody>
          <a:bodyPr vert="horz" wrap="square" lIns="0" tIns="9059" rIns="0" bIns="0" rtlCol="0">
            <a:spAutoFit/>
          </a:bodyPr>
          <a:lstStyle/>
          <a:p>
            <a:pPr marL="352966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RIOT</a:t>
            </a:r>
            <a:r>
              <a:rPr lang="en-US" altLang="zh-CN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Tutorials </a:t>
            </a:r>
            <a:r>
              <a:rPr lang="en-US" altLang="zh-CN" sz="2000" u="heavy" spc="-40" dirty="0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https://github.com/RIOT-</a:t>
            </a:r>
            <a:r>
              <a:rPr lang="en-US" altLang="zh-CN" sz="2000" u="heavy" spc="-8" dirty="0">
                <a:solidFill>
                  <a:srgbClr val="0000ED"/>
                </a:solidFill>
                <a:uFill>
                  <a:solidFill>
                    <a:srgbClr val="0000ED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OS/Tutorials</a:t>
            </a:r>
            <a:endParaRPr lang="en-US" altLang="zh-CN" sz="2000" u="heavy" spc="-8" dirty="0">
              <a:solidFill>
                <a:srgbClr val="0000ED"/>
              </a:solidFill>
              <a:uFill>
                <a:solidFill>
                  <a:srgbClr val="0000ED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066">
              <a:spcBef>
                <a:spcPts val="600"/>
              </a:spcBef>
              <a:buClr>
                <a:srgbClr val="0000FF"/>
              </a:buClr>
            </a:pPr>
            <a:endParaRPr lang="en-US" altLang="zh-CN" sz="2000" u="heavy" spc="-8" dirty="0">
              <a:solidFill>
                <a:srgbClr val="0000ED"/>
              </a:solidFill>
              <a:uFill>
                <a:solidFill>
                  <a:srgbClr val="0000ED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966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RIOT</a:t>
            </a:r>
            <a:r>
              <a:rPr lang="en-US" altLang="zh-CN" sz="20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</a:t>
            </a:r>
            <a:r>
              <a:rPr lang="en-US" altLang="zh-CN" sz="20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</a:t>
            </a:r>
            <a:r>
              <a:rPr lang="en-US" altLang="zh-CN" sz="2000" u="heavy" spc="-32" dirty="0">
                <a:solidFill>
                  <a:srgbClr val="541A8B"/>
                </a:solidFill>
                <a:uFill>
                  <a:solidFill>
                    <a:srgbClr val="541A8B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https://github.com/riot-os/riot-</a:t>
            </a:r>
            <a:r>
              <a:rPr lang="en-US" altLang="zh-CN" sz="2000" u="heavy" spc="-8" dirty="0">
                <a:solidFill>
                  <a:srgbClr val="541A8B"/>
                </a:solidFill>
                <a:uFill>
                  <a:solidFill>
                    <a:srgbClr val="541A8B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course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6848" y="51281"/>
            <a:ext cx="6251971" cy="565178"/>
          </a:xfrm>
          <a:prstGeom prst="rect">
            <a:avLst/>
          </a:prstGeom>
        </p:spPr>
        <p:txBody>
          <a:bodyPr vert="horz" wrap="square" lIns="0" tIns="11072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0066">
              <a:spcBef>
                <a:spcPts val="87"/>
              </a:spcBef>
            </a:pPr>
            <a:r>
              <a:rPr dirty="0"/>
              <a:t>Summary</a:t>
            </a:r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125632F9-4A57-3419-7462-494494D956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5CA579D5-3736-34EA-41D7-DB8EB01FF7DA}"/>
              </a:ext>
            </a:extLst>
          </p:cNvPr>
          <p:cNvSpPr txBox="1"/>
          <p:nvPr/>
        </p:nvSpPr>
        <p:spPr>
          <a:xfrm>
            <a:off x="1073418" y="826250"/>
            <a:ext cx="7304134" cy="3317746"/>
          </a:xfrm>
          <a:prstGeom prst="rect">
            <a:avLst/>
          </a:prstGeom>
        </p:spPr>
        <p:txBody>
          <a:bodyPr vert="horz" wrap="square" lIns="0" tIns="9059" rIns="0" bIns="0" rtlCol="0">
            <a:spAutoFit/>
          </a:bodyPr>
          <a:lstStyle/>
          <a:p>
            <a:pPr marL="352966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Generalities</a:t>
            </a:r>
            <a:r>
              <a:rPr lang="en-US" altLang="zh-CN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altLang="zh-CN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RIOT:</a:t>
            </a:r>
            <a:r>
              <a:rPr lang="en-US" altLang="zh-CN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history,</a:t>
            </a:r>
            <a:r>
              <a:rPr lang="en-US" altLang="zh-CN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community,</a:t>
            </a:r>
            <a:r>
              <a:rPr lang="en-US" altLang="zh-CN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</a:p>
          <a:p>
            <a:pPr marL="352966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</a:t>
            </a:r>
            <a:r>
              <a:rPr lang="en-US" altLang="zh-CN" sz="2000" spc="-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 marL="810166" lvl="1" indent="-342900">
              <a:spcBef>
                <a:spcPts val="600"/>
              </a:spcBef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sz="2000" spc="52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altLang="zh-CN" sz="2000" spc="-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</a:p>
          <a:p>
            <a:pPr marL="810166" lvl="1" indent="-342900">
              <a:spcBef>
                <a:spcPts val="600"/>
              </a:spcBef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sz="2000" spc="52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altLang="zh-CN" sz="2000" spc="-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</a:p>
          <a:p>
            <a:pPr marL="810166" lvl="1" indent="-342900">
              <a:spcBef>
                <a:spcPts val="600"/>
              </a:spcBef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</a:p>
          <a:p>
            <a:pPr marL="810166" lvl="1" indent="-342900">
              <a:spcBef>
                <a:spcPts val="600"/>
              </a:spcBef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lang="en-US" altLang="zh-CN"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0166" lvl="1" indent="-342900">
              <a:spcBef>
                <a:spcPts val="600"/>
              </a:spcBef>
              <a:buClr>
                <a:srgbClr val="0000FF"/>
              </a:buClr>
              <a:buFont typeface="Symbol" panose="05050102010706020507" pitchFamily="18" charset="2"/>
              <a:buChar char="-"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altLang="zh-CN" sz="2000" spc="-5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</a:t>
            </a:r>
            <a:r>
              <a:rPr lang="en-US" altLang="zh-CN" sz="2000" spc="-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  <a:r>
              <a:rPr lang="en-US" altLang="zh-CN" sz="2000" spc="-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</a:t>
            </a:r>
            <a:r>
              <a:rPr lang="en-US" altLang="zh-CN" sz="2000" spc="-5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2966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CN" sz="2000" spc="-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RIOT</a:t>
            </a:r>
            <a:r>
              <a:rPr lang="en-US" altLang="zh-CN" sz="2000" spc="-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ecosystem:</a:t>
            </a:r>
            <a:r>
              <a:rPr lang="en-US" altLang="zh-CN" sz="2000" spc="-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r>
              <a:rPr lang="en-US" altLang="zh-CN" sz="2000" spc="-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tools,</a:t>
            </a:r>
            <a:r>
              <a:rPr lang="en-US" altLang="zh-CN" sz="2000" spc="-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CI,</a:t>
            </a:r>
            <a:r>
              <a:rPr lang="en-US" altLang="zh-CN" sz="2000" spc="-4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</a:t>
            </a:r>
            <a:r>
              <a:rPr lang="en-US" altLang="zh-CN" sz="2000" spc="8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n-US" altLang="zh-CN" sz="20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spc="-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RIOT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0DB7ED6-798D-F5A8-768D-27D12C4B5D5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30</a:t>
            </a:fld>
            <a:endParaRPr lang="en-US" altLang="zh-CN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51AD2A0-255C-F353-290C-44B7D17F67A8}"/>
              </a:ext>
            </a:extLst>
          </p:cNvPr>
          <p:cNvSpPr txBox="1"/>
          <p:nvPr/>
        </p:nvSpPr>
        <p:spPr>
          <a:xfrm>
            <a:off x="804430" y="2059345"/>
            <a:ext cx="7304134" cy="1024810"/>
          </a:xfrm>
          <a:prstGeom prst="rect">
            <a:avLst/>
          </a:prstGeom>
        </p:spPr>
        <p:txBody>
          <a:bodyPr vert="horz" wrap="square" lIns="0" tIns="9059" rIns="0" bIns="0" rtlCol="0">
            <a:spAutoFit/>
          </a:bodyPr>
          <a:lstStyle/>
          <a:p>
            <a:pPr marL="10066" algn="ctr">
              <a:spcBef>
                <a:spcPts val="600"/>
              </a:spcBef>
              <a:buClr>
                <a:srgbClr val="0000FF"/>
              </a:buClr>
            </a:pPr>
            <a:r>
              <a:rPr lang="en-US" altLang="zh-CN" sz="6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2786</TotalTime>
  <Words>1283</Words>
  <Application>Microsoft Office PowerPoint</Application>
  <PresentationFormat>全屏显示(16:9)</PresentationFormat>
  <Paragraphs>224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9" baseType="lpstr">
      <vt:lpstr>MS Sans Serif</vt:lpstr>
      <vt:lpstr>Arial</vt:lpstr>
      <vt:lpstr>Arial Narrow</vt:lpstr>
      <vt:lpstr>Calibri</vt:lpstr>
      <vt:lpstr>Symbol</vt:lpstr>
      <vt:lpstr>Times New Roman</vt:lpstr>
      <vt:lpstr>Trebuchet MS</vt:lpstr>
      <vt:lpstr>Wingdings</vt:lpstr>
      <vt:lpstr>NTHU UniCloud</vt:lpstr>
      <vt:lpstr>CSC6032 – Advanced Operating Systems RIOT</vt:lpstr>
      <vt:lpstr>PowerPoint 演示文稿</vt:lpstr>
      <vt:lpstr>What is RIOT</vt:lpstr>
      <vt:lpstr>RTOS in IoT</vt:lpstr>
      <vt:lpstr>PowerPoint 演示文稿</vt:lpstr>
      <vt:lpstr>PowerPoint 演示文稿</vt:lpstr>
      <vt:lpstr>PowerPoint 演示文稿</vt:lpstr>
      <vt:lpstr>PowerPoint 演示文稿</vt:lpstr>
      <vt:lpstr>Ecosystem &amp; Community Processes</vt:lpstr>
      <vt:lpstr>PowerPoint 演示文稿</vt:lpstr>
      <vt:lpstr>OS Characteristics</vt:lpstr>
      <vt:lpstr>Multi-Threading</vt:lpstr>
      <vt:lpstr>Hardware Abstraction Layer</vt:lpstr>
      <vt:lpstr>Hardware Support Review</vt:lpstr>
      <vt:lpstr>A Modular OS</vt:lpstr>
      <vt:lpstr>Useful System Libraries (1)</vt:lpstr>
      <vt:lpstr>Useful System Libraries (2)</vt:lpstr>
      <vt:lpstr>External Packages</vt:lpstr>
      <vt:lpstr>Network Stacks</vt:lpstr>
      <vt:lpstr>Other Network Support</vt:lpstr>
      <vt:lpstr>PowerPoint 演示文稿</vt:lpstr>
      <vt:lpstr>PowerPoint 演示文稿</vt:lpstr>
      <vt:lpstr>IoT Deployments Using RIOT (1)</vt:lpstr>
      <vt:lpstr>IoT Deployments Using RIOT (2)</vt:lpstr>
      <vt:lpstr>IoT Deployments Using RIOT (3)</vt:lpstr>
      <vt:lpstr>IoT Products &amp; Services Using RIOT</vt:lpstr>
      <vt:lpstr>RIOT on FIT/IoT-LAB Large Scale Testbed</vt:lpstr>
      <vt:lpstr>Learn RIOT</vt:lpstr>
      <vt:lpstr>Summary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306</cp:revision>
  <dcterms:created xsi:type="dcterms:W3CDTF">2015-06-05T07:23:35Z</dcterms:created>
  <dcterms:modified xsi:type="dcterms:W3CDTF">2026-09-28T09:30:06Z</dcterms:modified>
</cp:coreProperties>
</file>