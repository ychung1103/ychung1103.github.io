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62" r:id="rId3"/>
  </p:sldMasterIdLst>
  <p:notesMasterIdLst>
    <p:notesMasterId r:id="rId37"/>
  </p:notesMasterIdLst>
  <p:sldIdLst>
    <p:sldId id="256" r:id="rId4"/>
    <p:sldId id="258" r:id="rId5"/>
    <p:sldId id="289" r:id="rId6"/>
    <p:sldId id="547" r:id="rId7"/>
    <p:sldId id="516" r:id="rId8"/>
    <p:sldId id="548" r:id="rId9"/>
    <p:sldId id="518" r:id="rId10"/>
    <p:sldId id="531" r:id="rId11"/>
    <p:sldId id="522" r:id="rId12"/>
    <p:sldId id="572" r:id="rId13"/>
    <p:sldId id="526" r:id="rId14"/>
    <p:sldId id="527" r:id="rId15"/>
    <p:sldId id="550" r:id="rId16"/>
    <p:sldId id="551" r:id="rId17"/>
    <p:sldId id="552" r:id="rId18"/>
    <p:sldId id="553" r:id="rId19"/>
    <p:sldId id="555" r:id="rId20"/>
    <p:sldId id="556" r:id="rId21"/>
    <p:sldId id="557" r:id="rId22"/>
    <p:sldId id="558" r:id="rId23"/>
    <p:sldId id="559" r:id="rId24"/>
    <p:sldId id="560" r:id="rId25"/>
    <p:sldId id="561" r:id="rId26"/>
    <p:sldId id="562" r:id="rId27"/>
    <p:sldId id="563" r:id="rId28"/>
    <p:sldId id="564" r:id="rId29"/>
    <p:sldId id="565" r:id="rId30"/>
    <p:sldId id="566" r:id="rId31"/>
    <p:sldId id="567" r:id="rId32"/>
    <p:sldId id="568" r:id="rId33"/>
    <p:sldId id="569" r:id="rId34"/>
    <p:sldId id="570" r:id="rId35"/>
    <p:sldId id="571" r:id="rId3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193" autoAdjust="0"/>
    <p:restoredTop sz="74962"/>
  </p:normalViewPr>
  <p:slideViewPr>
    <p:cSldViewPr snapToGrid="0">
      <p:cViewPr>
        <p:scale>
          <a:sx n="87" d="100"/>
          <a:sy n="87" d="100"/>
        </p:scale>
        <p:origin x="5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856CC3-B24E-4972-A117-93FAE5858621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971FA0A-FAB1-45A4-AEFB-7676A3BE0E42}">
      <dgm:prSet/>
      <dgm:spPr/>
      <dgm:t>
        <a:bodyPr/>
        <a:lstStyle/>
        <a:p>
          <a:r>
            <a:rPr lang="en-US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Local Optimization: We proposed a dynamic allocation model and the MOSOS algorithm to address NP-hard resource allocation in single-cluster environments, achieving near-optimal solutions with polynomial complexity.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1E873-B0BF-409B-AAFE-18AC82DB614C}" type="parTrans" cxnId="{C6D1A8CE-D366-49D2-BA6F-1C067F25BBD2}">
      <dgm:prSet/>
      <dgm:spPr/>
      <dgm:t>
        <a:bodyPr/>
        <a:lstStyle/>
        <a:p>
          <a:endParaRPr lang="en-US"/>
        </a:p>
      </dgm:t>
    </dgm:pt>
    <dgm:pt modelId="{CD586945-6A38-4565-A18F-ECC5FAEE6C76}" type="sibTrans" cxnId="{C6D1A8CE-D366-49D2-BA6F-1C067F25BBD2}">
      <dgm:prSet/>
      <dgm:spPr/>
      <dgm:t>
        <a:bodyPr/>
        <a:lstStyle/>
        <a:p>
          <a:endParaRPr lang="en-US"/>
        </a:p>
      </dgm:t>
    </dgm:pt>
    <dgm:pt modelId="{F743B50E-E078-4C6E-92C5-7821C4B93E46}">
      <dgm:prSet/>
      <dgm:spPr/>
      <dgm:t>
        <a:bodyPr/>
        <a:lstStyle/>
        <a:p>
          <a:r>
            <a:rPr lang="en-US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Global Coordination: We tackled the subgraph isomorphism crisis for geo-distributed graph jobs via heuristic discovery (Cloud Crawlers) and game-theoretic resource contention resolution (RMBA), converging to Correlated Equilibrium.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F56DDD-3C80-4856-A1F9-51C5A7189FB3}" type="parTrans" cxnId="{39C2568A-3BD5-4B6B-878F-FEE02D0509E2}">
      <dgm:prSet/>
      <dgm:spPr/>
      <dgm:t>
        <a:bodyPr/>
        <a:lstStyle/>
        <a:p>
          <a:endParaRPr lang="en-US"/>
        </a:p>
      </dgm:t>
    </dgm:pt>
    <dgm:pt modelId="{D586601C-9EC8-4902-9FAB-A884F8750361}" type="sibTrans" cxnId="{39C2568A-3BD5-4B6B-878F-FEE02D0509E2}">
      <dgm:prSet/>
      <dgm:spPr/>
      <dgm:t>
        <a:bodyPr/>
        <a:lstStyle/>
        <a:p>
          <a:endParaRPr lang="en-US"/>
        </a:p>
      </dgm:t>
    </dgm:pt>
    <dgm:pt modelId="{807D770C-25D6-474B-AACE-1B1CEAD58003}">
      <dgm:prSet/>
      <dgm:spPr/>
      <dgm:t>
        <a:bodyPr/>
        <a:lstStyle/>
        <a:p>
          <a:r>
            <a:rPr lang="en-US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Network-Power Joint Optimization: HPS+ introduces an augmented hypergraph formulation that unifies computation placement and SDN-based routing, minimizing WAN traffic and total execution cost.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449386-7FFB-4B5B-8DDB-BC5AEBCD9E86}" type="parTrans" cxnId="{06537D83-3A4D-49A2-9B65-B3C196DAC1A3}">
      <dgm:prSet/>
      <dgm:spPr/>
      <dgm:t>
        <a:bodyPr/>
        <a:lstStyle/>
        <a:p>
          <a:endParaRPr lang="en-US"/>
        </a:p>
      </dgm:t>
    </dgm:pt>
    <dgm:pt modelId="{01276333-F707-44AA-A87E-61FA76AB3B9D}" type="sibTrans" cxnId="{06537D83-3A4D-49A2-9B65-B3C196DAC1A3}">
      <dgm:prSet/>
      <dgm:spPr/>
      <dgm:t>
        <a:bodyPr/>
        <a:lstStyle/>
        <a:p>
          <a:endParaRPr lang="en-US"/>
        </a:p>
      </dgm:t>
    </dgm:pt>
    <dgm:pt modelId="{F84F5D27-4A43-EC41-A059-DAC289CC5DCC}" type="pres">
      <dgm:prSet presAssocID="{0E856CC3-B24E-4972-A117-93FAE585862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7D468A7-ED43-7042-B8E6-D02EF02C4AC8}" type="pres">
      <dgm:prSet presAssocID="{9971FA0A-FAB1-45A4-AEFB-7676A3BE0E42}" presName="hierRoot1" presStyleCnt="0"/>
      <dgm:spPr/>
    </dgm:pt>
    <dgm:pt modelId="{7B990156-38DB-994E-9BA3-FBF2C9D2F3E9}" type="pres">
      <dgm:prSet presAssocID="{9971FA0A-FAB1-45A4-AEFB-7676A3BE0E42}" presName="composite" presStyleCnt="0"/>
      <dgm:spPr/>
    </dgm:pt>
    <dgm:pt modelId="{C6419AB5-F1FF-C64E-8A58-4F18832BAA8E}" type="pres">
      <dgm:prSet presAssocID="{9971FA0A-FAB1-45A4-AEFB-7676A3BE0E42}" presName="background" presStyleLbl="node0" presStyleIdx="0" presStyleCnt="3"/>
      <dgm:spPr/>
    </dgm:pt>
    <dgm:pt modelId="{FF6E08AF-6D9C-594F-AE88-244C7E655E80}" type="pres">
      <dgm:prSet presAssocID="{9971FA0A-FAB1-45A4-AEFB-7676A3BE0E42}" presName="text" presStyleLbl="fgAcc0" presStyleIdx="0" presStyleCnt="3">
        <dgm:presLayoutVars>
          <dgm:chPref val="3"/>
        </dgm:presLayoutVars>
      </dgm:prSet>
      <dgm:spPr/>
    </dgm:pt>
    <dgm:pt modelId="{1E20A4DF-A686-A944-8A3F-67B1C7A32AC6}" type="pres">
      <dgm:prSet presAssocID="{9971FA0A-FAB1-45A4-AEFB-7676A3BE0E42}" presName="hierChild2" presStyleCnt="0"/>
      <dgm:spPr/>
    </dgm:pt>
    <dgm:pt modelId="{A4E87C1C-50C8-F441-A0EB-872B069847A2}" type="pres">
      <dgm:prSet presAssocID="{F743B50E-E078-4C6E-92C5-7821C4B93E46}" presName="hierRoot1" presStyleCnt="0"/>
      <dgm:spPr/>
    </dgm:pt>
    <dgm:pt modelId="{7A20476A-50F9-1E42-85EE-8F3ECEC15200}" type="pres">
      <dgm:prSet presAssocID="{F743B50E-E078-4C6E-92C5-7821C4B93E46}" presName="composite" presStyleCnt="0"/>
      <dgm:spPr/>
    </dgm:pt>
    <dgm:pt modelId="{B716A40D-E67C-B441-A1A4-2F0E82338738}" type="pres">
      <dgm:prSet presAssocID="{F743B50E-E078-4C6E-92C5-7821C4B93E46}" presName="background" presStyleLbl="node0" presStyleIdx="1" presStyleCnt="3"/>
      <dgm:spPr/>
    </dgm:pt>
    <dgm:pt modelId="{383694F8-7951-B04A-A64F-4BCA3A100FEB}" type="pres">
      <dgm:prSet presAssocID="{F743B50E-E078-4C6E-92C5-7821C4B93E46}" presName="text" presStyleLbl="fgAcc0" presStyleIdx="1" presStyleCnt="3">
        <dgm:presLayoutVars>
          <dgm:chPref val="3"/>
        </dgm:presLayoutVars>
      </dgm:prSet>
      <dgm:spPr/>
    </dgm:pt>
    <dgm:pt modelId="{D60A6B6C-AE35-844A-9EB0-E8E387026A64}" type="pres">
      <dgm:prSet presAssocID="{F743B50E-E078-4C6E-92C5-7821C4B93E46}" presName="hierChild2" presStyleCnt="0"/>
      <dgm:spPr/>
    </dgm:pt>
    <dgm:pt modelId="{0E49EF7E-E558-5D4F-889B-1A8A642480C4}" type="pres">
      <dgm:prSet presAssocID="{807D770C-25D6-474B-AACE-1B1CEAD58003}" presName="hierRoot1" presStyleCnt="0"/>
      <dgm:spPr/>
    </dgm:pt>
    <dgm:pt modelId="{90AFB5D9-1729-8F47-9DD9-0E017B510325}" type="pres">
      <dgm:prSet presAssocID="{807D770C-25D6-474B-AACE-1B1CEAD58003}" presName="composite" presStyleCnt="0"/>
      <dgm:spPr/>
    </dgm:pt>
    <dgm:pt modelId="{4E2B9C26-9006-2549-B587-A9293CA9B84B}" type="pres">
      <dgm:prSet presAssocID="{807D770C-25D6-474B-AACE-1B1CEAD58003}" presName="background" presStyleLbl="node0" presStyleIdx="2" presStyleCnt="3"/>
      <dgm:spPr/>
    </dgm:pt>
    <dgm:pt modelId="{1049FF81-59E4-B74D-9370-77A234EE7464}" type="pres">
      <dgm:prSet presAssocID="{807D770C-25D6-474B-AACE-1B1CEAD58003}" presName="text" presStyleLbl="fgAcc0" presStyleIdx="2" presStyleCnt="3">
        <dgm:presLayoutVars>
          <dgm:chPref val="3"/>
        </dgm:presLayoutVars>
      </dgm:prSet>
      <dgm:spPr/>
    </dgm:pt>
    <dgm:pt modelId="{28685A6A-8F7C-A146-8915-8A1C98DEAA1F}" type="pres">
      <dgm:prSet presAssocID="{807D770C-25D6-474B-AACE-1B1CEAD58003}" presName="hierChild2" presStyleCnt="0"/>
      <dgm:spPr/>
    </dgm:pt>
  </dgm:ptLst>
  <dgm:cxnLst>
    <dgm:cxn modelId="{A4B0B92F-9DB5-5B44-94C4-1AAF8E5C9575}" type="presOf" srcId="{F743B50E-E078-4C6E-92C5-7821C4B93E46}" destId="{383694F8-7951-B04A-A64F-4BCA3A100FEB}" srcOrd="0" destOrd="0" presId="urn:microsoft.com/office/officeart/2005/8/layout/hierarchy1"/>
    <dgm:cxn modelId="{C0799872-A655-8C4A-8731-74AAF3A812F1}" type="presOf" srcId="{807D770C-25D6-474B-AACE-1B1CEAD58003}" destId="{1049FF81-59E4-B74D-9370-77A234EE7464}" srcOrd="0" destOrd="0" presId="urn:microsoft.com/office/officeart/2005/8/layout/hierarchy1"/>
    <dgm:cxn modelId="{06537D83-3A4D-49A2-9B65-B3C196DAC1A3}" srcId="{0E856CC3-B24E-4972-A117-93FAE5858621}" destId="{807D770C-25D6-474B-AACE-1B1CEAD58003}" srcOrd="2" destOrd="0" parTransId="{E7449386-7FFB-4B5B-8DDB-BC5AEBCD9E86}" sibTransId="{01276333-F707-44AA-A87E-61FA76AB3B9D}"/>
    <dgm:cxn modelId="{39C2568A-3BD5-4B6B-878F-FEE02D0509E2}" srcId="{0E856CC3-B24E-4972-A117-93FAE5858621}" destId="{F743B50E-E078-4C6E-92C5-7821C4B93E46}" srcOrd="1" destOrd="0" parTransId="{80F56DDD-3C80-4856-A1F9-51C5A7189FB3}" sibTransId="{D586601C-9EC8-4902-9FAB-A884F8750361}"/>
    <dgm:cxn modelId="{5F42F0B0-B050-F34C-8A9F-72EDBC393D39}" type="presOf" srcId="{9971FA0A-FAB1-45A4-AEFB-7676A3BE0E42}" destId="{FF6E08AF-6D9C-594F-AE88-244C7E655E80}" srcOrd="0" destOrd="0" presId="urn:microsoft.com/office/officeart/2005/8/layout/hierarchy1"/>
    <dgm:cxn modelId="{C6D1A8CE-D366-49D2-BA6F-1C067F25BBD2}" srcId="{0E856CC3-B24E-4972-A117-93FAE5858621}" destId="{9971FA0A-FAB1-45A4-AEFB-7676A3BE0E42}" srcOrd="0" destOrd="0" parTransId="{BBB1E873-B0BF-409B-AAFE-18AC82DB614C}" sibTransId="{CD586945-6A38-4565-A18F-ECC5FAEE6C76}"/>
    <dgm:cxn modelId="{28037DDE-E59C-5D48-88F1-D3D8D7312CD1}" type="presOf" srcId="{0E856CC3-B24E-4972-A117-93FAE5858621}" destId="{F84F5D27-4A43-EC41-A059-DAC289CC5DCC}" srcOrd="0" destOrd="0" presId="urn:microsoft.com/office/officeart/2005/8/layout/hierarchy1"/>
    <dgm:cxn modelId="{7AEA68DF-DDF5-4E4E-9A94-2FDFEF88F5E0}" type="presParOf" srcId="{F84F5D27-4A43-EC41-A059-DAC289CC5DCC}" destId="{77D468A7-ED43-7042-B8E6-D02EF02C4AC8}" srcOrd="0" destOrd="0" presId="urn:microsoft.com/office/officeart/2005/8/layout/hierarchy1"/>
    <dgm:cxn modelId="{6AB3EDD1-3B63-5042-A74B-91A65A4D618D}" type="presParOf" srcId="{77D468A7-ED43-7042-B8E6-D02EF02C4AC8}" destId="{7B990156-38DB-994E-9BA3-FBF2C9D2F3E9}" srcOrd="0" destOrd="0" presId="urn:microsoft.com/office/officeart/2005/8/layout/hierarchy1"/>
    <dgm:cxn modelId="{EBF5E7AC-57AD-FF44-9ED4-57BB617D8729}" type="presParOf" srcId="{7B990156-38DB-994E-9BA3-FBF2C9D2F3E9}" destId="{C6419AB5-F1FF-C64E-8A58-4F18832BAA8E}" srcOrd="0" destOrd="0" presId="urn:microsoft.com/office/officeart/2005/8/layout/hierarchy1"/>
    <dgm:cxn modelId="{7A43D4B0-20B7-8B4A-8BA1-524E7938D5E3}" type="presParOf" srcId="{7B990156-38DB-994E-9BA3-FBF2C9D2F3E9}" destId="{FF6E08AF-6D9C-594F-AE88-244C7E655E80}" srcOrd="1" destOrd="0" presId="urn:microsoft.com/office/officeart/2005/8/layout/hierarchy1"/>
    <dgm:cxn modelId="{C2295EF9-B118-E14A-A99D-97CD08F5A8EF}" type="presParOf" srcId="{77D468A7-ED43-7042-B8E6-D02EF02C4AC8}" destId="{1E20A4DF-A686-A944-8A3F-67B1C7A32AC6}" srcOrd="1" destOrd="0" presId="urn:microsoft.com/office/officeart/2005/8/layout/hierarchy1"/>
    <dgm:cxn modelId="{C55FEA99-A83D-B84F-AE24-E27B1D145A87}" type="presParOf" srcId="{F84F5D27-4A43-EC41-A059-DAC289CC5DCC}" destId="{A4E87C1C-50C8-F441-A0EB-872B069847A2}" srcOrd="1" destOrd="0" presId="urn:microsoft.com/office/officeart/2005/8/layout/hierarchy1"/>
    <dgm:cxn modelId="{5DDEFED3-8E8F-E542-8990-600BF18D4B8E}" type="presParOf" srcId="{A4E87C1C-50C8-F441-A0EB-872B069847A2}" destId="{7A20476A-50F9-1E42-85EE-8F3ECEC15200}" srcOrd="0" destOrd="0" presId="urn:microsoft.com/office/officeart/2005/8/layout/hierarchy1"/>
    <dgm:cxn modelId="{F93197A7-189A-214E-922D-7B22406AEA9A}" type="presParOf" srcId="{7A20476A-50F9-1E42-85EE-8F3ECEC15200}" destId="{B716A40D-E67C-B441-A1A4-2F0E82338738}" srcOrd="0" destOrd="0" presId="urn:microsoft.com/office/officeart/2005/8/layout/hierarchy1"/>
    <dgm:cxn modelId="{7FF78386-B246-1C48-A18A-74EDC4304607}" type="presParOf" srcId="{7A20476A-50F9-1E42-85EE-8F3ECEC15200}" destId="{383694F8-7951-B04A-A64F-4BCA3A100FEB}" srcOrd="1" destOrd="0" presId="urn:microsoft.com/office/officeart/2005/8/layout/hierarchy1"/>
    <dgm:cxn modelId="{30B760CF-440F-414A-93A2-DEA1094FDB1B}" type="presParOf" srcId="{A4E87C1C-50C8-F441-A0EB-872B069847A2}" destId="{D60A6B6C-AE35-844A-9EB0-E8E387026A64}" srcOrd="1" destOrd="0" presId="urn:microsoft.com/office/officeart/2005/8/layout/hierarchy1"/>
    <dgm:cxn modelId="{53BE2192-3E4A-1E44-A704-4B17D8684908}" type="presParOf" srcId="{F84F5D27-4A43-EC41-A059-DAC289CC5DCC}" destId="{0E49EF7E-E558-5D4F-889B-1A8A642480C4}" srcOrd="2" destOrd="0" presId="urn:microsoft.com/office/officeart/2005/8/layout/hierarchy1"/>
    <dgm:cxn modelId="{F19D9369-9675-E447-A364-2D05A15C9991}" type="presParOf" srcId="{0E49EF7E-E558-5D4F-889B-1A8A642480C4}" destId="{90AFB5D9-1729-8F47-9DD9-0E017B510325}" srcOrd="0" destOrd="0" presId="urn:microsoft.com/office/officeart/2005/8/layout/hierarchy1"/>
    <dgm:cxn modelId="{78908793-B783-2C45-ACDE-9B31DD8BD4C5}" type="presParOf" srcId="{90AFB5D9-1729-8F47-9DD9-0E017B510325}" destId="{4E2B9C26-9006-2549-B587-A9293CA9B84B}" srcOrd="0" destOrd="0" presId="urn:microsoft.com/office/officeart/2005/8/layout/hierarchy1"/>
    <dgm:cxn modelId="{01B8EC8B-4A17-4848-B7CA-43623731A810}" type="presParOf" srcId="{90AFB5D9-1729-8F47-9DD9-0E017B510325}" destId="{1049FF81-59E4-B74D-9370-77A234EE7464}" srcOrd="1" destOrd="0" presId="urn:microsoft.com/office/officeart/2005/8/layout/hierarchy1"/>
    <dgm:cxn modelId="{94EDC798-A2E6-A740-845E-22D335AAA0B8}" type="presParOf" srcId="{0E49EF7E-E558-5D4F-889B-1A8A642480C4}" destId="{28685A6A-8F7C-A146-8915-8A1C98DEAA1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19AB5-F1FF-C64E-8A58-4F18832BAA8E}">
      <dsp:nvSpPr>
        <dsp:cNvPr id="0" name=""/>
        <dsp:cNvSpPr/>
      </dsp:nvSpPr>
      <dsp:spPr>
        <a:xfrm>
          <a:off x="0" y="1305211"/>
          <a:ext cx="3086099" cy="19596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F6E08AF-6D9C-594F-AE88-244C7E655E80}">
      <dsp:nvSpPr>
        <dsp:cNvPr id="0" name=""/>
        <dsp:cNvSpPr/>
      </dsp:nvSpPr>
      <dsp:spPr>
        <a:xfrm>
          <a:off x="342900" y="1630966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Local Optimization: We proposed a dynamic allocation model and the MOSOS algorithm to address NP-hard resource allocation in single-cluster environments, achieving near-optimal solutions with polynomial complexity.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0297" y="1688363"/>
        <a:ext cx="2971305" cy="1844879"/>
      </dsp:txXfrm>
    </dsp:sp>
    <dsp:sp modelId="{B716A40D-E67C-B441-A1A4-2F0E82338738}">
      <dsp:nvSpPr>
        <dsp:cNvPr id="0" name=""/>
        <dsp:cNvSpPr/>
      </dsp:nvSpPr>
      <dsp:spPr>
        <a:xfrm>
          <a:off x="3771900" y="1305211"/>
          <a:ext cx="3086099" cy="19596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83694F8-7951-B04A-A64F-4BCA3A100FEB}">
      <dsp:nvSpPr>
        <dsp:cNvPr id="0" name=""/>
        <dsp:cNvSpPr/>
      </dsp:nvSpPr>
      <dsp:spPr>
        <a:xfrm>
          <a:off x="4114800" y="1630966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Global Coordination: We tackled the subgraph isomorphism crisis for geo-distributed graph jobs via heuristic discovery (Cloud Crawlers) and game-theoretic resource contention resolution (RMBA), converging to Correlated Equilibrium.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72197" y="1688363"/>
        <a:ext cx="2971305" cy="1844879"/>
      </dsp:txXfrm>
    </dsp:sp>
    <dsp:sp modelId="{4E2B9C26-9006-2549-B587-A9293CA9B84B}">
      <dsp:nvSpPr>
        <dsp:cNvPr id="0" name=""/>
        <dsp:cNvSpPr/>
      </dsp:nvSpPr>
      <dsp:spPr>
        <a:xfrm>
          <a:off x="7543800" y="1305211"/>
          <a:ext cx="3086099" cy="19596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049FF81-59E4-B74D-9370-77A234EE7464}">
      <dsp:nvSpPr>
        <dsp:cNvPr id="0" name=""/>
        <dsp:cNvSpPr/>
      </dsp:nvSpPr>
      <dsp:spPr>
        <a:xfrm>
          <a:off x="7886699" y="1630966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Network-Power Joint Optimization: HPS+ introduces an augmented hypergraph formulation that unifies computation placement and SDN-based routing, minimizing WAN traffic and total execution cost.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944096" y="1688363"/>
        <a:ext cx="2971305" cy="1844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b="0" i="0" dirty="0">
                <a:effectLst/>
                <a:latin typeface="-apple-system"/>
              </a:rPr>
              <a:t>"Good morning everyone. I'm Zhao Jia from CUHK-Shenzhen. Today I'll present our work on </a:t>
            </a:r>
            <a:r>
              <a:rPr lang="en" altLang="zh-CN" b="1" i="0" dirty="0">
                <a:effectLst/>
                <a:latin typeface="-apple-system"/>
              </a:rPr>
              <a:t>Efficient Scheduling in Distributed Operating Systems</a:t>
            </a:r>
            <a:r>
              <a:rPr lang="en" altLang="zh-CN" b="0" i="0" dirty="0">
                <a:effectLst/>
                <a:latin typeface="-apple-system"/>
              </a:rPr>
              <a:t>, specifically targeting the challenges in geo-distributed data centers. This is joint work with my advisor and colleagues."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201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endParaRPr lang="en" altLang="zh-CN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950"/>
              </a:lnSpc>
              <a:spcAft>
                <a:spcPts val="1200"/>
              </a:spcAft>
            </a:pPr>
            <a:endParaRPr lang="en" altLang="zh-CN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58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F669-6ECF-893F-6001-3836EE70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86F6E6-A212-2ADC-FAE9-8FAA7F37B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86FEC5-BB96-7FF1-37A0-673D195F1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1840E7-7F99-B698-BFEA-F31DC9245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9131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594DE-C84E-FA5D-881C-11C00C260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610F16A-8979-DAA0-095E-73D1BAC50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48B6AD-5C4E-85DD-F7B2-3A8A42507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068560-4462-37DB-71C2-6F49FABE2E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256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0F3B5-F53B-F663-21BD-F22005B1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2DFF20-5C2D-36F0-4CF1-33C989D75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C818F6-098A-F951-CD55-9BA2DB5C6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4AC931-C12B-1383-6200-D8238179F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5663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A483-D863-9137-6851-2C639888B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430F50-7535-6498-BB97-7D0D57D0C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B97B8E-8D10-BDC6-AF72-E7958718A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D780D7-042B-B8D3-6A10-1FAE8D983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126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E637C-3EE8-23B2-44D4-80BA1D07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C8B97B-83D1-D5F0-E56C-32484D96D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1BDB5D-DAA7-46EC-FAD8-6EA4CB790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F061DC-9610-58B0-3DC5-6AC93B118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108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4937-E38F-C503-9237-7D19C3993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6B7E3D-21FD-4087-C175-F56B3451C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BDDD5D-A310-B9D6-2B85-41BE6D8BD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6D14E2-07EC-1272-1FCA-B03454A41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2604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9E247-2532-D469-4641-906277FD8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56E4EB-C901-FD55-B827-EC93C88A4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AABC50-7B73-C9D5-CC08-326899E1D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F0FEB9-4308-33B1-497A-BC0B3AED5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189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5E08E-A4F4-244A-4D39-F3309E602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660A1B-1190-911C-596D-DC9378871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F33E1F-8A02-7852-6945-B1A7C6097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7E4E89-5811-524B-8AF7-94032BC64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962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5D7B5-BA5E-5E2E-9446-23DF2043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50EA07-C0A3-E22A-E6C6-04BC8BDB8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1F04E5-A271-EF9B-8DA8-40081C2F1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B43D36-F662-E0FE-FD7B-B1B516894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42366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7FD9C-5B78-7FAB-B76B-D94675C2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9C126F-8057-0D22-B9FE-4F2B16A61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365494-2B2F-BE98-CA1D-1D47CCFD5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0107B4-6F5B-5420-C0BF-E4E0E79AD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4465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EE4E3-23B1-A03D-B72F-9F46D7940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D512C8-F46D-35F3-C2B2-17F661688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10570C-55E5-75CD-925E-CAE0B88EA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  <a:buNone/>
            </a:pPr>
            <a:endParaRPr lang="en" altLang="zh-C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FA332F-A3B4-8E44-3E22-C23D78EDD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98967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0DEC8-172F-2936-9921-145C4C3D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570BDB-738A-5B4A-79F1-5AD37A920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79EFE9-87F4-CBFF-19BB-B21067A25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E90872-87BE-0655-DC55-F511494AC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0753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F7FA-B9C3-7548-E0CC-1184625A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B2B130-8F4D-9E22-AA0A-8DBDFC678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4211A6-DE25-3E94-9D74-9D5C98030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  <a:buNone/>
            </a:pPr>
            <a:endParaRPr lang="en" altLang="zh-C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0F3EEE-A6AF-05E4-2D14-1CFF3A67A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811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1DB67-CC3D-679A-2E6E-367A05F0A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4055A1-B025-7ABE-ECB9-4E187F2BE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F653ECAC-974B-FA42-C19A-358B27E6FB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F653ECAC-974B-FA42-C19A-358B27E6FB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200" i="0" dirty="0" err="1">
                    <a:effectLst/>
                    <a:latin typeface="Cambria Math" panose="02040503050406030204" pitchFamily="18" charset="0"/>
                  </a:rPr>
                  <a:t>𝑠</a:t>
                </a:r>
                <a:r>
                  <a:rPr kumimoji="1" lang="en-US" altLang="zh-CN" sz="1200" i="0" dirty="0">
                    <a:effectLst/>
                    <a:latin typeface="Cambria Math" panose="02040503050406030204" pitchFamily="18" charset="0"/>
                  </a:rPr>
                  <a:t>_</a:t>
                </a:r>
                <a:r>
                  <a:rPr kumimoji="1" lang="en-US" altLang="zh-CN" sz="1200" i="0" dirty="0" err="1">
                    <a:effectLst/>
                    <a:latin typeface="Cambria Math" panose="02040503050406030204" pitchFamily="18" charset="0"/>
                  </a:rPr>
                  <a:t>𝑓</a:t>
                </a:r>
                <a:r>
                  <a:rPr kumimoji="1" lang="en-US" altLang="zh-CN" sz="1200" dirty="0">
                    <a:effectLst/>
                  </a:rPr>
                  <a:t>: Size of input file.</a:t>
                </a: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200" i="0" dirty="0" err="1">
                    <a:effectLst/>
                    <a:latin typeface="Cambria Math" panose="02040503050406030204" pitchFamily="18" charset="0"/>
                  </a:rPr>
                  <a:t>𝑝</a:t>
                </a:r>
                <a:r>
                  <a:rPr kumimoji="1" lang="en-US" altLang="zh-CN" sz="1200" i="0" dirty="0">
                    <a:effectLst/>
                    <a:latin typeface="Cambria Math" panose="02040503050406030204" pitchFamily="18" charset="0"/>
                  </a:rPr>
                  <a:t>_</a:t>
                </a:r>
                <a:r>
                  <a:rPr kumimoji="1" lang="en-US" altLang="zh-CN" sz="1200" i="0" dirty="0" err="1">
                    <a:effectLst/>
                    <a:latin typeface="Cambria Math" panose="02040503050406030204" pitchFamily="18" charset="0"/>
                  </a:rPr>
                  <a:t>𝑖</a:t>
                </a:r>
                <a:r>
                  <a:rPr kumimoji="1" lang="en-US" altLang="zh-CN" sz="1200" dirty="0">
                    <a:effectLst/>
                  </a:rPr>
                  <a:t>: CPU Execution Time.</a:t>
                </a:r>
              </a:p>
              <a:p>
                <a:endParaRPr kumimoji="1"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A1A75F-7EAC-57F1-CE04-84EABD60B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43355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5CA7-0FC4-545B-45EB-85C43B2C2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20FB469-F0D9-5C27-7B12-5EB1BDF29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B1AF348-BC35-1D49-3C3F-79FC5DD36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35059F-C3E1-F977-89F3-069889573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6547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7914-057B-80DA-3D15-E3D181E9B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12CFA-211E-D2C2-9DC6-236C179FD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43849E-E407-1489-7434-DE36C78E5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15700B-B46F-B56F-7E7A-DEC6770EC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5203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BD6FC-60DD-52B9-F4EF-73A01114E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6696A0-A539-ACED-53E5-747FA724E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E9CFE4-D307-FEA7-AE56-1B600133A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BCA1C1-7613-4C69-49B7-1B8EB7A07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7175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E2DD-42BC-2E68-A7D7-6C6BE235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4E681E-A7B6-4527-44A0-F68F4DBD8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DCD7F5-2C03-116C-018E-FA3A7690A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2507A-CF04-C7FD-6DF2-386D16DF4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817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186F8-A144-494B-D271-23E0B21D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67D4B99-A7A9-44CE-EE40-DC67D9164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933B05C-5B25-AC71-5342-722D8308B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09E03D-795B-5F33-8794-46AF35F7C6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4044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FD19-041C-D6B7-4113-741B2FAD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B3D621-4CD5-4618-DADF-4A3F4F323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B23336-40DF-5DAA-9B16-5B70DADAC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D6905-6D85-8B0D-B2E0-476486B59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392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5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5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5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5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5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5"/>
            </a:lvl1pPr>
            <a:lvl2pPr>
              <a:defRPr sz="2135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5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anose="020B0604020202090204" pitchFamily="34" charset="0"/>
                <a:ea typeface="PMingLiU" pitchFamily="18" charset="-120"/>
                <a:cs typeface="Arial" panose="020B0604020202090204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anose="020B0604020202090204" pitchFamily="34" charset="0"/>
              <a:ea typeface="PMingLiU" pitchFamily="18" charset="-120"/>
              <a:cs typeface="Arial" panose="020B060402020209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PMingLiU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90204" pitchFamily="34" charset="0"/>
                <a:ea typeface="PMingLiU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50305040509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503050405090304" pitchFamily="18" charset="0"/>
                  <a:ea typeface="標楷體" pitchFamily="65" charset="-120"/>
                  <a:cs typeface="Times New Roman" panose="0202050305040509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503050405090304" pitchFamily="18" charset="0"/>
                  <a:ea typeface="DengXian"/>
                  <a:cs typeface="Times New Roman" panose="0202050305040509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503050405090304" pitchFamily="18" charset="0"/>
                  <a:ea typeface="標楷體" pitchFamily="65" charset="-120"/>
                  <a:cs typeface="Times New Roman" panose="0202050305040509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itchFamily="34" charset="0"/>
                <a:ea typeface="PMingLiU" pitchFamily="18" charset="-120"/>
                <a:cs typeface="Times New Roman" panose="02020503050405090304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3735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panose="020B0604020202090204" pitchFamily="34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71" y="1406845"/>
            <a:ext cx="11396871" cy="1882455"/>
          </a:xfrm>
        </p:spPr>
        <p:txBody>
          <a:bodyPr/>
          <a:lstStyle/>
          <a:p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Efficient Scheduling in Distributed OS</a:t>
            </a:r>
            <a:endParaRPr lang="zh-TW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Zhao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Jia</a:t>
            </a:r>
            <a:endParaRPr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  <a:endParaRPr lang="en-US" altLang="zh-TW" sz="2935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9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Related</a:t>
            </a:r>
            <a:r>
              <a:rPr lang="zh-CN" altLang="en-US" sz="29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9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Work</a:t>
            </a:r>
          </a:p>
          <a:p>
            <a:r>
              <a:rPr lang="en-US" altLang="zh-CN" sz="29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Preliminaries</a:t>
            </a:r>
          </a:p>
          <a:p>
            <a:r>
              <a:rPr lang="en-US" altLang="zh-CN" sz="29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Proposed Methods</a:t>
            </a:r>
          </a:p>
          <a:p>
            <a:r>
              <a:rPr lang="en-US" altLang="zh-CN" sz="29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Performance Evaluation </a:t>
            </a:r>
          </a:p>
          <a:p>
            <a:r>
              <a:rPr lang="en-US" altLang="zh-CN" sz="2935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Conclusions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  <a:endParaRPr lang="en-US" altLang="zh-TW" sz="40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Related</a:t>
            </a:r>
            <a:r>
              <a:rPr lang="zh-CN" altLang="en-US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3" name="標題 3">
            <a:extLst>
              <a:ext uri="{FF2B5EF4-FFF2-40B4-BE49-F238E27FC236}">
                <a16:creationId xmlns:a16="http://schemas.microsoft.com/office/drawing/2014/main" id="{FBA62EFC-92DD-F948-1D4B-32CDB32C7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Efficient Scheduling in Distributed OS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Data-Intensive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86248"/>
            <a:ext cx="5384800" cy="4227699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 Virtual Observatory (China-VO)</a:t>
            </a:r>
          </a:p>
          <a:p>
            <a:pPr lvl="1">
              <a:lnSpc>
                <a:spcPct val="90000"/>
              </a:lnSpc>
            </a:pPr>
            <a:r>
              <a:rPr lang="en-GB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Telescopes receive and generate Terabytes of data across remote locations </a:t>
            </a:r>
          </a:p>
          <a:p>
            <a:pPr lvl="1">
              <a:lnSpc>
                <a:spcPct val="90000"/>
              </a:lnSpc>
            </a:pPr>
            <a:r>
              <a:rPr lang="en-GB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requires extract information from wavebands (X-ray, Gamma-ray)</a:t>
            </a:r>
          </a:p>
          <a:p>
            <a:pPr lvl="1">
              <a:lnSpc>
                <a:spcPct val="90000"/>
              </a:lnSpc>
            </a:pPr>
            <a:r>
              <a:rPr lang="en-GB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Aggregating to a single DC causes </a:t>
            </a:r>
            <a:r>
              <a:rPr lang="en-GB" altLang="zh-C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congestion and latency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GB" altLang="zh-CN" sz="2100" dirty="0"/>
          </a:p>
        </p:txBody>
      </p:sp>
      <p:pic>
        <p:nvPicPr>
          <p:cNvPr id="6" name="图片 5" descr="图示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307588"/>
            <a:ext cx="5384800" cy="3863594"/>
          </a:xfrm>
          <a:prstGeom prst="rect">
            <a:avLst/>
          </a:prstGeom>
          <a:noFill/>
        </p:spPr>
      </p:pic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408CCA-4AAF-D6F8-77DF-370098497531}"/>
              </a:ext>
            </a:extLst>
          </p:cNvPr>
          <p:cNvSpPr txBox="1"/>
          <p:nvPr/>
        </p:nvSpPr>
        <p:spPr>
          <a:xfrm>
            <a:off x="6506308" y="5443716"/>
            <a:ext cx="289694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Fig1.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Structure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China-VO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3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Introduction - </a:t>
            </a:r>
            <a:r>
              <a:rPr lang="en-US" sz="3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Geo-Distributed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538"/>
            <a:ext cx="10988842" cy="4777654"/>
          </a:xfrm>
        </p:spPr>
        <p:txBody>
          <a:bodyPr/>
          <a:lstStyle/>
          <a:p>
            <a:r>
              <a:rPr lang="en-GB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Distributed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Evolution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：</a:t>
            </a:r>
            <a:r>
              <a:rPr lang="en-GB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Cloud computing now spans globally distributed datacenters (DCs).</a:t>
            </a:r>
          </a:p>
          <a:p>
            <a:pPr lvl="1"/>
            <a:r>
              <a:rPr 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Need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GB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Processing large-scale applications (AI, Big Data) close to the source.</a:t>
            </a:r>
          </a:p>
          <a:p>
            <a:pPr lvl="1"/>
            <a:r>
              <a:rPr lang="en-GB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Benefits:</a:t>
            </a:r>
            <a:r>
              <a:rPr lang="zh-CN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GB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Low latency for end-users.</a:t>
            </a:r>
          </a:p>
          <a:p>
            <a:pPr lvl="2"/>
            <a:r>
              <a:rPr lang="en-GB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Leveraging regional resource pricing.</a:t>
            </a:r>
          </a:p>
          <a:p>
            <a:pPr marL="914400" lvl="2" indent="0">
              <a:buNone/>
            </a:pPr>
            <a:endParaRPr lang="en-GB" altLang="zh-CN" sz="1335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altLang="zh-CN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1800" dirty="0"/>
              <a:t>The Distributed OS Views </a:t>
            </a:r>
          </a:p>
          <a:p>
            <a:pPr>
              <a:lnSpc>
                <a:spcPct val="90000"/>
              </a:lnSpc>
            </a:pPr>
            <a:r>
              <a:rPr lang="en-GB" altLang="zh-CN" sz="1800" dirty="0"/>
              <a:t>Complex Structures: Jobs are no longer independent tasks; they are </a:t>
            </a:r>
            <a:r>
              <a:rPr lang="en-GB" altLang="zh-CN" sz="1800" b="1" i="1" dirty="0"/>
              <a:t>Graph Jobs</a:t>
            </a:r>
            <a:r>
              <a:rPr lang="en-GB" altLang="zh-CN" sz="1800" dirty="0"/>
              <a:t>.</a:t>
            </a:r>
            <a:endParaRPr lang="en-US" altLang="zh-CN" sz="1800" dirty="0"/>
          </a:p>
          <a:p>
            <a:pPr>
              <a:lnSpc>
                <a:spcPct val="90000"/>
              </a:lnSpc>
            </a:pPr>
            <a:r>
              <a:rPr lang="en-US" altLang="zh-CN" sz="1800" dirty="0"/>
              <a:t>More</a:t>
            </a:r>
            <a:r>
              <a:rPr lang="zh-CN" altLang="en-US" sz="1800" dirty="0"/>
              <a:t> </a:t>
            </a:r>
            <a:r>
              <a:rPr lang="en-US" altLang="zh-CN" sz="1800" dirty="0"/>
              <a:t>to</a:t>
            </a:r>
            <a:r>
              <a:rPr lang="zh-CN" altLang="en-US" sz="1800" dirty="0"/>
              <a:t> </a:t>
            </a:r>
            <a:r>
              <a:rPr lang="en-US" altLang="zh-CN" sz="1800" dirty="0"/>
              <a:t>consider: real time power cost + network cost</a:t>
            </a:r>
            <a:endParaRPr lang="en-GB" altLang="zh-CN" sz="1800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93B28B-9058-911A-65A6-EF2D2E0DA3D7}"/>
              </a:ext>
            </a:extLst>
          </p:cNvPr>
          <p:cNvSpPr txBox="1"/>
          <p:nvPr/>
        </p:nvSpPr>
        <p:spPr>
          <a:xfrm>
            <a:off x="5911173" y="4587056"/>
            <a:ext cx="600677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Fig2.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Illustration of aggregated flow and its multi-path routing.</a:t>
            </a:r>
            <a:endParaRPr kumimoji="1" lang="zh-CN" altLang="en-US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229CFF14-F9DE-DB90-948F-11894D310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721" y="1545841"/>
            <a:ext cx="5335679" cy="2752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  <a:endParaRPr lang="en-US" altLang="zh-TW" sz="4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Related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標題 3">
            <a:extLst>
              <a:ext uri="{FF2B5EF4-FFF2-40B4-BE49-F238E27FC236}">
                <a16:creationId xmlns:a16="http://schemas.microsoft.com/office/drawing/2014/main" id="{8FA8E361-D514-F145-FA4C-E2474698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Efficient Scheduling in Distributed OS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kumimoji="1" lang="zh-CN" alt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</a:t>
            </a:r>
            <a:r>
              <a:rPr kumimoji="1" lang="zh-CN" alt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zh-CN" alt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lgorithms(1/2)</a:t>
            </a:r>
            <a:endParaRPr lang="zh-TW" alt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29736"/>
            <a:ext cx="5384800" cy="2019299"/>
          </a:xfrm>
          <a:prstGeom prst="rect">
            <a:avLst/>
          </a:prstGeom>
          <a:noFill/>
        </p:spPr>
      </p:pic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818064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is a critical process involving the determination of which tasks to perform within specific intervals of time, aiming to optimize the flow of data across one or more objects</a:t>
            </a:r>
          </a:p>
          <a:p>
            <a:pPr>
              <a:lnSpc>
                <a:spcPct val="90000"/>
              </a:lnSpc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task scheduling scheme has been divided into four groups: heuristics scheduling, meta-heuristics scheduling,  hybrid scheduling and learning based scheduling</a:t>
            </a:r>
          </a:p>
          <a:p>
            <a:pPr lvl="1">
              <a:lnSpc>
                <a:spcPct val="90000"/>
              </a:lnSpc>
            </a:pPr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：</a:t>
            </a:r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intuitive, rule-based scheduling strategies that rely on greedy principles or simple priority rules to generate feasible solutions quickly.</a:t>
            </a:r>
          </a:p>
          <a:p>
            <a:pPr lvl="1">
              <a:lnSpc>
                <a:spcPct val="90000"/>
              </a:lnSpc>
            </a:pPr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Meta-Heuristic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： </a:t>
            </a:r>
            <a:r>
              <a:rPr lang="en-GB" altLang="zh-CN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are general-purpose optimization frameworks inspired by natural phenomena or biological behaviors. They explore the solution space efficiently to find near-optimal results.</a:t>
            </a:r>
          </a:p>
          <a:p>
            <a:pPr lvl="1">
              <a:lnSpc>
                <a:spcPct val="90000"/>
              </a:lnSpc>
            </a:pPr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：</a:t>
            </a:r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combine two or more distinct algorithms to leverage their complementary strengths and improve overall scheduling performance.</a:t>
            </a:r>
          </a:p>
          <a:p>
            <a:pPr lvl="1">
              <a:lnSpc>
                <a:spcPct val="90000"/>
              </a:lnSpc>
            </a:pPr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Based Model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GB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use machine learning or data-driven techniques to learn scheduling patterns from historical data, enabling adaptive and intelligent decision-making.</a:t>
            </a:r>
            <a:endParaRPr lang="en-GB" altLang="zh-CN" sz="1400" b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9BA3A9-D674-F166-FC80-B47C9FD5096E}"/>
              </a:ext>
            </a:extLst>
          </p:cNvPr>
          <p:cNvSpPr txBox="1"/>
          <p:nvPr/>
        </p:nvSpPr>
        <p:spPr>
          <a:xfrm>
            <a:off x="609600" y="4249035"/>
            <a:ext cx="5459059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Fig3.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latin typeface="-apple-system"/>
                <a:ea typeface="標楷體" pitchFamily="65" charset="-120"/>
                <a:cs typeface="Times New Roman" panose="02020603050405020304" pitchFamily="18" charset="0"/>
              </a:rPr>
              <a:t>F</a:t>
            </a:r>
            <a:r>
              <a:rPr lang="en" altLang="zh-CN" b="0" i="0" dirty="0">
                <a:effectLst/>
                <a:latin typeface="-apple-system"/>
              </a:rPr>
              <a:t>our categories</a:t>
            </a:r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or current Task Scheduling Models</a:t>
            </a:r>
            <a:endParaRPr kumimoji="1" lang="zh-CN" altLang="en-US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Related</a:t>
            </a:r>
            <a:r>
              <a:rPr kumimoji="1"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kumimoji="1"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Works - Gap</a:t>
            </a:r>
            <a:endParaRPr kumimoji="1" lang="zh-TW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86540" y="1077686"/>
            <a:ext cx="10112829" cy="3494314"/>
          </a:xfrm>
        </p:spPr>
        <p:txBody>
          <a:bodyPr/>
          <a:lstStyle/>
          <a:p>
            <a:r>
              <a:rPr lang="en-US" altLang="zh-TW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Core Research Gaps Addressed</a:t>
            </a:r>
          </a:p>
          <a:p>
            <a:pPr lvl="1"/>
            <a:r>
              <a:rPr lang="en-US" altLang="zh-TW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Most existing works lack emphasis on cloud dynamicity (resource availability &amp; task arrival variability)</a:t>
            </a:r>
          </a:p>
          <a:p>
            <a:pPr lvl="1"/>
            <a:r>
              <a:rPr lang="en-US" altLang="zh-TW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Few approaches tackle multi-objective optimization (simultaneous minimization of </a:t>
            </a:r>
            <a:r>
              <a:rPr lang="en-US" altLang="zh-TW" sz="18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makespan</a:t>
            </a:r>
            <a:r>
              <a:rPr lang="en-US" altLang="zh-TW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power/cost)</a:t>
            </a:r>
          </a:p>
          <a:p>
            <a:pPr lvl="1"/>
            <a:r>
              <a:rPr lang="en-US" altLang="zh-TW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Conflicts between execution time and resource cost remain unresolved in many single-objective methods</a:t>
            </a:r>
          </a:p>
          <a:p>
            <a:pPr lvl="1"/>
            <a:endParaRPr lang="en-US" altLang="zh-TW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90000"/>
              </a:lnSpc>
            </a:pPr>
            <a:r>
              <a:rPr lang="en-GB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The Gap:</a:t>
            </a:r>
          </a:p>
          <a:p>
            <a:pPr lvl="1">
              <a:lnSpc>
                <a:spcPct val="90000"/>
              </a:lnSpc>
            </a:pPr>
            <a:r>
              <a:rPr lang="en-GB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A lack of joint optimization for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GB" altLang="zh-CN" sz="18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Computation + Power + Network</a:t>
            </a:r>
            <a:r>
              <a:rPr lang="zh-CN" altLang="en-US" sz="18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”</a:t>
            </a:r>
            <a:endParaRPr lang="en-US" altLang="zh-TW" sz="1800" i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1"/>
            <a:endParaRPr lang="en-US" altLang="zh-TW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7" name="图片 6" descr="图示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136" y="3608325"/>
            <a:ext cx="3612864" cy="19273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9056E65-7DD2-09F5-A931-4B679295DE50}"/>
              </a:ext>
            </a:extLst>
          </p:cNvPr>
          <p:cNvSpPr txBox="1"/>
          <p:nvPr/>
        </p:nvSpPr>
        <p:spPr>
          <a:xfrm>
            <a:off x="8958639" y="5595648"/>
            <a:ext cx="285385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Fig3.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-apple-system"/>
                <a:ea typeface="標楷體" pitchFamily="65" charset="-120"/>
                <a:cs typeface="Times New Roman" panose="02020603050405020304" pitchFamily="18" charset="0"/>
              </a:rPr>
              <a:t>Scheduling Constraints</a:t>
            </a:r>
            <a:endParaRPr kumimoji="1" lang="zh-CN" altLang="en-US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CAED2-F8F4-31F0-A096-FF32D920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F24245-1FDC-AFBA-023E-1AD3D75E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Related</a:t>
            </a:r>
            <a:r>
              <a:rPr kumimoji="1"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kumimoji="1"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Works</a:t>
            </a:r>
            <a:endParaRPr kumimoji="1" lang="zh-TW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7DCAA0-1E37-7DD9-847B-4B72C8BCA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540" y="1077686"/>
            <a:ext cx="10112829" cy="3494314"/>
          </a:xfrm>
        </p:spPr>
        <p:txBody>
          <a:bodyPr/>
          <a:lstStyle/>
          <a:p>
            <a:pPr lvl="1">
              <a:buFont typeface="Wingdings" pitchFamily="2" charset="2"/>
              <a:buChar char="l"/>
            </a:pPr>
            <a:r>
              <a:rPr lang="en" altLang="zh-CN" sz="1800" b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A. Belgacem, K. </a:t>
            </a:r>
            <a:r>
              <a:rPr lang="en" altLang="zh-CN" sz="1800" b="0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Beghdad</a:t>
            </a:r>
            <a:r>
              <a:rPr lang="en" altLang="zh-CN" sz="1800" b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-Bey and H. Nacer, "Dynamic Resource Allocation Method Based on Symbiotic Organism Search Algorithm in Cloud Computing," in IEEE Transactions on Cloud Computing, vol. 10, no. 3, pp. 1714-1725, 1 July-Sept. 2022</a:t>
            </a:r>
          </a:p>
          <a:p>
            <a:pPr lvl="1">
              <a:buFont typeface="Wingdings" pitchFamily="2" charset="2"/>
              <a:buChar char="l"/>
            </a:pPr>
            <a:r>
              <a:rPr lang="en-US" altLang="zh-TW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[2] S. </a:t>
            </a:r>
            <a:r>
              <a:rPr lang="en-US" altLang="zh-TW" sz="18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Hosseinalipour</a:t>
            </a:r>
            <a:r>
              <a:rPr lang="en-US" altLang="zh-TW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A. Nayak and H. Dai, "Power-Aware Allocation of Graph Jobs in Geo-Distributed Cloud Networks," in IEEE Transactions on Parallel and Distributed Systems, vol. 31, no. 4, pp. 749-765, 1 April 2020 </a:t>
            </a:r>
          </a:p>
          <a:p>
            <a:pPr lvl="1">
              <a:buFont typeface="Wingdings" pitchFamily="2" charset="2"/>
              <a:buChar char="l"/>
            </a:pPr>
            <a:r>
              <a:rPr lang="en-US" altLang="zh-TW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[3] </a:t>
            </a:r>
            <a:r>
              <a:rPr lang="en" altLang="zh-C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L. Zhao, Y. Yang, A. Munir, A. X. Liu, Y. Li and W. Qu, "Optimizing Geo-Distributed Data Analytics with Coordinated Task Scheduling and Routing," in IEEE Transactions on Parallel and Distributed Systems, vol. 31, no. 2, pp. 279-293, 1 Feb. 2020</a:t>
            </a:r>
          </a:p>
          <a:p>
            <a:pPr lvl="1">
              <a:buFont typeface="Wingdings" pitchFamily="2" charset="2"/>
              <a:buChar char="l"/>
            </a:pPr>
            <a:endParaRPr lang="en-US" altLang="zh-TW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53A0F22-CCA6-0895-4664-655A62E99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910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  <a:endParaRPr lang="en-US" altLang="zh-TW" sz="4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Related</a:t>
            </a:r>
            <a:r>
              <a:rPr lang="zh-CN" altLang="en-US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Work</a:t>
            </a: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標題 3">
            <a:extLst>
              <a:ext uri="{FF2B5EF4-FFF2-40B4-BE49-F238E27FC236}">
                <a16:creationId xmlns:a16="http://schemas.microsoft.com/office/drawing/2014/main" id="{AA933414-8B4A-E647-94FF-5CA5DD8E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Efficient Scheduling in Distributed OS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r>
              <a:rPr kumimoji="1"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GB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kumimoji="1"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283200" cy="430442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Controller: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Scheduler + SDN Controller.</a:t>
            </a:r>
          </a:p>
          <a:p>
            <a:pPr>
              <a:lnSpc>
                <a:spcPct val="90000"/>
              </a:lnSpc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Monitors: Located at each DC to report "heartbeat" status (CPU, RAM).</a:t>
            </a:r>
          </a:p>
          <a:p>
            <a:pPr>
              <a:lnSpc>
                <a:spcPct val="90000"/>
              </a:lnSpc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Layer: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reserves bandwidth for non-interactive flows.</a:t>
            </a:r>
          </a:p>
        </p:txBody>
      </p:sp>
      <p:pic>
        <p:nvPicPr>
          <p:cNvPr id="7" name="图片 6" descr="图示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576828"/>
            <a:ext cx="5384800" cy="3325114"/>
          </a:xfrm>
          <a:prstGeom prst="rect">
            <a:avLst/>
          </a:prstGeom>
          <a:noFill/>
        </p:spPr>
      </p:pic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A63DEA-632F-5CCD-C46C-8B4A23D99E60}"/>
              </a:ext>
            </a:extLst>
          </p:cNvPr>
          <p:cNvSpPr txBox="1"/>
          <p:nvPr/>
        </p:nvSpPr>
        <p:spPr>
          <a:xfrm>
            <a:off x="7463071" y="4911840"/>
            <a:ext cx="278159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Fig4.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Architecture overview</a:t>
            </a:r>
            <a:endParaRPr kumimoji="1" lang="zh-CN" altLang="en-US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r>
              <a:rPr kumimoji="1"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GB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Models</a:t>
            </a:r>
            <a:endParaRPr kumimoji="1"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220"/>
            <a:ext cx="9065260" cy="911860"/>
          </a:xfrm>
        </p:spPr>
        <p:txBody>
          <a:bodyPr wrap="square" anchor="t">
            <a:normAutofit/>
          </a:bodyPr>
          <a:lstStyle/>
          <a:p>
            <a:pPr marL="457200" indent="-457200">
              <a:lnSpc>
                <a:spcPct val="90000"/>
              </a:lnSpc>
            </a:pPr>
            <a:r>
              <a:rPr lang="en-US" altLang="zh-C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Power Model：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4" name="334E55B0-647D-440b-865C-3EC943EB4CBC-13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730" y="1887220"/>
            <a:ext cx="5917565" cy="9112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812800" y="2939415"/>
                <a:ext cx="9879965" cy="453326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𝜼</m:t>
                        </m:r>
                      </m:e>
                      <m:sub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b="1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: </a:t>
                </a:r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Power Usage Effectiveness </a:t>
                </a:r>
                <a:r>
                  <a:rPr lang="en-US" altLang="zh-TW" b="1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(PUE)</a:t>
                </a:r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. The ratio of total power used by a DC to the power delivered to IT equipment. 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</m:ctrlPr>
                      </m:sSubPr>
                      <m:e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𝑵</m:t>
                        </m:r>
                      </m:e>
                      <m:sub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b="1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:</a:t>
                </a:r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 Total number of physical cloud servers in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rgbClr val="383A42"/>
                        </a:solidFill>
                        <a:latin typeface="Cambria Math" panose="02040503050406030204" pitchFamily="18" charset="0"/>
                        <a:ea typeface="Fira Code"/>
                      </a:rPr>
                      <m:t>𝐷</m:t>
                    </m:r>
                    <m:sSub>
                      <m:sSubPr>
                        <m:ctrlP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</m:ctrlPr>
                      </m:sSubPr>
                      <m:e>
                        <m: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𝐶</m:t>
                        </m:r>
                      </m:e>
                      <m:sub>
                        <m: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</m:ctrlPr>
                      </m:sSubPr>
                      <m:e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𝑳</m:t>
                        </m:r>
                      </m:e>
                      <m:sub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b="1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:</a:t>
                </a:r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 Original/Current load of </a:t>
                </a:r>
                <a14:m>
                  <m:oMath xmlns:m="http://schemas.openxmlformats.org/officeDocument/2006/math">
                    <m:r>
                      <a:rPr lang="en-US" altLang="zh-TW" b="0" i="1" dirty="0" err="1">
                        <a:solidFill>
                          <a:srgbClr val="383A42"/>
                        </a:solidFill>
                        <a:latin typeface="Cambria Math" panose="02040503050406030204" pitchFamily="18" charset="0"/>
                        <a:ea typeface="Fira Code"/>
                      </a:rPr>
                      <m:t>𝐷</m:t>
                    </m:r>
                    <m:sSub>
                      <m:sSubPr>
                        <m:ctrlPr>
                          <a:rPr lang="en-US" altLang="zh-TW" b="0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</m:ctrlPr>
                      </m:sSubPr>
                      <m:e>
                        <m: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𝐶</m:t>
                        </m:r>
                      </m:e>
                      <m:sub>
                        <m: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 before new task allocation. 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</m:ctrlPr>
                      </m:sSubPr>
                      <m:e>
                        <m:r>
                          <a:rPr lang="en-US" altLang="zh-TW" b="1" i="1" dirty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𝒎</m:t>
                        </m:r>
                      </m:e>
                      <m:sub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𝒊</m:t>
                        </m:r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,</m:t>
                        </m:r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altLang="zh-TW" b="1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: The Scheduling Decision, </a:t>
                </a:r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Number of slots from </a:t>
                </a:r>
                <a14:m>
                  <m:oMath xmlns:m="http://schemas.openxmlformats.org/officeDocument/2006/math">
                    <m:r>
                      <a:rPr lang="en-US" altLang="zh-TW" b="0" i="1" dirty="0" err="1">
                        <a:solidFill>
                          <a:srgbClr val="383A42"/>
                        </a:solidFill>
                        <a:latin typeface="Cambria Math" panose="02040503050406030204" pitchFamily="18" charset="0"/>
                        <a:ea typeface="Fira Code"/>
                      </a:rPr>
                      <m:t>𝐷</m:t>
                    </m:r>
                    <m:sSub>
                      <m:sSubPr>
                        <m:ctrlP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</m:ctrlPr>
                      </m:sSubPr>
                      <m:e>
                        <m: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𝐶</m:t>
                        </m:r>
                      </m:e>
                      <m:sub>
                        <m: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𝑖</m:t>
                        </m:r>
                      </m:sub>
                    </m:sSub>
                    <m:r>
                      <a:rPr lang="en-US" altLang="zh-TW" b="0" i="1" dirty="0" smtClean="0">
                        <a:solidFill>
                          <a:srgbClr val="383A42"/>
                        </a:solidFill>
                        <a:latin typeface="Cambria Math" panose="02040503050406030204" pitchFamily="18" charset="0"/>
                        <a:ea typeface="Fira Code"/>
                      </a:rPr>
                      <m:t> </m:t>
                    </m:r>
                  </m:oMath>
                </a14:m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assigned to job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383A42"/>
                        </a:solidFill>
                        <a:latin typeface="Cambria Math" panose="02040503050406030204" pitchFamily="18" charset="0"/>
                        <a:ea typeface="Fira Code"/>
                      </a:rPr>
                      <m:t>𝑗</m:t>
                    </m:r>
                  </m:oMath>
                </a14:m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. </a:t>
                </a:r>
                <a:endParaRPr lang="en-US" altLang="zh-TW" dirty="0">
                  <a:solidFill>
                    <a:srgbClr val="383A42"/>
                  </a:solidFill>
                  <a:latin typeface="Times New Roman" panose="02020603050405020304" pitchFamily="18" charset="0"/>
                  <a:ea typeface="Fira Code"/>
                  <a:cs typeface="Times New Roman" panose="02020603050405020304" pitchFamily="18" charset="0"/>
                </a:endParaRP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</m:ctrlPr>
                      </m:sSubPr>
                      <m:e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𝑺</m:t>
                        </m:r>
                      </m:e>
                      <m:sub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b="1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:</a:t>
                </a:r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 Total available slots in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rgbClr val="383A42"/>
                        </a:solidFill>
                        <a:latin typeface="Cambria Math" panose="02040503050406030204" pitchFamily="18" charset="0"/>
                        <a:ea typeface="Fira Code"/>
                      </a:rPr>
                      <m:t>𝐷</m:t>
                    </m:r>
                    <m:sSub>
                      <m:sSubPr>
                        <m:ctrlP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</m:ctrlPr>
                      </m:sSubPr>
                      <m:e>
                        <m: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𝐶</m:t>
                        </m:r>
                      </m:e>
                      <m:sub>
                        <m:r>
                          <a:rPr lang="en-US" altLang="zh-TW" b="0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𝜶</m:t>
                        </m:r>
                      </m:e>
                      <m:sub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b="1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: </a:t>
                </a:r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Non-linear exponent (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solidFill>
                          <a:srgbClr val="383A42"/>
                        </a:solidFill>
                        <a:latin typeface="Cambria Math" panose="02040503050406030204" pitchFamily="18" charset="0"/>
                        <a:ea typeface="Fira Code"/>
                      </a:rPr>
                      <m:t>𝛼</m:t>
                    </m:r>
                    <m:r>
                      <a:rPr lang="en-US" altLang="zh-TW" b="0" i="1" dirty="0" smtClean="0">
                        <a:solidFill>
                          <a:srgbClr val="383A42"/>
                        </a:solidFill>
                        <a:latin typeface="Cambria Math" panose="02040503050406030204" pitchFamily="18" charset="0"/>
                        <a:ea typeface="Fira Code"/>
                      </a:rPr>
                      <m:t>≥2</m:t>
                    </m:r>
                  </m:oMath>
                </a14:m>
                <a:r>
                  <a:rPr lang="en-US" altLang="zh-TW" b="0" i="0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</a:rPr>
                  <a:t>). Reflects hardware heat/cooling efficiency under high load. 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  <m:t>𝑷</m:t>
                        </m:r>
                      </m:e>
                      <m:sub>
                        <m: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  <m:t>𝒊𝒅𝒍𝒆</m:t>
                        </m:r>
                      </m:sub>
                    </m:sSub>
                  </m:oMath>
                </a14:m>
                <a:r>
                  <a:rPr lang="en-US" altLang="zh-TW" b="1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  <a:sym typeface="+mn-ea"/>
                  </a:rPr>
                  <a:t>: </a:t>
                </a:r>
                <a:r>
                  <a:rPr lang="en-US" altLang="zh-TW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  <a:sym typeface="+mn-ea"/>
                  </a:rPr>
                  <a:t>Static/Idle power consumption of a single server.</a:t>
                </a:r>
                <a:endParaRPr lang="en-US" altLang="zh-TW" b="0" i="0" dirty="0">
                  <a:solidFill>
                    <a:srgbClr val="383A42"/>
                  </a:solidFill>
                  <a:latin typeface="Times New Roman" panose="02020603050405020304" pitchFamily="18" charset="0"/>
                  <a:ea typeface="Fira Code"/>
                  <a:cs typeface="Times New Roman" panose="02020603050405020304" pitchFamily="18" charset="0"/>
                </a:endParaRPr>
              </a:p>
              <a:p>
                <a:pPr marL="0" indent="0" algn="l"/>
                <a:endParaRPr lang="en-US" altLang="zh-TW" b="0" i="0" dirty="0">
                  <a:solidFill>
                    <a:srgbClr val="383A42"/>
                  </a:solidFill>
                  <a:latin typeface="Times New Roman" panose="02020603050405020304" pitchFamily="18" charset="0"/>
                  <a:ea typeface="Fira Code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2939415"/>
                <a:ext cx="9879965" cy="4533265"/>
              </a:xfrm>
              <a:prstGeom prst="rect">
                <a:avLst/>
              </a:prstGeom>
              <a:blipFill>
                <a:blip r:embed="rId4"/>
                <a:stretch>
                  <a:fillRect l="-385" t="-5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r>
              <a:rPr kumimoji="1"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GB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Models</a:t>
            </a:r>
            <a:endParaRPr kumimoji="1"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6" name="內容版面配置區 2"/>
          <p:cNvSpPr>
            <a:spLocks noGrp="1"/>
          </p:cNvSpPr>
          <p:nvPr/>
        </p:nvSpPr>
        <p:spPr>
          <a:xfrm>
            <a:off x="767715" y="1236980"/>
            <a:ext cx="9065260" cy="911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9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lnSpc>
                <a:spcPct val="90000"/>
              </a:lnSpc>
            </a:pPr>
            <a:r>
              <a:rPr lang="en-US" altLang="zh-C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Execution Cost：</a:t>
            </a:r>
          </a:p>
        </p:txBody>
      </p:sp>
      <p:pic>
        <p:nvPicPr>
          <p:cNvPr id="8" name="334E55B0-647D-440b-865C-3EC943EB4CBC-15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975" y="1845310"/>
            <a:ext cx="8126730" cy="1177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811020" y="3429000"/>
                <a:ext cx="9270365" cy="923330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spAutoFit/>
              </a:bodyPr>
              <a:lstStyle/>
              <a:p>
                <a:pPr marL="0" indent="0" algn="l"/>
                <a:endParaRPr lang="en-US" altLang="zh-TW" b="0" i="0" dirty="0">
                  <a:solidFill>
                    <a:srgbClr val="383A42"/>
                  </a:solidFill>
                  <a:latin typeface="Times New Roman" panose="02020603050405020304" pitchFamily="18" charset="0"/>
                  <a:ea typeface="Fira Code"/>
                  <a:cs typeface="Times New Roman" panose="02020603050405020304" pitchFamily="18" charset="0"/>
                </a:endParaRP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  <m:t>𝝓</m:t>
                        </m:r>
                      </m:e>
                      <m:sub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b="1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  <a:sym typeface="+mn-ea"/>
                  </a:rPr>
                  <a:t>:Electricity Price</a:t>
                </a:r>
                <a:r>
                  <a:rPr lang="en-US" altLang="zh-TW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  <a:sym typeface="+mn-ea"/>
                  </a:rPr>
                  <a:t> in the region where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383A42"/>
                        </a:solidFill>
                        <a:latin typeface="Cambria Math" panose="02040503050406030204" pitchFamily="18" charset="0"/>
                        <a:ea typeface="Fira Code"/>
                        <a:sym typeface="+mn-ea"/>
                      </a:rPr>
                      <m:t>𝐷</m:t>
                    </m:r>
                    <m:sSub>
                      <m:sSubPr>
                        <m:ctrlPr>
                          <a:rPr lang="en-US" altLang="zh-TW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TW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TW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  <a:sym typeface="+mn-ea"/>
                  </a:rPr>
                  <a:t> is located (e.g., $/kWh). 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TW" b="1" i="1" dirty="0" smtClean="0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  <m:t>𝝂</m:t>
                        </m:r>
                      </m:e>
                      <m:sub>
                        <m:r>
                          <a:rPr lang="en-US" altLang="zh-TW" b="1" i="1" dirty="0" err="1">
                            <a:solidFill>
                              <a:srgbClr val="383A42"/>
                            </a:solidFill>
                            <a:latin typeface="Cambria Math" panose="02040503050406030204" pitchFamily="18" charset="0"/>
                            <a:ea typeface="Fira Code"/>
                            <a:sym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b="1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  <a:sym typeface="+mn-ea"/>
                  </a:rPr>
                  <a:t>:</a:t>
                </a:r>
                <a:r>
                  <a:rPr lang="en-US" altLang="zh-TW" dirty="0">
                    <a:solidFill>
                      <a:srgbClr val="383A42"/>
                    </a:solidFill>
                    <a:latin typeface="Times New Roman" panose="02020603050405020304" pitchFamily="18" charset="0"/>
                    <a:ea typeface="Fira Code"/>
                    <a:cs typeface="Times New Roman" panose="02020603050405020304" pitchFamily="18" charset="0"/>
                    <a:sym typeface="+mn-ea"/>
                  </a:rPr>
                  <a:t> I/O incurred power usage per slot for communication infrastructure.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020" y="3429000"/>
                <a:ext cx="9270365" cy="923330"/>
              </a:xfrm>
              <a:prstGeom prst="rect">
                <a:avLst/>
              </a:prstGeom>
              <a:blipFill>
                <a:blip r:embed="rId4"/>
                <a:stretch>
                  <a:fillRect b="-9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CA7D-E6F8-4FA6-755A-E3FB6764A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2637F14-DE9F-8EA2-DC9B-802697CAB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  <a:endParaRPr lang="en-US" altLang="zh-TW" sz="4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Related</a:t>
            </a:r>
            <a:r>
              <a:rPr lang="zh-CN" altLang="en-US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Preliminaries</a:t>
            </a: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1925560-42EE-032E-DE97-F6CE69F53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標題 3">
            <a:extLst>
              <a:ext uri="{FF2B5EF4-FFF2-40B4-BE49-F238E27FC236}">
                <a16:creationId xmlns:a16="http://schemas.microsoft.com/office/drawing/2014/main" id="{B2DF98C9-4566-15A1-7E26-557389E0F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Efficient Scheduling in Distributed OS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274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3A88-ED40-251D-89C9-CFA284688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D57A1F-D64A-375C-B701-C5069612C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Part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8BFF2CD-E67F-753B-02DC-102258D982A6}"/>
              </a:ext>
            </a:extLst>
          </p:cNvPr>
          <p:cNvSpPr>
            <a:spLocks noGrp="1"/>
          </p:cNvSpPr>
          <p:nvPr/>
        </p:nvSpPr>
        <p:spPr bwMode="auto">
          <a:xfrm>
            <a:off x="609600" y="1125536"/>
            <a:ext cx="5384800" cy="42276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9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1" indent="-342900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Before considering global power or WAN routing, a Distributed OS must first solve the Local Resource Allocation First.</a:t>
            </a:r>
          </a:p>
          <a:p>
            <a:pPr marL="342900" lvl="1" indent="-342900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altLang="zh-C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two-part framework consisting of a </a:t>
            </a:r>
            <a:r>
              <a:rPr lang="en-US" altLang="zh-C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Allocation Model</a:t>
            </a:r>
            <a:r>
              <a:rPr lang="en-US" altLang="zh-C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altLang="zh-CN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MOSOS Algorithm</a:t>
            </a:r>
            <a:r>
              <a:rPr lang="en-US" altLang="zh-C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F6FD1C23-553B-EA3B-8A01-050628940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197" y="1125536"/>
            <a:ext cx="4763605" cy="4227699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9E13903C-87D1-4A3D-18F8-26FB3BA617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ECFCCB-DB30-CF8B-49D0-928503C5892F}"/>
              </a:ext>
            </a:extLst>
          </p:cNvPr>
          <p:cNvSpPr txBox="1"/>
          <p:nvPr/>
        </p:nvSpPr>
        <p:spPr>
          <a:xfrm>
            <a:off x="6508197" y="5353235"/>
            <a:ext cx="400622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Fig5.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Flowchart of the proposed MOSOS</a:t>
            </a:r>
            <a:endParaRPr kumimoji="1" lang="zh-CN" altLang="en-US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447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211DB-5EB2-F186-0BB7-4985D8CFB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B20751-BD5D-27B7-7C9C-C2907408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Part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Allocation model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F7DCA19-FA1A-90FF-4D7D-49FCA0C55D3D}"/>
                  </a:ext>
                </a:extLst>
              </p:cNvPr>
              <p:cNvSpPr txBox="1"/>
              <p:nvPr/>
            </p:nvSpPr>
            <p:spPr bwMode="auto">
              <a:xfrm>
                <a:off x="609600" y="1125536"/>
                <a:ext cx="5384800" cy="48460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translates physical entities into mathematical vectors to enable optimization:</a:t>
                </a: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Quantifying Requirements:</a:t>
                </a: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Each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quantified by its Length (MI)and data size.</a:t>
                </a: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Quantifying Capabilities:</a:t>
                </a: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Each VM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zh-CN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quantified by its MIPS (Million Instructions Per Second) and unit price.</a:t>
                </a: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Allocation Logic:</a:t>
                </a: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 </a:t>
                </a:r>
                <a:r>
                  <a:rPr kumimoji="1"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alc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kumimoji="1" lang="en-US" altLang="zh-CN" b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endParaRPr kumimoji="1" lang="en-US" altLang="zh-CN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 on size </a:t>
                </a:r>
                <a:r>
                  <a:rPr kumimoji="1" lang="en-US" altLang="zh-CN" b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ρ</a:t>
                </a:r>
                <a:r>
                  <a:rPr kumimoji="1" lang="en-US" altLang="zh-CN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build a list of jobs </a:t>
                </a:r>
              </a:p>
              <a:p>
                <a:pPr marL="342900" lvl="1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Dynamically adjust the list base on the incoming work load 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kumimoji="1" lang="en-US" altLang="zh-CN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b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kumimoji="1" lang="en-US" altLang="zh-CN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 </a:t>
                </a: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target load density (</a:t>
                </a:r>
                <a:r>
                  <a:rPr kumimoji="1" lang="en-US" altLang="zh-CN" b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kumimoji="1" lang="en-US" altLang="zh-CN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kumimoji="1"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 on resources, build a list of VMs</a:t>
                </a: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kumimoji="1" lang="en-US" altLang="zh-CN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Call MOSOS scheduling </a:t>
                </a: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endPara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F7DCA19-FA1A-90FF-4D7D-49FCA0C55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125536"/>
                <a:ext cx="5384800" cy="4846056"/>
              </a:xfrm>
              <a:prstGeom prst="rect">
                <a:avLst/>
              </a:prstGeom>
              <a:blipFill>
                <a:blip r:embed="rId3"/>
                <a:stretch>
                  <a:fillRect l="-943" t="-1044" r="-1179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71777D16-CBDE-8805-5AF6-142C59C20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152" y="1125536"/>
            <a:ext cx="2853696" cy="4227699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16B86508-7FEF-F5F7-C612-D812A136C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491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64622-B7D2-119F-3737-DBB98FB8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906871-FC18-CDB6-E227-4959B0E7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Part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MOSOS (2/2)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6E084170-EBB2-A6C0-E934-969D54BF1D1A}"/>
                  </a:ext>
                </a:extLst>
              </p:cNvPr>
              <p:cNvSpPr>
                <a:spLocks noGrp="1"/>
              </p:cNvSpPr>
              <p:nvPr/>
            </p:nvSpPr>
            <p:spPr bwMode="auto">
              <a:xfrm>
                <a:off x="609600" y="1125536"/>
                <a:ext cx="5384800" cy="503071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3735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panose="020B0604020202090204" pitchFamily="34" charset="0"/>
                  <a:buChar char="–"/>
                  <a:defRPr kumimoji="1" sz="32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135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5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Symbiosis Mechanism - Mimics the survival strategies of organisms: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Initialization Phase: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Defining an “Organism”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12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342900" lvl="1" indent="-342900">
                  <a:lnSpc>
                    <a:spcPct val="90000"/>
                  </a:lnSpc>
                  <a:buSzPct val="80000"/>
                  <a:buFont typeface="Wingdings" panose="05000000000000000000" pitchFamily="2" charset="2"/>
                  <a:buChar char="l"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Organism  is Mapping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b="0" i="1"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1200" b="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200" b="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200" b="0" i="1">
                            <a:effectLst/>
                            <a:latin typeface="Cambria Math" panose="02040503050406030204" pitchFamily="18" charset="0"/>
                          </a:rPr>
                          <m:t>𝑉</m:t>
                        </m:r>
                        <m:sSub>
                          <m:sSubPr>
                            <m:ctrlPr>
                              <a:rPr lang="en-US" altLang="zh-CN" sz="12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b="0" i="1">
                                <a:effectLst/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200" b="0" i="1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200" b="0" i="1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b="0" i="1">
                            <a:effectLst/>
                            <a:latin typeface="Cambria Math" panose="02040503050406030204" pitchFamily="18" charset="0"/>
                          </a:rPr>
                          <m:t>𝑉</m:t>
                        </m:r>
                        <m:sSub>
                          <m:sSubPr>
                            <m:ctrlPr>
                              <a:rPr lang="en-US" altLang="zh-CN" sz="12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b="0" i="1">
                                <a:effectLst/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200" b="0" i="1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00" b="0" i="1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b="0" i="1">
                            <a:effectLst/>
                            <a:latin typeface="Cambria Math" panose="02040503050406030204" pitchFamily="18" charset="0"/>
                          </a:rPr>
                          <m:t>𝑉</m:t>
                        </m:r>
                        <m:sSub>
                          <m:sSubPr>
                            <m:ctrlPr>
                              <a:rPr lang="en-US" altLang="zh-CN" sz="12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b="0" i="1">
                                <a:effectLst/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200" b="0" i="1">
                                <a:effectLst/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1200" b="0" i="1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b="0" i="1">
                            <a:effectLst/>
                            <a:latin typeface="Cambria Math" panose="02040503050406030204" pitchFamily="18" charset="0"/>
                          </a:rPr>
                          <m:t>𝑉</m:t>
                        </m:r>
                        <m:sSub>
                          <m:sSubPr>
                            <m:ctrlPr>
                              <a:rPr lang="en-US" altLang="zh-CN" sz="12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b="0" i="1">
                                <a:effectLst/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200" b="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(Task 1 to VM3, Task 2 to VM1, etc.)</a:t>
                </a:r>
              </a:p>
              <a:p>
                <a:pPr marL="342900" lvl="1" indent="-342900">
                  <a:lnSpc>
                    <a:spcPct val="90000"/>
                  </a:lnSpc>
                  <a:buSzPct val="80000"/>
                  <a:buFont typeface="Wingdings" panose="05000000000000000000" pitchFamily="2" charset="2"/>
                  <a:buChar char="l"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organism is immediately “scored”</a:t>
                </a:r>
                <a:r>
                  <a: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mapping is assigned two values: </a:t>
                </a:r>
                <a:r>
                  <a:rPr lang="en-US" altLang="zh-CN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Makespan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Cost.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Mutualism Phase:</a:t>
                </a:r>
              </a:p>
              <a:p>
                <a:pPr marL="342900" lvl="1" indent="-342900">
                  <a:lnSpc>
                    <a:spcPct val="90000"/>
                  </a:lnSpc>
                  <a:buSzPct val="80000"/>
                  <a:buFont typeface="Wingdings" panose="05000000000000000000" pitchFamily="2" charset="2"/>
                  <a:buChar char="l"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organisms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interact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best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improve both.</a:t>
                </a:r>
              </a:p>
              <a:p>
                <a:pPr marL="342900" lvl="1" indent="-342900">
                  <a:lnSpc>
                    <a:spcPct val="90000"/>
                  </a:lnSpc>
                  <a:buSzPct val="80000"/>
                  <a:buFont typeface="Wingdings" panose="05000000000000000000" pitchFamily="2" charset="2"/>
                  <a:buChar char="l"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task-mappings exchange “good nodes” to reduce global </a:t>
                </a:r>
                <a:r>
                  <a:rPr lang="en-US" altLang="zh-CN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Makespan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best</m:t>
                        </m:r>
                      </m:sub>
                    </m:sSub>
                  </m:oMath>
                </a14:m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Commensalism Phase:</a:t>
                </a:r>
              </a:p>
              <a:p>
                <a:pPr marL="342900" lvl="1" indent="-342900">
                  <a:lnSpc>
                    <a:spcPct val="90000"/>
                  </a:lnSpc>
                  <a:buSzPct val="80000"/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learns from the best organism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best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without affecting it.</a:t>
                </a:r>
              </a:p>
              <a:p>
                <a:pPr marL="342900" lvl="1" indent="-342900">
                  <a:lnSpc>
                    <a:spcPct val="90000"/>
                  </a:lnSpc>
                  <a:buSzPct val="80000"/>
                  <a:buFont typeface="Wingdings" panose="05000000000000000000" pitchFamily="2" charset="2"/>
                  <a:buChar char="l"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mapping explores a new DC cluster based on successful patterns.</a:t>
                </a:r>
              </a:p>
              <a:p>
                <a:pPr marL="0" lvl="1" indent="0">
                  <a:lnSpc>
                    <a:spcPct val="90000"/>
                  </a:lnSpc>
                  <a:buSzPct val="80000"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Parasitism Phase:</a:t>
                </a:r>
                <a:endPara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-342900">
                  <a:lnSpc>
                    <a:spcPct val="90000"/>
                  </a:lnSpc>
                  <a:buSzPct val="80000"/>
                  <a:buFont typeface="Wingdings" panose="05000000000000000000" pitchFamily="2" charset="2"/>
                  <a:buChar char="l"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Parasite Vector is created by random mutation. It challenges existing schedules. If the mutation is more efficient, the old schedule is "killed" and replaced</a:t>
                </a:r>
              </a:p>
              <a:p>
                <a:pPr marL="342900" lvl="1" indent="-342900">
                  <a:lnSpc>
                    <a:spcPct val="90000"/>
                  </a:lnSpc>
                  <a:buSzPct val="80000"/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2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tries to 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it provides a better fitness value.</a:t>
                </a:r>
              </a:p>
              <a:p>
                <a:pPr marL="0" lvl="1" indent="0">
                  <a:lnSpc>
                    <a:spcPct val="90000"/>
                  </a:lnSpc>
                  <a:buSzPct val="80000"/>
                  <a:buNone/>
                </a:pP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Non-Dominated Solutions </a:t>
                </a:r>
                <a:r>
                  <a: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-342900">
                  <a:lnSpc>
                    <a:spcPct val="90000"/>
                  </a:lnSpc>
                  <a:buSzPct val="80000"/>
                  <a:buFont typeface="Wingdings" panose="05000000000000000000" pitchFamily="2" charset="2"/>
                  <a:buChar char="l"/>
                </a:pPr>
                <a:r>
                  <a:rPr lang="en-US" altLang="zh-CN" sz="1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interactions, many mappings exist.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mapping is kept only if no other mapping is both faster AND cheaper (Pareto Optimality)</a:t>
                </a:r>
              </a:p>
              <a:p>
                <a:pPr marL="0" lvl="1" indent="0">
                  <a:lnSpc>
                    <a:spcPct val="90000"/>
                  </a:lnSpc>
                  <a:buSzPct val="80000"/>
                  <a:buNone/>
                </a:pPr>
                <a:r>
                  <a:rPr lang="en-US" altLang="zh-CN" sz="120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Benevolent Organisms Elitism</a:t>
                </a:r>
                <a:r>
                  <a:rPr lang="zh-CN" altLang="en-US" sz="12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endParaRPr lang="en-US" altLang="zh-CN" sz="12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-342900">
                  <a:lnSpc>
                    <a:spcPct val="90000"/>
                  </a:lnSpc>
                  <a:buSzPct val="80000"/>
                  <a:buFont typeface="Wingdings" panose="05000000000000000000" pitchFamily="2" charset="2"/>
                  <a:buChar char="l"/>
                </a:pPr>
                <a:r>
                  <a:rPr lang="en-US" altLang="zh-CN" sz="1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very best Pareto mappings are stored in a fixed-size </a:t>
                </a:r>
                <a:r>
                  <a:rPr lang="en-US" altLang="zh-CN" sz="12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Archive </a:t>
                </a:r>
                <a:r>
                  <a:rPr lang="en-US" altLang="zh-CN" sz="120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altLang="zh-CN" sz="1200" b="1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Archive provides a "warm start" for the next round of scheduling. </a:t>
                </a:r>
                <a:b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6E084170-EBB2-A6C0-E934-969D54BF1D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125536"/>
                <a:ext cx="5384800" cy="5030715"/>
              </a:xfrm>
              <a:prstGeom prst="rect">
                <a:avLst/>
              </a:prstGeom>
              <a:blipFill>
                <a:blip r:embed="rId3"/>
                <a:stretch>
                  <a:fillRect t="-504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E99DFA8F-B906-4017-DA13-A895E61B3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197" y="1125536"/>
            <a:ext cx="4763605" cy="4227699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D8BECC4C-412A-63C0-D69E-203466053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CA4391-02D8-4474-19F5-9471230C31CC}"/>
              </a:ext>
            </a:extLst>
          </p:cNvPr>
          <p:cNvSpPr txBox="1"/>
          <p:nvPr/>
        </p:nvSpPr>
        <p:spPr>
          <a:xfrm>
            <a:off x="6508197" y="5353235"/>
            <a:ext cx="400622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Fig5.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Flowchart of the proposed MOSOS</a:t>
            </a:r>
            <a:endParaRPr kumimoji="1" lang="zh-CN" altLang="en-US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66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B8730-34B4-2A43-248B-0002CABEA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B7F098-3181-247F-E9BC-1CC025B81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From Local to Network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85D9E26-5658-3532-9C0C-289260C729B2}"/>
              </a:ext>
            </a:extLst>
          </p:cNvPr>
          <p:cNvSpPr>
            <a:spLocks noGrp="1"/>
          </p:cNvSpPr>
          <p:nvPr/>
        </p:nvSpPr>
        <p:spPr bwMode="auto">
          <a:xfrm>
            <a:off x="711200" y="1045124"/>
            <a:ext cx="10102574" cy="35666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9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1" indent="-342900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a single cluster’s local optimal to a Geo-Distributed DC Network, jobs are related to each other; </a:t>
            </a:r>
          </a:p>
          <a:p>
            <a:pPr marL="342900" lvl="1" indent="-342900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Sub-tasks have internal communication edges – a ‘graph’</a:t>
            </a:r>
          </a:p>
          <a:p>
            <a:pPr marL="342900" lvl="1" indent="-342900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Bottleneck: </a:t>
            </a:r>
          </a:p>
          <a:p>
            <a:pPr marL="742950" lvl="2" indent="-342900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Inter-DC I/O ,Power &amp; Latency</a:t>
            </a:r>
          </a:p>
          <a:p>
            <a:pPr marL="342900" lvl="1" indent="-342900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the Global Network Optimal by mapping logic task graphs onto the physical DC topology (Subgraph Isomorphism)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08EA8768-8991-96CD-1047-703F78EC7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19</a:t>
            </a:fld>
            <a:endParaRPr lang="zh-TW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83D8B04-0C5E-D011-2CF9-B68927B6A5C0}"/>
              </a:ext>
            </a:extLst>
          </p:cNvPr>
          <p:cNvGrpSpPr/>
          <p:nvPr/>
        </p:nvGrpSpPr>
        <p:grpSpPr>
          <a:xfrm>
            <a:off x="403778" y="3481295"/>
            <a:ext cx="11384444" cy="2159316"/>
            <a:chOff x="403778" y="3481295"/>
            <a:chExt cx="11384444" cy="2159316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10784E1-5AC8-E10D-EE77-A2D650075562}"/>
                </a:ext>
              </a:extLst>
            </p:cNvPr>
            <p:cNvSpPr txBox="1"/>
            <p:nvPr/>
          </p:nvSpPr>
          <p:spPr>
            <a:xfrm>
              <a:off x="1049867" y="5271279"/>
              <a:ext cx="2909771" cy="369332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Fig6.</a:t>
              </a:r>
              <a:r>
                <a:rPr kumimoji="1" lang="zh-CN" altLang="en-US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 </a:t>
              </a:r>
              <a:r>
                <a:rPr kumimoji="1" lang="en" altLang="zh-CN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Examples of graph jobs</a:t>
              </a:r>
              <a:endPara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8CA9399-327A-DC2C-72F4-966E694C7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778" y="3481295"/>
              <a:ext cx="11384444" cy="17915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4533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1FBFC-7B16-9D66-DCC2-776D965F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F0219A-E52B-9836-51AC-66BE58B5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Power-Aware Graph Job Allocation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D660EC7B-82B8-AF1E-2CEB-7DD64A04CD66}"/>
              </a:ext>
            </a:extLst>
          </p:cNvPr>
          <p:cNvSpPr>
            <a:spLocks noGrp="1"/>
          </p:cNvSpPr>
          <p:nvPr/>
        </p:nvSpPr>
        <p:spPr bwMode="auto">
          <a:xfrm>
            <a:off x="609599" y="1125536"/>
            <a:ext cx="10757647" cy="47194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9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lvl="1" indent="-342900"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one algorithm can solve all</a:t>
            </a:r>
          </a:p>
          <a:p>
            <a:pPr marL="342900" lvl="1" indent="-342900"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Discovery</a:t>
            </a:r>
          </a:p>
          <a:p>
            <a:pPr marL="342900" lvl="1" indent="-342900"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Crawlers : Mobile agents that explore the network topology to find physical clusters that are "Isomorphic" to the job's logic graph.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A4AE8884-6E56-B4C7-8395-94B901551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20</a:t>
            </a:fld>
            <a:endParaRPr lang="zh-TW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BC449E2-BB27-50ED-BD12-81B975330868}"/>
              </a:ext>
            </a:extLst>
          </p:cNvPr>
          <p:cNvGrpSpPr/>
          <p:nvPr/>
        </p:nvGrpSpPr>
        <p:grpSpPr>
          <a:xfrm>
            <a:off x="728869" y="2620542"/>
            <a:ext cx="7351279" cy="3513365"/>
            <a:chOff x="2976159" y="2298287"/>
            <a:chExt cx="7351279" cy="3513365"/>
          </a:xfrm>
        </p:grpSpPr>
        <p:pic>
          <p:nvPicPr>
            <p:cNvPr id="9" name="图片 8" descr="图示&#10;&#10;AI 生成的内容可能不正确。">
              <a:extLst>
                <a:ext uri="{FF2B5EF4-FFF2-40B4-BE49-F238E27FC236}">
                  <a16:creationId xmlns:a16="http://schemas.microsoft.com/office/drawing/2014/main" id="{F4711198-EAAF-5EDE-4B2C-365C0E882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6159" y="2298287"/>
              <a:ext cx="6131858" cy="3111915"/>
            </a:xfrm>
            <a:prstGeom prst="rect">
              <a:avLst/>
            </a:prstGeom>
            <a:noFill/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5E31B4B-7D8F-0142-A2E2-8101E8D10956}"/>
                </a:ext>
              </a:extLst>
            </p:cNvPr>
            <p:cNvSpPr txBox="1"/>
            <p:nvPr/>
          </p:nvSpPr>
          <p:spPr>
            <a:xfrm>
              <a:off x="3147267" y="5442320"/>
              <a:ext cx="7180171" cy="369332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Fig7.</a:t>
              </a:r>
              <a:r>
                <a:rPr kumimoji="1" lang="zh-CN" altLang="en-US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 </a:t>
              </a:r>
              <a:r>
                <a:rPr kumimoji="1" lang="en" altLang="zh-CN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System model for graph job allocation in GDCNs with various scales.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9230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3D9B0-790E-635E-A5B3-8BB978D6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1F0797-8984-8ED9-9CB8-4455FF4D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Crawling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C1193042-3FA0-12DB-B6F4-3C2C095CC685}"/>
                  </a:ext>
                </a:extLst>
              </p:cNvPr>
              <p:cNvSpPr>
                <a:spLocks noGrp="1"/>
              </p:cNvSpPr>
              <p:nvPr/>
            </p:nvSpPr>
            <p:spPr bwMode="auto">
              <a:xfrm>
                <a:off x="609600" y="1125536"/>
                <a:ext cx="7766756" cy="503071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3735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panose="020B0604020202090204" pitchFamily="34" charset="0"/>
                  <a:buChar char="–"/>
                  <a:defRPr kumimoji="1" sz="32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135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5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endParaRPr lang="en" altLang="zh-CN" sz="1800" b="1" i="0" dirty="0">
                  <a:solidFill>
                    <a:srgbClr val="383A42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Idea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mobile agent finding "campsites" for sub-tasks.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IA (Incomplete Allocation)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crawler's memory. It links partial mappings across multiple hops.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BST (Binary Search Tree)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Stores the Best suggested strategies (</a:t>
                </a:r>
                <a14:m>
                  <m:oMath xmlns:m="http://schemas.openxmlformats.org/officeDocument/2006/math">
                    <m:r>
                      <a:rPr lang="en" altLang="zh-CN" sz="1800" dirty="0">
                        <a:latin typeface="Cambria Math" panose="02040503050406030204" pitchFamily="18" charset="0"/>
                      </a:rPr>
                      <m:t>𝑺</m:t>
                    </m:r>
                    <m:sSub>
                      <m:sSubPr>
                        <m:ctrlPr>
                          <a:rPr lang="en" altLang="zh-CN" sz="18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dirty="0" err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" altLang="zh-CN" sz="1800" dirty="0" err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encountered so far.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Logical Flow: </a:t>
                </a:r>
              </a:p>
              <a:p>
                <a:pPr marL="228600" indent="-228600">
                  <a:lnSpc>
                    <a:spcPct val="90000"/>
                  </a:lnSpc>
                  <a:buAutoNum type="arabicPeriod"/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Move Jump to an adjacent DC. </a:t>
                </a:r>
              </a:p>
              <a:p>
                <a:pPr marL="228600" indent="-228600">
                  <a:lnSpc>
                    <a:spcPct val="90000"/>
                  </a:lnSpc>
                  <a:buAutoNum type="arabicPeriod"/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Observe Check local load and electricity price. </a:t>
                </a:r>
              </a:p>
              <a:p>
                <a:pPr marL="228600" indent="-228600">
                  <a:lnSpc>
                    <a:spcPct val="90000"/>
                  </a:lnSpc>
                  <a:buAutoNum type="arabicPeriod"/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Assemble</a:t>
                </a:r>
              </a:p>
              <a:p>
                <a:pPr marL="628650" lvl="1" indent="-228600">
                  <a:lnSpc>
                    <a:spcPct val="90000"/>
                  </a:lnSpc>
                  <a:buAutoNum type="arabicPeriod"/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Try to Finish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incomplete mappings from previous hops. </a:t>
                </a:r>
              </a:p>
              <a:p>
                <a:pPr marL="628650" lvl="1" indent="-228600">
                  <a:lnSpc>
                    <a:spcPct val="90000"/>
                  </a:lnSpc>
                  <a:buAutoNum type="arabicPeriod"/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 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mappings using current DC as the center. </a:t>
                </a:r>
              </a:p>
              <a:p>
                <a:pPr marL="228600" indent="-228600">
                  <a:lnSpc>
                    <a:spcPct val="90000"/>
                  </a:lnSpc>
                  <a:buAutoNum type="arabicPeriod"/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Rank Use the Power Model to prune expensive options. </a:t>
                </a:r>
                <a:b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C1193042-3FA0-12DB-B6F4-3C2C095CC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125536"/>
                <a:ext cx="7766756" cy="5030715"/>
              </a:xfrm>
              <a:prstGeom prst="rect">
                <a:avLst/>
              </a:prstGeom>
              <a:blipFill>
                <a:blip r:embed="rId3"/>
                <a:stretch>
                  <a:fillRect l="-654" r="-817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2603D6AB-BE65-6DF6-AF40-C58ED03971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7" name="图片 6" descr="手机屏幕截图&#10;&#10;AI 生成的内容可能不正确。">
            <a:extLst>
              <a:ext uri="{FF2B5EF4-FFF2-40B4-BE49-F238E27FC236}">
                <a16:creationId xmlns:a16="http://schemas.microsoft.com/office/drawing/2014/main" id="{A694E4A4-8DFF-5111-429F-36EB66D066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055" y="6353"/>
            <a:ext cx="2669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28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5AA78-39FF-6CD1-9544-65322C5AE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06419-2ABA-23E5-FF55-79BBB021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RMBA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E024380D-9336-C5DD-CFBC-43D12357E461}"/>
                  </a:ext>
                </a:extLst>
              </p:cNvPr>
              <p:cNvSpPr>
                <a:spLocks noGrp="1"/>
              </p:cNvSpPr>
              <p:nvPr/>
            </p:nvSpPr>
            <p:spPr bwMode="auto">
              <a:xfrm>
                <a:off x="609599" y="1125536"/>
                <a:ext cx="9941169" cy="42276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  <a:defRPr kumimoji="1" sz="3735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panose="020B0604020202090204" pitchFamily="34" charset="0"/>
                  <a:buChar char="–"/>
                  <a:defRPr kumimoji="1" sz="32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135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5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the Cloud Crawlers (CCR) return with a “Menu” of suggested strategies (</a:t>
                </a:r>
                <a14:m>
                  <m:oMath xmlns:m="http://schemas.openxmlformats.org/officeDocument/2006/math">
                    <m:r>
                      <a:rPr lang="en" altLang="zh-CN" sz="1800" i="1" dirty="0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" altLang="zh-CN" sz="18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the Proxy Agent (PA) 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faces a new problem: </a:t>
                </a:r>
              </a:p>
              <a:p>
                <a:pPr marL="0" indent="0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Volatility Problem: Crawler suggestions are based on a "snapshot." But DC loads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" altLang="zh-CN" sz="1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electricity prices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180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" altLang="zh-CN" sz="18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fluctuate every second. </a:t>
                </a:r>
              </a:p>
              <a:p>
                <a:pPr>
                  <a:lnSpc>
                    <a:spcPct val="90000"/>
                  </a:lnSpc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Goal: To pick the mapping that maximizes Utility (Reward minus Cost) over the long term without knowing the exact real-time state of all DCs. </a:t>
                </a:r>
              </a:p>
              <a:p>
                <a:pPr>
                  <a:lnSpc>
                    <a:spcPct val="90000"/>
                  </a:lnSpc>
                </a:pP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Solution: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RMBA (Game Theory + Regret Matching) to reach a stable Correlated Equilibrium among competing users.</a:t>
                </a:r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E024380D-9336-C5DD-CFBC-43D12357E4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599" y="1125536"/>
                <a:ext cx="9941169" cy="4227699"/>
              </a:xfrm>
              <a:prstGeom prst="rect">
                <a:avLst/>
              </a:prstGeom>
              <a:blipFill>
                <a:blip r:embed="rId3"/>
                <a:stretch>
                  <a:fillRect l="-511" t="-1198" r="-1916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04F82A61-EC17-F290-0D66-81E5864AA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97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6C32-9DF4-CD33-6041-8ADCE7146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52FEA7-697A-06CD-45C6-C4AD4B71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Detail of RMBA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C115EF6-F61E-76DC-2982-5A2C6C8FA20C}"/>
              </a:ext>
            </a:extLst>
          </p:cNvPr>
          <p:cNvSpPr>
            <a:spLocks noGrp="1"/>
          </p:cNvSpPr>
          <p:nvPr/>
        </p:nvSpPr>
        <p:spPr bwMode="auto">
          <a:xfrm>
            <a:off x="609600" y="1125536"/>
            <a:ext cx="5933704" cy="48833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9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The RMBA algorithm addresses resource contention in multi-agent environments where DC pricing is a</a:t>
            </a:r>
            <a:r>
              <a:rPr lang="zh-CN" altLang="en-US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8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function of real-time load, modeled as a Non-Cooperative Game.</a:t>
            </a:r>
          </a:p>
          <a:p>
            <a:pPr>
              <a:lnSpc>
                <a:spcPct val="90000"/>
              </a:lnSpc>
            </a:pPr>
            <a:endParaRPr lang="en" altLang="zh-CN" sz="1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 Counterfactual Utility Evaluation</a:t>
            </a:r>
          </a:p>
          <a:p>
            <a:pPr>
              <a:lnSpc>
                <a:spcPct val="90000"/>
              </a:lnSpc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Substituting Reward (Eq. 42): Computes the reward an agent would have received by</a:t>
            </a:r>
            <a:r>
              <a:rPr lang="zh-CN" altLang="en-US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selecting alternative strategy instead of , given the fixed actions of all other agents .</a:t>
            </a:r>
          </a:p>
          <a:p>
            <a:pPr>
              <a:lnSpc>
                <a:spcPct val="90000"/>
              </a:lnSpc>
            </a:pPr>
            <a:endParaRPr lang="en" altLang="zh-CN" sz="1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Average Gain (Eq. 43): Calculates the cumulative difference between the substituting rewards and the</a:t>
            </a:r>
            <a:r>
              <a:rPr lang="zh-CN" altLang="en-US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actual utility obtained over iterations.</a:t>
            </a:r>
          </a:p>
          <a:p>
            <a:pPr>
              <a:lnSpc>
                <a:spcPct val="90000"/>
              </a:lnSpc>
            </a:pPr>
            <a:endParaRPr lang="en" altLang="zh-CN" sz="1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2. Regret Quantification</a:t>
            </a:r>
          </a:p>
          <a:p>
            <a:pPr>
              <a:lnSpc>
                <a:spcPct val="90000"/>
              </a:lnSpc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Average Regret (Eq. 44): Defined as isolating only those alternative strategies</a:t>
            </a:r>
            <a:r>
              <a:rPr lang="zh-CN" altLang="en-US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that yield a positive utility increment over the historical mean.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3. Probabilistic Strategy Update</a:t>
            </a:r>
          </a:p>
          <a:p>
            <a:pPr>
              <a:lnSpc>
                <a:spcPct val="90000"/>
              </a:lnSpc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Probability Matching (Eq. 45): The selection probability for the subsequent iteration n + 1 is updated to</a:t>
            </a:r>
            <a:r>
              <a:rPr lang="zh-CN" altLang="en-US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be directly proportional to the accumulated relative regret.</a:t>
            </a:r>
          </a:p>
          <a:p>
            <a:pPr>
              <a:lnSpc>
                <a:spcPct val="90000"/>
              </a:lnSpc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Exploration vs. Stability: The mechanism ensures that strategies with higher historical utility gains are</a:t>
            </a:r>
            <a:r>
              <a:rPr lang="zh-CN" altLang="en-US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assigned higher selection weights while maintaining a non-zero probability for system exploration.</a:t>
            </a:r>
          </a:p>
          <a:p>
            <a:pPr>
              <a:lnSpc>
                <a:spcPct val="90000"/>
              </a:lnSpc>
            </a:pPr>
            <a:endParaRPr lang="en" altLang="zh-CN" sz="1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 Convergence: Correlated Equilibrium</a:t>
            </a:r>
          </a:p>
          <a:p>
            <a:pPr>
              <a:lnSpc>
                <a:spcPct val="90000"/>
              </a:lnSpc>
            </a:pPr>
            <a:endParaRPr lang="en" altLang="zh-CN" sz="1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The iterative update of </a:t>
            </a:r>
            <a:r>
              <a:rPr lang="en" altLang="zh-CN" sz="19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pj</a:t>
            </a: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,(m) ensures convergence to a Correlated Equilibrium (CE).</a:t>
            </a:r>
            <a:r>
              <a:rPr lang="zh-CN" altLang="en-US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sz="1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System Impact: Mitigates utility degradation caused by concurrent resource requests, ensuring global load</a:t>
            </a:r>
            <a:r>
              <a:rPr lang="zh-CN" altLang="en-US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" altLang="zh-CN" sz="1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distribution stability.</a:t>
            </a:r>
            <a:endParaRPr lang="en-US" altLang="zh-CN" sz="1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B1CF1F75-1A6C-2B87-62F9-9F212F4C1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23</a:t>
            </a:fld>
            <a:endParaRPr lang="zh-TW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23719CD-80D3-3E6F-18F0-762E04FF424C}"/>
              </a:ext>
            </a:extLst>
          </p:cNvPr>
          <p:cNvGrpSpPr/>
          <p:nvPr/>
        </p:nvGrpSpPr>
        <p:grpSpPr>
          <a:xfrm>
            <a:off x="7245954" y="1125536"/>
            <a:ext cx="3938759" cy="5508757"/>
            <a:chOff x="7245954" y="1125536"/>
            <a:chExt cx="3938759" cy="5508757"/>
          </a:xfrm>
        </p:grpSpPr>
        <p:pic>
          <p:nvPicPr>
            <p:cNvPr id="4" name="图片 3" descr="文本&#10;&#10;AI 生成的内容可能不正确。">
              <a:extLst>
                <a:ext uri="{FF2B5EF4-FFF2-40B4-BE49-F238E27FC236}">
                  <a16:creationId xmlns:a16="http://schemas.microsoft.com/office/drawing/2014/main" id="{E12782E7-0B75-181B-49C7-5E4B3DBA1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45954" y="1125536"/>
              <a:ext cx="3938759" cy="5508757"/>
            </a:xfrm>
            <a:prstGeom prst="rect">
              <a:avLst/>
            </a:prstGeom>
            <a:noFill/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E73FBD1-3E00-0E86-511C-B058339950FB}"/>
                </a:ext>
              </a:extLst>
            </p:cNvPr>
            <p:cNvSpPr txBox="1"/>
            <p:nvPr/>
          </p:nvSpPr>
          <p:spPr>
            <a:xfrm>
              <a:off x="7245954" y="1159308"/>
              <a:ext cx="381828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 anchorCtr="1">
              <a:spAutoFit/>
            </a:bodyPr>
            <a:lstStyle/>
            <a:p>
              <a:r>
                <a:rPr kumimoji="1" lang="en-US" altLang="zh-CN" sz="11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Algorithm 3. RMBA : Regret Matching-Based Assignment</a:t>
              </a:r>
              <a:endParaRPr kumimoji="1" lang="zh-CN" altLang="en-US" sz="11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9069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B79F-CE67-582F-EB05-B2E5362F0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E5A0D9-EAF2-E64E-FD4B-C56138A8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More to Consider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EB7B2D3B-DCBD-BD4E-0A4F-68C473107C63}"/>
              </a:ext>
            </a:extLst>
          </p:cNvPr>
          <p:cNvSpPr>
            <a:spLocks noGrp="1"/>
          </p:cNvSpPr>
          <p:nvPr/>
        </p:nvSpPr>
        <p:spPr bwMode="auto">
          <a:xfrm>
            <a:off x="609600" y="1125538"/>
            <a:ext cx="4876800" cy="4469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9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18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algorithm maps the graph logic but treats the network as a "fixed cost" or a "black box."</a:t>
            </a:r>
          </a:p>
          <a:p>
            <a:pPr>
              <a:lnSpc>
                <a:spcPct val="90000"/>
              </a:lnSpc>
            </a:pPr>
            <a:endParaRPr lang="en-US" altLang="zh-CN" sz="18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8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Reality : WAN bandwidth is shared and fluctuates. A </a:t>
            </a:r>
            <a:r>
              <a:rPr lang="zh-CN" altLang="en-US" sz="18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”optimal” map might fail if the network route between DC-A and DC-B is congested.</a:t>
            </a:r>
          </a:p>
          <a:p>
            <a:pPr>
              <a:lnSpc>
                <a:spcPct val="90000"/>
              </a:lnSpc>
            </a:pPr>
            <a:endParaRPr lang="en-US" altLang="zh-CN" sz="18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8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HPS+</a:t>
            </a:r>
            <a:r>
              <a:rPr lang="zh-CN" altLang="en-US" sz="18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8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Jointly optimize where the task sits (Hypergraph) and how the data moves (SDN Routing)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17282B9F-62A2-21AA-26A4-6B059AA5CB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6A567CAB-5D4E-CF8A-F326-505FA502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12105"/>
            <a:ext cx="5384800" cy="3500119"/>
          </a:xfrm>
          <a:prstGeom prst="rect">
            <a:avLst/>
          </a:prstGeom>
          <a:noFill/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749F650-3360-C302-4B5E-3ECC362D0932}"/>
              </a:ext>
            </a:extLst>
          </p:cNvPr>
          <p:cNvSpPr txBox="1"/>
          <p:nvPr/>
        </p:nvSpPr>
        <p:spPr>
          <a:xfrm>
            <a:off x="6484188" y="4812224"/>
            <a:ext cx="3653564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Fig8.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Example and scheduling results</a:t>
            </a:r>
          </a:p>
        </p:txBody>
      </p:sp>
    </p:spTree>
    <p:extLst>
      <p:ext uri="{BB962C8B-B14F-4D97-AF65-F5344CB8AC3E}">
        <p14:creationId xmlns:p14="http://schemas.microsoft.com/office/powerpoint/2010/main" val="2297311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3F160-C865-A09C-4605-9EF557F4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5844C6-A78C-3212-F1A4-80E3A9A2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Augmented Hypergraph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1436888-C7DA-E5FB-F29F-6A24B14E5BC2}"/>
              </a:ext>
            </a:extLst>
          </p:cNvPr>
          <p:cNvSpPr>
            <a:spLocks noGrp="1"/>
          </p:cNvSpPr>
          <p:nvPr/>
        </p:nvSpPr>
        <p:spPr bwMode="auto">
          <a:xfrm>
            <a:off x="711199" y="1676320"/>
            <a:ext cx="9553677" cy="42276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3735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panose="020B0604020202090204" pitchFamily="34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5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endParaRPr lang="en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960A2B17-8D02-E01B-9B6E-65551D5F87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25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D2A9A1B-9274-C40F-5EB2-241E62169249}"/>
                  </a:ext>
                </a:extLst>
              </p:cNvPr>
              <p:cNvSpPr txBox="1"/>
              <p:nvPr/>
            </p:nvSpPr>
            <p:spPr>
              <a:xfrm>
                <a:off x="460476" y="1165288"/>
                <a:ext cx="11020325" cy="5692712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minimize WAN traffic, HPS+ models the entire system as an </a:t>
                </a:r>
                <a:r>
                  <a:rPr lang="en" altLang="zh-CN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Augmented Hypergraph </a:t>
                </a: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endParaRPr lang="en" altLang="zh-CN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of vertices of hypergraph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" altLang="zh-CN" sz="18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𝑉</m:t>
                    </m:r>
                    <m:r>
                      <a:rPr lang="en" altLang="zh-CN" sz="18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" altLang="zh-CN" sz="18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" altLang="zh-CN" sz="18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" altLang="zh-CN" sz="18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:The set of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</a:t>
                </a: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tasks.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:The set of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</a:t>
                </a: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files.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:The set of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Physical </a:t>
                </a: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Centers (DCs).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:The set of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Virtual </a:t>
                </a: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Tasks (Unit-weighted nodes used to balance DC capacity constraints).</a:t>
                </a:r>
              </a:p>
              <a:p>
                <a:pPr>
                  <a:buNone/>
                </a:pPr>
                <a:endParaRPr lang="en" altLang="zh-CN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Hyperedges (Nets </a:t>
                </a:r>
                <a14:m>
                  <m:oMath xmlns:m="http://schemas.openxmlformats.org/officeDocument/2006/math">
                    <m:r>
                      <a:rPr lang="en" altLang="zh-CN" sz="18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buNone/>
                </a:pP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Nets connect tasks to their required files and files to their DC replicas.</a:t>
                </a:r>
              </a:p>
              <a:p>
                <a:pPr>
                  <a:buNone/>
                </a:pPr>
                <a:endParaRPr lang="en" altLang="zh-CN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" altLang="zh-CN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Double-Counting Free Cost Function </a:t>
                </a:r>
                <a:r>
                  <a:rPr lang="zh-CN" alt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</a:t>
                </a:r>
                <a:r>
                  <a:rPr lang="zh-CN" alt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zh-CN" alt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cut</a:t>
                </a:r>
                <a:r>
                  <a:rPr lang="zh-CN" altLang="en-US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buNone/>
                </a:pP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" altLang="zh-CN" sz="18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𝐶𝑢𝑡</m:t>
                    </m:r>
                    <m:d>
                      <m:d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" altLang="zh-CN" sz="18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" altLang="zh-CN" sz="180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altLang="zh-CN" sz="1800" i="1" dirty="0" err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" altLang="zh-CN" sz="1800" i="1" dirty="0" err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" altLang="zh-CN" sz="1800" i="1" dirty="0" err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" altLang="zh-CN" sz="180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altLang="zh-CN" sz="1800" i="1" dirty="0" err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" altLang="zh-CN" sz="18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" altLang="zh-CN" sz="1800" i="1" dirty="0" err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" altLang="zh-CN" sz="180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" altLang="zh-CN" sz="18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" altLang="zh-CN" sz="180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" altLang="zh-CN" sz="1800" i="1" dirty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" altLang="zh-CN" sz="1800" i="1" dirty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" altLang="zh-CN" sz="1800" i="1" dirty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" altLang="zh-CN" sz="1800" i="1" dirty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𝑓𝑗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altLang="zh-CN" sz="18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" altLang="zh-CN" sz="180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zh-CN" sz="1800" i="1" dirty="0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sSub>
                              <m:sSubPr>
                                <m:ctrlPr>
                                  <a:rPr lang="en" altLang="zh-CN" sz="18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" altLang="zh-CN" sz="18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" altLang="zh-CN" sz="18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𝑓𝑗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denotes the number of datacenters storing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zh-CN" altLang="en-US" sz="18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" altLang="zh-CN" sz="1800" i="1" dirty="0" err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partitions the nets connects</a:t>
                </a:r>
              </a:p>
              <a:p>
                <a:pPr>
                  <a:buNone/>
                </a:pPr>
                <a:r>
                  <a:rPr lang="zh-CN" altLang="en-US" sz="1800" dirty="0">
                    <a:solidFill>
                      <a:srgbClr val="000000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" altLang="zh-CN" sz="18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" altLang="zh-CN" sz="18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" altLang="zh-CN" sz="1800" i="1" dirty="0" err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zh-CN" sz="1800" i="1" dirty="0" err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" altLang="zh-CN" sz="1800" i="1" dirty="0" err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zh-CN" altLang="en-US" sz="18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: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to the size of the file, i.e., </a:t>
                </a:r>
                <a14:m>
                  <m:oMath xmlns:m="http://schemas.openxmlformats.org/officeDocument/2006/math">
                    <m:r>
                      <a:rPr lang="en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ctrlPr>
                          <a:rPr lang="en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" altLang="zh-CN" i="1" dirty="0" err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" altLang="zh-CN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" altLang="zh-CN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altLang="zh-CN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" altLang="zh-CN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" altLang="zh-CN" i="1" dirty="0" err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sub>
                    </m:sSub>
                  </m:oMath>
                </a14:m>
                <a:endParaRPr lang="en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" altLang="zh-CN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kumimoji="1" lang="zh-CN" altLang="en-US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D2A9A1B-9274-C40F-5EB2-241E62169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6" y="1165288"/>
                <a:ext cx="11020325" cy="5692712"/>
              </a:xfrm>
              <a:prstGeom prst="rect">
                <a:avLst/>
              </a:prstGeom>
              <a:blipFill>
                <a:blip r:embed="rId3"/>
                <a:stretch>
                  <a:fillRect t="-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326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EBB7-96E6-9B96-040C-6ED68E6E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F18082-4FBB-8BFE-C84D-74491033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HPS+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35D64AD-8122-44C1-A542-B8D7D68762A5}"/>
                  </a:ext>
                </a:extLst>
              </p:cNvPr>
              <p:cNvSpPr txBox="1"/>
              <p:nvPr/>
            </p:nvSpPr>
            <p:spPr bwMode="auto">
              <a:xfrm>
                <a:off x="431471" y="1636175"/>
                <a:ext cx="5384800" cy="422769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rtlCol="0" anchor="t" anchorCtr="0" compatLnSpc="1">
                <a:normAutofit/>
              </a:bodyPr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Also, Traditional hypergraph partitioning doesn’t handle DC capacities or multiple replicas. HPS+ introduces four key techniques:</a:t>
                </a: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endParaRPr kumimoji="1" lang="en-US" altLang="zh-CN" sz="15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Unit-Weighted Virtual Tasks: Fills the gap between total DC supply and actual task demand to satisfy the "Zero-Approaching Balance Constraint."</a:t>
                </a: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endParaRPr kumimoji="1" lang="en-US" altLang="zh-CN" sz="15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 Weighted DC Nodes: DC nodes are assigned weight</a:t>
                </a:r>
                <a14:m>
                  <m:oMath xmlns:m="http://schemas.openxmlformats.org/officeDocument/2006/math">
                    <m:r>
                      <a:rPr kumimoji="1" lang="en-US" altLang="zh-CN" sz="15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CN" altLang="en-US" sz="1500" i="1">
                        <a:effectLst/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kumimoji="1" lang="en-US" altLang="zh-CN" sz="15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15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1500" i="1">
                                <a:effectLst/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zh-CN" altLang="en-US" sz="1500" i="1">
                                <a:effectLst/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kumimoji="1" lang="en-US" altLang="zh-CN" sz="1500" i="1">
                        <a:effectLst/>
                        <a:latin typeface="Cambria Math" panose="02040503050406030204" pitchFamily="18" charset="0"/>
                      </a:rPr>
                      <m:t>= −</m:t>
                    </m:r>
                    <m:sSub>
                      <m:sSubPr>
                        <m:ctrlPr>
                          <a:rPr kumimoji="1" lang="en-US" altLang="zh-CN" sz="15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1500" i="1"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1500" i="1">
                            <a:latin typeface="Cambria Math" panose="02040503050406030204" pitchFamily="18" charset="0"/>
                          </a:rPr>
                          <m:t>vs</m:t>
                        </m:r>
                      </m:sub>
                    </m:sSub>
                  </m:oMath>
                </a14:m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(negative capacity).  Ensures every partition contains one and only one DC vertex.</a:t>
                </a: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endParaRPr kumimoji="1" lang="en-US" altLang="zh-CN" sz="15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anose="05000000000000000000" pitchFamily="2" charset="2"/>
                  <a:buChar char="l"/>
                </a:pP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Replica-Aware Cut-Cost: Modifies the standard “</a:t>
                </a:r>
                <a:r>
                  <a:rPr kumimoji="1" lang="en-US" altLang="zh-CN" sz="150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ConCut</a:t>
                </a: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function to account for the fact that data doesn’t need to be transferred if a local replica exists.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35D64AD-8122-44C1-A542-B8D7D6876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471" y="1636175"/>
                <a:ext cx="5384800" cy="4227699"/>
              </a:xfrm>
              <a:prstGeom prst="rect">
                <a:avLst/>
              </a:prstGeom>
              <a:blipFill>
                <a:blip r:embed="rId3"/>
                <a:stretch>
                  <a:fillRect l="-472" t="-599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FDAD40CA-9599-7097-8DA7-2ED837B1B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758566"/>
            <a:ext cx="5384800" cy="2961639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E3858C44-01A3-D2C1-E05E-AE35C23016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82E891-2DD7-F90B-C1A8-E0EDFFB56DFC}"/>
              </a:ext>
            </a:extLst>
          </p:cNvPr>
          <p:cNvSpPr txBox="1"/>
          <p:nvPr/>
        </p:nvSpPr>
        <p:spPr>
          <a:xfrm flipH="1">
            <a:off x="6660203" y="4099285"/>
            <a:ext cx="22697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200" dirty="0">
                <a:ea typeface="標楷體" pitchFamily="65" charset="-120"/>
                <a:cs typeface="Calibri" pitchFamily="34" charset="0"/>
              </a:rPr>
              <a:t>9</a:t>
            </a:r>
            <a:endParaRPr kumimoji="1" lang="zh-CN" altLang="en-US" sz="12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109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41D4-FBED-6D46-42F7-57174243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FF2CB8-7036-E37B-54B1-4E360AC77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Routing &amp; Bandwidth Allocation</a:t>
            </a:r>
            <a:endParaRPr lang="zh-TW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E874CB9-AB26-AF3B-653D-F75D3B3A5569}"/>
                  </a:ext>
                </a:extLst>
              </p:cNvPr>
              <p:cNvSpPr txBox="1"/>
              <p:nvPr/>
            </p:nvSpPr>
            <p:spPr bwMode="auto">
              <a:xfrm>
                <a:off x="180749" y="4073360"/>
                <a:ext cx="6313886" cy="191472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rtlCol="0" anchor="t" anchorCtr="0" compatLnSpc="1">
                <a:normAutofit/>
              </a:bodyPr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endParaRPr kumimoji="1" lang="en-US" altLang="zh-CN" sz="15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Algorithm Workflow:</a:t>
                </a: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 Initialize: Set a large </a:t>
                </a:r>
                <a:r>
                  <a:rPr kumimoji="1" lang="en-US" altLang="zh-CN" sz="150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Makespan</a:t>
                </a: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500" i="1" dirty="0" smtClean="0">
                        <a:effectLst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 Iterate: Progressively decrease </a:t>
                </a:r>
                <a14:m>
                  <m:oMath xmlns:m="http://schemas.openxmlformats.org/officeDocument/2006/math">
                    <m:r>
                      <a:rPr kumimoji="1" lang="en-US" altLang="zh-CN" sz="1500" i="1" dirty="0" smtClean="0">
                        <a:effectLst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while increasing bandwidth </a:t>
                </a:r>
                <a14:m>
                  <m:oMath xmlns:m="http://schemas.openxmlformats.org/officeDocument/2006/math">
                    <m:r>
                      <a:rPr kumimoji="1" lang="en-US" altLang="zh-CN" sz="1500" i="1" dirty="0" smtClean="0">
                        <a:effectLst/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flows.</a:t>
                </a: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Multi-path Routing: If the shortest path is full, RBA spills traffic to the next shortest path via SDN.</a:t>
                </a: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5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 Stop when all link bandwidth is fully utilized or all flow demands are met.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E874CB9-AB26-AF3B-653D-F75D3B3A5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749" y="4073360"/>
                <a:ext cx="6313886" cy="1914726"/>
              </a:xfrm>
              <a:prstGeom prst="rect">
                <a:avLst/>
              </a:prstGeom>
              <a:blipFill>
                <a:blip r:embed="rId3"/>
                <a:stretch>
                  <a:fillRect l="-402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2B962799-EC1A-35C7-2863-7F3A13757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3E2F1848-8DC7-D230-2CE8-3C6830C3E9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727" y="4403737"/>
            <a:ext cx="5522091" cy="16361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F89DBAF-2AED-ECFC-6A22-F745E857B72D}"/>
              </a:ext>
            </a:extLst>
          </p:cNvPr>
          <p:cNvSpPr txBox="1"/>
          <p:nvPr/>
        </p:nvSpPr>
        <p:spPr>
          <a:xfrm>
            <a:off x="5473494" y="5824919"/>
            <a:ext cx="6833922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Fig10.</a:t>
            </a:r>
            <a:r>
              <a:rPr kumimoji="1" lang="zh-CN" altLang="en-US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Orchestrating the data transfers to balance their completion time.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866677A-BA9C-D61A-1BC9-AAC5D00E499B}"/>
                  </a:ext>
                </a:extLst>
              </p:cNvPr>
              <p:cNvSpPr txBox="1"/>
              <p:nvPr/>
            </p:nvSpPr>
            <p:spPr>
              <a:xfrm>
                <a:off x="530474" y="1188022"/>
                <a:ext cx="9951996" cy="2061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endParaRPr kumimoji="1" lang="en-US" altLang="zh-CN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Once tasks are placed, the OS must "reserve" WAN paths using Routing &amp; Bandwidth Allocation</a:t>
                </a: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endParaRPr kumimoji="1" lang="en-US" altLang="zh-CN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OS calculates the required bandwidth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800" i="1" dirty="0" smtClean="0"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sz="1800" i="1" dirty="0" smtClean="0">
                            <a:effectLst/>
                            <a:latin typeface="Cambria Math" panose="02040503050406030204" pitchFamily="18" charset="0"/>
                          </a:rPr>
                          <m:t>𝑓𝑖</m:t>
                        </m:r>
                      </m:sub>
                    </m:sSub>
                  </m:oMath>
                </a14:m>
                <a:r>
                  <a:rPr kumimoji="1" lang="en-US" altLang="zh-CN" sz="1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to ensure a task finishes by its deadline </a:t>
                </a:r>
                <a14:m>
                  <m:oMath xmlns:m="http://schemas.openxmlformats.org/officeDocument/2006/math">
                    <m:r>
                      <a:rPr kumimoji="1" lang="en-US" altLang="zh-CN" sz="1800" i="1" dirty="0" smtClean="0">
                        <a:effectLst/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zh-CN" altLang="en-US" sz="1800" b="0" i="0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1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：</a:t>
                </a:r>
                <a:endParaRPr kumimoji="1" lang="en-US" altLang="zh-CN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  <m:t>𝑓𝑖</m:t>
                          </m:r>
                        </m:sub>
                      </m:sSub>
                      <m:r>
                        <a:rPr kumimoji="1" lang="en-US" altLang="zh-CN" sz="1800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kumimoji="1"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1"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kumimoji="1" lang="en-US" altLang="zh-C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1" lang="en-US" altLang="zh-CN" sz="18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</a:pPr>
                <a:r>
                  <a:rPr kumimoji="1" lang="en-US" altLang="zh-CN" sz="1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 More Bandwidth to tasks with Long CPU times. 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866677A-BA9C-D61A-1BC9-AAC5D00E4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74" y="1188022"/>
                <a:ext cx="9951996" cy="2061013"/>
              </a:xfrm>
              <a:prstGeom prst="rect">
                <a:avLst/>
              </a:prstGeom>
              <a:blipFill>
                <a:blip r:embed="rId5"/>
                <a:stretch>
                  <a:fillRect l="-510" b="-3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580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D7740-A7A5-CE59-48BD-7A522BFE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6CF1F2-3455-840E-7717-E1B54FA70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  <a:endParaRPr lang="en-US" altLang="zh-TW" sz="4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Related</a:t>
            </a:r>
            <a:r>
              <a:rPr lang="zh-CN" altLang="en-US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Proposed Methods</a:t>
            </a: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39976B-D598-D3AD-8043-57523DB70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10" name="標題 3">
            <a:extLst>
              <a:ext uri="{FF2B5EF4-FFF2-40B4-BE49-F238E27FC236}">
                <a16:creationId xmlns:a16="http://schemas.microsoft.com/office/drawing/2014/main" id="{F67FC20B-9E84-586A-13D3-339916FC2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Efficient Scheduling in Distributed OS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370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D84BF-30C0-4F91-38A7-7FBDF4CA9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6AD503-8828-0B85-02CC-A487754B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– Local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A867BB-1CB0-1B22-8DA7-E3BF0B6C7CBF}"/>
              </a:ext>
            </a:extLst>
          </p:cNvPr>
          <p:cNvSpPr txBox="1"/>
          <p:nvPr/>
        </p:nvSpPr>
        <p:spPr bwMode="auto">
          <a:xfrm>
            <a:off x="312200" y="5248507"/>
            <a:ext cx="8447487" cy="5657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>
              <a:buNone/>
            </a:pPr>
            <a:r>
              <a:rPr lang="en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Adopted 6 types of logs such as CEA-Curie-2011-2.1 and CTC-SP2-1996-2.1. Simulates the characteristics of task requests in a real cloud environment.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8C5A4836-4DB1-9359-3AC2-18C5F56AC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C3B150BF-51E5-E870-7824-B3C86451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71" y="1326635"/>
            <a:ext cx="4321547" cy="3481505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6BF1FE49-91F0-0B67-B2FB-767E3B61DD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447" y="1326635"/>
            <a:ext cx="4019155" cy="348150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80CD49F-AE20-8E02-82CC-C290833A7810}"/>
              </a:ext>
            </a:extLst>
          </p:cNvPr>
          <p:cNvSpPr txBox="1"/>
          <p:nvPr/>
        </p:nvSpPr>
        <p:spPr>
          <a:xfrm>
            <a:off x="312200" y="4551234"/>
            <a:ext cx="861740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11.</a:t>
            </a:r>
            <a:r>
              <a:rPr kumimoji="1"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CloudSim</a:t>
            </a:r>
            <a:r>
              <a:rPr kumimoji="1"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toolkit with heterogeneous VM configurations (MIPS and Price)</a:t>
            </a:r>
          </a:p>
          <a:p>
            <a:endParaRPr kumimoji="1" lang="en" altLang="zh-CN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271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F6DE-D52C-211E-5893-69A33A45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8D1B11-D54D-3645-B48A-02140B75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- Global Optimal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7369CCC4-34BF-343E-F3A2-A6C9C73548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0BE02758-1464-9BC5-8AA2-C697CE707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69" y="1309254"/>
            <a:ext cx="10947751" cy="389213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9BE4237-DB8F-58D5-F8E0-A74DAAA3E99D}"/>
              </a:ext>
            </a:extLst>
          </p:cNvPr>
          <p:cNvSpPr txBox="1"/>
          <p:nvPr/>
        </p:nvSpPr>
        <p:spPr>
          <a:xfrm>
            <a:off x="490615" y="5216678"/>
            <a:ext cx="861740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 12.</a:t>
            </a:r>
            <a:r>
              <a:rPr kumimoji="1"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Simulation results of the large-scale GDCN upon having DCs with dynamic prices.</a:t>
            </a:r>
          </a:p>
          <a:p>
            <a:endParaRPr kumimoji="1" lang="en" altLang="zh-CN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6362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C198-D49D-A526-5189-B1FA460A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7FE3D68B-261F-0335-C57D-EFC00CE62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33" y="1138043"/>
            <a:ext cx="10486485" cy="232925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408D5F5-B55B-3C53-08AF-E88165D3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64B8C287-17C0-4E86-3F1C-10E72800D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31</a:t>
            </a:fld>
            <a:endParaRPr lang="zh-TW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19D2EAF-1217-378A-97DA-497C90C50218}"/>
              </a:ext>
            </a:extLst>
          </p:cNvPr>
          <p:cNvGrpSpPr/>
          <p:nvPr/>
        </p:nvGrpSpPr>
        <p:grpSpPr>
          <a:xfrm>
            <a:off x="368132" y="1289024"/>
            <a:ext cx="10486485" cy="2604922"/>
            <a:chOff x="368132" y="1289024"/>
            <a:chExt cx="10486485" cy="2604922"/>
          </a:xfrm>
        </p:grpSpPr>
        <p:pic>
          <p:nvPicPr>
            <p:cNvPr id="4" name="图片 3" descr="图表, 折线图&#10;&#10;AI 生成的内容可能不正确。">
              <a:extLst>
                <a:ext uri="{FF2B5EF4-FFF2-40B4-BE49-F238E27FC236}">
                  <a16:creationId xmlns:a16="http://schemas.microsoft.com/office/drawing/2014/main" id="{5A62C3E0-8218-B750-472A-2B67C60F3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132" y="1289024"/>
              <a:ext cx="10486485" cy="2604922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EE17774-8715-B0ED-3BE4-1B035BC402D3}"/>
                </a:ext>
              </a:extLst>
            </p:cNvPr>
            <p:cNvSpPr txBox="1"/>
            <p:nvPr/>
          </p:nvSpPr>
          <p:spPr>
            <a:xfrm>
              <a:off x="453169" y="3368988"/>
              <a:ext cx="59669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1" lang="en-US" altLang="zh-CN" sz="12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Fig 13.</a:t>
              </a:r>
              <a:r>
                <a:rPr kumimoji="1" lang="en-US" altLang="zh-CN" sz="12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200" dirty="0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D12AB554-893D-B29F-5453-C735EBE805A3}"/>
              </a:ext>
            </a:extLst>
          </p:cNvPr>
          <p:cNvSpPr txBox="1"/>
          <p:nvPr/>
        </p:nvSpPr>
        <p:spPr>
          <a:xfrm>
            <a:off x="205410" y="3974323"/>
            <a:ext cx="10493578" cy="2123658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Topology</a:t>
            </a:r>
            <a:r>
              <a:rPr kumimoji="1" lang="zh-CN" altLang="en-US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：</a:t>
            </a:r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12 datacenters and 19 WAN links (replicating the real backbone topology of Google)</a:t>
            </a:r>
          </a:p>
          <a:p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Workload Design</a:t>
            </a:r>
            <a:r>
              <a:rPr kumimoji="1" lang="zh-CN" altLang="en-US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： </a:t>
            </a:r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Based on real scenarios of astronomical data processing, scalable task and file workloads are generated:</a:t>
            </a:r>
          </a:p>
          <a:p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1. Task Parameters</a:t>
            </a:r>
          </a:p>
          <a:p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	Number of tasks: Up to 2000</a:t>
            </a:r>
          </a:p>
          <a:p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	Computing requirements: The CPU core occupancy of each task is randomly generated within the range [1, 10];</a:t>
            </a:r>
          </a:p>
          <a:p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	CPU execution time: Randomly generated within the range [10, 1000] seconds</a:t>
            </a:r>
          </a:p>
          <a:p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	Communication-to-Computation Ratio (CCR): Three scenarios are set (0.1, 1, 10). </a:t>
            </a:r>
          </a:p>
          <a:p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2. File Parameters</a:t>
            </a:r>
          </a:p>
          <a:p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	Number of files: 8000 files allocated to the Google B4 network;</a:t>
            </a:r>
          </a:p>
          <a:p>
            <a:r>
              <a:rPr kumimoji="1" lang="en" altLang="zh-CN" sz="12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	File size: Randomly generated following a uniform distribution of [0.2 GB, 5 GB] (based on the real size distribution of astronomical observation data);</a:t>
            </a:r>
          </a:p>
          <a:p>
            <a:endParaRPr kumimoji="1" lang="zh-CN" altLang="en-US" sz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030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AD8D9-F415-8CA4-93DE-A17D9A69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F14C6BB-18D0-3330-F88C-24C5FFBC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Efficient Scheduling in Distributed OS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A54E189-3CCB-E327-DAC3-0CC44D979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  <a:endParaRPr lang="en-US" altLang="zh-TW" sz="4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Related</a:t>
            </a:r>
            <a:r>
              <a:rPr lang="zh-CN" altLang="en-US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Performance Evaluation </a:t>
            </a: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B8C438-6DEE-B121-C0B5-6B4BF089C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9420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8C93D-F03F-4AE3-E35C-71744309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41DF87-C8DA-CB77-0F93-00DB954E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FF09CE8-49A6-52D9-9D55-68418C9B1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t>33</a:t>
            </a:fld>
            <a:endParaRPr lang="zh-TW" altLang="en-US"/>
          </a:p>
        </p:txBody>
      </p:sp>
      <p:graphicFrame>
        <p:nvGraphicFramePr>
          <p:cNvPr id="7" name="文本框 2">
            <a:extLst>
              <a:ext uri="{FF2B5EF4-FFF2-40B4-BE49-F238E27FC236}">
                <a16:creationId xmlns:a16="http://schemas.microsoft.com/office/drawing/2014/main" id="{4A61C86E-A1A7-3AAA-50CC-C4D1BB96B5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1787482"/>
              </p:ext>
            </p:extLst>
          </p:nvPr>
        </p:nvGraphicFramePr>
        <p:xfrm>
          <a:off x="609600" y="1125537"/>
          <a:ext cx="10972800" cy="4895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667428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PMingLiU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0cnVlfSIsCgkiTGF0ZXgiIDogIlhGc2dYR0psWjJsdWUyRnNhV2R1WldSOUNseGxjSE5wYkc5dUlDWTlJRnh6ZFcxZmUybzlNWDFlZTI1OUlGeHNaV1owS0NCY2FXNTBYM3QwUFRCOVhudGNZMmhwZlNCUVgyb29kQ2tnWEN3Z1pIUWdYSEpwWjJoMEtTQmNYQXBRWDJvb2RDa2dKajBnQ2x4aVpXZHBibnRqWVhObGMzMEtVRjl6SUNzZ1VGOWtLSFFwTENBbUlGeDBaWGgwZTJsbUlISmxjMjkxY21ObElHRmpkR2wyWlNCaGRDQjBhVzFsSUgwZ2RDQmNYQW93TENBbUlGeDBaWGgwZTJsbUlHbGtiR1V2YzJoMWRDQmtiM2R1ZlFwY1pXNWtlMk5oYzJWemZTQmNYQXBRWDJRb2RDa2dKajBnWEdGc2NHaGhYMm9nWEhScGJXVnpJQ2htWDJvb2RDa3BYak5jWEFwY1lXeHdhR0ZmYWlBbVBTQmNabkpoWTNzb01TQXRJRnhpWlhSaFgyb3BJRngwYVcxbGN5QlFYM3RjYldGNGZYMTdLR1pmZTF4dFlYaDlLVjR6ZlNCY1hBb21YSFJsZUhSN2QyaGxjbVU2ZlNCY1hBb21VRjl6T2lCY2RHVjRkSHRUZEdGMGFXTWdjRzkzWlhKOUlGeGNDaVpRWDJRNklGeDBaWGgwZTBSNWJtRnRhV01nY0c5M1pYSWdLR1oxYm1OMGFXOXVJRzltSUdaeVpYRjFaVzVqZVNsOUlGeGNDaVptWDJvb2RDazZJRngwWlhoMGUwOXdaWEpoZEdsdVp5Qm1jbVZ4ZFdWdVkza2dZWFFnZEdsdFpTQjlJSFFnWEZ3S0pseGlaWFJoWDJvNklGeDBaWGgwZTBsa2JHVWdjRzkzWlhJZ2NtRjBhVzk5SUZ4Y0NpWlFYM3RjYldGNGZUb2dYSFJsZUhSN1RXRjRhVzExYlNCd2IzZGxjaUJqYjI1emRXMXdkR2x2Ym4wS1hHVnVaSHRoYkdsbmJtVmtmU0JjWFE9PSIsCgkiTGF0ZXhJbWdCYXNlNjQiIDogImlWQk9SdzBLR2dvQUFBQU5TVWhFVWdBQUJ3c0FBQVpEQkFNQUFBRHlZc0t0QUFBQU1GQk1WRVgvLy84QUFBQUFBQUFBQUFBQUFBQUFBQUFBQUFBQUFBQUFBQUFBQUFBQUFBQUFBQUFBQUFBQUFBQUFBQUFBQUFBdjNhQjdBQUFBRDNSU1RsTUFSSW1yemQzdlZMc1FtWFl5SW1ZeWNrSnNBQUFBQ1hCSVdYTUFBQTdFQUFBT3hBR1ZLdzRiQUFBZ0FFbEVRVlI0QWV5OUQzUXMyVmtmV0pMZWUzcjludlFreHpGbU9XdGFKeVJBeHZHUldBYkhlRU5hd1o2SjhaNmtuek9laVFjQ0xjeThpWjFndHpheE9Uakp1Z1VlTy9Za3BKWFlNOWdZUnNKamlIbkJhY1g4MlpnRGREc2N2Rm1mM1NPRkF3TVlZMmtOT0Fuc0hqMTdudVNaOGN6VS9yNWJkZXYrcVZ0VnQ3cGJVbmZycS9PZTZ2NzU3bmUvKzZ2N3EvdS9PZ2pHNXBwdTNMTUhZK2MrMm56ZzU4ZkdhRGFVRVpnb0JDcU4xNFRQZ0lYdG8zYzF3cFdKS2hvWGhoRVlGd1F1ZnpWb2hVdEI5NW5OWURwOGNseXNaanNaZ1lsQ29Mb1NMSVJQejl5bWptazlYSnlvc25GaEdJRXhRYUM5RjF3S24rOXNrTG5MM0NzZGs2ZkdaazRXQXZPM0E3U0d4MCtKVWgyRzF5ZXJkRndhUm1Bc0VKaithaEJzaGVHYmhiSGQ4TlpZR00xR01nS1RoY0RGNTRLZ0dzWmp3azY0TmxtbDQ5SXdBbU9Cd0JhNm9jdGgxQ2NOMnVIcVdCak5SaklDazRYQUV6czBRWW9ta2E0bVQ5RkVRUEJmUnVEVUVRaGo5czJINFVIZm1YL3hxTytrWTVMdzR2SDZtRmpLWm80aEFuTmhHTld2cTJHNDE2LzkwN0pqNjZ2Z2E1c1BmSXNtTzZ1NVI5UjVPY1IwRmwrTXdNa2dBUFp0Q3MyWHcrTytjMWd1T2F5OEVqNFVodCtyc3F1UFFVdFR4MjRqdmhpQmswSGdjaGozSnhkb2MybC8xM1NJOWNjeTEvSjNZV1pJYmRxNVhESjVtYXlHSnZ0SS8vZ016UVpXTktrSUpPdzdESi90dDR5ZDhMdEtKYTJnQWI0c2x5dVJzbjEvcWVSbkkxeHBodHRua3pQbk92a0k3SWRmaVFyWjdudlo4RXA0RlBWcmZkR3EvTzBncUlSSjZ6SlRNcmx2TmtPV2U0TDN2ZzhaVVZhWElIQVlQaTNjb01WU0Vsak8wUW5mVWk2QmtPN0tRV2xRaTNieDlLSGpWSk5nTW12N1ZEUGt6TTRQQXJWNEorbTFNT3dGd1MrVmE5WUVUSmprUWNyaWEvWTl4MzlkazdvVWhqdkNlK1Y0VHdzZVlXYzEvUElJVzhlbWpUTUNjc1J6UVV6VmhIMFVwU1c3dGZscDUrdGhNM3lya2dGNzE0U3YwMDlicXZTY25tdDJrSlhWMHpPVGN4by9CTEJvdnk2czNxSlgvV3k4cjYxTU9hWmtxMWFRNkFtc1VQeUd2bEduR1Q1UFNhYVBld1VwUnlaNjJlK0ZNekwyc2lIamdnRDZvbEdYc0V0NzJpNS9xYnpkKzM0ekYvTk55cWlxbmZEdlJrc2wzYjRuYU12Yk9tQUt6TzVHWUEyb2g1TXpBaVlDTTNMUnZrTmp4RjM4TDNsaEh0OHIwUVhhaGZMYnN1MmxUSERDcWhjRVYvMEdsaVd0T2hseGxQWCtrOUhNV3M4M0FwZGtXeWJPM2pmV1M2T0JGcUxuazZpTGtTQm1ZN1h0TmpOaWJ2YXdqd2JZSjc4VGtka3R1Mm52Ukt4Z3BST0h3SlljN3JRd0d6K3RkUmw5UzdvY2pmQ0t4REVHM1FtdWdJYTNFa2tzQUt3RjE5UmVtaVJpZEIzb3dpK05yblZzMmRnaTBBcWZqbXkvaUhhcXRscTZISmlnV2ZGSmhLWnZNN2dBR21JRUtxOUcrS1dnRlc4ZWtHRWpmbS9EWkw0WWdXRWpjQ2g3aWZQTjIrMCs1a2tmbFZ0U0N3d1QzVGwwWUxYV01PaUdUODRPY0xpcUlNY1RpZDRQanpkUFJERXJQZGNJelB5QXJGYlQ5VGN0bG9laTd0azh0S256aTZWQ2ZUNW5Qd3hiWXMyaWZMWm5sUUs5MG8yenlwdnpaUVF5RUFDeHZQcWtHQnJlZ29xR01aOURmZFNkRE1Xakd0ejJHd3FQcXZsczEwUWk0TnRKdytUTUJnQ1l2dXM3TkJqUXRJemQ3ckJIZWVsUWU0THNIQTBFNnA2Tnc0SnJIeGpXTCtMNW9kRW9qSThWZUhXcytzaXhEQ053YWdpZ1Q3cnFsZGxoY3B4Q0Z4L0hIbDdEODhXamw1UGRqTUJKSW9CSmxqMHYvWFhYaENyMnQvVXhOK3VWMzhrSlZaMHZsSlBManpVekFrVUkxRDBIZDlvWlgwM2xFNWlpMmRUOFkrSEVvc3ZLV0JqS1JwNFhCSER5WjgycnJCaFJwWmU5NTV2ZjZob3hlaWs4T3lITSthYUxjbmJtY002TUFFN3VIbmloZ0NZa1BSbnp5SlBZZ3JQcWxYNlVoRHF1L3ZVb0djaTJuRE1FbHVYeGpLSnlZNkwwdWkxVGFXemdRK0hqYzhwSjJvOGxpd1BwNWpzamNPWUlZTVRudVFtbTVmaU15eU9ZbnVra240VTY4OEo0RzVCOE5jQTdCUXN5QWllSUFMWnJyL21wcitubkRLTWtsZm9xemplRy9YeDF3eS9QRTVOcWVzNUxuWmdCckpnUjBCQUFpUTQwYjQ3VE1TVjZnVDRSZk5GYlE0N3kwNDdxanVIODdtbGp4UG1kSGdKdDM2RWhwbUpTUHpWRGpTSHQ5YWJiZUYyWW1PSWxpL0Y2WkpOc0xZN3Q0cnNXUGhkMmxOb0hpaStMVHdSamREbCtzLy9UeHFGSm4vS3pEQ053WWdoZ0ZXTE5Uem5hRDNzdUovNWVmaTNFUk0yWVhlNjlDR05XQ0RaM1VoREEwSERIcnl5UWZNNlVsTi9MUjB6UGpCa0RYNGNIaDJQd2xNNkxpWmorOUN3cUpqWFdUTkZhL0lsZ3RLaXJac3dZK1BZZHl5OWpZRGFiT0lrSVlGZVg3eSt4dGUwejY4bjM4akcreEtuOCtYOCtWZ0E1OXdTTlZRblkySWxCQVBNdXZsdGd3dEQ2b05seThyMzhXb2hmc0xoc2p4eEhHeVJNL0hyT1RZMTJPZGk2Q1VCZ3diRkJ6VjBzVk52NEMvMXh2UGFKNEVkQ2ZJRjNPYlhUemExb1ZFSWJ2aXMxbzJJdzJ6R3hDQng2ejlCZ2h0ODgwTFNnbXRGS0xRemZjM3R2dkZEcVdxK1Y4Yktlclowa0JCb1d0N0xMaGs4L0hSdXhVeHJ0NXY5aTg3Ym5oS3VoNHl3OVcrTTRzWFNXZ0hIZUo0VUFlcHErUzM3b3Z2cUtucFMxdzlXTE9SclZuZzlYTld0akJNb2dnS3JvdXdHbU9tbFRHampGN0R0SlhBWlNsajBQQ05BM0o4cGRlYS84cmRSYVlDYUd5LzZNemRReFdoRjJMM3UwckdOclJobUJhamtPUXRyZUNLcVhEak0wUzdvL3gxMTNuYjNQa1IvOXFCclAwWXorUXhwUkMxdWxhV2pPYjVyRkFyZDZaa2ltRC9tdVpVYU9aVVRWM284d2xxVmdvODhDZ2QzeU5NeWV3c1FlR25QMk03dEV0R3k0a1IwOWpqSFlxNTcrdHM0NEZvUnRQblVFYVBrT1YyWlA4ME4vK0YvZStZbVBOWVJRL0djdDAwZ284NTJsb0h5WE1oV05aUVIyRUkzWHhwK3hSSGxDalVZL2txNkQvT0w5NUQ5NlR5U0h2OWsvUG9oejg5bVJaZ2IwaXpIclp0QzQrL0JsU1BwNEFGK01RSGtFOEUweHVxd3pSdzQ5UC80emtXUk9YZHMzZnFuUW9VTUZMVUNadGw2dklzYlloU0p0anJINWJQb1pJb0IzT0YycDcxRTRUUHB3UTRobXo4SjAvY2Q3TkNaMVpESFdRZWhZSEl4MUFkajRzME9nRTNGcjI4T0N1VzhVc2l0Wm9pWHFJUmc3Y1QwNGxHa2pDeG9PWndSeUVjQ0FqaTYvUWQwdmsyaldmQ0ErQk9IZDBXejd6K2JrV2o5S2tiditmZkpSTXB0dEdRVUVzTW9nTHIrUjJqSmtzMzRHRk51NWZQcTJvdEJRTTNIVGlsaXg4SHVaamNKalp4dEdESUhEaUlhclhtWlZPdGxyZzloUm1zVlFXemNPMkUvZVJtaDhLZGwzdmNiR2cvM25IZ0hVSHJvOEdUVFZ6RnhwV1BEZkpvcHZrWXJmdlo4bzhNdjBCaWFxNEZ5WVlTRFFJQmFHNGFLZnJnOWtucXZielI0MjJxclJjS1ovUjhZV0dqYy9qWTE1eFdMY250ckkyQXY2MFBWbVQ0TnFXZDNKcmorMU1JeWF3SzljTnpJN0NwN1FzdGc1Um9CNmlMaDhUK0ZPWjIxOXEvdFRheC81N1V3YzVMVXczSjY0UW5HQlRndUJOa2lCeTVjWHRZeXVGMVFjZUpwOENObDFUOW54RWV2NmR3ZkdwMUJzNldraEVHOW95enZRcTV0eTJiMHBtdzVOOUhTNUhIY05zbnM1OFNjVjlmYkZ0T2I1dDZiRCtndEI3ejVyVGJVL2haenFQQ0ZBQk1KMXZPbFo2TWFhUzVBT1RiakNYV0hORXJLdTlIMkdKVjhrTnRJM05neHYvNTRGWGpqc0h6eE9HU3dUQzB1TTdKd3I3NWo5OU4yZlJsc0dmR1dIK1hocXpnYi9rZHUrNzU4Q1c3QWhpUmNPQ3pEaTZHd0U2TmdSTGllN0hLbW1uWnRsTVB2cHVmWVlZSVh0TENyc1pmZWl6SHp6ZmtjaCt3akNDcXdUbVQ1VWNaSnppRUM1RFcxQjBPdzVRTnIzNzVMaGhLdzM1eDA1OVJ0VXozalA3SXJmVmN6VitwTXYvc1FyN2k1cTZ1anRNcVNHTmRjWWpweFFCRnFvUUxpdWV4YXZ1K0lRYlBtY1dvelMwWFp5Wi8vUW9UWTM2RDFrdGJwdXZQWWRPZUl6N3FtbElKZ3QvQVVwZW0va2ZLTWd6cFMyNkMzbUdNQlJqRUF1QWxFMTgrNG9UcmtxR3dhWXQzSXpVWkdZeS9DV1ZhblNMdHEzWWwzZmw1YVNJY3VaSzZQTG1SOEJpZFBTZGdPUEJod3lPekkzdmpNQ3BSRm9VRFViYkMydjd0K2FWcEhWOWRJMk9oSjg0ZkgzTnNudWgyL1NkU2U1TTVjZnBySlhFeTRXc1dmcUU5OEEzWVdmS0dqdytyM2pJWEdRTndMN3FNQzRDaXRhamtJa1g4bUoxcU82SldUMWRDNDNOZVJ5SDk3OEg4UHpQcGNVd2g3TjNsd3c3OUZGUm9PNGxxRTVDVzVuN3JkTlJOakJDR1FqUUxNTHVBWllSYUFPNGxKMkJrWU1xbXRSKzJQSTUzbG9LNTdxQ2Y0UUppczMzZUwxbk1KMWkyYzRRY1BDdDh6eWNQcmFidnM1OUJ3Z1VFTnR4clhVZDFGcEQ4QzZaMnAwOElZMmwwSG50UGFTZk9laDJyMzhjTTFxNml1MTF5V3Bna3ZGQmQvU3R1cTkvMmhScGRWY2g3eU5Sa09EbmVVUmlEZTArZjRTVERvRGFrOTc2V0JYaUZnZlVkUnhpZmlIb1pYU3YxSGN5bHFSM0xLMlhXTzJWbVZ5cmJoWENzV0p5WTJNQ2FhcS80bExsVGU3R0lFRUFacHN4K1c5b1MxSktCMDBScFB1Z3J2NEdseUJqSGYwdnJtUVFEc1JlcTdFOW9iMGxySEcxOGpwc1ViYU9vcnRzUDlwVnhZQmJPRmYzbllpdzRHZUNIUlJmM0Z0ZUlxbnhGRC85VllwRmE4RjBPN1R3bXF2eWVjNjBSRjhYaE9nb2VLSzVwZk9PWHMxcG0zc2VHa1ZkcWdiNm53WHR1MWRsM3FOKzBKV1UyeElzWWNSeUVRZzN0RFc5OXNjblVOZmFsRldSVHRTTXUyMEkycm0vQzYxdExkc0dmZ3YydzJZYWNMRm9tbFF6RUFsYkFmYnRoMVpCQUU2dXI0WU9OTno0TGxIb05KRUJjYlY2eE1KMU0yaVJYQ3BHYUtxVHN2QWZ1OHdlMDFMUzUxcjF3QjMxMklPNVBUUHFGMHQ2azJDM3NscXptN1daQlNhU2Q4ZWdXWXlPeGtCaFVBVkZSaVh1N3VseExKYysvNDd1MUdOaTZkRXN2S3h3bW02WjBNTG93bmJwTm5Td3R2Vyt3V2RWMzE4VnluaUQ0YSthMUpkMXhoV3lsRGNhWHk4cWZuWnlRaVVSWURxRUM3ZkpzMVdEMjc1ZG1nUGtZM09BVnRWR1Q5TjBPNW9DYWhUNnJDallvd0VJVytQNzJvRmcwUDBOMWRrTnVhd1VvYmlUZ1BUbnVabkp5TlFHb0U2S2hHdWc5SUpSWUtXMmN2TFUxSkRMbXQ1QWlYaWFObXdwOGtURXh3MHZHb2Z3bHF3eG5mVmd1M2RXeG93NXJCU3k1emVBZXVhbjUyTVFHa0U5bEdKY0NWRG9ISUt1djRkelFaeTJTaW5QVk1hTTBQR09nblJVaC8weFFrdjJzVkM0MjBRWnNFV3NISnNxV1ZEYTFpcENWS1ArRUR6czVNUktJMUF2S0d0ZUYrWFUvT3lONEhGdVlnbHA1THlnZnZXSitXSWxvNFh5YTdkMkhXdFVkeGx1N20wVE5HV0RhMWhwU1pJQTlVbHpjOU9ScUE4QWpYVUlsemI1Vk1pUmMyOVVPRFFSVzJHMlJRNWhIeUREcTArNkQ1MFgwOG43dGowc01kMzErekJvNlhEWjlrd29CZk10cFdRdll4QU9RVG9OQzR1UjUvT1EwL2RlN3hIcS9kcVk1aUg2anlSbXRVWEJpMk5LWnM0YldvUGF6Tjh4bENMaHF4bkJKZ2VFQ3daY2FMQjNUWmpFeDh5MzBnODdHQUUra0Znb0ExdERXY3I1RElEazVUbWVNNGw1QnVHYkcvcHNuZ2JHR1BGS0E0TnNDNFVCT254WGNQRjNpUVJKbCtlbFo3ZDdMWWNtYTlLTWI0ekF2MGgwRVUxd3JYYVQyci9kQXNRN1hNQW1qS011b0ViV2lpTnpod2ZwcHEyZDdla3gzYzFRNCttVWppeG1wT3d2V3NOS3pYWmhuZVhRRXZFVGtiQVFFQzBVODU2YklpNVBEWWZYREp4MkQ2bzB1L3FwSzJXbGdoMnRFQmEvSFFNRFMvWTNMU1hEWVBnVVBGTTB4Y0UvL2krMjk4aXRxbHR5R0I3V0NuRGNVZGJuTEJWQzJibmhDUHc1KzVzaE1lcnd5cWszTkMyV0Y0aE5VTXJmc2tPSVpvTXRQeVNaRW9SN1hScnQrRGZTMHN2YUFQZW1TWms0dXU0bDhqdXFsNW5FaFlFbFY4T2p4czQwTDhWc2YzbE1pSHVQNmlKU1dkN2VQc1NwRXEranp3Q3MzanN1SWExSXlVSXFrSmY4bEdKRWdEUTlPZTJuM3dIb3E1dG4zNnBUU21hVmRKRG9OdTFsYTJxY1d3aEttUDBWMUY0d1ptd0d6NnpGN3pvYUxNVnplRG9TVjFGcURsWFMzUUQyVDF4Q013MnNLUC80WnYvVHRXbFFZc29Kakd0bFRnL25kUTdYUElUaGRWRGUzTnNtV2NheUlvRGh4WExXbC94MmgzNGVsUTlEUEgzNWpjcDJZdXVqdklIdzZNZVJOcXJvRGVKZmdGcFBvcE5OTGg5WkowQ3JBdGlMblphVXV5ZEpBU21VSjkvZnNnRlF2V2thNmUwV250dlo0NEN5bUF0Sjc1TVZNc2N5Vll6bGx2YTlvQXhQYjZiY1d6dXhrOGJyNUkxRjU5dmhFOUpzOUxEU2hrVEJOMk0vSlVFdXlZTmdlVXcvTXZETHROK0tLNWtjdDViUDlId3dFdGFyTjZ2ZW9rV0M1bk5EeHJ6WTJmWG9HbFBnNmEzaFdLVW1jcXVHayt3a3NuSmFIWWhwL2ZkWlJxbVFKendBUHo2OWZlN2kvaVRMOGk2WHVKT29FS3BWNGVyL0hvQ2JhbDJkZE9VYXVraVNkLytxMHlUZVcvb1U1UFVQZGgyaXRyaDZXVkRPaDJ4WjZXRjFQMVJFQlFuYjZiZG5JSWV1b2VtbGw3MlRnNENGVXlSMnZVbUtwMmM3MFJ0VDEwN1JRQ2dlYUZycFVqT2ppZHlMZHFCVHI5WUZWbDNScFVPcEdXU1ZabnFzVVlZdms1NmpEdW1jYzJDdzFwN1hnc3ZJTnQrRUM0TzZtcHNoM3ZUMEs1NW1JWWFHT2ZDaVM5SkpDOW9zOENpMTRmNjZibzJUTkcwTDk3UTVwcHVUQXRySVRTNVkxZGpMVnB6MHViclZNT2p4WmR4VXVQOThUK2s2M05majZtVDhFZmNpWUhJZ1JIakdOK2g2VE5sZ2tEdEl3VWhONlNDOUxCU3h0RGlvK3E4cWxCMlRTNEM3WFMxa1lYVlY3ZW96cXNyNC91YU1pSHV0UDVIMTU0VzV1TWtHdlo4QkdrSnpqRU04MHFhRXFKbFEzVWRmVHdsRUFWZzRHcStJaGJzWHFvbytKS1pITXJsNThDM3RPWTBQYXhVeVZwTVF3WEdlWENoVzNVeVh4L0NDNTJ1NnlWQkpFTDB2TkpVSVRrczArTzJHeHJENDlmODIwMGovMnYzTFVrLzNoRTk2UmIzWGNmNEx0VVRoNkZMY1NvNGU3SFRNYXlNWTNCcm1STzNLb0pkazRuQVZtYWZkTUR5MHJsWlhPYjVnMktkL2pUczlxRTlLLzh0Nk1xSzY2b2xQQmhudHU2d3dlUXNsR2lqekVobFU2VmFWdGs0aHBYS2dpclRVSUZ4SGx5MVZLMFpVcW5sQk05aU9YM0UzcDVYa2pZa1N3ODlNelMzY3JZYU5GVXVNTTVrbld0OFp3TUt2aVZyaFhYbGRBd3JsWEhWOHU4dmxaaGRZNGNBdWthZTZ3T2xpNFlPRzExeVdPU1pubWhvdGpoWkNkSElaRTB1WlNYSkRPL2tqTVcwZldVcEd0cW5EU2tEdXlPT3FhVGs1S1dXVGM1cFE3RVpzR3czSXJOc0hESDZDRkFmOElTc1JDdEFWOG5oR3kxRGVOR1ExaGkwcldXREZhS1J3K2lPZWsvQk9LTTFkSTd2bXRiV25rTmxKbVphazFscHZLWFdNNDFHNUxET2ptVG13UkdqZ3dEZXljZC9JYm8rT1d5cjJrUVVlMjZ4S0JOdkdvcmxsTlVpZFg3eFJPbGJXYUpUNzBoaXNMaVR1TW5oSE4vWk5HeW9YaXFtZUpKc3VoYWxEY1ZNUXdPT2lmZFVVUUhqSzlsbE5heEN4ei91bFAzT2QyV0VtdTdYR29yR2R0dWxvbndZTFJ0dWVDU3phZWdjM3pVVTFVZ2xkZnQzWXQxSXZ4RTdBOWV3VXNZRm9HRXlua3dDMlRHeENIUmlEcUpSL0Z2RExtUzAvRit5YytYZEd0SWdNclZRM21jUnFHc3VxWktud3FhaGMzeG50WWIwdXRpTGxTNm9wWXZBTmF4TTh1YldNSUhpWERqcW9UV1NHV2FwbDRrcHErVTBldE5RTFBYMXlpblBraVpkUHFwZzNLYXVZOTgxdm11YWE2V2didko3RkZYVlJjZjJobVRpUmxjWnVabUdhVXdtT1FUMWIrUEV5b2NhbVBuVDFWbVpVaVBYeTRyVXc3Y2dhSTdVOU5oeWJ0TGxrOEtlS1QyMGFDbDBXRFNFN3FSRGdQZVN6QVliY3A2Vzd2UWROT1NaMGpRc0V4dUMrcmQwWW9XakRXMXZLYW5kbTRaVktDOS9nTU50VGN0ektHYlRzT2F5d09vQXdNNWtkYk91NW8yaDZycmJHQXBGSXFaaE5qeVRGa05UaEFjblY2aTI2b1Q1WnVLOWk2WUwwNGRWVlR2YWVsNmVvZll1R3VmNHp1cGZIS3BGQ3FDZGZPM05PYXhNOGdZTkU4a2trQjJUaWdEUmNEMnpjSE5aeHcxZlVIamVVT2pFL0h6U0VHUm1Za1VRRFJldE1LZTNCc0hTMnAyYTZBaUVXcy9MRUJIQktKQnVtM044QjBoWGRCMWR0VWlCT2F2azB4YjdlY0JUYThnMDFGR2NjSGVZTXhLVDI5RWdrN3AyZkhCcDlkSGpSVTAzcW5wbVBnMElKbXZobVZKZUVmUXl1dVdVclB6aWc2L2RWREZZMkZoWHZnRGp1K2MwYitRRU41ZjBRTFMwcTdGZlh6WkVJN21uaTVudWxtZnpiS1ppMzdnaTBNeXBEZEdDQTZxbzQ5cndLREJXekpMSkNRL3hTSVJvcUZmMXpJUmsxSzNNMkZJUjJjdUczZU9IOUNZWEpUclFOR044dHlhOFY3ZFZLRkE3VUQ3eG14d3lGbE5XcTRoNjRTYisxT1Q4NmEvQWs3cGF3MnZwVTdvNVlQUVFxT2ZRTUJqa3ZDR0srb1JxQi93TDdrdERXaFhQbStUd3p6SDZjZDBkVjRMTCtDTE5zdFk0bzlsYzB1UXd2bHNSM3QwMUZRcE9MeXBmRUtBMWxMcTNvdVQxSHVLYjhTdHFMbG5OMEJPaHJSeFdoMXRYeSs0UlJXQTVwMU02b01tVlJuaThXVm9IclhhdmU2U2lUMGVGMng2Q0hpS1p5NGIxOXdYQnZyNndhbWE1THh1KzlwTEtCUVhZVTc0QU5FNWF4NVpnYUlVV0xkQjFqWGgyMlRrR0JBMXpWaFYxOWV5ZUJBU3ExcnQ3aUdWQ0Z5dzljaXJVVHpROEtKU0tXakF2UVE5ZFc4alRKVGJ6RkVLMzlGSTBrbkVleWJkaXhzM3J4TU1jazZHcnF4RHVpS2haMG9vMk13Sm4zNGtSRWpFTkRSZ24yNE4rbGV3eURidWdOVlgvU3FpbVZ1N0FRNTYyQnZpdDh4Y3JhMlVzRzFidlI5cDlOYnVKNy8zcVRTUDZtMUdQY2taZk9MbHNyU1h1S2pPYll0bHdoamJ2Z3F4cndyRGF0cmhaZjlDRUpuT3FWaFI3SnhBQkRNVTJUcVpZYU5iNkdkN1FkTW1TaDBVTFJFTVBPUjhSVkhxaWhuMVZtajBFdGZUV3NCdnFXMS9hOGZodVZ3KzhaSzFtd3RDNGt3M3FFVjh2VWZ1SGJYRXJ1R0hqOXliZDdLdkROTFFobVdnL0poMzBPalRFc3FLSldlcERIVTI5Ykh1azI0ZGN5YU9NbVZvYjdxV1BhVEhQMjlIblk4M2ZpYW5IaTN0MXZVT3haWFVuTVoxNkVPVjhHTEc5dWdZdkd2TWxDcjNnNHIrWVhuVjJWaWtKWHhPSVFOZlpFQXhlVU5DSnhrQ2xMOW9BSjlxSmdwUXR5RGxuTndyU09hS3psZzFGczRXbC9WV1Z4dnlkbUZxRTNiVHhPdGpWVzAra0JCQlJlYWlkcC81QmJRbC9RRTdCM2VWVmVOSlgrOFRlanVtOE9HUUVFRUI5Mkl2TmVNa3d6ZWxydFlJTVFHWGQ4REJrR1hKRG1zV2dXYUhyaml5dnJTUFFYS080Ykt5RXhxK3dsckZ2OXRBWVBrSkRQVzVPcTg5M3lPS0t3QnQ1RWcxbk03N1VYQi9hbXFpalhCdzBnZ2drYi92ZjFpY2FCalcwdjlVS3lqV0RFN1pCTmNnTnFUdmRncXJNTCthWXk0RFRjdEZkbUxNdjJ1TXBjNTJ3WmpmbSs5SHI0bHE0czB1dDRiVG9KTVI3YmFvWkV6RU45NHZCQm9IOUU0UEE1ZkMyYUE0L20xMFYreWdycGlDZTdTTVprcUFHcm5ta2hKaVhYSUdxeCs3NFZuUUFjYjNybFMvZGRNbWE2dy9ZSWlQQWlpUm54T2kwYXpiS1RUa1VsTnBtbytYVDJ2T1lsOEZvY3pjYTlOV29yM3RWenQ1SVdYbHZobnBYV0lieWZZSVJXQTZmNlFXVi96YXNrVmFFVktldjFRcEs2OWtmSStwc1JIa044aGQySnRlQlM5RkZjeUlvbWZZa1dUVDU2NVczSGZmMGRCZ0syblJ1NFJjeDVyOFJIenFIL09Kc2MwZUlQNEkyOHNmcnJsLzZwV2pZdEtKclpmZkVJMUNwaGVHOVlmaDM5b1pZMGo1WEs4Z0NXSE9yMkJMVTlxR3NlSGJEQjIvYysrcFgzM1h2ZzgyalRWZTJXK1lVbHRubC9HQjQzQXgvemtoMjFhUXR4YzNYdzZQSVdKS1BwMFlyN2ZEQjhCbG5sbUpBR2sya0dxclpNOWtJL0pPN3dqZjlsYUVXc2VXMzZ1REtFKzJUeDVoUDdHVmJkS1VmY2xqTDdGeFh6Wjd3QzV2MjcxMWNGck9ocGhGekgyMis2YitMb0srcjM5T0w0NlplSG43M25pbVgrT2dsczVQNDJNRUk5SVVBcWxGZnF4V1VXZGRyVklraDI5Qlc3M09MV0RQYjVrdEZ1MXUyZkY0aXVUa2lrdFkyMW91RU9KNFJ5RWNBbjBhOG5pK1JIWHZvdFlHRXZodzFyRTlnWk51Q0dPdjNmYWVORlF0SHlxN1g1Z05IUWoySTJ2cWVIc0J1UnFBOEFuMmRyWWl6cVhwdGdzTmVXTEV6ckx4dDVWSmdZY0hvSFdJWk1WOUJZeGo4b2ROZWUvbjVjQ3dqVUlCQS82c1ZVTHp2dFR0bUN4V1Z0cVNjOUlWMnFXZmtVY3Z2TGM2bloyaU01SDRlN0trb1lMdWZIcFk2endoZ2xxWC9rYzJDMTdpeWlvcjY3Q2xnREVLWXVlem5MK2hkS1JvN210b3lmTlRsem9qaVlFYkFEd0dzVnJnM0xIc2x4NlpuajBGZkZ4WDFscGUrd1lRdTJYTk5WL0xadnpXTXhjd0E1NUNOZmFxRGxZRlRuMHNFcXYydlZnQXZ2dzVaRFRSY1BRVjA5KzAzU3NYbXBXbkVzdFdITldOOWZlZ1JsUCtLajY5eWxqc1hDQXl5V2dHQWFLUDFaaUZRRFVndEZVb05MbkNZYXZ4eWlWWVpEbjMyQitwUERGNXExakQrQ0dDMTR2NEJTb0Z0bXg0dENvVE1IZFVENUppWDFGbzJoT2pGdkcxbTArSFRlZHA4NDFwRE96M2lteVBMVFJvQ1dLM3duV3ovTnp2cHd0T0J3L1Ywc0JsQ1FoNXRwcG1vSDUrMWJBZ1ZVM21UTVB2MnZ1NSs4aFJiR0o3ckx5V25ZZ1FFQW1WV0s1WlhIS0NCWUV1T1lDT0l0cGw0VE9RWWFmcngyTXVHcEtQai9LUmhwTDArbkptVjJ1bk1QL1dEQ0tjWkR3UktyRlpVblAzS2hzZnBBbHJmSHVieHlDeG9VOHVHRUx5WXZVL20ycEFPaTlVSDJJV1VWUlFPUDA4SW9PSjZyMVpNT3hzME5BV3JSWWpSd3BwNXpLOG9SWC94TThZeDMwakhmR3JXSnRHOTVYeXZKTkhlRHBSdTIxdVlCUm1CRkFKVmo3Wk1KdHAzRXJicjBTT2p2V3luTVhwYWNMVzVMZmVSS0pTcTdTeVFMSzczblQ2T2MrQXR6WUtNZ0kwQUJsUCt3Nk9HYzFvUlJDN2NINE9GTmZQRWtXM0hrUHd0MTN6TTFhelcrc3FRMmpDL3llSWhGWkhWVENBQ1pWWXJycmgzbkd4NTdCYmRCUTFkMHp2RFEzUzJRZnJienBNaXl4bHI2OTIrVDNlWmR0UFNxUm5DUGthZ0RBSjEvOVVLbkN4MExreGdKMWZoN01zaEt1cEJHYnRLeTdabzV6aDJJaXc2VWs2N3AzSm5oL1Ztd0VZaS95NkZ3ejRPT3VjSW9BSVZkaWdsUkpqTWtVN2pqaE85aFpXd0F4cjJqRlREOXRScHB1bGl4Z3VoQzRxbXI5M0N0MGM2alRNRUk5OWhxWExxNThBSlIyRFpZK2xkUXRETnFHdTBKaWhsc3U1MUQ1bXN0SDdoWWdwbzJkMXR4dW40WGxwTHhUeVptQmJ3RHRueTZKWjdLMlBCYzRjQUdqanZMMmxuTnB3MFQ5Z3JnSzdwZFJxcVFFbHVkQjJrdWhabURmWSt1NWRPWFBtT2RGaC9JUzJ2ei9IMHA1dFRUVDRDVmYrSms3bEc1aEkxWWc3eXNTS21EbWR0SURPZjVlTzlTc2M5QnN4TU02d0k5Q211RDBzWDZ6bDNDSlJaclVCVnkrckVkY0tpaVgrYTBjLzQzdld3UUw4Y1B0VU9mMnhZMnNycHFSY0NVRTRmUzU4ckJCN3hQMXZ4ZGhBcGEyOTJxN0F4b0JuOVd5Y003UTgzSG5qWkNXZVJwUjZsVzgrSzQzQkdvQUFCLzlVS3djS3NnZGRXNGRDSWpnYXZGaGd6dnRIMGxkTE44VFdmTFQ5YkJFQU92NTVpNVpkUjBiSTNoV0xoMExrZ29Fb0hpVE1hdGlrYlRzNkZpUzduWnR1VHk1RTFUeEFDR080ZCtCVG5zYlpnWWVadU5Dd2NabXhUa2RvWG9HQnl1MjE0blhuUE4wdEUrTTRJUkFoNHJsYjg3czlFSk15ZWhzRENZYzZSUHNwc0h5b210OXVHbDR4ZnI0SnJIaU9RUXFCYXZGcFIrZFN2MUNVSmN4WUhJZEpMcWRjRFdoUGRiUU9RYTNwcDJjMEllQ013M3d5UC82K3M2MU12ZnVlZmZlTHh1eFVGNFgyV216NEFBQ0FBU1VSQlZNb2UvNkRUdXBPYjcvSkU3L2JxRkwvUGN0SGh5SE9NQUZZcnlsM1o2KytIUmZPZzllejVuUWw0QW8xSkh2aE93UE1aNlNLQUd1V3Vwek9MczFXMEtvaU1zbE5ucWgyVENQcmMxZVFPZk1ma0lZeXJtYlNVVis1YXlTd3FQdHlkTzBkQkZYVTFNL1c0UjJCdlF0YUs2cmdYamUwL2FRU1d5M0VRMG91WkptSE9OZmVnRCtJbmVOa1FMNkhUK014T0p2b2NNYjRJME9ta2NsZk9tZ1IyYnVmRUJnSDl4bWcyaWNjWHhNanlyYUl1K2JnWGtPMC9NUVJRZDBwZWVTdlV0ZnhKQ3JRWGhTY1NUNnlrSjY2NHhST2xKNDd4cEdid1JFa1M1bjlZcmFBbUxuaWN6MDhCL2RpM05kL3cwNm5RRVF4b1QzSlRQNEo0czBsWkNPQXJFSGt6b2J0OTdQYjZpZkQ0VmZYd0gyYmxPRHJoUlQzeTBiR1VMWmx3QkRENHk5dmNmV2pQcEJiUDcwODFiNjhId2R2RDd4MTU1REJSbXRkZkgzbjcyY0NKUWFEZy9IREhtc1RvNXM2ckNsU3EwZFJxcldDWDNBZ2dpTk1qZVQyQkViQ1FUVGd2Q0dCOHRKZGQxa1pvZktvSjUvT0ttc1A1ZUFWa0pueEx0dHJSaUVHUGUyVTBMR0VyempzQ21LUFp5Y1lBMDBGNkxMcXcyYkpSeklYNE4xNHF4ZDllTEZKMTB2Rm82aGRQT2cvV3p3ajRJSUE1bXV1WmNuUTZ2YWZGcG42ZlhvdUxuWEdmTkFpV1I3Nk81KzE1VHhlTVF4aUJrME1BOHhUWjI5bm9TelI2MXFuZnA5Y2pJM2RkOW5GM1IzMFhISFlJNWMxT3BZdkdJWXpBU1NHQVdmdnNmWlhZdm1wRXBuK2YzallMWDNLTGd4Wnk2RzJuT2hNL3RpYXNuVW5HbkNramtFSmcyZXgzR3ZIMnQycHFoUlgzU2pJa3ZKQy9XOVhJNTB3OCsrYTQ5MHhzNEV3WmdRaUJyWno1UXNRWlUvck53cW5GaThuSGJXWnlUaHVQQlBhMS9PMjBJMkVqRzNGZUVNRHNwMEUxdmR4Vjg1Z1RGaGtQOUdpSGV6OVpFWWZlUFlmQXlBU2hNTHg0UHpKUDQ5d2Jnc0ZoNXBvOE9xejZlZ1VtTllxWTFVbyt0WS9wbmZWUkJoZmozc3pYenlqYnpiWk5KZ0pZUHR2TUtGbkQ1SjNyOSttdGxNdko3Q05vcUZQWWtqdDc3MzQ0d1NjcHp4NWV0cUFrQWhnQVp2QUZEV1h5TmFtcFpoaGYxL1AwMXhJYW91bGN5Wk04NjdpY3Q4OVptOGI1bjBNRTBHeXR1WXVORThaSmY1V1dFS01ybDRiMTVEdzdhTGpxVmpzU29YakZaSDhwYXlRc1pDUE9Gd0xOckxrS3pMSThtMEJSK2RDSHV1R3pIL3JRWmhMaWNqUjBHdVlTMXBYNkZNTlF0bEUyN3hTUjRLeEdBNEhEck1HaHZkRk5MUnRHUDQwaDI4Zm9mcnlPNGlnYW9pa2Q1WHEreFJ0S1I2UDJzUlV4QWxpa1gzR0NzV3N0VUtobHc0Ykp3TWkzQVNYTlpPOE1hTGptMURvYWdSMXpmOUJvR01WV25HTUVzSUZiOVQxMUhLeFpES3kwN2NUUmYzeHYrbnJESWlMVkR0WFJwaUhLOHB4ZVZIWXpBbWVOUUNmWmdXWmEwa3kyeElod1RMcjBUSUcwYjF4b2VEa010OVBXY3dnamNIWUlQT3BlYWNjMmJlUHdoY2V5SVRxbDhzdWZvOTBhdHRSU3pObmh6amt6QWhvQ0diTXA5bVNpeDJsRGs0YWpPMFZUVVdOWURRZDJNZ0xsRWZpVE4vcWtxZFJwekpaL3RZMDF0TGx2KzFkQ0hCT2w2M282ajlPRzJrenBTSzhiNGcyenJSZU4zWXhBbndoZ1FiMllZRUh3b21SZUpUc2Y5RXIzVkd3cm5qbHRXVVBHNHRPR1FUQW15L2U3M0NkVno1dGRneUNBeHVxZ09QMFBxK25OYkdIMFNsZFZMSllmeEppd2JnNE5nMDU0U3dsbHVOcmpzWm10WVJVdG96UWN6QWdVSWJCZ05HRk82Wi82K3A4RnAzYWNjVVpnUit1VjBnZG82QWdRWm1oV0RhR0c4WlUySXlyeEdGdTdsNUxnRVhPZ0l6R3l0bzBZVkd4T0FRSlhra25KTEVINkNiWjd2R2lJRmZ5a1Y0cW1VV3dseFVjaWVycG03TUlzSnZSaHNqRnUyaHBaNnFyTzJyMXJkYmZQMmg3T2Y0d1JlUEZtZ2ZFekQ5N3pxMmpiaXNrVFFPcTZWRWF0SVgwcnFaVXdLb29CUFh0U0p2TyttMndHeHl6SVhxYllHVWMwNHE4NG5yRVpuUDI1UWNDUGhvRnF4V2hER25FU2MvcXJCa3JnVmVMLzRmUW1tbnZGTGhxMXFIRjVkTDh4Z1Y3Q1lsSVVkakFDSjQrQUp3M0JzYVJtZHNPbk5vUGdjbmlFdjlwMU1kcUZlZmtBWVEyMG1LbHJBeEhxQ3pTWGtuWVJ3YU4xSFdvajRkR3lqSzJaVUFROGFZaVZobVNQNVlYakhzQm8yMSsvWDRncTcvSVNJcDBuTEE0UWdaNHIvdEkxdWg5SUJDUWJ3a1Qrd3dpY0VnSytOSHhVcmFSVjZzL3NCYjhaM2pZYncyQlhiQUN2Rkl6NEdySlZyYXJSNWlrVjFUZWJpenhCNHdzVnl3MEpBVjhhUW01RlpvbEp6dnZDNHdQcGplK0hZdG53U3NIbnpBN2w5cFNhdVFYSFVuYVczblo0LzFsbXozbWZRd1I4YVJoVXRRSFRoOThUM3JOdWc5VVI1d2VyMSsxdzAzOHgvdDdadkdwZFRZRXo5MTBKai9mTzNBZzI0SHdoNEUxRGpPcFN6RE9nNnRMTTZienNjeHBSbW1jdVBrNTdJZU1Nb3laNlJrNTh5dU9NY3Vac0p3MkJEOS85d005NWxjbWJobGl6TUk0MXBiVHYwbUR2MDRXL3Z0S0tPcmNqMnlmRjYyWXhWVFlPWUFUNlFPQnErS2E2ejQ3U2dCYm1kL3d5d0E2dlhwN2tORnFScThYS1pwdEhhRlgvSlB6K1BGMW5HRmN0M0h4MGhzWngxbU9GUVB2N2crbUN4aXN1ano4TjBSem0vMEJ2TFh4RjA0TmM3dytQWDNWMytPVG1hQUlLUExneEhNMUhNM1pXWGNENityemZMcFVTTkx4V01IY3g5MjFILzl3SHFnOS9XL1BHWHg5UkZtTFpKYi9yN1ZOQWxtRUVDSUhhQmphYnlUMmJ6cVYwOUF1anF3UU5zWXMwdnptVU9zZjRQdGZreG5DTUg5OUltVDVGMjh6d2JiR29kOVZJN1NwRHdJWTB1QXdOcDBaMmtVR1dadUQ3cGZBSEI5YkJDaGdCUXVCUm1uSEhqTitlZ0NQelk0VWl0Z3dOZzk5NFdLU1o0RDlYM2hXQk5zRkY1S0tkRWdMTEs4aElQL0NRazI4cEd1Ym80U2hHZ0JFd0VHalNHOTF6WnlUVDBJQ09QWXpBc0JENHI2Um95enFWbTZHY2FaZ0JEQWN6QWtOQW9PVTM4ODQwSEFMV3JJSVJ5RURBNXp0cFNNbzB6TUNQZ3htQklTRFFzTDVSa2FHU2FaZ0JEQWN6QW9NajRQV2ROR1RETkJ3Y2E5YkFDR1FnZ0dYRFhrYVVFY3cwTk9CZ0R5TXdUQVR3ZFRFdmRVeERMNWhZaUJIb0J3SDFKY0xNanhVS3RVekRmdERsTkl5QUZ3THE1NVdHdDZmVUsyTVdZZ1FZQVltQStua2w1d21MQXluSHJhRkVndStNd05BUnFIbjh2QkpseWpRY092U3NrQkdRQ0RUVldTWVo1THd6RFoyd2NDQWpNQVFFY05wd3gwc05maDdOVDlCTEd3c3hBb3lBUWdBL2FkMVR2aHdYUHZSRXg2TDRZZ1FZZ2FFajRMZHMrS0dmK3RSeUdENzV6MzcvUTBNM2dCVXlBb3lBV2piTXdRSWRVbmx4eHpRSEo0NWlCUHBEUUMwYjVxU2ZDbzhmdlBmMWQ5MzdZSlBIaHprd2NSUWowQ2NDYXRtd1R3V2NqQkZnQkFaRm9DWisxMlZRTFp5ZUVXQUVCa0FnbEw5Zk5vQU9Uc29JTUFLRElNQy9oeklJZXB5V0VSZ1VnYmMvQ1EzNFlmcEI5WEI2Um9BUjZCY0J0SU1IQWY4U1E3L3djVHBHWUJnSVhCQ2IweG84TkJ3R21LeURFZWdQZ1FYNlp2NTAvSk82L2FuZ1ZJd0FJekFZQWhmb0orb1BQWTlYREpZVnAyWUVHQUUzQXRQNDhiT2Y4UHRndDFzQmh6SUNqTURBQ0xURDk0WlA3UTJzaGhVd0FveEEvd2pNdnZ2NE81bUYvZVBIS1Jr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KaGlCWHdxWEpyaDBYRFJHWUJ3UStLRXdYQjBITzlsR1JtQnlFZmk5a0drNHVVK1hTelllQ0Z3RkM4T0Q4YkNWcldRRUpoT0JTaHNzL1A3SkxCdVhpaEVZRXdTK0JpeDhaa3hzWlRNWmdjbEU0QnBZZUx3NG1XWGpVakVDWTRMQU1tajR2V05pSzV2SkNFd21BdE5nNFZPVFdUUXVGU013TGdoUVk3Z3hMc2F5bll6QVJDSkFJME51RENmeTBYS2h4Z2VCWGRCd2RYek1aVXNaZ1FsRW9OTEVOT25tQkJhTWk4UUlqQThDbDlFWWZtbDh6R1ZMR1lGSlJLQUxHaTVOWXNHNFRJekEyQ0JRQVF1UHg4WmFOcFFSbUVnRXJuQ2ZkQ0tmS3hkcXJCRFlCdzFYeDhwaU5wWVJtRGdFMnFBaGJ5ZWR1TWZLQlJvckJPYkJ3cU94c3BpTlpRUW1EZ0hhVC9yVmlTc1ZGNGdSR0NzRUxvR0d6NDJWeFd3c0l6QnhDRlJCdytzVFZ5b3VFQ013VmdoMFFNT2xzYktZaldVRUpnNkJCbWpZbTdoU2NZRVlnWEZDZ1BiUWhPTmtNTnZLQ0V3ZUFsTmc0ZGlzVjh5K3p2RUFuamh3QkhJUUl6Qk9DSXpWa2QvT1d4elFYdVFUeXc1VU9HaXNFS0JsdzNINU11S01jeEJiYVh6WFdDSE94aklDS1FSb1kvZTRyTjYzM2FjaW56amlNOHVwNThvQlk0WEF6UGpROEVMR3gvM253dnRQQVBJL2VIZDR6OEVKNkdXVmpFQWFnVHdhdmdjVTFhNGJyMzFIT3YwQUlaZng4UTN0T243OXY4MXYxV3BmenNpc2RUc2pZb0RncnczREc4M2puUUUwY0ZKR3dCc0JvdUh6Ym1teGxxSHhCTTd2YzB2MkY3cGw2b2J2NkNCSDAzVG1OeHludzVXY2RIMUZvYS8reWVBM3d5emk5NldURXpFQ1dRamswREQ0d3VQdkZRM1d3emZwdXBQY2I4M1MwMGY0dFR0ZUlkcmJwNFQ2eCsrRyt1T0RiRDNWTUxPeGJBeGhkUHUyb3lXVmQ2V0JqaTY5aHZaVTJHUzdadXQvNTh3TGFEeUNNN2ZtVkEzSW95RU1vUm1jTjhjR3pmOHhQTzhicm5YWVNwZDhGTzd6ZFh3dU5aTnFsV1pHb3cyRDlwMVRxS1VzUlVHMTVkTkh5Q3I2cmJtZFVrckdXQmdQNHZvWm0yOCtnak0yNXBTekw2Q2hXUlh4ZzhCRG5wWHM2dk8wczJodk0yZGJMdVI4SXVEcTRGV29DczR0SmRoMzZGTjE5QXBTUVVuY1JEcG9GOGRaOThETlJ6Q1JNR2NXcW9DR0ZLMDZadk41UE1uTUlpK2lacHl5ZWlLSDVvZWFIYVR4L1VlTFNuRno0Q3FFMWtCeGVVNzhsZ0R0YkRoUWVVeTBpMTQ1V20vZ1RNcHFQSUxoV0ZDcHZXNDRpazVhU3dFTmNScFIvMnBiYTloci9lRDFtaXJpTENyRHR2THFyb3E5eWFBUjNsTHhod1AzU3R2SU9sR0lMN2V1UTNuanpHdW1LdUh3WFJlK291bWtiOVdleU5iaU9nR1plUm14eGlQSVRGSXE0dUxKRktxVURWN0NCVFRjRDhNbk5UMFg4TEI2bW45UUozMkJZMFZUVWcvRFp6V3Y1cHdKbjlaOFFRREdhZ0VYYzNxc1JySk1Ud2VXck1yWXJlanB2Zi9HdDh1UUNieGYxR2xJcmVFSkxQdmdWWlpMUXlQV2VBVERBYndWWnMvckRTZUhJV2twb09HaHVaeEJRMFdkTnRsR1hQdDRkcHlLc2Z0OVhaUDFTakRZdFpwSnZMNnZxK2paVUs5VEt0emZ0WStTSFVqeDFzbFVTYWwrTk82WGRNam9mWmc5QlRhQXdjMWNHaHF4eGlNWUlFc3RhWHRjK2pNRk5Ld1pZemRxZzFUWFRTdHUycm5ydGVHYWN0L1RFcmZnMTd5YXMyMjkxaGJNN210RDd6cHJ5YnlkZUNHb1pyK3J1YjAxakp2Z2drN0RBTzlidi9kcnlXS0szbjFtR2lQV2VBU1pTVXBGREhzTVZTcnpNc0lGTkd3YVk3Y0FjeGVlUDNmUjhocndXME5QdEhrWkgydWNzNGVHa05UZnM5MkJseFkrOHk2bHIyUG5WZ2JSY1pIZE4yZzQ5N0cvZWhLR3p4dFB5YzdCaXRVZmdTM2FseC9WMVNoa1gwcE9KVkUrRGFtdnNxSFpRZlBhZm4yWFE2L21hZC82WWNVcTlCOW8rU1hPeS9hWXNXdjIrcmYwbVo0a1ZiK085cGxQM3ZkcmVZbDBoNmRSUTYvbDBqQS90a1JaTWtReGh0SW1FREtFUmlJNG40WTBkdHZSN0tST3FkK09GVDhhb2l0a3FHdForU1ZaYitralFRcTFldjB6UTMzdHRVMnJFaXNteWxFN0RSck81Tkl3UDNad3RNMEpoTUgxblp5R2ZCcFNiRS9Mbktab0RONW9jYWJUajRZMWEyYTBDLzA2N1JPZFhYc2gzZXIxVHcxMVV1VmMwTEI1R2pTOGxFdkQvTmprNGZmdFdEQW5FUHJXYy9JSjgybUlzWnN4WlVMU2ZrL1BqNFpOYThhbkJ2MXFpS2FWdm1ITTVBUTBTRFh0TUtkNnRKVDlPTThERGFjc0FQdkJxVGhOMWYwNDQ0VDVzY1hhaXlTc0NZUWk4VE9NejZmaHZqVjJJMXI2ZlZ2WWk0YjIwRE1BTFMyK1JkRE0yWTFkcXRmZnRwdkxRVEE5RHpTOGZDbzBiT2ZTTUQ5MmtDY1lwZTJhRXdpREt6d3hEZmswUExUNm9LQ2xQVWpMc015TGh2YlFrMmpwbkdHOVlzK1pwSHI5aDU1MlpaaHJCcDhIR3U2ZUJnM1JhWEYyYmlLNDgyUE5SOUtYejVwQTZFdkg2U1RLcDJITkdydUJsdTZ4VzhwWUx4cFM1ajB0S2RIU09mUmNzSmRKMEN4dmF3bnBrRVhHOWh0RHl0TnpIbWpZT0EwYVlqTlpEZzN6WXoyZlZaNVljMndXbnZKcDJMREdiblh3SksvY0tzNkxobmdPaGpyYUszZEw2VkN1cWgyOGF6L2ZpMjcrS2hWbFhPZUFobmp1NXVDNkREN2Vzalg3TVJrcDgyTU4wYjQ4cVFtRXZyU2NTcUpjR3RMQjF3M05ET28wZXA1bDhLTGhsalgwM0lmK0pTMi94TG1zOW50R1lWMjcxejhUZW0zYlNUVG1PczRCRFd1blFVT3FYTm10WVg1czdnUHlpMHhOSVBnbE93dXBYQnJTTXVHT1poVnRBTDZ1K1hPY1hqUnNXWDNRVHNiUU1LamI3RXoxK3RHZnpiR21LS3J5cVhmZThZcjdWcVJZQmcxLzZzVi85dmhETnlEMG1mdmU5SmVsYkZENW83dVBYL05YRW04US9MbDNONDlldXhoTS9RTVY5dGlkalFkK3RKZjRQL2ZpVHp6K2JsSVVCUE9mK3FmSVdZQmErUy92L0pWWDNBM24zTTg4K0tPYmlYRGxqOTRkUHZEdmxUOUk1NWpJQ3NmVU45OTMvSVpmTThNb2thN203WGlTV212NGt5Lyt3dVB2L2dFN2llMS83TTZtWGdvN09wWHZiQU81ck50aTBtL0Y2by9nYzEvL2lZL2Q5ZmNoT1BzenpSdmZ1UmlsK0xxN2o5K2d3NHpRQW9OU0V3Z3k2OUc3NTlLUWFCZURJQ3pmZ24vUHJ3eGVOQVR0OUc4ZVV1UHJub2ZWbitiTElTV3ZIMHlNUVFla2wzaEtPMmdHT041VVNSdUY0c3NlYmRZb0hGTklId3lQbThleWVrMjF3K1A3d3ZCN1pKNlZid3h2di9JVmplT0RsbXFlOGRtQ0k1d1lrOVNsdDV0ODRWU0ZlNDFTMDZPZzExeWxIVDRZVWlVVTEyeGJCRC9WaS8xQllPZVlSRVNPNldaNDNFaDlOc2hROC9tZkVUckZIMUhJSmpuRm50cHJ4emRlLytwWDMvdGd0TU8wK3VDOXIzNzFmYzFOb1ZsOEpTczgyckh5azE0NzMvay9iWWdNeEorZWxKTDNWS3oyQ0NKODhKYTQyZ1FTNFpHQStrOEFlcWhnSVQwNUJzMklFa1g1SC9ka3BxTjd6NldoUFhicitHNWxDd0l2R3VJNTNkS2dJZFlmYVA3RUNXcjBFaytFYmZSWEkzRkcwaVJacmtPckE4VTBuR3YremMyMm5CR2F4OGEzdmVDeFp2ajM0Z3hhNGMvRFZmbmxJN1hHOHFMdzluOFBLaTlNZWhZRk5QejA3WGZnUGQ2TDlNM1Z3OXUvK3FIZi9jWHdxYzA0ZzFTT2NYaDhtMjArK2Y4RndXOVpOZFpVYzZoaGFOTlFScTJRdm1ya0Uxbi9YaGkrTEtoOE1UenF4VG1adDFTK05OK1dYS2swcVZqdEVVZ2F6dGZmMkF2UWFOTDc0WU1FNjU4M3hraDVCaTBrT2NPeGFGbzZpcjVjR202Wmg5QUluZ1BQUXZqUWtGcS9WVTFmSzR2bCtMUzRFdnNDdmlEMVVXeWl3ZTBqNnlxNE1jZ0pnYXQzdEdHTHFIbnowSXYyaEQ1VDlYTkt1M0Q5bzhlYjFJZzkrdFVBQnNXbjh3N0RKNm1TNGcwUzJUSWQvcTBvVlUxS29KV0xhdTc3WlEyZXYrTmp5QzFhbWZtdG0zVzQxeWpON0IzVTBGK3ZOSGVDNVFTWVRuaDdrU0kvSE1vZkRyQnpwRmp0V242RzdFRzFOYWFTVFRWZmQvTW1MSWcreFNVSytRa3lTTFNHVTQrL0I4N3crT0VEMHZLZlVlQXdmQmRwQkcrK25ZSTZlbWVXQXVJcmxlOFVFR3lINGNPRTVFMWhreFNsZXlwV2Z3UjMzSWxjdnhJOElZcUNlYnZ0WUw0cDdHeEhSZ3BGdVFaZHV3T1pBbG44dmZsTmVyNGo2czZsWWN1Y2tha2E0NG44QXZuUWtHaTlwTlJRTzdTdXZKcnJzcjJhaU5iaXVoWlB6bHBVbDYxUWIyK2xwcDMwYVllcVEybG9tR3JDa3ZaNmtIUVRNQXV3SkNSazdUeVU2NTR6a29hVnVueEJIS291K0Fja0RkRndvcTZ1eGJsOERjcDFHYjJ4aHV3bW9LQXJVZHdINGs5bnBYS01rOGEzWkxlMGVnMGdKcTBHbFZnYkcrS2JJakVOSVZ6RmMxaUsxZUgxRXZVSmcyNDhPWmU4Y0dLSitPYk85ekRyaVlwVVZxeitDSDRiNWxXaTA0aDRXWDhwZVBSNWtXSkxhOW9LRElKOGFnSWh0blVFYjdrMDdCaGpOelFCeDR1K1JmQ2hJWFZDTllYTFlmajlidldYYkZvc21POTZTdFV4K3JkdVBYbWhlTUp4aGFmbmwwRkRORk5IMXpCWFREMm96U2hYMFlZRUFkN1pld2lvS0tZMTR2YnlkNUkzT0Y0N0I3RUplT1ZJdmdiN2lvYUErUHJoVWtDN2laNFdrbldaZU83bHNYa2RHUkxuR0N1VXQvM2I4ZVFNM2hUYk1oQlRYTEdaaVJxYmhxanNzWWc0VktxbDNCQnVQS3NZbnJwei9PN085N0FNRFFQdEVkQmF3NFY0eUZFRFZQVjFZUVZxNjVwd2lQNUhya0VRcy9ZZHh3bEg4cFpMdzRaOEtaUHBVL0J0ZTVmQmg0WkpteUswdmlnYnRZWHdHVFBqM2ZUajdUcHJoNWtzendkbXhZODFqNGF0OEdqcnVwaE5FU3dDc2VDakMvVm1GYmRwOVRJNGpHbllrQ0lCU0p3TVpqVWE0cDJ5aHFSMFFkLzlwTGdXNjhYVGlmVzNZbUttY2hUcDFKK09SQVpFVDVxN3RCcnFZeWJSSW5Vem9TRzF4WHRTWXpkdWhGSHdPR2hYTnZOU1JOeWQrZEpoNG5WRHpQRFlzZm9qZ0htdG5VaTZHb2FmajVmSlVQcG5ZeFZGQmpuMkhSdVpqNVluajRiRzJPMHhQSnpYK2R2dVE4T3RaSVNGWnVSUFVERVhNL1R2MjJ2elhYdlpNQWhhcW9wbmFNa1B4anRoUlVwa3Q0YlY4S2lMaW9VRlZFR29mVlhOMmlIMW03U1A0aXhFTkFUQWUxTHZSZlZSVnBSV2hxTDJyY1Z1Y09kN2lCM1FLN0JBUmUxRlVZMllOcWtjNDVUeTFwVHRLRnJBK0QyQStiS1VtalFObzVrUW9hYXJPcVhCWWZUaVFJRWxhOUhCUFpDNXFic3ozNUkwMUI4QnBnbWlGWjBnMkFyRGI3d2U1WVFhR1JPeTBDRE1zeVpRS0ROSDFaVkhRN3g3d28vL0lWMmYrL3FQd3YwakpRcmhROE1XMmoraC9nOC85YWQxVEJtSW1pZnptUHV6YjNqbzNsN2txNG9xTG1Od2QvVDZkMjBaVGR6SGlUN2VpcFRMcHVGdWVIUWZTWDMyVlQyNjFSV1pvcmZ6bHBwenVoeXg0RkRyNEtJSldxVmt1RFFhb3ZhdGlURHhBcitYM1BNZi9Xc1Vncm9XOTQ3cGpTaTIrYVZ5SkRudGdsdzBqTUpnVHZMZm9TWk53NlRmS3VyOW1sVFpXUlV1b0JNemdWcHM2WlJDdUx2eUZmeGYxNFFzSjk0T1JxeitDSnJoa2VUOUFuUkx1YVRyWEdpUUdCQTdETFZzR0JGdkhnMXA3S2F1bzQrWE1kbUhoaDJsSEs3djNqUDA3MU5rTHdyUzVqYWlBRWYvZFYrK0p3MHQvaDY5RHVUUlVNOEdOVExaQW92SzBndndGWTliTXN0cFFVUHdSMVluUkNnUHFwa1VOR21Zekk0Z0dnMlA3TVVDRE5LVHpsRnFpZStRaTAzYVRWcXR0Qm94OGFuWmhjUWFEVkVua3JqNG8wMnRaTFdGQ2lFN2hscmVybndIbzJGQ2R2UVdrazg1TkdVVFgyaFFFT0NKYkdzV2pyUXpqNGFvSC9JNmZrM0J6eTNaaGZTaFlVTnFEOE1ISG42SHBlR0RXQk9YeXhUTDFvTjNiUlpjVUdNYlM1T2YxNXVHV2gxRW1zU0h1cjVOTkV4NGVVM1FFSk11Q1RGcHpDZkpsMDNEbnJJWFRKTHY4M2Ewc3lHZG81SVdMbUFhTTNjcnFZVnBOZmswUk5kWVRsSE54Z1NvSjY5RTZvcFlJM1hLMkpYdmdEUmNFZ1dpanI3S3NDRUJMRFNJbmtYU2lNYWFSdmVXUjBNOFNFbUUwZ1h3b0NGMXRMUXFtc3BpSzZrTUhXdjZ4ZFhyWDVEdnlaUWV2d0J2R3E0cGZWWFZuYVNseEZYUm4xdVA0NmZFekNNd1JMQzh1a2tMbFVuRDVNV1BOTFdFU2NFVFVjcDBqbEoxZkcrRjRVYmtYRWg2MldrMStUUWtUdTFGU2k1SFF6RVFVOW0xN0VMYWxlK0FORnlNaXdRYUpvMXpQYmFqMktDQWV1V2JzWXFSditYUkVOREt0MkxwY25qUWtJYWVHem1LdDVLV3BSWStiY2loNWJsdUJNQnphalRjVURsM3RBS2dOTGZFU3NZejh0bi9EeVI0cUpnRUgxN1FxeFJLU3hLeVhhUzMvWm9JRTJOREhYRUFkQkRIQkg4cTlsT21jNVR4OFYzOU10TkNZbHhhVFFFTnU4a2N6ZjV6UWkrR0o4cXVsdXZsN01wM1FCcEtISUZQWkFWTWtUUXNOc2c1Z1dDQk5UcmVQQnJpbVNkZHJMSVdlOUNRaHA0N09YclYzS2ROUTR3V3R1MkVDNnBlMjFGZWZ1L1dVTXU1cWRtQjl6TTZxR2dUYWVlYXV0b2FrMFJqR2I5UU1tbW9kZmpvUGJXblZKRXJuYU1aci9rV0pBMGRhZ3BvdUpXOEdKWlhoVVlBcnV5cWFoMVVMVC9wVFBKRndHRnV2OUNPMVI5QlUzRWROTHdsbFVzYStoZzBQcWNOby8zRThkU2FMR3B5YjJoRG55UXcyMUg1MUF2VTFUbFc3aGU4d0twTWtRN0FHL2F5MVdHVlRhTGZ0bHJEWGNmVHZhUjFtM0tVWmticGRTQjNpdVlnVVlFWlNQVWV3WGdWZ3pMcWFJZmhQZjl2SWdPZlNrQ3pCbkgvS3BPRzJzT2c5MVNpU0RnY09ab0NtZzk1YlFodldnMkNVK3VHMmhSTmdIZXpOSE5kcU5qWFg4aEFmMUdFdXY4aytTTDYwUEdnVkNvN1ZuOEUyRThvQlYwMDlERElOWUVnVlk3Y1BhYzFMQnE3MldWNUZMVW00M0kycWxzUXRuWG8vcnJzd0tFcklna1p4WGNkdmY1VG8yRlVNY2tRVkdVMUNSQlBpYUpxMFhWYmRDR3g1d0Z1bFlCMjM4UjdWVEpwbUF5RHhOeEVVaGVqZ3J0eWpHS3N2NTk3NXgwMVNVTlVZMHROWkx1V0V3SjBHc0xxcUE4cVoyaFFLaVc5WlJUSnpGalBGekUyMFV4aE85YWtvYXZURGl1akt1TmhrR3NDd2N4L2hIdzVOQ3dhdTltbHFLTEtaVnhxWUtFbGFzbUhyWVhwem1TQWtxSmgyOUVCUldYVEU1ZDI2M1VndHpWVUxRRWVkUGlHOThiWFE5R0NIWVdKNis4S0M0ZzNLZ0VOQStNMTlVd2F5aFVLSkYvUUZoZWo4cmh5VEpkMG5sWmg2ZG9RY1drMUNNNXREWU5HM0J1K0hIZEZ1N0JFRnZTOVVINGdGTnQvckh3UmZaakQySFNzL2dqYytDUTA5RERJTllGZ1d6d3kvaHdhRm8zZDdETE1OUEhrM2RmcmJGbnlkL1NlVGxvQXIyUlpnZTNXME5YclA3WFdVQm9WRFFUMTh2NGdGZUtIWk1oM2tZL0dpaW9CMFRCK3lidXJXZFN6cFlSMExTU2tqZndaT2NwSWViOVdEOE1mK045Zmd0UWJJaWl0QnNINU5PekdyOEI0aG9aT2ZPalhjVThvdHY3WStTTDY4S1JvNkdHUWF3TEJzbmgwdkRrMFJKM0pIYnZsRnNKamlxYVJQL1JFRFpZNVdHTkRqSkJVRjBuS1hKSVZYQWFVdk91djR0eldzSmNvSnV5VUx3NnUxQkJLbDZpcjlDclRSQWpTU0M2VGhzbENwTmpTWm5Vam5EbkdHY3ZiVDREcXZ3YlBncVRodnF2WGtVL0RyWGlPSnA2aENXcjVqMHBrbmNvWG9TZEdRdytEVU94MWljbkkzM05vaUdlUkVLRjBPWXBwV0RUMHZDRDdiN1IrOXJSdUFLcVE0UmR4bzBMRG9QSWZnUnRkUkNpTE42ZEFRL1JiYjR2cU53Z05ZYmJvSE1kN2FIeG9tTTRYeFQ5TEdpTHZUYjNXakxRN2g0WXQxMXZVdHpERk5Dd2FlaTZvYldNV0RXSHo5WlFkcDdadTJFdXlwaDZuOGlYQndmd2ZOUkFqV21kcURSZFZ6S1ZrdHNTbk5RU1I0cEdrMUpDVm80ekhOdFM2SEZJajlZWUlUNnRCY0g1ckdNL1JUTW1wbmVYQzF0Q1JMM0k1ekcyUjdGaTlRK0xHSnhrYkZodUVWMGN5eVNOZ0dPay9PVFRzNUkvZDhvdFZUTU9pb1dkVjdzcWlVV1N5Zmt1NW9qSnZwM0pmaUNmM1VoR2VBWG9kOE95VTBvU0p4akV0bzhvL0lSNHVpVjMrZXRkb29YaHNxSFZLbGJSVW5aMmpsTUJ1bTNpU0I2azNmYkxWTHdBQUlBQkpSRUZVUkdoYURZTHphUmcwUkZNaVoyaUNicUpWNW1QZkhmbEM1UENrYUZoc0VKWlkxVktuYmUzSStYTm9pRWVoMVltU2xoZlRzR2pvdWF4Nm50bzVQVEpqMy9Wd3QrUlNRRWxEcFhnZk5LVDIvRUNtdCs3WG1tTFJHYlhkb21FODJuTy83VEZGbzBFT2hHUnpGR3ZQeTFHSVZKQnQvR1lBK3paRVdGb05naE1hTGk4SkliUXo4dGd2K2J0aVJYUkx2djFheWJtTlNEajExNVV2aENRTnArUGpTV1k2TzFaL0JHNThrdGF3MENBNm5aS2VRRER6SHlGZk5nMXp4bTZ6K0ZMZXQrUVhvcGlHVzJIVzBIUCtteHYzTEFMeHBPZlpNaEhGNDl0TDVYNXFKeXg2U2RiR1lub1UrdWlTakFXd1dJa0hyM1NtZ2hyeEs5cGR6VXdhMHJPUjZxSzdJMGRUQUxQMFg0MURrTmVHY0tiVklMaUFobmc0YXlEanFsQWdYbnhTYlJ4aTNWejVRc1FtbXBuS2ppMUJ3MzFWVGxObjRrTUI1VXNrQ1J0ZFJ6WU5zOGR1MCtIUnU5NXRmcXN1VmNCaUdyYXlocDV6N2ZCVjlTZHhubVpiYXJYT0V0WmtJL0VyVWdEM0t0WDZBUzY5RG5oMlNxbnJ0bUptdVhzcjhkY0U0NXB5cUNiQ1VYdmlMbU5EalZ6UXgxNkxVNWswcENmUWkyUGlXenBITTM1WDZWb1FOSnhhcE1OUnRwcENHcUphd05EbVFhd2REYXJlVnBwNWtzK1ZMNElQNDc3QTBGdkRRb05vY215TkxBdXVib3ZiYVAvSnBtSG0ySzNTb04zTG41V2RIM2Y1aW1uWXlYcWhMWWNmRCtiYlA2TDE1cmJVYkEzbDFvenJ4SnplWld2SkN1NjJwekMwSHhvdXArYUtxakhMa0YzMEFSMlVja1BsM1pKMUF3eE9KaEFXa2tCcVBMVk9LZlZIZGxSaWNxVnpOT1BiS2dYVWJvQWYrTzVwV2swaERXSElVOWdDSkpWamFpZ3hWNFlaZDFlK0VEZzhLUm9XR2tRVENORXJjbmZOc0hRMFBkazB4QXNuL1JLbFFqd1NqWGFXcitlVnFKaUdEYVBLS1YwZkVEM1FDL2krTHNnZVhRdXlLeWU4NkpsRkRWOThDaWVTR2ZSYk5QM1FjTjlZT1puN2RyVEphbG9BZlFaWVZsVWNnMjlaMWcxMHVaTjZEUzFyVVJrc0d0SklhQ09Pd2UwendDT2RvNHFIaXpxdGUzSElscVNoUTAwaERmR2FDRGVUR1JxaE4za2FRZkFibWx2azVzNzNCR2xJR1dwR3BBd1NTQjBJMjlwTDRqYmFmN0pwaU1lWXZBMk5NdFRFTUdHK25kdjFMcVJoMXRDejBoRE5MSEJPNmlrMm4rZ1Q5K2hrUlZudjZ4WjBySDJuaHNrZW5uNW9DUEMwbmpCOVNheXFHdWhaWVRUVVBxMXlCNjlpbHJSVjhkQmtyTVVpWm10SUhMNmxFamNXeFRxa2xhT0tod3NMRGNrejIwMW9tRllqanZGSE14aTFuVWlET1VVajVtaVNHUnBhdWRXSHVIVllZbHp1Zk9rRFFkRXJlMFpVR1NNSlBIYXMvZ2pjWTJkNm8wUmFDZ3dTeXZkSWRGNGlIcVViMGIvWk5BUkk4YXllYWZwVU5IWHlxTjU5TWlYSVYwaERHckZzcE5PQmN0R3NXalMwaWdRdXk4R2c4S0szdkNZY3RXMXhpLzYwMVl6TzFNZStSWXZ3ZE9wMXdIZHNhTHdyQWhvWFZsVUhZbDUwblZGQlZSV0V2R3d0TlJxaVJxM0ZSbG8waEUwcXNlZ2lwbk0waW9kNWllUTkwRTFvbUZZajVvNGlQc2VmSGtRRk4wWi9XK2h2ZDFjVDVmdDY5M3N1b2JxTWQrY3Job3dISkhQQk9XbUpGNFVScXorQ0lob1dHRVNMWEJFU014SnhzbU5rcjJ3YUx1dDFRTE4vSnVwenQvUVh0UllkT3d0cGlONjlQZkFSU1dzeG5RNjEyVkVzbDIycUxEQXJ0MEsrT1QwUUE4WnRLUUxMbDZUYis2N1hBVjhhMHJiWXhTU0hOcXlxS2l2bUlncTFGVEZvaDZsc0dwZFZNSUJZaTVWWU5JUTNZVlV3STJpU3lqSEpuaHkwcmlnRDZna05IV3FvbXhtOTdocTlLSUZGUTlTTEx6VU9wQzc2S3JrYTlWNDJDRXN5N254RnozQ0o0aTgrUzMvdEMxUmFvakFacXorQ0lob1dHRVNIZmlNcmR5WGlkdTRqNWMrbVlTTmo3SFlwWEtVUzdLb0s1eXBRSVEwemhwNTRyL2FFdm01U1k4V3JPd29VTVhoYVMrUzRvRm9LY2RCdlhjUkdQVFBuMnplT2Q5LzBPdEEyT3NHNi9LN09PM0VVYVZWR3oxSHZwNnFzbm8yNnpqaitkU0JGVU8ra2thMkVMMWVQVmRjVGhGRzFIYW1XdFZmVnJxaktnRzFWcWhNNVNvKzRVeGNEVnRBMWRWdEl0amJnVHF1aGVhNm9yeVBmWlJZTlljbFJ3bWlvYUdpUTdPcURBY1NKTHE0clg1b24yYUQ0QlNjWDdGajlFUlRSc01BZ09yZ1Z2V2JxTzJUQXFGK1pOTXdhdXdWYjBWdCs2dC9uRnEyUWhsdW9NUTROVy9KeHkxWlJ5R2hWV1l5UEJMUnkzN0dRUUxXSjY1L1l4Nm1QSlIyNU9JSmtuYUNvdWpRaUpWYzFhVGpmVkhPNGo5SmpyNnF1M1V6RUZ4aVcxRnBaTlNDSTRtOUcyaDk5cmFJaHVyQUdEZEh3SisxSVk0WGtVemxHU3VLL2FPTmtGK1BpOTRwR3RydU5xTFNhcE5NMkpVZmdrcFpTWDBOMW9Da0l1MlNXNHFoS1U3cmlnR2hxU0R3VHZKbTBmS2tSWFNPaDZ2VkVWSFBZc2ZvajBQb0JDTDRsVThHcTJKbHZFSTFteFZzNitqNmVURjc2L3ZiRmRKTDV0NmJEQmczSnBDSDFNNXpnTFlUaC85SXJ6TGFRaGwxOURrYXBXNVo5MFdZODN5eWkycm9IbHUwZ2RQWjRUeVhEY25UU2ZhTjJOdUdrSnBMdlJMRldwWVIyOUZzR3hmZEQ0NFZBdEV2YXR6b2xoLzhnRnQyTis2dXRaRElHZmRLVk9KTGVGZXVSdS9ZWlJWVDBCWjZYRW5Tdk5NS2p6U2hnSnY1OHRwMmpMaTZtVXVLR3A3M2VJRXFMMlJTSEdySjBFV2xub2phRFBudG92cnE2MmhzQWNuaEJ5QjdHQlZOUUdGQkx1dHQ2dnBSS3ZGWnFTMExLK21QSGFvK0FHZ0VwamVDa01VWHdYaFJlWUJEbW1BUU5XMitSYXZxNVh6SHFtTlRRMkpDdW9kMHphZGhDaWQvc3lnWmRoekRFejJqbVgwVTBuSVdTdUdMcGlnRC9MZUhIZS8xQVJTeEhMOVVvQUZGTGNGV05kbU5HTlVONDl5ZHRnbEpSNU9xcWhnaGtDTVVQQ0tYUzRHZGh6Ti9abUV1YXcwY0VYNnBKYmEwMDRnbysxUXkvTjFKVVUwMG5MVTJzaXRBcno2QlJlR296a3NBdnpKZy9FNEt5eFBXb0kwNHpvb051NVJnbGxIL1JSa1M4L2VDWEErTC9iTlRZcGRWUUM3bUJWUHR4RGFlM3J2Rk10NlNCc2VwUHkrYXcwcmhmNXFidUdmbkd2d1l5TDF0K2xVQzRvakY0RXR0VmowQ2ZPVUN3ZkZlUWxTdXhrbnlEZ24yUmFNb3NsSlYvb2JlVzlFVjAwVWR1eDQ5TER4ek03YVRoWTNkOGF4c0Z4azlxdmZLbHFSeUpRS2d0Uy9uNTV0R3c4b1hIWHlHVVBQV3RIL21rcVFZTTJCQWhjT3lwcUtycTJDR3dSalg0cW14TklxbExxaGtoRnVVUFhKWGkyUFhabSsraFJEL3d5c1dnY3ZOalRYSy81cFV2dGNYKzlIR3dNQXpmOU1xUEtOTkFuSDlKY2xkRFVUblJLWTA3YjcrWjFKZmZpVjhLZno1cEFDbkJZVFJwV3FtdGdvYmg3WSs4TExoMjgwNVNmL3l1bXk4amdlanF4SWwvTSt6RklWYU9jV2g4QTd2RjlxYXI2RGlDYVArZ0hkZWp0QnJzQWtYbHJqU1drSEkrS3ZQeHQvNjAwb2FLY2FCOGtLeUhUL1Vvb0N2Ylp6MDJLOTlIQlhrZmtUVFNrOEN0eDJxUFlDNDI1K0diZTBFYy9LYWJQNTlZK2ZETkh1bkpOd2pkRFdxMHU3SUpweFNscjh0dUVzODNIUytpMHNxTkJFNGE0cUVsMTRFaFRwNWxFWGVrcW1KS0FnRjVOS1I2SjYvbnpjU29PZ2NpWkVaMU11RmZTSHBFRlBrSWZEOWVqMXNISVUwelJrL0hMcG9rQzVzcmljL0hVWlhtN0lpVjZzaVg2bnZWcEpUK2RMNklQdnBMZnVxZnhDc1IxWERuYTQ1L0ZSWDdoNk0ra2NnY0l2LzIvL3pkWDRwL0lEQzJCeS8ydjdzWnpIL2pVelNBd3ZVVk1hYU5jdERhK2FsR2VQelR2LzlmZmpGOFgxSU9NOGNrT0hMZ2R3M0RmL0RyM3h4aS9FSk50MnhiSFdyd2R2aVJQL3ppVTVRTUhiem9FdjI0U0JHSUZUbmtYMnhXdi8wZmZ2OTNPKzQzWEVhKzg0M3dxWmQ4dnJraGxaaDNQYllxYmRnSm9oYzkrUmVwN3h4ZFg2RU9SSHdkQ0RYNUJsVWE0WHJsYmNjOU04ZHl2cnBWTzJYcVhkZWJTRWIyZFhmU3NCcytlQU8vdG56WHZRODJIUm5TNFFGY3poNXJZa01lRGErR3h3L2VTei90Zk4rRFVSdVNwS0lqNHhHOUw2bE9KbUsxTGlkOEZmcFY2bWMyVlNxNHVtcGtGMXl0ZjgvV3FoRmI1S25DSUNvdUJwM3pLUHZyUmRIVE5Ed21WTzY5cjZuVE1BQzljRVV0UmJENzVhQlNFNy9DL1V4VURwRnpKQkoraDJIRzc0RWs5NFpIQnhvTkNSV3lRcU5oUUorV3dQVzN0YlJHamxxNGNINnRFUDh5b1hPdC9zQ0JqRTZycVhSSWNvVUVwa1NaVVRDTmhrSDlHWmsydmw5dENOV2k4YmVpNE0zSUYyZnljL2FqYXJIYUk1aU5IZ0ZxQjJoSVR3WS9BdDRrR29vbmcrQ0RLUHQ4ZytpbjBWTmpDOUhwRWNVUWYyNjg5aDNwa2lRaE0rRlM0alljczFwbE15TDY5amhwV0tCdDZwdWJLRVJHUnlOT20wZkRIUFc3OGgyOHJ6cVpFSjh5MnNaZzZ1WDJMMTZnQlR6UTFTNnM2cjZUZGY4Qnpwdjh6L0ZMNGRFbHZDVitvWEg4ZXZPM0JpQnk0K0ZGeTR6WlY5eDMvS3AxL0ZMZmpkZDg1TmYveHowck52RlcvdWp1NDFkcDNWUkU2RGttY3RMeDQ5OXc5OUcvaXMyUlliaW4xVlQrMjkxSGYwMlRzSnd2U3ZXODVuOEJsbnpTRWt1OEdmays5bER6bmw0aVpEdnlZMjFwMjU5djBBdWJxWjlkb1prZjYvbytXNm55TDR1dWd2SXIxM0pxNVZURjllWHFoNGJvYy8wM3ZNcHo4K3VUaGxVNVgzZG9qQWF4eW1WWFlqTjM0R3ZVdkswTk01NTlqQUFoOElYSDMwdE5TUHhUNEhlU08zUDVZVW9iNTFqb1hSUno5VmJnSU43K2FCZ0V2eW1icll6TSs2VGhvV3hrTytHYXJuazVtZkRRUTVYN2FqdzJreUc3MjlMRmQwYkFRSUNHNG5KQU5mL0g4S2hSdHlHSENhUURNMEQ1NXRWeXJnb2N4SVU1RWFQN1Y2UnJydjVkUWdUTlQ2NW8zelNNUjhVTjR0MWZTckxZVWl1NFNaanV1R2poMHRyUlk5bk5DQ1FJMEtLSHFoMC9KRmQ0a3ZqRVVVOU5EaVJSbUM1VzdtRzR5dEp3WHpZN3RYeEREdk9qczB5WDUrekI4Z05zdUVyRVpveXAwaVE0Y2V4YmcrYk9ZaExGRGtaQVI0RDZmM3RKQUhZbDJkT0VjZHcxYzFpRXFiZlhKYW13UzI5SmVZYmdLa3ZEbXB6QnJOa1RhYVl4MVp4WGlTbHArSGJqV1VLcy9mV0NPYVZqWG80WkRXbmw2VmhqUjBWZ0pjTXVSZ0FJWERLbk5Wcm1wajBGMFphMU1vUE5XU3J5bXRYN1VqSDl1UzdnM2FEUGp4ZHBhY2d1YkROZUdNNUljT0h2WjBUa0I4c0ZRbUNGSlhGdC9yd0RXbVpmbGRDYzFOSUluSjJJWTg0bEF2dm1BZ29Sb09jQ29tWk8rZ1hnNjZhU2E2Z21RZ1gyNzBKOXR4cmZmRjJOK0IxeHRXRE9KRjlMWnV5VmVOVmJIQSs2OExTUzJ3bzNsQ2ZsbXJaZVRsZmlFV1pLa0FQT1BRS0g1bVNJdmo5T3gyWk9qcjVrb0haQ0ZFRXRjeE9YRk9yM3ZnQWEzaXFSdVBQM0l1RmR4NGJRRW1xeVJPZWpaZzM5ZDR3dGQxZVVtRTAwRlVPdUxldWw4R2laSXBtcTJEZmhDTlRNZG9lMjdMaHF5MlY3dWNMc3ZGNDBaL0lIeFd3TFZsd3ZvUVRiUk9pYURjMjlaQ1UwNUl0MmFaQTNYLzhidEN6WmhqTzVHbmtycHN0NmZ3RkpPa3RKT25Zd0FnWUNtSk5aMHdKb2k1eHJWR2FmcDRXY3ZqLzFxclpaVWRQV3IzTWZWbXlVU0h3dC9CdVFubXJmM2l1UnFJVG9EUGhkNlQ0WjFNTEZhV084VjdVbVlYU2Q4M0xBR2dmT24weFRyV2ZKN2pGRmdJNWtibWkyMDM1YTF4Q21iWTBZMFhuVnhrajQzRjMrOWhVdEJ4OG5lc3JXakZCQnFoZUZ0OS8xVUhoOFVDRFdkM1EzdktlT0RjbFh3cWZpRmNwWTB4WGpIV2FxdjJBdFYxeHc0V29tWWQ4NVJZRE8zK3hvWmFkT3FUWVZLR01xTkNyU0x5d3BYTmY5dGFFT0RtdXdZbDFYWCtqK1R3ODFIL2pSWHFGWXZ3S1ZYMnplUXdhOXNQbDNUQldON0JXU1E2djE2MnlZU2RuSENFZ0VhTm13SnoyNDB4U05nNFpYNVhZdUtZcEpsRzNwcG52VmV2WHJjZVhkNkNscnl5SGwwNTllaW4wRFBUM2ZpdFc1djJheFVwZGw5emxIZ0pZR2RBaUlsdnFnTDQ2N2FLOGY3RnJOMVlJdG9Dc3Q2NmFlc2pFRUs2dmc5T1JuTTNZNzBLZFc5RjRHWGxUUG5wNVZuTk9ZSWJCdlZmaU1GYnRkdTdIckdzdUdWT255anhpVmdvVjZ4dU15a09wbXJaaDJyTzdxMi9aS1ljREM1d2tCVElZWWZWRFEwaHowUldCMHdpVVRGWFBaa0Q1N2JnMGVUZkZ5UHRyTHBrOEFsVXQ5dXRMVDF1S2d6UDJxTWZNbFEvbk9DTGdRcUptZnVxS2YyYkE2VXlJVm5mdzNMdnZuRXRHUDdCa0NnM2kyWU1US0lBcE9NKzJ5dXh2UXlsdFJQRTM3T0s4eFFLQmhyZGJYd1lDMDJWakdNQU90WlVORU5senNOUk41Kzdvd1lteTZjRmZwMUVYcW1qTm5zRkx4SE1BSUtBVG8vUDJHOG9wUER6bmU3dFAyVVFKcjJSQWFhb1llVFdVZnpxYTV6N1VQRGFlWnBPV2FlOWt5dXZxbmFRN25OWDRJMEdUSWptWTJIUUsrcnZsajV3VjdBc1plTnFSUDY5MUtwK3N2aEJaTm51c3Y2Vm1rbXYrNEk5ZjNqMDFyN2pDZWcwNFpBYUxkb3BibkZ2eU9DaVJQK3BEa0ROb3FlUjMza3JTNzFuR0NKS0s4QXgrS0hKK2hZZm5pY1FwR3dFS0FQdW11QjNYY0t3VlZqV01Ma29OMFZ4UmVHTjRTUXcxSElEZDFxOWpOQ0V3MEFsdm1qd1JRSC9YQVVlQmxyY2Q1N1k2Yk4yL1d3eEIvYjM2VGtyMG9EOENyb0Q1ZHRLM1Z0YnU4VDNXY2pCRVlkUVJhNXBjOXE4NHROUFRGNmV0bVNleGxRL3AyN3JBMmQ5TU9nbTB6Ty9ZeEFwT01BRHFoV3NPRG44cVEzelUzQzkyMHAwSE4wNFlrakZHbW1hWnZIMndhNGxhQXZzM2doSXpBYVNIUTBKY05wK0RiZHVac2g2ZVhEV2xQK0Y0NjdVKytJT3Q2U1ZvNENxRXpIL0tMalZreUhNNElUQkFDdEd5NEtzdnpHRmo0T3VreDd0Z2lzMk1FcEpjTjZaYzJGZzBaOHVBSGVqSXZVNk5LV2tXVDdDQzBFbUFYSXpCWkNOQ1V6TWYva0s3UGZmMUg0ZjRSZC9Fd2FYSmd4S1NYRGVtWGJVd1pTa0N6TFZuWEJnbWtMK2pScG1YVDhSekNDRXdhQXJSc3FLN1ViMXpJNHFLZmFMWjBDM1l2RlY5cUNlM2QzNVQ2NVVxNzVUb3lOY3FzNkhlVWozdUpqeDJNd09RalFNdUc4WFg4R3ZQbmZvSnI5eTFKQURCMTA1TnVjZCsxVGh0UzRIQ1czS245Zkl1UkYzc1lnUWxIWUF1VlBxdUlYVFdIaWtiVEhLMTFyZE9HcEVNYlpXYXA5QWcvelA1NnYwZHFGbUVFeGhDQmxuWG9WeTlDVTIyTHdaSDhUVDBLNjRqcEpZV2gwSkI2eWR0R1Z1eGhCQ1lkZ1k1MTZGY3ZyN2E5T2tWRCs3UWhwWFB1Q2RjVmVyam5HeG43Qnp6U3NnZ2pNS1lJb05hN1R1bUkwblRVdDlFd01XcTBobzVsUS96UVVjNjNBbjNob2RiWjdQNzZwbVE1Um1CY0VhQmx3MXRaeGsrOUk0bTVZSTBnSGN1R3c2RWhCb2FMU2E3c1lBVE9CUUswYkxqaFVWS2JobzVsUXpwK244bG9qeXdpRVo0bDlZYUtCU2NHQVpvUTJmRW9qVTFEYkw3ZVRpVWJScWUwNldkUEttOE9ZQVRHRndGYU51eDVtRytQRGZjZHk0WVlHMTczVUpVdjhqdmNLODBIaUdNbkVJRXQwTkNuV1BaTUtSYjNObFBwaGtIREFGTzMvRVd6RkxRY01ORUl0SEtXRGZXQzJ6U3NPWllOaDdOOFQ2UFY3OVd6Wmpjak1Pa0k1QzBiNm1XM2Q5RzRsZzFCd3cwOVRaL3VUMmNkZWV4VEh5ZGpCRVlkZ1ViT3NxRnVPL2FVTG1wKzdPSk8vOHdGRmo5V05KbllPWmQxM1BBRkdlY05LN0JwWEw2Ym55NHVoekFDcFJISVhqYXMvT0tEcjlWR2YrZ3FybXZhY2VEaU9jMGJPWjBuTFBvNGIvZ0l1cVU3S2UwY3dBaE1LZ0xaeTRiZDQ0ZjBOc2s2UzRpaDRwckE1T3EyZ2laMUpwR2kramh2eU0yaHdwUmQ1d0dCekdYRHkvZ2l6YkxXRDBXenVhUUJnbVhEcVArNXU2WkN3ZWxGNVpPdTh1Y05BL3BLcWQ3MlNsVjhad1FtRW9ITVpjUDYrNEpnWDk4aWFpN1g3OHVEOXUwbGhZdjdXelFxM3R1RnBsY2RzZkpPeFlLTXdKZ2lzSVVLN3pKOTVpbUVidW5qdjRiNllnMmlXdkh4dzNuOUZDS2FWcGV1UHNLZ25yOFczQWR1bkdROEVVQjlKOEtscnVyOUNOclhtNlMyM2pSaWpUMzZKT25NTTFyU3k2NjFSQzNlMzRtaDUxRFdQdnh6WkVsRzRPd1FXSGFmTnF3MGU3Q3BwYmVHWGVOWFA5dnhUcGZkcHpYYkw0VTZLYldJMGs2YXdPVTFpOUt3Y1lJeFJhRGhYamFjRnR2Sk92cUJDZk4zWXVyeDd6dlY5WVdGTGNkYVlwKzRZSytjM3QzdFV3c25Zd1RHQVlHc1pjTkxZbEhRR0E2YXZ4TlRDNzlLNVpzMmZ2VjlWMjg5QnlzK1RSMXRES2FDVXpNQ1k0SUE1amFkaHlLdTBYS0J1VVp4MmRodzNZMW8yREsrb0hab0RCOEhnb0RXTTU4ZFNBTW5aZ1RHQllFV2Fudm1WK3JOWmNCcDQzZGk5a1duZE1wY0o2eTU5ckwxQ1VYRC9KMnBQclZ3TWtaZ3hCRjQ3STV2YllPRllmaXVWNzUwMDJXcnVmNkEzVEI3U21wRy9BUjMxOXhYMm5SOHRGc2xLZWVpd2VGaXVTUXN6UWlNSHdJZHdjSG96NEhML0l2bXI5MGJHMXV3MzJ5OThyYmpucDRPaSs1T091c3kzdTRGR0xicUxjMkNqTUNZSXRBTkg3eHg3NnRmZmRlOUR6YVBuUFRaaXNaL3NuaG1sL09ENFhFei9Ea1pKKzVYVGRvYWNhVTlPTzAvdkFtZjBybHpBa1pnVkJCb21aTWtWWE1DNW9WTisvY3VMZzl6cVkvbWFMNDhLa2l3SFl6QW1TRlEwNWNOZytDU3ZxZkdaZFNXc2NEdmtpZ1RCaG9PNjdlRHkyVExza0RnZDM2UVlSZ1pCS3pmOTUwMlZpd2NWbllkMzJwemlIa0cxY0hEbnFjc2l3MFhnUTUvREdpNGdBNmd6ZjVoVVN3ajVtdHJESlUyTklPMGs1OGh4NTRRQXVha3dBbGx3bXE5RU1BQis1NGhXTXMvQXpnL3pCa2FjWVpqaU11UVJrSFlrNC9BTEUrTzVRTjBtckU0NVdCbXQ1Ky9nbkNsYU94b2Fpdnk3YU0xWENzU09vL3hmL0R1OEo0RHI0TC8xUC94Wjkvd1VLTW5aRC8zNGs4OGZ0Y1BlQ1VMTGp0M1ZnWHpuL3FuZDl4NTM3YWZEbStweXVmZStZbFgzTVU3cHJJQXUyUWZnYnBpenB6YTZiYUd1d21VRmc2ZnR2TmdmL0MxWVhpamVlelZYVzhEd3JoTEUzMkt4SFBJdCtVZURiU0V1dTBoUHdOYW1lS05pOW1nN3RzamhJck5TelB0c3RXSE5XTkwrMmh6Tjc4alU3QmhhOU1uZzkvMFc4dnBsNGFIN20wWUxlTExVS2ZocUhSTXc5UXpOZ0lPVXl6SUpWcWxhQ0xWVUY3c3dZOW1aUFZ5SC90WTQ0Ri8wU3RXTVJrU2J6dGFVZ1hCN3FYN2FjKzl2ckZReEJwU3Nmdy9lcndKeVI3NTV1LzRLSnllcldIZGVSSTgrSzJiZGVqWUpuVkR2R2J2b0k4VjhRczNDMUpyMlJCaUYvUG1US2FIM0lXa3Q2UzVaVlVhK3AveEt4ZjRkeUQ5azMxSDg2ZjlyUElqOUhFUU9oZGo5VXBOcVFRUjZvdjJZdC83ZldrNG40RTd6dHlnZmQxT2xBL05VV1VhWm1OcExSdENjQ3FyZVNJbCswUGMxMDM2NkRzWXpnUDQ3dytQL250UWVWdDR1MGRpRTMraGptcmZ4T3ZRSXdEbnRDQ0JnQ21sUUZsV05FUWI2dGNhVHB2Yk5wUXllc2duUVVOOGlwcGJReDFtelcwdkcxSlVKMmRmUzkwNEFhd3A2dE9aUmNQNVp0UVMvSkNicEgzbU5yckpPdURjZFdrZWRzOXZCQUdXa3V4M25pRWxwWEUvVkRURTcyMzUwVENuMDdOd0lqUkVlWmlHMmtQVG5hbGxRMFJlekg0WFhzcyt0NmhyOVhkbjBmRFRjWmRKMHRGZjQzaEt0c0c1VzlKMDlOVFg0VzdvL1ZRUlowaEphZHlyR2cwYm5qVGN6VDVoVnBLR2RUSzIrRUxYbVdtWUFkT01ZMHZuZkRaY1c5blBMaU9EZ3VBTUd1SmIvRHRSeXQzTUlVeUI1dkdLN29DR3E5TGtyV2d0OS8wM3ZsMkd4SGREU292VGFWajNwR0ZPbjhmNTQ3SmFkcGF6d1RTMEVDbnRYUWlmU2FkcHVZOUVRYkF0dmsyVFR0RjNTQVlOTHlSN2RUQlIwZXRiKy9nazNBY05ENlM1cmFUME1pUytHMUphM0s0R2tpOE5tOWtuVzByU3NPbEhRM1MxdVRYVUhwcnViTG5tWTY2cUY3TXVTN01HMjJiQXdMNE1HbmFWV2Mwc1l3Yk9lNVFVWUhDZ2huUmR6VzBZYVVocE1YM1FjRGFIRXlWcG1MLzdNVEdUYVpoQW9UbG1HeXZ3dGRYRWdCYTNyS3FFRmhvRVhmZFNreUZUenBOQlErMEhoYnZubzFmNm1YZXBOcVhqNnFJSVhIVXBEZWcrYUppeGxVMG9MVWZEZWFhaDlpaktPbHMwQjRrMzFLSWo0YlE5VXg3SnpPYXRLRHJVZUFTNWFZaTU3UjJaZU44eGVwVnhFM3B2KzIyZlVhWHZnNFlaVzltRXpuSTB2TVkwVkUraXRLdE91OWd1WnJ4M3U2Qm8rdHAxakNQVFVxVkMzRFJFUGVoSk5kanU1bnBUeU9oSnZMZnREWVpGaGV5RGhobGIyVVJPNVdnNHd6UXNlajQ1OGVJak1Nc1pHN1ZuRlEyVWlvcHFvbFRnZ0M0M0RUSHpsK2pGS3ZaSzRqa2ZqdE9nWWNaV05nRndPUnBlWWhvT1VDM3JJTlcxTUd1dzk5bTl0T3JLZDZUREJnMXgwN0NtVFJWaXF2VFdvTG1NV2ZwVG9PRjgzcmFJY2pTc01nMEhxRi9MeDN1Vmpuc01PSURXc2tuZE5OU25EZkhWS0djUHVXeE9ZeVIvQ2pUTTJjcEczeU1xTXlQZVpob09VTGN1aDArMXd4OGJRTUZRa2pwcENPYXBVU2hta1RMbWJZZGl3Q2dxT1FVYTVteGxLMGxEUEo5MUx4QjV3Y0lKMHc4M0huaVpNK0kwQTUwMHhFU3BXbHZHWHVXY1BhNm5hZXVwNVhVS05Nelp5bGFTaHBoQ1l4cWVXdFU0b1l5Y05NUWhSRzIzRHZhWGJKNVE3aU9xOWhSb21MT1ZyU1FOYTB6REVhMUdKY3h5MG5EQk9JTUlHaTZXMERnQm9xZEF3NmJxOWFjQkt6TTJwQWZJcldFYXcvRUtjZEp3M3ppUjN3elBmQ0xwcERHdGZPcWRkN3ppdmhXWlRRWU5MU2xJejMzejNVY1A5NElnZTkzd3NUdWJEL3dvSkt6TDNNbzI5YzMzaGEvLzZTRDRtdTFJTEtiaDE5MTkvSWEvRWlla0QwVzk0cjdyd2tmZm5YcjNqU2hpdGxGTXcvLzBVUE1OUHkrMml1aDdTaXQvZE5meGE2VDZPSmVzMitlKy9oTWZ1K3Z2STNiMlo1bzNITVhKU3NmaG5nZzRhVmcxTmdIalFTY1YxRlBydUltaDN1TVNwYVNUOVBHbFYxb3FrU1lWRmZDemVFUGRSeDhveUtTaCtMSlVlTFJqQXpLajcySDhOODN3VlkrL08zenJyRnhFam1qNFJmcjlrdkR2UmtsYndpWkJ3OGhDTVY2Zi85TkdiQ3R1UFR1VHlELy9zL2l3UURQOFB0cXhwWlhvV2owTWtmaU5tMEpxK1VINm5aWDdtczhHTFhMaEIxY0F4dFhqRzY5LzlWMFBmaW1nbjFnUUhhU3J6ZkJCYUZ0MzU4U2hmU1BncE9HaDhmc3llRmdiZmVzZmo0UWF3VXJROE4rRTRkL2NDNlpxVDIzdWFpVFFUMWo4WGhpK0xLaDhNVHpxV1Rqb1c5bG13MmNvK3NQTmh0eEVMMmo0Mjhkb3F0NHVYNEV0SWtMRVhZMkcyR3F1TGp1UEtNdktjbmo3Znd1Q0Y0YnZNMmc0MVFqLzltYndyMnZ4Sk1CeXJBWTBqRjFFdzhpcGFEaGZmMk12UVB0NzNtYk9JeVJQOHErVGhsMmJodGRQMG9RUjBIMzFqamFxSEdvZXZ1cDA4K2JOWm5pTXZ6Zk5YOUpDdFZSU0pEblZERjhuVXRUZmtrRkRzT1RiU2FLVDJoMnZiMlZidnIxSFF2UTlrbFhoRU91RzgwMlJmVDFlT3ZxdG0yU2hlQTdSZDZkRWF6Z0ZLeEgrTUZsN2N6TktiUDM5bXZCb2tZSisrL2h6ZW10WUMvOGVoVmJpKzlmZEtTaDN6OGVEMzNpb0NlZnh3d2NvNEhzbzhPZzc4S1VyaXY1SzhNUXpsQWNtOExaeDQydUlDRGhwMkxGcHVEYkVIRWRURmVxajZucTNzelkzR1ZKZEtUVjlmT2h1RGJ2eHVnLzJBNjZieGRhK1pYSXQ2Wi9XZEJvK0VYMm9heXZSWEttcnozUjhVRnRFUXQ2V2NqMHJ0R2dia1gvNXJSb05QeUJiTkx3cEJFdkZSNGtFTXdNc1Y4bGRrOUQ5NUo1SS90dWdZU1U2MklnVkxLMXpxMmZHN240UmNOSVFWZkk1cFJDUC81YnlUYW9MOVgxRmxpMlRob0VtcGUyMTdhRGk5bVJpMVNsVkVuVWRUd2pxVzltMmtubm9pem9OR3drN3JzZWFxNHFHK0lKUnNwYWJUOE9PNUp2NHdwV2t6M3dqS2F3NDZFTTVORUo1N2xsOS9BT0R3cDBvZC9Sb3YzSUIzOG1pcTVaOUlSWFJBQUFnQUVsRVFWVDZPRWdVem4vN1JzQkp3L1k1cENIR1l4NDAxS1M2YXQ4dGZXV3lKeCtCb21FcnFhNjdTbGFJWGRWZWJNdkpMdnByR2czL1hieHdpNEdnZkNNdUtCb0d2alJFWTdncURjTlRsVFM4bUZoR2JWOUVlTkI1S1JKdEtZNnJkUlhRc0JWVEV1K0RQYW1VNzBOQndJK0dUdzhscjVGV2dzMG9IalJVVWhvL3hJZUZlN0owQ1EzUlpNa3Z3SUtuQnpLZTd2cFd0b2I2MXA2a0RNais4dXVSUEhxQU1TRURuWVlZdlVwOW9NKzZkS2Z1T21PMkZBMXJDYmVwRlh5elNLYlVJL3RlckttZFBIbnNMSTdYU0toTHNKUEtpUU1HUVNDTGhnbjhRVkEvRjc5eWdZa0hEeG9xS2RURlJENm9xWW9MdU9LSlJNaGVqeDhOT25mU0tVSzByV3dWcmFGc3IwYnk0RUZDTGJXOVYvR0V1T05GUStPanFYalVjV3VJQWVGR2xCUCtIc1lHSURwdWQ5R1pYb3FqRzlLQjd6NGV5WmNLRE5tTzQvazJIQVNjTkRTSlovcUdrKzNvYVZFRW95K1RaSjAvVTFJZGpYbkJzdVpKYU5qU0dvMkVBVkhCdGExc0dIUWxZQ3l2Ums3UU1QbUVlRE94QmFFSmx6MXBDRUxKZm1oQTNjL1lnMWZJZXBMcFF1ekJxeUxlU0F6WFdoUTlyM3FmVFpVN0RObElrck5qR0FqNDBWQU9UNGFSNDRqcVVBVHpvaUY2bktvekdYUmROS3hyZ1czdHlBb0FVRU11V2xUZmtaQWNya1l1MVBOa2EzMGp5YWNQR3U1clEwTmFCb3hwaUxlR3pGS3NrMFRzVHJpdnlIdFZsUkUwWElvVG9XZStxdEt6YXdnSVpORlFJeDZxazlaRkhVS2VJNm1pSkEyQlc4S1V3RWxEREI2VGppT2FTMVdoc1NWTThnRklvTjhvTzN0QmRTV0NCb1NMSnlXcCt5a2J4ajVvV0ZQY0VhdnhFUTJScFdZTjJQbTh5TFlqWHh2SUtON3hlakdLb1dqUWNER3lEaU5iMVN6SFFYd2JEQUVuRGR2Sk1JR1VNdzBWeEFsWkZ6U211R21JTmtWMWJWdDYrNE0xdXFqOUVYcFJ2K1UrZ2FuTktDZndJSG54RFVURFVIRkhveUdHaHRyR2NqVEhFU21yY3NnSFIvd0MyVS9NSUJyRzFqRU5WWDBZbG90cEdDT1pFQXgrajdFaHFxcXFvczdXVUxVcDBBanhYcHdSYmx1cUh4clF1SkwybGVrWGt0NlMva0ZvU052ZWxPYWtVNHA1VzlYS2lXbGVJWVJjMTBTdXRiOGsyYnU4SWMwZ0drbzN0NFlTaWFIZFBXalkwQ3JGMFBJZE9VVWxhZGd4UU9scUxKTlROUHRxcVVFY3dWaFVSVDVVTXgvRVNWeEhmNzJub21rejI1cjBEa0pETk1nSmQ3VFdjTUdnSWRZZ293a2JTRWRkNGZBUDVDeXc5ajF3YlltRWFTZ2Z6dER1VGhyV2pFNXB3Nmh4UTh0NXhCU1ZwQ0ZBdWE1SzBIWFE4RkFiOUJIWDFwVzR0cFV0K3VHb0VOZDM5aElCMERCUnJ1WkUzYUgwYTFLYTZrUUhPY0FYT2JDRUwya05xN3BsWXRTM1F0TG9uWXFsbHRranpEL2Rpa0xvYjNSaHdVSTZvWFpOdXZrK0ZBU2NOTVNyUGhyTWl5d2FUTU1FNm9Tc1RXTzJzT3VnSWNLTzNpdXZ1cjUrcjI5bGcyWUlpa3VkSDNJVHpoMmFSME9rTU9kaW9xY0s0aVl6UU1pL0lZc0NCeFgwOGxjeEhTQ21qYTVvUnltWWhvVE5TVjFPR25adEdpYnY1cE15NCt6MUpnU0RLUjVqUXhCblF4a053SHJTSnp1bHl4RFJydU5FQU0yU05xekV2Q2tvTGE3Ym03RU9OK0hjb1hrMFhOQm5pVlJyQ01zc0drYlBGK0hyc0dEck9lZ1VzMHVYTkRHbW9YekFKM0YzMHZEUXB1SHFTV1E5V2pyTDBSRGR0aUlhMWd3UTljTHFXOWtvSEwvVEhWMC9HRXU1Q2VjT3phUGh2cHVHSGRPeWh1enRRSHdGRm1EMWNpdWEycW11eFFiaHhqUlVXQXpmNWFSaDFYaGROdVdBZmZpNWo1REdVNlNodHBVdEF1REQ3VEM2ZXBIZlRUaDNhQjgwckdYUUVCQlFNMTAvQ09JOXNMWHR5Qjc2eXpSVVdBemY1YVRocmpHR1J3MVpHbjdHbzZheEhBMXBlbkZERmFIcjdwUnFBMndsNi94UjljOS9HeFFtRXpOdXdybEQ4Mmk0a05rYWFyMU5Xb3BZRStaRkMva1ZySEZnTzlzcWdsUlBtMmtvRURxeFAwNGE0dkZwQzB1b0hqUmttUEJyNkRUc0dsMEtIVDF0SzVzSy92RU9jSTQzNXJnSjV3N3RnNGF3TE5tNEF3T1FielEyeE80YURBbXYwckJRdEl1emFoY1EwMUE5cVpOd09XbUlLdm5WSkRNOEhIMlpLd21mTUVkSkdqWmszUlV3b0dMM0pCNXlpcVpsdk10a0xPNVQralMwRnY1RkFCMTUzWVJ6aHlZMG5OWTIxOFZhTXhZc0RsTTAzSWdTdEdsSWVKRW9LcjVSYzFuWHlKM1NHTlFUdVRscE9KMjhsNUVubHBPME5lQVRNV0lVbEpha1lVMzI1SVR0WFFjTjkvVjNtVjVDWXl0YlVIbGpFZ2VkQjhMakpwdzdOSStHZUxoYWc1YXNHKzZhTDRoUWJtSWpWVHZCL2kzWVVLV1ZEa3lacW90cHFMQVl2c3RKUXd3TjFJb1JQTnJpMC9BdEdCR05KV25Za3RPTHd2eXVnNFpvaWhTSWVpR05yV3g0eXlWeGVCYmJ3dU1tSEJSR25VZklhSHRhd0IweFpuQzBobmgwU3J0YXNJQjZyWjJqU2QvRnlJWXRHaEl1cjhBRGtiM2dNTWxPNU1qTDl4RktKL0hYU1VOakN6NWVvcXFIZWhJbWpJYk9ralJFamRVbVlMb09HcUpMa1ZSY280akdWalowVVdNT1FLWVpUL3NVMDFCcjVuSm9TT09KWHBKMzBob2FtODVwT2tZMm1hZ016d1VOc2djaVMwRjlKMG5MWTBNTmloTndPbW1JWFJUeXlZZ25vbmRPVHNDR2tWQlprb1lRMTE1T0xocFNLN09waXZZYmlkdll5Z1lhYmlkQ3kzRno1Nlloc3J3ZWkwSjM4b0J5YUVpSFl4U1ZFaG9hUjdEb05MQnN0Y0hJcjg0SnhSaUpYSzhZVXdMY0tVMGUwd2s0M0RSRXRVcHFEZnBDcXllUThhaXBMRWxEVkdWWmVWR1NaYTNWa1ZNMFFVME85VVJSNjR0eGlhMnRiRlB4YWdIRnRtS2szVFRFWXA2a0lZNHFKVFJzeFozU0dlMjFFR2NWVlBVbFgvQXRic0RCenVUeDBtZEhrOWNzR3ZBcjBSbW9SdmlzZHVZWCtwaUdFdFNUdUx0cHVLV3RVU3lvMnZSMTc1SjE2U1JNT1Z1ZEpXbElEWTJxeWgwWERmY1ZiV2lpU3hiUDJzcW16NXZ1eDUrM0thUWhubHBDdzkzNCtWelFGeUhpekZBb1dwQ1BMblEwWXhxQ25Uc3lOSUNaMjlKVEM4TlBSekxMNFpjdmFJdFdURU1KMGNuYzNUVEVFMXVSK2VHWnhmWE5tRUNWMFpOeUwwdEQxSDVWbFpzdUdnSkV0VXArT1drN3JhMXNVMkhVL0JDT3U3RktOdzBCLzFxTTlvSkdROUJvaVlJdnhoeUxSY1FOZlV2VlJrSnJMSUoyZFMwUlcwNmVyemdXV1k5aTlzUGpmY1ZnQ0hOcm1DQjJBZzQzRFRIMnVDVXpxeVZQRW9TYzNJVjhrNFpaYzhOS1NpTUZEYS9VUkV2U0tRMGEyaFR6YnRMeDJ6VXhSTzgyZnN0UnAzUlBvTzZtSVVadThxRjB3WHY1ZkNDOFFlNEZnelZ4N0xKcU5hbm5ITDhXS2syMVBRT1BXaldqMEJWeG1ycXFkYUUyVnNRMGxFQ2N5TjFOUXp3eTJTUEJiTnYxT09jYUh0THFpVmd4QWtwbGJTWlQ2aHAvVE5NMEtlMHJUeTBBc3k0Rm0wbmlKMlNkeGhkbm1rc3lYdnNxR3dXQmhpc3lxaGF6SDQzZG1neFRTeE40RWpIVEtnOTBGQTNSNkFyaHFueE1NaVhkMGU1dHgzNndPQ0hjcnRxUkFiNHR4UkppT2k1K0UyQStSeFdKNHJYMkZ5Q3NKVW5ZTVF3RU1taDRNVHplak5SRFlESE9xSUZIazd6VWg1SDVLT2xBMVYrVjlxaXFMMFBrWFpONkpLbW44MkZUcTh0cW5RSU1rdzNOQmRXOFdsdlpJQ1RmZUhPeXRkcFM3UjV0Tll1ZlJGQ1Q2bWFlN1NnZVFZRm81R3BMMGtqdFhtbklOTUgrc1ZvdUJDVWxhWmYxcVNaMFl1TkZGbHJyMFBTSVQyVklQMEJ3dGJ3eW11L2xFY2lnNFh4VHZxT3JTWjhVeC9EMG9VYjV2RVk2UlRmcHNnV1loMHkrMG1UWnJFbmhwMTFpL256Tk04dGhLQThwNmMzSXB5VTdLNDM3cFNKOVNvYkN3Q0xaN0R3aTJ5V29rME02VXJjZHA5MlY3V3hudXhPRzc0dEQ0OU9SOHdsYlpiaTRmMEJPc0UwMVA0SUdyUmRING5lZTlvUVR6MzhwRHFOYkk4bTRyZE5UZk9RMEdRc0RCRFdlMVJLenMyOEVNbWlJMllKb293WGVqOXRTK1NHcXhHVGkvOW1iNzBIWndoOTQ1V0pRdWZteEpybGY4OHFYeW5MTHV5WkZRYklHVDRmYlhTVDQ3bytzNDFmWlJPTGpWMGEvY2dhbVB0VWowZTZSYk5HUVNyWkRGQ0ZvV0l1aGJvaHBuTTlFdHJ6cDVzY1RkUS9mN0pFb1hnL2JkSC8vYmZ4VVd4aSs5aTlFVEhwVU1Pa1JiV01NQ2NtckZqL0k1V2VJMFVjM3YwbEV6TWQ4bTRyUDJVdnA1YVNkTzVSTk02TG00bUk5ZkhNdmlFRjQwODJmbDJuNFBqZ0NXVFNjYTBhUHZLWHRlOEpBNHppWjhCczg2eEhTVUVVTkZkY09mbXhKWHFvZkdWdGFsVEU3VWNDTHd1T1hCY0Zud3U4UHVpSm1RelJ0a1ZERWtHc1lLUDZIMy8vZGpucVY0WmNvbG95Q1Q0VmZuV3IrdzE0US9HNDdhbTVha1FKcW5LbWxqSzUxa2FZYkhyMGpDSDZydVNGb0tGdFJVT3FwbDN3ZWdjNXJxaEcrY1MrWTZ4d3ZFZzJUazArdzdKbC85bFAvdEJFK3Vha24yMDk2NWd2YStJK0dsZEcxR0ZTbFUvYTM5ZVRzN2hPQkxCcmlTUGp4cndYQjI4TGpSYVg1RjQ4K21hcWJLbmFNWGRWai9OVDBYZmMrQ0NMTWh3L1NUMDNqWjZkVFJkV2tvckwrRXBxWEp2MXVkVmZVVGFLaFNIemZnM0lEeXRXR2lQbVhDaHR6S3hzdEtDN1I4ZnNiYUlJL0xxUmFaQXY5N0RYUlVLcUxhRGpmaG1BRHY1OXQwREQ0Q2NvajgvMUlKdHdYSHY5bDJsT0tTM3pkQWhuRmxzVS9YeWp0dXhCdkxxZTJmbHNHWXIrYnRBTTBsT1l4RFJOOEJuZGswakRBejdhampoM3ZtSG1rNnFZWmZjNThmL0JRODhaZlJabC8rZlh2ZXVsL2ZZblJyc1JJelAvQzNjZXYrcVFHaTdtVkRYT29kTUxpdzk4VzNuZ3RHcnJDNngrL3Uva0FaZml6cjMvNHBmL1AveTNGSDN1b2VVOVBlbEwzK2Y5NDkvRTk0UEhWRzYvNW4zNzlmLzE5R1UrV3ZlR25wUysrVDhsZmJRcm1iN2lLWTRtemQwZ0laTk13K1B5ZHpRZCtkTkhNcHlKZnBtWXcrM3dScUlUUCs0cXkzUGxCSUllR0xoRG1ubkdGY3BnM0F0WldOdTkwTERqUkNKU2s0YXljU0o5b1VFNndjQmVqTFM4bm1BT3JIa01FU3RMd2l0b2xPWWFGSFFHVHJhMXNJMkFSbXpBQ0NKU2s0YVZiSTJEek9KdGdiV1ViNTZLdzdjTkRvQ1FOZDFlSGwvVzUxR1J0WlR1WEdIQ2hVd2lVcEdIbklLV0JBMG9nWUc5bEs1R1VSU2NZZ1hJMHJEUW5HSXJUS0pxOWxlMDA4dVE4UmgrQmNqUzhrckZ4Y2ZUTE9TSVcybHZaUnNRc051T01FU2hIdy8wM243RzU0NTY5dlpWdDNNdkQ5ZzhIQVJ3YVRjNjJGR3ZFcjR6d05RZ0NiZDRNT0FoOEU1dDJHalQwM2hsemhiZXlEVllSZUN2YllQaE5iR3FjWWN2ZW5HK1grcEQ3cERZazVmeThsYTBjWHVkR0dzZDY1WGNQQ3NzOEZmWUtaVmdnRHdIZXlwYUh6bm1PQXczZG4wOUlnekw3dDlKaEhGSUdBZDdLVmdhdDh5UmJCdzF4R0kydjAwQmcyZmpNMG1ua3lIbU1Cd0xMb09IMmVKZzYvbGJ5VnJieGY0WW5VNEo5MFBENnlhaG1yUllDYytHelZnaDdHUUdCQUg0cFpuSS9QanBpejNpT1gzZ2o5a1JHeGh6NlVKRDN3dUhJV0QybWh2ekgzcGdhem1hZk1BTDBlV2FlT0RoaGtGazlJMUNBQU0zUkhCVEljRFFqd0FpY0tBSmJvQ0hQMFp3b3hLeWNFU2hDZ0hhVjh2bWxJcFE0bmhFNFdRUWE0T0hleVdiQjJoa0JSaUFmZ1YzUWNDTmZoR01aQVViZ1pCRW9kK1R3WkcxaDdZekFlVVdBZXFXTDU3WHdYRzVHWURRUXdJOUQ4MGFhMFhnVWJNWDVSWURPSEI3ekpNMzVyUUJjOHBGQW9Bb2V2bVVrTEdFakdJRnppd0I5Q1lPYnczUDcrTG5nSTRJQU5ZZjg2NjBqOGpEWWpQT0t3SHdUUEZ3NnI2WG5jak1DbzRIQUIwRERvOTVvMk1KV01BTG5GUUU2WjhFL0lYcGVuejZYZTBRUW1LdURoeXNqWWd5YndRaWNVd1JvdG5UMW5KYWRpODBJakFvQzcyY2Fqc3FqWUR2T01RS2ZmZS82T1M0OUY1MFJZQVFZQVVhQUVXQUVHQUZHZ0JGZ0JCZ0JSb0FSWUFRWUFVYUFFV0FFR0FGR2dCRmdCQmdCUm9BUllBUVlBVWFBRVdBRUdBRkdnQkZnQkJnQlJvQVJZQVFZQVVhQUVXQUVHQUZHZ0JGZ0JCZ0JSb0FSWUFRWUFVYUFFV0FFR0FGR2dCRmdCQmdCUm9BUllBUVlBVWFBRVdBRUdBRkdnQkZnQkJnQlJvQVJZQVFZQVVhQUVXQUVHQUZHZ0JGZ0JDWUJnYW0vMkR5KzU5Y21vU1JjQmtaZ1hCR1lib1p2ZUU4WS9vMXh0Wi90WmdUR0g0RzU1ak85SVBoc0dMNXYvTXZDSldBRXhoU0I2cE9iWkhrMVBCTDNNUzBGbTgwSWpETUNsZWFTTVA4cS95RE9PRDlHdG4yOEVaZ092MGNVb0JLR1h4bnZrckQxak1EWUluQXBESGVFOGZYdzl0Z1dnZzFuQk1ZYmdRWFpHYTJGNFhpWGhLMW5CTVlXQWREd3VqQ2VhVGkyejVBTkgzc0VabVNudEIwZWpYMWh1QUNNd0hnaVVQblpOMGFHTjhJbng3TUViUFVJSXZEMnhiUlI4MjlOaDQxMHlPenIrakhQbWVxSkExT1Y3WmV4bUNuOWtuVHpuUkVZRElFcngzc09CWTBOUitBSUIzWGUwbzl4emxRWG56SlYyWDRaT3gyR0c5TE5kMFpnTUFScXo3clNQM0o3MHhVOHFtRXpZYThQMDl5cEtvM3ZNblRaZmhuNWFOaFhwakk1M3hrQmhjRGwwTkVuRFlMNTV2MUtadlJkN2I2Nmh4bXBuckEycWRuK0dJNGFyOTZQZnNVWUZ3dnJ6N3N0M2JYcW9sdHFSRUl2aEFjdVN4NTc5OUcveUduVU0xSUZjNkg1Q3JMOVVWWlhRdmNMekdVSWg1MDNCSEFBUjc5dXZQWWR1UWpNaEV2dStObHcxUjB4aXFHMUw3dXN3cWJQKzBKblRDVHRUb1c0bHJVN3h2WlQ4dGw2K0dPUkd2N0xDTmdJWVByT3ZyN1BsdEg5eTlaOGhJcGJIcC9aK0duM1hFa2JiZVJqelJWVkpOT1ZrUXBDMDZHWnlQWUhzNis0S3d6L21xbU9mWXlBUXVBTGo3KzNTVVI4K0NaZGQ1STdaL0ZoS254YUpUVmRGK09kazJib1NQcXFvYXZyZVRuRTVOUGJzaGNWM0tsRUFSdGZOY3RwKzdHQ0g0YmZ1V2NLc1k4UjBCSEFxQ1Y4Y3h3dy84ZndaQjlQZmRROXFLTEU4MVNMeCtLcU5KM2oydzdhTkN3cVpEWHFHYWxFaWZmRG5sRnkyNC9Jbi96bDhFbm1vWUVTZXd3RU1DYlNXcklmQ25PT3A5YXRVWkN1cHpzdVc3VXVPSWV4YzJHNGpxTzVZVmF2MjUwcUF1QnF2R3RVd21IN1JYZ25kTEpmcHVIN09VZUF1a3pxUlQyUGZxazU4NmZndVJZK3B6eHdWV3F2VS81TFdiTTNTbVEwWElkYWFaVkZGMEowVmR0aDVoeU5uZXI5UjRzcWNkT2EyYkg5SklsT3g1Skt3UzVHd0VRQUIrS090WkJXR0Q2amVYWG5Wcml0ZTRPTCt0R2RhMlBTSzYyNGk3ZExHNjhibVJ2T1Vxa2E0UzJGeGFIVks3WDlRcklSV2tOSWxaNWRqTUMrT1NCQ3MyQlZxZ1NpbWpXM0FjWnVKcEZCSTZmSHFxVE8zRFhqbm1hcUVUdHJvVFhwbVZocnA1b05kVFVYclg2dTdSZHFnRll2MGNjT1JzQkU0REEwUmkwMFZGd3hKV0xmbk4yT21FZDNXaGhjamNHMWF6WHBzY25pRXhXUDJDVk15bU9udWl4UEVRcUpXV3VIak8wWFFndnkvRytpbEIyTVFJSUFtZ0I5eUlmM3ZON2ZTc1NDNExMZUFGQzQyWDI5R0s1cHdpUHJiT3N0ZUdMbFZBVENpN1hXUFlramg1MEtuTnJXQkJwNnR4N2h0cDlFd2R4eG1VeldTc2JPVTBLZ0dScjh3WlJoeHVLWjNTSkFVdi9JMGRXeEdQdWttdlFJWlN4VjNNckJPNVZxbHlaVzFmWC9zL2Z1MGJGbFozM2cwYjFYVjZxckp5UUdCNWFSRWhMaWRQQ3FPNVBHYVJzN0pYQjNZOGlFVW1MM2pSc0lKZXkrRjV2Z2xGYkN5emhEQ2J2YnkzU2NLV1ZvTjhiR0xvVTJDN2pCbE1aa2trVVdUcFVIeGdUUHlrZ2hUc2RnWXltOEFtYXlkTjE5SmQ5K2VjOXZQOCszOTltblZDcWQwdk03ZjlUWmoyOS9lKy9mMmIvejdlZXBEcGxybHFHaFg0WWhpMkFtUjRieXhRaElCS1pBdXhVQ0JleUMxMGxObzVyQjJBYmQxMmZTMktUa3pmU1FpQlBsVkt2MDJSSmhSTHlTRFhVaG1WUWRiMWljdEx3M1dVTDlJLytmMFFLNDhsWkRYRDdzT0s4SVRJTjI2NlR5c2xNYW5kSXJoUjl4OE1kSGNvS0RHZ2lpOGlRNVc4RWFueWtiT3BuelBZcVpTZVVQaTVPTFhyOGdJZjVTemZaZUFmVHBtTVRxZ1FOSERRc0J1V3pZSmNybEZFMlVoaE5obnlvWUgySHhlNEhvT2FIT1RweHVXMzRuTXl4OEpwVS9MRTVHQW9hbGZpd1htbE5Wb0NGYnd4Qlk5aHNFc0d6b2ZiaFAwcElPK1J4UW85NU1Eb0tEOFZFeUV3cTRwQ2ZJVVlzdTNpYzdkQXREdHJoaHFtQllMR2VyTnIxVXpvL2VyaGtSOXRncDV5Vmx6M2xFQUhiQWUwbExXdEtaVTRmSlJtanNPdjc0Q0ZPQkozOEtZakl3VzdaMmJmOWRaSVBOUFpNcUdCYkxtZFI1TDQzemc0YW1iNEgzVy9UMTVxVmp6emxGQUhiQTY0T0NsdkhoVXp0b2FXaDYvamJTNmNCL2hJQ1cvbjBtczA5R0I2cFhjbDRWdlQrcG5Va1ZEb3RoVFJlOUVqZy95R2Ztc2ZCK3UrWEpzSWNSY0FoVWd1VXMwTktic25HQ21lUGo5V0N4RzNPdVhTZDl0STZMbVIwSE9XZXladXhJTFNoZk1OWUxZak9wUUtrMVQyWXJXQk4wL2pIeFp0TmQzY2pCMWRQRG5uT0tRQzE0U1ZkQnd4Z1VXTWp3Z3pQakkyekpYUGRGanN4M01YTkFhYzRhSWI4TWMzR0xoTHA4eVJmMGZKbFVvTlN5SnpIcWR5bXczZFoyTVdwWGpXRFllZkRTcytkOEl5RFAzNjhRQ09ReVluU0lkeUVjVldYR1IwbkYwMFNVRHQxWnFnYm1FQytON1ZpdTVYQ0FxNFV3aTlscmgwc21WU2NZRm1PRndodGdFLy9Hc3pvTExBUU45RlhHV0MwNDdLd2hJSmNKcVEyVGg0QVhZNVc4RkxJek16N0NBT2xXTE9YQnd6N3dEZlhyZjJ2MUlPbmVHNWpEdVJ6clZnMEh1RG9UMUxwWDBUT3BNcFlOUFBhS20vcEh4SGVybUlhSWZ1SFZTOFdlODRxQXBOMHNxWHdML2szaWQ4NFpNczkzc1E0cGMrMTFuY2hHVDVQaXhQWjEvQWlPSHRjUGRsbzlNSWQ1eGhBTEM4dGg5dmhyZW52bExhL1RWQyszd3JoL3Y5T0ZYbTNYZWVBZy9rK0pOLzZGcFBUaXZBM3pOQlc3enlzQ09EUG92Y2ZiZWFPa09jS3hHZElVQ1lsbmNrelFBYkg5SWJIM3NhVFVPWml5eDd4ZVlaNHhCRDI3WVdra0F2WUs0N1RmUzJWRjVaMTg3alRzQkJQL0QrQkFKNmorbnJoeURtVUVrcVRsYjdHU2ZkVHRLQzVsMG0yYnZndmZqNm9LZ2QrYmZ6V1ZIZzE2aG1uTVFWeWZGbnZTWWsyRnc3M2VPbUFPVjV4RXJqSEVFcm9Uc280UlZLYWlQNHIxYXpiTXYzdXBmaDkxL2pBbVZuSDdXV0paYThIZ2xQby85K0g2M212KzFOZkpQa2FBSU5Ed1oyVG1jdGVZbStHUU1UTSt3cnhFY042SDVOTzNFNk1xL1UycXgrMTZ5R3Y2U2t2TllZTjBvTDNFNHpsTG02aDIxeFAwUEpsVTJXRXhwcWVXdkRTaDM0dGtEeVBnSTRCT0tPbGE0YjIvTitzTFdGK2RXQnNWbGwxcXd6alRTZzkrTDF1VENzT3NyTTFrM29qTno0T1lRNXZTRjVDK3kxN1hOWTN2OUN4NUpoVTY1V3RwWXVWcWs4NkNEQWo5Z1RoN0dRR0tRSTNPRVk3QXQwWmppVHVNd1NSRXVEY0xTeGliSklWeC9zeVg1VjB2eVFyTEx5ZGROY0UxdmZSM0licCtrazJhbXNOY1k0aHRyMmI1SUVoZXliR1NXaXlUYW9QTzJXaVpUckFETVBRSEdiS1hFU0FJeUdYREJldi9FRmhJdnJWbWc5VWQ2NG5yWGtCMjJUQ0JGWnIxWktTblZFY1dPWmV2VVNXdHBNdVRIYjBFUGtxc2RVWTdDWERtTU44WUpsdHVWWjBraExQM1g0Qm1VblhDWlVOOFFaOTJLcUF4OVB2NXNZOFJvQWlneVlxUC9KNjhQdnMxbUhnUVAwNGpxVHN6NnhFWkg4RkFidE0weW8yRXVkZEtSaHE5NGhkczRKWWVhbTRzMllCOTdvOFpCdWNid3lSbkJoVXZvK2Q2S00ra3lnNkxjZHpFMzRZVCtudW81Nmh6ajRCY05reXYzWS80Z1B5L0g3M252dS9TUVpnNThTMWRaSHdFaXpudks1QSt1dENXWmlWZDlGT2ZKdDBjWVRJMmJpNGp1THhtNHZhN3dSd3VRS2FITWNRR2c2aHB4YXNpR201eXpLVEtEb3RoWi8yK2MramZyL0FjZjU0UklJdG1lNi85K1ZVZkNybXh6YTRXd2t4MXZkakkrQWlMNDFjOW1RTjdrR002MlFwN3V3WU5kWi8rUFhSZVV1YXdoekZNeXJZNnZwWklCNXNLaEtraXcyS01PdjNQN29kK3FvL2RqSUNQUUF0RTgwT0lyL1FJeG5XM2RBRE01aWFKa2w4OXluN2lqSXd6UGRtK1BaY0U2ZHVCK1V0Sk1wTHlVcXI1b3pmMlVDYk5ZUzlqaVBsTDErV2xhbkFhYVluNnBadGtGS2FLc1hZbUhkTXFUYUUvVk05K1JpQkZvQkVjK2sxamxBdURwaFVkaEphNjZrVkd4a2V3aGd1ZXpJRTljNVFQYU8wZ3piZzNha05ZRCtNSWM3amFjMjZrb2lkZnczS2hUN0FTaE5HTXdsU1JZVEdzb2IrdUV2b0Q5ZXhsQkFnQzdkNlRFNkRodXBiTzBEQThiU2pGY25hRmsvejJjZFpjZmhDRVhjT0liZXNabWdianhXM3FEOXhWOGUwOWVSb1N5aVRIT0hjKzBFUXpDbE1oYmkwUUJ3MzlNOUNoUDVSblB5T1FJb0IyLzN6cXk3akFCR044WUFFOGF4Z2JIeVgxYk44dW83SlhBT2FCU05jWEV5ZFltV3l2MFJRZ3pDYjFCMjUwYW50T3RqVGoxbkFqdXc1SU13cFRSY1N4TWNEdlBJZitvS0RzWlFSU0JPU3k0YTNVbTNGaGVHYkMwTUM5Mk5qNDZOQTBST2VRMkJUUThFdjRqS3BIdXl1WlBRTmVxWktxZTIvNDRjWlhqZGQySjB0dW1sR1lxaE84a3FUeWtIYWhQMW9jRG1RRUpBS3dkcGxSRVVWR3p6M0trSkNHc2ZFUlZzRjdjWm9xanJ1M3ZBMnVNTGpQSlJlRGJTKzVuN2ZYR3NzOS9wMFJFaUdoVERIYXdUdEdCcE9Nd2xTeFlUSGVJRWFadm9WK0w1STlqQUJGUUM0YnJ0T0F3RDNqVnNOQ0dzYkdSNGUyaGpBenBJc01HajZWYkVTbk5vTmlPaTlzZE82L00wcWhrRkFtWVRXWVgzSDZ0Q05NRlJzV2g5WXY5QWNxMmNzSXBBamduUjBzQjZaeDBqWG5SbHJoMkhBck81ekNFbDk0Q3NQWHRxK3ZSaWRLNWRIWnA1TG0vTDZwaUVCSDNPNXBEc05SbmtrYVdZNG5TdkVKT20rYUNJdWI0VzVhMlNrbDNXa2tEdjFVSDdzWkFRK0JGbWpvQlFTZXN1dGxoak9sR0U2dEJzS0hwcUVjcWE2a1N0SGNuNXIyRzNjYUdYVk5pTDF1dFpjNURPYzh0UlprNU85RUM1UUhxVENSNU5GU1NZZTBDLzJCU3ZZeUFpa0NqZDdMaHVqRUxSamhrSWJSTXdtSFhEZUUrYU5kWkVuRHJWNmJ6Tko2R0ZjSG42VzQxTXNjQm9ReXlUQkNKbjNoak5Za1NBVW9Gak5DNFRwaDZNOGs0QUJHd0NLQXVRbHZkZHlHMjN1Nm5oYnVvb21OajdCdXVHSlREbktYRTBhemFVSkp3K3JWMUwrdlN4cEQrUUh0QjNNbHcvMHdXaER6d2JkeWt5QWlTQlVkRnM4RUp4bERmeS85SEhmT0VhajF0Z05ZTXJDMFFGTzFUb2taS0pJZEg2RlRlVFVMNkdUZWNjTXZlMGtnTENkWVNCRFU3UjJvVDFwVzMyakNXZmxWb3NWemx0MVlsd1pIWjMySlFKQnFLellzYmdWN1NrTS9VY2RPUnNCRG9JOWxROXVpWWFtV1NWcU1qN0pUbU9EbVBKSFJ6Z09jTjRURnBiU1RwZXZaV1F6eXVxQ01ZVTl6R04vMkRmTVdlWDJrMm9OVWtWVkdiUFp4YzhvNlhlaFB0YkdMRWZBUmtMM0FGVC9JK243N2tkMy9TWTZ6ckIvanRtM3J4aDNqb3lYbG5WaFROL1VENDdtZCtvd0xnYm5YaWk4TmkwczNaa29hemxPSkQ5ei8wQzlTZitBdW0rL3g5akNIOFZPQUxXOUlDcTFCUmtHcWl0MHc4KzlJQWNJemlhR2ZpTEtURWZBUXlGODIvQS9pOXQzaUt2bjZBemd4VDlJNkEwSVA1WUxWczBUR09Qcy9iNGhPcVhkYXlEZU95WVI0Y3pYQ2M1c2pqT0dtZHVlUERsdUJ6ZEx5YzBHNXc0eUNWUGlFcWtvM1NiZXZoVHZLUTc4dEpkOFpnUkNCM0dYREMrTFp6ZVRUZCtiSUFORGZ6cnhsRFI5ZDF3T05EQkhDalByem82ZnI3WmtKdk0zdndmL0g1OCtjV21PSVF4bTVvMFB5WGlGRjZnU0xMMkZHZmlwMHZmWHl4amc5NkJ0K2V5YjBrK3pZeVFoNENMU0VOeWZpNG5DT2ZSbWVhbzBza05YYzJvVVVheGpHZVZzK1lWeWRpalFWWGdZQUFDQUFTVVJCVkVFY2FPQUJEV2xEdjNSbkZUTkQxQUo1ZWFUR3NNZm9jTlRyOWRyMHJwZXBBeklaK2FsZzgvV3dlSXVPanR2QlpHdm90M254blJFSUVRQ1o3b1JoMHY5ZWJYUzI2QUpaMHd3R3RYemI4TUhiOHBuNW5tZE1kNit3dWw4YzRYVWhLeXY0dmxTK3ZVMk5vVFNIdG44YTVJYUlJRVI2YTM2Mm1ZejhWSGpaTENrbGxUVjEwei9oWjF4RFB4RmxKeVBnSVZET1dUYXM2WEVnNW1IV25IeUhXRVpwYi9UNGFJUHVKN25zR3pPWHRHOUhPNTBTUXBySFBPTTRJcGNoWUM5bjQ5cW9NWlRGaS85N0Vyck4wQkplUHQyekdmbXBzTHh4VldxWTlGVFZDVlF5TnZUTE1MNFlnUmdDdGZpS3dFWERCb3pWbGwweS8zOWlxc1pRVmRlZGdQd1FmM1l0a1VUdjc0VDVUWVVtNjk2TXplTnk3UUlkd3MxVWdycW9NY3czaDVqdjdkSlV5bzFBT3VMTVp1U253aWIzZVpudTBuTXF0ZjZCbVU2aFFsRG9KNkxzWkFROEJOQldnaEdOanQ0eHkzV2VGWmd4RXhOYXBLSjMzMXlnQ3d6NFNDQWRMWGxaOWVlQm9abDFrcDJueW1va2QzRmJCWld2NHBZNyt2U05ZWUw5WjNGemFHZVdYQzV3Qkh0RUl4bDVxZEJIV0pmSnl3dnkxMXhnNnFaMXkzdm9wM0hzWmdRb0FxQlpaSGVrZkpNdktERnJGWlZuM0Z0TTZHZ2FOcnpHdnVNTkgybE9mYnF4MUw5aVJYOWpiN2FsclBLT0RxckxadTVQbGxoUjNIMWpLTmMxNDZQRFptU2hIdHhlSktvaUdYbXBnSnFrNFppWHdYUXc2QXo5UkQ4N0dRRVBnUVpvK0JZdlJIbXdpcjZzSEpjcDgyQnZpT2lXNnBTT0VPT0Z5RXFralpNMGZUalQvU3IvR2JwZ0hNRzl1aTdNZjVmSmd4VThweEc3U1NGSnIwcjhsVkNPQkdQWjVpcEpHc25JUzJYMkNzM1JqaXhvNzYxNFp2eEVQenNaQVlmQWgrNzZHMDJ3VUloM3Z2S3ZyN3BRNVdqWkVkb1c3WWRpTnd4cDZSZFZmN0hqandYclBSYlgvU3p5Zkc0RHdJdkZONmtKbWUza0lwM0x6VnNVSDgvMFFTL0dPOGh6a2VBWnI4K3BpK1puNUtlcXlNN0NoRDhXdkV5aGdvclFuMWRoRGovZkNMUVZCL1hQdGcvRmpwMi8zL0hhckxXUlNyaFVFOHVsSDlqcjBwUVlEd1dFcHJIOXViOUNQQTJkbjJ0S0ZpYjR5UGFEVTFWcXIvTlc0MFplbjhtNWZUV1dJLzNQWWh1L0VabTM4VFB5VTcwWE0xRS9WVTMvNlZmcTJmRG1rYk4rbXhmZkdRR0tRRWZjdVA3QXZmZmU5OENOZW5nZ29XbmY3SDdIenU5eXZrLytnNjIvdzNNaXVqWk9NKzNEWFJiaWdiclkreVVsaXNtVDJtMUtzSm9adGZhaEtDNFNkaDZsMUk2MS9pU0puNUdmcXRRVU44U3p0Rmp5NDhrTEpIWFc3MFd5aHhIWUh3RzdTd1JyWDlTaXpQbkRxajlYRC8veFl0elNkLzhzZWtoODFYM2k5ZCs0YVFUKzkvc2YyaWF5bUR4YUo5NEJuQ1BlQ0ZjcmFBZmpPb1FHR1FXcFJsNHV2c09XMEpTaEdmVEhRLzhBUmVVazV4b0I5QzF2S1FBd0Y3Rk5rTGpzcmE2UkNPdHNCUjB6RzE3Y0hVUEg3aUcxMWYxWkphbXRtbjE5aEJsRlVubmxBRzFYYVVEb3AzSHNaZ1Q2UUFCek1RdEtERjFDK3M2L2tEVWF2clpPc0pIRWp5M0NoeVc3dzZvcGV4WmVhUlBaMTBlWVVTU1ZWNUNKWVA5UTZQZUUyY01JN0k4QTJEZXZwSzc0SFRpODRYc25yaDNhVlBYV0wrY2Y2YlRwZnRMUitGWm13d0tNL2tJb0dtYVVUZVduR0RVYkhteG82TGZoZkdjRStrUUFOTnhXb3FQUy9GMVlkTWtxL2h5OUN6ZU9xU0ptYUVLbHZuOUxieHJ3QXcvbXU1alpjSWNPNkhxb0k4d29tOHBQc1JVd09mVDcwdXhqQlBaRkFNMXlXUW0xNUpqcDhpMlhZSisyZFdXL3NhTlROTEREN3JJYldJRmNpL1QyMzBFVE50R3NoZ3JEakxLcC9CVHRZTVFaK24xcDlqRUMreUtBS1pwWkphVGE0c2FDUzNBbDZIbTVDTzFvcFJ2UmdwakN2SlZNai9MZ3F0dWs2L3lmYjZ6SkRYTCtCaGlwTXBNUlRaWE5zeFIwbGtOL05nV0hNQUw3SUdDdFlWMDIrczY2azk2bmNaVkorM1pwaW5XUUxhY0RLeVp2QzB4R1BTcy81dVJ0UzFPS014bVJWSkdjTHdRdnFOQWZTY0pCakVCdkJOcDZySVFkblV1WXpTY2R0cDVFSzBXTVN1OThEaHlMeVpUMHBYRGcxQ1lCb1FnK3FJTjlzanZleG00bGxjMklwSXBrM0FxbVgwTi9KQWtITVFLOUVkalN2Y3VLUEhnd1NUdHNvMEZyODlSY3lFNzdlL0VGZURCNTFEMjhtcHFyVWtQUnNKbWRlWXBrbEthS2xLQWNqQzVEZnlRSkJ6RUN2UkdZVUwyMFQ5MmVnelVjcHgyMmtVajN6YW5hOHRiNlhYQ1JqbkExYnpEZGMyNDZCUnZuUU1uTW5JMzYvR09vTzAwVnhzaHBIOHhsa1N2MGt5aDJNZ0w5SWxEWjZ5WWZFRmN2Z25YbEZacW9UYzg2MFFpNHErRU1aQkJmZ0RkY3pSdE01UlczS1E4MGZBRkhKWjdQNklsa2xLYktTT056cmd0ZVlPajNJdG5EQ1BTSHdJVFl2VnQ4ai96dmhvZTlqZFdZVkZ6TDB6QWRPN21ZSnp4Z2VMaWFONkNhR3VabDFMVWpkamV4SldEYmVOTmJMQ09YS2hXenJwMDlNb0JHWU9pM2NueG5CQTZDd0FmdTMvMmJrQjk1K2U2OGwyd3FZam1NUU10MTlid1VoWHJDMWJ3QmxXL1pFV1pydDR0M2pSc3FwdXBpR2JsVXFaaHhsWUsrZXVqUEpPQUFSdUJRQ0RUQ1ExRk9XNU4rSU1tRkZ1dW91Tzdrb2ZTTzJiOThHaFB2U2Q0ZlcrMk1aZVJTWmZJZUQrWnZRMzhtQVFjd0FvZENZQ0lZQlRsbFYvSzdxMDdtMEE1UlVDWWRPNHo5SWJIcmZRclZsakNha1V0bHBleTliVHU1SmlEMFd6bStNd0lGSVZDT2RPR2s2czZoOTF6dlgwRHNzcHZkWDZvUGlRdHU0ZVZQYXVIQlFaazhubEdheXM5aUlyQ25vZCtYWmg4amNIZ0VMcGpURjRHbU1kZXdnNGlDdkQ4bzJYL29qNEs3d3BUcFIvbGRxSFQweWlnblZTTjRNNFYrVHo5N0dJRWlFT2o0UzJSRzVVYlFMeXNpSjZJRDVtbGJmdCtGTG1LUzZBTTdKeUt6bzBwSno0emlxU2FEbm5Mb1AzRGhPQUVqc0M4Q1kzYWFrVXFXZ2trS0dsZUVHeC9LeGk2Mld0RGdENkc1a1YwclZOcDZaeFJOMVFybXBrTC9JVXJKU1JtQlBBUitkek1iVTNwMU5xeklrQm41SFlBTHdUR0d3MlF3OVpGNDZ0NFpSVlA5WklCSDZJOW54S0dNd0tsRDRKS0F5ZGtKcGtLR1VZc2p5MmdZaFdlZGpNQlFFYmlBcndHL1A3cTBVSEMyUjVaUndlVm1kWXpBRVNEUUZPOFdkNExlMzFDeVBiS01obEo2VnNvSURCT0JzVWYydnZrb1dKZ2NXVWJEUkl0MU13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hBZ1FpTS9kMENsZld2NnNudC9tVlpraEU0NndpMDMzb3NOUnk5Y3l6WmNxYU13RWxFNEtMb0hrdXhTclZ2UFpaOE9WTkc0QVFpMFB6Q01SWHF5ZDNWWThxWnMyVUVUaGdDbDhUMjhFcjBVOTlRRjY5Ynp0RS9LUjdNaWVGZ1J1Q2NJVkI1YW5nVmZyOFExK3RpYnpzbmg4YnRuSWlEQmI5TGVOZjFiM3Zid2RLek5DTnczQWhjRUN0REs4SzBlS3FiSkM4V1QrZmtjRUZjellrNVNIREpJNkh5ZlBkQjByTXNJM0RzQ015SllJQTJlV096b0VLVm12OVE2VzZJaFJ5TnRlZHlJZzRVL1B0UHZMc3UyZmZvVFhuZExkMy82RUFLV0pnUk9GNEVTdlV2QlFXWUU4dEJ5S0RlLzNKYk0zeE1QSnVqWXF1b1Nkb3JvTjViVENaVGZ3alBUK1RreU1HTXdBbEU0RkpvcVRDY0s0aUdVL1dycHNMTlBMWk5pTVZpTUprQTg5YWRxaDhTZ2lkaEhScnNPUGtJN0loTnI1QWZRSmR1MlFzWjJQTzRzNEdOM1BGbnZhRDVvWXVnWVZxUktWU0NKMkVIZm5DYzhLZ1JLUG45eGFrL1FYTXVpb2JORlZ1YmxuakdPb1A3VHA2ZERPVDI4MTRXWW8vSU5JUmZMeExGVGtiZ3hDRndrUkJrN09ZamtvUkYwWEJpMTlWMlJuelJ1WDNIYU5nbjlxUDc5bTBKYnpyMkVtclI3VHN4Q3pJQ3g0dkFobGh6QlpEVEhIc3ZxeFpGdzQwWG5PWVprZGYzSE1zbHFFdmNsMk5IQ0RyVkpJZUtWL3RLeUVLTXdQRWowQ1RMRlZldXYvNlh1MGxoTkt5dHUrcTFQRlBsZ3FXalJ2dVNYc3lCUEJVaFV0WW55UmhvZU90QUNsaVlFVGcyQkNhelE2aWlhRGhCZHNoc1piT3hWZTZRQ1U0Yk5zQzlMc1FTU1RZSkdoN1hUbGxTREhZeUF2MGdNQzZlRDhXS291SGpSSE1qdDFPYXREejZoSVhwMXo4RjJxMFE0Ukg0YVNlVlJMR1RFVGhwQ0xTeTYzWkYwYkM4a2xhMm5UOEN2SmdmbGFiZjF6VU4ycVY5WU4wcExXU0R6cjQ1c3dBamNHZ0VPbUkrMUZFUURVdDBwckxIUUcxRWtNNXJXSmErL1hMWnNFdWs1UlFOMDVBQXdzNlRqRUNOckhtYmNoWkV3d3ZrYUQxc1ZmNjBKVjEySHhncUxCc0ttbGpTTW0rTmhNcXhteEU0ZmdRbUk2YW9JQnBlSmpNa1dNWGJ6SzFzTTJ1UWMyVnpJN2FFSUxSUEVrbExPbk9hbTVBakdJRmpSK0JLWk9xa0lCck9MYVcxbTh1ZktFMlNuZXp3VktiOHdIYWFYcnNtZno0TVNmMDdRUjhVdEl5clRaT3dpeEU0SVFqTVJHYjFDNkpoWmQ3VnNWVHZSWW10N0dTdFRGbkpuRkhNbk1oeUdVQmErRnBBUzIvS2hvaXlreEU0WVFqTVJkYTRDNkloNllhTzkrcVRKcVB4dVpSS09KekVHc1JxTG55MVlCSUlsZkRHaXJrSk9ZSVJPSFlFeXBFZG5jWFFjQ3pkVUpwMElqWTNyZnBGZjFSbkl4NExOOTdNOVZnSWxPZnZWMnhLM09VeVl0NzJPU0xHVGtiZ0pDQlFqVXlQRkVQREsrNlFVekloOXJvOUtvdHAxRmhzcWVhYlF4akQ3WmljQ3BONzE5WkpyTndkdTBqODdHUUVUakFDc1YzY3hkQndWRTZVL2toTlhQL212MUFSZjZjWEJOaDMxbzNGQithd2x6Rk1KTzFtaVpJVy9KdkV6MDVHNE9RaUFBdlR6WlN1R0JxMm5rbVNTMkx2QnZnUUgvdWwrZWFZdVZLVjlqTjdHa09NTDMyVDJ1YXRiQ20rN0RyaENGendHNjh1YlRFMGJDd2t5ZGJUdi9QVG42djUzY1VJSWtIdjAwazhSZ2VOUFkwaE5xWjZDNkN5ajdydDlMQ0RFVGpSQ0l3TE1wRmlTMW9NRGR2emVnMGQzeW5kYnp0TEpXZHpOeldISU5heUxXRGszdkJuWk9aNEMwMEVKQTQ2b1FoY3B2YkdsckVZR3Ria1VPMUg3M24zSzM4TnE0YmJWbmYwM282c21paEJZZzRidmJtTVRpalp0QU1qdjBkSGl0RmNPWkFST0NFSXpNUjJ0eFJDd3hKWjQ5dmFaMXRaSnk4K05ZZjdHTU9rUnBjTlIrQmJPeUVJY3pFWWdYMFIySXJObmhSQ3d6RnliR0xDRzdkbEM5V2dsc3lMZHVad0gyTW9sdzBYYk1vUGdZVi8xM3I0emdpY2VBU2k4eDZGMFBBS1hUemZwMWU2a2JzdUQzTzRJRUhjenhqS0tabVAvSjY4UHZzMUg0Yjd4MDg4OGx4QVJzQWhzQk96UTRYUVVDMGIybnphcWFteVFmUytsYi9oNVRGdFNQY3hobXJaRU93ejErNUhxSFoyTXdJbkhJR3l2eDlhbDdZUUdyWnVrYXJ2eExKSjQyZkNiV3RwRkw1UHRiQy9NVlRMaG9hRGU2LzkrVldTbnAyTXdJbEhvQjJiSENtRWhvMEZVdmtOZnlib2o5NUk0dUNjNlRGMnZDVGo5ak9HY3Rrd3VpSE96NGQ5ak1DSlJLQWlzTmNsdkFxaG9WdzJkTmVXdHp5SjcxUDRxd205YUFoeitLMFkrZmtKbkdMcmFBU0hmbTA0M3htQlU0REE4R2lvbGcwdEFqQlcxb2s3RHNadkU2KzBocEZOQkZZQzVqQTZnclh4NnQ3ZWQ4T2NKODRlUnVBa0lkQThrRFdjK3JMNDlWdlpLcFVvNzhBenNvb29mWnRlaXN2ZXYwOTRVZkRBT085bkRPV3k0Zk5oT3ZZekFxY0VnV3BzL3dyYS9YSzAvR2pzOFN2YlphVExodGhiNmhIdlNyZ2hwamNOOFIwYnNrRW1XakM1YkhnckdzT0JqTURKUitCZ05JeHpFS0hybVpwNnk0YkpobWNOazY5YzllVnhQTUlQOEh6WW1mYWdGNUQxeUdYRGxXd3doekFDcHdLQmc5SHdyK1R3OEtITlRHVzlaY05rcmlmUE1GanM5VGNXbmYzL01WU2VOc3krQ2pLRjRnQkc0RVFpY0xDeDRRR3E0QzBiNHR0cnZYZ0dHdmFZb3NHOGFuVS9jd2h6R2prM2VZRGlzaWdqY0l3SURHMm0xRnMyeEdmVHlBN1RiSFY3MHJBanZ2L1NmbitnM1FJTnMybzVoQkU0SFFnTWpZYmVzaUVtTWpNZk82VDQ5Rm8zVk4reDJjOGNObmpaa09MSjdsT0d3TkIyMFhqTGhwakk3UGtkKzVuWXFVZURKSXhoa3VCMGNqQ3I0K1BjNW1WREh4RDJuU29FeXJHMWdOd0ZpLzZyUms4Ykpnayt2WGFyVjlvZS8wRjZRZXgxa2JUWmUzUlk0MlhEWHZoeTNBbEhJTHBac3dBYWpubFRNbGo1dTlvTGlCNG5MTXJTR081bkRublpzQmU2SEhmaUVZaWU5Q3VBaGxlOHFjOHRzZzNtQS9jLzlJc2hMTkZUajBvSXhuQlRPWHFhdytpeTRkaEhuN2p2VFRpYzhlSDZRNzhrVlV6ZlhYL282NVV1OWZPWnUrdlgvMWszOWJPTEVUZzJCRnF4azM0RjBIRFVvMkU1blNpZEVHK3VCanRLNVFHS3ZHMHlaZkZXalUzUDBXRjAyVkF1WWp5ZFROZHUzMU1YMzVVa0UvVTMzeVBFVDFpay83eTQvYzZxdUQyci9KTjcxKys5NzVvMDROTndQVkR2V2ltK013SkhnY0N3dmtYVG9wMVM5Qm5kaHMvbTl5UVhNcVRML1JhTk00YTlSNGZSWmNPTDF5UU4yOThDQnNwRnhlWjdFaHdPM2x2VnFFNklWOEh4UTJZQ0Y5OHJ4cVZvcUZ6ZG80Q2U4MkFFTEFLanFaMnlRV292OVhMcUc4alZvTXQ0TUZaclJzdWxPNnY0ZXduS1VSbVIrMlUyWnd4N2p3NWJJSS9KZ043bXhOUGo2ZzkvMjJKeFZFM1ZWdTBZZFVPWHFHSytDdkRacjY0TEFaNG1wYVlRMy9sUHFSSjJNd0pEUjJBOFF3bGtXVUNudEUwM3RXeWt5dzJWRlRSMWI1KzNyR0l6NSs4bWlER1VRcVovS2xQNFZ5TytiSGhSUE4zWmxwSWI0b3Z0cm5RMDdDbm50djc2emFoYktYbk03SWFiNDQ5SlNhRDRPbElFMEY4ejNUU1NiUUUwckpFdG52aE1xU1hRaUZ6K3c1OHR6WkxjNEt3N2ErbUhFMk1vemFHWnJmRmxwSzhjWHphOElIYWZWY0xZcy9vbDVXalpiMDgxZFhjMC9lOEEvRy9OVzZSSXUrYytBNldFZnhpQmdoR0kvb3NMYUxoOXVIeEtvcnpvTkx3MzNlLzV1QndqWWw1ejAwVktCOHpqc2hkZ1BKNHg3R1VPYTJUd1NSVGhhTVl6eW9zRkUxMGNOeFJ1bTY5eXBOM2xKOVcrMWtuYmF5VnEyTWtJREJ1QkdPUFFxdGNQbCsvWWJzdHRtNW1xcFZNeTVhdlFpNkdpcngzdmdrMC9SUHM4WTVna0YvUE1ZZDZ5SVdnbzg1T0cxRlRJZmFUOFNXMzcwUDllVVJKSmdrTEErU1FiUTRNSDM0NFNnV2JrOVk4Smo3WERsZUhLc3hmc25DVEdZN3VPWkhYcHlrd0xUY2NHcUFsbVZJTmVhTVYxYnYzU29XY2RIVnlDaHN0SzhxTGxlVG9XL0dHdGdveEtHK2lubG1vTHZtcjJNUUpIZ1VCWkxJWFovQWUwNmkrdGhxRUg4bU5lc3ZhdE9zVlBXcE1rdmY5ZC9tVFdLakdWSXNQRHF4T3lEdVl3bEZIK0JncXNCblpCTEdqWVZVR2dvWTVLYVdoRUt5bC9RZWI1Uzk1eXA1SGhHeU13YkFUbTdOeWh5cWowbDI3ZTh5NDBhaHkwZmVjcmYzWjc0TXhienlSUDduWmw4dDhWNHBzQ05abkYrc3QyNHNRWGJBYkdNTUY1S1dkWHJlaUg3dm9iVFZYZ2Q3N3lyNGV2RHRCUUJ6bisralNjK3ZqYmErUXRoTm5UNW9OV0w5OFpnU05FWU1ZNyt5QkhXZW0xTW5BNUdvdkpWTzNPLzBoKzVrK0UrUHVobHN3cTRZYVpTUWtFWDJUc2FScDhKV3MxMjJseE0vTkt2V240VTkrZ2tpNDU5UmhCWm9qdkl0bkJDQXdSQWI5RFdCSTNIcmhYWC9kZHE2OE1uSzg4YlRoUmw4MThsMnpqTk9wcVpzM2NhZStFQVM1bWYwZEgzTGlPSXQvM3dJMTY1aXhVVHhyK2dCQ3YrMisvMHlUV0VQTTFlbGxqLzF4WmdoRW9GSUdSblBIVzRUSlJwdzFIWG5yZmEzKzVtMUVFaTd2dUJ6WXpkc3lQSDlUWGk0WXZ3bC9QUUcrRjByREYxbkJRcURuZElSR29oMnZwaDlRbmsvdW5EUU9GV0Ric2VrSGdaVGlxOCtJSDl2U2dJU1p0WGlIMWVqVHN4R2Q2QnM2ZkV6SUMvU0pRanF4WTlKczJUODcvU0drZzVhWXRiZmlFV1VxMy9zTHVQV2pZTlAxUFNzTXgwWTd0c0Myc09LeUlFY2hGb05YN1lIeHV1bDRSL2tkS0EwbTNoRzdEUjhYejFsbnNQWitHaU5FZFkwckRqZWRncUZlS0xRSnJZd1Q2UXVDaU4xWGFWNUo5aGZ5UGxBYmltVDhZM2pyRURFMmcyL2ZtMDdCbHpaNmNvcG1jVmNtbTZtdEpaMWlHMlM4WSt4aUJBSUVwMnlLRDhNTjQvWStVQnBveS8zWFlIc0xvVk9XWlQ4T3luUk9WTkx6MGdwSitIS3NoemtvR1pXWXZJekJrQkx3elNjWGsxVmpvb2FjUzlJSkw3ckJSajBRRFJlWFRzR0kzTGRRY0RVdTFGV1JTc2Z3Y0tFTk94QWdNaWtDcitQR1EvNUhTb0dEMUlMOEx3eG9hU3R1bXAyQXp1MmlxWnNNQUptbVhrbEZsRFMrcFpVZWN4ZEJkMUtEUTdHVUVob3ZBRUdpZ2xnMXpTbzNUaG5wMnhNYTNoakJWcTNVN0dyckR6WmRORDd4aUJzU1F1SlZjZmdiaVV6WDFPUndjTzN6ZUZvenZqTUFSSWxETGJoRTdYTzcrZnhzR3V2RE4wcTRYVkI3U3FxRThHV1d5Z28zVFdkci9NNVduS2VTMTFZWlpuTGtGMTQ3cEtqZDRDVjhod3o5SGpjQmMwZjJ3QXkwYlRnMXJORmI2NEk0UVAvN1QyRXp3UWF6THYwbzZmZ1k3VUY4R1J3SmVidU0yZVgxY1BKZnNYRTErOCt2TStmMnBpaEJQL1VmZGxUM3E1OEQ1bldzRXJtQjhWT2gxb0dYRFM4TmFycENmYThPMUxmOWNXRjVkK1MrTDhnTEowUGQ4R3QrbXFqeUl3NzZ2Rkp2eXdLSWVSNEtmdU55UjVVSmhZV1dNUUM4RWF2cUxMYjFFRGhSM29HWERIWGMrK0VCNTdDODh1bmY5OWZkZGt6U1VqaHVTaHZJanBEZFVIeGo3em5mdnFhUGVIWUdQbUU3c1BRQkphUU12S1ZtbTRmN3dza1RSQ0d5aGlSWjVIV1Rac0pSK0lhUElJdXlyYS9LbDEzYmZBZUpOZnUyLzNGZVdCUmlCSTBCZ3JQZi90Qnk0QkkyVkhra3FmaGQ0UEpnMzdaR1NveGlCTTQxQXArZWZnQjY0Nm8zdEhrbUM3OXkwQys0UTk4aVpveGlCRTQzQWhhRXQzV1dxamQzVHN5UndJbGpMSjFIc1pBVE9HUUxscDQ2Z3dqOG8xK3J3bHpBMHEwYlJhNVpVT2JzWmdWT0Z3SVJhUmh0dWtXRUh0K1YzN09tZk4wMGU5a3VNd3kweWEyY0VzTHIxSzlmMlh2ZW5SNEpFWS9oYnVMQWt0NTRrTlk5NHJlZU9wSGFjQ1NNd01BSmpUU0h3NTJDdkhsakJBUkpPeVErekRQZkNLdm9tZGx2Zm9ibjg1Q2Ixc1pzUk9IRUlqTlhGUDl4TVBxQzNYWjI0MGgyOFFKZXdid3hiTjFjT25wSlRNQUxIaGNCVVUzeXZ6UHRUOFU5YUgxZXhCcy8zQWo3Qy9mN1lud3NQcnBKVE1nSkRSbUJINEI4NWNlRnZ5ZFpVVnBldXF0dnAvV21LZDRzNzNBczl2US93SEpZY0orRU03UnBtcC9IR3dpbUhZZXlSdlc5bUZwN3loM2pPaXQ5MmZWR2NGRmlWbFMvUDd3dkJ6M3haM3ZXU2ZkT3lBQ1BBQ0FRSTRNVHFnZ25DS1p4MTZleDFwRjJMb3YrYWV5a1ZSaVBmR0FGR29COEV5dllmK2RSL1ZDOGh5V1Q4VDhXb012eUZkTzYxUWdYWnpRZ3dBdnNqQUVLbC8ycFNWNFBEQzMzc2dYNTVMZ3QzWi9mUGxDVVlBVWFBSXJBbHZ4aG1yNmI2aHUxbHVnbk1SdkdkRVdBRWhvWkFsUzdhbDlXZkxzMHQwZHltcjgxVEw3c1pBVWFnYUFUUUp5VWp3WTRhSnphOVNaYU90ME82NlB4Wkh5UEFDQ1JZb3lCN25odnlpTjZVWHJXdzROVEoyTkdHOFowUllBUUtSR0JIMkkrN1M2VnpRaXduVi93WkdrOWd3SndGWHowUUdCQlVUbloyRUtnSnNaaldaazRPRkxkZVNBUGdhb09aaDcxNnRFR09NdDhYUGl6R25QNzBJb0R2eTR2NXRQZ2JjdjIrc3BZR3dEWHlOczg3a0llNTFndUJnU0RsUkdjSUFmbjEybTVhSDlCd2ZoSm45WXErZWpWQ2ppc2FiZFozMmhEQURBMlpLSlVmbTU0ZlA0cVB4WncybkxpOGpNQVFFV2dKNzR6NkZtaTRROGFLUTh5WlZUTUNqSUJCQU9hUHJGY2tvT0hMdks4S01sQ01BQ013ZEFRYXdsdWNCdzMvTW45SGNPaW9jd2FNZ0lkQVIvNzVaWHExaEtqMzF5ZWR6RHR1K0dWODNqREZrMTJNUUQ4SXRMMWx3d1EwcEJPbitScjR2R0UrTmh6RENCd1FnWEo2NWxlbUJBMjllZExTdjc3eGJhc3hsWHplTUlZS2h6RUNBeUhRY2QraFVjbG5mT09ZZFBZZUZ1bHBSSm9Ebnpla2FMQ2JFVGdNQWp2K3Z4NkJobXRFM2ZqZWJGTG1tVk9DQ0RzWmdTRWdzT1h6RGpTY0o3bFVmeUxCR3NZU0NXRW5JOEFJRkk3QVplRjkyOXFuNFVYNTlma1dQWUZSZVA2c2tCRmdCSklyM21Dd1ZQV000OXlEUUdqTFcxaGt5QmdCUnFCd0JIRENncXdiZmdMckZWZGRIcVY2Ris0R1cwT0hDRHNZZ2VFZzBDVEdia0w4SmIxKzhiZFVYaGZVZnBvMjVlbHd5bkJLdEg3NS9lTDZOMjZla3NKeU1VOFZBbytuVzdzbnE5OVRVbjNVYWYyUFpKZlY4ZCthKzVqd0NhelhEODRPcVZCVC95aWorT3ZFN3J2cjR2YXdjc3preHdIbkNBSDhNZTZ5cnU1VUJkYXZLYnVnbDcrb1FxWmxCSWc1citOUDRPK1Z2YzFobGFxMkVtaitoUGdsZkUrNWJmNTFKNGhrTHlOd09BUWFwbGM2MHBRditpMjVXbDlaU1ZXQ3BnZytvVmRsZUg4Yy9ON2JxMTZsUjhRcnBCKzdoK1M4RlYrTVFMRUlqTlRGcS9DYS94UGQzWm9XdTZ1ZjJpTXRFRk9weGVaWG9MYnhJYjRocHVvKzNSNDNtL3c2NG5hQk5XQlZqSUJCQVArcnRvcy8zUDYrcnZMdmlGM3hyUVNiMFJQYzdLcXczTm1yOUNlMU4veHFOdmlnSVJ1NzVHV0VQN25hWFZjYXNPdDIrYUNxV0o0UjJCK0JrUS9YZGwvek1TTlgrc3MzdnAwbWFYbkhnbW5Nc2JzdnhrZXRIYkZiajhjY3FNUmovdFJVM2VCd1NjOGxIMGdWQ3pNQ2gwU2dJWVkzL2pwazBjcDZRamZRTW83UmJlbVBDemk3WFBaMENOTXJ3Ti9RM1FweVpDOGpNR3dFS2llMjFZMklaMktWYjRwdU1sWXRZTlE0cXYvcjBlU0JucnR5TVExam9IUFlrQkdvZTN0T2g1elpnZFEvamk4Ylo2OHI4cStMeTNRelVGYW12NUFwcng5UU1aM1NjVy8zWDMrYVdJb1JPQndDMk95bXB5WU9wMllZcWF2Uktjc04vRU1qVmhXS2VIbDB0UDNUWlgvL2pYbmx3QmNscnc2ak5xeVRFY2hIWUxyUGoyTGtheGhXekxUY2FKQzlxdWlxd21JVk1FZVRYSTRwd1V6cGJEWlhEbUVFaG9rQWhrTERWSDhJM1MzdmdMSlZOQ243akxCWVJYQmwydXVWbWh6SzZlWS9teWZmR1lFaEkzRDV4TGE2aXYvM2J3WUh2RGJXRXZ4NHM1eURZbFRMZG52eEthd1RPM004YURVNTNZbEhZT3VrTGh0T2ltZGo0T0hjOG5KU3FrVXRaVXkrWjFnanUxSVBoaS8zVE1PUmpFRHhDT3ljMUpmL2VIeTVZazc5WFhFUmYwSUZMRWZGVW9ob201d0xDK1BZendnTUNZRVR1Mnk0RVRkNFdLb29Eb21KVEZmZ0I4U2R6ZUwwc3laR29EOEVUdXl5b1Z5bGoxelZJc2V5SmUvZnJwSi84bkJOUEIzTk5WSVFEbUlFQ2tQZ3hDNGJsc3ltbHJDbXdlZU93K2dEK2l2ZVFMQ0NDZGpiTHp1Z0NoWm5CQTZOd0lsZE5wend2eTV1SzRyWGhqNnliQU1PZDUvenQzY25wZituTGw1OU9KV2NtaEU0TUFJWC9XN1pnZE1QTGNGb2ZQRWVyNDNvb3Y2QTVaakphTVB4eSswQmxYRXlSbUJBQkdiaXl3SURhaXN3MlVaZ3A0eHFzT1JXZ2JtTVoyMXVPeHRVWUlhc2loR0lJR0Mva0JHSk90NmdkbXlqV1pJVWZCb1EzeUlJcTRrZE91dGhHUHNaZ1NFaE1GYTdDczFOYkEwN2tWZk9ialdzM3E4VldGNE1OYnVCT255Ymg3ZlJCSml3ZDJnSU5PUzNvYkJEYzNab09SeEdNYzVRUkpOdkZEeDBxMlZObnozL0c4MmZBeG1CUWhHb3lxWHIwWk02Tkx5UTg0V2NuYXo1T2hRcXJtS0ZOd0FBSUFCSlJFRlVsZXlCcVdiQldSeXFmSno0akNPZ3BoekwyVlo0TXFwOUtXZWlwSjFqSlFjdDlVNTJ4cWRjeUNHcVFRdkU2YzRYQWxWMHg2YUwzSkpTS0h3emtlWEJyOFBxdXJrV2lzcHN3dzBFdjZacmRIYkVTWDAzRlZWcDFuTnlFQ2p2YlpaeXBpTlBRQ0huSEQzU3d0UXNDUXRjdEppUkkyUjV2ZGQxejlIdlhWQkIvTU1JREIyQmNYR25LZjc1MExNWk1JTnl0ck9ZZlBuTm0wOEljZWZtelp2L3FqdWcya3l5VVh0d0ViMWRNMWtGR3E1azVEaUFFUmdPQWo5U2Urams3cC9NV1VqQkJHcXhxd2x1RjFIVmpRakwvREdhNFRRNDFucnFFTWc1K0RGUllIOVVZZUwrT2dBMFhOY29WZmpnNzZsckxsemc0U0NRczBxUHMvSEZiamNBcnpkVkRVQytWVjJWZXNHVHNjTUJpTFV5QWtOSElPLzhWZUZmTDNUL1o5WFlNK05rN0doNGJ1ajE0d3dZZ1ZPQUFNYUEyN0ZpdGx6WE1SWTdRQmhJcHpNYXRkK1k0czhGRHdBakp6bVRDT0E4MDJ5c1luTTU0VEhadnNKZ2R1ZVY0S1RkcTlvUXcvdHIwNzZLeEVLTXdBbEJBUDhGMTQwVnBlTkdjTEhZUWNMY3RPamM3clpNajE3cVd3ZlJ3MmtZZ1RPSEFDWXc5Y3hKVUxOSzRhZVUzVnI5VkhYdkw2NG0vNkpwRnhLRG5ObkxDSnc3QkRBamF1WXQvYXJYQ3Q5OTUyZ28veVZLM01EMmdLNmZKZnNZZ2ZPS1FCNE5pLzBnbEVTWHJJQk1mZjUrOGREZml0TC92RDRIcnZlNVJnRFRsVEU2WUY2enlBOUNTWWpyMlM4R24ydmt1ZktNZ0VNQTM3cHdidUlvK0lOUVVqUFRrT0RMVGthQUlwQkR3NEkvQ0NWenJFWDJrTk9Tc0pzUk9MY0k1TkN3NEE5Q1NYalpHcDdiUnNZVjN3K0JuTEhoVE01VzAvM1U5WWl2Rjd4SnRVZFdITVVJbkM0RWNtWkt0K3pXcytKcXd6UXNEa3ZXZE1ZUXlLRmhJMmR6elNGcW42NGJIa0lKSjJVRXppSUNPYnRveXZFSjFNTWd3RWZ0RDRNZXB6M1RDR0JQNld5a2dzM3NSN1lqVWdjSktyazlwUWRKeGJLTXdIbEFBQnVzbHlQMXJCZSs0ZE9kc0lqa3hrR013UGxHd0IwRDlHQ0E2WEluY3NjKytzUjliOEtCaUEvWEgvb2xLVFI5ZC8yaHIwK2xQM04zL2ZvLzY2YitQRmZld2NZOGVRNW5CTTRQQWlEY2ZMYTI0TXdYYkNqTzRjTTBUdGR1MzFNWDM1VWtFL1UzM3lQRVQ5allQeTl1djdNcWJ1dU83ZVRlOVh2dnU3YUh1R200SHFoM3JSVHU3dlE5Q1dNbkk4QUlLQVNpQzRUNGNNd3pGcCtMMXlRTjI5OENCc3JwMCtaN2t1U0syRE1iVVNmRXF5RDNRNllMQzlPS1M5RlF1YnBXQis3dVd6UWtqSjJNQUNPZ0VLakZQdG1MWll5bEZKODU4ZlM0NnFPMnhlS28ydkZkRlZkMTlJWStTbDh4U2o3NzFmak1FM2lhbEpwQ2ZPYy9UVlZJNmtZM3IxSVJkak1DNXhXQkppV2NCUUVkMFJYclRwS0w0dW5PdHZSdWlDKzJ1OUxSRUMvSVc1SzBoZm9XOTZnN25maVkrWWJOblBpN1dzTCtqaGMrOTJvMTg1MFJPUFVJZE5MdVoxb1g3R1diVDMwWHhPNnp5bmRaN0NuV0pTM05Qdm12amVvRFR4aExkclY4cVNiZUlsMXQrK0VuSFp3a2w5MDM4MjBJM3hrQlJzQWdrUDdGQzRGa3cxdE54TnFpSGlsaXcvZWlrbkwvSU40MjVFcEhtRThxcXpkcGU2MU9hYXZ3QTR4T05Uc1lnZE9PZ1B1TEYxcVJIZTh3TUdpb2g0TFlCNzZ1eEM3YlR1aVQydllsVmRlSnhUVE5TcEk4R1JwRGRHaE5QNWJtdzI1R2dCR1FDSXliV1U0UGpiWTNrQU1ObDFVMFptNDJsU01kQy82d1RrZitDYU1CaGFYYWdnNVBmM2RpWTlBMG1sMk13SGxHNEVMc0UydzFqNXVnWVZkQkJCcHFxRklhR3VncTZTa21yRXpNWDlvMTRlbXRrdW1tcG5Ic1lnVE9PUUtZWGRFV2p1SWc3QlNNQ2dRTlY1WEQvU3VUVDhPcGo3KzlSbXdkWmsrYkQxSnR5bDJQZngwOEk4Y0JqTUI1Uk1EMk9FbmRNYjU3bm5oNzAvQ252a0V0MVMrNUJCaEJaai9IRFpXYXlrNk1IWXdBSStBUWlQUVc4VUdvV3k0K1NYclM4QWVFZU4xLyt4MXY5YkhxMlZLdGFFTGNKaHJaeVFnd0FoNENjNlEvYVNLdzQrVXFrZWxGd3hjSjhSR0lWcWlTVnNRYWprZW9TYkpnSnlOd3ZoRzRuTzdpdGtCZ2ZYRGJ1bkh2UVVOTTJyeENTbm8wN0FpempFRjB0R0s3QkVnOE94bUJjNDNBQlc5V1ZFR0JUVFIwSU5lRGhrMWo1Q2dOeDBRNzJ3UHQyUDl4T3RkWWMrVVpnUndFY05RcGpObnlhWlJQUThTc3E4U1VoaHZQNFZEVFNxQ3padFk4Z21EMk1nS01nRUtna2psLzMwZ1AvVXFKZkJxMkxGL2xGTTNrckZJM1ZWOUxPdUVHMGlrcnFFVDRoeEZnQkFJRXRzd3BwVFM0N1EvazhtbFl0aE12a29hWDlHNjF4N0dQelZsSnEvTktkZ0Jxby9qT0NEQUM4aVRnOHc2R3FaZC9IOXcxYjZLMGh6V3MySTJpTlVmRFVtMEZHaXFXbjBaeks5TkxOUkY4WXdRWUFZbEF5ZTdUaG50T0hwWEExNXQwLzlMZ2syOE5xOFpzWW55NWxJd3FhM2hwVjg3dVlLN1ZVMUhtb2FFQmsyK01RQndCd3BHNjVOTzB0N0diakEzSDdmN1R5MmFvVnpHbmwwRFVXOG5sWjZCK3FxWStZb05qaDZtSmxVelBuTGlJRjRWREdZSHppc0NvNjROaWloTTBIQStPQm1KeHNLdXdnWTNUR00wWW9zclRGUExha3FQSm1WdHc3Wmo5TncxdkNmK0NQOWhVYWZpSEVXQUVDQUlqYnY0RVZnMlVuUEhtYkVvZnhPbkRILzlwbUxRUGRvUjRsWFQ4VEZ1SWw4RWgrNTdidUUxZUg4ZmM2czdWNURlL3pueFpjYXFDdnd2K2o3SjdxcTR0Ynp1QURlVTdJOEFJcEFpMDVjZlU1Q1ZwdUpsMGpQSFRZZklEaWJpMndVNTFkWEdDVjEwZ0dmcWVUNjhtVTVVSHNYUDdsV0lUWjV4d1NmS0JuN2pjSHdaWGVVT3BCcE4vR1lGY0JFYnRGaGZzNmY0SCtDZEMvY0VaSXo2NmQvMzE5MTJUTkpTT0c2RG9odndJNlExRnQ0bTYyTDJuamkvVmRBUStZanF4OXdBa0ZRMlZyS1hoZEhaelcyNVpPSUlST0tjSVRObjVsSkw4SVBBVk4xVHNBNDdKbDE3YmZRZUlOL20xL3pKZnV1VlBtK1lMY2d3amNJNFJhS2hWQmdEUXVOTXR0ZThValVUenVhSTFzajVHNE93aE1HRW5aY2Jxb2thL2pWaElWYS9ZUG04aDJsZ0pJM0JXRVNqYmRiM3BSM2JsK2NGQ3IwN2g1clhRNHJFeVJ1Q0VJSENoY0JPWVZtenNJR1BOTkJtN0dJRnpoMERIbXgwdHRQb2JtRWpsaXhGZ0JQWkhZTXhiSzl4ZnZuK0pram1TMkg4S2xtUUV6aXNDdjdzNXBKcVhYajBreGF5V0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VE9OQUpUSDMvN1hYZGZXenZUZGVUS01RSW5ISUdHa05mYUNTOGxGNDhST05NSU1BM1A5T1BseXAwT0JINzdacFd0NGVsNFZGektzNHhBcWNtZDByUDhmTGx1cHdPQkxhYmg2WGhRWE1xempNQU0wL0FzUDE2dTIrbEFnR2w0T3A0VGwvSk1JM0NacmVHWmZyNWN1Vk9CQU5Qd1ZEd21MdVRaUm9CcGVMYWZMOWZ1VkNEQU5Ed1ZqNGtMZWJZUllCcWU3ZWZMdFRzVkNEQU5UOFZqNGtLZWJRU1lobWY3K1hMdFRnVUNUTU5UOFppNGtHY2JBYWJoMlg2K1hMdFRnUURUOEZROEppN2syVWFBYVhpMm55L1g3bFFnd0RROEZZK0pDM20yRVdBYW51M255N1U3RlFnWUduN1YvWHR2K0hxL3dCKzZ1LzdRTzdvNnJQU2ZmdXpmM1hQL1lwSk0vdHlOZDZ3Nk9TcmlBdG5CQ0RBQ0hnSVg5cTYvL3Q1N0g3Z2h1bVBTZGQrMUcwOGp2blBqZ1h2dnZWYWZsYUthaG44czl1cEMvSDJhOXNWQ1hLK0wzWFVWZGhIZnloQmlNY0ZoL1J2aWU2MllKeUlELy9DMkZyY0NmR2NFR0lFa3VhRG9nNS91bUhFcEdtcDNTc05QN2NFUy9xQVFWMVBNUGkzRXk1TFNINHZkcmd5ek5QekU3YmVOUTVrTVNoSmZCQUdRdXFOaStJY1JZQVJTQkVhZXFFcks3YjV5Yy9LZSs2WHJ6YitNeUJmRDhnbnh1azBwSjYzaFZQMFhwYk1xbnBVM2RVMEw4UXJwYUlzdnl0dllYUzlIaXNWU2ZUMHBDN0VnZzVKQUJDRU55R3pMS0w0WUFVYkFRNkFDRm5aVkNBajBuSTRDZzhTcnRWUFM4RWxGdGFUbDdCejZyZUlwRlg5RmlHVXQrQldnNFRnRWEwTGNVaUZaa1NiVXJtaHAvbVVFR0FHQ3dLZ1FYOUpldUJaTlJNTVNVbG5EMnF3S1JwL1N4b045VjdWb1ZieWdIZWpmTHU3TUp3a3M2VE15SkNJQ2hqb05PaEgvTWdLTWdFUUFsazhidGdURHd5V0R5V1gzcVc1WXczOWxiT1NJc0pSRDkzTFhTRzZJMjlxRjFBL0t3SXFoV2tRRVVXd05EVzU4WXdROEJOQXBOZjY2ZU42NHhzV3FjWUdHTHpjMnNPUTZyVk5DRHdraGd4bVpiU1VLa242bjdMeHVDVEdMVzB4a0RqU1VjWHd4QW94QWdFQkZpRTBkMUxaMk1SazFCbEpOMGRqUlh5THNITTJsdEhNSkk2aFpPaW5FQTB2UU0vWGhWMGx0TVpFSlozaWxCRitNQUNQZ0VHZ0lNYTg5RGJGblFyZk1nRS9SMEJwTERQdk1lZ09Tck52MHdwaFEwTkRxa1ZFeGtlU1RqN0l4dExqeG5SR2dDTXhZZTRiVkI3dmsxMW13RXVpVU9zdFlzK1BBcWhOTWtxWXhrWktHWFp0S3JtNmtQaXVTeHJLTEVXQUVQQVF3cFdtR2hIVXNUdWlvMnJZVkFRMi9ZTjAxTTRyRU1OQ2F6UVRyaEhxT0JqUk1BNU9vaU5YRGQwYUFFUWdRQUdQMHNqd2NacXAweXMzUXlBVUx0ZjRnRTFrYWdyaW1kNHBBOUQ2VlF0QXdEWlRMRmFuUGlpZzUvbUVFR0lFSUFuVmp4aTQrVlRPVzcwSktJZER3bGsxamFZaXdkRC9Obk9sOWdvWnBvR1J2NnJNaVZnL2ZHUUZHSUVRQVEwSTFjekx6UWtmSUxhV1lsOUhiWnBUVFdraDRMQTIzM01vRkFqZE1hdERRYkFPUXlhSWlNb0l2Um9BUmlDRUFJbDJWNFkxRmtFY0piRGdES00zYW9rMVVNMlp6SjEwMlRPUVd0MlVwQUJxbTVFMmlJbFlQM3hrQlJpQkVBSnZZRk8yYTYxanNVNVJxWDNVeU1ScDJoTmg5dDcycVFteExhZERRemVYSVBhY1JFYWVVSFl3QUl4QWdnTjJnMG82VnhDWTJ0cTNJU0gzVVVMcWkxckFzdkd1dkt3VjlHa1pGcEJoZmpBQWpFRU1BKzg3a2tIRDZOcGlvcGtWSHlNcER6QnBXM0JJSFVRY2EycTF3Q0kyS0VHbDJNZ0tNZ0k4QStwV3IySDZHR1phbW1tYTVtRTV5UnExaGxHTk1ReDlVOWpFQ0IwT2dvNFozTGF3UE50UmEvQXd4YXpGcmlCNG5rVEI1K1RTTWloeXNWQ3pOQ0p3ckJGcHFTTmhaU1pJWlpSY2JTMm4xWXpRRWJjbHNqSkgxYVJnVlNiV3lpeEZnQkFJRWNGZ0psckNHU1ZLYzdGMUgxM1ErRllqUnNPRXRFUnBabjRaUmtWUXJ1eGdCUmlCQUFCT2t6K0dBSUVLeG4yMUJUcG1tQWpFYWJ0SGxleXZxMHpBcVlrWDV6Z2d3QWhrRU1FRjZPN21nTnREVWNjQisycDFzZ21TTWhsaG8xTHR0cUNhZmhsRVJLczV1Um9BUjhCR280T1R2cUJydXlaTy9sOHhITDVSTWpJWllhS1JNMWJwOEdrWkYvRXpaeHdnd0FoUUJqT1RXTjVaa3lBWUkxbkpuZmhFUW95RVdHdE1qR0VueTYxanRVTXYzWlBvMEtpTEYrR0lFR0lFNEFwZ2dYV3l2eVRoMEpydnBtVjhFeEdpWXdIcHVTMmw5VldmbDNiZUdVUkVqenpkR2dCR0lJSUFKMHVmclhSbUJ6dVI4ZFZ1NnpCV2w0UmJaN3czK0tkR0FoakVSZkFTamEvWHluUkZnQkh3RU1FRjZXMjlnUTJmeXJiVERHYmVHT05TYkxoeU82K21hZ0lZeEVmNGtsQTg3K3hnQkQ0RzYrK0pNVmR4T3oveENKbW9ORS9kVkdraHM2S0VrYUpoU0U4RVJrVG5CSDBqMFlHY1BJMEFSYUxzdkFYZThZNE5xWDgyU2xiVEg5SlBreWZRcmJLWDZ2SXFIUmZWb0dCR3BnSVlyVmhuZkdRRkd3RWRnd3czMld1U2pGMUtHK3NFaU5TbXFsdm50R2Q5TDVxdmQyQU5BVHQ5SFJXcFFzT2huekQ1R2dCR3dDR0NDZEYyN3NiSHRxZzJWOTNLNll3WkRPN0ZtNGo1aHpXR3A5cUFPZWd4ZlpwczFzZXFXRldsQ3dRb1ZZVGNqd0Fpa0NHQ0NkRlg3WU5SU01uM3k1cnZBSFBIbW14OUpwbTcrUWgzT3ZVZHZkcVZncVNydUtFZG5WeWFjdm5tM0ZOeDc1ODJYeVZoMUJTSUkyNEhJdG83a1gwYUFFUWdSbUxJZkFrNFMrclhSaHVTV3ZMNGdkNXVhYTFrbG5xNkwyLy9INy96WHRyYVBXUEV3RnhrZitpSklCU2x2K2ljc0Jmc1pnZk9OUU5XTjZ5cmt6RzlqVC83OTlnTTM2cEtHTi9TL2N0dC90SmlvS2VLOVIrRjJVZHg0QVAvWmpYL3ZKalJNUEJFcHgzKzZmYjViR2RkK0h3UytZdEVLUEduR2V0YWZlNS82bGZ2M1h2T3J1ZEV5b2crUm51azVraE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FNHRRaVUvc2w5NHZvM2JzcnlYMWs2dGJYZ2dqTUNSNHpBZUYzUWErLzFQNzg2ZUFrbW0wclg3V1dvbUh0bWNEMmNraEU0WHdpMEtBbVZlM2Q3VUFTbW1tTHZYLzN3Nzc5TDdNSWUxbDRZVkEybll3VE9Hd0xUZDkzekxzbStPemZsOWNUOWNPNXREd2pDbkxqVGxVbi9uSGd1dVNBT1JjTWYySjJYbXZoaUJNNE5BbTFRejNaRlAxY0ZKYTNuWUFoTUNDRjdvN2crTGE1dUhZcUdWNFRZMWFyNGx4RTRKd2gwQk15WHZjWXdXSHpRZWc1MGI0aTNXdm5PbmVhaGFEZ0hvenh2bGZHZEVUZ1BDRlFFNWN5VHNFU0RtTU5KSVdZdFd0T2cwV0U2cGJEUFl0RXE0enNqY0I0UWdQMWJTdXM1Qmdxc3BkNitYYVBpcVZTMlRHbFlOWDNWTkRyaThvU2FLTU90aUJBSE1RSm5GWUVwdFBtcnBISlZJWjRuM242ZE8rSXRxZWdsU3NOYVB6VDBoTm9vMGtLcWpWMk13SmxIUVBZZ3Qwa3RPMEk4VGJ6OU91dlVob0xhYWFlMDNnOE5QYUd0b0VqOWxvSGxHSUhUaXNCRnRQbE5VdmdHL01UYnB4TjkyVmtpMmlZMHRCT29KRHJyOUlUd1poamtUWkRWeWlHTXdDbEI0RExXSzJoUk4wQkR5aWdhbCs4R21WZEpiQ3VsNFpUSE1DSkRuWUhRSjkrNVRHUFp6UWljZFFTMnNGSkk2emdIR203VGdMN2NJRE9WdTVqU2NMb2ZHdllsUkROZ055TndwaERZb2N1R3FGa0RORncvY0ExYlBnMUhVaHBlN0llR2ZRa2R1RkNjZ0JFNExRaFVncG5SemtBMFJGZldxM0JLdzh2OTBMQXZJUzhEOWpBQ1p3bUJlckJHQjFyMlE1d0FnamtodWpTbzZXWks1L3JSMXBjUTFjOXVSdUFzSVNDWERWZG9oVUJMYithVXh1VzdHOEgyczdLalliTWZHdllsbEo4N3h6QUNweHNCdVd4SWg0S1NsZ1BzcTBhbmRJa0MwYkEweENhMy9XYzkreEtpNnRuTkNKd3BCT1N5WVpmVVNOSXkzZWxOSW5vN3Q0VDRFcFhZc2pRYzdZZUdmUWxSOWV4bUJNNFVBbUNBTjdtQ2ZXaUQ3T2ZFZ29YWGxaMjVaVkNxOUVQRHZvVE9GT3hjR1VhQUl0QUtsZzIzUkRES284TDU3bkVrb3dla1JreEhWeHJiZlR1bGZRbmw1ODB4ak1CcFI2QVI5RUhiQXcwTkUza3dRMzc4SXJqR2Fsa2FqcnowMnQ0YlBrWUVBNkhTeDMvc3JudXVYU1VDSDdxbnR2ZHRmMG9DblBPRHYvbG5YL3R3clpza1l4K3VYMzhIN3Q1VitvUDc5bDc3OVY1UVQwL3BEKzVQNVQvNGxYLzJ4TVBYSWYvSmEyLythejJUY1NRamNGZ0VRTHN2RUIwbDBNWU82MGd3ZGY3aGJXUHBhR0FpSjFqSlVTY1ZOL1Y1eVVKemRZMzRoYnJZcXdueDNUWjFSa2oyYjcxREh6K2lBc1I3YkFweXI2aW9idklCbWIzWTlRczJYUldpSnNRYlYxV0M4bzBIN3IzM3ZtdjE1NU9HZEQxd293Nm1UK3hkZi8yOTk5M1FDSXpnWXpyWGhQaE9yYitpTkNiSis4UmVmVytaNU1sT1JxQndCTkJPYnhHbCtQN0VQbHZaMElQME5yK1p4QjNaYXA5K0cxR1ZKSEs2eDExZEhUVldmL3AvSk1sdkMvRzlSalFqRk5Md040VDQyNy8xd2JkWHhVOTR5cFdub3RSM3g4VHRmL3Q3WHcxK1U3cU0xTVMzcnliL29tSm1uTXFtSktDaGNVa2FhcWVpSVQ1cDlkUm04cUc2K0s1VTlXNHlXZitXMWVaQVI3K3lwZVVRUmlDT2dMUitDeVFLVGRTYjhTUlJ4Z21KR0ZIbFZBK3U3d0RIM0RXQ3owdzFoWGhVZm03cTVxb09MaitySE85emg0c3pRaE4zSVUxNkJCSXZobStTU1V1ZHZVMm4yVHIrOGMwYVpMdnRwN3NJQWFIcEM2S2krVlF5OTYrNkc1SkN2TzRqeWE4L1hJZGo3OUh0SkJsNWx3emJmYlhVdHlPZWxrVkRmc3ZTKzQrZmdOUnU4cmo4dnBXNExVUDRZZ1NHaElBYzA4Mm51a2ZnVlkwd0RRcGRUWWlzaElGSmdxVS9mYjJKRWxFMmJrK2gyOE5kb1UwN0VDcFZDQTJiOXRCVHFVb09GcnNDVE5XRWVMSEo0aE5DZkt1TGVNeW1BenRuVmFpY0NkS1dEc1N5aTZYSSt1bE5HUTNET0svRTJ1S0w2cDZNMUVIRDVuSVNUaWJyV1A1bEJBcERRSFpDZFNOVktzdENmTTgrdXRIc294K0thU0JjWDI4aUNrTWFidDAya3pObzIyc3VwNENHU1N1bElSWlFybXE1WDY5SER5RjJoS2gvdjViQXE4QjlSd2YwTk9uUUNUVUd2dWJzZU0xdFVjQjdhRjJsYmx2YUlzZE5yYThzZHFjeDNwVzk1RlVkd3IrTXdEQVE4Ti8wTHhMaTJmMXlxYUJScmtTRXlCaVBmdW8wWUZqYkdrZllYV04wb0NzUWtnM2ZjcWhpQ1NQdGRvd01EWVIzVFhuZ1hqRE9VWnN1a1ozS1dSV0tiT1oxZENNOVkxblhOWWI2UlIwSE1pOVlxZDBXQW1GRkI5aFhwRlh3THlQUUJ3SXRNdTRwL1JIYW0yNndQVkxPb2RsSGhXU0V1Y2pTUmNDd3VoRFBhT1ZWMGlzTmhHUTM4S3FXQXJuTmwzSGtDMk01VXE0Tk1wb0ZZZXhzYllWTStOYk1kM0ptSE5YQTg2N1IxZFRsMlVxMU42MzFuQk83SFdTSi9YMTBNamxTQmc1aUJBNkZRQVAyNy9mVTlmSFBWekhGRVNXWWx3UEdVTGFwZStGSnFXbElpRnV1b1VPYzZTRjJYTjh2YXczVG51aVdNNzB0SkYzM2MxUSswSERGQnNzTnNib0dvSzhMaGJIVlV5eGc2UXRhRkgzeGVaT29waDNWMU9JMXJITkQ3RjZUVXIvN21xNjg4Y1VJREFtQk5ocHVlbjNIWmgvWmZQTFJISzVpM2MxZDIxYlJUbXBsWkJBRW50TlJvTSsyZHZXaUlWU2EzR2FRZE5rbUlIZm9XWGZldHUxUXRxZ3drcXFVNkhpYU53aGNTenJSbEI0SUlzQ1VLMGtnM2xXUlVCMS80K2lrL01zSUZJUkFEWTNiWEE4OStyWkRLaTM5YU0wcWM3MjRIY29IL01XTTYrQzF5QnhOSUpRNGF5Z25YVXloNUhhNXpVZ0J3WldVaHZEb25NdDBweXlzNEtKSzZiVEJHcHErN29RMmxNalJCQ1FKY2xwVDR0RG1BaU01Y3hBalVBd0NjdG53VmpHcWxKYVVpS3RHNjQ1UHc0YnJMTTY0OFY4UGF3Z0MyVG1qcWJydHp2cmxCVmRTR21JQXFXaUZlcEdsUHZTamRVKzRiZTBjeG9aRzc2aU9tWFBtVVUzcExLZzhvSHJKejR4OWpNQVFFRUJmakl5aGlzakFFbkhGS052eGFUaFcvWHNtWW9ia0hBaWwxaEJDbWlaSU5QMnpYWlBVdTIxUUdzb0ZRZmtDd05EUTBoYysyRlJOU3BCdFRTV0d3M3lPYmt2UDBMUkphUUNLZmpWQjlZb1M1eDlHWUpnSXlHWEQxSllVazlQVS93bWxibTV4eDZkaG1zVU1hZU9oa091VU50eWtTcG93Y0lFcmFRM2thMlVaQXVoWE92cGlBdzVDVjJVeUdNRWxlVThxZjhXT09jc3JLcUJ1Q1FvZjFsSjBYeFNxMTFRcy96QUN3MFJBcmdKMEM4OEFySEo5UXJnbEw3TFhURDgwYkZ2RGxFMXZRellvRGVWVTZWWEVRRG1ob1p3WVVvWEFXMGNQSGNWbmJKZFlmeTVjcGx1M0dtRTh0UlJVYjl0QXZqTUNRME9naGVaWHZQSlNEV3E3V3U5T2xJYWYvYkc3S3YzUUVJcVc5aW1mUjBOSnVFVWttS05ySm9rOC9pSEpLWHVuYWlmTzJDNTRkMHVIeUYrMUNYMVp1ZkFENDZrWFhLRGFCZHBJdmpNQ2hTUFE4SGRERjZVZi84NG01cld5Q0EybjVBcWx2RlpzZnFHUTY1UkNhTkVLNWR6QmxmVTBxcWJwQllWdXJoYVJDRjFRTW5ESSsvaHpTVlZUN1lyZUlDZFBXcnpoM2VaNjJKcFNxSjVWeWZpSEVSZ21BbTJ5WEZaZ1ByQTZka01ZQ0JGWUZIa004RTMvOWlVemZkSndZWjl5YlhnMGhPNWJTRkRPMEhCUnFVRzRMRTNyQlN6cHE5TVlselZiNWRRT3ZmUW1WYWllM1NkM2ptWUVEbzlBemM1R0hGYlZSTmZUZ09ZdTJZQnJKNlRoKzdGNDl6RkV6UFJCUXpsa1c1RmFlbHpneW5vYTNkUnpPbTIvWHFpbUxzNlc3cDN1TENRdFBXc3p0NlRTWW1IRTlxSlRYUWxVZDRtWG5ZekFVQkFvYnRsd2JzVXJJQnE1MlRhMkU5QVEzYi9ieTFKMmhqQXNGTEtkMG9GcFdNbWhJUlEvZzd5cjIzSXVkUnV1eWhwKzFPN3RDT09ZaGdvYy9oa3lBc1V0R3pZV3ZLTEN1cGl4V2NDd3Fhb2ROYzcwUVVNNTQrSXI5bkpSSG5DRldFT29sM2F2N2ZKWE1uVTcwNk1YOGt0WXZrRFZGeEJueUNjN3BWMGxTbitnT2h0SUJkak5DQlNBUUhITGhvMUZyemhvNUdaMzk0NXZEVEY1WS9nNTB5Y05mY1ZlTHNvRHJoQWExalFOT3k1L0pRT1NhVFV3L3hnU1RzaGhvYktMWTJZUlgwN1J6R1owTXcwemtIREFFQkFvYnRtd2Njc3JIbnFUZ1RXOG9EWkpsK3F1dWNkb3FJV1NkQmNOV0xYa0tjNTZmQm9hd3Uxa2FMaWlVemJsa0hCVXZpTFVOMnJHMDYzZXFvL3FxNGZxcmgvQ1BrYWdlQVJhYUxYRmFHMllvYURWNXNabUlNU3lETlFNdzRqc09TTXlFN0dHR1JwVzdOeUsxWnU5Z3l2ckxsUU9KdGZnUTJDd2ZDOURjYUU0NjhtV2ZHZk15UjBHTFZOc21TN1ZvaVR4QXkxZDYrWTdJekFzQkJyNXk0Yi81UDY5MTh6Mm4yK0R0bm9reTB6UmFJYWhZUzhacFRPS2hpTXFENUJqV1FabmFJZ0NQbS9rODI1UW1SSklEbmFsSnV4YUkwZVVKTWxVUHVDZEhCS1dyMnFSeldSbjBhaXQyVjAxTkJ1bzdsSS91eG1CWVNEUVRvMVRvTDRzM29CdjlNb1czZC9Wa01NdGNqa3I1ak9zbVhKbVJ0RndRL0hBRnlLZFVyREdXaytpM0hOdXBDclZaOVdVZWNlZ2x4UUk1TFQvSzQ2NW94ZVMyaXcwUUdRK3FhNGJYV1U3ZXFTNm9icEwvZXhtQklhQkFHeEEzTmk4Vi93aVB2N1FOdU83UHJKdStHY0JNUld5b2xONURKTm1hZE5vQThNZ3NnOE5zY0JBNkRTSlFtVXVqNGF3Z21wYkRIWm5XK0loQWVaQjdkZWt3TWpuSmxVVXRoZ3NsbHhwdHR6SE9XUUdrNjlRMlRBTkZRejhNMXdFY3BjTlN6VTF6M25CSHJuZHZ4Z04veXdDYUxDdEV6Vk1mL09pdEdvSWRtTlJ0UEVWUzBOUENISjIzZEJMa0NTanNkY0M5TXdqaWI3bWJHZTRhczVVcUdDb2MwTlhiQjY0OHF3S3JZbm56WmxmZUdFbFNiZjZrczZJYWFoUjVkK2hJaUJIVWl1eEhDN3E0ZFo2RlJIUEFBQWdBRWxFUVZTbm5iR2dRcDk4dEV1OTJ0MFF6OUJBOVBoV3RSOU5lVnU2TGtsaTR4aWdNMUlkUWtOUFNBcTdrUnJvWlB1Tm1GVzVKVFVGRjlLdXVhQ205WUNQYWJvdEd3cTVpaENmMEQyQXNuanFrcU1lN0RSNTUyem9qS0M2NjFTemd4RVlEZ0p5MFRwdHJDU1BPZFVrc2JyUUpZSEdpU1UyTXZ0aDR4dTA4eWluU0xURlNSSlFZRjRLamNxMkw1Zm5wRWRlSU5pS3RZYWVFT0pTR29JSlN3alFWK1dxZFpFN0pCYXNWKzVsWFZVZVRNa3UyVkM1dzFTSEltUk9pS3FPMlJKN1crbTdvKzFtY1NEVTFCbEJkUmMrdmhpQllTS1F1MnhZMGNlQlVzNlFVcUFkMjJsSEV0cndDYjNqZW9FWXJhMUl1Um5aNHFYNTNaUSs5RTl2Sy9vMFZxVEhFNEkvcFNIZUZNOUpDWGxOUmtrQnJwaWRBaXFkY2VNVlFpMmRrNUJaNmZlQ3pLUzZvaFRMSDJDeFlEMlRwcEJRUFd2RCtNNElEQW1CRnBwa1ZIVmRmVE5pMHBrMEtsUkJvaFVhb053TmIyd0ZFcXdaRVhSUGw2UnpiaEUvWkhsdTlCK29pTTZhalBTRTRMZTBoTE9aV3FSUk84OGlrN2dMWE5sYk5iNk9wWmhhOHpPRWwzeWJkK0xJeXBCTW11WmxGNDVQM1Rnai83aHh6VEVOSFQ3c0dCb0NhTFZrUUpSbWc2bWJkZW43cXUwMHpMbHFhTDJMem1jZERZU3FOQ3BnM0IyK2w1TXNhcjZqTWk5akttNUNzcmxja3hIVldSbnNDNmx0M3dzeUhOZDcwNzh2cmNUK3cwS3VzVmNYbEtnMHRvNnBjTnRTbHROUWRmTFgxRmxPVU9sMDZuY3VKYVhWdCtNbW1vZ2NPeG1CUWhHUVhVUm5TRHpOT0FYeGExNEE4Y0E4UmEzaDA5VTdtMWFzSXQ1cW5UQm5jc2xoU28vT3NLVlUvOHZFKzU1S0duZ0hqQmxLZUVKSjBuRjc0YVE1TlAva2RHV3Y2NVFTQjJqNEsyWlJvMEhOM2xmWXZ6M0ZKT2c4a2ErNVhxNzdreG9WTytuTTRYdk5IMkdVcXZ2L293ZFJ6RTVHNEtBSWxINy9pWHZBSnl6TC9ZMmYvZFZNWXJRL2NmdGZab0pWd0E3aXRqTlJEZkdXY2ZGc1Y0ZC8yakpIZWg5WExIaXY3dWZKT1JUNXg0WVQ5WGw1MU9qN21zL3JGRlRvZDIrK0MxTGlUYTlVaGxKMldOWG9jTEptWkhVSzl3c2FyamUvUzNvaG1ZNEJreW5EdHhGenp0NG1LQXM1U3BYWGp0MzNxcjJQQ2YxUHBoUDYzOE0vLzRSRVFiejVsVC9yM2k1YWpuOFpnYUlRa0VNa2UzMHBvN1Nob3Q2WUNaY0JNQzdHK05Eb0JvWlpIYkg3YXpMcy94TGlINlJ4b01PZGwzeXV2cUpEOEwrRzR2disvVXZGUDhJblg5RE05elRWSkdlYzBKektIRC9yT2duKzMrYjdYdkxCcjY3ZVdVMlZFcGVrNFJYeDQwbnltYnA0bG9wTXcvOVBQL2oybXY3YlFwZGl5MDNGeklnbEZ5b2RmNHovTTMzSkIzL1VqSWdydGhnOFRlT2h4SjRDRVpnUWV6Y2VlRDMrZS9yYURmM3k5M1JqZmxKZWhFd2tPdnFuMncxUXM5UkdsL09kTng4SlZqUnczSjZNMlY0c2ZlSXB5WmZwNmtQYlZpOFJta1BKN3IzdmdSdVdoc2tmcWlTM25heE5vKytTaHNtTDFCOTV2Mm5UaTVxb3FZVDY3d3RkekNWbnl5KzZlU1FUcWI3c0tPNTBsYmV5ZDEzK04vZTFPdFBRWWNlT28wVUFoZ0ZYZk9BWUxVbEQ5dlJLLzFvbE0vL2I2ZVErOUhEOWRWM24rNm12dlgvM2Y2TldTOGY0UWs1YU9UNTBkLzJoLzltbldDcWdhSmg4K2YxN2I4ajBvcWQrSlJJNmN0Mm1uYm9lRnVNenlPZ2J3MEFyem5kRzRLZ1IrSEkxUHB2dk85dXRiU1g2VTc5d1Riemg1L3RPVllTZ3BtRVJtbGdISTNEaUVQaGMwNno0bmJpUytRVmlHdnA0c085c0lUQlpVNTkxT2VtVllocWU5Q2ZFNVJzSWdkKzRyWWRITGFiaFFQaHhJa2JnOEFoZ3g5bWEwbkxSN1VNNXZOTGhhV0JyT0R4c1dmUHhJWUNGd2FzcTk4eUUvdkdWcVVmT1RNTWU0SERVcVVVQVp3MjJWZUV2UjA4MG5MUjZNUTFQMmhQaDhoU0J3S2c5V05GeCs2U0xVRHNzSFV6RFlTSExlbzhUZ1N1N1haWDlwSWllYURqT29zWHlCZzNuWStFY3hnaWNaZ1FtVGJOdTdIVlBRelhtN0l6U2FTZ3NsNUVSNkJlQm5kdXpFSDJ4K0R2OUpqaFd1UjA3bzNTc3BlRE1HWUdDRVJpcGlkZmVVNVdISUU3RFZTV2ZYVHNONWVVeU1nTDlJVEQ1MHZ2M1h2djEvY2tlcjlUbmI0S0ZRcnp1NXZ6eGxvTnpad1RPTVFJVlNVSjUzVHJISUhEVkdZSGpSVUFkQ3BSbkU1bUd4L3NnT0hk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SZ1FnUitjSFRBaEp5c1FnU2UzQzFUR3FrNGRBbGYyTms5ZG1jOWdnVWZ2bk1GS2NaWDZScUR5Zk4raUxEZzhCRXExYngyZWN0WjgwaEVZRjl3blBSSFA2TW5kMVJOUkRpN0VjU0JRL1JMTjlUT1BpTmR0MDRCVDRzNHZkMzdNQ2F2YXBIandtRXMwWGhmMDJudjl6dy80WWloUk5YRHZ2ZUd2RHFqcG1CRTVzdXd2aW5tUzE0dUZ1RjdmV3ljaHA4T1pYKzc4bUJOWHM4YnRZeTVTSzJDUEVMdmJBeFVwcENIMDNoNU0wMERabjhKRVpUb3pjRVdJWDAzK2IvSFVhYXRIZnJuelkwNWVIUytJcThkYnFPbTc3bm1YWk9LZG0vSjY0bjQ0OTdZSEtWTHA1aE1QUzBYaXppdWxwbnV1U2ZmOElKb09sV2FzK3ZjT2xmN29FbytJWjlMTVNqWDBpK1NiYkRNTks4ZzFWRVR5eTUwZlUxQzlDbFZUZTY1UWRRTXBhNE42dGdQNXVTcUlaRDBIMWZZQlNUMmIrRE8xUVJsOTBHeXBQT3F5U1AwbjEvMjQyRTRMOTE3NUJDYUEzbm9hVnBCcnFJamtsenMvcHFCNkZhcG1TM1FMMVRlSXNvNFE2Y3RnckM0R0g3Q0N3MCs3RWt5aEFRek1hS2ZsWUk0UnRPUlQwckdyMHZGSVczd2hTZENOSzc3L01GeEU4c3VkSDNPd0ozbzAwaE1uNE9WZEVlS0Z0TFpQWW5ob0xWb2EycDhMbXA1TkphZkF5dTlQdlVmaGtpMTU5eWd5T25RZTB4VHpTU0ZXa21RYWhkOCt0T0pBd1ZBUnlTOTNma3hRdmhQaXJSLy95eHYyYnlsRll3eU5ZUzMxSHNnRiswZXJJNXZBN0lFVUhGWjRIRG1Ld3lvNWt2UXRDaktLdll4Y2E4VzhRaTU5a2RSZ3FJamtsenMvaHBUdEJEbDNqcjFYT29XV2U1VWdBaHMyNk82T3NrL0RwQ05rWitzSUwwbDgydGs3d3F3UG1GWEZEYUtSc0tYZkhUOTUvUlVIMUJJVkg2VTBIQ29pK2VYT2o0a1crZGdEUjhYQ01aY2g3QXQxNkFEdllHVUxhU2duSGJvSFUzRTRhZmxLOFJiRkQ2ZHVlS2tuYWU4OWFSVDY3cmhNYVRoVVJQTExuUjh6UEV3UG8zbE1VTkFPbzJuUXRCZlJkRGRKNGdiOHhIc1FaMGpEcENMRVd3Nmk0TkN5Tzc1bFA3UytZU2tZcDhzVjZEV2tNMXVIejNIR2ExSERSQ1MvM1BreGg2L2ZVRFRVOW9haXRuK2xsN0d3UUtVM1FNTUJSM1FaR280T2JsbHBrZnAzVC83QzMreGYrQmdsTitqUU1HbDd0dkd3eGRyeWFEaE1SUExMblI5ejJOb05LWDFuQ0d0RkJ5cnFGdFlWYUlJNTBIQ2JCdlR2enRCUVRwZkx5UWUrQWdTYVhtZTk2YzFzQmFJSDl1NTRORHh3OGdNa3lDOTNmc3dCMUIrbGFJdE9VeDVseGpZdjlGclNaVU1FTmtDZGRSdDVzSHVHaGtuVFd3dzVtTFl6TEYzeTUwU2IvaE00Wk1VclIwaERyK1dRY2hkYkk2SjRXTTZMeHowNHJBUXpvNTBpYWJoeDFMM1NZVDJtWXZWTytPYXYyRVpiWnhvZS9HbU5GRHBMZHZEOGs3b1F0Mmd5MEhMUWptVFdHbDZDc2sycW5kMFNnVkc2ZUorZ3o1Qm5WUWFBYStUbzN1djU1YzZQR2FCR1I1TGttTnVwbk5GZW9SVUZMUWRsVHBhR0Y2QnNqV3BudDBSZ3cxK21LclRSampNTkIybGt6ZUkzRWg2a0dITFprQTRGSlMwSDNRK1dwU0UyTlhsVDh3Y3AyUm1XYmZ2UHZGQWFiakFOQjJrNU84ZTdyVlF1RzNaSnVTVXRCKzBpWldrb3U3eDBmeHZKNkR3N2d5V2hRbWxZWXhvTzByUzJCdDQ3TmtodW1UUlkydk5XNitWb3poc3JabExrQjBSb1dCbmN0dWJuYzlwanNJN2pWYUZJR3VLMXlsTTBIcnI5ZVVZSE5qNzk2ZDlIcWhVc0cyNkJodlA3cE1tTGp0QndCK3BXOCtUUGEvaUZZRnF1U0JwV21JWUROYXVML3VyNVFEb09rYWdSOUVIYmh6QmZFUnJPZ1liYnVjV2IrdmlmM2ZYd3RXWEUvK2kxdlRkOHZTYzM4bElFZlN3TjhtUmYveGQxeE1pSDY5ZmYwYlZDUC9PVnYvL0VJMit5UHR4TGYvQ0llT2lYWTYrQjBtZC83S1AzM0NmM3NQL28vV0hPQ1B6UTNiV0hVcjFFWTQ3elEzZlhuWHpwUC8zWXY3dm4vc1VrbWZ5NUcrK0k1WjFjQ2pycWpvWlRIMy83WGZkY1ExSmNuLzNLano3eHlIWGw5S29ld0JUVThRZUJON0dHRVVUdTIzdHRDblJQelNydjlDZUxpU3QzS21SY0x1YURYL2xuVHp3c2EvSEphMi8rYTA2czlBZjMwMUtvOEs5NnBLNGY5eVYxc2lBSENxMkN3cDE4OW1zKytndjNmUzhpeG42T05nWWplVTl0Nzl2K1ZMdDcvbUl3MWpOK3lKR2dIVDBGSWIvRVFFNGZ4alAvdzl2cjBZZ0lEYmVnN3lyTzB1MWRmLzI5OXo1d1E1L2xtTHZ4d0wzM1hxdXZxcTBDYW5uazM0aTl1aEIvbjJpOVVCZDdOU0crMndVMW9DbVVuYTZKRzlpTHQyeUVvTUpicHh4cnlnQnhwK3VVT0ljY0Vzc0YwOUsvVVk3dmRCSEs4WWQ0RjBHdmJqY1hiTm03WTlKMTM3VWJjZ2RvUjlkaFZzbXJ6eCtKWFkyS1ZyMllsSm9vbkd3ZW1XdUdNRVZ1TkRMWDh3YVBSWmxBaCt0dGhnMGxnRnBtWVVxOE9uN3U1Nnd1c3hnY0lqSmRGYUlteEJ0WFRabDZhUTZLN1dGaXk2ZXlDdzdrZURXcVNBbE0rYjBQRDlnOXA1R20yTU5YVWlqb1UwcFEvQ0l5M1ZENkdqS2huamFoVUtoQ2VYRExrM25xMVROUmw0MWhGekNsMTQrb1NQRWVHWkxUQm8wd0poTzd4bmtjdDVvL0ZKUUhZN2IzS1FmYW1iZjl6WW1Ycy9NeE05QzNwSSswS2tTdVN1RTU1VVJudGFFY3k4bW45dkNDeG90Y3hTcDFZL1duLzBlUy9MWkkyM0ZFdHRSOHRwdU1WRjFwZ2tZM1dSVzNmKzJuLyt1L0ZwR1BBRmdhTnNUZi9sLy9FNmpvMGVWRjR2YWZKcVUvWjZhUTVhS0x1cnI2aVd1bWQzVFlyQ3p0cDRWNFdWTDZZN0hibFQ1THcwL2NmaHVPM2FrZ0dVeXVPVElkNERYYWhsSzZLRVZwMjlQQk1aZ1N2NDQ3dWxEcVZ6WG1BSkdSbXZqMjFlUmZWTnc0cUlkbVVsN3A5REd4NVV0elNzVzlHbFdreEc0eVdmK1cxYWF0OVJTMnVtMG1INnFMNzNLSlNtMGh2djIzZnJPeUJ6d3JxdVFObVRCT1F4OXVTOE9wNmh1N3lWak4yeVgvRzBMODdkLzY0TnVyNGllUWs1eDhWSmRxWlhQYXZlcUtzSCs3ZDZMRk82VDFXeUJxRzMyY0ZJSk1uS3JsTEEyeGNWeGExNUdiajhBaDloN2Rsbm45QjlVNkhsMU5mdnVKS2tLWHArcnlMWmhVeVE3bjhyTUtvUGVseTQ0UjJTZVZFTnE2QWpaSlB2b0wwSlllVm1pTDI3TlM3d2ZFVytYTnU4YnVrb2JqK1N2aVZUSjR4MXM3dldqNDlKUDZQcUlLS1haZnVUbDV6LzFJSk43OHkwanlZbFdIMTIzQ2llZjdDcW1sclkzYzJGMHZoOUJpcWI2ZWxIMXdwWkM4eW1RU2JBb2YwSUxobDkvUitzWGt0MjgyWlZJcE0zWFhoK0hVMWpCU2RTa2lMNytPWDNYekppRFEzL2RTa0FhSVZIVExMNWs3M25PNUQwQ3JkNzhCSmlnZkxiY1RrdzR2NWg4L0FaeDJrOGVmUy9BMk0wZEJkOFRUcTVEREczL1pKbXdJOGIvQVhhcDhBVi9HVWpUTWdRSkNBZHhUZDkwTm9MNlk2TVp3S1cwd0tvZHZram1VT3ZKdkNuTGFvQlNRVjgyMkl1MDkybC81THBsUHM1UnZNb2ROR3V5N1pGTlo4WU8wcjV5bDRTaGtkYWYzSytCYU02bGdNRXpuUVg0cFkvbHhQWnBwcGJaajJwYWlZcDhkVWdheXM2WDZ0dFNITjRuclZ2OGtvV0ZLejhmY0o2K2t2TDMrQzlJMWRjNlRkWEZidGd4MWxhcjJnZXhZeFJXVXQ2c2lVVVd6bkNOZnJxOVdZUjB6MUV2YkZlcTZPQTdWTmIrcm9hVHgwd3pXcUpyT25pZkkzRVhpSFdUUHZnUlY3MXBOMlRxaVdMcE9Sb1FpOHBoOVIwRm8xc1RuYWJZNTZIc0VFMFNRY3Z2aU5HYWtEaG8ybDdGenlJeStjQXAxWG9tYjF4YmNvT2l6S21oQ2RDZXMwY3lCSXNuQy9TblV1VlJYN1JhTlFiRllhV3ZhK3BhcWIxRUI4VGFvb3BLS1dOS080L2lWblZEN1JKQS9XdG4zN0ZzTU5DN1hWRHhocEE0WENmRjJFbDlTUXBMd3JxblhISTgzUU1PcUxnSEl1V2owYmQzK21IYmg0YTJaTUxuNXhKTzFYM3VvdU5ZcUtlbXNZZFU2SjE5dWVlVTBTUWVhdzk1ZVZ3ZEI4NFBhbFNUL3hhWkxVT1J0RllwUzZFckl4bVRMMkRDRUJJUlhkZHFxSFZhaldTM3V6Q2R5MWZRWkhlWDkxbDN0ZFRCdHpuTnBCdGhKWVdrWVZ0MnF5OVl4cENGQlpDcDk0VGRzZlRLZ1dzMytQWUlKQkdpNWZYa2FVeGE3MDJnV3NsKzBLcVhhRmwrMGpVMmRyR0tabVpUZk11cDRGSWNpQWpmR2RWKzhaRjdGRlRrUzFSZjBtd2Z6NjNYZEtuTGFvQkp2a3k2SzFYQmtkL2VPVWptK3lMNlZldVlQMElKMlpNVExjUm9hYWxaVFk1ZVVIVll6UXZ5d3NTOHd4ZWkvcXF0dGpUTEMwcGQ3SUNzYnVyd2FSSEhkUG1NNVJGdDA4VEV5eUdkaTM1eHd1NDluMUd3NitWYlNEeGR0MjFRQ2drdGFLOXJWbW5JMTNJUGZzRW9nOWFDc0laQXlaVEJwOUkyK1dtUUliYlNvbzB0Q2FCaFUzYWlMMURHa0lWNEY5c1UwNmdvcXpjK3MwUkhYYkNMdExZSUpvbWk1cmFTKzB4amcwMEtWWkE5SVJnSWJVMEd3WjBHSm96UzJqT1BQcGdQbk9CUVJ1Qk0wa3NhNlVwWE1PVzREZmRQS2tLV3hBRlhTVk5JMnFGSjJYT1BUaW83MHQwWGFYK21QZ0pSOU9qMUtnWnE2aCtpSmxWMXJkY0hvTmRrVzNDQ3RyMlA1bGdEclB6YVBCUzl1UTBoaVJxcTJhVU9sTC91VW5zMVhuM0tadHhuVzNBUGRjWWpYS0pXdElOWVRVTFJ0NjYyNDl6R2F5NllOSGJWZmNEVk5DT0YxUjkxeC9XaGhzK3lMQXBYVkN2SHkrRTRadUJVRkNpbE1tekg1MEVhTE9obzRaRjdPR3ZwVnR6QkY2cGloWVlwSWhUUzBtdnNzUWx5ektabTVSVEhwbDRaellyZXpqQ0dGR1RzQUUvalUxVFEydVpHKzI2WXdrV3ZmalZFb1luQ0RobDhpamNHQUN5U01KbWxyZEo3SWFjMWtucVJ0VUlVMDdBakV4aC9sSGVWNjl2ZlU5ZkhQVnpHNm42V1pULzdaMXo3OFFKZUdLRGQ2YzJIZlU4dVVzeEdTaHJyYkwzc2x0Nnl1eWxYclFtaE5RNVFBVFNNS2wrMDFkUWdyZkZuWCt2RzRuRHJYUzhQanVxUHpBTHNkdlcydThnNGFHZ2w0dHR3QWM0ZUU0a2t1U0ZHOFdDMDMyNjd1b3hvRWRIMFdsUXg1MFVQMUEwc0luUHJ3cTB3VXZZR2syOVR2V1JYYTltb3BEZjJxRzVoaWRjelEwQ0dDbUJXWDdZNTd1MFUxT3pudGlHTFNMdzAzeE80MXFlWjNYOU9WdDZxMVViSWJvOHlWZkVDMkNhRExhc2tqMzdvVzJjUkJFWU1iNzZ0ZCt5cEVvaldaalhxa0s4cVJ0SkRCdW5LaXNyZDBHSjdwVmV0Uzl3M2I0cnpRSS9LZzF1VDZqazB2MnkwWjFmV0NsT2VUajg1bUF4RlM3a2xEZEQzTUFBdUVjeGtCR05OMWtHOS95d3ZrYTk3NEc2VE4rcktrZDJqSWdpSzRSZ2YrMjRrYktMTVBpUlliWExGV1JVMnE2VjRwMmdRUnRwNkdNTk1LYURyV1FtMXBpNDZvZGF2V05pRnBhT2R0WU9ZT1B2ajRVV3VJT2k3YUZLN3RxWkZWRnFaWUhmTnAyQ0tOWFRieFpaMk5ENnA5QUxZSTZoN0hwSDhhdWpjWHRLR0Q2RkJISWJvSXdtalBqUWprKzlCYXd5Z1VNYmpSY0J4b1NMUUNuYmlhRG1ia1kyb2JiNE5LZkl1V1VvVWM0VThOSlRUWFE0KytMY2o0ZmRjUUZZVDE4cGJqTkRTbUV3L1RvajF0SGFwOU9kTmFjd0kxUjZLV2U3dUZzdmF0UjZkTlVocHVwRThHejhQMWdVbnhQUnBLNGlodTRFSGRTb1VxNWgyQkIybkkwWFl2cHM2Q2txdTZBUG5rdFoyUzJycXBsc0NGTFB6SS9taVloV25EbFVxMk9WM0hmQnFXNmJORU45TlVDTzAycTlrdmNSeVRBOURRRWd0cVljMmNENitSTlFSdDJaZWR6SlhFUjJrWWcxdlNjRjRteG9VTzZJSnk0Qm5ZRjVmc2ttMnF3SGdiVkZFemJqaWp2RWY2ZzJMUlZwZkp1K1hzVXlZcUVvQUg3WjZvaVFhcUxxenBtaC81bENhd3RsWUxQUThMWE1POTAyWklqOU9YdGE5eitlU1diR21jTmF5azlIMlNHRlFyaDd0SFErU3RIMS9MUGtZbDJURko4Y0kyalFkUGZFMHJxVzNMTzNxWTFqeks3b0IrdjBCMUdxaWx5UytVNlVaaHcvcWpZUmFtV0IxemFVaGFJUExGd01KMFRYeFE3UU93UlZQM09DWUhvT0ZTcW02T1BDelFld0V4cUVZcWdEQkxVNVRNdkNvUzF5bU53aTFwT0d1eUFBMTFJcnhvOURzUlk0TzZyYXg4WFhXMUpHbURLbURHMlFDajZRaHZjZzVwcFVkK3JiUUgwVVBLUnBWVHl0a2dvT0lnd0JOWTArRWJTelplamhpZnNaNlVodW4vRU0yUUF2cXlyaTFIYVloOHQ2M2V6Mk9QVHZieWFZaXlxM0xzdUVMS0ZCdUdsSGo2K3BuQ1lkck1sSjZoQWFmU2psekRHQnlvVGdNek9hT0JySHFCL2RFd0MxT3NqcmswUklSdGxzZ2NKVFE5RWgvVUtBM2ptQnlBaGl0cGRkdmtlYUwxM1VJTXFySG1CQkRXaTRaUnVDVU5MYUtPaGpOcHcwdW1mN1pyTXBoemVaRTJxT0tPazRhb1ZUcXljVkNramtacXF0TEFYRmM1UzBNOFpLY2lmZUNWZWFjRGdmSlJxQ3Vsb1ExUnM2TXIxdWZMdXU1eWpJYnkvYkpwMDhYdlBnMGJwbWZVSlBSVms3QzY5ZHRKeTR0UDFVeDlMbWlpb1V4cDY1NHo3MXFvVGdNenVROUl3d3hNMFRybTBoQTlNMlAvWklGa04waTNYQi9VS0Exek1JRnB5WHZaMEpnTjEvSmx4blhpd3pzTmxKTnZ0bTBacFM0ZHBwd28yYUlKZGRZd0NyZFVhZ1VkRGZGQWRUZmR4bGlkNW5WRzJxQ0ttWEZkTVMvQmtYaWtzZXIyeUlsdXUrb2hacUxLY1JyYTE3anJDSlVJUTREcmt0WGNCdzJKckVNK1JrUDVmckZxYys0K0RiZk0yaFhTYmFjSlp1eXdwVzI2UFRNdmRNd1l3bndjRytuY2xJTTBuck15TVZTVEpwK3EweTRRUWpQQVJ0QkdHMnQ3a0l2QkZLMWpMZzFSRlZvbTFITlo1Ui9UYkF0bTdqbVk5RS9EYmFjUWs3dnBleDh3b2FjdHE3SHBCQkRXeXhwdXhlQUdEZDBZd05FUVQreVcwK29jMFRhb1lpK25PcHowVVRsYWdLQlhYbFV6M3UwbGs4YVZzelRFdzNldk5MeUI5Y3QyZ3J4RWM1cWRWdnJaSDd1clFqb3hPYktnb1FQY2pnM3hOTnlUU1F2b3VmREFVd0xKcVVOWk9QbHExczFUeVNKSHZiQzhZWWFvamNVdGc5aUd6blBIRWxYS3QweGlxQ2JUclVvVCtVRjVpUS9PL21pNGFCUFpDZFJvSFhOcE9PZVhxVzdIM0RtZzJzeHd6OFBFS3plUmg1UFdDTkNsaUtKNHFROE5BakJKVTVDbTNvZUdVYmhCUTJmRm9XMUphYXRaUjZvYnJtZ2JWQkxIU2NOR3owR003TGJQZTdYbzdTbG5hWWhua0hiOEs4YjAwdEZ4Zml1WWtndVo4bHF4dWViSXhtZzRZeWx2MDJidlBnMU5ZNUROWkRhVlJhZ2VRc0doYU5kY1IyNnFWYld2S3JFT01ucTN2VkRnYlJrSzFXNUNSVWw1UDBYUk1GckhYQnJ1K0dXcTJhbW9IRkJKaWZNdzhjaEc1T0VNYUpnaUNtc2szbURoZWxnWmFMOGErOUF3Q25lVWhzaG8wUytVOGxVaWJWQkY0QWxIeEk4bXFPMVpoRXllZUErbUNHWmlNd0hsTEEzeDhGTVZjK1lOUExlVUpzMXRCZkpvM0p2KzdVdG1CcVpodWlpUzVrWmRQZzNCRGZrWU1GR1hsbGU5cWZWN0Z1SFN2cUU3alVhNUl0WFVOVEtvTTczMnVqTHV5R2lZcldNdURWRlErbXFvMlZhYSt3QmtSZFNWaDRsSE5pdXM3N2swbExybzlmMXE5RStxc1E4Tm8zRG4wWERCTDVUeXpVWGFvSW80VG10WVMzdmlrU0xMUmhrTHpnc0RSdUdDaFlUTmllT0ZvOGFKZEhTYzF3cmVEeXZ6TWFTY0dZeUdXL3VZZVdqMmFXaldsdVJBcGVzS25IYVlNS2FSdlZNc2VLSmJJeXN4WXZxOGxSaUNwQzJsdXB4cndMR2hlN2ZiVG1tMGpyazBiUHNGcmRtZWZONERjTVZWZzdkdTZzVlROSStVa2kyTmx5NGFzMEVSeGZRVXhWZksrdFVnME1WS1Z2RnJJZFBqaW5SSzVTQjBSVVg2UDdFMnFDUXVweDFiUDhYd2ZXaFM2YkFxa3QwbE82c2RpWXNFZ1hNaERadTJWeWZGMFNPUm96RTZReVBuSGpMdFM0dmVYcFpwWmdpYU9iSXdaTGVrcUx6czJOQi90am91K0kzU01HZ21hWk9ycW5tVlM1amwwRHNoTDVxcDBHaTdJRzBweUZSNkI1d3B6Y0FVcldNdURZT0MxaXhvT2FDU2N1ZGlRc2xHNU9Ha01SdVVlSUV1bWNxdkJvRXVWcktnRmliWEE5QXcxZ2FWbG1Pa29aenlYakZWaWQxbU1yU0tTYm13Y3BhR3lDQ2RyRERqWXpwRGswTkRlUXB1WHVtZElTV01QUmNJeFdpSVpLU240MHBJSFQ0TlRhZFVXc1BaVkFvNUdxdlhVY08rRmd4aFEybWVNZk41cUxPZDJVdVRrYmFVQmpwWFVUU00xakdYaG0yL1UxcTNNeGc1b0xyUzZxbk1LQ2FVYkVRZVRocXpRV2tvTzZWZFg5YXZCb0V1VnJKeURPNllOWlNya1F0K1Jzb1hhNE1xNGhqWERXV2pXNCtVMVFiTmVjTUpHNXA3QjBhQk5aUThkMi94Skttb05uNlpqbEZpV0NjSk5yNFlJVHlrRlp0aFhEYVBobTd5ekNZUDdqNE5qZDJUVXdqTHFTQnlOMnBhcWh5ZEZXV2ZWMEhHSlMzVmNTVk5VOG4rYnBhYkxoNm9ienFQZE5CR20xUEhXSEJhT0tJdGw0WW9hUHBDVkd2bStzSEVOQk45Y09aaVFzdnRKNkV4RzVSNFV0ZXNMK3RYZzBBWEsxa1U3andhNmdyNnVTV1ZiQnRVRWpPQ3pOOEhhWWJzbFcydjJ5T1Bzc0Ridi8rcm5LR2hISEV0cHdyd1JGYVNaRzRwRFlsYncxTGRQU3c4SkNUUlYreTVJQ1ptRFZHemdSWXMwSXBwZ1pHN2VUaW9DYkNvb1RJd1p1dWd6cnd1VThOZmp0T0JwQzNwQU84WEZtSFdDNkNOTnFlT3NlQm9IUjBOeS9NNkQ5dE4zOG5RY0VVSnhEVHJsUFkzRnhOYWJpdXM3elJtZzdZeCtWN2U5bVg5YWhEb1lpV0x3aDJsWWMyYWV6ODN1YmE3RXJSQkpkRTZ2ajJsTFlBU2xOSjRwMTVhZTkwc1JscUw4ZWg0YURsRFEyUkFqUklRUjF0dW9oVzdLNFoxZ2piL25KR1lHWXlHY2d6aThvZzc4TUJ0SmhEWTBodGZFRWliQ1hJM1kwQzB4ZWR3Wmc2U21ENWVTTWUzU0VlMG1KeElXNHJramFhNDdBWFRSaHZGUXkzZnUwZGhwMmlpZGN5bElab2ZCcmJ1UWozWGxDY25ReWVvNXJMaW1OQnlFM2s0YVF3eTdycFliL2xlaDhwcXJEb0JBbDJzWkZHNG96U3MyTUd2VTYwZGtUYW9JcmJDbmx5UWJvamVobnZaQjVsTU5zVnJxaytqZjcwV1JQVDBsak0wUkFoOTltZ2pUNkVGcDZESDI1ZDhZeTJabkdZVURVZG1wVGYyWEJBY3M0YnlyZHVWYWZJdm40YUFRdlhaNm5aUXFoSnV1UzRueGhTM2t3dHFMYitPWFZMVDl1MkNwNm9YK0dsR3BDM1JZT05HN0xZWFRCc3Q5RG0ra2MwaHNhcEg2NWhMUTJnZ0l3WkpCNFZwSHFpMGdIbVkwSEpUK1I0MFRHcDIyNEJMSUt1aGl5S0RDSFF4S0tKd1Iybll5QmtZUk5xZ0tzcWMxMUpkNlk3QzBZNjl5bVhHWmZHUlpLcjU0K0ZyZTU4eWxiMG5EZUZ3MWhodGVjKzBaYXNxMXI3d01uVkQxaGxGd3czVk5LT3ljUm9pSjZmQ1poWGNmUm9DaWx0U0FQZVZWQkRQY3NuNEtoalJqYW9CcXp6NWU4bWFRUFF3TFNQVFpLUXRwWUhPaGJMTk80OTAwT1pNMng3cFdHYXY5Y1VBQUNBQVNVUkJWTWVxSHExakxnMHhJcjJUNW9xMmJ6cnRNYzJwbkhMbFlVTEw3U2VoTVJ2ZUM3Rk1Yak02amF6R3ZFdU92b1lkVnNlZ2lNSWRwV0VycDIwanU3QU5xc3diZGpiQ0ZlWElITFcwemw2ZWp5bkxjQW1mekYzMXd2ZnhBR0x5d29Vd09wZitSOUh3UUplOUdacm95MWl5ZDlQa0JUUlhjTkxob0RSRWY1clM2Wk9SZXZnMHJOdGwzWlI0S0FGcWROVVVwQUZlNjEzNUd5QmU2d1VUTE10S2xQKzZjdmVtWWFhVFFSc3RUUHRpcXRxTmI2TmtpZFV4bDRabzMwNmIycVpnakhoVXN5bUJ1YzNsWUVMTDdhZWdNUnNlRGJmTTJyR1duM3dGN3MyMHl1cFlzS1ZoRElvbzNGRWFJalY1N1V5cTcwV3FUTnVaTnFpQ08rampITThsMzBPM0lsbVhhcXFYZ0NwblgvUVJjUmRVRG1tNEU5SjhBK1JvMkdhbTBzVmFBVnFNRzlqSkZJUFFFRTJIVkswMjZ3cnBIT0JLK3RLUVdXN0tLRHc5REYvdFZVM2ZCek5vTE8wMUdZRzNkTGV6SUYzeXFuaGRUUDJSdVgxb1dNUGdrbDYwMGVMTlpmRUJveHh4WWpBbHNUckN6T2tKMGNxNnpzSk8wY2dYMDZyTEZkVTByUzZxMmNrcFJ4NG10TngrQ2hxREo5aE5ZekVTSk1NVTlUMDFDS1FNZ0xtek5JeENFWU03U2tQYWlQRE0wdGw1WkJlMFFWVzY0L3N5bSt5VnI2UUlPZGVvYVo4Vk96L2hZclRqazQ5Mmd4RHRMZE9HalNDSmhHa01SbDQrZlcrR0ptb05hZnZyREVoRDVQU2NLK1NJWTdVTFVxTVFNLzJDUUR4eTdVR1owM1I0RVRrUnRKL242MTJaSGkxbHZyb3RYZkxhU25ramRhcXdmV2pZZEQxZEplMTFTa25iUTQ2OWFSaXJJN0xXemJ5NnJKVTdHczdSaDRGU3IrbjRQbWlZaHdrbG0xWm1mMm1NVDBQLzNhNzJ4NlBLNmZzUTc3Z0lEVk1vWW5CSGFTaGZPMm5qbTd0bGl5WmZ0RUViVkZIaHgyT2QvTkFkYUUra3BHbDJGZk5DM3ZGV21sdzgxbjVTMkZ3b0hDRU44ZUFEUVJEc2FmSk9ScHBZSzVDTFMxWXZ3RndaeEJxaU9ibzJuRnpNenFJb0dxWXIvR2dyeGdnMlNUb0E1RXdqMnVKdHJSRXQ2YTFwSlREbVN0KzA0enFqZldqWVNiV3FhdEpHaXl5WFROMW5TQlZpTU1ucGpFd2RVVGlOZWEycjFUZ2FvclZiemVwUnJlcjRxR1lkNVg1ek1LSGxkckxLUVdNQWJaZkV0dW1FVFBNcVlsQ05GRTYwR1V2REtCUXh1T00wUkw1TExsL3kvYWRzRzFSU2RmdGVjbW1PeW9FM2o0ZVF5UmZsN0NwbjJGeE1QSkFpVTFzbVVONkFNS1dkWk5NOGlaWk9CUDMvN2IxN2RHVFhXU2Q2MUM5MXRaNTNJSTloYnBDR3dJeHB5SkxXalNHT1NWSUNQd2pKdXBTR3VCdWJFRXFKM1kwSkpLWExZK1lTSUNVU095dGp1SlRBc2ZNd3NSUzNBNDZHcEVRSVlaZ0ZWR1VZd3VDN1dLVUVrcERFUkpva21CQXVxenEySkxmYmozMS8zMzd2VS90VTZWRjZ0UFNkUCtyc3g3ZS8vZTNmK1g3N2RSNFZVaUxtQlRSS0w2bUNQYXVDWm5EbEdZckdaSkdNN3MzMmRkYnBxRTlZcEVKMHFIOG5VV0g3UzFkLzJzUUtObnl2TjhsY3RxbVFLOW5XRmNTcXQrd29lcy9yTk5Uc0Nxb2ROVTBWN3R5d25xYlNLcDRHdE4wMHBvWWFUYUY0MDJOdExPa2xrZkZzaXdodXh0cnBJTWhxN3VYSE5adDYxVGtERTkvdXNJQ2Ywd2k5QlU0M1lZVDcxV1d1MmFFWmQyWWREZU5RUk9DTzB4QXN0dk9hZnQvUGNkMURIeVJ6c0VDenptRE0yNlh6SEF5S1ZEVm52TUtNaWltWlBJck5wTkprRkJsMkRvZUdWZHkxdHRKVmg3SktHL0w2TExOQkR5Y3hGRHIrT3BsZm15ZnBVTmFhamd0clBCY1h4QkFFbmIvcFZwUGl1S29zK0NVYXFtK3F5d2RGVEFlQ1pMdFNLZmpkQ2t6WEdiV2dZWGppWjFRcnpwVlVDQ05uT3hvT09UN0lncUMxVmlEZDRVa1Z5ZDJHR2sxNjJIUXpCc2JhV0ZValpJOVoxanRFR3Jaem81NXJWS3VPYXpiMXFuTUdKcjdkWVFFL1p5U2tJVDRNWTZCTzdsVWhyeG5nanIxc1lFWUVpZ2pjNk53Tkl0UlZUMmxiS21ZNHdkTFE1MTNWVmVHc1JoT1hYR3hYUTNBbmM3SDhlc2RNVDFteTI0UitOblZZZGhzaHlDajQzVXh1RExPNGVwQ1BTQ05kZE03akVQVE95Z0o1ZXdFcTAwWHlhTFh6RVpXVjdMVEVRWjI2eWx4UnJDbHR5ZEZ3dTFZTEFQaFZJMXgyTzZKSjJZSUNuL0Q0NjB6MzdaQXJZRE95SE5QNk1KK3dBNCt1elQrZFRQWEdwdnVSTW5tRC90R25xODQxL0NxRmdTbUp0WEZFZWYxUjQrc09FWXd1azlxTU1XZEJYTE52THNKeFRBSzdneEorVHRPYlhwQVFESnpXd29VSkdVQXp6QlZxM3VweEpBb0Z1cmcwM0xUVnFEVlNWNjI1bTl6ai9oRWhiL3BiRW5NWDBoVENlZEF4MlV2ZGpTQXVpMjIrVng4YWRWRkdNU2l0ZU9rMldFRzVHUnR6Z2Z0OGZlL09RL21LeTlRaGRNTmg0cGliT3RBa2RsN0tvY2RURkhyUFk5SURlbFZ2a1pJZGxiSkpVblBzSnhYRE9obDlyUDRucHlyZWFtczlRTU9uOGpNeUhVZ1lyd1d0U3VKMVNqcnZwY29OMGtXVkRzM2pLaVIvUDJtR2xsenhGcFg4THJUZG1PRUptdUNSOEpLRHRQS1AvVlIydzNRazFmbXFrUDhJUnVtcHBzOHJXZHBaU3JjUlNUUElYZGJPNkNQeVhMRzJKQXRpeDJOVUJ2Q1RvZGxrcTNNVWs5QnV2NENmUS84SUUvd3ZDdjYzUjROOWora25ZZk1QeWZLRDR2LzFhQmlIb2hWdUdrTDFwU0Zuc0RPeWlxQi9jc0p4YXIwdXorcW54UWNwK2Fqcm1EelJuUTdtdm56aEdoaVBleXN2ZnVDUHc4cUE0WXhNUVVDMUlzeW52eUZMY1FrQ3B5L2NvZlF0ZkJ1T0MrK2d5SWRTQlJHRlRpL3g0UVVwZC9zQ0hoWlllS2lFSXV0M0xkVFZvcDMrY2JBUGt6eGNvamRXTUwzTWtQMkNVZkY3VnNXTFA2Q3FxT3FMOHhjQ0tsc1BvdUhKTlprRnlXa244QmxkN3B1RFZOb2duVlZDYU1Td0U2ZC9ZYm9rMWRTa1d3MHVYRTJOWDMvN3dvczhJVCtJRHQwQ20xUHRGcSs4OXJ1VUNKVFBVK2p1VlZwcmkxZDkyMUpXMDBtcXRZMVlBc0xMYzhWUjVCcFFOU0lEUmZFVUZlb3BtQUVsQTFRU0NvOFdURnJzdHZKQnp0Y3ZGQWlNMjY5OXdMWTRRU2YxNnlUZDUvNitKeS9XNjBqSjVWK1Bic091SlNKUWtGQUlkNzkxbktYRWN3WUkwb3VTc3IzOVJhdVNra01mcEJRY0o5ck9YNVJNOTM5aG9UMVM4eWY0L1lxczhHallhVnNqMEpkZXNoRWRvSGxCNmxoTDBWdEpsbXhmaFhqWkZQbUd2TG1oWXRQSXdIK0tpVGYrMlZYaXpSSjFPYlJreURhTWltZWRDb2s5dkswbzFqL3crVTk5ekE0cDJsWjlJaG9tMVV2RHljREhVejNHbzBMODdsOTk3Zy8xM3hhYVVnTm1tTUpHazEyS3lNekJrbGo5L2M5L3JxcjRBM2owa2JrKzlQaE42MkIxbUFseVRhejlJdjU1c0RRamFVaWlaU09TaGluYVJqRG1WLy8rVVhtRndIZDFhRVJnNk9WZmZ2OHZGZFVmRE1MMnNoRm8xV3lhcmM5cFRGcnROZ1dDbkx5cHdPKzRvT3ZWTDNqL1c5eXdSWmZxOFhyU1gxMWI4bW1Jb1MwTkJWVVN3azF6T25VTTAzeFhIWHJhK2h4NDBRdmUvMjhLbDJhTmNmSWMrS0RPYWRpNWJDQzZ3NUUrc1g3K0RQMFA5dG56cms5U2RRNlp2dnBFMWpnZCtkUHROQTNYYi85STJIVFRucXJmTVpWaEJQMFhkNG04NEx6NlIyczFMajFmd3ZrWTZSZ3MzTGFDVTRac3c2Z2dHcEtLTTJkTDJ1bFFVbXI1WVZOM2VKWTB4UFUvaDVIcjVXRVdHRWhIS3JWZys2dTgzNWVnYUY5UnlzcytIdE1iUXZZRy9NTjRKZzN6YmxJN29Ob05EQXdOOFdlNDRseVIvbTY4S3JXQ2hxYU5MVEFST2xMSWF5UDljNjZlTmJjZ29nMTlmRW0zdDUzbUVKSWtoVW1yM1VZK3lNbXZuNk1yZkxiazAxRHJ1bFEzUlZRenpvcTFGWHFyeW5sSUt4U3lSQUIzcjNVYzBOQUFaVmFQWDVYZ3JLNjRpaWdVK0tET3Fva0pIZG9ucDRhWk55N3Z4RGpkM0dCcjMvM0NHOWQrSTg3a2plT1UrOHFONjlkbFRRMGxEWk9lYnkrZHUyczRyZktMVjBkU256dHB4RDU3aXducDg4QWZvS0xvNko4U1ZORVJNUlZOMTRrL2QyZnB0cGNnL0RzMzNmVmQvK3V2MjBraXI3V051YS9kdVBheWpGSms2TTE2MHA0aGtwVWN4U1JMdUVNNmROMzJmY0hWSmNOK2JKcG1xaDROa3lRT3hjYmh2aDhWL1I5TEtXdGlQbGhwWFdlbFN1MXlkTVJNdnBwbWc3NmJCaFJYdXFsdE83b1VEYmVqWWN0bFQyUVBsRnZXZVVBS3BtaTRJNjJLK0NCbWMwR3ZzQ1AxYmtwcDAyeGtWZHYzMlp0U2FvVDEwMTRtdXBmblBhVGhrYXpwL2w3aXNUL3EzZ1VheG55d3oxdW83ZzhnbW1ZdVdxUVZ6SGQwMXlqekphWHVhdDJTdGoya0lmcmVMWmw4Q0FydEFnMWpQdWorNm51L1lGeld1OW53bFJVOHd0VmRzK2FlNmE2K2JXamJReG9tZWY4R3lUYmFjUENLN2dJTll6NjR2TjkyYVBDUWdkcmh3KzBWN0NHYi9ic3VYZkRhUkpjVWJWL05YdEp3LzEzMTdlUFpIUTI3UU1PWUQxYURuZHp1TkdWN1dvYjBhSGlDWms1OVp2Ti9lenB0NlJJMncvYkpzWmMwUEJWc0IrNFRRUGFGR2J0QXc0Z1A1bHJ2aE84MUdxZlVvd2Q0Q3c0M3FZODkyUjF6M25mK3BhU29ON3p2M1IzZFc5U3lselRjaDVkOWl5aDJ1OWdPMHJDTkR4N1pmOTNpZ09vWjhEQUludVJzWUplbUcwZEJQUzl0UCtIU0RaM2IxTEdYTk1TVG5QVnRtbjlBaSs4Z0RkdjQ0Sng3bm1MZjRGcWplZkpBNGZ0cE5Ld2cySVVETGk4M0pjcFRYVkRXSlJXd3lUM1AzU1dkRzFaemZCOWU5dzBidjVPQ2VITDM2WjNSMzg0SHgvYmJYVU5BY0ZUOFRKS3JQWTd0dkdIOWw3YmJ4Z1hiUGZJWitOTGl0bFYxVFFFZXVFdzlrOVkxMVowVjlmQU4vRGhJd2R2MWNaRXRwcmJ4d1FGemoyNkxxbmVtV0UyOHBvQVhkVTZKU3dYMS9zbTJxNkhuYjZmeEZaZlk2NDNiVnI1RkJiZ3Mvc3VnVzlTeTFXTFZmYlJLM21vYmRxSWNYaXl3ais1MlYzOGJIenkyNzI1WFVOTnpIeXU5QnFSSnZxbjBJMTFDQXZjZ2lZSGxOM1ZKWHpmVUhFUFhzTlFOUlZ2U2NWeTlqckdsc2dlNTBESmVVNTdka1FhMjhjR21lZXQ0UnlyZVIwcXI2M2o1c0hmLzNKd1pYSGdRTEJScjF6NndSeUFON05RU2FJL2EwNVZxanl4OEQxMlYxV3MvMGhWMUtTV1pQcGc3TkN1RVkrdlRTWC9ldkgrU3dtY1BvdTZsd0Qyb1hGWlpOcStlNzVVQis3RGVJU0loSFpkMndyaE1IenhwMzkzZmlXcjNsYzR4dk5lblhuWGZGMmFwbHdMcFBiaTlNcWR2WDY1SDlnb05WZStRZkZVVFYyVkhhSWk3UkhFZnJPN2RWdDF1NHoxd2xWcHY3bmE5KzdlK3NUM2NJTnEvcU95a1pSaysyQ2RtZHJKVzFyMnZFVGdpUnZlMWZZZkd1REwzaDRmbVdrY2FXdHVobmZsSVZaeVVqVUEvNzFsbmczTUljbnI1Z2JiOWNKWG51dnoyd241b0U5dXdDUVMrc0hlM0xUZGg1VUVYdlp1dndrRy94Tncr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9Lc0kvTUp3cTdxQk43ZW1jUW9qd0Fqc0ZBS24xcGNpcW9zemtVUk9ZZ1FZZ1oxQklQOTBUTzg5cTdPeFpFNWpCQmlCSFVEZ3BJak1TWk5rb0hUTERsVEdLaG1CUTRyQS9YZXUvVnFia2Ezd2JCeVh4bHFiUXZFaU52WGRWNTBWNTE3MUx6Wit4UVVHL210eDdSVlhuTlZzOFA1Rm9FK0lzK0t4VFB1T2l0RjRYcStZaUdkMFR2MnFVTWNibHpyTDdrdUpub3BZUHl0K2VsL2F4a1pka1FoVXhFcHlmMms4eS9heFM1azVqMmZsdEUvUFZZVzQ5WmMvLzVmZkljVHFjSHZSL1pwYkZVL045aGV6T3FqOWFqWGJ0WDhST0Ntd0EvUHo0aHNaRnZhSUp6TnlrdU5pTVN1cmJmcVlFTDh1QmU0REQrdHRSYnVkK2ZOcm85MVFlWS9BaEh4T2lHZTZvZXdLMDlGYitKRXJ6T0lyd3R5cUdFK09DSkUxc3QyTHNUTGpHQ0FDYi81NHJoRGZyMHU5VDdTWkRXOWVjOGNTcDRSWTZ5alVXU0JYRkQrVkpEVWhudW9zZStBa01KV1pQSENOMnZNRzlRc3huWXdJa1RYMUxLeG1tMWpiaWsrRENtNGgra2toWHBldHYrczVhR2MzSnBKb0FpYlQ4RWZYa0s2YnVsOFY5Z0RDUTlqc25iNGN4NFNZVFNxWjBBNm1KbDY1L0g5d0ZwM1lnay9uVU5lMFZZRnhKWDQ3eEVwME5RRG1kS01yYjhoT3F5bkVzMTIxN29wUWhpNm9Lek1LdjdHQlUva1poeWZjSUZCQmhveTE0WnlZRDdBNExvU0xEMjVoVm5xUENBcWRGT0lKcDNBSFFnWEgrWVM2RzNGeCs1VlVwTTJBWW5MN3V2YUhoZ0NsdEVuSC9DdUVDK2E3UUZwMlMvSEFxYmFrNFlvdmxCZVhreVF2c0VDTUhubU1sZjVScHNIVEhzVTJNMVlyRkFUU3cxK3U1QStPZ1doM0lzVnBUdytOaGhOZWZHdkJuT0p5N250ZjQwR3hOVlg3cFZTQVV0cW80ejROYVRUYzlGVlBhMHpGUTZkS1pSNk9xQnlON2lFdXhvNytkRVlsbUpHVXZmbGxySGhyR3ViQTRiNUdJeHdkVzB0c002WGswM0FaUHJTeVRZVkowdHNOTG0vYmlxNHFDRkJLYXo3aDAzQUFFSFo3TGg0NlZicjZ3eERIaXB0MjNaK1gwYStmVE4rdUVBRXZqNHVwVFlLVVQ3c3dIaDZJUGptK1NiMlo0a0ZITVppOUk1eXBvRFVESm8rM3BsN1JLUUZLNlpZTStUUk1tdDF2ZmVoVTZlb1BReHkzS2k2MmFXY2p0VFRFdnFwL1RmcFNRMXNiVFNvTFBCQkxvVlFoVGN3d2U1dXhnZERCSG43NzlEWVZvamptWmZQYjE3S2ZOS1JRU3BtMjdGL3lwUCtobDZUeXR4dE5PZFYyMVYySjVURkpuR2xqZDBYVWcxd01CUDdkL0p4WUQ3STdScFpiaHlQTVNzTnBha2NsbXhFWURHbTRtYUtac3RpbEdNM012Q0l6MnFQVURHalkvUWFtbktyN0ZleC9qVU50WFNvWHJBVFJHbmpncE4rby9DYTl2Tkw2NUFsdHZhVUdTTCtHYllhUGJ0TEFqVlFIaXhjM0luZmx5TFJIS2IvRE5FdzcxWldEVzljc3hmRFVacHJXbDc1VEM5Yk8rM1dQYkc3amtlNzl6dmpsRVk2bHBVUzJFVDNScm5sYjFIdndhTmdlcGRJTzB6RHRWRnU4TEZkeXNXYmJvZWk0M0wveDJ0ZElzWFlvTGVESlJvSzRRZFI2dDc2VWVkTXlvbUd6U1NOTXd3MUExaGFsbm1BN1lBUGFOaXVTZHFyTmxqOEE4dFcyOTJJYjZjR3VGdHcycEVucXBoNXNLb09HTGFDTlpUOUoxeUs3NllRSzAzQURtTFZGNmVSTzB6RHRWQnN3K0tDSkZOcmVpNjJtOXlMU2QzZ0cwNHZIOXZnVVduZG9FbnFnTmJVUjFGN0pabkt4Q2RkbXpyMFpUWjdzZ1p1VXRrZXBzZE0wVER1VkIvVmhDYmEvWmRNeWhTd0Z0dzN4Sll4Tk1RaVhPM0xyZHdpcDh6dUVOMmJCVE1PTzJMWkhxYmpUTkV3N1ZVZDdENXdBaU5IbWtRanNub1F0aG5ocXVWN2N6S1loYmxKRzFwSVlYRGI5RkVCb1ZuWXN6elRNQnNmbXRFWHBhTXMxdCtXNkUyaDFxdTdvdllLMDRIWjZtM2NHajZSbnJLMTNlUEl0TzU5dFduOENoTHZZa2sva3pIaXd2RVYya3dsd29lMk1oajNmZnRPSEl6VWV0RWxwZTVUQTBWVFhHNEZrTzBtdFRyVWRiVmRrV1R3UTBzb0wyNUpqNlEwWU9PQ2t6WldCWnJ2eW9XaVNMSU1WRStsRWVrUlRUWFhmLzVmLy9NSTdpblU4dFBsZzZkemJjQTZPKzY4dTNXWVNjNTk2NjMrNzVrYVkwdi9CODIrYk5XSTlWNTFkdi9sUFRRem4zaUpVVDl1RTNDZmVldnFhcytNeS9zaTNmdlNoRzM2U1pEN1lVdGVYN2l5dHZRSmFCMUY4dlc2TDI0Q2xZZHlNeExkVUYrcDU2T3phcnkxUnBGQ24zMGVlOTlFTGQ1NmpVREx3aVYrQ1ZaTXlMSDl5WDdseC9aWGZyZU1Ebi9qbjAzZWNuVWJzTFdpY1NkV1p1YS9jS1c3N3lLeU9iZkRVQ2FXVW1sOEFoQjROZi90NVg3NXc1NjFTSmpEdHBuK3J5dlcwWHJxZ1BTbnRGRzExcW9qUXdVMDZVZ0xDNnNoNFpIN0l1d0JIbmJUdm00Mk0wZlNycTR1dHlEVlIyM3hMTXEwWTVmdkRlV2xNUGJsUFZyVVdLbmkrRU9kS1FpZFMvMDA5QWw1ZVBDK0lUSFNnUGV0RklYNUN4ZURmWDBmTUhIV2swbUNzSDRnazZrdjM2aXRCZzFnalB6ZkgvNVI1ajgvbUNwZUg3Mm5wTmtaa3J2eXBSODFJQWt1VjByK1I4cGRCbUg2NUc2V3FWeTlOSzRWVHB2WkVmVzFLdkZZbGxHVkptUGR4c1E1WWZ0U0tJZEJia1ptWDZwVFlQSC9tK3V0dk9GdVNYMUhvV1Q5MzAvVTNuUGNmZUNJWk9qcWlwTVQwNzVjK0tLdVFQM0xhSkMrTitsSkRXYWFHcHFIbkFwenJQcHhoZXdMdFNZWlRoVUlIUEVZMzhjd1JiK3FJeDdFaEkwcm5ZU3MvRkY5YndrRWpyL1BuVVhUVUZqVUJ2RGVrYm9OUU5yWjhlc1hxSC8zOXZ3R24vSXY1ZDBLOEtNazlLdGJxVk16NC95ZFhmeEY5cVV4S2VrdVA0NE9MbnhhV2x2VDhxajFJSmtMRGdjSWI2alJvZXA4QWdlNlh6ZjUyWGp6MVhOQ21LZEt1UEdKVkNrdEQzNHdrdEJUVkpnbSs5Ykg2Ly8zMno0blhrK1YxSkxTaDRVQkZQTGFFVDNTSkg2ZVNTVmxXTjUzODdUcEdRb3hNNHpKVi92UmpsL3RQM3Z1NWo0bExzNGczdFYyS2hpcVN0aDFpblZGeUZYaGFTVjhXRFQzVGNwWEw5YVNuNEYvN1ZIc0M3VW1HVTRWQ0J6eldjM3BoSVMvRVhRc0xDMzhTYitxWU4rTWNoUFJDUVFqOEx2eDdKMzdjOTJDWFhNWmxXM0ZSSFNwR1V4T2tTbUwvN0FJSjFLdVAxeUVQRW5sRVJ1eWxwS1NxeHVmZTA5OEx5Y2xjYVRFWk0vUGNNUnBza3VROWRzRHRnYVVWMWI2RkJjcnJPNDJvY3VTQjAxY2orRVR5V1ZrSUQ5Yk9VMWs2Qm9yaVozQ2lJWG82Z2ZablpLcjcrY0xDd3U4SThVYUNZVFptUnNwU0tnalNyZFp4dmh1dG5KTTBIRGo5RVBTcjBmRFRoS3FZUXI0OG11SnhzaFdyQlZTUGJ1VUM1VTRQbEQ1RXNZS2F2Vk9Rc0ZEZnRidFB2QW14YjNtb0NFRngrMGNvcS84ZEZMNGt5MURjSFoxUmNySUlmY3ZDQWl5OVJLMWRrTm8rU29hclRpdGltb0x6cE45YnBOb1RhRThHVDBNdkdvaGYzNmxDb1VNUUd6RmpTYlN0bGZSS3NQVU96OUg0dzkzazd6TXRPcEhvRGFRMnU0VGtGUmtiS0FyeGZMMmErNlFRUDJSRmFucVZhcnd6U2ZCaHFjbVRXTFNneEVVU3MwOG41LzE5cGFiMlpxMG9sM2NlOHJlZ1lVNjlaNGZ4V0hiMUpIV3ZmdTlxUktwcGVYNkJST0JtTTNTbUkyMUcwbW9wOVJUelVyajJOTExyTXBpOHk5QXdvYW0xcFNIMkswYWxnTzV3MEM4VTBJWjcxZkpzenJ0Y3p0bmZ0VTdFVFhwSzN0MG5ORFNZd0VxZEcwUkp5OW9pM3RJRWFYY2JHcmFZTnB3cnJWQWh3R20zM0ZyYlF4TEIwZXBVUWZaaGlOVFN0eVNDUnBlY3U2bDA3enByUWZBaUtLSWpSZEd5bVlPcmhzUVlEVWw0VkJXc0NWR2l3UWdIeGlQN1dYRFVNcTVTQzJaNE9vSUttcU5KQXQrVGM2L2xWYjA1ZzduMnZKTEZiek9rSVFZam80ajBQM0ZNdTB2ZVBZVlExTE5zekUxUlpmOTNXVlV1NE5Nd2JVYkVVbWpTanhvZFdaOHRHaHJpWnBBYURhRjMyZEd3YW1ZWEdLR1hWSlVOdEtFd0xNTlFOV25zS0JqSi91L1ZiU3A3cjc4YzkrY1NwZ2hxMmhCS1RoNGhETytxRDlDcElKbWR3cWRNTTEvTHlMdStPZEtlUURzaXJVNlZsamp3Y2MvL0ltMzFIWnF5eVhOVFl1anR0TGNFR1huaGpSZ21oeVo2eGd0TkdwMExTQjVYQ1dWUEF1RUpsWW9Wa25IWmhobnJNTk83aFJMejJqT3JobkR3YjJkazA2UnFSU2RzVFhUNW55Z3ZxdlFSMndxMFowcW13VmpicGV2QzV1VFRNRzFHeE5JeFYyZmxBdzRBajRaRHBsS2F2MnFlb2Y0SlZTRnkvOU5US29pMm1VbXlZeVJ3a2gxUkF1YmFRZjJJMFdPTVZ1ZXF3YU10U2tHWk5BM1I4VmthcGt5amJwRU9XRlNYZ1doN1ZJNzlqVGlWelRzc2dXQnpJdDFvakY3YVRYVU9mRlJkY0NjSnZ4bDJNUnVDWDdlbTQ5TGI2Mk1sRVNnZ2VVWWxOTHpIQ2R3b0FrTU1zMENCRlNrS1phK2x4R1ZkVWNuYTVqK2YxelJ1cDlUakM4ZUc4RVREWjlVdGd5U1pzeTFGYUY3SllsdFdGMHFmZkJxbXpJaFlDb1RzUzVuTGF3NEFqNGJvSEtaVUpXak50SzZ1b29kbDJzZDRWSE1USTVFbUpJM3pkU1ZaTk9pZ3BzdTZjTklYN1IzdDNJRkFkOXZqYVpTTUVubHVvYUhuTTZGcGozbHdqaW9kc2ZZRTJyRml0eGN1bFhGNG90NWxqVFFhTHJZU0pNUC90RC9ZWlBSbG9ZektBYmF0ejN6RFRleW9ZeFVnVUVEeWpFcG8ySkNhd3lxS281czM5VUtIQ3FMaU0xTW9OUERneTJSUjZIaFc2YWg1bGFRZERKckdsUlJOWjljTXVlRk84eW9aQlZaVUtPK3BVU25tMTZkaHlveUlwWE9HSlNpT0thc2hEM29CUzNOMERsTktlY0VsMm5FVkpDMU82N290MGNEM1N5b04xOUJ3cytSV0NFZnRpS1ZMcWhOa040QlNVS1NGaG5ZMkxQZWVQZE5zWHdrNE5jcXg5Z1RhRC8xdFEwSURSTXVhZVNFWEYyQTR3TXg1cTAyR080emFpQmQ0K0s2d0tHVkpHdFk5SVIwc3dEa21WTGhoaHlYRXF5YTU3S1dhaVJmOFA2Z1pVVDFRUU1lSzB0YTZOZ3hwYU1rTlQ1OVJSU3AyT0JyektqWHExRGxGUTkrTWlLVzJGU2dNdEN3TnZkSFcwaEFJbWRHT0JzRzZyQS9HV2NLV0RQbGdnN2x5MEttN0U1aThJb3NreVpDWnZPcTRQbTBNcGFCTUJ4cDZwcG0raE80TVRVZ2QwZllFMm1HcDdRSlRHWWNuMm41Q2dPMkhlb0JGdy9xb1M3WWRuMHZLQ29IMGFZMVN0SWprR1ZVSU5TemE0b2dvVnl0NHhTcDY0a1UwckZ0Ui8xT3JjOTUxYmFZc1R0RndWQ3NBRHlaVUVMYm8vcU9XMmJJMERldGFDMDZ0bGhMenBxMkFseCtqSWN4NzJzaWlsbmtaaGxQYm1VWFJUQ1ViWmxZZ1A3NnFPWWVXVCtqaVRSUFFjWDFDOHpSN0lUdHY4dElvbVhSNTdrQkR6elNyRUhCT3lyTFI5Z1Rha3dRdGNmaWs4ZzVKRk11dnFYUlQvK0VOSmdWVHFDVVRsdWRhNm0xRFNuUlhQaENOUlNRTmgxdHo0QnRtRW9OcnNtZ0ZjRFhsK2dYbDdPb0t1LzlxVFFNYXVrUVVLVnNxRDFsdEhVZERZNHoxR3pUSGtCdStPV0ZOQ1FJcEducG1SQ3dGeEo3QW1GVlBjMktqRmRWUHlmQ0lDU0NHVG5CQ0pvS0dadUJMaXFaUTNySG9zM1lNaEdHR3hYYXVLRlhZbjQyaFpNVXAwSUdHbm1tV1RtRGZsTlFSYlkvTWNUKzFpRk81M0VNUnd2V2ZTVFVVQTZSeFRualFiSkJiTVU3Z3BScG44Wkt5Z2pTQTJVdmxDWldRUEsvaURaK0djRVJwQUxvRHZRNkNVRm12ZjZETUpTTGQvZEhRa05lb1pxcENPTWk0cWtuZTZqRE4yeFlOUFRNaWxzS2F5NlpHZnc4eFNzT3Faem9tZEJkbFFkRHdTYVBCMGhEUXJKakVyNXRIVGRFTDZMcjZQZW9iTVRwdkRDVy9SQ2NhZXFiWlR0dlNNTnFlUURzTjVyWTdTdVVjbWloOFpEVFZXRnowRlozVVFzUFlpMkZtL3BGU0U0M0NkN3pCem9wNHlRMWZnTmFTMDVDQ1NjNlRSL1I0QWhxNlJLdUtBbWpVakVsb3RxZWhFWE0wTE5wZXFPWXgxc2lwYzJvMDlNeUlXQXA3bjNYRmpmVklpWTJHSlNIbWpUQTRwWVkyS0ZWOFJJNmhJVUd6WkNUZEdlVm5aZXlvblN1NnpERFVEcVZBc3NObzZKbG03eUJiR2tiYkUyZ25IRHdBVTNtSEpOcEllU21hamN0anJpL2NUVjFValFZODMyd3RPbnhLZXY3aFVySkR1Q290dE5kMzlhZFZLUmkwYU12VHNtb2NzV1Z2NDRLV0VzTWtBV004OTdabEVFQUxaa3k4bVdwZ09CcmFJY1BSc0dJTGpNVnNsWHBUTlBUTWlGaGFkYmY2VUxqUmRsSktEYmJOUndQVmhBODBuREx0TVRTa0xWZVQ1cDFycGcrZDA2dEZMeThWL2VNbm13QUFJQUJKUkVGVUhHcURVaURhZ1laVFJyam9MREkwakxmSEZGRG5xRk9GSWdjKzFuU2NNMjA5NWFnR05FMnFQRWMzZERaRHd3cWNoM2dWSHVqMnJSbHdVK3VIdE82VVMzMVk2ZWcvcDNtU2Nma2VlZXZwZkJzSEMybG9aME9nNFpReXFtd05xRHJHaFBZR0Q3T0Zaa1FzTFhwaldTY2F3dVBkcEIwM0lsU3JRY05KWTBGUkx6UmhzTzFEVEI3T2MwYTBOdU9sdGdZN29CUVU2RURERnROUUdDaGZKQjN4OWdUYStiWWg0SUNyaGFBZzVyNmpuNlloUmdFTHVpMVdkRE1tbTVZVkdJT2J0V3FnaTJWOHFtRlpRRHFLNm5MV2hGaDdwemtLdXNPSC85dmRBVlBmd05lUlM4ZU1TV2w2ZmsxcEhXazRaQXViZ2Nlb2N1ZlVhT2laVVd1MUZOWjRUVzQ0YmtjbXBlam54TTJtb1hlWTRUNUdRNWhwK3hCbkdON2YwQlBaNHJTWG1ncDJSaWtvc0EwYXh0c1RhRC9zYnh0S01QeEhLVUowS0phbUlmeGh2a1ZxTTZQaENOenNZb3NHbW1DWm04MXcwMFVuVUZEaVl4RHdqdlU2U1VSb09BajVXLy9vQlVPV1NaMTJTcTBudTlFUW5xTXN4SVRLNDVlekNhRnNHa1lzaGVFVHJuU2pMUTFwVDhvLzFOTzFHVFIwRDhFNDlaaFlTQ1I3VExmbXNteG9BeWhaV1Fwc2c0Yng5Z1RhYWVFL0g2WWN2bGptTm9lRUF1NDI2Mk95bkJwYVpGN0o3K3g5NlVnWUJORzl0WjhKdHR0bEh0elVvMkZGcmF2eXNWS2dvZHJCc0tyd1Z0L2FueUtHV21aTVlqTmxjc2ZSRUNQd1U3SXdPb2R4b3lWMVR0SFFNNlBWVWxvZXpianlhRjlkeHlLaklRWXptKzNLeEdpNG5Ob25OdEpGZGNuYTdOQnNCQ1dqVFo2M1FjTjRld0x0dFBDZkRsTU9YUXcrNHUwdnREUWZLQVkwaEU4SGNWbGdNelNreTZLYzNLOEx0QkZtMnh0dXV1anlLcHVoSWNheFZYbEJvVy9HNkdpbUxuSm5Hb1l2T2hrOXdYa2YwN0NtOE12ZW9ka1FTa0ZyZDVpR3VFS3RUaFVZY09BajJQYjJ1dktXNXFacG1JK3RSNEk1VjR1S01JRzIyYjI3YkRwekJLa3pPdHdJYUZpd2s5SldNOU9qSWIyV055cTFERGwxTFM4NmRhWWhiTHdGYW5CeWJ6dHE0OHdwbTRaanJZQ2ljUk9tWUtjdEdwckUxWjJ3RHNWR1E3UXhOaWxONXRSS3REYlRva1VsYkF5bG9QQTJhQmh2VDZBOWlUcFZLSExRWTREcFlwczJZbDYyNUdkSDcvQjRQdS9MeHNNbCtGbExUaFdKY2hoRFRpT2dZVkhaVjRzdDA5STB4TE1rZWkwSEY1MHhsVFNkYXBuVW1ZWW5IcWZQYmZ3bVBrVmhkTFNjczJrWXNSU05tM1FhMEw2NmprVW1wYlNsTWV5RWRTaURoblpoNnhkQXowa29sRnExS0ttTm9lUnIzTTdhTU42ZVFEdmZOdXo0Y0R0WTZsOU9UR0hkZlFPREpiYlZ4MDI0OHhsdWFoOE9zTklsYjljUGJycG9NOHdOaTNKczdweWlJZjE1dHpaMktFTERJNXBVbldsWUcvMmZNQkpiSFV2T2psUW9tNFlSUzR0Q1RMbnlhRjlkeHlJMHBObkNpaFBXb1JnTk0yNVkwTVlWcGh1Wk96UWJSQ2t3d1k2R1k2TXFQWHpEWXRJSW0zc3BpQVBsaTVRY2I0OHBJTTlScHdva0RuNEVGM2k4VFN1QjRyU1hqZXZSZWxNWU1JNTZNaDJDYy9DemlaUU0zVGEwSzlTQWh0QXRkOUdXWXl2S0ZBMUJqYWUwNHUzUnNEU2JmUEZPY2U0VnN5a3p2V2cyRFNPVzV0M0NGeXJhMDVBYXZPaFZwSUl4R3RJcXUwV1FFb3EwMURwcG9FaUxiQkNsb05nMmFCaHZUMXA3cTFNRkVnYy9NcGUrNnZmZGVKdjNHU0Y0K29vSEFpNzlsSXoyemJ0VWtHakZ4VHFGYUphU1h1YVJSMDJhZ2dFTnFUT2xmZ0JkdjdtaFllVGtEUXRmRXdwTzZVeEZ3NTVoaWpaMVQ3TGgwVERyWVV5dFc1NnlhUml4dEd3bnkxUVdadGFsRHZkY0dxSWcycFJNTGNiNnhSZ05DWnE2TEpMNlFZTkhrN2tuVTZrbWl1cW5kSGhJemhuaUtCbHhlZDRHRGFsVEdBK1V0VVNpVHRVaWRiQVRSdXhFVHJXelQ5eGU4RmlGQ2Vlb0I0QWRPeHRUTGhYK0lQM2RwYlFONGJxa0diVXNQQlh3azBXcndEeXhoY2x4NjBJb05ScFdYRUhsWUkxSjB0UGNMQTM3V211eTlwaEFOZzBqbHM1NXJ5a2x5WWhqVDlFMUNoWlBTZVZqWG85a2FpT1N5clpRZ3BuNTBidStEaWdyS3Aram1Vckd4cjBVUDFoeHBWRG5ETHFGS0VwK0ViYzIzUHlrbEQ2R1pVMFBsTnBJMUtsczd1RUkxRktieFpYWDQvVWE3NloxZUdkMTJReDhsVkVIRDhhM0pSZnJHSUlicHZlbnF6NHpHODVQNUNBaE9VdHptMW1uK3M5bE9LUWhpUmc3NXRvNFdNZTE0YW40WE0vVmpsQTJEU09XUXRoamR0blJzT0RTbHcwTkVmQUdzdjZYeW1wak5LUVhHMmVjVVE5YmVOQjFQWkc1UTdOUmxKeGloTFl6R2tiYkUyaUh4SXBNOEowcWtEajRrYng5aUV5MjlkaWxXYndmN2oyQVVRd1djbVh0NlFQVzRWRUtsMzB6T0dHNFNFMVRRQ2Z4VTFZRmFEaHFJeU5tTVpvMzEwcG1xYStVaFRTa0JhWXBCeDB6cHA4djY5SHdxRjR0ZGFUaFViOXhSbVBxbkUzRHBOVlNhcC9wSU9pN3AzWXVXWEUwYkJvYVlvcG1sOG5ZNlZBOVlwU0dJOEVtZDNIWW1JanFMdlY2dkRmcDhyeFJsSUpDbU8rb25ibjhva3JmK0JZTlBWelgycDVBT3k2UVJDZHdxa0RpNEVlSzRwTGZ5UHlNL01ha2M1cUtYVW1RV0ZVejlLai9Zc3BKNTB5K3F1VGh1K3BCM0VRSzVxS2FCQ3luckdmS3RkTzh5Y0diYVBvNXAyVi9idE92K0JiU0VGMjI3VDVxSGcwYm1zRG0wMzBkYVhncTFVdFlZN3hBR3hwR0xFVXJSbTNob211c1I4TzhvU0dHSzQ5Q2pZdXlYSlNHYUlqdVdTRFRZN3NnK2Y3LzM3a2NXN0VNYkJTbG9CU0FWbFFxVEt2MFRkQXcycDVBZTlTcEFvbURId21XTFVrUGZSWVV3QTNiaHRmOEtSSllvWloxRFcvZWhJV0xUMHBiRW5QVitIMjNlOEFYVk9PT2FzQkwwR2JDNU5FNG9rUXg1THFwOGtsbFJVaEQydnN4NVFvZURaYzFCNDQvclhJNzByQXZjbFBHS0Ribk5qU01XSW9tV2NCb09LcHJOV091NDBEcWxFb0ZHZzcreXJoTWpOSVF6YmY5VHVKLy82a3BSTjdXcDZzeXA0MmlaT1RsR1I2aExtV3hydEkzUVVONmQ2Q2xQWUgycUZNRkVnYytna3ZwdkJ2ZnF5Wlh4UlJreVRZOC9KK1lncjRjaFVVclFGc0NyZmNTa1QwQ3ozTDRlL0lESlVrU20wS082ZWxyZUtRRVpZeHUrd2tXbEd1b0RlN1FlSmh0N081WmxWUXV6MUFkY0dGNUh0S2UyWkdHY0xvWFVjRjJCMmc0WWZKRE0yZ1B4VDNkb2l5Rjc5dWV5aC82eTdiajZGdTNNMHdJZUtyVmxZalNrS2EzRnJlRzdtVElxQ0VnTVc2c1M1MDNpbEpZekh5R3lxelBOMFBEV0hzQzdWR25DaVFPZkFSekZML2ZsUHRyd1Zvdi9KK1l2Sm9HSFhGK0JvUWFRckVpQlZZZXpqQ1RTbE5SUE1maHo0UkgvTW1WbkpUYXdiTG1abk1vTktxMTVVb3FCUDU2ZlFqWVk3enkrT3ZrMkZLYnB3Sm96aFNkUnlicDE5R1N3dDU0QWsrZm9pUWNCZnh6MUptYnJyLys3US84aWtwby9RV1hKMHhxYUVhU1JDeXQrQ09nQzgrWnNUNjU5MVdXaHVpbDdDemlYaDBDc2FaTWRmaURIUjFFWDJESlYvUjRoeGFMdWhGUG5UZUtVbGhNenh0N3pIVFowQkpTb1dsMlBnTHlYVlE2WXUwSnRFZWRLcEE0OEJGY01lMmRzcW1sSlp5T2U3MDV0Z1Q5dXdzMVJjTXkvWEdKUFpyT1JXd2FBa1U0ZzYvYjVRMGdhOFpHcVg5ZXNURkp3OEtFaWlQTDFnNW5Od1BqTWQwTG9BL3hWdjlKM25ZcGxla2lFVlJ0NUJpVzVFZVZVdmlOVmsvL3RHRDlCc21tUTJvZ1dSK1hwbFdoOUs5SFd0cEg5TTJnVDA2bUxjVThYTzlCRGE3bkhVZXdmYUgxNXg4MmUxRnlHbUZxTlVETVdhZVdMMExQS25OeXVPR2hnMGR0ejRVc0RNK0dMMm03azQyaUZCWWNVUk1iKzlhRzl6aHIzRFJpcCttY1VUamRua0I3MUtrQ2lRTWZRYWMxN2pYeUh5azg1M3BqK2ppWTZYc3BhMWxtOVlTVHpYeWdnc1RrVVJFKzJVeXFQTVA5VnBkTVNrM0kvMDh5VWJxOS9RZDZzQ3k3RVRCSlBta2l1ZUl0U2hoL3hiSStiTXZSS0tTODhqMlBKV1U0b3RrdHJNaXhkOEJNcUZDZkdVTnAwM1pSSzBDeW1UaFNzam5XUjEwRlhxZ0o2VmtkVDVrUnN4U0w2bFVsM255NjVtZ0l2a3hJSmFjdW96L0VKclU4K3Uxd2VJOWgyWmliTU5EaWJsNEowbTBUM1NGVzFYdUpPcjBROWdzNlZaMDJpRkpReHR5ZldkWWRGZGt3ckNWU3BvM3FaTFRTOUtDUjlnVGFvMDRWU0J6NHlGQTRFc24ybHEyYklvcXVmY21oY0ZRT2xEWFQyYXVNVWpDWVdXRjRhandERW84NnQvb2Z1RjdhLzFUUkJxaFIrWEVLd3pXOW1uSUZjYWxPeVRYcG5JTUxWNk1Dc2Y3MmhSZFJJZzQ0dGZ4and6N01XZUdnYjZ6b0dkdTlrci8zeVBuZEZ4YmVRYVZ1dlhZNDZWOTRxRVFLN2xwWVNuVHk3UXUvSnpYVlNFWWZhM1daNVArOFR5bFpmZnNEaTBtckdkaHFEaTJsb3VoNEpGSHVYaCt1T1JyaTBRSkovVngrQW0wVnF3K29wb0RYdjA2Rit1U0xIc25EcXJyYkZ6NmNERmliNnlSQTJ4K0xkUDZMY0JMYTd2K1hONElTcVF3T1BJZ0srSExGVWFRYUcxNzhnU1RMdEJTY3FmWUVtaEdKT2xWYTZHREg0ZlAxZEF1clpsWXZNOXlNQXRGY1VVem5mbjQ5S0lMckd0RElxSVBuNlVITnBMaHpMbysvNUpXbC9oeEQyTERMUUFnbUxaNFN2NW9rWDhUckhMN213WkpZL2YzUGY2NnFCZ09vMTRjWjIraC9EY1ViLyt3cThXYkpCRHRTWWc1ODZRVmZLczFRTFNPbTBHSkNrMkYxREx0a1NmdmZLcGtjT3R2bEY1V1h4N0xObmlCKzZjT2FnZHZkZ2FXeXpIUHd6NlZ3Vy9HNnBPWkJqbUhsUjNHajl0OWRvaTRIaCs1MTBFdTkrZ1h2ZjRzZW5zc3lDei9mb0U1Ukg5TlNhMDlSckgvZzg1LzZtUGpQeWpMOWU4S09sMEd5aW13QXBkWlNueEhpVi8vK1VYazlyUTFQSlpoMDZDTTBEWmRRSFhxeUhyWW5yVDNtVkdtWkF4NXZ1c1dSYlduUnJwMG9LWnh5dm9mKzk5bDc1aFFDZmY1UzBpcEJJUHFuMjFwZ0lBK1MvdEZmZit2dmdJWEtvMnhKb21IeUhQbm4yYmN1MlZRSzlCWGx4WlVqQmZ6L1BMWlJiamh6M2h1N255L3pIeVB1RGhadVc2RXlkT0J0Y3pORkdsbkhIMU5USWFMaGVmcGI2clBuTWIrU3lkZWZPVjhpSHB3UzYzOUt4ZDc3L205OUVBVmJsMW5McE9UNk15aEpOR3cxSTJVcDZRSWEwRlNpdndPdmVUU2svd1ZlUHlQV1ZrSWFKbjlJRnV2QlB5bXI2czZYeU5lTnpSbzArcHdGamg5V2RaamZVNjE5cThuQ3VUTktuckFPNXFwVXpUakZsQTFuenBhSWhuSFRHaVpaMHpCc1Q0djJpRk8xeUJ6c2hLcWR3ZHQyWXQ5aTBVWm8vSmp5WXNrM2xkWSs3TWZwdVM0RGRwamVQcGI3R0YxWEhHK3Nwd1FsRFpOL2RlUDZ6WmoxaE1mQUg5eTRmdDBmaDJsQjdOMHZ2SEh0TjRpRjRYSC9IYVhYMU1PazdCZzY1NWZhM1B1TGNrWnI0eHNOUkN6OTR0V2xjNytMOGpXZmhrbnZOV2ZYcndPblRwMTc1UU4vOXI4dkdmMFF2dTM3V2h0aXN0MDU5eFZBWXFibEpua3cyTWsycWZhOEZaUnlYN3R4RGNQNVZvLzI3V2wxcXEzV2M0V1dpeXptTVZtcmU2MDU0WTAyWHJJTHpva25YV1FUb1hkZmRWYWNmOVcvdEpSUU5HeEozcldFWS80T0ZZMVNXMnRlcHIwaERUUEZ0cE54ZkNzZDQzWXE1TExiUXlEaVpGanQrRHFQdEk2WGZqYjE3dk5od2paamUwM0RXbmlicGJxbHdiNE5CcnRBUS8wSVhCc2pPR3MvSVlDYnVSTnBlMDZFT3l1WW82WWx3bmd4R0R6RHZLM0U5cGlHYUcvZE56c0ZoNSsxdGZBdTBEQS92elhUdU5UZUlJQUo2R0s2NW1WMWk5NG01KzNOVjV2a0J3YXlkbWg4b2MyRTk1aUd2Y0dOVXJsaHN4bnJPOHZ1UEExei9qMm16Z2F4eEY0amdKVlB5ejVBTTdWRnY5dzZZUHBtbitxMGR2U0ZOeExlWXhvZUNTY0Q5SXpNUnF6ZXVNek8wN0N2L1E3TnhrMWx5UjFINEcvT3o5TnphK1pSQjFkZlByaHRTTU5CNjUweko1M01lYytsZWNsYkQrNHhEWSttSU1HRVlldHRpWlhjZVJxZThCNTZpRm5BYWZzR0FkeUV2WndreTVHaHJKVGlWUzQxUEtTYU1CWXVwVks1VzRqdU1RM1R0MEg3SWpjT3Q5QXFWMlRuYUpqN25WdmwzS1k4NVdyajBMNUc0QVR1RzlOM1dpYlRWbUxYSnJWY2JFdTBYR3J3U0t2YmZIeVBhWWorYWNrMytwaCtsc1ZQMjFaNDUyaDRURDlMSDd5R3RpMWJ1ZkFPSTFDV05LeTBicjlnTFZRUDZ6NGVmM1JiQ1IzcDltMDFlcGh0TkRSZ2QyT0ZzTGtqNHBudTFqL1dBbkMzOUFNNW1vNzIrZy9qZDBzMzY5a1JCT0FNV0JaR2RqbFR0dzFSZVU5azVtcHRXczU4Zk51S2JESXdJcnA4STNLVDlUZUNHNFY0VzI1K2t3bzZpRmZkMndrZEpEZWIzVlFQekovQVUyWjhYQmtJZ0liUDRISFExdDJYeUgyeWFwdnV0ZEQxWFRrNDAvaGVZaGpleFBsays1WHhGZ3l0aUs3M1hOb0t6SEJvTkJ4cldXaHN3VW91c2lzSU5NWGFFcjRQc2RKU1dmcTJJUVNPWnc4SWcrWjExaFk5VzA0b3VCZEd0NnhqV3dXYjNwdFhlQVdpeTMwQ3ZmNytROXV5TDdQd25Gd2I5cTRIYTl0TWFjN1lCd2pNMFh0MDFkYmJGZGkxYVJraEIxcVRUQXZtN091ZkptVjc1Njh2Z0lWQ3ZHWmhkSHQ2dGxNYWYzbjBtUFprUE5uZDNjMy8weGVLMUw3ckZsYTJZMkZHMlZQaWpiTjQ2OEY3NHlwRGtKUDNDd0s5ZUxQMGZhbGJFOUsydkpocXNiRnMzZ0p2eWFsMGVSMlNKeWVsNDJKTFZidVgwSXZQK1A1N0VQRTMvNnNRYjRCamQvRlFqY1B2VEJlVldsV0ZuMHlTUDIvZGRiUDVITmgzQ1B4SHNSYThTbUFNakcyUTlHVTlTSE1xZTdwcTlHM3VuRjgvcDk0SDNFc2FKdjE0RFZLc0UyVmVzVG56TzBvTDA3NlpqcUpiRU1BWFM0cml4N2RRa0l2c0dRSmZLLzRZZXZ6MGdRMks0WFFhVnYyUjJTdEoxZVQ3MkszeVYzeks1NjQ2VzFxLzZTTVJLUFoxMHo3OWpyV1g3R3NEMmJpT0NQd0NjUzMrQ2U0ajhWdDV2ZDNlditob0l3c3dBZ2NiQVl5REsvUWxtT2dLdnhaOWtiUngrV0JEd3ExakJIWWJBVHdLdFVoZkY1MlBWZHliZnJTR2hITHB4OTVpSlRtTkVXQUVObzdBRUQxTW1YN054eGIvUW1RZG1YdTV6ZVlBSThBSWRBT0JZL1M2YjNObmR0SzdZUi9yWUFRT0FRSkg4QVhvOTBYdllSeUN4bk1UR1lGOWdrQkZ2Rk5jaXN3OTk0bDViQVlqY0JnUTZMMXovUWVZaFlmaFNuTWJHU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IWWx3aTgrM3RLNGpYVDNUZnQvWC81enkrOG8xaVhpaDk1M2tjdjNIQnI5K3Rnall6QXdVRGdmVUtjSzRuMWxhMjE1dWo2dVp1dXYvNlYxMTkvL1ExblMvT0Jqb3FnbzA1cFBUTDRlSkRORVVhQUVUQUlESXJINmtueWZMRkZqaHlWQk5NLzgwYXBQRE1OQXpnNHdnaGtJcENyL1BRc1paYkZSS1pNdTR6QmhSZmZxVWg0ODRzWHdwbnR6MTRvSWFkT3BRZE9QNGpnRnBuZXJ2cDlrZmZ6YTZQN3dnNDI0b3BGNERPcmtvVkpyN2k4NVRiOERmSHd3NUhpTkJldDYvUzdEeXdOVHdteEZtazhKekVDRzBWZ29EU3VSU3VXTUJzdDYrUXc2c1VkY2N6Uk1IZGdhVGlDem1iVWdjRWhSbUN6Q054cng4Q3ltTmxzWVN0ZkVPS1NqZmlCcHFOaFVqcW9rOUlxYURqcHQ1ckRqTURtRUtqTUdQazU4YVFKYnZwY3lScnBNRkRVamJiaUFhSmh3VjhGby9YaW9ta2xueG1CVFNQUTUrYVNRK0tKVFJjM0JUWkV3OElCb21IUnB5R05oaE1HQ2o0ekFwdEdvUEdNTFRJa0hyUGh6UVl5YWRqd1JzT0RSTU9TVDhObDBIQmxzNUN4UENOZ0VTZ3UydURjTmdhclEwZEQ0ZE53TUd0S2JySGxBQ1BRQm9HK1ZaZTV2STA3Rm9lTmhnTUJEWk9IMys2ejBrSEtJVVpnSXdqYys3U1RLdk9rMUlIUklUUVkwckNETkdjekFtMFJHSnR4MmRXZDJLSTVvR3ZEbzB4RDV6Z2MyaVlDT1hjM0lVbTJzK2wrMkNhbEo1aUcyM1E5THU0UU9PTGRjOGMrdzdqTDJXVG9zTkZ3aEdtNFNROWg4V3dFVG56RDVSMFRZc25GTmhrNmJEU3NNQTAzNlNFc25vM0F5SlRMRzluR1JtbHl5R2pZTDVpR3puTTR0RTBFOHFOV1FhNjBuY2NpRHhrTmp6TU5yZU53WU5zSWVOUFFrOXVaa3g2MjBURFBOTnkyNzdFQ2cwQ3ZlNkEwcVFsdm5XZ0VObncrWEtNaGZYQ0E3OWR2MkRsWXNEMENwK3hMVGttZldLKzNGMjZiMjBMRC9xdHVYTHNMR2h1Wno1VGVmM1hwdHJkRjY4dzk4dGFQWG5NRFBWandsaHZYYi83dWRNWDNYMTNNS0ppV1ZIRy9vdHluM3ZyZnJybHhNa242UDNqK2JiTnArWGh1ejFWbjEyLytVMCsydHhqUU1QZUp0NTYrNXV5NEo3QlpDNzJpSER4OENCeW5BZkQvTG9welAvQ3Y4K0wvM0VqN3Y3cTZHQlZMMC9BTEpTSE9pcldWYkJvK1gzNkhhaTJtVG4zZDV1a2s5M0c0dXhDdkRXdjhLdDR3Rm1MOU8yWHFFZms5cWpQblJiMlhRamVjUFUvZjJhaWRQM1A5OVdkTHcxSWtxRWlwbmt4eUZYRmUvR1NvT0VtaXVVZnd0YXlpRUQ5aGhBZStqcGc1NmtnOUlTTWVEUU1MVFRFK013SVpDTXpoQmNOall2MDgrZEZUR1RKQk12elV1OVBvWmFWbytGdEMvT0JTMHBPL05OdklHQTMvVG9nWEpibEh4VnJkMDZLRGhvWmw4ZXBmK1JTb0dORGxPV0wxbjVMY053a2hDWHpFOHFGWGh5UU5WVmpTTUt6SUVPMlRxNytJeFhDNjdsaHViK254ZjBtU1R6c3JjSC9WSGFRaFRjUFFRdDBtUGpFQ1dRaVVKNUprK2ZIUHYvZExSZTNWV1lJbXZRd0hYREVSL3h6U3NLY2svZ1BsRGhUZWxFRkQrUEpMU1NMNkFGM3Y2UStpbnFkUGlaZVJTRlA0WHdVNHFvbDd0enIzWENoQVZLeGR1OVIvelkwVXV2MGpLUEw4RWdWZnM0UmdxcUxlMDkrTG5NbGNhVEVaYTMxSE1KWTdkbm1XckhpUEVQTjB4cWNlRnhZV0trTGNoZFBDQXVYMW5VYlVQZnFRc2xDVzRSOUdJQnVCNnFqcHk4OXQ3SGxTOHJlWm1ENWtlRjlkcTVreDg4aDYweHR6dlBjTmEvb3hjbnhNYVRxbTd6TkNmS09pM2tMdUx3bjkwU29JNWdyRzM1dG1TeWtQRnRhbGpqRTdwdE9JOVhLWjFsclJjMEhEazFCZGpENjhsODYxejNEbmhmY3lDbHJsbTUyRERlT3l1cWlGT29kUGpFQVVnZUl3a3Q5eXpUdXYvUlBjTlZ5SmlvU0pjTjM0M2NXS1QwTnd5emhsRlFYcVJvZWpvWk1vQ1BmZXNaSER1UStydjNWZHNDSEVMU2JyTTVidG1JU3V5RlRjdzN0V1pTTTBxUVhMZXBJZHFRanoyTW5tYUlJdjQ0Z250YlIzU3VjdXIrck5HU2lmdDNMTmtJYkpuR3R4eEVKYmpBT01RQ3NDT1RGckU1ZmpkTEQ1S3BBSHEyWlNhVEphOFdsWWN3TUhGbUF4R3BidGQ5d2FUdGJYU3lzOTh3NFd3bllnS2xxaVlWS3A3ckJnNU5OZkRZRGdsRlp5UW5NbVVoR2ticUViTldpTElhMVhjenEzYWdpSFR6MjZiNFNrYVlqbDRiaFdFckhRVTg5QlJpQ05RSy8xYmhwK3ZFaGEwTVpId0k1aEcvTUNQZzNoc0hhRXcwY1JJelFjY0M0Tm5xNTRla3dRVDR1NTlMejkvQ0QyVUphTXlIR3hQaXZEbUpUcXRKS2w3a25WdzhRcWdubXZKVUl0UjV1U3ppM1pNYlBnSVpTbUlZWktUY09vaGNaa1BqTUNyUWljOHI4OXM2RlpLZWFLZmhtbjBxZmhuUFZKNUlOQ2RTTm1KNlY0aW54U0oyTDBNVUVqUm1mUThKS05nekQ2MFlLbWw0cFJjRUtLb0lvbEpWdTExaDFYWnNZcWd1b3pVNUFmZUZEdUFLbVM5amVkSyt5VXQyYXJrZHRHMDdZSUFxaG5YTVdqRnZxaUhHWUVRZ1RrYlVPVFZOVk9iZUx4ODhOM0RVY3pmQnBXUGViUmZtVGRsTEEwTEhzYnMyN3lhY1RvRERhNE95aFk0S21oR21Pcm14amkvVWdWZ2JaUlZiWXMxbFVnV1ZiamNhd2lxRGJ5V3RnL3BYTWhyQTFwZU9OejAweFZkVkZMdzdpRmZnVWNaZ1JDQk9ZdWV2R21uZERKeEg5NGc1ZlhPVmh4YTBOTUJMMzViUzFHdzRLWFdJbSsyQkhRa0tnaDJZLzlFOC9rdko2TUR0a0J0V3IxMWlha3piR0tTRnM5czBYcDNLSWRpZWU4UFpwbUZnM2pGbWJXeGhtTVFGS2U4RUJvQkhUQTdETSs3SGtsL0dERjBSQ3JJMi9pV3ZOODNveUdXSCtaVVN2QmNPbVIxcW9NYUppQUN4T1VCU2JJTTRYeHJJd2VuakJZNnQyY2ttVktjWVVrb2hWQnRhdWRwSUlqblZ1MmUxSkRkdUxaWmxJYXR6Q29nU09NUUlBQTNUYTB4N0xkNktBa2JQMnQyS3dOQkR3YXdsMzFTbzdLZ1N0MVU5N1FFTHh4Q3ovNHVjbjN6aUVOeC9RK1NkUFNqRVFibXBRZ20zbzJGZ0c5VlRxZ2RtaWlGVUcxcTkyclVnWFR1YjJGSDlFeWFOZU1FWWNoMHlaTVp6c3BqVnZvaTNLWUVRZ1JrTGNOVFJMNmNSUEVHVDYzNUVVN0JpdHVOQnl4ZTR0VXFoYWhJVGl1ZUVNQ0VLL1RPVHhDR3BiMU1oQzFyRGk1T1ZNUkh2cVVxVWNmSytvZVFIL2NJMW9SVkx2YW5UWWR5czRGSkROR3ZKbEZ3d3dMVFRrK013SnBCSEkrNzRoNHMwN2lsTDhYNHBJelEzQS84eFJOTlZqQXhXaTRiTGM5b0s4Um5mNkdORVFCcVYwRU5JVEZhbzhHTmNvWjlOQXpOVzNGQ1pVUnJRaXE5ZTMrV0d1eWMxSGRqQ25SektKaGhvV21ISjhaZ1RRQy9tMURlUnZOSC8rZTUzRXlYVEFTcnpnYUZ1Mk9DY25Wdk1IT1RFcmh4RzdEY3k3bDBVcDVTRU13Z0c0TjBxUnpXdVhUTDhZNlJmMkdYcldWSjVmMWtONjRLTVdpRlVHMXE5MXAwNkdNM0VmZWVqcS9BUnBtV2RoU0RTY3dBaHFCNExZaGpVcWJZMTZBWThWUVFqNGtOdUh5YWhFYUltM3RuZVlvQkNPY0tSalNFSGZIYWVTbUowV0hqVVNTSUZYdDdpQWdhVmRaeEJwdG1nU3E0MUlzV2hGVWUydFhwMDZGWXJrRFg0ZVJkTXdZNldiUUg3aTFZWmFGcGh5ZkdZRTBBc0Z0UTFxanBRVTJFZmRvNkx0cmZEUWNJNWQyeDNxOXRhS1FobUFYR1hjRXAyRW5DL2FweDJlUVR1TmJUaXlCQmpNa29GODFqRllVSXhxVlVVY2tkN0FneEsxLzlJS2hEZEF3eTBLam5jK01RQnFCNExZaDNpZHFzNDJmTHRvU3I5alJFTGNOM2FnUnAySGUzbUZvMFdNU1FoclNrNmxMU1lLTlQzODdSNCtSZUI1R1ZUNjRDaWFLSjZHaVJ6Y2xXaEZVNi9zYnBqTC8zSnI3UHJEOVR5R3lFUnBtV2VqWHdHRkd3RWNndUcyWTVLUDM3M3o1ZHVGZG9TSHVTRVpwbUJUa2hQb1lkbDRxY3Z2bHFONEs3UVlOY1FkMWRacWF2aEVhWmxyWURqdk9POVFJQkxjTms2TGQ2dHdLS0k2R2VNYXMwMmc0MW5ZOGt0V0hvNkdlbE5KWTQwMUtzVVdqUjcyYVhGL09ZU0FzeTg1a1NBOTMwWXBheHp1L3dlbmNnWUo1OUczSWExY3pZMjJZYWFGZkJZY1pBUStCb3VmU05KMXJzMy9vbFlvSEszWlN1Z0VhZ2pWdE5rbGtCU0VOOWZRVEE1Ty9Vd3BlNkZjcjVpUkRhak55eUpvRkdhZVVsZEdLMGtSVG91WTNuZnRaYSt0R2FKaHBvVkhQWjBZZ1JNQi8yMUR1UWw0TTh6Y1Y4MmhZN0hqRG90ejJ6cDJzTjZTaEpoenRRMDQ3czVDcUg0ZkIyaEVqWVJGNW1CVXVZbW82cXFTaUZhV0o1aFJTS0pXTDE2SE5BSXpxWm94c1V4dHlSRCsyaCtGNm5QSXlMVFFGK2N3SWhBajBCbHN5eHBGSTVyNGJiL3RRS05zeFZuR2pZZDQ4VVNZTDFiemxuTGx2dU96ZnZvK3JEbW1JQXJUYVE2TC9GQTE0b2RlQThQNm5zRkVERWR5NG02QXRVNlUxV2xHS2FLbjZVN2tnK0ZOYVlpTTB6TFF3VlF0SEdRRmFHT3B5QUFBZ0FFbEVRVlNOd0NuenNxeU13Mk9IZFVhZnVMM2d1L3RHRVBOb1dPNzRGQTNtbU9hUm15emQ4R2ZqL2hDQlNqbGpMcGwxbWl3R2svWGNGalBxMWVTSTFGa1N6eVNEcG1YUmlsSkVTMW1ReW0yNFBrWFJzRWVpMU13WURlbkxHcU5PbzdQUXBYR0lFZkFST0c2Y1ZTWjZMenBVWG84N2RKMFdiNzRtaEN1T1dYUEJCa3d0TWhyaTdscFFkMG9YUlVNYVZqV3pjWjV4d21WSGtUeHVhS2pib1BUbTd6SEQ0R2hGS2FJNWZUS1V5a1c3RnJYRWtLeThNVW5SWmhZTk15M1VTdmpFQ0lRSXpQbVRVb3duNW1iYXNVdXptT0Q1bVdHNWFBenVhZ1k0VEc4TkRTQWFveUhkV3B4MWF2N2NDNXZVa0lZbHZmUWFjY1NENEpoNzg2Z010alNtcUhBRERKOTdoa0k0b2hXbGlLWWs3VytZU3dxV2RON2NSbWlZYWFHdGdBT01nSTlBMlg5cUJqdnQ4em96UDBNUHBGanY4NHRraHowYVlubG1HQWw1Y0tWdWlwbTFJZTVSK3BQZXdyQVJjR2V3d2IyMFNFOXFTaktBNGRpS01VZkJHVG1FYmFIcVBHVmdIbHF2VFZDSWpsaEZJZEdVblBzTmM2bG1rOWZ3YUZqV28rRlIzZUhZbFhXbWhVWUxueG1CQUlHcTQ0Y2NSUFNZMUxPR0FFYUJDRGRRL0dINlg0cklVZkc0QjNwb1hSQ3N4bWk0N0crbTlsdEg5L1NDRFhyN0JZbllKMUVSc01JTnRMRFJpbUNEOU9sU25jcGpIanBhV0tFUUhiR0tRcUlwT2ZjYjVtTHZ4MDRMYWg0TlFja1ZLbk5NMytTeE5NeTAwTlhBSVViQVE2Qm9WejBZL1VyaVRUcnJYcHFjNGtOTlM1Nm9EZUsrbUJ1a2JDb0NQZzNobzRzMnJ4U2pJY1pldC9ZODZZMmR0aGpZNEY3S2gwSTlDRlljSzRod2RtaUU5Njhxdm9DY2IzSzlRS3lpa0dpMlJoMEljK2srb0pFb2VEUUV2VWNwL2JpZXlWc2FBZ2pMMjhCQ280WFBqSUNQUUU2TVRkcjRQWTRzWStOSWhmdmFQRDh3QXJjYzloTk11T0tOaHVESGxFbEgyQld3azlLazZKUE1yT1JNR1RxRERlNFdJUWd3clRMdjlXYXp5ellWZVNYYlArQTdocGVVTVAxR0tvSnExd2M0U1IwS2M5RWRtZjZvWjFXKzdGK2VJVUU4d0NQUFE3b2pjRFRNdEpDSzhjRUlwQkRvWFp1emo4ME1GSjFubHBZZ2VOeWppVjh1RDdlYzhSTk1HRXh4enU5OTVhbU1BcHBDeEJVend1SFpsRkZkTkZjeUlhT0x6a1REbjlJSjNoQ01aRXZhZ2o4d1YyMUdMWGdjS0ZJUlJzNDJOQXh6YVl0bVVabHgvSFd5ZDZuTlV4VGQxQlNkUnlicDE5RlNHaDYzVUFueUx5TVFJSERxOGhIOXVWMjZMN2RHNUpQSFA5THZuTy9pS2wzK0Z1R1cydk84VkFReEdybDdFQmhicDFYMmdFREdxQkYxTW5CMjB3Y2NNOVEwVXZJTXZxMmFqTExiRVNWTHRSekcyWEZYcEdIdG1ndHVXMFlxd25ydldWY3dIVXJsNXUzTXR6SXQreXExbjJUSW1oOVY1WWZrU0NuRFdSYW1LK0k0SXdBRWpqK1JGSDlJSVhGMzROR1VWczRZTUNxZzRZd3FGUHgrQWVuaU8wMFMvdTlGTy9wekw0OEo4VE02M1gvZzhwT0duYm5pTGFhWWZ3WU5uOHJQeUJSTUROMTZGUDhWOVRvbGwvZFM1UWJwb2tySGZvNUh6NlMxb25kaDIyVll5VVorVTdrWVRXbkxDdi9vOUpqc0Fzei9JMWZrNEsrL1BDVnZ5NWdSTnN2Q1NGMmN4QWpNUFpsOGRxMU9PSUJEMzUvQ28rcC9EOVRMYTRKdEsxNmNnb09uTDl4SkxCVGlsZGMrTUMwenNYRTVTb0VqWXI2RzlCOUQ4c0RDUXlVRTE2K1YvMFZHLzh4MHFVNGlOZVhsRlBRUG91RkpaVjdWanEwa2dMOTZXcVR6TndlcHRCc2kyU0lmNnh3bUFYMmtLaHBjdUJwV2lQVzNMN3pJU0hqbjFsellJZjllc1E5VFp4RDhqUlc5SjRNbDRHaVMzQ1A3aHk4c3ZJTjAzbnF0cWpmRFFxOGFEaklDQm9IeVpESlF2UFF2eVc5L1RZZ2ZOWW5tWEJRVEpoaWN3UyszQk5RNVNIUEh2RXA4amxpSG16OHNYcC9VWk42TS9JNk1FbHVTSW9OWUtQNys1ejlYRmJxRUttZC9pWVpKOWRKd012QnhJVDVra3hGNFZJamYvYXZQL2FIK2YwU1RNMkNYblltM1ZVbTVZVVhPV0RONkdRMTBqdVRpZnczRkcvL3NLdkZtYkNjWDNEaUsxZlNsRjN5cE5FT2xSbFM3N0NveWJpRko4c0VJcEJDb2p1TC9ZMmlBRW1zdC95NlB1L2VMS1hFZGpmenA5bEg1djlmWDQ3amhiR2xleTRFbWF5WHhobG1QaHVmVm4yS2JuY2Urb3ZUZVg0L1hJMm5ZZzc4RGgrZS9QQlNCYWpwU3FRVTlEY1l0ZTNzM1VaVUxLam9xenAvQmYzUGpYN3JqTkd6TmZiNnM3YkZaS0JzczNMWmliTUU3K1daemVHUWQvL0ZOS2cxbWNRdE5TVDR6QWc2QjRqRENQVmZkOE1xUDFGMmlEbUU1MXByWUl0VTI0WXQzbE02OUJCSWZ2K250My9XUEx5QW5UaDhEZjNEaituVi9uRTdWY1VuRHBPZmJTK2RhL3pUamkxZEhVcDg3YVRSOU5yM1liRnVSS1pWOWZ2Y0xiMXo3amRZRzNIOUg2VFgxakZKUkN6TmtPZmt3SXhDK2JaaENBcE96Vk1wdVJ4VU5kN3RXcm84UjJGMEV3bytVcHVvKzBib0NURW5zZEpScHVOTUlzLzc5Z0VENGtkS1VSY3ZZSDluYmcybTR0L2h6N2J1RFFQaVIwbFNkcVQ5WlMrWHVScFJwdUJzb2N4MTdqVUQ0a2RLVU5mbU0yNFlwc1IyTU1nMTNFRnhXdlc4UUtFKzBNYVVVZlZTbVRZR3VaekVOdXc0cEs5eUhDTkJ0dzZ3RER6UXZadVh0VWpyVGNKZUE1bXIyRkFGNTJ6RERBanplWE0vSTJxMWtwdUZ1SWMzMTdDRUM0WDhicGd6Wis5dUc5S0tUZTU0N1pSNUhHWUVEZ3NBK3YyMUlqNkNtbmtrN0lNQnpNeGdCaDhBK3YyMUluNytPZlJ2RE5ZQkRqTUNWajhBK3YyMllITU9EMDB0WFBzemNBa2FnSFFJZGJodE90U3U3NDNtREN3L1Mrd3RyMXo2dzQxVnhCWXpBSGlKUW5tbFR1Y2g0Q2JCTmthNW11ZGYrdXFxV2xURUMrd3lCOGtxMlFYak5hVGc3ZHhkeTFFdUJaODZXOXZvOWoxMW9LMWZCQ0xRZzhBdTBMM0xTZm5hcEpaOFRHQUZHWUtjUndEaTRRbC93anIyWnZ0TjFzMzVHZ0JHUUNHQi9Fayt4RmZkNGFjZ1hneEU0MUFnTTBWMkNJM3YrenUraHZnYmMrRU9Qd0RGNjNiZTU1NjlYSFBycndBQWNhZ1NPNEE5bDNzY1BjeDVxSCtERzd6MENGZkZPY1ltZlh0bjdDOEVXSEdZRWV1OWMvd0ZtNFdIMkFHNDd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anNBUUluUzhJLzFtLzYzZGxkc0VKWHVsNXZxYXVucU14WmI4bmhCRWJnd0NJdzU1TlFodGRXZHI2eGh2dVRMVlVkMS9Zd0RWdWc0WVNEaThEZzZXdmVRWjUvYVlHT0N6Y2l1TDZ5NDgwOWZlRU9TYmVuVzJwcVNJYSs4dG9IV25JNkpQUVdmcVNEQkdmdkdRSjhjVFlBZlJYVU0xUFJMeFZBU1JQWlFOa3RpL1NLZFNFdXR4U3Z3aGd4M1pMY09RSGxXc2ZXenNWWVlqY1E0SXV6QVpSclFqeGx4WHBMUXR4aVl6c1lxTDRCaEd2UnYxb1c0ckdXMU00SlBWQzJsWEtkTmJQRXRoSGdpN01SQ1BOQ1BPUGtQaXZFMm00TWg3VTNnVGtycmw0Wkdud1dOSHcybGJpUjZDa29XOXVJSU12c1BnSjhjVGFDT2NhL0tTZlhDNGVlZDlFZEN6V25La0pNcE5RZmV4STBmQ0tWdUpIb1NWamRPclp1cENUTDdBUUN4L3lMeUJkbkF4QVB3SUhIUGJtQ0VLMWJKMTUrbDRMTktURE9HNFdsMnVWeEpQcFhjS09WVVllN3VsRmhsdHR4Qkk3N0Y1RXZ6Z2J3SG9RSHIzaHlOU0VlOTZJN0ZXeE9EYlV1NThhR3QwaEQ2a3UyTXBuZHFkWWRkcjBuZkJyeXhkbUFPeHlGQnk5NWNpRENia3p2bWxQb0pOTzNCODhscU4yL2dwNWQ3WVBOY0Vodkw4eTVPNDNBVUhBUitlSjB4dnRFaWcwTjBIQzRjN0h0U2pTbitsSFJkS0NtNTZrdDA3RC9vWmNFcWppeXB3Z3NCelRraTlQNVlpempUcUV2TlFKMnJQZ0pPeE51VGlWRklXWUM1U2VmM0RJTkF6MGMyV3NFbWdFTjk5cWFLNkYrekJqY2JVTVlYQVlORjNmZWNOQ3dKc1NUUVVWek0wekRBSkFyTnBKbkdtN3kydVZUTzZNZ3h5N1JjQzdWQVNTMWFhYmhKcS9lUGhVdk1RMDNlV1ZLUWx6MGk0Q1dxU1dibjl1MU1FWkRiQTZGdDl6UHlyR1lyMkRYUU40clJUMWIyMmZiSzNQM1FiMjBtenpqMndGYUJqdW5mbDRYdzZBaFBlUlU5MVQyNDNHMDhoWjNTajAxSE54ekJFNHlEVGQ1RGVpMm9iOFVKRnFHWTlRbUZXNVFIRFJNd1BoNVQvd283dVl6RFQxQXJ0aGdnMm00eVd0SHR3M3JYaG1pWmJCbDQrVjFNMGcwSEF2bncwTVRUTU51UXJ4M3VvcE13MDJDVHkvYStrV09JUjZzRmYzTUxvYUpoc3Zob3kvTkZhWmhGeEhlTzFYbzJubUJ2em40NTFLM0RVRU5NYm81RlZ1U0pocmltVi8vUWRBQ0ZKWDVDbTRKem4xVktNOFhjYlBYQTM0ZnpFR3J1N00wVElpRzlEYkhralY0Z0I1bFRkUHdYOTFaT3ZkclRzWUtoNEhmZnQ2WEw5eDVxMHdiK01RL243N2o3RFRDYnptN2Z0Ty9WWEk5RDViT3ZhMnV3Z09mK0tYVDE1eWRsSkZIbnZmUkMzZWVrOEdPNVZScCs1dDc1SzBmdmVZR2VnaitMVGV1My96ZE5sMEhjbCs1WWYyVkxhbHBLUmZQZmVWR0ovLys1LzN6aFR2SXJJZlAzdjZkVGlZSTViNXlwN2p0STdOKzJ2MVhGMjh6clVUNkk5LzYwWWR1K0VrRWVqL29XaS9sZTY0NksyNzZRSkk4ZHg3UkxlT1JpY0F2NExKNm82RjNjV1R0U1FxYkFQbFdKRldaZy80TDJuM0RhMk1PRUtiZmUvQ3lOeC84NnVwaXRCRFJNRUZsb3piM0NQbDBpb2IvVG9oejZCZFdqRkQxL0pucnI3L2hiSWxFKzliUDNVVGhZYm5YWXg1SWh3SWMwMG55Y2JHT0xhQWZwWktEUlhFZWord2hFWWNTbUtRZ2JkV2FSL2xVY3B0eVZNQTdhRTFOZDF4ekg1ZUIxM3BaQ0E0V2hDZ0s4WVpabVR4bXJTNVQ2TXo1MHJneC83d0N2NmNpMXM4S29iWGtTU1gyeWQ2REptaXJRL1dnVm9Wa3hLVzZ5L2dxeXFBMWhyZlV4MGs2OUpXbzlXdG9tajUrcXlTdXUzQ25lSE92bUVGS1djcE5VdDdtOE1oQTRFc2ZsQXJsajN4VkIxZkJYQnlxSklXTk1RRG1lVmRNQ2g2bW4ySzRGS1NYVWxhNjJINWNxK0JST2F0YTByRHF2K3A0Z2x5aEhIU2svMUc4WWlrWkdETU1TaElVa0lla29RNFBSMm40dCtzWWk5QXZqeWRKcm5LNW52UVV0Q0ZsV1l6cWlycGRaamxydVFvWUp5eUxWLy9LcDBCRkduYnMwVk1VUHp5Yi9HWmVUelRHdEtWUGE1K1hWdldwUkVuRGdZcDRiQ201dnlSK1hLcklVOVphMGwvNndkbEsvSzJ6L29KWS9aUDNmdTVqNHRLc3FmUTVZdldma3R3MzJYMXZROE9Cd2h2cVNXL1J2VGJUS3dCSGt0eFhLc3IzUGN0VW1mcUNTSXlHMlhoa0lOQ1UrdFFQWFNiYUQvZHBtTUxHMGRDcmlZb2Rxb05HdndtdnhlVncxOFRMMlZvUSt1SzBsalJzK0tRckw2SUt5THY1ekJIeElhbzFWN0ZmclhuTGk0dFFLTVQvZzJSY1R4enIxeTBseVVjZlFraTludlhwQ3dXRXB3ZEtzbWlCU243Mk12a3FGcUxqcE8zVEN4VUlURkp3NFBTRHBJR0NTY2R5VXNyOTlKNm1Ydi9wVStKbGxOWU1iNzdtRlo5eSt2d3RWME5VaU5kOE9QbnpPMG9Jck4rMUF2UGZRV2xyTDFmRkh5Y1QwUWRPVS9SbkwwQnFMYm4zcWVSSXVIcW1USGxVeGVvd0JlNFRiMUlKZUJaaXJVN0J1L1VaamFOYW45Q3RQK2J1RFkydExza3lvTkVFQWx2R0l3T0JiMWxZd05WUTN4aVQxOEM3T0ZSdkNwc284aVIzcUE3cU0wZGRpNmsvbEo3Z2tyWVhxa0RoVEV5RnBDRzJhZDFZV1ptRlhObW5vWGxBV0R1TVZBUFhGdUtIWkpDNjQ5Y3FsNEwzMmU1K29JQTIzS3ZJUEllM1JYS2xGUkpIaDZObjN6a0lURW9OTk8remIxdDFMS2VMMk5Obm9MR2k2dWt2aVZVeVh4M3ZNcmJnN3Mrd1RDSlQxVWdIWXBuN3RFM1lMTTNId0RncXhhcW1EK29wZ1lhVjZRUUFCZnZZU3IvdFVwTGtYZnByWG1qVHVNcHNtbVlteWQ4Q3pGeHBtdExSZWprMFlVNW8yNTdYSGZEVzhjaEFBTTEyZlNrcTl5NU8wb29OdXNQd2l0WEo0TU4xMENSVWVZcHM5NWdRcis4cUFFWG9uNHhwbERTa201U3pPamNuQ1ZuMnJ1Q0FlUFdTeWl6YTRSQnJLcFJaa2NsNDB1RE51akM1bVJvTmtkQUFEUXVxVVhEL1NmTkJocndsM0lpekNUcnNTNDhkeTVuSzlCbVdySy9YVlFSbDdaZTBCb3FHRXVoVm5sWDVSV04wVXFSVm56elFCUzdLUU5YWWpqRkx0M2hNckEzaW9hSVRhT3lzRnZkT0JWT2cvM3QxVlo4eEtiVHZ0YUpGOFNyWkU4ZDAzNU0zMWM3WjYzM2N6SU8yakVjR0Fta2FlaGNuaGszTEZmTmFla2lDWVhmN25OaEhDN2VGUkI1K05CUFRJR21JNjJPR2hxUlAra3Zab3lHNkNOMnBqdmhqZE5YTXJ3YjhqMWVWckI4bVEwTDhwNmRVblJqZG4ybU9xakJVMTFVSUFwTXFSTHRFbG9ZZHk1a3kra3d6Q1QzRWtQUGJleS9IamNjbk5La2NsdEpOTStDQm1iYkNrdnBDSk1wcWM4Q2JDYVc4TE5ibWtJaHV4SkJXVjBvbjZseU1tSDVKcFdoUzZLRUl6VHhxM0JOeXFnOWhRTGdreTR6WjRYWFFWTFpsUERJUVNOTVF5MFBUUjhhd1NkSlhUTFh0TVAzT2VlNlQrd2RjOU9IdXRoNVgzL2ErZ1daSlF5d1VyUHNjbjZMOHNxV2VQeFJnbEppZ1hIbGdrYWZZT2FnbnB6SzFhSzgwWGRSSHRadUM1NCtwR3hKSk1tZVo0THRkeWJHaVl6bHRnRG5SZThzckpvS1dqT3B3WGp4alVqSDIvWlFNdXlveHdOVjFkdVZKR1ZoMm5VekZqSjRqWXEwMmplbWFuVW5ySXZMVXRDcUtHZ3NRVTVFTStjZmRaMmV4MFBkYXZ5Z0xGMjEza1JoUW5YRzBvV0o3aWM1NFpDRFFRa04zY1dMWVNCcDZWMHgzb1g2TEQzcTRqUEh2NytYeGlhOFhzRkliN25LRE1XMkpmejlVMFhERWpTY2pvMVExN0xITENyaUJkbk5vY1o2ZEsybWZPKzUveWRITzB5UjlpM0JoZVVDRjBRZDE0eW9Sb1VtZEQ1NVl0d05CMnBjelpmUVpUbmpKSmkxYndzQUpaMnh5VXcrUzRJbHVBY2I0VVoxZFZJR0NHL0V3Q0txOGhsZzdTNkV2WEZkWENkNHZ1S25ycGRtRWROcW1TWUVZNnAvUTBsaGhlcTJmcDlTY0c3V1R5Z1NsU0Jac0RZOXNCRXkxcWdKN2NhTFlwSytZbWlPb2tvZmt0NG9MNlk0ZlcrcDZzeCsrYXppcVU5RVFubTlBejh1Nnk0NDJOS3JwS1NzdTk3Tk9TME96S08rb21TVDJTc3VMYW1keUpTR21kRW5VTmFHQ0NHVzRYZnR5V3BFNXdTclhjWU5kZXBpWmM0T2I5UEJwa3NmMFRYZEhDRTBwRFFOcUJFT0NWWU1tMTJVbTJoanZ2cENMNllDWmRnSWhjbmpRMGZON0YwSHJUVVBSNWhuU0RLUHBKSSt4Q1hYZU1oNFpDTFNNaHZiaVJMRkpYekhYdHluekRzRnZFUmRTSDdmZDlZdTcyR0JGUTlvM1ZKWG1sQk9YblEvSmJjSmhtUXMzTTJ4RkhGZVpZb1BCYk5kZWFYbFJyUXNYelVLU0ptdkdKN1Bkcm4wNVphbjlEWndRRVczUG1Ha1NDZHBsbkYza2dhOTZRZG1ubW93WnQxbGhFc1BtcFg3UTBDYktCTzhIZVlaY0ZUWElBc2FMVGlCdmhsUzZaVGVxMDlINkNRckN6a1dkbERSbGlnVE1LRXpORGpyZ2tZRkFOZzNIb3RqUVRwUlhrNXMxRzBNUCtwbG1OZDRGM01YbUtocGlmcVhubllOcXVDdDdOTVF3WVRwR2J4OFVOdVpsb1lZZFE4anNrSVptdElCWGlXbmRLcmo3bEFwbTA3QjlPYTNJbkFJbnBKb21LQWVRZW42RTZiUnFXTldNYzZoY2R5bkhWYzZJdFV0dTZVZ2x0TnM3UmRwaUI1by9yOU0vcStDYnN3TTlwZGNNcGtURFlTMEpHa3FxK1FQbnlMakszREllY1FTb24vUUdaOVJoTGs0R05rUkREM2s3SmRHbUgvd1RQRjNOVlhhOXFZcUdTY1U0MExHTDBvU3lmd1YvZm0xVTIrVUlTUWx3S1R4RlZwclhtZkprcmpRaXVLaHE3d1Bob3R1NzJBZ04yNWZ6NjBNNGRNSXhYYXNlcTdVc1pCUXBSd3gzRU5DcjBXVlZXOVc3QkxnZUNvZUdsNWlxbGg0QlhERnBYLzl1Q2pXTmNwbU1zaE15UURTY1ZTRTNGMENhdkt1TzlCNmRtVTNERG5qRUVjaW1ZUVkycVN0MitHaUlHWktibytnTHRqc25UY095MmJwb3pNdDZFUTg3VW1WTlNFT01vV3ZKTVcvTWdWQklRK1hMU0M2NldkQkdhTmkrbkxMRi9vWk9hQ3pIdkZLTmNsS09waHZTMmVIcVV6SWwveDFtaUJxYmtRbmd4YndNNEFjM1dOUmNGRlN5aVNaVG42bnJYQXJUS2g0eDVaYXdwZzlVRzBGMFhaTXlQSWJpZU5MT1A3SnBlTkdJRlowbWgyT3FJeXFiYTVjNUdtWmdRelQwYWpwOE5NVEZFWFVEOWE2ZU5RMXhBZFNxb0tyTXNKY3lOQ2FrSWZYKzQxWHpHSmVTREdrNFpZcEgzU2ZiN2RxWE0wcjFPYVRoc3A0NER3VTBwS0ZybXVUUjRhbDVsL2lpMmJGVno3ZlF2SHpSYUlaS0pkVUlpR1d5NVptNnppQkJQaUsvNHBKZ2dlN0t2THNQbG9aektDN1dYbEYzOHNTQ1NSTU5kNDZuWExLdE01T0d5MmJwa0VuRERHeklBSyttdzBkRHVpWUc2ZDA5YXhyQ3A5UVVUZC9mS2xzWHN1WU0vT1dYTDZSb2lJMlBTM2JWb3dSREdzYThDdTV6VWNsbXUxMzdjdFlrRlFocENCZVQvak1TdHFDa1NRZGhlUXU3ZHcyOGszYjBLK1RoczNiNTZyWThHMTVpcWxvUXl0NWpVVm1wUnhEUlBIMjNIRGNzVEdHVW1wSmhxbytPSDZpYnJEWTA3SUJISElIc1NlbElISnNzQTZ5QkJ6MVFUdm4zN3JWWDB4QVhVanBocjk1dmdVSGhwUFJMRDBJQ2g5bXNVUllXdlUxK2xiTG5OS1NKQlpuU05BT2F0WFJDaG1BeW5VOCtoZm16Yk9JcHhSVnM0b2liMzZtUE84eFFDaG9PeTJLdFAwT2E3eTZIbU9WSnd4STlZWS9Sa0hadzVPRmVmZHB5dHhUUzBDQ1FUY01zYkRJTWNDMDg0S0ZxaXp2dlZvTTFEWk9pMm92QUI3dmxVVTdSOEt2bytyL3YvMXBLMDNEWmptekczajJuSVFaYnliT3hGaHFxSVFYcDB6QjI3aGtRVmZZcEo5VDBrKzdaK01mUHlCWTFBbUtaUnNyemtHV1pTU1lWSVEzMUlCaWxJZjJUckR6c3crZ1pMTWhJUmtNdjZwcERHaG9Fc21rSURPeU9LRlFVeldRNG95YlR2Z04vQmhCcVMyRFhXMnBvMkZRYmpNdmp5b0p5UU1OY1ZiOURrYVlodGluTVU0cmE4ajJuSWJZZjVNNEpUUFloQmNMS2FaZlY3QlQzNnViVXJzM0lsRFFkRSt6SThyd1JTMVJOaGFKd2FrRHJUbCtGSFpXd1U5bzZLWlV2UEtBQURzWDRkdmNOSnpXNllJeWRDR2ZTMENDUVRjTXNiQTQ1RFdrZnovUnNCdkJkT2hzYXpxbnhlR3hZMVZzT2FGZ1Q0Z2RsZW92bkZkSmJHUHVHaHZrTUdzSjdhY1F2ck5BOStoV0U4dlA0a1RmNGZRN0pOUG5PUVYwSDA2ZmxGakJTVE81RXcrUytpbENIcmlLREJSbkoyNkJoRmpZWk5hVmJmbERqZTNmYlVINkxobUNGQzFHUGZWNURYUFpwaVBmbDlNTVZhYytqMVpBLzVxUnZXTFR2eFRPdWVrYXk1M2JhU0gyS1Q4blE0L3NUcjVMWkdsRTM4bk80ZlFIVUo2QkNrNDltbEhXdDBaMGFzVVNWUGRReUthWFJVSGRqSklKMjZLRXJQaHBDNUV2Zmd5Sm1TcGkxUTlJWmp6Z0NiVWZES0RZWk5hbjJIdnhmdW42TGU5Tk1NeHJTTGw4OTZUSFBNcFU5R2c3QWhiVjNwV25ZZUJ4NzhiTys1WHMrR3BveHFPYTFBQWFpZVpQU1RzdzhNSmZzby9ta0hCZDdOVlZvaTBhMzBtdFBleHJhcWFZcVFTcW1YV0h3dE4zYVVBbSt1NHBDR3ZVTUZtUWtlOTFTU0VPRFFEWU5heG5ZWk5Ua21uU3dRd1JjZlcrYWFHaElUM3JNSi9UQmJubVV2UXQxcnh0WFVqVE1sV2JncHpPNmpEenRPUTJOOHplOUZzQXlJS3p0ck5DU1VQNGJkVjVnWC9pazVnRE5TRlprRS93Zk5LL3V4NzB3THBwZHA2bms0SjZIZkp5Y3lJNGpjelNrekVkUk1aMjd0alkwQ0RnYWpvMUsvZmJaaWl4c0Rqa041K3lWVUhESjMxODZmZlhaY2ZuZHYxZlZLUUdmN3ZQdU1RMzhBYjRIK0NkU2NGcy9sb1pqdER5ZG05SEt5cDRUVjl4UW5hTGh5YlZaakFEd1pYZnNPUTJYOWJPaURYUFBRZGtHaE9kVkNENjRtQ3hmUkdTRWJpaGd5MVFld2UxN2xZUmZhS25iU0JpZ2xXQ1lna0hKWi9LUWZXbzFRc1BjRzJ6WnZDbVZ3WUtNNU16UmNOblVpMjVCM1hWSzB6QUxtNHlhcktVSFBGQk91YmRzYmxIUW50NC9pT3ZlSWRicStHemQrdHNyNHRLc1JxS25JRjZKVHcxOXY0bzJ6dDkwL1puU0ZDTE44emZkY0RaY3Jla1NHU2RMd3pseTI1cVpVOEVpYzk4UXptVjdmV1huLzJaMGpjR0ZLK0ZjYmpNMHhIZ3lhVlI1RDVwa09JUG5kcWFRT29kVE1tTTV0SmdaTnNTSVpNTktIQTJkU01iR0VZSElVdEkwSmhUTlV6VktUUDIyb1NFTm4zVmZWbjc4Yk5TbExOdFpSSVNHK3FFQmtnYWY1MldwTGVNUlJ5QjdOTXpDSmdONWFkd2grS21taGhUWjVPOHB3UzlPclU3VG8vcFBKeWN2MWVtN2hPb2RjaVE5amlqdVBKRTN5VDRiUGpHRlVCUG4xS1lKQ1dRZmxvYllOMXhOaWthdzdHaUlERHZlU1JyMm15VlJMNjJFTUdVMVJsSGhyZExRNDNxR00yeVFoc0R5SWhtQzliYWVFbElNbkRGOUNieittYVE0ckVSR2s4SWk1ZU1ZOHpvRmxZTGZSZ3ZWYkJadGI1dXlPaEYxejlqOEJCaE9xVmlFaGoybVY0QkVTWmZ5YWVqc3pkcTU4ZkFJYVdnUXlLWmhGallaeUxzbUhleFFNVW9kN0pxTVYraENuOEpTdnppTndERnpsNjVmWENaRWp1ckhOQVkrOFhFNFhSMHArTUxaMmg5UllLT0hwU0YxN285SXJWUVVMbVJHdzJYejFMZDhlUWl1YldtNFRQU0VDL2dQZDIrR2huQ2tTVzBuUml0RGt3MjRuUzZrVDZFVGx2U2dCdlNzUnZubWtybkJpWVkrMVMrelVIQXlaeC9QUmp1ZmRJcjdYeXJEYldpSUhzY24zY096Tk1zMXhLUENZM1o0amRKd1hsYWdCQlVNVzhZamprQTJEYk93T2R3MHpMcHRtQmZmSjE4U0FNcHZrUk5OZU5DU3ZIam96bFlvVURTT2dJL3JFU2Z3YXNBbXYySmphVWg3TktkbExhVEhveUY4NnlJbDRZQWhQZzJMNDVSWU0zTXFpbXhxTk1RNHEveFB2a0pzU1pQaERIQlNZNGVzeWY3QUtqZjlwQjNmSlprRmxzeGFHUlEydTAvWXJWazdwZnFib25oYXYvTUxRWXlTM2lzWitrdHFqZXpSa0VqbkdVVGpLMnJ4bUF3RGxDV3hMWm9lajdCbHpKTHAyREllR1FqQVhWUmZtbCtVK3QzRnljQW1BM2xWK01EL0FpNURwNkN0WTZJNEx4Tkt3bjdqYzBVbTRJS05VMkRFVGtEdlVUY09UdWxwcXBUeWZ4NitxKzVIYmJoNTBRU3JRcFFtVGFSc3JxQ2M1MDdwWk96SGVEUThxb2dEVzh6QUNiSE5qSWFlMjRFRDI2R2hIY1hKbFhVRUxOSGVCN09XdmI0aUw4UW5WWDh6Smg0N1pxbUhBZG5NdGxHZ29YQnBSME9RVG5aOUVwd2UycTVCSCtCU29NK1lGUjBOYlpjSDQ4YWxqaTNqQVJxYXFpU1pkUVRKcW5XRmFhbmZYWndNYkE0M0Rlbk9zZk1ZaFJqOWpwbit2R0FjeERnVFJzTjVraGl5OE9QbTNpUVNHbWJxUmJuZUFRSzVFY05MVDJvWFRRd2VwNFpZU2lnN2J0VmNwdy9IODJoWVU3ZUE3YWVocEtMTjBCRHRucEtGNU9iK2Rtam9wc1ZvaFI2UTROUkd1d2NsNmhzUm9xQnlsc1g2c2h1K3FuWVhCMEtWY2Z5MFhSdlMzTURhbkJ5VndGZThGTFRPNkk3UzBCR25vYS8rbHZHQUpURUUwQkdvaTE2c3k4WTRHbVpnYzdocGlLVzUwRUFwdVBUdm1Ga0tWa3duYXhiekF5VjEwL3dZMFVJZERRb08wSitqeEE2NG5yY240RW5rN1Z3TkhIT3p1S2FqWWRuTjUwYndsdzNZN2xCMURwb1JISjVQUFdBK3g5c0FBQWhLU1VSQlZJQTZOa05EekFKTUoxQXJ1ZDMvREdlQWZVYmFWS2JPY0VMYUsxSkh3WWJSUGZnam5SdXhvVitNU21tb0xNeW9jdmpGWlpnd2tYNDluMFRiaGsxYXkzbk02ejBiY25ERGZ0V0tFVnUybHNRbnBRN3NzcTVzeTNoa0lJQjYxYVV5VmRtTGs0Rk5CdkttUlFmOFBBZS9pRFZ4ek16MjhtWmhVelN1MzZ2ODdxUVpKdVZlNEhoeWorc1VRNFY1VkRFVEpzbFl6ZzJTdU12a2h0S2FtYy9JK1p5WmFaM0I4SUVuVUZRL1BtWkdjQXpOcnFDNTh0QSs1QTFISmRkQ2VMdW1FOWJFZXJ6STNWWjFBaDNMcGRwQlRtZzJhLzFSdjJIWFpyUm9HN1dsWUsvMmUwZzdBcU1QYzJEY3ErY09JKzFvaURIRnppelZPaG1tMkc2dDRMUjV3eVk4Zllvc3dmeDEzRmlVMTFkdHkzaGtJVkJWZzNPUG1XeTdpeFBISmtUZURmWEcwSU45cmdXckV0ZldNWE9WODhaeExRMjFFUDY0eElyWGNOa0xrellhQm9wd3VGamV1NXdmd2duY2c0WlZNNStSV3hlNk56MzVCQ2cwbktqZGkvOWhod0p5Z2xGVG5UYzltck44a3creHpHb1JYR3ZqcW5uVHp4eDlHaFV1YVlITzVVeGw2b3o2VjAzM1UvYThHNE9MYWJLZFYxQUp5R3ZVYUcvTTB6WGl3Q2hNcVBTbU43eDVraXFZSzlydmxSL1ZqL1NWamVvRU04eHhYY0t2QnEyWFhROW9hTWJxZm92N1Z2SElRZ0FOR29ZTlI4MTZ4RjJjT0RaejhTdlcwdkFEbVFCSVVnOW02bWFPbWNFaWIxWTVJUTBmZWQ0ZmVtc1JkUEpmOHovY0cyQlZRUjB6UVlxTTNGZkNTRmJYNmJZV09iVGFmMUdqUjBwdklaRmNaVlJldlRJNTl6ZERvVXlWZXdMNnYxalVQMXZRbGFkanpHMVkwTEF6S2hQbHpxb1pQQnRtU1ZPZHJ3cnhuN1ZBNTNKYVVKL2doRS9sWjJRRTlobVhRL3k1WW0xSkptTURhRlFHMUU5Um1PRzk0bzNqNEtjZER1L1JRTksvdTdUNU14RU1oL29USU5XZlVhcDdTdUoxS3BSM2xvQ1JadWFRMVBSdUNtaG9CdUo3ckhGYnhTTUxBZGczQTJ1VzlaeURyb0s1T0ZGc1VzalBxNVljZ3QvY2x5OWNBM0N3OWZIaUIvNDQzZDYyTk16OVhKSEtlVE9IaW5XS3RDSjFXMzhsbmZ6Q08wbURFTmZoSDJkeGpHaDMrRFp0a25qN3RkOUc2UTNVTW8zengrSGgySU40U05TVEMzQlBwSTVTOXQwbENxL2Q5VitTZ1lXSEtMeitZdWg3ZU9FZGxIejd3b2R0OGwwTDllUUxKdm4zcUNqbXdmTjB2bnRWL21QaXE3NXRhV1BscUl3N3lBbFBydFVwb1dwOW0ySURtbTg5K2oxN1NxUEQ0b3FuSGR3RUFCbVlHL3c2Q2ZTcEh1YnJxcG0zWC91QVlqTmxoUWZxVzZTVXZ3QW02c0NmSzhrVWRGT0VHYml0UWJsclljbHZQV2lZVnoxR2Y5SDBTbHZHSXdzQkxBRlJSNjQ0Q2p2OGkwUFJGbXd5cmhoa0QvNUI2eFJ6UEp0dXJuVVhPMDY1MGJBWHU2ZXZlQUgraDlZVndnSm94Y1hDRU1ZRHRWcjNreVYvcUhZMU9CelhjMCtickVtTy96VVU2Ly9seTVWMWFJZWowdkNnVFo0aGJjczZza3JySFhWQVg5bUV2K0dTNFpnTms2d2FXeE5ydjRoLzFpdk5TQnFTNTI2c0hOVnJEM0xDcEhwcE9CbkFRd3dmc3NrSURKYkU1VjkrL3k4VmhmemJRcHV6YkxkaWhzdzBRK2M5S3NTclgvRCt0K2o5NTd3eDFvNGhWb1VPOUJURitnYysvNm1QMlpGY1Bxbjl1My8xdVQ4VTRxVktodVk2NmhoR1I2ZVBKd0RLVXoybG42NG55ZWNxZHFTa21jS1c4TWhFQUozQ3IvNzlvL0xLK3hlSExHdkJwbXlNQzYrWWFzVUIvKzBUNitmUDNJUS9nRDU3M3N6eFhJdmIwQkRYL3pLNjZLTStEYkVFMFZNa3A4S0dZbis2WFZvL3AvNTdXdEd3Uno5dFhLSi9wS2JqekhsRjhoN3dFTWQza3JLdnJ2OHdmZ1ZFenB3RmUzQXNvd1hYMzNEbVBOSHdQUDUvRytsRVEwcWwvN1dtaTBySk42Q0ZvS0ZKVmpURTMrdUtjMFh4RStiL2cwRkRJOUMySE5WckQrbUVBT1FjZW91WDIxUVo2Q3RLeTlYZkY5cXNZN2E3T3FwR1k1dVRnRDQ0THRWbFNsN2hjN2FVU1VQNXo5VW9RSmlZUTZrUXhwSmUyM3JRMERUdUNTeFFSK24vQnMrVmhQaXdLWWt4YW10NFpDSkFuMDNRYTFULzRzZ0swOWhrSU8rTU82eWhOalRNcXc0K29DR20vdUc3ZjEzRExmZXpWNWR1L3FldXFmTVYvZHlkcGR0ZWdvVGZ1ZW11Ny9wZmYrM25iRGdzblREcCtmYlN1ZGIvNlpBdm9xZzV0OVBYWS81ZUtSazROK3VTWmVpTFY1ZHUrNzUwWWtyR2orYnc0c3QxTC9KVEVxaUlXQktJWUtaSWZkNTkzeVBPdlFyVEFlL1lFaDdaQ09TK2R1UGF5enoxZmpDS2pTL0FZWWxBTmcyeDlsNGhrWUNHNWN2Q3pyWmsrVVB5bzV6d2tEUTIya3hHSUFwTGx4S3phVGltbDNNK0RmdkZZam15QU95U0xmdFlEVHNoSTdDVDdwbEpRNndDSjJURkoybHQrQWxsdzJjdjB4OWh6NnZJWWZwbEoyUUVkdExmTTJtSUcxRXJzbUpKd3dMMmFyRFlvT2ZZekNncE13L0xEenNoSTdDVHZwNUpROXgra05URFk1QVlEUlVONzZGdGFXU3M3S1JGKzFJM095RWpzSk9PbVVuRFkrWWg3RG1pWVZGU3NuQUxtVklJNzBmdnBIWDdSamM3SVNPd2s4NW9hVmd4ZDVsTGFrMklRVzlhVmp4R3owU1daaEgrakxxM2RZOFE5WjAwYVQvcVppZGtCSGJTTC9QbTBlNkNlYlJiUDZ5TUp6UEdxZUlCM0tLWVRlanBaRHdXSmkxQlR2WXRmQ2x4OEg3WUNSbUJuZlBxOTM0SmozUDhhNHgwNzhVLzhUMytWeFI0R0U4dWY1N0d2b0tRVDZGOGNoSlBRZzArbnZUL0xCN0dXQ1JUL2dZUFRYejM1M2ZPcVAyb0dVN29QYys5SHkzY2Fac1lnWjFEdUVqUElSSGQ1QmtESThDbTQwbFVpYm5uUzhHNXRkbUdlTHo2REQyMnI5K2ZLVkJJejFoM3pyVDlwUmxQUzZvM0lQZVhXYnRvRFNPd2MyQVg2Ym5ORXRFUWdiTWxvaUY5aExSRU5FendFUE5yM29HYmhMaFRpSGNMYXVkdU9xUFNDMUoyZXVlczJvZWFNU0czN3lqc1EvTjJ3U1JHWUJkQWpsYngzKzhzM1V6UFd2LzNhNGVqK1ljb0Vmdkc5cFhoUTlSc3I2bU1nQWNHQi9jQWdjR0ZCMmthdm5idEEzdFErYjZva2hIWUY1ZmhjQnVCZXpmNk9LdzRNQUtIOWNydm8zWWZ4Y3BadnVQb2YxUm1IOW0zODZZY0RnVCtmNkdQQjJtaG1GY0tBQUFBQUVsRlRrU3VRbUNDIgp9Cg==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nSUZ4aVpXZHBibnRoYkdsbmJtVmtmUXBjZW1WMFlTQW1QU0JjYzNWdFgzdHBQVEY5WG0wZ1hITjFiVjk3YWoweGZWNXVJSGhmZTJscWZTQmNkR2x0WlhNZ1ExOTdhV3A5SUZ4Y0NrTmZhU0FtUFNCRFgzdGNkR1Y0ZEh0RFVGVjlmU0FySUVOZmUxeDBaWGgwZTAxbGJYMTlJQ3NnUTE5N1hIUmxlSFI3VkhKaGJuTjlmU0JjWEFwY1pXNWtlMkZzYVdkdVpXUjlDbHhkIiwKCSJMYXRleEltZ0Jhc2U2NCIgOiAiaVZCT1J3MEtHZ29BQUFBTlNVaEVVZ0FBQkFZQUFBRmtCQU1BQUFCQmNDUWNBQUFBTUZCTVZFWC8vLzhBQUFBQUFBQUFBQUFBQUFBQUFBQUFBQUFBQUFBQUFBQUFBQUFBQUFBQUFBQUFBQUFBQUFBQUFBQUFBQUF2M2FCN0FBQUFEM1JTVGxNQWlkMGlSREx2ZHF2TnU1bFVFR1pmUUVlcEFBQUFDWEJJV1hNQUFBN0VBQUFPeEFHVkt3NGJBQUFnQUVsRVFWUjRBZTE5ZlpBa1IzVm56ZlI4Ny9Uc0doMUVnTytpSnhaN2hlWERQU0VqK1d3TGQvUHhod1B3eldCa2h6SG5tMEdIOXl6OFVZTWpKR011aU82QU9BaVF1UjZMT3hsSmgzc3NFN0x3Vis5aHpvSGhvQWNJSDRRVjV4a2tJMDZDZFUvZ09JNHdaL2RxSkxWMlZoOTU3MlZXVm1WVlpWWmxWV1ZYejVyTWlKbk95bnI1ZXk5ZnZjcDgrVEtyeW5IS1QxUDFsNjBCMTltL2NHKzlCcm5QZk1LOTlkMDV4SGpCMFh1eDFsdnVHdDI3a2FPNnJUSTVEVlRyOTVCbndBUjZSdy9VeVFVd2dlN3hIN3BrTzdOQUR4MzNzUHJQayt2ZVF5NW5ybTByVEZJRFMwODcrK1NNMDNybXdKbkNpOWQvK3NCWklFOW5GcW0zdlV3ZWQrYkpaeDJuUnRxWnE5c0tFOVRBZXRzNVRaNWJPRjRER2Jxa3VYVDVBREl1d2NNc2FRYk1oNUNEem9laDBpSjVNa3RWU3p0cERmVFduRG55Zkg4WDVZQWJ1QWY5dWVOMG9HZklscGFlUU12NXpoV3NSZnVUYk5VdDlRUTFVRGwyb0I4WTBXdm5ETWt2ZzJzQXFaKzVOMi9zWUQvZzdtTHRGWEtFUHpaZEpScVlncEYvUU1pdlVuR0hoTUNsaE5UeGZ1bUIxci9hdGxNbFpIU0F4UE9FYU5XeFJDZERBOVBRaDY4VDBxVFMxSWpuQjNUSmJrYng2bXZPRFBIOGdGTmtsTEcySlora0JnYXI2QWF3b1FCdWYyOCs0T0kwTDB1cVF1OC9SVHpMV1NJd3dOaDAxV2pneG0yY0RrQm5nTWtsVy9RWGVuVW96cElxL3g2bkExNHZNbWNEQkZsMGR5Sm9pZWNCVm9nM0hWZ21aQ083WktmNXBXK1E1N1BYdGpVbXFZRlpRdllvZi8vU244cmwxRzJTWjFreldyeGZtV1NyTE84c0dnQTMvb0RTKzVkK2pqc0lXV0NjRm5tTzBmZThJU1ZUYlVzOFNRMHM4ZW44TkwvMG03azY4eDVaWmMwZ1dUM0tTYmJlOGtZTm5DWXNNQVJ4QW05YVVPTjNkQ1lGOFV1L2tzdWJ5TVRLRWh2V1FJT1A0L3ZrS1FidFpnNFBRRDN3S1BkbzlTVWJIbUJxdklyK0QvbGQzeWVYcU5qZ0pCNW1seDl1ZitaV0RHRDkwS2FyU3dNZFBvNTN2ZHNmZkVPNG1uK1JzUlVMM0swWVluY3kvL0tNMVMzNUpEWGdCd1Y1ZUlCT0N5cFoxMzNtdUZ2UlJaczZ6YnFVU2JiTDh0YldnRCtPUTd5L1NXdXRvNE13NVRtSzJqamNyWUFnNHhuSDJkL1ZybWdKSjY0QkdNZlhxQkFRNzJmQ1VMOWd6b3NmYThzMzlDSkRFRzRBdkY1VHU2SWxuTGdHRnJnYnY4aVhlcm9ZTzk2SHYweXA0MFdHVHFGZk1KdDFKTW5FeWhJYjFvQy93bk9hKy9NOVdER3F1cXh6MEdmbWVxc09kQmZSdEJjMjFxOXVLU2VvZ1FFUEQyenliWUExc0FIWWFwb3RnUnV3UjJzc28yOVlhMmVyYmFrbnFvRjlIaDVvZWVFQjV4RnlvZHJOZWhGaHdlbUF0YU4rN0N3Y1Q3UkpsbmxHRFF6NXZyR2ExNW5EaHFBclhiaVhzNlVWN2swNE41Sjc4c1FaczdHejFDWTFzUEJMM3YzNzJDOXgySzkzWDdiQjg5cS83L3NRSjMzeDZHTThhMyt0QnF3R3JBYXNCcXdHckFhc0Jxd0dyQWFzQnF3R3JBYXNCcXdHckFhc0Jxd0dyQWFzQnF3R3JBYXNCcXdHckFhc0Jxd0dyQWFzQnF3R3JBYXNCcXdHckFhc0Jxd0dyQWFzQnF3R3JBYXNCcXdHckFhc0Jxd0dyQWFzQnF3R3JBWk9wQVp1SkZtVDk1YWlvRFVHSUFJd215dGZBL0NHNm93cDlta2FBeERsdDl0eUREU3duOUVDZ054N0dNM0hNQURoWTluTUJEU3dtZDBHdGlOaUdvQ0lJTnJEVWpVQXI1ekJGT3ZndVJBWGYvZ1ZmLzJPVDljWkZmdS94Yzk1dndZZ0lvajJzRndOZE5tRlBVem0rdFhQMysrYlFleWxJZ1lna3JuYnMrUFZ3Q1BzMnFhL2Mrb2JuL0NzSVBaR0NRTVE0MjJqUlUvV0FMd3hCSlBPVzZPKzVnMEowYmNSR0lCSWx0R2VIYk1HK3RRR3RGNHVQdnNpU3R1T1NtUUFJZ3Bwajh2VXdEU3pnZGdvTDVYaGRpVDJQa3dRRUJpQUNNQnNybndOd0p0SmFWclRZbDBEMnRoTHFBMUFhREczUk9QU3dKRFp3STRXZnJVUDN5Mk1VUnFBaUdIYWdoSTFzTUJzSUhaM3kwV1ljZm1yQjRYekJpQUVOSnN0WHdOMVpnUk5QYzZQOHMrZml1UUdJRVE0bXk5YkE1dk1CdGdYYnRPWmQvZ0hUZ1JTQXhBQ21zMldyZ0Y0dHppbUs1cU1aUjh5TndDaHlkMlNqVWNEUFdZRTBjVWdGYk5PYk9rUTNrNWZIRUxGenBhWG9RRXYyQnZiSGFMZ3ZlUjlBRlU4YlFCQ2hMUDVzalVBM3l6QnhMNVZyOEc4dmhVak1nQVJ3N1FGWldxZ1JtMkF2NlU2bFhORDhnVmpBeENwZkMzQkdEVUFIeW5ISkxtMFVxWlRraFVtQXhCU1hyWXdSUU12U0RtdmV6cGJzTmR4M09qU0lmMm9KYlVqdlpDekZFSlhXbE4wbGMvZjU0N3V1YzJEZTdFcDJKSnh2TzlQRmVlNlQ2OGYvN1JoS2w2ckhTY3hBQkVISFdmSmd5NXI5QTlSSnFja2ZkczR1WnZDcm5pZkhpdU9CeCt5eEtUN3JZcVpacHlsQVlnNDZQaEtLbjFvNytpQlQ5MUh5TnVRUzAyMzdlTVRLUmZ5akRuYnJhTUpTRllDTXNobEFDSUR0NEtrc3oyd2dFOGVBTW8zZXJoM1lvVi94NmtnYnVuVkRYNHpya0ZOd1Bzb1liNkdHSURJeHpoSExUU0JLMDFXY2FZT1hZRC9IYWNjWUJPdFVvbXY0dWFWQjc1dGlTbTJWekFEbmdHSUROeUtrZFpnSzdYdnZTNlFOb1EzVm9zaFRxeTIrelB2dlB2dVA5b3p3YjlEYlVBU0FkUUhOd0NoejZ3UTVhdkIyamNDaE03VG0wUnJNMTFRNWVUa3dKd2hHZkVLdkdEdmt3VWFad0NpQVBjTVZmR0ppRzJCZnBxNHhWd2hBYXZzN0xKTHJuR3FQMGNFazg0dHdpdzFKLzE0c1lTUkFRZ0pxdm1pS2pnRDN5L0NVc0VQeEpLckpsL3BIYnRIWjkxQ2czalEyQll6Z3QyZ0pIUE9BRVJtbmprcVhBOGpRZmlLOXcxMXBqbUVLVmhsbnh4KzVSd1ozZHNzaU1PcWU4SGVyRisxRlhrYmdCRGh4cFNmaFk2L0hjWnU2SWRHd2hVbmZUUkZQbXhTaENxb0JsT0JnY1VBaE1rV0tiQTI0OXRsd0hqMTl0WXJJQ2RXM05IZCtLTXA0VG8xZ1VKekpBTVFtc0xtSjhPMWtaMUlkZGdHRlh0b0lrSnlJZzhYb3gxYVVTbTlZSy95RVdRTmZBTVFHbHlLa2R3bzJTZ0I0WUd0WXFpVHFkMHpIdUR1c283Z3NFQjdERUFVNEs1VHRWb25KRDRCam5rSU9sQVRwNEhnbG1rWkdzd0cwaDlCVmpNMkFLRUdOM0ptQ1JwNUpvYmtrc05ZMmNrdjZCUUo2OHFiNXdWN2k0U2NERURJWlROVzJwSUd4T3ZHVnVHTkNab09ORVZlbms2VWxhTERPb0lMV2VzSjlBWWdCRFQ5N05jT283U3oveU5hZ3NjWURwTHNuZTJhVzNtUmNSMVAyZm80RERmVDg4UHlkaG1Ba0FPbmxIWmlydXk2WkFlODQ2Qjg3VGhXTDFZOVRuUFNTcXB1a1ZpT3FqVUdncjBHSUZUU0paWjNvbGNXWFAwRFNRMFlDbVIzVDA5M0s2VUVjbEpGaTdFcHJoRkpVRU9RZGdxQXRTaENJWWc4M0IrTnZsWnJYYnBERm9NRHN2bFV0NGdqbkVkZUEzVnFNbU11am90T015VE5SNUNsL0hKRFZGNVN2KzRRSVNzdklDL2J3MHlXQkZPK3RrZ1AzY0NoZU96bDhRRnAyZVdXUERFaHFYMmlpaXBTSXk4dUlnLzJOdk5ENVlXQW5UMGp0cUpiSStmRFM3dGF3a1E2QW5rMzREVEFCbllsZUc0UlAxaUNWMExSVXFHSWJvS0FYckJYOXhGa0dWSk9pT0hSM3psZngrZGVsMGIvNE14a0Q0QlZ1K0xGVlhRRERrNWJtaEtwdnlUekhTUjBKNmhvbit5TlJ4cnZmWk5GVmlMeVFaeWlYWGNMT3ZRT2VDTXIzZXhMVjQrS0QwNHJ1b0VxbUVDUjhNZDRsSjRQMVRVZklQSUU2WUtXSUczbms0dlc2bEtFakJDMWY0ZDE1OGl6VTlpMHZpeVdSOEhWLzhTT0FONld0eWVqeEVma2l6ZzdNc3dKbFUzSndoeG1aR213Q3lnSm8yamo1NEZZR2EwaC9pbHl0QWt1Rzc3d3NLM05qeE1LSGNHK1lpa1lvd015bDVCRFhFVy9wNU9uWHRXYlg2dEtWTk5KTGMzd3Zra1ZUQjZJQmx2R2dmc1V2VE41VEYvRmo1Y0hIWUdxRzNBMndRWldPZjNWL1R1VXpudjhObmw3TzZHOXNaUWVXZXF6T20wZkxYc21CMFQzREdXRHl3MWdwblB3MDh6TzErOElWTjJBVXdOZ3hpazcrZ21yVVU5K3hzenp6S0c5c1pUdTdIbkIzaUp4cyt3UUsxNjRIdm9CbEJENmdUeXhXK2dJZHZCS0tic0Jwd3NLYVNMSlZaOW1wS0d1b0ZrTGJ1emE4NEx2QzZnVXVheVBJRXRnc2tQTWVTWUhlMUJ3VUtqVTgrMzJmNVJ0cjFWMkF6Z3RTTDU5SkswNW1VVkxZL1ZyaHN4ZVZndTBQVFBFL2hiakJoM0FKY3pOZkpFZDQvODNYemtJRGh6bm0yOFZqeUo1MmhHb3V3RmN6RWlaVVdYaEZtRmU2dUZnckJ1ZnZQZE55cUxxdXEzTUROSHpCdW5UOGJVSzZGVGFBbDhZTFpyQ1lTUzdpSmRZMlEzQWc2WHkxWUlBSlJPM29GcjV1V0ZJSzZiNTV3MzJDbkpraHVDckg0MTRaQUtHaDEwQkd0ekZRK0V3bXUyU2owSTMwSXdXZThlNDNUSFowY25HVGNHbWpPSk9vaG9LUzdBSm1vSlVKRjY4U1JIMElmNmJKL1IrL1ByQjhIQW9OQWw2aWpYaE1KcUZqbUFvMlM3b2tlR2NNem55a1kxYmxIdUp4NjUwWmR5WUFORGRZa29aT0JQWjVZWG94MTIyaUFOOFNoSDk0ZUowUWZJbVA0aitvZzA4RnkwTUhXZmtGcXBiNXNHczVNWGhSdm4zUUZXUW1nVkFjMExVSlpaM1UvaStmMFBJUTR5SkNFK0x4SGNOY3lwOER1b1NQNUQvWnVNbXh5aWhkRjVjSEJrSFB5L0d0RmNBT3g4RXpOMktSdk5oeFVxOTBSSURGMXVTVmkySHpVeENjZEtLbG5JRlVESzBBaFplSWVXSjB2aE04a0dBTzZlK2lYM3N4RXdMRmdhVlBRWDJBNnVTNnEwTGtzSVRYVFNkRWlJcUxud05kSlc4SkpIS0l4Y0VlT1VwWFhVYVgzQkV1dXFPQU9lc3V4S0k3cUdrOEVRWG5TYnBVZjlpRGNEN1JYMDNhV0huZ29DK2VrY0xYVW5VSXIrNHFCWWQ1NGE3OGJxVjhmclljWWJGU3dZcGM5emlIRERZUzlmejgwUGxnaGdVWGRHWko2TU5SOTBSNEhSRlltU25DZzE3K1hWVW9PYjRiUURmUk44c0lDRld6UU94WDVRdGRBTzQ0cVRxdzhEZmtQbUVnNkpPU0VGVjVhamVTQjBMQ3V3Zm9QS0FjNTBjVGt1WE9oZEVYLzVNUURvM2oySUt1d0UwUDhYVUFOZU1KQTVIVGRJM2FQT2NER0VqelNjc3RIOEEyd1QzNDVtQ2Jjc0ZVWTl0OW52ZCtkOFJCUG5hWGJkK1ZqaU1aV3ZZRFNSMUJGMVpqS2pxOTNuWnVNWFlsMWh3V2hKSUNiRmZCM05YSkZ5ZFQwMnd2RlowaE13RkFiY3BYNm42TmhQeU1YSTNlYWt2N3p4NWU1Y2Mrb2V4REhRRGE3UlEyUkcwWkpQUEphNlViTnhpN01zc09KM1dZeGJhUHdBdHVWSHFPV1ZxWWk0SUdLNmZaVnlxYkpXL1dtODczU0JtM1h1Yk01VVVRS2h4UjFicEVUUUNLd3VhTS9SMkdHYmtGZ0JNSUFkTFo5dmpaQXVQN0doLzBVUWhSejRJbUxvOXh3RG4yWVZmZ3FoaG4reDVUQlpoSTBFbElVN3Vkd05xandBV0RHSVBHRmQ1MTVLTm02TGxKUlZEUTFiSHlRcW05a1gzM21hRitKc21OZ2pDQTZ2NEN6a1dBUm11NHVYa3JrbG4xM0ZndUdEZFBWSkZrdDhOcUQwQ25MRTJJOVdtK2JpWGpWc0VwZVJEMkFreDFpQlJKNjZuckMzTUNPSDU4NXQrQkdlZExWelg0WHE3ZkZ2WkRNNzQ0Q0kyRmNJSTNRQmFqankrQVlMdFJPcjNlRUVtYmhHUXNnOXhodE1jSDFNSXBCU2RHR2FGcUxFcjAvZGZHdHpkeHZhdGdMTUdGLzJRdGZVUlhQa0hsMkdOSGNiK0M5MEFkZ1NlZXhnaGEvZ3VCeit4eUlNSjJiang2cFA2N2NVYVlsS1MvZEluaHRoRFg0SW11TnpSV1dIUGcwMkRod2h4QnUraTE5cEFBaTZEb3EyaGJrRFpFY0JhVnRqWHFYUjVMQ0VUTjRVUTVSVnZnczdlT3k1Mk1LdmpjNlc4TExKQzREYS9WY2VaSC9GK29NRUNkNE10Zk5TQVMrT2lMVXdyNThXaGJzQnhGaFFkUVN1eXRqemszWUNUaVZ0ZTFSaXJoMHNmNUkrTndZV0JjczNxaWtGZ2U3WWRwL0Y4aCt3aVVyVitoZ0plRDRYcmZMcm8vRDhzRzZnMkdFUzZBUWVlTUpaNkJNRHIrSUNpMDMrUEJWc3pzM0FMQUNhVzY2SVJYRzZPZzMrK1dWMUlrc3dRNEQ3Z3pkNXJOd2lkR3o3RVBYVW83SVNEdS91cStFQXJlc21oSXdoSnhROXEzdmVMNlBHOEczWjlkTGx4c0FuK1BvUTJRRVl2SElNSU1QRk0zbldaempNelJJVWN3UjIvY09UTTAvamtqTHZyTXdIL3QrMGZRS1lmTm9uZ1ZDL21BM2E0SXhFUVlRNTN0L0NCOUN2dThacDRWcHViV0dsUytUN2FBQ0hYQ3IyYUlWSDZ4ZWNjMlNGYXgzdk9jaDJjc3hyNUVIeGpTdGhQQnE1Q1UyeFpQVGExODg2KytxTWlHZVpWSzhJL0JvcjdVN3owbGI4blIzdEk2U2R0Ym42TkNXYVc2OUFRU0ZlYWhvWElPcXVUc004QkFkL2l1SVZjQm9OZWNjazVjaXcwYWpIY284T051aTFobWEzb3phQzQwUU9mK2JoTFJvZmhtdVBnRnVaZzhtaWxpeVpRM0lXUHlnUVR3d3ZSc296SGVTQ1dQK0QrNEFieVdibC85RWMwNHpGdGhIMUFDQStJWnpOS3hzbGZENU5RVEcrTllvMkZHK2RxL3JmeUl0YU9IYVBRV1dkMUV1WUdJQVRVV2poc0RSc0NoWk81czVWM3drZHVQM0piclA1NHVNWFltQ3Y0U1dvRXd0aHBBUG9SUDJLZkc4d0FoTURiWmJORlhoSkVDM2lKMGQ5eXVaa1FmYm1EVnJCbUFvcGpGRjh4ZEF4QWNHbW9FNy9uT0YvdzI1aStoU3FvbXowSFU0WVN1V1dYVDFyam0yQURaNlJuOGhWbW50WEYyUmlBRUVEWkpCOFhjMWdhRnA2NGNpVFpiN25jWkJMa0thdVJjRitaQjBPbzA2YzNnbENRUFdzQVFtQTZ3STFGd2hkOUl6RWNnZEpFdGx4dUppUkdESWg4cnByQ2dvQjk4VVZwQXhCaWUvYnh2bDhJWW5tUkFWc2tOWkF2bDVzQmdSbUVhOUlHMW90UERBMUFpTHFwa1MxWUk0QS9sbUNCY1p2bngvQmJMamRqRGVpcjRtWTVPQmlZMVJtQUNBbmV3dWIxRG5rWnhQRTJlSDRNditWeU05YUFta0dmRUdaMWZDMDlyM3dHSUVLc044SGQ4ZllXWXJtaDhFQ0loWEJRTGplQmNiRnMzK0NOQWJNNjN3RlBrZW9yaWk3WkFFU0k4eEtNQmYzQU1NY2NIaWlYVzZpaFJRNjZ1T2hxSm1XWjFkWGFVcDRHSU1LNDFmcHhUMWp1SDI5NEFQWXRsTWt0M05KY1IzK0F0V1lNenBjenpPcUNKM1BDb2h1QUNBTTY4L2UvZlM4b0dtOTRBQ1pHcFhJTDJwVTMxLzB3MUh6SW5KOE0vcGIyYnVVcCtmdmZEVUFrYTZPRDA0VFNVcm5jOGpUck1mTGZuZG02dWVVQ21OVzFkZVZveUszRkFFU3lCTVhucnNuNDRiUGxjZ3Z6MWp6NkZqbHkrYjVyelNvSlpERDFEaDdxU3FDanArcDB5MWVVeWdCRUZESjhEQ3ZIelhESk9JL0s1WmF6SlY5MmIzMTN6cXJ4YWxsbWRhZmtBV29ERUhHNXZKSXY0QlpEZUl4UVNXRDBSTG5jaklwZUJLeXJQekYwV3Y0amdDR09CaUJDZU1JQjNKT0hqck9wMmxBcVVKcklsc3ZOaE1SR01DRDZvcjJWRkZ3L0dVOERFREpZV2diUEwwSkVJdWZiekpXb3FoUGxjbE5KVVhwNUxjT0tZUXNYOCtMSkFFUWMxQ3M1amZza3BvaTVZSWlTRTU0b2wxdWlLQ1dlaEZ0YmU0YWh1TjhOUUtnYnZJanoxcUhjRFZIWHludW1YRzU1cFRSZEw4T3Nicll1WDY4MkFLRnUxUlE4UWZKMWZUTlZBMm1kS1plYmxrampKOG95cTRNdVh4YVlNZ0NSMU00ZStVTnlSWGMxSXdsSTYxeTUzTFJFR2pzUlBMY1VMTXdrYy9zQ21JRHNsWTRHSUpJWUw5ODMrdTNTVE1BcGwxdFN1OHM3cHorcm95WWdjODBNUUpUWFhzc3BwZ0h3OHZUZTBsaTlIWHNCLzBsZ0FjZ0FoSUJtczZWcm9PYS82eU9aOWQvMnFBbklGbTRNUUNUenRtZkhxZ0hOV2QxTm4yQVdJRnRLTVFBeDFpWmE4QlFOYU16cXFqZi9oeTYzQU5tZVBnTVFLVUxhMCtQVVFNVWxvNTlScFp2ZjhOZi85eDJmdWl1NC9wQ0xMOXdZZ0JobkN5MTJtZ2JZQ3kxQ1Z6bjVJTDU1d0FCRW1wVDIvRGcxMEUyKzR2R3o4YzBEQmlERzJVS0xuYUlCbU5WbFRPMG9vZ0dJS0tROUxsTUR0WXdXSU5uTFl3Q2l6QlpiWGhFTndINkpqQ24ydWk4REVCR2g3R0dwR2hoa3RBREpJck1CaUZLYmJKbEZOSEJqWmh1SXZkUGNBRVJFS0h0b05XQTFZRFZnTldBMVlEVmdOV0ExWURWZ05XQTFZRFZnTldBMVlEVmdOV0ExWURWZ05XQTFZRFZnTldBMVlEVmdOV0ExWURWZ05XQTFZRFZnTldBMVlEVmdOV0ExWURWZ05XQTFZRFZnTldBMVlEVmdOV0ExTUJFTnZQbktnUWJmUnhQZlY3Snk3b3dHaHBNTW9vTmdhY2FoQVhpdFdEc2RkNlllZitaWXFOWFNlcVZOQ29pQVo3T2xhZ0Era3JlYnluQzVsL3lKQTVjRVg2RlRncVdCS0N2YUUyUFdBSHlGNWpDWlJmVVYzM0ZUUG5OQndoK29sdUJwZ0VocTJhSlNOREFqZndleHdMc0RMeURwSlBjRGZmbjd6TE9CQ05RMlc2NEdia3A3QStUN2Jubi94bWF5RGN6OHJ6U1pOVURTSU96NXlXb2d4UWIwaERNQ29zZktVcG5YZ0pITFp3VEVmTnNzb3A0R2pGdytJeUI2OGxvcTh4b3djdm1NZ0podm0wWFUwNENSeTJjRVJFOWVTMlZlQTBZdW54RVE4MjJ6aUhvYU1ITDVqSURveVd1cDlEWHd1dk8vbzBXY2NQbXF2M24rWHAxVkoveENYZUtpZzVZZ2xzaTBCaDRqZDVPWDZvQW1YTDdXNk9NNnF3WEFKUUZFUndaTE13NE5WT3R0cDZ2MW9WdjE1VnNhTloyYTNwZG8xU0RqYUp6RjFOTEFFbnpXTGozVWoxRHF5OWY5RThkcHlENXVFWmRBRFJLbnRTVWxhV0M0NmpnOVFyZC96TVBTWUN6OWlpK0g4dkl0NENlT0J0NnlZVjRRbjQzTmxLNkJPaXdYdWVRQzhwMk9HUUFVQkord1V0ckFPbjRXcmVGdElja0xVbnJETFVPdWdSVzR4ckNONkJDUFYrNDhHMDhmNDVUS3NhRHFiZ0ROdnRjUDVBVHh1ZGhNNlJxWWZ0YUJUd25EOTRUVGs2b2ZtTUl2MDROUGNTa2RJc21wMEtsdGFjYWhnY0dXNDh3SkhYNENENVVOek5GM0dOZkpUa0pkLzVRS3hDZXdtZEkxY1AyMjQ2ekx2bGtZbDBSMStWYjJnTFpLbUY4WnJ4WXVVWUdFcWV4UjJScm9HT2pHNFRNR1RSMjVyUTNvYUtsMEdyaUYyenBNRXk4ZmJFM1d3VkE2bGxxVkxkRzROQUNmcUd6cVlDZmF3RFRSaWpWYUc5RFJkUGswaXlUMmdScXBFSWsyTU5CY0Mwb0VrYksxaFNWb29FRWdYS3lSRWkvZlBubEtBOExPRGJXVVZENVJMZlhoRUNaVG9nMW8rcFYyTENqLyt1cHdkUG1EWnN2M3hjT0VaOVBqaEpTSEVSQWRhUzNOR0RRd1EvQUJvUzlBcExCQXFCL0N6UkJvd0ZRQWhBSFkvK1ZyWUlHNmhMaDBKRjN5K3pWZm9xU3hBT1lXRzR5d0FJalB5V1pLMXNBQUh6YWNqWC9PUENaR2tnM0FCMjlqOU5LQ0pCQnBCVnRZZ2dhb1I3K2c4ZHg0MHVYVFhIS3c4NElTTG1nT0ZqWGNBSVJMUjJscFBTRUUwRWc0RjhKTkFna1Iyb01TTmREQ0JiL2VZVHJIRnFHTHhGTENvV1o0d0VrQ2tTTGJ3aEkwc0FsVHcvbTBRRy8xNGcydmdrMUZ2L1dtaXdkU2tiVENBMmtnVW1SYldJSUdsbUFzNk9OdXNLUzA3bTh6a3o4ZTRJY0hpb0FrMWJYbnhxbUJhdjI0ZHl5L3V3TzI2K1Q4TFdmdlBudnV2SHpjRDhJRFFaVjRMZ1VrWHNHV2xLV0IrZnZmdmxlUVZ4QWVLQWhrcTErMUdtQnhwcXRXZkN1NEFRMmNUbjJwbFFFbUZ1SkVhMkJmNi8yVUo3b0pWcmpjR2xpR3h4WHhRYVhWM0FpMjR0V3VnWDE4M25oV2N6ZmExZDVZSzc5VUExMmNMRTViZDBDcW5PK1NRdnFHMmhyZmhmSmQwbWpiekpBR3VyQjNaRVh2T2FWUVBYdndUMGNEdGRGYXRhLzNpTkUvblViYmxvUTBzRVN1OU1qdmg0cnN3WGViQnY2cWZ1czEzMjF0dHUyMUdyQWFzQnF3R3JBYXNCcXdHckFhc0Jxd0dyQWFzQnF3R3JBYXNCcXdHckFhc0Jxd0dyQWFzQnF3R3JBYXNCcXdHckFhc0Jxd0dyQWFzQnF3R3JBYXNCcXdHckFhc0Jxd0dyQWFzQnF3R3JBYXNCcXdHckFhc0Jxd0dyQWFzQnF3R3JBYXNCcXdHckFhc0Jxd0dyQWFzQnF3R3JBYXNCcXdHckFhc0Jxd0dyQWFzQnF3R3JBYXNCcXdHckFhc0Jxd0dyQWFzQnF3R3JBYXNCcXdHckFhc0Jxd0dyQWFzQnF3R3JBYXNCcVltQVp1ZXNrNWN1c2ZiREQrVS9DTll2T3BCQmI1aEQ2eGdqbVZ6OS9uanU2NXpXdldpL00xVDdQVzhwK3pyODBlSGRJSy9WWE5laG5JU21DUlFScUI5TVFLNWpnUHV1eXkvQkFWOTlTUklMWHg3SThqcTdmZjhjRTZHVFVCZklwY3VCcFo1Sk81aExibkU4eXA5T0dxakI3NDFIMkV2QTBoYXMva0JOS3A5dlBBNjVkL0NpaXJmMFUvSHpVa2V6clZzdENVd0NLTE9BSHRpUlhNbWUyQkJYd1NQeFg5alI3ZWxDdmsyVUJzMHpsVXc4YzgwRmNEdDJWQ2tMUEpWQUtMZk9LZVdNR29DVnhwc2xiTjFLRUwyQ2ZQNVd1alJxMHBNSUgzK25TZHk4NDZNVDN3bE1EQ2IwQ216SWtWREhwK1FpNnY4Y1lza1BZTUdkK1hQbWZxaFB3WHpzdHhGc2h0eFBUM0JFdGdFVFFnUys3RUN1WTRyeWJrZUNOb1MrZnBUVElHTDgxakFQWUczNUVNVW4xRVRBODhKYkFJNU0rU083R0NnVnRPNExOK1Fab21NRVhZQzQ2TjVoNGo1RWl3TjhmWkJPNW1CNTRTV09SVHlZa1Z6S21DUC9qOVlxUGdlNy9tdlRTUFFRVkdnbytLekp4VHdHdzFWRkx3b0FRV01nbS80dyttc3JOWU5pSEJuSlUvVTBua2wxOFBJOEdCZjRTWlB0eXJvUUp6Qno4TG5rY1lyUUkyY0NGY1ZPeW9CQllTQVdmVFA1QTdHY0dncDcwaWtUZFVOQXNkZnp0VTRqU01lMmtjSDd1WVhYN2cvWGJORGp3bHNJZzBnQjR1cDNabUV4SU1Kbm1wTi9RbWlYM2ZkOUc0bDhhMUJ0WjF6UFA4dDJWMjRDbUJCWmRjL0YwaFcrS2hKRDhod1J4bk9KSklJeFpoVjd3akZrQiszclNYeHZFcjBPZjhLai9nditza1RVWk9xZk5iQWd1cEdLazJNQ25CTkd6Z1JnZ1FocjBCeDRId3dKYTBvVVVMSHdLRGEwWkJUa2M5aENoQnB1TVNXRWpsU2JXQlNRbVdiZ05WOE5PZmpEVXE1aUhFS1BJVjlBaDVQRlp6amp3Zks4dGZVQUlMcVhDcE5qQXB3ZEp0WUFudXpET3hScm5rTUZabW9BREdtTmk0NHpqVDVBa0QyQjVFQ1N6a3dxYlp3TVFFUzdlQmxzUkpjNXc2V1pPM3RGanBKdGpBUmd4aTBlVEFVd0tMV0FOb1Fab05URXl3VkJ2QStjcFQ4VVoxVFhwcEFUeU1PNUhnQUo1YmlrNU5nd3JaY3lXd2tBdVZaZ01URXl6VkJxYkJCdHJ4UnZVa2x5cE9sYlVFdTBOSnQ3OWtjT0FwZ1lXaTFTazJNRG5CVW0yZ0JaZEYwdTMzVEhwcHZ0SWF3T3lDZitSbkZtVVMrR2V6WlVwZ29SQW94UVltSjFpYURXQndBSFlMeEZKWGNydkdpRElYZElDYnhPQ21EUTQ4SmJCUU5EdkZCaVluV0pvTkxNQlZrVjN1K3BhaXBVV0swZUJra2VzNW1SWG1ZMVFDQzVWZ3lUWXdRY0hTYktBQmwyVlgwaXBYMG1WTHlMSVZvY0hGUXhHT3MvenViRGdKMUNXd1VIRlB0b0VKQ3BabUE5aEROU1d0K3RLQnBMQm8wUUNZclJZRlNhNWZBZ3VWQU1rMk1FSEJVbXlnQ2xjbGRVMUoxZWpNNVMzZ2RpWnpyVXdWU21DaGtpZlpCaVlvV0lvTjRJUWxIcnRWdGJKb2VSMjRTVnpDb3JCaS9SSllpT3pFZkxJTlRGQ3dGQnZBNklETUpSVGJaaXlQNGFnY25VNzE1dGVxVXN5Z2NySXcwc1JFRzVpa1lDazJzQW1YWmRXSUJqUkFjTmRpams3bkVhaW1TS0d0cVNoQlRoWWF3cWVUSk5yQUpBVkxzWUVhS0hmTUkzU2dQTmlZSXAwV0JCVFMzTHJDQUtBNE50SE15VUxLTjJ0aG9nMU1VckFVRytpQ0lwdFpHNXVYZmdETUxtV3Z2T0JDUFhuNnZpamFBT2hTV1ZUZWVaOTczZWNPc082MzZQOG9TcjdqUkJ2UUVpd2ZYNDFhU2Z1SWNGcEFORERNa0d3Q3N4MHpVQ29VSFJadllUWjFwUW43ZkhFUkUyZnVQTjN5ZTFES1VtOTB5dy9jZmVjNWwvVTF3L05uOGFETnowcCtFMjFnRXpnbzJ6NUU5cVB0RUNZdTZXdlljNmlPOGlESkJ0QlRpZTN1ODVFK0UwOS81cC9Na2NHbVhraXNOOXY5azhUenFTZlRXVGp3dk4veFAzL1REUSs2VjlaZzQwTEVCa0RDLytneDZVRWVrMmNEN0tDZElFR2lEWVVWaGZvQUFBODFTVVJCVkNRS2hpZWptL2YyYWRtbEJINFpUaVhad0Fvd1VzWnBhU2RCSlFuK0ZYb090UTg0aDRtU04yUXJ5NGsxSWlmVFdmd1lJZGNlWUszbDd2Tk9qVzVtZVBnVkhkaEMrOHFMRnkvZThLOTdoSHlJWVY3ODRkZUJ2TC8xcG92MHNQSnY0Y3kxcjZFMTJmblkvMFFiU0JTcyt2QWJnVlhZd2IyclRvNyt6eXVUK01VRVVCY2syUUErM2FGY0lNUk80dFk3dnVkN3Z0ZUZSWC80K1ZROUtxZWFxZlFNYUZHeWdVUWs3Y2U5UFBGMGVqNlZCVHpoekhVOVR6N0o1UUdQcmUyQnQ0Ujk3cTY0MTNWWmZiZXdxb2sya0NaWS8wNlJsK1BNUGw2WGJldEkxNENVSXNrR2NOQ1JiQ0JoT0xDdmxQV0w2MTRYWHEzbG1kb0ZRcUVla2cyN3A3YklBQ1lwbDhxaVJtQUk4Qkk4OGVIWkpMZ0ViYThRTnYvNmQwVTNORkIydHp3UzRlZXJRdVRpOWVSdHd0RnJCQ3JJcGduVytsM0I5b0QrMUJQMVlzL2ZoYUlxL1pFZzJXdDlCVkFSMFFhZUN3c2JIQzF6WlRUNHc0aXp4YnJxTG5BTDRHVzU5UlIvUVZZblZKYkdBaTcycmw4Qk83b05lZ1RGRjNoeEk3Z1kzVkMzMUFwcWN0cXFDeENLdE0ySjZHOFhxRUlGa1lQaGppaVo0d3gyNitrVG5BaEc2RkE3cW9LejFrdWhxc0xCUE5mTHdCL0c5NW1ESkJCbHlkYkIrWlhSZjlFdnJBUlp2eXhUSm8xRmVMQlpsOWtBakkvOEFZaUlEYlJqb2tCWHFVeTdJZW8wd1lZNy9WREF0dFVzYUFQUU5sVUtYMFFNRlcrRlpHVUh5MnZ3TzhVNzdvRnZBOU01UXIwQmZGY2VLcDVYZXFWQlZkMWNDZ3RZSGxrVm9PRDIzNkNIWWo4QXZRTVhLR3dEdzdaUTFjdStEeFFvVDBmTkVIVTNwZTNEblliUEZpdWVoVjI5eXJzemhLdzQwSTZxWUQrd0tnRnBYWURDQlc0dkE5OEc1cVgzc1FSQVd0UWhvYjZWMHl6NjR5OHZ5Zitid2dKdWpxWUFEbDE1M0FZYzBJbEhrMjREQWhpOHZXZExQQXpuVXdSemhqc3dMZ2RWWnA0dWFnTUJGdVNTZkVLd2Y3SWJvbVlIM1VQNFhlSU9kR0FEczRLWWttb3BSWDI1RFRTVUhra0tudVIwQ290NnhLR3B5V3pBOVEzRm9BMmtDQVkyQURPV1E3OUZTOCtWWmdNNE45ejFHZnVaQ2gwRnB2bVduMEVnSFI4ZWZOSXNtWlk4SU5Wdlp3RkpwazFtQWVHUXNMME5aRGJROVp0cjBBYVNCWU03ZGNkeGhTNjVjYUUwRzhEdEF6dHhyWjY2akdWelhGOERYeW1PdXhhbjFpN1psL3FFMVZEM3JBMG1KMHhtQWI3eWJxamVVbWsya0N3WXRZR1dNRTJ2YlpSbUE5RC95QWF4QWUwQlRsL3k5Q1hZUUxjWjBtRzJBOENSakNWVDZtQzFCNTloLzBBeWkyRXc3V1BROHpJYnFJOWpMRWdXak5yQWdOQmJqMHAyS3o3cHhmV2ZUY3N5NmlSL0FNUEJFazYxSFFRYWJIbHdJUCtobCszc2VaazhQK2lCSHNRcU1vT0xGUWNGMmpOZHFKTE1vaGZsUHl1ekFkZW5NamdXSkF0R2JRQ2NNNjZkbFdmTHN3R25HeDBoVWZWZTczejlMaDVBRW16ZzF3OXBTYjUvT1BJMFkxVjd1MTdSelAyM2JzZk9Rc0U2VkZNa1BuUHhxeVd5QUl1UHptMjlyVzNpM0JBMmdldlBEWDNHa0VtY0Z5UUtCcFhCSDRCSjZSa1BiM0VyWWdPdnYydDAzVCt3azEvNjNnK2NhOE9MaGU4YTNidUJKZCsrYS9UYk5NTk9TLzhuOVFOT1M3YXJZeW1pMmtIUUR6Z3I3L2pnbmJENTdGM24veXRqVm5rblNIY2JaeHpJOTROTlhsYjU5cm5SZFM5MDNvTXJ0VUk0anA5ZTRUc01xNzNqN3RFYUx4Wit0V2U2VUNlUkJiaUVRVy9MR0R6SWZrUWJnQjAvZkhlZHdYNGdVVEFRQW16QTZmcmo4dWFac0ExOGl4eDkzUFVXczJDb0ltM25tK1FqOTlQWHU5MCtlcUJIcmh5d2RxaitKOXBBSXpENm9QNlE2OEFyRW0wQUtvQ0svdWVvQzNKQW11bVNlejVBeUgvMktFWDV2TXRaNlJ6ZDhSdWZKaDlBVDZBbjhUNEdQRHJ3MEdYb3lVRVR4VklTQzVnRjhlbHVoSWxvQTlEQ1BlKzBRUnRJYmp1emdTR0JJWUNtRGx4VHdSLzRhZkwwQWFxNmlTZmY0NElObkRyZWMrQUdmc3BadXJLQmJ4RGprVTBra0tSRUc0REFSQ3pzVS9WSGZ3OU50SUZINFRJL3NYeTB0ODUyaGJVdWd3akxMak9JcUh5MCtqb0s2Znh2NmcyQ2V2bDgweGUwM3ZheXZUUHdranF1QlA5MDFrd1NDN2pTM09BaXNJSU53Q3M1ZkNLVE5wQWtHRWlEL2NBYzhkempLblpYZ1Ewc0U5by9MbmpLZ3dCMXU3Y05GS2RnYUt2dlFXWXgxcjlCb1pnU2JRQzdxS1pJRGZucGFJYzVFTVlDZkt2dEUrdTdZSHE0TzNTVzBLRnpnUXVQNzdBSjVFUGNpbWNlTmV3SFFOWFJTY0FTTDFpQm9YcXAyTG9rOGt0aUFYNlp3c1lFRy9oVzBBMUE1eXlPaXJKWU1iTGtLZEVmU0JRTUVOQUdZQlJhbzJEemVLY0VOckR1M2VaZHoyZnNrUGRUTXdVSDRrRzY2Z3ZUTzFhUml4TDlUYlFCcHhNUEVQUkFuRkFLMjhCcDhzUlp0QVRzVnFGM1BVVFN1ai92RnVUYnd6TkxudHpUYUFOb2NiUVV6N0RVZmJtWG1ZWUJhSTZaRkQrWDV6ZUp4WnlrRzJJOHVBMVUvODJmKzN0STRJeEpHMGdTREZpaERRREpCU3JQM0NyOCtEWUF4WHUwZU5PL24rcU16aVh1SVo0Qlo1ZitZbDZha20yZ0ViczNGbzhPSWpoaEc1Z21qNE9aUGtKdEU0YVNOaEt2KytHTkd2SGxvM0tlOWp6eGViUUJkUEhESTllUCtzeUd1dzY4RmRIdmhwRTZWMHBna1dnRFlKNDBqYTRKMkpxMGdhUzJBMGUwQWZBWkxsSG0rNGZ3NDl2QUl1ODgrU3Q3YW53UzJlWHpIRzQ4dExia1g3SU5RT2NkZmlsWnhiOHpmYXhCeU14Z3JSSGtyZjdqQVp5SGZ1QUNrcDMyYjJCQlBxQ0NOMlI2N2thRjJzQTh6TTZ3SGs4cmhIY0RkR0NEWVlhZnlmMmJ3Q0p4TERnNmkrbWV6MjBJbkkzYVFJSmd3Skxhd0xwM0QvUlFCdDhHZUNsb216MmRVU1BlYU4zalBxN3I5OE9DOUVJMjJRYkF1UXl1QTlZYWhpNFN4UW5iQUdoeWp4YkR2NHJMREdqUkh6Z0YrVmFSYXArL0M1dmFBTGdSNHJ1S3E4SGJUcXBvSzJsTlFjRFVwR1NCUTdMYUgxaVZBQnUxQVhYYmtUTzFnV2wyWDFlb2srWGJRSmM4eDJTYjhUcUVHbTlHaDk4endWZ3NhUVdpeHh6L0VCM2N5c2ZDcmZtWU4rYUlOREViQ09pWDl5amhFdStVd0UvdzFOd2hXM2hxblR6RHFQK1JFb0xiTTJyU0hQNjdQUmpHS3RmU2x5THUrZWR5WjVRc3NOZFN6dzFYSlF6TjJvQmFNR0JOYlFDNmlpYmtUOUhla05zQURQWmJVQWdKY3ZTM3hrZmVEZy95RnJRQnVHcnMrMFVVZnQ2VmpNaFJHNGdiMVlKZ0E5NytSTThHVG9PSitTRWtZQUhEOWVVMXlzcXB2b2g4bU9XOC8zQ2ZobzV6SGloWlNHSkVBZWRWQ1Rlek5wRFlkbW9EY0pGM1FZelRPeWdMdHdHUUdnc3hlWDVBalhjTW5vNlJkcGNTcVA2bDlBTTRuZk0vTFBNVjk5aTdRQ0phMUFiNGRJN1QzUENHWC9lakRGSDV3TFRCQi9pY2oxcnBFWExsNzdEbVQvVEl2K1FJN0hmQXg3bHdjZFlqSlF0UWNUUlcvQzRHRHRhM0ttRmoyQWFVZ2dGcmFnTXdYR0MzUDl4RFdiZ05RUGR4N1crdzVFMEJvem91YmdNTzdMZ25mNG9YcWZMMzVJaXlSeEdFRkxVQnp5TmhGTlV2MS9FeTg3NGhKaDljY3p6OWJvNDMyNFhEdDkveDZic0krVFZlNXYwTzR4R2tDSVhlb1pJRnlPSWJJNE9xczJPbERZam0zbW9uczArT0QyQmRwV0RjQmhyVTZ6dEgrWEFiQU5uOHhFdzRwdVBDL1lEanZCbDRqQjc0REVTa1I0ZVVmZVRmSURRdldQVG5BRWkyRFBPVC8vU2F4OVEyQUdhTUtmQUNabUFLVGt0ZUdHRUQwL0d0YUZHK1l4V0xJZDhnN2NONmc0L0NCanFoZnFOMnhxOG16YVRiZ0tNU2pOdkFJdXB4aG5uLzNBWmcvaDFoUEE0YmNGN3Zzc3Z5MWcxcDR3WVJHMkF5VXRLWk9ua0dicVVGdFEwNFA4ZXdCVC9qUno0SUg3bDlmNHdYeEVJaWpaVktvMVVvWndHcjBEdWg2bXpHU3FPTHE2RVQ3S0RtTnd1UE85c1NFcUZJd3dZY1J5NFl0d0VJK08wNUMyd2F3RzBBN1BPQ3dBV3lZN0VCQjUvRUhYMUU5TjFFcmdrMjBDR1hENEEweVFhY3Yza0pOYkVORVZLV2h4NWpUVlp1cmd6Y3EzQUFZdVVLQTFmMEE5QnZDTXhwYUY0NGptYTFiQ0JhaVI4emZ3Qm14enZPb0UwTHVRMkFXbGdCSngyVERmancwb3phQnFDZk9zUXFpVFlBamdaK1JYY1ZDWlBTbkI5a1NLSXFkQzY2cDNUYW04Z3FiQUFhSGxnbDd6T1VBcGl3QVZ3S2hIMWttTGdOZ09IdWhIbU9weDhJODRnZXFXMkFyUm9rMmNEeUFVV0RNY09iTTBiQmcrTjFEQzBzdnpRb01KOWJaeE53SDNqekVzc3FiQURDWWRzKzdielhaL2dGMGN4S3VwbEhxd1RIWGo4d0FHZnJGbGJLYlNDSUQzRHFIRFlRblE5eEtPMWZwUTJBZU14RWwzRGd2QmtCby9MdFgyQnNsbFRobVVBS090dkZwYVB4SlppcHJvcm9YZThTSzJ3QWhtZldQcXd6NS9VWll2MVFma1lnRHAzUU9mQnNBQVQ1aHVjNWNSdUFWUVQvOXJtSlFrVjFuRDQzWEJmbk56cml4R2lVTmdCRDFTR2xwamJRWFlOOFZMN2hGaVdBR05jekxLUDhEd1lGOXJLNXFpUXdjYUlmR20vbStlMmhzQUZSL1U0dFZiSzc5dktMNk5rQUxBZi81aVdHNHR2QVpyQ2lYai9BYzFFZHA5dkE0cS9rbDR6VlZOb0FxRzZOa2t4alB5QzNnU2M5N2oxaE5pRVZDRzY2RFhDK0Q2VW5UUldDeExzQjFqNi93VlEyMEFnbWh6TTBqQnZVTlp4cnJUTEFPbkV2OE53bGxnSGhEbGh1bWQzTzJXMkFWUy95WDJrRE1GNHk2UVpvQXpUZUVwVnZ5QU5LZmErTFV3b3loUmgwNlVoSll1QkVqUVNSMEJYL3NxcHNBR0tvM2hWeE50TnN1Smh3UFRZaGRHQXFzc2FRL0dmUFlXZFRteFU5d29Zalg4Yzlzc1ZPNEhSaXZBbHNZRHZnQVBzSCtBR29iby9tYXppSmNnOGdINVZ2eVBYY1RSdm81M0ZWYkNuTlVqanJ2TC9RMjNBVzFZNC93b014WDVJaTd2TWhiSVZmQnlsWjRjSmw0dDByd2VRb21NZmV5RFhlMjZXTU90eEI2SEtwSTI1T1lYSGlBT0JOWHdoSzU3aTQ0TVI3VTlmS005Z2gwTGwwVkw2aFo2cXpxVHFjeGFHNnRSTXdHay9PZnhkTnBjYS91bnp4RlgxWXhIak5SYlRoU0pwMTJVZUFaN3RwN2t5a1lxWkQ0VVUzVTJ6ZDllTERyNFBGalMrK2tvcFVxYk10eFQ5S2g0S0xQd0hDL2hTY3VQZ2pzUDcyQzVoNUN5R1BNOUpNYkhXSnF4ZHZlQlZNN2kvLzVTdVppcXBmQlgyOWtEUHNzcHZxWjFkN1pIc0ZMRGt1MzlCYm1YNW90SmJHc2pkeVRzVTNMNlRWeW53ZTMwbjF6MzdoNFZkMXliOWdkYUUzWTJsVmdnV2JZYS85eTRkZlZSOGRTazZhS29JQkFOTU80RlhZUGRPbEJieDNndkRMTlk3elplYksxT2twNk13WXlWUDRYQUltYnpBeEpaT0EwNmY0OU44V0ZqZlk4U1ZHQWwvcys1RGovS3VqZzAxeXVRK2RmVXcrR045NnVEUzA0djRpcTVIdy95RnlqN2pCSklHeTJDbnYzWFNqejNvd0MrVDgyUis0OCt4NXNpckQvWEhXWU05ZVpCVEZ5NGJ3R2p4NDhSM2FnSE43RS85MzhjVjRaOCs3bnA3QmJrY3VZYzU5SGQ2U2R4YVgrRUhzdTgrNWFBUG5zZlk0YmVEOExmQm12clBuenpNRGJZQndaODl4MldBWENIblovVEJTd01RYmU5YVlmTTd3eVJWeS9NREh5ZVVEYkZweWV0ZjVQMDRtTUhRV0krTzMvaDZJcTVWbVhueHVkRzlUaTNSOFJIOExFbjl5ZlBERmtOOElyL3pFZStTTmR6U2xRRC9kZEZidUk3ZThIMHpnL3dOaUE0eE5mdHUrd1FBQUFBQkpSVTVFcmtKZ2dnPT0iCn0K"/>
    </extobj>
    <extobj name="334E55B0-647D-440b-865C-3EC943EB4CBC-3">
      <extobjdata type="334E55B0-647D-440b-865C-3EC943EB4CBC" data="ewoJIkltZ1NldHRpbmdKc29uIiA6ICJ7XCJkcGlcIjpcIjYwMFwiLFwiZm9ybWF0XCI6XCJQTkdcIixcInRyYW5zcGFyZW50XCI6dHJ1ZSxcImF1dG9cIjpmYWxzZX0iLAoJIkxhdGV4IiA6ICJYRnNnQ2x4aVpXZHBibnRoYkdsbmJtVmtmUW9tWEhSbGVIUjdRMjl0Y0c5dVpXNTBJREU2SUVOUVZTQkRiM04wSUgwZ1hGd0tKa05mZTF4MFpYaDBlME5RVlgxOUlEMGdYRzUxSUZ4MGFXMWxjeUJjWlhSaElDc2dYSEpvYnlCY1hBb21YSFJsZUhSN2QyaGxjbVU2ZlNCY1hBb21YRzUxT2lCY2RHVjRkSHRDWVhObElIQnlhV05sSUdGMElHMXBibWx0ZFcwZ2RYUnBiR2w2WVhScGIyNTlJRnhjQ2laY1pYUmhPaUJjZEdWNGRIdEVkWEpoZEdsdmJpQjBZWE5ySUhWelpYTWdkR2hsSUhKbGMyOTFjbU5sZlNCY1hBcGNaVzVrZTJGc2FXZHVaV1I5Q2lCY1hRPT0iLAoJIkxhdGV4SW1nQmFzZTY0IiA6ICJpVkJPUncwS0dnb0FBQUFOU1VoRVVnQUFCVXdBQUFJL0JBTUFBQUJleDQ0Y0FBQUFNRkJNVkVYLy8vOEFBQUFBQUFBQUFBQUFBQUFBQUFBQUFBQUFBQUFBQUFBQUFBQUFBQUFBQUFBQUFBQUFBQUFBQUFBQUFBQXYzYUI3QUFBQUQzUlNUbE1BRUZTSnE5M3Z6WmwydTBSbU1pS3AxMXM4QUFBQUNYQklXWE1BQUE3RUFBQU94QUdWS3c0YkFBQWdBRWxFUVZSNEFlMjlmWFJrVjNVdmVFdmQ3WGEzV2g5OG1lRG5XSlZIUWt3ZUdUVUw0dWRKQmlSbVhtTGpJU2xCNlBiZ0ZTZ2xwdHM4UGxJS3NkM0dRMUlLTktCbkhrZ0VRdDVLZ0ZJR08vWUx5WlFDZ1pBdlNxd1FZeklycndTVEVNOWpyYWtDQnZObFVHTmJwWFliKzh4dm4rOTc3N20zcXRTbGJxbDczejkwenoxbm4zMzIvcDNmM2VmajNsdUtJdThvUFB2bks1MGIzamF1c3Q3cGxWeTB5YWUrOEtnNGR2dVBLZjh2bmQwdUhNNVJNOXRsL2puVis2eXFrTWVaRldyMmtOQjBQYWMyN0t6R0NyK3ZFQkVmazNZMWY0RFRoTTdTcDg0ZDVyWkcyWERuMkEwblR0eHg0c1NKVzQ5VzJySk9vM1A4Q0M2UEhCZEZlUjM2RTJvbUpNZDVRT0MvRS9BM1huZFBSV3l1NFhKZHRDOTJXRWJxUUdUanJqdHZFK0szZ01Xb2VCSi9Kd2ltMkxIeFBnUFVzSi9mbHJrTm0xVTBVc2x6c0pta0VGOHJCTDREUEUvL09kSWpQeU1ldzZsNm9kSDB5Ny9lWjFlUEVrdmZUV1BLLzEwV1MxRzBYOUwwUnhhdXIwcnEzYldBZ3lnc3hIdTE1dEdGazNmTE1uSEhkUXRxTVByLzdsRVptM2ZSdlI4NndzMkVKRGt2MmdNMDM2eHhlSTc0bytpQXVNQm9PaXdlN3JPYnA0VFlMS282UTVVejQxRk4waFFaaFJyQW9na0FIVU1sWEt6S3BQenpMVnlLNTd2cmFJUUVmdEhMU0NTbnNwcEp5UEVsQnJTeUVHKzBRRXh0dE5jdk1Kb1dGdnVsNlRlRTZLd2FTUGFJMTR3S1ExUEVWU0dtVFZFQk5BU0o3VkhCUk1GZVVBSlRnY2RqR2JHTG5HWmljbndCQkpwQ1BPcWdIaEp2cWw1WU5DMThVUFJKMDBPZzRrc2NOeVk3Lytwb3VoZGw4N1pzQ0ZjdnQxZVlMWWt6N29wU1Rab3laQng1eldSVXVYaXpNY1Q3QTFmMFpWenZxa0YvZi82SS9sQWQvdVNMSkR1L0pzUVB2YndSQkVrYlRTOUYrckFybkVUOGRQYzRtbnJVbFZGcUxHZlRKSytadUphc3F5NnVaMVhiamZsVGlVNlVTOWIyTHZKa1h3NEhyN3F6REZvbFBPem1HODNWaTc1UUF4bTAwcWVEQ2oyYTB1V2NLc0hmTkUzM2RXeGhNcEhiVEZJNGZKM25lcmpHYnMxTkJ0TW9xZ0g1OWk1eTU1SWNtaTdDbDV1KzJTZE5BWUFmVENOYVUyYlJ0SUFpMmh4UlI1cW0rK056VlNOSTU5eG1mTUhzZEo3cjJiVjJZOGtrOXFMaWRoOEU4dTE0MW82K0dzdWg2VHVQM1A1UHRPckpFVW41UnZQTitYZ3U2SmNSVFNPNkVkcEdPazNUZzVrMHpXL0dhTXcvNTdtZVgzT1hsV0lOSzJiaU5sTldPNTYxbzYvV3UzR3dUNXF1SjVmcjlMd2prNmFUUU10T0F2cWhhWDR6dlNIZTFmWGUxT3g4cVgxQWVTMWg1dUx1b21sendEUXRDL0ZFQWhHc203S2k2UVFBbkRYaS9kQTB2eG1qTWYvYzFmWDg2cnVuRkpSTWJLSElaNEx0M2VOQlZCb3NUV2twdjV4d0h6UFFMSnFPUWR4dWpmWkIweTdOSkF6SXVPenFla2E5M1paTkEzd3lkRVJBc0wyTEhLa01scWJyZ0NRNXZtQUdta1hUU3lCdTExQjkwTFJMTTczaDM5WDEzdFRzZUNsYUxpMG5yUnpaVlRUdC9pUzB2N2twcUpZYVg2SldKazFwMW5UYUlOZ0hUYnMwWXpUbW5ydTdubHQ5OXhTMkFISXhaVzU1TjBYVGcxMlg4WDNSRlBkb1FPRytYSnBhV3ZkTzAyN05wUG9rbE5IZDlWQ3RYWmdIWEVYYTdLbmRSTk5XZ0ZWeGwvcWlLWTB2cCtMMWNiVW5sNmIyeVZQdk5PM1dUTXFDVUVaMzEwTzFkbDhlVFUwdHhzNzh4bTZpYVhtd05GMEhKTk1PQ3AwYXpxVHBGdWVtM1pwSldSREs2TzU2cU5idXk2UG5kZkVITHRLSHNWMUVVN3dLTXRBbDFCUWdXVTMzWkNaTnh5QnZEZWc5bW5ackptMUJPcWNIMTlPVmRtTU96Zi9ORXRhemY5OHVvbW5KWTRubmdwL3NhOUF2QTVLMlgxdWx5d1ltdXJQdGRqN0tpS2JtL2RQQU0vMnNwMURkbWtsYmtNN3B3ZlYwcGQyWXN3Nk1aOU9HNy9VNjZvcHJ5emQvMUczUWZPOXYzMy9ucmIrR0trUHZxQno3elJWVjk5TzNkVzU4a1ZGejVaZSs4TUo3eXFneDlLN0tNYSttS2k5ODd0Yk9IVlkyR3YzS0Y2NjU1MmdSWlZjZDlYUW8yU3V1cmJpbVl3MDd0VDhCRDJ3d1U5VlNmL3VoS1UyRFFtK0xsTEpvMmtLRmFkTmtQVFdIeXFCcDEyYndBblljS1dyaUUzZFhObTVmaVlaZko5dnJ4WFZqMk80K040SHhYTnFGUTI1WjlYazhPVVRIbVZmUzZVRzA1TVdCaWppT29pSlYvZ2ZScVFoQjNLV2pKRVhXb21jaER4SkxLbGYvUFZRVm9veTNRY2IxOVNUSjBGN0RCNldPVi9qQ2Z5M0VzWXBSRUd3NGV1Z2Rzcjc4ODRSZk41Wk8wZlR6bTNHclBHbDZCM1RUdXpiSjVpbWRTa2JUR2lxc0dhbDZyelR0Mmt5VVJBcTh2VnBzWG5kOXViTTZTVHNMdmJsdUROdmRaNkxVZE5xRndvZE0zaWZGNW1landsOEk4M0t2WWN0bzlhYTFhS2dzMTErWGkvZEUwVi9hL1ZmU2laNGJFcHUvKy8yL3FvaE8wZWpDZWJnczNqb2UvWnVTM1JBM05QMW1CeEVXNFdIYUNYOUhpQmRIaGZ2RWhpUkJxR0g1UnJkc2pmNzBUbFBNNmV3V2ttdFBwVkFXV2xSR3oxclZra21hbHIxdDA5NEgvYTdOcEpDS29rbkNPU3A4Y0VQZVIwM3lXUi9acm11amQvbXBERDhQNS9pd1Y1UGs2Zm9jalY1ekxhbzhIRDE0ZWh6VkVLYm1vOUhLNzVDR3V1bmRaeStRMXJYRlI0bGVpQm8rSTByaTFTU0xielBrT1lxK2ZySUs0YUxXVVJXbnFWZ2VxQ2xmb05jZmlBUWFodGluOGVFY1dxQVA2QmFrRmJweS9KU01wblJ2ck1aRjdOVStsRDFpcndLSkJFM3A5cG14WXZVVXh6TUcvYTdOcEpEQ250aHZxM1pLa3FhOXVXNHQyOVVKWUp6WllYQ3NVQlhUeXIrbWUyNzlUZEMwVUNsU1BoNTFQeDVkcHJZS0pvUllVYkx5NDZxL3BwRWNCNzRGK0EyWm9EL1BORlFHQjYxd0ZUUzlURTB2b1lPNExZK2FaZ3VlM0JaVlRyeGhFMEdncXQrNUtjZ2tscFhPMU44eGxBWDJQcHhjZ3FhWFlVWmtiZTQ5bW5ackpvQlUwN3dTdU5mTVNucHczZG05aTFNMGtUY2tDTG54RFVPckNFRmpWVXZnK2NuRCsvWExGaVY4b1ZZdHlnSU1ZN05hSXFvSlVYbVR1b0MwL1FnRDN3Wk9hNUZKeDRVV1RLZ3Ewa0xIakJZQU83VnNWVHlwOHBJTnE5d2UraW9aVGN2dzJyU2ptN09uZFpUbDBqNUIwNm9RM3NmVnVBRVMyOUFaMGJSTE13R2tDaTVRbFBYa3VRZlhyVis3T1lHT2QyRXQ0RWpaOWVhVVF3bjlPTG1rcEJ0Q1BLU0hTQkRaQkRqTW9seFlSSHBPcTk3blBydEVaNi9vM0RFaC91MWpLbzN2V3pRbG9jSUVqNVlKSGxHODRiYXEwME5mSldsYWdubkxxbmJxYnd0bDlvV25WQ2t5NGpUOUY5eUZiU2RXNzVXbVhab0pJTFhIUFJ0clhtUTBsWjg5clRtVUV5a0VOOXNGKzBSblhCZGpWRHlta3hOQ1hEMmowcGdBMkRrZE9zRU9uRkJpOGt1V2hGRlVGcitxZFlDbTl6a2RtckNJOHlhbTRiSGlxaEtOTjd5a01yZEEwNFp3TjRrMndwNm96TjV1TnRkTHhHajZBS1FQZTRVOTA3UkxNd0drOXRtN1BScTd5R2dxbDg5ckhzenhaTk5iL29BTmM3b1VtMFNHUXFDWW5UUjRnYVRsUlN1YVdLekltbEN4YkJ0bzJoaUpwNDNsb3M2M3EyWUV3Qm1kQnlOMU10N3d2Q3JmQWszeGFaTzVjM1FiN2pRSmM3dlM5TDNmcCtPN3ozMG5oUC9NMVExOXNwY3g2T2MzRTBKcXd1SWZIV1NhZXFBalBobzZJdGRkVkN4dklsRE03b1hqOTZkTVpkQjB5YVRwWTZFNWVUSGhLQzBmM2hTVkNIU1k4VDJxbUJzRDNXZzFXTjdFRzE1VzFiZEEwK2lCZTFkVTVmUmZOTnlkcHBEUlI4ZjhOby9TVlBmdVZaV3pKWnBPQkpCcXVVRi96MFZHMC94Qkg4UGJLZGVQdEZwU0I5aHlXQ2V4cjJLM2tNcFdBRzluT3BMUmhacnNUZmt2WTduVkVtaHFZMXZaVUwzcUpyZFlQdXMyNGczUEtSdTJRbE50ZmVqVUVIM1E5SWFYdHVNNmVxWnBmak5UQWFSYVFzK0hzTXQza2RFMGZ3azFZY0tnN0lxYW5TS0NMU1lZZ2FZMjRGWmRZRzM1TklXTWhCWEIyWVpiK1UyeG5yNkNwbmJOWXFpTys4ZEc2V2pLMUlzM1BLTVlNbUNhd25SblRweUQ2b3JtcHZvT1NSZjNUTlBjWm9KSVRiZ0lPNngzRTNwd1BXM2lMc3lSRzFLR2NpbjdtMExNdTB3QXEzc0hiQm5YK2FDZ1dacEhXVFNsZmlWNWdHb2pMMzc3ejVJV05MV3ZiaGlhWWp2S1BSV1lOTEVsM3ZDTXNxR0h2a3F1OUoxVDZkUTZyTFYzVGJwWXJmUTFFT25pZXErRGZtNHpRYVFBazN5a1FvMyt1V3E1QjlmVEp1N0dIUFNKWFFLbDdBZm1xeTV6d3JLcFltZ1RSYURwS1NPU1JWTmFweFVoaEJXN1hmN0xKd09hN01EZjZqQTBwVDR4ZXFPR21RREVHOTRlbW83QldqdEFXQk84eEdDaWFXNHpRYVNvWFR5NDlvK0xocVpsK0w3a2UrNm5VYmJxcmdHczdqNDhwemZadmRDVVF2WTBLa0NCUjFNc3lmUU5Ba3JPR24yR3B1dmVaM0EwdVYyUkF2R0d0NGVtOE1oTkFvMVovbmt3Tk0xdEpvZ1VaZ0k0WHZsUG5pMFhEVTFMOEh6YWM5eFAwdnFxNkRMQUpqMGx3cjZReVFiYXN5WmRkVUcyRlNNLzlCQ2xHcGJuc2tiRnRBekZtbkcwbTZydWdLWXZPMkhzQ0RiY1ExLzFNK2hqYVdmOE5JN0Z6NE9oYVc0ellhU0FDUjJiTDdMMjlPQzZsZDNWQ1hKOUx1REJsNUFIRU94U0NaZGdwRjRCQmRsQ1B6RnRYLzlyeFdoYVZxTTYydkluZmNoVkxZZG9XaE5pNDAvTVVUVlJQZGh3RDMzVkQwM0phMitsWjdFWktlcmtZR2lhMjB3WUtmb2hLM204d2hqVmcrdEdkSGVmMStIM2JNQ0Y4cmhhSzZ5NE10QlVCOUVnVzNKb1dsVTBuVXJSZEVacUQ5RVVzdjZoWCs0SU50eERYL1ZEVTVxaTJEbU44ejdhWjVaNS9kSTB4SG42TGYrY1pxYkNTRDNIUUdMZTVlbkJkYytEWFp3RTk4U1RBZnRwZFlQVnRudGZTVVpUSFMyRGJNbWhhVjIxc1JqZmtDeWJsVk9JcHFXNHJMWXcySEFQZmRVUFRUSHZFS0tkaG1Sc2l6VGRINlpwYmpNWlNORlBVOHZEdkpMVmcrdHBSM1pqRG9VR2YxMmpmUmdsUXRMMGFjMDVSWXhXVjBHMmRLZHBnbnJsSFVyVEtmaTU2dHcycWZWVE9wVWJUVUV3dDVFbUsxeVNRZE84WnJLUUt2d0JiS05EUDgyOWFHaEtZMC9pelRNQ2Q0aUdkNHFtS3hKcStRZEJUdytHL2RLMHFnaUpMdlRucGhVejNRaEYweW5iRmM2QUNJOVNBMnUzSHZxcXIyaTZEcmVuL1ZaVmVuSkc1K1hTdEdablJrYkRXSUsySmordm1TeWtNRmY0WEJubUdSaDZjTjAwdDh2UGRUaWRkdUVBaFFDYXNoZGQyWmhGSjhpV25HaGFWalN0K2F0M2VrZEFML0JETklXc1QybHRSYkRoSHZxcUw1cGkwOUx0NHpyM2EzTTZuVXZUcHIyWFRjMHh0Lzlyc3VRNXI1a3NwS2hpNFNyWXB4OVc5K0I2ck0zZGU5R0F6OFdVK1FmcDhURkE4SXRBVXgwWWdtekpvU24wVUNoQ0Yvcjc1c2hkbGcySGFEb1puSXNFRzdaOU5YVllxZ3Y4Nll1bXRBL24yNm4xMVpkMElwZW1MVlNPRzlBS3pLbElJcStaTEtTVTVrTVZjeC8xNEhyY21GMTdoUjdVYlBGZG1LREpEejN3WDNXNVkvYkJVSkF0MlRTbGljVTg5TFRpMU5PNUViMWxSU3lXUjFsUExOYURlK3pCaG52b3E3NW9TaHRyNllHNllLZnB1VFNGTC9yWm12R29GbHFoVW1GT002MFFVcGZadXhDTEJzWDlIbHczWnV6eU0zRlJUOGc5VDVxemRJRzcxa0lqZnpCWmo4TkJ0bVRUMUR3c1JSZmFONkhVanN5S2JESkVVNnpYQWxQbVlNTTk5RlYvTkFWSkxDZWxnZlRua04ya3lxVXBMVHVWVjZabWRkYWtFdWVjWm9KSXRVNVpCU1g5SkxrSDEyMmRYWjVZREJHaUt1bUpvbVhuM2FSWjhvUlhNdGswcGFVWXFjSFppMUlncis3NUVFM0JCYnRhY2lhY0c1cVN2ZE91VVpYYWIrK3dYSnJTTFNteE0vVUxhVlc2S0tlWklGSU5OMW0vUkFONUVkR1U5cG5XREtqNlBLd0dyb1lsSnVWUDJjNExzaVdicHFDaGpJeXhsL1Bva3lJZEwwTTBwWW5DdUxQcW4xVTYySEFQZmRWZk5LVXR6ZFFBMHpEYnB2SmJxRGxuV2lLRkVXakd6enFRQXRlV1pqY1RSS3JoMW1KNzlEM2NnK3UydFYyZW9GRS9CaXo4MmFkQ0IzclhkbzVrWVZ2NUdtUkxrcWFITFM0Tjh3U2g2bE1QeXZXc0xVUlQrdW1VVmFzaHFxN0lkTEJoQkRDMTRpa3R1UXJ4Vko4MGJRVkNlZG42a3h0TmFaM29ZWWFKZDJCUTBNYmxOQk5DcW1Hbkhmak1WMjNHOXVCNkhJaGRmQVZnM1gycS9LZ3BwSEZUMDRwZkhZaHZSaXpJbGlSTjUwMUYrblpkWFRUOEovM3JKamU0aEtKL0hUSmpOWXprUFZmQWZhWVdGTldpclpCSXBHajZ3TDFyQ1JIL0VrRktXMnh6RDdqWW5rOVRERTUyZWtDMWF4a0xmUlRsTkJOQ3F1SGk4cWdlaUhwdzNYcXcyeE1FKzJyTWlXR3pEMVUzMDBjVVE4eUVpWjVvT21kVVVyZ2VseGZZS3B3MXVUU0hVTGxobW1KNjV1WmlCL1gwSU5ndzdoOUZqSEltOVpJMHpmdGtqd3lFYlFsMk5kd1dWVDVOYVhLcS9TSk5vOEVYZTZnRVIzWXpJYVFhN3RZWjBlR2pCOWRWU3hmQzMwVXphaHBuMWszWXhDOTZyTnBNdDRrYVpFc3ltdHArZFJ3cFZGenZBMkVqRVJ6ME1VRjBUeGxiZW5vUWJ0aDg1dWZUdzFpdHpqQWhScnNHdUxRU0Y0bGQwZXFtNk9lTU9vckloM016Zm1FOERUVG5YYzQrRndKZHBrbGxOeE5DcW1IREJBWjlDNGhhbEdhN2J0cmEvZWRrT0IydHpHbW5FQWcxSGtSQ081alpOYnJjOHp4bEVDaTduZTBXUk1aMWZzMnRmWkhkMXJsZ3ptR2RIUE9Dckh2eCtVRW5VS2hvMFhqRHM3citvb3I1dzltelFJekVidmFDV2lVUjI4UFFlcnpUVklMWEQ3cGJKcUk5cHhsUE5wRkVJSFREUUZTeW9DWEU1R1YyTTYwMFVnMno1S1MzTGVhVXV1NnVoNXJkcFhsTkxMckhuZTJUOXNkMHZKOGVBWmVudFFpOVJtNmtRVEV6RmFDbm4yMmRENVNyR2ttTWduWUhGR25Ud1ZNdWQ4SThWRUZsNk5DV1lHSnN3cTE1eVNpajRZWUtqWHV6R1FFcnpRQWhEU3lqR1dPSXRqaCtvbW1qL0owMWxUM2sveTl5M0dDaGg2bEdRUUhLMTh6RlFRdWF5WW1kczVzSklOVndRMXZMakFYSVc0SEdITmRqN2UzdWl4RWcrMGJyd3FYZVp1bHdSYnhHRlpSY01LWG91NlRGYTJaaXFGNEJtTmJaTFNFK29QZElKMTFVaktKUGlZMjJGRUZJT3F4bGFZcG1ZaDI5UmpDdjgvRWJhVXFrVUg2NXlrbzBiSmlIK0xVTWdYVjd2MmdGOWpSU2gxci9LeUs2cGlyWkIzNXpwN05xaXhlMUx6S2ppY3FueDIxWkt2Rk1GMDVIeTE0VVRna2lJN3VaTkZJTmU5OFd5dWFPN09wNnFORmRtMGVUcERkcjZ3OVViUEJEempjMEkvSHJwVVVwTUxKd1p3WFNuWHNYMnRHM0Z2NFlTZkg2aGZkRW96WjdqY1JhcUZaL05hV2cyZ1JGWEkyV0ZTT0hxeWIzQWFQanZVa2RoYW80STVYVlpIVFBhQmhLTVpGRHR4WGNsaEcxYTQ2blhYUHlUOGhnSVc3OER3di9rODRscHEwYWlmQjVFZS93RjNYUkIyMU0zTE53ZlpWMGljMjdGbDRVcmhqUnoyZk15N0xDbEsyWUl4dG9CdEpwcEREbzYvdjJYNnphWE5lejJ0eTkrZjhkeUwvdXoyRi80Y2NybmFMdngzMUN2TzJMWC9zOU93YlNTbFlkSzFIREpCK1d6Ly9WMVNyVmJvR21sNHFQUmRHM0svSElnOWNtVHYvMGxjOHQyMW5HcE5IeHVId1pRMTBWU1VjRTJjMC8vT3JYRmxXblp6Uk1ncmlYUHZiOSsveUlSN25xbURENjZXeEVFTXROMHNnbHp4U0JPKyttb1BuVVg3Qy9neDM1MnJ5N0wxNFpkc3ZmUWhsK3B4MGw0Z0xlVmJnWkVrZ2gxUkJMbitwOEdBVCtLVTl0bnV0ZU14ZEtrbmdxYnNRdlpwdVIxam9HaHRMeFN6cGpTQncvZHNPSlc0OGV4NlNvMFRsKzVNU0pJOGZ4SHdsSGJQWXFDYllvQ0g5U2RNcEN2TFpOR2ZZNGdDd2NqN1oxenFUUlFUUTFxb3VxVU11cUgybkthSmdrQzRoZmJ1cXM2cHEvRXgyWXE0NGp4eTAzYzM3VTNGU1VNNFdOdTA3ZTdhWTErR2V1bldOR1djNi9ZYVRKeWVzWHJzVmRKa2NEb3pGNERqWWpKWk5JdFI2aFh5L3VITVdVbzIxVjVibHVoUzZneExPcTFOVVl6Znc1blBUdjI5ZFdqbVgvNUZJWWdoYlJOUG9FL25IRXU1TUNveDhJNVNhbDFEWEozdksrY0ptZlcvakgyelorMGM4WVJMcncreElRUWIvQzN1Znh0TEtzdXJuU1E3M3NaaEpJMFJ0U2hRK1VPemU4emJkblcxenZ3ZXp6SlZKNDlzOVh4TTMvMllkZzY2WW9tbTY5L3M2bytkUVhIaFdkMjFQM2JRL0dGVDUzZCtXR2wvV0k1ZGFiNmNFU0ZzbEI0TUtnYVk2RFhIUWhJTUEwdlJCNjhZTDNnV2w2d1hmeGhlQWcwL1JDNk1VTDNnZW02UVhmeFJlQ2cwelRDNkVYTDNnZm1LWVhmQmRmQ0E2Q3B0aU01b01SMk5FSU5NemJGenZhU2pidUlrZWdtZldJL1NMSGhkM2ZVUWhVdmRmK2Q1UmhiQXdqb0JHNGZ3RXN4YS9FTC9EMGxEbXhjeEVvRVVucE9MVnpiV1RMTG5vRVNwMWpSMDdjZXVRNDAvU2lwd0lE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pzTUFSR24zMTNwWFBIaDdWVi8zNkhXY2ZtTUFLRXdGVVZJWTlma1hCY3VzR29NQUk3RG9IUlJYQzBjOWZKdTRWNEF4azNkWHJIbWNnR1hmUUlqTlJCMG5lUEE0ZW4xc1Y4RkIwU0QxLzBtREFBT3cwQll1bVpGV1hWY0JtQmRGTDhZS2ZaeVBaYzlBaE1DZkZvMjZDd1Ywd1BDekZqTHZuTUNPd01CRDRweE9hYU02WDBXRXZReU04SEk3Q0RFTmlEMWRPU1o4OCtnVVYvMGN2Z0pDTnczaEVvWUdMNmF0K0tFZEJXalBzNW5HWUV6amNDMzhDUUh5ZmxvaEFYN2JicC9lM3ozUi9jZmdpQkVZencwL0dDZFNFdTFtM1RFYkVjeDRLdmRnWUNXQzZkU1ZpeVgxeTAyNlpEdk1XUklNUE91QnpGUEhRdVljb0JjZEZ1bXg0U3N3a3crSEluSVBBZ0hqL0ZaNlpSaEczVGk3V3ptS1k3Z1pRcEd3cGxJUjVQNWFabXF5bUpDeldEYWJvamUvWWd4dnpES2NzcVlqV1ZkM0ZrTUUxM1pEL1hzQnVWTnF3czJ1bk1peUtIYWJvVHU1bDI4cDlJRzFidHBQTjJZazdoUXltckhpaW1zdnJKWUpyMmc5YTVrdDBIbWs2bkc2cy9tczdiaVRsNFN5WmgxdkJaN2xFd1RST0E3b2hMalBtaDhiMyt3eDFoWFZjajlvcmsvZFJnbW5aRmJkY0owS1pwNkhsVDljbmQ0VXFobWdpbjJFcGJQU3ZUT1pxZUZYemJVM2t2YUJwaVpIbDJlOXJyUyt2b2w3NXc4dTVLMGRiWmN6eTlKZkdNUkRodGlPQTQ4SlBIYjErVGVwNzZqc3F4bDFtTmdVU1BOQzE4N3JhTlAwMXVOd2ZVY2RZZ0VNREQrK0F6N01yOElMU2ZwWTR5alBPRDQxUmdnemNSVGpPQzZWNXhYTkg1UjRRNEpzUmpPWWIxUmxOODdkQVI0cEVjUFZ3MFFBUks0TUZLUU45emQwQ2dvQWtKanJZeHJ5QkNrZktac1JjU01vTHA0cXVqS2JvZEQ0aWIxcUtoU21LaVlCcVE1NTVvV2xnVXJ4Z2ZuUkt2aVZYbGkyMUNBRDIvZzkvWWUrNDF1SXZjemhoZU5Bak1UeEJPbHkwNkdjRjBDRStETDZFWVdub2ppYmJ5d21CUE5QMlVmRE5uU0hUYXRtbE9iQjhDNlBtOEx0dStobnZVaklEcVZ2SjRiV3MyVU04UHA1UGhGN3YyNFN0WlBHMkxubmxHRGhKUTFBNG9VbG05MFBTQTV1Y2l2MDJWaWVNZ0MvYUJwb0VJTmNnbXprb1hIajY0ZVNUbTBmTUJiVjQ0SFJLaUdKQ0lKbWVpNkZMTWNxdlRzdlJRV0pHcTJRdE5GOFhMcGZCNmNKZEU2ZUcvZzBPZ0JacWlDOC9oOGFOL2szVjhKbUFGQ1BXRXphNEpzV1l2dklRTHB4bkJOS3F1UmhIMk5FN3F5SXlwUWJiVFBkQjBqM21sREdGNTNET0VrOXVFd0JSb2VuaWJkQWZWRmlwb01lTllTdGNBdDA3WjNITEdOTnFHMDZ4Z09pcWdBNVF5cjlVaVJqdXRWcjFPOUVEVHB0bHhRSVErcCtnbGJiMVlycXZvdTVWdXpuNzcrcU1iOTM2V3BBNzlhamZaYnVVSVpKbkhjcnJ5SmQ1MkdlYXBiZ0lRRTMybWZua21LNWdlb0k4VG9Nck1TRUhUN04vSzZFNVQrREN2MnNmVWZpWm1DVjlzQndLMDBLZElrM2VNdkZQeDZtTVFXcWNSbVBhdzlORzU4ZWRNMVlQaStKRVRKNDRjVjh2dVE1MWpOK0RDTFgrTVdQUUxwbTdxdkJHNFh6QWRYVEpWOFpWMkJya1FUdWNnbFJWTW8vMjA0dzlWWnVNZmdobWFJTmVkcHBmWXFJNDVTYllpWXplZnp4WUJlajBxOEJhZnI1Wit0ZWMzZi9yN1gzcW4rRCtqcUp5Z0thby91cWFrNmJWVmVTelROZnFQamdCTmxYU3ZmeWU5NmVoRThCMFpxV20vOUNJcm1FWmp0RXBzdXNnSHdwL0t0S0E3VFJmTm1FOXU4aTl0WlNJNXNBSmlVK2lKdm10Z3RDNDIzaWN2ZjFLczdwSHJtY0wzL3dMVi9vZW5QT1VwVjM3bEgwSEZjVmxjdVBLN0lQU2pQLzFWZGZrOWxHejg0VmVkb3EybEZyMWdQMlVIN2JRdUNxZVp3VFJxektBR1ZLM29pcmlsVHFWMTZKeXVOUFVXWUJqME0rWWhtZXE1b0g4RXNBU3dJMkc0OXFRYmRXdW5HMmJaWGJWeEVoMWw0d2xtZjdOT3k2U1p3TG1zL2xObDk0Z0pFNVRzNEl4d09qNXBnMXl5bmFuRHlDbTdjUU9HemlWbDdIVlhtbUl0dHFxbGdSOC9MN1hJYlZ1Q1JtcTM0Uk5vQnNNanhucDEwT2Y4V3Jqa0dQT2c2elQwbjlmNys5M2pJNk9oN3pPb2FhTVZUTW5aNGEyS3Q3cG9tV3puTDlwUjVLdGF6MXVnZDZWcHcwVjRiRVRrRDBaSlMvaDZLd2dRVFhQWEFDVVh6ZWdabzZPcDdSMnN2MDA0QlUyWG5SVnllZTB1dDVUQ09QNjRxVGpoNHJySjhzNjAzV1JGdlh5YmhDcDdRemFUalBZM2N6OHQzdUR0N0FZMmMrdnVIa1dySEUwdHhOdVdvTTdObnFYSkp6ZkxybkZNeW13MHRUVEZuTTk4UHAyZ2FmWVE3VlIyU1dGUXRlWk4yZlYxc0ZJMVNiMkVsSytxNU9LaGxPcHJNOWU3TDZPeGJuT21oQkY4dVNVRTlvR21zNEdhUTIyVldZdFRveFNpYVV1WVNXaWNwb2NHUUZQWVo2WVIySlN3MFRCZ2NRUVdqNGZ5VFo2bktxcTRhYW9zN21zekY3TnhPd0RCZHpPVW1IYjRQSGdFS0pyT0JOVFc1bVVtdWk4MmtGNW1tRkx5cG1TSUtEcmlEWjZtRTI0U0Nab2REbGhxc2tBZS9aemQ1Q1RPbmlyRXc4UlEvUXVvSFQ3U203bndjczdvcm5XNWQ0d2NuODhLQVhwM2Z6bWdvYm9xTTBHTmFiOVViVWdoeDZjcGxzMmF5NE9uNmFRYnlhZjhXYkp2bEVyWHhHWitPUFZVWVJzdWR2ZkZ0WFZiUWsxNDkwdkppNnh4TFh3MVFBUm9RMm81clc5VXYxRFJUTHhaVVFoRlU1QlRQOTBaUEUwWDdTUVNZMzdlZzFxOFdiZFd6UTJuVGhXOWhLTGpmOXIxN2sraEp0MnRnOW1EaTZ3aFhadzNFQVJvcUxRam1OTjRxWnBXWW1WeHhtVlNxaDVZUW0wblRhdDJFdmtNNzNGVTNDWjVWUk52d3JzbGViTlRid2ZXbjZhbWRYV0xwaDdmTVh0d3ozTFRtamhuUUFoZ2x5YTBoSnBRWTJMNlVXQXRRRk4wK25ZTit0anJOSlBJZXU1YWhZSXBicUtjY09wdm0wNTR3M1lheUc0MDlmaE9kM2s3cllGekJvd0FPaTgwL2sycENJdGRWYnVtVlEyM0FqVEYzRlJMOVRUb2ozaWJrdkZrZW92U0xlRXdPeW5tK0Q2RllFcnY1MmVIVTM4SDFoKzIwMHE3ME5Ubk94eSthSDlUT3czY051WlVMY2U4UmdyNjRUZWl6b3lYamFSOGh3Tm5md20xTHNTOGt1cUZwbjF0VWJwM29tcG0vcXRhU3Z6RmE4b0lwcm5oMU44MjlZYnRoQ0s2N0VKVC96RUJBTkxUOG9BZXpob2NBalU3WW5zNkQrb1phVE94ME1lcmN2Tkt6S2ZwbEIzNGVxRnBYMXVVVUtqdUUwdy9sandEazhrcDhXV2l3cndBQUNBQVNVUkJWT3N5S3llYyt2TlI3K2wrVWhPdXU5RFU1enNBbWcxbzRLeEJJNEJRNko0bkdlVk4vZXdjVVNlREhCNU52WWN5dmRDMHIvZE54MHlncnVYT1RCRk0yOHIyN05rcEF0OWg3WjgzNHpVZSsrY3VOQVhmbDQxNDJiM1BZTEw0dkIwSVlQcVpla09rWUY0QUttWDJna2RUTE1GWHRXVTkwYlFmTHhwNlJvckJmeVdubmdtbWViUFRTYWZDbjZZR3RIYWhLZmh1N2wyTURDbndBZ281NjZ3Um9DMlZKQVAybWFlYzFjeDFpNlBwb1lvTGRBT242WlRldHkzbC9teURDNlk1czFPTURBWXNmOWcyZWQ2NUMwMDl2bVAvTmVjeGdhZVNrMmVMQUNMbVhFSkgzV1JVMGhUV29vYW1QM3BWeGJ3V2paS0IwN1NxRnRMZmRLOGtKVXlWbHk2WVVqZzE0MzlDMHB1UCt0UFVoQlJkZHFHcHgvZVdtMGdFOUhEV0FCRllUNzA4c2QvdTZ1VFJGRkZZSFRlMXJUVURwNm1hT0dQOXRHcmJTQ2Y4WUVyaFZLMm1FbkwrZkhRaW4xMWRhRnEySzhiSVBYeEl0TWFYZzBhQTVsZmp2dExSNnN2TlpUVm4wQmRINkxqaDNuOHl3amdQbXFhd0RlOGZGVXJ1eld5dk1adjBnMmxtT1BYbm81T1pnNFRVbVU5VDJtbGVWVzFqY3o5NFMxakxPREU0QkdxSk40dWFOcGhpZHpSclQ3MFUzTlllTkUzVnRtbE4vRnFldC9GZ1NsdTZJZTc0ODlGRk4wME5LYzZuS2ZodU5wUFhzeVlZSWEyY2QzWUlvQVA5LzFkNnVmZE9GUHB6S2F6ODNOQVV0SitKN2hQL01XeUR6bzBIVS9weGs5RHNGS3JNakR2eXBxa2h6ZmswQlZ3ZHRXNGFyUVJ2aUpCS3pqdDdCS2FFZUlQVmNxRGlQVlpwcHJiM2pkeTVvZW1ZRU8rOVd0d1VtNU1ZQzh6Wi9PaVl1YVp3T3VzdVRBcXFEdXUwUDAwMXhmNDVuNlpZZjMxTTdVSTlLRGJhZmoxT2J5c0M5RnpvbDNRTFQ2dHN0bDFqRTNaOE0za0hsbFhxM05DMEpVUkYvQittN2ZENVlDcWs3Ulg2NllSZkFhcFc5RFg4emQxR3lxY3BNRmtxL1FaVVlTZHUzbStCMDl1TXdIZUVFSC9hUmlPai95ZzJpbDVqMlB0UDlQZytmWjFKMHpsWC9ZRFpmblZaZmFacWVMUGorVjNxRE44d25wUlluRTdteU4rU01KbVk4WjR5NmRBNW42YVRlS0h3WUdjMStqZFZid3dLcWVHOFFTUHdyK0JwNTY2RmV5b0MrSHNIZG9JZTh5NlJITk1kSEtZcHRydG5uUHdlOHc2ZXkrb3oxZHg0MjNpZlZiTEVXODRUZjVvYUVzK242U0t0djZid0UrbmlyYUhLbkxlTkNIeTZBcUxpd0E5Kyt3ZmVaa3I4Y3M5NkxrMFJwMlpkL2IwSmlydVM4NUE2ZEtKb1d2V21xU1lyZHM2bnFWeC9GWDYyY3ZPTFlwWDQ0bHdnTVBxQnV5dWRXejZjYktycHRySlZVWE5abmNQUkZORlgwNWlrNkJlYWQrTFJjTlBVb0htNU5PMjIvZ3BxNU16dFJRREwydWxZQytXaXVnelRGSDNveldWTjVJMHAyQUVYVTRrUHZKSW01ZEswMi9vcnFZeXZ6d0VDeVU0Wk1hOXZoR21LcDRmZVFGOWJQZ2NXYnFHSmJvODRjMm5hYmYyMUJYdTR5bGtqVUlzL2JkcHZXSmhCMDBsL0xsc3Bublh6MjZMQWZWOFZWbi9JWHdjbVJicXR2NUx5ZkgwdUVNQXpsMld2bmRxTXZzaWdLWGF3N0NKc3p3NzlTaWc1UW5qdXFlU3dlMTZWS29zbTNHT0NkQ0hubkM4RVlqOTFObVJKbUVGVHZMMXFpQncxY3ZmUXo1Yy9VYVJlRk1oci83WmlkbW0zOVZkMlRTN1pSZ1RRcWI5dDFUY3Q4ekpvR2pYc0p5c2o5dUdrcmI0ekVtYzNiR1A5dFRQY1lDdGlDRXphOTlhaXA0dWlLYXBtOUJiZUg1cFhNczJ6ZmdabDJocnd1ZHUyYVg1ejNkWmYrYlc1ZExzUWNEOXEvblh4YXRWSTRjcFBDN3lBOGRXbkJOcjhzdGlRczlOL05YUU55SnpmckxNYnRydXR2ODZ2YnhkeDYvSmZSUHpkVTc3Nzc4VWo0d3FHRWtoS1IyaU5oSGVZTjM3M2k5LzlHU0gvTitoT2hHMnF5N1pwcnMxWWZ6MlJLOENGNXdzQjh3OTNYcWRaR3BVNng0NmNPSEswRXFKcE5Mb29LV3dvZmI2TXptNzNySVp0M2piTkJ2YThsK0RmbDNYdWVGR3ZabnppMXNyTjcrNVYrTnpMbmRXd2pmWFg4cmszbVZ1ODZCREFEMURhL1lyK25jZjZhNm4vV2x5REVlZ1RBWHhuOTRNK3EzamlqZVM3T0Y0Wkp4bUJnU0dBZDJLWHQ2NnN4ajl6c25Yd3VHYnZDR0FSdE5LN2RGSnkwbiszSmxuSTE0ekFvQkFvMU45OEZxb3UzVmc5aTlwY2xS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SZ2NBdC83K1B0UDN2cTZ3ZWxqVFl6QTRCRVlFblNjSHJ4aTFzZ0lEQTRCcHVuZ3NHUk4yNGJBNkRYdjRtaTZiZWl5NHNFaGNEa1Arb01Ea3pWdEZ3S2pUTlB0Z3BiMURoQUJwdWtBd1dSVjI0VUEwM1M3a0dXOUEwU2d3aHRTQTBTVFZXMFRBa3pUYlFLVzFRNFNBYWJwSU5Ga1hkdUVBTk4wbTRCbHRZTkVnR2s2U0RSWjF6WWh3RFRkSm1CWjdTQVJZSm9PRWszV3RVMElNRTIzQ1ZoV08wZ0VtS2FEUkpOMWJSTUNUTk50QXBiVkRoSUJwdWtnMFdSZDI0UUEwM1NiZ0dXMWcwU0FhVHBJTkZuWE5pR2dhRHI4cnNxeGo2N0ZtaWg4N3JiT0hTL1NXVmQrL0Fzbjd6bUdpd2VPdnY3NVZpd21Zbk01d1FqMGljRFU4U01uVHR4NnRQSkVORW1wSThjcjAxRjBvSFBzaGhPM0huOWM2cEkwUFZRUng0WFlLSHJhaCt1aWMxU0lWNm1zRW4zYnR4RkZsNHRPcFdQRTRpSVFQRlI5aTZlQms0eEFqd2hNRWIxd2dLWXFJYVpCVTVWME5CMnQzclFXRFpYRm8wN3JhRjA4MG82dXFJaFh5enhOMDVIS204ZnJVQ2FQaEFqeUlMV3N5dmd2STlBSEFwKytWbEx5bGUrTi92bWVDcEtkZTFlamFQaVBLWFBqbDZRZWlxWVBuaDVIZXI4UTh6S0wvalRGbzVSM3FSQkZ1bnoyU2RUZWlDNTdMTm9qeENibHBFU2lpRDVVL2FFcTQ3K01RRjhJN0FWM1ZFUUV3Y1NTcXRzVTR0RzJTb0ttbzVVaXBRc1VkUFdCZ0h0WUpoZkZ3eXBydUFLYTFvdlJQbWlST1dtUmd5ZzZveFh3aVJIb0M0R3lFS3VxUXBsbWwvSkEzTk9FalVEVGZXcjR4NWh0eXFORk13RkFpRzJyT2xOaTQ5QWpVWFFKdUVoeE5pQkNETFlhVkNYK3l3ajBoZ0FpcHdxTW1KNTJUSldLL2FrVDBMU21LZHV3bEFTTlo1VG9pQkJ6S2pVcE5pYVFpZWdzcVJnUW9jRE4wZFJBek9lK0VCaXpsRU1nWE5OVjZ6OHdPaXJpVWRwb29tUEN4dGgxUFNWRlp0MU1OeHRpbzFhTUlud3hMWU52UUdRWU5OV0JtZFR4d1FqMGpnQmkzSk5LR3V1aHc3cGUyU1F3Nkp2Wlp3UkN6NnZ5cWh1OEVVUlZYa3RzSEtYVXQyNlJYQStKMUZ3RHFnNy9aUVI2UkFDak02YVVkQ0ExS3hNSWlXMlZpSWltTXpxTmFMc3NreEI4ekpTRHU1S1dVY3Zxb2FLZ3lNaWQ3emJWK013STlJZUFNUEVRMFZRdjVRL29QU1VvQWsxTlpNVVNhRTZxeHJySnJ2bXhmSitYbWFDcHpaUzdWL2JLaWtnNS9zTUliQVdCUlJNUEVTMzF5bW1mMjk0RVRWZTBWdEIwUmlZYk51eEd0RStxdUF1YXpycm1neUt1bUZPTVFKOElnRkh6c2dvU2VxbS9ibGRRRkUzSHRVSkxVeEI3V2VmUjZINUtwa0ZUbTBuYlVlN0tpcGc2ZkdZRStrWUFRWFJXVmlyOWpJbWNVOHRXQzJocTBwYW15SnMzbVZpK3E5RWROTFdaY3E1Z3I2eUlxY05uUnFCdkJEQWxmVnhXRXQ4V1lscW0xR01ubFRRUk5xSUhUSExReDU2VDNmMlBzSEdxYW9PbXE3SUcvUW1MMkdKT01BTDlJZ0NpeVhkS2hqWkFMam1BajlnQVNtSFJQamdDVFdkSitTSFF0RWdKT3ZBSVZUMHVCVTJMTW9mK2hFVnNNU2NZZ2I0UktLdHgvZUJqVVZWUjdsTHZWYWdBVGVrTnFodi9SQi8zbU5kSlFOTVYyM1JZeEJaemdoSG9HNEVwRlFjbm5zUjdUMmVvOWlWcUdKZUtBalNsZDFUODQwMVNzT1hUTkN3aTVmZ1BJN0FsQk5iVmxMUTVSNDlEeDZHaU1ldjBCR2hLeitiWG5JUk9nYVl1TXl5U3FzTVpqRURQQ0dDM25qYWdxcXNSTnVKWGtTck40NDgrbUtZR0NUNmZYd1F3a2Z3aHJZWEdhUk4wRHJaNFlURzBoS0lSM1FWT1kzc3Ntb1pGakNpZkdZSCtFY0JpSFZQU0F6UXRsWEYxeUw3UGg1eEFOS1gxMFVxcW1SaE53eUtwT3B6QkNQU09RSjJtcFB0b1g2bEU3NVFjMUsraVNBVUJtaUxtZWx1a3Bwa1lUY01pUnBUUGpNQVdFR2pTZHYzNktkUnMwSWRNV1BLN0kwRFQyTjY5bFl6Uk5DeGlaVG5CQ1BTUHdBUk5TYWVtVVJFUFR0dFJjOFpURWFCcFZEWlBxenc1ZXBIUG03QUdSWHh4VGpNQ2ZTSWczNHd1MDNSVHZobGRYZkxxaDJnNlpWNlY4dVFTTkEySytPS2NaZ1Q2UkFBenljZEc1TG9KRDA1bkN1NmRhT2dKMFJRYnJlNFZxbWprSmJLNWVEUU5pdlJwRm9zekFqRUU4R2IwcGVwVjA3SjR3bnNuR2tJaG1pTDZZZ2ZMSFB2dHF5ZmVvQjhVTVRYNHpBaHNCWUdTRUY5V3IrTk5pVWYyZXhRTTB4UUxKUHMrU2hTMVRza200OUUwS0RKeTUzdTJZaDNYWVFRa0FnMGhxck15dFM0NjNqdlJ5QXBGVTNycG1XYXk2cWhQeTNPY3BrR1JtdnRnUmRmbEV5UFFPd0pZNE9zdm52RGd0THJzVnd6U0ZLLzB6Um1oRVQyVkJVMGRkZVhMcVVrUi9nRGFZTWJuTFNHQUJiNG1HejArS3ZvNjdJY25jcmRxVmhXTlZzelhxRkYwbVg0WTBJalROQ0JDNzZQSU43QjgvWnhtQkhwRkFBdDhQZG5FZzFQdm5XajUxck85SG5NTGZIQ3lxSlZYZGRCc0poNU5wVVVRZzAwenZSckdjb3lBaDBDWkhwTEtvMjUrSFVwZDBqc2tTN3FvWnI4OGpVWnNPSDNHeHJnc0xsU0ZlSU1XbEtlMENQL1VtWThQcC90SFlNcHVoRGIxcDAya1kyVGh6Z3BvMnJsM29SMTlhK0dQa1JTdlgxQ0w5V2NLOFdja2NrQzhuRTczbndSTFVYcmQyOXQwS1krRWlQcnlKTGFMWUNUNXpBajBoTUM2WFJLTmlWbGJnMTRnVWNjS252YnJRLzlRNUgxQ3ZPVXpWMTZsdit3dm1WSi9HUlVYZ1ZaSUxWdmxuR0FFK2tWZ3YzM2xhYStZdDVXSHhISDZlZk9qeDBHK1JrZi82cm1tYWZSN2twbG4xcVIwcVhPTWZoUDlhTVduYVZ3RWN2eWo1aFphVG13RmdXSHpxM3ZSNkRFMTEreXU1ZHZYVm01K2FiNXdEeUxkMjJFS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WVnUGdlOTkvUDBuYjMxdGYzVjJrclNJSDUwYjM5YmVTZWF4TFFOQllGajI4cU1EMFhWZWxNUlpTbGVkOTUwWFE3alJiVVJnMTlOMDRlUTlrcWxucmx1ZzQ5b0tybDZ5allEbHFSNnEvbkplOFhrcCs4bU53MTNhM1lsV0c1T045YVBYdkF2OWFxT3B5VFppV3pnUFFFV2ZyUjZDQnh1bXp2QWlybGJOMWJrOW8rbVpjOXRpMTlZdTlhREpFTjZCVmh0TGZldWY3bWpxWnh2UlBzOERVTkZuaTFGVUV1SXhXMm1rTE1RWmUzVXVFelF5UFhJdUcreWhyUVpzeWcrbk85RnE0NWh2ZmNIUjFNODJvbjJlQjZDaXp4YWphRXFJSDdwSys0VVFjKzd5M0tWd2g3cW9mdTZhelcySnhwYjhDTDhUclRZdXhheXYyRUUvbG0xayt6c1BRRVYvRFVLNkZxTnBvU3pFWnQ4NkJsRGhJQ2doQnFBbnJtTC93L0hyL3E3cU1PbFVicFh0c1RxM3liekNhdEVyalZsZnRqU05aWHZpK2Nsc3pmbjFCbFphaTlFMGFxRnI4Z2U2Z2JVY1UwUnhhZkQzeDc2em9pbEZqZnloWlh1c2pnSFR6MFc1NkVuSHJLOWFtc2F5UGZIOFpMYm0vSG9ESzYzRmFib1hYZlBFd0pUM3JtZ1U3WHFUajk0cjVrcGVjbFkwWFlkTnE3bjZ0OGZxM0NiekNpdEZyelJtdmFOcExOc1R6MDltYTg2dk43RFNCRTFIMERWMjcySmdqZlNncUNuRWRBOWkvWW1NblJWTnNRdlNEWXB0c2JvL0h6MXBVZlF1WXRZN21zYXlQZkg4WkxibS9Ib0RLMDNRTkNxRHArTUQwOTY3b3BFNy8rZmVoWHVWWEQ4cm1rWVAzRlhzMHRLMldOMmx6Y3ppMFJpWll0WTdtc2F5TTFVbENuSTBKeVMzNnpKSjAwWFFkSFc3R2p2WGVwdG5SOU56YmU1WnRuY29UbE5mbTBkVFA3dlhkSTdtWGxXY3BWeVNwaGpHenNzYTZpemRDRmN2WFZRMDNidHROTTNSSEFaKzRMbEptazZDcHRNRGIrVThLYXhjVkRTOVpOdG9tcVA1SFBYc2hVelRZWEZSMGJTeGJUVE4wWHllYUFyYVhqQ0Qvc0dMaTZiMWJhTnBqdWJ6Uk5NU2FGbzhSMjF2ZHpPdGk0cW0yRXZNN0xpelcwTGxhZDd1UHRUNms0TitCVFE5UjAxdmV6UGxpNHFtKzdhTnBubWF0NzBUVlFNSm10STdQNmZQVWRQYjNReWVxRjFNYzFPTWc4VXNTTTh1bXVacHptcHh3UGtKbXRJclVyODY0Q2JPbHpxZ2V4SFJsQjV6RjdPZ1BpdWE1bXJPYWpHUS83M24vWmZyajNvOWN2Vk5BYUdNckFSTkorUE9Edi9zMGM2Tkg0bFgvY1RkbFkzYlY2TGgxOW5zd3VkdTY5enhJbnZwSmE3ODBoZGVlRTk1TFlxRzNsVTU5bEdjMVhIbHg3OXc4cDVqU0Q5dzlQWFBwNndmL2ZqZm43emIvNnFzOExtN3hjMy8yWDhjbHQySTBnbXpqdjNYdGtyTHZ6OEJWenhRdkJJa3YvZTM3Ny96MWw5RFl1Z2RsV08vdWFJS1AzMWI1MGJyUnVFcno3dm0rcVBUc2lRbTdkendyQjc5eWhldXVlZG9FZEpYSGUzYzhIT3lWalRzTzAwZnp0MU5Qa2ZSNkZlZUM5VXpNaDFUSFRSRWl0ay9zYnBPWlRSVWp2V2NiejNxR3BvbXNxMVdMNUhxOG56TnFIbkZ0ZVdiSFNoeGFMMThUQjF3dUJjMzlnaWhjWGV0SDZxK3hWMzRxWnBmTTZKM0tkeGIwdEdlaXVpVWhmZ1ZyMExoYXJGNTNmWGx6dXFrZlg5NnVDNDZSNFY0bFNkbGtnaG9PTmFpWjFYb3ZMR2s4MlUyUGhxNFhIUXFuU0l5WmJIM0FIMm9UdkxpekpwUkZPVTBJbVd1RnVJWVdsZzFGUjU2aDlRZy96eGhNdTE1U09hRHhBY3E0amlxRmFua0gyQ05FTVJkT2k2Ukl0T1VERW9qMzdONlVrb1hvK2lEVXNrcnFOcWhNdW1XL2hrZDZrT0poaFNlSlptZzZyZ2hKT1lPMVpDa3VQcklxVU5sby9lWHBVNzVoMER6cktkeVExTS9tNEtrTzh6cmFja3U3Nlk1aWo0UC9PQ21ERGRvS3VnUjJiQXVHM3VTa3ZLWUNEenVMQW14ckl2anAxcU1wdCtBS3NNbHRGaDU5TDlGMGRkZDE2SHFwSGdQL2hZK3VHSGZ1eHV0aTBmYTBSVVY4ZXE0WnJwQ3N6aldoc1RtNzM3L3I4RDVvaEtSMlJ2UlNPWE40M1g1UWxhRnhCeE5SNnBpODhOUCtkcnZpelBqcWtLVTF3aUpQRWU4ckIyTlR0a1dvaVpwMUVjMlRVZXJONjFSSUtLbUx5ZlAvdExpNVBXb1FkNlhwa1k5cXlkbFU4WG9teDJFNDUrUVQwZ0s5ZE5yMFhCVmZ3NmhkR1RTMUZlZE1JUmFjb2RxS0VsVCtsYklIajNTVkw0c0s0NGR3VkVHelZRVHFTN3Zwam42cE5qOGJGVDRDOHViTExDaW9mZWZoSW16MXBXYUVHMTdvUkpVMTRWYnZ4RENybUFFd0wvQmxVNmRsaXk1WEloNWs3bEgvTFpLbGl4Tm0rSlJFc083bDBValpjL1BYaWlqNWJYRlJ3azZlS3dqOExOUG9xR042TExISWtSK3VvL2ZmeWZFSEUwWHhlWUs2WGlXK0hVNjRjaHJCTVY3eE8rUVZLRnUxMytmWGxpQXpqUHlXMFJaUnVYMkdMM21XalQ0Y1BTZzlIQS9PVGhha1dKMVk4YUJhK29RbWFZcUFXbXB5YlA2NnllcmtDNXFKVlV5UStrR0diUU9jbEhSOU9zTEpEeExPZ0txazRhUW1EdSt2a0JtelZDRytoWlA4bXNZZmlML1h1a3U5WVpuUFltYWFPcG53K3ZOZjZMQ0tHclk2VkdxeTd0cDNpczJxRytqcCt0enlDTXFsOGU2QmtOZVZNMnRvUXR4QWxpR0lpNVRwbW9lVFF1THNRK1M3QXNIanBKUlV3RWRSWHNOVFErWXh3R0x3Wm5nYUZtSXY5WUUvcklRdjZHYkg2Nmd5K3JGYUI4TWsxbmVWMlZrN2JTU2UyYUhNQWZxK1kxRTVoMFRER1J6cWliKzRyYkluSnRHMFRkUldxZ1VTUnFmQ2owZVhhYnUxZ2szWXlxVXJCMEo2U2VvRmgyZTFhTlYwUFF5MVNBcEtWUldTVUxxcGtRVVBkUFFWTjVQaXFiSTdtNklyRzMvRk5EUWpMNUNCTkZoa083a1dKendyYmMwUmN2V3FYMkdXRkdoWWdKUnFNdHpOY09ZYVdWTEV4anFJKzZSQlN1aWwrNlhqQkRtbDZrdEpXS0RJWmlSVStlYW8ra1ZkU0Z1VXJTUVpldWJIMUV5cUQydlVnVm5TMW5QWmhaTitNSGQyVlpTc2I5b29QSW1sWU50NGcyamYwcHNITUkzZWpTMHlpeDBwNDJtNXQ2UFJuNUJnOUNsa1ZIeEZ0MTAyZk05bjZZdzV1SDlHdGtTd0trV3BaRWcrcXhNNE0rRW8ybFNXb3Y0VnJkQWsrcUtMSUNTR2ZPQlM4a1NDWE5KMndmcnJwbWs2b0FoeGlCMWJqaWFvcSt6YU9wYjc5SFVaVjhpWHE3MUlpeG93d0pkRHBsbS9BWndLcUxvRzdiWE1HQ3ZhbjFKajNTMlZMUm1MaEI1UEFLclhPQ1dIVTA3SitpNEZiZlU1czhaSlhSZU5OWUJYeDJXOXJpUGc1cUtwckJ1UmxXQ2NYTitkWjJlUk5QR05xU055S1RZbUVCRkdLWVJxbGlIcVpOVlpjai9nRkxkR3NHRVF4dUlMaXlxdXQyaWFZUTZrMHRLRnJVZTB0KzFvaW1MSHU2aGFhTXNMdDAyMmM3cWFFeUlmNnVYbndEc3llWmhKUU1mMXJTMDlUVWk0Vm1qSTY0NlpJaVJWR2ZVMWZoRWNDS1RwcjcxOXNhWGdXRmE2aG16ZHRWZ3JsSzlhT0J6WFk2Q3BzbFZRaFJicG5XeTdFeVpjaUVzN2xGYnk4cWxpazBqOWxrdlRDWmFkVXBNcGp6RFJPKzR2ZWdWVmpSSmFHcWpRK2MrUzdOb1RHV3RPeGZxUW8yYm5nb2tXeTVjRXluTlY4NE5zVkZEWXdnSE9xS1ZMVTJCaXU3WU12d2xiZDBhc1RFNTJ1OXVoQzZEUG5yNGgycC9TSWJOcXpWbWlJL0dSSnFSVEZQemRNU2xsMVJtRkRtcmlYbjNlVW84M1llMXRFZFRXRHhyZE1SVmh3d3hrdXFNaG5RN3RJckxwS2x2dlVkVG16MW10bW9RWDB3Z3JLUzdIRzAyWFI5TEM2d0s2dEMyTWlvQ1ducUdsZ2tXckRWdHlqNjFLQm9WOUFHcEFjdm15UVFLTExtK3RpakUvK3FLWWIwdWdsQmI1azg0bWg1VU5LMmFhRWliQUhaTWMwcUlwc3Zta3ZhN1Z0UkZTMndjcGRTM2JsbFRHUlpKQ0dsblFCbTFQZGF0RVhTY0JocERpUTRNWGFNcFpzYzZCQlBEYkJBVzluWWh6azhyNDRnUHZ2Uzh5YlpXeXpCVkx1cDg2UE4wVDl0Y0N4QjZlbGJuSmxTSERER1M2Z3hyWjB4T09adW12dldlbVRaN3d2VDdaYzVsMkozc2NyVFVkT2pJZHEwS2xEamVZWTQxcDgzS0FBczlxNGNieUUyRnZoSVp1ZlBkV2tYaVZMT0dVUUd1ZnNzS3dHYXR0V1ZZMEhLRC9oNUpVNHlSdG1YQXB5bG5WU0NCdWt2MmV0RzZnbXdidFdTeFJSSXpKUjFnRWNKa2IzZHRCQzNyUmhBWkRQcmRvbW5GOVRaaW13MUtGVE55UkFtYVdtNUFldGw0WksyV05MVXNoTzVaTFFKcHIvZE12VGhOZmRVaFEwd3RkWWJHR1pOekZqUnRtZnU1N3ZRQngyU1hvNlZtRmswUlI4emRDREYzRVlkMjJSanJUNmhRMWE1RlRIbk91ZWIxYTRTZFRDSG1qWFRaOG1YQzVMYU1GNGhWa3FhNHNaNHc4dUNYcld2eUVqUnRXWlZJMllwUzJIWTRTa3d2QUVEQ3Ntc2o2SFFkcGVHOVhUL21MNkVReE93QWcvcTJWdG1OQ1M1cXlEM1N3OW9wU0J2aVlUcGt3UVo3N0kxWGRsQkEycmlESUdOd1FlNnNTWGMzeEVpcTg0Qm8yamlsMUFFbUcxNWd0dzRSRTg2RGJKcGlPMUVySVZVbDYxN2NJd3NXbGhCV0hGWE5iYUxNeVA5Ymk5RTBlaERycUxhdU1XbWp4cGdaL1dCOFVaY095LzVwZUhDalpXdVJGc0twWlFJZFphRjMxRnlCc21jcHh4NjJ3MHNPSUZpekNvR3VqZUEyTllPUGQ1TjJwK21LYmgxbTJhaFFkWUUxUVZOUGVzYVliYTJXMGRTTUFsSFo0UVFsczFvNm02YWU2cEFocGpWMUhoQk5KK2VVT3ZTRUhSQURYUTZocHZOR1ZyRzRUTVI2dktaNkN5SVZFelZrajF1d0FQT3lWSUEvcURwdDBqMmNvZnVIbmhoTnA4MnJKKzduNXNhTWZpQjBlbHlML3ptZEYwMEowaURMS1YzbW5WbytUY0ZrL2QwcXNwYzlLVnFtNmJnRWtWVlRjditMS05XOUVmY2JjWTZ3UFF6NnhoWGdaMi90YkpwNjBqUEdRR3UxcEtuY2xxQ2lzcG5NeTZGZ1ZrdG4wOVJUSFRKRTE5ZW5BZEcwdWF6MHdWYWRRaGZhMzBXMFhRNmhaaFpOVVRDdmxOQmZkT21jdXFxWVhvN1RkTUtqd3BSRHlHbklUdFhpTkNWSzJMMU5XMnZNZUVJMHc3TXhkOENnZVhPRjdZVDRPQzRMV3A1dHhHUWRqcEZ0SzBvNTArRWswcFk1OWsvM1Jxd29Ka2dtcnZaQVUxTU5ORDFsMHRrME5SS1F6cUNwVlZKMkwrMzJGRTA5MVZhSFo0Z3BWdWNCMGJRMkw5VmhzVzVYNkY0N3RzdVIxelNkcHN0dE5LMTdFVVVHU0gyZm9zT01LaCtzU1Jka01UbXpJZHlJNXAxckNacGkyWmVPeG1PR3B0Q080NVg2R1p2Y1QzSUxKRVRpeDlOTnRYeWEwbEovV3NvZ2V6VW1iR2lLQ1l6MVVRbFFwU1VqRzI3RWxOSTh2bmVhMnRWS1R6VDFwVE5vT212c0tEc2ZlcUdwci9xYzBmVC9XWkhXZ2p1QlhxUE5qMlhqVFRPTHB1aVlWU01rOTRMMWpNWGJKdk5wdXVoUVFieXpHRG9OMmFsYWdxYkVrcmpaMzN2ZU5TVnJNeXltWTFNT3huTFB4MDVXSTNEWVRxeGNneTJQWThRaWJSNnlpMDRJS1VOVCtHVjdUUW5RSE4vS2hodFJncU5mK3Z1VC9kQTB1S0NwT2l4dDFJRDZqQUhiV0EySmpDQUhKWVo1R1RveXNqMURsSHZtYjBaRG1XUkNQYzlNM3ltVVVBdzRiRFNiYzZ6THM2TXA3Y1lYVFIwSmdKNjNaWGhVTmdzVE9VRlljelc3cDJvSm10TGsxSFlmdkxpL2lnd2N5MG9WOWlYVjhRcDVUWmMzL29rKzdrbW9ValZhTVpxV1RhY2hlMFVKNkw4R3liRlkrMVRZUXlNazl0QzdZQXlPM3FPcDlSTzN4aXlwb0tONmNkRVVyTldMV3VWK3VzdXphVXJ4dyt0RW9LaFZoV21LQ09OdGhkaWthVGYzWEV0eXE0SzIyNmJLSVhUYWEzLzNNNkRPc3M1NkRvcmw4UnVVUVhOVi85QVA3N1dzUExWaU5LMzJRdE1FYmowMGdwWStqeWo4MG4vWFpwb2E4RUhBYVpNMk1RRFhmall1RjczVm81Uk9kM25tM0pRNkprNVRmZU9IYVlwVmh4bW5VWE5adHRicm4xcVNwaVcwZlZqWC9oRkV0bzhnN2RHMFFPVjBkTlpRc0JjSk91Y2NyUmhONndZVlpNY3JHaVRYUGFJcHRUMDBFdEhMWGE5cVE5NnIzWFZEaXFOcGxCaTNveWpRNVprMHBRbWkxNG1JcG5wVkVhWXB4RTlwb3JTQ3l6WmRHRHJWa2pSRmhtRTZSdHZOSWxVYXMxbDRFK3dQSUVESEV5am9nVUd0YzBMVG1oQnZKa3VacGhJRit1T0hUUk1ERXRsUmhCV3pmYkJCbFlKZDNveE5RWjNtUk85M295a01tcU0yd0tHeVpJKzY2T2t2K3RmZk41VVRFYjNLb1Rjb0Qwc2xQazB4ZWZsY1dlQ2dXRVJoMzd1ZlFpMjJZalN0bWpzSzJmR0tCa20wRlJqMDQ3S3BkcjVwcHowY1RRMDRQZEVVL1RGakt1QWM3dklzbWxJMFhYRzFzYlRUUmI3eEtnQUFJQUJKUkVGVWk5OXdOSjB3ZEtJWGlvdXVYaStwV3BLbWsyajdsS3o1b0oxTHhHbUt1K0VxQ0JHRmFYWGpHUnBxc0JXamFka29SL1phVE55anFSMk1sVUQzUmtZcjFneW1xVUcxRjVwU21HbkxDdGZJVTdqTHMyaEtIVk9VdGVVZnNDUjNidHF3blJSK2c5NXBTcWRxU1pyQ0pyWHNwWGU2TlFWaHdISzg2aUVVbnBJUG52eWRzN2lNdW1yRmFBcmxNeklmMldHYVl1aEliRWpSaHY5cVNMWE53OUJsSnVjaG1rNGR0cEplSW56TFIxVXp3WEtERzFYS2xQYWY2U3ZYSUYxMlBvQXRwM1NyR1RveXNqMURkSDE5UXRRS05ZU09LNUxFSHIyRzdvV21EZHY3a3EwWlhaNmxPYlpUS0tlR1o1U0pZWSttekxNcDBIdFZDZmI4dDJZTjFWV1FvYVlRaU15UDZUeEwwOHRzaDJOZWdzbENiT2M5M0diTHB5bkp6MHM1WksvRktwaG9TaE9lV0VFUGpkUmRHMHpUUG1oS3RKeFdZRXZNUTEyTzRpeWEwdWJscXFwT2Y4RVNQYzhOMDdScWdtM1RFc3RWN3BLcUpXbUtMbGRNYXJuTlJCaXdIRVhESzFITEJBWjZINFpzS2xzL3M5cUJtaVZiRm50WUdxWXBpY1JMdWpZQ3VHd0FWalQ5RzJyUnJ2UjNTalF0bTM2U1crR3pCcFZ3cC9waDNVaXFNOGFiR1pQalBlL0pJaE9KbWhpQXBCOWtRVXM5VEk5S21vYTZIRlV5TlZmc2JKTWFXYmRqV3RnancySUUweUxKOTNQVWtqUUZTOVJZWDNmOEdwTTBiYzFFRFRPMkV0QVU0YWM4eU1MTnRwd2ErZm1wRHBYSWpwUFJJSWxOWUkvWFVtZTNScndnb0ZiNkl4TDhuVXhUSURwcjhBcDNhbTgwOVc3UVp2K0RmczIraFRFczcvTlFsOFBLVE0yTHNjbmdwUFVwNkJIMnZ0UkR5aWs3UXpNSWREL0QwdGhLbjRLWk5Kbkc1N2F1UDJGcHFxTTY4dmZJRzNIZGZwVkFvaU12MFJXOFU4dG5IYVpWZWk2SDdEQk5xWHVXWGYwSHh1VnRhdDg5Q2pVQ0k1N1VOVUJ5M0QwN2xLWjIxSk11elJvbmc1MUtFVEF4K1RIeWlJY21tcUtUN0RqUzdKdW1OR2d2S2EwSGFIY2wyT1hJejlUY3NNUWtMVk4yWkExNmhPV2E3RVY4TXQwbThiNk9Xb0ttd0VBOTBxS05YNk9wWldscVFjSExUdVRaM2xoMTg2V21xVWRuMUQxc3J4dVdVTWhlczltVU1ORTBnc3dwVjFKZTZkNklWd1BJVzVyaWpsTzNiMm5KNlhPcElKWXhkdmpqWTZaMEgwdW91aGxpWmMvUEdsTXlWVnY4amFRNlkvQ1kwVGtZTUd5UFRHcWE3dFVyQ3Q5NkMyNXMwTWZzZ1VaRU92WlNJdGpseU0vVWpDYTgrRkcxY1Mzb0VZVEo3TkdxbVE3aklubU0zUG1lWkphNnJzVjRKazFTdzVHUEFJU1dRVGdNK281Ym96SXU0Z2IwdG8rOHFhdHRyV1VXVFpSVHR4ZklYck15bExCSXdoMnpkQ1BrVU5TdEVkenRzNlFDQitZOWxxYWdyQm9vcWtWWmx2Z1R4UEpjMGJUa1RNN2VST2hPVTBRSlMxTWd1a291bWkrdnU5TVVScGgzaXkraFlUTFk1Y2pQMUF4ZXU2NUNMNW14TmdqdG1PcjdwdTRVTWpWMTFQeVk1cGVpd0IvMGFlMm5KcmkwS1dZRXE0Nm04eVp2UkZtNGFIZXRVRkNmTnFYdTNMTFBIakFZUStlNEtrSjJCazBoWktHUDlzcGcxYVdSbW91LzZCdExVK0NtOW1iSzhaYTBiVUVzdDVXbVU4NHhBREZyTU9wdWlKRlVaNHllcGk2NjNtSzFycnQ0SHowZXhOR1ZwbUNsMlhHTUdvUlVzTXVSbjYyNTdwcW5SejBtdEFZOWFraGlQVjJjYVVObCtLQnc3bFkvdmt3dFRsUDRwdnVXSnFsdEpUbThLYWsydVl4b2FpekJvQy9uZ3hnNDVveStFVlBCWk5DNVpZWmVwS0ZkRGNNeWU4VVhjOUdVNWpoTHBxZ2xNZS9TeUtTZFNrU05LczFGaG1nSW83MU9kVGEzaGxHcXprRXN0NVdtc0ZPYmNLRGo3cXkrb3lsNjVwVFdVNnRZbGZRaTRUSmxqK2t1NmtwVHNNKytwbFNuV0JYc2N1Um5hOGFHOVNvRTVBRjFSWjBNUW90dUhjZWQwREZDV3RZL1lYRFFYZWJuVWhxVnZXaGFxRUp3WHNvZ0ZobTI3SHVOdkg5cjg2Q3BuWXJ0VmZURUF5RHI2MlUySlRXb1B5M2M4T1A2dXVaaWVzUGR5YXJRY0VyK2twQU9DTmp3bXFiU0xvMEFJRFAySEZtbisvdUFHbjBXMWIwKzdFMUxWRnZ5cnhlSTBBK200Nk55dXVOSlBDNDlLelhnajdPYXRnMjliRVBJQ0xlWTBUMWh4NUxMYm5lNUNkVkcyRGZFdEtiT1dDWnFKaFp1WG5UVzR0R2xiTDh4bzhRTXVlaksrMXpXWmNQVE9TVUtnbEw0Q0hZNThyTTFZK1NUd1lyVVZCMFJnbURSQXZKUXBiTkVzaGtIc1BMbmtKNVV5WFV4Y3A4RE9jTTFsR2cwNnNVeXhlTHFDbWhxNzU2V0hqQ1FWZFQ2cXNaclR6OUZVNU9QdTlXeXZPazBLV24zS0w5UXR0KzU3TlVNejIrRWJzSnhxZVhndy9CMEpkSkxPZFJhUWZaZTQ1RnZWb1RPdGxRYXM2N0tGN2ZiV2hEWnhxTnNhVnBJeW1NaXhqd2J3YUhFOUNUc0xDclowZ011TjF0MWFIQ2kraVV6SnUxOVl0RU9lYlFBa2dObTZiQnF3N01lZDRLOVZXMDJQWkZ2SzFIMHF3d01KWXVENjNKSTVHaWV0SW94NWs5cmJXR1BNSFg5ZXNYK3ZxUVdqWit3T0F4SFU1cWZXQThLbjhkVmgzcVdqZ2RSTWs2Snl4K1J2eFF4QkxtR0hiVUxaZDM1K0daYXA1NlIvb2dLdFZ0Q2ZFQ052YlJpMUJCR2hXcnN0Ly9pYndmQVd2MUxmSXY2QmRiOFJ1aVIvc3ZKMGtMOU1HNkZtV2h5aHE3b0RZZGxuTmIxM1VaWjdnQ3NaclNJYXU3bXBQblp0SlpDdHV4NFhDYWtWYlNPV3ozbGJuaFNZanlGRW5Odkl2Yk1TZFdYbmdaSHpveXJaaEtxelQzbEc2THRNYWVXZVRsbmNYNVJpRDh5MlhYWnhhUG1CdkdzSjExRkxXYXowUnRtQnZZMGZkT0V1cHlxWld2R1Q5YTlSaWt1R1Jwa2dFVkxEbkdtcUlRei9oSWJ2YkZkUzczZzVEM0lCNHdMTDhCeHpmVmx1bmkrVVFHOThqZHBEMVFPVTRlL3JvNGJEb08reHY5ZmJHZmloK2Irak9vY3NEK2RaVFRJY3d0c3FMK2FrdWdhamN2OUo2dFFMbDUvM2R2YlVtWjA0VTR3VFhUK2cvN05DNEMvUkFYL1lwZForWTIwVUxjSStRK2lqekdydjFOWHczb1FHWVd5WVF5cFZNZUlidkRlaFhiMHJZVS9sc1lzdkNjeWR0eTdzR2F5WDN2ZFN0UkZtcXgrd0NoNWIwako2NkdianFaYUN4ZEtjeFRLTnQvKzRtNnF5WkQwZ2Q2Y3A5eW5iOUpiemVMMkY3VHBpbDdLZzZmUGtEelhUcEgxeHFuckZzWjlwMml4UEUzVnJ2d0t2Wm9wYitWUWw1TklobVlxK29idXFyODBOMElHV0hKOTlzdmpWQ1huS0tuQUVwZWcza2tjRys5ekl2aFZRdkc2RC8yc2VDTzZ1cXJDYkVNc2ZhcnpZY3hpZnNyT0JxUG9QaUhlOHBrcnIxSmQ0S3JyVkF0K1hDbytGa1hmcm9qVDJreFlvNDhWS1VVclBIbm9LZVp3V1hUZS9kWHYvcjZMRlBtTkZPb3c3ei85ZmIyektuK2UwZjVHS3pEODJQZnYwN0hjdHd3eFZ4OXlJcVBTRDh1ZENKVmVwWUZESFV1WXVaa2pKdTFiUFdra0hwZTdqK3FxU0VPSk9sU01RRlI3eFhnMGV2VVp1bVZ4UEp5bG12aWlEbmlVUG1waTQ4ZncrOGlWWlVsVFE1RFJzamp6bVllUWlhTmg2aTk1OXJUOWJHV0JFZFB6NTBDWGs3WU16VlJFSGZPMkwzN3Q5NFRRajNZeXdNSnUxLzhHbTdzY3dSODF0emJxUk9mR2w4WG8vdGN5L3hIS08xUzllUlduMWlOUm9TUi93dngwRzVmNmdJMDR6cXlaNjlpNVJiZmJKK1dQbzcrMnJVdEtuV05IVHB3NGNyU2k1N2ZENHZpeEcramFySVFPVlVtamVLdW5LYmVSWWZBVWh4d0pQdCt4MWVpZGZqZUdlOHFHWklPM0hqME9BeHFkNDJUTWNmem55QkdidmFxeWJ6MXlITlpuU1B0V1R4b2xSRk55aG5TRHBpWmJEMlhmd2UxMFJHeXNlalExd3BtR2VHYWJKSDQ3V3h3cjA0L05Td2ZOZ0k0Mzc4ME1RenFsckhmMmdLWmtqOHJHejduN3g2elNuZTV5bVIvV3JLcW9qaEcvcEs2eXdOS2wyM0o2Nmd0djIvaFRuN24waGxUaEErWE9EVy96YzZOdlgxdTUrYVd4SEdkT1M0NEtuOEIvWDhqNEZTc242cVhvSDBMYzhtSXZBOUU0cDVHbzhPeHJLemQrTmlaUEY0Vi92RzNqRjFPNTV6Rmo2UHFqblZ1S21BQWR1K1B0SC9xNzlwWXQrZkc3S3pmVGYzWi81dzMzL28vLzEvOXIxRnh4VCtXVmErWmlhK2RVbHlzMWVaclJNY2Z1WGRsYWN6dW1scUxwampHSERXRUVRZ2d3VFVPb2NONE9RNEJwdXNNNmhNMEpJY0EwRGFIQ2VUc01BYWJwRHVzUU5pZUVBTk0waEFybjdUQUVtS1k3ckVQWW5CQUNUTk1RS3B5M3d4QUFUUS92TUpQWUhFWWdpVUJEdnllUnpPZHJSbUFISWRBTVBsVGZRUWF5S1l5QS9HampTY2FCRWRqSkNOeS9VQlU0WHJuQTA5T2QzRTBYdTIwbElpa2RweTUySk5qL0hZeUFmTEdVM205a211N2dYbUxU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WUJjamNPV1h2dkRDZThwck84S0Q3MzM4L1NkdmZkMk9NR1hYR0RFaDRzZXhqLzdZcnJHOUQwTkwwc3NkUWRNaGFjcnBQb3huMFdnaXpsSzZldXNGQ0F2VGRIZDM2bzhzWEYrVlRMMXJBY2ZKdXl1NGVHVDdYUHJKamNQYnB6eEg4N05Qa21NN0lwcU9Ydk11bU1MUk5LZTNna1dGR21EN2dTNGEvVDFjdkRFb040RE1TNFhZR0lDYXJhZ1lCazkzQkUxaC9PVk0weTEwNFg0d2M5clcreGF1L3NoZURUYlJnTzd6RTA2amFHcm4wSFNVYWJvRlh1MEZlZVpkdlc4SzBkbW11TE9JbG1aY1MrYzBOYmx6YUJveFRiZlE5UmlLWXpFT1pIcDhDMnJDVmFwRkw3K09sazU1MTF0TjduKzQvNXFOODBuVGhNRk0wLzc3TDlxVG9Pa0JYSzlzUVUrd1Nybm9aVk0wbmZPdXQ1cmN0d1dhdHM0blRSTUdWM2dKMVgvWEoya2ExWVI0b244MTRScVZvcGUvRHBxdWV0ZGJUVjZ5MjJpYU1KaHB1b1dlVDlFVWs5WE8rQllVaGFxSW9wZDdTSWhIdmNzdEo4ZDJHMDBUQmpOTnQ5RDFLWnBHWlgvcHZ3V05yc3BvaktiUkEzY1ZYZG5XVSt1N2phWUpnNW1tVytqN05FMGJRbXlCQ0tHbUQ4VnBHaExaUWw1ekM5YTF6dWZjTkdFdzAzUUxuWjZtNlVITUlkdGIwSlN1c25kYmFGcmFiVFJOR013MFRUT2xhMDZhcGlPZzZYVFhlcjBJWExJdE5LM3NOcG9tREdhYTlzS2RoRXlhcGxGVmlDY1RVbHU3Ykd3SFRZZTNNaVU1bjROKzBtQ202UmJZRktEcDFLQTJvT3ZiUWRPRHU0Mm1TWU9acG9PaEtVS1BHTVNXRkdZUHhTMVkxS1ZLYTdmUk5Ha3cwN1JMRDRlS0E5SDBFdEQwY0VpMno3eDkyMExUOG02amFkSmdwbW1mUENMeEFFM3BiWlNaTGFoS1ZpbHRCMDFoM081YVFxVU1acG9taWRMRGRZQ21lRnhrWDBIdFFVT1dDTEc5bUZXNDVYeHdmM2ZSTkdYd1JVelRvZHR1Zm8vcytjSlZSenV2WE8yREJBR2FEb05mUHlRVjlIM1ozY2Vrc3RHdlBQZWE2NC9LR0Z2NDd2UCt5L1czSVRueWp1TWZIVGRORGYvczBjNk5IekZYT0ErVll6UXRmT1Y1VUREdENWeHhiZm5tajY3WmpPLzk3ZnZ2dlBYWHFPSTdLc2U4ZkNzZ0V6OEJwVW1hZnVMdXlySC8ybzdKd1JweHc3dWo2RlB6S3J2VmJYcy83Q3BWVHFwQzFoWFhWbnpMUXlLcVdmeE5HNnhvT3Z5dWxKZUZ6OTNXdWVORnRxYWZ1UExqWHpoNUQvWEVBMGRmLzN4YmtLb0FKRFp1WDRtR3ZXOENreWozMGFYUkZkZVhPN2QvMWphSFJOSnp2NnlIZEtsVGtYdWRoVVhSQVQyVzBsVU9WZCtTemtST2dLWjRjVmMrZlZmZmw2azM3aHZJRTJLV1ZGQ1VwRmxCb1M2T0MrSVZIWHNxc3VGZlVWZFJOSHAvV1lySlA4UkZtdkRHOW1NL2o1ZjU4ZnFBQVYwMUJnWWVxRUN0MkNnYVRmNzVvWGRJTGZLUGZUL21haUdPb2NLcUovaTBpcmpsNU4zaWpVTmlXZVcyTkUwdkZjZVBuRGh4cEpJRUtNTlZWRTZwaXFLL1JvTVZzV0YxQkVTTUxTR0RKVTBQcGIwY3Jvdk9VU0ZlWmVyNlo0UmsrZTNENWFKVDZSUjFTYkpDNFdxeGVSMll0VHA1eHRZTm90eGJsMFkvSlhFV2YyYVZwVHgzSlQybEx0MVkyeVBJdGxvSGQrTnpRcTk0d05IbGtLNEFUZkhpcnVoQU5xUHZERTIvdlBsamVHQkZGSVJvNWRIL0ZrVmZGNWEyTkhHd1I0aW1ueFNibjQwS2YyRnZLVVBUMGVwTmF4U0pnMitwTksxSzl4clhjOFRMMnRIb2xMQzlSNGFmcGlhZlZTbWJOd2RibHFaS2c2V1l0RDdUMVpDcTZEdEN2RGdxM0NjMmxPdUIxclJTbkVJR0UwMERYbzdXeFNQdDZJcUtlTFdyYmxPYXBpT1ZONC9YelF0c3FRcVRna2JVd2djM3hLYXBHRVk1azZaK2wwYi9Lc1Jidm5qbGM2dnVjNDZrNTZhVlhzK1R2eHBGRmNUUXZaMVZWTUZHME9Ga1RXS0JITWlUQlNHYVZpRGNSa1M4NWs0a2xFOWZYNmdpUFV1MWg2NzVCU1JuQ2doSlUrWU4wcW5UNDFTRTczem02WXloRXQ4QTFvVzRsNzRGWEtDeUE5ZmdVa1o4V2I1WDkvTFRUVytQWG5NdHloK09IcFNhOWx0RlV0cjgrZlRDQWt3Nkk1WCtqc3JjSTJRQ29kMTlDRGUxMlphRnVLSG1sRlJMMC9SUUdZMEljY3VLeXJaL00xekYxeWtwVmJnQlgwTDFGczNrSXkxaTFVWUJnOUZScDBOZU5zV2o0NmlJMTlTTHJyNUp5YThPTjZMTEhxUFJUNU13V1dHUCtHMGxYaklTR1BqVXZlU2gzSE9Yd3BEL25mUVZhcDIyMHB2eVhHWDMvcmRjaktLNk9GV28vcEdzVXhWUEp1c2VST2U0b2NBckRkRzBER0hWa2M4ME5JVzVvTm1zcnZncDBQUWdCbWdJbnFJcys0NkpRd2k1elRqaWhaS2phYUZxR050MEh3dDhFelF0cUZkVUN5NWE2aWJOQ1ZqRjVxWk5mZVVvQ1d0bXRIUXBTVk01WXptamZETWE5VG5vYWtCVlRYOThhL2dVRUlscFRocE1OQjFOZTRuWDBRL0xlcGIrTVMwUnZqcmNpT3JGYUIvNlJwYWtLalJWUUtGWm1TWnlFT1dnbjVqRko3b1VmTklEV3FINnE4cVVwT2R4QTd0ZkRaR0JpK0tIKzdYaXBoZFpkRzN5enJnUlV4aWlhUlhDcTFJS3F5bGJhOTNSRkpWbW1rQzFvcmNFMWpjL29wU2ltWG1Wd3Q4RVRhTUpSOU52R0F4b1pyR3FhMkFVZUhpLy9zS2w1TnExK21RaTBldWo0aTF0SlZDMlRrL1l6dy8ycFdnS2g4NnN4VFhxcTZDcmFWVmc1N1Nxb1lOQldpU3VQbUV3Z1haNlg5ckxSWU1JQnBKMlhJTzZtaEliaC9CMU9zM3h4eWtuV2FIZzd2ZXlwbWtRNWFDZmNvMFM2MUtZTWEwYS91ZUtvbFhLYzFYYys5LzlOSnlYeE9uU3RLclRTUGN4VFNoN2pxWlZDS3RiRzlOVVM5TXhSMU53NitXVVh3SmRxY2xGRXplQmdZdDFTWm9DNFdtU3hsRzJBUThUQjkxbkVScDdlSEpKQ1RReU9ndWgwbXRCanBHNlFkUW9xcnBUS3R6ZzRsQ0twckJjU3lsWjcyL0kxYlNxU1F0SVN3V3R0SWluRThtRXdaS210WlNYc0VzaUthZHNjM0VONmdvTlQwQUVIU2w3SkZWaGp4cllTTGlwYVpxRmNpOWRhdU1FR2xMM1JjcnprSlY1ZWV1blVGcTFrNWFvcGNjRnJ3NzQ0K2pnNVlkVytvajNJWnFDWmJPNkpyUzlpdGl4cmljSEZidlJXalVERGtxVE5FV29uVllLZ0hWYnBTS01ZdlpqQVV5ZjFmWlhSSkYzeVVqRXpvbGV0OEVsd3UydnU5Y0VFOVF6V1VCa1Rhclo3eFlFTWJVa2F3bElJV3RXRnFkVVlSZkUzSWVZUjYxQ0tDVWlLN28vQ1lPSnBvK212UVNTUlYybkxpanFwSTZHMktnVnNXRFEvWmlxWUVlT0tCcFROTTFFMmRMVStvbkZSTHhMWWZVVHlnUWFoOUV1Tlp6d1hKWDMvcmUyREZsUTVVbGRCWjB5bnF4ZHM4eUxsNFFHL1Rvc20xZGlYdC9CM2xsZEY4UHpFVXFQdnVzWFpRN2tOYlJvcGkyejhLZnBvSmRaYmh4cGVwRWRnR2g2d1lVTmc4U1l0Y0JvMCtkRXIwTk9UeG93VjFQK0Y3dzdwYTVWdHd4TlM5bS82aEp3TmEwS1BzeG9TMVE4UzR2a0d5dzdLdTFsMWQwakxtckZOTFhFeGxISytOWXRhM1JLVlppd01FWUhGVTB6VUE3NENYMkpMbDIzRzBNVFFIZ0pBaW5QeVlxK2p1cXFKTHVkNUUwR2FEcHlKM2E3QTBjWG1vSTVwbEtjcG1aV0lFdmh5V05LREh4WU5SV2FXVFRGQXNsMEZHVGRSY1Z4QVBmNXN0RVRPd2RvU2lCS25OV3RBc0J0amFrNWxZUlpzblAzT3V1c2pFa0VYRTJyQXJTcU9kU1NBU2N0WXZUcGM4SmdTZE1aWFdhOUJPVTFnSWlGNXBhS0s0SUwzaTJXcnRCeWcvNGVTZE5zbEh2bzByb2VKNlU1TXBxbVBJK2IxOE1WQlRDZ1lWdWY4anFxVy9Vc21oNVdGUU45aHdMMFRlekhic3AyUmpIaFJjRm1GazNSNWlsblY4a2FYbkVSSC9mRW5CUHhVb2xlcHlGcFJSYWpWMDdMQkl4Yk1oV2FXa2xMMlZ1b3ZzR1VwTThCVjlPcXFwN2pkV293TFpMUW5EQlkwdlN3bHJGZUlsVHBNVGFLTUptWVQraWdTN2hnUldSc3MxZXFRc3NSL1pDa2FUYktsaWlKeUxObW00VlhSb2oyaU5vb1NIbHVoWHRNREpOR3JNUHNVZ1MzUW85VmcwK2h5Q0lUTEFOOUI5WHdndmIvN1lFN2JWbGRqTm41Wjg2Z1B4SGpZTTBHWU5CMFJlc0VnRE5Xdlo5STlEcWlpbGtabWc5WC9TalNtRloxVzRwZDN6QmJnTDVHa3c2NG1sS0ZHWnh6ZklwbUZ5a1JvODZjRXdaTG1xYThiTGdKRmEwVzVreGw3d3dYWnQxbHVzS0VDd3JEY21tT0RFOVB6VVBaTUpCMnQ0ek9lSmRpV3F2dWVRelRGVG1oUzN2dWpPa3R0WWNHQTN0aklsM3habWZkVklTaWFWbDA5OG1RUStvZnF2NnliZ2MwWFRaTk5oMXdNc3ZPVFZFd2I0UmttTkJ3Z3Fiak9yOVhta2J1Wi80c1lhRkdidmxEMWJEVzE1STBIYW04eGpXYlNnVm9TaFArbUNvRUErZjRwSXdHU1pHazNoQk5VMTR1ZXJEaHpqdVZWSUpydUxEc3N0TVZNSUU0YmZUK09RazJNMUhPb0tuempDWWVlckdCY2ZydGE5QVc4TnhaMDFOcStKY2dOdUdHT3F6SnZGbE1GeFVobWxaQTB4VlZMOVIzTXBxYW15MmhIdjR0bXl6Z1ZEUnBPbHVhMXUxZFFObXcvQWQwbG5GR0plUmROMlBTc1hPcTEyMnBaZEFVekgrcjZURlYzSkkwbmR5STU5cXFNaEZ5TmFtS3VHQnJOYVRTcElndDFvbVV3VURYeU5pYkVYbnpKaE54eTQ3bkpnOW51R0JGSkZUMlNsV2dqc1R6WjNka281eEJVK2RaTkduV28xWmR3SE5iMWtjQ2l0ZTBPSUN4NDM5WERWazAxUjBhNmp0SlUzdXp4VnNZNjRXbUFIVFZWVU1WdmFEQzZ5c20yM2FneVREblZLK2JBcXhvZERpWWdINng4VElEQndtMENKMEQrWGR2eU5Xa3FuVnZxVU5LVitSZGxtek5ta1NKbE1FQkx4RlkzSHdhdzIrbys5RGFxbFVjcUZDQURpRmUrVTlXQmxldUFzVkhpM0lHVGIwdVhVeEY5SURudHFVK0VsQnNwREd4T0dYU1hjOGhtc0pCNDBtbzd5Uk52YVc2YmVON3o3dW0xQU5OY2ZmN1lSYjNxWDU2Rm03TXFwZUpWSy9MM05Fdi9mMUpTMU9JeU9NM0hWRmJSRk5BMUk0cmkxMkZXaytxYXRyT1J0VUo2VVpTSktZVEZ5bURBKzJRanFLcENMNkZ3SVVMVm9TVXVpdGRBYmJSc2ZraXBhaFBsSEZ6ZUsyVzNhUlZteFh3M0JqY3o3bnM1cVBvOTdtZXF3Wm9Db3Z0MEJiQUZLcEROL3pvL1ZYVXc3RnMyb1puUlpPbXN4bjBDV09FSVhNZ2NLcDlQdG8zOVRKblRUcDJSbVVQVGxYMDBMdGt3eWFhUmpWMUtUYUtwbW9MTktVbGF4NHV3ZFlUcW5DNThTZm1xS3B3bFJBeFRacHp5dUJBTzlqekZUY2F0ZmQ0ODBLakJPZVdEMXFvQXVYSjR4V3lWcDhveDdzVWVtYTh0cEdzQlR5UFMvUnloVHZLemtmWDdUcTloNW9CbXBLRFp0Z0pZQXFsY1o5a0s0ZXFRcnoyZHo4ejFnTk5xY2s0VFRVN3c0M0ZuVWoxZWhSOUhzdnZsLzY3dG8ybWVLMFFMZEN4T2E0cnQ0VDRZblhUd3lpdVZGNEZXMCtvbWlLdDdwQS9CWnNRU1dwT0dSeG9oeER4anpjbGxlQzY1WU1XclBBY28rSTNxSHFmS01lN0ZKb1NkL1NVVWE3T1cvd1JYQ3dQRGJOb2llZXhJT0N4bjBYZUhQWXpsSU9uZEZZQVU1VEFwOFFzLzBkd3MzMEVKYjNRRkl0R080OUdGVVJUUFY4Sk42WXQwYWRVcitOTmNQR3FOa29kVGFPbkt5eUZNUDNkRXVJZk9sOEVlOWZpMnZ5cmNPdHhWYVdVNDlBUUYvRlZVanBsY0tBZFROUHlMSk1xNFlJelBsaWhBT3ZrSVRuVUo4cXhMcVdwNzdKczFmNEplbTVMZTAzQUtNTXNlaUdrMTJyQmZWTi9kQXhnQ3QweG42Z3RERGliUlVxTWVmNDFNd2I5Qk1ablNkT2FFRyttbG4yYVJzK3FxdzR6UGR2QzVjc3BJTTFLMGVDZnNLdHhWWUEyY1grU3FtUnJNZlhuanFaUjRRKzAxMlJqbnlqSHVuVGJhSXErWGpib2VOTlVrNVY5RGtSVFVNMU9Lc045Ri9NSnVrZXJKaVNqN3JKcHJPblV5Q3d6TjZYN2ZNVUl5VmZUOUFJLzNKaVRwRlN5MTc5cFIzSXZta0x1b1orWFhUYWphcmRrSVh6Vml6V1ZHLytiMmJxbmFpcEkwMlJyTWIxSmcwTXpjT29FRnlwajFlMEZYSEFpV1JWR1AxZUdLam5GN3hQbGVKZEN4NXh0V1NhbU1qeVBTM1c3bW5BN0d2NDB0VnUxWURTZFZIN0t1dUcraS9zVVJRL2FLVWN2TktXNWZ0RlpoaXBibjV2aUdZbWhmSnltVWZUVVJiU2pKK3d0OVhDc0dtdlltWkRqcWl5eXFtclcwVVRsV0d1eHNsNW9Tb2lzeEdxbEwrQ0NvMmwyaGNKVjBFWFR1RDVSam5jcFZNekVUYWhsZWg2WHk3K2FkSDc2MDlUOFNsUWFpS1oxYnpIZEUwMExqaXRqZ1dncW41S2hLUk5OMFhFSm1wNVJkb1liVTJYbXIrMzFLWFJGRkYzbTBFdlNOSXJ1UTBPcVhrc2wxb1hRYjZJYmRkNDV0M1d0YWpLOENwZGFYR3VlVWkvOEs0TnBaejYxbjRFdTgvYzRZL1hOQlZ4d05NMnJnSzhCYVFMWUo4cHhtcFpUMDZNOHo0MkozYytMcGtQa1l5MVkyZXVScGltaXNidVZBcGhDYzl3bmVsbmlNZDNlV0E4MFJXMi9VMUJGUC84SU54YjNKRUhUdWh0RkRFMExOOWthSmRNUStwZ3lVVm5mRVZiRUpRS3RwMVN0TzA5MXhaU0lVNmhTQ1lPRE5JM3QxaWNWNkd1NDRHZ2FxSERaWVZNUnMxTHMxUGVKY3J4TEFWeUNRMm5QVFhQOW5MMzVLS2FwYzcxWFRkT1VjbGFOZ3JLNzlTOXhkMWpjSjM5cE1pWnBPcnhDOVpzNmFDYWpLZUtKdjdrQUFQUW1SWUFveGc1N2p2YzZETEVQcmhRRi93YjlZNFhSWWZQeVF0T1VWcGRMdGpTUkNMaWFVZ1ZzRTdQYmxFaENxNXRNNTBUVHFLd21KY202L25XTXBvRUtMY2NyZk1pQm1sa29CL3lFZEx4TEoxTXowYlRudm5FOXB2MzU2RVNNQk4wVXBHa0sycmlRNC9rMGxrblR1dXQ4Q0MxamoyK0dtbTFtMFhSUkNobkxKcTNlL21ucXhYRzEwaC9ad0h2bzhpYVI2aXRrRFE1RFU4d1JucFFaZ1Q4QlYxT3FnSllkc1pXS2xFaFNjL3krUW1uSXl5bHZBRXNxME5keG1xWXJOT3lHSkQ0K29BN01Ram5nSjZUak5KMUlqUnBwenpQc3pNdjI1NlBvZHRkUGVaVmtXWnFtZFg4Q1YzWGRzbTdwbFBDSlJxQzJiZ2orTFhlbGFjTnBRclVwRzBsQ0hhajEybE84MTJHVG9SM3VWSFNPcE9tOGxaN1MwNWVXbmhQaENXS0NabFkwQ3JnNnJJTXhDVWxWNU9xNHEvTFA0N2dwNXUyMWFjMW1VQ0p1TURKQ1hzSVAvZm9OVlJsNUNmMU5ISEJoeldXbEt6VDB6QWt5ZTZTVGpReVVBMzZpVHB5bVdFWVEwL1V4Z3JmRTBwNmIwajdPL3JicG9wdW05cUFoUlZQQTZ1RlJkOTNhZEc3SGZhS254NllsZ0xsc2FEcXBvK2xlUFhFMVN5aGFTM21kVXJVa0QzV2dVV3pPdUNIVnc5TFNFcklhYmc0Rm13eE5aNDB3M3ZTWmsybVlwZkttekRUQWl0aEV3TlZoYjU5VnFTcDVFeUs4S293ZndrbUpXSVVxRVRjWWVTRXYxWFRTMURTZjE1cHJlWVlMSGszVEZSclU2SWFNQUFBSVRrbEVRVlIyOW9PdmRlbnBjeGJLQVQ4aG5kMmxlQUJEZ1RybHViU3F2eitZT2FqK1FEVnZtdW9wR2JuelBkNlZTNlpvaXA0MzZ5RkllVDdCemxsZEwrNFRpRzBocW5rMEJiQ3JWTUg4bHpsTFUvRGFOWUhiMU1TQlVBZnFGdTBKVFdOOWdLTmF4Sittc3drYk1JYW1iZ2QrWFV4RHlnMzY5TWpMRFk2eXlQNEp1RHJzYmVZclZldis2RXp6MHJTSVZhZ1NjWU9SRi9JU0lIaFIzcHRtT21WeG1xWXJOQnlMUitVRU9ndmxnSjlvSmQ2bEdGcThTWHpqRkFSU25qdlRlazVOdVBtb1AwMzE2dGVjaEplYjNwQ2kwSGpZU1V3NUJxSmdWaGZFZmFJZE9sT2o2dEVVamtsTit6UnRMRTFCZnN0cjJoRXpvVFhVZ1VheE9hTi8xRjVvZVExWk5SZE5vZDNRMU5DZTZMa2tLN2FNaFhEUGZzaHFWT3B6d05WaGV3Y1pWUmkySE0wUFlqbVZGa21valJ1TXdxQ1hpLzVNclQ2ZDBFR1hjSUU4TmtlcVFzUE5Qa1pVRk1oQU9lQW5sTWE3bEZxYk5VMUZwV2trVTU3YjR0NFRrODVMZjVycUZCRDdITDR1bjFyM2FVa2RiOTloZ1JnVWErRURIVWNKK09RcFE0dG1ianFNMXp2bVVHdVpLbUZyUUo3SE5BMGRUYkdTV1NVSk90YjExQURKWUFkS0llOVBoZGlJUTg0UllaNlptemFxTk5RTm5RRngzUFJ4VWh2V3NtNlV0RkdlUnAwTXVCcFE1WTlWTGJRZEVFbW9qaG1Nc3FDWC9uQTRZdENNS1lJTEsxNUdxa0xEM3UwWTlDVW9HU2dIL0lUZWVKZFM4TEFEM29pNlA1S2VlOGIwbWx5MDNVQzhPNVd1aHJtTTd0NUVHUlhNdXp6OENwUW91c3Rvd3ZiNVpiYzd4ZWdiajZhSUYyYUUyUGNhZVJmV3BFWllNa3VxR2pQMDE5RldZbUxZaGVIRjNoYUlkRXBTeXM2YWRQeThxSVRrQjJERWNZUG1rWFVxT0hDYWlETnRxcFQwSzRJTjYwYkx6VEdNa0Q0SFhBMm9ldERkMVlYS1lVblRWR3R4eFRHRFVSVDBFay9UTEF5WDJaU3ZDQzc0TkUxVmFMaXRzcjFxQmdqbWhWQU8rSWwyNGwxS3N6MGJ2UGVwUGJpazU3NXhQYVpsSkZHeS9tM21haVBYbi8yNEFvUTQxNnZSMDNEMVc2NVF2c0JRVk5lbEI1elhtSTJxQ2FJdXN1TjJ2VmdtQW1OcGdjTjRYa0p2MGpIbUp0Q1QxaGpjdHRPeVZINzlaa0kzeVpxcGdDNDFwNGJxcnIyeUwra21HNWNsQngrR2l5c1JWaDlvMWhnM1l1Nm1wZ1VkSWQ3Y1UwYWpQa05YVVNXdHF3RlZ5REx2dSs2bmV5QWdvdldaVTh6Z1RDOGhWZFExcW5PbXFuK0dDNnYrZGJJQ3JrMTVTeE02aURLOWsxSlVpcXlmdUV4MGFmUU1lbGRIaTZrbmQwblBkV2svSjIra25uQzN1NmVCM25wU2c2V1hpV1NoaGdMekFMSHc0N2g0WTB3QWQ2UUM3ZExUQ0k1bkZDVWkvRnhXWjhYSjRUNVRYeGxkL2dobUNSdVIvRTByRk5kbGs2Tm1ERVpUSmdiamg3dGVvK3FYWEJRQll5MkRJT3RtbUs0bHBPREpNazdya3NYMFNGK2lXYWdmeHR4akpwcWNJZUtZZm5pR25zOFVxdlptV0VlcGNTT21sNGE5cEtzQlZkR1hEYjZGTXJVY0VvbnJqUm1zRmdOTFdzTHpjc1NHMDJjRXY5Z2lGMkpmYnljck5PejlVeWpyY0J4RU9lUW56RWwwS1hWZXB5M052TlM4VzVyd1hQdlF4OG1mV01CY2owRkdDVzB6bVJoajhxSTlDOWZEZVJ6M3Z2MEZMM2pCTmRlano4WHBjVnNzRTAxRmwwSnBqbWF4bTI5L2NYUm80VnFxMDdscjRjVmFGTTNMSHpZOWdGRVFuZks2K2hPcUFKT2p3MUgwREFuYXR4YittR3E5OWpwbDNEYzBJLy9TVUdwazRVNXF2blB2UWp2U3NxOWZDRzFPNEFVQ0tDeVVvUmxIQzFXS09IOFFlUUQyVG94VUlJNytiWk9Sc2h5dTdqOVpoV2I4aUNXYVZxKzZiVnkzUnBVVFI5clZsQ3JVQUYvT3lObzFTYWVRU0Z5dmIzQ09sK0RKbjFIRkF6YUtlV3EwQzYrLzd1MXRtNXVvZ0VGZjM1VC9Zc2VuRk1xeWN0clBkSmZLSlpPY1Q0MlVkVzhtUGJlRzlKd0FDVThaNFNrM1RUVlpkQzZwSU9SbjBjUXplYnhxUENZaFg3UjV4WGcwZXZVWnVkaWlPNVlHV25XWTJFaS9heXBlOTZHZnBVaE1kNzJKdEtObGNlWXpEMVdXU1dWRFZiSHg4ajRoM3ZiRnIvMmUvckZRODBPNEpMVGlaTTN3R3JNSjJIL3MrL2Zwb2FGUVIzUC82ZS9yblZVWkVDamdESXZIaGl2L0VVejZXbDBGWjdpdWpxVW9xdXBrTWFaU1hXREhJdUZxU2hVSjR0V096VC84NnRjV3hUeGRCVVdvd0IyZXdZajQra2g3Q1VUZThwa3Jyd3FPSXRZRlB3VEZLelRFMHFjNkg4WSsvRS9aNmJwOCtTYUdzalFxN1dlZ1M2UG9rK2pUejF6NVYxVTM5c1E5ZHc3Mm1rSTRReGVvdzV1bW1pdzZoMzdVZk1KZ3BzL0g3LzJzWDBXbHZ3TWVIQkVicXg1Tmp4KzU0Y1N0UjQ3YklWeit6amQwUERJdUc3cDUxV2pCTy8zbUlYaWpnNThUcDByR1VEQ1VEdnA0bTQ0aGNmd1l0QjQ5VGpRbDJSTkhqaWYraTZJU2pBcUxWRzlhWCtHWHZlbDRQbDErdnZOVy9CMUJVTUVMOWNjcVFyeFhDcFU2eDJ6VDFZNXN4Y3dLWkxuOWszSTFwVXFLSGlqTEptWHNTN2RtdGRtRVozQ3Vsd29SRmFwdFpaV1FMcHc0Y3JUaTB6U0tWV2c5RWhWSzhtZlJUN2RkN1FUS3FpRGw1MTc4MW51eVMrWEhPM0IwYzlWcGkzbnVzbnRPZlY2OXdFN3kzalMxNStxNWdrUFhIKzNjVXNRb2NPeU90My9vNzlwaDJhZSs4TGFOUHlXV3hvOHI3cW04Y2kyZVphKytmVzNsMkwwcjlyTDNST0VmYjl2NFJTdGVlUGExbFJ2OTIwdStzL1NzbnhmSGJ2OHhLOVJqSXVscWhxclJEOXpXdWVWOVNtZUdTS3pCdU1HeG90Z0ZFTG41cFdrUVl6S3hDNzhDdlNGVitFQzVjOFBiWWhxQ0tDZjlqQ2wxRi9RUElmNlh0cnRHcVBZODkvUDdUbU91Wk1maXZpdHpCVWJnM0NDQTVmSVB6azFMM0FvanNHVUVzQTg2dCtYS1hKRVJPRGNJakpsdHZYUFRITGZDQ0d3RmdVWncyM1FybXJnT0k3QnRDRXlacDRmYjFnSXJaZ1RPR29HTWJkT3oxc3NLR0lFQklqRHdiZE1CMnNhcUdBR0ZBRytiTWhOMkFRSzhiYm9MT29sTjVHMVQ1c0F1UUlDM1RYZEJKN0dKTGQ0MlpSTHNmQVJxdkcyNjh6dUpMU3dGUHlWaFhCaUJIWVhBRkwvR3Q2UDZnNDBKSW5ENVpqR1l6NW1Nd1BsRjRQOEg4aS9rSDNEUTBqTUFBQUFBU1VWT1JLNUNZSUk9Igp9Cg=="/>
    </extobj>
    <extobj name="334E55B0-647D-440b-865C-3EC943EB4CBC-4">
      <extobjdata type="334E55B0-647D-440b-865C-3EC943EB4CBC" data="ewoJIkltZ1NldHRpbmdKc29uIiA6ICJ7XCJkcGlcIjpcIjYwMFwiLFwiZm9ybWF0XCI6XCJQTkdcIixcInRyYW5zcGFyZW50XCI6dHJ1ZSxcImF1dG9cIjpmYWxzZX0iLAoJIkxhdGV4IiA6ICJYRnNnQ2x4aVpXZHBibnRoYkdsbmJtVmtmUW9tWEhSbGVIUjdRMjl0Y0c5dVpXNTBJREk2SUUxbGJXOXllU0JEYjNOMElIMGdYRndLSmtOZmUxeDBaWGgwZTAxbGJYMTlJRDBnWEhWd2MybHNiMjRnWEhScGJXVnpJRnh3YUdrZ0t5QmNjR2tnWEZ3S0pseDBaWGgwZTNkb1pYSmxPbjBnWEZ3S0pseDFjSE5wYkc5dU9pQmNkR1Y0ZEh0Q1lYTmxJSEJ5YVdObElHWnZjaUF4UjBJZ2JXVnRiM0o1ZlNCY1hBb21YSEJvYVRvZ1hIUmxlSFI3VkdsdFpTQjBZWE5ySUdWNFpXTjFkR1Z6SUc5dUlGQk5mU0JjWEFvbVhIQnBPaUJjZEdWNGRIdE5aVzF2Y25rZ2RISmhibk50YVhOemFXOXVJR052YzNSOUlGeGNDbHhsYm1SN1lXeHBaMjVsWkgwS0lGeGQiLAoJIkxhdGV4SW1nQmFzZTY0IiA6ICJpVkJPUncwS0dnb0FBQUFOU1VoRVVnQUFCR29BQUFLNkJBTUFBQUNUZDZjZ0FBQUFNRkJNVkVYLy8vOEFBQUFBQUFBQUFBQUFBQUFBQUFBQUFBQUFBQUFBQUFBQUFBQUFBQUFBQUFBQUFBQUFBQUFBQUFBQUFBQXYzYUI3QUFBQUQzUlNUbE1BRUZTSnE5M3Z6WmwydTBSbU1pS3AxMXM4QUFBQUNYQklXWE1BQUE3RUFBQU94QUdWS3c0YkFBQWdBRWxFUVZSNEFleTlDM1JrVjNrbWVrcmQ2bTYxVkpJZzJBVEdzU3BoaHNBOHJzU0ZjSjNjQlNXNElUWU9TY21adUwzd0JFcUpVWnVZUUNuRWJRTkRjaFRvaEU3emtCZ0lXWmtrVThyRXhwNGtUQ2trRVBKWWxBakVQQ1ozU3VFQ1laSzFVZ1VabTBjQU5YYXIxRzVqNy92OSs3M1AyZldTMUpKSzJtY3QxZG1QZi8vNzM5Lys5cjhmNTFRcGlxd3I4NHlYbEpxM3ZHVmNKUDJxbFJPQyt4aUJKei92Rkp0N3cvY0tDMC9NN3JLbFQ0c1p2eTZ2VU1ValRMSm5sNjNZKytxT0NSallhOU9tZkVobXphYXo5aW9sOHh2U3BqL2dGdFMrdmJ1Ry9EM1ZmdXNOOTVYWTVocHFYbWVOM2ExLzM5U21XTE9SdHFnb2UyZzJuYlZIS2RrS1ROcTQ1L3hkalAwaVRCaGxUK3lxSVY5SDdaZitDRlZtZjRBOWlsdDhrRmlUK2NSZHpWdGUzS1h6UEhMdXhwaXpnd2FQYzJXYmxMNTV6N2twSjNrUEk2TkVtcmRUdy82L0lsdUtvdU83eTVvanFQMzFzdm5QWkw4YkRiRUR4SnBod2haRGNyWHIvcDFrSmNZV2t1SW5Ma0hMdzhuVXZZem5RZUtjTUdDZ2RIazhLdThxYTBhTGpQMmNibjUrbzdGK2dGZ3pXbUNiTjl5SERtOWlOSFozbldpaVB5NGtaY2RlRHlWVHlkUTlqRCtJTnEycStvK3dWNDZ5WFdWTmpiR0w0NnI2YUlDOU5qNUFyUGtDK3lrMGJRUk53bWpzN2hwcVl0aDhKeWxiK3l1d1pqV1p1bmZ4RVpqeklsUDlaUFB2ZHBVMW1JOGNOTDZBZUYvTlVNZmJ6QnNEc3Z1cGtaNTlrVUhkQ28wMFQ4TDNXd2s4R0Q4WktuTEoxTDJMbDExbVp6R3I5dWhyMnVIV3NWMzV4SFE5ak9yN2lqV0RiVmhUYjY0SkFLcnc1NDJPV0hDQmtlWkFHb0hSaTVTWTYwN0RMa2pSV3RTeEJnM3NrVFh0Y092VWdxU3JpYkNxNmkvV0hHdk5ta3pwZGJMOTFPYy8zUWtMa1QvU2pDQTg1UW9mZVd4L3NRYWQ1RTZpMUkrOTdiemI0T2EyM1JPYnhLYmJUWVovN2l0Zk05YWFOVWZaaW1wYkFhczNGVzUvQjJzV0dadDFoWTdON0N2V2tERUxyb1dWWGxuVEJqZFhjenFHbFRlYmNaTXBxZUVtN2V2WWVtdlcxTTJBbUVDck5JWGF0Z2VzcVNkbTdTaXFMdTByMXF6akxDSFJDQ1QxNW12YTRKWlFuWW9PQXN5MVJDcEdXaU9SdEoranRkYXNxWmd6OWhObzZIeFh6UUJyZ01wbFY3WXl2cTlZVTJUc2NkZkFDQTNzalRWdGNFdW9Ua1hCa0FRK1VUVFJYNndwdEdZTm05WU56b0kxM2FFSzF0QWlZVndYUlNCekdVY1NqT1hzdEQwTTB4QllUdFNmNmJaOXFsd2IzSlJJaXp2TlJrblNFbXNiTGVUM1kzS3BKV3ZRMFcvVUZwY1lmMXFpNHkwRFlBMTZnTTdvelRYMDhMNWlEV2FqMUF5QnhWaDNvMEsxcWpWdVNxTFZuVmEreThsTURNdEdNbTMveG9kYm4vTTdzMUxGY3dqamJSVllFeFVTcTczQjJYM0ZHclFsTlVOZ01kWVRhOXJnNW9YRlNxeUROVGtyTG9MRmZtTE55ZGFzb1RHaDk2ZDVSRkl0OVNVUWE2b0pGMXlmMmsrc29kazI3V0FIZTJOTkc5eDhxTmhwSUswSHludy9zYWJ1QVZBMjhUaGFwOGRrRFJGbnJXTGpZSWVKTlhoajRwS2RWbWpzSjliUWFMaGdtOGZEUjNwalRSdmNVcXJkQkZyV2VFNHhxdjNFbW1KNzF1aEhBNU5vYThOdHZqOUdyS0dqVnpzWFd2YlJhbmdkMWszYjV2SHdjRytzYVlOYlNyV2JRT0JvRjI2eXhycUQxeFRZdzlCUjFwbzF5RE9EZ2xpejFvMmh4Qm9hVHF0R2VBUWc3U1BXNUYzcmxKMDlzYVlkYmtwaGl6dWQxbmlXVUlOOXhKcENHOWJRSTdYSFZOTnJpSFE5UTBVVjUzVG5PT2FEZmNTYUlwclNVTzB5OTZLbkswMXVJdFFPdDRSb01ycU82bWVUaVZGMDFMTHBtdXVMdC8rZUdhUGYvTXYzbkQvek15Z3k4Q3VsdVY5WUVXVS9jbGZ6MWhjb05kZCs5dFBQdTYrSUVnTnZLODFaSlVWKzVoTm5tbS9Tc3RIb1AzejZ1dnRPNVpEM3JGT1dEaUY3emZVbFU3VlRzVkg3cjlDQzlNSlFsSS9veWNDU0N1Y2hxY0p0NytScm9rbG5PSzFQZTFqVDJqd3ZMcUxPUlB1di9lQ256OTQzaDZ3dm5ycmpPVUtpOHljNVFySXhlUlVNYXhMVmtPUWYzMXZhZU1OS05QeHFYcXc5YmtuTmJyeUcrdWZkSklxTkdIZy9pYU5yMktoYVJBT09kOU5RaVoxR1ZvN0UvNW8xUzR3UmxlZ3FjSkcxNkdsSWc0VHVOWjQ1RWpOV1pPeTJjUjdqblFPaFhCUzlqK3Y0Q1puTWIzL08yRnhKS2ZCV0hIM2pWMUJhWHFsakp5akovdEFMdGNhS2dmcVRtNjVWV29ZSE9HdkdHSHZFSk9mWDBxenBiSjZMaTlBZHUrM25ZT0had05QUi9HWXVpbXFuYjc3NzdqT25Tbnl4T2R5Y3UrWHVNNmZOK2JZMGlGNnQwY3MxWTJSVXU2QWlTWmh4VFBsOHZKMTJZN0c1T2tuYmcwNjRLVDMrT3hrOW5jN0svTFpLK3hEYi9GaVUrUk05WkZYbmpjYTNyVVVEUmI1cWVEcDdaeFQ5cVQ3MzRVQ3d0UUcyK1orKzlXY2xSbGpvYTdqSTNqd2UvWXVDUG0rYjVGMmVpNzdTaFA4Qi82ZTFhUFIxeGw0WVpSNWdHK2d4MFdkRVY3dGlnTXlMaXc4ZmE0eTJLQ3JwYlJHbWRMMnpzaVZrbUxNR1J6M1djQ1p2a0ppaE9wdVh3SVcwcDlyUHdkcUlzcVhYajFmb3VGVTFTTEJHTkN6RkdtZTVKbzJtMjlOV1pTUlZEUTFQZEZLVWVkOEc1NXVxaGlyb2hKdlVhZDJLS0RWbHhaUEJvN0xQbmlMdjBlaDExNlBJdzlGRGw4WWhpNTN0UWpSYSttVXFWbEhyem1lY0k2MXJpeGVwdHpFczdBNHFzRmVRYkViZW8raWZ6c1lRemtrZHNiWGRSVW4rcXRxaW1JQThGVVBSUjg2ZE80OGF6dEhGclNEdC9zczY0NWhFbGF0K0tVcmxyQ0h4bkpJWmVCUWhseldkelV2aVFzcFM3WC9HMlJJOWg3ejZVZHExd1g5ODVId1JGYk03M2tIUzJmZFQrSEtxWVlOSXRSd2hpYnBYcWhwby95VWhnaGRpRWVnQk4xY3pqNUZWcTU1MG1aU0oyYlFJMXN5cThpdGdUYWFVbzNRY3ZEOFdYUzAyWVJQbWtUSzlpUHpuRW5POEdmanpRZ1UrbjZxWUJjeFhaT3Bvak82NVdpeE5vSU9veHEreUJBYURQaWRTM0lyVkVJR3ExdXNhVVpCLzBuWnhWc1FyQ0M2TG9PK1RzeVlxV2pJbmFiaTdyT2xrbmc4WGIvdUhNUWxIbFJ3OU1PWHJBc1ROMkNrdzVremF3dHd4aUFyUWZlWjdZYTZwSitSSE9XdFFybHZjMGxYUXNrcjFTVG8zaWg1VXZVeVFyVW9Kak1LSGo4dWRTUUV0am5NOEEyNXpWa3BFWmNaSzhuMUxTRytRVzZJTGJKcm1BWEtZdXRsMW1CQUxEa0hIakJRQVdhUnN6SjRRYWNtS1JXcTNyYWR2T3EyS0lrVUVWVDBpeGZrVXJLa3hwcWVHaVdVSU9LenB3cncwTHY3MjU5bkdDRHdIMmNlQm1yUXFIblE4dGJKeUhhSnRSb3FubW93WjlFVzVJdW9XTjFXcHVaTWIxb1BlSk90UTBZQ2JOL1hDNU1rbElWTmw3QnZTVndKVU5meHBBNktkQnNMelV1R2dlU2NFSTM5RnBvNHg5bjAwQStBYU5odVhTUzFiVjZNRGI5alpGVGQ0a2E3SERPeFE0NjBBODVaRmFkK25ZTTJFOWJDelRMWTZyT2xzbmdjWGYvdWhhbUtHOXEzU1BrejdHc2dqcGdNc1MrdXdYeDhvV09reTZLbm1pRGxLcm0yYk5lZ2wwNzNwNnRHUWhrb2RaTTF4R1laN3BOVWhYUk9NUFI4dHBndXpsWjVyNjVZSGhSS1ZYbEJlQStKRi9UNG1XUE9BMFNINUF5K29SdE5KN1NQY2lwZDR0VjJ6cG1nNm84b01aNFVTNTFPd1J2Y2k4azVSdnMyYUxzeno0T0p2ZjVWdGxIUDhYRkV3QWZWY292cm9HaklkSUJMNEo5bXZpV1dseTZDbm1rRTljcU94YmJPR2dOQk9JVjE5emZLUGNHanpVcUxFTmxTUG9zZFpUaVpieDdCMWF5elRMTGpDUmFCaVdjclNaa0ZhVDY2NW1KUHBHakFNT01razZpMFpkQ3RlRUdXNjlMUVEwMGMzZUh0R0VWblc2OXdFYTJoRXJZbjBZUzV0czZZTDg5SzR0R2gvblcxd1ZuNzFUbGxkeVp3ckhmVTg3aEhIRmExWjQ2dG1RbmRlZFBJS3N3YmVRN0VENkprSVdxVjZGRDJ1OTZmNGpyZ0NINnhaVW1FNmFadm5rUW5Ec0NnQzMzSkNCRHJVMUlIZDhXV1JPR2xwMEFQTHJYaFpTSGJKbXFzdFVrZGZ2SDlGRlBaK0N0YlFUbjFCNUI5OWd1NDJhN293TDQxTGkvWURMSmZEZWUxY296RmVzN0RDZktMMk5yN0dWMDNkekZCSHRzMmE5ak1VMWg0WGpLa0YzYmVBYzBxbVkrR3Z2V2xSQytCTkQ0czFpQWpYbXpkamlFL2pNMElKV0tOUkt5cm14WHFnMDU1ZTF1RldQQytLZDhtYWd1S3VhVkdya0dRTnpKWE5uK0JWMmF6cHdydzBMaTNhWDA5U1lNS1lXcE9OZEUydHNtUVJPei92Z2JuTzVNeVB2ZE8yV2ROK05XeFpENnZLZWdTZzgxYWttV0NOZGtleGNUdDFteldRNFliQ2RXbG5SRE8yMmtXQk5YcHBwNWdIT3V1eEd1VlZPYmZpR1dGRGQ2eUJRcjJWc3lIMmhTVnIxcldGdFZVU3MxalRqWGtwWEZxMUgyRE5rbjU5WVNHbjVwOWlUcWRhQVpRd2tGbnBQT2l0WmtKNzltaFlUbnJkNFpiVVRuRys4MVlNU0FuVXRJdW1MSmdxaVkvT0c1ZkNZSVQyb2ExWUE1ZkY1V0dtSG44NHdkSWNBbXYwRmxleEJodGJPVldob2trMWVOeUtlMkxOVll6ZEpHM3VlSk9zUWVkSmxzZThpTVdhYnN4TDRkS3EvUUIyMmJFSm5KUkFaYzNRc1NYV2dhZ2VhSFlHaGIzVkFPTkxxcy8rU0pUWU9tdm8yMklzSjdTa1B5dmF1MURlaE81Y2RKNFNCbXN1cUhBcjFpaTAwUXY2akladnVTVDMwQ0t0UTdHR1dxbjBSbFUxVzdrVjk4U2FDdHRVcUdtOXJRS1NOV1IzZzJTeXdoVFZEcVIwWTU1dWs4S2xWZnZyenVDa0N0Rk9ZZXhSUFhWVHNyN0dZSmwyWlRwVkJyelYwTWpGb3lINzJnWnJpdEMyWk91eXc4aGJOWEdZS2kzRnN5V1YzQTFyeUtGTm93QVVXS3dod3VhNEduVEJMQS9nUTdGbTNUb3NJUyszd2dYY2ltZEVvYTVhRDlSK1h0WFI4UzVaUTUwM1JjSW54SHhoc2FZYjh5Nm9laFJyV3JVZnpWdFZzdUplVmlrVDJtRTVBa0NkNlhXS2s0T0l0eHBNVzdoKzh2KzFoTHZDelpLM2dnWG9tcmJpZGhDTzB2WkQ2Rnc1STJJRHJPUmcvNndLeDhZRjFSMHVRZy8xY0ZYVGpwY29xWnFoV0JLQVdDTUlXYk5sSjVRZDNvcTdhdjJrTmVFcGUxdmVGV3NXWmVPT0NmTXMxdlJnSHYyRWxIRE5yZHBmVjgzVEJxSEJvc3J5c2s2ekF6aEtVbjFoSjR1d3Z4cFlUTmZtQzNTQnJuRFQwazZBbE0wN0tTTHlXZHlnVnE5NkVRVkI1RFR2N1R5RERtVHJEbXVLWWdwQ1hmWmtqRlJSczQ4MVpTeGVmMTlkc1JwNjNvcTdhVDBXVWRNd3E4dExzYVl1cVNzUHdpM1c5R0Nld2FWVisxSE5pbXNaV0NIY1d6SG5ac2dZOVl5MXNkQXlXUkwzVjBOZjhPTFhUeWpwYm5CVHNvbjdPalROSnRJb1dod1hyODVhelFGcnBJdnhkcDVCQjhYckRtdGl3WnA4aWpVenZHWWZheUJyWC9LSElid1ZkOVA2aDh6ZW5sZlova094QmkzbVMvSUt3TUJsc2FZSDh3d3VLSlFZTmFMOTlSUnI0T1hGbXhKNkplQWFUSE8rTDJ1UWRoVXRxbmtteXZCTHpkVGQ0T1pXcTJNQWh2bm1UbHFOWWFPZ0RrZEpua1JGT1cvbkdYUWdWSGRZVXhGMUxLb1JKTFFVMVNMWXg1cUNLeXRLWUtIaG1ScTdhSDJtbEZ3NVNJWCttMklOTkJNT28zSml0bGpUZzNrR2wxYnRCMWhyQ1VPQURTcU9XaXlHYVNLWEMzVzMzQml4cGtVMUdkak1ML1hUTEYzZzVtbzNNVnBiMjB0VW1UTksvS0RaMDJyT3RsbVRnTHE0ZTZ5NVNxM2pUY1BiaFJScmFBbTVCSjhyUGNSMldkT3EvWFVIWm01WVdZeTZDZCtBSm9FOExGdmxrczdIK2dWRVcxV1QrYzhvUkplWS9McCtmdWZVSUNMazYrUlFzbk1IYUV5VHIxa3hxWEFKMGl0Nmg3d1pVeWhTZDN4TkxQaXg2SHJva3BvYmZiNG1yeHRuREtBZDZkWjhUYXpHbDYyc2RWaXhoanBnQnR2c1dTRnFzYVlIOHd3dXJkb1BzTllTeGt5STVYQ0x4VEQ5c3E5M29UWUphOG5YMkJOaFNjRU1wL21KSXNvcERMZmhhK2hWZkgzNFlrd2ZvclVXTGFCeUptMU0xK2Z0UElNT2l0UWQxaFFGYThyMnZvaWVhOG1OZ284MWtMV2JMcTN3VnR5NTlTZVordWtqMDVwMkljMmFLdWR1ZFVvSVc2enB3VHlEQ3dyWmh5eE10YitlWmczY1BEVy90TkxDVEp6Sm1ETXVJMU9lUjdoVk5TU1dlUllLeXNkQm5YRXppcE9oS3JUa2tvblJTVG9OZ0ZvN0M2emhhOE1XUTk2Z2c2SjFoelhRUTRPZ2xrSnRHYW44eUl5eSthVjIzcFBlaWJNOWEvSlRTa3ZpdnFpZkpYeHdQSkhsaldyV2dNODQ0TVBYTHZsbHNhWUg4d3d1cmRvUHNOWVNkbURQQjZ5SGZTdGVMa21ISWpZRFpmSEtFZ0t0cWhFeUl5WEZOODJhbHJoSnJaNGJIdm16NVZUNkJNMTk5SkJxMVdTTjZlTmFiK2NaZEZBRVFGQUR4RVd6NEFLQ1NMU1hVRExWejVwMTd6R1d0K0tPclQ5aW5pWHdOYVkwcS9WTnM0WldmZlFiSk9LeVdOT0RlUWFYVnUxSGVwSTF0TndkRjJQWGIyYXNoN0NWbitGNnZOVmNQYVhrNE1aRUwzVEVUWlh3M0lrYWNubGs1ZFptS1FKYTZzcjRYQ29uRFcvbkdYUlFFcFliMWlpME1YS3RBM0xpMGdyVlFzZnpNenlBRCtWcnNQVDJMTGU4Rlhkc2ZVMC9TeGh0T1hoVi9meXVXWk9CamF2NERSSnhxWFlnMW9ONUJwZFc3UWRZYTdJS2Zhc1I5Qk8wSmZKZktKTXVKT3oyVmxPL29QVVU1TE9hanJqcEVwN0FvcTkvNGltU1JOYXlLVEdwbDFYZXpqUG9vQWdhdGFSTDBxcWFJcmlyWVlzWStrRDJvWTgxR09WNjRhc1ZkVmdOdC9DMEErWlp3b0R2YU15b1Z5SE5HdjRGekVFRnVNV2FIc3d6dUxScVA4QmFVMVdyK3dTQm5aOVcwZFNkTUUzbEh1ZUQwbHROMWF3U2o4bGUyQlpyTUd4U1JnOExUMTdWUENHcjg5ck9IbGtEVm9neks4MFRVZ2ZncFRmeHNZWTgwVGlKaWV0ekl1eXR1RlBycTRZcVI4d1RVYVhaZHplc3dVaDVvcjRnWlN6VzlHQ2VZUTBXSTVhdk0rMnZwenVBUnRqRHJSZkRNS2pvbVNLcTNEZDVxNm1hbGgrUjQ3RVRiajVrZEJwTlVUTTZKZ0tEWWliQm1zZnlrYkUrV1BKMm5rRUhPZ0RFbE5aWlZRZUowR0NZQU9YeU5NTEhHdHIwcm1vTlViekN3OTZLMFpsaURpa3NtUUltbExYODVYRmE1SGUrREd0ZzJpT0xhN0tFeFpvZXpMTndhZEYrZ0tXcTBMYlJjcGdmZitpVVJBQ0ZVczY0T01XRmZOVlVEVi94N1VZdTFnRzNSSDNKYUUydmNuVk9XWkFGckRVd1kzZ3B2bm83ejBLSHMyWkJhNnVJeFRCL2ZHazZkbDJsZXRjMWRDSXhvelZrMngxS0EyQ3h2SXR6dW9BVmVNaWFGU2VVbi83aS9hbCtzb3FZN3l0anlEZDE1OWlzNmQ0OEM1ZXFQVytiOXZ0WUU2SHJ2MjdBdDR5VFFYZ0t0dUFtRDhreDZhdW1hb2c1S24xOEI5eGMzYWtZWEtVOXJKRS9yRGJjRmN1bFFrdzVucTVZTTY4cUltYzJ6aU00WlpoVnFWRmVwZnBaZy81U1hSeEZKK1ZjNXEwWWRCYXVzZWhqUXFZNHJhdU01R2lna3loclhXN3laV2hJbjJDUjdZS1N5TEpaMDcxNUZtdGF0TC91OFRXMGZ5NG92Rk1HVWdMdzA1WUpnYXBjdHZ1cXFScUtaYVVyYUkrYnQwNDdjVkc1ZUpXNHJwd0szdEJlMVlubThNYmJlUlk2M05lb25RZDlxMWVHTXlYVFVOaXNKTHd6RkNadXN4NnB5N25NWDdGNlE5MmEvcFRSK0U1eDg2KytqMTkvOHpmdmVaczZHYXVDREN0R0pobXlmbEVqTm1QRlBiL3Ezanh5RzZLR0Z1MnYrNHdaZzRuVFNjUHNPSGlyQnJkSUhsWEU4RlZUMVVNZTVOZG9DamZzeGMydXlodE9PcHZSa3ZJVEdHcXlCdUtFSHA3V3FnNDlma0VwTFNwME9HdjB0NmZLWm8xVDEwc2o0dEtVTEFpQVpwVU84OTdWUTBZZ1U1S2lic1dxMEtMd2lNTjZLbEhLNkY0QnVPYVNEU3NnWmRtV2NzTVQyalFhOHRNcWs4N0tWMVdrczNrZVhPcmU5bGQ5ckNGU3JLbkt2UGQ4d3RrOHBFZVpwNXFxMm5yUTQwV0pRbHZjdkZVNmlZREcrazgvMGFRK1NzVWJ1Nm9yUUsxcFdZaE9NVlQ1TVdzc0lya2gwMkYzTEcyRFg5Y25Md2pQU0ltOFNaMndtQWNkNDBJQ2l5cmxqSTVMUEZwVVhCV29leDhRNDB6THZxYUY3aUxTbENIU0h1dVdpWFhOMFlUVm85U1JVMHF1ZS9QbzBVbERGUE8zSC9DdktyWDZqZ0dyb05kcGJvQldOdnpuRTBUeWdEbkw5RlJUTlhYVWxadEYyZ3JLZW5GenEvTEdza1g3djRxZHNJWWh2cW4rU2xHa1lGd04rYVlscWFoc1ZnZzBGS2RsY3AyeDk4cFY2S1FGZGZSaHR0SGdJdWhOM1FGNXMrZ21IUXRTQjM1V1FJaGtpamVKcEVURmFoN0ZQTDRNZ1hYZk1nQzY3VXVhWFVFYUZmRmVtZmNoOThkazFsRnJaWWVXNk4vb2lhS081aW5YYk9QaWF6OUl5bDZUdGlRMnMzazZrNmQ4SHE1M1ZlY3RTcndwSVYxTlZZL0JURkVaMWc0M3JiWk5nRWJSNjJYK2tQakJIUmw3VUJJRXYwNlQ0MG5aYytkTGtHN2VmNjRSZmZYYyt4RmtkNXg3WnpTcWs5ZElySTVpbFZkUUNLcVZ5MEJzdE1nZXBkUmhQWnkvcUhTOEs2a0RhRjdteXNyYzk3V29HTW93andPSVRIR0tOTHNYUnAxenJZanNHaEpYWFVrVk8zSmprWmZZdklITERzdkJjdVM2SDY3dzlNcy8vRlpSVDNmbUpYQkp0LzlUWjJQU2U4Y05iMjBvRThTOVpxWitOOFBFRnZGR1gwNUczNmRITEJMUzFXQ0drbVB3ODFxd0RXNm1qbmFodjRmaHIvNGpTR1QrSmYvRkppUDdBR052K2Rzdi83cDJocVlmVnFJcXRaZXVoL2t6S3hGZXBiSjFzT1lFdzc4TC9scUpYUm8zMmlJOFBMdjA3NjU5ZGxGUGlaT2lGTzJZNFBUbGxlTWxJTHY1VzEvNjhxTHdQaTBxSmtsUSt3Kys5WUExMW5oeCtzRHF5YmthSWdlZXppZE5tY2UwL0JLWExRb1BacEwxSXF3cjgyZ1RKcTVWcmk3Vi9vTEtWL01HRjhQSE1lMTBWVXJxVHY5aXQvbDJndmZKUDJKNVFjUlQxVlRaMG9lYnZ3TSsvV3N4YkxtdTFyaWxxdkluRUczd241bHZMS3BwUVl1Qk1IVDl1RXdZWUtmcFY3OU9uVVlycTAzNk9iQ2JUK09YMWJNNmVaVUU2K1NpUHNTYVJjWmUxYUFFZlEwaENkZkZoa3laVkRxSU5VcDFUbVJLMlEvd1dJdUtLUyt6U0NxbnVaajdNVWdaMXFWeVcvL0MyakYyK21iUlBzR2FEMC94TXNmb3Q4N293bytmelVvdDNaaVh3QVd2bnhTNU9icjloZVljWVhpcWxHVE5pUTZMWVRLQ2FJUC96SHoyWHJOT2NHM1QxZFFmaWZBeVgvTVVEdDBhVXFRZGJscWtRMEQ5Ri9qRWwyWlE2bXZYbCtiYWZpM2FvN2xPckluK0dML3grUFprN3VoN2ZhbEpLUkVuMlR2ZjdjK3pVek9mdVd0RHJVVHM5Q3NjN3RZOHg0eHUyNisrV09zVVRrYjBmNEYvTTNrYyswcFVROCs4TSs4dE5tOTVpeTI0ZmR3eXozaEppZDMrRGx1cGJVVnZZY0dhM3NvRWFRZUJ3Y1FabnBOcElrOSszaW5XZklQNy9UaVQyMStod0pwdDkxZjl3clpWOUp1Q3dKcHQ5MWhoWWRzcStrMUJZTTEyZXl5alRnYTNxNmlQeWdmV2JMZXorUHYrMjFYU1orVURhN2JiWWR2NXI4bmJyWHV2eWdmV2JCWDV6SysraW05akoyZTNxcUYveXdYV2JMWHZjSm85UTJYanBhMXE2Tjl5WU0xVS8xcS9sNVlET1hwdU4yRGUyTnhMYTNhMzdxcDVkTDI3RmZkOWJUWHhBc0F4L3BDMzcxdlRXd1BROXVuZVNnUnBnY0NrOERWNVBrMGRNbEJpNnlYQVE5YjBiVFozZ3E5ckJwcU5iZXJwdStLZk9nZlM0RWZnem9XbFRlOTlkNEs5ZWh5L2V2cFk3eVg3dkVTQk9FUFhoVDV2eUo2WUgrTmYrbjFPdmdLM0p3YnNVYVg4bFpFek41OE9yTmxLQnh5aHQ1SmVzWldTb2N3aFJ1Q2Yzci94NGtQYy9ORDBnRUJBSUNBUUVBZ0lCQVFDQWdHQmdFQkFJQ0FRRUFnSUJBUUNBZ0dCZ0VCQUlDQVFFQWdJQkFRQ0FnR0JnRUJBSUNBUUVBZ0lCQVFDQWdHQmdFQkFJQ0FRRUFnSUJBUUNBZ0dCZ0VCQUlDQVFFQWdJQkFRQ0FnR0JnRUJBSUNBUUVBZ0lCQVFDQWdHQmdFQkFJQ0FRRUFnSUJBUUNBZ0dCZ0VCQUlDQVFFQWdJQkFRQ0FnR0JnRUJBSUNBUUVBZ0lCQVFDQWdHQmdFQkFJQ0FRRUFnSUJBUUNBZ0dCZ0VCQUlDQVFFQWdJQkFRQ0FnR0JnRUJBSUNBUUVBZ0lCQVFDQWdHQmdFQkFJQ0FRRU5nTkJFYWZjVytwK2FiZmtWWDlYN3RSNVI3VjhjemNIbFY4OEtwOVZrbjhiOXlmNGswN3NYSHdXcWhiVk1ucFlBaHNCNEhSUlhDbWVjL1pleGw3RGVuSlg5cU90bjFlbHVHZlpvZHIrd2hrSytETTJ3bk1KMWZZUWhTTnNJZTNyM1MvYXNnZVpEKzZpNkFUYVM2dmlBcUhpM0F6ayt6YnUxajlMbGMxZEpEOTZDNWltV2ZzWWtQVmQ1Uk5Eek0ybzZJSDczN3lBUHZSWGV5dER6RzJ1V2JxS3p4YVp6Uk5IZFJyN0ltRDJyTGRiTmNSTElTWHJBb0hHYlpUT1N2aGdBWHJzd2VzUVh2Um5Bd1dOYSt3Szg2Q1JRZDVtMUdldGxzYndsdEM0RUhNVCtOT3lVWEdEdkkybzdMcXREWWRHWGxYT2kya09BaGtNUjFOT3luUk9tTUhlWnZCR201elU3SDY1VlJTU0hBUndNbzNDZEp4ZHFDUGE1b3VBT25ZNUVIMnRPbm1iaUZsRkd1WStVUzVJWGFnajJzdUpwcWJpdFk2OGlwVjVKQWxQSVJEWVhkVkUwVTRycGs5dURDYy9FNm50Z1hXZEVBb1UyVHNzWlJNYXFXVGt1ampoTTdITllFMUhicjNKQ2FvcVpSTWlhMm0wZzVNUXVmam1zQ2FEcDFkeHJZN0xWTHN1TTFJbCttYmxNN0hOWUUxN1R1VER2UWVUNHZFZmJNY3pQeDJ5dm92NWxKSlRrTEg0NW9vc01ZQkxCVVpCR3VtVTZsUnBlTTJJMTFtYjFMd3FEVlI4WENuL1Y5blB4cFlrOEEwRWNVRTVRT3gwbkdia2RDelo5R2pMRW53YWdmV1pEdjcwY0NhdHYxSmh6V1hQQkp4M3p3VnpzUUpaNE5UZzFWUGkwelNVUEpNMDJTcFVHQ05Rc0o3UHdyVytBaFNuUFdLNzNyaXlQdWJQMm9xL2Q5ek9STlJvYXNTenFiSzJ2bkp6TWRmd3RqdHY5WlFwZjMzd0JvL0xqSVZENXpZc2tlaXRPQkozUDJrYk53c0dsZUNsWHY2WkNsS09KdjJydWFhbUxIaVJvbHRyclp0VENmVy9OTmR3TTIrL2tOYmRRY3RzNENtcjNnYTllemthYkZIWmhlU3FwY2FJMllHeGNyZDkzem9xYzVqdExhdTV1dU12YXhSbjgxOGhqVno3Y3p2d0pxbjJJVGg0YzVMcFhiVjlWbGVCazMyZGNRK2FVYVdHTTNZbWpTbkRtc2JhZFBnYkpaMWFsdFg4OTJNNFJXSThuUVUvUjI3M0c1Y3RHZk5LRjRTU0Y3YWdFTVF3Rk5LOXNqK2JlZlY5SDV2VVhPaURtdEJvOVJsTzV2Sk5nL3I4Y3JpRkFyejQ1bzh1eW1seHlTMFowMFZkaVN1ZlF5aWFkVk9oZUR6dll2aG5kSy9UVDJGQlNnb3NWbXBCdTl2ZUxkSGxyTVphUFBtS2w1WjVOLzA0djdxU1BxUnJheUZibTFaUXdlamM3ZmNYZHk4R3hlN25UN3Z6Rm1GRDN5d0RnQm1kcmVWMy9NWHJhNlBKZzNKMHJONFRLTHFPemIwb0hVMUtVUng0MnphdVpvdmlGbEpIdGZZMDFwS1oxdldYTTB1LzArVXFNMVRzWGlWUGcvWGxRZHJ5R252M3BYeHJBbGdCTCtXRW1hY2ZCUUpXS2hjVU9uWThhMm9zSDNYenFhZHEwSGVNaFVhRXFlQzlYWWI5TGFzaVRlNEVaVXAwcVlYWFJRNUpGZU0zdkwyd3hWclAwalE4bHBPMUZvbkozUENldFZueEt5TVhkR255aWV3N1Z6TnBKU1JiOWVjWkczMlBlMVlNeVRYV1J5NExITU5PUXd4MmtLMWJEYTZDTmZQdWpoVWVLS2IxbHZzUjdnRzM0Y1l3cGEyeFdWRWpra1h3ZE5MTGF5RnM1bUhRRHRYQTdxSzlhOTh1d1liZ1ZXdTAvZlJqalhybDNtSllXN0tTQnZxK1JRZmhEUmExM2xla3hCTkU2eHh2K0NDYnFGcmw5ck92NUpWdGRlM2k2MDY2VGh2Unp0WFUxZTc5dm9zTngvUFVvaG8vcXNkYXlvenZNd0pEdHhSUVNHL2xnT2FTc1R3UFlVU3pYM1NOL1BJWDdMYmZueU9zWi82eHlmWlNWY3VMTHgvd1NicFpNdE9JbWZUenRWRVJYWEVRTWMxZEZuckpaRmdmYlpoemJBOE1qckdOOXVEaDJyTExSRENtcUhkbWpBNnNWblUyMTVlb3Y0RHJWWVdGdVE3RlR6Q0NZMHZvQnVGOVphZEJHY3pQdWw3NENBTFkwSVNQa0ljMXlEViszaENTcmRoelZINUhmRTZmN2d4MXU2Wmx6dUNSMjBBQUNBQVNVUkJWTEg3UUlYbzdjL0gyN1JvYUxQbUhwb3RQcmlMMzhrYy91OHdEZjdEK2lyL3VoVk8yQjJ6TjdkYjJadnRsOXIxbEd6RkNXVnRXSk5wQ05uOEJicFhXeHNreEE3Z0o3RkdIWWI0bWpleU9jYnNPU0Z6ZWRDZUwzeEZkam9OSnZMdUVYcXJ2dWZ6SW91T0FEM1BOcFU5RmZYa1JMOWR3eGh0N1BXVitRZnJIR214YVVYK29xR0ZyRUJwbmlMbE5sVmF3Z2NxU0VoYmZaSnEyOGdtNXJDR1NSNTZiTmRaTStHOGFsaWJNY1lrUTNFN1Y0TzFyNXhMMU5zMTJEODZyTGthV0xTNEhEbFo3YkE0NXlxMGM5VkpDdzlJSEJ4dzF5MnlYUU1ORVJqWkJOb0xNaEczd1psZFowM040Y0tpWll3eFM0VHliR004bWFiamVBUWxod2MvT2tTNjRaRVFxcmFnREpKdGQ2czBuaERuWE1YV3prOUpIcmc3K1JyZjZDMHZpS2FPYkVZVmhUYWxWSmQyblRXeGN4aFh6QW5EUEovMElGWWN5SGd5NmRSbldxU1BTZStBOHh0blRYSzAxSkkyLzhHamNZd2ZQMlRhVHZDZVlnY2hpZDdrVy9ZMEpGNFZpV0ROcFBMc2xGSVozMjNXWUI2eGpnWkcyNXdVbGRsbUcyZFQxV2Q2ZGVsejRIMWErNGsycTJHQlREVEpqMnVHN1RFbGN3NzhqWGJleStsV2pxcWpQYkRtbUZwRlFtejBVclRick1HSmtyWGVITEUyNFFtemgxaHpMVzd0YlBKNmZWYVdEWWFmblUzb01OSE9yS253TTRDaHc4Z2E4dXJ6QmlzVk9xRTZCNnlCeUpwS1AvTDRyck1HVzZoWlZUM1dWYzZjWXRJUktyUFhSc2RiTzV1S251Z3FTNkxjUkx2bnRoMVpreEZrUG5FWVdVTVBDR1lkOEhsa1FnMXZzQVpUeExTU09EYS82NndaYzFiajlWbGxTdkpPcmdZemFFdG5VOVJMMnBJY0JGaG1ONUphZEx3amE0NEl1cHc4akt5aHA1Y1hORlE2a0orWFFiQW1LcGdGWHkyM0E2ekoyaWNoVHZpajJnQVRxTnRQb2FMRktaUGpodkp3TlZGMHNxV3pLYWtUWnYyUXV0ajZDVnlIdDdLbzVtUENSdzhhY0Z4N0RuUXM5cDN5WmZUTEU4U2F1bnArRTBWM1lZNndUL21HMzFhYSs4TnhEdERBZTg2ZWVSVk9jdDlXdXYyZGxEQnlmZW4yRi9pZzYrWDlHcFF2Mng0aDA5STc0TTI4TmFxdHBiTXBxVmFvNDVya0ZzcTF0YU92cVluam1yRzJSK3V1em9NVFE2ZW8yY2cwNnFRK255RFdITmNyZ2l3V2dEWnJSa3JzMXJ2WVJVNGJwR00wanhRM2J5elJEME1PbGU2NGtiSGZOVHAxQ0wzVjhscldVanBRMExValNhKzNkTFlLNU5ucmVMQ2xzNG5Wa2Q1UmVXU0hCZE84S3AyK2QyUk5MRWJXbUFlK3RMYURsckx1Ykd4bDYycDZSMHFzd1M0bUp6S080dUdEeFpwc2tiMDdpdjVVNEhiMEZMRm04ZlVnREMyZkt4K2cxNmxTUDZaRWVucDR2d2JTc1Y2UElMS3VEU05GMWdWWDB4RFJWczZtb256Tk1YbGNVN1dkbUtWS0JEdXhCcStZY01FSlJjYVVob09jZ0JHWGVtTWx3MVpWazRrMWVOdGJEc3FKYVljMWsreVZKRmVRODFtVlhSVEhyb3RzUnV4MVlvWUMyN3lLYWoxQ2V2akw1ejZGeXRXMFh0bVVtVHoyV2I4Z0ZCVGI5bmNuMWh5VlpKNnd6Zk5aZGlEVGNLeXVGekdxZ1lOcTN3MC9RNnpKcTlPdzhvck5tbUhwU283TEJTRytwVjllSlIxMTl2RGlHZ1VtVlVHS2JQSFNiOFdnL0xBNlJrcnFNcTZtNWNxbXJueFdiWm1YeGhtZkhBdEpaVHplaVRYS3g2eTNXMUo3TlIrSXhFSWF2WXFCazdObVhRM1RPYlRZekZEcjhrQStLNGZiRWJZaGh2TXgxdndPeDJiQ1BsYmVJbG9WVlRuS1h5MlhKQ2xWeHRXUXMxR1RsU09HSndvaVhsamk5MnJMM1JiUDdzU2F2RndGVHlpMVRtVUhQb0tGVGVMazdMajFESkN6QnJNWWgyR0F1R0JZRTZ2QldoUTdHNHhlckh0dzRkQjFoZ2ZHckI3bkNWdjRXRlErQW1VTHkzNEZ0cXNoWnlNV3hxNHNWbWNyUEVVYzEyQmRjcE1yNE1ZNnNVWjlSd3VzRVdyZDRnYzloaTJOdTJZZGpTMDRPV3Nnc2tvd25MeUFEODBhbFJwRmkySVRDdFpNa3hoR3UzeHI5SmpWNHp4bkN4K1Q1b0hHaUd1b1VXYTdtcGJPcGlRZW5jZ25XUS81UFpMVzJZRTE0T0EwbHgxekRpRjE4UU1mS0NkR1hjMXlOV0pkRXhXRjcxaGZBQmlhTmZBbzR3S2NxbkE2WUUyT0orQ1JhSU1IQm5lQU5lZ1dXVTFVZTV4clRYMjRyb2FXNXo1blV4Vjd2UkYrcW9CZmMvLzVsQjQ3b1FOcmdFS09peU13YTVjN0xHRTh3TFQvaDhMVG5YMFA5elZSV1FDKzJBQW1talVUZXZNMUlZNlh3Wm8xRGhwWUk4RGJDZFpBNjVUUU50QnFMbkJkVFJRZDlmb1JQSEpvUUpFNHJpbXJmYmhRbmY3c3dKcXE0akw4YWdzdXAzVWVxSlM4L0QrWHZGRkRKYkdRbFMwVXJKa1FQb1AyVTRZMU5lMUl4c1I2QnYwcnZBSjZUUlRmQ2RaRVJkVXR0Y1Q2UzVxSTh5Rk9CeFhGdmVBZC80djhvSUFmMTN5ZE5YT1d2Q2ZZZ1RVVnRYVkNvK1dPM3FQa0lDZlJZZTJQeXdaK1YybXpZYmRWc0FidUNId1k0YjJtZlEzZW5QdE5jWlhGQnZzS3NlWkIrYXpnNjgwVjJ6SVRQcG1ha0k1NmQveFlpNnppb1BCQ0ZIMU8reStqSlJGcXp4cnpHaURBMjhjLzVKSm8xSTVHdnc3YS9HRURLa2Mvd3paeWptckJHb0EwQlM4elMxbWFOZGl5NjJ1R2NxNFFhL0JERUJmL0tJcitoUDBTVmVLNWhtOFpUNll1VGlkVEtQNTNiT08vNEN2OW81OWs3SmQ5K1haYWU5YUFnQ0FmdjVoMnVYYnh3eEQrTzNSLzg1NXo5NVZZYzlWdHIyQU5qdlZuOGZibkZPVnAxdWdqZWxYaUNyRW1HbzR4bmt2c0oxUTlXNy8vS1g2UXIzaExpVjMrV0VjZDdWa0REN01rVlN5S05WOUhoUWRRNENNbDRUWnVXMHMwVHJLR2Z4RzJNRTZabWpXRjVJUitwVmdUWlQ1eEYvTS9QMDlZMnpGNnpiMW81NjN2NEExcEw5eWVOZEh6WDY2S1AzMXpSUVVQM1gzMHZmZVdtbmYrVHFyZGtqWEhzUGpMaU9jTW1qWDU1Qk9ZSzhhYWxGWGJTTWpLUTRGT0tqcXdwbFB4dzUwdldVT1BzZkgySjEyYU5UVzFqVkFJOVFWckJ2aEdVSm5jK2g1WTB4cWJqam1TTlhqbGIrSFlESmZXckRIbk5WSkxYN0RtUk12dmlidFlCTmE0ZVBRVWs2ekJDY2kzSjFkNVNjMGFuRyt0U1Yyak9RcjBCV3NHMCsrZ3lVYTR0OW9oM1UrN0tHd3hwbGhUWjQvR1FvVm1EWjcvVFVtdGc5K21RRit3WnVLQ3RMbkRyZHJsVE5aQnplSE1IcEpEYnBBMTVSR29aZzM1SHduSzVEd0Yrb0kxd3RUT25YbjhaenJMQklrV0NKeVVEd2x3clBXRUVBRnJ4a1ZJLy91Q1RDbEhLWm8xK2dmdmFPdTF6NjdXWDNMWVo0YjJzem1UNmxtbWZNOGdpdkFNdWlGYWhCLzRGbE9VZkRrZER5M1hlQTZlaGd1SnNmMTMybDRVSmdyN3d1ZVZRT0NibjhHcDdHOTlpVlRuK1pzQm1TZjljNFd4bi9qV2szaHRENHF2SjR6Rzg0aG1ycTB4OWdmSXlGeGJadXpIS1BBOWk0eTlVSWh5K1gzd2taRjgzZ2VtSEZRVE1DM1J4V2VaZGY0WUcxNUVYS0xKQlhaYkl4b284RGRXTUhQUnRVck9pSzQxdkQ3TXIvSDlCTStBL3M3T2ZyTHFRTmt5d2s3ZmZQZk5wemxyaGw1RFRUdE9LV2RPblpZak5ndkhjNW8xYzVRMTJKeTc1Y3dwWWcwRlRoTnJtbk1vclZaQkpMUDMxNGxIOTk2R1EyOUI1ak9ubW05WTZTTVlCZy9uSzFSOTFFUDcwZFNKMmYxb1ZiQnBmeU13T2IyLzdRdlc3VWNFRmxmM28xWEJwdjJOd1BQMzFZNXVmMk1WckFzSUJBUUNBZ0dCZ0VCQUlDQVFFQWdJQkFRQ0FnR0JnRUJBSUNBUUVBZ0lCQVFDQWdHQmdFQkFJQ0FRRUFnSUJBUUNBZ0dCZ0VCQUlDQVFFQWdJQkFRQ0FnR0JnRUJBSUNBUUVBZ0lCQVFDQWdHQmdFQkFJQ0FRRUFnSUJBUUNBZ0dCZ0VCQUlDQVFFQWdJQkFRQ0FnR0JnRUJBSUNBUUVBZ0lCQVFDQWdHQmdFQkFJQ0FRRUFnSUJBUUNBZ0dCZ0VCQUlDQVFFQWdJQkFRQ0FnR0JnRUJBSUNBUUVBZ0lCQVFDQWdHQmdFQkFJQ0FRRUFnSUJBUUNBZ0dCZ0VCQUlDQVFFQWdJQkFRQ0FnR0J3NFBBTnovNG5yTm5YbjE0Mmh0YXVnTUlEREM2THUyQXBxRGk4Q0FRV0hONCtucm5XanA2M2R1Q3I5azVPQStQcHFlSEdlcndkUGFPdFhRMHNHYkhzRHhFaWdKckRsRm43MWhUQTJ0MkRNcERwS2dVZHQ2SHFMZDNxcW1CTlR1RjVHSFNFMWh6bUhwN3A5b2FXTE5UU0I0bVBZRTFoNm0zZDZxdGdUVTdoZVJoMGhOWWM1aDZlNmZhR2xpelUwZ2VKajJCTlllcHQzZXFyWUUxTzRYa1lkSVRXSE9ZZW51bjJocFlzMU5JSGlZOWdUV0hxYmQzcXEyQ05jTnZLODM5M3Bxak0vT0p1NXB2ZW9GTXV2YURuejU3M3h3aVh6eDF4M08wbUNPaVUwT2czeEhJbjc3NTdydlBuQ285SGsxUzZPYlRwZWtvR21yTzNYTDNtZE9QOGNaeDFveVUyR25HTm5KV2M0Y3JySG1Lc1plTHBBSzlscjRSUlU5bnpWSlRpYmtpRUJ5SjMyaHBDTUYrUlNCUHZZMExyQkVCTmczV2lLQmh6V2g4MjFvMFVHUVhUVE5ISyt5UlJuUk5pYjJDcDBuV1pFdXZINjlBR2I4U0lraUQxTExJQzUvOWpNQkhydWNNK2NsM1JaKzdyNFJnOC83VktCcCtQeVZ1L0RodkdQbWFoeTZOSTN5Y3NRV2VSQjgxZHBIU1RqQ1dvK2d6enFMMFJuVDFvOUVSeGpZcEpTVVNSZlNWaCsrSXZQRFozd2djUlZjS2Y0SCtaa3VpTVRYR0xqWkVFS3daTGVVb25DR1hKQys0b3lrZVhHUVBpNlRoRWxoVHlVV0QwTUpUMGlJbmtYVlpLZ2kzL2thZ3lOaXFhRUdSVmliOGdsZVEvSW5BbWtFeFYyR0NVZm5Sb3BxdDRJQWFva3llYll3OEVrWEhRQTN5UWg0UklwVFdJQXFGeno1RkFINUZ1QTBzYlpxcURTWDloVXV3cGl3WlZOVU1BYXRtaEdpV3NYa1JtbVFiRTBpRTcrTE04SWlRV3d1K1JrSGMzL2N4elFDNGlUWFpsc3EzVmFOSzdDTHRxT21hMEI1b1hTNW5rRmhSUzVVcTJ5am5vZ2hmaGVHdXlTTXlETlpJdDBYcXd0WEhDTUFEUENITXg5SjJTamFrcUFLWW9kVEtKUUsvRmtSK2JHWWF1QmlSVm1jYnB5ajAxVHM1OVh3aVpWT0JLQk0rK3hVQlRDVllqdENGMEN3UHdHRTBSQ0FpMXN6SU1IelJNZzlDOEZHVkR5cHhsa1IxcllleXZDTFo4MjlYeGNLOXp4Rmd5bHZBMThoTjBwRGNQS05sWUkzeU8xak56dk8yWWdtc2QxUFlHQzN3UkxCR0ovSnR1bzVwRVM0WFBnNEVBb3ZLVzhDWHlFWHdvRGxXQVd0V1pEUEJtaGtlckdxbkZOSDVqS0FTV0ROcjhQQ0ttT3dRNm5jRTBNRUx2QTBJeUUzVXVsNE1rNjhabHkzVXJBSFBsbVVhVFVVWGVCaXMwWW0wN3pZeExhTEtoSHYvSXdBWE04dGJVZmdCNVZmeXk3cFpZSTBLYTlZZ2JVRWxZbU1rcGlLd1JpZnlpVTNIdElncUUrNzlqd0NXTTQveFZyQ3ZNVGJOUStJd1dBU1YvNG5vMkpmUFVOaGM2MFBBQ0FjMm9qUllzOHBMMElkZlJHZUhRTjhqZ0g3bmp5VUhOdERYZkxiSmF2ZENUa01mNTRJMXM5VGFFYkFtUndHNjhKeEJQRk1BYTNJOGhUNzhJam83QlBvZmdhS1loRTQrR3NXQ0FTZXNoOXNlMXRBejhWdC9YMTczcVNlU1lNMkt4c0l2b3JORG9QOFJ5QXN2TWZFRW5tUmZwdVljRTNNT2I1bUhOZlNZMDc1ZXl3WHJObXY4SWx3dWZCd01CTmJGY3FZMlQ4OE14dEdtNnF4cG1JYzE5RHhwelVqSUVGaGpFdjBpcVRJaG9YOFJ3S0VkN2JUajFRam5jYXNJRlJid0lhL0FHb1ZFdURzSVlCSHlIVnJXanRQaHl6eXlMS2ZoV3czVDlHUGNpbExsK0JxL2lCSU45d09BQUxaQldNNE0wWktHZTUwQi9jSUVVankraHBhNks2bDJPNnp4aTZUS2hJUStScUJDeTVsQjJrQVg2TEhrU2ZrMGs3Zkl3eHA0Sk90b1JyWGJZWTFmUkltRyswRkFvRWFuZHVzWDBKUXF2ZlNMelpTNVBLeHhqdkMwcE1NYXY0aVdEWUVEZ01BRUxXZnkwMmdKbmk0MG90cU0xU1lQYTZLaU9rTzI1T2hOQ1d1eDR4V3h4VU80M3hIZ0wyWVZhYW5DWDh5S2w2d0crVmlUVncrL0xia0VhN3dpdG5nSTl6c0NXSVU4bXVWTFlEeGRtTW1ZVjdMUU1COXJjTUJqSG9wSDJSZng5cnUreGl2Uzd6Z0YreDBFOEdMV0NmRnFUWkU5YnIyU0JTRWZhK0Nic0ZWWDEzSDk5Tkthb2J3aXFrUzRId2dFQ294OVFienZrR2VQSExjWTRXY04xcnI2a1dZVTFTOXdERnhmNHhYSm5uL25nWUFyTklJalVHVXNudVdoZGRhMFhzbENrcy9YMER0WHRBb1NWMldhMzEzV2VFWEs1bTFTV1RiYytoZ0JiSjNrMjhGNHVoQXYyeTN4c2didlRNd3JvYXhjQm9FMWhrbjhaWnlrU1BobWk4THNZTnl4ZFpKOVQ0ZTZPYnRSK3ExUXZpMmZGVm1qSmZXOWhpaTZXcDRKVmwzV2VFVG9rU1ovcG03ckQrRytSUUJiSjdsUXdkTUY2NVVzL3RLVmpvK1pyUk1va3BPdGphVkxxU1VPak5NaThGQ3FtcjVGS2hodUlWQ2tKd244cXFodmNJc29QWVpja2xsbC9SMkdLS3VkelZVYjR6dzdFelAyR2luSWIybVI4T3NBTmo0SElKelhCekExK1Jvd05TcDc3bndKckduZWY2NFJmZlhjK3hGa2Q1d1QyNkNuTXZZQkVobGlOOUh0VTJkQkd1VGU4TllHUmZtVkVCR3ZoVHI3TXlVWjd2Mkp3THBlM1k2eFdkMEVlZ1lwcmhVOG9aS1gvT1dSQnhoNzQwZXZmWmI4QmxWQjVkb3JZbGNFV2lHMXJKV0hRTjhqY0Z3L3hEN0tGblJyQnRocCtxMjFVNmZCaFdwVC9nU2JaRTMwNjV3b2w5ZTRkS0U1UnovUWRxcGtzOFlWZ1Z6NGhUVU43WUVJREt2ZmpZaEc1OFE2cFhPenZuWjk2ZmFYdGhmdVFxUnpQVUVpSUJBUUNBZ0VCQUlDQVlHQVFFQWdJQkFRQ0FnRUJBSUNBWUdBUUVBZ0lCQVFDQWdFQkFJQ0FZR0FRRUFnSUJBUUNBZ0VCQUlDQVlHQVFFQWdJQkFRQ0FnRUJBSUNBWUdBUUVBZ0lCQVFDQWdFQkFJQ0FZR0FRRUFnSUJBUUNBZ0VCQUlDQVlHQVFFQWdJQkFRQ0FnRUJBSUNBWUdBUUVBZ0lCQVFDQWdFQkFJQ0FZR0FRRUFnSUJBUUNBZ0VCQUlDQVlHQVFFQWdJQkFRQ0FnRUJBSUNBWUdBUUVBZ0lCQVFDQWdFQkFJQ0FZR0FRRUFnSUJBUUNBZ0VCQUlDQVlHQVFFQWdJQkFRQ0FnRUJBSUNBWUdBUUVBZ0lCQVFDQWdFQkFJQ0FZR0FRRUFnSUJBUUNBZ0VCQUlDQVlHQVFFQWdJQkFRQ0FnRUJBSUNBWUdBUUVBZ0lCQVFDQWdFQkFJQ0FZR0FRRUNnWndTK2RpLzd5ZFdlUzNWUjRNblBPOFhtM3ZDOVF2TElUM2RSNGdDTGpESDNtcnYvLytqbjF2NDVZM09sNXRLT055SHpHeEttLzhwVlR6NGhhbkN4WTgxYjM5TFk4YXIzbzhJa2E0RER6NDd2UjBPN3N1a0VZKytPUHM4ZTZVcTRCNkZzQmJnMDd6bDdGMlAvRWNVeXBjZEY0UVJyU09qZFBhanRXOUVUNTI2TWVkdnZPVWNYNGNJdTdoVnRCdUovdnkwZ00wVjJVNVJCQ3hwYlY1TTluUzdNU2ZOMlF1VnJSVFlWUlNlWlpNMjVzL2R4OEM3ZndORzd2b1RZaTdaZWQxK1ZyS0d0TThyaWp5RHlIUlhaNWZ1aVpjZFdxcjZLTmNlaklUUmdhU3VsUlprcXk2VUs1eG5ibEtrRHhjMUdWRk9zZ2VRSXF0dFFKWWJSQXJhcVlnZjdmdFRCK2ZPSUxlOUpnNGRSODdZbWwwWDJXQlJobGlKL3NNWHJ1MW1hTlVDa3VhcjBEYkhYampLTE5WR0JzVWRWWnBRdE1uWlp4dzUwNEFod1hqVXRqREd5VEd3WFE5VGZldGh1b2Q0c3B6c04vdFV0bE9aRm5sWktzNFlVV3ROT2xmMnB3NXE4NDV1UFEzaCtxN1gzVlRueTZhdkc0cXYycXVFblVURXpkdlFjUXZrY0NoVzNUTDNSejVBRnBNTys4ZzR0b2l5SVpmdWFzcE9OcGRVZWpUbmI1TjBJSjFpRElidTlpV0tyTnBPdjJZNlhteENjZThxYzVSbTZ0MlhnM0wyb0gxZk9MVU5XT1VsMUpNalZNRW1XSGRaRWxMdjFDZEt0ZWwvSEVxeWhtWnF0N1lIRldDOXNheUUrdVMzT0VUdWFMNHdURkltaWZOSW9tckZhczRZV2lWYnVIc0M0UzFVbVdWTkh3NmQzcVc2bm10cjI2aTJ6aTQ2NjNpSW41bTU1eDFvVUoxbERIRW40amtXSEYyV1hWZVNwdDJOR2IwYnZvWFNTTllObytMZjN3cDdzK1JkdnA5cEZkbWs3eFhuWk9NbWFlbnFGUHRHT05WaFdNVGErYlR2MnY0SWthOGhYNzlXUnpYYlFxdXpBY2l4T3NDYUR0Vzl5d2dGZVZsSTVBUlk4a2IyMzJFNkQ5blhaSkd2SUtXL3IzR1NQV2x0aGoyNjc1aVJyYUFSTko3V1cyckVHMDJ4eVNrdVdQeER4SkdzRzBPNStuSnF2Qkd2cXdLS1I3T1Z5TzlaTW9zUjBzc1FCakFmV21FNk5Fek1VNHVtejN2WEFtb2cvdVZrMXdQRjRtS0U0SVBTUTQyRUxHaEU4M280MVpSUkpiTHBTQ2c1Q1F0TFgwSkZER3FyOTM5SXJNRVBSQTRMWlZNdEgyckdtZ0NLNVZKR0RsNUJrelRHMCswSWZOdk1Lc0dZZFVFeW5vQmh0eDVvU2lxUktITUNFSkd1cWFQZENIN2J6Q3JBbUR5aFcwMUMwWVEzTmFkcy9Oa3BYdWU5U2txeUpjYlRlaitkVVY0QTE1RGdhNlE2cnRENnZvVG50cDlNbDltbkt5UHViUDJwTSs5OXpPUlBwRkVxd2hqYmU5ckxtais4dHpmMjNocU5rK0lkT3NWdmVIa1VmWHRESjExeGZ1djMzMW5UVUNsejcyVTgvNzc0aXNnYmVWcG96SXRkKzhOTm43NXVEM0JkUDNmRWNFditlRDM3ODdMMnZzZ3BtUG5FdnUvMGRObjh6bjdpcithWVhXQ0pPTU1HYXpDZk8yTUtwK3B5eUtvSVJrMVBoS0tMSEEwMFQxYUY4YTlaTW9vaWxRUmY1NWwrKzUveVpuMEYwNEZkS2M3K3dJdEkvY2xmejFrUnpIQnk3TGJTbHBzS0ViTndzc21saEMyOHQzazlLWGlQeEc1TkpQSjVnRGMzbFMwYncrWGlCRzZmcXF5WWwrcTRTdS9Qc3Zlem5Cc3pyVy93MWI3WmhsZFB5QmVpang2SDA3Z29VS1JHZWpOZHBuczZhcFdZTzBqemJPaWNhcUpBOHU3eW1OUTFYV1BNVVl5L1hDU1pBRTRPOFpJK094SXdWR2J0dFhBcWw2ak9GclJBSzVVeVVrUEU5aGE5YUQxekt6dGt3UFlIMW5UWFNVT1NEY2FqRVRnTUZYc2xmbyttTUVaWDA1ZURZYmFGT1RhMmR2dm51dTgrY0tuRndoNXR6dDl4OTVqUnZRZlZTWThUTXAzaVM1SG05Q2JndGEvT3NnTXVhMGFMVDdtZXlseldpMFR6akhTc0tEYkJMMUpOUEt4WDFDMGhmWit5RlVlWUJ0bUc2V0ZmQXU0dXREYkROLy9TdFB5dHBSYklYczZYWGoxZjRPZ0VBMnFlTDJaaHQvczZUdnZ3YjdMTHE5MUU4TW1oRTE1VFlLN1J1SFVpeFpyakkzandlL1l1QzdzTlVmYnFzSFlnZDF1Q05IUU9xSlRhOFlpSmxoelVQb3NTU3lkUWhSWURSK0xhMWFLRElUMUdmenQ0WlJYakZhMWxMUlM2T1hSYnEyTlFhaktKTHNFYUVpVFZaaG5hWTl4dnF5R2tZVzBTSWJQQStYbkpaOHdVNFpRUEtFZmJMVkRwVHNkRExiemE0UnV6UTUzbUFYcDdsNzdRc09sT2J5SXVlY2E2SW10Y1dMNjRoQVpMeTFPd1paMEdUamVqcVJ5TzhTMGdEK2ozbkljWWJ4Z3N1c2sxdXh0UFk2NlNpbW5nUEhvZjhPWmxpYnFONDNSdU1wSmUrdWNGNDNZTnpLeVB2VVpTcXp4UzJRckdqbkhhVFBzOWhGWERmcjZGWHRsNWo1NnJ3NkhYWFE5ZkQwVU9YeHBHRXhjOUNORnJpbGxhc05pZHc3SzVRNTZaKzVId1JsYk03M2tIV1pOOVA0Y3RVOTlXMEVDbHExdGFSemlFbk1YWFJ3SkU5cHBMRTNXRU5YcHkxRDZscWNvVmpHSUtPbjVIbEM0bzFaZm5jeXR1aFVVVHU2ODlsVjRPVVB5K0xENWZBbWtvdWdtY1VlOVduV0t5QnRkTkM3cWx5YVE0enAzaUtsNXZJcVZqTmU2cnFDM1NFUWlKVm45RHZmTVlPYThaZ21iM0VjMFJscEd5TnhjeGlteWQ0WDRHdVRDbEh4ZkE5aXNlaXE4VVFuakFHZ29IaWROWGcyRVdoYnBxS3BwdGhYMkRzSjdqeGhRWGNTdnBBQ2x4bXF6ekQrcURPOGN4Ynp0bHc1alB3Tk04eGhVYlpHeHNpVnRTMVR1aHVHSlNzUVNPbmhWVE1uaEFCOXhQSWxsNHJrckRBM0JpWHVYbTJNUUtZYUVUekpJQ3BmVTJzZ3RrZmtjb1hWUXBhMTNEMWk1akZHdkIwV29wTUdnZWJyTStqSkhaWXN3N0xQQXRFcHh6YXBqejROUlZySGVVSVVRUXRmL2k0MUZaQVQ4UTVMb0x4T01zRC9FWDVhUkhVT0hZdTFGMVRKNjJYWHdibDZNclNjQVRtZkltRGVqTkZEMnRnbmpVWXBhRjBJMTl6KzkxMFlhbkoxUHFlQzRBUGNxeFZOWng1ZllnMUlsa3pxZGxZOXk0ZUk5aXMzdzVFZUY1V2puSVRNMUVFd3lTYlM0b1lsSVljdWxSN01jSEtGQ0NwTkFnUitXbXhabEJwakdqK1c1RUNxZnFjNGp3UzYyWlN0QTY3dTJCTms0TjNwb1NaOXY5T3E5UXB3SEp5U2NTcWpIMURQclJCdXg2WElqNGNPeGJxcnFrWWFhb1dJQ0tBUEVtVEx4YUVGNVNGNndZcWxVVDVmZ2lJTmViYWZJc3VZYmtCbW9yblJVYlI3Q3BFRXZZTnlvMWpYbG0xaXF0ZzNZeEg0b1BFSzZxeWpYSU9FNWkycTZoWlU5TTBLMHJ0YUJKaytWWFJvMXNtcUdROUFSZVk4WGxGZlg2U3FzOHB6aU94cVFYeEtyUEFUZ3Z6bERKa3pQV0dYQXN4SkFNRU9tbWdhNEt4NTR1dW84RXU4ZkRpMktrUVZqWGROQlhjMUdlUFE5SlYxOG5Kd0MvTWtrVjBZVFpmRXlIcnM2d1dCbFlhQmUxMXplaXpNRXVzYUlFeDRMSEtZeEFTMW1Vc2QxTGhSQUtoSkFJUmpGTkJyUU9CT3ROTEx1S0lHdngxdG5HS3hMNTY1NXFRMXRNU2hDUURBQ3FqTVJIRnhuMllNU21LeVUvamE5RDhaWjFWMHdhbjZ0TXlPaEE3ckpsRTVhWlB0SkFUS0ZzajRzdUxqUDJvazJ0SFNteERqUzdDTlNmekFMZ0llWEhzVktqYnBwYk1jNDZqc3I3RlpkU0w1UUhkeEZYUzA0aEt3Y1I2L3UwbVlvVnMxbkFPYmNwT2pDSnEzUklYeGJRZ3BtOEVkTm44UEFVbmxRekMvckZadHlTaVJlMjFrS3pjamxDcFdRT2ZwV1lHV0VCWWc0K2NQQ1FJcTdTRm9pRC9OS3laTUgzQ3BYTkNLbFdmVlZnR1k3c2tuMW0xWTA4TDg1U3lBa2JGZnJHRklCMUl6Y2c4OUpVK1BTd3BWbnR4N0ZTbzI2Ym0xZkFISUhJZ2NONVc3UVl2YXFOYXRjR2t1NnlKc012UnpveFcwQ3RjRW1OZXBJSTFTNnBzYlo1Q3NkV0o5ZzVkU1hGZm84dVE0NUdNUU1qdEU4MGE1TXpJNGhVeDNERVF0U3c0dFdDVTY1QmhUZDVpdHJWRVN0V25pK3BBYklQWTdReWxWc1BRUWx2dkJhM05EU0JyU3FZQVY0MXhVVGxSMUwybVNtZ2NPeFhxdHFrVGVxeEdvdGV3T3FmS0NqWlVrOUxCS3l2YTNST3NHWVdodnlUbE1jS1ZJdVZJUVIvbFo2UHFOT1N3WGpJVXphdUI0MVJZdDVoR0cyMjVNa0x5ckNPbldZTzJMTWljaDhRZ3FWcXlXT0RPTytWRVJMTUdKcHExRjAzQXNsdFQ5YVdWeEE1clVFQXhQQzBxVThwYVBVK0F1WnNOdnpCd1haRTV3RUNER0V2NC9EaDJLTlIxVXpIUzFLZ3I1cmdWUnpodlZiZnlwTHJyK3FXeC9sdUNOZVFNNUJGSkZIMy94cFFzcFBtRGRvaUROQkJtSEpsWVR5bG04ZG5LVXdrMEx1bGs5TGw4aVIvSnl6cVpBcG8xRUZsVk9aOTZBWVVXTFZsdytZTEt0ZTZhTlpqcjlVam1PMTdEMG1WTDNoZU1IZGFzd3c3ZHV6NXhwSlZkMXNBVjY5VjNvZ1NBSTd6b0FtdmtORUdORm9QT2oyT0hRbDAzRlp5VW1HVGxHQi8rN3pBRVVGb05YTGZDM000Mkgwbld3SHo4b2tmeTB0eklJL3ZOcXZtUXdoeHQrcWhxZVZtam9XNnpCb2J5R1pWUFhBdEdDQ0hGR2hKcE9EbTBLRmhRS1VCQWpSdVZSSGZOR293cmE5TEFjRFFzWGJBTGVNS3hzbzNuamFHb3Bja2puMklOMFZzZlNMa0YwQVNWQU5abzNpdlcrSEhzVUtqN3BrS1I2TFNqdGtOQmVXMEk5b3lheXNyUTF2Y2thektvUUorMjZXS2FOUk9Ba20yOGJFM2xyRnZyVlBKVEt5ckQzSkc2cEdPMGlacm1NU1N2Nm1RS0tOWVFiNTBNdnZQU0tqQ2VIM096ZVV5elpzenRheWpMY1lGVWZXa2xzWkxsV2VoY1o3MCsvSU8vL1ZmZmgrdmYvczF2dm1kS0ZpNjdsVVZYbzh4MFdqRlM4TVJEcGZ0WTQ4ZXhRNkh1bXdvN1YzbjFFelkxSmh4amF6UEt3TTczSkd0b3VMaDlQL3JaajUvVnJJRlQ1TmN2ckFuVk5kdkpUVGlvcTdyck5tdXd6NUpMWFNUbmxBaS9LOVlBVkEyd0VLQkt0U3k4aDgrVmF0WlUzZnlTdGxucWJnQUFJQUJKUkVGVVFpWlZuMU81dE1CVXc4OGZuZkZEazZ1NkxzakM1UVJyaVBFK1RoTnI5TkU4R2ppcktvL2xDUEhqMktGUXRldW1UaWpVeTh1cVp0eFI2WXFKTGk2WWNLZFFpalYxcG1yZ1JiL3hOc1J4cWRWTG1jZmdiM0k4RzlHTjMxZFhyQmp0VkZwM1dGTlVYaEhKbHNrb29WZ3pCcFdPQW42bWRLdXE1TDVFUjBsUnpScEFZZmNiNnB2bklxbjYzRG9vRmx2a0ZEOXBaSzJyNlp4Wlg2MVlRd3ViaFBHeW1nNEVLSHR4N0ZDbys2WWVWZE42TVNmdG9adWFIa1dTazJWSitZSXAxbUNHWlU5b3lVOWk0TC8wM3pRTWF3WktFcnJOY1JMS3k1aThOZGQwU1Iyb082eUp1MkdOM1ZuUVkvY1hWU1NmYXVrYUtLQlprMCt4Wm9ZTDFwTXNkWXJ6U095d2hpWlRkNnJNWFB1L0lNTFk3L0NtVTVGeWtzS0VUb01yUzN4MElFQWU1YXhMNHRpNVVHS0F0R29xRm9OODJURnNlM0Y0YmJNbXhUSWdZWEc3YUlvMW9LV2V6dWt4N3NzYktHNVlFK0hadExoNDN4VVVpVnZYVVhkWVUxR2NSTEpMTWVWcjFxM0toRll5eVpWTjE2WlpBNVB0MVhMUllta25IYkhEbWdoRlU5WFNGS1FQSEQyc0FSNzZYTVl4c2dNQlVNNjJXaGJ0VUtpSHBxSXQ0MURxTElZeDhWdWtHMG12WnAwR09KRVVheWpCbW81ZXo2Vk5FbDdJcWtDQ0x1b0VmMnVkR3VxN3k1cUVSY1d0czZhTU5pNDVUZUhuVXpiVUVIRzNXVlJtT1ZHR1J6c1FJR0cxMU5CYm9XS2Jwc0l1YXNxRW1VWG9keW5OK2dybkFiN1ZvcThsbEpaaURTMDk1ZFQ4RmUxMWJOWkUwVGRlQWhteCtzbDd4NGhUV2QzQlBtN1pOT1ZyeHB4ak9sSkZNeFJSdE4xbCt4cHJCTkdtZlphWGd4bWRkTUMybkZYSEJLcGR0dUlVcElXTDVSVEtTZGJVa0QrVEtNT2pIUWlRZDlRcUJSMEtMVHJPb20xVEo0Ulo1V1dsR25jQXZXQ2k5VmtUN2hoS3NZYU9TOFFVUitmRUswS0J5NW9vZWpJTTV2TlkyVFhjVjEzZFlVMnhHOVlrRnBSa296VEVWd0ZQMDZ5QlJmYW9RVkhSaS9XZVdVTVRvM3I5Uk5WTGk1MTJySmxFL2dVbGJOODdFS0RzeGJGem9XNmJpcmJRV0NyWk1OYWRRYkk0Wlp2YklaeGlEZmthc1diQzRZTWF0VW5XUk5FREVJTnFvT1M2NkhSMU1HN0pwS0xZREk4aGVjMGtJNlI4VFhyblRVUmVkV1RURWMyYVdvbzF5MXc2VlY5YVIrekF5UDFLc25HZFdJUGFwVzlMcU85QUFEK09IUXIxMEZUNFNDdzduTVV3TGVVYjJzcU1GZGFKTFFNcDFsQ0MyTU5VVEhjcjFtUnUwNG9LdkNmWG5jV2h6clFEZGFPR3YwNGozU0tTL2F5aElXNlhGNFVzNHJtWk1xWlpBNzEyVjBQWkFoZEoxWmRXRTd1c3diNU16ZFZhdGhOcnlxaHZYa3RiZ1E0RThPUFlvUkNhMUhWVGk3UWM1cTlpYWFNSzlybllpVjRXdytsMURkWklZa01HZXVwOW1tRE5YOGhIcGJ4ZWRPNENmNmJTcVRxMHpYUzU4MFRCenhvU2NYTm9Oek90RytzUGFOYmc1TUE2TmFkZVh1RWxZRVpDYTBwUm5HQU51akk1TTNaaURZZ21XWnJRM29FQWNMQWVIRHNVNnFXcE5kcmJUVGdUYnF4M1BiQjEzVjRuSjJ4UFIxTytaZ3p0Zm96a1FCKzl4K1NzeVc3Z0ViZm9Bc292MFZJUkM5WEVJb1N5bkt0dXM4WThMa0N5MjR0cWhxSkhSMHVPQmpvVm1uRlRVakhOR3RRQVg2d3VVRkJTUDFXZkVqSDNPTUVhV29YUG0yd0tkV0lOU2xnUVdXVTdFTUNQWTRkQ3ZUUjFnbWJPL0xSbEVjYWlSVlQrOHJtZDJ6YWNZczBrMmoxTFJkYlZ5UXAvS3hrOXdWbXpRRm44eWxOUEVvcmpLaVdLUG1lRlZXcmRKZ0dHaHpRVnlXdEtoTjhWYTdEQUlUNnE2NHRRQ1ZPc1VaSjlrY3F6N3BvMXpqc0h4T3BXOVZtRlpSQVY1NXhVSk5qTFRlUjEyRU9SbjlRTzJsSFZnUUIrSERzVTZxV3BZTmpEN21JWXJERk9lZGp1UmNkd2J5VEZHaUFsenFtcVpqY2cxbEtjTmJOYXl5UWZod1Zub1JxdjZHd2RxTnZuWGxBcVhTR1NXN0RHcWhoS2lsQ0oyZENhd05XNy9yb0dDbWpXRU9sQU5Ia2RiMTJmRWpGM2xNeVpHRUpncTM1dFJHUVFMZHJzb1ZDZDFSVzJyZzRFb0lPdlZTTXZjZXhVcUllbVVoY091Tk9DZnZrTDllS2JhYjRyZXg3ZjlmTmNTZGFZMFZLVFBnZUZJS1I4allGc25hODFBT3lNVml2ZUVOTlJFYWpiTTMxRlI1RGNnaldBM3JSaG1GYkdHSWxXZytzWEVqVlExTENtYXZzMm1MY2dwRlAxaVdUN00wNnloc0JZdGlYNE10QkFFSlVkT3ZNdHBYRFVUaUdLZENLQUY4ZE9oYW85TkJXTis3cUJsVXhhdEtieXdqS2xwQzYwYnlxVmlJUWthK2hadi9ES0tLRzZCLzJvV0dPZVhOVDU2Z09lajYrQ3VPNlQxa1NwSzZ0Yml3Tnk4T01pQjhscldvWUNlb2FDa1BIeTR1M29SWHUxVUpsMnlvbUlZWTF6NUpsdlhWOWFTWnhrRGJIQ05KZ0swRjZoTld2b05aT0V1MUsxZENLQUY4ZE9oWHBwYW8yeGdqWE53NjVKTXhSSEVpNVZXbzBwME9wZDFSVGNrNnlKSVNqb05hbWRlMVNOYVRNK2NKbGUrSlNkVHBVMlNFL1JldUd5TG1jZlN0ZFhYZEVRS2FDZldpZ2dlVVhMVUVDemhoYS9TeXFyenZzSVc0eDVsWkwxbml4VXRCbm9PajJkd1VtMXJFL3BNL2ZZbVNVb25kQ1pNZ0o4em1yRG10WVRWRWRmNDhXeEUydDZhZW9ZbWpKdE40WE9oc2RsUXMwYUNaWU1WZ2FXUDdJeXNGeTBKOVNuSWlwSDE3cVpLRzVlcDlFL2RJbFlNNjBLRjhTcHprTUcxMHpKUVZnSzFxM0ZRZGtJVjVPc0tXa0RNWVIwSzRxOFBoeFQ2NVhiMVRxa0xLRTc1N1ZJUUlVTkVTS1dLcE5TOVVrUjYxYTAyQ3FUeXhvT2tWQmdsbTM4a2I5bUtEWU5NWElYTElWVzBQS2YyQkZjVURsRmZUYmx3N0Zqb1hyM1RZVXpTemgzZEwwRVp5QXhnSlYxR0t6R0g2bEV1aE9kbG5RQ2Z3OUNxcUtjY1o1ejhtRVVYNG13Q2dWckZFcFo2YnVRcEliejhjUWJEa0p0bmJGNFhnU3hUdEJ6V00xaEsvTFY0U0wvOXFoNmovS29kSjFWNC9tVk1xRlNmVnF2dmFHV0dabWNiMU9mS21udWFQQ0NpZkVRcld4KzBhUWRZUzkyV0FNU1dXdUZaMExZUzJtK0M5VkhsMlBXamhBbEdrSzlCMGM2ZzFCMSt3djEwRlRNKzliYWtLc3Rxc0dwdnRDdktsTjNtbyt4TkVsZjZEeU5jWFJOak5ocnBCQTlocnFKd3BuS0ZMZHVjb1pZbytidHF4UlI4V1VZd2JOTWtZc242Nmd6OWw1WjlhUVNGZU5TMWNSTDBHU3dJc3ZDV3ZsYkVvdnlYUnA4YVVUMngxV0tVRTQ5OUJ4RXZRWWZmWmh0TkhndWlDOU04OVRuRk9lUnY0ZU83NHduMGg5RW90SUIzN0l4bmxkUVE5QjYwb3NhUGdsUjZ4YzVIRVhrMHBka1N0bHdpeG85TFpQVE9IWlJxSWVteG5yQUs4c2VaT0k5bnErM3NwcmFwN3lFS2hRZHVlN0dHT21NM2ZEVzUrTENieG5oZWtUalZnY0lPUWkvRC8xVlljM3pjSEJnVFVIMFhyYW92RVltWnBmWFNHZloyNThSMUN4VlhrRUMvTXlBQXRHbnpzYW9pdDF4dzFzYlBENTY3anc0eXBvLy9IWWVwZGRRT2NhZjEwNFZVK2NIS0cvSTh5NThScFJtYjdyaEI0VzJvdkFBdzdGeWc4bjZSQzNtTS9QY2N6ZStueXhpRy9mYzhOWlZrOEVuSWYxZlVEK1BuOFE0b1ZqelhQbC9MeStlSS9DdXU3Rkl4WjlqRjFYaHJHemQvZWNhMFZmUDhYcnVPUGZPU0RYNi9uTWN2Z1NPM1JVYTdiNnBOVE12U3NNeStDR1VQNHFpUDlIZlpWSUc2M3VCSmZhUXlCbWpkaWF1bDJ2UzBPL1dzT2F2ZmJ6U1hJMGlXdS9BTlF5elI0ZExQNHRHZnJtaWgwNDBnaThRL3RhWDhJWFZCVjJiSGFpREFTZllIK0MvalpiWUpha2Qxc2hyaFl1U0QrT1g5UGZEUmRaOCs1ZisrVGZZNzJwTkR6RDJ4bzllK3l5MTZ0THBDR0ROS3k4NVJjS2lTLy91Mm1jWDlmOStUZFpubDZZd3pRWG1XcmF6OFhOTGpQM1hCcEpHZjUxWHZpaVgvRVplaHpiZWJaZlVZWnJteExVU1ZWWHdZWDVpS0dLclhOVEZzZnRDWFRiMVdMcC9obU1NazVMOGFSSnRyaFh3L2NMYW1HcUJ1cy9kOHpHclNJUWZOYU9MajU5UE50K01yQ3k4TlY3bW15c3g5aTRqT1ZUa2N0d1htRlFWcXBQZitCRERqOEN4VnpWa1lxRTVoOS85dXZsVVNVNUt3K3cwZnZvTGNiVktHSW01U3FwVFhiL09VNFJiVTJuaVBzcExuN241ZEVrdHJLUkZGeHRTTUZtZlc1NVlRNzlESm40ZDRsUnAyY25PRmxCeDg1NXo5Mkc1anZFU2pkd2tzcms1MWtmejFwZkpNZUVVUjJSQTJIZnFORnBiYlZKTk1KVllRNDArZytSVlVjTEJzY2RDblp0NlF2dHRZeDkrNjVEZC9nSVQzNUZRNWhuWGwyNjFpY1NmZVQvdEpXenVEZDlyVnpENjNydWFkL3JIbWZyRzdoL2p0d3ZsOUdPWGJCbW0zMjY4ODRWTzl0ZndtNUV2YmRFeGppQWlaRkZQOVNVVldISDlYK0RWRnpPc3ZKME50c1d4VlZYZE5uVkVEYWxXaXZaVmVsMnVVZmFWVWIwWk0vdzhETWtiN09IVFcvbDlJVDJZV3RmdUM3TmFHSEVBV05PaVpmMlZYTC9RVC9ZRzF1eVAzaW9zN0E4N3VyTWlzS1k3bks2d1ZHK3ZlRjVoWXpxckQ2enBqTkV1U0F6MTFXS1luL0x0QWlxaGl2WUlIRlBQZmRxTDdaZmM0R3YydENjeXYvb3FmbG94T2J1blp2UmFlV0JOcjRqdHFEd2UrOCtRd25ocFI5VmVhV1ZnemRTVnJpUG9iNGtBNEtlNWFjQzg2TlpTZEQ5bFZOUHZIK3duOHc2NkxUWHhNc2N4OWF5bVQ5b0xzNmY3eE5TRGFPYWs4RFY1UGszMVR3Tmo4eVpwL3hoOWNDeWQ0T3VhZ1dhamo1cjBxWE1nRFdNL2VTNHNiZmFvMTA2d1Y0L2pKZS9IOXFqNkxWVkxieG53NjhLV2lvZEMyMGNneHYrNys1eDZBM1A3Nm5aREEzK3hCVysrcE40ajI0M0tReDJFd0JGNnRZbS9TeG53Q0FoMGpjQS92WC9qeFYwTEI4R0FRRUFnSUJBUUNBZ0VCQUlDQVlHQVFFQWdJQkFRQ0FnRUJBSUNBWUdBUUVBZ0lCQVFDQWdFQkFJQ0FZR0FRRUFnSUJBUUNBZ0VCQUlDQVlHQVFFQWdJQkFRQ0FnRUJBSUNBWUdBUUVBZ0lCQVFDQWdFQkFJQ0FZR0FRRUFnSUJBUUNBZ0VCQUlDQVlHQVFFQWdJQkFRQ0FnRUJBSUNBWUdBUUVBZ0lCQVFDQWdFQkFJQ0FZR0FRRUFnSUJBUUNBZ0VCQUlDQVlHQVFFQWdJQkFRQ0FnRUJBSUNBWUdBUUVBZ0lCQVFDQWdFQkFJQ0FZR0FRRUFnSUJBUUNBZ0VCQUlDQVlHQVFFQWdJQkFRNkJzRUJ2RFBNUS9PZGUxblAvMjgrNHByQjZkQis3UWxKeC91d2JELzlac3RybmYzb09SS2lvci8wWHVZV1RNaC8wbXh2RFhmOUJiOG8yVjFsVVJxTXczUWNGRm1LZEgyOTdGdnQ4OTNjdk5DZGZwenYvejc1OENhaVZUbmJKZ2hMVm5EWnB4ZXBjaWdMTlpNNVhnVDZta05Yam1ldUpneVNTWjhSNVQ1L28ycDFvVjNJK2NaWndtWTlGRGFqYnIzUngzZmZlN0dtSGZLUGVkd25iK0x3dTlTcGwxMzlqNmU5N2hLMFBjNko5U2JibmlyVG1rYktDKzB6WFl6SzZqei92L3hqMSs2OXB0L1RyVy80QitmZE8wMy8reHRDRDNLNVU0d3R1RVcyUDNZTUpwL21Ga0R4RE5sOUlpYVFnWUtpS3lhZmhoZ1RjWXVtYmdNTFM1Q0xKZEticFZRNlY0MGltTFdWTzRPbFd4S25WOWw3QkVlckNKeGo1MU5GT1VQUFd1aTQraUhhZGs1VVFhMHVUeXVZbEcwZUJ0eVRWU0dOaWRWSjZheWZBbXM0VXR0a1ZaaXIxUTVKY1l1cXZDSFpaRDRPcU1TOStxTzVoOXlYeE1kUlQ4c2FQd0hFTHRKeDZMeTZ4QmZOWEVlR3ZrT1lKUExqRVNXTDVydGN2a2p5ckttSm0xcytia3N1OHp6SzdEbmdxK1dyYVlkNzJXREp5dXA3aHZXeExtdHRudWI1YkJTc0gwK0NMR2greTJxemFLYjVoTTFIUDgyaExvSGUwZzdqSVFlYjlTaW84MmFhRkZNVm91d05tbVBWMCszaVlQZE4wU3JyTzhiMWhSejJxamREUnh4V1VOUjB5MjFXUkRraVlSQjY5TTlzZVprOTI0cGlrYXQrU2UyZkUwMElUeldPc3hiVGRpenJlaXh2bVpOS2JldHhtKzljSUkxR1hTTDJLNlF5dHJzV0hvSmsxL3BpVFZqU2RhMXN6VnIrVDJITmNmRjhtckVXdXUwMDlOMTNsaGZzNGJsdW03b3pnb21XQk10Z2pZTlZVVnRGaE5ZY2wweUYvWEVtdnFzMHRiRmZkaGFaenFzR1dKaTN2emlQYmt1MUhRdnN0N1ByQm5kTjZ3Qkk4eDRyODFtRVhYN2FmalIzbGhUbnU2K0Q2TVJhOGZtc0NacnFOeUR1czZpdFg1bXpVaWlhem8zZDZja2tyNW1BalNaVmNwcnMxR1JzV1VWNWZlVDMrNk5OWlZWcDNqN3lKQjFodWV3Sm1NNW9mWXFlc3N0OUROcmp1NGIxb3lCTmZxWkQxaFROb2VBb2o4bWxudGpUVTlPNG9pMTRYSllFMTJoaFYrcG4xbHpiTit3NWhoWW81ZkRZTTJFRmVXMEtlZDZZazF2eHpWSHhSRXdyOGhsVFU4dXEydC9NOXpERVlKV1d0OHZPKy9xdm1FTlBacThwQUFDYTNBS2FNMGF5RGdWOWNTYTNvNXI3RzI2eTVyQ2tqSnFKKzhuKzVvMWxYM0ZHbkVPaTk0QmE0YkJvaldybzdMd0JyM3NvV3dlV0dwYUJJL3J5WkVlU1JuNjR1SFBRb3NpMjBxdTl6TnJzRlBKYmF2MVd5K2NYQTJUcjlHTEM3QW1LdGxQSEtMbzZCTzlzYWFuNDVyb21QV0UzV1ZOYlhycmJXeGRzdGpQckVGWDVWbzM3WXJtSkZtVFhOZlFFOTRMbGdWajg3MnhwcWZqbXNoK2c4dGx6U1RxM2ZFTDAyOGZyNFlMKzRjMXRJZlNTSkt2V1hjZlZkWldlMk5OZVhtcmZlMnlacXRhMnBZRDdycXRiUVdkekxvN1p6dDV1eGloNTg2NVhhelByaXJwYTRnMTZuMGJXdGRFSjgxckxsUXV4dDlrdDJCZjg3d2lhNzdodjFDNTNxODBhekwvOEcrdnUvSFVORmYxemI5OHova3o5Qjc3d0srVTVuNWhSYWoveUYzTlcxOGdndXJ6bXV0THQvL2Vtb3E1OTMrRnRpWlo4OGYzbHViK1c4T1JHLzZoVSt5V3QwZlJoeGRFY3IwcjFtUStjVmZ6VFFsakhMVXE0ckh3bWh1THpUZDhUQWlNL3NPejBlZ1pIdm5tQjk5ejl0NDVrVDVRaFBVNUVkYWZTVjFKMDdXZ0NseHpmZEdHeDBHMUZXd29tMlFOSUdIVFNpZXhobDZlYUtpRWFKVFdQRjJ5SnZOSjdML1lLY2Jlckl2YmdaSDRqWFkwRlk2ZDFUQmwwK3dwclNPcmVKY1BsZGhwVkpPai9MOW16UkpqemxjaThFYmdYSWx0TEZGMjR2ckdyM0FkL0VNdnA1NFBlYWhidFdTL3E4VHVQSHN2KzdrQmRkeFpsNnc1d1U3ZmZQZmRONWQ4eXFQaENtdWk2Uy9uaWs0MDUyNkI1R20rcnlqelVxZlZ1dDlqNGI4V2huMkFsd1hZdURocmFHY2luL0NNZnFySUkveGpUVm1iMUpVeVhRbXFPKzhoMW55T2pIdFJWYkwyUGNtYU11elFWaEJySWlSTTZSSkhDTi91V0ROYVlSZi9KNDVycnFtNEhhbDBGWktuemlwRDN1TnVXRE1hMzdZV1lkZ1JtWi9PM2hsRmYrcG8vVHBqTDR3eUQ3QU4zU1JUU1EwTlU1ZGl6VFBaeXhyUmFKNDFjMXB1Z0YyaXdrOHJGZFhMQUhYTkdsRjhTY3VhQUJyL1NDTzZwc1JlUVduME9ncS9TRk5aQkNWclBCYitIV052L050cm54MnozNld5ZnRiZ01hNjVWT09TdXRLbWswTHIraERiL0ZpVStSUEdaQk1VYTJ4VUxYRVRUTEttYVBjVlo4Mmk5WWdoT2phRG9taEkwckViaFNxVVdXU1hHaEVkMTJSbCsxV091Sk9GMzNHVDNGaHNXOEt6aHE2cm9OQTBoVWV2dXg3Qmg2T0hMbzBqZHB6MmVhT2xYNlljY0pWdS9BSzJMNkxBb3MvZWorQlZhYnk2U0s5TW4rTWx5Zkh5UUtaaTdmbnptdzJ1Qzh1SWVSNkk2cEkxSTBXWXdOaWRLeUxaK2F5eGkyUVk2SkxEYmVEc1M3am81UVlpSCtMQjIzOGN3UWdQM2xJV29zeC9wS3hNdWRuQTdaL09VYU5uS0dYMHVyY2h5SjhtRDhOb3BOOVB4cCtqbW5DbGRLVk5GNExxODZnY1RVOVJvOHFEcXBKMTd3bldVRjl5QzdrVVowM2Q1c2prRWpLNllrMmV2K3JMajJ1TzJHOTZxZXBQb2laOU1LUVM3WHVjWWcyUUxKajU4eXV3S3lNZU5PRDlqc2VpcXdVSEp4aGJVV3JLOG5WajJYa3FXZCtCczBOLzlTelRNQVJkb2VBb0pGbkQzNE84ckN2VFdoRVlVdjVaOC9VcGFPN21PSmRCR3piVVdzOWpvYVo5SnY1cExwOEJFc3FJcDB2V1VFWXRzYTVKNnZLWXp2V3BEK2lkRnVHYWVZamtvdnE0a2szY0U2eTVHbGF0YVJIT21rRzdkeXZVOEc1WTgzVFdYSUdvT0s3Sk05RityUmdCcUUyY090dTVDQU1yZlVpdHN5WU1hM0RJOWJBNkZTeEFWWnpqVXVqeFdTa09za3lMWU15ZWtHbk9MY0dhVWZiR2hzZ3Y2cW9uTkFjSFU2ekJPdU95QWN2V3ZLZ2NIcnlnVkZuV3JuV2ROVmVsc01kQ2xKZ1d1WjhyU2E5Wk5hd1piYzJhbEM2UDZiSmFjWHRRR1VscjExV1psVVRWS2FFakNkYWdxMTZuOC9nZWloeWZmTGtGWTUxN2h5NVlreTJKV2JrK1M5cU9lN3dLZXRlVGF1cjJzd1lMNG1rbEE5WncxNGM0Y1AyR2ZJUUZCTlFJbWRTMHJPdXZPNmpDL0o1Z0RYQ1hyZ2Y2Y2tJeXI5L2RHRW14QmxWSktTR3JQNUV4SXlMb2hIa1Jnbkk1Q05iTnE5a2VDMmtBOEF0S0pPNWpXaDJ0TXZYN1RnbGZrOUxsTVYxb2xwOUZaU1I5N1VJdHpsR0JqV3JES2FFakxtcytqL0Z2Q1hKZlE2LzNMVW41SWE2OEM5Wk1Ta2FVcDZra3NGdWx1MzNSaGtDYmFtZW9jS3hoVmltNHcwTk5xeWdHcjl5RlJoT01QVi8yRTh5Vi9NRzRWUE1QcHNOVlZjeTZKMWhEZTdSeG5vMEJMenU3cUw1ZGd3NlRTWFcxWHpndVJvYWxVQWJYRFowcWV2RldVWWsxT1ZOaG9aSzJFQ1pKMHBNenpuR0ZZeFpyU3ExWWs5YmxNZDAyRmNPMm9lS0Q1aTEvRjlVbEplSGVIZFo4RVlaT1dmbWNOVkhCR0QwNFM3bVRwckdXc0IzRU9CRVF5MGZWRlQxckdLbXlXNWZKa0tIWXh4cmp2K2xaeDRaaUJYRFZ3MTQvRVlIc2pOUmxCcjlUVFlJMXBHV1ZDMkJkOGdRUFpDd25WUkZOMHF2aHFDRHA2ZWlrU0t6OEJXR2xIdjVpOGhjNmkvcGJJQjRMMTVuYTRFL0FtaVd1R25hcGhrVEZWcXhKNmZLWmJsdGFzMXc5Z0pDTlM2QzZZSmN3WVdMTnU3NUYxejgvKzFjUkZvY0VNbCt3cHFycEgxV25LR2V5STJ1cWF2MHI2VnpXSTg3VW5EMlBrN00yVjl5Wk5ScE1lQW50dUV1cW8yR21RQjJWbUNiWU5YcFlJMHJBT1lxMU5RSzZRRjRDVzVlKzVxalhmMEVjSEgxVWxVS1ByNGt3VkhFQ0hUVkQzR05oUlMvbVVWS09CTFJ1UnVscnlacVVMcC9wU2d2dThNbHF6Q0ZtSWlWVEdlcGR0a3BZUVdLTnVacnZzckw0TTIvRVVWak95RkdoUWZrdzBLcVFVaElYREJiRFNyMWRzNjU2TWlIWUxocWJhbzJZNjJ1MFk0UTNWeVppTk1yUkRRV3l3MmcvcnZPTk1scXkyUTJoT1dHRlp3TlNJWStXTEtrQ3RYa1JxZ3U5bWZnMUtpZHhoNUZxYVVWSDZ3c3l1eWFDTlRNdnB5MVUxRUlSMm1RMmVOR3VXSlBTNVROZFdrSTNkUHdGRTlXcktYcGFQU1hUZ1lkc3NoRVVJWnMxdDd5MDRXWUxYME1pSWowakp2bU9yRUYxb21iMWRzMlkwdURxYnhzRERPbWVUckJtUldwQWhicjdZK2wyc0hEUy9pZktlMm1iWUExOGhEb0xVTk9jUFNLcjA2SzJ1bUROZy93NHhkZUVxdG5HVWVjbzVMR1FnQVBMR2hwNkxJU01hdlJvU1Rub2JsaVQxdVV6M2JKMndoaUcxTEthbTRrMUZxb3pWZ2tyU0pSUXpiS1NSVkN3QnVzczZZdEhoTnZ1eUpxeUd1N3E3UnF3UnBtU3FxUlZRbXdBTkNJSjFvekxITEJHT0RmRUZXdXdhVkVjNE83UktOR2hCR3NpODRzVnVpeEFsRWVBMGJDc3JjNVpreTI5VXV0SkJCWXR6dzRtWGxEWlJTcDR0V0lGUHdOTVdnaWdCTVlvTS9MV05WR3lHOVo0V3VzeFhWbUNlODA0UWNUUXBubVJpVkt5bmJUMW1MRktXTUV1V0FQM0xsVWV2OEJMVGxvajIxS2xnNkNaOU1KajBsT2ozVG1kM1dXZ0c5WW9WV2lmTUEwSmlqV28wM1JRVmZnSEpTL3ZTZGFZYk0yYVBNTnpOQVdqeUs5elhaUFdkMVJOT1I0QzhBc3FDVDVBejFicjFBdnh2TXF5cDM1K2VMREcyYTNwYjh2TnFFalJPTkNhRGFxbnRSN1RsUmJjSzhvVjhMUUovY3dheGl1cDdiRm1VbzNrK2dKWGlMaWVEMVFOOWgwenNteGxmVmFrajFuTEExdXlYVGkyZTEwSnVyNUd6MEErMXF4YmExSWFTeXRLaDdsM3dSckFpVlhzeTlDaCtvS3VOWnordHRwQTBYN2F6RUpZWGVoMURLcTdlTUthMXp3V0xscjAxeFYyNDJzOHVpWmdSOEowclpMV3YvWmlma3gzcWJXMTN4NXJZTFdBYUZHQU42bXJzS3l3Z21qQnFvaVdsOFVkRFZnU29lNC80ODZzVVp0YThxV3pTalBLOFdETnRoSUc1SlNBdWZ0Wk0vclpqNS9WdmdZaS9Qb0Z3NXM2c1daUkxWV05OaFdpSWprVnNWY1hkSVpSMFJ6aWs0UVpmUk84VU5GcWlGSkJQbWxHUlZyNUdrOXJQYVlyTFJGL3N6ZG5vcWhDSGtUalBFTWwyNmlxTkhIdlpvYkNuQ2xHdFR4VW03VDd3MVhIWTNudDVDcVNLK3VhUng3eEZrbnhObGxUeGtEN2ZYVkIyV3E2SGg5cnZ2RTJ4aSsxNG9BYWZtM2tWUGs2V0VNYm5IbVZrTGpqc0lmZHFpcSt6MXFvOEtjb0VoRXFVMDViaUtLYUlGcHRONnp4NkNMOS9ES21hNVg4eEgvRlJFRVFlWnk1WTZ5QmwrV0RaK0JSVVUwbjFwUVVieU8xOWExYW84K1kyajRVYjVNMWVWaHRYZGJqTlYydmh6V2Z4QWg1NmI5cGFGOFREWlNrRW4yaVcyZnNiK05ONVgrMU1oMmdnV2hmcjlVNU5IZnBDSjNqT3hkWmlJUjVTMElFdTJHTlI1ZkhkS09hakhSWkkxM01qckVtS29wTkFiNTJ5YThPck1FQ1VPNERzZ29qdEtsaExPNHVGRytUTlFWckhkcWl4aFJyTW90NGtZb3NOYXlKNkdrMXYxVHYxeG43NitiZmdrem9aZCtGM1hPckxDQTNiWXFrTFNSYUxSc0JHZXFHTldsZEtKd3kzYWpHL0dFYkNWOGorMnJuV0ZNVEsrejFhVkVyMm03bVkyT0lDb0hHVDRqd2tITHpzVm41SzZtTzkzZ1BXRk5tN1BYY01JczEwZE1xZ0pRdXlaSTZnamZSK25yVzM0WTJyTUZpWGc0b0twcnU2UjFtVGNwMFkzREN5Q3ZCbWdteEhjbExsOWFCTlpqelo0VjVKK1dVaGlWaHl4MkhhVWdpRkcrVE5mbmVmYzFYdEowMmE2TG9HeTloZE0wSUMrczhFMk5Ecmg4VGR0UEJuaUpZTXF2bVpPWFRGaUovUGxtb3E5V3dSeGZYNDVwdVZKT3ZrZDFKaVhCbmNrTzZjNzRHeEtSWjc3U3N0QU5yd050bElhbSszb1NaUUhvZnFhR2JXN3hOMXBTdFBXK0wraEl6RkU1akZaSXVhNkxveVl0QVdUSy9McVlaMkpmejZxWFZzTlVobGt5Vy9RaXpYalVxcHkxRVVjbE5xMWczTTVSSGw5UmdtMjZVa3BFNUV4MFRQWXlFbldNTlZpb1lQY1BLWDNSZ0RSbzVMZXlwWHhCMzhHaGVoSHI0akxmSkdsaHB6UWJlaWpWcjhsT1VqNmZTYWwrY1pFMFVQUUFNaEpLNkNLemJCTERWNHpqWXQyR2pDaTVqWTZGbWJYNmtsN1N3cVAyMHBiRURhNDVRdjdScnJUSGRLRVhURTZ5UmR1MGNhK2poeEFMLzJpV3ZGaGEyVzllZ2tid1RzTFZjRm1aV0hRdU42VzFEOFRaWmcxNlZFMlRMYWhLc3FaaFRKZFc1bWR0MDRZTGlRbDJ3Qm9VTkFiUVVBczRwbjUwUlZXNkt5cVlPK3FwWjBrSlVJa2VhVmJBYjFxUjErVXczU21sZnZHcWlZeHJzSFdSTm5ob3pzU3hybVd6UEdpejVsb1JrUWQ0cjZqREFtTms1Rk91R1dMTFFQYTJpTGRxSGNsd0NEcTdGd2tNcE1NKzh1YThCa1Bxd1dURGlML0NzVVF0am1sN2drYnFzQUQwczI2ZGxSS0JvR1dsbkhjRkdFb3MrNWMvbytDWnBJYURWRHlCMFVjak5xSWgxZEZ1VFk1SDdtclF1bitsS0MrNGxQYllwY1YyYjFRSlZxeVNDdEhTYmQ1Tk1URHk5Ukh5Q3ZIMDVKM1BRdEhhK0JzQk1DY25TR3I5amdudENGdTNoRm0rVE5XaVpQdVZzVWEzcmEyQzNIdnFjTmRrTkhLR3U2TElsdHN6RGRja2EvWnFWbHBDQnZOWExkdDRrVU11ZzI4ZGxvc2RDQUsxdDBFVnQxbGpNZGxpVDF1VXpYYXVrNzIzSTV2QTBkT21zeU54QjFnRFF6YWlvNnV6QUdpeTBGcmpvcUJ5b2FQV1NLdHY5ZmJ1c29ZbEM5UTlxL1p3VlZrYTRyRmszNU1hbUQ3TVBaODJDRW83eWNzVFhKV3N3R1B5MGhDSjVza1Zsc3krU0drWTVDaWc5cnhOU0ZzSlA5a3ZmQUFBZ0FFbEVRVlNYb21KMVpjWGpkaVRPbUNMYUg5WnNYNU51N2JEc0JTcXBURmVLY2E5cW5nZ0I1Y04za0RXMHdQdW1mb0xjZ1RYdzlNdmN2QkVKZ1AvbEZpN1M1aVBlcHEraDQ1QlZvejllTVdFVlFyT0UwK1JUS1hDOElIUEVvcFd6WmxZSlk4RXB1cnN1V1lPK3NEcEdpK0YzTjV4MXVQb2VSVFRJcHlPTUtRMWsya0xhZHhoTmcySXl3NWhWckFIUE5XdlFEVG1TUGNxOVUwclhzUEllRUZHbWs3aThRRVdMMnJFK2h0MUIxdEFzZUoyZWNHRnV1eGtLd2dKOTBSeDZVSGFUc3RXNlo4Ky8wNHFsZzJpSWhsZm5vcTNUS3RLaWZTZ25KTllOMlBReWxDcG0zVUVPc1ltSmMwaXRtZEdIcmxXK1JyY2FjLzgwTDF0WEZjQ0hpbTdseWVZRDQ5NXlRblZGeGNJc0Y2bkl6a2JFWXlHc1g5S2FxcUtveFJvUVVyTUdkcXlTcVBoOTlwU3VZV3VGcEV6WG12bmpTek1Yd21LRmRRdFVyWklJdGwvWHFBYlRMRmlhVVNVbk83QkdmU2xMSHRmVTFVdkVxcnk0bC9YeXgwMVhNZUNuV3FLUytMY3NwMVdzUmZ0UVRramdJTXQwNnNua3VwTmtBSlk0VFNpdUlRYURWSHZGUk1GOWpiR2hMdnV6cmlyQWNOQnJGRkdsL0FSYUt6cWhNaTJDUXpMTldnNTVMSVR5V1YyMElJcWlqMVRhbU1XYWRRbmdJQ2QyU3Rld0JaOHlYV3RHb0dMNFJ5eFFqcWNGcW5iSkRxd3BLeFRwL055NCswNnNPU2JuNW5WZUhHZG4xbGVzZE8za2kwMm42bVFUaUxmTG1xaG9iZDNxM3ZWNFNWcktGMEJvbGhLcXhsUjA0REw1eVhGbDBpUnI4Q0N3a0VrRk5SY3JFWG1IRTVwWFNmbzNiMnR5dm9hRDA1NG9iU0g2VDd1QXJEeGl4a1NxT3FKYzBwWFRlZTR5MVNKLzlDZXB5MmU2TW9ydVlPK3FpcThiLzljVmEraGtlVVlWVHQ0TENrWDZKcldCcjliQjE4RGVGVkpWVzZiUEw2aHZxbExFWFBDMXNzdE1taE1DUG1uL29KQWlTV3ZZSVZuaENxNm9UbjNJZUxOTWFjcFJMaU9MWXJ3TjgyNEVkS3JEYmw2bmpLRkx4SnBwVmJBZzN5V29haWpxUG1KREhBTkZuWWhHVjh2UUVhMTgwZWowV0ZneGp5UEVRb2gvblVCNmdzenRLS3pzUWRmTlVyZ3EraStweTJlNktrcDNzRmQzYjJ6c2RWR2R0VXVZTUhXZXFOV2txVkRHNk1JcXpIUmhXUzBIbEdEeVhoYmVoYTh4c1VUd2RoakdveGx6U1FXSVl4dmp5Ujh6bzVnRVZEa2tLdzlMTHhzMFJEcHdVK3V2NDdMSFZRRjVyd3AraTU4ZUpTakdlY2JKaDJIZFNvUjFMRlNJbFEraExGMWpUZmNyeUdxdFFpemQwSnVUMFhpZUI3S3haazFkell0OGNaRzA4Q3F6Q2l5bzd6a1hWRHVPUGc3V05LUm0yTVl0S2doOGs2MzFtUzVMaXR1a3hoY09ibHBtdFVMVktjbWR5QVUzU2NlZWF0b09aV1k2Z2VWNktHbGhPM0NDYlRRUXArTWEvQ1NIODRNeVdneEx2TGErQmo4cHd0aVBhM0VaS0JzNzBGVGRaVWhXRm9HbEdvSXZLTVptekRmWEhJMHdZaGtKNjV4eTlCanFKc3JPVktZd0tjeEVrelBFR3RYL1YwbjJaMkpkd1RweUw0OVRrY1NGTHl4TGU2NFNyeGNQbzVCNjBiaUNVcXBoSGd1eDNtaHdkU2YwSzBGMU5kVXVMaXd5ODRYUENnZHdWRTBDQ1YwZTAxMHI4VS8xWGlsU0NzcGFzV0paa25MbEZxNlVieHpZSlYvRDZTZGI0R0RROGZ3cTZBVVpmVW1NTlhNeTNYK3IwUWlsNDVxc1paQXJDdStsaDdHYkU3M251ck8vSHlNYjErMzMzUERXLzFObGYvWGMreW50VlRlc1JObHo1MkVkYTk1L3JoSEo1RHZPdlRNYTFjbmNiblR3WlI0b3F4NVRxdVFkWjI3bzNVeHhpc2Zyc2wzdlF4cjY3anc5ZTJOTWZzTXlXK1RPOWxOblk5U0xud0JaaWFML1RDRzJjUU92d3RXTUFmY0JTaG5pUER4eFBaZmtUeWN5UDhMRHQ1NWJvbnlQaFpoNCtFU1pMZkpWTGtrQnF3VzZQMldUdGlYc0RjOXRVSXhXSmpEOEtqVmVFcnBTcHZNeTlzZURjdGhoZ09aNGVndFU3VExnbGZxL2w1djNuSHVCbXhWRno3dVh0NDdkS2I0aFdaVWo3YmxuYnhUcDk5enczR1FSRTRjL2ZubGpaRFA2UnR5S2t2enRrbVZUd2c0VlJRM3FVKzlpcWlwbGlUTlh4RllpbmZ3d3pkWHlXdVVLUi9CRnpOLzYwcGNYQmVoMkhUSU00UDdnV3cvSWRXcW1BdHI4MnNjclRSUkd0ek44UzI2WVBUcGMrbG5RNHNzVjRkZ0txZ0owZWl6RE9ZL2lCL0RUUlIrOTlsbGlIek1tQkhrMTJMZUphNTZYOGxpSUg3aDU5VWV2L2JQWThtSmx0dkc5K0NtYjBqSm5qZXJrMFNLNy9ORnZJRkZlcnE2VTZVck0zR0hrVy83Mnk3OHVmME5IL0M2YU1NNUIxUlNnMElTMG4yNXFldFVTSlpVcFZvaUQwZy9xWkFDc1pkT0I0WmcxejJ6Y3hkZ2ZqcWN6UlVyclgxZ3I4aDhrdTV0Zk41OHFHZFkwOGVOa1ovQkRaY1NhMC9qUnNqT25UbVA1VWFWay9INFpmdDArcTVOWFJTVkRSZDRNUHU1OWh0RExlM3JDb1o5Rm8rczVKUG5KNXB2eFNmOTZDRy9FemFIWjcrTGxDODA1WlVNVWs1MW5UcWtwak9mckQvUUZMdUhxeGlBSXV5VnJ5SEkwUzdBbThsajRTVjUwYzFYcm9ubWV6UlhaVC9FSEFjak5pYXp2SmtHejNuUjFwVXczNm5SSUdLbm55eGFvYW5FZW1Hak9pYTdCajh1bFdVUHdVRjhJMWd6TGg3OGw2aUc2Ymo3ZGpqVlI1ak5GT08vN1ArYld1UHV4MGZmZTFienozYTNyelh6bXJvMGYwOW1aWjF4ZnV0VzJtVDg0ZnRwTDJOd2JNTlo3dTc2RzM1RjhhY3N4WTNSNUxLUWZaZngvR2tZRW9YOTViK24yRitQK3E3ZmMvNFAvNHg5VjFqWDNsWDV5VFVWd3QzVjFaVHFNbkx0L3hkS3c1OEg2RTN0dVFqQ2c3eENZbEQ2NDd3d1BCdThoQW90VGUxaDVxTHBQRVNqdXEvbXlUMEU4YkdabjlNbnRZV3Q1YU8vV0VSandIK0p2WFdFb2VRZ1FPS0hPTEE5QlcwTVRkd29COGRySFRta0xlZzRIQWhNWERrYzdReXQzRW9ISjVaM1VGblFkRGdRV2x3NUhPME1yZHhJQi9pN3VUaW9NdWc0K0FwbTJEemNQZnZ0REM3ZUN3SUQxQkg4cjVVT1p3NGpBQ2J6TkY2NkFRRzhJSFBucDN1U0RkRUFnSUJBUUNBZ0VCQUlDQVlHQVFFQWdJQkFRQ0FnRUJBSUNBWUdBUUVBZ0lCQVFDQWdFQkFJQ0FZR0FRRUFnSUJBUUNBZ0VCQUlDQVlHQVFFQWdJQkFRQ0FnRUJBSUNBWUdBUUVBZ0lCQVFDQWdFQkFJQ0FZR0FRRUFnSUJBUUNBZ0VCQUlDQVlHQVFFQWdJQkFRQ0FnRUJBSUNBWUdBUUVBZ0lCQVFDQWdFQkFJQ0FZR0FRRUFnSUJBUUNBZ0VCQUlDQVlHQVFFQWdJQkFRQ0FnRUJBSUNBWUdBUUVBZ0lCQVFDQWdFQkFJQ0FZR0FRRUFnSUJBUUNBZ0VCQUlDQVlHQVFFQWdJQkFRQ0FnRUJBSUNod2VCRXVOWGN5M1Y1T0dpekVybGhJVERqb0JrRFp0SkFURW9TTVBDUDN4T1FYUG9FNjQ3ZXg5bngrTXBKT3FjVUcrNjRhMnBuRU9YTUJELysrN2IvUDBiVTkwTDk2L2tBR3N5ZGlsbC8rSWk2SlJMSlIvR0JDQ1I5c1V0Z0RqQjJFYUxySU9WdkhnYitKRnEwdVlrWTQra1VnOWp3akRnNlJxSktvUVBoYk1wdnc0dFhVM3dZZVE3WUUzNHgvS0VDdHhIOS82RFBIVFhqaW1CZVY5RmE3TVZ4dVlUSmgvL05sanpjQ0p4NzZKeGJ1L3FQZ2tpcEgxeEMzc0FKYnZRSW04M2tuY05xTm9zQ1BKRW9rbnIwL3VLTmNWY3dyNWRqSkt2MmV5MnZrVUlKMGRndDJWM1FtN1hnS3JOanFVbjd2ekt2bUpOS2JjVGtHNU54eWlJMFBWY3ZRN2gxYTNWc3lPbGRnMm8yaXhHVS9KWVppN2FWNnhodVIzQmRHdEthb3hOZDF0eWhMR0wzY3BlQ2JsZEE2bzJtOFVBeVRsdEdINTBYN0ZtTkdHZVkrc1ZqMlRQdjdqN09yNTRUNjU3NFIyWDNEMmdhclBSLzkvZTFjZllkVnoxKzlack84N2JEd09OMjFTaDc3VVZWUVNWM2xaRmtWVVVkcEZvazBhRnQ2M2lqVklFYjBYckRZU1BhNG9iTjZqaWJZdXJMQzd0V2lxa0NLbmFSYTFKaW9UZVVpRDhBZXBibENoSi80QmRrSW9pK3NkYlVyVXBhcXAxays1ejdCQVB2ek5uenN6Y3VYUDNybU84Y2V3M2Y5dzdIMmZPbkhQbU4yYys3dXpibGxMTEdRMXUvT0ZWaFpxUjF4UTFHY3RjM1luZE14UlFzNlRVRHpQbXFDMWZWYWdaSHFBbTB6MkZpZDB6RkZCVFUrcDhScEtsK2xXRm1uMEQxR1M2cHpDeGU0WUNhb2JEYzZ5WjVLcENUWGVBbWtLZ1pBcDJ6MUJBRFIyYXIzdk5qK0lFL1dyYVEzVUdxUEY2WjV2bzdoa0txRWxTcGVZOVlZWXZYbFdvd1I2djdrazNpQlpaWUJjTlJhaVp6SjZEaitONDh5cnlOYmpyVXk4eTFDRGZzOEF1R29wUXM1azkvbHhidmFwUTB4eWd4b1BHTnRGZE5CU2hCbC9vL0U4dGJVaDI5Zmdhck5VSHZtWWJyTmlpM1RRVW9XWUlIYk5oV3gralEvRVFOWlVuSHVqL3dlMkdadXhiM3pqOHlFd2RxVnRuK3ZmOEhPZFdIMHFQZnRsZlZDUDdsanRhOTdtOHl2ZmYrZWQzUFRDZEpLT2ZtZnZ5UWE1VitoeHFaVkR6bHE5OTQrUWpSMUhybVpuNzMyVXIvOTJaOU9oWE4yd3krY0UvZitIVXgzOGQ2YUhQQkVKVjN6T2o3dmxza2p3Mmo5SWQ2UEdUWDN2ODVKbVBXczVvYU9zVEswbjFOMHhPaGwzbFcrODhmTmZNbENVTzlkOUdMSytPamxhZU9LUHUrNU9NamJLMkpLcE00MGxncUpCalB2M3RCMkJaUC94S2ptYWsvV0F1VDJjUWFoTFVuYkRGZStoQ2FJQ2Fha2YxWjVTNmw0bFFpRkJQa29kVlAxWHFRNVE3MGxKeitLQ0ZUQmVld3BZZWVkSzdOQmpvL2ttbEExTDA2VWovNkQwblRoeVo0Kzg4M2JrakowN01wQmxMSldOUHQzUWwvVmdINXliRmNGL3V6V2paTm5hYlVrZVJ1eW90MHlqUU56ME9wQ1RVVmwwS2twOUkxZkdUWjlSdkQrblQ4QjNvQWZYY3Q2WEtiZXJjblhlMStxdU5DOHd4eTI0ZjBmb2ZyUUw5aThXeThwbklVRWV6dWtBYW14RHdRbTZtOFp5aHBGN2grdzI2Q2Y4UmZvM1UxbDZPTXRDb1dWUnExcGJ1bTBZVUJ2WHUxNHgxMUlzYnlTMnArbFZOaFVLRWV2SmMvL1lrK1NsdHFFcm5wZldrMmxiR25KcnNIOVM1ZjBrcWY2L1VhZVl0cVBuUGMyL0ZuTGllNEZzZmh5a3E3M0w4SU5PYXB5V2hRckpoa3lKYnlXajZzWU1kOVFwVHZVTjlZQ01abTNTUWxlNFphMzlrbmNZZ09VOGRoaFNrVEpLYjA1YSswTEFEUFZKcVQrbzMxT2RRdS9Md2xwblFBM1loYWtMOUM4Vmk0ZHh6dEszT2ZlbkhudjJpdW1DdEVmS2lDY0xYSldjb3h5MGVHOU9ha1hZdWhKUWtjUHg3djBaTno4ZEk0elJxdzZBZWF0YlVqMGgrZkIydkUrZHZuMnlEWDMwcy9SU2wyblR2K0xzdkVRSEFNRVZaT2d5cnJYV0t2TUc4azZIRDcwTzE2VXA2T3Bta2V5alZoVE5JcS82anEwVDJYMXFOUjRtTkM5V0ZoWVdPVW8vaXRiQkFSVzgvQ2JLdDVORDVaSThzeHZZb0xRWThtTngvSGp0OEIvaStZSVRhNzg0VkpzOXRhTjdBN3pGRWRxREhGMDZCazBITkh2V0h1amFneTh2QWdOMkJ3eERWR1NDbmY2Rll6TlU5RjlXNUZVcmRySDdYWk9aNFllT2IwU1ZuS01jdEh1dEMxQ0RrTHJxaU96TnV3SEhTcU1HZXpUbUp6a0dVTm56VUhKQUpiRkdnTk5ZR2FnNHhybXBLclZUU1ZXSlpVZXBsZWxPb3RNV0FheTd6TWFEbVJsUnJtYjArMHZhb0NGMjVWZGRWczQ4MWcxV1RXMDJCbWs0OWdjeDh4MjdOd050QWdjbWVnL3lWdEU0SkNHV2Mwb2k5bnRuVXFNSEtwbDJxQnp5NVFjMmEzQ1FmWnRUazJWV2FEalZSL2FOaXNjVHVpYzZhNHRRYis5UVhVVnZtRzA4Q1F6R0xnaWRkZE1ENm9IWHVCSUs2ajU3SDZ5RXRtVmgwenBacDFKQi9ZL2tnb2NaUEJqV0xZamNNMncydTNvTzEyeXM2anQ2YTNtOTZydW11Nm54SEt0RmllNVZya1lPWVhwdlE1NHI2Z3luNVFHa1lVRm8yWkpsWGFJeEp0VFdDWVVIekFWVWRVdzl1TUgzTE9oc3N1SUdhL1FiQlRWRzlwbGppQkpBN3huWEs5UURvR0RVVkIvNlc5alVSZGpYYjRVbFUvNmhZTElsN3RzVnlvKzh6OElud2lqUWVHc3B4ek1jT3FRdi9odHcxYlliMmFwNkFjdEN6bmpmeGFUUnFZQmxaZkNRSHRLMTkxS0JycDdrS2xEYldIbGZxYmVjNUV4OGtMaElTS0tEYU9zZUFBVk9KVGhIRkE0SFZCd205VFdIWmRoV1N5UUpjWjMwTjJ0aXFnVFc1Sm1vSzA2YUJiTmNuUks2ZWFrR0IvQTJpaEJ6NmhjZkl6dlhBeVRtalpvODZLOVhYTkdvaTdBRGxLVU1VMVIvN2pyeFl3dFc4YVJSeUZOYmt5d2dSWHBIRzEzejlBNlpoc3IyMVFsbWRDWHJhUHFPRUYraFRrL1NjbDQyb1JvM3JSUXpEV1NLQXdLWXY5Q0ZnbmZJUU9ySTZHbGZxU2FNYklQY2k3WVVwMUdRdW8wN2QwRmw0N0ZYRzA5SW5yM3VKN3labU5WMktkdVoxQkkrbGl4TEx2TmNDWTNUVjFsS2RmQXhySkQ0blNlQUpqOW1hV01kNVFwM1crZXdpZEZRb1MvV2cyWlJSWS8xVGtveHIxRVRZd2FkUHNRaHgvWUdhdkZoY3dUNmg3em9uV3FZVFlyd2lqWWVHc2h6emtRUEdyZXRlR0xXREtTUmNzdDBabERCcXVuYnVUN29UUk5Id1VOTVdEMC9aeGgrZ3IxcDF3MG81V25UQ0ZPZXVlYjRORTZEcFRqaXJJN01nR0h2b2w1Z01mTTV5REE1b1NtS1pkMmlNbnRyQ1Iva2srZDV4YlZ3MGFTWkFMTDhjN3JENkVkaURZcDRxVkJRdllpbmVNUUtWNmtHcmZVWk5UWlRBcXA4WXhkZ0J1RlBFSHFNeHFqOGNWMDRzcHJkUGpBYXp4cVFaUVB2ekNLOVk0NkdoTE10OFpKT2JxR3E4ak9TMzNLYkc2Q2tjYmNVQ293YkdrdzFJYzRQSUdnNEptRlhNWElSQkp1TUFGZXg4a3JwOU83SzVPNkN4ZEJxNDJRUlFveWFJdndRc2RPemV6amtuS2RYdjBCaTk3TzE0aUdSbVZ6QzN2T2lMN0xSaEE2R1dLWXB5azRQSnlxRm1XejFRUVZEVGMvamVRNmlKc2JPb0tkQS9KcGFWaVNOWUM4dXNBTTNJaURGZXNjWkRRd1dNL1dTSGJYT0RIa2JEQnFVK1FVbWNVWVBPTXhhdDhIaHMySTRteC8rS01JRks4enFPbnJBYnRaWmswbHhrK2dvTXowb2xXc2FZcm9HeTRuNjVGQmJoQnJIV2tJaXJwMk9oTVhxZVBDQkFrMmEyQXkrQnZsNXZUeGhHb05BWVFlT25oVGN2QS9XYWVsczlRTzlRWXdlUEZqWEd6cUttUUg5Q1RTaVdpR1RlVUcvYVJEdnNQR084WW8ySGhnb1llOG1xR2FEN3RPNTdyUVU4a3UyampCcjYrNDFWVFRqQ3c3WGhVTk4xcm9UMlFMb0RhQWNqSXlKcHVZVUhyRGFyMmRTRVVLZVdoRHVVRGR3aExMT3VhWks5bm5QaUhINkd4dWhKRzF3TVZ5aGpSY25tQXlXcFlNbEIyUit6M1NtdVhhWUhxQVExVUtuT2xaSXF6Vmt4ZGhZMUJmckh4REk4NWRWMFkvQzdiTFlZcjFqam9hR0VZLzQ5YkV6ZDAzMDQ3angwbmpTZXc2akJNdGZBWWY5WlRkZHdxRmswRHA3eTBVVmNEbXZ6OGg2WkxiZnd0YWlCQnZOVWdVTlB1QU0xMHNXbXFHc0plN01tSzNpQlZkM1BBck5sUCsxK3g4Rm5ucm90UFh6TnRLNkFQSDBnaUVUMUlMTW8wd05VZ2hxUXZtUnFKWDlMdFNQc0xHb2c5RHpSY0xENlV4M2hZY1VTS240ckdXRklQbjA3NVVWNVJSb0hYWjNveTBObGcya216OUs3V3pCY21TYjZOS2hweUVxeU42L0prQlpla0kvelVJQTlFTTlXTUtGdWtZaGJNcnZwYmN3c1pSRUtWM1ZFUDJxQ01hREdUU0s2eUhWYmM4SlY4R05yZ1RIUUJmTit1WXNIcUpFQzJ6MlRTcWxQU3FkeGFaa2VvQkxVd00vU0p4SVhJdXdzYWdyMEo5UUlBeXVXWk9nM3htVzR2b3Z5aWpRZUdpckRONXBJajFIMjBzdlJ3dTB5RFdwZ1BaN2RGdGMxZGNPaWhpYXYwOElCdmM1TmdINVdNbHZPRXRiWG9OS3FsT3RGTkdNUTlRTjNpSTBQNTFSQ1kwbjEwQmk5REd1aG9uY1dOWFlxdE4xVGcxUnE2d09zSVZjczB3TlVnaHBNQ2doMy95dFh4TE5HNlN3N2l4cVVyRnBDMmtTWU1aaTZHZHFLNWVnUXcvR1R4WlVwaVBLcUlUZG9QRFJVaG04c1VlVTFWdE11VzJORTBUeURHZ2pMVmphSEhBNDFkRzVjbDZwMk9vVzFweVd6NVN3QnE1MmxiRG9mcWt1NVhuUHk3aFdvRVJkbVNzR1JWOG9IZ3FuTDFnNk4wY3V3RnJLeC8zajhaQlkxZG0rRTdwblZaUEtKNy9jZGJrcjBvR3FDR3BvcEtKelQwd1lLSXV3RU5VWDZ3OWZreGRLeXlRUENXcmh6WHB4WHBQSFFVTUt5OEgwRGJ5TmFGd3NwaWdvTWF0Q2R1cHVIempPaFF3MmNnZnJ3WDV2d2lIaUdFbXVUVGl1dVNaaUNOMGpXVjdteXBsa09GeTJHYzU5WGVobld6T2o1aDlBZ2drTmV0SHVXTkJGd1dwZjJTL1FnTW9zYXNvUU9IeksxbDB6YXNSUFVGT2xmanBweEdVVWlvUVpueEpiNXhpOFpOZVBhcTFYY0N0VzJXUll4cUVsYXZNYkVuMTNxNEZCRDA3a2Zma2VYbDFpYkttVTE1U0VXUVUzWEhJeDFaN25sM0RNMFJpL0RXcE0vaFFINi9wL1pLRVhOVUdvME9YZlFORk9pQjFGWjFDVHZNTFhWNzNIdFBEdEJUWkgrTzBKTmNBSlJ3Q3ZmZUdnb28yTHhxNkZicXJvVmFqRnBVQ0tvUVpNRW1NMHBMbS9ZcVdRWXBsb1BLdWs1WjFveUl6TVV6YzVlSmZnYW5xeUJtbkFTUlpsR2F0RmlPT1pyUE5ZUW9yS0k3eFFiaUpTaUJyYzJUR0RzbCtwQktqclVWSnFtdHZ4cWFvNmRvS1pJLzNMVWJQcEtVUE42cGVNcGJHMlphM3d0T25Wckh2RkhSeTlsRDF3R2FtcDhBank1d2cwMExnODFBZFNzcGhIVXdPL1RyRmk0R0M1SHpaSlNIOU5TK3dhUHpsQzRzdEl4SFcvNjRaSjhUVkw1QzFOYm9CK3lFOVFVNmY5cVVGUElLMno4VWxGalB1TGZjQm1vZ1d3MGljd3hhTHd2Q3VRZ1BhaWI4aEpyMDFneitLTUtvT1lsWGdRMVpqbGN1Qmd1UmMxenN2M2JnYStCTE0rL1YvZjhOQ3RTb2djUk9WK0R4TmdUTGFwdWw3UUJPMEZOa2Y3bHFCbVhKU0RMaDJjaHIxQ1hTMFdOK1loLzQyV2dobGJxdU1NcGg4c042MnRvRGVnQndDaFRZbTJxVkxkNjA4N1RybXRrbU5yU3B1YS9yL0RRSURSR0w0dGl1c3BvNU51QnI2RldmM3dSMGhsRlMvUWc4Z3hxNEJSdlJXMzdXU0JnSjZncDBuOUhxSEdRcE9hVFFsNVU2T3NTR29yS3R3djcrR0IzNzJXc2hxRVBEcy9venk1MWFGalUwTEhUcXNsMXJ4SnIweDZpN3FqSHBUOGp2aWJwNlhWNDRXTFkrcG85cHFOQnYrNVlKNGZrQ0drbjZ4cFQ3MG1JeDlFU1BZZ29RQTEyM0REVldjTkp2eHc3UVUyUi91V293V1FlN0x3TGViRUlydkUxWTNNeGxDOWlMTDdHMkIvUExUVmp4Tms4V1EwbmsyU0sycklwZGFqSm5QTFp1aVhXQmpwOHFBRTFmQ1FjUXczc2hPVnc1N1RsSFVSQ1l3U282YmhEU01FbU1ZaXNheW9mc1p5YklsNkpIbFJCVUhOb1Fxb1A2L09IR0R0QlRaSCtNYkdFSzcvQk96amxpL0tLTlI0YUtzczRuMnF6ang0M0I3ZDVndUljaTVvYW1XS3BiaWdiMXRja0xiTTF6dkFvczNhYWNlS2I0ZzlpcU1GWWVoR0w0WU1aL2w0aU5FWVdOZUJveHlhajVwOTAzUWhxdk50SDZKdDVUVmFtQjRnRU5UM25YNW8wQ0dMc0JEWGt1UzNJOUNVME13Rkh4Tkp5MkFlNTluV2IwcEVZcjFqam9hR3lYSElwV0U3bjFmUnVKRmU4YllaRkRTNUJuRXRhUXR0d3FKbjBqb0dsbU5hMzA1S0k3THlUeGN3blJuQ2IxZFF4MUdBNTNFLzI4Tm14c1BUZm9UR3lxSUhZNW1EU3pGQ2p2Q3lJZEU5VjFqL2ducG92b0dWNmdGUlEwelVkajZ4OWRKd1lZMmRSVTZCL3VhK0JOZHdISERaRGpGZXM4ZEJRWEx2d09VeEtJTlM4bXdLRnhFR0JSUTJCL0FjOGo0Q2s0VkN6S1o4ZWRjM1JYOUN2TW10M0JTZWFlbExjVlF3MWhMQjY4V0s0WkYwRDZXUXRCb1BERHR1aFpsNUxRNDlKQS9veVBVQnFVV09OZ3dzamdHYlZ1Q3VmblVWTmdmN2xxRUZ6QnRERU4zbm1vTDczUEtzVCtzRzJqRFcrZG1uckd2RXhtL2FHazJ1a0xHWlJRMDcxc04zZ05CeHFodVVyZ21abEx2NlhXUnZtMDJkMzNEd3NzYUZqVWRUMFlLZUc5VnhjdzN0Q2xEb2xoNDFQQWJubndydHVaUXJtSmFpWkpUNDZOTnc5SWR0eXpHZUMyS0xHem9TNE1JSlQxYXJ4bjhSUDJGblVGT2kvQTlSNENvRnhhMFZmSk1qWk10WjRhQ2dTYkpzd2FWYkJ0WEFoNWVxTW52cWNTL2l4dGJPU1dsUXF0UmIwVUlQbHNMY1hOTE43R1dxd2tiY1RCMTBNTitNMGlocFkrR0x4WXBqMldLc2tvL3oxRE5McklyTytmREpyVXRpaWxxREdEZ3BjZDUvU3RjcjBBSkZGald0MmpKeDYxZHQ3Q0R1TG1nTDlkNEFhc0hDVzB4ZDdZN3hpalllR01tWXBlcVVHOVVBTm9Ca05TNW5WbVVleVpGR0RScmw3cU5SRERjMGdqbTFuU2xjdXRUYitNRndUMGdNSGhXYXdSRkdENWZDUGloZkQ5UGNNRThSbHIrbHp5TGxPYVE1UVREU0F2VXRRNCthWW5sazhsT3JobzJaZUdoMmxqcTNLVUVDdXNMT293UVdqbVA0N1FBMU01R29PNitWZWhGZXM4ZEJRSW0zOERhdFA2Wkp4MlJuazZPZ016eTNtL09LbXJBcm9mckRydXpVM1E5SE4zR05TWmRSTU5hWFd4akhLcWxTQ09uV093eVFSTWRCdzhXS1lGdDdMVkh2Y0lLL25nNWpnTFJwMDJ6UnhEQUU1Q05IVnNOT3ZzVk05Zk5UWWVXS0kyb1JORCtxbThCQjJEalZ4L1dOaUNROTVUM3JMNFo0ZUtSRmVzY1pEUXduRCtCdTlXdGNsaU16R1NiQTJvWEdZRHhVNUpOWFhSVnpmTFhtTEdaeSt5cEZ4Y3NqRUFOQlo0WmE2aVJFU21KRVBmRWh2d3NkTGZTZ2JRYzFpL3B1bThNWWJKK3E2cWU0MFozWXpxTmwwRHYzSUpvM1NBK3hRdkJFTGEyb0dhSHlLV2VEK3UvbXdYS29INFk4dDEzWFFIcVpoRkdNbkhhZi9naUdpUHo1NldFY2lZb2xJOHNhdTBIaFZMR3Uwd0JGYnhob1BEU1VNNDIrWWtVSHZ0NWNsUlcvNml4TlgrRVpCbkw0OTdYb1VIU2s5clJmeGRWT2xEWE5ScUZsNDBJYlhEanAwZ3RpcVlSdkVCRFdsSzJsay9xK0plcStldDQzM3NrMVVrQ1lmeGRjOEw4Wi9WV3EwZndGYXJpUzhYS2NOckxDQ1VOcExnSkUwUGlyZ0xkY0Q2akhDdXE3ZEhrM1pNWFpveWhnSTdrZFdnNTcrTWJGRVRIbFhXbXFMTlVxR3pWOGY1bm5GR2c4TkpRemo3NDVzblNDZW03a3p0TUJUMU5mY25HSnlXRGVrVFI2U2xLSnRlTDl1OHZHN0h3S2htMFNmU1RmRTZUdkpoQ0ZkY25NTi9vci8xemkzS2JXVEJDRHRyd2hiKzRaZlg3V0pmS1NqUlI4ejBLeTBsZm90UjBTZm9UNUl5VXBuQWxKUEo3d2JneW5zc1FlRTBtYUJWVldkYTk0a0VrK1c2a0hxYVpHN2R0S3V0R2hFeGRndE9WOGExVDhtRmt2a1BkRlo1cmNrRnMyRmpqeXZXT05ZUzVGWEZFTjVIQ05SN0ZETUVBSXJ3WGRBUjk4eVpKeTVvcDg5ZzJ5RTQvd1hkbDFqeW5lZnZJdnp2M0xudTVrWW5mMDNGRHZBSGZUTXdsOFJ3ZjBMbjAvR0ZrNmgyL0JySWd2cnlmY2ttN2RyM3pIOTlvL1NWeU1MZDFDMS9sY1dmdDdKUURGSWw4M0lwakN0QTVVM2FkLzM5TWsyOGJqL3pqL2FNRVE5ZysrSFVZNWw0eWtzbFVldFVCdStVREJQVXpOSlJsdDZMaTdYUTlUN1JWZ0lNNVF4MERlMTc4eXhNL3AvOUU0ZUZ6bjlDOFRLS2t1cFJXTzViOXBsZjQ1WHJuR3E1eHVLMHRzRjJQeXNLWTg3RkNwc0tyVnNpTnlMK2xzSDdBZ1E5cHJSYkxQUkg0YjRTYVVlL1BwYmJqV3VyQ0gxWHRZRGpsTjEyaUp6TVBoRXBVLy8rN04vcGhRZkRDYTB1T0xnWmtMbW54YTRTQzRkYTZrTFgzOCtYYVlVOURDQnU0WjhETVQ4NDhjNy9WWHR5c2dQa2Fma3NJSytOdUVGeUhxK212N21lcEk4MjJFL1ZLNEhPb2NETE5SVnB4L3Jmd2xqK2FlVnRsZU9YVmVJVDVPa1NSTHFYeUFXRS92UGFrdjFQL3ZmMy8raStrdWJHL0xLTlU2VXZxRnN6WUlJTkROaUFxUmhmMGlkNkMrc3BmMmorRld6STNNcG82WnF2dTZsOUZ0bkZJN01DV29TOUQzQ0JaZ2NvZEVuQ3RRajFNemhaMUErUGpNSDM5K1RiUEZxWEVuOXNoRmlXTTBkQVMxK1VpMlVjdkVWUXhKL3ZZbmE1cFY2azBXZVNkMWhBSDc5amNLN3FPNVQvVS9pT1dTRkFtcEVxQmZ3NFdpQ0x2TWRUWlg2dkEvY2dLMEFBQUYrU1VSQlZHNm9YQTlXNzhnTVdhaUhyMlZOL1VOekwyMVE5Unc3M1JTcEo5MFI2RjhnbGhZbCt4aHBhNVZJRndrQnIxemptczR6bE5RcmZOOTJyeFM5bVg5alNaTC9uKy8vdVNPOTcvMEhMNUVqS2gxOWRLVzhrdno5YkJIbExZK2tkek5nWXhTVnQ5K1JmdGovUTZVWUVmTDBkK0tiMzZ1T2Z1S3RCUlRiWnRNMzc4cWZ0dnIzZkpyTnNBTjJPOVUvMXk3OWVPYng3RHllNVZYUStQYUd5alh6K3M1b3JiNis1UjlJL3hwWXdQdnMveHEwUG1qeTlXbUI0VzBYdzY5UG5RWlNYMmtMMUM1ZTZSWUcvSzg5Q3l3ZHUvWjBHbWgwcFMyUTFxOTBDd1ArMTQ0RjNqU256LytHN0tuUXRhUGFRSk1yWm9FMmZ3RFp6NGVNVjZ5WkFlTnJ5UUs0QUlBVFpSdzF6MTVMV2cxMHViSVdvRStxcDlGRVNvOUJHRmhnUnhhZ3IzbDEzQTh0K0U2L0l4NERvdXZOQXJpaVJJQnBtTXNrMTV2NkEzMWZuUVVXKzUraUQ5UXJyNjcyb05iMWFZSDl1QzQ0Mmd4K3FPLzZOTVZBNjUxYllCTC9lWkQvOWRqTzZ3d29yM2NMakwwbnZidCt2UnRoOS9YL1AzMGJGWTl1NXZrdUFBQUFBRWxGVGtTdVFtQ0MiCn0K"/>
    </extobj>
    <extobj name="334E55B0-647D-440b-865C-3EC943EB4CBC-5">
      <extobjdata type="334E55B0-647D-440b-865C-3EC943EB4CBC" data="ewoJIkltZ1NldHRpbmdKc29uIiA6ICJ7XCJkcGlcIjpcIjYwMFwiLFwiZm9ybWF0XCI6XCJQTkdcIixcInRyYW5zcGFyZW50XCI6dHJ1ZSxcImF1dG9cIjpmYWxzZX0iLAoJIkxhdGV4IiA6ICJYRnNnQ2x4aVpXZHBibnRoYkdsbmJtVmtmUW9tWEhSbGVIUjdRMjl0Y0c5dVpXNTBJRE02SUZSeVlXNXpabVZ5SUVOdmMzUWdmU0JjWEFvbVExOTdYSFJsZUhSN1ZISmhibk45ZlNBOUlGeG1jbUZqZTBaZmFYMTdiV2x3YzE5cUlGeDBhVzFsY3lBek1uMGdYSFJwYldWeklGeGxjSE5wYkc5dUlGeGNDaVpjZEdWNGRIdDNhR1Z5WlRwOUlGeGNDaVpHWDJrNklGeDBaWGgwZTBacGJHVWdjMmw2WlgwZ1hGd0tKbTFwY0hOZmFqb2dYSFJsZUhSN1ZrMGdZMjl0Y0hWMFlYUnBiMjVoYkNCd2IzZGxjbjBnWEZ3S0pseGxjSE5wYkc5dU9pQmNkR1Y0ZEh0VWNtRnVjMlpsY2lCd2NtbGpaU0JqYjJWbVptbGphV1Z1ZENBb01DNHdNak1wZlFwY1pXNWtlMkZzYVdkdVpXUjlDaUJjWFE9PSIsCgkiTGF0ZXhJbWdCYXNlNjQiIDogImlWQk9SdzBLR2dvQUFBQU5TVWhFVWdBQUJQUUFBQU1jQkFNQUFBQWxKK1k5QUFBQU1GQk1WRVgvLy84QUFBQUFBQUFBQUFBQUFBQUFBQUFBQUFBQUFBQUFBQUFBQUFBQUFBQUFBQUFBQUFBQUFBQUFBQUFBQUFBdjNhQjdBQUFBRDNSU1RsTUFFRlNKcTkzdnpabDJ1MFJtTWlLcDExczhBQUFBQ1hCSVdYTUFBQTdFQUFBT3hBR1ZLdzRiQUFBZ0FFbEVRVlI0QWV5OWVaaGpWM2tuZkZYZDVWNXFoUS9iZ1JDWENCUEdNR1RVeElUUHlUeEdSWjRrZGp3aEtoSzYvY0VYVURIUWJVSWdLZ0syZ1pDb0VzelFZd0lxd3BLWkpDQVI4QklZUmdVRUJzajNvTW9UQm9kTVpsUmtBUS9NRXdreW1DVTQxZEJkcW5aN09kL3ZQZnRkSkYxMTE2YXE5L3loZTViM3ZPZWMzL25kOXl6MzNLc2c4RnpteVQ5VDZ0ejBPOU1xNnQ5N0tlemRPZ1MrZmFkNC9zcWxxSC9zTTArSWs2OTdrbEp4ZVA1U1ZPMVUzc2VYaFhRWGxxa0c0MEpUY0tlcXMzUGwvcS8vMU1XOVl3dnE5QmtoVHBZNlN4ZXRPZlA3cXRmRWg2V0s1dmN1V3RQT1pmd0tOZUdGTjl4ZEVodXJxTVdhYU85Y1hYYTI1THp1ek5qbG9jMnYxMkVoM2hIOHZUaDdzWm9uNnFqbCtnZnZ1RldJMzRTT1NmSG94V3JhdVh6ZlFSUE9meFRsVC95NGVCQ1g4bDZpWHVicVcwb25QNkRIcEw0WVYyS2MweEVQOTgwNnFFQ21LSjRYWktDK1BXaE9KVDlKekhzcmpVOS9XeFF3blllR2tIb0gwSVJmMTgxL2luaC9jT1NpMGJnNERMYzAxeGgxRU55L1RWY0tTZC96My8vaGExYzlnTkZRaU92KzRURlhQZkRwdDhCSHQrVG11c3RGWjVxd0p0cGNqTXNMc1pGVkdVZEtGNmFENnZCUmI3SW94Q3R0Mi9QcjdiVTlSTDNKc25qTmovN3pwOHRxVExLdDdPb3BpNDZaMVlFVUcxcnVXK0xpaDhXdVJWVUVCbkVNdXVKWVY1RmVDZDhRb3JOaUJBNklGMCtLNGFOZVU0aHowNllOd1loNEZmcXBiY05EN21tS1oxQUxSa29walV0SnZOaTBHRm5PR2Y4bm5kZEVYZXAxUW9nYXJlaUVXTGtZVlpUeE9TNWpydlBsNGFNZW1YeS84VjlDZUtpb2QrajdyZ2VpdmlQaXQxVVVMUG41YUdKU21BWkI3Y3BlbGdseHdVUnYxdldvRUZub0tvcjFpOUpZRmNLZmZrN2dSaG5RNnZYQzdhS3FOSENtdkJDaHZodERHNGFLZXFPaDZvZmJuek5wSTJqVVVqZ3RNZVQxWjltalhsQXhZMjlpcm91Sm5CR0NzajN1cEdlNzB1dWgrWG5XRjI4Z1lyQVZiaS9jZk0xYjVvOGF2UURUMWVHaTNtV0dYbkdNTWlWTHQ2S2dxVlUvTnlubXJFalpwOTVNeDhadmtpZG5aNUlYb3hDZDVCdTlRSzVYQnFOZUQ5d3Vwa2FENThuNUFNdnNHQW1HeXVwTmRhZmVFZEY1cm9Za0w5S01tUlBlbkQ5RXZVUFNSQTBPYi9jYzFVdVpQcElSWHd6cnJnOXE5WHJnRnRhOFJTR3NpN3diWFJaQ1VlMHRLbTRyMUs1MXA5NG9tcktzeW15bGF0V1lXTFZWTFBzMzVaRk5mOEJURWFrbW43WTZJUSttcnRFcElxSUdzM285Y0F1VnRWVUI2aHlIdGlxbE1selVhM2FuM2d4YXAwZFE4cTcwUlhIY00yNWxuM29UbTM0MzFpOWx2NllveENPUnhtQ2JaakRxOWNBdG9ucHJncUJaYk8yR1htcHZUV2xib3JYUW5Yb3RJWVIrc0RrRjc3Rys1Ui94YkVuWnAxNG1kb1AyMWRWSG9INEp1OVMwRzFpTDZNZHprY0dvMXdPM2lPb3RDZExnR3IxOWFKdXp2U1dsYlkzU1VtcnFMZmF0d0FHN2swZVBFLzBoc1pUdG0za3dnVXVoSGdiWCtLMVFHWkI2UFhBYnJDVVhKMDFMaWxvMEt6WTcyOUc0M1JzZUMrOE5oU3BLcG01ZXhjekEyOS9xSGZTZTVaZEQxS3V2aERSZmV1QlNxRmRQR0t1QzFtRFU2NFhicGJldXY0WVdPaVFiRXlzT0UvV085cUFlRFV4THFublUwcFZZUzZNUlI3MGRpM0tJZWdXdEo1cmpvc09YUUQzWWhvUkdqdzVHdlY2NFhYU2pCc2lJMjhlYldKdU0rV0dpWGl1aEYweERnb0tkeXpmUTBsVWIzODF6eU52N0s0ZW9sMS9zbHVjaTR5K0JlalJXbllrVmUyQXc2dlhFTGFaODB5Tm9xdWZOYm96K3hqQlJyOWlMZXBQL2FsbzNxb3FuN2FaOTNhK1hlUlBmTVBXYXM5MXpYVlRLSlZDUHBucng2b3dOUnIyZXVGMVVpd2JLUkk5anZDSEc1SjBhSXVvZEZMMm9aMW9VQkxEdjNqek94WWQ5VTNvOVRMRmg2dVVXd3BLWEhMb0U2dVhSYlN2eENneEV2YlM0eFl2Wm5CamExVXRZa1k4T0VmVUtLYW1IbG5xMFNnTmZPVFRncHNreGtNd2xVSytJeHJUamhSVVR1akl1cFdQUzR0WlZ3U1Vta09XZWorczQ2RFhzaWRjWGIvNkFteVE5OFArOTg0NWIvaDJ5akx5NWRQSTF5eXJ2cDI3dHZQQTZvK2Fxdi9uQ00rOHVJc2ZJVzNBNjJPVlU2Wm5QM2RKNWc1VU5Kci82aFd2dlBwRkYydFVuUEIxSzlvblhsMXpSb1lLZDJoOUJDN3B2cmlnOTlFdFBubzY1WUJwZk9VUzl6RDg5L1QvZWVPc2NUbksvK2RRSHBrMytzWjlFdGQ5blFqaWszcjA5SDcrenRQNjY1V0RzNVZvNlFqMi9zY2xsMlZKb21wUTBlU2c0NmtWZ3Bxemg4dFBpWmd2ZGJFOFRqVmlJSy9YMjlPL0ZFeHMwVkI1Nmd5RDFvT3pySXlWeENrbFp5dnpmUktja0JQR1JIRzRudU5YZzhZaUR4SktLMWIvalpTR0tRcnpVOUYyT1pFUTJDTjRqZGZ5aUx5eGZtakVLRWdzT3Z2dG1tVi8rZUxNMFg0djJ3NzY3c3lmM2JvUnJsU0NQcUhLSWVoaWc0T2FDVEIwTk4yMDlVQktkb2hDL2JCVjBiVS9tV1dMamhodUxuWlVjN2VETDAwRlNvZGxWRFRVMnNTeGJoanpqNXhyajRwdG5qRDhLY3hDRXkwK1BtOUc0NlZlaXlXeGNhK2FQVE53bnhNYWZCNWsvdFZzVWhnR1Q1WmV1QmlORnVVWjVnbmhiRVB4WHV6OUlPa0c5RWJIeGUvLzhhWFJOMXVqQ2Rhd28zamdkL0dEQmJ1U2JydnBtQjVZUWQrS3NFLzZPRU04T01wOFg2NnNVbDFSd0VEUmxXZXFuTi9VYVF2eWEwWTJlalQzQk1XbmV0WnhJdlM5dFBBa0xURmtuSEVBOTl6K0Q0Qi9kYlJkMGJVK09RQW95NzFtWGQwQ01ldUhHR3VyNVpYa1ZvK1NFeFdIdytCVXRGSU01UU1YODh0UGo1aFc3dWQ0aUduR3NoOHFEdXVNZnA2L0I1TFhYSTh2M2cvdlBUeVBiSVRvK01WbVNwekhyQm8wbm55YXRxNVZ6MUQwNFMrdjNja0c4aUVyTDZDdTY3Zll5aExOYVIxbWNwMlRwa0ZNZVpLdW84VFNoWUloOTZ2VHBPMURDYVhMNlRLak9IcmxNNGg1b216aml4NG9KZEwraVpxNDZ3Y2kxUDR0c2MzUU1LMitHaXJ4RUlYaUNPMFhTclQwSHhHK3BnZ3FTZXBPb0wycGtxeDFwYkZKWlhqMWh3WHN2bVdJd0I1SHlVK1BtbGJySlhyU2hWeWRreXNZTU5kMWh0MitDZWhuMVdBbVBEUjhLcmxCTDVCbDdSaVNnbHowK1E2TW9ITTQ4djFwNjZPZEtRMDlBdmF4ako4dWczaFZxdWdZZHhGZnBxaHBkN0FwblZVeTRZR1Brb0NyRlhBKzk5V0tsQmI5MVlVMjBqVXZ3b0dJZTlTRHdTVkR2S0FvcjZsMjFjVk16eFNlbElyazlUZk5zK0tBZDkrdmVUUmx2YkxRc3YzNVRxTDhDM1k5MS9nU1k0K1dudzgwcDNXUWZ6VmNOZkVtcXYyR29RdVBkaXBiQVZ2cjN6YzVyQVVkM3lsbVpnRkZnWGt2UVlkUFNxMVFBMHV0a0lNbUJrclBTUS9iZll0ZENGY3FLaU5BeHB3WEFPQzFiRm8rcXVHakJLallWaEJpQlBCWVYwV3BUamk0dTZWS09VZzliVVhQTlkwRlEwb3ZsdFkzM3FYd2c5cUxWa05TZWpMdHppMmFXNWxFdm9iSFJzcXg2ZU5aUS94NjNXd0xNQ2VXbndzMHZkWFA5NkV4bmZoSlVGMTBQNVIxNGFIZHVTVWszaFBpdTNpMERPWTBoa2pPZVZhMHZaMGFuSUJoMVo4eUE3TElXd0QzOHd3OHFQNlpBbW1aUVlleEV5OXFKY01GdGxTY0ZoRmY5YjNTenFROXlGZERxbXNyZDY3Y2NwUjZhK0R5cUZmTFBVY2FLdVc5UmIwZUZwUFljY0E4Zm1nblVTMmhzdEN5L29pM1UzM3ZxNGllUlB3SG1oUEpUNEJaVnZKbGhRT1lOY1RITk1FSnRFem5xM3BlQnRUK3BvMmVFZUpic0JjemZ2UGxIeXhzUW9NUnM1Ullzc1dqUWVvbldnYTc2dk5PaFNRaDdiRHJ6cURXNDRZS1hWUDYrRUI0dG9aRVgycm8wdWpRUXNleUZ1M2pMVWVvQnJoZFFyZFowZGlqV1c0VmxlM3NFUVZKN1J0MCt3bFNjZWttTmpaYmwxNUhxYjI5elAwSDVFMkJPS0w4dmJuSEZteG1EVzZzWDlacmViQVExWGRCRmw4UzZvUVZnRmxrZDdhMjZXcDVWb1VGZDlUTlUxTFFzclUxTkYxeUc3UmFuUTQrTFdNRE1hVmxVVW52REJTK3E5TDRRWG80S0NQRkxiYTBPRjd5T1l1NEdGeG4zbGFQVXd5QnhmQjV5azI5NXJwU0dXajF0cUhvM2FWSjdaaXg0d1ZIVGJqZmdKalUyV3BaZnZSd0s3azY5SkpnVHl1K0xtMS9pNXZ0N1V3OTJ6RkFNUmJzQWJuWkRDOEJzOXpaTGxrdzR2bVBPaXlCanhaQjJ4dEZVMm9hc2FoQjBtTEVWc3lpOUhnYTZTeXFaU3RZNGh3dXVxZlEwRUdiK3RpalVoNHhVbnZ2dVdUYktlMXpMQ2RRTDdRZUFBZHBJbzhFclJsTlNlMXB1d0QwUXAxNVNZMmt1ZE15b2pGd2hieUNKcEZCd0pnSG1oUExUNEphZ2ZiT2llZys0bUkrZGNTVVZMRUhBQUFNSzV0ZDIrbDYwQW1IcW9WdlV4Q1R2SDVKeEt3cDBsYlZCUlVQZnNtZU42NmFNY01FTHFtN3BJSVNoODE1emQ2M3E1VU1kYk9Pa0hORmgxY3RSTkMyajdsNDBDVW50YVJtT1lyc3BUajBVWk5XYXhrYkxNdHJwMmhDOXFKZFBnRG1oL0hTNCtjVnVxcC9hMTMzV00yUE1sU3l6YW05c01HQlpWd1BVczRheDdBeGd5N05abVBVcVBzR0lHdFNSRzF6UWd4VzZ5czZaRFgxeFQxaHJHdVJOdm5EQmM2b09LU0ZFbGZTYVcxZTkvNldjUUQxWEsrVFAyUm5FbEJDelJtRlNlMmFjSlJvem04RjJ3RTFzTExvbVZKYlJUbGUweFVIbUo1QS9FZWFFOGxQaUZsVy9XV0dhaDFrYXhaUTJ2VnRadG5kQmlZQUIwMW9ZdERKTDBxQWI5V0E4cFR6YTZoa1JRS3VKaUs3U2szVmFmS2l4RjdzTmJpY2FQWnhVOEdEVW83bkZjcXlKUFNQS29RcERGSFYydFVKNHBQeExXZ0dvVjlQZUlLazlpRk83enhENnFCYTAxRXRzYkxRc281MnVhMmlMdlZ2OUJQSW53cHhRL2c1VEQ5TW9kenRHMjBBN3J5c3Vjc1l5cEdTb1FPdDROeVozb3g1MWVoWjZzRksxZTNueTV0UUVCaXhuVERHR2VnU1ZpYVB4WlZVR3dnVVBSajFxVGRmdXNrV0ZQR1cvRXBRQ09yaGFoVVNud3RTTHRZZHVQenlSRERsTHZjVEdkaTlMenBQZFlCUFNpVUFpekFubDd6VDFpb0JrS1ZwNUUwYmFpdkhMOXVxeEZVK0FUSFFhNnBGcG5VVUdkSTlIUFdKOVZxb0I4dlBTZ3g5RHZUVTdnVWRreTlpcmNNRURVZzlhM09kVVRIazlyK1VvMDBBSHZ3VmU1Z2oxNWsyU2FROUdRYmpuL3c4VFQxZEx2Y1RHZGk5TDN2QnU3dWlySkg4aXpBbmw3elQxQ2dCa05scDVIYVkxU05hbGdTRjZsb0k5RGhNTjZzMGJmOWtadzFhSTBOQkROR2w0ODBJRVM2WmtLTllzSXVvcFZqZDkyUmxUajhTQzAwS0lIUXczS0pvNjk3eVdFNmhuWjdaZXpnZWVmaTF3ckptWXBQYVljdzRiMXhrcGozcUpqUVgxa3NxUzJiRkVNMzNoMUJsZkk1eFJ3NHd5eUhubHA4WE42TjNzSzlWb0lVSHAzeUFPZGZOblIyQ1pucHdsTWtDZU1US2FXaUhxRmRXSWlyTDhFUSt4cXVTa3Jxb0tzZjRoNDhyRytpWVduQlpDK3JhTVg3NnBhL2NyeWcyUHI2QkRUTVBrWDBLTVhNMG9TbXFQL0NLS0ZQdEZJK2FzWGpXcHNVbGxtYXpVTTk2S3pVUUhFMWw0azJHbTFrdG55MCtMbTlXK3laNDFWR2MrUVdkeE9zQmhoeWoxdExGTFpFQVA2cFVWOWZMaGppc2FZNWZVVlpEMVhXZFYxakd4NExRUW9pOFQreXVoOVRxcW5JSjY0eEI2MmU5OWRxb2Y5WUtubVBiWXd4UjJ3TTJiSkhWVmplMUZQWnJDMkRtUFYvOVJXcTVCbTM5L0ZEWE1zZkxUNHVicDMxUXZUSm13UzFSUE02MEFzUEJ5MjAxcWdxRWtFaG5RZzNwMVZVWWx2QmtGVE01SWZVblVLNFJsZGMwU0MwNE5JWm9qMmxwVHFrczVnWHFQaEhQK0FBelcreERWbjNvNEo2YWN2bzI4QVRleHNhQmVwQ3l2NUNKVXRiMnc5c29YU3lyaGpCQ1ZNTWZLVDQxYnZKeE5pU0hMbGpCem5xVGRESnBSS0dzaml5S1dxaklUR2RDZmVoR0VEU2EwR1RGbkdtUG1laEZablp4WWNHb0lVYUMvYkRKRmRyK1crMUlQdzloR2xoUk05YlY2UWVZUFVENDV3eWhyOVJJYjI1TjZlYWhab1hMRGJvMUlGdEZXTkhkNHRQelV1SVhMMkxRUW1XNnp4ZWtwSGFHaGxhemVzb3NFUTdTUlQyUkFEK3FWVmVzcjRaR2daSWI2Sk9ybFhRKzVHbUJsa3JDK1NRMGhxaUZtUFcxOXZjZ1FtK3NaM3NqTWREVHZtUFJOOWFjZUh2MStyb2dxMkRaWTZ1V1RHdHVUZW10UU14dXZmNDV1NFc0d1I4dFBqVnU4bk0ySnFhTVJjVTFIYUJKTE05T3NTd082RnpuWEt5cnFWY05MTDJnbnBJSkVxd2RaZjhLaWF6RTQ5YjV5U3YyWkNTbWdwaTVvVGFrdTVYN1V1OS9XRXVEVWpNNmtXMG1uWmE1R0hjeFRTRXU5cWxWalZPRGFrM3JZdTNON29TNVRsWm9IYmY3U0dKSUtaaEx6eTk5eDZqVlF0U3pWS3VTT1BvZ2c2dVluQWQwTFNpaVJBVDJzbm01OU00WkpUZXBMNnFwYzRqd2dzV0FMWWY2WXFwNzNTL3RETnJhZzYrR2w5L2FXKzFBdlU3TER3bFE2NmdGVTVEbWppclhVeXlVMXRpZjFxRjArdjNRNzZrdndOTU5Ka0t6cFpMcTQ4bnZoNW1YWU9tL3lidGNNalN0b3ZEK2hBTHA2K0Vsa1FIZnEwYUMrQ0gydE1NSTZOdG5xcmZsYnlyYjFpUVgzZ3ZBS0ZHS0h5RG9DYzFaWENrL1p0bGdMUitnQTIwTzNLRG1BVTVNZS9DVGRTbGZZR3dBemFEMjV0dFJMYkd5a0xLTmNYMUUxYlFlOEJQVWR0cFl0UUNhaDBZdEJrRkIrTDl3OHBWdm5KWDdaenJIRk5PZkpXL0pNaG54d3FNZkFSQVowcDU1NWtJWXVzU2RVTVBGQXdjdXl3S1N1d3BvbVlRcWFXSEF2Q0pzb3hKWlpScUFtUzB6NWd3dzk1M290TTFzMTFCdVREVXBxVCt1TUxiTmdsRnJxSlRhMk4vVlF0TDhFVk1ySDVWdzhFZWFFOG52aFppdTdwWjVLVWllWDVVMktwSm9yTzJlQlRtUkFkK3JSY29YVTRPcmRxU0NrWHJVa2RSVlczblpGNGFxUVdIQXZDUE1vMnBaWlJHRFJLZXZ2Sy9laFh0MXRuRTlKcUZwenBEU3BQUTE5MThwa1hTTkx2Y1RHOXFZZVlUcExoZm51a0x6TEVtRk9LTDhYYnI3V3JmUFRuc2xxUlAyWWVyRGZzR1NqOUx4dGJDSUR1bE1QWFNFdFdPaHNFRzFZYTd1VzFGVmtFNmRkcmY1TytSTUw3Z1ZoRldxczRTb2hrSFU2Ky92S1htWXBIYVlEMWJHdHRjejBvNTZ0QlJxdWJ5cEx2Y1RHaHN1S1ZiYVlNRmcxNUFHZ1JKZ2I4Zko3NFJZcmJrc2kwTVRZREdoVURWS1lCOHJHcUhMTEZ1aEVCa1NwZDh6V3RtRjJyYUhCMFFuS0gxVWlTZFNqM2FrVnF5RW9MMHQvWXNFd24yckdYVmh5R2JRdmg4YVo2Ymg4Z2g2VDZCV0Ircm9lSThFd0hXaXViN0szK2xGUFczakk0OVY0bGN0U0w3R3g0YkpNT2ZhS0FtUERRbEZoam1ySFlHN0V5KytGbXkxbWF6M05LTUJZbnl2R0FWc3pqWlp6TTlNUGlReUlVbS9SMXJwdXhybUdHNkRrMUZHTEpGSnZ6YjhoSm5ydFphT1AxTHk5bkxWRkdnKzAyRGtEVFRuTjRIdmZQYXRHcE1jVmZXaWFyS1RDZElEWnNCMWE3VWM5TjdKTUdtdnZxSmZVMkhCWnNWcWk4T2pzd1h6anZwRUFjeU5lZmkvY1lzVnRUUVJHUHQvQW9KQXhNeTdWSGJZMFFCb1RtSXA2QzZhMmFLSytDN0VpbkRleFFkN0VKczZOYUdMb3BrZEg5ZENjV0RDR0syV2tpM0U2WVRaaHlVUHQxQXNxN0ZqYXhZZXRVTnhUOW5MTDFEQWRhTi9UWklKb0RXdjRPUW9uM1VvTng1TUpjejg3NmlVMU5seVdLY2RkOCthT3MxRU5iZCtUWUU0b3Z4ZHVWdWNXZXlwdVVGSWxyWm51d3Q3RWlpa2NkMlpXK3hNWkVMVjZacHlqajJOb1AvYkI3RU03Tk54SUpIVVZIWjl5WnpOYWVtaE9McmlralprM3pKaEtqNHRmbURaK0ZHTm01ZzE0bDAxODkyczVnWHJ1ZnNESWFhY2dZeHR5dHpwWEkyVko3V25ZK3hiWmRHdnFyb1VKalFYMXZMTGlsYVNGUnRhUG5qVHNUb0k1cWZ3ZXVQbDZ0OUlmTlh1VHBRVmRISnF2WVNKaVdVUGhEVFNBK1l5cFc5RVpnUlpFVEo5WDNSWU5vdHRhR29ROHByMVRuakYwaDBIdmR3S1praFlORnp5djgxZVViUjZMelgyUVhuUWJSemxoN1d3QjNwck8zZU5Tc2lzaExZUVppRWNIV2gwc3FaVFJGOHMyVkJjcG1OU2VoaGxsNmRINGdzcFVkdFJMYUd5NExKVWo5SnVQbUwzNzdhM2Fpc09jVkg0djNFSWxiV0dnQ1lpbm5mNmMvVkNGOXdrQThITldpOUI4M1VnRFpqTU0wN0hqdG81SDQ4c2FZTmdHdTBNSC81eVd5THZZR1krKzBLRnJBdWlOV1R5a1FlMVNjRU9aTVAvYjc2WjZRY3VlRTRFWnRieUIxMWJFaXNZOFZGeVl6cGhnV2JNTjhZSnRmRDFiSk9WcU5UU1QwSjZHR3o5YXh1QzYyNHkrZVJadGJLU3NXTzNrd3liNVBTU1ZOSUovRk5jdUFlYWs4aEczakJ5SnVCbFZXMzJkS1BwL3hYellNd2hqOXQ5aDNlZXdhZFpuN3ZhZzZtWk5OUFdaMVZWdENmRXVQYVhQT2V0RjM4dFpiMHNSN09rZjA3SkIzcTFtU01laWp2K1NFY2tVTmFpUmdzMjBBSE9iR3ZLczJYdEFLNkRMdVBoVkhhSUJha1g3Ni9EWHRMLzdCWjl0RStJWC9QUXJZWGFwdDdTRHJWSjM2UlBPeXB0VUhycVF1MUJtZFdiYjA3RGN5aFQxNkVFTEJmdHhySGhqSTJXWk1yM3IzNk0yS3paYzBYaFRSQnptaFBMcEpZNGFoQk54SXkzYjRxaGJmbDJYZEtSa2pSUml2cUZaaG03SVNvR0owM2VVSU4yNTUzUTcrTmJwdStBVnJ6ajl0bURTUnErU1dBdlo2aThpSDFTYit4bWh5YUthWTQrVlRleDlSc2Zib3pveVpYRkJLcXZLL3UxU01KUmlib1Blek9pdEJTclVjMDN6ZDhWNXJ5Sk4xSHJGRTRwNTMzbnQ3UjhxUXdqdTVnL2U4S1lmSTRIeDA5ZFR1UFBCMDgvVzhwaVB5Rzg4SHNHRUFQMzQ4anBHOXk3dHdZQ243N1cvbC9kblJ1RWwzbkREVDBobGtjYkd5OUpGaGk0VmMyUUxzZSt4dHowQ2NaaWo1Wk9lbnJpUndMYTRyd0RFbDM4VVJXWCtSYW1UOVl2OHZCQy84OFd2djl2KzRUVE5yWlZiRGhyRyszMzV2RmVGVmloM0M5UTdMSEJvNU5zbGNYN2EwNGVuMStkLzlLcW5GdTBJbnpNNkhxSlJSN3VzekFIWmpULzgydGNyeWc1MktaZ2tjWDk4K0o4Lzc5MzFNcnY2Z2QzK0tmSjlCeFpLRXBrQ3NMbkowcFJJcm1ocW9xN1N2aUtUZGhoYWxjTjM5Y1RMLytnbnhTc0JYRmxaeEM3dGFZaWxUM2JlQzFJOFRkMTdORTlVVGs4bXdvMU5LTXVVNlYwbjZpanpyUVR2WTMvV2Z1ZFVwc2RnanBZdnBYcmg1aFd6eFY3aW5uZ2hQcmhxUmpsYkhsaEh6Z3c4SStMVXladHV1K1hFS2N3VEdwMVR4Mis3N2ZncC9PSFJoSTFlb1p3dFVDLzRoUHpXNjh2YUZHSGRrU0pwRStmYU9pWm5kQkQxak9xc1N0U3lINUdoTGdWVFdxWkNLbWVsV093SG8vU0ZuL2hoT3FaNXpLWDErNkJ0c1lOR2FuZjhSRWxUNzlSeHRQejRLVHRsRElMUFVNSGlMUFgrZVBubUZWeTZ0S2QxbGo1bjJUbUJOWE1iVW5pQ0xkc0s3TXppSU5UWWd5SmVGbVdMT09LZVdQL2c3WGU2YVkrV2lNSWNMVitLOWNRdFV0UVdCaDlmSmhCaHdTTXZpOEp3WFY4Nm1lb1RKVjd0V2tTOTRPUDR1UGRidlZqcG5YeFhVbXhVU29WSjlyWHZTRTd6WXpOL2RldTYrZ0NQSDZ2OTZwUE83bXZRQ1NJWEgvWFlaOTY2L3ArSmVYMGNuUnpKdkt2WXVlbDN1Z3FuYmF4ZlV1YjNaYWNKK2twdzJFVmdUaTYvSjI1aGZWc1p5ano1WjByaTV0K05OdUhpaWxUVXU3aThtNTVyOG5PM2lKdi9wTDNwZW5lRndzYys4NFRvdkM1bUwzWkYzWGFrRXJ1S2VqdUNBQmU2UXdndzlYWUllQzZXcWNjYzJDRUVtSG83QkR3WHk5UmpEdXdRQWt5OUhRS2VpMlhxTVFkMkNBRlFEM3VvN0JpQmJVZWc0UTZnYkh2WlhPQytScURaOVpIcXZvYUZHNy8xQ0pTOTQ4MWJYeHFYd0Fnb0JQN3lOSmlIRHdlZjV1a2VVMko3RVNnUThjaWQyZDV5dWJSOWowQ2hjL0s0UE5mRzFOdjNYR0FB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1aU53NE1ZUEpiZ1BkTS9BS1l6QTVpRFFrSDl0RlB2WkhPV3NoUkhvanNCM2Jpa3AzcDA4THAwT2RjL0FLWXpBcGlFd1J0eGJOdW9tcmdiN09pYkVWMFpnS3hHb0MzSGUwMzlFaUEwdnlGNUdZTXNRS0FyeGtLKzhKYzc1UWZZekFsdUVRQWJqYmVoL0xJK0VqT0FXbGNwcUdZRmdCTlNyaFhBUUQ0YUNIR0FFdGdhQnc2RGVVa2gxL2Z1aElBY1lnYTFCWUJUVVd3MnB6ajhTQ25LQUVkZ2FCR1pBdmJEbTZ2ZkNZUTR4QWx1Q1FFNklDMkhGemRDcUk1ekdJVVpnMHhDb2lPaXlvam0vYWNwWkVTUFFIWUdpRUpHNVhYV2h1elNuTUFLYmhVQnNXeThJOHJPYnBaejFNQUxkRWFCSHVCRXJWem5XWFp4VEdJSE5RdUFBcUJlaFdtVmxzNVN6SGthZ093S0hRTDFsbmZ5RDZsbzM0ZTY1T0lVUnVHUUVaa0E5bzZTK0tuMlZhUlBCVjBaZzZ4Qm9lR2VrQkhOdTY0Qm16VkVFOGtLYzFYRWo2OUZFRGpNQ1c0ZEEyWjNXTytxZkdOMjZFbGt6SXlBUndGVHZqSVppaGsrc01DbTJEd0YvVzQrUERXd2Y3bHhTNEczclRZbzVCb1FSMkRZRXZHMjl5OFhpdGhYTEJURUNVNWpyS1JTK0xVU1c4V0FFdGcyQkJ0NjZ2ZWFhYTY2OThWWndrTGYxdGcxM0xpaklnM0hHOGJZZUUySWJFU2diM3VISzIzcmJDRHdYQmNiSmJiMnIvbGRSK050NkUrWDNNemlNd0JZaVFOdDZOYVgvc1BEZkJscmpUeEJzSWV5c092QzM5VEtoYmIxSzlGMGhSb3NSMkZRRXZHMjlJTFN0VnhjUGIycEJySXdSQ0NQZ3R2V0NJTFN0MXdnUk1aeUpRNHpBcFNQUWNLZjFNcUZ0dmNsL2ZlbktXUU1qMEIyQnZEdXROOGJiZXQxeDRwUk5SNkRzVHVzZDRXMjlUWWVYRlhaSEFIc3I1clRlMFllNmkzRUtJN0RKQ1BpbjlVWVdOMWs1cTJNRXVpUGduZGJyTHNRcGpNRG1JM0FVQSs3eTVxdGxqWXhBUHdUOGJiMStzcHpPQ0d3aUFpMjNyZWRySGJ2cjVpVS96SDVHWUxNUnFMcHRQVTkxcHI1UlhtOTdFZXhsQkRZYmdicmIxdk5VWDM0dU9CVDkrcFNYekY1RzROSVI4TGIxUEdYMVk4SGgwT0U5TDQyOWpNQm1JREFCNmkzRUZJM2ppZHBSK3pXTVdESkhNQUtYamdEK0RpMzZiVDBvSFgwMENDN2owL0tYRGk5cjZJNUE4clplc3hZRWEzeGNyenRzbkhMcENDUnY2eFd6K0p5eWdPbGp4d2hzRlFJTkllSW5wVEwwYjdnbDg4YkdWaFhOZXZjM0FnV1I4UExQNUF1Q0FNY0tzdnNiR203OWxpTHdlS3d5a3JlT0Q1cXZZV3hwK2F4OFh5SXcrYzdicndmejhObUxEOTd3cG5kRUlaaEpzSVpSR1E1dkZnS1RUNzZ6MUhuRGU3VzYvM3V6MU81V1BmUXFtblgrdTkreXdzM3cvNEx2MWtic2pYcGRYVklkOGN1eU9ZZmpzKys5MFV6YmlzT2ljK3I0VGJmZGR2ekVLU0ZlYktPMXB5em1vMUVjM2hvRUppc2dYdWVEdDk4cHhLOVNDZm45L1o3Q1pOSk84OVlndjkrMVR0UkJ2TGRPQTRiSDF1bjkwL0Y5L2dRVGg1ZmIrNTBUMjlOK1l0NEZmVmgzckFpRGx3dDlmbVI3S3JHYlNybU12M3F4VGQyUngvWlcyNVIxVU14aVYydk9CUGZsdFVGV2Z5UTJBOXlYV0d4cG96K0JvN3Fycm9UQ2d5Mnh6Ny82VUtCVkJwMGlZTGVsQ05CYldVdGVDYU1DaTkyc0Y3SHZ2UGlMM01VZ2FPMXZ5NzhOdlo3QlJPOUZmamwwaUMzMCtSRS9jVi80UjRUQUtGQlkyUmVOM2NGR2ZnUEQ3WFNvL0VyU1EvV1F4QjRQSEJBNFFTQlBFZXp4aHU1czh5WXd1czZHcTdDMjM3OHFmRVJzNEp3eWYxOHZUSXRORDJGSmNTR2lGTStZWWsrV0lpSjdPemhCa0ZRWDluWWpkN3gxMkxlUHZaMkFZK1ArVjRWM3ZJN2JYNEY2SnhWN2ZWd0FBQ0FBU1VSQlZEaThIcDZGYkg4bDlucUo5K014UmhSamJPdk43L1YyOTI3ZjVlSU40dFc5UlRqMUVoSElGSk5lUkkzTi9pNnhsT0hML2dlbi9uajRLajFjTmFiM1lvN0ZxbHdTSzdFNGptQUVOaFdCYXVJM1I0cjg4SHhUVVdabGNRUm85L2lSZUhTWlhveGh0MTBJWlA0b1Z0SjkyVmpVSG9zWUJmVm00MjJxbjR2SGNjeVdJWUFER3hIZFkzdC9pd0hqYmRMWVd1ZmQxQWdYdGpSNE1QWWlTR1BQVTQ4MjlYQTZMK2JLZkdZamhza1dSbVRLRWJPSDNhMlZMU3h2TjZqR0szK0pMOWtYNTNkRDdmWlBIUzZQbUwzRzN2L3FCaDdXSnI1a1gxcmNQOTIrRzFvYU1YdTlqZDdIcnkrS3p0QS81Q3VBZXNzSjJEODErbndqUVlhak5oR0JLMFBQMFhzWnZaRTYrbXo0SDNUaVJHVENKMGMyRVZGV2xSSUJtTDJhRmUxbDlFYUsySWk5NS9SL1NESVlWc0VRZU9qcmNtZUhvSjc3b0lxKzJjdDFQemMwQnVhOWJTL0FRYnQ2dkpiZEZUM3BtVDBja2M1MnExTmVpR2QwU3h1cStCYW9ON2RUTmM1ODljKzZ1ZlpPMVdrSHkzVm1yNGZSdTFLL29MK0Q5ZHlrb25FUEpad2QyQ1RsL2RSY2djSzd1QWY3NWQyRDZkYnM5VEI2T0diVWFlK050cGZSOVRzMlgyMTA0UjJpbzZlbTl3YmFmVnB4SlIzS2grdGg5SEI2UE9HQmV4Kzl1ektaRnJoaXgycDJzTlNWZS8vdmpsVnFCd3VHMlZ0QThUMk1Yb0I5bFpVZHJPRW1GazNIVnRTZGxxVDBkTnk5UFVtTzR6WUpnVU95TTNvWVBXeElkTyt1VGFyRU5xa1pCL1dTbnVESzRxVkpqTmlsL2YydTBKYjNDcG05WGtadlpzK010L2hESE5IOVdTR1p4SnR2dU9hYWF6RXVuc1BsOXFJUSszSDZ2K1dFY3dYQTdFM25lbnhTc2hCL2djdGxIaTRmSFk3dk9tM0ZsdnB6WlhNYSt2c3JtVHh2UDI5eC81YkZHM3VzKzhnWVpMZTRCdHVsbnFqWDlhWEhFV01RMTh3SFdTWWl4eXUycTVxeW5DblVkVSs0TXoxZ3d3cTJoOUdqUWFwSDVxRktvcFoyUmVLSStkYlVqRjFXNVhadzAyTmZVQzhvOXpCNitPc3MwYmxHdVhjTUZjOFNLa3ZQMGVZVDRrZmFpRHhnUHZqanFEZTZnOTlYM2gvVXk0c2U3NTAzMEYzYURmMmttNnplWEFMMXFvdUlQR2hNM0l5MWVrZDI4R1doZlVFOU9zN3h2SVFPVVZFVnpUc1l2OS9xS2pRa0NYUkd1WlpRMS9JS0lvK2FPOHRSYjJMUFREVVNHcjBib3FwaW80ZlpLeWVQVWJ1aDRnUFhnZWF0dFhpdVNUblVqajZrVXh6MUFqTUd4L053ekNZZ2NFUjBWc3ZkelY1eWIyMUN1VHVnZ3V3N1BidUp1TVB5VGNqTHpOclhvMTZwSFJIbDRHWWlVQld2d3YvZWQ1M3RvYmVPYldaeE82a0xPK2RKeTR3WmFlK216TnJYbzE1NWVTZXJ1OWZMSnFNWDREbHRsOWtlUFY1YTJTc1lVR01Nd2J3MjVSY29NRE92b3p6cUZiSTZibE11ZkY0dkRHTWVSby8rK0w2TDJhUGV5b1p6REhHb25MU2xuRkhucUw1UjB3M3pxUGZ1RlIyM0dSYytyeGRHRVIvUmhkSHJZZlpBUFNrUXpqYWtvV3JTNXZsUnM2dWlHK1ZSTHhoLzU0MjNQQm9FZjNEcTExWGk1THR1N2J6d3ZhYjFUNzMyK2hPelFYRDFyWjMvWjluRVRYN3VST2VGMXdVL1k4THUyZ0NVWFZ5a0JpN1BYdmJseGEvSjVuVTFlNlhFRDBVTUtTUnJTU2RYbXVDVzcyYThLUVl5NEdXT3AzVDAyL0pqWmZHRzY0WDREUzFlUk9wczhOL0VhKzhTNjIwVk4xbFl2K0UvM1NHdVQ5aVc0Zk42UHNyWXd1OW96THJOOXNwN2lYcDRpQnZiSmM1RTU3SXpIdld1QkxzZUhWblBOdFNqeHVvNWpBQWpKZkJOdXAvQmZUbDdlQ09MenhDYll3bU5DelJHUEc3dlBIeFVMZDJDWDJQMHVzLzI4bnRwd0tWUHJ0aWhVY001R3YzSWxFODkvR09rZUxSUkN5cnlFTXVFT3UxMzBCNWd4R21YMmZvU0ZCM1dyL2RPYWxibUU2emVGblRmRUt0MFJxL3JiSzhSNzZ3aGJuQWh2ckZYWDRpMEoweTlLZkhvY1NJZ1BldkFsdlFLQ1JmdHhuUkIvTnpERklQelBWbTZIdFdiMEtOTVBZS2poM05HajFBelkyOG9BNDRQMEcyOVJ4em1icEdUeDRkaVMvc3c5VWJGV1d6N1hTRmVBZ1F3WHM4U0VBMHp2SUtTeFVXS0NVcENYcWYwZ1lNalREMEpTOWNmMytpUjJWTXJqckE0L2src0ZvNFo1aEJHeVBEbjR5ZkxzUTNOS1BYb0FVam1yNmZSYkZpOVJXcjlsRDFtbnpkL2NGVldqMGxhZWlvNXlkUWpvTG83MytoMU0zdlkyUHRlZHcxRGwxS05ISlZveG94ZUVLWWVUcnRrVFNzblM0cTNoNFRaRGNtYjA2UjFkU1FtWjRZSXBwNEJMZkVhTm5yNGQ3WkVzMWVWMDV4RUJVTVlDY1BsL3ovYUU4eGkxV3RLakhwazhKUWJ5Y29yZHFKMFJONk0zL0pQUFdrb1BxK2svMW9MOENVUmdiRFJ3NG0xeE5rZVRocTFkZmJQSnFvWnJrZ01rYjlxYTN5a0pCY0pOaXc5VWVyRnRtTUFsS1BlSXlxenB0NFVtUDNlc0RvT3hSSEEwOXQyT0ZiakY0N0VlZzZUSFhMZjdQb2lvVW9maWwvTTlzUXY2SnIrWDZXTmRyelNVZXBGWHdWOTRHUHZ0cnVEZVRNYjBkRFIyUml4L3JzSld1UGw3T09ZbzdIeDlTQjI3dVB1cUZBZDlDMjV5b3VuRDFuTWQwQ08vOXhHcFNmL1NxeG5FeW9mcFY1bzN5L3pMNHJJMzVWNjlMNDhKYjhqUVM5SFdRVEdibExURWhzUkJKVlpMMkM5ZVhGK05jajgxVjU1TmZETHhJMFBucjY3SkRvcnRvMmVaOFo3bWhIZ1BKbHY2MGZLWXYzblAvdUU3dFNqUHhpSDZ5eDdDdGw3MFFoa3NCRjdYSWhmYWwrMGh0MlY4Vk1seFkrWHJpYldheVpDUGU5YmtQalE0SG1nZ0VteHpoa2RjSVBnNzVUdWhEbGtZbUVjMlFlQnEyOFJyN2l1ajh3UUpVKys2ODVTNTdYZGxnTTlxRmNRNTJpazZFVzk0QWQvVWpJN21kWkRCQkpYZGZzUjZFNDlQTTFZb2ZyMHBCNG1rVmVEZkhQYld2RjdONWEzdFR4YjJHUGZnak5pUDBiM28rZWVlSDNwNUd1ZjVFV3dOeDBDM2Ftbm51VDJvdDZJNmdRTXpIclRKVjJSbHlxRkRiQ2tCZUtscXUyZi96TnFlbkV1Ukh3ZCtjdjlzN05FR0lHdTFNT0RuUVVwaXNmZFFmQlY4a2JuZXJsRktZQ252WFRjWU50Y2M0ZStUUFJOc2ZGai8vQlB2NC9OekZYWDF2OGp4R3Z2S0lPVHYrTGkySmNLZ2E3VXcrcDFSV3FRMUN1MzRZOVNyemt2QllKTWFGMnM0cmJ3RngyOUUrdWFjWEZXV3ZtbitNeWZLSzJ2b0tuM2dudnYzOEltNzBuVlhhbG5uK3VNa3RWTHB0NURHcEs2dHk3ZWVwVFF6VHN4NEZiMVUwTTZCcmxvV3BuVDkyY1ZXMHllTFRUSmZPMkJRRmZxNFNTQnZNbHh3QURVSzdhaEkyYjF6UDV6WlZ1dFVIMUgzbGdkRVZrTlk4Nlp2UW41bWhuaTZiRlIwbEVvbllVdkNRaUFla3N1R3VmMVRBQldMeXY5ZVRyL1hpSWFXdXJWeFR3bE5jMGg2UEsyV3FIN1hTV3BGdHZrcnJEeldmcU8wcklxOVFyN2RCWjhEQjlRMjZacURYRXhEVy8wQ0lMTHpMRW8rY0hwV1dyWDVIa3lmL0pZVk1Hc1pNdmlEQ1UxRlFOeGFubVdndHZtL296dWcrMTJWZkd5VlZVbVBjT3BLVy9CVERtd0JhVlAxbTUzdllhenZNeGpIdmg0Q1IrMC9kR3ZQVVoyWnVhSEtrSmM5elhkc1dVMW1mL1NYRjBzaldOb2ZjeDM4YjhESDBYaVk3Nk5QRitFcDZtUFpGMXU3LzNoeENGVnJZdjIxVkw2L3FjeTh4TnUwa2V2Y0ZzZXBsSzRyNFZBTk9QbUNZZzFGVHFqUUxsY2lPY0V3ZjlabjI2SmN4VkFYWlNwbU5VcEtXemxOVVg5bFpBZEw5Rjc5WHZjRWJYMDRUSHlxc210ZVRtRjJnNHdvNmQrOWpna2w5SzhpamgxOHZodHR4dy9kVXFObkd1ZGt6Y2RQMUhTMUF2ZUk4VHo3OEo5amJOUjY2dWczcW5qdHgwdkVmWGdPVkVpNmowMExqWStlTGQ2M25ZcEZSbUN2R1RxektlNDRGTlQ0aW16emtJRFdvaHREMEZEaHFPS2YzdG42WVhQUUZYLzlvYmx4QXIvL1hJd2ZxYzQrWFBUaWFsN0t6SkN2Zk95ZFRteHNXU2FlUm1vWndNbWtxK013S1VqQUdicEV6dzA0Q3FyNXcreWVPUnRUaGxmZW1Hc2dSRndDSUJtZW51RkRLQ2E2OVhoVzlFaXRPNDk0OFRaeHdqMFJTRHpSekdSKzdLeEtObzlPYVppYWZ0WW5aY293MWZUb3ZUblROK0xaK01ZUnFBckFnZGp1NUpqaVJ6NitrZTFDbm9sWlY3NmlYb0xPcGErcExtdE8rdTZYTDRNTHdJSDNUYTZia1Fqa1hxMmhUU3JVd2F3QU4rc2ppZnFLVnRvQmRuRENQUkVJRk8yOUZGeUdGQlhldVdZQXNtbXBVQUR2bVV0eWdOdUw4eDJkOXJJWFRlL1RkWXdjL1d0NHZrcnFyTGpieTZkL0huVnp5cmlhYVdYbWM3R2Q0ZnVXbit1akI2L3EvT2F0aExRdjArOHNkaDV6V29vcWx2ZzhvalphK2hGUkRmNW5GbmcwcmRCOU5LRC9nU0hseG5kRU52dDhaV08rcFJmcGlKRVVlK1IvUUIyczczdURZSXZpNU1lVWZMSVFzZmtIbC9xRk1NYjIxOUJ4cUpZZHl6dDBmcUkyZXRuOU9peHpvSlc5N2NmYUJ2Rk5BelBtd0JmaHdtQncrdXJCK1RYWGFvZEdMOVBTdSs0T1A5RityaGt6VFJrVEx3ZGorOFdkZkJJWjNtRVBvczlVVHJiRHA3aXo3U2dDVzlMZkxkb3orRVlCWW5YSzJWaEpxbWYwUU0xazU1WjA1YnlvdEhCMTJGQ0lQY1MrbmphRWpZeGxsQnRuTWRjeEhOUk9aeXR1VVBRTFh5MGJjcHlySVVWWlIwVE5YbUlFem5zK0pvcDA1Ty9BSThBU1ZkZkI3TlhzMEo5amQ3OXlTZnpXcUJlMW1waHp4QWhVRVMvMWJFcFcvOHRXZWtDZGlxT2JyVEpqNkZNWHVFdFpZTmcxTm9vK3NScFhqeDZRSFY1M24wdjRwQjROWVRobXVsMjJueXoxK012NHBWT2pPTnQ1UXY5NXUzVGpsQTBCM1k5QWlOMExLUWlIajUwUVZVMUIxTlhyMGsvdGkwV1ZlUmhlblE2WlI1b3ljLzZOY1hadk5yVG1IR1R3SUk1dFhuSXJnS1VnaTYvbnRsRFlka3VVaXI2RTdZMlliR1NlY1FSanViUXJrZEFrcVFnemhkcXFxb3RzWDVZc3hBUHJ1WjFKQm14R2JPMUlZbFl4VGduQjFmUE9JNlpkZWVCa2xhaHNuZi9kV2F2dDlITFBQQlhRbndrU1E5dDY4MGxKWERjYmtkZ2pWaFZkbWZlWm9SbzZxN0VMRTZQbS9WakVHcVlEOVpQa2JYTDJ4T2E1aXVvOU9VWUk1LzJDSjAxZTcyTjNsMEM3cjhrUWptS0ZIVUxKQ1p6NU81Rm9GcEQzVEJvUGFxcnVJYXViQ3Mvcko2S25aQXhCVFBnTnVhUlhqQlBGdWhZSVVYQXRiVDl3WXJCTzFDbjBycjhYcWxKMnRQb1pZcW9sRmgvZHBLT1ptZ1BLRW1DNDNZcEF1VVZ1YXdWdUVqWGNGMEpTNlNzbUJxQmNVeGZpVlFXY2NVWHRGUW93T01FemR1S3FNazQ3UEkrckJQN1hXRDJGaURUMitpUmtoLzZjU0UrSE5lV3dWMHpHNC9tbUNGQWdBd2FPdDZlTVljVjBlTXRtYk16c2dXWDBmZndJVVFYdUdJV1h4eDNEQVgxVElMZThvV28wU0V6OVBvNUpJdnVhZlIwOXFwOGNTQ2lDK2RhYk5ValNSemMzUWlNa2UzQ2JFMHRWdUd2dUpVbXVsVXhxRVVNeEZhTEltS0dIcVNDWGRyVTBaTXN2WjYxY2M5Nk9VU2NHejl4ekFXaVBqSjcwSmFOeHNmQ0dQL2piM3ZEU0Q4dkpza1J3NERBQVhydWdLbjZncWxzMFE2a0ZGMlQwZFZGWEdiTTVzWUlqYnRnNnp3dTVNQlEvZkNpbXdXcWlvZVVhTkl2ek41MHJwZUF6WlN6S3hzYmhWbGcvT1A4TnBVOXV4bUJNVm8zZ2xYR0xHRWdwVDA4Nld6MFo5b0lWODFLY29LbVhLRGxMQzdrWUE1MUZzeTdmaVZrN3BRQTVvVzlwbjVsOFVaM0RrWG5TTHlnSUh0ZVJRc2c2dFdKc2h3NUhBakFuQ3pybW1KeHFpZHVRZUJGSXhYMnhXc05hTG1pZzJDaHRucGxjR1BqMzNoUzJtc0g0bmdTWWc0aFZ3K3I2UExRQVhrODlmTmRQdlFuRVg0Sys0Y0NnWXJac1pOSGtQVGVuSnoydWVwamswL1A2R1FjYU5uV2lUTjJQVnNGTjBDKzYxd3U1YXYwbnNtVkhmT2pPY05oQ09wRnRvN0hITEVXRnVIUWNDRlFkS3RFbUtBNVUvbVMzOUZZVEpoMUJhVlgzSlN3WVkyVytRZnkzekFhOUhVTXAxbDZ1SHphK1ZwVlJFaUtsK1I3Nk9Xa1hZOEE1bmYya05PVVdVekkzVDdQemwzbUxVWFFJaHpUTSszSzIvVXhSbXZsbGt4YW1pdTljcEZ1bGRxQzVJS25jckprNTZoZUxIdUhCd0VNVzNhdTFYRGJITEJ6ZHNzbENKQ3c0cG9FdHRxVlE5M3N1dEJwUCtVc2sxMk83cjZxMkVocDluQmZoRXp2RmE0UzNkVnp5aTVHQUJzbFowejFxdWFNZ0Z6RTJyRlhQamd6TXJpQ3JaYVc0RVBOSk9HYkhkSXRtNGorVi95ZDFHbzVuZG5EZ3NZbkczWldzdjMxczhRdVJnQTlhb2V4dWx2SHR0eVdDeW9mZml6cmJldlJ1blBGdHU3cUlvTGVmTkVtZFBWVThaWEdRK25NSHEyRjdUaFBTK05YZGRYS0NVT0J3SXpITWJ0SEo4K210RzM5OGJUTURzcUlCRnRyT2czanNsM3NJaXBEbjI4THlXcTVMaGN5ZWwzL0hCNTVKdTU2aFRXaHRMSG5QVGFyZDlwZGxITDBrQ0NRYyt0R21EQTdoeXM1QXlnMzMrYTk1b0N0U3pvSUZ2b2JmdmpHTENaL2RsdmF5NVBzelV2VGhUOWduVTVPYjNocklEdzM4Y282YkVmcFBpdm9aTVVjdXdzUXFMaHRQYXcyelJZS1dPZ3RjTmM4eTRncWc2MndWZEtCaFhZVFdzVkFTWGo3VFVzbVhmQnZ5VkpSM2ZJb0xFVW5VMnhSWlBVY3pmT1dyVk4yS3pLY21VTzdIWUd5RzhYUXVmTzZ1cGpPRVF2SG5pUERWVFdxL3FtMlRSNWJrVEluUlNZTUdYR1d6dzJMbWQ4LzlUcWRTU3NPWGN5L0pYY3plL1NDdDkxQm9ibWVKZlc0ZTRTMk5oL1N5WUZoUVNDeXJUZXI2NjAzOGtiVlNyYW96RTFSMDZ2b0tGRFVxNHh4ZDY2azVWS0RhdWR1TjRiSElIRi9FZC9GN05GTTBrNHJhWVZyaC9LYys1LzEzRUpNTVVjTUF3TFlDTFlyaUpaYnJUYlVkRTVaRkQzNlRyZ3YzWm5CR0NscURLeTZkZktVMjZJKzJsbkdXZnJsYmpnWW8wZUhFT3o0NlF2VGZyTlkxREc0Ryt6Z1B1Wlc1VUhlQ1BnNTJiLzdFWUJoc1hNbDhLZXRhNHd4bFFiSy9DeUZNZnFTekFHOXRlRnQ2eUZGMmtVODQ3VzdnMU9PeStYMzA2ZWk1MGxIZ25OR3I5c2lGeVVKdTNzMzQ1WFJzaU12WGkxWlN0RE5VYnNmQWYreGJkMDltdFZQY0l2U1lzSGUxTkNTeTdSNXhGTHpqRzdZbXA2SzBhUnN6c2JOYTk5QklzaU1YYnJvV0h0eFJvL01YdEplQ1RIYWtpeUhRRTFsbml4cEQ0S1o3bFpWQ2ZQdkxrVmd5bzFvM3NZeCtweTJXZVFwWnZtTit4V0VHdlA0Z1FNVHpVTFlyRkZnL2V4K1M4NzZHcytEOUpvemdqSzMvZkdOSHBtOXBMLzlLWHExeTZPTVZaWDdjbTlyK1lqNXpMZFZ6SjdoUUtEaFJqUnZXdzh6UUJwaUR4SC81QlBjYVZ6S0t4U1FURlR4OUVSTkVRYUcwQzVyeStaTjhFeUptSkt6UEpXWjNZOXY5THFadmVhNXI5a01KZmN3by96S0g1YnU2WC85aFd2TDhuOXRyQlI3aGdZQjJCS2lGVGx2V3cvVW0wZU10bk01T1JDUG1KZlFtcFpuVjVoaDhvQllYeUlWY0NOMkxhRG1oaFU3T3F0MDh4czJldlNZT01Ic2pSbzdKeDhjeTlzQitXbUh6em5MZWFPWnI4T0JRTmx0MDNyYmVqQ0FDNmgvTVNzYm9iWkxSczNlY1FIZDNxWUVQTUhYeHdqVXU3cFNlTTB0U2VXd1hQUVdvMUpBLzRTTm52enY2YmFmTHYzMmovamswenN6cTZNS09PY052ckg4SExHTEVmRDJ5akNIbXpVMWxSL2RNOS9BbUpLUDdTczFuVmdTRzNraVpuQzUyOHlydjFvblRwVHMzdHQ0Rm5IWU56eW1rMElYUEwxdGh5Smc5dWJERVJScVludEd1WXA5eWlkMyt4ejF6RWFQbHVQTGtDQUE4NmJYclhZMUlXdWVwOFZrbnBZSmNQSUxmQWZNemh1V0lHZEhpVjlqUmZkSHlKZnI3em5pQzVGaHBtRTZhTWdqZFptZm83SHg5V0RTcEhEY2ZEdVMrSlpWbVhPT2R1U3o5VGVxK1RvVUNHQlhoTllUMHFGTHA0MS9GRVBwVjh4NklTaUs5a1JkODVDK04vRFFaT2szZzRtQzk2QWlVOTk0TC9JK3RpQiswNmhRVjZ4OXd4RTZOSGFUTGN1a1YyYU56N3QrVXB6TElqaFpGK0pGT3JvY3BwNVpiWHVaMkRzRUNHQTlZYTFVeXoybkNqSmxmTjVXUGNCRks2N0VCMjdQR2FySWJiM3YwQ2R2L1hjZlI4cWljN3dreEI5SEdqM3FscjZSbEpUQnZCQWYrTDJuZ25uMjhITXhUTDB6S1JXeDJDNUQ0Rmt2dFJVNmNtclIrb09SdXpyLzFvWCt5dnVNTjZhRUMwSHd0TkxKbjNMcDhFMis2NFM0K1o1c0tBNkJHZjhFVERReFRUaWp6ejYvMUZBL1RTYVcyWk1JckxuZDR4VHR5NWxGY0FyWkxpTGZ2YjdZZWNQN3VpUnk5RDVDb0drZktxUnBkS0hMdGw2YXZDekRDSVFRS0hSWk9JU0ViTUQ3RUwyTll3OGpjRkVJaE40Tjc2Y0JPekZML1dRNG5SRkloUURJTk1BbUxuWmlWbE9wWlNGR29COEN0SzNYVDhhbFl5ZkdCZGpIQ0Z3S0FuSmJMN1dDeTl4NXU5UjVXSkFSU0VSQWJlc2xKaVZFcmcweU9pZms1eWhHd0NLQWJiMWpOdERYMDd6MGJiMitaYkRBUGtFQTIzclo5RTNsYmIzMFdMRmtId1N3clRmQUl5M2UxdXNESnllblJnRG5EUWFnSG0vcnBRYVdCWHNqOFBqYnk2RGVLMDcvV0c4eG04cmJlaFlLOWx3YUFoVnpYaW1sbW9QdTljcVVPVmlNRVVoRW9OazVlZE50eDAvNTM3bExsRE9SVTk0UlFCUEhWMFpnR3hCSTkyOHMyMUFSTG1ML0lEQlNuRVZqNi9hYkJQdW41ZHpTSFVZZ1J5OXU0S1dqNVIydUJ4ZS83eEFvMHhPMFVaN3E3YnVPMy9rR3krK3l5RmNxZDc0dVhJTjloVUFaUjBUSCtkakt2dXJ6WGRMWWZLY2RleDE4bDFTTnE3RzNFVGdxTHRRRi9lY3BPMFpnbXhGNFd2SG1aMjl6a1Z3Y0k4QUlNQUtNQUNQQUNEQUNqQUFqd0Fnd0Fvd0FJOEFJTUFLTUFDUEFDREFDakFBandBZ3dBb3dBSThBSU1BS01BQ1BBQ0RBQ2pBQWp3QWd3QW93QUk4QUlNQUtNQUNQQUNEQUNqQUFqd0Fnd0Fvd0FJOEFJTUFLTUFDUEFDREFDakFBandBZ3dBb3dBSThBSU1BS01BQ1BBQ0RBQ2pBQWp3QWd3QW93QUk4QUlNQUtNQUNQQUNEQUNqQUFqd0Fnd0Fvd0FJOEFJTUFLTXdKQWk4TURIM25uN0xTOGYwc3B6dFljWWdSSDVkN0xuaDdnRlhQVWhSWUNwTjZRZE4velZucnoyTGJCN2JQV0d2eWVIc1FWUFlPb05ZN2Z0aFRwUE12WDJRamNPWlJ1WWVrUFpiWHVoMGt5OXZkQ0xROW1HRWk4emhyTGY5a0NsbVhwN29CT0hzd2xNdmVIc3R6MVFhNmJlSHVqRTRXd0NVMjg0KzIwUDFKcXB0d2M2Y1RpYndOUWJ6bjdiQTdWbTZ1MkJUaHpPSmpEMWhyUGY5a0N0bVhwN29CT0hzd2xNdmVIc3R6MVFhNmJlSHVqRTRXd0NVMjg0KzIwUDFGcFJiK3d0cFpNZldBMDFKL081V3p0dnVFNUhYZld4TDl4Kzkwa0U3anZ4aW1kWXNaQ0lqV1VQSXdBRThxZU8zM2JiTFNkS2p3UTU4aDAvVlpvTmdpT2RremZkZHN1cGh5UkNrbnJqSlhGS2lQV3NqRkUvWTNYUk9TSEVDMVNvUUM4UXJRZkJFMFNuMURGaVlSRUlqcGRmcjhUNWx4SElFMlhnUUQzbEViT2dudkk2NmsyV1g3b2FqQlRGT1FmWVpGMmNiUWRQTElrWHlUaE52WW5TcjAvWG9VeTZpQWppSUZWVGFmeTc3eEg0MVBXU1pzOS9lL0IzZDVmZzdkeXpFZ1JqZDFIaytpOUlkTWpxM1g5K0d2NURRaXpLS1BwcGluTVVkMWlJTEFXZmZEdHlyd2RYUEJnY0VHS0RZbUlpUVVBdnVEMnMwdmlYRVFnT2dnL0tjb0UwWWtraDBoVGlYRnQ1UWIzSlVwYjhHVEtPMnNFd0hwUGVpdmkraWhvcmdYcjFiREFLTFRJbUxuSVVTUmUwQXI0d0FrRlJpQlVGUTVGbWE5TEJQbWtTQnFEZXFCcDZNVjZhOUtCaUJsK1l3cmJLa3hmcjQyZUQ0REx3aSt4aGdnaXgwbXBRbWZoM1B5TUFDNmNNR0taN0hRTkV5YjU4QytwVk5RMGJsbWFnNXB3U25SQmlRZmx5WW4wR2tiQ2lrbDRKSW1SZzJlb1ppUGthVEZrYXdXQ3Rha0RxM3pQSWxNUTUyalFoTjJOdDRacWU0aUd5YnFadkRiRmV6UVlCM3A2VVJqSkJaQXpVMHdhVTFMSGI3d2pBRmoycU1NQ2E0WmhHbzJnOEdIRE5iSTVJdXFqU3kyN2doTEZUY1MyeGZvSjgzM3F0NUcrU1NOVVZvUEx3Nzc1R0FDTWpwbWprNEp1WEhwaXV0dklFUkwwNTdZZFZyRWt2QkI4MDZlQ2pwRnJRc25vb0tWRms0bzYzbW14OFpRU0NRQmk3QmF1bmw3Qkg5UDRJNEFIMWpBWEVNbUZCQW9hMWhWM3JZdG02S0NOQlBSc3BkMkpzeUlwSU9mNWhCQXdDRldPM1lOWDA2bUxVYmIrQmVzdGFFdFNiazk2R05ZOEI3ZU1wUG9KNjgwWmxFQ1NLdUdUMk1RSkFBQ3habEVEQW81ZTRhM2FWUVZadldzTmtxUWV5MW5RY2pheG5wQi9VczVHMHRlSkNWc1RrNFNzaklCR0FzWnVYbnNLUEd3dVhyOGtJK2dIMWpOOVNEM0dMSmhMTFZqV3lnbm8yVW1heklTdGk4dkNWRVpBSVlJcjNrUFNJYndzeEszM3E4WVh5R2tzWTBJTUtPZUJpLzhUdU9BZlkyRk81UWIwVm1ZTitra1ZzTW5zWUFVSUE1SkhuQWtiV1FSZzVlRTVZUTBmbXl6NkFBUFhtS2NNNHFKY2xEems4WGxPUDBrQzlySXlobjJRUm04d2VSa0FpVUZSajZ0RUhnN0tpMFdIdmlFb0M5ZWhreXdzL3BOM2Q1a2dBcUxkc0FVMFdzY25zWVFRa0FubGxyMllleFhtVUN4UnptUnBDWldJQzllaWNnZTllSlFWYlB2V1NSYVFjL3pBQ0ZvRTFOY1ZyTHRDanNtbEVOK1p0V3RLQVM4OWlWNTJFOW9GNkxqSlpKSmFISS9ZNUF0Z2hwczJVOGtxQXpkOFYrQXFMK05FdXdlb2w4NHFwWnlEamEyb0VNREY3bU5ZTDA3Ukp0NEJzbnZsS3NubzBtam9EWjRvSlVTOVp4SWp5bFJGUUNHQ1JpaW5lRVpybVNmczNZczlPSVNiQjZ0RWFZamtHWG9oNnlTS3hQQnl4M3hHbzB4UnZsUFpJQ25RdTRLZytUaUJoU2FBZWJLTzNoV2ZBQzFFdldjU0k4cFVSMEFnMGFZdDQ3UXhDRFhxeEFrdGQ1eEtvRjlvdnRwSWg2aVdMV0ZuMk1BSUtnUm1hNHVWbkVjQkR0WGJRblBPQVNhQmVVRFJQUFR3NU9qVGxUUUFUUlh4eDlqTUNRQUJMMWtlRElrM2Y1R25SOHBLSFNoTDE4dVlJaXljWG9WNmlpQy9PZmtZQUNHQm05dUNFWEZ2Z29kcGN4cDBUUlZvUzliQVI2STYyQkJQUGtTQ0dyVjZpQ0lQTkNFUVJ3R25Sdytxb1hsRTg0cDBUaFZ3UzlXQWxzUnRqM0NGN2ZNQWJjQk5GVEE2K01nSUdnWUlRWDFKSG4vTGk3Q0dQVnNuVXd5TENuaWtJZ3RZWnFTWnM5UkpGSnU1NG15bVJyNHlBUktBaFJIbGUrdFpFeHpzbmlxZ2txMGNIUVdsbXFGeDlWbDdEMUVzVXFickQ5am92WC9ZN0Fsalk2amN3OEZDdFhQUGhTS1Flams4dEdLRUpQVFVFOVJ3ZDVlRytxQWkvREdrdzQ2dEZBQXRiVFNCNkRKRzE4ZkRZUS9OeTUyVmVKVTJXekZ0c1FYQ0Yzb0J1aEttWElFTFBmdVhKR0Y4LysvYzNBbGpZNnNrYkhxcDU1MFRsU1ZBYm5uSUxXL0FzcXlFcmErUFdqRHppaUl2QVZwcGk5amZjM0hvUGdTSTlRSk91YnI2bW9vSjBEbUJKSjFYdEcydkJoRFY3bDY5UHkrUk1XWWhmMVlMeUVoZmh6LzM0K0xCZklaQzNHM1ZOL2FvRnhVK2N2cU1FNm5YdU9kME92blg2TG5qRkswNnJSZXFWUW55RVJJNkk1OUhsTDI4SDg1QjZ3NXZhRkpRdUlxSk96WWRXejBhU3Ivc1lnVFc3YkpnUzh4WUhPZ1NnM0RLZTdtcW5QMnIyZVNGZS85bXJydFp2N2haTXFyL1VDSXRBSzZScVZqbDdHQUZDNEpBOWluSlFMRnBJUnNRcCtyVHRpVk1nVktPanYzaXJxUmU4VzdMdHdxcVVMblJPMHZkd1Q1Ujg2b1ZGSU1jZnRMWFFzc2NnTUdhK0poVk1ubFJ6TjVQUy9mcnQ2MHMzLzF4djRSUWkzZlZ6Q2l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UeHNxUHdBQUlBQkpSRUZVd0Fnd0Fvd0FJOEFJTUFLTUFDUEFDREFDakFBandBZ3dBb3dBSThBSU1BS01BQ1BBQ0RBQ2pBQWp3QWd3QW93QUk4QUlNQUtNQUNQQUNEQUNqQUFqd0Fnd0Fvd0FJOEFJTUFLTUFDUEFDREFDakFBandBZ3dBb3dBSThBSU1BS01BQ1BBQ0RBQ2pBQWpzRmtJVEg3MXFkZGVmMkoyczlTeG5tRkg0SmtmU25MSEJtbldSSktHRDMzb0l4RWREVUZ1TmhMTHdmMkt3SmprUSt6bnpDQjRkTkh4Y0VSSFE1WXlHNG5sNEg1RllQTHVFNHAzbmVQUzZkQkExSnM0cm5PSms3Nk9zd3JUa2ZJdktjOC9uaTZqcU5tTFJkcnF1VmdGbkcvM0lkQUFJeDZ5MWZxYmY0L2d2QTJtODJUdVJTYXhZb1QvOTVzUk9xZENGU0htZEh5bWNBblU4L1NZWXZnNjdBZ2NCVThXdlVaVWhWandncW04R2VqWThDVC9wUW5TYUt6dFh4RE1YRHoxUW5xOGd0Zzd6QWlNZ2gzTFhnTW1Mb1lnUld2bWxLYTg2RWpQWVNoZk44b3Z1eGpOS25OSWo5SEgxeUZIQUxaSWhKcFFEUm5CVUZMWFFEbEN2WEd0azB5cTFRNlN6M2JWMERzaHBLZTNLS2NPRFFJNUlTNkVLanNsbGtMaE5JRjZoSHBCWGJRcEgxa3JPeElmdW5qcWhmU2txUkRMREFFQ21NQS9HS3JtVVpFTmhkTUVZdFNiVVlQNEpLaG50MWt1Z1hvaFBXa3F4REpEZ0VCUmlFZEMxVHdnVmtQaE5JRVk5UTdyQlcvVHMzU1hRTDNBMTVPbVFpeXoreEdneGVtWlVEV1BpT2xRT0UwZ1JyMEpjVXptbTdqanAyeitTNkdlcjhjcVpNOVFJekFDNnRWQ0xSaTM2NEpRZE05QWpIcEJjVGFXNFZLb0YxUEdFVU9QQUUzZ2wwS3RHRmY3SXFHNGZvRTQ5U29Mc1R4TXZSZ2srenFDdHZWV1F3Z2NzVXZTVUhUUFFKeDZ6ZmxZQnFaZURKSjlIVEVENm9VQk9LQ2ZnWVZqZTRmaTFGczdFOHZCMUl0QnNxOGpHdDdHbXdMaXNIM3lsUjZZT1BXbUhvM2xadXJGSU5uWEVYbnZJYXNDNHJEZGlFc1BUSng2bys1SWdsSEQxRE5JOEpVUUtMdHpLNWxsQ2NuUk9HbjZRdVZSYi9LL0t5MXhBalAxK3VLNG53VDhiYjJqYW12NThQY0dCOENqM2hFMVZUd2Nma1JDS3BsNmd3TzdoM1BRYVNTekRUSjFFWnpUMEhqVTA2dVV6R05pcURIMVlwRHM1NGdEb040eERVQnU3cUtSOEtoMzJGc2cvOURIL3VMMk8xOW10SWFwbC9uY3JaMDNYR2ZTWXRlUDMxbGFmOTF5TVBaeVNnbnJpY2xTUkI5MWlYazRjaWNSQUIzc2FiMzZZdCthM0x1eGxDampVZStnUjcwU3RKdnp5cEVCZDZ3dU9qaFovNEpFZFVIbVdXTGpoaHVMblpXY1BGWGo2eW1RVHV1TXhlNnRMcmtRanQxUkJLYlFpYm9DbWY0blZnNUdEMWladXRjZHd3NmxvdDVrWFp4dEIwOHNpUmNaRmFGclRyd040Y3g3MXRXUks1OTZLRW9JOVM0SlBQTXFXeDkxSWQwYzJCMElOTnkyWG9wakF6bDA5a3BTeFQzcVRYblVlK2NkeUdERC9vRGJGT2Vtb1FpUDhiSUorZzZJMzFLeEJVVTlYMDlaaURldXlsU2FwK3JjdmRVbGxNQlJPNDVBM20zcnJkbVQ3RjFyUlJhbmxwVHFVYTlxcVVhQ2owdW0zaEV6dzZ5STd5Zm9hNXFxSERRSFRaMmVvaldVVndoeFhtWHVveTZoQkk3YWNRUmdRL1EyWHFhbys3RkhuWXFnM2x4U3VxUGVoTE55SklqTkcwdEZ6K3BWVEN6aTJqR0ZHVk9uSUNqcUI4cE9UMm1kekNVNUZLb3IwMXVka3ViZlhZWUF1SFJHVm1teW1taC93dFV0UUx3V2psSWhTNzNKdkNHVkZpdTVzS01lVG1wcDB1QWxwSVdZd2dQdUJHSFRuR1d3ZXV6QlZwZzZUZHMrNm1MNk9XSVhJRURUcFpkZWM4MDF0OTlkRXFML3RsNEQ0c3RKMVFiMTFxSG05STFRWTYyY0ZDeTZzS1BlbXAya3dYVEZIM3VNT2pwT0dlcFpQWmI3TFh2MnZvKzZwQXB6M0U0alFOdDYxbWxEMUtOT01EVEpad3RBUGV2QzFDc25VYS9zM3BETU9hOHRlTVpSNzZpaG50R1RNZXVjREZnK3E3TDBVV2Yxc21jWElRQkQ1TnhpLzRyZGQwK2kwYU5wbDNYOXFZY0IwajVtbTRvZUYwUWxXbTdBUFJDbDNvU1pHK0w5U0wwWTZhZXVmN05ZWXZzUlFNZkxiYjNNQSs5MlkrQkZWQVBVazR5NzZzbDJUcWExR0d1Rm9CMXc0VkdQaXhFSkJpMXFVWHRwT1dhT1I2azNacllobTFaSlAzVldMM3QyRVFJTnQwZGNDYjBOOU9VTDA0TlUwMUNQZHVyNld6MlVPbSswWThoZk1INXpuWEczd1pqUlppZzhvcm1JOVlrNTJOOVBuVkhMMTkyRVFONU4zbWJNWGhyVkQrKzl6ZzVTVDBlOW9HN0lvdklieWlCa3JWN0ZXeWRqdER3VExRbGZ5RGh2bVA5Um5XajBqTXNuYTBHQWcvM2FGL1JURjFYUDRkMkFRTmx1NndWVC9yWWVuakxVQnFtZlI3MjEvdFFyZVlNczF0aDI4RFVsMHVKbjQ4OU5TRjBOOVk3b2FoYUVlSW1XNktjdXJJaER1d01COUxHeE9WUCtZd1hNd0ZZR3FhRkh2ZEcrMUtOUENTd1o3Umc0WTBkVDZSQ2hFTS8vSDBhR3JvWjZFMzhvWTJFc3pUWlBYM1crR3ZidkVnVDgwM296L3JiZW1IbEVsYktpSHZYOGt5dkliU2dEcnhsdzhTMGc4K3hWUHU3d09hL0theEwxWVBtdWM4VjdlaWh5emMwVStxdHpXdGkzV3hEd1QrczE1dnhhZmIzdGgvcjZQZXI1NS9XUXo2T01vUjQ5aG5paCtRTHozWFpqMkN1RUpLVDdSUnZwNmFHNHNsdWQ5RmRubGJCbjF5QUFNcGhoSzZndVhrSzFQT3BGM3FYMEtHT29GOXJIUmcxZUZTLzRLWko0K0htMVNmUDBJSXBlWEcvcnBCVHFqQksrN2hvRXB0Q0RwakwxWmVPN2lLdEhQZjF1aGxIaVVjWlE3eUJLWFRYcHlWZjYrSzEwSFNQbzZVR1dobkJQbkZPb1N5NkVZM2NRQWZTZzJiSU5ycjZVZW5qVUcvbVRrQ0tQTWdOUUw4ajhnYUtlWGY1NmVqQkJMSGxyWktaZUNQQWhDZVRkWlAzU2F1eFJMNkxJbzR5aEhvMlF4cGhGcEwzZzVPZUt4RDZ6MitqcGtRc1dFeDhFNmRSNW10bTdDeEFBWTJJN0d4ZFZyWUdvUit1Q05LTjc1bXJpM2pGVm9SRDE4a0k4S3FNUHZEMEkwcXE3cUlaeHBpMUNBRDE3WmxOVUQwUTkycE5iU1ZYc2VNbFcwS2NlN1FrcEJmUjVqZlRxVXBYSlF0dUJBRDBIWGRpVWdnYWlYbWdQT0tuNEs3U2xDd0xNNC9SeFBwOTZPQm12OTYybmNPZjBWWmRVQk1mdExBSTBWTmxlOXFyeW1WT3Y5MEpwdkFOUkx5ajJlVUxjQXFHMEs1aTliWjk2S0cxT3BjdnZXZlZUWjNUeGRmY2dnTWRsU1pPdUo0amJ4SXNIcStWZzFNdGI2aVNYMG5BVDBNdk1JUUdQZW5USHJLcWNqWGxjKzZsTExvUmpkeEtCS2ZSaHZQeE1jVFlvMnoyWGVIcFN6R0RVV3dzZHhwOTRUbFJqdzUxa09HQ1d1QjcxV3U2a2FYVUJlZnVwaTZybjhNNGpnRDVNb05oUm5JR3Z1SWVzcWFvNUdQWGNESTZVSDNJMlRwZlZjSi9VSFRFMTlLaFhkTWRxQ2pWazZhZE9hK1hMTGtLZ21yaXQxOFE4cXA0NEJ3eUMrKzdSSTEya0ZZTlJEd3NEdHkwWGVETTdyYlZoeGxOYVErZ0ZoYU1lbU5hWjFwS2xSWGo2cWRPeWZObEZDSUF3TVl1RFYxL2JRVkFTaTBuMXhDeXI2MnRCNGJOU05yZWpqRDI1UWtiVm0yUFdaNjJ3OWpSYzZSUG1yTHpUMDNTMUhsTjNTQjkxVWZVYzNua0VoTjAxOCtwQ3g0QmhSMWE4S090dElNZXlEWGtla0hnUTZ1R0k4WUxKYmQvek1SSDBoTlllNEJyUmU4ZUJwUjd0cFJ6VHNrZFZOZnVvYzRyWnQwc1FvSjNadVZoZFJuRjhEcyttMnJFRVJCU1FvNWFVVUhiSDFTUEpKYk5FRFFLY2U5ZUVteXc1NjNsRjNJNDJISThQbWl4V0QzaG1KNmc1TlNYdG95NVNJdzd1UEFLWU5DVzhnVEV6VHlReDd6MkVhMWxFampoWklWTUt6ZDc4VEI1UnBsem1oanNzV3RaMDlESWhkVVVIVzhiS1dqMFY4eEF0Q0hEdnJFcTUzdW84emV6ZEZRaGtxa0lrN045OVk0bEd2UGpKWWFwekhUbHFDWlgvQWNTTDV5WWtoQjZ3VnQxSnB3bHI5aTYzbjFCeDJSdFdNRlBVTnRFK3FLWEhabGtsbXNrYjQ5eGJuVlBNdmwyQXdMZXYvZWt5T2xHSVYvejA2WitZamxhbzBPWFJiaE1aVmlMQ2s5ZmVmcmZVSkY3eHdkUFh0UDNVeWROM2xKRFUrZW0zQnNHM1R0OUZVaTg3L2R0UzRrb2hQa0tlSStKNWZnN2x4NENycDNOL0w4MnlyOGM4Uk1zODhHbTZFWFRWZTZxTEY4QXhPNGhBbVhoZ1hEWlNFYnlXTXh1SlVrRU0wYkdSbUdhTXppMzcrV3pTZy9Kd3A1SjZWRWw4WG9qWGYvYXFxODF6TWo4YmpPN1NKenZ2eFdybmFXcDk2K3VwdUxMSVovTDFVbWRrK0xvckVLaUlVeWVQMzNiYkxjZFBsY1I2TzFJbHZHZ1RvcEJMVHZpZzdaZzRkZE50eWgwL0ZjNkhwSk0zM1hiOFJJbW8xem1GOGxDY3BsNkF6eDNBWFZoMXlxMnZkVGJBTVdYNjN1MzVOa1g2ZXQ0anM1a2Z0L2ZjUTUzVnk1NWRqOEFoNGJwMDZ5cjc3ZXRMTi8rY0hqRERwZERKbGN5N2lwMmJmaWN4T1N4c1F0M1ZHUW0rN240RTF0eld4KzZ2TE5kd0x5R1FOL3U0ZTZsUjNKWmhRS0NVdUlNeUREWG5PZzQzQWxoUVpvUGdSOXJEM1FxdS9SQWljRkN1TXVnVUFUdEdZRnNSbUtITnRnbnZXTk8ybHM2RjdXTUVjdlRlOVVIOU9zNCt4b0didnUwSTVNVjhFTkFwQW5hTXdQWWlVS1dEU3ZXVjdTMlVTMk1FNkFQdXRlQ0lQUlBIaURBQzI0YkFVUXk0bFlRREpkdFdBUzVvdnlLUUtXN1VOd1o0ZXJwZmNlSjJiejRDUis1NlJYYnp0YkpH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UJ6RVpqODZsT3Z2ZjdFN09ZcTNiUGFtcDFUeDI4amQ3dzBieHNwVHAyOENUR256Z1pCU1VqWFdiV0p4ak5XMUVrbWdxOE5pY2dzQTVFS2dhYmlELzJlc1JsTW5LT2VtTE9KeGpPcXBUb21ncThOQ2Nuc25nRGkzbzNsTFc3SHAwN2ZxU2kwY2NNeFc5VDFLbXI5ajRQZzJ0dnZsb0ZIYktMeHRLUkJmTU1OYnpJUnczb2RLZi9TSmxYOUgwK1hBZGJzSm1uYlVUVUhoWGgwNnl2d1RlTFdLMFBsakJRUjlSRWROU0k2UXB3UHBWT2dVb0ZNTmhZOWZCRm9SOXltWDJRek1vVTlRcjJtRUE5ZUpBWURaTXVVd0tHSWRjVm8raXFyb3ZKU0NOaVE4V3praE1DSVBQUnVESTNidkhiTTdCSHFsWVY0ZUJ1NnRncndzK0Z5SmtTbmJXT3F2d2FCRlJ0VW52R0hRYjN0cUYyazNFMFBIa2JqMWpkTjYyVjdoSG9BWlJzRzNHQUc1Y3hHd0JmZmR4SE4rYm9RQ3k0c2ZZZStCK3A1UXBIa25Rb2VTbE9sa05CUnRENXUweSsyL2hndVppODI3MjdLaHg1M2MvK3RxeGltbE43eVZwYVQ4YWMvelhtd0xIb1ByTTN1U3VxTnBxRmVTSWlzM3NhbWdYdG9qMUR2L2syY2hQUUFsMlk3a2FGenhCOWdtL05UOGVsUWZubFhVdSt5Tk5RTENVM0dXOThEcTM1SmU0VjZ3WjlOOTJ2cXBxU1hZdmY5VVg4SWFzN0RNa1MzNzA0R3U1SjZVMm1vRnhacWJxYWgyalBVMnhSaTlWZVN4NDNmRG9uTm5QT0N6ZmtKQ0dTOW1DQVllM0IzVW04dERmWENRaE4zL0ZTb2FaY1VZT29OQnQ4YW1CV2VWRllmOGpRMDU0T2lFRFV2SmdpT2ZtOTNVcStaaG5xcGhFTE5UUjFnNnFXR1Nnb0NMekVmeWxLYzg0S2dYbFdJNzNreFFUQlQyNTNVSzZTaFhpcWhVSE5UQjVoNnFhR1NndU9nbm0vbWdvbVFFUVQxWnFLYjI5WHM3cVJlS1EzMVVna05CcUdSWnVvWkpOSmRNNkNlUDdrTERvZW1mcUFlOWwvQzI2NG5nbDFKdmJFMFc0MnBoTkloRjVOaTZzVWc2UjFSQVBkOGlha0xmZ2pVby8yWFZTOXVBbytlZHVNSzkyZ2E2cVVTOGhvN2lKZXBOd2hha0cyQVdTdGVubHhvMkFMMTZOemVvaWR3RUR2TXU1RjZyVFRVU3lYa05YWVFMMU52RUxRZ2l5ZVBvU2RsOVRPK0FxSmVQdnpBWTJwaGQxS3ZtSVo2cVlSOEFBYndNL1VHQUl0RUQ0QjYzcE95VE1qQ0JVUzl0ZkFEaitiS3JxUWVwcVFoZTAxdGk3bFVRckZjS1NPWWVpbUJNbUwwTU1rN09IUWtOSytUMU1ORGR2OUJaeGs1ZCtHQVcwaER2VlJDQnBsQnI3dWNlaU4zM2Z3MjJhVE0xYmVLNTYrbzFvMi91WFR5NTZlOWxqNnQ5TEpsRzV5NGEvMjVNakIrVitjMWJSdE5uaWZlV095OFpqVVVOWGlnSEhwU05ocGV6WkxWR3dFNTIxYnZKSzJIKzFDUDZ2VzZQN2RaNE1sODdwYk9HNjZ6TVpOZi9jSzFkNS9JSW56MWljNU4vMGJGajcybGRQSURwaldaQjU3K3podHZlWVFrYnUyODBPVjg0R1B2dlAzT2t6SUR2WWx6NDRrNWxmbEhVTW1vMWZ2NG5hV1RmOUpXNmZJM0l2UkRIL3VMMis5OG1aZmVxNVplSFNqSDJFK2U2THp3ZlY3ZUlFaW0zbFYvODRWbjNsMUVzMGI4NXRtTVQ3eStlTE50dEkzdDdubmk5U1Vybi9tbnAvL0hHMjhGQUJOdlB2V0I2ZTU1VkVxbFU1SW5heklWSVlwQ0xGSHNEMkQzSXJSMzltVngwdHZ3eUNQTCt5SDIrRktuS003NUpYd0ZHWXRpZlZtcDd2MTc3NFlzSzBHb2lVNXpLbHJoQTZwRXZRQUN4MnpHQTBTSDN0UjdHakxBbWFQT2tCOHZ5K2ErZEZxclFYNjRiQkM4UjZCMTRoY3BlcndvVHVFdVFDUTVPbElqeENOQjVqM1M4d0lWSzI4RHM5blRrQ256bFBMZE4wdS8vS0g2U2Zjc0FSekYrb29PeG9WUWNtaG5LVTB0dGJJREpZSGVFTDlzZE5NMW1Yb0ZXYWxWZEI5NTFpTzljQytpME9oblNEMEhPdXFWTExFNlFyNWJUcHlpMjd4S0wyK2RLS2t1K2d6YVZESmFGRVp6UWFZTzVQNmRWTkg5NS9ENjZnRkJ1eGZWRG96Zko2VjNYSnovWWpCU2NrK3J4c1RiZzZhZGNoM3BMSStJOWVsZ29uUzJIVHdGbldFZE5EMEpxQmU5NGRLbVJUMm9aV2pUeEV1ZkFTS3pObHp4NW4ySWxOU3IrQTg4THB0RGRDNXVZcXlHNE10Q3ZQNkxWejIxTEc4WUdZMDMyTjQ0SGZ4Z3dSNjhSbjY0YlBETnpuVkJBRnMwQzd0WVA3OGFqSlZOTlEzMWN1TDEvL3FmUUQrTkxGbmdCT28xWmJUNk1RZzlSZng4TzVqTVd6SURVK2VrVUluQzFMdktwYW1sRmgwcG5mdWZRZkNQdGxveXVpZjFSc1RHNy8zenAwSFlyRlloTDU4UUczOGVaUDVVMnlDYWRrdTNxcHFwS2xkVmNaSjYzeEhpMlVIbTgySjlsYkliNm4xcDQwbVlGTWtvWDNuWW4zc0o3VlVzSWRNU0VqRE5Xc1NMRHRMT3JMbFhJRm9ZT0tZc3gxcmdRaDE5VXowL0xYUFlFakpsVllFanluYUdDNHFHY3FqL1NqUlNoYWtCWjJ5U3V3TmtsS1JleXlkYWptb09kZEhSeldyQVVaZmZvRUNtYWs4N0Y4U0xaSXkrb3ROdUw2UFU3R1RwdHltK1RHMi9uOW9YQU1KWmlncEdyaVZEOXNoaElTY2JZRTFOUms5ZWV3ZWkxYVJBdllrelQvR2ZPbjBhOFJkT2s1TXFhZmtrUGJBSVVDNWRUT2lkcE10UkwwMHR0YXE4ckd6d2hOQzJVekwxbm55NmlGSldLK2VvNC9Ec3lMY0FCeldISHFldVl4SVZzWDVEZStMR1c1Rkp2T0oza2VjejhnNTVmbHRsZnc0dVFVV2hQM0x0ejBKb0xsTmFvbDJJQlVycDdvcFo0dEdab1A1YlVxWWdIZzJPYnJUSkQ4emxGZDVTTmdoR2JSWHJTN1M5OGVnQjJBaTR2SGdKWGNnZEVxOVdubWI0RWF1S2pQeldVY2RhSkU0SFEwZjJSbFF4VmxKU2I5UUhyRDZOeEY3VXE1dmV6SlIxWGE4ME1VQitXYXVlTElONlZ5ait6aUE2VTFxaEZEeGNlVWhMQk4rQXY2NGtKa3BpZzhvbGQ2V2hIbGxLWjQraE8zUTNOSFVJZDlhQ3lvamZxTkRqUE9xbHFPV3FWalJ1VUNyNEM3Qms2c0ZlRklYNGpNN3hKV0Y2RGFveVpYMmZ3U0RyVmhmUU9GVkszczdCVUdueEM3TGtxbDRRNHU3T3FxcDhFdFE3aXBhaWlETXFwc3Z2Q04ydUZmSHdJVTM5SE83SWVrMEt3OFF1U2s5d21PN1NLWE5JYnBJZU5UVEYyZndqTW5YRzlHSVFGRHJUS3NPaDhQUk1SVVorVVRYLzhIRW90ZVN0WUVPSDlTQWxxVWR0MTJVRkdWbjFIdFJ6SGZCM0pXVlJBUDJzTGpEbnpxVzJBRjk1V2NhREhYUG00SHJCTkR3SWptQVNaTjQvaC9UenRBN2NLbllwdE5hVmVwUGk5VzJWb1dqTlhweDZZTHF4ZXFscXFhdXd0dkUrNWNOTnVhamp1czMxa0Z3Vm92UXFKWVlqYUpnOGFmY05Xemg2ZjBWR1FxRSt1UXZmbkpiTDZZa0tHRGVyb3Nxd1dkSmhqSjVySHBQYi9yME5rQ1JKUVp3djFGVEdsbGcvckZtSU9zM3JTTkl4WXpwYkVoRjExME81TTQ1alp1SjBvS1JWcU96SnY3aWJSQzA1aVl5MXRiZ3pablRTc3BKNjlKeDNTVWNja2JkbkQrb1ZEREZvdmlKUkhqVXhjaE54V1N1YUV1S0g5VDBETWoxSytKR0Q1bFhsazBzS2RjUEpWYmJkNFBHb0J5WHpXanBpME5CTjJ1dzFySW1JVXcrekgwTzlWTFhVWlZXTVN0VGNtVnAzMDJreGMwR2JiS1BnWHpEeFJVc3U5SUV5ZTJpRm5yb0R2bmt0ZUpubWQ4NEMyVExXRmxMUG94dXg0SWhxdElldmE4U3Fzak15TTBJMDU1UUk1bjJhdG5YcUJPQ2w0cWNJL0x3ZGhvRG9va280Wk9WTk5WUjg4aS8wMmJFdUtyR0dOQ3FUWE5YMHRRb3FxK2MzYkhTZVVnQ2dnMXlMcWd1dzB5cHcyNnBoZ2FZVnhoWHRoR0ZLaU0vcnRvUGFaOVYraWJ6blRGMXdON3I1S2JBMThSNzFMblA5RTZFZVVyU2xCaU1XVFBFUklScW9EUFhTMU5JTUx5WGJXV1VQL0s3VWExbFRKcGNHWmxrSVk5ODJGUnNWZWd4empTc1pJREVabXlZNVVNU0FEZ3UwSXJPQyt5K2d5TFh1M1N2bGdtb05WOVRiZEFVeW1OS0JzNHFka0RGMjNHbk1JMHZCNG81QmlDTGdXdnFXUWVFR1BaV1ErSXQ4cHNXeGRFQm1sQWJGdVhDeXRIcDBJeGhLTmlRQmNnNkZzRHhoVUZOUk0xQzdCQys2VzhjZzBMUmRCVzRVczRnaEIwa0Q2cFFRc3pJT3UxWCtGQk42bFYwZ2FUdmdndDd6V2pyQ0t1alJ2WU9tRzd4amN6M1lBUTFlcWxxYUlRRzZIMWJGVm0wSDloaHdXeDRDNEkreEFVMXhRZGRkZ3JRZ0F3V3JzR0o3YkZSMUhmcko5QTZNbmZJQ28rUHp5RGo1RnJrY3MvcGludktLNUs3R1JOcTJCN1VRbENtcnAwWmdpM3BsRVFKWWsyc3hJS1J4ck9nT3hXaXZZZEFpeVpmNzdsbE9UcEROTnQwNllRZFdMYXlvQjVvWTFBdHRTc2s1cm1oQmM2bGJaS256czRpZVVSY2xnRWlLZzROT3k2Q1NZeENpVlI5STZobDBBcHpsc3FURnZwWlNRYXV4WHRSYmttTG9IUXRRaEo4MEJHbnFwYXFsb1FwYXBtdldNZ1JIVWIyc25xb0sxYWRpR2doYmIrNDNSSnRBemxxWm5PMzBOZFhsU0xKcWpDMUE0K3hvUU5xN09qSm80SmlkdFRRTmVlV2Mrb3pNSjErWmdwQ3VWakVybDMybUR4eDJSZDFGOWdiUXBZNmZPS1o5YVM4MGxkTWRjTmd1SjNSbVJUM2FjRklSR1ZWM29PREI1aFVFS0F3dk1DaElBNTQzZVVrTWc4eWNFZ2ZIckIwdTJta0VrVWtMa05VenpaWThOTllpRmZXZ1I4dWplZWErNldIMVV0WFNkQnpxcTAzd2pLdDVTdXExVEY2QXFucGM0bUdteUZPMi9SVTdRYXd1U0pHeWphQnRFdFVtb3Q2cUFyVG43eGpaTHR5K1p2Q2lPeUNyYzlnK2FWRjkwRzJxV2huaUF0aWxlQy9uNmJvN2JOeXpYZzRSNTZvR0ZSZlZ6MWRBL1pWTStMQWU0aFQxYUpSWWtSTGp5b0RrdWxFUHpURDlQRm1TMWdZOWIzb01HakQ2YVJNRTZwa1JOQ2c2SEdBNjVtVkpFYXRITWdzcUlSWDFnSm16VVhaRzR1NWNYWWF4ZXVscWFlNHFOTCttRkV5NStVRks2dUdlVUhqTTJBYVJxcXBHMk5HalpGbGRYQ0VKekt6TTJFZXpmNlVFMUhPUkpOWEZIYURiSEVWckNHbVNhL01odWlhelZSZHhRYlhvQXRZUmZxak9QQVhnMExYYVZwZ1dxSGozcXpyY2hWUDRHc0l3SzN4WUQxa1Y5WENUNlVvZk9pUDFBZnRrcTRldTBOVENRUDZtVlFpanR3MFpFUUpVbW9pZ25sNVhFUTZpTGZYS1VXdGVlME5XRDJBYitWVFVDLzdsK2pHdHg1R3d1OVZMVjB0RFBmZUJLclMzcG90SlNUMGFRYVlwUzlQMHNjemYwZ2lEWUFvdWVIU3ZUeXA1c0lESW9CdzZRSHFBa1lzMGlRblhzZitDeUJrM09QdERnWTMrVEJ0Q1ZXTkdKejZNRUdnNWl3czVtRVBka1NVaGZrVTJRU1hZWDJzTmJVeGZEMWlnbVJVK3JJZU1tbnBvcWJLN3JVV3BEZUZrNmxsQld5aHFiTWtvNXc1NlRFZWhaNHhRMFZqZEh0UnpSYWFqbnRGTjB5amJPMTJ0WHJwYUd1bzUzVk1EVXcvbVdBMTFkWE8vUzIwejVzNHk4L3FEWjR0NldEaWdxZy9BM0QzYzBBUUI5VnlrcTFheUR4QXU2eFFRMjNhZ0Y0M1VvcDB4a1NpcXRVSlhPTEJRVzcyeWdBSDVOeXJXLzYzWU1keVA3ZW1uRzFFeWExTGJXaWV0cVlkbXEySXJxeklOdGJVMWQ4THdWVHhDcVlTcEVQVm9NWnVWQ1ZBNXJ5U2sxVFBlcmdQdW1wMlFiZ1gxMHRWeU02aEhrNWRaYWkydUszUlZEaFZRaUZZMFA2WWVyZW9adVA1Z0FnQjQwRWdITFMwRjZuazN0azFPOWtDMVNVQ1gyekhIaTVhcllGZUtYRSsyZFo0WlcxUVZWUWY1cmpQS3pIWHNTY2FYK2twb1NHWkZEdXRCZ2FZZWpMMmFHdWp0dDV3QktscEcwU09VU211RVJVdkdnb042Y3lhM04vRUE5WXd4REErNFUzWUJNd2oxSnYvbUwyNVBZL1VHcktXcStBTlB2N1l3c05VanlsSERhVUROR2dEa2dsL05TRnNhb056Y21tYUtuUDNMQWRyZDdqTTZNekJ5a1U1YnNxOW9KanR5Y0xIb2w5eW9JQmNUMGdwcERSVTNKV3pZeWZrVnFEcTUzMGd1WnFEWXNtWlc1TEFlZEdqcW9ZVVNweEY5UitTNnRSaHl0a21xQ2sxYll4a3VtckY5VU9yQjN1dDdOajMxdnZzV1pJTHJQK0FPV0VzMFpmSXZ5MUszcUtsMnB0MWN3WWdtYnk2TS9YYjRnd1kwVDAyQzRaSDNYbjBKZDJHV2RGZG02WmNtWWVzZk1xNnNUU1k2NWlHWm11SUg4enM5WXRLRFdqdkF3ZkI0ZGc3ZHN1RHBLcHE5RC9sYzR4R1ZRbmVOZEV1ZTVFVjZBYnlFb2VYVlFhblMxQ084YW9qQmh3ZWt5L1dnbmw5ekNPZkQ0RURSbkZReEtQWFFFWU5TNzE3Y1VULzNyOXBwcURkZ0xiRjZLZ3Z4c3QvN0xMcXdKcHVESDlSdzF2aEQxNWEzSVNlZlpwMUJNczF5bHAwWUdLZUdjOFNUSGN1SU5zaFpJd0Y5VkE5VjlKMTZ1ajBJOVRETHREUnRPSk9MQWpXbHFEQWtyTkJWT2JEVmp1ZDFOeDdoMElKMGxzbEdmdkRyREJUTklsdkJqdjlHaDZFZXlFbHBheVFGMTQxNk5IVFhwSVQ5cVlSYVJod200T1VJb3pnSWY1b0JGd3NCMGFhTTJHQzNjeTUwMkx5TWt5dnA4TkNUUWNrdmFDTTFEZlVHcktVODN2cys2Sjd5MnB1U2VuVTFzY1ljeHQrUlEwdlVuUVVJYWVRZDM2QlRQSVM1M0pMRHRSQUdFakZ3b0o3SEd4WFg3UmNsS3VnaFVEV1BHYVc5dFIwaFMvSHlnNjFXUFNwWU0wbnZRWURjc29tNDZDdTJiR1N0bkc2anlsQnZSbG5sdkM0cjE4WHFKVkF2Z2xqUnRIOVFxemN3OWFwQy9McHNSaHJxRFZoTGJFOXVaRW41bE5jZmcxR1BNRitWOVpNL2xucEJXYkxpRUt4TlhacWNnM29KRzZtaXlqb0k5VkRFZ2ltdzdtN2ZsdHR5UWFwZHpFbEpzSFZlWjBGSm5qMjh1b2lnR2NDMHhFVmRhUEJHVSsweE5LZkVVQTlBa2FrNXBWTnlYYWhIYzJqYlBDVmI4Y3c4WWtxbU1ZTlNEeDA3MElEN1RUdXpTVU85d1dvNVdUYmROVFU0OVpEM0RJQWdxN2VzNGNRRmNPZzkzcXJzNGhrWXZKeWMvc2tESkpESWV4Ykk1aHVFZWpPbTBzanQ3Y2xBYjl2cXd5QnZCMlZFZ3EwMW5VWVRoTGIyNDVMNU9Ib3lKT3ZTQnZKQkRTYTVoM1RmZWxrTjlZaWNPTDl1QnZkY0Qrck5lZG5ocllaRm9VY0pERW85WnhaU0RiaDRsbUo2TmczMUJxdmwvUmIwS2RjM2FlZDZSVVU5R0U1QzdTSm1BQUFnQUVsRVFWUzFpbEJ3UVpHZVJzeElsZFdhTktuVElPQzhra0FWZlZhb3lFR29oMDR6WEVjMm1CcmxQRGpsZkhYZUpPQ0t1aXpwSVBDMzh4d1pOVmIzK092bEdkQ2JGMFRwTlczYXZjeUdlbVN0RmdQNjhJQjBhRVY0WW1XeUZJMVJNeEcwYWUrTG9xQ2FUQnVVZWxPMjZSNVd3R05lbDRUN1ZaV1RQMFl4MkFBd0haVkVQU1hramc4TVZNdE15WFlpYWxYVEZVaExQU0F3aHl5MHdzMmFySkptRjFRSU13dFl2Q0xTTU5TZzQrVWhPaVRsUExyWWZJTlFyMktHRGZrODAzUWxOSGlMeXpYUE1xb3lWM1ZaTXdaZld6WnVIbDFsUkdWKy85VHJwbTNTQUI2VWlBTVFlVHVsdEZrdDlmSjByODdVZEFKZzhQbGt4V2t1Zk1hRnlOY0tJNGFDRnFYQW9OUkRGZldka1lwNmRYZS9lZ2hGK09tb04xQXRRUTdUVzFNRFU0K213NFFBdXR5Yk85R2tVVGNQZFh3UVovTWdncUZtZ1phNjhNSUJBRk9xaXFEZlFhaFhkdHQ2YU1HOFZvS0JuMWc0SmwvNm9ER3FqZENmYWhaVkhGdVJNaWV6VEt6S0MzNzgxd09xbmJ1ZElUVUNhYTQwa1pxUEhkWkRUa3U5R1dKUU5hdVY1YnBSRHdrUi9vSmlacGhHWmdKK1dTb1psSHF1eUtLei9GQXlyNnNVWmhXNnhENGVWOVQ3TTVJTEN5R2liSjRZREZMTGxpdDFTbEp2VERZSklNNVNJVEVIK1NVYmFSK2tsVUlHWnMxYWFTeHNONElEY24rNUJGYU1tMkVPRnQ0ZWc3RGFCcUFlOU5xT1FMVm50UTVBdUFEdnFPbzJqVzF4VmFVV25WMHI2anRsWEppWEZtQlZyTlU3MmxrTzhuWTgxNnBUWGRBbDRxRXhEeUNUeTFJUDk4bEdVRFRSdVc3VW00bmRtcmlyYkFYbElSeE5pVUdwVjdIMjFLTWVJSnpYZFFxenlqTk1hbk5sUXZaZ1dBZzVEZlVHcW1YZFVRa1ZxTUd5ejFFbDBsR1BsaGNrVGM4Y2E5SWpmM0t1SlFWWW5sRTVXNkRUb3ZiTkc4enpEUXRkdGdHb0J4c3FsVkxtbHJPNERkV1l0WG1LaHpxeXJCTzZqOEJXWTJpUm9rcXZ1b1hrbE9OeStmMWtscVVPMGpPQVF4bmkzRUg5WU4vUFo2bEhOK3NEZWtqb3ZxOUg4SHRFbS9odE9XcFkreU0zVXZXdE95ajFTdlpHTGJzdVdITWRGbVlWRXN4a0JtMURsZnBRRC8yU3VwWmt1ZHNhcEptQnFZZDJLd1FhcnU1UWxyZk5vMG5kVW11ZUNtaWhwVE9tSFZUc05NVXE5M2ZTUHdEMVFGM2FKcFN1NmxwUVVWcnpzNVNBKzRKa2xNMlZoa0laUTNmV2oycHhoa1RocGl5WEQxS256MWpJWldyYW56bzB6bmlrTWZrczlXaWRjYTJwUjljdFpmbGswdVNGRmFmYnJPd2pCbXBxS0ZOUno0NFFVbkZiYWE0NzZqVmQ5K0hlVU5QUHdoTEVHZzRnOUk2bFhsaElWazdmQ1FQVWtsYjdxaWJTZk5UU1dMMWpKZ1BWVENFQUtDd1ZKRXB0TFRPRldaVThuRTU3RzZ2VkJaTzE0RXdWb3NyTEZEOEE5VkRlbkZGVmR6ZWFmb0pibE9yUUtUWElYS2JOSTlZNVozU1dOVDA5b1BIUnFIRm1ydkU4aUsxWkp1bzgrbkxmUGF2aGlIQW9CNDNsaEpWRDB4Uk40MFBKbE5tZGVrUzBKYXU2UWJtQnRZdEJDeFpWY2lycVdUUHJuUmJEVHFzZGVBcU9ldWlFaDZYbWNoYVhwa3RRQ3pGbDljSkNrRE1EN2lDMUJQcldRbFpUV3IxRmxLVmMzU0FBQnB2UlRNNkJiVnZSNFkrVVZra2FodXBZZVVYbGsrdU1PZU1INTZSM0FPcE5tWUtSMFZoZVdUREJwaCtackNsMk4rYWxjdHBzTkRiWHJGRm92bUM2TTJkOEdWbmRuQlZXdWZVdjhIY1dKSlJpQzNFTTk5S3JaMHlnaFRKWFRDQm5USXlKc0ZlSXpkdEFZUlplYnpVbHg1VnBsWnlLZXZwWUtYSkFyN0VSZWRmenFOTzhVa2NMR05WQ09VV3V1dGJnYnJkV0x5eUVuSlo2QTlTU2R1UjBvWFNuMWRKWXZRV1RBVnd4dzZabmVvaGtwbmxrNERjVXQxSGRYelBTY3N5ems3WGdxTExXQTFDdklVUlcxOExlZ1hJK1JBWFR3eE00eUZEM0dMcURpU28rR0VGTnBBVHVDOXNwWmZNbXVCcWdLOVpFU2tuekE1MDkxeDlFWm1PUFRCNjZGZ3pyYVJiblVHaDJwUjR3dFBmeWhIeFNoRjB3WFg5NWp4blRtb3A2Rml6cTQ2eXVHSGl2ZlVjNmptR1lFWUJoY0xLV2tERTFiOGdiVmg3M3BvY3BuaENFTGZVR3FDVzZ3Y3oxeGpia3BEdFhvNEtCMEN4ZFk2N2xvUVVoZ3dDMkhsZU1MRG81YS93MHQ5RjJBbFZYOVpWcFJkZnJRVXMxRHlSeWRMUUtFajE1MTMrNGVRdzY0UGs4eEJ2MFEzTjQ0dnlJTWVwTnk3TXJSS2ROQXJoSDdCZUxSbXhMTHBQYWl0RUhXVElEN2JmUjdkblYwYzBvaVJLV3lCZ001TDZFbmhaQnBHcHZoN0E4UW5XbloxUmxhTm1lb3Q0NXBuTk1PWU5GV0JzOW1ONmMwWDZxMDB1MDM3ZmFNeGJESzE3bnBERWprSWlOeWRGNHpkMEJ4OWNvNFlnYXowSkMwRzJvS00xcVd4Zld0WmFxUzJpbXZhUkVSMThzVzFGZHBDQnVwZ1VWSGZrRkFNWStFSElHQWJUUEVBQzNnRGNvVld3Q3BBMVJvZk4rbHpkVFVsckFuTFRVODFabm5vbEhKYWpTeGF5c2MwdmVtZlovNUFwb2Fac1NNa1doNS9ucVhWMHB2R1p0MVhpV1pGenRaTEw1S1VMSm5Ba2tYU0ZnWjFBdUhkODN5ZW9RTkx0R0Fod1BLaWNQMytYdUV4VUZSUnhZQ1ZOMDNtMU56WGlzUWVXbXRaSXBDenROb1RlTWNjOTVGdVdnclZUaFBpZE5nOFV5bEJ5VUZZT01Wbm4wKzJEemNuQklWVDRrQkdsN1c5T1FrcmFXNkJFOU90YXpSVUtsVEFYVHJyRFJRRUhuV3BoSEw2Z2dTbkUzY001Q2pyRmlOaVN2RmMxNElNbkIwUkR4a0FZRzgwNDdwRGdGaVQ2N1p5MXZFbHVjL09pZStRYkdsS3hkcGFZVmxNUkdYbGI4Y3JlWlYzKzFUcHdvMmRtcGpFSFRsblZTNkZKSFY5UkNNWkZBMVprSmwwTGZoSk5mU0tLb2dyVE1NaEdsaUU1V2V1TS9kV09iRDV1OXgwK0s5YmFVQXlHT21ReDVWeUJObmt3ODZtSDZCdFI3VUg4aUJBVTZxdXNiRlpPZjg1Z25YSmpXR25FcjErQ1ZYM2dJNkJIdTh5Z2hVeitHekhOQmJvNUNOUEdzNGFLRTVBTWxpMWVhV2k0aXI3USs2c01wVHppTElXbzlrSi9Ta1VPQllZWVVzejh0SWQ1MVFZVnlycVdnVWttOFdFVVh2T2JKaC9aTEtoN1ZuVlUrK2ZzbGt6dFRsSTJUM3o3Q1ptNGFCOVNzNlZqemh2bzhBWkxYNnVRWCtBNllyOExRekhpVStEVldkQitzdTN4ZGxZY3phY2RDNWFJdlFtRVRhS0ozVjB3ZzZUcGo3MlNiK3N3N2tRbnV0VytWVVExZDFEVzMzNmppUDNqRE5WYlc4NkFLY3JZM1VkUTJPcGdzcXBpeHNoays3anQ5RitsNHhlbTNCNU9uN3lqQjI3bm45R3J3TFJQOU50SkgxRHVxdnJ0VXNZYU9FcHBDM20rWndnSk5VVGZlOUd5S0REQmJBejB6UlFWSVM5OGM3MEVjYm9ZNzlHekNGeklsLzdScVgrcGFVc1hrOS82T1lOUURPVjVlUjBOMTFWOW12ckVtcTZSL1VKZWwrb3NvZ1ByNjdQeUdIcm4vYTZoNXRPYVlWbGxoMUZSSHEyQ21MQzZza3JjcTJURisrbnJVUkhRK2VGb2hvSVM2L0VMVjkweFN6aFpBUEg4aytJcWREeFJGZTZLdWVValBmaDZhTFAxbU1GSHdUR3VtdnZGZTZIbHNRZnltVWFldW85NU0xRStCdmRIM25SL3IrYlU1OEdKb0JxYWNXamVNYWp4c05CcnRpMXYvSjlBYm43M3EwMlZyajRMeGtqai9vMWM5dFdnL2lvcTJLL2VRM0xCVC9pd3RZNVdUZ3doUkw2aGNXQTRtM3lQVXgvSjBFYkNTdnpnZFREN3Jnang1WkhzVEhmbmhmLzY4Ym1hbWp1cjloNytvZDFha2FSQy9xdk42UXBnbkthZmFsN3FXQVgxWFQ3ejhqMzVTdkJKVUw2TWMwS09oVkhrVEFJc0hOV3Zwc1Bod0VId2JPRXk3K0NENHZCQy84OFd2djF1STUvaXhrNjRUSXhBRHlJMC8vTnJYSzJLUjVHbFdvWnkxWjc2YXNCK3RQV1ppV3VyZWxVRTBvT2lLdnhJZk9iVmZyb1grTThGMzZMT24vcnVQSTJYUk9RNFMvTEhScHE4enlyNUVZaEhzL2tGYkpZdFJLUnZKVmVxY3hLZFVqNThxcWE0WmU2bEtMOUVIVnNrZFA1Vk12ZUJlaWNmR2l0TjNwQ2lqenJWMVZLNURTcUNhcUhkS2Zid1Y1YmRNdEtNZWJQMUpkSzc2dnB4UitCM0VIQmZySzJIcVlRaUFtOVZDZEtZSDdoa1V2TGZ6UmgwYmVFS3E1T01uZFBzdy9CWmxsbjYxaENwOFZ4YnVMTkZvdkh6ekNpNE5VL1ZIRVlpNEZobTNUOGd2NEw2c0hVNEQ2OGlGbXhlVVpmdEpzaENlVDVrcWZrUnFPU2hPSGNkM2I0K2Zja05wV0hzbzlDemRmLzkvZTljQ0hObFJYZDlvdGJ2ZTFSZVh2UVRIV0FNVW43aGNtWTNqSklhVUxaRVBkcHdpa29tOUxsekEyd1R2TGppRVdWTDJPcmlTUEFFbVZpMFF5ZGlCSklBbFl2d0puNHo0MkFsVWdrU0ZNcmJ6a2ZMQkJVa1ZNelpoYlFlTUZ0c2FMVXV5blhPNyszYjMrOHpNMDI4a0xkMmxtdGV2Ky9hOXQyK2Z2bjI3MzVzUkNuY2RITFZWSGZmVWY5M2VQZUw4alBjT3VRVTV2M3pnbDJ3OWNyMTM3Qk9IN2l2R3luQlRndnRjV1FvYjRHZ2wzT2kzcG4rNTVyYnN2UU0veHEwV05yZTRhVjU2dmFEckY4b0hVcjhYMDNIRnZ2b05SU3hnQjI1K3owZi92cWJaRkI0NW9uL3huQW9LTDdtc2ZPMVhkSlc5eElsc09lWHlhM25tUlVjV1B4MXpZSEZPc2J1cVhGYy9uMm1CcHk3TDZONERJOXorR0M5K1hFQXEzbkFiMzYzdmRVSEhBL21rREp1amlYejBsdXArTTlOczJjYm1GUFEyVm9jMWthNmd0eWFzMnNwa3pwNlQ1WkRyL0JwNER1ck5UZUtodDhIak05eGd6NXFwRnJiREU1a1ZXN0hRUTIrRFI4MmV0K2RRQk52aCtSeGtXNFBFUTI5anh3bCtUTy85OCtpQjdYQWVzcTFCNDZHM3NlTUVQNWJqMElaMTNOSGk5STdwdHNUVlEyOWpoMGtlNitWV1lXRTVMakkzMXcwaTlORGJJTU5yc2VwWUw2OE9jeXMrMXNzcm9ZMTBIbnB0TkhhR0tCenI3YzBvYmxDMDhtTzlCZ3czc2hqUXd3UFkweURoWEc4Wlk3aHBPb3hqdldKK1pVNm5ZejE2dXB0NGpKVGZFSnVLY2thb1o2NmJTcW5XeXVCWXI3ODFsYVk0clk3MTZNVUpmbjhxdHdVMkpTSGN4OUNtVkt5cFV2UjJSWDdvblZiSGV2S1YvRnBUNjJ5UnlpanpmWmJOcmZ3TGJvSFdlS3Z0d3B4cWRpYmVzY25aYkRPU2RZL2RpcTdqSDNTK1p6TnF0d3lkSGhxak1SUlhqVzJ0Y0crY2xLYVVzNnQ5cDBsd2hPN2FkOUZ5OW4yemtpRmlVdW40WnRVd1U2ODUrai9rZUIwcmI4aFRXczd4YzZiRVRWT28za1hEeTNSNXA5Mm0wVHloeURDOTlVanYxRzB0NkNWNjBlUzJJeHhDYmFYQjkxS2FOUFJWM2dLcnMwQ0ozcDdIUWRqMDZ0ajQxdDRDeTdWQVJFL1F0cDgrb2Q1eSsrL3BOOHdDY3ZzdXY5ZTJZU3A0d1QrZUZvandpbWozNmZUYXlvL25NRzdGWGcvV2EvaXUxZFk2T3RxS2R2WTZweXl3VzV5c0NQckhrejU1QzdUWkF1ZUhoeTV0czBndnpsdkFXOEJid0Z2QVc4QmJ3RnZBVzhCYndGdkFXOEJid0Z2QVc4QmJ3RnZBVzhCYndGdkFXOEJid0Z2QVc4QmJ3RnZBVzhCYndGdkFXOEJid0Z2QVc4QmJ3RnZBVzhCYndGdkFXOEJid0Z2QVc4QmJ3RnZBVzhCYndGdkFXOEJid0Z2QVc4QmJ3RnZBVzhCYndGdkFXOEJid0Z2QVc4QmJ3RnZBVzhCYndGdkFXOEJid0Z2QVc4QmJ3RnZBVzhCYndGdkFXOEJid0Z2QVc4QmJ3RnZBVzhCYndGdkFXOEJid0Z2QVc4QmJ3RnZBVzhCYndGdkFXOEJid0Z2QVc4QmJZSVVXZUdrNy9vL2lzZGtWYXVlYm5iNFdPS05lYTBQbnRwOXNneEF2WW10WllQai8ycUZ2SVh4SE84UjRHVnZJQXJ2YjlIK0xqeTMyYngyclBIVzN1R3AyNjZpN1RFMjc3amdpcm5tZmF2VE5YeTNYci9yS01obXNFWG1FLzV2ZGp0UWpybHlObUcvK2VZTjAyMnE0Tm1qN0pTRU9sT3NURFdxM2V2RVhCSFZQdkEzOTZQcGpJZXI3aEhqWFJ2U3BzMjMvd3JPMHRKcitEY0plbWVsSHErR2EzZllNSVc0THZpNmV6YTdkNnFYM0MvR1h0YUR3QmZGSFFWY2tUdjUwRVB6a2VMMGRPODJrNFFiYkZ2NXZFME5KNGN1NEg4L0VIUXJYM21rWFFqam9BbGpYbHFIZnNrZzdvdDljRnYxYUVwL0RQdTZKK25tUk9DR2pvTUp3c3dtOFR0cDJpUis0L1RyM2FIam9yK2Jka25pKzhORGQ5WnMvRmk4THpyMnNmT0NHRnlVS3o3eDFYLzNhQzJYSHVDYjhJZWRXY0swQUN2Zjk0N2NlTys5cHJJWkNYUEt0NTUzMzlCZHZSVzQxVExQMU9GdlUrNE5kWUQyUlhiLzZVc3lqa2RWeldSR0huckw0WGRYd215SVVkVFhXdlEraXh3M1RPbW03Ujh3Nkl2OVRpRVg4dVVWT2JSRDBBQUNoRUcrSUZVb29OQ2g4YnRvaFhSQ3FvMDVSL213azZoelZBUlM4ZGo4cDFtRlpIQmZ3QVZoMDF5MFU2UUx2alZyTnEyS3hKcTFPSFJSdlVnTXcxMnlhclplMkVROGk2WENXV1B4S1VIaTVXR29Ba2NLd2VFTi9jR1lrL2xCcExELy9XNGdiamtib3hsdWR3aWZFMG9YZit1NkhnUkdIMWE3VlRQVXlteWtJeWtJOHg3SWVzRmt1V3UyMVI0aXBJT2hHajJaWHk2cEJleHIxeFFaMTYxeGNLSXRUU2tRSlN1aVFvaGU1d3cwRnI1TzIzYXdJQ2U0dHF5WG1aWTNpcDJOcWRlc29PNFBTVTVaTzhtdlEvdU5HKzI3eGJEL2R2Q3krSHBaWE1kVnBFZFFwRXVJRTUzdkVtc2VxdTRVb2duMjRmdWlBQkNHNEIrMjlRdlNFa2pnTUhYU3dRc0hGOFlaNnJGRGJuYzgwNUNnckJzU29KWGhVS0dxR29LMVJPWVFKUlpuVEVKVDVrb2JoSkhicDg0b3VDQ1pWOUJyUWRCcmx3aUNZVzhXSzYweUh5SUZlTU82NmJTdHFGYmtCQll1ekRyeDZGVXlhTmlVL3N1WnFONVZvS2hjTTVpdFFZcjhxYnc2OUZXcTd2UVgwaG9YeEpRRjhzWjRRVlkxQm83REs3T0ZaZ2lXcHFPdDZPR2lsaU9EdHVyRERWTU9yNjVsRlZkdWJ1SFhkdE5HbDExbXNJeGQ2QS9WR1RWWmFYbHAzV05DTVhQdU5lYTcranBzRll4QktqS28yR004bUk3TkNiWGMwaDE2UFVRUTY3RFFteHl3d0RzenBVR1QwbXhUODhHMVB2YVlwZ0RKZUUvY1l1RzFIcDZZTmk0NXNTSnY2SnBrZUorYVBYT2p0WFBPVmEzTHR3OGRreCtiRXFnNmFrdXlXY1IvU0ZrcW1QYzdRd0FObURiaW1YSm0yZmMyaHQ5czlXcGswV2lHUVA2ekZPaGNBa2xHMHc2RFVIZ2gxb2l0RGlueFNYS2Q3c2cyRlU1Wkh1R0lYMWVYWUpnYTlYWTdmdG9KV2s3T09ZVFZjbXJidE9mcExUZXZYcjFLWTRMNFhlS3RwUWR2S24ya2ljbVhhTGpTSFhwVmRMZ2t1MnpWdE1zczk3YkJ4TjFCWWxMcjJXQVowQnF0blZHaHk1TXBQU1VyNU1jbEx1aTNLbWV0Mm5Gc01lajNHZmprNXRTU3JiTmpCUjB2VlZrMkF4ZE9jNDFaTjJMZHF0bGtNNXBwRHIrTDRFamlvQ1dheElETGMwNkFOMjlDRC9aSjJ0K056eGpsMkpoRHFzd1BLT2xITkFBZTJMQ2ozZFpkekdCR0RYc0hwUW01dVRRa3J0cDlONmJaaUpWekJjZFo3bmFFMzNCUjZCVVlJYWJQRFdlOFJvdkhheW9xU1YrUUFqMDRlbElQck13ZHNRWUN1S0E5RXJvNGhpWnh6b3RLWjVVMnRoQ2E1Ylk2Z3lJMzFnbkt4U2JPVlZIbm9yY1JxcVRibHB0RGI1Y0ppeHZHLzJFOFBKWGxoQzJzbVREQ3VRM0hzQm8yckJIYVYzMHhBejV6QjRVVUpFeU1tdWJlNjczUUFISWRlWmJaVjIyWFdlK2d0MDJDWjVGM052Y3gyTnc0YmRtQ0JXTTdDVEhQR051S3dFVEtwY1dvV1dkVFEwYU9pUUVZdjJMVGdPcUFKYkdScldPWEw3SGFXN1NqbTlZWU45dk54YWtubG9kZlNSRGtJZGplSFh0VUJFMUJoMTdTT1dJU21CUFc1bnJBazFFbHlCZENhMVlyUWJsWUJGb0RVeHl2a0FCM1FCQlhuakNTSC9wWmtwOTdCVUVrY2VvT2psbXBOY2g1NmEySEdCbWZEekhyY0FRTFFabGRHSU1iaVVGTURiYVBja09LNklib0JDc3poQ1QzMVZOc25PTWk5aXBRT21tMkVTTTh6UmxURmNqOTNPRndnMUtvYXpBMHRsMWNMZWcrOUZnYktWUjAyOTNydVpnSSt5NjZNV0NkVFc5eEJneWVJSHRCYlhLREFlRTZBbHhmd3h6K3IxY1BLSGR2VUxzU0FtS3NQaXFqUG5Ba2t2VjdwOERMWTVDSDEwTXRqcFJZMDhEN050aGx3U1piQlRyTklVaGtRMDIvclpDNXlEbCtDUHUzZ2hrRTRwQWtKZW81dmtxVVUvMmtIS08rMzgwcXMyNnpvQWswY3I3Y2lGczBhZWVnMXMwN09PZ0NqR2ZTMk9Sc0xBcE5EQzhSTUo0U2dxR2lLUUMyRHJ4bUgwQzY0aG95NHhqRGN1Ull2bWtReDZCVytlOEdmWFhGa0JDOFR2dmZnWFdhK2RMMEtiNnJlYVJYcC9hK0hMNzUzSDNYZ0ZhaTR4RllFd2VmdkxpLysvblRROVJaZG1JQWVYb1E5ZE5lOHFzdVd4Y3pPKzdlSEw3bzNCR25IcmVVRDNDUUl6dnZjdzdmY2V3QkUzOWgzL2M4UTdRcy85dyszM0gwZHQ4SzE4Tlc3eGFIM0c5MWx5Wkg2elRFdEhYTEtwcHZnamQzUUtHcW9YZTFSaUVqcU9OZFZ0ZWNwUEgzQjdWZmM2RHFOR1BPVXRqR1dULy9kN1Vkdi9HMnc3SGl2MitlWFl0d2RPTEZJYzkzcExMSEJnbmtDUWZYbHVMTkNDVDFFbmpaTmNaQWlsMmVjd3BqbnRYYWJZY2lDa3J1TW94and0SlZCMTBVM0NuSElLVkRaN3VpZHFUSzNJQTQ5dUhha2thQlFFUWNGR1lIU3RyS29oKzdycTFBRXFSZ0VIeEoxZE81MWtvbytDajh2bGk2L0lxelBsdWp0SzRwTmRkSmpnUmRoOFJXYXhRblpJRk9XcktHUFlkbHlQbmdCQk9CUVhUWFJ4VGdSUHdlUzYwWFF5V29ubHU2b3lJWW41NG1KVEYwVitXV2QxL045NnBwdUV1QzFOYnptVzVmZ052UXg3Ykd3TlU0TzlPTE1rOXJHV05KS0owRzJxd3pyaThXaWxQeTk5MW81RGwralZRQ1g1QUJ6SnJaYWhuWWQxUTFvVUt4dGNPYXNiUGZ2ZDlXWUl5MnUrL2xHWDhIbnNGdUVXV2Vabkk4R1NQMHVBZVdIN2RZbFdTWHZvNWpYWXpnOHV2UWlhS0M0ZDVTZis1Y2crTFl3VUtRNWdGUU1ucWhmRWdTWWswUE11U1ErZ0d6aFE0dHlDVWhCNzMrRXVEUW9QQ2dXSmVNc1djeklRSzlETEgzdysxOEU5b3VxQ3QyaHB6czk1ZC9ycjhpSUpER1lQWkZZK3Rqekh2K3dPTW1Xd09QVloydkJ1V1h4UnNzOGxrczNDZTRYUzNqTkYxODJtM0FvNDlybmhGNkNlVUxiT0V1R1htLzA1dm1nSTlTZ21LTWU2NVFOdlJrM05BUDVLYXQwbUJwOVdrNXJoZ0RRUzcyaVNVZktvNFpDWmpDUzlWcXN5SjdGRUFERXpXTmpING5WNDRhNjR4N0lKT3VES0FhOWpvdGZnd1lqaGZKRU1NaEFIendoUi9FY3E5QzNiMEVyVWV3dHk2LzlSU1pZM0lidlpjbWtqalY3eDhiR0FCcDhqa2xDOUZxK3RUZXVabW1XTEt2ZVM4WkN5SmdmZjQ1Z2lwYmFRaSs1QmFPM0dPQjFIcXdMOUpyZTdVZEJacjNldUZpYUppWXZNQytkellublNIOHNLVVdxU0tkMGswNDlPZkNpT1VsWEthSDlyckd4V3lDWU9rZHBXSWpMWldic2J1aGpJWkpnSHRjMndiTDM0c3ZROXBuZ21EUTRzRDFLa3Y5MmJBeGRQQ21aU3pNcWRaelBRYnZ1NCszT0pQUkdIRXBrYWE5YU0wV0Fudk5RVlJWWFFWRTBGREp6ekw3RHB5dEM0Mi93bmJ3VDFrcE91OTNnazhLMVU1K0FIbW9lQVBSMnc0T0hPcExwWmowVW5sVGIzZ2pxN1ZGK2ZvRGRZekRIM2VnMGdXL0ZrVDZwWXhLTGdxUXNWN0dnRnhwOFNRdC9WSWgzNk1vdXJOaEJwWWozRlhXOGNaWURQWFIzU05FOVg3OTBCbFB2bFNVYThKcUx2YVNiRkNKbU1xZUNjRW1jMWg2cmpzRlkxUmdobUhHSzA4eGRiZE1zbndEMEN1cHBKZzVHbURzZzZpeXBWbldkcTdpSGJPTko2TzJQMDhQNGNlaGxuYjRreTBLeFdJdXpHZVkxR1I1QXZVUWZyOGNkRFJBRElsVkpCVkhNNjZFQXZFYm1NRnJ3TGo4Z2dvV2xPK2tpV1kzS0RIMVVBYjFvV3Q1MlVuQklxV0FIS2lTSFJNbUJIam85Sk1zZzg1VEtKR1dwVXY2Y0ZLS3N2L0NGVVRhL3R6QW9GcnNSRzlPNjBFK2tHQ1BqOVNMTzlyeEdDK09ubEhpRDBqRTVpOEExM2VRN3pJVFdqRmxObXFGOUEraUJrakdUd2R6Uk5wdmxNM3pnUDJ3R3JnWDB5bUpLSzRrTDNLODJMcFZoZEkvYk9zcDF3bXcxVXdTanVQc0ZXWTZCVDZ5VGNHeWpwb25Lakd1K21LWjFCWU1FZ1pLMFBLOEhjMTlKWUVVZkpLTEdBVExKRmd1K25YdDlRcnhZNzRsUXJqcTd6WFp6TGdONkpXUEtLanZGcEt5NCtpWFlaVjRYSVgvWVpCY0hvQmxzcU9kVTJVQUZaVkxuZ01KUk9YRWdRWmNBS016QkZaTnVFb1RjSkVEVThTTXJWZWVNOWcyZ0I2QXc5REtZWTByelJNa3dDQTdpbmlsTktFRXpCaU10b0JjRFJvVkhRektKVXRDREgyNE9QVmpNOWg5TUNrOC9Ja1RxRGNSSlBlWm5wNVppYlNXMXkyVHJtVUkzQStWT3VQZTBMMzA5UVd4QmI4TEwvRmdsUUFSdktQdUVlRkNQS2VheEFxSHp5bjRmVTFxdmgxMDlJeGZkbjVXY2tySU1lNW1wT3RNUGc4aUg5RE5pY2JJb1R3bDB4MEl6bUhNR3E2R1dobDZBVnFaS2NqTEwwblFUaUtxcEZ1VHA5YnFkcFgwRDZLRlRETDAwY3dwa05QU3lXQUo2LzB0SFI1UUd6QzZuT2ZUQVI0T1ZXbFdTMEpNemtHcFVTa092bjZ2VWxkYkplVnQwRDI3Rlg5dDduU3ZwT1JuRmlPTmtreHpyeEl2TkhkckdvUWVEWHIwZjFiMjN2bFlTUWJMMnYyQlZrMFg0d0hJWEZ2VU5jeGl3Ym1WM0ducnc3UnFydEk2cGJGSVdjMWZYcXJBckNlekx4MUZWc2JpUENKNjhRVnZJTEprZzBoNGUwMEhOaDRoZEl6bkNqTWdqbzhrY000RU1EUHBocVV3RDdSbGpBWFRWMnREYzFjVVp6SjBGUG9zbGZPSWlUOUErNDgyYVF3L3lacVdPOGdQUWM4QVd4ZTZJZ0tEWGI4aWhnM01uaXpGZDlISkd0NFVRRkdMeFV0TkNaNm9LRk9DV1dKd2R3cDZqK2xlUW5ESTNHekZ3dUJCd2lEMHp3YTFXcGVyMEVkQXpBMW5XWTFXMUMrNjJOUFJLenVUa3dVbktZaDNVRmZJbVRNazRnNEJHbVIyZ3FqWFFneUhZdzBOckdrS0EzTml4ejZMRGNLV1JTRFFCYW5ud1FjWTNEYlJ2RHIwMGMzQTAybWF4cEFoN1JHc0hFMCtwYkhQb29YWmFOOEVsaW9FdGZrZFVjYkRGNzZpK0FBMkdLR1BUQzM5T2lFL1pXNWxiVUdNd2FVWWxVWi9uRnNxbHZKNlp3TVFnTklNellLYWg5SHBtL0VPOUVGZnRNSGVub1FkQjg2eFFSY3NrNkpsQ3JqVFhxZ3M5M0dpTUlHZEdYTkthd1VRTmoxdEZyVHN3cmFFRkVFWU5iODZrbTJEcmM1eHJLZUpWTXl4eUZIVzBOOHpCaHp0aXZWNmFPUmdiYmJOWUV2VDJhdWxZK1E2cmJIUG9RV0VXTGRrbnZONHB6VTVmNG1DanUxcU1vRk00WVJYWFRPcGpNYjZuWTJ3S0cyaHhjV1RiNmx3NUdDQUZ2ZGpldW1RbVg1OHpIekFsMlZzQW5HcDRCbXhjMWNXaHRJbjFNQ0NXN2FEdUhxQm5DMVBxVmwzb1lTQTBuRkc4UDBackJuUFlndXVZOHRBekRpMkdTQStsMHpyZEJMMXd5Q1lWbjBiYU40ZGVtamtrczdhWkxBbDYwMW85OUhoRVpadEREeHZsbW02Q1M5UWkxb3VETFE1RTRnS0xYV201NlJ5TjAzeXN0RStPUmlaT1kzVE5icUJxQ25xeExiSDlhYVErQTBMcDlVeEl3ZEFESEUvMGExbWYxVmNEUFJqSXNpM3BMVDI2WkF0VFdsWmQ2QUU0T2lwQjhWU01sZ2NUcTZPTmVoNjZoR2pHSFZvc3ZzZGo3ZWdtM1dUTzRoZjFFSFlZbDBiYU40ZGVtamxZc2JhWkxBbDZiTUs4ME1QNGN4T3dyN1NBSG55L2c5UVU5QW9ZVEljYkdNcFVjanlOTEZEUWczV2M0RVRUNXI1RUdkQ0xZOUd3Nm5QR0VUQTd6aFVNUFVJSEhrREZrb0VlNGRMVXpHZy9EZWpaUWxQTEdYUnNndk1VdGVtOUtvcEhUVEZsZURDSnBCYXJvWkVjNVJLN0VIS0pldGhUczdlVXc5ak4ycElCRlRvMTByNHA5REwwQVdQV05wTWxLY3pDTndSNlFPWTdXQUhuU29DZGR1Nng0TkpLTis2Z3dLM05sNCtTb3c4NE5OaTA5TVdodDU4Rk1QUm81UmZpcW4vbWNyb2E2QzA0QVQvNUV0bVJ4cktvTGFnczlHaUxPMFNsVkR3ck0vekJnd2svWXNaTjFWRWp3d0xDVEl6QVRkTk5ZbjZRWWhvNXJ4dHAzeFI2R2N3aGw3WE5aQW5vbVFna0wvUUFpL3JHTHkwQUFBKzdTVVJCVkg3dVQ5THJoU2xzeEwwZVpNUk5obERJWVdiWXduYml0OHdkTWp1a25tVWgzdnl6TXIweXE1WGJJQ01mWlVBdnk0aytmY0hGdzNIb2pUQzNrTTAxQndXUmxpN2hHZ2Q2cUxOc0I3UUhRNDlzb1cya2MxVUhOM0pwVkJKUlhJelI4bURDam1iY0ZBR0NKRXVMbVpFU2xtNEMzMmlieU1DQ3d0WkcyamVGWHBvNWFjWGFacklFOU16QkFacnZwd2J5aUNlbHVhcWhUeXlhOWlieE5DTk1RYThUL2FzWmVzaHdHOVBhTW1VcTNVeVVDSTBrOU1oV25DWmM2bno1S0FONktlZlEreERJS0UweFV5d1hhZWpSbzJtWlhzZGsxdXROQ3JINFNVNlJkbHhaanNnMGpYdTlJR1FyVmhPKzN3eG1IMFRZMXBRamhhNWxvZmRtdVBOMEUwTHJ0T1dDc2FIZHpXUUQ3WnRDTDgyYytETDBNbG11SG5yanpwNWVIazhjdDUyaEhMbmllVk9VaEY2Vno3c05oYzVBVzljc09Hc0haSW1YVG9kcXlSYXQ3Nk1jME9zRzBYVWYvREpNT2NVTU02Rkh2OE9ta29rWHpJSTd5RlhxcWpaTXk0RmVsQWQ2ZkthajFhVG8wMDM2aVRCM1FxNm5HVTNpMENNNEQ3cGNlTHNIN1Z0Qkw4R2NCRFAwTWxtdUhucVRqbElTZWlPMnQ1U2oyUmlEbmp0YjhiTm9lK1BrZkZkRnM4TjhnNnYwZXZDM2lXWEdvV2lkalRLZ1p3eXFtdjhFcHZ5ZHlMYUdYbUVZR2xJeVczRURQZFFrMklLak8zaHBWYXV4QmJmQ1d6Y1VXOXRSS3g3TWhjU2lvSjVneDJrVFV0Sk40bDZCWmpldFNDMjFkNVF5MjVrMGMxZmJUSllyZ1Y0ODFwdUwyVG1NQXdieXlhdGJrMmluemxiWjB5ak1wN0VYcDVnTVYvbkRMU2c4NlpRdE54dTFoQjdteVZLUjJFTFNGRjBwWlh1OW9QQVhVSkVTdzJ6TFFhOFR5dHVoMlFyUWc4YjlhbERvY3lhMm1Tcnozc3dRVUh3MmJlNHdqSHdDaTdKQzZJYTVob2d5TkFYZDNTZER6enhYaUZIbnU0bGFRYThYRkhzbHJ4elF3NlBmcjRiUTBnUmRCbnFERm81V3NlVjR2Y2haY0Ixc2dCbDdQZWlYV09Cb3dZM1RXdG5jcFVRVDhucDJhR2lLMFpyU1V2dXFGV1M4WGxvZmtzbmFackpjaWRlTFF3K0tPRnNTd1dNbmUwc2ZNTG1ETDZqb2dHY24vNzZqb1RZWk9nQjBRQW8zQkxzTnhPRm9pSE5tb2xiUU8yYW1VUzdvWWU2OEFtcHl6R0NnTjJuWU9Jb3RCM3BoSHVpNWdRdmtVR0RqNE1pUnJMUG9Va2FUb2lYVUJDMjFyMlpETDhHYytETDBNbG11QkhxWUxMV1l3bzUzUXYrTHRrN21VRFJyaXRBOUI2aVZlczNVSU5OenovWEdlSFFtNDA3U1BscHFCMkt0M2FhNThsRUw2TkhqWkswQTlKeGludkFHSTV3UGs4Rm1OOW9jVjdVR2VxV3NHYkljNktIdlNtTFZqcktTd1lPSlJTRVI5ZEtoN2l5cm1YVk5ONG1keDhnZ2c4S1psdG83U2htdmwyWk9LckMybVN4YlFHOXdiMFluNE5xbmJUSGMwdy9OSGM2VFhGaks4c2lOb0FmY0NPNE04d2l0NjBWRU91TzRSTGpXMkNRZElCL1lsN1dTR2VFdE05RGtSSXdvQVFmQW5ic0NTVk5NbWdXOVBjWXdVRlJQUFFPOUJjdUhlU3hybTBHbnc2T3laYlVSOU1nOGxqZmxZa2ZLOFNwMWwyNUNDOUtzSlVXZnlUd3R0WGVVTXRCTE15ZStETDFNbGl1Qkh1WlhrUmlyQkNEYUpaUTZ3eFY4SFRRckVrcWc5bkd1Q0FiTkl6VDVHd0hrZEV5NFFsN1BkZUh5elJXQTRKUnB2ZnhNMUFKNlVHNi81b3BobU1MTHAzS0taVUd2YW5zeHpIZzIwSU1MY0dNRnhUSUJjeTJITHhBOXdmbjRnN1I1VTB3WkhrenljZkdhSUV5RjJiR1drbXVpQ1F5KzF4SUJJSFRLMlZKNzZNcDhEUFF5OUhHMHpXUzVFdWpCaUxOV1lRaTFkc2FOdTBwS3FwSnJFdHdjNXJiZDloSGF3bjRVa3Y4M3BxQllqOXcvcHhueUxTaGNUK2hWN1BqM1NlaFZSMGg4RnZSbTdGSDBEdGJUUUErejBaMDFxZ3ZMZ0I2Ri82cFIxWTZ5S21EbzBmSXlvWXI0YzVCWGFTNUlYRE9hak10ZU1oM0daai95TGJWM2xETFF5MkFPVnF4dEpzdVZRQTlpOXJLNjhqMG1pemJFdXJ4a0dZb0JCMjNCcEdPeGtuMkVKbi8vQkFwYVUyQ2lzRGVSbk9SYnlxRGdrd3pEZmhtWktNNHl1UWpTa2xYVDdBWmFRYyt1M05zWVp3WjZ4S2pmNnZVZk1yOE02QUhyZWpaWEcwRVBvMm9qQXZ3K0FVUXN4RjZjN0htMVZVRG4wazFtckpzSHphRHlFUzIxcjFxbERQUXk5QUZIaGw0bXk1VkFEMCtkUjNWdjZCSTVBUy9tYThvdHdWWHROK1NZWnpWOTAyWDlYekE0aWtMYW94bk9NTCs3SVFGbXdSZzl0ZDVHczFuR0pXb09QWEEzMFVLMUZmUnNrSTl2YmlzZERQVG9WSGJXNmhWTlU3NGw5UGFhRmpQR2lsQmozaFJUaGdjekFNMXhXeE5DUktjSk9xbWN2K3RsYVRLYVlHaCtZQWtpUFRhdHRIZVVzdEJMNndQR1J0c3NsdG5RdzdxcDlxSFpQMzhZT3FDUnovejZXWC80cXNPYzV5c1FaZnNYOGpnaDdIUFcwMmdDMUpBcVJGRTNHMEQrT0xQQVZYMGpyWngycWc1Tno5RVBPSGZwYk5RY2VsandEYUFtVzBIUFFxS1hYWlNGM29LNzl2VW9QTGVFM3FoUnVHSm1ZTFVoOUlBYXU3NTBrUWk0Rm1lWmQ0SlI1cHR1QXVSWUptaXZYSGtyN1IybExQVFN6Q0hXUUMrTFpUYjBZQ1pFVnRTMktDK0pqNHJqeHVTSmg2SHFzOVA5Ry9mTnEyWlluKzE1Q2pPR3BjcFRobTFCYnBuSkxSczRsbkJqQ2VpMWtCR1FEMW9DMDlobUptT1JnQzNuWE1URzVZSTRITWpyY2cxSXB6QTdTR1oyckdmY005eVpIajRMUFRoLzY1MTNxOFV6TG92bDhMWHF6RmxROG5xTlltMUZUV2dHRTBSbW5nU2RVc1M0ZS9KUUdXTFc1cHJSQkQvUllxb1J6U2dYMFVwN1J5a0x2UXptRHZTeVdHWkREeUJRdTlZdzNuR3Q1cVRqeHVRei9TSFdmOFlZRGVQSUcxL3p6V1M1WXJJSFBOdHVUckRVOWhPSDBNeDJHWGpFckY2V1l6MWcrTE5FNXdvN09DUHVWSEEyeW9DZWhZajB1alZGMjdVa29WQ2FvbHVzL1JLQ2xBLzFXTTFZRTNSd2pGR3hIdDF4N2tGVmhTQVlHMGNXOFhKVDFabWZjQ0E4VjFFODdaSlpQMEtSMlFSWFZXVUU3QzQ1bWYrYUlkMEUvMzVsbHBuQU14VlZ2b1gyTTNZK1dPaGw2T05BRDNhekd3SnRrR3pvb1ZTNUg1NTlySjY2Vm1QQlBuQjZuT3VIMlFOUVlNRldRNSs0SHZFSTJ5dDYyNHRsdXVDZkhyNDRVZ1J6enozR2hOQ0ExekZaQk5kWlJBYUE1dmFHMG1UQXZLbFRUUEpNeG83a2RUWDM3VytTQWVya0tESHZjNEpWZnIxeHhtclh5VEZHWk0xN3pQcmZRbm12MUJDajFCeDYvQytURU5hYWJkeU1NYUxrUWIrVHdPc0NUcC9NbGlzY29tcThpOEd6UGRoamNyb2hYZEpOTUIvVXhFQnRaRnBuYTgvVGdjNmNpOFFPQ1RFU2R5ck4zTlUyZ3lXMkRNYmw3ckFtSGxlbFhVN3dvR1RKeno2OUhPdWlRWE1MZ0l6b3dtR000NVRLdzVQUDZ0SUJFNDdRdVoxTmFrcHN0MzZPNGo3Mmo5UVdOcXJSZGRpWXFrdmVVeGtuekhyRG5zdmNLN1JMMUNPNlU0R0ZJb1BPV21hbEdKSk5vMm1xR0hEbUZsajBVOW1NN1ZPVnB4akRFdFhBR1kvVVRqM2RFN0tJaVpPcVFrU0gxVDI2YmhhRU9TdEdWUW9ENzBKb3ZsblFxVkVMcFlxYUp6UFR0K3FTMGFSa0xJSlJHdExVMmRxYnFIRFNLZ1ZYd0FiTVlBNXdzYS9MWUVuRHdlcjFHY3VUWmNucTdpLy9NeFd1dTYxdHFOUjhiVDNvdEpNMEJPTVIzU1kwTHh3UG0wbEMwTFNKd3lIemtobkJpRFRnMUsxbnlIYnVURzgweW5WOEpUU3pUK0F5OS9vM0pPODMzSkxuWStJNVVqQTExU0gzT2MvS0wxRjNxSmszYUlOeENnZEhpY09Nd1ZZaDFBNkdqaVhmeGR6eG16MTdaYjRRWHFuS0VyS1lVRityUXR5aGRTOXhVeHhjUlVMOGprdEo4bGxoZFBmdHFtNWNtdzMvZ1ZQcmNyWTVySGRiazl0TE5NRVBDcjFKa1F4elc5eG1hczhzZ1RIekZBcS9CY0hneW1EdWFwdG1DYXp6SWtPT25rK3JvT01VVkZod0hZL1NrRDYzV1U5SnQzRDBRM1NsQVRGVG93TEdVN0l3Q0k0eFZJSDlDVlZHY3Aya204MFpJSXpiNlNRYmRES0xpdnB4c2Q1eHN6NXBJZXBJbXVlZ0tWU1oyeSsrNVpPUmtuZm9FNWUvNTBJcTdSNjdqRXJxbnhpN1ZGUER0Y29mMXR1Rk5SSVdlRXNGSzlvM3h1NGhxdXZIL2lUb0hUdGFwZ2IzamMyanA4OXBiSDFkZHI2ZzZzVE5sNzlTTWdOb1RzNVRibEtPV0ZxV0ZzbVhLaXhUZVNQZElTTFhEdk9oV3lLSUU5ZGYvcDZhSkdQNXY2Sy82QTRiU1d0KzNTd1dnUGRuaUhTWHdZWnNhRC9TVGI2am1XQmVGZzFkdHZaTGw3OC9DTFJTTjR6TnNnRmxNVFdOTTA5b20yRFpZMnhaQzU1a0UzK0F1T0NaRnVaUElkeExONmtFQk5YY3dxcWVNQmk2VVM2Zmc5Rm05UTNLRmFPcXdYYUpqR29URmpkSzNlcjM0ZVNKdW1NSjFPeGd4dzdNUXNOek0vK1p3YkJGdTJSblAwSXJpbkp5aHNGRjY2U2wwKzkzQW5BZmZaVjRtM0k0TkJHTW9qK2lWVlNuSXFBMzhVRDlZNWgyNTZ2WlJuR2lTcnkrbHNYU1J4NTdmRnhaSkVPV1ZZNXlWU0RnRFByZSsxTmxjYUpmMWFFN09rRVBKQ05mVDlTdVVOVGY5eGorWmZySEZUMCtIeFRpblY4Kzd4WEd6S1pDWjdLYnZQdGZILy9UK0JlZjhWSkVsdmJ3eXhYV2FZcG1wMG82UG9nelQyb2JaOW5CYmVIRVp6aXZwaHdtdzZlKy82QmVBcElkd0JwZWRNdmc2RWZwdnVUNGJCamJ0bjVVMlFMeUZBUXBwbzJsVTVvZC9pMThFVm42NTRQU0JlaGlHaHAyd1BqUnRrV0VPWmVhS3B0cC9JTzJZZjNBTlRmcGRQVytzb2Jld2F1dnVlbkdxdythSUNBSThLT3JTTS9TMkhkSGgyWnhLZFVQWG4zVFRWY2ZMQlAwRG9MTGpmc09vdmZWWjRQQ3NQengyQk0xVU9GUVRkYUJqaGVnWGFIa0piMFFJcEcwTEdwbVVwV2N6LzN5eDNTdnErblM0Zm9CRXIydnJOZFlKUi8zR25wUVVZcjRBOE1sQ0FBaEpPVnduV0tUYmRna0hva0VHZHBETUVHUGxDS2pFZlNvVXlqbTBEVEdQS1Z0akdXSHNTV2d4eVpXMEN1TVV4ZUdqTXJ4ekhDaTVpeFJ2ek1JWGg0TG5MNjJOR0VhWVpUZVdnczZJaHU0aE1UZXB1Tk1PaWpFWFIvOEtTQXZzVU9iRkllWnBPUFdzRzUvNjVwTDEraDY1a1ZIRmo5TnlHdVI2TTJWd2gxaC9acDNOeVR1dmVOSS9ZYmJXdkRoNnFwYzl6NS9wSDZ0WGsyNW91bTE4RldJaUUvQ3AvRGo0Yi9XVUNjb25kbmt3SDNUQ1VITDBwN2JaakRuS2x6enNpdzhjbVR4dFU2N1dIWkc3SS9kazdkWXhBWnZJbDVxNy9EejBtS2ZFRysxSlExeWhROHBQTDQ1WWIyS1diMGJOTnppeFFwNlc3d1Q3VkIvaDdOR0tYbmZvMS9xVDg0Y1I1VmVUTGFiZjlFcGFKajkzbVZoL1diNDBGakNSanlCeFZqMTFyL3gwTXM1aHR0NHY1bVRmdFZrdXhvR3pxdG12VGtZZU9qbEhBYzRvWnlVYTBTMjNaN2NyeEhIVGNiR1F5L3ZnQXhqazlmT3RHQjNHZTBVMno1WkhucDViZDF1S0l5Yk0veThHbTR4T2crOXZBTjJSbnNYd0lKelJwaFh4YTFGNTZHWGQ3emFqSVZ0N1VWNlhpdXNJWjJIWG01akRwcm5ocm1icklKd0lIR0V2UXBXbTdRcG9MZDNrNnEyMmRUYTNsWXdESjdtcDNyeVRaalJ6VGJHbTFTZnJ0U2g4am9xMnN2dkRxeWpqQTFtUFNmYU9wYzN1TGVyRXo5dTNqQmRIWjg4clhlZTdrY3I4bldLVTNsTTRXbm8vZERSdHBsaEx2MXVYdHRrdDBQUVEyT1JRTHBxeklkN2VjemQyNzVOcC9OZkdQTm90dlZvaGdsNGxJNXZQZDAzUXVNU3Z6Qzk3c0ozODZ2TjZ5NXBnd1RJRi9Qb0hUZ1B2Vndqc0t0dEFkZzR2N2FmU3k5UGRQcGJZSkJmVGwzbnJ1N0NDN0UrZVFzNEZ0aldwa1BRVXBzZzduVE5aemU1QlNZYmZQMXJiZFh1YWVOV2VtMDE5OXpXelFJZGJYbVlOc0JmZ2xtM2ZuakdXODhDVDliYW9QTlpSc2ovQTBIellKbkhUbk9iQUFBQUFFbEZUa1N1UW1DQyIKfQo="/>
    </extobj>
    <extobj name="334E55B0-647D-440b-865C-3EC943EB4CBC-6">
      <extobjdata type="334E55B0-647D-440b-865C-3EC943EB4CBC" data="ewoJIkltZ1NldHRpbmdKc29uIiA6ICJ7XCJkcGlcIjpcIjYwMFwiLFwiZm9ybWF0XCI6XCJQTkdcIixcInRyYW5zcGFyZW50XCI6dHJ1ZSxcImF1dG9cIjpmYWxzZX0iLAoJIkxhdGV4IiA6ICJYRnNnWEdKbFoybHVlMkZzYVdkdVpXUjlDbmhmZTJscWZTQW1QU0FLWEdKbFoybHVlMk5oYzJWemZRb3hMQ0FtSUZ4MFpYaDBlMmxtSUhSaGMyc2dmU0JwSUZ4MFpYaDBleUJoYzNOcFoyNWxaQ0IwYnlCeVpYTnZkWEpqWlNCOUlHb2dYRndLTUN3Z0ppQmNkR1Y0ZEh0dmRHaGxjbmRwYzJWOUNseGxibVI3WTJGelpYTjlJRnh4ZFdGa0lGeG1iM0poYkd3Z2FTQmNhVzRnWEhzeExGeGtiM1J6TEcxY2ZTd2dYR1p2Y21Gc2JDQnFJRnhwYmlCY2V6RXNYR1J2ZEhNc2JseDlJRnhjQ2x4bGJtUjdZV3hwWjI1bFpIMWNYUT09IiwKCSJMYXRleEltZ0Jhc2U2NCIgOiAiaVZCT1J3MEtHZ29BQUFBTlNVaEVVZ0FBQ3RjQUFBRDVCQU1BQUFDa1d1VkVBQUFBTUZCTVZFWC8vLzhBQUFBQUFBQUFBQUFBQUFBQUFBQUFBQUFBQUFBQUFBQUFBQUFBQUFBQUFBQUFBQUFBQUFBQUFBQUFBQUF2M2FCN0FBQUFEM1JTVGxNQUlvbTczV2FyVkRMdmRoQ1pSTTM3NW5YOUFBQUFDWEJJV1hNQUFBN0VBQUFPeEFHVkt3NGJBQUFnQUVsRVFWUjRBZTI5RDVoa1dWa2ZmSHRtZXJwbmFucTZRK0JCK0lqZFNQNmhKTjNHZFhYRFpxdVJoVENRYkhVa0QyR0ZVRzBRTmJwU3JSZ05obzhxQXpFUEQ1Z2FZQ1FNQzNzN1lvdzhTZXhlMkVXSG9OWHU2b3B4cEJybEUxYzAzY3FLV2NTdFliZFp0M2FIT2Qvdi9EL24zbk9yYi8zdDZwNzNQcy8wUGZlYzk3em5mWDgxOTNmZis5NXp6NDJpTWRoT2x4NGRBeXZJQkVLQUVDQUVqallDVXpHN2RyUTlKTzhJQVVLQUVEaDRCQ2FLak1qMjRIOEdzb0FRSUFTT09nSWJqTEd2SG5VbnlUOUNnQkFnQkE0WWdZK0JhOXZiQjJ3RURVOElFQUtFd0JGSFlDWUcyVzRkY1NmSlBVS0FFQ0FFRGhxQk1yajJRd2R0QkkxUENCQUNoTUFSUitBWXVIWnY3b2c3U2U0UkFvUUFJWERRQ0N5Q2JKY08yZ2dhbnhBZ0JBaUJJNDRBRDJ3Zk8rSStrbnVFQUNGQUNCdzRBbVVLYkEvOE55QURDQUZDNE9nak1BMnVwWmZIanY3dlRCNFNBb1RBQVNOd0NXUjc1d0hiUU1NVEFvUUFJWERrRVNpQ2JPbDloaVAvTTVPRGhBQWhjTUFJbkFiWDBucGZCL3dqMFBDRUFDRnc5QkZvZ0d6UEgzMDN5VU5DZ0JBZ0JBNFdnU1psRVE3MkI2RFJDUUZDNExwQVlBSmNTM01Scm91Zm1wd2tCQWlCZzBUZ09NajJhd2RwQUkxTkNCQUNoTUQxZ01BOHlIYjVlbkNVZkNRRUNBRkM0Q0FSNE9zaXJCK2tBVFEySVVBSUVBTFhBd0l4eUpZVy9Mb2VmbW55a1JBZ0JBNFNnUmx3N2Q1QkdrQmpFd0tFQUNGd1BTQndCbVJMcnpSY0Q3ODArVWdJRUFJSGlzQUprTzBUQjJvQkRVNElFQUtFd0hXQVFBTmtlK1U2OEpOY0pBUUlBVUxnUUJIWUFka3VINmdGTkRnaFFBZ1FBdGNCQW1XUTdkSjE0Q2U1U0FnUUFvVEFnU0xBcDlsdUhhZ0ZORGdoUUFnUUF0Y0JBbndabXZYcndFOXlrUkFnQkFpQkEwV2dNbUt5bmZod2FlOE5nL0Q0N3YvNFhYLzdsbEp0RUtvT1dzY1JjdVdnb2FUeENZSHhSV0RFWkR0VFpPMXo3QU1Ed0lNYnpsaHRBSm9PWEVYeDZMaHk0RmlTQVlUQTJDTEFPV3RsZE5ZMTJaT2IweVcyMFArSVJMYjlZMGdhQ0FGQ1lIUUlkQ1RiNll0OXI1b3cxZm9PeDVsNzJONW0xR0RzSzA1ZGo4VWZlU0RHZGFLV3AvZGs2eS96aU9XVWVldmVRazdKdkdKZHVKSlg1U0dSbTdqcDVZZkVVaktURU9nYmdZNWt1OFBXK2gyZzZVN2pMWlQ0WjN3M0dIdXlYN1c4L3d6WXRwWkhFWHpzKzZKaHhzSDd6WU5mUzRLdlVKSExGV1BHMFNoVTZlbnMwZmdoeVlzOENIUWkyMCt5dnNtV3M0aGRlZ0ZFdFIxRjRGOWJsY2ZHTEpuRmZBdzFDUnZXczNSMFhiOERiUXRkOTlxdlEwNVg5bE56eU5vTHdITDVrTmxNNWhJQ3ZTTFFnV3cvRWZkUHRueWRHeHNJMXRsanNMUE0yRmQ3TmRmclY4MUh0bWRodzRyWHNaOERYQ3FHUUJEQXBOYVBWWWV6TDc4TTdoNU8wOGxxUXFCckJETEpkdUtWT0JQNmptejVSM2VZTWFySS9ncGxySDJ6YktwMDRTeHY2WExieWNkUXN6QmhjR21FSXJSZDZkTFEvY1U3dU5KYTI3LzdJWlhnbCtLRlEybzdtVTBJZEl0QW1HeW5MdCtBOHdCYnZ5YzZQNTNNNXlSeDE4aHBxdkN2WDdxWk12TkVEMlJiejBlMklQekJwQzJFMFUxNHRKc3l2OStLbld4WFN2MytCdjNhTnJ6K2lHenRiYy93aGlITmhNQllJQkFtVzg2UjdlZTIraWRiL3UxZWt6T1k2a0JUcDRaSHRoUHhJTU9uZVhpME12Q2Zyc04xSXo2NlpCc1YyUXNIRGlVcEpBVEdGSUVNc3IxdzIyL1VvZ0dRTFUvUXJtclhUenRsWGFmM3M4TWoyMmptODNxVUFld1JqVDArQURVSkZSM0l0dSs3aThSUTQzUTQvY1BqWkEzWlFnZ01GWUV3MmNvaEIwRzIwL2QvbjdFZjhmS1dPVWdVNW9kSXRvbWgrang4MTQxRENEV3p5WGJpS0pOdG56OEZkU2NFRGhNQ3d5WmJGd3NrVHhmY1k3ZGNQalJrNjFvOXNISTIyVTRTMlE0TVpWSkVDQndrQWlNbTIvVXNYeXRFdG1Gb1RoTFpob0doV2tMZ2tDRXdMbVFiRTltRy8rZWNJcklOQTBPMWhNQWhRMkJNeUhaR3pNRHRFcnZzZSs4dUZSMjhlTFlyTzBTMkIvL3prQVdFd0FBUUdCT3lQVTVrV3d2L21rVWkyekF3VkVzSUhESUV4b1JzNjBTMnRlRC9uT24rNXpvSDlWSWxJVUFJakJpQk1TSGJFcEZ0TGZqTDQ5M21JY3cwQ3c1RmxZUUFJVEJNQk1hRGJFOHlJdHRhOEdmRzcwTmtHMFNHS2dtQlE0YkFlSkF0ckRqc3N4Rm0vdjV0djliN2IxL1BXQnNCVnlFaTI5NWhwWjZFd0JnaE1GeXkvZVhQZmVjRE43eFB1NHVYR3RaMTJkdi9LQ2dsU2JhL2UwTjg0Ui9PZVdJenp6dkhidnVkS0hwd1MxWm5NWlRiYWVxbTlnKzV4MzRaR3Rzdi9pOStIUWJlKy9KMk5QTkJWZTJOV3ZqcGYvT0MxNTlidFQyZUFlazNiRWJSWkFtclNkU2lpWi8rcmhmY2NvN0hvbStCNXI5cjVYanAzamZHZC8yRG1sYzMvYnlIOTI1R1ZZWXJVOUNhSXR2Q3F4NXFmeUdoMmlpOSszUGY5Y0F0RjNENHJuUHYvU1pUVzNqVnczNlhwSk9RdlBlTkpjZTZpWi8rQ1RpNkxEUjgzZWQrOW9FYnVNNG9DcXVQN24xOXFmM2wxd2dKOVNmZ3E5dU04a2NmN3ZUTEpJVHBrQkE0L0FoVWNEYXZaTGpSU3Avb0daSloxVEcwcTZVRWRuaFJialZmL0JtL3Joc1llMEkzUForeEMxZ1R5alh0b3pINzRnTTNzSitaWWt0U1NqUFVHWGJ4MWtjZXVUVmUxNTN0ZnJyVkx0bkZHV3k5TEIyTEdaclpTNXo2d3ZQWnRUdEFIU3RWdnZRdU5uL1VVOExVVmRIQy83eE5IRCsrV1doZDNiNEhxNEZWeFRISTlpT3NIVFAyajQwZ0NyOEhsMksydCs3VVBRY3k1N2lYMmhXbkxZb21YZ3ZqOUZiVFRaTXR4bEQvbmsxZDRlMHJYQjVMYVgwTTQ3ZGhoOWprWnphWitRUk55a2xJdlE3ZGNMM1FCRjBWNHk3ejdud0JlTFR3WWhSVUg3MUpTTEJ2RnlMaVQ4QlgyeWhLbitRQTBUSTBDVlRvOENnandNK2VsUXdIVzZNaDI3SThWY1ZmVGJadlptK1lpeVlXbWVHTEtKcGlWMnN3OUJOeENhUW10cnE2OStacmxQRnRYVmE3ZjNldXprMnlxMjZOVTU2S0gvOW5VZlEweHY2enJheXlUK0dnOEpFOXRUSmtZdFFFMmVJdS8vczNmN25Dbm56dzZpYlczSG5La08zWHR4RjZJbUJmdFpyL09tUFBqUXEzczcyYXFmc29ZMzgrRjgxVUh0dlVycGdtWHNDYU4zYXJxYWFaRXZ1enplaFhNS2FxOEhmODl3VFpUc2QvdmxuVWw2NkpJbnQwTHJvM1ppOVRza2tuVWYxWmR1MDFVZUgzRFloVk1mSXk3eEFnVzA5OTlKOFkrOUk3Ny82Smx1WE9nSzljazdOTnh5L0JMNG92MHRGR0NGd3ZDUENUYzNoays3UDNRNzFjSk9zNWx5Ly9GbU1mdkl3dGNZYjkwZVhMRUh1TXQxeitiWW43TVNZS2hhSkRsSXZYNWtRakNHNVhTbW1HNHJmdzJMNjRMYXVkdjlQOEhqd2pIUnBGaTJCSWJCOXoxc2M1eHY1RWRxOG9zazJNZXZvRlJZeTBLbVdpaVJKN1A0cVluc1hIV2NSM0xKLzJRSXNmVE1UQy9wWmpQcGp6QjNtM3BrMlk0Q05xLzVSWFRiVGVyVjNoaDJhYkFTQVk3bWFCakRBVlRSVkptUVcxTjhLcUlENGV1UmRkZWpJNlpsWVNMclBIZVc5Y2syQWx0cFNUVVhSU1hRTStycThGVCtNankwWGVKMTd3YVJSbFpCdFNENzNpZzVxRmpmYWMwTSt2RWtsZlpZUDl1OE9YR0M3cWV4UmJUeVZDNE1naVVNRjV0SkxoSFhoRG5wMFo3WG1xUDY3SkZzTEkyUzZGKytEczlISzJaWFZraVJVbjhMTHFXMG1TTGFnQ1pMMGRVQzFXeVMxbGpHcVdlTkhFQ2dWbHZaajFTVW0yNlZIQmNvWnNMekZKTHp0Q3VDN3NtdUNvWFpMMk54eWUzMUFybUJ2SzQxKytWS21LWSsyeUkrbjVnUWJ2Ti9oVnZjQWpJQXQ1TEw2RHVSY1YxL2dITWVRM01yQ3k1WUxRcVhrKzZTUWkrWmIycWN5K3BzWkhuWUVjMXlOSnRnSDFvRXkxNW1TaGRhZnNHL0JWS2RVN2NSWEU1ZWtKWFVGN1F1RElJd0RxR0NyWjR1c002bFRzZ213bjJKZm1KUElsRXhzMkRMZWNTSkV0Ym5RZnE0VitxdVlXYWhrN0gycUw1cStwUjJPZ0pTNkhyV0NvSmlxSkQwd0VSbTFZc2kycGhkRkI5cXNJY0w5UjZLaURIbHVTQjFHL0xPcEVXQWtSdnJYMGg5eEJ1NnVpUm53RGs5VlUyZDhseUJheDlLb1NxTnBWMmYwdWkyeHZFbkVqejNoczhwYW0vZ1h3TVRZT2E4ckpLSHE2RnNHdHZmbnZzR090eHhyd21tekJrTDU2YUYzbHcwVFJUOFh5cDdhT0dWK2xnUDJMeUJ0YmVaQ2YwTERLcVVRSWpDVUN3eWJiS0RibmNmN0lGbWVyQ20xeHdxOUozQmJOcDh3bVUyUUxobEJTUHNiVG5HMUE5MC81MWVxb3FYdUJxOVZ3eDhSM2UwUjdXWkJ0WUZTUTJLclVnSkR4dkNnaGo2RGp3U2lhWmV6SFZUNFZpcjhpUlpITTFURnpYY2JNUExBVlEzQUJ4UHo1eVBhRVVjUFRCTnRLdWIvRFVJMWxuaG1Rc2dBSFIzeURtYnZZcFp5TW9wSVc0Y2tRN1FvY1dZYTQyQnl5VGFoSFhrTjVob0VrdXdkODFYcjB2clhFUzJVZDJ1dHEyaE1DUnhpQm9aTnRxUWV5TlVGWmhMQnBWNkl2STAxUjFsVjF6VkJuN2FNWjc2YzZ6aE9EWUx3clhxMCtpQTBMdHpUdG1hQVpuQ21ZTURBcTR1QlZxYUpoSXVKWUV3NGF3RkczTDBzQjhMeWlYWVNHaXM4NXNhN3dab2VKK1FVaEg5bFdESHR6aHJ4VERwUDR1OFAyTnRhUUNWWlhnSGw5VGVFNVV2NkpvcFNUbkpmbnRKSVRyTDBweXk3WnhqYXlUYWhIT3VNSktjL3pGaGlYRDV6MFZTdlgrMGs1Qm9Ka1hVTjdRdURJSXpCMHNtMzFRTFk0emRYTkxJSkhHUnNXTkIvaUZ5bnV5cCtscmhtcWt2RkJ4enJ2Q3lZNUwrVVRmekdJK2p6YWhpYWJodVp4Qkp1Y2JFT2oydHZtc3JZUzBaMWxLMXdwekRjYUdic3FCMFduWlRXOGpqUWJoclRSQUFVMTFlN3ZNQVluTUxXQjJaWjBHWEdoaVl4TkhTL1UyZDQ1dm4vT0YydDgxN0tNSmtQT3BKTitoSWtoZG5rM2NkVllGZ1g4S1ZteVRhaWZOeWJCSWJZTzJZQ3ZXbzNlTjJUMDdDVExkUXZ0Q1lFaml3RE9jcE9rU3pyWjhrNzBaR3ZPNDE3SmRsM294NTJ2SkVRVXpJQ0x1N0pZVnd4MU1zdURKbWVtV2NNR1JvRXN3SE1WZDBMUmlxaXIyeUQ0R0dleTBLaVdiSXNHbjBVelpVcmtTazI4RnV2NzVLb2pvRUxCcHN1dlVGQ1RWaVgrbHMwWXZLSGhIczI2QjA2M3V2YzFZWEM3OGxKQVVlTmtmRVZMQ3lkNVhLMURVVFNZQTF3MWxyV2dSN1plcGhVZ2JFc3AyQ011RE5XMHIxcU4zamQzUmNtNTY5RXR0Q2NFaml3Q0Zad2hrbWpTTHJZeXp1YTBaSWVhWHNpVzM1REtNeGc4SUdORDBONjZIcVc4SzB0Z2xScEtoZGFINUhIcWI3eUdLcHo3ZkpmZVNpYlQydEQ1Z0xvbHBrbEZ0dXU2b3g3VmtpMFVTQ3VSZnRXcEJVRzJKdEF1NmVDejVaQ3BuTStHbTIwbk1JV0NtaDdJMjVjOTZ4ZWRTdzRQMlpjOVdYVlFOemYydkFMbVBxR2xrTUhZNG1ScjJGYzR5Yk8vVjdRSUQ3TFZ0U0tiYkkxQ2NUblNseGFlZUo2RG5yU3ZWcmtzRlNSdU5zdVNGS0JqUXVBSUlsREJHYktTNFJmT21yV01wdnpWdlpBdG9qRTFLUXB4bG56QzdVWmZPNnR5ZUxCS0RhV250L2twSHRpbVJUQmNkQW5LbGFxYWtIZFdjMlhEZWp6RHh3Mk5hc2tXME5Xa3dySzU5eFprSzIrUzBWUlN4SVg4ckhtYWowZFFuR1ZCbFlhVCtjTXlyVW9xTkgraDJmNEdNTWNoYUtSWXpGZmlqVHdLZ09XOFBkNXhqc0NxdTE1NExKems4VEtxOVFaVFZrUTVtMndkOVhCRFpVcWlpVmpZRS9CVnE5YjcwOUlML013T2JldEcyaE1DUnhTQkN0UG5WdHJCbG51aXA1dnoxZlJDdHRGYjl4YVVka083TVpNdk9xQitabE0yZ2xWcWlLM2lGeW5aNU80MHB3RVFsR2FEUlB0VTZ6dFV6YXltWGZETFZhVTgranh2REl5YWcyeWYwaU5wc3NYMENuMzFFS0UyMmpHbTRlUzhaSXQ4cXVNTGduMkhldldRZ215WDdGRlQrNFlxc05zVmNUWHduU3pyd0Y3MEFxcTdvcEJOdG81NnVHRVlmL0srR2pvR2ZCWHFuRDhucE9lUWhEbTBFUUxYQ1FLVnNTUmJDNzVocVVVWWl2ZFUzUTIwVUFOM1piN3pPZlBOa0ViOHQyLzRCTWFRL0lIUWo3KzJhcmZBcUpac1MxbHBCRU1obW13NWlSdWxPOEpzL0RXY25KZHNjYU51bUUxY1J1UlVLNk5aRmdETGxxMktuU01FbmNBaTVXVFJ1OTQydEdIWlpPdW9yK29ubUdiRWdLK21UUlZPcjRzQ3NrVVM5bVE3SFJNQ1J4R0JDdlBPTk0vRjFvRkZ0dFlNUTdiZ0FNYjIzbEN6VGZ4K3VRWXlkZTdHblVaZHhCbTlyTXRaKzFsOTFpTU14dmJTVnh2QkJqLzJSN1ZrV3pUNExESzJvUHVBYk03cnNpYmJlZWNwRlRkN1c3ekhZRGc1TDluQ1RvZHNrV0p4VWd4NlNCSFpycGdqcEladHNodXhNR0xLbEpNUXNSMTR5QzBmbDJXVHJTUGRURVduQVYrTk5YNmg0WmptdDlBUklYQUVFYWo0WjVybllTdDhNbnN5K3g3MGxFYVFXaWYrNDNjK1lNZ1d0OUJpKzlPYUdiTE95UlpuKzV5cENSVG05enVqdis3ZnZBQWdMTW11WlRuSU5Td2pJN2JBcUpac3EwWTFqS2lwSHZ6TnJXVmQxZy94b2RZKzcyOElXRXVPV0Y2eTNYSFZpQnpIcWg3SjJkZmRuNDA3c0tZYlFiUGNERmpETiswazRsMHJJcklNTWswZWNnUzlQZlhJU3R0TGl4eW03QnJaOEZSck85Uys2cUNXYUtKRFF1RG9JVkRCbWVZRUtwNkRyVTVuaWlmWjRhQm5zbjNHcDJFYU5wM3MzSkNIYk05d1J4MG5LMzhFdnR0aGVEeU82a1RHRTYrRmszeFRaSXVrZzl6MDRvanBVUzNaenBwdU9vTGxob1E0Q2xyMnZrVnZHQkdJeDU3ZEVLZ0Z2U2k3dndFT1pMWlRpcFk4RmFaNzNXUTNVTVVkZXJFZStSWVpHU2VjNUh5OGJYcmpuUWVWQ2c0NUFqRlBQWSt1bDIxZlhvSXJTVjk5QVhQVXpIcDBhU1NvUUFnY0lRUXFPRnR3NmdlM2xudWlCeVZ5VlBaS3RsaGZ0ZjBELysrY0pkdXBHS2J5N2RxbUdyYk8yRHRiMTd5bittbUQ0dkJUSkNrNENSZmY5OTgrTTJ0WU0zcXpISU94djVBUzZWRXQyWUswcmdncC9iS1dPQWh4MUtMV0t2ZnRHcC9PcWdtZTk5cklSYlpRa3lEYlpkNDVzZFZkN3VRSlduZDdQeGYybmVRaVB0bkt5VndoUjlEWlU4L2QyT1VxN1FZajNZMzdtckdWeklVMFE0Q3FDWUdqaEVBRko4WVlrbTJoeWRqTDV3QzBKZHNJQzRqSlRSQUcybkRhLy9QMk8rTXNuaEkvRSs2UjNUU24vOU45RWtFWVg0eG0xaElmWDlSTGJKb2tVcU5hc3NVOXRKeXhpc2ZxcTBaemlLT2c5QWtqSUFvOGw3cGtxemF5bkNpN0Y3eW1yNmFreWQ3cTRhVzZxd3RUczlJeHMrOGtySGRGRU5uSzkwZENqaVRWSjl6Z3cxZDhJM2xWZUVOU3cwejREVXRRTFNGd2xCREFxVEdPWkx1QlpiVUZ6QTdaUnA4b3dsaSsxZVF2QUZaaHIrRGNjajc3RndIWlhNbHFSV1I2YlkwM3pqckVWL2l3R01JeVJuSlVoMno5SlJiVk1DR09xbGgxU2lyQlVodkdLZFd1ZDJXWGJCTnFTbUhmNnE2dUlObEducE1Ka1pHUkxVMnoxVDh5N2E4UEJIRCtqaUhaZnIzSkRiaGtHMFhQK0I3QmhNdnl0d0dySUtHTHUyRDVRQ2Y0ZzgyNlFhY3Z3VmVlWFJCVkVIS2l6SWxYbGZnbytzV281S2dPMllJdVhnRUYyS21rQTljV0l0dkZGTm4ybEVabyttbUVPSHlacWJ0a3kzTUVOVzVXWW5PYzVKSHR0bTJHL2ZJRmpKQWpFUFBVaDlNSWlTamU2dlpLTk0zV2c0TU9qandDRlp4cEt4bGV0dHlvS2tObTMrcGVjcllUb0JGMSt2dGtHMFcvMUlUQmFySVhUdnRWak4vUnpMTFJsTEwwV1lhNlpqMnl4ZVNvdDJBUU81bkxIOVVoMjFPUDgwL2QvRXBSR3lTR0NISFVoaG5LV0lFQkhJS0hRTTAwdVFYWXYyYU9JV1VuTllpMDc3SnBzNFc2cTRzL0RGTlFXZ2xSTWs1eUVUc0dEL1AzeTluV3JDcjBYYlpIdkFRajNjU3kzK2dlSVlSMkVIQmJxRXdJSEVVRUtqaGJWakljYTNrbllZYlFmdFhka2UzaUF0ZDN5WjZ2U2JLTm90dGhzUnkwTGd2ekxHT3RRUzdWVW1HYTdPSCtMY1NHaG1aVHAvMGtHcSs0MG5aVWgydzNGdDRHWXhCWnp6bWlJYkt0cGpQSEpZK2xObHlDZEpUeGFWcHIvUGdZdjhEZ0lFRzJTNjZzS2dPV21xbEcxSjM1K3lvbitXd0VNWWJzQkREa0JKQ1FJeER4MUFlbWZsWFR2aHBydkVMRHpKenpxdW1BRURpaUNGUTZuSXd0N3lUc0VZQmV5TFpvVDBOOTVoZmVZOGFIeVN2aUFLYzkzNE1zOVBRd0k2TUxTSTFtdmZPQVNXUDYrY3lzSnR0TEM3b2pFcGw0c0JZYTFTSGJlRE42OWczc0F2K1V1ZDFDSERWdng5S0M4T0s4THVlWWpTRElGZzY3VC92dzAyMVpGYVlFcVpvNTRMbmhkWE1rQ2trbjhhcUR5OGNBUTc3dEZuSUVDanoxL0hIWUZWOTl3RmRmUUI5VlhUdDFKZTBKZ1NPTEFFNFc5MHp6L0d3ZEVObmk3RGZMdGtnaS9XTXNkbWhNQXc5dWlRT2M5bUlQSDlaRklmMEh0OGg4VGRzWjhmMUJ2eG05TmR2TkNyS2QyWTdxbGpncW5ISkNvMXF5blRaV3VwcERISVU3NW1SZUdWUmpCOXQvNnBjZ1c2aDJMaDJjUjdmZGtWVVpqdFZzZFNtVnRFNDZ5YWY4THRnTzgvcTJBa1l2NityWS9pSytlcmlSeU5BR2ZOVmEvSDFUMzZINDFYUkVDQnhSQkNvNFkxY3lmR3NkRU5rNk1hZWMralc5aCs4YVdGNkpWYTRQcDcyd0hGa0h1Y0o0Mmc5RkdDY1NoTUFGaTVhaVp3WFoxcGVqSFp0dFBNWEQ1ZENvbG14UDIyZG96c2doc3NWanFxUnN3Mk9wRFk4Z0hXMWw5UnNJc3NVakpTZUdSNFlneVBhQXBXWTFMRHFVS1d1VFR2S1g4SlpzaDZxK0NMbGs2d3pscTRjYit2NUFxUWo0YXBXN0pacG02NkpCNWFPUFFJV05IOW5PVy9MRVhFelFpeURiTGZOakxLcUlDNmU5cU1OYzJpU1ZhVm1JcktOY1A2OHJ6SjdIaFhQcUNJd0J0dUZrSzIrZ2VmVXhybk5HeGRDOFFvOXF5ZmFNamJhNWdOcENaTXNIMjlRQytESWl5bERqc05TR1I1Qlcwcy9ad2xHSFhzRnF5WEJaZElUUE5hc0JZRDVsajZZUjRpZWRqSFkwdlFxNVJSMEt3OEpsMVJQMm00Rjk5UkJ5K0gvNnQ4VlhjWksrMnZHZEVrMnpkY0NnNHZXQVFBVTBzSkxoYUd0a2tTMkNOUG5rcDdJT1czRHlYMUVtSWFPZ3lmYThzYkxLZGtVWnA3MnNXMlFPS1JveFhtaEtrbHRjOVdyNUFWOFJRRmRDMFpJa1cwTXBtTTkxalF1bFI3VmtlOUt3dFZiRTl5R3k1YW5ORlN2RVA3Nkw4UjJxaEFjMTIrNlVxdW8zT0NtWXVlVnlOZ3dKQnZUd3h0RWxrODlhNDFtRTdqc0pKem52TzN5TU1lYUVPRzR3bGxVL3BNVk5KMSs5Q3lNK2J3YjFBVitWRm4rSDN6eHd2K0hMMEJFaGNJUVFxSFJCdGpQMy8xRDNudWQ2UUFaT2xVOStXbXNZb1d3akxlUmNOZG5hTTNOZXpQZ1NqMnFrUGJqaDVXZDVZSXRsM0JXRDNSS2J5eDhiaG13dFRVMXdMcHh4K0VDUGFzbjJqTExEMXh3azIzbExYRG9UREZMYk5EMmJIa0dhYXVIakNqODhLeTVHT3piMUVVWFF1ZVZJbW1MZDA0V2cxQW43ZWI1MkorRWs1MzBiWkVOZWhmY08yWUt4TThpV1Q3eGJOMFB2UUQyM2E5blVPRmx2VXljTE5NMDJBUWdkSG5VRUtzeUx1VHgzY1I2dHVSV0wzb01VdDZWRE9SZlo0Z3lYVDM1S05hamFzSkV0bUUyVHJiM0RyNnZUdTY1alU3QkZlek5rQS9SeUVwOHhUR0dGK094U2ZRUkhsMlJrYStscm1oUFFqQ1llU09wUkxkbWU5aVppYVdWQnNnV3oyTXZCY1JIU3d2cDEzWWMvbzZxWkE3Y0E1bHJneHpMckRQNDdiMW9YWGJZMnRZS2ZhODVoMDMyTVZsemxaTHVsbTRXVFBIMXRBVUp5UW9XNUtPbkJaclBKRm01b0tRUzFVTTlYRDAvNnFzZHo5N2hDQW5UYUNJSHJCb0ZLWjdKZGNZRGdkNHp1TkUrbnFVUFJKOXZkREVrVmdVWWkyS3ZhKytNZDhaWHhxY2Q0OUxXcCsxYlZmUzdPYzFVRkw0SW5MbnB4NWpqclRwaFNYWEFYcTdNQU0xak1aaGVya0MrQmh4VFI4TmZDY0k4ZUd0V1NMYWo4dVVxYnN3dVNMZWFqSWl1aE52SFJYLzdtMjNsZGc3THpBRkRYOGoyMENjOW1oV0dGMk03OXd1amhYd093YkRzcVFHcTcrbkNhdTV4MFVzeHJYdEVpOCtZS0M0U3VxTnFOMkVETnAzNjU2bUU2cmtweW0yWTFYa2o3S3B2OXZ3MzNZdU0zMFJFaGNCUVJBRTI1MlVUUHhaSi9PdUJlMG1FTVQ3TERnYVpSaUlDbWRqTWtteksybWhGM3ZQUDIvTDExbmpmZyt6YWd2VlhkdDZKNGE4Y1FNQWpBQnI1YURIdnd4WG5zcXZ4UFlnTlg2Y2p5eEl1RTJNWVdlTWprVVU5eVcwT2phdnFEdmhaakYyNjk3WkZIYnJ6dmg2MzJXWWRFWXhNeVBzdmVGUlRpQlNGZHREWlhZY3lhVmVHVUVDWUs0M2VXUlNVY25WT3RRSE5CRmYwZFlObDJhaVppTzEvc0VyOS9TRHJKOHhvMis5c3kwbmlDcFM0OWhidWFsbXdUNmhFV1M0cUY1aE1TdllDdmpqMjZXTFg5ZEJYdENZR2pqRUNGWlpNdG1yWWMzeEVpMlZQZHFlOWNkQWdhTkNXSUk5QmhSeExFU1pGTTRLeStLWVNPL3hVRzNZN3dXQWUwcDhQVGFYMlhXamFuS3pScjV2U1VnMFdXVUZGYTgycmxBVHhYWEZKY0szR1ZlR3dGTTFhVWFKMHpWbWpVV1h2SnFHTll0VDFtaG1qWWdKQ3ZITEFwOVVHVGprUFBxbXZGUFlaZ0oxaWN4WnpvSis3Skt3dENENjRleTFJaFprZVlDNE9xVWJ1eWRVTFU3Smh4b3RZdWFuRHNPWW1xcXNucklsQmRSWVhZS3Rya2swODA3UytmVkE4M1hxRTczQ2tLQVYrVmdMdURTdmR3UE1zVFAzSkQvUDd4TkUxWTFicnc1VmVQa1huUGZONjVkbTJNN09HbW5HM2Y5aHRqWWxPRjJWTXZnZExiMFBSVnhSVzhDUW5ETUtVbCtubUhQRFc2cldyS2lEOGRmYTRjZEMvaGVGN1FIMkl4ZWY0V2lndUNYYXJMblBaMDdIZVBpdWdLTFVNTTgyaDlMS1JhU0p4eEppZlpRUkYveWErWGZleFJRVFpUaUtwM0RDVVdTcHozQTZPNjcvNkRtY3pXWGxDcUYyMWN6cDNmVXRYdjBIUmFLQ2x1Z3YzcSt2SGdWWFRLT0tlTDRoSGZoQ2J0QjluZW5OQ0lLOUtDVXUzdk9Dd2ZjcXVtVFdoN2ozQjRKK0VrWkdkaTlpTFpwV0lDVzU3OFZaZUY1bGFUc1JkS2daUjZoTFp0YWRJWmZhS2xmWFh0VWVYRE1NMzJFOEJTSXhOdzRlQ3J2Z2YyZmJCMjhIWUlDd3EvQ0d2VWY4OHhNUWxtbkN6aGdjT254c0tlQ3ZCWlNWbFMrSWJMcjc4SkxjRHV4anZ1VSsxNGZtKzVJOVVsVkRGeCtmNFlmZHJmK3p0UjlNbkxRdUcxRys5YkQ0Z2lHUWx5SzVRV1JGc2RmZFpRK2dqcWNDcmZ6MnFjOWlvaTdJMm1TeUtpZSswRC9FUmdOMS9lanFJUDh4TGJ1Nk1tZXJ0L0ZqbUhMK3JJeTIzaDk4N3NQNlBtZEx6QXJ5TWZMRDRoN3JBVmhiMWRCSGlwVVo4anZYamZIUmdWMjRZWVdQN1pxNkhpWGJMOXZaZC9MZExPMzN5Wk4wUWdxY2RFWWNOOG9GTHo1VEcyeFJYOWsvdld1R0JpdXlSSTlSN3BPMmF4cWpWMFoxbzY3UFRsRlN6dnZlTytPZFB3cTR4OU96ODRMUzloU0NONFR2S21wNnZMNlA4eGx6UlU0Z2ZmNG8wZnY4YW4wTEV2ZjhOY0ZGS1BUSWZJMms2WGdLRFlBcjZxRnJzN0ROTnNjYkZzLzQ3RjBSby9QcVhwMXlITUdCTVQ4Wi80ZzU4WkgyaU1KZitoeGRnM202TURMRlJ3RnEya3hzZVo0R3hMcXIzSVdMeWFrdTFRd1FORHNlRmtuRmRGZXhQdWRjVFovby8rMnUwcUJDMFU4Yi84ZjM5bnNRM0x3QlE4VUp0aFQ4N0VINmhGMFRPTE1tSEFEUmZidXNpZGl1S2FwNUlmbkVBeThtMkczZnptajZIUEIvL3I4OWpQQ0NaazdXMU90dXNQdG44QmxQWW15UitwVVhmRU9QaXp6blY5Tk5hSGZNK3BwcW9yUk9KREhVaXpKdkhOaVAvNS96eXphV0xkS1Bvc2ErTUoyN3ZnSC82ZllsdmlTaE1iMlBXeHp6d2pOazFRYy9YZjN2MFRKZmI0WmtKU0hCcFl6UDBFcW05bjdFdWZ1ZnN0S2tlY2RGTDBnOGh2dnZPWlA4ZllEenBhTjlqZXY0dWlwMkh3cHJCdmpjK2hWZHUybGZzc1A4bnUvc09XdmJjSStHckZaUW0zTEpxYmswM2pjanlOVDhpdGpZc3htWGE4VGMva3laUVlVYXUyT3NNQUFDQUFTVVJCVk1QYlpmQXlvdEc2R1dhNm1IVWIySTJXL21YNTJiT1NVbE5nRjI5OVJHNFBuVE1uK3VuV3l4dTdLZGtPRlRQczRvWGJIcm4xWE16SnRzMVYzbnJ1SWd1cTRKOW1NRm1CYUFib1lQc21ydnQxN1QvRDMya0VZL2hvd29XWXNWL2p0VkdsZmVIV1J4NjY5U0tudlZZYnd6eDBUdWNaUkx2OGd4aXI1UEdIMHhiOW5oamtVVTVhazYyN09BcjFSeU44eGFCOUR2bU9PUzZaR25XSGU2Rkd4UnluOW4vaFV2L3I3di92MDFERkgrNVZwWmNYWTA2MjNQbUg0UEFhRjBKZ1dSTGpmYnM4RW45QmJuc3hlODltQjdLTlBzbDdPZWxacGNaYmFjeXFGTEJ3eUYyeWpUQU9OaGxacDV5VW5hVUkrMjZyQ3RlY0loQXZzWmVJbDBPZ0FHVExVVStwUjNTRjdScEhVRzBCWDNXVDJpTWV2cEtvNnVwdzZyMGg4ZVo2cUxiSHVxcjlEOW1qaHBGMGc1bGJuUVo2ODFLZzlReE95Y0Z1dUhvNi8wc0hxN3RmYmJBdCtBQzlYNzFkOWcrVGJhYVMyZDNNcGo0YkNxOThlTy83alk3Q2o3d3hmdkZyektGYWYrc1QzOE11ZkJteFZoZmI1RTN0N0RjeGZ1bHZQN3ozclp1T3Rrc0xHT25uUyszYmZsUFdpbFcvc2tZdHVEUitMNWdVblR0dUV6Ly9jUHVMLzkwVGVmWXQ4WVh2UTgxSGJydnhHLy9GWjF4VHJOaTl0OFF2cmRuRGlLdDVNUkl6M1d6UGZtTjgxdzhvOVVrbmxSNklYTGg1TzZIMHgyNkk3K0wyL2RadE4zL2p2L3pKUktNOXZCZnEvOVdjUFFaUHAzMTFtL2s5UnpDUTk0VTZISjNTMXpCWFpyby9BbmRWaVRrYTQzQ0cra1lGam5ELzJOSE9XRCtaZGZ2V0IvNTBzcjRQNTd1amo3eThNeGJHZFVtMmphV1I0elMyQTU1MW5pV0pxZnhQamEycFkyaFlRNlZpZWpYdGVPZ082V1RtZEpjZWhzRVVsOTBldW8yK3k0YVpsUk1jdTNndFVGMXBCeXI3cWtLV3JLLytRKzJNN1BzVFF4MGdsL0l1eWJhK2xVdnJkU0cwd1paZFA1dDZib0ZiU2VVc0JIRHpXOHRxeTFNL2FhY0dXL0dHdmFHZWJQMmxyZStwQkE1TEJ2clFNMzNSaStCNzBqemdUdnRjRmNwbWFyWWR0NUFJaGlkdWVybHQ3S2tFT3Z0YW9PTTczaDJvUElDcXNiZ1VGRmtvWjV1SlJuVTlzK2w2YThCRHhKcnJzMWlUMGEyZ2NpY0VtbjFPc3kxNDl4VnFwTEw5U1JCRjlNbUtMVFA1MlBWako1UytjQVZHWDhZTXhFNDNWWTFBZm1zeUVlamgwcmZlbitGbjdReHdSOUZNZU02TUl6R2k0cUtaOFQ2aUFVUERkRW0yemNDMVBxVDJPcWliWXY2ZEdCNlhYUWRlRDh6RldDNFIxTHUraXJPK2p0YlNNblY4bnVLNnJ1NXRIMHlGNG5IbFdtL3FodGNMa3hoRFFhVWU4S1IvQnlhcXovcDFmUGJSc3BidmJUOGJ5b3Jpc1hjb1lkemJDSDMxcWdkdlUvcFMyWDNuTHNrMjduNkVvOXJqV0lJdGNIb2ZWVmVINEJlZTZ2UjVHdTdZS0ZiYk44SE1NM1lFV29GWk5sb3d6eDRFcENjM1cvRlB4R05JdHJCVXYxMXBMYlVsZCtrNlhUdnZYNG40cFdsWHQvVzJid1FlRUJjKzB2ZXYzSnN4NlY0d2J5VmRPK0thRm1ET0g2MU9qM0VPZk1UQVJTY1RNMTB3dldUVUpoemk4ZkJDeDVYK3pEOWw4N05hMFRGN080MUFxODgwQWlqTVVMY2FZT0tWMERwK2tXM0FVbzJJMk1mcHlRcUwrbzFFS1loNWVJRmNnNmRrdjRORytrN2lHVVdvN2ZPU3V0K3dlZHNENXVYdE9qaTVHSGpNNVZaM3B0TVZOTGVXb3lGNE92SDA5WFF3eFhjMGZCMmdGNmRMNHNGVjhLNnpxMkdPcGRuNkJGdlZLdkJPWURvdTFZMjU5a2tLbTdwOEE4NFZiR3U1dW85UUtHbHBjdWpGZEJRZzM4STBnb2hzVFFMR1ZIWlhhQ1RJOWkzM2x3UmFSTFlXUnc2SVBkcXZkS25QYUdRLy9ZZXBIVGZDM2xYcWJPSUI3Mkh5WllTMjRsYUt3MVptN2MzK1JwMUlCMDFpOFNDcEZldHJMUFNuUDBsaFBQcHJQeGZtci9XbmQvQzlrNVltUjVoUG1XeldjdEtpUmIzMGhhN29ldDlJa0cwVGNMM242eW15ZFlERTc5VE5OYTI1NFBTOTNvc3RHMGR4S0haQ2M1R3VkNHhTL21PR2tFZ1hPZ3Z6cG1SeVZyUlM2d3MxblVlVU01L1BxU1pMTEVsaFp5N3cxYU1PSTltZVRiMCtjaVk1SDNuYVdTTTBDNURPOVVteS9hMWJzUjRaTXVjVTJScmNKdkIvUC9WLzFyUW1DeFA5UmlOSmhZZjZ1TzQ5bGtBb3RYV28zUm1OOFhoeGpEK3BRSmk0MnUrQVpUL3ZDSFg5Wmc0OGk1SmtLeHNQSTlsTzJsUzI4bkMyMzdEZlEwb2NKTWxXVkJMWnVrRHh4NURwOUxrcjRaWkRYenh3MjYrdk1wNklyVnVQMzlIRlJjdjJ1dTVLcy9nUGh6UkNOWkh3N2dXSDJlVHpaZkZ4alY0MEJmc2NIYktOdktpQU8xdjFNMkJCLzd1c0pMTGRGekE4Rk80aTBHOHU3YXZ3ZWhJb095dHY0Zlo0OVhyeXZWZGZRYlo0Y0lWODl3dDcxV0Q2aVc5cG1DTVVnbS93dWdLMlBQTThMRFlrdHZhcXJmVktSNGhzOWFkTmpIL0ZMbWNWNVlDcjRZVWVhaVNLYkEza0tPQk52L1JEWFZmQUxVOVNGc0dGSTVyQUoyUVFwZkVONjlDTVNYSksyak8yZnpGTFlJRS9Ic3QvTzVYcHlrd3lTZDVJaHJwWlhRdGlDcGNrMjh6M0FZNFEyZTRrQXRsQ0t0VE5Ra3JVNTRLTHlMWWpocnh4SHYvamNvZXJPMk93bHNPK0hvMVNZQXB2ZFA0ZDBPMnZmQmhQWGpkSE9mS2hIUXZ2SFd4R2IyVjcyd1B3SUU1TTd0cElKWEhEZzB4VUZNK0szWjFob2VnSWtlMnBSSXIyZENxSm00R0JxTTRIVjRNaTIwNGc4cllxL3IrdDdDZWsyOThLWHFITlJXRDZ0NEJmRy8vWUc5eHFLbWNqOEhhMlYySjd1Zi9QWlN2Q0Z6aWN5UWRjcnBWdlBWV3hkUEw3N3ZzWFB5NjJQOWpNR09JSWtlMnh4T1NEczkya3ZITEMxU0N5emZpUFpLcUw0SW1zLzIxR2lBclpDT0FUZHpHK0tMZWRMVUV0UGdLLy8zRDdUMnQrVlk5SDgvNjdqeE9aR1FGZmZ4a1RjUDZaWHhVNk9rSmttMFFtQVZ6SWUxdVhFNjRHa2EzRkxGakNmNmpFUzZkQk1hb2tCTVlRZ1VTQWxvemZNaXpHckxPcmN4bHRidlVSSXR0a3pKKzhKWERkVHBiendrVmttMFF1ZWN5bm1IOGxXVW5IaE1DaFFHRFNmN2FiekV5R2ZjQ0hrcTdtdXBjN1NtUmI5dDhTVFNhN3cwaUoydHh3RWRsMlFGRTA4Y2tJcS9zSlVUc2hNSjRJc0VmLzJOazJFcy9jd3paZll1MThPWitqUkxhejdPODVRUDFoRndGV2JyZ09HOWsrN1lhOWJ4WC9RNTVXMnVNZmZocit0Z0d5elhOTE5YeExhQVJDb0dzRXZGa0YrT0trVmpEVjRjTnpwYnd6ZkErY2JLZHV1dXRUd3FQQ1d4NW1MMTJSemszK2VuemhEWW5JUEd5cEJvUHYrWFI2ZDl0MUd6LzZjSWZQOU9XR3EzSFFPVnNYcnJhR3kvaVpOQS9mSkk0Wlg5WHRHR3ZMZ2hFZFVxRVFVOHAyU05DUzJoRWdzTU84VFM5Sk45MXFsN0p1Mkk3bmZrWVJwckRXNkJhaWFZSUZWb0Vpbnc1UVVsU0d0Y3YzVWtzL2hpMTE4Y2RMSk42bW1GdUlmSkt6VGRZckp2bmhhaHcwMlZZd0syZ3JBWmZGSUdIZUpIdkpISEJkaXFMaXoyemlNOXU4NDVBM2ZzSExtbVk0NUtGSlBTSFFOd0o4b1FWbnU2SVU3bHlkbTh4NmEwS2NZTGtHRGxQWTZNajJ6RjVOcmsrLzBVYUErNkI0R3h4dXZUT2FpaE5UNDhPV2VrNkNyTjNOYVp1T1h4Sk5zYjFFc0t3RjhzUFZPR0N5UFJtQVMzdUJmY0s4SnI4d244YUY5eVMvSFhwZDRpTkJUci9CRlhmd0Eyd1BUaDFwSWdSR2lvQTMvOEFzWmp2TlZ4UmtyQll5WmRybUdrTE5ibDJZd2taSHRsV0VRVEZXM3pncFZ1REFpbEZiVWRUa043NTRFK21xYTJqRzZ4ZWVpRGYvd0Z2TWRvZS9HVkpNMExmdTJ3VmNDVGFUR2tiNHVtNDVBSmQyQTN2ZnZHUHRPZDRXczdYRlhiRXFVdUwxR040NDZDM3VaaFdhUVE5TytnaUJQaEh3bHJRMWk5bWU0aTlPbDhMMGNUYi9zNkdESnRzU0xobEZ6TGNvL29sQXFRTExqMThUSEhFODhhQWxiS21IN1R5L0FLbk5XOHhXWEptaXhZelFyZ3U0ZkRaVFE0MlFiT01rWFA3cnJyNTVaZm5OM3laN0dYOWtWUjFGTXBVdmg3eXNmd0xhRXdLSERvR2lzenlvK1FCa2N3dCtzTVJMVThxMWF2NzNKUkZMaWpqU0IyVmtrZTBVLzNSQ2szMzFySEt4aW5DMnVDU013WEp6VzY1Vk9jajJ1SFB0OFQ0QWVVbjRXT2FyQXdXMkx1Q2FQOWcwZ29McnJ5eGMvdXVFSHRsT3FQdjVEZGJtOXdqRmJyL3E4Y3ZPMUE2LytKa0FpTEtxakZkTk56TmJxWUVRR0hjRXFzN3JqNW92cG5rZCtPZXBrUEd4bWJFUWF2WHE4TTFhL2NUTnFSOFoyWjdsTEZoaFZ5dVNZS002Mnp1amVCZVduWGRNNGxlV01GZGFvU2tIRG04eDI1WlFYODVZSDdRTHVPcWg5LzVIRjlrZVQ4SFZ0dDZqTk11YzlTSE9LcmhBZ1B3dGc3anoxNGs5UGZ5QXp5dkkydFpUMHJLQ1A2S1U0WFNHQUZVVEF1T053Q3hiMXdaTzZnVEJjWDRtNGYvMkZkM2k3S2R5dnRITHV5QisvSnJUVlJWSFJyYnovR0tCMGZUVm9jRlllVmthZ1pqYnY1TEUrMCt4Y0tMMHNqUGJVeTNrdHhqK1hFczNjRlZEajM5R1I3YU5ORnliNmljVE83eFJzR3FPeStwYXRTRlg0U3E2YlVZb3U1Q2Myd0VlTlp1NGRnVzYxaUZSQzlSVEZTRndTQkE0WTlOZzV0c3ZkUjZzWUo2Tk9xRThUMDRHYXowUmM0QWsyeFZ6WUFvakk5c05mdHJHOWdYUGVaeXRjOUlNUkxiY1I3dFZtQi9HMlJaVGF0b1BPcnFmRTJySTYwbkZjTHJwd0F2ZHdOVU1mY3R3ZEdSYlRzT2wwSkllZWY4aDRoVlpDWnUzVVhwNjRvR2piT3p3OTEvanR3aHZXYXZaNFRzdTdQMGRORklUSVREdUNFemJCenZtRVpCWTRYNDJ2SEtvRXdudjYxb2prUm1WSFVaR3RpMFFBdjlvbGVLRmFNZW1rQkZ6KzVGdE5SUlYrZzdXVFZ6bFBWVnM3Z3F4VWpnMDdnSXU1RzM4S1JKQzcraklOZ2xYM1Z5YUpBN3VmY3FVdmpRVjFRWGljM05TQ0grbld5ODBaUlFtenkyNGh6Mlg4ZXZKQ1JBOWE2Q09oTUFCSTFBeVo3ajVYamQvTE0wZk1QTmRjbk56dk1tMjVIRWx1QjdleU1pV2g3RmdDSjFGd0hyckpvckhpaVpYUEd2QmFjdGVSZnJnaEhtbTVuNEN2aUNmRkdVOVllc0NMa1NPL2dWQW1EQTZzZzNBNVlPQXBhZDFoVWcwOFFNSFh0MDI3MTkyTmtLcEpDMmJmOCsvUHZhSy9PSWtTUWlNSVFJYlpvV1ZXTkh1dEtncGhtNXE4WFRmbkhENytuSXMvTDJvVVpIdERJKytrTWt3RTVpYTl2SUJZbHYyN01kTnF2L3MzV3NWQjZjTlA1OHl0SXRwL1pMTFFlcG1ITGRyRjNBdFd2TWNEU01qMndCY2laLzZXVFl4TzZ1U01LSDVKazMvVWVFQVBnTE40Y0NQWjZJQ0J4NHFFZ0tIQ0lHR3ZzMmUwWFJ4bXYrdkR0L1U1bDVlbkFPQTgyTWxBRVFyU0NvQndUNnJqdkhIZkhoRGJsZnJLZG04TEtxWGRMWGMxeTJUK0EzbXlINEpaOGNrRkRDQVRObUcwOVBkd0FVTmdha2JvL3VVZVFxdWxrK2F5QS9ZeWJSbkZpUXNibXBCQTFYMC9VaG14N1ZZZC91bkk3QmQ2NjRMU1JNQzQ0YUErY2FqbVR3Njg4MndFVGZhd1ZETmVTYS9qeWVmWmV4bElaRlJrYTF3bzJIbks3bVhENmRhbVRnQktnNWRHaHdQaWpvaFllWWpvL0gwdXBCSXM3ZnNtQnV1R1h4OG95YjdlSDlIRjlueVg5M0ZKVDBiRG96M001NXgvTWJoaWw4VElUVys1VlkxQjBHU0lIWEc3YU9ORURqTUNKaXZsemZzSkRENEEvWllEcm5scjhrbzVxUC9RVWp1Ynp5ZnNRK0VHdmhrck5IRktGWDc0QXZUamN3WFJaMXFiU091THUzL3VhbVBRdnVxbXN0UUNEQW9XR285MUNjblhCTy9HN04yVU1ISXlGWlk3K0FDdUdUUTdyaTFnZC8wODg2eGQrT2c2eWQrV0pmRWZ1YmZlWWU5SGN3eTlrOTc2MG05Q0lFeFFrQlA1eTg3cnpmdzFRT0M3SUh3TUwzZG1mWUdqTW95MWpnZEtkazJiZVlaS2VTbnRLRk90YTZLcGlxZzIwN2hrMzZWWWRMcU1aMnJqTlhNZ1Mza2hBdU15aDRQWDRGR1M3WU9McUdnTmZveEdQcmVPZXRmdzk0NDJNb2hsR1pwSnNJUVVDV1ZJMGVneVI4a1lTczVMKzdpVTVDSmlUOVNocWR5MDFzcUFvcWk3NEhVbjRYanhOWW9JOXVTbll3QTJscFdYbUQycmVlc3FKNzRPZGdjVEoyb1htZlVGT01UeVh3djJoMlcwbVB3ZlU2NFRwYndWUDgxYmtkVEhpM1pPbkRoMW1iWFdLRUx6NGFoN2xXbGFtOGN0TWhROW5paDRzbWhLQ2FsaE1Bb0VWREx6MHpibTJ3K2VteFp5alVteEI3dFZWZENsU2RlaVdBdHlMYWpKRnVZYTE3RG5iV3pma01QMGFlTGpIM3JPd09lbUNxOS9FdzlrQVlwQmRnYkhYUEQ5UXlNL29ObUpLY3dVckoxNFpvUDNOcThEUi82ZkxYN296YnRqWU5qOCtDTHlLaFRIbUh3c0pMR1VTT2dGbGJVY1pzY0hobTcwTE54VEt3MGVjLzk3UHpyVG83VWxSMGwyYnBQeTNkc1JJMk1RaXFFQlcvOHRtdG1vS3dXVnRTM0FvNEVXQ29jZWVXR2F3SnN1K1pvMU1XUmtxMExWOWtMWVlVNXlDeGNkYW1Xcnd5bkh4cHFlNGUweDlCc2RVaTZTUzBoTUNvRVRzc1VwRHQ1Vkx5c2V5Vm9RR3dpeFdDelc0blRkY1U5VnVWUmtxMmJlTnl3cjFnRW52N2RrekYzd25WZ1EyYTE0L1NFVDdCVWlyMUZ6L3h3WWRaKzZQSTJVckoxNFhKZVlWQVlGRklUSnR4STJBVnFDT1VxUHJBeE53UzlwSklRR0NFQ2F2NW8xYzNGOFNXZVZvTTJGTlBKenFBY0tzRkFvVEI0bEdUckpoNkw5Z1dvZXZxNURtWisrVUZid0NzNUpYa3F3S3N1UzNrZHU0QUxkTExtOVJVSEl5VmJCeTVrV3BLWFZiVGU2UnZvUnNKK3k4Q1BwbVBHUGpSd3JhU1FFQmd0QWtYeHBwRDhxMGRHVkxxdHk5N2UrMkNCMTVJK2FOcFkwbWtjSmRrMkhGWjFYa0ZhVEQzOXd5dGw3M1pzREJlUGl5ZHM4cTh2QVI1YThtdlVVUmR3Z2JDZlN1c1lLZGs2Y0dFbTNGY1MxbFJTVXdMQ0ppZTZCUStuL1VWc25hUFBCT1dqQ0xjZXdSdWxESEdxSmdUR0VRRVIweVltajdiczIxYSt5Zk5lQU95M0pZOHVCY1BqVVpKdDFWNHo4UDZUdVUyUGJaQ3JiSjUzV0RucGhqbVdNVzBqTUNjT0xMVnV4TnhDRjNCaGpkZkFHOE1qSlZzSExsdytsbDFIeEpvK2dWZzNJVFJ6MDEzcnRsdmhGeTkrT1hpL0FGOHpONmUvMVlSbmphV3N2TGdyUldWQ1lLd1JtT1d2L0tqTXJUSTBjQk9wV3N4M3luSzRGTDY1SGlYWk51M1RjaWRVQSs4bUgyZEJNTWdLdnBlTVoydFY1dFpyQVV2VnZBcDkwQTFjanJHNmV6UzYxM1g1a0k0Rjg2bXJUeUNNYlpnSkhwT3J3dVJDOFZyTFNhMXV0Ryt4VnpnaG9QNzBzcDR0aGJZdWdsUStuQWlJZVFqKzVGSEZURFBwMlVqSFdPQmVOOFB2Y0VxdkZjeE5acWpvczdyRnpOUHk0M1o5WHRBR3YwVjJ2Y3YzV0YzTVEvRG5JMHNESFpieUxlNEdMakIyT25VejBzaldnV3RSWmxwK2I4NzQ0eVIwZFIwc1hwUGx4aFd4ditkeFhCMTJkZlB4OWpibWE2ZDlRbnYzNjltS3J6dUVuZ0hvMFdoUENJdy9BbUtHclQ5NVZOMUVua2cvWXA5T0JZWFpEaUkrRHB3ZEl5UmI5Mm41ck0xcFlJcjhMcXgydlhNU3V0bis0TU02YTFpT0plQlR4alJidm5oTE1vYk9WbzlnVWxHWEl6Tktzblhod3N3RGJrV3JabXdCZ0Z2bVFCYWE1bjVnWTFmVUZCZXdYSUxCaHk5c085L0ZZdk1KN2NuRE9ndGRqWkpTZEV3SWpETUNQRmFycVBmSXBKMzRmNzJPVXYxODJ1eUtXaUVnM1pLcXdjbHIwcVMyc1JYaUZOczh5Skw3Zmo5Y1dsRzZkNlIzODlZN2wyWTZHTURELzlDM0Y5QTlpMU83Z0t0aExiUTJqSkpzSGJoVXBtWENyTC9wTDFKVCtHTmhvV0prbEV2cnZHSVNCSDNjekdJNHlTZXVORkxQMmJoZ1R4dHVsSkxUSVhyU1E1MElnWU5EZ0djaFJUclNtTkNVSWN2aXFxa3hoZm1NNSs1R3dCYkNIRFJDc25XWFE5aXdNeERTM29VdHRaNm9FazlzaXd4M29nVTBrTDRIa0RKZHdBV3lYVThvSG0zTzFvRUxSWjVwT2VaTTlIUE5XeFJmcUFFanEvYVo5aWEzL0FUNm5ETC9rM1plZ2FyNTlISTJYTEtucldMRzY2azdkU0lFRGg2QkJsczNIM3VVMXFpMUErTHR0SEhIUXRGcVdvelhoQ2tzU2JZejkvOVFvdnU3YnE0bGFxYnYvMVNpSmtvTHBSVWhMRnpXL1lwMmZvWHlybVM5UzFtYTFzWDE4Q2tiNVVCa0gzNFNLRWJ1QWk2WHpiVFY2UWRrZjNTak5WdEtwWkhvSHk2Vm9EMWhVZ0lpc2wxWFpvR0tlUzRjYnF2M084U0hqS09vdk1UWlZkM05GT0lhWktxRGkyd2pBR1R1VHBRbHRDTUVEaGNDbURucVBOYUE3VWkyOGpOR0xONmZjaVVPUC9KSXllVWwyOFhrYzI4OG5Vdk9NZHBJeXZEMWRwTkNLVVg4MVl3dGJaZGQrVHJnWFlwczA3cUVIa3hHYnBsSGJscXpXSThTTkJQZThzT1ZpMnpCY3dtL0EwajBEOWU4cERVM2orU1loMWFlWDdETHc1U1hoZk9sTmI2Q0VRK0pzUjBURTltYTZRVnZaWE1QZi9tbmNaVHlIbnBURjBKZ0RCREEvTkY1TDJSQThvN1BPVGdieUxnaWtadjd4akJGWWNMWGxoK2U4RmxBVHZ3RWtSM1UrTkVibC9tYUQxUll5RmZFTmVIMEZ4dHVlYlUzQWUrU2xxYU5rbHFxN0NlTkdxV1k3eHFoQklCcXp3OVhVQXVDYzIyM1VNajkxajdKRVhqTndPR0MwazJvTDY3TE1mamZobld5akhkblViTVJxOGgyUWhwUTRIbi9XS2VaVGdsZUxJbG5rYnovQUxZUzVSRUdnQ0twT0ZBRTRxdUwzalJUNUNEUHc2QXEvNVBhUUVUK3VaMlMwQlZKQ3BQMU9HUFd0UVQyZUhmTHpzOFM5UlhVTERrU1VzYkpIdksyc0ZBaTZsdzBUOHQ1Skt5RElqakFIZHR4dkV0YW1qWksybk9LM1JlYStsWmxyQ1lGMG4venc5WHdnWkdxY0QvdlBYdmpmdTk2bzRTUjZCT3VIUkc2ZXJjMmpubE5ZZFFFZTVYSzJkNGpnKzJKbCtOdXlGd0xKdGRnSm9CZDhLenQ2NkFLNTJ0OWFhRE9oTUFCSTlCa3NmZnlFc0pBem5iOHJqQ3dsWk0zc2dFWlVaV2tNQ21IRTJiTDZRRTJzWSt1UkgwSkZjdU9oTGhOVDc3ekZSWks1Rk9keFZTY2FiYndiaGZxWGUrU2xxYU5rdmFjWWUzUW1oRWdIODllN3lBM1hJMFEyYzZhdktoVXl2M1dWdzFicyt5TnlLMFhFN2RzYmJkd3pZc0w0QWszcUhiTTJ4RC9QNDQvam9UTUpzWW9sRmJOU0xoTW1USUt1R3h2dThmOWxibGp1LzJwb042RXdNRWlVRS9lcFROT0tXY1MwWkcyRVVIaWkzUzU0ejVKWVVJWWE2S3lyL0pUVkcxZ3dRVEpGRkd4cEp2Rm5zc2tqQWtMZVRFei85QzJlb0FqOG91cldtZWM4aTVwYWRvbzJSYzhIU0tQekdtMnZGZHV1Qm9KSEhqbmFlN25hM2hKYmZ6WUMzVWpYak1FdVBqVmQ5SFYyN0RtelRQRXNGRmxHVy9UcmFMd29QUGJOUHgzanZFTURRS0QybmpTTnBGT0dwUnEwa01JakFZQlJBem52WkVXK2VtN3lLZnVoTFlIR2Z2K1VIMnlMa2xoaFcrNC9QcWJjTDRnN3JyeGp2dFdwRGcvZ2J4UUY4LzcvYXd1NW0raXhnMnkwRE1zNUNzQ05acFRjOTdSbWZZdWFXbmFLT1ViRmdkTGVwbjFJTkRJNVlXcllkbE05UDNvQ3g3NGxwang3Y1hmZS9sdktYVmxISm9yaUtqak5RcExKVE1BdUU3enlQYjAzcWJTeUhjTmE5NXA5dWRSOUtOb1BZWUY0Z3R2Y2pNRlpRczU3M1Fpa1NMaWRYMXNjRFdSS2VwREdYVWxCQTRBQVFSZkM5NndKM0NyK2pidlZIT2JDeTNHdnMwOUQ5MUdwNXlrTUJ3NzI1S1NMRElXcnpxOWVCYlhDWlZFU3lVWnZJV0VVb3BBT3Z3NW45aXFObjBMQm5naWVwdWNHYXBhazVieWNORTNTZ2x1aEZJb3VGZCtRcldIZG5uaGFsZzJFMnB3YkRlTkNHTHV0cGZ5Q1NIUlAxejRMR2R0dXZodTF4MllzNjZQMzh6YUpmRmxpZHZaWHN6K1VsZGozL0l2MnczbWgrR09aQy9GSWdDWjY2VWo5U0VFeGdRQmNJMy9YeGo4SUUrbXNJR25ZMFFZZitjbjkrUGJKSVVWMk1WYkg1SGJRK2RpVGJhbld5OXY3SHJqdk83YXVuZU0wTGIxcFVSTmxCWktLY0xEbWdYZHJlN0VnMm52a3BaR0tWMUtUeU9STUJYVkhhYlppdmFjY0xsc3h2czEyaGR1VTNEZGVsR1RiZlNMZS84OUVkeWxrZWdmcnVoWHdhTCtaNDA4ODM3czRUMDU4L21WOFh2ZEtkREk0aTRJbjlXZmFzZkxrQ3VacTF4bENmMjVlcEVRSVRCR0NGVE11YXlNbXJ5cG5YelZ3RFdYMDRmWjJxdHVrMU5PVVpqVDVoVm5kNzNEM2c4U2lwNy9IcVBxOU1VdFU0Nm1rdDZGTEUzb2tyMVBKdEtqb2haWkdIM2xzR080cFh4d05aelEwZTJkS2lmSU50V2V1eUxob2dOWEZMMHBmdCsycHlpWGVaZ0dQT2YycWd4d21pMzB6dUkvM1hsWFA1VUpnY09Hd05QZjM2WEZuMEFtd1d3bU1acFFFcUt3aElnOGJIVG1xbUNmWUdXdmlrS1dCblZObkt1bEIyN3N5NUs1NE5wZmpSeTZrTHd5cGkzS1dSTjBNYXR2THZOT0pUSkFNUnZVVHl2TXdxemp3WWJLV2M1U1BTRXdQZ2dVZnF5RS8vaHl1elBEckJDRkJVWHJXOEhxN2l0N1ZSU3lOTCt1NnY2elAvUEExZGlYc3lVZzAvNERzdTVSTWozeXU0Z3V1Y3piNFMrb1RKbkpLc2dxckp2UkJsQkF3b1lOTkFrOEFKdElCU0V3ZkFUdS90eVBpKzBQTmpQR0NsRllVTFM2SHF6dXZySlhSU0ZMOCt0cTVwcmZ0QzljdWRnTW1Fd05qRzd5dTRoaGM1bFg0WGY1ZkQwYXVlRVJaVTJYQjdISG8waC9hdGtnbEpJT1F1RHdJeENpc0tCWHplMWdkZmVWdlNvS1dacGZsMXJZcG50ei9SNjUyQXhkem1TbGJYeDFPWTd5dXdobGVjd0RqbHQ0b1h0Wmo1MTR4VUZYOTd4SHBCeWFlOWV6dmw0NmZ0M25mdmFCaHo3WVMwL3FRd2dNRFlFUWhRVUhpNE8xUFZUMnFpaGthVzVkbVBTUVdKT2hCOHZSSlErYmNjMm5ydlNtUDkwcnQ0dThheDd6RUhuVzhMYkRpaDRxbWNMVjlUM3ZRYmJlaStVOUsrcTVJdyt1azFPZGUxWkdIUW1CQVNFUW9yQ1E2dWxCUFY3dldWSEEwdnk2RUw0TmhQNGFPUk9jOWQwUWlEM1U1WGVSSzg5ajNqRWVkNHIxYUtRNTg0UE9zUElIQlRXcCs0RCtFdGtlRVBBMGJFY0VBaFFXbEQrVGVEc3NLSlNuc21kRkFVdHo2RHBkRXRQNVo4VzljeDc3T3N2a1lUT3VvV2tDeDg3NjltM040YUtqSTQ5NTRzV3o0L2JuTEE5NjdrQUxaTHZ0R0dXTGhkZmUwUDdDTDlqallaVW1YdkJwMkRDd1o1U3VtVk90NzNBUHFVd0k1RWNnUUdIQnpwY0dFaGhDZGMrS0FwYm0wSVV6Znc2amxwbjNObHJReFR5VmVkZ01lZ3BkM2Z4M0dqaUhpMDczUE9aTjg1bGZHN3VtMTRDbjJVYjh6YjdFQ3BOcUxMNklCTUxlbDVpaGgxajQySkRJdHBsY2dHbUlQcERxbzRaQXpuazZ6WVVCT2Q2em9nRFo3cThMTHptemRWZ2VKOWR0Nk5HYjJYeHBoRE9KeGNON0hBM2Q5bmZSMWQzSVkxNnhIWjF4WHZNZThEUmJ1YkptS0xBdlZOaExOcU5mYXJILzY1bzhwREllMHcwanNrWHVQL1F5K0pDY0lMVkhESUY4LzNrbUJoTVk0Z01UUFN2Q2tqWDIzbGY4Q0RsMDhRWC9jT0pqN3VmcVFINDNrTzFDRGtYeldkT2FjL1QxUkhLNDZNclhrK3ZkdUkyNmZBLzdBdnNMZmNDLytMRnVEZ1pTcUVqTVU3cWV4Y1I4dUtrNHNTWlBTbkFnRmNNaFd6NkpPTEV5NWtDc0pTWFhCUUtsWEpNaXd4K0U2QUdnM2hWaFBtaGlQbFVPWFNCSG5rYW9zZ0U5M3dONXIrYnd1aFdLN0hMMFM0bmtjTkh0VTg3S2xycEMwWWN2ZnBzOUh2UTAyOHpJZGpwV3lRVkZ1dGFFd1pUTyt0Tk5oa08yWWwzUHdkaExXcTQvQkJDSDVIQzZ1WlJES0k5STc0b3dvZUFwZjRRY3VrQzJ1S1BIemQ4TC9hNjlIdVdiMVpDMXluRDNvK1p3MFZXS0gzUFRQYzVSUGpud1NiRXdJaFM3WHBLQkxkYi96VWpwNWpDMms0ajc0VXZJeFVOSkkvRElka0RYN1U2K1VOdlJSS0FlUERNU3ZrNzJmUE0vT0VXTlpGQ1p4eWhFSWd2ODhkaWc4bmZwWEViQ1FYRllIbFFXSVkrTGpnRklhL3RMT3pwdFdjWFpnV0dqUjhnZzI1YjVnTVBHb09jL2lKRlArWkh0Y01pV3Y3R1JTR1pwdDJsUENPeUhBT2hvZjJyWTZiUVc3SDRqdU8xOUtNSTVqSVNBcytYUk5jR2UzSXpleXZhMm5YNTlGZkcxOVgxalZWRklMd0FBRWZaSlJFRlV4eGxXNjJzTTJ6bVBpMWFhTDV0cjNzSjFxanNXcThua1RFZnBQSTFoc3NXalN2MGpuQnBLY0RnN0NyTEZkVHRYSGlrUFRpUnozU0ZRS0RIbjBYU0crMi8xYVM1REtrZDE3NHFPcGQ0Qnk2WHI3V3dQRHE3a01DMmZ5RDJNWlgwY3d5aVkraE5UN0xPUXkwVTd4bUpYTitoVDRyTmtSYlpzRlF5a0ZDYmJVL2JCRW5oM2JTQWplVXJtUjBLMjAvZC9uemNxSFJBQ1hTQUErakFyUUhYUmJkU2lPSVY3b3N6ZmY3ajlwN1hCR2N1dlRZTzY4Z3pPS3FrSmdXMDN0N2hWTG8yOHlQYUE3UWlUN2FKTzJXSkd5bEFXdkMyUGhHd0hqQldwdTc0UXdQVEhmSjhyTzBoWUNyY3o5cktETk1DTS9YSGtSV3ZtYUp3Szk4WnNyeHZMV3B6K1RndzhaU3UrWUorK0xzYk1wcUpLQTA5ZDRIZW9FTm1PMC85R3NpV0l3RXlKc1QvOTRXRFRtRlJPL0VTUnNRK01pVEdmNVo4YkdyL2c5cGtmeG1KYjY5MWdKQks4NHNPYTNmVGFYellZMldKQ3lCWFR0ZG45Y3p6VE43TVFFOWxtWWtNTlk0UEE5Ti9FTTliRUhOYXhNWTRiZ3FzQkc1OVUyYi9uNW15UEZVQThRa1hFdmRhVlVTMjh6VENaK0dwRFZ3b3loSU5raXhUSHJwSGZ5RFhkMElqbktzd3dJdHRjUUpIUUFTUHdLLy9qOWQ5OXdDWjBHdjU1Ti81R3JWUDdpTnNLZi9qQWplTVcyaDc3bGp0ZTNTVU1pKzI1UWpQWEMzSGRLUTZTN2F6N0ZML2FZLzY5a3gzSGlXdzd3VU50aEFBaGNIQUlIR2VQRmRrM0QzNzhJTm1DWDdmTVVIV1hlVTF0ZjRVNmtXMS9BRkp2UW9BUUdCb0NieXJkOWR3aEtBK1M3YUo0dTBTTjFoakNkSVFTa2UwUWZrdFNTUWdRQW1PTVFKQnNXd3daWXIzTnB0NjgxaTA5NzVFVHBweHR6K2hSUjBLQUVEaU1DQVRKRnMvdjdPTTdrTzJnbjhkaVVDTGJ3L2kvaFd3bUJBaUJuaEVJa1MxZlU4Qk80RGlWYjEzUERoYmMrOGJTWGYrZ1pnVitGUHBEWkR2ejZmaUNLNGNlaFZjOTNQN0MzMVZkNy83Y2R6MXd5d1Vjdk92Y2U3L0pxc3NxL2ZMbnZ2T0JHOTVuV24vM2huanZ5OXZSekFkTmphZmMxRktCRUNBRUNJRWhJQkFpVzc3b2RzMk1oWGxxWFMrWVl6cnp3dXV3cWl5bUZXdDZmTWF2UTczYTlLc1RZaUdheVpoZGhLaU5xYkVDSEZhM09NZll5NlUrYml0L2ovaGpyQjIzSWJaNDhkWkhIbm5vWFB4RVZPV2xXeS9HcTFGMHVuM2h0a2NldW9oZ1BPYmkydlRDODltMU8xNWZhcTlVOGVrTHVmbktkUzN0Q1FGQ2dCQVlCZ0loc3NXcXVjNHlRaUJidzArOVdQQlpkdTAxVWVIM1RScTR6RGxRYlM3WlRyVGVVNHVtdkJXYko0cnMwYmtJTDl2Sjl4RVYyVTdIZjc1WjVLKzRMUm90VlZWYUJkbktZcEpzcSt4VE1MN3drVDJ6cms1Q2VTK3VVUjlDZ0JBZ0JQSWlFQ0piemxkelJnSEl0cC9QSFp4VXJ5Vi9YTCtlL0VlWEw5OFAvcjdNdDk5V28vREk5bGxYTjNGMDFwMTFWbWFQOHpxc1M0czROb3ArNUlHWTIzTHB5UWdMSFdHaDJqOTZveURXbC81YTlGTzNvSVcxYjE1Qk1Id1RyOXpEVFBTZnhUQTZzajNHL29ScjRJdWw2eFZ1RThwbE0vMGxCQWdCUW1BNENJVElsaSs2UFdlR0E5bmljK3E5Ym9XV1h1V3diSit6SVhSTzVXd25Za0dvV09WWGg3czhTRjBRNHphMStFd01zaTJ1aVZmd2VBdW1OYWlvRi9TcloxQ1VRYkhTL0k4YnNpM3I2OFZKVGJacDVXSW8ra01JRUFLRXdGQVFDSkV0cHpCTHRvZzE4M3dlSk1PNnArdllNcHF5YjZLRnlQYUVtdkpRc1hHMFdaVUJKaWg3RnRuZUpMN21nWWQyOGlzWEphTVVDN3dwRXpEUXVpeWE5ZGtMbHVoTEtySU5LTTl3Z2FvSkFVS0FFT2dmZ1JEWkhoOGcyWmJZc2paeTBUQmVpR3czMXFYY2ppRldrS2JxaTZVbGQyVnJsZTAxVUluTGdhVFdzZzUrbzZxTnYrT3JVcGcvSTVNUHlJN1poWFhLa214RHluVXYyaE1DaEFBaE1IQUU4cEh0WnEvamdoVk5qSHlDdFpXZUFOaytma0VOMFRCeDZieWQ3VnZVYS8vdXNMMk5OYkhJcmd5RVp3MGhJOWl0S1JYRnA3UzUrbkhiQ1UzV1VUUXJ5VGFrWFBlaVBTRkFDQkFDQTBjZ2kyd3R2ZkkwZ2ozcTBvQ3lNNU1CRkxzcnV3ZklWbWRsSTlEbmxwUnFtY1FBd2xhVkk2aXp2WE84OVRsZnJBa2hrTG42dGhBU3pRdWlDdXZPNlVMVVVwRnRRNDhjUmNjbDJZYVVxKzYwSXdRSUFVSmc4QWlFeU5hblYvK29Pd3VRTkhXZWhKbURFTmt1SzgySVVKZEVFVGY2VCtyUndNQTFVYTRuM3JDQUVGSzRmRVBwdkN4TjJHQmFrMjNkcGhHT0NiSU5LcGZkNlM4aFFBZ1FBa05BSUIvWnp2VTRNdVlJWExGZEt6bytEWkh0Z3BMRDVJZGRVUVRKUDZIcUltU1J0MFFaWkdzcVJZVk8zdkw1WWFybHRJeGRlYk1sVzhQYms2STFxRndvcEQrRUFDRkFDQXdEZ1N5eXRmVGFUMlNMQk95dXRYcERUeDBJa2UyMmtnUFpMb3ZpamdsVkl6NnZkbGRVZ216UGk0TCswOVF4THlKaTlWenNoUDIybXlaYjJMR21lc3lJUjJaQjVWb243UWtCUW9BUUdEZ0NJYkpOejBiWTdISGNzbzVJUlg4dzVhNG9oTWhXRDJISUZqUzZwSWZGWGY4VnJjSlVpZ3F3NXBZdXFPbkE4K2I1bUlsc09SUHJBVDdQeFlQS2hSNzZRd2dRQW9UQU1CQVlMdGtXZFN3clRHL294UnBEWkt1ZE0yUWJheHBGQzFacmtEa0M4UFdXbGhSNzBPaDVVYWo4VGIxNnpxS2xZeDNaOGxjZThOS3czWUxLYlRPVkNBRkNnQkFZTUFMN2t5M1lyK2VYR3RCMXhSbzhxNStRQmNoV1JhWGkrMnpMdkF0ZmVteWRGL2lHaWJaeXFoZkkxbEdJRnFScVpRdDd0djZpaEh3VlRmVFRaSXNIZGRoZSttcFJpVDloNWJxVjlvUUFJVUFJREJ5QkVObjZiNUQxUWJaOCtiQTFhektpVVBtT1FZQnM5ZXRmL0UzYzg3d0xaR3hmTTZzQlpPc29oQmhvV09pYzJnT0JYdUVkcDUxTGd5YmJxQXh0Mks2cDFSckR5bmx2MmdnQlFvQVFHQW9DSWJMbGF5UFV6R2g5a0MzbnRHMmppUE9vbkNpQWVtZEdHQVJpUFU5QlJMYUNiUGxxT0MvK0ZyWGR3dFJiRFNCYlJ5RlhYWkp4OS9FbmthQVZTczlJUWhmREdyTGwyc1QyajBWOVdMbG9vaitFQUNGQUNBd0RnUkRaY2lxcW1jRkFrU2JzTkpYNUNqeFY2bkNqMFpTSGJIbGZkM3UvR0RKTnRvc3kxbTE4SlZJdlVKeVNhUVVoYnNnMmVyUFc5UmU4SWF4Y2RLRS9oQUFoUUFnTUE0RVEyZktBdEdZR00vR29xY2xkOEVOa3MxWVhUeEhzRzlueVhJWTFRZzhKc2sxVXpzdFViWGszYXNnMzNYWkVZQ3c3V0xJdGNFZjUxdWI5dzhwbEgvcExDQkFDaE1BUUVBaVJMVSsxMm9EVVpGcTdIejNCYWFCdG1VOGRKTmxpR3ZCVHNLeTF3dDk4V0VHcHNtVU50V1FiRlQ3TXFSWWJuOWFRTU14Mm9CSWhRQWdRQXNOQklFUzJlT2prUElhYU5XL0VkbTBCajJ3dGEvT0ZFZVdrZ3p4a3krLzBhNmtSNjZsSzVEendFa01CeXpkZ011NHVPcmk5SExMRkZJUlhsYUJUNUVUQ3lsT2pVUVVoUUFnUUFvTkNJRVMyRVNpSng0aHlBOW42OS95NllmODlULzZ1V1RGb2t0bmZQR1RMK3pwRXJiVFVVMlNMaVFyNGFzOXAvdVVlRWVOT21VbGtxUEhJRnBUOEZpaGxDL0xiT1dubGFnemFFUUtFQUNFd2VBU0NaTnR5cHJqeVZLaGFXS3ZyMFVHcUNiS1ZYek16Wkx1NElIVUdaaU1nVG5VWVh3K2RKdHVveUZPMUovajFvTUpYcmptdUZxWVJQUkpraXdsbHNaZ2dGbGF1QjZFOUlVQUlFQUlEUnlCSXRvdDJ1Y0lvQXI5ZDZYRllubzlZc1gxbjlmSUZlY2pXZSsvQTZJQXhOWE1nQzJWK1paam5KdTd3bVdXWWxtQTNUYmFYRm5RZHNyWElPb1NWYXhuYUV3S0VBQ0V3Y0FRcVBoOUsvVlg5TWhZL3hNR3VyTzcrYit5eWRqU3YzL2JLUTdaOEF1MXFhc1FBMlRhNGZZdGNGRG5odWFpODdIVFNaRnUzbDRzSzQrdlZCSlU3SGFsSUNCQUNoTUJnRVFpU3JlQXZQYzZHbTFQUWxUbjNUV2N4R1VIYjUwWEhYR1M3cUpmL2NzZXFweU5ieEtwZmlVcmJrTUx6dUlXb3RlN0lhN0xkc1hOdlQ0bmx6SVBLblk1VUpBUUlBVUpnc0FoVW1IZW5MNVZqT3BWa1JYN1lkTDVzMCszWU82NmlDQXkzS2pUa0l0dDV2V3lONkRMOWcySlhUNU10OHE5UFRvdW5Zc2hhTEJmc3l1SG9ZTWhXcmI2SXFtUGlJVjFRdVJpQi9oQUNoQUFoTUF3RWdtU0xtUUI4N3FyY1Nqd1QydU9tSnNHcTNpMU4yK0JIT2NHaHNpNmJBZy9JK0Z4WXV6QnRkRmJHcGdHeXhTU0V2VE9TVEV2c0NXZmxjS2cyWkd1bktFd0pkNExLbFptMEl3UUlBVUpnOEFnRXlkYXMrOExIczV3M2MvOFBkV2tBWG84d24wamdUNlZVZ0lrUVZQSm9hMDBxREpFdHhKM1hoRlhXTlVTMmNPRWRUd2c5aSt6UnN3NUJPMlJySDZ0TmlJVnJnc3E3ZEk3RUNRRkNnQkRJajBDUWJKRTZNS3U1Z0M5MWxMdm9QZTdLTlVaUnZjYkFoZkVtZ2RJRXFwTVR0RW8xcVNWRXRqeC93VE94Y2l1dWluMDluVWFJa0t0b3lhekhQR3ZQYTJPRnVJbHMyWlk0eHA5cFNmOGg1VnFFOW9RQUlVQUlEQnlCQ2d2a2JQbThBVDBTYnJqWFpabS94ZHZ0NncyWEhPMVFxZ0paclBJbEo5enF6L1lHeVJadjkrNXFLNlpWS2haa2F3bFlOV0lTQW45UkFSdXlGcTBsVVZKL0xOa2FEcDZTczRaRHl0MmVWQ1lFQ0FGQ1lLQUloTWtXUWVpS0dxWmhidVpCdTEybmI1RXdNUE5lVy9wRHVQeWhtMGlpenVnOGdYNlBGMk9DT3MvTG9TZGkyK0dTZWxWaEowQzIvS1hnT2RFbDhjWWFYN3BSa3ZxT2pkUlBTZ1lQS1ZjZTA0NFFJQVFJZ2NFakVDWmJ6RU85VTQxVllYcmFGRjlIeG52V244ZWFxdUZxRVBpcTdxRTQ4NlNpVVA0aEJkMDBhNUlOUEQrd3BxcGJ1N0pRdGxjQjNZR3ZINjVJMjlVam12WFZBWnIweGFPdVF1T0FjcU9SQ29RQUlVQUlEQnFCRExKOWxnNEZrVHRZVjJOaVZTMTdrTmVPbVppOVNNcFdiSnpLRitoYVFxMU9zSUtIelNnYjVqRmFORzFDMjN2Mk5vV1NRb3V4RDZXR0xqSDlGSzZvelpZeVpuMEZNS3RLZ0JSS2l1RFR5bE42cVlJUUlBUUlnWUVoa0VHMmlCWVh4QmgxUFlOQWZxakdQbWpLYThIVEZZLytIeHVtWWtVWVFhT0ZFaDlqK3ZMOU1jaTJmZlBsdWVnNWwyOUNrYjMzOHFlRStsOWw3TnQ1NFRSN0JkKzk5Z0Z3TFZydnVHK09INXB0VVQ5NGk4b21ETWNydVVydjkvNE9mNUgzY2VYUDIwMTRuVkJ1dEZHQkVDQUVDSUVoSUpCQnR0RTdKTWxpUnV5Q0diWElXTHhxanZJV2JtZnNOOS81eko5alRMNldJTHVCZ3YvUlg3dGRKRlF4aE5xMmVlSkFiaW9PUmQ4dmZlYnV0eWpDNTdiS2Jkc2JmTjQ4U0p2VitWNjA4K2Q1WWtQWXU4UFdIMnovQWdqNFRTWUlqaUpmdWFlUkRnZ0JRb0FRR0RBQ1dXU0xMeHQ4WUM2YWFybDM3YWRiTDIvc2RqOCtlSlp2MyszMkxEUjUxU3F2bW1JWEw5ejJ5RVBuTGlLWnV0TytlT3Nqajl4Nk1kYXpIbVRmeDJwY01LcTBML0RXYzNGaVJzSlprNUE5NlVUZU0wSXZwRUcyOVVjak9OUStoeFNGRXhSN3lzVUk5SWNRSUFRSWdTRWhrRVcyMFV5Uk1aRFRCL3h4WjNmOTQxeEh6MzVqZk9GbVB4aU5DcTk4ZU8vN2MvUkczN3QrWUxPejRNd0YzVDV4SVN4NmFRR3BpNTh2dFcvN1RhODlqM0t0bXZhRUFDRkFDUFNEUUNiWjRzTUdEN2UvOFBjU3VodExpUW82SkFRSUFVS0FFTWlCUURiWkJqdlh0NExWVkVrSUVBS0VBQ0hRRVlFdXliYTYzbEViTlJJQ2hBQWhRQWdFRWVpU2JKdmJRUzFVU1FnUUFvUUFJZEFSZ1M3Sk51Nm9qQm9KQVVLQUVDQUV3Z2gwUjdiVDE4SmFxSllRSUFRSUFVS2dJd0xka2UwWmI3WFlqb3Fwa1JBZ0JBZ0JRc0FpMEIzWlhycGllMUtKRUNBRUNBRkNJRGNDM1pGdGN5RzNZaElrQkFnQlFvQVFzQWgwUmJZVGJlOEZMS3VGU29RQUlVQUlFQUlkRVdoaWlZTDFqaEpPby8rQkw2ZUJpb1FBSVVBSUVBSWRFVmdFMlc1MWxIQWFtL1N5cm9NR0ZRa0JRb0FReUk5QUdXUzdtbE44a3JJSU9aRWlNVUtBRUNBRUVnalVRYmJMaWJxc3c1MG5zbHFvbmhBZ0JBZ0JRcUFqQXJNZ1cvUGwyWTZTVWZUV3VYMEVxSmtRSUFRSUFVSWdqQUMrL3EwL3p4VVdvRnBDZ0JBZ0JBaUIvaEhnMzFxODJyOGEwa0FJRUFLRUFDSFFDWUVKa0szNkVIZ25NV29qQkFnQlFvQVE2QXVCRXRpV2NyRjlRVWlkQ1FGQ2dCRFlINEVOa08zVy9tSWtRUWdRQW9RQUlkQVBBZzJRN1pWK0ZGQmZRb0FRSUFRSWdmMFI0RS9JYU9IRS9YRWlDVUtBRUNBRStrS2dBTEtsSjJSOVFVaWRDUUZDZ0JESWdjQWkySFloaHh5SkVBS0VBQ0ZBQ1BTQndBbVE3VmY2NkU5ZENRRkNnQkFnQkhJZ01BMnlmU3lISElrUUFvUUFJVUFJOUlOQUUyeTczbzhDNmtzSUVBS0VBQ0d3UHdJOGovQzEvY1ZJZ2hBZ0JBZ0JRcUFmQkNaaXNDMjlSTllQaE5TWEVDQUVDSUVjQ05SQnR1L09JVWNpaEFBaFFBZ1FBbjBnTUFPeWJWTm8yd2VDMUpVUUlBUUlnVHdJbENtMHpRTVR5UkFDaEFBaDBCOENQTFJsYS8zcG9ONkVBQ0ZBQ0JBQyt5SHdMSkR0by9zSlVUc2hRQWdRQW9SQWZ3Z1VXbURibC9Xbmczb1RBb1FBSVVBSTdJY0FYL3VMM216WUR5VnFKd1FJQVVLZ1h3VCtFOGoyOFg2VlVIOUNnQkFnQkFpQmZSQW9NM1p0SHhGcUpnUUlBVUtBRU9nWGdVS0Z5TFpmREtrL0lVQUlFQUw3SXpCeC83ZnRMMFFTaEFBaFFBZ2NZZ1QrZjUrWkVFR3dDTjBhQUFBQUFFbEZUa1N1UW1DQyIKfQo="/>
    </extobj>
    <extobj name="334E55B0-647D-440b-865C-3EC943EB4CBC-7">
      <extobjdata type="334E55B0-647D-440b-865C-3EC943EB4CBC" data="ewoJIkltZ1NldHRpbmdKc29uIiA6ICJ7XCJkcGlcIjpcIjYwMFwiLFwiZm9ybWF0XCI6XCJQTkdcIixcInRyYW5zcGFyZW50XCI6dHJ1ZSxcImF1dG9cIjpmYWxzZX0iLAoJIkxhdGV4IiA6ICJYRnNnWEdKbFoybHVlMkZzYVdkdVpXUjlDaVpjYldsdVgzdDRmU0JHS0hncElEMGdXMXhqYUdrb2VDa3NJRnhsY0hOcGJHOXVLSGdwTENCY2VtVjBZU2g0S1YwZ1hGd0tKbHgwWlhoMGUzTjFZbXBsWTNRZ2RHODZmU0JjWEFvbVhIRjFZV1FnWEhSbGVIUjdRMjl1YzNSeVlXbHVkSE1nTVMwMElHRmliM1psZlNCY1hBb21YSEYxWVdRZ2VGOTdhV3A5SUZ4cGJpQmNlekFzTVZ4OUxDQmNjWFZoWkNCY1ptOXlZV3hzSUdrc2FncGNaVzVrZTJGc2FXZHVaV1I5WEYwPSIsCgkiTGF0ZXhJbWdCYXNlNjQiIDogImlWQk9SdzBLR2dvQUFBQU5TVWhFVWdBQUJBSUFBQUhxQkFNQUFBQnNJZkhPQUFBQU1GQk1WRVgvLy84QUFBQUFBQUFBQUFBQUFBQUFBQUFBQUFBQUFBQUFBQUFBQUFBQUFBQUFBQUFBQUFBQUFBQUFBQUFBQUFBdjNhQjdBQUFBRDNSU1RsTUFJakpFWm5hSm1idk4zZTlVcXhDdGJoVGNBQUFBQ1hCSVdYTUFBQTdFQUFBT3hBR1ZLdzRiQUFBZ0FFbEVRVlI0QWUyOWU1UmtXVmtuZWlJenF5b3JLek15VlFTa0dUUFc4czZDS3c2WlhtZmhpekZTMTFKZytqYVpPbDdtQ2lPWjZseWJnVFZrSVF6VjQ5QkV6c2kxb2Z0Nm83Z0RRbmVMa1NnNFRaY1NKU0owVncxOXdobUZFWFN5MEhIUmpVZ0VRdlBvZ3NrQ21xN0tqS3JlOTdmZmo3UFBpUk1uSXZKUnRjOGZjZmJqMjkvKzlyZC8rOXZmM21lZkUxRjBRMXpsSDZEWDRnM1IxdHlOUEJnNitYaFdyOXkwbExzMVBRakhDTDIrM29OS1pvOVFxT25mbFpWNDdxVVBlaEw3UytwRDlGSmZPdWxQalB6VXg3cHpHY1JUVnpJeSs4cnFDd0dqRktyMmgxbHlOemV5Y25QazlTUDZ3VUJBK3h0WnpTbzNmenNydTQrOHZoQXdRcUZtU0NWTDZzZDJPbG5admZQNkVmMUFJR0NTWkUwQ1VYVFQ3b0Fha1RvYkkwL0tZTS83S0lXcWZ6T3orbEw4L3N6OFhwbDlpMTdLUFRQMnFycGdmdVB4N0lKalpEQ05LTzc5SUdDRVFoMG5TMG9rYjJBaFArU1BiaVk1OUMzNmFCRnc5T0UzZTY1Zk4rU2VJV3RHekJmYzJ2R2w5cC9XQndKR0tWVDdpUjZpVDVQVFBTaFU5bXpTcisxZjlORWlvTXA4emNTUGFrSVVyZmYwOUk2U0N3Wjk4V0FmQ0JpaFVFZkpScThtckYvclJTSHo1eS9Ka0xyM0wzcS9DSmh1L0o2cXJYZmc2ZmZFdlB2UDNjOHVFZE1GeDNOTXpzMXZhZm9CUXZrUk1FcWhxcVRUcXcxVFpLVVhpY2l2YnJxRUJVVHZGd0UxUWhMVnVtSlk4WEVLZ1VXWk5QWXhnS0FyWTFGMHNkZXNDTkw1Yk9kWk04c081VWZBQ0lVcXh6M2NIclNoUkRKWFIwWXJGemFOQ0FzV0VMMVBCTkQrN0RXUk9WTFZDYmxzSkIwaHhKallHMGJZSUxLQ1IvckVuRlZZUi9JallJUkNIYzh6eWEvdWFxa3pRL05uM2V3Q292ZUpnR05BUUY3NWhIUk5RcXoxendMUjg5eEVycFZJM0NmbVhMWHdlRzRFakZLb1pUTG5sODVNUGRIVE94YlVKNzd4RHgrNSs1MXYwR1dMaU40bkFpYUJBS0pyekJFcW84QWxrKzZJWVJLMnlVa3pLeVc4UEpScElEY0NSaWhVMldoN1NtT1JQSkYzR2poS2U4T2Nsb3VJM2ljQ3FBM0lZYmlOMWsyanhJWVJqeUtpUGJ0MmI3OElSYWZ5bUU2ckNsOGtOd0pHS05STURzY1hzamR6cXZnVDVJbTU2TytOVGNBaW92ZUpBTHFOMk51WE1UdUFZbWJGVElqcVYyVjBMTmVRaUthSktpRkxGcmpuUmNBb2hWcklaZk9pTGRMSzA4Q25rM3ZKL1dlSUhoK0ZSTzhUQWRFeTZYTjVQZ1VFVkt6MnJDdFhkekxma0lpYXh1ckJZdFZQSkM4Q1JpbFVQWmZOZzlFN202TmwwK1R4OGl0ajh1QnJGVzBoMGZ0RndOaHRuMUVWNWdwc0F3RTI0YXJhbjg4NUpLSlZ4NHJZL0hMRzhpSmdoRUxsSEtQUkVXT2lURy9kK3M2Y2sxbEk5SDRSNE5UWk83cEZpTFB0dDN4Smxxbzcxa0dtdS9mdFhHUENMZVhFOHlKZ2hFSk41blR4eXVhV2lkTU1GWjF4M0N0a0ZCSjk1QWlvRVJmUXk5TEVsZk11TEdlRzRRamtSTUFvaGRyT3U3UFJ6dUVJTlBTaVdxQ2ltT2dqUndDMkE5Uzh6eVZkUFMwa1BwSjNjMm04ei9XSDRHL2ZjaUpnbEVLdGtqVmJwclJZVlh0M2FTU1RTYWV5bU9palJrQmlPd0FQZ3k2SVZrM2wyZytpeENUUFJrcWFya1I2VGdTTVVxaG0zbWJNOXRaTU8yRUM0RUFtbnhYNmxXTHFjOVFJb052SWNzd0xhV3BySXJEZzV2akZSV285NytCSjVSQkZPUkV3UXFIR2NwdXl5WjdXY2NhanUyS2lqeG9CZE50cXplNlgycEtJMTl3Y204NklMZWVkUUkweWJqQW5Ba1lvMUxHZS9TcGxudWpwSWEzdmRpU3h1aGNUZmRRSU9BNEVMQW9aUDgvdmRSblhPYW9SS1lGNTE1ZElvY3RLem9tQUVRbzFhejhneVJBV0cyK1ZqT3dvR3ZjWi9HS2lqeG9CNW5aQW5iZXExdUdOd3dTUjJVb2pjOHBkVHhoNWVZUDVFREJLb2FyMkE1SXN3WnM5ZGtBdWV2SUxpajVxQkZTTjV3ak9odGpSM05OaU5PUHVLV1JwTHlVdkh3SkdLZFM2Wis1T0ViYWRYT3hibEEzUGs0T0NvaHNJS0gzUFQ5NzZsak10MVBTeE05MzMvUkt2Y2Z6Znh1ZCt2Y0xEVWZUM3ovK3AyKy84Q0l0WjFQZjlvcVJ3Nyt2NlBNRzA4MWo1ZUdKYUxMMmllZDhTNVZCNkpmbURGZzJJYXlLL3VaQkZFbmNEQWVWWG1udXBGdVVvaFdvay9KNm4zcm43SmxiOVU1dTduekhsV000MkYwZDlrMEJCMFEwRVlQY09WeXVLWGthNk1TRy9UeVdhYUpMek9OU0RSSFlobVlqSCt6NXFRV1hlR3ZwMHdLUjVVQVEwcytTcVNRbHZ2VTY2L0RIU09xMTFSZWZpckg5Rng0cUZEQVJzRVRTRXRVK3ordHNPQ3c5YnFPYzkwaVJkc1JoaXl0VTFSdEd6Q1FTaFQwcVBVbzNyUjZaUnRKRHQrTXlUSlpNUER4Y1UzWU9BNytwaVJIK2NQUUVxMXk5WG92R0dzc0ZRbklzQWd6b3BGRjNKS3pSdk94MWVkVnU1dlB2ajBaZG9YWlBkRjBmamRSTXd4TmRrWDMzcGFSb0JFK1RWWTJqSm1rbDdyTnRoMGVFS05WMm5DaFBQdnpCUFY4d3FjUTdnUFhQbEdyWDM5UTkyb2g4eXQzaG1zNS9BMWgxek9vam9CZ0tlZW5zRDByWks4UnNwd3daOWNudlQ1UTZDT0JaeWdTWkYwVXR1QThVMUZ2UlFzM1Q3QjYxV2s5L3FrM2JldXNJR1R6L0dlbmtWZGJVeGFDWWFwcjZhVWdLYlJUOHhqWUI1UUhIQmVjcTlLalpUaGlyVWRCTmUwQjJuL3MwaWt4TUxZMXZlR24zT2ZnVDZuS0d6K292TUFURWx0R3dYa0RILzQvS0NvaHNJd1BRTENMUXU4cUc2amJWRk9WNmlsV0pmVDUzeitwcEVRSUs2UWtuZHk5Z09LTGxyK3JxVHNNN2VwenRCcmg2bENxbFpnN1E5K0xNaGpZQTI4RXdGcTJocHArV1NkWmhDalFNQXY2THJtSFFXK1VlN2N6UXpKcTExSUI3bktJekRjRE9aejRaT3FGR2x1ZE50czAwekd1WFVwNFVBT2pKYURZN1lHWncrT3M3QkVMVzFQRUFEdHdHb3pLRzJxaGNSWXp2Z01kUEswZXpZOW5jbnVFS09rZDBGakVkNnRBZ2RKYSthWXk5a2VoOTNqWUM0ZzJMb25RMWR1aXBhT2xTaDFnbDV0YTRpT3FFbVU1NjR6QkFQcVA4TzNTemVNaFRMOEdDVWRJUHJKbmhWWmtGOTJnaVlKZVF2aEVNQysvMzE1VFhPSHRKVlpFV3hSb0JETFNuTU8waUU2ZnRPZ012TW9TN0NTVE5obnRzWm5DV09rVTRQSks3cDdGV2Y4MXYrSHZiNnUrOEhLblV2allCdm8xbkw1aE9yTWVWMkRpeVVydllyaFB5UmpsSFAxL1JzY0NoOGtlV3VraTVOcjFzMkFGcndORUZ5STlSSUpxNkNvaWNRY1BNbVo0M0Ivc1E1VWN1MjBSdE5Dd0VHdGVuS0t1bXFXRWo4OGkvLzhxMFAzNHNlN2Foa0dzQysxNHFaMEZoak1TejhhT05QNE1ZMXhGSzM5RHlreTF3RVRjcmxFVVlqZ0hGQUJicERicExCd1lWUzRwV3hDTEI2Y2Q3eTlxUGp3dWdEaXJCNU1ENW1FMkVDamRZcm5qd3c0WFVUaTRwdUl3QnFhYlpFZmRDdE5JMnpoa1Z1YUFUWTFGS0pscmpyUmcvdFdqblkyR1NlbjB5YzZQSVEwSS9WQUxVQmFyWkJkTUhYNktyQjNBbFNGczdsSUFEMUtNZXMzTHdnaUFjWFN0V0tDZEIrTEY2MTJ5Q1BTYXp5NmFodTZKZyt4cktVbzVpeXdKUjNTaXdxZWdJQnFwOWlvcnd2ZFBWcEtZU05BSVBhbzNTNm90Q1hBeEVNZGhQbUo4UUJWSGhFZERvb05hMDVZdDUwazZRb014QXg1Zko4cHNOQkFIMXMzUktjaml1ck9yaFFVamhxMXBkVWhBYVd6VUdPUVM5eWExd1B6ekJNRWpPUWE3U005NnBhcXBFa1JVVlBJRUE1cEUwOXIrQzA1NmFzeUVhQVFhMjBLQ25wSFdxK1JPK2YrNGROWlZGb0hCZTg4UW9MOEordHMveU93YzlLalArSmtZazUxTFFJWms3dXNJTUF1TGNLMXZYM1N5N0RFd28yeHRISXVtVVRwb1hObzBoaHRUOS9UZ3BCNzVaRk1ETVFybnQ5aEtLaUp4Q2cxbjFBUUV0VURZTW0rb2VPYXRVWE1BMEd0VElIaHJ5d1ROTGpQa2FlTkRJUXhHQTMyMXhmNDltenVtTU0rbGxYblVaZXpxQ0xnQVgxVVNIanV5dkRFMnJiblFTaW11WE5Uc3JCazBBS2E0OVhDN3lsS2FjSWk0cWVRSURxSnlCQTlsQTZBZ3hxSHdMb3FudE55cjNKQS9JWHk4Mk9ET011SzV0M0hFUk9NZ0lFd0xDSlR0REgxL0VJYWxoQ0dTWkd0TEp0alFINTdqOGNPSS9iQ2h0dzJsQ09GWnpRWTlCTUx5cDZBZ0dYSkZjZ1FBYlRFV0JRK3hDQWdtcXlkeWN2UitMWGk4cTJkQWxaUGU2enptNktrWlUzNk5vQW1Ha3U4b1FTTVhJUlVGd291SExLaEFvSmJRUWNXK1BKOFBxVklUV2FZc3k3UmlvTHp0Z2VwY3d1cXM4RUFzNUtqcmtRWUZEN0VEQUxQVWgrcmtJdzRYZGtubkd2NlJKRzZna2lwMDBqc2IrZ2l3QU1QbTUzcXNaTFVFTVRDalpadFZ6SVdiZHNnQlFlaEdvWXlUVGNZejN2R3Frc2VNTExoNjZlT2k0cDRqMzFtVURBcHVTQzVhd01ZaWdyS1cwL3dFY3RTK0ZlMVpOYzJaVVBUQTFLRld4Nlovd1JJSUN1VTFaUXJkNE5RbVJvUXNGSG9oc2g5SHE1YUZ0REsxRzFscjRVNmJYM0dRaFk4SU9qcU9palJjQzZtbXVqY2RkRytDV21HMUdHZm1RUWVwTEJvbmZYQnRCZHdkTmdwbmFES09PaENRWHN5MHRPODM0RWJDdFB5V3BZMHdzWFJySXFuV3VyUUdIUlI0dUFocDdrampqYkFTa1NwMHlMbzdBQjBEMGMyYkwxQ1VjL0Fnb0lWWlA5VDdwdkZUM2xSOENXMSsvSm1nWHE1Z01UallLaW9vOFdBVkNEbkQ0bVhYL0hQMitsVElzbmh1OEowb2tUSG9EZURhTEtISnBRd1A1WjNUc3M1UGNEQUJXSGprVmpzdWxMcG1uMlhwbWlLaXI2U0JGQXR3T29vYVhYOUVsK1Y3K083eXJTVTZiRlVTQUFtMmpZczlHN1FWU0NvUW1GbG0rSUpzbWJ2UmFRcVg2L0J6WmdVMUs0ZCs5eXViam9JMFdBc1IzZ05pTk40cFJwY1FUN0FmVFlBK25NZE9kTTBmd0lLQ0FVZUsrWmpCSDJJaURGNzhuWUQwQ0pKWWN6aXhZVmZhUUlnR0V5MXRxTzJNNGVsc2hObVJabnlSV25lTi9SaENkSUZ3Tkx4bTRRNVRnc29TaTZsaHdSN1QxQmtabmlZZ0FCRzA1eEdVMURRRkhSUjRxQVdlaEJDcDY0dzBBc0poTHA4cldUVEkyMnZmdGdCYzhIU1A2cmhMekoyYVVZZ2xDTU8wVkFTOVlqN3V1K3JSLzBtOXBYTmVoUi9vSVJOWVBZeDFneDR6SmNWUFNSSW1CQmJ3ZElPZlVkNkcvcG1BdzEvUzZmOTluZ1JhZzU1WklyTU1rVzk2UU5tRWRoWXplSTBnNHVsS2dSckNzaUtHOWI3ck14bWdHL1oxTVNHSGQwODVvUk5ZUElPbW5HWmJpbzZDTkZ3S3AvY2M5bHhyN3BrcFJlM1lGOXVXcThSU1VpNER4YjUxbFZxRG5sOHN3WlNRUmcxOGJWOCtCQ0NhbGovVlJGdHNON3hnRXVodWpQQ1hQUXc0ZGVrdVhjdS9hdXJaeWlvbzhVQVhXOUhXQUp5eUxvN0xWRUtvQjhsU2VXcmZuRGUwWm9CbXBPdVhxZkQwQXRzTUJZREZqWDRFSUpkbzBrQXJaOWUxMWJ5aEp1WHpJa2dSNFdqYWdWOU04YjFMRmRzK2hvSkljK1I0b0FkSS9aTEVjK2hYNGpYVStMUjZ6T1diV2VyQm9GOGdlVE5nRHFVUnZma3Mrd2hGcFB6Z0xPT1VGZVkwMzVQYXVucFF5NDQ3SFZuQkcxZ3ZhN0pUcXJvT2lqUkFEc2t0b08wSUtxVU5QSy9EekR2SjRXcDZ5cHZKWUZKY1V4TTVCRUFCenVoSjZISlZRMU9ZaW5MSXRUL2dFbXJmWjdtaXVHK0JnSlJzd08xdjJ1RW5hS1RBemwxdWNvRVVDUDRxM1owcHV4dXJscmh2ZW1Lc2hjVUt1ZzZrTTI3YVlaTFJMMklDQk91dFVGaFJxLzdhOXRtZUJqbUQxS015Y3RpN05PUG9BMERCTGhzb3gzTzVSSVhPYTdCVC80RzJ4d3lDejZQTU5semZJS2lqNUtCR1J1QjBUUnFya09ndFdrQ0s0cFU5YXdXaGxMZjBucG9lOUFFZ0VZYUlsVmQwR2hJUDZhSlJIV1podFdBclBzSFpXRWZEck5RUVRoK1I2M2JONEptY3hPMDluUHlyWlR2S3VDb284U0FiUFFzR3B5TW1DK0hZa2xEclB6c2NUM3hLNVpBRjVPeTR3WENTY1JnRzVMVEM3RmhLTGIzMWN0b1NDeHU4N0hlSzhvbW5tVVFBU21RdlQ4OHFiS1EyQmJzNnVDc21YbTBZRmxKWWpNWXFMajFENDlyQzR2OU5sWkdZNTE5MkYydnFTVDFVckxwazQ0VlZqQ3BjeFluSmY1ZGlUMjZPbTYrQWplSFQ3SmN1ZXRCMGxRM3B3VW9PZzlnWUFKOGh5MzMraGhKTDFEa0Y4bzdNaXlJVzNJdGlxN1ZxZVpLN3hscnB2VldBeDIrZjZJb0Y3UTNkSUc3OU9hQ1pzNXlEV1BPb3FKN2lCZzIraHFWTndSRmFPckZVNk1wcVpRSzJraCt6VVZTUVltalZ4cWtGZWlhUDd4TmplZTVlYWFXV0RDbWtMTm5QemhCQUtxMzBTdHJvREZoTUlRY1RFS1VNaGUrbjRocFBsWXQ4WUdmNG5jSXZ5QXgyeEx2NnhIWWhPc2xmWVpKNVFsVjFxSmxoY1QzVUhBdWpKS2REMmlwclpWclNtYXZDZ3FkNmhQT2pJOUN0SmRxUVVuajBiaC9LbFVzS1dtcFg1aG5odlB4K3llbVVuMGxDcVpPK0FpWUl3c3dYaHJFVGlqWWtKUncreTZaOG8xL3k2NXg3V3V1elZhSlJUcWs5Y3cvWFZRczM1bmhZdlIxcHZDZGJDMmZBUjZzZ0tYNDNvVzFxY3hDenpyMUYyVTh3T25YaE9WVHQwV0k5aTk0MVFsZXBwTS9oV1YvSGV2amFJVWF0NkFxUFNTMngraHpFajNOejcxK3BlTFJPY0cvU3Q4bE1qdUNoNFg3cktYcWZHaHBIakRJajVoMkdZcm80K0lpNENiTU9waURXZkJxWmhRZEw1d2ZkVkpzc09hOXpUeWtPQmROY2J5UEhrdlV0dWJnTUlGQkg1VVRhMmNOdFpiZ3N0Z0xUSEVNL0UrR3IwK1ZPRlIrVnRNZE5NR2JERysrUGttZmFOTFhDMjZRT1BYNHpvWm1FeWhGdUp3bUlxQ3RvOGtCYVp2UmJSVVpIV25GVTAzOGViR092bHM5Tlc2YlJNaHc1T0tzbWpBUVFBYmRlMUV2eFVVcW83M1hXbFBtdGM2dVZ5SnlpL1VPNEhtUno2T2tOL0NaenAyTzdDRTF6cmwvNmJNTFdjQXY2Y2pXY0crZEcyTFNGY1E5TnAxaGxZeGZSbzJZS3Q3L3Y2Nzc3Ny9mRXdSY1A3YysrNis1OHg1OU5HQ1RLWUlvTW4zbjRrcEFtU3lUUzNrUGthUS9UNXdBd3Z5YnRrWTUyNll1bWc2SnVlZ0MzdzVJaVpueU02aVRicHErMEoyWnM2WWc0RGpkTlFCeG1lZDRzV0VPdEo0Ny9acGgxTzVUY2o5aFB6ZW5FeTM1ckpQa0c0VFlJK2ltOGx1VFA2anBPSDNJNlpmK1hPN0w5K3hzK2tYWHRqMWExWjZNZEVOQkZqYzlpSlNOZFUvL1VqOG55cTAxb203dW5ld0FJMklxNjZOb2t6cSsrNGdvTDRKRHJQSnBYVmhvV1pkQk9DTFhQZVFCNHh2YkkxYlhzZGYzcnZMUHkveHd2Z0I0enNUckYyVHpxem5JZ0FmSE9IWEJpTVhQOFZFMzA4RW5QQTlNRGViSk1OWVhIZGt1UERkUmdEL2JoQXNyRDNGMGhXNnRRNU5yODRWYW5zam5WYmt4TXFKN2tHNmJjOTZaY2RMUU9tbnhnd0NGalNLaWI2ZkNNQVUyRU1USXR2OGM2cDhKVHhVTmdMNEoxYmd3U1VYQXdXRldqanBxZFJPV3RjZXZwM2h4bFp0dDNMTWhTbm94OXNNQW10RzBXTDYzRThFWUJRWjhtY0VwNnkzYmpNSXM3SXNCSWczeFNDQk95d0xDN1cxa2xVN3k5dldHMnZadEUxU01RbW03ZFdneVBwTENnRnpwNkNZNlB1SmdLZ05SelBQTlQ4RVI5QStJMVFWNnhQNDhCY2NDWW9LVlZ0MEdDV2plZjhwbzJRNmdtQnp6RDh4VFRTZEV6aUZSTjlYQk9UdDJabzdVSlBLN1oxaTJnRDFwdGhXY3Z1K3FGQnhieEhjbmswcmNjenhSVTVjOGxQaThaTGxJUlFTZlY4UmNDeWZkUy9iN2ZScm8yZXFpUUQxcGhpZXpPam5BSnhGUWFIR0xLY3NSWnFhYmQxVHFQQmNhTVBLV2podFJYV2taajk0S1NUNnZpSWdaOWNlelFjVXJSaHZ5RUNBM29QRktMSWVRcUprUWFHT3VVanlDZUYyclk4R2FlN1g0bXBMS1lUT2l6U0ZSTjlYQkNTYTZtL29kbUt1OXRObHB4b0kwRytLMGFmU0ZhZWNxMzhuVzBSZG9TNm1XR3FyZEQ0c2w1MDFVamwxZ2pubU9BeEZSTjlmQkV6bDZ0djFJZXdHV0tmRmpUZkZHdXdKamRWTnhZU3FyVmxNVWlMTlBFdk5vL1p1UUhUTTJTUFh2SS9xTFdlV1dFVDAvVVhBdU9QeTZMWVpvVkppcWpZeTh3ZTFEVEMrRzZRK0xQbGN6YWlRVUtWdVIzTklEMVh6K0xUelpNbmlNUCtRRlRVaTdzUmZSUFQ5UlVCVWN6ZGtqT2JKNFBGaHJBVk5HMkMrS1FaWGtMclRKZE9QS3lMVThUeHVBRDBWZGxZMksvM2VNSVVCV1dNcGpmYTQ0eklXMGVjK0kyREszdnp5dG5RNTMvRHlsalVTbFEwd3Z4dUVMN3dUdWlreFl4cmFJa0xWTm95cU1vSk56L2FlUXo2aEhpZnpqR1BXaWs4UVQ2N1FRTlYxWWdxSXZzOElLUFYyODh0NVpncWhsNnliUWtEVkdxNDF0aU93YkJyYUFrSk41RVhwdk50blNaRzNuWm5Da2syU0g5K1pvK2RLM00zQ0FxTHZNd0tpcmQyT2JGVEtmZEk5ZkpOQzF5dFpJcUJrODhQRG9aM09sMnlsOXk5VTFmNkFiTG9zMDBSOXZUS05xRzUzNjdnWE0reS9QNzZYckxsTStoZDl2eEZ3cE9ja1grdHROMTAxZU9NU0FXT213UWZseTdBbFlIOEVIQWVWVG50WjZFUlhxRC9IaU14M3JUcVRmS0xVTVdkaW5INXJnb1Ftc0hNVWxqVmpaUDJMdnQ4SWlOWjdySStPdU02T1Z4ODVFaVVDRXFTM25PbSszVWtjb1ZCSGV5MkFWMzNUdmlNZmpVNy9iZmZ0bldSNjM2THZPd0tPSmkyWjFheXRIZ2l4aUxNaVkrUngvQlBCWWhhSnlodWxVT3VPRFZLVjhzQjBMNFE0OUc2MFA5R2hrWDlzUFY5MDJlMUZmRFZweW94cXh4eWJhR1QxR2NUWk8xem0wOVFNQmlNVTZnaFp5cWc0V2hoMDB1dEhkTG9sbWxzbldWSVBsRGZ0OVhRa3kyM2JMWkxKQmU1OUlXQ1VRbTFsZVkxbDIwOHQwTTUrUkQ4WUNJaWVsdVZGZlMwcnN5Lzk5SVdBVVFwVmVrMkczT1ZQWm1UbXkrcERud2NFQWZuYUZhaUNCb0lHZ2dhQ0J2WlJBNC9ldGZ2WHFQNkxqUWQvWVIrbENGWHZtd2J3RXN0ZGVQZG5QSDZnUHJDenVtK05DQlVQb0lINkIvRjlqKzdjRnRidWJmL0IxUUdZaDZJSFh3UEhyM1RveHcvZmlxWDdzYUVjMnp6NFRRNFNXaHFvblVZVXI5WmplMmJMT1pwbTBZWElkYXFCY2ZZSUY0Y3B6bUlTY0k0eFhxZE5EczJ5TkRCMWxVYnhuWThWK3JXdnJFMU5xMWlJWERjYTJOcWtUZUVmc1AreSsyNy9kZFBLMEpCMERiU1hhTjd4eE1zVjZTVkN6dldsZ1VkWWM3emZ4YjIrR2hwYWs2bUJxdjdLWVNaZHlMeGVOYkRxdk1weXZiWXp0Q3ROQTNYNjFjOXczY0FhU0g1NTdRWld4bzNZZEp5eGFkMkk3UTV0bGhyQWh0RFFUbXhKbnVGK21EUmcvMEhDWVpJOHlEb2NEWndRRHdXL3R6VWNmb0hMWWRPQS9NdS9la0RBWWV1NndlVjk2WWZBWTVsdkNKVnlmZ053OEZvRGh3T2pBWHh1YVJIZi91ZnYyNlIvMHVUQXlCc0VHYllHOFAzbFJYeUdubjhRczdvNWJQYUIzNEhYd0R6QnA1d211OHdHT1ArSGMrQmxEd0lPUXdQc2o2OVczOHIrNitRNVEzdVBieGlTQlI1N280RVpiQWJpKzF2TG1BdU9oclBpZTZQemcxVkx1Yjc3Y1B4Ky9Jdng3c1BFODVmT0IwdllJTTBvTkREMjZlNy9BNzZQM3J2N21WR3dEenlE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YXNnZkszLytsTEhyN25HMFBtR3RnZEhnM01FSG9GQkJ5ZUhodTJwQUVCdzlib1llTTNmZXZmWnRpQWYzRCtrNGV0UVVIZS9qWHduTlJaQVA5TFRTcjlNd3dsRHBrRzhNK0RLWDdBRkJDd2VjaGFFOFR0WHdQVHFRaFl5SmdnK3E4bmxEaW9HaGhQUmNBV0VIQzFQN0dQWjlKbjUvWlhVNkFlbWdZdzI2Zk1Bdk5Bd05mN3EyY3FFd0hadWYzVkZLaUhwb0YwQkJ3SEFrNzNWOCtKVEFSazUvWlhVNkFlbWdiU0VWQnFrdDI1L3VxWnpVUkFkbTUvTlFYcW9Xa2dIUUhSa1RldjlGbk5mQ1lDc25QN3JDcVFEMHNER1Fqb3Y0cmxUQVJrNS9aZld5Z3hGQTBNRlFIdFRBUms1dzZsTllGSi94b1lLZ0xpVEFSazUvWXZlaWd4RkEwTUV3SGpKQXNCMmJsRGFVeGdVa0FEdzBUQVpDWUNzbk1MaUI2S0RFVUR3MFRBUWlZQ3NuT0gwcGpBcElBR2hvbUFaaVlDc25NTGlCNktERVVEUTBRQXpwdGsrQUhadVVOcFMyQlNSQU5EUkVBN0V3SFp1VVZFRDJWNmFPQjVkOGE3NzFpTXhqOU02Yjc5K1MrNS9jNXpyRVRwZS83czFvZlBiTEp3RkFrRTNIS20rNjZmRmttQzZrLy8rY1AzZkZBbmxXKzV0L3ZPWDlSeGhNcTMzRWtlZkYxSHBIMGN6eEhTYllBMzl3dVBOQi84OVlvb0gyN0QxVUQ1VldUblV3ODN1MHRiVjhBWXB3Qnc3YklxcWl4OFZsVEhFRkJlSjkyWWtQY1lJdERUQVlROHJsTEc2NlI3aHBEM3FnUXdyVE9hS3hXYTlwUmZaUkgyazN6WTZNOTlFVVFpcFB0cWcrZUxkdnJkaVRZS2g2Q3BnUzN5SzRpV1g3WkxkbkR2Z1lEVkxnYjNVMlB5dTVxRGc0QlNuVHd4RjMwaEpyK2pTTVlhWk9kbi91Y3pmNDVjNlNCdFdRUEE4N2pabS9zalpPZkZVZm1mRUtJN0hjNENCV3k0QnRmQVVmSld6cVRORUZDNjlUYjBFTGNCVHozVlFOaTBBVE5ralJJZkkrUUNMNFRmTDk3NmFWQXBHN0JNcm5VNFNRczNkdFhJemlJTlBFcitFTDgvZU9vVXFyaHlpbDV2WlBubWp5OTNodXhXS00zWHhKMkd0MURuRWcyRWExQU5MUFBlanFJWmhnQ3crNHBFQUN4RDNVTEFOeHNDTGN0a3AyTlVqRU9rRWdGSENBZEpWRk5UL2FUQ3kxZTZ2TlJFbGg4UXVibmxoc1RiTXZtbXJCV0NrUTBaQ2ZjQk5GRFdTbTNTV1FBWGpvTkpWRVR6RmdLNmdvSjIwdnM1TWZ0RlZDS2dScTd4REJ3Ym1lT2hoa3dhKzF2UmxXNGZHNndRZEhPZkljdlRLV3BKMERhQmdFMFJEcmRCTkhDVVhKTEZsMlgvR2dpWXRSQkFIcEswTldzV2hwTW9FSUErMnVRMFNEdk5RcGl4UmRJV0lVK3lKTGVQZVFuNTYrWTJaZmtvV2xkNGJRY2JJUFUxNEgxS24rK2E5U0RnaEkyQWlxd042V3N5ak1sQ0lRQTJveVhTNndJVnkrcGxBb3picXl6VDdXUE5pWWFjWENCSUdKTW9taUppSG9tcVFNQ2lYUzdFQ21sZ1d5Tmcwb01BdkFwd1Z2REZvTmJlTjZaN1l5V25FZERRRThnV0Q1WlVNVkNSYnpGbVRoODdnanU1eTBhMXlPS0dKWUlBVHpqbFFyU1FCaGIwTEhCVUlpRFczV2dqUU9zY3ZTbXBhYlhTQm1BUzRIMk1ORXdnRmR6Z0IwcjNEUWpvM3dhZ0psNEl2R2hGTXZLc080SUpZQ29aOUdkQmQ5bUU3Tk1jQ0lqcWxoR1dDSUQ3cDB3RHV2NGtwRnRRYmdBdDgzVW1yelBLblRiWXVYaFY2WkltYUd0dzZzUVFHa1FEMjNyaUhoZGVmSlNLQURXK28yaFYyV05hdTBSQVZVOGFFYnFPV3V3MkJ3S2x1a202OG5ZZjB5enpzbk1oSUdVakxsUzdKTVBoUGhRTndLVzczQkdjZmt6Yzh5QUFRNXY3OWF5TVJFRE5XS1JqUnFDRGx4aDk5Z0x4dE1EdVkxR3J1dG01eXhwQm9FQzFCaDVVa1JBb3JnR01WTHJsYWwxNUVEQ3JaMlNVbFFpSWplN2liNWtCQjlxVmw3WFlmU3hUNWQzT3JSc0lpcUp0QzNpeVJMZ1BvQUhxb0JQeUJ6OWhzc2lEQU5nT09XbWdxRUFBL0g2OWRZKzFBMXhBYkNBVGt6Y0wyMzNzWnR1NUtMK2tLV3pnNmZRUUtxNkJaYWdZMTQ0dzBKUlJIZ1Jna2JDckt4VUlRTitSbGt6bFRqem91akpGM2UwK1Zza2lZT1hDa21pV1VXUUR6eTBaNGtVMGdJVTF2MzVmbGM2REFIajl4dGdXQ0tDODdudXp1TjdDRWpGb0RhU0lLcXcrVnRYS2dKV0xpTG56QTBESkZZc2tEL2RCTmZBSkRnQkNmbHR5eW9NQXJQV1NDS0JPaFhsOWdPMEtKTHZNNm1OWnE3cGJ1WlRsb3NyQ3BxQUhVRG83aElwb29Od1duZGF0aU9KNUVUQ25xaE0yQUJ1NGJCZElwVWYwMFpMZVNaVHBWaC9MUkJLQmFkRUFBQ0FBU1VSQlZIVzNjcWtmVVZGWkZBRUc4SFI2Q0EyaWdmTC9DYlhTUzI3bUhDUUVPS0FLQ0Jpa3A5UExsbTVwVWdUSUNUc3ZBalJEWVFPb3lhN29WQnFDSHpEUUxFQnRnREVMd0JOTU9wWjJqU0ZXU0FQbGoxRUlyUEd5ZVJDUTZna2EzVVc1RGVvSlV1ZXl4Y1ZLWmFlelEyZ0FEVXpFYWdNK0R3SnNsMHpZQUxyOXMyVExBTHJrb0ZVei9mcWFUYzFpVmk0aURnS1Nib1dIUjBqS3JZR0xhNUlVTTY0NDVwRUhBUmpibDJWSi80NFF6Nlh6dUtZVElhdVBzM094cjJTQ3lxNDJVVFFrOUsrQmhVdXFURnYyS1Q0S0l4TXg3NTRWWWZTRjhXUm8yN3NyM0ZSSEFpVURhaFlxTWlMdmZTQUEyMU55Y3FLbDUvV3pac2tzM0FmVFFGVSt2S2Y3YmNMQUdnakFtUE1qb0tybURGcS9OQi9yaEd6YTh0QmQ1eFU3eVRnRjFIc1dpR3JHd3laMlJGaks0eklOOFdJYXFHcGJmbFFPL1lZTXNERW5OVzdiQVBUMUJWMmpSQUNHNkpNNmRleXpDRGVzSG54V2gyYjNZd09xR29Nb2FWZExlWVZyUUExVXRaODJMZGR0ZFkyQVphMS9JRUNmRWFJZE82ZXJsZ2pRdmdUTk8wN3RDM3J3a2lac0x0SXdwZ1orMUtlOW9yTlV5TTdGb3NNQWxWMnRLaElDeFRWUTFiTjBTVDd0TXhEUXRoQ2c3UVhnb0NONkZzRERRZVZDNEdFKzdYcjBvSFlmeHJsWGlOTGM2V3kwUEpMYnVYZzBwTXVEdjZ6MldYZFVQR1ZEVXQ4YXFMS2pYS3pZbUZRMTNnMlVmSWlGQU4yN0dPekd5RlIrQUoyMTJTaG41ZXNYY0VOL0ttN1JESCtpakk3azVxUlprUlVaZHljWHJ5R3FUR3c1aVdxeFQyQllKRVVRQW4xcm9DcFZTbTB6UDhWSDM4Z1NmSTUwdFExSFYrcDEyYnkxU3RjSXdQTC90SlJoak04VG1McFhaTktDMkhpT2hkTkpPakxIdk51NUY3M1ZWaUdOeHBwWk9vVDcwMEJWbW43NjJwam92RzBpZStiaU8yd0UwUGYrMk5XMFI2QzA2bEVwMWhrWCtTREZVMFQ1d0NGcVh1REZhM3hjajJ1akl2aXltNTBMNUFsa1VyZFNEdncyRUxCaEZncmhnaHJBV0ZvU1JSZmtvSUtKYi9HMDlyTzArdEVUUHk5N0RCU2lMem1kUWdCMS9FVFpxTUVCVmNiaXNzUEpacm9pQUtwRkpNM0kvdVRaOHRmSjNWSytCU1lCV1cyVEVMSXBDNFQ3QUJxQXRybGJIcFdic2ovUTE3enpqbDNHZzVrckhjNStEQjNSL0cwV3hndWxrcGJuYVFTTUtTUHdtT3gzR0FGaE8ybzRNTUF1SkcwZ01HLzZFanlIL2pxNTR6RjVOODlzNjJyclFNQUdUdzIvQTJrQXM0RFljL3RlTmI3d2lqL3p1TXZ0MDBBQTJYbjlMOUFxeG5Eczd5dGRPblNqait1QlRxTjZMWURnVndqNUR6VHBpSDYzdENZOGdlOGxGWnFEcTh4d1VtNnVzWmo3NCtZK1E1VC9ZYVBhWlFpMjVCWU04UUlhcUpLVkgrMytUQlNWL3B0Y0NZQUpITzNmNzBTbFYxMkpLQUtFbFJpalk2Njk4eWZSMy85VFF0NW9WNlZ0UUJUZFRNamJ2Lzl6SDFQTE5yeU0zQ1RkMTM3M2Qvd2MrWDlWS1hUcXIzM2J6V2tQZWR4Y3NIekRjNS81VWtJK3F4aGdIa29ycldoQ0lJOEdGcDZJeW0zMjJaZkxjNXIrNlZqQzNVOTJsMndFZ0dDYXpyK2srMGxOeWtJbUFpTDBGSzRyRlUwejBXQkpiOU1wNVJwTnVhQVRyRkFpbDdNa1pyWGhLektXeW9wSDZMUEI4czgzdSs5N1E4ZGtNdjB3UGhqVndtSHZjKzk4L2MvK2J3WTJ4djlWZkM3NXhwNkZnT2c3SDRrZi9CdUxIZjI0MUx2WVhDSXJLYi93M3QyL2twSEVQWkVMbHA1cUUrVkN3bjVwd0ViQWZra1I2dDAvRFFRRTdKL3VEMGJOQVFFSG94LzJUUW9jQWhESGkvWk5oRkR4dm1vQXozTDBRWk45bFNSVXZ0Y2FLRCtYMW9oTnhHL3NkYzJodmdPaEFXd1AwMTBlUE1PL2RDRGtDVUxzdFFhd2cwOTM1ckNIZUhxdnF3NzFIUWdOekdOanI4TWU1YXdjQ0htQ0VIdXRnU29RVUdGdjllOTF6YUcrZzZHQkJXNERqQStTSFF5NWdoUjdwUUc4VUVMOWdIcHdBL1pLNHdldEhoenN4bHJnQ0pGbmZ3NmFmRUdla1d0Z3RmdlRFWjdsdm4va0ZZVUtEcWdHOEpjeTUyTGpiTWtCRlRPSU5Ub05sRjV4WnZkTm5kSHhENXlE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nZyV1FQbWpuNDY3NzN0RGh4ZjhkMzJYdjdFS2ZPNzdmdkpmdjZWWnVaNGEvV2dEZnpTSjY4b2liZFVFL2QvWmNLVnJvTTJVVlVrbk9IUTV6Nll0dXU5VGI0bkpEbTNXUEprN2RFMFlYT0RKYitYbWNkMGg0T25vLzhzL2h2YVB2Wkw5elZ4ajN4QXczZmk5M04yUW4vQTVmNWlIZHAzKzEycSs2Nk8zeDFCWkpSL3hJYUE2aXRiOGxwRHpFL2pIVWZ6ei9IN1pnQm9obTBQWDJEaTVtb1BuR05uSlFTVkp4Z0NCaW93YzludXBTY2dIVlNQV2QrZm05dzBCNDhEaUUwcVVJUVh3QjZwNUVERFZGd0tpOWVzSUFjdUVYT3NvYlUrVER6VDJEUUhIZ0lCZEpjcHdBdVdYa1Z3SVdPOFBBVnZYRHdKZzg4bVNvZXpuSUQ2Y1dhRFJNdGptQ2s3U3VudFFIczh6b0RXUHA5VEJNa2VSRXVrUEFkWHJCd0V3WjVhQ3FDVWVEZ0thTGQwUitVTFVCdlNhamFjc2FiUDVmdXkySm0yTjNVQi9rZU85YTdZS0xsdzNDSEJOUUJTdFFtVkQ4UVRqbHFXekhCRU1SUEo0RDdvVGZTQ2dCbjRmK3E1Y0NGaTlZUkd3aFlXZ3JYTnFpb2VDQU5LeUdlZUlMUk55b1FmWmJCOEkrSGYzditNbklvenUza1VvOW5wWkgwdXc2OFlHMEpadldrMkxhTkl3RUZBcWdJQ3gyejVqQzVPTXpmZnVUcnRRTGdRY3YzYWpJbUFLM1YyeE5SYlZob09BaVFJSWNDVHhSWmRIZ29EbGQ5K29DRUJ2SjdiQ3RvZURnSm5SSUtBOUNnU1V5WE52VUFSUWkvOE5kNlRCSXgvR0xIQmlOQWlJUjRHQXljdmxHeFFCMU92YmNCRXdOaHdFVkVlQ2dIeGJ2R2FUOHZnQnkyZHZWQVRBby9YMFUzTW9OcUR1NFd6MlRMSHdaQTdIM3VhY0F3SGxlUEZHUlVBZENMRDFSV1BydzBBQUxFa3J5WHJnbElWUklHRHljblNESW9DNkFkZVNuVklkQmdLd3loZ0ZBcHFqUU1EV1F6Y3FBdWh6WWM4ZTNPd3dFTkFlQ1FKbThtenYySmp1UFF1VTQ5YU5pZ0M2Ry9CMVcxODBOalVFQktDclJtRURnS3ZocndWbVlBZHYwRmxnSHQxME5vbUFHUU1CWDNpaytlQ3ZWeFROdC8vamw5eDJ6MzlHZFBwWDQzTkdlaFNOditJTWVkOXJvK2hIVDFMaTZhYUZnTTg5L3lkdmY4czVwRC9yekFPdnB2bnNldDZkOGJuLzIxaDQvdjN6ZityMk96L0Nza3JmODVPM3Z1Vk1DK0dQbmVuZTk0c3NEVDhmQjFjYkFYYTFrczY4OTdZQjFZZDZJQUNWZE8vN2FaTnBCQis2Z2hPVm40NGYvQnVqQll5a2ZNczkzWGNxa2ExU1Z1UUxqOFNtYXEyOHZZb3NRNkduazVWTmFPL3dSWGhnVDBoWDl0bzBDckErT0JLVDg4aHFxY0pmak1tN2JyK1RmSENhcmk1TEw2QUFFRmNGTkcwYXhwUC9MNU51M0cwaGdWNnZJdVFjVXBkWWhQN0VsSXI3SlZzMFNJM0l5MUNDa045bk5FLzVWWmJLZnNRdWhsVXRJMHI4OUVZQUpvRk1HM0EwSmwwMDZEMG02d1dLZ0M4U3BvVWxNeU9hYUJBQzZnOTFXT3J5K2Z2dnZ2dWVNekZyMW5qMzNQdnV2dWY4a3l6bmg5RDhtT3l1V0lYM090S0dNaThrS3kzL3JFejdFYkx6NHFqOFR3Z1Jja29FbEJvZnF0Qnh6cnNMMU5Qa2NnVzNSK01taGRRRTZ5VHhROU5wUlVEQVdQeGJuYnJjZ3ZvRStSOXpVV21kS0VUNEVQQmRYUXdtakh3bTViTGdTRzhjQVhhMXFNaHo5VVRBTWJvcm1qRUxUTWZYZmp5S25rb0l0WDN5b2dnNFFxQ0YwcXZJN3FKTXhYMjhTZDdXaVQ3ZlppY3VvMGpLekJIQUc4QVFnTU9adnhDVmJ5YTdGYVB3bmdjQlZiS1dVZXVNa085clVzN1NyWStneU5Yb3Bzc2RGSU51VDRyUzZ6dHpMSVRwL3pTMGNPclVxVG9oZCtCMjZoU2wvT2p0TVVYQXhXOUZjRDUzR09WUjhrWjZMOWYxczhtWDNBYm1IRlJQdmIyQmNLc1VNNklHcC9uQlU2ZEFjWVZ4WmVtUlhTM2ptL2pwaVlBcTdaRU1CS3hmN2xDbVg5YXRSWXdpb00xUHROWDBRRUJHbS93T3BTNkwrdzgrakpZVDhzRHJhT0xZWFRSODViTUlZcERRVzFSelpqV2F0b2NYbFdjcHZiNXlRMXFJWmZKTlNVWWZ0MVBuR1JlMEpvenhoSHJBMkpiVHlyTHRDWTdENEVYMUZyeE1zUU1obi9Cd3pBanVYNU1Jd0V6U0FJT0xmTkxmcGlhWFhWQWNUeEt4VFo0TXZRTjQvcXNuQXBwTEtKaU9BUFdFcXkyd3k2b0JBbjVZb0I0eS9iYXEraXNTRGtoZFpLblc0Y2Vhbk5GV3hZRkliTUczVk9FOUQ1VFFHMW4xUDBPMkJrWmVJV1VNZlhCYzRLRk41M1o2Yll2VzBuV0U2QW9IQWRobTJwM0FtRG1CS2pzb1VTSnZuNk1sbzZpcGpRRHRCMjREa0E0ZHR4cGNpVURKSmlWbFE4ZEFnS2RhVG1iKzlrSUFtd1F5RURDL0kzeEFnUGVrWWd6cFl0RlNXUHJkanNqQXNkc0xJcmdsRjlwYmhGeVM1WTZMQjNIb2VFSFg4SzNHSlBtbzcraE1DVlJ2VlUycGQ3cE5xSXdBRUxDMXd1bXI4Z25DdXZJZEo5SVFzRVYydHplakNKM0pVQU1WaUs0RWs1YXFQdFlJbUNYa0w4UkxIQmhHWXRGcTJ3QlB0WXFUQ3ZSQ3dBSmpuVzREYWxJK1NLSFJCd1IwTzZJT3RHVkRCS2ZrbUlqb2ZMZklVb0VjSVgyRWsvZ1BzVFJvUTVSWUlEc2l0QTgzZGlTd2tsb3hPbXRPWms3cDltSVQ2WnhJM3BZdVlsTzNJZzBCVmJLNzJxSmpuMk5KMmdMbVRaeVcxY0FnS0JzQUJOeTh5VFBRUFFJTE5nSTgxU3BPS3RBTEFVMEc1M1FFeElROHlaazFqTTRDQXZSRDFWaWRjVy9yemtaYmVHL2pJSjQ2QWovQlVRRXRTRERoNGR5U2tuV3ZBOHl6cjZUV3Vtd2NIWURtWlRkaFFwZlNvNU5PMHVKbFF6VjFRYmRNaktFTm1nV3llNGJTUHUxZEZYcERVZEZ5S0VnTmthaWhFUUNNcUxPbTZpaWJoUUJmdFpTM2ZmVkF3RkVPM25RRVFGQ3hiN3BxREFrZ1lFUFZnNHdLaTBBOG5ib3N0QUxXWFVsNmpOY0dtVFpGRWpwQkJpWFIzdDJ6RVFEQlpVOURKQjJKdGNqb3BBMHFMcVlUZW1QWGVpb0M5RWdBSVVYQUNpdUF3bnBuMmthQXRKUlJMTUZvSWNCWExSZkMvTzJCQUQ0SlpQZ0JFRlFZSVBUNmt1U004Sm9Nd3cwUzR3T0Jsa3FkbFpHMkRNQU40aXJka28wSHNXbE1WTms5Q21UUEFwakhMbWxCbE5PSDNsQnR4d3pIK2h0ZHdYc1Q5TXNzaFMyRVc3bzRjK3kwMmFRZW81d21nVFI5VnRWR2dES2VUVEdjNkNKS3c5SlhyVmtsRC9kQUFKOEVNaERRRlBNVzlYZTFLN2lndFJCRnNPVGNUVm8zaGdKMWVUYVpDRlZ0R2JiT3NwU0dOQnFJR2N0aGxyZVhQOUNnN0FaUHRXaXY2RXlhdWFyd0grc3k2TVpObW1tYWkrb0ZtdUpGQUc4OXo0YjlrY2ZUaUxiOHppeWd2TThtRWViQVFvQ3ZXczdkL00xR3dCSEJHTHk0Z1RhTHN2Q1c2cjlaNWNBelFLOG9Va3hrckxETkJLbmN1Qm11WUgyTkZzTFFVL01Dbk95VWloWDcwUVhZYW5BeGpmK3lnWGpXNHRPY0Vnam9pRElTQWRRdXZGR2tqWXRNRkcrSkpIWmJVSXJrcVgrK3V5YXlOUllpQndIQ0E2TXJSaDhDZk5VS25zWXRHd0h6d2pEWm5XY1VqL1Q3ekVEQWhzeEJjelFDNkZEcUlBZjQxT2FNem8yOGJ3RUZZYzFLM0xmRzRrSENQNHEyVExzaDJlL1ZIWUxiM1dSV1hGZWpucVp1SzQ4WXZTM0pGQUxXd2VodEhabk03c3NPNndVTFVDYXBxUTU3RnJna3lWSVE0S2xXbHREM2JBUTAxamhsT2dJMHA5azBCR0F1WjNyRWJLQmRHbW9aK1ZoQlFBeDU0WGJDZjlKSXFSb3pncTVyajBKTnlLaVI3RlNLdkNXZGhOYUxDVGlXeldHVCtTWWoyUVl4MmYwZkZVMVBOOFJiUnBSdThDeVpjUjFPUjhCWlNaU0NBRSsxc29TK1p5SkFUZ0laZm9EbU5KdUtnSmpQRHlBd0VDQnh3UjZMdEJnYjRRak9LK2NTcVZETW9xNWpqME50OU51RmxEcXBtOWpTZVlEdE5SN0RhbEFtd3did1RvTDVZOWR2Vm1TV0R3RXRsYWtDcGUvN3FkdlRFYkFwNlpvU2RaWWZRSzJ1VzYwc29lK1pDSkNUUUc4RWZQdWYzdHBPUlVDVE8wUlZOVXhZOWJIVUx0STNXSXB3QkpkTnVtMUx6MXJ1UFFsQkV0UGJVM1YrSDBKVXV3WTIwZGs3UE4rSEFPb29zbXUzSlptQXR3clR0QVdMSGFkNnlyL2xwZlNrYU04Q201eU0rZ0hDak5vSThGUXJTK2g3SmdMcUp3Vmg5aXhRZWtHRFM3b2grYUk1S3pKTTNSZTJia0tibGZPS3pLYlVMcFRIdHp4RWRhc3dtRytXRjhvdWFVNTdISm9uY2hEYkZUYzdiRlBUUVlBWStsNEVUTWRnUmE4ZEZHVVh0TkVTUVhhRHlneEFzYVFYWVg3OG0vODZWOXdHUk1scXpTcDUyRVFBK2xsZXJEVVRBbGhaVDRiQVphSkJ5RWYreGZmUHlxR01KRFRIUUVDZEkyQTlnWUJOSm9OMEJZVWpDUGZmdXJvVlJyVWZQOENtc1IrbkphQU9EUHhWc2RIRjBpa3BKL0FpSVBxYWJOTUhCSnZsSkFJcUlvdmZ5alZDM2p1SDhBQUlTRlpyVmNFaVdRallWa00yeXdaOENVUDJwOEZyTmdzQmRKQ2pSZWFlUjFQdXFJQTVnNXB3QktPMlRaZVVlYzlTc09sanVTNmk0aEx0YSt4bjlJT0E2TkU2Q3RDcndybjBSTUNxL0hyUklBaElWQ3VhWU55eUVLQW1nU3cvQUNONHAwVVo5a1JBMis1WmhRRGE1ZFFBeWpmZkhUcktlNTh1dWlFZy9EdFRnbWxxSWFrTk1NdzJQRUZoTWYwMkFDV2U4bWtVNFM0UllyMFFnSE1HWXBFOEVBTGNhczEyOEhBR0FxYTdIVW1mYmdOS0RibjlsNG1BUytCVXMyZUJXTTJ4Vlc0OXFtZDVkZXMyVXFRTSszR3ZFMm5iemRxUFVKOFB5RGNuY3JRK3l3L2d4YjlhUXlIUnI4dFdjVFp4Vm94S1NyRUMySUFJaUNLeldxTUtFYlFRY0xlNjNvbHNhdWVjSzFuK0p0V3QwTUdHekYrdy9JQUd0L2VycG85UHB6ZXl5ZWt4aHo2SmtEUTVvRlBUajJTNFQvY3FoR3dsNm1iZlZvVFhiV2FoOWNKalQ3VUJsTS9OS01YNVNRUWNGWWlBeWlvOGgvMWUxRXBRbkpHUmV5Mnd2bVl3TTZvMVUzbllSSUNUbXdjQjVWaEJGVHJZa0J6UW5CVVpabDcvSm1Kb3M5ZzBZVm5ReFFZTDBPR0VwMHRsK2JSOXl6djVjdEk5L29WMnBKQkd6ZHZVbmFFN25VczZFYTBYMjFnZUJKUS9wQWpic2hTMDBhS3BLUWlvYXcwV1JvQ3ZXaVdJQ21RZ1lJSWRPV1EvT0liY3BRRlZUQWF3enljZURXYjRBZERWU1JSWXNIdFdwQ0tEdTRMTXRsSys4NW9uamU3blJidlo5RjY1TE10c3Vvcmw5TWNTSWJRd1hCNEVqSWx4RDBvTUs2b0w3UWY0RVlDS3U0d01QeHdCUDhDaWZka0FYN1dTcWI1bklFQVRVYmRueDRqcUlIcVZxUU1wczJ5NGpDL1NUQ1N2S0NKME1JTTduQ1ZoOFdnVzliSVlMY0p0R2p3aE53d3hLWGpjTDhWdVR3TTFueXlOTlNvRHNqYm9uVjliU2hFZUJJeXJsa1pSTEVvdFo5b0FZMlJ4Qkl4eEw2TXZCUGlxbGZMcSs0QUlxT3V1bm1VYVdkaWt2QmQwTW52V3g4WUFZS1EzdCtqaFNvVnlrRzlFMVV0Q0txekJoRk1sRXZieFJwZjVGYWYrY2JvZEVFVlYxZWMwdGk1M09OSEZTbnFVUGtzengvVnpjeEJ1MGlTMUZ2RGJnSG05RVlFQkJMVVZROEJKVmhYOWtkV3FCQlVZREFGMElNOEpYdHRwQ0VDUHNqR05uWFRWNTJ4UFRZMTA1Z3BLUjVCWmg0NFNNUHBIUmxpbjdsR0lUZ09iVGwxVDNKSkJjOVIvRlZkREtjS0xBQVlFUnJvbDlwbTNoQTJZMFFkc0twSVpnOWNsRVlNSStSR0FjY1Y5cmZZS0JWNnlXbDJGREEyR0FIU3FtdUxZUUk2VURWaVROZEFYSi9pdUw3VFVTYVlpaGJxQ3loRmtrOEtTb29zYWl6cTg5NkZsNWVHcHVsZDV4NlB0MGdWaWM1cDhudWxGZ0hZbTVzV3pKcWhyaWJLVTN3QkZ2RUxqL0VLMXN2ZWduUHdJQUZ6NFpOcG9VUVFrcTVVVjZQdGdDTUNTU0EzclZkc0duRlIxb0cwOFVqWG5obm1aQ2pvWXVsM2xDREpYY0ZPVk50d1psYmFIQWJvdHVHVFZOODU5ZUhwOFNiV2RIbjJXQnNHTEFBa1BPa0d1TUhaby94b05USWxlc2hHd0tqZE0yVm5oL0FpQVVlWVdpdjdEeDdoY25xQWFXUzJ0MHI0R1F3RGRGcEg4R2pZQ05tVTY5Zk02TEFMM1JnS2JUWnc4bFdhQjVFZWtJOGkyMi9TR3dLU2FLeGlQUGYrcFNic3FhNTZYdllrbCs1SktGRFlkY1M4Q3RQSGJFdE1tL09JTlducFdJQWNJV0tSeGZtMUp1NGtKb1VIZ2hVOERCYmg2ZVlLb25SUFNDbUdsOE1zdldhMk02enNRb0ZXdms1MFExakNRSW5saDJwRit3UGdPZTlhM3RVR3AwQnpGRmJBVTJ3RFlQUENrQ3ZybUpScmdsenI0aUtnNHF5cXo5dnp1R29GU2ZGcklBSXZMWnpmRUczcVpZNWhGOURLRFBMcmlnaFM4TFJRSnY1amxWVGQ1VHRWQ3dMeWVZdTZmcDdibUNNZWQ3R0NVbVRYR1U2ek1VWTJIeHFrMzZxdVdWMmIrd2duVHM1bVpZWVdCQU1veWNhRjM1Ykp2NnQxTW90V1RsQWdJNk00SmF0U3dKb0pJbHFsQW5reEZKbWdNZHpuQ1JxUE1MTWN5QkxKOXVaYmh5SFowelZ1N0tyS2xsQUtZWEJBa2RPMHJxZEZKYklTakt5VDB4K1MyQWRLWW9XdXZjV3BVc3lUTDhmM1lEb3RPWG9WeUZpUHhJcG94RXJmMVJFSDNWemwxVk9WQW1xRnpnYTlheHRQNmdaRFNxbG5wZGdUOXBlYzhNNnV0NXI5NnEwbWJ4UDIyQmZLdDlxYWdheE5seDJFeVpPcTZUZ1VkblUwcWdoNDNpSDVWeEk1N2JZOG1IWDFvckduK3c4UXhicnRadGVNeGVUZXZ2NjFOQUxVWkswS3FWYUZjdEllMGVOcGpDdHQxWnE5TG91dktEVUwrU0JURHJSUVQ4bjRhTGRmWG1OYTJObW1NNm1tUkJuQ3Q2N0ZMazAveVZNeTBHd2pOVStSNXErVmsrbmVzanNJdjF2R1UwQ3FvWHUzTHcyamxZK0xMVCtCUTUyN0VIcHRSRzdBNXRkTmhCYjZzeHpNK29FRjI1MWdxak1vYUMvQWZEQnlycDU4anM4dE5wZ2VEZE8rRHNOZnFYMmFPeEFyT0VPUVpvck4vV0hidzJLbmJZbEIzN3pnMUZ6M3QxRjBJa2dkTy9RcnRpalozME1hYXF2eEYxc2JIV1BvTDJNdmc1SUZQdlo2cmgxdlJGcXA0R2ZMaGN0NkdBVklTelAvdXRmaldpR1QrR3BWOHg2a0s2REhUb2tTNXVZYXd0MXFrcSt1THQ5NytaaW92L2ticjcwNzlTNVhzQmladS9ic0dvM3JucC80dk40L3RqdjlucEI2SjEraDdBUit1Yzg5MmdTeVdHd3pTK0l6Q1ZWMEtyNDZ5T1dlOFlhWWl2NjNNSkNQR2lMaFNvYUZWamkrV3VHOC96MGJ6UC94anFMNzhsM0czWllweE15RnZlTzR6WHlyZWRhY2ZpcERYSXJYSC9McUtydmpXZVB6SGxTaDZabDNaaHdpNnVQTDlUNGszS0wrMnBGVWpITjhOSU4xLzgxUDE3bElVZlFXNVVDWWQwdXlDQ3JkaytKczZtWnNab1BMWHZ1M21LNVNydDFxYUlhOXR5WVhlV1JHWlk5MHhYT1ZsalZOT2hDRk9Qdnl6cjZEL3hFTU5XWmZicUFXd215Ry9OVmYrWC9EdWM4ZGdOeEdUeS8vbGMzK0dGeUROVkFyNVN3WVZ6aDNGWk9lZmZmY3phOUs0V1psN0hxRVF3TC9OUGR5VXBrbEpnTTZuMXlkRndqUTVUNytEY3VZOGVyTGFwUjlJdWY5OGZCWGpaSTJlMWprWEUvSWFWVFQ2RWkzSlRVSzdlNDdTbm9rVkFxSnhRQUFYczd3djZyNE54Y1laY3hCUkJFam1GQUd5emhibFhhN1JZaGRvMEY4dHpSSFhOdjFxQzcvdVA1K0ZnUE5Vdkh2UUZnOENvaCtpRlpJbk9tQTYwWGh3aWZObUR2ekhXYzVINW5pUytEMENMZUs2WnFkaTEraWtSUllKdXY5Z3ArNVg3TkVHazVwK004YTV2dk9SK053ZGkwNmlHMlVQNlI3OU5EbjNqdjl1Wm4zaExmRWZWTXdFSzF6KzZDUHhmWW42TEJKdnBQekNlM2YvaXVXa1ZPc3ROVWppVi8vMXZidHY2dmc0UE8vZTduMllzK3lyOVBPKzFQSDdPelpaUk9uZTlYSW5jZCtpOUY5bnlZT3ZjNFhjTjNsQ3hVRURRUU5CQTBFRFFRTkJBMEVEUVFOQkEwRURRUU5CQTBFRFFRTkJBMEVEUVFOQkEwRURRUU5CQTBFRFFRTkJBMEVEUVFOQkEwRURRUU5CQTBFRFFRTkJBMEVEUVFOQkEwRURRUU5CQTBFRFFRTkJBMEVEUVFOQkEwRURRUU5CQTBFRFFRTkJBMEVEUVFOQkEwRURRUU5CQTBFRFFRTkJBMEVEUVFOQkEwRURRUU5CQTBFRFFRTkJBMEVEUVFOQkEwRURRUU5CQTBFRFFRTkJBMEVEUVFOQkEwRURRUU5CQTBFRFFRTkJBMEVEUVFOQkEwRURRUU5CQTBFRFFRTkJBMEVEUVFOQkEwRURRUU5CQTBFRFFRTkJBMEVEUVFOQkEwRURRUU5CQTBFRFFRTkJBMEVEUVFOQkEwRURRUU5CQTZQV1FPbWpkOFlmR0x5U3hybDMvTVRnWEFLSHZkY0ErNWY3ZHc5ZTc2Y0pJUit1RE00bmNOaGpEUndocFB2YXVXRlVPdllpUXE0TWhkTXdwQWs4Y21wZ3JFbTZyWnkwUGNtZVRjZ1RQWWtDd2NIU3dCWWhGNFluRWJpZEhBcTM2UWQ4YkdvcnZ0U1FOb2dHeGdpNVBFaDVwK3o0c05pZElDMkhOYUpqNUZJeU1hUU1wb0VUaEp3ZWpJTmRlcFdRaXAxU0xEYnBFMnVHbkMzR0xaUksxd0I2Yk5ISkxiL2d6dTQ3ZjhaSjlFYkh6cys1NmNOQzFBVDV1c3M2aXJiMUZEUFIrSS9KL0VUSzA4K3RKTkpDZ3EyQkJ0bTFFNkt4T2lGTlF0N2pKUHVpMWFTcFBrcklrejdTZnRQS1BwZHlXZHVYTmlFSjlDWHFtQ2JrVzRuRWtHQnJJREZ2bDl2a1BaM29xdzN5LzltRW50aVhTQklCOEN1KzZTSHRQNm50SWhNc0dpcHRBbnNQdllmM05rbmd1MzlCcnZNUzVjVHk3U1krYktaanN0U2o3WS9HSGdTQTRlTTl5dVhMcnVyeExndVU5SWcrRGdRc3lmVFUrekloTzZtWklZTnBBQjFtMjhteFdJeHJnWVJVUFpWZWlFNUkyb0FFdzFRR1BUSk82RGxmVWg3VkU4d3M2dTQ5QzlRUytKYXN3bDFxSU5GaEZ5VWlZTTVia2lweG56NTFKKzEvRDBtQ1lhSnN6b1NqeVpYZmxONjVtTXpWdDdBQm16bXJ1MkhKRWgzV1VLdXdWZktOVkxVY1ErZDNmNkV4U2dTVXlGVzMrZ1c5YkNuRlpNM05Uc1lueVpWT01qV2ttQnB3RVlDSEJJc2kvd1JKbjBPUG5YdmY2eXJSU0JFUU5hNllndEp3cmF0VHhuOU1oOU5EMzlkN3BrZ3ZmR1BrdUFnNG9aMW5nS0dWcllUUkltQ1pkSnpxZlF0RWh5UkUrOVdBaTRCMTZRWkVVWW4wMm9FYkxRSm1YV2QvMnJkSjFHK0RiekQ2NTkwWkUzNTlKS1hsTGdKaVkvSnY5bHJaanhZQk04b2pFYko3TjRwVDJoV1NxUWErVUJmZFQyOXlkbmRVNHlBQUQzWXVLWW9hdWFiQzNzQm9FVER1RHZsdDF5aDRoUXFKU2dQL3dPaC8wdTJvZEN2Z0lHREdmRTYwU29oRm00aU1GZ0ZSN0J3MVdFMDRCZ21KUW9LaEFXelprdTZuL3VWZnNPdS9QdGZJTVlNT0FyRFJja0ZsYi9YYWRoc3hBdFlOMTU4SzFlaGhrcFRnSVVBMVFEZk8zOVI3TGVRZ0FKMStVdWx2d1lTRFNqVUNJMGJBdkQxMWxYcTVKWVprSVlpMU15R3Z5YUVIQndIcnhOaG8yZTYxR0JneEFvNGI5Z2hOT2RwcmFaS2p1VGNReVZjSWVXT2U1am9JUUordXFHS3p2UjcwamhnQkU0WlhDcUZPR09CVU1vWkFpZ2JLTWZtamxDdzcyVUVBTVhlQmdJRHNCNzBqUmtCRW52Z0I0MXJOOFNqSWJ0eGhqcFZlMGJ4dmlUYWc5RXJ5QnkwYTZPK2F5cnNoYmlNQW0wREczSXZqUG80MzdnZ3hhZ1MwSVk1eHFVM3E2YnU2ZisySWtveVcvMVg4a2NWazhpRkp3VEdkTHJmSDYrUzhhWmp6eWwrM3A5RDBZallDc0IxZ1BKV2ZJajAyQkJxbXhSQjEyQXpUSzg2VFV6VzZIMEY1N21DczBXMzJiRis1QnMwZDN1ZEN5N3MvSG4ySjRNbklaUGZGMFhpOTc4Tzh4MmpaWEpmZFlYUUJvZGNQUUVBMm04YUlFUUFCek91U2FGSDFrVk41M3dBQURVUkpSRUZVOHR4RXp3UE96OWxkaXJiSSszTXA0ZUFSSFdPYlg2dkFlZnMwMW5VTlkxem1FM2JCM1ZCTkxXWWpBQStEYkFTb1UxbGVCbzBSSThEeS90WGhnREg2d01xMFZUN1p4cW5iaUlmRHZyeERrTGIraDFUSUUrVHFVVHIxMWN3VldqN3BHMFkvWnBld0VVQWYrMXMyd05tVGNYaU5HZ0hXRVFGMU9PREVWWWpSSkJ1T01IWjBnUkxoMUdyRlRqNGtzWWt1NjRWalpIY0JKNlp4M3JYbnBPYzBiRnBObVU1R01ncmZ6emdsaGsxaEF3SDBMRjZ5aEpFeWFnUkVkV01NdDZVOXFwMkVDRDIyS3NyeENvZ3dxYTBaNGg2ZTREeGZnOEVreDJnc3prUDEyNDRUdVNjQnZJVmpvb1hXeGRESGxGVUlBZWliN0FWRVAvMndSVHFLWExJZG8ya3dYVStxSEUvZ09JTU9FTERoeVR6NFNZMDFKcU53eTdBbU0xWm91YVRmeWw4QUZzWlk4eWNSME1tcTBHY0RvcmpIQWlLTG9aczNxL2VuMUJza2t4Umcxak5NdHhUaXl3L1JSTXdDbS9SKzJLNEpNZm5DQmxBa28xZjZmU0xTenA2K1RZVmc1citrNHhRQkhSV2xOa0RIVkxJT2VCSFFKdmxyMTZ6OG9XTzZCNC9MNFV4bnhnalQxVmwvRVpaYTVrUEFldEtaUVg3UXNrNklkUzg2aHc3UFV0TjRXSk5QVm5OcTcxRUNlLytZYWVSbDk3a2RrelRHM1l1QXJiNU5sc0hSQ1k3cDh5cno4c2hhYlFORTJLNmt0N1RyR044OHdtcnlRaHJKUVU3ZkV1akdnTHhFNVJ6L2t6NmxuYzZlSXkxdWJXdVkyMzFPWTNNV3RSUHhJZ0NsTmgyNjR0R20yZ3BabDA1cDNBSTd3SXplMHE1dFByTUIzaXRwSkFjNXZiN0dwUVBPVDd0eS9xLzJMdGMvL1pCTFFPT0c3ZlJsbTJtWUtlbXlTVjUybjl0NGtEVEczWXVBMGpBZGdWWFo3MUVzc0RER1V1clpxNVJWcmpqZ3BHS0llMmlDY3R6Tkp4R010ZHNGb3gzd0ZCYU5xQXc2VDFWbHN1OWVJOWJKcTJGNGd0R0NMYVN2MnR4cDZtRFl1SndQamxBa1lDbWdqSU9QVjVPckJhM3o1Ujc0dE5jTENZRmd0My9oR213WThtT1pzR1JFWmREd29HVlN5djFIQ1BrZE0yc29DSURqMGwweXVRNFFWb2REWitUVU12N3Z3UTdRVDMrYkJmbi9CNit5eVZ6cEFhcmY1NkllQktPSGxneXBadjN6OUN6NUplT2hLZzlXakdJeStCMnZJdVNQWllUZGJRVFFiWGtyMjQwMC9MTXgrcWY3enpvdWNhRzRPaUMrYmMzb2tHeXpOejk3djdNMy9ZR2phQkx1MFJxQ2pkdkc3NWcxaVN1NmJmU2NlM1U3S2xzR0dxRDVqSXp3dTcwbldCUUIwWFFiR0tCamRmQkw3Z1BacjQvTUp5ZElUMVhZNjhpMEZKNGlCeW9KQ0U1dXJqMXp6cEx4K1IwcktpSStCQ1FtbENpaW4vOTdtODJBUGhlb0tKYUZFVkI2S2ZnTVIvbTFMaGVueVRiNXBHanJmdU1uczhYZDN1dHdNZzlCMU42dDYwZGdId0krNG1GQTMvKysxakV6WUw5dEJPeWF1WWx3d3o4TDBJK1F2Q250Y0hLQ1NYYUNlQjQwWmx1N09Ha2VQV3lBNEExUDhxRkpLbzdnMmN5MXNxbUFwOXVMUVhiQXVLSUlvTUhFUEtReWFTQUZBYldjWnhRdFhpa1I4VXo0bUxVRmlEMWhlVm9rcFJoTHhraFl5Y28vNkhuUS8rbGlNdlp4cEhMWmRpMmhXbU82d0ZMaldxWUVmZ1E4NWl3d01sbjB5anpDZDdmc3owbkFYYm5VcXlEeXQweURsb1Arb0pFQXdXdkZaSnJNYi93dzFaZzdRbmhTYU5pUFdaOG5Zb3JrUndBV2d4MlRhcUJ3bVkvMkxXTnlZbnZDRjNKd3JmVll5dVJnc2E4a1FQQmlNUUdzb3pVOVdFQkxIWU1FQ0ZoU1VTREFoSWRLVndFdkFqQkEyUUVYUlRWWW9NNWNFZjRyT1MzblU4MTFzQjNRa1UzdTcxN3F3dysvYUcvZ29VOVhWR1hieEgxM1UyWHhnQmNCODRWdGw4T2RSOW5vTDl2UHVocEVyQkM4SldUaWRiQWRrTzJJeTRaNjdzM3M2ZHNzNGZpYjYyYjNMZlNhYnIwSXFObFd4YXlzU0hpV1Byc1Uzb0FvajczeDVEbzV5ZnM2MkE2UVc5KzNpTmI5MFBtM0crMTg5TjRIMzJoRXplQzZaZG5ObkVUWVdYTnVtU1lCa2RPSkFtYUNGd0dlalN5elRMOWh0Z3FZc2p3YnJGbnBHWUh4ejJiemNzQ2RUWHdBYzdXUFZoWmJzMThtZHhQOVB4Qkh5QU1OWTg2MldyQmdtSElySXhuQmVETG4rbTJ6MDFmTktTRlpOR1UxMk9PaGpZOVBWaHJiQ1Zndy9OTW93aXBwRTBXbWV1dzVnV3dqaS9OQnp3T0NuK1F5SHVHTDhuTHpRdFRRNi9QNkgrRVFsSEhBeTJ6UFRJLzUyNkRGWkdrdXJmRkErS3pLaFQyZlV4RmZ3R2NEdkZ1WnZzSjUwK2h1WU51YTl6RTdyYUQwZ3BiVXl3dG9wbVNIOFByOEloVmFBSjJHK0dGZWVqNnVwc2JDOFNzZGZPakhVb3h1YWluL016SEhYWUtCRmJnRHQ1NzJQQVVCWEY0dHptQ2hWVXhwOXVNUUlMTURudXNYc2hsakVxdGtVeHpRM0tPa1N3VUgwRGU0aE5XSDJIMTVNNHJxWkkyblJlME45cFI4VGtTZDIzcmEvT0RRTVI1bWh3RVFlbExRNW1IOHRyOU9sRVJDTGdTa2xQWHg4NmJocWFBNkpjb0pZZzd3bUkwVStBTis0VEJjc3A5c2VtczdDSW5yZkNxRy9DZTVPSTBWZG0raXQyT1pOcjdiWVIvN0VrcHc1VDZSTmorNGhQU3NoWWtBcUUydEk3QkJLTzBCWkZwTEZNMkpnSlN5SG5iK3BFbXllZHp5U09HNjBJbHJYQnJBdEFvTzYzWUEyc2UyUEdNNWkwM3dSZUVFcGtQa0xYRTFYYVJlRUp4Rm9NSjNZVzh2QlJzdXRZdUFlVDF3c0xXendzbnBackUyRFpwRlE4bWowMXlHYVdWMWlSNmhhZktOZWRsc1JpcVFlVno0TDJrVnVJTDBxT2JnWk5PM0JEYXhBc2E3d3llWlZQUGMzWnRDRitCVW4raHlOZ2ZDV1V5VHU1clhDTGg2UWhWTGd1azI0ZGhqWjdPOXo0aWFDaU5hRHBjaGNPUXRxMHYwQ3NXWDdkVXRnSDhXWmVTQjJyUUtRTlpqc2RDcjRuM0tSN2ZTb1RmL2VKdjdBZVhtR3BOa0c2MCtvVHk4bUNKaEtsMjF3QkV2eHNwbS9MZ2RCdmVQdXgxd3dCV0s0SlVxN0ptOGtIclNqTk93eXpDdHJGc3VQVjRqc1pxWktCVU0zQVp1elJaK2NLVlZjR2kzQStDTnc5NUg5UXZ6ZkJaK1RMVCtHWUJGVmRuaS81MjJmVHRqYTJ5VjdGS1E5THpjRG90dUlxSkNXRmRVeVM1NmVFeEZOTXRuSS9YeGpvNnprTXN3cGF4VEtpdTZZTDNXQkVxMmEzV01hb2xlYVJVQUdSdU00TEQ5bE1ndUZEK3ppNTFRMmhYanNkR010djFRZEVzTjBtUWp4M0ZtdTVKTVRxUzRIVVpIMkJxald0QkxNRG96MmFPOS9NdW5IcjZMcHBMZDMvalU2NWNNdGk3RFpGbURPRmNRWFhuV0lseW5YYnN1UHcyUVZzRzJEN1FXbjRNYVdkMXBSZE5OdEcrZGZEYjZhdDNZQVlkeUw1aFMxMnhBbUZsUjlCWFlrdjl1Si9saWJvZEYwWE40ejJNYVhWTUY2bmlKMWFvYXhZeHJReEVtWndHc1lKMnlCbkd1SUt6aW1rVTRoUTJ2Wis5MlpGcEtCVnVIZFRzZ21vN0pPWElON1p1SXlSbXlzeWdieWw2R05tSjB4K2Ewemt5RVhvWXUrczMvOHQySmREc2hpWUJ5bS96eFhEVGRNRDlGZGFUeDNtMnJyakk1Zi8vZC9Mcm5qR21tRW41QWxDaHJDOUE3QmhIbkxLcHlBLytFOVZtVmxGSkJMZDFQVmtVUGFHRDZrZmcvVmFoc0UzZDE3MkFCR3NGMW5IUjVnUDlDTXl0bTNBMVRDS2pySTI2dWlDY1JnSy9XRUVEUE9VY2V6Vm9JU09HR1pBL0QzR1ZUdUxibGxDL3pvUmg3aDhvbjNHSGREcENOOU4zbmJjOFBkcnJpSTVOcDVaOVQvWS9Bb2t5Mjc3NE9LOTF5Yi9lZHYyVFRSZHNiVGtKSzFNY3diOWtVbHMvNFFFcUdTdlpVNEpORDBSL1d3THI5d0FjTDRSNHQrU285RU02dmJzZFBtMXRSQ3lmOUROeFVIOE84WlYxZXVlT2VDZzd0ZGtCV28yUHFBK3RMN3c3b05EZFUvbzcrdml6dGx0ZnhyY3daUjlQNUVKQzNyT2JTWjhoVHdhSGREc2hvT2hib3JTajYrSndrbWJkMzlHVnlmM2RmaDNrNTFGS21FWmZZeHpCdldaZFg3cmluQWh4MDNzaGQvcEFRempCSGtENGc0dGZ5TUhZOWZSMG1LN0R1c1JWTGovZ1k1aTJienJWSGpxZUNLaHN2UGNvZHN1eHR1bEFmazN2MWROZjIwdUF0OEhXWWordVlQcHZpeTlacEhvYTV5Mm91L1lWOEZiUjdla245MVhFUXFMZm9tSi9SSjNvY3Q2Q1lpSjRPOHpJNnB1djE1cXRFRDhQY1pSV1RQZ05XQlMvbFd5aERQcXpXcDBTaklWK25tNlAwQVJHLzhLaDRSWWFMM3owZDVtVjJNYSs5OFRETVhkWmJjNDVFc3dLY2M2UEhTTEZYTEo5dzVXQndTRWhXNlJaZ2ZVbEtpelpXWkhpQXUzTkNKSTFUYlMwdHgwbjNJQ0IzV1lkVjdxaFp3U3B2RUJ6QnBkemxEd3ZoQXB4YmNXcVVpdHg3T3lCWHcvS2R2UytsN1NjazZzQ1RKV2ZDeUY4MndTeGZnbFZCazlkdm5IWEt4K1F3VUUxaUZxakpKMkxtWVlHQmhHL0twOEdaWE9TQm5Fd2lsZ25UeEkrMEtOTDhaVldSL2dKV0JkZ0F3eXlBL1NBWXpPdnRLamQzNmpzZDFhcWhiQWZRRlVXdm5VVmFZMjFEMWRzakFOUDBwRTJTdjZ4ZExuZk1xZ0FJV0tNbkthNTBjcGMvUElSSDducWdwYVVkeW5ZQU81TzhwSm1taENaeVR3STR0bUkvd283NktKdFNlNDlrdTRJNmZYZ0NRM1N5UjZucklMdnRuSnNvMkNRY3NYbW9aOUZxL2hOM3NDbHpGcjgreWxybGNrZnNDdWJKeSttajdkL05YZnp3RWc0SjV1VW0wWWN0MHJUeDUzYW5wcEVoSFNkTnI5clorY3ZhNVhMSDdBckdtdVIrUXQ2VHUvVGhKWVN2c3pnVTZSOGp4dHVJQTNPRUNWZ2FtTWxBRE1ZZmlSLzh4WUU0SFB6Q0g3OEdHU2ZWV2U0QkJTNmowLzVxUUI2eWVQbm1ZWDVCUm5JTmQwY0RHUDFMMUlOekZsME9WZjdvT0piUXY5bnYxNnQ5N0V0L1ZrOGNMZkxSaGJRQk5ZQjl6eFY2U1BEa2dIeFU4YkZYWWdrMUJEd0JTZTRuS2xVZElUQkVEY3hTYi91b2VubGtHSncvLzg4Zi91VGdmRjd4RzYrckRNNGxjT2lwZ2VQMFpNZ3l0b2pEZFlOcTRDaSsxZlVsKzlEb0RhcUpHN2JaZGZKbWNpWDNDdjJHVmROMTNQRHBPN3UvR1FCd3lEcjQvd2NDbzAxMTlJUHR1Z0FBQUFCSlJVNUVya0pnZ2c9PSIKfQo="/>
    </extobj>
    <extobj name="334E55B0-647D-440b-865C-3EC943EB4CBC-8">
      <extobjdata type="334E55B0-647D-440b-865C-3EC943EB4CBC" data="ewoJIkltZ1NldHRpbmdKc29uIiA6ICJ7XCJkcGlcIjpcIjYwMFwiLFwiZm9ybWF0XCI6XCJQTkdcIixcInRyYW5zcGFyZW50XCI6dHJ1ZSxcImF1dG9cIjpmYWxzZX0iLAoJIkxhdGV4IiA6ICJYRnNnWEdKbFoybHVlMkZzYVdkdVpXUjlDaVpjZEdWNGRIc3hMaUJGZUdGamRDQmhjM05wWjI1dFpXNTBJRzltSUdWaFkyZ2dkR0Z6YXpwOUlGeGNDaVpjYzNWdFgzdHFQVEY5WG50dWZTQjRYM3RwYW4wZ1BTQXhMQ0JjY1hWaFpDQmNabTl5WVd4c0lHa2dYR2x1SUZ4N01TeGNaRzkwY3l4dFhIMGdYRndLWEZ3S1hHVnVaSHRoYkdsbmJtVmtmU0JjWFE9PSIsCgkiTGF0ZXhJbWdCYXNlNjQiIDogImlWQk9SdzBLR2dvQUFBQU5TVWhFVWdBQUJMa0FBQUZvQkFNQUFBQkpUelRUQUFBQU1GQk1WRVgvLy84QUFBQUFBQUFBQUFBQUFBQUFBQUFBQUFBQUFBQUFBQUFBQUFBQUFBQUFBQUFBQUFBQUFBQUFBQUFBQUFBdjNhQjdBQUFBRDNSU1RsTUFNdThpUkZRUW1YWm11OTJKemF0cEZTODVBQUFBQ1hCSVdYTUFBQTdFQUFBT3hBR1ZLdzRiQUFBZ0FFbEVRVlI0QWUxOUMzUmtTWG5lMWJUVU01clJTQXF4NFFTd1d3elk0SjFkV21Eam1JTTVMZk93Q1pCSXNlT3NEU2JkM2cyd3NJQUdqQmw3RGR2eXh2RkpERVFDQWpqZ3BXWDgySmdOdEZoaTdPeVliWVhFWG51VEU4MEJKMkNXcFdYSEJnT0JIdHJBN281V1UvbnFYZmZldXEzcTd0c2F6ZWl2YzZSYnQrcXZ2Lzc2NnF2SHJhcDdPNHJJSFZBRWZ1aE9kczlhVHJZOTdmbHZ1L1grSitla3pGVlRmTnBQdiswcjkzL0REUnJHLzlnUGVkM3ZES09UMG5vUWVDRmpwOHZkRlU5TS8wRVRqTHNIKzArNFo0cHBvVGszZGkwS2RhbC9vN0I4ejZKZHpRSkhHZnZWNkhIc2tWektlTG5aOWFnbkJoYmpjZWZLa2xyZGM4S3B1NHVCeWZkZGJLTDlSL3VlWnc0WkZsdnM0MUVSU00vbm9Dd3EzUHNXcUJwRkR6Qng3MTlCOHg1OTF6ajdWbmdwWHQ2R3dvZU4vRDk0QTI1M3pPMEI4OVFaMnpoZ0pvV1ljelByMXFKakFIWWxSRHBBNXRXallSZHlmczVlN0NyVysyRlhOSU5TbjNkSzlETGNPN2NIeVRzTzAvSVpYZmEzVkhYMnpTakM2TWcyYzhxM01ESjJUZTNCcnVKdHJDOTJuVUNwdDkxU3J6SldjKzhQanA5WDBJSHRWN05oR21Oc1BZb21ZWHhlVDQzUnlOaUZTVjJ2a2ZHWlRaU2lqNUV4T3Bsa0Z6S1l6WWFxbjVqMlVqL1NlOHNlaDZtWHZWODkyUSs0b2t3d213UFJ5ckZsaExGckFQd3hQR1N5Ni9wYldyd0MrbUlYcjdMdFdNMXVDVEJpUVlQZHRISm1GKys3ZGdjekpiOVVKL3BtMTdKc0VxODcvY1hjckNnSHplb0h3Qi85YkNhNzZvRC8ybWNQeTY0VGVjMCt5em16QzlNTjV3RWt0NnJxVDlHUnZ0bFZ6YjlKaExGckFQeDdzZXNONXo3ekRqN1U5UU5BdXUrYVpHZjZBenhMT3E4KzBPaHZKTHRaRTdOL25wbCt3QlZtcmJKTGVac1h4cTRCOE8vRkxsR0lvZGxWNUpQUUhGeGhnTkwxem5ic2xyL3BMYkFQc1pXKzJWVVBHc2I2TWoySVhZUGdQM3AyUloyTnZvcWFKVHlaTzd1eWN0clA4RWJmN0dybXY0d1N4SzVCOE44SGRqVXU1RkpkMDFjbHV6b0RzT3VoWFBCMGxBU3hheEQ4OTRGZHBYellkZVNxWkZmNWltSFhJUGp2QTd0bS9zNXBKb043RjY5R2R2VzF6U2F4YTdMTDAzY05ndjgrc09za05pNXljTTJya1YzSCszb2dGeWhlTG5ZTmd2OG8yVFV0MS91bTdhNzJFQ1NEb1V0REpEK2dTVXRYRExzR3duK1U3RkpENGxRdVc4WFl3THdLMmRXNll0ZzFFUDc3d0s2SlhJN1ZkcTVHZHVINDVwVXlxeDhJLzFHeWF6bWY2YndZMVBneDJ2M3F1MTU4LzJmbTkyY2tSWlZkSWV3YURQOVJzcXNTeUs0WDMxaysvUjlUOWZtcXI3UzZuM21QcXVXSjFsN3M4aWdadis4dTlvazM0Z3piR2FVRk1qdWZXWWpHUldmNnM4Ly9qVnZ2ZktwbFVlRjlkN0Y3ZUg3dlIxWlBpS0xDZC96NnZSKytpelA2K3J1NmQvOVhMUmdML3NSL2w4SGpieW1mL2sreldrUmNpeC80VlBkek9sVXNrZFgxVXVTMEI3dGU5YlhXZFhITnZXYjFzVXlGR2NDZ2UvZS9pbG1HbStJSDdtVFgvV0pOQjh2MUxrOGh0RURrdzkrbk9vWndGSTJTWFZXSFhmVlQ1eDU0NFA2N3luekwvRmozOUNlNGYwRWEvMG04ZzRDVFZtdW1LTUx6RWlBUDk1djhwdkRlbHJnUi8rS1ZxQk41bEx5bXpMNXc2NTNzK3liVVZsVHhrMnozUzZEc1d2VWlUMVhtMnV5VzNWaFRhUDlpOUZyMnhtSUxaeWVxNGg3c3VvMTFJZnY3S2lkZjhHU0xuV0tzQzFuanhwdXNleGRqZnlnRGZJbWlaLzZTeUVIOHl6cEpjRHVBZ2VZL1VYcjVnVWZsZkNuaW1mSTBVMlhXYlRIMlgxUjZkWm1RWmIyb29SVHNtaXp6UXV5NGhkQ3B2UGg3VkNjUWR0aFZsMVd1MWxKdTMxMVJxb2ZZWit5NDdISkE0YWQydVZzUVdmdzQrL0o4Vk5pS1YwNzBYWXg5OXRFMy9sU2IvUzZFK0ZFNTR6UWt5ajU1OFNpWllBOXkwWnZLTFhWWXRzcGVqL3ZpYlR2eWtFR0NYUjEyNmRIRjcyYnNWOHB2NHZuVkRMdWUzVVVQaEY1bVcrWlVGWVlzUlU1d3NZbWN4dHRNa0ZaS0ZiQmZNeCs5cXN3K0t1NDlpYUtvSVRUSmZ6NnVJT1dMMk81N291SS9NWWVjZTdNcmtTblNUNVF2dlN1S2ZwaXg3NUZteWY5amJiYjd5Njk0eHR2Wnhab000T3dxdEsrZDVWMlViVzgyaVE5L24rb0V3aTY3WkRFbHV6REthcWdHWjljWWM5aDEvZGRiSW9QZmdzM2p3dHY5d2p5M2Y0cTlpVitLemRqbUxNNWUvYmtJWHUxQ2F2enMyYk5vYm5mZ2N2WnNqWWNubkUvSjFxN1FINkVzNTduNEZQdTBUTldSN0hyYkxURElZUGtzMXAxRmRFa01WVGl3T3gvOThLMXRDQ3dWd0RhNHRqYlBFL3owQjJ1UXdPbVFiVnlrYTdCTE5maFFqQ1VlNEVrVVJUOTI5aXhNdUNnS0pmTGdrakUzelhhNFVkSHIxRFVxUUJpOUVVL2lTWkhJRkFtM2hHWFJxMW5zbkVxZDdTNXd0VGN4OVQ0T1o1Y3NCR3I3REkrS094LytIdFZKaEIxMnZSOVE0alRkWHd1OVZYalhaQTZEcytzNUxydkFudzZVL2graGxFOFIvM0JlNm0rb2lZY21nUXh0Nm5vdnRyOVh5ZldhMVh1VVRKbzNNanFTWFExOXlubGFzb3RYbXM0bEtwWWwwdWdjem5OUXhLbkNRaHQ1M2lEdFc3WkhiQlBCQzhXeWdBcHY2WHhUbW9xeFh4OTZyK3Q1VlNMUnJKUkVwOUJqM2xWc2E3NDJyT3FvYVJxK3prMWQwNW1haldmVm9LU2diUWF2N2RaRUVOaFZrS2UzVUlpTWJyUVJ4OStuT28yd25YZnh5djl0WlNnNkNqVlpHZmg4MTg5aXl1RDBYVkRNQjBSUkR4SE83WDJmeXFuQVBqc3Z2UzNkTytBV2xONldvZDlkVnQxTG9uUXlWdjMzS1ZsV0EyOFVuUkRzS3RvS2FnbnVnTytXWFZqTmthWmhnSVRTeDY4SXpTVWcybDRRWHBCL1EzandMeEdzRHk5M1dGZEwxRFZ0VVJCVnZFUWlLZG1iWGMvU1dpSWNINWZtSVZrbXU5S1pWbmJWZkI3Rk82TnRRemVzSUIzN0s0VXkySFZDdFl4TzFvSHFCUDRlMVI2RUxic1cxUlNhVzlGaUJzd0IraTRrbGk3T3JxaXV5MWhnT3pWVldJd2RxdlVpL3lVVkdKa3lBbGIxMGtmRGlkWmkrdXBUc21XT3pFOEtkazJ4QzFxOG9kaUZpYjBlR1ZjMU0wck1zRExpTHpqOTVFTXlGVG8xVTVwRWNHTlRpbFJOOXdhck4yUVk0RDB2ZllsRU1yQTN1MXBhQzRZNDJ6YXkyT1hKdEs0eGcvV21qN1R0QkFaL1c5Z0JkcTJ1U0l0UUMvUFNsL2pmMExwa3VFZTFCMkhMcnFvMUFMVTdUTitGeE5LWitwQVdvVXVXWlp4VUl5U0NqMEN5SnFKQlkxVVJmRmF0K21jME9zVzVodlpJWGJIL1BpVzZnNEtnMEN0N01KRnNSck9ycGRtRlhreTlMd3BWaWhnUUJTUGVxZTRnb1hpV0RIN2t0TEpsV1ErSFVjWGEydFNIcTcyNmVySUxOREFWZllLcFFTeTc3L0prV3RiMFFYK2x5OHdmSm1hbHhTMWRIMmhsVGlGV1ZIbmlGeVJiY2tJOHFqMElXM2ExOVJNRWRDd3kwNFFINkx2K0FKTk9MQVU0clYyYWhjbU54T3VFNmJyRSs0OXJJaG9EcDJaanhYQjdHVnBXUkhRalhqcXBVZjJmZ1ZSQ1NkSENHVFhQUTI3WmNEYzZycEUyWXdScStXR3BDMVdxclJEVWIybElEZitTd2FaUndvcHRxYVJ0aDVlcTlvSzJhVjA5MmRWd0psZ1E1SVhnTHF2djhtUUtXRlN4VmcxVE1TdFJEMnhvTUtyRmxEWE5STXM1SS9OSi9FL2c3MUh0UWRpd2E1cHRXbjJvYWIwNU9BQzd0b1dpeVpaVFQxSjFTWFVNemxJRko4YUtpSVVsQ2dvQXFJY25IaTNydDZFOVVsWHN2MGNKdEJtUkxWNHhKVHN5VHFYWVpYcFZQRm5hUG9wM3JQcFJBS09vZm9wT0JMTTVsUkdrSlFNd1JybjkzS3lJOStycXhTNVV2aG5OMFArYW13eDIrVElGZU1xUWttNSsvTkZXUDN3Z1d1WlF0aDAyekZ4WDVZbGZFdmg3VkhzUU51enE2S29WU2g5eng0SlNQakM3VUE3YkMwaGxBSk1QUUpPYU8vRHpvVzlCeEFKTk5UckJKbDJwd0VJTkQ0blNpU1Q2bjBjSmRLem82SVprbDZueHlSUzdvRUJCam5hbDUyS2lrOUtOTEdyWnpoQTE0QVNiK1RLVWJJZ3NBWmw1OEVJQnpvakFlQ0psUVM5MmdlY1hkQWtpT3hQTjZydDhtYlpNc1phMUdmeVJSRnJKZTBGVlEyRFhwc29LaFRodmMzVjhDZnc5cWt1YXlxaGhWVDdOcnRkMkZ4eFZqbmR3ZGhWVDdPTHp1VFYwSTZhZXNkNW5PbW8wVDFXdkdKMzBWek1LWmQyaEpVcm5XT2hWNHJiOHhXMUlBOThsbFdoYzg4ZU1qRE9HRDZodnpUM0JMdDNPd1M3TmVONTNPY0ZHTFpDYUV6a3NhZy91d0JGWlcvRkVTbGN2ZHNGZ21WTG9YRFdkVDBiZjVjdTBhanFpR2NhMmhSNWVCV2VrTDNxNjFsbldMVnkwOWcwVkhiOGs4UGVvWGs0anJOaFZhS21GdGJoSzNBM09ycWllN0x0NFQvVU5yQzNwNHZITVhyYXp5Uzl3aG1lQXduU2trMitlbGJHSjBzbEEvZCtqQklqcEJjZnhHdVJRdXcveUszYy9LaTlSQUx2a1F4WGs0K3h5Z3MzVTI3Q3JiaXBWRVArQ3lBMzVPNGtDMklVQ096aVZETmN5Mk9YTDFIN2tCNUN1eTBJelRTbmN2bGZ0Z3dLcm1vemxOYlNodlBFTHpGbHlRanlxUFFncmRqMXFaOTVKNm5xSFlOZGlpbDJZVXU1RUoyM240R1prMlZYVlBiWWJuU2lkRytYNkRVVzNBT05mMUd3VU9oRytyUkp6aGwzQU5HTmt2S0FUeE5ubEJKdjVuV0VYS3V1TVRvYTFBRGxLQW5zblVRQzdtZzROUk5lcnlKbkJMbSttMmdyKzhMUXViakJXbU9aZ1lwRlcrMFBacGVYRmM4QzZ1UE1nTE5rMWdTOUNaYmdoMkZWSnNZcy9EbS9YTTdwSlE0eTZVeEhHS3FSY01qZlpIcU5rR1RDeW5TL1BhbEgraE1UWVBlL1E5L3hxMkJXYjFaczVGZS92NXJSOG5GMU9zS2tZelM0MEliYWlrd0ZmeVZ1dnJsNGpJN1NzYVMyaUR0VWMzODh1ZjZZbXZXRVhsZ2FOd1NZV20wdmFQd1M3UEFoTGRxMmFXWjNPeFZ5SFlKYzUzL1Yxb3cxVHFvdHN3ZHdhVCtFN2YrTldRNHlXVTZsR29yRTN1MkpLVUhIQ2ZWN3pDd3E0MjlXbllxRFpzTXMrY0FGOU15UG43TnJRQnJSc0RXUUVBNmtMWEpybnZLU1RtZm1mTjFFUGRxSFRzMXJFd0s1bWkzNTIrVE9WVmp6dHArL3Q2TDRMN0RGTTBqYmllVmoxcFdMZU5XZkNYVThqWm82T2NWWHpyb003QjJIQkxrQ2E3bWFVZ2lIWU5hT1VqaG5iK2ZURlBsbG9FNk5udmtXWXhTN0tFTnlZU2pVeURXL3BUSFNVVkJLdFNwMXNSOVUwMzRnUzd2ZE5Jc011T3lySDJxNlhFYUttalgwTzZUUzdlRVozNnkvSWZsalBJYjI2ZXJDTDAyWEJXTXJuUTJwQzRXZVhQMU9rTDd5M0xVcXRSa1owWWs1dEtQMERzaXVoV216MWlid013b0pkVFdPNkxZNzI1Y0N1U2NVYXJyTGlHZld3STluOTIzODJiL291V0hoZVoyK3VqVDNZbFZTQzB5ZWlwQ2hhVFNyNWNYVnZOd29zdTBCRktWUng2OVRMaUQzWnhlY2ZybnVDME96VjFZTmRYTXVDdEluL0I3c1VLL3pzOG1lS2pyVE4yRlAvOVhOQnFuV2hEQjdGVW5Fci93M0dycVRxS0VvaHpObjFXZ1lUTnAzY1hPOFE3SnBjazRxTzJwa01YNEZRUGJ6T3BGaFhCeVkwdS9nVVlsM0htbXVqSjd0U1NwRHVkZEFqbkt4ZWVVaURCNGl6Tmx5eFpSY3FiNFdIUkhYWFBDOGo5bVFYUm4rOTF5SlV5bjllWFQzWXhTZElzelk5REZUODk3UExuMm4wU3BDUzcyUWJkbFUweWxZMVAwaHAralBrTStkR0dYOGppWDlLdFRvR0EwTU53bURYdzYwbjNPRE9Ob3hDNFJtQ1hWclJjYk8rZ0pCMmJMS0tBSFFiLzF0STZuSVB3cTZVRXE3eHBpWXZLWnlxcGVLdnlWc3pzN0xzd2lhVmVOYkFiTWZwTnIyTTJDZDJKZWd5R0xzd1h1NHVjU2p5WjFkYU5iSkpJZ3gyc1owYS9xZm5ldHlxb2RhN3BBSVV6YzZUeFpUWHVZMmlaNXVGYjgwdVRJTGNLbFphR3NtMm83WHpxMGVKaUg3bVZ3V2ZOclJzNFFNdEhxQmJxbVZYVkFVS2tLcWFjWlFuR1l4ZGZKQlNmT1pLbFBQcTJxUHZXdENKaFNtcWh2eDlsemZUUWx1UFNZWmQ4T1F5TW5wVUMyUGpDSE4ycmZNVEhub3QxeFpJK25Mb3UwcG1HUkhyOUpmdytGdXptV0F4WGs4dlhIWVpQaGpKUmc5MitaU29oQyt2bzRET3lGeThIdmQ2R3VDd3E5eGhqOHdYWDJpaVJISXZJekpKQjZRdThHUm8xYnBJeWdoKzhlcnF3UzZ1WmNtbUJ5dDZ6cnU4bVdJeFhpM2pJZm02VUdiMVdOMkRqSXdlMVVxaGl6RFl4ZWRCMlJ6S2puSE1zMTZzSEtWNDJwZ3o4Y1h5ZWtrWFZBVGVZQUN3ejIwdDM5amZVR0Q3M3IzMUtURlp2aE1XbVJ0NDhIYUNYdGUwN0RyMmlIcHI0Lys2b2w1R1pCQkZZQ2pZaGFtbHUxS2xGSHAxR1hadGJicjVjaitpRXV5NktFWDhmWmN2VXd6M211YUdYUmhoMDZOVVAvTXVpYjlQdFNtQlJSanM0cEJncnVQMktFYXdGKzhjSWV2MXNhdXpidUtQNzlUUXloNHk5M3duZFVYZG1iNnJZNnJmeXZIRkZOR1VmZXp5S0NsZWE5SkMzVm9VM2JDcEF6Q2pVUk5CeTY0ajM0NEt2OWJxaWpmT3RGd21qYnhFc2V6aTg4WVZxMFQ1dklsNnNJc1BLakJidXhtejkrcG5seTlUMUlWR0dzblhoU28rbmRNNnpiVi9kdmxVZXhCVzdPS1ZKN00zV1NwUERuMlgzUmVKdHJBRUJpNHM2RnlRdldsS2tsM1A0NU1mTSsvV2N1SU5taXgyK1pTTVdRd0I2QmtNeVJlTXJvN2VKTGZzS3MyWldNZmpaVVFtNmZUSUdMWFMzWGRHb2g3c3duQ2xCM0J1VWNYMDhYNTIrVEl0MlRGQXNtdDhnVCt6cHllRi9iUExwOXFEc0dZWHFrRHozSUVYM3VIWk5XSGI0QVR2ZjI1Z1RMMkpJVjZrTWRrS2R2R1YxMldmTFkzc3ZzdHBTSEo0aFpKeHkyRFUwem9PUktvWkNJcDBoS2xCeHJKcmRTTmVhbmszSUx1MmZLdkJYbDI5MkZXUHRmZXFZVW9HdXp5Wk5tMGZPaU9VbFRiNHV3VHBqclYvZHZsVWV4RFc3T0lENmJ3UDRlSFpkZHhXZElWVENWbnU2cHdxZHBjQTVVYWxjM1loUzFYOVhHenNUVUs0a2MwdW41Snh0OFBrUy8rTCtsQVBQeFdEVExpejdLcGZrQ0h4LzE1R1pIUkRkbVRrL1l6ekhEUDJSYUhVcTZzWHV4WU5uM2o2TGRNZlpyQXJuU2tmTEhXVkxtdDJvY3k4clduM21CcjM5YzB1cjJvUHdwcGQvTEF6NmlEdGhtZFh5Unp2aUZyYlBJTlZlNFlBdWVwNmhTV0tYWHlMelJxaTNsYXBLblpObTc3T2lQaVVqRHVMZ2xXK3dMRm9SbUNNRG9yZGxsMGQ3MDZZbHhGN3M4dE83TGlKNnZObFhsMFlwK1RlZEdmRmxFWjdBTHpEVVpCQ01TV0RYZWxNWFJoTGhsME9XTWlwdGNDekMyRlhESCt2YWcvQ2hsMVlNTEd0bTJlcFhJcGRqN2xqVnNkNXJwNVpmZHRRWlZyV01HUWtwbUkyTmFlMFlMYXYyTVhiMTRyUnZTanBCM3pXZUpoK3Y4dkUrNVdNTzFPM0N0dm1yd29Zc3d1TVB5YkRXWGJWVllnTTEvKzlqTmliWFdqWnFuUGtpdFIweEtzTDZNc0hqUGFTenROY1VZTzJJVUdscnAwTWRxVXpSY2RvV2hRYTlEcE0yUkE5ckZVN0xxc21oRjB4L0wycVBRZ2Jka1V0WjdJZFdRb2wyUVVTT010SEJndnRTYk5yVXZjVTZMVGszTWNaaFZIcUN5b3BNdExzUWtubXRNS29zeTI4RlRYSlBSRmJpeFZSUGlYanBqWUFLdWZxb2gwcXgzUzFXWGF0dWsvL1Fpbi81MlZFWmpBS29NcFNkNkZzYmd0OVhsMmdoQVN6TlN1RVl2K2FsaHo4aUt2dXlETFlGYVV5NVV0Z1dtSGJzQXNWYmpnWFRjdEdGY0t1aW91L1Y3VUhZY3N1ZEpsbXN1MVFDSmlwNTNkcEtjVHNQRW9iYjY5cGRqVk1QVS95OXNOZHlZekNWVHZ2V214ekdrNkFZYkZYSjhaVW40UGFXZWRwWnpUSy9FWTZueEswL0pxTm4rZnNNZ2tuOUlrUXk2NEtld1F5U2VkbFJBQzdzS2gwWHVzYVV5T2FYMWVadHlnNGE2eE9KNTUrMXZSZFJjMExjTiswclZYSGltc3FVLzU0cUFvMXZpc3NxcTVEY3NzWkdFcXlxWWF3SzRhL1Y3VUhZY3N1RE55eXBMREFvUkNNdGowcG9qcXdtUnVaNFVCR1BnNVpCNkxxOUZ0NnZEdks5TmdFMUhUc3VRcHZWTWZFQU5DMGo4MG4xSmlGTkhOYzYrS0cxYTE4UGlWZzE3WVc3UEJwMXFMT01zS1hKVlRkNjdvVjR3VitzdlNCQno3M3BUOVdGY0lUenpoOXFIUENMaDVzK2djZ2RVRm1XU2piL3YwRzFkUEhFK251b3k0N2tuRm5KSlVxOEI5VlkyYURiYXRRTkVJalpEMnBUTkV4YXNCUGZFeVVaUFVNeE5IK1RmZmYyaGJwbmU0TUpKb1RZY2wvTWZ5OXFqMElveFpVbTBaaHpPRFJnWDlkNmdjcWVzUVhBUzFFYlNTenR2ZXdUcWNVZ2VOdHMxRHpYYWF3UEt0TkVRMUtxMlo3L0Z1b25RVTFCNzZabWNPeUhkV2h3bEF4cm5aa1FwRmEvZk1wZ2JqdWNzZEV3a1c3T0ZuU25hOTllT1VXYVdkL3gzdlo4SVdmK2pmOVMwWXdrTkpzUUdaTHlyajJlZW54SjRMZ0F1S25GUVZWR25YQjNxZnlZV0RjMW5FT3pYV1F2S1l5N1ppNmJTNjFPQWp0QlVnV1cyeW5KbE5NeXhWMHZrb2hBMFNETW4yOERoUFhPUDQrMWNoL1RTWFJDR04rcHBsY3R2MUlDL2xKQ29rTmt2YzQrVFFSdGU3Y3g3M0ZPcUkxeGlqSmkxdm0vaC9EOTNFcHpZZlBTL1BjandZbkE0dk5UWFMzRzFGVlpvczVoNGlQanByak1uSytVVEIxYkRQMktRRVl1b0p2Rmt4RzJkV2pSTEdsNnBMUEhoYVVtaTM0dFRQTC9BaDhTTVZ6MlROVzFnM2VWTUdycGtlT3hrem5kYk91U2I4dUlMR081QlZ2alk2WDJjZWtibXlDcWt6RUR0R2I5RTNzbXNvVWU0RXk5MWMvRW5HbVRraXlJazkxOXJ3dXp5YnhIZkFWcFFxRmlIVW1Ob2NZL2o3VmkybUVYMnNnNGIyZCtGb1dGRGJoWFk5ZWMrK3RIeXJ6VUhiMzE4LyttY3FuZ2RzMW02ZnIrK0d6WDJramxyR1B2UGwvd3QxNzY0ZGI0dllDaEc1dGMyOTNrOHUvVGlqZHVlTVg0QzhoY0FuWDJ3QWZLSFdMbW1XaEh4WVZPTmJTM09lTHNKdFJkTE9CR1ltMDh5Z0J1enBTZEt3bHhsYjAyNnEvZkJ6YlJzTEMyVnU0R2QydnYxRm80ZXd4N3FNODZERm5QOGdEcmpuN2MwYjJqck96V2NIL1VFdS9YcWdEckwvSlBjZGsyOG5RaGVZbmFGaHNiWXBVeVgvUFVyV09oc2t4Z3JnMG1uM3VTMythbE1WOUlsTSt0SW9QZHgwcmIvTHg4TWxOaFdWZHFYMGNCM3RNNFhESDJma29VWWg0RmpIOGZhcVRDRStlL1JvSDhPSlpJSHlzeWIzc0hvRk9BNzQxdm1adTNVV1ZsenM5aTJjZkxWcnBtRzhEY2lwZ25TZXBxSnRkK0l2SXR2c0x2OUhzcmdsMDJKTzRBTnlMZ01aemIzeEIrMkpOM09KZm9jVXVQdmVaNVhWOTcxdzlTc2JaUStQbHB3QzlaelJsdTF4a0s4L3AvakxVdkVUeWxuZHV3Z2tXRnorcGI4VVY2ZERhbGZzbUZ2NjFXOG9LTG1tSmg2VmQyRHYvN0hOdnZGNTFCRlVkRzljRlVSRG90Ny8vblJwY3AwekNDeTAvLytobnZKVXh1U0xMdDRPVjQ5aWxYRHpUaUgrM2l6MzUzOTdIUHpoVWJBUG5CWmxpdk1XNmIvekJIM2k3NkVzd1lpaTNZQ3RRTHhpNU9jVHg5NmhPSXN3bkxNSUI0WlBLS3hSTENpM3p6eEZLZCs2VUFjQitsdERObS91ejJMV05PSVl2VzU2N1MzS2owc1hOL2VkT0NZVEdRUys0UCtFS2J1LytCYjhJZDdzSTNnWHB0SHNsRDFGemZCMm1ybWtsWTJ5VEgwNDlYV2JzNTRSUTZSRitPSlYvYmZMQmVSNHd6azZoZERCSnNLdk9uc0pEaTYvNEFYRU1mUVArS3JmeWdYT255cHdSWFBiK3UwNmhDOGtJTG1scHhhNElsSUM3T012enlrcUVtR0tkaTIxeklaK1RXcGcrdVZHUWhzQW9MN3ZpbVVMZkM3bHk5a2dOM3NuMmRXczZoOG0yQ0JkZ1Q1aXlnVjI2RUQ1MjhYT3VEdjVwMVVtRXAxSG5HdUdUdlA0Zk9LZCt0eWFiUXRyQzNLN0ZuL2xhK1c1M1pxYzB2K3ByNWV2K0g2OXk0MTcxNGZJOXNyWk1rUGFrbElnekVqZDlsWjMrekQrWE1ud0h2L2p2V3QxUC9IeE5KN0xYbTlrbEUxckVkL0o4dzYrVkR2UDlFT3ovVzZNMU0wM3hmWi9hK2N2TTJBaGFUcHV2TG1TTDZaaGtwaS8vWDUvYStiMmFqalZYL3ZYZUwvdzNjeHZvaWVPZlV0MFQ0Y0FzcmtxeE5ubzY2K3FNMWV3ZCtRaUJvUkE0aGdjcXgrR1J3Z3dpVGpCNUNZRkJFRmcycXpJeXRUaXlNNGdpU2tNSXBCQ29KdGFuNjRuN1ZBSUtJQVNDRWRqQzRwN3JHbnBMeHcwa1B5RXdFQUtkeEpKQWxkZzFFSTZVeUlmQXF0N1dWcEdyYWh2TUowdGhoRUIvQ0N3Nlc2TThaZHRzS2Zhbmg2UUpnVFFDSitOYkFOajRpYTNpcGhOUUNDRVFqQUQyWk4wRnJxZG5IUk1JVmtpQ2hJQkZvQ3AzdG1VQVRyS3MyeWp5RVFKRElvQlRidW9VQWhTdHhzZkpJVlZUY2tMZzJZeXBUVjIraWIxRWdCQUNlU0x3TXNiKzZDZHdpdUlGT01Jb1RnUGxxWngwSFhZRUhvT1RZSXovWFhJbitJY2RGU3AvVGdnVWZ1Yk9VemdPOXU5elVrZHF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ja0ZncW5VUC85WDdzYmVVcjN0OUxncEpDU0dnRVNpMlBzZC85bjZzdWZPUkZ0dldvWFFsQlBKQTRQaERVWlZ0UnFzUDFxSXArb255UEJBbEhSYUJ4ZTFvaG4xN2VwZVBqbTIyWUNQSVJ3Z01qVUJ6UGpyQ0hxNnZjMFZiTkRRT2pTY3BjQkFvN0Vib3U3b1hSVkNEYlRoUjVDVUVoa1JnNnFFb1dtYnNlNFdhVlhaaFNIV1VuQkJ3RURqeGQxRzB5TlI4cTg3bW5DanlFZ0pESXJDTXNYQ0x5WUV4YXJMelE2cWo1SVNBZzhEVFYvaWpJam93N3NvMHE1ZEEwUC84RUdDS1ZBWEcxdkxUU3BvSUFTQXd4dGlTQU9JWVkvT0VDQ0dRS3dJZ1ZVMG9QTTY2dVNvbVpZUkFkSnp0U0JSbStJWWpPVUlnVHdRTXFScnNHM25xSlYyRVFCUlYyTGNrREUxYTdpSSs1STFBZzMxYnFDd3luSlVnUndqa2lrQkg3UzVPTWpZYlJXK3Q1YXFjbEIxeUJNcnNqRURncEpqZHMwT09CaFUvVndTd2hpcVh1NWJaSTFFMG9UYUZjczJDbEIxYUJEQWd5alhVVmI0aGRQeWJoeFlJS3ZnSUVKaldhNmgxUHY4cTRZOGNJWkFYQWtmMGFYcHhNclVsUjhtOGxKT2VRNDdBc2w3dXFtSjJQM1hwa0tOQnhjOFhnYXBhN29wTzRIUlg1M3kreWtuYklVZWdvWThNRnNxN1RYcGlQT1JzeUx2NDAwK3RLWlZUN1dzVzh0Wk8rZ2dCUW9BUUlBUUlBVUtBRUNBRUNBRkNnQkFnQkFnQlFvQVFJQVFJQVVLQUVDQUVDQUZDZ0JBZ0JBZ0JRb0FRSUFRSUFVS0FFQ0FFQ0FGQ2dCQWdCQWdCUW9BUUlBUUlBVUtBRUNBRUNBRkNnQkFnQkFnQlFvQVFJQVFJQVVMZ2tDRlFLTE4rM2V3aGc0aUtPekFDNC8xeVMvOU93c0E1VXNMRGc4QkUvK3lTbjFROVBCQlJTUWRHQUwrcTBhL0REK3lSSXdTQ0VOaVM1TnJPRUM3ZStQM1AvL1Y3NzNRWlNMKytrWUVWQmFjUU9DbUo4M0FxSWhaUS9NNzc3UFNmdmhZWHc0WnVzaEVvS3RiTVo0dkltT0wxTGRXRDBRZTk5c0tLNGpVQ1ZjbVpEWDJmZlMyK1ZZclNqN3RrWTBReGNRU09Tc29FL2RyVTQwVkhSNSs2akNOSWR6MFFhRWw2QmMybWpnbDYxWHBvb3loQ3dFV2dJdG1sZnFyWWpmSDRwN2p3cGllQ2dnZ0JId0w0N1FQdWRuMXg2YkJYUW5RdUhVd2hoSUFmZ1k1Z1YyaVA5QnltdnpmdTEwYWhoSUNMd0FuSnJzQWZiQ20yUTdzNU53L3lIMVlFMUc1UXR4WUd3TFQ0V2Iwd1daSWlCRlpsNTdVZWlJVDRmWmRBV1JJNzlBZ2NsK3dLM1o2ZTFqL0ZjZWlCSXdBQ0VOQzdRYk1Cc2x5a2lWOXRKQmVNd0RQdXU2c2JDbTJ3MGh3RjI2Yy84NDRjMWFWVUxjck82M3RURWY2QUUzUk13ZytNTDdUNGRvQzdNKytMT2lCaFg0V0JUeDRoL2NVYUtkTy9tN2Rub1F0c2JVOFpFbEFJWUJlRjJXOEFBQmdBU1VSQlZGTDc1T2NlYkRUR2JtZnM0Z2o1MzVhZFZ5aHB0allPTmx3SHlMckhNZlk5QjhpY0RGTWV5L2h2VkkvS1ZTUzd3bmFEb3VqSVZYSk1ZdUlhSDZEMUZWL29ZR0U0V1g1RmJQcFhHWDZLYzFST0hhL2ZDZFIvN0lwQWJPL0NIRkcvTGgrVEhHTVhZdmREM1pSR1dXdERXUlpQakxkM2drN0p4Rk9GM3RWbDV4WEszK2VGNmozWWNzZjFEMUc2Wms3bnVZOWF2bEkyTmpBOW5IVlJ5Tld2ZG9PK2xhdlNFU3A3MUJQelVEN0pQSE9CWlR0R1RMYi9mTGhzampIbTIyREx4L3JoVEV1a1BzSjhMUzBoTk9odFFmWmRiSDVRQmZ1YmJqeWZuZlNpYnk3YnNJMjR3NFlFQkc4dGJLU1J5Y242dE9JaFFyQnNNTUpYQ1J1U1h1ZUhNSEQva2hicitiQXI2bmhtbW0wVHhzOG1yUXhWcWhuZnRDczM2NGN5TFpFWW04MitYalloTmVndDlxYTVHK0Z6NmFDV3BkTVZiOHZyRk5DaTdhZDBOZ1ZtZHNUNCsxSnJPbnlnNjdMbnFHVisxZzlrVWthaUltTjd2QmVXa1RBb1dPOEdMUVJKWDFhaFp6WlI2L25NRUkvWU9aWXUwcFFkSWREekREa3lnbDByV3JHNjVtaDlRdk5RdDJDWGFWVkRLZkluTGdGS3VORGRJTCtTMFlkZWYwdEwySmtQdTZiU3F3OG4yTFl1QlhiM2grekxrK3pLMTNwdFp4N1hFYk1ManpmY1hjekQxQkhxcU1QR2E1K2RWOTlWU1BlQkpiYWd6Y2NIZ2phMWY3QnJrbDM1V2orWVRmNVVJMlpYMUVhOXdhMzRjejhvb1c4NGh3MTlUSWp5NmJ1aWRxbzExWjB0K3ZFZkhiTFlTWGJsYlAyUTFybkpSODJ1R3lTN3JvUk5udnpZMVdBMUYyUDRoeDBNWStxUzdCS1IrVmtmeTJ1NG0xR3pTMzNLeXp5UEQyZnRTRlBuVno4enlZZkNDZDhDNjhDRklYWVo2T3F5ODlvMkFRZldreCs3cHBNcjFON05JVDhRNC9mZEpSRmozU3pNaUYwR090UVpkeU5jOWpCWkRlbkpqMTNqeWE1cU9kbVpaWmxhZkorRVMvelBXb2drZGhuNHJwemRvUHpZRlpVVGF3NnJxWW1Zd1NmbUtYUWNjbVd1NHhDN0xHZ05DWmhuWjh6S0hBaGZqdXphY2g0UmVkbmFZWWVMc0p2RDJGUGYvTzZmRk81SGFobXdFTHNzTUdvM2FJUUhmV3hlUS9seVpGZkZMbTl4a3dxQnUyMW9pQmZmdFhjWmlGME9SaTAwU0xnbEoraEFlbk5rMTBtN05NK0xPaFYydUF1ZnBYcHdQZ0FhWXBjRFVrbVFLM01XNFVoZVhtK083SnFNN3dVZENWcWR4OWNPSHF5RlFFRHNjbEJTdTBHQm44TnhFdTZ6TjBkMllmWDBlWTViRGRxMnZvRjFGNEtLVE94eVlXckt6bXZURFF2eUYrNXIzYjNHSlF2L2c5MHo4cEUxVDNaMVpKSDFmOU95Smo3WS9ldXNvcmZZNzJaRnhjTXZPN3NtUG5qZDY0Vkp4ZXMveGU0Uk5SUkZrNzlVUHYzbFd0elNVYS9WODl6VWJsRFc4azNjSU9kdXJNbTZjb3R5aTUwYS9WNWxudXhhMUx5U1Y3M2FOOWJ1dHVKVE1sdmM0OEh2K1Z4MmR0VzdaVkVLL296YlVoV0RUN0R0cE03YjdBZTcxRzVRdDJhaERQSTFkdDRWdlpLZnJ6amVmVTgwM2h6MVUyZWU3Rkp2RkdpT1hWRGxYWHh3ZmpMck5aazZXdzlDSllvdU43dU83c3hPaVdNdnExMTBZYzhSWGhUcjBkRkVPVkdHL1dCWHRDVlJEa1ZQZ1h4VUxIQ3ZvcFYwenFQamJhZFBmQWJXUnFCWW51eUtQU1dhdzExai9NRTU0eldac2ZEM2ZDNDN1Nm80cmxmR3NaZHBjZlFGeStWbm9xaitFRWU1a21nNis4SXUxQnQzd29EQXFvYllsbmhENXdqNzFoU2Z0dFE5eDMzRGRZVkk1c211MkJFdmM3anJDRC9oMDBxMGIyWGF5ZVR1VWJiSmw1dGRMYlNSSnA2S201OFdOblpnK2ZIZGVlN0h5VWh4MWJidkM3djBidENzempYa090a1ZoaDVsT3lXOHdjWGZ2TjBPU1RhNFRKN3NpcG9ZMExVemIzSFV6eUNJK1JlL3FxRmJrYnlIOEp5WHk5VjZiYm4zT3NFUHZOVFp3eWRWRWF2b3NKcnJRaFMxeEl0bzNMNndLNnFDRzNBYkp0c0FUMFUrQldBOW93eUwrZGZBTmdOU0daSGlkemhMQW5IdnZCR0tlWEt0bjZxenM2Z1BkNDN4TUFEdWZRbXJiSjRyWTBiNWJrcSsxejV5dGQ2WHF3azd5Y2VnRG51d3N5NkRTbXpucUNJYTNnR2FrNEhxLzlDbnZHUGFNbTZ3Q3MxZDJHNmIwdEhlRkI3K2doYm9jQVNYQlJVVGRMbUJaK2gzR1NOMHJ2VXpZN3NYOC9ic2NiNjNqVWVjQzU0Q1RBUnVGdkdrVlI4VXVWcnZNZEFHVlhqcmFOdnZlV09nYm16SWFBeFM4YVpUN3EvT2JTWjkrVnF5bnRmQ0UwMnFqV0QwWGJ4aG9PL3FpNXZSb3N6Ujk5OFp0Rng3Y3EyZm83YWpQc25XWlRaOGhNZFVPTkc4WlZ3L1h3S29NeVlUdWY5enRkNVZuUEt2cmlPb3pNdzhzUUtNMGY2NVE5L0Z5MmhkaHlYMjgyMVVqajV1QVZ3ODY1NzZqNmcxSW5SN2ZJZ3N0T0lqZXMrMFBISWE1Yzl3LzltZk9OZjZHV1Btc0hkRmI3SFcxNUh4RE5Oa2kxbmg5SFd4Y004TnhsYlA0a3l1MW50eXRVRnQ5QkY4SnEyN0NyUmpQUnBnM2hYdnU2cStidGFxeXNtbmZoeUJ6d2NEWFhWT0NxTFR1c0I5NHo4aDcwZjNQOS82YVJrR2JPbWVwcndFNDRFM3Z5U2RPMDlMeGlYdTBmdkZxMURFNTJ0OUlzdllMZStvUUNNelQyellDVFVHR2xGWlJoNVdiWmliMFhrNklEdmNtZUFjbXB0U0ZHMzlmRExSZDEyc3VVSHZ2OWE5RzlpZmIvMnNhazVGWmNXek1SSFM5QTFyZUFZTGIzaGJYbjdtYTMwUEVNZjVXSWNSeGZUTmRXc1BpQjhuRTE2djYyOUMweVBqSGxGcWtoMitHNlNIOGtyNjhSdmQ4cmFURlJyTWduTTdzRGZmK2pHSG5jZDFQUnpqTFBNUGE4SG5DNkVCRmFzbURiR1M1bXQ5VEhYOFpvby9tMkF2d3JUNWxwMWJJWGc5TGwySzExVThNcmM3elBlNEM5OE5lclBLdXBybUR2QmRkd3pENCtTYWN6dXdOOS82TVM5cVRPdm1QUDViTUExTndUUjYxMUl6ZFhFRGZmN3hGdHVaOVVUa2E3MG5BeDBraXJGczE0ZmM5dUlFSzNITWw3dTUxSTdPM245ZEZleXlqUGRMcFVQcjZaRUVVekhYNEJuenlKSk8zVTlJdnZWalhqSmJ0bXNUc0FhdGU4Tm5WUHpJamxpZit4R1BYT0hGWmRaZDhVVGsrSzZ2VDNzeXpHbnpXR0l4THhrN3dUb0ZtbFAzVjJyNmJsUlh2aHdLRno0MEtrTmFkdnFvVFJ1UFB6TWR0YVhURWdOZDgyV1hlVUcyd2RkUWphdWtCM29laHc0ZzdkSmYzNENKN05LU1VlWjZjcmJlVmUzeDEyMmJkNy9SNVFTYlJCTWQ4SXQzMjZOMDZuTTRodWFCZVFGMlBzN0gzVFBtWS9mUHI4VnVCNzNKdVg3MHkvMnRpNjVCVy82TzFzdXVkRXVjYnVGWjdUMnVQdVBQMlhxajErOXgyand5TnIxeG1jVUtLOUlXM29vbTRaME4rRlVQRnJxSVRQcWY0dUhSTnczeVlBYnNsU3JuK2luSlo0MnhlTSthOGNsVEg3dThiOHZ5VHlsOTBWZVNuSzMzWldIRDNEWS9ZMWNDOExpbFY3Nk1MQTdwc2Q5N3RMa2RsVWY4T0lKWkpBbk5CVFA0QzZHeVE4cmxYRC9xM00zUjJOSThKaW0rQno3c2JZZDI2Z1hVbG05c3pObjYzbGk2Ylg3UjJvTXFUblZTZGNiZTFGdFpQckZ0ZEYwZjcxZVYrK2piYjlvKzVYT3VuMk55elRQK3FUZ3NDUGtiUy9MOTJtemJzVER0STJqTzFtZm56MlBjTnIvS3pNVFM4OGh5TTJNZjdhMHJwOWdLWm5mei9lcGF0bysrL1NidFZ6N24raWxLRWxSamh4NW5zdVlHN29tZFBReXYyczdDa2N6WmVrZXp4K3UyK1NZekM4R2xkR1ZoUWFMbVVaQi9FSjRhKzU5Q0FjcUYvRTN4YXN5N2Zwb0NkZmxmWjlqSUtrN3k3VzJkd0hORngvSHRkSERlMXFkemNFTGNOdS9zZW02bEhsblFWK2Z5bFhZbjd3d3Y4bDdMaU1vT3J0dCtOMXZJRzNONXozZkJKTkZyRmVQejNMWmQxNDRiWFlsMWNmRzR4QjJldmoyN0svdktMcWZOWTVuY0ROUmwyNDBwbXl2cDNpeFJtcHh1TVJOTXJ5M3NxUnNyMDN2S2VBVXU4L2t1MkRURGQxWFY3RXVaaUllcURBek0yWHR2WWVLQmFISHhBSDYzcit4eUxNQnFxVDc1QXFJbEh4a2hXRXZiT29LUVV0YVVvMWRlZVBUVlp3MCtvT1JlZU9xelRvcWJQbldkLzVGa2tXVzY5SnFNVUpoMy9ZaW54Uk94VFN0VkZlUHBOUVhubzlCTzZmemVxbTk0emR0NmY5WXF0TTNNd3ovbU8zTXFGRU0ySjVwYk9tZGRUQW1ONW9MZGNtTlJlQTdvOE5TamVsRzExMWV6QjlqSGpJSmo3SnEyZjd5OXpPZTdZS0ZZNlNyRmxnL1VROVdKMUhNN2hKUE4zcFF4NWFuNHB2WDd5YTdFY3RlMnNoQWJ2dWZoZFV0bk80ZFVLWElOd0tOcGVtZGp6eHpzRFBhWTVHYXh0UjIxTFUyYlQ4SW5RUHAvVnZEbW0zdjk4Rlg2VHV4c1prbnVBNVhtMGdaMDlLR1FkRlF5QkhQcTlBUTJkK3VUdVRyM1dMVXptS05JMmhnTUZ5dVFxc3daVVplR0puQVVubmJxZWFKM0x2OXlnY2VyeHM1OXNtM3pzK2wxMHgrY3ZGakRNY2xZQmZKVWc3bmM2NGQvRTg0TTdNS211cHlHYkcybkxhekVodEIwdkJNQ2RxMDR0OUtidS9XcEhHeUF1N1c0YXVzMVhUcXdLN3hMdHZyNzl1SFIxTkE5SlBFVUU3OHBqcGF4THNVWFpjL1gyT0R2MG0wcUZmeTFGSlJnWHQwT2QwblZ6NDk5WkdFb2pUZ2RZZDdZa0lyVVBselpvM2ZLUG5ydGxXa1l1OUxXUCthTzJZVHFzVnRlbndpSjBrTGp0eVEvZlFHa1VBM1M0V3NNMnF0SzExclFBYnh1OW9WZG9QaWF5VFRBc3lYSGNEU0hNMUs2dlNLdXJYbit4b0FLRzkrcGlTUGVDeUpxMkg5SmRxR0ZaanpnQmVaMG5HMmNqQjA1d2lNamYzb1hwenRUT3Nwc0lSWG1Ed2hpVjlwNlBGSWt5NE5hMll6bjRSRkNWU1NFWmt5dDhOY3pMeWtObnRMdEU3djZYWTZBcFdMTHBLd0hnVW01TURHSnFRemlGRkZ2NExOanFBYmpjbkJnRjY5NzR4Wmh3NUs1RzhBendiNVIwYWFLNUppdjhIWFFrN0ZzdE9KU2NPZStyRUhSU2ZsMWIrdDVlUmJjSlB6dHQyU21mcUhFSmlpRU5ERE9jcGVuZFB2RXJwSVo0V0xGeTd6aGIzbHNZTFVJMzhBNUk0UXFjbHc5Z1hLaVZjN0xoR0wrZ29sL3BwcStJakRIaTNYakhkaHd2aThOU2VIeWcxdVllbG1IaGpDSHV5ci9sM0tvbklWVW9EZGcyY2V1dmEzbjVWbVBLY1IwaGFHNXVzNHZ0T3VLNEJzTWRoWExXZTVDQWVZZ3Q4ai9LYmMvN09wN09RS1U0VFBYeXNNZENVaXh0U2tNWHA3akw4NXFSTXFjWlNjR1dla1F5aEwvWmhLUHp5M1lvQmNLRTZLQnQzVlcxc09HU0lHR3ZnNVBhOG1idnBFYXVMeGlHZC9BMmR0NlhwNk5tRW93a3NreHdRVDdoWFJ6Vm1KdG04cFo3a0xwZUdOMFM3Yy83THE1MytVSU5BbE9vZVoyUmU2cDNheHE2VmtyYUJ4NkNTeDZOeS90Y21pbGNPRWVqaDlFWXU5eEJQaDlyRE56NHNLOHBlVEF3OWcyRGhqb3hwRlFnakxiaGJ4RVhPeDIyZE4zQlZqUHk3TWVVOFRQQ3llTThRdnhsdTQ0cHhsaWpXdGJ4NGlQZXNWS3R6L3NnczJ6Mm9hZ2E0SHRyT0NOMXgzc3BIQmVqWmZYYmJKTy9CQkxOVGwxc0pMQnZ0ZmNlK3VIeW9DYXNidS9mdmJQVkxJR2J2VkdRYkNtbUNENmhybFl3QmF2M3EyUHg4THN6WE1ZKzB0N2wrMWJUckFyMEhwZW5yV1lWajcvU013Qi9VTDZNVXFtUmlkbG52OHJqczUwNmZhRlhSam5qRG14NG1YZnJPNHVSUk10MU1NV2ptSyt2T2s4N01EaWJUZGRQVTQyTnlyWWovcXlUcmRtdE94dWJHQUxWcWNGMFJ0dGFyKzRuc0JRKzlpZFdpek0zaFRialAxT1ZxUVZTMzBkTHRCNnpMSjAwYlN5VHJJMzR4OGlTQW8xOFoyWWJaMkNYMEZLL25BaVhOVk93VEJIK1ViMDJOaUJtMzFoMTZwRGNHM1dIbGQ4eHU0MHUxUkRVY3JzTHJhN1lNVlJOdWNPNC95UVUyK3VlYmw3K2hNUFNIZnVsRUgzN1R1L21wak9XaXVDZkFCM1BpWUkvclQ4QjVlRjJMRXlqczMvOGQrdnhkS2tiNVlUZlZlbzliZnZyaVNVVGJZL213aUowa0xIMm4rNGZONFZ3L1I5VTkrWG5PNDlYYnI5WUJjZWxmb2ZZU2ErVnY2RFdWNkd5UTkyWTZ1QUorM3lIWTlHQVZiNGRUUnVPSFpGSGNOVVpSNEtrMXlhZEEzbjlES3V1KzFHT2Y0a3U1eW91SGRJNjYyeW1SaTdvay9hbDkrUG5UcGp4VkxmSE40UGRwVlMvYTgxcUg5ZkpUNkxCM1VGQ2Z0WEZKQ2ltR1JIUUJwWDVGbFBjTzhDL0RlMURibXlaeE9oN0JyV2VtdnY4cnIxOStQYkIzYmh0RnZpc2JjZkExT3lXL0ZsQWt3VVVpSzVCWXoxMytjT21YZnhYN1FNdjdKMi9VUFpsWi8xSmFlRDZxZUErOEF1UERsbDRkU1BwVnEyek5hMWwxL3Q2cGNibXBOLzRxR2NGUFdqNXNibkQvSXJWSjRjOHJPK3V1SlJIeEMwRCt4cTVqcDJZVXE1RkVVdm5kZGxxd3k1SnFYMWVLOUgrMzNVOVdySk96QzA3OHJQK3ZyQ1lHVVlQYnV3SEpIWXBock1VcFZxV2t6cVc0WmRqZlFyZEVQcGp5VStjaUYyZTBCdVF0bVZuL1hsQVVzK2VuYXQ1dnRRdDh5ZlA4ZnNSQzZ4dGpvZ0RCbkpTdWN6SWk1cmNDaTdjck4rYk5DSHo1R3pDeU5acmxQakt1K3JwdTBLYzJJYWxtKzExOWZ5MVplUHRsQjI1V2I5VVF0M2Z5VVlPYnRLdVM1SDhMWDdPYXgrNGs4NkhNZFowZjdjcjhWQlI0VGNMWWtwREdSWGZ0YmZNT2dFWWRUczRzc1J0UmcyUTk2czhxWDVwdWxUc0hJL082VEc3T1JIblEyb2JLbDlqNWtKYTFINVdWL2ZITENNbzJZWGxpTkNYOFl0L21sSUdVcFlrRkJ2Y0hEeGtTNTNWZkpjU1FrcFhKZ00yTFVaSUptYjlZWFkzbUZBemtiRU9WdG93dkwwTk1QN2xxbWdMZVBqR0JucjlwVEJTSmU3MnFhTHpCT1NvWFdoeFc0SEtNbk5ldjlaMmdBTCtINzNLTmQwK2xtT1dBNHlwTmphYmU3V1RORkd1ZHdWTzZwa2NyejhIdlRYRi9hMklqL3I2K3Q3NSthWGdLWG1OSVZmWXFqUVJ0Z1VRZVN4dFJHVTFiRVBYck5rQlVlNTNOVTRtQU1qM3F4Tm5zcXllRmhmYnRaUERqd3c4ck5DMjlhaXZIMVlqZ2dhN25pK2hZRWUvam9ZS0Vma3hrZjR2RENjeVhqTHE3YVhodnlzWDhRUzBJQ3VrenlDTktBZWY3SktIKzg5bklpOTRPRFhsdzdWYjNXa1k0WU9tZmowMENwR3BPRG1nTS9zNVdmOXkrWUhMUWJlcjhsem15WmhSbC9MRWZWQlRydmcvTTFDSXRORGNGdkVsNEVHcnZKOXhBZGQxOXJvc3NNN2RxSExFVGhBM3lmTlg4ckgzT1BNN2dtTnJod0hUdlByTU9PWVBYQldKUXdxdm5PMFg3VUVkNE14YUlROEJ6bjJvOWRDdXlpTjlJblh5ZTZBZVYvRWowalBIekNqWXVZVWZxckoyRk5pUWZuZTlEUHM0Z1dITTMzbGpuNXhoUitxN3k5Vlgxa2NaT0hIdDlqQm5oUncrLzVtbEFnMnd0YVVoUW45ZEhNaXdReC9ISmxpZzB6V1Jsbm1mZE5kZk1HdEh6bkluZGQ5SC9uRjJWR0MwYzl5eE9OU0x3WHZaZGxKZm1xd2dXMGhjb2NTZ1VyNGNnVEdVRTZXZnR3VUhoaGVHWCtCbzUva0pIdGxJOEFmbTJ0aFJaaG9nVjM5YmhrMDJZZll4WU04Tm9TVm5hUUdRaUI4T1VLUXErOHhidUxPN3VlSlhBTlZ6VldRQ1BQMGhhQmkzRlJHejJXL0NCV1Vob1FPTndLWVNnV2RseTIrVDNBci9vTDE0WWFPU3I4bkFvMmc1WWpDOVMxSnJud1AzKzlwSFFsYzBRaUVMRWY4N0F2ZW9xaUZ5K0FiOFZjMFRtVDhJQWc4bmJFbi9MMHM5N3lmL0EvLzV0NnZ5ZW1XNXRmR0lMbFFta09KQUpZaituUXJoeEluS3ZRZ0NHQTVvazlYR3lRYlNuTW9FY0J5Ukg4dStBanJvWVNUQ3UwaXdIZDIrbk5CYjJ5NFdaRC8wQ0pRN1k5YWtKNDd0RmhSd2Z0RUFLL2c5dXMyKzh5Q3hBOHRBdmp4ZzM0ZDdSZ2VXclpRd1FrQlFvQVFJQVFJQVVLQUVDQUVDQUZDZ0JBZ0JBZ0JRb0FRSUFRSUFVS0FFQ0FFQ0FGQ2dCQWdCQWdCUW9BUUlBUUlBVUtBRUNBRUNBRkNnQkFnQkFnQlFvQVFJQVFJQVVLQUVDQUVDQUZDZ0JBZ0JBZ0JRdUN3SVBEK2EwTktXbXd2aElpUkRDSGdJb0RmT0Zodzd6UDhMeHJvNTgweWxGSHdZVUhnU05EUEVMMmtqeDl4UEN6SVVUbjNSbUJtNzkvbnUvRWZ2UUh2YmEvc3JZc2tDSUU0QWtmMy9PRXkvTFl0dTRmWUZZZU43c0lRZUg1dEQ3bnBVL2Y4TW42SmQyVVBNWW9tQkFaRWdOZzFJSENVTEFBQllsY0FTQ1F5SUFMRXJnR0JvMlFCQ0JDN0FrQWlrUUVSSUhZTkNCd2xDMENBMkJVQUVva01pQUN4YTBEZ0RuT3ltejUxM1p1Q3lrL3NDb0tKaEJ3RWpyRnIybXpOQ2NqMEVyc3lvYUdJREFTYVQ0cW1XTkNQSEJDN01pQ2s0Q3dFVGw2c1JZV3czL1FrZG1XQlNPRVpDSFRXb3dpL2lpQy9RMytiNS9QMTNTV2RrdGlsa2FCckdBTGpPN1VJZlpjNlBOanlzTXYrekRxeEt3eFRrdElJM01CL0szWkM5MTIzbjB1N3V4ZTBMTEZMSTBIWE1BUzJ0aUYzbExFUWFXSlhDRW9rWXhFbzh3blhDYlpyUTdKOXhLNXNiQ2pHaDhDN2VlQXllOFFYbHd3amRpVVJvZnNBQktxMDNoV0FFb2tNaGtDZFhRaEpTSDFYQ0Vva2swQ2d4YzRuUXJ5M3hDNHZMQlRZRXdFc3BxNzBGRkNSeEs0UWxFZ21qZ0NXdTJiaklmNDdZcGNmRndydGhRRGVWZXdWYmVLSVhRWUs4Z1FqY0lSZFZMSXZTUy9WbjZPMSttQWdTZENEUUlVOXBFSnBuOUVERHdVTmhVQ0Q4YzFHN3J4bkpOWmtYQlRSeUtpUm9HczRBcDJ3NVM1aVZ6aWtKR2tRS050RE5pYk01NkcreTRjS2hmVkVBS2U3Vm5vSzZNanhVRUdkZ0s2RXdHVGdjbGVFTHhSdUUxeUVRRjhJaEMxM3ZlTEc3OWhpN05JLy9jRlg5S1djaEE4NUFuYTVxd2NRR0JXMVcra2hSbEdFUUJ3QnU5d1ZENC9kamJQdXFYT2Z1UC9jcVhMZ0pDMldtbTRPTFFKMnVldlFRa0FGSHhrQ0hUWTNNdDJrK0xBandOaVp3dzRCbFg5VUNPRDh6Y0tvZEpQZVE0ekFTeStoOE1mWnppR0dnSW8rS2dUUWEyR0h1aFQyeXNhb2pDQzlWeWtDSjhYT1RvdW1YVmRwL1Y3ZVlvbmZiNWt5UndjdnJ6R1UrMVdHd0VsK2FyQVJlRURpS2lzN0ZXZlVDRXl4SjBhdkRIc05lOVNta1A2ckQ0RW0reEM3T0gvMWxZdEtkQkFRbUxpeisza2kxMEdvaWF2TGh2OFBDZGdjUlBURWhqb0FBQUFBU1VWT1JLNUNZSUk9Igp9Cg=="/>
    </extobj>
    <extobj name="334E55B0-647D-440b-865C-3EC943EB4CBC-9">
      <extobjdata type="334E55B0-647D-440b-865C-3EC943EB4CBC" data="ewoJIkltZ1NldHRpbmdKc29uIiA6ICJ7XCJkcGlcIjpcIjYwMFwiLFwiZm9ybWF0XCI6XCJQTkdcIixcInRyYW5zcGFyZW50XCI6dHJ1ZSxcImF1dG9cIjpmYWxzZX0iLAoJIkxhdGV4IiA6ICJYRnNnWEdKbFoybHVlMkZzYVdkdVpXUjlDaVpjZEdWNGRIc3lMaUJTWlhOdmRYSmpaU0JqWVhCaFkybDBlU0JqYjI1emRISmhhVzUwY3lBb1puSnZiU0JiTVN3elhTazZmU0JjWEFvbVhITjFiVjk3YVQweGZWNTdiWDBnZEY5N1lpeHBmU0JjWTJSdmRDQjRYM3RwYW4wZ1hHeGxjU0JRWDN0akxHcDlJRnhqWkc5MElGUmZlMXh0WVhoOUxDQmNjWFZoWkNCY1ptOXlZV3hzSUdvZ1hHbHVJRng3TVN4Y1pHOTBjeXh1WEgwZ1hIRjFZV1FnS0Z4MFpYaDBlME5RVlgwcElGeGNDaVpjYzNWdFgzdHBQVEY5WG50dGZTQnRaVzFmYVNCY1kyUnZkQ0I0WDN0cGFuMGdYR3hsY1NCTlgyb3NJRnh4ZFdGa0lGeG1iM0poYkd3Z2FpQmNhVzRnWEhzeExGeGtiM1J6TEc1Y2ZTQmNjWFZoWkNBb1hIUmxlSFI3VFdWdGIzSjVmU2tnWEZ3S0pseHpkVzFmZTJrOU1YMWVlMjE5SUdKM1gya2dYR05rYjNRZ2VGOTdhV3A5SUZ4c1pYRWdRbDlxTENCY2NYVmhaQ0JjWm05eVlXeHNJR29nWEdsdUlGeDdNU3hjWkc5MGN5eHVYSDBnWEhGMVlXUWdLRngwWlhoMGUwSmhibVIzYVdSMGFIMHBJRnhjQ2x4Y0NseGxibVI3WVd4cFoyNWxaSDBnWEYwPSIsCgkiTGF0ZXhJbWdCYXNlNjQiIDogImlWQk9SdzBLR2dvQUFBQU5TVWhFVWdBQUIxc0FBQU43QkFNQUFBRHhaKzZDQUFBQU1GQk1WRVgvLy84QUFBQUFBQUFBQUFBQUFBQUFBQUFBQUFBQUFBQUFBQUFBQUFBQUFBQUFBQUFBQUFBQUFBQUFBQUFBQUFBdjNhQjdBQUFBRDNSU1RsTUFFR2FyemUvZFZFUzdJcGwyTW9ucy81MFZBQUFBQ1hCSVdYTUFBQTdFQUFBT3hBR1ZLdzRiQUFBZ0FFbEVRVlI0QWV5OURaaGtTVmttZXJLcXVxc3F1LzVBQmdSR3FyeUFxOWVmS2hYQmNaYWJwZllNaTZEWkE5T3QvR1lCMCszcXdtYkpDdjZUZFYxUldMMW00OEFzaXBvcE9vb2dWdU1nTXZSQ0ZsZnhXUi92VXNYVjZ4OTd6Vkl2KzZ5Z1pzOU1aODMwVEE5eDM0ZzRFU2NpVHB5VDUxUm1WbVozZi9FOFZTZE94QmRmZlBHZWVPUC9uQXdDY29UQTlZUEFsNzZOdTBPV1o2YWZ4SWZNazVJUkF1T0d3SnUzanNxaU51T3VlYmpzdHMzRTk2NGNUZ21sSWdTdWJRUk9kSnRIVllDMnliaThtVnAwUFg0bGIzS1NKd1N1QndSS2p4OVpLUVpIMTBMMVc0L01hc3FJRUJnYkJHYloxcEhaMG1aTC9lVzFyVWZTOXg3MHFhby9ReWcxSVRBU0JNb1BtdG4remozc2RTdG13RUQ5QTZUclBIdk5RRTBiamJLQ21CMm9mOTBYZnNQZWFPeWdYSzhSQkNiWnZtSHAyeGs3VStudUdDRUQ5UTZRcmtIdDhrQk5HNDB5bTY2Y3R2OTVOSVpRcnRjR0FoMXp6ZVlFWTU4TS9vSjljVmltRDVLdUMyeHRXR2IycC9lSno2bWMrZllmeUthamNQRytkNHErOWZMZHQ5NTN5OGtLL0s5b1prdDZuVXY5NE1IK05WN0NZWlJnaGowUW9WS29Zb1RKRy94bUZEWlFYNHl1ODZkVHNpcjgyTzJWTTc5cVZmeG83aG9FMWFzRHRXMVF5akJBNGU2MW1mWGRET211bklnWGZyYkNodGRZWnJab0RBVFJjUnlNZ1JsOW1EQ1VFdHpFVmlLVG5zeXJ6UnhxejA0VU5sQmZqSzUxdHBtWXdVd0Rsc0I5c3lGaDBuV2I3Umt4NCtMOWRjYSsvZjR5ekg1bFpvc2cvWkFTbnE0dzlqM3E1Z2ErMW9IZy9qVmQvcUdVb0d6T0FGdnNrU0JBcXpBMG9GeTZQcDBsMDdWWVp0LzFFKy8vT2RUbDc0d2VtMG5YT2JZUlJZeUxiNzV5c0FKYm5nVVEzNUhWcGhKamoyblpweUlsMTNDRHV4WmcyTGltTVJoR0NTYllveEVtODR5ZEQ0S0pJZFlYaDY0M1YxTG91c3IranB2R3U1c2RiYU5KMTZBeXREbTJ6aSszcHhaeWJSY0QzS3lkUHg2c1VSSzBUOFpkYmdPdWt3UU54dGdsWFphcGg3VjNSSjd5WnQ2TTdSTDRVK2ZWdXN3dVJJcG1KWG1xdzVzMVdIUXRmaFVlU1dMdk9zYytKQzNiTnZzZWk2NnI0emNhbm1ldmtsYlBvR2d2ajZCTjlYVXNndDZFbER1cDhqZENaQXNvck91Q0hoODVYYXU1NldxWFFCZkY4dVRWV2pMUExTd3p4cFY5eVptdnQzUU84Q2FpNi9URmUvQkE0SkpncUtrbk5BMmhIV1dEUmRmanhnTlZBaU8rM3RSdGhoYlU5UHBSVDVOc3V2TFJ6ZEdkTSt0cDNJZ0UwRWlINHhSdXdERlZHVVprVFJCVWt1cHBva1YyQ2Z4aU9iWE9HNU9tSUtneGN5THJ6NkMvMElpdWZJYmMvWHc1a2E2RnlvN0txc3I0bEZvNmk2N1RiT1JQVWRtbHJpVnQ2U1FLdUthQzA2OGRxM2NOT0RMcENXNkFXRFJhZXZrdENCWkgvcUFUdTVYRVoyR1h3QytXVSt1c3VZMFQ3Sm9JK2ZYM0dXclE5Y3hkdjdjWEpOTjFqbldmSDJhRzJueEY1V3ZSTmFpT1c3V2VqK1lXZkQ5TWMxZVo3Nzg2ZEMwaFplNjIzSy81R2c3OTdOMEdCdHVqcG12eEVFL0VLb0gzU2VUVjJvNnFGL1Mxckw3V20wR2ZnUkZkcGFKa3VoNUhuZDJTUW0xNG05SWIySFRkalViSllmeUlMN1BHM0tMRnNnNVdITHJXVU43MUVSZGt6TEpmSFRWZEp3NUIxOTRZNXRYYXNCWnJHa05ma3N4TzEyWFUyUTFaWU81ZENjdHUwM1dablFyRHgrU3lhQXpnMmpDN21ja3VoNjUxSkRUVzZ6T3B1TTZGU3FPbTYrUlE2SnBUYThGZUEyNndxME4rN05ucHlpdjdBOUthUlhqM1E4TnN1azZPMitRVnMvK2QwTkxnR016V055clFlM1hvdW8yRW82NmVYanRIRjFnWk5SN0hoa0xYbkZybjdPNTBqT2w2SWF3cU5sMW5zZzQzajZxaXRZd0JNTGJGTW81cEhicnk1bW5ZN2VaUkFUS1lmR1pHM255bG5iNDdmQmx6YWoxdUQ3ckdpYTY4em9ZajNXVjQ5ME5NYkxwaUViVjVlTENHa0xJQlUxZEN2UXZ3WDhxVWg0ZXVkRkRDUkc1MjVIUnRES1YzemFtMWJUZi80MFJYdnRHekl4OVoyK0NBUTllRzVySDVkRWZuTDhQVTgySDJmUDgwSE03M01NaERWK3NkNUI3SnIvL285cWpwaXZOK200T0hPYS9XbGwzYng0bXVRVWtQMU91bzkzc2hXQTVkVjlWeTFPQ3hQSlJHVHRmMU1DVS8zcEZ0eGNpaDZ6SVNQbktvN0svWFJOVlIweFg3RkVPZ2ExNnRlcTlFUHVleG9tdnhoNWZDMnJkckhCdHc2THJOSGgrcktsb0MwOVpDaXpoZHMxbm4wTFdPaEpmR3FsZ2pOZ1luVGthODFJVG5PZ1M2NXRTS2M2M1dneGdydWthV05ZeERQdzVkajQvWm1neG4ybFpvK2FFSHcyaWVyTzN3Q0lrYjFJZHFQVnE2OGhOcWc2ZHJYcTBMenNMcW1OSVZXT2s1b0VQWHllaTgwMWhVWmN5NDlacnVvWmVheWlqd2tsa2NmSjdpemwvZGkwSm0vdkVzdSt1alFmRFdDenFzOE16YnV5LzhaMzFiL0tzZi84SXRaemZFL1FkLzV0UDMzWE5HZUovMk0xOXozenU1OTdOblh5WmVkeEtod1JOdnFYWmY5T1hTSDRZNE9acHgzRjk0NWozc3p0OHpqZno1ZXlwbmZybXA1UW9mZk9PbmI3bWREeTUrN0xidTkwV0dDUUZITmt4a1dsSDRxemZDL2pVWjgyYmdjUWk2eG0wTW52aWNxZ25rQjMveTAvZmYvdDNJWlBvaitBeUNBWEJnSXp4ZHRlanFSOUVwbEZrQ2Z6Nk9WbDVXNkRoNDBWWXc4d3BaY09mL2xKNGV5Z2hOVjc5QnFhWDlyaTJwNDJmalQ4ZklOZnUrYTVTSUR5cjMxYTFEVi9SZ0ttWThybi83cTAxbENOL0lPYVZ1VXE4ZFkvZ0FLaUNkdGRMMGR2NzlMSGF3bzNROG84SysvYjU3MkV1bTlhcFdNQUdLbzA2OWVpbVVxVUVIay9ONi9tcVFtazJVdUJjZmFYZ3E2MWE2bTByZmovQlF4bjVGM1FlQm0yTVVJMzNURFpIaXlwNk8rQnhzaE9vVkZjQjdEajRYS0h4S2VGNnZ3dm5WbFpWeGxoVjh6enFjVnJ6M0k4SXYvajBlVEhUUDNIWHk1TG5UY3NwUlAzM3U1TW16RlZWcU01TWdiaU4vQ2ZrQVVLaUdpbGNzMFJETVZkaHBSR2xBQWd2aDRsZHp0b2FPbDdqRS9TNkticUdNRW5qemlXbkZnLzhjdTN3cldzNlYyaFdySk9wbTBXaTA1Rk1WUmozdU55aFRhYjhDRllFeDNtSjUzV0hvaWdsNTlPYUJRMWVzcmVrcU0xRitzVGZQVVFYeUIzWWhVK1kyWFhsTlh6UFMvVFpqbnc4S3oyWUhZVW1uMldQY2QzT2x5dFpEc1prcSs3YWw0RXRMdW11dlFVY3lYZWNyTDFocTZIbjFuelAyNHM4ODdjZkwwZXYwYm82R01jSTdYMmFYLzlzVGZ1dVAySldsTU9wTjdCdWFRYkhEZEJ1ZzZGcGpMLzdSOTMzS3FoRXhXYUhEdHNLbzdLdWlLUElmNktydUJFSjFlYWVzTU8yTTJ4ajhOTHY4NVVIaFArb2RCMFdqWXZuVmV3SDZPbjBpelVaWVo4a3o0OGlYdU9jZ3NGQ01GY29vZ1RlZm1GYitoczNIb2Izd3FRT2p2cHRGcXV0SEZnUSt1bG9HWlNydFUzbU9QeFZ0WnBpNWNmOWg2SXBuOG5LdHg2RXJObDVYVkJ4UVBLLzg0M0J0NDZGdVpqTEVwaXZLYTdhdWVLN2lmY2FXYWxzN2w1dENLeGl4SHFvdnNUZHdYeUc4QnNIdlhtd2c5dzBlV1B6Q2grR1Y3MEs4NWI0S3IyZzNYUTB3VWcvYlFJemYvdzJYSyt4Mm0vd3F2azlnNXlpRG8vOHRkbm1MMzkyc0hzeUNmRGU1ME5DSHpxZS93RHZGeDArdzUzUEJWZVBSeEdXNWhHUEYzQmNhU0w3R1kzNzI0c1g3Z2NoRjdqNFV6TWozTHJ2dldlRnhmNDNpTVBhZUplNTNYTXpHWURKczhMNUVOWHpGTHp3SHFSOE83bjJNSzVpS0dsY2I0UmxrM0VBdTNJQ0xYTktEWXJ4UVJnbTgrY1MwNHBGOGh5eERTVDBhcDBnZGRrbUhGR0ZMaFhXNVNSL3lHWlNwdE1YS2g3akNSdFJRYWYzU2N3aTZGbUZWVTZ0eDZWclZIUkZ2dzZ3eHBFNHpJZzlJbVBHRklVaEd4eUo0dTdsdm1Md2J4cUZDYi9MZ0NiMTNWVkowZlpMQ0c5VGVDcE1XeWlGZGNmL1V5SktaQ3VqYTJBd3daQW1uRWZwaEZjcDN5TFJ1anFGR2ZablZ2ZitUd2kvQ3FSUDRSZ3NTQkwrSjdhakd3eUxWZklWZDVoV2RPNjlzVkdXVUZXaDY5S05Gc2FRZW9lQ3RNUDJDOEFXb2xPWVlOZ3prbDdpTkFHUk5DcXhHMjJTL0FjMkZpc0FWYzVESFpid0g0Vlc3NVkyaDZDdVVXUUp2UHJ3VkUxbUhabUY4TGR4a0FsMGIrc2xMdVViVXJNY015bERhUjRLYkpGK1dvMW9UV3FBdWg2QXJLdGIzcStTQjgwWU9INWljQ2lQeGdDTHpvd1NqODFVeU54OFdYZkVNemJrRVdCcldzckxjeFYzV2pGUnY1eGVqTnFzV3RWajFpSzdGaUs1Qmh4MU1vRzNnWTdVbGpnMDZsVkQvbjFYa2FEQ1dvd3RoV2JVTzg5OGsweGJaaTV0U3FLcTcxNEIvb3ErcnZuL1RadW9qN243WnVCWEJzamFNajRBTnV2SjJXWmpPczZ3bWpLaGlOcUwxVUlOZEtGaVI1Z2FZVEQwOEZlNXhsL2g4bExzNHdnNnhBaGRGZjZHTUVuanpzYlVXb2tha0drMytwRVh5ZjhVcHEwRlgxNkJzcFEwL1BZTTI3NVNaVCtUUFQxZE15eDZMMHNmbzJ0SURCTjVmcVBiSlNEQXlMNjlWRzlseU4rbjZack9uUmZLYUxsUmJOcm9kdmJnMkVmYXV4N1VJSCtOdWhYa3VHdGtiZElXKzVRM1pMUWxCWFVrMUMySTVoZ3JWQlU4WENyaXJoVXYySUhoSUo3UVJteklPeTYwQUlPeXZ1RDhhZTN0azQxYndCaVZzUnh5NjhwZWs5MVFtSGY4amo5c0lZbS9vUkJFellIbHRSNGJEOXFid3hSRzJpUVVoQjBVL0FFWUpNR21MNTJOclhkQTFPVmoxMHpVYVZFaURUYm82Qm1VcTdYdkRJUjBlam5wT1VySCtuNWV1VC91L1laTitObERqRG9aMzljRWhQS0d4NmwxNTgyRmFyakdJZXpxS29sLzJjdzFqZVpjTG9tTlVIUXVHRHlzSU1acmVrSzRsalFIdmJjSVJiYkNvV1JVRWxXaFlYbWNIdTV0Q3IraFUwSEdGajRyYml3aFBqZ2cwM2FvdVZ6VTBUbmZWdks5ZVY3TG9VWFF2aGxGUU9NTDN5c2F0Q1Bod2ZTMVVaZmV1dkpXNG9ETFo5WjhiaTl1STZ0RlVpWTZyenpvSG9OR0RaOExnWmNaMmhEZU9zRTBzQ0Rrb2VndGxsc0NiajYxVmpaV2dmZEZMVjFRRmFaOHdFdjlNdWpvR1pTcnQ1emFrSmt3RFF1SXF6ZXFhajY2ekZRWUtObFZpZm5YcFd0TU5KWi96aGNNYU04SEkvS2d4VnpObTNvSHB5bldmWnlWQy9kOElBOUFJd2x0UTNSUkNHK3M4Q3BYNVBMOEt0NnFqRjZPVUlMR2VSYmZad1ZrdStZRnYzK09YYloxNEdSYnNJQ1NXSXhjekhHck5GWG5MZDV4RUVaRlZTRXdNZ0RWL1FOZFFFT0xJUno0Y3IyemNDbk9VN3ZhdUlNY2xaVkJwVGZuTXE4ZkdWY01ZSUxZZWlsZllnV29PWWRrRkhocEhXS3lWYllZcHhNVkIwVnNvanFTMnpwT1BvM1ZaMnhUTWV1bUtDcjVpMm1EUjFURW9VMm4xUU1qNnpvNlpSVDY2UGhuVmdMRi8zelEwdUhSdFI1TzFYZFdBRytLajh4WXF4c1BxWVVZSGc5VnozQ0hObFMxTHVDWTVKTUpFUndnU2FJSE9PdmN1R3dOUTNxZUc5UXFWZW9OSGMyZlIxV3BLRzNyMHpLc2NUeHJMVVdpSS9xR1RWNjBpVW9pNnpwUHVDQWxZcDVmNzRCZGtGaEVZTHNvNjZKVnR4S3hJb3l0Ry9EcVRxTXVNTEJRTFRZNk5hRm9VTFNFWTNWUWlsQURZZWE0a2pyQkRMTWkwN1E3Sld5aUhydnBwcUh3Y3JlMm9EVnJ3MGhXTnpCYTNUN3VHMFFMWkJtVXJyVzdDc1JDb2xWcWVmSFJGMHNMZlZxMGE3TkoxTzZwODgvZC8xTXBydERjWWppUmdFTGVyb3gvK1p4azdXREVGeW5ya3lRYy9tTVdqTXUwb2dkVjE3a05xRlNEbXBCdnlMcG11ajBmaTBLWW1mM3lwcm9tWVdJNlJ0UENoWW15RVFZMndMK1hqNkMwUmhub0NHNld6NklvYktlS1Q5VmlSUmxka29xQ2RVQjZWcWJ6R2JRVEZMMFV5SlYzcVN0VEd3N0oxTGdKcmR2aVZPNG13UXl5RUl3TURSYkhPdnNYbDBUVkhBTmk5SzlzWEFtS1V2eTY5cTdwdHhYMDdhdHo4cFVJUjlrSVY4dUxRMVRBb1cybjFrNnBxT0N6OTNLWWxLd1IxWTlNS2lOOWdmUFZRbE1pbDY2SmU3NHVuSEdsSVhhK0Y5amFqbytuSzkxeXVSS1hsdStHNkRRUXZVVGxSSDNRM1VWK0RiZ1FZZFJab2hUMVBNbDFQUlJhaFVWRVByVmdSS2VNNVJ0TENWNHBtanZlR3d6TU0wOVd3MXhoWFdYUkZCeS9KNEpPTlc0R2NqTXJ1ekYzUmJxbUttL0Q5NGJpTnkySDJzakM3ZWx4WkNWc1JoSU91R3p3NmhqRENWcDE2MnJZWFUzMkZza29RZVBKeHRNTENUWjQ5M0l4YXc1YTM0WDhNVUpwV2dFTlg0N0ZDMTNva21sUmFYWS9LUmlXTGtzRjNDTG9pamZyVU5oVEU2V3JVVlN1cjBkN2d4OEd5LzF4MEo2SXJyeGpmRTVtT1I2U0lJSWFwaU1HREY1dmI4TTRzNFIvcXNtSWM3c0NSRUpCa3VwNkhYT2dXTmJ1aDZCTjdDUFhrcUlUbGxlbXFIZ1JmL2M4eUxQcXROY05lbTY0bzR3TkMyQ01idHdLU0tYU3Q2eGFqYmRSUmFZcjRIN2R4VlNmaEFxaFM2MEtRbzhsQjVFN1JOWVl3NHBCOFV3aUYvNkRndkhudktaUlZBbTgrdGxZOHI4ZVVLZis3cVZ2NTBhaXBlQm5rME5Vd0tGdHA5U3JEUU9tS3BrdU9vN2lSMXdwZE1iVDhWb1Z6ejJ2SG9DdTZ4NmkwZkRjajRtSmRkQ29RNWljT3RVTk9laVludW9id29TTHBoaEt5NTY0WFZMQm9BZlJEazZHZUhDTngrUGpUYUZvaDFrMGlYV3ZHcUNCTW9XVVI1MWdCaVJTNndrWkovYUMwYitVZTNuaHNiQmlOakpqdWh3b3EwVXhDMDlWRkdGcFg0M1ExVURSdDBJV3lTaEQ0OHJHMVlnRExEMGttdTE1ME5RektWdHBMS3ErQjBwV1BmUjVSbXVOMFZYTXZKVEVlVnd4Y2x6SmJndm9ScmFTWHpMcTdiUzdYdEFXUmx4bmNRZlFyNjRzV1hiR0tFdllEeVhSZGlReHJXVk02SHU3Sk1SS0hENzJ2TVZXMm92aU5VVnZ0M2hWNjNTR2VsbzFiQVUwcGROVWovb0svNWZEWUNLdFh1SDNTQWJOd0pHaHNjV202TGtQWVJCaHBWaFdxb1lLMnBTNE1GQmRkS0tzRW9LdWUxT2g4YkswWWc4Tzk3bXROWlpZZjdiSmRwUnJHeU1zMkNJcFdvclJKcFIwU1hXRktlTmd0M3JzZWkyQ0k3QnU5RCszNytleFdkRXk2THV2aExCU2dtdWdaUm9DWVRUSDR4ZE5nN0x2MlpBWjFVMFNNbGRkRVJESmRvVVM1cWowSFE3QW5SeVVzcnFoc3V1SlpFZGl4L2N1dnU4K29yVFpkRjZORkxaN01rbzFiQVlrVXVxSm15MFo2THBvcG1MYkViZVM3ZkVheGdVM1lkbFNpVlJha09pVzBZSG9obkVJWWdVREZTQzVHMDlhOXpOMHFsRlVDMEZWM0t6b2ZSeXZ5NE81eU9NRXdDeVQ4QU1RT2MrZ2FHWlNydE5CWmRqV3JmQTR6ZCtVUFRsZCt0M2NkVTdxMlZYVlFCVSs5ZGt5NjhoVmFqZnd1S3VZdktnZFVWNkFIWWNLRkwzeXRHbU1QeEZiVnRDeVpybHNRQ3gwVWJTaS92RUo3TEVkVFloSHg1cjMydjVlL1NRQ25HV1RURlpVMHFtMk9MS0kydEI3bFNhRnJVQXJYbWhKV211STJjZ1p1S2MxaW1ock84TDAwQWdiQ1JhL1VyUnJQaEt0cFcrcWtZcWRRdWVuS3AwSENmVzlrcU9uclJkY3RMWnl2dElPbUt5K0hHZzI3ZEVVdDBGYU9qNmRZWWZzNXJPbVlkT1ZZcjZ2RWlER2RPSUk3WFFtRDVIQWJJZ29jbnFxcXFuNVd1dXE4Wko2K0hHV00vTDlvZHY1R3hMUFE2LzdySDI0bTBwVzN1VXJjbFVYVXVvclRWeVJZQzI4QVNUVEc0R0gxTUs1K1NvdWJucmlOZkdLNEZZbWcxb1J0anBldURzSkl0OXFicm02aGN0TTFlRlA0WEJOV1BRQklWQUx1YzNyWExSMmJyN1NEcGl1YWFiWGNHVnRxR3MvZTlTWno5VWVqbU9qcG1IVGxJNWx3SFNUZzNjampzV1Jmb2g3cnEzaFV5eGFwcXRsb01sMzN0RWFjL3RIamxqRFFtNk5PSU9hMnV2K01nZ3V3NHZWTjNDZlNsUThhdUFCV3cxeFpqeFVRUzZNcjZDWWdLdTF6aFRHM2JWZ2hJL2xzTmlxMjJDZVZFVjY2QmpiQ2tQVFExVkFIZ1ZpaEVHYVVJTXRnT0NpVVlDVjM2c1VJYWFMNjMydnVHaG1VczdRREhneno1Uk8xcHVEMnJzZFVNNmtLTlE1WDdPSnM1ckhEb2l1dnZMb3ZLZGxjREpYZTNJQU1kL3dKbFd5UjBkQjFsN0VYQ09NTW90aUQ0WWl1TWRuOGRNVjQ2eXF5UzFocDRzdGxUcE15R1lJVkFnaTZoejJWbjY3QnpRMUljQmR5WURYZXUwYnM0RXBqaFVKWVhyb0doVCtSbVhxYWFLaERHWlo0VnRvMWpGSzJ0YW1Jemx2YXNrSkRxdzQ5aDVxNzhnR2VXdW02SnVnNlpXd1V1d2o0N2p0bTc4cFhDSGxkRkE0eDhkNFZNZTk5cm5pd0cvQzI3TUZ3UlMyWVpPbGRlVU80RGgyR1M4cFJpU3hHSXgwVkZBUy9vUXRnRU1XbUsrcXVaSWhITm00RlZCdVZQVFlZRHRlYUVsYWErRWxNWnplZTl6ZGJrYjNBSmx3dlM2Q3JoVERTcmZhZ3E2ZFFWZ2t5OWE3SXAvak1LaXoxZDBIWjZacTN0T1hCMGhYcTFEekdwZXVpKzJDaVp6STZYNlBiekpWNVI5ZDJKT04wMVZzZXV6WVhEYTFQYVVIdWl3aUFpTzZNY1l2UURTR1dsYTVTV2lUaC81SnpsQ0tMbnNwVXJHZ3lKTkpWZFdnK1dXMnp0Z0tlTkxyeUljVVdYdG8xSisxRzJyaU5mUGxqTTVLSUJCTHBHZ1FhWWFSYnRaS0xwU2F6ZC9VVnlpcEJWcnJpOGY4WVRQV3VmSUNFemFnSThDWDJybmxMVys2ZnJuOTkrdDNhdGdZS3NDN3Y0blIxaGowNjBlZzhKOVNyMk1ITUQyU3lvbVBTbFJOTzl3MDFlMVBWMHZac0NDSUFOY21oNjNraGxvbXVWZFVYYTgxcE9YSWgwQzYya1hOVDFLZ2swblV4cExsUE5tNEZNdkxSdGJQUFRZQnJpemwzd2txVHgwYjB6dzVkdzJxVFF0Y2dDQkZHZmdCWnNIMkJONUJ3eU4ra3E2OVFWZ25TNmFxMFN0MFRGYlg4SU8vVmZ5d2diU20vdUNiU05XOXB5MzNUbFMrNDdDdmpTcmpaa0RjdVhaZWpua2hKai96YTBjY1BGL1dhVWFwUkhaZXVlZ2x3MnhnWVN4V0ZWMnRWZ0dWRjFCempWQk1uK3dVaGtZbXVVSEZKNnhPZWVJNTJQSjhYMlNHOG1XYzdZVmdpWGFIM01TN2prNDFiQWNGVXVxTFJBTFNOSGE0eDd1STI4dFhLbFVod1VSOFc4OUExaGpEU3JhYlQxVmNvcXdRWjZIclR2cklQNXB0UFZBVlBXeTBPUWhQcG1xZTBYSHM1L2tobHBwbm5ybWl2b2xrYjBFaWlxL0ZHanN4aDlQOG5vb1g0N1ZPWnpPbkU2Tm9NMDZGYTZvR3hESnFQeUlMSENtYUNsbUdUendYNHNzMldrRVRTRGVIQnYwclVJN2F0ZnFGbW9DeUY0emtxSmZLS1NtTjFMQWhGN2RBZHJxVHIyN2lzUFhkRlRud1E0SldOV3dISlZMcWkvL2hpVUhDV1huaW13bmxzckJpdHYxamVEc2ZSSHJyR0VJYk9kTHA2QzJXVklBTmQyMUc3V1pJdFcxZ2FkVUV1SzhvdnJvbDBSVzVSWDllanRGeFQvM1FGUGxFdGhEcTEzK0Qycm5WdlEyU1Y2cWh2YXRIeHc5cDZwc3c3UmxuRjdGT1BlakFBY2c0bHpPZzR6c0x6enBsOGZxUTNwSTVKVngzb0R1T1dZNzEzUEVlN0NIeHF2V01IWWRIM3Fnb1JkSjBYTnR0MGJjbCszQ3NidHdMcVV1a0tLN3JCZ3RPU0tSdkE0NWlOeUI1WUtWZlRjd0FQWFdNSUl4V3E0eVpQcklhdGJhdk44aGJLS2tFR3V0YkRCZ1M1SERPV2ZIbXUwcUZVKzhvdnJzbDB6VkZhcmduOHNoVHJtOHk5SzJwd1pITVZOeGVrRHBldU5SYVZVdWN5VXMrTW1tYkRpazVvZFErRFVGaWpnMFJoTlNGNFo3a1VwZjZ6SmJ4U0YrbnM4UDRUMHdiZHQ2RSs2ZTRZMVIyeHdrR0xGbWxiRlExQ1YwSWhYT1kvSkx0bk84Y29Ydmp3Yk05SFFaK0Y3SFoweWhsVkN2cDhkSzNJMVVLdmJOd0taSkJLMTZBRi9pU3ROSW42NTloWTF3VGx0bmYwMHFXWHJoZDArUVRDdUZ0TnBhdTNVRllKc3RCVnpCVkV6Z3R1R3kzdDBTUUl6VXVtYTQ3U2NsM2x2dW02aTNxcTdjZWpWZ3NGTGwyamJ6V0ZaUmo1cFczVS8vSk9Kbk02TWJxdXFYUWxhd1JVM2dJN1Q2bTRvQ1phQm9DOXBJTlF5UitWTjJqeU44SmdEQjBUNk1xWENIVGE0RGh2K21JNVJ2SENWN2VtdTlVdGNjYm9VaWlFSHRXa2E5UUk4WXlhRURKU1I3SWVLNnpLamlHRFhFMHI3WVQ1QkcwMEdyVU5kZWRlalZ3UXhXMEVMc1k2QWlCcnlqUmV1cm9JQjBCYVZzREpxeklac3QrVFB2N2Z5QzRxbEZVQ1AxMHRyWFg5aURCRTBtdU5VU2I4d05xNmVaczhkODFUV3E0UmNGaUs5VTNtM2hVbDBRdWVmR3lqOUxsMGJibExKVHFyRVhtS2xmTTY1NElhdU03Zi8zRWQ2UEYwTExwV1VkcDFJZlcvaXA1clE2ZmdzNnFaYUVxUGJtME5jYWdzTzFwa1d6ZkJCbDB4eWRWMW9XMVZOUDZrb3NUMVM5QUREUnRhblRHUFUyR28rR0dkUmNnTWZ5NnJVYytGTFFTVHJyckI1ZC85RlRkKzJiZ1ZWbVVIQitUYVMvaWxUZVRKbTZYR0RqeGVGN2NSTFVKa05VWWJ5akl2WFIvWFNpWENZZ3F4d2dPbndrVjRHMFYvb2JpTi9Qa0k1OG5IMFZxUEdvQ2l1MkFoZFRTTWxwcUhKUGV1T1VyTEZRRitmb203WG5TZHVmK2JaYUp0MUZsVjcvbktBU3FCY0M1ZEcxSGQ2c0dKVU1Hd0wwODJKbFJ6cXR2YmRhY2R0aFVkaTY0TkZKZnpSbnhVQUp0dDBXaC9GcnBuZEUzamozc0hZbURDS1M0dUhGUXRTUitHeFNwNE1abXU3VWdLSGVzYWtzWnlsT3IwZjNCSGN6K1k1S1ZGNlM2RjBhaWhKbDJqVGdMNWlON05MeHUzd3FJcjZDWDc2ZXFlTWdNRGhvZFVTVlZZZEkzYmlMb2RXUTFvVkZmcm9WRWNZZEdHN1hQMXgwTW13MkJ0U2lJQVBlbTZIVllMb2JVZXpYTG1qYVlsS2hSd1ZsYkx3R1M2NWlndFYxVStMRjFicWw1am9VUTFnSHcrcHJzVWw2NlZxSkNvQ2Z1eUhLUDhYMzdKRHduM3h2L2xhNzVRRGhzdFB0aUxTQmUzRHFYV2hSWEhsT1NBZG80SFZvMkJVUnZqWE9oYVVocHFZa2hYcUVUTGJhallhaE1Xalp3aTBXNGxlaDV0eHJaVWVseUJyZTUxNW1VVmRITTBwSVczdzBRcklmeHRYbjFyZWdBZTFNdmMzR25SdUlJemFnb2phc1FtVCtHWDlWamg5RTFDWXhBVm5XOVlHUTJqTU1iNEY3TXh3RmJEaWhMWWpnenowalhLUmlJc2x0L1A4OVJxWjY1dG9lZ3ZsRk1DdldTSXFuMUtXbklzN0pLRTFucEV4bW41L0pXNTZ0cldMSkFoRGJOcVdBYmxLQzFYVlk2cWg4cExYajI5NjRvaHdldTFyRzRUN0Z1V1ZBUktwVWNWRGwweFRoYTFBS0s5T0tHMERmZUtyczV3WWUrQ3dhZ2VIdml5YjFsMGJVTmFqUDNFUk9uZXFCRXFWUFpGTWRlVWpwTFVqd1ROTUFnTk9tU0VBelJoWTF5NEV4bUVvWHpvdktYOC9OcUkrb25qc3Y2N09aclMzSThpNnRGaWxkdUMycThvZjI2YmQyS2luZUY3TnZxanh4Z2t5LzR4UVRadUJkK2dPcSt5YnNtdWNVWlgrZGliRFVveXZNWnM1TmFnc1pPdUhCcURPMk9vZ0F4UDhYaFVKQmRoUHVRUWNmVU5MaUVtSUZ2Q0kvNGxGTW9zZ1NjZk1aQ0p0TmFqNW1lU3JVZktJOTlpMUN5TFFORTBodEhPWTgxVTJrdEtkVFdxSGlwSVhsMjZRbkRIa09EMU9xemlWVjBsZUl1czJ6dUhyakNyR2FidnhRa2pteUY2UzdBMWNtSDdqL2JVdjlZWEd0S3cyTXlsUlVLeDhvUEtvL3JMS1E0Tjd0VWUrbnpZWmFNZjNRZzFkYUpuSHBSVXdzbkhXeEZNcTBZdnd4UGg0N0N2Q1JPWDdoQWVOOGN3Vmw4SzBXZW9Kc1ZuQXpqeVN5SjY5bUVZdnhYSW43SEFzN2tjUGt6K0NOZUVSSUpzM0FwKzhIZGQ1Vm1YYmN4a3RIU0ZpWUF1dEpJeXJqRWJlYit1eUk2K1hCb2pUM3lxWk1oUXRHOGVoRG5xWW5oVTJwZlNOb29KaFRKS2dMWlRONWdxSC9Fc0k2MzE2TUcwN1JaVkdUaHJQRndlVmpIRzk3WkJPVXJMRmNHNEpyL0duRXRYQ0Y0d2hIaE5EVk8ybzdlSXFzWlEwcUhyUkdReFQ2c2VpS0h5YUwxODNHNjRzTlBoWGE0Y3pYbXRRVjB3dXp4K0srWlo3VXRjL1A5UkhXYWh5bm5GWXplbG1pZXJudlN0N0tBcGdsQnY5bVVjL3JkVnk5ZTYwR0xxMXlBTFpldlRiUkJyc0c1VHBEbWhFSGR5RkpIbVB4VG41ZksrOVNwK0xWWkN5aGNhKzZMcHFHM3dZTkQxYXVrODkvSGQ0SkJwQ2JJZUszYU5wNDRjdWFKdFkrNkdjY1FLVjUzZ1hCc0JYRVg5MXA4ZkV5QUFBQ0FBU1VSQlZGSkpHU1BtQXJxL1FJYVBjVzAraEdFZmY0REZzRmx5VUV3b2xGRUNYaTkydUhJNGxRKzhwdGE2YnBjTFZhTlpFa25rdjRXb3N2TUFUTi8xUi9ZY2c3S1ZWdVhDanhpdkdmbEVYb2V1ZnczQkI1ZWlhRjZ2dzJKTjZBOENZaUFTUFJtSHJwTlJnOFBUY2toSDZtb3d3bkNpN1pUQXFpN1JOZStOWC9PRktrOXg4SW4vODErRmNYaWVncEdsQ3p3QVQrTEtIdmZzaXJPTnFFd2xpZk44TmV5OEEveW1sV2dZWnNxcVErWHllSnhDd1pkY0RsclErS0ovYVFaZmZWOFpQdmF5V3ovUjVCTENBVjZSZUY2UFo1d2NsV0IwaGJvZGZ2Y1g0WHBMRyszTEp1NC9CY1BBL3Z0bE1LZnJyUHhSV2lUZzhkejVaZmxvMDdUaUF4ZmZ4ZUJlZXV1V1NGU29jSVlWcXZ2aVR2eEQ2YUlianc5Wjd2QmdaYVA0UlR3UjhsUEttUG1MOTFlUVNmYzlGNXRCbU9ITExuNmMweldHTUo4TTdtTW9JcENQbzlpT0EyQ1VJQ0VmR0dkcXhXQTRiR3YvSW9FOE1LeUpSTUlWcE8zc2hiZitFejVJNlhtc3Z4bVd2MWRwaXhvRVVjbVVmbm1ONkZyNGw0dTNpRWZDRHU2KzlSTXJNcG8zR0txN1haVS9heXIydE5Wd2tNK1RtbEpVL2orbVI0YWlzVW5paEpsa3FIN0JCbDRJNlI0Tk15c1o4ekE3Zno1SzBtNUp4dkgyYVFOMEN6OVFOVkZobC8vcnIvMVdTd0l6dzY3T1ZGNEphSCtyRVRac1NBU1J4MzdpYVQ5ZU5iL0l6SnZ4Z3gvQVQ3MVd6Z3U2OGtwYTBsbHR5YXo0LzU5bTdCWC82V2svVjc0U1ppL1VHVGxHa3NxSG54bnJmdlRYM3ZkSHVzdHVvTHIrbDY5cmRGZUM0RW5JNG51RUlLZHIwTHF5RlJRL0ZYVURRY0VyNjFwUlY0YnV5RHhSK2Q3OS9tZGJyWEZGZElVeTJ2UGZ0UkVpejJic0R6N3pXMzhjL2w2dS9LaWp6R2VMVCttbGV4aDA5U0NNRnZIS2Yzb3ZvSVFyS1ZrOVp2VVVTaXZjNFdPTDBGbjVRSk9wdGM1MjN0cjlid2o3RWRsdzhad2NwOW9aQkdOTk1YU1liNVNVWHhzRWlZeWx4Vk1LM1lxVEcyNE51aW9wY1JVd0lCN1Z2YkltazJIdzhqenUrMjMwUEhzeUNQOGR1cmJWY2dxaVNvbWMwS21IN3FsYXBkSkxzOGsvN082amEvQld6UHFhaFpacXBPYWsxbDhSMXMrakNjYkhEczVVR1B0WVZKeFE1S0ZtRklSSDJvQmNsYjAyaU9qYVBYUHU1TWx6Wnl2bWN3MmVKWXkrdkJLbHRYS01nclZ2QXM4Sjd0dFV3RXhEM1A4ZHYzOVdOd3dXZEFWcnpvREwzNklrTVV6enlmSjBRa1ZvUmIxNyt0ekoyOCtkVmkxU29jVmp3NW9oZGJVZWozVDZmSzZOa0FGVHVWUEdUTFBUWis0NmVmdlowMEJEWkhqeTNPbkt3eGpFK3hCK09rOHBoek9sT0lyeFFoa2xTTWlIRzIxb2JlTVFkSWwxejJKSTN1UlJIbGVLRUNoSzIyRXdwMnZjSUtUT1dsb0Z3a284UjVPdWVDRFMzWDVXdGxvUVh5ai8rK1gxTUJuRysxZis2WWYrQkNqdGh5RzRPSFRkWmVzNkxwa1RXbVFNUGU5ZlVrWVYzcTk4SE9tdVFhbmlIOTdXL2ZaUHlsanh2c2pOejJWblhvU2VNM0pjNVBzK0d0MUwzMys0cDNJbmIvTisvNjczL05OWC9vMGJxKytmK0p6S25mOWJVOS9DWStab2hpdC80Wm13NlBQcUR1UFV0enluOG4xZkh0MXpuNkJyTVBQL1ZjNjhaOHVNOGNueStMZ1ZScXJDVjkxMjhIempIb2N6MXEzYitJMXJJeVIrNXptdU1mRmtRUUxDVDN4bjVYVlJ0K0dtU3lxVUsrZmVSMXB2MmdlTWYxanQzdlVIdWthNHduVzFBK1JHK084emxkYWZOQXlONkpvb3B1a2EzRnpoTFJycmlrWTdsSGZvMm1BcmlZcXU1WWovL3R6S25TRS9yOWxpU0xvT3pmenF5dEJVajZ2aVkreVJvelV0QTEyM3oydVRpcys4bmQzNXkwMTlENDlOVnd3bEU1c2lNeFg1UjREQWNPbnFPUjQ1Z2pJZWJaWUwwY0xxMFdTY2dhNzFDMm1tMkhTZGswdnZhUWtvYmxRSURKZXVrNCtOcWx5anl4ZTkwOUZtbm9HdXF6dHBKdGwwUFI2ZHIwbExSSEdqUUdDNGRGMStkQlJsR25HZUpiMGZkalNHWktCcmFTdk5GSnV1MjhaS1Uxb3FpaHNCQXNPbDYrNzZDSW8wNml5UHVyNW5vR3NsRlJPYnJpMHN3Wk1iVXdTR1M5Zks1cGdXZTVobW5UamkwV1J2dXM2b1k2YitZbHQwTFRCcjQ5eWZna0pIaE1CdzZQcjAwMS9QeXpNdGptbU9xR1FqeS9hb0szeHZ1cDVRaHdQOG1GaDBYVGppeHNadkVvWDZFUmdPWGN2eVlQaVVPTExvei9nNkR1MkV4ejZQcUlpOTZkcmo0NEVXWFplalV4NUhaRDlsa3gwQjBGVWNzYzJlSW9Na2xJcmxsdHFwRE1MWG44anhvNjN4dmVsYTJrOEYyYUpyaDNaZFU4RWFiU1JPcEE5K3MyVUNkTjFCdVNyODM0M25abzcyb0VSUHVzNzNtSk9ZZEMxRzUvdHZ2QWMzL2lVR3M5UXJRNE16bGgrWHh5TFR3c2hmbFJ4Y2tYSnBhdlhnUnk1bFBZVjcwbldxeDBzMUpsMm5hQnVuSitBakZKZ0NzNXFEemg4bkJUaFRheThmdE9KclJOOXg5Y0xha2RqYms2Nmx0WFE3VExxdWhtK1lwYWVnMkZFZ01IRlIvSmo2d2EyZkdIRHVyZTZIK0t0dld3TldlNjJvS3g3cDZtb3Z1azcwR3VRWWRDMGM3VGorV25tZzQySG5KTHBXNlFac3p4UmVoSjh2cFc4ZkREakxzVkpYMHovQWRBUm05YUpydTlmUk1vT3VzMkxONFFpTXBpenlJekRKVHArN1M3eFptejl0ZW9vT1hxQTFYb0JPRjc3K1l1ZU9jZ2JZaTY1djN1c0JzRUhYMXVEWEhYdGtUdEZqZ0VEeEh5dXZ3MkxURGVzNmcxKy9TOFN5RjEwVEU2cUlpSzV6NG10YktweXVoTUNOZ2NDQytiV0dJUmU1emI3eWJXOFRQeWQ0aUl4bWtIUlZMemJXanJDVk9ZU3hsSVFRR0E0Q3V6MDJUd2FZYTFzc1B6UVBwM0hiVER4L3BDdmFoek9ZVWhFQ2cwZGcrdWdPSWc2T3JzczM1cUhSd1Q5OTBuaXRJZkNCNWxGWlBEaTZmc21SMlh4VTJGQStoQUFoUUF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RQWdRQW9RQUlVQUlFQUtFQUNGQUNCQUNoQUFoUUFnUUFvUUFJVUFJRUFKRFJtQ2grcm9tc3BqL2NPWE96L09zWmo1U3VmT1QzRU9PRUNBRXhneUJRdldGN0RHd3RYRndkNVZkQUZ2TGwzK3h3bmJHekVveWh4QWdCSURBN05XZ3h2YUQzY2VXZ2dYMlVCQzByaTRGayt3cVlVTUlFQUxqaDBCOUxWaGtEMHhlYnNLME10dWFmV2dKbmdyanQrUUlBVUpndkJCb05JTmo3TUhXZVc1Vmg2MDFNQjRPZ2hMNlczS0VBQ0V3WmdnVUx3Zm9YYnRYaEZtcjdCV1l4c0sxMkpxNDBqOUNnQkFZSXdRV01FdGRadXdPWWRJcVkrdkNVd3F2WTJRb21VSUlFQUxISHcyQ09tTmJBb2tPQytlc1pTWUd4d1FQSVVBSWpCTUN5eHQ4eWlySHdwaXloaXZDRmI2bFE0NFFJQVRHQzRGN2QvaUNNTHBZN2lyc2xMZ1dHRzI4Q2lEb0h5RXdkZ2l3Y0dHcHlNSUY0V25HOXNiT1NqS0lFQ0FFY0tDSnNVMkJnMmJwQ2NZSUdFS0FFQmhIQk9ZWVd4SjJhWlllVTVQWmNUU1hiQ0lFYm1RRVp0bUJMUDV4eGRJMmUvQkdCb1RLVGdpTUx3S0wvSWcvZDh0cVliakRIcEFoOUo4UUlBVEdDNEZ0OXJBMHFNWWVsNTRLYmJ1TzF5TWlhd2dCaGNDcTZrdGI3SklJdzlyVGlvcWtLeUZBQ0l3VEFpVzJJYzFSWjVtdzVJUzFwdytQazQxa0N5RkFDQWdFOUJFbXRlMHFGb2FMNGZvVGdVUUlFQUxqZ3dBT1I4aHQxeGwxZExqT0o3TUw0ZnJUK0JoS2xoQUNoTUNFT3RlL29BNUhpRG5zc2ZCZ0lnRkVDQkFDNDRQQUpPdEtZNllZM24zbHJzd1BKZGJ3UjQ0UUlBVEdDNEZqL0F0TjNDMnlMMHBQQXdmOEM1V212S0gvaEFBaE1ENElMS3R0MXpaN1JGclZBVjN4eFRWeWhBQWhNRzRJMU5TMjYyNjQ3UnJjeEM0VXlqUVdIcmNIUmZZUUFrR3dxajcwZ2crclNUeG0ySlV5clF0VDNTQUV4aENCeVpjdVNhdWUrbEpsM2RQTHI5dFRmcm9TQW9RQUlVQUlFQUtFQUNGQUNCQUNoQUFoUUFnUUFvUUFJVUFJRUFLRUFDRkFDQkFDaEFBaFFBZ1FBb1FBSVVBSUVBS0VBQ0ZBQ0JBQ2hBQWhRQWdRQW9RQUlVQUlFQUtFQUNGQUNCQUNoQUFoUUFnUUFvUUFJVUFJRUFLRUFDRkFDQkFDaEFBaFFBZ1FBb1FBSVVBSUVBS0VBQ0ZBQ0JBQ2hBQWhRQWdRQW9RQUlVQUlFQUtFQUNGQUNCQUNoQUFoUUFnUUFvVEFHQ0Z3TDh2ckhoOGo2OGtVUXVDR1FxQ2VsNjNxSjY5dUtKU29zSVRBV0NCUXkwMVhGbjdtZnl6TUp5TUlnUnNKZ1haK3V1N2NTUGhRV1FtQk1VSUFQNUxPWGZpanJuSERudkQrOTczeDAvZFhwWlQ4ZnlvdVJTR0VBQ0Z3RkFpVUpRZFgwdlA2c3JlOFN6UDI0WFJSaWlVRUNJRmhJWENUcE9HalBmVS81U01oWVMvM0ZDVUJRb0FRR0FvQzA1S0VCeG1VM3h5T2llbm5Jek9BUlNLRXdEQVFhRW0rWHNpZ2UvNXpRbll0Z3lpSkVBS0V3QkFRT0M3cG1tMUcraWt1L01BUXJDQ1ZoQUFoa0FHQm9xUXJhMmFRRFlJT3BMK1lTWktFQ0FGQ1lQQUlyRXErcm1mU1hHZ3gxczBrU1VLRUFDRXdlQVFtSlYwejlwa3pGY1kyQjI4RWFTUUVDSUZNQ0lRTHZsdVpoSU1uTWJhZVRaS2tDQUZDWU9BSXRHWDNla2RHeFNWR0wrVmtoSXJFQ0lHQkl6QW42WG9sbytLRjVDT0xHVFdRR0NGQUNCd2FnWWJrNjA1R0JTVjZLU2NqVWlSR0NBd2VnZkFnWXRZeDdpemJIN3dOcFBINlJLRDRsbnNxcnhxM29wWFB2T2hyQjJEVDlMOGRnSkprRmNXWCtPTm1aTy9hWGZKSHgwS3JwMkpCRkVBSStCQzR1WXk2OWYyK21GR0dQUmRHdldLdmJ3dGFMKzliUmFxQzZubC9ORC84QUxmbWo0MkZiajhZQzZJQVFzQ0RBSlpGdWg5dGVpSkdIRFQvTE1hdTlHdlhKT3VmOGFrNFBQbnlramQrU3RJMUt3c1hzcndRNE0ySUFtOG9CT2FyckxzNW5pWCs2LzVQNXpVZUdYTFJpcFhYZUhQSWR4QXhDQ3BEYmxhOFJsTGc0QkI0MDNtUHJoTlhQWUY5QmRXeWo5ajZ5dWN3aVdIYmhjT2swMm1tMklyMmg1Nm4vTU5aZHVaRlB5RHZUcHh5bzNQZnR3K1d2R2xnTzNjYjNzaDQ0TzVhUE93YUQ0bGV2eGRJYU5BSFU2eVoveXZCclF4R2YxNHRGZDhiSFcyV1YwMFArWG5HSHVzaE1ycG9MTmowWjF6SlBRZFkrQ05SZFJoN3R5alZLbjhWWmprTUNpL2RGLzVCUk1DWjdwbTdUcDU4NGNtVEoyOC9XMm1LTlBYdTZYTzRQWGRhbmh5Y1p1c2kyUDEzUXFyTGF2L01scXZnV3I4djJMRHl1OWNPc0V6MXVIb1o0cVBOQVBOTlV0WHdmV09nTk9qRDRNZkcrZ0RjTHV0cjdybkF6dHZvempmd1NBL3V2djgyeHI0VE1VWEdQL213TEIrejhmL2dreXBadU1JcjQ1b2lOS29ubStLK2svQlZwcXBNSklXVXZodnArblgzL1dLRlkvQ2VpOXc5aC9zVDF0RVBnMG9KNnJ3dTYrYlpZVEpOU2JQcWVRR3I0UFEyeFhlOVBrVkRsaWdRWWlzdU4zKzZHUThjUVVpZmpVbmRPWDFRYk9BQmYzUUpCZm5iS3RzSmdpbEIxNmRmdktVc0h2emR2RnB4S2pQMnNiQ3d4WXYzM1NQaTJBdHZ2Y2dUQnNHdnYxTUdYTDU3VDl3ZjU1bzhibHVLOFFiaGhuVjhpS0ZPWWhheGRNamVNVEFvb096Z3YvekUrNS93aENmOGQzaXYvQi92ZjhMVFB2aVhmd2d2SHpDTndDMTd0czRubk1PbE5aWlFWekxiVzJhK05jbjZtTHdpZ3E4SzlvRitvZUlzekhZWXU3d3BvWm11WEZrS2RnVmRFVkJBcTZWem1pN2haaVZDOEFPNFpYOFgzUWZ6WE9ENUtxRG9QQk1WUHNHVElVTjFmNTFlaS8rVVVqQitHSE5IeDc4SkRKTk5uZzQ2dEFkZjJIbXNLVk5qUHNjdWhZclFQaWp2b1ZVZkx1R2taNWxpeWc3ajA0T053MmxYcWJ5enc2ZVB5eHRkZUJKOUxPMU9PZFBLMzhTVzFZb3ErQUw3ZnF6ZXFyNlA3N3VzcWFoQ0NjMjFVYThxcUdZcVRsd3hSRGJNMnJVanRTUzBjTGV2QTNKNnZ1UmdLMmVLRVlqUE5OSmFkdjRtWVZOYlZhd3c1bDlIMXlLWlBaUHNzbExNMjBYOTdEck9NOCtzc0YvQkdVK3J2VzIwVmREUERWM3ZLeDhRM2wyTkNZS2JBZXRtWDJvSGxSam1PUjFrSHMzT2RJS2o5ZlZSK2xyM3p5TzY4bnAxUWNlaDZUYnJWUm5zMVhIQ3MybytoMk1KakF3UElockV0cFgwdXF1T3FxUG9aWmdSUHcxc1ZveDd4NHZKakxuWVV2TjJEazZhYkxlTDdGdVZJSDkydXJvZWk1aXI0by9vV29tdktuYnN5Umk2L29TcWt0VkU4T0dxSTF2OEttaU55dS9FSHUydHg3enNCcmdUZlF4NFRlN1BWMUJNMWJzNlNOYXNZVnNqOXBIdlJmTTV1RE1VWlNFZnBNRmxQb2lvMG9WWHRCbDlUQVFjWlVPNm5hakc2NCtaMWJhTkhCL0Q3Sm54aC9mWElsalJKa1NQWTlKc1NBK3YvaEFwTy9GTm02cTlDb24rSW1FZ2xqVTdsdy9URjhPVkZkMWNaZFUwRkRuWHZGeVpUTnJWblg5ZDN5cFZIUUdLcmp4eVA5TE9iOWYxYmNPdWRBZy9idllaUVRWaGZvcjJnYnZ6V2xFdXoyemZFNTFjMlIxR2VLN0MyS3VYVWxLdTJpMGtuOHF1cFlqbmlHcEUrelZvRXlJV3pOblBPSWZHZmtXM1l6blBtMU1tcnI3UjcxS2J5d2ZleTNRL1gzWXFkcjhsT1hSNjE3eGNpdHJHOEJZSlFSNnpjdzBDWG5rUzZJcDhqVkZISTBiWHFhaCtRSE10OXFDa25id3pnWE9ITHhrTHNXZ096ek9tT1ZxeFoxUVllMlZxbHFVSVlTN0hKeG1YVWhOa2pqUWF3VlZ6aUQxaHpKVXpLeHVJNEpSaGtsUjRncDJ5TmMvL3FIMmYrODdsdzRremQvM2VYbkI5MExVUkRaR0FDNjhxRjJ4OEdsRmxjbnJYb0FYcHBwS0duRDJxQ1dZdHVoNTNIMHVZc0ZDQkZyZzlwU2pYdFQwdWJXYVMxUjlBMFhvY2ZLZ3dDeG8rUFRqMFZONHlZOW9BdGNSWTFOVk94SWVrVnNMaDNVellnemxrdEdnTzJBYVNzVXRYcWZTNm9PdTh2VWU5YlE2WlpERVJsTkM3b3NNMEJzZU5IblNkUytwQTY5QUN0M0dvUjdWcnpNZ09wV0RJaVg0ZEpYdEJlaDc4NFBSNVE0UWZPckZIT0Vaa0x1K3NzZlpYTVNmNUkzeFhJbGEwV3RUaTV5cGNzdkIxVE5kWmUyVzl5dXg3WUlLUmZ4SmRsMUd4OUVpbTBZT3VCV3Y1MHdDYlR5M2duSzdaRUVqek5vd1pXWnJjaU9Mdy9rVjRralBaQUw0V3YyTkU4eEhPSWFjR2hoYnVYWTQ2YWQ0bWJPam9Fd2FQZGVEUmVFcnVFb2IzWEdLS0xUOS9Ud1ZsNGU2bENWTFhNVjJYalljb3FHazE5QndQRkQ2SnJvdkFUTmVJUm94eDltQTRLQ1ZNWHZtc2dydVZCUFJUZzgwWldhcmdTQ0ovQ3NWNmZxK2MrUmFMT1JQZ3F3V0RvZXZxaHM2YnR3a1g5TjFzZkY5U3h3M1pVM2M2MDBLc3UwMDE0SWtORkVTNUxiL29kVXpYWFd2bXNBMGd6Sm9qNEdnbDBwVnZEdWlLMWVoRjE3cXhqR3poekhPRlU0MkNGZGZqQnZPOGFFYldRL2JvbzkrTVVuMnNaN1ljUlZPSTAzY3doV3JzYUwxYzZhYStteHJNWUZ2cnkrRng5OS9uWXBQWk5HVjhicUZkdEV0bEo3bU82VnExR3J0RzdLZ0RnR2hySXJsTFRmeG5idlMyTjlJNjQxbW5kMTNVZW14MHhUa1dhTElXcGh5UnBGdjBST083N2Zwc0ZNbzhscGxRQ0xSVzF0aVUwL2N3VFZkTWZjRjR0bHpwa3BZNHBzZEVPdWlvUEF2UjlFbGtPWlZuMHdvSENWbjMxci8vSWVGKytETUpObCsvZEoyM1R1dnlOY2w0dTM1Y1Z4NGZYWFZOYS9TaTY2em5hSmdFdklSODRhTEJXc0p6aUFlUDhiWnI0Vk9vV2p0eGsyTWhxOFlRaFVmeXdjWkdUT29RQVJQR05CRktqVjN3eGRHMWNjVm8raVNLdE8xN2VTYWhzSHhFL3d2TmhNZ28rUHFsNndtTFFxajhuaDIvaFZTNjZoNjEwWXV1RTRuOVo2NGZvNHNlQzN6b05BNUJja3ZGa0c0S0hZd1hWcklvTHpuTGU2QXYyOG1Tc0pmTXJESGtoVkk5RGtLTGNLcFgydUhGbDNXTkVYbDBqRmFrVjZhdExITUxzZHFpcDJpUnlySTVHNGlDajk3bmIwMHkyYkZvdFhYYnFDaHJzWFF6aVhUbEl5d05US01YWGJFNHVSZFRMZ0lPZnhDeFBTN1B3QzFZc1JXOTErVEdPZmRWcDQxRXZiTG1zbzU0OXR0akJpbEwxdWJRZHZ3cFoxZmJwK1NxWGJoSzlsVXYvT3pLaDdKazd1ZkQ5VURYdXRXYmRsQlJWdUtBSk5KMUVmSjY4TnpvUmRkQXZEMGJWNCtRWFNpQ1cvZEdwZ1VpNFZKYS9Lamk1a3RnNjFhbTNGRzVyTlY0dnVXU3ZRcW5aVkV3b0tsWTgrR2lFWk9tWVJoeGkreC92aTF5UDZjclY4KzhjSjdtZTNvS2NZSHJsNjcybTFSVjFKUm1ISkdxV3ZodzU2NmNybm9XMU9oSjE1SlZMYzE4K0NnY0xuOHRIY2EyNisvZWMvQUx3cmpmclI0OHo3UXl1MyttZ2VXanZXenlmSnQxeHhEbDI5QWJ4djFBdkx3Tk9EVVFUWDByNFd2VXBsczNOVDdqdHU0M20vZW0vemk3a3EyVkdUMWRmK1QwaStUVGY4cUhLMmUrd1N3RS9IN3pIQ0gvYmRuY3grSFAxRGVUS0NYUnRZMEVhMHB4b3lkZFY2MnVYS1hqVjNVUWNjc003T0gvSm1TdTNLdDZ5T2FKeHNtR2loamlMN0N1OU9SSkxXVDVDM01QTlRNbTQvVGNNbVNYY1o4MXJaRXMzY3NYYWZTVFNoY2RkaXcvdEdXNkZTUERwM1BJMzJFRW1ONUcxaEw0K1lCbnNtbXFHNkovRWpWSXJCUmdKZnZBbUMvS0xQM21aVExIS2dKL3BzWmlvbGF3ZWluMHVyM3JMaExzS2JGR1Q3cTJZeWVtVk5xZ0xoL2dIVHFndDBlbWtQOEh1Qzh4d1Y3YkxMVDRPS0R4a3FYZzdZZFp5ZUl2ekQyMjFMc0VVb0t2czVteUxXdVdhY2IwNGVkZDJrb2Y2UWVaRk9pWXpsQTlYM2t0VHEwbmZFdmpoTDNkWlNSenZYNCtsSzI2N3FZWjZIM3BEVUdIMTZBNS9zbittWW96cVBTYmw4VUF0SFNhYmtIQW42bTliQ2QxM0x3UzZuTHB5cXVsenFZUlMrenN1K0l3dDdGVXFkTUpEOWNNcDNlRjdGanYzZGZoazFFZmhnRzRmR0xUSzNHb3dCYTNjUTQ0VFBLVzYxbkpMVXlpOXA0dnpOa3BsKzAya28rTlYyeUpBZHp4UmNIbUFQUU1Rb1cxRm15OTdGcm5zNkdHVTd0Vmx1M01TeHQrUGh3ZFhTZHdmdU1ZSDZDVnhEcnN0a0VTWGhpL2VhcVlhVmV3eElqbTdYenE5TkdoSzY5Wkd6cDlveWRkajNzYkE2a0FZSEszbzlWbDhneCsyM1doMitRNVY5aG1aMTBjeWt3RmhJdTY3aGtveGl2ZHdKVDdtZzE2M1ZpOVMwbVZNMnJiUDgzSnFXVXc0dVlycjliTHJ2Tml0TnBKYUNITG1kc2JQeCtPanE3SHNQeUttaG5NWG01eXhOQUxHbjFpUDNTZHRiWkNGMUhSRXZzL25yRkRWM3kzcFJzWjB1aEoxMG52ekpncmxtY0RrUDNqOGk3cmYxaDhJYXRzTnJuVmx3dTVGbnNEcngyZ2ttKzRrYWJxQXloRmp4Zm03T1F0NDl5MWdMaTdaUXNNNG00MWYwRUdrYTFYeDZ6UmZWcWZXcnRKZEVhci9pNWpPcjFxbWpsaERVWm9Nc09DSTN6ZnRiWWhHdnJOOG5saEFYcTFOZE1VZjJ0aVNpVDVqMW5EejIzVU5MMHY0MHZpMExYTW1LemNRcllScXhIdVlCaUxLajZ0SW96MzFIQTVEeUsyQnowZktZYXJQcnVzeTRmNURidm5TN1EraXVESDVIcThNQmNKQzEvVjNIYWR3ZDJBR3lDUlNhbEhRK3pZTk5UYjZXZzN3WDdaVlZidlZhdE9ha3VPWlI0TEI5akc5L1E2cUsyYld0dFFQWTBkMGFYZUYwN3RZTTRwSzcvY2xVcWxYclNHMWFqODFxa0pKYVd2TmwzL0F1eHE2amhldFoyZXlLVXJEdmdhOGxGSzRXc2hjemlySFhKRTRyZTdnOTUyblFySHZxdHltN0xTQTVDNFJhRGJ1K09oS1NGb2E2T0srRVFrSDhwdmQ2SWdqNllZY2JSUlJ0KzNhdFFJUHVXRDYvamI3RnJZa0dZd0ZVMi9aKzJ4ZkZSMExmQ2pBRlBSWThVVGZzQ3l1dUlTeFlwTnVkazJrQXZFOG16cWFOU2k2MmRoMEw2aHU5R1Ryb0J4eTBoZ2U4T0RpSjVtMFphejdnYSs3Ym9hdG9PN1RJellVS1o4N1VlQUptekxNckhYRFI5V2ZPejkzSDN3SjdGeWxwUHN2YlNIOFdPMDdRcUxXdEVZcW13c0xpNUxqcFc4dXhOQnliZkY2QzgrUm5HWDRqRkhSdGNKWGlaamJRL2cyMDFsS1dWU0dMZmJDS2xibzRZYWFrdFB1c3FxOWI0Zi8zMEkvNHFoS2tQdmlsSEJpcG5DOHZNYXhWM1RDdTF4WTY1TUIrLzk5UDIzZjNlUEJMMmlLeXRTb2lWYmx0KzBSaCs5RXZQNE40R3ZtMWtFbFF6ZmRvM2N3Y2RVK0VDdlk3VHRpbksxOWRKTDBaeDh0ZFpGbWF2K3ZzZnFXTkxCV2ZaT0tJNk1ydUx0eE8xb1FJNXFiOU8xbHRadHBSVnQxUm8xUUUxdnVrSW1kRjI3YWpWNjlxNWc1SDZ5TmF0UzdVYXlSQ3dHUUJoemJaNCtYK2NjVXppdG1uQVVSa1QrVERNbWt4N0EzOE01V0VtWHNXTERVUVUzM3ZxWk1FdW8zeHNzVHFhMGxQMXF6NXYrdUo2ZUx4amRZRUVPdlJJV1lzd0piNi84U3Q0cDBwSFJkWkdUc3haTmNkQlcycDA5QnNvYnZjcmdqYmNYemV0NHFEMTdWOGdJZDllL2J0b3FHejNwaXBGaXl0Q1NWeWs0dnNLVDFkbHZ1L0tmZzdLYnNValBmUGtkMFUyeVQzOWx3ZDRMRlFrY0ZSTm45LzE2dmdLOCs2US95aGU2akRMN3dsUERFak5QU0dVTXpSSWtqako0VGxmZlk1cTQyT3VXSjNRd09mRFZ3UlBaYXppbWJFWWpyZ3QyWkhTdG4wS2VyV2ozQnVPbkRXMEY5eFFQTzNsdFdmVzdqWnJqbWFOSFdmRzU2M3AwYS9zYVdlaWFtUHBRQnhIZGJkZXFzd1FYR2JqdEcyRTk2L0pPSkNGOG9tR0VEK09BcTA0VVhrTzFWdEoyRTZIaTM1REk4Rlo2cUwrVzczQ0lUT1hOUEY0Y1hZUnROQ0g2WnVTZTZIc3ZkVDBzeGxlcFpkWHpUenl4ZEpQUzB0c2xhdmxIRWtkRzE4NCs3S2xHTTNCMHB1ZHRDOXVwL1pZdGE5NlZyRFVyUE5URU9paFNEWld1bU5JSWQ0ZHBZTG9mbmNZRlV5SVpoWlpuZHdEZHViSFFJZlNjMkpmcWZHdUxqb3BLOHNENzdTaUhQVkV3alhUOExVL0w0SWpFYjMyWmU0cWpFNjdHbWxJZE5RcFBReDExTFVXTFRzSGNqakFGa3dPbmNvdmdSU2FqeFUzcXY1OW03QTArZ1NPajY5dWI0aWhFdU1mQXY4enF6Z0dMVmRaZDhkbllJOHltSy9SNmh4RmFTZjkwM2RDNjRoNytTVEU0OVNqakFyR1F0cjAybjdLVTFmQ1FxNGJNVm1JNlJZQ3ZpWGRVSkErOGcrRFBvUG41ZnMyeDBLcC84QmVUc3dKOG1hY1VKeWd4VC9rdGpVZDZVMk5Oa1Y4aFBvWUpscG1YbVBacmQvSUZ2RDJQMGUvN1hOS1pzaU9qSzdmS2JPL3I4WlVsVlBYdWYxM3ltSjhlMUxCNlZ6UnNIdndNRGYzU3RaSTRXQldaTkpBLzNKYVJZN3AzMTE1VHdKeSttWkNnYm5mRFFxcUJ2SHdOT1NLQnhMcXJ5VkhSU3R0MC93QlUveHRYZ2ZjZUt5dDZKdWNWOEFiNk1rOHBUbER4OGR1citVZ0MxWmZBNDk4SUYyczBQaG91QXlmWGVUNnRCazZ5NS9uTGNLUjBOZHY3bG1keFlyb0V3djZTMzlEazBMSlZWZmhpanpVL2N4TU9tYTQ0MU1qZHBwdHQ0cjJ6N1pweXlMSDRvM0VsVmVTMUVRL21JY3V4OFF2bXM3YUttUi93SjVXaC9PRHc5NllKcURnMHcwbHRoaEx4WEgyWnB4U0hiNUtkOHFnWlZaRDZuWTNqbnFLM1BKVWJkaTZqQ0RHM0ZTdkFjeUh6YlV1eFlCNXdwSFExMjN0akdxc05LLzR4RFBVdHFXa0puOGVtSzkrZDh3MUY1eFdCK3FWcjFXb2RZZ2JKTnlGVEd3dzdUY1ZlUjdhUFZOcWlucnNTaW52ZUU0NmdXcDQrM3F1Qy81eG9scVBEYUlhOWd6K3YwdFRBRWpRbEZJYy8yTFhVeEVjYnFRNzJ0ejFOY3pXMm9DQnNXMFlSWFBkU2o5WDhseUVmV3ZKRUhDMWRsNlAyM3Jkc09kL0FOK0krNDdNeU5jeW1LMitFZlF1SXh4OElsZVNscTh2OUhvTmhuRCtEVzArMTJJeUV2ZGFLdlgxR3k1VDA1bnBkUEFBQUlBQkpSRUZVK3V2SWJNc2J3NWZoL1JIWlEvbExyNi8wMWh0TEI1K0E3RmtoaDcxSktRNXZFMVlPcTNjWTZjTFg1bHJ4MnBhdzdZcjFtczJNaHZ5MlV5dFVzbktlY1p0S2ROaHJMYXBhYUN0ajNTanExNGNPb2RxZXUyTDEyVHY3MDUrNXpFblhxVGhkTjFLTnhKSjMwc3ZKdm5RQVFqVWtJcm9XeDhXWFRJVmh2cTlYNzFSWWVQV05YeHlSbnJmOGt4SmY3TW5YWlJTNXA2cE1BaW5GNFcxQ001T1NJeExhbFYvWXFzUTMyVEU1aUZWdWJwVDdOZkVVUTFmOWJkT1IwclVWUFZYUG9ZZ25KeXhlcHhSS1JOa3J3NkozVzRtbjJiNFVocVhTRlJZNit5TEg4dEtWZCs4dmorZWZGSUs1OW9ZWjEwb2ZhNXVpd3YvWjkyekZ3a1FBbXZna0l2c1RlRU5uR2pqMDBmUkdSWUcxR0dwUlhFNWZZbkg0eEMvZWorWFVQbER4WmRIWlQzdVlhYTdSbUZtYWI5Mlo0UjQvR0c4TnVrS1JJNldyMGQ1dlIrTmlaU3oyY1hxMjQwcld2RHAwaFdiZkhLZTJFYVpKcGVzdWVrWlROemFjSFByaVZOTzZMZUhlb1lKdnVXSEo5KzYyYXpWcDdwYXN3aCtEQjU1NlhNU2ZLaFk2WDhJOGFpOFdiQVcwZWl6R1c4S0h2YW4xV0VJOHJONURwNXNWN2F6OGJ5dkJRT0M4SFNMdjNJLy8rMlJVR0REMXNPRW82V3EyOStCRlUxa21yK2htY25SS1JscjdWQk4vQmQ3WFFlMnVoMGxTNmJvYWE4SVgzYkZPd3FQUUJrRi9ua08vMi9ac0JCanRhRlY5ZWRERVc2UHN3eW9USHh2ZVNrMWRUUmo4cFNiS0c0bjZtd2ZYdk9yenk4dCtkZG56dkpZVEhtTFIweE1uNVlzZGhyVjRYTm11TFhHQkFZYVk3WDNWN2NYNHp6VHNIeXF6anQyTDhLVlp6emlpc1JNcVQ2VnJHNGx0STlwT0hRR2ZQREFhYVdyNXlyRnF0MXZBYU05UTFvY1hUZnhHSDhtanBPSlQvcHZSZmN3SFNId05aRXl1dndDMENZLzJwMkhRcVJsdnljTVpyS1ViVmNEL0VLMlBPbGxKWWpmK0FmVlIwdFd3QUJNOGQyTFY4dmIrc1dMRUEyb09PMUVrZHdETEQxUXBBRlBwaXFHcE13YlpkZW9JTE4rUDJ4Q0Y0RlJTamwwY2ZMbEt6Y2orVk9nQVJzSDBQZDBYTDBVYXBXL21YWGZ1dUdHcDk4djZjT1BFbWs5RjRZOU92eWlXaTFkanJ4ZDAwTVQ0QjMrQS9abTNkYjlMSVc4b3o1NjVTc1RiaEZQcWhsK25QMzNmN2RnRm1mNXc1YzZQOC91SjUxVHUvR2Z1a2U1M25sTTU4OHVlbkZYOEFLNWlUYmdhcjJ2SmEvSWRwM0tsR0dIMmJaSFlVZElWeTB2clljN2dES2ZCekM5RmxoZ1QyeWd3aTYvdERKTGFlTEN4NXpTaGx5bFM2Y29QV1d4Wm1aYXRPZ0tUbVZoaHNHVE1tM3VqUXByQmlmNUt5TzU1YVNBK0d6MWR1WHlQVXlUVSs4Ymw4a0V6VVlzbm9xYkhUY3VYUkxTallyZjd6bGd1SGpVaTZDc3dSMGgrUVFkTmpHZEV5QlBPTjlpZHo2bDQ3TTZUdVRTS3R3bHIwaXYvWS9RQTZDYXFsMitwOFBPMWM1V1gzY0tpei92K0ZMdDhkNWxkM2hLeTg5MHpKMjgveXdHZWdPOWNaVTlxNlBkL0cvc3k4MDVmSVhRbWJMdnlsMlIzc21icWJ2REpkRWRKMStXb1l3cEhhbFBHZW5lKzE4Nk1VaTg3SFRXdlBkYUQ1YkxxZ3lqeTAycnJSbkxMeXl2RnZobFNjRlZCWXNzVWNQeUZuQXRtZUNweXRCMis5b2JDTkxEVFdYUFBHejc1SWJ6UHNlNWtsbnJiMHVPRWNOcHVxNWp0Ym1FUmZTdFZSUlQ1ZzhBbDhRVWRUaHd2QTRvbC9sMkptZkxMSTBYU2x5OXprWVkvMVJWVHorUlpUdGNXdmltRjNaKzlvUEVyL0ZOZ2FyRnlUaHgzZnBOcUNwRldMa3BnMnd6T2E2eXBPNXVmbjJlYXRMdDhrUkFEZ2F0K0RaUFp4L05RNGt6RHVNcWpwR3M5cXVsdDJSN3IzUlg3K0wrL3JFbWg5cmVhSUZYMXJIelU5YkpMYXU4YVZKd1ozNXo3YkZFM21rbVdJQndqQ0Q1c3lPekFmaW0vTFMvQTZNb1NQMTN0UEt2R1BpcWpaMHJ1eWFqd05oRVlyUTVVZDBTQXJZSy9PN3Z0cVdzZWhUd283UVdkWlREQW02ekd2cHVIM3hTYkhlVE1uQ3ZoYlVLVGV5Slhady9OQ2w2MDJNWnhnVTFaTmE1dDJkeVZ3aGJ1Z3orSDV3bytZNURDMk90L0lsTFJsNC8vQ1BPaTI2NUNJNTdwNDM3RlJjODB6UytaOENIZm82UnJSN2YzZkhPMENUczc1N1d4eVUyU0ZrbndISGNQSGJaanV6R2c4TDVLblU3WFZXYzk5Wml6cndQUytLdG1xTDRVTlVrcXc5UXIxSjBTQXFVTDRnSmcxcmluYXM5eUptQkc4ay9MaXBUNlg0ZTlDbjdNb2NOWjFZenNjbXdWa3p4eU9VZlR3bC9RK1NXZGgrV3A2YXlzWVBSNjRsdjJFMnAycm1Oelo0NlV5N0UxZS9Sc0QrMnVjS1Z0OW5CcmozdHFxa0F0MmR4aGFzR0Q0ZkREYnp2OFdqZSsralp6L3pmem9FTTcvaTdPcXR1R1FCdWU2YVVFcFIxN2hKQWd4WVA5ZkNqckdZNU1HaS9DL1AwZmQ3Vis5ajBDSENQWUkvU3pkMjhaQXR4YmpsYUR3NGxxZFZPTCtNM1QwU21lV2JjNjhCSFBCVHZCWEZUNzArbUtSdHhhQTl0MWVqbVF4aVd3bVJQNlhqZUJHUjMzWTl0cGpZZk9od2FXdy9GYmgrMmJ3c2NmNVdkaStFcGtUNGZ5OFpNZHFET2grSlFjbWRrcTZxK0J6RFo3cEtjNkxmQUJvT28rZGhtSkpzWTcrT3ZJbmJudFdBT1hQM054QXRydHBCZllnU3ppTWRhVnFDOHI5QnNTUml3MGhDWmprbklIdDdabEtJSGQrN0lFaC96Zk9Baks3aWthcUVJZE9wK2c4VmhteFAxOGNPa2FMOEp1ckZDb2sxYVZobWx4SWRRYVYwaFhJUDZoQTQ1dnVMd2lpdVkzTDZIVVZqRE1XYklDZU4vdGtLWWVqU1BUNllxQmpLbXR5Tlp0MVQxSVU0dUI1U1IzYnpGNDN1ZGhJYWR3Q0dPRDM2TFZsbGR4ZzFzOC8yMjNVR0djYzlsR0NSQ0VOZTZRUTZzYlFzSlNVYWp3YXF3N0l5SFE2eDllME5ueHlsVDlneiswbWp3VDFBMm5TaDhtODZBVWU2YjhBKzl5aWdNUU40UmxlbDdVQ3R1cXFOMitWelN6ODJxMERQR0VIVCtoS051L0d2c2Izek5aVGdKS2pIbTJzdW4yODZGc1QrRGpSZUFoVGh0Y1I1Q2RhWUxRcG1VWmhCUnA0T1ZBeTVtSEZQS2JaeWxJdU1Hd1QxU0xLQm85aTMyWXVtajB0anh5STVKMWZhM29DU1BxdUtzYWd6SlZDRGNsN3FNUnFDZlNHNFNsNkIwZTBWbm4vM2tWa3FEVjdETU9mQmpTVVNNOUlabjRiMVZPQlhZcllZMVZId20zVkN5SVRpYm5nY2U1dTVaOHVlTEplUWQvOWRDQVZiZEtIeXJ6U3J4TkFGM1hoRUVZb3V3SWozNmQ2VjdabDJKQWR6NDBHWThHM251TnpwWHZBamdOU1NpYjlYS01mY0orVERKaExWWWhJNFYxbDB4UmxPM3o4d0V0NDQ0aEZ5OENEN2xpU01CYlFwQkNRY1lrQ0sxYjZYUmpLR3JsSmNTSjd6ZUZNbjd6TEFWSk4zYUx3NlU2VGxOOHIvRll1SzBiU2FyRTc0SVlyVlBKSFNFRTdUVFM1TjNGRWF1YU96Qm11dHNVSmdFamNVWHZhcTVXRlBnbVJNVUJYUXJHL3JkRXQxcGt6d3dmMjVObEVXd1Z4ekM0NWhQazlWankvQUVZM1hnQnJZWlZlZkpneFZaNm1NejVxRWQycFpFdWdMVXA3dkJJbThJVHpWVi9TSW8xSXN0cUdCOFhxdXN5blAvSG1GV2xpd0p6K2JBU2JmVFdPbWxMUFVRZEVua3c1TmlQN2xKOGZqN0E0Z3RHb25nUmVJZ3pXd1BGSXhSRTRnUWhVU2UwZGoxa0VWLzlXa2Q0ZFVWSEpreXRvL2dVWHlPR0daKzlmbjJVWXByeG1Wcm9ZSWEzTXdpak1jbUpldFRabUdidzZKVFNGTHNpcmRwSmlNVWxCR0Jhc0krb2V0aEVUS24yM3Y3dVdQSDFSc2Vib0VrRjc0cTJkUFloYUY1Q1dLRzZKbUpzRlJPYlBDcHIxVkdxL2RjYUFMMGpIZ1VXNzhkRGVjZ2hNaStpVk93cUw0L2hRTmM5Y1F1Nnl1Q0lycUZZS2FxbzNKNHBzeWFqVDdiN0trTjFOaTk2YkdlWUtkSWxicnZ5MkYxMjBCUlNQZjU1NllxZjdXVVBHaWpFaThCRG5ONjFnYUR6Vm00SlFsY3RvVVdqWmFod0hpeVllcjNtV2VrVGJ6cHhCdUczTkxvck9rSEx6R2dWMWo5bUZGbExoUjZzSVliY0NZcFZvMWNPbzB0eEJtc05nTUhzRTNWNG1rZnNOY3lwc2Z1aW12Q1h0QkVxc2E2VEtpRGh1czNBN2FDMGdZb0JqSU8zR21WM1ZLREgya3BRa2pYNGlWLzRSbDRiR0x2NzFuOXlNTVhqZGtJc3Baa3puLythTDN6akwxWkVKZ2QzMy9xSnY0KzBnSzR5Qi8wRkRwdXV4Yi82Y2ZPemtpMzJZTU5vdGdQZXBsdDlWYVE1cXcvTmMxdzB2U2JQVkhxK01TRlV1bG9LLzNMeGxuZHBGRlprdHZFaThCQm4zWVpYK0ZCZXBoSWw5d2pKZGJ0UUptZ2J0V09YRDhOMlRmQmM4MVNxRE5lNlozemF3cnhrTTB6N0tjMndoWXUzbEdFODR1NisrTTlKbXBIMGdvZ3JkSFRDU0xiaUZEMkt3YktqVVVJelBNMy9aTXlGbjFKK1ZTaUNMUW5wcThiS3RDd1hPOU4waWJnNS9tdFViOFlXeWdLK1NGRDRFYk9MYzFSZ0Z0OVRXdzhCbEZpN0ZWdTJwZ1lLZHJDNnk1eTVHUERwVE16aGF6cGRuOEsvb2FLMnlYaXVhRXk3VFpVOXZ6YndFL05yWmtCdS82NXFYYzJVYUlqU0dtMTBCMWQrd0pUMysxMCs0TjV3NThORThTS1UzSzRVKzExdWZ4dkVoVGc0eHJ3ZTZzSHlKV1hhRkVyMDF4WjRybmxLTXNOMVVkVnhRM1llQmVsK2xPZjNsRytTbS9VOGNwbEZMbkhGYUtMQ3hMZjlaMzZmMmNNRHJnSGpIMTBJZm04NkRMZWNOc3VNVGZBWEd1eDAxTnZ2cWdsYWZLYTJHdXR2RXpTK2lYV3JZaXJ3YkhaUXNUNk81cWlJYlZnbktFd0ozbVduejV3N2VmTDJjNmNyN3UrRk56em9HWm95WjQ1OXV0UG5rTWZKaytmT25hMlliVUFxWFhFTzYzVmYrV3NOYytCVmRoN1BYUG4xeSt1R1NmbTkzbzFyTkVTWDBsUjlDblh3dTM3aTE5SkVFT2Z5b2NCT0N4Q0F3KzFuSytmRDFQRWlUSlJmN0dxT2Y3dlpJL1JIQjUrMGg1SjFveWtxbE5sWmMzWVpOOC9OTStVZTIrWHhXTTVYZG5EM2ZmZVlHMHJMT0RJcTNibEtJbDNGTDhDKzdDSytwMzk1TDZaM3pxd3ZUbXhOZGN0T2VQcnR6RGV4ZjlkVUlvMXdyb1VWNGxNcUxMeVdZeUdPZ0w3OUQ3Y2RmRnpjZkZYbFpkTGpWN0djVGlpdDczQWVGaHNmV0hvR2tIa2FYWDlhZmlXNVpJSzI3UFN1c0dkeDNUSXE3ODJrTXlrVTZURWNVR3p5NitOODFlNmxmcGtZWFJQRStpNkNvZGVtNjhMcC9TaHUrbDNkYjQ3dTRITmJFeXN5L1diR040TUlDbjhVUXBMd1Via1VuYytvaXFTWHQrSXlzMDRMYlVpZzR6WG1pVVpFRHErWTAwTWVOZkdDblN4Y2s3SUQ4OTI1S21xcGc3Wjh1bVBTeU94U0xOQUlHRURtS1hURkFGQXNOVnAwM1kwdmlTMm5FOHV3MStzdG50MkxoeTh6dGhNUE5VSjB6UlMxYk11SU1ieVorZEJuRWFJc0MzbHFiMmJ6SXYzYVYvRXZtVHpsSDg2eTdvdStYSXRsOXhTZWVVL2xybTlZOGlSWVZxUFZlQnhlS042SWgrWUxVWXNDYUtHMzdKU29tMDA3SlBlZHE2S1VUcWpjK3EwRUdCK3NXd0hPelFBeVQ2RnJJMnhWVGJwT3MxWnNhTlMrNEpnMWdOdWFXckJPMWhYT3F6bGRrN1lTTXZOaFlFV1l0NWVha3Ezbk1abk44Nmp4TFFsNXhBWVJ0T3YyZXBIUy9MczRVZHJRQnhDMmhCZmpOaWRTbndCd3duUGN1aW9xUFFadE9WVEhSYkZFbVVxRkFXU2VURmZFN0FpVFRMcTJyMklSNkx4dGFVMksyWUY5M3JXeXJPQVYzdmREd3Yzd1p4Snl5OHlIZ1JWaE9yNVNrMkFiZ2pPYjUxR3hQTXh1d3M2dkdtM0syaEY4NGZGeEp5ajNMVWFRVFpHb0U1dFcxdmw2MnZUMzUxWnBKSEJVSUxNZEkzYkFYbEJqUDBYbElESlBwdXV5NmtZYm1Mdk9id2s3aXBVTDJOdHllcENXakVzeE5IOVVwZjg1RVRMTnpJZUJGZUdFMnIvTVV1VE01bm1VVFhxV2hqMWlBd2dxcW5vUTE0VkdkVE1lbWk4RUlNZ0VGWE9KUkFTSmZvSWYweis4YzFTZy85czd2TEplS1RHVFgwbVJHVVRteVhUdHFCVUdUdGNwQ1JwL2pVLzN1c3F5aXZJTTdvcFpRUElxWnZac012TmhZRVU0ZGltN2RkbGJFNC9PRkJKNXBQc0pPcEc0bTRKZG5EeURpUVFqUXJxaWE1TFVuNzRZTWdwUDcwSVF0RGNTMG1VSmRsVTRoeWF5cU1nalkvU3VrNklRUDJhdVVnOGk4MlM2bHRTcU5EOG1JZWxhcUo2SDlTWEZZMW1TZVhzeE5FL3hFbVZSc2t1Smtka2pzdEoxY0VWb3IyZTNyaSs2QnExaDloTm1JWmJkeVkrT3JQZVlxMm5CVkU5RDd1b2VWNE0yZmJnSkJFYWRMNjJrcGs2UGRGVzRVOW4wMUxsamphT2g1WDJrUmpYZWlwUU1Jdk5rdXBiREJVSFUrVk9CSEpKTWlYMWhuRUExakFoTzVOOG5qNHJnK3VhcTRnZkFGZ2RTRVRMellYQkZhSzI0SlVxNXo5cWFlRlVrczhncmZ2akFUbEs3TUloZEhKaTFLdlYzd2xWVmFBMlhuQmE0Unh6VFA3VHhyb3Jrbi9mNFk3NWs2WEV2VzhxUmVWdXZrejlKckg2Mk9YVzBTODVjaS9UMGFMcnFONTZQaFhPVlVqZ2VoY1NsNE5nRDBGU3NpcGtaVG5XYkN3dzNEYUlmVkhhVzVjTERhdUppcnhMTWRNM0toNEVWb1pCclZKM1ZQRzlaRjZ5SDRCVVpTR0RCZHlCRGFNWXVqbm1rOHJDNUhSUExxUlBzc2lRR1J0amhxRmdjejVqdHF6TndWZGd2L1pnV2U1Z3FnM1pNcVI1K3ZhQXdYM2s1RjhXdXB6R25TODY4aDFvakd2MzFucmhGbnltREY4TzNVZmpiTjl4dHQ5RE5MbkpPcm9ZajFCcnJObm1NZEsxOTVldi95cC9WRHRSVTdQSDJvUlZubkZ3TnJBZ252cGpIMUw3b0d1VDRnR3NlbzF6WmhjUmRWK3ppTkYzcGhQdG43Q1JFSUhoYVRMcHFhc2lOOFd0NGJIbWVMemZ1cmllbjdCM2pxa2plK2F3bThYV3JkeTVhb2xDVlc0ckYwcFVsSGxoalpsdVhuTGxXME1OVGVOb3FZKzkrQXNZY1QwTkw4SHp1K2JJV1k1K0hKd0IvVjNDWlB6T0xCWVhWdGVBdlB4ZFcvbUlKaDl6K1J0aUQrR0xTcGlmaWNqdHNsZk5NY1FSeExYZGFYd0x6Tko0dlhvWU5yZ2piZHlUbkVvL0J1SytQdnFOdVRVbmkyZ2NVc2kxcWdVZFpubDJjVHRyajdIU2J3VzlIaTFZZ3pyck1ydEVOVHJqSGNqMkdwQVU1S2lxcVVZaWxtZjhadVNuby92OU1UREl0NEVuaXMwanZiWFEzaFJTcXM3R3drNXg1bWtvemp0TkRNR1JSZXZhQ3R2UXNnYmhWL29PTHhkSnJVS3R1WlUzZThjbXozdUF4bk9ybHAvcW9jYVlwd3MvTmFQSld5U2hsVENoSEFJcVFRWHB3UlNpdlpNaE9pMkJsWDh3dWRFQXVqL3B0M0Z5Sjhndjd2c3dqdExUVW9MVzN6a0pxeXpMQkRwN0xyalNWbXQ4Ky9UODJwUC9KN0lYc1cxWHc0YTYyaWtIc2ZLYmJzY3RlOW8zNDF1K0tsQ3ErNjlYbnRQd0FNai9lUFhQWDdXZlJmaTV5ejJtTWk5djhJOEtueFdMZFhJVWQzRko1VEF6QjN4RE1kYzlCRWpRT3BvU3NvbXZydkRhb2Z3L28ra1h4VnZJNyt0ZkZOWlRVQ0Q5VjNjQ0tjQUtqdHh3T0U1RUhjb2k3b2xVOG1xRzdDZDlyMkR4WHREV1pkM0VXekZlazR5YmZmTnZCTC9PS3Bkeng5ZEQzSjZmL3N3bzc3TlZTTVlpZHozUkRDczg4MjczckQ0ekMzS1hsaDU3NS9EK2VQZmhWWkQzL0R4L1ZtYnFlaVVHT2hma3htWDArUng1VVJXeW5iMXpMd2d5dUNLdTV4c0xCY245ai91MXcxY0Y5SkFPOVgwN3FHT3M1ak4vT1RHeGgrN0ZCOWdBbUd2cWRiak53dVA2WGFmVWp5RnpuclQxMWM1RlloeDdXVTJSWGw0SWZaQWRiaDFYZ3BBUDllek5vWUVXWXlja2Y5UDFOeCtBOHQ5YjNYZklrekNQYlNHQWFobmJaSnl6VmZJT0k3ZjA4RnVhUTFWOE56SkdtUDlFaUJvdWhPL3JNVmM3RzlRZWJ4azMvM3I5Z0IvZ1UrMHIvaXFRR3pMOTdyMVVNckFqVDM1SExidXlRcVJsRnJuUmFlRGM3WVhTYW5KNFRZcGZGa3lqUExzNkp4QVVlajJJRXJXNzV3L3NPcmZXelZuQ28zQ2VpeFltanoveFFGdWRMOUIvOVA5K1ZUMGtralo4bjcrdUllS1JwOEQ1MHJpdDlhVjBZMFBwNWloRzdTYlB4Y3ZaZEhHdy9icVprRVk5cXhJUDZEWmtXWDF0cnNJMStGZVZNUDNzSkNVYVZlVTVieDBDOEFFNDhmd3pzaUp0UWVEYmp2eUxXbCt0RVE2Mis5Q1Ftbms1cUVMQktsbmtXaERXV3hBeDhFVE5ES0ZXTmI1bGhpMlBMbCtFUXcrcjdVRDZxeklkWXJtR3BucW5pS3pFL09penRoOVpiL1BFR1k2ODhkUEl3NFZ5ZjNYUFAvTnRKYTM2ZDdMczQ4VmU0ZW1RN2xXK20yME9iakM3elpXeDlMRGxUa29FSWxiRlNHNHdxODRHVTRJaVZ6UDhQMXRmMjVuRE1SU1BDbnRlLzZscm1MdTVRZVJYWWpqOGRPc3pNWFdDZWpsamsxa3JJMUc5S3RsRHhGYVZPempsME50VnBVaWZFUXQySU1rOHpiSXpqdnZSUGIvbVdjVFB2SCsvK3ZiMEIyRlQ4MkFDVUpLc29KT0dXWXhkbkhpM1RSbklXOFppNXBPbHlYRFI3U0JrTno4UkEzcUhPbmlja2Q4OXo4UkZsbnN0U0VyNStFY2l6aTROaGMxSWY3UWVvdnVFUDd5c1VCeDBMTGI2bmY2UnVSaDRQR1UzbVIxcFN5bXlNRWNCNmU5WjNjZDRNdGlaL3B0aFh4ai9oMDcxQnUxbDJwWkgwVzYyRHppdlNOL2NPNFI5TjVwRVo1THV4RWNpK2l5UFlPb3pSYmQ0SDhDUFZPeitmTjgzQTVFZWErY0JLUVlxdVRRU3dlQlR0L3FjVm9TQy9CdDNmWVpDMERDaU9FQ0FFZWlDQTZlaEtEeEVSL2NRR0h3bGJYMVRJa294a0NBRkNZR0FJWk56RithMlBTTElPNWpzK0E3T2VGQkVDTnhRQ0dYWnhDbi8xcDJWRlZ2VzVraHNLSXlvc0lUQWVDQlFyclB2L0pybS8rcGszZnMybjc3c3RvaXA4NlMrN2prZWh5QXBDNFBwRUFMczQrWnc0MlhOOVlrR2xJZ1RHSEFGamxKdU50a000QWp6bUVKRjVoTUNZSUlCZG5KeHViVXdzSnpNSWdSc09nVTVPc2g3OVMyczMzQ09oQWhNQ0NRand6d0RuYys3UFFDWW9wbUJDZ0JBWU5BTEwrYmdLNmN4djJnM2FWTkpIQ056b0NOeWJtNjZQM3VpUVVma0pBVUtBRUNBRUNBRkNnQkFnQkFnQlFvQVFJQVFJQVVLQUVDQUVDQUZDZ0JBZ0JBZ0JRb0FRSUFRSUFVS0FFQ0FFQ0FGQ2dCQWdCQWdCUW9BUUlBUUlBVUtBRUNBRUNBRkNnQkFnQkFnQlFvQVFJQVFJQVVLQUVDQUVDQUZDZ0JBZ0JBZ0JRb0FRSUFRSUFVS0FFQ0FFQ0FGQ2dCQWdCQWdCUW9BUUlBUUlBVUtBRUNBRUNBRkNnQkFnQkFpQkd3ZUJQNyt5bEtHd1Q4cjJLK3NaTkpFSUlVQUlIQmFCSW1NWmZ2cG1wa3EvUG5kWWhDa2RJVEF3QkU0d2RyNm5zdWtHSTdyMlJJa0VDSUZoSXpETDJFcDZIb1gzZlhXRkVWM1RRYUpZUXVBb0VKaGhqL1hJcG9TZlRTOFJYWHVnUk5HRXdGRWc4RnZOSHJsODA1bC92ZGNtdXZaQWlhSUpnYkZCZ09nNk5vK0NEQ0VFZWlGQWRPMkZFTVVUQW1PREFORjFiQjRGR1VJSTlFS0E2Tm9MSVlvbkJNWUdBYUxyMkR3S01vUVE2SVVBMGJVWFFoUlBDSXdOQWtUWHNYa1VaTWlOaThEYlQ3ODRVK0dKcnBsZ0lpRkNZSWdJUEpXZFpOK2ZSVC9STlF0S0pFTUlEQkdCUW5VdEtGL09rZ0hSTlF0S0pFTUlEQkdCMlM4R1FZdHRac2lCNkpvQkpCSWhCSWFKd09wR0VEVFlQczlpRGkvZHhOeDM4eGpoaUs0S0Nib1NBaU5Db05vTWdncTd3SE0vSHVNcUFxNW91NGl1R2dyeUVBSWpRV0FDZE1USEpGWjQ1aE8zbjR1N2QydXppSzRhQ3ZJUUFpTkI0UGpEUWJEQVdETkQ1a1RYRENDUkNDRXdSQVNXVHdYQk1XUEVtNUlWMFRVRkhJb2lCSTRBZ2QvY0NZSTZReGZiMnhGZGUyTkVFb1RBc0JFb3NVdFpzaUM2WmtHSlpBaUJvU0pReVBUWjBpQWd1ZzcxTVpCeVFpQUxBaE9NYldXUkk3cG1RWWxrQ0lHaElqREZ1cG4wRTEwendVUkNoTUF3RWRobU9JZVl3UkZkTTRCRUlvVEFjQkhvc0VjelpVQjB6UVFUQ1JFQ3cwU2dvbjV4WS9xZStLR21jM1NxYVpqWWsyNUNJQjhDTTR5L2ovUG1KcDBaem9jYlNSTUNJMEJnVXF3MDhaUCszamR5WHFKTm9zR3dob0k4aE1DSUVGam1QNUF6ZjlBN2Q2SnJiNHhJZ2hBWUxnSTE5bmdRVEQ3WU94T2lhMitNU0lJUUdDNENIWVpUL3Z5a2Z5OVhwNSswNmdVUnhSTUNRMFpnbDYzamV4SXJ2WFBaWlEvMUZpSUpRb0FRR0NJQ2Jlemp6UFg2dGxyaENSLzhlWHhhNG5sLzg0U2xJWnBDcWdrQlFpQWRnVmtNaGx1dlNaZkJPM2JLWGUwaFNkR0VBQ0V3UEFRSzFjdU55NzM2ekRvN2ZlYmN5WE5uVDlQOGRYaFBnalFUQXIwUm1Idlh5elo3UzVFRUlVQUlFQUtFQUNGQUNCQUNoQUFoUUF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RQWdRQW9RQUlVQUlFQUtFd0xXUHdFTDFkVTJVWXY3RGxUcy96MHN6ODVIS25aL2tIbktFQUNFd1pnZ1VxaTlrajRHdGpZTzdxK3dDMkZxKy9Jc1Z0ak5tVnBJNWhBQWhBQVJtcndZMXRoL3NQcllVTExDSGdxQjFkU21ZWkZjSkcwS0FFQmcvQk9wcndTSjdZUEp5RTZhVjJkYnNRMHZ3VkJpL0pVY0lFQUxqaFVDakdSeGpEN2JPYzZzNmJLMkI4WEFRbE5EZmtpTUVDSUV4UTZCNE9VRHYycjBpekZwbHI4QTBGcTdGMXNTVi9oRUNoTUFZSWJDQVdlb3lZM2NJazFZWld4ZWVVbmdkSTBQSkZFS0FFRGorYUJEVUdkc1NTSFJZT0djdE16RTRKbmdJQVVKZ25CQlkzdUJUVmprV3hwUTFYQkd1OEMwZGNvUUFJVEJlQ055N3d4ZUUwY1Z5VjJHbnhMWEFhT05WQUVIL0NJR3hRNENGQzB0RkZpNElUek8yTjNaV2trR0VBQ0dBQTAyTWJRb2NORXRQTUViQUVBS0V3RGdpTU1mWWtyQkxzL1NZbXN5T283bGtFeUZ3SXlNd3l3NWs4WThybHJiWmd6Y3lJRlIyUW1COEVWamtSL3k1VzFZTHd4MzJnQXloLzRRQUlUQmVDR3l6aDZWQk5mYTQ5RlJvMjNXOEhoRlpRd2dvQkZaVlg5cGlsMFFZMXA1V1ZDUmRDUUZDWUp3UUtMRU5hWTQ2eTRRbEo2dzlmWGljYkNSYkNBRkNRQ0NnanpDcGJWZXhNRndNMTU4SUpFS0FFQmdmQkhBNFFtNjd6cWlqdzNVK21WMEkxNS9HeDFDeWhCQWdCQ2JVdWY0RmRUaEN6R0dQaFFjVENTQkNnQkFZSHdRbVdWY2FNOFh3N2l0M1pYNG9zWVkvY29RQUlUQmVDQnpqWDJqaWJwRjlVWG9hT09CZnFEVGxEZjBuQkFpQjhVRmdXVzI3dHRrajBxb082SW92cnBFakJBaUJjVU9ncHJaZGQ4TnQxK0FtZHFGUXBySHd1RDBvc29jUUNJSlY5YUVYZkZoTjRqSERycFJwWFpqcUJpRXdoZ2hNdm5SSld2WFVseXJybmw1KzNaN3kwNVVRSUFRSUFVS0FFQ0FFQ0FGQ2dCQWdCQWdCUW9BUUlBUUlBVUtBRUNBRUNBRkNnQkFnQkFnQlFvQVFJQVFJQVVLQUVDQUVDQUZDZ0JBZ0JBZ0JRb0FRSUFRSUFVS0FFQ0FFQ0FGQ2dCQWdCQWdCUW9BUUlBUUlBVUtBRUNBRUNBRkNnQkFnQkFnQlFvQVFJQVFJQVVLQUVDQUVDQUZDZ0JBZ0JBZ0JRb0FRSUFRSUFVS0FFQ0FFQ0FGQ2dCQWdCQWdCUW9BUUlBUUlBVUtBRUNBRThpTndMOHZySHMrZkNhVWdCQWlCUVNCUXo4dFc5UXQxZzhpY2RCQUNoRUFlQkdxNTZjckNYK1hJa3d2SkVnS0V3QUFRYU9lbjY4NEFzaVVWaEFBaGtCK0JCVW5YOERlWTQrbWY4UDczdmZIVDkxZE5VcCtLUzFFSUlVQUlIQVVDWmNuRWxmUzh2dXd0NzlLTWZUaGRsR0lKQVVKZ1dBamNKR240YUUvOVQvbElTTmpMUFVWSmdCQWdCSWFDd0xRazRVRUc1VGVIWTJMNnRkY01ZSkVJSVRBTUJGcVNyeGN5Nko3L25KQmR5eUJLSW9RQUlUQUVCSTVMdW1hYmtYNktDejh3QkN0SUpTRkFDR1JBb0NqcHlwb1paSU9nQStsMjc1a3JBQUFnQUVsRVFWUXZacElrSVVLQUVCZzhBcXVTcit1Wk5CZGFqSFV6U1pJUUlVQUlEQjZCU1VuWGpIM21USVd4emNFYlFSb0pBVUlnRXdMaGd1OVdKdUhnU1l5dFo1TWtLVUtBRUJnNEFtM1p2ZDZSVVhHSjBVczVHYUVpTVVKZzRBak1TYnBleWFoNGdWN0t5WWdVaVJFQ1EwQ2dJZm02azFGMWlWN0t5WWdVaVJFQ2cwY2dQSWlZZFl3N3kvWUhid05wSEI4RWltKzVwL0txOFRGSFdsSSs4Nkt2SFlCTjAvOTJBRXFHcEtMNGtreUtaMlR2MmwzS0pCMEUxVk1aQlVuc1drVGc1akxxdy9lUG0rWFBoVkd2Mk92YnF0YkwrMVl4UEFYVjg1bDA4OE1QY0d1WmhJTmcrOEdNZ2lSMkRTS0FwWXp1UjV2alovajhzeGk3MHE5ZGs2eC94ZzhQbWlkZlhzcWlmRXJTTlNzTEY3SzhFSkFsWDVJWlB3VG1xNnk3T1g1bWNZdit1djhUZFkxSHhyTm8wcXBpNVRWWnpNdDNFREVJS3VQY1JHVXA4TFVvODZiekhxdFBYUFVFOWhWVXl6N0s2aXVmd3lTR2JSY09rMDZubVdJcjJqK09udmJCVWhhemdBTjNHMWxrSWJPN2xsSHcraFk3VVJHb01VK1QrQnN5YXBEOVZNWDNGa2FiRFJqaWVjWWVHN0RLd2FuRElrdC94cFhrMmIxajhya3h6M3JhVDRkUnB3Wm5kUTVOMDJ3OWkvUUphV1JXTEdhMnNpaTk3bVVXdzBmcjRSRmZyZUZ1WjNBZ05IemZCU2dOK2dBM2F2TDY0R3dldEtaZDF0ZmNjNEdkRnhZcHVub21kVlg1M05obzZCcDBFai9EWkVFWldybHBCZEpOT2dMVFgvaEc4VTJjK0lCMFFqejBGOTc2OStrS2NzV3VlbDZhS2ppOVRmRmRyOCtsTXk0TVFtekZRK2RQTitPQkl3anBzekdwaHljR0ZpN2VVaFpQYU04dHczeVhoMSsrKytLK0czTTA5OGV6TmZEYnduclcreHN3UjJQMXRaUEw2b0Z2Z0xZTUdnOXlJTXp4V1Bac2QwODRCMEpyZmZmblplYnBjb0w2bUx6V2dTOEI5dkcyZGFGaUxLYldXTVV6RXo3eEdJamdHUzBkVllVc09nODBJVi9aSFREZmVDc2h4WTBUWFB5bmxMTFdyNkl4anNVMzZvd1pWU01XZjVpQVNjL1N3cFFkVmtCZDJ6aU03aWlOci9FSm5qNHViMkZoWnQzSDB1NlVPYzQvMGUwd2Rpa3F1UFF0dmdBUTdydWhSM2kvNjJzdDQvbVhZQ2JjS0MyTkd6VVdJVE9OdEs2bDgzTFBDOERURDY3MjFRMTR5ejNqYVhpMzdiRVRiM1RYdlltekJvTHc4VGNwYjY2TUMxMWhYaCt0b0RXZG1PdGlSQmxUdHZxdkFPRktWclNHSUhjc0d3WERnNGg5dEYxRHNIMGNWRTZYVTU5ZmVRM1AxN1h6cHZWU3Y3eHhWZUsrRWw4SjdOakh0L21LNGI0blpmWWc4T0dxSTEzOEttaE5hN0VjK1dIZWVzekxucDA5MFovb3puckdSZVduakxpczd2UW1vWGdZWm5DWCtTQmlncHJyTG5paUdxL0FaaUhaU29YRjFvQmFUUVR1bTJLRDhIZGl6VUpRdFJjUzBidG1HMHNsbXVQeVlmcmlQYnhhWEJkMG5iVG12Uk5kL2hIUXBvMUU4U0VlT05JRjEycDhhbVhiS085MitVTmg0VXEzVCtDR0RKdXJNUGJxcGVTaXo3TW1ldDh0VzJEbWkvemNpUk5vaXh6bWJqdFdqK2FaTXhwcXNIY2NSbk9VeHFVcjc2KzduMGNSUjFxRnRYMnVlVG9paTZkdG5iR1k2QVlvMjc2ZGNPR1JrZE8xbGczcThDQ2lPeFN5aTNPajNUMERiSDFsV3FIbnVrRXJ0aHA3ZklOUEl0T1NIU3B1S3RhV25uQzNCK2QvOUZDYW8wUXVIMDZjdWV2MzlvTHJnNjROYStZQXV1TEpuWXFLem4zSE5rWk8xK091VGJhRjZxNkFtc25kbmdxZ2EvQUI0UEhhVkJ4bUh3b3dMTGxneTNTMjhQMnJiR01hTzJINjNZUTFtT095aTI3dmtLNGdRNnhMVjVua3VxRHJQTFBtL3FCck83Wm5VOThaT1Yzbllvc0gvc2RXNTJUdGV5UEFyL3ZhRFAxMXdQR0NkTk1YSHd4cTdneWkrRmlBN2Z6NEFtdTZwZ3l4c1lYTW1qdjN5cUFrWGVRNnB1dXN2YklPdXVJVDI4NG5WQnBMSTZkckllT1hSdmswQmM1ZXZFaC91TmQzTEY0QVllL3VVY1Qybzd5TjNyQ2twdTRJdHZ2YUg3UzBHVGNsdDhkdXVBR0dzTS83OC9kVVVDYnVYdXFMUnRoMVROZGwrekdCcnZ5clIwc21FSVVyd2NqcEdwU3lUVjc1RElXN0ZiTUFON0QvcDRERjgzdVZmL2RVc096dXRxOXVCcXR1V0M4OW1lTHJUbWRhaUhXM3FXcWUyRUNKbE52eWkxN0hkTjIxWnc2Z0t3cHI3MXZQUFR3R2RLMW4zRHBIbDhEZG8vNEhlYU9GdmhsUWZLeG5vUnRyZk9CclFZWW1taTlpclBkTW0xdkEzVUtmaTAxbTAxVHlvYjEyU1J0MjF6RmRxM1pqQjdxaUk3TjczT09ueG9DdWkzWjFTbnlrZkRrVHJzK2R1MFQxMTFiRXM0SEUzL1UyR1dNUkxLay9ZZ3JPZ3J6VjJCYUJLWEZZLzRLemFEaVYrZnNmeUJFSENWbjMxci8vSWVGKytETUpObHkvZEoxM0Z2ODRYZXZNbnMrMjk4ZUFyck5abHoxS2VLSnd6anBud29POXJvTUxuMExkM3VsZFJHeTdCbGdGdHM2eTFYYkVLR3VyZCtxOEVrVzdYY0FNT1hzbXZDMytoV2JQSEs5ZnVwNXdXTURwaW9HUnRWcGNhbzRCWFNleWRwaFlLZU51aEM4azlLeE9SeU5RNkdDUXNaSWhMMnk3Qm5oTHhGd0ZMdHdaaUdlZUlYVnVrYks5RHRoQjdsbGRLOHZRL25wZWFscDAyanBPVnp3NmEzc2NLM2VqWDJyQ0VadHNtNmwwRUZGVy9pTHE5dVhOTEVUQXRtdUFmc3RrMFluSGd3Q0w3RG5YYkxOa0ZtQUZ5NUtybU0yRUZSTzd3VStsZkNnVzZBbTRmbnZYdXZQNkRhY3JQM3kyRXFFd2dWSFM2T21LbWRST1pGT2FieGZtdzYybnlWei9jZk1sc0cwclV6bXg3UnFna1RPNVdkOFArSVplZGlabHlrZ0tMYkwvK2JiSS9WekdOUW1reFJtWTc4bVV6L1ZMMTQ1VHJUbGRnNFpWMmFjdWpRVmRTN0hUYXdtUER1OG9jSmUzcXYzSTZSZko3dnNwSDY0Y2ZFT28rNnZQZGwvMzVXNCt4VCs4cmZ2dnRsUm85blFxUmMvcjc5NXo4QXRDNkhlckI4L3JLZTBWbUdsZzkxeVd4eHR2QnJheHJJUWFiblo2WnhHLzdLdyttVW42OFdPYWJMbDFVOWt6YnV0K3MzbHYrbyt6SzB2bWZhSi85SFExSzhVWlZabVV2WDd6Vkd6cXRjejJyWGhCMTVxMXFyKzk1cUhyRTU5VHVmTlhWWFg0NEU5Kyt2N2J2eHQ2cGo5U09mTmRXMUxoejk3Vy9iNS90blFIaFdmZTNuMWhGUGEwbi9tYSs5NTVCaUtmUGZ1eTN1dVhxODQ0d0ZadDNLRVJGbTdMQ092dFBjRk95K0VnRmgveGJZV3JQRVdoeFJpV1IzZnMxTTlBVUpVZGJNblE3T2xzTFNsM09ObFFFUVlzc0s3MHBBajdvL2dMY3c4MS9YR3hVR3k3QnZ5a2VNU0ZoVWNRVWh2S3Rtc1FoTjl2RjgrSS8xc3hESG82TDNIU0FmOUcxalZrUHg4QXlhYVIxVEM5azNpQVl2bkhxRXhSZm43em92Z1VuMXNFUWRkRnEyL3FnSlh1WVBqdGpKMnBzSU1kb1psSGlyVWR2UGx4R3BWZGdQSVZISGpHT2F6ZEJBQ3JHdStHbEhneTdMZzhGYUw4SXlPcnA4K2RQSG43MllxWVJNMTB6OXgxOHZiVEQralViWHU1V29mSFBYV3VsN0U3NGpFcElhMDM0RWZWendjNEpQS0t2V0NtSXJyeVZmYnhwZUJOemhrdlBJRmZhQWEvb3haU002ZEx5ZHVPbW1DdmJhS2hnQzJObHl3RmJ6L01HamQvWWU2eEpWdHQ4aDIyWGNXdXpaNFc0UzMwa0xaZFpWYnlDY24vT2xjTXlTdXZSVlZMK083bENlZEJHT2tjcjU4UHFIMmJqdUN3Ymt1ZXloVGw1VGN2aWsvMm9hV0xIaElYRTNURklvT3hYTWY3UDRldXY4M1k1NFBDczltQlNLem9XaXkvZWkrWXJvcE82cW5zNDBId1UwelUrakQ3bVNyN3RxWGdTMHV5NTBKZ2lUK3VBenlqRnl3MU9CZFg1ZU9UblZ6WUJrZDBYVlFFQ2RVbFgvaFNHUncyK3JPN2FXeTVIK09XbFVTL3VzMGJ4eE9pWDhWTS9vS2hCOHEvazk4K1dRS1hPWjJob29lMzlTQUU1b0RDSko5TlBpdHpLeFdwUmJPWitzSmNKQ2w4b245cm1KWDV0aVZFZ1BMN2p1UmdicTIxWU90bDF6cWZ3VFRNU21QazJIYm1iVWFVNC9YejRlam9PdUdwVElhSmZ2TU1nVVF2S3A4ZEoraktGMWMzVmZnMHI3ODJYYkdNK1BVOHVpVzNTNHBmZUE0U1BCemNLeHIwS1Y2OWk1VVBjWUdHcEI3M2NuYStnVjhLNFRVSTNuSWZxdFZCY05OVnZoYU5xdm16OTZPR01QYXkzK05pOC9pdUZ5Z24xUEI3ckh5WVM1Y2lLT2tmSGd4M08wbnhudkRqRHdmQkxNQ1l2ZHprc1pNTWU1R043eENDRFhNeHBGQU9XNXQ1V1hteXBoT2FNdjFiNkRhNVhJVnRkdGJGOG16ZVNYandESlQ5bFZ4SE5zZTNYUU1NTFNLOCtPTGlzTFpkb2RsODVkVjYyWFZlMUxwT1FnTlZGbllpZlUvbjU4UFIwZlZZckRMdG1UYjd6VE1sa3Z5emZEQnFPa0ZYM3JDZVY2R3pEOEJuMDNVM1hNZEJMeHl5K2pkQTEwSkYzTUNZUjRLYitBTVBnbVVXN1lFL1NkRU5aTjhTc1pqR1ZKQi9ZeE5VbE0wRzd1V1luOGVYR1B2ZVVJNWZKczBlM3dqM2VMZWhEZzRkZG1aWDJ4RFVXQ25MY3FPOEYyYkQ3cmtXbVJRRWI5VkZMbUdCQmhPOGpPbTRiRGEzK25JaDEySnY0Tld6Wm0rd1pGSHhBUlE5L1lVNVd3dmZkaFZEbXpVVnZzeEI0STljQlF6Mk9odFZManpWalVnNUdtNjRWZjhxNFhUbTBSWGYyaENhSXMzY2QzUjBEU3ZGWmxTWk5MVGNrTVBUOVpnN1pKUjBYVFcrcWFXZjNTYlBpanV3Tk15K3JEb2U5TWNQVC9IMUNiZ1NLRmlXd3Vpa1RzbkFvRmhWaVZBRkpaa1IwMkVIRStnOWNEQkRMblNnZHZMV1FUZ3NCQ292dnlKWDh6Yk56MnNhbk5NU3BhVUl5anVpUzcwdnpCTGwyV2lkbHluYVJqdUJJVHBhVHVGMmhTZGp1akJOaGtzeGJNdDJXUmZqY1l4UC9KVTNXUk0vcDlmamhUazdzV3lXNml3YWF6YWFrQURlNXRhT25hYXZ1K25vR2RzdnU4cnF2V28vZDVYVnNjZytGWlIweGRQVE5TeVNPVHE2Tm5iY3lxUllJSzNKL1V4VklSYk5ub01IU3JvdUc4M1Q3aGFDT1FFa0EzRlQwMFJvNnllS2FsemJRUndjSHZ4N3d3RWNrcWt1N3JoT3hJZStXMEpTcUZyZUVHV1QzSnFLRWtBTU1aSERpMExONkM3ZDE0SzVjR3ZwVWtac2tiY1d5RnhWQ1RTQUR5cTJieHRycHUxb1BsZmpkTTJhenNpcWgzY3FoRzVWcnM1WGN1K21WSHUvTUdlYnNDaDZJcFJTMVNreC9lRWpudHpEY0Z0eDRwM1I5NW5mOWVOVFBqZzA0YjZVTlYxcGZMRldHS3BkMkhXWXdXV2pDcHZoQS9jWDRwVko5MEVpczRvYWFPYk5ldHRBVHFTVmRFV3ZxQ0hqVzNBV1hUSFVVRDBNWm5zcklobjJBUjQ4STMzQk1tT2YyNUIrMUhyMXlFdXFJMFpNVmEvYTF0bkI3cVk0bUNIeEJkQzhUeEZ1enFZbm9yYkNtSjRYUHJpRzh6U3hDVW5uZUsvSysvaW1GT0FuUlI0TlpkczZGRk55M1Q0RnU5emlqT2xDVFZrdXF5RnBkdVY4cEpHbjBSSDY4ZWkyc21Ta1pkcWlSVjJNdG0xdTJ1Qnh5OTQ2cjFQMTQybnB5aFdVdytHTXlGSFdnVktFc1psSnlWajlOTVAvLy9iZUJVcXlwRHdQdkZuOXFFZDNQVUFNTWhKVzFqa1c2TERJVytXVlpUUkNPRXZXek5oSXNySmhwZ2NOSUxJUWRLOWhKV2NKQVRMWVZ1YXVkb1RHT25JMWhrRVM3RzZtZGpXQVBFQzFoY1FLZWlFTEM3QzE3RktsbFd3amNieFpPckxzUmRpcWh1a3FwdWNWKzBYY2lMZ1JjZVBlR3pkZmxkUDhjVTdWamNjZmYvenhSZndSZnp6dVRZOGZoc0gxZFBURTFIVW0zWmxVWDRxbHFobjJXbHJPbkpodHQwdkg2c3EzWmZmamJITkMzNkFyZW5iRkpMUXBXU0phZWh2c1dPa3dHbDdUNnBVWEZxeFhaQ2ErT2xGbVZwOGRpK0hnNFIrUXhUVVNrL2VVdmJVRUMyZFZjeWp3Y0czanJsdEFwNU5QYzgzZVNSU2NBN0FyVTF2SjdBcUZWdFpDMU9FOUlqQ2Y1QlR5YUt6R1ZMMTRkSHAvTW55RjVBYk5XNkN2VzRHMGdteVBWNFJQcHFwUDlVUmJvTnIybkZDR1p6NXRYM1V1V0NlcTF5QkhiME5raTQ4V1VoemNpU1ZGa0VSVTdjMThtVEF4ZFhVN0JYcXVnallXQmRDMkUybEwrTlpjcXlGVzE2aWhLM3hLbEdTcUt3cmJWVVhvN29zTW16SVNmVm9QaEhvMnFpWXF6TC9Pby9TNW4weS9jZTdEUkNtWDdUcENCUTlrQ2NXUE5TYmNaakZsVENIS2FtbGJtRitoMVRQQVhqS0NRTHAxeVhKQitBTHpJYzlpL1owaHdzd3E2RHF5MUhkMGRUYUh4Y3lsQTUxa2VQaDdPTWVyUmtTUnQzT0ZVOEJRa3BvekY5czN2UVFOeGVINXIxRys0WjVuOWRIWWtqRU5WdUkrbkxFUll5NTRpMHF2SlFPc1FWclh2YzZJSElmWDB5bkVpS2pMTWlZOEhSZmtTVzJhUzNWRnY1UWxWRGM0STFOZFVlMTl4YnlqQnY5R29rd1lwK01HQnhGdS84U2tZS2p5aUtYcVpoenFhMzJYcWRXa2s2eHR5RGo1U0ZURmp2ZUZZTTF6cCtYdzBaaHgyeGNRNmlVVmd6bWxoLzJhcW9PNFROMlYyVTRMRU1MeThTdzdZZXVWZVdITWdKNXBDMFFXbUdLeDV3NjFpdkQ1R0M4L3JRTEZ6OFl1cDBHTnhSb1c4eXpId25mc2l0MkR0a2dhOXQ5NTFibXcvcmlxbVoyUFRTNTBOVzNCNkRRdTM2WVJ5dlZpYjBRM25rRTRNWFgxZEFwYjlvVkJGNjg5WjVxV1cwMkdYYmkyeW10c3FDdnNSRFVEOEcwQmFkWTJrcWFFdW1xMDZwSVdRNmF5ZjhFTjdTNlhsZjFrZzRNWEl3WjUxVmpOclRoSy9VOFVXY1ZrUHl1UWg3dDJOb21WY25pQVlET1JFWFdJTzYySTVtc1I3akFEcVZwVU9tSW9DTXZIOC9ZOCs1MHo5Ui9tU2FaVEpnVnNDYWs5U2FyRG9xRkFUQ2lrajM5RG92aFdweVJlakFkZnRJa2MzQTdiUEFVdHBrd2dTY2pYOXF2S1A5UXorZDdMZGpMeVIyZmpwYXQvNFlsOXdQWFFNbnQrT1NlbXJtNm53R1I2eFphOVgyYnFNYkxXM1BXSm5GMlRqbGtYMUlhNkFrN1ZmZm5PcnB3MEc0bjlnYTZ1elZpbHJqQXVaV2ZnN0dETXkyNFB1ZTJhWURDUWhJdkpvQkFMWEVaZEl6RG03bVZ4MXNML0QzUkZCMVZUVzFUVml3SGViMVYwUDlHaCsyTzV3L0x4NGpzZTVhcTV0Y2NrY3NDSnhmZ1k5OTQ0S1A0N0xBeVlEU0xoZlFCVi80UWJtUkUrSDdjZ1dqaHUxb1Y0eTRDMytJcWRaWm14cmgwemFLaWpScjJhWG5KZ0VOOFY3TkI5N0M0UkY3TE00dVE0bFBmLzUxbDhIOGVsbVppNnVwMEN1QjNZd3VCVTgyalZqZ29LWmFrcmI2d3U1N0FZS3c4UGI4VWNNY1ltbXJldDdNZUcwbHV4YVhFOUp1VkgwN0hTUWYyTmJWbytjc2Rkb1orb2hjd0NSbkhTS2FVa2lsZXlPbFl4T1U5TUZ0eXBicEZEcVpOUVI2MGhxSmVzTGpjc1ZIUk43YjVVUHFkVjJOWXNmejVleExaaDlza2lPYWdHS2xvUTd2SE5NUTZMbmhiUnlpa0Nmd0RXTDBsSCsyTGtiUkJNNTdIcW5JNDNtQ0NBb1VvaTQ3bkVhdkl4S2hIWGtucGZTWnNRVWRYWUdqRlkycS9keFMvZzdSdnB5dnZCUDh1NjBsVlAybFFSais5cDlCcCtzdGwyU2tMM1BQclhjVDkzVW5LRG5ZelpOV3JJRVlHL3B3ekhlNWJzdnp2SkZCUHhTYXd0Q0JxSmhZemg4YnFJd3orbHJzdDJ4OVRja0g5VjBjYlBQUlZUZmN4T2dFZ1huSmk4WUFkbHdMWHphT3cwVTBNTzFhQmhLUTc0YlVUUk03NzR3aWE3dWE4ekYrZmpwQXR2MXhtVUIyT1lZYWlvMlBnSkVEZnNtQlNMdVo5eUNZend3K0Q5ZDR4d3R2ZU1OTHFSUVJERnF4KytVNXlNeWpMM08xYXkyWlJLVVY4Q1QzOGpYQmhzQ2JZSjF5cmtjMTE4VHB2UXdGY0h6WXVzR0IxQTBwWU9qTnRqZG9wZU1wWHBZbWRyVU5qMzZtQ2dwNTVvVnB4REdzTjgyK1VDanptektlSU5kVjB6bHFaOEtJd2hhQ1JqTVJwYVpPVVpBWkhJdjIxbWl2aGdzQzdpK3lxL0NQRi80TGdwQW50WHhDUDVWMDVkNVkvUnhkSWxUSEo4cG9iVWsrcWMwY1laUDkyUjduL3FKb3dLOHlXa3RnOFprMkxzSkE3RGdSTlZMc2d2RHB0M09ETno3OFFETW0rVExvZ3EwaUNCQUhvSElqUHZvQW5xZHpiT2V1emVucWR6b3h6SWszYnRsQUIvQTBSNGtjVG5KcXF1WnFjdzlrUzBYQXVmZzZBU2VSMVo2TWxVMTc1c3JkYXU0REVMNXJMbjc2R1AvYXB5Z0dCVkVCU282MXBpVVhMeXBwbzdVRXhiNU5mL3NLY2IxOExkYVVLbTY1cXEyQlBybG4xMG01K3JhbWlJTWJYc2FPTU1JeWE3ZlBuMTc3cjJyN29tcDhKOEpySHA1OXZYOFhyUmpJMzlyUlF3YVpyOEdQNTdwaUZYaDlja3FtaktOamp5VHlCeUJ3RmlxemdPanZhL3V0amZWNTNLWUEvTHhRaHBiNVdsM2QwNk5mSHdYNFo4eEt1dnFLRHN3Z24xMkh3UTkwQXk5KzBhTG5id0d1YnZseTQ5VTEweE9nalVPbkhORFhVOXRHRTcyaGVGRnFnck1xa0ZJQ2R2cWltMG4rcVZVRE9oWTNQdVRsTkpZNWkvWXFJR2hUQllXb2tzRUVKUExlQVRWeEdiazk2QnZ6QmZWdkY4UkRGUk1lbDYzcUpNaWtJL2YrbjExWEh6NWRIV3JzU3B0WGprYlIzRVFRaXdHZnZHOFYrK050ZExOWExtL2ZmbFlGMzdEYVB4VE5ucmsxVFhWdEtac00yYW1rYUI3cjh3WlF2MFo2NWRVUWJmOHBIYmhPYmF0ZVlwblp1M2VtTUNtbjVCRlErSWhCZmltU0tqSTEwWDhYMnRDeW9IVjJVVUhLVjJtbERFcGlZSzhIRGx5bmpSMlo4Yk1xb0U3QVRvcVVVZkhmT0RETi9XVldFK3hUWDEzRXVHWURmTlowQzVORVhoV2FEL0ZNY3kxelYyNCtSWW1NcTlraGpOY0RVMzMxQ0plNktOZmIvTmpJbkI3Q202RlBkcjRqb2g3VmxUSnArZEJEUzI3Smd4aG94T2dZNjQ2WlQwN0l6TmE0Y3NGYXdsM1RKT1UydFh2bm03aTQ4aXl0SGZtRjFyWGp3TDFOWEpoTDV3WFpUWFQ2dnJuaWc0U3UwMGxWVlgyQ0RzbGFrSzUwUVlHb0pOb0UxSmlVTW50VVc5YkpqSUJwL0NmQWF0N1YzOCtPL1lFVG9FK0ZXcE9xNjhaNjREaWJ2NStSYVU3ZEFTK3dseWE5RjM3SnJQcDF4cVZheWhaajJhYWU3Um1Eek50KzdNZUk4Zm5WWGJSa2J5Uk5YVjZCUTc2VUVaNXppRnc2Z2h1ZlptcW10VUV6MzJ6SVdZMUZEWHcwSFV0V2ViZlEwMUFmZlQ2bHFOVlNXMTA0UjdQaHRhN2hCUEo3RkhRc2hORFlGaVhwVjVjRVZHcnVZaVNPWTVkeW5PRjFLNlF3TzhzOHhraHpJM3VGakQwbUkvbDJSR21SUjlnWHRmMXBzMytFcHV4cUVTNThWd0dQKzNHY0UydTJMSHhDSDM0LzgrR2hYWDg4bytTWFUxTzhWZXZJZW5oTU1UbXhhbEpoS2ROZXRXay9xVS8vWkJUR3FvSzByMzlLU0MyUldaekFFUGZXRlRNRVlmY1hzVDZzTDVOOXFDd1BpWDBZNEdoZVdGbm5tVXl5S3hBcWFHUUt4Vm1RZ0xlRk42ZDd3RFZYRSttYjNNQTNPTXRzYkw1SE5wRjlCemI3VGRXRE44U20zc1ZJWEZjMG5xS05EVHF4dVRmRVQrZUY2dGNnUE9jUkFqSFFtYUJjOU03R1RWUVp3S3JPdUE5dFFuYUF5Ym5TSlpUU2xSMEpFT2xML1U4OUJWUFdVTTg0VWF6dDFxM1ppZG9hNHRyeG9VcU90YVNsMnZDTWI5dExyQytrUVBTdTgwWWNEeXRFRjJiU0huUVhacU9zVzB3dmFTQVJFUzdrcGlvSHg5a0h5b3pZUDNLQ1pwQnI0WXpER2JkcnpOb3ZLWml6KzBZaFA0UStKVC9sditOQkdyamwzNWV4ZGZqWmJVb0lvRkY1cmZjTSs5ODU1Qk5rY01EcFpYY0pjcldDc0J6Ylp2UmFpQTlWRW5GZWwvbWsyWlVOUW5xSzZHQkZpVXVldWFubmYyVHlUTjlMV3NTUTlrV2wweHZMS0kvdzZaY0lhNm90TStJV09OUjRHNm90T2JVeDE0WHhXWkVaOXFuQ2F2ekh5cURGVDd3Q2l3eUF1dEwzT0tJMTVPMzFCTU84bWxqMTZzdVQrM0lvNytMaWlLNUltT1haQXZxblJ1MUkrN1NaWmlYMVVCRk0yc0MycUh4ZDdSdXkxQXN6a1d2YUNqamwzNXZ2ZVQwYzRWeVFrQ0tNMFZNZWZaZlhWdGNXU1hGcHdpOW9TYnFuc1oyWUMzRVRLOGgrSEd1VG0zSlJ3bXFhNUdwNUNycWJuM0pwSVlDOXNrTXNUWGR4dGRxeXNtTTdhS240cU1uYUd1R1BnOWVsQ2dycGlyalNHRzd3SzFCZU8rUjEzWHVGNVdVN1lnamoxV1kyR0MvajlrYUZGUWhxb3hIQmhWYk1TN3djMTk4ZDdmWnBwVmNiN28yWTlBR1RiU1diTmpXbm9tcUY0WFZEYUwrYU0yRHFyYTJmbk5sT2ZqL2t6MkN6cnEySlV2cUw0ZTFWZGt6bTNIR3UvOEtMN3U4YWpKZGpoL0g3dTBpL2FJRURQTU9IYmxGK2gyUTR0RS8xSWQxOGd5U1hVMU9vVTBsRTRiKzkydTVXSUltZSt0bWxyRVNiVzZSaDMwOTdOeFg3RXVJZnBYTlFYcUN1UEFHRW1oL1BMQXJlOVJWMVQxUW5TNDdncU9URzAzTGp0Y0tiMzVoZzZxK0dObVZyWUFCZ2srenk5d2VRSDhCaDZPSzg0WGRRNXdCOWpUZ1J4T1JyQ256YVc5RFJGdHMrRHZ6dTRreDJWR1JwLzN6U3puQlIxMTdNby95Zk9VK0FTaVlIRm9XK09uYjY1ZzlaZytKZlVWRnhUSDd6T2Q4dFFBczBUS3Jvb1pudEpiZm9VRmdJbHFQNE4ya3VwcWRBcDA4VjFJc2FOVXlYNlh4SkF2d0p2eHJTYWVzNFV0VWJWUGFKNjc4cWxSamNFZys0UFlYNkN1NlBWR1c2Tm55QWthZGRsM3hZUnFmOTJ6MDRTejBLNUxtaDJHTmZKWWRxb3ZCUjFVVlF0RnFjd1Focy96UzF4ZStEZU5uTC9lRm9IaWZEUFl0QW45dmN2S0x3aW15ZlpFYzVkSDJDekU5bEJWeXloeTVQMTdBRTMyaVF5Q3hxNU13RW43STlVTlJZVytmVlg1OGVSS0RTWG9HbEhEZWZtUE1DOWJSY1Q4TUNnYjA1Qlp4b0k1NEpzSmFiOWY1MUdsclRUdGVHS01UZ0Z2RjRVY0FrSHAvT0twMUx6bldmZmdQNWxkdWYzYTI1ZVpEV000cWxsV2FiMHRTQXJVbFY4ZVh0R0NKTHJrVTFlKzF6U2IzcGFFc21nR3hSNEkyUzZtTWltTWE4STRkcjBnazRBQ3gxbThpNGtPZlQzSlVZa1ZDVFhUc21ia093dmRQOE1lVDdMbStBN1pqeUUxM203alpIUHhBWjNOWXZ1MVNOa3BZWnZ5RjNUZXk5bWxuSHpiRmZFWVVXOTB1b29BR2JhVUgybjh2Z25HNmJhT212djQ5MmovSUI3K0xzNmE2TWQyYnJTeWdiR1ZkaGk4R1BMcmc2dXU2U29zZnZ5VFZva0lmT2w5KzA2VWgrZ1gzOVYyaUl4T0lSZXF4cDFhdjNnT0IyOXczcHowT0lVK2h1Tnp5Wkh1aUthNjdwaVR6S0xVb1NKMTNZNU5nbGdJY0xnYSszenF5bFg3TjlJV1VlcVR5REVILzMvTWp4NXp5RThyWTQwRnhYS3lDUTFSVjBFZ1BoQUFtSTBWOWJNbE9NWDUxcTV3NVFxU0IzWUh2emdGN0tWMm40NkJzRmhVR3J3THRjSm4xeWg2R09ybjlqdnc0RDhPS2g3NGg5b2xLeVBvcmpHOFJyZnhHUTk5b0t1SStSWFBBeDBZeE5QQjEyMDlkOFN3NEFCYVhuY21lSHp5NndPNjFaYkpPRjJGdlZTbDBJK01QUmVSTzAzRWx4RW1ZL2gxKy9GQmpyZTgrZmEyWHp5SGd6Y0ljVmFzQlBteU1pOEFMYWE3bUttdTZFdVA2ano4dDBHNUsxSlhZK0xoMzZCUXBmWjl2V2lOc1pxaEYzRUJ3Zk9USUcrbGdKZGNNaC9vb0hwMUNhbFdKZUYyTEdwZGhIdEd4U3YxVndxU2dIeDhZRDBNVTY0ZGdBNjJtTlBsZUxXMktVcXhXQWpMUE9wbFRrTWloL01QTCtqc09sRWllQ1pabzZEb1RVV0NIcWlIYXNTSm5RUzB1MG9XUDB1bDRkS3haVHd0OXNkSjkwb3lWalBrQkFVNlpEc2h6UFA1OWFHZXRDclB6RWNrdXdvOEp1blpvZ0EwdjFOb0JwRTFFSERlaWpXOHZDK2JKeDErOFVSNUJmOEF3YjVGY2lvWlFWRTlyVFQ4Q3JHV3lOeUg3ajhXWnk5UzEwb2phUnhqNDY3dm9zRzVMYU93ZFVzcUhxaHFCRkpKcVlqRW1Fd2xaVVdnZytyYTdpWHp5TFl3UCtRcHNQbTlwWDk3MUJXc2l2TlZ1RVkwTWljTlM2QzFXRTMyR25KMmxSOEp0MW1jRVpnMzJZYVZ0U0J3L3ZVclBvckRSQVdiUmx0Z2tqTzMveHRkNURVWFR0aEdkcGRSUHU0NWNXZllweExBRTdxVzJ5R1RKTHptN1NpVGtXWjUvZnFBK3UwYVpPa3E4SmliQmdXOE5VUmRzYUl5aURZc0lxTlRRRjJ2STAyWVo1TEdMNTdGSUN0Z2p6aGNLUTRVS2JyT3V2SmpGdFlUVHZRUTAwU1ZoaVEzdHBJd05YQUJoUU5FMHRkUFZBQkwxd01adTIxMEVSa2xURUZuRU9GSi9iRDVTWENCaEJ2Q0UvNFBRbTBxNms2eVJPaUxYc2wvQ1FmT3NFVm0yUGZIMU1YNUZuNUNERE1mQnYwQUFDQUFTVVJCVk9WYk1YMysvNTZZVmhmWVg1SDk1dG14bFdXem1PR3MwT1lIK2J4Q1VsR2p0cUxyR0JxSzF0S1dGZEsvZzlOVVdXTHlRWjJUOWxRTVNqM1BzYU9rZXlVNUFVQVNjSHlZTXc2Y0tIL1FydytRK0twQm42NENqekZ0Q2hDai95YmRRbVRPSUpLemx1UnZkQXJNVFJ1YzBhcE13c012WHBLZTQrdlltRlhxeVJ4V05ab1NobEFDbFRIVm41YkxEMGlnWVY0MjVpbEVkK1BTWVU1dlNqa09rMzZ4Wm93Q01sVllQUTVxUEdsTmIvOW93aXhQK1ZNY01hWHJ4bXdrQXA0UjN0NlZ1S2k2UW11dUx0ZVczQlFvenNjUE5iT0V0ZUwzeEdBKy93Z2FlUVVKbGVhNlRuWllBTSsyVGh2VXc5L1plYm5LM0V1K2JMWFl0R2RYUWRKaWp5cFMvcEU1ZTY3U0thRWV2dFpxcDRremoxMDU2UjQ3N3FhenBHTzgrb0JmeldWZjQ2QktsNjRDajNGbTF3NmlycWdjNHBsQjlJUkZaSGNLdE9HU3lkY3JucFUvTTNCb0tRRy9BcU8vOFdQK2hsUUw4YS9RVFA2TjB0MUtrKzlSd21IMjE1WUd1cHdhaHZta3JEcmMvUXByOUxzRGtRbmRFZDNsUjZYZmVOU3RvVjBtMURRbmc5THZCYVI4YjZTVTZ5ZTlCN3FpcDVZbDNvQkw2a1c4WjhtYXpYYmluOHBFQ1VINU1ET1p0bVcyWURzTVUzRlUyMFRQNUxqZGI3U3l3OEpjU1dienkwMzUvSHZRUEl6ZDh6ZTNCTm1hWE83ODE5ZHViL0Q0KzE3OHFUaEJNakVYeTN4eGxBeFR1YVZrSmVKZ1BKMlUzNVBuTUk3dXB6T2xZbHd1bGIrNGR2dURYR0oyL0s0WGYybzFwazlYZ2Nmb2hvK0oxaEFsNmVNSTdNVjZpZFRvSFZQMWs4NkVsdHpBUUNQMVJDUzc0a25PSVk5dHc4UmN1cjBKV2JBb2VYR2JaNTJUZlhQcEs5L1ZFZkUzdit0VEJ6eUJhOWxOQWR1ZTZNZUwxejdlQU1IUis2NTFvNGV2Q1Z6dXUvYkphRUZIQzFwOC9VME1RWE42QW4vaFI2R3RvbHQwQlZ2OWJ5MnhwblZjMUhCd1MxSlN2cDZCVmlveEl3SU5zeUtUTUhIcFpTek1vZjNGenN0VXBnNy9BTkxpN3phT1YxVk1XTDQxWTJaU09YM1A4L3pYcU40S1ZKZndTWVRLMi9TNEJscUhoYm1TOUhFcWpoUDlsVGVBSExINzhkaUEybXQzM2VSaUxaWTcrSVgzZFRPMXRGLzlqS0dWRVlYbkRiVFB3dlQzVTFZR2I4RFZCNFFOZDBYbVNWZWg1azZsM0NveVJreVJNVTJFMmVISUhvMk5Ub0g3YkU5R2YzVFVOUVIxeFRPU2lyekxpZkhMOXlPbDJ4WFptbkduVGFKVncwWXpEWGJqWC8vYUIzcnhBSnMwY0p0LzlTMTJYeGRieTdGL1ZiQkRwc2YvOGJmOEkveW13b29JUnpWSm1sSXU4MlBSTWFtd2tHVTJGWlA1eEp6dURKS1pwRW5DdGh5Y0VBTTc3YXBPZUJZNzFnTGpNQU56d2lVWWltMmRIcGF2YmhreE9uUGE4eFoyMUJRL25vdmZ1bTVZSDBkeldGVGp3Uy9OSVRobWpva2ZxTC9Va0lQQzJYZzFqdHBmdkl3ZnJyOThzV0haTStoa3V3bnY4L1dmcUc0a3dRRjgzbXNlc0JtdTUvSDZMTHJNai96alg4c2pRWnFyRHhYVTZJN1kzWFdwY1VYbVRsZkI4OTNuYjcreDZ4VG1JZnJNOGFmdE15bWpVL0M1N1ZMOGM4aUtrU3VlaWc5NG5qS3N0RE54TzEyNktOdmwvZ1BCNEF4dlZlNVExUXVTNWZtbVVMWC9XUVJuMlVWUTNJVjhVTmNqamd5YW1xdXJpbDZOYzhsTWozVGpZRlE3dXBmVG9yKzBaWXg4blBQc05KMFAzNGxzbWVwbWM4NE9MVjA4MEltZmZaWDJSdEhiR25lM2srRGlmMmdlLzhEL25ZU2pvSHd3cncrTVBIbmVuNzd6K0pNaS9RV04rMkpQVE8yeWFPVk9RM2tsREppR1FYbmZ5cnE4WVFYTEJrNDVpMEtSSHhzNVNwdjgvTGkrYW5lM255YWxyaGxrMkxEWXlFd3FtV0NycTlrcG90a0hqNzdINGphRXVtS0l0VmlGQmhaKzk4NmpIL2gwS0xXazQ1bmU4RHZGbVdic3lvc004OEV6SnFZSDE0QXBMbks4RkZqYWQ0Y3N3V1ZSeTUrR2hpek5rOTNaNnNKT2NiNWllVmhZVVF1WGJPMFhpVlZyQ3JmbzQwRGxNMXBaNFdsN0tCQVZyQTlEVmlFcFhiKzZsa1JsKzRMRjg3QklUVzBlbWtsSG5mWFlzbFZqUFprdkQxNU8zc3lubUhocTZsZXZ5MHZnc21nVVRFUGxTeWpJNFFvUTlhOFc1QmdndWVWTzRXa2UzOHkvVFJxN3JDK29CT3ZEeUtvZ3Y1NmZsdFlYRXl5ZUovT2h0VUR4RUp4QVZQOTZ1dEE5WXoyWlRqVmpTcitMWTJZZWozK2I3eERNdm5FWTVnNEwyTWE3dzdBcm56ZjFVOEN0TVFqUUN6bndxbnp3WjRUN0I3K2ZVWXRnZlJoWkZlSmZzTTRReDQwT0ZzL05pSEIxMGthVlJ3WTNxdVladDdGRDY1TDV3NE9jNHZnNWpTNjJ4bmVhK0RYOXdaM0RBdHU2Z1hnTVhxU2RjODFkTFBmYU5zRW9RbzJSckdPQzlXRmtWVGozYUluYUI0dm40WG5LMkJyMkpKOUVWTVd6MEZzSTNtbkNBTDExRWxMbmxJbjJ1WW9UMnMwY2txSWtsMFZxSlZuRVlPajAxR0s1TVRUTEZBUGpBazRxclVSRXNENk1yQXBucm85RFBBL1BjRDN3WkI1UGxQeWhUNHY1dWNDRFMzNVJVQnp2V3JsUE9CQnZxdFpXaHhERFpaRmFTUTdCT3l5cnUxaGU5T3dIaG5IS3BzSWdWS2JmWnpFS1ZkZlJWYUcva1NXTEp6NVVQRTlXL3NPais5NzRrNHM4ZzRXZTY2cWhPeXM0K01WTU5sMXVpVysvaTJ2NkE4dmxza2l0SkFmbUhKZ3h0VmcrNTlrUERPU1ZKanZmRkwrL3RUeWF4Z3ZWaDlGVm9iZWFybE5tVEtoNFhnYkJpdUROUGNySXltL2Z2Y0w1dFM2a3VSNEdEaXBUZUlyRFh3M0FURFEvVlBkMldhUldraHF5ejhsdFUvZHhuOEJXazVYMXBCYkx0MTB2eXlLSHZoNmZkSzBOK0xsc2gzT29Qb3lzQ3BWU1ZuV29lRTZ0NHVDU3U0WGdwWnBFcEhxUG9iNmJLcTFpM09aSUpab1JPTVV4cjJlYVNTZm5YK1FiS1BLalN3Tks0YkpJclNRMVgxZE5kWGhYa3d6aVNTMldld2VEc1BIbjRYZkxkNUhVQ0Q1YzkvTlJzWUVMb3BGVjRkeFRxdVNRNTFEcUdwWDRnR3VJTUlQVDlPT1hlbWM5RnplV1FrOWRjWXJURFpUZzIzWURDWWNuNnh4RjU5UnJBZ055YzFpNEs4bUVhM3pmVEN0cDRta25OQVA0M01YeVF0YWg1d0M4OFNxdHVFbVBLNGpyZzJSUDVVbGVNa2tsR1JHanE4S092bFJ1c00vMHdnSWN3dExhenJvY2tsbmVtQkxXNGtGUmY2amFLR1luOEg1L21WT2M5TWNXalFKSDYzMDJlNmw2UDNaUXhqYUwxRW95WWJ2NGp2aFUwdjJmZFVpWjVNejF1WXZsMDBQMHVGUkJXTFB5MDRCVzhQWi9pb01kZ1h2cGRvUTNOTG9xeEI4YjhSYmlpY1M2b3N5NWo4TkIvVGF1RXozNVlDdWVYUTgzMDBYN1B1dVRwdUw3WnNHbk9KVkpqbEsvZC9HWGZlS1dpYk5ZcEZhU1pUZ05ST3N1bG50WEJtTGp6d1IxaFRtSlk1eDMrdFBMeHRaQ2JsdEVJNnZDT2F4MVNqaXNLNzVhZ3R3bGJUN3V4cHhNdUNwdUQ4NTZyTm1aNU0zcFhOSFFpNE5QY1pZOHI4RG5NcCttUlBOZDVNbklKYTVwSkVYTmpOSVc1bSs3SC9CWEJFZlZFZnZDdGs2azlmcEdWNFcxVXJZd2JpWU5aZlB2Qk82NmVpczl3c2h6N0ZVcnNJZzhoa0kxY0NiY0xnSEVUckJpajdDS28yS1YrajcwcUJobjhuR09XTGFmektRY0lHR0JQYkVTdlprZHR3Zkk2OHNDOVMvV29KRlZZYTZrL21EdTcvcWtEb3liblpiTjFQb3I4Smx4bnpYYkNWTXRyT2pDeis3bDI3eUJHRTBabWZraGxvbUlobXNhYmJPZ04zZk4wTkQrZjh1T20reDRkV2cra2dHKy9sTzhzemV5S3N6K1lDbTU4VzZWNTJKQkNSWjc0WjI4Qk5meXBMZ0wwR1EvbWM1M0x2RG1RNWxUbkhPaDl5N1M0cHhvekt6NGZGT0hiVTVNaXJmeWJadFNYM2tlUUxTZnUvUG9SL1lIeUplUkJUOVBQdFFMRlJsc1J4S055WFYxS0VaTFE5blNReFZ0Wi83SWc4Y3ZzbU5FYUM5d0tWOFBQOFhCSjNTMlBDVk5mMVNMSHdMZ0tLQTlLVkV4cjY3aXd2TXdtNW1URWpVcHB3S2RlRWtTbkNKZjVYbk1OeU9Wa3ZBUSszTFQ2MllEUnhQc3VBV3ZxTEFwTmIwVnpwT3N6amZUem81c1V5YXZxRGdObDFkMjhlSE5RQU9ubU45a0tPYWErRXJNMnlkVFZvbFNGdjVSaDdGWGw4amdKVDAvNVBUc1pUcXl5SDdnaHVGaCtDa09KdGRBcGlPcnhZZ1lNZllZLzAyQUt5TmlWOHdHaHl4ZGZPa3QwTUFwNWpjaGlzWC95SVk2M2h5UG1CaEVtTTkrTEZsYUszaGFLc2w0Qk9RVlByb0hPRXlZd1VaQ21ZazRvT2dKa3RTQnhzd2tsZWMwbjg3WEpqZytqQXJNdi9UNTI3OTNWTHhHeGVmTDcvck5VYXpRRno0eEtvRkd6NmNTQ1BwMitDa08vK3oxNXVnbG5RVEh3Nk51cGNkUEtTZmxsdGdybzI4Tkh3Z25KUmFWOC9SR29Nd3B6aUZza3QyblozWG4yYzFPeG84L2pxbENIZmFyN0daM1RNeUo3VGNvQXRpN0QzMFg1NjNRVnYwUjhLY2JYRzlyM3ZQbkU1VjU5ajFIUDlLZGFJbFUySzJQUVBncGp0RFdwOXZXeWEzZmdGVERieUFFc0hua3ViM29BVUQ4RHRDd0YwczhmQ21LRUNBRVFoSEFjblExaFBhWkhXNEo2NThQQ2NsQ05JUUFJVEJTQkFKUGNUN3dzVmhablF2ckl4V0ZtQkVDaEVBK0FnR25PSlV2ZnI2dWxIWGlYK25ObDU1U0NZRnZKQVFXR3V6bzMyZTVMNzdqVGQvNWhZL2VtYWdxZkUvbmwxMi9rUnFXNm5vcklvQlRuSElPTjNYSUVRS0V3SWtnWUZpNVlXcjcxUk1Sa3dvbEJBZ0IvaVBYSmQwNm9VWUlFQUluZzhCaFNXV2Q0T3VpSndNSWxVb0lUQzBDZUlPNnBQTjh5bmhxYTBlQ0VRSzNGQUxWa3NwYTRrMjdXd29ucWd3aE1BVUlQRlJhWFIrYkFxbEpCRUtBRUNBRUNBRkNnQkFnQkFnQlFvQVFJQVFJQVVLQUVDQUVDQUZDZ0JBZ0JBZ0JRb0FRSUFRSUFVS0FFQ0FFQ0FGQ2dCQWdCQWdCUW9BUUlBUUlBVUtBRUNBRUNBRkNnQkFnQkFnQlFvQVFJQVFJQVVLQUVDQUVDQUZDZ0JBZ0JBZ0JRb0FRSUFRSUFVS0FFQ0FFQ0FGQ2dCQWdCQWdCUW9BUUlBUUlBVUtBRUNBRUNBRkNnQkFnQkFnQlFvQVFtQWdDZjNoekphQ2NaNFg5eW5vQUp5SWhCQWlCUVJGWVlDemdwMi9tbXZUcmM0TWlUUGtJZ1pFaGNJNnhLNFhNWmp1TTFMVVFKU0lnQk1hTndEeGpxL2xsVkQ3NHdnWWpkYzBIaVZJSmdVa2dNTWNlTHlpbWhwOU5yNUc2RnFCRXlZVEFKQkQ0UUxlZ2xPKys5L3YyKzZTdUJTaFJNaUV3TlFpUXVrNU5VNUFnaEVBUkFxU3VSUWhST2lFd05RaVF1azVOVTVBZ2hFQVJBcVN1UlFoUk9pRXdOUWlRdWs1TlU1QWdoRUFSQXFTdVJRaFJPaUV3TlFpUXVrNU5VNUFnMzdnSVBIRHhoNE1xVCtvYUJCTVJFUUpqUk9BNTdBNzJ4aEQrcEs0aEtCRU5JVEJHQkNyTjlhaCtJNlFBVXRjUWxJaUdFQmdqQXZOUFJWR1BiUVdVUU9vYUFCS1JFQUxqUkdCdE00bzY3SUFYY1I0djNhVGNLM2lLY0tTdUNnbDZFZ0luaEVDekcwVU5kcFdYZmphbHE0aTRxZVVpZGRWUWtJY1FPQkVFWnFDTytKakVLaTk4NXE3TGFmY3JXaXhTVncwRmVRaUJFMEhnN05lamFJbXhia0RocEs0QklCRUpJVEJHQktvWG91aU1ZZkhtRkVYcW1nTU9KUkVDRTBEZy9idFJ0TTB3eFJZN1V0ZGlqSWlDRUJnM0FqVjJQYVFJVXRjUWxJaUdFQmdyQXBXZ3o1WkdFYW5yV0p1Qm1CTUNJUWpNTU5ZT29TTjFEVUdKYUFpQnNTSndtaDBGOFNkMURZS0ppQWlCY1NLd3czQVBNY0NSdWdhQVJDU0V3SGdST0dTUEJSVkE2aG9FRXhFUkF1TkVvS0YrY1dQMlBlbExUWmZwVnRNNHNTZmVoRUE1Qk9ZWWZ4L25yVjI2TTF3T042SW1CRTRBZ1ZOaXA0bmY5UGUra2ZOeUxSSVp3eG9LOGhBQ0o0UkFsZjlBenVKeGNlbWtyc1VZRVFVaE1GNEVXdXpKS0RyMXRlSkNTRjJMTVNJS1FtQzhDQnd5M1BMbk4vMkwzRGI5cEZVUlJKUk9DSXdaZ1QyMmdlOUpyQmFYc3NjZUtTWWlDa0tBRUJnakFuMmM0NXd2K3JaYTVSa2YvcWY0dE1TTC92Z1pLMk1VaFZnVEFvUkFQZ0x6TUlaN3I4Mm53VHQyeWoxUlFFbkpoQUFoTUQ0RUtzMGJuUnRGYytZMnUzanY1VHN1WDdwSTY5Znh0UVJ4SmdTS0VUai80SDFieFZSRVFRZ1FBb1FBSVVBSUVBS0VBQ0ZBQ0JBQ2hBQWhRQWdRQW9RQUlVQUlFQUtFQUNGQUNCQUNoQUFoUUFnUUFvUUFJVUFJRUFLRUFDRkFDQkFDaEFBaFFBZ1FBb1FBSVVBSUVBS0VBQ0ZBQ0JBQ2hBQWhRQWdRQW9RQUlVQUlFQUtFQUNGQUNCQUNoQUFoUUFnUUFvUUFJVUFJRUFLRUFDRkFDQkFDaEFBaFFBZ1FBb1FBSVVBSUVBS0VBQ0ZBQ0JBQ2hBQWhRQWdRQW9RQUlVQUlFQUtFQUNGQUNCQUNoQUFoUUFnUUFvUUFJVUFJRUFLRUFDRkFDQkFDaEFBaFFBZ1FBb1FBSVVBSUVBS0VBQ0ZBQ0JBQ2hBQWhRQWdRQW9RQUlVQUlFQUtFQUNGQUNCQUNoQUFoUUFnUUFvUUFJVUFJRUFLRUFDRkFDQkFDaEFBaFFBaGtJckRVZkYwWGlZdS8xYmpuenpuUjNNY2E5M3lhZThnUkFvVEFsQ0ZRYWI2VVBRNXQ3UnkvcThtdVFsdnJOMzYxd1hhblRFb1NoeEFnQklEQS9CTlJpeDFFZTQrdlJFdnNrU2pxUGJFU25XSlBFRGFFQUNFd2ZRaHNyMGZMN0t1bmJuUWhXcDIxNXg5WmdhZkJlSkFjSVVBSVRCY0NuVzUwaG4ydGQ0VkxkY2pXTzdDSG82aUcrWlljSVVBSVRCa0NDemNpeks1SE40VllhK3hWV01iQzlkaTZlTkkvUW9BUW1DSUVsckJLclRMMk1pSFNHbU1id2xPVHp5a1NsRVFoQkFpQnM0OUYwVFpqYllIRUlaTnIxam9UeGpIQlF3Z1FBdE9FUUhXVEwxbGpXeGhMVnJrajNPQkhPdVFJQVVKZ3VoQjRhSmR2Q0dPSzVhN0JMb2huaGRIQnF3Q0MvaEVDVTRjQWt4dExDMHh1Q004eXRqOTFVcEpBaEFBaGdBdE5qRzBKSExTV25tT01nQ0VFQ0lGcFJPQThZeXRDTHEybFo5UmlkaHJGSlprSWdXOWtCT2JaY1Z6OXMwcEwrK3hyMzhpQVVOMEpnZWxGWUpsZjhlZXVxamFHRDlsWDR4ajZUd2dRQXRPRndBNzdlaXhRaXowWmV4cDA3RHBkVFVUU0VBSUtnVFUxbC9iWWRSR0h2YWRWbFVoUFFvQVFtQ1lFYW13ekZrZmRaY0tXRS9hZWZtdWFaQ1JaQ0FGQ1FDQ2dyekNwWTFleE1id2c5NThJSkVLQUVKZ2VCSEE1SWo1Mm5WTlhoN2Y1WW5aSjdqOU5qNkFrQ1NGQUNNeW9lLzFMNm5LRVdNT2VrUmNUQ1NCQ2dCQ1lIZ1JPc2FOWW1OTU03NzV5VitlWEVsdjRJMGNJRUFMVGhjQVovb1VtN3BiWlU3R25nd3YrbFVZM0R0Qi9Rb0FRbUI0RXF1cll0YzhlamFVNmhMcmlpMnZrQ0FGQ1lOb1FhS2xqMXoxNTdCcmR4cTVXNm1RTFQxdERrVHlFUUJTdHFRKzk0TU5xTVI1ejdHYWQ5b1dwYnhBQ1U0akFxYnRYWXFtZWM3ZVM3bHZycjl0WGZub1NBb1FBSVVBSUVBS0VBQ0ZBQ0JBQ2hBQWhRQWdRQW9RQUlVQUlFQUtFQUNGQUNCQUNoQUFoUUFnUUFvUUFJVUFJRUFLRUFDRkFDQkFDaEFBaFFBZ1FBb1FBSVVBSUVBS0VBQ0ZBQ0JBQ2hBQWhRQWdRQW9RQUlVQUlFQUtFQUNGQUNCQUNoQUFoUUFnUUFvUUFJVUFJRUFLRUFDRkFDQkFDaEFBaFFBZ1FBb1FBSVVBSUVBS0VBQ0ZBQ0JBQ2hBQWhRQWdRQW9RQUlVQUlFQUtFUUhrRUhtSmwzWlBsQzZFY2hBQWhNQW9FdHN0cXEvcUZ1bEVVVGp3SUFVS2dEQUt0MHVySzVLOXlsQ21GYUFrQlFtQUVDUFRMcSt2dUNJb2xGb1FBSVZBZWdhVllYZVZ2TUtmelArT2ZmL0JOWC9oNDAxVHFDMmtxaWlFRUNJRkpJRkNQTlhFMXY2eS8vTE1QYW8zOWVqNHBwUklDaE1DNEVMZ3RWc1BIQ3ZsLzg4ZWt3dDRvSkNVQ1FvQVFHQXNDczdFU0hnY3dmNjYwaWVuWFhnUEFJaEpDWUJ3STlHSjl2UnJBZS9IUEJPMTZBQ21SRUFLRXdCZ1FPQnVyYTlpSzlMT2MrS3Rqa0lKWUVnS0VRQUFDQzdHNnNtNEFiUlFkZ3ZxcElFb2lJZ1FJZ2RFanNCYnI2MFlRNTBxUHNhTWdTaUlpQkFpQjBTTndLbGJYd0RsenJzSFkxdWlGSUk2RUFDRVFoSURjOEcwSEVVZlBZbXdqakpLb0NBRkNZT1FJOU9QcDlXV0JqR3VNWHNvSmhJcklDSUdSSTNBK1Z0ZWJnWXlYNktXY1FLU0lqQkFZQXdLZFdGOTNBMW5YNktXY1FLU0lqQkFZUFFMeUltS29qVHZQRGtZdkEzRWNDd0lMUC91ZXhvK05oZlBnVEU4ZnZmNDNSM0V6N3EzdHdXV1l2cHdQclliS05CZlBya2NyZ1JtYUZ3SUppZXlFRVhodUhVMzd4aE1Xd2kzK0ZQWTJqejdweHBZT256dnFsczR6eFJuT2hpNUc0OHNQYU5mMXdOcnNmQzJRa01oT0ZnSHNTaHo5VHZka1pmQ1YvdjlnRkhtdkw2Rk1YQzNVR2l6RDlPUm9LODN2RHkzOGREeTlobXJoVXNnTEFhRmxFOTNZRUZoc3NxT3RzWEVmaHZGaWh3MjdvcHBuN1dFa21MNjhEeDJ2QkFwVjdpSmlGRFgyTGNaLytYLzR3dTEzUG01RlVTQUhnZG43ZkltOVhWL3NNSEd0Y0lOcG1HSUd5WXNYd1lic01QWFF5YVc4ZUpVUHYra0x0OTgxeE9UOUxmL3VPLy8wM1UxYlNaUVlIMzdIRno1NjE2dFV5SGd1c3RjYW9Wd3ZHcGE3elZ5aUpIRnZQZkZIVVh3dEt2T0RGQ2JwOVB0L08wWkMvVDk2L2YvZUhiblFaM3ozd2hiWjlSRVh0RGkwU294WUlKUGRObU5YelhCWi95azVPNnVHa3Mrak40eWd2ZVlGc3lIVXRTTVllTlUxZm1IVk8xUzFndDhrUHhmWDFzdkZBK1JjMjR3OEl6S1BiN0F6eXhxN1B3YkMvSCs4T3VwQzU5bEdtdVVwZGlFZE9WUU0yc1ZUemxBc1I1Y1p5K29oOUFIYkxYSm54bXlwMkgvMDZXR2xQQ0YxWFFyZVBJcXdXY2ZkMWlBMW5mdkNuellZSy80ZXhTQzhKNTduWnovNmJnN0UwWXV2Q2NjREkxLy96ZmpBcWpxenpXL2N1enRrNWZjWWE2ZFpMRjdzcGlOUElLYkJnaWNUajNSejZqWE9hM0Y3c1p0eGcvMTE5RVQyMXp3WnlrVE5mdVc3d1NWd05Ibno4VUdLOTg5K2xJdXhuNHBIeE1KWGZndEovbm14K1lRdmh5OXVCenpnQnRVNURPUVhmR3lmbG5IOGMzTWJTdkpuTmhnTDMySlh1ZktmRmQ4N2lHdDI4OEpvQ202OGpOTHF6TGNsdUQzWW1KeFJ4dURSaDJ5WTJ6YTNzVlZkOUF6YVM5ZDByb2RRa3FhSlNucTJROVVWZHFrdTJ5aURuNDE2MVJVMHo4bFMxNTNNTEFabjRlVlZoaHQwd0Z0bTdJckxjcHJEQy84NVJ6cU9SVnVuODVYNWhnNk54bFB6dEhEZGpxdjZ1MEdaOHIyOTRsc0hOS0hLRkJ4RTJ6ZEJEc3BoRXRYTm5sb3poelpzaDQ5Z2ZNV1FIVGE3UXErOWU5eUgyZXFLalYzLzdIbytlUE1vUXBXNU96QXhDZmZ2TUxZYlRuM2lsSE9kdkNtR0wrUU5FV3RzNUpla3Q5UEQ2SUl6bWE0TlBuWksyU3UrRHdrOHR6RXQ2bG9kWmhLMGx4TlFEV1BuaEo5S2JoanRONUFYUTNhWXV2WlEycWFuQ0xSZjF1d2FaYWxyMUFoOGl6V0s1RVhFUnowbEIwVGxDUmVRZmNJa3MvWGNyb0xQNFpqbUwwZG1hN1FTbm5IV3FlQytwQlpqc2lSMGcrQzI4d3NIZFhYTjZZVVhvQzZqcm95LzlNTFk2akFqdkwzUTM3UFV0ZEljZXFTTEloaXpZZXJhQWFEWFBaWGROdFgxdFAxcHBVeDFkUlpFSHJZcUNydiszQVZmUkZUNTRtZk5tby9zdEtrTHphQTkzWTVzQ2xtMWsvbFNkdE5NSDk2L2xHN2hzODYyNE5yUWhicnFPbnZ0UGFnSjNJakhuZ0hocUE2anJ2WmJKbnVXdWtaOTFQRmdRS2xVdG1CMTdhR3dEWlhMZUZycWV0WlcxMGFHTVJ5ZDliSXl1Q1plMUptN0swbE1DVi9UbW85S1pEd0Iwdk1OeGw2emtsTnd5eDVaK1VBV050TG04TFNURnBqZGZranRHOHRsVGp6UGJ1YkphUFB6aGx4MTVUYiswWi9YYndWMVhiVDd1Nk91ZkxkaDJBWkRvNGV4MkVGaHF4NzgrK2JzZXNadTdreDFuVTMzQ3c5ckVTVXZJdVpOTzFsWkk3ZG5aQkpPUWNLM05SaDdkYTRjUGR1OFFlVnlKK05jWGhtSmRkUGFGalE5OXd0WS82NmJrVGMwMm0yVWMvZnlGMkZ1Q1hXZHQxY09qcnJ5OFhYWVN6dkI2b3BGcnJlc3ZxbXV5NEhxR2pYZFhwRFoySlVHYWdtM24wbVJuWUJUaDdDeEtKdkZwRkllUmhWL1BMK3dwbU5qSUlkL0p5K2ZUVjdxV3VvUVk5aVZhcm8wVjExamlsdENYZnYyMnQ5UlYzR0pZRWpUSkZoZG95KzlheXVOUGJlV0RFM2FDVlhYdmZBZDIyMTBTN2hOWCtFRmNiQ3pyaGVRVEVueS80WWEvdTE4V2Zoc3VtdVNORElHVUpPbXBIL1pOYUJtQno3eXppejVGbGJYanFFS3FMK3JyajIwNEdvbUxrRUo0ZXFhd2E1dnF1dGFxTHBXdzY4djhMVU5uSGRxejVCSlJXTXY5WXJ5VC9YemoxREJYeW1Ra04vcTNEZHBFQjV5azlia0p2eW4ySVlkNTcyWGFKTllvYmt2WDRKWTNCMnRXd2xKNE5aVjE0cHpNOEZWMXpYQWNwQUFNWWh2dE9wYUMxWFhVK0dMVjc2czRXNjFmUFdxem54VW5zTmtjdnlQcU41TGlvcml3NVpKdzE5WE1vNzF6S1NCL1hQdVpGb3RCWHRGSE1oQUx1Nnl6dDV1WFhVOTd3eWZycnEyZ0VyV0lCYllaS05WMTBhb3VzNlZ1S2kwd3h0L29JdUlMV2MrQ3NSazBtUnZSZTArVVZpb2Mrd2E4VXRPZzE3T3pDeXM0Y3pYZTZuRmJHWlczRHV0UVNUdHNyNWdlZXVxNjFtblBhWmRYZWVjT1ROelp6akNEWXB1VHNOYlNieGZ3dG1YNFN5S3JFRFBubyt5eUU0NC9ubW8zSjhVeTFCMU5vSkhja3ZHTGZiUTJRS3NsMWlEVkFBM3UvdFQzL0V6d3YzU2lzdGJobTlkZGUwN1N3bFhYUkdlS21ONFBseGRPeVVFcjZHYWNGY3oyajg3dWxsaURzL21NdDZVeW1leHp0c05LS1BsYkhOem8yTXJJRjhwa2gzN21IVWgwNlQxY0YzRHJhdi95aFB2Uk4yNjZ0cHorclNycnJYaFcyeWt4bkEvWEYzWFNtejF3Z3premphMG5VN2dDNkpqT0xhZGorcGs0eXFIc0J0V1EyVG9PZHZjblJIY2FVdVZlOXBlWEMyRjd3aEdXRnMvM2sweFRFZmN1dXJLN0xFdXRUUGNRQ2RPNDFFcVpxVHEyblJVS3NjWTNpbHhJZ29adVN0OUVSRjdxVm43SGFVd0dpUHhRZzlLRnpaSE51MXRicjVSUFBLbEt4YkUxODNhbm5IbUN6UE44VmZxN1BFVko4NGJ2R1hWRlJjRTdRbzdzeXZTaHo0b0g2VzY0cGFWUFFQbXFPdlpNamR5VUcvdU5tdzBDa1BUZit5NldJTzJ0Z3Nyd2duUXk2MWoxNGNRRHRQeklQYUtpRDMxQzRiYkM5OWh1STBkdFJXVDNPY3RxNjVMN3RMTFVWZSsyWkMxLzVhTG1KRTRTblZGM3d0VzExTmxidlBHWDcwb2JkbkNpTjZJS2w5dXZpSDU3TVlMR25mdkc3VVgzc1VILzY0YkZSTCt5SHVPLzVtZyswanorRVVoR2RJMGN4MHM5MUx5cE9sNERCK2JEVkwrZm9jTnRqOWIyVmkwb2VuTTF6ZWp5bjlvM04zT1l0aGs3OHhLc3VOUFhGMW5IN3puazBLa3lqKzg4K2gxcTdaMFVkVWVGWjNVdk9CcHQ0TTY2dG9Dc01ZQWl5UHFvemY4bnduRGhTOSs1MWZlZllrVC9FTWsvSmNrUWZqKzMzYzMzZ0NwQTlXMThzVTNmZVgyUytzR2o4VXYzM244UHZTZnZ1NUYvRHpDN2tIeDdEcjNXNDE3L3hkUVdnN2J2Vlk0TjZBdUlyWnpxVktKVmNZT2NMaHdNZG1sK2tNRTlNVTk5UTJhVm9sZDZxUU0zR3hvQ0F0aGlSM0ZuaVF0ME1kZm1IdWtHMGpNWDhBeFNQR0RlODVLeVVnY3dyc052b1l6RDNheDgzdVIzVnp4TTU4UHZzZHk0dXBhTzRvN0JOL0p4cUMzYTFlb21vcXgwN05EeTA3dmQ5YXUvSnpjdVBtKzFHQkhLRDI1ZU5wQ3V0RG56L0lPeGY1YnM2Q0YzOFlPUndQRVNsMlhqdTU5L1IxM1hMN0k5bWU1NzY1TEYva1cvdDdGeTNmY2NhblJqczRJWG9hNlBneU9sOWp4cWxiWC8vVmpna1Q4ZTFJV0pkUjFwc0VWNW5qTExGNE1FNjRHMndSV1NIYWlrcVpFQ3oxNkRWKzAraEE3NmdwMmN6amVYTk03ekh2eExRTjBIM3QveFNvNUt6RERmcnlMOXI0U1JaMlhyMFFQYUtaWjlKNTQvc0pjMkhLUFo0WXBkVE5oc3RoZzdQdVQ0T2g4Y2x0UE5DUCtYVGM0L3h1MGRpdnJLNVlDQ29NNDIzdlM2bnJxZUg5SlFMbkhQOWwvdjRrcUY3bzZzTHB1dTlzeGU5WTlsdmNEemwwTnkyempFZXlpZjRTeFY2aW9GdEs1dXY3NkVXWldUSDNyS2dFTHBtdnVuUUFBSUFCSlJFRlVvVU4yNCsxUjlIUHNuVnBkQlRIKzdmTTlETzZFdXNiZXRMcCtHNjY0ZHFPNTJzMlZ2cHhkMTJKUzhkOVUxNFg2YS9hajJXWnE4R1ZsN3N2d3FRWE82SzlKWGJKOVBjYStTU0MwelY0cHFQcVkvSmMxcUhLdzQvVTFlMlUyUHpPbHgrZWQ4NmpWS1c0dmZydG1hdExrK3d0Zm1MT3pWODJ4bWU4bjU3KytZMmNPRDFsN3dkYkxybk44MndudnozbDVMYnJyTmkrVmlEeHBkVjNEb045QXR6Z2x1Z2Jtdkt1V3JNQjUxNG9JRGh5NjNjaFNWejdBL21qQzZ6QWVxUEY5SkZYOFJ6NWFSMC9jV21qOEMwNkZqYnVFK0g1MjNPYWhYei82c0R6Tm14UEU3UGpGM2NYYjcwUTJkdDl2SXYwQmxNSFk2N3JSK2E5MDRORUtQOWRnZjQvblg2aS9zaS9WOVJldlhmczRGRXA4cDA4VWlHUSt1ejRrNU1MY29NVGkrZUNhQ2JjNEl2Yy9yd25jYmk2Um05aGt4eDJCMEh6Y21TcU5yUWl2MnQ2TTZkUkF4ZFgxcTI3V292RFNVWmVUTk5qVzRVYkV6ekJLbnhoaHdDdWxjZHZHc1NzL3EzMXFoUXN3Y21lOTh0bzM3VzArMXVIakV1WUNPaW45ZFBndTlVbXJLKzhFSFdoVzV3ZUYrRFZucEsyVzdXVWFoSTU3Tm1tcUs3ZThqVDR5bzFheE5XT2NXMEF2MzdxTnd5d20rWDNGR1I5VHZSTDdEMStlOUlJYVROYVk1RkNQNVB4RzBmY0swZ3FTMXhXRFBkWG5sNDdXa2dZRWNWeVdJb082TG5CMHhMNm1tbkpsWXEzRWtWNFU3VUFPT0llSEtzZi81Rlp1L0lNQjJLYlpCYzBwUG1DZFlmTGlEa0M0empQeVRadFNmSG1tdFhpNjdyR2ZaTjBJSm1MS2VPQkVlZTVoQ0plc1cvSW9aUnJhUklpTDRJYzZqUDJ0Z0N3RGtYVGthTVl6bTU5YXF6UjJFWU1tUHNBajVWcmh0aExtTTJNSnB6alZ1UjA0Q1RmTGI4ZjEyTmRQeTNxMm5LYXJEcXl1RGFWVXFocDdpVEg4VERUWmExWlVBdnJ6RGJuSmhNWEhWUjNkQndqMXRnaWVZb255OTdTSW1CZDBYMFZPdWJNQTM2YmswZExZb2g3ck1oSzVsTGNIQnZzeTJxZXVaeCtORTJ2dUpjS2U3bjB5ZCs1RFd1aWxMaUx5UExGV1lSYThBUFo5UG9taUdpdWlLR3czYndqUFF3a0VJaHp3YjBGT08zdnNpQThCSFd2a0RNZ2Y0Y04vUlMvTU9XelFuMi9jd2QxbFpMMGI2NTR4dVpaeFM5aWNEK0x1alNhKzRpdTRZVzBoK3loMEhLd2EyYzEwRkR3VFU5ZDVQbGJVMk9NMVdZKytHcjZsTk1zWkE1SXByTjl2S3A2Z2dMb2VpU2E3cTRIRysvL01YRDAxT21FbVNhWTRsUDB6Y2loRC9HTXlBK2FWRFpXM2svUlZOSVdjcnRIUmVmZm1Mdm5hMXBsRVIvZVNHWnlmc2V6SHBIem9UWXJtY1poZDkzYmp4RzEzKzNWUGl4TVRGUHhIL2JoYkx5QXprL2xRSkVXTDcyOTBEcEFNUVdJaVlITlYrTkIveWhyRHB5VlFhekdvamRMM01ackZMOHpGVXVyL3ZQYmFIWC9maWs0WXNXZFpHQ0tDcWZWZFA3N2tFOGJ3cGtpei84Mld1SStDemlXSGNKTkhYZlZmTTNJYy9pcHZhNVNteHBlcUdyNWxZVVkzTDFjOHJJWmRPOGVlYmkvdSthRXRJN1doKzF4ZFM4TDNWZGp6Tm1NcVk4bXdiYWhPTlZGWFhMdFhzMWREVDduemVyREZsTHNlc3pJMFg1emU3MHM1UE9yNnlMMHlEZVhzU20vOGFQa2F6YUt3QWlpZE84KzRiSkdaQVdSUm8wZUh3ZlJaNUhacjFGT2phVjkza05RZWdjbkY2MSs3RUVlalFhN0ExOUhRZUtrOWtZQzY3WW5PamdMbVFueE9zZkNMRFhham5VMDdWTW81YlZoaE01cFhMbmFWMko2QWpiYWhvb3hubVYvbXdDaDYzY2dxdlhYZEd1bTBrY2FzOFRvMWtybHJKOEZWbElNYVhoaW9RTFRRcXAwUnZVUDMxdy8wR1B1ZUpCbXRLWk5BMUZYeEdDcWFXekxBMUY0VEZEZDV6d0xTNllWYlRlZnNxWGsyT2l2bkVYR1NzQjZ6cXBxOUU1bjJaUWtlZGRVS3M2em1NaVZhWDhtckl2S2YvTlNLdTI0K21abGFUY1FVT25vT0tzdGZCWktWQjA0ck1YbTFkQU0xVnVPY1BTWjY4ZnNWdEhGc3dQKzNRRjlWd3dTUWkybk5lRmtHT3o0M3UwSDVTaE10SnYxaHgxaE9ub3RubzJUTXRoZ2JVN0lWN3d1Z1dhNm00K3VUVXRmNktzWTdkQ1E4aE9zN2Zjby8rVXZpdkFkNmY5dE9Sdy9UNmlxK0xaRmN4NEVBMHVwRithc3FHOVJWVFpnWVVVUjNGZnVZV2tQNVZwOE90TFRaM2xKVFVMVHptT0tGemQzMTJOOUxORlQ4WlBLK0pQR3A2NlpNZ3lSWHBEZCs3T2dSd1lyT0RLeWhobkNibVFTcGhGYUNYNDIzaWZpUUZGcERUcmtkRGMyOEZtMngvczRVRzAvRXJOS2NqclNzMzlIVlZBNkxtVXNIT3NudzhMM2Q0MVVqb3NnTDlKTXhWcGowUDJwbnlTaklKZ29KTmZscVhMaEQ0MTVHTlRaZ3E2NlJGRk9hQzE2Wk9mT0J0bGhKSjA1TVhmbUFqMDZnYkdHY3d4dTE1SEw1ZnhNa0xiRWJrOTQwdDlWMXNXR01VMDI5SWdDaVZ4VXJLSW1lSGZYYlpEdW1RWU4xckZiWFphME5QYTJRZXh1S2wxWlhqRTI2c21MUXlGUFhBNWtkdzdMbUpLS1dyZTRucVhJZU1BTzQwMzBwaDFRbTlaS0c2SERON1Y5SEF0andCMXpDYTRrZGlCaStBVzNxaEl4TVArWVZxQllTTVozRFlpL0w1bjgrOWlHU3k1SHBNcHdZdEkweFV2TnRBbWNzenl6SVlWUVkzTlBkdDJHQUxmdEJTM2NNaTA5UFR3cFd0QytBWHEyV0tHWnlmVUt6Nnh3ZmFXR1A2MDdmMDZPMkZPY2hQUzJaOGhYN3diUnJVKzNaYlFiR054UUZjTHdTRTZOaDExVTJxR3M4S2lJQ3A1QnhkRTFQb2dpYjZwclVvcUZWdnJrYVp6S01ZZlI0MVYyUkJwbjJKWWx2ZG0zTE5LanJwdlRHajJWVDU2MFVmNkFDbWJocis1TTlzWHA4NG5XSFhYZDRGVVFhSFd3d3FXNmpEOEdpbnJKQVRIYmZmbVBYREhJbTB1VEF3Q1ZObW9UQVlkR3d0Q3doRXhkWFF0NUtsMW0yazlXV2lLazc0U2k3SUxQUUFIOVZHV2R6U1o4R2dtMlJ0WmNNZ1NhckVtK3hnOE9xbVZYNlVaOHRUL1RJbzVaNDF6WG5qcnJiNU9nWVFXTzJLeHJVWXNXTzI3UFZGWXoxRmYvWit0K1h0TXRhY2ZtK2JyTHBxZFhWNnZPbXVtS3hISStuZkYvamdtQzNrSWlnWjFjVW9NZUFRblZWTlJoYVhhTStoSUlURzVRMkxQNFFsdWg2VkVHKzFlaUJMZ2hiU3VGUmNiNUh5TjJjcm1USG8xeG9Ccm1LaUtueC85eEI3UFd0Y3h3V3JsWnBIcmlEQXFrK1lZUnp2WWVxUlNRVjZtRkxsVk5RTHVOVW92NmEyaWx6Z1AyL1lycU03NnluUjYwVVd4bng4NHo5cEMrdFBpRjFuWHN2U3E4YUU1YlJTNlJjNzJmczVUNFJDK0lLMVJXVGdid0hZSEp5MVBXNlNsUHF5blZSS1pFOXUyS0VqaGRscDU1cVNvMWNTdnFFVnRmdHBLT0Q5MTcrN0twSzk2aHJ1QUVsbUVDL3VEUHNjTVhiL3pSMENacXJadVdhV3BYakJHcFRacHhSUzFHYzhseE5NV3NoODJvcVZrVDROamtkRnIyY1NlTVB3UGtsZnM2cFdIVG5LMllrV2xsVktZN09LOGpNV09qWDN5cXRzbDJYR0VDbXpBbE9ZNzkySjk3QSt5VTNMdzkvOE0reXJuS2hmbHUrSEdPSlE1TzJKV05vZ3pIM3hKSG8wcS8rNzBzWGpBNlZxSlhJRFQ3bUFrYjgzdE82eXhjTnFSc1dzK3NGbGE3VUZYMU1yMDRjZGUzSmFpdy90aWNOQXVPei9GcGRRWFZkTVMxU1Y2MElLWFhWdDRzU1ZnVytEZ1NIYXhlUXFXVFVNNWsrOVppaURBaHVGVitWcEV2YStGbDR1OHFkUERzb1V3T2FSSE1mS3JWaHgyRFgwV1l4OTFNdWdSRitHS3ovamhITzhZSnkxMHhHYXlSckhwNlFXNUNaczlDdmpKTDBOOEw1SG8xZTlCbDgrSENZY2g0enFBNmlGeG41REMrU3RvemdlTDI5UkFOOEkyNzAwNUR6dm01SkdkQWlUbzQ5UjEyNTV0bGp3NGZmOUpXYTBidWdycHVLUjFQT0sraGp4cnhtR3NOUlgzYUIxdWFPTEZ0c3o4UWN0TG8yRGFaRjZxcExRcWtYbENUaVdWNWRiME50NFVKYkZmSnV5aEt4dlNGSHZxUy9iU2VjNXEweDBKSVNBVlJYTTNMU3FvWlI1U1NGQmZuRllldE5xYXhzM0NUYU54Tmhlam1BbXFsRCtYdHlqRzBtbHBYaTUrM2M0b29weEhHYzNURUZoNzhCa3IrMW9waFp6M3JTSEZiOFdBTEdyb1p2eEkwK3hOdmNnanRBakdKMTVZdFhyUkFZMkYrSVNuTjNSWEgzcVN2aURJUFNVbGZJZnAxbjdleWk3QzN1NjYzei84SnBkVzFZYzhwZVVqSFBWcE9XTHFXdWlGQ2NBNSs4eTViWUJsaE9wazkrOVNvdUJMMThNL1lkS2cxT2RvNzhjdFNRV1FOcWs3VEM1M283b3c0OXR4RjJkWmdQT0RvVDkvQUlaVHhZQ2NNSCtyRUJzNmkzNGhLV2FEUWZGTDdaMWZ0WmNQN0xrSStzSlB3U0gzcnVWaElhcncvaTZsMk5IY2RxNFNYalZlYWJmOVVyWlo1Y3hlb2FvYkZaVi9HWVFaWHYvbGYvWk5tQTFLZXVTRGVHVFV0ZDVTWjdoWFdoZWFKZEdtM0ZIWGRjcFBXRk1rVmFuTEkzb0xxV24xMmpRNVNjdGo2MWdJNW5PK2tBcUxJY29lQTdpT25xYWhHTHU4U2JUbFlyQ0Q1WkJualAwU0VyWDFpQXYvVDY2dUt1QWZDTlJnTnJibGc5RmxaRVdTcjUydHc1eit4ZDlYUnV6dDZqMlJtbC9rYXlJVzlSMUpQV3N1TEhFVEIyTmZpeDY3NVRCcUI5dkxoRm5FejgzY0tpdFd0VVE2TWR5SXk0Tlg3TXIva3ZHOXJrVTljZHErVXRkY1hCQkYvR3pkemdkd3Y1MkMxT3FTUi9wYTc4U3NoSTFGWFB2TEtBd2djazhHeXRaV1hiUzBZeVZQbUptS3lsVzhlWXAvZXVadkhnOFVCSWo4VU9uV0ZVT1NuaHdkazYrQmYyam1WZEE4bVpHOE5qbWwzUHg0eVQyK0pKWlJMNGtqanVhMlFoWkpQeDBCcnpidHdCaGEwMDhYaGlUSk8rYnBxbm9qaThvU1ZmVEN0WGV2SE9NTitXVmFxRFhoVi9VZzh0cTdXcHBMcnlxOC9vT2FleGxvdlBJOFFyWjFMcWsxZFhQbEM4TWhqRFRqSjlBaWE1UTZJM2htRlo2eFZycDUzTDlFdnZ5MGczamFwY0RybUpjeDJNNXQxY0VuR0x5ZDdqNFVQWDlZSk1BeVpYWW1SYXFXbUhYN2kyVFhKVlFzZWUrbFcwNzRtcFRaMTNtOG5vZVJOVFY1ajBHN0pzZENsM3BFR3FaNWZNbE5YdkQxRFhOVFRhcHNqTlgyMDlFTDdsQW5WRnVnR3VOYnR5OVYvRnNSU0c3Wll3SDVlTlBxTFVGZGVCa3ZGZzhLMm1zdGNrZU4wNm1XYXBxTG45enpnaUJEWVg0a1E5cDhMdVY3Wmt4ZDhGYlc2K2tHbFUrZElENHhacmtHby9uL2pRVlU2MG9scUY1K2NjSUxVajdKNzR2NTNkd05SS2NELytieVU2Z1Y3S2FPUUVhS0tKcVd0VnFZb3duVlEzVUdKaVJPOHFmNWtuNW13bjM1NHhKUWhPTFRUYWRlRjdTTzhSb3lHdnFHSjhzeXZTTTlVVkZVSGVQZnlCYWdWS2UwRnhNbTQxb1V3UUtBZVo5cVcvMUZiVHNpbUZZcGIvaElycEdUR2ZrcWMya25FVEVsOFZHYkEzSjRkMnJEUlUzV1lNT0lyWkdoUm9vSkhZb3dzOVdFWnRnM0hhVzA4bWhEaXhoVG9kcE9sR0VpUG0xWXBhUHhnc1lVN0lSWVVSeWIwN3VnODRDWjRnTnZqWDA5R280Rlk2ZGp3eHdLNHRPV01xM2JRTDhjeTNOa0ZXQ0wyemJhZEJOZXordW9aR0U3MnUwdERFeTRZMitkUVZFaHFyUm50MlJTZEdCK1F2OFdCcTM4VjBkcEFJb0dmWHBsVkZ5TFF2aWJTNkhzcHNqYVFrbENvRTFmeXE1YTk2QVdiSldIUEo4ZWp4aTU4V3lvRVB0WlVLQm1UV1plWjVxY0Z6RDk2em04TXZuWlJ1YTV0RjVUTVhmMmdsblMwZFV6bEVtMnlsNDVNWTFPQWdDY0ZYMDNWQ0lMZ2dpMFZtWUprUGJuSUZheEVCU01QY01wS3Nqem9aOFQ0dkJybnI2Zmo2Qk5XMWw1ajBPeTZ1ZkE5dnNERVk0RGhOQ05XdzFSVVJzUmtPUFZQajNuS0J1a0lSOWVVRjU1b0V2em4rQkY0dkFwcFkyMjFndzZtYkFLdlZGVDNsUWhJTkVmWmxxSlM2bG4walIzdzhVZDluU01yUDhzbk5NcDZNR3N1TThFblJxOExzRjVtcjE4V2owcmxSUCs0S2IrQS84TGdhazg2c2k2ZkRZdS9vM1U1N1pURXVla0dIbjJHMXpjeW9uV0dkaEJkazhzajBpejNoczZZSkpVbjltb2JFcFJKZDNMK0VxS2M2ZTZaNFF5ZlUxVG1CZUorc0MzN2lmbXJNRjJQd1J1d3IrUitXMjZxZEJhcGhxMnNIclNaNlRGLzNRN2t6UE5mbVdYMnpLNTlyRXJiMjdJcGVjQ09LTC9rMHNMYWJNYWJoNUNDblpRMlBnNnJydGxPVlJLUXMzME9sZ0VSVllqVVVWMFRsQWdWRHpwV1kvWFl5eXF6RnV2YnNSMURGamF6Q2ZmRUFZaXVPbHhwdnM1Zy9hdVBzcWUzTG1ZNTdQZ2JSN0JkMFlHZ1piWWJjR0hmWWs0cExxWUpVcHB5bk9ISHRxN29aaE9qS0VqNGprbnNYOVdUaEpIaUNzRFk5ZTAwVFZGZjBETDI5SksvNjFmZTFvTXQ2RE5aUllSNndQYkFwb1JxMnVxTFI0djdRRWJhcm9FWjV3TFMveVFNK2RRVmJQUis2c3l1M3Nicng1NVY2cU5OcE5XTnpYbnAyclJvOXhiL1ZGR0lNdDlpam5HdTR3d2I3MFVvNE9YYkVMa2pxTlczNEFvK0RPTEtsN0dQOXNrbm5BSWFRcHlObEY5blRteWJ5OVRLYkJYOTNka2NMa2MwbVRua3p5L25aU0dCdlhHMUJoajZvRHhUTGNnV3BYRGxQZnArcFpwaGdpclNhOURJVkpaODEwdzV6MHB3ZytwL2RpVVY2WFE5OUR2bm9nekJWSHBWY01TUHlMaTdzU1JtRk9oNUliOGxIU3M5ZGRlVVRwVUNWSDNGMEpYZVVsNnV1ZkJOdVYwdGl6NjVSQzJsOTBjMzdXSGRXNWFRa3FMVzZ3bU9vTVdUYWw5eEtHY01sdjlVa2hndFRIRjJETEU5RGF3cHVSS3pFVk11NjZtdDZ1cEpueTl5U21FK0czU3l1SXI3eUMrS2hibUZENDNkNWhNM2lGTi9CcXJKZ21SOUFHMzZDcy9FNHlLMG5CSjZNb1N2WkZpaGJrSWUvRThWL2hKazk3a1FpaU42aDJ0cEozTW1ZZGgweUhvUzZHdDFIRWRRbnA2NHdWZFRxRkY3ZVBzYUxMR2d4UXp1VWRFSFBwbXViN1RrREV4UW5ia2ErdGxFcyswWHF1cTBuR3k2cE5WVnlTM3F6ZDVXemd1R3pMeWVObUxOV1Z4Um1yQ0VQa3liRTZCSFBUclhkT0V2ZVZsTlAyNm94YmVIL21yTjhLOHJRVWVxS1VVU05wcWpVYXB5dnBRR1RONGJQb3QzTytQcW9wNXhEOW1PSXhkRE1OUkp1TGg0T2JCYmJyMFhLamk1YUVPYis0eS9vdk5kUGdUWlZWUkFFMktvUUlvaEF1cUJmZkZmYnp5Y3d0c3AycmMrcXFXdzlEWnFLVWM4bDM0eXBFdTFubUxyT2ZmeDc3R3pSbDk3bkRoV0xILytrUStNaFNqTkNSOTZVK2RBZk51QTlheGhWMVlIVlZYYzR5WndmaTFwMlJBdXRkb0Vub2tkcTJ3VkVWL0tNWVc3VnF0SEZmckVlakxBbWVySWhZSUVlSC9EdjJtaW4xWlZQenlzNkdrMG82QkdCL2h1TFY5K0trL1BVdGFNeDA2eHlQVEFEckxybkV2TkUvY0UwbkJ4Y2xkU293MjdzeFNnajQvb1hoSWQvY21zbnJBaEF3MDFUYkx6SUdVZ3VHaXdXRlFGakszeDJqYUtIMFp6N1VpcjdnVFpObWd4Sk5ZTXlYUkRrcytaaW0xZEFhSjV0ZXBmeFdjZXVZTmtJWGFRSHpxNW9ud05MVXJTL1d5bWdZdFA0YnFDbEdQRXBTZldIblhqNGxsMUFsRmZWWGNRcVBpQ3daN2VSV0NlYVhiYlNRS3R0Y1Vhb2krcDlYSm5ROC9xYlBONjNkdVZhbFZnam9IaVNVMHFIbWZOR3JQaXdyMTlwYUtXeGR1VUxwMTJWQWUya3U1ZytzbXJLVHBlbnJnMk5tV2FWNjJtbDJpYVhIQWdvOUhySnVnOGFGcmNVaG5oVk9Ua204ZE9yd3pEbFFpTnp0QUdkeEhGdFU4aGlzWWczN01yWkVIaEJaMWR3Y3YraFRUZU5PUDU3VnJyVjBnVnRJeG0xR2R6TnNpZDNsQmxpY1BIUGl6RkJuMW5UdjVITDlmcTVvSWFyQmlVM0Y0MHBEeW04VW0yRFFoeGV1SVg2aVd4R25KTkNCOTRWOE96c0pveXJXVzJRa0dUNCtrbWJ4QlI3OWd5RHVVS09PSHdSMjQxcDVtNklDYjUxaFFlOTZvcGVxYWRpK08wcU54UkxxUDJObXpITCtIOHl1MkwwdnFCUzRFOVFiTEE0aDlLRUhIVkZveW5NRkt2Y1oySjU1cElaaVdkbHhkRHkzNitpNGQ4VWZpNzJ2dkRKM2U4S2g2UVJ0Z0piWTJMaHVOZVFzNnY4U0xqTjRneGZGT0h0dXczK0NIWG5YNy9pSStXRHk5VWtZYTRKQWJvcW5DNm9CdklObFR6UXMvSDRvV3BESXo5Nm1SNGtqR2poQmJKdE44NGY5cXNycXJScjBQT2RiM3R6alZmcWlrRVI3NDViUFRTMk90SkVOaVBlNVJYSzIyTGNOVy9HRDdGMlhYWnRNeFJreks2Vk9tb1F0eUxmYXBLMVBmdEdvVXp4dGZWbFE3RWFXa214OG9temlXL0MyYU5ZTDE1OEE1YzlaM3lENmlza09yS2ZncXFGa3JjVWlyMjRpRGwxL21PWTZNaDlRWkh4SjlTdmE0YUwvQStWN29FemNvWGROMThMYU1yNXMvODRrNFpVUCs2QkN6OGhobXRkbFR4NWdCR20xUVgyVitUbzlPellTck5aekhCVzZKb0hlWndDMDdEV1NVQ09Gam9JWHRWWjB3VTFrUzRHQzAxVDF0TmpEV043UXVYT1BIYmxCR3NwVzFWbGM1NStkYldxSkhaT25BN0NLN1Zwc2NMQ005bHZpMVA4UkU1UE0yNzE3NGd4NGF5aFZFT29hK28zTTJ2YS9PTFM0VnUxR2lLa3lNVk5aMHQ4dUNYK3FZMXFjdmpJci9xdXhKWEN2cUt5RDNhT0VoNGlzYTlCTWZQeXBPVkVZWjZ0ZTg4Q2Z1UTA2WkhiOFJCN1NpNHkrS1FRbHloeVc2dXZHVDE0S0lyY0owUld1N3U1ZEdaaVhUVFRRaU9aWExsSjlUZ25xVFFPbXZGRjdvWEdxczZESVYzNzh6eDdZdUNhZndTREpFZTAwbHpYMUE0THpFZHRuVGE0NTM0QXVhK3lmNmlPME45VElmbTBDdXFBQU9QSkVLN3YyRnd4SytqSGxVeW1XSSs5TVRQUlRQQ3FLMTR4WlYvallFckg5OUxVQkJSSGRSQmhsODVwbk5uVlQyUXpNajZCQ2V1VGowcUhKdCtxVTY2U3FQaUpIL3ExaVBnZ3F5YXVxUEx0Q0IyMUpRRW1uL2pYbTU3ekZDYTg0MGo4Y0E5ZmpPbDI0OHZicTVJYWE1OVY0WjFyZkFwTTltVTBmNkJKZHVNZzBGaVBmZkYvZEZLMVBNRzhMZ2VrKzJFMUpYdVV5TUpydmlNVmsxdWN1NUlGY2d0RmtVSHNhWG1HYjVXWWZvSnpwaDJXcG81akhoSVc0ZlAwa01aaklkSXVIcjkrQTl0S04zbkVXK1RRd3YyaDl5SjNHS2JpcUxZSkE0UWpkTDlneEJta1dHQStpdU1IL3ovemxlL3FBRWYydWsvOUJYY2Z2Wk1IL3JiTHp5cG9EUlFXMkM1MVlSaTk0RUthcUpvMFp6b1J2NVFhOXVFcFYxMHJmM0h0OWdkNXBkanh1MTc4cWRXWU0rL3F1cnVLS0Y0cG1SaVQ4UDFWMVExbERIODd6ME5rTTRKZHAvb3g5bnhnS0orUE5VZnlxT1pXVWhYa2UySTkwTlh4Zi9IUmQwTVduS0ZjNDYzMmxkdWJQUEFuS2hreWlCOTJQZDg0NE8vSnZxcUR6djJsYXdLRis2NTlJbHE0OXZFR0tJN2VkMjFmNUtqSlBuejRPTmZpNDJ2L1NmSGgvWGtsRGdDTnRvNStPT1oxOTR2aktFd2lCenh0aVYzZEE0UC83bE5iUElSSmkvT3ROQS9nWDlSRmRpT1orNzVybitSVXdwMXhrVllKL21mUEZNWlBrb3BkYU54bzQ4c0Fla2dUQkh2czVuNzBURXk0aXczK21hUS8wdU1KVXRlU2Rrd3hNeVBPYzNWNUt4cDVDWjlHcUx3dGhpSW1jRmljZFJaZ0pwZEFQKytCamp2K25WUmVxeUIwZ0tOU2cyR0tIWHJGUVNxU0wzemk3cE5PUWd4Zm0vMnk3RHRlQWhtWlVsZXJkbGNrVlFjL1RyOXVza0dYTTRaRmtWSno1MXQrc09FU3BSaWhYeWQyWHAzdEwzWmVhWlpUSFZoZE1XMXZhVTRzN1k2TlcydlBRZktyL3VXWCtTY1hPVzY4ajdaVWprZjVEV0RwWW9iWXJIaE5OMXJzSGJXNXVwcDFYRWc2bURtM2I4dnNxbmYvUER2NmN3d0krSUhaUFpFaVVYNC9mcW5wbno5UElBYnpUTHEyMk5VVEFXV0RHL3UydW9KNUhraHByaS95U0kyMGIrSS9abis4YXNSZ3hkbGgrREYzUHZmdzEvbWI3TzhhcVhYZmxHS2thKzliK08vVS96VUVuOGQvZ2g1YXI1M0RvcXFORzAxUjFzT1hQS1k3ZXVuLzBVM3pzQXY2elBHbm5lMlZkSTdjR0tpVXA1QmV2cTF3dm9IdG9mLzB4eXU1bk5FOUU0dFBVRmJZeGN2aWQ5cnV1T091U3czWmthTHo5WitvYmxpYzBwOTducW4vc0VXQlFKb294UWk2Y0tDelBRc05hSCtOcGpxNHV0WU1jOVJzTXU0L2VzTi9Zd0h6Z0NCNGlzZk4xTzlaeGFOMXhIRzRmTEhCMWZYaXZhOEhHaGVWL3A5dk1uYUpIZjJKT0FJeTFUV3FhNzJvR1FiVk51ZDExK1dMU2wyano2R3pOL2hQVmxycVd1bHhLZFk1R3JPNlNLaXJraVJSMXoxaHFYTENFTmR5TEtPUVBLRDV5SjFIUDlSMmFDdS9lNG45L1gwZStjMGZhOXhyemxOWWloNDR4Rm5Cbjc3ek9EWVVYdEM0TDdFWStQYVR6YUpWM29UUEtqSS9QbFhRY09vYTFjU1E2NVNaYyt3cUtMbSthdWY5VmhNbmM5WFZLU1FKTG04ay9xRjhEcU0vZTQzQjdXMk51OXRHa0M5bmRCKzM0Z01DMjZIRFBlZjF6WDk2NS9FL3N6UTRyNFNGMzd2ejZIVmJNTnp2ZmVuZi9KZi80TmNTMHZzM2xmK2gxeXFmNy9taGR6ZnVmUkVTUHZ2NmQvM243L2ducXR6S0MrNDhmb21QM0kzck9Hc01OOTBLbHovRnNiSUhCckFPNkFhU1pwRzVMR3BscjI1bE1TNktkd3VxK05TdGlJbVIvdjRmTXdMU1c2eG56NjFyYlRVV2lBNm5Zall5US9XS2szUFFZQ2xHUTZqckdmYm9vQ0pPZVQ2MG1kTHdBRWx2MDl2VkFjUURrNXhoUS9aeGZzNXRzMmlJcmJlQkpRclA2QmEwYUZoRzRWenlLYkc4ZVRLZklxcjhOS3cyNlY2V1FSdXNydjJyR1J6S1JwZGlOSVM2WWl1anJHaFBFL3J6WXZrWUt1d0FwemlockEyNmJYNjhOUnQyR21Ga003ME9DOWpHdTJieTJQeXBnbWFITzhqeENwcDc3S3B6Zk1zN2ZrYTRYOG9ham9QVnRiV3JtUTduS2NWb0NIVkZ6WVlUZEdwem55MGNxQTNSNTR1SGRZTjZZRytOTHozNE5mM0JuY01DbTVEN2d6TXJrVE5WMExreG1HVm5VaHV4SlNSTVNJUFZ0ZGRPTWczbEs4Vm9DSFdOYW1wcmFDaHhwekR6RHRzSWw2cG43cENIWnl0SmlXNEU2NnUvV1RLYlNlNnl3TG1DbVR3K2Y2cWdNOWRIWDlqMmFKb2hXRjBibzZwQ0tVYkRxR3VwWGoycTJrMkNUNCsxZzR2QktjNFlUTHRVOFZpYVlTcXNyYVlTd2lOY0Z1NVNOcHhUU2NwVVFmMk5raHdDeUd1akdYeEMxWFZ4eU0xdFhhTnlqSVpSMTNObGJFWXQzL1I3S3M2V1RLN0VHTlV4N1kzZGlUdGs0cHIrd0VXNUxIWW1NczVBM0ZSQnZkV0JLNUhPK0xrYmJSNDU3RlVweVRoVVhjL3BFMFdaY2RCSE9VYkRxR3VwYmoxb2RVNGczMUtKWVdneXB6ajhKVVFNNS9tL2JsV0VsTXRpTGJPYU9MYjJ1dnRXaXNyd3Byc0ZWVXJaZjE2V1NlVHArSVVCckkrek5uc1QyZ0JmcUxyZWRqMkFXUWhKT1ViRHFDc3UvZTZIU1BSMG82a2E5eitLWk1jcFR1NEJjRkgrMFBSRlB1TmIzODhJemFucFhCYnVhYWdtNU85YitOMXVRbFBDNXhaMDdxa1NtWXRJOStMRkNIYWFWb3RJZzlJRDF6YTlneUJ1eFVUbEdGV0gyYzB2OHdIWFlzR25oc0wzTm1XV2NEakY2V2FsT2ZIZnR1dEVsQXAyanFKejFtM3ZVcmtGc2NQQ1BRMU5HQ2JIazQ3V3RoT2FFajYzb0oyUnpJTlNBTWpLN2RMZXFFNFZuWGZBTXFxNVVQb05yTkV3Nmc4ektzM2RraGNsRmtyY0FDNXppbk80bnRGa1FkSFBaaTgxMzdVTHl1TVEyU3hTcDZFSjlhSThuWXpQS0pQL3Y1K1FsUENsQ3JLKzJsT0NrWmNVQXdwT3Q3Q050dUZOTGgzWkROSjcva05OSTNFbEdhMnhFcnVnS1FGNzlqdDBxZlNuWllUM1EwQVpOZW1GSHg5VWhnRWF4Zi9leFYvT0VDSTQybUtST2cwTlpsT1MwQzNvSE16NjBUbW82d0YvVS9qbXltaDQxb0oybUh0WFJsTmFWSklScEJ1aW5tY25zaXM2SW1SQzJheUZHenJvaWNHbk9FdjZaZUJRUWNaTGQ4cDhwMm1jUmJrRnJZM1NGbzQ2L0sxSXRNUFZFVldoSDJKdXpvUjNrWHl4U2pMQ1J0Z3dOd2tYTWpjWDg2V2M1dFJLQ1F0LzIzbEpQcTllTzhHS25jZGxkR25McFc1YURsR3VVOURjYVBjbmQ5aW5vOWw2NmdNV0E4dUw1VTN4Y0xKZGREMDV0UGlTakhEaFpLaDdiYTBoZHo5Q3F6VkJ1bm0yRzFvYVZtWGhwK1hOcjRheW5ReGRxOFN3TkpSRVRrR3pQemdVTnpmellwTmRadXpIM2VpQncvaVFUM0dRQWwybUFBQUdDRWxFUVZTZmZuTjNZUDUyeHBLTURzUFhYblk1TW5SK1ZDdDhML2NUaWV3OUhseHNtVk9jYzVONi9hVlkrbG54K2FZTzJ5d21IWTVpSWdYTi9mWEdQZjlsT0RtdDNQalUxMUF2VWxqTVJodkE1RHJrRnRmaE1MYjBhQ3N6R203blM2aFZQZndVQnkvS2I0MUd3T0c1dEhpajQzNUhlM2hXK1J3bVZsQytHT1ZTSzlqT2VVbTVMQk9pZm1hREhlOFBWOVlTMzVlN2xWd3JmUHpCWUJlOGhzRm15TlNnVk9mN1kyY25zSFNkV0VFamhaWi9LUGxIM2o1U2xxTmc5b0hmdzBkYWRvZmx0RGZrOUR4cytTUE92MWhpaTdITVNtSnZBdG9SQ29YWXJ6Z3NZVVdFTW5icEpsYVFXL0J3NGNYL3lMSS9OekVjNjhGem40Vk1qd3h2b00yT2RxTnY4UHFNSm1jMWZQOFdFMmJ3YmJveUUvRm9LcExEcFk3TnRKa3lyekhrOE1wTm1saEJ1VklNa1BpWFBuLzc5dzZRYlp4WmxuNzF4WDkxRlB3ZjdvNkN5N1R3K0tidzJwUTR4Y0gyNWZnM2RvSWhQRHpxVm5xVFdNUk1yS0RncWhQaE55b0NaVTV4WURhSEh3K05IZEI1ZHJPVDllT1BJeTE4WWdXTlZHcGlkaXNpZ0EzLzBIZHgzZ3B0SGVieTJLamhlMXZ6SG55SGVRSnVZZ1ZOb0M1VXhOTWFnZkJUSEtHdEk3MG8rN1FHam9RbkJDYU9BRGFQSGcwcXRQSlpQcmZxbitrS3lrTkVoQUFoTUVvRXNCeGREZUgzekk3UTFqS2ZVQTloU3pTRUFDRVFqRURnS2M0SFBoWXI2K2plR0FtV2tBZ0pBVUpBSWhCd2lsUDU0dWZyU2xrbjlVbGZhaDlDZ0JCSUliRFFZRWYvUHN0OThSMXYrczR2eEQ5MXF0VjF5bDUyVFZXSUlnaUJXeGNCbk9LVWMrR1hwVzVkMEtobWhNREpJR0JZdVdGcU8yVXZ1NTRNYWxRcUlYQVNDT0FVcDZSYlB3a3hxVXhDZ0JDSThJSGxzcTVOc0JFQ2hNQ0pJSURQWkpaMHQrSVhJMDhFZWlxVUVDaUxRTFdrc3BaNDA2NnNLRVJQQ0JBQytRZzhWRnBkaC9wK1hiNHdsRW9JRUFLRUFDRkFDQkFDaEFBaFFBZ1FBb1FBSVVBSUVBS0VBQ0ZBQ0JBQ2hBQWhRQWdRQW9RQUlVQUlFQUtFQUNGQUNCQUNoQUFoUUFnUUFvUUFJVUFJRUFLRUFDRkFDQkFDaEFBaFFBZ1FBb1FBSVVBSUVBS0VBQ0ZBQ0JBQ2hBQWhRQWdRQW9RQUlVQUlFQUtFQUNGQUNCQUNoQUFoUUFnUUFvUUFJVUFJRUFLRUFDRkFDQkFDaEFBaFFBZ1FBdE9Gd0IvZVhBa1E2RmxodjdJZXdJbElDQUZDWUZBRUZoZ0wrT21idVNiOSt0eWdDRk0rUW1Ca0NKeGo3RW9oczlrT0kzVXRSSWtJQ0lGeEl6RFAyR3ArR1pVUHZyREJTRjN6UWFKVVFtQVNDTXl4eHd1S3FURjJYQ04xTFVDSmtnbUJTU0R3Z1c1QktkOTk3L2Z0OTBsZEMxQ2laRUpnYWhBZ2RaMmFwaUJCQ0lFaUJFaGRpeENpZEVKZ2FoQWdkWjJhcGlCQkNJRWlCRWhkaXhDaWRFSmdhaEFnZFoyYXBpQkJDSUVpQkVoZGl4Q2lkRUpnYWhBZ2RaMmFwaUJCdm5FUmVPRGlEd2RWbnRRMUNDWWlJZ1RHaU1CejJCM3NqU0g4U1YxRFVDSWFRbUNNQ0ZTYTYxSDlSa2dCcEs0aEtCRU5JVEJHQk9hZmlxSWUyd29vZ2RRMUFDUWlJUVRHaWNEYVpoUjEyQUV2NGp4ZXVrbTVWL0FVNFVoZEZSTDBKQVJPQ0lGbU40b2E3Q292L1d4S1Z4RnhVOHRGNnFxaElBOGhjQ0lJekVBZDhUR0pWVjc0ekYyWDArNVh0RmlrcmhvSzhoQUNKNExBMmE5SDBSSmozWURDU1YwRFFDSVNRbUNNQ0ZRdlJORVp3K0xOS1lyVU5RY2NTaUlFSm9EQSszZWphSnRoaWkxMnBLN0ZHQkVGSVRCdUJHcnNla2dScEs0aEtCRU5JVEJXQkNwQm55Mk5JbExYc1RZRE1TY0VRaENZWWF3ZFFrZnFHb0lTMFJBQ1kwWGdORHNLNGsvcUdnUVRFUkVDNDBSZ2grRWVZb0FqZFEwQWlVZ0lnZkVpY01nZUN5cUExRFVJSmlJaUJNYUpRRVA5NHNic2U5S1htaTdUcmFaeFlrKzhDWUZ5Q013eC9qN09XN3QwWjdnY2JrUk5DSndBQXFmRVRoTy82ZTk5SStmbFdpUXloalVVNUNFRVRnaUJLditCbk1YajR0SkpYWXN4SWdwQ1lMd0l0TmlUVVhUcWE4V0ZrTG9XWTBRVWhNQjRFVGhrdU9YUGIvb1h1VzM2U2FzaWlDaWRFQmd6QW50c0E5K1RXQzB1Wlk4OVVreEVGSVFBSVRCR0JQbzR4emxmOUcyMXlqTSsvRS94YVlrWC9mRXpWc1lvQ3JFbUJBaUJmQVRtWVF6M1hwdFBnM2ZzbEh1aWdKS1NDUUZDWUh3SVZKbzNPamVLNXN4dGR2SGV5M2Rjdm5TUjFxL2phd25pVEFnVUkzRCt3ZnUyaXFtSWdoQWdCRTRHZ2Y4ZkJoSVNmZkkxMFNBQUFBQUFTVVZPUks1Q1lJST0iCn0K"/>
    </extobj>
    <extobj name="334E55B0-647D-440b-865C-3EC943EB4CBC-10">
      <extobjdata type="334E55B0-647D-440b-865C-3EC943EB4CBC" data="ewoJIkltZ1NldHRpbmdKc29uIiA6ICJ7XCJkcGlcIjpcIjYwMFwiLFwiZm9ybWF0XCI6XCJQTkdcIixcInRyYW5zcGFyZW50XCI6dHJ1ZSxcImF1dG9cIjpmYWxzZX0iLAoJIkxhdGV4IiA6ICJYRnNnWEdKbFoybHVlMkZzYVdkdVpXUjlDaVpjZEdWNGRIc3pMaUJFWldGa2JHbHVaU0JqYjI1emRISmhhVzUwY3lBb2IzQjBhVzl1WVd3cE9uMGdYRndLSm5SZmUyWXNhWDBnWEd4bGNTQjBYM3RrTEdsOUxDQmNjWFZoWkNCY1ptOXlZV3hzSUdrZ1hHbHVJRWxmWkNCY1hBcGNYQXBjWlc1a2UyRnNhV2R1WldSOUlGeGQiLAoJIkxhdGV4SW1nQmFzZTY0IiA6ICJpVkJPUncwS0dnb0FBQUFOU1VoRVVnQUFCTjBBQUFEVEJBTUFBQUJIT1hqYkFBQUFNRkJNVkVYLy8vOEFBQUFBQUFBQUFBQUFBQUFBQUFBQUFBQUFBQUFBQUFBQUFBQUFBQUFBQUFBQUFBQUFBQUFBQUFBQUFBQXYzYUI3QUFBQUQzUlNUbE1BRUZTWnpkM3Z1NGxFcXlJeWRtYXBRZjU5QUFBQUNYQklXWE1BQUE3RUFBQU94QUdWS3c0YkFBQWdBRWxFUVZSNEFlMTllM1JrU1huZmJjMW85R2k5ZU94QzJMRGRzRHdPNGFIQmdyQUJ6cEVjN3k1Mll0d0RZUllIdkc0bHNBTmVPN1RJTGhnSWNjdWVKQ2F4aVJRL1dCc09hWmxkc3lZbXA4VWJZbUkxQndLR25PTWUyK0VSTzhjdGpnbjJJY25Sc0N0cGx0bEg1ZmZWdSs2dDIzMjcxUzIxVm5YLzZGdjNxNnF2dnUrclgzMzEzYnAxYjBkUk9JNnpCWjY1UHFUUzU5OHlwSUlGc1E1Z2dWUDdtd2VvUGRDcTVaV0JzZy9NajhJQzlZZVBvdFZNYlY2ek81ZXBYQ2gwZkN3d3hvWjFPbzJpZk9WVlEydkkzT2RmOEszN2JoWmpOZi9WNTErODk5YU5vWlYxbUFRclBUcE0wa1J1MXpYMyt1VGdDc3c5Ym4vSDB3Nm85aGhuS1BCVzQrbU5BM0k4RWRVbjJlcFE2ZWwyM1FoYjZvOTBCWTRJNStjbkRzWTU0SzBuKzYxZDZhbmF3Q3E1ZUl2V3JxYTJsTHZoNWtwbU4vV0VoZnRLSEczdldzRHgwcmRWY1BGZ0t1c3NHU01YUHd3ZXdyOTlkb0dZYjhocUk2V2Z6TUpnNk1zOFkyKzE3ekpPc08vM2cyZi9UT3gyWFRUS0xxWElOMUZGRitQNFNFcCtncHhyb2JUU052OTFYQngwdWFXbThCWkZ1YnJCMnlKajV4S3RIei9DS2NiMitpNzF0V3k3SHp6N2FXSzc2Nks4OUNBSklmTWw5cVBQKzRNUHdxLzhlQ0l2aFhBYUVOdlFlWi9BMVZ2MVZVK0pjWU8zcUtCNVQ0RHh3VnhuVDhMMHZWSU5lcXoybTJ0cHR4OGMrMnRpMDNXUXJaVXl4bmJZTDVMa0k1Z1kwenhnWExOSkdQQ3NJWDZTc2YyR3Vld2hOV1BoN1l6R0cvekNBQnhERCtJZHNNb2k5T2kzbjU1aER4MVFLbDY5dnlZMlhRZm1aL3hqYkpxOVVBaSt4ZGdER1ZVZ0tWZXRzakRvRDZ6TDdwTVlabnJ0Y2xUampkOUlkTTlzc0RWTzM5ODEveXJNZGJsRHJWS3hRNEZZZHNFZThMRzg5cGVPQXYwMXNlazZpREJqdXRRV2FGN1pid1JXdVdUbnBLY3gvVGw0bThiMWVucnh6amsyM2pCWmI0Z2FCT3UrekJxZEJjaGVZbFRaSzN1VlJlaXgxS0Y0dWRpaFFDeTd6dVppbEt5WGpnTDlOYkhwT2hLbTdPdTdYRVZqckp6WlM4WHhGclVzLzVSVmI3dmNsRlhmQ0oxSFB3M1htaVprUHRNOTNyYWd4N2F0cmlkZEtYcUk2YVNwekhOUmdvZWpRSDlOYkxxT1dwMW54VVRqMFRUYi82aWtyakdXY1VrbmdUY0VkUHU5ampkcTNZKzNhRWU3dXFUZ1IwV1o3UjV2aUU3VEY2T2tIcjYrYWFQaW1GNGZhRlBJbitVcTBGY1R1M2diWmN0SkNURGxxcW13aWVSbXNvU0hrc0JiVkQ0WU1sTHdOdldTRDNsYVAxclNWdmQ0aTc3NHJtSUhvZk5kNHEzWmMvZ1d1UXIwMWNRdTNxYlpJMG10Q3dEWk9VR201SGF5aEllU3hGdU5zUjc2UWJOT3dadk9INkxFemtIMFROVmpwa3U4VlZramxWZUhqTUVvd0J0MThaWmorMGxSeUtuSnBkdFpKRmVUSlR5VUpON29QaWViYi9Td1M1MVB2V1dQbUZnZkNONG11OE5iN2dEclJJTlJnUGVLaTdlbzdsRXFocmV6bVhvemlUYzRLSFZYbVlsRHJOQXg4bStWZ2VEdGpLZHJZamF5TDZjUHNBNCtHQVc0ZERHODFUeDM1ZVRVbG9VcUJTUlhSYkxEYnhKdlVZbXhoenJVYXBOOWZQQTJjYUM0SWRVRXRlN3dOdHE3c1Fla0FOY3NocmRaajVTMEFITkptSUZjM1hhcVJld01EOTdXc3E4VzI1eGsrdmpnYld3d2VLdDJoN2VteDNONHpPb2pEVWdCM2xRTWIyTStMMXpYeEJydzF2Q0ptS0I1OEVaZ25Vc1V6RW80UG5ockRnUnYwTCtZMVZaVWJqSGpST1RoT1JnRlJFTXh2TTM0b3N6OGN4Uk1XbGhFOHdqb0lYbndoa2RudmRzZ2JmM04wL1JSazhvRHdSdFdwWXJkYUtiWHNMcXBKTW9PUmdIQk80WTNMQ1kzMmdoWXpid2J3NE0zZW9SL3JnM3o5bG5IeHI5QnpVSGNMOVM3d3hzZS83VzNaM3J1Z0JRUURjYndobFZaR2FwNTVRRmkxS1kyYjc0aGV2Q0dOZlNzdFEwZm5UbzJlQU13Qm9BM0dxeEZiWXpPaWZIZUh5c1BSZ0VwY2h4dmRiYVNyZ3c5cjE5Tno3WnpQSGlqalZTUDZqSzU3OTJ5LzRwZjFaZElUUHp5cmZ1di9RdWJ3dE4vZEZmbHRTOVBXWC83MjcvMk55OTkyeDI4V1A2ci8rL2lYYmNXa2I0QmJCekdVWFQ5dlpVM3ZxUEJ5L2wvcnIrdnZQOGozN2J6Y3QrNzJaYXZEZnZmZWx0bDcwZldvNGszOE9yUGhKWUdiN25QdmVEUDdyc0ZYbjNxeFJmZU1hZjR4elhOZmZVRkYrK1Ryd0I5L2o5KzZ5VTMvMU9VSEhreGRsUTNaSldSTXRnVzVZVTR1YzA2V2JnNHJXTnVuWFA5dldYTENPWVZwQnR1Y2V6bEtoQlpKaGFjc2h2RzE2Tnh2TzIwMnhhREdNTDNRRjlyWkNVOGVLTUh2L29oSVhZTTc5L0syRzJteW5pRjdjT3FQMjBvbE1yL1hXeHdxNERxOVc4VnNKUTg1eWxKWGZJTnRnL3lxMjAyZHpOMmU0WHRwWHZ1Wi9QSzdOMm0wa3lKc1RKamIxWVlTV1dmK3pkczl4NmdkWHVlbml6LzRZc0ZKL3A5R05ma2xpaUt5RlhaQlVZb29pT2hLVVcyY25HU2hqUUg3SFFGTmRoZWtTcmsvNnJNeWZ5blFaVEliWmFUbko5WkMvUWk0enZnaHZDYjcyUUVSVWoyY0pUN0J1ZXFPaUt1UUFSYktoTnpQcGtONDlFVERPSjRhMXBia3I2ekcrdWhHbU0vSzRUditPdkJXd1RCMWQxR3Zzb2UzSXl1cjdDZlVweEdLbGYvVHhSOWx1bGU0Um01TmJiNzNDaDZQM3RyVnJ4OWNoKytEV04wUXpHT29zOHc5aXRSN3J0c3IyRm9UdXBMakwzeUM5Yzl2MlQySUUrVTJVL01SWCtycnAvdktid2wyTTh6T0YvMDJoNGZpanZVTy9LdzhmYmwzYWZoK1lwb1A2bXBCMi81MHBzYkVid2FINkFVaWVoRE1IR2JkYlRoRnpXckh6bmhOOW51dDZQYysvWFNsc0xiUEh2bGN6OEh6TW5CRUZjZ2pyZnNoc0gyWEUrUHh2RTJhNlk4U09SdUJzbkRBMjBtVmZOU2ZIaXJ3R2F5L2c2N1NwNERTM3RGV1gzdEFTSkVUM0syQlVmdlkzdnJSUDdrL3VkOSs1Rys5Ukt3RkQ3enN5OHRJVjNNVi9qZTBKSzFHUWU5OVR2RVl6RXg1SW1LQTFMOEdKMXpMYTFlWFF3RWJMZVhBeUtOL1RqN2gxUTF3cE1aY3YyL3ZyQUFrYTdRZTBJTEpJaDQwZWNjYmVsYVV6dmNrcHBPWDZ4QzlnMlVqL0lYNzBYeS91alQzQnpvbmJNZ1RvQWJTdHhKWEJlNG1XTE5VazMzV0l2TlU1Tnl0RDFGamJxUmkrU0tIejdGK040ZndHeUZNL2oxbUFLUlpXSXFrTmt3VVpUVUUvWGplQnVWM1llc2VjaXpqYk0rTUoyK1hsOTBTUGp3VmdaRGpoNXNjWkp4b01hQWZob3QrazF5UnpsaGhtanRMVDY4UmRGVEZON1FWUUJjOFZvUk94V1VNd0dqbGd4bExIQzd3bGVWenJuU1B4RTVUMVFVWUZWSW5NWitSMjNCbjFTaEJxcVkrQTNzM29mNWRBd1VhSCtadUhzMXRkOGp3ZDc3KzNOaXMxdk9LQTFFRkttNk9KTE5xaHg1cnJwTEFibVNjdmc3N0FlcTZLZXdtN0VxWkoycU1QMTVoYmdDbG9tajdJYng2NW5BMjZTZThxSXE0Q0Y3bTBzSVY1cDFOem5tYmxSZVZZckpNL0FnQWJ5bytoTnczK1M1Vzd2eVRnR2dQcXZyNlhMa2c4d01ZUTBTOUlqd2I2alRSSmVVMW5sbCtPWnprZ3RxYm9oa2lUMGthYzdKY1B0YVJmREtsMVVWRExwSFZXRWYrNXpwdmJJTWJlUGRCVXVjMjFtTmFHTGk5L1orVFF0YVNvcFU3ejh0UVZIWDY2RTdOdDQ4elNvcDVibmlkRjMwS1cwbEJJamJzZ3hHOC81K1ExeEF1VmRKY2x3Qnk4VFpEUk5GZmoyTnNVVnI2QjNaTEExSTNXbFJkTjBmVjltVmhzcnJlRTdEMnlyVmhNNFNEYkR0RWxFdzJjbmhpN3RZN1I1Z0VKR0xBbFUvM3RDTkdtK3pqRDM5RVdLR0djZzhxNTNYWGRaVUxraVVVYis2VHlsV255UHFxSzVDNDJaZEZ2U3hIemZUMWs0SzNzRDFWZVFFNjFKcHI2WjRkVVJESEhIdS9mT1hSS00xTlI1cFkybFJDa0tqK2JKS3EyYlZ0VHpib3hha3NqSTRwams5UkVoZkNqTHBRRnJLRDhka2VvRG5HUk5uTjB4S2p5YjhHN3A0a3pmQ0RhUUh5VmdGc2wxUk9iSkF1NU1QYjFYd1dLVktXOFoyVlNiOEIvanowUi9oc2I1U1BLb1pZYUtDc1kwamRObkIyM2ZQQ2FFd0ppWHljRmVzOEl1SWZWdGsyNzh3cnpRNlhLdm8wN3JsQ010TXpySFJMR01KOXFObVFNeW00QTNRdjQwa2dOTHIxSzVYVTBEY3h0dWp0MHNKb2ZVbGtkd3hOcU1Cc1NRTFJLcFpkUzNPMEZyVzQ5ZHc5NXVxd0tqZVo0M0JiZ3hTMS9OUkFtL0d4TmtOazZabjNMOEI1OXdxa0s0R2NWVDZHcVFaKzBrdHRCSSs5WnlHdDdOVW8yVDhoL0krNEM2QUY3VzBiU3hIenUvZjFWaDA4Rll5ZUlPUEtCZWxSSHB2QUJROEoyblFUU1VsaFU1Yk9tb29RSWhMb01EZ0s3ckFqb2EvajMzQmRQeFlDdDdRcStlWHdTNy9JaDZaMDExNlFsTTNqcTZ3UFRWRWdQR3pRaFFIYjU1bXRjQThBWkJ2VzVRZDY4NFAyaTJKTEVobWJnaGhCam1ISi9DbVRkeUZZYUlNZXBJVWtHRmJTRU5CL1lNeVNhZmNINVhabFhXTDBEYlpEbS9vOTBkVVpSaTBRV24wZ3FRMXRRU1kyelhFYUdMVEYvWWcwY2FnMXhrTmppdktsUFBXU0xkWXFQYjVSQzIxZ2l6Y3Z4VnNWd0ppVVJUMnNXK2FpVzA4SFc5T0pPdlROSTQzUFM3UXBvVCtqcFlEMG5pYU5RcFJDc2l3dWdvRFZ3RVllZm9DZmEzN2dRTGtGQVhnSG1USTBvVmgvRDNxNmttQ3doR3YwcG1PTDk1cHlZeHJBSkN2WXZETURqOXBlRnRGUGNCRlF3ZHozRmxpVmRiREMwcHhDdmM4UzVUSER6U3VLNlhqVFErUXNySmVTUUthbUZROU56d3d1cnJGaEN4ODJsa3pNU3ozcStlRUJPajdCUHVtNmJHWmxPNUNBMkpJQ1M1ZVRkMStxSmcrd0RTN0pPckY4S2FCb3BxVjNPVUo1bThZQ3E0dW15c2RyenA0SXpIWGVhRjAvOWFGWWZ3OTZ1ckpXN1BpQ0NPaVREVVorN2tFMFUvdzRhMEVsVlpSdk1iWXNxcUZja3VVbnRjRGVWWkxVRGQyNTJEUGdEYzVKWkMyQWtXWVdOUWFNNFhLRWhPcWRad1IycWk3YnF3djBrd0hiMkFWQTg3bDlBZThKZGdYak5lWmtFNGczbDNvU0NOQmlxWnVQMVJVejFPZ3BsemRqbWtwb21DMkNGWjBxR2JGbGZxRnQ5cFVhVjU4eVZ5MTFBVGk0STNHZ1NnVVYwRDd0MjRNNCs5UlYwOHVrbXJWeUdkU21BaHROMjB5a2lrZjNxQVJuNndYTmJiNGZSRWZldVlqUE1EYml1RG50SmJOdjhsN0RvTTNHTjdFS1BPMjQ1SXlvem1KSjh4Q056WkFoYjBWQW5HRlRwSG9BOTRTN0VIakM3UEU3RC9RRDY5dVRWNmNnWkVBK1Q1TjNYNm9tSDJDS1hqek5NdmIxajhZUlhQNmd1NXR6NXFycHVwaUYyOXJTcjFVdkhWam1DeDZjcEdVTUVZK0sxVzFocmhGOWlSOWVJTWRPVnh4MXVyRC8yaTNKZGpNS3J3aHl6SmFOcnhkVnFJby8wWTlvMmprV0J2NlFpYm16Y3FKcEdCYTFRamszazVLQVZZSjlxUW1uaFBaUjd5NzBLdEdBcnNnM2ZDdUtJSWRJc0EraXB5Q04wK3pxb1k0dTNpcktvL0dNd3NLV0M3ZVlBZ3hUdUlLYVAvV2pXRnNjZEwwNUdXMEE3ZHJxSFFUYzhPY3VtaDdUc01iYXROeiswdXFNblRXazVTZ2FlbmdtclRkczg2bnk0cXZ3dHVXSFJORC9IVlZRSjBYTFJRSkdnU3c4RVozTWtXZUFid3RpeExHZldLS3dmRzYvNnZvT01lN0N4cmE3S3lTV2xQUVhMenBDVGdGYjU1bUxiNUlBaHBXUDBIRWJaT1BaZ1d3WEx4dHFaWHp1QUlhYjkwWXhqUVhwWTRyWHFaaWpHclhFV2xZeFF6SlpMWkY4ZUVObFNtb2dqNnlCM0VCeTltenorZGZjTEd1bW9DdFZTU1BndG44MnprbFFsa0dUVHMyLzRMVnNDa1lWN2htVitIclNCdThNUENXWUU5VEZSMjd2NnI0K2ZCbWE2aksyWnFDNXVKTjZ3MGJMSXNhYUtnb1V2U2JiTmJrVVFyc0RJRW1pcUs1aEI0aTFIVHhOcXZNbllxM1dqZUdVZTIxMFpNWGFZczNkSHJjSFNtK3NiTUhiMUNQenl6RTVMVS9MNCs3ck5HZi82c1NzbkNzY0dhd2l4dTNQNnphc0R0SDM2eno5WkFFSUZxd29tcnI1OEYrVy9GUVp6U25Ld2thK3RKMnVXVVZZWGp4UnNydzQ5V0tZYnk3b0xiTmpoZUxhUXFhclJMVzN4U3pOTHdsbTFVMXhObkJHdzN3ZFpNUG5zS3VMdDVBRmhpTks2RDlXMWVHNGUyMTE1TVhLWnNneFlpb1VnUVpDd09LN0RsNzhFWnFrK1VweXo3VUxTL3RyTHJqVHo4d3EvQ0doQlZvdzhLOTRHM05iZ25SUUNNdUsvS1hYQnFxMkFBcEswQjY4Ulk5U3pYd3c1Skx2THM4ZUl0cmlwcGQ0aTNackt1RGd6Y3l1SXMzZ1djWGI2alNBVy9kR1FZQ2RkQ1RpOXpXdjFFd1k5OW91MHJhVng2OEVla3l5aUNXWlEyN3JFZy9BWjdvTDVBRXpGWTRaYXNmZUt0Yk1FMjJLWUpKMFp6T1hYU3JsRldBNThjYjdlemd4MzVEY1BEZ1RROFVVU0toS2NqZDRpM1JyR0N0ZnAzNGpRTGhoc3JoYXl3Q1dDN2VVRVYwYlZ3QjdkOFd1ekpNRkhYU2s0dFVpVTh2UmxDa3loQnEyNkdrWEhqd1Jnb3RvYmdmYi9CZnUwVmlkdVI0aTBFVUt0TW84VS9YSU9lK0NiM29rS2lLZHhkNjFjVmJVbE53NlJadmlXWkpRbk00OTZjeGcrdUpzMXU4ZFdtWWpucHljZHZqclFTN2JoaTEwbE1ldkFGSVBHeWxyRWE4Sm0xZVcrVkVGQk1PQjRtK3pLZHViOGNiaGpCTExtM1JuVThyS21UMyt6ZlV6WCt2REM0cTZPcUVONCttNE5FMTN1TE51am80ZUNQL3RtN3lvWWU0LzNYeDFuaytYZXpLTUozMTVDSWx6Qjk5NWNJN3RiQlZpTDZrcjlva1BIaWJsMTBDM052cUN5YWYxcm9BWm4zRVcwdnpUUkVXd3B4enMxREZ2cUhVQlZMeEJoOTNBMHJKOGRJSmJ4NU4wWDRQZUhPYmRYVUF4RFkxaFF4ZTFGYzBnZmppTiszMjRncm8rYlRWbFdFNjY4bEZVcjJ0NWFPNzZWVjFWY2RGckh0VWxudjI0SzBxeGFXbkZOdHU2U2hYMFJqVWVJTUI5SDFheitzaDg5YjliNnhOY1ZsVzdrdm43aVRNS3ZEZkJtOElqYUhBWmM1Q2Q5ZmFLcitPemFjK1RWRXVNOTdHSCtSYzVZOXAxcWJ5ZTdKMVRZRkVNYnlKZWNQMWI3QzdNSGRjQVkyM3JneVRRVThTRU90aEcxcFFucmdXMHVvcHFZcUxIdkZHYTVTOHFyUGVLOXRDYlBlSVRFTHZGWjdFbktEWFBYdkcyNVpoTFBuSFRuV0ZFMDF2dWhDRjJHZDVuZzl2MTY2cWFwRDJVWjZPZDFjTWJ6NU5VYTg3dkhtYVZYS0lNOFowVVZNZ2dUM0FZV0R4d01QRkd5d2x5SEVGTk42Nk1ReXRPQ2Q2RkJMWmVwS0E5djRRSWZBT3BOVmpxb1FMZ1FhUm1mcWI5RzlFMmVibHl3bE0wMWJ3WmNscmxyY3dzUjZSSDVRMG5EQXBhTlRiUW5kWWY0T1RsTS9SRFNzbk5XL3hGUm5BbGRaWDNNQ3U4d3dmM3BxWE5iTjZTbmZGOE9iVEZEeHNsZHF1djNILzVtbFd5OEVUYUhUYlVDcldETVczM2Z4QUZWS1F3RFVNSWNLSVZMeDFZeGh2ajZJVlcwOFNBclBuTnAzTnNZWnUxM0U3b0dLZWZab3l5VlFTYjF1YURUaWVpOVdvbWtkY3N4eHZUYnl6aWJZYXVseVBlSU1jMXFTc3VabEV3WXhEU1VUc28vWGxHd3FrbC9YaHJTWjZqbXFla2JYaTNSWERtMDlUMUxiN29UUGVQTTFLNGVVSnRsczFsRVhIU1FCWXl6elA5VzhvSkFaUFhBSHQzN294VEpSQlR4SUNUa1dNWmk0Ui9iU1ljclM0cU9DaVNOUk9SeEp2RUVEdXpONVNENHc1azZuZkVVNWtVN0lzS0x4QlQvT2N0VmYvUnBQM25CSDJhMVphVU5IUkZycW1Yc2lIbkRXUFF4SHBJTDE0TTQvaXgxUENIeGR2SkU5UzA2N3hsbXpXNk1oVGpsdW9LWVR4ckRVMXZiaDRROWR1OFB4VXZNRVhaVFpNRmoycE5iZ1JaUTdldUhndFVOMnZrY3V4NWpoWnduZEs0QTFhS0crbFF4MWVrVjVGb25zU3hhV3A4VlpURnFBc01PeGxQcVhYVkxZVmEreGtYemRwa2JLYnhsb28rYXVTRFZIZzhTRlIwb3MzMHdFajhza0xScXd3Vi8wU3IrZml6VzdPYUpvQmIvTnlvRS9TRkZoTE5pdGsxTDlsdHFUVDVEejFUaXF1bnVoaVNHWUNCeEpNa09NS2FQL1dqV0d5NkVrQ3dtY2FPWGxxQzRLc1NCcUZWTW9iZlBIT1JxeWtmWm5BVzgzTVc4QytOY2RSTEFJd2FndTJOTjRjTTBHd252QzJaVS9lVTNIbElETFFkVWxMWG9Nd0VVUTFGTlEvSzdLOWVGTmppSHkwOElQb1JYSGpJUDhQeHNXYlg5TU1lQU00dDBrTy90OHZ0V1N6UWtiOVc1VnpKaWVnODAyZ0J1dEw3d2pKako5RWZHL0lqZ0lHYjEwWUpvdWVKTnVZQlFXQktFVGNXaXBDa2V4MU9FSXpPTFNhT2hISEcrRjlWZVV1MnBOMmRZTjdWWTBFOVA4S2R1aWY0enNWalpuUTJ6M2hEVGdsbnlXT01UazFxbXM2b3lPWDlYVjlBMG1ZM2xEV3RMUHo0MDJDa2FRVndxSS9oV0hLRGZEaVdtakIwelROZ0xjdGFiOVJZbFpUWThBMHk5c3lQeTNibzBWVk01eHBvcERPRG5nekQ4TmhCa21PSzJEdzFvVmhBQTlQajdwNmtyUm5ETGdrb21iWTc4OHBQV0J5T2NtVEU0aEhlcW9VbmRITkJsKzRicWxlb0V4QWVJbk9kRXlSRnllL2lSTWRFN3M4YzM0RjZUWExUT2gzalJzNHZnMHFTMGVIKzFONkJHY1pWVTZOb3FyNGhmMDFxcWU0MzhpSmZlVThHOFpYd1lRZmIzcWlHbEh6cm5wVlI4YU42RlV0ZUtxbW5lOFgwRHFaSkpxbEJtc0tHOFRRb3hPTklndmtFZGEwdHFreUhWczZBb2RrSmhndm1YUk1BV1BpTGd5VDBxT09uaVJOUVp0WEk2cHNKSitIaEhOVXpIMDdWVkNjWDhSb1pnenl6NElZMVNLOEtLQjk0N1dVUXErcUtXejA5ZHk3dE02Q2pQRkVKenBJZnRYeDlDTFdFcWZpUnhrSHlWbkxMK0ZUSjdJRTFybFhaVEpYVVNsSjRLY3E0eWlqOUtqd2YwMk5mckxQS2kvbFoxK1RreWlLVENxWkZrWFRFekptZ0dlMzhKYWlLYW5FNFVSdFdjRUZ5TXRFNGdONG1jNjFjL1RqYVpZeXpXRjlCd1pFSUV1anNxUnRUM2lUdDNBVXQrc3VpU2xnbVRpN1lkcm91V1NrcEhHaEJhdERITEpCYzcraFNwU043WkJNckdxb1lqaWpuNHdQaXA2TXF4KzNjbXRtTUpXV2lJNjJwS09vRnN2VVB6eXd6NVUxeHJiMkxZUE1XazFiYzBKQjNkR0RJUnFjSThiOFhrUUI5YlR4ZENLUC8rTGQybGZKeTdvd1A4Qk52VXJIbXVsWkgzc29zczNMa2VYV1JRbzBTazNLL2tNa0k4SWhrZXZYbE1iS2tpakExNEZra3NqU0xncTI5VlhrK1pwVlZjUjV6TWhOaEhrZEpzR2RiNGdpL05VTVpaRjVReWJ1dGdLd3BTcVYzVEFwUFVvS0tkTnlLWGJVZUJKN1FTaHZodjJNRlBBVU0rYXRJcjBpNmNsVHJvVnNOWFp5ZndjWGI3RUw0Zk1vc2pldTJadWpERGdoa1hqU2c5dzJJOEk1UEZHMU4xRzVFYU8rSVhtQXVZSVF4UW5ya3J4bVprWWluNVhrTHlzWGxTc3JYTWtjZWFxcXp6NmRVaTNnczB5YlBCTnVlbFVWOXJHdmFVbHlaZVVmNEpWWFVHZExBZ1U2N0s4ckhxbWFRaVhsQlNuMHZTUXJnS3lDNXlxL1U4dnpZZVJyMWpSQnFYSHQzemw5b3FJK05XUSsvazE0ZTZST292THBRNG5QcHhWYkFkdkVtUTJUMXFOUVNIVWRiN2l1MFI5Vm1VVFVqdmllRlExMlUzZ0h1ZHU4U3VKblhQMS8vWjAzdnVjOTc3bDRYd1ZGOVZ0TW9qUTY0ZDJVbXBhdWhWdzdmWUZzR2pNZSt1c05WVG1ISyt1c1BVQmE3eTM4VWhSOVl1SHRTTEk3OEwyci9NSkxpUGYrZi9wN2VGbFdrTiswOERKTnZuT2hRVzNrU3V3S1Q3UUVwSW5tSEJoR1BJS2JLc3RXbzN4WlVDWktTdUVVOXBqWUpDRC9telljb2h6MFhhNjhpa1ptRnU0bFlmZmZ0ZkFyc2ttZnBrcWxlOWFqS2FuU25RdWJTdE0zTGJ5YzZsN0xvWDhOaDRXdldjbGZudUFPTjIwS3ZvWEVNZndiWm1iaGVCdmJhMUN4UllzYzJRcllKa2E1eklZaDVva2VWWHJ5VDVWUnN4UU9iZk16ZmpTaU1EZytSTVRQb01jYmxLQURJMSt0akFpQytTMmdxZGh4MjV6SjVxbnY0aE4vSDdqdUJqMTZuNFFLYi9qTFh5WTNDSHhvanpCUlptL2VqS1lXOTljSmI3ekpHay9nNXlHK2JNZXZBSmQ1UmY2QkljdVFFUSsxZC8vbnh6NitxRDFlVEpib045SDJCNjc3WU9tS2xoSlZIbmplZGM4dnM2dVNsTUsreGk2OWIvOS9vUitlTFFES09hTnYzL2tIMytYV29UQldITXA3MFJmdTRwcldaQmxBZ3VKVWNhelR2Q1lPN2hIUTFWYys4SWVWRldyQzI2eXJsUTBneW9IQmYrZ0xILys2L0JZZUx3dElQQkl0NHBzSitXOHc5WmZLUE1OU2dOWVYrTUZISk4rWGtNa3dJbVNQOVdoTjhrTFh5UU1pYUpzYlJNSERYM252MDJsZjRhb3FHRVdKcjEvcXJJSmlLODhYN3Z5Mnp0TUphSTVET0I0aTNzMnZINlRXWjBwdjNDWVNIZE5seG02bHI0QWF2TzFmT0gvVFRlY3ZWQWh2RjI1L3pVM25iNjBRM2hTWjhFYmttMis5b0c1UmlBbU9kd3VXbnQvdjhQemRiWk1scTF6ZGxLUVU5czBIbzF5ZGZ4bjJBVlVTQTJhUjJHMVF6VWwyNFR4RU9YOUJ6NVkrVFdza094VWl2Q25aZ1RlbGtwaUJzRjJXeWFqTTI2eVVWSjZzaVVwUWhNSFo3NXRpSEc4WTBiZGpmRnRrUndIYnhMeG1Sc09nYkxKSHRVSWFiOU02TkVRRmc2aW5Wa2hYOC9GWEkzUHZxZitLYnpqL1p3M3VLSHI4djd0bDd4ZXNhOGs1LzgxYjlsOVhCUEJ1ZjhYdi9lVnpQdFpiZS9rL3YyWC9IL3hKbTdyMFFlbmZNNGhCU2FyeVdzelQ3WTlyVjlFN2YxN2VmODBQMlpMbi92cVd2WSttVjB6Uk5MMkN6TG4rcnNyckdqenRiOVpoVUdQTHpuVVV3ZUMzTzEvbzRIaUxKdjVWakl4cTdSVElaaGhxTzRPZVk4NjlsQkU0LzcyYjJSdi9wZE1oSmpPa2h0QUNaeXlQbWlLZXdGdEs1dUdRQytyMiszQ2FDNjBNekFMamN1cHQwOEFRNEsyVkdsTzNrVHRrRGFFRnNMV2lrMVJEZ0xjeWEzU1NNdVFmRHd2NC9zcldsZnpvOFphM2J4ZGM0Y0xWTWJQQUZsdnFJUEhSNCsxVTV5Q3pndzRoZTFnc2NJbzkzRUdVbzhkYm9jMGpxZzdDaCt3aHMwQXVkVDFlQ1hyMGVGc0w0WnZxak9OLzd0aVpSNDYzWE9kNzZPUGZEU2RHZzFIOVJEZEZaZUNOUDQxTnlSNDhlVHlzdmczZXlJZld3a1NuWUJ6UFJ0WG1rME1UeW1sb3l6eXNkK2poNGxoYVlGRnRPVTJSSGp2enJxWmtIUTY1cFBiVkhVNXpvWlhCV21DMHcrTDlhVHdTUDhwSGxETjZoK1JnN1JDNEg0NEY4dTFXUkdZV1hrUmJNUGJ1dWZGd2hQRzBVdEE3WlQyWmdYVDhMRENmc3NHVU5ERTc4NDVNcjZyY1UzZGtBb1NHKzJ1QjZUYVBHTVRPUE93ZDdQaVl0Yjh5R1c2bk9rejNwbVJJSFJNTHJCM3QvVUI3SzdYUzlvZTNyeFp5aDljQzQvYUc3Q0VUYzZUVDh1Q1F5UnZFeVdDQmx2MHFZb2J5aDFpa2ViUnJmNGVvNlFscWFtUm9IMURtOUR1UEo2ZzdIdnVxZnVJb0Y5amFtVGZudktIVHJtVElDeF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0NCWUlGZ2dXQ0JZSUZnZ1dDQllJRmdnV1NGamdXU3NKVWhTZGVzUkRES1JnZ1lOYm9ISy9oMGVUZVlpOWtTWXE3TUw1MTl4MDA4M25MN0Q5dWQ1NGhGcVBIUXRVZHoyNjFQYzl4TjVJcDVoMUJMejFac1RIVUswZGx2d1Q1Qnd6ZjYvK25kMzFBMms3ZGZHbGQzSEU3YjNybmo4OUVLZFErYkZnZ1FKYlRhZ3h3eDVXdEVuR0hsTHBucy9YQW5BUEJ0L1dzLzM2VkRILzNqNHhPZ2liU1hZdVVmMjBvZTB3ZHZCN0I0Q1diU1JhQ1lRMEMrVHEvemd0NndEMGlTb3IrcXMvWmU5Z2M1aWZxNTg2WVh5WkxyREZMcWwwaWJGSFZicm44Mm5nN2ZBMDZsbk1vYWs0eXZwM3Y2YVZHa0ZYYnVzckoxRm1sNTNyZ1Y1VVRLeW0ybGxqY3lvSnBCeDhQcDBGRjhVd25EdGJZSjZaRHVoY09rREdmbWNBQUJBSFNVUkJWRnVKbVhMcVREWEMyUGV6TWVsSHFiVWtGTXBYTmVNcTg4UjNPamRqb3NiWWxZeEZRekZZb01yMittMkg2UXBqYjlaZXhPVSt4a3o4NU9ZTTRtb3JNYXRQc1Ivb2hqN05IdFRwbmhOcnFVT3JaNWFQNllyTVdoL29qNkpQQnR6K1dScXJXY2JPcHVYMW4zNmFyY1NZbm1MTGh2TGJLWVBDbE9pY0tqRlBrTmk1MmtrdE1jV1lieEgrQU9iNEJBS2FuMDZ0MzJRSmw1TmE5dUFaTTRuSmU3WVBVNmdqRjdTOTdCRENSVHNMVFBjN252b3Y2SUMvbjk1aWF3RGhZbnByVWVJR2RONnpCTnltZnNlc0NhZ2I5NkVkSzUzZ0F2Mk9wNzRDKzcrempUMEhFQzYyYVMycXg1OW9lUjl4K1RuODF0c1FHUERqRG44Qm9vNmp3S1gwN0pBVHMwQ2Y0Nm5mZ1BrL0dtdkN1ZXgvdU9pd2oxL1VZdTRzbDNCNDhScnErdm9xaDVyNFdWZlV4Sm1XM3hvSmFpQ2tXYUMvOGRRellmMlhwVFZGOVA2SGkrMWFpNkl6c1hCdE9oSFFwZFNuc0VBZmJmWitZTHdtMTF4U2VBWnlGTFg2R1U5OUY4Yi94YlpXN1h1NDJMWTFtdTZXblJLbk16NTdlZ0kwMmIvbjN6K2RIOC81Z3NQRHVhaUY1VGZISHAwdStoaFA1YjZCUHVvUXkvUTdYT3lrWHQ1YWJxT3lXOW1lUGMwQWJyK3cyWWs1NWErRjViY3NadEpsS24xYmZzdkI5SHZibXJFL2NlWlFsOThnUThrOFRpQ0oxckp0Zmx2c0VCWVk1VXBoK2MwWW8zT3FmL0ZVSG4yMFcrelVZdk5RbDk4Z3pZNGJYVlV5UFZGNEltTXY3S1NKekljanZKeXhhQ2dXUlgyTHA2YnFnRnY2Ylp5eWRhdWY0YUppMnU0OHkvN3RiNXZqZzVrZTBPY3E3R2ZhOGJUeXd2S2JaWXdNeVg3RlV4TlZ4TTJOemczMk1WenMzQmlWb08xcDlyR2txajI3Y2tmYThCaGxWK1pVc1E3bnNQeld3VUFtZTdKaSttRy9ZZWk5cEdqLzBkWE45alUvYkpwalA5ZSthQjl6eVFIWng3YmsvU1YyTzNORE85Tm9OZU5OTEdxRTVUZGp0ZzZwV2JzYjBvWjZCeDR5bS9ZZlBkREpKZGpObVQwYTJSbzRRQ21JWmgrUzB3U1dDWGRTZGc2YzZtS0RFUm54QU1LZHBLb3pGeGNXRnVDWDhMdndTd2RTdk4zK0k4UDRiOURPaTRCTG5HNHNHdktnVTg0ZHFkNzgxc1FtaGRtVWpSMU50cFJacUZwWWZzdHNLeXJZajNqcXlSampxZnVQWEduNkZTNjZYTnRlYlZuN1Vjem10MG94aWhDbWVXdVdZcy9BdklVa2NTMHN2N1V6VHlLdkQ0OHoyKzgvY2x2RTlIUFdwUXo4YXN6YXZxSGZuemxGKzh4bm1YY3hiaVR6STFid3dQeWdYL2NhdUNySHY0RStMTC9SazU4Mis0OWNHelVQZS9rdGlrYXNKNlo2ODF1VDlyUVgvR3N6WjdxWVRpTW9mOWxWTVZ5MXNVQWZsdC9LN2ZjZnVZMjMvRjNzRnVyemxmWE9uMzcvdWJxS1JtcitVSDgrMnlNdkxtVllmdXV1czFMaXFaRzM3N1hkVkdRM2dvZFkyVzl1L2VIaUgzL3J2cHQveXViWjEvU2llVCtqSkFPMktSNmgxZjN6YVRmZmUvQXZ2dzFXbjc0YTU1Q1orZU9wZkhudmR6UEhXYzhDNElwWnhmYUdpM2xNU2dPTWdwcDZmMXBlYlowL3hYR1hjbXRwK2NPT2FubVgzd2FzVDBlaGhyaUFQNTc2TWphTnRaSVBHci9rWFhXblhTRWRIOU5MRS9qRHhSenRvMDFHUVZPbHQvYkZjcU42Nkl5clZzN1FLeHQ0TTVGTzhjT085K0o1aVd1TTErVHlXNG8raWNvbmtORHl4bFBsSzlGTWNxN0JzTjN3bXVoL1l4dlNuM2h6NHNTMGNESG5ld2RnSzNYOVA4NjIvZlcwUWhrMlg4cWI0eWFoRzdGRUV1VDRQRnczN3l2Vy9EN1NxMDk3S1U5R3JqZWVHc2Vlc2Eza3VNWEhwMWI4VnFGZHZlMjNXY3A2S2VGaWhQNjVsR0M5bUxJOGxpallnV0Mya05mVXpObzZpem9GLzlwTTFoMlp2TlUxLy9LYlY1OE9ZcDZJYk8vdXR3SldFRnJKdDZBQmx1MFVvOXdOd0xYZFJpN3JwZTErdzlTMm5tQmQ3V1lkTEZIYkl1aFhaT3JxenVIdVRXUzMvQzhlekhxZ2J6RnpreVYvNE9uVng2MTVJcS84OFZRTGU3QjNrcDA5MFdabjV0Y0F1QXgzdE0yVTVUZmM1aVh0WDFPelh6S3JPNHA2QlREbjNnbVVrME9LK0xvYm1NUldwa1phZzFEN3NpZlBxNCtuM0VraitlT3BFdWJOU2M4dHdNZkpLNlFjOUpEaHgxTHlEQmt1WmM1Y21kUnBGbjl0RDNuNTU1b0NCMHFwVlY3MzVXZUVvOTZQY1JXZ1NmeEllMThtYmZuTnE4K0JkSGhzVlBiR1V3ZytWcnRYang2aXZycFROVys0aUVxei9maVFSMnJqNmhNT28wNzhDUi8wa0s5S0lRNDJ1bDczbFV4LytYU3crdmhsT1E1VWJ6eUZRWnRpM3JZcVBiWFM3ak1Pb3FvM1hFUldMZlpXUzl1R3VzNVVUK21iMXBON2VsUFEvOXpLaDdlMDk1Mjl5MjhEMTZkckF3eE5oUzFmUElWSjFqdnBkWko2cG94dEltMXJZZ3J6clhqUlMwNlhPM0UvU0w3Y2hiVG9QSjZ2cGR6K3pEcW9iTi9zTFBNRm5nUFhwNzFRUTV5NzQ0UFdaSExwTFpzS0k2VU9YN0xGVzNiMG5EeDVsUHl1Smxtd04wcExEQ0QzNDROMVAxUVNiMGkzYTdMcFgzN0RycEdsZHRWT2JGN2RkNHVXdGkyc3M1VW1xbmhldFpsZUR1OFNuUFBtOWhReGVqbDVpUVcra0RQaVBqUERCbmh2WVh2L2tyZUFSV3lsM0hNTVdCOUxndU9WOU1aVEJ3aDI2U1d0cTQxVUczakRSWlR1TVdKTWJTZWVNY1poTG41VkhueXRmMU43L0kxOFZjRjN4dmp5N1g0YnRENCtVWTREelI5UDFWS0NyQ3dhNVJmYnZSVzQ1UXNYd1JhM2ltM2p2aXd0dHlzalBGdkJXY2hGcUwvc3JaUDNRc2hiTkczMzI2RDE4UXN6L0ZTTWNjK1NRTXRIak82KzhNb3NDdkdYN0lzcEpYZFlZcWYyWjkrMjl4Rzg1S1FXL25YRmliZS84WksrT0hDQ3IxVExLRTR5QS9aWC9YemwzWVUvMDZGaXVkeFpZa0ZtbWo1T3ZaTjZnWGhxbWVzK2ZWYVpvQW9UMGhGZjRYd1N1NG05WGhWcWQyNjNYVVJ2T1BzenhlRXJiUGRldGpHYmVIS1JxKzZXOWpaVnFRT2YrWjBwZGlGWVIwdGcvLzFKeDJwOXdOd3E3MHZpVHQ3eG1WR1Vwbyt2OXNtaklaN2E0Rm8zbDVYeUZRSWJqaGplY3VXTnFPUjVCcUNxMmVmMDdTSVZHYUpQcVlXSmNicTkrTXlWNUF4K3pWVTR2U1diNjRIU3RQSTI1WVlKOG1sV3VaRmczSXhoS0ZGQUU3QmNybllBQ0ZxcVBycktpVTVzcVNXbzZxcXlRKzV4MStIYkdZOTdYR3pZajJFMzNHTFdoYWxub0J0ODIwVVFMajdLMnlGdWRPUktuR1dwbkZnbWdVQ25YSHlJR2ozKzBwT0ZTU2RldzFUNENKaHA1RnVNSjczeGhGVkFKMmVocUw1QUlsMGZ1OVRKVGMvTGVDcHZoMVhvaVdMQ0pEdm42TlhCMVFUZFQwalpMb0pkRXcveENsdmlGRjBqYmhFQmU3QzNqeG5FYzJOOWZNWkZYeG1jZFI3L1kzTVZMUVdPZTlaRThwbjNRVFZqeTIrcCt0aTZuZUQwb2x6Wm5iVC9oUVUzRVpzSm01UkJxamdkbGloaUUyaTd5TCt3Q1R5TlBsN21pZnBaa1ZjV0NFWVlLUW1DakRkREFjZ3pWbEEzOFpLUHFLeWV6clF6Ukw4cnd6a2dsRmhCNG94dlRXUXRkZDlWclBGV2JQa3RWWjlZdlpONldaWHhGSDg3VGhrQnFGQkpmWjVCcUkzWmNGc1RPaVZvdTBnalhnamh6Z2JScHVUcXg2UzhMUVhDaTBRM3h3NndzQ1VuWDZLdU1ZRk1VNkxMVkhVdkZuN0NwMjZEUjIzWncraE15c3Bjb21qVlhYNUwxeWRSODJRU1NuTEtLbDJ5OUI5TExrNUVvM2pzaVVXbFRhdFloeVMyaTloTWVXa3NlYTFTNGpSRlRqaDI1RXBYOG9GdHVVZ1lnNU1UQjIzNzhUOTRWU1U2bmVmWmY3ZmdpOUkxc2VSWDJ2YlVSRVN4N2lFblNSRHJza1ZOMThjcWRKS1RkYkVEYk55NThUd2puWjV0bU1JeXpXL09lb0tkN1V0UHYyWXVUc2E4eVRHNHRzUnpzTzlKSkpSZjBPVnpkUDlhTVV0YnFPamJJS2ZMZDA2Y1lUZTY5eVR6UEpRWVVUZktMb2VNMjFWb0dDeVptdW42bURJbk85VVNlSnYvV2RzTUJVRzBTZEduZ0pQa29vVlRKTU1GL0JqaGJXUi9reGVHd3l6eVJBTGgrZHY0TXk2Uml5S2o2Tmh1bkN2bjZ2eWNZdnR5NlVlU20zejBrTi8ySEpqZ1Z6M2tPSW1Hd1ZsRFROZkhsRG5acVMwK24wNjRzMGZhNEs0N2MwY3Zoa01FdUlwNk5SbWpGMVNnYUVkcW1pODZVNmRwblNzNVBldnNEQWw2RXJCdWw1dmxYbnh4eGFhWk5ON2VFR1BDa0pLcFhBdE1MUVlGSmJGWG4yVDlrMGVaNUxOVXl4M2tMWGZpVVZiQmJMR2gwcjJlNnpUOVRLdWJneDAxUWUrWVNNMXdMbGpUT3Z5TjQwbE1xY3lwY215VDFUZzFQcjQzNTJjd2daWHBoajlMVWo5NDhiNFNTY1ZlY2M5N0pUVGI2OU9XMnduSnpKVlpNZmVNL1lhamJsMHVXampFQ0Mra3VnNGlscDNwOGhwRS9ZOHZxVzliVmxVRTcyMXh4NzVKckRKVzJjalVSRnFobHJ3MTB2bGx0amxWZlpXK2pDWHd3ZWdyVDR2UjdFdU1Qbk5zaUp6Mit0aTFUMno2U1d5L0V2OFNkOW1lSTR4bFRzY2NoTW5KbnNwVjJRWHpIVXkxK29zN2c0MGtqNUlOKytuU2JZV2xaSmt1S0lXNEQzMGkyMk5YVTl3YitPS2pBZXhIbi9leHRCYndSZWtMdDUrLzZhYnp0MTVnKzBWUnFyMCthWnhPRnYzOWxiMlh4VFJPaVpWRnJCY3IyKzNseElmWlA1S3pELzJ6MFdWZTM3dXdKMk05MDhEc2trbjNrSnBNaktLL1R2OWVOUEVud09rajdmMEZXNUQyK3RnbFE5cXlBTXhXdEM1MTBsb08wN1FESmJDYXNNUVpZS1pXR0RRTUU2dDloUldUMlVNcWYydWp1MXE1LzZIUmhzUjY1OHJ0OWVsYy80U1c4UFkrYkdFdGgvWEhNbWhvbFhQQ1drV1NZMksxcjNrMldXaXdsTWYvcmtaY2JMZU10OTMyK25pckJDSjlyc1dzUTFqMndPZ3RSdEV6TnkzU0FaUG9uMjNPWXBUdVJNZlB1ZXo0YXQvSTZ3MXgvcEpKSDFZcTk3bk8vOWVtWldtdmp5NFdFcTRGVWw0TkZ5OXRsZnVJTit3V0tmS21DM1NmZXVheUt3YS9aNlhIOXVwWVhGZXBJVDIzMTJkSWhUNTZzY1JDcUpMamhwZkxWSUYyYTB3bHRuMnJjajJjRVNnS0NQSEhqczBsWWpHeTBLQVRkcEx4OWJibU9YRkZ2eFdUSE02VVQ1L2hsSFNvcE5xeUgyZGhrVis2bFhsNnRqNEpSOVMvUS9tM0N0Mm50aTRSNDdwYWRJT3phT0J5bTRqOG1IS2U4U3JxVUowOStneVZmTU1wREFlV0VnMGJDcGRGZW8wU0JYa2hTQWY5WFJTUHFQQ3dDbXhMYzJBSEZ5RnZIY1lwd1IvYnkxWk85UlhxQnhYZFd6K3BqN2RZSURvV2NENnQwTkw3Z0ZxMGVGSGRkb3FLaTYvcnV6ZzM4U1pDVUx0alN5eUoxV2wzN3hSdUdmaWZGY3FZYnBxZXRJMVpHTHNXUG5ESWo2UStReTd3VUloWGxhdGlYSmg1L1JKNkUrQ1k5czVwTHNxc0t6NUR0dEZwbWsrZW45eXR3YitOOFdmNG1FWGxvNFlwZXJ6WldqSzFGMWROZWtoVFNYMkdWTkNoRXN2Wk5ZNk5RQkpqWXdERm92ZHhZOW1DbUpOYzc2UlhmYjhSUFpWdFRBSjNheXU4TUhndGlWclYvZWlVOVRROW4yVUZyRk43Zzg1UDZqUG9GbzgvZnp4SEtob3Q4bTkvODNseGxTdnZWbmZuVEk1SlRmMmFXS1NLLzM3QkZFbEpUYk85ZSttUGJSZlpYWkwxWnk3ODYzT2k4RFhzRmV5SFRiM1QxdFJxcUVPV1N1b3paQUlPb1RpWTBseFV2VVlLT2YzMk54WDdMZTlUYjluN0VIaE9mSGh2VmJFZVhaS3BiMTc0NTRxRzg2THdmeFpsR0pNZWZZWlJ6R0dTYVZ4Tm9FcW9ONm5FNFp6UGVJRTFjeHltMDhNeDBHT3NsVEY3K1EyNjVSODhYQVczVm4zdDFSNzJVUVB0K0Z2Z1RHeWYySXpjL0gxWW11MnMrMXA2eHFhUEdtakgyd0pmMnQyTUNtSlJUQ3N5ZGxrbkR5VlJQWlJXUWlORFlBSGNtcTVFOFQ5anJLMGVxbVFUaHp4OUg2cHlvVEhIQXRqaXVCVHB2MkNSV2Z3NWsxTnNvQmVudno5UTlvSDVFRmtBRHpJdjVkUURjeW5YcVVjT1Y4REZTNGZiWG1qdDZDd3dqbjJQcDlpcUkwQnJ4YmtjOU1WMFY2L3dEMXFhd0grZ0ZwaWk4STAvTjlmTlRQUnp3NXZtbXA2b25VdlBDem1QTlF2czdOOGJjMi9UYnoxY0hiODVkN2p0aGRhTzBnTDVGKysvK3lqYkQyMC9saTN3L3dFSVFpTnBMOUNKT3dBQUFBQkpSVTVFcmtKZ2dnPT0iCn0K"/>
    </extobj>
    <extobj name="334E55B0-647D-440b-865C-3EC943EB4CBC-11">
      <extobjdata type="334E55B0-647D-440b-865C-3EC943EB4CBC" data="ewoJIkltZ1NldHRpbmdKc29uIiA6ICJ7XCJkcGlcIjpcIjYwMFwiLFwiZm9ybWF0XCI6XCJQTkdcIixcInRyYW5zcGFyZW50XCI6dHJ1ZSxcImF1dG9cIjpmYWxzZX0iLAoJIkxhdGV4IiA6ICJYRnNnWEdKbFoybHVlMkZzYVdkdVpXUjlDaVpjZEdWNGRIczBMaUJXVFNCeVpXRmthVzVsYzNNZ1kyOXVaR2wwYVc5dWN5QW9abkp2YlNCYk0xMHBPbjBnWEZ3S0puaGZlMmxxZlNCY2JHVnhJREVnTFNCY2JXRjBhR0ppZTBsOVhHeGxablFvWkY5cUtIUXBJRnhuWlhFZ1UxOTdYSFJsZUhSN1kzQjFmWDBnWEd4dmNpQmNZV3h3YUdGZmFpaDBLU0JjWjJWeElGeGhiSEJvWVY5N1hHMWhlSDFjY21sbmFIUXBMQ0JjY1hWaFpDQmNabTl5WVd4c0lHa3NhaXgwSUZ4Y0NpWmNkR1Y0ZEh0M2FHVnlaU0I5SUZ4dFlYUm9ZbUo3U1gwb1hHTmtiM1FwSUZ4MFpYaDBleUJwY3lCMGFHVWdhVzVrYVdOaGRHOXlJR1oxYm1OMGFXOXVJQ2d4SUdsbUlIUnlkV1VzSURBZ2IzUm9aWEozYVhObEtYMEtYR1Z1Wkh0aGJHbG5ibVZrZlNCY1hRPT0iLAoJIkxhdGV4SW1nQmFzZTY0IiA6ICJpVkJPUncwS0dnb0FBQUFOU1VoRVVnQUFDRFlBQUFGT0JBTUFBQUNGcmhLekFBQUFNRkJNVkVYLy8vOEFBQUFBQUFBQUFBQUFBQUFBQUFBQUFBQUFBQUFBQUFBQUFBQUFBQUFBQUFBQUFBQUFBQUFBQUFBQUFBQXYzYUI3QUFBQUQzUlNUbE1BdTNhSk1zM2RJcXRtRUpudlJGUmxIY3VnQUFBQUNYQklXWE1BQUE3RUFBQU94QUdWS3c0YkFBQWdBRWxFUVZSNEFleTlEWlJrV1ZVbWVpc3JLN015cWpLei9BRlpnQ3ZTaFgvUDRabmxERFBNb3gwamZDNGRsc0JFb1k4V3BUV3lIYnNIbVJvalI4RW5nbWEyWTZ1b3owei9abGpJTXdLUUZyUTFpd0dVUjgyOFRFUmEwQm9qbVhtampEUkVpb01PNHBqVk5KVlVkd1djOSszemY4NDk5OGE5bVhFanM5cHoxOHE0NTU2ZnZmZlo1K3p2N1BOemJ5Wkp2S0lHSnEyQjMvb0lYUmxjZWRwdVJtS01qaHFJR3BpNEJoYisxY1JZdGhoZHEwRitzenp0TXlKdDlnUEJQREV5YWlCcVlJSWEyUDZEaVRFcmpBMUo1OExFaElxTW9nYWlCb0lhT011YXdmZ3FJb3Rqd3dNM2VsVUlFR2xHRFVRTkZOWkEvYk9Gc3g0NVk0djFjbW5NTWptblNHYjdMOHZOR1JPakJncG80TmYvMlMvODR5ZDFtZ1Z5bnF3c3RaZC80aG4zM2ZucFl4YnFETnUwSkpqOWtzN0JhNnpuTVFlTFkwUFNPdWlObVhra1Y1MEc1dGkxaCs1NUVhNDdMdzgxbDhYaHRYc3Bwbjh4T2M4WGt4ajdmWjJvQTM4aWszWjB6QmdEZFU2OE9VYUtreUYxaXN0OTNOaXc4YWhWMi9rNkcxNW12MmZGakRkWUFoc1cyS1h4OG83VURxZUJVNThxVUc1T0dqamRkUFpGRldtdzRVQW42a0JINXRyUk1XTU0xRG54NWhncFRvYlVpY0NHMDh4ZTlOdG1uK3BOZDlqRnFoUlFBaHVTeHMycXBJaDB5MmlnOFVpQjNQTlgzeVp0L01WdjE5blB0b1haMzcyWG5MNTZuM2hvNmxRWm1CNVNwaHRQdVZwSnAvdUxkL1ZCWFRGZGFQOXpuLzBKZlY2NDQyY2h0L1liUG42UXFaMEs2elN3VndBZVlIRGt0NWllOUk5ZGNTNDIvUFk3THcvdi9ycWV4Y1dzTnlUSkRGdXlVbUx3bURRd3pXNFU0enpiUm04ZWJqcVoveEpSanpSbDFENkRuVjV4MHZGdzdoYnlmTTZQSGQvelBNZzNKYmx0eGxiR1I3bGlTZ09ERGVjWUN6aGNnbjkxZGFyMUh6TlZySFhZSHliSk1tTkZ2RWhUckVUSXdZWVBvdFZ3M2R3MUJHeHNtRFd3YVRMRTBLUTFNRk1VRzVJSDBaait1bmFIRFp0SzRuUERCbVBYMVpPNkwzNFhpbDFVVHhYY3diUXB5QkpNMkRQb0NwaU5rZVJwZ3cyRGJCVlZXS2N6OXF3ZThBUTczYTVRZ1RZMnZJTGQrTHAvK2lOZkJuOVNOaDMwYW1ORHNweUpsV05zZ1VocWhBWWFoYkZoQ2ozWWR3QmF6QnllbVJxdU1XWU5SWUp4OTFkUmJIT0VFRWRKN21wc1FQL09IbitQd3FLU3NsakNVWE9LYlFpK0VtWlNZWjI2OWlIRkZxT3BKWFNaYXNDd1hPVmpMV3lZWTQvMmlNRGYyRzZLZ3czbkt4MU95Z3YvZDdJRVRxc1duRk1rTmZSZ2Y0MW9rZTFwdGMwTnNjS1dJdGIrYlJRem1YVHVzUVVHR2h2NEF0L1k2RlpOQ0I2QndvWTZWR1FjcmpNMkFGZFhweHE3WlZXeHptRi9KaE9qckt5SERGcllzSHlyeDRuUVVla3JpcHlERFhOYU55bzUzaWV1Z1RNQmM4NFNZZ05ONmFWdFdiN2YzSEFCR1ZiZEhMTTNLWExQalJ6cjAwQmpBNDJ4S1d3YUs2OXhFck93WVJ1Q1g5SzBaMnhzcUs1T1o5bmptaVhoUG9GVDdXZGYyak9SNHcwWmJGalEvV0hmY2h3Y2JFZzZ0MDlEamxkTko0Z2FWcDhLdHdLczBKOGQ3RnN1Nk53d1FZYUxidVZPZjdacWJHaHBiS0JoeUpMSEZlVEVQVTBidjJITlVleDVHeHVxcTFQTERObEpna1l5NEZTTnFndzJQS2pYTytHbjBESUh2MXhzMk5mNFVZMDBrZXBJRFZEWEs0d05kTURKNjBIMTY0WUZzR0dic1IwVFFhSHpLNVBEQnBvdXI3dnNUL0NUaFExWWVyaHBKRjIwc2FHNk90WHRIVXlzSlZXdE9ZTU55K3o5VFZGZHJNZnFNeFl1TnN6NEhjbm9KNFltbzRFek4wdGdBN1drT3ZNdXhLdlpQUXJZZ0RIYzZkaEpNbGlhSURaTXYrM25KcU8yY1hDeHNDRjUzbFAyRE1rMVI0VlYxV25hV1c3QTFPV0trYUNTa01HR2p0N3ZnZzUwajNLeFlhcTZ6ZFJLYXZjRUpOcjlGeVd3Z1p3TWQ0OXdTbnVFMEEyd0FUNmlkNUtxM3BzZ050eFdEV1JqZ3lONDE4RUdKMm1NRDZlYzFUNHNlVjRjSS9FUUtZME50S1l0bDZrb3FHYUJMamJVbURtYkg2SVc0NnJXUUkxOWN3bHNTTm80L09TSU5HTXRSUkkyMERabno4NVJlNFNtc3BYT0hjMTZnODM0NUljenNXRmpJdGl3NWV5YUFodVdLbGFaeGdaeUZsUXZRVWlOTmk0MkpCdVZkcHFLNi9wRUlIL3FGcEM3OEhvRHpYMXRSeUZKV3FwaFNSbkFCaG9IbG16RlRIMHVZb090RHl1Y2lRMzlpV0REc3VNb0hDTTJxSjFVRHhzRy90S1dwYm9ZbklBR3VqdWxzR0VMcHI5dWk3VnRMejhBRzREMnpuQ1V6T3hFYkxBVlpvV3pzR0dlVFFRYk9zNXU4eVN4Z1hhenBQdEpZNGthWGp4c1dOUUxFWmJPWW5CaUdxajFkMHRodzFrMHBiVXhrU1I2a1psRUptd1ltSTA1WG92V3hZZ05HYzJaaFEybkpvSU4zbXMwRThXR2JYMnFnYVlYNGZXRzVKUUdqUXo5eGVoS05YRHFGczBDaXM4cDZIQy9ha29TekJ4aW9TZkNCbXh6S2grUm9wS04xWWdOWEJIcG55eHNhRTBFRzg2NXBqZFJiTUFRSXhjK3FVT3B3NkdlM3pDbjFpdlRtb3N4RTlEQS9oK1d3NGFrN3lMSktlZVlKR0VEYlhQYWdnTjM0bHFrclJBVHpzS0d6a1N3WVpFNXI4MU5GQnVTSC8wenFRWmF1OTZSWVE4YnNDbldsQ254Tm5rTjFQcDdKYkdoZ2JaY05ZSnVPVDRDWVFOdGMyNmFESFB3TWlJMkdIM1lvUXhzd0tBNmlmV0dnVHM1bkN3MmFEV0FyWEloM1Bjd2thUGpybXJyTWpFd0NRMmN4V0c4VW5PS1pNMXFTMGk0clB4QkxpMWhRMUozams2ZXdlcEV4SVp3VzJaZ0ExWnpKNEVORFhjYjRKaXdZUkg5cVNmVjQva05XTmErRUZaY2pKMkFCZ2I0bWtjNWJNQ2JXZG9IaElDZEZWdEtqZzM3NXFBYjB0YldjN0NoOWlPZitIdjMzUVVTMDc5ejdRdDZ5QzJ1dDk3ZmY5OFhOTlVUM2YvTGsvc1BmYjdscm9pMDZhKzU2K0JwVGV5akt1Znoxejc2aSs5Njh2dDU0dXdMZnVHT0oxM2VRL2lUK0x6UXMzaWMvdkVaekgvTlpYYlBmMHlTaDYvSUxPQjM4SkxkWlA2UGRCRTM4TmI3T3NPWHZNNk9xNzMyenVFTERadGM5c2szUEtsLzl6dFFhelhWcnIzZ0UzZmNkM2xkMEtPdjVWallZTlZKcEJmbmxGK0x0aDZ2T1YyTkRSbU5rc2Yybm44aVJKdC9aLzhodCtGRXZQelY1eHVzV1BRV3RVMlI4aHU2cm1kamxZckI2aldBS1VWSmJLRFBScHA1NnJUcjlYRnN3RWlnV3p0SkdzMGNiS0JkRDlyeXJOWFpOZmJIcXJyNEl0QkRmWGF3cEo2VDVHc1JnNU4wbXlhR1FxL3FNM2FaWWpVMklFSzlsN0JQUVRvODgwdzJSUFQzMlVWOUJtL3FzeGUvNjhuc0F3dHluS3A5TGJ2eE03RCt6WDN2aUtjaTh1ZWNPUHRDOVl4VjJEWmpIY2JlMjVOUmVleG4vd1BxMG1mZmE3Q0JYbE9SZThPdi9CMGU1aitmSm1JUVh0V0oweTdNYVZRdDdQTm9BODZQL3pURGpWS0U3VndIemNpR2Uxek93RThJRzZDMFN5cXI3emUwOUNwbGt2enlqU1dWTGQ0bm9ZRnoxUGZMK1EzSWJiMFZkTTVlZXhEN0ZBa081dFBVUWw0UDRaNDVwMURkOFBrMy9ockRWbE1VK2RlTVBUdXB2WjRkeUdmNkFNaHJWcFBaaHRmcjNzVFlkNjBtOHh1UDlGcXFyR1ZIKzd5ajd5V3ZHRDRyU1RBVXJ3dmk5T3N6V0dDM21vaCtZNzhqdStrK2V3ZWVhODg4eU5qQStVYkd2dVdiZi8xamJmWlVaT1BYZklkOWV5LzVyUTM5Q2tBTysxcUQzZmlySlBrUWU2cjJHODV6WWRlSlZKY0h4YytuS2NLcUV6MFc1elNpRnRnZ2FCSkJmZzBNVjQwTlRxTVVZVnVyUTQvemJmL012T0pCL2wzUFBJZ1FwQmhxZjlESGhrWDJtTXFQbnBLQjB5cEh2STlYQTRQSFFhOGNOdERaSnJNUHNlZzJHUGNiME9QTllkY0ZlaGszRXh2RTkxUlhhdjJscEtIR0R6Z21QMDIxM05hTzlXbjJib3FBYzJFdmZNNzNHZjlQanJQdFAyaXBidjZNdDRFM2xsQncvY0M3MmlUSGJKK1hiVnRGVXd3YU4wVHZSUC9qUTlocDltMmNCS29hM053RitIMG5aYWd0NjI2OXdiNkh4OGg3SHZ2a1lYYXdTNWxmTVh5NW1sTk0zVkdIc09zVSsrR3JWMUdKUjY3U3hVVzM2a1RwaFRtTnFnWDJrNGlldUY1MTlTcWNtVDhpcHIxUW94UmkrK3BiUFZBRHlLOExvcW5mQURhOG1sbWZEZk94WWNhTVFvUzFteW1DTWFJNkRYUkkzU1d4WVdDMzByNDFNUVlwamcxWVhqWnJTS2NJZlRLeEFXa1BZMDV4Q2xSUTZEb2U2V09tWWtZQ0M5empFVWxYTWxHMksyS1gxVUJ5ZXRoVjJKQWtiMUhZZ0EyVE5pZzhLTXB1bVJ3cEJuT1kxSWhyUTJCRFY3MGljamFNRFhYVlpXdHRMTmZROVdZVkE5emhkbys0TFBiWXRMdkFDeVdORHloc1FDTnNHSk1DRVVldFZwMUtjQnBWaTFQZTZRSFl0SlFyMENnRktyaGI2MjlTdmRDZFBpdnFsL29OWUVPSEhhenFmRDQybkRVT2FKMVo0dWtDTVZDWkJ2aVVvaXcya1A5N1NZbFV2NjVDL0M2d29jc1lJUUsvdGk3Z2xvY05HTDVXdWhlNTY4d0xBUkxXUmRHMlBESTd5NzVsVmNSMG1IRWNURDU0R01ieTBUT0YzNEFTTFdCRGU1Y1hCYXlzQ0JvMDVWa1hRY2xnUzV2ekRLOVl6ZlR0NEtlSHNCb3JDVHkzTDNqTmRsUk1zbS9jNERCN1NLc0VoQ1JtUWczMGtsUVRIeHVzT2hYbk5Lb1dPS1BtK253Mk52aU5Vb2l0K3BEZGhyRm9vV2Y5bThZRy9GZWpLem81dFJZSkJhbkVEblMxb2g3aXZYb050UGk3RUNYOUJ2UWJmYzY5WnJjczVCWFlnRzZ1UCt1elRMYVpodzFJZXhtTjB4dXk3ZmYxY05hU296WjZpQnhHQnpCMlpPWFhzaG5UMGF2TjFMbXZUUzlaWk94dnBTQ1kxcXIzUGxJTUdyb0R6bkZzT0cxV3g3dWhPY1dHa3BDcTFTTmhabFFNUC9rbDBDakpZQSszNFJLdkFIN3FGallBY3RkbHZJOE5XSEpRY0ZLYzA2aGFRTHhiU2c1K3Q3SEJiNVJDYkFuaDZkcTNXa1BFcUY4UEcyb3YvM2xtcitlbXNBRzZXcFZsMFQyTVc2UG94WHQxR3Vnc0VlMlMyRUJubTlRK3hKU3hTUzZsd0FZTTBzb3JUeTVUZkI0MndHcS9tMHgvVFhqam9LNzhhWFRXVFNwTmprcVBBZ2xHYkdWWGxyRlRCWXdjSFcxSFpKeXZYK0VGS1l0RWlUUUR5em5nNUlYM3dNc3RCckFCbHN2WENBa1NKRlp0YU9DaHVaR2NaNFRaSndQVDMrbi94RWhTbk5pNmtEWGxONENtd29iaW5FYlVnaFN1QVp6enRiSEJheFFBdDBMVzdBbytTcXZPZEtGV0VpWEVzL2wxc2VIcFVCLzdJcFBxZllNZUNlZzN1eklkYXROaHUwZ01WNk9CMDZMbmw4U0dwRzMySVp5UE4wQklnUTNvV2NwVzV6bUs1R0VEVmk3djNVSFIyWGYrT0g3Si9GZm9qZ3VsVnVnT0U1ZkxVQmhIVkI5RkIxeW5SSDV0YUg0SnBGTjJSS0RTMlpOWjlFc2VLUVkxNDRBa2RZS2VMUTFBeWFrQU5xenBBUXd5c0NVVUFGcGNrR3hvbjBHVkNiS0hzclY4Q1VCVVl3UGtXcGRFVW42RHJsTUpUaU5xUWUvRTZVMEF6dGZHQnE5UkNySFZtSTcyVWpXUkZWSTNCeHZ3cjNKd0hUeGJKZUx1cnpkQWpFMlpqS1pYQTVKVklBYXIwb0NZVXBUMUc5RDdOWVMzM0tGSFlnTnR1MTBSUXAvbHRqd0NHK3hoWmwrWUd5OHRMUWQ5alpzZ1B5dWsrdk8yQlFlMHg5RlVTdEoyeEIwTzdiLzAxZXc2eFFBZFVKVk5Hb1FOTFRPbmtPaXAweWxRMTdVbndmWVFzeVZ1bE1pUmJJOEhDSnJTN0RGQjBuQkFyNTdvaDBMWVVJTFRpRm9RaUgxV3lDbC9QV3l3RzZVUVc3WWpDYUhlcE1iQTVXQURwZi9hUDJMc2kwMUdIeHZnNDExVXFjOTcycTRLeG52MUdoQlRpdExZZ0o2aUJvWnR2ZVlvcEJWK0E5bnFkUkd4eFh2SktHeG9tcnEyTFRPWGU1Ymt1b3QrZ1VIM2xzaUtYcU9HWjBRc1c0VmNiTkJqVFVmbFR6RUFOaXdwL2wwU3QyV2M3VG1MaWN5RDdNcmlZVTE4UHR5dzBJVjhnUldSRlRhU1pyOW1HdzRHdzNMWVVJSlRmaTBnWWNQdzV2TDYyTkFVdGFEZlFtelZjRUJUclJWVDFnNmxzSUUzSGQreDV0bDhiTUJuSHRidDhqRThLUTFNeVQ1ZWRrNkIzcTlNMy9LbHVkUVNHMkFBY256dmJsTDhDR3dZbWhwak9tS2VjRVpJbGxZcjZ0b2hod3phN3ZLd1FRK04yQ3ZqWE5JTVVIMjF3cEVNMXBISkdpWG5qZi9QUytNSG5DVStKYk45WGsxWGY3QjNXWGRnUTRvOUxibGVWS1RvKzNtbHNLRU1wL3hhUUlSdFBUOFQ4bmpZWUpyQkd6eXlLc2hkS0NJRkQyaEhrUFIvQTlnQXFCMDJWYjRBTmhCWXgydmlHbGlUL2RMdGNhUEZvT1VFMGYzZGp6ZWdwTVFHZERNNTRMWTV1UkhZb0N3ZmVlRnltNmQ5T1I2YmZ6R3RVeGN0dTh2REJ1M1hLR3dJTU9nemNiWUs3T2Q3K0lGTjM2STdYWDhtYnRZdk9FdmJSM1hmM2tRS1p1TUtMZkNFemk3ckRqb3A5dlRCbzExTnJTdzJsT0dVWHd1SXNHR2s0d0o1MkdDYW9XQUY5WlpDS1d5Z1hRMk5vQkViZE5jNDVrQmJEbUJsc1lHV0UwVDNkei9lZ09wSWJDQXNXS1hhVFF1akdZRU5sbVZSajlacUdWaFRCUkdwc1FGSjJ1N3lzT0c2SXFhd0ljQ2dBV20vdmFjeWlnOVEzSGlkZVhaRDZNdHFQVlFtd0tnMFd2QmRIOWJqS1dDVllrKzRLbElwUzFsc0tNTUpheGtzdXhaZ1BnSWJURFBRU2NjQ0ZkU3JOdVd3QWNRMVdnYXdZWVgwRks4SmEwQk5LVHlYc1lBVURUUW5OLzAxcXdQeGNoSWJDRDB1VXNRNTRacU13QWFyNDYzcHZVYVVicGxldzZuakEzVEtxOWkyN0M0UEczWmtRV3dEaWpsRmdNRVdxc01PWHROVVdZR1Z1Rjc2UytyWnZXODduQ2x0MFRFZDhnejJlQkZnd3c0UDRFZXhoOXVpYmFnOE5wVGhsRjhMaUZTMzBSWFBNTklMU2x3NFAxYWpGR09yNjFVT0c4Qks3L3Ftc0tGdk5LaEVpL2NKYUVCTktjcGp3eHFhazV1KysvRUd5S3l3WVZ1YXhma1ZYcEVSMktDbisveE5JL01FbzkzajVmblA3RC83eFhkcGJPZzQ2MTNMbG9QaHJrV3VxUElkdVk3UnRWWVg1TW9DUEhWK2ZXdFRaa1lldW00OFN4VzI3K0M4WXovVFpxQlpzRUJLbjdGMW5nSFlzTUlEK0ZIc3NVNm5WaklSVzladktNT0pieWRsMWdMTTI4YXI0Vko2MkdDYW9WUUZRUXJZY0oxVFRQMEUxaHRJRGdYNHFUMU02SEluUlNSR1ZLK0IraFhKby9TY0FvMHYyc3o5ZUFQSUtXeG9TWFBaWCtJOFJtQ0RubTl5RCtEZzg5U0ZYck1wWlV4ZStVNHd4U1dud1REQVN5b3B6MjlZVVptVWNTN0RPQlg5ejJzTEJvamoxOEdleUEyVEZkZjNxZExXSFNrcjFpT0NYV3ZHak1lT0VpMkVEWWlUcXhGRW95dzJsT0ZFeE1VVnFnV1lqOEFHcTFGS3NTMk5EYVQ5WGRKRytud0RkSGxkcE1UZlNXcEFtWEhwYzVGODhZMnZIM2tmYjREMGlpaUdSMjdFOVI2dlVuRnNhSWp1ckg2SFRWNGViKzlqT2Z2SC91ZXF4Z1prdUNDVGNFUDNVaG5SNWZYZVFzZzRRd3dXK3BMZmpaNmcrVGVLLzNlSVovc1hTWmZzWjc3RFp4a1NZY01LenhCaXY2aHJRRm5LWWdPRUw4eUozbXlYVjZBV1lGNGNHOHF4TGVzM3RDQ2wxR2ljVS9DT2Mrdy9XN3FYbGZZYmFDcExCbmpXV2xZVDlWSFlRRzU2RCtPQU5OTVIyQ0QzUzRqRWhyV3JKMGpTYjIwYkI2dFhFVkNXaGVNTmg4U0dJSU8zZ0J5L2ZsL3dwSmNpK2FXeFNjVGoxK05NOGR1dXpCM2xVb2V3WVUzVmdCTXNpdzFsT0VGcjJiVWc3aVBXRzZ4R0tjZTJMRFlzTXIyNkc4Q0dGYTZvK0ROUkRlZ3BSZm4xQnJKZ1dubnlQdDZBR0lVTmhCNUxXUEdYK0hOVWJGakdWMXk0Y3BSbGVSYUs5Q1pQeDg4SXZ3R2lXNzFlRlhwakhRTFRKY25VdmtROHB2TjZuSW1BUjdKVEhUYVU0UVRCc21zaHhINmNidnJ5MWhzc0xaVmtlMFlwUUpOV2dlQjZBM3hNdGZBWnNVRnA2bGp2QzhPZTRsL2FiNkRGS1ZvSjZINU9rVkIzaFExa0x5czRLYkFqRW9walF5Tmt1cS9RQjUwVU50Qm13QVhGdE95Y3d1cjFoc1FyZndJazFXd0EwYk92aFkwN0M0Y3lMeUtsQjZ3S2I3dWVmbDh0Vm9iOGhrVmRBeXA5Q0w5QmUzc29uc3VKUzVkWkM2U08yTU8wdEZTbWdpQmNFaHVRWFUwRFU5aVEwald2VmZ5cFZnTTQzdWRmeFJtaTE1T0J0Sy83UlRRMkRMaU5EeTZLRE1XeFlkbTFNMTRjeHcvVllwVzJMQWh3d1RCSHFhWjZHdUUzaEJpSW9yKzlEYUxXWWN2YUovRXM5bU1VYmJvamJzVis1c2hrZzZUT01INXNnUENGT1VrWk0ycUIxQkhuSWkxc0tNbTJBRFpNUC8wOXUwcUo4RmZVK213QUc2eFdWZ1hpdldJTkhBa2I2RnpOWnpEMXZ1SUxxYkVCZG9HekQvaVhWdndxamczNzJyODBwQjgwZUtHeG9lTllLRHB2VStVZmdRMGhCcXJvNjFFdEZhYjdYRC9nSFlQempwM0oyM2ZsNENFNmRBZ2J5dTFoTmk0S1RxcE8zUlEyWkhQU01nWnJnZFFHczMyUTFQa0dDeHRLc2kyQURRTUxoYWtueW4xZEh4dmcwYTdyZXNUQXBEUXdSNThHRkJjK2JEeWtVSEhXTk9sK05EbHRERklWMWRoQTZKSFU1SWJqcVBjcHJHNjRacDk5a2xUcmZPMkNQMmhzMkhBc2RMazROcVFaMU42cnBLZVowR2FTUENndGtyODc4WmhPbEFIa3VlN0d0Vnc4UTgydjhBd2hiSUFoREUzcFVYTUtIeHZLY01xdkJXVFlkM3lRUEd3b3d4YUVSMk5EclE4bE5hVWV5Ry9Jd0FiME05MFdNbmU4VFZRRE9LdG43YmtYWXQybUx1NS92QUVsTlRiUVl1VG1sSEtBaS9zTkdGZjFGcVNVaE43R1VVSUpiUGdJLzdhUVphSExwcWNsYW94RmtaQnhwaGxNRzE4QmxndXpiaG5LRytUOXVOZCtha1VFYkt5cENPSG1MaThTWWsrYU1QVEtZa01aVHZtMWdBd3R0UUlvNWNsZWl5ekRGc1JHWXdNL2JYWlI4a1YyZFdyRjl4dHd3bnhUNW9xM1k5SEFJYkNoU3dZdzhEN2VBT0UxTmlSMXJFak1LQ01yamczd042eHpnMXdkNkxPYUVlOUYwOGl4NVZob0NXeElNNWhYaXhuZzFxZFZqSUh4dGYxdktpSUxPR3R4dUh6dSsySGtJMGtvQzJFRFlXWlRGTU52V1d4QVN5bFhES1h6T2VYWEFzVzNiRVREY3pZMmxHRUxRcU94Z2J4S3ZWNEV0RllJN0dNRGFyZ0xndkU2TmcwY0FodGdJR3g5dzkwREkva05OdXhqUmFKMVJkYXBPRGJRcU51VHBYQjdMc0pyZXZ1YmRsdGhHNFFONkgrV2haYkFoalNEZVd2WnBFSHJqQVBqSzV4T0lSVnh0dXh6K3QxNGVWT2pBUW1PZmk4OW54QTJKRzB6UVNxUERXVTQ1ZGNDZ3VaOUx4SyttalhSSzhNV2hFZGpBekJSVGJ5NGQ2ZG1OejQySU44cTZUUmV4NldCUTJBRHpSRWYxOGh2QkRmWVFIN29kbE9tRk1jR09lVlhGTnNZTmdabWdvOHVLN0VCM2RXYWV6U3N3WGpFbkNMTllONWFXOXluN1plQm5zSmdhRTdOdHNEWm1oWE1rSS9SdHZFTWxpSGYwd3hpQTJxenJtcEhPS0pORU9WVUF0UWxabU1iU3lLcnJsTUpUdm0xQU4wWnIyN1pma09wQ2hiQkJ1b1BiRS9ValJ3eHRZTGpZd042cHN3VWI4ZWpBUmNibnZlMDVtZ3hxSEZ2Nk5ZMStlZDBXNExvVU04T1NtRERHcU9oVzE1OEthQnJsaDB4amtoc2NMdnJkZ2xzU0RHWU4vWUpIMldkd0tpcEJKaTFFVWhHdHUyUmYzQWRzUU03QnZTdmlKeEJiQUFFR0hjTFNncGhBeUJRTElHMjl3UWxqUTBsT0kyb0JjMGhEQVlTbXh4c0tNRVdoRkJGMGtyZ1VtZWZ5SG5UemhjOFREWEsrTmhnL3d1TlF2MHl3RE5HSFVVRERqYkEvS3lGdFV5eWZUU294Z0dUYTBySG9YK2J0YTRTMkFCaGFDZ1cxeW55RFRCaFVGME52VTVoUTh1MlIwalRsRVVBR2xTSVgwSGpUREdZWjJZTzBXSkxaT3JTdU9sRExkYk1SVklGNXgwWnhDN3RPb0t3S2hQVDBFNUVrRDMwWWtnaVJ3Z2JZRHFpRFRwTlVNZWw2MVNDMDRoYThBbE5qMU9YUHpuWVVJSXRpSTNHQm5yblJPc1lDbE90NTJQRGVkTTBCZnVsWGFFWVByb0dzRHB2UE9jQldtcDNOTTF0WkRNbXBmT2ZOZlBEdGpWQTBycjBuczdrQm1Bc0JneVFwRC9zaURELzJPMitkdEtUUVpza1hhQWhCKzc0RG03OG9xVXRMYk8yby9BK1Jab0JKZ2s5U1FqN2VxdUVEWHBrWDFEekE1VUJkM0RUMWozTmV6VzI1TVE0ajFUWXRkcWRDV0lEamhXWTRicGgxUjBXdGE2NHFBL2ZLc0YwblVwd0dsRUwvb0dxcG1KSWR3REFKZlhzTlVvSnRxQlFBQnU2TjM5WXNhTFRuUXJOZld6WTBycEVvMWh0ck12R1FNVWFBRFpvNzUrbTQ4ckR5MlBiUWpZOTVKbU1XMlkvdW12MWRZQis1bVlVVE5QQkJ2eUR4SXVTWUsxUG9UVmppL2V1a1dGTmNWQ3FHMndDZWhqb1VYYUZrb3NXZnZTMVNmb01JTUM2Wkpoc0VFZ09kRi9GMjJUYVhGUVdla2xKalhQSmpPalYwTWFxVElkaEtQSEQ3R0dDVjJSZWNxY1VrTkNHNndYRlkxc0lPNitheGRTcE9LZFJ0YUJEV3B1S0lkMGgrU1gxN0RkS0ViYmFaY1RHdzNWRnlMMnJPUVhXT3BvcWhaU2dzTmpIaHBhQjVnMWswL3BSWmVPOWFnMmdVNWlocklNMldCbk5rVGFlMHRscWJkUFh0eXljaHgrdkxjYW5EWjlDRDdxVWhtNnA3T1VNZDJjQVhYTDhQUFU1c04xTnpuQXNlVURqd1N6clcrUXRKd2dpNkU2cWlhUVlnS0VTWUpyRDFNQVlUY3Y0STBadWNINlpmTm9RLzZjRy9YdEZ4alFNc0lUWjQ5OHlxUHF0RGRYa0FZVVhMZE9FQkx1SU9xdG1kNlpPeFRtTnFnVmgzTG9VbXQ4QVRqdnEyVytVNG14QkFUWHh2cHFueUdwc21HYnlqVmZ4RDRDb3NuVDUyTkExRW5YUWdDczhVL3lab0FhV29mYm5LSDUxUEJUQVovSUVsbFFaZGE4OUU3SDhQOUFneHZvL3AvUzlVUGJIS3BkM2Z6T1FTZlVObnZSOFplaTFEamRCZXAyQ0IycjFpN3lQN3E5UXZscGJtZlREdHhwTTl6VVNUSkZEdFBMK0tmb0tKNThrSGdOZ2cvSTZIdUFJTnREb1ZPc282NVJGeGEzT2hxczhkRzdZRkRINDE5Z2lCa0IyVVVUeDd6cUUyS1BDbXp6TGZQL3RxTHVrUU1zcTJuK0NiM0VCV2Ria2VHclhxVENua2JWSUdzYnlTSjR1Wm9rOUN1QktOVW9SdHFyaXFJbWFKQWhxK2xkalE5TFZiYjV0b0RtRkRSc0d2ZXFzVUwvVXJHTGd5QnFZdStPbjJ0QTZZeS84bWIvUGlYVVJGbDAzbHphZDRlbTVPVTdmMTBFa2hyaWYyYVdFZWJtZWR2cU9uNnJ6K0VkKzZ1MnE5K2lDYzFmdnA3VGhVNjQrVzhmVjJ1eVJKajB0SC9Ub1JwK05ITzdoL2t3WUtzenliZElmVldaNG1sMVpCbzEvK2ZhOVpQYnEyL3BFN3FmK1k1STg3K3JUaWZSN3J2NnVqbjdhMVNiSUVLcllESUFORzZDTWE3ckQrelM4Y1duZzMyVDZKczhnZitBR2NhT2Y3cWhwMVd4SHhNeHJ4eW1iUGFadGdsM2pGaG45d2RXdlM1SlhDV0hmTDFTWFlINlBMTFVPNmN1dUV6MFc1VFN5RnBnN21lSDlONFVBTjU3eTlxVWsxQ2lGMmNxYXZPZnFPMnlOeWJEQmhqbDJzOGNqYWExb1R5YW5zS0Z2dW1JWCtRcjBTMFVwM28rdUFYTFk1U1hXSXhHaGQ1Znl5TmRUMmVDVHltdUpGK3lJVWM5RVd6NnJvbXpZNnpFVEI2ajY3TWIvK3NNL3VxMEcrbG9kNXY3dmY3RStSTi9BZ01iK2t5ejlKMndJUkhrZW5na2JhRmdoRjRCZk1OMTlGZjZzaVphOTBHVXd6ejQxMy8rOVpwTDhhSjB0RWVrQlczcDQrS1V3d3ovWGJnZEZXeGYrKy9NZi9lbXYvK2YySXowVkNaSzMvdnV2Znd6L3VGSkc1YkNmNzdEM3JpYlQyOE5kd2dhdTd3RVA0R2RKRVB4Qi9MdW4vL1AxdkNIc09sRmlVVTZqYTdISVBpZTQ0WGROQ1lBMWg2eEdLVlRCbGlMMG1LWnRBZ1lia29mWnpUMGt6TllaK3g2ZHdadFRZRVcwcDlLSzlrdVZQOTZQcklHejdOcEQ5NzdvUlhmZWU2MHZzQ0g1NVJ0TFJhajZiK3JRcnNDMWUrOTUwWjJYcjhrTy9yRHdFczRQSDdyblJYVGRlYm0vNDFNR2V5cHo3elhqVHlQTFZJZDNzQzlVdWVmUmdYQTloNTUvZWZqdEtqcjVjb3k2ZmZiZW5vVU4xOERzM3N0OXdvYmhOVlFNOVNKc29HaVNiRStVZFJoTXcwbDRDMk1QOVJuN1haN2NlcFErbVRTOERCOTdWZk55QS9oRUhhNGIxa0FtU2Q1VUpVYXh2OHlHejZFejA3Z0FBUU1TbHRTd0pQalV0aWxoblI2RThLSk9QTEVncDlHMU9HdTUvbXRDVzFBUllVTk9vNHlxWUV1cGZiQjRqY01BQUNBQVNVUkJWQVEyWUViRHZ1Q3JQMWEzVmx5QUZKWW5nN3BPV2Z0blJmc2xWMUg4T1ZZTnpMQ2Q2dmpQZnVWZHd4ZC9sYUZmKzR2NyszZS96anlyMFBjL3FmL1F6K0hobWZjODVlLy82cC8yVlBUb3U4MkF2NGY1eHA5Z0Q3M2tyMFZCZW9PeDlwV2Q0VDMvYnpiRnQ5N2ZmOSsvVVRqQWl4SEp1ekdYS1hMTmZzbGR3NWZ1b2ZNLzlNSi84Ny84eng4T0ZLbjkvRjBIYXVYR1R5N0dhWFF0NXRuUUo1MzNYSXh0SGdYTURuczZuUzlPQVFBQjdmcnlzT0dVV2xIU0dXTGdkdERBZk1jYU5HOEhnYU9NS1EzMDlhcHRLcW1hQ0JzYmt1U1Y5M2VHTC93S201T0hEVnZzY1RzMWhxTUdvZ1ltcElGR2VLbTFPdTR1TnFUNWVOaXdyRmFjMGpsalROUkExRUNGR3RneXh6OHE1R0tSTG9rTkhkYTBDc2RnMUVEVXdLUTBjTmJhcUpnSXozTFlNR3N2UlU1RXZzZ2thaUJxZ0d0ZzRzWlhEaHZPT1p0WHNjMmlCcUlHSnFlQjdRazc3ZVd3WWF2SUFkM0pLU3R5aWhyNE82U0JTVnRmT1d4b1RCaTUvZzQxZkt4cTFNQUlEWndPdlVzN29zeFJra3RoUTgwNm1uVVVwckZzMUVEVVFIa05pQmRJeXBjN1pJbFMySEE2bm00NHBKcGpzYWlCbzJ0Z01OblRUNld3WVMyK1czWDBCbzRVb2dZT3FZRnpWWjU4VDh0VUNodmE4Z1dmTkprWUV6VVFOVkM1QmpxM0ttZGhNU2lERFhQc0Q2MlNNUmcxRURVd1dRMnNUWFF2b0F3MmJFMTJ1ak5adFVkdVVRTW5YZ01MK3ZOMmt4QzFERGJVOFo1OXZLSUdvZ2FPVFFQTGs1elZsOENHYy9FOXEyUHJFNUZ4MUFCcDRQUWszOFVzZ1EzTGhiNCtGdHN3YWlCcW9ESU5OTVRIS3l1amJ4TnVzZi83SXgvNWlCMWpoWkh5My9SM254WW1DVm1XRURFWU5SQTFvRFF3TmNGakJPSmprczduc3BRWStCNGNYZXJydHEySjdwOW9JV0lnYWlCcXdHaGcvOU1tWEhHb01EYlUxSWN6S3hZb2tvOGFpQnJJMXNDcytJSnVkb2J4cFJUSGhwOGNIOU5JS1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vZ2FpQnFJR29nYWlCcUlHb2dhaUJxSUdwZ1RCcjR5OTFERVFvVm0vM0FvVWc5SVFyZG52cDQ5ZVlUUXZteEVwVm80Tnh3OVRCMHc4VTZGdzVENjRsUTVqYlZ4OHdqVHdUbHh6cFVvNEdOVHgrS2JyallBemQ2aDZKMit4ZTZUZlZSNjN6SDdhLzdXSU5xTkhDSzdSNkdjRWF4MmY3TERrUHQ5aTl6MityajFRZTkyMS83c1FhVmFLRDlXSURzcjMzMEdmZmRkU3VRb0tPQ3haRGFHbjlYbTMvYlhRY3YvaXJPK2VGRDRaZ1d1c0xBQlBVeDNscE1zL0dpK2QrRVpwWG5QalZlb1NPMWNXamdEWDFtcnVIM3BFaWVaUmRUY2NrNVh1Um1Pa0hIQkl0UjZnSzdwRE9OSi9BaElmOTNnZG9zMnhzUHpiRlRtYUEreGkzNy9vMnhVdXgvTGtDdXhRS1JNZXFZTlRBd3lJRFFveWxwR3FHMXFQTzhVTWloVU9XRHhYaGlJdzlTVlBFUzkyOWs3UDMvMnllK3BzK2VtaVFQc2w2SmtwUE1Pamw5akwxV3A5bjZPR25XUTFDek1Sd25pMGhMYVdENjJxb0tIdUorOWpMc2ZIZ05GKzRIWCtSVG1HZVArMUY0bm4vR1A0YTc4WmxBaW93S0YrT0pNMndwdTF6NWxMY3c5ZzRxTlY4Zk5wUDJRWGtDRXlreE9YMVVVSjNPV0IzK0xrdDMxeG96ODlOZnZyRTd1ZzZ6VC8vdTBabGlqbVJ3VkVmNnYvS0JZWXA5b0pmVzVvTnNNeDFKTVhBZGRzSXBGSnRaalB6K3crMTdoSmxOOTlsUGlwUUY5Z2RuclM0V3puNWNzUlBUUnhVVlhHUE5NWkxkQ2t4UzUweWZPSnM3NWlnNTl0bDRSeGhGOTdhOC84QlNsdGkveVk2S0RUVnU1YWVDWk5vaEQ1QkVBVGFzWjRtVUpKbkZVR1E1YzNEL2NJRVJ3K081ei9UTVp1MUdnNFhtc2w2SlkzbWNtRDZxcU4wVVd4a2oyYk1CYW1kTVhKZXgwVzVLRFQ3dU9HVWFZL1VtVCtxRG1iMytqWER1OTQ0b1VKdG1CK2REeTBGem1ST0hMWmJsVVlDV1g2eTI4YStNaU9jREE0ZEk3UStYVExaQ29UbUdtWVM4NXRGaFFoTWdsWDZNOTRucG81bzY5dFBMVUlkbk5HOThCRTFrelhnQmJXYlFYcWY3Z1RrMDlTVS8wanc3M2MxRVB6RkRIODlTMk96UFEwdEh4b1k2ZWZtTHc0RHV0dGlWUUN4RndhdGJ6VWhLRXIvWURMT0F4M0lnUFFKWStIaU9GelhpY2NBK2EzSnNuTmpCWkdMNk1Nb1laNmc3MWtsRjM2d3RLQ0ViWmcwWjNUbG5IVXNXb0gyeWk2cHcrdTUwdDNUeUV5cm0zMElWUytrYUxWeDlNaEp3N2FYVFNzVnNrSUVGc1dIRE5KcEhjWnVGc0VSbThvc0JTSHFtZkNkcm52Sk5xTXU3VGI3Um9XbkhlVmxqbVVnMm1wVE04WXU5UU5hNW5INFl5SjZPbXBRKzBwekhFak9UTjBpWDV0Q3d4Z2xadUhOVFU2bm5XcjNNQnI4aGMyS0tMRzUzMDZTZmlJRm5ab3luaEo3RFo3ZkhoUTBCYlU5bkwrNTFtR2xQWCttcFluV25LZmN6d2V5L29rWnlhZEduR1h5ZVlmWU82Nm1qYTJLQlhRZ3dXaDQ5QXc2VU1sRVQwNGRoT2RiUVF1YU05akJzMWxMTlAyMTVmNjhPN0tPbnVkUnB4enJ6Y3J0YlpyYmJQNkgydFVDQXBWQTl6ajEwei8rRGZidWpXNFR3R3dMWWNDcHpBby9WSUwwSW1KSXRWWXc1R0RPVHZjUHg5UUNITDB6Unk0eFlkdnpQS2NjN3lTeVVsekJ2OVZLZHIxWmdkVXhuRGdVbXBvOFE4M0hFZFhKOHhOTDB6NlR3OTV6ZElUN1NLMEJ4K3EveU1ybmRMUy9uN1owMnV3My9hVE9uRGxWaVF5dlRTVi9JbXhiNnhlRDYyeHNJVXptMjlrTUFoKy9NcWEyVE5PdnVsVXc3M29tVHMvQkR4M1pFWktrcEI0RUtreklaSjZVUHczSE1vZVhRbFBhd1BPWlNBODVpM3VKQmVUWmVkeXRQNERZcE1Zc0Z0aHQ3ZWNKV2lRMzF6RVVvekdkMk1xWHlpMkZBZjl6S1hNdGJxc0NXTFBzK0szTmVFRUxzV3VuMkNSb3J1bFJ3T2JEQ2VqNDEwSlVpbVNTVDBrZEpzWXBuMzhwcDdPSlVWTTZVeDdrZlVMcktmSWk3MTkwT1FlRzJLREpkWit3UnUvK25wYTRRRzJyWkF6R1dndGZUc29pWVZERXNCS3pZbVRkU00wNHI5VTE5eGdwK0FXYlIzdjRBQ2NjN3NVaVdDQzRHcXRWMUVLZ0VNWmwxWXZvb0wxckJFbWZIb0ZuRGFzTmZpdzRlb3piNXk0Yjg3bGEyL08yUmZ4NkdmN09aTDJ1RjJEQ1Z2UzYwNWV3UXVCS21pc0dHcjloWkJybnIzbE1BaDkvcjJmbXp3dnNlZGpuZVNWYWgvUGh6QVJxZHdFcE1QaFUzZFdMNmNObU84V21lK2VaOEZPSUR6MDJvcFJ5Sm8xREhqcHZYM1k1RzdZU1dYdWhnVldWMWhIQVZZc05NOWtSN1ArZDRRNnBZeTFzdVhjeW1TNVdsYWovYUcxRnRTcTQ3MnhSSjBsOHBVQ2cveTJ3YUR1ZVAyblVucG8vOHFoMGxOYWUxeTVQMUQ3OU5CZkM0UEZWVHd1OXVKdVdKRTVyckY3R1JDckdobFQyKzV4MXZTQlZiWnF4bk44dXB0QUhheVFtNVN5TXhFU1g2N0taVHp2Vk9uS1RDRCtrM0FrOGRkYkk5TVgwVXJtVHBqUFZ4cmhhZTloUjZKakNQS3kyaFZjRHZibGJTRXlWSXA2Ri9iM1JsS3NTRzdld2VrWGU4SVZYTTMyK2U4K1lDcVVyU01zdW91UlFLWVpuV0tacTNqT0Zrekhsb3BZNkNyeDExa1g1aStzaXAxaEdUdXU2QzBkR296WG9ieFd0SFhNL3hwZkc3bTU5Kyt6Ky9pVEgydlFXcVVTRTJ1TnNBdGl3NDNwQjlIaWhWck84Y2I2QlhNVFAzUHlRVDJwNFpzUWJMeVRoSDdHcXVkMkxMV3p4c3ZmWWpDMjBmbGV5azlGRzhrcVZ6cmdWZWdpaE5SQmRvdSs1ZVk1eW5KOERFNzI2YTd4TWw4Q3BBdzNjVnFVeDEySUNYbDdJRXdQR0d6RGV0VThYUys4MmRrVU14SGV2STM3dE5FdEIxQnZscDE0dklrajAvZnNFYjFKSWo3NHhPVEIvNUZUdFM2a3pPVUZDZWNOZnRWMk45bFl0M2k4K1ZsK2syS3ZGYzlQdGlaNENxdzRiVG5zdHVxUThuQzY1YmowNHdWU3k5Mzd3eCtzUUFIUWZOUGZNbC9JWWRtL1dYMmcrSERmZTkwMDlIUHZrME1YMGN0c1lGeXAzMVZuMExGTW5Kc3NqK3lVZk05Wi96VjZaejZJU1QwdDB0bk84NFltZS9wblAzSmpHZS9VZnNwWHVIaytDRGdJYUNaNGVydzRZem9TWEQvM0g1eHYrVkpEamVjQ0dyWnFsaTZmM21iamF5R0tyMEdzbVNlVXlINkMxKzF6dE41eWtmNDU5K3lqNzVWUHZLeThPWHZtNGtoNG5wQTVLODhTZjZENzJtTjFLazBobndjbFBwTXRrRjhQMFc1N3Frc3Y1NS8vMjdLcHg1ZjlOZFEvVEE3Q3ZkM2JMelRqZ0Y2MmhEeG4zbUJyc21BcVVsd0R2WmhkODVhbnNiaEtXWkpVbkcreFNMNlJNdnRXZXlZUWZ2dVd6bFZNd3VkaGJycWVvYU5yVm9yZXdaaWM2VEpQVDY2WE9zNTFTUWlEODFGWHZFQ1A5OTZ2MnNsYktGT21PWEM3VFQ1UFNSL0RsOExXemVyQjVSQmVuaW1MNDEwN0dIamFFdmJkalhwaVQwamV5aDBXRC9tMnpJdncwYVlwN1IzVUpaanlXdWUvRHZrdDhrRit6VThIWDRpdUd0UXdoQlJ2SHVvdVhhbFdIRElHM0J5N1MzK0NjSHZmMmN2bUlYVzdTN2dCa1NGb3NkR2FEWE1uODNSdy9iUlAwLzVtUTRUSkovK3FtZGNmSnBvYzkrYnpWNW83dmtFV0k0T1gzOERSdCtSVkpiTHFiY2tLalpjYU9ybVYwMm5kS2hoak9YekRDUHh1Nk8yb2VlN244dnZsV2U4WThNTXJwYldvRGppVG5IbDhlV3NXVzdjUWtmUUdvZkFtL0ptYzRkTDUyYXRTdkRoa2JLODM4RE8yaUNlZjNTZG82UGFSZWJ1K1BxMWF1UUVMOVh2ODZJUFRONmVPQ1p2eDc5NThkTk1UODBRREwyTTc3Q2p6L1M4Nnk3N0RhZFlXbXpkZmJIeE9jVkk2c3lNWDM4YXpiY2cwU3o3VEdmRjZCcWRzWkswOW1aMEI5dmFHRUpjVEU5SGhGN2N3M29HMVQxakJsdFJuY3pwWTgzMVBnRDRuK2VmZTQwclpwdnMrd2pBaGx5MWhxajV0bHV3WFpsMkZEM043WG4rK0l3MU14am5aeTFxVlN4OUg3eldWWncyNHBleS94aXQ3N1cweG1rMHZYK3Y3WWlqeHlzTzdLZDlRN3FLUEpkOWtpUHdyVytIT25Pck5OajRKcVVQckFtSUNaWUQ2b3Q0eGNIcERsazFFYUdHZzVIYnMwNmlXSSszdERmbzRVc2J5bllZekROU3pieUVDVGQzVHdheC9VNE4rU1R2WFBzb0lWUFcyR3JyeXplam53bjI2OVp1ekpzNlB2b1BKQWJGelJmekQ3ZWtDcVdmcDBlMnh4K05US2VjN2R5Y1U1Q1h0L1N6Q2gvaU9pQjFYR1RaQzBNN3FkMXcrN0xWWmtXM01UZ05TbDlOTmhOd1IrOWJvOUNZOW5URlNReHlGMlhvWEhjVGxrOVMzOWI5dHd0a0Y0Y01Xbzh5UHRkTjdSS3JnUkxkemVWY3N6M3RjOXlBYVlZNjEvQmtnTzY3c1ZTRXRXMlIrL3J1d1RibFdHRC84b0tGcVRrdnovRGZESHplQU5PSzZMbTFvVmljQmFkQytwWmRTS3lIK2kxVE90RHRHN0dMdlFycnVHU20zS0VKL2NMYUJrbm43YVZJZEtXVFkrNE5iSWFla0w2QU42dWt4eTRPdXh4dXAwZTR5ZGczYS9vRVBXalhBdENRRTVDZjd5aFJVSnZTVzFtVVc5Zm9CUTRiVmtaNk5TTDM5MHk4MDQyb1MxNkNQdzc2djNuY2RzdEpRQjYyc2p6Z0M3QmRsWFlnRkY1eVdIVjBwVlpadG5EU0tvWWdJQjNWWXNXUnJiQ2FxSFhNck15azVybGRRQjFqK2R5djNXci9IT1hObmJoTHNrWVZHK0pncDBNSVNlbGp3MXpHbVZaZUhVellweVNjaDd0dHMvR1NBeW4zWTNiMlZYRFJQMGlSQnprZTVSend4N1ZvNUZ6NkQ3UTNhakk4Vjl6Y3E0S0FRblo0RGRJUDYrb2FJczVvMlNZUnJzcWJNRE1ZZE5oYWQ2aEFFcGNjSktzaDFReEtHSEZTcWNnc04wbDdhWGJqM1I4T2pQend3b2E4aHdabTFxUmNOOXFzNHlUVHczaitNRDJkMEIxMmxtbHNOaE1TQitZNU9qdk02OEp4N3hGY28zcGFtVXN5UjZTL0xiWi9HbExGMkNhWThSRy9weGlTeUNVaFlNcEFRTGRMWlhuV0NMT1B5Yll3c0dqV3N4MlBQOTZwRkRZR1N2ODJTTkJyREpzd0tDOGE4dUxPdjJoZk43eVhRb3JuMThzOURvOTdPbWlWU1F2T0YzUHhWYzZDU0l1TWFMa2tTcWExbEFqR1FxRVR6N0IzbVZESTB1Zis3Q25hYlljdWlha2o0R0ZvSEJYOXlCSzQwcEluc1BGcmVYTjhNdVRiTEdtTERUTHRZZUhjeHdqeEppYVNYRDdFazh5bzFRNjU2SS9oMHRuT1o2WS9SM0JGK0IxblVMejFqY3Z2MUVzYklzTU9ObnpYaFZ5N3ZUMlpaRlhySFNoZGxWK0EwYWlwdWFDQUhxZk1tZ0VuYVJrN3JKS1N2eGlTU3Nnb0prYjJ4d0M0WGxVNzZiTHk4MzF2eU9EdUM2NENZZC9zazgvaFU4K3JRbGZRYkNvODJuSGVSb0w5RFZ4ZlFCdGplT0MzbmNGb3ZSM3RUeEhEaXd5eTVrNk1qVXMwcENBZEoxV3M5UHp0RXFBeVdiZVlrRk5qRmE1Yi9xRnVodm5kTncvZk00RUlRQmVsenhaMEhyclZoUm1IZUdtbStzVS9leVJvTllPbUo3RnAwZ3dmQzRTZnNLcVhicHZuaHYrckhEWlRFZjlZc2x5WUhrcHJSNmJrd2tYK2JyTmY0RUc2TXJyVklaaWdkQloxVjJSTjN6eXFXME4wcGo4a2xVT2RtektFOWNIdG5PTkp3TjRoalR6Qml4czBRNFhYalNyR1ljajRKYWEwaW8rcjFDaWRSMVoxSmpxNXRaUFUrSnRPaUJJOWxKNHFMdHBBc2NaVU5hMHhzUUNsU1VMYk9hQzlRaS9iOU42dElLRlAzc2t5cUNmN2xtbER4TU1Zd1BXMjNvV05ibUV3bVBhL2pweDMvUk1yeGdkVkRHVFMwV3ZJRFlRVG83K0FsVHRrNEF0LzFzT2l0TWg3dE5tcFN4ODhnbFRDc3Z1MEJtQm9mVWxtOVBFOVRHd1BSazBGZFllVHBuMVBsdTB3NFhIakEzbU0zQUQ1WUV1WDRGa1cva1RBcm02Q2xPNm5sbU5VSGZMekR6SmhMZExadnRwcndDUWFJUEJvaG1GZlFIbjY4VStleVRLdFNlRURRQXpQVEtuampkWUMyRXBiQWk5VHMvWWlsL3J3RFAvdWswdmtPQkgwYUdRYkgzNnVVYyt0N1hsaDA4K1lUUEpzanZlMXJNT2ptSWZWeThNVGtZZkhYc3d3cmlLR2M2YXZ6czBzdDQ1R1JZREFKK1RmV1JTWGIxUHY2RUdqZzhDWU1uSGJPYVVuVnJpaWREL2hjeGNvZTZXbWZrNEV0QlhmYmJ6N203WU9XTnBmczVrZW1QRUpOc3UwYzdDaGg4eHI4SGFvZit2WjVmbTRiRGZBREN6czNZTldHUGM5SHk2YmVPN2VNWEMrODE5Y25wSFhXK0N2UmRjZXNHaXIyMGNveWlQU0RmL2VDdjBEK0ZwZTkyWVBsK0gyVXY0d1IxRGR0TDZvTTFjc2kxeG9YMEE0OXRYMVBNWTd1ZHRUMmtNOU5SbjU3My9DOVFwQkVGYk9XMTljbzgzS0sxMUF0T3pIeldOUjlrKzJsT1owM2NhQjIvc3B1TkRNZTBNYkFDNGhpOW4wWXhUREdNRHByQTJQMWpmSmZtTStleDFPd2x6VzNOcTJTdVd3TUZORDJCRnNDSDNTS1RMUGtrZVFGM1gvY2pEUHB2VFR3MEhIaFU5cUdKRmhUazJiQ1pyMmsvZ0NaUFdCeHBiamIvZ3o3ZFJaaTJ3TU1JZU5qUnViRkFubnR4L1pJTTFPY3NoeTVSMVA4ZTdDSGEzVEVySGtJQ0YxS09kU2FzMTBOaDdoU1J2WjJERFloZ1pRdG92Z2czQVk3MkVBdk8va0NtYmp3M3dJMVpTbVRzK3VLUnlKTThGd3k5T1IyZkV3QncwZEdWa0tSNDlwZDBpKzZpRExvOGVySGRzRU5raXhXeGMwY2xlWUNMNldITTZITnJxVThuWnJFMVZUNzVpandDZlloa0w1bEwvNW03RzZVa1lkRnlNRFZQYnpoRW0yTjNDWkk0blZrejRqc0liSDBvWTlka2pTYjZkZ1Eybk1icUZydUczcGVRcWdnM0FZejBRQVhZdXBvaW9DTjhXc0U2UnRwdlJmZ045M1NibkZVekZUZC9iSVFqU3FTVURURzdZdVVja0ZSRlNSVk05Y0d5NEtBN3VtRGdyTkJGOUxEdXpQR0REb3dtOXp6TythOXgrZzNyRHFtVW1veEFXZmVWU0FabnozdlFMZHJjQ05DZVdKWGNodGFBVStJakQ4S3NLNUlWUjdCWElscGNsakEzdXdnRzZ1RjZoRzZSWFdnMTV0eGlXeEVMeTlRTytoQ0dCME1kaGY3L3J4UGdQLzgyTmdIVVU2Vlp1b2F3bk5aVndSeldWRzJPb1ZnWGlXa0RLVTlsdTRrVDAwYkczS1dpSjU5RkViYWNycVk5MlAyL1BXWTVHU3BUdUNQamR0aldab0dOdGppYWVlN3doMk4xRzA1eGNEdlNlbzNkVU1vL25qSmE1SGJLOTBjWHNIR0ZzY0JmWXQ2emppWTBjbnk1eGkvR0Z1NTdOaklkSFljUElUejdoWkk5TGREREc5UWJnMlVWT2ZSQThnd0pWeUhPK1BOTWFzS0c3NGtwalBVMUNIN0FXMnpmSHBPZlJPV3Y5d1pMbXNNR3hZOE95V01ucE96T2ZqYnlPcFVYUFBkN1FkVmZRZGFFVEUwRHZFWjNyU0JLUlc1MC9kaEw1OW1Td1lXQWRybWtIVmxwMVRYMWIyQWlOT0NPd0V4T3E0WkttR0F6TWVuMi9OUmFWUzFacTY3THRNUkhKWUdXdm1LMHg5dXdnaG9qY2s5QUhIQVc5R0FTdWhBMXI2U1ZuV2JsRDNjWjh2b0ZPTXBDSHNLQlhkcmhVMXZpVEkyV3VWeDdzYmpuRUpwNjBuK2QwRjVmbXVXanlrWFB1ZGxYWWdDWllOYkoyell3MmY2WFZMWmJ4M3dLY1ljNHdFYUVDbjVoT2tpbTVKS0FLcnhWeVIxWHVFWGQ1NUNsODhpbEI2OXFHQjg3LzBCUEdKajhKZldBa3RkR0pzS0c5Ymd0eDVQQ2k0eW9kbVJ5ZGdGd0JGZkdyeUdFbjFsYXNpdmJ2OE1vditISDYrWFk0M3REVDBoNGhRTnQ0M3ptaWZMc3FiTUNpOGE3aHZXejJMYkVua05PRWJqRWF3N0RYN2wxQWwzVXZ5anpPYmhmNWhNVXB4eG5sTzRrV2tobHFod3NKaDBHNUR4NE5TeFdVc29WdmRheDRXYXpIU2VpRFZrY3RsbER2TU9qeFdIbEtCcmRZRHZ5VnBNV3pDNDloeTNaM2tqUE9xa2ttVlNoOEtTc3gyTjJ5TWg5TGZQb0l4d2V2ZllzbHlSdnZldCs3cmNmczRKdlE2TitYblV3cGxXRURCcU05d3hvR2UwaytvYmRmTndsSjdjdXV2YVJubnQxaUNjYUM5SUk1V3ZDaUtlR0dDdjFMSzd5eDRxMytkYTE1enYrNGt6MzBZMDBpTy9lTSsrN0VPMjBmdm12NDRqMTZ4dld4Tys2NzYzRUsvTUlkOTEvZW9VRGdFcTlZaFU4K0pWREZpbFVHWFpVMXJlZGowQWQ4RXhzTGFQbEJIVTc3R0dxNW5pU2Z2R3Y0RWk3a2ErOGFmcXVSZHZZcjd4cmVYZVRmZXF3ZGNWUGUwbzhNOHFPQWN0VkJScTNsZEF1THdMNnJieXNGRFI3cWJrNk9ZMzVBMjZoUjdiVkNsRGV3RjdGL29hV2FZdTlwRjFtUVJZSFJyMlcySFJQV1BNb0V3bXVSbU1SdUdpb2JaaXNTOEU0dzhhR2VTRjBlUHNtOFRaSDZOZ09tMnpzODM5UVZrWjErNFhsWXBFMDhRdFAxWW1kQ0IvYVVIK1cyOVJwQURhSmU2N09EWGNTaXQ2RlRQNU0rVzY3UXFJTW9qZzI0WjU3T0ZLOW1xKzBLUjBENnNvaUdTVXJaSWhiV2RRejZBRnFyTThna0NHSERSU2tSVlhjZG4vTi84ZFBaUVROSm5qbDhTcDA5MHBPSjgyMzJ3dnUxYTlxNmRzK0w3dTN2SUsxNzdaNDdMeXQwNFhrSGRoUEwwa2U3OFIyS2pyMm9TeWVtVjBGVWRhd3MrdHVPaytUbUNuWTNOOHZ4UG1Ib2xINTBUYmg2dGM1NjBqYXRWLzlQeWVrOHQ5eVdmdVJybWUycXNBRTlUSFV3Q0lRR1daSnl3Umdvb2Qza3o2ZUd1N0NXWFpuR082WlZqTGFzMTNsYWEwZG5vVmR4VFFFVGpSQjZLN3UxNmtTRkh4b0tmV1Z5WHhnOG5ocnMwV2FTdkxMekdNSnZ2Z3pEL1NiMmpxVDJieG5rcE90K1dBdkhoaGYxczdGQmZOSWxlUEtKSC9wZjU2VEV6NkxyUmh5SFBqQ25jRngreTQzNENkUnkvZHlOUFJMNzA4bXBSNXJVbE9vN0hNczM4WWhQaHF3bmRMVVlYVHNJZFNuZ1lNT1l2L3ZFdWUxaHMxWGFDWjV4U1hlNzArUlBtVDhqamplczg0SjJkOHVrZEF3SmNQRjQ3OE9LbVFBRTJ2N2UxaDc2R2VEMkxITTJkbk9FWEdpamUvZXlNeUI1THp1MVVFclliM0EvL05nd1EvMCt0MndKZTBuN3FUUTg3eGhHeHNHZ3VEVlZybTRoQnZweTJQNkx2NFBhZG93QnZVd0IyU2t4TEFKK2VzUi9uOTBRWFY4N0ZzZ3FXZ2YrNXc1bENWejhuMkNHVHo1eHk3bGlsUUUyMkkvSG9RL1V4SUZLK3hFKzJucDlDZkxpKzhaSlp3K0JNd3BJcGtXcHM5THBtSDBCOW9jSVBKSTNBRnkrbWdMNkd1LzNJb2tzblIxeEYzVFFNT1FNWm41QlN3cURNY3Z6R1dVQzNZTGR6VW8veHVCdjdSSnpMS1N1Q0NGbVJDMjZlS3lyenB0c1hPQ2o2NnJJTXZKM3ZwNDdsTFlydzRhTzdUb3ZtNkYrbS90MEM4SWRQRXUzTFh0TndTbEdpL3E4b3M3eGZvQm5zTnB6Zlh5N0lwamlSOVljSjVvV3ZJYzlrYWN0RnJIUkJuc1VBYi9sTVo0QW5rczhnQlVhaWR5ZFRHd0FrdmZRakpkRUFlOFgvZStLRlFWc3VHZ2VqMFVmV0wveHNNR2E1V3l3SCtNYWdPbDlrdnNDZ0UzZUpFQUxNYlhycUhYL1dsdVkzYnlZa1psYVFSL1hyYWR4QktmUUNvdU9JaUVPTmN4cEYvVlR2Q0MrNDlJNEdZTGR6Y2x4WEErbjJiQUozaTI5eVRJUTNsc0hiYUgrajBFeWY5RGpXOUM3UmFXazF6SWZFYTBaS0ZJZE50UnQwMEdkbXBKN245dmxXUUY3ZzVjaGRzMmVJVG5GMEttRWcrUWM3ei9sTEozcFNrMzFDNzk0cWR3Q1ZWYlBoODlKa0ZpVS9SNFljVkZrYWlzaHR4VTJ1SklxVXZ5K2hsS0RESWNNY0hQQnlneE9rZ05GSG84Kyt1NFdvN01DMG1DZEsxemNQdXR2VWdBREw3OERVSVZMTmRERzlvRFEzamtSejB1Sm43b2E3WFRjL050eS95dWx6cGNWb0Rjd3U0NzdLUFdxdjZEMTRhZnNoZ29EUXE2citKUVF3ZTZtY2gvcnZTRldxVEN3WGhGeXRKZm9Qb2V4RmRBdUdpUjVrRkJQWXplbGo3cG1RVEFUS3NlR0RjS0dMVm1XbFExUkhDeGdUNlNoYldpUU9zKzNIMnI5SnNMN3R0L2dGSU83SklZQi9vVnhRWUFHYzJlWVU5R295bmVwOElnN2hMaG9aOUZEbndJSjlQdFZ5bkJHdzlDYW1zWTFWTDF5c09FVWNMRnVyLzFiek1CN3hUeldJTFZzYlVRZWt6NjJkUzFKc0RjN2JrU0R3UWVpcTYweUtZRlJFUzc1b202T1dYRmd0WlVhdXZYSXhpblJEOGc2TGFBVGlnYWdYbXNORHFYV2hJa01kZ1FGTExCYTNvK2hDclMvb0o1U1FnUzdtOHA5bkhmWVA0ZTB2bkpmNWNIVm1jL1JkL0VVUmpiV0lTT2FwWVNrdFViMkZLdXRRYWNFUVRkcm5ZQm5NWVVOem4rMHhRTHdwaWpWRmZNOTBZVENBWFE4VHFjWU9xUm9ZSUdTa3UrV3V3WWxZekdlZmJFTWpyeWhnK3hZbWM0eWNzYm9VbTk0MXVwaTcvZU1ubnlnQmtzOGk4YUdEWWNHVDFNLzgreXhXZmFZZW5MdmFPYnJKdWI1YVBSMS9YaE0rbGl6dTlNMCtwOWwzQTMxVUZlZFNQMDNuZG4rc0VlU256RmVSNHVDcy8xMWlyWXVOTTJlOVlnZ3ZmaUtibjJFYTUvOVUxZkRBd0ZpYmRuUDhPZ3o1ZHkyVkR1R2hBaDJ0eU1JT2JhaVdCS2lFV1VLLzBmN0NpZTY5bGwrMjlxaG9WTE16ekc1V0VYa2pPNnlQTWZJbnkvL2pxd3NIYU9xckN5ajR0dmtBcHhQZ2RXaTNYU1lyYTV6T3ZCNGVQekdSWG9VM29PenhPQVVTelpFaCtUL0FaQ1hwNStXN1dmbzJPUnJSeDRDMVhuUlFhenVqelY0ZVlnQzBnblZxNXdHRzFDREhSNWJCQnVTenNFNUd3RVVPWDZ2cTlrSm5xYllQeERPNG10NDBqSHBBMTdTcmhaeCtkR0dtUFZ0OHFpR3N1RU5wU1R0WkMzczhSeldGQS82VzA4ZU1GdHFraWgwdHlxRDhnYWtMZG1GM2ZMVTRkNnVIRGlSdE04ZHV3VTFSbTJBd3lXL0VKNzNtWjdkcG9VSWRyY0FrWWxIK205dUh3QUFJQUJKUkVGVXdSbWdvV250c1EzaDlkUTZGN2tNUDRqSWdXcWg1RmNwYml2c0wvSHM1WDdBODBxNUVuN3VHamVDVTFyakt2MlVZMzV0YVNxRHg3YXBLalhSV2ViMmtCdWppcWdvTCtrV2svOUhaWi8vbTFCRnVaczlZS3NzSSs3b0lLUnFlY0VwMnhWQjQ5N0lKSU1OV1BFUkU3TkMyTkJsKzNhbEZDZCtmMURqZkRMZC9rK28vWXFZTnlMeG1QU0IvOHA1UVluNGpjUGRMVDU3Nklxb2hwcVBiaWl3MDlnZ2k4RHJVb1dCc284bTdSWDlLQU56M0d6dFdEaHVLYnl3MDBlSHNUSmtPVnpJejMyV2hKeHNmblhBUUNLK2pCRzNiZU1qcFlVSWRqZW4rREU5WUd1T25JUDYrcG9BeEFlc29VMDNqSkJ0YlB2Rlh3OE5QdFk3VW9XL25qZlJWT3I3YTFoWnRlaXVDWENiWTBzdDhodE9LemNJV1REWVNOT2svSDR4bWxQTTJ4a1NPQlBybFBNSVY0TTkxamJhM1dDL0wya3QraDNXd29hNnhPTkMySUNGTVRsTlQwdUordTZKMk5rTkNGR25Mc3cvb1M2ekhvTSsxSC9sVEpJZmdtN0ZZZ3Y5NzFsYzZlcTYyUER5ajM2NTFkQVkzMzVlemM5NGNmNXoxaGttS0Fvc2JIUTJXUXVINEl1NHZVSjg1MzViZ1Z3ZDZhSE5TdXQ0UTFxSU5kN0dYbmNyTEZLRkdXZlp3VktTbkQyQW8wbjlkcjZ2cXNtSDFuV2Jzek5EdHhOS2hHdi80T3A5VDRjQ3NSbjlsSjk1KzJhSmtsYldzNWRSZm5nTkYrNFBmWkdWUWxQS1ZmTzh3UGprZE9NeGRBdlV6djUwaUx0NDRoWVRtK2ZMYWpBUTlQcHE3Y0tRTHhscXM0c1A2TlBrZjhOMGIxN3pMZHJDaG9ZYzd0UEdFbUFPVjRUYU1Id3BaSit2MDVmNzFnZ3JhV05hWGNlZ0R3MUhINlFYY0xBaXNwbnczVlNJbEs2dWhRMjEvMEhEczRVTlFEcm0rSGk4VXVlcGlzNUY4K2NqT3F3ZG15MkluNmIyT2EyYnNnc0d0eHllL0FGdW1rYU10QkRCN3BZbWNnd3h5emYya29VT2R2VWE3S2VUMzY3VGlDa3YxQUs5eUZ6T0ROMUVsd3BCUzlabDljMHlWQVlXQ1NZSFZsV2VzVDBWeEgwZi83TjI5bXR4RkxuV1lic0wvU1dUNUMyZU9NV1FlYS8yOFdIVDVPYkhxbnYyOHlIQ01OeGFtNzJYZEZyN2NtdEsweklPcDZCcVljT3luQ0NualNVZ0FKU2J1VFVFMUtmM1kyZC9YbnpVY3c3UTlBb09uSkxPTWVnamVaamRiT0kwYUYyOG05ZGxMNXR0eTlPUDZlb2FiRmpBM3NWci92UU50cEdlMFl2T2xsWmF3aEcyWWdoRFVrdVdkdnJvTUUxZm5LdkRWcWZydENmT0x6Z0Z3d0E4QXdWTnc2U0VDSFUzUmZCNDd6aCsraEM3MmNPMHM4OHVPMStEUFdPcm43c1JTMGNXdGNhdTNmc2ljZDE1MmZKUlNoRitROThHaCs5eHlycXUveXo2a1hBajBaZjZHcnRSWXNzZ09aVjNpMUZtOW02SDd0UVJWN0Zvam5LSmxnRVp1L3ZxMnpEd0dYZG5Qd2NidXJJTjBzYmlTQ2NmTm9JTFlUSVJYc1VCSEs0L2F2TG5MaFJqcnhWUFhoOFFvOEhZdlgwMmZBZVhDRU5SNTBhUEIvUDhodmtPdTdVS1Q5ZnVuQURGdE4rd25GYkdWUHU3dDlBSVI3aTIvT1dFTjBPUFpEM3krcktEcjBvdGl2SWR2dXNxUjVJV0l0RGRkTzdqRFN6YzMvK1hUUkpoN3VuRHAvRUFQZUFTOHlBUnhpL0FyNmtmVG14Z3dIWnMyYWJmMlgvUDYzakVoOXN2YlZvcCt4YVNJOW9yOXFIK3dlOWFtUkU4bGZKUTNmVFJUOEx6ZkNOZ0FaZTBCMTZxbFlNTnBmd0d0Tmh1amh6ejcrd2N2UGdyWkliYVA3ejI3WGJleWV1RHVILzRUbmJQajhIUytmV211OTYzS1lOcEtOUit3NFl3UlFjYmdMaTJEeVNJMUlPVHdNVkxrc1hoYm1mTitxa2s4UFA5OTd0S0QyRERqSFc4Z1lyNVFxUzcyK0drbTF5cGhvdVJXRTZmSE85RGN6clBQbHVvckxmT09yTFlWdHBETGNUSFpKcjZGenhjKytTZC9mZjlHN3M3cmVXdU53Z1hOVzBzaHJBSnpiM2ZoRXVHSnErUFBBSFQxVlhZQUsrZEE0aUREZnUzMGx1SDhDVjZBUlpiRndLUnhhTm1MemRIWks1WkM5NHE2NWEzQkhwRUlSVFpZN3ozWFl3MHB4Mk9VYWFSckUvbkxNZlpoYjNLalN5MmZNUkZMSnUzRjE3MEhUSnJ2U0cxVDFGMy9TS1AxT0VmVDVBK1VJbHNiR2pJdWFDTkRkTnNhZDlzMFVvZFRJVVdCYkVlZmVYd09pcFVjanF3RnJudnRYRGxRaFNTOUFpWnNIYS9seVIvdWFwSXJMa3pkQlY5d3U0WUxvcEloRlh4SlR2ZnlHS2Q2aVpVY01nY1dYRG1UL3VsYWhGTEcwdTdHbXc0U2ZwQXUranE2bU9nMG05QU8xM2k3WGFLMWh0ZUlKcncxYmRvSGNjeitobDMwaWh5WW5WNlNZVXF1aS9ZcTFxU3g3YlhLU3NYb3FLNmFiSUNtZW1WSzNGMXc4cFd5U2ZsdnVGc1ZHUkpoWVd2cHBNMm90aXNNVmVuMkRnZXNKQnpRZEtaM2FPQXdRYmc4d3JGNEhqUDQveU93MUE3SWpEZTM1T2tEOVFzRXh1d29MckphODZ4b2MwN1o0MzJIcFEvb2RXeWxsNktwTFR0WFoyam1zQzV3SnkyNzNrMWxRdFJUZFVNMVMxeXlxYk42VE52Um1veW5xeFFScC93aEV3dG5vd29kcTdnTW9iSHB0aGpSeGwrTXNNUndHQURadGQ3bkVaWFpzSDR2bE9NYUxsY0owb2ZPZGdBT1RrZUpEUGtOd2hzZUlCbStFZ1FvS0hxdlIxZWwvWCtEWURLUGI3Nytlc3BXa0I0NzZ4TUtzdHRGc0ZYcnM4K3BxWDJacVE2L29RRnpoVnliMUtMSnlPS2JlbWh2WUxxN3V1cGNmY1NrVGZ2WWJhVXU3SXZzUUcrODA0RkVsaXZ6a2pxeDZtUEhHekFTWVllbDNDTHNFRTR0VzErdkVDL3ppNHFVUE9HYWxtdGFUMWJreEZqdjdWNEV6cGtnVnNPWUZRdmhNTytnb2NHOWNJdC9JbkxuNUdxK0pOMnorZ1VucGlweFpNUnhScmVGTVFqZDdSSDlKMWRRVUVjR1lZQkxJbm5qdHEzWDVON1JqZ1c3WFN6b3pFMnBVK1VQaXhzcUNzbzdJc3BBbFMxeDZWdTBCUyszMFA0QjRYeUhuQm5pYWZEUThRNU05WnhNdVAvMmQ0ME5LYzYzMGtQV0d5K1lpSngzS0Z5SVd4dVZZVDUyWkc2cm1scVJxcDVUbld3WVIrNGhrL1ZXU1laS0dURzZjV1QzR0sxek4yUEx3OVVuS0xlMHl0UjU3YUVBSGxrR05nZ0pxMndoS1lnTThORWY5cW9hR1ozc3ZTQm8yanlIR0ZiUWFGY2VNSGF6RHBwWkJhN2xyMkVscDNSTHltQ2p0L1k1NSsyUkQ2ZVpQMDhXQW15V2d4cTlxU2xMV1pBT01EV3M3SWtsUXRoTTZzazNJSWJMYjhkU2ZUUlR6UFlBQmJEVjJERk5vUEVPS05ud3IzQ1paRTJzZHhpcDZWTDd4S2hwM0RORWJ1VXpwc1pnNE54dTBpc3ljTzNPSkFxUmtmelB0YWNtRnljL2xUcTBHNG0wVklKSjBvZnYvRkt2QUQ0WjcwaytZM3Z4eHNpMzB5QjUrRnMvQThqa0xRRlNENS9wYzZXNW00bTAzL1JsNnIrSWVqOFdUK01IT0pxeUxtSGVwYjM3WXRleExnZnoxbG5xdWtRN0JJWTlDV3dLMTZWQzZFWVZYYW56d2h0NjVQaTZSbXBaanlUWlI5aThOUDVKaFNZbDROdUxydjA0a2x1c1RWdm9jdlF6dkNaOUN6QjVNd0w0WldxdldTMklkL1p3VnJrd3pkWGsrVDE3SkdlS3JXTnQxMlM2ZmFWWmNiZVo0NWJxOVFqMzArVVBvUk80U2lKanZYcGhGNS94UFU0cW9tcEF4VHhRd2U5RnJ1NS9SbnMzOGg0Z0FaZGUxSVRHUis1bVhVSDhDT3JMVTFnN1E5TkhCbkdKajh4dlc0aTRmTlVMb1ROclpKd3JYT2pmcU9uU2FkbXBEb2xlY0hmQnEvL2JncWJ2Qk1JYldPVmFzUVZXanpKSzliT1hNS2EvbWl3N24vN3pTTWtjSlBwbjkvZ3BkSWxFUXRzcUcwY1BLVnR2OTBDMS9udSsvcVBjV013NysyNFZBNy9kTEwwMGNFN04vZWlyZ205ZkhPNVQ5aEEvM3lpVDlpQWY5ekJYdnAwek44eEtCODBrK1dIN3JsWHhMZDUzajJwZ3pQaEhjd3pJRnJ0MVFZWXFHc1IyQUNJMzFjTHlqSytlaUdVQU5YZHA1NytuajFEUFQwak5Xa25LelRqcnZ5RWhBc3RudVFVbTlQL0hTRkViQnh4TmZ6dnBoZnZTVXEwaDFuN2gvMkhQaDhkUzE4TDcrd01QNytYTE4vemxMZC9sWTRjVitERTZTT25ZdC93NVA3ZHowSDZOL3pNYm5hdWJuaHMzcjZRWFdRc0tlZnNFOVBBQnN3d3NJUDVWSWQyNVVJNDNDYnhvRStvVFlMWmtYak1xb1dzYkNyMmlWdVZLNmZZbHRwSFVIbXJ2WnZ6RGRYeU1kUlB0ajZNbkVWRHRmQzhjaTZNR0VXcEZzalh0YVlVZUQrUFBzUFYxVHZVb256MVFoU1FjN3hadkgyWThSSWZMN1Y5T1cvUHBtcStVbXpseVM1V24reXE2dVN4NFdUcncycWpnc0ZUYW5ybTVoK01memJtTXBoWCswbzhlcFo5cXBkODNQKy9HWlVMNFlvMGdTZHNFZVc0Y0JNUW9BU0xxZkJrMDZLZ1BvSmtSZEczRlM0NXovcmgzT2hKaXM0N2pzRGtzZUZrNjZPOFRyZHhwRGR3Zlh3MUVEbk9xSVZ2YzZoOUV6dkEvOFRiZE9LU3lvVncyVlg3OUpjM1FkLzZybSsxM01aQnZVRVNoNjhGL0p0UCtsemlTaUE1cTlpeVBZa01sQnQzMUNTeDRYYlFSMm45VGxWNWlyV01OQjl5L2dONG1aSzNSMTU0REVDK1ZuZ0dkektyY0RyemM4dFlOTVpTTmZiRWRnT1NaeFJiS0hKZ0lrRHUwRkdUeEliYlFSK2xGYm1mUFRhVXBoVUw1R2hBbk9EdFROaXZ6aEdvUU5KeTVsNVZtOTQwbi9HV2h4VEZjTEZXMkVGVmhjWi85NzdkT0g0R0ZzWGJRUitXdUlXQzA3ZFZYeTFVcFJPYUNUc3hxK0o3dWlkVXdJQllDODZha0oyQi8vK0FSb2JQR1N4V0M2OXIyVVRISEQ3UFJwL1FHQmZMMjBFZlpldTZOZG1sNDdMaVBZSHluNkdSdHB0aFRTZTFucS9LV25WcXc5TG53dS9vb1M2aFlyV2ZuR3dsYTcvV1lPelp2ekVocGlkZkgrVVY4WmFzeGk5UEtwYkkxY0Jwdk1QeW0vNm50M05Mbk9URXhuQzF0cDI5SEhFQ1JGL0RhVHBjRStyZkoxOGZKNkJKb2doWkdxaXp6Mk9QVEtpclpza3d0dmhUN0pHNjlmMzNzZEVkSDZHMUljNEJYNXNVTnB4OGZZeFBzNUhTMkRXdzhPVGh0ejVSb0NGSi9yenp2bWVQWFVXM01jR29qOXU0OGFMb1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xRURVUU5SQTFFRFVRTlJBMUVEVVFOUkEzOVhOZkNYdTE3Tlg3M3BSY1RISjZ3R1VvMy9oSzNweWF6WXliYTFjOE5WVDIwemozZ1I4ZkdKcW9GMDR6OVJhM3BDNjNXeWJXM2owNzdhYXAzdjhLUGk4eE5UQStuR2YyTFc4OFRXNmtUYjJpbm1UeW1TNU5VSHZST3J6Q2pZR0RVUWF2d3hrbytrUm11Z3NLMjkvS1BQZU5lZGZ6U2E0Qmh6dEI5TEU1dG1MMHRISGpsbTlnVWZ1K1AreTFlT1RDZVhRTzNsbjNqR2ZYZW1YS0hjTXBVa3puNUo1K0ExbFZBZUk5RlE0eGNsZjF0VU1Mc3l4MkJxUVdHSzJ0b0NvK3RXa01iUkl0L1E1NlRGei9CN0RMR3o3S0o1MEtIOUd6bzR2c0ErNTE0eE5wemlUSTRmRyticmJIaVovZDc0dEZjRnBYRGpGK04wVzFRd3V5clZtVm8yejNCS1FWdXJUdUNCUUFYNSs2aVJzaEZjZHp6TjFrMldjWVgrVG1IRE52dFViN29UQk41eDZmUG9kTUtOWDR6dWJWSEI3S3BVWjJyWlBNTXBCVzF0OW81M3ducXI4QnZPWGdiaDRUVmN1Qjk4a1paeW5qMnV3M2FnOHluN3lRc3Z0UCs1RjFQbzhRZXV0c0g4TUg1RENZWUxkL3dzbUdpLzRlTUhJYmVva0xoSHl2UUF3NUxORm1PZk9SS1ZZT0h4VlNuZCtNLy9neUJMSHVrMlFvVVZ6QmJCcE5SKzVjbkRGMzZwZVM0ZHFzN1VFbGRSb3lYTHRUVzcrQnVxd1FhdytLL2NGNWhpSCtoWi9CNWttOWFUQ2E2eHBubndROXVNcmZoeGhaNXI5Y05oUXptR0E0TU41d0NFaFNRYmM2WmFoLzFoa2l3emxnZXhoK001eGlxbEduK2VmUzViS0tjUktxeGd0Z1FtWlJvZHFjUFk5NXFZUTRTcU1qVkhVUVhreXJVMXUveHNaZGhRWXp0Z2RJcnQyZXphR1FzTFV6bldQODhZczJZbE5ybFI0YlZEWVVOSmhxY05OZ3dnNm5FNERqRGczU1RaUHJTZWN2UTR4aXI1alYvYnpzRUd0eEVxckdCTzNWVlNiWU45YnkvNTdUYjdQMVRNWWU0Vm1acXJxQUtDNWRtYVc3d3liRWphNU9DZVp6YTd1VXludDU5dC9lZ1hoeDJORncrRkRTVVp6aGxzZ0hYbWdKeXRpZkdHVzR5V2NicU1CVGFCanNocGZGWHlHNy8yVEphRERXNGpWRmpCQXZwNXRmREhGdm9aWG04QkVwU2xHbE56RlZWRWxCeGJjNHRYSXpEeHFOTXNmSEZvczl2S25QNTNzeWNWZkN2QXBwSVhidS9acVlmRGhsSU1rd1RBcmRZYjZzQ0c2N1lBaGNLdXpJV0tlSm5xM01obXhnUk1qanlIcTVJbkgzLzBHditWUkRsN1R1RTJRazRGejJUVENFbHhpTGpwdm5SK0pVWVVKdUdKVm8ycHVZb3FJbHVPcmJuRis1V3NSUktQamMvaXg4V0dEZGFqbE1BMXd5NEZZbmtVQVdQR1ZDUmRwTE5ueDUwL3ROOVFtS0dERGRzUU5iTWV0bUJPMkpYWlNTcjJVQk9JVlB2WmwvYUtGY2pQNWNoenVDcUZHTmlOLzhtM1lmcU9LOXV1blZiUHErQk1ObzJRRkllSWUxQXQ0MHd6Q1JJRmlYaWlWV05xanFJS0NaWmphMjc1YWdRbUhnSWI3TFc1Nld3Y1dzanVKcGluRmZlViszdDI5UTZIRGFVWUpnbDZqUEliMWlEcXBpMUFvYkFyYzZFaWJpWnNrSlZISkplRS9lVEljN2dxMmVSazJHbjhiU2pxdmEvSXd3YW5FZklxZUw1eWJHaHI3UzdybGc1VU1CM2xpVmFOcVRtS1Nzc1FpTW14TlRkM05RSVRqelEybk1yWXdhVGNIV2Z5UVRINjZyTGl4eDljWUQ4Y050REVmVjF6SHhtd3NBRkxEemRINWs5bGNHVk9KWStPbUNvbDcwaDZqanlIcTFLQWg5UDQvK0hlbC94U2NpWVBHNXhHeUt2Z1l0WFlBT2E3c2o3bml6dXdWTUlUclNKVEs5ZGJTYTRjVzZOa2ZWVWtNT2luc2FHVnVkeEFHM0JMV2lZdk1QMjJuL05pTWg5bm5YNk5sZEFjanBsRWtoSU1RY1RDaHVSNVQ5bkxKcHVSNHNtY2tTc3ZHbTdsbGJ6MGNtbWVQSWVwVW9oaHV2SHpzY0Z1aEx3S3JsV05EZWZOU2poZ1lpOVV0NHc0VDdTS1RNMVdWSVlnWG5TT3JUazVLeElZUE5MWVVNOWVjTVRCblIxSHJzTTl6TGx0ZDBoc0tNZmJ4b1p5SlVWdVQrWkRrTUJ5MU1WREZNc29jblI1Z29UVGpaK1BEVGFSdkFwMnE4YUdobHB1U0JMNDd6dTJYQ1BDbm1qVm1kb0lPZnprb3JaV25jQXBiS2daQVBhbFRaS3piQnh0ZlBZMnhBWlA1clJxUnNiQWRKWkdaaXFjNGVqeWhGZ0ZHcjhVTm1SV2NHTWMvU1lrc1lyclc0c01IVVlMN0VVdlQ3VHFUSzJvUURKZlVWdXJUdUFVTmt6bEhXR2FMemVWeTlERytkc1FHenlaTTJxV0Z6MWViRGk2UENGWkE0MC9IbXpvVjR3TjJLSytyaXUwWFdvOXlST3RPbFBUOGhVTEZMVzE2Z1JPWWNOTTVza25xaEpqcThWcWxwZHJjQnRpZ3lkelh2VXkwc2FMRFVlWEp5Um1vUEhIZ2cyNTU2NURncFNOTzJ0dkFpMHo1eXhmUGkxZnRPcE1MVitPZEdwQlc2dE80QlEydFBSZVVGcGFISlVheDV5NWZodGlneWR6U0RjajRzYUxEVWVYSnlSdW9QSEhnZzJueGpJWERVa3M0M0IrYmwwbjc1ZlpvL1pGcTg3VXRId0ZBd1Z0clRxQlU5aXduV3Y5M1RHY05zYXk0SjZ0bnR0aExkS1gyWmEvWUhpczJEQUdlVUppQnhwL0xOalFxaG9iQUFkbUU2aGxBMFdvbW5hY0wxcDFwbVp6TFJJdWFHdlZDWnpDQnJOUEhKSi96VnJ5Q2FVWGljT3A0VDA3MysyQURiN010dndGdzJQRmhqSElFeEk3MFBoandZWk8xZGpRWU5hUXRsVm1vOElYclRwVEN5azhMNjZnclZVbnNJOE5XTlRKazNmR2JCWGxaY3ROMjdnTnNjR1hPYmVDNGNTeFlzTVk1QWxJR1dyOGNXQURWZ01xWG90c00yc1RhSkhsSE4venFwMFNyVHBUOHppUGZDeG9hOVVKN0dQRDZmeWRpTFA4WGNLUjFjckxnTmE0N2Z5R2xNeDVGY3hJR3ljMmpFT2VnSmloeGg4SE5nREpLc1lHcDA4Qkd3cHZZcVpFcTg3VUFnclBqU3BvYTBMZytYZjJIL3FDcGtPdjl0cTdoaTk4bG96NjlZLyt3cnVlOUJBZW5uZjVQYy9SMlp3c09sWUZmR3c0azdlRm1TUTRuS3RLT3ZkZisrZ3Z2dXZKNzlkUi8rWEovWU9YN0NiemdTL2dMblNjZGtRUk9hZjQ4RjNEdTFWTkpLRzMzdDkvbjFkaHhjSmlPUHVDWDdqalNaZjNrUExKeXlrU3lUYzhxWC8zTzZ4emtiVVhmT0tPK3k2dkt6cTR2L1crenZBbHI3TWk1cjhHZEw3Q2lrakxqTVRhYSs4MHFrK1NzUEl0SWdZYjZJdWxUNloyd2prZGZFcjN2c3NyUFB6eS8vYU10OTM1eHdndS9FNnFuVjBoUFhrQ1ZicS9ZeXN1bHpMbkxYNUNqWitIRFZZamdJQ3BvRVdTZ24rSkZqZllVUHVSVC95OSsrNWFRWlA4enJVdjZDSFowWUZSRFZKdzVYUUJrWUgvMHVzS3Uvb1pIU3JyWXdKdmRSWGppVVlVam1KcVdnSS80Q29xU1p0SHlFaTVyVFd1M2Z1aUY5MTV1Zi9wWko5QzkxN3JyeWZKMVBDaGUxNTA1elVCZ0Z6Z3VUNjdobzhrN0ZtTXhiYzcyWGVMS0dBZy80akNHOWl3UDFUWjNDeFdXVm1HR0N5YWQ2MFdyVlpNWmVZbTFneEVRNk80YnNxVTJ0ZXlHejhEZzl2Y3B3OFdPTmZzcnhBMHlLc3BrZ1EydkI1Q00vWjlkdTRQTXZaUW54MHMyWEVxYkRIYzUrVDJrdVNaYVJLei93RWE2ZU5iUVBwY0pMamhXbGQwa3VUUGVRVDdRaDF6dXMrR2tGSi9QeWdrTTFDeXpiOHk5TjZlTExkQlpLQkhSL21hNW9CU3hkVVVYeVVVS2gvd3VCM0tKNkpoUTFQcGRuYUVUTW1UcXRJdlF4Sjg3VStORDdtVXRZZ0loQm8vRHh1c1JoQVY0YlZwMmlTVDVKVy93MlA1ejZlUlJENFB2YWRlcTZNN0V4U0s5bHVoVXBqVTRMSmUyc25yQWxSQVhsU3VxUjRTTE1hb3JxampSTUJUakM4YVpUcWNxWTB3WVV0UkdGVFM1aEUwVW5UWlp0SWdoZUFDTm9nQWRWMmNDcWZMWU1Ocys3M05CQ09HVmUzWk9udDBOWGxybjRsdlJHOVFnWU5rdXY5ZHZicGFNL1N5Q0JWWnY3N2ZNRkFGclR4Mk1HTjd5S244UHNOQW5kU2VlWkNlbndBTHpkVVVoRGsydkdMNExEN0FySXM0K3YzWGpEMDdxYjJlSFRSTm5BNVpESVhTOXBJQWlWcUQzZmlySlBrUWUyb21ObndqWTkveXpiLytzVFo3cXFTOTBMLzU3NUxrQnhqdnR4UVhram1aNzdCdjd5Vy90YUhYWDBMSzE5SW1BNnZXSTdBaDBNNkpJMlJLSGg4Yi9vVGRlRjFTKzVDZWdpdHNDRkUySWlJVWF2d2pZMFBYVkozM0xZVU56Ny94MS9BMG1ybllrTnNGTE5GSkplYmdEYkFoTlNqeHpMNWlmTkVvRTJGRFFGR2VIZm10M1pDVnpEQmhxN2RTZlgzejhJaXJpcEd0ZmZoK1R2bWx2NXM4OTBsRVpmaTBUVURvMHlueTRDZDVSaEw0MWJkNkNLT3B6R1pObDkya09Memtzb2RiOGhmdlF1bUQ1TUZQSmZnQ212eTJnWmVGc2ptWGp3ME42M3laazFFK2RPd2gxMlI0eHRzZ3JFU3QwK3piUk1LR0VzTGttNzk2OVdxZHNhZmhkdlZxVDhRVE5zejIzMDBQYmRSVFhXanZuNmJ3ZHRDVHNSait3THZhWUw0WElKRTh6QTY0cS9tSzRjc0pldW1hdWdQOFRTV2d1KytrNk5xeStpOS9EYTVualA5SzBTR1prdzJCeC9nUW1meDJmMGo1UkZoY3I3cDZGUjdNSC9GYXo5NUJ5aEorZy9pVTdnNWxtcjJEdXNIblF1M3NDcG1TeDZ2U1dZbW1iMUdvbWtOWlNLZCtRNDJQRGdkZkpueFpqV0JYME0zODRhdFhVZDlIcU9wWHFaSEZoMzFYYXYwbEdoUXZBWWFwUjRpOWNmRXhWKzAzNUhjQml3ME5wS3Y2R2RoZ0hHRWRTeDZMR0dhMFluelJLTy9oVEcyRUNWdUtnbTJtekNQRFNJV3RFWmFLUGdhclprdWlQbDFZbTZ3d0JKNFZMK3pqQXhxaWp5TVBOSEtSWjlYbU13OFhQS252a1ZjbDFnWFNXUVJ0L2V0alExMDBrazczQXh0Wjc3RzhSV05EVnpYTTJUUTJFRG5VYTg4bVM5andhdEgvdHZoQUloS1g1YVJSSVo5ZGhNS0dJWEFlSkI5TWswRHRMNGhpalE4WXZjR2VEVGJVRmFMVjJ2alFLeTc5RXBPRGJMN01iMWJGMEgxM0JZc2twWHdaTDI4WUpLVXdTZkptMDN2aFdtdVYwcmNTYXVsMnhva3pDYnRLU0YrSGRwVnFiVlc3cnZRNklVQVdaVmZFVU9QbllZUFRDTFRlb0N2bzBvV1NISHg1R0ZCd0NqRWRlZElaSXV0dUIwelcyRENxQzJndTZDTXVObWdTT2d2Z1A2UVlYelRDaGtPWjJnZ1ROcjAxYlI1WlJpcHREVnJhRk5Yb2FNeURLN2drcXdhQlo4VHNBZ09XTXIxa1czVVp0TitxeU5sZ0IzTlloeUV2czBjeGdTd2lvL3Ixc2FHZjFiNnl3SGFXWHdIUUVoMjRabnBrSi9oaHBpNUxZME5ubDlPSGdsY2tJelQzdWdpMnc2ZTROVVBrYW9Ga08wWEMxSjVjSzRPcFc1bzB1V0dTeTNQN1F2eTFHM0lWRXZoNlJRaUFYMC9tV2VNKzdadFAydmpLMTZWNXdEWWR6STkxSzY0WmJNREU1M05uMHUyY0Z0S1hoNzVzdnk3Wi9hRHFGYlNDc1Nrak15akxWSFVMTlg0K050aU5ZRmRRVVJSMzN3QlBvNW03RjJtTWxwdU5BOVB1V0ZaVWhqMnlDMmd1Wkppcitna2loMWJNZzRyeFJTTnNPSnlwZGJTMlF5YXNGUlV3anl3amxiYldWUzRBWmlOS05Vbi9scW91QkY1ZUVnOVFvOVFDbW41RnhLSGxMNG5RUGp2WVFpUjB4ZnRlS0l2SXFINTliTEFOUXVXeDc4dGhRMFdXdnV5VHB3MTZkSXRpdzcrWG4yV0h6WHhHY2tOTlpLZ1ZkajgwUTJSYlpPeHYweVNBeDFJdGROamJZQU9RYzEzUzFrZ0xUU2swbGNnRldjeGdoL2JaazBYb05xT0ZvK25icmt6eGxHL2xwNkJqT2hZMlFQWWRsUlVzOTVmRWcybG5NeHhvSVZQWVlGV3BvM3BGQXA5ZEFnMjlDQk9pclBqS2U2ang4N0hCYmdTbmdnNWwzd0JSajVkUjYyNm9IZ3dkcktnU0JodEdkd0ZWQnF5VlZTQXFBeHVDaXZGRkkydzRsS2xSazF3VThtU1lzQmg3MHVhUmFhVFMxb3h5ME1wTldlWDY0ekpBTFNEMnZCSWFJWlpFOUpycHIzVTFlQTNZd2ZJZWY0V2Q5NHBRRmtWVDNEMXNBR292dVJtOHAzM1QzYndVdFVwcWZlaHVzU2cyL095S0lBWjBsU1lPUVpSbG91RTNQVjc4VVRIRUE5VDMraFdSeDVCSUJsYUhnZHIwWEF3ZXdicklqSjRoWTJrV3RrZVJmVFdXSlcwTGs3cEcxNVJwUTBNWU9jWmlNa0pMZVk3eUthTjFvUm9YOUtPRkRXandIUldQNytxbDJ6a2daQW9iVEpVd0xLd3Fjak5zMkpQaElHV1ZUOTZEalQ4Q0c2eEdjQ3Jva1BZTkVMRDczZFM2Nko2N1BDUGFiMFdWd0M2UkNCYm9BcW9NV0p0YWMyem9xU1I5RHl2R0YrM1Fwa1o5Y0VVd0M1cXdVbFRhUEtDRlBTbWx0bVArTEcwTmdzc0JFNDdVUlptem93TFVZWldsUUlRcklyMXRCaStOc0MxMmNKbFNYL1hpSnQxQ1dTamVYQjQyb05VMlRXSWcxRklvbEVwck13R01XMmF3UGxVVUc3Unk5RmQrMFNWWEpBdURxeTVQeFJDeGFJM09ua3pWSkxRYlJ3bFFzTVlHMEY0WG1kRXNGMFJvQzcxcmlZSzRQeWFpbHEzKzFqWHRoMFIwS0ZrTUQxME5JWjd5QlJYOTY1aU9oUTB3NngyVnFjOE8wdTBjRURLRkRhWktYV3VOSG5KZWtxU0RsQlZiZVE4MlBpZ3JrYnpzL05GcUJLZUNUbDdmQU9IbjNydURITFB2L0hHUkQ1MTZSWVFJYTRjaVdLQUxxREtFRFQzMWtJRU5ZY1g0b2gzYTFLaUg1Wm13VWxUYVBES05WTm9hK3I4OHJvSFFqcWpscklIQ3Z0RWR6RUQwUzJUVS95QUp1bTN5UWkxTmh4NkRXWGcrL2VOaEExUzFxOU5DZ1RVbFp5cFJWYjVsNWhTbmkyS0RtajZnWmVUdTA3NDBWV0pqbWJYTlZUSG4vOVgvQUFBYjBVbEVRVlJFSEpTU0pnR1UxWEJBcnI5K01JWlUxOVdGQmdWQTRTN1ZDbDF1S241ZEJ4dTI3Q2VVM0JQWlVDRHJ6QTB5T0tZRFUxV2tYV3pRTnFMYk9Ra0ltWTBOQUVUTGxNMURQOUNEbEFUcUhtejhpckJCRDRDY09TcTdvcVRRMkxBL3VndW9NaEJ5RkRaa0tDYUVEVW9VM1FSQk8vSmJHNW55VEZqMTFwUjVCSW56aWlsYjA1M2I5T2dwWTFsbzJZdFNEK2hLbDNnUSt0QzlIZjN1Q28rRXdEcVNUN3owazg0aTZjaWJodzB3b2FhYndYdGFaTUk3OEtMeGFDcXZJV3ZPMU1ESzc5b1pOMnh0VWgwMUNMY3RRZXBNTDd4WVpEUkR4S0VWMHlUV2xLYW9FTllldENxZ3VYV0tvd05SeWtScDVGbWx1STQ2VTBLek42RlV4TG95Tit5MUxvd1hLMVNRcjRocUhpTEcvaTJJRFJkbEdkM09JU0U5ZVhoTHIvT0NhTURyaHV1R3JsK29CNWw4SWhSc2ZDakxBaHUvaU4wSVRnV2RqTDRCb2twdU53dGlROXZLbE5FRkZCY0k2V0VEYjB1VlRQY014Zmlpa2QrUWFnS1ExdzJyN2FobFJYSkd1ak1GVFRqVFBJTEVPVUZsYTl0S0VWQ1R0SVFaNmRzaUh3VGU1ZGxwR1V4MnhZRjJNSGpGTC9GMENMd2pNK0lXekdLU0tlUmhBNnFWMHFwVFlGRVpyeE5MRDZyeVczb2NUZWFET05JMUdUZ1IxSmd2anRCRFIzWm11TGREbmtnL09NQ2t3MVpBTVVSVWlBU3RkS2xXenNBR21MVkNuZGsrRStyZVYzNFpUU0RYRlR0SFpneEJsa0JBSGRsUUxVZjVxcWk2TzZhVDdUZWsyamtrWkRZMmJObUFTUDk4YzFQdzd3ZDZrSkpNM1lPTmo2NWJCVGFZMWlYdUlXd28wZ1dVNUJEUzZyZjAxRk5KNnA2aG1CQTJwSnBnWURVc01PWVNwOW15SW5uRWRxNEpxOTRLT2Zha1RNSThnc1I1RG1WcnlIR0ZSeUFnOWJiMnVLVEJzYUVuSHpRMlFKUUxLZ1A4a3VzOERJRjFKTzFnbWllZFJaVVJkdzhiMEJGN1RvWmZ2ckhrUEN0NW5VaitvQ3BQNE5hVHlYK1d6dWFQd2J4ajZKb3FiRUEzTlVmYjl1MWgybEJVREJFRG5pa1N0SEt3cTNNSC9ZWkZiZFpZUTNoN2syYzIvL0FZcVZxWFhkT2lmTGxCUVFxS1lCQ1VTT0VxWDdPV2dZTFkwSlBaZFR1SGhNekdCZ2g2eFhDR1JKZkVVOTgwcktaczhvbFFxdkVwdWlKc01LMUxURUxZVUtRTFVGbTZvTnRSMkpDaG1CQTI5RGhOYXhqZXRucUN0cU5VYXcrVTZoRkltN0RxclNuekNCTG5FaWhiUTVFZEhySHhqMVNYYnVpZVNYNkRsTmY0RFlqVHZRQVlLNXdlQ0t3ak9hVG9KNTFGRVJMM0VkaUE3dUsyNHFMMlVsMDZ4bThBc05LWjNleXJhOXNac3FIcTExVnVoUTJrUVJWSDdrOVRQNWlBMGpaaVFpUlFZZGJUdVlQWXNLK1hqM1ErSzdCbzlRaEhadlJFNlNsUWJuZ1JrbytyZklzU0R4YkVCbFZNVzNCUVNFY2VGSUVGci9PU2RlMHAwT09XeHN4K29BZnhBdGJQSkxIQnRDNEpnUFpiVVlLbzlZWWlYVUNWS1lBTkdZb0pZWU9pcXBzQXlrdmJVY3VLNUNVZzhBNFBCRTFZOWRhVWVRU0pjenJLMW9DU3dyRm0zNithV1J5UTQ3bjB2bzRCTSt6d3NDV2VpQitNWGFJMEJONVVrZlF4N2tBV25jd0RIalpBeVQwN3d6NUlHSUpJT2E4ZzBjN0Z3NnJ5WkN1TXZmU1hVaGxVUkRlTkRUc3FUV0hEbWw0UlJBb3F0YXN5V0hmRkVGRzZXUkJXSktCUkRhZ1pjNHB0QzVVc3dqSzRtSVVOU0xDd2dmeVRQVjRFY2pxNmNra1d3d2J0YSt1T0dSU3lxM2hLSGhvYklJd2xBeVNWRTRKQUQzTEZ3NVBmK0R4RFJYNkRyY0F3TnF3VjZBS3FDaTQyUUhWV3k4czhHWW9KWUVPcUNjSjJsR3J0ZkJOV3ZkVTNqekJ4THJTeU5WZzNuNXd2SENEemRVcWF0dXJYTjZNMUtyNUR5YWlVbnJqUTJDWDZBQVRlbzFSK2hiT29WSEgzc0FFOXdVbXZnOHNGTzBiSmE4ZUpzS284K2J0MDNYaFdPZytQNmRveUlpWTBhQ0NQN05USXNPVVZrSFExd3pBSktFb3ROS0pBMEcvb0tLU1hGSzNieXo5eHg0WlZkVWZtZ1MwYzk4N1dlVWxIK1JZdEVTeUdEVnBrMWM2ME9McVRJdWJJZzFTRkRlUXM3Wm5jVUMzdlZTUmttckxKSjBKKzQvUFlpckRCdEM1eE9Xd1hFSEtMZHp0WDFRTzUxbTR2UmtxV1lnTFlrRkpVMkk1U3JaMXZ3cnEzb3Vub1V1WVJKczdyb20wTlhZQWlUbjBxYVF1ek9DZGJsV0lETFl2T3p1NytQSGs5U1kxa0VIaVhDdkFybkVXbGl2c0liSUJVeHR1akV0QzdTMEEvNmNvVFczNTluMDV6QWwybis0WTd4aklNVzFYdTg5ck9XS2hwYVlaaEV1aHY3b3FobUhXaHVESWtHdkZYTkRrck1Qc3JZRW1YaHNXdUxUTWU5T0lwU2tGSGwzaGhSL2tXT1JFOExEWkFqSlVVTVVjZXBLb3FVVTh6SFlCYVMrb2cwSU5TUkVFa0ZVZVVYVHQyczFpTjRGVFF5ZVVib0haelZhNFFOaFRwQXFvOCtZaE45UkRFaGl6RitLSWQwdFE0YjNRRXVvZE5XQ3ZLTTQ4Y0k5VzIxaEM5YitzekdIZjVGUCs4MWY4Q0xVdnpGdnY2ZlM2ZTB6M0RXWGcrL1RNQ0d6YkFRaHNJRmRKWXBpbW9nSzU4OGpkS3J1OVFhYzY5YTlzWlVrSWRvNkZJaVB1dzZWQVFENFpoa01TaXMxU0NKZ2hpZzdCcWwvcGNtN0gzZi9XZmdvQ3VldGVXdVpIQ2hoVk93RkcrU3hKUGp1a0VHcFFLaEtLaGdiU1FqandvcUxDQm1ueVhLSWtMdlV1T2dpSEtLcGU2bnl4c2dKYnRLOWdGbE9Sa1lFMzFRTmlneDM0Vm1hV1lJdGdRdHFOMGF6ZnlUTmowVnRjOHdzUzUyTnJXMXNReVEvY1N1ZEE5cEExMmVBYitFMmhaTEJ4WjZsQlpJWEJUaGVta2x2V2tvNTJBaHczb3dEMDdmUUFTVmw4alEwNnBYZVkzbGFlM0F2a1Zicyt1Yldjb0hNSUdVTkNtYk10amh3M0RJSW0xa2RoQVV6MXQvWWJ5YjZKcjBmdFdpMWFxSS9PMksxeEhyVnEwY3RWOVNHd0lDK25JQTFrVk5yZ0RxRFdDQm5xUXFiRU0rWTNQb3l2eUc5eldQV3dYVUZVZ3I2Q3BIaXh2U1VmeGwrMU1EcU9ZSXRnUXRxTjBhNi9sbWJEcHJhNTVoSWx6d2JXdG9RMGVSMHg3a3dhWVRZUTJydkFNL0NmUXNtR2Fqc0RoTElZcWhUeHNRSkdlblFHQXJBOFY4WGd0cjUyTGgwM2xrOXFYb0szb2NudUFMTkk5MmRpQUt0L1lJMUVYczdCaHc2MVk1d1JoZzlma0dFSGxOQ0hRZzJSem1KdmYrRHpsdHNBR1drMHdReGlReHBxUGkvcGxLV2FjMkpCcndsbm00UWxtV3NNYWg5RWxzWFpiZzJsaUIvVVNzbGhBR1BJMXlSZHAycFI0Mk1HR2NCYTN6QWhzU0o3M05LTnpLcW4yWEYwcTlHUlZIaWZsWHd1TENiaDJsTEZiQUJzYXJ2bFJzZFJsTVF5Tk80c2ovUVphYnlCTk85ZHNXeDJaQW9FTEtzbVJlZHVkVS9UVlltRXIxQ0tLd21UbUZPUTNXQTBHdmNoVjk5c1BHeG9GdW9CU0xoWXdyQ1ZZTkp3N29DRmJsbUtLWUVQWWp0S3RuV3ZDVm05MXpDTk1uRmRNMnhxMkdyRE1NRVZMRGR5RFdKQ055bk1GV2hhQzJMMkFaK1BiZlUwWjVHdnpnU3c2bVFjOGJJQUtWOTBNM3RPaWQ5N0JKRHVWQjhwOUVnSmFCeE5OeHE3ZGpvZ09HZmF5YTM2bXNCV3lHSVpJb0lkWVJ6T2dMdTNFQU4vWE9SMEl1R0lSNU1GWGE4NGdFTVlHQ0djdnoya3FyYXF3SVNWa0NsOVZsYWhYN0prcW9Rb2wxaHVDalEvS2RtVU5iUkd5R3NHWk5EbjVmQU9FS2V2RzRCbEQ3UWN0ZjlhaGt2ZUFhbS9xZE5RNkpYS1dZbnpSUXNOd0FWUGp2SE5OMkZJVVpkYm1FU2JPNlJsYnE1TTdQME9WNGg4aFBHVkRYd0FiNEYxWTZ1QzA4T04wejNBV2xWWGNQV3dBaWxuRGpwdVZQMjJ4bExzbWMzbVZ4eTVyWHpuYkxwMnU3TDZuWlExREhXTmZiYnk0UlowbmkyR0loTHNpaFNiUTNWRVpVbWg3c0FhaHBRWVdBOWpBWlVZRjdMNkhoaEFZMHFvRUd6cktMYkVyNyt0UVZRbGQzY01HaVkrQkhtVFQ0K0ZnNDQ4Vkd4b1hPYU5DMkxCZm9Bdm9LclFaVzlJUFc0RWpiVm1LMGRnZ1JRdGhROWlPQXExZHp6RmhxN2NLUWFWNWhJbnpMTWJXME54THlkcDF4QTVvNHdrYkZ1WUt0S3h6WmtMbmRBUU9aOUY1ZWNEREJraTY1MmJ3bnRTN1lWNDBIbFhsSHhUdGp4aE1wVEJOU2wybzZCNUY1bUhEbW4zd0pVVkJSQ2lHZUFwaEE3aGJybGNRR3piUzRJWEJUNzBxdHFoc0hnd2NtYUZrdTE1TUhaQnpsSjhTMmhsV0F3MUtCVUxSQVNFOWVWQlFZUU01MTV1R05hb2dEeUNHS0p0OEloUnMvR1BEaGlKZFFOZWdZYnVvYUFjeUkrZktVa3dSYkFqYlVhQzF1emttckhxcmJ4NWg0bHgyWTJ0Yk5QbHRyQ01XUFgwMTZhN3dkUEVUYXRtTzhveXRmSzdmUU9QaXVwMGFDSHZZQUJWYVhTdVFmK0NZaFoxQlZiNWwybVZEOVV3N24ydG5TQWtaTmdiOUxQOUUwMUlNTTBnUUlPdTg0Yk5QKzVZekliTzJ6Q2k5eUxGaGZwZFMwT3A3ZE9kNEJvRXRwNDRhbCtmeGxFL1o3Y3ZCaG83eTlYbjFkMVMrVURzSGhQVGtRV21GRFVBWGV4NjNwdjN5RUdYRlZkMkRqVDhSYkVCenJ5Z3AxQW5PSWwxQWxhRVB0Sy9iRDVmMGd3cGtLS1lJTm9UdHFKWDJFcmR5VEZqMTFwUjVkR3pSbGJUOGJtd040OXhuRXY3ZFJNejdMaWJ0SlN0ZnFHVWJsajUxVmxmZ1lCYWRsd2M4Yk1DVTZhS2J3WHZLL3U2VHF2ekF6QkxQMnpOK1RhaHIyeGxpUTlnQTl6WnJyMVRUVVF3elNLQXExbUp0MEc5QVd5b25RVkd0RytkMGtXTkRhNFdTSEpuUlB0WktCakJJK2lldThoVkZkYy9DQnJEWlVYbEM3UndRMHBNSHBUVTJiRnZPRHYrOHU2UWRvcXk0cW51dzhTZU9EVXFkUmJxQWtwejIvUTBjTEpzMjFCbVNETVVVd29iR2FGUGpqUEpNV1BYV2xIa0VpWE55eHRiUXh6NDF6WHNaOEh1bDVxd0pobHAyVGI5SFE0U20rZmZhdmFFcm1JV3oxVDhlTm1BZDlJcE9Dd1d5dnhlcEt5KzlXSlErSFRUd2JnRnNvTUc0Wi9nLzF3cnJXTVVRRVNGNFNkcDJGd2xpQS9xOVplVFQ3K1lmMDlPS1IzKzdnQldjRldMb3lJd2RNNGtHbElRK0xGMmNsZzFHbE9SY0RqYTBqV2JXUm1CRFdraVFkZVRCTXpLdGMyNERpMXFTTkZSMGNMYkNDOWcvb2NZSFpYdHh4YzVPWWFzUm5BbzYrWHdEUkFmWGl6ODhJNWlzeUJKb2VhSGNJbDFBY3dHQkhmMndIVnBRejFDTUwxcFFVV3VqVFkwenp6TmhwYWlCYng1QjRweWNaV3NZS3MrSmdoMzJhZXZETHNnWHdnWjNOaTgvVCt4MnoyQVdyVUllOExHaFkrR3ZtMU04YmFlbmNqS2Jycnl4bXdWMVl0ZWh0Qyt4NGF3Y3M0T0d2ZUZNYnRxN0RnWHhvQmppS1VnQ3ZXRmRGNE1GNis2SWppUVNhRnRjNTBqbzg4SjJESFNwc2NHVnVXMERGNmpKcFNFVWFCcHlmc2d4bmJyQmhxN1ZyVVB0Ykl1RU0rdkNLM1Bsc2JBQjBqeHVPRVBRVmZFVW9tenl5VkNvOFVId3lOZ0FteEUwTnBZNHB4UTJRRGNyVWdZWXEreEFHNk83Z0N6RHQrUk10VHVoYnBlaEdGKzB3NXFha0NUSGhGVnZIZmpta1cya2xxMUJGODhYL2JmQkhqMWpyM1lGQlFhdVdtNjNuTWE0M1RPWVJldVRCM3hzcUZ2NDYrWVVUM1hkaUg2cXJyd3hrRmsxb2pwNUllTW1SWnlSZlM1bzJHdW10N2l2blJsU2lpRmlnaVNjM29CNVFCb2JFdGpPa2lZNHVNN2ZZTk50dDJ4aGd5dnp3QzRHU2E4SUdxN3lOVjBaeU1LR2pSSFlrQllTQkYxNUxHd0FrcGhwRXRwZmpWS0ZzQ0hVK05EaWtiRUJXQ0M2YzN1UEt5TVBHMkFxc2dXQ1hlRERUOW1WK25SdW1BNFpLUlUzSjBlR1luelJEbXRxZ2hmYU1zdUVWVzhkK09hUmJhU1dyYUhIdFhjNGp6VTJYRE13aUtoZ3kyNnJOVEFxVTErblgyOU9RWk1zbzBxWmhlZlRQd0lidEQzZ1MwRU9ZNTFQQmZyS0VGU0V2cHZLUzFNaG16YjlWT2RMME9ZWDZXbEdHbXZRc0dITFlvU2tuS2VDNjVLS0lUSUVTYURaRFh2a0NHQURUR3lIR1BCclkxMGNDWkdQWkpNWDFKekNsUmxtdnFOeWtkL2VFdytnMXRUUnFZQ0REUTFsQVB6anRUc3FjN0NkVTBJaXR5dVBoUTFKM1ZDbTZZNXF6U0JseFZiZFE0MC9EbXhBOXhlTHQ1MG1aNFdXMFkzQkl5RG9EZy93MDZpeU40YTZBT0tzWldCWmhHN2JaaGdDQ3FoYVd4a3lGT09MZG1oVDQ2d0cyU2FzZXV2QUdKQTBqKzBzSTdWc0RkMVhMZ1NpUGRyb2x1WUt0aXdXY2krcExOUFNkMFEvMmxWeHVJZXlXTWtJMXFtUkZnMDJ0THhXYzNQVHkrQjdYcFI2TkpYWExiT2d2RzJWaDk5UlQxNjVSWmt2YU5oWUd6WnZVYmJzL1Z4TlN6RkVSSmlFWllCa3dScHJvTjUxUVFWOVVzUEhOQmsyWEV6bGhjL2Y0UHJkNTdLNk11TVF4R09DQUYraFVDT1dwM3lWUTk2QkRicTVhRjFkUms4TnJSMjNZRHVuaEVSSlZ4NGJHeDYwUFBFMTAxcEJ5cDZFR0ZsY2s2VjBLRXZYMWMrUFo2c1JuQXE2V2RVbmdsbVB4d01iL3YvMnJqYzBzcXVLdjgxbU03T3ptN1FGcTlWVkVrR2tLNVNzRmFtdGZ4Sy9LTmhDc3NLV1FnT3pncHRXQ0U2c29OaEswMXFLaFlJVFB3aWlsY3dpN3JaME1Tc1JGRVk3MjVZTmxVWW5TdXQrRVdZVVA1U0twR0diWVdWSG4rZmNlODk5OTc1MzdrdW92dVRPNUwwUDgrNmZjODg5LzM3bjN2Zm12Um50RE5FQVpuOUxqUmh2YXRNd0lkQUMvN1FWcFhVQ1Zha09PNDh4S2h0bnAySGtMU2NsR3A4Yk9CeHgzZ2EzdUNCTWhtcEZpVXZCZzJPT2NwdFlnNXlvNGhKdW5Oa1dDS1BGQUthL0pEV0duempVT2ZTQ0tyWHMzTUNSeU1IMFdVYllIZFYyaFdlaTB5SUJkZ0lFSFdLZ3orVC9WcWhYK2FLQkJrMkhqNjlld2xyck5INktsZUtTS01BSGZZRVZCUEI4NGduVldtcFNpY2pFbVNhRXlnM2FLQ1lMQ05hTGFnUmluaUNzZ1FWOW85RlNQNFJpd3pKQ2dUWDBnR0E2TGxqRVpJYTRtRmVjQVRza1hjejRpb0JPUURoTlpYcWZEdW9YN285d0FYZUNkWmFPL0p3UUVrYkY1REZVQWcvcFRGcU9Bb1Ruck9XUkJjNzVFTGs2ZmNiSXNXbzR3VkxRSm0xSXZZYlZSVENzN0hadUFCaW9oYUowdWFGUnpvUkFGZndUV2RHWUJCTG9vcW91bTlmYUVZbkRNREhSZUJkd09PSzhuUUpoTWxRU0hoeHpGTnZFR3BTVjdjQlVFVnFCeXF3RERKUVpBNUN1alV6Z0tDdURMVVVtRXUwTWlXaW5qNUxJMXdkd3laVEhnUWpaMUdTZUQwZkJhelpqbVg0cUFLWWtMMDFabXhnYVFKRlJQU0ZibGkxd1VQNEdLZ0x6b1dnSFFUendUQk5Da1dkUnFtZ1dDN0E2NjBRS0psVG1DczdCUHl3cG5sWHhGelJWYmQ3UmRnVWpXTjRHamNrTXFlYTBHallSR1N4dWZFV2hUZ2JZeFdOaGJkbGV2VHNDczhQUENTSEZQVk9CTHJLaG9kSUdSUkZlVWp5bUpuZHdWcjEwNHB3UG5LOVRQM00ybkdBcGFKTkNUS3hEUzFHNUFPNDN4bGFnS25tcStIWkQ1MTBtQkNwaFpDMTdpdWd2aEtxeHhFTjByR0VRUktab0RrTUJWVnZ4Y1VFTnU5MFExdEVLbkJZVko0SUh3eHdwTEt4VmRJWWVqUUlPcWNESnRKb0Y0NUd2QnZYRzRWeW5oblJCcVJ5R3Z4Y2w5WkVrTVh1RDRMTWllZ2JDcjFEelFUZjRrYVJvQzBhajRJeDdIVFF5R2x1QnVsVFJjRFFJY2JIR2JWeUJzc0JFdERJaGs0dUs5aDVha0VzVmdxL0ZSVThJclE0V1B5TS9ERGRYWU9HY1ZPUEJoSHJaR2cyNzg2TDVpT3lHdFVyYTh1eFYyUGgzZ2hHVnJtTXl3eDkweTJHd2dUMmgyQ2FNcjlyVmFRa2NWNk1tQ0tKcFVUNXlIZGFhVGRYdThETVl6QllTUnNia01WU0N2K3g5UUU1VGpkS2hpN01rcEUvRytZT2o0SklmRVVIaWJEckJVdENtaEIzY2pkQ3lvRlkxOEV0MzNhS1lvaXZJeHNWR0dMNVA5U1ZEQUtYaHR6SGZwc2lFakRKbThhWUtheGg2Qlk1RWN4Z3FpU1BlMjA0SWEwTzFrdkJJTWhjaVcxaWIwRHVDcFNoNGc4SDZMNXBna2U2eCtuendTUDM5VUF4ZnJQOVNqQVlidndzTEEzTHgrN0g0cy9ud3hhZFg1a1UzZnNSSWREc1dpblBJZHcwT09LKytSL1NCWmFQQkZyV29ISTBuZkVsU1VESSs5VnZNRGRjVVhENm5seTJiMFFXQnAzTWljZHhOR3YwcUlDYkg2cE5JRDhiZkZJVnhDVlpzMHdmUjRvUnVGdkJtaXBna21MaU92dW5VUHdQLytDVW5mT1ZwR1p5QVRCRnJneFY1cVEyZ0RmOEEwd3pBZFF4RTlLdmlmZ3pVVFptaFdsQkJNRnltUk1nWlg0c2JQQzluM2JwbFpVdzJMc25WdUZTZHhuM28xc29kYVg2T0N3a3NUSGxpS24xRGdlTjFXdXRTSWlpU0VFc3g1Ly8wazcrK0NVTVBmbURzcWZxZE5pbldUQ2NrRkxUSTRRWU5PS0pVT1FHdGgrdFBJc3Z1TGZVN0locllTVnpFMnJOYlFRTTY3LytZQ01Ka0NDeEJKNytOQWNjaGQ3d2R6eE1FUWNJd1NHNktsbUtvR0k1YzN1WWhiQnFLZzBlTU9Zb0ZoNFcxQmIzVnZVRmVrUXNTdkZTV3h6cXV5Zkw0aitnS25nbkRMMTQ1L3c5bGpTcjF5Z1djSTVGdDZyT2w2YkVnVVFSN243WkZaRmVtZFBxeTJpR281QUU0YTRWamYrbCtDQ0xucjQ0TWo4RGF2UEt0NW8zSVlvTkcvbHM4V3lCcmJjRWNYa2JadXUzaFJ4dDZKeUZhNVljNVlRcUw0VXI0OG53dzJPaXVZMjZBQlJyRlU4ZVk1UFJuU0FCWHp2K3BUR3YzV2VoKzlmaEh3OS9KWFJpdGI2Yk1PQkNFdS83MzgzK3JoTmRxa2c5cmZOa0Zud3MwSzdrWTVQbHFMU2g4YWxPOFBZeHJTWnFmNDBLSzVLUnQyQ0xtWTNJK2lJb1h2dkRvaDhOUVBnK1h5bGxMS0FxMjg1ZUpMNTZOaDhSb2pPbUVCVTA3VGQzbUdXRDVnVzgrSTNqQVRrc2Rldk1HbE9OaDU4MGcrRG9FUlVQMHRzWG9SQWdjZ3FTQzk0V1k0eDZKQWpDanpCRU1TZHd3Z3NRUUxjMEZPNEFhc09NaGJCcUtoWWZOWEVsdVllMlF2aElwR25nWUNkZFd6NXk2ZDI0TkVOL3FyczJlT2pXNzFsUzVJWUFBZ0dOelVyQ3JkbGV4ZDY1cDVnYWJSRTByVDJlYllyVDYrTEpzckRvV2U5azdUckZ0TVFKWW80d3dNK1NHcWFzQi9MSk5kdzRTL0x4TnBXdlA0NVRTeFJ1a0VlWUdVclF0S1FjcVFqU3hOZEpqWmNHY2NEc1djMkgzTG5ISkkzTURUbmp2N0pyZWVQNUFUTEsxU0RQOFVkU3YxcUIrdUh4Wk54c3lDMG9sM0RYU2tUYytNVjJRYW9JVHAxWFQxeURLWjhQT29wRWJTSDNHejNFaGc4Q1FSMFNGcVpLTWl2QzdhcXJVQ0NJSnhkbDIvbklYbkNxUDJUVTJOMFJlVHlwb01TNDEwS3FQWVZzeFhKdUZlQVlQbUxtaE1BcGIxd3BlMndwS1dxQVNJZkR4emwzODNTY011cGZtZzVHeWZWRnRTYUd3b0Ewak9nM1JVZzIxQTZqaHR6b1VNQ2FFeldqbDRXRXhWekpiV0J1bS8xQU9DcXMxV3lsbjdhRW5tNWUvazA2OEF4S0RmY3ZZc2hqTnFqaXFkVS8ycVJaODBheDBhNlY3NW9XYWsrYTVtNXNQVGpwN2RVZmgxcG51ZlIvUjFYZFNLSHh3cHZ0Z0c2NFJWazgrY2Z5ZkQzTXNuZ01UUGtFUUI0S2ZmMkttODk1YWdqSXVNd3IzSmJpa2VhZkh5T056M2Z2YThKWEQ2c21WNDY4Wjg3TU00MElHUVZ3ZWN4aTRmUFhZdXRteXMzSzY4M2ZHZzZjcWZYK21vLzRZbHljSTNuaDM4L0wzb084M1o0N2QvcFBQRTFFeUJFcU8zQkFNUTNxQkZla2xHc3FkT2NOc0w1cmt0Qk1jYlE5aEJ6d1k1anZBR3FkaWhtMUhyWFFlbXdqdTR0WmlUWG0xanl5UTZueFA5Q3d3T3hncFd1R0hNOTJUbi9aRXpQOVpEQSt4ZGxCdDlsbmRCcHozZVZqeXZMSEhMSkRxZkU5MEdYYmRhdlJFdnYrWEdCNWlEZEtWVzdzaDVzRTVOM1hlMDJzV1NIVytKOG9jRnQ4cmVTSk1obUw0aUxVcTNRZGk5STV1d3pLZGVWUHZXeUROK1o1b1Z6UnZZWG9pVXhaaStJaTFOSmthMWpjZ1dWZ2s1N21uRmtoei9wNEtGazErOUsybzNNOGxIN0YyeEgzZFVPSys1ZTVuLyt3NzNWS2M3NHN0V3RPK1NKS3BIRjVpTFVXb2crNjBrYW1kY3VhN1pZRVU1KytXQ052TjAyaHZSOUVYL1g1aWJTS2NkRmgzT2ZXNUtNZWd2TG1YTE9CMnZpZGFGUFNicXA0SWxKRVlmbUp0eUprQkp2S25HektLQkcvWXVwM3ZpWWowTHFjbjRtUW1ocDlZRzNZOS9WVGdYN1RLekR3NTQ5MjNnTlA1dXk4S1ArUFVKYjY5ejFwOXhWckRzVzA3cEY4RzZETkg1T3BFRm5BNVA2TFkyMUo1Y1cvbjM2WFpmY1hha1BHbWwybUtwVzdOck9ibGZyU0F5L21lNkZxVXIraDVJazEyWXZpS3RRTC9kVVRKZGEyUm5ZVnl6cnR1QVlmemQxME94NFJMcHgwZC9kWHNMOVkyT2pYRzFBZjBhODFNWjk3VUx4YmduZStKZHZTYnlaNklrNWtZL21KdGdMMngwTmduTDdsazV2RGVZTXc3M3hQWlI5U3ZqSGdpVG1aaWVJeTFDZWFxYmtEK2NueG01c2daZTJJQnp2bWVpTFpmeFBBWmF3ZVozOVhhWVBMRmZ2SFZ2dEtUYy82K01zRGVLK3MxMXNiL0ZUZlFvT1BMaXpoZFh1OTVDeVNkMy9NcTlaWUNmbU50SlBIYzlQSStlVzIrdDZJb0UybVR6czlrbXB5cHl3S2VZKzJSK1pqZ3o4WWJZdjE1dFg4c2tIQisvNmpXRTVwRVdQc3Y3R0p3ODkwRUZrb0FBQUFBU1VWT1JLNUNZSUk9Igp9Cg=="/>
    </extobj>
    <extobj name="334E55B0-647D-440b-865C-3EC943EB4CBC-12">
      <extobjdata type="334E55B0-647D-440b-865C-3EC943EB4CBC" data="ewoJIkltZ1NldHRpbmdKc29uIiA6ICJ7XCJkcGlcIjpcIjYwMFwiLFwiZm9ybWF0XCI6XCJQTkdcIixcInRyYW5zcGFyZW50XCI6dHJ1ZSxcImF1dG9cIjpmYWxzZX0iLAoJIkxhdGV4IiA6ICJYRnNnWEdKbFoybHVlMkZzYVdkdVpXUjlDbHhqYUdrZ0pqMGdYRzFoZUY5N2FTQmNhVzRnWEhzeExGeGtiM1J6TEcxY2ZYMGdLSFJmZTJaZmFYMHBJRnhjQ2laY2NYVmhaQ0JjZEdWNGRIdDNhR1Z5WlNCOUlIUmZlMlpmYVgwZ1BTQjBYM3R6WDJsOUlDc2dSVlJmZTJscWZTd2dYSEYxWVdRZ1hIUmxlSFI3ZEdGemF5QjlJR2tnWEhSbGVIUjdJR0Z6YzJsbmJtVmtJSFJ2SUhKbGMyOTFjbU5sSUgwZ2FpQmNYQXBjWEFvbVhIUmxlSFI3UVd4MFpYSnVZWFJwZG1VZ1ptOXliWFZzWVhScGIyNGdPbjBnWEZ3S1hIUmxlSFI3YlhOOUtGTXBJQ1k5SUZ4dFlYaGZlM1p0SUZ4cGJpQlRmU0FvWEhSbGVIUjdSVVpVZlNoMmJTa3BYRndLSmx4eGRXRmtJRngwWlhoMGUzZG9aWEpsSUgwZ1hIUmxlSFI3UlVaVWZTaDJiU2tnUFNCY2JXRjRYM3QwSUZ4cGJpQjJiWDBnS0Z4MFpYaDBlMFpwYm1semFGUnBiV1Y5S0hRcEtTQmNjWFZoWkNCY2RHVjRkSHNvVG05MFpUb2dRMjl5Y21WamRHVmtJR1p5YjIwZ2MzVnRJSFJ2SUcxaGVDbDlDbHhsYm1SN1lXeHBaMjVsWkgwZ1hGMD0iLAoJIkxhdGV4SW1nQmFzZTY0IiA6ICJpVkJPUncwS0dnb0FBQUFOU1VoRVVnQUFERGdBQUFNNkJBTUFBQUFza2c5OEFBQUFNRkJNVkVYLy8vOEFBQUFBQUFBQUFBQUFBQUFBQUFBQUFBQUFBQUFBQUFBQUFBQUFBQUFBQUFBQUFBQUFBQUFBQUFBQUFBQXYzYUI3QUFBQUQzUlNUbE1BRUluZDc4MlpSRlNyWmpJaWRydWdtcmFUQUFBQUNYQklXWE1BQUE3RUFBQU94QUdWS3c0YkFBQWdBRWxFUVZSNEFleTlEWHhrV1YzbmZTdmRuYVNUNmlSRGp5L0FPQW5LanV0SEpCbTZSMFJoS3RBOXdBQlNyVE9ENGtlbzhOWTZEK3drQ2lMNnpGS2xydXd1S3lZOE1Pd3VJQlhaZ1gzOCtKTHdXUnowZWZheElnd3NncENJNktyTFdsRm14a1ZYcTVsVUQ5UFRNMzJlMzNrLzk5YXRWS1ZlOHRhLysva2s5N3orenpuZnV2Zi9QeS8zM0J0RlBIcFBZUGpaTzVlWmZjbk84ekFIQ1pBQUNaREFBU0l3LzdJT0twdmI3Q0FUczVBQUNaQUFDUndVQXNmRmFnZFZQWGx4b29OY3pFSUNKRUFDSkhCQUNOUyswVWxGcy9rYk84bkdQQ1JBQWlSQUFnZUN3REd4M0ZFOUsxc2NPblFFanBsSWdBUkk0Q0FRS0QvY1dTMkh4Ym5PTWpJWENaQUFDWkRBdmljd0lEWTdyT1AwcFE0ek1oc0prQUFKa01CK0oxQVVuYzRPSFJFYis3MXhyQjhKa0FBSmtFQkhCREw1eHpyS2gweFpjYm5Uck14SEFpUkFBaVN3cndrYzYyTGxvTHExcjV2R3lwRUFDWkFBQ1hSS1lFV3N4YkkrZVdzaDV0L09jMVJNYlJmTk9CSWdBUklnZ1FOS0lDTWVpZGM4Snk3RUE3YnhqWEJlYVJzNmpDSUJFaUNCZzB2Z3VQaDZyUExESWhFUWkwMTZjaGVUSWZTVEFBbVFBQWtjQWdJVk1SZHJ4WmdRTTdHQWJUMkxvclJ0UENOSmdBUklnQVFPSklGYTRrSFdjWkd3RnR1MjZvaVkzVGFla1NSQUFpUkFBZ2VSd0doeXlhRWlkaklZT0NHZU9JaXRacDFKZ0FSSWdBUzJKVENXWEZLdWlzUlFZdHZzR1ZIZk5wNlJKRUFDSkVBQ0I1SEFaSEtGb1NaMnRIZWh2Sk54eGtFRXhEcVRBQW1Rd05WSW9KcmNxU0NTODB6YlV5bDJzWVZ1ZThtTUpRRVNJQUVTMkRNQ3VjUVd1RkVoSHQxSlpjYkY0enRKenJRa1FBSWtRQUlIZ01Db1NHeFVPTEdqYlE1Uk5DWTZmTi8zQVlEREtwSUFDWkRBMVVwZ01LbmJkN2JOSVlwR2RyWkVjYlZ5WnJ0SmdBUkk0RUFSR0JlSkw0UWUzZEUyQi9saTFvNitQMzJnSUxHeUpFQUNKSEMxRVNnbVg2UzBzMjBPd0pYak54MnV0b3VHN1NVQkVqajhCS2FURHh2dGJKc0RBSlU3L283YzRhZkxGcElBQ1J3Q0FrL0sxVi9SL3J1cWU5bmd6Ly84bCs2NjdjV1FPUHk2L0prZk5uVjQ2KzMxbTc4N1ZzclFNMC9YYi81S0xLaDdUeUg1Sk9zT3R6bEUwVXB5N05GOXBTaUJCRWlBQlBZTmdXRlJGMktyRkt2UDhlZkh2SDN5NERXb09QRDg2SW04T0d2cjhKOUVQUytFdEJqMkdNaUxlazZJNzdmK3dmcVptKzY0NDlSWk5lVmZQWHRLdWhQckJ6YnBOdWZ3WFJudlZSWFIvMTY2VFo1NFZDVzV4VG9lVFI4SmtBQUpIR2dDS3c5UGZGd2tIdDJaMzFYamtDMjhZRFVhem9sTDRIaTllR01VL1l3SVpteUc4NWQrSzRvKzZRM0dvRlhscTBoZjFaNGRHNGVoY0RuWkNwVG45aVdOaTQ2L01ucWdMeGhXbmdSSTRLb2drTVZiSUxEL1N5d0hyVDJSMkI4V1JQWFNtYjNoSGhUOGFIVC9JeE1RZTB3K0xaVE52MGFXVUZPR1FwYzFyV0poTmV3N1U0ZnZmSS9VNHVMS0doSzhXVGx2K2FCTzIvNy9BU0Y4NGcrZlAzLytEZGdnamROclN6NjRoZXRJVU1rV1NSbE5BaVJBQWdlTndISFpYNThXc1NtU3hmYTd6MTAyOTlNd0RwbDhTVXJKeUY3N3Rib3pQaW1FWFFVWnNhOHdLZ2U3MXA0TWszQlJXaFM1TEN5Mk9saVBHRXZ1VXRqcE5vY29PczVYNzZsZmdQOUlnQVFPSllHajhuTm9SOUFQOTYwYnN2cllCL1hMSmQ5WmNjeVlvakwwZGFHa1Nqb3UzTmNTMWk4YTFZODZ6cmxxVklXZDAxa1g5V1VYM0w3amFOaGdtVzFuWDNPUU9UQzlKVTg4U0lBRVNPQXdFc2l1b1ZVajZJbkxHWHg5VkJxL1ZQRFVuMjEyM0cxemRYYUdjVmpjMEZtTFFuek92SkVDUzlXWGpieDV1M0tNVlFLc1hac0RpdGw4QUhwZDNHZ0RkM0lldC9sdHBvb3R4d2EwUE9OOUcyc3RFekVCQ1pBQUNSeGtBbmhBYU03V1A1dDNUaHVVUVh5enc2aDJtM1NIWjR3QXpwZ3NrMEk4ZlVhN01jVmtYMXlFa3Mybm5ndkJ2QkpXSmN6d1pzVk1MKzJ3M1BYa3QzcXFPL3FhZ3l3TkZteGhoNlV5T1FtUUFBa2NMQUpRalJkc2pVL0tWWWo0Z1Y1NzAyTXpublNIdnJ6WXN1T0JjUlJSTXRtRlcreEZvSGtvcUJyMjFLOFY0bkdWTnRmUndDRXFXcW0ydmp2ZTVpQ1g4WmR0YnA1SmdBUkk0RkFTbUF6bWJBcm5HcHNZN2dTQXVnNk9yZTU2enhnWXpKamk4SElqOTNHMXZCc2xvQ2d6eTFVSmxURTBzL28wei9FT3AzWldrcytzdW5tcWVPTi9OZitjMVhpSTgrSGxTbFBPUXdjSmtBQUpIRVlDV0FHMmI3QWUyNXJZeFJiQ09FeVo0ckRpYk5ZUjVIdUw3RmZaY203cndXUXc5U1gzSjZ1SnNKVU9INnlhRm5aUlE1Y3VWOFpUbXYwcDhaeWNxMVF5WG9pbFpCRDlKRUFDSkhDb0NFQTMyaTc0L010MnMyVXdEZ3VtUEJnSHA1OExiaEN4S01TbVRqQWVVOFl3WjVodUd1MzA1WGZ6WmxiS3RqWDlhdzZqK1llakU4NTYyYlQyTEpLdlo3SVJQSk1BQ1pEQVlTR0FEdnFVYXN0QThOalNMalFPeHNFT1ZHQWM5RElDaXZYR1liandMRk1OR0lmTm9FYW84V3AwYmROdWZaQXl6Vm0yeTl3bU1uMmJ3eEdVdU9LZXFrM0tvWEZJRXFHZkJFamcwQkdvMnJuL1R1ZHBPaVFDNDJCendqaGNzRzV2SEd5STJvbXc2WDNSdXF4eDJ2cElrS2E1TTJrYzByL21NQzBXc0xMZ2FwVVFaNUVsZ3VrbEFSSWdnY05EQUtwV2RkdUhkdmtKSEx4VXowTGNvWEhBM294TGcvVTFtM3VINTFwaTVGRHhUMHA1U1hpaWRnTHpUVE0rSk9iS054MVR4SkxSUXdJa1FBSUhsd0RlYktRZUNrclpBTmZYUnVGUlZpc2Z4bUhXdWd0K1FLR0RQdi9PRzhyeGFhVUkvbHFIeTlGeTNpbytIcWo2NlMxYkI3d3RGcFlMTm1qWmg4UmNOQTR4SFBTUUFBa2NSZ0xRZ2ZKeHBaUU5jUDF0YlZ2R0lmdFJHQXQ1YklhVmdUSHBkRG02MFRpa2JuTTRKdCt4VWY3K3NORFFuVXNZbURDT2JoSWdBUkk0RkFRd2d5SlhoazlDRys3cTBZNXhHQ2tJY2V0ZjNEMmVNQTVZRFhEckZUdXVjM0xra1BlUDBYcFprMjZmdGc4TFhCdzVCRERvSkFFU09LUUVhbXI2cE9NRjNrNnB0R0VjdnRtOGR6VnBIS0xGMkxPdE82dEJZczBCaHViUlJnSEY1RTY1ZUpKODA5V0llRHI2U0lBRVNPRGdFbGlSRDJidTdnWTRDYXUxY2NDSzhNV1NUTnBnSExCT2dxME9uUjJKcDVVd3EyYmU0QlNLcTZZRitnUTBEcDRGWFNSQUFvZVZ3S1JVaitWZDNRQW5VYlkwRGxuTUtVMHA2QTNHQWZhczQwMFpDZU9BTFhVcHp5U1YvUXE1cWtIaUgvYzVKSURRU3dJa2NBZ0p5Rzc0TG0rQWt4UmJHb2Y3M2VzemtzWmhWT0NOVDUxK3p6U3hRenA5bTBNdXZnS2UvTlVUYXlESmFQcEpnQVJJNEJBUXdPek5sWldVZVhmZHRORm1uM1A0MmJ1N2Ezc3I0eUJmRnI2Z2kwZ2FoMnV2NEtVZm5TNmdUOGVYRTliVHRqbEVkc3lTM2tTczRTK2x4ekNVQkVpQUJBNE5BZm5zVDlNbit2djNQWWRXeGdHdnRWRDdMOEE1YVJ4cU4wYlZqaDltWFl3dlFLKzRWMHNGUHloZVZGNEt2RWtuaUUwbHcrZ25BUklnZ2NOR0lPOC9zTlBRdEw1K3o4R1dscm9KcnVKM3htbmpNR1RHRWRFQTNoUUkwOUhoTnJoS2ZDMjdiRGRxLzdtdERjNFlUSzBGM3FRVFVKYVRZZlNUQUFtUXdHRWpNTC9kK21vZnYrZXcvUTdwbWg4YmFPTlFzUXZIaTVnRHc0aW1QdEhSRDVIWXdwQVhsNVNZVWZjeUQ5Z2RmVFJkMWVDWDREb2l6MHdrUUFJSGpNQ2k3NlB2WXMxYlRDdkp5YTQxVTUxSnRRQnNqVU5XN1k2dWJHZlJ0bXRHL0J2U0tFWS9GRHRtdjA0YVlZbGFIMDJOUTR1QnhYYWxNNDRFU0lBRURnd0JkTXpkRzdOM3I5SXRqSU9jejdLVnFjU013eEhWMVllQzd1eWwzVWZjeDQya2VBd0NkTnZYUFlKcnJsa1hqMXh6elRXMitJYnpvSzlhUXh3RFNJQUVTT0N3RUVCWDJTNzk3bUtUV2hnSGJFNXpFejNWbUhFb3o2cGFZdHFwMUVsMXg3eGNaSWVlbjFWU3luUHFwUDlWNG92V1FZeHlqdmwzQmlhajZDY0JFaUNCUTBOZ3Z2UG5RcnRnME1JNFlHVGdSZzZGMERpY01BKzRYbXY3L0R1c0F3UUhpeFZZWUZpU0FrYkRRSHpteDQ4alVzUWY3WERRa2lLS1FTUkFBaVN3WHdrTVFBMDdQYng3bFd4aEhERGZZOWNjaGk2cTlZWEZUVlc1RmJQQkFWc2QzSXIyVG1xTmZLcytQWFlBVGtuZnNkallhVDcyMXRVZ3VjNDR1ZjNBUWlmaWZ4SWdBUkk0MkFSV0x1YzduS0hwcXQzQnRCSG10UzVZV1RsanFPU0M5SVlPUFBKY05mZFRuWlBlQVRjRmhnSFBrazZ3cy8reDUxRHg5Z3hWeXZTNVVFZ3RmS1hHL1EyUFJWVzJIMWlFa3VnbUFSSWdnUU5LWUVnc2RLcG11Mm14ZkZPNHpUOGV2UHpPRFJqS0xyQld5c2xORFlVRnBCOHRPT05RMldaN2hwV2NkcTZGTmdXVFROSTRETWMvTEpjUGt4UWExamFhZjF3NnJUeUdrUUFKa01CQkpGQjVMQ3JhVmRsZHJMK2N6Rko5ZHBSWjlXcGVMalVzcVdyY2oybWpDZW02L21HOG9uc3JHcGFUU0VNRkd4cEZOU1Q5b0VxNnMzL1RaZ2xhNVRLYm5ZdXhIWFV3WExacVNKU1BMVWZJWE9YUWRpZ3gvRWNDSkVBQ2g0eEFOajhsbit5UEtjZStOM0gwL0YxNXFQYjZRK2ZYb3MrY2Z3Qk84Zkx6YjR5eUxuaFZMaEVMOFdMVTVBUXFpR1hqRjlZdVI0UDN5SlRpQmJKK0diMDc3K2J6Z1JxWDRhMlBZbXhTcUl6M2xXTkhkQ25NaDhkb0Y3ei9sNTd0M2RxVjV3YnBKQkw2U1lBRURodUJrOWcxZ0luM3p2WU1kQXBEcmpiclkwRU9XL1R4cUxJSDJyME15ZGZEK2NLL2VxWjRDU3hCQVpaa1FiNWpTUjVxUlZxdVNhZ0R1bjFueDNoc09ma2tmTjlhZUdsTVJQeUJwbGlVOU1Cc1RUUUVNb0FFU0lBRURoV0J3cWJhQ2ViMkZPeEs0NGJGMlRNMzNYSGI2YlBvb1JmclowL2RjY2VwczNscEhHendzcXpHMjVYeWYxZ3E0cEhDTGN0NEFWLzl6RTIzblRwcmpJTk1lK3AwZnNmRzRiaDVZUWJFNHNqVXhGbnhTRnpaSDQ5dGhkRHBndjhuWXR2b2dnZzZTWUFFU09Dd0VCaFRqNE5DQ3kvc3d4Wjk2M2ZkdnZYM2NiM2RnMW9PeFZYLzBIdkY5NjdGeFI3Umc1TjRvUGVObVRkdStCQzZTSUFFU09DUUVaaFhMeERDMnU3Y0lXdllOczNKdDdLRTQ4SzlhQ2xOek9UMjN4Qk55OEl3RWlBQkVqaFFCQWIwSTV3cmUvQzQwdDV4bW03MXNGR0x0MmRVcnlaTHVuYy9FMHNtQVJMWVF3SXIraW1seWQxK1hHa1BteHhGazM3TFhYbzlncmRuWkYrMzliUmtvbHk0eFRvWlNUOEprQUFKSEh3Q1ErWVJUandxcWw1MWV2QmIxRTRManNjZVYwckpFYnc5WS9HRjA4a04wbG11UjZjd1l4QUprTUJoSWxBeGJ4U1NqNWIyZk9GMzM0SnFxZDBMY3UrRE9vYXZUQXdtSjZFR2QzbFR5TDdseUlxUkFBa2NWZ0xaL0p4cEdyYWtMUi9XVmphMmE3N0Z2SkRkcEIxRjE4N2dwZDZ6Y1FtVFlqTWVRQjhKa0FBSkhDNENjZ09jUHFaRitLbzVHM3BZenkzVU8vYlhiWmltbDFlakkwbGJNTjNDdEJ4V2Ftd1hDWkRBVlVPZ1lHZFBvblVoTGw4MXpjYWJYYmR0TENiWlZnMk1peEYyY0pkaVpESlgwL0pNck9YMGtBQUpYQ1VFeHZTTDdXUnI4VmtEODVtRXE2THRPVGRrU21zdTNnbG9nak1md1B2OUVwdkhCN2pMSVEwYXcwaUFCQTRQZ2ZtWHViYmdvNXlxdHp3NjRZSU9zNk80N1RhNHNmQnhwS3g3UmJnQnNuNDFyYzRjNW91QWJTTUJFbWhDWU1CTm5pQUJWcVEzY1ZwM0UwMU5NaDJPNElaRjVsaXpZbDhCSFV3T0ZBcVlhdUpCQWlSQUFvZVhnTmtBcHh1NEl0VEQvK1dwdzl2ZXNHVzU3ZDVDdTY1UW1PVGppU2RaUjRSNjRVZ29qRzRTSUFFU09FUUVobUxUSTROcXA4Tkljc1BYSVdwdnJDbnI0YWdwRmdQUFlqaFlxQ1pTVG00N0k1VVVSVDhKa0FBSkhEUUM2MllEbktsM1RZZ2Z5c3p2MWpkL012L3R3OC9ZRFdDajUvL2lwOUxLR1JZM3BnWHJzR20zQnc3K0hHYVIvbWpOSjY3RnNma0l1a2lBQkVqZ1VCQ29UTVdhY1FLckRqbDhVR2RYamljVmR1bGxUbkxyOXcrbkxiSlh0MWs1cUxsdER2Z3VxWnhpS3E4NUtvTjg2WjVqUVFjSmtNQlZRV0RrUGZsYk5uYW5wZDhzeFBmKzV1NFVOZnFMdWVTbmZGVEJBNG1saExBMmViSG12SExwT2hzODVWc04zQzRSSFNSQUFpUkFBdDBUR00yTEYzVXZwVjBKSTNuaEg5bjFtYVpUUDlrd1d2anhLQk51K1RnR0kzTHNjWmR0ZUJ1YjRoTFJRUUlrUUFJazBBR0IrOFhGdEptZURpUzFsZVdrU0Z0bVB4RmJqN2VDMW1FWWhzTVg2dzNpQ2QveXNvMk9LdHM5NWVSUzBVRUNKRUFDSkpBZ01GcjRtMFJJZzdjY1BnMGtZek9GZnE1MTRGVkpjdzExd0ROSmFhL1FtTWIrdCtQaGE2WXl1U2VlN3BlZ004RnFSSXBJQnBFQUNaQUFDVFFoc043eTFVT1pCbVg5NXY3cTNITHF4MzJ5YjBwcFFRMzdvZU1QcXo0cGQrdWFTNWo1b0hQU1FRSWtRQUlrc0FNQzgrR01mV3ErSVpGNGxkMnYrcmVncG1ib05qRDRzRnNyVWZJTG92T3BxeEd0Y2pLZUJFaUFCRWhnR3dJMThkZzJzVElLeGlHWVJicnU1MStQeDAzNytwalU0dll2WVEyclc1RkxEa3RoQ04wa1FBSWtRQUk5SUZCTW5lQVBCY000ckRyL2NWaUc1L1RaT0JUYk53NGo0dFlDQnc3dTE2R0RCRWlBQkhwRklQc3JNVW5ETnp4NFNoNnY4S0Z4NDNEMk9mOWpkUDhZaCtnenVaZDd5K1hyVEJjSmtBQUprRUFQQ2Z3T0JnYjZXSEJTWThaQmh1NG40K0JxU1FjSmtBQUprRUMvQ054clRVTzRzNEhHb1YrNEtaY0VTSUFFRGdTQi95TEVyYis1bHF3cWpVT1NDUDBrUUFJa2NEVVJ3T2ZsZmlTbHZUUU9LVkFZUkFJa1FBSlhEWUY1OFFOcGJhVnhTS1BDTUJJZ0FSSzRTZ2dNaXZRWEVkRTRYQ1VYQUp0SkFpUkFBbWtFVmxKZmJhYzJ3Y1dmRnVYVFNtbjRHRVlDSkVBQ2g0YkEwQVAra3hCRGVFMVI2dEhya2NOM2JLazNIdDEzZS8ySDEyU0JiejFkZjlWRVdQSU9Oc0dGMmVnbUFSSWdBUkxvQ1lGTTdXSmhhODJJT2lLbTBvWDIyRGljdkZpVG03TC9RTno4SGpXUDlUUGkxUS9FN1JLTlEvb1B3VkFTSUFFUzJCMENKeTlGeDl6M2wxZTJtaFRhWStOUTJ4Z1dEMGNueEd1aVNMNDJiMUQ4Q2I3ckdYdFpFNDFEazErQ3dTUkFBaVN3S3dScVU5RE4rT2F5T3ZMZmFGSW12dXZjd3pXSG9VdFJKTVJFK2NkUjJqRjhwcWYyYmppT2lzZUR3bWtjQWhoMGtnQUprTUJ1RXhqQldHRU12WGgxak9BVGF1a0h0aitzeFdLNldwQWVneG5JaTQrcVR6c1BpRXRqNmdtcDQ3WVdxcHhLK0dtM1dNbjBrQUFKa0FBSjlKM0FFZWpwby9iNTFiSEVSeHQ4NlNkNmFoeld6OG1SUTM1VHloOFI5Zms1NlJpTWZYRm9NcjRFSVJQd0lBRVNJQUVTMkMwQ0s1dFJ0RzQvNXpCZWIxYnNtRWhFZFRWeW1ONkk4R2s1L1pWb2pFa3VxbEtQbTdPdXdwRmtnYzFxeG5BU0lBRVNJSUhlRThpVjVKcXdtZTB2WWkwZy9hZ2tPL0pkR1lmY212eDZrRjdmR0JDbTlHT3h6OUVoZmk2OUtnd2xBUklnQVJMb040R01IQkRrN1ZMRFNwTmREbEhXSmJFVjZzWTRaTERPQVp1d3FXVGh5MEVieXVFbXQzUVJLM2F1UzN2NW53UklnQVJJWVBjSVpKK25kaitYZEluVHpSNVdtbzcxNm1YaWJveEQ5Z2ZsUTBwbWhmdW9uVDlLckRJTTVjVVBydWxxOFQ4SmtBQUprTUR1RTBEZjNSUmFkcDl5VUk2TFpzL3laMTh2NnN1SmVuVmpIS1NvY2J2OHZHNGZVa3ArTmZwRVFkUmZZV3FRS0p4ZUVpQUJFaUNCdmhPWXRIbzZxc1dOZzFoUVphOElzVlZLMXFKYjQxQ3hleXVjVFpnWEYyS0ZaT1JYaDNRTll1SDBrQUFKa0FBSjdBYUJGYmVsWUw2dXZoMXQvNzFTbC82WnJ3cnhZOG1LZEdzY3F1THJXcVN6Q2NsbGphclkrazRPSEpMYzZTY0JFaUNCM1NKUUVMT21xR1pyRGwvSWk1Y21hdE90Y2FpSkdTMHhaeGFtSVhBNUxPT2tYYWdPQStrbUFSSWdBUkxZSlFKWjRkNjJ0MkoyU2plVWpHV0o1WGhndDhiQlBxbUsvUTRiU2pJZVh3ckhDWm1jdURGZUluMGtRQUlrUUFLN1NBQmFlYzBVVjFFdnRFZ3J1eXd1eDRPN05BNndTQ1VsMEwyMDZXajhnYWhCWDZ0NHdmU1JBQW1RQUFuc0JvRkFLeCtOZGQ3RHdxK05xKzd1SG1XRllPeUwxdU1FR0FGZFRzVnUwOWJlY1c1ekNQblRUUUlrUUFLN1RhQW9ueHNhZnE0c2RqRDIxdXl3SWs2SDI4QXVSdzdIaFhrNXVOc1hQUzlYcUFmUFdma0pXMkdEZVNZQkVpQUJFdGdkQW1XNUhpM2Z2eWVIQTNDbUhwajlDVmNFdWg0NXVPM1E0M2FiZzNwWWFYM0dsbDUwajFEWkVKNUpnQVJJZ0FSMmp3QldoT2VpcUtLMWNxM1ppalJlZGJRV3ExTjg1UENPTjlySWR6eGpHOWZ3K1ZVVHUyNjNPVmdqZ0FKS2VNdlRuTTNON3psWUVqeVRBQW1Rd0Y0UTBDdkM1V1ZWOW5yaWt6NnVRdERkVnEvcnNKaHh3TU5NQ3pvWTAwL2J1TXB1T0xCaTNyYUhsLzVkVURuMXZGVitUWXVKSWhvSFM0Sm5FaUFCRXRnTEFnUHkzVWJxL1hzb2ZWQzhMTDBPRGNZQkFSc3VhVVhZK2FodFhUQW85c1hmYWk1TDVpK1lUNVFlazl1MGgvRm5EaG9IUzRKbkVpQUJFdGdMQWlma1p4VEdIak5GRi9SSEZob3EwbUFjOFBXZkpaZXFLdXdzRVZ4bTUzT0tDM25NQTZ4NEVhekpiVGRaaklrbm91aGF0ZktoeE5JNE9McDBrQUFKa01BZUVCaVZENmxXejVtU1Q0b1hwZFloYmh5dXVlNFQwMEpjK25kL2VJMU92QWlQYzExbzZzSU1sckVKV09nb3FXUVlUQ3dveDRBMERyVU5uUmYvYVJ3Y0NqcElnQVJJWUM4STFPclI0TmFFS1JrZmJwaEtxMFRNT01CakQ2M05qOWl2dVVWd21meHBycHd3azBqdTRTY01KblJ4bWZ3ajBUZjVXU1VhaDdSZmdXRWtRQUlrc0hzRVRvcFhpeDl5eFYwdjZrOXpIdTlJR0lmNjJWTTMzWGJxYk42c08yUWZlTUVwblRiejN1ZVpUR211TDU3OWpoa1ZQV0kvQ1RwZ2h4eXdCZy9LeDZic3daR0RKY0V6Q1pBQUNld05nYjgrKzcrQ2dqRmY5SStyZ1Y4N1k4YWhJUllCTjZVRk5vWWRPYWZEM3Z0dWZjNDhzR1FTWmQ2dzlZRWdQWTFEQUlOT0VpQUJFdGh6QXRreXBvejBxN3RmNFN2VDBqaTgzS2Zkem5WMGM3dllJSTdHSVlCQkp3bVFBQW5zUFlIczYrMkNndDJ5Z0RxMU1nN1pacnZuRXUxWm4wb0VOUFBTT0RRanczQVNJQUVTMkNNQy85ODlXRG5HWVQ4VGltcTBNZzRqemI0K25XakN5a0lpb0ptWHhxRVpHWWFUQUFtUXdQNGgwTW80akYxb3I2NjE5cEx4VWRaMk9URWRDWkFBQ2V3bGdWYkdvVGpWVnUyRzJweDlvbkZvQ3ljVGtRQUprTUFlRTJobEhBb1RiVlh3bU5rKzNUcnhvcmpjT2hGVGtBQUprQUFKN0NrQnQ1TTV2UmFEMk43Y3pqRy8wVTRxbWFacTM4elhiZ2FtSXdFU0lBRVMySFVDZU4vRjFEYUZWamUzaWZSUko2NTRkd3RYMmJ5dHRVVXlScE1BQ1pBQUNld2xnWnA0ZnZQaWg4eG4zWnFuMERIRm1WWXBiRHkrTVQxbjNUeVRBQW1RQUFuc1Z3THI5b1VYYVJVODhUZHBvWTFoZjkzZXlnUXluaFJOWGcvYktKUWhKRUFDSkVBQ2UwWmdOQysrYi9jS0g4Nkw1KzVlYVN5SkJFaUFCRWlnVXdKL0pNU3pmcVhUekR2TE4vclJuSGhrWjFtWW1nUklnQVJJWUc4SWZBYmJwdHZjQjkxZEJVZXdPZnRWYlU5QWRWY1djNU1BQ1pBQUNYUkpJUFB6Zi82bUxrVzBsVDM3N2YvNVkyMGxaQ0l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SUFFU0lBRVNJQUVTNkNtQno3L3RTM2ZlOXNLZWlxU3dmVWpndXQvNzdlOTZNTGU2RDJ1MjR5b2RvcWJzdU8zTVFBSzdSbUJZeU9PUlhTdnZvQlkwOEtGL1NqdVdWSHYrNWY5TVAvNXFIN1cyckg3b1EyRWNhb2VuS2Z2b0FtRlZTQ0JCZ01ZaEFhU0p0NmdVVXNPL2I4amtRdzNCTnFEVVJOb2VCSmRWbldnYzlnQTlpeVNCQTBrZ2U4TWJvRFU0Y21qMTQzM3h0cnpXK0dkT3FlTzA5aW5qY0Z5N1UvN3ZJMTM4aTNmS0JyUlZvWkhDajdUQ3NZUDRYOTZhMmtIcWRwTHVvQ250aUR0QWFiNTRadU1BMVpaVlBmZ0VycWR4YU90SFZBT0VCWmYwczYrSHNuMWNlc2ZoK042LytLOS9lTTAxVDYzQytYZHcvZkgvKzY0eW5CTXU5VDV3RE1FNnRHVWNVUE8xbnRWM1VJaXRuZ216Z3VSUDBWWlRiSWJEY2NZdy80bkQwUksyNG9BUXlOSTR0UGRMMVlSNE9FeDVyeEFYcEg5UmlEZVo4QXEwbGsweTc1MDJhRy9QMCsxcDFCRzBZYU5uTlMxQzJsVFBwRmxCYlRiRkpqOGs1OGwrR05wRHdvYk42QStCdmhxSFRQblovYWwxVE9xdWxKSVg0bkpZYWpZdlpxVy9MSDdjQnE4SWNjbTZCOFJGNjl3ZjU4WDJqTU14cVBQbG50VjRIdEptZWliTkNnTG5xM0RrZ0ZidnMwdksvaDQ4SDFZQ2ZUVU9SM2FsLzd3YnBXU2c1dFJJd1YwSFJYRk91c1hGQ1J0VUZ1SlI2NDd5ems2NG9KNDVqdmxpMnBaWmJFK2pqcU9kYTIwTGJaV3cxa0N0Vlk1MjRyZHBTcUhVam9BRG1XWStNWFE5a0kxZ3BROFVnWHcvRjZRWGQyWG1mVGRLa1E5MmJjWisyR05pQ2Y1aDhYd1htaGZpNjg1VDd1TUU4WkVPakVPbFBlTXcxbE1WQklXbVRhakQwZ3ZITnNZaFYrcEZBZnRTeGtvL0JtSDdzcVdzMUg0aDBGZmpVT3ZEZW1RanVDNUwrZWhhbzhpR0VDeXRKdWJpQjhRY1VvMkprazJMNVp0Z0RxWGFnUUsza2xxZGozWWd1OUtlY2NCczJWU3I0dHVQWHdlUzVmYVR0NWx5bTZia1MyM0tPSGpKeHNRVk4wWTllTFZualE4aWdiNGFoNzdPV1RuYTNaVXltaGdST0xFeEI2YXVFaFBkUThwWWpGOXh5ZVJhN3B6enJhaG5tWnkzcDQ3eC9obUhhT2luZWxoVklPbkQ3Tm8yeHNHYjZoNjJZcCtJK3IyMWZWSVJWdU5xSWRCUDR6QWFUc0wzRFdpWHBRd0gzZjNtZFp5RTVvL0hqaXBGdEhqWmhjb2REeVhuVzduZ25EMTNyUGZST1BTMnN2ZDlyZFJiZ1ZKYWMrT1FEWDZBM3BkTGlTUndkUkhvcDNFNEVVN0M5dzFybDZXTTZLZU9XbFJ2VVFnL1JsQnBzMm9rVWR0MEdZL0NPUGlCLy9TTWkraTVZK1hBR0llZU4xMEtiRzRjUm1nYytrS2NRcTlPQXYwMERsamQ3S09LdEw5WGw2VzBaeHl3dEpwWVljNUtTNUFSQzdZYUVTYllneDFmODVzdW91ZU9NbzFET3RQak5BN3BZQmhLQWgwUTZLZHhHQThuNFR1b1czdFp1aXlsUGVPUVMyeHppS0pST2MwMEVwaURsZGphUjIycXZkcDNraXBQNDVDTzdTaU5Rem9ZaHBKQUJ3VDZhUnd3L2k5MVVLVWRadW15bExhTVErTTJoMmhZMm9XeFlEaFJqcTJ3RkpaMzJJejJrdzhGMnluYXpnVktxMjBuM3Q4Sm16ZWx1QnZYMi82R3c5cVJRTThJOU5NNFZNTkorSjdWT0Ntb3kxTGFNZzZOMnh5aUVibGZkVEo0SmlrZlcySEorL21tWklXNzlZL1JPRFN4Y3pVYWgyZVRlTDRBQUNBQVNVUkJWRzR2THVZbkFVZWduOGFoeXcwSXJvN2JPN29zcFMzakVHNXpHRmxXOVRraEg5SmNPZWZxSnJjNXpEcGZGS3hOKzhEZXVDbzBEdW5HQWMrdGxYcURtRkpJZ0FTaWZocUhmc3IyUDEyWHBiUmxITUp0RHBNenF1d0JPYU5VVzNiMWlHOXp5TlpkUk04ZE9ScUhkT09BWDZuVWM5b1VTQUpYSzRFdVZldDIyTHJjZ0xDZDZDQ3UyMUxhTWc2VEdCYllNcXRMeWpYMEF6aWR0WUZSSkxjNUxEdHZ0ZytidjR4d0ZNUUZhUWM2ZEpScEhFSWNkSk5BZHdUNmFCeTYzSURRWnJ1NkxhVXQ0N0FZYkhNSWw1cXY4WldVMnh6V3ZQY1B2YlBITHFqQWcyNGNodjdaVGZZOTV4M0FxVFJaVzQvdlF1eEFNTE9RQUFrRUJMUnhHSHBEL3N6ZnhzZnFtZCs0dmY3cTd6WXByM3ZiYjkvNTRCbDQ3anY5OHFlNTNMRWtMdFE1dXR5QTRPUnM3K2kybExhTXc3emY1cEFOVFVCUXRYVWgramlWNUF2NkpSaWhwSEg0NmEvbXovemptazhEMTlBelQ0dWJmaUtLM2pLbmc1dHAxRERUOEFQMWZ4LzY0MjVJck4vOGxYZ1lDdDU2eFVJMDlFSVRIQ3MxODRsMzN2Q2gwM3FjcGVJL2g5VHZuOEFEd0Rtd1dvMnluL2p0R3g0OFhVTFVPeURaWG1wRzBsUHV5ZCtTdUNKSG4zbjcxa080U0pzMFpSaFNHNmFWTXI5eG03K0tqV2gzYXZPcVRqWVMrWjl5VHk2b1hmWVQ3MEpEWjVUY3o3L3RTM2QrVmQ0cFVaUXVQbnJLaDNMMVYveTZTbUgrcGJRMWpNWjJtbitXdjNVaEhrUWZDWFJKWVByc3FUdnV1TzEwL25LMEtGMm56dWFYb3VoRS9jeE5kOXgyOWh0S3RqSU9JM2x4Rmx1NFNrRnBRelZSeCtjd242ZUR5cmp2NUJhdjYwVTlYN2ZKNGttQ3ZKaGp3YU03OW9BYTZOUFJrMUxhTWc0RnY4MWhvSWtKV09uTGU0U1M1RDczT292VjF5aDZ1aEJuOFBNc0I0bWZsQmV2dlBPcjRpWERZbE9IVmt4M2UxQ29DeUcvRVNRMnp0RkNQYWRlTmRzWWhaQ0J2RUMwK1A0Z012TjBjZkY5VUhYTGkyYjNlTHhVT1pZU2djQS9VUDVMRTVuQ0l3c244YmJXUmVVdlJkR1hjVlVKOFgyQjVPanRhRkplYklXMS9BelNuSmF0cktTTkhMSWZ6U2x4NnArNzRrWUtRaUQ4QlJPaGJPY3V5OFN0cnVxR1JpTDdSNUFOOXMxMmszUkRacVJjL1VseGZZbWtpbzkrVlJZcXhEKzRXcVMxMVVkS1YyWWV0eWRmdXhlSFFsKzNCS2IxbFNoZ0hJeHJDY1pCTzcxeHlCWmVzQnFoNHhYTWsyZHI0dUcxNkNsNUlXZlc1U2R0Y0d4Rm8va2ZuYWhCbURvU1NYU2crVCt1aTlEL0YySlJQZlQwcEpSMmpFTzR6V0V5b0JTMnBTekVZNkcvUCs2VkFLejVIYUovSmQ2L0ZtV25SYjNreWh3V2o2ekM4MjM1bkgxbGRzVVpCeTFodzZWMWp1SWpheU5OWCtBK25MLzBXMUgwU1NGZTdOTGptbm9qUEprdmI1blAwQ1JLVFJnSHpQcDhZT0twWmZIRVd4NlppRmJ3ZG5OOVNaYWlUOWN4YXNDQWFNbEwvcUlRejRneTk0b3QyUXA5UEVtSUgxMkxoc3BYSm14VGJJdzZ5K2NCM0dGekRlWEVqMDFFMzRJeVkybXRweXd6dExxcWs0MUU1amVMaTc4ZVpYN092YWRYTjJSR2lrMHhEckdiSnZwZElWNzFzZXZlVlJCL1kydVIwbFliWmM0ZmgwVmNGRGNtUXVrbGdhNEl2UFVlZGNNODUwM1I3eitZaDdQKzBESXU0QWZVVGZGQkpWbU9ITzdIM1JwRitBalluQXFTLzFiRUpSbUdSemhMMHFzKzY3NFZYZnRFTk9BK1NKVklJcE81WStTRzgrZlBGNFRBLy9QLzNJWDIydEdUVXRveER2S1czelMxcnpVeEFjRDdlSzhiMkNqdnJlZlAzNFgxRDhuMS9HdDA5SUJRamt3dFVPelRGOWRVSkJUeU9aMnFZb3lEbk5MQjhjb0ZIUno4VjI4U1RPdVVxelRUNmhyQjBORmZKQVAySTNobFl4d1NwWjY0b1lhU2xrd1IyWng0S1p4NGZrQmVVdE9BOWNrN0M5S1R6YXY2RjRMcVE5Ty9XMmFiOXhObytBajJzMlZRdHZDeVNsb2xod0FFeFQwa3daeVhsNjQ4eXJwdmt6Rm5IZWovdDNOVk56UlNQbnFnYmRhVHJlMzZwQ3hadnlrbWU4TWI0TlFqaHpUeHVLRitSRllnVTYydjZZcWt0RlZIdVA5RFlrcStHejd4Ymk4WFRRY0pkRWhBcnRMOWdNb0x0VzQvU2JDQ0taQTFMUkRHSVpzdlNUZTZ4N1l2S2djWFV6TE0zNTY0T2JlaVdpazZBaWtxcGpHSkNnNytkYmtCSVpDMG5iUGJVdG94RGdHNkx6WXhBWWx0RHR2VnVNczRhSlBZbW9OOURaODNCTkdJZTZkVk9Xa2MxRk5WVnhwTlF4U3ByMFRrbkJHTTE5SzkwczRhQWtTdnlEM2k4aml1alVOanFkREt6amhjSzdRNkxLckVGVld2YkFIRzRWcmRtc2xBNVZmTjk3cHQzd1JsVksxeUhLamo2bDFWNVNiL0lhSVVobjJUSFFzRFdWcUwwVTlxZVZVbkc0bjdwR0RidENMMDZGdUZPZVN3bjNibXNVRjhWTE5WeWhTZXI2dWEwdGF3RFhCWEpDQmNndW1OVGlTbWx3VGFKNUJ6VDFqbTVQeXFPckRoZDhNNFlSeU9tRXU4N09KaEU4emtDWVlUYXpybHROZ2FlUmdxUkpodHp5bEpqRWg3aXIxcnlBYjIvTnh0S2UwWUIxRFF0K1pUZnlPMjB5MW9EUFNQMVJsQmFEK2NDZU9RRmE5YTA4WGtYTjk3MHVuQ0l3M0dBYU9nSzZscVpuNE9ZcG8xYi8zaVYzUWg2QnpJZERneVRqVkdPZlYxNDVSU0p6MlVuSmwxZ3cxYndnRGllNVNNQ3RSNVlVRTVFVDZqSEdxOGlpVHlLRmhUREROaGduQnROdE9UQ2VPUXpiazhpODJtL0ZwZDFRMk5qS0pQMlhzRG53RVV5NnFhVVZUMHRVYzN3Um9IREpEaU53MHVKTk9NM3pmZmtmVU5jMjAxSXUwcG85YUg4S3RQMlJDZVNhQTNCSERIVEdsSmkvNml6VDlpaGNNNFZEZTBCeGY0bW5iaHFwL1JMc3dDbk5PdVJiRTFpVURjdzhyRXBDWFJDZTMvVGpjZ1BQVm5teDEzVzlIQnVkTlNuSWgyak1NNDlKRTdsbHpXMEFFdVRsT0U0YjEzSjR3RHRJc1pTQlJkeDNuYWJjb1lzVDlmeFdwVS9IQ2x0RXFONnJmTUJsODZEVk5CSSt0Y3NDMm11QUgvVWUwVlpSeFNTa1ZYd3VEQ1FITldDY1FQWnZ2YlVRU3cvOGFzQjBEdzQ2WkVYR3JHVlRFVFZoZzRxQ0prOEJoSXI1cjQrQW1YZWlrSU9lTEV5SDczUWhEam5hMnU2b1pHUmxITzNodHljc3cyQlEyWnNWSUQ0NUFRajNrdTB6TDhDbm9QZlVwYnJSeHpQcWJtay9DcmJ5WWk2Q1dCTGduNHl4WjNxcjJwYWwrM1V2UGlrbjd3RGk4S2N1T0pkWCtYMVd5ZnF5aTJxaVhNK1pwN095MkpsYW5QVUFldWxIak10cjVNSHZkTmsyT2pNV2VIcFhoQjdSaUhZbGlmbEVwQW1oeFJyWG1wZlhRbGpJTXNlRUlWaDI3cE9WMnU3c2tydHcycTJCLy9tRjhLalZWeURNTkN1WjU2SVJacVBmaFJ6STlac0dyYURVcWc0NVhtVGlrVjQ0d2xMV0xTalRqeVZrRWlZbHlJZTJkMEFzeHFHak9CUzh6WUgya0lsbVYwWURuazlLZTdqblZXKzMvRlg3WXlxT3lzamRUb1poYkhwalhuVmxkMVF5Tmw3MmpOQ2praTZoUGFqWWFZZGtSNDZZQWJPU1RFNDZlN3JOTURqREprS1cyMXd1MTVSZFVjNXMwVllHTjRKb0h1Q09CaU5qMHk5REduakt5Y2RlQktkbmNpTHZBNUhWL3c5Ni9yMlZURTFta1orNWxYcnNwVFdoSVo3Zy9jMkoxY3p0QURUWTlOTDkyNk9pekZac2REOTZaSDYwTWFYZE5tRGZoRHQ2TnFxdmtOYWRhRC9tSkRaRThERXNZQnY1b1pzc0JPNmw4NlkvVTN5cTJkMDRWWGJNWEwwZ2lrSEJXWkZ4ZkxiRXFjbkc2eW5ZU3FWWTZUMXU2Z015K05RMXFwZmhwbHhkWVNPdHRyVjFpMlhNa1U2T1lIa2NsZU9IWjhPdW1NREJKRFFQcHZnREtzTUNTTDliVlhBaVNtUEhWcWRWVW5HeWtmMVZBOWVaVWJSUmk4K0JWc25XR0luSEZJaUY5MzNYODBTTTNzcHJRMXJCN2M1cE1oK0dWTVVZbDRla21nWXdLNHY0dzZnR3RXaXdrMmN1WDlWWTA3ZFZQRkk2SHB4S20rbmI0VEswNk9USk9hUkdWMi8zQy96RG1QZHd3L3NQVUI3MHR4dlJmM1RmcXh0ZENZdkVrcGpRbWJoYlJqSEFxdXg0Y0hLdE1GcmV6S05nZFpkb3B4MkZCMXdvVE5ZOWFoenZMZnRGRXBGYU5SanplYi9GSmZKd0xOVFpjMWRPQUhNWmNFQkMycm1Jb2ZaQXhJNDREaVhRNWJxamNPTmFlNHA5MEFWWTIzN0F3U3VpbEc2eTRHQ1F6NCtkQWVRSUMrSkYxeHhySGl5cEFCazZGdlBQUUUrZENhd0ZnMlh0WEpSc3B4aXgzV1FJeno0TjZac1dKanhpRVVqK1ZvTzd1RitpaER0dGpZVml2R25BZjFmQnFHR2t1SkdIcEpvRnNDd2c0RE1ISzRySVdkMEJlYzlPVDljQUxYbjlZa3VLVk5RalhETzZjeTRUWnlnZXE1VitkRDUxMG5VZW5jUDJRb09ZOXpaSE5iNzBsTjdsTHN6SkZleWc1a3RHTWNjQ2RmTUNMbmZiOHhWa2paYXVaWWFEODhDZU9BWDgxb0hPZ3R2WlFFTmIxaFM3YnZqUVduVllSbENpK3lNWW16ZW1RTnVxcVVDTmZlbkZzcG1MUy9kc1dhQzlncll4d2FTdlhHQVFJV3RLaHFvT2FnVTUxdXp0bk9mU0ZRL3ZyNVhFeSsrQ3MyZ2dEWmxNWmpKVmI3NmNCWXlTSFJUR01HUEFuVTRxcE9ObEt1WGx6d2dzcjIzbXB1SE54dG9zeW5OWVc0WjlUNHFiR3RYcmgyVGVwbGpjbmdOMDBtb1o4RU9pUXdiKzhsWE1CbUhmcUk3bUZLZ1hsMzA4cW5WUFVOVkhSRERQVUkzVGxWY0NVSVZFOW56S3BnL01QOW9wUFlBSDJ1MnJud1dQREh4VlJVZFFvaEZ0V1JKNzJVSFlocXd6akltYTVOSTNMUmphbmlaWUNqbkplSkhhT0Z2d245STZlblFtK243b1J4UUcvWDJpczdlQWw3dDhVbFhRNSt2bFc0UGxWZlN5OVhmZGhPZG0zVG94Y2RnWEdyMnllOUtoNjZoRnhwcFhyakFJU3lmQndyd2VXQ1M5SXU2V0kyUm10TzBIYlRNbGp5bFZZQnFqMjRaS3BPbEpMbi8wRnl5ZmxRbmNDZ1lNck5YL011alRJT3M5NWJESzV4ZlZVbkd5bkhJOEhGanFvc3Erek5qVU1nSHMyd0Q0Sms4Nm8rS1czMXRkR3VxaTRPUDREaGwweEFQd2wwVEFCWC9KektESWU1NjliOVNuSGVxM0JuSE9hZEpsRHpSeGRVN2tvUUtQYy9PSFVwcDVoMGtuZ1ZhN1pYRlF2T1hjRzhpTC81WTNHZGVOSkwyWUdrTm93RDlJVHJpaGVEbm1CUUN2cTJkczdPaDY0THFUVGRVZldLMElWMTRFZ1loK2lYdDZhTUZHY204S08reG9RTlRXZ0hmajRvbDlIOGMwMTQ4blJDcWkwb1ZLdTlFdkhEaFdlWmtISDd5OHUraGhFZS9aU01UQ20xRGVQZ0xrVnJIRERBdGRZdWtydW9JUmxsT2hzU1JkVm1lbklsTkE3QUZMUUZnNm5BVkppbTRBUXNtOTQzSC9qMFZkM1FTSlF4NXpNZyt6bmxhMjRjTm4xcU5NTlpxSkhYNHVlUW0weVRiZlhKdFN1M29NNm9XaktHZmhMb2xnQ3UyMWtsby93ZGRwUXd2ZW1FNXYxRjU0d0R3dVpzQXZSdHREckVmZUFDbFNKd1BwZkU1dEZuUENRYkQ1QytBZHpsNjc3SXhnUTdEVWt0WlNkQzJqQU9VSEd1MjdaNElWVTRWRkhqblBCOGNPY2psKzRzcG1iZlNXRFNPUGk4VHROTW96WS9OdUVqNE1MUEIyMjB1QlVQOVVtRy9qZmM2RituMno2ZlRpcnFUZVdWSmhPdmtmQkhTcW5lT09Uc3RTZDErNUxOaEd2emduVmI0eUQxc1EyTGlxcmErTzlzU0x2R0FSTTNUaE1yczVmNithVktpNnU2b1pFMU8xWlFWWnkwRlVPbFoyeWw0MnNPY3paWVdickh2VSs2VXRvYVR4QkYvMU1INU9MWFVqSVYvU1RRQ1FIMFRuUzNTM3pCM3BaNlM3UVNGangzWjQyRDdBVnYySkxRNWRLNWNSc3QyMEQ1UUd0S0VoY3RIY2o0YUN4QWVTWnhsMWRUaHhTTmFkc0pTUytsVmM1d0s4VmJ4WXVDZlJWM3AyV0ZQblRkdHVwbVdnbzU4UkhnTVVuY1k4RGFuekx4bENxclJXQWJ4bUVTdFJGYjcxOE5KRldrbGowUnpzNEVrZFpwcndEclR6czc0NEJoQm83bi9LWkxOQ245OFZLOWNZQlNMZW1VMHdJemkrYUFjcHkxYm1zYzF0M2FOMklxeXFiTUJ6YWtYZU13SGpNTzhuR3JraTBwT0VQK3N2T21YTlVOallRY24wRmFTbjJSTnpjT1FlcDRNMlN4NjQxdGxjR05CK3J4UkdNb1EwaWdPd0xRbjJwMlkzZ0xGNy9xcCtuNVpTMDFlT29jcW1GV0JzcGVjRWs2NUlHclVsLyt1STFLS2tUK1MwL2lvcVVEdmRDZ3QyZWpxaWhpUlR4bXZWMmYwMHRwSVhhSFd5bWlZakFuVVo3U3dvZk4yUlFGNWFBV0dJMVhuNHJoV0V0T3haVmkwUjE2MG8xRDl2YytmS2NiT2NpZlJ4NC83TTFEUlJvSGFLZTE3VXFGcm5LOWd0UjBuMy9uRFdVN2NwQ0xCL0s0K04wbWFVcXAzamdzT3RHb2hLdFdtazZGV04rcm1GUlhYUzdvbDdkckhJcWhHRFhVWFVwcFVxWFZWWjFvSkViSjRhK0krdXVadzdTR29MaVllS3lxZUZPbzY1TFMxcFJLSWdpVFhKZlRZeGhLQWwwUXdEVXBjNDg5RVJYMGJUZW9MMmdsTXNVNFFPR0ttLy9KSEEvYURoaXU4d1ZYaWZRa0xsbzYwamNnRk1SbWRIeHJPWmF5RzA5NktTMGt5anU4MmJHWmtuYzZXQTgxVThEUjVJVll3blczbmhNRVozOGw4R0FuMXkvRXZKMTYwb3pENTk2ZzIyTW5zS3VtZVZzbFcwb0ZLbGsrSW5QT0JxU2QwZEMxdEhBZGx2MW9RWXZkMUg1NUVhamorMHllcXZIN1VyMXhHSGMyeFk0UVpLWTBuUW9wVy9icSs2ZUM2cWpuWS9WR2dsVlRZdnkwRWlwdWVQU1FWNmZKeFVTNGZKVldWM1dpa2RJQSt0dEFQc09obHpMU0dvSkNZdUxsNkdYR2xhd2MxY2EyeGhOWUg0Yi9GNnliWnhMb0dZRnBmYzlNUG00MzhCd043cG9VNHlEbldjUGpwYW9tbGZDdVNFOFNxekZ1bDdsWWdQUmdIRExWRU5oTlFHb3BMUVh1YkNzRmJLclhNM1l0ZlhvcFZncFVVV0J4WTFHOTlxUVloNC9BTlAzYXYxNXpJNGRvT0c5K3dJc1Rwbmo4ZkI4clhBeXNYRnExOHVtcnRqcnBDRERjK2hkM2p6c3RqM2VGbStPSGRJckdVcjF4Z0pMVjJnM0RWMy81cGVuVWFTdFZuK1huUU9EYTlQV3R0bVVjSU1hWEk3ZElKeFd6RWxocGVWWEhHeWt2L0FWZkZSZ0gvWWhWV2tPUUxDWmVOdU9jenl0ZEtXMk5KN0ErRkxScDNUeVRRTThJck91bEJqenhQcWtmVFNyT2V0a3B4a0hPbitPT1RCeTR6bjFnZXBKWURwUmFpZ1ZJRC9yc3dhM1ZFTDN6Z05SU2RpU21qUVZwOExoZ1pkcEZpYnlISWFQbTdRRExwdXZmdWNFNFpGRDQ4OVpRb0RjTzBaTlJaM1ZveTY3VTFIK3FmeXdmL29nTlZjU3YwM3pDNzV1aEI3K0NMT05lVFdYS3BoRDdQYWVHVXIxeGdIWitRaFdJUHZDU0t6bE5wMEpvWWdaRnJnVnN1anhSdFZralZzSkxEbEJDTWJuZ04vU2lwUGIyUDJUcVZSMXZKR29mWkpBakI3MGFsZFlRRkJNVG4yaUdyRVU1WHNtZ1lnbm5wSnVWUzBUUVN3TGRFTUFkS21mL0M4djJWVFhsT1MrdWI4WUJkK3FFTDhhNDBIOXNER3hJdFlPQTFGSjJrRjh1bjh5MlNDOW5vYzRsMHB5d3U1bE1lSzVIcTgySll0SzhEY2FoaXMvZ3FJU0JjWWkrcllaYXk4UG92Z3FjTjBwbE5ac21VNGRCT1Y1b0ZvdGY3bUpKUm80SGlqcnoxNUFxRDZ1R2s2VUd4aUgreW01VFRKcE9MWHR4SmxWQ3ExWmRvMHk4UGVGaUtGbDNVdS9tMHR0V0NXV2xHb2NvMXNoRWtsMHpEb3RoUFYwYjZTQ0JMZ25ndmthSE1BTzFqR1V0cWVXc3dwQnlVNHpEZ0VpN0VtTzNVWHFTV0QzTGFjOGtIZS9sRmdkWlhHb3BzWHEwOHJRMkRyS3hVd2t4UitOZGJFeVhiYWQxRTVtNzh5YU53NmZkWEZGb0hLTG9jKzlCcGR4a1NrVkZvaW5iekg1Qjd5ODFxVnUyWUJtRXhnSHZZZnlOSE1vSWZ1cDRxWUZ4d0xWM0k0VGpaQ2FoWkVscHhtRzZ3VGgwTkswMEg1OVd5cWYvUUpYd1VtOTJWUWVObENPSEJjOEk5ZGZ6akdrTlFiS1krUFJwSld0WHZkQTBGMXFURnN3d0V1aU9BRFFYRmlwUHlNVktOWVlZdHZQbVVteUtjWUF4Q1c4QVUzanNPazlQWWxMcVUrb0doQ095SnIwOFVrdlpVUUd0alFNMFhBT1BsWGdYR3lxdnFWN2RVVzNhU0p3d0R0aHJhMnNYTnc1UjlLMVFLZmJoVmZ4OFV2RVh3czUxc3JBVkp5a1pFOTN2Vk8xNE1IS1F5VEx2UUNHaDhReExEWXpEMFV2eTA1L2Zncy9QQnNMVGRHclZGZVVTb29CTjUybHpXZ2xpSHZWNXBHS2VDYnpXV1FtTlEvT3IyalZTSmluWnpHb1kxV3JOWWRXbmJxeER0Ykd0UG5ub3l2WDZ4Z21GMDMwVkU2akp5WndqOGxZcHk0bGY5WEptaXlQRk9FaE50MnpqM2JrUzNrYnBTVnhhT0RBVkVONmJKbW84cGhyQzlONDlHbXc3aUR2dGZMOVBtMTZLajIvRDFkbzRRQjAyZE50eWN6SFJza081SEF2cG44Y1poK2twV2NpMVhyOGtqVU1VM2V1cWpwOVBwbDRYVGQ1ZExTTUxUY2QxOHVIZkJaa2tQcTJrUTBZUWVVRTc5WDlmYW1BY3FsTi9nTXBnNUxJV0pFMHpEb3VOS3grNW1HYXZobGRpSUV3K1cxdVMvZ0ZwZitBSkwwQ1V2Q25qRWtjbGxMWGRWVzBhQ2ZnSjQ2QjdPMmtOUVZFeDhWR3VZZlNTMHRaRUJiVVgvVHZjdUR4SW9PY0VjSjlzUk92eS9pM0t4MUh3MkpJL1VveURuT0xkOENtTUszYWRweWNKOCtBdUNvc3hVY1hZRFJ1bWQyNnBoNW9kRGJWS0w4WEphc2ZSMmpnVTdmT0tYdHh3NHBGUE9mZTg1cVA3NmtvWWg1ci9zYXh4eUx6QVZhQnNqVlpGR3dka2JqcDJ3NDhhOXVxZEREandFS3hWVHVOV3kxNDdaVk5nSWw3T1c2YVVHaGlIL0VUMGhhK0tNKytmc0xua09VMm5ydnV5YkZLMFl0YTYyOWpub0l3REdoeE8vWW0waCtjUzJqdmxxazQyRXB1R3dsNEFZT2pkM0drTlFZMVJpVlZmOFhMQ2lDWTJ3Zm1FRFM2WXJmYW1ueHB5TW9BRXRpVXdLWmNhMUxPWHVJYlhvcFdaSUhXS2NaQTluS1VnaVhiR3IvUFVKR0VlS0l4WjVUOHhGd1JYMHl4R0VBK25YUDV0ZG16R2t3YmZId2hLK2JlMzExKzVrRXpZM04vYU9FdzNLczBqQ1EwN2FlZWVmVGxERDl5eTRYMlpQenY3aWdudjdjWVZOdzdRVm02V1VDdituOFhtZENjZlA4T2M4bFRNNktmc2JZbExaQnlZTXBIMmZPamR5UWlsNUdaTnFEWU9Rd3RSNVlKTFY1WXFNcTFVYnh4R1hTMWRMampTZENvTWJYSmRaREdtVmFzeGpSdUlXd2xIRGhBZG1EcXA5OU11Q21CWjlSSnlEUmQrc3BHWWhnMm4wTmJ0c0EyVm5yRnlncGNPeE1XakdRa1ZuOUpXS3lWMnhzalUwNDdGMEVNQ1hSR0Fobmc4eXNsN0F4ZlpWRlRZQ0tTbEdZZnA0RXAzU2VQWGVXb1NseFlPM0p0THlsK1p0Y0Uxb1EvNzlTd2Juamp2WkJOQ1NpblQ0dVlQNWVxbGhORG0zdGJHb1dBMWdCZFNEUitoUnpCdSs0UkN5OVF1RnJiV1hJNXEvY0ZZUjlaRjdOd1JOdzVCbng3ejZyQlpvMXV3ci9LMzFrZmV6S2JnNTFNQm1JVktHZEdwS0tQZ2ppUVVtSXpEVDJjdm1uRTFjcWpNUkVYUDRLZ3NPSzFVYnh5U2ozZXBFbE9OQTVhRkU0K0NSWk14clZxTktYUXRTUDFmQ1kwRExuVlV5aDdvZXFkYUoyQlp0V25VdG9NWjc1T3VaQ1BsTTh1YlBzbWk3UUtGeGlFb0tpNGV6YkRqTHlNaXBhMWVlT0NDK00zQVN5Y0o5SW9BN293bmRNOE4vY3laVEd3Q0pNMDRyTWZlZkRHcWU1THg2encxU1ZoZkpGaFcvdHFVRGM0TGZiUXdEalo1TytmR1VrN0s5NUZtNTczaWFpV210WEZBcmI4ZWw1SU5aemxrMUh4OERnTWhKeTlGeC93RHNHUDFCV3g0OGlvN0xtNW52cmh4QUFHcjdQV0RCOG80ekRtUjA2WkhpNTlQaFdGZ2xsUzlOaTJTU0F2Z3JibU5VSy9TV2pPK1NXY2MvT3Z4QnFUTUlUTkdrZWxzcWQ0NERQclJqQkVrVDJrakI5bkpuL0JwZmg5dWlBbTBhaldtMEgzSytKb0RHaHFZQTJqaGhQWFcrZERtVlM4Qk1JTmZXbDc0eFVRam82STFCeXJYdE8wQ29ZWXpSZzdxN3dxT2kwZWl3RjZOeWd0Vk5MVFYxeVp3VFhyakhJVFNTUUxkRTRCQ0dOUlhlVTVjRHI3MEE4bHB4a0hQSWR0aWoybEZHNy9PVTVQWUhQSzhLQ2V3Y0FRZm5jdGNjeDFlSlgzTk5jR2RMMU4wY3pTVWtzazlLdVVOTkZPQWpZVzFOQTV5bXZsY1BOK1k2MGViOEp4WDBTWUVObkZRcUxySUFQbGhoL1drUlRFcGQzcUNxZGR5eXh2SVd2UVREcWlvSFRuTU9xR0xwdTc0K1hRWTlObWNpNDA1NXJXaVN1ejlsa25rVko5TkNrR2JzQ0FZT1RnVmlPZFRzWlExRkxUUGx1cU53L0ZZbDhRS1N6TU9VZG4ySzFTcXdvSXFQMUR0YU1HcUZSQTc0Mm9veVlEanlwSVVRcjJMaWxnYkdzdUMxZ1N5R3EvcVpDT2xuUXJzQjhwWVUvS0MxN2pBZURzeWNmRWh4aWc2SXUrcmNrTmJZOVd6SHJRc3FLWU41WmtFdWllQVMvRGplckpnV2p4OExGeW5TelVPNk04RXl0Vk11OGF2ODlRa1lVWG56UjF5M0hlOTFKdGFTMkdpcnQwTnBSelhhdnVMcWFvb3RiaVd4a0UrdlRnWHp6b2ZkbTBSaFQ1N29CbGwyaEVBSEhPVDNzZGxoM0V5VkU5di9ScDBYbWNIYklEK0JRc2xDRmp4SmFPaTFqajRtYUYxTzd0bjFUdG1LSm9NcTh4M092T05OUXYxWGRVWkI2K3ZzckpiUGhSTXFOdFN2WEVZVEZuR1NoODV5Q2VxWmh3YXZaSlJDQlg5ZkROTldUR2E5cGd5bnNXd3R3MlpjMDVtNEVDV1FPczJYdFZGSDYwYUtlMmtNajFLQnRLYnl6c3dEckF3VFl4RGhHWnN1TUtMRitCTWFhdExFRGpRNU1CSEp3bjBqZ0R1azhLc0VyY3U2c0dYZmhDVU5uS1FzeVFMcnZUYWtuTEdiNlBVSkM0TEhEVXpqSzhFL1N6NU10ZTFNRkhYN29aU2lzcXFaZkwrbm01VlJrdmpnUHRlZDBpZHBCT21iUzRBbmZtRTdqdUNmdXBScXptaTRvMUl1aDRvWmN4eUJLdWxUazViRG1na25UZTNpdlJWUDNLQUpyYkd3VnZraWxGSCtQbTBkR2kzOUhrOXlKVkdaOGhwTmw4YmFSK3RyK0NOdzV3Tkc1VUtjOGcxVnk1Z2I2ZzRieHhPbU9HT3phTFBxU01IckJaNDh6VUdzNk1XeExWQTZjbkhGTG9NTVFjMDdaUjA2bFVUL0c2ejBxZU82ZEM2MkVDY2dVVlN0RWZEaFYvME5rVTFVbDdZSGhCK1JuTjV3elZyaEl3M053NG96YWJDb0dFSkdWTGFhc1RFVGpuNXkvSWdnVDRRd0Qyb2J4czVLaTVzaGlXa0dnZjBMcy9aUktOR24rUENYckJoT0tjbENhTFJTZElhckxBUmhPSldDSHlqZ2J0RFowTXBaYVZMb0t5ZHdGWG5TbmUwTkE2NDJSTURoZW1najZ5RW9yTm9WbGhzR1N1YjBocVlNVnBHdllocE1SZzVGSkdoWk5QdTlHeDYrSkdxMWFLZkx5a1c1T3pPOEJYWnU1MndRaGY5ejJlQ3lrcTcyM2gvUmk2cDZlSURTeDB0amQrYWRnN2g1WDNuTUd1NGlRa3RaL2VIWmRQU1N2WEdBYWJuR1ZwQytEL1ZPRVE1MlE1elZDQlpmWWwyMWdSRTBNT3hLOUdHcTNISXB2U05xNHFoaDJENE45dDFnNlNWdUt5R3F6clpTTFd2WkZrV0lvOTE5eXVDMEFVZEZsWHovdXBMaUVmVllVWDFNYXF0VW1OYmJZTGd6RzBPQVF3NmUwc0FTdG5jM0xJUFdBcUZCOTBjM0ttek9ncTdibDNIOWxyaktzWnZvN1Frb2R5eXZnMEcvRzJPMkxGd3VpcWJmMzZZb1NOM1F5bDVWZDZvNzhUZW45NU45cVcxTkE1b2VEREpob3lmRGt5bmxpT05iOXdJNVVweVZWWXBOcWcyWmJIbW5mcFFVODNlL1BxNnRPY3ljMmxEcWxiUVQxYmZuTUt3RUR2aEg1RnFlc21LS3BzZkFLMlkwR0VWTnhkaTArZ3o5TnNzWEl2eVgrS0FacmZ6SVVlZXE1SlY1MkFjVkxOazB1T3lNV21sQXN5bWtWVVE0c3lwbSs2NDQydXZEVjVrUHE3TFZFbnlya3QrdiszS1lNSXVQNlVpYS80WFhVUmxTaW93K1ErWCthd01LODZvR0RSMFRUblVpdmFVY2NaUHhSWlhkYktSYW1yVS9LeFlTbkszQ2RTM01aV1pXK2E5Y1VpSWwwOTlyWm9LSE5IMFV0b2FyNkgwNGFlNTNCaktFQkxvQVFGTVV4djlKbWZIUTRHaEgzZXE3UXZpb2k2WlpBWGM5L0pZU1hTT1U1TG9oUHAvVlNpZHRmaXlNUENvMXlmeWhsVlR3Mkg4anQzSlV0Q2NEU25rcmN0V1ZNRTF4SVlremkyTlF6bWhUTzhEd2xKY3lDS0NKc0tnakp4NnNFK1JSa2VWTnNrRjVpQ0hERTdGaEJuYmNSZTFRanV1ckxZY3RPaWl4eDVGdjNjaHd2TURVTk8yenp4cVoyanc4NjFxNFZEWVZ0UEhTc05Gc29tQVhDa1dxajFsMkczbUtnQUFJQUJKUkVGVWQyblVTamtwc3JBUW9SckxKbWxGZHVYVFNzVWxkYzZsUWJuNnVGSXlZZEdrNzNETEYxem9oa2hKOXRJNFptemJTY2M4Sy9MZWRsZzUrb3g4YWo2cVBLWDhVS2t6SnNGMGVPR1pNSFVDbHVYUVgzVGxST3JDaDkvR3EwWWk3YUs5bCtRWVpzbG1MdHNxSDc4ODc0MVNVanlhY2FQSlVkWmRvNVMyV3BIK0RLdDN3ZnZvSW9GZUVzaHBWUTJSZHBiZVNKZGo5QTNqcm5vdE9PcUdEaWZOVjRjekJTRmVGRmFwTVVrWWl4RzMxRjNocysvd1RycHF3SFBVbWFKWXhoMTVHa3JCWnViL0VaT1F0eG9uRmhwNFdobUhid01oMnpkSHRtLzVNL2o5ckxNUzlBVUVpVDhKWkViWjV5bGxXZEpoSS9JTXV6V2x2ZmhmaXd0MTRXMDVNSm0raVlSNjdVaStXa25wbTB4dFNtbkR4Um1wWEszNU9ta0tsVCtmVVdUcmlMMHlrVktTU2pGNEpTVkd2bHBKWHdmWFA2eVU0ekQ2R2tXbndqTTUvVnMzbEJwVi9mS0J2TkxzVVo4eWhVeDd0bkpNTzJlQ1AyNVpaWEpHbDZMK2orbkl0enlDVFBaRjVDYTlQZFdFckgzVy91UnZFVnRyS2dvV2RFbzVrdjhrbG0ydjZtS2lrUkF3bEJmUDFYTEtidUFnNTZlTUdadWZteGNDRDZmSm8wRzhYTEZZVTFHRDlqWG5qVzFWOGJGL3NQcWJzUUI2U0tCbkJLYWRJbDZ4WFVuSUhqMS9WeDYzWlAyaDgydlJaODQvQUtkNCtmazNxa0svU1loL2tJNFRXdk44OU02Q2luM2ZhOWRVdFB5WFNPTEN0ZU80dWxtcXRnZW9BNHRCNGRId3FZVkVucDE3RzBxUjFiejRFNEdnWDNwMjRFbHpibWNjc2wrNjh4N1o3dnI3WHZ2dDhqai9vZHVsTjlBSi84K1g3dnlRQW9lUDUvM0g4OSsrSEpRQWpSVDQ1TlNBYis4S2hQaEY0ekJaRzI1TXBrTVpaM0pUS20wRjFTdkI5V1dFUWZYY2hRRUNqRU5acW12OHdqazFlV0Yrdm9mT293YjZMZHRiNzF0VkNjSi8wMUlEVGR1ZWJSZ2pQd2d1WG95UUU1amxnVzE2WWUyeU5BNlhqTXI5TDhydU5KUnFMcWxiMzZmYlhZVU1lMnpKMHUremw5eWJvcXk3RWxXMW9GU3ZLRWZWZEUzVVh2Z3BXYVVCTVZlRmxPOTliVW42RWdkMitFMWhpNGx1TzZ5RTZSTU5GV3kzUHA2K2phczYyVWdwNEZPbVAvVXp6aGdpRU05YXpNbklKMStNWUJ6RUs3NTlMVW9UanpHQTZtbU01a0JRSFNsdE5USCtOT2w3Y0Q2UUxoTG9DWUYxTjdvZkY3Tk9JdlNWT2RRa2dYWWJkWDZ2RUsrNis3cDNHQlZXdGdrREJTZmY2aFlrY1ZLMUk1TVRwY3d2Mis2UmlhdzZHNVZJM2FtM29aUkZWVkgvbHAvV2dyY3pEbGhQVFQzOGpGQXVIdThqNURESnpjbkxXa0F0K01wQXdkWmpzVDZxRFJlMDA5Lzk4YjFYZE1wTURiTCt4WWRyOVdWbHIyVkhlRWc4TVpUL1FXalh6OWIwc0xCc2E3a2g1OG4xVVdvbzZBaG11djdBYWVONDlQWEk5TUsvZXFaNGllNE9ZMDlmVkJRYmI2bGptSmI5VmEzdkdrb3RtcEowSFo2VXQxNTVscXBSLzFid3FJa3dFNnVyaGRmY1hmenZmL2paZWExd1ZWWGVMT3BZMGI0UDdhdXFwSnNxTlA0UDF1REszWi9MdXlpSWVlVGZYZmV1bkxnMEVVK29mV1ZUWm1pMkUxZDFzcEVxSXk3OG4vellaLzlVaUhjSFVxdGk2eGVpNkpNb2ZGNkpMVVdwNHQ4TWpuZGY5eThMZnV5VzB0WkFySEtDRkg1TkhpVFFEd0xIM016cDhlQitHeFpuejl4MHgyMm56MExsRit0blQ5MXh4Nm16ZWR2WHg3V1BRM2Znb25MOWpJdzluUStOUXhSTGtxejI5YUtlbDd1Vnc2TWNXS1l3dkhOM3NoUXplZkhjOWlWdVp4d0dZd3BOQVpILzNLeUk3S3VmVmN1c2Q5eDI2dFJaUDhFdWl3L0hhUEFlc2ZNT3FtcC90dlVuWmhwQ2VYZjJMNlBVejVMSk5GUlRGWHVhOUg2ay9tUDRQNHIrTXo3S2RnYTFmNU5LcEg2KzIxREJEUmlIdXZyTlJVbkZoUDh5QlpHTDZic3c4dTJxa0llbGtoMHAzTEtNVStYaEtGTVc5ZE1ZQTYzQjIxaXF1cVJNcWJDTjlhL0lWTmRjOS9OdmdDaTVCTFpvTHpscEhPeVZXSktKTUVUSnFmTFU2RldIeUt0dEt5OWVNTEdOY1lqd3VUb1IybVFqNXRLYWtSRS90WEZWSnh1cEJlZ0xYM3d3RkpmRnozQW1KNzVmYlpkSExXQWNVbSthajZpR1hWejJlVlBhNmlPVkM3OTNJb1JlRXVnVmdhRXpWbEwyakx5LzJ6bStjRS8rbGwvYlB2RzJTWDR1djZWVmt5OHNKeWN1ZW5za1MwR3ZEa2VyUjVTQ09teG5ISUprTzNjVzRwWndVdmV2dlp6T2pVT1UrWjNidHo3Z0pHVis4Wjc4emIvdXZPamJ5NUhUdDcxSG5Ia0Yrckk3T0VZZXFQLzdwc20vOWJ0dTMvcjc4SEs0ZGdvbC9XV3VmdE5QNnRCdFM4VVF6M2V6bjVKcnRnYmdTOC8rSmQ2ZitDZmVEOWNYSHN5ZitRODRmL21tcjMzUC8zMTNXQldmN0NrUDVwK3o2cjJSRkhOek9NMFl4RFZ6aGxkMXNwRW1ENUtjZVdnaEllRGZmalYvaTZ6ZjYyOTY2SHYrODM5TlJIcnZVM0JmL1Y5cjNvK3hWMk5idzJnOEpLRFdVdUpoOUpIQW9TTFFXaWQwMzl5ZmZrQmFoNm0yQmZYTE9PRHh6MWdsRnRWVWlxOVd4a3dMK1pERDdEb21sMG5jZ1NtMnJ6c1BIYTBJWlB5eWZhdWtqQ2VCZzBsZ1ZBNjIrMzk4RGdQODJiYUw2WmR4d0FUWFdsaUpjdUpweE5HT0Y2UkRxUWZGWFhWUGxhb2F6OXRuanc1Sy9mZTBubGdidkx5bkZXRGhKTkJ2QXVIYk16NlRlMWI2eEVBUEtqR2FNNG80KzdvdE5SVy9uY3grR1FmMUd1dWdZTGZyd1lRTlB4RkVIblluK3I3aFpFK1VoSFBZMjk5ZCt6RFF1dENkQk9ZbWdYMU9JSGhnWjdqKzJtMitWOWxwTzM3M29qWTRrK1ptV256aGRNdlZoNUY0bjdiVG9odnlGZVhqazhOdVpSeXpUQnV4TklOcXYxWXM2UEI2aGhOYlE3QThmWGdiMi9PV0hSVzlYNnZyZVNVcGtBUzZJWERNUDdDeitEZlJmT2ZQY2phcEJCVHduSW82cmhYKzhKV0o5SmVCaHZtSDNGTytZV2ozYnZWa2xuei9uajR3YW9yMW5hT2pWMU5uY0NDeG9nb2FGZ3pQTFFrVWQyYzZ0bVU5bUlBRStrWmczRDFsbU1IVFUvTTk3enhpMjltU3FyeDVYdmZhR1R4Qk9kdXFPYmVYV3FYb0pCNFRLWE40M0hQRzVrMXNpVVBVT1J0MUZaeVB1MTllTnhhejZGZEJxM3ZWeERKcDlRb2w1ZXhYQXV2dWFjN2pXR0RMOWZ4eEhieGxZRm0xL2FqdXBaZFhzYnRnYzI5b1FQMnRSbEZaMXdkVmFKaGxuM2RSZTFQQlhTMzFoQjh6cW5KUHVQY1Q3V28xRGxwaGYzcHhRVmE1aTkzMEI2M0ZyTy9WU3NBL3pUbCtEdnVlTUNmZjIrT0lmU1ZGVmM5WVlTZEJjVmVlajBwcHhvQ2NWVmZ2MzlPUjNqQnFmeWFma3VuUUJnMGxIdDA2Wm4rcFE5dmlYalRzbUg0N0krYmdudDhMY1pSQkF2dVh3TFI3Nk9MSnEzaEZ6Mnl2YXpxb1h0a2o5K3FxbXluekFleGc3dm5jVlp1VlZuM2xzY2RjNnBYRTA0aUQ0WFAvTHRXaGRSVE1oSjlwWUJGdjZ1RFJpa0JWNzIvQWV2UnlxNlNNSjRHRFRhQVdydjJ1SjU3ZTZVSFQ1R3NqNUxIb1h1bVVkUk5aS21JWC80M0tKZGlxWDFkSWJuTll2N282ZzVYWXhnYThTblp1RjMrTGcxcFVUcjk2ZlQ2eFlITlFtOE42azBCekFqR1ZrUHdPYy9OczdjZXNxRG5hdDRzZnQxa0c5MjRuTHNZc2c4RmI3SkxiSEFyTHRvNVh4UmxMTUJ1K29SOVBQTHprWStnS0NBZzFyUVIwdm84UnhOSkpBb2VIQUo0MExmblc5S003TkpRVHIvNVFRYjQ2MUJ6ajhka01HN3diNTVQaTFlS0hYRUhKYlE3cG4wMXd5UStmWXlWNE15byszYkIwK0ZyWSt4YkJPRXpKWmJNckU3MlhUWWtrc0o4SW9BdmtyL0lUaVRuNDNsUjA5Sm0zMTEvOTNWNVdOYkc1d01mMDMvWFhaLytYTHlTNXpXSGw2cHBWd3N2bDhFbk5OYzBENzkzcitiTUludlFoY3RYa0M2bHc1Y3dkb2pheEtTU1FSbUFnZko3eENNYksyUSttSmV0bFdBNFBMUDNSV2k4bGRpanJlSHhMOE5BZUdxME9XOUJ0dHVHQzJQcm5hL2lVSHI0MmhQZHU4MmhOWUIyZkZ3UzJWcCtyYWkySUtVaGdueE1ZQzFlSDVUT214eC92YzQzVjQ3TGx0VDZYMG83NDhmaXptOE51VmFTZHpJY2p6ZWpyTVUxU3g1OTQvK0ZvVU45YmdYZUVuUkx5Q3hFOFNPQ1FFemdhUHI4bzkwZXZiL2E1eFhKL2RMYm5lKzA2cWZSaStJSFVUZ1FjaGp5ZmZlYnBmUDJtLzJQaE1MUmxWOW93aEU4L0JKT2t1MUltQ3lHQlhTYnd1eGZYOE4zTVRWOXFBZnZVQ212ZTN4ZlhNU3g4SHV2MzhLUkZ6WWR6UzBoUjY5UHIvVm9Vem1nU0lBRVMyTmNFOExET0pyNFpIUFFaNTY5RXh4L3JkNTBIVVdwNXVkK2xiQzkvVVQ3aGp5OVpCRzNmUGdOalNZQUVTT0NxSVlBdjM1eUx5dkxEd2ZZNEtiNlUzN0NlZnAwenVTZWV2dGVmVFNqSWxSYjNZbzkrdFpSeVNZQUVTT0FnRWhqREhxaE1iTm85OHgzMXZqK3JGRVZQeXQyNnRzZTgxRWFtNlhCR2JZOHJ4T0pKZ0FSSVlOOFFHTUNXdDBIemNvdDlVNm5kcVVnQlc0Tkh1Q040ZDJDekZCSWdnUU5HWUZRdU9laFhwUjZ3bW5kZDNlbjZXbWIrNnJTTFhiT2pBQklnZ1VOUFlLVit6MVdxSU1mRWxacjQzNGYrQjJZRFNZQUVTS0FUQXRuWDFmK2hrM3lISU0rdjVtNTV4aUZvQnB0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2dU1RT2I4Mmo2ckVhdERBaVJBQWlTdzV3U09pODA5cndNclFBSWtRQUlrc004SVRJckhFelhLZnVKZE45eHplaWtSZXBDODJiL09iYjIvenhYKy9OdStkT2R0dC9hNUVJb25BUklnZ2IwaXNDSWVUaFJkRlBJNHdNWmhxQ2JxcDhVUEpwclZXKytRZ25TcHQwSXBqUVJJZ0FUMkRZR0MyRXJVcGFqMDNnRTJEdlBpaVluUm5KaEt0S3VuWGhxSG51S2tNQklnZ2YxR0lBTkxzQnF2MUNmUEZ4QzRSOFpodVBDc2VHMTI3anNwdGlhaVNkRXdYYlp6U2R2a3lON3dCa0RhMmNqaGw3ZW10cEhJS0JJZ0FSTFlSd1JPUU1WTkpldVRLZStaY1pnWFlpWlpuWjM1TXpueC9DaXFDdkhFenZMdE9QV1RkMmdjQmtYRElHM0haVElEQ1pBQUNld09nV013RHJNTlJVM3VsWEdRc3pYSk5aQ0cybTBmQUIyOEVFVXdNbDNLMmI0VXhHTFF0YU9SUXhGdG0yb3BsUWxJZ0FSSVlEOFFXSWZHdXR4UWthTjdaUnlnMmJ2dFhsZkVGYlJuUllqSEdwclY0NEQ4em93RDdGVzNvNkllTjREaVNJQUVTS0FaZ1NvMDFpTU5rVWRDNDNEczBZYjRYZ2JFeEkraE9xSTc2VFVoNjRzV2REazkxYm9XdVpiR29WQUtwTlRRdEF1Qm4wNFNJQUVTMkw4RWN0Qlk5WWJxWWJKcHlRVWU2YTl4aUltWEk0ZUxydVJPSEpqc2tSbzQ4OTduVEhTU2ZTZDVDaTJOUTY0VXlKTWpoM09CbjA0U0lBRVMyTGNFc2tKYWg0VmsvV0xHNFdoL2pVTk1mQmExNlc0NmFIajNOSEJyNDVBdkJXVFgwYmJsd0U4bkNaQUFDZXhiQWdPaUNKVTFsNnhmekRpTTk5YzR4TVd2aEdPV1pMWGE4ZVB4cTZWMjB2VWdUV3ZqSUVwQk1TT2k1VWdqU0UwbkNaQUFDZXdoZ1NOYngyRWNacE0xaUJtSDlmNGFoN2o0MGJ2K1E3SXlPL05qWW1wdVp6azZUdDNTT0dSanhpRzY3MnVsanN0aVJoSWdBUkxZVFFLVmgrWERvOTlJRmhrekRpdjlOUTQ5Rm84bDdhbGtjL3JrYjJrY1J1TEdvVS9Wb0ZnU0lBRVM2RG1CNmNlamZNcHNSOHc0bFB0ckhIb3NIc1pobytlWTBnVzJOQTdIYVJ6U3lUR1VCRWhndnhQSXo4anRZZzBQajhhTVE3Ni94cUhINHZlVGNUaEs0N0RmYndEV2p3UklJSlhBS0hyWlJSaUhVaUkyTkE1RGF0OUFJa0h2dkwwV3Y1K01RN0VCYk8rNFVSSUprQUFKOUkvQW9GaUxzQnU2NGZtZTBEaU05ZGM0OUZyOGZqSU9OUnFIL2wyN2xFd0NKTkJIQWtleDRVenVPN3VRS0NNMERwWCtHb2RlaTk5SHhtRzBjVWlXNEV3dkNaQUFDZXhMQWtXOHVSUXFyRUg5aDhZaDF4RGIwNmIwV3Z3K01nNTRoVWVwcDZ3b2pBUklnQVIyaDhDOC9FUW9IbGVTcjZvTGo4QTRZQjlFUHhla2V5NStIeG1ITW8xRGVGSFJUUUlrY0hBSTVNK2hydE1ZT2t6RTZ4d1lCMmk0ZmhxSG5vdmZQOFpCYmk4c3hiblNSd0lrUUFJSGdjQ1FldGRQQlVwc09WNWRieHgrQ1pGSjQ1RDVqZHZyci81dWsrTzZ0LzMyblErZWdlZSsweTkvbWd6Ny9NOS82YTdiWGd6SDhPdnlaLzUyVlFhNTQ2ZS9tai96ajJ2T0cwVUo4VTk5MjRmdi9PcXRRWHlxOHluMzVHOUpDUGJwa3NiaEtmZmtnc1NaLy9iT1AvL1E3VE9ZVEh2ZDJiK1ZGakg3aWQrKzRjSFRKYmplY2JwKzAzZHFPVU52Q0dyKytiZDk2YzZ2eWdiS3hPKzY0VU9ua1ZzZnNYME9RODg4WGIvNUt6WUs1K0VjMEpWY1FPWVQ3MFRlSmVlUG9uak50dVVXNUtLVEJFaUFCUHBPNExnYU1XQnFYR3pHeTdMRzRYT3ZRNXc1THRza1F6VlJQeTNFODdTL0xLUHhHZXJyUlQxZkwwRW5xdVN3SnlmeTRpeGlFT1NPcHd0eEJrSExOcUJCUEdhNHpKYThrZnFabSs2NDQ5UlovU0JWOGV5cE8rNDRuWjlRR2Q4T0tYbXh0V0dsQk9laUtsejlXOVhCSDBGNWVPK3NNbHNJa2IxNStUTHZUQTJWa3hac1VRV1VvdWpMcUw4UTN5ZHpqZVJreldWamNPajI2TzlzRjFYaVdSV09mNkZ4R01pTGVrNkk3N2R4MlkvQ1p3OVpGL2xRV095eHNFVE50dU5taGNyelNPRlZvWmR1RWlBQkV1ZzlnWEcxMWpBQXBmWDF1SEJySEZhVVJ0UC9ySEhJMXNURGE5RlQ4dUlIVko2eWpOMktSdk0vT2xFVFNHT1ZYTGJ3Z2xYWmV3NCtsdmF2eFB2WG91eTBWYnZxaXp4YU52NHI4WUZ4c0JGTHNwU2k5azFJOXhlRmVFYVV1VmRzU1pXYk9FdzZtVnJIdmxsYy9QVW84M051MTdRMURoKy8rQXNZWWlDTk5RNmZybU1vaEhITUV0NzJYWHRrTlJvcW1JV1k5b3pEY1A3U2IwWFJKNFV5T0xKU2VNdWVQMlJka3NZaFdiTnR1TVVhV1c2dzVMRm9la2lBQkVpZ2V3S0xqMGtaS2EvSnRzYmhyZWZQMzRYbDZ2UHllSTBwYjBWY21vQVRUOENXWk1ndjNnbU52aFZkKzBRRUk0TW5ZN00zM0FPdCtHaDAveU15RlFUTnlWVHlHQkJLQkRydDl1dENEZUsvaE5LME9SbTY4d0dwWE9zUExjdXNmNkNzeHRla1JHamRkOHVnK1liWkxnUis1dno1MXd2eFFsbGRtUllEQlcxQ25teE55ZkFONzRYVW1VeCtReTYxbklNK3Y3T0FnRkkycitwV2tGWFROWWZ0V0pJaXNqZklPdW1Sd3lmUHk4U3pNbGdld2NoaFdyVVd3eWZiM0NGVW9TYkVRN0lxcWk0bmJvRFhieWhwcUZsemJyb3c4MS9hRVBXcnhVTHBJUUVTSUlGZUVpanJBUU0wWHVJRE85WTRvREFvNDlpYUExNkpQYVhxNExUekVPWjRvbHBKZm54TnY0ZmowOGlTeVpka0tueDZSdzBKcE51K1lRKzlkMmhsY3lURlA5a1lCMFFYSVcvS0pJTXBNaE5VVmZOdGFHdWNUQUozZ2xMZnRKNU13V3JqRmY5eXdiZkFPSXloU1RtenZTTmJnSEc0VnJkeEV0KzJ5T1NYWlg3VTNMNlA4SnVzY1pDamlsVGo0TjZ3Vnc1SnJoajdhYXFUS1h2amtGcXpKdHhNZG4xQzh4cWVMWXNsb0ljRVNJQUV1aVpnMUdnVkNrZDF0SjNBYll6RHZKMG9RcG8xbldGYWJJMDhyQ2RPbEJqc25IajBtTkdzWmRQcGxnT1VWNW4wT1RkMGFMUTkwTWwySWtwMmtsMk5DcWF1c0FtcVF5Lzc3WSs3Mk1BUkdvZFBoYktXVFNJTWNHWldwdFFUdk5vMlZxRERDd3NxRm5acnhuNjJ0T3kra0ljWDErcVJBOUtzcHhxSDlZdGYwZEpoSU9lMEMvOFR4aUdhZEhXUFVtdVd6czJKVXc1cGdWMWw0bEgwa1FBSmtFQnZDQXliaDVTZ3RCSnZNbTF1SEtDeFozVHBVR1hudEd0UmJFMGlFSnJWcUMwWWg4VU5IVmQwSmdScVhYZlA1WkNncEdNYmpRTjJYVmpqSVB2MmF6WmR0VDZobkNqTEJGWENUcnBORmtXaGNjalp1c3JuZGUwNEFDMjRVY29vMjVhTUMvRnZzQmxRSGpBRGowdkRJWTlGdTI0UlJhNWhVWVRFc3lvYS8veTAwcnh0RVFTWVJpSit4WWFhREVlOWNVaXRHY3BKNFdaTDAyZEE1c2doam9RK0VpQ0JYaE1ZTStNRm1BS3I1MDBSelkzRHVsZDROVHY1WFJSYjFaSmF1ekFLR05QaSt0blBTUGFXalptQWF2VGxuYk50U1U0cndTSTQ0MUQxMDByUmloYU45UkdyZkdFRmxxMlU0QndZQnlqU05SdHpSQmpySWczQTg2UU10R1JCeFk0TGNlK01Ub2R4eThOQnphZDBhR2djMElwWkV4b1loN3hiMGk4RUptdkZzMUpaME90ZjBublRhNFp5VXJqWjB2UVp0WGRtTGg1REh3bVFBQW4waU1DazJSZ05CWjJZb21sdUhBcXU1NDZ1dGVuRVY4VFdhVm1sejd4eVZkY3NMN2FzQ29mbW5kT0JjQmx0am1VTE55UFVZQng4ZDF3YWxsbWRGK3ZQNTVRTEZUTjZYRDRXWlowMmtUd0h4bUVsNkdPakhDMUJ2aTdrMUN3U1p0L3dBWmxlVFlmbFNzb2x4d2pPK0tDK1N5N1VEbGZrd3Nxc0NRMk1BN0taVmVKcVlKQ1N4c0ZUVGE4WlJrMHAzR3hwNW93Q3BoSkI5SklBQ1pCQVR3bllGV0wwbDhVVE1jbGVqU1VXcEtHUlhVcG96MVdWcTRMK2RpeDczdXR0OUxRM2RSeVNtMEVFMUxOUnBTblRTb0Z4UVAvYTJwaElyMi9MdVo0TlcxU3cxbTJEY1BiR0FjMXkyYVhhTng2VUhsZXZxS0xUL2FqNXJCR0dZR05PcE5LMkpUUTFEZ1lMV0N6YnRDdUprWU9qMnFSbThrVW1NNzcwVFNzbmRoNjk2eWRpZm5wSWdBUklvTmNFYWhlTXhGcWdIbFdRVTJOSjdZMkl5N1lhVU1OenlnMkY2QUpWQUpUY2xISkVzcWR0VkN4Y1poNEh1dEUrekpxd1BjZ1VHQWRNb1ppeFRUUmMxL0lLMWlEQjZ4K0pOV1dwa3pjT1dIbTJEVVJNMlNwNGFSeFd3eHl3QXM2MjVXeWJWTTFuVExLV3hnSFp6SXphcEJmUXNPYmdxRGFwbVRRT1U2Wkl6eTJzS3Qwa1FBSWswSDhDR1RkdHNnSjl1UllXNk5SWTBqZ1VmYzlhN212UWVyOFNCQ29wVUhJTFJoeVVuRkd4R0hSWVZTLzh1c0oyMDByQml2U1lWdDh3RjhaS1FQeDBNTDN2SysrTkEvUzBycCtLck5vdVBZeURseUdqWUJ6c1lyVXNzYVNTcXkwYXM4YlowamdzaHVPakpaT3J1WEZvVWpOcEhCcTVXV2s4a3dBSmtNRHVFSEFQNTh2SmZkZGxWV1UzTlE3elRndXF2ZEFYVk9wS0VLZ0NvT1FtVEJ1OGNZaCtlV3ZLQkhvenNlM0lJYXE2YXEzclJZckJJS2VjWWpMeXdwTTNEaXRCSno2S1VNbHpLaDJNZ3pWU09oK01nMzZtRmQ2Y3Q1SmdNS3NUdEo1V0dpNDh5eVFkRDFpZ0FpVVRyRTZPYXBPYVNlT1F3aTBVUVRjSmtBQUo5SjNBTWFkYm9WQnQvMTZYNnRSWWN1UUE5VFZuSzRadXZKNU5ndDUxZ1NvU3FXeWl3RGpZSURuLzc5VHp0aU9IU2FlZnA3VmloeDUzRTFKUk1URTlwT1Y3NDFDell3VVZBVm5hQk1BNGVCa3lDa0l2Nkx6S09Gam5Ub3lEemFNZWRkMjB2cFZteHFGSnphUnhzSGxUdWRsSW5rbUFCRWlnandUVzNUT2ptUEV4ZXQ0VTE4dzR5RGR0Yk5ncVFjdnE2WmhLVEFzakdpK2hzNGxTbFZ5N3hzR3ZTSnYxNlBWZ1BWeU9CUlpzTWY3c2pRUHF1dXpEeCsyS05LcnRsc05WTkl6RHJFMlg4K3E1ajhhaFNjMWFjck8xNUprRVNJQUUra2lnZXVYYnpYRUR0SlZiazVVbE5qTU82T2Y3bVJMM3pFMGxDRlQxYlRKSHIrS3l2L2ZoTzlzMURtNUYycTVIcjFnTkwwVk5Kb3RWOHAxeFFHWmZWelUrME1ZUXhpRjRpQWw1WUJ4bVZGYjh5M216QmdaMlFOR2tQY0hhdWM3LytYZmVVRzVqV3FsWnpXQWNVcCtLc3BYam1RUklnQVIyZzBBTzJ0TWZycTh2aTI1bUhMQkRRZHo4VCtaNDBIYkJLOGt1ZkhNbDk3azM2QkxibTFaeVN3QmpaaUtvaXNlcWJQSC9WSWlOREN3eFp4eWtJUXRHRmhqQzZCZEl1UUdQemRFajQ1RDlLQ29rajAwckdLYXNaTjN5YktrMnF4a3MyY0RjQUFBZ0FFbEVRVlNOUTBpTGJoSWdnVDBpSUtlSXdtTTFxSWRWWXdpS0xRcmdBYVhZOFZLVnB4TFR3Z2hxYWh3K2dpZUZmdTFmcjdVN2NuQXIwbVk5R2c4b3hZNTZXR2RUZldjY1pGM2p4a0YzeS90a0hFWUtRdHo2RjNlUHQyRWNtdFdzT1RmVE5wNUlnQVJJb1A4RUJvS24vZEY1anEwcE56TU9XQVFJY3RrNlZwS0JUWXhEWmg1dnJsaERycmFOdzZSWkRqRHIwVkU1c1RaaWF4Q2NuWEVZak5jVkl3ZTkyZ3ZqY0RsSTM2TnBwVy9HbU9ZckVOdU9jV2hXTXhxSDJPOUNEd21Rd040UU9CSk1KRWwxTlJ0VW96L0dvU3JFajZwQzJqWU9NRVpxemR1c1IrL0lPQ1FNV1grTkErYmJMcFprMjlveERzMXFSdU9ncmc3K0l3RVMyRnNDbFdBSkdyMXB2eEVNMVdwbUhPU0VTT05VVGlVWm1ENXkrTFJiOVc3Yk9KZ1Y2U0ZyeDZhVHZmNUdoTEdSUXpDdGhNR1JsdEtQa1VPMllIZGt0R01jcENsT3F4bU5RK1BQeVJBU0lJRmRKekQ5ZUZCa1B2N3dmelBqSUJla0E3Vm1CTFJuSExJb3crUnQyemhFT2JVdHpLNUh5elVJdDVrNXFIM29kTVpCMXJYa1k2QzEzWnBEejZlVjduZjFhc2M0TktzWmpZUC91ZWdpQVJMWU13SzVtYURvYWR1djFtRnB4bUY2U244Z2VqbklwcDN0R1lkcm5RSk5YWE9RNHVVUmZ6NFUxbUFERDYxYU83Wm9INURTYWRQK08rTVFlK3hXemZmb1I2VDZNSExJNUozZFN6TU9BMmFNWnFrMnF4bU5ROW9QeWpBU0lJSGRKVERxZDdPaFlPaDMyNjJYMWJCcURFNzN0SkxVM3JGTmNES2hPdG96RGpXL2Z5NXQ1SkJ1SENiVldrajFuQ2xwUGR3RVo4SVNKMmNjNUZUWnNvK0UxdGJQdy9iQk9LQk04MUxXMURXSHBIRm9Wak1hQi85ejBVVUNKTEJYQkFaanI5cVR5N1ZMdmlyTmpJT2M1Z21TbVF5VmR0WWNvQkh0eW9FWk9meXN6QjZ6UFRJZ1BuTFFLOUw2cTg2SVJEWGR0bTZaT09Wd3hnR3FWa3o1QkxBcmVrYXFBK09RODV2VHNIUXhhNFc2cWdLQURZUU4yc1FYNVJaa21oVXpyNVUwRHMxcVJ1TWdxZkVnQVJMWVd3Skg5Wll3VXdtNTBuekJWNmlwY1pnT2RoTzc1RzBaaDZCM3JZM0RxRm9DYUdFY29NbXY0TnR0dGloVTArMGh0bUdKc3pjTzg4R1dBL1hWejFtVnREdmpBT1d2eFVDV013NDFQeWhDL0NZR1lqT3lxSlZteG1FK3ZXWTBEcElhRHhJZ2diMGxVTFFUSWFvYWNyN29VVitocHNaaDNiNitUcVVkZmJjNnRXVWNrTk91SE9DOUc1aitiOHM0cUJWcHR4NnRwclVtZkRWL1AzRGJVRzhjaW9FZWx5LzRObU9lRG94RHdac2tOR1BXRm1XTmc0UzNaZ0luMnpFT1RXcEc0MkRKOGt3Q0pMQjNCT2JkYTZwVkhYS3hDWnZBT09DbGZOcHFsRGVRRU5NOHdWdnJqdW1KbWtvNzAwcFFpQmRNYTlWd3dCaUh1SGdrc0JyWHBLMmlVKzdXbytVbmU4SjFoTUtDU1JXY3ZIRkFJNEkyRnF3Qzc4QTQxTHh4V0VreER2SmRTYllHbGNBNExKcVJ3M0ZqaHgzVkpqV2pjYkFVZVNZQkV0ZzdBdm5OV05uVlFNSEZGcVNoUzdVNUtKU1FBWjNrWUY2bm90VTlGT0pxVEZqYVBvZEFxK0pSVGpkeWlJdUhsSVJ4bU1ROGxsdVBqaUowM0dkY1VhTk9KYnVnOERPaDBObCtkSVNLbS9jemRXY2N5aW5HQVZOamJqbWxHaGdIY0ZtV05UdG14bVRPT0RTcFdWdkdZZlN1TndhdHBaTUVTSUFFZWt0Z09GeXNoV2hvM1dCWGdGTmp5aHpvSnpGenlnRE1oMDgxMVpaVXBhQUVXeHNIYU0wTHBnbVE3b3dEbEhZb3ZzRTR5QlhwM0xMSkdFWFlQK1kzT295bExVNzdrUU8rSStwMHR2eHNuUmxHZEdBY3ByMGdZSnExdGJGMlRPNWI4R0YrelFGTXAyVDRFYk92d2xOTnIxbGJ4Z0VjbFZBcG1BY0prQUFKOUpyQWtZU0trWThyYmJwQ3ZCcVRiOUdESnNlaFAxS0dkT2Rzc2xFejAxNEpEWWFNVEJzNUxQbzFoMkpCdmlCMVdJdU5pMjh3RGxEbFcwN3pRblF1K0Rab3hTNWkyQXJKTTR5RHJTQjJWaXpiS0NqcWtuWkRvcmN2TWdnUElNM29xR2F2N0ViZFRZSVRkVy9qSW1zYzVPY3cxblNDb1l1cStNVk42WVZnZFI0M1pzbFRUYTlaS2pjcEtEamtGRmE4K2tFa25TUkFBaVRRTFlGcHAwSzFKSFRKYmRjYUFWQnJWc05HODdyYlBLU25rN0RQMmIxMjQxcmpLaWFOUXpETjRoNzloSGEya3p5bjFxWElFM3FhSnk3ZTJ5TGJ3SnliRDFJaDkvdU9jeVkvWlJNRloyaGdXM1dZQVdjK0NxN2FVSzl4N1RvZURBYnl6Z3pJeDJZdkdMbVQ3dk9kMTc3Q2gwS1g2eWUrNUlMMGhrNTY1TGxLV0hWT2VzRjBWcDZMTS9LL054WllqRSt0R1o3aWNrTWR4MDFuZGY4eGtqTEcyZ1hSUVFJa1FBSTlJNEJaRnIyU1lDVktwV01tNVJFRWZXa1VHbFNiVnYzSHZTVW9tVXlGYzlxeEV2VFFaUWllUnJJOWJTbEo5NXRsQVJNcS9kaWowTHNMa1ZuTlRvaUhnb3c5WXl2Zm1HRm1aVlJtcUhZemd4OGRpeWRVMFVvRHp4b252akp0RjBqUTNpVVRpaFdDZU5NbkEzM3ZLcWtZV05PQ3VwZDA3dko5Z1ZwMzZ5OWwyOGlvVnNwSjA2Tlh5cTBaS2svcHpHQmhpS1hYTEpXYnp1cit5eEdlYlpRTHBJTUVTSUFFZWtQZ0N6bm9tRGNGc2pMVENQQXpUVld2Z3VVOHpTWlNydHNwZXpkME9MbWxsWDJtSU1TTEFsbHlmdC8ycEtWdTF6Wkh2bHJwUnBrcVU1dkNQTXhNdERpajhpVEV5L243aFZEWXBOZW9LdmpqdHBxWm5CSVhwcFh1RlJTbzY0VzlhSG54WEIxZmRnT0g2SnZRUDQrVmdLYmJNWTBzZlVybmtEVzNheHJvNko5VG9ZT1BZRFJ3eFlpWGlVc3FHTU1aemVMNmg1WGFIemJxdTZZNitWbGpGS1ZFTzJaSnJWa3FOMU1iZXdJdUpkVDZlU1lCRWlDQm5oSDQvYTlDdytDNGVkbUl2Tyt1bkFvUXJ6ei9uVkgwbWZNUFNOK3Q1MStqb3ZIaUlBd2FNcmtwa3hqSzlSK2s4NFRXOVIrOXN5QlR2L3g5cjExVENVYlAzd1V6SU9vUG5WK3prbDUrWGo1Z1UwRmdDZWN2UXhvV1pPOHlpOWloK0t6Sit4OS9BdW5NZ1Y3N3NuWExNMHpSbFZYcHFCcmJKTjMyK0daZDlZdGZlKzJHQ3ZxVXNWSS9ZOVg0eVBsN1pHM3JYenYvREozblBwM2o1ZWZmRk5uU0h6cS9HcSs1dERqS3dtWEs1K1QwMjhYWFBzTWxmdDk1bUFvWUQvRml5RHVCaVM1bzd4Zld6RmdIU3d0VFVYUlNqYmtzMWZjdHBOZXNLVGRkVC9zZjQ1N0V3TWZHOEV3Q0pFQUNYUkpZaElKUng1SVI1QUpVSDdwb1l1MkVQVFRzMy8zeHZWZGNvZmNLOGFxN3IzdUhHUkdVYldyVDRaZXJzL3BZaUlyV0tXZUNNalVvNVgveDRWcDlPWks5ZHpmWUNNVEwxVloxMko0OHNrSHh1cEtWWXdSVC9mLzlEejg3TCtiaTRkSzNiZ1hZK1J2VTlTYy85dGsvRmVMZE9yR2MzTktINmNPN3BuOERHN0h0VVpLV1RCOTZCZ3FEaE8rYmlMSlB2eUxYRVhBOEdpUmVnK1RyRWZiQ3YzcW1lSWt5WG01a2tzMkpLM2QvVGo4MFhKVDU1S0hOVnBTc1dWTnV1dUx1Zjltc2Nyc0FPa2lBQkVpZ1J3UVc2MmR1dXVPMlUyZmROUHhpL2RRZE9CQ1VoMW91MXMvQ0M3ZVpjcy9NUzUxbURRbnFBRjJMUS9mZm8zTDlqRXg5T3UrTXcxa3AvZlJaK0owa3RVd3dCT3VBNDJteUZSK3AvNWh0VENCK1NNaThrQlVZaDZqZ2wwSjBsaE01SlVjTlg2d1FjMTdYVlVmaDUweUlycXY0b1BFZUYyZFA2YlpiNDJBYks0MkRyVG1NZ3cwMnl4TmZoR0U3SmJhV0ErTmdFNjlKMFc5WFZYcDRBczZSd2kzTE9La0QzNGV6azFPS2hZUnVqSU9oNkdvMjdFcFBjclBDOUhtazhLcDRBSDBrUUFJa3NFY0VNcjl6KzlZSHdySy9jRS8rbGwrVGluQm5SK1lYNzhuZi9Pc05lUnJFeDFPOHVXRnBJZnVYdDlkZitTZnhWRTE5cU91Wmh4YWFScmNiTWZ5aDAvVlhsdkFFMHBsWHYvYXYvcysxaG16ZitsMjNiLzE5STVLblBKaC96bXBEWWgzUW81bzFrYzVn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WlBQkVpQUJFaUFCRXBBRWhwL2Rpc1A5eTYxUzdLUDQxczNwUldWL2FhRXJLZG1YeExNbi9mRlkra2lBQkVoZ0R3ak12NnhWb1VldXRFcXhqK0piTjZjSGxSMnNyM1VuSmJjWno1LzB4MlBwSXdFU0lJRmRKM0JjckxZcU01UDdvVlpKOWsxOEc4M3BRVjNMbDdzVWN2TGlSRXhDMGgrTHBJY0VTSUFFZHA5QTdSdXR5N3gvSzY3S1d1ZllzeFR0TktmcnlvMzkvKzI5QzN4dFdWa251RS91STgrYmhLYXdDeFVTMFNuSG43WUoxaTFiRkRtQmU2dGFVRHdYaTJJYVdqbnh3YVZMYVpKV1JPMW1USHgyanpOTllndU1JSEtpQW80ek9rbUx3dmhvVDhTU3RrRW5WMFRIZDZKUWRHTzNuR3NsdDZ4Ymo3dm0vNjMzV252dDg5am5uTnlicW0vL2ZzbGV6Ky94WDJ0OTMzcnN2WS9vYjFjcHk2WnF6dzJraU9OQkprY1lBVWFBRVRoMkJNNklyVHpQTno1WXUrc25wVDhZL1NlVU95bENVNWF2Y2F1a0pOVVp1SEQxUi9zbTJZejhiUnp2bXdFVFlBUVlBVWFnSHdRYUQrVnFqellFWGRmV2tiUDNpTXpldUpZcmRXc21hSFYrNDlQSjY3K1MwSlBKckUvL041bjNGMFdYdjNRYUYvTlV1SzlyVEZ3SzZzZnhJSk1qakFBandBZ2NNd0lqNGlEbU9Ga1hSLy8rLy9qcFQ0Z2JzMW1sOW5jeWUwUnN4c1Z1eWJoUlowMjZ0OXkvaDBubzBWeXlUSkNMZ1pGMEhsSlhQWDBYQm5GQXYzRGRvNGhnSEE5ek9jWUlNQUtNd0xFaXNDYjhLVEd4cmpURXd6c1UrRjd4MWRrWnNVakJMS3Mrb2U2MytIK2p6dnZ1ckNremYzU252SFJNR3ZYSk84OXJGM0JCNXVtWVhFR2RMWFFPVzA3elVhRThwa3NwRXpvbHJnVFY0bmlReVJGR2dCRmdCSTRWZ1VvdHQzditTK0w2cnBKaDQyaTNJWlpWZUsvek0wMnE0RTM5NzZ0emV4MkczbW4zcTkrQzZLR1dydkllY2dKYlJ0WmYvV2JFNUVSK0dvRWIzL3F2Zi9kcHYvdUJGb0lQL2Rwdkl2UkhkUVE5UzM2YnEya29sTGhQaWZDSnB6aGVnaVJYWVFRWUFVWmdRQWljaVhhKzhVcWNNNXBUNHV1RVdGZWN6cGtseElBWUQ0ZE1vTTRNVFBvbGo4OFBJVzZpRllUOVl4VGt5ZWdaSVY0NnF3cDUxYWRXaEgvS1VQZHJHb3E5My9lTnE5SlY0M2p2RkxrR0k4QUlNQUlEUW1CYjdFYVV0ckdaWks0MW1GQnRLck5hL3VEYUZMdDE3b0U2cHlEOXBpL2J2dE1tcStxbGdzbGZFRWNVUEMwT2QzWFNhYS82YU0yak5DRWUxMFg2dTUzMkhRNUl4ZkgrcUhOdFJvQVJZQVRLSTFBUjhvaldJNERUMmxVYkhYY2JNZG4yQ2RoWEN0WEJLc0F6NlZBS2k2SWRvMXM5Y2c0VGFsVXhJMTVvU2xEMVpSTnBldWYyY3k3WlpKZTZUMFQ3U25HOEZGR3V4QWd3QW96QUFCQVl6eDJ0TnIxdCtteEtPT2R4S3RpaUdRRHZJWkFJMWFIemcyRGxrQzJZVGJJc3c0bEMrTFJRUzY2aFp0eHhRdUFjem5yYU4reHFxazhWcXRIMlZCenZrenhYWndRWUFVYWdMQUxOM0NTNDZrMlJ5WVNxMXh4QWY4d0Z5M0liZXIxUW5ieHo4QjRJeWptSE9ibGkyblBuQUlGenFJZ2xJLzJrYzVnbXFlUjl3L2txU1NHT2x5VEwxUmdCUm9BUjZCZUJWandKUGllQ1E0aDliMlZSbFp2eS9YSWNhdjFRbmJ4em1IQytNT2NjenNvMVE5T2RyQVRPSWF0Zk5aSlBlNWlZdEhMM1U4N2pTQUp4dkJ4VnJzVUlNQUtNUUw4STVDZkJlK0ZtUzlON1JtbmZmNXF6WDg1RHFSK3BrM2NPRmJjc3lqbUhTWGs4dk9ZZUx3MmR3NzU5dFNGY252U2p5RGtSdmp3U3gvdWh6WFVaQVVhQUVTaVB3SFIwSkpwbEt5TDRESjkvOWpvWHpYUExzeDFXelVpZHZIUElHb3VHZDg0NVpGVTZuOWkyQ3dTOC95ZmNRaU5yUHU1cTdwaGduL2VLZWtMS1VvbmpOb01EakFBandBZ2NLd0p6M3NKQU1SYkNXVWVrekhpNzR1TzMvS0ZEcEU3Q09UamJuM2NPSzVlZzhQNmliWURRT2N5WkpVWEZ2a2xuUzVZT05EeDRpVWdjTDAyWUt6SUNqQUFqMEE4Qys5R1Q5dlN3cDdPT29EempuVW1NaXVqaG1uNDRENlZ1cEU3Q09UU3Q2OHM3aCswbENMV3dhU1VMbmNOcGN6Si9UcmhqQ1Z1MlpHRE5ld2FLU01UeGttUzVHaVBBQ0RBQy9TRlFEVTZmUVF2MjlNQW5lZG85dkpObDRWbTFYK3dXQ1VmcUpKekRqTGM1Rko2dTRQdXo1RGdhODFhWDBEbE1QNm96VGdsTHd4WXRHNWlKYU1YeHNuUzVIaVBBQ0RBQy9TQXdtVnNMNEsxZ04zVUc2Um4vSGJsV3ZNN29oL2NRNnNicUpKekRHWHVpa2w4NVNNZlIycktDaGM1aDNKd2RONlBadmkxZklqQWRyVUxpZUFtU1hJVVJZQVFZZ2I0Uk9CdlpKdHBHQ2szZmpObE1JVjdiNFpaVDMrd0hUU0JXeDNjTzR6OHF1WTJiK1gvK0pianNGRG1PK3FxVktuUU9JOFpOcmd6UVJVNUU1eGR4M01yQ0FVYUFFV0FFamhHQm1mRFJKSERlaXc2azUrd0RuRExUSE1vZW80dzlzSXJWOFoyRDNrOGFzZWNGM3NwaDZtY2xFN2x4Vk51eERFUG5NR0hlcC9ZL0wyTExsZ3pnRFhUSER6VGllRW15WEkwUllBUVlnYjRRV0FzZlRRS3RwditSYTRwZjhoaWNpaDdMOTdKdWlXQ3NUc0k1ak4xakpQV2N3emxsOTgvU3hwRjNBQjg2aHpGOUdvOXZUeGtTQTdoWG8zZEg0dmdBV0RBSlJvQVJZQVI2UldBaDNFTkNkYXdjZ3ZlZ3ova1QyM0Z4bzFjT3gxbytWc2QzRG5QeEtiTG5IRWFVYzZnOExaUTJkQTRtYnlSM1RtTnl5dHdiNGZrL25tVTlLRU9HNnpBQ2pBQWprRVJnNmdPL2NNZUQ1OWVSOThQbmorNzZmRlZtOURXMUMzL3RHL2ZSTHo0djducHRscjFoV1JYSTZybnQ4N25jdCtwMFVicnBENWQ2S2VXQ0gvbFhIMzM5dlYrRnVtUGZYTHZ3ZGF1S3lCdGZmdlNDTHd6b1FkeWpGL3g1a05RK0VxdmpPNGU5TnM3aHJOa3hDc21ubmNPWjZKeG03Qk5ILzd1cDl3Y3YwcUUzWDN5RkF2NzIxOVFPMzZFVDMzdis2SGsvWllycSszYTBkb3ZqVVhHT01nS01BQ1BRRXdJYnNPbUNYcWo2bURpcUNmRmxWSG1pS2k1aUhZQkVmZjJEbW5qbC9SOFhMeG16czFOWnhXVExPLzJHd1kzWklNbEZKcU1kY3BmVFV3anZVdUI2Sk12TzFVakN3M1dxL1ROU2NQSVk1aHFwaWFPcUVGOXU0bWVQTHR4MTMzMTNYcFM3OVBzWDc2UXdIU0c3SzFiSGR3NGJiWnpEZUMvT1lZWWtkOWRrWFZUTkExN2d0eWx6emtJdlNmTXpvSjVRbTNHVkZZR1MwUzRTdHZIQ1k1dzQ3aGh4aUJGZ0JCaUIzaEV3enVHM2p6RDUvZ0Zwb3lvdC9CRDBhTjN0QkkycFg0WitWcTFxTnBPd2ZhN210NDZoL0FubGgxZGRRaEJ5dnhFWEpQY1lNYzVocXY2aW5XeXNLczNvczhXM1pkbDNDdXUyc0txb1hmLzVMUHVnRU1aaDJGOTNKcG4zNFY1d0JjNGhwNDd2SEJwdG5NT1pYcHpEV21qTzF4N2VuVEJmYWQwWCtyV0ZsYS9BeDhFUDRQM0VQV2lEbXRScVczemJiUGFEcmprVWFEUCtCOUtSRk1kVktmN1BDREFDakVBNUJENTRmeDJtY24ycTlvMVV2MDdXNm9HSFp4RzBrMW04KzN0dGx6SXovSURQSlJuSVJ2Sm5xekN3ZFAzdHJpb1IvYmR6NUNpOXQralVIVzhGaTBlMGhOaThXYzYwNEMzdnZiUUZLWC8yYk1xVzE5ajlQeVpsdTdHTDZIZkk0TjN2VkZucWYwNGR6emxNYXJQdHlyZmM3em5NOU9JY0ZvS05vRWxhcmhrZlc5ZUxoTEdqV2Z5cUc0NjNHL0xkaUQxcWpyTnl6WUNua1phZENBaWQ4alNtakRnZUZPWUlJOEFJTUFJOUl6QUZ5N1IrMnlPeTNoeWV0cXpVdGlpTW4wcldzK3NKKzVKQ3d6aUg2ZWdwZTZvQU1uUWQvVGk1bHZocWlLVTRxVno4dCtFY0tyVjFxaXdsdkUyOWZqRG5IaE9kSUt0TFY4TTdBSDRtSkx1bUJHdGd3K2JQVlFuelA2ZU81eHplME00NTdQZmlIRm9XUitKN21nU3Z5cVdCeEU2K0RIRUt6UURlMmJSeXgvREd1MW5yNjZXWXJVaU84ZkQ4SDU0N2VCNUExdUYvakFBandBajBnVUFUemtHL3dRVnJ0SGhHK1FuWVZtMXQxRy9aRUFQN2syNm40MDBPWk83Qi9zcnIycC9saFZrSlpzMzUvSzVUY0hyeGlIbFp1UUVYVlYrWFZTSDRrcWF4ZDAyYi9sUCtaSHZmUG1tN0o0NjJkRkZ6eTZsam5jTm52Y2RzK0ppeS9pL0JUVWF6ZDFNR2E1cG9uazg1YXBQSWxGblpSTWhJdlkzekdzcllXS1NWZ3RpcUgxQ012bGUxUEsyZjg5b3dXMUF5UnhiVElYVkR0U0RPRVVhQUVXQUUra1JnUm9oL0szY3hzZ3g3UTQ5dnp5dDZHMmJQWThGYW5RbXpjcGlKTEJYVndCTko1bnFwb3VEOTM0L212VExyczc2cjZIcVRWelVLd2psc1hGRnBhMEo4V0wrYUJqUDZtQzY0QWw4bmcxQkcremxFWVR2MWk4cDc0cm02cEwzbDFDSG5ZSy9IYlRrVmFKbHRwYW1GbnB4RDREQW02YlVJN0JXcFZ3VWhuZlFCZFdnR1AzZS9kZ2p3aElzckI0cHIwL2hxTFUzMDIwbzRwY0FxZ3k5R2dCRmdCQWFIQUp6RHV6RmpwUXM3TlE5ZFVNRnNUb2g1R2F5NlQ2b2E1N0FudERmUlplVnQyNXBUOFh3L25jSWJaby9LeTZqVVhJVTRwTTIvVjlvRXNRTHdKUHc4VDNCZEFsU1Z4Y1ZHbDVPY1BucXhMa3RzNiswbFF4RDNuRHFkbk1QaGM1N3puTXZ2QXFjZXRwWGdDVHl0cHNtcndYMWRWV0tvTTVNcDhoaTA3TGlrVXRFY2o1cnZGKzRKN3kwN1pNTWRycXBTNm44YzkvTTR6QWd3QW94QUNRVHdFR3AxWGRlRFlUS3o3Um45ZUdYRk03RXRiYlhXb2tkbFpHMDhYR092blVpT1pxSUNUR1BoZFJEVmQ5R2FPUFFrMUFhZk5taU1uUVpOZFE2UjdmdVQ2ZHZNL2xBMXQzREljdXFRYy9qU3k1Y3Y0L2xkVTgxSjBFS2F1UXhUbDB1aDVMWVMxTjF5eFpya3dMQmdXRkpKYy9JZGlITzBZcUJuZ25kVkt2eUpYWEUxYmFyS3c2cGlTNFhTY1QrUHc0d0FJOEFJbEVBQTFzaE1UN0V2YnN3VkdTbnBDbUNGTE5FRjdSeTJFd3NCVEdick1HYnFlcUd0b2dKNzBRdGdNdlV0cG5UdWZyZ2ExWGRSU0xpb1k1RFFIc0xXckFzRE1iMnNhZnIyRTJwSUxjZU41WFVrOFYzQTRNbFdlU2lzWHp5WXFGcnpiQ3FVZEE3WWR2TzBra2NPVU9CQVVSMlJEdTBNZWJVOTY5eG9aV0ZYR3h2UnlnR09ZMTdWVmYvanVKL0hZVWFBRVdBRVNpQUFFMlUvS2xkMUcrTTR6NVZXR0ZiMWlxRzZmVW1GRnV3T3Y4bVI5OGsvaERXVGw5NDB0N2t6ZG1Kdmswb0c0QnptZFZWSXFNOFI2TGtmNCtDcTlqR3JPYWNNYW15cjJIYmtCNGhXVGgxN0lFMStvdWpNNGJPL3YxYWdWWExsZ09kbGQ3VGd1TlZXOFcvTmJIVmxreEpRK1kwL2VBR05NaDNqR0sxb0dlUnFVOGk4TjJkUzQ3aEo1enNqd0Fnd0F1VVFnSE93QmhPV2RWMVRnWVZib2lBMnZzMCtUcmEycVRKWGNoWlRwV2VqLzROUTE3cE8wTGNaTzdFUDAzdVB3VG1RWGFVTHpzRktWcmVMQ0JqWEE1bE5YeEhYOGxJY0I3MlltRTg2VDZjSzBmK2NPcDV6cU9SVWJka3RyTE85T0Fmc0llMWFscFBTMHE4NGd5OFBIOWFXcEREV2lhQ0tWYkRoL0lTaTRueElPcTVTK1Q4andBZ3dBbVVSZ0hQUUo3ZzBBYmNXekRnSDJtcVNiOGlCL3Vpc1l0SndOV0t1dDMrTDlBNlh3dlNCT2djdEJEa0hPNnQzem1Hcy9pV2FONXpEZ1NjR2ROdkpick5yRFM4bnA0N25ITElWeTBQWGNNNGhhMTMzcUxoZ2N1VUE1MlFFeHh2UVVneHY1VkZkUXZXRmVmeXJPajhLQlNsWlhsWDFQSk9KMHNvaHhEaU91NUljWWdRWUFVYWdEQUp3RGxkTlBSaFFFN1RPWVFIVy9sWE9ybEYrenBxYVNuVC9FSG1IeUtMT3hQTmV2MEpQWWJncVV4NjIwd3J1bklQSmxiOC9kT0JpdEptL21OVkRpNnF5YytyNHptRXRVc1gvc1orOXNzNWg5TCtETTQ0VTdNS2d2b21FNzkxVkQ0d3BxYkpzVG9obEhjYjZ6ZTc5cVNSMzlwS082NHA4WXdRWUFVYWdKQUp3RGt1bWF0V1pYdXNjWUtLdzkvMk9IVk1HOTFieHlnRzV2NFh5VDNpbEVUeHRkMzNDOU41aitLaWVxZFNqYzhBTy92V3pSN3VtdG5mUHFlTTdoM1pmWlQzVmczTUF6Vm1QSjRKWVMxdzFLZXExZE1Ud1NLcmQ1RnR6bTN4K3NxcFRjNjBtRStLNG9jeDNSb0FSWUFUS0lRRG5zR2hxVnAzcGhYTlFwc3U4M2ZaMU82WlVWbmRXemFhNVFLVnFkK1ZONGlDZGd6MmpoWE5ZTWd6cXpxdXBwSS84eUIyTmNGc3BRN3hsRGErcFNQZWNPcjV6bURNcmg3ZnJLdDYyVWk5ZlpRV2VQaytFWjl6Q0lCTzdPaFBuRE5aakxEaC80aWVya3JFemlPT2FIdDhZQVVhQUVTaUpRQ2ZuUUEvS3lPdHczWERJV1ZPVG9lNXIrSkJSbUFJN0hpYVVqdUU5QjFPMzJEbE12YmV1UkQ0d1plbU84cW5qNkE3T1FUNUNoTnFUaHEvbkhIcjVQWWU4Yzlod1ordWovbkxva2hHNjduUkZJeDJZWkhXdk9pY2lFK0o0V0pwampBQWp3QWowaWtCSDV6QldVNWJXZkxvdVlVMURuckNEeHBMcWpPTmRPVXpBTmJ6NGo5ODBFeGxVZXFjc0ZGVEhjcjdPWHprWTV6QmhIczl0dVhXUi9pVzRtQ2owdDRjRk5pL3ZIQnB1bWFaL2J4U0Y1OXlqdWpoenRzZm5lem0vRnE4VTRyaGx6QUZHZ0JGZ0JFb2gwTkU1WlBSTlUzbDl0V1lRYjlLUGJnV2M4WjJmYU9Wd092WVdRZmxlSWwyc0hPaUhjdjRjTkdQbmdJOTQrTSsyT3E2eE92UmxWRnR5WWtzVlBHc09oRDNuNEd5Nkk0WlEwam5renh3ODJ6OU5yNy9KQ3pLdTZxQi9ZTDBRdkNWQkJXcHVNMUNXaitPYUNOOFlBVWFBRVNpSlFHZm5rRDBMQmxGZSt0Z2hmcnpudE4wbWx6TEFxa1VudGNmcEhNZzFyWk1jTTlIS2dZeTJOY0pTVVAwdlZpZHdEcWFndGQvQXdtZzM5cmNtTjdnbm5VUHdLQ3NWeHhuelk2YmFqSDJZZU1XdGJxQ0lUYTdtdkd2c0RPSzRJYzEzUm9BUllBVEtJZENGYzhpeUQ2dmZ5MWxVTEdKcnVxZlR0UUI0cWRwTXMzWEtJTjl6c0R0VzZUT0hxYnJabU1rNWgyMDRPTzNlQXFoaWRaTE9ZY1pZY3M4NUJGUmNwRHZuZ0tYRWtxbXpjV0JDM21zT0tHQnd6U1BLN3prWXhQak9DREFDUTBLZ0srZVFaYmRqVG10c2Z2eEs4ZjVtSUJzMjk2TVora3o4Q2xkUXZwZEl4MjJsQit5em9MRnptQlQ0bWxQODFTZmlIYXVUZEE1Tk00c3Y2Unp3dk5GdW9DakVXellKalMwZDh0OW44QXJnMnh2bW9TbFRKVjRXeFhGVGp1K01BQ1BBQ0pSRG9Fdm5rR1h2aG5kUUxCYmNzL2d5b2JVY3NNYTJVbVRLNXV4T2pGZHdzdWpuSEw3clRWNnBLTmpKT2RDSHdGZFZIUmpYQTcvMmJUY3dBVGZIeW41R3JFN1NPV3d2NlNvdHQ2M2tFL0hDeVpVRDdMdVdTNWRzdXJjWU12c0toUDgrQTAzUXY5OEFBQ0FBU1VSQlZBcHM2YkorRzZra2VKSEFJOGR4WFpGdmpBQWp3QWlVUmNBM1BJbjNIQ292c29RYnhscHRDUHRxcjh5MDM4SlRSZkZteENWYlNRWlNYMlV0OTNzT25ad0Q5bUxNQzNpeGMyZzlsNTdLdlJKS1JyRlluYVJ6YUJ6b2lpV2RBOHordXFhZ2JwQmxWaWZZSjZIb0s5NVhUU2tVMk5YaFprN3UrQ3VzY2R3UTRUc2p3QWd3QWlVUjZPQWMxRGZpSkcyY3FTN0xRRFBjTmhxTkxDNHNYR1NDMThJS2tnaldGNFhYZ1N5Uit0ZkpPY0NNTHVsNnlqbU1ydXJvQ0V3dFhFZmlOYmhJSGYrVDNVNEVyYnIvTTZFdU13d2xWdzVZdFd3RnhScnVqUG1VRlFwVkw1bFNMZmVvNjRyeUU5OHphL0xvMnhzQnVUaHVDM0tBRVdBRUdJRnlDSFJ3RHFQZWJvajVHZVE1Yy9pZ09JNVl3Nm5pb09pc21FemFTTm5ra3IvbjBQNUFHdlA2S3hvSDVSeWFpenE2Z2RVT1ZpdEhrV2pJamRSSk9vY3hhNHZCd1R5dHBDbkh0NlJ6d0w3UGZGQ3c3cmE0MWk2Wm5EbXZsTWRILzF4RmRjZVU0MStDczBod2dCRmdCSWFFUUVmbnNHd1pMK2pIWjZJZlhUNFRibjluemRCM29QcCtmQWhoU2ZZYTZMQnlvQmZkZGpWTkdOcURMRFBPWVVvNkRTd3NyQ0cyckNOMWtzNWgydnJJa3M0Qmp4Y3RXNDRVcUxsWDNGcnJKbWZOblV4Z3FmR29Uc2F5Z1BiS3B1eDcxUGl1cTlOVEZvcmpoaURmR1FGR2dCRW9pVUJINTdCa0NXOW95M29xZk1sdExqSzRyZHd6UVN0dUo5MFNLeGZvNEJ4Z1J1MWIwSEFFQjg0NXFJL2t3WWJhdDQ2dEFKRTZTZWZRdEl1aHNzNmhHcUhrRGtkRzdXSUl2enRrK1VEVXg3V0kyS2VqWjZYOEY3S1JaT1duUUJ3UE1qbkNDREFDakVEdkNIUjBEdVlCZi9vSnkwMUpmOXJ0aGxOOHc3MnNSZEhFOW5mTFByRlBCZnE1T2pnSG5JWGI2ZlYrNEJ3YVM1SXRUUHQ2ekQ5U0ora2M2dFlXbDNVT0xYc1lvdmpYN01KQS9qeW9TcXk3Z3dqdlBRZzAwUUh5M2RFRWllZzhDbFdONDVUR0Z5UEFDREFDZlNEUTBUbTRxWFpUNytkalVqdnJjVndKdDVGT3VjMTBVNmdXYmFtWTlON3ZIWndESkxOV3ZPNDdoM042VytnMk54KzN6Q04xVXM1aHdxMlZ5anFIL2RDRlpuWHJIRFlXclNqZXdtYkdQYXk2cDA2ZjE1WnNPWHdFM1RVTHBjWnhWNUpEakFBandBaVVRcUNqYzNDT1lFUHY1Mk03Zk1majVUMEFTNmtOOFZ3dms0STRqRjJQa3NwR096Z0hQREJxemh4R3I4bnpCZjN5OGJaK3dRR2loMU51Q0JLcGszSU8yODRXbDNVT1RlR1dZS1I5dzdqVXFab0ZFNHN1SEp1cnE2azhBa1hXbERPdWI2a2Mrai9uQ3NyRU9PNUtjb2dSWUFRWWdWSUlZSWE2WkNyVzNMd2JINmU0U3Ntd1Y1c211MkcrcCtmc0ZySmcrbDJSL0ZFcFNzRDY3aG9hZmQ2OWJTTjROU2toVWF4cXdlbEErb3BpY2VyNVVySDlaWXFPeUJOZENxMEV3bElLL2VUbWxyeWJmL1M0a1ZXYUVyRzJlTUprMXROdjBwbHMzQ0ZZV0YzbXpRaHp2cXlLYm9qcktuREdyUUh3cHB4NUVSdUgrQmEwTmJsWDVyN3JqWHBOZXlDaGlNUnhsY3IvR1FGR2dCRW9qY0NjWjJOaDFXWTFJZmdNZVI0SzUyQ00ycVI5SUxYbEd6K2FyVnZUaVY5Q3RxV3NTQlB1SU1DbWxRdVFJekkxSWFHMXBFamVsZWtObTloYXI1SWs5VldrVDlhdGhFMWhadXlHRHIyNkVMZ0NhZDBQWEhZMld2ZmVqNEFEemEwOXZMSUl6Z24zVlNTWE0yMmNnVTZDK0FycnhpVmJDRjVwMFVTODF4eWFjbFBybEYxVW9NaTI4K2l5UWh3M1ZQak9DREFDakVCSkJCYWNhYWNkKzNsTlpsOC9aZy9uWVBhRW5tNHpGM3pUaE9udWU1eDFIUmRITzdFazQ1RmRqUE83ajRPWFdSblExTnA4MzQ4RTM1UlVIb0RwbnFYUXN4L0NRZmxoTmthR25JeTdTcFh2c0lsM3lxTHVYNkFPbGtJcklDYzlveXhTK2ZhcUY4Y0h3WVg0Q1ZjM0h5SnU0dnB1bkRFU2VVaklmSVhLakhodlhzQmhMSnQ2TlFmYWFSbGNPVEJadURjYzRqSTFqbnRGT2NnSU1BS01RTThJdlAveUo4allmZTNsMTJWVGwxOWZRL0RvazVkM3NnK1o1RytqYmFXR3NzR1RWYjBQUXB2Z3puYmlTOWdQVmFybVorTHd5MER4aVFQdHM1akZSODhDK2hVbXJZUzd2b1MrNExTREpiNEtsYzdWNXVsOTZIdGFqMlZuMzBvcUN2a1prSXA2OCs0Rmw2VmROc1I5ZFQ1NCtWMTFXZjVUMy9RY1hIZmMvMkJWUnEraThCUmlNaUsrOWxPWG43TnJxcnY3dWVkY2ZwY3VjZlRxdDE5K3pyckxJaUIzdlNpNUtUcUVxRFNlNzFLYjdqVUhiSkJaMEVib2lIL0V1RGRadkNhMlhEV0U0bmlReVJGR2dCRmdCSHBFWUVQWk90bzFvU1dDdXRhenBnaytpdVFuUm1zdjNjbXkzMm5aT1R0K0tzSGI0cGpCSlBZWjR1anppZld6cW5ZMjcwblNkUHMvWG1yUFFkcS9VdGNxM0pPK0hwSCtRRVcyUVBMWkNON3pwMThzWGdLN1c0ZXZXNlhmZGFCTG5ralRtWVM4THZuY2ZYWFdkSUg0dG9nS0RpTEtYZlZKcURBT2FvSnIyUzlpVjJBNkVWOGorZjFzNm1QWFpsMmhiYlBWSkgvdXdXNmE0VWhsWjdMbGYxQVdQdENySms5MWdyZ2p5U0ZHZ0JGZ0JFb2dzSEYwOGM3NzdydnpZbzJjdzhVTGQ5MTM3L21MMkVWcW11UkhZWHJuNmFmZ0xtQlY4VHJMSU5nbldxTmo2bjFzM0h6eThzZGhnM2R0S1J2WWo5Ny9zaG05QmNhc2hIQU9Sa0p5RGtid0xhTDN2ZEk4UDBTMmNxSis5eForOU9mb3dsMzMzbmxST3djcWUrZjUyaVZrMjh0WFp5Mnc3aTZ5aWRLQTZLNzcxSFhueGJSeklEalZCWlp1ajRoWTVYWitmb1pnUGRxaVBIMnRPZGNLODc5c2t1RjdEOFYxMy9xZmM0L1d5a0p4M05ia0FDUEFDREFDdzBGQWZwWDFXVDhtTHJ6aSt4eURVWC8vZklIMmtTcC9vT3pvUFR1dWxBMjFvajBRbXpHVXdPMWY4UExEdi9FdGFVY3VnVG9kUzVjdHNPWWYxRWdpYi94NDdRWHJQcm1SaS9NMityRjdiRERMM2x4Nzhhb1h4WTZaM1hPU3lYSGNMOHRoUm9BUllBU09EWUdhTjIvK2cxM0o5dmJYbkQ5NnBkeGJpcVhBSTBZOTJlcTQvdkRqdmpwRDQzWTYveGhYYVY1ejBVWmRIQzlObUNzeUFvd0FJOUFQQWd2Und6SnRhWjF6YjVDMUxYZnpNbnRTcDZ5WUkrN3hvN0lrYkwxOWI4K0pFdU80TGNnQlJvQVJZQVNPRTRFNTkvNVpaN2Fub25lRE85YzQ3aEk5cVZOV09DeWd5bGJOMWNNSmRaQVd4NE5NampBQ2pBQWpjRndJalB1UEszVml1amVZOCtoT2JQckk3MG1kMG53YTVvV1IwaFJNeGFub1BEcU9tM0o4WndRWUFVYmdlQkhveVJxdGVBY1V4eXRtdDl4NlVxZGJvcmx5ZzNPU1o2UGppemllWTgwSmpBQWp3QWdjRHdJcjBiNUdHNjZWL0ZkYTI1UytPVms5cUZOZXdMTUQyMTZiRXdlQkdIRTh5T1FJSThBSU1BTEhoMEFQNW1oa1lEWnhlT3Ixb0U1NUlRYm5KUmNpMXh6SHk4dklOUmtCUm9BUjZBdUJIaXorWEM5UE52VWxWUG5LUGFoVG5nbStTUmdlSTVjbFZZbWVlNHJqWmVseVBVYUFFV0FFK2tiQWZXaXBFNm1GVy8wdEIxS2dlM1U2cWRzbS85U0EzT1JJOUpaREhHOGpBbWN4QW93QUl6QmNCTmE2UFdXZWlsN21IYTVZWmFsM3JVNVpCbFJ2TkRwSExrdHJMM3JqUEk2WHBjdjFHQUZHZ0JIb0c0R3p1WTlCRkpBOGM4cy95RXFDZDYxT2daYmRKYS9ZSDdqdXJueEJxYnI1MFNXZEg4Y0xxbkV5SThBSU1BTEhnRURWL1lCWlcyN2IzdThWdEMxNGN6TzdWYWN2S1U5Rkx6YVhJelloL0ErMDR2dUNVYndjVmE3RkNEQUNqTUJBRU5qcjduUzFNcUN0bElISXJJbjg0c2ZGM2E5RmVNd3pzbDJxMDU4WVV3TjVjR3N1MnRHTDQvM0p5TFVaQVVhQUVlZ0xnYkhFci9va0NFNjdYNEZJNU42TXBNcm5DWEZSMEE4K3JGMTEvTHRVeDFVb0Zkb0lmckduRkFuOFN0QVRZY1U0SHVaeWpCRmdCQmlCNDBWZ1A5cjVUbk5mNlhMM0tWMTdHS243NGxXN1dlWE40dEpVY0JyU25UcDlDblF1WUZtTzJObG9ieXFPbDZQS3RSZ0JSb0FSR0JBQ0k5MDhtSGt1ZXBkM1FMejdJUE1NOGM5azdmZGRld0MvWStTdXJ0Unh4VXVHRnV4UHJaWWtnQyt3eXA4dGN0WGp1TXZoRUNQQUNEQUNOd09CQmZYYjBtMVpiL1J2RE52Uzd6bHpxcVkzWlNwVkVlN2RkNk5Peit6aUNpT0JRNHB6dTRtUFJUNDVqbmREZzhzd0Fvd0FJekJFQk01Rmo5c25XRTFHV3lDSklzZWM5SUFWZWkvNkRhSXUxQm1BclB2aFQ3ajFUckVaN2RQRjhkNHBjZzFHZ0JGZ0JBYUx3TVpqbmVqTlJXZW5uY29QUDc5cWx6dG5SWFJvMGxtZEFZZzMxdDFEWG9XY0t0RUJmeHd2ck1nWmpBQWp3QWdjRndKVHIrdkU2Wm03blVvTU5mLzdYMy92bmJqdVdyWmNSc1NpQ1UrS2FBN2VXUjFUdFovN2gzYjdxWjFWM2hsV2orTmhMc2NZQVVhQUVXQUVZZ1FtV2tKZmYyK3o5cndmM0JHUDJHUU9NQUtNQUNQQUNEeEZFSmlvR2Q4Z1htWlZYdkIrcXJQNmR6YVpBNHdBSThBSU1BSlBEUVFtcStMb0hiOGU2MW83ZENsMXU4UGswampFQ0RBQ2pBQWo4S1JHWUZ0Y1c4MHBPQ1Y4NTdDY3krY0VSb0FSWUFRWWdTYzFBbWZGNFU1ZXdWSGhieXV0NXd0d0NpUEFDREFDak1DVEdZR1Y1QnNXWThJN2tLN05QcGtCWU4wWUFVYUFFV0FFY2doTXBIOWlhRko0bjdmK3RWd3RUbUFFR0FGR2dCRTRVUWlNZmVMdUsxTGdjelYxSDZrK2J4Y0prNitwM2YxRmxESDZ6Ylc3ZjU4QzZscUwzaFhUeVJXUjNHMHl0ZmpPQ0RBQ2pBQWpjSklRcUxTdTFROTNTZUo5OWZzUWxlcXI2UjIyeWRiaHA2cTBnVFJhdi9icG11Y1EzSXZRVk1sZGVQWGh4cys3S0ljWUFVYUFFV0FFVGpBQ1Q3K2VuVkpmdTY0SitWSFM2U2V5RFh6RGJ2L2gyV3hFNE9OK0swL01adVBDZnF4andyMElIV3JkcEhjZlh2eFRZU0xIR0FGR2dCRmdCRTRrQXExNW1INzVRbk5OeU45aFh0dk1ac1RmalYvYmhUcDFzVHA5blE2WGE0S2lkSjBPUDdpcUV1bi9pSG94N2t1L3p5VnhpQkZnQkJnQlJ1QmtJakNCVCtSTkMvbkp2SDMxTUdwckZ3N2cwWlVEMG1kQmJMYVdLZEN3MzhQZWxzc0xTb3V2RmVVZHhQOFVaM0NjRVdBRUdBRkc0SVFoY09yeEROdEs4anQ1STNMbE1BVnZNU09PbEF2WUZ2ZW9UK2l0Mko4NmFCVitObW1zcXIzRHdRbkRnTVZsQkJnQlJvQVJpQkRZUHNpeVBmMXdhcDNlY1I3QjZjS2NlU3gxVytnZjMyellIK0VVU3hFRkZ4MzlYT1Vkb3U5MXV3SWNZZ1FZQVVhQUVUZ1pDRlJYYWZNSXl3ZGNHN1Jjb0tYRW12a2x0d1doenhycTVqZEpSKzBTUWxhSi9uMzRMZEk5TEVmSkhHVUVHQUZHZ0JFNFVRaFU2QXk2cXBjRk0zVDBNTGRJM2tJZkxEVE1VMG8xZXFpVnJnbnZvVmFWRXY2Ly9WdmdIcFN2Q1RNNHhnZ3dBb3dBSTNCaUVKajZTcnpSSVBUdmU4N1FjY0lEZUJPdWJzeDdUVzhpNFEwM0pOTTFVdlN3a3NyRy94OFU2bnpiSm5DQUVXQUVHQUZHNEFRaWdHZFFaNlhZTTJiR0wvVGUwWlFROHpJSEgwN2FVWnFOcTJNRis5Lzlub1BLeC85Vy9DT2hOb2NEakFBandBZ3dBaWNHZ2RObUUybHRVY21NcGNTNkRGbWZjTlorY25YYXVnVVZjTDhFWi9VOWJRdmJKQTR3QW93QUk4QUluRFFFbXVaTGV2dkxTdlJ6WmlsaGZZTDFIOWxaY1lGK085cGNkMjFxYmYrbDB4clZYWVJEakFBandBZ3dBaWNUZ1JXaGY5U3pzYW9VbURhLzIzUEtyQ21zL3lnNmM1akFBN0Rtd3NMREJQbk9DREFDakFBamNGSVJxSm5IVk9YWE02REZqSG9wanQ1MzBEWi93ZmdQUEswMG45SnoybnMxcm1KOFM2b2dwekVDakFBandBaWNDQVRzdzBwajZtVm9laWxPbS9vTjhaaFN3Zm9QUE5wMGtOTHF0QzVJZVZQR3Q2UUtjaG9qd0Fnd0FvekFpVUJnd3J6b2RzWVkrRzJ6VGxnUlY2VUsxbjhnVnRON1VLRnVUZk9nRTVMSDFLZS93d0ljWXdRWUFVYUFFVGhSQ0p4VkgyUE5zdVlsTFhmRGZKWGJ2QmVOZytuWkxIdU56Rjd4VGhlY252dkdzU0JwWEw4YzRYSTV4QWd3QW93QUkzRFNFSmcycnlXWTgyaDhuM3RaS1dGZWM1QVBLMDNSbDVmZ1FzekpoQ3FpLy91ZjQ1c1Q2MEVlUnhnQlJvQVJZQVJPSGdMVCtwR2tTZk85UEx6NnRpN1ZHRFdmV0ZxalE0Z1JkU1F4blR5UnBsOEZNbGZERURJSmZHY0VHQUZHZ0JFNGNRaU1hOE4reXV3TTJVTUl2RHF0dEpGbkQ2ZlZzY0tVT2FUMkZjV2hCUGFkMURVaHZzWUUrYzRJTUFLTUFDTndVaEU0cDdlVkZwYTFCdVBtRU9LTTJYQ3EwK2MwTnZCSDE4clJycno3Ly9EZTJ5VVQzekJmMmpBSmZHY0VHQUZHZ0JFNGVRaGdGNGxtL1dOMk0raTAyU09hTVYvUWErR3plNVhhcnRMdGpIaGhUa2w4Vk9NR0VjRTF3czhxS1NENFB5UEFDREFDSnh1QkZYbUtzR0ZOL3B4NXphRnA3UHdDbk1PMGVVcXBVajFhalJXZUVUOHVYaXE5dzJqMWNEZk81VGdqd0Fnd0FvekF5VVBnREwwSC9jeWpIU1A1aG5uTllWKy81cERkSnBZcjlVMlQvNEJaVUpnRVBNSjBJM3VmdVBISGIvcXNiNithSjUxY0pvY1lBVWFBRVdBRVRpSUNLK0pyM3lyK3lrcStiYzRQRnN5dnZvMktHM1h6K25TV1ZWcmlSWEtWWUd0ays4L05zaDlTbjJsOXAwdmxFQ1BBQ0RBQ2pNQUpSbURxTDE5KytGb24vL2lMdGVsLzlvdE40bWZVbjJjWEZuU3NJRzc4bWNtUzk4L2R4ZTAvL2xqdDhCWHJNczcvR0FGR2dCRmdCSjU2Q1B4bldpVElUM2ZmdGZ6VTA1NDFaZ1FZQVVhQUVVZ2o4S0dhMmtNUzVzZzZYWXhUR1FGR2dCRmdCSjVTQ0V6K3liM0tQYnpzS2FVMks4c0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EQitCc1gvY0g0K3BsL1JYL3pocTk2dmpjY2pZQjQra2VnOXNoUlRqZUpqYlhTekpxTHVxWElvUktJZkFJRHB1T2M1Y2ErVnIrc1NnZXRBbmdlRlg3MXZINFl2WUQ0ZWtlcWR1aENUamVKamJYU3pKcUx1cVhJb1JLSWZBSURwdU9jNVArVnJqWXFkUERKNStiYlpQQ3NPdTNyK093NWF3TC9wcDlTclZsd1ZVNDNpUTJWMGt6YWk3dWx5S0VTaUh3QUE2YmpuR1hLdjE5LzFpTUZWN2JyOGtobHkvZngySExHQi81QXZVZStBd2ROcHh2SGVtQll4Nko4UTFHSUh1RWVpLzQzYlBheWdsUC9MZEg3My8zbnVHUW5xb1JNK0lyYjdwTnlNcjFEZkJBUk1ZaEk1dFJicTVqVitrM3FRSW5YWWNiNnRTS3JPSVVhcnNNTk51LzRMejRzSXJ2ayt4T0xzMFRGWTkwcTU4NUVjKytxNTdIeXV1OVhzZkY4L2JLczdtbkJRQ2ZYZmNGTkZqVEJzVGREMDhCSTZUbjA1ZjY4VHJOOUo1Y3FQb1AvNUZ3Zlg3dnBTTmgveFl1ZkNZdUZTdTRqSFYwanEyQTZzdlNZb2FmN0tnQWY3aUw4SXBmVi9NczZ5d0NUZXVoWlRqZUpqYk9hWVpyY20rTG82V1hRMXg4Y0pkOTkxMzUvbmFJeTV0V0tIS0h5cis0cjlJRHR0L055eEdKZWhPUzlHS25jUDNDbkdoZG5TbEJPV25kSlYrTys1TkJxL0lQdlF2MXFnZUN2RnRtVWl2eGFrcXZrVjVDK2s4SWZ4OXBCRnhRR1g3dkJhdTkwbGdxTldOanUzQTZrdUFvc1lmS1dvQnNkb1h2N0N5VVM5TXBkaUkyQXdTNDNpUTJUbGlHQmtjdldtRlZYVDR6bUd5QldhSG4zcjl5NFg0WjVCNVNqemVXZkpqSzlIQk9ad1Y0dmV6OXdrUHVHT1Q3RVF6NnJQajNtemRwKzU0RGZyc1VGWU9kNTdYUSsvQ25YU1oyQUdwL0w0N2F5cnpTT2FaMkR6bHJlaHF1ZHVqbEt1dk5UR0lTZXdwY1N0UGhveU83Y0RLc2g4Nm5EZWdGTnpINmwrU3ppbHFmTmlDZ210TEVpb2ttR1pUa0dyVVMyUlhud2dUNDNpWTJ5bG1HSDNvOHRzZmxIcnQyQnIzZjBJcCt1cWZzRWxEQ2t5UmIzZ3RkZHBmckZLdk8zTkxPWWV4Tzk0QzhZcFdEcFVxTnZvcUtMQTdKSENldEdUNzY3aTNBQ3pQSG81emdHYVZINktodDJWMG5Id3ZlWVJGSGYzTU9pTFczaysrdDRyb0p1WFJLUHJrei83NmIzNzJSN0NZRmVJTGYvMXBuLzJSLzVsY21HY3hLalZiMDFBdmM1OHFIQTlscUEyNGpxL2paOWFodjFYWkF5dURJVC9zd0JqZTFvQ2VLNWxzZkpwSDN2aldmLzI3VC92ZEQxQmpQUFJydjRuUUg1RUlzR3E0MmhITWNTaEs4TldMeSt4RlQ2TEY4Ymg4MjNqQTZEU1VDTkQ0WUUySTZ6dHRDUXdrYzBHSWErdUswbGp0eG15MmYwczVCd2kyVnV3Y25pNk9ack56dHZrSGdzZFRnMGhmSGZkV2dHaHFhTTRoeTlDaC9QM2pzYm9RVjQzT2M4aThaQ0paUm5reVdoZEg1blFCSlV6MUQ4Rkl1Y0puL0pvdXVlZlFmaWZEMmpQRndWVUlkQ3dDUzI3UXpiZGxTdnQ3SG5SaDJXVGpueEhpcGJPcTNBd3E2MGFhZ2srUW5Ob1NETW0zaVFYcVJlWE9CZlk3ZzJGYWpFcjBFQTBZeWYyVEFJMm5pNEZ1bGhVSTlsdENIRzJadkJIeGZPQitLMjByUVRMc0pSYXRIRlpvUjVlV2svTkdBNzUzaDBCZkhiYzdGa011TlVUblVNVzB6SmNlMHc5N0RuY0t2VzNUeTBUdlhLSm9UVHpmcE5Lc3pvVGY0SUpadGoyZ0ZlN3BXN2kvQnpvV2dTVTM0ZHBiVGhyVnhUNHcxZmlueGVHdWhwMW0ycWFSUm1zcTJKNmdhYTlPOTBBOUZIN200YXFyVWd2c04vcEVGSGNsTzRjQ1J0UFg2OUJveDZzMTVhOUl2ZlNCQmlmQTlFY2R4WTJqWDc3bG5BTkVMSEFPazRJTytFaUZMYWNDaDdwQ29KK08yeFdEWVJkSzJZY0I4Y1JJdE5aZGt0eHdQUkR6VTJ0M1pONjJXbFhRR2xaZnFHNlBReWFGZTNPMjRwSk4wWEwzQ1NkT09RTERxeFhxV0FTVzNJUzcybFlLT1ZrdUxPRWhiTXZNaUJlYU1QRmROcEdtZWdxZ1BVRlR1TU05VkErRnEyNU5TYzdmdDkvNWVBZmlmbmJJYVByaFBXaTA2QmRvMmVtS24rcUg2K3QrckV4NDM5c1VSUDFKekhxT1krVndwb2R6ZHF3SEM1d0QycHNBcUxhWllwVEI1RGpxOUFMQVVPU0pPL0pRbUF5VGFHMVFwall2WkN0MkRpUEM5bGV5TVp0K2xXazFYdHplZWxiM1RkZUsyV0hLc25HMy92QUpsQWhYSGRFU3RZZFpKZFN4Q0N5NWNyalVWZzZhNkJkcm1XcjhHVGRGREp6RFdiWEQxSjVnVzFsY1pxZ2VkaFc5TldXV25USjdXYnBDSEhkME9vWkNSdE1QMDk2NW5YRlE3WldsVGpTcTY1MUtkTWlueDc4Q0dtdElPSVp0cFZOMnNIVVFFTm5Gem1GT0NLcit6QXZlMnFjenZWdWlSQzhBREVYZ1BqcnVVT1RwbVdqS1B2Uk1KRjBoNXh3eWQzNmZzM2NWK2JEcWxEZXZxL3ZqZU83SThtaTYyYXhOS3hmWUNBZHRPU0pEcVJYcVdBQldsdEZFZUt1dEFOamU5dnh0WERUVitIdHVGeXB3RGhXMTc5ZWVZTXlnSUI2cWwyVlEwSnZQajdrNWhLd2Z4d3VJcHBKRFJ0TVAwNHdqT0dWWThQaW1DR0JUYXoyZDNuWHFmdHdDNUtHT3dUbWM3c0U1WVBQb3NiUkNHMjNtRnVrYXQweHFMd0FNUmVnK091NVE1T21aYU1vKzlFd2tYU0h2SExidHJDMW43N0lWZWg1bjBqc0d3RGkyeGZId24rWFJHc2lEckVUdWxMSjNsdkt0RXdoMUxBQkxiZ1dIRzNkNURiYWpGVnBRSXRYNFRiZkRIemlIckg1VjFtMUxNS0JlSEFuVnk3SVpFVGo4cXBzSlNCcHh2Smh3bkJNeWduUFlnMkgyL2NHK0g0bHJ5M2kvRXdoNm4yUTVwTnc2RnVjd014RG5zQjl0RFllYTNOS3hYZ0FZamlMbE8rNXc1T21WYXNvKzlFcWpvRHpHUUdTNjV1ekpRZDdlU2FNMDZtMDNCODdoblBVSWs1N0xLR0RjYmZLNTR6aU83RllZdjF5a1l3RllxUEgrVDYzNzlSTGh5ZGYvZUNKVko2VWFmODFOSVVQbnNLKzI1OXNTTEdibDUwVHFaVmt6M0hqWmo5NUFpZU0rcmJiaGlCR2NBNTJzdWlsSGxuVjBEbFA5T2dlNEk3Y1dVOUlpNlJoV0Ruc0RjUTRyQVZ4dDBiN1ZNbnNCWURpeWwrNjR3eEduWjZvcCs5QXprWFNGdkhNWXQ4TWtiKzlPa1NPWmNBc0UyZ0Z3dzNoUzdHb20wMFVMNExRUTdWSXJJcHFpdGl0OG5IbVJqZ1ZnOVM5UnF2RzMxUUtCaUlmT29Ua3dneGFwQnhNdHJPOG52blBSaWk2T1U1bXVyb2dSbklNOHcxOTFsVHM2aDRsK25VTTF2Mk9EYzV1QlllbFVpVVBiQTNFT3JlSW5vV09HdDFxOEZ3Q0dJM3ZwampzY2NYcW1tcklQUFJOSlY4ZzdCMmY3OC9idUxKMmJuclBlSXd1ZFE4VXVLZWFDYllFMDUyNVRHLzJPL0c0WjlWZ3UwckVBckI2SkpvcW5HdDh6bDZGem1ITkxpZ1NwWHBJaTljaGllKzFPanh5RWRpMk9kODByWWtUT1lVNEkzL1Y0MnFhcGp2ZlpSZWdBL3lBaWpmZU5qOEU1TkVJUUl4bkNhUEdaUTBzOEVSWTlPYkZlQUJpT1ZxVTc3bkRFNlpscXlqNzBUQ1JkSWU4Y0p1M0NJRy92Sm1nV1ArTHRROVg5bFlNN0Y5ejNqaVhTZkx0UFhZdWVpK20rNW5CTFJqb1dnTlcvREtuR1g5aTBkRVBuTUxqenZVZzllbDNTclJIQmZUUTZCSTNqVnNCT2dZZ1JPWWRvWDZtamN6amRwM1BBRnBLZDExaHhWNDdET2RTZTZzNmhGd0JzMHd3MFVMcmpEbFNLOHNSUzlxRTh0YUJtM2psazN1WlFmRkE2Ulk1ajNKMkdoaXVIckxXbGFWY3RqWUJacWNqTWNRelNFcEpGT3VhZGd3U3JCT0dvU3FyeEcvTzJVT2djcHVtSmdZRmNrWHA0RENGYUtvaW9qZU40dDFKRWpNZzVSUHRLSFozRFdwL09BWVBBSHJSWnNadkgwTzlHSTB3dDgxVGd5Ymh5NkFtQUZDZ0RTQ3ZiY1FmQWVoQWtVdlpoRUhSQkkrRWM2bWE3TjIvdnBPUHdEVkM0Y21oY1VWSk5SclBLdm1TZHZqVTNWR01kQzhEcVMzVlpPZFg0MWd2SFp3N2pnOXBmaU5XakwvZUU3Nksxb3RWaEhPOVM4NWlSZEE1em1NcmIxL3c2SDBpMytuTU9zTG9KSTMzcUdKekRkSUp2SVc1UFJ1ZlFFd0NGeVBTWFViTGo5c2QwY0xWVDltRkExSDNuOFBaWlNiU3hwV2tuN0YwVmp1T005Mlh1MERrc0xLdWFad2RwenlmQ3ZXNHQyMDIveFRvV2dOVy9uS25HdC80N2RnNGp3ZFpQSDh4ajlhTFhIRUI1V3l3RzlPTjRrRmtjaVJsSjUwQ1BscnJOeTA0ckIxak45V0lHblhPbzZhN21pbzBjZzNOb1B0V2RRMDhBNUpwb01Ba2xPKzVnbVBkUEpXVWYrcWNxS2ZqT1FlOFRMTXhyMnI2OSt6QzhBaTZhc3A1K1RBYmx2OUE1YkcrcW5KbmdseDFjNlZJaHZORzFVNnJpY0N2Rk9oYUExYjhRcWNhdk9VVENiYVVKWjFMNzR4eXJsK0ViVHNzQnlUM2g5UVBreFBHZ2NIRWtaaVNkZzl4WFdqZVZPamtIZk5iS2xqVjFlcm52d1Rub251dFZHejBHNTFCOXFqdUhuZ0R3R21lUXdaSWRkNUFpOUVNclpSLzZvZWZWVFRpSEgxelcrYjY5MjFlalorVUszb2J5dGhkQzU3QnhTZFZjUzB6RVBKNDlCcXZSRS9VOVZoOVM4VmpIQXJENjU1NXFmTytoMHRBNWpCVi9ocU0zU1dMMTR0Y2M2TzNFY0FzcmpuZkpMMmFrbk1OdHNOZDJYNm1UYzJqMDZSd1d3R3dyTCs3d25jTzRaUGV4WmdBQUlBQkpSRUZVZUlvN2g5NEF5RGZSUUZKS2R0eUI4QjRBa1pSOUdBQlpJdUU1aDBwMHdrZzdDWFpHcForUGVkcHN5TGNlUGNPaWNoY0crb0JSSS9lWVlTakR6WW5GT25ZQlZqbEJPelIrNkJ6S3NValVpdFdMWDNPZ1oxbkRROXc0bmlDYVNvb1pLZWNRN0N0MWNBNndNUDJ0SEtvZ3NKdVhyVHIwUjFrYlQzWG4wQnNBK1NZYVNFckpqanNRM2dNZ291ekQ2R3RxRi81Nkp5QlgrYm1YSDczNkMzWFNaMy8zTDl6LzRBVkUzbi8rYXovSEZndUsyRlFiOEp6RFZEeENmSHUzc21tcitJRjYwam5VbzdQS045ZGV2S3ByblRzL3IwTnZ2dmdLcGN6dHI2a2R2a01udnZmODBmTitTb2ZOVFg4TDFrUkwzS2MrOEF0M1BIaCtIVFYvK1B6UlhaK3ZLQ1RnL1BhUDF5Nzg3YTdLN3ZRLzFyRUFyTW9IZnVTT2Q1MVg0SDNrWDMzMDlmZCtGUWlQZmJQZmtwLzEzVDk5LzhkZmJQbEJpTU5YckdhajkraVV3c1pYK1FubjRCSHNWdk5jTDRuVnd5d2llTTFCUG05cVphWUFuajhONGwxR1lrYktPV1F3RzliaWg4Nmg4blAzdWo0UEptTlZyNmhoK3BsdnJkMGRqUldUbGJ2VGw2aFNMMW8ybkhPSWVNWWpyZktmZnVTUDN2WHlSWHhaNXBzdi92V3NZWkRERkQrdTlYTWZGM2QvcXlueEEyQWNQOHFhcUpUOTRvTzFGM3diZmJaR2hCdDVoaEhhUmkvaVlzRjBpYzk4YTlWSEkraUhYN2VxQ3IzeDVVY3ZNSmJFRXJhQjBTOCtMKzU2YlphOVlSbEpVeC80ZCtqVFVCZlhSNzc3by9kL25Jd09KWGMzeW1SaCtTOEZRQllKNjBwVHFFdlJJZTdSQy80OHJGb1lLOWx4QytrTk5HUGg0cDMzM1hmditkcGoyUWFGN3J4WTI4U2Jaa2Y0WWZWN0w2cXpYMmtmSm1yaUl0N3lYL2Q0ajdiRUVYN2M4eXRWVWdOOWpVYndzOFZSN2NnVUM0dDRkWFhRY3c1ajdaeERBeklscm5yU09iaHhMYXY4c2ppMHg0c3RFem9MYmE1VDltZEFhUDBqY3BVVklhb2kza1ZxRm8ySmhEenBwQTFDaG16Tnh3Q05FRjlHcFNhcUJLZkZpWkkrRHovU0RtRzJLRXpYaW0wWTB4N25hNnNxaXg3N1h6ZEJlZmVkZ3djV3R1cHhTZkJvTml5dHdibXdKU0dSTzM2dGZKNjQ5clozVlkrMk5zeTh2S2p4TmZlRWMvQUlkcWw1dnBmNDZ0RVBWSnJycTYzU3NGVTdOb0pBSFBmejJvUjlSbFJNT3dkL1h5bHdEaE4xMlVkZU5LdG9Uc2tmS05UU1dYbndDNFVYYXVMd2l1WDdubXN1YkJOMWdONnFTTzNHdWRmUUk1N1NjL2tqamRZdVFpeG1sUmI2RkhsL3V2S1labU10V2ZDR2xQUEQzeXdqOHA4MStvbEtVOStDUGxrVFgxN2dIUEN0Vm5NOWxoTk1TZkllT2NLT3pJUXgyUTkvUm80TUk3dXE1LzcvZzVwNDVmMGZGeThaazR0NDFha1dLVnR4VjY1VkphOTNHbVdXYWhLQUxCTFdscGFCTGtVZnFZbWpxZ0JrK2pwTHhoU0dWWGJZZldWazNWTTFKVHV1SVQ3Yys0SnVYRGdISGRxa245YVNsM01PVS9VWDdkQXNTUnBVSlJCKzlmYWgzZXd6YStJclpMeEJOUTd4S2ZwL090c1N1cnRGUmZLS3RKeGRHbS9uSE9xUUtYSFZVODRCUFVaMmYxMStWTHdPajdZc3l4aXB0U3RESzErUkxWQlhPeWZ1MmNud0t6VUlvdFMzeldZL0tJeFpsT1hvaTIrUDZsRFptK20ydjMyRXVkRVBTRnRkYVQwTXRuV2YxdytLZCt4bVV3dk9ZYXdRb0xnSVM5MGU5bXVoa1k3eW82WEtCNkN3QjFiQ09jUXRXU01lcGxrM0JPYUlXZVZqaDlaZWtYT0lxM2hBZE9jYzJtdWU3eVdCZWlTZnVkeVlnbnZjOHVRZ2R4bkdnOHlpU01DSUNtbm5RR2JBOUFQZk9ZeFd4YXRtczMvWU1ITmxzdXoyTXIzdS94WGlpN0xLdThXaFNZRDFOc1R5Z3BCcE4vRDd1Yy9hMHJHWXA3SEJkcVFaNS9CTDE3NFBjd1RGTkk5cE5sa1gxLzdzYWIvemgrTEdMQ2h2VzdIZGlpQlJxYklncnYxdldmWTk0cS9TS3djQWFDN3JIS3hnVW9IdkVOZCtLcXQ4ajUxMEdRdnJkNnBuVTdmN1RpRkhvZGJhdTQwSkRKWXNlMWF0S3ZlTDFYQmFwQUtLZStnYzJ2YzFSellGUUJZTDY0cFRxRHZSeDJyWGZ6N0xQaWlzbjZZMzRPVkZXdXlyWUp1T0hQSzh1YkUzdmxXSys3elhaYi95SUJtS28wOXVBZlZQVU9MaE82Vm9aQjhlZUpoNkZFekJza3lpZjl2aU9xVkI5WFdLZnYvOXFIMlkzZllFL2FDZ25ncEZSYWhZZUxYY3dHaTJjdzdXOElYVjZ5bm5BUForcWVZalpPQ1Z0eUpUZG9VeXgvQ0RRYWRwaERma2luaVBYcjg5SzdPd3lsLzJxK1BrTXpWMGd5SWRJaCs4SDNLSzlhbmFOMUxCT3ZGU2NHSW9iNXE2STBMbVl2Wm5IZ2Y5NGJkWFVVMkkvNDRpTUJDNGpsNjVxNHRIT29iT3dSSE56dDBCaEZWODZnNXE2RWR5TGZuUjF5Tlpxemdpdmw0eGFKZ1d4Ty91SlJ0ZnkwRTlJc0lyOHdoMnBYbmNrVUE2VU8rbkwxKysvQm8wTkc3ZnRHNzQwbS9MV094a1loeDNKZHVFQWtaVVRqc0hhWURYVlVYZk9UVFVUS2lpNzlrb2hBTENuOFR0OG1VYURiamdNT1FQRzZ6WVRac05nTFFsOHhML1RpSFRlNjh6WHlMbW1SdHBZM2ZRNG1xeFVydUNDWTgrYjB1TXZCVnhiWldvUDB0OERmNi84ZkpsTlB3TktianNlVWhMVkhxRFVEL0E5OXRISDNGT2hLam9hd29FTUZFbU10K1lFNHpLakdzZitVempLeFA5VUkrTWx1bUdocmkrTDF6YmxTRTR3VXNJZkpBUXgwSUoxOVFkNkJoNlU2Njd2aVlKeVg4cEFITEN1dUlVNms3MEJXa3FzWU5pQnNiWS9UOEdLUUgyTG1oOGh3emUvVTZpcDY1U0hkZFVIdnFkWmg1ZklibGdySmhkbFcxWWpGM0ZHdlpocXJaTzRZclhRVENabmFjMC9Kd016QzlkbzFoS1o2MTFtRk50bnZORlZFSDNIODJzN1JJcTc3cDBDc0YwbXZGL3pnVENFbGs5NVJ5bWFjbnRydG9XUGRxaVptN1dsTkdQZklCK05xMzZIUkRZelZyS01MYkU0NjR5UXVQSkhlR2dTTWZJRkFSZHYwM0JOSWRmQzZpUVVCSk9PNFBZMWlEcUVTQkp3Z1lKOFRJWnBEYjZ5bDBacEgrUmptM0FJaHFidXQ1dnd6bFU4aTM1VE5zSTJ3YTVjZDg1SkJyZkNtSVJ0U2tJT0lKWWRIVFVQTkZMVXVwSmErQnhhWWdsTHdZM0g4V0R6S0pJbnBGMnpiU3ZwQitMODV6RE0weHZoUU5ZTlRReFV0Wk5tTzc3MnRhYldaTjg3RUljK0VYODhBdzR0VnVicG5qbVJ0b2JZQzJuMFlPcVFqMnBsOFRVOUlObjZKOVNoQks2MHlsNUVwV1FwQVZmZUlrMzluMzVTVDI3THNvSlZxa2JydHZ1QWZPd0gvNTlkcHZTZjg0RDFlTXdvUndCVWhyYTg0R29UWU1OTmljMlhmUTFqeXlDTVFCSlljTXFuVVczbjJGMEV5dzVJc1MxV1VtcWdTbjBuL3RFUzNWY244Qnd3K2hTVzRwRDFScFdMS0d1YUs1d0RxZTBFV3ZZZlBnRWJkWmhIM1pWeVFWeE9JRkowR21odjZDWktLSkptcHR4RHBWZnJWc3FKczl6RGszVHcweWV2cU9TbVdlN25OT3VyeUx4TEVrNW96c1Flb1BxN0Jzd05SaThXL1VEV1EvS0xrL3JIcjRSa1VReFdhYXZmMDBZRVAzcUdNejhvdmwxd29icjJPSWJkaFdIcXNjZlkxTzNEQlkwTC9Fa0NIVkVSakZZYzg0NVlHZmdFZk1Pb2RlU2NQbXFLZFd2S1VrMlZiTU5ubTU4SzByU09WaUNLTlpSODFSSHlxa0hDN3BzZWFyQVN2VEFjaHlQaXFlak9VWm01VUFiRnJwRE9PY3dWYlg5Y01NWjlNZzVvTDlzS21aMU04Mm9naGc2WFByYVEyWmdvOE5pYVo3eFNNT3NibkY3bm41ZlhibTB4TWlybS9FNitSWXRZR3diRTVWc0VvMFc4VmdvbW9sNXpnRkxsOUFFL0piaFNuc3lXN3BHM0EvcjZ6SURJMk5KbC9CdmM5WVAyNTlOVzNONFltQVk1OUJGWC9QcDVwMURVdGl3U21mUjk2NXAwNDg1OHJLdHZHOW5BSHZpYU1zbVU2QlV4dzBvRERXQzdqMnZHR3c0cEd2VzdNSSs3R3RIZ1ZiWlZTWFIxcnEvQTY5THB2YmhIQkxSeUhJR21pcWlDdHIvTFhRNWUrM2FaQmx3OXU2RGRyeUZKYko2eWpuTWVOWVZ4b25tZnhpQXM3THFpbllPOVN0U3pQdjErSWNLaXlzSGlualRRU0FUWUtCM1ZZNzN2L0tCN3lxNjhvVlJiMGFJZnlzM3NPUSs2ZU0wanVuYU1GdkVOUGEwaFZqeko2S1FkMW1XbkJLSFNnTVpBejNiT2lxaEdDeTQ2azFWaHZibEg5bUE1blNCemE0TTRGOU5qK0FSWjIrM1BlZVFiM3hUTVg1RDJxUWJnb2gzMUR6VlMzTHFOWDFRRkpkOVkzbzEwemh1WkdsN3p6RXl6Z0ZEMWhnejV4eE91YWtSclBHcXByd2R5clpoQ3pYTjhxc0JXZ2RGY2tBMU42Zk9GMHJ6QkJOL3BKSGxmUzZOT1hCYXhDMkJLYzFKRlBVTnN5YUtuRU9pRXZyK0pTTlNxeXZuRUF0V05Wd3orQTI3VEE3NzRZZjFyaG9FU0xtZkJUczVtekRTekZobHFFOWI1NERrOXFQTTZLTHZFUUJaV3Rpd1VrZlJWMHgzd1B6Q09YMk1iejFpOThSelE0cWxPbTVJWXBneGh6VXN5WTdtNUg1WEhVTmRQUzBtdjJaOFJlWHZHUXhvV2FtV2hUQTRoL3ZyMkpyVHZUMVZKRktqaFpGaHI5MHdrK3pkbHp6bk9YZmMvd2tFTnNNOEhhdGJ5TDNzUGFITnNFeHJ6ZU8yWm1iL29FbVVwc2hYMEtUM2tpeEQyMldQbWgwVlNJMU1kNkhMcnJxWUR0R3VROEhsTTdmMVpvUjQ5NktLZ2RkREhwenpLaFhBYTdZUVMwdUZITWlyT3RpRTNsNVNwZUh0SWpiRllHRUNzNmxyWVNBOTZyRytZcEtyMmpuWW1SbHN1bk1PaWNZM0ZZdWNneUdJY2gwMUI5N3JtcDd0U0RuMTlnMDZqdk9Hc3pVeU1ZNjdrbTFDT1ViV09WQ0RxSDJsZmQxd1pIb2Z0N1NxOWkyNWJhY0FjdEg1alVsQW0yeko4bXVndFdwclJnSEtUTmxFWFN6Tk14cHBkREw3bGNRV1lCS2pCS2FRY2tlUnJCb0pJOXVZcUFUWmRsVWxPZlFMeFBSWERwRmdjRW1Xd0NtaHQ3UElvUHY5OFBNMHdEUXlERGZ2YmhleHFIZEpwYzk0emdFbkhxWXdrdHVQTWxOUTN5TUFDb1FOSzNVVXZXYjZEYWF1WmhDQlJNdjBrbTI5dldUSmx1cTR0dmJRQTBCRjkzbzR1SG5Ocm1vQ3RGWTEvUjN3TDZ2OHVwMGdZZjZyRFd0VEhKNm4zQSs5VXZiRFZCRlYyZjRIWklkMG1QVXU5RmpYalZRMjJUdDdiZG9xZnFDZWNnNXJ4bGRSeVVscGNsZE1CMEwvbTBmcU9Wb3gwUERmeFIwWFJyUkJnTmFtdXpKUi84T3FZc3VQeS9BYUtoUmNSRHAzZ1ZkMVhhZWluZ2VuVmd6QWFqYVlyVGtUVkFIMnUxVHZWTEJ3eUFJZEtiOFlMRGdiQzE1TkhIcXNsNmtpWFdiSFljNE1QdEF6L1JvQ3BLcW9pa1hPd1JCRXFZNmFwM3BKVHIyVzZXS0dMKzFYNlNtSlRvcmpybVNiVUk2UmRRNXVYOGs2QjlpU0EwdHIyNDc4YlRQc1pSN2dYdFNGN0ZRY1RacXllcXJZQmxxK3dPcWlRQUhQYUtUUmM2WjNMcUg0MUd0K2dxam1NVVVQMXgwVFEwRFBMQ0xibUsrRW90ZUpuTHhnSkFyRTlKMURKTmkyNFFvU1lIZEowd3I3b1ZqWHlUNDduVVFIYzZZcndzSnFBak1PWkV6M3JYUG8yTmNzVVJXSUFDZ1FOcXpVVVhUQXF6dm12bTlKTUoxVXc3b2FMUnh5SFRua2Q5Tmo2TVZ1WmJla3hQSGVTWU45TVAwZDhCL0lmRlN4YzFjMDFZNU1iRm82RkUwV2tlWGN2NWJ0RHovakl5a0xGTnM3VzcrZWNnN2IvcFJTSGpuQXZSbVR2U0JOOEJscXZqM2JpdktSdUN1YTZrWTBTY1d3bXJjTVRXQzhoajZRdnY2eEtlUGZnWnRabVpDdlhkSjVTSGJkWFoveFlKeDdWcStwc1c4NGgwRjFBeDBwb1JpczBEbmtXeEtWalMxdnVtMmxFVE1pSVcydThZbWh2a0RkVEJkTUV1NkdJSUtkTkUvMmtweDZpWGJlTTMxVzg0M2puampGd1J3ajZ4emN2dEsrMFgvTzl3SXpOckp0UThSbnc1M1ZZWUtzemVuN1A3bGFLQU1xbUdLSk1nVThtOEZJazI5NWVMMDBnU242aDluVUFUL2w3a1BibUtpRXFhTHpCOWhJYzVGQTB0QTUrTTBDNzJKbUZxamhJcldnVTFualh2UDhnT1dBOFdEREMzcTBvRk9aUm9tY1EvdFJaZ21wUUFoQWtiQmhwWTZpQTE1dEdkRklXN1l5MUpDeTVaN1loeDBxbmpuWTZqY3hZRTJYNnc3bmpIV1FwMXp6V2pqc1VhajJnVkd3WFFVZGIxbm1BdzJiS0NlVk5tYUxhRHJtMXJMT0FldXVYWk9xN21Udk5oR3MvTTduZVpQZm9FdzlZVFN3dDJuWndqYlJrUEIyLzVyU2o4MlFxY1dvMUgyTkpqVzJWKzE3blZFeUsySWVTTkloZ3Q1c2UwRFZ3RVZQVVpsT2pwRGVlVUFmOWM0VElCbkZKcUp0aVVCSDRsME1GbHFLVUpRWGV2YThEdHFXUk56WThxYnAxbUJvbXIrZ2lxYVNnWHBINTlCVzgyUkhpdFhEeVBLTWpPSTk0ODFxS1NXT0d3bmIzbU5HOWxGVzJUYUN1b243WlBlQzN6TXdrVjVVcExlRldGY2grbDgzTXlXRVczNUx1aUpoYUEwSWVoMDJ6RVJuZHFhUkR2TTB6MlpVQndDWlhTTVFTR0NLQ3JvcWJYQkl2YWpYZTZnbUt1MjVFU0pmdFNrUU0zSU9YaWs0bEt0T29ZWWRaTFdnSDlydVhyVUZYQ1ZhRkYweDBlMUxLbFRzSE5yMk5VUEczRU1BaW9RMXBkVzlvK2hWNjRibmdxR3hyV0xieGtkYnNxVTZycTA5L01DSzZWcEFYVGZWS1RkOUJSNnJXZ1pyemRiYzlKZWVTbGVOaGg2NDVJUk5GbkhaTXRSeXptR3V5RG1nNElxemJ3R0J1aFhYU3c1K1E2dDVGVGx3ZVhTamEwYU90YlVsQkszU3NvQWRKcTRMVTNsY1Jqc1ZLL2NmdU5wT1VYWEdCQU55U1JIRXZNMHNiaHdrbE5XUTA0K21ub3lvd2lTN0d0OG1icDBERWlLd3dHUFRGRXUxSlBLTWM1aHprbzJhL1lTQ0tvWWlxSGQwRG0wMVg3TVF5TmNiVkVlSzFjTytqTnIvTjJ4eG40bW1tWEhjSzFvY2pCbDV6b0hzcmZTUSs0dXFQcnkyOFpoSWdFaDZoR3c3MU9ROHhFNkVZZG05Q2tWQ05NSEhJaFFYS3VLSlNrdCtXUWpyMkdaclhxNGVuQTNYVEErWUNXMW9HOU9WNWkwWEtPeVpmWnVNUU9RY2xsemVYREIyOWcxaldqeXY2bEt3S0hibzFYMGxEQlYvUXIrbWV6S0drMjZVTEZvNVdDU3JybFhjS0RNMDlUMEVvRWpZc0ZKSDBUZUVPRkJWWnJ5Uko1OS9RWWVaZEo3TzBDM1ZjVTNsWTdpdm1hNkRnTzVrZTI0MEFvOVpMWVIxRGlzV0FybC9kRlhtTjcxRWFYd1BqT3l3ZmFxSVNkRDNsck9FWjlzNGgybG4zd0lDOVpSemFQaUdaSDhaRmRDWE5uVzlVMUk5K1Zud3FodTZVR3RKRjBCbk0xWmFwd1FkM0pUcThRNEpMSjVWdDRIbWRkc2ZPcHkzL0h3QklOcGpXYVcySERJTWRLUXNzM0tRUWFPc3JBTWVOcDVxU1JReXpnRlNxaGQ0a1BZdlpXVzViSnpWUWR2NE9rNDNVTy9vSE5wcW51eElzWHJRYnRGaktvUHhtSXJqY2Zsa1BHYmtPUWVhUE1pUmJKd0RUSW1kNDhxTkhHMzV0NTBaa3RNTTEzb2IvclEveVIrSmUyQmpUVnBjcUlobk14aHBVaHJIbGlRL01KVDB5QU9UTFpQMDNpOVVvZEEycGl1dG1rcmtEYnR6RGdlMkNuWS8vYzRCb1MrcHZGcGdVUjQzRlpMT2dUeUplVXR2VkhmRll1ZlF0cThaUHVZZUFsQWtyQ210N2gxRkg2dC9pYTR4NHpVRGtxbzBBNy9ONjBLMldCZFRDRjMyWnR3QTlwTGsyL2hjNDlNWERxd2d3TU9FclgxQTJySkp4SzZONmpab2Zac296WXFOMlNLbWpyNjNuSE1ZYmVNY3BweDlDd2pVZy9HcXM0SUIvNzI3U0YxencvZU1uQkZUS21Za2RnMDY1d1Qza3hYQmhHRlNHVDM4QjhCWFRmR3FnOU56RGlhWFZpcmVPS2V6OHNQc1ROeDlBaDJwcXVjY0lyQWk1MkQ0MkpaRWduRU9tR1hTdHc2Q0s5WDRYb0Z1bkVOYnpaTWRLVllQOEMxN1RHVndKdHFEaU9OeCtXUThadVE3QnlBa3lHNFo1d0NJM1dxYXVvK2VNbTI3M2lYbklXNzRyNWtGZVpLM1Rwd0JvVWVLQ2hUeGJFYUFZT1hnMkpJNVhUWVUxY2lEaTRpSGx6d2g5aGpuSzZHcW5SWDJzSzFrV2N0SGRMYU1JUEo1SjIyN3djc2tBMlhiUDlMT1lRRml2RXA3QlYwTC9XSFJFS2lhNmF3RTM5S3FPaGJKVVViVlErZlE4dnluTDZ4aHBPNDlpRDRUT29jOUVycCtLU1NIV0ttT202TXl2QVRzdTZqSmkvZzlNODlVTDlKS2x0N0RZc2FrME9NOVY0dzg2Sm1xZHRPSE4xM0UxTkYzTklpMDFvaDZKK0FxMDdOM1dYVXpxcWlpOVdCTTZDSXROMG5YS1EzWFVVN2I4WTN4WWlkc2EyNTgrOG1xZXMydEtqUzkzbS9velV1bVZ0VkprK3kyb1hPZzJkZm1DbjN3d0w5eU9oYURCUjRXdkVSTEVsWGpITWpnQ2ZHOC84dm5WRkRGRkFGMVo0aE1vaVdJaEE2YXAzdEpyRjdUdFkvbGNkb1pCWmtXeDIzQmRvR1lrZThjekw2U2NRNFk2N2J6Z0NZVVg1ZWswVUFxUUxFOWV4eUpDTVJlcGNTMkYvbWdKNHBLRlBFRTVTMi9EbVIxc2lVd3hRQzM1dGpXQzJ4angwcGRyeHc4d2NEVmkwRVo3WXpDVG5YVlNKUjJEbk9nSWc3ZnNXTks0VjdzSEpaTXFhcFRHSDNVSnB0c2VROEFvQWJkY3RsT1dKZEdvUjVFQjRrRHJ6SzRYVDk3dE91bHFHQ3BqcHVqTXJ3RTlDMXBvOGNPMFVka1cwMTZmUWxQYnhuVzZNbExGSWFpYmtUQXBxaEdiM3FKQlVVTUlYMXZPZWRnZjg5aGZGTmwrdmF1b2RPaTZ2V1VjNmk3cVlndTdwV1NSOUV5R2VORmFrcVJCVGRGOHBOVjlRRTVoMFZGTGRna1JiZTFNc2pzcWYvbnArK1BuQU5PSVcva2JFeE94Mkt3d01PQ2wyaEpZbXVjQXpraXVxN3BmUWZLSzZoQ1dYU0Jla2ZuMEU3emRFZUsxZHQzN2FQWTRuODhwdUs0TGRndUVEUHluUVAxQ3BvQkdlZXdacnE1SWxnenVBSzBkY3NERVRjYm4vTnpiSkVvZ1BhMUU2UW9TNjU1SFRtNUdGZHQyWXdvWXdDN2NnbE1NVzY5TXduTkJ1VTZWYklEdjRlVnc3clZncFllTGtZbVhjOEVDenBWM1JsMFMwUFpHaEFTWDdkakU0dWRRN3UrWnF1YlFBQkFvYkNtdExwM0svcEhmdVNPaGhBSGZtWEVXM1krNmpKS2RWeFhmZmlocW1xVzZTZGdLR1NIVVkrQUtzWUpQRENORUMvNHRMNGVOTk9XcGo5VFNoZUpWR25aL29LcDJLN0tiT29HOXUxZEw3L25rQnZ3L21KZ2JjbElnUEZ5eVlUcnp2MmgzeDJZWkhXdlJnWTh6TzB1VnRDYllWcXZlZ1ErL0JyQWlzdmZWcEo3bGJtWlpVN0hZckRBWTlQd1NMUWtaVm5uUUcwbXJ5OHpOWWJ0SE5LOUpGYXY1ZHJIQ29iMnMyRUt4UEVnc3lnU013cWNBeWdLN0NzWjV3Qzc3dy90cXVrL2dYUFl4eVRYakl0UDE0TzVhSUVNWk1yalhVTXFPcm1PZjBVOG0vNUlvOEsrYkFsTVoyaHpNcjRDMjVpb2hFN3JDWVlDajhVVVZEdzZrRjYxcFVnMUY2TVcwdlFLKzJIWXBKclFQc2pRZGJodUtCY01wNExrYUpRWkl0RzJVcUd3cmp5RnVoSjk2cjExS1hGb1NxZy9YUW1wVVF6SitjUmJLV1ZCdWZpNXg5RWRwV21TajRCcUNSTjQwTzYwZjMyMUxOcjArMEs2U0tSMEsrRWN0ZzlVSWQvZUxWajdGaENvZTJzQ201RWI4SmliTFpuY2ZVdG9Ub2g1aytxUjJjczE0TEd0SE42RDZkMVAvcHZkMkRsQW9xdEdVSFBQNlZnTVZpL09BUjhzMTlmTERLZEU0NXNzdW9ONlh5dUhkQytKMWF2NU8rcWFmVHpoaXVPK2xJWGhtRkhnSEdCeHlab1o1NEF4RWptSFJVbDMyNThlbzVCL0hlMFVzalladEorVG45WERadEQrZkJIUHBqL1NVQzV3RGdsTVo2eGRObXh4RDV4RHVwSTNUU25oSElqbXFtTUlLNmc5VkVHbnFxZk41RmdOZE9peTd4WVhlSUdDNU82Y1E2R3dUZ0VLZFNQNlJGMklGLy94bXdENmdWK1pXdHFQNjNDcGpwdWdNN1NrUFRXOXhIUEVjMm9GNzJiWVNUeG9MWnp2OTAwL01WMGswcURsT1lmL1UrZXR6S3VBYisrY1RROEkxRDJyYmpOeSs4aG9wR1dUMjlveW9RM1hjYkdpZk1Ra0wvZzZ5TVNhVUViQWxDaHo3NkxiVmxiMGQxZGo1NENGanptWHNheHpPaGFEMVpOenFEVFFzSFJacTFZd0dJd2svVHFIZEMrSjFNT29zdTFqR0dPVElwd0x4M0Zic0YwZ1lvU0RmZTljVis4ckdlZUE5dkduemxYanM3ZDk1OUFJQzdYamJmSkF5Q3lhVFJMZDVXK2xGL0ZzUnIwVXpzSEpsc0IwTCs1VXhDRndEaDByZGUwY25GMmdrdzRYb3lteU5vNEZuYXB1OGtrNjc4SlhmdFdsNXFEdHpoenNVSzA2ajl1ZGN5Z1UxaE1Fd1M1RXA5OFArM01VblltY0E3MVp0UmxTbzFpcGpwc25NN3dVNEVjVGxmb1dQZmF5aFZCakdmLzBsY0FqMFpWUXVPbjNoWFFSUTFQZld5bkR0NlV5Zlh2MzVpdFJSUld0cDV4RDdna1V0SW50b3U3eGl4WFhFOUh2OVdNVXRJa1QyaHpxRHJiSEpZWG9KckVMNTdBdnhEK1ZwSExqR0ZwdVJVeHlPaGFEMVpOenlDcC9LZFJsYkUyaThYMVpodU1jSXZWZ3hXejdXT2J4bUlyanRtQzdRTVFvY2c1a3pSNnpLNGVHYjREbGJ0OVZTWHE3VCtld0FDNWJlU0gzaUhvUno2YlhwYW5xcmVrY0loTlEyamxrejJvQkk3cjBPQzRZVGdYSjNUbUhRbUhEcGlrWUQvWEFtbHhicDBvenNYT0FJSStHMUNoV3F1UG15UXd2QmVZUllsZGdPakZQdlFRK3BobUlaUUlQV29QcGh2S0VhdnFKNlNKZWFRcWkwWE96WWtQWXQzZFJOUk5Gay9nelBaV2NHL0F0TjRrWWMrdmtxdGtBbGMrQkxtcVNHR1gyQVZlZFpQYVdEZE15OTg3ZDlyY3Q0OWc1MEdhb01kV0dkMDdIWXJEUUl6ZE50VVJMVWxiZGI0U3BuNnVDb1hXUkJWVU1SVkIzeXpLVDZCUHNvSG02bDBUcVlkeWE5ckVzQnZNU1hNUW9jZzYwRDNCb25jTkt1SzFVTTV1VjI3NXpXTWkzbFJNNUhkb0RGOXRDcmdoOVZaN2VXUEMzc21xR1o5TWZhU2dYT0ljRXBqTmRiU3Z0T080VVFpVTNYTHAvejhGUm9jbjRxcU9KcnFEM3p3bzZWZDFaV0ZkTGhUNnNmaStITU1GVjBLa0trdEZIcjZwNjBmOWc2VlFvYkZpcG8raFQwR0plMWdGK0IwSGxiZURoMERGWnBWN1FNWldQNDQ0SGp0QVA1UGZvQk0zU3h2eGQwQVFlY0NaK3Myc1JtNzd1NlNLUk1xMjhjMUNmeWtPNVludG5pYUFkOHM0aDk5YXJWMmpjZW01b2JMMEFXbkZaMDhUQWV0eVNWNEc0aWFQc3JxSWR1KzFVelFJYURFbFFiMTdINDNPekladWNqc1ZnWVdoc21zcUpscVNzd0RsZ2p2RERhRjNkd1ZNekEwT043cUJ1c1hQcEhzRU9tcWQ3U2FRZWFDdzc0am8wNDFzdXBNWHhYSVZVUXNRb2NnN1pQdUZndHBVUThUZTNrTFVvU1dMSXIxdmFLT1JiYzV2ZUprQk5keldmdjM4SmFVVThtLzVJUTduQU9TUXdSUStQRjhUUnRsSzZVbi9PZ1dpdU84MmNFSVg5TUxVbnJ3bmN2Z0pxZXNnV2RLcUM1TzZjUTZHd1RnRUtkUlQ5QWRzRG9PK0JYM2xTdkVYWWIvbTZqRklkMTFVL2hsQ0xqaHJvOTlHd2tzV3pNZFBXY0NJbGdRZldGNG1sY05CbDAwVWlWY0EyWGpsTUdMOVViTzhza2JwbjkyM2lRalE4TVhEc29KWWJ1YklreExPakdISnY2ZXArLzFKSjhDTFd1T3BDdVBYNGV3NCsyZVJ1S0Q3YWFNU0puRU9sZGdENURoeHJDc1U2dHZHa3ZUc0htSTJhdFZlSnh2ZEY2ZGM1cEh0SnBONWVZR00wKzdtbzU4UnhYOHJDY01Rb2RnNmszV1BHT1d4Ny9RZ0VrWFVnNlNKOW5RSWpOR1kya2pzSGxGMTQwVE9VdG9PNlVxMHJDQmZ4UkkvWWNVVWo1NURBRkRzNlpsaTVhbmJpVEI4TVNGZnlQQXFNWjd4KzFhUmFucHNPQktNMTc3cmpOMk43ZGtHbnFoZXZISWpLdTBGT1VTc1lUZ1hKblowREFWQW9yR0pwL25jU3ZWS3pzenpvZTJDcTBmMjJHekJGbnJ2VmVhVTZyazkzNkdIMHdpdVozT1pjbysyV09YLzZuTUNERnR6VWVjT3I2WGZaZEpHd1FtcGJhZHpBVjlZNWJFUkREYjNhN2xpYko2R0M3eTNSL0d4WEN3WVZJcjJneDN3a05kb1oraGRjdWNkT3FYTEhidHR5ZktNT05IMDRDdzBpcXJHT2czRU90MWxGc1pHajExaUp4dmZSNk5jNXBIdEpwQjQ2NTY3UFZJYmpqMW5HOFZ5RlZFTEVLSFlPSk4zaHdxS3EyYlNZeURpeWxtVUEwcTFUUURxSHZWeFR5VEp0LzlXakZwZUZLOUw2Ri9GRWVyRnpTR0JLRytvNUdRTG5rSzdrZVpRU3pnRzIwTTY2d0gzR1R1VUtPbFU5SVdSV2VaRVZ2R0hJRlF5bmd1VHVuRU9oc0phOURIUVNIVmJMakZYb2UrQlhiajJYTEUxa1h1aTlTWDhtN2xlNFZjSnp0TE11SHhnRndydlp0aDRRVXJ3TWlRM0hBQUFjemtsRVFWUVVIdFhVZkxvWmRObGtrVWpmVm43bE1HTTJpc282aDZheGE1cVh2Mk5kWFRVQ29NZGNNbUh2VUdKRjJhSHZtVFY1OUVuWExSc3hnVFZSZUJuZlpvcktlNmR1aTU1cHg2RXlGZDlsNmkvQVR3TW1LN2hNajNVY2pITm9YalZNc1g3VXpaQnFmRnVxLzIwbFBBQ1FXSmhGNmpVTU9IL2tjVjZMbWptT2UwV0xneEdqMkRuUVlEYTdSK1RndlZGTXhsUzF5YmJ2SERCRmo1ZkN4ZHgxVGhPa2R1SlNhZ0ZkeEJOVmdocm9QOTYwdnByRGxOWUZRUVZpRnppSFJFTlFKU2RXQ2VlQVBRZC9ZclZuVjhjRm5hcnU4ek9jdmRkeE1aS1haVEpRWGpUNTNpdkxuVWFacVdMdUlRQkZ3cHJTNnQ1SjlLWTVGaklIMHFPcm1zQUk3Q3BzbXRrZ3NHUkxkVnhiK3pnQ3dQM3hUSnBPSE16TVovVXJIdE1VSGd0ZTg5aWlBTWJyZ2NraXRxd0t0UEpqYVVOUFdkdllPMHNFdmNtNEVwdUdoM0c5TVl4a3VJRURuVHVxWDhKQmRNN3J0NTRRTlhWTVhYVjZZSWlZNXRWVWNDdnhldzZMcG5acVc4bWJiMkMvQXY1bDBpem94MmhhaW9YS0MwMTFlWTkxYkFNVzFOODBkVk10aWJ5Nk5taHJydVBhSDFjdXFHSW9ncm9lc0NhRjdvWWdncDBHYkxLWFJPcmhwd2dsOVVuclFCSGRpSVpaSEpjMU92MkxHT1djQTZsbjdCQUdodWY0MFMyME5OdStjOENabFdtNVRyeHRQZ2k3SmpLcFoyUW5MdUxaREVaYXRLMUVqK0RhM3Fib1lXODBQMlVOYldPNjBvNlJwOHlCZFBBRlFMbmx0cVRJRlhTcWVzbzVqSHJEcjZaSHN1OGNiRHQwN210V0Z4MElBVmh4ZGdMNUc4N0lCOVU2aWQ1eVFNOUlnazNURkJ1UDREZ3ZmM3lZNjhnQnUxc2lncjcraEJwN21JUXMyazlaU05sU2VPeDVlelhvbXo4cUM0WmRObGtrVWhaUXhoTXQrNFo1MlpWRC9MdkFNRS9MbXUwMDJrZGZhODdtUTJQamtMQk1vRVhobEdlRk1HUGFOWlZLM3p1WlNHQ0ZCWUs4TUk1OTU3Qkg4a0JDNTlhb1ZLempnSnlEODdRanhzYWxHbC9LcWY3MTdSeVN2U1JVRDVOMDFUN0JTZGkrUlV4SkVzYzlJWXVESVNPVUM5NXpVRDhSYUF3dCtvYlhMZUFGZE0vZDlwMERMU2htSGI5ZjhjSXVOUTVWZzNtL3lsMlRXNkZGUE1PUkZqdUhCS2Ixd1BLOVg0b1Yyc1owcFN0VzFqSXJoN1hBd2k1WUgxalFxU0NrWldjRG8zYjAwbEhib2t4SHIxTUIyVUsyVlRxTk1rdFRCMElBaW9RTmEzVVFuZHAvVjllWUM1ekRsUFRPVFcvRFFoY3IxWEZEb1lZZHc0em5yTElOVmZHWTkwcy80SnZDQXlzTlkxQlI0b3lhY2tMekhTZG5zb2pMbHFHV0hXSW1ZOUllRUpSMURxZHlodFJPbXRaTWx3bytwNFJ1Ynl3elptbzBLRWM4ajRVa0kxdjVlNmR1dTJZUGdNa1IrTTZodWtsYzk1MkRrMExFT2c3SU9kaGhodk5KN1kxU2plL2gwTGR6U1BhU1VEMU1YRlQ3N0psbUlnRldva2Q4NHJnblpIRXdaSVJ5a1hPUVg1c3luYWJ1MjMwb3JxWFowTTVoWE80MU40VFljdnpxcXk1Y0hHb21saHZWZVZtK2dDZHE3UGowMEdtOGJhVUVwbXV1ZzZHZTNDS2dNMmcxV1dwY1FWcTYwcWJsQW0vb3NiREpDQlFlU05PaTNSNzMwWHJTMk0yQ1RvVUNQbDBWSGhWTE5uRkRid1hETkN6cVJCaDQyMnM3alRKTFJ3ZENBSXFFRFd0MUVCM2UzT3JRREp6REtXbFRZR3ZjREV4Ukx0VnhRNkdHSFdzSThVdXE4UmZFUS9Kbk5DM0hGQjd3a043eVdXOVdBdzJ2eXlhTFdLSXFrSGNPWit5WUwrc2NwbDF2a1V6UVpiWTAyN29KVUUrMThvUFJraTZBc2djSW5uTDdLekM3dHFBdVZPTFdxZHR1T3hIUWZUem5NSzU2UGtSMGl4N3dqM1Vja0hOd3pUZGw1c1dweHZjQXdJZ1N5MTVjQlh2WVZrcjJrbEE5dU9jbFNiZXhyTWpML3kxckgxUmlIUGVLRmdkRFJpaDNKaHE2cEoreFEydHV4MEIrZm5WWjBVV3YzNkxRR2RsQ2U2NDhUZWhWa2ZkLzBoc1hLc24vRHdNWGczaE9yeitLZVFZVVErZVF3QlI2U044bDJZNHFzVkRwVVJtdnIrT1dydVJzTzFxaForZWdGK0tTQ1RFdzRCWjBxcm96cktvSy9SLzEyTzdwN1RmUE9jQ25sWFlPSVFCRndqcFJLTlJCZE45WDdRZk9vYkVrQ2NIaXJjdUEvVmVxNDlyYXh4SkFMNnd2U1U1NzRzajdwUjhrSmZGWWNkc3ltRHRzeXByTndEblFqdU9xVEtkL3VvaU5xd0NnOGlicGxMWnR6NG5MT2dkWTExbWZEY2JGbG9xUGVXYmU5VlI2aWtMSkw0YzhsVjFiVWhYby8ybmJwVjFhejZGT3pnSDk2S29tQ25FOTU3Q3YzQlQyS3Myc1N4YUxkUnlVYzFnMm1rMGFXNUpzZkZOS0h1akVkZzJaUFRpSFpDOEoxVU5Ia08xajM0Q1I3R3NSM3pqdVpHd1RDaG1ob0pyZnVScXdhTlk1UUk0bG03TmdlOW1lRVBPVWZFcmFUdGhRTjdPWVZwMGJYTUpqTUV0RkIwQk1tV21ic2FibkFnVThvNUVXdnVjZzM1MWJ0YVRreUlNZHREWTBHMWRpUVRjbFZuV0hDcS9raGlzcVBXSEpvQXYzN0J5d3FIQmNzZlF3cnFhZ1U5WFR6c0c0RlBvRXd4VXBEMGd0YWNGbVBNVTZqVEtyaXc1RUFCUUlHOWJxSURxYTJxNGNvTTRCWkY2VUJNNXBXNGpqdzhkamlzdGh3cTBYQTdDcWo5TmFzSDdnQzVqRUEyZENsMHloU1cyNG1uNzN3bWhKRkRGVjlMMFZPd2Q0M21XZFY5WTVvRXZMem01WVlXNHhyOElQdU42TmFZSWVmdktySDF1NjhKb2E4blVUUi9LY0s2Z0xsYmgxNnJZYnJzdXMxV2xIUjcvS1BVSGRpeTVBcXpxWmlzWTZEc281bU5HTExRZmRoWk9OcjRTZy8rZ3N0c0ZjYWkvT0lkVkxRdlhBWTE3eWNwWksvbGJUdW1PWWovdDV4ZUdRRWNyTmVQTUhXVzNiQVE4UGJVMDQ3SXJwUDJqYkF5cXEzNkdwbWcwNUpEVVZpT2hWM2pTSnlrWVhQRW80bjV3eW9CYndiRVlFb1lkelNjbVJ0K0F0ZTVwNkhOVEVEU21JbWt3bEdtTEJzKzBnNExQd05HajVHb2VDd1JSdW1aSjdUc2VDVGxWM2h0VlVrais4T210aUc5clFZRC9vcWs3YnI3bEtuVWFaSVdQdklRQUZ3dHJTTXRCQmRFaW1aY3hHcjBuN3QzRWc2MjBycU1tTmgxME1aNHpyc3NRdC9JLzY1NjZVajV6ZnVpOXA2SnVYVkJaZTZiV3pvZHQwYUMzc0dha2lQbDJFNjdGejJIZDltT3pPUVZRK2lxSmpYSStTRVBVNkpHV2l2VFpWb2ZxeXV1Ty9ONDJoRGYxZG5iRW1SOE9vbSs2UVdWWWozRll0RTVoeFV4MTZ2cytRd0hoVW5YelB6ZEh1eE1vTkw2dXI2ZEtDT1M1Qjh3U2FSanBLSTMxZ3lBWjNZN3NvTWRtU3REUlVQWGZOOFJnM3JyK2dpbUVCNmdaZGs0UzdJWWhnSjgyelpDOEoxSU4zdjBMRUZ5N1JmMzFoa08yYU1OM2p1Si9YSmh3d1FybnRjR0pCRzNqT0t6Y2RUK093VUFWTnMwUWMxaGJwZi9hQW5ZdmcyWlI1bWRRQVNBY3lWUFJ2SVZvNlBHQ2ZQMGp6WEF0SEdqMXY3VnZ1QktiUVE3c0VIRGxzS2psV2xPMGZWZFlxWFdsWmkweFd6N2pEU0FzNW05RnBrV0JvRlR0NjZzNWdoSjNxcXFGWGRTUERKRW5ub01YRkM3b2FGaGhVUFkycDNMM2lLblhzYTQ2cUNvVUFGQWdiVnVvZ09xMDByNmdhcDU0dk84YitNa1ZIaEpuWlFGNnJEK1dVN0xoVTlkZ3V5S2c5R3BDMzFvdlkrM0hBYnlhWDZBYnJXcnI2SlJYWWpvWmFvb2l1WVc0MXVZZGlZbG4ybmVDOXFxTmtkeFpkVmlKRWtvVnVXQlpxaGVqREpDcVp4KzJJa3pOZVM3dmw1a2ROT1FtU2I0b2JmdHQyQld0U1N0em5qQmRBWFFnOXEwa0FUalYyWVA5MDR2UWo4QmlyK29qL2wyMVBRL09vNmJPdUdldFlEQlo0WE5LVkNsb1NFaWxrMWx6N05YVXpGRlhSRkxHdVNqV1NJWWhTS0hEVkZFYlpuT1l3cXZtT2hPMklUVk5KL3N6TUZjVEdqblpkR2g3Uzl6MDRQYlFmeHIyaTdZSUJJNHpVbW5oK1dCd0FMSm9VR0VnVFhuQisxQmpteHJ3c2g2Z3hvdWJYWGF0UTNGUTB0TUk3blRyOHFFc2FFODgxa1RUUGVLU2h2bDNVVU0wOHBwV3FPSnhWUk1mTngxaFFhaFZKNDI1dXQ2NUttRit6UkNXank5NlIyWVRTUmR5dDVrRWZDN1poQnlpbVk1dTZUbEduQWdpN2pxd09BVStqMnFUMWdBMGoxL2hqSzY3U1hNZStGbEdQQUVnS0cxYnBLSHJEV0p1c3RWNGxlZXNFOFdUZE9vZG1oR1BKamh1S05leFkxWXJmY2gyZm1LSlZqVFBNOXQxV1BjYVI3bFJQMTcydVVoZmluL2hpNW92NHVRamo0N2F1YWJQc0gzNnVGNitnMWNYMW5haEdFQ1ZYSXQ0WkpGRmtJVExuKzFxekJlOWRnUmtobGsxRjh4Zzk0cWVsNmlzSEpndjNodTNUWG1LdndRVzNNcUNGMmJ5dXYyL1dBNWkxS1h0UWFjMUxjeUEvdTBiNmFTdEJlMnpYZHgzYlNNYzJZSUdIbVZRV3RDUkpSRDJZVElxMkJaV3FidHVDS2thUTBUcnErbkxKREVzUXNVNmFTNE1jZGFTb0NURWJtd2VsTmFPRzVERWVkbEk4YkJPc3JHU1pMdjZGT0U2dFFKMHZDcXR0ZTNiOURlSndWK2E2clVwRVcrSUcvazhaeC9kTHBuMHJWZDE0TFZBOWtQVUsvNzBQTTlJdG03dENCUFdWNHBrYmFjOUFkZG1FdWxKaTVLRUg2UitiWFRGZnZrYlNBU3FZRThaRUpkRGRraVJIYTk4RUZzblJTSTd0RzJVaFRDVHJrUWtZdGQ2MlljeEZ6cUxvMXFjM0tSSmpEYzdCekVLZmJnZU9tc1NCNmNveW11eXZOUGZPZlUwWE5MY0lnS1N3cHF5NlIrTWhML29EbUsvT1V0bG5QNFEzR0E0emVjNUp3OFM0WnVvTXZzMHEyWEZEc1lZZFc3QnJnbTFyVFRCeUw3KytCbTJPUG5sNU4vdlE1VThnS0w3MjhyZEpXZEJ4L2hzRnppa0Q5dDc3NnpMM2JkKzBLN1BwWDFURXBsTmc2bzc3SDZRSzRzYmJua1BYNVhmZEs2TnkxZkxCeSsrcXk5alJwOS8yVGRGb2xWUStlc2Y5bjFZbHhOMmZldHMzL1k4KzZUVzNsSlhKNkFMVXE1K3BCN1pNYTJwN2lBaHNqNW1hd0JGaVdJNllkcFFsYTNwNHlFaXBmKzgzdUwwdW03Snc3b1J3UXA2amRWRC9HTG9iVmpLdmg4UUt6Nk41NHZsTWFnUngrTWwvUVJHNmZCM2JnS1diN01Wdld5MXFTU1BSMjE5TFJLL3I0ZmMrT1VyYk5ENmFIUzJtR2xBY3ZmcnRsNSt6THVVQ25GcEZJdGlONXNsZTRxdEgvdmtTZFRQRFFUSTY3Um90R2RmU2RMcjVqRDcwTGdJWkhmeHRjblRycXRPZWM1alNNeWdNZGpPalJpbnNWYzluMmRPTm9halV4UTNxYjltKzZVZmJJTHBGS1cydUZheTIxblgreDN3Ym1lY1pqN1NKeTI4bHNZOCtkZG1ObE1USUE0Y3J4T0I5ZHVjTUJ4b1F1bEtkMTN3VGxZeEpYM2lZVFBmaDVXQ2dvVnBGdGJaNDlkditVWmJGZ2hIWjM5SmN2OU9ZK0lKT1pick5KeTlMN0xSRXVNRTVOQlMwazFYci8rR1FscW5JTTY5bFVFdTg0am03WGZZMXF1U3VHSUNjc0s0b2hib1JuWmI0WDRXeTU3Q2xDTU56VCt1eDdLeHNIaUUvQTFKNUMvTHhLNXFYWlZNUTBiZ2pVOW90ZCszWjNZY1piK1pOVzQzcVdvWHQwSmNlR084VzRodmU5TmsvckovbWFaaGNOUXRWK29WRkFwMXBScEM2NUQ3Um1wOFR6QmcxamFwZndDMW5aTzZNUDNJcHBTR2VtTTErci9ZeVhaZHVHSyt6T2dvVi84N21WTVhPWk10YllkQ1dvQ2xvQy9VWTJEQ3kvajMxZEgydFowMFRKTmRVYVdGMC80dWZidEgwRVdPVVZtQTYrNEM0N2VtSTJ2NUJncS9qbXM2VXR4QXNtM1dGamw3MEZiU2tsUWg3b212aXlodU8vZ3oyL2MxcXJWVlFoUVNTaDU2R29Md3Z5MVE1bUZVNkNIYWpPYXJsZTRtdkh1d3VHdlQydXBudktqNU5yOUVvSlk2clVoMy8rNHpXckQ2N1hyMUs3WktMNFl1RUQvK3ZuLzN2cXVLNjF5bGd2bSs4NmNPMUExTU1oYTc5ZjcvNU95dDJiWXAxQnVZYzdhOUo2Z0N2SmFxM3YwVmFGMXM4eDdOaDVWeVZoV2hQVWwxZTQrY3hIYTJDd1cvK3B6KzBFMjFwdWYvTDc3N2J5WmFzOUtMZGJITGxhSldjUTE0UHpLejBoYTdaTU9ISUJQenovL0E3ZjJDM3pRbzZGUmxWZFcxWnpXVmdWRHd4V252cFRwYjlUc3R1WU5DTFA0ZmZsMlVmQk9ncnN0WjZ0MzB0SkE1dkVBTVFDQnVXN2tyMFowT2VlLzcwaThWTDFEb0tDN29acFplRTJlSjF5WkF1MlhGTjllTzVuN0dUbTNIYnErazA5K0tGdSs2NzkveEZ0UGZhMGNVNzc3dnZ6b3MxTTJ0Q2krTlMwNlNzY1hTQmNzL1gvSjZSQlVVQ1JheFZVdERaLzNKMnNIWjA0VDUxM1h1KzVuVjVTNkY2QkxIMEJaN3VhVGVVeUMzVUpqQXN6bE5ydVd2TkxYTFJMWmR0eGpQRVlURHdNV0cxQnRrVzZqR3dZWEFqNTJEZ2hITXd5ZVFjc2xFWUIxeWZRK0gzSEwwSy93WFFobW9IbExKSFplKzk4NktWeGRleERWaXl5VkFQdzZxZ0paVkU0QU5iM253b3F6UUlLdkh3TG5FdHFFSlo1QnlvTjZpTE9DekxWSElPcEtJaTJKWG1xSmZySmI1NjBuTmVGQS9QYWdicXRtL25NdWw0VUxnNDRqTWlzRWp5aStITzl4dVd2ZXJucXJLWndwMDB1VHRxWjdXWU5hcENjbDB0Njc3bjJoV1BSanBJM2tFY2Z1citqMGQ3MHBhYzVSbVB0SEcwQk1ZbzJzQWZLVGxNczRtNmxKMzZscjdrYnFTL1RNbFhJbDNPaTZQUGtacytLZWNnT3pTTUFqbUhOaWJBYnFVVWRLcEpPeksyakhUcVBpbm1NL3dVM0lXYUVLOXpPVk5BNjBKVmZMbDhBaGRxd1RtWTRkUnVsRGtDS2xRQWdCVTJMTitkNk44clVYNkl1dXRFL2U0dFRPUmdxOUE2MmpubzBYSEprSTQ3c2ttL3BlNmpGNHc0VXhmQ2NXalM4L2ZmZTJ2dDdwOXNYN2lMSW5tNi9hV01lZ2RraXRMbzY4OGYvdGVBNk1qRmVSdi8yRDAybUdWdnJyMTQxWXRpYVNodHQ1ODBuSERsKzk5YWU4RlBkVXM3cjJPM05kdVV1MjBlaHZoUHFrZDMvZlAyYmRxR1JNbXN1SmRFNm8yK1JYenBia2k2SmJhQ2hEZ2VaQlpISWtiRkJVM08xSis4L09nRjJERUxyczk4c1BhOEhTK0ZDcjN5OTcyRWJvS1ZQNVJXUlloWHhlZ25lWFlrR1dPS3R2MDVpT1cybmtDaDhuKy8vUEFuZkVyNVNsTi8rZktqNTYzRFJWMTQ5Yi8vMDMvem0zN2hMc09nZWVHVHExMFd6aFdUWDJWOTFvK0pDNi9BVXNHNy9wZVAxKzcrY2NTLzVhNVAvcU9mL1hVdm82ZGdDb0EraEpXOGIvK0NseC8rVGR5R2hWS1Y3TGlGOURpalBRTGg0cVY5MlU2NWM5SDJSYWZ5eDVVL1NCMlBTK1llK0hSU0QwK05CTU12am5mTnFoT2pyZ2tOb09EdFg0QTUraXU2bmlBTWdDT1R1TmtJbE82NE4xdndrOHAvd1Y4cDk2bkV2dDB2NlpQUWdLc1BVc2NCaXpZSWNwM1VPeGU5dHg3SHU1YWhFNk91Q1hGQlJxQUVBcVU3YmdsZVhBVUl6TGxINi92R0F5ZlVmZE1ZQm9GQjZqZ00rZnFrMlVtOVUrS3hnRU1jRHpMYlJUb3hhbGVYOHhpQmZoRW8zWEg3WmZ4VXJUOGVQNjVVSG9pcC9zK2p5ek52VjNPQU9yWmpjN1B5T3Fubm5xMVRFc2J4cnVYdXhLaHJRbHlRRVNpQlFPbU9XNElYVndFQ0E3VG9aNE1uUUc0aGRBZW80eTJrbFJXbGszb3J3VE54OU14S3lSUFBUb3lzUkJ4Z0JJYUFRT21PT3dSWm5ob2tWd2EyRnpRbkRtNVJ5QWFuNHkycFlIdjFLdEdMQTNHOEI1WGFNK3FCRUJkbEJIcEdvSStPMnpNdnJpQVJHSnhKWHhpWW14bDAwd3hPeDBGTE5oQjY3ZFViaVk0YzRuZ1BJclJuMUFNaExzb0k5SXhBSHgyM1oxNWNRU0l3TU1ncjViN1ljeHpOTURBZGowUFkzbm0wVjI4dWVoNHRqdmZBcnoyakhnaHhVVWFnWndUNjZMZzk4K0lLQ2dIM0ZaYitFQm01UmQ5eUlLMEdwV04vQ0EydGRsdjFGc0szSFBCNXYrQ3RoNTZFYXN1b0owcGNtQkhvRVlGK09tNlByTGk0Um1DdDdQbGtoT0JlOUI1dWxIMVRvNFBTOGFZcVVjeThuWHBUMFd2cmNieVlhaUtuSGFORWNVNWlCQWFHUUY4ZGQyQlNQTVVJblJWTEE5RzRiajltTkJCeUF5VXlLQjBIS3RUZ2lMVlQ3MHowWWFVNDNwTVU3UmoxUklnTE13STlJdEJYeCsyUkZ4YzNDRlNEVC9HWjFGN3ZFK0tGdlZZNXh2S0QwZkVZQmU2TlZSdjF0czNQMVdpS2NYeGdqSG9qeEtVWmdkNFE2Sy9qOXNhTFN4c0U5Z2J5bE5IY2dIYW44SVV6STlnQTc0UFJjWUFDRFpaVXNYcVY2T1dUT042akhNV01laVRFeFJtQm5oRG9zK1AyeElzTFd3UzhIMXEwYWIwSFd2aU85VUN1YzhQNFF0TmdkQnlJZnNNZ1VxemV0UGRoZitJY3gzdVVwcGhSajRTNE9DUFFFd0o5ZHR5ZWVIRmhoOEQrQUU0THpnN01wQS9uRnowR29hTkQ3SllMRmFxM0V1MFp4dkZlTlNsazFDc2hMczhJOUlKQXZ4MjNGMTVjMWlFd0VqMEo3M0s2RCsyNzM4anF2bEt5NUVyOEtjRHZmLzI5ZCtLNmF6bFp2TXZFUWVqWUphdWJVYXhJdlhQUlcrdHh2R2RaaXhqMVRJZ3JNQUk5SU5CM3grMkJGeGYxRVZnd3YrbnJKL1lVSGh1QWY5RU1hNkU5bTZCZi9aS1gvOXRkUFFrbkMvZXZZKzg4ajdGR2dYb2Izbyt1a1RSeHZIY0pDeGoxVG9ock1BTGRJOUIveCsyZUY1ZjBFVGpYOXlzS3pXajN3cWZlV3hpL0hIdkZxNEZmQlRhWC83dldYb2t1Zy8zcjJDV2ptMU1zcmQ1a3ROa1h4MHZJbW1aVWdoQlhZUVM2Um1BQUhiZHJYbHd3UkdBai9PSi9tTmxGckJJWTlDNHFGQmVaRVA3RFU1UDRTZXQzL0hweDZSNXkrdFd4QjFZM28yaFN2Ym5vS1lFNFhrYlFKS015aExnT0k5QXRBb1BvdU4zeTRuSWhBbFBlNzVHSE9kM0ZLdS9zcmx3WHBjYURYN1hlRnRkS2ZsODZ4NnBmSFhNRWI2MkVwSHJQM0EyRmpPTmhibmV4SktQdXFuSXBScUFjQW9Qb3VPVTRjNjFiQ0lIVHd0c21QeXNPZDI0aDJWZ1VSb0FSWUFRWWdadUV3SjcvTGFDVmFNLzhKc25FYkJrQlJvQVJZQVJ1TWdMYjRuRXJ3WVR2S0d3cUJ4Z0JSb0FSWUFTZWNnZzB2TzhBcmlYUHVkOTg4UnNVS2gvVHg2MmZleWlQUE43LzhxT3YyNldjTjU0LytvYnluNlZXdFBrL0k4QUlNQUtNd0syQ3dCdk1VNnVIU3FKcTZ2MkxaNHY3eFBNcC81eFFuM042K3JVVzdUNzlobmpCandsNm92WTd4YXMvSWFMSGRLZzhYNHdBSThBSU1BSW5Fb0g5MERsTWlNVzhHcFhxWmxhVjMvczRMZFRyY3EwclkrSWh1SXB2elBCRE5wdlpXZkg3V2RaSXJqbnkxRGlGRVdBRUdBRkc0TlpINEdsUGU1WVEvK0ZwVDFPU25rNTk2SFVhcTRtR1dFY0pPSWNsM0VieGRKTVFzNDJ2Ui9nTXZrSGErbEdaOXpqKzg4VUlNQUtNQUNQdzVFREFmODFoTy9XOXB1MUxXZFlTODlBVzIwcFhjWnVHRzZpSjk4cXlJK0w2dEh4WGV4eHJDYjRZQVVhQUVXQUVuaXdJK0s4NXRCNUphRlhkeFU5QzB4a0RiU0l0NGY4ZXZJVVF0UU1Fc3dseHRMSk1nYlArMnhLVXdCY2p3QWd3QW96QUNVWmd6enRLbHJZLzBtVUNLd1I4Zm1tTGtzL0lNNG1GSzFsRkNQVjdaL2oyaHZyOCtMaStSN1U1eWdnd0Fvd0FJM0FpRWRnVzlqTlBvNmt2dlo3Q3QxbEhoTmdsNWNia2dUU1dFcU5DLzk0WmN0Ulp3eG1SMnBJNmtZaXcwSXdBSThBSU1BSTRhMTR5S0V5a25qaWFRL1lwc3l5Z280Y0tIbnVGVHppUXRjYk5KMTFQeTRkYVpSci9Zd1FZQVVhQUVUanhDSGkvNWpDU2VsanB0NjVrV2RPOE9FMFBMVTI5bFBhWDFGSUNEekFkS1FUbXZOMnBFNDhKSzhBSU1BS013Rk1kQWYvWEhMQU1DQzc3ZXc0TDR1OFVUdG9sWkRQbStIblBQS1MwNFhhbm51cVFzdjZNQUNQQUNKeDhCUHhmYzVnT1hJTTVWb0NPWm5VeHFsK2t4bEpDUDlka2ZVTHV0MFpQUGpTc0FTUEFDREFDVDEwRXpncGhsVDhyTHRCdlI1dnJyazJkTTZrZlZzck9tWitmMnpkTENlc1RqUCt3eERqQUNEQUNqQUFqY0hJUk9PVTlaWlE4YzRCcWNDQ3pVc054ODZ2U0xmT2RqYW8rbUxiKzQrUWl3Wkl6QW93QUk4QUlXQVQ4ZytRSmVoZ3BjWjAyRG1SbVNlY0s5VkljdmUrQTgycGNlSHhKK1E5ZGdHK01BQ1BBQ0RBQ0p4a0JlMmdBSlNiMU1pRFd4ejZzdExHc3NuQ0t2UzVEWStiM3A2My9VQVg0UHlQQUNEQUNqTUNKUnNBZUdwQVdOZjFRVXFTUi9UbWcrbzdLd1NtMldpZllFd3ZyUDZLcUhHVUVHQUZHZ0JFNGlRam9RNE8va2JLdlBKRlVZVVcvSnplcHZwU1JaZU5DUDdaazM0dGVvUlBxczVlUzFUbVJFV0FFR0FGRzRLUWhvQTROUnRRblZadjZqYlpJaVpaUVZ0K2VSOXZYb1dmTWF3N3lZYVc5eGFnaVJ4a0JSb0FSWUFST0pBSjR5bWdIZ3MrcER5Uk5wMCtrVy9vc29tbFdCbnZtTlljMS9Za2xmR3RwSFI5dFhUNlJHTERRakFBandBZ3dBaEVDT0QyZ2xKVjVtVDZWZnMyNW9UL0lWeVUvUXBjOWhGaVFQL0FnSDNaRmNtMlhNdmxpQkJnQlJvQVJPT2tJbkpYZlJySnZQcThjN1NZMDJsZmJTaVBtRlRqM3NiNjYzbkE2UTUvVEdNTWZYNHdBSThBSU1BSlBBZ1RPeWUrdDdwbVgyODZJRnlhVTJsUHZRMitZWFNWOFRtTlRGUk42SDJxYVBydDNtOXFiU2hEZ0pFYUFFV0FFR0lFVGhjQWtQWGMwV2R2U1FsZXFSNnQ1K2MvS1krY3g5Zk0reU1hcmIrdXlGRTRzVlBFUmNnNnRLL21xbk1JSU1BS01BQ053RWhGWXdJSDB2bnVDOVFIeitGR2dTeDN2UVZjYVgyM1M4T3JickF6alI2VlZXcVgyY1BZTTNsVXlBUEdkRVdBRUdJR1Rqc0M0dVA0SmI3VlFhWWtYS2NQdks0YVRpVS9WYjlqMENmUGJQeVBteTkzWm1uaFFmMUhEcjhkaFJvQVJZQVFZZ1JPS3dLOVVYN0R1aVk2UEpOMzRNeSt1Z3IvM1lPMUxWMTNxVzM1VWhTdWYyTlNKbGRjYy9vVEw1eEFqd0Fnd0FvekFrd3lCLzB3LzZpQS8zWDNYOHBOTU5WYUhFV0FFR0FGR29EUUNINnFaMy93eHp6Q1ZKc1VWR1FGR2dCRmdCSjQwQ0V6K3liM0tQYnpzU2FNU0s4SUlNQUxsRVBqL0FSbThhWkwxb0pQQ0FBQUFBRWxGVGtTdVFtQ0MiCn0K"/>
    </extobj>
    <extobj name="334E55B0-647D-440b-865C-3EC943EB4CBC-13">
      <extobjdata type="334E55B0-647D-440b-865C-3EC943EB4CBC" data="ewoJIkltZ1NldHRpbmdKc29uIiA6ICJ7XCJkcGlcIjpcIjYwMFwiLFwiZm9ybWF0XCI6XCJQTkdcIixcInRyYW5zcGFyZW50XCI6dHJ1ZSxcImF1dG9cIjpmYWxzZX0iLAoJIkxhdGV4IiA6ICJKQ1JRWDJrZ1BTQmNaWFJoWDJrZ1RsOXBJRnhzWldaMEtDQmNjMmxuYldGZmFTQmNiR1ZtZENnZ1hHWnlZV043VEY5cElDc2diVjlwZlh0VFgybDlJRnh5YVdkb2RDbGVlMXhoYkhCb1lWOXBmU0FySUZCZmUybGtiR1Y5SUZ4eWFXZG9kQ2trSkE9PSIsCgkiTGF0ZXhJbWdCYXNlNjQiIDogImlWQk9SdzBLR2dvQUFBQU5TVWhFVWdBQUJUTUFBQUROQkFNQUFBQ1dRUGt5QUFBQU1GQk1WRVgvLy84QUFBQUFBQUFBQUFBQUFBQUFBQUFBQUFBQUFBQUFBQUFBQUFBQUFBQUFBQUFBQUFBQUFBQUFBQUFBQUFBdjNhQjdBQUFBRDNSU1RsTUF1Ky9kelpsVUVHYUpxeUoyTWtRZjdwNlRBQUFBQ1hCSVdYTUFBQTdFQUFBT3hBR1ZLdzRiQUFBZ0FFbEVRVlI0QWUxOWZXd2t5WFZmN3k3SjJWMSs1bUxyQU1QeHJQWjBWbUluSHViT2dPSTdXVE9TVmhGOENUSjBJZ1hRQ2NsUWpvSDhvUUJEMzUwRTIxQXdER0Fsa0JGZ2FEajZRN0ZoVXNMSmNld0V3OGhSa0NBSVNObitJNFlSa0JDTS9KbWhrQmhKRkVDengxM1p0M3QzcXZ5cXUrdXJwNnI2NnpYWmJHd0RaTmZuNzcxWDlicnExYXZxbmlCNGNqVzVCVnEvL0tIem56cHRzb1JQWkx1YUxiRGFadTkrblQxOG9wdFhzL3NhelBYeWhQM2JJUGgzN08xUXhwMEdTL3BFdEN2V0FrUDJBYzd4aEIzai8rMjNlUGpKOWFRRmF0QUNLK3hCT0ZKZVo5OEROK3YzYThEU0V4YWV0QUJ2Z1gzMnZyQWhickZ6M0llOU1QTGszNlcxd00zT0poVnRRaWdxbG5TYzdnL3JzZm53VGNZT3c5UVdZN3VZMXZFWFhhc2lVSmQ3bWlSMTRiTWtIL3Rzb3lTQ3JFNElKVEVKQSszUWhIUURUdGwzNDh3KzZ3VUIyNGxqeTUzM3VpdGRTazZhSkpmQ0ZEblJXK3doRlNZaEZCVkxCczRDZTJURWs1RXUrN000YVlEUXltT1J2OEQrVkFScmNrK1RwQ1pzbG1Sam53OFFOQmNoRkExRENaUldsMjBsa3ZUb0NwT2o2aGpyb092dmlNenJVbVZGeW1YZlV5UzViUFpvNkMreWgyTGVLZ3RJQ0ZXV0ZVZjlWK1NNYlN0d25ja3BmTWJlRE1iU3psbDYvc3hXL2pMVC9KSmNKbWQwdEFmeG9wUUFrUkNLZ0JzYnhIS0hIZGpTbzdTaE1tMm1jTHAzRHQxRkx6M0hMOG1sczBmQndDSTdwK29CUWlnS3lhd1lhcUZqeVc3SG0wRElPbUp2MzVLbXBxWG81U2Q1SmJsODlnZzRPR0hTb2lxTFpvTmFZT2Qzbjc5Mzc5NkhuNy9ib1hNRUZPZDBqYkU5WjIzRzVQYlBpRDJheW9pendtVm1lQ1c1VE1hb2FDOHh0azJFWllXYU11M2FKS0pVQm1ZSUk5SnhMVE4yWDJTdHM4ZmRZeEdwNTkwalNUMFp6c25WVE0xaE9Xdk9GYmRDclh6eHkvMVFPUi8rd0ZkLy9YU3V6c1VuM0hJL2l4aUhlb0toZGFic1RwRldzN3RIa3BweFdvZ2REQlFIaFNyT1YzSkR0YUdiT001VGs2dXRadTBFUjlnTDJoSkpXS3hMTC92WHV6K3hJOUxyZEhkTFVpY3VpL0x5Q250UXRHcXluaHRxd3RnYnlkS1hGd2VmRGtXRFJiSW4rSUpxbnNiaHBmTlBLRFVWK1hXNHV5V3BBM2RsZVdqVExZTGNVRjFXcDgyVVZlWmFqaUZuVnpUb0RUV2ZENThPQnJWY3JMc2xFVkpjNFR2TUZka1pKY1Z3UStHb2hGcGVsS1JDVVgzczNLM1VSazE0Rm1KYXJXZUNZQ0FpRlBUcE1OeVMwTkc0TEtRWkl4c08zRkNZSjlYeTRySWsxZWhlWSt4TWkyckJ0aks4eDR6RkdiZmhYT3ZXeUNEUitIVkxvaFc2bXNGV2gyMFNjZTZCV29ScVNoc3VCN25QSCtZb25LTW8xbXR5aFdOV204cm11QTJlNDd6MVhyQldKNE5FWTlrdGlWYm9hZ1lYbk9OSGJuazhVRGZReldlNUFZTlZsMG1ZSHlwUlkreGFsZDBXUHMrbHpsL2dKemNYZTZqNWk2ZkJOWFluQVZHVHFGT1NtdkJYbkkwVHV2bmNBelZTSTFBZVZwZmtFSmFuVnBheW1BZDM3ZVc2NXpzODQyYjM3V0NBTXJNN1ViRWplU0FwaXRmbXYxdVMyckJZakJIQytjQUhOU3ptdmI1WjJWQUY0K010ZTR1OUZyNjA5bjg3ajNhd2liNngzTm1OaWcza2dTUjd0VXRMZFV0eWFTelJFTVlrdkV1REZQaWdCc3k1SlBaUnIwNDFnN0h5RENVNDJHZnZ4dTRWOTdDdmR0NW9SMi84NHJRNzJXSXhRYTUwMUMxSmFlaExCVGh4OWxCdXRueFFYUmErbnBnWHMwTFZoUFc3YTJlbjljdlBQWGpwajhLOFgraStjQm9WV3FGei90cXBGazkxUzFJY3N3WTFNUWs3NXJYY3pQbWdpcm8xSzFSTmJKYUxGeTJ5aUhvRHZxL2wzOGxTOHNMTDVKVGt3dmtyU0JDVDhGN0Jxc2xxUGlpMFhpRzNab1dxR2JSelRkRXpITTZxNjljUzhrbVM3TGU2eG9keXc2TTBoejRvYkJNVmVnU3FWTTJqWE80c3ZoZDB0Rkc2a1NvQnlDZEpKU3hVQU5vUlhyenkyRDRvaktoRjNKcEJsYXFKWFlETjdGTDNzUXJxSDJZdmY1RWw4MGx5a1p5Vm9JWFI3RTZKNm5wVkw5UUlxcWtYemhxdVVqWGhkSEVlS0o3bmIvQkdjRHRIOFhtQUNsUHlTVkloSTVUUVVKbGRJand2MUt5WVc3UFNVVE00eVdQTXZNcitzSE5NMUZUa01Ma2tJYWRlRGVBa1QrLzRXZkJDN1JkemE2YXA1cWZ1ZnVRMDVPcXpIK3M4K0syWXY4OC9kLzdDUC9Qekd1WGlPT1plbG5KaG1kYXZudGR6ZmM2NXl5VkpacEV2dFNBTysxRk5VbjZvZmpHM1pvcHFMcks3MFNyN000dzlZTkZiSkswQlkxMzFsUU5mOCtKakNIbmNSejZvUzg1cmppU3lJYkg5ZWtkR3lnWDhVS3pnYVUyL3JUbjRTWHpWYlNNSVZ0aXpwOEZhOUxMbW1QMjluZUJuWEdjM1RCazd1ZHhIWnQxNnhab2ppV2pYYWJiaFJSVDMzYjFRUmQyYS9sRnpDZWN3cnZPeGNoSnVKaDd4ajNJc2hvY3c0UDNmOGpFYjUrMkxiOEpsS0Z2dklzMlJSTFJ6bTg3VTlFSVZkV3Y2VmZNR1BvK0Z3VHE0OXZDUUM0VGpsWWRCKzIrRXNtVjdtV3VVVFlORmE5WDQzaHhKNGthR2ZTZ09MNVJ0ZGo5VVViZW1YeldIbTN5VVpMdDl6T200Y0pCKzYxcDhFbjNvL2F5UkVCYVZHMkpzTmtlU3VHOHd6dHdYM1ZUeTdvZGFaOFhjbW43VjdCK0hRK1hMc1RyaTZkZ2NSRm9hVEROTkI1ajN4YWMwUzRwLzJkV2JJMG5ja2tkMEU1b2ZxcWhiMDZ1YXkvd0FKUitQZTVFNE9FTHlwbmhyR2V3Z00vVnFaeXVXaW5QNUJab2pTZFNXQS9XZWRkbkc5VVB0RjNScmVsVnpoWStXOE9qQndnd3ZqQnp5Rk5WVXBub0Z3eU56N0Mxd1pUS2JJMG5VNVBBR1VyVzlINnBmMEszcFZjMEY3cEk5VXA1WjdnWTRqdVVaWmhzT2NkTHhUbHpqaXQrYUkwbllFZmlHQ3RVcUtBVUtTdU5ZYjZ6Mm4vWXBoYyt2dWM0UG1rSUhlekVBZUpCUDJvbGgyenFKd0ZWZHQ0OWcrMXJEazljY1NVSWg4YVE1Rk1iVEJ2WXNQNVRIclhuazkzcjdWRE44bjJ5Z2JCS3NVcVdlVFpTV2dtRW5FWmluWkord3R6Zk1SYVUyUjVLd3hXYk9yNnZrYmxBL2xNZXRPZkR2Mi9oVWMzOFBiSGFWYnVseld0ZUFkUk5wSzgzT0xYTzlLalJIRXQ2dWtPYU1xSDM5VUI2M1p0dS9pZTlUelc5aCtZUEI0cEVRWWFUOERYcHlLS2pycE1CWTFSRXdWL1RlSEVuUUFlZy9xcS80cEVDdE0rZXFaRGEvby9pUHY2T3VQMkUvcGlMZitYOXphZ00zKy9kRUlrYnU3VGlzSnlQSlFpUXVDTTd1eE1FcmZtdU9KT2dJTEJ2a2lGT3lYMUtnb0RTbVNkZmFGUVNYUHkxQzRvNXpzYzdyV0JRU2Q5aVg5MFY0WCttL25venNlU0tpRG5ZS3BIMHEwcTdtdlRtU29QMHh6YjVEMUEwcFVGQWE4eUc0NWlITTEweXVheVBKTCt6TG5ranJxNlVQdkoxelJVVXg0dzVpOWZ6SWxzRmxsa2h6SklHMFIzU1RXUXBVWDV0MncyYWV5cUhPMHVwZmNTa21lM0NXTEQ3U1RnTnJ1NDdnNXpoWjFCN0hFTDFqejdscXFjMlJoUCtBN2J5ZFY3QS9VcUJZMGtzMU9NaEl5TGNNNGhCRHRaTERzQ0huWnZCem1vM0NnTzRObEd3RUt5dlZIRW00MzBVdUc4cTJseCtLVDlHYkJvbk1ub0UwMVVSL0NHRDlwSGRYemUwaTIzR0hidmNjV1Zjc3VUbVNCSHpMbWFqMVU2QzRXM05MSjNVenMyY2dUVFUxdHlaT2Jncjl4eGtrMDdiVmladmg5ZVNBYm1aZm9WaHpKTUZiQzJRcmdCUW83dGJjMWp2NVJsYkY4ZTZoQTFIM1g2SnJoUDdqV2NqNnRSenc1dko1Nmh4ZmdYQnpKT0VMZEtwT1NZR0MwcGhyamFsbmdXNHFRY3FvcWZzdnA4cHF4QUpkREtBbTNId3M1YW1hcjFEYmxPWklFb3l5RHkxcDNaRUNCYVdSNXk1Q3FIYXNPR3RQdmVmWWo1MmltcnIvOGtTZGd3TkJoZXNuZ3JtZnlxenhTMUo1Ym5Na3dmY2xNdzh0YWMyYUFnV2xNUTZUcjhXSzAyby83RDg0OUlLbnFDYUc2NTZvcjcyY05JaTA5TnM3eUVzajBra1lHd0x1NnQyYkkwbGJjd21XN0ljVUtHUkx0dzZuZENPZTNsOTlES3VpNTZXZG9wb2pUUWFtempCMW9zMm43aW13MDRoTWxJbnE1YVQrbWMyUmhDbVhZTmxtVDRGQ3RuSDQ3aVRlZ0dudjRhMHpRMm5uR0VsUnpabVNBZk9aTUozaHJPTG5VSmREUDBBYWtUSGQ1REhIL2NVbU5FWVNicHJ3Q1kvZ1NvSGkyWnNhR2ZFckp6ZGhnRjVMOGZLa3FPYStrZ0dyQUxFcWh3WEtINFh3cDh4VGlZd1N6NDNHNkJVTE5rWVNkS1c1TmluZUVTbFF5Slp1SFU3a2xmaEV4ZzJvMG5YVENwM2pJVVUxdFcxejdlc2g4UTc2RFg0bUtaVUlkdUg5QS9jY1QzVk5hSXdrV0VGUWZUYy9CUXBLbzdzMWx6dnNJT3pkOFFiZnh4ZXpzTDNEVTFSVFcxK3RzeGcyUEJ5d0M3andGSHdxRVp6WU1kWm9kajZ1UW1wakpFRlgrclVpZTIra1FDRmJOeDIrS2V6RDdqYmZ4eGV6c0oyY1h6WDFiZk9wY212T0lucjlYV0NtRWtrWjh1MXMxVEsxTVpLZy96STd2bE42SWdVSzJacnA4QXZpQUhPTHIxS2lUMmk1OGYycWlWMGZ1YjQ2VVc3TldYaEVlbzNqcHhOSk1aVGRyTlV1cHpHUzdHdUhjRXUyY2dyVVJKOHlWenBpZjN2NS9RRis5MUdmNmkxcytGVVRsb1JjWDJsdXpXbm9PK0pmUkFveUVNR1l2bTJoZkFXVG1pSkpXL05XbCt3R1A5VG4wR0p2eHhTVy93a2kybWdOODhoUDI2K2E2OXI2U3Z1TTMvWFFpaGJmbU9HZjZmSVI2V29ndm5MMXoydUtKQmk5OW9oYTJ3M1Yrc0xMcjNObFBQL3FKNzcwcFMrOS9HRWUxa2E2WUpTMkZQT3I1bFNZclJnZU5kUDVGaiszY3V2QlRpeGVDcEdKemhCUmkxd09URU1rNGVmWXRtbGEwQU9GQWN0eUhVdTZZL1hTbVV3ekFuN1ZIS3YxRlE1NlNMTVRKMUZQVjl2eU42VlRpQUJFMVRTSVg3V0lLY2xUWnNzLzg1Ri9lTkh5ZkNqaTRBT0s3cXZzN3ZQMzduMzR1WTYyK0ZDNWNRaGRLYjRWTkplWE04RUR0ZGd4MnllTVBSVERHWDd0Sk8xOVJyOXF6cFRESG11QUxjbjNhL2g4OW1OSkpZWElOUGwyaUlTcElsQ2x3aGlTNEx4Zzh2cHJWUWpreHVUTE1uNXBhamlMVXZEZlhTM2d4M3M5MlhteWlrTmh2TjN6VS9LcjVxMjdxdnJ2UGFzaGZhcnpJMmNpbWtaa1habkNva3AxOTBvVnhwVGtDeS8vdVhCZytQNlA4K3QxSHY2TDFRbG1RLzdEajMrNUM2cnNUR1orN3FmREJQYlMzNWRKOHdFc2JqVnRucy9Qa1ZJY0NrcDk2Q2ZrVjAxLzNUZzNqUWcyVVM3UTUxNmx3c3hKZ2gxYkp1eWE1VjlDNU9sTUxVWllpTzhFR2krM0xrL1EzS2RlQ25qQ3FEYURpa05kVHoxblQ2Q2FhVVN3V1dXK0pPOXRONExNeWhSbVRoS3VHTWVTNDUvQmFMUWpZeGNUNExLYXV5clgyTGxmTTdFMlZuWmFTUzZMUTgzNDl2WFNpeDc2QktxWlJxUzRQZUxoMjVkVm1jTE1TY0pYb1dwYXdnNHhlNStQc1FyeWJueTNtNWlVbGt4TnRkQ2MwWjFxS0E0MTRhc2dmZ0REZWQxVVBuVm5tWlNNTkNMNDhvaStqNXFDUnBCZG1jTE1TWUp6THZvTGdzT0VsaERJa2dZeCtsTVFOUlkxNGh5NXUrWlk5M3k3aTJYSktReUZOY0ZXRUV3M1BVVFdVbzRhZTZyR1dhbEUrS3ZJWitrNGRDVXFVNWc1U1k1TXF3MkxncXl2NTFOSk8vd3pTTXQyTmJpYjJqaXVKV3ZCQWQwK1pXRW9lSjFnZGt4MHhqVU9vK0NIdHVlUzhpV2tFdUZ1MmVOOG1PVktIMVdsTUhPU1lORFFqL0J3UytLZ0hPOTVhdzgydVpXaER6NkxxWVo5bis2ck1vV2hidkhwSmp5QWtWZmlIT1hUaWFEdE1IaFRYRGMvbVFXbE9vVkpTakl4bHlEY0FYMC9DNGQwWmJwYjNGMm1ueU82SVRhdG5VUTZkRnZvaGFGVytOTDRtdjVjTzlrdG5wRk9wRXZXRk5OTW4vYXFUbUdTa3FCbjdtZ3R4MzNnMzlQaTFRZGIySEdFdUxvdmFLVHJxWlVEY0hsZ3pjaWZXQmhxbGZ1T1RucjVLZWFwa1U2a2JYWmdIdkJFMldFbVYzRjFDcE9RaEUvd0d4cUwzQmF0ZUNEUXFQSGdFaGFZTTFEZFVlbkR0SEdiYzcybnlwY0psWUJxbndlTGxidmFVb2tNeURiUngvcDYyTldtRlNwTVFoSytZai9XMk9BVGV1cDBxcFV2SDF6RXM0cU5BRjNWNUlFd0Z6b2YyNDlkbWZuU1MwQzl5ajdJUHBxUFd2N1NxVVJPVEdNb1B3VlpJNU5xVnFnd0NVbTRsK3BVTXNkL0FQbWlWZk1HOXRtNHZIY1VGOTFqRmJhRytBTzBiYzNKblZnRzZodDMzNVdiWHU0S2FVU0daQzdlVEtwWm9jSWtKT0YrRzcyMU9PV0xmVVZ2eE1rWlZGdkd3Nkp6SjhMOEFkSWZLSkZlNEU0SVZZQTZRWlVabVFXV1NUVXJWSmlFSkVlSkQ2NXh5cjc5RFlLMlRFQU0rWEhEZ2I0VHZHUThMSW5pWVpSN213NXRHZm5UQ0tIeUU2ZW9nUjU4UklFVEJKbFVFK1NNaFR5aHdpUWtHU2ZtYjJRYkxrWWFvWDBvKzV2STVXVGxNTGhveUc2cnk4ZDJXM3FCTkVLb0F0UUpxb3pJOXU4eXFXYUZDcE9RWkpJd29rR1phb0dSc2RuN1d5aklYL2JtOS9CS2QydGl6eXJMYWxJQSt1NkVVRDR5MWVXdEo0YXg0cFF5cVdhRkNwT1FwSnZ3c1BlaEk4V0ZLMUNUdXpYRDM2bFg3eEdNVWgycldORm44c0ZsNEljUUtnTzFDb3FnUTFNM3o3S1J6YVNhRlNxTUtRbmZoOW5RR09kZUt5TExSVVAxQmRjaWgyWkhNeXhTM1pxQktZUVBQaldQRUNxVlZpVUY4R3dSelNCWlZMTktoVEVsNGE2VFk2M0YrTm5KVFMxZVBQaXpkejl5R3RiKzdOL3BQUE5iYnB4YjBmQjNvbzJEZzU2N2VKUXpJcHZFK01uUFZOTTJqWjFMemVjSGNtZ1l5S0thMVNsTStFdFFtaVJjRmM4MHdkQlJORXZmMit4dXRQZjRHY2FlMFVaRWpWWVVYSWhlSCtDRUJTUGR2YmxTaVlRamMyTXprUnUwUHY4YzRPTHJ3WFl5MjRnZithR01zcldNY0ROOWg0U3pMS3BabWNKQUFsTVNqS0dhb29aT0hKcHR5c0ZQQnZ2Y1ZGaGhmK2swV0JLZnNMSzA0SHJrUmVVTFpSVG5WMHZxYUJTMy9KOTVWNlZyYllDcDY0NEZRQ1g1b1ZTNTJvWjR5eDJTY0pkRk5TdFRHRWhnU2pJeWJXZytYTzlTaUxsMHZvTXYvR0hIY3hLK0JqZDFHN0N6NkMxcXZsOFkrMVBUM1pyOHA2RGNGdkZxRjFqYWRkOHJrQmZLVzdNbW1jbHhyRGhiV1ZSelZKSENjSzVOU1JJZGd5R0VaaXVJZjdFSDQzUHcyaHM3bkNqc0lkZURIYm8xVWFRdnRTMzl0Q2Iva0x0N28zOWZVMHNlM09NY09DOHZsTE5XalRMNGR0WTJDVDlaVkhNb3V5a2tPYU5TR0k1bVNqSXdqc0JoWitUOExDUlo5dDl3TTN3SWR2c0hJUkwyeUxjY2tLRmJFM2xRa1hpaG1lRm5lVkRZYVhmOGU2Nk96M1Q0LzN2OCtrMEg0VGpaQitXdldaTmNzMFBMTUpWRk5RY1ZLUXpuMjVTa3E3czExeEJ6YVJDdnF2L1N0L1l6M3dqTy9kSTMvemdrVEllWDQxT1lPR29IWGJWZXdvRGdHMTZvaEN2ZHJSbWN1QjlXL3VMZGQ4K0M0RlBBT3czeC9QODhVUDZLZGNubFIyTjJTWmpKb3BwUWtmdVNXSnJDeUlMWkFvWWszRXZWRS9WK0htUS9JQ0tXZTQ1ZitsN21heXZ1MWVoRk9MQWtsVUFHOUpxWTZmbGVkcVMrNlc1TnJwb3V0L3pYeEZ3L2x1c3FnMkF5NG9GS0ZxMW4zT2pRVWl4bVVNMWNDcE9YR1VNU3Z1ejU1SC9tMTMvNVB4OUQrSWQ4YVB5VXNldmFNQ3V1Y0ZjaEh3Y1BvM1NvWnJUYU1Zc2hka3U0aTdtelB6cmNudTdXeE9MZnBab1lOT1BmOHNIMEVPSE4wVFFTM0ZCR3NmcEdlSWNlazdDWFFUVXpLOHpxUC8rWDMvZjhLZGhxL2FNdnZ2N2NkaWIrREVuNG1raGREejdwUi9pS0twb0lQVGd6YXk1d1MvQklHWVNReUtHYUMvTEZpN1p3TUthN05ibHFPdFFPem8xZXpFczMweGRYM0ZDbVNMV05jVzA1SnVFdWcycG1WcGdqY0JVYVZOemJsSkUvUTVLd0hxK0xOY2dILys2T0V2Q1BvNVcxU3NnWFduOEw1VEdqYnNiVk1GdmZqNEtyL2FjTnFIVzVuSm1CQ2M2QjZkYTBNekp3cXVaRWJTaVB6WDMySk9XWURUZVV3V2Q5STd4RDkwall5NkNhbVJYbTUvaW1CK2RxOFVNSW5HYml6NUJrRk5kUDFzVHNlcEJNeXhPZmJhTDBRTzN2d0k5MFA2cC9aTHlmaHQ5NTRFb2NYbHpxWTRRTXQ2YURFVURiUjAxSUp3R1B6RjJTSk9XSUt1ZlNEaFhuMS83Rzdhd0xVODBSaU5sYXhOSlBJN0VCakk2MVZabFBNeVFaT2phUU1XNXZ6RmZObnJMUDI2cXJCakNZbmIybzlrQXdISVB0MzRrRG9ldUFSd3kzcG9PUmlVdWZYdEZXcSt2bTA1cWtITk4xUWdtKzZuN25IYnBGd21TR1VUT0h3b3lFNnpudGcyS1NkME9TZ1ZqT3l1d29nRkZ1TjVHVUsvcnRRejR4Qzk1Q3M1TXJLNjUyd2lFWk96NlJ3eGQvM045dnVEVWRqRUNmNU9ESVVlVTEwQ1p4cU9hMnpKaW5IR2M1b2JTcXRRNGFIVnFLMHd5cW1VTmhobUtsS25VMGpUbERrcTVqOUZuTHRJTHdrOExjS21mS3NaemJaNGtuWEhzRUlEWS9lR2k0TlIyTXRCMnFDZldXdGlzL09iZXJzWmlrSEdlNW9KRE42blhkMTRUUmdueUw5MENMNXdxMi9vZm1vQjZjYTVIdllIU1p2N3BhcCtxNWxuN2FGemJjVU9tQlhtVStyRXZDQnlxN3dQL0J5dGc4bWljRmM3SEV4dEFVbDF6K3RGRkZ1aldST2dVM0lHdTZOZTJNdEIycUNacDNKRDVVYzF0RzhDVi9rN0xJY1VFaEgvelU2Wkt0S1ZpUDducUhtamtaWWpDQVhKZHRKemlQd3ZTVkRlZmdQTW1mTGdsZkVtMGtDMURGWWYzMkJGYjhNOG9pcXU3U3JZa2s3cUxmd3VxcHA3SmRvYjVETlVlNm4rTEl0RFVkV0M0b0ZBYy9kYm9jSGN3N3RIQW56dHdDMms2eDVsRVl1VGpyWm1WUGx3U0RURWFYazZOZmZja2p5UnYvNlpGSDlxTEtyU2xmd3NqZzFnemFEdFVjU3ljL3lFMzFpSjA4VWwxUXlHTDF1anlxZWVBVUx5WGpkc2NwNHdjc1ZYTW9EQXpIc3hBQkkrMmVCY3FTcEkrYTNGOXphaWxEa2pRVXZJVmZRUGllSFZPNU5aR1Babm9icTZFemUxRTl0ZTFRemJhMkN1SzdtWG9kUjlnRjVTaGV2MlM5UTh0eGw3NE15cUV3Y0dWSDNFZ2RUV1ZPbDJRRTFVeXRVTFRBUUdIam9JZmprVmR1VFpEWjV5OWhHRzVORisySnd4bzNSdWVKT01ya1FnblRYVkRlU25YSzVCMjZSY0pRdW1xT1FDc2pxUVhoT3BRNm1scFJsMlRvY0d1bWdtUXAwRlVlVE4zc05Lc3F0eWJTdWVCbmhsdlRMS3hpRG4yQ0thU056dHB2NjZtYWN5RUgxRnk1MmlZWUxwZFNYS2FyWmc2RldSYzJuTlRSVk41MFNRYWE2ekcxWXM0Q01ESGtHZzg2NXpBM2xGc1Q4UHdBL29iaDFuVFJCT1BTTWFXVlVmdWhTSVNCbStWWXRBTktRNjE1a0hlb28zVnpjcDZ1bW1nczJha3A0RE14U2tnZFRha1EvaHF0bEtScjcyRVh4cXJ1OWpMQ2MrYzF3MFdOSE1Id3NKM1pRUTNQSTIva3R3eTNwcjFTdUFjcXdiVXlzTkkzWlJRbmorN0xpRHVBMXJaQnVTdlVMZWNpVlRPSHd1eUxBejFTUjFNYlRwTUVBNXUxOTc1MTkyL2FZSEtjMTBSMXFJblVESFIvQ0xqMjFIdU9EZVJWY1dvdVNvWGtqM1MzcG9PUjBDcTE2UlAyamc0a1BxeUlEUm1ab3l4ejlxKzZhbktIenJFVXAwd2dkZFRNcGpETHY5Sjk0UXd2MU1TanhMN1NBekMzL0kzbkh2eWdnMGxORW9lWDZ1ZllQZmFpcFRaWGF0ZWxsRUJVMU8zTGVEZTkxWDdZanc5VHhxVld4R25OS0Q3R0FTak5yZWxpSkZSTjIyUU5tc2VDUGorVGR5WWk4NVJGVHJDZmJkNlg1V3NYNEwyNFM4SlZxbXBtVXBqVk5udXAveGlldDYySUtlbDY1OUdiWGZaWFgzY1pCWm9rZGk5VnEzc1E5SzJmS3ZtS1N6Rlo4cndtbUJncEN3Z1BXK2pXZlBVeDNPbzl6cUc0cmowV29mQyt6Z25zaVNRM0l5NTlndE4rVjlSR0dlVTBucWVzRmN0a2tzcnl0UXNZWjhOTGNaZXFtcGtVWnA5OU1saHUveEJqMnhFeldvL2lyZS96WHd1Q3o2ZytOdmpWSk1FZ1kzRnJYb01hRFFTdVVUVlhSTE12OFRTRTAyOTdEOU84TWRvWmJzM1FDTkNHT2c4akovYWhEaFA2dG1BU3o4TmJJaHpNVTVaWkRpaVpYL3NBNzlCdEVpNVRWVE9Md3J3Vzl2RENBM0VpRVhQdG1lQ3UxV2IvaW9jbjluUGxtaVFqQ0NWcXFmc1lOa0xib2RlcVZHcG9vTEJqcy9NbVBpRnpUYmdVb3ZwVHBUMDhBWXRxVlN2d01BSjlldFBDQVFpZGlXU0VEMFRZUWxsa2NjZThEVXJtMXo1Z3ZvZFlodDFVMVJ6cDNTTXBHZjNVNm9aZGdKNk12NWNHcjhtT0tQcTF1UGVuOWhiWEpCbGEzWnJkUTc0dnN5WGdpdDYxMDVwNDJIcUE0VCtaZDkwODByUi94NFJ2UjRlUG9rUVBJMk83UG1GNDNoYUFSOXFQYlZvb2kyTDhMTDY5b1dTSm1nZlE5NkUybEdjelZUVXpLTXlOV1BzbW9xTVhoSTVpNUJGcU5iSzN1Q2JKdnMxTGRSTVdHblIrdDZTa3dyN2tNS1BJM0JodjhJT2JCbGRkSk9rWFpBK3RVcDdtWTBRdnA5VUgwV01SYld2enVZV3lLT2IvRUlnc1ZlTUFwb2VMVXMwTUNqT0pGK1pqWWJtdEN4M2w0MUk4a2c1dDdwWEluanVMV3JwcmMydnk3MjVBZlRGMGxycUVmY2xCb0VobnVIVzMrZEphbjhKWGszWURUc05Mcm4yTVRCM2ZQR3BMZnhFNkRPVGlhNTZ5eUFrUGdWemc3NGtydW1RaHZsRlJ0cmNpWmxKSHpYU0ZnYmw0R29LZENMZm1WT2dvWDhHOEV4RnEzNG51aWY5S0Vvd3hoc3NwS2poQ3RjeEg1aFBZV2hTcWNWOUVCNkVCR2Y1a1hrZnFEczljU05vTnVwdmN4OGlSZVB0U2tJanZNOUVnbUtmZmxua1d5aktQKzVoTU40SEt1aG9oclAyVU5WZUs1VFRWektBd0k3RnpMa1pQMlBKaXpZTUYwVWJJMzZKalRsYVNjS3R6YzA2VzN6M0d1MlJLMCtmeU15YkFqOU1UUlNPemMvbjk0VmJVdGtqRkt4ZHQ5bDRWNHlFSTN4TXBQa2JXclZZeVgyWEZDcWxibmNFOFpVRURkeGVVVnFUZVFiUzBaVEZiaE9jMDFjeWdNUHRDYytTM0FkdFN4OERvTm1kcnFhdEdEWU5OSlFubTJhUnF4Q1VuYXNRejZ1YUlvTWYzNHVMUU4yRkFZc2hXR0szZnc2TG5UTVY1YUNKcmhla3VSb0FlbXkxbWRXeFlIWVlwQS9aWHpCeURzcDdsZ3RMTDFEcU1SYWExTGZJem5hYWE2UXFEcnI0ZjBsV3JGZWw2RDBhODgxdi8vVmZtT2wxd0drbnk4MS84N1RZMGs3RWYrT3F2NzRnc2NRZUJBeEV1ZXA4cTJ4d0R1VEFnUjJyeS9FOWY3bkQ2NXkvOWtVNWlhbGowVGtZZ2hMbVBKREMrRnFua0g3TTNJaFVWNldnWHg3VHRoSkpWYXg2QWZXN2RJTW5QdGs4MXN5a01UTTJOa0M0Q1VRZmdvTnQyek1rSjcyOWNQeUlTNG5SNWl5UVpoSVdpZjdzeUx3NEE5eXlabGpjK1Z1TWpGbFgzNCtwanFhVDhGMU9qeTFpRUxHaWphbmdFMmM2SUd2b1RmQzEzMmE4RnJaK2QzNTdTS0p0Vm5GQm1zZnJHMXNtTVpaOXFEa1IzNGI2YmJBeXBNTEFXbzh6Yll1aUFFYkFURjIremg3LzkxVS84MS8rZHJDM2prU1FuN080eno5Kzc5K0huNzNibWZ3QjBRZURLU3ZrRFUySDFoZS84OUdLQVByc2pvUGJaM2VjNWZmWmpJb1hmVjUvVlkwNUcrRnBPTDZqQ056djgrOXh2N0txVUtLUlJOclBjVUdhNVlyRS8rYjdPai8rYnNHL1dERG1Mb1ZscmpaUzlaTTNQbnVoVHpXd0tBK1dLQnN2cllwSzZwblNwS3hib0xvNHlTSElrYlVNWFNIcjZ6WHZib2hENDNZdkNzRURpa01qejM1Mk1jRjllMk9IejlkYysxbmxQcEF4Nm5wdXlCMG9IS0JSZW00QlB6TGZicUgxazdOQVdnck5YbXRxODAvYWlLYWsrMWZSV2xmMEVYcUtDMG44dGRaUy9hblhmaXhKa2tNUjBQdnJoTXVUT3BIMlExMS9xWklTdkZVOHprSlpGM0pSelEwbk0xTUJxbjUzLzYzLzZoYWNZUGlEVjZnZ2ZTbXExbkFXRzl2TUVPVkY0OGNLcUtmdHBKc3plc2ZCZlQ5bWJNU2RZT0d6Nm1jb2dpZWw4OU1ObHlOMlhJMXhlZjZtVEVSZzMrY3hoTitYY1VCa2tqb3Ewc0ZrWFBqL2Z3dHBzSWExZk1zTW1DNDV0R3lmSlFwbmloVlZUOXROWXpMY0RZYmxKSGVXajVvYWZqWFJKc0tMZURvSi9jT2pIeVo3YkY0OVM1QzlkZWpGclZUY2p5SmszeG4yd29hZldTamszbEkrTWtmZE45amh1dytINTRTUzV1MkFVTFJQQmsvOVdtZnFxYnE5Y3J0OEFBQXZBU1VSQlZGSFZWUDAwRm1Oa2wvdDRmaFhRRTY2ai95dDhRbG1hM3lkZGttaDExU1ZUVFdXbWgzenlzeGJaTGpjak1CM3pXYTF1eXJtaHN2RWV2b0d5RzVkZFpqK2xmQ2haNjJjdE4wbTE0YklpalF2NlIxVS9EV09QT3lidlhSd1NBdUhROWQ0T1ZiT2ZObXFtU3pMaUcvS3JCZG1jYndZOFU3RmJFd3h2WWRONmM3Nk1QY1hEQ0ZSencxN0ptdXFqbkJQS2ltOUxIR3RlL3htSTdOZ0tFYVMxeVZSelZ0QS9xdnBwR25jMXJLVFRZQlZ3ZVBCM01aV0hZdTRybStZWHoyeUNwMHNTZmo3cHRyQmViUmk1MHJBQ2lWY0EyRDA4eFJDL203VzZoNUYrcWsxdEVQRlJ6Z2xsNEhvaWVDTFBaRFk4VkdTUHVnU05BMTF0Y3plWmx5Kys4TVA1eW92U3FwL1c0MUVUem5QOG9BWDJJOUVLcDhGYXROc3hWU3YwL3A2b3E5L1RKZG5uNXNFSWZ6UVhmTnE5Q09rVzkzR0ZaeTJ5SVhzWVNSLzdEUkkreWptaERGeFBSQzFOVVFpRGg3R3o0S21YTzR1bDJuQzVJWE5XVVAyMEdIdXoyN3luRnpBaVlmamNDUmFqV1hOQjJzU3YyWi9UZEVsT3VDcTFkM1B5NXl5K0xzM0NGYjRldXBaOU9QWXdjaUtIWWlkZFBjTkhPU2VVRHVzTGR3MkxveTJPUGZpcUZNcmp0dkp4b1pwa2xWUS9MVWZ2WTBXVHhQUWdIRFZ4Z3VaT1NHcFZQSjVyblJkdHRETklNa1dqcmhRME95d2taM0ptVytXTW4vUXNaZXhKSGtZQStvNjlralhWUnprbmxCVi9QaEh1MGtNdFZSME4weEpKZ3JCVjVDNDFDV0IrRUsyZlRyZ1ZzOXovVzN6VWJDTUlqOUZPc0grTUFLNzl5TVJabnRoL0tDQ0RKTmN3b1EvZUY2RVIvTjlYSzREMmViQTR2eS9xcE9GaDVDaW5uOWxET1MrVWsxMGo0MGpzMUVXcFU3VUVNSXFWai9BdEEvMGhLSStZRzBIcnA5dFkrN1ZPSHNObmRIWXJmS0Yxekk2WHhQUjlLM1F0L2NmMitiYVZSQVpKV3QySDdZYzcxdHBGRXBWYk0zaVZmWkI5TkR1R2g1RjE1WkhLaE9laG5CY3FFejJjNkk0TXJMajBxREszWnJWbkFESUpxL2ZUQ1h1aGYzNkdOMmZmNkljOXZjTGVhUCtvUVBtZk9PQUJkZGdXY2ZPZVJaS1ZwOTd0cUcxaVpZdnBTdlNOdSsvS1Zpa3E1V1lFUjltaVpWOVdPRGZsM0ZDWlNDWThPdXVWVGJwWVpZcFJLUk5qVlJUUytxbjFCNTBYdGtIajI1MmZpQ2g5dmZ1c0d1YSsvZHo1ait1L0FXUXdjK0dTNE1DZU1YNFkzQlNPNEFtanNvWUpvWlE0c0pzMlZZeWZwVmY5bzZlWEQyUFFyMnp4WDU2N1BBZ1hMZ2tzaU5pdG1ZZk50TExjTGtrcmt6R2ZFRXBSeE1IRkRSWEQyMWFWald3akZscHdPckVyR3I1d1NUQW9HWjFFMDI1dzVYTDNQY1ZGQ0tYWWdjLzVRTVV3YWxZMnNzM3krU3AwcG1vV3ZuQkpzQmwwUnQ4RzJIbmtPMkFVRnlHVVlnZVRVMC9Gb0pwVm5kYmtYeCs1cjFPNnV1RUxsNlRWL3V0VnRGWlh2UTVWRnA0UVNySnlsRkNZVVFWR1RVUnNrbmdJSkF0WEx0QVVTUVowUFVJSUpkVmhtckFBcHoyWlJSem8wRDJqeEp6bGhXdUtKTVBFc0pTM0hiVHloRkFTRmFPbThjcm5DcEZoTEFtSVFDWG1pQUMvMEh0akpCblJXZitFVUxJdmdXbXVnMlFPY1lEdjd1MFFZMTRPWEdNa2dhUDhUYUltSklTU0hHR0Z6dDhJcXY3Q0tyTXl2MVQxM09zVUdpTUpYb1NrOHNjUVFzbW01dTlwc3UrZXlYaGxBV3loVUxWRFpUeG1BMjZNSkJqK3FVWUxRaWpaQ2R4Wml1c0hEMlZLUllIMW5PZGNLbUtEQUxZeGtuQ2ptV2pDSklSU1BkUVBWWk9kL3lZUmt3clpERTByMld3emFWeE1yRG1TZE1sODdnRWhsT3pGSXhaZkQvK2JUS3NpTUU1czFsZEI0Mkl3bXlQSmdHNEpUQWdsZTVHLzNoNWZmMWttVmhDWXlIY0lLZ0MvVU1qbVNESmtPUEZNY3hGQ0tZYkdRak9aOVVlWVZNRnlJVkE1SzRkUWw5ck5rV1NkenJGSkNLWDZlYTJqZFBOVUpST0hzTnd5WFB2RThCY0kxeHhKOEFIaStPMjk4czFIQ0tVeHM5U1h1dmxlTFprMkNDZFZ2aVBWdE9RSjBab2pDWCtObE9vd01TR1UzbGVyZnlCME0zeExKc3BhN1QrdGx5a2J4blpCWldlYXl2S1dyMzV6Sk9HZmZhYzZURXdJWlhiSDJyK0lsWE5icGlkZVo1UHBCUU5IamZFZE5VZVNBRDhkUzdZQUlJUktxTmhuLzNhb25EMlpQTkIrT1ZNbUZnK2NWSEpRdXpnL3hXczJSeEo4RFpMdU5CZ2gxRnpmZkozcjVsc3l1VTIyOVI5QzlpLzlKWFFwV2NsQWN5UUpmOFB0VHNubUVOVkhkSTRvQWFudXZ3dlZ4TmQvNG10Ryt0WnZaYWFJWVBmQzdzMlJCRTJHbDQ2b1ZnQ0VVUE45MmVycXEramxUOCtYS0o2QzdmK0dMTkNiSXdsNmsxQVlRaWlMbXMzb2ZBbEpkTGk5S25pVE9rbmxJdUxOa1lTM1ZvZnNnQWNsMUh3L1Z2anFmNldXeUx3a0ZhWTBSeExlU0FPNkF4NkVVR0JzYlplekp5Kzg2RTdsZ1pXWWNlQ2tNVHZvelpHRWQ4MFIzWnRyaEZCZzdQcjlXSE9pRzdiZ3FqSUl1M1FUaDhIeXhVZWFJd2x2TzVnbnlpbFRyakVKb2NESTBhYkJEVDZ0ODhoSUlJc0F1U3FsSitNeEcxQnpKQW5seGVKRk9XV3l0WUNyRkNFVVNKd2NHSFR3U1ZPcTE1Z00zUEMzN1J1eUNzSU9la01raWJxb1EvWU9CdFpCVks5emdMWDJscUZDbU5DcFJuY0RsMy9reS96b1Z5TDdDa1diSTBuVTZEQ2R6NGlhbnhBS1grTGRNN2pDNlpGZWxMRDIxSHVPamF5U2tUSGRRckFrSjJXck4wZVNxQ1ZHZEJ2SWhGRDQxWWRqbzZjd1dVVUpyZmJEL29OREk2OWNCRDgwV0E2Z05yV2JJMG5VcEhoek9jOEgzWDM5UUFnVjNFcnNSZUtkOUoyUTlxdVA4WHVBUFI4YitmSmd4RklaMi9rSWs1ZHVqaVJ4MDJEZmxXcUJTZ2dGOVRzdyttNHFGdWp0UFh4SW1tcHpGU1N3djNySG9IUmxJODJSUkhUQlFJeEhJcUg0blJCcWxCZ1oyeXc2NVg0VEs2MXJRazJMYzZwcUhqWEc0ZDRjU1VUdmpPak94UkZDRGMzUE1HT0J2aHN5ekgrYzh6cmx0elltZEUrbWFORkx1amRIRXRHQVdHQlFmYmVTRUdwZ2pvdzN4T0hoOFFiZndhSnpjY0pBcThpVkw5cjNvdTdOa1VTMkdDeEVxblVBSVZUWFhEZFAyUHNpaHJ2Yi9GZWQ2RnljaEUrVGJOSExDVFJIRXRWK0o2WVdxSXo4SVRJb0tMbStEc0xoanNoZkZQNDRwL3hSKy93TXp0V0FEWEk4bDNnbEU1b2ppV3ArK0dYMlZLeFVpQXdLbTU3NldMNHZkdUNXM3gvK1pPTjJLUzcxeWdQS0hTd2QrTUxEelpGRU5SMDJXcWlNVFRJb3VFaC9TUTJiK0JuN1U4VXZuQ1FxVWpLRTBia2gyODdOa1VUdjBpNlpaek9nZ2xwZ2oxcmRCOXNSbDBzZFlXbUc4UkVkdTNDUlZ2R3JOM3JqWGxTNE9aTG9MVFlsKy9tZ2dBcHFIVVBtYSt6OE56aWJuK3VhaStneDRVQjNKSXhZdlQydVpMZzVrdWpOandldXA4ZExoS21nWnZ4SSt3bStUUHY5SC8veitHcDJ0QWFLK2VvVGJ0KzBLVjJrSmRxdGZOWG1TS0szUmF0RHR2TkhCYlhQZlVXdDMyZmg5YXhtYU9LSHd1bFdiZnl0dlUyOUphNXV1RG1TbUgwd3BGdW1Fa0g5ZmpST2Z2Wmp6NTIvRk03cWltR3NrSXhCVk9Ya0Q3MUNkeUl3UDNIU0dzMlJ4R3dXdkRweGJLWVVqaEZDT1hpNExqYUdIUGw1a2dlTm1jK2JJNG5aZjVpR3FmWlhDS0ZNSG1Wc3hxMlBwUmRsdkVRQUw5TTBaRDV2amlUSjdoelN2VWxMQ0pYa01vcFArQ3FJbi9Jb2YrR2JmMmZsVWVxQTBCeEprcTJKaGZWeE1xMWduQkRLeWdGY3kxdEJNQ1VaN1U1TXI1U1YzdFZJYkk0a2MrM2RKWnZSNFhVbkdkSG1XSXdUc0JROURZTEpyaXMvUnpwbXdWNk80alV1Mmh4SjVodDVTcmRHSjRTYTV6UEFteGw0bFNjODVXSEx6WlYyZzUzdjVLcFEyOExOa1dTK2liSDV2VGVmV2lpRkVNcEdmNFdieGRkSURteE9DTGVWYkt4ZVhGcHpKTEcwMllDdW13aWhMSXl1Y3QvUlNjK1NremNKejlCeDNqcjFMTjhjU1d6dGl5K3hIZHJTQzZRUlF0bW90OCtEeFFjVUUvR1UwRUZxWS9UaTBwb2ppYTNONEkvY3RLVVhTQ09Fc2xGL2xYMlFmZFNXa1RldDI1UkZFRmFldmJ6Q1g2WHlVN3FqWm9SUXRoYjh4dDEzMlpMenBsMWpKR052WHJJVmxHK09KUGJHd1R1THgvYWMzS21FVUxscFo2OHdZRCthdlhDdFN6WkhFa2N6RDhtT0h3V0VVQTVteXlmamRhUFQ4aWgxUUdpT0pLN1d4REx2ekpXWE01MFFLaWZsN01XSGRDNko3RVFyS2RrY1Naek5jOExlY2VibHpDQ0V5a2s1YTNFWUhkdFp5OWE3WEhNa2NiZnpUWFpPNVQ4aWhITHpXeXBuMnBoQnN6bVNlRHAwVExjd0lJVHlNRnc4QzV2T1o4VnIxNmxtY3lUeHRlb1MzYkJKQ09YanVIRGVOeHN6YURaSEVtOW56c2pjN2dFaGxKZmxncGtkL2NYMmdoajFxTlljU2J6dHVmcmxMVzkramt4Q3FCeFVNeGY5NmQvSlhMVG1CYTJTL0gvUnVLeFBTTEduK3dBQUFBQkpSVTVFcmtKZ2dnPT0iCn0K"/>
    </extobj>
    <extobj name="334E55B0-647D-440b-865C-3EC943EB4CBC-15">
      <extobjdata type="334E55B0-647D-440b-865C-3EC943EB4CBC" data="ewoJIkltZ1NldHRpbmdKc29uIiA6ICJ7XCJkcGlcIjpcIjYwMFwiLFwiZm9ybWF0XCI6XCJQTkdcIixcInRyYW5zcGFyZW50XCI6dHJ1ZSxcImF1dG9cIjpmYWxzZX0iLAoJIkxhdGV4IiA6ICJKQ1JEYjNOMElEMGdYSE4xYlY5N2FUMHhmVjU3Ymw5a2ZTQmNjR2hwWDJrZ0tGQmZlMmtzYm1WM2ZTQXRJRkJmZTJrc2IyeGtmU2tnS3lCY2MzVnRYM3RwUFRGOVhudHVYMlI5SUZ4d2FHbGZhU0JjYm5WZmFTQnRYM3RwTEdwOUpDUUsiLAoJIkxhdGV4SW1nQmFzZTY0IiA6ICJpVkJPUncwS0dnb0FBQUFOU1VoRVVnQUFCam9BQUFEbkJBTUFBQUJWZ0pLcEFBQUFNRkJNVkVYLy8vOEFBQUFBQUFBQUFBQUFBQUFBQUFBQUFBQUFBQUFBQUFBQUFBQUFBQUFBQUFBQUFBQUFBQUFBQUFBQUFBQXYzYUI3QUFBQUQzUlNUbE1BSWxTSnU5M3Z6WFl5bVdhclJCQzFSeEJZQUFBQUNYQklXWE1BQUE3RUFBQU94QUdWS3c0YkFBQWdBRWxFUVZSNEFlMTlDM0FzV1hsZTYzVWxYVWtqZ2VGaVRLaVp4RUFsa0dLVUtwc0FsV1NVeDY0VERJeEkyTVhHZUZ1RzNidThSeVN3YXkrRUdSZXd0aW1YUjNFSWxCTlRJK0xIR3J6bGtRdHdLSko0WkdyWkpSaG5GQnZqdk1oTUNIY0JMNFV1OXBYRTd0N2RrKzg4KzNUMzZlbnVtZTdSU1BlY0txblA0ei8vK2M5M1h2OS96dWtleDVsYzk4TkhmMENGKzdkM0hkK3pNN2xTV3NtTUNNeTRyMXREd3VKOXRUcy9iaVN3a1NNaGNPV2tTbllkNTBQazFaOG4xMGZpWkRPUEhZR0MrMDd5R0FaSDllamxMdGtmZS9IbnY4QnFZNXI4cGJOQWZzZHhLaGJnTTliZXM5OXp5bVRkYVQ3V2QyYnMzSlo5NDYxZ3ZTQ2szMzBIV00rVEo3SXZ3SExNRVlIZXZyTktubHcrb2RwVm5SemtXTktOeVhyMnU0NVRJNSs5Um10dnA1K3oxZ2VxYTg0RjhuaDdnOHB0Vi83c1c2KzRUZGVPR3NOM2lSeGxYNERsbUI4Q1V5Y08xbzVqTnJVNUhiS1pYMGszS09kS3d5a1FjdHluMVY4ZzVBWkY0WXhXZStaN2puTkl5TnVaK0UxeTlZeFdZM0xGZHRlY0ZTTHNqWXZrMkMvbzh4KzQ5WTMrR0J1YUpBVG1vQmIzaUxBMzJtVExKOXYwL1RkZGJ2aGliQ0FsQWdYb1VqT0ViTEJzc3dRcnRlNElJWS9yWWV1ZkxBUU9vVXRWQ0Zlc25DcUJrcXk1VmJUZW5oYTIzdFFJVEdGdG1DZGtqV1c4RU53VS9PVlBFOHhPMWswcUFwY2FkS3RLTkZFdHNCKy8rQUpYdE91a2luOG01RnFWZzZJWVdpbG1BNnYxbWFqUGpTVWtFWU5pS3J4U1ZBT0s4bzBGVEVhMWJaRy80SnlhY2hwU2pGY0Q4NUZLc0o0SlFXQ1JrQklUQlZzcVhBUHdCSk96bmhkamZha1JhSkluZVo1cWFLVm9DZWhUODdRWnhvUUFCa1dmRlRVYjNGSnhGdVdzTnlaUnptY3hWYmxSVHVpRks1K3JDT2g5a1RZd1FRak15ak9xVlhyaHl1ZG01S3puaTdXQmRBaklRYkZFeUU0Z1o5MGVEd1lRbWJTZ0doUWQ4bWhBdG5rNTZ3WGliVEFGQWpEblNvdzh2RFk3b2Zrb0JWOUxPZzRFaWxKOUNxdkZxeUZWWUJ3Q25iTXlzR1QwV1pVT2NWZlg3MVlrOVA1b0c1b2NCRHBDZmNLRmgvV0FWRDFyTkFZUUdTSzRMRFZYdGpZdjNDWlkvRTMzemoycnVRNkI1M2l6ZElYNnhOWGlEL1I1NmRPZlAzNDN6Z2xGYUx3U25hL1NMa2oxcVU2QlhyM0thL2Q3NUF2dlAzcEc0UGoxZkZYOFhOU21KdFNuZVRiSGlYdHlTN1hyUDE5OVZUMXc4K0ZjMUhmY2xaQ2FLMStieXh1cy9HK1EvNG9yUExYUWFqMXU0V3g1Z3hGUVJpTlRpNmY1cFpKQy9YcmZXVGtPS2NxRFdkbFVFd0lkY1FiSWo1T3FCNVJtcWtaTmtHbDV3YzJVemNaTkFnSlFxTmFZSE93a2Q1YS92WGFKVFdwbCt5NWJCaTNVRldlQUYrbmF2TWkzY0svdzlkcTFOOW96QURoUEZzdnlETEJOMWVJVy9oeW40TEtUanpsN296MEQ1T1h0TmZabTRCeS9WRkxsQmwxTlhQL01vQlRMSWhjRTFNVlI5bWFnVzZLRnpQSnRyQXZpNW5VdTVkNG9UR0Z1bEZoZHA2bDFYdG1uZnZvZEJyZ3A4ajM2c0c1eUVUaVVlKzVsclBZejE1bWc5RHNNY0VYU1lFSDdid1FFWUZ6MGVYYjN4Rm5tMnh4ejNCUlpDaDIvamxDT3pab0hBbVZ4M09ITVlYdXh1ODJLRUJmWE82R2JEM2tJY001NUxxbFhuaTZSZDRyRnVNVjNjcGREdHhMUE9SWm5yM29kdWVjK1ZUdXBjajE0VVRSbzE5NWZ6NkE5SDhUZUxYZC8rL2dWM05Qa1J2a0ZlMzlkUWpPcHorVzM5b1ZvTS9YYkQ1aDNRWnhmMWJpZU5hbVNuMTI1MnZ5Vnk2Sjk4L0lNdHVGRi9nN2JWT2hWdGpOWWw0a1V1YzFWMWc3MjBuOTFiU0lsdEVKRkluQ1JXNHRMc0IwWDJSZVNJeWx0d2xBSWlCczY5TTNMYm44b0RqYlRxU0VnTHNmUmw1NlhuencxS2M1eHdTMjJka3pUTnkvdFhaMnoxczZMZk8wb3cyaGM1WnRZWjYwR0V5N3ZQTnNxNzhDOFcrSjNFeVpjWGl1ZWprQ2RubExoaXNtdTArRjJ1cDVvL1NNak1GWERWMkMrZmIxNjRqeHNaNStSMFJ3M2cwc3dGd3ZkQjhoMjRjNXhGMzFqbFBkMDh0dnZQeTVkSWI5MTJScmxaNjdGcDl6SFBsTjlQVzViM2Z0VFowNzJzeUh3cDJxdjNuT2NuenUybXg1bm83MThVaTdkZlBTaitDcHkvYTEyYXZQaFlnTVdBWXVBUmNBaVlCR3dDRmdFTEFJV0FZdUFSY0FpWUJHd0NGZ0VMQUlXQVl1QVJjQWlZQkd3Q0ZnRUxBSVdBWXVBUmNBaVlCR3dDRmdFTEFJV0FZdUFSY0FpWUJHd0NGZ0VMQUlXQVl1QVJjQWlZQkd3Q0ZnRUxBSVdBWXVBUmNBaVlCR3dDSnhMQktacUpLM2JPWmRBbk1sS1hVcmJkdlpqNGFuYWVTVTF2dmFMdXFrQXpwVzRsN3IxN0JkMTB6UUlmcFVncmJOZjFVc0RjSzYwNWJSdHAzNkRJbGV4emczenhmVDQydCs1bVpqV2I2VnZ2Y2JFQ0g4V0JLbHdnUGNqWkMzODM2Zjg4V2RlZXBQZUN2YkhJQ0t3R24vMERHK1hTSFhwTzA5NTlndmU5K3V1M25wYjQ1ZnlESmM0ejZGN2ZIQVZDci84UTU3NVhocE1hMVBIaDBDZHR4NCtPRGJJZmVzSGIxWURoUDhhNUNCcW0rWWhVQkM5UHZaellJWG51d0xpYlMrMzlaMHVBZy96SnNIWFhHUGMxMzVETko3OVZuZ01VdjVrWWRsdCttTk5vY0lIT01LUG1oSnQzR2tnSURaVitJOW5EeGJnbXk1dnZaM0JaRGJWaDhCRkRocCtaVGJlL1d1MjBFU3F1ZkVNTEVYR0NMUjU2KzBtWUx2NElrYTduNERVa2lnRVhBNXdTVVVNOEN5dzRkRWZRR0dUeG9yQUhHKzhaTmJFdlpUWWJzaW5hcUFpQnpoZWQ2VmMyUzdKZWlyK2xqaEhCS1o0NCtHWENKSzRDcWpaNzg4bkliWTBGQUg4K2dsMUNjMjFQd2ZwbGdWdVloRG8wTFlqOHRlWVk4UXFRQkd6Ry9JeElBV1N1eHpnaEN2Q1Z3aEp0bzRIU3JIQlhCQlk1bzJYY0VWWWdXWmN5a1dPYzh0VTZLNEpmL21zVUUrNnpKeGJ3Q2FxWWk0ZkhnZkpoUHBHMG1VbUdic2JnRXJjSmpudUo2c3JacXVkWkpTV2Fnd0l0UGpvZUh2Q29ycjJtbTVDcENSWmt3TzhJY014ejRxOXBodUQwRGlURjNqalhVdFk1Z3o5K1dEclVpQXd5d0ZPZXIxdzJlNEtwZ0EzZDlJcWI3MUd3b0s2cEorUTBwSXhCT1J0a3FRS1V6V2hEUmdCNy9SUFJpVGNXTkdYOXJLcHI3aE5rdlFHd3l4Wno2YmNHNFpMajA4L1NYWFh1ZEYyQmR2MkIxQnB6NXBMcWd6RmRFUHhBbHRTczlGeHQySVkybVEvQW5FM29mM1V6aFFaWmRwYnRrWTl3N1BndmplQTY1REJDcC9iOWhObUw4YmN4MDdJNWdZaXEzT0FrM2I2eXVZSTJGUVRiaDJQVU1UWnlIcnBxSitKb01sZVFsQkZ6U1M1czZpb1Q5ZnoxQis2bGR6NWozZTRFRFBicHlSTWtZK09aTGRKSE9mQ0FDVjMrdldENnpBLzBzSXptUGZaU2wwa3QyVWljTHJiSkk1VEU3M05WUGp6U3FiWVU0cWIvazNlTFkvMm1BRHR6ZE9TUTRpUnNQaUZBYnVDc3pFbjZWMmZTVCtMdzF2TkhiL20zL2NUeWpBMnNwczErZUM5NDU0WFpsVjBPZUh0bmJqeXlsekNwSjJudVIvTnNGcUtUaHQzeWcvUWF0Myt4UWRjY255QXNtZkk3cmdsa09XMU9jQkp5LytxekJkK3JnNitCRHBETnZROGg3eGM3YitZS0hTaVUvVVhOTm1FOXljeUVtZ21vNE9qTkM4aFFQUVYydGNpM0FSdDkzNElhTC81LzBET3duTUlmYitpUTBvUlF1Y2VuZW9tOUVCcFdvT25zSjRmLzZXWFBzRG01bXVmb083K3U0REk4ZDVBL21OUC9PVDkvNGd0Y0M5aklqNUUvVy9KU0FnMzZSRlRUSGt1WklJcnhaREZKeTlPamsxQ0I4Y3JoTVIvaW1VREwzcjE0eXVRRDBWYTNUVmFpdVp1ZEJybWdWcDR4d1RybHRxT2ZGYWRrR3Y5UVJ4T0k0MU96bks3ZStvL0lQREtiS1FvWnJSOVY0UkljRW5OeG1qaEZ4SzlCQmVkUDdzVXVvMzZCNHBkOTdyVEk2YzRjanNVM2l5dXFBM1dYT2NOZDYyYmhIaHo2RFRtNXRzVUtoUGlvYmMxR2txVzV4R1MwVzdUQWhtODBLb2lZenpwWGtJWXdDek9hQnlRTmR1a0ZaZVFuL0ZZTHBOZklFeTk4cUtTK0w1OU5FQ0pUTUpBMHFTN0NTMXpHWjZEWDhUcEdKSzd2bGtQWDcvTXFPOFpoQnN5aW9LenB2TFNyNnRtTklCcnZpMEtWVUpxRHlDa2JqMTF4a0NHMWRHWG53REhJWU1WZmNZRUQvZDRtQmNuWEhKMXlQSUQyZVJ0a2xFSDIrTEFjL1NDYVFKQVo5dnlwS0VmRXRqMWdoUGh1K0IvYWFnOHpEeG1yRWduSTlYcVlUbzJDQm41SkttMVpSUno3SkZmeHhTNW81ZmFRdTJlMUNPUytOR1ZVdWVKNEV2TGg1UHFkUVJWYlBTZ3pWN0hNVjFncENiUHZzYTNUaWJ1a25XUitHNjIwdU0zWDl0cDBxZnp6aGtVelhRY09IWEtseEFpaXhpMDJSdVpLZnVFS1plUTkvcllVc3R2MHhlVElJRGJ0YW56UkxCTmVSTTZnb3N6RzdhNk5kS1dZVm1nU3ZPZVJ0UDBkMFV0NWRTOEhVTDBhbEdvOWpNUlpqcitQY3ZQcmlVcENhQlJ0NUdFZGdCTlZXK0lBWFE1SjMwNDFBWG9GTHFidHRUVklmSkVsVkduOE9yV1p4VGh3UGpCbW12VnNDdm5WK29kQjNvTEdWakUrQk83UHN1SWJpNW1wZEM2QXhWUjFIUXhXWThYdDBtODNZM2hRTktzcStFWVpKS0xyb1FiQVU3MUlUYXNXMFBrQ1JTcmdrSjNmVlJGRE9VWnFMa3VFc09PWVVDcGQxQW5jakJVMmJsbHF2a3NJL1RZREZSOExteFQyd3N6aWorZFREbVFadU9Pa1VuU3lNRkdZMUl1STlNVkRkOEFhUTV4M0RGTW5pamh4VTNvRVhlVkIycXVzeWFMQWxqNDduTDMwUGNtWTRHWFNORmxmVU1HOEtSSTZacVdscFRXZTZodlNKZ3lMOFVSaUV3VU5iaE5FNC9FY1lPTnhzUnNSaVNrZTRJaDg3YzN4TWRVcWxrZWtiUTV3UHNqVlc2ZzVucG9hcjFPWVBPdURERWFJOG1RZFdacUdla1NVYzFxVkIxR3lMZ2NaM2drSFIzaU5zbjFrZW8rMkdnY2lYV0t6RmNBYjBoNVdQWHRpeVRqbHRuV0lpMHU1VTFvczRRRE5kZW1hVWUrRzlpamFnYjZvcm1jY2NaU3kwaFhXYWhWbnRIb1dJbjd3RXZTMGVIVUlSVGNTS3Z1WUtOeFhKQlhUWitrdTVCK3RZWUNISE1qTmsyTnFBSkIzVnFhVEFIYXdacXJhK0pkQzVpNEdDMmtGR0I3dWtGWVJyNTlBanBhc3NJOUR1N0VvNk1Jb2VCR09zNGJhRFNPcXczbzNMTWRLbXd1ZmMzQUtLdmpEaXBPaDhJN211NDZVSE5kTkUyVVFhWGV3V2d4RGFJUVh1T0xLQVlzSXpwYVJ1cUZtdWhWMDNLcXBTY2VIZUkyeVVobTQwQ2pVUk1xVjI4TDZPb3JOUzlzUHFIOXBZbVc0WEVINVVyblJEakR2cEpXNW1EdlFNMzFvdWtqcmtHbG5vNldrWnA0c0lERHBIWUNpbFFSSW00T3c4aVFweFBES2ZIb2NPaWFDN2RyS0NScDFFQ2pNU21UVWVuYzBHRUg1VGliL29RSms5anVxTUxvK1NFWWRTVTlMcDEvb09hNmFycnFFRlRxNldqSlNLbFBKM28wTmZxZGI1KzdBeEViMGVTcFVvcCsxcUc4eVVkSEJpOGhUTUthVFJVcnc4SThtOTZpYW8zVWswTXR3WTRhSUZ4b095MU1HUlV6VUhQdG1jN1FhS1BxM09qZXdGVTk0dlQ5YmtDaWVrRGtVU1NjaTVrS2tvK08wVytURERZYVI2bGxpcnhGZ0xzYnBwOVBQM0tiaFBURGpJYVBvZU1XYm9RWE9wc2JBMHF2R0t3dDV6Q2cxQmNod1BvQUp1TlBvbThINnRXaXVsOUdkMnVwTnVzNzdBblZMdm5vY05BYnFOc084VWdhc1RCWWxLUnNScVBEUW0wYUNJR3ZSQlYrOGRiajEvMit2NlJISG5DUC84V09GNWZwY1FkbFcyWDREdHM3SC9rN0xqbSs1MmM5K1FLK3VvbHhPYUJJdFNmTzdLREhHdzJ0S2tQZGlOUHkrN3hRSkgzaFlDREY2SUFWU3QyUUE3Znd5YzhUY3VkdnJRVUZFT0ZudnVDREQ5eXFiZFM5NkEwaHd1ZGN2b2YzemEvZFZ6djZRNUg4MlhBdkRtWFVJK2pVWXhxa0Yzelc4RFE2NnEzNjYxRmdnWmNKajF6QzMraDRrQ0hCLzcxSlp6K1MvMkhPOElsaG1CVHcwdHdSbGZuZFVibU5laUJHZzE0Y25hZ05hbWNVeTNIRTA5RndvQlYwaUhCVUo5TElrbm1oRC9FdUZVR2VZblRJMnlTNnJCRmN3OUdQMUFseGoycmtaQytjaGhodTFEeXUwdkRxWHJDWWkrUXlQN0g3YzlvUHVNSklmekRFOWM4dGlvWFpRODFRdlQ5SXF1bGZrajQ4OFlyY0c5ZWNiL29ZejVCckwzU2NaN2xzY2dBVDVVemNORjRwdkdtL3E2ZXhucXFTNjc4THpmV1JLb240WmcrWUd6cUM2MWZxYVZjME41Qlcxbmk5UWNzSUxlNTFrNUZGaWFsdWl0SGg5SGlQR01ac2ZCb2hmN2pXMmlwOGloeVhURlVxTXRiZXRJVVpJdGhLN1I5M0ttVERjUmJJbTNjYy9GQUl2RGdqK0hqZmVaNXhNVENWZ2pnd2p0bkZjeHgwTmRiRm5xNmRueGZxL0lXUUJiYk1meExmQUxnUHU2OTQvRm9wb3FRaG9pc01CVmF6ZExreFN6eTI1dERqanNWNnhHdlhtRy9DUE9sYXNhMUZselB0ZWhyajRiMW9NTjBTbzRwV3NHY016OXh4QjI5VnBoa2RBSmc2azJJU0l5Q20rNDg1RGozdStBaTUxamNRVDcvdmZuRGVVaW5OMFBJNWZkeDNMdEFWbzh0MkhJdjBZT0FpNjZwUWxuWlZ4amdQR0p2MGIxKzJEam5wMHdnc2xydjBTZDI4ZkNHa0kwOEFNejd1NElWUWZHUDJVWmc0Z1g4VnB1K3k0NDRaWW43MWRkWjBqa0g3MnJySGl5NWVKUzg0RVQ0TVdGMlg3MlYzVUU2cjE5WDZuS0c2YVVhSHZFM1NNUEFaR0lWaFJkdUFIWGRVb3Q0S0xoSnRITmREbHdMbllKU2dRenF6SjJ1MExHaElhMDcxSGF6WWFncGQyVVVIWUF4WVR1TS9TTHZQRXpyZWxZVXVCaWR6OC9JNFlEWE5vT1I1NC81VG80aTZuVGpDUVByWCtSZTUrSEZIeGJ3bmZNRTBxd1dVK2dvaGJ3dXdQdlZnMjZjSm8yM1l4OGV5RXFzOWVQODYxZWdvMHFZTEhNNGtrTE5RNWFDemJqbERaRDhMNUd4cGFqNjZpYzlLQm1sNWs2NFZaSysrd2ZKaDF0dWRGYXRZT1VRY1lPMEY2YlowM0Zsd1cvV2pDMnFNcnNnSmZhWW1sMDdJVy9JWWU3N0NSNzhhNVdLR0pYLzNDQktpcW1uY1lvMXJVL3k0WTE2SjcrT3hhZ0xKcjlUL2FSaDFINHRUQ2JpNlpiU0MwRzZXWWpRSFQ2eXBSZ2RkaU9IaXVsZFEvQTl6YlVvY2Q5UWo5T3FPTm1kaTY5OTNQZ3FPOVFaYk1PNFhuUlBkZkxPOXdVdHFxVTdNd3dQK1UrVlFYNmdOcEZpVnRrVTB2QTN1blNkQ29hb3FMUmc2V2wvUStSNWk1NGtDRlhSeTJmSFI2d0U2bDhQQmZramp5bUk4OElzNlFHYlBrTHNveDdlZWRxZ3A5WVZQbzJVUDlOUko4UHNzbzBkY1FuNHlVNm5LeGkwYVZVU3EwZUZnbWFOdVgyVlA0c0dZMnFCMDRvNWNLMkxQb2F1WmpaalRBdlBuRk8ySzlDUlg5RnlnOXJnY3BjV0lma29MRFRqSzRZbEFYQ0NJWHI4bW9qQkl0N2kzSmVTQlppNjdidFJ4Unc5RlJEaTU3QVJLMUlJdXo3bW5SY1Y2Z1M4SFJWelVxVXFoZlRsN0p0akxXQzJld3R4SFAxdUhSWG5neXpJSkFUb2hmNHhKK016L2hYMFE5WUcrQkxJVi92cExIN3ExNUNmOGQrOTc0RjAvcmtWRmRVWkJrbTUwMEpVWTduR05mN3kzTEtaYmNVZHVObUttcjJrYVFWRk4ycEk5TzBtOGdMSkZ6NlVxK25kRllrdkZTdXJJNXlHeVhZMU1wUW5vLzZwNmFCcXhoTFhGZ29lMVI2WkdxU0hMTlpSaGR2SHpYcEZubERVYktLbE03RWs3WEdEVFZDSktDdnJzbUdhRnRrL08xd3BzOVd5bjdSZXJxWkR6Q0hzN2lSM3JyQTBmT1RQc2RLMmtPRmlUU0RjNnBObVlCa1owdDl1WWlPS09IQ2JrUFovSVBBRFdudUpSQ2EwRzg3UlRGcjIrU2JkWEdvSU5ac0MrOE1ZOVdzaTJQWkRva2xvdjZFdjNVaVpYNU1KNDJlVFprYVlkWGc1a21TSnhpSnZRRUlRUEpubFJwNmlVUCtjajNnWmhSUTUwWFJvWGNBaDM1OHR3bkNQZFl2MlYwbnZLVHpFZlV5R1AzNmwvSWw2cldvU0lGKzlDcGgxZll1RW1URjFYdGFpWWw5N1NqUTdNUU15SkhxSVZFKzF0eVptOXRjV0lNQXkyQmJYZUNONDhqYTFVVDMrUklMQ2hoV0VnczZJYlNjV0tYbkhSaXRlWmF0R09zM1RyT3BOLzF4Y2JETlMxd1l1T0ovUW8yUU9kRjcyNXozTmdrQXRUSk1oaHBIQ1hBN3libkFuNnp6cWpsbTkzckNvNEFQVytaTlJXUzYyTVlUajcrb3BLS2NwNnE1alQ4aHdDRDFQWmV0Vk02U3dPMEFUVDBMVTJ0TGhWYnliUllwVTM1ZWlBblVwZGNFTkpzVE40WExsNHliYzd2TkdyTndLVzBLc3lOL1FYb1Zzb0VIcGJTR3g3Y3dISTFkVGQ5UVlLaUhTbWtpRjdOcUZiZ0lOeDVWS0VXSk84ejdoZ3hBcFRRYk5lQldrT3h4MlVjL3JiSkUxWmUvbDJCMGJIQVJjU0lHMXdIOTNaRHc5bTFNOGprSVQwNlczYjZiR240UytySnZDWHJsZk5uNktGREx2WUdCME5qU0xiMFpIK05nbm0yRTB1am55N3c3T0w5VWJBT04rUVloK3FPVStCVUtIem8rdU5kSkJ2U1hKWDltRVdvVE9WRk94Wmd6NWVSWC9ZOGNVR0F1RHJLWGplQWxVajVJMTlIeWxzb0YxZlJEWUJMRmZVSGZlVHNzUDg4UVNuWFJVS05TUXI4UmlNNEQzSnh6UTZnSzZ2cjBoYXdFUVYyVWx3YmIwOU5JSDBxbW5SZnUraDFwWWlCUlBDZ1VhMEtxY1dMVTd6cGx3N25CWnR1elF2SVJTVk9MSmIxdFNzcnpjQ1JrUkR5bFdSeWhnOS8rUHQrK1UxcGdpbzNWaVE3d3B5VEFjcUdsRTZVOG1RUGVtQ1ZJWHNmVjlzSU5CUnl4WVNzSVlKOWEyT2ZDZC9WNmR0cVQ2b3g0N3ViNklrdU8ya25MdzFUR2l1enFwQ2NrVmI1S3VHdFFOVGdXd1VmM0U5QmE0L1BvdlFzODJuUWYramIyVHVxbzBSZjdKZU5YK0tGaXFIYlMwMHFVYUEyeGVlcGlEaXY2WEo5ei9KMjdUUWY5TnpHdjFZQ3FqVHI3NFk2VlNrMnZpVVJxUGp6UVo2STVUVktLSm1oNXkvZlNCZzNJdHAwbkY2WHVmVW8xR3N6bFJKUVQxdFRLbDF5TzZMREFaY3RkUWhCVDFQVkpUMzJaT1hlT1NJNlh1aDdId29renBWMFRqT1JUbC9PUEx0amtNMU9weW5ZazRScnU0cHJqS0tYVHBUQWQwejlWZjFVS1orT2lLTnpsaGpkQVdEM0ZRZ3JXcVI4aGxPd3VkbGkvSk00ZEVodFNPVGpJM0lrbVJDbFdjN2tPR1lKeForc1VqTHR6dTB2cTgzUXR2cnRoamZtNUt0RGdJVWdhc3l2dUoxVGowYXlUcFRTYzJlSzlpVWNYV3pRa3VWdlFIaWFoZVBvS01JdTBPWUErUmZxanhxMUt1WWJEeWlkWlJSRmNjVlFBaVNhb043aW1xODZIbE5vNk9zNnFkVDV1dGZCY0pHSnlkRVgvR1JscEdQS2lyZ2tvMWcwcXBQejZCM3d3TVVkRE0weW9XNEJmSXFzN0VVU2pCSG9LZUxIajBycXUrTkYxOE96YVpvUmF6M3FNcTJ6Rk9YT2c5K2c1V0VRWkJrd1dkZDZVcStGUFdyTzNScDNGRkpSYlgvb0RCcnlNU2FwclhJdUV5ZVBZaWc3SzU0ampXMXZTUUZCNE5TT0o5cGRHQkdNdmJKY083c1ltWmNXcjJ3TzM2SHFZeEl5OGhFSEl6RFBMd2VqT3Y1VitYdzJ1RThHSlpOeENTNFNjRDdpZGpvREpZZERxUHI3dk5ZYVRTQ2dXRmlSRTJVOGFCMnVRTHNEclhhcW43TFRrRWFBY3JJWU5jOFc3TFRGSm9KQTFCVFJNdHE0WE8rSWhDU1FtS01HMm9SV1c2S0JNd25TcUdMendZMHhkcThLR2ZCaXJMYTlPd211OE9OVU9yMWZLZnJSM3ZJUVo5ZUVHQnpFTXhWa1pNMVQ3amdUYkpCU2hwT2E1VTdEc0RYNW5BVFR6MnVwNWI1MWxVZWo5WVgyN1U2bldZOGdHQkRUMUorZEZaWlczMklRYUFkUlJQamFadEhSL0ZKa2UvUWx3NXFKZXE5dE5wd1FnSnNaOGs4TVVXbVRxNmpsTnVTNXZMUWxKb3JiQ3R0Z0NzK2hqMnJhS1ZlNVRwdEQ5cEREdnIwb2dDYlVLYTZwMzdRdE14SEI3MnFkTlFQRlJzUlVWRVRtVFFha1g4clRLd1pENjJvL1V4MFZwbFJQNHR6QjQ5L21ZVTltK1pwdWIwdnFGbytYYU9tVHdQUGQxRnhaUkhoNEdmVHh6bTdRQkhyMTFwU2RqRGl0eml0MUZ6MVZWampZaGdkb3luMUd1Lzh2R1hmYkpXeW5JQUZ6bkpyNmdjTlozdmVBWWJVY1AwcFZsS1NmMVUxa1VtajhUQWdJT2VDTWJQTmZRVTN2QS9IVXpUVEJKMUNkazZjRUVoMUoxNGdvRzJZV0F0eVJhQS9YL0dFNGtMUEhob3E1QlQrcElZSWtReU5jZGRMeXRTSHVua3l4SEdHNnJIQmFTNkk0dzZzYW1yQjAzSWJ6c3BIVXVvMTFqbDYyNzdaS21WQkFRdWM1ZzRxVzZ0eTI4WE1PcjFtUmM4TURzek1ETEd1S3I2Mnc1TTdhalhSeVEvVm1FSG5LT2tweXE5UGlxdGU1L1IwQzBVWjdVRXhhdjN4cUdiVUJuVlRiU0lnbFpyb2F4NFZzSzBxYzZjWUphWGpmRlRiSXZkN2ZjeDB4ajUvUlNtanZtaHp3TFBycE9hcTcxMW9lU3JoSVRlU1VxK3h6dEhyam1JWjljSlZSbWZwNitJZXFqME5QVmI1MDQ4T0ZDRHNRTVZrZ0VkdHFTaWpVVnNCdEh3OU5lVGFVZWF1WnBvNExhOEhvWDlzYW93R2U2bGEyQStSSEtxNXVxMHpBM0hnempuR2k0anBCQWFPeC9OaEZCSGhFbTBRb1pySjEwSzZZYmZPeTVhYWEwK08yeTlmL21sUEtxeUtvVjBFODFUaHJOeDhaMFBMeUwwejd1dm8yRjY4cjNibngzMkozMzlUN2RVTkViTnk4NGtReHZrYk5HckYzUmNwUXo2aUxDTi8xVFRtanp4VXUxTWRTdmt0OE8rNzZlaVA4QTZFdXAzSGNoVUhZNTErZEpSVmUyaFNSWHByc25ocE5DcDcydDhJRmRscjBRSDNKRGMvQ0pwcFFpOGUwc2FpcnFXclAzNm1uSUQrTC96YzVYdjZlTkxsNElCRytGeDFRd1loeHJiMFU4NWNXMW5ja1hGZGVaalVsUnJhQjJXU2ZQWlFSSVFMakRXWncvOXNxVjArZjd3NWhCSGM0Q2xkOGF3S0ViOU83aWF2OGpLMXduTWFXdElnVWFGNlVqK1M0TXI4QmZlZGRBZDdzWHIwY3Bmc3kxZzhQMDJPWGw0WEl0Q2N4eHlxSGx2L1kvcWV4aWJDRzJFWkJhcm1aZjRRTHZLNjVKK0lDSjhGL2lGeThoRFpENzRoMlF1ajRuRWJZczhLeW5qaTdWd1VWSmM3NnN0aTRvVGl4UHBmb0JIVStVVkhabkNjQUFpZWFVS3ZpeWp6b2MwSHl2L3VvN1FBVTYraXplTWZZVGhRbzJuWGkrYStKVFhTNktqYlY4bGRFVmdpb3MzcFVCVDlTYTZKNmdhQXlqWFMreDB3NjJweUFDcU9nenlBYzUybkM4MFZzdzh6T3dydXZsTlhHaVA5R0V0b1JRSnlodFhzeW5YTXNLeUp0SEpoOHBkUlVQT3hQcTdYYU8zL1BQS0dOYWZRNXF5dlhPdlBpM1c4emxCR0FScVBJYnhteXloWU5jWDQyK1Q2RHYyaXpCNlBVZEFnT0VNZVczT2VkcTBYV0VFemZUY1F4ZUQ5aHlCMFNqcURweW9iUlJxTlBUSHJCeHBCS3ZTWTNFdUNUUkNFUTYyMjJoQVZ2Y25kUWJZQVV5WFBMRjdWcjdCRm82cjJlRlNpYytocGloMXQ4TkJsdlUrcG1sNlZwYUduampSblEzM080enVVNzBxYVMyeHNNZHhsNVV5SmpnaGpva0VqcUdEMDdveDB3VmtUOGE1Y0d5VU5lMWJYOGY1K1VBdnI3V043NThsbDlzV0x1cmY2ZnAxYzd5UFRNc2VwdW91Y0RFdEFSM3RvVndESStBN3p6MndaQmFzbU9VL3pMekxNQ09sMUM3eFFaMURVWGZLa3BHYlBMTjhyQjBQc0tCMzNmUVVNRGpUcGdreGQ4U3AvdW1LKzhqZUMwcmMwNHpFSUFzYlZBZWRCWDB1U1BSbzU2UVE0eGRZU1AxTkJqQWQ5bWFmSXRqNkxoZzBoekxMU0lYbFgrbWZFMUVyWEd5RTh1Z2czVWJEazg0MmhJbi9JUEtNLzY1N09tSVFaa05oZ2RFdGlVYXVJcGFlelNWZllkY1ZqTHJRa21aWDZKU2ptczNKS1U3bXJhN0J3SG0rem9pcHFlY1U2eHdwWVpHT0I1bHptelExNDFwQzM1YldZNHBUS2d3blJzUG9FcXlaWk5zVlhsVnl1QzZEOStqTHBDbSszb201VzBqVERUU3laaFQ3VDJoMVFiMUwxQjZXS2REWllzUkI1bTVYcmJ3UkVzMEc5VER5Vk53aEN4YXN0VmhncEJSWmZtbk9HTHZmbWxrV2IwWjV6eUxMZ25FSlRONmdrK0FZUWU3Qi9NSEwzWlFoTncvellJaFg2Z2h4aTdPc29XNHl1dThzZW1mMkRmSHo4SmVWWUV5TlhhSzZZTEc1aldWMTBUKzE3WE9qeFNoY1ZyTTFLL1J5QXZTQ25OQ25FRkNCYUpjZDhBSFlVR3BjRVhZR05EcHB6bnF0ZGFCU2FGY0xzU0JaRFBjdEd5eWhZTmNGYWZlMm13eWNNM1FKMytUQUd1cnMrUWFxcUx0VjhGQ1FBQUJWYlNVUkJWTDVvR1VnN09yQllIc2k4U1o3b2JweE1HSTA5d2s4U0E0MkFRYmNKdXFtNjF6bWRJQWpLTkdHWFo3ZEU2U2hnQTk0NTJxY0NUQVVGcnUzU0RsTmszWTR1QkNXVndEeDEzcDJZSDgyNklWTmxlWWpqeWdvU3lzSUhkWCtmMGkxNjB4TU5qdTZhMnFaRUltNGRWaTMwNkVjWmVVdmdTNWNTMUhWUDhjQ0UwbGNCNXNHTXBPcmxwWFEyS0ZSeVpSYnhNMWllTVZtOG5RV2JhaVd0aWI0MXpmb0V6U25lcUpnVDVsa2xXS2JnbC9SUk1WbEdvYW9KYmgwNVl4YTVSOU1sTWVreUlreDBKVi9aK3Z6aFMrQ0JsS01ER0FlQU0vRFVveUFQSDAzY2FJUWl3UHRpb0JGVythRHVhTnhESUVqVEJPeEJ2aTlLS2ZJdTBOdENPTUJVVU9DYmhqdndsamxtUGRuSU12VVorc0UvT3RSVmtZRE93dzg5OWVXbWZ0eG55UmpONjlTanZ2M0dZa2YvaC9rOHBTRWozMzhyTXJtaDYzQ2g2Y2Z4VUlNMUpSS1EzMUVCNWpFcjlXN0pnWWttVjJhUmcwNDdBTzZBQmR0TVJZVVgwd1puT2N1V0pacFQ5RkQ1MnRHcVFTOFNMQk05WEpObEZLb2FaNFVLTnJodmxmZWlsbWM5ZFFpZk80SlRCSlRMRXM5ai9wOXlkSlExeTlqTU1CakxQM2lMZVl3bFhKS1hKQUtOQU9oTGp2TnRjczFyemlBSXlqUUJvNVkzS3lKbkh6SDFQZndMTUVVTWMwenJraW9tQU5LSEExVEwyeVFkZlhiRlZFeDdnMUR5OE8zTmhpQ1psb0JqeExDNHlyWkl5ZWlCaW0ya1l3VllEbWdPT2pNNHpvZkpTWjgrbmNNdHFpQUpXNFRGZUpDeElGc013cDIzUUR1NmFETkJoOGZoSmgweWdsdFZic3YwWkV5YnpwZ3NaNTJueWRlTzVqV2wxZU9XMkdlMmpNSlZZd3pubE9xNHl0VzdKbmxTbEFRK3ZKM2tHaUlsd0loYWszN1RNOTNvQURjZGNCUERZRnlQZHpkdU5PS3JmZTlsQk1GR3FOQSt2a0NPUzE3MklBaVlDV1Z0OWVPT0hnTmxoVFpxa0tua2RZSE5oSzVBcUUza0ozRnBlcUZLRFJiUFBTd3JpRm1jaXdydFNTRllsR29yeGxnRG1hYVRYNGp5aWhqZ1M3bWR5emcxK1dyQk5GZUl0YzdaUDcxQnh6Y1dFT1dxYXJrVlVVM01FeXBWZXFaK2pKa0xKUm5tejBzTnpEOXlRYWxKUm5YQi83a01DNW9UM1hDUDVwREc3ckxZa3VGY1V2OUhkUXgyUWJocWpIR0hmRThVSUs2SGVEWUZ1azZKcFYzZzQwYlFVYXM3YUl5cEpPWkpOenBTYnVmU0V0RGxhZWZpUm1OVDZnM0JScWlqb1pacXh3MmFRN2dnQ01JMFlhbmFjVWVMV2RsMG9YR0NUQ1ducFJKOGFEamVjUUNWOWluV2V6WFZuTkpqS21idDYwMlYyUG9SdzhSWnJNbldoZ1pHdWZXZW9IbXljMWVDYWw4QzFoZjVHa2UxUi9ueGVKR3JxN1JFR2xHUkNwRklwVWI1Y1Y4RWZBOHNqTDR3RDBobEZsWG5DQUhScTQ3enJSK3NldStFb1R2M0tiV2NpZVNISURpSDFQK2hxWmcvQ293bEhrWDdYVTFObmtXKzhlSlo0SWV5UWtHRGFqa3dXdndjVSs1WnBkM09aWVcxMllrdE14cWY1bHNjOUVhQVRmRjl0ZU8vRjVST0IySFZxeTJXZmpYajgrbUE3elVpdTg3VXh3MmQ0WUJIOUhCWXNzYTloUmVSZC9pb3FIbkNKbHljdXBaa3loWHgyZ3QrQjJCZHhuWHBTclFncGlRWk9mS3pLalg1Tkp5WXNVWTExOFd1bkh4WWR2VGVmWTFQVDg3OWlDdDg4djRIMFBPZ0NYenAxMzVKbytIZVF3OWRMdzFxUTRtRk1BSTRlblJtcCs3NGM0cEtmTU5YelVSODFWYkphVHlQdlBSTFFBUHU1Vjk4Y1QrWU1WQTFtb3oyUllzd1YyYnJ2eEtZV2tOQzR4Rm1rYUNqdWlmVkNhTmRxclVET3pYY3Vvbm1GMDZCWGI2SGJaQ3Jqdk9yY3ZybVJGb2pvQ2JINUZvcG1Oa0hRa3QxYnhneFhxM3dxek93UDQvNklxL0cxTTlOYkRJaUVqTXN1ZmE3TlBWWlZmSlAvVlJZUEdya3Z6aUZMMnREa1o3QS93TEl2dFlsUDZPb3IyQVFmYTMrSmhYT3hBTVpoMWlNRnV2a3g5YVdUcHhuMWNsamZVME90U0hDNDFZMVBZdHV3MGtYN2g5eUcwemp4WTRkT1hPMU5ZemU4SjR2ZmVMRi81bEhNMkl4TjZ1WmlHckhRN3EybEE5UDlCKy9DMVNOSmtLYWhpQ3FFTHJFeTNVTVh2VWhqdUFQRXJUVWVpT3lCaDZwUmdja1BnamtUeEQ4Q0RuNldhZXpQWVhmN3ZvZG5WeHJCRG9OL2JPK25zajhQaEE2WXRWR0N0Qi9VaEc3WkdleHl2Y2FFYWN4VlJUTW81MkdvVHNSY3ZzWGZ4M2Z5bnVMbjRpR29IbmRBWTFjbjFLbjYrVDRsaG9oLzhDanhuZmxML3M3bzVjMnRLOXA2QWdKbUsxQXZIY2RvVFkvMnRlcDUvMUt0YTVGUU4yOWZNdHI3cjc3bGxzdit6Y2xXUDU2UUFkamtlcjNQOVJHS2ZhOGR2VHk0Rzl5aFFjUThvVE9ib0FnZWJCSkx0OXh5OTEzdit1V3l6VTE5YW5jZ2FyUitGVzVwTkhCUUMwUU5Zb2RmT2ZqdXp5ck1wbDRFUEp1QzUvNWtXWjBvQStISnhvelcxL3NuK0VIQTkzWDFNaTEzL2RGYTQyd1JGNzdRbDhhRC9oQTZIbHFBNWFhWFVYK0RmeE8ydlcrREdwTVpSUi95azFHR2xyNVRRd1B1T09YK0dsNGFQcSsydkUvOUxmNzFDL2VTdTU4V1VtblhubVF2SFpOanhqZGowRlBKNzMwcnZBcEYrUDVaWDU0Y1dyaDJ4eGU4UStXNkZLRVRSVWdVSU5DN283Uy9oaWdjZXBrZzBhcDE0NnFCMEdLYk1LQnFsR21SVThhUGhnOEN4emQ1U29yVjVsTVVncDFKVXRHQko1cFJrZFo3NVFCUGdPRGo5eUVydmpxMys3N2lNeU40Q1B4Z1RCemVWMGwzdnRtNVhXYzU5VGVxaG9obXFuY1pPUVp2LzhCZFBjdjdHaGNKc0RiSXJ4ekRTTktTOHlPV3Q2S25ERkZYQzNod28rWmYwMWpJN3hGcVppcFQ3d2ZocmE4Wk85VEl5azBmTUo4aDRvSlZnMU1ldHdVaHc4Yks5dDR0TlJVTGlLb2tlMnZHVFQzUGlpalhZclJnU0dZZGp0WGxhdnRpc280Y3lQSVZQWTBnT0JMRHdlaW1lb0dmampmSk1UZ1d6M2hIZGFrZ3BWcGgvQzc0S2xGeFdlaysybjFrUCtZUktaMGhES3JMRzZzSGNIdWdNV1BqU3Q1RGpldDlrNGtsNHlld2FxQmJVZXR1ekNxR2l4Q1RoZ1lGT3VzNEl1QjVYTkI1V0hKNFg4cFJzZkRwczNuTUVkanpIVDRXTWpjQ0w3Y0JoQjg2ZUZBTk5QMHZNTGM4NDJCSHEvTXA5UWx0WG43YS9rd1k1WWM1N21zdTdMb3cvQXVxRWJ1ZWRreHlmU3J2QWptNjRxVEIzUzFIY2Y1UUo5cStzSE9qN21KMFhiRXFyV2NmZzhuVUtvNUdLb2F5TXBLanp6a1k0Qlo0SDhHV2VtU3NjY1l6VkdKWnpZVjA3bTRUYVlVbzhNbHgzM0ZPS1hub2s4Rlpwbk5qYUR6TllHZ3B4djhrVXl4NkRjTTlKTVVWUTFidWNuRmN3K0N0TXVzazdocktuNVo2a1lxeHV4aDNZcmVIZkU1ZVNPSjMrMmpveUQ4RTJ3NGVtRjVoSEhPanRoOVRESUtoS29HdnA0aVZlSDFaQlo0ZFFkSldOSktyT1JEcW14ZHVNcjg5Rjh4eGlqSHVOcFV4SU05UTIzblNwYnNrcUFNOEtlNUVYUWFFd2g2dXNFZnlaUlBlWVljRXhNRmhZQ2R0QXdsVUNHczRSOVN0V0ZSMDlXbWxHWStzQWlvVHJ2b2JMeGJQUC9qZ2hhelM0bDVEK2tjUFUxMUt0eXdFWWxPNFkrWTc2TFF0U3BpMDZ1eUp3bXlmZXBWbS83RURtTyt5amFxcUpkYmI5d0dZckRBSkRoZ05HeERvYlhOL1BSZk84NFNXNGtiUGhvcmdZK0tTZUU1dkJvazlqVkNNSkdIZFJETUZNRllIMVBWc3BRcThwUXd5T0xVd3MxUlZqZUQ1c3EySVpZeFdTclhEdTNBcWlUTmc1a1cvYTI3UjZPQTJnRlB3dXl5eG56c2ZhRlplaXlEVHNmVHNJeHcxV0JCakw4Mkh4M3NabzhreWZLcFYwMWVqSnVWTm9TNFN3WEZBejlyejNVL09iSnJWTGRzTnFRb2haRGhKRlBVODY2UzhnNzBZRHRYM21NWlNHZE9EQnVOZWlPWTgwQ1ZoTjdxYTk4SVFoV3RNL1ZhbGlaSEd5UXE4K2w2MEpyRGJlY3lzUTJhSzV2QWZjZHhoNG0yeFBDYUJBN1QrZjBqN0tKdGNWajRPZzUvbXlvYmZHV3B5eDJnUWgxeGNOTjhOY0gyQW5waHlxYWpHWkk2cldvWW9selVGYm1TTmJuMWh1SGNkeTdTVVV4bGJ0QUh0Sjh0M0JmclV6OTFNM0ZtQnlkTDhyL0hGdHdrbENhYXNOR29ONElwQitJMEVDSW9ndEU2VTY5bEtWVnhsTEVkTENhUDhDamJ1WGl6Sld6L3NwTXUrWnNwVE9Ka3ZZRXRBT0tDRk5Zem9lMnAwd08yOCtXV0tNTVdWY0dvKzRwOFphM0d4b3M4OHU5c3NOVHMvMmxWbytmSUpWWkNsUzl6UytKcU5XWWJiQnhzc2FRaW54YTZkRnRwa1M4bk5QNHc0U1llNHpIdzN5amJ1V0RzN2dTNTY0MFFUQk5oRFlRSWltQzB6dFJyV1VxbHpyQ0NXU1lrVExkeis4UExFdFpjMFhjM25BWC9WcUhyOVl6b29oYXB2dEhjWmdSbDlmNytvUndtWlF3Si9rb0E1bDQrTmY4Vi9uUHB5TkZrL2EzOEUweGxXUmwrRXlkYU9wYWlWUTNhZ3VqalYvaWEwZVlqZ1pvZmZhZlNZUFFMVE5Cbm5QU3dkakNsa1BPdmdDSWJoKzNjMjRiblpEQWE5VWFJWUt5QkVFRVJqTmFaZWkxTHFib0p0ek9ESE1jVnhuWnUwZzlNRmw0Y0ZxcThFWXFiUlZkbys5dXNKNjJJRUxFZVVUMTJMb3FSQ3FuRStDcVRKem5OSEF6VkxoODdXTnozY0czdFUrVDFNanR1cTZ3NVM4ZjlOcjB6Vk1uNEZwb3NoS3BJWHRWY2VmdXdVRDh1T2M2OTZuSlFoelNtNWJaQkZ4K1YrU2JaWDhZb3FXeElQbE4wQnlzYmgrM2N0WVNjL2w4alJNajJPQUt4V2lNRVVtUlFCMEhHeFR3MXBsN0wwanlUZnR4UlRiNmRLMlp1SHhMdGhpOUlBd1gzcEhyUzkwVmZSSytLZDFmSU8rV3JMVk0zditFV25xRWpkMittYWlkVmVRcTQ0cEwzUEVUSVAvZDQvaDQ1ZWFEMkRuckM4SjRxKzRDSmw1U2hUNi9hMHk3LzhDWm5EYlg2NVM1NW95eG5nVnlyeWdsbmdSdzlSTjVHRFpBZjhTQUpmNWRJWmszN1RMT2RXOWtQY2IvNHZWQ1VvelZDT0pIRjZDQkVrQVNqTmFaZXk0Sm8wbzg3MG16bkhuSjl4bGYxc09hS1M2bzMzMTd5RVVIQlRXVDR2Lyt5ZHQzeU5aekY4bHY3Z3RkTS9mWUR5WGJsODdVNzd2SGRrUHRQZDVGM0kzWDY4N1hYbFNSVjlrOWYxZWEyUlFHNHNQVHFsM2lGL1lENzVyNE1mZk91bzgvQnYvTGcwYnFNY2pxWmFYNXRhZnNvM3BFZTc1UE5Ib25CYUhRY1h5TjR0SnJQQjRJV1A4RHJZeXBhRnVTVGZ0elJTYkdkVzlrTTFUL3AzbW1SYnRhbWM3ZW5JejhGNmdzYlF4VmFZTWJJVUZrRG1kQzVETE4vZ0VnRVo2U3lweVg3TmhhMStKeTlYc3VxRGNtY1N4eVNQVFpZcmlmTk9zVzNKMzNrU1M4MFRhYzJIcWZDbHh4OEpVOUFvT2d0QjJta21UWGdtQ2EvUjl1VEd3TmVWS1N2YUJoSDVmMUk4aHdUdEpaVnQwWnpMRzRFMWtWcFdpYmdNVWY2SWFxTFNlM0xwakN5UXh5aUlwWU1hbHdVN1NuRmR3NkdLcmlkU010TXdCcGFlM0pVWGJHNW9mTnQ3K21oY2ZtMWxvMzVYdXE0Sklvb0o5VjJibHZheEJxem1hVFhGMmZFOXFlV2Q3QjM5dXJnOUFsSXJRNGx3d0xaR0NwZk9GT2E3ZHlMcGxKZjFBOHp6VCtHdGV5MHU0K1N2TzlUNUY5cytoTG1rMi9uNG9WUWNUNlh2aGlhbzVKU1Urb05wN1lNSjl4UXVWWlMxa2dVVWs2c3lzWkpWVSsrbllzRG9WSWN1M0dsczVZdDAxMXRuR1VPdC95T1I5UnU4dTFjSEd1T05Kc3ZpTXZjU1N0Vzd5ZWxQQzI2ZVlPdUVpL0xvanpuanllTm9jQ05wVWRqU0ZReTdIZmxQMjBQYTlrNjNVK1lHK1VPVSs3VndHc1JpZGNEM0p6WUhVbWdjdUttcE1XWXR1SkhLajc3eklham5nU0ZIS0pYWk9NcXliZHpzWFJrWmV5TUxEdHZXVUxmeEttWTFMMlJDOGlLQWJaekUrc3ZhWllabzN4VEh6TkdSMFEyTnlJU0ppWmEvbXBTU29HK3ZaWXlReFE1bG9QRXFsMmFaU2Fxdkt6aWVjdldzWEczRkg5Vk9hdENoK0NUWmp2MzM1aStYemhFbVFtenJCaDI1eE5tSFJkWmIzTmNKWm5MU2JHZHUraU84SGF0dWZTaFkwWExWbzdYOUsrMERjMHV2NHpGNU51NTBNR1NIenhsSVBIQ0t6TmdraStMOS9mejVSL0RQYzEyYmdXdDE0amhONjVrMGJLenVHNUQvdjY0Q2gyaW5JS2IrSGJ1dEF0OGh6SkNoNURMWmttQ3dKWGt0M09maThZai9TUk14MGp6SFBmT3Z6WEc0bElYbFh3N2x3Mk9pYmFnVWxmK3pHZEl2cDNMQm9maHJPck1RNUJyQldCbkh5UXE0SnMxT3ZsTXpvWjVJcUhQT1JIczdDY1NWYkZ3TDJ1OHhIdVRpWmllZnlLWUVvbXVnUlEreGVBVjc0bWVmMXpPUmcwcjhtTkFNZUkrVXVXdHR4VkRaNVA5Q0hRU2JlZE9QZC9sOEU3T2hybS9HamRtS09GMjdsTi9RelRlaUdkVk54eklTYlp6di9YZjc1UG9wamlYdmVHZ1BJVUs5K0p2NXhZKytzRzYxM283cHlEa0dTNFN2eGYwcGwrSmNsLzlhLy94NTEvNkVEYzNKTUtudkwxL2hxSE9YblQ4Vk5keFZOdjl5a2YvK0FXZmVkLzkrREsrNWliLytDaDdrRWJnaU8zY2xLNHhRbWsyYTdZSVlEczNuY3ZzK2txMjlaaFVidGpPVGVuNmsxcVZHMUN1ZXNxMnMyZFY2VHBKTnkyK21kMjdUaWVucFRZZ2dPM2NsRzdmd01WR1JTRkFiNGFrYzhsMjE2UEtzL0ZaSWxCSjEzU2dUbmF3bGFXTVo1bFhPVFcrVzJlNXV1ZExkdnFodVhSdThNOC9ueTkwUnE4TlBvcWQxcTJQWHFybGtBMENoMm5iTHZsVjkyd0VQT05jc0NPWTFxMmQ4U3FmSS9HeEdaL1M0VTBqNnl3Q0ZnR0xnRVhBSW1BUnNBaFlCQ3dDRmdHTGdFWEFJbUFSc0FoWUJDd0NGZ0dMZ0VYQUltQVJzQWhZQkN3Q0ZnR0xnRVhBSW1BUnNBaFlCQ3dDRmdHTGdFWEFJbUFSc0FoWUJDd0NGZ0dMZ0VYQUltQVJzQWhZQkN3Q0ZnR0xnRVhBSW1BUnNBaFlCQ3dDRmdHTGdFWEFJbUFSc0FoWUJDd0NGZ0dMZ0VWZ05BUStjcTJmZ01FMzdJY1FFNkEwZGhMYmVQbENqaDh1M1k4dlljVzFuL0NPUjJuc0ZMYnhjb2I4SWtud1c1blQxYkgrR0hQT1ZUNC83RzNqNWR5V3M3Ry9QbGQ0OW1meDNVUzdkdVRjRU1Pd3Q0MDNER29wOHF6RS9ocGdsNUNqcmgwZEtUQWRHNmx0dkx5aGZtcmM1M0Vmdk9NTE95MDdPdkp1aDZINDI4WWJDcmFNTTluUmtUR2c0MlJuR3k5bnRDM0FPUU9jSjN2YmVIbWlDOTRXNEp3QnpwTzliYnc4MGJXakkyZDBjMlp2UjRjRk9HY0V6akI3T3pweWJqd0xjTTRBNThuZU5sNmU2SUszQlRobmdQTmtieHR2U0hTL2ZQbW5FK1cwQUNlQ2FieEV0dkh5eGZ2cjVHN3lxaVJGMk5HUkJLWHgwdGpHeXhmdmdydnYxRStTbEdGSFJ4S1V4a3BqR3k5bnVHZi8wbkhhcEpTZ0ZEczZFb0EwWGhMYmVEbmozZGwwbkNwWnA2VXNtSDYrL1BXcWZEczZGQlNUNHJHTmwzTkx1TGlBV0NPN3RKUTUwNC9EWDFQbDI5R2hvSmdVajIyOGZGdGlDYjBmYjVmdDBWS1czblZMMkwxQ2xXOUhoNEppUWp5MjhYSnVpTG0vY0p3WlFyQ0F4RG83T21JaEdqT0JiYnljQVQvY2Nwd0x4Rk9mQmhSblI4Y0FjRTRseVRaZXpyQS92ZUU0UFlJRkpON1owUkdQMFhncGJPT05BZTh1dVpxa0ZEczZrcUEwYmhyYmVQa2lYa2owdlI1N3p5cmZWaGlTdTIyOElZRkxtbTJKa0lNa3RIYnRTSUxTbUdsczQrVU0rRHc1VGxTQ0hSMkpZQm92a1cyOG5QRXVFbHdtU2VEczZFZ0EwcmhKYk9QbGpIaUZmRGRSQ1haMEpJSnB2RVMyOFhMR3V5WS9FenA5VS9pby9CWjdWcDR6L0tPeHQ0MDNHbjV4dVZjSXZhSDdYSnlXMjN0V2NWaE5YTHB0dkp5YlpKa1o1ZlErbS9HTzdsdFU4VmF6VWxCTWpNYzJYczVOY1VnL29ydDRGRitLSFIzeEdJMmJ3alplem9pWHlhT09zL3g0ZkNsMmRNUmpORzRLMjNnNUkxNGhXNDVENzdQRnVaNzl5blFjUkdOUHQ0MlhNK1JOc28yM0EvZmlTMm1TNi9GRWxtS3NDTmpHeXhudUZqWjBGK0krdTFENHpqUC9CRzhPZnU1ZmZhZWZzemlXZlJvRWJPT2xRV3NJMmxsb1Z1M2JZakwyMUV1MTl2ZWZZcUFhYTdKdHZKemhMcmduMVpOK1RDRTljdm1PVys2KzVkYkwxdmFJUVdxOHliYng4c1o3NGViYlMzbVhZZm5uaE1CNWFyei9EMXAwTkZyUmVVaFVBQUFBQUVsRlRrU3VRbUNDIgp9Cg=="/>
    </extobj>
  </extobjs>
</s:customData>
</file>

<file path=customXml/itemProps1.xml><?xml version="1.0" encoding="utf-8"?>
<ds:datastoreItem xmlns:ds="http://schemas.openxmlformats.org/officeDocument/2006/customXml" ds:itemID="{2E2CA22D-C94B-DD46-8ACC-249EC775076E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8585</TotalTime>
  <Words>2756</Words>
  <Application>Microsoft Macintosh PowerPoint</Application>
  <PresentationFormat>宽屏</PresentationFormat>
  <Paragraphs>336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-apple-system</vt:lpstr>
      <vt:lpstr>楷体</vt:lpstr>
      <vt:lpstr>標楷體</vt:lpstr>
      <vt:lpstr>MS Sans Serif</vt:lpstr>
      <vt:lpstr>quote-cjk-patch</vt:lpstr>
      <vt:lpstr>ui-sans-serif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Efficient Scheduling in Distributed OS</vt:lpstr>
      <vt:lpstr>Outline</vt:lpstr>
      <vt:lpstr>Efficient Scheduling in Distributed OS</vt:lpstr>
      <vt:lpstr>Introduction - Motivation: Data-Intensive Applications</vt:lpstr>
      <vt:lpstr>Introduction - Geo-Distributed Computing</vt:lpstr>
      <vt:lpstr>Introduction - Problem Statement</vt:lpstr>
      <vt:lpstr>Efficient Scheduling in Distributed OS</vt:lpstr>
      <vt:lpstr>Related Works – Algorithms(1/2)</vt:lpstr>
      <vt:lpstr>Related Works - Gap</vt:lpstr>
      <vt:lpstr>Related Works</vt:lpstr>
      <vt:lpstr>Efficient Scheduling in Distributed OS</vt:lpstr>
      <vt:lpstr>Preliminaries - System Architecture</vt:lpstr>
      <vt:lpstr>Preliminaries - Power Models</vt:lpstr>
      <vt:lpstr>Preliminaries - Cost Models</vt:lpstr>
      <vt:lpstr>Efficient Scheduling in Distributed OS</vt:lpstr>
      <vt:lpstr>Proposed Methods – Part I Local Optimal</vt:lpstr>
      <vt:lpstr>Proposed Methods – Part I Allocation model</vt:lpstr>
      <vt:lpstr>Proposed Methods – Part I MOSOS (2/2)</vt:lpstr>
      <vt:lpstr>Proposed Methods – From Local to Network</vt:lpstr>
      <vt:lpstr>Proposed Methods – Power-Aware Graph Job Allocation</vt:lpstr>
      <vt:lpstr>Proposed Methods – Crawling</vt:lpstr>
      <vt:lpstr>Proposed Methods – RMBA</vt:lpstr>
      <vt:lpstr>Proposed Methods – Detail of RMBA</vt:lpstr>
      <vt:lpstr>Proposed Methods – More to Consider</vt:lpstr>
      <vt:lpstr>Proposed Methods – Augmented Hypergraph</vt:lpstr>
      <vt:lpstr>Proposed Methods – HPS+</vt:lpstr>
      <vt:lpstr>Proposed Methods – Routing &amp; Bandwidth Allocation</vt:lpstr>
      <vt:lpstr>Efficient Scheduling in Distributed OS</vt:lpstr>
      <vt:lpstr>Performance Evaluation – Local Optimal Result</vt:lpstr>
      <vt:lpstr>Performance Evaluation - Global Optimal</vt:lpstr>
      <vt:lpstr>Performance Evaluation – Optimal with Network</vt:lpstr>
      <vt:lpstr>Efficient Scheduling in Distributed OS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amanda qiu</cp:lastModifiedBy>
  <cp:revision>344</cp:revision>
  <dcterms:created xsi:type="dcterms:W3CDTF">2026-01-24T06:13:34Z</dcterms:created>
  <dcterms:modified xsi:type="dcterms:W3CDTF">2026-02-02T10:59:59Z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2D2C238EF313A54E4EE57069BDCBC114_42</vt:lpwstr>
  </property>
  <property fmtid="{D5CDD505-2E9C-101B-9397-08002B2CF9AE}" pid="3" name="KSOProductBuildVer">
    <vt:lpwstr>2052-7.3.1.8967</vt:lpwstr>
  </property>
</Properties>
</file>