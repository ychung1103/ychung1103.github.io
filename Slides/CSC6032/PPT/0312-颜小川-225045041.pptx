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Lst>
  <p:notesMasterIdLst>
    <p:notesMasterId r:id="rId46"/>
  </p:notesMasterIdLst>
  <p:sldIdLst>
    <p:sldId id="256" r:id="rId3"/>
    <p:sldId id="529" r:id="rId4"/>
    <p:sldId id="516" r:id="rId5"/>
    <p:sldId id="517" r:id="rId6"/>
    <p:sldId id="530" r:id="rId7"/>
    <p:sldId id="520" r:id="rId8"/>
    <p:sldId id="521" r:id="rId9"/>
    <p:sldId id="525" r:id="rId10"/>
    <p:sldId id="528" r:id="rId11"/>
    <p:sldId id="575" r:id="rId12"/>
    <p:sldId id="576" r:id="rId13"/>
    <p:sldId id="579" r:id="rId14"/>
    <p:sldId id="578" r:id="rId15"/>
    <p:sldId id="581" r:id="rId16"/>
    <p:sldId id="582" r:id="rId17"/>
    <p:sldId id="583" r:id="rId18"/>
    <p:sldId id="574" r:id="rId19"/>
    <p:sldId id="585" r:id="rId20"/>
    <p:sldId id="593" r:id="rId21"/>
    <p:sldId id="586" r:id="rId22"/>
    <p:sldId id="588" r:id="rId23"/>
    <p:sldId id="589" r:id="rId24"/>
    <p:sldId id="590" r:id="rId25"/>
    <p:sldId id="591" r:id="rId26"/>
    <p:sldId id="592" r:id="rId27"/>
    <p:sldId id="584" r:id="rId28"/>
    <p:sldId id="532" r:id="rId29"/>
    <p:sldId id="533" r:id="rId30"/>
    <p:sldId id="536" r:id="rId31"/>
    <p:sldId id="537" r:id="rId32"/>
    <p:sldId id="573" r:id="rId33"/>
    <p:sldId id="568" r:id="rId34"/>
    <p:sldId id="539" r:id="rId35"/>
    <p:sldId id="542" r:id="rId36"/>
    <p:sldId id="543" r:id="rId37"/>
    <p:sldId id="544" r:id="rId38"/>
    <p:sldId id="545" r:id="rId39"/>
    <p:sldId id="546" r:id="rId40"/>
    <p:sldId id="547" r:id="rId41"/>
    <p:sldId id="548" r:id="rId42"/>
    <p:sldId id="565" r:id="rId43"/>
    <p:sldId id="564" r:id="rId44"/>
    <p:sldId id="567" r:id="rId4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6D9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79197" autoAdjust="0"/>
  </p:normalViewPr>
  <p:slideViewPr>
    <p:cSldViewPr snapToGrid="0">
      <p:cViewPr varScale="1">
        <p:scale>
          <a:sx n="109" d="100"/>
          <a:sy n="109" d="100"/>
        </p:scale>
        <p:origin x="80" y="104"/>
      </p:cViewPr>
      <p:guideLst/>
    </p:cSldViewPr>
  </p:slideViewPr>
  <p:outlineViewPr>
    <p:cViewPr>
      <p:scale>
        <a:sx n="33" d="100"/>
        <a:sy n="33" d="100"/>
      </p:scale>
      <p:origin x="0" y="-2501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t>2026/3/13</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t>‹#›</a:t>
            </a:fld>
            <a:endParaRPr lang="zh-TW" altLang="en-US"/>
          </a:p>
        </p:txBody>
      </p:sp>
    </p:spTree>
    <p:extLst>
      <p:ext uri="{BB962C8B-B14F-4D97-AF65-F5344CB8AC3E}">
        <p14:creationId xmlns:p14="http://schemas.microsoft.com/office/powerpoint/2010/main" val="2637007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CCDB5-6AAF-8239-AF71-BF50CA609C0F}"/>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DCF9123E-782D-55B3-4F8F-6DEA98288055}"/>
              </a:ext>
            </a:extLst>
          </p:cNvPr>
          <p:cNvSpPr>
            <a:spLocks noGrp="1" noRot="1" noChangeAspect="1"/>
          </p:cNvSpPr>
          <p:nvPr>
            <p:ph type="sldImg"/>
          </p:nvPr>
        </p:nvSpPr>
        <p:spPr/>
        <p:txBody>
          <a:bodyPr/>
          <a:lstStyle/>
          <a:p>
            <a:endParaRPr lang="zh-CN" altLang="en-US"/>
          </a:p>
        </p:txBody>
      </p:sp>
      <p:sp>
        <p:nvSpPr>
          <p:cNvPr id="3" name="備忘稿版面配置區 2">
            <a:extLst>
              <a:ext uri="{FF2B5EF4-FFF2-40B4-BE49-F238E27FC236}">
                <a16:creationId xmlns:a16="http://schemas.microsoft.com/office/drawing/2014/main" id="{1B0CF79C-5AA7-DEF9-1920-C22BB6BF2BA4}"/>
              </a:ext>
            </a:extLst>
          </p:cNvPr>
          <p:cNvSpPr>
            <a:spLocks noGrp="1"/>
          </p:cNvSpPr>
          <p:nvPr>
            <p:ph type="body" idx="1"/>
          </p:nvPr>
        </p:nvSpPr>
        <p:spPr/>
        <p:txBody>
          <a:bodyPr>
            <a:normAutofit/>
          </a:bodyPr>
          <a:lstStyle/>
          <a:p>
            <a:endParaRPr lang="zh-TW" altLang="en-US"/>
          </a:p>
        </p:txBody>
      </p:sp>
      <p:sp>
        <p:nvSpPr>
          <p:cNvPr id="4" name="投影片編號版面配置區 3">
            <a:extLst>
              <a:ext uri="{FF2B5EF4-FFF2-40B4-BE49-F238E27FC236}">
                <a16:creationId xmlns:a16="http://schemas.microsoft.com/office/drawing/2014/main" id="{2BAC3AC1-D4D8-AD8A-98C3-2BC443F85FDB}"/>
              </a:ext>
            </a:extLst>
          </p:cNvPr>
          <p:cNvSpPr>
            <a:spLocks noGrp="1"/>
          </p:cNvSpPr>
          <p:nvPr>
            <p:ph type="sldNum" sz="quarter" idx="10"/>
          </p:nvPr>
        </p:nvSpPr>
        <p:spPr/>
        <p:txBody>
          <a:bodyPr/>
          <a:lstStyle/>
          <a:p>
            <a:fld id="{7320D120-4707-426F-9B85-873E256A6635}" type="slidenum">
              <a:rPr lang="zh-TW" altLang="en-US" smtClean="0"/>
              <a:pPr/>
              <a:t>2</a:t>
            </a:fld>
            <a:endParaRPr lang="zh-TW" altLang="en-US"/>
          </a:p>
        </p:txBody>
      </p:sp>
    </p:spTree>
    <p:extLst>
      <p:ext uri="{BB962C8B-B14F-4D97-AF65-F5344CB8AC3E}">
        <p14:creationId xmlns:p14="http://schemas.microsoft.com/office/powerpoint/2010/main" val="5105532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rtl="0"/>
            <a:r>
              <a:rPr lang="en-US" altLang="zh-CN" sz="1200" kern="1200" dirty="0">
                <a:solidFill>
                  <a:schemeClr val="tx1"/>
                </a:solidFill>
                <a:effectLst/>
                <a:latin typeface="+mn-lt"/>
                <a:ea typeface="+mn-ea"/>
                <a:cs typeface="+mn-cs"/>
              </a:rPr>
              <a:t>File systems are a cornerstone of modern operating systems, providing the critical abstractions for managing persistent data. As hardware and applications continue to change, file systems also need to be upgraded. For example, dedicated systems such as EROFS have been developed for devices like mobile phones.</a:t>
            </a:r>
            <a:endParaRPr lang="zh-CN" altLang="zh-CN" dirty="0">
              <a:effectLst/>
            </a:endParaRPr>
          </a:p>
          <a:p>
            <a:endParaRPr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3</a:t>
            </a:fld>
            <a:endParaRPr lang="zh-TW" altLang="en-US"/>
          </a:p>
        </p:txBody>
      </p:sp>
    </p:spTree>
    <p:extLst>
      <p:ext uri="{BB962C8B-B14F-4D97-AF65-F5344CB8AC3E}">
        <p14:creationId xmlns:p14="http://schemas.microsoft.com/office/powerpoint/2010/main" val="11078173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rtl="0"/>
            <a:r>
              <a:rPr lang="en-US" altLang="zh-CN" sz="1200" kern="1200" dirty="0">
                <a:solidFill>
                  <a:schemeClr val="tx1"/>
                </a:solidFill>
                <a:effectLst/>
                <a:latin typeface="+mn-lt"/>
                <a:ea typeface="+mn-ea"/>
                <a:cs typeface="+mn-cs"/>
              </a:rPr>
              <a:t>However, this evolution comes at a steep price. An analysis of all 3,157 commits from its inception in Linux 2.6.19 to the recent 6.15 release reveals that 82.4% of all commits are dedicated to bug fixes and maintenance, which are a direct consequence of introducing new functionality (which accounts for only 5.1% of total commits). E.g., the recently merged “fast commits” feature required only 9 commits for its initial implementation, while it triggered about 80 subsequent commits to address newly introduced bugs and maintain the code. This demonstrates a common development cycle where the effort to stabilize new features far outweighs the initial implementation effort, placing a non-trivial burden on developers.</a:t>
            </a:r>
            <a:endParaRPr lang="zh-CN" altLang="zh-CN" dirty="0">
              <a:effectLst/>
            </a:endParaRPr>
          </a:p>
          <a:p>
            <a:endParaRPr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4</a:t>
            </a:fld>
            <a:endParaRPr lang="zh-TW" altLang="en-US"/>
          </a:p>
        </p:txBody>
      </p:sp>
    </p:spTree>
    <p:extLst>
      <p:ext uri="{BB962C8B-B14F-4D97-AF65-F5344CB8AC3E}">
        <p14:creationId xmlns:p14="http://schemas.microsoft.com/office/powerpoint/2010/main" val="29043276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3AE67-5B86-2F4E-CF6E-31CFC7FAC02B}"/>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4CD3A81E-0926-6A91-4F6F-893C35B4655D}"/>
              </a:ext>
            </a:extLst>
          </p:cNvPr>
          <p:cNvSpPr>
            <a:spLocks noGrp="1" noRot="1" noChangeAspect="1"/>
          </p:cNvSpPr>
          <p:nvPr>
            <p:ph type="sldImg"/>
          </p:nvPr>
        </p:nvSpPr>
        <p:spPr/>
        <p:txBody>
          <a:bodyPr/>
          <a:lstStyle/>
          <a:p>
            <a:endParaRPr lang="zh-CN" altLang="en-US"/>
          </a:p>
        </p:txBody>
      </p:sp>
      <p:sp>
        <p:nvSpPr>
          <p:cNvPr id="3" name="備忘稿版面配置區 2">
            <a:extLst>
              <a:ext uri="{FF2B5EF4-FFF2-40B4-BE49-F238E27FC236}">
                <a16:creationId xmlns:a16="http://schemas.microsoft.com/office/drawing/2014/main" id="{37540384-E1D6-D90F-8F19-D51F8BCA54B6}"/>
              </a:ext>
            </a:extLst>
          </p:cNvPr>
          <p:cNvSpPr>
            <a:spLocks noGrp="1"/>
          </p:cNvSpPr>
          <p:nvPr>
            <p:ph type="body" idx="1"/>
          </p:nvPr>
        </p:nvSpPr>
        <p:spPr/>
        <p:txBody>
          <a:bodyPr>
            <a:normAutofit/>
          </a:bodyPr>
          <a:lstStyle/>
          <a:p>
            <a:endParaRPr lang="zh-TW" altLang="en-US"/>
          </a:p>
        </p:txBody>
      </p:sp>
      <p:sp>
        <p:nvSpPr>
          <p:cNvPr id="4" name="投影片編號版面配置區 3">
            <a:extLst>
              <a:ext uri="{FF2B5EF4-FFF2-40B4-BE49-F238E27FC236}">
                <a16:creationId xmlns:a16="http://schemas.microsoft.com/office/drawing/2014/main" id="{2206DD69-9450-53E8-5DD0-9886AFE473C7}"/>
              </a:ext>
            </a:extLst>
          </p:cNvPr>
          <p:cNvSpPr>
            <a:spLocks noGrp="1"/>
          </p:cNvSpPr>
          <p:nvPr>
            <p:ph type="sldNum" sz="quarter" idx="10"/>
          </p:nvPr>
        </p:nvSpPr>
        <p:spPr/>
        <p:txBody>
          <a:bodyPr/>
          <a:lstStyle/>
          <a:p>
            <a:fld id="{7320D120-4707-426F-9B85-873E256A6635}" type="slidenum">
              <a:rPr lang="zh-TW" altLang="en-US" smtClean="0"/>
              <a:pPr/>
              <a:t>5</a:t>
            </a:fld>
            <a:endParaRPr lang="zh-TW" altLang="en-US"/>
          </a:p>
        </p:txBody>
      </p:sp>
    </p:spTree>
    <p:extLst>
      <p:ext uri="{BB962C8B-B14F-4D97-AF65-F5344CB8AC3E}">
        <p14:creationId xmlns:p14="http://schemas.microsoft.com/office/powerpoint/2010/main" val="2996079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rtl="0"/>
            <a:r>
              <a:rPr lang="en-US" altLang="zh-CN" sz="1200" kern="1200" dirty="0">
                <a:solidFill>
                  <a:schemeClr val="tx1"/>
                </a:solidFill>
                <a:effectLst/>
                <a:latin typeface="+mn-lt"/>
                <a:ea typeface="+mn-ea"/>
                <a:cs typeface="+mn-cs"/>
              </a:rPr>
              <a:t>This motivates us to explore generative file systems, which leverages the capabilities of Large Language Models to generate a complete file system and evolve it effectively. Although large models are very strong at writing code, it is still very difficult for them to directly write a complete and usable file system.</a:t>
            </a:r>
            <a:endParaRPr lang="zh-CN" altLang="zh-CN" dirty="0">
              <a:effectLst/>
            </a:endParaRPr>
          </a:p>
          <a:p>
            <a:pPr rtl="0"/>
            <a:r>
              <a:rPr lang="en-US" altLang="zh-CN" sz="1200" kern="1200" dirty="0">
                <a:solidFill>
                  <a:schemeClr val="tx1"/>
                </a:solidFill>
                <a:effectLst/>
                <a:latin typeface="+mn-lt"/>
                <a:ea typeface="+mn-ea"/>
                <a:cs typeface="+mn-cs"/>
              </a:rPr>
              <a:t>Describing requirements using natural language is not precise enough. However, using more rigorous "specifications" to describe what the system should do might help. But this also presents three problems:</a:t>
            </a:r>
            <a:endParaRPr lang="zh-CN" altLang="zh-CN" dirty="0">
              <a:effectLst/>
            </a:endParaRPr>
          </a:p>
          <a:p>
            <a:endParaRPr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6</a:t>
            </a:fld>
            <a:endParaRPr lang="zh-TW" altLang="en-US"/>
          </a:p>
        </p:txBody>
      </p:sp>
    </p:spTree>
    <p:extLst>
      <p:ext uri="{BB962C8B-B14F-4D97-AF65-F5344CB8AC3E}">
        <p14:creationId xmlns:p14="http://schemas.microsoft.com/office/powerpoint/2010/main" val="22371075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rtl="0"/>
            <a:r>
              <a:rPr lang="en-US" altLang="zh-CN" sz="1200" kern="1200" dirty="0">
                <a:solidFill>
                  <a:schemeClr val="tx1"/>
                </a:solidFill>
                <a:effectLst/>
                <a:latin typeface="+mn-lt"/>
                <a:ea typeface="+mn-ea"/>
                <a:cs typeface="+mn-cs"/>
              </a:rPr>
              <a:t>Challenge I: The specifications are difficult to write: the file system must not only be functionally correct, but also take into account complex situations such as concurrency and performance, which is difficult to explain in simple terms.</a:t>
            </a:r>
            <a:endParaRPr lang="zh-CN" altLang="zh-CN" dirty="0">
              <a:effectLst/>
            </a:endParaRPr>
          </a:p>
          <a:p>
            <a:pPr rtl="0"/>
            <a:r>
              <a:rPr lang="en-US" altLang="zh-CN" sz="1200" kern="1200" dirty="0">
                <a:solidFill>
                  <a:schemeClr val="tx1"/>
                </a:solidFill>
                <a:effectLst/>
                <a:latin typeface="+mn-lt"/>
                <a:ea typeface="+mn-ea"/>
                <a:cs typeface="+mn-cs"/>
              </a:rPr>
              <a:t>Challenge II: Assembling modules can easily lead to problems: the file system is too large to be generated all at once, requiring multiple modules. However, incompatible interfaces between modules, or changes to one module affecting others, all cause trouble.</a:t>
            </a:r>
            <a:endParaRPr lang="zh-CN" altLang="zh-CN" dirty="0">
              <a:effectLst/>
            </a:endParaRPr>
          </a:p>
          <a:p>
            <a:pPr rtl="0"/>
            <a:r>
              <a:rPr lang="en-US" altLang="zh-CN" sz="1200" kern="1200" dirty="0">
                <a:solidFill>
                  <a:schemeClr val="tx1"/>
                </a:solidFill>
                <a:effectLst/>
                <a:latin typeface="+mn-lt"/>
                <a:ea typeface="+mn-ea"/>
                <a:cs typeface="+mn-cs"/>
              </a:rPr>
              <a:t>Challenge III: LLMs</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are unstable: When writing code for large models, there is an hallucination; the same requirements may result in different outputs, which is unacceptable for system software. It is essential to ensure that the generated code is reliable every time.</a:t>
            </a:r>
            <a:endParaRPr lang="zh-CN" altLang="zh-CN" dirty="0">
              <a:effectLst/>
            </a:endParaRPr>
          </a:p>
          <a:p>
            <a:endParaRPr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7</a:t>
            </a:fld>
            <a:endParaRPr lang="zh-TW" altLang="en-US"/>
          </a:p>
        </p:txBody>
      </p:sp>
    </p:spTree>
    <p:extLst>
      <p:ext uri="{BB962C8B-B14F-4D97-AF65-F5344CB8AC3E}">
        <p14:creationId xmlns:p14="http://schemas.microsoft.com/office/powerpoint/2010/main" val="16725651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rtl="0"/>
            <a:r>
              <a:rPr lang="en-US" altLang="zh-CN" sz="1200" kern="1200" dirty="0">
                <a:solidFill>
                  <a:schemeClr val="tx1"/>
                </a:solidFill>
                <a:effectLst/>
                <a:latin typeface="+mn-lt"/>
                <a:ea typeface="+mn-ea"/>
                <a:cs typeface="+mn-cs"/>
              </a:rPr>
              <a:t>Several key research projects over the past few years have laid the foundation for this "automatic generation of file systems according to specifications." First, there was FSCQ, which used a logic called CHL to implement a machine-verifiable file system for the first time, although it initially lack support for multiprocessors and was slow to write. Then came </a:t>
            </a:r>
            <a:r>
              <a:rPr lang="en-US" altLang="zh-CN" sz="1200" kern="1200" dirty="0" err="1">
                <a:solidFill>
                  <a:schemeClr val="tx1"/>
                </a:solidFill>
                <a:effectLst/>
                <a:latin typeface="+mn-lt"/>
                <a:ea typeface="+mn-ea"/>
                <a:cs typeface="+mn-cs"/>
              </a:rPr>
              <a:t>AtomFS</a:t>
            </a:r>
            <a:r>
              <a:rPr lang="en-US" altLang="zh-CN" sz="1200" kern="1200" dirty="0">
                <a:solidFill>
                  <a:schemeClr val="tx1"/>
                </a:solidFill>
                <a:effectLst/>
                <a:latin typeface="+mn-lt"/>
                <a:ea typeface="+mn-ea"/>
                <a:cs typeface="+mn-cs"/>
              </a:rPr>
              <a:t>, which addressed the issue of concurrent verification on top of FSCQ, ensuring system correctness even in multi-core environments. Finally, </a:t>
            </a:r>
            <a:r>
              <a:rPr lang="en-US" altLang="zh-CN" sz="1200" kern="1200" dirty="0" err="1">
                <a:solidFill>
                  <a:schemeClr val="tx1"/>
                </a:solidFill>
                <a:effectLst/>
                <a:latin typeface="+mn-lt"/>
                <a:ea typeface="+mn-ea"/>
                <a:cs typeface="+mn-cs"/>
              </a:rPr>
              <a:t>SysSpec</a:t>
            </a:r>
            <a:r>
              <a:rPr lang="en-US" altLang="zh-CN" sz="1200" kern="1200" dirty="0">
                <a:solidFill>
                  <a:schemeClr val="tx1"/>
                </a:solidFill>
                <a:effectLst/>
                <a:latin typeface="+mn-lt"/>
                <a:ea typeface="+mn-ea"/>
                <a:cs typeface="+mn-cs"/>
              </a:rPr>
              <a:t> applied these verification methods to large models, freeing developers from writing line-by-line C code; instead, they wrote specifications that LLMs would follow to generate code, making updates easier. These three research projects have gradually propelled file systems from "manual coding and manual verification" to "automatic generation according to specifications and machine-guaranteed correctness."</a:t>
            </a:r>
            <a:endParaRPr lang="zh-CN" altLang="zh-CN" dirty="0">
              <a:effectLst/>
            </a:endParaRPr>
          </a:p>
          <a:p>
            <a:endParaRPr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8</a:t>
            </a:fld>
            <a:endParaRPr lang="zh-TW" altLang="en-US"/>
          </a:p>
        </p:txBody>
      </p:sp>
    </p:spTree>
    <p:extLst>
      <p:ext uri="{BB962C8B-B14F-4D97-AF65-F5344CB8AC3E}">
        <p14:creationId xmlns:p14="http://schemas.microsoft.com/office/powerpoint/2010/main" val="33562158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6E749-BB24-1970-827B-F05C3D3B4850}"/>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CEF3FC65-919B-A0B0-B8BD-970DDDC3E093}"/>
              </a:ext>
            </a:extLst>
          </p:cNvPr>
          <p:cNvSpPr>
            <a:spLocks noGrp="1" noRot="1" noChangeAspect="1"/>
          </p:cNvSpPr>
          <p:nvPr>
            <p:ph type="sldImg"/>
          </p:nvPr>
        </p:nvSpPr>
        <p:spPr/>
        <p:txBody>
          <a:bodyPr/>
          <a:lstStyle/>
          <a:p>
            <a:endParaRPr lang="zh-CN" altLang="en-US"/>
          </a:p>
        </p:txBody>
      </p:sp>
      <p:sp>
        <p:nvSpPr>
          <p:cNvPr id="3" name="備忘稿版面配置區 2">
            <a:extLst>
              <a:ext uri="{FF2B5EF4-FFF2-40B4-BE49-F238E27FC236}">
                <a16:creationId xmlns:a16="http://schemas.microsoft.com/office/drawing/2014/main" id="{866E9CED-CCB9-BC59-E099-621A1E956447}"/>
              </a:ext>
            </a:extLst>
          </p:cNvPr>
          <p:cNvSpPr>
            <a:spLocks noGrp="1"/>
          </p:cNvSpPr>
          <p:nvPr>
            <p:ph type="body" idx="1"/>
          </p:nvPr>
        </p:nvSpPr>
        <p:spPr/>
        <p:txBody>
          <a:bodyPr>
            <a:normAutofit/>
          </a:bodyPr>
          <a:lstStyle/>
          <a:p>
            <a:endParaRPr lang="zh-TW" altLang="en-US"/>
          </a:p>
        </p:txBody>
      </p:sp>
      <p:sp>
        <p:nvSpPr>
          <p:cNvPr id="4" name="投影片編號版面配置區 3">
            <a:extLst>
              <a:ext uri="{FF2B5EF4-FFF2-40B4-BE49-F238E27FC236}">
                <a16:creationId xmlns:a16="http://schemas.microsoft.com/office/drawing/2014/main" id="{632443A1-F494-58DA-6907-3A154D875DEF}"/>
              </a:ext>
            </a:extLst>
          </p:cNvPr>
          <p:cNvSpPr>
            <a:spLocks noGrp="1"/>
          </p:cNvSpPr>
          <p:nvPr>
            <p:ph type="sldNum" sz="quarter" idx="10"/>
          </p:nvPr>
        </p:nvSpPr>
        <p:spPr/>
        <p:txBody>
          <a:bodyPr/>
          <a:lstStyle/>
          <a:p>
            <a:fld id="{7320D120-4707-426F-9B85-873E256A6635}" type="slidenum">
              <a:rPr lang="zh-TW" altLang="en-US" smtClean="0"/>
              <a:pPr/>
              <a:t>9</a:t>
            </a:fld>
            <a:endParaRPr lang="zh-TW" altLang="en-US"/>
          </a:p>
        </p:txBody>
      </p:sp>
    </p:spTree>
    <p:extLst>
      <p:ext uri="{BB962C8B-B14F-4D97-AF65-F5344CB8AC3E}">
        <p14:creationId xmlns:p14="http://schemas.microsoft.com/office/powerpoint/2010/main" val="10045618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7FC92-D135-82EB-CF25-A4FDFF03BBBE}"/>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95B6EA7A-4740-97C1-5E02-E4A026A95ED9}"/>
              </a:ext>
            </a:extLst>
          </p:cNvPr>
          <p:cNvSpPr>
            <a:spLocks noGrp="1" noRot="1" noChangeAspect="1"/>
          </p:cNvSpPr>
          <p:nvPr>
            <p:ph type="sldImg"/>
          </p:nvPr>
        </p:nvSpPr>
        <p:spPr/>
        <p:txBody>
          <a:bodyPr/>
          <a:lstStyle/>
          <a:p>
            <a:endParaRPr lang="zh-CN" altLang="en-US"/>
          </a:p>
        </p:txBody>
      </p:sp>
      <p:sp>
        <p:nvSpPr>
          <p:cNvPr id="3" name="備忘稿版面配置區 2">
            <a:extLst>
              <a:ext uri="{FF2B5EF4-FFF2-40B4-BE49-F238E27FC236}">
                <a16:creationId xmlns:a16="http://schemas.microsoft.com/office/drawing/2014/main" id="{CFD0C20E-5D59-1D17-A4BF-20C8F1F88D70}"/>
              </a:ext>
            </a:extLst>
          </p:cNvPr>
          <p:cNvSpPr>
            <a:spLocks noGrp="1"/>
          </p:cNvSpPr>
          <p:nvPr>
            <p:ph type="body" idx="1"/>
          </p:nvPr>
        </p:nvSpPr>
        <p:spPr/>
        <p:txBody>
          <a:bodyPr>
            <a:normAutofit/>
          </a:bodyPr>
          <a:lstStyle/>
          <a:p>
            <a:pPr rtl="0"/>
            <a:r>
              <a:rPr lang="en-US" altLang="zh-CN" sz="1200" kern="1200" dirty="0">
                <a:solidFill>
                  <a:schemeClr val="tx1"/>
                </a:solidFill>
                <a:effectLst/>
                <a:latin typeface="+mn-lt"/>
                <a:ea typeface="+mn-ea"/>
                <a:cs typeface="+mn-cs"/>
              </a:rPr>
              <a:t>To address issue of verification in crashing, researchers propose Crash Hoare Logic (CHL). You can think of it as a "crash-safe" enhanced version of traditional Hoare logic. Traditional Hoare logic uses preconditions {P} and postconditions {Q} to describe the functionality of a piece of code. However, it assumes that the program either runs perfectly or doesn't run at all, failing to describe the situation where it "crashes halfway through execution."</a:t>
            </a:r>
            <a:endParaRPr lang="zh-CN" altLang="zh-CN"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First is crash conditions. Every procedure now comes with a crash condition that specifies the possible disk states at any point where a crash might occur. Second, CHL divides states into regular and recovery execution semantics. When a system crashes and reboots, it starts running the recovery procedure, which produces a recovered state. Third, Logical Address Space: To concisely describe high-level concepts such as files and directories, CHL extends the separation logic. You can describe "what is the Nth byte of a file" using "pointers," just like describing disk blocks, which greatly simplifies the writing of higher-level specifications.</a:t>
            </a:r>
            <a:endParaRPr lang="zh-CN" altLang="zh-CN" dirty="0">
              <a:effectLst/>
            </a:endParaRPr>
          </a:p>
          <a:p>
            <a:endParaRPr lang="zh-TW" altLang="en-US" dirty="0"/>
          </a:p>
        </p:txBody>
      </p:sp>
      <p:sp>
        <p:nvSpPr>
          <p:cNvPr id="4" name="投影片編號版面配置區 3">
            <a:extLst>
              <a:ext uri="{FF2B5EF4-FFF2-40B4-BE49-F238E27FC236}">
                <a16:creationId xmlns:a16="http://schemas.microsoft.com/office/drawing/2014/main" id="{E1845B80-1B6E-F2A4-A731-72B86DCD1266}"/>
              </a:ext>
            </a:extLst>
          </p:cNvPr>
          <p:cNvSpPr>
            <a:spLocks noGrp="1"/>
          </p:cNvSpPr>
          <p:nvPr>
            <p:ph type="sldNum" sz="quarter" idx="10"/>
          </p:nvPr>
        </p:nvSpPr>
        <p:spPr/>
        <p:txBody>
          <a:bodyPr/>
          <a:lstStyle/>
          <a:p>
            <a:fld id="{7320D120-4707-426F-9B85-873E256A6635}" type="slidenum">
              <a:rPr lang="zh-TW" altLang="en-US" smtClean="0"/>
              <a:pPr/>
              <a:t>10</a:t>
            </a:fld>
            <a:endParaRPr lang="zh-TW" altLang="en-US"/>
          </a:p>
        </p:txBody>
      </p:sp>
    </p:spTree>
    <p:extLst>
      <p:ext uri="{BB962C8B-B14F-4D97-AF65-F5344CB8AC3E}">
        <p14:creationId xmlns:p14="http://schemas.microsoft.com/office/powerpoint/2010/main" val="681818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3F59A-E786-BBE5-4560-C4216171C539}"/>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8F723AB3-B740-FF23-AA82-E07461304895}"/>
              </a:ext>
            </a:extLst>
          </p:cNvPr>
          <p:cNvSpPr>
            <a:spLocks noGrp="1" noRot="1" noChangeAspect="1"/>
          </p:cNvSpPr>
          <p:nvPr>
            <p:ph type="sldImg"/>
          </p:nvPr>
        </p:nvSpPr>
        <p:spPr/>
        <p:txBody>
          <a:bodyPr/>
          <a:lstStyle/>
          <a:p>
            <a:endParaRPr lang="zh-CN" altLang="en-US"/>
          </a:p>
        </p:txBody>
      </p:sp>
      <p:sp>
        <p:nvSpPr>
          <p:cNvPr id="3" name="備忘稿版面配置區 2">
            <a:extLst>
              <a:ext uri="{FF2B5EF4-FFF2-40B4-BE49-F238E27FC236}">
                <a16:creationId xmlns:a16="http://schemas.microsoft.com/office/drawing/2014/main" id="{B1B00CE2-D2CE-39C6-1471-84E8D693DA84}"/>
              </a:ext>
            </a:extLst>
          </p:cNvPr>
          <p:cNvSpPr>
            <a:spLocks noGrp="1"/>
          </p:cNvSpPr>
          <p:nvPr>
            <p:ph type="body" idx="1"/>
          </p:nvPr>
        </p:nvSpPr>
        <p:spPr/>
        <p:txBody>
          <a:bodyPr>
            <a:normAutofit/>
          </a:bodyPr>
          <a:lstStyle/>
          <a:p>
            <a:pPr rtl="0"/>
            <a:r>
              <a:rPr lang="en-US" altLang="zh-CN" sz="1200" kern="1200" dirty="0">
                <a:solidFill>
                  <a:schemeClr val="tx1"/>
                </a:solidFill>
                <a:effectLst/>
                <a:latin typeface="+mn-lt"/>
                <a:ea typeface="+mn-ea"/>
                <a:cs typeface="+mn-cs"/>
              </a:rPr>
              <a:t>Based on CHL, they developed the FSCQ file system. Its design draws inspiration from the teaching system xv6 and employs a layered architecture, with each layer utilizing CHL to ensure its correctness.</a:t>
            </a:r>
            <a:endParaRPr lang="zh-CN" altLang="zh-CN" dirty="0">
              <a:effectLst/>
            </a:endParaRPr>
          </a:p>
        </p:txBody>
      </p:sp>
      <p:sp>
        <p:nvSpPr>
          <p:cNvPr id="4" name="投影片編號版面配置區 3">
            <a:extLst>
              <a:ext uri="{FF2B5EF4-FFF2-40B4-BE49-F238E27FC236}">
                <a16:creationId xmlns:a16="http://schemas.microsoft.com/office/drawing/2014/main" id="{6E4F6406-34A3-0D2E-FED7-35D6CD46859D}"/>
              </a:ext>
            </a:extLst>
          </p:cNvPr>
          <p:cNvSpPr>
            <a:spLocks noGrp="1"/>
          </p:cNvSpPr>
          <p:nvPr>
            <p:ph type="sldNum" sz="quarter" idx="10"/>
          </p:nvPr>
        </p:nvSpPr>
        <p:spPr/>
        <p:txBody>
          <a:bodyPr/>
          <a:lstStyle/>
          <a:p>
            <a:fld id="{7320D120-4707-426F-9B85-873E256A6635}" type="slidenum">
              <a:rPr lang="zh-TW" altLang="en-US" smtClean="0"/>
              <a:pPr/>
              <a:t>11</a:t>
            </a:fld>
            <a:endParaRPr lang="zh-TW" altLang="en-US"/>
          </a:p>
        </p:txBody>
      </p:sp>
    </p:spTree>
    <p:extLst>
      <p:ext uri="{BB962C8B-B14F-4D97-AF65-F5344CB8AC3E}">
        <p14:creationId xmlns:p14="http://schemas.microsoft.com/office/powerpoint/2010/main" val="34485362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B698A-9490-CFAE-CA05-88E71D049C7C}"/>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96E32984-083E-5DC6-B1E8-7428BC3AAEEA}"/>
              </a:ext>
            </a:extLst>
          </p:cNvPr>
          <p:cNvSpPr>
            <a:spLocks noGrp="1" noRot="1" noChangeAspect="1"/>
          </p:cNvSpPr>
          <p:nvPr>
            <p:ph type="sldImg"/>
          </p:nvPr>
        </p:nvSpPr>
        <p:spPr/>
        <p:txBody>
          <a:bodyPr/>
          <a:lstStyle/>
          <a:p>
            <a:endParaRPr lang="zh-CN" altLang="en-US"/>
          </a:p>
        </p:txBody>
      </p:sp>
      <p:sp>
        <p:nvSpPr>
          <p:cNvPr id="3" name="備忘稿版面配置區 2">
            <a:extLst>
              <a:ext uri="{FF2B5EF4-FFF2-40B4-BE49-F238E27FC236}">
                <a16:creationId xmlns:a16="http://schemas.microsoft.com/office/drawing/2014/main" id="{519D27A3-8A02-C4F1-0DAB-4A3B9A217F2C}"/>
              </a:ext>
            </a:extLst>
          </p:cNvPr>
          <p:cNvSpPr>
            <a:spLocks noGrp="1"/>
          </p:cNvSpPr>
          <p:nvPr>
            <p:ph type="body" idx="1"/>
          </p:nvPr>
        </p:nvSpPr>
        <p:spPr/>
        <p:txBody>
          <a:bodyPr>
            <a:normAutofit/>
          </a:bodyPr>
          <a:lstStyle/>
          <a:p>
            <a:pPr rtl="0"/>
            <a:r>
              <a:rPr lang="en-US" altLang="zh-CN" sz="1200" kern="1200" dirty="0">
                <a:solidFill>
                  <a:schemeClr val="tx1"/>
                </a:solidFill>
                <a:effectLst/>
                <a:latin typeface="+mn-lt"/>
                <a:ea typeface="+mn-ea"/>
                <a:cs typeface="+mn-cs"/>
              </a:rPr>
              <a:t>At the bottom layer is </a:t>
            </a:r>
            <a:r>
              <a:rPr lang="en-US" altLang="zh-CN" sz="1200" kern="1200" dirty="0" err="1">
                <a:solidFill>
                  <a:schemeClr val="tx1"/>
                </a:solidFill>
                <a:effectLst/>
                <a:latin typeface="+mn-lt"/>
                <a:ea typeface="+mn-ea"/>
                <a:cs typeface="+mn-cs"/>
              </a:rPr>
              <a:t>FscqLog</a:t>
            </a:r>
            <a:r>
              <a:rPr lang="en-US" altLang="zh-CN" sz="1200" kern="1200" dirty="0">
                <a:solidFill>
                  <a:schemeClr val="tx1"/>
                </a:solidFill>
                <a:effectLst/>
                <a:latin typeface="+mn-lt"/>
                <a:ea typeface="+mn-ea"/>
                <a:cs typeface="+mn-cs"/>
              </a:rPr>
              <a:t>, a pre-write logging system. It encapsulates asynchronous, potentially out-of-order physical disk operations into a synchronous logical disk that provides "atomic transactions." Regardless of when a crash occurs, </a:t>
            </a:r>
            <a:r>
              <a:rPr lang="en-US" altLang="zh-CN" sz="1200" kern="1200" dirty="0" err="1">
                <a:solidFill>
                  <a:schemeClr val="tx1"/>
                </a:solidFill>
                <a:effectLst/>
                <a:latin typeface="+mn-lt"/>
                <a:ea typeface="+mn-ea"/>
                <a:cs typeface="+mn-cs"/>
              </a:rPr>
              <a:t>FscqLog</a:t>
            </a:r>
            <a:r>
              <a:rPr lang="en-US" altLang="zh-CN" sz="1200" kern="1200" dirty="0">
                <a:solidFill>
                  <a:schemeClr val="tx1"/>
                </a:solidFill>
                <a:effectLst/>
                <a:latin typeface="+mn-lt"/>
                <a:ea typeface="+mn-ea"/>
                <a:cs typeface="+mn-cs"/>
              </a:rPr>
              <a:t> guarantees that transactions either complete entirely or are not executed at all. The upper layers include </a:t>
            </a:r>
            <a:r>
              <a:rPr lang="en-US" altLang="zh-CN" sz="1200" kern="1200" dirty="0" err="1">
                <a:solidFill>
                  <a:schemeClr val="tx1"/>
                </a:solidFill>
                <a:effectLst/>
                <a:latin typeface="+mn-lt"/>
                <a:ea typeface="+mn-ea"/>
                <a:cs typeface="+mn-cs"/>
              </a:rPr>
              <a:t>inode</a:t>
            </a:r>
            <a:r>
              <a:rPr lang="en-US" altLang="zh-CN" sz="1200" kern="1200" dirty="0">
                <a:solidFill>
                  <a:schemeClr val="tx1"/>
                </a:solidFill>
                <a:effectLst/>
                <a:latin typeface="+mn-lt"/>
                <a:ea typeface="+mn-ea"/>
                <a:cs typeface="+mn-cs"/>
              </a:rPr>
              <a:t> management, the directory tree, and ultimately, the POSIX system call interface. Because the underlying logging layer handles the complexities of crashes, the upper layers can focus on file system logic, greatly simplifying verification work.</a:t>
            </a:r>
            <a:endParaRPr lang="zh-CN" altLang="zh-CN"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dirty="0">
              <a:effectLst/>
            </a:endParaRPr>
          </a:p>
          <a:p>
            <a:endParaRPr lang="zh-TW" altLang="en-US" dirty="0"/>
          </a:p>
        </p:txBody>
      </p:sp>
      <p:sp>
        <p:nvSpPr>
          <p:cNvPr id="4" name="投影片編號版面配置區 3">
            <a:extLst>
              <a:ext uri="{FF2B5EF4-FFF2-40B4-BE49-F238E27FC236}">
                <a16:creationId xmlns:a16="http://schemas.microsoft.com/office/drawing/2014/main" id="{59381D97-604B-32E5-2098-515D77535155}"/>
              </a:ext>
            </a:extLst>
          </p:cNvPr>
          <p:cNvSpPr>
            <a:spLocks noGrp="1"/>
          </p:cNvSpPr>
          <p:nvPr>
            <p:ph type="sldNum" sz="quarter" idx="10"/>
          </p:nvPr>
        </p:nvSpPr>
        <p:spPr/>
        <p:txBody>
          <a:bodyPr/>
          <a:lstStyle/>
          <a:p>
            <a:fld id="{7320D120-4707-426F-9B85-873E256A6635}" type="slidenum">
              <a:rPr lang="zh-TW" altLang="en-US" smtClean="0"/>
              <a:pPr/>
              <a:t>12</a:t>
            </a:fld>
            <a:endParaRPr lang="zh-TW" altLang="en-US"/>
          </a:p>
        </p:txBody>
      </p:sp>
    </p:spTree>
    <p:extLst>
      <p:ext uri="{BB962C8B-B14F-4D97-AF65-F5344CB8AC3E}">
        <p14:creationId xmlns:p14="http://schemas.microsoft.com/office/powerpoint/2010/main" val="18346465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0F2C3-3DF0-692B-0FFC-30FF5ED1B1C0}"/>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F8604056-5C99-77DE-4AD3-20192D300444}"/>
              </a:ext>
            </a:extLst>
          </p:cNvPr>
          <p:cNvSpPr>
            <a:spLocks noGrp="1" noRot="1" noChangeAspect="1"/>
          </p:cNvSpPr>
          <p:nvPr>
            <p:ph type="sldImg"/>
          </p:nvPr>
        </p:nvSpPr>
        <p:spPr/>
        <p:txBody>
          <a:bodyPr/>
          <a:lstStyle/>
          <a:p>
            <a:endParaRPr lang="zh-CN" altLang="en-US"/>
          </a:p>
        </p:txBody>
      </p:sp>
      <p:sp>
        <p:nvSpPr>
          <p:cNvPr id="3" name="備忘稿版面配置區 2">
            <a:extLst>
              <a:ext uri="{FF2B5EF4-FFF2-40B4-BE49-F238E27FC236}">
                <a16:creationId xmlns:a16="http://schemas.microsoft.com/office/drawing/2014/main" id="{001CE073-E543-0E4D-8DAA-A6C4FDB34D69}"/>
              </a:ext>
            </a:extLst>
          </p:cNvPr>
          <p:cNvSpPr>
            <a:spLocks noGrp="1"/>
          </p:cNvSpPr>
          <p:nvPr>
            <p:ph type="body" idx="1"/>
          </p:nvPr>
        </p:nvSpPr>
        <p:spPr/>
        <p:txBody>
          <a:bodyPr>
            <a:normAutofit/>
          </a:bodyPr>
          <a:lstStyle/>
          <a:p>
            <a:pPr rtl="0"/>
            <a:r>
              <a:rPr lang="en-US" altLang="zh-CN" sz="1200" kern="1200" dirty="0">
                <a:solidFill>
                  <a:schemeClr val="tx1"/>
                </a:solidFill>
                <a:effectLst/>
                <a:latin typeface="+mn-lt"/>
                <a:ea typeface="+mn-ea"/>
                <a:cs typeface="+mn-cs"/>
              </a:rPr>
              <a:t>Authors completed the implementation and verification of FSCQ in the Coq proof helper. This means we have a machine-checkable mathematical proof that ensures: No data loss: No allocated disk blocks or </a:t>
            </a:r>
            <a:r>
              <a:rPr lang="en-US" altLang="zh-CN" sz="1200" kern="1200" dirty="0" err="1">
                <a:solidFill>
                  <a:schemeClr val="tx1"/>
                </a:solidFill>
                <a:effectLst/>
                <a:latin typeface="+mn-lt"/>
                <a:ea typeface="+mn-ea"/>
                <a:cs typeface="+mn-cs"/>
              </a:rPr>
              <a:t>inodes</a:t>
            </a:r>
            <a:r>
              <a:rPr lang="en-US" altLang="zh-CN" sz="1200" kern="1200" dirty="0">
                <a:solidFill>
                  <a:schemeClr val="tx1"/>
                </a:solidFill>
                <a:effectLst/>
                <a:latin typeface="+mn-lt"/>
                <a:ea typeface="+mn-ea"/>
                <a:cs typeface="+mn-cs"/>
              </a:rPr>
              <a:t> will be lost. Structural consistency: The directory structure is always a tree, with no cycles. Operation atomicity: System calls like `rename` either fully take effect or roll back to their previous state after a crash, never leaving intermediate states like "the file was renamed, but the directory entry wasn't updated."</a:t>
            </a:r>
            <a:endParaRPr lang="zh-CN" altLang="zh-CN" dirty="0">
              <a:effectLst/>
            </a:endParaRPr>
          </a:p>
        </p:txBody>
      </p:sp>
      <p:sp>
        <p:nvSpPr>
          <p:cNvPr id="4" name="投影片編號版面配置區 3">
            <a:extLst>
              <a:ext uri="{FF2B5EF4-FFF2-40B4-BE49-F238E27FC236}">
                <a16:creationId xmlns:a16="http://schemas.microsoft.com/office/drawing/2014/main" id="{758A52FE-1234-9CEE-D5FD-B3FA188BBA3E}"/>
              </a:ext>
            </a:extLst>
          </p:cNvPr>
          <p:cNvSpPr>
            <a:spLocks noGrp="1"/>
          </p:cNvSpPr>
          <p:nvPr>
            <p:ph type="sldNum" sz="quarter" idx="10"/>
          </p:nvPr>
        </p:nvSpPr>
        <p:spPr/>
        <p:txBody>
          <a:bodyPr/>
          <a:lstStyle/>
          <a:p>
            <a:fld id="{7320D120-4707-426F-9B85-873E256A6635}" type="slidenum">
              <a:rPr lang="zh-TW" altLang="en-US" smtClean="0"/>
              <a:pPr/>
              <a:t>13</a:t>
            </a:fld>
            <a:endParaRPr lang="zh-TW" altLang="en-US"/>
          </a:p>
        </p:txBody>
      </p:sp>
    </p:spTree>
    <p:extLst>
      <p:ext uri="{BB962C8B-B14F-4D97-AF65-F5344CB8AC3E}">
        <p14:creationId xmlns:p14="http://schemas.microsoft.com/office/powerpoint/2010/main" val="20816968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F01DE-B4BD-823A-E06E-46D43A02E8AB}"/>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851B485A-C403-213B-7228-D4734F43233D}"/>
              </a:ext>
            </a:extLst>
          </p:cNvPr>
          <p:cNvSpPr>
            <a:spLocks noGrp="1" noRot="1" noChangeAspect="1"/>
          </p:cNvSpPr>
          <p:nvPr>
            <p:ph type="sldImg"/>
          </p:nvPr>
        </p:nvSpPr>
        <p:spPr/>
        <p:txBody>
          <a:bodyPr/>
          <a:lstStyle/>
          <a:p>
            <a:endParaRPr lang="zh-CN" altLang="en-US"/>
          </a:p>
        </p:txBody>
      </p:sp>
      <p:sp>
        <p:nvSpPr>
          <p:cNvPr id="3" name="備忘稿版面配置區 2">
            <a:extLst>
              <a:ext uri="{FF2B5EF4-FFF2-40B4-BE49-F238E27FC236}">
                <a16:creationId xmlns:a16="http://schemas.microsoft.com/office/drawing/2014/main" id="{FCEBECC4-D1D3-E7E7-6A11-36F8C766C9B1}"/>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Now, turning to evaluation: How well does this approach work in practice? First, regarding correctness, FSCQ eliminates entire classes of bugs that have plagued production file systems. Theorems guarantee that FSCQ maintains the tree structure of directories—preventing cycles that could cause hangs. Resource allocation never loses blocks or </a:t>
            </a:r>
            <a:r>
              <a:rPr lang="en-US" altLang="zh-CN" sz="1200" kern="1200" dirty="0" err="1">
                <a:solidFill>
                  <a:schemeClr val="tx1"/>
                </a:solidFill>
                <a:effectLst/>
                <a:latin typeface="+mn-lt"/>
                <a:ea typeface="+mn-ea"/>
                <a:cs typeface="+mn-cs"/>
              </a:rPr>
              <a:t>inodes</a:t>
            </a:r>
            <a:r>
              <a:rPr lang="en-US" altLang="zh-CN" sz="1200" kern="1200" dirty="0">
                <a:solidFill>
                  <a:schemeClr val="tx1"/>
                </a:solidFill>
                <a:effectLst/>
                <a:latin typeface="+mn-lt"/>
                <a:ea typeface="+mn-ea"/>
                <a:cs typeface="+mn-cs"/>
              </a:rPr>
              <a:t>. The logging layer ensures that system calls are atomic with respect to crashes: either all writes in a transaction persist, or none do. This prevents the "atomicity violations" where, for example, a file is partially created or a rename leaves the file system in an inconsistent state.</a:t>
            </a:r>
            <a:endParaRPr lang="zh-CN" altLang="zh-CN"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Researchers validated this through systematic crash testing. They ran workloads that create files, modify directories, and move data, recording all disk writes and syncs. By taking every possible prefix of writes up to each sync point and combining them with every subset of subsequent </a:t>
            </a:r>
            <a:r>
              <a:rPr lang="en-US" altLang="zh-CN" sz="1200" kern="1200" dirty="0" err="1">
                <a:solidFill>
                  <a:schemeClr val="tx1"/>
                </a:solidFill>
                <a:effectLst/>
                <a:latin typeface="+mn-lt"/>
                <a:ea typeface="+mn-ea"/>
                <a:cs typeface="+mn-cs"/>
              </a:rPr>
              <a:t>unsynced</a:t>
            </a:r>
            <a:r>
              <a:rPr lang="en-US" altLang="zh-CN" sz="1200" kern="1200" dirty="0">
                <a:solidFill>
                  <a:schemeClr val="tx1"/>
                </a:solidFill>
                <a:effectLst/>
                <a:latin typeface="+mn-lt"/>
                <a:ea typeface="+mn-ea"/>
                <a:cs typeface="+mn-cs"/>
              </a:rPr>
              <a:t> writes, they generated 320 distinct crash states. After running FSCQ's recovery procedure on each, they found only 10 distinct logical states, all of which were consistent with POSIX semantics—either the operation completed or it rolled back completely. This gives confidence that specifications capture the intended behavior and that the unverified components, such as the FUSE driver, do not introduce inconsistencies.</a:t>
            </a:r>
            <a:endParaRPr lang="zh-CN" altLang="zh-CN" dirty="0">
              <a:effectLst/>
            </a:endParaRPr>
          </a:p>
          <a:p>
            <a:endParaRPr lang="zh-TW" altLang="en-US" dirty="0"/>
          </a:p>
        </p:txBody>
      </p:sp>
      <p:sp>
        <p:nvSpPr>
          <p:cNvPr id="4" name="投影片編號版面配置區 3">
            <a:extLst>
              <a:ext uri="{FF2B5EF4-FFF2-40B4-BE49-F238E27FC236}">
                <a16:creationId xmlns:a16="http://schemas.microsoft.com/office/drawing/2014/main" id="{0C0FC2C9-D631-B0CF-3E8C-A357B2B9FD51}"/>
              </a:ext>
            </a:extLst>
          </p:cNvPr>
          <p:cNvSpPr>
            <a:spLocks noGrp="1"/>
          </p:cNvSpPr>
          <p:nvPr>
            <p:ph type="sldNum" sz="quarter" idx="10"/>
          </p:nvPr>
        </p:nvSpPr>
        <p:spPr/>
        <p:txBody>
          <a:bodyPr/>
          <a:lstStyle/>
          <a:p>
            <a:fld id="{7320D120-4707-426F-9B85-873E256A6635}" type="slidenum">
              <a:rPr lang="zh-TW" altLang="en-US" smtClean="0"/>
              <a:pPr/>
              <a:t>14</a:t>
            </a:fld>
            <a:endParaRPr lang="zh-TW" altLang="en-US"/>
          </a:p>
        </p:txBody>
      </p:sp>
    </p:spTree>
    <p:extLst>
      <p:ext uri="{BB962C8B-B14F-4D97-AF65-F5344CB8AC3E}">
        <p14:creationId xmlns:p14="http://schemas.microsoft.com/office/powerpoint/2010/main" val="23142384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67980-C11B-36AE-9A7F-1155A4DF9C3C}"/>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C721E023-B8E2-976F-7E4A-1AAE0690FAB8}"/>
              </a:ext>
            </a:extLst>
          </p:cNvPr>
          <p:cNvSpPr>
            <a:spLocks noGrp="1" noRot="1" noChangeAspect="1"/>
          </p:cNvSpPr>
          <p:nvPr>
            <p:ph type="sldImg"/>
          </p:nvPr>
        </p:nvSpPr>
        <p:spPr/>
        <p:txBody>
          <a:bodyPr/>
          <a:lstStyle/>
          <a:p>
            <a:endParaRPr lang="zh-CN" altLang="en-US"/>
          </a:p>
        </p:txBody>
      </p:sp>
      <p:sp>
        <p:nvSpPr>
          <p:cNvPr id="3" name="備忘稿版面配置區 2">
            <a:extLst>
              <a:ext uri="{FF2B5EF4-FFF2-40B4-BE49-F238E27FC236}">
                <a16:creationId xmlns:a16="http://schemas.microsoft.com/office/drawing/2014/main" id="{134311A3-8825-9D50-0BBD-C91FDBCC2382}"/>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Performance-wise, FSCQ demonstrates that verified systems can achieve usable performance. Compared against xv6—a similar educational file system with write-ahead logging—FSCQ performs comparably. For example, compiling the xv6 source code takes same time on FSCQ and xv6, both running on an SSD. The gap between FSCQ and production systems like ext4 comes from design choices rather than verification overhead. FSCQ uses a simple logging protocol that requires four disk syncs per commit versus ext4's two, and ext4 employs optimizations like asynchronous journal commits and ordered data mode that have not yet implemented by FSCQ. The CPU overhead of FSCQ—implemented in Haskell extracted from Coq—is roughly 4x that of xv6's C implementation, but this is an artifact of the extraction process, not the logic itself.</a:t>
            </a:r>
            <a:endParaRPr lang="zh-TW" altLang="en-US" dirty="0"/>
          </a:p>
        </p:txBody>
      </p:sp>
      <p:sp>
        <p:nvSpPr>
          <p:cNvPr id="4" name="投影片編號版面配置區 3">
            <a:extLst>
              <a:ext uri="{FF2B5EF4-FFF2-40B4-BE49-F238E27FC236}">
                <a16:creationId xmlns:a16="http://schemas.microsoft.com/office/drawing/2014/main" id="{9CD83160-66FC-9BC7-9D2A-AA6D0332F0F6}"/>
              </a:ext>
            </a:extLst>
          </p:cNvPr>
          <p:cNvSpPr>
            <a:spLocks noGrp="1"/>
          </p:cNvSpPr>
          <p:nvPr>
            <p:ph type="sldNum" sz="quarter" idx="10"/>
          </p:nvPr>
        </p:nvSpPr>
        <p:spPr/>
        <p:txBody>
          <a:bodyPr/>
          <a:lstStyle/>
          <a:p>
            <a:fld id="{7320D120-4707-426F-9B85-873E256A6635}" type="slidenum">
              <a:rPr lang="zh-TW" altLang="en-US" smtClean="0"/>
              <a:pPr/>
              <a:t>15</a:t>
            </a:fld>
            <a:endParaRPr lang="zh-TW" altLang="en-US"/>
          </a:p>
        </p:txBody>
      </p:sp>
    </p:spTree>
    <p:extLst>
      <p:ext uri="{BB962C8B-B14F-4D97-AF65-F5344CB8AC3E}">
        <p14:creationId xmlns:p14="http://schemas.microsoft.com/office/powerpoint/2010/main" val="16014733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76FAA-9D0A-16F3-AFED-DB3743458524}"/>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315265A5-6321-F113-EAF0-781BA98934A0}"/>
              </a:ext>
            </a:extLst>
          </p:cNvPr>
          <p:cNvSpPr>
            <a:spLocks noGrp="1" noRot="1" noChangeAspect="1"/>
          </p:cNvSpPr>
          <p:nvPr>
            <p:ph type="sldImg"/>
          </p:nvPr>
        </p:nvSpPr>
        <p:spPr/>
        <p:txBody>
          <a:bodyPr/>
          <a:lstStyle/>
          <a:p>
            <a:endParaRPr lang="zh-CN" altLang="en-US"/>
          </a:p>
        </p:txBody>
      </p:sp>
      <p:sp>
        <p:nvSpPr>
          <p:cNvPr id="3" name="備忘稿版面配置區 2">
            <a:extLst>
              <a:ext uri="{FF2B5EF4-FFF2-40B4-BE49-F238E27FC236}">
                <a16:creationId xmlns:a16="http://schemas.microsoft.com/office/drawing/2014/main" id="{CC67C731-B5D3-BAFB-6FA3-B711E98BF696}"/>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Finally, regarding development effort: FSCQ consists of approximately 30,000 lines of Coq code, compared to 3,000 lines of C for xv6. This includes the CHL infrastructure, proof automation, and all specifications. More importantly, the architecture supports incremental evolution. When researchers added asynchronous disk writes to </a:t>
            </a:r>
            <a:r>
              <a:rPr lang="en-US" altLang="zh-CN" sz="1200" kern="1200" dirty="0" err="1">
                <a:solidFill>
                  <a:schemeClr val="tx1"/>
                </a:solidFill>
                <a:effectLst/>
                <a:latin typeface="+mn-lt"/>
                <a:ea typeface="+mn-ea"/>
                <a:cs typeface="+mn-cs"/>
              </a:rPr>
              <a:t>FscqLog</a:t>
            </a:r>
            <a:r>
              <a:rPr lang="en-US" altLang="zh-CN" sz="1200" kern="1200" dirty="0">
                <a:solidFill>
                  <a:schemeClr val="tx1"/>
                </a:solidFill>
                <a:effectLst/>
                <a:latin typeface="+mn-lt"/>
                <a:ea typeface="+mn-ea"/>
                <a:cs typeface="+mn-cs"/>
              </a:rPr>
              <a:t>—changing about 1,000 lines—the layers above required no modifications because the logical interface remained synchronous. Adding indirect blocks touched only 1,500 lines in the </a:t>
            </a:r>
            <a:r>
              <a:rPr lang="en-US" altLang="zh-CN" sz="1200" kern="1200" dirty="0" err="1">
                <a:solidFill>
                  <a:schemeClr val="tx1"/>
                </a:solidFill>
                <a:effectLst/>
                <a:latin typeface="+mn-lt"/>
                <a:ea typeface="+mn-ea"/>
                <a:cs typeface="+mn-cs"/>
              </a:rPr>
              <a:t>inode</a:t>
            </a:r>
            <a:r>
              <a:rPr lang="en-US" altLang="zh-CN" sz="1200" kern="1200" dirty="0">
                <a:solidFill>
                  <a:schemeClr val="tx1"/>
                </a:solidFill>
                <a:effectLst/>
                <a:latin typeface="+mn-lt"/>
                <a:ea typeface="+mn-ea"/>
                <a:cs typeface="+mn-cs"/>
              </a:rPr>
              <a:t> layer. Even adding a buffer cache, which required threading mutable state through functional implementation, changed only about 900 lines across the entire system. These case studies demonstrate that once the infrastructure exists, adding features requires effort proportional to the complexity of the feature itself, not a complete re-proof of the entire system.</a:t>
            </a:r>
            <a:endParaRPr lang="zh-TW" altLang="en-US" dirty="0"/>
          </a:p>
        </p:txBody>
      </p:sp>
      <p:sp>
        <p:nvSpPr>
          <p:cNvPr id="4" name="投影片編號版面配置區 3">
            <a:extLst>
              <a:ext uri="{FF2B5EF4-FFF2-40B4-BE49-F238E27FC236}">
                <a16:creationId xmlns:a16="http://schemas.microsoft.com/office/drawing/2014/main" id="{445FE018-E884-846D-45D1-75DCB2F28CA3}"/>
              </a:ext>
            </a:extLst>
          </p:cNvPr>
          <p:cNvSpPr>
            <a:spLocks noGrp="1"/>
          </p:cNvSpPr>
          <p:nvPr>
            <p:ph type="sldNum" sz="quarter" idx="10"/>
          </p:nvPr>
        </p:nvSpPr>
        <p:spPr/>
        <p:txBody>
          <a:bodyPr/>
          <a:lstStyle/>
          <a:p>
            <a:fld id="{7320D120-4707-426F-9B85-873E256A6635}" type="slidenum">
              <a:rPr lang="zh-TW" altLang="en-US" smtClean="0"/>
              <a:pPr/>
              <a:t>16</a:t>
            </a:fld>
            <a:endParaRPr lang="zh-TW" altLang="en-US"/>
          </a:p>
        </p:txBody>
      </p:sp>
    </p:spTree>
    <p:extLst>
      <p:ext uri="{BB962C8B-B14F-4D97-AF65-F5344CB8AC3E}">
        <p14:creationId xmlns:p14="http://schemas.microsoft.com/office/powerpoint/2010/main" val="6034507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9A2E1-8026-96EC-D2E6-D7E0887741A9}"/>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27F76D90-D759-DFD5-71D5-22C426864849}"/>
              </a:ext>
            </a:extLst>
          </p:cNvPr>
          <p:cNvSpPr>
            <a:spLocks noGrp="1" noRot="1" noChangeAspect="1"/>
          </p:cNvSpPr>
          <p:nvPr>
            <p:ph type="sldImg"/>
          </p:nvPr>
        </p:nvSpPr>
        <p:spPr/>
        <p:txBody>
          <a:bodyPr/>
          <a:lstStyle/>
          <a:p>
            <a:endParaRPr lang="zh-CN" altLang="en-US"/>
          </a:p>
        </p:txBody>
      </p:sp>
      <p:sp>
        <p:nvSpPr>
          <p:cNvPr id="3" name="備忘稿版面配置區 2">
            <a:extLst>
              <a:ext uri="{FF2B5EF4-FFF2-40B4-BE49-F238E27FC236}">
                <a16:creationId xmlns:a16="http://schemas.microsoft.com/office/drawing/2014/main" id="{E69C20E3-26B6-AEF7-4960-782B86435FB6}"/>
              </a:ext>
            </a:extLst>
          </p:cNvPr>
          <p:cNvSpPr>
            <a:spLocks noGrp="1"/>
          </p:cNvSpPr>
          <p:nvPr>
            <p:ph type="body" idx="1"/>
          </p:nvPr>
        </p:nvSpPr>
        <p:spPr/>
        <p:txBody>
          <a:bodyPr>
            <a:normAutofit/>
          </a:bodyPr>
          <a:lstStyle/>
          <a:p>
            <a:endParaRPr lang="zh-TW" altLang="en-US"/>
          </a:p>
        </p:txBody>
      </p:sp>
      <p:sp>
        <p:nvSpPr>
          <p:cNvPr id="4" name="投影片編號版面配置區 3">
            <a:extLst>
              <a:ext uri="{FF2B5EF4-FFF2-40B4-BE49-F238E27FC236}">
                <a16:creationId xmlns:a16="http://schemas.microsoft.com/office/drawing/2014/main" id="{6C524048-B39F-4F65-7C38-B25888FE639C}"/>
              </a:ext>
            </a:extLst>
          </p:cNvPr>
          <p:cNvSpPr>
            <a:spLocks noGrp="1"/>
          </p:cNvSpPr>
          <p:nvPr>
            <p:ph type="sldNum" sz="quarter" idx="10"/>
          </p:nvPr>
        </p:nvSpPr>
        <p:spPr/>
        <p:txBody>
          <a:bodyPr/>
          <a:lstStyle/>
          <a:p>
            <a:fld id="{7320D120-4707-426F-9B85-873E256A6635}" type="slidenum">
              <a:rPr lang="zh-TW" altLang="en-US" smtClean="0"/>
              <a:pPr/>
              <a:t>17</a:t>
            </a:fld>
            <a:endParaRPr lang="zh-TW" altLang="en-US"/>
          </a:p>
        </p:txBody>
      </p:sp>
    </p:spTree>
    <p:extLst>
      <p:ext uri="{BB962C8B-B14F-4D97-AF65-F5344CB8AC3E}">
        <p14:creationId xmlns:p14="http://schemas.microsoft.com/office/powerpoint/2010/main" val="11182714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46A70-9816-B606-DD58-014681DB4AC1}"/>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F0FFABC1-9407-96CB-23C9-5F2A1978332C}"/>
              </a:ext>
            </a:extLst>
          </p:cNvPr>
          <p:cNvSpPr>
            <a:spLocks noGrp="1" noRot="1" noChangeAspect="1"/>
          </p:cNvSpPr>
          <p:nvPr>
            <p:ph type="sldImg"/>
          </p:nvPr>
        </p:nvSpPr>
        <p:spPr/>
        <p:txBody>
          <a:bodyPr/>
          <a:lstStyle/>
          <a:p>
            <a:endParaRPr lang="zh-CN" altLang="en-US"/>
          </a:p>
        </p:txBody>
      </p:sp>
      <p:sp>
        <p:nvSpPr>
          <p:cNvPr id="3" name="備忘稿版面配置區 2">
            <a:extLst>
              <a:ext uri="{FF2B5EF4-FFF2-40B4-BE49-F238E27FC236}">
                <a16:creationId xmlns:a16="http://schemas.microsoft.com/office/drawing/2014/main" id="{0295A61D-EFF8-3BB4-6486-5F585F15E951}"/>
              </a:ext>
            </a:extLst>
          </p:cNvPr>
          <p:cNvSpPr>
            <a:spLocks noGrp="1"/>
          </p:cNvSpPr>
          <p:nvPr>
            <p:ph type="body" idx="1"/>
          </p:nvPr>
        </p:nvSpPr>
        <p:spPr/>
        <p:txBody>
          <a:bodyPr>
            <a:normAutofit/>
          </a:bodyPr>
          <a:lstStyle/>
          <a:p>
            <a:pPr rtl="0"/>
            <a:r>
              <a:rPr lang="en-US" altLang="zh-CN" sz="1200" kern="1200" dirty="0">
                <a:solidFill>
                  <a:schemeClr val="tx1"/>
                </a:solidFill>
                <a:effectLst/>
                <a:latin typeface="+mn-lt"/>
                <a:ea typeface="+mn-ea"/>
                <a:cs typeface="+mn-cs"/>
              </a:rPr>
              <a:t>First, let's look at why verifying concurrent file systems is so difficult. We want the file system to provide a "linearized" interface, equivalent to atomicity, represents that the operations appear to take effect at a single discrete point in time. Traditionally, the most intuitive way to prove an operation is linearized, is to find its "linearization point"—the moment its effect becomes visible to the outside world. This point is usually within its own code, such as before releasing a lock.</a:t>
            </a:r>
          </a:p>
          <a:p>
            <a:pPr rtl="0"/>
            <a:r>
              <a:rPr lang="en-US" altLang="zh-CN" sz="1200" kern="1200" dirty="0">
                <a:solidFill>
                  <a:schemeClr val="tx1"/>
                </a:solidFill>
                <a:effectLst/>
                <a:latin typeface="+mn-lt"/>
                <a:ea typeface="+mn-ea"/>
                <a:cs typeface="+mn-cs"/>
              </a:rPr>
              <a:t>However, in concurrent file systems, things become more complex. Authors observe a phenomenon called "path inter-dependency“.</a:t>
            </a:r>
            <a:endParaRPr lang="zh-CN" altLang="zh-CN" dirty="0">
              <a:effectLst/>
            </a:endParaRPr>
          </a:p>
          <a:p>
            <a:pPr rtl="0"/>
            <a:r>
              <a:rPr lang="en-US" altLang="zh-CN" sz="1200" kern="1200" dirty="0">
                <a:solidFill>
                  <a:schemeClr val="tx1"/>
                </a:solidFill>
                <a:effectLst/>
                <a:latin typeface="+mn-lt"/>
                <a:ea typeface="+mn-ea"/>
                <a:cs typeface="+mn-cs"/>
              </a:rPr>
              <a:t>For example, imagine two operations executing simultaneously:</a:t>
            </a:r>
            <a:endParaRPr lang="zh-CN" altLang="zh-CN" dirty="0">
              <a:effectLst/>
            </a:endParaRPr>
          </a:p>
          <a:p>
            <a:pPr rtl="0"/>
            <a:r>
              <a:rPr lang="en-US" altLang="zh-CN" sz="1200" kern="1200" dirty="0">
                <a:solidFill>
                  <a:schemeClr val="tx1"/>
                </a:solidFill>
                <a:effectLst/>
                <a:latin typeface="+mn-lt"/>
                <a:ea typeface="+mn-ea"/>
                <a:cs typeface="+mn-cs"/>
              </a:rPr>
              <a:t>A `</a:t>
            </a:r>
            <a:r>
              <a:rPr lang="en-US" altLang="zh-CN" sz="1200" kern="1200" dirty="0" err="1">
                <a:solidFill>
                  <a:schemeClr val="tx1"/>
                </a:solidFill>
                <a:effectLst/>
                <a:latin typeface="+mn-lt"/>
                <a:ea typeface="+mn-ea"/>
                <a:cs typeface="+mn-cs"/>
              </a:rPr>
              <a:t>mkdir</a:t>
            </a:r>
            <a:r>
              <a:rPr lang="en-US" altLang="zh-CN" sz="1200" kern="1200" dirty="0">
                <a:solidFill>
                  <a:schemeClr val="tx1"/>
                </a:solidFill>
                <a:effectLst/>
                <a:latin typeface="+mn-lt"/>
                <a:ea typeface="+mn-ea"/>
                <a:cs typeface="+mn-cs"/>
              </a:rPr>
              <a:t> a/b/c` operation is creating directories level by level.</a:t>
            </a:r>
            <a:endParaRPr lang="zh-CN" altLang="zh-CN" dirty="0">
              <a:effectLst/>
            </a:endParaRPr>
          </a:p>
          <a:p>
            <a:pPr rtl="0"/>
            <a:r>
              <a:rPr lang="en-US" altLang="zh-CN" sz="1200" kern="1200" dirty="0">
                <a:solidFill>
                  <a:schemeClr val="tx1"/>
                </a:solidFill>
                <a:effectLst/>
                <a:latin typeface="+mn-lt"/>
                <a:ea typeface="+mn-ea"/>
                <a:cs typeface="+mn-cs"/>
              </a:rPr>
              <a:t>A `rename a /e` operation renames the entire directory `a`.</a:t>
            </a:r>
            <a:endParaRPr lang="zh-CN" altLang="zh-CN" dirty="0">
              <a:effectLst/>
            </a:endParaRPr>
          </a:p>
          <a:p>
            <a:pPr rtl="0"/>
            <a:r>
              <a:rPr lang="en-US" altLang="zh-CN" sz="1200" kern="1200" dirty="0">
                <a:solidFill>
                  <a:schemeClr val="tx1"/>
                </a:solidFill>
                <a:effectLst/>
                <a:latin typeface="+mn-lt"/>
                <a:ea typeface="+mn-ea"/>
                <a:cs typeface="+mn-cs"/>
              </a:rPr>
              <a:t>When the `rename` operation completes, it has modified the directory structure. At this point, the paths `/a/b` that the still-running `</a:t>
            </a:r>
            <a:r>
              <a:rPr lang="en-US" altLang="zh-CN" sz="1200" kern="1200" dirty="0" err="1">
                <a:solidFill>
                  <a:schemeClr val="tx1"/>
                </a:solidFill>
                <a:effectLst/>
                <a:latin typeface="+mn-lt"/>
                <a:ea typeface="+mn-ea"/>
                <a:cs typeface="+mn-cs"/>
              </a:rPr>
              <a:t>mkdir</a:t>
            </a:r>
            <a:r>
              <a:rPr lang="en-US" altLang="zh-CN" sz="1200" kern="1200" dirty="0">
                <a:solidFill>
                  <a:schemeClr val="tx1"/>
                </a:solidFill>
                <a:effectLst/>
                <a:latin typeface="+mn-lt"/>
                <a:ea typeface="+mn-ea"/>
                <a:cs typeface="+mn-cs"/>
              </a:rPr>
              <a:t>` operation depends on, have been changed. To obtain sequential, legal history, the `rename` operation must "help" the `</a:t>
            </a:r>
            <a:r>
              <a:rPr lang="en-US" altLang="zh-CN" sz="1200" kern="1200" dirty="0" err="1">
                <a:solidFill>
                  <a:schemeClr val="tx1"/>
                </a:solidFill>
                <a:effectLst/>
                <a:latin typeface="+mn-lt"/>
                <a:ea typeface="+mn-ea"/>
                <a:cs typeface="+mn-cs"/>
              </a:rPr>
              <a:t>mkdir</a:t>
            </a:r>
            <a:r>
              <a:rPr lang="en-US" altLang="zh-CN" sz="1200" kern="1200" dirty="0">
                <a:solidFill>
                  <a:schemeClr val="tx1"/>
                </a:solidFill>
                <a:effectLst/>
                <a:latin typeface="+mn-lt"/>
                <a:ea typeface="+mn-ea"/>
                <a:cs typeface="+mn-cs"/>
              </a:rPr>
              <a:t>` operation take effect before it does itself. This means that the linearization point of `</a:t>
            </a:r>
            <a:r>
              <a:rPr lang="en-US" altLang="zh-CN" sz="1200" kern="1200" dirty="0" err="1">
                <a:solidFill>
                  <a:schemeClr val="tx1"/>
                </a:solidFill>
                <a:effectLst/>
                <a:latin typeface="+mn-lt"/>
                <a:ea typeface="+mn-ea"/>
                <a:cs typeface="+mn-cs"/>
              </a:rPr>
              <a:t>mkdir</a:t>
            </a:r>
            <a:r>
              <a:rPr lang="en-US" altLang="zh-CN" sz="1200" kern="1200" dirty="0">
                <a:solidFill>
                  <a:schemeClr val="tx1"/>
                </a:solidFill>
                <a:effectLst/>
                <a:latin typeface="+mn-lt"/>
                <a:ea typeface="+mn-ea"/>
                <a:cs typeface="+mn-cs"/>
              </a:rPr>
              <a:t>` is not in its own code, but rather in the code of `rename`. We call this an "external linearization point." This "path inter-dependency" is a fundamental challenge for </a:t>
            </a:r>
            <a:r>
              <a:rPr lang="en-US" altLang="zh-CN" sz="1200" dirty="0">
                <a:latin typeface="Times New Roman" panose="02020603050405020304" pitchFamily="18" charset="0"/>
                <a:cs typeface="Times New Roman" panose="02020603050405020304" pitchFamily="18" charset="0"/>
              </a:rPr>
              <a:t>proving the linearizability of file systems</a:t>
            </a:r>
            <a:r>
              <a:rPr lang="en-US" altLang="zh-CN" sz="1200" kern="1200" dirty="0">
                <a:solidFill>
                  <a:schemeClr val="tx1"/>
                </a:solidFill>
                <a:effectLst/>
                <a:latin typeface="+mn-lt"/>
                <a:ea typeface="+mn-ea"/>
                <a:cs typeface="+mn-cs"/>
              </a:rPr>
              <a:t>.</a:t>
            </a:r>
            <a:endParaRPr lang="zh-CN" altLang="zh-CN" dirty="0">
              <a:effectLst/>
            </a:endParaRPr>
          </a:p>
          <a:p>
            <a:endParaRPr lang="zh-TW" altLang="en-US" dirty="0"/>
          </a:p>
        </p:txBody>
      </p:sp>
      <p:sp>
        <p:nvSpPr>
          <p:cNvPr id="4" name="投影片編號版面配置區 3">
            <a:extLst>
              <a:ext uri="{FF2B5EF4-FFF2-40B4-BE49-F238E27FC236}">
                <a16:creationId xmlns:a16="http://schemas.microsoft.com/office/drawing/2014/main" id="{2D8F8CA6-D725-9515-E85A-820FA0C15B27}"/>
              </a:ext>
            </a:extLst>
          </p:cNvPr>
          <p:cNvSpPr>
            <a:spLocks noGrp="1"/>
          </p:cNvSpPr>
          <p:nvPr>
            <p:ph type="sldNum" sz="quarter" idx="10"/>
          </p:nvPr>
        </p:nvSpPr>
        <p:spPr/>
        <p:txBody>
          <a:bodyPr/>
          <a:lstStyle/>
          <a:p>
            <a:fld id="{7320D120-4707-426F-9B85-873E256A6635}" type="slidenum">
              <a:rPr lang="zh-TW" altLang="en-US" smtClean="0"/>
              <a:pPr/>
              <a:t>18</a:t>
            </a:fld>
            <a:endParaRPr lang="zh-TW" altLang="en-US"/>
          </a:p>
        </p:txBody>
      </p:sp>
    </p:spTree>
    <p:extLst>
      <p:ext uri="{BB962C8B-B14F-4D97-AF65-F5344CB8AC3E}">
        <p14:creationId xmlns:p14="http://schemas.microsoft.com/office/powerpoint/2010/main" val="29518796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C1DCB-4DF7-016D-9BC9-FA3E1A69430F}"/>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218ED5F7-7920-68A8-26EC-8A57337D8099}"/>
              </a:ext>
            </a:extLst>
          </p:cNvPr>
          <p:cNvSpPr>
            <a:spLocks noGrp="1" noRot="1" noChangeAspect="1"/>
          </p:cNvSpPr>
          <p:nvPr>
            <p:ph type="sldImg"/>
          </p:nvPr>
        </p:nvSpPr>
        <p:spPr/>
        <p:txBody>
          <a:bodyPr/>
          <a:lstStyle/>
          <a:p>
            <a:endParaRPr lang="zh-CN" altLang="en-US"/>
          </a:p>
        </p:txBody>
      </p:sp>
      <p:sp>
        <p:nvSpPr>
          <p:cNvPr id="3" name="備忘稿版面配置區 2">
            <a:extLst>
              <a:ext uri="{FF2B5EF4-FFF2-40B4-BE49-F238E27FC236}">
                <a16:creationId xmlns:a16="http://schemas.microsoft.com/office/drawing/2014/main" id="{1B344BF0-2ACC-0795-B4E5-2CF97944B810}"/>
              </a:ext>
            </a:extLst>
          </p:cNvPr>
          <p:cNvSpPr>
            <a:spLocks noGrp="1"/>
          </p:cNvSpPr>
          <p:nvPr>
            <p:ph type="body" idx="1"/>
          </p:nvPr>
        </p:nvSpPr>
        <p:spPr/>
        <p:txBody>
          <a:bodyPr>
            <a:normAutofit/>
          </a:bodyPr>
          <a:lstStyle/>
          <a:p>
            <a:endParaRPr lang="zh-TW" altLang="en-US" dirty="0"/>
          </a:p>
        </p:txBody>
      </p:sp>
      <p:sp>
        <p:nvSpPr>
          <p:cNvPr id="4" name="投影片編號版面配置區 3">
            <a:extLst>
              <a:ext uri="{FF2B5EF4-FFF2-40B4-BE49-F238E27FC236}">
                <a16:creationId xmlns:a16="http://schemas.microsoft.com/office/drawing/2014/main" id="{4AF571DB-2BF4-D688-DCF4-E46A9D268719}"/>
              </a:ext>
            </a:extLst>
          </p:cNvPr>
          <p:cNvSpPr>
            <a:spLocks noGrp="1"/>
          </p:cNvSpPr>
          <p:nvPr>
            <p:ph type="sldNum" sz="quarter" idx="10"/>
          </p:nvPr>
        </p:nvSpPr>
        <p:spPr/>
        <p:txBody>
          <a:bodyPr/>
          <a:lstStyle/>
          <a:p>
            <a:fld id="{7320D120-4707-426F-9B85-873E256A6635}" type="slidenum">
              <a:rPr lang="zh-TW" altLang="en-US" smtClean="0"/>
              <a:pPr/>
              <a:t>19</a:t>
            </a:fld>
            <a:endParaRPr lang="zh-TW" altLang="en-US"/>
          </a:p>
        </p:txBody>
      </p:sp>
    </p:spTree>
    <p:extLst>
      <p:ext uri="{BB962C8B-B14F-4D97-AF65-F5344CB8AC3E}">
        <p14:creationId xmlns:p14="http://schemas.microsoft.com/office/powerpoint/2010/main" val="28401095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5A5F7-8BC0-CD0F-E983-089D8B96A748}"/>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CD1C4784-84E7-3934-6017-700A300CEB25}"/>
              </a:ext>
            </a:extLst>
          </p:cNvPr>
          <p:cNvSpPr>
            <a:spLocks noGrp="1" noRot="1" noChangeAspect="1"/>
          </p:cNvSpPr>
          <p:nvPr>
            <p:ph type="sldImg"/>
          </p:nvPr>
        </p:nvSpPr>
        <p:spPr/>
        <p:txBody>
          <a:bodyPr/>
          <a:lstStyle/>
          <a:p>
            <a:endParaRPr lang="zh-CN" altLang="en-US"/>
          </a:p>
        </p:txBody>
      </p:sp>
      <p:sp>
        <p:nvSpPr>
          <p:cNvPr id="3" name="備忘稿版面配置區 2">
            <a:extLst>
              <a:ext uri="{FF2B5EF4-FFF2-40B4-BE49-F238E27FC236}">
                <a16:creationId xmlns:a16="http://schemas.microsoft.com/office/drawing/2014/main" id="{FE09028E-9DE5-91D8-443E-E6CB3A9C37F6}"/>
              </a:ext>
            </a:extLst>
          </p:cNvPr>
          <p:cNvSpPr>
            <a:spLocks noGrp="1"/>
          </p:cNvSpPr>
          <p:nvPr>
            <p:ph type="body" idx="1"/>
          </p:nvPr>
        </p:nvSpPr>
        <p:spPr/>
        <p:txBody>
          <a:bodyPr>
            <a:normAutofit/>
          </a:bodyPr>
          <a:lstStyle/>
          <a:p>
            <a:pPr rtl="0"/>
            <a:r>
              <a:rPr lang="en-US" altLang="zh-CN" sz="1200" kern="1200" dirty="0">
                <a:solidFill>
                  <a:schemeClr val="tx1"/>
                </a:solidFill>
                <a:effectLst/>
                <a:latin typeface="+mn-lt"/>
                <a:ea typeface="+mn-ea"/>
                <a:cs typeface="+mn-cs"/>
              </a:rPr>
              <a:t>How exactly does the Helper mechanism work? Authors introduce some ghost states to record necessary information. Thread pool: Records what operation each thread is performing. Help list: Records the execution order of the threads that received help.</a:t>
            </a:r>
            <a:br>
              <a:rPr lang="en-US" altLang="zh-CN" sz="1200" kern="1200" dirty="0">
                <a:solidFill>
                  <a:schemeClr val="tx1"/>
                </a:solidFill>
                <a:effectLst/>
                <a:latin typeface="+mn-lt"/>
                <a:ea typeface="+mn-ea"/>
                <a:cs typeface="+mn-cs"/>
              </a:rPr>
            </a:br>
            <a:br>
              <a:rPr lang="en-US" altLang="zh-CN" sz="1200" kern="1200" dirty="0">
                <a:solidFill>
                  <a:schemeClr val="tx1"/>
                </a:solidFill>
                <a:effectLst/>
                <a:latin typeface="+mn-lt"/>
                <a:ea typeface="+mn-ea"/>
                <a:cs typeface="+mn-cs"/>
              </a:rPr>
            </a:br>
            <a:r>
              <a:rPr lang="en-US" altLang="zh-CN" sz="1200" kern="1200" dirty="0">
                <a:solidFill>
                  <a:schemeClr val="tx1"/>
                </a:solidFill>
                <a:effectLst/>
                <a:latin typeface="+mn-lt"/>
                <a:ea typeface="+mn-ea"/>
                <a:cs typeface="+mn-cs"/>
              </a:rPr>
              <a:t>Most importantly, they define a new primitive, `</a:t>
            </a:r>
            <a:r>
              <a:rPr lang="en-US" altLang="zh-CN" sz="1200" kern="1200" dirty="0" err="1">
                <a:solidFill>
                  <a:schemeClr val="tx1"/>
                </a:solidFill>
                <a:effectLst/>
                <a:latin typeface="+mn-lt"/>
                <a:ea typeface="+mn-ea"/>
                <a:cs typeface="+mn-cs"/>
              </a:rPr>
              <a:t>linothers</a:t>
            </a:r>
            <a:r>
              <a:rPr lang="en-US" altLang="zh-CN" sz="1200" kern="1200" dirty="0">
                <a:solidFill>
                  <a:schemeClr val="tx1"/>
                </a:solidFill>
                <a:effectLst/>
                <a:latin typeface="+mn-lt"/>
                <a:ea typeface="+mn-ea"/>
                <a:cs typeface="+mn-cs"/>
              </a:rPr>
              <a:t>`. At the linearization point of `rename`, we execute it. This primitive, based on the recorded ghost states (e.g., which paths each thread has locked), identifies all threads that need help, determines a correct execution order, and then executes them all at once at the abstract level. This is like `rename`, doing the work for a series of operations at a critical moment and arranging the order of execution.</a:t>
            </a:r>
            <a:endParaRPr lang="zh-CN" altLang="zh-CN" dirty="0">
              <a:effectLst/>
            </a:endParaRPr>
          </a:p>
          <a:p>
            <a:endParaRPr lang="zh-TW" altLang="en-US" dirty="0"/>
          </a:p>
        </p:txBody>
      </p:sp>
      <p:sp>
        <p:nvSpPr>
          <p:cNvPr id="4" name="投影片編號版面配置區 3">
            <a:extLst>
              <a:ext uri="{FF2B5EF4-FFF2-40B4-BE49-F238E27FC236}">
                <a16:creationId xmlns:a16="http://schemas.microsoft.com/office/drawing/2014/main" id="{2DCA2D5B-2042-D8DA-C947-8FF0120DDA9E}"/>
              </a:ext>
            </a:extLst>
          </p:cNvPr>
          <p:cNvSpPr>
            <a:spLocks noGrp="1"/>
          </p:cNvSpPr>
          <p:nvPr>
            <p:ph type="sldNum" sz="quarter" idx="10"/>
          </p:nvPr>
        </p:nvSpPr>
        <p:spPr/>
        <p:txBody>
          <a:bodyPr/>
          <a:lstStyle/>
          <a:p>
            <a:fld id="{7320D120-4707-426F-9B85-873E256A6635}" type="slidenum">
              <a:rPr lang="zh-TW" altLang="en-US" smtClean="0"/>
              <a:pPr/>
              <a:t>20</a:t>
            </a:fld>
            <a:endParaRPr lang="zh-TW" altLang="en-US"/>
          </a:p>
        </p:txBody>
      </p:sp>
    </p:spTree>
    <p:extLst>
      <p:ext uri="{BB962C8B-B14F-4D97-AF65-F5344CB8AC3E}">
        <p14:creationId xmlns:p14="http://schemas.microsoft.com/office/powerpoint/2010/main" val="15699000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119AB-2CB3-29C8-512D-629FC64935DF}"/>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16C85D8D-D653-6D6F-CAB4-BCEF3367939A}"/>
              </a:ext>
            </a:extLst>
          </p:cNvPr>
          <p:cNvSpPr>
            <a:spLocks noGrp="1" noRot="1" noChangeAspect="1"/>
          </p:cNvSpPr>
          <p:nvPr>
            <p:ph type="sldImg"/>
          </p:nvPr>
        </p:nvSpPr>
        <p:spPr/>
        <p:txBody>
          <a:bodyPr/>
          <a:lstStyle/>
          <a:p>
            <a:endParaRPr lang="zh-CN" altLang="en-US"/>
          </a:p>
        </p:txBody>
      </p:sp>
      <p:sp>
        <p:nvSpPr>
          <p:cNvPr id="3" name="備忘稿版面配置區 2">
            <a:extLst>
              <a:ext uri="{FF2B5EF4-FFF2-40B4-BE49-F238E27FC236}">
                <a16:creationId xmlns:a16="http://schemas.microsoft.com/office/drawing/2014/main" id="{C3B2C19B-FD03-2EBB-635D-5CEC26140767}"/>
              </a:ext>
            </a:extLst>
          </p:cNvPr>
          <p:cNvSpPr>
            <a:spLocks noGrp="1"/>
          </p:cNvSpPr>
          <p:nvPr>
            <p:ph type="body" idx="1"/>
          </p:nvPr>
        </p:nvSpPr>
        <p:spPr/>
        <p:txBody>
          <a:bodyPr>
            <a:normAutofit/>
          </a:bodyPr>
          <a:lstStyle/>
          <a:p>
            <a:pPr rtl="0"/>
            <a:r>
              <a:rPr lang="en-US" altLang="zh-CN" sz="1200" kern="1200" dirty="0">
                <a:solidFill>
                  <a:schemeClr val="tx1"/>
                </a:solidFill>
                <a:effectLst/>
                <a:latin typeface="+mn-lt"/>
                <a:ea typeface="+mn-ea"/>
                <a:cs typeface="+mn-cs"/>
              </a:rPr>
              <a:t>Another ingenious design is the "rollback mechanism." When helper occurs, the abstract state (our ideal file system) has already advanced several steps due to the helped operation, but the concrete physical state (the data in memory) hasn't changed. To establish the correspondence between these two, instead of forcibly pushing the physical state, they use the recorded operation effects during verification to roll back the abstract state, making it match the physical state. In this way, we can always ensure the consistency of the verification logic.</a:t>
            </a:r>
            <a:endParaRPr lang="zh-CN" altLang="zh-CN" dirty="0">
              <a:effectLst/>
            </a:endParaRPr>
          </a:p>
          <a:p>
            <a:endParaRPr lang="zh-TW" altLang="en-US" dirty="0"/>
          </a:p>
        </p:txBody>
      </p:sp>
      <p:sp>
        <p:nvSpPr>
          <p:cNvPr id="4" name="投影片編號版面配置區 3">
            <a:extLst>
              <a:ext uri="{FF2B5EF4-FFF2-40B4-BE49-F238E27FC236}">
                <a16:creationId xmlns:a16="http://schemas.microsoft.com/office/drawing/2014/main" id="{604335D6-BA30-0775-51E7-8DC7C03567FA}"/>
              </a:ext>
            </a:extLst>
          </p:cNvPr>
          <p:cNvSpPr>
            <a:spLocks noGrp="1"/>
          </p:cNvSpPr>
          <p:nvPr>
            <p:ph type="sldNum" sz="quarter" idx="10"/>
          </p:nvPr>
        </p:nvSpPr>
        <p:spPr/>
        <p:txBody>
          <a:bodyPr/>
          <a:lstStyle/>
          <a:p>
            <a:fld id="{7320D120-4707-426F-9B85-873E256A6635}" type="slidenum">
              <a:rPr lang="zh-TW" altLang="en-US" smtClean="0"/>
              <a:pPr/>
              <a:t>21</a:t>
            </a:fld>
            <a:endParaRPr lang="zh-TW" altLang="en-US"/>
          </a:p>
        </p:txBody>
      </p:sp>
    </p:spTree>
    <p:extLst>
      <p:ext uri="{BB962C8B-B14F-4D97-AF65-F5344CB8AC3E}">
        <p14:creationId xmlns:p14="http://schemas.microsoft.com/office/powerpoint/2010/main" val="13599978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4A3FF-2091-2A76-7F06-FA56A051A620}"/>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5A2DC443-D483-A242-FF7E-C4C21664C599}"/>
              </a:ext>
            </a:extLst>
          </p:cNvPr>
          <p:cNvSpPr>
            <a:spLocks noGrp="1" noRot="1" noChangeAspect="1"/>
          </p:cNvSpPr>
          <p:nvPr>
            <p:ph type="sldImg"/>
          </p:nvPr>
        </p:nvSpPr>
        <p:spPr/>
        <p:txBody>
          <a:bodyPr/>
          <a:lstStyle/>
          <a:p>
            <a:endParaRPr lang="zh-CN" altLang="en-US"/>
          </a:p>
        </p:txBody>
      </p:sp>
      <p:sp>
        <p:nvSpPr>
          <p:cNvPr id="3" name="備忘稿版面配置區 2">
            <a:extLst>
              <a:ext uri="{FF2B5EF4-FFF2-40B4-BE49-F238E27FC236}">
                <a16:creationId xmlns:a16="http://schemas.microsoft.com/office/drawing/2014/main" id="{D7E4EFD7-40CD-1DDC-6BD9-C0724EEE2D5D}"/>
              </a:ext>
            </a:extLst>
          </p:cNvPr>
          <p:cNvSpPr>
            <a:spLocks noGrp="1"/>
          </p:cNvSpPr>
          <p:nvPr>
            <p:ph type="body" idx="1"/>
          </p:nvPr>
        </p:nvSpPr>
        <p:spPr/>
        <p:txBody>
          <a:bodyPr>
            <a:normAutofit/>
          </a:bodyPr>
          <a:lstStyle/>
          <a:p>
            <a:pPr rtl="0"/>
            <a:r>
              <a:rPr lang="en-US" altLang="zh-CN" sz="1200" kern="1200" dirty="0">
                <a:solidFill>
                  <a:schemeClr val="tx1"/>
                </a:solidFill>
                <a:effectLst/>
                <a:latin typeface="+mn-lt"/>
                <a:ea typeface="+mn-ea"/>
                <a:cs typeface="+mn-cs"/>
              </a:rPr>
              <a:t>The authors validated the self-designed concurrent file system, </a:t>
            </a:r>
            <a:r>
              <a:rPr lang="en-US" altLang="zh-CN" sz="1200" kern="1200" dirty="0" err="1">
                <a:solidFill>
                  <a:schemeClr val="tx1"/>
                </a:solidFill>
                <a:effectLst/>
                <a:latin typeface="+mn-lt"/>
                <a:ea typeface="+mn-ea"/>
                <a:cs typeface="+mn-cs"/>
              </a:rPr>
              <a:t>AtomFS</a:t>
            </a:r>
            <a:r>
              <a:rPr lang="en-US" altLang="zh-CN" sz="1200" kern="1200" dirty="0">
                <a:solidFill>
                  <a:schemeClr val="tx1"/>
                </a:solidFill>
                <a:effectLst/>
                <a:latin typeface="+mn-lt"/>
                <a:ea typeface="+mn-ea"/>
                <a:cs typeface="+mn-cs"/>
              </a:rPr>
              <a:t>, using CRL-H. </a:t>
            </a:r>
            <a:r>
              <a:rPr lang="en-US" altLang="zh-CN" sz="1200" kern="1200" dirty="0" err="1">
                <a:solidFill>
                  <a:schemeClr val="tx1"/>
                </a:solidFill>
                <a:effectLst/>
                <a:latin typeface="+mn-lt"/>
                <a:ea typeface="+mn-ea"/>
                <a:cs typeface="+mn-cs"/>
              </a:rPr>
              <a:t>AtomFS's</a:t>
            </a:r>
            <a:r>
              <a:rPr lang="en-US" altLang="zh-CN" sz="1200" kern="1200" dirty="0">
                <a:solidFill>
                  <a:schemeClr val="tx1"/>
                </a:solidFill>
                <a:effectLst/>
                <a:latin typeface="+mn-lt"/>
                <a:ea typeface="+mn-ea"/>
                <a:cs typeface="+mn-cs"/>
              </a:rPr>
              <a:t> design follows a key principle they call the "No-</a:t>
            </a:r>
            <a:r>
              <a:rPr lang="en-US" altLang="zh-CN" sz="1200" kern="1200" dirty="0" err="1">
                <a:solidFill>
                  <a:schemeClr val="tx1"/>
                </a:solidFill>
                <a:effectLst/>
                <a:latin typeface="+mn-lt"/>
                <a:ea typeface="+mn-ea"/>
                <a:cs typeface="+mn-cs"/>
              </a:rPr>
              <a:t>Bypassable</a:t>
            </a:r>
            <a:r>
              <a:rPr lang="en-US" altLang="zh-CN" sz="1200" kern="1200" dirty="0">
                <a:solidFill>
                  <a:schemeClr val="tx1"/>
                </a:solidFill>
                <a:effectLst/>
                <a:latin typeface="+mn-lt"/>
                <a:ea typeface="+mn-ea"/>
                <a:cs typeface="+mn-cs"/>
              </a:rPr>
              <a:t> Rule." What is this rule? A helped thread (such as `</a:t>
            </a:r>
            <a:r>
              <a:rPr lang="en-US" altLang="zh-CN" sz="1200" kern="1200" dirty="0" err="1">
                <a:solidFill>
                  <a:schemeClr val="tx1"/>
                </a:solidFill>
                <a:effectLst/>
                <a:latin typeface="+mn-lt"/>
                <a:ea typeface="+mn-ea"/>
                <a:cs typeface="+mn-cs"/>
              </a:rPr>
              <a:t>mkdir</a:t>
            </a:r>
            <a:r>
              <a:rPr lang="en-US" altLang="zh-CN" sz="1200" kern="1200" dirty="0">
                <a:solidFill>
                  <a:schemeClr val="tx1"/>
                </a:solidFill>
                <a:effectLst/>
                <a:latin typeface="+mn-lt"/>
                <a:ea typeface="+mn-ea"/>
                <a:cs typeface="+mn-cs"/>
              </a:rPr>
              <a:t>` whose effect is prematurely executed by `rename`) cannot be "bypassed" by other </a:t>
            </a:r>
            <a:r>
              <a:rPr lang="en-US" altLang="zh-CN" sz="1200" kern="1200" dirty="0" err="1">
                <a:solidFill>
                  <a:schemeClr val="tx1"/>
                </a:solidFill>
                <a:effectLst/>
                <a:latin typeface="+mn-lt"/>
                <a:ea typeface="+mn-ea"/>
                <a:cs typeface="+mn-cs"/>
              </a:rPr>
              <a:t>unhelped</a:t>
            </a:r>
            <a:r>
              <a:rPr lang="en-US" altLang="zh-CN" sz="1200" kern="1200" dirty="0">
                <a:solidFill>
                  <a:schemeClr val="tx1"/>
                </a:solidFill>
                <a:effectLst/>
                <a:latin typeface="+mn-lt"/>
                <a:ea typeface="+mn-ea"/>
                <a:cs typeface="+mn-cs"/>
              </a:rPr>
              <a:t> threads during physical execution. How is this achieved? They employ lock coupling technology during path traversal. That is, when a thread traverses the path, it must acquire the lock of the next node before releasing the lock of the current node. This ensures that while a helped thread is still physically executing, other threads attempting to "cut in line" cannot preemptively lock the node they are about to access, thus avoiding disruption of the logical execution order and the physical execution order.</a:t>
            </a:r>
            <a:endParaRPr lang="zh-CN" altLang="zh-CN" dirty="0">
              <a:effectLst/>
            </a:endParaRPr>
          </a:p>
          <a:p>
            <a:endParaRPr lang="zh-TW" altLang="en-US" dirty="0"/>
          </a:p>
        </p:txBody>
      </p:sp>
      <p:sp>
        <p:nvSpPr>
          <p:cNvPr id="4" name="投影片編號版面配置區 3">
            <a:extLst>
              <a:ext uri="{FF2B5EF4-FFF2-40B4-BE49-F238E27FC236}">
                <a16:creationId xmlns:a16="http://schemas.microsoft.com/office/drawing/2014/main" id="{069C6CDC-9F74-C2EA-2364-9DDFA648E266}"/>
              </a:ext>
            </a:extLst>
          </p:cNvPr>
          <p:cNvSpPr>
            <a:spLocks noGrp="1"/>
          </p:cNvSpPr>
          <p:nvPr>
            <p:ph type="sldNum" sz="quarter" idx="10"/>
          </p:nvPr>
        </p:nvSpPr>
        <p:spPr/>
        <p:txBody>
          <a:bodyPr/>
          <a:lstStyle/>
          <a:p>
            <a:fld id="{7320D120-4707-426F-9B85-873E256A6635}" type="slidenum">
              <a:rPr lang="zh-TW" altLang="en-US" smtClean="0"/>
              <a:pPr/>
              <a:t>22</a:t>
            </a:fld>
            <a:endParaRPr lang="zh-TW" altLang="en-US"/>
          </a:p>
        </p:txBody>
      </p:sp>
    </p:spTree>
    <p:extLst>
      <p:ext uri="{BB962C8B-B14F-4D97-AF65-F5344CB8AC3E}">
        <p14:creationId xmlns:p14="http://schemas.microsoft.com/office/powerpoint/2010/main" val="27705808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44796-C844-D035-A5C4-2CA827EAF6D9}"/>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71A5E115-0B66-2BEA-A066-5D36568D7CE0}"/>
              </a:ext>
            </a:extLst>
          </p:cNvPr>
          <p:cNvSpPr>
            <a:spLocks noGrp="1" noRot="1" noChangeAspect="1"/>
          </p:cNvSpPr>
          <p:nvPr>
            <p:ph type="sldImg"/>
          </p:nvPr>
        </p:nvSpPr>
        <p:spPr/>
        <p:txBody>
          <a:bodyPr/>
          <a:lstStyle/>
          <a:p>
            <a:endParaRPr lang="zh-CN" altLang="en-US"/>
          </a:p>
        </p:txBody>
      </p:sp>
      <p:sp>
        <p:nvSpPr>
          <p:cNvPr id="3" name="備忘稿版面配置區 2">
            <a:extLst>
              <a:ext uri="{FF2B5EF4-FFF2-40B4-BE49-F238E27FC236}">
                <a16:creationId xmlns:a16="http://schemas.microsoft.com/office/drawing/2014/main" id="{EAEFEDC8-BA00-0ECD-E15B-BB843BBAA729}"/>
              </a:ext>
            </a:extLst>
          </p:cNvPr>
          <p:cNvSpPr>
            <a:spLocks noGrp="1"/>
          </p:cNvSpPr>
          <p:nvPr>
            <p:ph type="body" idx="1"/>
          </p:nvPr>
        </p:nvSpPr>
        <p:spPr/>
        <p:txBody>
          <a:bodyPr>
            <a:normAutofit/>
          </a:bodyPr>
          <a:lstStyle/>
          <a:p>
            <a:pPr rtl="0"/>
            <a:r>
              <a:rPr lang="en-US" altLang="zh-CN" sz="1200" kern="1200" dirty="0">
                <a:solidFill>
                  <a:schemeClr val="tx1"/>
                </a:solidFill>
                <a:effectLst/>
                <a:latin typeface="+mn-lt"/>
                <a:ea typeface="+mn-ea"/>
                <a:cs typeface="+mn-cs"/>
              </a:rPr>
              <a:t>To complete the verification, authors defined eight core invariants to constrain the entire system. The most crucial of these is: Abstract-Concrete Relationship: Utilizing the previously mentioned "rollback mechanism," ensuring that the abstract file system tree and the concrete memory data structure remain consistent at all times. Non-</a:t>
            </a:r>
            <a:r>
              <a:rPr lang="en-US" altLang="zh-CN" sz="1200" kern="1200" dirty="0" err="1">
                <a:solidFill>
                  <a:schemeClr val="tx1"/>
                </a:solidFill>
                <a:effectLst/>
                <a:latin typeface="+mn-lt"/>
                <a:ea typeface="+mn-ea"/>
                <a:cs typeface="+mn-cs"/>
              </a:rPr>
              <a:t>bypassable</a:t>
            </a:r>
            <a:r>
              <a:rPr lang="en-US" altLang="zh-CN" sz="1200" kern="1200" dirty="0">
                <a:solidFill>
                  <a:schemeClr val="tx1"/>
                </a:solidFill>
                <a:effectLst/>
                <a:latin typeface="+mn-lt"/>
                <a:ea typeface="+mn-ea"/>
                <a:cs typeface="+mn-cs"/>
              </a:rPr>
              <a:t> Invariant: Through the “</a:t>
            </a:r>
            <a:r>
              <a:rPr lang="en-US" altLang="zh-CN" sz="1200" kern="1200" dirty="0" err="1">
                <a:solidFill>
                  <a:schemeClr val="tx1"/>
                </a:solidFill>
                <a:effectLst/>
                <a:latin typeface="+mn-lt"/>
                <a:ea typeface="+mn-ea"/>
                <a:cs typeface="+mn-cs"/>
              </a:rPr>
              <a:t>LockPath</a:t>
            </a:r>
            <a:r>
              <a:rPr lang="en-US" altLang="zh-CN" sz="1200" kern="1200" dirty="0">
                <a:solidFill>
                  <a:schemeClr val="tx1"/>
                </a:solidFill>
                <a:effectLst/>
                <a:latin typeface="+mn-lt"/>
                <a:ea typeface="+mn-ea"/>
                <a:cs typeface="+mn-cs"/>
              </a:rPr>
              <a:t>" recorded in the ghost state, we strictly guarantee the validity of the aforementioned "non-</a:t>
            </a:r>
            <a:r>
              <a:rPr lang="en-US" altLang="zh-CN" sz="1200" kern="1200" dirty="0" err="1">
                <a:solidFill>
                  <a:schemeClr val="tx1"/>
                </a:solidFill>
                <a:effectLst/>
                <a:latin typeface="+mn-lt"/>
                <a:ea typeface="+mn-ea"/>
                <a:cs typeface="+mn-cs"/>
              </a:rPr>
              <a:t>bypassable</a:t>
            </a:r>
            <a:r>
              <a:rPr lang="en-US" altLang="zh-CN" sz="1200" kern="1200" dirty="0">
                <a:solidFill>
                  <a:schemeClr val="tx1"/>
                </a:solidFill>
                <a:effectLst/>
                <a:latin typeface="+mn-lt"/>
                <a:ea typeface="+mn-ea"/>
                <a:cs typeface="+mn-cs"/>
              </a:rPr>
              <a:t> criterion."</a:t>
            </a:r>
            <a:endParaRPr lang="zh-CN" altLang="zh-CN" dirty="0">
              <a:effectLst/>
            </a:endParaRPr>
          </a:p>
          <a:p>
            <a:endParaRPr lang="zh-TW" altLang="en-US" dirty="0"/>
          </a:p>
        </p:txBody>
      </p:sp>
      <p:sp>
        <p:nvSpPr>
          <p:cNvPr id="4" name="投影片編號版面配置區 3">
            <a:extLst>
              <a:ext uri="{FF2B5EF4-FFF2-40B4-BE49-F238E27FC236}">
                <a16:creationId xmlns:a16="http://schemas.microsoft.com/office/drawing/2014/main" id="{FF393E95-4C31-E55B-AEF1-E235230299FD}"/>
              </a:ext>
            </a:extLst>
          </p:cNvPr>
          <p:cNvSpPr>
            <a:spLocks noGrp="1"/>
          </p:cNvSpPr>
          <p:nvPr>
            <p:ph type="sldNum" sz="quarter" idx="10"/>
          </p:nvPr>
        </p:nvSpPr>
        <p:spPr/>
        <p:txBody>
          <a:bodyPr/>
          <a:lstStyle/>
          <a:p>
            <a:fld id="{7320D120-4707-426F-9B85-873E256A6635}" type="slidenum">
              <a:rPr lang="zh-TW" altLang="en-US" smtClean="0"/>
              <a:pPr/>
              <a:t>23</a:t>
            </a:fld>
            <a:endParaRPr lang="zh-TW" altLang="en-US"/>
          </a:p>
        </p:txBody>
      </p:sp>
    </p:spTree>
    <p:extLst>
      <p:ext uri="{BB962C8B-B14F-4D97-AF65-F5344CB8AC3E}">
        <p14:creationId xmlns:p14="http://schemas.microsoft.com/office/powerpoint/2010/main" val="35139494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0DA45-F33B-D02F-B5BF-290A67E880FA}"/>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95DF5D8E-DEF7-2F95-A8F5-1B405C3171BA}"/>
              </a:ext>
            </a:extLst>
          </p:cNvPr>
          <p:cNvSpPr>
            <a:spLocks noGrp="1" noRot="1" noChangeAspect="1"/>
          </p:cNvSpPr>
          <p:nvPr>
            <p:ph type="sldImg"/>
          </p:nvPr>
        </p:nvSpPr>
        <p:spPr/>
        <p:txBody>
          <a:bodyPr/>
          <a:lstStyle/>
          <a:p>
            <a:endParaRPr lang="zh-CN" altLang="en-US"/>
          </a:p>
        </p:txBody>
      </p:sp>
      <p:sp>
        <p:nvSpPr>
          <p:cNvPr id="3" name="備忘稿版面配置區 2">
            <a:extLst>
              <a:ext uri="{FF2B5EF4-FFF2-40B4-BE49-F238E27FC236}">
                <a16:creationId xmlns:a16="http://schemas.microsoft.com/office/drawing/2014/main" id="{3F2BCF41-4F9C-6246-6E29-EFE8AC2D79D1}"/>
              </a:ext>
            </a:extLst>
          </p:cNvPr>
          <p:cNvSpPr>
            <a:spLocks noGrp="1"/>
          </p:cNvSpPr>
          <p:nvPr>
            <p:ph type="body" idx="1"/>
          </p:nvPr>
        </p:nvSpPr>
        <p:spPr/>
        <p:txBody>
          <a:bodyPr>
            <a:normAutofit/>
          </a:bodyPr>
          <a:lstStyle/>
          <a:p>
            <a:pPr rtl="0"/>
            <a:r>
              <a:rPr lang="en-US" altLang="zh-CN" sz="1200" kern="1200" dirty="0">
                <a:solidFill>
                  <a:schemeClr val="tx1"/>
                </a:solidFill>
                <a:effectLst/>
                <a:latin typeface="+mn-lt"/>
                <a:ea typeface="+mn-ea"/>
                <a:cs typeface="+mn-cs"/>
              </a:rPr>
              <a:t>The entire verification process was automated using the Coq proof assistant. They wrote approximately 63,000 lines of proof code to verify a 673-line C implementation. While the proof workload was substantial, it was manageable for such a complex concurrent system.</a:t>
            </a:r>
          </a:p>
          <a:p>
            <a:pPr rtl="0"/>
            <a:r>
              <a:rPr lang="en-US" altLang="zh-CN" sz="1200" kern="1200" dirty="0">
                <a:solidFill>
                  <a:schemeClr val="tx1"/>
                </a:solidFill>
                <a:effectLst/>
                <a:latin typeface="+mn-lt"/>
                <a:ea typeface="+mn-ea"/>
                <a:cs typeface="+mn-cs"/>
              </a:rPr>
              <a:t>They performed functional testing on </a:t>
            </a:r>
            <a:r>
              <a:rPr lang="en-US" altLang="zh-CN" sz="1200" kern="1200" dirty="0" err="1">
                <a:solidFill>
                  <a:schemeClr val="tx1"/>
                </a:solidFill>
                <a:effectLst/>
                <a:latin typeface="+mn-lt"/>
                <a:ea typeface="+mn-ea"/>
                <a:cs typeface="+mn-cs"/>
              </a:rPr>
              <a:t>AtomFS</a:t>
            </a:r>
            <a:r>
              <a:rPr lang="en-US" altLang="zh-CN" sz="1200" kern="1200" dirty="0">
                <a:solidFill>
                  <a:schemeClr val="tx1"/>
                </a:solidFill>
                <a:effectLst/>
                <a:latin typeface="+mn-lt"/>
                <a:ea typeface="+mn-ea"/>
                <a:cs typeface="+mn-cs"/>
              </a:rPr>
              <a:t> using the Linux standard file system testing suite </a:t>
            </a:r>
            <a:r>
              <a:rPr lang="en-US" altLang="zh-CN" sz="1200" kern="1200" dirty="0" err="1">
                <a:solidFill>
                  <a:schemeClr val="tx1"/>
                </a:solidFill>
                <a:effectLst/>
                <a:latin typeface="+mn-lt"/>
                <a:ea typeface="+mn-ea"/>
                <a:cs typeface="+mn-cs"/>
              </a:rPr>
              <a:t>xfstests</a:t>
            </a:r>
            <a:r>
              <a:rPr lang="en-US" altLang="zh-CN" sz="1200" kern="1200" dirty="0">
                <a:solidFill>
                  <a:schemeClr val="tx1"/>
                </a:solidFill>
                <a:effectLst/>
                <a:latin typeface="+mn-lt"/>
                <a:ea typeface="+mn-ea"/>
                <a:cs typeface="+mn-cs"/>
              </a:rPr>
              <a:t>, passing 418 out of 451 test cases. All failed cases were due to missing features (such as hard links, permission checks, etc.), and none were due to concurrency bugs. This gave a great confidence that the verification method was effective.</a:t>
            </a:r>
            <a:endParaRPr lang="zh-CN" altLang="zh-CN" dirty="0">
              <a:effectLst/>
            </a:endParaRPr>
          </a:p>
          <a:p>
            <a:pPr rtl="0"/>
            <a:endParaRPr lang="zh-CN" altLang="zh-CN" dirty="0">
              <a:effectLst/>
            </a:endParaRPr>
          </a:p>
          <a:p>
            <a:endParaRPr lang="zh-TW" altLang="en-US" dirty="0"/>
          </a:p>
        </p:txBody>
      </p:sp>
      <p:sp>
        <p:nvSpPr>
          <p:cNvPr id="4" name="投影片編號版面配置區 3">
            <a:extLst>
              <a:ext uri="{FF2B5EF4-FFF2-40B4-BE49-F238E27FC236}">
                <a16:creationId xmlns:a16="http://schemas.microsoft.com/office/drawing/2014/main" id="{DA2917A9-6FCC-6361-21FA-4BE545273871}"/>
              </a:ext>
            </a:extLst>
          </p:cNvPr>
          <p:cNvSpPr>
            <a:spLocks noGrp="1"/>
          </p:cNvSpPr>
          <p:nvPr>
            <p:ph type="sldNum" sz="quarter" idx="10"/>
          </p:nvPr>
        </p:nvSpPr>
        <p:spPr/>
        <p:txBody>
          <a:bodyPr/>
          <a:lstStyle/>
          <a:p>
            <a:fld id="{7320D120-4707-426F-9B85-873E256A6635}" type="slidenum">
              <a:rPr lang="zh-TW" altLang="en-US" smtClean="0"/>
              <a:pPr/>
              <a:t>24</a:t>
            </a:fld>
            <a:endParaRPr lang="zh-TW" altLang="en-US"/>
          </a:p>
        </p:txBody>
      </p:sp>
    </p:spTree>
    <p:extLst>
      <p:ext uri="{BB962C8B-B14F-4D97-AF65-F5344CB8AC3E}">
        <p14:creationId xmlns:p14="http://schemas.microsoft.com/office/powerpoint/2010/main" val="21438723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Finally, let's look at performance. As a user-space file system (based on FUSE), </a:t>
            </a:r>
            <a:r>
              <a:rPr lang="en-US" altLang="zh-CN" sz="1200" kern="1200" dirty="0" err="1">
                <a:solidFill>
                  <a:schemeClr val="tx1"/>
                </a:solidFill>
                <a:effectLst/>
                <a:latin typeface="+mn-lt"/>
                <a:ea typeface="+mn-ea"/>
                <a:cs typeface="+mn-cs"/>
              </a:rPr>
              <a:t>AtomFS's</a:t>
            </a:r>
            <a:r>
              <a:rPr lang="en-US" altLang="zh-CN" sz="1200" kern="1200" dirty="0">
                <a:solidFill>
                  <a:schemeClr val="tx1"/>
                </a:solidFill>
                <a:effectLst/>
                <a:latin typeface="+mn-lt"/>
                <a:ea typeface="+mn-ea"/>
                <a:cs typeface="+mn-cs"/>
              </a:rPr>
              <a:t> performance, while not comparable to kernel-space ext4, fully demonstrates its multi-core scalability.</a:t>
            </a:r>
            <a:br>
              <a:rPr lang="en-US" altLang="zh-CN" sz="1200" kern="1200" dirty="0">
                <a:solidFill>
                  <a:schemeClr val="tx1"/>
                </a:solidFill>
                <a:effectLst/>
                <a:latin typeface="+mn-lt"/>
                <a:ea typeface="+mn-ea"/>
                <a:cs typeface="+mn-cs"/>
              </a:rPr>
            </a:br>
            <a:br>
              <a:rPr lang="en-US" altLang="zh-CN" sz="1200" kern="1200" dirty="0">
                <a:solidFill>
                  <a:schemeClr val="tx1"/>
                </a:solidFill>
                <a:effectLst/>
                <a:latin typeface="+mn-lt"/>
                <a:ea typeface="+mn-ea"/>
                <a:cs typeface="+mn-cs"/>
              </a:rPr>
            </a:br>
            <a:r>
              <a:rPr lang="en-US" altLang="zh-CN" sz="1200" kern="1200" dirty="0">
                <a:solidFill>
                  <a:schemeClr val="tx1"/>
                </a:solidFill>
                <a:effectLst/>
                <a:latin typeface="+mn-lt"/>
                <a:ea typeface="+mn-ea"/>
                <a:cs typeface="+mn-cs"/>
              </a:rPr>
              <a:t>Compared to the also validated sequential file system DFSCQ, </a:t>
            </a:r>
            <a:r>
              <a:rPr lang="en-US" altLang="zh-CN" sz="1200" kern="1200" dirty="0" err="1">
                <a:solidFill>
                  <a:schemeClr val="tx1"/>
                </a:solidFill>
                <a:effectLst/>
                <a:latin typeface="+mn-lt"/>
                <a:ea typeface="+mn-ea"/>
                <a:cs typeface="+mn-cs"/>
              </a:rPr>
              <a:t>AtomFS</a:t>
            </a:r>
            <a:r>
              <a:rPr lang="en-US" altLang="zh-CN" sz="1200" kern="1200" dirty="0">
                <a:solidFill>
                  <a:schemeClr val="tx1"/>
                </a:solidFill>
                <a:effectLst/>
                <a:latin typeface="+mn-lt"/>
                <a:ea typeface="+mn-ea"/>
                <a:cs typeface="+mn-cs"/>
              </a:rPr>
              <a:t> achieves a speedup of about twice in real-world application workloads (such as Git cloning and compilation). This is thanks to the C implementation, which avoids Haskell runtime overhead and truly utilizes multi-core capabilities.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In </a:t>
            </a:r>
            <a:r>
              <a:rPr lang="en-US" altLang="zh-CN" sz="1200" kern="1200" dirty="0" err="1">
                <a:solidFill>
                  <a:schemeClr val="tx1"/>
                </a:solidFill>
                <a:effectLst/>
                <a:latin typeface="+mn-lt"/>
                <a:ea typeface="+mn-ea"/>
                <a:cs typeface="+mn-cs"/>
              </a:rPr>
              <a:t>Filebench</a:t>
            </a:r>
            <a:r>
              <a:rPr lang="en-US" altLang="zh-CN" sz="1200" kern="1200" dirty="0">
                <a:solidFill>
                  <a:schemeClr val="tx1"/>
                </a:solidFill>
                <a:effectLst/>
                <a:latin typeface="+mn-lt"/>
                <a:ea typeface="+mn-ea"/>
                <a:cs typeface="+mn-cs"/>
              </a:rPr>
              <a:t> tests, compared to a coarse-grained, heavily lock-dependent version of </a:t>
            </a:r>
            <a:r>
              <a:rPr lang="en-US" altLang="zh-CN" sz="1200" kern="1200" dirty="0" err="1">
                <a:solidFill>
                  <a:schemeClr val="tx1"/>
                </a:solidFill>
                <a:effectLst/>
                <a:latin typeface="+mn-lt"/>
                <a:ea typeface="+mn-ea"/>
                <a:cs typeface="+mn-cs"/>
              </a:rPr>
              <a:t>AtomFS</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AtomFS</a:t>
            </a:r>
            <a:r>
              <a:rPr lang="en-US" altLang="zh-CN" sz="1200" kern="1200" dirty="0">
                <a:solidFill>
                  <a:schemeClr val="tx1"/>
                </a:solidFill>
                <a:effectLst/>
                <a:latin typeface="+mn-lt"/>
                <a:ea typeface="+mn-ea"/>
                <a:cs typeface="+mn-cs"/>
              </a:rPr>
              <a:t> achieves a 1.46x increase in throughput under a 16-thread Fileserver load, proving that the lock coupling mechanism effectively utilizes directory-level concurrency.</a:t>
            </a:r>
            <a:endParaRPr lang="zh-CN" altLang="zh-CN" dirty="0">
              <a:effectLst/>
            </a:endParaRPr>
          </a:p>
          <a:p>
            <a:pPr rtl="0"/>
            <a:endParaRPr lang="zh-CN" altLang="zh-CN" dirty="0">
              <a:effectLst/>
            </a:endParaRPr>
          </a:p>
          <a:p>
            <a:endParaRPr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25</a:t>
            </a:fld>
            <a:endParaRPr lang="zh-TW" altLang="en-US"/>
          </a:p>
        </p:txBody>
      </p:sp>
    </p:spTree>
    <p:extLst>
      <p:ext uri="{BB962C8B-B14F-4D97-AF65-F5344CB8AC3E}">
        <p14:creationId xmlns:p14="http://schemas.microsoft.com/office/powerpoint/2010/main" val="37350101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76BD3-9D19-160B-4389-C235B667538A}"/>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419F5150-9529-7B6A-5DAD-41FD43F11886}"/>
              </a:ext>
            </a:extLst>
          </p:cNvPr>
          <p:cNvSpPr>
            <a:spLocks noGrp="1" noRot="1" noChangeAspect="1"/>
          </p:cNvSpPr>
          <p:nvPr>
            <p:ph type="sldImg"/>
          </p:nvPr>
        </p:nvSpPr>
        <p:spPr/>
        <p:txBody>
          <a:bodyPr/>
          <a:lstStyle/>
          <a:p>
            <a:endParaRPr lang="zh-CN" altLang="en-US"/>
          </a:p>
        </p:txBody>
      </p:sp>
      <p:sp>
        <p:nvSpPr>
          <p:cNvPr id="3" name="備忘稿版面配置區 2">
            <a:extLst>
              <a:ext uri="{FF2B5EF4-FFF2-40B4-BE49-F238E27FC236}">
                <a16:creationId xmlns:a16="http://schemas.microsoft.com/office/drawing/2014/main" id="{3F58E609-8237-000D-8094-9E0E1180B6DB}"/>
              </a:ext>
            </a:extLst>
          </p:cNvPr>
          <p:cNvSpPr>
            <a:spLocks noGrp="1"/>
          </p:cNvSpPr>
          <p:nvPr>
            <p:ph type="body" idx="1"/>
          </p:nvPr>
        </p:nvSpPr>
        <p:spPr/>
        <p:txBody>
          <a:bodyPr>
            <a:normAutofit/>
          </a:bodyPr>
          <a:lstStyle/>
          <a:p>
            <a:endParaRPr lang="zh-TW" altLang="en-US"/>
          </a:p>
        </p:txBody>
      </p:sp>
      <p:sp>
        <p:nvSpPr>
          <p:cNvPr id="4" name="投影片編號版面配置區 3">
            <a:extLst>
              <a:ext uri="{FF2B5EF4-FFF2-40B4-BE49-F238E27FC236}">
                <a16:creationId xmlns:a16="http://schemas.microsoft.com/office/drawing/2014/main" id="{ED5FF5AB-A436-13D6-474D-3E4A631372D7}"/>
              </a:ext>
            </a:extLst>
          </p:cNvPr>
          <p:cNvSpPr>
            <a:spLocks noGrp="1"/>
          </p:cNvSpPr>
          <p:nvPr>
            <p:ph type="sldNum" sz="quarter" idx="10"/>
          </p:nvPr>
        </p:nvSpPr>
        <p:spPr/>
        <p:txBody>
          <a:bodyPr/>
          <a:lstStyle/>
          <a:p>
            <a:fld id="{7320D120-4707-426F-9B85-873E256A6635}" type="slidenum">
              <a:rPr lang="zh-TW" altLang="en-US" smtClean="0"/>
              <a:pPr/>
              <a:t>26</a:t>
            </a:fld>
            <a:endParaRPr lang="zh-TW" altLang="en-US"/>
          </a:p>
        </p:txBody>
      </p:sp>
    </p:spTree>
    <p:extLst>
      <p:ext uri="{BB962C8B-B14F-4D97-AF65-F5344CB8AC3E}">
        <p14:creationId xmlns:p14="http://schemas.microsoft.com/office/powerpoint/2010/main" val="25904890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rtl="0"/>
            <a:r>
              <a:rPr lang="en-US" altLang="zh-CN" sz="1200" kern="1200" dirty="0">
                <a:solidFill>
                  <a:schemeClr val="tx1"/>
                </a:solidFill>
                <a:effectLst/>
                <a:latin typeface="+mn-lt"/>
                <a:ea typeface="+mn-ea"/>
                <a:cs typeface="+mn-cs"/>
              </a:rPr>
              <a:t>Researchers propose the </a:t>
            </a:r>
            <a:r>
              <a:rPr lang="en-US" altLang="zh-CN" sz="1200" kern="1200" dirty="0" err="1">
                <a:solidFill>
                  <a:schemeClr val="tx1"/>
                </a:solidFill>
                <a:effectLst/>
                <a:latin typeface="+mn-lt"/>
                <a:ea typeface="+mn-ea"/>
                <a:cs typeface="+mn-cs"/>
              </a:rPr>
              <a:t>SysSpec</a:t>
            </a:r>
            <a:r>
              <a:rPr lang="en-US" altLang="zh-CN" sz="1200" kern="1200" dirty="0">
                <a:solidFill>
                  <a:schemeClr val="tx1"/>
                </a:solidFill>
                <a:effectLst/>
                <a:latin typeface="+mn-lt"/>
                <a:ea typeface="+mn-ea"/>
                <a:cs typeface="+mn-cs"/>
              </a:rPr>
              <a:t> framework, which replaces vague hints with structured, precise specifications to guide LLM in generating correct and evolvable file systems.</a:t>
            </a:r>
            <a:endParaRPr lang="zh-CN" altLang="zh-CN" dirty="0">
              <a:effectLst/>
            </a:endParaRPr>
          </a:p>
          <a:p>
            <a:endParaRPr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27</a:t>
            </a:fld>
            <a:endParaRPr lang="zh-TW" altLang="en-US"/>
          </a:p>
        </p:txBody>
      </p:sp>
    </p:spTree>
    <p:extLst>
      <p:ext uri="{BB962C8B-B14F-4D97-AF65-F5344CB8AC3E}">
        <p14:creationId xmlns:p14="http://schemas.microsoft.com/office/powerpoint/2010/main" val="12868782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rtl="0"/>
            <a:r>
              <a:rPr lang="en-US" altLang="zh-CN" sz="1200" kern="1200" dirty="0">
                <a:solidFill>
                  <a:schemeClr val="tx1"/>
                </a:solidFill>
                <a:effectLst/>
                <a:latin typeface="+mn-lt"/>
                <a:ea typeface="+mn-ea"/>
                <a:cs typeface="+mn-cs"/>
              </a:rPr>
              <a:t>Drawing inspiration from Hoare Logic, this approach defines function contracts using preconditions and postconditions, ensures global consistency using invariants, and describes the implementation strategy using system algorithm. The specification is divided into three complexity levels: simple modules require only preconditions, postconditions, and invariants; medium-complexity modules can incorporate natural language intent descriptions; and complex modules require explicit algorithms.</a:t>
            </a:r>
            <a:endParaRPr lang="zh-CN" altLang="zh-CN" dirty="0">
              <a:effectLst/>
            </a:endParaRPr>
          </a:p>
          <a:p>
            <a:endParaRPr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28</a:t>
            </a:fld>
            <a:endParaRPr lang="zh-TW" altLang="en-US"/>
          </a:p>
        </p:txBody>
      </p:sp>
    </p:spTree>
    <p:extLst>
      <p:ext uri="{BB962C8B-B14F-4D97-AF65-F5344CB8AC3E}">
        <p14:creationId xmlns:p14="http://schemas.microsoft.com/office/powerpoint/2010/main" val="13665905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2B26B-B718-47F6-BD64-2836FBD3276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99AAE2-E1DE-AE2F-BDE2-ED7FD6C8892C}"/>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63E23C1B-03A9-CFE0-6BE1-3DFFB7E80E43}"/>
              </a:ext>
            </a:extLst>
          </p:cNvPr>
          <p:cNvSpPr>
            <a:spLocks noGrp="1"/>
          </p:cNvSpPr>
          <p:nvPr>
            <p:ph type="body" idx="1"/>
          </p:nvPr>
        </p:nvSpPr>
        <p:spPr/>
        <p:txBody>
          <a:bodyPr/>
          <a:lstStyle/>
          <a:p>
            <a:pPr rtl="0"/>
            <a:r>
              <a:rPr lang="en-US" altLang="zh-CN" sz="1200" kern="1200" dirty="0">
                <a:solidFill>
                  <a:schemeClr val="tx1"/>
                </a:solidFill>
                <a:effectLst/>
                <a:latin typeface="+mn-lt"/>
                <a:ea typeface="+mn-ea"/>
                <a:cs typeface="+mn-cs"/>
              </a:rPr>
              <a:t>To address the limitations of the LLM context, authors break down the system into small modules (≤500 lines of code) and adopt a Rely-Guarantee contract: each module declares the components it depends on (Rely) and the interface behavior it provides (Guarantee). Logical implicature between modules ensures correct composition and also supports integration with external libraries.</a:t>
            </a:r>
            <a:endParaRPr lang="zh-CN" altLang="zh-CN" dirty="0">
              <a:effectLst/>
            </a:endParaRPr>
          </a:p>
          <a:p>
            <a:endParaRPr lang="zh-CN" altLang="en-US" dirty="0"/>
          </a:p>
        </p:txBody>
      </p:sp>
      <p:sp>
        <p:nvSpPr>
          <p:cNvPr id="4" name="灯片编号占位符 3">
            <a:extLst>
              <a:ext uri="{FF2B5EF4-FFF2-40B4-BE49-F238E27FC236}">
                <a16:creationId xmlns:a16="http://schemas.microsoft.com/office/drawing/2014/main" id="{43C3D952-DBCD-C9DF-4174-0D3E113482A3}"/>
              </a:ext>
            </a:extLst>
          </p:cNvPr>
          <p:cNvSpPr>
            <a:spLocks noGrp="1"/>
          </p:cNvSpPr>
          <p:nvPr>
            <p:ph type="sldNum" sz="quarter" idx="5"/>
          </p:nvPr>
        </p:nvSpPr>
        <p:spPr/>
        <p:txBody>
          <a:bodyPr/>
          <a:lstStyle/>
          <a:p>
            <a:fld id="{B11D5518-E2B7-47D3-A483-775D39982443}" type="slidenum">
              <a:rPr lang="zh-TW" altLang="en-US" smtClean="0"/>
              <a:t>29</a:t>
            </a:fld>
            <a:endParaRPr lang="zh-TW" altLang="en-US"/>
          </a:p>
        </p:txBody>
      </p:sp>
    </p:spTree>
    <p:extLst>
      <p:ext uri="{BB962C8B-B14F-4D97-AF65-F5344CB8AC3E}">
        <p14:creationId xmlns:p14="http://schemas.microsoft.com/office/powerpoint/2010/main" val="18471719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620D9-427F-1D8A-606B-60A5DBCF676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20B7DC3-F9BB-4CFC-EAA4-FCCA21E66F83}"/>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062500AB-11A8-3AE1-9039-5D987DC82AE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Concurrency logic is complex, and LLMs are prone to errors. Authors separate concurrency from functionality: first, LLMs generate sequential code, and then add synchronization mechanisms according to independent concurrency specifications (such as locking protocols). This two-phase generation greatly reduces the difficulty.</a:t>
            </a:r>
            <a:endParaRPr lang="zh-CN" altLang="zh-CN" dirty="0">
              <a:effectLst/>
            </a:endParaRPr>
          </a:p>
          <a:p>
            <a:endParaRPr lang="zh-CN" altLang="en-US" dirty="0"/>
          </a:p>
        </p:txBody>
      </p:sp>
      <p:sp>
        <p:nvSpPr>
          <p:cNvPr id="4" name="灯片编号占位符 3">
            <a:extLst>
              <a:ext uri="{FF2B5EF4-FFF2-40B4-BE49-F238E27FC236}">
                <a16:creationId xmlns:a16="http://schemas.microsoft.com/office/drawing/2014/main" id="{4DD191AF-8733-669E-218F-B66881812495}"/>
              </a:ext>
            </a:extLst>
          </p:cNvPr>
          <p:cNvSpPr>
            <a:spLocks noGrp="1"/>
          </p:cNvSpPr>
          <p:nvPr>
            <p:ph type="sldNum" sz="quarter" idx="5"/>
          </p:nvPr>
        </p:nvSpPr>
        <p:spPr/>
        <p:txBody>
          <a:bodyPr/>
          <a:lstStyle/>
          <a:p>
            <a:fld id="{B11D5518-E2B7-47D3-A483-775D39982443}" type="slidenum">
              <a:rPr lang="zh-TW" altLang="en-US" smtClean="0"/>
              <a:t>30</a:t>
            </a:fld>
            <a:endParaRPr lang="zh-TW" altLang="en-US"/>
          </a:p>
        </p:txBody>
      </p:sp>
    </p:spTree>
    <p:extLst>
      <p:ext uri="{BB962C8B-B14F-4D97-AF65-F5344CB8AC3E}">
        <p14:creationId xmlns:p14="http://schemas.microsoft.com/office/powerpoint/2010/main" val="13852621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rtl="0"/>
            <a:r>
              <a:rPr lang="en-US" altLang="zh-CN" sz="1200" kern="1200" dirty="0">
                <a:solidFill>
                  <a:schemeClr val="tx1"/>
                </a:solidFill>
                <a:effectLst/>
                <a:latin typeface="+mn-lt"/>
                <a:ea typeface="+mn-ea"/>
                <a:cs typeface="+mn-cs"/>
              </a:rPr>
              <a:t>DAG (Directed Acyclic Graph) structured specification patch is to manage file system evolution.</a:t>
            </a:r>
            <a:endParaRPr lang="zh-CN" altLang="zh-CN" dirty="0">
              <a:effectLst/>
            </a:endParaRPr>
          </a:p>
          <a:p>
            <a:pPr rtl="0"/>
            <a:r>
              <a:rPr lang="en-US" altLang="zh-CN" sz="1200" kern="1200" dirty="0">
                <a:solidFill>
                  <a:schemeClr val="tx1"/>
                </a:solidFill>
                <a:effectLst/>
                <a:latin typeface="+mn-lt"/>
                <a:ea typeface="+mn-ea"/>
                <a:cs typeface="+mn-cs"/>
              </a:rPr>
              <a:t>When the file system evolves, developers only need to write high-level specification patches, rather than modifying C code. Patches use a DAG structure:</a:t>
            </a:r>
            <a:br>
              <a:rPr lang="en-US" altLang="zh-CN" sz="1200" kern="1200" dirty="0">
                <a:solidFill>
                  <a:schemeClr val="tx1"/>
                </a:solidFill>
                <a:effectLst/>
                <a:latin typeface="+mn-lt"/>
                <a:ea typeface="+mn-ea"/>
                <a:cs typeface="+mn-cs"/>
              </a:rPr>
            </a:br>
            <a:r>
              <a:rPr lang="en-US" altLang="zh-CN" sz="1200" kern="1200" dirty="0">
                <a:solidFill>
                  <a:schemeClr val="tx1"/>
                </a:solidFill>
                <a:effectLst/>
                <a:latin typeface="+mn-lt"/>
                <a:ea typeface="+mn-ea"/>
                <a:cs typeface="+mn-cs"/>
              </a:rPr>
              <a:t>Leaf nodes: Local modifications do not affect other modules.</a:t>
            </a:r>
            <a:br>
              <a:rPr lang="en-US" altLang="zh-CN" sz="1200" kern="1200" dirty="0">
                <a:solidFill>
                  <a:schemeClr val="tx1"/>
                </a:solidFill>
                <a:effectLst/>
                <a:latin typeface="+mn-lt"/>
                <a:ea typeface="+mn-ea"/>
                <a:cs typeface="+mn-cs"/>
              </a:rPr>
            </a:br>
            <a:r>
              <a:rPr lang="en-US" altLang="zh-CN" sz="1200" kern="1200" dirty="0">
                <a:solidFill>
                  <a:schemeClr val="tx1"/>
                </a:solidFill>
                <a:effectLst/>
                <a:latin typeface="+mn-lt"/>
                <a:ea typeface="+mn-ea"/>
                <a:cs typeface="+mn-cs"/>
              </a:rPr>
              <a:t>Intermediate nodes: Depend on the guarantees of child nodes to progressively build new functionality.</a:t>
            </a:r>
            <a:br>
              <a:rPr lang="en-US" altLang="zh-CN" sz="1200" kern="1200" dirty="0">
                <a:solidFill>
                  <a:schemeClr val="tx1"/>
                </a:solidFill>
                <a:effectLst/>
                <a:latin typeface="+mn-lt"/>
                <a:ea typeface="+mn-ea"/>
                <a:cs typeface="+mn-cs"/>
              </a:rPr>
            </a:br>
            <a:r>
              <a:rPr lang="en-US" altLang="zh-CN" sz="1200" kern="1200" dirty="0">
                <a:solidFill>
                  <a:schemeClr val="tx1"/>
                </a:solidFill>
                <a:effectLst/>
                <a:latin typeface="+mn-lt"/>
                <a:ea typeface="+mn-ea"/>
                <a:cs typeface="+mn-cs"/>
              </a:rPr>
              <a:t>Root node: Provides the same interface as the original implementation, allowing safe replacement of old modules.</a:t>
            </a:r>
            <a:br>
              <a:rPr lang="en-US" altLang="zh-CN" sz="1200" kern="1200" dirty="0">
                <a:solidFill>
                  <a:schemeClr val="tx1"/>
                </a:solidFill>
                <a:effectLst/>
                <a:latin typeface="+mn-lt"/>
                <a:ea typeface="+mn-ea"/>
                <a:cs typeface="+mn-cs"/>
              </a:rPr>
            </a:br>
            <a:r>
              <a:rPr lang="en-US" altLang="zh-CN" sz="1200" kern="1200" dirty="0">
                <a:solidFill>
                  <a:schemeClr val="tx1"/>
                </a:solidFill>
                <a:effectLst/>
                <a:latin typeface="+mn-lt"/>
                <a:ea typeface="+mn-ea"/>
                <a:cs typeface="+mn-cs"/>
              </a:rPr>
              <a:t>The toolchain generates code from bottom to top in dependency order, ensuring consistency.</a:t>
            </a:r>
            <a:endParaRPr lang="zh-CN" altLang="zh-CN" dirty="0">
              <a:effectLst/>
            </a:endParaRPr>
          </a:p>
          <a:p>
            <a:endParaRPr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31</a:t>
            </a:fld>
            <a:endParaRPr lang="zh-TW" altLang="en-US"/>
          </a:p>
        </p:txBody>
      </p:sp>
    </p:spTree>
    <p:extLst>
      <p:ext uri="{BB962C8B-B14F-4D97-AF65-F5344CB8AC3E}">
        <p14:creationId xmlns:p14="http://schemas.microsoft.com/office/powerpoint/2010/main" val="26891561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rtl="0"/>
            <a:r>
              <a:rPr lang="en-US" altLang="zh-CN" sz="1200" kern="1200" dirty="0">
                <a:solidFill>
                  <a:schemeClr val="tx1"/>
                </a:solidFill>
                <a:effectLst/>
                <a:latin typeface="+mn-lt"/>
                <a:ea typeface="+mn-ea"/>
                <a:cs typeface="+mn-cs"/>
              </a:rPr>
              <a:t>The </a:t>
            </a:r>
            <a:r>
              <a:rPr lang="en-US" altLang="zh-CN" sz="1200" kern="1200" dirty="0" err="1">
                <a:solidFill>
                  <a:schemeClr val="tx1"/>
                </a:solidFill>
                <a:effectLst/>
                <a:latin typeface="+mn-lt"/>
                <a:ea typeface="+mn-ea"/>
                <a:cs typeface="+mn-cs"/>
              </a:rPr>
              <a:t>SysSpec</a:t>
            </a:r>
            <a:r>
              <a:rPr lang="en-US" altLang="zh-CN" sz="1200" kern="1200" dirty="0">
                <a:solidFill>
                  <a:schemeClr val="tx1"/>
                </a:solidFill>
                <a:effectLst/>
                <a:latin typeface="+mn-lt"/>
                <a:ea typeface="+mn-ea"/>
                <a:cs typeface="+mn-cs"/>
              </a:rPr>
              <a:t> Toolchain comprises three LLM-based agents.</a:t>
            </a:r>
            <a:endParaRPr lang="zh-CN" altLang="zh-CN" dirty="0">
              <a:effectLst/>
            </a:endParaRPr>
          </a:p>
          <a:p>
            <a:pPr rtl="0"/>
            <a:r>
              <a:rPr lang="en-US" altLang="zh-CN" sz="1200" kern="1200" dirty="0" err="1">
                <a:solidFill>
                  <a:schemeClr val="tx1"/>
                </a:solidFill>
                <a:effectLst/>
                <a:latin typeface="+mn-lt"/>
                <a:ea typeface="+mn-ea"/>
                <a:cs typeface="+mn-cs"/>
              </a:rPr>
              <a:t>SpecCompiler</a:t>
            </a:r>
            <a:r>
              <a:rPr lang="en-US" altLang="zh-CN" sz="1200" kern="1200" dirty="0">
                <a:solidFill>
                  <a:schemeClr val="tx1"/>
                </a:solidFill>
                <a:effectLst/>
                <a:latin typeface="+mn-lt"/>
                <a:ea typeface="+mn-ea"/>
                <a:cs typeface="+mn-cs"/>
              </a:rPr>
              <a:t> translates </a:t>
            </a:r>
            <a:r>
              <a:rPr lang="en-US" altLang="zh-CN" sz="1200" kern="1200" dirty="0" err="1">
                <a:solidFill>
                  <a:schemeClr val="tx1"/>
                </a:solidFill>
                <a:effectLst/>
                <a:latin typeface="+mn-lt"/>
                <a:ea typeface="+mn-ea"/>
                <a:cs typeface="+mn-cs"/>
              </a:rPr>
              <a:t>SysSpec</a:t>
            </a:r>
            <a:r>
              <a:rPr lang="en-US" altLang="zh-CN" sz="1200" kern="1200" dirty="0">
                <a:solidFill>
                  <a:schemeClr val="tx1"/>
                </a:solidFill>
                <a:effectLst/>
                <a:latin typeface="+mn-lt"/>
                <a:ea typeface="+mn-ea"/>
                <a:cs typeface="+mn-cs"/>
              </a:rPr>
              <a:t> into C code using two primary techniques: two-phase prompting (generating logic first, then adding concurrency) and an iterative retry-with-feedback loop involving a </a:t>
            </a:r>
            <a:r>
              <a:rPr lang="en-US" altLang="zh-CN" sz="1200" kern="1200" dirty="0" err="1">
                <a:solidFill>
                  <a:schemeClr val="tx1"/>
                </a:solidFill>
                <a:effectLst/>
                <a:latin typeface="+mn-lt"/>
                <a:ea typeface="+mn-ea"/>
                <a:cs typeface="+mn-cs"/>
              </a:rPr>
              <a:t>CodeGen</a:t>
            </a:r>
            <a:r>
              <a:rPr lang="en-US" altLang="zh-CN" sz="1200" kern="1200" dirty="0">
                <a:solidFill>
                  <a:schemeClr val="tx1"/>
                </a:solidFill>
                <a:effectLst/>
                <a:latin typeface="+mn-lt"/>
                <a:ea typeface="+mn-ea"/>
                <a:cs typeface="+mn-cs"/>
              </a:rPr>
              <a:t> agent and a </a:t>
            </a:r>
            <a:r>
              <a:rPr lang="en-US" altLang="zh-CN" sz="1200" kern="1200" dirty="0" err="1">
                <a:solidFill>
                  <a:schemeClr val="tx1"/>
                </a:solidFill>
                <a:effectLst/>
                <a:latin typeface="+mn-lt"/>
                <a:ea typeface="+mn-ea"/>
                <a:cs typeface="+mn-cs"/>
              </a:rPr>
              <a:t>SpecEval</a:t>
            </a:r>
            <a:r>
              <a:rPr lang="en-US" altLang="zh-CN" sz="1200" kern="1200" dirty="0">
                <a:solidFill>
                  <a:schemeClr val="tx1"/>
                </a:solidFill>
                <a:effectLst/>
                <a:latin typeface="+mn-lt"/>
                <a:ea typeface="+mn-ea"/>
                <a:cs typeface="+mn-cs"/>
              </a:rPr>
              <a:t> reviewer. If </a:t>
            </a:r>
            <a:r>
              <a:rPr lang="en-US" altLang="zh-CN" sz="1200" kern="1200" dirty="0" err="1">
                <a:solidFill>
                  <a:schemeClr val="tx1"/>
                </a:solidFill>
                <a:effectLst/>
                <a:latin typeface="+mn-lt"/>
                <a:ea typeface="+mn-ea"/>
                <a:cs typeface="+mn-cs"/>
              </a:rPr>
              <a:t>SpecEval</a:t>
            </a:r>
            <a:r>
              <a:rPr lang="en-US" altLang="zh-CN" sz="1200" kern="1200" dirty="0">
                <a:solidFill>
                  <a:schemeClr val="tx1"/>
                </a:solidFill>
                <a:effectLst/>
                <a:latin typeface="+mn-lt"/>
                <a:ea typeface="+mn-ea"/>
                <a:cs typeface="+mn-cs"/>
              </a:rPr>
              <a:t> identifies flaws, it generates actionable feedback for </a:t>
            </a:r>
            <a:r>
              <a:rPr lang="en-US" altLang="zh-CN" sz="1200" kern="1200" dirty="0" err="1">
                <a:solidFill>
                  <a:schemeClr val="tx1"/>
                </a:solidFill>
                <a:effectLst/>
                <a:latin typeface="+mn-lt"/>
                <a:ea typeface="+mn-ea"/>
                <a:cs typeface="+mn-cs"/>
              </a:rPr>
              <a:t>CodeGen</a:t>
            </a:r>
            <a:r>
              <a:rPr lang="en-US" altLang="zh-CN" sz="1200" kern="1200" dirty="0">
                <a:solidFill>
                  <a:schemeClr val="tx1"/>
                </a:solidFill>
                <a:effectLst/>
                <a:latin typeface="+mn-lt"/>
                <a:ea typeface="+mn-ea"/>
                <a:cs typeface="+mn-cs"/>
              </a:rPr>
              <a:t> to retry until the specification is satisfied.</a:t>
            </a:r>
            <a:endParaRPr lang="zh-CN" altLang="zh-CN" dirty="0">
              <a:effectLst/>
            </a:endParaRPr>
          </a:p>
          <a:p>
            <a:pPr rtl="0"/>
            <a:r>
              <a:rPr lang="en-US" altLang="zh-CN" sz="1200" kern="1200" dirty="0" err="1">
                <a:solidFill>
                  <a:schemeClr val="tx1"/>
                </a:solidFill>
                <a:effectLst/>
                <a:latin typeface="+mn-lt"/>
                <a:ea typeface="+mn-ea"/>
                <a:cs typeface="+mn-cs"/>
              </a:rPr>
              <a:t>SpecValidator</a:t>
            </a:r>
            <a:r>
              <a:rPr lang="en-US" altLang="zh-CN" sz="1200" kern="1200" dirty="0">
                <a:solidFill>
                  <a:schemeClr val="tx1"/>
                </a:solidFill>
                <a:effectLst/>
                <a:latin typeface="+mn-lt"/>
                <a:ea typeface="+mn-ea"/>
                <a:cs typeface="+mn-cs"/>
              </a:rPr>
              <a:t> fights LLM hallucination through dual validation: reusing </a:t>
            </a:r>
            <a:r>
              <a:rPr lang="en-US" altLang="zh-CN" sz="1200" kern="1200" dirty="0" err="1">
                <a:solidFill>
                  <a:schemeClr val="tx1"/>
                </a:solidFill>
                <a:effectLst/>
                <a:latin typeface="+mn-lt"/>
                <a:ea typeface="+mn-ea"/>
                <a:cs typeface="+mn-cs"/>
              </a:rPr>
              <a:t>SpecEval</a:t>
            </a:r>
            <a:r>
              <a:rPr lang="en-US" altLang="zh-CN" sz="1200" kern="1200" dirty="0">
                <a:solidFill>
                  <a:schemeClr val="tx1"/>
                </a:solidFill>
                <a:effectLst/>
                <a:latin typeface="+mn-lt"/>
                <a:ea typeface="+mn-ea"/>
                <a:cs typeface="+mn-cs"/>
              </a:rPr>
              <a:t> logic to check modules against specifications, and running unit and regression tests.</a:t>
            </a:r>
            <a:endParaRPr lang="zh-CN" altLang="zh-CN" dirty="0">
              <a:effectLst/>
            </a:endParaRPr>
          </a:p>
          <a:p>
            <a:pPr rtl="0"/>
            <a:r>
              <a:rPr lang="en-US" altLang="zh-CN" sz="1200" kern="1200" dirty="0" err="1">
                <a:solidFill>
                  <a:schemeClr val="tx1"/>
                </a:solidFill>
                <a:effectLst/>
                <a:latin typeface="+mn-lt"/>
                <a:ea typeface="+mn-ea"/>
                <a:cs typeface="+mn-cs"/>
              </a:rPr>
              <a:t>SpecAssistant</a:t>
            </a:r>
            <a:r>
              <a:rPr lang="en-US" altLang="zh-CN" sz="1200" kern="1200" dirty="0">
                <a:solidFill>
                  <a:schemeClr val="tx1"/>
                </a:solidFill>
                <a:effectLst/>
                <a:latin typeface="+mn-lt"/>
                <a:ea typeface="+mn-ea"/>
                <a:cs typeface="+mn-cs"/>
              </a:rPr>
              <a:t> validates and reformats developer drafts to meet SYSSPEC’s syntax, then enters an automated refinement loop. On success, it provides refined specifications and C implementations; on failure, it returns annotated diagnostics as a debug log that guides the developer in resolving the issue.</a:t>
            </a:r>
            <a:endParaRPr lang="zh-CN" altLang="zh-CN" dirty="0">
              <a:effectLst/>
            </a:endParaRPr>
          </a:p>
          <a:p>
            <a:endParaRPr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32</a:t>
            </a:fld>
            <a:endParaRPr lang="zh-TW" altLang="en-US"/>
          </a:p>
        </p:txBody>
      </p:sp>
    </p:spTree>
    <p:extLst>
      <p:ext uri="{BB962C8B-B14F-4D97-AF65-F5344CB8AC3E}">
        <p14:creationId xmlns:p14="http://schemas.microsoft.com/office/powerpoint/2010/main" val="10775751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rtl="0"/>
            <a:r>
              <a:rPr lang="en-US" altLang="zh-CN" sz="1200" kern="1200" dirty="0">
                <a:solidFill>
                  <a:schemeClr val="tx1"/>
                </a:solidFill>
                <a:effectLst/>
                <a:latin typeface="+mn-lt"/>
                <a:ea typeface="+mn-ea"/>
                <a:cs typeface="+mn-cs"/>
              </a:rPr>
              <a:t>Researchers demonstrate SYSSPEC through SPECFS, a concurrent in-memory FUSE-based file system based on the formally verified </a:t>
            </a:r>
            <a:r>
              <a:rPr lang="en-US" altLang="zh-CN" sz="1200" kern="1200" dirty="0" err="1">
                <a:solidFill>
                  <a:schemeClr val="tx1"/>
                </a:solidFill>
                <a:effectLst/>
                <a:latin typeface="+mn-lt"/>
                <a:ea typeface="+mn-ea"/>
                <a:cs typeface="+mn-cs"/>
              </a:rPr>
              <a:t>AtomFS</a:t>
            </a:r>
            <a:r>
              <a:rPr lang="en-US" altLang="zh-CN" sz="1200" kern="1200" dirty="0">
                <a:solidFill>
                  <a:schemeClr val="tx1"/>
                </a:solidFill>
                <a:effectLst/>
                <a:latin typeface="+mn-lt"/>
                <a:ea typeface="+mn-ea"/>
                <a:cs typeface="+mn-cs"/>
              </a:rPr>
              <a:t> design. SPECFS comprises 45 distinct modules including file operations, </a:t>
            </a:r>
            <a:r>
              <a:rPr lang="en-US" altLang="zh-CN" sz="1200" kern="1200" dirty="0" err="1">
                <a:solidFill>
                  <a:schemeClr val="tx1"/>
                </a:solidFill>
                <a:effectLst/>
                <a:latin typeface="+mn-lt"/>
                <a:ea typeface="+mn-ea"/>
                <a:cs typeface="+mn-cs"/>
              </a:rPr>
              <a:t>inode</a:t>
            </a:r>
            <a:r>
              <a:rPr lang="en-US" altLang="zh-CN" sz="1200" kern="1200" dirty="0">
                <a:solidFill>
                  <a:schemeClr val="tx1"/>
                </a:solidFill>
                <a:effectLst/>
                <a:latin typeface="+mn-lt"/>
                <a:ea typeface="+mn-ea"/>
                <a:cs typeface="+mn-cs"/>
              </a:rPr>
              <a:t> management, and POSIX interfaces. The generated C implementation contains approximately 4,300 lines of code, ranking 42nd among 82 file systems in Linux 6.1.10.</a:t>
            </a:r>
            <a:endParaRPr lang="zh-CN" altLang="zh-CN" dirty="0">
              <a:effectLst/>
            </a:endParaRPr>
          </a:p>
          <a:p>
            <a:pPr rtl="0"/>
            <a:r>
              <a:rPr lang="en-US" altLang="zh-CN" sz="1200" kern="1200" dirty="0">
                <a:solidFill>
                  <a:schemeClr val="tx1"/>
                </a:solidFill>
                <a:effectLst/>
                <a:latin typeface="+mn-lt"/>
                <a:ea typeface="+mn-ea"/>
                <a:cs typeface="+mn-cs"/>
              </a:rPr>
              <a:t>Rather than porting </a:t>
            </a:r>
            <a:r>
              <a:rPr lang="en-US" altLang="zh-CN" sz="1200" kern="1200" dirty="0" err="1">
                <a:solidFill>
                  <a:schemeClr val="tx1"/>
                </a:solidFill>
                <a:effectLst/>
                <a:latin typeface="+mn-lt"/>
                <a:ea typeface="+mn-ea"/>
                <a:cs typeface="+mn-cs"/>
              </a:rPr>
              <a:t>AtomFS's</a:t>
            </a:r>
            <a:r>
              <a:rPr lang="en-US" altLang="zh-CN" sz="1200" kern="1200" dirty="0">
                <a:solidFill>
                  <a:schemeClr val="tx1"/>
                </a:solidFill>
                <a:effectLst/>
                <a:latin typeface="+mn-lt"/>
                <a:ea typeface="+mn-ea"/>
                <a:cs typeface="+mn-cs"/>
              </a:rPr>
              <a:t> C implementation, they reimplemented its design using SYSSPEC specifications including pre/post-conditions, invariants, rely/guarantee contracts, and concurrency specs. Validated against </a:t>
            </a:r>
            <a:r>
              <a:rPr lang="en-US" altLang="zh-CN" sz="1200" kern="1200" dirty="0" err="1">
                <a:solidFill>
                  <a:schemeClr val="tx1"/>
                </a:solidFill>
                <a:effectLst/>
                <a:latin typeface="+mn-lt"/>
                <a:ea typeface="+mn-ea"/>
                <a:cs typeface="+mn-cs"/>
              </a:rPr>
              <a:t>xfstests</a:t>
            </a:r>
            <a:r>
              <a:rPr lang="en-US" altLang="zh-CN" sz="1200" kern="1200" dirty="0">
                <a:solidFill>
                  <a:schemeClr val="tx1"/>
                </a:solidFill>
                <a:effectLst/>
                <a:latin typeface="+mn-lt"/>
                <a:ea typeface="+mn-ea"/>
                <a:cs typeface="+mn-cs"/>
              </a:rPr>
              <a:t>, SPECFS demonstrates equivalent correctness to the original </a:t>
            </a:r>
            <a:r>
              <a:rPr lang="en-US" altLang="zh-CN" sz="1200" kern="1200" dirty="0" err="1">
                <a:solidFill>
                  <a:schemeClr val="tx1"/>
                </a:solidFill>
                <a:effectLst/>
                <a:latin typeface="+mn-lt"/>
                <a:ea typeface="+mn-ea"/>
                <a:cs typeface="+mn-cs"/>
              </a:rPr>
              <a:t>AtomFS</a:t>
            </a:r>
            <a:r>
              <a:rPr lang="en-US" altLang="zh-CN" sz="1200" kern="1200" dirty="0">
                <a:solidFill>
                  <a:schemeClr val="tx1"/>
                </a:solidFill>
                <a:effectLst/>
                <a:latin typeface="+mn-lt"/>
                <a:ea typeface="+mn-ea"/>
                <a:cs typeface="+mn-cs"/>
              </a:rPr>
              <a:t>, failing only 64 of 754 test cases due to unimplemented functionality. </a:t>
            </a:r>
            <a:endParaRPr lang="zh-CN" altLang="zh-CN" dirty="0">
              <a:effectLst/>
            </a:endParaRPr>
          </a:p>
          <a:p>
            <a:pPr rtl="0"/>
            <a:r>
              <a:rPr lang="en-US" altLang="zh-CN" sz="1200" kern="1200" dirty="0">
                <a:solidFill>
                  <a:schemeClr val="tx1"/>
                </a:solidFill>
                <a:effectLst/>
                <a:latin typeface="+mn-lt"/>
                <a:ea typeface="+mn-ea"/>
                <a:cs typeface="+mn-cs"/>
              </a:rPr>
              <a:t>Empirical study reveals that while strict SYSSPEC adherence ensures accuracy, simplified specifications can occasionally still yield correct code, offering a trade-off between accuracy and efficiency. When debugging, they initially locate bugs in generated C code, then validate the high-level design against specifications—most issues are diagnosed at the specification level. </a:t>
            </a:r>
            <a:endParaRPr lang="zh-CN" altLang="zh-CN" dirty="0">
              <a:effectLst/>
            </a:endParaRPr>
          </a:p>
          <a:p>
            <a:endParaRPr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33</a:t>
            </a:fld>
            <a:endParaRPr lang="zh-TW" altLang="en-US"/>
          </a:p>
        </p:txBody>
      </p:sp>
    </p:spTree>
    <p:extLst>
      <p:ext uri="{BB962C8B-B14F-4D97-AF65-F5344CB8AC3E}">
        <p14:creationId xmlns:p14="http://schemas.microsoft.com/office/powerpoint/2010/main" val="14971266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rtl="0"/>
            <a:r>
              <a:rPr lang="en-US" altLang="zh-CN" sz="1200" kern="1200" dirty="0">
                <a:solidFill>
                  <a:schemeClr val="tx1"/>
                </a:solidFill>
                <a:effectLst/>
                <a:latin typeface="+mn-lt"/>
                <a:ea typeface="+mn-ea"/>
                <a:cs typeface="+mn-cs"/>
              </a:rPr>
              <a:t>SPECFS showcases evolvability through integration of 10 Ext4 features via spec patches, categorized as: (I) file structure modification (e.g., Extents), (II) design updates for existing operations, (III) new functionalities, and (IV) hyperparameter modifications. </a:t>
            </a:r>
            <a:endParaRPr lang="zh-CN" altLang="zh-CN" dirty="0">
              <a:effectLst/>
            </a:endParaRPr>
          </a:p>
          <a:p>
            <a:endParaRPr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34</a:t>
            </a:fld>
            <a:endParaRPr lang="zh-TW" altLang="en-US"/>
          </a:p>
        </p:txBody>
      </p:sp>
    </p:spTree>
    <p:extLst>
      <p:ext uri="{BB962C8B-B14F-4D97-AF65-F5344CB8AC3E}">
        <p14:creationId xmlns:p14="http://schemas.microsoft.com/office/powerpoint/2010/main" val="37742396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rtl="0"/>
            <a:r>
              <a:rPr lang="en-US" altLang="zh-CN" sz="1200" kern="1200" dirty="0">
                <a:solidFill>
                  <a:schemeClr val="tx1"/>
                </a:solidFill>
                <a:effectLst/>
                <a:latin typeface="+mn-lt"/>
                <a:ea typeface="+mn-ea"/>
                <a:cs typeface="+mn-cs"/>
              </a:rPr>
              <a:t>For example, the Extent feature transforms file structures from individual blocks to contiguous ranges. The DAG patch begins with new data structures, updates low-level file operations, modifies </a:t>
            </a:r>
            <a:r>
              <a:rPr lang="en-US" altLang="zh-CN" sz="1200" kern="1200" dirty="0" err="1">
                <a:solidFill>
                  <a:schemeClr val="tx1"/>
                </a:solidFill>
                <a:effectLst/>
                <a:latin typeface="+mn-lt"/>
                <a:ea typeface="+mn-ea"/>
                <a:cs typeface="+mn-cs"/>
              </a:rPr>
              <a:t>inode</a:t>
            </a:r>
            <a:r>
              <a:rPr lang="en-US" altLang="zh-CN" sz="1200" kern="1200" dirty="0">
                <a:solidFill>
                  <a:schemeClr val="tx1"/>
                </a:solidFill>
                <a:effectLst/>
                <a:latin typeface="+mn-lt"/>
                <a:ea typeface="+mn-ea"/>
                <a:cs typeface="+mn-cs"/>
              </a:rPr>
              <a:t> management to invoke extent operations, and uses the updated </a:t>
            </a:r>
            <a:r>
              <a:rPr lang="en-US" altLang="zh-CN" sz="1200" kern="1200" dirty="0" err="1">
                <a:solidFill>
                  <a:schemeClr val="tx1"/>
                </a:solidFill>
                <a:effectLst/>
                <a:latin typeface="+mn-lt"/>
                <a:ea typeface="+mn-ea"/>
                <a:cs typeface="+mn-cs"/>
              </a:rPr>
              <a:t>inode</a:t>
            </a:r>
            <a:r>
              <a:rPr lang="en-US" altLang="zh-CN" sz="1200" kern="1200" dirty="0">
                <a:solidFill>
                  <a:schemeClr val="tx1"/>
                </a:solidFill>
                <a:effectLst/>
                <a:latin typeface="+mn-lt"/>
                <a:ea typeface="+mn-ea"/>
                <a:cs typeface="+mn-cs"/>
              </a:rPr>
              <a:t> management as the root node to replace the original.</a:t>
            </a:r>
            <a:endParaRPr lang="zh-CN" altLang="zh-CN" dirty="0">
              <a:effectLst/>
            </a:endParaRPr>
          </a:p>
          <a:p>
            <a:endParaRPr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35</a:t>
            </a:fld>
            <a:endParaRPr lang="zh-TW" altLang="en-US"/>
          </a:p>
        </p:txBody>
      </p:sp>
    </p:spTree>
    <p:extLst>
      <p:ext uri="{BB962C8B-B14F-4D97-AF65-F5344CB8AC3E}">
        <p14:creationId xmlns:p14="http://schemas.microsoft.com/office/powerpoint/2010/main" val="10986056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rtl="0"/>
            <a:r>
              <a:rPr lang="en-US" altLang="zh-CN" sz="1200" kern="1200" dirty="0">
                <a:solidFill>
                  <a:schemeClr val="tx1"/>
                </a:solidFill>
                <a:effectLst/>
                <a:latin typeface="+mn-lt"/>
                <a:ea typeface="+mn-ea"/>
                <a:cs typeface="+mn-cs"/>
              </a:rPr>
              <a:t>Evaluations on Accuracy</a:t>
            </a:r>
            <a:r>
              <a:rPr lang="en-US" altLang="zh-CN" sz="1200" b="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SPECFS achieves 100% accuracy on powerful models (Gemini-2.5-Pro, DS-V3.1) for generating </a:t>
            </a:r>
            <a:r>
              <a:rPr lang="en-US" altLang="zh-CN" sz="1200" kern="1200" dirty="0" err="1">
                <a:solidFill>
                  <a:schemeClr val="tx1"/>
                </a:solidFill>
                <a:effectLst/>
                <a:latin typeface="+mn-lt"/>
                <a:ea typeface="+mn-ea"/>
                <a:cs typeface="+mn-cs"/>
              </a:rPr>
              <a:t>AtomFS</a:t>
            </a:r>
            <a:r>
              <a:rPr lang="en-US" altLang="zh-CN" sz="1200" kern="1200" dirty="0">
                <a:solidFill>
                  <a:schemeClr val="tx1"/>
                </a:solidFill>
                <a:effectLst/>
                <a:latin typeface="+mn-lt"/>
                <a:ea typeface="+mn-ea"/>
                <a:cs typeface="+mn-cs"/>
              </a:rPr>
              <a:t> modules, compared to 81.8% for oracle baselines with ground-truth code, demonstrating that SYSSPEC's specification design significantly enhances generation accuracy. </a:t>
            </a:r>
            <a:endParaRPr lang="zh-CN" altLang="zh-CN" dirty="0">
              <a:effectLst/>
            </a:endParaRPr>
          </a:p>
          <a:p>
            <a:endParaRPr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36</a:t>
            </a:fld>
            <a:endParaRPr lang="zh-TW" altLang="en-US"/>
          </a:p>
        </p:txBody>
      </p:sp>
    </p:spTree>
    <p:extLst>
      <p:ext uri="{BB962C8B-B14F-4D97-AF65-F5344CB8AC3E}">
        <p14:creationId xmlns:p14="http://schemas.microsoft.com/office/powerpoint/2010/main" val="30548521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rtl="0"/>
            <a:r>
              <a:rPr lang="en-US" altLang="zh-CN" sz="1200" kern="1200" dirty="0">
                <a:solidFill>
                  <a:schemeClr val="tx1"/>
                </a:solidFill>
                <a:effectLst/>
                <a:latin typeface="+mn-lt"/>
                <a:ea typeface="+mn-ea"/>
                <a:cs typeface="+mn-cs"/>
              </a:rPr>
              <a:t>Evaluations on Generalizability. The framework successfully generates 10 Ext4 features encompassing 64 functional modules with high accuracy. Concurrency specifications prove generalizable across various locking methods, successfully generating code using both lock-free RCU and spinlocks for </a:t>
            </a:r>
            <a:r>
              <a:rPr lang="en-US" altLang="zh-CN" sz="1200" kern="1200" dirty="0" err="1">
                <a:solidFill>
                  <a:schemeClr val="tx1"/>
                </a:solidFill>
                <a:effectLst/>
                <a:latin typeface="+mn-lt"/>
                <a:ea typeface="+mn-ea"/>
                <a:cs typeface="+mn-cs"/>
              </a:rPr>
              <a:t>dentry</a:t>
            </a:r>
            <a:r>
              <a:rPr lang="en-US" altLang="zh-CN" sz="1200" kern="1200" dirty="0">
                <a:solidFill>
                  <a:schemeClr val="tx1"/>
                </a:solidFill>
                <a:effectLst/>
                <a:latin typeface="+mn-lt"/>
                <a:ea typeface="+mn-ea"/>
                <a:cs typeface="+mn-cs"/>
              </a:rPr>
              <a:t> lookup operations. </a:t>
            </a:r>
            <a:endParaRPr lang="zh-CN" altLang="zh-CN" dirty="0">
              <a:effectLst/>
            </a:endParaRPr>
          </a:p>
          <a:p>
            <a:endParaRPr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37</a:t>
            </a:fld>
            <a:endParaRPr lang="zh-TW" altLang="en-US"/>
          </a:p>
        </p:txBody>
      </p:sp>
    </p:spTree>
    <p:extLst>
      <p:ext uri="{BB962C8B-B14F-4D97-AF65-F5344CB8AC3E}">
        <p14:creationId xmlns:p14="http://schemas.microsoft.com/office/powerpoint/2010/main" val="186451058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rtl="0"/>
            <a:r>
              <a:rPr lang="en-US" altLang="zh-CN" sz="1200" b="0" kern="1200" dirty="0">
                <a:solidFill>
                  <a:schemeClr val="tx1"/>
                </a:solidFill>
                <a:effectLst/>
                <a:latin typeface="+mn-lt"/>
                <a:ea typeface="+mn-ea"/>
                <a:cs typeface="+mn-cs"/>
              </a:rPr>
              <a:t>Ablation Study. </a:t>
            </a:r>
            <a:r>
              <a:rPr lang="en-US" altLang="zh-CN" sz="1200" kern="1200" dirty="0">
                <a:solidFill>
                  <a:schemeClr val="tx1"/>
                </a:solidFill>
                <a:effectLst/>
                <a:latin typeface="+mn-lt"/>
                <a:ea typeface="+mn-ea"/>
                <a:cs typeface="+mn-cs"/>
              </a:rPr>
              <a:t>Functionality specification alone is insufficient due to interface mismatches. Combining functionality with modularity specifications supports concurrency-agnostic modules, while adding concurrency specifications and agent-supported self-validation achieves correctness for thread-safe modules. </a:t>
            </a:r>
            <a:endParaRPr lang="zh-CN" altLang="zh-CN" dirty="0">
              <a:effectLst/>
            </a:endParaRPr>
          </a:p>
          <a:p>
            <a:endParaRPr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38</a:t>
            </a:fld>
            <a:endParaRPr lang="zh-TW" altLang="en-US"/>
          </a:p>
        </p:txBody>
      </p:sp>
    </p:spTree>
    <p:extLst>
      <p:ext uri="{BB962C8B-B14F-4D97-AF65-F5344CB8AC3E}">
        <p14:creationId xmlns:p14="http://schemas.microsoft.com/office/powerpoint/2010/main" val="1632236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rtl="0"/>
            <a:r>
              <a:rPr lang="en-US" altLang="zh-CN" sz="1200" b="0" kern="1200" dirty="0">
                <a:solidFill>
                  <a:schemeClr val="tx1"/>
                </a:solidFill>
                <a:effectLst/>
                <a:latin typeface="+mn-lt"/>
                <a:ea typeface="+mn-ea"/>
                <a:cs typeface="+mn-cs"/>
              </a:rPr>
              <a:t>Productivity. </a:t>
            </a:r>
            <a:r>
              <a:rPr lang="en-US" altLang="zh-CN" sz="1200" kern="1200" dirty="0">
                <a:solidFill>
                  <a:schemeClr val="tx1"/>
                </a:solidFill>
                <a:effectLst/>
                <a:latin typeface="+mn-lt"/>
                <a:ea typeface="+mn-ea"/>
                <a:cs typeface="+mn-cs"/>
              </a:rPr>
              <a:t>SPECFS improves productivity by 3.0× for multi-module features (Extent) and 5.4× for complex locking logic (Rename). Specifications consistently require fewer lines than generated C code. </a:t>
            </a:r>
            <a:endParaRPr lang="zh-CN" altLang="zh-CN" dirty="0">
              <a:effectLst/>
            </a:endParaRPr>
          </a:p>
          <a:p>
            <a:endParaRPr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39</a:t>
            </a:fld>
            <a:endParaRPr lang="zh-TW" altLang="en-US"/>
          </a:p>
        </p:txBody>
      </p:sp>
    </p:spTree>
    <p:extLst>
      <p:ext uri="{BB962C8B-B14F-4D97-AF65-F5344CB8AC3E}">
        <p14:creationId xmlns:p14="http://schemas.microsoft.com/office/powerpoint/2010/main" val="25664457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rtl="0"/>
            <a:r>
              <a:rPr lang="en-US" altLang="zh-CN" sz="1200" b="0" kern="1200" dirty="0">
                <a:solidFill>
                  <a:schemeClr val="tx1"/>
                </a:solidFill>
                <a:effectLst/>
                <a:latin typeface="+mn-lt"/>
                <a:ea typeface="+mn-ea"/>
                <a:cs typeface="+mn-cs"/>
              </a:rPr>
              <a:t>Performance. </a:t>
            </a:r>
            <a:r>
              <a:rPr lang="en-US" altLang="zh-CN" sz="1200" kern="1200" dirty="0">
                <a:solidFill>
                  <a:schemeClr val="tx1"/>
                </a:solidFill>
                <a:effectLst/>
                <a:latin typeface="+mn-lt"/>
                <a:ea typeface="+mn-ea"/>
                <a:cs typeface="+mn-cs"/>
              </a:rPr>
              <a:t>Optimizations yield significant improvements: Inline Data reduces file sizes by 35.4%; multi-block pre-allocation decreases </a:t>
            </a:r>
            <a:r>
              <a:rPr lang="en-US" altLang="zh-CN" sz="1200" kern="1200" dirty="0" err="1">
                <a:solidFill>
                  <a:schemeClr val="tx1"/>
                </a:solidFill>
                <a:effectLst/>
                <a:latin typeface="+mn-lt"/>
                <a:ea typeface="+mn-ea"/>
                <a:cs typeface="+mn-cs"/>
              </a:rPr>
              <a:t>uncontiguous</a:t>
            </a:r>
            <a:r>
              <a:rPr lang="en-US" altLang="zh-CN" sz="1200" kern="1200" dirty="0">
                <a:solidFill>
                  <a:schemeClr val="tx1"/>
                </a:solidFill>
                <a:effectLst/>
                <a:latin typeface="+mn-lt"/>
                <a:ea typeface="+mn-ea"/>
                <a:cs typeface="+mn-cs"/>
              </a:rPr>
              <a:t> I/O by 30%; red-black trees for block pools reduce access frequency by 80.7%; Extents reduce total I/O operations; and Delayed Allocation eliminates up to 99.9% of write operations. </a:t>
            </a:r>
            <a:endParaRPr lang="zh-CN" altLang="zh-CN" dirty="0">
              <a:effectLst/>
            </a:endParaRPr>
          </a:p>
          <a:p>
            <a:endParaRPr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40</a:t>
            </a:fld>
            <a:endParaRPr lang="zh-TW" altLang="en-US"/>
          </a:p>
        </p:txBody>
      </p:sp>
    </p:spTree>
    <p:extLst>
      <p:ext uri="{BB962C8B-B14F-4D97-AF65-F5344CB8AC3E}">
        <p14:creationId xmlns:p14="http://schemas.microsoft.com/office/powerpoint/2010/main" val="416313616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E2827-6437-D31C-C975-ECF26CCC62AA}"/>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83688439-EFA1-C651-64B0-8919C3DE830C}"/>
              </a:ext>
            </a:extLst>
          </p:cNvPr>
          <p:cNvSpPr>
            <a:spLocks noGrp="1" noRot="1" noChangeAspect="1"/>
          </p:cNvSpPr>
          <p:nvPr>
            <p:ph type="sldImg"/>
          </p:nvPr>
        </p:nvSpPr>
        <p:spPr/>
        <p:txBody>
          <a:bodyPr/>
          <a:lstStyle/>
          <a:p>
            <a:endParaRPr lang="zh-CN" altLang="en-US"/>
          </a:p>
        </p:txBody>
      </p:sp>
      <p:sp>
        <p:nvSpPr>
          <p:cNvPr id="3" name="備忘稿版面配置區 2">
            <a:extLst>
              <a:ext uri="{FF2B5EF4-FFF2-40B4-BE49-F238E27FC236}">
                <a16:creationId xmlns:a16="http://schemas.microsoft.com/office/drawing/2014/main" id="{0FF67587-0A0B-5C44-2F96-2CFB53C5A037}"/>
              </a:ext>
            </a:extLst>
          </p:cNvPr>
          <p:cNvSpPr>
            <a:spLocks noGrp="1"/>
          </p:cNvSpPr>
          <p:nvPr>
            <p:ph type="body" idx="1"/>
          </p:nvPr>
        </p:nvSpPr>
        <p:spPr/>
        <p:txBody>
          <a:bodyPr>
            <a:normAutofit/>
          </a:bodyPr>
          <a:lstStyle/>
          <a:p>
            <a:endParaRPr lang="zh-TW" altLang="en-US"/>
          </a:p>
        </p:txBody>
      </p:sp>
      <p:sp>
        <p:nvSpPr>
          <p:cNvPr id="4" name="投影片編號版面配置區 3">
            <a:extLst>
              <a:ext uri="{FF2B5EF4-FFF2-40B4-BE49-F238E27FC236}">
                <a16:creationId xmlns:a16="http://schemas.microsoft.com/office/drawing/2014/main" id="{0AC0095F-9B14-D533-3280-A3F39CCB8C87}"/>
              </a:ext>
            </a:extLst>
          </p:cNvPr>
          <p:cNvSpPr>
            <a:spLocks noGrp="1"/>
          </p:cNvSpPr>
          <p:nvPr>
            <p:ph type="sldNum" sz="quarter" idx="10"/>
          </p:nvPr>
        </p:nvSpPr>
        <p:spPr/>
        <p:txBody>
          <a:bodyPr/>
          <a:lstStyle/>
          <a:p>
            <a:fld id="{7320D120-4707-426F-9B85-873E256A6635}" type="slidenum">
              <a:rPr lang="zh-TW" altLang="en-US" smtClean="0"/>
              <a:pPr/>
              <a:t>41</a:t>
            </a:fld>
            <a:endParaRPr lang="zh-TW" altLang="en-US"/>
          </a:p>
        </p:txBody>
      </p:sp>
    </p:spTree>
    <p:extLst>
      <p:ext uri="{BB962C8B-B14F-4D97-AF65-F5344CB8AC3E}">
        <p14:creationId xmlns:p14="http://schemas.microsoft.com/office/powerpoint/2010/main" val="164365587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73D64-8E3B-EE04-B349-6F9BC11ACE04}"/>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A8B2B621-9BDF-C07F-BFE3-E4FF86E61949}"/>
              </a:ext>
            </a:extLst>
          </p:cNvPr>
          <p:cNvSpPr>
            <a:spLocks noGrp="1" noRot="1" noChangeAspect="1"/>
          </p:cNvSpPr>
          <p:nvPr>
            <p:ph type="sldImg"/>
          </p:nvPr>
        </p:nvSpPr>
        <p:spPr/>
        <p:txBody>
          <a:bodyPr/>
          <a:lstStyle/>
          <a:p>
            <a:endParaRPr lang="zh-CN" altLang="en-US"/>
          </a:p>
        </p:txBody>
      </p:sp>
      <p:sp>
        <p:nvSpPr>
          <p:cNvPr id="3" name="備忘稿版面配置區 2">
            <a:extLst>
              <a:ext uri="{FF2B5EF4-FFF2-40B4-BE49-F238E27FC236}">
                <a16:creationId xmlns:a16="http://schemas.microsoft.com/office/drawing/2014/main" id="{A432BDF6-EF4A-EFF8-5277-064ABC62C765}"/>
              </a:ext>
            </a:extLst>
          </p:cNvPr>
          <p:cNvSpPr>
            <a:spLocks noGrp="1"/>
          </p:cNvSpPr>
          <p:nvPr>
            <p:ph type="body" idx="1"/>
          </p:nvPr>
        </p:nvSpPr>
        <p:spPr/>
        <p:txBody>
          <a:bodyPr>
            <a:normAutofit/>
          </a:bodyPr>
          <a:lstStyle/>
          <a:p>
            <a:endParaRPr lang="zh-TW" altLang="en-US" dirty="0"/>
          </a:p>
        </p:txBody>
      </p:sp>
      <p:sp>
        <p:nvSpPr>
          <p:cNvPr id="4" name="投影片編號版面配置區 3">
            <a:extLst>
              <a:ext uri="{FF2B5EF4-FFF2-40B4-BE49-F238E27FC236}">
                <a16:creationId xmlns:a16="http://schemas.microsoft.com/office/drawing/2014/main" id="{0AD35A6A-A6C6-FD05-99BC-D8B277BD7F7B}"/>
              </a:ext>
            </a:extLst>
          </p:cNvPr>
          <p:cNvSpPr>
            <a:spLocks noGrp="1"/>
          </p:cNvSpPr>
          <p:nvPr>
            <p:ph type="sldNum" sz="quarter" idx="10"/>
          </p:nvPr>
        </p:nvSpPr>
        <p:spPr/>
        <p:txBody>
          <a:bodyPr/>
          <a:lstStyle/>
          <a:p>
            <a:fld id="{7320D120-4707-426F-9B85-873E256A6635}" type="slidenum">
              <a:rPr lang="zh-TW" altLang="en-US" smtClean="0"/>
              <a:pPr/>
              <a:t>43</a:t>
            </a:fld>
            <a:endParaRPr lang="zh-TW" altLang="en-US"/>
          </a:p>
        </p:txBody>
      </p:sp>
    </p:spTree>
    <p:extLst>
      <p:ext uri="{BB962C8B-B14F-4D97-AF65-F5344CB8AC3E}">
        <p14:creationId xmlns:p14="http://schemas.microsoft.com/office/powerpoint/2010/main" val="17744881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7">
                <a:latin typeface="Calibri" pitchFamily="34" charset="0"/>
                <a:ea typeface="標楷體" pitchFamily="65" charset="-120"/>
                <a:cs typeface="Calibri" pitchFamily="34" charset="0"/>
              </a:defRPr>
            </a:lvl3pPr>
            <a:lvl4pPr>
              <a:defRPr sz="2400">
                <a:latin typeface="Calibri" pitchFamily="34" charset="0"/>
                <a:ea typeface="標楷體" pitchFamily="65" charset="-120"/>
                <a:cs typeface="Calibri" pitchFamily="34" charset="0"/>
              </a:defRPr>
            </a:lvl4pPr>
            <a:lvl5pPr>
              <a:defRPr sz="2133">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384839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7"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3"/>
            </a:lvl1pPr>
            <a:lvl2pPr marL="457177" indent="0">
              <a:buNone/>
              <a:defRPr sz="1801"/>
            </a:lvl2pPr>
            <a:lvl3pPr marL="914354" indent="0">
              <a:buNone/>
              <a:defRPr sz="1600"/>
            </a:lvl3pPr>
            <a:lvl4pPr marL="1371531" indent="0">
              <a:buNone/>
              <a:defRPr sz="1401"/>
            </a:lvl4pPr>
            <a:lvl5pPr marL="1828709" indent="0">
              <a:buNone/>
              <a:defRPr sz="1401"/>
            </a:lvl5pPr>
            <a:lvl6pPr marL="2285886" indent="0">
              <a:buNone/>
              <a:defRPr sz="1401"/>
            </a:lvl6pPr>
            <a:lvl7pPr marL="2743063" indent="0">
              <a:buNone/>
              <a:defRPr sz="1401"/>
            </a:lvl7pPr>
            <a:lvl8pPr marL="3200240" indent="0">
              <a:buNone/>
              <a:defRPr sz="1401"/>
            </a:lvl8pPr>
            <a:lvl9pPr marL="3657417" indent="0">
              <a:buNone/>
              <a:defRPr sz="140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71603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64985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4" name="內容版面配置區 3"/>
          <p:cNvSpPr>
            <a:spLocks noGrp="1"/>
          </p:cNvSpPr>
          <p:nvPr>
            <p:ph sz="half" idx="2"/>
          </p:nvPr>
        </p:nvSpPr>
        <p:spPr>
          <a:xfrm>
            <a:off x="609602" y="1908535"/>
            <a:ext cx="5386917"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6" name="內容版面配置區 5"/>
          <p:cNvSpPr>
            <a:spLocks noGrp="1"/>
          </p:cNvSpPr>
          <p:nvPr>
            <p:ph sz="quarter" idx="4"/>
          </p:nvPr>
        </p:nvSpPr>
        <p:spPr>
          <a:xfrm>
            <a:off x="6193373" y="1908535"/>
            <a:ext cx="5389033"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3779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030701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63319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850483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1"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25657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7367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33043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51860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99221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3"/>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177" indent="0" algn="ctr">
              <a:buNone/>
              <a:defRPr/>
            </a:lvl2pPr>
            <a:lvl3pPr marL="914354" indent="0" algn="ctr">
              <a:buNone/>
              <a:defRPr/>
            </a:lvl3pPr>
            <a:lvl4pPr marL="1371531" indent="0" algn="ctr">
              <a:buNone/>
              <a:defRPr/>
            </a:lvl4pPr>
            <a:lvl5pPr marL="1828709" indent="0" algn="ctr">
              <a:buNone/>
              <a:defRPr/>
            </a:lvl5pPr>
            <a:lvl6pPr marL="2285886" indent="0" algn="ctr">
              <a:buNone/>
              <a:defRPr/>
            </a:lvl6pPr>
            <a:lvl7pPr marL="2743063" indent="0" algn="ctr">
              <a:buNone/>
              <a:defRPr/>
            </a:lvl7pPr>
            <a:lvl8pPr marL="3200240" indent="0" algn="ctr">
              <a:buNone/>
              <a:defRPr/>
            </a:lvl8pPr>
            <a:lvl9pPr marL="3657417"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499471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79865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283935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5634368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8637830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17755558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9984383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38862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0185375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3079622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482784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72736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12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223375" cy="569415"/>
            <a:chOff x="86980" y="6239920"/>
            <a:chExt cx="3223375" cy="569415"/>
          </a:xfrm>
        </p:grpSpPr>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480518" cy="430887"/>
            </a:xfrm>
            <a:prstGeom prst="rect">
              <a:avLst/>
            </a:prstGeom>
          </p:spPr>
          <p:txBody>
            <a:bodyPr wrap="square">
              <a:spAutoFit/>
            </a:bodyPr>
            <a:lstStyle/>
            <a:p>
              <a:pPr algn="ctr">
                <a:spcAft>
                  <a:spcPts val="0"/>
                </a:spcAft>
              </a:pPr>
              <a:r>
                <a:rPr lang="zh-CN" altLang="zh-TW" sz="1200"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rPr>
                <a:t>香港中文大学（深圳）数据科学院</a:t>
              </a:r>
              <a:endParaRPr lang="zh-TW" altLang="zh-TW" sz="1200"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grpSp>
    </p:spTree>
    <p:extLst>
      <p:ext uri="{BB962C8B-B14F-4D97-AF65-F5344CB8AC3E}">
        <p14:creationId xmlns:p14="http://schemas.microsoft.com/office/powerpoint/2010/main" val="15662312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dt="0"/>
  <p:txStyles>
    <p:titleStyle>
      <a:lvl1pPr algn="l" rtl="0" eaLnBrk="1" fontAlgn="base" hangingPunct="1">
        <a:spcBef>
          <a:spcPct val="0"/>
        </a:spcBef>
        <a:spcAft>
          <a:spcPct val="0"/>
        </a:spcAft>
        <a:defRPr kumimoji="1" sz="48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p:titleStyle>
    <p:body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4568717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1471" y="1406845"/>
            <a:ext cx="11743652" cy="1882455"/>
          </a:xfrm>
        </p:spPr>
        <p:txBody>
          <a:bodyPr/>
          <a:lstStyle/>
          <a:p>
            <a:pPr algn="ctr"/>
            <a:r>
              <a:rPr lang="en-US" altLang="zh-CN" sz="3600" dirty="0"/>
              <a:t>From Hoare Logic to LLMs: Formal Verification and Generation of File Systems</a:t>
            </a:r>
            <a:br>
              <a:rPr lang="en-US" altLang="zh-CN" sz="4400" dirty="0"/>
            </a:br>
            <a:br>
              <a:rPr lang="en-US" altLang="zh-CN" sz="4800" dirty="0">
                <a:effectLst>
                  <a:outerShdw blurRad="38100" dist="38100" dir="2700000" algn="tl">
                    <a:srgbClr val="000000">
                      <a:alpha val="43137"/>
                    </a:srgbClr>
                  </a:outerShdw>
                </a:effectLst>
              </a:rPr>
            </a:br>
            <a:r>
              <a:rPr lang="en-US" altLang="zh-CN" sz="3200" dirty="0"/>
              <a:t>2026.03.12</a:t>
            </a:r>
            <a:endParaRPr lang="zh-TW" altLang="en-US" sz="3200" dirty="0"/>
          </a:p>
        </p:txBody>
      </p:sp>
      <p:sp>
        <p:nvSpPr>
          <p:cNvPr id="3" name="Subtitle 2"/>
          <p:cNvSpPr>
            <a:spLocks noGrp="1"/>
          </p:cNvSpPr>
          <p:nvPr>
            <p:ph type="subTitle" idx="1"/>
          </p:nvPr>
        </p:nvSpPr>
        <p:spPr>
          <a:xfrm>
            <a:off x="1828800" y="3855632"/>
            <a:ext cx="8534400" cy="1882455"/>
          </a:xfrm>
        </p:spPr>
        <p:txBody>
          <a:bodyPr/>
          <a:lstStyle/>
          <a:p>
            <a:r>
              <a:rPr lang="en-US" altLang="zh-CN" sz="3200" dirty="0">
                <a:effectLst>
                  <a:outerShdw blurRad="38100" dist="38100" dir="2700000" algn="tl">
                    <a:srgbClr val="000000">
                      <a:alpha val="43137"/>
                    </a:srgbClr>
                  </a:outerShdw>
                </a:effectLst>
              </a:rPr>
              <a:t>Xiaochuan Yan</a:t>
            </a:r>
          </a:p>
          <a:p>
            <a:r>
              <a:rPr lang="en-US" altLang="zh-TW" sz="3200" dirty="0"/>
              <a:t>School of </a:t>
            </a:r>
            <a:r>
              <a:rPr lang="en-US" altLang="zh-CN" sz="3200" dirty="0"/>
              <a:t>Data </a:t>
            </a:r>
            <a:r>
              <a:rPr lang="en-US" altLang="zh-TW" sz="3200" dirty="0"/>
              <a:t>Science</a:t>
            </a:r>
          </a:p>
          <a:p>
            <a:r>
              <a:rPr lang="en-US" altLang="zh-TW" sz="3200" dirty="0"/>
              <a:t>Chinese University of Hong Kong, Shenzhen</a:t>
            </a:r>
          </a:p>
        </p:txBody>
      </p:sp>
    </p:spTree>
    <p:extLst>
      <p:ext uri="{BB962C8B-B14F-4D97-AF65-F5344CB8AC3E}">
        <p14:creationId xmlns:p14="http://schemas.microsoft.com/office/powerpoint/2010/main" val="40646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386DA-4DA1-7214-2DBE-6D83E009AA3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4CFFED1-5490-85A4-1E2E-7ECE14D5FC4D}"/>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5" name="灯片编号占位符 1">
            <a:extLst>
              <a:ext uri="{FF2B5EF4-FFF2-40B4-BE49-F238E27FC236}">
                <a16:creationId xmlns:a16="http://schemas.microsoft.com/office/drawing/2014/main" id="{AD20CBA4-52DB-AE8C-714A-0C72FE94D71B}"/>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a:t>
            </a:fld>
            <a:endParaRPr lang="zh-TW" altLang="en-US"/>
          </a:p>
        </p:txBody>
      </p:sp>
      <p:sp>
        <p:nvSpPr>
          <p:cNvPr id="7" name="內容版面配置區 2">
            <a:extLst>
              <a:ext uri="{FF2B5EF4-FFF2-40B4-BE49-F238E27FC236}">
                <a16:creationId xmlns:a16="http://schemas.microsoft.com/office/drawing/2014/main" id="{DDCDA8D1-C0C9-EE4B-5A8D-B59F3CB0FE95}"/>
              </a:ext>
            </a:extLst>
          </p:cNvPr>
          <p:cNvSpPr txBox="1">
            <a:spLocks/>
          </p:cNvSpPr>
          <p:nvPr/>
        </p:nvSpPr>
        <p:spPr bwMode="auto">
          <a:xfrm>
            <a:off x="1317560" y="1125537"/>
            <a:ext cx="10270977" cy="35607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933" kern="0" dirty="0">
                <a:solidFill>
                  <a:srgbClr val="FF0000"/>
                </a:solidFill>
                <a:latin typeface="Times New Roman" panose="02020603050405020304" pitchFamily="18" charset="0"/>
                <a:cs typeface="Times New Roman" panose="02020603050405020304" pitchFamily="18" charset="0"/>
              </a:rPr>
              <a:t>Introduction (2 min)</a:t>
            </a:r>
            <a:endParaRPr lang="en-US" altLang="zh-TW" sz="2933" kern="0" dirty="0">
              <a:solidFill>
                <a:srgbClr val="FF0000"/>
              </a:solidFill>
              <a:latin typeface="Times New Roman" panose="02020603050405020304" pitchFamily="18" charset="0"/>
              <a:cs typeface="Times New Roman" panose="02020603050405020304" pitchFamily="18" charset="0"/>
            </a:endParaRPr>
          </a:p>
          <a:p>
            <a:r>
              <a:rPr lang="en-US" altLang="zh-CN" sz="2933" kern="0" dirty="0">
                <a:latin typeface="Times New Roman" panose="02020603050405020304" pitchFamily="18" charset="0"/>
                <a:cs typeface="Times New Roman" panose="02020603050405020304" pitchFamily="18" charset="0"/>
              </a:rPr>
              <a:t>Background &amp; Motivation (3 min)</a:t>
            </a:r>
          </a:p>
          <a:p>
            <a:r>
              <a:rPr lang="en-US" altLang="zh-CN" sz="2933" kern="0" dirty="0">
                <a:latin typeface="Times New Roman" panose="02020603050405020304" pitchFamily="18" charset="0"/>
                <a:cs typeface="Times New Roman" panose="02020603050405020304" pitchFamily="18" charset="0"/>
              </a:rPr>
              <a:t>Proposed Methods &amp; Performance Evaluation (25 min)</a:t>
            </a:r>
          </a:p>
          <a:p>
            <a:pPr lvl="1"/>
            <a:r>
              <a:rPr lang="en-US" altLang="zh-CN" sz="2400" kern="0" dirty="0">
                <a:latin typeface="Times New Roman" panose="02020603050405020304" pitchFamily="18" charset="0"/>
                <a:cs typeface="Times New Roman" panose="02020603050405020304" pitchFamily="18" charset="0"/>
              </a:rPr>
              <a:t>FSCQ (8 min)</a:t>
            </a:r>
          </a:p>
          <a:p>
            <a:pPr lvl="1"/>
            <a:r>
              <a:rPr lang="en-US" altLang="zh-CN" sz="2400" kern="0" dirty="0">
                <a:latin typeface="Times New Roman" panose="02020603050405020304" pitchFamily="18" charset="0"/>
                <a:cs typeface="Times New Roman" panose="02020603050405020304" pitchFamily="18" charset="0"/>
              </a:rPr>
              <a:t>CRL-H and</a:t>
            </a:r>
            <a:r>
              <a:rPr lang="zh-CN" altLang="en-US" sz="2400" kern="0" dirty="0">
                <a:latin typeface="Times New Roman" panose="02020603050405020304" pitchFamily="18" charset="0"/>
                <a:cs typeface="Times New Roman" panose="02020603050405020304" pitchFamily="18" charset="0"/>
              </a:rPr>
              <a:t> </a:t>
            </a:r>
            <a:r>
              <a:rPr lang="en-US" altLang="zh-CN" sz="2400" kern="0" dirty="0" err="1">
                <a:latin typeface="Times New Roman" panose="02020603050405020304" pitchFamily="18" charset="0"/>
                <a:cs typeface="Times New Roman" panose="02020603050405020304" pitchFamily="18" charset="0"/>
              </a:rPr>
              <a:t>AtomFS</a:t>
            </a:r>
            <a:r>
              <a:rPr lang="en-US" altLang="zh-CN" sz="2400" kern="0" dirty="0">
                <a:latin typeface="Times New Roman" panose="02020603050405020304" pitchFamily="18" charset="0"/>
                <a:cs typeface="Times New Roman" panose="02020603050405020304" pitchFamily="18" charset="0"/>
              </a:rPr>
              <a:t> (8 min)</a:t>
            </a:r>
          </a:p>
          <a:p>
            <a:pPr lvl="1"/>
            <a:r>
              <a:rPr lang="en-US" altLang="zh-CN" sz="2400" kern="0" dirty="0" err="1">
                <a:latin typeface="Times New Roman" panose="02020603050405020304" pitchFamily="18" charset="0"/>
                <a:cs typeface="Times New Roman" panose="02020603050405020304" pitchFamily="18" charset="0"/>
              </a:rPr>
              <a:t>SysSpec</a:t>
            </a:r>
            <a:r>
              <a:rPr lang="en-US" altLang="zh-CN" sz="2400" kern="0" dirty="0">
                <a:latin typeface="Times New Roman" panose="02020603050405020304" pitchFamily="18" charset="0"/>
                <a:cs typeface="Times New Roman" panose="02020603050405020304" pitchFamily="18" charset="0"/>
              </a:rPr>
              <a:t> and </a:t>
            </a:r>
            <a:r>
              <a:rPr lang="en-US" altLang="zh-CN" sz="2400" kern="0" dirty="0" err="1">
                <a:latin typeface="Times New Roman" panose="02020603050405020304" pitchFamily="18" charset="0"/>
                <a:cs typeface="Times New Roman" panose="02020603050405020304" pitchFamily="18" charset="0"/>
              </a:rPr>
              <a:t>SpecFS</a:t>
            </a:r>
            <a:r>
              <a:rPr lang="en-US" altLang="zh-CN" sz="2400" kern="0" dirty="0">
                <a:latin typeface="Times New Roman" panose="02020603050405020304" pitchFamily="18" charset="0"/>
                <a:cs typeface="Times New Roman" panose="02020603050405020304" pitchFamily="18" charset="0"/>
              </a:rPr>
              <a:t> (9 min)</a:t>
            </a:r>
          </a:p>
          <a:p>
            <a:r>
              <a:rPr lang="en-US" altLang="zh-CN" sz="2933" kern="0" dirty="0">
                <a:latin typeface="Times New Roman" panose="02020603050405020304" pitchFamily="18" charset="0"/>
                <a:cs typeface="Times New Roman" panose="02020603050405020304" pitchFamily="18" charset="0"/>
              </a:rPr>
              <a:t>Conclusions (2 min)</a:t>
            </a:r>
          </a:p>
          <a:p>
            <a:r>
              <a:rPr lang="en-US" altLang="zh-CN" sz="2933" kern="0" dirty="0">
                <a:latin typeface="Times New Roman" panose="02020603050405020304" pitchFamily="18" charset="0"/>
                <a:cs typeface="Times New Roman" panose="02020603050405020304" pitchFamily="18" charset="0"/>
              </a:rPr>
              <a:t>Q &amp; A (5 min)</a:t>
            </a:r>
          </a:p>
        </p:txBody>
      </p:sp>
    </p:spTree>
    <p:extLst>
      <p:ext uri="{BB962C8B-B14F-4D97-AF65-F5344CB8AC3E}">
        <p14:creationId xmlns:p14="http://schemas.microsoft.com/office/powerpoint/2010/main" val="3163033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sz="4400" dirty="0">
                <a:ea typeface="Calibri" panose="020F0502020204030204" pitchFamily="34" charset="0"/>
                <a:cs typeface="Calibri" panose="020F0502020204030204" pitchFamily="34" charset="0"/>
              </a:rPr>
              <a:t>Introduction - File Systems (1/2)</a:t>
            </a:r>
            <a:endParaRPr lang="en-US" sz="4400" dirty="0">
              <a:ea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609600" y="1125537"/>
            <a:ext cx="10594109" cy="4831917"/>
          </a:xfrm>
        </p:spPr>
        <p:txBody>
          <a:bodyPr/>
          <a:lstStyle/>
          <a:p>
            <a:r>
              <a:rPr lang="en-US" sz="2400" dirty="0">
                <a:latin typeface="Times New Roman" panose="02020603050405020304" pitchFamily="18" charset="0"/>
                <a:cs typeface="Times New Roman" panose="02020603050405020304" pitchFamily="18" charset="0"/>
              </a:rPr>
              <a:t>What are file systems?</a:t>
            </a:r>
          </a:p>
          <a:p>
            <a:pPr lvl="1"/>
            <a:r>
              <a:rPr lang="en-US" altLang="zh-CN" sz="2200" dirty="0">
                <a:latin typeface="Times New Roman" panose="02020603050405020304" pitchFamily="18" charset="0"/>
                <a:cs typeface="Times New Roman" panose="02020603050405020304" pitchFamily="18" charset="0"/>
              </a:rPr>
              <a:t>File systems are a cornerstone of modern operating systems, providing the critical abstractions for managing persistent data.</a:t>
            </a:r>
          </a:p>
          <a:p>
            <a:pPr lvl="1"/>
            <a:r>
              <a:rPr lang="en-US" sz="2200" dirty="0">
                <a:latin typeface="Times New Roman" panose="02020603050405020304" pitchFamily="18" charset="0"/>
                <a:cs typeface="Times New Roman" panose="02020603050405020304" pitchFamily="18" charset="0"/>
              </a:rPr>
              <a:t>Their design is dictated by the characteristics of underlying storage hardware and the demands of ever-changing applications.</a:t>
            </a:r>
          </a:p>
          <a:p>
            <a:pPr lvl="1"/>
            <a:r>
              <a:rPr lang="en-US" sz="2200" dirty="0">
                <a:latin typeface="Times New Roman" panose="02020603050405020304" pitchFamily="18" charset="0"/>
                <a:cs typeface="Times New Roman" panose="02020603050405020304" pitchFamily="18" charset="0"/>
              </a:rPr>
              <a:t>Developers are in a perpetual cycle of adding features, optimizing performance, and resolving bugs to keep pace with innovation.</a:t>
            </a:r>
          </a:p>
        </p:txBody>
      </p:sp>
      <p:sp>
        <p:nvSpPr>
          <p:cNvPr id="4" name="灯片编号占位符 1">
            <a:extLst>
              <a:ext uri="{FF2B5EF4-FFF2-40B4-BE49-F238E27FC236}">
                <a16:creationId xmlns:a16="http://schemas.microsoft.com/office/drawing/2014/main" id="{A4D8AE41-E9DB-DC4B-0813-8BAB041C6816}"/>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3</a:t>
            </a:fld>
            <a:endParaRPr lang="zh-TW" altLang="en-US"/>
          </a:p>
        </p:txBody>
      </p:sp>
      <p:pic>
        <p:nvPicPr>
          <p:cNvPr id="5" name="图片 4">
            <a:extLst>
              <a:ext uri="{FF2B5EF4-FFF2-40B4-BE49-F238E27FC236}">
                <a16:creationId xmlns:a16="http://schemas.microsoft.com/office/drawing/2014/main" id="{814D31BF-6439-78C9-EA95-F44E53CB4009}"/>
              </a:ext>
            </a:extLst>
          </p:cNvPr>
          <p:cNvPicPr>
            <a:picLocks noChangeAspect="1"/>
          </p:cNvPicPr>
          <p:nvPr/>
        </p:nvPicPr>
        <p:blipFill>
          <a:blip r:embed="rId3"/>
          <a:stretch>
            <a:fillRect/>
          </a:stretch>
        </p:blipFill>
        <p:spPr>
          <a:xfrm>
            <a:off x="6001901" y="3932407"/>
            <a:ext cx="3576414" cy="1609386"/>
          </a:xfrm>
          <a:prstGeom prst="rect">
            <a:avLst/>
          </a:prstGeom>
        </p:spPr>
      </p:pic>
      <p:pic>
        <p:nvPicPr>
          <p:cNvPr id="6" name="图片 5">
            <a:extLst>
              <a:ext uri="{FF2B5EF4-FFF2-40B4-BE49-F238E27FC236}">
                <a16:creationId xmlns:a16="http://schemas.microsoft.com/office/drawing/2014/main" id="{2D45D2C4-21B7-6264-CDFA-706EB28641BD}"/>
              </a:ext>
            </a:extLst>
          </p:cNvPr>
          <p:cNvPicPr>
            <a:picLocks noChangeAspect="1"/>
          </p:cNvPicPr>
          <p:nvPr/>
        </p:nvPicPr>
        <p:blipFill>
          <a:blip r:embed="rId4"/>
          <a:stretch>
            <a:fillRect/>
          </a:stretch>
        </p:blipFill>
        <p:spPr>
          <a:xfrm>
            <a:off x="2225430" y="3741738"/>
            <a:ext cx="2847975" cy="1990725"/>
          </a:xfrm>
          <a:prstGeom prst="rect">
            <a:avLst/>
          </a:prstGeom>
        </p:spPr>
      </p:pic>
      <p:sp>
        <p:nvSpPr>
          <p:cNvPr id="7" name="文本框 6">
            <a:extLst>
              <a:ext uri="{FF2B5EF4-FFF2-40B4-BE49-F238E27FC236}">
                <a16:creationId xmlns:a16="http://schemas.microsoft.com/office/drawing/2014/main" id="{CFB79401-41F0-1B26-A2AC-D145B6C28CF2}"/>
              </a:ext>
            </a:extLst>
          </p:cNvPr>
          <p:cNvSpPr txBox="1"/>
          <p:nvPr/>
        </p:nvSpPr>
        <p:spPr>
          <a:xfrm>
            <a:off x="3479630" y="5675682"/>
            <a:ext cx="5044542" cy="338554"/>
          </a:xfrm>
          <a:prstGeom prst="rect">
            <a:avLst/>
          </a:prstGeom>
          <a:noFill/>
        </p:spPr>
        <p:txBody>
          <a:bodyPr wrap="square" rtlCol="0" anchor="ctr" anchorCtr="1">
            <a:spAutoFit/>
          </a:bodyPr>
          <a:lstStyle/>
          <a:p>
            <a:r>
              <a:rPr lang="en-US" altLang="zh-CN" sz="1600" dirty="0">
                <a:latin typeface="Times New Roman" panose="02020603050405020304" pitchFamily="18" charset="0"/>
                <a:ea typeface="標楷體" pitchFamily="65" charset="-120"/>
                <a:cs typeface="Times New Roman" panose="02020603050405020304" pitchFamily="18" charset="0"/>
              </a:rPr>
              <a:t>Figure 1: File system examples.</a:t>
            </a:r>
            <a:endParaRPr lang="zh-CN" altLang="en-US" sz="16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255285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1">
            <a:extLst>
              <a:ext uri="{FF2B5EF4-FFF2-40B4-BE49-F238E27FC236}">
                <a16:creationId xmlns:a16="http://schemas.microsoft.com/office/drawing/2014/main" id="{9DEEDA1E-DF89-AFB5-6372-BF049FEF9A77}"/>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4</a:t>
            </a:fld>
            <a:endParaRPr lang="zh-TW" altLang="en-US"/>
          </a:p>
        </p:txBody>
      </p:sp>
      <p:sp>
        <p:nvSpPr>
          <p:cNvPr id="6" name="内容占位符 5">
            <a:extLst>
              <a:ext uri="{FF2B5EF4-FFF2-40B4-BE49-F238E27FC236}">
                <a16:creationId xmlns:a16="http://schemas.microsoft.com/office/drawing/2014/main" id="{4928ADA6-E220-7C7D-C501-933F9AD95A98}"/>
              </a:ext>
            </a:extLst>
          </p:cNvPr>
          <p:cNvSpPr>
            <a:spLocks noGrp="1"/>
          </p:cNvSpPr>
          <p:nvPr>
            <p:ph idx="1"/>
          </p:nvPr>
        </p:nvSpPr>
        <p:spPr>
          <a:xfrm>
            <a:off x="609600" y="1125537"/>
            <a:ext cx="10823468" cy="4895851"/>
          </a:xfrm>
        </p:spPr>
        <p:txBody>
          <a:bodyPr/>
          <a:lstStyle/>
          <a:p>
            <a:r>
              <a:rPr lang="en-US" altLang="zh-CN" sz="2400" dirty="0">
                <a:latin typeface="Times New Roman" panose="02020603050405020304" pitchFamily="18" charset="0"/>
                <a:cs typeface="Times New Roman" panose="02020603050405020304" pitchFamily="18" charset="0"/>
              </a:rPr>
              <a:t>Challenges in developing file system?</a:t>
            </a:r>
          </a:p>
          <a:p>
            <a:pPr lvl="1"/>
            <a:r>
              <a:rPr lang="en-US" altLang="zh-CN" sz="2200" dirty="0">
                <a:latin typeface="Times New Roman" panose="02020603050405020304" pitchFamily="18" charset="0"/>
                <a:cs typeface="Times New Roman" panose="02020603050405020304" pitchFamily="18" charset="0"/>
              </a:rPr>
              <a:t>Analysis of Ext4 (3,157 commits from Linux 2.6.19 to 6.15) reveals: 82.4% of commits are bug fixes and maintenance. Only 5.1% introduce new functionality.</a:t>
            </a:r>
          </a:p>
          <a:p>
            <a:pPr lvl="1"/>
            <a:r>
              <a:rPr lang="en-US" altLang="zh-CN" sz="2200" dirty="0">
                <a:latin typeface="Times New Roman" panose="02020603050405020304" pitchFamily="18" charset="0"/>
                <a:cs typeface="Times New Roman" panose="02020603050405020304" pitchFamily="18" charset="0"/>
              </a:rPr>
              <a:t>Example: fast-commit feature required 9 commits for initial implementation but triggered ~80 subsequent commits for bug fixes and maintenance.</a:t>
            </a:r>
            <a:endParaRPr lang="zh-CN" altLang="en-US" dirty="0"/>
          </a:p>
        </p:txBody>
      </p:sp>
      <p:sp>
        <p:nvSpPr>
          <p:cNvPr id="7" name="Title 1">
            <a:extLst>
              <a:ext uri="{FF2B5EF4-FFF2-40B4-BE49-F238E27FC236}">
                <a16:creationId xmlns:a16="http://schemas.microsoft.com/office/drawing/2014/main" id="{F74CA6CA-ACEF-1DFE-A6DC-5074CE6521E3}"/>
              </a:ext>
            </a:extLst>
          </p:cNvPr>
          <p:cNvSpPr>
            <a:spLocks noGrp="1"/>
          </p:cNvSpPr>
          <p:nvPr>
            <p:ph type="title"/>
          </p:nvPr>
        </p:nvSpPr>
        <p:spPr>
          <a:xfrm>
            <a:off x="1088571" y="144466"/>
            <a:ext cx="10722429" cy="692151"/>
          </a:xfrm>
        </p:spPr>
        <p:txBody>
          <a:bodyPr/>
          <a:lstStyle/>
          <a:p>
            <a:r>
              <a:rPr lang="en-US" altLang="zh-CN" sz="4400" dirty="0">
                <a:ea typeface="Calibri" panose="020F0502020204030204" pitchFamily="34" charset="0"/>
                <a:cs typeface="Calibri" panose="020F0502020204030204" pitchFamily="34" charset="0"/>
              </a:rPr>
              <a:t>Introduction - File Systems (2/2)</a:t>
            </a:r>
            <a:endParaRPr lang="en-US" sz="4400" dirty="0">
              <a:ea typeface="Calibri" panose="020F0502020204030204" pitchFamily="34" charset="0"/>
              <a:cs typeface="Calibri" panose="020F0502020204030204" pitchFamily="34" charset="0"/>
            </a:endParaRPr>
          </a:p>
        </p:txBody>
      </p:sp>
      <p:pic>
        <p:nvPicPr>
          <p:cNvPr id="3" name="图片 2">
            <a:extLst>
              <a:ext uri="{FF2B5EF4-FFF2-40B4-BE49-F238E27FC236}">
                <a16:creationId xmlns:a16="http://schemas.microsoft.com/office/drawing/2014/main" id="{4569EF7A-D371-E1ED-5654-595B633F0454}"/>
              </a:ext>
            </a:extLst>
          </p:cNvPr>
          <p:cNvPicPr>
            <a:picLocks noChangeAspect="1"/>
          </p:cNvPicPr>
          <p:nvPr/>
        </p:nvPicPr>
        <p:blipFill>
          <a:blip r:embed="rId3"/>
          <a:stretch>
            <a:fillRect/>
          </a:stretch>
        </p:blipFill>
        <p:spPr>
          <a:xfrm>
            <a:off x="2080413" y="3144519"/>
            <a:ext cx="8031173" cy="2701711"/>
          </a:xfrm>
          <a:prstGeom prst="rect">
            <a:avLst/>
          </a:prstGeom>
        </p:spPr>
      </p:pic>
      <p:sp>
        <p:nvSpPr>
          <p:cNvPr id="5" name="文本框 4">
            <a:extLst>
              <a:ext uri="{FF2B5EF4-FFF2-40B4-BE49-F238E27FC236}">
                <a16:creationId xmlns:a16="http://schemas.microsoft.com/office/drawing/2014/main" id="{134FF7A8-3E96-720C-1441-98C2E0BE180B}"/>
              </a:ext>
            </a:extLst>
          </p:cNvPr>
          <p:cNvSpPr txBox="1"/>
          <p:nvPr/>
        </p:nvSpPr>
        <p:spPr>
          <a:xfrm>
            <a:off x="3438296" y="5805243"/>
            <a:ext cx="5315405" cy="338554"/>
          </a:xfrm>
          <a:prstGeom prst="rect">
            <a:avLst/>
          </a:prstGeom>
          <a:noFill/>
        </p:spPr>
        <p:txBody>
          <a:bodyPr wrap="square" rtlCol="0" anchor="ctr" anchorCtr="1">
            <a:spAutoFit/>
          </a:bodyPr>
          <a:lstStyle/>
          <a:p>
            <a:r>
              <a:rPr lang="en-US" altLang="zh-CN" sz="1600" dirty="0">
                <a:latin typeface="Times New Roman" panose="02020603050405020304" pitchFamily="18" charset="0"/>
                <a:ea typeface="標楷體" pitchFamily="65" charset="-120"/>
                <a:cs typeface="Times New Roman" panose="02020603050405020304" pitchFamily="18" charset="0"/>
              </a:rPr>
              <a:t>Figure 2: File system evolution with different types of patches.</a:t>
            </a:r>
            <a:endParaRPr lang="zh-CN" altLang="en-US" sz="16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403208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534C1-697F-DDAC-0EED-3BD196DF95A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04369583-1B75-982C-C347-5DB8DCB998B3}"/>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5" name="灯片编号占位符 1">
            <a:extLst>
              <a:ext uri="{FF2B5EF4-FFF2-40B4-BE49-F238E27FC236}">
                <a16:creationId xmlns:a16="http://schemas.microsoft.com/office/drawing/2014/main" id="{70FAEFC1-EEB9-F9F7-721B-C54C2782C69D}"/>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5</a:t>
            </a:fld>
            <a:endParaRPr lang="zh-TW" altLang="en-US"/>
          </a:p>
        </p:txBody>
      </p:sp>
      <p:sp>
        <p:nvSpPr>
          <p:cNvPr id="4" name="內容版面配置區 2">
            <a:extLst>
              <a:ext uri="{FF2B5EF4-FFF2-40B4-BE49-F238E27FC236}">
                <a16:creationId xmlns:a16="http://schemas.microsoft.com/office/drawing/2014/main" id="{9085C708-57FE-F2A8-3BCA-A5A6ECE1D747}"/>
              </a:ext>
            </a:extLst>
          </p:cNvPr>
          <p:cNvSpPr txBox="1">
            <a:spLocks/>
          </p:cNvSpPr>
          <p:nvPr/>
        </p:nvSpPr>
        <p:spPr bwMode="auto">
          <a:xfrm>
            <a:off x="1317560" y="1125537"/>
            <a:ext cx="10270977" cy="35607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933" kern="0" dirty="0">
                <a:latin typeface="Times New Roman" panose="02020603050405020304" pitchFamily="18" charset="0"/>
                <a:cs typeface="Times New Roman" panose="02020603050405020304" pitchFamily="18" charset="0"/>
              </a:rPr>
              <a:t>Introduction (2 min)</a:t>
            </a:r>
            <a:endParaRPr lang="en-US" altLang="zh-TW" sz="2933" kern="0" dirty="0">
              <a:latin typeface="Times New Roman" panose="02020603050405020304" pitchFamily="18" charset="0"/>
              <a:cs typeface="Times New Roman" panose="02020603050405020304" pitchFamily="18" charset="0"/>
            </a:endParaRPr>
          </a:p>
          <a:p>
            <a:r>
              <a:rPr lang="en-US" altLang="zh-CN" sz="2933" kern="0" dirty="0">
                <a:solidFill>
                  <a:srgbClr val="FF0000"/>
                </a:solidFill>
                <a:latin typeface="Times New Roman" panose="02020603050405020304" pitchFamily="18" charset="0"/>
                <a:cs typeface="Times New Roman" panose="02020603050405020304" pitchFamily="18" charset="0"/>
              </a:rPr>
              <a:t>Background &amp; Motivation (3 min)</a:t>
            </a:r>
          </a:p>
          <a:p>
            <a:r>
              <a:rPr lang="en-US" altLang="zh-CN" sz="2933" kern="0" dirty="0">
                <a:latin typeface="Times New Roman" panose="02020603050405020304" pitchFamily="18" charset="0"/>
                <a:cs typeface="Times New Roman" panose="02020603050405020304" pitchFamily="18" charset="0"/>
              </a:rPr>
              <a:t>Proposed Methods &amp; Performance Evaluation (25 min)</a:t>
            </a:r>
          </a:p>
          <a:p>
            <a:pPr lvl="1"/>
            <a:r>
              <a:rPr lang="en-US" altLang="zh-CN" sz="2400" kern="0" dirty="0">
                <a:latin typeface="Times New Roman" panose="02020603050405020304" pitchFamily="18" charset="0"/>
                <a:cs typeface="Times New Roman" panose="02020603050405020304" pitchFamily="18" charset="0"/>
              </a:rPr>
              <a:t>FSCQ (8 min)</a:t>
            </a:r>
          </a:p>
          <a:p>
            <a:pPr lvl="1"/>
            <a:r>
              <a:rPr lang="en-US" altLang="zh-CN" sz="2400" kern="0" dirty="0">
                <a:latin typeface="Times New Roman" panose="02020603050405020304" pitchFamily="18" charset="0"/>
                <a:cs typeface="Times New Roman" panose="02020603050405020304" pitchFamily="18" charset="0"/>
              </a:rPr>
              <a:t>CRL-H and</a:t>
            </a:r>
            <a:r>
              <a:rPr lang="zh-CN" altLang="en-US" sz="2400" kern="0" dirty="0">
                <a:latin typeface="Times New Roman" panose="02020603050405020304" pitchFamily="18" charset="0"/>
                <a:cs typeface="Times New Roman" panose="02020603050405020304" pitchFamily="18" charset="0"/>
              </a:rPr>
              <a:t> </a:t>
            </a:r>
            <a:r>
              <a:rPr lang="en-US" altLang="zh-CN" sz="2400" kern="0" dirty="0" err="1">
                <a:latin typeface="Times New Roman" panose="02020603050405020304" pitchFamily="18" charset="0"/>
                <a:cs typeface="Times New Roman" panose="02020603050405020304" pitchFamily="18" charset="0"/>
              </a:rPr>
              <a:t>AtomFS</a:t>
            </a:r>
            <a:r>
              <a:rPr lang="en-US" altLang="zh-CN" sz="2400" kern="0" dirty="0">
                <a:latin typeface="Times New Roman" panose="02020603050405020304" pitchFamily="18" charset="0"/>
                <a:cs typeface="Times New Roman" panose="02020603050405020304" pitchFamily="18" charset="0"/>
              </a:rPr>
              <a:t> (8 min)</a:t>
            </a:r>
          </a:p>
          <a:p>
            <a:pPr lvl="1"/>
            <a:r>
              <a:rPr lang="en-US" altLang="zh-CN" sz="2400" kern="0" dirty="0" err="1">
                <a:latin typeface="Times New Roman" panose="02020603050405020304" pitchFamily="18" charset="0"/>
                <a:cs typeface="Times New Roman" panose="02020603050405020304" pitchFamily="18" charset="0"/>
              </a:rPr>
              <a:t>SysSpec</a:t>
            </a:r>
            <a:r>
              <a:rPr lang="en-US" altLang="zh-CN" sz="2400" kern="0" dirty="0">
                <a:latin typeface="Times New Roman" panose="02020603050405020304" pitchFamily="18" charset="0"/>
                <a:cs typeface="Times New Roman" panose="02020603050405020304" pitchFamily="18" charset="0"/>
              </a:rPr>
              <a:t> and </a:t>
            </a:r>
            <a:r>
              <a:rPr lang="en-US" altLang="zh-CN" sz="2400" kern="0" dirty="0" err="1">
                <a:latin typeface="Times New Roman" panose="02020603050405020304" pitchFamily="18" charset="0"/>
                <a:cs typeface="Times New Roman" panose="02020603050405020304" pitchFamily="18" charset="0"/>
              </a:rPr>
              <a:t>SpecFS</a:t>
            </a:r>
            <a:r>
              <a:rPr lang="en-US" altLang="zh-CN" sz="2400" kern="0" dirty="0">
                <a:latin typeface="Times New Roman" panose="02020603050405020304" pitchFamily="18" charset="0"/>
                <a:cs typeface="Times New Roman" panose="02020603050405020304" pitchFamily="18" charset="0"/>
              </a:rPr>
              <a:t> (9 min)</a:t>
            </a:r>
          </a:p>
          <a:p>
            <a:r>
              <a:rPr lang="en-US" altLang="zh-CN" sz="2933" kern="0" dirty="0">
                <a:latin typeface="Times New Roman" panose="02020603050405020304" pitchFamily="18" charset="0"/>
                <a:cs typeface="Times New Roman" panose="02020603050405020304" pitchFamily="18" charset="0"/>
              </a:rPr>
              <a:t>Conclusions (2 min)</a:t>
            </a:r>
          </a:p>
          <a:p>
            <a:r>
              <a:rPr lang="en-US" altLang="zh-CN" sz="2933" kern="0" dirty="0">
                <a:latin typeface="Times New Roman" panose="02020603050405020304" pitchFamily="18" charset="0"/>
                <a:cs typeface="Times New Roman" panose="02020603050405020304" pitchFamily="18" charset="0"/>
              </a:rPr>
              <a:t>Q &amp; A (5 min)</a:t>
            </a:r>
          </a:p>
        </p:txBody>
      </p:sp>
    </p:spTree>
    <p:extLst>
      <p:ext uri="{BB962C8B-B14F-4D97-AF65-F5344CB8AC3E}">
        <p14:creationId xmlns:p14="http://schemas.microsoft.com/office/powerpoint/2010/main" val="2171825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26BB7-9675-80CA-B935-0FD8C2285EFD}"/>
            </a:ext>
          </a:extLst>
        </p:cNvPr>
        <p:cNvGrpSpPr/>
        <p:nvPr/>
      </p:nvGrpSpPr>
      <p:grpSpPr>
        <a:xfrm>
          <a:off x="0" y="0"/>
          <a:ext cx="0" cy="0"/>
          <a:chOff x="0" y="0"/>
          <a:chExt cx="0" cy="0"/>
        </a:xfrm>
      </p:grpSpPr>
      <p:sp>
        <p:nvSpPr>
          <p:cNvPr id="4" name="灯片编号占位符 1">
            <a:extLst>
              <a:ext uri="{FF2B5EF4-FFF2-40B4-BE49-F238E27FC236}">
                <a16:creationId xmlns:a16="http://schemas.microsoft.com/office/drawing/2014/main" id="{44C33FE1-C3A3-FABB-8B62-79A43739AC3C}"/>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6</a:t>
            </a:fld>
            <a:endParaRPr lang="zh-TW" altLang="en-US"/>
          </a:p>
        </p:txBody>
      </p:sp>
      <p:sp>
        <p:nvSpPr>
          <p:cNvPr id="6" name="内容占位符 5">
            <a:extLst>
              <a:ext uri="{FF2B5EF4-FFF2-40B4-BE49-F238E27FC236}">
                <a16:creationId xmlns:a16="http://schemas.microsoft.com/office/drawing/2014/main" id="{9201B812-7878-033B-DFC8-E48DE5D62385}"/>
              </a:ext>
            </a:extLst>
          </p:cNvPr>
          <p:cNvSpPr>
            <a:spLocks noGrp="1"/>
          </p:cNvSpPr>
          <p:nvPr>
            <p:ph idx="1"/>
          </p:nvPr>
        </p:nvSpPr>
        <p:spPr>
          <a:xfrm>
            <a:off x="609600" y="1125537"/>
            <a:ext cx="10878701" cy="4895851"/>
          </a:xfrm>
        </p:spPr>
        <p:txBody>
          <a:bodyPr/>
          <a:lstStyle/>
          <a:p>
            <a:r>
              <a:rPr lang="en-US" altLang="zh-CN" sz="2400" dirty="0">
                <a:latin typeface="Times New Roman" panose="02020603050405020304" pitchFamily="18" charset="0"/>
                <a:cs typeface="Times New Roman" panose="02020603050405020304" pitchFamily="18" charset="0"/>
              </a:rPr>
              <a:t>Why generative file systems?</a:t>
            </a:r>
          </a:p>
          <a:p>
            <a:pPr lvl="1"/>
            <a:r>
              <a:rPr lang="en-US" altLang="zh-CN" sz="2200" dirty="0">
                <a:latin typeface="Times New Roman" panose="02020603050405020304" pitchFamily="18" charset="0"/>
                <a:cs typeface="Times New Roman" panose="02020603050405020304" pitchFamily="18" charset="0"/>
              </a:rPr>
              <a:t>Leveraging Large Language Models (LLMs) to generate and evolve a filesystem from prompts.</a:t>
            </a:r>
          </a:p>
          <a:p>
            <a:pPr lvl="1"/>
            <a:r>
              <a:rPr lang="en-US" altLang="zh-CN" sz="2200" dirty="0">
                <a:latin typeface="Times New Roman" panose="02020603050405020304" pitchFamily="18" charset="0"/>
                <a:cs typeface="Times New Roman" panose="02020603050405020304" pitchFamily="18" charset="0"/>
              </a:rPr>
              <a:t>Generating a complete and useful file system from natural-language prompts is profoundly challenging, if not impossible.</a:t>
            </a:r>
          </a:p>
          <a:p>
            <a:pPr lvl="1"/>
            <a:r>
              <a:rPr lang="en-US" altLang="zh-CN" sz="2200" dirty="0">
                <a:latin typeface="Times New Roman" panose="02020603050405020304" pitchFamily="18" charset="0"/>
                <a:cs typeface="Times New Roman" panose="02020603050405020304" pitchFamily="18" charset="0"/>
              </a:rPr>
              <a:t>Key insight: Specifications usually provide a precise and machine-understandable language to explicitly encode these invariants.</a:t>
            </a:r>
          </a:p>
          <a:p>
            <a:pPr lvl="1"/>
            <a:r>
              <a:rPr lang="en-US" altLang="zh-CN" sz="2200" dirty="0">
                <a:latin typeface="Times New Roman" panose="02020603050405020304" pitchFamily="18" charset="0"/>
                <a:cs typeface="Times New Roman" panose="02020603050405020304" pitchFamily="18" charset="0"/>
              </a:rPr>
              <a:t>Bridging the gap between specifications and LLM-based code generation is non-trivial.</a:t>
            </a:r>
          </a:p>
        </p:txBody>
      </p:sp>
      <p:sp>
        <p:nvSpPr>
          <p:cNvPr id="8" name="Title 1">
            <a:extLst>
              <a:ext uri="{FF2B5EF4-FFF2-40B4-BE49-F238E27FC236}">
                <a16:creationId xmlns:a16="http://schemas.microsoft.com/office/drawing/2014/main" id="{C365643A-4280-6919-DB0B-49CE611C2AE2}"/>
              </a:ext>
            </a:extLst>
          </p:cNvPr>
          <p:cNvSpPr>
            <a:spLocks noGrp="1"/>
          </p:cNvSpPr>
          <p:nvPr>
            <p:ph type="title"/>
          </p:nvPr>
        </p:nvSpPr>
        <p:spPr>
          <a:xfrm>
            <a:off x="1049867" y="144466"/>
            <a:ext cx="10517721" cy="692151"/>
          </a:xfrm>
        </p:spPr>
        <p:txBody>
          <a:bodyPr/>
          <a:lstStyle/>
          <a:p>
            <a:r>
              <a:rPr lang="en-US" altLang="zh-CN" dirty="0">
                <a:ea typeface="Calibri" panose="020F0502020204030204" pitchFamily="34" charset="0"/>
                <a:cs typeface="Calibri" panose="020F0502020204030204" pitchFamily="34" charset="0"/>
              </a:rPr>
              <a:t>Background &amp; Motivation (1/4)</a:t>
            </a:r>
            <a:endParaRPr lang="en-US"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54283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EE221-8BA6-11F1-B20A-2CF347225C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8AB607-D6AC-79C6-B8C1-241BAD7DF7EF}"/>
              </a:ext>
            </a:extLst>
          </p:cNvPr>
          <p:cNvSpPr>
            <a:spLocks noGrp="1"/>
          </p:cNvSpPr>
          <p:nvPr>
            <p:ph type="title"/>
          </p:nvPr>
        </p:nvSpPr>
        <p:spPr/>
        <p:txBody>
          <a:bodyPr/>
          <a:lstStyle/>
          <a:p>
            <a:r>
              <a:rPr lang="en-US" altLang="zh-CN" dirty="0">
                <a:ea typeface="Calibri" panose="020F0502020204030204" pitchFamily="34" charset="0"/>
                <a:cs typeface="Calibri" panose="020F0502020204030204" pitchFamily="34" charset="0"/>
              </a:rPr>
              <a:t>Background &amp; Motivation (2/4)</a:t>
            </a:r>
            <a:endParaRPr lang="en-US" dirty="0">
              <a:ea typeface="Calibri" panose="020F0502020204030204" pitchFamily="34" charset="0"/>
              <a:cs typeface="Calibri" panose="020F0502020204030204" pitchFamily="34" charset="0"/>
            </a:endParaRPr>
          </a:p>
        </p:txBody>
      </p:sp>
      <p:sp>
        <p:nvSpPr>
          <p:cNvPr id="4" name="灯片编号占位符 1">
            <a:extLst>
              <a:ext uri="{FF2B5EF4-FFF2-40B4-BE49-F238E27FC236}">
                <a16:creationId xmlns:a16="http://schemas.microsoft.com/office/drawing/2014/main" id="{CF387142-EFE2-14C5-DEBC-0A671FBA7F39}"/>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7</a:t>
            </a:fld>
            <a:endParaRPr lang="zh-TW" altLang="en-US"/>
          </a:p>
        </p:txBody>
      </p:sp>
      <p:sp>
        <p:nvSpPr>
          <p:cNvPr id="3" name="内容占位符 5">
            <a:extLst>
              <a:ext uri="{FF2B5EF4-FFF2-40B4-BE49-F238E27FC236}">
                <a16:creationId xmlns:a16="http://schemas.microsoft.com/office/drawing/2014/main" id="{1F167971-78C9-2C18-1981-165940526981}"/>
              </a:ext>
            </a:extLst>
          </p:cNvPr>
          <p:cNvSpPr txBox="1">
            <a:spLocks/>
          </p:cNvSpPr>
          <p:nvPr/>
        </p:nvSpPr>
        <p:spPr bwMode="auto">
          <a:xfrm>
            <a:off x="624994" y="1125537"/>
            <a:ext cx="9876465"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Challenges of Generative File Systems:</a:t>
            </a:r>
          </a:p>
          <a:p>
            <a:pPr lvl="1"/>
            <a:r>
              <a:rPr lang="en-US" altLang="zh-CN" sz="2200" kern="0" dirty="0">
                <a:latin typeface="Times New Roman" panose="02020603050405020304" pitchFamily="18" charset="0"/>
                <a:cs typeface="Times New Roman" panose="02020603050405020304" pitchFamily="18" charset="0"/>
              </a:rPr>
              <a:t>Specification Semantic Gap: Natural language prompts fail to capture multifaceted semantics including functional correctness, non-functional properties (performance), and complex concurrency control.</a:t>
            </a:r>
          </a:p>
          <a:p>
            <a:pPr lvl="1"/>
            <a:r>
              <a:rPr lang="en-US" altLang="zh-CN" sz="2200" kern="0" dirty="0">
                <a:latin typeface="Times New Roman" panose="02020603050405020304" pitchFamily="18" charset="0"/>
                <a:cs typeface="Times New Roman" panose="02020603050405020304" pitchFamily="18" charset="0"/>
              </a:rPr>
              <a:t>Complex Component Composition: LLMs' finite context window precludes generating an entire filesystem monolithically, requiring modular approach with composition challenges.</a:t>
            </a:r>
          </a:p>
          <a:p>
            <a:pPr lvl="1"/>
            <a:r>
              <a:rPr lang="en-US" altLang="zh-CN" sz="2200" kern="0" dirty="0">
                <a:latin typeface="Times New Roman" panose="02020603050405020304" pitchFamily="18" charset="0"/>
                <a:cs typeface="Times New Roman" panose="02020603050405020304" pitchFamily="18" charset="0"/>
              </a:rPr>
              <a:t>Unreliable LLM capability: Hallucination causes non-deterministic code generation.</a:t>
            </a:r>
            <a:endParaRPr lang="zh-CN" altLang="en-US" sz="22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5238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773D3-3C62-5D30-D872-54ABA7CE40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D0F173-B4CB-DA13-D29A-D8E5EF279624}"/>
              </a:ext>
            </a:extLst>
          </p:cNvPr>
          <p:cNvSpPr>
            <a:spLocks noGrp="1"/>
          </p:cNvSpPr>
          <p:nvPr>
            <p:ph type="title"/>
          </p:nvPr>
        </p:nvSpPr>
        <p:spPr/>
        <p:txBody>
          <a:bodyPr/>
          <a:lstStyle/>
          <a:p>
            <a:r>
              <a:rPr lang="en-US" altLang="zh-CN" dirty="0">
                <a:ea typeface="Calibri" panose="020F0502020204030204" pitchFamily="34" charset="0"/>
                <a:cs typeface="Calibri" panose="020F0502020204030204" pitchFamily="34" charset="0"/>
              </a:rPr>
              <a:t>Background &amp; Motivation (3/4)</a:t>
            </a:r>
            <a:endParaRPr lang="en-US" dirty="0">
              <a:ea typeface="Calibri" panose="020F0502020204030204" pitchFamily="34" charset="0"/>
              <a:cs typeface="Calibri" panose="020F0502020204030204" pitchFamily="34" charset="0"/>
            </a:endParaRPr>
          </a:p>
        </p:txBody>
      </p:sp>
      <p:sp>
        <p:nvSpPr>
          <p:cNvPr id="4" name="灯片编号占位符 1">
            <a:extLst>
              <a:ext uri="{FF2B5EF4-FFF2-40B4-BE49-F238E27FC236}">
                <a16:creationId xmlns:a16="http://schemas.microsoft.com/office/drawing/2014/main" id="{E2896EBD-5056-945F-B155-C5A043A24A41}"/>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8</a:t>
            </a:fld>
            <a:endParaRPr lang="zh-TW" altLang="en-US"/>
          </a:p>
        </p:txBody>
      </p:sp>
      <p:sp>
        <p:nvSpPr>
          <p:cNvPr id="3" name="椭圆 2">
            <a:extLst>
              <a:ext uri="{FF2B5EF4-FFF2-40B4-BE49-F238E27FC236}">
                <a16:creationId xmlns:a16="http://schemas.microsoft.com/office/drawing/2014/main" id="{0553B58C-1378-C480-5BB0-E7F291513C5E}"/>
              </a:ext>
            </a:extLst>
          </p:cNvPr>
          <p:cNvSpPr/>
          <p:nvPr/>
        </p:nvSpPr>
        <p:spPr bwMode="auto">
          <a:xfrm>
            <a:off x="2452592" y="2035772"/>
            <a:ext cx="229146" cy="221404"/>
          </a:xfrm>
          <a:prstGeom prst="ellipse">
            <a:avLst/>
          </a:prstGeom>
          <a:solidFill>
            <a:schemeClr val="tx2">
              <a:lumMod val="20000"/>
              <a:lumOff val="80000"/>
            </a:schemeClr>
          </a:solidFill>
          <a:ln w="158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 name="椭圆 5">
            <a:extLst>
              <a:ext uri="{FF2B5EF4-FFF2-40B4-BE49-F238E27FC236}">
                <a16:creationId xmlns:a16="http://schemas.microsoft.com/office/drawing/2014/main" id="{1151EDCD-DA78-42D2-0002-4DD4C6E6ACA2}"/>
              </a:ext>
            </a:extLst>
          </p:cNvPr>
          <p:cNvSpPr/>
          <p:nvPr/>
        </p:nvSpPr>
        <p:spPr bwMode="auto">
          <a:xfrm>
            <a:off x="5981427" y="2035772"/>
            <a:ext cx="229146" cy="221404"/>
          </a:xfrm>
          <a:prstGeom prst="ellipse">
            <a:avLst/>
          </a:prstGeom>
          <a:solidFill>
            <a:schemeClr val="tx2">
              <a:lumMod val="20000"/>
              <a:lumOff val="80000"/>
            </a:schemeClr>
          </a:solidFill>
          <a:ln w="158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7" name="椭圆 6">
            <a:extLst>
              <a:ext uri="{FF2B5EF4-FFF2-40B4-BE49-F238E27FC236}">
                <a16:creationId xmlns:a16="http://schemas.microsoft.com/office/drawing/2014/main" id="{BD791890-E2C5-86B0-1C79-9629DC64788A}"/>
              </a:ext>
            </a:extLst>
          </p:cNvPr>
          <p:cNvSpPr/>
          <p:nvPr/>
        </p:nvSpPr>
        <p:spPr bwMode="auto">
          <a:xfrm>
            <a:off x="9398888" y="2035772"/>
            <a:ext cx="229146" cy="221404"/>
          </a:xfrm>
          <a:prstGeom prst="ellipse">
            <a:avLst/>
          </a:prstGeom>
          <a:solidFill>
            <a:schemeClr val="tx2">
              <a:lumMod val="20000"/>
              <a:lumOff val="80000"/>
            </a:schemeClr>
          </a:solidFill>
          <a:ln w="158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8" name="文本框 7">
            <a:extLst>
              <a:ext uri="{FF2B5EF4-FFF2-40B4-BE49-F238E27FC236}">
                <a16:creationId xmlns:a16="http://schemas.microsoft.com/office/drawing/2014/main" id="{EEE2968F-F3ED-E581-5258-0A5FB2ADA9DF}"/>
              </a:ext>
            </a:extLst>
          </p:cNvPr>
          <p:cNvSpPr txBox="1"/>
          <p:nvPr/>
        </p:nvSpPr>
        <p:spPr>
          <a:xfrm>
            <a:off x="1040234" y="1544673"/>
            <a:ext cx="3053861" cy="461665"/>
          </a:xfrm>
          <a:prstGeom prst="rect">
            <a:avLst/>
          </a:prstGeom>
          <a:noFill/>
        </p:spPr>
        <p:txBody>
          <a:bodyPr wrap="square" rtlCol="0" anchor="ctr" anchorCtr="1">
            <a:spAutoFit/>
          </a:bodyPr>
          <a:lstStyle/>
          <a:p>
            <a:r>
              <a:rPr lang="en-US" altLang="zh-CN" sz="2400" dirty="0">
                <a:latin typeface="Times New Roman" panose="02020603050405020304" pitchFamily="18" charset="0"/>
                <a:ea typeface="標楷體" pitchFamily="65" charset="-120"/>
                <a:cs typeface="Times New Roman" panose="02020603050405020304" pitchFamily="18" charset="0"/>
              </a:rPr>
              <a:t>FSCQ (SOSP’15)</a:t>
            </a:r>
            <a:endParaRPr lang="zh-CN" altLang="en-US" sz="2400" dirty="0">
              <a:latin typeface="Times New Roman" panose="02020603050405020304" pitchFamily="18" charset="0"/>
              <a:ea typeface="標楷體" pitchFamily="65" charset="-120"/>
              <a:cs typeface="Times New Roman" panose="02020603050405020304" pitchFamily="18" charset="0"/>
            </a:endParaRPr>
          </a:p>
        </p:txBody>
      </p:sp>
      <p:sp>
        <p:nvSpPr>
          <p:cNvPr id="9" name="文本框 8">
            <a:extLst>
              <a:ext uri="{FF2B5EF4-FFF2-40B4-BE49-F238E27FC236}">
                <a16:creationId xmlns:a16="http://schemas.microsoft.com/office/drawing/2014/main" id="{2768E070-885A-5C2F-7825-09C3065A9961}"/>
              </a:ext>
            </a:extLst>
          </p:cNvPr>
          <p:cNvSpPr txBox="1"/>
          <p:nvPr/>
        </p:nvSpPr>
        <p:spPr>
          <a:xfrm>
            <a:off x="4569069" y="1544673"/>
            <a:ext cx="3053861" cy="461665"/>
          </a:xfrm>
          <a:prstGeom prst="rect">
            <a:avLst/>
          </a:prstGeom>
          <a:noFill/>
        </p:spPr>
        <p:txBody>
          <a:bodyPr wrap="square" rtlCol="0" anchor="ctr" anchorCtr="1">
            <a:spAutoFit/>
          </a:bodyPr>
          <a:lstStyle/>
          <a:p>
            <a:r>
              <a:rPr lang="en-US" altLang="zh-CN" sz="2400" dirty="0">
                <a:latin typeface="Times New Roman" panose="02020603050405020304" pitchFamily="18" charset="0"/>
                <a:ea typeface="標楷體" pitchFamily="65" charset="-120"/>
                <a:cs typeface="Times New Roman" panose="02020603050405020304" pitchFamily="18" charset="0"/>
              </a:rPr>
              <a:t>CRL-H (SOSP’19)</a:t>
            </a:r>
            <a:endParaRPr lang="zh-CN" altLang="en-US" sz="2400" dirty="0">
              <a:latin typeface="Times New Roman" panose="02020603050405020304" pitchFamily="18" charset="0"/>
              <a:ea typeface="標楷體" pitchFamily="65" charset="-120"/>
              <a:cs typeface="Times New Roman" panose="02020603050405020304" pitchFamily="18" charset="0"/>
            </a:endParaRPr>
          </a:p>
        </p:txBody>
      </p:sp>
      <p:sp>
        <p:nvSpPr>
          <p:cNvPr id="10" name="文本框 9">
            <a:extLst>
              <a:ext uri="{FF2B5EF4-FFF2-40B4-BE49-F238E27FC236}">
                <a16:creationId xmlns:a16="http://schemas.microsoft.com/office/drawing/2014/main" id="{9342D69E-141D-FA6F-CE66-77EC8E2FCBE0}"/>
              </a:ext>
            </a:extLst>
          </p:cNvPr>
          <p:cNvSpPr txBox="1"/>
          <p:nvPr/>
        </p:nvSpPr>
        <p:spPr>
          <a:xfrm>
            <a:off x="7986530" y="1544672"/>
            <a:ext cx="3053861" cy="461665"/>
          </a:xfrm>
          <a:prstGeom prst="rect">
            <a:avLst/>
          </a:prstGeom>
          <a:noFill/>
        </p:spPr>
        <p:txBody>
          <a:bodyPr wrap="square" rtlCol="0" anchor="ctr" anchorCtr="1">
            <a:spAutoFit/>
          </a:bodyPr>
          <a:lstStyle/>
          <a:p>
            <a:r>
              <a:rPr lang="en-US" altLang="zh-CN" sz="2400" dirty="0" err="1">
                <a:latin typeface="Times New Roman" panose="02020603050405020304" pitchFamily="18" charset="0"/>
                <a:ea typeface="標楷體" pitchFamily="65" charset="-120"/>
                <a:cs typeface="Times New Roman" panose="02020603050405020304" pitchFamily="18" charset="0"/>
              </a:rPr>
              <a:t>SysSpec</a:t>
            </a:r>
            <a:r>
              <a:rPr lang="en-US" altLang="zh-CN" sz="2400" dirty="0">
                <a:latin typeface="Times New Roman" panose="02020603050405020304" pitchFamily="18" charset="0"/>
                <a:ea typeface="標楷體" pitchFamily="65" charset="-120"/>
                <a:cs typeface="Times New Roman" panose="02020603050405020304" pitchFamily="18" charset="0"/>
              </a:rPr>
              <a:t> (2025)</a:t>
            </a:r>
            <a:endParaRPr lang="zh-CN" altLang="en-US" sz="2400" dirty="0">
              <a:latin typeface="Times New Roman" panose="02020603050405020304" pitchFamily="18" charset="0"/>
              <a:ea typeface="標楷體" pitchFamily="65" charset="-120"/>
              <a:cs typeface="Times New Roman" panose="02020603050405020304" pitchFamily="18" charset="0"/>
            </a:endParaRPr>
          </a:p>
        </p:txBody>
      </p:sp>
      <p:sp>
        <p:nvSpPr>
          <p:cNvPr id="11" name="文本框 10">
            <a:extLst>
              <a:ext uri="{FF2B5EF4-FFF2-40B4-BE49-F238E27FC236}">
                <a16:creationId xmlns:a16="http://schemas.microsoft.com/office/drawing/2014/main" id="{41AEFE99-44CB-67B6-CC28-5622C2307C95}"/>
              </a:ext>
            </a:extLst>
          </p:cNvPr>
          <p:cNvSpPr txBox="1"/>
          <p:nvPr/>
        </p:nvSpPr>
        <p:spPr>
          <a:xfrm>
            <a:off x="1146072" y="3142410"/>
            <a:ext cx="2842183" cy="1446550"/>
          </a:xfrm>
          <a:prstGeom prst="rect">
            <a:avLst/>
          </a:prstGeom>
          <a:noFill/>
        </p:spPr>
        <p:txBody>
          <a:bodyPr wrap="square" rtlCol="0" anchor="ctr" anchorCtr="1">
            <a:spAutoFit/>
          </a:bodyPr>
          <a:lstStyle/>
          <a:p>
            <a:r>
              <a:rPr lang="en-US" altLang="zh-CN" sz="2200" dirty="0">
                <a:latin typeface="Times New Roman" panose="02020603050405020304" pitchFamily="18" charset="0"/>
                <a:ea typeface="標楷體" pitchFamily="65" charset="-120"/>
                <a:cs typeface="Times New Roman" panose="02020603050405020304" pitchFamily="18" charset="0"/>
              </a:rPr>
              <a:t>Crash Hoare Logic pioneers formal verification of file systems.</a:t>
            </a:r>
            <a:endParaRPr lang="zh-CN" altLang="en-US" sz="2200" dirty="0">
              <a:latin typeface="Times New Roman" panose="02020603050405020304" pitchFamily="18" charset="0"/>
              <a:ea typeface="標楷體" pitchFamily="65" charset="-120"/>
              <a:cs typeface="Times New Roman" panose="02020603050405020304" pitchFamily="18" charset="0"/>
            </a:endParaRPr>
          </a:p>
        </p:txBody>
      </p:sp>
      <p:sp>
        <p:nvSpPr>
          <p:cNvPr id="12" name="文本框 11">
            <a:extLst>
              <a:ext uri="{FF2B5EF4-FFF2-40B4-BE49-F238E27FC236}">
                <a16:creationId xmlns:a16="http://schemas.microsoft.com/office/drawing/2014/main" id="{A43CC835-8F0A-A744-B3FF-C6AB0B373D85}"/>
              </a:ext>
            </a:extLst>
          </p:cNvPr>
          <p:cNvSpPr txBox="1"/>
          <p:nvPr/>
        </p:nvSpPr>
        <p:spPr>
          <a:xfrm>
            <a:off x="4642337" y="3142410"/>
            <a:ext cx="2907323" cy="1785104"/>
          </a:xfrm>
          <a:prstGeom prst="rect">
            <a:avLst/>
          </a:prstGeom>
          <a:noFill/>
        </p:spPr>
        <p:txBody>
          <a:bodyPr wrap="square" rtlCol="0" anchor="ctr" anchorCtr="1">
            <a:spAutoFit/>
          </a:bodyPr>
          <a:lstStyle/>
          <a:p>
            <a:r>
              <a:rPr lang="en-US" altLang="zh-CN" sz="2200" dirty="0">
                <a:latin typeface="Times New Roman" panose="02020603050405020304" pitchFamily="18" charset="0"/>
                <a:ea typeface="標楷體" pitchFamily="65" charset="-120"/>
                <a:cs typeface="Times New Roman" panose="02020603050405020304" pitchFamily="18" charset="0"/>
              </a:rPr>
              <a:t>CRL-H logic was proposed for concurrent file systems to solve the linearization point problem.</a:t>
            </a:r>
            <a:endParaRPr lang="zh-CN" altLang="en-US" sz="2200" dirty="0">
              <a:latin typeface="Times New Roman" panose="02020603050405020304" pitchFamily="18" charset="0"/>
              <a:ea typeface="標楷體" pitchFamily="65" charset="-120"/>
              <a:cs typeface="Times New Roman" panose="02020603050405020304" pitchFamily="18" charset="0"/>
            </a:endParaRPr>
          </a:p>
        </p:txBody>
      </p:sp>
      <p:sp>
        <p:nvSpPr>
          <p:cNvPr id="13" name="文本框 12">
            <a:extLst>
              <a:ext uri="{FF2B5EF4-FFF2-40B4-BE49-F238E27FC236}">
                <a16:creationId xmlns:a16="http://schemas.microsoft.com/office/drawing/2014/main" id="{90FEAAD8-28B4-0D43-145E-4424C2B1B34D}"/>
              </a:ext>
            </a:extLst>
          </p:cNvPr>
          <p:cNvSpPr txBox="1"/>
          <p:nvPr/>
        </p:nvSpPr>
        <p:spPr>
          <a:xfrm>
            <a:off x="8355541" y="3142410"/>
            <a:ext cx="2309440" cy="1785104"/>
          </a:xfrm>
          <a:prstGeom prst="rect">
            <a:avLst/>
          </a:prstGeom>
          <a:noFill/>
        </p:spPr>
        <p:txBody>
          <a:bodyPr wrap="square" rtlCol="0" anchor="ctr" anchorCtr="1">
            <a:spAutoFit/>
          </a:bodyPr>
          <a:lstStyle/>
          <a:p>
            <a:r>
              <a:rPr lang="en-US" altLang="zh-CN" sz="2200" dirty="0">
                <a:latin typeface="Times New Roman" panose="02020603050405020304" pitchFamily="18" charset="0"/>
                <a:ea typeface="標楷體" pitchFamily="65" charset="-120"/>
                <a:cs typeface="Times New Roman" panose="02020603050405020304" pitchFamily="18" charset="0"/>
              </a:rPr>
              <a:t>Using LLM to generate evolvable file system code from specifications</a:t>
            </a:r>
            <a:endParaRPr lang="zh-CN" altLang="en-US" sz="2200" dirty="0">
              <a:latin typeface="Times New Roman" panose="02020603050405020304" pitchFamily="18" charset="0"/>
              <a:ea typeface="標楷體" pitchFamily="65" charset="-120"/>
              <a:cs typeface="Times New Roman" panose="02020603050405020304" pitchFamily="18" charset="0"/>
            </a:endParaRPr>
          </a:p>
        </p:txBody>
      </p:sp>
      <p:cxnSp>
        <p:nvCxnSpPr>
          <p:cNvPr id="17" name="直接连接符 16">
            <a:extLst>
              <a:ext uri="{FF2B5EF4-FFF2-40B4-BE49-F238E27FC236}">
                <a16:creationId xmlns:a16="http://schemas.microsoft.com/office/drawing/2014/main" id="{D9010B76-5F6B-B18C-168E-9569142F682C}"/>
              </a:ext>
            </a:extLst>
          </p:cNvPr>
          <p:cNvCxnSpPr>
            <a:stCxn id="3" idx="6"/>
            <a:endCxn id="6" idx="2"/>
          </p:cNvCxnSpPr>
          <p:nvPr/>
        </p:nvCxnSpPr>
        <p:spPr bwMode="auto">
          <a:xfrm>
            <a:off x="2681738" y="2146474"/>
            <a:ext cx="3299689" cy="0"/>
          </a:xfrm>
          <a:prstGeom prst="line">
            <a:avLst/>
          </a:prstGeom>
          <a:noFill/>
          <a:ln w="15875" cap="flat" cmpd="sng" algn="ctr">
            <a:solidFill>
              <a:srgbClr val="C6D9F1"/>
            </a:solidFill>
            <a:prstDash val="solid"/>
            <a:round/>
            <a:headEnd type="none" w="med" len="med"/>
            <a:tailEnd type="none" w="med" len="med"/>
          </a:ln>
          <a:effectLst/>
        </p:spPr>
      </p:cxnSp>
      <p:cxnSp>
        <p:nvCxnSpPr>
          <p:cNvPr id="19" name="直接连接符 18">
            <a:extLst>
              <a:ext uri="{FF2B5EF4-FFF2-40B4-BE49-F238E27FC236}">
                <a16:creationId xmlns:a16="http://schemas.microsoft.com/office/drawing/2014/main" id="{50FC367F-ECC0-0AD9-5FA7-E0DEEBDAB3F5}"/>
              </a:ext>
            </a:extLst>
          </p:cNvPr>
          <p:cNvCxnSpPr>
            <a:stCxn id="6" idx="6"/>
            <a:endCxn id="7" idx="2"/>
          </p:cNvCxnSpPr>
          <p:nvPr/>
        </p:nvCxnSpPr>
        <p:spPr bwMode="auto">
          <a:xfrm>
            <a:off x="6210573" y="2146474"/>
            <a:ext cx="3188315" cy="0"/>
          </a:xfrm>
          <a:prstGeom prst="line">
            <a:avLst/>
          </a:prstGeom>
          <a:noFill/>
          <a:ln w="15875" cap="flat" cmpd="sng" algn="ctr">
            <a:solidFill>
              <a:srgbClr val="C6D9F1"/>
            </a:solidFill>
            <a:prstDash val="solid"/>
            <a:round/>
            <a:headEnd type="none" w="med" len="med"/>
            <a:tailEnd type="none" w="med" len="med"/>
          </a:ln>
          <a:effectLst/>
        </p:spPr>
      </p:cxnSp>
      <p:cxnSp>
        <p:nvCxnSpPr>
          <p:cNvPr id="21" name="直接连接符 20">
            <a:extLst>
              <a:ext uri="{FF2B5EF4-FFF2-40B4-BE49-F238E27FC236}">
                <a16:creationId xmlns:a16="http://schemas.microsoft.com/office/drawing/2014/main" id="{C10D614F-63D0-97EC-6EDC-8AB30C019BAA}"/>
              </a:ext>
            </a:extLst>
          </p:cNvPr>
          <p:cNvCxnSpPr>
            <a:stCxn id="3" idx="4"/>
            <a:endCxn id="11" idx="0"/>
          </p:cNvCxnSpPr>
          <p:nvPr/>
        </p:nvCxnSpPr>
        <p:spPr bwMode="auto">
          <a:xfrm flipH="1">
            <a:off x="2567164" y="2257176"/>
            <a:ext cx="1" cy="885234"/>
          </a:xfrm>
          <a:prstGeom prst="line">
            <a:avLst/>
          </a:prstGeom>
          <a:noFill/>
          <a:ln w="15875" cap="flat" cmpd="sng" algn="ctr">
            <a:solidFill>
              <a:srgbClr val="C6D9F1"/>
            </a:solidFill>
            <a:prstDash val="solid"/>
            <a:round/>
            <a:headEnd type="none" w="med" len="med"/>
            <a:tailEnd type="none" w="med" len="med"/>
          </a:ln>
          <a:effectLst/>
        </p:spPr>
      </p:cxnSp>
      <p:cxnSp>
        <p:nvCxnSpPr>
          <p:cNvPr id="23" name="直接连接符 22">
            <a:extLst>
              <a:ext uri="{FF2B5EF4-FFF2-40B4-BE49-F238E27FC236}">
                <a16:creationId xmlns:a16="http://schemas.microsoft.com/office/drawing/2014/main" id="{4A03F899-058B-F8A2-3A9D-37043A3EEB06}"/>
              </a:ext>
            </a:extLst>
          </p:cNvPr>
          <p:cNvCxnSpPr>
            <a:stCxn id="6" idx="4"/>
            <a:endCxn id="12" idx="0"/>
          </p:cNvCxnSpPr>
          <p:nvPr/>
        </p:nvCxnSpPr>
        <p:spPr bwMode="auto">
          <a:xfrm flipH="1">
            <a:off x="6095999" y="2257176"/>
            <a:ext cx="1" cy="885234"/>
          </a:xfrm>
          <a:prstGeom prst="line">
            <a:avLst/>
          </a:prstGeom>
          <a:noFill/>
          <a:ln w="15875" cap="flat" cmpd="sng" algn="ctr">
            <a:solidFill>
              <a:srgbClr val="C6D9F1"/>
            </a:solidFill>
            <a:prstDash val="solid"/>
            <a:round/>
            <a:headEnd type="none" w="med" len="med"/>
            <a:tailEnd type="none" w="med" len="med"/>
          </a:ln>
          <a:effectLst/>
        </p:spPr>
      </p:cxnSp>
      <p:cxnSp>
        <p:nvCxnSpPr>
          <p:cNvPr id="27" name="直接连接符 26">
            <a:extLst>
              <a:ext uri="{FF2B5EF4-FFF2-40B4-BE49-F238E27FC236}">
                <a16:creationId xmlns:a16="http://schemas.microsoft.com/office/drawing/2014/main" id="{21E62D4A-51AB-1C61-9C30-15BFB02A829C}"/>
              </a:ext>
            </a:extLst>
          </p:cNvPr>
          <p:cNvCxnSpPr>
            <a:stCxn id="7" idx="4"/>
            <a:endCxn id="13" idx="0"/>
          </p:cNvCxnSpPr>
          <p:nvPr/>
        </p:nvCxnSpPr>
        <p:spPr bwMode="auto">
          <a:xfrm flipH="1">
            <a:off x="9510261" y="2257176"/>
            <a:ext cx="3200" cy="885234"/>
          </a:xfrm>
          <a:prstGeom prst="line">
            <a:avLst/>
          </a:prstGeom>
          <a:noFill/>
          <a:ln w="15875" cap="flat" cmpd="sng" algn="ctr">
            <a:solidFill>
              <a:srgbClr val="C6D9F1"/>
            </a:solidFill>
            <a:prstDash val="solid"/>
            <a:round/>
            <a:headEnd type="none" w="med" len="med"/>
            <a:tailEnd type="none" w="med" len="med"/>
          </a:ln>
          <a:effectLst/>
        </p:spPr>
      </p:cxnSp>
    </p:spTree>
    <p:extLst>
      <p:ext uri="{BB962C8B-B14F-4D97-AF65-F5344CB8AC3E}">
        <p14:creationId xmlns:p14="http://schemas.microsoft.com/office/powerpoint/2010/main" val="906385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1DF69-128E-8159-6441-DEFF8E5163E7}"/>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9ED9CD4-BA7F-12C8-5BDD-DF2A0EA0C5C5}"/>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5" name="灯片编号占位符 1">
            <a:extLst>
              <a:ext uri="{FF2B5EF4-FFF2-40B4-BE49-F238E27FC236}">
                <a16:creationId xmlns:a16="http://schemas.microsoft.com/office/drawing/2014/main" id="{FBCCB22E-2B32-15D0-8604-EB8B234C26D5}"/>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9</a:t>
            </a:fld>
            <a:endParaRPr lang="zh-TW" altLang="en-US"/>
          </a:p>
        </p:txBody>
      </p:sp>
      <p:sp>
        <p:nvSpPr>
          <p:cNvPr id="4" name="內容版面配置區 2">
            <a:extLst>
              <a:ext uri="{FF2B5EF4-FFF2-40B4-BE49-F238E27FC236}">
                <a16:creationId xmlns:a16="http://schemas.microsoft.com/office/drawing/2014/main" id="{4037B6D5-AC71-16F9-F4CE-6BBFBA4AF9A5}"/>
              </a:ext>
            </a:extLst>
          </p:cNvPr>
          <p:cNvSpPr txBox="1">
            <a:spLocks/>
          </p:cNvSpPr>
          <p:nvPr/>
        </p:nvSpPr>
        <p:spPr bwMode="auto">
          <a:xfrm>
            <a:off x="1317560" y="1125537"/>
            <a:ext cx="10270977" cy="35607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933" kern="0" dirty="0">
                <a:latin typeface="Times New Roman" panose="02020603050405020304" pitchFamily="18" charset="0"/>
                <a:cs typeface="Times New Roman" panose="02020603050405020304" pitchFamily="18" charset="0"/>
              </a:rPr>
              <a:t>Introduction (2 min)</a:t>
            </a:r>
            <a:endParaRPr lang="en-US" altLang="zh-TW" sz="2933" kern="0" dirty="0">
              <a:latin typeface="Times New Roman" panose="02020603050405020304" pitchFamily="18" charset="0"/>
              <a:cs typeface="Times New Roman" panose="02020603050405020304" pitchFamily="18" charset="0"/>
            </a:endParaRPr>
          </a:p>
          <a:p>
            <a:r>
              <a:rPr lang="en-US" altLang="zh-CN" sz="2933" kern="0" dirty="0">
                <a:latin typeface="Times New Roman" panose="02020603050405020304" pitchFamily="18" charset="0"/>
                <a:cs typeface="Times New Roman" panose="02020603050405020304" pitchFamily="18" charset="0"/>
              </a:rPr>
              <a:t>Background &amp; Motivation (3 min)</a:t>
            </a:r>
          </a:p>
          <a:p>
            <a:r>
              <a:rPr lang="en-US" altLang="zh-CN" sz="2933" kern="0" dirty="0">
                <a:latin typeface="Times New Roman" panose="02020603050405020304" pitchFamily="18" charset="0"/>
                <a:cs typeface="Times New Roman" panose="02020603050405020304" pitchFamily="18" charset="0"/>
              </a:rPr>
              <a:t>Proposed Methods &amp; Performance Evaluation (25 min)</a:t>
            </a:r>
          </a:p>
          <a:p>
            <a:pPr lvl="1"/>
            <a:r>
              <a:rPr lang="en-US" altLang="zh-CN" sz="2400" kern="0" dirty="0">
                <a:solidFill>
                  <a:srgbClr val="FF0000"/>
                </a:solidFill>
                <a:latin typeface="Times New Roman" panose="02020603050405020304" pitchFamily="18" charset="0"/>
                <a:cs typeface="Times New Roman" panose="02020603050405020304" pitchFamily="18" charset="0"/>
              </a:rPr>
              <a:t>FSCQ (8 min)</a:t>
            </a:r>
          </a:p>
          <a:p>
            <a:pPr lvl="1"/>
            <a:r>
              <a:rPr lang="en-US" altLang="zh-CN" sz="2400" kern="0" dirty="0">
                <a:latin typeface="Times New Roman" panose="02020603050405020304" pitchFamily="18" charset="0"/>
                <a:cs typeface="Times New Roman" panose="02020603050405020304" pitchFamily="18" charset="0"/>
              </a:rPr>
              <a:t>CRL-H and</a:t>
            </a:r>
            <a:r>
              <a:rPr lang="zh-CN" altLang="en-US" sz="2400" kern="0" dirty="0">
                <a:latin typeface="Times New Roman" panose="02020603050405020304" pitchFamily="18" charset="0"/>
                <a:cs typeface="Times New Roman" panose="02020603050405020304" pitchFamily="18" charset="0"/>
              </a:rPr>
              <a:t> </a:t>
            </a:r>
            <a:r>
              <a:rPr lang="en-US" altLang="zh-CN" sz="2400" kern="0" dirty="0" err="1">
                <a:latin typeface="Times New Roman" panose="02020603050405020304" pitchFamily="18" charset="0"/>
                <a:cs typeface="Times New Roman" panose="02020603050405020304" pitchFamily="18" charset="0"/>
              </a:rPr>
              <a:t>AtomFS</a:t>
            </a:r>
            <a:r>
              <a:rPr lang="en-US" altLang="zh-CN" sz="2400" kern="0" dirty="0">
                <a:latin typeface="Times New Roman" panose="02020603050405020304" pitchFamily="18" charset="0"/>
                <a:cs typeface="Times New Roman" panose="02020603050405020304" pitchFamily="18" charset="0"/>
              </a:rPr>
              <a:t> (8 min)</a:t>
            </a:r>
          </a:p>
          <a:p>
            <a:pPr lvl="1"/>
            <a:r>
              <a:rPr lang="en-US" altLang="zh-CN" sz="2400" kern="0" dirty="0" err="1">
                <a:latin typeface="Times New Roman" panose="02020603050405020304" pitchFamily="18" charset="0"/>
                <a:cs typeface="Times New Roman" panose="02020603050405020304" pitchFamily="18" charset="0"/>
              </a:rPr>
              <a:t>SysSpec</a:t>
            </a:r>
            <a:r>
              <a:rPr lang="en-US" altLang="zh-CN" sz="2400" kern="0" dirty="0">
                <a:latin typeface="Times New Roman" panose="02020603050405020304" pitchFamily="18" charset="0"/>
                <a:cs typeface="Times New Roman" panose="02020603050405020304" pitchFamily="18" charset="0"/>
              </a:rPr>
              <a:t> and </a:t>
            </a:r>
            <a:r>
              <a:rPr lang="en-US" altLang="zh-CN" sz="2400" kern="0" dirty="0" err="1">
                <a:latin typeface="Times New Roman" panose="02020603050405020304" pitchFamily="18" charset="0"/>
                <a:cs typeface="Times New Roman" panose="02020603050405020304" pitchFamily="18" charset="0"/>
              </a:rPr>
              <a:t>SpecFS</a:t>
            </a:r>
            <a:r>
              <a:rPr lang="en-US" altLang="zh-CN" sz="2400" kern="0" dirty="0">
                <a:latin typeface="Times New Roman" panose="02020603050405020304" pitchFamily="18" charset="0"/>
                <a:cs typeface="Times New Roman" panose="02020603050405020304" pitchFamily="18" charset="0"/>
              </a:rPr>
              <a:t> (9 min)</a:t>
            </a:r>
          </a:p>
          <a:p>
            <a:r>
              <a:rPr lang="en-US" altLang="zh-CN" sz="2933" kern="0" dirty="0">
                <a:latin typeface="Times New Roman" panose="02020603050405020304" pitchFamily="18" charset="0"/>
                <a:cs typeface="Times New Roman" panose="02020603050405020304" pitchFamily="18" charset="0"/>
              </a:rPr>
              <a:t>Conclusions (2 min)</a:t>
            </a:r>
          </a:p>
          <a:p>
            <a:r>
              <a:rPr lang="en-US" altLang="zh-CN" sz="2933" kern="0" dirty="0">
                <a:latin typeface="Times New Roman" panose="02020603050405020304" pitchFamily="18" charset="0"/>
                <a:cs typeface="Times New Roman" panose="02020603050405020304" pitchFamily="18" charset="0"/>
              </a:rPr>
              <a:t>Q &amp; A (5 min)</a:t>
            </a:r>
          </a:p>
        </p:txBody>
      </p:sp>
    </p:spTree>
    <p:extLst>
      <p:ext uri="{BB962C8B-B14F-4D97-AF65-F5344CB8AC3E}">
        <p14:creationId xmlns:p14="http://schemas.microsoft.com/office/powerpoint/2010/main" val="659027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8B1BD-09E3-299C-C966-0D410CA82E6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965C84F-D777-FFE0-8179-DFE51148AB72}"/>
              </a:ext>
            </a:extLst>
          </p:cNvPr>
          <p:cNvSpPr>
            <a:spLocks noGrp="1"/>
          </p:cNvSpPr>
          <p:nvPr>
            <p:ph type="title"/>
          </p:nvPr>
        </p:nvSpPr>
        <p:spPr>
          <a:xfrm>
            <a:off x="1296610" y="144466"/>
            <a:ext cx="10270977" cy="692151"/>
          </a:xfrm>
        </p:spPr>
        <p:txBody>
          <a:bodyPr/>
          <a:lstStyle/>
          <a:p>
            <a:r>
              <a:rPr lang="en-US" altLang="zh-TW" dirty="0"/>
              <a:t>FSCQ (1/7)</a:t>
            </a:r>
            <a:endParaRPr lang="zh-TW" altLang="en-US" dirty="0"/>
          </a:p>
        </p:txBody>
      </p:sp>
      <p:sp>
        <p:nvSpPr>
          <p:cNvPr id="5" name="灯片编号占位符 1">
            <a:extLst>
              <a:ext uri="{FF2B5EF4-FFF2-40B4-BE49-F238E27FC236}">
                <a16:creationId xmlns:a16="http://schemas.microsoft.com/office/drawing/2014/main" id="{1CCB0FF4-A066-EA2A-1216-DC141916FF90}"/>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10</a:t>
            </a:fld>
            <a:endParaRPr lang="zh-TW" altLang="en-US"/>
          </a:p>
        </p:txBody>
      </p:sp>
      <p:pic>
        <p:nvPicPr>
          <p:cNvPr id="6" name="图片 5">
            <a:extLst>
              <a:ext uri="{FF2B5EF4-FFF2-40B4-BE49-F238E27FC236}">
                <a16:creationId xmlns:a16="http://schemas.microsoft.com/office/drawing/2014/main" id="{51B845DD-CBE9-27DC-C9A2-73F0EEC7908C}"/>
              </a:ext>
            </a:extLst>
          </p:cNvPr>
          <p:cNvPicPr>
            <a:picLocks noChangeAspect="1"/>
          </p:cNvPicPr>
          <p:nvPr/>
        </p:nvPicPr>
        <p:blipFill>
          <a:blip r:embed="rId3"/>
          <a:stretch>
            <a:fillRect/>
          </a:stretch>
        </p:blipFill>
        <p:spPr>
          <a:xfrm>
            <a:off x="0" y="1214531"/>
            <a:ext cx="12192000" cy="3185353"/>
          </a:xfrm>
          <a:prstGeom prst="rect">
            <a:avLst/>
          </a:prstGeom>
        </p:spPr>
      </p:pic>
      <p:sp>
        <p:nvSpPr>
          <p:cNvPr id="10" name="文本框 9">
            <a:extLst>
              <a:ext uri="{FF2B5EF4-FFF2-40B4-BE49-F238E27FC236}">
                <a16:creationId xmlns:a16="http://schemas.microsoft.com/office/drawing/2014/main" id="{F40F29CE-5BF4-AD23-6666-421CBD71E151}"/>
              </a:ext>
            </a:extLst>
          </p:cNvPr>
          <p:cNvSpPr txBox="1"/>
          <p:nvPr/>
        </p:nvSpPr>
        <p:spPr>
          <a:xfrm>
            <a:off x="2718503" y="4399884"/>
            <a:ext cx="6754993" cy="1569660"/>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Figure 3: Example control flow of a CHL procedure that looks up the address of a block in an </a:t>
            </a:r>
            <a:r>
              <a:rPr lang="en-US" altLang="zh-CN" sz="1600" dirty="0" err="1">
                <a:latin typeface="Times New Roman" panose="02020603050405020304" pitchFamily="18" charset="0"/>
                <a:cs typeface="Times New Roman" panose="02020603050405020304" pitchFamily="18" charset="0"/>
              </a:rPr>
              <a:t>inode</a:t>
            </a:r>
            <a:r>
              <a:rPr lang="en-US" altLang="zh-CN" sz="1600" dirty="0">
                <a:latin typeface="Times New Roman" panose="02020603050405020304" pitchFamily="18" charset="0"/>
                <a:cs typeface="Times New Roman" panose="02020603050405020304" pitchFamily="18" charset="0"/>
              </a:rPr>
              <a:t>, with support for indirect blocks. (The actual code in FSCQ checks for some additional error cases.) Gray boxes represent the specifications of procedures. The dark red box represents the recovery procedure. Green and pink boxes represent preconditions and crash conditions, respectively. Blue boxes represent postconditions. Dashed arrows represent logical implication.</a:t>
            </a:r>
            <a:endParaRPr lang="zh-CN"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8136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3D50C-6ACD-F3E5-3349-6C086069063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55ABEE4-D2FC-39A7-CC86-F5630C70918D}"/>
              </a:ext>
            </a:extLst>
          </p:cNvPr>
          <p:cNvSpPr>
            <a:spLocks noGrp="1"/>
          </p:cNvSpPr>
          <p:nvPr>
            <p:ph type="title"/>
          </p:nvPr>
        </p:nvSpPr>
        <p:spPr>
          <a:xfrm>
            <a:off x="1296610" y="144466"/>
            <a:ext cx="10270977" cy="692151"/>
          </a:xfrm>
        </p:spPr>
        <p:txBody>
          <a:bodyPr/>
          <a:lstStyle/>
          <a:p>
            <a:r>
              <a:rPr lang="en-US" altLang="zh-TW" dirty="0"/>
              <a:t>FSCQ (2/7)</a:t>
            </a:r>
            <a:endParaRPr lang="zh-TW" altLang="en-US" dirty="0"/>
          </a:p>
        </p:txBody>
      </p:sp>
      <p:sp>
        <p:nvSpPr>
          <p:cNvPr id="5" name="灯片编号占位符 1">
            <a:extLst>
              <a:ext uri="{FF2B5EF4-FFF2-40B4-BE49-F238E27FC236}">
                <a16:creationId xmlns:a16="http://schemas.microsoft.com/office/drawing/2014/main" id="{25CDCC9C-BB76-3B8C-754B-D68785E76511}"/>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11</a:t>
            </a:fld>
            <a:endParaRPr lang="zh-TW" altLang="en-US"/>
          </a:p>
        </p:txBody>
      </p:sp>
      <p:sp>
        <p:nvSpPr>
          <p:cNvPr id="3" name="Content Placeholder 2">
            <a:extLst>
              <a:ext uri="{FF2B5EF4-FFF2-40B4-BE49-F238E27FC236}">
                <a16:creationId xmlns:a16="http://schemas.microsoft.com/office/drawing/2014/main" id="{15A52346-4410-84A4-8887-89E129222133}"/>
              </a:ext>
            </a:extLst>
          </p:cNvPr>
          <p:cNvSpPr>
            <a:spLocks noGrp="1"/>
          </p:cNvSpPr>
          <p:nvPr>
            <p:ph idx="1"/>
          </p:nvPr>
        </p:nvSpPr>
        <p:spPr>
          <a:xfrm>
            <a:off x="609600" y="1125537"/>
            <a:ext cx="10023565" cy="825183"/>
          </a:xfrm>
        </p:spPr>
        <p:txBody>
          <a:bodyPr/>
          <a:lstStyle/>
          <a:p>
            <a:r>
              <a:rPr lang="en-US" sz="2400" dirty="0">
                <a:latin typeface="Times New Roman" panose="02020603050405020304" pitchFamily="18" charset="0"/>
                <a:cs typeface="Times New Roman" panose="02020603050405020304" pitchFamily="18" charset="0"/>
              </a:rPr>
              <a:t>FSCQ is based on the xv6 file system and uses a layered structure:</a:t>
            </a:r>
            <a:endParaRPr lang="en-US" sz="2200"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5C142588-843F-08CE-02CD-810CD393EBB1}"/>
              </a:ext>
            </a:extLst>
          </p:cNvPr>
          <p:cNvPicPr>
            <a:picLocks noChangeAspect="1"/>
          </p:cNvPicPr>
          <p:nvPr/>
        </p:nvPicPr>
        <p:blipFill>
          <a:blip r:embed="rId3"/>
          <a:stretch>
            <a:fillRect/>
          </a:stretch>
        </p:blipFill>
        <p:spPr>
          <a:xfrm>
            <a:off x="3549798" y="1641500"/>
            <a:ext cx="5092402" cy="3575000"/>
          </a:xfrm>
          <a:prstGeom prst="rect">
            <a:avLst/>
          </a:prstGeom>
        </p:spPr>
      </p:pic>
      <p:sp>
        <p:nvSpPr>
          <p:cNvPr id="6" name="文本框 5">
            <a:extLst>
              <a:ext uri="{FF2B5EF4-FFF2-40B4-BE49-F238E27FC236}">
                <a16:creationId xmlns:a16="http://schemas.microsoft.com/office/drawing/2014/main" id="{5B277689-3D60-B67C-D766-7CC81BD3B80A}"/>
              </a:ext>
            </a:extLst>
          </p:cNvPr>
          <p:cNvSpPr txBox="1"/>
          <p:nvPr/>
        </p:nvSpPr>
        <p:spPr>
          <a:xfrm>
            <a:off x="3421482" y="5393909"/>
            <a:ext cx="5349033" cy="338554"/>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Figure 4: </a:t>
            </a:r>
            <a:r>
              <a:rPr lang="zh-CN" altLang="en-US" sz="1600" dirty="0">
                <a:latin typeface="Times New Roman" panose="02020603050405020304" pitchFamily="18" charset="0"/>
                <a:cs typeface="Times New Roman" panose="02020603050405020304" pitchFamily="18" charset="0"/>
              </a:rPr>
              <a:t>FSCQ components. Arrows represent procedure calls.</a:t>
            </a:r>
          </a:p>
        </p:txBody>
      </p:sp>
    </p:spTree>
    <p:extLst>
      <p:ext uri="{BB962C8B-B14F-4D97-AF65-F5344CB8AC3E}">
        <p14:creationId xmlns:p14="http://schemas.microsoft.com/office/powerpoint/2010/main" val="8494015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C48DA-9D37-959E-684B-83424B75712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CFD630B-ABCF-592B-B4A6-C8289A72BE22}"/>
              </a:ext>
            </a:extLst>
          </p:cNvPr>
          <p:cNvSpPr>
            <a:spLocks noGrp="1"/>
          </p:cNvSpPr>
          <p:nvPr>
            <p:ph type="title"/>
          </p:nvPr>
        </p:nvSpPr>
        <p:spPr>
          <a:xfrm>
            <a:off x="1296610" y="144466"/>
            <a:ext cx="10270977" cy="692151"/>
          </a:xfrm>
        </p:spPr>
        <p:txBody>
          <a:bodyPr/>
          <a:lstStyle/>
          <a:p>
            <a:r>
              <a:rPr lang="en-US" altLang="zh-TW" dirty="0"/>
              <a:t>FSCQ (3/7)</a:t>
            </a:r>
            <a:endParaRPr lang="zh-TW" altLang="en-US" dirty="0"/>
          </a:p>
        </p:txBody>
      </p:sp>
      <p:sp>
        <p:nvSpPr>
          <p:cNvPr id="5" name="灯片编号占位符 1">
            <a:extLst>
              <a:ext uri="{FF2B5EF4-FFF2-40B4-BE49-F238E27FC236}">
                <a16:creationId xmlns:a16="http://schemas.microsoft.com/office/drawing/2014/main" id="{42EFCB61-0641-5438-5642-784FBF6878F9}"/>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12</a:t>
            </a:fld>
            <a:endParaRPr lang="zh-TW" altLang="en-US"/>
          </a:p>
        </p:txBody>
      </p:sp>
      <p:sp>
        <p:nvSpPr>
          <p:cNvPr id="3" name="Content Placeholder 2">
            <a:extLst>
              <a:ext uri="{FF2B5EF4-FFF2-40B4-BE49-F238E27FC236}">
                <a16:creationId xmlns:a16="http://schemas.microsoft.com/office/drawing/2014/main" id="{0AC0F7C8-FB1E-FF82-2C52-0C1F5E546D22}"/>
              </a:ext>
            </a:extLst>
          </p:cNvPr>
          <p:cNvSpPr>
            <a:spLocks noGrp="1"/>
          </p:cNvSpPr>
          <p:nvPr>
            <p:ph idx="1"/>
          </p:nvPr>
        </p:nvSpPr>
        <p:spPr>
          <a:xfrm>
            <a:off x="0" y="1125537"/>
            <a:ext cx="5799221" cy="4831917"/>
          </a:xfrm>
        </p:spPr>
        <p:txBody>
          <a:bodyPr/>
          <a:lstStyle/>
          <a:p>
            <a:r>
              <a:rPr lang="en-US" sz="2400" dirty="0">
                <a:latin typeface="Times New Roman" panose="02020603050405020304" pitchFamily="18" charset="0"/>
                <a:cs typeface="Times New Roman" panose="02020603050405020304" pitchFamily="18" charset="0"/>
              </a:rPr>
              <a:t>FSCQ Architecture &amp; Design Patterns</a:t>
            </a:r>
          </a:p>
          <a:p>
            <a:pPr lvl="1"/>
            <a:r>
              <a:rPr lang="en-US" sz="2200" dirty="0">
                <a:latin typeface="Times New Roman" panose="02020603050405020304" pitchFamily="18" charset="0"/>
                <a:cs typeface="Times New Roman" panose="02020603050405020304" pitchFamily="18" charset="0"/>
              </a:rPr>
              <a:t>Layered stack: </a:t>
            </a:r>
            <a:r>
              <a:rPr lang="en-US" sz="2200" dirty="0" err="1">
                <a:latin typeface="Times New Roman" panose="02020603050405020304" pitchFamily="18" charset="0"/>
                <a:cs typeface="Times New Roman" panose="02020603050405020304" pitchFamily="18" charset="0"/>
              </a:rPr>
              <a:t>FscqLog</a:t>
            </a:r>
            <a:r>
              <a:rPr lang="en-US" sz="2200" dirty="0">
                <a:latin typeface="Times New Roman" panose="02020603050405020304" pitchFamily="18" charset="0"/>
                <a:cs typeface="Times New Roman" panose="02020603050405020304" pitchFamily="18" charset="0"/>
              </a:rPr>
              <a:t> → Buffer Cache → Bitmap Allocator (</a:t>
            </a:r>
            <a:r>
              <a:rPr lang="en-US" sz="2200" dirty="0" err="1">
                <a:latin typeface="Times New Roman" panose="02020603050405020304" pitchFamily="18" charset="0"/>
                <a:cs typeface="Times New Roman" panose="02020603050405020304" pitchFamily="18" charset="0"/>
              </a:rPr>
              <a:t>Balloc</a:t>
            </a:r>
            <a:r>
              <a:rPr lang="en-US" sz="2200" dirty="0">
                <a:latin typeface="Times New Roman" panose="02020603050405020304" pitchFamily="18" charset="0"/>
                <a:cs typeface="Times New Roman" panose="02020603050405020304" pitchFamily="18" charset="0"/>
              </a:rPr>
              <a:t>) → </a:t>
            </a:r>
            <a:r>
              <a:rPr lang="en-US" sz="2200" dirty="0" err="1">
                <a:latin typeface="Times New Roman" panose="02020603050405020304" pitchFamily="18" charset="0"/>
                <a:cs typeface="Times New Roman" panose="02020603050405020304" pitchFamily="18" charset="0"/>
              </a:rPr>
              <a:t>Inode</a:t>
            </a:r>
            <a:r>
              <a:rPr lang="en-US" sz="2200" dirty="0">
                <a:latin typeface="Times New Roman" panose="02020603050405020304" pitchFamily="18" charset="0"/>
                <a:cs typeface="Times New Roman" panose="02020603050405020304" pitchFamily="18" charset="0"/>
              </a:rPr>
              <a:t> Layer → </a:t>
            </a:r>
            <a:r>
              <a:rPr lang="en-US" sz="2200" dirty="0" err="1">
                <a:latin typeface="Times New Roman" panose="02020603050405020304" pitchFamily="18" charset="0"/>
                <a:cs typeface="Times New Roman" panose="02020603050405020304" pitchFamily="18" charset="0"/>
              </a:rPr>
              <a:t>BFile</a:t>
            </a:r>
            <a:r>
              <a:rPr lang="en-US" sz="2200" dirty="0">
                <a:latin typeface="Times New Roman" panose="02020603050405020304" pitchFamily="18" charset="0"/>
                <a:cs typeface="Times New Roman" panose="02020603050405020304" pitchFamily="18" charset="0"/>
              </a:rPr>
              <a:t> → Dir → </a:t>
            </a:r>
            <a:r>
              <a:rPr lang="en-US" sz="2200" dirty="0" err="1">
                <a:latin typeface="Times New Roman" panose="02020603050405020304" pitchFamily="18" charset="0"/>
                <a:cs typeface="Times New Roman" panose="02020603050405020304" pitchFamily="18" charset="0"/>
              </a:rPr>
              <a:t>DirTree</a:t>
            </a:r>
            <a:r>
              <a:rPr lang="en-US" sz="2200" dirty="0">
                <a:latin typeface="Times New Roman" panose="02020603050405020304" pitchFamily="18" charset="0"/>
                <a:cs typeface="Times New Roman" panose="02020603050405020304" pitchFamily="18" charset="0"/>
              </a:rPr>
              <a:t> → FS</a:t>
            </a:r>
          </a:p>
          <a:p>
            <a:pPr lvl="1"/>
            <a:r>
              <a:rPr lang="en-US" sz="2200" dirty="0">
                <a:latin typeface="Times New Roman" panose="02020603050405020304" pitchFamily="18" charset="0"/>
                <a:cs typeface="Times New Roman" panose="02020603050405020304" pitchFamily="18" charset="0"/>
              </a:rPr>
              <a:t>Invariant pattern: Each layer uses representation invariants decomposing state into disjoint pieces using separation logic's star operator (⋆)</a:t>
            </a:r>
          </a:p>
          <a:p>
            <a:pPr lvl="1"/>
            <a:r>
              <a:rPr lang="en-US" sz="2200" dirty="0">
                <a:latin typeface="Times New Roman" panose="02020603050405020304" pitchFamily="18" charset="0"/>
                <a:cs typeface="Times New Roman" panose="02020603050405020304" pitchFamily="18" charset="0"/>
              </a:rPr>
              <a:t>Example: File layer invariant splits disk into four disjoint regions—allocation bitmap, </a:t>
            </a:r>
            <a:r>
              <a:rPr lang="en-US" sz="2200" dirty="0" err="1">
                <a:latin typeface="Times New Roman" panose="02020603050405020304" pitchFamily="18" charset="0"/>
                <a:cs typeface="Times New Roman" panose="02020603050405020304" pitchFamily="18" charset="0"/>
              </a:rPr>
              <a:t>inode</a:t>
            </a:r>
            <a:r>
              <a:rPr lang="en-US" sz="2200" dirty="0">
                <a:latin typeface="Times New Roman" panose="02020603050405020304" pitchFamily="18" charset="0"/>
                <a:cs typeface="Times New Roman" panose="02020603050405020304" pitchFamily="18" charset="0"/>
              </a:rPr>
              <a:t> table, blocks in use by files, and free blocks.</a:t>
            </a:r>
          </a:p>
        </p:txBody>
      </p:sp>
      <p:pic>
        <p:nvPicPr>
          <p:cNvPr id="4" name="图片 3">
            <a:extLst>
              <a:ext uri="{FF2B5EF4-FFF2-40B4-BE49-F238E27FC236}">
                <a16:creationId xmlns:a16="http://schemas.microsoft.com/office/drawing/2014/main" id="{06648E4B-0042-29C3-D64E-3B551FC08E59}"/>
              </a:ext>
            </a:extLst>
          </p:cNvPr>
          <p:cNvPicPr>
            <a:picLocks noChangeAspect="1"/>
          </p:cNvPicPr>
          <p:nvPr/>
        </p:nvPicPr>
        <p:blipFill>
          <a:blip r:embed="rId3"/>
          <a:stretch>
            <a:fillRect/>
          </a:stretch>
        </p:blipFill>
        <p:spPr>
          <a:xfrm>
            <a:off x="6286513" y="1544223"/>
            <a:ext cx="5092402" cy="3575000"/>
          </a:xfrm>
          <a:prstGeom prst="rect">
            <a:avLst/>
          </a:prstGeom>
        </p:spPr>
      </p:pic>
      <p:sp>
        <p:nvSpPr>
          <p:cNvPr id="6" name="文本框 5">
            <a:extLst>
              <a:ext uri="{FF2B5EF4-FFF2-40B4-BE49-F238E27FC236}">
                <a16:creationId xmlns:a16="http://schemas.microsoft.com/office/drawing/2014/main" id="{3B34F7C7-C1E5-3D7A-DA9F-75D46624BBF3}"/>
              </a:ext>
            </a:extLst>
          </p:cNvPr>
          <p:cNvSpPr txBox="1"/>
          <p:nvPr/>
        </p:nvSpPr>
        <p:spPr>
          <a:xfrm>
            <a:off x="6158197" y="5296632"/>
            <a:ext cx="5349033" cy="338554"/>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Figure 4: </a:t>
            </a:r>
            <a:r>
              <a:rPr lang="zh-CN" altLang="en-US" sz="1600" dirty="0">
                <a:latin typeface="Times New Roman" panose="02020603050405020304" pitchFamily="18" charset="0"/>
                <a:cs typeface="Times New Roman" panose="02020603050405020304" pitchFamily="18" charset="0"/>
              </a:rPr>
              <a:t>FSCQ components. Arrows represent procedure calls.</a:t>
            </a:r>
          </a:p>
        </p:txBody>
      </p:sp>
    </p:spTree>
    <p:extLst>
      <p:ext uri="{BB962C8B-B14F-4D97-AF65-F5344CB8AC3E}">
        <p14:creationId xmlns:p14="http://schemas.microsoft.com/office/powerpoint/2010/main" val="3546463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D57E0-F7BD-B108-214E-416D6F2644F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39C4F87-5A28-E7DE-78F1-AA5605715F1F}"/>
              </a:ext>
            </a:extLst>
          </p:cNvPr>
          <p:cNvSpPr>
            <a:spLocks noGrp="1"/>
          </p:cNvSpPr>
          <p:nvPr>
            <p:ph type="title"/>
          </p:nvPr>
        </p:nvSpPr>
        <p:spPr>
          <a:xfrm>
            <a:off x="1296610" y="144466"/>
            <a:ext cx="10270977" cy="692151"/>
          </a:xfrm>
        </p:spPr>
        <p:txBody>
          <a:bodyPr/>
          <a:lstStyle/>
          <a:p>
            <a:r>
              <a:rPr lang="en-US" altLang="zh-TW" dirty="0"/>
              <a:t>FSCQ (4/7)</a:t>
            </a:r>
            <a:endParaRPr lang="zh-TW" altLang="en-US" dirty="0"/>
          </a:p>
        </p:txBody>
      </p:sp>
      <p:sp>
        <p:nvSpPr>
          <p:cNvPr id="5" name="灯片编号占位符 1">
            <a:extLst>
              <a:ext uri="{FF2B5EF4-FFF2-40B4-BE49-F238E27FC236}">
                <a16:creationId xmlns:a16="http://schemas.microsoft.com/office/drawing/2014/main" id="{A1B8985F-F4F5-E482-3AB8-D27BB97718F7}"/>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13</a:t>
            </a:fld>
            <a:endParaRPr lang="zh-TW" altLang="en-US"/>
          </a:p>
        </p:txBody>
      </p:sp>
      <p:sp>
        <p:nvSpPr>
          <p:cNvPr id="9" name="Content Placeholder 2">
            <a:extLst>
              <a:ext uri="{FF2B5EF4-FFF2-40B4-BE49-F238E27FC236}">
                <a16:creationId xmlns:a16="http://schemas.microsoft.com/office/drawing/2014/main" id="{4B2FD5B0-1088-3D09-4357-43A116EEAEA0}"/>
              </a:ext>
            </a:extLst>
          </p:cNvPr>
          <p:cNvSpPr>
            <a:spLocks noGrp="1"/>
          </p:cNvSpPr>
          <p:nvPr>
            <p:ph idx="1"/>
          </p:nvPr>
        </p:nvSpPr>
        <p:spPr>
          <a:xfrm>
            <a:off x="609600" y="1125537"/>
            <a:ext cx="10957987" cy="4831917"/>
          </a:xfrm>
        </p:spPr>
        <p:txBody>
          <a:bodyPr/>
          <a:lstStyle/>
          <a:p>
            <a:r>
              <a:rPr lang="en-US" sz="2400" dirty="0">
                <a:latin typeface="Times New Roman" panose="02020603050405020304" pitchFamily="18" charset="0"/>
                <a:cs typeface="Times New Roman" panose="02020603050405020304" pitchFamily="18" charset="0"/>
              </a:rPr>
              <a:t>Implements FSCQ in the Coq proof helper. Machine-checkable mathematical proof that ensures: </a:t>
            </a:r>
          </a:p>
          <a:p>
            <a:pPr lvl="1"/>
            <a:r>
              <a:rPr lang="en-US" sz="2200" dirty="0">
                <a:latin typeface="Times New Roman" panose="02020603050405020304" pitchFamily="18" charset="0"/>
                <a:cs typeface="Times New Roman" panose="02020603050405020304" pitchFamily="18" charset="0"/>
              </a:rPr>
              <a:t>No data loss: No allocated disk blocks or </a:t>
            </a:r>
            <a:r>
              <a:rPr lang="en-US" sz="2200" dirty="0" err="1">
                <a:latin typeface="Times New Roman" panose="02020603050405020304" pitchFamily="18" charset="0"/>
                <a:cs typeface="Times New Roman" panose="02020603050405020304" pitchFamily="18" charset="0"/>
              </a:rPr>
              <a:t>inodes</a:t>
            </a:r>
            <a:r>
              <a:rPr lang="en-US" sz="2200" dirty="0">
                <a:latin typeface="Times New Roman" panose="02020603050405020304" pitchFamily="18" charset="0"/>
                <a:cs typeface="Times New Roman" panose="02020603050405020304" pitchFamily="18" charset="0"/>
              </a:rPr>
              <a:t> will be lost. </a:t>
            </a:r>
          </a:p>
          <a:p>
            <a:pPr lvl="1"/>
            <a:r>
              <a:rPr lang="en-US" sz="2200" dirty="0">
                <a:latin typeface="Times New Roman" panose="02020603050405020304" pitchFamily="18" charset="0"/>
                <a:cs typeface="Times New Roman" panose="02020603050405020304" pitchFamily="18" charset="0"/>
              </a:rPr>
              <a:t>Structural consistency: The directory structure is always a tree, with no cycles. </a:t>
            </a:r>
          </a:p>
          <a:p>
            <a:pPr lvl="1"/>
            <a:r>
              <a:rPr lang="en-US" sz="2200" dirty="0">
                <a:latin typeface="Times New Roman" panose="02020603050405020304" pitchFamily="18" charset="0"/>
                <a:cs typeface="Times New Roman" panose="02020603050405020304" pitchFamily="18" charset="0"/>
              </a:rPr>
              <a:t>Operation atomicity: System calls like `rename` either fully take effect or roll back to their previous state after a crash, never leaving intermediate states like "the file was renamed, but the directory entry wasn't updated."</a:t>
            </a:r>
          </a:p>
        </p:txBody>
      </p:sp>
    </p:spTree>
    <p:extLst>
      <p:ext uri="{BB962C8B-B14F-4D97-AF65-F5344CB8AC3E}">
        <p14:creationId xmlns:p14="http://schemas.microsoft.com/office/powerpoint/2010/main" val="682929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719FE-98F0-D73C-9E10-EECB32B72A9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3A4387D-9142-2D82-E8AA-52CEF844C204}"/>
              </a:ext>
            </a:extLst>
          </p:cNvPr>
          <p:cNvSpPr>
            <a:spLocks noGrp="1"/>
          </p:cNvSpPr>
          <p:nvPr>
            <p:ph type="title"/>
          </p:nvPr>
        </p:nvSpPr>
        <p:spPr>
          <a:xfrm>
            <a:off x="1296610" y="144466"/>
            <a:ext cx="10270977" cy="692151"/>
          </a:xfrm>
        </p:spPr>
        <p:txBody>
          <a:bodyPr/>
          <a:lstStyle/>
          <a:p>
            <a:r>
              <a:rPr lang="en-US" altLang="zh-TW" dirty="0"/>
              <a:t>FSCQ (5/7)</a:t>
            </a:r>
            <a:endParaRPr lang="zh-TW" altLang="en-US" dirty="0"/>
          </a:p>
        </p:txBody>
      </p:sp>
      <p:sp>
        <p:nvSpPr>
          <p:cNvPr id="5" name="灯片编号占位符 1">
            <a:extLst>
              <a:ext uri="{FF2B5EF4-FFF2-40B4-BE49-F238E27FC236}">
                <a16:creationId xmlns:a16="http://schemas.microsoft.com/office/drawing/2014/main" id="{3D68B293-402A-F508-2157-267EC1D75799}"/>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14</a:t>
            </a:fld>
            <a:endParaRPr lang="zh-TW" altLang="en-US"/>
          </a:p>
        </p:txBody>
      </p:sp>
      <p:sp>
        <p:nvSpPr>
          <p:cNvPr id="9" name="Content Placeholder 2">
            <a:extLst>
              <a:ext uri="{FF2B5EF4-FFF2-40B4-BE49-F238E27FC236}">
                <a16:creationId xmlns:a16="http://schemas.microsoft.com/office/drawing/2014/main" id="{939F5602-4246-4ABD-36AA-FDAFB535DBDD}"/>
              </a:ext>
            </a:extLst>
          </p:cNvPr>
          <p:cNvSpPr>
            <a:spLocks noGrp="1"/>
          </p:cNvSpPr>
          <p:nvPr>
            <p:ph idx="1"/>
          </p:nvPr>
        </p:nvSpPr>
        <p:spPr>
          <a:xfrm>
            <a:off x="609600" y="1125537"/>
            <a:ext cx="10957987" cy="4831917"/>
          </a:xfrm>
        </p:spPr>
        <p:txBody>
          <a:bodyPr/>
          <a:lstStyle/>
          <a:p>
            <a:r>
              <a:rPr lang="en-US" sz="2400" dirty="0">
                <a:latin typeface="Times New Roman" panose="02020603050405020304" pitchFamily="18" charset="0"/>
                <a:cs typeface="Times New Roman" panose="02020603050405020304" pitchFamily="18" charset="0"/>
              </a:rPr>
              <a:t>Evaluation – Correctness &amp; Crash Testing</a:t>
            </a:r>
          </a:p>
          <a:p>
            <a:pPr lvl="1"/>
            <a:r>
              <a:rPr lang="en-US" sz="2200" dirty="0">
                <a:latin typeface="Times New Roman" panose="02020603050405020304" pitchFamily="18" charset="0"/>
                <a:cs typeface="Times New Roman" panose="02020603050405020304" pitchFamily="18" charset="0"/>
              </a:rPr>
              <a:t>Eliminated bug classes: Directory tree cycles, resource leaks (lost blocks/</a:t>
            </a:r>
            <a:r>
              <a:rPr lang="en-US" sz="2200" dirty="0" err="1">
                <a:latin typeface="Times New Roman" panose="02020603050405020304" pitchFamily="18" charset="0"/>
                <a:cs typeface="Times New Roman" panose="02020603050405020304" pitchFamily="18" charset="0"/>
              </a:rPr>
              <a:t>inodes</a:t>
            </a:r>
            <a:r>
              <a:rPr lang="en-US" sz="2200" dirty="0">
                <a:latin typeface="Times New Roman" panose="02020603050405020304" pitchFamily="18" charset="0"/>
                <a:cs typeface="Times New Roman" panose="02020603050405020304" pitchFamily="18" charset="0"/>
              </a:rPr>
              <a:t>), atomicity violations (partial operations).</a:t>
            </a:r>
          </a:p>
          <a:p>
            <a:pPr lvl="1"/>
            <a:r>
              <a:rPr lang="en-US" sz="2200" dirty="0">
                <a:latin typeface="Times New Roman" panose="02020603050405020304" pitchFamily="18" charset="0"/>
                <a:cs typeface="Times New Roman" panose="02020603050405020304" pitchFamily="18" charset="0"/>
              </a:rPr>
              <a:t>Systematic crash testing methodology: Workloads generated 320 distinct crash states (taking every prefix of writes up to sync points combined with subsets of </a:t>
            </a:r>
            <a:r>
              <a:rPr lang="en-US" sz="2200" dirty="0" err="1">
                <a:latin typeface="Times New Roman" panose="02020603050405020304" pitchFamily="18" charset="0"/>
                <a:cs typeface="Times New Roman" panose="02020603050405020304" pitchFamily="18" charset="0"/>
              </a:rPr>
              <a:t>unsynced</a:t>
            </a:r>
            <a:r>
              <a:rPr lang="en-US" sz="2200" dirty="0">
                <a:latin typeface="Times New Roman" panose="02020603050405020304" pitchFamily="18" charset="0"/>
                <a:cs typeface="Times New Roman" panose="02020603050405020304" pitchFamily="18" charset="0"/>
              </a:rPr>
              <a:t> writes).</a:t>
            </a:r>
          </a:p>
          <a:p>
            <a:pPr lvl="1"/>
            <a:r>
              <a:rPr lang="en-US" sz="2200" dirty="0">
                <a:latin typeface="Times New Roman" panose="02020603050405020304" pitchFamily="18" charset="0"/>
                <a:cs typeface="Times New Roman" panose="02020603050405020304" pitchFamily="18" charset="0"/>
              </a:rPr>
              <a:t>Result: Recovery produced only 10 distinct logical states, all consistent with POSIX semantics (either operation completed fully or rolled back completely).</a:t>
            </a:r>
          </a:p>
        </p:txBody>
      </p:sp>
    </p:spTree>
    <p:extLst>
      <p:ext uri="{BB962C8B-B14F-4D97-AF65-F5344CB8AC3E}">
        <p14:creationId xmlns:p14="http://schemas.microsoft.com/office/powerpoint/2010/main" val="11576247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02275-45CB-7F6A-94EA-10C13DE5C38A}"/>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2E47586-24CD-C38E-BF6A-902A77D27E6E}"/>
              </a:ext>
            </a:extLst>
          </p:cNvPr>
          <p:cNvSpPr>
            <a:spLocks noGrp="1"/>
          </p:cNvSpPr>
          <p:nvPr>
            <p:ph type="title"/>
          </p:nvPr>
        </p:nvSpPr>
        <p:spPr>
          <a:xfrm>
            <a:off x="1296610" y="144466"/>
            <a:ext cx="10270977" cy="692151"/>
          </a:xfrm>
        </p:spPr>
        <p:txBody>
          <a:bodyPr/>
          <a:lstStyle/>
          <a:p>
            <a:r>
              <a:rPr lang="en-US" altLang="zh-TW" dirty="0"/>
              <a:t>FSCQ (6/7)</a:t>
            </a:r>
            <a:endParaRPr lang="zh-TW" altLang="en-US" dirty="0"/>
          </a:p>
        </p:txBody>
      </p:sp>
      <p:sp>
        <p:nvSpPr>
          <p:cNvPr id="5" name="灯片编号占位符 1">
            <a:extLst>
              <a:ext uri="{FF2B5EF4-FFF2-40B4-BE49-F238E27FC236}">
                <a16:creationId xmlns:a16="http://schemas.microsoft.com/office/drawing/2014/main" id="{B2552421-473A-D006-2991-8ADC2558BBF3}"/>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15</a:t>
            </a:fld>
            <a:endParaRPr lang="zh-TW" altLang="en-US"/>
          </a:p>
        </p:txBody>
      </p:sp>
      <p:sp>
        <p:nvSpPr>
          <p:cNvPr id="3" name="Content Placeholder 2">
            <a:extLst>
              <a:ext uri="{FF2B5EF4-FFF2-40B4-BE49-F238E27FC236}">
                <a16:creationId xmlns:a16="http://schemas.microsoft.com/office/drawing/2014/main" id="{3F4417CA-4A20-6A4B-9AFA-41A152833E0A}"/>
              </a:ext>
            </a:extLst>
          </p:cNvPr>
          <p:cNvSpPr>
            <a:spLocks noGrp="1"/>
          </p:cNvSpPr>
          <p:nvPr>
            <p:ph idx="1"/>
          </p:nvPr>
        </p:nvSpPr>
        <p:spPr>
          <a:xfrm>
            <a:off x="0" y="1125537"/>
            <a:ext cx="12192000" cy="4831917"/>
          </a:xfrm>
        </p:spPr>
        <p:txBody>
          <a:bodyPr/>
          <a:lstStyle/>
          <a:p>
            <a:r>
              <a:rPr lang="en-US" sz="2400" dirty="0">
                <a:latin typeface="Times New Roman" panose="02020603050405020304" pitchFamily="18" charset="0"/>
                <a:cs typeface="Times New Roman" panose="02020603050405020304" pitchFamily="18" charset="0"/>
              </a:rPr>
              <a:t>Performance Evaluation</a:t>
            </a:r>
          </a:p>
          <a:p>
            <a:pPr lvl="1"/>
            <a:r>
              <a:rPr lang="en-US" sz="2200" dirty="0">
                <a:latin typeface="Times New Roman" panose="02020603050405020304" pitchFamily="18" charset="0"/>
                <a:cs typeface="Times New Roman" panose="02020603050405020304" pitchFamily="18" charset="0"/>
              </a:rPr>
              <a:t>Comparable to xv6: Compiling xv6 source takes 3.7s on FSCQ vs. 3.7s on xv6 (both on SSD)</a:t>
            </a:r>
          </a:p>
          <a:p>
            <a:pPr lvl="1"/>
            <a:r>
              <a:rPr lang="en-US" sz="2200" dirty="0">
                <a:latin typeface="Times New Roman" panose="02020603050405020304" pitchFamily="18" charset="0"/>
                <a:cs typeface="Times New Roman" panose="02020603050405020304" pitchFamily="18" charset="0"/>
              </a:rPr>
              <a:t>Gap with ext4: FSCQ ~2× slower due to design choices (4 disk syncs per commit vs. ext4's 2), not verification overhead; ext4 uses optimizations like async journal commits not yet implemented.</a:t>
            </a:r>
          </a:p>
          <a:p>
            <a:pPr lvl="1"/>
            <a:r>
              <a:rPr lang="en-US" sz="2200" dirty="0">
                <a:latin typeface="Times New Roman" panose="02020603050405020304" pitchFamily="18" charset="0"/>
                <a:cs typeface="Times New Roman" panose="02020603050405020304" pitchFamily="18" charset="0"/>
              </a:rPr>
              <a:t>CPU overhead: ~4× compared to xv6's C implementation (artifact of Haskell extraction from Coq, not the logic itself).</a:t>
            </a:r>
          </a:p>
        </p:txBody>
      </p:sp>
      <p:sp>
        <p:nvSpPr>
          <p:cNvPr id="8" name="文本框 7">
            <a:extLst>
              <a:ext uri="{FF2B5EF4-FFF2-40B4-BE49-F238E27FC236}">
                <a16:creationId xmlns:a16="http://schemas.microsoft.com/office/drawing/2014/main" id="{6946F3EE-8020-162E-9CF8-6C22B817361A}"/>
              </a:ext>
            </a:extLst>
          </p:cNvPr>
          <p:cNvSpPr txBox="1"/>
          <p:nvPr/>
        </p:nvSpPr>
        <p:spPr>
          <a:xfrm>
            <a:off x="8574817" y="4134725"/>
            <a:ext cx="2715236" cy="1323439"/>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Figure 5: Running time for each phase of the application benchmark suite, and for delivering 200 messages with </a:t>
            </a:r>
            <a:r>
              <a:rPr lang="en-US" altLang="zh-CN" sz="1600" dirty="0" err="1">
                <a:latin typeface="Times New Roman" panose="02020603050405020304" pitchFamily="18" charset="0"/>
                <a:cs typeface="Times New Roman" panose="02020603050405020304" pitchFamily="18" charset="0"/>
              </a:rPr>
              <a:t>mailbench</a:t>
            </a:r>
            <a:r>
              <a:rPr lang="zh-CN" altLang="en-US" sz="1600" dirty="0">
                <a:latin typeface="Times New Roman" panose="02020603050405020304" pitchFamily="18" charset="0"/>
                <a:cs typeface="Times New Roman" panose="02020603050405020304" pitchFamily="18" charset="0"/>
              </a:rPr>
              <a:t>.</a:t>
            </a:r>
          </a:p>
        </p:txBody>
      </p:sp>
      <p:pic>
        <p:nvPicPr>
          <p:cNvPr id="6" name="图片 5">
            <a:extLst>
              <a:ext uri="{FF2B5EF4-FFF2-40B4-BE49-F238E27FC236}">
                <a16:creationId xmlns:a16="http://schemas.microsoft.com/office/drawing/2014/main" id="{F12BDDFF-1E49-1798-74F0-8D605FE743BB}"/>
              </a:ext>
            </a:extLst>
          </p:cNvPr>
          <p:cNvPicPr>
            <a:picLocks noChangeAspect="1"/>
          </p:cNvPicPr>
          <p:nvPr/>
        </p:nvPicPr>
        <p:blipFill>
          <a:blip r:embed="rId3"/>
          <a:stretch>
            <a:fillRect/>
          </a:stretch>
        </p:blipFill>
        <p:spPr>
          <a:xfrm>
            <a:off x="591709" y="3800971"/>
            <a:ext cx="7549662" cy="2156483"/>
          </a:xfrm>
          <a:prstGeom prst="rect">
            <a:avLst/>
          </a:prstGeom>
        </p:spPr>
      </p:pic>
    </p:spTree>
    <p:extLst>
      <p:ext uri="{BB962C8B-B14F-4D97-AF65-F5344CB8AC3E}">
        <p14:creationId xmlns:p14="http://schemas.microsoft.com/office/powerpoint/2010/main" val="2815946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A620E-2177-0DC5-E486-18622BE8C5BA}"/>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9DFF3F0-8292-3A1E-8F14-B9F7789C98D7}"/>
              </a:ext>
            </a:extLst>
          </p:cNvPr>
          <p:cNvSpPr>
            <a:spLocks noGrp="1"/>
          </p:cNvSpPr>
          <p:nvPr>
            <p:ph type="title"/>
          </p:nvPr>
        </p:nvSpPr>
        <p:spPr>
          <a:xfrm>
            <a:off x="1296610" y="144466"/>
            <a:ext cx="10270977" cy="692151"/>
          </a:xfrm>
        </p:spPr>
        <p:txBody>
          <a:bodyPr/>
          <a:lstStyle/>
          <a:p>
            <a:r>
              <a:rPr lang="en-US" altLang="zh-TW" dirty="0"/>
              <a:t>FSCQ (7/7)</a:t>
            </a:r>
            <a:endParaRPr lang="zh-TW" altLang="en-US" dirty="0"/>
          </a:p>
        </p:txBody>
      </p:sp>
      <p:sp>
        <p:nvSpPr>
          <p:cNvPr id="5" name="灯片编号占位符 1">
            <a:extLst>
              <a:ext uri="{FF2B5EF4-FFF2-40B4-BE49-F238E27FC236}">
                <a16:creationId xmlns:a16="http://schemas.microsoft.com/office/drawing/2014/main" id="{B4230D7F-CE08-E6AC-EDE2-E41F82AD2202}"/>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16</a:t>
            </a:fld>
            <a:endParaRPr lang="zh-TW" altLang="en-US" dirty="0"/>
          </a:p>
        </p:txBody>
      </p:sp>
      <p:sp>
        <p:nvSpPr>
          <p:cNvPr id="3" name="Content Placeholder 2">
            <a:extLst>
              <a:ext uri="{FF2B5EF4-FFF2-40B4-BE49-F238E27FC236}">
                <a16:creationId xmlns:a16="http://schemas.microsoft.com/office/drawing/2014/main" id="{067BD49B-E7C8-2D95-5192-7CC0586DC46E}"/>
              </a:ext>
            </a:extLst>
          </p:cNvPr>
          <p:cNvSpPr>
            <a:spLocks noGrp="1"/>
          </p:cNvSpPr>
          <p:nvPr>
            <p:ph idx="1"/>
          </p:nvPr>
        </p:nvSpPr>
        <p:spPr>
          <a:xfrm>
            <a:off x="778471" y="1216966"/>
            <a:ext cx="5799221" cy="4831917"/>
          </a:xfrm>
        </p:spPr>
        <p:txBody>
          <a:bodyPr/>
          <a:lstStyle/>
          <a:p>
            <a:r>
              <a:rPr lang="en-US" sz="2400" dirty="0">
                <a:latin typeface="Times New Roman" panose="02020603050405020304" pitchFamily="18" charset="0"/>
                <a:cs typeface="Times New Roman" panose="02020603050405020304" pitchFamily="18" charset="0"/>
              </a:rPr>
              <a:t>Scale: ~30,000 lines of Coq code (including CHL infrastructure and proofs) vs. ~3,000 lines of C for xv6.</a:t>
            </a:r>
          </a:p>
          <a:p>
            <a:r>
              <a:rPr lang="en-US" sz="2400" dirty="0">
                <a:latin typeface="Times New Roman" panose="02020603050405020304" pitchFamily="18" charset="0"/>
                <a:cs typeface="Times New Roman" panose="02020603050405020304" pitchFamily="18" charset="0"/>
              </a:rPr>
              <a:t>Case studies demonstrating incremental evolution:</a:t>
            </a:r>
          </a:p>
          <a:p>
            <a:pPr lvl="1"/>
            <a:r>
              <a:rPr lang="en-US" sz="2200" dirty="0">
                <a:latin typeface="Times New Roman" panose="02020603050405020304" pitchFamily="18" charset="0"/>
                <a:cs typeface="Times New Roman" panose="02020603050405020304" pitchFamily="18" charset="0"/>
              </a:rPr>
              <a:t>Asynchronous disk writes: ~1,000 lines changed in </a:t>
            </a:r>
            <a:r>
              <a:rPr lang="en-US" sz="2200" dirty="0" err="1">
                <a:latin typeface="Times New Roman" panose="02020603050405020304" pitchFamily="18" charset="0"/>
                <a:cs typeface="Times New Roman" panose="02020603050405020304" pitchFamily="18" charset="0"/>
              </a:rPr>
              <a:t>FscqLog</a:t>
            </a:r>
            <a:r>
              <a:rPr lang="en-US" sz="2200" dirty="0">
                <a:latin typeface="Times New Roman" panose="02020603050405020304" pitchFamily="18" charset="0"/>
                <a:cs typeface="Times New Roman" panose="02020603050405020304" pitchFamily="18" charset="0"/>
              </a:rPr>
              <a:t>; layers above required no modifications.</a:t>
            </a:r>
          </a:p>
          <a:p>
            <a:pPr lvl="1"/>
            <a:r>
              <a:rPr lang="en-US" sz="2200" dirty="0">
                <a:latin typeface="Times New Roman" panose="02020603050405020304" pitchFamily="18" charset="0"/>
                <a:cs typeface="Times New Roman" panose="02020603050405020304" pitchFamily="18" charset="0"/>
              </a:rPr>
              <a:t>Indirect blocks: ~1,500 lines touched in </a:t>
            </a:r>
            <a:r>
              <a:rPr lang="en-US" sz="2200" dirty="0" err="1">
                <a:latin typeface="Times New Roman" panose="02020603050405020304" pitchFamily="18" charset="0"/>
                <a:cs typeface="Times New Roman" panose="02020603050405020304" pitchFamily="18" charset="0"/>
              </a:rPr>
              <a:t>inode</a:t>
            </a:r>
            <a:r>
              <a:rPr lang="en-US" sz="2200" dirty="0">
                <a:latin typeface="Times New Roman" panose="02020603050405020304" pitchFamily="18" charset="0"/>
                <a:cs typeface="Times New Roman" panose="02020603050405020304" pitchFamily="18" charset="0"/>
              </a:rPr>
              <a:t> layer only.</a:t>
            </a:r>
          </a:p>
          <a:p>
            <a:pPr lvl="1"/>
            <a:r>
              <a:rPr lang="en-US" sz="2200" dirty="0">
                <a:latin typeface="Times New Roman" panose="02020603050405020304" pitchFamily="18" charset="0"/>
                <a:cs typeface="Times New Roman" panose="02020603050405020304" pitchFamily="18" charset="0"/>
              </a:rPr>
              <a:t>Buffer cache: ~900 lines changed across entire system.</a:t>
            </a:r>
          </a:p>
        </p:txBody>
      </p:sp>
      <p:sp>
        <p:nvSpPr>
          <p:cNvPr id="8" name="文本框 7">
            <a:extLst>
              <a:ext uri="{FF2B5EF4-FFF2-40B4-BE49-F238E27FC236}">
                <a16:creationId xmlns:a16="http://schemas.microsoft.com/office/drawing/2014/main" id="{B3B32B65-0137-6CFC-4D21-7B61BD642839}"/>
              </a:ext>
            </a:extLst>
          </p:cNvPr>
          <p:cNvSpPr txBox="1"/>
          <p:nvPr/>
        </p:nvSpPr>
        <p:spPr>
          <a:xfrm>
            <a:off x="7355957" y="5193971"/>
            <a:ext cx="4057572" cy="584775"/>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Figure 6: Combined lines of code and proof for FSCQ components.</a:t>
            </a:r>
            <a:endParaRPr lang="zh-CN" altLang="en-US" sz="1600" dirty="0">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2064ACAE-10DE-19E7-296D-C93AE6906F69}"/>
              </a:ext>
            </a:extLst>
          </p:cNvPr>
          <p:cNvPicPr>
            <a:picLocks noChangeAspect="1"/>
          </p:cNvPicPr>
          <p:nvPr/>
        </p:nvPicPr>
        <p:blipFill>
          <a:blip r:embed="rId3"/>
          <a:stretch>
            <a:fillRect/>
          </a:stretch>
        </p:blipFill>
        <p:spPr>
          <a:xfrm>
            <a:off x="7355956" y="1216966"/>
            <a:ext cx="4057573" cy="3815900"/>
          </a:xfrm>
          <a:prstGeom prst="rect">
            <a:avLst/>
          </a:prstGeom>
        </p:spPr>
      </p:pic>
    </p:spTree>
    <p:extLst>
      <p:ext uri="{BB962C8B-B14F-4D97-AF65-F5344CB8AC3E}">
        <p14:creationId xmlns:p14="http://schemas.microsoft.com/office/powerpoint/2010/main" val="32596266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645FA-1565-2DEC-2302-72722CF4602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D670CBA-21B1-9E3A-D236-0762EC2BE75E}"/>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5" name="灯片编号占位符 1">
            <a:extLst>
              <a:ext uri="{FF2B5EF4-FFF2-40B4-BE49-F238E27FC236}">
                <a16:creationId xmlns:a16="http://schemas.microsoft.com/office/drawing/2014/main" id="{B1FE25EE-D7EF-3A6C-C2D0-5F622F0E72DE}"/>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17</a:t>
            </a:fld>
            <a:endParaRPr lang="zh-TW" altLang="en-US"/>
          </a:p>
        </p:txBody>
      </p:sp>
      <p:sp>
        <p:nvSpPr>
          <p:cNvPr id="4" name="內容版面配置區 2">
            <a:extLst>
              <a:ext uri="{FF2B5EF4-FFF2-40B4-BE49-F238E27FC236}">
                <a16:creationId xmlns:a16="http://schemas.microsoft.com/office/drawing/2014/main" id="{3C8D3407-79C2-AD5E-01B2-830633733114}"/>
              </a:ext>
            </a:extLst>
          </p:cNvPr>
          <p:cNvSpPr txBox="1">
            <a:spLocks/>
          </p:cNvSpPr>
          <p:nvPr/>
        </p:nvSpPr>
        <p:spPr bwMode="auto">
          <a:xfrm>
            <a:off x="1317560" y="1125537"/>
            <a:ext cx="10270977" cy="35607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933" kern="0" dirty="0">
                <a:latin typeface="Times New Roman" panose="02020603050405020304" pitchFamily="18" charset="0"/>
                <a:cs typeface="Times New Roman" panose="02020603050405020304" pitchFamily="18" charset="0"/>
              </a:rPr>
              <a:t>Introduction (2 min)</a:t>
            </a:r>
            <a:endParaRPr lang="en-US" altLang="zh-TW" sz="2933" kern="0" dirty="0">
              <a:latin typeface="Times New Roman" panose="02020603050405020304" pitchFamily="18" charset="0"/>
              <a:cs typeface="Times New Roman" panose="02020603050405020304" pitchFamily="18" charset="0"/>
            </a:endParaRPr>
          </a:p>
          <a:p>
            <a:r>
              <a:rPr lang="en-US" altLang="zh-CN" sz="2933" kern="0" dirty="0">
                <a:latin typeface="Times New Roman" panose="02020603050405020304" pitchFamily="18" charset="0"/>
                <a:cs typeface="Times New Roman" panose="02020603050405020304" pitchFamily="18" charset="0"/>
              </a:rPr>
              <a:t>Background &amp; Motivation (3 min)</a:t>
            </a:r>
          </a:p>
          <a:p>
            <a:r>
              <a:rPr lang="en-US" altLang="zh-CN" sz="2933" kern="0" dirty="0">
                <a:latin typeface="Times New Roman" panose="02020603050405020304" pitchFamily="18" charset="0"/>
                <a:cs typeface="Times New Roman" panose="02020603050405020304" pitchFamily="18" charset="0"/>
              </a:rPr>
              <a:t>Proposed Methods &amp; Performance Evaluation (25 min)</a:t>
            </a:r>
          </a:p>
          <a:p>
            <a:pPr lvl="1"/>
            <a:r>
              <a:rPr lang="en-US" altLang="zh-CN" sz="2400" kern="0" dirty="0">
                <a:latin typeface="Times New Roman" panose="02020603050405020304" pitchFamily="18" charset="0"/>
                <a:cs typeface="Times New Roman" panose="02020603050405020304" pitchFamily="18" charset="0"/>
              </a:rPr>
              <a:t>FSCQ (8 min)</a:t>
            </a:r>
          </a:p>
          <a:p>
            <a:pPr lvl="1"/>
            <a:r>
              <a:rPr lang="en-US" altLang="zh-CN" sz="2400" kern="0" dirty="0">
                <a:solidFill>
                  <a:srgbClr val="FF0000"/>
                </a:solidFill>
                <a:latin typeface="Times New Roman" panose="02020603050405020304" pitchFamily="18" charset="0"/>
                <a:cs typeface="Times New Roman" panose="02020603050405020304" pitchFamily="18" charset="0"/>
              </a:rPr>
              <a:t>CRL-H and</a:t>
            </a:r>
            <a:r>
              <a:rPr lang="zh-CN" altLang="en-US" sz="2400" kern="0" dirty="0">
                <a:solidFill>
                  <a:srgbClr val="FF0000"/>
                </a:solidFill>
                <a:latin typeface="Times New Roman" panose="02020603050405020304" pitchFamily="18" charset="0"/>
                <a:cs typeface="Times New Roman" panose="02020603050405020304" pitchFamily="18" charset="0"/>
              </a:rPr>
              <a:t> </a:t>
            </a:r>
            <a:r>
              <a:rPr lang="en-US" altLang="zh-CN" sz="2400" kern="0" dirty="0" err="1">
                <a:solidFill>
                  <a:srgbClr val="FF0000"/>
                </a:solidFill>
                <a:latin typeface="Times New Roman" panose="02020603050405020304" pitchFamily="18" charset="0"/>
                <a:cs typeface="Times New Roman" panose="02020603050405020304" pitchFamily="18" charset="0"/>
              </a:rPr>
              <a:t>AtomFS</a:t>
            </a:r>
            <a:r>
              <a:rPr lang="en-US" altLang="zh-CN" sz="2400" kern="0" dirty="0">
                <a:solidFill>
                  <a:srgbClr val="FF0000"/>
                </a:solidFill>
                <a:latin typeface="Times New Roman" panose="02020603050405020304" pitchFamily="18" charset="0"/>
                <a:cs typeface="Times New Roman" panose="02020603050405020304" pitchFamily="18" charset="0"/>
              </a:rPr>
              <a:t> (8 min)</a:t>
            </a:r>
          </a:p>
          <a:p>
            <a:pPr lvl="1"/>
            <a:r>
              <a:rPr lang="en-US" altLang="zh-CN" sz="2400" kern="0" dirty="0" err="1">
                <a:latin typeface="Times New Roman" panose="02020603050405020304" pitchFamily="18" charset="0"/>
                <a:cs typeface="Times New Roman" panose="02020603050405020304" pitchFamily="18" charset="0"/>
              </a:rPr>
              <a:t>SysSpec</a:t>
            </a:r>
            <a:r>
              <a:rPr lang="en-US" altLang="zh-CN" sz="2400" kern="0" dirty="0">
                <a:latin typeface="Times New Roman" panose="02020603050405020304" pitchFamily="18" charset="0"/>
                <a:cs typeface="Times New Roman" panose="02020603050405020304" pitchFamily="18" charset="0"/>
              </a:rPr>
              <a:t> and </a:t>
            </a:r>
            <a:r>
              <a:rPr lang="en-US" altLang="zh-CN" sz="2400" kern="0" dirty="0" err="1">
                <a:latin typeface="Times New Roman" panose="02020603050405020304" pitchFamily="18" charset="0"/>
                <a:cs typeface="Times New Roman" panose="02020603050405020304" pitchFamily="18" charset="0"/>
              </a:rPr>
              <a:t>SpecFS</a:t>
            </a:r>
            <a:r>
              <a:rPr lang="en-US" altLang="zh-CN" sz="2400" kern="0" dirty="0">
                <a:latin typeface="Times New Roman" panose="02020603050405020304" pitchFamily="18" charset="0"/>
                <a:cs typeface="Times New Roman" panose="02020603050405020304" pitchFamily="18" charset="0"/>
              </a:rPr>
              <a:t> (9 min)</a:t>
            </a:r>
          </a:p>
          <a:p>
            <a:r>
              <a:rPr lang="en-US" altLang="zh-CN" sz="2933" kern="0" dirty="0">
                <a:latin typeface="Times New Roman" panose="02020603050405020304" pitchFamily="18" charset="0"/>
                <a:cs typeface="Times New Roman" panose="02020603050405020304" pitchFamily="18" charset="0"/>
              </a:rPr>
              <a:t>Conclusions (2 min)</a:t>
            </a:r>
          </a:p>
          <a:p>
            <a:r>
              <a:rPr lang="en-US" altLang="zh-CN" sz="2933" kern="0" dirty="0">
                <a:latin typeface="Times New Roman" panose="02020603050405020304" pitchFamily="18" charset="0"/>
                <a:cs typeface="Times New Roman" panose="02020603050405020304" pitchFamily="18" charset="0"/>
              </a:rPr>
              <a:t>Q &amp; A (5 min)</a:t>
            </a:r>
          </a:p>
        </p:txBody>
      </p:sp>
    </p:spTree>
    <p:extLst>
      <p:ext uri="{BB962C8B-B14F-4D97-AF65-F5344CB8AC3E}">
        <p14:creationId xmlns:p14="http://schemas.microsoft.com/office/powerpoint/2010/main" val="11611232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09A64-AF3C-6828-C500-8C3A72DB8B8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03CB493-3646-86B6-81B8-8B4F8F8E2235}"/>
              </a:ext>
            </a:extLst>
          </p:cNvPr>
          <p:cNvSpPr>
            <a:spLocks noGrp="1"/>
          </p:cNvSpPr>
          <p:nvPr>
            <p:ph type="title"/>
          </p:nvPr>
        </p:nvSpPr>
        <p:spPr>
          <a:xfrm>
            <a:off x="1296610" y="144466"/>
            <a:ext cx="10270977" cy="692151"/>
          </a:xfrm>
        </p:spPr>
        <p:txBody>
          <a:bodyPr/>
          <a:lstStyle/>
          <a:p>
            <a:r>
              <a:rPr lang="en-US" altLang="zh-TW" dirty="0"/>
              <a:t>CRL-H and </a:t>
            </a:r>
            <a:r>
              <a:rPr lang="en-US" altLang="zh-TW" dirty="0" err="1"/>
              <a:t>AtomFS</a:t>
            </a:r>
            <a:r>
              <a:rPr lang="en-US" altLang="zh-TW" dirty="0"/>
              <a:t> (1/8)</a:t>
            </a:r>
            <a:endParaRPr lang="zh-TW" altLang="en-US" dirty="0"/>
          </a:p>
        </p:txBody>
      </p:sp>
      <p:sp>
        <p:nvSpPr>
          <p:cNvPr id="5" name="灯片编号占位符 1">
            <a:extLst>
              <a:ext uri="{FF2B5EF4-FFF2-40B4-BE49-F238E27FC236}">
                <a16:creationId xmlns:a16="http://schemas.microsoft.com/office/drawing/2014/main" id="{7246194D-7152-2AFA-F586-BEAF80B1AA08}"/>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18</a:t>
            </a:fld>
            <a:endParaRPr lang="zh-TW" altLang="en-US"/>
          </a:p>
        </p:txBody>
      </p:sp>
      <p:sp>
        <p:nvSpPr>
          <p:cNvPr id="9" name="Content Placeholder 2">
            <a:extLst>
              <a:ext uri="{FF2B5EF4-FFF2-40B4-BE49-F238E27FC236}">
                <a16:creationId xmlns:a16="http://schemas.microsoft.com/office/drawing/2014/main" id="{406EB1A6-3728-845F-B7D4-FE4752DD2B28}"/>
              </a:ext>
            </a:extLst>
          </p:cNvPr>
          <p:cNvSpPr>
            <a:spLocks noGrp="1"/>
          </p:cNvSpPr>
          <p:nvPr>
            <p:ph idx="1"/>
          </p:nvPr>
        </p:nvSpPr>
        <p:spPr>
          <a:xfrm>
            <a:off x="609600" y="1125537"/>
            <a:ext cx="10957987" cy="4831917"/>
          </a:xfrm>
        </p:spPr>
        <p:txBody>
          <a:bodyPr/>
          <a:lstStyle/>
          <a:p>
            <a:r>
              <a:rPr lang="en-US" sz="2400" dirty="0">
                <a:latin typeface="Times New Roman" panose="02020603050405020304" pitchFamily="18" charset="0"/>
                <a:cs typeface="Times New Roman" panose="02020603050405020304" pitchFamily="18" charset="0"/>
              </a:rPr>
              <a:t>Why verifying concurrent file systems is so difficult?</a:t>
            </a:r>
          </a:p>
          <a:p>
            <a:pPr lvl="1"/>
            <a:r>
              <a:rPr lang="en-US" sz="2200" dirty="0">
                <a:latin typeface="Times New Roman" panose="02020603050405020304" pitchFamily="18" charset="0"/>
                <a:cs typeface="Times New Roman" panose="02020603050405020304" pitchFamily="18" charset="0"/>
              </a:rPr>
              <a:t>“Linearized" interface - any concurrent operation should appear to be completed atomically at a single moment.</a:t>
            </a:r>
          </a:p>
          <a:p>
            <a:pPr lvl="1"/>
            <a:r>
              <a:rPr lang="en-US" sz="2200" dirty="0">
                <a:latin typeface="Times New Roman" panose="02020603050405020304" pitchFamily="18" charset="0"/>
                <a:cs typeface="Times New Roman" panose="02020603050405020304" pitchFamily="18" charset="0"/>
              </a:rPr>
              <a:t>Find its "linearization point"—the moment its effect becomes visible.</a:t>
            </a:r>
          </a:p>
          <a:p>
            <a:pPr lvl="1"/>
            <a:r>
              <a:rPr lang="en-US" sz="2200" dirty="0">
                <a:latin typeface="Times New Roman" panose="02020603050405020304" pitchFamily="18" charset="0"/>
                <a:cs typeface="Times New Roman" panose="02020603050405020304" pitchFamily="18" charset="0"/>
              </a:rPr>
              <a:t>External linearization point (path inter-dependency) makes it tough to prove the linearizability of file systems.</a:t>
            </a:r>
          </a:p>
        </p:txBody>
      </p:sp>
    </p:spTree>
    <p:extLst>
      <p:ext uri="{BB962C8B-B14F-4D97-AF65-F5344CB8AC3E}">
        <p14:creationId xmlns:p14="http://schemas.microsoft.com/office/powerpoint/2010/main" val="11126704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5F7E7-DBD8-5578-EAC7-18DD2478411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C216298-8335-09B7-032A-D27B05EFE728}"/>
              </a:ext>
            </a:extLst>
          </p:cNvPr>
          <p:cNvSpPr>
            <a:spLocks noGrp="1"/>
          </p:cNvSpPr>
          <p:nvPr>
            <p:ph type="title"/>
          </p:nvPr>
        </p:nvSpPr>
        <p:spPr>
          <a:xfrm>
            <a:off x="1296610" y="144466"/>
            <a:ext cx="10270977" cy="692151"/>
          </a:xfrm>
        </p:spPr>
        <p:txBody>
          <a:bodyPr/>
          <a:lstStyle/>
          <a:p>
            <a:r>
              <a:rPr lang="en-US" altLang="zh-TW" dirty="0"/>
              <a:t>CRL-H and </a:t>
            </a:r>
            <a:r>
              <a:rPr lang="en-US" altLang="zh-TW" dirty="0" err="1"/>
              <a:t>AtomFS</a:t>
            </a:r>
            <a:r>
              <a:rPr lang="en-US" altLang="zh-TW" dirty="0"/>
              <a:t> (2/8)</a:t>
            </a:r>
            <a:endParaRPr lang="zh-TW" altLang="en-US" dirty="0"/>
          </a:p>
        </p:txBody>
      </p:sp>
      <p:sp>
        <p:nvSpPr>
          <p:cNvPr id="5" name="灯片编号占位符 1">
            <a:extLst>
              <a:ext uri="{FF2B5EF4-FFF2-40B4-BE49-F238E27FC236}">
                <a16:creationId xmlns:a16="http://schemas.microsoft.com/office/drawing/2014/main" id="{35EB38C2-D202-EB86-6FA9-BB982F8D6FAD}"/>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19</a:t>
            </a:fld>
            <a:endParaRPr lang="zh-TW" altLang="en-US"/>
          </a:p>
        </p:txBody>
      </p:sp>
      <p:sp>
        <p:nvSpPr>
          <p:cNvPr id="9" name="Content Placeholder 2">
            <a:extLst>
              <a:ext uri="{FF2B5EF4-FFF2-40B4-BE49-F238E27FC236}">
                <a16:creationId xmlns:a16="http://schemas.microsoft.com/office/drawing/2014/main" id="{A64729CF-94EB-6FB6-50F6-B99729CF3E97}"/>
              </a:ext>
            </a:extLst>
          </p:cNvPr>
          <p:cNvSpPr>
            <a:spLocks noGrp="1"/>
          </p:cNvSpPr>
          <p:nvPr>
            <p:ph idx="1"/>
          </p:nvPr>
        </p:nvSpPr>
        <p:spPr>
          <a:xfrm>
            <a:off x="609600" y="1074331"/>
            <a:ext cx="5486400" cy="4831917"/>
          </a:xfrm>
        </p:spPr>
        <p:txBody>
          <a:bodyPr/>
          <a:lstStyle/>
          <a:p>
            <a:r>
              <a:rPr lang="en-US" sz="2400" dirty="0">
                <a:latin typeface="Times New Roman" panose="02020603050405020304" pitchFamily="18" charset="0"/>
                <a:cs typeface="Times New Roman" panose="02020603050405020304" pitchFamily="18" charset="0"/>
              </a:rPr>
              <a:t>Verifying Concurrent File Systems with CRL-H.</a:t>
            </a:r>
          </a:p>
          <a:p>
            <a:pPr lvl="1"/>
            <a:r>
              <a:rPr lang="en-US" sz="2200" dirty="0">
                <a:latin typeface="Times New Roman" panose="02020603050405020304" pitchFamily="18" charset="0"/>
                <a:cs typeface="Times New Roman" panose="02020603050405020304" pitchFamily="18" charset="0"/>
              </a:rPr>
              <a:t>Helper Mechanism: Allows a thread (e.g., `rename`) to "help" other threads complete their abstract operations before executing its own LP.</a:t>
            </a:r>
          </a:p>
          <a:p>
            <a:pPr lvl="1"/>
            <a:r>
              <a:rPr lang="en-US" sz="2200" dirty="0">
                <a:latin typeface="Times New Roman" panose="02020603050405020304" pitchFamily="18" charset="0"/>
                <a:cs typeface="Times New Roman" panose="02020603050405020304" pitchFamily="18" charset="0"/>
              </a:rPr>
              <a:t>Abstraction Relation with Roll-back: during consistency checks, the effects of the helper operations are "rolled back" from the abstract state.</a:t>
            </a:r>
          </a:p>
          <a:p>
            <a:pPr lvl="1"/>
            <a:r>
              <a:rPr lang="en-US" sz="2200" dirty="0">
                <a:latin typeface="Times New Roman" panose="02020603050405020304" pitchFamily="18" charset="0"/>
                <a:cs typeface="Times New Roman" panose="02020603050405020304" pitchFamily="18" charset="0"/>
              </a:rPr>
              <a:t>Rely/Guarantee Reasoning: Combinatorial verification is achieved by proving that Guarantees of all threads are consistent with their </a:t>
            </a:r>
            <a:r>
              <a:rPr lang="en-US" sz="2200" dirty="0" err="1">
                <a:latin typeface="Times New Roman" panose="02020603050405020304" pitchFamily="18" charset="0"/>
                <a:cs typeface="Times New Roman" panose="02020603050405020304" pitchFamily="18" charset="0"/>
              </a:rPr>
              <a:t>Relys</a:t>
            </a:r>
            <a:r>
              <a:rPr lang="en-US" sz="2200" dirty="0">
                <a:latin typeface="Times New Roman" panose="02020603050405020304" pitchFamily="18" charset="0"/>
                <a:cs typeface="Times New Roman" panose="02020603050405020304" pitchFamily="18" charset="0"/>
              </a:rPr>
              <a:t>.</a:t>
            </a:r>
          </a:p>
        </p:txBody>
      </p:sp>
      <p:pic>
        <p:nvPicPr>
          <p:cNvPr id="4" name="图片 3">
            <a:extLst>
              <a:ext uri="{FF2B5EF4-FFF2-40B4-BE49-F238E27FC236}">
                <a16:creationId xmlns:a16="http://schemas.microsoft.com/office/drawing/2014/main" id="{5E31A69D-2D77-AB71-A331-53187DC21A7D}"/>
              </a:ext>
            </a:extLst>
          </p:cNvPr>
          <p:cNvPicPr>
            <a:picLocks noChangeAspect="1"/>
          </p:cNvPicPr>
          <p:nvPr/>
        </p:nvPicPr>
        <p:blipFill>
          <a:blip r:embed="rId3"/>
          <a:stretch>
            <a:fillRect/>
          </a:stretch>
        </p:blipFill>
        <p:spPr>
          <a:xfrm>
            <a:off x="6432098" y="1280160"/>
            <a:ext cx="5385976" cy="3397901"/>
          </a:xfrm>
          <a:prstGeom prst="rect">
            <a:avLst/>
          </a:prstGeom>
        </p:spPr>
      </p:pic>
      <p:sp>
        <p:nvSpPr>
          <p:cNvPr id="7" name="文本框 6">
            <a:extLst>
              <a:ext uri="{FF2B5EF4-FFF2-40B4-BE49-F238E27FC236}">
                <a16:creationId xmlns:a16="http://schemas.microsoft.com/office/drawing/2014/main" id="{5E0D1008-232B-2583-2491-4E0D5FB56096}"/>
              </a:ext>
            </a:extLst>
          </p:cNvPr>
          <p:cNvSpPr txBox="1"/>
          <p:nvPr/>
        </p:nvSpPr>
        <p:spPr>
          <a:xfrm>
            <a:off x="6625743" y="4756031"/>
            <a:ext cx="5327074" cy="1323439"/>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Figure 7. Development flow of applying CRL-H to verify concurrent file systems. Rectangular boxes denote source code; rounded boxes denote processes. Shaded boxes denote CRL-H framework components. The curved box denotes executable binary of the file system.</a:t>
            </a:r>
            <a:endParaRPr lang="zh-CN"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63324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163D8-591F-2745-8E56-E9E6639BBFCE}"/>
            </a:ext>
          </a:extLst>
        </p:cNvPr>
        <p:cNvGrpSpPr/>
        <p:nvPr/>
      </p:nvGrpSpPr>
      <p:grpSpPr>
        <a:xfrm>
          <a:off x="0" y="0"/>
          <a:ext cx="0" cy="0"/>
          <a:chOff x="0" y="0"/>
          <a:chExt cx="0" cy="0"/>
        </a:xfrm>
      </p:grpSpPr>
      <p:sp>
        <p:nvSpPr>
          <p:cNvPr id="5" name="灯片编号占位符 1">
            <a:extLst>
              <a:ext uri="{FF2B5EF4-FFF2-40B4-BE49-F238E27FC236}">
                <a16:creationId xmlns:a16="http://schemas.microsoft.com/office/drawing/2014/main" id="{E711133B-750E-DF70-7766-1156D8D46F3C}"/>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20</a:t>
            </a:fld>
            <a:endParaRPr lang="zh-TW" altLang="en-US"/>
          </a:p>
        </p:txBody>
      </p:sp>
      <p:sp>
        <p:nvSpPr>
          <p:cNvPr id="9" name="標題 1">
            <a:extLst>
              <a:ext uri="{FF2B5EF4-FFF2-40B4-BE49-F238E27FC236}">
                <a16:creationId xmlns:a16="http://schemas.microsoft.com/office/drawing/2014/main" id="{5F0C1DD9-F804-24B6-C8C2-3F3B3EF99DA0}"/>
              </a:ext>
            </a:extLst>
          </p:cNvPr>
          <p:cNvSpPr>
            <a:spLocks noGrp="1"/>
          </p:cNvSpPr>
          <p:nvPr>
            <p:ph type="title"/>
          </p:nvPr>
        </p:nvSpPr>
        <p:spPr>
          <a:xfrm>
            <a:off x="1296610" y="144466"/>
            <a:ext cx="10270977" cy="692151"/>
          </a:xfrm>
        </p:spPr>
        <p:txBody>
          <a:bodyPr/>
          <a:lstStyle/>
          <a:p>
            <a:r>
              <a:rPr lang="en-US" altLang="zh-TW" dirty="0"/>
              <a:t>CRL-H and </a:t>
            </a:r>
            <a:r>
              <a:rPr lang="en-US" altLang="zh-TW" dirty="0" err="1"/>
              <a:t>AtomFS</a:t>
            </a:r>
            <a:r>
              <a:rPr lang="en-US" altLang="zh-TW" dirty="0"/>
              <a:t> (3/8)</a:t>
            </a:r>
            <a:endParaRPr lang="zh-TW" altLang="en-US" dirty="0"/>
          </a:p>
        </p:txBody>
      </p:sp>
      <p:sp>
        <p:nvSpPr>
          <p:cNvPr id="2" name="Content Placeholder 2">
            <a:extLst>
              <a:ext uri="{FF2B5EF4-FFF2-40B4-BE49-F238E27FC236}">
                <a16:creationId xmlns:a16="http://schemas.microsoft.com/office/drawing/2014/main" id="{C997F610-7CDD-1B4E-BB34-34AC52A7234E}"/>
              </a:ext>
            </a:extLst>
          </p:cNvPr>
          <p:cNvSpPr>
            <a:spLocks noGrp="1"/>
          </p:cNvSpPr>
          <p:nvPr>
            <p:ph idx="1"/>
          </p:nvPr>
        </p:nvSpPr>
        <p:spPr>
          <a:xfrm>
            <a:off x="609600" y="1125537"/>
            <a:ext cx="10957987" cy="4831917"/>
          </a:xfrm>
        </p:spPr>
        <p:txBody>
          <a:bodyPr/>
          <a:lstStyle/>
          <a:p>
            <a:r>
              <a:rPr lang="en-US" sz="2400" dirty="0">
                <a:latin typeface="Times New Roman" panose="02020603050405020304" pitchFamily="18" charset="0"/>
                <a:cs typeface="Times New Roman" panose="02020603050405020304" pitchFamily="18" charset="0"/>
              </a:rPr>
              <a:t>How exactly does the Helper mechanism work? </a:t>
            </a:r>
          </a:p>
          <a:p>
            <a:pPr lvl="1"/>
            <a:r>
              <a:rPr lang="en-US" sz="2200" dirty="0">
                <a:latin typeface="Times New Roman" panose="02020603050405020304" pitchFamily="18" charset="0"/>
                <a:cs typeface="Times New Roman" panose="02020603050405020304" pitchFamily="18" charset="0"/>
              </a:rPr>
              <a:t>Ghost states: Record necessary information.</a:t>
            </a:r>
          </a:p>
          <a:p>
            <a:pPr lvl="1"/>
            <a:r>
              <a:rPr lang="en-US" sz="2200" dirty="0">
                <a:latin typeface="Times New Roman" panose="02020603050405020304" pitchFamily="18" charset="0"/>
                <a:cs typeface="Times New Roman" panose="02020603050405020304" pitchFamily="18" charset="0"/>
              </a:rPr>
              <a:t>Thread pool: Records what operation each thread is performing.</a:t>
            </a:r>
          </a:p>
          <a:p>
            <a:pPr lvl="1"/>
            <a:r>
              <a:rPr lang="en-US" sz="2200" dirty="0">
                <a:latin typeface="Times New Roman" panose="02020603050405020304" pitchFamily="18" charset="0"/>
                <a:cs typeface="Times New Roman" panose="02020603050405020304" pitchFamily="18" charset="0"/>
              </a:rPr>
              <a:t>Help list: Records the execution order of the threads that received help.</a:t>
            </a:r>
          </a:p>
          <a:p>
            <a:pPr lvl="1"/>
            <a:r>
              <a:rPr lang="en-US" sz="2200" dirty="0">
                <a:latin typeface="Times New Roman" panose="02020603050405020304" pitchFamily="18" charset="0"/>
                <a:cs typeface="Times New Roman" panose="02020603050405020304" pitchFamily="18" charset="0"/>
              </a:rPr>
              <a:t>‘</a:t>
            </a:r>
            <a:r>
              <a:rPr lang="en-US" sz="2200" dirty="0" err="1">
                <a:latin typeface="Times New Roman" panose="02020603050405020304" pitchFamily="18" charset="0"/>
                <a:cs typeface="Times New Roman" panose="02020603050405020304" pitchFamily="18" charset="0"/>
              </a:rPr>
              <a:t>linothers</a:t>
            </a:r>
            <a:r>
              <a:rPr lang="en-US" sz="2200" dirty="0">
                <a:latin typeface="Times New Roman" panose="02020603050405020304" pitchFamily="18" charset="0"/>
                <a:cs typeface="Times New Roman" panose="02020603050405020304" pitchFamily="18" charset="0"/>
              </a:rPr>
              <a:t>’: Based on the recorded ghost states, identifies all threads that need help, determines a correct execution order, and then executes them all at once at the abstract level.</a:t>
            </a:r>
          </a:p>
        </p:txBody>
      </p:sp>
    </p:spTree>
    <p:extLst>
      <p:ext uri="{BB962C8B-B14F-4D97-AF65-F5344CB8AC3E}">
        <p14:creationId xmlns:p14="http://schemas.microsoft.com/office/powerpoint/2010/main" val="32744673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2C0B6-3F62-CE22-C5B7-0E47E5DEDD2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AC06FF0-3775-5AB7-0536-9207EADA1CDF}"/>
              </a:ext>
            </a:extLst>
          </p:cNvPr>
          <p:cNvSpPr>
            <a:spLocks noGrp="1"/>
          </p:cNvSpPr>
          <p:nvPr>
            <p:ph type="title"/>
          </p:nvPr>
        </p:nvSpPr>
        <p:spPr>
          <a:xfrm>
            <a:off x="1296610" y="144466"/>
            <a:ext cx="10270977" cy="692151"/>
          </a:xfrm>
        </p:spPr>
        <p:txBody>
          <a:bodyPr/>
          <a:lstStyle/>
          <a:p>
            <a:r>
              <a:rPr lang="en-US" altLang="zh-TW" dirty="0"/>
              <a:t>CRL-H and </a:t>
            </a:r>
            <a:r>
              <a:rPr lang="en-US" altLang="zh-TW" dirty="0" err="1"/>
              <a:t>AtomFS</a:t>
            </a:r>
            <a:r>
              <a:rPr lang="en-US" altLang="zh-TW" dirty="0"/>
              <a:t> (4/8)</a:t>
            </a:r>
            <a:endParaRPr lang="zh-TW" altLang="en-US" dirty="0"/>
          </a:p>
        </p:txBody>
      </p:sp>
      <p:sp>
        <p:nvSpPr>
          <p:cNvPr id="5" name="灯片编号占位符 1">
            <a:extLst>
              <a:ext uri="{FF2B5EF4-FFF2-40B4-BE49-F238E27FC236}">
                <a16:creationId xmlns:a16="http://schemas.microsoft.com/office/drawing/2014/main" id="{9A9E1F43-B622-DE75-1F0E-92C07B5B515A}"/>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21</a:t>
            </a:fld>
            <a:endParaRPr lang="zh-TW" altLang="en-US"/>
          </a:p>
        </p:txBody>
      </p:sp>
      <p:sp>
        <p:nvSpPr>
          <p:cNvPr id="9" name="Content Placeholder 2">
            <a:extLst>
              <a:ext uri="{FF2B5EF4-FFF2-40B4-BE49-F238E27FC236}">
                <a16:creationId xmlns:a16="http://schemas.microsoft.com/office/drawing/2014/main" id="{9B3CCF7E-1883-8EB6-D669-B2BD679C713E}"/>
              </a:ext>
            </a:extLst>
          </p:cNvPr>
          <p:cNvSpPr>
            <a:spLocks noGrp="1"/>
          </p:cNvSpPr>
          <p:nvPr>
            <p:ph idx="1"/>
          </p:nvPr>
        </p:nvSpPr>
        <p:spPr>
          <a:xfrm>
            <a:off x="609600" y="1125537"/>
            <a:ext cx="10957987" cy="4831917"/>
          </a:xfrm>
        </p:spPr>
        <p:txBody>
          <a:bodyPr/>
          <a:lstStyle/>
          <a:p>
            <a:r>
              <a:rPr lang="en-US" sz="2400" dirty="0">
                <a:latin typeface="Times New Roman" panose="02020603050405020304" pitchFamily="18" charset="0"/>
                <a:cs typeface="Times New Roman" panose="02020603050405020304" pitchFamily="18" charset="0"/>
              </a:rPr>
              <a:t>Reconciling State Divergence.</a:t>
            </a:r>
          </a:p>
          <a:p>
            <a:pPr lvl="1"/>
            <a:r>
              <a:rPr lang="en-US" sz="2200" dirty="0">
                <a:latin typeface="Times New Roman" panose="02020603050405020304" pitchFamily="18" charset="0"/>
                <a:cs typeface="Times New Roman" panose="02020603050405020304" pitchFamily="18" charset="0"/>
              </a:rPr>
              <a:t>The roll-back mechanism addresses the state divergence that occurs during the helping process.</a:t>
            </a:r>
          </a:p>
          <a:p>
            <a:pPr lvl="1"/>
            <a:r>
              <a:rPr lang="en-US" sz="2200" dirty="0">
                <a:latin typeface="Times New Roman" panose="02020603050405020304" pitchFamily="18" charset="0"/>
                <a:cs typeface="Times New Roman" panose="02020603050405020304" pitchFamily="18" charset="0"/>
              </a:rPr>
              <a:t>When a helper executes abstract operations early, the abstract state can move ahead of the concrete state where the helped operations are still physically running.</a:t>
            </a:r>
          </a:p>
          <a:p>
            <a:pPr lvl="1"/>
            <a:r>
              <a:rPr lang="en-US" sz="2200" dirty="0">
                <a:latin typeface="Times New Roman" panose="02020603050405020304" pitchFamily="18" charset="0"/>
                <a:cs typeface="Times New Roman" panose="02020603050405020304" pitchFamily="18" charset="0"/>
              </a:rPr>
              <a:t>Forcing the concrete state forward to match is impractical due to file system complexity.</a:t>
            </a:r>
          </a:p>
          <a:p>
            <a:pPr lvl="1"/>
            <a:r>
              <a:rPr lang="en-US" sz="2200" dirty="0">
                <a:latin typeface="Times New Roman" panose="02020603050405020304" pitchFamily="18" charset="0"/>
                <a:cs typeface="Times New Roman" panose="02020603050405020304" pitchFamily="18" charset="0"/>
              </a:rPr>
              <a:t>CRL-H maintains consistency by recording the effects of helped operations in the ghost state and rolling them back when establishing the abstraction relation.</a:t>
            </a:r>
          </a:p>
          <a:p>
            <a:pPr lvl="1"/>
            <a:r>
              <a:rPr lang="en-US" sz="2200" dirty="0">
                <a:latin typeface="Times New Roman" panose="02020603050405020304" pitchFamily="18" charset="0"/>
                <a:cs typeface="Times New Roman" panose="02020603050405020304" pitchFamily="18" charset="0"/>
              </a:rPr>
              <a:t>Micro-operations, such as </a:t>
            </a:r>
            <a:r>
              <a:rPr lang="en-US" sz="2200" dirty="0" err="1">
                <a:latin typeface="Times New Roman" panose="02020603050405020304" pitchFamily="18" charset="0"/>
                <a:cs typeface="Times New Roman" panose="02020603050405020304" pitchFamily="18" charset="0"/>
              </a:rPr>
              <a:t>inode</a:t>
            </a:r>
            <a:r>
              <a:rPr lang="en-US" sz="2200" dirty="0">
                <a:latin typeface="Times New Roman" panose="02020603050405020304" pitchFamily="18" charset="0"/>
                <a:cs typeface="Times New Roman" panose="02020603050405020304" pitchFamily="18" charset="0"/>
              </a:rPr>
              <a:t> insertions and creations, are tracked in the Effect field of each thread's descriptor.</a:t>
            </a:r>
          </a:p>
          <a:p>
            <a:pPr lvl="1"/>
            <a:r>
              <a:rPr lang="en-US" sz="2200" dirty="0">
                <a:latin typeface="Times New Roman" panose="02020603050405020304" pitchFamily="18" charset="0"/>
                <a:cs typeface="Times New Roman" panose="02020603050405020304" pitchFamily="18" charset="0"/>
              </a:rPr>
              <a:t>These effects are applied in reverse order to reconcile the temporal gap between logical linearization and physical execution.</a:t>
            </a:r>
          </a:p>
        </p:txBody>
      </p:sp>
    </p:spTree>
    <p:extLst>
      <p:ext uri="{BB962C8B-B14F-4D97-AF65-F5344CB8AC3E}">
        <p14:creationId xmlns:p14="http://schemas.microsoft.com/office/powerpoint/2010/main" val="989386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1FCC2-9CFE-8837-F772-E91D5F62429B}"/>
            </a:ext>
          </a:extLst>
        </p:cNvPr>
        <p:cNvGrpSpPr/>
        <p:nvPr/>
      </p:nvGrpSpPr>
      <p:grpSpPr>
        <a:xfrm>
          <a:off x="0" y="0"/>
          <a:ext cx="0" cy="0"/>
          <a:chOff x="0" y="0"/>
          <a:chExt cx="0" cy="0"/>
        </a:xfrm>
      </p:grpSpPr>
      <p:sp>
        <p:nvSpPr>
          <p:cNvPr id="5" name="灯片编号占位符 1">
            <a:extLst>
              <a:ext uri="{FF2B5EF4-FFF2-40B4-BE49-F238E27FC236}">
                <a16:creationId xmlns:a16="http://schemas.microsoft.com/office/drawing/2014/main" id="{20F7059A-50D2-7606-2703-0D15A1B47657}"/>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22</a:t>
            </a:fld>
            <a:endParaRPr lang="zh-TW" altLang="en-US" dirty="0"/>
          </a:p>
        </p:txBody>
      </p:sp>
      <p:sp>
        <p:nvSpPr>
          <p:cNvPr id="3" name="Content Placeholder 2">
            <a:extLst>
              <a:ext uri="{FF2B5EF4-FFF2-40B4-BE49-F238E27FC236}">
                <a16:creationId xmlns:a16="http://schemas.microsoft.com/office/drawing/2014/main" id="{0B24B019-A89C-CBE8-A6C2-7B735D5D4529}"/>
              </a:ext>
            </a:extLst>
          </p:cNvPr>
          <p:cNvSpPr>
            <a:spLocks noGrp="1"/>
          </p:cNvSpPr>
          <p:nvPr>
            <p:ph idx="1"/>
          </p:nvPr>
        </p:nvSpPr>
        <p:spPr>
          <a:xfrm>
            <a:off x="136686" y="1193520"/>
            <a:ext cx="5799221" cy="4831917"/>
          </a:xfrm>
        </p:spPr>
        <p:txBody>
          <a:bodyPr/>
          <a:lstStyle/>
          <a:p>
            <a:r>
              <a:rPr lang="en-US" sz="2400" dirty="0" err="1">
                <a:latin typeface="Times New Roman" panose="02020603050405020304" pitchFamily="18" charset="0"/>
                <a:cs typeface="Times New Roman" panose="02020603050405020304" pitchFamily="18" charset="0"/>
              </a:rPr>
              <a:t>AtomFS</a:t>
            </a:r>
            <a:r>
              <a:rPr lang="en-US" sz="2400" dirty="0">
                <a:latin typeface="Times New Roman" panose="02020603050405020304" pitchFamily="18" charset="0"/>
                <a:cs typeface="Times New Roman" panose="02020603050405020304" pitchFamily="18" charset="0"/>
              </a:rPr>
              <a:t>: A Verified Concurrent File System</a:t>
            </a:r>
          </a:p>
          <a:p>
            <a:pPr lvl="1"/>
            <a:r>
              <a:rPr lang="en-US" sz="2200" dirty="0">
                <a:latin typeface="Times New Roman" panose="02020603050405020304" pitchFamily="18" charset="0"/>
                <a:cs typeface="Times New Roman" panose="02020603050405020304" pitchFamily="18" charset="0"/>
              </a:rPr>
              <a:t>The authors applied CRL-H to develop </a:t>
            </a:r>
            <a:r>
              <a:rPr lang="en-US" sz="2200" dirty="0" err="1">
                <a:latin typeface="Times New Roman" panose="02020603050405020304" pitchFamily="18" charset="0"/>
                <a:cs typeface="Times New Roman" panose="02020603050405020304" pitchFamily="18" charset="0"/>
              </a:rPr>
              <a:t>AtomFS</a:t>
            </a:r>
            <a:r>
              <a:rPr lang="en-US" sz="2200" dirty="0">
                <a:latin typeface="Times New Roman" panose="02020603050405020304" pitchFamily="18" charset="0"/>
                <a:cs typeface="Times New Roman" panose="02020603050405020304" pitchFamily="18" charset="0"/>
              </a:rPr>
              <a:t>, the first formally-verified, fine-grained concurrent file system providing linearizable POSIX-like interfaces.</a:t>
            </a:r>
          </a:p>
          <a:p>
            <a:pPr lvl="1"/>
            <a:r>
              <a:rPr lang="en-US" sz="2200" dirty="0" err="1">
                <a:latin typeface="Times New Roman" panose="02020603050405020304" pitchFamily="18" charset="0"/>
                <a:cs typeface="Times New Roman" panose="02020603050405020304" pitchFamily="18" charset="0"/>
              </a:rPr>
              <a:t>AtomFS</a:t>
            </a:r>
            <a:r>
              <a:rPr lang="en-US" sz="2200" dirty="0">
                <a:latin typeface="Times New Roman" panose="02020603050405020304" pitchFamily="18" charset="0"/>
                <a:cs typeface="Times New Roman" panose="02020603050405020304" pitchFamily="18" charset="0"/>
              </a:rPr>
              <a:t> implements a concurrent in-memory file system utilizing per-</a:t>
            </a:r>
            <a:r>
              <a:rPr lang="en-US" sz="2200" dirty="0" err="1">
                <a:latin typeface="Times New Roman" panose="02020603050405020304" pitchFamily="18" charset="0"/>
                <a:cs typeface="Times New Roman" panose="02020603050405020304" pitchFamily="18" charset="0"/>
              </a:rPr>
              <a:t>inode</a:t>
            </a:r>
            <a:r>
              <a:rPr lang="en-US" sz="2200" dirty="0">
                <a:latin typeface="Times New Roman" panose="02020603050405020304" pitchFamily="18" charset="0"/>
                <a:cs typeface="Times New Roman" panose="02020603050405020304" pitchFamily="18" charset="0"/>
              </a:rPr>
              <a:t> locking.</a:t>
            </a:r>
          </a:p>
          <a:p>
            <a:pPr lvl="1"/>
            <a:r>
              <a:rPr lang="en-US" sz="2200" dirty="0">
                <a:latin typeface="Times New Roman" panose="02020603050405020304" pitchFamily="18" charset="0"/>
                <a:cs typeface="Times New Roman" panose="02020603050405020304" pitchFamily="18" charset="0"/>
              </a:rPr>
              <a:t>Lock-coupling requires threads to acquire the next </a:t>
            </a:r>
            <a:r>
              <a:rPr lang="en-US" sz="2200" dirty="0" err="1">
                <a:latin typeface="Times New Roman" panose="02020603050405020304" pitchFamily="18" charset="0"/>
                <a:cs typeface="Times New Roman" panose="02020603050405020304" pitchFamily="18" charset="0"/>
              </a:rPr>
              <a:t>inode's</a:t>
            </a:r>
            <a:r>
              <a:rPr lang="en-US" sz="2200" dirty="0">
                <a:latin typeface="Times New Roman" panose="02020603050405020304" pitchFamily="18" charset="0"/>
                <a:cs typeface="Times New Roman" panose="02020603050405020304" pitchFamily="18" charset="0"/>
              </a:rPr>
              <a:t> lock before releasing the current one to maintain execution order relative to concurrent traversals.</a:t>
            </a:r>
          </a:p>
        </p:txBody>
      </p:sp>
      <p:sp>
        <p:nvSpPr>
          <p:cNvPr id="8" name="文本框 7">
            <a:extLst>
              <a:ext uri="{FF2B5EF4-FFF2-40B4-BE49-F238E27FC236}">
                <a16:creationId xmlns:a16="http://schemas.microsoft.com/office/drawing/2014/main" id="{95D980AE-E6F5-94C2-3DFA-2C887C001015}"/>
              </a:ext>
            </a:extLst>
          </p:cNvPr>
          <p:cNvSpPr txBox="1"/>
          <p:nvPr/>
        </p:nvSpPr>
        <p:spPr>
          <a:xfrm>
            <a:off x="7092188" y="4631714"/>
            <a:ext cx="4285058" cy="584775"/>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Figure 8: Non-</a:t>
            </a:r>
            <a:r>
              <a:rPr lang="en-US" altLang="zh-CN" sz="1600" dirty="0" err="1">
                <a:latin typeface="Times New Roman" panose="02020603050405020304" pitchFamily="18" charset="0"/>
                <a:cs typeface="Times New Roman" panose="02020603050405020304" pitchFamily="18" charset="0"/>
              </a:rPr>
              <a:t>bypassable</a:t>
            </a:r>
            <a:r>
              <a:rPr lang="en-US" altLang="zh-CN" sz="1600" dirty="0">
                <a:latin typeface="Times New Roman" panose="02020603050405020304" pitchFamily="18" charset="0"/>
                <a:cs typeface="Times New Roman" panose="02020603050405020304" pitchFamily="18" charset="0"/>
              </a:rPr>
              <a:t> criterion violation. The del bypasses ins and first acquires the lock of c.</a:t>
            </a:r>
            <a:endParaRPr lang="zh-CN" altLang="en-US" sz="1600" dirty="0">
              <a:latin typeface="Times New Roman" panose="02020603050405020304" pitchFamily="18" charset="0"/>
              <a:cs typeface="Times New Roman" panose="02020603050405020304" pitchFamily="18" charset="0"/>
            </a:endParaRPr>
          </a:p>
        </p:txBody>
      </p:sp>
      <p:sp>
        <p:nvSpPr>
          <p:cNvPr id="9" name="標題 1">
            <a:extLst>
              <a:ext uri="{FF2B5EF4-FFF2-40B4-BE49-F238E27FC236}">
                <a16:creationId xmlns:a16="http://schemas.microsoft.com/office/drawing/2014/main" id="{F2D565B5-B7A3-1446-C056-29DA3C73327A}"/>
              </a:ext>
            </a:extLst>
          </p:cNvPr>
          <p:cNvSpPr>
            <a:spLocks noGrp="1"/>
          </p:cNvSpPr>
          <p:nvPr>
            <p:ph type="title"/>
          </p:nvPr>
        </p:nvSpPr>
        <p:spPr>
          <a:xfrm>
            <a:off x="1296610" y="144466"/>
            <a:ext cx="10270977" cy="692151"/>
          </a:xfrm>
        </p:spPr>
        <p:txBody>
          <a:bodyPr/>
          <a:lstStyle/>
          <a:p>
            <a:r>
              <a:rPr lang="en-US" altLang="zh-TW" dirty="0"/>
              <a:t>CRL-H and </a:t>
            </a:r>
            <a:r>
              <a:rPr lang="en-US" altLang="zh-TW" dirty="0" err="1"/>
              <a:t>AtomFS</a:t>
            </a:r>
            <a:r>
              <a:rPr lang="en-US" altLang="zh-TW" dirty="0"/>
              <a:t> (5/8)</a:t>
            </a:r>
            <a:endParaRPr lang="zh-TW" altLang="en-US" dirty="0"/>
          </a:p>
        </p:txBody>
      </p:sp>
      <p:pic>
        <p:nvPicPr>
          <p:cNvPr id="4" name="图片 3">
            <a:extLst>
              <a:ext uri="{FF2B5EF4-FFF2-40B4-BE49-F238E27FC236}">
                <a16:creationId xmlns:a16="http://schemas.microsoft.com/office/drawing/2014/main" id="{F89F79CB-9BFB-AD5A-B361-9D3EA9067643}"/>
              </a:ext>
            </a:extLst>
          </p:cNvPr>
          <p:cNvPicPr>
            <a:picLocks noChangeAspect="1"/>
          </p:cNvPicPr>
          <p:nvPr/>
        </p:nvPicPr>
        <p:blipFill>
          <a:blip r:embed="rId3"/>
          <a:stretch>
            <a:fillRect/>
          </a:stretch>
        </p:blipFill>
        <p:spPr>
          <a:xfrm>
            <a:off x="5785338" y="1828720"/>
            <a:ext cx="6331078" cy="2578823"/>
          </a:xfrm>
          <a:prstGeom prst="rect">
            <a:avLst/>
          </a:prstGeom>
        </p:spPr>
      </p:pic>
    </p:spTree>
    <p:extLst>
      <p:ext uri="{BB962C8B-B14F-4D97-AF65-F5344CB8AC3E}">
        <p14:creationId xmlns:p14="http://schemas.microsoft.com/office/powerpoint/2010/main" val="5929108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0068A-9E70-0C1B-5E53-EAF5B81D1D84}"/>
            </a:ext>
          </a:extLst>
        </p:cNvPr>
        <p:cNvGrpSpPr/>
        <p:nvPr/>
      </p:nvGrpSpPr>
      <p:grpSpPr>
        <a:xfrm>
          <a:off x="0" y="0"/>
          <a:ext cx="0" cy="0"/>
          <a:chOff x="0" y="0"/>
          <a:chExt cx="0" cy="0"/>
        </a:xfrm>
      </p:grpSpPr>
      <p:sp>
        <p:nvSpPr>
          <p:cNvPr id="5" name="灯片编号占位符 1">
            <a:extLst>
              <a:ext uri="{FF2B5EF4-FFF2-40B4-BE49-F238E27FC236}">
                <a16:creationId xmlns:a16="http://schemas.microsoft.com/office/drawing/2014/main" id="{520E8DDA-7903-CD81-4620-B54BF48F8426}"/>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23</a:t>
            </a:fld>
            <a:endParaRPr lang="zh-TW" altLang="en-US" dirty="0"/>
          </a:p>
        </p:txBody>
      </p:sp>
      <p:sp>
        <p:nvSpPr>
          <p:cNvPr id="8" name="文本框 7">
            <a:extLst>
              <a:ext uri="{FF2B5EF4-FFF2-40B4-BE49-F238E27FC236}">
                <a16:creationId xmlns:a16="http://schemas.microsoft.com/office/drawing/2014/main" id="{5ABDAF3D-E544-97B3-8360-BD6247547E6D}"/>
              </a:ext>
            </a:extLst>
          </p:cNvPr>
          <p:cNvSpPr txBox="1"/>
          <p:nvPr/>
        </p:nvSpPr>
        <p:spPr>
          <a:xfrm>
            <a:off x="756138" y="4631714"/>
            <a:ext cx="10621108" cy="584775"/>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Table 1: Invariants in </a:t>
            </a:r>
            <a:r>
              <a:rPr lang="en-US" altLang="zh-CN" sz="1600" dirty="0" err="1">
                <a:latin typeface="Times New Roman" panose="02020603050405020304" pitchFamily="18" charset="0"/>
                <a:cs typeface="Times New Roman" panose="02020603050405020304" pitchFamily="18" charset="0"/>
              </a:rPr>
              <a:t>AtomFS</a:t>
            </a:r>
            <a:r>
              <a:rPr lang="en-US" altLang="zh-CN" sz="1600" dirty="0">
                <a:latin typeface="Times New Roman" panose="02020603050405020304" pitchFamily="18" charset="0"/>
                <a:cs typeface="Times New Roman" panose="02020603050405020304" pitchFamily="18" charset="0"/>
              </a:rPr>
              <a:t>. Using CRL-H to verify </a:t>
            </a:r>
            <a:r>
              <a:rPr lang="en-US" altLang="zh-CN" sz="1600" dirty="0" err="1">
                <a:latin typeface="Times New Roman" panose="02020603050405020304" pitchFamily="18" charset="0"/>
                <a:cs typeface="Times New Roman" panose="02020603050405020304" pitchFamily="18" charset="0"/>
              </a:rPr>
              <a:t>AtomFS</a:t>
            </a:r>
            <a:r>
              <a:rPr lang="en-US" altLang="zh-CN" sz="1600" dirty="0">
                <a:latin typeface="Times New Roman" panose="02020603050405020304" pitchFamily="18" charset="0"/>
                <a:cs typeface="Times New Roman" panose="02020603050405020304" pitchFamily="18" charset="0"/>
              </a:rPr>
              <a:t> requires specifying several invariants. Each invariant (with</a:t>
            </a:r>
          </a:p>
          <a:p>
            <a:r>
              <a:rPr lang="en-US" altLang="zh-CN" sz="1600" dirty="0">
                <a:latin typeface="Times New Roman" panose="02020603050405020304" pitchFamily="18" charset="0"/>
                <a:cs typeface="Times New Roman" panose="02020603050405020304" pitchFamily="18" charset="0"/>
              </a:rPr>
              <a:t>invariant name) specifies restrictions between states (i.e., abstract FS, concrete FS and ghost state) as explained in description.</a:t>
            </a:r>
            <a:endParaRPr lang="zh-CN" altLang="en-US" sz="1600" dirty="0">
              <a:latin typeface="Times New Roman" panose="02020603050405020304" pitchFamily="18" charset="0"/>
              <a:cs typeface="Times New Roman" panose="02020603050405020304" pitchFamily="18" charset="0"/>
            </a:endParaRPr>
          </a:p>
        </p:txBody>
      </p:sp>
      <p:sp>
        <p:nvSpPr>
          <p:cNvPr id="9" name="標題 1">
            <a:extLst>
              <a:ext uri="{FF2B5EF4-FFF2-40B4-BE49-F238E27FC236}">
                <a16:creationId xmlns:a16="http://schemas.microsoft.com/office/drawing/2014/main" id="{D9C9EE72-9144-EAE0-88CE-AE42CBC1CA3D}"/>
              </a:ext>
            </a:extLst>
          </p:cNvPr>
          <p:cNvSpPr>
            <a:spLocks noGrp="1"/>
          </p:cNvSpPr>
          <p:nvPr>
            <p:ph type="title"/>
          </p:nvPr>
        </p:nvSpPr>
        <p:spPr>
          <a:xfrm>
            <a:off x="1296610" y="144466"/>
            <a:ext cx="10270977" cy="692151"/>
          </a:xfrm>
        </p:spPr>
        <p:txBody>
          <a:bodyPr/>
          <a:lstStyle/>
          <a:p>
            <a:r>
              <a:rPr lang="en-US" altLang="zh-TW" dirty="0"/>
              <a:t>CRL-H and </a:t>
            </a:r>
            <a:r>
              <a:rPr lang="en-US" altLang="zh-TW" dirty="0" err="1"/>
              <a:t>AtomFS</a:t>
            </a:r>
            <a:r>
              <a:rPr lang="en-US" altLang="zh-TW" dirty="0"/>
              <a:t> (6/8)</a:t>
            </a:r>
            <a:endParaRPr lang="zh-TW" altLang="en-US" dirty="0"/>
          </a:p>
        </p:txBody>
      </p:sp>
      <p:pic>
        <p:nvPicPr>
          <p:cNvPr id="10" name="图片 9">
            <a:extLst>
              <a:ext uri="{FF2B5EF4-FFF2-40B4-BE49-F238E27FC236}">
                <a16:creationId xmlns:a16="http://schemas.microsoft.com/office/drawing/2014/main" id="{88A3094F-B98E-96B1-1D10-5D6F8D1CA1CC}"/>
              </a:ext>
            </a:extLst>
          </p:cNvPr>
          <p:cNvPicPr>
            <a:picLocks noChangeAspect="1"/>
          </p:cNvPicPr>
          <p:nvPr/>
        </p:nvPicPr>
        <p:blipFill>
          <a:blip r:embed="rId3"/>
          <a:stretch>
            <a:fillRect/>
          </a:stretch>
        </p:blipFill>
        <p:spPr>
          <a:xfrm>
            <a:off x="0" y="1979609"/>
            <a:ext cx="12192000" cy="2511919"/>
          </a:xfrm>
          <a:prstGeom prst="rect">
            <a:avLst/>
          </a:prstGeom>
        </p:spPr>
      </p:pic>
    </p:spTree>
    <p:extLst>
      <p:ext uri="{BB962C8B-B14F-4D97-AF65-F5344CB8AC3E}">
        <p14:creationId xmlns:p14="http://schemas.microsoft.com/office/powerpoint/2010/main" val="15564155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FAF66-BB72-2F31-FAF8-FCD5D080C0A0}"/>
            </a:ext>
          </a:extLst>
        </p:cNvPr>
        <p:cNvGrpSpPr/>
        <p:nvPr/>
      </p:nvGrpSpPr>
      <p:grpSpPr>
        <a:xfrm>
          <a:off x="0" y="0"/>
          <a:ext cx="0" cy="0"/>
          <a:chOff x="0" y="0"/>
          <a:chExt cx="0" cy="0"/>
        </a:xfrm>
      </p:grpSpPr>
      <p:sp>
        <p:nvSpPr>
          <p:cNvPr id="5" name="灯片编号占位符 1">
            <a:extLst>
              <a:ext uri="{FF2B5EF4-FFF2-40B4-BE49-F238E27FC236}">
                <a16:creationId xmlns:a16="http://schemas.microsoft.com/office/drawing/2014/main" id="{8D7BEC1F-0FD9-2814-EA23-1CE2A653D477}"/>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24</a:t>
            </a:fld>
            <a:endParaRPr lang="zh-TW" altLang="en-US" dirty="0"/>
          </a:p>
        </p:txBody>
      </p:sp>
      <p:sp>
        <p:nvSpPr>
          <p:cNvPr id="3" name="Content Placeholder 2">
            <a:extLst>
              <a:ext uri="{FF2B5EF4-FFF2-40B4-BE49-F238E27FC236}">
                <a16:creationId xmlns:a16="http://schemas.microsoft.com/office/drawing/2014/main" id="{04BA0276-85A8-3800-B6C4-39DC67003638}"/>
              </a:ext>
            </a:extLst>
          </p:cNvPr>
          <p:cNvSpPr>
            <a:spLocks noGrp="1"/>
          </p:cNvSpPr>
          <p:nvPr>
            <p:ph idx="1"/>
          </p:nvPr>
        </p:nvSpPr>
        <p:spPr>
          <a:xfrm>
            <a:off x="136686" y="1193520"/>
            <a:ext cx="5799221" cy="4831917"/>
          </a:xfrm>
        </p:spPr>
        <p:txBody>
          <a:bodyPr/>
          <a:lstStyle/>
          <a:p>
            <a:r>
              <a:rPr lang="en-US" sz="2400" dirty="0">
                <a:latin typeface="Times New Roman" panose="02020603050405020304" pitchFamily="18" charset="0"/>
                <a:cs typeface="Times New Roman" panose="02020603050405020304" pitchFamily="18" charset="0"/>
              </a:rPr>
              <a:t>Rigorous Mechanized Verification</a:t>
            </a:r>
          </a:p>
          <a:p>
            <a:pPr lvl="1"/>
            <a:r>
              <a:rPr lang="en-US" sz="2200" dirty="0">
                <a:latin typeface="Times New Roman" panose="02020603050405020304" pitchFamily="18" charset="0"/>
                <a:cs typeface="Times New Roman" panose="02020603050405020304" pitchFamily="18" charset="0"/>
              </a:rPr>
              <a:t>All proofs for </a:t>
            </a:r>
            <a:r>
              <a:rPr lang="en-US" sz="2200" dirty="0" err="1">
                <a:latin typeface="Times New Roman" panose="02020603050405020304" pitchFamily="18" charset="0"/>
                <a:cs typeface="Times New Roman" panose="02020603050405020304" pitchFamily="18" charset="0"/>
              </a:rPr>
              <a:t>AtomFS</a:t>
            </a:r>
            <a:r>
              <a:rPr lang="en-US" sz="2200" dirty="0">
                <a:latin typeface="Times New Roman" panose="02020603050405020304" pitchFamily="18" charset="0"/>
                <a:cs typeface="Times New Roman" panose="02020603050405020304" pitchFamily="18" charset="0"/>
              </a:rPr>
              <a:t> were mechanized in the Coq proof assistant.</a:t>
            </a:r>
          </a:p>
          <a:p>
            <a:pPr lvl="1"/>
            <a:r>
              <a:rPr lang="en-US" sz="2200" dirty="0">
                <a:latin typeface="Times New Roman" panose="02020603050405020304" pitchFamily="18" charset="0"/>
                <a:cs typeface="Times New Roman" panose="02020603050405020304" pitchFamily="18" charset="0"/>
              </a:rPr>
              <a:t>The verification involves roughly 63,000 lines of specification and proof code to verify 673 lines of C implementation.</a:t>
            </a:r>
          </a:p>
          <a:p>
            <a:pPr lvl="1"/>
            <a:r>
              <a:rPr lang="en-US" sz="2200" dirty="0">
                <a:latin typeface="Times New Roman" panose="02020603050405020304" pitchFamily="18" charset="0"/>
                <a:cs typeface="Times New Roman" panose="02020603050405020304" pitchFamily="18" charset="0"/>
              </a:rPr>
              <a:t>The codebase breaks down into 344 lines for abstraction/operations, 1,397 lines for invariants, and 451 lines for rely-guarantee conditions.</a:t>
            </a:r>
          </a:p>
          <a:p>
            <a:pPr lvl="1"/>
            <a:r>
              <a:rPr lang="en-US" sz="2200" dirty="0" err="1">
                <a:latin typeface="Times New Roman" panose="02020603050405020304" pitchFamily="18" charset="0"/>
                <a:cs typeface="Times New Roman" panose="02020603050405020304" pitchFamily="18" charset="0"/>
              </a:rPr>
              <a:t>AtomFS</a:t>
            </a:r>
            <a:r>
              <a:rPr lang="en-US" sz="2200" dirty="0">
                <a:latin typeface="Times New Roman" panose="02020603050405020304" pitchFamily="18" charset="0"/>
                <a:cs typeface="Times New Roman" panose="02020603050405020304" pitchFamily="18" charset="0"/>
              </a:rPr>
              <a:t> successfully passed 418 out of 451 test cases in the standard Linux </a:t>
            </a:r>
            <a:r>
              <a:rPr lang="en-US" sz="2200" dirty="0" err="1">
                <a:latin typeface="Times New Roman" panose="02020603050405020304" pitchFamily="18" charset="0"/>
                <a:cs typeface="Times New Roman" panose="02020603050405020304" pitchFamily="18" charset="0"/>
              </a:rPr>
              <a:t>xfstests</a:t>
            </a:r>
            <a:r>
              <a:rPr lang="en-US" sz="2200">
                <a:latin typeface="Times New Roman" panose="02020603050405020304" pitchFamily="18" charset="0"/>
                <a:cs typeface="Times New Roman" panose="02020603050405020304" pitchFamily="18" charset="0"/>
              </a:rPr>
              <a:t> suite.</a:t>
            </a:r>
            <a:endParaRPr lang="en-US" sz="2200"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011D212-CA77-528D-C564-5782B9FBF92A}"/>
              </a:ext>
            </a:extLst>
          </p:cNvPr>
          <p:cNvSpPr txBox="1"/>
          <p:nvPr/>
        </p:nvSpPr>
        <p:spPr>
          <a:xfrm>
            <a:off x="6443937" y="4631714"/>
            <a:ext cx="5328157" cy="584775"/>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Table 2. Lines of specifications, implementations, and proofs for </a:t>
            </a:r>
            <a:r>
              <a:rPr lang="en-US" altLang="zh-CN" sz="1600" dirty="0" err="1">
                <a:latin typeface="Times New Roman" panose="02020603050405020304" pitchFamily="18" charset="0"/>
                <a:cs typeface="Times New Roman" panose="02020603050405020304" pitchFamily="18" charset="0"/>
              </a:rPr>
              <a:t>AtomFS</a:t>
            </a:r>
            <a:r>
              <a:rPr lang="en-US" altLang="zh-CN" sz="1600" dirty="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p:txBody>
      </p:sp>
      <p:sp>
        <p:nvSpPr>
          <p:cNvPr id="9" name="標題 1">
            <a:extLst>
              <a:ext uri="{FF2B5EF4-FFF2-40B4-BE49-F238E27FC236}">
                <a16:creationId xmlns:a16="http://schemas.microsoft.com/office/drawing/2014/main" id="{2EF776D8-448C-2836-F519-D8614C41F4B8}"/>
              </a:ext>
            </a:extLst>
          </p:cNvPr>
          <p:cNvSpPr>
            <a:spLocks noGrp="1"/>
          </p:cNvSpPr>
          <p:nvPr>
            <p:ph type="title"/>
          </p:nvPr>
        </p:nvSpPr>
        <p:spPr>
          <a:xfrm>
            <a:off x="1296610" y="144466"/>
            <a:ext cx="10270977" cy="692151"/>
          </a:xfrm>
        </p:spPr>
        <p:txBody>
          <a:bodyPr/>
          <a:lstStyle/>
          <a:p>
            <a:r>
              <a:rPr lang="en-US" altLang="zh-TW" dirty="0"/>
              <a:t>CRL-H and </a:t>
            </a:r>
            <a:r>
              <a:rPr lang="en-US" altLang="zh-TW" dirty="0" err="1"/>
              <a:t>AtomFS</a:t>
            </a:r>
            <a:r>
              <a:rPr lang="en-US" altLang="zh-TW" dirty="0"/>
              <a:t> (7/8)</a:t>
            </a:r>
            <a:endParaRPr lang="zh-TW" altLang="en-US" dirty="0"/>
          </a:p>
        </p:txBody>
      </p:sp>
      <p:pic>
        <p:nvPicPr>
          <p:cNvPr id="6" name="图片 5">
            <a:extLst>
              <a:ext uri="{FF2B5EF4-FFF2-40B4-BE49-F238E27FC236}">
                <a16:creationId xmlns:a16="http://schemas.microsoft.com/office/drawing/2014/main" id="{275530C3-3A2E-D642-7082-B3573F358A88}"/>
              </a:ext>
            </a:extLst>
          </p:cNvPr>
          <p:cNvPicPr>
            <a:picLocks noChangeAspect="1"/>
          </p:cNvPicPr>
          <p:nvPr/>
        </p:nvPicPr>
        <p:blipFill>
          <a:blip r:embed="rId3"/>
          <a:stretch>
            <a:fillRect/>
          </a:stretch>
        </p:blipFill>
        <p:spPr>
          <a:xfrm>
            <a:off x="6443938" y="1375659"/>
            <a:ext cx="5328158" cy="2996600"/>
          </a:xfrm>
          <a:prstGeom prst="rect">
            <a:avLst/>
          </a:prstGeom>
        </p:spPr>
      </p:pic>
    </p:spTree>
    <p:extLst>
      <p:ext uri="{BB962C8B-B14F-4D97-AF65-F5344CB8AC3E}">
        <p14:creationId xmlns:p14="http://schemas.microsoft.com/office/powerpoint/2010/main" val="4559018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2D6E0AE3-6750-CE4B-C096-7359A9E8DCBB}"/>
              </a:ext>
            </a:extLst>
          </p:cNvPr>
          <p:cNvSpPr>
            <a:spLocks noGrp="1"/>
          </p:cNvSpPr>
          <p:nvPr>
            <p:ph type="sldNum" sz="quarter" idx="10"/>
          </p:nvPr>
        </p:nvSpPr>
        <p:spPr/>
        <p:txBody>
          <a:bodyPr/>
          <a:lstStyle/>
          <a:p>
            <a:fld id="{D9B6BDF2-6896-4B98-8776-C18582F63BA5}" type="slidenum">
              <a:rPr lang="zh-TW" altLang="en-US" smtClean="0"/>
              <a:pPr/>
              <a:t>25</a:t>
            </a:fld>
            <a:endParaRPr lang="zh-TW" altLang="en-US"/>
          </a:p>
        </p:txBody>
      </p:sp>
      <p:sp>
        <p:nvSpPr>
          <p:cNvPr id="5" name="標題 1">
            <a:extLst>
              <a:ext uri="{FF2B5EF4-FFF2-40B4-BE49-F238E27FC236}">
                <a16:creationId xmlns:a16="http://schemas.microsoft.com/office/drawing/2014/main" id="{F3139A63-74AA-9CFD-5990-AE4E92ADFFCE}"/>
              </a:ext>
            </a:extLst>
          </p:cNvPr>
          <p:cNvSpPr>
            <a:spLocks noGrp="1"/>
          </p:cNvSpPr>
          <p:nvPr>
            <p:ph type="title"/>
          </p:nvPr>
        </p:nvSpPr>
        <p:spPr>
          <a:xfrm>
            <a:off x="1296610" y="79984"/>
            <a:ext cx="10270977" cy="692151"/>
          </a:xfrm>
        </p:spPr>
        <p:txBody>
          <a:bodyPr/>
          <a:lstStyle/>
          <a:p>
            <a:r>
              <a:rPr lang="en-US" altLang="zh-TW" sz="4800" cap="none" dirty="0"/>
              <a:t>CRL-H and </a:t>
            </a:r>
            <a:r>
              <a:rPr lang="en-US" altLang="zh-TW" sz="4800" cap="none" dirty="0" err="1"/>
              <a:t>AtomFS</a:t>
            </a:r>
            <a:r>
              <a:rPr lang="en-US" altLang="zh-TW" sz="4800" cap="none" dirty="0"/>
              <a:t> (8/8)</a:t>
            </a:r>
            <a:endParaRPr lang="zh-TW" altLang="en-US" sz="4800" cap="none" dirty="0"/>
          </a:p>
        </p:txBody>
      </p:sp>
      <p:pic>
        <p:nvPicPr>
          <p:cNvPr id="7" name="图片 6">
            <a:extLst>
              <a:ext uri="{FF2B5EF4-FFF2-40B4-BE49-F238E27FC236}">
                <a16:creationId xmlns:a16="http://schemas.microsoft.com/office/drawing/2014/main" id="{A2661767-38A4-F253-5016-971E5267D5DF}"/>
              </a:ext>
            </a:extLst>
          </p:cNvPr>
          <p:cNvPicPr>
            <a:picLocks noChangeAspect="1"/>
          </p:cNvPicPr>
          <p:nvPr/>
        </p:nvPicPr>
        <p:blipFill>
          <a:blip r:embed="rId3"/>
          <a:stretch>
            <a:fillRect/>
          </a:stretch>
        </p:blipFill>
        <p:spPr>
          <a:xfrm>
            <a:off x="253245" y="1503049"/>
            <a:ext cx="5250739" cy="2799290"/>
          </a:xfrm>
          <a:prstGeom prst="rect">
            <a:avLst/>
          </a:prstGeom>
        </p:spPr>
      </p:pic>
      <p:sp>
        <p:nvSpPr>
          <p:cNvPr id="9" name="文本框 8">
            <a:extLst>
              <a:ext uri="{FF2B5EF4-FFF2-40B4-BE49-F238E27FC236}">
                <a16:creationId xmlns:a16="http://schemas.microsoft.com/office/drawing/2014/main" id="{51973555-F702-8865-7FC4-80D26B273DD5}"/>
              </a:ext>
            </a:extLst>
          </p:cNvPr>
          <p:cNvSpPr txBox="1"/>
          <p:nvPr/>
        </p:nvSpPr>
        <p:spPr>
          <a:xfrm>
            <a:off x="184638" y="4583722"/>
            <a:ext cx="5424854" cy="1077218"/>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Figure 9. Application workloads. The figure shows the running time of different application workloads (i.e., git, compile, cp, </a:t>
            </a:r>
            <a:r>
              <a:rPr lang="en-US" altLang="zh-CN" sz="1600" dirty="0" err="1">
                <a:latin typeface="Times New Roman" panose="02020603050405020304" pitchFamily="18" charset="0"/>
                <a:cs typeface="Times New Roman" panose="02020603050405020304" pitchFamily="18" charset="0"/>
              </a:rPr>
              <a:t>ripgrep</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Largefile</a:t>
            </a:r>
            <a:r>
              <a:rPr lang="en-US" altLang="zh-CN" sz="1600" dirty="0">
                <a:latin typeface="Times New Roman" panose="02020603050405020304" pitchFamily="18" charset="0"/>
                <a:cs typeface="Times New Roman" panose="02020603050405020304" pitchFamily="18" charset="0"/>
              </a:rPr>
              <a:t> benchmark will operate on a big file with 10MB, and the </a:t>
            </a:r>
            <a:r>
              <a:rPr lang="en-US" altLang="zh-CN" sz="1600" dirty="0" err="1">
                <a:latin typeface="Times New Roman" panose="02020603050405020304" pitchFamily="18" charset="0"/>
                <a:cs typeface="Times New Roman" panose="02020603050405020304" pitchFamily="18" charset="0"/>
              </a:rPr>
              <a:t>smallfile</a:t>
            </a:r>
            <a:r>
              <a:rPr lang="en-US" altLang="zh-CN" sz="1600" dirty="0">
                <a:latin typeface="Times New Roman" panose="02020603050405020304" pitchFamily="18" charset="0"/>
                <a:cs typeface="Times New Roman" panose="02020603050405020304" pitchFamily="18" charset="0"/>
              </a:rPr>
              <a:t> operates on 10K files with 1KB size.</a:t>
            </a:r>
            <a:endParaRPr lang="zh-CN" altLang="en-US" sz="1600" dirty="0">
              <a:latin typeface="Times New Roman" panose="02020603050405020304" pitchFamily="18" charset="0"/>
              <a:cs typeface="Times New Roman" panose="02020603050405020304" pitchFamily="18" charset="0"/>
            </a:endParaRPr>
          </a:p>
        </p:txBody>
      </p:sp>
      <p:pic>
        <p:nvPicPr>
          <p:cNvPr id="11" name="图片 10">
            <a:extLst>
              <a:ext uri="{FF2B5EF4-FFF2-40B4-BE49-F238E27FC236}">
                <a16:creationId xmlns:a16="http://schemas.microsoft.com/office/drawing/2014/main" id="{4D46AF84-91C8-62FD-C29A-AAED3E6C8677}"/>
              </a:ext>
            </a:extLst>
          </p:cNvPr>
          <p:cNvPicPr>
            <a:picLocks noChangeAspect="1"/>
          </p:cNvPicPr>
          <p:nvPr/>
        </p:nvPicPr>
        <p:blipFill>
          <a:blip r:embed="rId4"/>
          <a:stretch>
            <a:fillRect/>
          </a:stretch>
        </p:blipFill>
        <p:spPr>
          <a:xfrm>
            <a:off x="5779476" y="1643309"/>
            <a:ext cx="6235156" cy="2377707"/>
          </a:xfrm>
          <a:prstGeom prst="rect">
            <a:avLst/>
          </a:prstGeom>
        </p:spPr>
      </p:pic>
      <p:sp>
        <p:nvSpPr>
          <p:cNvPr id="13" name="文本框 12">
            <a:extLst>
              <a:ext uri="{FF2B5EF4-FFF2-40B4-BE49-F238E27FC236}">
                <a16:creationId xmlns:a16="http://schemas.microsoft.com/office/drawing/2014/main" id="{A2E5764F-0C7A-EE52-7358-72E8B70D7FE6}"/>
              </a:ext>
            </a:extLst>
          </p:cNvPr>
          <p:cNvSpPr txBox="1"/>
          <p:nvPr/>
        </p:nvSpPr>
        <p:spPr>
          <a:xfrm>
            <a:off x="6708531" y="4583722"/>
            <a:ext cx="4859056" cy="830997"/>
          </a:xfrm>
          <a:prstGeom prst="rect">
            <a:avLst/>
          </a:prstGeom>
          <a:noFill/>
        </p:spPr>
        <p:txBody>
          <a:bodyPr wrap="square">
            <a:spAutoFit/>
          </a:bodyPr>
          <a:lstStyle/>
          <a:p>
            <a:r>
              <a:rPr lang="zh-CN" altLang="en-US" sz="1600" dirty="0">
                <a:latin typeface="Times New Roman" panose="02020603050405020304" pitchFamily="18" charset="0"/>
                <a:cs typeface="Times New Roman" panose="02020603050405020304" pitchFamily="18" charset="0"/>
              </a:rPr>
              <a:t>Figure </a:t>
            </a:r>
            <a:r>
              <a:rPr lang="en-US" altLang="zh-CN" sz="1600" dirty="0">
                <a:latin typeface="Times New Roman" panose="02020603050405020304" pitchFamily="18" charset="0"/>
                <a:cs typeface="Times New Roman" panose="02020603050405020304" pitchFamily="18" charset="0"/>
              </a:rPr>
              <a:t>10</a:t>
            </a:r>
            <a:r>
              <a:rPr lang="zh-CN" altLang="en-US" sz="1600" dirty="0">
                <a:latin typeface="Times New Roman" panose="02020603050405020304" pitchFamily="18" charset="0"/>
                <a:cs typeface="Times New Roman" panose="02020603050405020304" pitchFamily="18" charset="0"/>
              </a:rPr>
              <a:t>. Scalability of AtomFS. The overall scalability</a:t>
            </a:r>
          </a:p>
          <a:p>
            <a:r>
              <a:rPr lang="zh-CN" altLang="en-US" sz="1600" dirty="0">
                <a:latin typeface="Times New Roman" panose="02020603050405020304" pitchFamily="18" charset="0"/>
                <a:cs typeface="Times New Roman" panose="02020603050405020304" pitchFamily="18" charset="0"/>
              </a:rPr>
              <a:t>of AtomFS is better than the big-lock version of AtomFS</a:t>
            </a:r>
          </a:p>
          <a:p>
            <a:r>
              <a:rPr lang="zh-CN" altLang="en-US" sz="1600" dirty="0">
                <a:latin typeface="Times New Roman" panose="02020603050405020304" pitchFamily="18" charset="0"/>
                <a:cs typeface="Times New Roman" panose="02020603050405020304" pitchFamily="18" charset="0"/>
              </a:rPr>
              <a:t>and ext4.</a:t>
            </a:r>
          </a:p>
        </p:txBody>
      </p:sp>
    </p:spTree>
    <p:extLst>
      <p:ext uri="{BB962C8B-B14F-4D97-AF65-F5344CB8AC3E}">
        <p14:creationId xmlns:p14="http://schemas.microsoft.com/office/powerpoint/2010/main" val="22483983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72D38-6EA4-A9A5-A9C2-13A747B30AE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2C38764-3BBA-4EEE-2730-6487AAC5F1C8}"/>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5" name="灯片编号占位符 1">
            <a:extLst>
              <a:ext uri="{FF2B5EF4-FFF2-40B4-BE49-F238E27FC236}">
                <a16:creationId xmlns:a16="http://schemas.microsoft.com/office/drawing/2014/main" id="{7C075999-7995-50D0-296D-57D151EF6953}"/>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26</a:t>
            </a:fld>
            <a:endParaRPr lang="zh-TW" altLang="en-US"/>
          </a:p>
        </p:txBody>
      </p:sp>
      <p:sp>
        <p:nvSpPr>
          <p:cNvPr id="4" name="內容版面配置區 2">
            <a:extLst>
              <a:ext uri="{FF2B5EF4-FFF2-40B4-BE49-F238E27FC236}">
                <a16:creationId xmlns:a16="http://schemas.microsoft.com/office/drawing/2014/main" id="{CB9B212D-BD85-ECA1-561E-D36D4556E177}"/>
              </a:ext>
            </a:extLst>
          </p:cNvPr>
          <p:cNvSpPr txBox="1">
            <a:spLocks/>
          </p:cNvSpPr>
          <p:nvPr/>
        </p:nvSpPr>
        <p:spPr bwMode="auto">
          <a:xfrm>
            <a:off x="1317560" y="1125537"/>
            <a:ext cx="10270977" cy="35607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933" kern="0" dirty="0">
                <a:latin typeface="Times New Roman" panose="02020603050405020304" pitchFamily="18" charset="0"/>
                <a:cs typeface="Times New Roman" panose="02020603050405020304" pitchFamily="18" charset="0"/>
              </a:rPr>
              <a:t>Introduction (2 min)</a:t>
            </a:r>
            <a:endParaRPr lang="en-US" altLang="zh-TW" sz="2933" kern="0" dirty="0">
              <a:latin typeface="Times New Roman" panose="02020603050405020304" pitchFamily="18" charset="0"/>
              <a:cs typeface="Times New Roman" panose="02020603050405020304" pitchFamily="18" charset="0"/>
            </a:endParaRPr>
          </a:p>
          <a:p>
            <a:r>
              <a:rPr lang="en-US" altLang="zh-CN" sz="2933" kern="0" dirty="0">
                <a:latin typeface="Times New Roman" panose="02020603050405020304" pitchFamily="18" charset="0"/>
                <a:cs typeface="Times New Roman" panose="02020603050405020304" pitchFamily="18" charset="0"/>
              </a:rPr>
              <a:t>Background &amp; Motivation (3 min)</a:t>
            </a:r>
          </a:p>
          <a:p>
            <a:r>
              <a:rPr lang="en-US" altLang="zh-CN" sz="2933" kern="0" dirty="0">
                <a:latin typeface="Times New Roman" panose="02020603050405020304" pitchFamily="18" charset="0"/>
                <a:cs typeface="Times New Roman" panose="02020603050405020304" pitchFamily="18" charset="0"/>
              </a:rPr>
              <a:t>Proposed Methods &amp; Performance Evaluation (25 min)</a:t>
            </a:r>
          </a:p>
          <a:p>
            <a:pPr lvl="1"/>
            <a:r>
              <a:rPr lang="en-US" altLang="zh-CN" sz="2400" kern="0" dirty="0">
                <a:latin typeface="Times New Roman" panose="02020603050405020304" pitchFamily="18" charset="0"/>
                <a:cs typeface="Times New Roman" panose="02020603050405020304" pitchFamily="18" charset="0"/>
              </a:rPr>
              <a:t>FSCQ (8 min)</a:t>
            </a:r>
          </a:p>
          <a:p>
            <a:pPr lvl="1"/>
            <a:r>
              <a:rPr lang="en-US" altLang="zh-CN" sz="2400" kern="0" dirty="0">
                <a:latin typeface="Times New Roman" panose="02020603050405020304" pitchFamily="18" charset="0"/>
                <a:cs typeface="Times New Roman" panose="02020603050405020304" pitchFamily="18" charset="0"/>
              </a:rPr>
              <a:t>CRL-H and</a:t>
            </a:r>
            <a:r>
              <a:rPr lang="zh-CN" altLang="en-US" sz="2400" kern="0" dirty="0">
                <a:latin typeface="Times New Roman" panose="02020603050405020304" pitchFamily="18" charset="0"/>
                <a:cs typeface="Times New Roman" panose="02020603050405020304" pitchFamily="18" charset="0"/>
              </a:rPr>
              <a:t> </a:t>
            </a:r>
            <a:r>
              <a:rPr lang="en-US" altLang="zh-CN" sz="2400" kern="0" dirty="0" err="1">
                <a:latin typeface="Times New Roman" panose="02020603050405020304" pitchFamily="18" charset="0"/>
                <a:cs typeface="Times New Roman" panose="02020603050405020304" pitchFamily="18" charset="0"/>
              </a:rPr>
              <a:t>AtomFS</a:t>
            </a:r>
            <a:r>
              <a:rPr lang="en-US" altLang="zh-CN" sz="2400" kern="0" dirty="0">
                <a:latin typeface="Times New Roman" panose="02020603050405020304" pitchFamily="18" charset="0"/>
                <a:cs typeface="Times New Roman" panose="02020603050405020304" pitchFamily="18" charset="0"/>
              </a:rPr>
              <a:t> (8 min)</a:t>
            </a:r>
          </a:p>
          <a:p>
            <a:pPr lvl="1"/>
            <a:r>
              <a:rPr lang="en-US" altLang="zh-CN" sz="2400" kern="0" dirty="0" err="1">
                <a:solidFill>
                  <a:srgbClr val="FF0000"/>
                </a:solidFill>
                <a:latin typeface="Times New Roman" panose="02020603050405020304" pitchFamily="18" charset="0"/>
                <a:cs typeface="Times New Roman" panose="02020603050405020304" pitchFamily="18" charset="0"/>
              </a:rPr>
              <a:t>SysSpec</a:t>
            </a:r>
            <a:r>
              <a:rPr lang="en-US" altLang="zh-CN" sz="2400" kern="0" dirty="0">
                <a:solidFill>
                  <a:srgbClr val="FF0000"/>
                </a:solidFill>
                <a:latin typeface="Times New Roman" panose="02020603050405020304" pitchFamily="18" charset="0"/>
                <a:cs typeface="Times New Roman" panose="02020603050405020304" pitchFamily="18" charset="0"/>
              </a:rPr>
              <a:t> and </a:t>
            </a:r>
            <a:r>
              <a:rPr lang="en-US" altLang="zh-CN" sz="2400" kern="0" dirty="0" err="1">
                <a:solidFill>
                  <a:srgbClr val="FF0000"/>
                </a:solidFill>
                <a:latin typeface="Times New Roman" panose="02020603050405020304" pitchFamily="18" charset="0"/>
                <a:cs typeface="Times New Roman" panose="02020603050405020304" pitchFamily="18" charset="0"/>
              </a:rPr>
              <a:t>SpecFS</a:t>
            </a:r>
            <a:r>
              <a:rPr lang="en-US" altLang="zh-CN" sz="2400" kern="0" dirty="0">
                <a:solidFill>
                  <a:srgbClr val="FF0000"/>
                </a:solidFill>
                <a:latin typeface="Times New Roman" panose="02020603050405020304" pitchFamily="18" charset="0"/>
                <a:cs typeface="Times New Roman" panose="02020603050405020304" pitchFamily="18" charset="0"/>
              </a:rPr>
              <a:t> (9 min)</a:t>
            </a:r>
          </a:p>
          <a:p>
            <a:r>
              <a:rPr lang="en-US" altLang="zh-CN" sz="2933" kern="0" dirty="0">
                <a:latin typeface="Times New Roman" panose="02020603050405020304" pitchFamily="18" charset="0"/>
                <a:cs typeface="Times New Roman" panose="02020603050405020304" pitchFamily="18" charset="0"/>
              </a:rPr>
              <a:t>Conclusions (2 min)</a:t>
            </a:r>
          </a:p>
          <a:p>
            <a:r>
              <a:rPr lang="en-US" altLang="zh-CN" sz="2933" kern="0" dirty="0">
                <a:latin typeface="Times New Roman" panose="02020603050405020304" pitchFamily="18" charset="0"/>
                <a:cs typeface="Times New Roman" panose="02020603050405020304" pitchFamily="18" charset="0"/>
              </a:rPr>
              <a:t>Q &amp; A (5 min)</a:t>
            </a:r>
          </a:p>
        </p:txBody>
      </p:sp>
    </p:spTree>
    <p:extLst>
      <p:ext uri="{BB962C8B-B14F-4D97-AF65-F5344CB8AC3E}">
        <p14:creationId xmlns:p14="http://schemas.microsoft.com/office/powerpoint/2010/main" val="36249315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D337A3A8-A18E-BA84-C43F-B25DFE84EE7B}"/>
              </a:ext>
            </a:extLst>
          </p:cNvPr>
          <p:cNvSpPr>
            <a:spLocks noGrp="1"/>
          </p:cNvSpPr>
          <p:nvPr>
            <p:ph type="title"/>
          </p:nvPr>
        </p:nvSpPr>
        <p:spPr/>
        <p:txBody>
          <a:bodyPr/>
          <a:lstStyle/>
          <a:p>
            <a:r>
              <a:rPr lang="en-US" altLang="zh-CN" sz="4400" dirty="0"/>
              <a:t>SysSpec - Design Overview (1/14)</a:t>
            </a:r>
            <a:endParaRPr lang="zh-CN" altLang="en-US" sz="4400" dirty="0"/>
          </a:p>
        </p:txBody>
      </p:sp>
      <p:sp>
        <p:nvSpPr>
          <p:cNvPr id="4" name="灯片编号占位符 3">
            <a:extLst>
              <a:ext uri="{FF2B5EF4-FFF2-40B4-BE49-F238E27FC236}">
                <a16:creationId xmlns:a16="http://schemas.microsoft.com/office/drawing/2014/main" id="{4EC4D0DB-67CF-0B9C-BF5F-9682768896ED}"/>
              </a:ext>
            </a:extLst>
          </p:cNvPr>
          <p:cNvSpPr>
            <a:spLocks noGrp="1"/>
          </p:cNvSpPr>
          <p:nvPr>
            <p:ph type="sldNum" sz="quarter" idx="10"/>
          </p:nvPr>
        </p:nvSpPr>
        <p:spPr/>
        <p:txBody>
          <a:bodyPr/>
          <a:lstStyle/>
          <a:p>
            <a:fld id="{D9B6BDF2-6896-4B98-8776-C18582F63BA5}" type="slidenum">
              <a:rPr lang="zh-TW" altLang="en-US" smtClean="0"/>
              <a:pPr/>
              <a:t>27</a:t>
            </a:fld>
            <a:endParaRPr lang="zh-TW" altLang="en-US"/>
          </a:p>
        </p:txBody>
      </p:sp>
      <p:pic>
        <p:nvPicPr>
          <p:cNvPr id="3" name="图片 2">
            <a:extLst>
              <a:ext uri="{FF2B5EF4-FFF2-40B4-BE49-F238E27FC236}">
                <a16:creationId xmlns:a16="http://schemas.microsoft.com/office/drawing/2014/main" id="{5032E2BF-6E4A-DE81-3B7F-10CDED0550BC}"/>
              </a:ext>
            </a:extLst>
          </p:cNvPr>
          <p:cNvPicPr>
            <a:picLocks noChangeAspect="1"/>
          </p:cNvPicPr>
          <p:nvPr/>
        </p:nvPicPr>
        <p:blipFill>
          <a:blip r:embed="rId3"/>
          <a:stretch>
            <a:fillRect/>
          </a:stretch>
        </p:blipFill>
        <p:spPr>
          <a:xfrm>
            <a:off x="0" y="1063992"/>
            <a:ext cx="12192000" cy="4667885"/>
          </a:xfrm>
          <a:prstGeom prst="rect">
            <a:avLst/>
          </a:prstGeom>
        </p:spPr>
      </p:pic>
      <p:sp>
        <p:nvSpPr>
          <p:cNvPr id="6" name="文本框 5">
            <a:extLst>
              <a:ext uri="{FF2B5EF4-FFF2-40B4-BE49-F238E27FC236}">
                <a16:creationId xmlns:a16="http://schemas.microsoft.com/office/drawing/2014/main" id="{0A0AC858-9EB6-45A8-3BF7-593893BF19C7}"/>
              </a:ext>
            </a:extLst>
          </p:cNvPr>
          <p:cNvSpPr txBox="1"/>
          <p:nvPr/>
        </p:nvSpPr>
        <p:spPr>
          <a:xfrm>
            <a:off x="4501425" y="5726502"/>
            <a:ext cx="3189149" cy="338554"/>
          </a:xfrm>
          <a:prstGeom prst="rect">
            <a:avLst/>
          </a:prstGeom>
          <a:noFill/>
        </p:spPr>
        <p:txBody>
          <a:bodyPr wrap="square" rtlCol="0" anchor="ctr" anchorCtr="1">
            <a:spAutoFit/>
          </a:bodyPr>
          <a:lstStyle/>
          <a:p>
            <a:r>
              <a:rPr lang="en-US" altLang="zh-CN" sz="1600" dirty="0">
                <a:latin typeface="Times New Roman" panose="02020603050405020304" pitchFamily="18" charset="0"/>
                <a:ea typeface="標楷體" pitchFamily="65" charset="-120"/>
                <a:cs typeface="Times New Roman" panose="02020603050405020304" pitchFamily="18" charset="0"/>
              </a:rPr>
              <a:t>Figure 11: </a:t>
            </a:r>
            <a:r>
              <a:rPr lang="en-US" altLang="zh-CN" sz="1600" dirty="0" err="1">
                <a:latin typeface="Times New Roman" panose="02020603050405020304" pitchFamily="18" charset="0"/>
                <a:ea typeface="標楷體" pitchFamily="65" charset="-120"/>
                <a:cs typeface="Times New Roman" panose="02020603050405020304" pitchFamily="18" charset="0"/>
              </a:rPr>
              <a:t>SysSpec</a:t>
            </a:r>
            <a:r>
              <a:rPr lang="en-US" altLang="zh-CN" sz="1600" dirty="0">
                <a:latin typeface="Times New Roman" panose="02020603050405020304" pitchFamily="18" charset="0"/>
                <a:ea typeface="標楷體" pitchFamily="65" charset="-120"/>
                <a:cs typeface="Times New Roman" panose="02020603050405020304" pitchFamily="18" charset="0"/>
              </a:rPr>
              <a:t> design overview.</a:t>
            </a:r>
            <a:endParaRPr lang="zh-CN" altLang="en-US" sz="16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1575116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4CD2D-FCD7-9B1A-24BB-EAE6731BAEF8}"/>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8EB26800-C45D-81AD-315E-90493428576B}"/>
              </a:ext>
            </a:extLst>
          </p:cNvPr>
          <p:cNvSpPr>
            <a:spLocks noGrp="1"/>
          </p:cNvSpPr>
          <p:nvPr>
            <p:ph type="title"/>
          </p:nvPr>
        </p:nvSpPr>
        <p:spPr/>
        <p:txBody>
          <a:bodyPr/>
          <a:lstStyle/>
          <a:p>
            <a:r>
              <a:rPr lang="en-US" altLang="zh-CN" sz="4400" dirty="0"/>
              <a:t>SysSpec - Functionality Specification (2/14)</a:t>
            </a:r>
            <a:endParaRPr lang="zh-CN" altLang="en-US" sz="4400" dirty="0"/>
          </a:p>
        </p:txBody>
      </p:sp>
      <p:sp>
        <p:nvSpPr>
          <p:cNvPr id="4" name="灯片编号占位符 3">
            <a:extLst>
              <a:ext uri="{FF2B5EF4-FFF2-40B4-BE49-F238E27FC236}">
                <a16:creationId xmlns:a16="http://schemas.microsoft.com/office/drawing/2014/main" id="{2D496201-41F8-8620-0799-B7617BDF2F92}"/>
              </a:ext>
            </a:extLst>
          </p:cNvPr>
          <p:cNvSpPr>
            <a:spLocks noGrp="1"/>
          </p:cNvSpPr>
          <p:nvPr>
            <p:ph type="sldNum" sz="quarter" idx="10"/>
          </p:nvPr>
        </p:nvSpPr>
        <p:spPr/>
        <p:txBody>
          <a:bodyPr/>
          <a:lstStyle/>
          <a:p>
            <a:fld id="{D9B6BDF2-6896-4B98-8776-C18582F63BA5}" type="slidenum">
              <a:rPr lang="zh-TW" altLang="en-US" smtClean="0"/>
              <a:pPr/>
              <a:t>28</a:t>
            </a:fld>
            <a:endParaRPr lang="zh-TW" altLang="en-US"/>
          </a:p>
        </p:txBody>
      </p:sp>
      <p:sp>
        <p:nvSpPr>
          <p:cNvPr id="9" name="内容占位符 5">
            <a:extLst>
              <a:ext uri="{FF2B5EF4-FFF2-40B4-BE49-F238E27FC236}">
                <a16:creationId xmlns:a16="http://schemas.microsoft.com/office/drawing/2014/main" id="{8D336522-8842-DA03-582E-49911712F269}"/>
              </a:ext>
            </a:extLst>
          </p:cNvPr>
          <p:cNvSpPr txBox="1">
            <a:spLocks/>
          </p:cNvSpPr>
          <p:nvPr/>
        </p:nvSpPr>
        <p:spPr bwMode="auto">
          <a:xfrm>
            <a:off x="624995" y="1125537"/>
            <a:ext cx="5581841"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marL="0" indent="0">
              <a:buNone/>
            </a:pPr>
            <a:r>
              <a:rPr lang="en-US" altLang="zh-CN" sz="2400" dirty="0">
                <a:latin typeface="Times New Roman" panose="02020603050405020304" pitchFamily="18" charset="0"/>
                <a:cs typeface="Times New Roman" panose="02020603050405020304" pitchFamily="18" charset="0"/>
              </a:rPr>
              <a:t>Built on three components inspired by formal methods:</a:t>
            </a:r>
          </a:p>
          <a:p>
            <a:r>
              <a:rPr lang="en-US" altLang="zh-CN" sz="2400" dirty="0">
                <a:latin typeface="Times New Roman" panose="02020603050405020304" pitchFamily="18" charset="0"/>
                <a:cs typeface="Times New Roman" panose="02020603050405020304" pitchFamily="18" charset="0"/>
              </a:rPr>
              <a:t>Pre- and post-conditions following Hoare Logic define contractual obligations for each function.</a:t>
            </a:r>
          </a:p>
          <a:p>
            <a:r>
              <a:rPr lang="en-US" altLang="zh-CN" sz="2400" dirty="0">
                <a:latin typeface="Times New Roman" panose="02020603050405020304" pitchFamily="18" charset="0"/>
                <a:cs typeface="Times New Roman" panose="02020603050405020304" pitchFamily="18" charset="0"/>
              </a:rPr>
              <a:t>Invariants are properties that must hold true across all state transitions.</a:t>
            </a:r>
          </a:p>
          <a:p>
            <a:r>
              <a:rPr lang="en-US" altLang="zh-CN" sz="2400" dirty="0">
                <a:latin typeface="Times New Roman" panose="02020603050405020304" pitchFamily="18" charset="0"/>
                <a:cs typeface="Times New Roman" panose="02020603050405020304" pitchFamily="18" charset="0"/>
              </a:rPr>
              <a:t>System algorithm outlines high-level logic for achieving state transitions.</a:t>
            </a:r>
          </a:p>
          <a:p>
            <a:r>
              <a:rPr lang="en-US" altLang="zh-CN" sz="2400" dirty="0">
                <a:latin typeface="Times New Roman" panose="02020603050405020304" pitchFamily="18" charset="0"/>
                <a:cs typeface="Times New Roman" panose="02020603050405020304" pitchFamily="18" charset="0"/>
              </a:rPr>
              <a:t>Intent allows developers to inject NL high-level guidance to steer the LLM toward better implementation choices.</a:t>
            </a:r>
          </a:p>
          <a:p>
            <a:endParaRPr lang="en-US" altLang="zh-CN" sz="2400"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507F057A-4EC5-D7CF-8033-5F83B7C40731}"/>
              </a:ext>
            </a:extLst>
          </p:cNvPr>
          <p:cNvPicPr>
            <a:picLocks noChangeAspect="1"/>
          </p:cNvPicPr>
          <p:nvPr/>
        </p:nvPicPr>
        <p:blipFill>
          <a:blip r:embed="rId3"/>
          <a:stretch>
            <a:fillRect/>
          </a:stretch>
        </p:blipFill>
        <p:spPr>
          <a:xfrm>
            <a:off x="6751162" y="1399215"/>
            <a:ext cx="4713709" cy="2620749"/>
          </a:xfrm>
          <a:prstGeom prst="rect">
            <a:avLst/>
          </a:prstGeom>
        </p:spPr>
      </p:pic>
      <p:sp>
        <p:nvSpPr>
          <p:cNvPr id="2" name="文本框 1">
            <a:extLst>
              <a:ext uri="{FF2B5EF4-FFF2-40B4-BE49-F238E27FC236}">
                <a16:creationId xmlns:a16="http://schemas.microsoft.com/office/drawing/2014/main" id="{D58FE7E8-0265-732B-DCC9-972C3F2C21A8}"/>
              </a:ext>
            </a:extLst>
          </p:cNvPr>
          <p:cNvSpPr txBox="1"/>
          <p:nvPr/>
        </p:nvSpPr>
        <p:spPr>
          <a:xfrm>
            <a:off x="6751161" y="4105809"/>
            <a:ext cx="4713709" cy="584775"/>
          </a:xfrm>
          <a:prstGeom prst="rect">
            <a:avLst/>
          </a:prstGeom>
          <a:noFill/>
        </p:spPr>
        <p:txBody>
          <a:bodyPr wrap="square" rtlCol="0" anchor="ctr" anchorCtr="1">
            <a:spAutoFit/>
          </a:bodyPr>
          <a:lstStyle/>
          <a:p>
            <a:r>
              <a:rPr lang="en-US" altLang="zh-CN" sz="1600" dirty="0">
                <a:latin typeface="Times New Roman" panose="02020603050405020304" pitchFamily="18" charset="0"/>
                <a:ea typeface="標楷體" pitchFamily="65" charset="-120"/>
                <a:cs typeface="Times New Roman" panose="02020603050405020304" pitchFamily="18" charset="0"/>
              </a:rPr>
              <a:t>Figure 12: Simplified functionality </a:t>
            </a:r>
            <a:r>
              <a:rPr lang="en-US" altLang="zh-CN" sz="1600" dirty="0" err="1">
                <a:latin typeface="Times New Roman" panose="02020603050405020304" pitchFamily="18" charset="0"/>
                <a:ea typeface="標楷體" pitchFamily="65" charset="-120"/>
                <a:cs typeface="Times New Roman" panose="02020603050405020304" pitchFamily="18" charset="0"/>
              </a:rPr>
              <a:t>specificaiton</a:t>
            </a:r>
            <a:r>
              <a:rPr lang="en-US" altLang="zh-CN" sz="1600" dirty="0">
                <a:latin typeface="Times New Roman" panose="02020603050405020304" pitchFamily="18" charset="0"/>
                <a:ea typeface="標楷體" pitchFamily="65" charset="-120"/>
                <a:cs typeface="Times New Roman" panose="02020603050405020304" pitchFamily="18" charset="0"/>
              </a:rPr>
              <a:t> for </a:t>
            </a:r>
            <a:r>
              <a:rPr lang="en-US" altLang="zh-CN" sz="1600" dirty="0" err="1">
                <a:latin typeface="Times New Roman" panose="02020603050405020304" pitchFamily="18" charset="0"/>
                <a:ea typeface="標楷體" pitchFamily="65" charset="-120"/>
                <a:cs typeface="Times New Roman" panose="02020603050405020304" pitchFamily="18" charset="0"/>
              </a:rPr>
              <a:t>atomfs_ins</a:t>
            </a:r>
            <a:r>
              <a:rPr lang="en-US" altLang="zh-CN" sz="1600" dirty="0">
                <a:latin typeface="Times New Roman" panose="02020603050405020304" pitchFamily="18" charset="0"/>
                <a:ea typeface="標楷體" pitchFamily="65" charset="-120"/>
                <a:cs typeface="Times New Roman" panose="02020603050405020304" pitchFamily="18" charset="0"/>
              </a:rPr>
              <a:t>.</a:t>
            </a:r>
            <a:endParaRPr lang="zh-CN" altLang="en-US" sz="16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16081338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D4B98-3D0E-9513-011B-950FF5D2F9B0}"/>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C099E5C-B227-2B9C-34D4-48EEA03143C9}"/>
              </a:ext>
            </a:extLst>
          </p:cNvPr>
          <p:cNvSpPr>
            <a:spLocks noGrp="1"/>
          </p:cNvSpPr>
          <p:nvPr>
            <p:ph type="sldNum" sz="quarter" idx="10"/>
          </p:nvPr>
        </p:nvSpPr>
        <p:spPr/>
        <p:txBody>
          <a:bodyPr/>
          <a:lstStyle/>
          <a:p>
            <a:fld id="{D9B6BDF2-6896-4B98-8776-C18582F63BA5}" type="slidenum">
              <a:rPr lang="zh-TW" altLang="en-US" smtClean="0"/>
              <a:pPr/>
              <a:t>29</a:t>
            </a:fld>
            <a:endParaRPr lang="zh-TW" altLang="en-US"/>
          </a:p>
        </p:txBody>
      </p:sp>
      <p:sp>
        <p:nvSpPr>
          <p:cNvPr id="9" name="内容占位符 5">
            <a:extLst>
              <a:ext uri="{FF2B5EF4-FFF2-40B4-BE49-F238E27FC236}">
                <a16:creationId xmlns:a16="http://schemas.microsoft.com/office/drawing/2014/main" id="{011BE3ED-D221-EAD2-ECA9-EDCF1678EBE5}"/>
              </a:ext>
            </a:extLst>
          </p:cNvPr>
          <p:cNvSpPr txBox="1">
            <a:spLocks/>
          </p:cNvSpPr>
          <p:nvPr/>
        </p:nvSpPr>
        <p:spPr bwMode="auto">
          <a:xfrm>
            <a:off x="164708" y="1189729"/>
            <a:ext cx="6144019"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Aligning module design with two intrinsic properties of LLM reasoning.</a:t>
            </a:r>
          </a:p>
          <a:p>
            <a:r>
              <a:rPr lang="en-US" altLang="zh-CN" sz="2400" kern="0" dirty="0">
                <a:latin typeface="Times New Roman" panose="02020603050405020304" pitchFamily="18" charset="0"/>
                <a:cs typeface="Times New Roman" panose="02020603050405020304" pitchFamily="18" charset="0"/>
              </a:rPr>
              <a:t>1) Strict size constraints ensure each module fits entirely within the model’s context window.</a:t>
            </a:r>
          </a:p>
          <a:p>
            <a:r>
              <a:rPr lang="en-US" altLang="zh-CN" sz="2400" kern="0" dirty="0">
                <a:latin typeface="Times New Roman" panose="02020603050405020304" pitchFamily="18" charset="0"/>
                <a:cs typeface="Times New Roman" panose="02020603050405020304" pitchFamily="18" charset="0"/>
              </a:rPr>
              <a:t>2) Rely-Guarantee conditions from concurrent program verification.</a:t>
            </a:r>
          </a:p>
          <a:p>
            <a:r>
              <a:rPr lang="en-US" altLang="zh-CN" sz="2400" kern="0" dirty="0">
                <a:latin typeface="Times New Roman" panose="02020603050405020304" pitchFamily="18" charset="0"/>
                <a:cs typeface="Times New Roman" panose="02020603050405020304" pitchFamily="18" charset="0"/>
              </a:rPr>
              <a:t>Each module’s Rely conditions must be entailed by the Guarantees of its dependencies.</a:t>
            </a:r>
          </a:p>
          <a:p>
            <a:endParaRPr lang="en-US" altLang="zh-CN" sz="2400" kern="0" dirty="0">
              <a:latin typeface="Times New Roman" panose="02020603050405020304" pitchFamily="18" charset="0"/>
              <a:cs typeface="Times New Roman" panose="02020603050405020304" pitchFamily="18" charset="0"/>
            </a:endParaRPr>
          </a:p>
        </p:txBody>
      </p:sp>
      <p:sp>
        <p:nvSpPr>
          <p:cNvPr id="10" name="标题 4">
            <a:extLst>
              <a:ext uri="{FF2B5EF4-FFF2-40B4-BE49-F238E27FC236}">
                <a16:creationId xmlns:a16="http://schemas.microsoft.com/office/drawing/2014/main" id="{BBE4568A-49A8-5677-E1C4-EFDE101830D8}"/>
              </a:ext>
            </a:extLst>
          </p:cNvPr>
          <p:cNvSpPr>
            <a:spLocks noGrp="1"/>
          </p:cNvSpPr>
          <p:nvPr>
            <p:ph type="title"/>
          </p:nvPr>
        </p:nvSpPr>
        <p:spPr>
          <a:xfrm>
            <a:off x="1049867" y="144466"/>
            <a:ext cx="10517721" cy="692151"/>
          </a:xfrm>
        </p:spPr>
        <p:txBody>
          <a:bodyPr/>
          <a:lstStyle/>
          <a:p>
            <a:r>
              <a:rPr lang="en-US" altLang="zh-CN" sz="4400" dirty="0"/>
              <a:t>SysSpec - Modularity Specification (3/14)</a:t>
            </a:r>
            <a:endParaRPr lang="zh-CN" altLang="en-US" sz="4400" dirty="0"/>
          </a:p>
        </p:txBody>
      </p:sp>
      <p:pic>
        <p:nvPicPr>
          <p:cNvPr id="3" name="图片 2">
            <a:extLst>
              <a:ext uri="{FF2B5EF4-FFF2-40B4-BE49-F238E27FC236}">
                <a16:creationId xmlns:a16="http://schemas.microsoft.com/office/drawing/2014/main" id="{4BFB2283-9D1A-6C3C-54C3-6A694E093CD5}"/>
              </a:ext>
            </a:extLst>
          </p:cNvPr>
          <p:cNvPicPr>
            <a:picLocks noChangeAspect="1"/>
          </p:cNvPicPr>
          <p:nvPr/>
        </p:nvPicPr>
        <p:blipFill>
          <a:blip r:embed="rId3"/>
          <a:stretch>
            <a:fillRect/>
          </a:stretch>
        </p:blipFill>
        <p:spPr>
          <a:xfrm>
            <a:off x="6305648" y="1189729"/>
            <a:ext cx="5721644" cy="3587934"/>
          </a:xfrm>
          <a:prstGeom prst="rect">
            <a:avLst/>
          </a:prstGeom>
        </p:spPr>
      </p:pic>
      <p:sp>
        <p:nvSpPr>
          <p:cNvPr id="2" name="文本框 1">
            <a:extLst>
              <a:ext uri="{FF2B5EF4-FFF2-40B4-BE49-F238E27FC236}">
                <a16:creationId xmlns:a16="http://schemas.microsoft.com/office/drawing/2014/main" id="{16D9048E-56DE-13EE-F9F8-32F5AC4472E1}"/>
              </a:ext>
            </a:extLst>
          </p:cNvPr>
          <p:cNvSpPr txBox="1"/>
          <p:nvPr/>
        </p:nvSpPr>
        <p:spPr>
          <a:xfrm>
            <a:off x="6305648" y="4846846"/>
            <a:ext cx="5721644" cy="584775"/>
          </a:xfrm>
          <a:prstGeom prst="rect">
            <a:avLst/>
          </a:prstGeom>
          <a:noFill/>
        </p:spPr>
        <p:txBody>
          <a:bodyPr wrap="square" rtlCol="0" anchor="ctr" anchorCtr="1">
            <a:spAutoFit/>
          </a:bodyPr>
          <a:lstStyle/>
          <a:p>
            <a:r>
              <a:rPr lang="en-US" altLang="zh-CN" sz="1600" dirty="0">
                <a:latin typeface="Times New Roman" panose="02020603050405020304" pitchFamily="18" charset="0"/>
                <a:ea typeface="標楷體" pitchFamily="65" charset="-120"/>
                <a:cs typeface="Times New Roman" panose="02020603050405020304" pitchFamily="18" charset="0"/>
              </a:rPr>
              <a:t>Figure 13: </a:t>
            </a:r>
            <a:r>
              <a:rPr lang="en-US" altLang="zh-CN" sz="1600" b="1" dirty="0">
                <a:latin typeface="Times New Roman" panose="02020603050405020304" pitchFamily="18" charset="0"/>
                <a:ea typeface="標楷體" pitchFamily="65" charset="-120"/>
                <a:cs typeface="Times New Roman" panose="02020603050405020304" pitchFamily="18" charset="0"/>
              </a:rPr>
              <a:t>Rely-Guarantee specifications for </a:t>
            </a:r>
            <a:r>
              <a:rPr lang="en-US" altLang="zh-CN" sz="1600" b="1" dirty="0" err="1">
                <a:latin typeface="Times New Roman" panose="02020603050405020304" pitchFamily="18" charset="0"/>
                <a:ea typeface="標楷體" pitchFamily="65" charset="-120"/>
                <a:cs typeface="Times New Roman" panose="02020603050405020304" pitchFamily="18" charset="0"/>
              </a:rPr>
              <a:t>atomfs_ins</a:t>
            </a:r>
            <a:r>
              <a:rPr lang="en-US" altLang="zh-CN" sz="1600" b="1" dirty="0">
                <a:latin typeface="Times New Roman" panose="02020603050405020304" pitchFamily="18" charset="0"/>
                <a:ea typeface="標楷體" pitchFamily="65" charset="-120"/>
                <a:cs typeface="Times New Roman" panose="02020603050405020304" pitchFamily="18" charset="0"/>
              </a:rPr>
              <a:t>. </a:t>
            </a:r>
            <a:r>
              <a:rPr lang="en-US" altLang="zh-CN" sz="1600" dirty="0">
                <a:latin typeface="Times New Roman" panose="02020603050405020304" pitchFamily="18" charset="0"/>
                <a:ea typeface="標楷體" pitchFamily="65" charset="-120"/>
                <a:cs typeface="Times New Roman" panose="02020603050405020304" pitchFamily="18" charset="0"/>
              </a:rPr>
              <a:t>Both rely and guarantee conditions are simplified for clarity.</a:t>
            </a:r>
            <a:endParaRPr lang="zh-CN" altLang="en-US" sz="16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5820870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1646F-AB5D-8E67-C417-0B905C3D0218}"/>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C9555E3B-5B69-24BE-BC14-5A431692BC18}"/>
              </a:ext>
            </a:extLst>
          </p:cNvPr>
          <p:cNvSpPr>
            <a:spLocks noGrp="1"/>
          </p:cNvSpPr>
          <p:nvPr>
            <p:ph type="title"/>
          </p:nvPr>
        </p:nvSpPr>
        <p:spPr/>
        <p:txBody>
          <a:bodyPr/>
          <a:lstStyle/>
          <a:p>
            <a:r>
              <a:rPr lang="en-US" altLang="zh-CN" sz="4400" dirty="0"/>
              <a:t>SysSpec - Concurrency Specification (4/14)</a:t>
            </a:r>
            <a:endParaRPr lang="zh-CN" altLang="en-US" sz="4400" dirty="0"/>
          </a:p>
        </p:txBody>
      </p:sp>
      <p:sp>
        <p:nvSpPr>
          <p:cNvPr id="4" name="灯片编号占位符 3">
            <a:extLst>
              <a:ext uri="{FF2B5EF4-FFF2-40B4-BE49-F238E27FC236}">
                <a16:creationId xmlns:a16="http://schemas.microsoft.com/office/drawing/2014/main" id="{77F8066F-DFA9-57AF-AB07-0817B3075796}"/>
              </a:ext>
            </a:extLst>
          </p:cNvPr>
          <p:cNvSpPr>
            <a:spLocks noGrp="1"/>
          </p:cNvSpPr>
          <p:nvPr>
            <p:ph type="sldNum" sz="quarter" idx="10"/>
          </p:nvPr>
        </p:nvSpPr>
        <p:spPr/>
        <p:txBody>
          <a:bodyPr/>
          <a:lstStyle/>
          <a:p>
            <a:fld id="{D9B6BDF2-6896-4B98-8776-C18582F63BA5}" type="slidenum">
              <a:rPr lang="zh-TW" altLang="en-US" smtClean="0"/>
              <a:pPr/>
              <a:t>30</a:t>
            </a:fld>
            <a:endParaRPr lang="zh-TW" altLang="en-US"/>
          </a:p>
        </p:txBody>
      </p:sp>
      <p:sp>
        <p:nvSpPr>
          <p:cNvPr id="9" name="内容占位符 5">
            <a:extLst>
              <a:ext uri="{FF2B5EF4-FFF2-40B4-BE49-F238E27FC236}">
                <a16:creationId xmlns:a16="http://schemas.microsoft.com/office/drawing/2014/main" id="{D6FB0A24-E39C-B080-EF52-283538C73E70}"/>
              </a:ext>
            </a:extLst>
          </p:cNvPr>
          <p:cNvSpPr txBox="1">
            <a:spLocks/>
          </p:cNvSpPr>
          <p:nvPr/>
        </p:nvSpPr>
        <p:spPr bwMode="auto">
          <a:xfrm>
            <a:off x="170865" y="1131674"/>
            <a:ext cx="5471004"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Decouple concurrent logic from the functional logic:</a:t>
            </a:r>
          </a:p>
          <a:p>
            <a:r>
              <a:rPr lang="en-US" altLang="zh-CN" sz="2400" kern="0" dirty="0">
                <a:latin typeface="Times New Roman" panose="02020603050405020304" pitchFamily="18" charset="0"/>
                <a:cs typeface="Times New Roman" panose="02020603050405020304" pitchFamily="18" charset="0"/>
              </a:rPr>
              <a:t>First directs the LLM to generate primary functional code.</a:t>
            </a:r>
          </a:p>
          <a:p>
            <a:r>
              <a:rPr lang="en-US" altLang="zh-CN" sz="2400" kern="0" dirty="0">
                <a:latin typeface="Times New Roman" panose="02020603050405020304" pitchFamily="18" charset="0"/>
                <a:cs typeface="Times New Roman" panose="02020603050405020304" pitchFamily="18" charset="0"/>
              </a:rPr>
              <a:t>Second pass, using the dedicated concurrency specification to instrument the code with the required locking and other concurrent behaviors.</a:t>
            </a:r>
          </a:p>
        </p:txBody>
      </p:sp>
      <p:pic>
        <p:nvPicPr>
          <p:cNvPr id="3" name="图片 2">
            <a:extLst>
              <a:ext uri="{FF2B5EF4-FFF2-40B4-BE49-F238E27FC236}">
                <a16:creationId xmlns:a16="http://schemas.microsoft.com/office/drawing/2014/main" id="{4BA19FB2-DFEC-43B9-B31D-99FAF0F27CD9}"/>
              </a:ext>
            </a:extLst>
          </p:cNvPr>
          <p:cNvPicPr>
            <a:picLocks noChangeAspect="1"/>
          </p:cNvPicPr>
          <p:nvPr/>
        </p:nvPicPr>
        <p:blipFill>
          <a:blip r:embed="rId3"/>
          <a:stretch>
            <a:fillRect/>
          </a:stretch>
        </p:blipFill>
        <p:spPr>
          <a:xfrm>
            <a:off x="6096000" y="1196697"/>
            <a:ext cx="5643914" cy="3474723"/>
          </a:xfrm>
          <a:prstGeom prst="rect">
            <a:avLst/>
          </a:prstGeom>
        </p:spPr>
      </p:pic>
      <p:sp>
        <p:nvSpPr>
          <p:cNvPr id="2" name="文本框 1">
            <a:extLst>
              <a:ext uri="{FF2B5EF4-FFF2-40B4-BE49-F238E27FC236}">
                <a16:creationId xmlns:a16="http://schemas.microsoft.com/office/drawing/2014/main" id="{FE31139F-F7CE-9FF3-98B7-5BBA7483F47F}"/>
              </a:ext>
            </a:extLst>
          </p:cNvPr>
          <p:cNvSpPr txBox="1"/>
          <p:nvPr/>
        </p:nvSpPr>
        <p:spPr>
          <a:xfrm>
            <a:off x="6096000" y="4897842"/>
            <a:ext cx="5643914" cy="338554"/>
          </a:xfrm>
          <a:prstGeom prst="rect">
            <a:avLst/>
          </a:prstGeom>
          <a:noFill/>
        </p:spPr>
        <p:txBody>
          <a:bodyPr wrap="square" rtlCol="0" anchor="ctr" anchorCtr="1">
            <a:spAutoFit/>
          </a:bodyPr>
          <a:lstStyle/>
          <a:p>
            <a:r>
              <a:rPr lang="en-US" altLang="zh-CN" sz="1600" dirty="0">
                <a:latin typeface="Times New Roman" panose="02020603050405020304" pitchFamily="18" charset="0"/>
                <a:ea typeface="標楷體" pitchFamily="65" charset="-120"/>
                <a:cs typeface="Times New Roman" panose="02020603050405020304" pitchFamily="18" charset="0"/>
              </a:rPr>
              <a:t>Figure 14: Concurrency specifications for </a:t>
            </a:r>
            <a:r>
              <a:rPr lang="en-US" altLang="zh-CN" sz="1600" dirty="0" err="1">
                <a:latin typeface="Times New Roman" panose="02020603050405020304" pitchFamily="18" charset="0"/>
                <a:ea typeface="標楷體" pitchFamily="65" charset="-120"/>
                <a:cs typeface="Times New Roman" panose="02020603050405020304" pitchFamily="18" charset="0"/>
              </a:rPr>
              <a:t>atomfs_ins</a:t>
            </a:r>
            <a:r>
              <a:rPr lang="en-US" altLang="zh-CN" sz="1600" dirty="0">
                <a:latin typeface="Times New Roman" panose="02020603050405020304" pitchFamily="18" charset="0"/>
                <a:ea typeface="標楷體" pitchFamily="65" charset="-120"/>
                <a:cs typeface="Times New Roman" panose="02020603050405020304" pitchFamily="18" charset="0"/>
              </a:rPr>
              <a:t>.</a:t>
            </a:r>
            <a:endParaRPr lang="zh-CN" altLang="en-US" sz="16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30626176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DA8E047-0213-71C5-D865-70711FF7E6F0}"/>
              </a:ext>
            </a:extLst>
          </p:cNvPr>
          <p:cNvSpPr>
            <a:spLocks noGrp="1"/>
          </p:cNvSpPr>
          <p:nvPr>
            <p:ph type="sldNum" sz="quarter" idx="10"/>
          </p:nvPr>
        </p:nvSpPr>
        <p:spPr/>
        <p:txBody>
          <a:bodyPr/>
          <a:lstStyle/>
          <a:p>
            <a:fld id="{D9B6BDF2-6896-4B98-8776-C18582F63BA5}" type="slidenum">
              <a:rPr lang="zh-TW" altLang="en-US" smtClean="0"/>
              <a:pPr/>
              <a:t>31</a:t>
            </a:fld>
            <a:endParaRPr lang="zh-TW" altLang="en-US" dirty="0"/>
          </a:p>
        </p:txBody>
      </p:sp>
      <p:sp>
        <p:nvSpPr>
          <p:cNvPr id="5" name="标题 4">
            <a:extLst>
              <a:ext uri="{FF2B5EF4-FFF2-40B4-BE49-F238E27FC236}">
                <a16:creationId xmlns:a16="http://schemas.microsoft.com/office/drawing/2014/main" id="{2658B8FC-C325-F3FB-E0E2-D508A5D86A0F}"/>
              </a:ext>
            </a:extLst>
          </p:cNvPr>
          <p:cNvSpPr>
            <a:spLocks noGrp="1"/>
          </p:cNvSpPr>
          <p:nvPr>
            <p:ph type="title"/>
          </p:nvPr>
        </p:nvSpPr>
        <p:spPr>
          <a:xfrm>
            <a:off x="1049867" y="144466"/>
            <a:ext cx="10517721" cy="692151"/>
          </a:xfrm>
        </p:spPr>
        <p:txBody>
          <a:bodyPr/>
          <a:lstStyle/>
          <a:p>
            <a:r>
              <a:rPr lang="en-US" altLang="zh-CN" sz="4400" cap="none" dirty="0"/>
              <a:t>DAG-Structured Specification Patch (5/14)</a:t>
            </a:r>
            <a:endParaRPr lang="zh-CN" altLang="en-US" sz="4400" cap="none" dirty="0"/>
          </a:p>
        </p:txBody>
      </p:sp>
      <p:pic>
        <p:nvPicPr>
          <p:cNvPr id="3" name="图片 2">
            <a:extLst>
              <a:ext uri="{FF2B5EF4-FFF2-40B4-BE49-F238E27FC236}">
                <a16:creationId xmlns:a16="http://schemas.microsoft.com/office/drawing/2014/main" id="{365D4DF3-1EE7-6929-C90B-1B7BD1952BD9}"/>
              </a:ext>
            </a:extLst>
          </p:cNvPr>
          <p:cNvPicPr>
            <a:picLocks noChangeAspect="1"/>
          </p:cNvPicPr>
          <p:nvPr/>
        </p:nvPicPr>
        <p:blipFill>
          <a:blip r:embed="rId3"/>
          <a:stretch>
            <a:fillRect/>
          </a:stretch>
        </p:blipFill>
        <p:spPr>
          <a:xfrm>
            <a:off x="0" y="1068305"/>
            <a:ext cx="12192000" cy="4647746"/>
          </a:xfrm>
          <a:prstGeom prst="rect">
            <a:avLst/>
          </a:prstGeom>
        </p:spPr>
      </p:pic>
      <p:sp>
        <p:nvSpPr>
          <p:cNvPr id="8" name="文本框 7">
            <a:extLst>
              <a:ext uri="{FF2B5EF4-FFF2-40B4-BE49-F238E27FC236}">
                <a16:creationId xmlns:a16="http://schemas.microsoft.com/office/drawing/2014/main" id="{E1C15BB9-E3CF-2E86-9E59-547B483BC630}"/>
              </a:ext>
            </a:extLst>
          </p:cNvPr>
          <p:cNvSpPr txBox="1"/>
          <p:nvPr/>
        </p:nvSpPr>
        <p:spPr>
          <a:xfrm>
            <a:off x="373329" y="5564766"/>
            <a:ext cx="11445342" cy="584775"/>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Figure 15: Features implemented by </a:t>
            </a:r>
            <a:r>
              <a:rPr lang="en-US" altLang="zh-CN" sz="1600" dirty="0" err="1">
                <a:latin typeface="Times New Roman" panose="02020603050405020304" pitchFamily="18" charset="0"/>
                <a:cs typeface="Times New Roman" panose="02020603050405020304" pitchFamily="18" charset="0"/>
              </a:rPr>
              <a:t>SpecFS</a:t>
            </a:r>
            <a:r>
              <a:rPr lang="en-US" altLang="zh-CN" sz="1600" dirty="0">
                <a:latin typeface="Times New Roman" panose="02020603050405020304" pitchFamily="18" charset="0"/>
                <a:cs typeface="Times New Roman" panose="02020603050405020304" pitchFamily="18" charset="0"/>
              </a:rPr>
              <a:t>. For simplicity, a node in the figure may encompass multiple modules of specifications. “Root Identifier” indicates that this node is the root node, along with its associated logic.</a:t>
            </a:r>
            <a:endParaRPr lang="zh-CN"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91410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B3FABE39-5712-CE24-DE03-6A3EC40DE413}"/>
              </a:ext>
            </a:extLst>
          </p:cNvPr>
          <p:cNvSpPr>
            <a:spLocks noGrp="1"/>
          </p:cNvSpPr>
          <p:nvPr>
            <p:ph type="sldNum" sz="quarter" idx="10"/>
          </p:nvPr>
        </p:nvSpPr>
        <p:spPr/>
        <p:txBody>
          <a:bodyPr/>
          <a:lstStyle/>
          <a:p>
            <a:fld id="{D9B6BDF2-6896-4B98-8776-C18582F63BA5}" type="slidenum">
              <a:rPr lang="zh-TW" altLang="en-US" smtClean="0"/>
              <a:pPr/>
              <a:t>32</a:t>
            </a:fld>
            <a:endParaRPr lang="zh-TW" altLang="en-US" dirty="0"/>
          </a:p>
        </p:txBody>
      </p:sp>
      <p:sp>
        <p:nvSpPr>
          <p:cNvPr id="5" name="标题 4">
            <a:extLst>
              <a:ext uri="{FF2B5EF4-FFF2-40B4-BE49-F238E27FC236}">
                <a16:creationId xmlns:a16="http://schemas.microsoft.com/office/drawing/2014/main" id="{3F96B0A6-BFDD-673C-31EC-6CBE5B069CC6}"/>
              </a:ext>
            </a:extLst>
          </p:cNvPr>
          <p:cNvSpPr txBox="1">
            <a:spLocks/>
          </p:cNvSpPr>
          <p:nvPr/>
        </p:nvSpPr>
        <p:spPr bwMode="auto">
          <a:xfrm>
            <a:off x="1049867" y="70823"/>
            <a:ext cx="10517721" cy="6921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l" rtl="0" eaLnBrk="1" fontAlgn="base" hangingPunct="1">
              <a:spcBef>
                <a:spcPct val="0"/>
              </a:spcBef>
              <a:spcAft>
                <a:spcPct val="0"/>
              </a:spcAft>
              <a:defRPr kumimoji="1" sz="4267" b="1" cap="all">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a:lstStyle>
          <a:p>
            <a:r>
              <a:rPr lang="en-US" altLang="zh-CN" sz="4400" cap="none" dirty="0"/>
              <a:t>The SysSpec Toolchain </a:t>
            </a:r>
            <a:r>
              <a:rPr lang="en-US" altLang="zh-CN" sz="4400" kern="0" dirty="0"/>
              <a:t>(6/14)</a:t>
            </a:r>
            <a:endParaRPr lang="zh-CN" altLang="en-US" sz="4400" kern="0" dirty="0"/>
          </a:p>
        </p:txBody>
      </p:sp>
      <p:sp>
        <p:nvSpPr>
          <p:cNvPr id="6" name="内容占位符 5">
            <a:extLst>
              <a:ext uri="{FF2B5EF4-FFF2-40B4-BE49-F238E27FC236}">
                <a16:creationId xmlns:a16="http://schemas.microsoft.com/office/drawing/2014/main" id="{3CE98AEF-6163-B992-AE12-52EA73872F33}"/>
              </a:ext>
            </a:extLst>
          </p:cNvPr>
          <p:cNvSpPr txBox="1">
            <a:spLocks/>
          </p:cNvSpPr>
          <p:nvPr/>
        </p:nvSpPr>
        <p:spPr bwMode="auto">
          <a:xfrm>
            <a:off x="624995" y="1125537"/>
            <a:ext cx="10942593"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err="1">
                <a:latin typeface="Times New Roman" panose="02020603050405020304" pitchFamily="18" charset="0"/>
                <a:cs typeface="Times New Roman" panose="02020603050405020304" pitchFamily="18" charset="0"/>
              </a:rPr>
              <a:t>SpecCompiler</a:t>
            </a:r>
            <a:r>
              <a:rPr lang="en-US" altLang="zh-CN" sz="2400" kern="0" dirty="0">
                <a:latin typeface="Times New Roman" panose="02020603050405020304" pitchFamily="18" charset="0"/>
                <a:cs typeface="Times New Roman" panose="02020603050405020304" pitchFamily="18" charset="0"/>
              </a:rPr>
              <a:t>: Translates </a:t>
            </a:r>
            <a:r>
              <a:rPr lang="en-US" altLang="zh-CN" sz="2400" kern="0" dirty="0" err="1">
                <a:latin typeface="Times New Roman" panose="02020603050405020304" pitchFamily="18" charset="0"/>
                <a:cs typeface="Times New Roman" panose="02020603050405020304" pitchFamily="18" charset="0"/>
              </a:rPr>
              <a:t>SysSpec</a:t>
            </a:r>
            <a:r>
              <a:rPr lang="en-US" altLang="zh-CN" sz="2400" kern="0" dirty="0">
                <a:latin typeface="Times New Roman" panose="02020603050405020304" pitchFamily="18" charset="0"/>
                <a:cs typeface="Times New Roman" panose="02020603050405020304" pitchFamily="18" charset="0"/>
              </a:rPr>
              <a:t> into C code that can be compiled and deployed.</a:t>
            </a:r>
          </a:p>
          <a:p>
            <a:pPr lvl="1">
              <a:buFont typeface="Times New Roman" panose="02020603050405020304" pitchFamily="18" charset="0"/>
              <a:buChar char="–"/>
            </a:pPr>
            <a:r>
              <a:rPr lang="en-US" altLang="zh-CN" sz="2200" kern="0" dirty="0">
                <a:latin typeface="Times New Roman" panose="02020603050405020304" pitchFamily="18" charset="0"/>
                <a:cs typeface="Times New Roman" panose="02020603050405020304" pitchFamily="18" charset="0"/>
              </a:rPr>
              <a:t>Two-phase prompting. The generation difficulty is greatly reduced by writing logic first and then adding the necessary locking and concurrent behaviors.</a:t>
            </a:r>
          </a:p>
          <a:p>
            <a:pPr lvl="1">
              <a:buFont typeface="Times New Roman" panose="02020603050405020304" pitchFamily="18" charset="0"/>
              <a:buChar char="–"/>
            </a:pPr>
            <a:r>
              <a:rPr lang="en-US" altLang="zh-CN" sz="2200" kern="0" dirty="0" err="1">
                <a:latin typeface="Times New Roman" panose="02020603050405020304" pitchFamily="18" charset="0"/>
                <a:cs typeface="Times New Roman" panose="02020603050405020304" pitchFamily="18" charset="0"/>
              </a:rPr>
              <a:t>CodeGen</a:t>
            </a:r>
            <a:r>
              <a:rPr lang="en-US" altLang="zh-CN" sz="2200" kern="0" dirty="0">
                <a:latin typeface="Times New Roman" panose="02020603050405020304" pitchFamily="18" charset="0"/>
                <a:cs typeface="Times New Roman" panose="02020603050405020304" pitchFamily="18" charset="0"/>
              </a:rPr>
              <a:t> + </a:t>
            </a:r>
            <a:r>
              <a:rPr lang="en-US" altLang="zh-CN" sz="2200" kern="0" dirty="0" err="1">
                <a:latin typeface="Times New Roman" panose="02020603050405020304" pitchFamily="18" charset="0"/>
                <a:cs typeface="Times New Roman" panose="02020603050405020304" pitchFamily="18" charset="0"/>
              </a:rPr>
              <a:t>SpecEval</a:t>
            </a:r>
            <a:r>
              <a:rPr lang="en-US" altLang="zh-CN" sz="2200" kern="0" dirty="0">
                <a:latin typeface="Times New Roman" panose="02020603050405020304" pitchFamily="18" charset="0"/>
                <a:cs typeface="Times New Roman" panose="02020603050405020304" pitchFamily="18" charset="0"/>
              </a:rPr>
              <a:t>. </a:t>
            </a:r>
            <a:r>
              <a:rPr lang="en-US" altLang="zh-CN" sz="2200" kern="0" dirty="0" err="1">
                <a:latin typeface="Times New Roman" panose="02020603050405020304" pitchFamily="18" charset="0"/>
                <a:cs typeface="Times New Roman" panose="02020603050405020304" pitchFamily="18" charset="0"/>
              </a:rPr>
              <a:t>SpecEval</a:t>
            </a:r>
            <a:r>
              <a:rPr lang="en-US" altLang="zh-CN" sz="2200" kern="0" dirty="0">
                <a:latin typeface="Times New Roman" panose="02020603050405020304" pitchFamily="18" charset="0"/>
                <a:cs typeface="Times New Roman" panose="02020603050405020304" pitchFamily="18" charset="0"/>
              </a:rPr>
              <a:t> agent reviews the output against the specification. CodeGen agent retries.</a:t>
            </a:r>
          </a:p>
          <a:p>
            <a:r>
              <a:rPr lang="en-US" altLang="zh-CN" sz="2400" kern="0" dirty="0" err="1">
                <a:latin typeface="Times New Roman" panose="02020603050405020304" pitchFamily="18" charset="0"/>
                <a:cs typeface="Times New Roman" panose="02020603050405020304" pitchFamily="18" charset="0"/>
              </a:rPr>
              <a:t>SpecValidator</a:t>
            </a:r>
            <a:r>
              <a:rPr lang="en-US" altLang="zh-CN" sz="2400" kern="0" dirty="0">
                <a:latin typeface="Times New Roman" panose="02020603050405020304" pitchFamily="18" charset="0"/>
                <a:cs typeface="Times New Roman" panose="02020603050405020304" pitchFamily="18" charset="0"/>
              </a:rPr>
              <a:t>: Performs the final, holistic verification of the complete C code. </a:t>
            </a:r>
          </a:p>
          <a:p>
            <a:r>
              <a:rPr lang="en-US" altLang="zh-CN" sz="2400" kern="0" dirty="0" err="1">
                <a:latin typeface="Times New Roman" panose="02020603050405020304" pitchFamily="18" charset="0"/>
                <a:cs typeface="Times New Roman" panose="02020603050405020304" pitchFamily="18" charset="0"/>
              </a:rPr>
              <a:t>SpecAssistant</a:t>
            </a:r>
            <a:r>
              <a:rPr lang="en-US" altLang="zh-CN" sz="2400" kern="0" dirty="0">
                <a:latin typeface="Times New Roman" panose="02020603050405020304" pitchFamily="18" charset="0"/>
                <a:cs typeface="Times New Roman" panose="02020603050405020304" pitchFamily="18" charset="0"/>
              </a:rPr>
              <a:t>: </a:t>
            </a:r>
          </a:p>
          <a:p>
            <a:pPr lvl="1">
              <a:buSzPct val="70000"/>
              <a:buFont typeface="Times New Roman" panose="02020603050405020304" pitchFamily="18" charset="0"/>
              <a:buChar char="–"/>
            </a:pPr>
            <a:r>
              <a:rPr lang="en-US" altLang="zh-CN" sz="2200" kern="0" dirty="0">
                <a:latin typeface="Times New Roman" panose="02020603050405020304" pitchFamily="18" charset="0"/>
                <a:cs typeface="Times New Roman" panose="02020603050405020304" pitchFamily="18" charset="0"/>
              </a:rPr>
              <a:t>First validates and reformats to meet </a:t>
            </a:r>
            <a:r>
              <a:rPr lang="en-US" altLang="zh-CN" sz="2200" kern="0" dirty="0" err="1">
                <a:latin typeface="Times New Roman" panose="02020603050405020304" pitchFamily="18" charset="0"/>
                <a:cs typeface="Times New Roman" panose="02020603050405020304" pitchFamily="18" charset="0"/>
              </a:rPr>
              <a:t>SysSpec’s</a:t>
            </a:r>
            <a:r>
              <a:rPr lang="en-US" altLang="zh-CN" sz="2200" kern="0" dirty="0">
                <a:latin typeface="Times New Roman" panose="02020603050405020304" pitchFamily="18" charset="0"/>
                <a:cs typeface="Times New Roman" panose="02020603050405020304" pitchFamily="18" charset="0"/>
              </a:rPr>
              <a:t> syntax.</a:t>
            </a:r>
          </a:p>
          <a:p>
            <a:pPr lvl="1">
              <a:buSzPct val="70000"/>
              <a:buFont typeface="Times New Roman" panose="02020603050405020304" pitchFamily="18" charset="0"/>
              <a:buChar char="–"/>
            </a:pPr>
            <a:r>
              <a:rPr lang="en-US" altLang="zh-CN" sz="2200" kern="0" dirty="0">
                <a:latin typeface="Times New Roman" panose="02020603050405020304" pitchFamily="18" charset="0"/>
                <a:cs typeface="Times New Roman" panose="02020603050405020304" pitchFamily="18" charset="0"/>
              </a:rPr>
              <a:t>Enters an automated refinement loop.</a:t>
            </a:r>
          </a:p>
          <a:p>
            <a:pPr lvl="1">
              <a:buSzPct val="70000"/>
              <a:buFont typeface="Times New Roman" panose="02020603050405020304" pitchFamily="18" charset="0"/>
              <a:buChar char="–"/>
            </a:pPr>
            <a:r>
              <a:rPr lang="en-US" altLang="zh-CN" sz="2200" kern="0" dirty="0">
                <a:latin typeface="Times New Roman" panose="02020603050405020304" pitchFamily="18" charset="0"/>
                <a:cs typeface="Times New Roman" panose="02020603050405020304" pitchFamily="18" charset="0"/>
              </a:rPr>
              <a:t>On success, </a:t>
            </a:r>
            <a:r>
              <a:rPr lang="en-US" altLang="zh-CN" sz="2200" kern="0" dirty="0" err="1">
                <a:latin typeface="Times New Roman" panose="02020603050405020304" pitchFamily="18" charset="0"/>
                <a:cs typeface="Times New Roman" panose="02020603050405020304" pitchFamily="18" charset="0"/>
              </a:rPr>
              <a:t>SpecAssistant</a:t>
            </a:r>
            <a:r>
              <a:rPr lang="en-US" altLang="zh-CN" sz="2200" kern="0" dirty="0">
                <a:latin typeface="Times New Roman" panose="02020603050405020304" pitchFamily="18" charset="0"/>
                <a:cs typeface="Times New Roman" panose="02020603050405020304" pitchFamily="18" charset="0"/>
              </a:rPr>
              <a:t> provides with the refined specification and the C implementation.</a:t>
            </a:r>
          </a:p>
          <a:p>
            <a:pPr lvl="1">
              <a:buSzPct val="70000"/>
              <a:buFont typeface="Times New Roman" panose="02020603050405020304" pitchFamily="18" charset="0"/>
              <a:buChar char="–"/>
            </a:pPr>
            <a:r>
              <a:rPr lang="en-US" altLang="zh-CN" sz="2200" kern="0" dirty="0">
                <a:latin typeface="Times New Roman" panose="02020603050405020304" pitchFamily="18" charset="0"/>
                <a:cs typeface="Times New Roman" panose="02020603050405020304" pitchFamily="18" charset="0"/>
              </a:rPr>
              <a:t>On failure, returns the last attempted specification annotated with detailed diagnostics.</a:t>
            </a:r>
          </a:p>
          <a:p>
            <a:pPr>
              <a:buFont typeface="Times New Roman" panose="02020603050405020304" pitchFamily="18" charset="0"/>
              <a:buChar char="–"/>
            </a:pPr>
            <a:endParaRPr lang="en-US" altLang="zh-CN" sz="2733"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88755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68734-AF27-6811-0530-C600C088AF38}"/>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56BB6F95-ECAD-255D-541D-6603F75BBA9F}"/>
              </a:ext>
            </a:extLst>
          </p:cNvPr>
          <p:cNvSpPr>
            <a:spLocks noGrp="1"/>
          </p:cNvSpPr>
          <p:nvPr>
            <p:ph type="title"/>
          </p:nvPr>
        </p:nvSpPr>
        <p:spPr/>
        <p:txBody>
          <a:bodyPr/>
          <a:lstStyle/>
          <a:p>
            <a:r>
              <a:rPr lang="en-US" altLang="zh-CN" dirty="0" err="1"/>
              <a:t>SpecFS</a:t>
            </a:r>
            <a:r>
              <a:rPr lang="en-US" altLang="zh-CN" dirty="0"/>
              <a:t>: A Case for Generative FS (7/14)</a:t>
            </a:r>
            <a:endParaRPr lang="zh-CN" altLang="en-US" dirty="0"/>
          </a:p>
        </p:txBody>
      </p:sp>
      <p:sp>
        <p:nvSpPr>
          <p:cNvPr id="4" name="灯片编号占位符 3">
            <a:extLst>
              <a:ext uri="{FF2B5EF4-FFF2-40B4-BE49-F238E27FC236}">
                <a16:creationId xmlns:a16="http://schemas.microsoft.com/office/drawing/2014/main" id="{94D3E73F-891D-C7BD-9470-C8CCAB5C2534}"/>
              </a:ext>
            </a:extLst>
          </p:cNvPr>
          <p:cNvSpPr>
            <a:spLocks noGrp="1"/>
          </p:cNvSpPr>
          <p:nvPr>
            <p:ph type="sldNum" sz="quarter" idx="10"/>
          </p:nvPr>
        </p:nvSpPr>
        <p:spPr/>
        <p:txBody>
          <a:bodyPr/>
          <a:lstStyle/>
          <a:p>
            <a:fld id="{D9B6BDF2-6896-4B98-8776-C18582F63BA5}" type="slidenum">
              <a:rPr lang="zh-TW" altLang="en-US" smtClean="0"/>
              <a:pPr/>
              <a:t>33</a:t>
            </a:fld>
            <a:endParaRPr lang="zh-TW" altLang="en-US"/>
          </a:p>
        </p:txBody>
      </p:sp>
      <p:sp>
        <p:nvSpPr>
          <p:cNvPr id="9" name="内容占位符 5">
            <a:extLst>
              <a:ext uri="{FF2B5EF4-FFF2-40B4-BE49-F238E27FC236}">
                <a16:creationId xmlns:a16="http://schemas.microsoft.com/office/drawing/2014/main" id="{FD995578-8771-897C-2323-0F26F308EE16}"/>
              </a:ext>
            </a:extLst>
          </p:cNvPr>
          <p:cNvSpPr txBox="1">
            <a:spLocks/>
          </p:cNvSpPr>
          <p:nvPr/>
        </p:nvSpPr>
        <p:spPr bwMode="auto">
          <a:xfrm>
            <a:off x="624995" y="1125537"/>
            <a:ext cx="10517721"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Based on a prior formally verified file system, </a:t>
            </a:r>
            <a:r>
              <a:rPr lang="en-US" altLang="zh-CN" sz="2400" kern="0" dirty="0" err="1">
                <a:latin typeface="Times New Roman" panose="02020603050405020304" pitchFamily="18" charset="0"/>
                <a:cs typeface="Times New Roman" panose="02020603050405020304" pitchFamily="18" charset="0"/>
              </a:rPr>
              <a:t>AtomFS</a:t>
            </a:r>
            <a:r>
              <a:rPr lang="en-US" altLang="zh-CN" sz="2400" kern="0" dirty="0">
                <a:latin typeface="Times New Roman" panose="02020603050405020304" pitchFamily="18" charset="0"/>
                <a:cs typeface="Times New Roman" panose="02020603050405020304" pitchFamily="18" charset="0"/>
              </a:rPr>
              <a:t>.</a:t>
            </a:r>
          </a:p>
          <a:p>
            <a:pPr lvl="1"/>
            <a:r>
              <a:rPr lang="en-US" altLang="zh-CN" sz="2200" kern="0" dirty="0">
                <a:latin typeface="Times New Roman" panose="02020603050405020304" pitchFamily="18" charset="0"/>
                <a:cs typeface="Times New Roman" panose="02020603050405020304" pitchFamily="18" charset="0"/>
              </a:rPr>
              <a:t>Implement </a:t>
            </a:r>
            <a:r>
              <a:rPr lang="en-US" altLang="zh-CN" sz="2200" kern="0" dirty="0" err="1">
                <a:latin typeface="Times New Roman" panose="02020603050405020304" pitchFamily="18" charset="0"/>
                <a:cs typeface="Times New Roman" panose="02020603050405020304" pitchFamily="18" charset="0"/>
              </a:rPr>
              <a:t>AtomFS’s</a:t>
            </a:r>
            <a:r>
              <a:rPr lang="en-US" altLang="zh-CN" sz="2200" kern="0" dirty="0">
                <a:latin typeface="Times New Roman" panose="02020603050405020304" pitchFamily="18" charset="0"/>
                <a:cs typeface="Times New Roman" panose="02020603050405020304" pitchFamily="18" charset="0"/>
              </a:rPr>
              <a:t> high-level design with </a:t>
            </a:r>
            <a:r>
              <a:rPr lang="en-US" altLang="zh-CN" sz="2200" kern="0" dirty="0" err="1">
                <a:latin typeface="Times New Roman" panose="02020603050405020304" pitchFamily="18" charset="0"/>
                <a:cs typeface="Times New Roman" panose="02020603050405020304" pitchFamily="18" charset="0"/>
              </a:rPr>
              <a:t>SysSpec’s</a:t>
            </a:r>
            <a:r>
              <a:rPr lang="en-US" altLang="zh-CN" sz="2200" kern="0" dirty="0">
                <a:latin typeface="Times New Roman" panose="02020603050405020304" pitchFamily="18" charset="0"/>
                <a:cs typeface="Times New Roman" panose="02020603050405020304" pitchFamily="18" charset="0"/>
              </a:rPr>
              <a:t> specifications.</a:t>
            </a:r>
          </a:p>
          <a:p>
            <a:pPr lvl="1"/>
            <a:r>
              <a:rPr lang="en-US" altLang="zh-CN" sz="2200" kern="0" dirty="0" err="1">
                <a:latin typeface="Times New Roman" panose="02020603050405020304" pitchFamily="18" charset="0"/>
                <a:cs typeface="Times New Roman" panose="02020603050405020304" pitchFamily="18" charset="0"/>
              </a:rPr>
              <a:t>SpecFS</a:t>
            </a:r>
            <a:r>
              <a:rPr lang="en-US" altLang="zh-CN" sz="2200" kern="0" dirty="0">
                <a:latin typeface="Times New Roman" panose="02020603050405020304" pitchFamily="18" charset="0"/>
                <a:cs typeface="Times New Roman" panose="02020603050405020304" pitchFamily="18" charset="0"/>
              </a:rPr>
              <a:t> is organized into 45 distinct modules.</a:t>
            </a:r>
          </a:p>
          <a:p>
            <a:pPr lvl="1"/>
            <a:r>
              <a:rPr lang="en-US" altLang="zh-CN" sz="2200" kern="0" dirty="0">
                <a:latin typeface="Times New Roman" panose="02020603050405020304" pitchFamily="18" charset="0"/>
                <a:cs typeface="Times New Roman" panose="02020603050405020304" pitchFamily="18" charset="0"/>
              </a:rPr>
              <a:t>Supports a wide range of standard POSIX calls.</a:t>
            </a:r>
          </a:p>
          <a:p>
            <a:pPr lvl="1"/>
            <a:r>
              <a:rPr lang="en-US" altLang="zh-CN" sz="2200" kern="0" dirty="0">
                <a:latin typeface="Times New Roman" panose="02020603050405020304" pitchFamily="18" charset="0"/>
                <a:cs typeface="Times New Roman" panose="02020603050405020304" pitchFamily="18" charset="0"/>
              </a:rPr>
              <a:t>Correctness equivalent to that of </a:t>
            </a:r>
            <a:r>
              <a:rPr lang="en-US" altLang="zh-CN" sz="2200" kern="0" dirty="0" err="1">
                <a:latin typeface="Times New Roman" panose="02020603050405020304" pitchFamily="18" charset="0"/>
                <a:cs typeface="Times New Roman" panose="02020603050405020304" pitchFamily="18" charset="0"/>
              </a:rPr>
              <a:t>AtomFS</a:t>
            </a:r>
            <a:r>
              <a:rPr lang="en-US" altLang="zh-CN" sz="2200" kern="0" dirty="0">
                <a:latin typeface="Times New Roman" panose="02020603050405020304" pitchFamily="18" charset="0"/>
                <a:cs typeface="Times New Roman" panose="02020603050405020304" pitchFamily="18" charset="0"/>
              </a:rPr>
              <a:t>, failing only 64/754 test cases, all attributable to unimplemented functionality.</a:t>
            </a:r>
          </a:p>
        </p:txBody>
      </p:sp>
      <p:sp>
        <p:nvSpPr>
          <p:cNvPr id="3" name="内容占位符 5">
            <a:extLst>
              <a:ext uri="{FF2B5EF4-FFF2-40B4-BE49-F238E27FC236}">
                <a16:creationId xmlns:a16="http://schemas.microsoft.com/office/drawing/2014/main" id="{9AF42BC7-3A32-3EAE-A4A2-5969DD688648}"/>
              </a:ext>
            </a:extLst>
          </p:cNvPr>
          <p:cNvSpPr txBox="1">
            <a:spLocks/>
          </p:cNvSpPr>
          <p:nvPr/>
        </p:nvSpPr>
        <p:spPr bwMode="auto">
          <a:xfrm>
            <a:off x="624994" y="3573462"/>
            <a:ext cx="10517721" cy="256843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Comprises approximately 4,300 lines of code.</a:t>
            </a:r>
          </a:p>
          <a:p>
            <a:pPr lvl="1"/>
            <a:r>
              <a:rPr lang="en-US" altLang="zh-CN" sz="2200" kern="0" dirty="0">
                <a:latin typeface="Times New Roman" panose="02020603050405020304" pitchFamily="18" charset="0"/>
                <a:cs typeface="Times New Roman" panose="02020603050405020304" pitchFamily="18" charset="0"/>
              </a:rPr>
              <a:t>Ranks 42</a:t>
            </a:r>
            <a:r>
              <a:rPr lang="en-US" altLang="zh-CN" sz="2200" kern="0" baseline="30000" dirty="0">
                <a:latin typeface="Times New Roman" panose="02020603050405020304" pitchFamily="18" charset="0"/>
                <a:cs typeface="Times New Roman" panose="02020603050405020304" pitchFamily="18" charset="0"/>
              </a:rPr>
              <a:t>nd</a:t>
            </a:r>
            <a:r>
              <a:rPr lang="en-US" altLang="zh-CN" sz="2200" kern="0" dirty="0">
                <a:latin typeface="Times New Roman" panose="02020603050405020304" pitchFamily="18" charset="0"/>
                <a:cs typeface="Times New Roman" panose="02020603050405020304" pitchFamily="18" charset="0"/>
              </a:rPr>
              <a:t> among 82 file systems in the Linux 6.1.10 kernel.</a:t>
            </a:r>
          </a:p>
          <a:p>
            <a:r>
              <a:rPr lang="en-US" altLang="zh-CN" sz="2400" kern="0" dirty="0">
                <a:latin typeface="Times New Roman" panose="02020603050405020304" pitchFamily="18" charset="0"/>
                <a:cs typeface="Times New Roman" panose="02020603050405020304" pitchFamily="18" charset="0"/>
              </a:rPr>
              <a:t>Offering a trade-off between generation accuracy (strict </a:t>
            </a:r>
            <a:r>
              <a:rPr lang="en-US" altLang="zh-CN" sz="2400" kern="0" dirty="0" err="1">
                <a:latin typeface="Times New Roman" panose="02020603050405020304" pitchFamily="18" charset="0"/>
                <a:cs typeface="Times New Roman" panose="02020603050405020304" pitchFamily="18" charset="0"/>
              </a:rPr>
              <a:t>SysSpec</a:t>
            </a:r>
            <a:r>
              <a:rPr lang="en-US" altLang="zh-CN" sz="2400" kern="0" dirty="0">
                <a:latin typeface="Times New Roman" panose="02020603050405020304" pitchFamily="18" charset="0"/>
                <a:cs typeface="Times New Roman" panose="02020603050405020304" pitchFamily="18" charset="0"/>
              </a:rPr>
              <a:t>) and the use of simplified specification.</a:t>
            </a:r>
          </a:p>
          <a:p>
            <a:r>
              <a:rPr lang="en-US" altLang="zh-CN" sz="2400" kern="0" dirty="0">
                <a:latin typeface="Times New Roman" panose="02020603050405020304" pitchFamily="18" charset="0"/>
                <a:cs typeface="Times New Roman" panose="02020603050405020304" pitchFamily="18" charset="0"/>
              </a:rPr>
              <a:t>Most issues in </a:t>
            </a:r>
            <a:r>
              <a:rPr lang="en-US" altLang="zh-CN" sz="2400" kern="0" dirty="0" err="1">
                <a:latin typeface="Times New Roman" panose="02020603050405020304" pitchFamily="18" charset="0"/>
                <a:cs typeface="Times New Roman" panose="02020603050405020304" pitchFamily="18" charset="0"/>
              </a:rPr>
              <a:t>SpecFS</a:t>
            </a:r>
            <a:r>
              <a:rPr lang="en-US" altLang="zh-CN" sz="2400" kern="0" dirty="0">
                <a:latin typeface="Times New Roman" panose="02020603050405020304" pitchFamily="18" charset="0"/>
                <a:cs typeface="Times New Roman" panose="02020603050405020304" pitchFamily="18" charset="0"/>
              </a:rPr>
              <a:t> are diagnosed at the specification level.</a:t>
            </a:r>
          </a:p>
          <a:p>
            <a:pPr marL="457176" lvl="1" indent="0">
              <a:buNone/>
            </a:pPr>
            <a:endParaRPr lang="en-US" altLang="zh-CN" sz="2200" kern="0" dirty="0">
              <a:latin typeface="Times New Roman" panose="02020603050405020304" pitchFamily="18" charset="0"/>
              <a:cs typeface="Times New Roman" panose="02020603050405020304" pitchFamily="18" charset="0"/>
            </a:endParaRPr>
          </a:p>
          <a:p>
            <a:pPr lvl="1"/>
            <a:endParaRPr lang="en-US" altLang="zh-CN" sz="22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93630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FA860-3B17-C9EA-D458-5219A53240A4}"/>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028BB5F0-EFEB-9BA9-58FD-E82230FEE0A3}"/>
              </a:ext>
            </a:extLst>
          </p:cNvPr>
          <p:cNvSpPr>
            <a:spLocks noGrp="1"/>
          </p:cNvSpPr>
          <p:nvPr>
            <p:ph type="sldNum" sz="quarter" idx="10"/>
          </p:nvPr>
        </p:nvSpPr>
        <p:spPr/>
        <p:txBody>
          <a:bodyPr/>
          <a:lstStyle/>
          <a:p>
            <a:fld id="{D9B6BDF2-6896-4B98-8776-C18582F63BA5}" type="slidenum">
              <a:rPr lang="zh-TW" altLang="en-US" smtClean="0"/>
              <a:pPr/>
              <a:t>34</a:t>
            </a:fld>
            <a:endParaRPr lang="zh-TW" altLang="en-US"/>
          </a:p>
        </p:txBody>
      </p:sp>
      <p:sp>
        <p:nvSpPr>
          <p:cNvPr id="2" name="内容占位符 5">
            <a:extLst>
              <a:ext uri="{FF2B5EF4-FFF2-40B4-BE49-F238E27FC236}">
                <a16:creationId xmlns:a16="http://schemas.microsoft.com/office/drawing/2014/main" id="{FD10F49C-8280-C190-2F54-8F5A2F73ECC4}"/>
              </a:ext>
            </a:extLst>
          </p:cNvPr>
          <p:cNvSpPr txBox="1">
            <a:spLocks/>
          </p:cNvSpPr>
          <p:nvPr/>
        </p:nvSpPr>
        <p:spPr bwMode="auto">
          <a:xfrm>
            <a:off x="624995" y="1125538"/>
            <a:ext cx="10517721" cy="44275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Evolve the design of </a:t>
            </a:r>
            <a:r>
              <a:rPr lang="en-US" altLang="zh-CN" sz="2400" kern="0" dirty="0" err="1">
                <a:latin typeface="Times New Roman" panose="02020603050405020304" pitchFamily="18" charset="0"/>
                <a:cs typeface="Times New Roman" panose="02020603050405020304" pitchFamily="18" charset="0"/>
              </a:rPr>
              <a:t>SpecFS</a:t>
            </a:r>
            <a:r>
              <a:rPr lang="en-US" altLang="zh-CN" sz="2400" kern="0" dirty="0">
                <a:latin typeface="Times New Roman" panose="02020603050405020304" pitchFamily="18" charset="0"/>
                <a:cs typeface="Times New Roman" panose="02020603050405020304" pitchFamily="18" charset="0"/>
              </a:rPr>
              <a:t> with 10 well-known Ext4’s features using spec patches.</a:t>
            </a:r>
          </a:p>
          <a:p>
            <a:pPr lvl="1"/>
            <a:r>
              <a:rPr lang="en-US" altLang="zh-CN" sz="2200" kern="0" dirty="0">
                <a:latin typeface="Times New Roman" panose="02020603050405020304" pitchFamily="18" charset="0"/>
                <a:cs typeface="Times New Roman" panose="02020603050405020304" pitchFamily="18" charset="0"/>
              </a:rPr>
              <a:t>File structure modification.</a:t>
            </a:r>
          </a:p>
          <a:p>
            <a:pPr lvl="1"/>
            <a:r>
              <a:rPr lang="en-US" altLang="zh-CN" sz="2200" kern="0" dirty="0">
                <a:latin typeface="Times New Roman" panose="02020603050405020304" pitchFamily="18" charset="0"/>
                <a:cs typeface="Times New Roman" panose="02020603050405020304" pitchFamily="18" charset="0"/>
              </a:rPr>
              <a:t>Design update for existing operations.</a:t>
            </a:r>
          </a:p>
          <a:p>
            <a:pPr lvl="1"/>
            <a:r>
              <a:rPr lang="en-US" altLang="zh-CN" sz="2200" kern="0" dirty="0">
                <a:latin typeface="Times New Roman" panose="02020603050405020304" pitchFamily="18" charset="0"/>
                <a:cs typeface="Times New Roman" panose="02020603050405020304" pitchFamily="18" charset="0"/>
              </a:rPr>
              <a:t>New functionalities implementation with new operations.</a:t>
            </a:r>
          </a:p>
          <a:p>
            <a:pPr lvl="1"/>
            <a:r>
              <a:rPr lang="en-US" altLang="zh-CN" sz="2200" kern="0" dirty="0">
                <a:latin typeface="Times New Roman" panose="02020603050405020304" pitchFamily="18" charset="0"/>
                <a:cs typeface="Times New Roman" panose="02020603050405020304" pitchFamily="18" charset="0"/>
              </a:rPr>
              <a:t>Hyperparameters or metadata modification.</a:t>
            </a:r>
          </a:p>
        </p:txBody>
      </p:sp>
      <p:sp>
        <p:nvSpPr>
          <p:cNvPr id="7" name="标题 4">
            <a:extLst>
              <a:ext uri="{FF2B5EF4-FFF2-40B4-BE49-F238E27FC236}">
                <a16:creationId xmlns:a16="http://schemas.microsoft.com/office/drawing/2014/main" id="{DCA63807-DA64-CA6D-CFC8-86275323A8CB}"/>
              </a:ext>
            </a:extLst>
          </p:cNvPr>
          <p:cNvSpPr>
            <a:spLocks noGrp="1"/>
          </p:cNvSpPr>
          <p:nvPr>
            <p:ph type="title"/>
          </p:nvPr>
        </p:nvSpPr>
        <p:spPr>
          <a:xfrm>
            <a:off x="1049867" y="144466"/>
            <a:ext cx="10517721" cy="692151"/>
          </a:xfrm>
        </p:spPr>
        <p:txBody>
          <a:bodyPr/>
          <a:lstStyle/>
          <a:p>
            <a:r>
              <a:rPr lang="en-US" altLang="zh-CN" dirty="0" err="1"/>
              <a:t>SpecFS</a:t>
            </a:r>
            <a:r>
              <a:rPr lang="en-US" altLang="zh-CN" dirty="0"/>
              <a:t>: Case Study of Evolutions (8/14)</a:t>
            </a:r>
            <a:endParaRPr lang="zh-CN" altLang="en-US" dirty="0"/>
          </a:p>
        </p:txBody>
      </p:sp>
      <p:pic>
        <p:nvPicPr>
          <p:cNvPr id="10" name="图片 9">
            <a:extLst>
              <a:ext uri="{FF2B5EF4-FFF2-40B4-BE49-F238E27FC236}">
                <a16:creationId xmlns:a16="http://schemas.microsoft.com/office/drawing/2014/main" id="{A18E885B-A383-F684-1F39-DAF16EAF8A33}"/>
              </a:ext>
            </a:extLst>
          </p:cNvPr>
          <p:cNvPicPr>
            <a:picLocks noChangeAspect="1"/>
          </p:cNvPicPr>
          <p:nvPr/>
        </p:nvPicPr>
        <p:blipFill>
          <a:blip r:embed="rId3"/>
          <a:stretch>
            <a:fillRect/>
          </a:stretch>
        </p:blipFill>
        <p:spPr>
          <a:xfrm>
            <a:off x="108400" y="3557448"/>
            <a:ext cx="8522126" cy="2437416"/>
          </a:xfrm>
          <a:prstGeom prst="rect">
            <a:avLst/>
          </a:prstGeom>
        </p:spPr>
      </p:pic>
      <p:sp>
        <p:nvSpPr>
          <p:cNvPr id="5" name="文本框 4">
            <a:extLst>
              <a:ext uri="{FF2B5EF4-FFF2-40B4-BE49-F238E27FC236}">
                <a16:creationId xmlns:a16="http://schemas.microsoft.com/office/drawing/2014/main" id="{FAA7258F-9EBF-3AF6-920F-7B1397728CB9}"/>
              </a:ext>
            </a:extLst>
          </p:cNvPr>
          <p:cNvSpPr txBox="1"/>
          <p:nvPr/>
        </p:nvSpPr>
        <p:spPr>
          <a:xfrm>
            <a:off x="8873976" y="3626493"/>
            <a:ext cx="3078841" cy="2308324"/>
          </a:xfrm>
          <a:prstGeom prst="rect">
            <a:avLst/>
          </a:prstGeom>
          <a:noFill/>
        </p:spPr>
        <p:txBody>
          <a:bodyPr wrap="square" rtlCol="0" anchor="ctr" anchorCtr="1">
            <a:spAutoFit/>
          </a:bodyPr>
          <a:lstStyle/>
          <a:p>
            <a:r>
              <a:rPr lang="en-US" altLang="zh-CN" sz="1600" dirty="0">
                <a:latin typeface="Times New Roman" panose="02020603050405020304" pitchFamily="18" charset="0"/>
                <a:ea typeface="標楷體" pitchFamily="65" charset="-120"/>
                <a:cs typeface="Times New Roman" panose="02020603050405020304" pitchFamily="18" charset="0"/>
              </a:rPr>
              <a:t>Table 3: </a:t>
            </a:r>
            <a:r>
              <a:rPr lang="en-US" altLang="zh-CN" sz="1600" b="1" dirty="0">
                <a:latin typeface="Times New Roman" panose="02020603050405020304" pitchFamily="18" charset="0"/>
                <a:ea typeface="標楷體" pitchFamily="65" charset="-120"/>
                <a:cs typeface="Times New Roman" panose="02020603050405020304" pitchFamily="18" charset="0"/>
              </a:rPr>
              <a:t>Case study of applying Ext4 features to </a:t>
            </a:r>
            <a:r>
              <a:rPr lang="en-US" altLang="zh-CN" sz="1600" b="1" dirty="0" err="1">
                <a:latin typeface="Times New Roman" panose="02020603050405020304" pitchFamily="18" charset="0"/>
                <a:ea typeface="標楷體" pitchFamily="65" charset="-120"/>
                <a:cs typeface="Times New Roman" panose="02020603050405020304" pitchFamily="18" charset="0"/>
              </a:rPr>
              <a:t>AtomFS</a:t>
            </a:r>
            <a:r>
              <a:rPr lang="en-US" altLang="zh-CN" sz="1600" b="1" dirty="0">
                <a:latin typeface="Times New Roman" panose="02020603050405020304" pitchFamily="18" charset="0"/>
                <a:ea typeface="標楷體" pitchFamily="65" charset="-120"/>
                <a:cs typeface="Times New Roman" panose="02020603050405020304" pitchFamily="18" charset="0"/>
              </a:rPr>
              <a:t>. </a:t>
            </a:r>
            <a:r>
              <a:rPr lang="en-US" altLang="zh-CN" sz="1600" dirty="0">
                <a:latin typeface="Times New Roman" panose="02020603050405020304" pitchFamily="18" charset="0"/>
                <a:ea typeface="標楷體" pitchFamily="65" charset="-120"/>
                <a:cs typeface="Times New Roman" panose="02020603050405020304" pitchFamily="18" charset="0"/>
              </a:rPr>
              <a:t>“Propose” and “Launch“ indicate the year an feature proposed and the year it is merged. “Release“ indicates the Linux version with the feature. "Indirect Block" is an exception in the table, as it originates from ext2/3.</a:t>
            </a:r>
            <a:endParaRPr lang="zh-CN" altLang="en-US" sz="16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6865893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B9202-DD78-A31E-223E-E64420D7D796}"/>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48C0AA7B-8D2C-4522-99BC-8B42F3385CE0}"/>
              </a:ext>
            </a:extLst>
          </p:cNvPr>
          <p:cNvSpPr>
            <a:spLocks noGrp="1"/>
          </p:cNvSpPr>
          <p:nvPr>
            <p:ph type="sldNum" sz="quarter" idx="10"/>
          </p:nvPr>
        </p:nvSpPr>
        <p:spPr/>
        <p:txBody>
          <a:bodyPr/>
          <a:lstStyle/>
          <a:p>
            <a:fld id="{D9B6BDF2-6896-4B98-8776-C18582F63BA5}" type="slidenum">
              <a:rPr lang="zh-TW" altLang="en-US" smtClean="0"/>
              <a:pPr/>
              <a:t>35</a:t>
            </a:fld>
            <a:endParaRPr lang="zh-TW" altLang="en-US"/>
          </a:p>
        </p:txBody>
      </p:sp>
      <p:sp>
        <p:nvSpPr>
          <p:cNvPr id="2" name="内容占位符 5">
            <a:extLst>
              <a:ext uri="{FF2B5EF4-FFF2-40B4-BE49-F238E27FC236}">
                <a16:creationId xmlns:a16="http://schemas.microsoft.com/office/drawing/2014/main" id="{D072EB0B-332F-8FC4-6659-FBDBDC70CDDC}"/>
              </a:ext>
            </a:extLst>
          </p:cNvPr>
          <p:cNvSpPr txBox="1">
            <a:spLocks/>
          </p:cNvSpPr>
          <p:nvPr/>
        </p:nvSpPr>
        <p:spPr bwMode="auto">
          <a:xfrm>
            <a:off x="66537" y="1215231"/>
            <a:ext cx="6029464" cy="44275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Extent: Transforms the file structure from individual blocks into extents.</a:t>
            </a:r>
          </a:p>
          <a:p>
            <a:pPr lvl="1"/>
            <a:r>
              <a:rPr lang="en-US" altLang="zh-CN" sz="2200" kern="0" dirty="0">
                <a:latin typeface="Times New Roman" panose="02020603050405020304" pitchFamily="18" charset="0"/>
                <a:cs typeface="Times New Roman" panose="02020603050405020304" pitchFamily="18" charset="0"/>
              </a:rPr>
              <a:t>Defining new data structure for extent and </a:t>
            </a:r>
            <a:r>
              <a:rPr lang="en-US" altLang="zh-CN" sz="2200" kern="0" dirty="0" err="1">
                <a:latin typeface="Times New Roman" panose="02020603050405020304" pitchFamily="18" charset="0"/>
                <a:cs typeface="Times New Roman" panose="02020603050405020304" pitchFamily="18" charset="0"/>
              </a:rPr>
              <a:t>inode</a:t>
            </a:r>
            <a:r>
              <a:rPr lang="en-US" altLang="zh-CN" sz="2200" kern="0" dirty="0">
                <a:latin typeface="Times New Roman" panose="02020603050405020304" pitchFamily="18" charset="0"/>
                <a:cs typeface="Times New Roman" panose="02020603050405020304" pitchFamily="18" charset="0"/>
              </a:rPr>
              <a:t>.</a:t>
            </a:r>
          </a:p>
          <a:p>
            <a:pPr lvl="1"/>
            <a:r>
              <a:rPr lang="en-US" altLang="zh-CN" sz="2200" kern="0" dirty="0">
                <a:latin typeface="Times New Roman" panose="02020603050405020304" pitchFamily="18" charset="0"/>
                <a:cs typeface="Times New Roman" panose="02020603050405020304" pitchFamily="18" charset="0"/>
              </a:rPr>
              <a:t>Updates the low-level file operations in </a:t>
            </a:r>
            <a:r>
              <a:rPr lang="en-US" altLang="zh-CN" sz="2200" kern="0" dirty="0" err="1">
                <a:latin typeface="Times New Roman" panose="02020603050405020304" pitchFamily="18" charset="0"/>
                <a:cs typeface="Times New Roman" panose="02020603050405020304" pitchFamily="18" charset="0"/>
              </a:rPr>
              <a:t>lowlevel_file</a:t>
            </a:r>
            <a:r>
              <a:rPr lang="en-US" altLang="zh-CN" sz="2200" kern="0" dirty="0">
                <a:latin typeface="Times New Roman" panose="02020603050405020304" pitchFamily="18" charset="0"/>
                <a:cs typeface="Times New Roman" panose="02020603050405020304" pitchFamily="18" charset="0"/>
              </a:rPr>
              <a:t>.</a:t>
            </a:r>
          </a:p>
          <a:p>
            <a:pPr lvl="1"/>
            <a:r>
              <a:rPr lang="en-US" altLang="zh-CN" sz="2200" kern="0" dirty="0" err="1">
                <a:latin typeface="Times New Roman" panose="02020603050405020304" pitchFamily="18" charset="0"/>
                <a:cs typeface="Times New Roman" panose="02020603050405020304" pitchFamily="18" charset="0"/>
              </a:rPr>
              <a:t>inode_management</a:t>
            </a:r>
            <a:r>
              <a:rPr lang="en-US" altLang="zh-CN" sz="2200" kern="0" dirty="0">
                <a:latin typeface="Times New Roman" panose="02020603050405020304" pitchFamily="18" charset="0"/>
                <a:cs typeface="Times New Roman" panose="02020603050405020304" pitchFamily="18" charset="0"/>
              </a:rPr>
              <a:t> module is modified to invoke these new extent operations.</a:t>
            </a:r>
          </a:p>
        </p:txBody>
      </p:sp>
      <p:sp>
        <p:nvSpPr>
          <p:cNvPr id="7" name="标题 4">
            <a:extLst>
              <a:ext uri="{FF2B5EF4-FFF2-40B4-BE49-F238E27FC236}">
                <a16:creationId xmlns:a16="http://schemas.microsoft.com/office/drawing/2014/main" id="{62FF811C-AF5D-E75E-1F0A-90F2BDFA899E}"/>
              </a:ext>
            </a:extLst>
          </p:cNvPr>
          <p:cNvSpPr>
            <a:spLocks noGrp="1"/>
          </p:cNvSpPr>
          <p:nvPr>
            <p:ph type="title"/>
          </p:nvPr>
        </p:nvSpPr>
        <p:spPr>
          <a:xfrm>
            <a:off x="1049867" y="144466"/>
            <a:ext cx="10517721" cy="692151"/>
          </a:xfrm>
        </p:spPr>
        <p:txBody>
          <a:bodyPr/>
          <a:lstStyle/>
          <a:p>
            <a:r>
              <a:rPr lang="en-US" altLang="zh-CN" dirty="0" err="1"/>
              <a:t>SpecFS</a:t>
            </a:r>
            <a:r>
              <a:rPr lang="en-US" altLang="zh-CN" dirty="0"/>
              <a:t>: Case Study of Evolutions (9/14)</a:t>
            </a:r>
            <a:endParaRPr lang="zh-CN" altLang="en-US" dirty="0"/>
          </a:p>
        </p:txBody>
      </p:sp>
      <p:pic>
        <p:nvPicPr>
          <p:cNvPr id="5" name="图片 4">
            <a:extLst>
              <a:ext uri="{FF2B5EF4-FFF2-40B4-BE49-F238E27FC236}">
                <a16:creationId xmlns:a16="http://schemas.microsoft.com/office/drawing/2014/main" id="{780D508F-EFB8-583E-10D5-20FAAF303E6A}"/>
              </a:ext>
            </a:extLst>
          </p:cNvPr>
          <p:cNvPicPr>
            <a:picLocks noChangeAspect="1"/>
          </p:cNvPicPr>
          <p:nvPr/>
        </p:nvPicPr>
        <p:blipFill>
          <a:blip r:embed="rId3"/>
          <a:stretch>
            <a:fillRect/>
          </a:stretch>
        </p:blipFill>
        <p:spPr>
          <a:xfrm>
            <a:off x="6041766" y="2113937"/>
            <a:ext cx="6029464" cy="1246314"/>
          </a:xfrm>
          <a:prstGeom prst="rect">
            <a:avLst/>
          </a:prstGeom>
        </p:spPr>
      </p:pic>
      <p:sp>
        <p:nvSpPr>
          <p:cNvPr id="6" name="文本框 5">
            <a:extLst>
              <a:ext uri="{FF2B5EF4-FFF2-40B4-BE49-F238E27FC236}">
                <a16:creationId xmlns:a16="http://schemas.microsoft.com/office/drawing/2014/main" id="{9104E362-C702-9658-495E-DC33EC486D35}"/>
              </a:ext>
            </a:extLst>
          </p:cNvPr>
          <p:cNvSpPr txBox="1"/>
          <p:nvPr/>
        </p:nvSpPr>
        <p:spPr>
          <a:xfrm>
            <a:off x="6208510" y="3494867"/>
            <a:ext cx="5578453" cy="1077218"/>
          </a:xfrm>
          <a:prstGeom prst="rect">
            <a:avLst/>
          </a:prstGeom>
          <a:noFill/>
        </p:spPr>
        <p:txBody>
          <a:bodyPr wrap="square" rtlCol="0" anchor="ctr" anchorCtr="1">
            <a:spAutoFit/>
          </a:bodyPr>
          <a:lstStyle/>
          <a:p>
            <a:r>
              <a:rPr lang="en-US" altLang="zh-CN" sz="1600" dirty="0">
                <a:latin typeface="Times New Roman" panose="02020603050405020304" pitchFamily="18" charset="0"/>
                <a:ea typeface="標楷體" pitchFamily="65" charset="-120"/>
                <a:cs typeface="Times New Roman" panose="02020603050405020304" pitchFamily="18" charset="0"/>
              </a:rPr>
              <a:t>Figure 16: </a:t>
            </a:r>
            <a:r>
              <a:rPr lang="en-US" altLang="zh-CN" sz="1600" b="1" dirty="0">
                <a:latin typeface="Times New Roman" panose="02020603050405020304" pitchFamily="18" charset="0"/>
                <a:ea typeface="標楷體" pitchFamily="65" charset="-120"/>
                <a:cs typeface="Times New Roman" panose="02020603050405020304" pitchFamily="18" charset="0"/>
              </a:rPr>
              <a:t>DAG-Structured patch for implementing “Extent”.</a:t>
            </a:r>
            <a:r>
              <a:rPr lang="en-US" altLang="zh-CN" sz="1600" dirty="0">
                <a:latin typeface="Times New Roman" panose="02020603050405020304" pitchFamily="18" charset="0"/>
                <a:ea typeface="標楷體" pitchFamily="65" charset="-120"/>
                <a:cs typeface="Times New Roman" panose="02020603050405020304" pitchFamily="18" charset="0"/>
              </a:rPr>
              <a:t> For simplicity, a node in the figure may encompass multiple modules of specifications. “Root Identifier” indicates that this node is the root (along with its associated logic).</a:t>
            </a:r>
            <a:endParaRPr lang="zh-CN" altLang="en-US" sz="16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28067811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C440D-793C-1720-D30F-CBEB1847E77B}"/>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3E007ECD-E720-E84F-54B3-73EA89B27C48}"/>
              </a:ext>
            </a:extLst>
          </p:cNvPr>
          <p:cNvSpPr>
            <a:spLocks noGrp="1"/>
          </p:cNvSpPr>
          <p:nvPr>
            <p:ph type="title"/>
          </p:nvPr>
        </p:nvSpPr>
        <p:spPr/>
        <p:txBody>
          <a:bodyPr/>
          <a:lstStyle/>
          <a:p>
            <a:r>
              <a:rPr lang="en-US" altLang="zh-CN" dirty="0"/>
              <a:t>Evaluations on Accuracy (10/14)</a:t>
            </a:r>
            <a:endParaRPr lang="zh-CN" altLang="en-US" dirty="0"/>
          </a:p>
        </p:txBody>
      </p:sp>
      <p:sp>
        <p:nvSpPr>
          <p:cNvPr id="4" name="灯片编号占位符 3">
            <a:extLst>
              <a:ext uri="{FF2B5EF4-FFF2-40B4-BE49-F238E27FC236}">
                <a16:creationId xmlns:a16="http://schemas.microsoft.com/office/drawing/2014/main" id="{BAF51452-DBA3-3FC1-B1CC-BEE03898DE57}"/>
              </a:ext>
            </a:extLst>
          </p:cNvPr>
          <p:cNvSpPr>
            <a:spLocks noGrp="1"/>
          </p:cNvSpPr>
          <p:nvPr>
            <p:ph type="sldNum" sz="quarter" idx="10"/>
          </p:nvPr>
        </p:nvSpPr>
        <p:spPr/>
        <p:txBody>
          <a:bodyPr/>
          <a:lstStyle/>
          <a:p>
            <a:fld id="{D9B6BDF2-6896-4B98-8776-C18582F63BA5}" type="slidenum">
              <a:rPr lang="zh-TW" altLang="en-US" smtClean="0"/>
              <a:pPr/>
              <a:t>36</a:t>
            </a:fld>
            <a:endParaRPr lang="zh-TW" altLang="en-US"/>
          </a:p>
        </p:txBody>
      </p:sp>
      <p:sp>
        <p:nvSpPr>
          <p:cNvPr id="2" name="内容占位符 5">
            <a:extLst>
              <a:ext uri="{FF2B5EF4-FFF2-40B4-BE49-F238E27FC236}">
                <a16:creationId xmlns:a16="http://schemas.microsoft.com/office/drawing/2014/main" id="{F9E072B3-AD6D-A121-6270-4B0A6E73E49C}"/>
              </a:ext>
            </a:extLst>
          </p:cNvPr>
          <p:cNvSpPr txBox="1">
            <a:spLocks/>
          </p:cNvSpPr>
          <p:nvPr/>
        </p:nvSpPr>
        <p:spPr bwMode="auto">
          <a:xfrm>
            <a:off x="624996" y="1125538"/>
            <a:ext cx="5735716" cy="44275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Implements 45 </a:t>
            </a:r>
            <a:r>
              <a:rPr lang="en-US" altLang="zh-CN" sz="2400" kern="0" dirty="0" err="1">
                <a:latin typeface="Times New Roman" panose="02020603050405020304" pitchFamily="18" charset="0"/>
                <a:cs typeface="Times New Roman" panose="02020603050405020304" pitchFamily="18" charset="0"/>
              </a:rPr>
              <a:t>AtomFS</a:t>
            </a:r>
            <a:r>
              <a:rPr lang="en-US" altLang="zh-CN" sz="2400" kern="0" dirty="0">
                <a:latin typeface="Times New Roman" panose="02020603050405020304" pitchFamily="18" charset="0"/>
                <a:cs typeface="Times New Roman" panose="02020603050405020304" pitchFamily="18" charset="0"/>
              </a:rPr>
              <a:t> modules. Needs to pass all functional tests and manual equivalent inspection.</a:t>
            </a:r>
          </a:p>
          <a:p>
            <a:r>
              <a:rPr lang="en-US" altLang="zh-CN" sz="2400" kern="0" dirty="0">
                <a:latin typeface="Times New Roman" panose="02020603050405020304" pitchFamily="18" charset="0"/>
                <a:cs typeface="Times New Roman" panose="02020603050405020304" pitchFamily="18" charset="0"/>
              </a:rPr>
              <a:t>Normal baseline: file logic and dependency APIs.</a:t>
            </a:r>
          </a:p>
          <a:p>
            <a:r>
              <a:rPr lang="en-US" altLang="zh-CN" sz="2400" kern="0" dirty="0">
                <a:latin typeface="Times New Roman" panose="02020603050405020304" pitchFamily="18" charset="0"/>
                <a:cs typeface="Times New Roman" panose="02020603050405020304" pitchFamily="18" charset="0"/>
              </a:rPr>
              <a:t>Oracle baseline: Normal baseline + ground-truth code</a:t>
            </a:r>
          </a:p>
        </p:txBody>
      </p:sp>
      <p:pic>
        <p:nvPicPr>
          <p:cNvPr id="6" name="图片 5">
            <a:extLst>
              <a:ext uri="{FF2B5EF4-FFF2-40B4-BE49-F238E27FC236}">
                <a16:creationId xmlns:a16="http://schemas.microsoft.com/office/drawing/2014/main" id="{3032DF4E-A426-D147-098D-4FB7320AF190}"/>
              </a:ext>
            </a:extLst>
          </p:cNvPr>
          <p:cNvPicPr>
            <a:picLocks noChangeAspect="1"/>
          </p:cNvPicPr>
          <p:nvPr/>
        </p:nvPicPr>
        <p:blipFill>
          <a:blip r:embed="rId3"/>
          <a:stretch>
            <a:fillRect/>
          </a:stretch>
        </p:blipFill>
        <p:spPr>
          <a:xfrm>
            <a:off x="6347628" y="1468869"/>
            <a:ext cx="5520778" cy="2949708"/>
          </a:xfrm>
          <a:prstGeom prst="rect">
            <a:avLst/>
          </a:prstGeom>
        </p:spPr>
      </p:pic>
      <p:sp>
        <p:nvSpPr>
          <p:cNvPr id="8" name="文本框 7">
            <a:extLst>
              <a:ext uri="{FF2B5EF4-FFF2-40B4-BE49-F238E27FC236}">
                <a16:creationId xmlns:a16="http://schemas.microsoft.com/office/drawing/2014/main" id="{0AA5C918-012E-77ED-47E0-3EFFD8A07C96}"/>
              </a:ext>
            </a:extLst>
          </p:cNvPr>
          <p:cNvSpPr txBox="1"/>
          <p:nvPr/>
        </p:nvSpPr>
        <p:spPr>
          <a:xfrm>
            <a:off x="6971533" y="4512814"/>
            <a:ext cx="4743834" cy="584775"/>
          </a:xfrm>
          <a:prstGeom prst="rect">
            <a:avLst/>
          </a:prstGeom>
          <a:noFill/>
        </p:spPr>
        <p:txBody>
          <a:bodyPr wrap="square" rtlCol="0" anchor="ctr" anchorCtr="1">
            <a:spAutoFit/>
          </a:bodyPr>
          <a:lstStyle/>
          <a:p>
            <a:r>
              <a:rPr lang="en-US" altLang="zh-CN" sz="1600" dirty="0">
                <a:latin typeface="Times New Roman" panose="02020603050405020304" pitchFamily="18" charset="0"/>
                <a:ea typeface="標楷體" pitchFamily="65" charset="-120"/>
                <a:cs typeface="Times New Roman" panose="02020603050405020304" pitchFamily="18" charset="0"/>
              </a:rPr>
              <a:t>Figure 17: Accuracy results for implementing </a:t>
            </a:r>
            <a:r>
              <a:rPr lang="en-US" altLang="zh-CN" sz="1600" dirty="0" err="1">
                <a:latin typeface="Times New Roman" panose="02020603050405020304" pitchFamily="18" charset="0"/>
                <a:ea typeface="標楷體" pitchFamily="65" charset="-120"/>
                <a:cs typeface="Times New Roman" panose="02020603050405020304" pitchFamily="18" charset="0"/>
              </a:rPr>
              <a:t>AtomFS</a:t>
            </a:r>
            <a:r>
              <a:rPr lang="en-US" altLang="zh-CN" sz="1600" dirty="0">
                <a:latin typeface="Times New Roman" panose="02020603050405020304" pitchFamily="18" charset="0"/>
                <a:ea typeface="標楷體" pitchFamily="65" charset="-120"/>
                <a:cs typeface="Times New Roman" panose="02020603050405020304" pitchFamily="18" charset="0"/>
              </a:rPr>
              <a:t>. “GPT-5” in the figure denotes GPT-5-minimal.</a:t>
            </a:r>
            <a:endParaRPr lang="zh-CN" altLang="en-US" sz="16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19732026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D9D3B-E551-7B71-6240-2F9E05E7416F}"/>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88AF685C-FBE1-CB1D-80AD-CD16F6B5280A}"/>
              </a:ext>
            </a:extLst>
          </p:cNvPr>
          <p:cNvSpPr>
            <a:spLocks noGrp="1"/>
          </p:cNvSpPr>
          <p:nvPr>
            <p:ph type="sldNum" sz="quarter" idx="10"/>
          </p:nvPr>
        </p:nvSpPr>
        <p:spPr/>
        <p:txBody>
          <a:bodyPr/>
          <a:lstStyle/>
          <a:p>
            <a:fld id="{D9B6BDF2-6896-4B98-8776-C18582F63BA5}" type="slidenum">
              <a:rPr lang="zh-TW" altLang="en-US" smtClean="0"/>
              <a:pPr/>
              <a:t>37</a:t>
            </a:fld>
            <a:endParaRPr lang="zh-TW" altLang="en-US"/>
          </a:p>
        </p:txBody>
      </p:sp>
      <p:sp>
        <p:nvSpPr>
          <p:cNvPr id="2" name="内容占位符 5">
            <a:extLst>
              <a:ext uri="{FF2B5EF4-FFF2-40B4-BE49-F238E27FC236}">
                <a16:creationId xmlns:a16="http://schemas.microsoft.com/office/drawing/2014/main" id="{7CC70D3B-E5EF-FE83-1502-A1F53684C749}"/>
              </a:ext>
            </a:extLst>
          </p:cNvPr>
          <p:cNvSpPr txBox="1">
            <a:spLocks/>
          </p:cNvSpPr>
          <p:nvPr/>
        </p:nvSpPr>
        <p:spPr bwMode="auto">
          <a:xfrm>
            <a:off x="624996" y="1119981"/>
            <a:ext cx="5284852" cy="44275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Whether </a:t>
            </a:r>
            <a:r>
              <a:rPr lang="en-US" altLang="zh-CN" sz="2400" kern="0" dirty="0" err="1">
                <a:latin typeface="Times New Roman" panose="02020603050405020304" pitchFamily="18" charset="0"/>
                <a:cs typeface="Times New Roman" panose="02020603050405020304" pitchFamily="18" charset="0"/>
              </a:rPr>
              <a:t>SpecFS</a:t>
            </a:r>
            <a:r>
              <a:rPr lang="en-US" altLang="zh-CN" sz="2400" kern="0" dirty="0">
                <a:latin typeface="Times New Roman" panose="02020603050405020304" pitchFamily="18" charset="0"/>
                <a:cs typeface="Times New Roman" panose="02020603050405020304" pitchFamily="18" charset="0"/>
              </a:rPr>
              <a:t> can accurately generate the ten features in Table 1.</a:t>
            </a:r>
          </a:p>
          <a:p>
            <a:r>
              <a:rPr lang="en-US" altLang="zh-CN" sz="2400" kern="0" dirty="0" err="1">
                <a:latin typeface="Times New Roman" panose="02020603050405020304" pitchFamily="18" charset="0"/>
                <a:cs typeface="Times New Roman" panose="02020603050405020304" pitchFamily="18" charset="0"/>
              </a:rPr>
              <a:t>SpecFS</a:t>
            </a:r>
            <a:r>
              <a:rPr lang="en-US" altLang="zh-CN" sz="2400" kern="0" dirty="0">
                <a:latin typeface="Times New Roman" panose="02020603050405020304" pitchFamily="18" charset="0"/>
                <a:cs typeface="Times New Roman" panose="02020603050405020304" pitchFamily="18" charset="0"/>
              </a:rPr>
              <a:t> consistently exhibits higher generation accuracy across all evaluated models.</a:t>
            </a:r>
          </a:p>
          <a:p>
            <a:endParaRPr lang="en-US" altLang="zh-CN" sz="2400" kern="0" dirty="0">
              <a:latin typeface="Times New Roman" panose="02020603050405020304" pitchFamily="18" charset="0"/>
              <a:cs typeface="Times New Roman" panose="02020603050405020304" pitchFamily="18" charset="0"/>
            </a:endParaRPr>
          </a:p>
          <a:p>
            <a:r>
              <a:rPr lang="en-US" altLang="zh-CN" sz="2400" kern="0" dirty="0">
                <a:latin typeface="Times New Roman" panose="02020603050405020304" pitchFamily="18" charset="0"/>
                <a:cs typeface="Times New Roman" panose="02020603050405020304" pitchFamily="18" charset="0"/>
              </a:rPr>
              <a:t>Whether the concurrency specifications of SysSpec are general for various locking methods.</a:t>
            </a:r>
          </a:p>
          <a:p>
            <a:r>
              <a:rPr lang="en-US" altLang="zh-CN" sz="2400" kern="0" dirty="0" err="1">
                <a:latin typeface="Times New Roman" panose="02020603050405020304" pitchFamily="18" charset="0"/>
                <a:cs typeface="Times New Roman" panose="02020603050405020304" pitchFamily="18" charset="0"/>
              </a:rPr>
              <a:t>dentry_lookup</a:t>
            </a:r>
            <a:r>
              <a:rPr lang="en-US" altLang="zh-CN" sz="2400" kern="0" dirty="0">
                <a:latin typeface="Times New Roman" panose="02020603050405020304" pitchFamily="18" charset="0"/>
                <a:cs typeface="Times New Roman" panose="02020603050405020304" pitchFamily="18" charset="0"/>
              </a:rPr>
              <a:t> of Linux VFS layer: lock-free RCU for the hash list and spinlocks for individual </a:t>
            </a:r>
            <a:r>
              <a:rPr lang="en-US" altLang="zh-CN" sz="2400" kern="0" dirty="0" err="1">
                <a:latin typeface="Times New Roman" panose="02020603050405020304" pitchFamily="18" charset="0"/>
                <a:cs typeface="Times New Roman" panose="02020603050405020304" pitchFamily="18" charset="0"/>
              </a:rPr>
              <a:t>dentries</a:t>
            </a:r>
            <a:endParaRPr lang="en-US" altLang="zh-CN" sz="2400" kern="0" dirty="0">
              <a:latin typeface="Times New Roman" panose="02020603050405020304" pitchFamily="18" charset="0"/>
              <a:cs typeface="Times New Roman" panose="02020603050405020304" pitchFamily="18" charset="0"/>
            </a:endParaRPr>
          </a:p>
          <a:p>
            <a:endParaRPr lang="en-US" altLang="zh-CN" sz="2400" kern="0" dirty="0">
              <a:latin typeface="Times New Roman" panose="02020603050405020304" pitchFamily="18" charset="0"/>
              <a:cs typeface="Times New Roman" panose="02020603050405020304" pitchFamily="18" charset="0"/>
            </a:endParaRPr>
          </a:p>
        </p:txBody>
      </p:sp>
      <p:sp>
        <p:nvSpPr>
          <p:cNvPr id="7" name="标题 4">
            <a:extLst>
              <a:ext uri="{FF2B5EF4-FFF2-40B4-BE49-F238E27FC236}">
                <a16:creationId xmlns:a16="http://schemas.microsoft.com/office/drawing/2014/main" id="{95565059-9A4D-0557-D9C3-D4C2596E7823}"/>
              </a:ext>
            </a:extLst>
          </p:cNvPr>
          <p:cNvSpPr>
            <a:spLocks noGrp="1"/>
          </p:cNvSpPr>
          <p:nvPr>
            <p:ph type="title"/>
          </p:nvPr>
        </p:nvSpPr>
        <p:spPr>
          <a:xfrm>
            <a:off x="1049867" y="144466"/>
            <a:ext cx="10517721" cy="692151"/>
          </a:xfrm>
        </p:spPr>
        <p:txBody>
          <a:bodyPr/>
          <a:lstStyle/>
          <a:p>
            <a:r>
              <a:rPr lang="en-US" altLang="zh-CN" dirty="0"/>
              <a:t>Evaluations on Generalizability (11/14)</a:t>
            </a:r>
            <a:endParaRPr lang="zh-CN" altLang="en-US" dirty="0"/>
          </a:p>
        </p:txBody>
      </p:sp>
      <p:pic>
        <p:nvPicPr>
          <p:cNvPr id="5" name="图片 4">
            <a:extLst>
              <a:ext uri="{FF2B5EF4-FFF2-40B4-BE49-F238E27FC236}">
                <a16:creationId xmlns:a16="http://schemas.microsoft.com/office/drawing/2014/main" id="{2312D58C-9698-5491-DF90-72B823E8364A}"/>
              </a:ext>
            </a:extLst>
          </p:cNvPr>
          <p:cNvPicPr>
            <a:picLocks noChangeAspect="1"/>
          </p:cNvPicPr>
          <p:nvPr/>
        </p:nvPicPr>
        <p:blipFill>
          <a:blip r:embed="rId3"/>
          <a:stretch>
            <a:fillRect/>
          </a:stretch>
        </p:blipFill>
        <p:spPr>
          <a:xfrm>
            <a:off x="5909847" y="1436037"/>
            <a:ext cx="5780971" cy="3156097"/>
          </a:xfrm>
          <a:prstGeom prst="rect">
            <a:avLst/>
          </a:prstGeom>
        </p:spPr>
      </p:pic>
      <p:sp>
        <p:nvSpPr>
          <p:cNvPr id="6" name="文本框 5">
            <a:extLst>
              <a:ext uri="{FF2B5EF4-FFF2-40B4-BE49-F238E27FC236}">
                <a16:creationId xmlns:a16="http://schemas.microsoft.com/office/drawing/2014/main" id="{880FAFA5-BA70-2BBB-DEDE-E300553442D1}"/>
              </a:ext>
            </a:extLst>
          </p:cNvPr>
          <p:cNvSpPr txBox="1"/>
          <p:nvPr/>
        </p:nvSpPr>
        <p:spPr>
          <a:xfrm>
            <a:off x="6582677" y="4592134"/>
            <a:ext cx="5050680" cy="584775"/>
          </a:xfrm>
          <a:prstGeom prst="rect">
            <a:avLst/>
          </a:prstGeom>
          <a:noFill/>
        </p:spPr>
        <p:txBody>
          <a:bodyPr wrap="square" rtlCol="0" anchor="ctr" anchorCtr="1">
            <a:spAutoFit/>
          </a:bodyPr>
          <a:lstStyle/>
          <a:p>
            <a:r>
              <a:rPr lang="en-US" altLang="zh-CN" sz="1600" dirty="0">
                <a:latin typeface="Times New Roman" panose="02020603050405020304" pitchFamily="18" charset="0"/>
                <a:ea typeface="標楷體" pitchFamily="65" charset="-120"/>
                <a:cs typeface="Times New Roman" panose="02020603050405020304" pitchFamily="18" charset="0"/>
              </a:rPr>
              <a:t>Figure 18: Accuracy results for implementing new features. “GPT-5” in the figure denotes GPT-5-minimal.</a:t>
            </a:r>
            <a:endParaRPr lang="zh-CN" altLang="en-US" sz="16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41680587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3EE3C-3593-68A4-E6E5-E1F590A7BEED}"/>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A2684278-010C-58FA-8771-86EDD56BF41A}"/>
              </a:ext>
            </a:extLst>
          </p:cNvPr>
          <p:cNvSpPr>
            <a:spLocks noGrp="1"/>
          </p:cNvSpPr>
          <p:nvPr>
            <p:ph type="sldNum" sz="quarter" idx="10"/>
          </p:nvPr>
        </p:nvSpPr>
        <p:spPr/>
        <p:txBody>
          <a:bodyPr/>
          <a:lstStyle/>
          <a:p>
            <a:fld id="{D9B6BDF2-6896-4B98-8776-C18582F63BA5}" type="slidenum">
              <a:rPr lang="zh-TW" altLang="en-US" smtClean="0"/>
              <a:pPr/>
              <a:t>38</a:t>
            </a:fld>
            <a:endParaRPr lang="zh-TW" altLang="en-US"/>
          </a:p>
        </p:txBody>
      </p:sp>
      <p:sp>
        <p:nvSpPr>
          <p:cNvPr id="2" name="内容占位符 5">
            <a:extLst>
              <a:ext uri="{FF2B5EF4-FFF2-40B4-BE49-F238E27FC236}">
                <a16:creationId xmlns:a16="http://schemas.microsoft.com/office/drawing/2014/main" id="{6B7813D4-F7DE-FEB9-3E19-01839C47F1B7}"/>
              </a:ext>
            </a:extLst>
          </p:cNvPr>
          <p:cNvSpPr txBox="1">
            <a:spLocks/>
          </p:cNvSpPr>
          <p:nvPr/>
        </p:nvSpPr>
        <p:spPr bwMode="auto">
          <a:xfrm>
            <a:off x="624996" y="1119981"/>
            <a:ext cx="5419864" cy="44275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40 concurrency-agnostic modules and 5 thread-safe modules.</a:t>
            </a:r>
          </a:p>
          <a:p>
            <a:pPr lvl="1"/>
            <a:r>
              <a:rPr lang="en-US" altLang="zh-CN" sz="2200" kern="0" dirty="0">
                <a:latin typeface="Times New Roman" panose="02020603050405020304" pitchFamily="18" charset="0"/>
                <a:cs typeface="Times New Roman" panose="02020603050405020304" pitchFamily="18" charset="0"/>
              </a:rPr>
              <a:t>Functionality specification alone is insufficient (primarily due to interface mismatch).</a:t>
            </a:r>
          </a:p>
          <a:p>
            <a:pPr lvl="1"/>
            <a:r>
              <a:rPr lang="en-US" altLang="zh-CN" sz="2200" kern="0" dirty="0">
                <a:latin typeface="Times New Roman" panose="02020603050405020304" pitchFamily="18" charset="0"/>
                <a:cs typeface="Times New Roman" panose="02020603050405020304" pitchFamily="18" charset="0"/>
              </a:rPr>
              <a:t>Modularity specification effectively supports the generation of concurrency-agnostic modules.</a:t>
            </a:r>
          </a:p>
          <a:p>
            <a:pPr lvl="1"/>
            <a:r>
              <a:rPr lang="en-US" altLang="zh-CN" sz="2200" kern="0" dirty="0">
                <a:latin typeface="Times New Roman" panose="02020603050405020304" pitchFamily="18" charset="0"/>
                <a:cs typeface="Times New Roman" panose="02020603050405020304" pitchFamily="18" charset="0"/>
              </a:rPr>
              <a:t>Incorporating a concurrency specification and agent-supported self-validation to achieve correctness and robustness for thread-safe modules.</a:t>
            </a:r>
          </a:p>
        </p:txBody>
      </p:sp>
      <p:sp>
        <p:nvSpPr>
          <p:cNvPr id="7" name="标题 4">
            <a:extLst>
              <a:ext uri="{FF2B5EF4-FFF2-40B4-BE49-F238E27FC236}">
                <a16:creationId xmlns:a16="http://schemas.microsoft.com/office/drawing/2014/main" id="{5A08271A-3044-9F38-6442-9618BFAB4749}"/>
              </a:ext>
            </a:extLst>
          </p:cNvPr>
          <p:cNvSpPr>
            <a:spLocks noGrp="1"/>
          </p:cNvSpPr>
          <p:nvPr>
            <p:ph type="title"/>
          </p:nvPr>
        </p:nvSpPr>
        <p:spPr>
          <a:xfrm>
            <a:off x="1049867" y="144466"/>
            <a:ext cx="10517721" cy="692151"/>
          </a:xfrm>
        </p:spPr>
        <p:txBody>
          <a:bodyPr/>
          <a:lstStyle/>
          <a:p>
            <a:r>
              <a:rPr lang="en-US" altLang="zh-CN" dirty="0"/>
              <a:t>Ablation Study (12/14)</a:t>
            </a:r>
            <a:endParaRPr lang="zh-CN" altLang="en-US" dirty="0"/>
          </a:p>
        </p:txBody>
      </p:sp>
      <p:pic>
        <p:nvPicPr>
          <p:cNvPr id="5" name="图片 4">
            <a:extLst>
              <a:ext uri="{FF2B5EF4-FFF2-40B4-BE49-F238E27FC236}">
                <a16:creationId xmlns:a16="http://schemas.microsoft.com/office/drawing/2014/main" id="{22476EF2-0FA8-8767-18B9-995C01026593}"/>
              </a:ext>
            </a:extLst>
          </p:cNvPr>
          <p:cNvPicPr>
            <a:picLocks noChangeAspect="1"/>
          </p:cNvPicPr>
          <p:nvPr/>
        </p:nvPicPr>
        <p:blipFill>
          <a:blip r:embed="rId3"/>
          <a:stretch>
            <a:fillRect/>
          </a:stretch>
        </p:blipFill>
        <p:spPr>
          <a:xfrm>
            <a:off x="6096000" y="1940200"/>
            <a:ext cx="6044858" cy="1742778"/>
          </a:xfrm>
          <a:prstGeom prst="rect">
            <a:avLst/>
          </a:prstGeom>
        </p:spPr>
      </p:pic>
      <p:sp>
        <p:nvSpPr>
          <p:cNvPr id="8" name="文本框 7">
            <a:extLst>
              <a:ext uri="{FF2B5EF4-FFF2-40B4-BE49-F238E27FC236}">
                <a16:creationId xmlns:a16="http://schemas.microsoft.com/office/drawing/2014/main" id="{E48A17E4-C71F-4C75-7F2C-4F0CEA207C87}"/>
              </a:ext>
            </a:extLst>
          </p:cNvPr>
          <p:cNvSpPr txBox="1"/>
          <p:nvPr/>
        </p:nvSpPr>
        <p:spPr>
          <a:xfrm>
            <a:off x="6147143" y="3857307"/>
            <a:ext cx="6044858" cy="830997"/>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Table 4: </a:t>
            </a:r>
            <a:r>
              <a:rPr lang="en-US" altLang="zh-CN" sz="1600" b="1" dirty="0">
                <a:latin typeface="Times New Roman" panose="02020603050405020304" pitchFamily="18" charset="0"/>
                <a:cs typeface="Times New Roman" panose="02020603050405020304" pitchFamily="18" charset="0"/>
              </a:rPr>
              <a:t>Ablation study. </a:t>
            </a:r>
            <a:r>
              <a:rPr lang="en-US" altLang="zh-CN" sz="1600" dirty="0">
                <a:latin typeface="Times New Roman" panose="02020603050405020304" pitchFamily="18" charset="0"/>
                <a:cs typeface="Times New Roman" panose="02020603050405020304" pitchFamily="18" charset="0"/>
              </a:rPr>
              <a:t>The evaluation uses DeepSeek-V3.1 Reasoning. “Func”, “Mod”, “Con” means Functionality, Modularity and Concurrency Specifications respectively.</a:t>
            </a:r>
            <a:endParaRPr lang="zh-CN"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12526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CA354-3E4B-3ECC-488A-39C3D1F51598}"/>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D233EDBB-85AF-D34E-B9B1-B9EBE53468D6}"/>
              </a:ext>
            </a:extLst>
          </p:cNvPr>
          <p:cNvSpPr>
            <a:spLocks noGrp="1"/>
          </p:cNvSpPr>
          <p:nvPr>
            <p:ph type="sldNum" sz="quarter" idx="10"/>
          </p:nvPr>
        </p:nvSpPr>
        <p:spPr/>
        <p:txBody>
          <a:bodyPr/>
          <a:lstStyle/>
          <a:p>
            <a:fld id="{D9B6BDF2-6896-4B98-8776-C18582F63BA5}" type="slidenum">
              <a:rPr lang="zh-TW" altLang="en-US" smtClean="0"/>
              <a:pPr/>
              <a:t>39</a:t>
            </a:fld>
            <a:endParaRPr lang="zh-TW" altLang="en-US"/>
          </a:p>
        </p:txBody>
      </p:sp>
      <p:sp>
        <p:nvSpPr>
          <p:cNvPr id="7" name="标题 4">
            <a:extLst>
              <a:ext uri="{FF2B5EF4-FFF2-40B4-BE49-F238E27FC236}">
                <a16:creationId xmlns:a16="http://schemas.microsoft.com/office/drawing/2014/main" id="{99246EFB-0B62-A17A-D9DB-A824FC8C0077}"/>
              </a:ext>
            </a:extLst>
          </p:cNvPr>
          <p:cNvSpPr>
            <a:spLocks noGrp="1"/>
          </p:cNvSpPr>
          <p:nvPr>
            <p:ph type="title"/>
          </p:nvPr>
        </p:nvSpPr>
        <p:spPr>
          <a:xfrm>
            <a:off x="1049867" y="144466"/>
            <a:ext cx="10517721" cy="692151"/>
          </a:xfrm>
        </p:spPr>
        <p:txBody>
          <a:bodyPr/>
          <a:lstStyle/>
          <a:p>
            <a:r>
              <a:rPr lang="en-US" altLang="zh-CN" dirty="0"/>
              <a:t>Evaluations on Productivity (13/14)</a:t>
            </a:r>
            <a:endParaRPr lang="zh-CN" altLang="en-US" dirty="0"/>
          </a:p>
        </p:txBody>
      </p:sp>
      <p:sp>
        <p:nvSpPr>
          <p:cNvPr id="9" name="内容占位符 5">
            <a:extLst>
              <a:ext uri="{FF2B5EF4-FFF2-40B4-BE49-F238E27FC236}">
                <a16:creationId xmlns:a16="http://schemas.microsoft.com/office/drawing/2014/main" id="{DEEA3D93-7B77-F17A-447C-EFB92BF24B4B}"/>
              </a:ext>
            </a:extLst>
          </p:cNvPr>
          <p:cNvSpPr txBox="1">
            <a:spLocks/>
          </p:cNvSpPr>
          <p:nvPr/>
        </p:nvSpPr>
        <p:spPr bwMode="auto">
          <a:xfrm>
            <a:off x="299739" y="1177211"/>
            <a:ext cx="5419864" cy="44275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Improves the programming productivity of the two implementations by 3.0× and 5.4×.</a:t>
            </a:r>
          </a:p>
          <a:p>
            <a:pPr lvl="1"/>
            <a:r>
              <a:rPr lang="en-US" altLang="zh-CN" sz="2200" kern="0" dirty="0">
                <a:latin typeface="Times New Roman" panose="02020603050405020304" pitchFamily="18" charset="0"/>
                <a:cs typeface="Times New Roman" panose="02020603050405020304" pitchFamily="18" charset="0"/>
              </a:rPr>
              <a:t>“extent” feature for original </a:t>
            </a:r>
            <a:r>
              <a:rPr lang="en-US" altLang="zh-CN" sz="2200" kern="0" dirty="0" err="1">
                <a:latin typeface="Times New Roman" panose="02020603050405020304" pitchFamily="18" charset="0"/>
                <a:cs typeface="Times New Roman" panose="02020603050405020304" pitchFamily="18" charset="0"/>
              </a:rPr>
              <a:t>AtomFS</a:t>
            </a:r>
            <a:r>
              <a:rPr lang="en-US" altLang="zh-CN" sz="2200" kern="0" dirty="0">
                <a:latin typeface="Times New Roman" panose="02020603050405020304" pitchFamily="18" charset="0"/>
                <a:cs typeface="Times New Roman" panose="02020603050405020304" pitchFamily="18" charset="0"/>
              </a:rPr>
              <a:t>.</a:t>
            </a:r>
          </a:p>
          <a:p>
            <a:pPr lvl="1"/>
            <a:r>
              <a:rPr lang="en-US" altLang="zh-CN" sz="2200" kern="0" dirty="0">
                <a:latin typeface="Times New Roman" panose="02020603050405020304" pitchFamily="18" charset="0"/>
                <a:cs typeface="Times New Roman" panose="02020603050405020304" pitchFamily="18" charset="0"/>
              </a:rPr>
              <a:t>“rename” module of </a:t>
            </a:r>
            <a:r>
              <a:rPr lang="en-US" altLang="zh-CN" sz="2200" kern="0" dirty="0" err="1">
                <a:latin typeface="Times New Roman" panose="02020603050405020304" pitchFamily="18" charset="0"/>
                <a:cs typeface="Times New Roman" panose="02020603050405020304" pitchFamily="18" charset="0"/>
              </a:rPr>
              <a:t>AtomFS</a:t>
            </a:r>
            <a:r>
              <a:rPr lang="en-US" altLang="zh-CN" sz="2200" kern="0" dirty="0">
                <a:latin typeface="Times New Roman" panose="02020603050405020304" pitchFamily="18" charset="0"/>
                <a:cs typeface="Times New Roman" panose="02020603050405020304" pitchFamily="18" charset="0"/>
              </a:rPr>
              <a:t>.</a:t>
            </a:r>
          </a:p>
          <a:p>
            <a:r>
              <a:rPr lang="en-US" altLang="zh-CN" sz="2400" kern="0" dirty="0">
                <a:latin typeface="Times New Roman" panose="02020603050405020304" pitchFamily="18" charset="0"/>
                <a:cs typeface="Times New Roman" panose="02020603050405020304" pitchFamily="18" charset="0"/>
              </a:rPr>
              <a:t>Require fewer lines than corresponding C source code.</a:t>
            </a:r>
          </a:p>
          <a:p>
            <a:endParaRPr lang="en-US" altLang="zh-CN" sz="2733" kern="0" dirty="0">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D95555F8-3BBA-B982-C837-61BD2C9A08B7}"/>
              </a:ext>
            </a:extLst>
          </p:cNvPr>
          <p:cNvSpPr txBox="1"/>
          <p:nvPr/>
        </p:nvSpPr>
        <p:spPr>
          <a:xfrm>
            <a:off x="7709497" y="1177211"/>
            <a:ext cx="3056694" cy="338554"/>
          </a:xfrm>
          <a:prstGeom prst="rect">
            <a:avLst/>
          </a:prstGeom>
          <a:noFill/>
        </p:spPr>
        <p:txBody>
          <a:bodyPr wrap="square">
            <a:spAutoFit/>
          </a:bodyPr>
          <a:lstStyle/>
          <a:p>
            <a:r>
              <a:rPr lang="zh-CN" altLang="en-US" sz="1600" dirty="0">
                <a:latin typeface="Times New Roman" panose="02020603050405020304" pitchFamily="18" charset="0"/>
                <a:cs typeface="Times New Roman" panose="02020603050405020304" pitchFamily="18" charset="0"/>
              </a:rPr>
              <a:t>Table </a:t>
            </a:r>
            <a:r>
              <a:rPr lang="en-US" altLang="zh-CN" sz="1600" dirty="0">
                <a:latin typeface="Times New Roman" panose="02020603050405020304" pitchFamily="18" charset="0"/>
                <a:cs typeface="Times New Roman" panose="02020603050405020304" pitchFamily="18" charset="0"/>
              </a:rPr>
              <a:t>4</a:t>
            </a:r>
            <a:r>
              <a:rPr lang="zh-CN" altLang="en-US" sz="1600" dirty="0">
                <a:latin typeface="Times New Roman" panose="02020603050405020304" pitchFamily="18" charset="0"/>
                <a:cs typeface="Times New Roman" panose="02020603050405020304" pitchFamily="18" charset="0"/>
              </a:rPr>
              <a:t>: Productivity improvement</a:t>
            </a:r>
            <a:r>
              <a:rPr lang="en-US" altLang="zh-CN" sz="1600" dirty="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5130CF7F-7AF6-FE3E-5F1F-6313755A4E4E}"/>
              </a:ext>
            </a:extLst>
          </p:cNvPr>
          <p:cNvPicPr>
            <a:picLocks noChangeAspect="1"/>
          </p:cNvPicPr>
          <p:nvPr/>
        </p:nvPicPr>
        <p:blipFill>
          <a:blip r:embed="rId3"/>
          <a:stretch>
            <a:fillRect/>
          </a:stretch>
        </p:blipFill>
        <p:spPr>
          <a:xfrm>
            <a:off x="6064557" y="1667866"/>
            <a:ext cx="6086920" cy="2660984"/>
          </a:xfrm>
          <a:prstGeom prst="rect">
            <a:avLst/>
          </a:prstGeom>
        </p:spPr>
      </p:pic>
      <p:sp>
        <p:nvSpPr>
          <p:cNvPr id="10" name="文本框 9">
            <a:extLst>
              <a:ext uri="{FF2B5EF4-FFF2-40B4-BE49-F238E27FC236}">
                <a16:creationId xmlns:a16="http://schemas.microsoft.com/office/drawing/2014/main" id="{FF208258-567A-CFB4-710E-543D0A301714}"/>
              </a:ext>
            </a:extLst>
          </p:cNvPr>
          <p:cNvSpPr txBox="1"/>
          <p:nvPr/>
        </p:nvSpPr>
        <p:spPr>
          <a:xfrm>
            <a:off x="6234056" y="4328850"/>
            <a:ext cx="5917421" cy="1815882"/>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Figure 19: Lines of code comparison between specification and</a:t>
            </a:r>
          </a:p>
          <a:p>
            <a:r>
              <a:rPr lang="en-US" altLang="zh-CN" sz="1600" dirty="0">
                <a:latin typeface="Times New Roman" panose="02020603050405020304" pitchFamily="18" charset="0"/>
                <a:cs typeface="Times New Roman" panose="02020603050405020304" pitchFamily="18" charset="0"/>
              </a:rPr>
              <a:t>source code. The results contain six basic logical layers of </a:t>
            </a:r>
            <a:r>
              <a:rPr lang="en-US" altLang="zh-CN" sz="1600" dirty="0" err="1">
                <a:latin typeface="Times New Roman" panose="02020603050405020304" pitchFamily="18" charset="0"/>
                <a:cs typeface="Times New Roman" panose="02020603050405020304" pitchFamily="18" charset="0"/>
              </a:rPr>
              <a:t>AtomFS</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and ten new features in Table 3. The abbreviations are as follows.</a:t>
            </a:r>
          </a:p>
          <a:p>
            <a:r>
              <a:rPr lang="en-US" altLang="zh-CN" sz="1600" dirty="0">
                <a:latin typeface="Times New Roman" panose="02020603050405020304" pitchFamily="18" charset="0"/>
                <a:cs typeface="Times New Roman" panose="02020603050405020304" pitchFamily="18" charset="0"/>
              </a:rPr>
              <a:t>IA: Interface Auxiliary; INTF: Interface; Util: Utility; IB: Indirect</a:t>
            </a:r>
          </a:p>
          <a:p>
            <a:r>
              <a:rPr lang="en-US" altLang="zh-CN" sz="1600" dirty="0">
                <a:latin typeface="Times New Roman" panose="02020603050405020304" pitchFamily="18" charset="0"/>
                <a:cs typeface="Times New Roman" panose="02020603050405020304" pitchFamily="18" charset="0"/>
              </a:rPr>
              <a:t>Block; ID: Inline Data; Ext: Extent; PA: Pre-Allocation; RBT:</a:t>
            </a:r>
          </a:p>
          <a:p>
            <a:r>
              <a:rPr lang="en-US" altLang="zh-CN" sz="1600" dirty="0" err="1">
                <a:latin typeface="Times New Roman" panose="02020603050405020304" pitchFamily="18" charset="0"/>
                <a:cs typeface="Times New Roman" panose="02020603050405020304" pitchFamily="18" charset="0"/>
              </a:rPr>
              <a:t>rbtree</a:t>
            </a:r>
            <a:r>
              <a:rPr lang="en-US" altLang="zh-CN" sz="1600" dirty="0">
                <a:latin typeface="Times New Roman" panose="02020603050405020304" pitchFamily="18" charset="0"/>
                <a:cs typeface="Times New Roman" panose="02020603050405020304" pitchFamily="18" charset="0"/>
              </a:rPr>
              <a:t> for Pre-Allocation; MC: Metadata Checksums; Enc: Encryption; DA: Delayed Allocation; TS: Timestamps; Log: Logging.</a:t>
            </a:r>
            <a:endParaRPr lang="zh-CN"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4784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08692-020B-CCD7-906C-563D35F9B6AA}"/>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F9EA4F8E-B1A9-3298-5669-28A655F48AD9}"/>
              </a:ext>
            </a:extLst>
          </p:cNvPr>
          <p:cNvSpPr>
            <a:spLocks noGrp="1"/>
          </p:cNvSpPr>
          <p:nvPr>
            <p:ph type="sldNum" sz="quarter" idx="10"/>
          </p:nvPr>
        </p:nvSpPr>
        <p:spPr/>
        <p:txBody>
          <a:bodyPr/>
          <a:lstStyle/>
          <a:p>
            <a:fld id="{D9B6BDF2-6896-4B98-8776-C18582F63BA5}" type="slidenum">
              <a:rPr lang="zh-TW" altLang="en-US" smtClean="0"/>
              <a:pPr/>
              <a:t>40</a:t>
            </a:fld>
            <a:endParaRPr lang="zh-TW" altLang="en-US"/>
          </a:p>
        </p:txBody>
      </p:sp>
      <p:sp>
        <p:nvSpPr>
          <p:cNvPr id="8" name="标题 4">
            <a:extLst>
              <a:ext uri="{FF2B5EF4-FFF2-40B4-BE49-F238E27FC236}">
                <a16:creationId xmlns:a16="http://schemas.microsoft.com/office/drawing/2014/main" id="{C7B9697A-82FD-46DC-677B-B26DD622A926}"/>
              </a:ext>
            </a:extLst>
          </p:cNvPr>
          <p:cNvSpPr>
            <a:spLocks noGrp="1"/>
          </p:cNvSpPr>
          <p:nvPr>
            <p:ph type="title"/>
          </p:nvPr>
        </p:nvSpPr>
        <p:spPr>
          <a:xfrm>
            <a:off x="1049867" y="144466"/>
            <a:ext cx="10517721" cy="692151"/>
          </a:xfrm>
        </p:spPr>
        <p:txBody>
          <a:bodyPr/>
          <a:lstStyle/>
          <a:p>
            <a:r>
              <a:rPr lang="en-US" altLang="zh-CN" dirty="0"/>
              <a:t>Performance Optimizations (14/14)</a:t>
            </a:r>
            <a:endParaRPr lang="zh-CN" altLang="en-US" dirty="0"/>
          </a:p>
        </p:txBody>
      </p:sp>
      <p:pic>
        <p:nvPicPr>
          <p:cNvPr id="3" name="图片 2">
            <a:extLst>
              <a:ext uri="{FF2B5EF4-FFF2-40B4-BE49-F238E27FC236}">
                <a16:creationId xmlns:a16="http://schemas.microsoft.com/office/drawing/2014/main" id="{E4CEB18C-51BD-BB42-1257-8A008D15AFBE}"/>
              </a:ext>
            </a:extLst>
          </p:cNvPr>
          <p:cNvPicPr>
            <a:picLocks noChangeAspect="1"/>
          </p:cNvPicPr>
          <p:nvPr/>
        </p:nvPicPr>
        <p:blipFill>
          <a:blip r:embed="rId3"/>
          <a:stretch>
            <a:fillRect/>
          </a:stretch>
        </p:blipFill>
        <p:spPr>
          <a:xfrm>
            <a:off x="1590046" y="1184724"/>
            <a:ext cx="9011908" cy="2495898"/>
          </a:xfrm>
          <a:prstGeom prst="rect">
            <a:avLst/>
          </a:prstGeom>
        </p:spPr>
      </p:pic>
      <p:sp>
        <p:nvSpPr>
          <p:cNvPr id="6" name="文本框 5">
            <a:extLst>
              <a:ext uri="{FF2B5EF4-FFF2-40B4-BE49-F238E27FC236}">
                <a16:creationId xmlns:a16="http://schemas.microsoft.com/office/drawing/2014/main" id="{1E7FB97F-AA22-65A3-A3BA-EC6AAC823E1E}"/>
              </a:ext>
            </a:extLst>
          </p:cNvPr>
          <p:cNvSpPr txBox="1"/>
          <p:nvPr/>
        </p:nvSpPr>
        <p:spPr>
          <a:xfrm>
            <a:off x="3252803" y="3758252"/>
            <a:ext cx="5927773" cy="2308324"/>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Figure 20: Performances improvements with new features implemented by SPECFS. The results were normalized before and after optimization, and a lower percentage indicates better performance. Test cases in the right are “xv6 compilation” (“xv6”), “copy </a:t>
            </a:r>
            <a:r>
              <a:rPr lang="en-US" altLang="zh-CN" sz="1600" dirty="0" err="1">
                <a:latin typeface="Times New Roman" panose="02020603050405020304" pitchFamily="18" charset="0"/>
                <a:cs typeface="Times New Roman" panose="02020603050405020304" pitchFamily="18" charset="0"/>
              </a:rPr>
              <a:t>qemu</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qemu</a:t>
            </a:r>
            <a:r>
              <a:rPr lang="en-US" altLang="zh-CN" sz="1600" dirty="0">
                <a:latin typeface="Times New Roman" panose="02020603050405020304" pitchFamily="18" charset="0"/>
                <a:cs typeface="Times New Roman" panose="02020603050405020304" pitchFamily="18" charset="0"/>
              </a:rPr>
              <a:t>”),“small file” (“SF”), “large file” (“LF”). The “SF” and “LF” tests involve various read or write operations on multiple small or large files, respectively representing metadata-intensive and data-intensive workloads. The data for "Delayed Allocation" that is either too long or too short is marked in the figure.</a:t>
            </a:r>
            <a:endParaRPr lang="zh-CN"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45961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4C08F-93A7-1368-C517-37F60B0C51F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39E4EB1-5096-858A-D1B1-6FCD9C459681}"/>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5" name="灯片编号占位符 1">
            <a:extLst>
              <a:ext uri="{FF2B5EF4-FFF2-40B4-BE49-F238E27FC236}">
                <a16:creationId xmlns:a16="http://schemas.microsoft.com/office/drawing/2014/main" id="{8CD8D5BD-BB11-DB29-22FA-A211466D51C0}"/>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41</a:t>
            </a:fld>
            <a:endParaRPr lang="zh-TW" altLang="en-US"/>
          </a:p>
        </p:txBody>
      </p:sp>
      <p:sp>
        <p:nvSpPr>
          <p:cNvPr id="4" name="內容版面配置區 2">
            <a:extLst>
              <a:ext uri="{FF2B5EF4-FFF2-40B4-BE49-F238E27FC236}">
                <a16:creationId xmlns:a16="http://schemas.microsoft.com/office/drawing/2014/main" id="{10B951D5-C637-FEE6-8510-69B16844619C}"/>
              </a:ext>
            </a:extLst>
          </p:cNvPr>
          <p:cNvSpPr txBox="1">
            <a:spLocks/>
          </p:cNvSpPr>
          <p:nvPr/>
        </p:nvSpPr>
        <p:spPr bwMode="auto">
          <a:xfrm>
            <a:off x="1317560" y="1125537"/>
            <a:ext cx="10270977" cy="35607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933" kern="0" dirty="0">
                <a:latin typeface="Times New Roman" panose="02020603050405020304" pitchFamily="18" charset="0"/>
                <a:cs typeface="Times New Roman" panose="02020603050405020304" pitchFamily="18" charset="0"/>
              </a:rPr>
              <a:t>Introduction (2 min)</a:t>
            </a:r>
            <a:endParaRPr lang="en-US" altLang="zh-TW" sz="2933" kern="0" dirty="0">
              <a:latin typeface="Times New Roman" panose="02020603050405020304" pitchFamily="18" charset="0"/>
              <a:cs typeface="Times New Roman" panose="02020603050405020304" pitchFamily="18" charset="0"/>
            </a:endParaRPr>
          </a:p>
          <a:p>
            <a:r>
              <a:rPr lang="en-US" altLang="zh-CN" sz="2933" kern="0" dirty="0">
                <a:latin typeface="Times New Roman" panose="02020603050405020304" pitchFamily="18" charset="0"/>
                <a:cs typeface="Times New Roman" panose="02020603050405020304" pitchFamily="18" charset="0"/>
              </a:rPr>
              <a:t>Background &amp; Motivation (3 min)</a:t>
            </a:r>
          </a:p>
          <a:p>
            <a:r>
              <a:rPr lang="en-US" altLang="zh-CN" sz="2933" kern="0" dirty="0">
                <a:latin typeface="Times New Roman" panose="02020603050405020304" pitchFamily="18" charset="0"/>
                <a:cs typeface="Times New Roman" panose="02020603050405020304" pitchFamily="18" charset="0"/>
              </a:rPr>
              <a:t>Proposed Methods &amp; Performance Evaluation (25 min)</a:t>
            </a:r>
          </a:p>
          <a:p>
            <a:pPr lvl="1"/>
            <a:r>
              <a:rPr lang="en-US" altLang="zh-CN" sz="2400" kern="0" dirty="0">
                <a:latin typeface="Times New Roman" panose="02020603050405020304" pitchFamily="18" charset="0"/>
                <a:cs typeface="Times New Roman" panose="02020603050405020304" pitchFamily="18" charset="0"/>
              </a:rPr>
              <a:t>FSCQ (8 min)</a:t>
            </a:r>
          </a:p>
          <a:p>
            <a:pPr lvl="1"/>
            <a:r>
              <a:rPr lang="en-US" altLang="zh-CN" sz="2400" kern="0" dirty="0">
                <a:latin typeface="Times New Roman" panose="02020603050405020304" pitchFamily="18" charset="0"/>
                <a:cs typeface="Times New Roman" panose="02020603050405020304" pitchFamily="18" charset="0"/>
              </a:rPr>
              <a:t>CRL-H and</a:t>
            </a:r>
            <a:r>
              <a:rPr lang="zh-CN" altLang="en-US" sz="2400" kern="0" dirty="0">
                <a:latin typeface="Times New Roman" panose="02020603050405020304" pitchFamily="18" charset="0"/>
                <a:cs typeface="Times New Roman" panose="02020603050405020304" pitchFamily="18" charset="0"/>
              </a:rPr>
              <a:t> </a:t>
            </a:r>
            <a:r>
              <a:rPr lang="en-US" altLang="zh-CN" sz="2400" kern="0" dirty="0" err="1">
                <a:latin typeface="Times New Roman" panose="02020603050405020304" pitchFamily="18" charset="0"/>
                <a:cs typeface="Times New Roman" panose="02020603050405020304" pitchFamily="18" charset="0"/>
              </a:rPr>
              <a:t>AtomFS</a:t>
            </a:r>
            <a:r>
              <a:rPr lang="en-US" altLang="zh-CN" sz="2400" kern="0" dirty="0">
                <a:latin typeface="Times New Roman" panose="02020603050405020304" pitchFamily="18" charset="0"/>
                <a:cs typeface="Times New Roman" panose="02020603050405020304" pitchFamily="18" charset="0"/>
              </a:rPr>
              <a:t> (8 min)</a:t>
            </a:r>
          </a:p>
          <a:p>
            <a:pPr lvl="1"/>
            <a:r>
              <a:rPr lang="en-US" altLang="zh-CN" sz="2400" kern="0" dirty="0" err="1">
                <a:latin typeface="Times New Roman" panose="02020603050405020304" pitchFamily="18" charset="0"/>
                <a:cs typeface="Times New Roman" panose="02020603050405020304" pitchFamily="18" charset="0"/>
              </a:rPr>
              <a:t>SysSpec</a:t>
            </a:r>
            <a:r>
              <a:rPr lang="en-US" altLang="zh-CN" sz="2400" kern="0" dirty="0">
                <a:latin typeface="Times New Roman" panose="02020603050405020304" pitchFamily="18" charset="0"/>
                <a:cs typeface="Times New Roman" panose="02020603050405020304" pitchFamily="18" charset="0"/>
              </a:rPr>
              <a:t> and </a:t>
            </a:r>
            <a:r>
              <a:rPr lang="en-US" altLang="zh-CN" sz="2400" kern="0" dirty="0" err="1">
                <a:latin typeface="Times New Roman" panose="02020603050405020304" pitchFamily="18" charset="0"/>
                <a:cs typeface="Times New Roman" panose="02020603050405020304" pitchFamily="18" charset="0"/>
              </a:rPr>
              <a:t>SpecFS</a:t>
            </a:r>
            <a:r>
              <a:rPr lang="en-US" altLang="zh-CN" sz="2400" kern="0" dirty="0">
                <a:latin typeface="Times New Roman" panose="02020603050405020304" pitchFamily="18" charset="0"/>
                <a:cs typeface="Times New Roman" panose="02020603050405020304" pitchFamily="18" charset="0"/>
              </a:rPr>
              <a:t> (9 min)</a:t>
            </a:r>
          </a:p>
          <a:p>
            <a:r>
              <a:rPr lang="en-US" altLang="zh-CN" sz="2933" kern="0" dirty="0">
                <a:solidFill>
                  <a:srgbClr val="FF0000"/>
                </a:solidFill>
                <a:latin typeface="Times New Roman" panose="02020603050405020304" pitchFamily="18" charset="0"/>
                <a:cs typeface="Times New Roman" panose="02020603050405020304" pitchFamily="18" charset="0"/>
              </a:rPr>
              <a:t>Conclusions (2 min)</a:t>
            </a:r>
          </a:p>
          <a:p>
            <a:r>
              <a:rPr lang="en-US" altLang="zh-CN" sz="2933" kern="0" dirty="0">
                <a:latin typeface="Times New Roman" panose="02020603050405020304" pitchFamily="18" charset="0"/>
                <a:cs typeface="Times New Roman" panose="02020603050405020304" pitchFamily="18" charset="0"/>
              </a:rPr>
              <a:t>Q &amp; A (5 min)</a:t>
            </a:r>
          </a:p>
        </p:txBody>
      </p:sp>
    </p:spTree>
    <p:extLst>
      <p:ext uri="{BB962C8B-B14F-4D97-AF65-F5344CB8AC3E}">
        <p14:creationId xmlns:p14="http://schemas.microsoft.com/office/powerpoint/2010/main" val="40950271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A2D34-6F5D-0C83-71A3-B5C5168E2D54}"/>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3AA9750D-869A-C200-2EE5-D8B1E07F9F12}"/>
              </a:ext>
            </a:extLst>
          </p:cNvPr>
          <p:cNvSpPr>
            <a:spLocks noGrp="1"/>
          </p:cNvSpPr>
          <p:nvPr>
            <p:ph type="title"/>
          </p:nvPr>
        </p:nvSpPr>
        <p:spPr/>
        <p:txBody>
          <a:bodyPr/>
          <a:lstStyle/>
          <a:p>
            <a:r>
              <a:rPr lang="en-US" altLang="zh-CN" dirty="0"/>
              <a:t>Conclusions</a:t>
            </a:r>
            <a:endParaRPr lang="zh-CN" altLang="en-US" dirty="0"/>
          </a:p>
        </p:txBody>
      </p:sp>
      <p:sp>
        <p:nvSpPr>
          <p:cNvPr id="4" name="灯片编号占位符 3">
            <a:extLst>
              <a:ext uri="{FF2B5EF4-FFF2-40B4-BE49-F238E27FC236}">
                <a16:creationId xmlns:a16="http://schemas.microsoft.com/office/drawing/2014/main" id="{2A84A16E-E0AA-76E1-A1F6-A555003FF6A9}"/>
              </a:ext>
            </a:extLst>
          </p:cNvPr>
          <p:cNvSpPr>
            <a:spLocks noGrp="1"/>
          </p:cNvSpPr>
          <p:nvPr>
            <p:ph type="sldNum" sz="quarter" idx="10"/>
          </p:nvPr>
        </p:nvSpPr>
        <p:spPr/>
        <p:txBody>
          <a:bodyPr/>
          <a:lstStyle/>
          <a:p>
            <a:fld id="{D9B6BDF2-6896-4B98-8776-C18582F63BA5}" type="slidenum">
              <a:rPr lang="zh-TW" altLang="en-US" smtClean="0"/>
              <a:pPr/>
              <a:t>42</a:t>
            </a:fld>
            <a:endParaRPr lang="zh-TW" altLang="en-US"/>
          </a:p>
        </p:txBody>
      </p:sp>
      <p:sp>
        <p:nvSpPr>
          <p:cNvPr id="2" name="内容占位符 5">
            <a:extLst>
              <a:ext uri="{FF2B5EF4-FFF2-40B4-BE49-F238E27FC236}">
                <a16:creationId xmlns:a16="http://schemas.microsoft.com/office/drawing/2014/main" id="{53FF7D9F-1225-843A-172D-12A2CC82D7FA}"/>
              </a:ext>
            </a:extLst>
          </p:cNvPr>
          <p:cNvSpPr txBox="1">
            <a:spLocks/>
          </p:cNvSpPr>
          <p:nvPr/>
        </p:nvSpPr>
        <p:spPr bwMode="auto">
          <a:xfrm>
            <a:off x="1010999" y="1053737"/>
            <a:ext cx="10517721" cy="43467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The first paper’s contributions are CHL and a case study of applying CHL to build FSCQ, the first certified crash-safe file system. The benefit of the verification approach is that FSCQ has a machine-checked proof that FSCQ avoids bugs that have a long history of causing data loss in previous file systems.</a:t>
            </a:r>
          </a:p>
          <a:p>
            <a:r>
              <a:rPr lang="en-US" altLang="zh-CN" sz="2400" kern="0" dirty="0">
                <a:latin typeface="Times New Roman" panose="02020603050405020304" pitchFamily="18" charset="0"/>
                <a:cs typeface="Times New Roman" panose="02020603050405020304" pitchFamily="18" charset="0"/>
              </a:rPr>
              <a:t>The second paper has presented CRL-H, a framework for specifying, implementing, and verifying concurrent file systems with atomic interfaces through the helper mechanism. CRL-H is applied to specify and verify </a:t>
            </a:r>
            <a:r>
              <a:rPr lang="en-US" altLang="zh-CN" sz="2400" kern="0" dirty="0" err="1">
                <a:latin typeface="Times New Roman" panose="02020603050405020304" pitchFamily="18" charset="0"/>
                <a:cs typeface="Times New Roman" panose="02020603050405020304" pitchFamily="18" charset="0"/>
              </a:rPr>
              <a:t>AtomFS</a:t>
            </a:r>
            <a:r>
              <a:rPr lang="en-US" altLang="zh-CN" sz="2400" kern="0" dirty="0">
                <a:latin typeface="Times New Roman" panose="02020603050405020304" pitchFamily="18" charset="0"/>
                <a:cs typeface="Times New Roman" panose="02020603050405020304" pitchFamily="18" charset="0"/>
              </a:rPr>
              <a:t>, the first formally verified, fine-grained, concurrent file system. </a:t>
            </a:r>
          </a:p>
          <a:p>
            <a:r>
              <a:rPr lang="en-US" altLang="zh-CN" sz="2400" kern="0" dirty="0" err="1">
                <a:latin typeface="Times New Roman" panose="02020603050405020304" pitchFamily="18" charset="0"/>
                <a:cs typeface="Times New Roman" panose="02020603050405020304" pitchFamily="18" charset="0"/>
              </a:rPr>
              <a:t>SysSpec</a:t>
            </a:r>
            <a:r>
              <a:rPr lang="en-US" altLang="zh-CN" sz="2400" kern="0" dirty="0">
                <a:latin typeface="Times New Roman" panose="02020603050405020304" pitchFamily="18" charset="0"/>
                <a:cs typeface="Times New Roman" panose="02020603050405020304" pitchFamily="18" charset="0"/>
              </a:rPr>
              <a:t> is a framework and a case for generative file systems. Different from traditional paradigms, </a:t>
            </a:r>
            <a:r>
              <a:rPr lang="en-US" altLang="zh-CN" sz="2400" kern="0" dirty="0" err="1">
                <a:latin typeface="Times New Roman" panose="02020603050405020304" pitchFamily="18" charset="0"/>
                <a:cs typeface="Times New Roman" panose="02020603050405020304" pitchFamily="18" charset="0"/>
              </a:rPr>
              <a:t>SysSpec</a:t>
            </a:r>
            <a:r>
              <a:rPr lang="en-US" altLang="zh-CN" sz="2400" kern="0" dirty="0">
                <a:latin typeface="Times New Roman" panose="02020603050405020304" pitchFamily="18" charset="0"/>
                <a:cs typeface="Times New Roman" panose="02020603050405020304" pitchFamily="18" charset="0"/>
              </a:rPr>
              <a:t> shifts the developer’s focus from writing low-level code to designing high-level specification, and </a:t>
            </a:r>
            <a:r>
              <a:rPr lang="en-US" altLang="zh-CN" sz="2400" kern="0" dirty="0" err="1">
                <a:latin typeface="Times New Roman" panose="02020603050405020304" pitchFamily="18" charset="0"/>
                <a:cs typeface="Times New Roman" panose="02020603050405020304" pitchFamily="18" charset="0"/>
              </a:rPr>
              <a:t>SpecFS</a:t>
            </a:r>
            <a:r>
              <a:rPr lang="en-US" altLang="zh-CN" sz="2400" kern="0" dirty="0">
                <a:latin typeface="Times New Roman" panose="02020603050405020304" pitchFamily="18" charset="0"/>
                <a:cs typeface="Times New Roman" panose="02020603050405020304" pitchFamily="18" charset="0"/>
              </a:rPr>
              <a:t> shows the potential benefits on evolvability.</a:t>
            </a:r>
          </a:p>
        </p:txBody>
      </p:sp>
    </p:spTree>
    <p:extLst>
      <p:ext uri="{BB962C8B-B14F-4D97-AF65-F5344CB8AC3E}">
        <p14:creationId xmlns:p14="http://schemas.microsoft.com/office/powerpoint/2010/main" val="19798496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27083-3D79-B6E5-C597-41E1F6FD591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1B3ED1C-9DC2-12FE-95A2-D073DAF99AE3}"/>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5" name="灯片编号占位符 1">
            <a:extLst>
              <a:ext uri="{FF2B5EF4-FFF2-40B4-BE49-F238E27FC236}">
                <a16:creationId xmlns:a16="http://schemas.microsoft.com/office/drawing/2014/main" id="{BE32FEAD-940F-6105-3846-066418BA6D45}"/>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43</a:t>
            </a:fld>
            <a:endParaRPr lang="zh-TW" altLang="en-US"/>
          </a:p>
        </p:txBody>
      </p:sp>
      <p:sp>
        <p:nvSpPr>
          <p:cNvPr id="4" name="內容版面配置區 2">
            <a:extLst>
              <a:ext uri="{FF2B5EF4-FFF2-40B4-BE49-F238E27FC236}">
                <a16:creationId xmlns:a16="http://schemas.microsoft.com/office/drawing/2014/main" id="{2A644B66-DB11-6ACC-21EF-D2166E952B7E}"/>
              </a:ext>
            </a:extLst>
          </p:cNvPr>
          <p:cNvSpPr txBox="1">
            <a:spLocks/>
          </p:cNvSpPr>
          <p:nvPr/>
        </p:nvSpPr>
        <p:spPr bwMode="auto">
          <a:xfrm>
            <a:off x="1317560" y="1125537"/>
            <a:ext cx="10270977" cy="35607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933" kern="0" dirty="0">
                <a:latin typeface="Times New Roman" panose="02020603050405020304" pitchFamily="18" charset="0"/>
                <a:cs typeface="Times New Roman" panose="02020603050405020304" pitchFamily="18" charset="0"/>
              </a:rPr>
              <a:t>Introduction (2 min)</a:t>
            </a:r>
            <a:endParaRPr lang="en-US" altLang="zh-TW" sz="2933" kern="0" dirty="0">
              <a:latin typeface="Times New Roman" panose="02020603050405020304" pitchFamily="18" charset="0"/>
              <a:cs typeface="Times New Roman" panose="02020603050405020304" pitchFamily="18" charset="0"/>
            </a:endParaRPr>
          </a:p>
          <a:p>
            <a:r>
              <a:rPr lang="en-US" altLang="zh-CN" sz="2933" kern="0" dirty="0">
                <a:latin typeface="Times New Roman" panose="02020603050405020304" pitchFamily="18" charset="0"/>
                <a:cs typeface="Times New Roman" panose="02020603050405020304" pitchFamily="18" charset="0"/>
              </a:rPr>
              <a:t>Background &amp; Motivation (3 min)</a:t>
            </a:r>
          </a:p>
          <a:p>
            <a:r>
              <a:rPr lang="en-US" altLang="zh-CN" sz="2933" kern="0" dirty="0">
                <a:latin typeface="Times New Roman" panose="02020603050405020304" pitchFamily="18" charset="0"/>
                <a:cs typeface="Times New Roman" panose="02020603050405020304" pitchFamily="18" charset="0"/>
              </a:rPr>
              <a:t>Proposed Methods &amp; Performance Evaluation (25 min)</a:t>
            </a:r>
          </a:p>
          <a:p>
            <a:pPr lvl="1"/>
            <a:r>
              <a:rPr lang="en-US" altLang="zh-CN" sz="2400" kern="0" dirty="0">
                <a:latin typeface="Times New Roman" panose="02020603050405020304" pitchFamily="18" charset="0"/>
                <a:cs typeface="Times New Roman" panose="02020603050405020304" pitchFamily="18" charset="0"/>
              </a:rPr>
              <a:t>FSCQ (8 min)</a:t>
            </a:r>
          </a:p>
          <a:p>
            <a:pPr lvl="1"/>
            <a:r>
              <a:rPr lang="en-US" altLang="zh-CN" sz="2400" kern="0" dirty="0">
                <a:latin typeface="Times New Roman" panose="02020603050405020304" pitchFamily="18" charset="0"/>
                <a:cs typeface="Times New Roman" panose="02020603050405020304" pitchFamily="18" charset="0"/>
              </a:rPr>
              <a:t>CRL-H and</a:t>
            </a:r>
            <a:r>
              <a:rPr lang="zh-CN" altLang="en-US" sz="2400" kern="0" dirty="0">
                <a:latin typeface="Times New Roman" panose="02020603050405020304" pitchFamily="18" charset="0"/>
                <a:cs typeface="Times New Roman" panose="02020603050405020304" pitchFamily="18" charset="0"/>
              </a:rPr>
              <a:t> </a:t>
            </a:r>
            <a:r>
              <a:rPr lang="en-US" altLang="zh-CN" sz="2400" kern="0" dirty="0" err="1">
                <a:latin typeface="Times New Roman" panose="02020603050405020304" pitchFamily="18" charset="0"/>
                <a:cs typeface="Times New Roman" panose="02020603050405020304" pitchFamily="18" charset="0"/>
              </a:rPr>
              <a:t>AtomFS</a:t>
            </a:r>
            <a:r>
              <a:rPr lang="en-US" altLang="zh-CN" sz="2400" kern="0" dirty="0">
                <a:latin typeface="Times New Roman" panose="02020603050405020304" pitchFamily="18" charset="0"/>
                <a:cs typeface="Times New Roman" panose="02020603050405020304" pitchFamily="18" charset="0"/>
              </a:rPr>
              <a:t> (8 min)</a:t>
            </a:r>
          </a:p>
          <a:p>
            <a:pPr lvl="1"/>
            <a:r>
              <a:rPr lang="en-US" altLang="zh-CN" sz="2400" kern="0" dirty="0" err="1">
                <a:latin typeface="Times New Roman" panose="02020603050405020304" pitchFamily="18" charset="0"/>
                <a:cs typeface="Times New Roman" panose="02020603050405020304" pitchFamily="18" charset="0"/>
              </a:rPr>
              <a:t>SysSpec</a:t>
            </a:r>
            <a:r>
              <a:rPr lang="en-US" altLang="zh-CN" sz="2400" kern="0" dirty="0">
                <a:latin typeface="Times New Roman" panose="02020603050405020304" pitchFamily="18" charset="0"/>
                <a:cs typeface="Times New Roman" panose="02020603050405020304" pitchFamily="18" charset="0"/>
              </a:rPr>
              <a:t> and </a:t>
            </a:r>
            <a:r>
              <a:rPr lang="en-US" altLang="zh-CN" sz="2400" kern="0" dirty="0" err="1">
                <a:latin typeface="Times New Roman" panose="02020603050405020304" pitchFamily="18" charset="0"/>
                <a:cs typeface="Times New Roman" panose="02020603050405020304" pitchFamily="18" charset="0"/>
              </a:rPr>
              <a:t>SpecFS</a:t>
            </a:r>
            <a:r>
              <a:rPr lang="en-US" altLang="zh-CN" sz="2400" kern="0" dirty="0">
                <a:latin typeface="Times New Roman" panose="02020603050405020304" pitchFamily="18" charset="0"/>
                <a:cs typeface="Times New Roman" panose="02020603050405020304" pitchFamily="18" charset="0"/>
              </a:rPr>
              <a:t> (9 min)</a:t>
            </a:r>
          </a:p>
          <a:p>
            <a:r>
              <a:rPr lang="en-US" altLang="zh-CN" sz="2933" kern="0" dirty="0">
                <a:latin typeface="Times New Roman" panose="02020603050405020304" pitchFamily="18" charset="0"/>
                <a:cs typeface="Times New Roman" panose="02020603050405020304" pitchFamily="18" charset="0"/>
              </a:rPr>
              <a:t>Conclusions (2 min)</a:t>
            </a:r>
          </a:p>
          <a:p>
            <a:r>
              <a:rPr lang="en-US" altLang="zh-CN" sz="2933" kern="0" dirty="0">
                <a:solidFill>
                  <a:srgbClr val="FF0000"/>
                </a:solidFill>
                <a:latin typeface="Times New Roman" panose="02020603050405020304" pitchFamily="18" charset="0"/>
                <a:cs typeface="Times New Roman" panose="02020603050405020304" pitchFamily="18" charset="0"/>
              </a:rPr>
              <a:t>Q &amp; A (5 min)</a:t>
            </a:r>
          </a:p>
        </p:txBody>
      </p:sp>
    </p:spTree>
    <p:extLst>
      <p:ext uri="{BB962C8B-B14F-4D97-AF65-F5344CB8AC3E}">
        <p14:creationId xmlns:p14="http://schemas.microsoft.com/office/powerpoint/2010/main" val="328201324"/>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3957</TotalTime>
  <Words>6888</Words>
  <Application>Microsoft Office PowerPoint</Application>
  <PresentationFormat>宽屏</PresentationFormat>
  <Paragraphs>401</Paragraphs>
  <Slides>43</Slides>
  <Notes>41</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43</vt:i4>
      </vt:variant>
    </vt:vector>
  </HeadingPairs>
  <TitlesOfParts>
    <vt:vector size="52" baseType="lpstr">
      <vt:lpstr>MS Sans Serif</vt:lpstr>
      <vt:lpstr>楷体</vt:lpstr>
      <vt:lpstr>Arial</vt:lpstr>
      <vt:lpstr>Calibri</vt:lpstr>
      <vt:lpstr>Calibri Light</vt:lpstr>
      <vt:lpstr>Times New Roman</vt:lpstr>
      <vt:lpstr>Wingdings</vt:lpstr>
      <vt:lpstr>NTHU UniCloud</vt:lpstr>
      <vt:lpstr>自訂設計</vt:lpstr>
      <vt:lpstr>From Hoare Logic to LLMs: Formal Verification and Generation of File Systems  2026.03.12</vt:lpstr>
      <vt:lpstr>Outline</vt:lpstr>
      <vt:lpstr>Introduction - File Systems (1/2)</vt:lpstr>
      <vt:lpstr>Introduction - File Systems (2/2)</vt:lpstr>
      <vt:lpstr>Outline</vt:lpstr>
      <vt:lpstr>Background &amp; Motivation (1/4)</vt:lpstr>
      <vt:lpstr>Background &amp; Motivation (2/4)</vt:lpstr>
      <vt:lpstr>Background &amp; Motivation (3/4)</vt:lpstr>
      <vt:lpstr>Outline</vt:lpstr>
      <vt:lpstr>FSCQ (1/7)</vt:lpstr>
      <vt:lpstr>FSCQ (2/7)</vt:lpstr>
      <vt:lpstr>FSCQ (3/7)</vt:lpstr>
      <vt:lpstr>FSCQ (4/7)</vt:lpstr>
      <vt:lpstr>FSCQ (5/7)</vt:lpstr>
      <vt:lpstr>FSCQ (6/7)</vt:lpstr>
      <vt:lpstr>FSCQ (7/7)</vt:lpstr>
      <vt:lpstr>Outline</vt:lpstr>
      <vt:lpstr>CRL-H and AtomFS (1/8)</vt:lpstr>
      <vt:lpstr>CRL-H and AtomFS (2/8)</vt:lpstr>
      <vt:lpstr>CRL-H and AtomFS (3/8)</vt:lpstr>
      <vt:lpstr>CRL-H and AtomFS (4/8)</vt:lpstr>
      <vt:lpstr>CRL-H and AtomFS (5/8)</vt:lpstr>
      <vt:lpstr>CRL-H and AtomFS (6/8)</vt:lpstr>
      <vt:lpstr>CRL-H and AtomFS (7/8)</vt:lpstr>
      <vt:lpstr>CRL-H and AtomFS (8/8)</vt:lpstr>
      <vt:lpstr>Outline</vt:lpstr>
      <vt:lpstr>SysSpec - Design Overview (1/14)</vt:lpstr>
      <vt:lpstr>SysSpec - Functionality Specification (2/14)</vt:lpstr>
      <vt:lpstr>SysSpec - Modularity Specification (3/14)</vt:lpstr>
      <vt:lpstr>SysSpec - Concurrency Specification (4/14)</vt:lpstr>
      <vt:lpstr>DAG-Structured Specification Patch (5/14)</vt:lpstr>
      <vt:lpstr>PowerPoint 演示文稿</vt:lpstr>
      <vt:lpstr>SpecFS: A Case for Generative FS (7/14)</vt:lpstr>
      <vt:lpstr>SpecFS: Case Study of Evolutions (8/14)</vt:lpstr>
      <vt:lpstr>SpecFS: Case Study of Evolutions (9/14)</vt:lpstr>
      <vt:lpstr>Evaluations on Accuracy (10/14)</vt:lpstr>
      <vt:lpstr>Evaluations on Generalizability (11/14)</vt:lpstr>
      <vt:lpstr>Ablation Study (12/14)</vt:lpstr>
      <vt:lpstr>Evaluations on Productivity (13/14)</vt:lpstr>
      <vt:lpstr>Performance Optimizations (14/14)</vt:lpstr>
      <vt:lpstr>Outline</vt:lpstr>
      <vt:lpstr>Conclusions</vt:lpstr>
      <vt:lpstr>Outline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Xiaochuan Yan</dc:creator>
  <cp:lastModifiedBy>Sliucyun Ngaan</cp:lastModifiedBy>
  <cp:revision>116</cp:revision>
  <dcterms:created xsi:type="dcterms:W3CDTF">2020-07-15T11:13:39Z</dcterms:created>
  <dcterms:modified xsi:type="dcterms:W3CDTF">2026-03-13T02:41:56Z</dcterms:modified>
</cp:coreProperties>
</file>