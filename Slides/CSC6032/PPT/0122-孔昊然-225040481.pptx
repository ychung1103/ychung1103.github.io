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6"/>
  </p:notesMasterIdLst>
  <p:sldIdLst>
    <p:sldId id="256" r:id="rId4"/>
    <p:sldId id="529" r:id="rId5"/>
    <p:sldId id="576" r:id="rId7"/>
    <p:sldId id="516" r:id="rId8"/>
    <p:sldId id="517" r:id="rId9"/>
    <p:sldId id="520" r:id="rId10"/>
    <p:sldId id="569" r:id="rId11"/>
    <p:sldId id="521" r:id="rId12"/>
    <p:sldId id="524" r:id="rId13"/>
    <p:sldId id="525" r:id="rId14"/>
    <p:sldId id="526" r:id="rId15"/>
    <p:sldId id="570" r:id="rId16"/>
    <p:sldId id="571" r:id="rId17"/>
    <p:sldId id="534" r:id="rId18"/>
    <p:sldId id="532" r:id="rId19"/>
    <p:sldId id="577" r:id="rId20"/>
    <p:sldId id="535" r:id="rId21"/>
    <p:sldId id="536" r:id="rId22"/>
    <p:sldId id="537" r:id="rId23"/>
    <p:sldId id="572" r:id="rId24"/>
    <p:sldId id="539" r:id="rId25"/>
    <p:sldId id="579" r:id="rId26"/>
    <p:sldId id="580" r:id="rId27"/>
    <p:sldId id="578" r:id="rId28"/>
    <p:sldId id="552" r:id="rId29"/>
    <p:sldId id="581" r:id="rId30"/>
    <p:sldId id="582" r:id="rId31"/>
    <p:sldId id="573" r:id="rId32"/>
    <p:sldId id="555" r:id="rId33"/>
    <p:sldId id="584" r:id="rId34"/>
    <p:sldId id="556" r:id="rId35"/>
    <p:sldId id="585" r:id="rId36"/>
    <p:sldId id="586" r:id="rId37"/>
    <p:sldId id="587" r:id="rId38"/>
    <p:sldId id="561" r:id="rId39"/>
    <p:sldId id="588" r:id="rId40"/>
    <p:sldId id="563" r:id="rId41"/>
    <p:sldId id="574" r:id="rId42"/>
    <p:sldId id="564" r:id="rId43"/>
    <p:sldId id="575" r:id="rId4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94660"/>
  </p:normalViewPr>
  <p:slideViewPr>
    <p:cSldViewPr snapToGrid="0">
      <p:cViewPr varScale="1">
        <p:scale>
          <a:sx n="80" d="100"/>
          <a:sy n="80" d="100"/>
        </p:scale>
        <p:origin x="50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11D5518-E2B7-47D3-A483-775D39982443}" type="slidenum">
              <a:rPr lang="zh-TW" altLang="en-US" smtClean="0"/>
            </a:fld>
            <a:endParaRPr lang="zh-TW"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5">
                <a:latin typeface="Calibri" panose="020F0502020204030204" pitchFamily="34" charset="0"/>
                <a:ea typeface="標楷體" pitchFamily="65" charset="-120"/>
                <a:cs typeface="Calibri" panose="020F0502020204030204" pitchFamily="34" charset="0"/>
              </a:defRPr>
            </a:lvl3pPr>
            <a:lvl4pPr>
              <a:defRPr sz="2400">
                <a:latin typeface="Calibri" panose="020F0502020204030204" pitchFamily="34" charset="0"/>
                <a:ea typeface="標楷體" pitchFamily="65" charset="-120"/>
                <a:cs typeface="Calibri" panose="020F0502020204030204" pitchFamily="34" charset="0"/>
              </a:defRPr>
            </a:lvl4pPr>
            <a:lvl5pPr>
              <a:defRPr sz="2135">
                <a:latin typeface="Calibri" panose="020F0502020204030204" pitchFamily="34" charset="0"/>
                <a:ea typeface="標楷體" pitchFamily="65" charset="-120"/>
                <a:cs typeface="Calibri" panose="020F0502020204030204" pitchFamily="34" charset="0"/>
              </a:defRPr>
            </a:lvl5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5"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5"/>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dirty="0"/>
              <a:t>Click to edit Master text styles</a:t>
            </a:r>
            <a:endParaRPr lang="en-US" altLang="zh-TW"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5"/>
            </a:lvl1pPr>
            <a:lvl2pPr>
              <a:defRPr sz="3200"/>
            </a:lvl2pPr>
            <a:lvl3pPr>
              <a:defRPr sz="2400"/>
            </a:lvl3pPr>
            <a:lvl4pPr>
              <a:defRPr sz="2135"/>
            </a:lvl4pPr>
            <a:lvl5pPr>
              <a:defRPr sz="2135"/>
            </a:lvl5pPr>
            <a:lvl6pPr>
              <a:defRPr sz="1800"/>
            </a:lvl6pPr>
            <a:lvl7pPr>
              <a:defRPr sz="1800"/>
            </a:lvl7pPr>
            <a:lvl8pPr>
              <a:defRPr sz="1800"/>
            </a:lvl8pPr>
            <a:lvl9pPr>
              <a:defRPr sz="18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5"/>
            </a:lvl1pPr>
            <a:lvl2pPr>
              <a:defRPr sz="3200"/>
            </a:lvl2pPr>
            <a:lvl3pPr>
              <a:defRPr sz="2400"/>
            </a:lvl3pPr>
            <a:lvl4pPr>
              <a:defRPr sz="2135"/>
            </a:lvl4pPr>
            <a:lvl5pPr>
              <a:defRPr sz="2135"/>
            </a:lvl5pPr>
            <a:lvl6pPr>
              <a:defRPr sz="1800"/>
            </a:lvl6pPr>
            <a:lvl7pPr>
              <a:defRPr sz="1800"/>
            </a:lvl7pPr>
            <a:lvl8pPr>
              <a:defRPr sz="1800"/>
            </a:lvl8pPr>
            <a:lvl9pPr>
              <a:defRPr sz="18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5"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endParaRPr lang="en-US" altLang="zh-TW"/>
          </a:p>
        </p:txBody>
      </p:sp>
      <p:sp>
        <p:nvSpPr>
          <p:cNvPr id="4" name="內容版面配置區 3"/>
          <p:cNvSpPr>
            <a:spLocks noGrp="1"/>
          </p:cNvSpPr>
          <p:nvPr>
            <p:ph sz="half" idx="2"/>
          </p:nvPr>
        </p:nvSpPr>
        <p:spPr>
          <a:xfrm>
            <a:off x="609602" y="1908535"/>
            <a:ext cx="5386917" cy="3951288"/>
          </a:xfrm>
        </p:spPr>
        <p:txBody>
          <a:bodyPr/>
          <a:lstStyle>
            <a:lvl1pPr>
              <a:defRPr sz="2665"/>
            </a:lvl1pPr>
            <a:lvl2pPr>
              <a:defRPr sz="2135"/>
            </a:lvl2pPr>
            <a:lvl3pPr>
              <a:defRPr sz="1865"/>
            </a:lvl3pPr>
            <a:lvl4pPr>
              <a:defRPr sz="1865"/>
            </a:lvl4pPr>
            <a:lvl5pPr>
              <a:defRPr sz="1865"/>
            </a:lvl5pPr>
            <a:lvl6pPr>
              <a:defRPr sz="1600"/>
            </a:lvl6pPr>
            <a:lvl7pPr>
              <a:defRPr sz="1600"/>
            </a:lvl7pPr>
            <a:lvl8pPr>
              <a:defRPr sz="1600"/>
            </a:lvl8pPr>
            <a:lvl9pPr>
              <a:defRPr sz="1600"/>
            </a:lvl9pPr>
          </a:lstStyle>
          <a:p>
            <a:pPr lvl="0"/>
            <a:r>
              <a:rPr lang="en-US" altLang="zh-TW" dirty="0"/>
              <a:t>Click to edit Master text styles</a:t>
            </a:r>
            <a:endParaRPr lang="en-US" altLang="zh-TW" dirty="0"/>
          </a:p>
          <a:p>
            <a:pPr lvl="1"/>
            <a:r>
              <a:rPr lang="en-US" altLang="zh-TW" dirty="0"/>
              <a:t>Second level</a:t>
            </a:r>
            <a:endParaRPr lang="en-US" altLang="zh-TW" dirty="0"/>
          </a:p>
          <a:p>
            <a:pPr lvl="2"/>
            <a:r>
              <a:rPr lang="en-US" altLang="zh-TW" dirty="0"/>
              <a:t>Third level</a:t>
            </a:r>
            <a:endParaRPr lang="en-US" altLang="zh-TW" dirty="0"/>
          </a:p>
          <a:p>
            <a:pPr lvl="3"/>
            <a:r>
              <a:rPr lang="en-US" altLang="zh-TW" dirty="0"/>
              <a:t>Fourth level</a:t>
            </a:r>
            <a:endParaRPr lang="en-US" altLang="zh-TW" dirty="0"/>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5"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endParaRPr lang="en-US" altLang="zh-TW"/>
          </a:p>
        </p:txBody>
      </p:sp>
      <p:sp>
        <p:nvSpPr>
          <p:cNvPr id="6" name="內容版面配置區 5"/>
          <p:cNvSpPr>
            <a:spLocks noGrp="1"/>
          </p:cNvSpPr>
          <p:nvPr>
            <p:ph sz="quarter" idx="4"/>
          </p:nvPr>
        </p:nvSpPr>
        <p:spPr>
          <a:xfrm>
            <a:off x="6193373" y="1908535"/>
            <a:ext cx="5389033" cy="3951288"/>
          </a:xfrm>
        </p:spPr>
        <p:txBody>
          <a:bodyPr/>
          <a:lstStyle>
            <a:lvl1pPr>
              <a:defRPr sz="2665"/>
            </a:lvl1pPr>
            <a:lvl2pPr>
              <a:defRPr sz="2135"/>
            </a:lvl2pPr>
            <a:lvl3pPr>
              <a:defRPr sz="1865"/>
            </a:lvl3pPr>
            <a:lvl4pPr>
              <a:defRPr sz="1865"/>
            </a:lvl4pPr>
            <a:lvl5pPr>
              <a:defRPr sz="1865"/>
            </a:lvl5pPr>
            <a:lvl6pPr>
              <a:defRPr sz="1600"/>
            </a:lvl6pPr>
            <a:lvl7pPr>
              <a:defRPr sz="1600"/>
            </a:lvl7pPr>
            <a:lvl8pPr>
              <a:defRPr sz="1600"/>
            </a:lvl8pPr>
            <a:lvl9pPr>
              <a:defRPr sz="1600"/>
            </a:lvl9p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7"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endParaRPr lang="en-US" altLang="zh-TW"/>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endParaRPr lang="en-US" altLang="zh-TW"/>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endParaRPr lang="en-US" altLang="zh-TW"/>
          </a:p>
          <a:p>
            <a:pPr lvl="1"/>
            <a:r>
              <a:rPr lang="en-US" altLang="zh-TW"/>
              <a:t>Second level</a:t>
            </a:r>
            <a:endParaRPr lang="en-US" altLang="zh-TW"/>
          </a:p>
          <a:p>
            <a:pPr lvl="2"/>
            <a:r>
              <a:rPr lang="en-US" altLang="zh-TW"/>
              <a:t>Third level</a:t>
            </a:r>
            <a:endParaRPr lang="en-US" altLang="zh-TW"/>
          </a:p>
          <a:p>
            <a:pPr lvl="3"/>
            <a:r>
              <a:rPr lang="en-US" altLang="zh-TW"/>
              <a:t>Fourth level</a:t>
            </a:r>
            <a:endParaRPr lang="en-US" altLang="zh-TW"/>
          </a:p>
          <a:p>
            <a:pPr lvl="4"/>
            <a:r>
              <a:rPr lang="en-US" altLang="zh-TW"/>
              <a:t>Fifth level</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hasCustomPrompt="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5"/>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fld>
            <a:endParaRPr lang="zh-TW"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內容版面配置區 2"/>
          <p:cNvSpPr>
            <a:spLocks noGrp="1"/>
          </p:cNvSpPr>
          <p:nvPr>
            <p:ph idx="1" hasCustomPrompt="1"/>
          </p:nvPr>
        </p:nvSpPr>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endParaRPr lang="zh-TW" altLang="en-US"/>
          </a:p>
        </p:txBody>
      </p:sp>
      <p:sp>
        <p:nvSpPr>
          <p:cNvPr id="3" name="文字版面配置區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內容版面配置區 2"/>
          <p:cNvSpPr>
            <a:spLocks noGrp="1"/>
          </p:cNvSpPr>
          <p:nvPr>
            <p:ph sz="half" idx="1" hasCustomPrompt="1"/>
          </p:nvPr>
        </p:nvSpPr>
        <p:spPr>
          <a:xfrm>
            <a:off x="838200" y="1825625"/>
            <a:ext cx="5181600" cy="435133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內容版面配置區 3"/>
          <p:cNvSpPr>
            <a:spLocks noGrp="1"/>
          </p:cNvSpPr>
          <p:nvPr>
            <p:ph sz="half" idx="2" hasCustomPrompt="1"/>
          </p:nvPr>
        </p:nvSpPr>
        <p:spPr>
          <a:xfrm>
            <a:off x="6172200" y="1825625"/>
            <a:ext cx="5181600" cy="435133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endParaRPr lang="zh-TW" altLang="en-US"/>
          </a:p>
        </p:txBody>
      </p:sp>
      <p:sp>
        <p:nvSpPr>
          <p:cNvPr id="3" name="文字版面配置區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endParaRPr lang="zh-TW" altLang="en-US"/>
          </a:p>
        </p:txBody>
      </p:sp>
      <p:sp>
        <p:nvSpPr>
          <p:cNvPr id="4" name="內容版面配置區 3"/>
          <p:cNvSpPr>
            <a:spLocks noGrp="1"/>
          </p:cNvSpPr>
          <p:nvPr>
            <p:ph sz="half" idx="2" hasCustomPrompt="1"/>
          </p:nvPr>
        </p:nvSpPr>
        <p:spPr>
          <a:xfrm>
            <a:off x="839788" y="2505075"/>
            <a:ext cx="5157787" cy="368458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5" name="文字版面配置區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endParaRPr lang="zh-TW" altLang="en-US"/>
          </a:p>
        </p:txBody>
      </p:sp>
      <p:sp>
        <p:nvSpPr>
          <p:cNvPr id="6" name="內容版面配置區 5"/>
          <p:cNvSpPr>
            <a:spLocks noGrp="1"/>
          </p:cNvSpPr>
          <p:nvPr>
            <p:ph sz="quarter" idx="4" hasCustomPrompt="1"/>
          </p:nvPr>
        </p:nvSpPr>
        <p:spPr>
          <a:xfrm>
            <a:off x="6172200" y="2505075"/>
            <a:ext cx="5183188" cy="3684588"/>
          </a:xfrm>
        </p:spPr>
        <p:txBody>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TW" altLang="en-US"/>
          </a:p>
        </p:txBody>
      </p:sp>
      <p:sp>
        <p:nvSpPr>
          <p:cNvPr id="3" name="內容版面配置區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文字版面配置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endParaRPr lang="zh-TW" altLang="en-US"/>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直排文字版面配置區 2"/>
          <p:cNvSpPr>
            <a:spLocks noGrp="1"/>
          </p:cNvSpPr>
          <p:nvPr>
            <p:ph type="body" orient="vert" idx="1" hasCustomPrompt="1"/>
          </p:nvPr>
        </p:nvSpPr>
        <p:spPr/>
        <p:txBody>
          <a:bodyPr vert="eaVert"/>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zh-TW" altLang="en-US"/>
          </a:p>
        </p:txBody>
      </p:sp>
      <p:sp>
        <p:nvSpPr>
          <p:cNvPr id="3" name="直排文字版面配置區 2"/>
          <p:cNvSpPr>
            <a:spLocks noGrp="1"/>
          </p:cNvSpPr>
          <p:nvPr>
            <p:ph type="body" orient="vert" idx="1" hasCustomPrompt="1"/>
          </p:nvPr>
        </p:nvSpPr>
        <p:spPr>
          <a:xfrm>
            <a:off x="838200" y="365125"/>
            <a:ext cx="7734300" cy="5811838"/>
          </a:xfrm>
        </p:spPr>
        <p:txBody>
          <a:bodyPr vert="eaVert"/>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3.png"/><Relationship Id="rId15" Type="http://schemas.openxmlformats.org/officeDocument/2006/relationships/image" Target="../media/image2.jpeg"/><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2" Type="http://schemas.openxmlformats.org/officeDocument/2006/relationships/theme" Target="../theme/theme2.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ln>
        </p:spPr>
        <p:txBody>
          <a:bodyPr vert="horz" wrap="square" lIns="91440" tIns="45720" rIns="91440" bIns="45720" numCol="1" anchor="ctr" anchorCtr="0" compatLnSpc="1"/>
          <a:lstStyle/>
          <a:p>
            <a:pPr lvl="0"/>
            <a:r>
              <a:rPr lang="zh-TW" altLang="en-US" dirty="0"/>
              <a:t>按一下以編輯母片標題樣式</a:t>
            </a:r>
            <a:endParaRPr lang="zh-TW" altLang="en-US" dirty="0"/>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ln>
        </p:spPr>
        <p:txBody>
          <a:bodyPr vert="horz" wrap="square" lIns="91440" tIns="45720" rIns="91440" bIns="45720" numCol="1" anchor="t" anchorCtr="0" compatLnSpc="1"/>
          <a:lstStyle/>
          <a:p>
            <a:pPr lvl="0"/>
            <a:r>
              <a:rPr lang="zh-TW" altLang="en-US" dirty="0"/>
              <a:t>按一下以編輯母片</a:t>
            </a:r>
            <a:endParaRPr lang="zh-TW" altLang="en-US" dirty="0"/>
          </a:p>
          <a:p>
            <a:pPr lvl="1"/>
            <a:r>
              <a:rPr lang="zh-TW" altLang="en-US" dirty="0"/>
              <a:t>按一下以編輯母片</a:t>
            </a:r>
            <a:endParaRPr lang="zh-TW" altLang="en-US" dirty="0"/>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4"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anose="020B0604020202020204" pitchFamily="34" charset="0"/>
                <a:ea typeface="PMingLiU" pitchFamily="18" charset="-120"/>
                <a:cs typeface="Arial" panose="020B0604020202020204" pitchFamily="34" charset="0"/>
              </a:rPr>
              <a:t>National Tsing Hua University ® copyright OIA</a:t>
            </a:r>
            <a:endParaRPr lang="zh-TW" altLang="en-US" sz="1200" b="1" dirty="0">
              <a:solidFill>
                <a:schemeClr val="bg1"/>
              </a:solidFill>
              <a:latin typeface="Arial" panose="020B0604020202020204" pitchFamily="34" charset="0"/>
              <a:ea typeface="PMingLiU" pitchFamily="18" charset="-120"/>
              <a:cs typeface="Arial" panose="020B0604020202020204"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ln>
          <a:effectLst>
            <a:prstShdw prst="shdw18" dist="17961" dir="13500000">
              <a:srgbClr val="990099">
                <a:gamma/>
                <a:shade val="60000"/>
                <a:invGamma/>
              </a:srgbClr>
            </a:prstShdw>
          </a:effectLst>
        </p:spPr>
        <p:txBody>
          <a:bodyPr wrap="none" anchor="ctr"/>
          <a:lstStyle/>
          <a:p>
            <a:pPr>
              <a:defRPr/>
            </a:pPr>
            <a:endParaRPr lang="zh-TW" altLang="en-US" sz="1800">
              <a:ea typeface="PMingLiU"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ln>
          <a:effectLst>
            <a:prstShdw prst="shdw18" dist="17961" dir="13500000">
              <a:srgbClr val="990099">
                <a:gamma/>
                <a:shade val="60000"/>
                <a:invGamma/>
              </a:srgbClr>
            </a:prstShdw>
          </a:effectLst>
        </p:spPr>
        <p:txBody>
          <a:bodyPr wrap="none" anchor="ctr"/>
          <a:lstStyle/>
          <a:p>
            <a:pPr>
              <a:defRPr/>
            </a:pPr>
            <a:endParaRPr lang="zh-TW" altLang="en-US" sz="1800">
              <a:ea typeface="PMingLiU"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1"/>
                </a:solidFill>
                <a:latin typeface="Arial" panose="020B0604020202020204" pitchFamily="34" charset="0"/>
                <a:ea typeface="PMingLiU" pitchFamily="18" charset="-120"/>
              </a:defRPr>
            </a:lvl1pPr>
          </a:lstStyle>
          <a:p>
            <a:fld id="{D9B6BDF2-6896-4B98-8776-C18582F63BA5}" type="slidenum">
              <a:rPr lang="zh-TW" altLang="en-US" smtClean="0"/>
            </a:fld>
            <a:endParaRPr lang="zh-TW" altLang="en-US"/>
          </a:p>
        </p:txBody>
      </p:sp>
      <p:pic>
        <p:nvPicPr>
          <p:cNvPr id="14" name="圖片 13"/>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等线" panose="02010600030101010101" charset="-122"/>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PMingLiU" pitchFamily="18" charset="-120"/>
                <a:cs typeface="Times New Roman" panose="02020603050405020304" pitchFamily="18" charset="0"/>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1" fontAlgn="base" hangingPunct="1">
        <a:spcBef>
          <a:spcPct val="0"/>
        </a:spcBef>
        <a:spcAft>
          <a:spcPct val="0"/>
        </a:spcAft>
        <a:defRPr kumimoji="1" sz="4800" b="1">
          <a:solidFill>
            <a:schemeClr val="tx2"/>
          </a:solidFill>
          <a:latin typeface="Calibri" panose="020F0502020204030204"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S Sans Serif"/>
        </a:defRPr>
      </a:lvl5pPr>
      <a:lvl6pPr marL="457200" algn="l" rtl="0" eaLnBrk="1" fontAlgn="base" hangingPunct="1">
        <a:spcBef>
          <a:spcPct val="0"/>
        </a:spcBef>
        <a:spcAft>
          <a:spcPct val="0"/>
        </a:spcAft>
        <a:defRPr kumimoji="1" sz="3000" b="1">
          <a:solidFill>
            <a:schemeClr val="tx2"/>
          </a:solidFill>
          <a:latin typeface="MS Sans Serif"/>
          <a:ea typeface="MS Sans Serif"/>
          <a:cs typeface="MS Sans Serif"/>
        </a:defRPr>
      </a:lvl6pPr>
      <a:lvl7pPr marL="914400" algn="l" rtl="0" eaLnBrk="1" fontAlgn="base" hangingPunct="1">
        <a:spcBef>
          <a:spcPct val="0"/>
        </a:spcBef>
        <a:spcAft>
          <a:spcPct val="0"/>
        </a:spcAft>
        <a:defRPr kumimoji="1" sz="3000" b="1">
          <a:solidFill>
            <a:schemeClr val="tx2"/>
          </a:solidFill>
          <a:latin typeface="MS Sans Serif"/>
          <a:ea typeface="MS Sans Serif"/>
          <a:cs typeface="MS Sans Serif"/>
        </a:defRPr>
      </a:lvl7pPr>
      <a:lvl8pPr marL="1371600" algn="l" rtl="0" eaLnBrk="1" fontAlgn="base" hangingPunct="1">
        <a:spcBef>
          <a:spcPct val="0"/>
        </a:spcBef>
        <a:spcAft>
          <a:spcPct val="0"/>
        </a:spcAft>
        <a:defRPr kumimoji="1" sz="3000" b="1">
          <a:solidFill>
            <a:schemeClr val="tx2"/>
          </a:solidFill>
          <a:latin typeface="MS Sans Serif"/>
          <a:ea typeface="MS Sans Serif"/>
          <a:cs typeface="MS Sans Serif"/>
        </a:defRPr>
      </a:lvl8pPr>
      <a:lvl9pPr marL="1828800" algn="l" rtl="0" eaLnBrk="1" fontAlgn="base" hangingPunct="1">
        <a:spcBef>
          <a:spcPct val="0"/>
        </a:spcBef>
        <a:spcAft>
          <a:spcPct val="0"/>
        </a:spcAft>
        <a:defRPr kumimoji="1" sz="3000" b="1">
          <a:solidFill>
            <a:schemeClr val="tx2"/>
          </a:solidFill>
          <a:latin typeface="MS Sans Serif"/>
          <a:ea typeface="MS Sans Serif"/>
          <a:cs typeface="MS Sans Serif"/>
        </a:defRPr>
      </a:lvl9pPr>
    </p:titleStyle>
    <p:body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fld>
            <a:endParaRPr lang="zh-TW"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9.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1.png"/><Relationship Id="rId1" Type="http://schemas.openxmlformats.org/officeDocument/2006/relationships/image" Target="../media/image30.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1775" y="1276350"/>
            <a:ext cx="11396980" cy="2416810"/>
          </a:xfrm>
        </p:spPr>
        <p:txBody>
          <a:bodyPr/>
          <a:lstStyle/>
          <a:p>
            <a:pPr marL="0" indent="0" algn="ctr" latinLnBrk="0">
              <a:lnSpc>
                <a:spcPct val="150000"/>
              </a:lnSpc>
            </a:pPr>
            <a:r>
              <a:rPr lang="en-US" altLang="zh-CN" sz="4000" dirty="0"/>
              <a:t>GPU communication systems: </a:t>
            </a:r>
            <a:br>
              <a:rPr lang="en-US" altLang="zh-CN" sz="3600" dirty="0"/>
            </a:br>
            <a:r>
              <a:rPr lang="en-US" altLang="zh-CN" sz="3600" dirty="0"/>
              <a:t>Collective Communication from Libraries to Hardware</a:t>
            </a:r>
            <a:br>
              <a:rPr lang="en-US" altLang="zh-CN" sz="4800" dirty="0">
                <a:effectLst>
                  <a:outerShdw blurRad="38100" dist="38100" dir="2700000" algn="tl">
                    <a:srgbClr val="000000">
                      <a:alpha val="43137"/>
                    </a:srgbClr>
                  </a:outerShdw>
                </a:effectLst>
              </a:rPr>
            </a:br>
            <a:r>
              <a:rPr lang="en-US" altLang="zh-CN" sz="3200" b="0" dirty="0">
                <a:effectLst>
                  <a:outerShdw blurRad="38100" dist="38100" dir="2700000" algn="tl">
                    <a:srgbClr val="000000">
                      <a:alpha val="43137"/>
                    </a:srgbClr>
                  </a:outerShdw>
                </a:effectLst>
              </a:rPr>
              <a:t>2026.1.22</a:t>
            </a:r>
            <a:endParaRPr lang="zh-TW" altLang="en-US" sz="3200" b="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828800" y="3855632"/>
            <a:ext cx="8534400" cy="1882455"/>
          </a:xfrm>
        </p:spPr>
        <p:txBody>
          <a:bodyPr/>
          <a:lstStyle/>
          <a:p>
            <a:r>
              <a:rPr lang="en-US" altLang="zh-CN" sz="3200" dirty="0" err="1">
                <a:effectLst>
                  <a:outerShdw blurRad="38100" dist="38100" dir="2700000" algn="tl">
                    <a:srgbClr val="000000">
                      <a:alpha val="43137"/>
                    </a:srgbClr>
                  </a:outerShdw>
                </a:effectLst>
              </a:rPr>
              <a:t>Haoran</a:t>
            </a:r>
            <a:r>
              <a:rPr lang="en-US" altLang="zh-CN" sz="3200" dirty="0">
                <a:effectLst>
                  <a:outerShdw blurRad="38100" dist="38100" dir="2700000" algn="tl">
                    <a:srgbClr val="000000">
                      <a:alpha val="43137"/>
                    </a:srgbClr>
                  </a:outerShdw>
                </a:effectLst>
              </a:rPr>
              <a:t> Kong</a:t>
            </a:r>
            <a:endParaRPr lang="en-US" altLang="zh-CN" sz="3200" dirty="0">
              <a:effectLst>
                <a:outerShdw blurRad="38100" dist="38100" dir="2700000" algn="tl">
                  <a:srgbClr val="000000">
                    <a:alpha val="43137"/>
                  </a:srgbClr>
                </a:outerShdw>
              </a:effectLst>
            </a:endParaRPr>
          </a:p>
          <a:p>
            <a:r>
              <a:rPr lang="en-US" altLang="zh-TW" sz="3200" dirty="0"/>
              <a:t>School of </a:t>
            </a:r>
            <a:r>
              <a:rPr lang="en-US" altLang="zh-CN" sz="3200" dirty="0"/>
              <a:t>Data </a:t>
            </a:r>
            <a:r>
              <a:rPr lang="en-US" altLang="zh-TW" sz="3200" dirty="0"/>
              <a:t>Science</a:t>
            </a:r>
            <a:endParaRPr lang="en-US" altLang="zh-TW" sz="3200" dirty="0"/>
          </a:p>
          <a:p>
            <a:r>
              <a:rPr lang="en-US" altLang="zh-TW" sz="3200" dirty="0"/>
              <a:t>Chinese University of Hong Kong, Shenzhen</a:t>
            </a:r>
            <a:endParaRPr lang="en-US" altLang="zh-TW"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5" dirty="0">
                <a:latin typeface="Times New Roman" panose="02020603050405020304" pitchFamily="18" charset="0"/>
                <a:cs typeface="Times New Roman" panose="02020603050405020304" pitchFamily="18" charset="0"/>
              </a:rPr>
              <a:t>Introduction (3 min)</a:t>
            </a:r>
            <a:endParaRPr lang="en-US" altLang="zh-TW"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Background &amp; Motivation (11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Proposed Methods &amp; Performance Evaluation (24 min)</a:t>
            </a:r>
            <a:endParaRPr lang="en-US" altLang="zh-CN" sz="2935" dirty="0">
              <a:latin typeface="Times New Roman" panose="02020603050405020304" pitchFamily="18" charset="0"/>
              <a:cs typeface="Times New Roman" panose="02020603050405020304" pitchFamily="18" charset="0"/>
            </a:endParaRPr>
          </a:p>
          <a:p>
            <a:pPr lvl="1"/>
            <a:r>
              <a:rPr lang="en-US" altLang="zh-CN" sz="2400" dirty="0" err="1">
                <a:latin typeface="Times New Roman" panose="02020603050405020304" pitchFamily="18" charset="0"/>
                <a:cs typeface="Times New Roman" panose="02020603050405020304" pitchFamily="18" charset="0"/>
              </a:rPr>
              <a:t>MSCCL++</a:t>
            </a:r>
            <a:r>
              <a:rPr lang="en-US" altLang="zh-CN" sz="2400" dirty="0">
                <a:latin typeface="Times New Roman" panose="02020603050405020304" pitchFamily="18" charset="0"/>
                <a:cs typeface="Times New Roman" panose="02020603050405020304" pitchFamily="18" charset="0"/>
              </a:rPr>
              <a:t> (8 min)</a:t>
            </a:r>
            <a:endParaRPr lang="en-US" altLang="zh-CN" sz="2400" dirty="0">
              <a:latin typeface="Times New Roman" panose="02020603050405020304" pitchFamily="18" charset="0"/>
              <a:cs typeface="Times New Roman" panose="02020603050405020304" pitchFamily="18" charset="0"/>
            </a:endParaRPr>
          </a:p>
          <a:p>
            <a:pPr lvl="1"/>
            <a:r>
              <a:rPr lang="en-US" altLang="zh-CN" sz="2400" dirty="0" err="1">
                <a:latin typeface="Times New Roman" panose="02020603050405020304" pitchFamily="18" charset="0"/>
                <a:cs typeface="Times New Roman" panose="02020603050405020304" pitchFamily="18" charset="0"/>
              </a:rPr>
              <a:t>syCCL</a:t>
            </a:r>
            <a:r>
              <a:rPr lang="en-US" altLang="zh-CN" sz="2400" dirty="0">
                <a:latin typeface="Times New Roman" panose="02020603050405020304" pitchFamily="18" charset="0"/>
                <a:cs typeface="Times New Roman" panose="02020603050405020304" pitchFamily="18" charset="0"/>
              </a:rPr>
              <a:t> (8 min)</a:t>
            </a:r>
            <a:endParaRPr lang="en-US" altLang="zh-CN" sz="2400" dirty="0">
              <a:latin typeface="Times New Roman" panose="02020603050405020304" pitchFamily="18" charset="0"/>
              <a:cs typeface="Times New Roman" panose="02020603050405020304" pitchFamily="18" charset="0"/>
            </a:endParaRPr>
          </a:p>
          <a:p>
            <a:pPr lvl="1"/>
            <a:r>
              <a:rPr lang="en-US" altLang="zh-CN" sz="2400" dirty="0">
                <a:latin typeface="Times New Roman" panose="02020603050405020304" pitchFamily="18" charset="0"/>
                <a:cs typeface="Times New Roman" panose="02020603050405020304" pitchFamily="18" charset="0"/>
              </a:rPr>
              <a:t>NCCLX (8 min)</a:t>
            </a:r>
            <a:endParaRPr lang="en-US" altLang="zh-CN" sz="2400"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Conclusions (2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Q &amp; A (5 min)</a:t>
            </a:r>
            <a:endParaRPr lang="en-US" altLang="zh-CN" sz="2935" dirty="0">
              <a:latin typeface="Times New Roman" panose="02020603050405020304" pitchFamily="18" charset="0"/>
              <a:cs typeface="Times New Roman" panose="0202060305040502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5" dirty="0">
                <a:solidFill>
                  <a:srgbClr val="FF0000"/>
                </a:solidFill>
                <a:latin typeface="Times New Roman" panose="02020603050405020304" pitchFamily="18" charset="0"/>
                <a:cs typeface="Times New Roman" panose="02020603050405020304" pitchFamily="18" charset="0"/>
              </a:rPr>
              <a:t>Introduction (3 min)</a:t>
            </a:r>
            <a:endParaRPr lang="en-US" altLang="zh-TW" sz="2935" dirty="0">
              <a:solidFill>
                <a:srgbClr val="FF0000"/>
              </a:solidFill>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Background &amp; Motivation (11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Proposed Methods &amp; Performance Evaluation (24 min)</a:t>
            </a:r>
            <a:endParaRPr lang="en-US" altLang="zh-CN" sz="2935" dirty="0">
              <a:latin typeface="Times New Roman" panose="02020603050405020304" pitchFamily="18" charset="0"/>
              <a:cs typeface="Times New Roman" panose="02020603050405020304" pitchFamily="18" charset="0"/>
            </a:endParaRPr>
          </a:p>
          <a:p>
            <a:pPr lvl="1"/>
            <a:r>
              <a:rPr lang="en-US" altLang="zh-CN" sz="2400" dirty="0" err="1">
                <a:latin typeface="Times New Roman" panose="02020603050405020304" pitchFamily="18" charset="0"/>
                <a:cs typeface="Times New Roman" panose="02020603050405020304" pitchFamily="18" charset="0"/>
              </a:rPr>
              <a:t>MSCCL++</a:t>
            </a:r>
            <a:r>
              <a:rPr lang="en-US" altLang="zh-CN" sz="2400" dirty="0">
                <a:latin typeface="Times New Roman" panose="02020603050405020304" pitchFamily="18" charset="0"/>
                <a:cs typeface="Times New Roman" panose="02020603050405020304" pitchFamily="18" charset="0"/>
              </a:rPr>
              <a:t> (8 min)</a:t>
            </a:r>
            <a:endParaRPr lang="en-US" altLang="zh-CN" sz="2400" dirty="0">
              <a:latin typeface="Times New Roman" panose="02020603050405020304" pitchFamily="18" charset="0"/>
              <a:cs typeface="Times New Roman" panose="02020603050405020304" pitchFamily="18" charset="0"/>
            </a:endParaRPr>
          </a:p>
          <a:p>
            <a:pPr lvl="1"/>
            <a:r>
              <a:rPr lang="en-US" altLang="zh-CN" sz="2400" dirty="0" err="1">
                <a:latin typeface="Times New Roman" panose="02020603050405020304" pitchFamily="18" charset="0"/>
                <a:cs typeface="Times New Roman" panose="02020603050405020304" pitchFamily="18" charset="0"/>
              </a:rPr>
              <a:t>syCCL</a:t>
            </a:r>
            <a:r>
              <a:rPr lang="en-US" altLang="zh-CN" sz="2400" dirty="0">
                <a:latin typeface="Times New Roman" panose="02020603050405020304" pitchFamily="18" charset="0"/>
                <a:cs typeface="Times New Roman" panose="02020603050405020304" pitchFamily="18" charset="0"/>
              </a:rPr>
              <a:t> (8 min)</a:t>
            </a:r>
            <a:endParaRPr lang="en-US" altLang="zh-CN" sz="2400" dirty="0">
              <a:latin typeface="Times New Roman" panose="02020603050405020304" pitchFamily="18" charset="0"/>
              <a:cs typeface="Times New Roman" panose="02020603050405020304" pitchFamily="18" charset="0"/>
            </a:endParaRPr>
          </a:p>
          <a:p>
            <a:pPr lvl="1"/>
            <a:r>
              <a:rPr lang="en-US" altLang="zh-CN" sz="2400" dirty="0">
                <a:latin typeface="Times New Roman" panose="02020603050405020304" pitchFamily="18" charset="0"/>
                <a:cs typeface="Times New Roman" panose="02020603050405020304" pitchFamily="18" charset="0"/>
              </a:rPr>
              <a:t>NCCLX (8 min)</a:t>
            </a:r>
            <a:endParaRPr lang="en-US" altLang="zh-CN" sz="2400"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Conclusions (2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Q &amp; A (5 min)</a:t>
            </a:r>
            <a:endParaRPr lang="en-US" altLang="zh-CN" sz="2935" dirty="0">
              <a:latin typeface="Times New Roman" panose="02020603050405020304" pitchFamily="18" charset="0"/>
              <a:cs typeface="Times New Roman" panose="0202060305040502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687705" y="2504440"/>
            <a:ext cx="10438130" cy="3650615"/>
          </a:xfrm>
          <a:prstGeom prst="rect">
            <a:avLst/>
          </a:prstGeom>
        </p:spPr>
      </p:pic>
      <p:sp>
        <p:nvSpPr>
          <p:cNvPr id="2" name="Title 1"/>
          <p:cNvSpPr>
            <a:spLocks noGrp="1"/>
          </p:cNvSpPr>
          <p:nvPr>
            <p:ph type="title"/>
          </p:nvPr>
        </p:nvSpPr>
        <p:spPr>
          <a:xfrm>
            <a:off x="1088571" y="144466"/>
            <a:ext cx="10722429" cy="692151"/>
          </a:xfrm>
        </p:spPr>
        <p:txBody>
          <a:bodyPr/>
          <a:lstStyle/>
          <a:p>
            <a:r>
              <a:rPr lang="en-US" altLang="zh-CN" dirty="0">
                <a:ea typeface="Calibri" panose="020F0502020204030204" pitchFamily="34" charset="0"/>
                <a:cs typeface="Calibri" panose="020F0502020204030204" pitchFamily="34" charset="0"/>
              </a:rPr>
              <a:t>Introduction – CCL (1/3)</a:t>
            </a:r>
            <a:endParaRPr lang="en-US" dirty="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09600" y="889952"/>
            <a:ext cx="10594109" cy="4831917"/>
          </a:xfrm>
        </p:spPr>
        <p:txBody>
          <a:bodyPr/>
          <a:lstStyle/>
          <a:p>
            <a:pPr latinLnBrk="0">
              <a:lnSpc>
                <a:spcPct val="150000"/>
              </a:lnSpc>
              <a:spcBef>
                <a:spcPts val="0"/>
              </a:spcBef>
            </a:pPr>
            <a:r>
              <a:rPr lang="en-US" sz="2400" dirty="0">
                <a:latin typeface="Times New Roman" panose="02020603050405020304" pitchFamily="18" charset="0"/>
                <a:cs typeface="Times New Roman" panose="02020603050405020304" pitchFamily="18" charset="0"/>
              </a:rPr>
              <a:t>What is </a:t>
            </a:r>
            <a:r>
              <a:rPr lang="en-US" sz="2400" dirty="0">
                <a:latin typeface="Times New Roman" panose="02020603050405020304" pitchFamily="18" charset="0"/>
                <a:cs typeface="Times New Roman" panose="02020603050405020304" pitchFamily="18" charset="0"/>
              </a:rPr>
              <a:t>CCL?</a:t>
            </a:r>
            <a:endParaRPr lang="en-US" sz="2400" dirty="0">
              <a:latin typeface="Times New Roman" panose="02020603050405020304" pitchFamily="18" charset="0"/>
              <a:cs typeface="Times New Roman" panose="02020603050405020304" pitchFamily="18" charset="0"/>
            </a:endParaRPr>
          </a:p>
          <a:p>
            <a:pPr lvl="1" latinLnBrk="0">
              <a:lnSpc>
                <a:spcPct val="150000"/>
              </a:lnSpc>
              <a:spcBef>
                <a:spcPts val="0"/>
              </a:spcBef>
            </a:pPr>
            <a:r>
              <a:rPr lang="en-US" altLang="zh-CN" sz="2200" dirty="0">
                <a:latin typeface="Times New Roman" panose="02020603050405020304" pitchFamily="18" charset="0"/>
                <a:cs typeface="Times New Roman" panose="02020603050405020304" pitchFamily="18" charset="0"/>
              </a:rPr>
              <a:t>A Collective Communication Library (</a:t>
            </a:r>
            <a:r>
              <a:rPr lang="en-US" altLang="zh-CN" sz="2200" dirty="0">
                <a:latin typeface="Times New Roman" panose="02020603050405020304" pitchFamily="18" charset="0"/>
                <a:cs typeface="Times New Roman" panose="02020603050405020304" pitchFamily="18" charset="0"/>
              </a:rPr>
              <a:t>CCL) is a specialized set of software tools that allows multiple processors (CPUs or GPUs) to talk to each other efficiently.</a:t>
            </a:r>
            <a:endParaRPr lang="en-US" altLang="zh-CN" sz="2200" dirty="0">
              <a:latin typeface="Times New Roman" panose="02020603050405020304" pitchFamily="18" charset="0"/>
              <a:cs typeface="Times New Roman" panose="02020603050405020304" pitchFamily="18"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Introduction – </a:t>
            </a:r>
            <a:r>
              <a:rPr lang="en-US" altLang="zh-CN" dirty="0">
                <a:ea typeface="Calibri" panose="020F0502020204030204" pitchFamily="34" charset="0"/>
                <a:cs typeface="Calibri" panose="020F0502020204030204" pitchFamily="34" charset="0"/>
              </a:rPr>
              <a:t>CCL (2/3)</a:t>
            </a:r>
            <a:endParaRPr lang="en-US" dirty="0">
              <a:ea typeface="Calibri" panose="020F0502020204030204" pitchFamily="34" charset="0"/>
              <a:cs typeface="Calibri" panose="020F0502020204030204" pitchFamily="34"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6" name="内容占位符 5"/>
          <p:cNvSpPr>
            <a:spLocks noGrp="1"/>
          </p:cNvSpPr>
          <p:nvPr>
            <p:ph idx="1"/>
          </p:nvPr>
        </p:nvSpPr>
        <p:spPr>
          <a:xfrm>
            <a:off x="632460" y="945515"/>
            <a:ext cx="11184255" cy="5141595"/>
          </a:xfrm>
        </p:spPr>
        <p:txBody>
          <a:bodyPr/>
          <a:lstStyle/>
          <a:p>
            <a:pPr latinLnBrk="0">
              <a:lnSpc>
                <a:spcPct val="150000"/>
              </a:lnSpc>
            </a:pPr>
            <a:r>
              <a:rPr lang="en-US" altLang="zh-CN" sz="2400" dirty="0">
                <a:latin typeface="Times New Roman" panose="02020603050405020304" pitchFamily="18" charset="0"/>
                <a:cs typeface="Times New Roman" panose="02020603050405020304" pitchFamily="18" charset="0"/>
              </a:rPr>
              <a:t>Why use CCL?</a:t>
            </a:r>
            <a:endParaRPr lang="en-US" altLang="zh-CN" sz="2400" dirty="0">
              <a:latin typeface="Times New Roman" panose="02020603050405020304" pitchFamily="18" charset="0"/>
              <a:cs typeface="Times New Roman" panose="02020603050405020304" pitchFamily="18" charset="0"/>
            </a:endParaRPr>
          </a:p>
          <a:p>
            <a:pPr lvl="1" latinLnBrk="0">
              <a:lnSpc>
                <a:spcPct val="150000"/>
              </a:lnSpc>
            </a:pPr>
            <a:r>
              <a:rPr lang="en-US" altLang="zh-CN" sz="2200" dirty="0">
                <a:latin typeface="Times New Roman" panose="02020603050405020304" pitchFamily="18" charset="0"/>
                <a:cs typeface="Times New Roman" panose="02020603050405020304" pitchFamily="18" charset="0"/>
                <a:sym typeface="+mn-ea"/>
              </a:rPr>
              <a:t>ML workloads are going distributed</a:t>
            </a:r>
            <a:endParaRPr lang="en-US" altLang="zh-CN" sz="2200" dirty="0">
              <a:latin typeface="Times New Roman" panose="02020603050405020304" pitchFamily="18" charset="0"/>
              <a:cs typeface="Times New Roman" panose="02020603050405020304" pitchFamily="18" charset="0"/>
            </a:endParaRPr>
          </a:p>
          <a:p>
            <a:pPr lvl="2" algn="l" rtl="0" latinLnBrk="0">
              <a:lnSpc>
                <a:spcPct val="150000"/>
              </a:lnSpc>
              <a:spcBef>
                <a:spcPts val="0"/>
              </a:spcBef>
              <a:buClrTx/>
              <a:buSzTx/>
              <a:buFontTx/>
            </a:pPr>
            <a:r>
              <a:rPr lang="en-US" altLang="zh-CN" sz="2000" dirty="0">
                <a:latin typeface="Times New Roman" panose="02020603050405020304" pitchFamily="18" charset="0"/>
                <a:cs typeface="Times New Roman" panose="02020603050405020304" pitchFamily="18" charset="0"/>
                <a:sym typeface="+mn-ea"/>
              </a:rPr>
              <a:t>Larger and larger training scale (All-reduce, Reduce-scatter, All-gather)</a:t>
            </a:r>
            <a:endParaRPr lang="en-US" altLang="zh-CN" sz="2000" b="0" dirty="0">
              <a:latin typeface="Times New Roman" panose="02020603050405020304" pitchFamily="18" charset="0"/>
              <a:cs typeface="Times New Roman" panose="02020603050405020304" pitchFamily="18" charset="0"/>
            </a:endParaRPr>
          </a:p>
          <a:p>
            <a:pPr lvl="2" algn="l" rtl="0" latinLnBrk="0">
              <a:lnSpc>
                <a:spcPct val="150000"/>
              </a:lnSpc>
              <a:spcBef>
                <a:spcPts val="0"/>
              </a:spcBef>
              <a:buClrTx/>
              <a:buSzTx/>
              <a:buFontTx/>
            </a:pPr>
            <a:r>
              <a:rPr lang="en-US" altLang="zh-CN" sz="2000" dirty="0">
                <a:latin typeface="Times New Roman" panose="02020603050405020304" pitchFamily="18" charset="0"/>
                <a:cs typeface="Times New Roman" panose="02020603050405020304" pitchFamily="18" charset="0"/>
                <a:sym typeface="+mn-ea"/>
              </a:rPr>
              <a:t>Massive expert parallelism in MoE (All to All like)</a:t>
            </a:r>
            <a:endParaRPr lang="en-US" altLang="zh-CN" sz="2000" dirty="0">
              <a:latin typeface="Times New Roman" panose="02020603050405020304" pitchFamily="18" charset="0"/>
              <a:cs typeface="Times New Roman" panose="02020603050405020304" pitchFamily="18" charset="0"/>
            </a:endParaRPr>
          </a:p>
          <a:p>
            <a:pPr lvl="1" latinLnBrk="0">
              <a:lnSpc>
                <a:spcPct val="150000"/>
              </a:lnSpc>
            </a:pPr>
            <a:r>
              <a:rPr lang="en-US" altLang="zh-CN" sz="2200" dirty="0">
                <a:latin typeface="Times New Roman" panose="02020603050405020304" pitchFamily="18" charset="0"/>
                <a:cs typeface="Times New Roman" panose="02020603050405020304" pitchFamily="18" charset="0"/>
              </a:rPr>
              <a:t>Collectives are central to scalability in a variety of key applications:</a:t>
            </a:r>
            <a:endParaRPr lang="en-US" altLang="zh-CN" sz="2200" dirty="0">
              <a:latin typeface="Times New Roman" panose="02020603050405020304" pitchFamily="18" charset="0"/>
              <a:cs typeface="Times New Roman" panose="02020603050405020304" pitchFamily="18" charset="0"/>
            </a:endParaRPr>
          </a:p>
          <a:p>
            <a:pPr lvl="2" latinLnBrk="0">
              <a:lnSpc>
                <a:spcPct val="150000"/>
              </a:lnSpc>
              <a:spcBef>
                <a:spcPts val="0"/>
              </a:spcBef>
            </a:pPr>
            <a:r>
              <a:rPr lang="en-US" altLang="zh-CN" sz="2000" dirty="0">
                <a:latin typeface="Times New Roman" panose="02020603050405020304" pitchFamily="18" charset="0"/>
                <a:cs typeface="Times New Roman" panose="02020603050405020304" pitchFamily="18" charset="0"/>
              </a:rPr>
              <a:t>Parallel FFT (Transposition is all-to-all)</a:t>
            </a:r>
            <a:endParaRPr lang="en-US" altLang="zh-CN" sz="2000" dirty="0">
              <a:latin typeface="Times New Roman" panose="02020603050405020304" pitchFamily="18" charset="0"/>
              <a:cs typeface="Times New Roman" panose="02020603050405020304" pitchFamily="18" charset="0"/>
            </a:endParaRPr>
          </a:p>
          <a:p>
            <a:pPr lvl="2" latinLnBrk="0">
              <a:lnSpc>
                <a:spcPct val="150000"/>
              </a:lnSpc>
              <a:spcBef>
                <a:spcPts val="0"/>
              </a:spcBef>
            </a:pPr>
            <a:r>
              <a:rPr lang="en-US" altLang="zh-CN" sz="2000" dirty="0">
                <a:latin typeface="Times New Roman" panose="02020603050405020304" pitchFamily="18" charset="0"/>
                <a:cs typeface="Times New Roman" panose="02020603050405020304" pitchFamily="18" charset="0"/>
              </a:rPr>
              <a:t>Molecular Dynamics (All-reduce)</a:t>
            </a:r>
            <a:endParaRPr lang="en-US" altLang="zh-CN" sz="2000" dirty="0">
              <a:latin typeface="Times New Roman" panose="02020603050405020304" pitchFamily="18" charset="0"/>
              <a:cs typeface="Times New Roman" panose="02020603050405020304" pitchFamily="18" charset="0"/>
            </a:endParaRPr>
          </a:p>
          <a:p>
            <a:pPr lvl="2" latinLnBrk="0">
              <a:lnSpc>
                <a:spcPct val="150000"/>
              </a:lnSpc>
              <a:spcBef>
                <a:spcPts val="0"/>
              </a:spcBef>
            </a:pPr>
            <a:r>
              <a:rPr lang="en-US" altLang="zh-CN" sz="2000" dirty="0">
                <a:latin typeface="Times New Roman" panose="02020603050405020304" pitchFamily="18" charset="0"/>
                <a:cs typeface="Times New Roman" panose="02020603050405020304" pitchFamily="18" charset="0"/>
              </a:rPr>
              <a:t>Graph Analytics (All-to-all)</a:t>
            </a:r>
            <a:endParaRPr lang="en-US" altLang="zh-CN" sz="2000" dirty="0">
              <a:latin typeface="Times New Roman" panose="02020603050405020304" pitchFamily="18" charset="0"/>
              <a:cs typeface="Times New Roman" panose="02020603050405020304" pitchFamily="18" charset="0"/>
            </a:endParaRPr>
          </a:p>
          <a:p>
            <a:pPr lvl="1" latinLnBrk="0">
              <a:lnSpc>
                <a:spcPct val="150000"/>
              </a:lnSpc>
              <a:spcBef>
                <a:spcPts val="0"/>
              </a:spcBef>
            </a:pPr>
            <a:r>
              <a:rPr lang="en-US" altLang="zh-CN" sz="2200" dirty="0">
                <a:latin typeface="Times New Roman" panose="02020603050405020304" pitchFamily="18" charset="0"/>
                <a:cs typeface="Times New Roman" panose="02020603050405020304" pitchFamily="18" charset="0"/>
              </a:rPr>
              <a:t>While various solutions—including NCCL, MPI, and DeepEP—address different layers of this challenge, this discussion focuses specifically on GPU-directed CCLs.</a:t>
            </a:r>
            <a:endParaRPr lang="en-US" altLang="zh-C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Introduction – CCL (3/3)</a:t>
            </a:r>
            <a:endParaRPr lang="en-US" dirty="0">
              <a:ea typeface="Calibri" panose="020F0502020204030204" pitchFamily="34" charset="0"/>
              <a:cs typeface="Calibri" panose="020F0502020204030204" pitchFamily="34"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6" name="内容占位符 5"/>
          <p:cNvSpPr>
            <a:spLocks noGrp="1"/>
          </p:cNvSpPr>
          <p:nvPr>
            <p:ph idx="1"/>
          </p:nvPr>
        </p:nvSpPr>
        <p:spPr>
          <a:xfrm>
            <a:off x="609600" y="1125220"/>
            <a:ext cx="11116945" cy="4895850"/>
          </a:xfrm>
        </p:spPr>
        <p:txBody>
          <a:bodyPr/>
          <a:lstStyle/>
          <a:p>
            <a:r>
              <a:rPr lang="en-US" altLang="zh-CN" sz="2400" dirty="0">
                <a:latin typeface="Times New Roman" panose="02020603050405020304" pitchFamily="18" charset="0"/>
                <a:cs typeface="Times New Roman" panose="02020603050405020304" pitchFamily="18" charset="0"/>
              </a:rPr>
              <a:t>How CCLs work?</a:t>
            </a:r>
            <a:endParaRPr lang="en-US" altLang="zh-CN" sz="2400" dirty="0">
              <a:latin typeface="Times New Roman" panose="02020603050405020304" pitchFamily="18" charset="0"/>
              <a:cs typeface="Times New Roman" panose="02020603050405020304" pitchFamily="18" charset="0"/>
            </a:endParaRPr>
          </a:p>
          <a:p>
            <a:pPr lvl="1"/>
            <a:r>
              <a:rPr lang="en-US" altLang="zh-CN" sz="2200" dirty="0">
                <a:latin typeface="Times New Roman" panose="02020603050405020304" pitchFamily="18" charset="0"/>
                <a:cs typeface="Times New Roman" panose="02020603050405020304" pitchFamily="18" charset="0"/>
              </a:rPr>
              <a:t>Core Idea: a battle between algorithmic efficiency and hardware constraints</a:t>
            </a:r>
            <a:endParaRPr lang="en-US" altLang="zh-CN" sz="2200" dirty="0">
              <a:latin typeface="Times New Roman" panose="02020603050405020304" pitchFamily="18" charset="0"/>
              <a:cs typeface="Times New Roman" panose="02020603050405020304" pitchFamily="18" charset="0"/>
            </a:endParaRPr>
          </a:p>
          <a:p>
            <a:pPr lvl="1"/>
            <a:r>
              <a:rPr lang="en-US" altLang="zh-CN" sz="2400" dirty="0">
                <a:latin typeface="Times New Roman" panose="02020603050405020304" pitchFamily="18" charset="0"/>
                <a:cs typeface="Times New Roman" panose="02020603050405020304" pitchFamily="18" charset="0"/>
              </a:rPr>
              <a:t>At its heart, a CCL must balance two competing goals:</a:t>
            </a:r>
            <a:endParaRPr lang="en-US" altLang="zh-CN" sz="2400" dirty="0">
              <a:latin typeface="Times New Roman" panose="02020603050405020304" pitchFamily="18" charset="0"/>
              <a:cs typeface="Times New Roman" panose="02020603050405020304" pitchFamily="18" charset="0"/>
            </a:endParaRPr>
          </a:p>
          <a:p>
            <a:pPr lvl="2"/>
            <a:r>
              <a:rPr lang="en-US" altLang="zh-CN" sz="2200" dirty="0">
                <a:latin typeface="Times New Roman" panose="02020603050405020304" pitchFamily="18" charset="0"/>
                <a:cs typeface="Times New Roman" panose="02020603050405020304" pitchFamily="18" charset="0"/>
              </a:rPr>
              <a:t>High Throughput:</a:t>
            </a:r>
            <a:r>
              <a:rPr lang="en-US" altLang="zh-CN" sz="1995" dirty="0">
                <a:latin typeface="Times New Roman" panose="02020603050405020304" pitchFamily="18" charset="0"/>
                <a:cs typeface="Times New Roman" panose="02020603050405020304" pitchFamily="18" charset="0"/>
              </a:rPr>
              <a:t> Maximizing the volume of data moved by saturating every available lane of the network.</a:t>
            </a:r>
            <a:endParaRPr lang="en-US" altLang="zh-CN" sz="2400" dirty="0">
              <a:latin typeface="Times New Roman" panose="02020603050405020304" pitchFamily="18" charset="0"/>
              <a:cs typeface="Times New Roman" panose="02020603050405020304" pitchFamily="18" charset="0"/>
            </a:endParaRPr>
          </a:p>
          <a:p>
            <a:pPr lvl="2"/>
            <a:r>
              <a:rPr lang="en-US" altLang="zh-CN" sz="2200" dirty="0">
                <a:latin typeface="Times New Roman" panose="02020603050405020304" pitchFamily="18" charset="0"/>
                <a:cs typeface="Times New Roman" panose="02020603050405020304" pitchFamily="18" charset="0"/>
              </a:rPr>
              <a:t>Low Latency:</a:t>
            </a:r>
            <a:r>
              <a:rPr lang="en-US" altLang="zh-CN" sz="1995" dirty="0">
                <a:latin typeface="Times New Roman" panose="02020603050405020304" pitchFamily="18" charset="0"/>
                <a:cs typeface="Times New Roman" panose="02020603050405020304" pitchFamily="18" charset="0"/>
              </a:rPr>
              <a:t> Minimizing the "handshake" time between </a:t>
            </a:r>
            <a:r>
              <a:rPr lang="en-US" altLang="zh-CN" sz="1995" dirty="0">
                <a:latin typeface="Times New Roman" panose="02020603050405020304" pitchFamily="18" charset="0"/>
                <a:cs typeface="Times New Roman" panose="02020603050405020304" pitchFamily="18" charset="0"/>
              </a:rPr>
              <a:t>devices, which is critical for small-message synchronization in modern AI.</a:t>
            </a:r>
            <a:endParaRPr lang="en-US" altLang="zh-CN" sz="1995" dirty="0">
              <a:latin typeface="Times New Roman" panose="02020603050405020304" pitchFamily="18" charset="0"/>
              <a:cs typeface="Times New Roman" panose="02020603050405020304" pitchFamily="18" charset="0"/>
            </a:endParaRPr>
          </a:p>
          <a:p>
            <a:pPr lvl="1"/>
            <a:r>
              <a:rPr lang="en-US" altLang="zh-CN" sz="2400" dirty="0">
                <a:latin typeface="Times New Roman" panose="02020603050405020304" pitchFamily="18" charset="0"/>
                <a:cs typeface="Times New Roman" panose="02020603050405020304" pitchFamily="18" charset="0"/>
              </a:rPr>
              <a:t>Scaling requires topology-aware implementation.</a:t>
            </a:r>
            <a:endParaRPr lang="en-US" altLang="zh-CN" sz="2400" dirty="0">
              <a:latin typeface="Times New Roman" panose="02020603050405020304" pitchFamily="18" charset="0"/>
              <a:cs typeface="Times New Roman" panose="02020603050405020304" pitchFamily="18" charset="0"/>
            </a:endParaRPr>
          </a:p>
          <a:p>
            <a:pPr lvl="2"/>
            <a:r>
              <a:rPr lang="en-US" altLang="zh-CN" sz="2400" dirty="0">
                <a:latin typeface="Times New Roman" panose="02020603050405020304" pitchFamily="18" charset="0"/>
                <a:cs typeface="Times New Roman" panose="02020603050405020304" pitchFamily="18" charset="0"/>
              </a:rPr>
              <a:t>While many assume a simple "Fat Tree" network architecture, real-world systems are often much more complex. </a:t>
            </a:r>
            <a:endParaRPr lang="en-US" altLang="zh-CN" sz="2400" dirty="0">
              <a:latin typeface="Times New Roman" panose="02020603050405020304" pitchFamily="18" charset="0"/>
              <a:cs typeface="Times New Roman" panose="02020603050405020304" pitchFamily="18" charset="0"/>
            </a:endParaRPr>
          </a:p>
          <a:p>
            <a:pPr lvl="2"/>
            <a:r>
              <a:rPr lang="en-US" altLang="zh-CN" sz="2400" dirty="0">
                <a:latin typeface="Times New Roman" panose="02020603050405020304" pitchFamily="18" charset="0"/>
                <a:cs typeface="Times New Roman" panose="02020603050405020304" pitchFamily="18" charset="0"/>
              </a:rPr>
              <a:t>A CCL must adapt its routing to the specific physical layout of the cluster.</a:t>
            </a:r>
            <a:endParaRPr lang="en-US" altLang="zh-C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5" dirty="0">
                <a:latin typeface="Times New Roman" panose="02020603050405020304" pitchFamily="18" charset="0"/>
                <a:cs typeface="Times New Roman" panose="02020603050405020304" pitchFamily="18" charset="0"/>
              </a:rPr>
              <a:t>Introduction (3 min)</a:t>
            </a:r>
            <a:endParaRPr lang="en-US" altLang="zh-TW" sz="2935" dirty="0">
              <a:latin typeface="Times New Roman" panose="02020603050405020304" pitchFamily="18" charset="0"/>
              <a:cs typeface="Times New Roman" panose="02020603050405020304" pitchFamily="18" charset="0"/>
            </a:endParaRPr>
          </a:p>
          <a:p>
            <a:r>
              <a:rPr lang="en-US" altLang="zh-CN" sz="2935" dirty="0">
                <a:solidFill>
                  <a:srgbClr val="FF0000"/>
                </a:solidFill>
                <a:latin typeface="Times New Roman" panose="02020603050405020304" pitchFamily="18" charset="0"/>
                <a:cs typeface="Times New Roman" panose="02020603050405020304" pitchFamily="18" charset="0"/>
              </a:rPr>
              <a:t>Background &amp; Motivation (11 min)</a:t>
            </a:r>
            <a:endParaRPr lang="en-US" altLang="zh-CN" sz="2935" dirty="0">
              <a:solidFill>
                <a:srgbClr val="FF0000"/>
              </a:solidFill>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Proposed Methods &amp; Performance Evaluation (24 min)</a:t>
            </a:r>
            <a:endParaRPr lang="en-US" altLang="zh-CN" sz="2935" dirty="0">
              <a:latin typeface="Times New Roman" panose="02020603050405020304" pitchFamily="18" charset="0"/>
              <a:cs typeface="Times New Roman" panose="02020603050405020304" pitchFamily="18" charset="0"/>
            </a:endParaRPr>
          </a:p>
          <a:p>
            <a:pPr lvl="1"/>
            <a:r>
              <a:rPr lang="en-US" altLang="zh-CN" sz="2400" dirty="0" err="1">
                <a:latin typeface="Times New Roman" panose="02020603050405020304" pitchFamily="18" charset="0"/>
                <a:cs typeface="Times New Roman" panose="02020603050405020304" pitchFamily="18" charset="0"/>
              </a:rPr>
              <a:t>MSCCL++</a:t>
            </a:r>
            <a:r>
              <a:rPr lang="en-US" altLang="zh-CN" sz="2400" dirty="0">
                <a:latin typeface="Times New Roman" panose="02020603050405020304" pitchFamily="18" charset="0"/>
                <a:cs typeface="Times New Roman" panose="02020603050405020304" pitchFamily="18" charset="0"/>
              </a:rPr>
              <a:t> (8 min)</a:t>
            </a:r>
            <a:endParaRPr lang="en-US" altLang="zh-CN" sz="2400" dirty="0">
              <a:latin typeface="Times New Roman" panose="02020603050405020304" pitchFamily="18" charset="0"/>
              <a:cs typeface="Times New Roman" panose="02020603050405020304" pitchFamily="18" charset="0"/>
            </a:endParaRPr>
          </a:p>
          <a:p>
            <a:pPr lvl="1"/>
            <a:r>
              <a:rPr lang="en-US" altLang="zh-CN" sz="2400" dirty="0" err="1">
                <a:latin typeface="Times New Roman" panose="02020603050405020304" pitchFamily="18" charset="0"/>
                <a:cs typeface="Times New Roman" panose="02020603050405020304" pitchFamily="18" charset="0"/>
              </a:rPr>
              <a:t>syCCL</a:t>
            </a:r>
            <a:r>
              <a:rPr lang="en-US" altLang="zh-CN" sz="2400" dirty="0">
                <a:latin typeface="Times New Roman" panose="02020603050405020304" pitchFamily="18" charset="0"/>
                <a:cs typeface="Times New Roman" panose="02020603050405020304" pitchFamily="18" charset="0"/>
              </a:rPr>
              <a:t> (8 min)</a:t>
            </a:r>
            <a:endParaRPr lang="en-US" altLang="zh-CN" sz="2400" dirty="0">
              <a:latin typeface="Times New Roman" panose="02020603050405020304" pitchFamily="18" charset="0"/>
              <a:cs typeface="Times New Roman" panose="02020603050405020304" pitchFamily="18" charset="0"/>
            </a:endParaRPr>
          </a:p>
          <a:p>
            <a:pPr lvl="1"/>
            <a:r>
              <a:rPr lang="en-US" altLang="zh-CN" sz="2400" dirty="0">
                <a:latin typeface="Times New Roman" panose="02020603050405020304" pitchFamily="18" charset="0"/>
                <a:cs typeface="Times New Roman" panose="02020603050405020304" pitchFamily="18" charset="0"/>
              </a:rPr>
              <a:t>NCCLX (8 min)</a:t>
            </a:r>
            <a:endParaRPr lang="en-US" altLang="zh-CN" sz="2400"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Conclusions (2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Q &amp; A (5 min)</a:t>
            </a:r>
            <a:endParaRPr lang="en-US" altLang="zh-CN" sz="2935" dirty="0">
              <a:latin typeface="Times New Roman" panose="02020603050405020304" pitchFamily="18" charset="0"/>
              <a:cs typeface="Times New Roman" panose="0202060305040502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Background &amp; Motivation (1/4)</a:t>
            </a:r>
            <a:endParaRPr lang="en-US" dirty="0">
              <a:ea typeface="Calibri" panose="020F0502020204030204" pitchFamily="34" charset="0"/>
              <a:cs typeface="Calibri" panose="020F0502020204030204" pitchFamily="34"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3" name="内容占位符 5"/>
          <p:cNvSpPr txBox="1"/>
          <p:nvPr/>
        </p:nvSpPr>
        <p:spPr bwMode="auto">
          <a:xfrm>
            <a:off x="433705" y="931545"/>
            <a:ext cx="11518265" cy="52133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Challenges of CCL for multi-GPU systems:</a:t>
            </a:r>
            <a:endParaRPr lang="en-US" altLang="zh-CN" sz="2400" kern="0" dirty="0">
              <a:latin typeface="Times New Roman" panose="02020603050405020304" pitchFamily="18" charset="0"/>
              <a:cs typeface="Times New Roman" panose="02020603050405020304" pitchFamily="18" charset="0"/>
            </a:endParaRPr>
          </a:p>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While NVIDIA’s NCCL remains the industry benchmark, it encounters several critical bottlenecks as we scale to next-generation workloads:</a:t>
            </a:r>
            <a:endParaRPr lang="en-US" altLang="zh-CN" sz="24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200" b="1" kern="0" dirty="0">
                <a:latin typeface="Times New Roman" panose="02020603050405020304" pitchFamily="18" charset="0"/>
                <a:cs typeface="Times New Roman" panose="02020603050405020304" pitchFamily="18" charset="0"/>
              </a:rPr>
              <a:t>Inefficient Initialization</a:t>
            </a:r>
            <a:r>
              <a:rPr lang="en-US" altLang="zh-CN" sz="2200" kern="0" dirty="0">
                <a:latin typeface="Times New Roman" panose="02020603050405020304" pitchFamily="18" charset="0"/>
                <a:cs typeface="Times New Roman" panose="02020603050405020304" pitchFamily="18" charset="0"/>
              </a:rPr>
              <a:t>: Connection setup is often slow, and the library occasionally fails to identify the mathematically optimal communication topology for complex clusters.</a:t>
            </a:r>
            <a:endParaRPr lang="en-US" altLang="zh-CN" sz="22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200" b="1" kern="0" dirty="0">
                <a:latin typeface="Times New Roman" panose="02020603050405020304" pitchFamily="18" charset="0"/>
                <a:cs typeface="Times New Roman" panose="02020603050405020304" pitchFamily="18" charset="0"/>
              </a:rPr>
              <a:t>Small-Message Latency</a:t>
            </a:r>
            <a:r>
              <a:rPr lang="en-US" altLang="zh-CN" sz="2200" kern="0" dirty="0">
                <a:latin typeface="Times New Roman" panose="02020603050405020304" pitchFamily="18" charset="0"/>
                <a:cs typeface="Times New Roman" panose="02020603050405020304" pitchFamily="18" charset="0"/>
              </a:rPr>
              <a:t>: High overhead per message makes NCCL inefficient for the fine-grained communication patterns.</a:t>
            </a:r>
            <a:endParaRPr lang="en-US" altLang="zh-CN" sz="22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200" b="1" kern="0" dirty="0">
                <a:latin typeface="Times New Roman" panose="02020603050405020304" pitchFamily="18" charset="0"/>
                <a:cs typeface="Times New Roman" panose="02020603050405020304" pitchFamily="18" charset="0"/>
              </a:rPr>
              <a:t>Resource Contention</a:t>
            </a:r>
            <a:r>
              <a:rPr lang="en-US" altLang="zh-CN" sz="2200" kern="0" dirty="0">
                <a:latin typeface="Times New Roman" panose="02020603050405020304" pitchFamily="18" charset="0"/>
                <a:cs typeface="Times New Roman" panose="02020603050405020304" pitchFamily="18" charset="0"/>
              </a:rPr>
              <a:t>: NCCL statically reserves a significant number of Streaming Multiprocessors (SMs), leading to suboptimal GPU resource utilization and 'stealing' compute power from the actual kernels.</a:t>
            </a:r>
            <a:endParaRPr lang="en-US" altLang="zh-CN" sz="22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Background &amp; Motivation (2/4)</a:t>
            </a:r>
            <a:endParaRPr lang="en-US" dirty="0">
              <a:ea typeface="Calibri" panose="020F0502020204030204" pitchFamily="34" charset="0"/>
              <a:cs typeface="Calibri" panose="020F0502020204030204" pitchFamily="34"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3" name="内容占位符 5"/>
          <p:cNvSpPr txBox="1"/>
          <p:nvPr/>
        </p:nvSpPr>
        <p:spPr bwMode="auto">
          <a:xfrm>
            <a:off x="401955" y="981075"/>
            <a:ext cx="11503660"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Solution: The Evolution of NCCL (v2.27 &amp; v2.28)</a:t>
            </a:r>
            <a:endParaRPr lang="en-US" altLang="zh-CN" sz="2400" kern="0" dirty="0">
              <a:latin typeface="Times New Roman" panose="02020603050405020304" pitchFamily="18" charset="0"/>
              <a:cs typeface="Times New Roman" panose="02020603050405020304" pitchFamily="18" charset="0"/>
            </a:endParaRPr>
          </a:p>
          <a:p>
            <a:pPr>
              <a:lnSpc>
                <a:spcPct val="150000"/>
              </a:lnSpc>
              <a:spcBef>
                <a:spcPts val="0"/>
              </a:spcBef>
            </a:pPr>
            <a:r>
              <a:rPr lang="en-US" altLang="zh-CN" sz="2000" dirty="0">
                <a:latin typeface="Times New Roman" panose="02020603050405020304" pitchFamily="18" charset="0"/>
                <a:cs typeface="Times New Roman" panose="02020603050405020304" pitchFamily="18" charset="0"/>
              </a:rPr>
              <a:t>The latest advancements in NCCL , targeting small-message latency and resource </a:t>
            </a:r>
            <a:r>
              <a:rPr lang="en-US" altLang="zh-CN" sz="2000" dirty="0">
                <a:latin typeface="Times New Roman" panose="02020603050405020304" pitchFamily="18" charset="0"/>
                <a:cs typeface="Times New Roman" panose="02020603050405020304" pitchFamily="18" charset="0"/>
              </a:rPr>
              <a:t>contention, address some fundamental bottlenecks of distributed scaling. </a:t>
            </a:r>
            <a:endParaRPr lang="en-US" altLang="zh-CN" sz="2000" dirty="0">
              <a:latin typeface="Times New Roman" panose="02020603050405020304" pitchFamily="18" charset="0"/>
              <a:cs typeface="Times New Roman" panose="02020603050405020304" pitchFamily="18" charset="0"/>
            </a:endParaRPr>
          </a:p>
          <a:p>
            <a:pPr>
              <a:lnSpc>
                <a:spcPct val="150000"/>
              </a:lnSpc>
              <a:spcBef>
                <a:spcPts val="0"/>
              </a:spcBef>
            </a:pPr>
            <a:r>
              <a:rPr lang="en-US" altLang="zh-CN" sz="2000" b="1" dirty="0">
                <a:latin typeface="Times New Roman" panose="02020603050405020304" pitchFamily="18" charset="0"/>
                <a:cs typeface="Times New Roman" panose="02020603050405020304" pitchFamily="18" charset="0"/>
              </a:rPr>
              <a:t>Four Features codesigned with hardware:</a:t>
            </a:r>
            <a:endParaRPr lang="en-US" altLang="zh-CN" sz="2000" b="1"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b="1" dirty="0">
                <a:latin typeface="Times New Roman" panose="02020603050405020304" pitchFamily="18" charset="0"/>
                <a:cs typeface="Times New Roman" panose="02020603050405020304" pitchFamily="18" charset="0"/>
              </a:rPr>
              <a:t>SHARP: In-Network Reduction Offloading</a:t>
            </a:r>
            <a:endParaRPr lang="en-US" altLang="zh-CN" sz="2000" b="1"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b="1" dirty="0">
                <a:latin typeface="Times New Roman" panose="02020603050405020304" pitchFamily="18" charset="0"/>
                <a:cs typeface="Times New Roman" panose="02020603050405020304" pitchFamily="18" charset="0"/>
              </a:rPr>
              <a:t>GPU-Initiated Networking (GIN) &amp; Device-side APIs</a:t>
            </a:r>
            <a:endParaRPr lang="en-US" altLang="zh-CN" sz="2000" b="1"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b="1" dirty="0">
                <a:latin typeface="Times New Roman" panose="02020603050405020304" pitchFamily="18" charset="0"/>
                <a:cs typeface="Times New Roman" panose="02020603050405020304" pitchFamily="18" charset="0"/>
              </a:rPr>
              <a:t>Symmetric Memory Support: Identical virtual address buffers across multiple GPUs</a:t>
            </a:r>
            <a:endParaRPr lang="en-US" altLang="zh-CN" sz="2000" b="1"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b="1" dirty="0">
                <a:latin typeface="Times New Roman" panose="02020603050405020304" pitchFamily="18" charset="0"/>
                <a:cs typeface="Times New Roman" panose="02020603050405020304" pitchFamily="18" charset="0"/>
              </a:rPr>
              <a:t>Copy Engine-Based Collectives: Zero-SM Involvement</a:t>
            </a:r>
            <a:endParaRPr lang="en-US" altLang="zh-CN"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Background &amp; Motivation (3/4)</a:t>
            </a:r>
            <a:endParaRPr lang="en-US" dirty="0">
              <a:ea typeface="Calibri" panose="020F0502020204030204" pitchFamily="34" charset="0"/>
              <a:cs typeface="Calibri" panose="020F0502020204030204" pitchFamily="34"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3" name="内容占位符 5"/>
          <p:cNvSpPr txBox="1"/>
          <p:nvPr/>
        </p:nvSpPr>
        <p:spPr bwMode="auto">
          <a:xfrm>
            <a:off x="156845" y="1042670"/>
            <a:ext cx="11720195" cy="294894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00000"/>
              </a:lnSpc>
              <a:spcBef>
                <a:spcPts val="0"/>
              </a:spcBef>
            </a:pPr>
            <a:r>
              <a:rPr lang="en-US" altLang="zh-CN" sz="2400" kern="0" dirty="0">
                <a:latin typeface="Times New Roman" panose="02020603050405020304" pitchFamily="18" charset="0"/>
                <a:cs typeface="Times New Roman" panose="02020603050405020304" pitchFamily="18" charset="0"/>
                <a:sym typeface="+mn-ea"/>
              </a:rPr>
              <a:t>Solution: The Architectural Evolution of NCCL</a:t>
            </a:r>
            <a:endParaRPr lang="en-US" altLang="zh-CN" sz="2400" kern="0" dirty="0">
              <a:latin typeface="Times New Roman" panose="02020603050405020304" pitchFamily="18" charset="0"/>
              <a:cs typeface="Times New Roman" panose="02020603050405020304" pitchFamily="18" charset="0"/>
              <a:sym typeface="+mn-ea"/>
            </a:endParaRPr>
          </a:p>
          <a:p>
            <a:pPr lvl="1">
              <a:lnSpc>
                <a:spcPct val="100000"/>
              </a:lnSpc>
              <a:spcBef>
                <a:spcPts val="0"/>
              </a:spcBef>
            </a:pPr>
            <a:r>
              <a:rPr lang="en-US" altLang="zh-CN" sz="2000" b="1" kern="0" dirty="0">
                <a:latin typeface="Times New Roman" panose="02020603050405020304" pitchFamily="18" charset="0"/>
                <a:cs typeface="Times New Roman" panose="02020603050405020304" pitchFamily="18" charset="0"/>
              </a:rPr>
              <a:t>Symmetric Memory</a:t>
            </a:r>
            <a:r>
              <a:rPr lang="en-US" altLang="zh-CN" sz="2000" kern="0" dirty="0">
                <a:latin typeface="Times New Roman" panose="02020603050405020304" pitchFamily="18" charset="0"/>
                <a:cs typeface="Times New Roman" panose="02020603050405020304" pitchFamily="18" charset="0"/>
              </a:rPr>
              <a:t> enables highly optimized, direct-access memory patterns. This streamlines data routing and serves as the foundation for the observed </a:t>
            </a:r>
            <a:r>
              <a:rPr lang="en-US" altLang="zh-CN" sz="2000" b="1" kern="0" dirty="0">
                <a:latin typeface="Times New Roman" panose="02020603050405020304" pitchFamily="18" charset="0"/>
                <a:cs typeface="Times New Roman" panose="02020603050405020304" pitchFamily="18" charset="0"/>
              </a:rPr>
              <a:t>9x reduction</a:t>
            </a:r>
            <a:r>
              <a:rPr lang="en-US" altLang="zh-CN" sz="2000" kern="0" dirty="0">
                <a:latin typeface="Times New Roman" panose="02020603050405020304" pitchFamily="18" charset="0"/>
                <a:cs typeface="Times New Roman" panose="02020603050405020304" pitchFamily="18" charset="0"/>
              </a:rPr>
              <a:t> in small-message latency.</a:t>
            </a:r>
            <a:endParaRPr lang="en-US" altLang="zh-CN" sz="2000" kern="0" dirty="0">
              <a:latin typeface="Times New Roman" panose="02020603050405020304" pitchFamily="18" charset="0"/>
              <a:cs typeface="Times New Roman" panose="02020603050405020304" pitchFamily="18" charset="0"/>
            </a:endParaRPr>
          </a:p>
          <a:p>
            <a:pPr lvl="1">
              <a:lnSpc>
                <a:spcPct val="100000"/>
              </a:lnSpc>
              <a:spcBef>
                <a:spcPts val="0"/>
              </a:spcBef>
            </a:pPr>
            <a:r>
              <a:rPr lang="en-US" altLang="zh-CN" sz="2000" kern="0" dirty="0">
                <a:latin typeface="Times New Roman" panose="02020603050405020304" pitchFamily="18" charset="0"/>
                <a:cs typeface="Times New Roman" panose="02020603050405020304" pitchFamily="18" charset="0"/>
              </a:rPr>
              <a:t>By bypassing the host-driven control path, </a:t>
            </a:r>
            <a:r>
              <a:rPr lang="en-US" altLang="zh-CN" sz="2000" b="1" kern="0" dirty="0">
                <a:latin typeface="Times New Roman" panose="02020603050405020304" pitchFamily="18" charset="0"/>
                <a:cs typeface="Times New Roman" panose="02020603050405020304" pitchFamily="18" charset="0"/>
              </a:rPr>
              <a:t>GPU Initiated Networking</a:t>
            </a:r>
            <a:r>
              <a:rPr lang="en-US" altLang="zh-CN" sz="2000" kern="0" dirty="0">
                <a:latin typeface="Times New Roman" panose="02020603050405020304" pitchFamily="18" charset="0"/>
                <a:cs typeface="Times New Roman" panose="02020603050405020304" pitchFamily="18" charset="0"/>
              </a:rPr>
              <a:t> eliminates the costly CPU-to-GPU handshake. This transition to autonomous, device-level orchestration drastically reduces overhead.</a:t>
            </a:r>
            <a:endParaRPr lang="en-US" altLang="zh-CN" sz="2000" kern="0" dirty="0">
              <a:latin typeface="Times New Roman" panose="02020603050405020304" pitchFamily="18" charset="0"/>
              <a:cs typeface="Times New Roman" panose="02020603050405020304" pitchFamily="18" charset="0"/>
            </a:endParaRPr>
          </a:p>
          <a:p>
            <a:pPr lvl="1">
              <a:lnSpc>
                <a:spcPct val="100000"/>
              </a:lnSpc>
              <a:spcBef>
                <a:spcPts val="0"/>
              </a:spcBef>
            </a:pPr>
            <a:r>
              <a:rPr lang="en-US" altLang="zh-CN" sz="2000" kern="0" dirty="0">
                <a:latin typeface="Times New Roman" panose="02020603050405020304" pitchFamily="18" charset="0"/>
                <a:cs typeface="Times New Roman" panose="02020603050405020304" pitchFamily="18" charset="0"/>
              </a:rPr>
              <a:t>NCCL leverages In-Network Computing (</a:t>
            </a:r>
            <a:r>
              <a:rPr lang="en-US" altLang="zh-CN" sz="2000" b="1" kern="0" dirty="0">
                <a:latin typeface="Times New Roman" panose="02020603050405020304" pitchFamily="18" charset="0"/>
                <a:cs typeface="Times New Roman" panose="02020603050405020304" pitchFamily="18" charset="0"/>
              </a:rPr>
              <a:t>SHARP</a:t>
            </a:r>
            <a:r>
              <a:rPr lang="en-US" altLang="zh-CN" sz="2000" kern="0" dirty="0">
                <a:latin typeface="Times New Roman" panose="02020603050405020304" pitchFamily="18" charset="0"/>
                <a:cs typeface="Times New Roman" panose="02020603050405020304" pitchFamily="18" charset="0"/>
              </a:rPr>
              <a:t>) and dedicated </a:t>
            </a:r>
            <a:r>
              <a:rPr lang="en-US" altLang="zh-CN" sz="2000" b="1" kern="0" dirty="0">
                <a:latin typeface="Times New Roman" panose="02020603050405020304" pitchFamily="18" charset="0"/>
                <a:cs typeface="Times New Roman" panose="02020603050405020304" pitchFamily="18" charset="0"/>
              </a:rPr>
              <a:t>Copy Engines</a:t>
            </a:r>
            <a:r>
              <a:rPr lang="en-US" altLang="zh-CN" sz="2000" kern="0" dirty="0">
                <a:latin typeface="Times New Roman" panose="02020603050405020304" pitchFamily="18" charset="0"/>
                <a:cs typeface="Times New Roman" panose="02020603050405020304" pitchFamily="18" charset="0"/>
              </a:rPr>
              <a:t> to offload reduction and data-movement tasks. By migrating these operations from general-purpose SMs to specialized hardware, the system reclaims vital compute cycles and achieves true hardware-level overlap between communication and computation without resource contention.</a:t>
            </a:r>
            <a:endParaRPr lang="en-US" altLang="zh-CN" sz="2000" kern="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50235" y="4045585"/>
            <a:ext cx="5286375" cy="2087245"/>
          </a:xfrm>
          <a:prstGeom prst="rect">
            <a:avLst/>
          </a:prstGeom>
        </p:spPr>
      </p:pic>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3300" y="4079240"/>
            <a:ext cx="3436620" cy="2072005"/>
          </a:xfrm>
          <a:prstGeom prst="rect">
            <a:avLst/>
          </a:prstGeom>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845" y="4063365"/>
            <a:ext cx="2806700" cy="2069465"/>
          </a:xfrm>
          <a:prstGeom prst="rect">
            <a:avLst/>
          </a:prstGeom>
        </p:spPr>
      </p:pic>
      <p:sp>
        <p:nvSpPr>
          <p:cNvPr id="7" name="矩形 6"/>
          <p:cNvSpPr/>
          <p:nvPr/>
        </p:nvSpPr>
        <p:spPr>
          <a:xfrm>
            <a:off x="6768465" y="4076065"/>
            <a:ext cx="1661795" cy="848360"/>
          </a:xfrm>
          <a:prstGeom prst="rect">
            <a:avLst/>
          </a:prstGeom>
          <a:noFill/>
          <a:ln w="38100" cap="flat" cmpd="sng" algn="ctr">
            <a:solidFill>
              <a:srgbClr val="FF0000"/>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endParaRPr kumimoji="1" lang="en-US" altLang="zh-TW" sz="1800" b="1" i="0" u="none" strike="noStrike" cap="none" normalizeH="0" baseline="0" smtClean="0">
              <a:ln>
                <a:noFill/>
              </a:ln>
              <a:solidFill>
                <a:schemeClr val="tx1"/>
              </a:solidFill>
              <a:effectLst/>
              <a:latin typeface="Arial" panose="020B0604020202020204" pitchFamily="34" charset="0"/>
              <a:ea typeface="PMingLiU" pitchFamily="18" charset="-12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Background &amp; Motivation (4/4)</a:t>
            </a:r>
            <a:endParaRPr lang="en-US" dirty="0">
              <a:ea typeface="Calibri" panose="020F0502020204030204" pitchFamily="34" charset="0"/>
              <a:cs typeface="Calibri" panose="020F0502020204030204" pitchFamily="34" charset="0"/>
            </a:endParaRPr>
          </a:p>
        </p:txBody>
      </p:sp>
      <p:sp>
        <p:nvSpPr>
          <p:cNvPr id="4"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
        <p:nvSpPr>
          <p:cNvPr id="3" name="内容占位符 5"/>
          <p:cNvSpPr txBox="1"/>
          <p:nvPr/>
        </p:nvSpPr>
        <p:spPr bwMode="auto">
          <a:xfrm>
            <a:off x="224790" y="1125220"/>
            <a:ext cx="11727815"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New problem encountered: The "Implementation Gap"</a:t>
            </a:r>
            <a:endParaRPr lang="en-US" altLang="zh-CN" sz="2400" kern="0" dirty="0">
              <a:latin typeface="Times New Roman" panose="02020603050405020304" pitchFamily="18" charset="0"/>
              <a:cs typeface="Times New Roman" panose="02020603050405020304" pitchFamily="18" charset="0"/>
            </a:endParaRPr>
          </a:p>
          <a:p>
            <a:pPr lvl="1"/>
            <a:r>
              <a:rPr lang="en-US" altLang="zh-CN" sz="2000" b="1" kern="0" dirty="0">
                <a:latin typeface="Times New Roman" panose="02020603050405020304" pitchFamily="18" charset="0"/>
                <a:cs typeface="Times New Roman" panose="02020603050405020304" pitchFamily="18" charset="0"/>
              </a:rPr>
              <a:t>The Hardware-Software Friction: </a:t>
            </a:r>
            <a:r>
              <a:rPr lang="en-US" altLang="zh-CN" sz="2000" kern="0" dirty="0">
                <a:latin typeface="Times New Roman" panose="02020603050405020304" pitchFamily="18" charset="0"/>
                <a:cs typeface="Times New Roman" panose="02020603050405020304" pitchFamily="18" charset="0"/>
              </a:rPr>
              <a:t>Cutting-edge AI applications are being developed over fast-evolving, heterogeneous, nascent hardware. Achieving peak communication performance currently mandates writing custom, low-level code from scratch, which is time-consuming and prone to technical debt.</a:t>
            </a:r>
            <a:endParaRPr lang="en-US" altLang="zh-CN" sz="2000" kern="0" dirty="0">
              <a:latin typeface="Times New Roman" panose="02020603050405020304" pitchFamily="18" charset="0"/>
              <a:cs typeface="Times New Roman" panose="02020603050405020304" pitchFamily="18" charset="0"/>
            </a:endParaRPr>
          </a:p>
          <a:p>
            <a:pPr lvl="1"/>
            <a:r>
              <a:rPr lang="en-US" altLang="zh-CN" sz="2000" b="1" kern="0" dirty="0">
                <a:latin typeface="Times New Roman" panose="02020603050405020304" pitchFamily="18" charset="0"/>
                <a:cs typeface="Times New Roman" panose="02020603050405020304" pitchFamily="18" charset="0"/>
              </a:rPr>
              <a:t>The Rigidity of Current Standards:</a:t>
            </a:r>
            <a:r>
              <a:rPr lang="en-US" altLang="zh-CN" sz="2000" kern="0" dirty="0">
                <a:latin typeface="Times New Roman" panose="02020603050405020304" pitchFamily="18" charset="0"/>
                <a:cs typeface="Times New Roman" panose="02020603050405020304" pitchFamily="18" charset="0"/>
              </a:rPr>
              <a:t> Existing open-source CCLs (such as NCCL) rely on fixed schedules and cannot adjust to varying topology and model requirements. </a:t>
            </a:r>
            <a:endParaRPr lang="en-US" altLang="zh-CN" sz="2000" kern="0" dirty="0">
              <a:latin typeface="Times New Roman" panose="02020603050405020304" pitchFamily="18" charset="0"/>
              <a:cs typeface="Times New Roman" panose="02020603050405020304" pitchFamily="18" charset="0"/>
            </a:endParaRPr>
          </a:p>
          <a:p>
            <a:pPr lvl="1"/>
            <a:r>
              <a:rPr lang="en-US" altLang="zh-CN" sz="2000" b="1" kern="0" dirty="0">
                <a:latin typeface="Times New Roman" panose="02020603050405020304" pitchFamily="18" charset="0"/>
                <a:cs typeface="Times New Roman" panose="02020603050405020304" pitchFamily="18" charset="0"/>
              </a:rPr>
              <a:t>The 100K-GPU Bottleneck:</a:t>
            </a:r>
            <a:r>
              <a:rPr lang="en-US" altLang="zh-CN" sz="2000" kern="0" dirty="0">
                <a:latin typeface="Times New Roman" panose="02020603050405020304" pitchFamily="18" charset="0"/>
                <a:cs typeface="Times New Roman" panose="02020603050405020304" pitchFamily="18" charset="0"/>
              </a:rPr>
              <a:t> As LLMs scale to clusters with over 100,000-GPU clusters, traditional collective communication methods encounter fundamental throughput and latency bottlenecks, limiting both efficient training and practical deployment. </a:t>
            </a:r>
            <a:endParaRPr lang="en-US" altLang="zh-CN" sz="2000" kern="0" dirty="0">
              <a:latin typeface="Times New Roman" panose="02020603050405020304" pitchFamily="18" charset="0"/>
              <a:cs typeface="Times New Roman" panose="02020603050405020304" pitchFamily="18" charset="0"/>
            </a:endParaRPr>
          </a:p>
          <a:p>
            <a:r>
              <a:rPr lang="en-US" altLang="zh-CN" sz="2535" kern="0" dirty="0">
                <a:latin typeface="Times New Roman" panose="02020603050405020304" pitchFamily="18" charset="0"/>
                <a:cs typeface="Times New Roman" panose="02020603050405020304" pitchFamily="18" charset="0"/>
              </a:rPr>
              <a:t>How to improve?</a:t>
            </a:r>
            <a:endParaRPr lang="en-US" altLang="zh-CN" sz="2535"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Develop a reusable, high-level communication library that abstracts hardware complexity.</a:t>
            </a:r>
            <a:endParaRPr lang="en-US" altLang="zh-CN" sz="20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Implement efficient search strategies to explore the vast space of communication sub-demands.</a:t>
            </a:r>
            <a:endParaRPr lang="en-US" altLang="zh-CN" sz="20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Other solutions …</a:t>
            </a:r>
            <a:endParaRPr lang="en-US" altLang="zh-CN" sz="2000" dirty="0">
              <a:latin typeface="Times New Roman" panose="02020603050405020304" pitchFamily="18" charset="0"/>
              <a:cs typeface="Times New Roman" panose="02020603050405020304" pitchFamily="18" charset="0"/>
            </a:endParaRPr>
          </a:p>
          <a:p>
            <a:endParaRPr lang="en-US" altLang="zh-CN" sz="20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5" dirty="0">
                <a:latin typeface="Times New Roman" panose="02020603050405020304" pitchFamily="18" charset="0"/>
                <a:cs typeface="Times New Roman" panose="02020603050405020304" pitchFamily="18" charset="0"/>
              </a:rPr>
              <a:t>Introduction (3 min)</a:t>
            </a:r>
            <a:endParaRPr lang="en-US" altLang="zh-TW"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Background &amp; Motivation (11 min)</a:t>
            </a:r>
            <a:endParaRPr lang="en-US" altLang="zh-CN" sz="2935" dirty="0">
              <a:latin typeface="Times New Roman" panose="02020603050405020304" pitchFamily="18" charset="0"/>
              <a:cs typeface="Times New Roman" panose="02020603050405020304" pitchFamily="18" charset="0"/>
            </a:endParaRPr>
          </a:p>
          <a:p>
            <a:r>
              <a:rPr lang="en-US" altLang="zh-CN" sz="2935" dirty="0">
                <a:solidFill>
                  <a:srgbClr val="FF0000"/>
                </a:solidFill>
                <a:latin typeface="Times New Roman" panose="02020603050405020304" pitchFamily="18" charset="0"/>
                <a:cs typeface="Times New Roman" panose="02020603050405020304" pitchFamily="18" charset="0"/>
              </a:rPr>
              <a:t>Proposed Methods &amp; Performance Evaluation (24 min)</a:t>
            </a:r>
            <a:endParaRPr lang="en-US" altLang="zh-CN" sz="2935" dirty="0">
              <a:solidFill>
                <a:srgbClr val="FF0000"/>
              </a:solidFill>
              <a:latin typeface="Times New Roman" panose="02020603050405020304" pitchFamily="18" charset="0"/>
              <a:cs typeface="Times New Roman" panose="02020603050405020304" pitchFamily="18" charset="0"/>
            </a:endParaRPr>
          </a:p>
          <a:p>
            <a:pPr lvl="1"/>
            <a:r>
              <a:rPr lang="en-US" altLang="zh-CN" sz="2400" dirty="0" err="1">
                <a:solidFill>
                  <a:srgbClr val="FF0000"/>
                </a:solidFill>
                <a:latin typeface="Times New Roman" panose="02020603050405020304" pitchFamily="18" charset="0"/>
                <a:cs typeface="Times New Roman" panose="02020603050405020304" pitchFamily="18" charset="0"/>
              </a:rPr>
              <a:t>MSCCL++</a:t>
            </a:r>
            <a:r>
              <a:rPr lang="en-US" altLang="zh-CN" sz="2400" dirty="0">
                <a:solidFill>
                  <a:srgbClr val="FF0000"/>
                </a:solidFill>
                <a:latin typeface="Times New Roman" panose="02020603050405020304" pitchFamily="18" charset="0"/>
                <a:cs typeface="Times New Roman" panose="02020603050405020304" pitchFamily="18" charset="0"/>
              </a:rPr>
              <a:t> (8 min)</a:t>
            </a:r>
            <a:endParaRPr lang="en-US" altLang="zh-CN" sz="2400" dirty="0">
              <a:solidFill>
                <a:srgbClr val="FF0000"/>
              </a:solidFill>
              <a:latin typeface="Times New Roman" panose="02020603050405020304" pitchFamily="18" charset="0"/>
              <a:cs typeface="Times New Roman" panose="02020603050405020304" pitchFamily="18" charset="0"/>
            </a:endParaRPr>
          </a:p>
          <a:p>
            <a:pPr lvl="1"/>
            <a:r>
              <a:rPr lang="en-US" altLang="zh-CN" sz="2400" dirty="0" err="1">
                <a:solidFill>
                  <a:srgbClr val="FF0000"/>
                </a:solidFill>
                <a:latin typeface="Times New Roman" panose="02020603050405020304" pitchFamily="18" charset="0"/>
                <a:cs typeface="Times New Roman" panose="02020603050405020304" pitchFamily="18" charset="0"/>
              </a:rPr>
              <a:t>syCCL</a:t>
            </a:r>
            <a:r>
              <a:rPr lang="en-US" altLang="zh-CN" sz="2400" dirty="0">
                <a:solidFill>
                  <a:srgbClr val="FF0000"/>
                </a:solidFill>
                <a:latin typeface="Times New Roman" panose="02020603050405020304" pitchFamily="18" charset="0"/>
                <a:cs typeface="Times New Roman" panose="02020603050405020304" pitchFamily="18" charset="0"/>
              </a:rPr>
              <a:t> (8 min)</a:t>
            </a:r>
            <a:endParaRPr lang="en-US" altLang="zh-CN" sz="2400" dirty="0">
              <a:solidFill>
                <a:srgbClr val="FF0000"/>
              </a:solidFill>
              <a:latin typeface="Times New Roman" panose="02020603050405020304" pitchFamily="18" charset="0"/>
              <a:cs typeface="Times New Roman" panose="02020603050405020304" pitchFamily="18" charset="0"/>
            </a:endParaRPr>
          </a:p>
          <a:p>
            <a:pPr lvl="1"/>
            <a:r>
              <a:rPr lang="en-US" altLang="zh-CN" sz="2400" dirty="0">
                <a:solidFill>
                  <a:srgbClr val="FF0000"/>
                </a:solidFill>
                <a:latin typeface="Times New Roman" panose="02020603050405020304" pitchFamily="18" charset="0"/>
                <a:cs typeface="Times New Roman" panose="02020603050405020304" pitchFamily="18" charset="0"/>
              </a:rPr>
              <a:t>NCCLX (8 min)</a:t>
            </a:r>
            <a:endParaRPr lang="en-US" altLang="zh-CN" sz="2400" dirty="0">
              <a:solidFill>
                <a:srgbClr val="FF0000"/>
              </a:solidFill>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Conclusions (2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Q &amp; A (5 min)</a:t>
            </a:r>
            <a:endParaRPr lang="en-US" altLang="zh-CN" sz="2935" dirty="0">
              <a:latin typeface="Times New Roman" panose="02020603050405020304" pitchFamily="18" charset="0"/>
              <a:cs typeface="Times New Roman" panose="0202060305040502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5" dirty="0">
                <a:latin typeface="Times New Roman" panose="02020603050405020304" pitchFamily="18" charset="0"/>
                <a:cs typeface="Times New Roman" panose="02020603050405020304" pitchFamily="18" charset="0"/>
              </a:rPr>
              <a:t>Introduction (3 min)</a:t>
            </a:r>
            <a:endParaRPr lang="en-US" altLang="zh-TW"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Background &amp; Motivation (11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Proposed Methods &amp; Performance Evaluation (24 min)</a:t>
            </a:r>
            <a:endParaRPr lang="en-US" altLang="zh-CN" sz="2935" dirty="0">
              <a:latin typeface="Times New Roman" panose="02020603050405020304" pitchFamily="18" charset="0"/>
              <a:cs typeface="Times New Roman" panose="02020603050405020304" pitchFamily="18" charset="0"/>
            </a:endParaRPr>
          </a:p>
          <a:p>
            <a:pPr lvl="1"/>
            <a:r>
              <a:rPr lang="en-US" altLang="zh-CN" sz="2400" dirty="0" err="1">
                <a:solidFill>
                  <a:srgbClr val="FF0000"/>
                </a:solidFill>
                <a:latin typeface="Times New Roman" panose="02020603050405020304" pitchFamily="18" charset="0"/>
                <a:cs typeface="Times New Roman" panose="02020603050405020304" pitchFamily="18" charset="0"/>
              </a:rPr>
              <a:t>MSCCL++</a:t>
            </a:r>
            <a:r>
              <a:rPr lang="en-US" altLang="zh-CN" sz="2400" dirty="0">
                <a:solidFill>
                  <a:srgbClr val="FF0000"/>
                </a:solidFill>
                <a:latin typeface="Times New Roman" panose="02020603050405020304" pitchFamily="18" charset="0"/>
                <a:cs typeface="Times New Roman" panose="02020603050405020304" pitchFamily="18" charset="0"/>
              </a:rPr>
              <a:t> (8 min)</a:t>
            </a:r>
            <a:endParaRPr lang="en-US" altLang="zh-CN" sz="2400" dirty="0">
              <a:solidFill>
                <a:srgbClr val="FF0000"/>
              </a:solidFill>
              <a:latin typeface="Times New Roman" panose="02020603050405020304" pitchFamily="18" charset="0"/>
              <a:cs typeface="Times New Roman" panose="02020603050405020304" pitchFamily="18" charset="0"/>
            </a:endParaRPr>
          </a:p>
          <a:p>
            <a:pPr lvl="1"/>
            <a:r>
              <a:rPr lang="en-US" altLang="zh-CN" sz="2400" dirty="0" err="1">
                <a:latin typeface="Times New Roman" panose="02020603050405020304" pitchFamily="18" charset="0"/>
                <a:cs typeface="Times New Roman" panose="02020603050405020304" pitchFamily="18" charset="0"/>
              </a:rPr>
              <a:t>syCCL</a:t>
            </a:r>
            <a:r>
              <a:rPr lang="en-US" altLang="zh-CN" sz="2400" dirty="0">
                <a:latin typeface="Times New Roman" panose="02020603050405020304" pitchFamily="18" charset="0"/>
                <a:cs typeface="Times New Roman" panose="02020603050405020304" pitchFamily="18" charset="0"/>
              </a:rPr>
              <a:t> (8 min)</a:t>
            </a:r>
            <a:endParaRPr lang="en-US" altLang="zh-CN" sz="2400" dirty="0">
              <a:latin typeface="Times New Roman" panose="02020603050405020304" pitchFamily="18" charset="0"/>
              <a:cs typeface="Times New Roman" panose="02020603050405020304" pitchFamily="18" charset="0"/>
            </a:endParaRPr>
          </a:p>
          <a:p>
            <a:pPr lvl="1"/>
            <a:r>
              <a:rPr lang="en-US" altLang="zh-CN" sz="2400" dirty="0">
                <a:latin typeface="Times New Roman" panose="02020603050405020304" pitchFamily="18" charset="0"/>
                <a:cs typeface="Times New Roman" panose="02020603050405020304" pitchFamily="18" charset="0"/>
              </a:rPr>
              <a:t>NCCLX (8 min)</a:t>
            </a:r>
            <a:endParaRPr lang="en-US" altLang="zh-CN" sz="2400"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Conclusions (2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Q &amp; A (5 min)</a:t>
            </a:r>
            <a:endParaRPr lang="en-US" altLang="zh-CN" sz="2935" dirty="0">
              <a:latin typeface="Times New Roman" panose="02020603050405020304" pitchFamily="18" charset="0"/>
              <a:cs typeface="Times New Roman" panose="0202060305040502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err="1">
                <a:sym typeface="+mn-ea"/>
              </a:rPr>
              <a:t>MSCCL++</a:t>
            </a:r>
            <a:r>
              <a:rPr lang="en-US" altLang="zh-CN" dirty="0"/>
              <a:t> (1/6)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235585" y="941070"/>
            <a:ext cx="11332210" cy="516064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sym typeface="+mn-ea"/>
              </a:rPr>
              <a:t>There are various communication channels:</a:t>
            </a:r>
            <a:endParaRPr lang="en-US" altLang="zh-CN" sz="2400" kern="0" dirty="0">
              <a:latin typeface="Times New Roman" panose="02020603050405020304" pitchFamily="18" charset="0"/>
              <a:cs typeface="Times New Roman" panose="02020603050405020304" pitchFamily="18" charset="0"/>
              <a:sym typeface="+mn-ea"/>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sym typeface="+mn-ea"/>
              </a:rPr>
              <a:t>CPU-GPU: PCIe, NVLink-C2C</a:t>
            </a:r>
            <a:endParaRPr lang="en-US" altLang="zh-CN" sz="2000" kern="0" dirty="0">
              <a:latin typeface="Times New Roman" panose="02020603050405020304" pitchFamily="18" charset="0"/>
              <a:cs typeface="Times New Roman" panose="02020603050405020304" pitchFamily="18" charset="0"/>
              <a:sym typeface="+mn-ea"/>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sym typeface="+mn-ea"/>
              </a:rPr>
              <a:t>Intra-node: NVLink, xGMI,</a:t>
            </a:r>
            <a:endParaRPr lang="en-US" altLang="zh-CN" sz="2000" kern="0" dirty="0">
              <a:latin typeface="Times New Roman" panose="02020603050405020304" pitchFamily="18" charset="0"/>
              <a:cs typeface="Times New Roman" panose="02020603050405020304" pitchFamily="18" charset="0"/>
              <a:sym typeface="+mn-ea"/>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sym typeface="+mn-ea"/>
              </a:rPr>
              <a:t>Inter-node: RDMA (IB, RoCE)</a:t>
            </a:r>
            <a:endParaRPr lang="en-US" altLang="zh-CN" sz="2000" kern="0" dirty="0">
              <a:latin typeface="Times New Roman" panose="02020603050405020304" pitchFamily="18" charset="0"/>
              <a:cs typeface="Times New Roman" panose="02020603050405020304" pitchFamily="18" charset="0"/>
              <a:sym typeface="+mn-ea"/>
            </a:endParaRPr>
          </a:p>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sym typeface="+mn-ea"/>
              </a:rPr>
              <a:t>Portability and Performance: </a:t>
            </a:r>
            <a:r>
              <a:rPr lang="en-US" altLang="zh-CN" sz="2400" kern="0" dirty="0">
                <a:latin typeface="Times New Roman" panose="02020603050405020304" pitchFamily="18" charset="0"/>
                <a:cs typeface="Times New Roman" panose="02020603050405020304" pitchFamily="18" charset="0"/>
              </a:rPr>
              <a:t>MSCCL++ provides </a:t>
            </a:r>
            <a:r>
              <a:rPr lang="en-US" altLang="zh-CN" sz="2400" kern="0" dirty="0">
                <a:latin typeface="Times New Roman" panose="02020603050405020304" pitchFamily="18" charset="0"/>
                <a:cs typeface="Times New Roman" panose="02020603050405020304" pitchFamily="18" charset="0"/>
              </a:rPr>
              <a:t>a reusable lib</a:t>
            </a:r>
            <a:endParaRPr lang="en-US" altLang="zh-CN" sz="22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a primitive interface provides a minimal hardware abstraction</a:t>
            </a:r>
            <a:endParaRPr lang="en-US" altLang="zh-CN" sz="20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higher-level portable interfaces and specialized implementations</a:t>
            </a:r>
            <a:endParaRPr lang="en-US" altLang="zh-CN" sz="2000" kern="0" dirty="0">
              <a:latin typeface="Times New Roman" panose="02020603050405020304" pitchFamily="18" charset="0"/>
              <a:cs typeface="Times New Roman" panose="02020603050405020304" pitchFamily="18" charset="0"/>
            </a:endParaRPr>
          </a:p>
          <a:p>
            <a:pPr lvl="0">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MSCCL++ fundamentally rethinks GPU communication abstractions to address the limitations of existing libraries (like NCCL) in the face of rapidly evolving AI hardware and specialized workloads.</a:t>
            </a:r>
            <a:endParaRPr lang="en-US" altLang="zh-CN" sz="22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err="1"/>
              <a:t>MSCCL++</a:t>
            </a:r>
            <a:r>
              <a:rPr lang="en-US" altLang="zh-CN" dirty="0"/>
              <a:t> (2/6)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372110" y="1125220"/>
            <a:ext cx="6138545"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Architecture Overview</a:t>
            </a:r>
            <a:endParaRPr lang="en-US" altLang="zh-CN" sz="2400" kern="0" dirty="0">
              <a:latin typeface="Times New Roman" panose="02020603050405020304" pitchFamily="18" charset="0"/>
              <a:cs typeface="Times New Roman" panose="02020603050405020304" pitchFamily="18" charset="0"/>
            </a:endParaRPr>
          </a:p>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MSCCL++ are building with an abstraction for various </a:t>
            </a:r>
            <a:r>
              <a:rPr lang="en-US" altLang="zh-CN" sz="2400" b="1" kern="0" dirty="0">
                <a:latin typeface="Times New Roman" panose="02020603050405020304" pitchFamily="18" charset="0"/>
                <a:cs typeface="Times New Roman" panose="02020603050405020304" pitchFamily="18" charset="0"/>
              </a:rPr>
              <a:t>communication channels</a:t>
            </a:r>
            <a:r>
              <a:rPr lang="en-US" altLang="zh-CN" sz="2400" kern="0" dirty="0">
                <a:latin typeface="Times New Roman" panose="02020603050405020304" pitchFamily="18" charset="0"/>
                <a:cs typeface="Times New Roman" panose="02020603050405020304" pitchFamily="18" charset="0"/>
              </a:rPr>
              <a:t>.</a:t>
            </a:r>
            <a:endParaRPr lang="en-US" altLang="zh-CN" sz="24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200" b="1" kern="0" dirty="0">
                <a:latin typeface="Times New Roman" panose="02020603050405020304" pitchFamily="18" charset="0"/>
                <a:cs typeface="Times New Roman" panose="02020603050405020304" pitchFamily="18" charset="0"/>
              </a:rPr>
              <a:t>PortChannel</a:t>
            </a:r>
            <a:r>
              <a:rPr lang="en-US" altLang="zh-CN" sz="2200" kern="0" dirty="0">
                <a:latin typeface="Times New Roman" panose="02020603050405020304" pitchFamily="18" charset="0"/>
                <a:cs typeface="Times New Roman" panose="02020603050405020304" pitchFamily="18" charset="0"/>
              </a:rPr>
              <a:t>: DMA engines on GPUs or RDMA NICs.</a:t>
            </a:r>
            <a:endParaRPr lang="en-US" altLang="zh-CN" sz="22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200" b="1" kern="0" dirty="0">
                <a:latin typeface="Times New Roman" panose="02020603050405020304" pitchFamily="18" charset="0"/>
                <a:cs typeface="Times New Roman" panose="02020603050405020304" pitchFamily="18" charset="0"/>
              </a:rPr>
              <a:t>MemoryChannel</a:t>
            </a:r>
            <a:r>
              <a:rPr lang="en-US" altLang="zh-CN" sz="2200" kern="0" dirty="0">
                <a:latin typeface="Times New Roman" panose="02020603050405020304" pitchFamily="18" charset="0"/>
                <a:cs typeface="Times New Roman" panose="02020603050405020304" pitchFamily="18" charset="0"/>
              </a:rPr>
              <a:t>: peer-to-peer memory access over NVLink / xGMI.</a:t>
            </a:r>
            <a:endParaRPr lang="en-US" altLang="zh-CN" sz="22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200" b="1" kern="0" dirty="0">
                <a:latin typeface="Times New Roman" panose="02020603050405020304" pitchFamily="18" charset="0"/>
                <a:cs typeface="Times New Roman" panose="02020603050405020304" pitchFamily="18" charset="0"/>
              </a:rPr>
              <a:t>SwitchChannel</a:t>
            </a:r>
            <a:r>
              <a:rPr lang="en-US" altLang="zh-CN" sz="2200" kern="0" dirty="0">
                <a:latin typeface="Times New Roman" panose="02020603050405020304" pitchFamily="18" charset="0"/>
                <a:cs typeface="Times New Roman" panose="02020603050405020304" pitchFamily="18" charset="0"/>
              </a:rPr>
              <a:t>: interconnection-switch-enabled multimem memory.</a:t>
            </a:r>
            <a:endParaRPr lang="en-US" altLang="zh-CN" sz="2200" kern="0"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6548120" y="1070610"/>
            <a:ext cx="5582285" cy="4900295"/>
          </a:xfrm>
          <a:prstGeom prst="rect">
            <a:avLst/>
          </a:prstGeom>
        </p:spPr>
      </p:pic>
      <p:sp>
        <p:nvSpPr>
          <p:cNvPr id="3" name="矩形 2"/>
          <p:cNvSpPr/>
          <p:nvPr/>
        </p:nvSpPr>
        <p:spPr>
          <a:xfrm>
            <a:off x="6898640" y="3944620"/>
            <a:ext cx="5240655" cy="655320"/>
          </a:xfrm>
          <a:prstGeom prst="rect">
            <a:avLst/>
          </a:prstGeom>
          <a:noFill/>
          <a:ln w="38100" cap="flat" cmpd="sng" algn="ctr">
            <a:solidFill>
              <a:srgbClr val="FF0000"/>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endParaRPr kumimoji="1" lang="en-US" altLang="zh-TW" sz="1800" b="1" i="0" u="none" strike="noStrike" cap="none" normalizeH="0" baseline="0" smtClean="0">
              <a:ln>
                <a:noFill/>
              </a:ln>
              <a:solidFill>
                <a:schemeClr val="tx1"/>
              </a:solidFill>
              <a:effectLst/>
              <a:latin typeface="Arial" panose="020B0604020202020204" pitchFamily="34" charset="0"/>
              <a:ea typeface="PMingLiU" pitchFamily="18" charset="-12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err="1"/>
              <a:t>MSCCL++</a:t>
            </a:r>
            <a:r>
              <a:rPr lang="en-US" altLang="zh-CN" dirty="0"/>
              <a:t> (3/6)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372110" y="1125220"/>
            <a:ext cx="6138545"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Architecture Overview</a:t>
            </a:r>
            <a:endParaRPr lang="en-US" altLang="zh-CN" sz="2400" kern="0" dirty="0">
              <a:latin typeface="Times New Roman" panose="02020603050405020304" pitchFamily="18" charset="0"/>
              <a:cs typeface="Times New Roman" panose="02020603050405020304" pitchFamily="18" charset="0"/>
            </a:endParaRPr>
          </a:p>
          <a:p>
            <a:pPr lvl="0">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All MSCCL++ </a:t>
            </a:r>
            <a:r>
              <a:rPr lang="en-US" altLang="zh-CN" sz="2400" b="1" kern="0" dirty="0">
                <a:latin typeface="Times New Roman" panose="02020603050405020304" pitchFamily="18" charset="0"/>
                <a:cs typeface="Times New Roman" panose="02020603050405020304" pitchFamily="18" charset="0"/>
              </a:rPr>
              <a:t>primitives</a:t>
            </a:r>
            <a:r>
              <a:rPr lang="en-US" altLang="zh-CN" sz="2400" kern="0" dirty="0">
                <a:latin typeface="Times New Roman" panose="02020603050405020304" pitchFamily="18" charset="0"/>
                <a:cs typeface="Times New Roman" panose="02020603050405020304" pitchFamily="18" charset="0"/>
              </a:rPr>
              <a:t> are defined as a method of a channel.</a:t>
            </a:r>
            <a:endParaRPr lang="en-US" altLang="zh-CN" sz="24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200" b="1" kern="0" dirty="0">
                <a:latin typeface="Times New Roman" panose="02020603050405020304" pitchFamily="18" charset="0"/>
                <a:cs typeface="Times New Roman" panose="02020603050405020304" pitchFamily="18" charset="0"/>
              </a:rPr>
              <a:t>put:</a:t>
            </a:r>
            <a:r>
              <a:rPr lang="en-US" altLang="zh-CN" sz="2200" kern="0" dirty="0">
                <a:latin typeface="Times New Roman" panose="02020603050405020304" pitchFamily="18" charset="0"/>
                <a:cs typeface="Times New Roman" panose="02020603050405020304" pitchFamily="18" charset="0"/>
              </a:rPr>
              <a:t> asynchronously transfers data from one GPU to another. </a:t>
            </a:r>
            <a:endParaRPr lang="en-US" altLang="zh-CN" sz="22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200" b="1" kern="0" dirty="0">
                <a:latin typeface="Times New Roman" panose="02020603050405020304" pitchFamily="18" charset="0"/>
                <a:cs typeface="Times New Roman" panose="02020603050405020304" pitchFamily="18" charset="0"/>
              </a:rPr>
              <a:t>signal and wait:</a:t>
            </a:r>
            <a:r>
              <a:rPr lang="en-US" altLang="zh-CN" sz="2200" kern="0" dirty="0">
                <a:latin typeface="Times New Roman" panose="02020603050405020304" pitchFamily="18" charset="0"/>
                <a:cs typeface="Times New Roman" panose="02020603050405020304" pitchFamily="18" charset="0"/>
              </a:rPr>
              <a:t> synchronize data transfer between GPUs. </a:t>
            </a:r>
            <a:endParaRPr lang="en-US" altLang="zh-CN" sz="22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200" b="1" kern="0" dirty="0">
                <a:latin typeface="Times New Roman" panose="02020603050405020304" pitchFamily="18" charset="0"/>
                <a:cs typeface="Times New Roman" panose="02020603050405020304" pitchFamily="18" charset="0"/>
              </a:rPr>
              <a:t>flush:</a:t>
            </a:r>
            <a:r>
              <a:rPr lang="en-US" altLang="zh-CN" sz="2200" kern="0" dirty="0">
                <a:latin typeface="Times New Roman" panose="02020603050405020304" pitchFamily="18" charset="0"/>
                <a:cs typeface="Times New Roman" panose="02020603050405020304" pitchFamily="18" charset="0"/>
              </a:rPr>
              <a:t> ensures the completion of preceded data transfer.</a:t>
            </a:r>
            <a:endParaRPr lang="en-US" altLang="zh-CN" sz="2200" kern="0" dirty="0">
              <a:latin typeface="Times New Roman" panose="02020603050405020304" pitchFamily="18" charset="0"/>
              <a:cs typeface="Times New Roman" panose="02020603050405020304" pitchFamily="18" charset="0"/>
            </a:endParaRPr>
          </a:p>
          <a:p>
            <a:pPr lvl="0">
              <a:lnSpc>
                <a:spcPct val="150000"/>
              </a:lnSpc>
              <a:spcBef>
                <a:spcPts val="0"/>
              </a:spcBef>
            </a:pPr>
            <a:endParaRPr lang="en-US" altLang="zh-CN" sz="2200" kern="0"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6548120" y="1070610"/>
            <a:ext cx="5582285" cy="4900295"/>
          </a:xfrm>
          <a:prstGeom prst="rect">
            <a:avLst/>
          </a:prstGeom>
        </p:spPr>
      </p:pic>
      <p:sp>
        <p:nvSpPr>
          <p:cNvPr id="3" name="矩形 2"/>
          <p:cNvSpPr/>
          <p:nvPr/>
        </p:nvSpPr>
        <p:spPr>
          <a:xfrm>
            <a:off x="6908800" y="3249295"/>
            <a:ext cx="5212715" cy="676910"/>
          </a:xfrm>
          <a:prstGeom prst="rect">
            <a:avLst/>
          </a:prstGeom>
          <a:noFill/>
          <a:ln w="38100" cap="flat" cmpd="sng" algn="ctr">
            <a:solidFill>
              <a:srgbClr val="FF0000"/>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endParaRPr kumimoji="1" lang="en-US" altLang="zh-TW" sz="1800" b="1" i="0" u="none" strike="noStrike" cap="none" normalizeH="0" baseline="0" smtClean="0">
              <a:ln>
                <a:noFill/>
              </a:ln>
              <a:solidFill>
                <a:schemeClr val="tx1"/>
              </a:solidFill>
              <a:effectLst/>
              <a:latin typeface="Arial" panose="020B0604020202020204" pitchFamily="34" charset="0"/>
              <a:ea typeface="PMingLiU" pitchFamily="18" charset="-12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err="1">
                <a:sym typeface="+mn-ea"/>
              </a:rPr>
              <a:t>MSCCL++</a:t>
            </a:r>
            <a:r>
              <a:rPr lang="en-US" altLang="zh-CN" dirty="0"/>
              <a:t> (4/6)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263525" y="1125220"/>
            <a:ext cx="11569065"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Key ideas:  ML workloads move fast! Separate high-level abstractions and optimizations from primitive hardware abstractions.</a:t>
            </a:r>
            <a:endParaRPr lang="en-US" altLang="zh-CN" sz="24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200" kern="0" dirty="0">
                <a:latin typeface="Times New Roman" panose="02020603050405020304" pitchFamily="18" charset="0"/>
                <a:cs typeface="Times New Roman" panose="02020603050405020304" pitchFamily="18" charset="0"/>
              </a:rPr>
              <a:t>Application developers optimize and fine-tune by enabling precise control of the hardware</a:t>
            </a:r>
            <a:endParaRPr lang="en-US" altLang="zh-CN" sz="22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200" kern="0" dirty="0">
                <a:latin typeface="Times New Roman" panose="02020603050405020304" pitchFamily="18" charset="0"/>
                <a:cs typeface="Times New Roman" panose="02020603050405020304" pitchFamily="18" charset="0"/>
              </a:rPr>
              <a:t>Library developers support new hardware features by only providing a shallow layer of abstraction over it</a:t>
            </a:r>
            <a:endParaRPr lang="en-US" altLang="zh-CN" sz="2200" kern="0" dirty="0">
              <a:latin typeface="Times New Roman" panose="02020603050405020304" pitchFamily="18" charset="0"/>
              <a:cs typeface="Times New Roman" panose="02020603050405020304" pitchFamily="18" charset="0"/>
            </a:endParaRPr>
          </a:p>
          <a:p>
            <a:pPr lvl="0">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Basically, they are building a reusable communication library with an abstraction for various communication channels.</a:t>
            </a:r>
            <a:endParaRPr lang="en-US" altLang="zh-CN" sz="2400" kern="0" dirty="0">
              <a:latin typeface="Times New Roman" panose="02020603050405020304" pitchFamily="18" charset="0"/>
              <a:cs typeface="Times New Roman" panose="02020603050405020304" pitchFamily="18" charset="0"/>
            </a:endParaRPr>
          </a:p>
          <a:p>
            <a:pPr lvl="1">
              <a:lnSpc>
                <a:spcPct val="150000"/>
              </a:lnSpc>
              <a:spcBef>
                <a:spcPts val="0"/>
              </a:spcBef>
            </a:pPr>
            <a:endParaRPr lang="en-US" altLang="zh-CN" sz="24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err="1">
                <a:sym typeface="+mn-ea"/>
              </a:rPr>
              <a:t>MSCCL++</a:t>
            </a:r>
            <a:r>
              <a:rPr lang="en-US" altLang="zh-CN" dirty="0"/>
              <a:t> (5/6)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995" y="1125537"/>
            <a:ext cx="10942593" cy="4895851"/>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Code Example</a:t>
            </a:r>
            <a:endParaRPr lang="en-US" altLang="zh-CN" sz="2400" kern="0"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253365" y="2310130"/>
            <a:ext cx="4942840" cy="2951480"/>
          </a:xfrm>
          <a:prstGeom prst="rect">
            <a:avLst/>
          </a:prstGeom>
        </p:spPr>
      </p:pic>
      <p:pic>
        <p:nvPicPr>
          <p:cNvPr id="7" name="图片 6"/>
          <p:cNvPicPr>
            <a:picLocks noChangeAspect="1"/>
          </p:cNvPicPr>
          <p:nvPr/>
        </p:nvPicPr>
        <p:blipFill>
          <a:blip r:embed="rId2"/>
          <a:stretch>
            <a:fillRect/>
          </a:stretch>
        </p:blipFill>
        <p:spPr>
          <a:xfrm>
            <a:off x="5382895" y="1068705"/>
            <a:ext cx="3416935" cy="5074920"/>
          </a:xfrm>
          <a:prstGeom prst="rect">
            <a:avLst/>
          </a:prstGeom>
        </p:spPr>
      </p:pic>
      <p:pic>
        <p:nvPicPr>
          <p:cNvPr id="10" name="图片 9"/>
          <p:cNvPicPr>
            <a:picLocks noChangeAspect="1"/>
          </p:cNvPicPr>
          <p:nvPr/>
        </p:nvPicPr>
        <p:blipFill>
          <a:blip r:embed="rId3"/>
          <a:stretch>
            <a:fillRect/>
          </a:stretch>
        </p:blipFill>
        <p:spPr>
          <a:xfrm>
            <a:off x="8956675" y="1068705"/>
            <a:ext cx="3141980" cy="50838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err="1">
                <a:sym typeface="+mn-ea"/>
              </a:rPr>
              <a:t>MSCCL++</a:t>
            </a:r>
            <a:r>
              <a:rPr lang="en-US" altLang="zh-CN" dirty="0"/>
              <a:t> (6/6)</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995" y="1125537"/>
            <a:ext cx="10942593" cy="4895851"/>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Evaluation</a:t>
            </a:r>
            <a:endParaRPr lang="en-US" altLang="zh-CN" sz="2400" kern="0"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264795" y="2011680"/>
            <a:ext cx="7994015" cy="4114800"/>
          </a:xfrm>
          <a:prstGeom prst="rect">
            <a:avLst/>
          </a:prstGeom>
        </p:spPr>
      </p:pic>
      <p:pic>
        <p:nvPicPr>
          <p:cNvPr id="7" name="图片 6"/>
          <p:cNvPicPr>
            <a:picLocks noChangeAspect="1"/>
          </p:cNvPicPr>
          <p:nvPr/>
        </p:nvPicPr>
        <p:blipFill>
          <a:blip r:embed="rId2"/>
          <a:stretch>
            <a:fillRect/>
          </a:stretch>
        </p:blipFill>
        <p:spPr>
          <a:xfrm>
            <a:off x="8321040" y="1059180"/>
            <a:ext cx="3550285" cy="50673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5" dirty="0">
                <a:latin typeface="Times New Roman" panose="02020603050405020304" pitchFamily="18" charset="0"/>
                <a:cs typeface="Times New Roman" panose="02020603050405020304" pitchFamily="18" charset="0"/>
              </a:rPr>
              <a:t>Introduction (3 min)</a:t>
            </a:r>
            <a:endParaRPr lang="en-US" altLang="zh-TW"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Background &amp; Motivation (11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Proposed Methods &amp; Performance Evaluation (24 min)</a:t>
            </a:r>
            <a:endParaRPr lang="en-US" altLang="zh-CN" sz="2935" dirty="0">
              <a:latin typeface="Times New Roman" panose="02020603050405020304" pitchFamily="18" charset="0"/>
              <a:cs typeface="Times New Roman" panose="02020603050405020304" pitchFamily="18" charset="0"/>
            </a:endParaRPr>
          </a:p>
          <a:p>
            <a:pPr lvl="1"/>
            <a:r>
              <a:rPr lang="en-US" altLang="zh-CN" sz="2400" dirty="0" err="1">
                <a:solidFill>
                  <a:schemeClr val="tx1"/>
                </a:solidFill>
                <a:latin typeface="Times New Roman" panose="02020603050405020304" pitchFamily="18" charset="0"/>
                <a:cs typeface="Times New Roman" panose="02020603050405020304" pitchFamily="18" charset="0"/>
              </a:rPr>
              <a:t>MSCCL++</a:t>
            </a:r>
            <a:r>
              <a:rPr lang="en-US" altLang="zh-CN" sz="2400" dirty="0">
                <a:solidFill>
                  <a:schemeClr val="tx1"/>
                </a:solidFill>
                <a:latin typeface="Times New Roman" panose="02020603050405020304" pitchFamily="18" charset="0"/>
                <a:cs typeface="Times New Roman" panose="02020603050405020304" pitchFamily="18" charset="0"/>
              </a:rPr>
              <a:t> (8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err="1">
                <a:solidFill>
                  <a:srgbClr val="FF0000"/>
                </a:solidFill>
                <a:latin typeface="Times New Roman" panose="02020603050405020304" pitchFamily="18" charset="0"/>
                <a:cs typeface="Times New Roman" panose="02020603050405020304" pitchFamily="18" charset="0"/>
              </a:rPr>
              <a:t>syCCL</a:t>
            </a:r>
            <a:r>
              <a:rPr lang="en-US" altLang="zh-CN" sz="2400" dirty="0">
                <a:solidFill>
                  <a:srgbClr val="FF0000"/>
                </a:solidFill>
                <a:latin typeface="Times New Roman" panose="02020603050405020304" pitchFamily="18" charset="0"/>
                <a:cs typeface="Times New Roman" panose="02020603050405020304" pitchFamily="18" charset="0"/>
              </a:rPr>
              <a:t> (8 min)</a:t>
            </a:r>
            <a:endParaRPr lang="en-US" altLang="zh-CN" sz="2400" dirty="0">
              <a:solidFill>
                <a:srgbClr val="FF0000"/>
              </a:solidFill>
              <a:latin typeface="Times New Roman" panose="02020603050405020304" pitchFamily="18" charset="0"/>
              <a:cs typeface="Times New Roman" panose="02020603050405020304" pitchFamily="18" charset="0"/>
            </a:endParaRPr>
          </a:p>
          <a:p>
            <a:pPr lvl="1"/>
            <a:r>
              <a:rPr lang="en-US" altLang="zh-CN" sz="2400" dirty="0">
                <a:latin typeface="Times New Roman" panose="02020603050405020304" pitchFamily="18" charset="0"/>
                <a:cs typeface="Times New Roman" panose="02020603050405020304" pitchFamily="18" charset="0"/>
              </a:rPr>
              <a:t>NCCLX (8 min)</a:t>
            </a:r>
            <a:endParaRPr lang="en-US" altLang="zh-CN" sz="2400"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Conclusions (2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Q &amp; A (5 min)</a:t>
            </a:r>
            <a:endParaRPr lang="en-US" altLang="zh-CN" sz="2935" dirty="0">
              <a:latin typeface="Times New Roman" panose="02020603050405020304" pitchFamily="18" charset="0"/>
              <a:cs typeface="Times New Roman" panose="0202060305040502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syCCL </a:t>
            </a:r>
            <a:r>
              <a:rPr lang="en-US" altLang="zh-CN"/>
              <a:t>(1/7)</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840" y="1125220"/>
            <a:ext cx="10942320" cy="4895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SyCCL reduces the exponential search space of large-scale collective scheduling by synergistically exploiting </a:t>
            </a:r>
            <a:r>
              <a:rPr lang="en-US" altLang="zh-CN" sz="2400" b="1" kern="0" dirty="0">
                <a:latin typeface="Times New Roman" panose="02020603050405020304" pitchFamily="18" charset="0"/>
                <a:cs typeface="Times New Roman" panose="02020603050405020304" pitchFamily="18" charset="0"/>
              </a:rPr>
              <a:t>topological and collective symmetries</a:t>
            </a:r>
            <a:r>
              <a:rPr lang="en-US" altLang="zh-CN" sz="2400" kern="0" dirty="0">
                <a:latin typeface="Times New Roman" panose="02020603050405020304" pitchFamily="18" charset="0"/>
                <a:cs typeface="Times New Roman" panose="02020603050405020304" pitchFamily="18" charset="0"/>
              </a:rPr>
              <a:t> to decompose global communication demands into tractable sub-problems.</a:t>
            </a:r>
            <a:endParaRPr lang="en-US" altLang="zh-CN" sz="2400" kern="0" dirty="0">
              <a:latin typeface="Times New Roman" panose="02020603050405020304" pitchFamily="18" charset="0"/>
              <a:cs typeface="Times New Roman" panose="02020603050405020304" pitchFamily="18" charset="0"/>
            </a:endParaRPr>
          </a:p>
          <a:p>
            <a:pPr>
              <a:lnSpc>
                <a:spcPct val="150000"/>
              </a:lnSpc>
              <a:spcBef>
                <a:spcPts val="0"/>
              </a:spcBef>
            </a:pPr>
            <a:endParaRPr lang="en-US" altLang="zh-CN" sz="2200" kern="0"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5762625" y="3891280"/>
            <a:ext cx="6379210" cy="2256155"/>
          </a:xfrm>
          <a:prstGeom prst="rect">
            <a:avLst/>
          </a:prstGeom>
        </p:spPr>
      </p:pic>
      <p:pic>
        <p:nvPicPr>
          <p:cNvPr id="3" name="图片 2"/>
          <p:cNvPicPr>
            <a:picLocks noChangeAspect="1"/>
          </p:cNvPicPr>
          <p:nvPr/>
        </p:nvPicPr>
        <p:blipFill>
          <a:blip r:embed="rId2"/>
          <a:stretch>
            <a:fillRect/>
          </a:stretch>
        </p:blipFill>
        <p:spPr>
          <a:xfrm>
            <a:off x="139700" y="3891280"/>
            <a:ext cx="5622925" cy="225615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syCCL </a:t>
            </a:r>
            <a:r>
              <a:rPr lang="en-US" altLang="zh-CN"/>
              <a:t>(2/7)</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995" y="1125537"/>
            <a:ext cx="10517721" cy="4895851"/>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sym typeface="+mn-ea"/>
              </a:rPr>
              <a:t>Three-Step Strategy Overview</a:t>
            </a:r>
            <a:endParaRPr lang="en-US" altLang="zh-CN" sz="2400" kern="0" dirty="0">
              <a:latin typeface="Times New Roman" panose="02020603050405020304" pitchFamily="18" charset="0"/>
              <a:cs typeface="Times New Roman" panose="02020603050405020304" pitchFamily="18" charset="0"/>
            </a:endParaRPr>
          </a:p>
          <a:p>
            <a:pPr lvl="1"/>
            <a:r>
              <a:rPr lang="en-US" altLang="zh-CN" sz="2400" b="1" kern="0" dirty="0">
                <a:latin typeface="Times New Roman" panose="02020603050405020304" pitchFamily="18" charset="0"/>
                <a:cs typeface="Times New Roman" panose="02020603050405020304" pitchFamily="18" charset="0"/>
                <a:sym typeface="+mn-ea"/>
              </a:rPr>
              <a:t>Decompose:</a:t>
            </a:r>
            <a:r>
              <a:rPr lang="en-US" altLang="zh-CN" sz="2400" kern="0" dirty="0">
                <a:latin typeface="Times New Roman" panose="02020603050405020304" pitchFamily="18" charset="0"/>
                <a:cs typeface="Times New Roman" panose="02020603050405020304" pitchFamily="18" charset="0"/>
                <a:sym typeface="+mn-ea"/>
              </a:rPr>
              <a:t> By utilizing symmetry, a large-scale communication demand (e.g., AllGather across 1024 GPUs) is broken down into multiple "sub-demands" mapped to smaller topological subsets (e.g., an 8-GPU single node).</a:t>
            </a:r>
            <a:endParaRPr lang="en-US" altLang="zh-CN" sz="2400" kern="0" dirty="0">
              <a:latin typeface="Times New Roman" panose="02020603050405020304" pitchFamily="18" charset="0"/>
              <a:cs typeface="Times New Roman" panose="02020603050405020304" pitchFamily="18" charset="0"/>
            </a:endParaRPr>
          </a:p>
          <a:p>
            <a:pPr lvl="1"/>
            <a:endParaRPr lang="en-US" altLang="zh-CN" sz="2200" kern="0"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770255" y="2899410"/>
            <a:ext cx="5416550" cy="3224530"/>
          </a:xfrm>
          <a:prstGeom prst="rect">
            <a:avLst/>
          </a:prstGeom>
        </p:spPr>
      </p:pic>
      <p:pic>
        <p:nvPicPr>
          <p:cNvPr id="6" name="图片 5"/>
          <p:cNvPicPr>
            <a:picLocks noChangeAspect="1"/>
          </p:cNvPicPr>
          <p:nvPr/>
        </p:nvPicPr>
        <p:blipFill>
          <a:blip r:embed="rId2"/>
          <a:stretch>
            <a:fillRect/>
          </a:stretch>
        </p:blipFill>
        <p:spPr>
          <a:xfrm>
            <a:off x="6720205" y="2899410"/>
            <a:ext cx="4248785" cy="320865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syCCL </a:t>
            </a:r>
            <a:r>
              <a:rPr lang="en-US" altLang="zh-CN"/>
              <a:t>(3/7)</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995" y="1125537"/>
            <a:ext cx="10517721" cy="4895851"/>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sym typeface="+mn-ea"/>
              </a:rPr>
              <a:t>Three-Step Strategy Overview</a:t>
            </a:r>
            <a:endParaRPr lang="en-US" altLang="zh-CN" sz="24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400" b="1" kern="0" dirty="0">
                <a:latin typeface="Times New Roman" panose="02020603050405020304" pitchFamily="18" charset="0"/>
                <a:cs typeface="Times New Roman" panose="02020603050405020304" pitchFamily="18" charset="0"/>
                <a:sym typeface="+mn-ea"/>
              </a:rPr>
              <a:t>Search:</a:t>
            </a:r>
            <a:r>
              <a:rPr lang="en-US" altLang="zh-CN" sz="2400" kern="0" dirty="0">
                <a:latin typeface="Times New Roman" panose="02020603050405020304" pitchFamily="18" charset="0"/>
                <a:cs typeface="Times New Roman" panose="02020603050405020304" pitchFamily="18" charset="0"/>
                <a:sym typeface="+mn-ea"/>
              </a:rPr>
              <a:t> Within the significantly reduced search space, a Mixed Integer Linear Programming (MILP) solver can find the optimal sub-schedules for the sub-topology in just a few minutes.</a:t>
            </a:r>
            <a:endParaRPr lang="en-US" altLang="zh-CN" sz="24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400" b="1" kern="0" dirty="0">
                <a:latin typeface="Times New Roman" panose="02020603050405020304" pitchFamily="18" charset="0"/>
                <a:cs typeface="Times New Roman" panose="02020603050405020304" pitchFamily="18" charset="0"/>
                <a:sym typeface="+mn-ea"/>
              </a:rPr>
              <a:t>Integrate: </a:t>
            </a:r>
            <a:r>
              <a:rPr lang="en-US" altLang="zh-CN" sz="2400" kern="0" dirty="0">
                <a:latin typeface="Times New Roman" panose="02020603050405020304" pitchFamily="18" charset="0"/>
                <a:cs typeface="Times New Roman" panose="02020603050405020304" pitchFamily="18" charset="0"/>
                <a:sym typeface="+mn-ea"/>
              </a:rPr>
              <a:t>These sub-schedules are assembled like building blocks. Through symmetry mapping, they are reconfigured into a complete, comprehensive scheduling plan that covers the entire large-scale cluster.</a:t>
            </a:r>
            <a:endParaRPr lang="en-US" altLang="zh-CN" sz="22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syCCL </a:t>
            </a:r>
            <a:r>
              <a:rPr lang="en-US" altLang="zh-CN"/>
              <a:t>(4/7)</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9" name="内容占位符 5"/>
          <p:cNvSpPr txBox="1"/>
          <p:nvPr/>
        </p:nvSpPr>
        <p:spPr bwMode="auto">
          <a:xfrm>
            <a:off x="624995" y="1125537"/>
            <a:ext cx="10517721" cy="4895851"/>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sym typeface="+mn-ea"/>
              </a:rPr>
              <a:t>Architecture Overview</a:t>
            </a:r>
            <a:endParaRPr lang="en-US" altLang="zh-CN" sz="2400" kern="0" dirty="0">
              <a:latin typeface="Times New Roman" panose="02020603050405020304" pitchFamily="18" charset="0"/>
              <a:cs typeface="Times New Roman" panose="02020603050405020304" pitchFamily="18" charset="0"/>
            </a:endParaRPr>
          </a:p>
          <a:p>
            <a:pPr lvl="1"/>
            <a:r>
              <a:rPr lang="en-US" altLang="zh-CN" sz="2200" b="1" kern="0" dirty="0">
                <a:latin typeface="Times New Roman" panose="02020603050405020304" pitchFamily="18" charset="0"/>
                <a:cs typeface="Times New Roman" panose="02020603050405020304" pitchFamily="18" charset="0"/>
              </a:rPr>
              <a:t>S</a:t>
            </a:r>
            <a:r>
              <a:rPr lang="en-US" altLang="zh-CN" sz="2200" b="1" kern="0" dirty="0">
                <a:latin typeface="Times New Roman" panose="02020603050405020304" pitchFamily="18" charset="0"/>
                <a:cs typeface="Times New Roman" panose="02020603050405020304" pitchFamily="18" charset="0"/>
                <a:sym typeface="+mn-ea"/>
              </a:rPr>
              <a:t>ketch Exploration</a:t>
            </a:r>
            <a:r>
              <a:rPr lang="en-US" altLang="zh-CN" sz="2200" kern="0" dirty="0">
                <a:latin typeface="Times New Roman" panose="02020603050405020304" pitchFamily="18" charset="0"/>
                <a:cs typeface="Times New Roman" panose="02020603050405020304" pitchFamily="18" charset="0"/>
                <a:sym typeface="+mn-ea"/>
              </a:rPr>
              <a:t> searches and composes candidate communication structures to generate high-quality sketches.</a:t>
            </a:r>
            <a:endParaRPr lang="en-US" altLang="zh-CN" sz="2200" kern="0" dirty="0">
              <a:latin typeface="Times New Roman" panose="02020603050405020304" pitchFamily="18" charset="0"/>
              <a:cs typeface="Times New Roman" panose="02020603050405020304" pitchFamily="18" charset="0"/>
            </a:endParaRPr>
          </a:p>
          <a:p>
            <a:pPr lvl="1"/>
            <a:r>
              <a:rPr lang="en-US" altLang="zh-CN" sz="2200" b="1" kern="0" dirty="0">
                <a:latin typeface="Times New Roman" panose="02020603050405020304" pitchFamily="18" charset="0"/>
                <a:cs typeface="Times New Roman" panose="02020603050405020304" pitchFamily="18" charset="0"/>
              </a:rPr>
              <a:t>Schedule Synthesis</a:t>
            </a:r>
            <a:r>
              <a:rPr lang="en-US" altLang="zh-CN" sz="2200" kern="0" dirty="0">
                <a:latin typeface="Times New Roman" panose="02020603050405020304" pitchFamily="18" charset="0"/>
                <a:cs typeface="Times New Roman" panose="02020603050405020304" pitchFamily="18" charset="0"/>
              </a:rPr>
              <a:t> generates concrete communication schedules and evaluates their performance given a sketch.</a:t>
            </a:r>
            <a:endParaRPr lang="en-US" altLang="zh-CN" sz="2200" kern="0" dirty="0">
              <a:latin typeface="Times New Roman" panose="02020603050405020304" pitchFamily="18" charset="0"/>
              <a:cs typeface="Times New Roman" panose="02020603050405020304" pitchFamily="18" charset="0"/>
            </a:endParaRPr>
          </a:p>
          <a:p>
            <a:pPr lvl="1"/>
            <a:endParaRPr lang="en-US" altLang="zh-CN" sz="2200" kern="0"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2471420" y="3084830"/>
            <a:ext cx="6937375" cy="30257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sym typeface="+mn-ea"/>
              </a:rPr>
              <a:t>syCCL</a:t>
            </a:r>
            <a:r>
              <a:rPr lang="en-US" altLang="zh-CN" dirty="0"/>
              <a:t> (5/7)</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2" name="内容占位符 5"/>
          <p:cNvSpPr txBox="1"/>
          <p:nvPr/>
        </p:nvSpPr>
        <p:spPr bwMode="auto">
          <a:xfrm>
            <a:off x="624995" y="1119981"/>
            <a:ext cx="10517721" cy="4427538"/>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Evaluation</a:t>
            </a:r>
            <a:endParaRPr lang="en-US" altLang="zh-CN" sz="2400" kern="0"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1651635" y="1524000"/>
            <a:ext cx="8345805" cy="46380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sym typeface="+mn-ea"/>
              </a:rPr>
              <a:t>syCCL</a:t>
            </a:r>
            <a:r>
              <a:rPr lang="en-US" altLang="zh-CN" dirty="0"/>
              <a:t> (6/7)</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2" name="内容占位符 5"/>
          <p:cNvSpPr txBox="1"/>
          <p:nvPr/>
        </p:nvSpPr>
        <p:spPr bwMode="auto">
          <a:xfrm>
            <a:off x="624995" y="1119981"/>
            <a:ext cx="10517721" cy="4427538"/>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Evaluation</a:t>
            </a:r>
            <a:endParaRPr lang="en-US" altLang="zh-CN" sz="2400" kern="0" dirty="0">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1"/>
          <a:stretch>
            <a:fillRect/>
          </a:stretch>
        </p:blipFill>
        <p:spPr>
          <a:xfrm>
            <a:off x="3350260" y="1077595"/>
            <a:ext cx="6739255" cy="50482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sym typeface="+mn-ea"/>
              </a:rPr>
              <a:t>syCCL</a:t>
            </a:r>
            <a:r>
              <a:rPr lang="en-US" altLang="zh-CN" dirty="0"/>
              <a:t> (7/7)</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2" name="内容占位符 5"/>
          <p:cNvSpPr txBox="1"/>
          <p:nvPr/>
        </p:nvSpPr>
        <p:spPr bwMode="auto">
          <a:xfrm>
            <a:off x="624995" y="1119981"/>
            <a:ext cx="10517721" cy="4427538"/>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Evaluation</a:t>
            </a:r>
            <a:endParaRPr lang="en-US" altLang="zh-CN" sz="2400" kern="0"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728980" y="1925955"/>
            <a:ext cx="5173980" cy="1994535"/>
          </a:xfrm>
          <a:prstGeom prst="rect">
            <a:avLst/>
          </a:prstGeom>
        </p:spPr>
      </p:pic>
      <p:pic>
        <p:nvPicPr>
          <p:cNvPr id="7" name="图片 6"/>
          <p:cNvPicPr>
            <a:picLocks noChangeAspect="1"/>
          </p:cNvPicPr>
          <p:nvPr/>
        </p:nvPicPr>
        <p:blipFill>
          <a:blip r:embed="rId2"/>
          <a:stretch>
            <a:fillRect/>
          </a:stretch>
        </p:blipFill>
        <p:spPr>
          <a:xfrm>
            <a:off x="6225540" y="1119505"/>
            <a:ext cx="3419475" cy="4995545"/>
          </a:xfrm>
          <a:prstGeom prst="rect">
            <a:avLst/>
          </a:prstGeom>
        </p:spPr>
      </p:pic>
      <p:pic>
        <p:nvPicPr>
          <p:cNvPr id="8" name="图片 7"/>
          <p:cNvPicPr>
            <a:picLocks noChangeAspect="1"/>
          </p:cNvPicPr>
          <p:nvPr/>
        </p:nvPicPr>
        <p:blipFill>
          <a:blip r:embed="rId3"/>
          <a:stretch>
            <a:fillRect/>
          </a:stretch>
        </p:blipFill>
        <p:spPr>
          <a:xfrm>
            <a:off x="664210" y="4218940"/>
            <a:ext cx="5302885" cy="18059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5" dirty="0">
                <a:latin typeface="Times New Roman" panose="02020603050405020304" pitchFamily="18" charset="0"/>
                <a:cs typeface="Times New Roman" panose="02020603050405020304" pitchFamily="18" charset="0"/>
              </a:rPr>
              <a:t>Introduction (3 min)</a:t>
            </a:r>
            <a:endParaRPr lang="en-US" altLang="zh-TW"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Background &amp; Motivation (11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Proposed Methods &amp; Performance Evaluation (24 min)</a:t>
            </a:r>
            <a:endParaRPr lang="en-US" altLang="zh-CN" sz="2935" dirty="0">
              <a:latin typeface="Times New Roman" panose="02020603050405020304" pitchFamily="18" charset="0"/>
              <a:cs typeface="Times New Roman" panose="02020603050405020304" pitchFamily="18" charset="0"/>
            </a:endParaRPr>
          </a:p>
          <a:p>
            <a:pPr lvl="1"/>
            <a:r>
              <a:rPr lang="en-US" altLang="zh-CN" sz="2400" dirty="0" err="1">
                <a:solidFill>
                  <a:schemeClr val="tx1"/>
                </a:solidFill>
                <a:latin typeface="Times New Roman" panose="02020603050405020304" pitchFamily="18" charset="0"/>
                <a:cs typeface="Times New Roman" panose="02020603050405020304" pitchFamily="18" charset="0"/>
              </a:rPr>
              <a:t>MSCCL++</a:t>
            </a:r>
            <a:r>
              <a:rPr lang="en-US" altLang="zh-CN" sz="2400" dirty="0">
                <a:solidFill>
                  <a:schemeClr val="tx1"/>
                </a:solidFill>
                <a:latin typeface="Times New Roman" panose="02020603050405020304" pitchFamily="18" charset="0"/>
                <a:cs typeface="Times New Roman" panose="02020603050405020304" pitchFamily="18" charset="0"/>
              </a:rPr>
              <a:t> (8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err="1">
                <a:solidFill>
                  <a:schemeClr val="tx1"/>
                </a:solidFill>
                <a:latin typeface="Times New Roman" panose="02020603050405020304" pitchFamily="18" charset="0"/>
                <a:cs typeface="Times New Roman" panose="02020603050405020304" pitchFamily="18" charset="0"/>
              </a:rPr>
              <a:t>syCCL</a:t>
            </a:r>
            <a:r>
              <a:rPr lang="en-US" altLang="zh-CN" sz="2400" dirty="0">
                <a:solidFill>
                  <a:schemeClr val="tx1"/>
                </a:solidFill>
                <a:latin typeface="Times New Roman" panose="02020603050405020304" pitchFamily="18" charset="0"/>
                <a:cs typeface="Times New Roman" panose="02020603050405020304" pitchFamily="18" charset="0"/>
              </a:rPr>
              <a:t> (8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rgbClr val="FF0000"/>
                </a:solidFill>
                <a:latin typeface="Times New Roman" panose="02020603050405020304" pitchFamily="18" charset="0"/>
                <a:cs typeface="Times New Roman" panose="02020603050405020304" pitchFamily="18" charset="0"/>
              </a:rPr>
              <a:t>NCCLX (8 min)</a:t>
            </a:r>
            <a:endParaRPr lang="en-US" altLang="zh-CN" sz="2400" dirty="0">
              <a:solidFill>
                <a:srgbClr val="FF0000"/>
              </a:solidFill>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Conclusions (2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Q &amp; A (5 min)</a:t>
            </a:r>
            <a:endParaRPr lang="en-US" altLang="zh-CN" sz="2935" dirty="0">
              <a:latin typeface="Times New Roman" panose="02020603050405020304" pitchFamily="18" charset="0"/>
              <a:cs typeface="Times New Roman" panose="0202060305040502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NCCLX (1/9)</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pic>
        <p:nvPicPr>
          <p:cNvPr id="2" name="图片 1"/>
          <p:cNvPicPr>
            <a:picLocks noChangeAspect="1"/>
          </p:cNvPicPr>
          <p:nvPr/>
        </p:nvPicPr>
        <p:blipFill>
          <a:blip r:embed="rId1"/>
          <a:stretch>
            <a:fillRect/>
          </a:stretch>
        </p:blipFill>
        <p:spPr>
          <a:xfrm>
            <a:off x="6137910" y="1036955"/>
            <a:ext cx="5892165" cy="5058410"/>
          </a:xfrm>
          <a:prstGeom prst="rect">
            <a:avLst/>
          </a:prstGeom>
        </p:spPr>
      </p:pic>
      <p:sp>
        <p:nvSpPr>
          <p:cNvPr id="3" name="矩形 2"/>
          <p:cNvSpPr/>
          <p:nvPr/>
        </p:nvSpPr>
        <p:spPr>
          <a:xfrm>
            <a:off x="6169660" y="1243330"/>
            <a:ext cx="5782945" cy="2865755"/>
          </a:xfrm>
          <a:prstGeom prst="rect">
            <a:avLst/>
          </a:prstGeom>
          <a:noFill/>
          <a:ln w="38100" cap="flat" cmpd="sng" algn="ctr">
            <a:solidFill>
              <a:srgbClr val="FF0000"/>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endParaRPr kumimoji="1" lang="en-US" altLang="zh-TW" sz="1800" b="1" i="0" u="none" strike="noStrike" cap="none" normalizeH="0" baseline="0" smtClean="0">
              <a:ln>
                <a:noFill/>
              </a:ln>
              <a:solidFill>
                <a:schemeClr val="tx1"/>
              </a:solidFill>
              <a:effectLst/>
              <a:latin typeface="Arial" panose="020B0604020202020204" pitchFamily="34" charset="0"/>
              <a:ea typeface="PMingLiU" pitchFamily="18" charset="-120"/>
            </a:endParaRPr>
          </a:p>
        </p:txBody>
      </p:sp>
      <p:sp>
        <p:nvSpPr>
          <p:cNvPr id="6" name="内容占位符 5"/>
          <p:cNvSpPr txBox="1"/>
          <p:nvPr/>
        </p:nvSpPr>
        <p:spPr bwMode="auto">
          <a:xfrm>
            <a:off x="182880" y="941070"/>
            <a:ext cx="5765800" cy="497522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Key Features</a:t>
            </a:r>
            <a:endParaRPr lang="en-US" altLang="zh-CN" sz="24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Host-driven customization framework</a:t>
            </a:r>
            <a:endParaRPr lang="en-US" altLang="zh-CN" sz="20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SM-free, zero-copy communication</a:t>
            </a:r>
            <a:endParaRPr lang="en-US" altLang="zh-CN" sz="20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Tensor registration management for zero-copy</a:t>
            </a:r>
            <a:endParaRPr lang="en-US" altLang="zh-CN" sz="20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CTran and network co-design</a:t>
            </a:r>
            <a:endParaRPr lang="en-US" altLang="zh-CN" sz="20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Pipeline Parallelism: zero-copy and SM-free send/receive</a:t>
            </a:r>
            <a:endParaRPr lang="en-US" altLang="zh-CN" sz="20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Tensor Parallelism: fine-grained overlap via RMA Put</a:t>
            </a:r>
            <a:endParaRPr lang="en-US" altLang="zh-CN" sz="20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Hybrid Sharding Data Parallelism: fault-tolerant AllReduce</a:t>
            </a:r>
            <a:endParaRPr lang="en-US" altLang="zh-CN" sz="2000" kern="0" dirty="0">
              <a:latin typeface="Times New Roman" panose="02020603050405020304" pitchFamily="18" charset="0"/>
              <a:cs typeface="Times New Roman" panose="02020603050405020304" pitchFamily="18" charset="0"/>
            </a:endParaRPr>
          </a:p>
          <a:p>
            <a:pPr lvl="1">
              <a:lnSpc>
                <a:spcPct val="150000"/>
              </a:lnSpc>
              <a:spcBef>
                <a:spcPts val="0"/>
              </a:spcBef>
            </a:pPr>
            <a:endParaRPr lang="en-US" altLang="zh-CN" sz="20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NCCLX (2/9)</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pic>
        <p:nvPicPr>
          <p:cNvPr id="2" name="图片 1"/>
          <p:cNvPicPr>
            <a:picLocks noChangeAspect="1"/>
          </p:cNvPicPr>
          <p:nvPr/>
        </p:nvPicPr>
        <p:blipFill>
          <a:blip r:embed="rId1"/>
          <a:stretch>
            <a:fillRect/>
          </a:stretch>
        </p:blipFill>
        <p:spPr>
          <a:xfrm>
            <a:off x="6137910" y="1036955"/>
            <a:ext cx="5892165" cy="5058410"/>
          </a:xfrm>
          <a:prstGeom prst="rect">
            <a:avLst/>
          </a:prstGeom>
        </p:spPr>
      </p:pic>
      <p:sp>
        <p:nvSpPr>
          <p:cNvPr id="3" name="矩形 2"/>
          <p:cNvSpPr/>
          <p:nvPr/>
        </p:nvSpPr>
        <p:spPr>
          <a:xfrm>
            <a:off x="6169660" y="4102735"/>
            <a:ext cx="5782945" cy="2022475"/>
          </a:xfrm>
          <a:prstGeom prst="rect">
            <a:avLst/>
          </a:prstGeom>
          <a:noFill/>
          <a:ln w="38100" cap="flat" cmpd="sng" algn="ctr">
            <a:solidFill>
              <a:srgbClr val="FF0000"/>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endParaRPr kumimoji="1" lang="en-US" altLang="zh-TW" sz="1800" b="1" i="0" u="none" strike="noStrike" cap="none" normalizeH="0" baseline="0" smtClean="0">
              <a:ln>
                <a:noFill/>
              </a:ln>
              <a:solidFill>
                <a:schemeClr val="tx1"/>
              </a:solidFill>
              <a:effectLst/>
              <a:latin typeface="Arial" panose="020B0604020202020204" pitchFamily="34" charset="0"/>
              <a:ea typeface="PMingLiU" pitchFamily="18" charset="-120"/>
            </a:endParaRPr>
          </a:p>
        </p:txBody>
      </p:sp>
      <p:sp>
        <p:nvSpPr>
          <p:cNvPr id="6" name="内容占位符 5"/>
          <p:cNvSpPr txBox="1"/>
          <p:nvPr/>
        </p:nvSpPr>
        <p:spPr bwMode="auto">
          <a:xfrm>
            <a:off x="372110" y="1120140"/>
            <a:ext cx="5765800" cy="497522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Key Features</a:t>
            </a:r>
            <a:endParaRPr lang="en-US" altLang="zh-CN" sz="24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GPU-resident collectives for imbalance-aware inference</a:t>
            </a:r>
            <a:endParaRPr lang="en-US" altLang="zh-CN" sz="20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Low-latency optimizations for small messages</a:t>
            </a:r>
            <a:endParaRPr lang="en-US" altLang="zh-CN" sz="20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Scalable initialization for large-scale training</a:t>
            </a:r>
            <a:endParaRPr lang="en-US" altLang="zh-CN" sz="20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Efficient resource management</a:t>
            </a:r>
            <a:endParaRPr lang="en-US" altLang="zh-CN" sz="20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Fast fault localization and debugging support</a:t>
            </a:r>
            <a:endParaRPr lang="en-US" altLang="zh-CN" sz="20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5029200" y="1256665"/>
            <a:ext cx="7162800" cy="4592320"/>
          </a:xfrm>
          <a:prstGeom prst="rect">
            <a:avLst/>
          </a:prstGeom>
        </p:spPr>
      </p:pic>
      <p:sp>
        <p:nvSpPr>
          <p:cNvPr id="5" name="标题 4"/>
          <p:cNvSpPr>
            <a:spLocks noGrp="1"/>
          </p:cNvSpPr>
          <p:nvPr>
            <p:ph type="title"/>
          </p:nvPr>
        </p:nvSpPr>
        <p:spPr/>
        <p:txBody>
          <a:bodyPr/>
          <a:lstStyle/>
          <a:p>
            <a:r>
              <a:rPr lang="en-US" altLang="zh-CN" dirty="0">
                <a:sym typeface="+mn-ea"/>
              </a:rPr>
              <a:t>NCCLX</a:t>
            </a:r>
            <a:r>
              <a:rPr lang="en-US" altLang="zh-CN" dirty="0"/>
              <a:t> (3/9)</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2" name="内容占位符 5"/>
          <p:cNvSpPr txBox="1"/>
          <p:nvPr/>
        </p:nvSpPr>
        <p:spPr bwMode="auto">
          <a:xfrm>
            <a:off x="38100" y="1017270"/>
            <a:ext cx="5189855" cy="507047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Architecture Overview</a:t>
            </a:r>
            <a:endParaRPr lang="en-US" altLang="zh-CN" sz="2400" kern="0" dirty="0">
              <a:latin typeface="Times New Roman" panose="02020603050405020304" pitchFamily="18" charset="0"/>
              <a:cs typeface="Times New Roman" panose="02020603050405020304" pitchFamily="18" charset="0"/>
            </a:endParaRPr>
          </a:p>
          <a:p>
            <a:r>
              <a:rPr lang="en-US" altLang="zh-CN" sz="2400" kern="0" dirty="0">
                <a:latin typeface="Times New Roman" panose="02020603050405020304" pitchFamily="18" charset="0"/>
                <a:cs typeface="Times New Roman" panose="02020603050405020304" pitchFamily="18" charset="0"/>
              </a:rPr>
              <a:t>Host-initiated APIs</a:t>
            </a:r>
            <a:endParaRPr lang="en-US" altLang="zh-CN" sz="2400" kern="0" dirty="0">
              <a:latin typeface="Times New Roman" panose="02020603050405020304" pitchFamily="18" charset="0"/>
              <a:cs typeface="Times New Roman" panose="02020603050405020304" pitchFamily="18" charset="0"/>
            </a:endParaRPr>
          </a:p>
          <a:p>
            <a:pPr lvl="1">
              <a:spcBef>
                <a:spcPts val="0"/>
              </a:spcBef>
            </a:pPr>
            <a:r>
              <a:rPr lang="en-US" altLang="zh-CN" sz="2055" kern="0" dirty="0">
                <a:latin typeface="Times New Roman" panose="02020603050405020304" pitchFamily="18" charset="0"/>
                <a:cs typeface="Times New Roman" panose="02020603050405020304" pitchFamily="18" charset="0"/>
              </a:rPr>
              <a:t>Communication fully orchestrated by CPU</a:t>
            </a:r>
            <a:endParaRPr lang="en-US" altLang="zh-CN" sz="2400" kern="0" dirty="0">
              <a:latin typeface="Times New Roman" panose="02020603050405020304" pitchFamily="18" charset="0"/>
              <a:cs typeface="Times New Roman" panose="02020603050405020304" pitchFamily="18" charset="0"/>
            </a:endParaRPr>
          </a:p>
          <a:p>
            <a:pPr lvl="1">
              <a:spcBef>
                <a:spcPts val="0"/>
              </a:spcBef>
            </a:pPr>
            <a:r>
              <a:rPr lang="en-US" altLang="zh-CN" sz="2055" kern="0" dirty="0">
                <a:latin typeface="Times New Roman" panose="02020603050405020304" pitchFamily="18" charset="0"/>
                <a:cs typeface="Times New Roman" panose="02020603050405020304" pitchFamily="18" charset="0"/>
              </a:rPr>
              <a:t>Removes unnecessary CPU–GPU synchronizations</a:t>
            </a:r>
            <a:endParaRPr lang="en-US" altLang="zh-CN" sz="2400" kern="0" dirty="0">
              <a:latin typeface="Times New Roman" panose="02020603050405020304" pitchFamily="18" charset="0"/>
              <a:cs typeface="Times New Roman" panose="02020603050405020304" pitchFamily="18" charset="0"/>
            </a:endParaRPr>
          </a:p>
          <a:p>
            <a:pPr lvl="1">
              <a:spcBef>
                <a:spcPts val="0"/>
              </a:spcBef>
            </a:pPr>
            <a:r>
              <a:rPr lang="en-US" altLang="zh-CN" sz="2055" kern="0" dirty="0">
                <a:latin typeface="Times New Roman" panose="02020603050405020304" pitchFamily="18" charset="0"/>
                <a:cs typeface="Times New Roman" panose="02020603050405020304" pitchFamily="18" charset="0"/>
              </a:rPr>
              <a:t>Enables easy implementation of custom collectives</a:t>
            </a:r>
            <a:endParaRPr lang="en-US" altLang="zh-CN" sz="2055" kern="0" dirty="0">
              <a:latin typeface="Times New Roman" panose="02020603050405020304" pitchFamily="18" charset="0"/>
              <a:cs typeface="Times New Roman" panose="02020603050405020304" pitchFamily="18" charset="0"/>
            </a:endParaRPr>
          </a:p>
          <a:p>
            <a:r>
              <a:rPr lang="en-US" altLang="zh-CN" sz="2400" kern="0" dirty="0">
                <a:latin typeface="Times New Roman" panose="02020603050405020304" pitchFamily="18" charset="0"/>
                <a:cs typeface="Times New Roman" panose="02020603050405020304" pitchFamily="18" charset="0"/>
              </a:rPr>
              <a:t>Host-initiated APIs with GPU-resident metadata</a:t>
            </a:r>
            <a:endParaRPr lang="en-US" altLang="zh-CN" sz="2400" kern="0" dirty="0">
              <a:latin typeface="Times New Roman" panose="02020603050405020304" pitchFamily="18" charset="0"/>
              <a:cs typeface="Times New Roman" panose="02020603050405020304" pitchFamily="18" charset="0"/>
            </a:endParaRPr>
          </a:p>
          <a:p>
            <a:pPr lvl="1">
              <a:spcBef>
                <a:spcPts val="0"/>
              </a:spcBef>
            </a:pPr>
            <a:r>
              <a:rPr lang="en-US" altLang="zh-CN" sz="2055" kern="0" dirty="0">
                <a:latin typeface="Times New Roman" panose="02020603050405020304" pitchFamily="18" charset="0"/>
                <a:cs typeface="Times New Roman" panose="02020603050405020304" pitchFamily="18" charset="0"/>
              </a:rPr>
              <a:t>Host initiates communication</a:t>
            </a:r>
            <a:endParaRPr lang="en-US" altLang="zh-CN" sz="2400" kern="0" dirty="0">
              <a:latin typeface="Times New Roman" panose="02020603050405020304" pitchFamily="18" charset="0"/>
              <a:cs typeface="Times New Roman" panose="02020603050405020304" pitchFamily="18" charset="0"/>
            </a:endParaRPr>
          </a:p>
          <a:p>
            <a:pPr lvl="1">
              <a:spcBef>
                <a:spcPts val="0"/>
              </a:spcBef>
            </a:pPr>
            <a:r>
              <a:rPr lang="en-US" altLang="zh-CN" sz="2055" kern="0" dirty="0">
                <a:latin typeface="Times New Roman" panose="02020603050405020304" pitchFamily="18" charset="0"/>
                <a:cs typeface="Times New Roman" panose="02020603050405020304" pitchFamily="18" charset="0"/>
              </a:rPr>
              <a:t>Decision-making uses metadata resident on GPUs</a:t>
            </a:r>
            <a:endParaRPr lang="en-US" altLang="zh-CN" sz="2400" kern="0" dirty="0">
              <a:latin typeface="Times New Roman" panose="02020603050405020304" pitchFamily="18" charset="0"/>
              <a:cs typeface="Times New Roman" panose="02020603050405020304" pitchFamily="18" charset="0"/>
            </a:endParaRPr>
          </a:p>
          <a:p>
            <a:pPr lvl="1">
              <a:spcBef>
                <a:spcPts val="0"/>
              </a:spcBef>
            </a:pPr>
            <a:r>
              <a:rPr lang="en-US" altLang="zh-CN" sz="2055" kern="0" dirty="0">
                <a:latin typeface="Times New Roman" panose="02020603050405020304" pitchFamily="18" charset="0"/>
                <a:cs typeface="Times New Roman" panose="02020603050405020304" pitchFamily="18" charset="0"/>
              </a:rPr>
              <a:t>Designed for adaptive collectives, </a:t>
            </a:r>
            <a:r>
              <a:rPr lang="en-US" altLang="zh-CN" sz="2000" kern="0" dirty="0">
                <a:latin typeface="Times New Roman" panose="02020603050405020304" pitchFamily="18" charset="0"/>
                <a:cs typeface="Times New Roman" panose="02020603050405020304" pitchFamily="18" charset="0"/>
              </a:rPr>
              <a:t>e.g., MoE routing-dependent communication</a:t>
            </a:r>
            <a:endParaRPr lang="en-US" altLang="zh-CN" sz="20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662940" y="4580890"/>
            <a:ext cx="7675880" cy="1564005"/>
          </a:xfrm>
          <a:prstGeom prst="rect">
            <a:avLst/>
          </a:prstGeom>
        </p:spPr>
      </p:pic>
      <p:sp>
        <p:nvSpPr>
          <p:cNvPr id="5" name="标题 4"/>
          <p:cNvSpPr>
            <a:spLocks noGrp="1"/>
          </p:cNvSpPr>
          <p:nvPr>
            <p:ph type="title"/>
          </p:nvPr>
        </p:nvSpPr>
        <p:spPr/>
        <p:txBody>
          <a:bodyPr/>
          <a:lstStyle/>
          <a:p>
            <a:r>
              <a:rPr lang="en-US" altLang="zh-CN" dirty="0"/>
              <a:t>NCCLX (4/9)</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6" name="内容占位符 5"/>
          <p:cNvSpPr txBox="1"/>
          <p:nvPr/>
        </p:nvSpPr>
        <p:spPr bwMode="auto">
          <a:xfrm>
            <a:off x="542925" y="941705"/>
            <a:ext cx="11165205" cy="497522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Core Transport Layer: CTran, a custom-designed transport layer. </a:t>
            </a:r>
            <a:endParaRPr lang="en-US" altLang="zh-CN" sz="2400" kern="0" dirty="0">
              <a:latin typeface="Times New Roman" panose="02020603050405020304" pitchFamily="18" charset="0"/>
              <a:cs typeface="Times New Roman" panose="02020603050405020304" pitchFamily="18" charset="0"/>
            </a:endParaRPr>
          </a:p>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Its design is guided by two key principles: promoting zero-copy data transfer and avoiding GPU SM occupation whenever possible.</a:t>
            </a:r>
            <a:endParaRPr lang="en-US" altLang="zh-CN" sz="24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55" kern="0" dirty="0">
                <a:latin typeface="Times New Roman" panose="02020603050405020304" pitchFamily="18" charset="0"/>
                <a:cs typeface="Times New Roman" panose="02020603050405020304" pitchFamily="18" charset="0"/>
              </a:rPr>
              <a:t>provides unified support for multiple execution models</a:t>
            </a:r>
            <a:endParaRPr lang="en-US" altLang="zh-CN" sz="2055"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55" kern="0" dirty="0">
                <a:latin typeface="Times New Roman" panose="02020603050405020304" pitchFamily="18" charset="0"/>
                <a:cs typeface="Times New Roman" panose="02020603050405020304" pitchFamily="18" charset="0"/>
              </a:rPr>
              <a:t>offers richer communication semantics</a:t>
            </a:r>
            <a:endParaRPr lang="en-US" altLang="zh-CN" sz="2055"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55" kern="0" dirty="0">
                <a:latin typeface="Times New Roman" panose="02020603050405020304" pitchFamily="18" charset="0"/>
                <a:cs typeface="Times New Roman" panose="02020603050405020304" pitchFamily="18" charset="0"/>
              </a:rPr>
              <a:t>supports multiple network backends, including NVLink, IB / RoCE and socket-based transports</a:t>
            </a:r>
            <a:endParaRPr lang="en-US" altLang="zh-CN" sz="2055" kern="0" dirty="0">
              <a:latin typeface="Times New Roman" panose="02020603050405020304" pitchFamily="18" charset="0"/>
              <a:cs typeface="Times New Roman" panose="02020603050405020304" pitchFamily="18" charset="0"/>
            </a:endParaRPr>
          </a:p>
          <a:p>
            <a:pPr lvl="1">
              <a:lnSpc>
                <a:spcPct val="150000"/>
              </a:lnSpc>
              <a:spcBef>
                <a:spcPts val="0"/>
              </a:spcBef>
            </a:pPr>
            <a:r>
              <a:rPr lang="en-US" altLang="zh-CN" sz="2055" kern="0" dirty="0">
                <a:latin typeface="Times New Roman" panose="02020603050405020304" pitchFamily="18" charset="0"/>
                <a:cs typeface="Times New Roman" panose="02020603050405020304" pitchFamily="18" charset="0"/>
              </a:rPr>
              <a:t>highly optimized communication critical path</a:t>
            </a:r>
            <a:endParaRPr lang="en-US" altLang="zh-CN" sz="2055" kern="0" dirty="0">
              <a:latin typeface="Times New Roman" panose="02020603050405020304" pitchFamily="18" charset="0"/>
              <a:cs typeface="Times New Roman" panose="02020603050405020304" pitchFamily="18" charset="0"/>
            </a:endParaRPr>
          </a:p>
          <a:p>
            <a:pPr lvl="1">
              <a:lnSpc>
                <a:spcPct val="150000"/>
              </a:lnSpc>
              <a:spcBef>
                <a:spcPts val="0"/>
              </a:spcBef>
            </a:pPr>
            <a:endParaRPr lang="en-US" altLang="zh-CN" sz="2055" kern="0" dirty="0">
              <a:latin typeface="Times New Roman" panose="02020603050405020304" pitchFamily="18" charset="0"/>
              <a:cs typeface="Times New Roman" panose="02020603050405020304" pitchFamily="18" charset="0"/>
            </a:endParaRPr>
          </a:p>
          <a:p>
            <a:pPr lvl="1">
              <a:lnSpc>
                <a:spcPct val="150000"/>
              </a:lnSpc>
              <a:spcBef>
                <a:spcPts val="0"/>
              </a:spcBef>
            </a:pPr>
            <a:endParaRPr lang="en-US" altLang="zh-CN" sz="20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sym typeface="+mn-ea"/>
              </a:rPr>
              <a:t>NCCLX</a:t>
            </a:r>
            <a:r>
              <a:rPr lang="en-US" altLang="zh-CN" dirty="0"/>
              <a:t> (5/9)</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2" name="内容占位符 5"/>
          <p:cNvSpPr txBox="1"/>
          <p:nvPr/>
        </p:nvSpPr>
        <p:spPr bwMode="auto">
          <a:xfrm>
            <a:off x="38100" y="1017270"/>
            <a:ext cx="11143615" cy="507047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Software tooling stack overview</a:t>
            </a:r>
            <a:endParaRPr lang="en-US" altLang="zh-CN" sz="2000" kern="0" dirty="0">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1"/>
          <a:stretch>
            <a:fillRect/>
          </a:stretch>
        </p:blipFill>
        <p:spPr>
          <a:xfrm>
            <a:off x="946150" y="1723390"/>
            <a:ext cx="9726930" cy="436435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NCCLX (6/9)</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6" name="内容占位符 5"/>
          <p:cNvSpPr txBox="1"/>
          <p:nvPr/>
        </p:nvSpPr>
        <p:spPr bwMode="auto">
          <a:xfrm>
            <a:off x="182880" y="1054735"/>
            <a:ext cx="5626100" cy="497522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ncclAllToAllv copies communication metadata (e.g., send counts) during both the initialization and enqueue phases. After the operation is enqueued on the CPU, other GPU kernels (e.g., the MoE router kernel), which may start execution before ncclAllToAllv, can modify the metadata stored in the original data structures. </a:t>
            </a:r>
            <a:endParaRPr lang="en-US" altLang="zh-CN" sz="2000" kern="0" dirty="0">
              <a:latin typeface="Times New Roman" panose="02020603050405020304" pitchFamily="18" charset="0"/>
              <a:cs typeface="Times New Roman" panose="02020603050405020304" pitchFamily="18" charset="0"/>
            </a:endParaRPr>
          </a:p>
          <a:p>
            <a:pPr>
              <a:lnSpc>
                <a:spcPct val="150000"/>
              </a:lnSpc>
              <a:spcBef>
                <a:spcPts val="0"/>
              </a:spcBef>
            </a:pPr>
            <a:r>
              <a:rPr lang="en-US" altLang="zh-CN" sz="2000" kern="0" dirty="0">
                <a:latin typeface="Times New Roman" panose="02020603050405020304" pitchFamily="18" charset="0"/>
                <a:cs typeface="Times New Roman" panose="02020603050405020304" pitchFamily="18" charset="0"/>
              </a:rPr>
              <a:t>In the design of GPU-resident collectives, AllToAllvDynamic takes metadata by reference rather than copying it during the enqueue phase. </a:t>
            </a:r>
            <a:endParaRPr lang="en-US" altLang="zh-CN" sz="2000" kern="0" dirty="0">
              <a:latin typeface="Times New Roman" panose="02020603050405020304" pitchFamily="18" charset="0"/>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5690235" y="1054735"/>
            <a:ext cx="6449060" cy="497522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sym typeface="+mn-ea"/>
              </a:rPr>
              <a:t>NCCLX</a:t>
            </a:r>
            <a:r>
              <a:rPr lang="en-US" altLang="zh-CN" dirty="0"/>
              <a:t> (7/9)</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2" name="内容占位符 5"/>
          <p:cNvSpPr txBox="1"/>
          <p:nvPr/>
        </p:nvSpPr>
        <p:spPr bwMode="auto">
          <a:xfrm>
            <a:off x="455372" y="1264050"/>
            <a:ext cx="10595455" cy="440332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sym typeface="+mn-ea"/>
              </a:rPr>
              <a:t>Evaluation</a:t>
            </a:r>
            <a:endParaRPr lang="en-US" altLang="zh-CN" sz="2400" kern="0"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1899920" y="1741170"/>
            <a:ext cx="8602980" cy="43053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sym typeface="+mn-ea"/>
              </a:rPr>
              <a:t>NCCLX</a:t>
            </a:r>
            <a:r>
              <a:rPr lang="en-US" altLang="zh-CN" dirty="0"/>
              <a:t> (7/9)</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2" name="内容占位符 5"/>
          <p:cNvSpPr txBox="1"/>
          <p:nvPr/>
        </p:nvSpPr>
        <p:spPr bwMode="auto">
          <a:xfrm>
            <a:off x="455372" y="1264050"/>
            <a:ext cx="10595455" cy="440332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sym typeface="+mn-ea"/>
              </a:rPr>
              <a:t>Evaluation</a:t>
            </a:r>
            <a:endParaRPr lang="en-US" altLang="zh-CN" sz="2400" kern="0" dirty="0">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1"/>
          <a:stretch>
            <a:fillRect/>
          </a:stretch>
        </p:blipFill>
        <p:spPr>
          <a:xfrm>
            <a:off x="7355205" y="1449705"/>
            <a:ext cx="4836795" cy="4217670"/>
          </a:xfrm>
          <a:prstGeom prst="rect">
            <a:avLst/>
          </a:prstGeom>
        </p:spPr>
      </p:pic>
      <p:pic>
        <p:nvPicPr>
          <p:cNvPr id="7" name="图片 6"/>
          <p:cNvPicPr>
            <a:picLocks noChangeAspect="1"/>
          </p:cNvPicPr>
          <p:nvPr/>
        </p:nvPicPr>
        <p:blipFill>
          <a:blip r:embed="rId2"/>
          <a:stretch>
            <a:fillRect/>
          </a:stretch>
        </p:blipFill>
        <p:spPr>
          <a:xfrm>
            <a:off x="23495" y="2785745"/>
            <a:ext cx="7400290" cy="306451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NCCLX (9/9)</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2" name="内容占位符 5"/>
          <p:cNvSpPr txBox="1"/>
          <p:nvPr/>
        </p:nvSpPr>
        <p:spPr bwMode="auto">
          <a:xfrm>
            <a:off x="455372" y="1264050"/>
            <a:ext cx="10595455" cy="440332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Evaluation</a:t>
            </a:r>
            <a:endParaRPr lang="en-US" altLang="zh-CN" sz="2400" kern="0" dirty="0">
              <a:latin typeface="Times New Roman" panose="02020603050405020304" pitchFamily="18" charset="0"/>
              <a:cs typeface="Times New Roman" panose="02020603050405020304" pitchFamily="18" charset="0"/>
            </a:endParaRPr>
          </a:p>
          <a:p>
            <a:endParaRPr lang="en-US" altLang="zh-CN" sz="2400" kern="0"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1049655" y="1754505"/>
            <a:ext cx="9308465" cy="427609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5" dirty="0">
                <a:latin typeface="Times New Roman" panose="02020603050405020304" pitchFamily="18" charset="0"/>
                <a:cs typeface="Times New Roman" panose="02020603050405020304" pitchFamily="18" charset="0"/>
              </a:rPr>
              <a:t>Introduction (3 min)</a:t>
            </a:r>
            <a:endParaRPr lang="en-US" altLang="zh-TW"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Background &amp; Motivation (11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Proposed Methods &amp; Performance Evaluation (24 min)</a:t>
            </a:r>
            <a:endParaRPr lang="en-US" altLang="zh-CN" sz="2935" dirty="0">
              <a:latin typeface="Times New Roman" panose="02020603050405020304" pitchFamily="18" charset="0"/>
              <a:cs typeface="Times New Roman" panose="02020603050405020304" pitchFamily="18" charset="0"/>
            </a:endParaRPr>
          </a:p>
          <a:p>
            <a:pPr lvl="1"/>
            <a:r>
              <a:rPr lang="en-US" altLang="zh-CN" sz="2400" dirty="0" err="1">
                <a:solidFill>
                  <a:schemeClr val="tx1"/>
                </a:solidFill>
                <a:latin typeface="Times New Roman" panose="02020603050405020304" pitchFamily="18" charset="0"/>
                <a:cs typeface="Times New Roman" panose="02020603050405020304" pitchFamily="18" charset="0"/>
              </a:rPr>
              <a:t>MSCCL++</a:t>
            </a:r>
            <a:r>
              <a:rPr lang="en-US" altLang="zh-CN" sz="2400" dirty="0">
                <a:solidFill>
                  <a:schemeClr val="tx1"/>
                </a:solidFill>
                <a:latin typeface="Times New Roman" panose="02020603050405020304" pitchFamily="18" charset="0"/>
                <a:cs typeface="Times New Roman" panose="02020603050405020304" pitchFamily="18" charset="0"/>
              </a:rPr>
              <a:t> (8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err="1">
                <a:solidFill>
                  <a:schemeClr val="tx1"/>
                </a:solidFill>
                <a:latin typeface="Times New Roman" panose="02020603050405020304" pitchFamily="18" charset="0"/>
                <a:cs typeface="Times New Roman" panose="02020603050405020304" pitchFamily="18" charset="0"/>
              </a:rPr>
              <a:t>syCCL</a:t>
            </a:r>
            <a:r>
              <a:rPr lang="en-US" altLang="zh-CN" sz="2400" dirty="0">
                <a:solidFill>
                  <a:schemeClr val="tx1"/>
                </a:solidFill>
                <a:latin typeface="Times New Roman" panose="02020603050405020304" pitchFamily="18" charset="0"/>
                <a:cs typeface="Times New Roman" panose="02020603050405020304" pitchFamily="18" charset="0"/>
              </a:rPr>
              <a:t> (8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rPr>
              <a:t>NCCLX (8 min)</a:t>
            </a:r>
            <a:endParaRPr lang="en-US" altLang="zh-CN" sz="2400" dirty="0">
              <a:solidFill>
                <a:schemeClr val="tx1"/>
              </a:solidFill>
              <a:latin typeface="Times New Roman" panose="02020603050405020304" pitchFamily="18" charset="0"/>
              <a:cs typeface="Times New Roman" panose="02020603050405020304" pitchFamily="18" charset="0"/>
            </a:endParaRPr>
          </a:p>
          <a:p>
            <a:r>
              <a:rPr lang="en-US" altLang="zh-CN" sz="2935" dirty="0">
                <a:solidFill>
                  <a:srgbClr val="FF0000"/>
                </a:solidFill>
                <a:latin typeface="Times New Roman" panose="02020603050405020304" pitchFamily="18" charset="0"/>
                <a:cs typeface="Times New Roman" panose="02020603050405020304" pitchFamily="18" charset="0"/>
              </a:rPr>
              <a:t>Conclusions (2 min)</a:t>
            </a:r>
            <a:endParaRPr lang="en-US" altLang="zh-CN" sz="2935" dirty="0">
              <a:solidFill>
                <a:srgbClr val="FF0000"/>
              </a:solidFill>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Q &amp; A (5 min)</a:t>
            </a:r>
            <a:endParaRPr lang="en-US" altLang="zh-CN" sz="2935" dirty="0">
              <a:latin typeface="Times New Roman" panose="02020603050405020304" pitchFamily="18" charset="0"/>
              <a:cs typeface="Times New Roman" panose="0202060305040502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Conclusions</a:t>
            </a:r>
            <a:endParaRPr lang="zh-CN" alt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fld>
            <a:endParaRPr lang="zh-TW" altLang="en-US"/>
          </a:p>
        </p:txBody>
      </p:sp>
      <p:sp>
        <p:nvSpPr>
          <p:cNvPr id="2" name="内容占位符 5"/>
          <p:cNvSpPr txBox="1"/>
          <p:nvPr/>
        </p:nvSpPr>
        <p:spPr bwMode="auto">
          <a:xfrm>
            <a:off x="341630" y="1004570"/>
            <a:ext cx="11113770" cy="503491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0000FF"/>
              </a:buClr>
              <a:buSzPct val="80000"/>
              <a:buFont typeface="Wingdings" panose="05000000000000000000" pitchFamily="2" charset="2"/>
              <a:buChar char="l"/>
              <a:defRPr kumimoji="1" sz="3735">
                <a:solidFill>
                  <a:schemeClr val="tx1"/>
                </a:solidFill>
                <a:latin typeface="Calibri" panose="020F0502020204030204" pitchFamily="34" charset="0"/>
                <a:ea typeface="標楷體" pitchFamily="65" charset="-120"/>
                <a:cs typeface="+mn-cs"/>
              </a:defRPr>
            </a:lvl1pPr>
            <a:lvl2pPr marL="742950" indent="-285750" algn="l" rtl="0" eaLnBrk="1" fontAlgn="base" hangingPunct="1">
              <a:spcBef>
                <a:spcPct val="20000"/>
              </a:spcBef>
              <a:spcAft>
                <a:spcPct val="0"/>
              </a:spcAft>
              <a:buClr>
                <a:srgbClr val="0000FF"/>
              </a:buClr>
              <a:buSzPct val="90000"/>
              <a:buFont typeface="Arial" panose="020B0604020202020204" pitchFamily="34" charset="0"/>
              <a:buChar char="–"/>
              <a:defRPr kumimoji="1" sz="3200">
                <a:solidFill>
                  <a:schemeClr val="tx1"/>
                </a:solidFill>
                <a:latin typeface="Calibri" panose="020F0502020204030204" pitchFamily="34" charset="0"/>
                <a:ea typeface="標楷體" pitchFamily="65" charset="-120"/>
              </a:defRPr>
            </a:lvl2pPr>
            <a:lvl3pPr marL="1143000" indent="-228600" algn="l" rtl="0" eaLnBrk="1" fontAlgn="base" hangingPunct="1">
              <a:spcBef>
                <a:spcPct val="20000"/>
              </a:spcBef>
              <a:spcAft>
                <a:spcPct val="0"/>
              </a:spcAft>
              <a:buChar char="•"/>
              <a:defRPr kumimoji="1" sz="2665">
                <a:solidFill>
                  <a:schemeClr val="tx1"/>
                </a:solidFill>
                <a:latin typeface="Calibri" panose="020F0502020204030204" pitchFamily="34" charset="0"/>
                <a:ea typeface="標楷體" pitchFamily="65" charset="-120"/>
                <a:cs typeface="Calibri" panose="020F0502020204030204" pitchFamily="34" charset="0"/>
              </a:defRPr>
            </a:lvl3pPr>
            <a:lvl4pPr marL="1600200" indent="-228600" algn="l" rtl="0" eaLnBrk="1" fontAlgn="base" hangingPunct="1">
              <a:spcBef>
                <a:spcPct val="20000"/>
              </a:spcBef>
              <a:spcAft>
                <a:spcPct val="0"/>
              </a:spcAft>
              <a:buChar char="–"/>
              <a:defRPr kumimoji="1" sz="2400">
                <a:solidFill>
                  <a:schemeClr val="tx1"/>
                </a:solidFill>
                <a:latin typeface="Calibri" panose="020F0502020204030204" pitchFamily="34" charset="0"/>
                <a:ea typeface="標楷體" pitchFamily="65" charset="-120"/>
                <a:cs typeface="Calibri" panose="020F0502020204030204" pitchFamily="34" charset="0"/>
              </a:defRPr>
            </a:lvl4pPr>
            <a:lvl5pPr marL="2057400" indent="-228600" algn="l" rtl="0" eaLnBrk="1" fontAlgn="base" hangingPunct="1">
              <a:spcBef>
                <a:spcPct val="20000"/>
              </a:spcBef>
              <a:spcAft>
                <a:spcPct val="0"/>
              </a:spcAft>
              <a:buChar char="»"/>
              <a:defRPr kumimoji="1" sz="2135">
                <a:solidFill>
                  <a:schemeClr val="tx1"/>
                </a:solidFill>
                <a:latin typeface="Calibri" panose="020F0502020204030204" pitchFamily="34" charset="0"/>
                <a:ea typeface="標楷體" pitchFamily="65" charset="-120"/>
                <a:cs typeface="Calibri" panose="020F0502020204030204" pitchFamily="34" charset="0"/>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Scheduling: From "Fixed Algorithms" to "Topology-Aware Synthesis". </a:t>
            </a:r>
            <a:endParaRPr lang="en-US" altLang="zh-CN" sz="2400" kern="0" dirty="0">
              <a:latin typeface="Times New Roman" panose="02020603050405020304" pitchFamily="18" charset="0"/>
              <a:cs typeface="Times New Roman" panose="02020603050405020304" pitchFamily="18" charset="0"/>
            </a:endParaRPr>
          </a:p>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Efficiency: From "Resource Contention" to "Hardware Offloading" . </a:t>
            </a:r>
            <a:endParaRPr lang="en-US" altLang="zh-CN" sz="2400" kern="0" dirty="0">
              <a:latin typeface="Times New Roman" panose="02020603050405020304" pitchFamily="18" charset="0"/>
              <a:cs typeface="Times New Roman" panose="02020603050405020304" pitchFamily="18" charset="0"/>
            </a:endParaRPr>
          </a:p>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Abstraction: From "Black-Box Libraries" to "Decoupled Primitives". </a:t>
            </a:r>
            <a:endParaRPr lang="en-US" altLang="zh-CN" sz="2400" kern="0" dirty="0">
              <a:latin typeface="Times New Roman" panose="02020603050405020304" pitchFamily="18" charset="0"/>
              <a:cs typeface="Times New Roman" panose="02020603050405020304" pitchFamily="18" charset="0"/>
            </a:endParaRPr>
          </a:p>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Scalability: From "Local Tuning" to "Systemic Self-Healing".</a:t>
            </a:r>
            <a:endParaRPr lang="en-US" altLang="zh-CN" sz="2400" kern="0" dirty="0">
              <a:latin typeface="Times New Roman" panose="02020603050405020304" pitchFamily="18" charset="0"/>
              <a:cs typeface="Times New Roman" panose="02020603050405020304" pitchFamily="18" charset="0"/>
            </a:endParaRPr>
          </a:p>
          <a:p>
            <a:pPr>
              <a:lnSpc>
                <a:spcPct val="150000"/>
              </a:lnSpc>
              <a:spcBef>
                <a:spcPts val="0"/>
              </a:spcBef>
            </a:pPr>
            <a:endParaRPr lang="en-US" altLang="zh-CN" sz="2400" kern="0" dirty="0">
              <a:latin typeface="Times New Roman" panose="02020603050405020304" pitchFamily="18" charset="0"/>
              <a:cs typeface="Times New Roman" panose="02020603050405020304" pitchFamily="18" charset="0"/>
            </a:endParaRPr>
          </a:p>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Summary:</a:t>
            </a:r>
            <a:endParaRPr lang="en-US" altLang="zh-CN" sz="2400" kern="0" dirty="0">
              <a:latin typeface="Times New Roman" panose="02020603050405020304" pitchFamily="18" charset="0"/>
              <a:cs typeface="Times New Roman" panose="02020603050405020304" pitchFamily="18" charset="0"/>
            </a:endParaRPr>
          </a:p>
          <a:p>
            <a:pPr>
              <a:lnSpc>
                <a:spcPct val="150000"/>
              </a:lnSpc>
              <a:spcBef>
                <a:spcPts val="0"/>
              </a:spcBef>
            </a:pPr>
            <a:r>
              <a:rPr lang="en-US" altLang="zh-CN" sz="2400" kern="0" dirty="0">
                <a:latin typeface="Times New Roman" panose="02020603050405020304" pitchFamily="18" charset="0"/>
                <a:cs typeface="Times New Roman" panose="02020603050405020304" pitchFamily="18" charset="0"/>
              </a:rPr>
              <a:t>Collective communication is evolving from a "monolithic library" into a deep hardware-software co-designed system—driven by mathematical synthesis, executed by dedicated hardware, and empowered by decoupled primitives.</a:t>
            </a:r>
            <a:endParaRPr lang="en-US" altLang="zh-CN" sz="24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5" dirty="0">
                <a:latin typeface="Times New Roman" panose="02020603050405020304" pitchFamily="18" charset="0"/>
                <a:cs typeface="Times New Roman" panose="02020603050405020304" pitchFamily="18" charset="0"/>
              </a:rPr>
              <a:t>Introduction (3 min)</a:t>
            </a:r>
            <a:endParaRPr lang="en-US" altLang="zh-TW"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Background &amp; Motivation (11 min)</a:t>
            </a:r>
            <a:endParaRPr lang="en-US" altLang="zh-CN" sz="2935" dirty="0">
              <a:latin typeface="Times New Roman" panose="02020603050405020304" pitchFamily="18" charset="0"/>
              <a:cs typeface="Times New Roman" panose="02020603050405020304" pitchFamily="18" charset="0"/>
            </a:endParaRPr>
          </a:p>
          <a:p>
            <a:r>
              <a:rPr lang="en-US" altLang="zh-CN" sz="2935" dirty="0">
                <a:latin typeface="Times New Roman" panose="02020603050405020304" pitchFamily="18" charset="0"/>
                <a:cs typeface="Times New Roman" panose="02020603050405020304" pitchFamily="18" charset="0"/>
              </a:rPr>
              <a:t>Proposed Methods &amp; Performance Evaluation (24 min)</a:t>
            </a:r>
            <a:endParaRPr lang="en-US" altLang="zh-CN" sz="2935" dirty="0">
              <a:latin typeface="Times New Roman" panose="02020603050405020304" pitchFamily="18" charset="0"/>
              <a:cs typeface="Times New Roman" panose="02020603050405020304" pitchFamily="18" charset="0"/>
            </a:endParaRPr>
          </a:p>
          <a:p>
            <a:pPr lvl="1"/>
            <a:r>
              <a:rPr lang="en-US" altLang="zh-CN" sz="2400" dirty="0" err="1">
                <a:solidFill>
                  <a:schemeClr val="tx1"/>
                </a:solidFill>
                <a:latin typeface="Times New Roman" panose="02020603050405020304" pitchFamily="18" charset="0"/>
                <a:cs typeface="Times New Roman" panose="02020603050405020304" pitchFamily="18" charset="0"/>
              </a:rPr>
              <a:t>MSCCL++</a:t>
            </a:r>
            <a:r>
              <a:rPr lang="en-US" altLang="zh-CN" sz="2400" dirty="0">
                <a:solidFill>
                  <a:schemeClr val="tx1"/>
                </a:solidFill>
                <a:latin typeface="Times New Roman" panose="02020603050405020304" pitchFamily="18" charset="0"/>
                <a:cs typeface="Times New Roman" panose="02020603050405020304" pitchFamily="18" charset="0"/>
              </a:rPr>
              <a:t> (8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err="1">
                <a:solidFill>
                  <a:schemeClr val="tx1"/>
                </a:solidFill>
                <a:latin typeface="Times New Roman" panose="02020603050405020304" pitchFamily="18" charset="0"/>
                <a:cs typeface="Times New Roman" panose="02020603050405020304" pitchFamily="18" charset="0"/>
              </a:rPr>
              <a:t>syCCL</a:t>
            </a:r>
            <a:r>
              <a:rPr lang="en-US" altLang="zh-CN" sz="2400" dirty="0">
                <a:solidFill>
                  <a:schemeClr val="tx1"/>
                </a:solidFill>
                <a:latin typeface="Times New Roman" panose="02020603050405020304" pitchFamily="18" charset="0"/>
                <a:cs typeface="Times New Roman" panose="02020603050405020304" pitchFamily="18" charset="0"/>
              </a:rPr>
              <a:t> (8 min)</a:t>
            </a:r>
            <a:endParaRPr lang="en-US" altLang="zh-CN" sz="2400" dirty="0">
              <a:solidFill>
                <a:schemeClr val="tx1"/>
              </a:solidFill>
              <a:latin typeface="Times New Roman" panose="02020603050405020304" pitchFamily="18" charset="0"/>
              <a:cs typeface="Times New Roman" panose="02020603050405020304" pitchFamily="18" charset="0"/>
            </a:endParaRPr>
          </a:p>
          <a:p>
            <a:pPr lvl="1"/>
            <a:r>
              <a:rPr lang="en-US" altLang="zh-CN" sz="2400" dirty="0">
                <a:solidFill>
                  <a:schemeClr val="tx1"/>
                </a:solidFill>
                <a:latin typeface="Times New Roman" panose="02020603050405020304" pitchFamily="18" charset="0"/>
                <a:cs typeface="Times New Roman" panose="02020603050405020304" pitchFamily="18" charset="0"/>
              </a:rPr>
              <a:t>NCCLX (8 min)</a:t>
            </a:r>
            <a:endParaRPr lang="en-US" altLang="zh-CN" sz="2400" dirty="0">
              <a:solidFill>
                <a:schemeClr val="tx1"/>
              </a:solidFill>
              <a:latin typeface="Times New Roman" panose="02020603050405020304" pitchFamily="18" charset="0"/>
              <a:cs typeface="Times New Roman" panose="02020603050405020304" pitchFamily="18" charset="0"/>
            </a:endParaRPr>
          </a:p>
          <a:p>
            <a:r>
              <a:rPr lang="en-US" altLang="zh-CN" sz="2935" dirty="0">
                <a:solidFill>
                  <a:schemeClr val="tx1"/>
                </a:solidFill>
                <a:latin typeface="Times New Roman" panose="02020603050405020304" pitchFamily="18" charset="0"/>
                <a:cs typeface="Times New Roman" panose="02020603050405020304" pitchFamily="18" charset="0"/>
              </a:rPr>
              <a:t>Conclusions (2 min)</a:t>
            </a:r>
            <a:endParaRPr lang="en-US" altLang="zh-CN" sz="2935" dirty="0">
              <a:solidFill>
                <a:schemeClr val="tx1"/>
              </a:solidFill>
              <a:latin typeface="Times New Roman" panose="02020603050405020304" pitchFamily="18" charset="0"/>
              <a:cs typeface="Times New Roman" panose="02020603050405020304" pitchFamily="18" charset="0"/>
            </a:endParaRPr>
          </a:p>
          <a:p>
            <a:r>
              <a:rPr lang="en-US" altLang="zh-CN" sz="2935" dirty="0">
                <a:solidFill>
                  <a:srgbClr val="FF0000"/>
                </a:solidFill>
                <a:latin typeface="Times New Roman" panose="02020603050405020304" pitchFamily="18" charset="0"/>
                <a:cs typeface="Times New Roman" panose="02020603050405020304" pitchFamily="18" charset="0"/>
              </a:rPr>
              <a:t>Q &amp; A (5 min)</a:t>
            </a:r>
            <a:endParaRPr lang="en-US" altLang="zh-CN" sz="2935" dirty="0">
              <a:solidFill>
                <a:srgbClr val="FF0000"/>
              </a:solidFill>
              <a:latin typeface="Times New Roman" panose="02020603050405020304" pitchFamily="18" charset="0"/>
              <a:cs typeface="Times New Roman" panose="02020603050405020304" pitchFamily="18" charset="0"/>
            </a:endParaRPr>
          </a:p>
        </p:txBody>
      </p:sp>
      <p:sp>
        <p:nvSpPr>
          <p:cNvPr id="5" name="灯片编号占位符 1"/>
          <p:cNvSpPr>
            <a:spLocks noGrp="1"/>
          </p:cNvSpPr>
          <p:nvPr>
            <p:ph type="sldNum" sz="quarter" idx="10"/>
          </p:nvPr>
        </p:nvSpPr>
        <p:spPr>
          <a:xfrm>
            <a:off x="9108017" y="6524628"/>
            <a:ext cx="2844800" cy="339725"/>
          </a:xfrm>
        </p:spPr>
        <p:txBody>
          <a:bodyPr/>
          <a:lstStyle/>
          <a:p>
            <a:fld id="{D9B6BDF2-6896-4B98-8776-C18582F63BA5}" type="slidenum">
              <a:rPr lang="zh-TW" altLang="en-US" smtClean="0"/>
            </a:fld>
            <a:endParaRPr lang="zh-TW" altLang="en-US"/>
          </a:p>
        </p:txBody>
      </p:sp>
    </p:spTree>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20204" pitchFamily="34" charset="0"/>
            <a:ea typeface="PMingLiU"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20204" pitchFamily="34" charset="0"/>
            <a:ea typeface="PMingLiU" pitchFamily="18" charset="-120"/>
          </a:defRPr>
        </a:defPPr>
      </a:lstStyle>
    </a:lnDef>
    <a:txDef>
      <a:spPr>
        <a:noFill/>
      </a:spPr>
      <a:bodyPr wrap="none" rtlCol="0" anchor="ctr" anchorCtr="1">
        <a:spAutoFit/>
      </a:bodyPr>
      <a:lstStyle>
        <a:defPPr>
          <a:defRPr dirty="0" smtClean="0">
            <a:ea typeface="標楷體" pitchFamily="65" charset="-120"/>
            <a:cs typeface="Calibri" panose="020F0502020204030204"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11390</Words>
  <Application>WPS 演示</Application>
  <PresentationFormat>宽屏</PresentationFormat>
  <Paragraphs>404</Paragraphs>
  <Slides>40</Slides>
  <Notes>14</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40</vt:i4>
      </vt:variant>
    </vt:vector>
  </HeadingPairs>
  <TitlesOfParts>
    <vt:vector size="57" baseType="lpstr">
      <vt:lpstr>Arial</vt:lpstr>
      <vt:lpstr>宋体</vt:lpstr>
      <vt:lpstr>Wingdings</vt:lpstr>
      <vt:lpstr>PMingLiU</vt:lpstr>
      <vt:lpstr>MingLiU-ExtB</vt:lpstr>
      <vt:lpstr>標楷體</vt:lpstr>
      <vt:lpstr>Calibri</vt:lpstr>
      <vt:lpstr>楷体</vt:lpstr>
      <vt:lpstr>Times New Roman</vt:lpstr>
      <vt:lpstr>等线</vt:lpstr>
      <vt:lpstr>MS Sans Serif</vt:lpstr>
      <vt:lpstr>微软雅黑</vt:lpstr>
      <vt:lpstr>Arial Unicode MS</vt:lpstr>
      <vt:lpstr>Segoe Print</vt:lpstr>
      <vt:lpstr>KSOF9E68D442</vt:lpstr>
      <vt:lpstr>NTHU UniCloud</vt:lpstr>
      <vt:lpstr>自訂設計</vt:lpstr>
      <vt:lpstr>Scaling Graph Neural Networks: Innovations in Distributed and Decentralized Training for Billion-Scale Graphs  2024.11.28</vt:lpstr>
      <vt:lpstr>Outline</vt:lpstr>
      <vt:lpstr>Outline</vt:lpstr>
      <vt:lpstr>Introduction – GNN (1/3)</vt:lpstr>
      <vt:lpstr>Introduction – GNN (2/3)</vt:lpstr>
      <vt:lpstr>Introduction – GNN (3/3)</vt:lpstr>
      <vt:lpstr>Outline</vt:lpstr>
      <vt:lpstr>Background &amp; Motivation (1/4)</vt:lpstr>
      <vt:lpstr>Background &amp; Motivation (2/4)</vt:lpstr>
      <vt:lpstr>Background &amp; Motivation (3/4)</vt:lpstr>
      <vt:lpstr>Background &amp; Motivation (4/4)</vt:lpstr>
      <vt:lpstr>Outline</vt:lpstr>
      <vt:lpstr>Outline</vt:lpstr>
      <vt:lpstr>DistDGL (3/6)</vt:lpstr>
      <vt:lpstr>DistDGL (1/6)</vt:lpstr>
      <vt:lpstr>MSCCL++ (1/6)</vt:lpstr>
      <vt:lpstr>DistDGL (4/6)</vt:lpstr>
      <vt:lpstr>DistDGL (5/6)</vt:lpstr>
      <vt:lpstr>DistDGL (6/6)</vt:lpstr>
      <vt:lpstr>Outline</vt:lpstr>
      <vt:lpstr>ByteGNN (1/15)</vt:lpstr>
      <vt:lpstr>syCCL (1/15)</vt:lpstr>
      <vt:lpstr>syCCL (2/15)</vt:lpstr>
      <vt:lpstr>syCCL (1/15)</vt:lpstr>
      <vt:lpstr>ByteGNN (14/15)</vt:lpstr>
      <vt:lpstr>syCCL (14/15)</vt:lpstr>
      <vt:lpstr>syCCL (14/15)</vt:lpstr>
      <vt:lpstr>Outline</vt:lpstr>
      <vt:lpstr>SANCUS (1/9)</vt:lpstr>
      <vt:lpstr>NCCLX (1/9)</vt:lpstr>
      <vt:lpstr>SANCUS (2/9)</vt:lpstr>
      <vt:lpstr>NCCLX (2/9)</vt:lpstr>
      <vt:lpstr>NCCLX (3/9)</vt:lpstr>
      <vt:lpstr>NCCLX (5/9)</vt:lpstr>
      <vt:lpstr>SANCUS (7/9)</vt:lpstr>
      <vt:lpstr>NCCLX (8/9)</vt:lpstr>
      <vt:lpstr>SANCUS (9/9)</vt:lpstr>
      <vt:lpstr>Outline</vt:lpstr>
      <vt:lpstr>Conclusions</vt:lpstr>
      <vt:lpstr>Outline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定心猿</cp:lastModifiedBy>
  <cp:revision>126</cp:revision>
  <dcterms:created xsi:type="dcterms:W3CDTF">2020-07-15T11:13:00Z</dcterms:created>
  <dcterms:modified xsi:type="dcterms:W3CDTF">2026-02-02T23:21:49Z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1C4A221D74C746BB8C4EE3549D1A7259_13</vt:lpwstr>
  </property>
</Properties>
</file>