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20"/>
  </p:notesMasterIdLst>
  <p:sldIdLst>
    <p:sldId id="256" r:id="rId3"/>
    <p:sldId id="258" r:id="rId4"/>
    <p:sldId id="547" r:id="rId5"/>
    <p:sldId id="516" r:id="rId6"/>
    <p:sldId id="536" r:id="rId7"/>
    <p:sldId id="548" r:id="rId8"/>
    <p:sldId id="534" r:id="rId9"/>
    <p:sldId id="535" r:id="rId10"/>
    <p:sldId id="537" r:id="rId11"/>
    <p:sldId id="546" r:id="rId12"/>
    <p:sldId id="549" r:id="rId13"/>
    <p:sldId id="539" r:id="rId14"/>
    <p:sldId id="542" r:id="rId15"/>
    <p:sldId id="541" r:id="rId16"/>
    <p:sldId id="543" r:id="rId17"/>
    <p:sldId id="550" r:id="rId18"/>
    <p:sldId id="545" r:id="rId1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10" autoAdjust="0"/>
    <p:restoredTop sz="95296"/>
  </p:normalViewPr>
  <p:slideViewPr>
    <p:cSldViewPr snapToGrid="0">
      <p:cViewPr varScale="1">
        <p:scale>
          <a:sx n="93" d="100"/>
          <a:sy n="93" d="100"/>
        </p:scale>
        <p:origin x="688"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2026/4/1</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b="0" i="0" u="none" strike="noStrike" dirty="0">
                <a:solidFill>
                  <a:srgbClr val="000000"/>
                </a:solidFill>
                <a:effectLst/>
                <a:latin typeface="-webkit-standard"/>
              </a:rPr>
              <a:t>Here's the outline. We'll start with a brief introduction to LLM4Code. Then we’ll go into detail of our first paper SWE-bench, The I’ll talk about the two paradigms for solving SWE-bench — pipeline-based and agent-based. I’ll introduce the second paper xxx and the third paper xxx, We'll close with the conclusions.</a:t>
            </a:r>
            <a:endParaRPr lang="zh-TW" alt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2</a:t>
            </a:fld>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a:t>First, I’ll give the introduction of llm4code.</a:t>
            </a:r>
            <a:endParaRPr lang="zh-TW" alt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3</a:t>
            </a:fld>
            <a:endParaRPr lang="zh-TW" altLang="en-US"/>
          </a:p>
        </p:txBody>
      </p:sp>
    </p:spTree>
    <p:extLst>
      <p:ext uri="{BB962C8B-B14F-4D97-AF65-F5344CB8AC3E}">
        <p14:creationId xmlns:p14="http://schemas.microsoft.com/office/powerpoint/2010/main" val="2237312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So what is LLM4Code? </a:t>
            </a:r>
          </a:p>
          <a:p>
            <a:endParaRPr lang="en-US" b="0" i="0" u="none" strike="noStrike" dirty="0">
              <a:solidFill>
                <a:srgbClr val="000000"/>
              </a:solidFill>
              <a:effectLst/>
              <a:latin typeface="-webkit-standard"/>
            </a:endParaRPr>
          </a:p>
          <a:p>
            <a:r>
              <a:rPr lang="en-US" b="0" i="0" u="none" strike="noStrike" dirty="0">
                <a:solidFill>
                  <a:srgbClr val="000000"/>
                </a:solidFill>
                <a:effectLst/>
                <a:latin typeface="-webkit-standard"/>
              </a:rPr>
              <a:t>At first, llm4code has a wider </a:t>
            </a:r>
            <a:r>
              <a:rPr lang="en-US" b="0" i="0" u="none" strike="noStrike" dirty="0" err="1">
                <a:solidFill>
                  <a:srgbClr val="000000"/>
                </a:solidFill>
                <a:effectLst/>
                <a:latin typeface="-webkit-standard"/>
              </a:rPr>
              <a:t>defintion</a:t>
            </a:r>
            <a:r>
              <a:rPr lang="en-US" b="0" i="0" u="none" strike="noStrike" dirty="0">
                <a:solidFill>
                  <a:srgbClr val="000000"/>
                </a:solidFill>
                <a:effectLst/>
                <a:latin typeface="-webkit-standard"/>
              </a:rPr>
              <a:t> that applying large language models to many software engineering tasks, such as code generation, code understanding, program repair, test generation, and more.</a:t>
            </a:r>
          </a:p>
          <a:p>
            <a:endParaRPr lang="en-US" b="0" i="0" u="none" strike="noStrike" dirty="0">
              <a:solidFill>
                <a:srgbClr val="000000"/>
              </a:solidFill>
              <a:effectLst/>
              <a:latin typeface="-webkit-standard"/>
            </a:endParaRPr>
          </a:p>
          <a:p>
            <a:r>
              <a:rPr lang="en-US" b="0" i="0" u="none" strike="noStrike" dirty="0">
                <a:solidFill>
                  <a:srgbClr val="000000"/>
                </a:solidFill>
                <a:effectLst/>
                <a:latin typeface="-webkit-standard"/>
              </a:rPr>
              <a:t>However, as today’s LLMs grew more powerful, code generation gradually became the dominant focus. Why? Because code generation is inherently a composite task. </a:t>
            </a:r>
          </a:p>
          <a:p>
            <a:r>
              <a:rPr lang="en-US" b="0" i="0" u="none" strike="noStrike" dirty="0">
                <a:solidFill>
                  <a:srgbClr val="000000"/>
                </a:solidFill>
                <a:effectLst/>
                <a:latin typeface="-webkit-standard"/>
              </a:rPr>
              <a:t>To generate correct code — especially at the repository level — you need code understanding, fault localization, program repair reasoning, and test awareness, all at once. It serves as the ultimate stress test for model capabilities in software engineering.</a:t>
            </a:r>
          </a:p>
          <a:p>
            <a:endParaRPr lang="en-US" b="0" i="0" u="none" strike="noStrike" dirty="0">
              <a:solidFill>
                <a:srgbClr val="000000"/>
              </a:solidFill>
              <a:effectLst/>
              <a:latin typeface="-webkit-standard"/>
            </a:endParaRPr>
          </a:p>
          <a:p>
            <a:r>
              <a:rPr lang="en-US" b="0" i="0" u="none" strike="noStrike" dirty="0">
                <a:solidFill>
                  <a:srgbClr val="000000"/>
                </a:solidFill>
                <a:effectLst/>
                <a:latin typeface="-webkit-standard"/>
              </a:rPr>
              <a:t>You can see the timeline of code generation in figure 1. In 2021, before emergence of </a:t>
            </a:r>
            <a:r>
              <a:rPr lang="en-US" b="0" i="0" u="none" strike="noStrike" dirty="0" err="1">
                <a:solidFill>
                  <a:srgbClr val="000000"/>
                </a:solidFill>
                <a:effectLst/>
                <a:latin typeface="-webkit-standard"/>
              </a:rPr>
              <a:t>lm</a:t>
            </a:r>
            <a:r>
              <a:rPr lang="en-US" b="0" i="0" u="none" strike="noStrike" dirty="0">
                <a:solidFill>
                  <a:srgbClr val="000000"/>
                </a:solidFill>
                <a:effectLst/>
                <a:latin typeface="-webkit-standard"/>
              </a:rPr>
              <a:t>, we had function-level benchmarks where you write a single Python function from a docstring. Then in 2022, </a:t>
            </a:r>
            <a:r>
              <a:rPr lang="en-US" b="0" i="0" u="none" strike="noStrike" dirty="0" err="1">
                <a:solidFill>
                  <a:srgbClr val="000000"/>
                </a:solidFill>
                <a:effectLst/>
                <a:latin typeface="-webkit-standard"/>
              </a:rPr>
              <a:t>ClassEval</a:t>
            </a:r>
            <a:r>
              <a:rPr lang="en-US" b="0" i="0" u="none" strike="noStrike" dirty="0">
                <a:solidFill>
                  <a:srgbClr val="000000"/>
                </a:solidFill>
                <a:effectLst/>
                <a:latin typeface="-webkit-standard"/>
              </a:rPr>
              <a:t> pushed to class-level generation. In 2023, </a:t>
            </a:r>
            <a:r>
              <a:rPr lang="en-US" b="0" i="0" u="none" strike="noStrike" dirty="0" err="1">
                <a:solidFill>
                  <a:srgbClr val="000000"/>
                </a:solidFill>
                <a:effectLst/>
                <a:latin typeface="-webkit-standard"/>
              </a:rPr>
              <a:t>RepoBench</a:t>
            </a:r>
            <a:r>
              <a:rPr lang="en-US" b="0" i="0" u="none" strike="noStrike" dirty="0">
                <a:solidFill>
                  <a:srgbClr val="000000"/>
                </a:solidFill>
                <a:effectLst/>
                <a:latin typeface="-webkit-standard"/>
              </a:rPr>
              <a:t>, </a:t>
            </a:r>
            <a:r>
              <a:rPr lang="en-US" b="0" i="0" u="none" strike="noStrike" dirty="0" err="1">
                <a:solidFill>
                  <a:srgbClr val="000000"/>
                </a:solidFill>
                <a:effectLst/>
                <a:latin typeface="-webkit-standard"/>
              </a:rPr>
              <a:t>CrossCodeEval</a:t>
            </a:r>
            <a:r>
              <a:rPr lang="en-US" b="0" i="0" u="none" strike="noStrike" dirty="0">
                <a:solidFill>
                  <a:srgbClr val="000000"/>
                </a:solidFill>
                <a:effectLst/>
                <a:latin typeface="-webkit-standard"/>
              </a:rPr>
              <a:t> and </a:t>
            </a:r>
            <a:r>
              <a:rPr lang="en-US" b="0" i="0" u="none" strike="noStrike" dirty="0" err="1">
                <a:solidFill>
                  <a:srgbClr val="000000"/>
                </a:solidFill>
                <a:effectLst/>
                <a:latin typeface="-webkit-standard"/>
              </a:rPr>
              <a:t>bigcodebench</a:t>
            </a:r>
            <a:r>
              <a:rPr lang="en-US" b="0" i="0" u="none" strike="noStrike" dirty="0">
                <a:solidFill>
                  <a:srgbClr val="000000"/>
                </a:solidFill>
                <a:effectLst/>
                <a:latin typeface="-webkit-standard"/>
              </a:rPr>
              <a:t>, started testing cross-file dependencies. But these were still completion tasks — the model is told roughly where to write code.</a:t>
            </a:r>
            <a:endParaRPr lang="en-CN"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4</a:t>
            </a:fld>
            <a:endParaRPr lang="zh-TW" altLang="en-US"/>
          </a:p>
        </p:txBody>
      </p:sp>
    </p:spTree>
    <p:extLst>
      <p:ext uri="{BB962C8B-B14F-4D97-AF65-F5344CB8AC3E}">
        <p14:creationId xmlns:p14="http://schemas.microsoft.com/office/powerpoint/2010/main" val="2427268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And then came SWE-bench in 2024 — that's today's focus. Where the benchmark actually evaluates the large codebase editing capability, which is as same as real world development.</a:t>
            </a:r>
            <a:endParaRPr lang="en-CN"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5</a:t>
            </a:fld>
            <a:endParaRPr lang="zh-TW" altLang="en-US"/>
          </a:p>
        </p:txBody>
      </p:sp>
    </p:spTree>
    <p:extLst>
      <p:ext uri="{BB962C8B-B14F-4D97-AF65-F5344CB8AC3E}">
        <p14:creationId xmlns:p14="http://schemas.microsoft.com/office/powerpoint/2010/main" val="1975752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a:t>Then I’ll introduce the </a:t>
            </a:r>
            <a:r>
              <a:rPr lang="en-US" altLang="zh-TW" dirty="0" err="1"/>
              <a:t>swe</a:t>
            </a:r>
            <a:r>
              <a:rPr lang="en-US" altLang="zh-TW" dirty="0"/>
              <a:t>-bench.</a:t>
            </a:r>
            <a:endParaRPr lang="zh-TW" alt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6</a:t>
            </a:fld>
            <a:endParaRPr lang="zh-TW" altLang="en-US"/>
          </a:p>
        </p:txBody>
      </p:sp>
    </p:spTree>
    <p:extLst>
      <p:ext uri="{BB962C8B-B14F-4D97-AF65-F5344CB8AC3E}">
        <p14:creationId xmlns:p14="http://schemas.microsoft.com/office/powerpoint/2010/main" val="1887537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I’ll introduce the </a:t>
            </a:r>
            <a:r>
              <a:rPr lang="en-US" b="0" i="0" u="none" strike="noStrike" dirty="0" err="1">
                <a:solidFill>
                  <a:srgbClr val="000000"/>
                </a:solidFill>
                <a:effectLst/>
                <a:latin typeface="-webkit-standard"/>
              </a:rPr>
              <a:t>swe</a:t>
            </a:r>
            <a:r>
              <a:rPr lang="en-US" b="0" i="0" u="none" strike="noStrike" dirty="0">
                <a:solidFill>
                  <a:srgbClr val="000000"/>
                </a:solidFill>
                <a:effectLst/>
                <a:latin typeface="-webkit-standard"/>
              </a:rPr>
              <a:t>-bench in four questions.</a:t>
            </a:r>
          </a:p>
          <a:p>
            <a:endParaRPr lang="en-US" b="0" i="0" u="none" strike="noStrike" dirty="0">
              <a:solidFill>
                <a:srgbClr val="000000"/>
              </a:solidFill>
              <a:effectLst/>
              <a:latin typeface="-webkit-standard"/>
            </a:endParaRPr>
          </a:p>
          <a:p>
            <a:r>
              <a:rPr lang="en-US" b="0" i="0" u="none" strike="noStrike" dirty="0">
                <a:solidFill>
                  <a:srgbClr val="000000"/>
                </a:solidFill>
                <a:effectLst/>
                <a:latin typeface="-webkit-standard"/>
              </a:rPr>
              <a:t>The first question is, what is SWE-bench? SWE-bench is </a:t>
            </a:r>
            <a:r>
              <a:rPr lang="en-US" b="0" i="0" u="none" strike="noStrike" dirty="0" err="1">
                <a:solidFill>
                  <a:srgbClr val="000000"/>
                </a:solidFill>
                <a:effectLst/>
                <a:latin typeface="-webkit-standard"/>
              </a:rPr>
              <a:t>xxxx</a:t>
            </a:r>
            <a:r>
              <a:rPr lang="en-US" b="0" i="0" u="none" strike="noStrike" dirty="0">
                <a:solidFill>
                  <a:srgbClr val="000000"/>
                </a:solidFill>
                <a:effectLst/>
                <a:latin typeface="-webkit-standard"/>
              </a:rPr>
              <a:t>…..</a:t>
            </a:r>
          </a:p>
          <a:p>
            <a:endParaRPr lang="en-US" b="0" i="0" u="none" strike="noStrike" dirty="0">
              <a:solidFill>
                <a:srgbClr val="000000"/>
              </a:solidFill>
              <a:effectLst/>
              <a:latin typeface="-webkit-standard"/>
            </a:endParaRPr>
          </a:p>
          <a:p>
            <a:r>
              <a:rPr lang="en-US" b="0" i="0" u="none" strike="noStrike" dirty="0">
                <a:solidFill>
                  <a:srgbClr val="000000"/>
                </a:solidFill>
                <a:effectLst/>
                <a:latin typeface="-webkit-standard"/>
              </a:rPr>
              <a:t>The second question is: Why do we need it? SWE-bench made a qualitative leap: instead of completing code snippets, models must resolve real GitHub issues in real repositories. This requires navigating codebases with thousands of files, localizing faults with no guidance, producing multi-file patches, and passing real test suites. the complexity of real-world software development processes extends far beyond just code completion.</a:t>
            </a:r>
            <a:endParaRPr lang="en-CN"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7</a:t>
            </a:fld>
            <a:endParaRPr lang="zh-TW" altLang="en-US"/>
          </a:p>
        </p:txBody>
      </p:sp>
    </p:spTree>
    <p:extLst>
      <p:ext uri="{BB962C8B-B14F-4D97-AF65-F5344CB8AC3E}">
        <p14:creationId xmlns:p14="http://schemas.microsoft.com/office/powerpoint/2010/main" val="607453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The third question is : how is SWE-bench constructed? </a:t>
            </a:r>
          </a:p>
          <a:p>
            <a:endParaRPr lang="en-US" b="0" i="0" u="none" strike="noStrike" dirty="0">
              <a:solidFill>
                <a:srgbClr val="000000"/>
              </a:solidFill>
              <a:effectLst/>
              <a:latin typeface="-webkit-standard"/>
            </a:endParaRPr>
          </a:p>
          <a:p>
            <a:r>
              <a:rPr lang="en-US" b="0" i="0" u="none" strike="noStrike" dirty="0">
                <a:solidFill>
                  <a:srgbClr val="000000"/>
                </a:solidFill>
                <a:effectLst/>
                <a:latin typeface="-webkit-standard"/>
              </a:rPr>
              <a:t>The pipeline is illustrated in figure 2, it’s through a three-stage automated pipeline.</a:t>
            </a:r>
          </a:p>
          <a:p>
            <a:endParaRPr lang="en-US" b="0" i="0" u="none" strike="noStrike" dirty="0">
              <a:solidFill>
                <a:srgbClr val="000000"/>
              </a:solidFill>
              <a:effectLst/>
              <a:latin typeface="-webkit-standard"/>
            </a:endParaRPr>
          </a:p>
          <a:p>
            <a:r>
              <a:rPr lang="en-US" b="0" i="0" u="none" strike="noStrike" dirty="0">
                <a:solidFill>
                  <a:srgbClr val="000000"/>
                </a:solidFill>
                <a:effectLst/>
                <a:latin typeface="-webkit-standard"/>
              </a:rPr>
              <a:t>The first stage is to scrape prs from popular repositories. </a:t>
            </a:r>
          </a:p>
          <a:p>
            <a:endParaRPr lang="en-US" b="0" i="0" u="none" strike="noStrike" dirty="0">
              <a:solidFill>
                <a:srgbClr val="000000"/>
              </a:solidFill>
              <a:effectLst/>
              <a:latin typeface="-webkit-standard"/>
            </a:endParaRPr>
          </a:p>
          <a:p>
            <a:r>
              <a:rPr lang="en-US" b="0" i="0" u="none" strike="noStrike" dirty="0">
                <a:solidFill>
                  <a:srgbClr val="000000"/>
                </a:solidFill>
                <a:effectLst/>
                <a:latin typeface="-webkit-standard"/>
              </a:rPr>
              <a:t>Stage two is the attribute filter — they keep only merged PRs that are linked to a GitHub issue AND contribute test changes. This indicates the developer wrote tests to verify their fix. </a:t>
            </a:r>
          </a:p>
          <a:p>
            <a:endParaRPr lang="en-US" b="0" i="0" u="none" strike="noStrike" dirty="0">
              <a:solidFill>
                <a:srgbClr val="000000"/>
              </a:solidFill>
              <a:effectLst/>
              <a:latin typeface="-webkit-standard"/>
            </a:endParaRPr>
          </a:p>
          <a:p>
            <a:r>
              <a:rPr lang="en-US" b="0" i="0" u="none" strike="noStrike" dirty="0">
                <a:solidFill>
                  <a:srgbClr val="000000"/>
                </a:solidFill>
                <a:effectLst/>
                <a:latin typeface="-webkit-standard"/>
              </a:rPr>
              <a:t>Stage three is the execution filter — they actually run the tests before and after the PR, and keep only instances where at least one test flips from fail to pass. These "fail-to-pass" tests become the ground truth for evaluation. Through this filtering, 90,000 PRs are reduced to 2,294 high-quality instances.</a:t>
            </a:r>
          </a:p>
          <a:p>
            <a:endParaRPr lang="en-US" b="0" i="0" u="none" strike="noStrike" dirty="0">
              <a:solidFill>
                <a:srgbClr val="000000"/>
              </a:solidFill>
              <a:effectLst/>
              <a:latin typeface="-webkit-standard"/>
            </a:endParaRPr>
          </a:p>
          <a:p>
            <a:r>
              <a:rPr lang="en-US" b="0" i="0" u="none" strike="noStrike" dirty="0">
                <a:solidFill>
                  <a:srgbClr val="000000"/>
                </a:solidFill>
                <a:effectLst/>
                <a:latin typeface="-webkit-standard"/>
              </a:rPr>
              <a:t>The last question is: How do you use it? The input is an issue text description plus the complete codebase at the pre-PR commit. The output is a patch file in diff format — the model must figure out which files to modify and exactly what code to change. Evaluation is fully automated: apply the patch, run the tests. If the fail-to-pass tests now pass and existing tests don't break, the issue is considered resolved. the metric is the percentage of resolved instances. So actually it’s a framework for execution-based evaluation, and don’t need any human feedback.</a:t>
            </a:r>
            <a:endParaRPr lang="en-CN"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8</a:t>
            </a:fld>
            <a:endParaRPr lang="zh-TW" altLang="en-US"/>
          </a:p>
        </p:txBody>
      </p:sp>
    </p:spTree>
    <p:extLst>
      <p:ext uri="{BB962C8B-B14F-4D97-AF65-F5344CB8AC3E}">
        <p14:creationId xmlns:p14="http://schemas.microsoft.com/office/powerpoint/2010/main" val="2576691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This slide shows two versions of evaluation results of SWE-bench.</a:t>
            </a:r>
          </a:p>
          <a:p>
            <a:endParaRPr lang="en-US" b="0" i="0" u="none" strike="noStrike" dirty="0">
              <a:solidFill>
                <a:srgbClr val="000000"/>
              </a:solidFill>
              <a:effectLst/>
              <a:latin typeface="-webkit-standard"/>
            </a:endParaRPr>
          </a:p>
          <a:p>
            <a:r>
              <a:rPr lang="en-US" b="0" i="0" u="none" strike="noStrike" dirty="0">
                <a:solidFill>
                  <a:srgbClr val="000000"/>
                </a:solidFill>
                <a:effectLst/>
                <a:latin typeface="-webkit-standard"/>
              </a:rPr>
              <a:t>The left table shows the initial result. From the table</a:t>
            </a:r>
            <a:r>
              <a:rPr lang="en-US" b="0" i="0" u="none" strike="noStrike" dirty="0">
                <a:solidFill>
                  <a:srgbClr val="000000"/>
                </a:solidFill>
                <a:effectLst/>
              </a:rPr>
              <a:t>, you can see that the best-performing model — Claude 3 Opus achieved only 3.79% resolve rate. </a:t>
            </a:r>
          </a:p>
          <a:p>
            <a:endParaRPr lang="en-US" b="0" i="0" u="none" strike="noStrike" dirty="0">
              <a:solidFill>
                <a:srgbClr val="000000"/>
              </a:solidFill>
              <a:effectLst/>
            </a:endParaRPr>
          </a:p>
          <a:p>
            <a:pPr algn="l"/>
            <a:r>
              <a:rPr lang="en-US" b="0" i="0" u="none" strike="noStrike" dirty="0">
                <a:solidFill>
                  <a:srgbClr val="000000"/>
                </a:solidFill>
                <a:effectLst/>
              </a:rPr>
              <a:t>Now look at the right side — it’s today's leaderboard. Claude 4.5 Opus leads at 76.8%.  The </a:t>
            </a:r>
            <a:r>
              <a:rPr lang="en-US" b="0" i="0" u="none" strike="noStrike" dirty="0" err="1">
                <a:solidFill>
                  <a:srgbClr val="000000"/>
                </a:solidFill>
                <a:effectLst/>
              </a:rPr>
              <a:t>comparision</a:t>
            </a:r>
            <a:r>
              <a:rPr lang="en-US" b="0" i="0" u="none" strike="noStrike" dirty="0">
                <a:solidFill>
                  <a:srgbClr val="000000"/>
                </a:solidFill>
                <a:effectLst/>
              </a:rPr>
              <a:t> </a:t>
            </a:r>
            <a:r>
              <a:rPr lang="en-US" b="0" i="0" u="none" strike="noStrike" dirty="0">
                <a:solidFill>
                  <a:srgbClr val="F9FAFB"/>
                </a:solidFill>
                <a:effectLst/>
                <a:latin typeface="quote-cjk-patch"/>
              </a:rPr>
              <a:t>highlights the remarkable progress in just a short period.</a:t>
            </a:r>
            <a:endParaRPr lang="en-US" b="0" i="0" u="none" strike="noStrike" dirty="0">
              <a:solidFill>
                <a:srgbClr val="000000"/>
              </a:solidFill>
              <a:effectLst/>
            </a:endParaRPr>
          </a:p>
          <a:p>
            <a:endParaRPr lang="en-US" b="0" i="0" u="none" strike="noStrike" dirty="0">
              <a:solidFill>
                <a:srgbClr val="000000"/>
              </a:solidFill>
              <a:effectLst/>
              <a:latin typeface="-webkit-standard"/>
            </a:endParaRPr>
          </a:p>
          <a:p>
            <a:endParaRPr lang="en-US" b="0" i="0" u="none" strike="noStrike" dirty="0">
              <a:solidFill>
                <a:srgbClr val="000000"/>
              </a:solidFill>
              <a:effectLst/>
              <a:latin typeface="-webkit-standard"/>
            </a:endParaRPr>
          </a:p>
          <a:p>
            <a:endParaRPr lang="en-CN"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9</a:t>
            </a:fld>
            <a:endParaRPr lang="zh-TW" altLang="en-US"/>
          </a:p>
        </p:txBody>
      </p:sp>
    </p:spTree>
    <p:extLst>
      <p:ext uri="{BB962C8B-B14F-4D97-AF65-F5344CB8AC3E}">
        <p14:creationId xmlns:p14="http://schemas.microsoft.com/office/powerpoint/2010/main" val="7938199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Since then, SWE-bench has spawned an entire family of variants. SWE-bench Lite is a 300-instance curated subset for faster experiments. SWE-bench Verified is a 500-instance subset validated by 93 human software engineers — addressing issues like ambiguous descriptions and unreliable tests. There are also multilingual and multimodal extensions. This ecosystem shows how influential SWE-bench has become the standard adopted by </a:t>
            </a:r>
            <a:r>
              <a:rPr lang="en-US" b="0" i="0" u="none" strike="noStrike" dirty="0" err="1">
                <a:solidFill>
                  <a:srgbClr val="000000"/>
                </a:solidFill>
                <a:effectLst/>
                <a:latin typeface="-webkit-standard"/>
              </a:rPr>
              <a:t>OpenAI</a:t>
            </a:r>
            <a:r>
              <a:rPr lang="en-US" b="0" i="0" u="none" strike="noStrike" dirty="0">
                <a:solidFill>
                  <a:srgbClr val="000000"/>
                </a:solidFill>
                <a:effectLst/>
                <a:latin typeface="-webkit-standard"/>
              </a:rPr>
              <a:t>, Anthropic, Google, and Meta for evaluating their models' coding capabilities.</a:t>
            </a:r>
            <a:endParaRPr lang="en-CN"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10</a:t>
            </a:fld>
            <a:endParaRPr lang="zh-TW" altLang="en-US"/>
          </a:p>
        </p:txBody>
      </p:sp>
    </p:spTree>
    <p:extLst>
      <p:ext uri="{BB962C8B-B14F-4D97-AF65-F5344CB8AC3E}">
        <p14:creationId xmlns:p14="http://schemas.microsoft.com/office/powerpoint/2010/main" val="24775750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11</a:t>
            </a:fld>
            <a:endParaRPr lang="zh-TW" altLang="en-US"/>
          </a:p>
        </p:txBody>
      </p:sp>
    </p:spTree>
    <p:extLst>
      <p:ext uri="{BB962C8B-B14F-4D97-AF65-F5344CB8AC3E}">
        <p14:creationId xmlns:p14="http://schemas.microsoft.com/office/powerpoint/2010/main" val="39299534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The first one is the agent-based paradigm. Agent-based scaffolds equip one or more agents with tools for planning, repository access, and code editing, enabling them to make decisions and update the codebase autonomously. The workflow is iterative — observe, think, act, get feedback, repeat — following a </a:t>
            </a:r>
            <a:r>
              <a:rPr lang="en-US" b="0" i="0" u="none" strike="noStrike" dirty="0" err="1">
                <a:solidFill>
                  <a:srgbClr val="000000"/>
                </a:solidFill>
                <a:effectLst/>
                <a:latin typeface="-webkit-standard"/>
              </a:rPr>
              <a:t>ReAct</a:t>
            </a:r>
            <a:r>
              <a:rPr lang="en-US" b="0" i="0" u="none" strike="noStrike" dirty="0">
                <a:solidFill>
                  <a:srgbClr val="000000"/>
                </a:solidFill>
                <a:effectLst/>
                <a:latin typeface="-webkit-standard"/>
              </a:rPr>
              <a:t>-style loop. The representative system is SWE-agent. This approach offers high flexibility, but agent behavior may deviate from the intended pipeline, potentially leading to task failure.</a:t>
            </a:r>
          </a:p>
          <a:p>
            <a:endParaRPr lang="en-US" b="0" i="0" u="none" strike="noStrike" dirty="0">
              <a:solidFill>
                <a:srgbClr val="000000"/>
              </a:solidFill>
              <a:effectLst/>
              <a:latin typeface="-webkit-standard"/>
            </a:endParaRPr>
          </a:p>
          <a:p>
            <a:r>
              <a:rPr lang="en-US" b="0" i="0" u="none" strike="noStrike" dirty="0">
                <a:solidFill>
                  <a:srgbClr val="000000"/>
                </a:solidFill>
                <a:effectLst/>
                <a:latin typeface="-webkit-standard"/>
              </a:rPr>
              <a:t>Pipeline-based scaffolds rely on human prior knowledge to decompose the task into predefined phases executed sequentially — repo preprocessing, localization, repair, and validation. The representative system is Agentless. This approach offers more control and predictability, but has lower autonomy — if one phase fails, there's no way to recover.</a:t>
            </a:r>
          </a:p>
          <a:p>
            <a:endParaRPr lang="en-US" b="0" i="0" u="none" strike="noStrike" dirty="0">
              <a:solidFill>
                <a:srgbClr val="000000"/>
              </a:solidFill>
              <a:effectLst/>
              <a:latin typeface="-webkit-standard"/>
            </a:endParaRPr>
          </a:p>
          <a:p>
            <a:r>
              <a:rPr lang="en-US" b="0" i="0" u="none" strike="noStrike" dirty="0">
                <a:solidFill>
                  <a:srgbClr val="000000"/>
                </a:solidFill>
                <a:effectLst/>
                <a:latin typeface="-webkit-standard"/>
              </a:rPr>
              <a:t>Both paradigms share the same high-level goal — generate a correct patch. But they differ fundamentally in who controls the workflow: the LLM deciding autonomously, or a human-designed fixed pipeline.</a:t>
            </a:r>
            <a:endParaRPr lang="en-CN"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12</a:t>
            </a:fld>
            <a:endParaRPr lang="zh-TW" altLang="en-US"/>
          </a:p>
        </p:txBody>
      </p:sp>
    </p:spTree>
    <p:extLst>
      <p:ext uri="{BB962C8B-B14F-4D97-AF65-F5344CB8AC3E}">
        <p14:creationId xmlns:p14="http://schemas.microsoft.com/office/powerpoint/2010/main" val="33045929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Their core motivation is : "LM agents represent a new category of end users with their own needs and abilities, and would benefit from specially-built interfaces to the software they use." Just as humans benefit from IDEs like </a:t>
            </a:r>
            <a:r>
              <a:rPr lang="en-US" b="0" i="0" u="none" strike="noStrike" dirty="0" err="1">
                <a:solidFill>
                  <a:srgbClr val="000000"/>
                </a:solidFill>
                <a:effectLst/>
                <a:latin typeface="-webkit-standard"/>
              </a:rPr>
              <a:t>VSCode</a:t>
            </a:r>
            <a:r>
              <a:rPr lang="en-US" b="0" i="0" u="none" strike="noStrike" dirty="0">
                <a:solidFill>
                  <a:srgbClr val="000000"/>
                </a:solidFill>
                <a:effectLst/>
                <a:latin typeface="-webkit-standard"/>
              </a:rPr>
              <a:t>, LLM agents need interfaces tailored to their specific capabilities and limitations.</a:t>
            </a:r>
          </a:p>
          <a:p>
            <a:endParaRPr lang="en-US" b="0" i="0" u="none" strike="noStrike" dirty="0">
              <a:solidFill>
                <a:srgbClr val="000000"/>
              </a:solidFill>
              <a:effectLst/>
              <a:latin typeface="-webkit-standard"/>
            </a:endParaRPr>
          </a:p>
          <a:p>
            <a:r>
              <a:rPr lang="en-US" b="0" i="0" u="none" strike="noStrike" dirty="0">
                <a:solidFill>
                  <a:srgbClr val="000000"/>
                </a:solidFill>
                <a:effectLst/>
                <a:latin typeface="-webkit-standard"/>
              </a:rPr>
              <a:t>they designed interfaces specifically FOR LM agents. The ACI provides a small set of simple commands — open, scroll, edit with built-in linting, </a:t>
            </a:r>
            <a:r>
              <a:rPr lang="en-US" b="0" i="0" u="none" strike="noStrike" dirty="0" err="1">
                <a:solidFill>
                  <a:srgbClr val="000000"/>
                </a:solidFill>
                <a:effectLst/>
                <a:latin typeface="-webkit-standard"/>
              </a:rPr>
              <a:t>search_file</a:t>
            </a:r>
            <a:r>
              <a:rPr lang="en-US" b="0" i="0" u="none" strike="noStrike" dirty="0">
                <a:solidFill>
                  <a:srgbClr val="000000"/>
                </a:solidFill>
                <a:effectLst/>
                <a:latin typeface="-webkit-standard"/>
              </a:rPr>
              <a:t>, </a:t>
            </a:r>
            <a:r>
              <a:rPr lang="en-US" b="0" i="0" u="none" strike="noStrike" dirty="0" err="1">
                <a:solidFill>
                  <a:srgbClr val="000000"/>
                </a:solidFill>
                <a:effectLst/>
                <a:latin typeface="-webkit-standard"/>
              </a:rPr>
              <a:t>find_file</a:t>
            </a:r>
            <a:r>
              <a:rPr lang="en-US" b="0" i="0" u="none" strike="noStrike" dirty="0">
                <a:solidFill>
                  <a:srgbClr val="000000"/>
                </a:solidFill>
                <a:effectLst/>
                <a:latin typeface="-webkit-standard"/>
              </a:rPr>
              <a:t>. The edit command integrates with a file viewer, shows line numbers, and includes a syntax checker that blocks broken edits immediately. Environment feedback is concise and informative. </a:t>
            </a:r>
            <a:endParaRPr lang="en-CN"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13</a:t>
            </a:fld>
            <a:endParaRPr lang="zh-TW" altLang="en-US"/>
          </a:p>
        </p:txBody>
      </p:sp>
    </p:spTree>
    <p:extLst>
      <p:ext uri="{BB962C8B-B14F-4D97-AF65-F5344CB8AC3E}">
        <p14:creationId xmlns:p14="http://schemas.microsoft.com/office/powerpoint/2010/main" val="35201373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Their core motivation is : "Do we really have to employ complex autonomous software agents?" They identified three limitations of agent-based approaches — complex tool usage leading to errors, lack of control making agents easily confused, and limited self-reflection causing error amplification. Their answer was: maybe we don't need agents at all.</a:t>
            </a:r>
          </a:p>
          <a:p>
            <a:endParaRPr lang="en-US" b="0" i="0" u="none" strike="noStrike" dirty="0">
              <a:solidFill>
                <a:srgbClr val="000000"/>
              </a:solidFill>
              <a:effectLst/>
              <a:latin typeface="-webkit-standard"/>
            </a:endParaRPr>
          </a:p>
          <a:p>
            <a:pPr algn="l"/>
            <a:r>
              <a:rPr lang="en-US" b="0" i="0" u="none" strike="noStrike" dirty="0">
                <a:solidFill>
                  <a:srgbClr val="000000"/>
                </a:solidFill>
                <a:effectLst/>
              </a:rPr>
              <a:t>Agentless follows a simple three-phase pipeline, shown in Figure 4.</a:t>
            </a:r>
          </a:p>
          <a:p>
            <a:pPr algn="l"/>
            <a:endParaRPr lang="en-US" b="0" i="0" u="none" strike="noStrike" dirty="0">
              <a:solidFill>
                <a:srgbClr val="000000"/>
              </a:solidFill>
              <a:effectLst/>
            </a:endParaRPr>
          </a:p>
          <a:p>
            <a:pPr algn="l"/>
            <a:r>
              <a:rPr lang="en-US" b="0" i="0" u="none" strike="noStrike" dirty="0">
                <a:solidFill>
                  <a:srgbClr val="000000"/>
                </a:solidFill>
                <a:effectLst/>
              </a:rPr>
              <a:t>Phase one is hierarchical localization. They convert the repository structure into a tree format, ask the LLM to identify the top 3 suspicious files, then extract class and function signatures, and narrow down to relevant elements, and finally pinpoint exact edit locations. </a:t>
            </a:r>
          </a:p>
          <a:p>
            <a:pPr algn="l"/>
            <a:endParaRPr lang="en-US" b="0" i="0" u="none" strike="noStrike" dirty="0">
              <a:solidFill>
                <a:srgbClr val="000000"/>
              </a:solidFill>
              <a:effectLst/>
            </a:endParaRPr>
          </a:p>
          <a:p>
            <a:pPr algn="l"/>
            <a:r>
              <a:rPr lang="en-US" b="0" i="0" u="none" strike="noStrike" dirty="0">
                <a:solidFill>
                  <a:srgbClr val="000000"/>
                </a:solidFill>
                <a:effectLst/>
              </a:rPr>
              <a:t>Phase two is repair. For each of edit location sets, they generate patches using a Search/Replace diff format. This diff format is key — it avoids generating complete code blocks and instead focuses on small, targeted edits, reducing hallucination.</a:t>
            </a:r>
          </a:p>
          <a:p>
            <a:pPr algn="l"/>
            <a:r>
              <a:rPr lang="en-US" b="0" i="0" u="none" strike="noStrike" dirty="0">
                <a:solidFill>
                  <a:srgbClr val="000000"/>
                </a:solidFill>
                <a:effectLst/>
              </a:rPr>
              <a:t>Phase three is validation — syntax check, regression testing, optional reproduction test generation, and majority voting to select the final patch.</a:t>
            </a:r>
          </a:p>
          <a:p>
            <a:endParaRPr lang="en-CN"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14</a:t>
            </a:fld>
            <a:endParaRPr lang="zh-TW" altLang="en-US"/>
          </a:p>
        </p:txBody>
      </p:sp>
    </p:spTree>
    <p:extLst>
      <p:ext uri="{BB962C8B-B14F-4D97-AF65-F5344CB8AC3E}">
        <p14:creationId xmlns:p14="http://schemas.microsoft.com/office/powerpoint/2010/main" val="28846308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Let's compare the two approaches side by side.</a:t>
            </a:r>
          </a:p>
          <a:p>
            <a:pPr algn="l"/>
            <a:r>
              <a:rPr lang="en-US" b="0" i="0" u="none" strike="noStrike" dirty="0">
                <a:solidFill>
                  <a:srgbClr val="000000"/>
                </a:solidFill>
                <a:effectLst/>
              </a:rPr>
              <a:t>Agentless — the pipeline-based approach — has clear strengths in cost-efficiency: $0.70 versus $1.62 or more per issue for SWE-agent. It's reproducible — a deterministic pipeline with no stochastic trajectories. Easy to understand and debug. But it's upper-bounded by localization quality. If the hierarchical localization misses the right file, there's no recovery mechanism. And it has lower autonomy — it can't adapt if something unexpected happens.</a:t>
            </a:r>
          </a:p>
          <a:p>
            <a:pPr algn="l"/>
            <a:r>
              <a:rPr lang="en-US" b="0" i="0" u="none" strike="noStrike" dirty="0">
                <a:solidFill>
                  <a:srgbClr val="000000"/>
                </a:solidFill>
                <a:effectLst/>
              </a:rPr>
              <a:t>SWE-agent — the agent-based approach — shines in adaptability. It can change strategy based on what it observes. If the first hypothesis about the bug is wrong, it can pivot. It can run tests, examine outputs, and iterate. But this comes at a cost — literally. More LLM calls mean higher expenses. And there's the risk of cascading failures: the SWE-agent paper found that 51.7% of trajectories have at least one failed edit, and "cascading failed edits make up 23.4% of failures." There's also a fascinating finding: "agents succeed quickly and fail slowly" — successful runs average 12 steps, while unsuccessful ones drag on for 21 steps.</a:t>
            </a:r>
          </a:p>
          <a:p>
            <a:pPr algn="l"/>
            <a:r>
              <a:rPr lang="en-US" b="0" i="0" u="none" strike="noStrike" dirty="0">
                <a:solidFill>
                  <a:srgbClr val="000000"/>
                </a:solidFill>
                <a:effectLst/>
              </a:rPr>
              <a:t>Neither approach dominates the other. They represent genuine trade-offs between control and flexibility, cost and capability. And in practice, the field is converging — many modern systems combine elements of both.</a:t>
            </a:r>
          </a:p>
          <a:p>
            <a:endParaRPr lang="en-CN"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15</a:t>
            </a:fld>
            <a:endParaRPr lang="zh-TW" altLang="en-US"/>
          </a:p>
        </p:txBody>
      </p:sp>
    </p:spTree>
    <p:extLst>
      <p:ext uri="{BB962C8B-B14F-4D97-AF65-F5344CB8AC3E}">
        <p14:creationId xmlns:p14="http://schemas.microsoft.com/office/powerpoint/2010/main" val="33264965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b="0" i="0" u="none" strike="noStrike" dirty="0">
                <a:solidFill>
                  <a:srgbClr val="000000"/>
                </a:solidFill>
                <a:effectLst/>
                <a:latin typeface="-webkit-standard"/>
              </a:rPr>
              <a:t>Here's the outline. We'll start with a brief introduction to LLM4Code. Then we’ll go into detail of our first paper SWE-bench, The I’ll talk about the two paradigms for solving SWE-bench — pipeline-based and agent-based. I’ll introduce the second paper agentless and the third paper </a:t>
            </a:r>
            <a:r>
              <a:rPr lang="en-US" b="0" i="0" u="none" strike="noStrike" dirty="0" err="1">
                <a:solidFill>
                  <a:srgbClr val="000000"/>
                </a:solidFill>
                <a:effectLst/>
                <a:latin typeface="-webkit-standard"/>
              </a:rPr>
              <a:t>swe</a:t>
            </a:r>
            <a:r>
              <a:rPr lang="en-US" b="0" i="0" u="none" strike="noStrike" dirty="0">
                <a:solidFill>
                  <a:srgbClr val="000000"/>
                </a:solidFill>
                <a:effectLst/>
                <a:latin typeface="-webkit-standard"/>
              </a:rPr>
              <a:t>-agent, We'll close with a comparison and conclusions.</a:t>
            </a:r>
            <a:endParaRPr lang="zh-TW" alt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16</a:t>
            </a:fld>
            <a:endParaRPr lang="zh-TW" altLang="en-US"/>
          </a:p>
        </p:txBody>
      </p:sp>
    </p:spTree>
    <p:extLst>
      <p:ext uri="{BB962C8B-B14F-4D97-AF65-F5344CB8AC3E}">
        <p14:creationId xmlns:p14="http://schemas.microsoft.com/office/powerpoint/2010/main" val="15864039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Two key takeaways.</a:t>
            </a:r>
          </a:p>
          <a:p>
            <a:pPr algn="l"/>
            <a:r>
              <a:rPr lang="en-US" b="0" i="0" u="none" strike="noStrike" dirty="0">
                <a:solidFill>
                  <a:srgbClr val="000000"/>
                </a:solidFill>
                <a:effectLst/>
              </a:rPr>
              <a:t>First, SWE-bench transformed LLM4Code evaluation. It moved us from contrived, function-level problems to real-world software engineering. And it enabled the community to measure and drive extraordinary progress — from 1.96% to roughly 80% on SWE-bench Verified in just 2.5 years. That's a 40x improvement, driven almost entirely by better system design and more capable models.</a:t>
            </a:r>
          </a:p>
          <a:p>
            <a:pPr algn="l"/>
            <a:endParaRPr lang="en-US" b="0" i="0" u="none" strike="noStrike" dirty="0">
              <a:solidFill>
                <a:srgbClr val="000000"/>
              </a:solidFill>
              <a:effectLst/>
            </a:endParaRPr>
          </a:p>
          <a:p>
            <a:pPr algn="l"/>
            <a:r>
              <a:rPr lang="en-US" b="0" i="0" u="none" strike="noStrike" dirty="0">
                <a:solidFill>
                  <a:srgbClr val="000000"/>
                </a:solidFill>
                <a:effectLst/>
              </a:rPr>
              <a:t>Second, two paradigms emerged, each with lasting influence. The pipeline-based approach, represented by Agentless, proved that simplicity can be surprisingly competitive. It set the template for most subsequent methods — the survey by Jiang et al. confirms that </a:t>
            </a:r>
            <a:r>
              <a:rPr lang="en-US" b="0" i="0" u="none" strike="noStrike" dirty="0" err="1">
                <a:solidFill>
                  <a:srgbClr val="000000"/>
                </a:solidFill>
                <a:effectLst/>
              </a:rPr>
              <a:t>Agentless's</a:t>
            </a:r>
            <a:r>
              <a:rPr lang="en-US" b="0" i="0" u="none" strike="noStrike" dirty="0">
                <a:solidFill>
                  <a:srgbClr val="000000"/>
                </a:solidFill>
                <a:effectLst/>
              </a:rPr>
              <a:t> hierarchical localization has been "followed by most subsequent methods." The agent-based approach, represented by SWE-agent, introduced the influential ACI concept and established that "interface design affects the performance of language model agents." The key insight is that how you present information to LLMs and how you let them interact with their environment matters just as much as the underlying model.</a:t>
            </a:r>
          </a:p>
          <a:p>
            <a:pPr algn="l"/>
            <a:endParaRPr lang="en-US" b="0" i="0" u="none" strike="noStrike" dirty="0">
              <a:solidFill>
                <a:srgbClr val="000000"/>
              </a:solidFill>
              <a:effectLst/>
            </a:endParaRPr>
          </a:p>
          <a:p>
            <a:pPr algn="l"/>
            <a:r>
              <a:rPr lang="en-US" b="0" i="0" u="none" strike="noStrike" dirty="0">
                <a:solidFill>
                  <a:srgbClr val="000000"/>
                </a:solidFill>
                <a:effectLst/>
                <a:latin typeface="-webkit-standard"/>
              </a:rPr>
              <a:t>Looking ahead, the field is shifting toward hybrid approaches combining pipeline control with agent flexibility, and toward RL-trained domain-specific models. The benchmark itself keeps evolving — SWE-bench Pro now addresses contamination concerns. The story of SWE-bench is really the story of how a well-designed benchmark can catalyze an entire field.</a:t>
            </a:r>
            <a:endParaRPr lang="en-US" b="0" i="0" u="none" strike="noStrike" dirty="0">
              <a:solidFill>
                <a:srgbClr val="000000"/>
              </a:solidFill>
              <a:effectLst/>
            </a:endParaRPr>
          </a:p>
          <a:p>
            <a:pPr algn="l"/>
            <a:endParaRPr lang="en-US" b="0" i="0" u="none" strike="noStrike" dirty="0">
              <a:solidFill>
                <a:srgbClr val="000000"/>
              </a:solidFill>
              <a:effectLst/>
            </a:endParaRPr>
          </a:p>
          <a:p>
            <a:pPr algn="l"/>
            <a:r>
              <a:rPr lang="en-US" b="0" i="0" u="none" strike="noStrike" dirty="0">
                <a:solidFill>
                  <a:srgbClr val="000000"/>
                </a:solidFill>
                <a:effectLst/>
              </a:rPr>
              <a:t>This is my pre, thank you.</a:t>
            </a:r>
          </a:p>
          <a:p>
            <a:endParaRPr lang="en-CN"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17</a:t>
            </a:fld>
            <a:endParaRPr lang="zh-TW" altLang="en-US"/>
          </a:p>
        </p:txBody>
      </p:sp>
    </p:spTree>
    <p:extLst>
      <p:ext uri="{BB962C8B-B14F-4D97-AF65-F5344CB8AC3E}">
        <p14:creationId xmlns:p14="http://schemas.microsoft.com/office/powerpoint/2010/main" val="241949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rPr>
                <a:t>香港中文大学（深圳）数据科学院</a:t>
              </a:r>
              <a:endParaRPr lang="zh-TW"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1471" y="1406845"/>
            <a:ext cx="11396871" cy="1882455"/>
          </a:xfrm>
        </p:spPr>
        <p:txBody>
          <a:bodyPr/>
          <a:lstStyle/>
          <a:p>
            <a:pPr algn="ctr"/>
            <a:r>
              <a:rPr lang="en-US" altLang="zh-CN" sz="4800" dirty="0">
                <a:effectLst>
                  <a:outerShdw blurRad="38100" dist="38100" dir="2700000" algn="tl">
                    <a:srgbClr val="000000">
                      <a:alpha val="43137"/>
                    </a:srgbClr>
                  </a:outerShdw>
                </a:effectLst>
              </a:rPr>
              <a:t>From</a:t>
            </a:r>
            <a:r>
              <a:rPr lang="zh-CN" altLang="en-US" sz="4800" dirty="0">
                <a:effectLst>
                  <a:outerShdw blurRad="38100" dist="38100" dir="2700000" algn="tl">
                    <a:srgbClr val="000000">
                      <a:alpha val="43137"/>
                    </a:srgbClr>
                  </a:outerShdw>
                </a:effectLst>
              </a:rPr>
              <a:t> </a:t>
            </a:r>
            <a:r>
              <a:rPr lang="en-US" altLang="zh-CN" sz="4800" dirty="0">
                <a:effectLst>
                  <a:outerShdw blurRad="38100" dist="38100" dir="2700000" algn="tl">
                    <a:srgbClr val="000000">
                      <a:alpha val="43137"/>
                    </a:srgbClr>
                  </a:outerShdw>
                </a:effectLst>
              </a:rPr>
              <a:t>Benchmark</a:t>
            </a:r>
            <a:r>
              <a:rPr lang="zh-CN" altLang="en-US" sz="4800" dirty="0">
                <a:effectLst>
                  <a:outerShdw blurRad="38100" dist="38100" dir="2700000" algn="tl">
                    <a:srgbClr val="000000">
                      <a:alpha val="43137"/>
                    </a:srgbClr>
                  </a:outerShdw>
                </a:effectLst>
              </a:rPr>
              <a:t> </a:t>
            </a:r>
            <a:r>
              <a:rPr lang="en-US" altLang="zh-CN" sz="4800" dirty="0">
                <a:effectLst>
                  <a:outerShdw blurRad="38100" dist="38100" dir="2700000" algn="tl">
                    <a:srgbClr val="000000">
                      <a:alpha val="43137"/>
                    </a:srgbClr>
                  </a:outerShdw>
                </a:effectLst>
              </a:rPr>
              <a:t>to</a:t>
            </a:r>
            <a:r>
              <a:rPr lang="zh-CN" altLang="en-US" sz="4800" dirty="0">
                <a:effectLst>
                  <a:outerShdw blurRad="38100" dist="38100" dir="2700000" algn="tl">
                    <a:srgbClr val="000000">
                      <a:alpha val="43137"/>
                    </a:srgbClr>
                  </a:outerShdw>
                </a:effectLst>
              </a:rPr>
              <a:t> </a:t>
            </a:r>
            <a:r>
              <a:rPr lang="en-US" altLang="zh-CN" sz="4800" dirty="0">
                <a:effectLst>
                  <a:outerShdw blurRad="38100" dist="38100" dir="2700000" algn="tl">
                    <a:srgbClr val="000000">
                      <a:alpha val="43137"/>
                    </a:srgbClr>
                  </a:outerShdw>
                </a:effectLst>
              </a:rPr>
              <a:t>Agents: How</a:t>
            </a:r>
            <a:r>
              <a:rPr lang="zh-CN" altLang="en-US" sz="4800" dirty="0">
                <a:effectLst>
                  <a:outerShdw blurRad="38100" dist="38100" dir="2700000" algn="tl">
                    <a:srgbClr val="000000">
                      <a:alpha val="43137"/>
                    </a:srgbClr>
                  </a:outerShdw>
                </a:effectLst>
              </a:rPr>
              <a:t> </a:t>
            </a:r>
            <a:r>
              <a:rPr lang="en-US" altLang="zh-CN" sz="4800" dirty="0">
                <a:effectLst>
                  <a:outerShdw blurRad="38100" dist="38100" dir="2700000" algn="tl">
                    <a:srgbClr val="000000">
                      <a:alpha val="43137"/>
                    </a:srgbClr>
                  </a:outerShdw>
                </a:effectLst>
              </a:rPr>
              <a:t>SWE-bench</a:t>
            </a:r>
            <a:r>
              <a:rPr lang="zh-CN" altLang="en-US" sz="4800" dirty="0">
                <a:effectLst>
                  <a:outerShdw blurRad="38100" dist="38100" dir="2700000" algn="tl">
                    <a:srgbClr val="000000">
                      <a:alpha val="43137"/>
                    </a:srgbClr>
                  </a:outerShdw>
                </a:effectLst>
              </a:rPr>
              <a:t> </a:t>
            </a:r>
            <a:r>
              <a:rPr lang="en-US" altLang="zh-CN" sz="4800" dirty="0">
                <a:effectLst>
                  <a:outerShdw blurRad="38100" dist="38100" dir="2700000" algn="tl">
                    <a:srgbClr val="000000">
                      <a:alpha val="43137"/>
                    </a:srgbClr>
                  </a:outerShdw>
                </a:effectLst>
              </a:rPr>
              <a:t>Advanced</a:t>
            </a:r>
            <a:r>
              <a:rPr lang="zh-CN" altLang="en-US" sz="4800" dirty="0">
                <a:effectLst>
                  <a:outerShdw blurRad="38100" dist="38100" dir="2700000" algn="tl">
                    <a:srgbClr val="000000">
                      <a:alpha val="43137"/>
                    </a:srgbClr>
                  </a:outerShdw>
                </a:effectLst>
              </a:rPr>
              <a:t> </a:t>
            </a:r>
            <a:r>
              <a:rPr lang="en-US" altLang="zh-CN" sz="4800" dirty="0">
                <a:effectLst>
                  <a:outerShdw blurRad="38100" dist="38100" dir="2700000" algn="tl">
                    <a:srgbClr val="000000">
                      <a:alpha val="43137"/>
                    </a:srgbClr>
                  </a:outerShdw>
                </a:effectLst>
              </a:rPr>
              <a:t>LLM4Code?</a:t>
            </a:r>
            <a:endParaRPr lang="zh-TW" altLang="en-US" sz="3200" b="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828800" y="3855632"/>
            <a:ext cx="8534400" cy="1882455"/>
          </a:xfrm>
        </p:spPr>
        <p:txBody>
          <a:bodyPr/>
          <a:lstStyle/>
          <a:p>
            <a:r>
              <a:rPr lang="en-US" altLang="zh-TW" sz="3200" dirty="0">
                <a:effectLst>
                  <a:outerShdw blurRad="38100" dist="38100" dir="2700000" algn="tl">
                    <a:srgbClr val="000000">
                      <a:alpha val="43137"/>
                    </a:srgbClr>
                  </a:outerShdw>
                </a:effectLst>
              </a:rPr>
              <a:t>Many</a:t>
            </a:r>
            <a:r>
              <a:rPr lang="en-US" altLang="zh-CN" sz="3200" dirty="0">
                <a:effectLst>
                  <a:outerShdw blurRad="38100" dist="38100" dir="2700000" algn="tl">
                    <a:srgbClr val="000000">
                      <a:alpha val="43137"/>
                    </a:srgbClr>
                  </a:outerShdw>
                </a:effectLst>
              </a:rPr>
              <a:t>i</a:t>
            </a:r>
            <a:r>
              <a:rPr lang="zh-CN" altLang="en-US" sz="3200" dirty="0">
                <a:effectLst>
                  <a:outerShdw blurRad="38100" dist="38100" dir="2700000" algn="tl">
                    <a:srgbClr val="000000">
                      <a:alpha val="43137"/>
                    </a:srgbClr>
                  </a:outerShdw>
                </a:effectLst>
              </a:rPr>
              <a:t> </a:t>
            </a:r>
            <a:r>
              <a:rPr lang="en-US" altLang="zh-CN" sz="3200" dirty="0">
                <a:effectLst>
                  <a:outerShdw blurRad="38100" dist="38100" dir="2700000" algn="tl">
                    <a:srgbClr val="000000">
                      <a:alpha val="43137"/>
                    </a:srgbClr>
                  </a:outerShdw>
                </a:effectLst>
              </a:rPr>
              <a:t>Wang</a:t>
            </a:r>
            <a:endParaRPr lang="en-US" altLang="zh-TW" sz="3200" dirty="0">
              <a:effectLst>
                <a:outerShdw blurRad="38100" dist="38100" dir="2700000" algn="tl">
                  <a:srgbClr val="000000">
                    <a:alpha val="43137"/>
                  </a:srgbClr>
                </a:outerShdw>
              </a:effectLst>
            </a:endParaRPr>
          </a:p>
          <a:p>
            <a:r>
              <a:rPr lang="en-US" altLang="zh-TW" sz="3200" dirty="0"/>
              <a:t>School of </a:t>
            </a:r>
            <a:r>
              <a:rPr lang="en-US" altLang="zh-CN" sz="3200" dirty="0"/>
              <a:t>Data </a:t>
            </a:r>
            <a:r>
              <a:rPr lang="en-US" altLang="zh-TW" sz="3200" dirty="0"/>
              <a:t>Science</a:t>
            </a:r>
          </a:p>
          <a:p>
            <a:r>
              <a:rPr lang="en-US" altLang="zh-TW" sz="3200" dirty="0"/>
              <a:t>Chinese University of Hong Kong, Shenzhen</a:t>
            </a:r>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5" name="灯片编号占位符 1">
            <a:extLst>
              <a:ext uri="{FF2B5EF4-FFF2-40B4-BE49-F238E27FC236}">
                <a16:creationId xmlns:a16="http://schemas.microsoft.com/office/drawing/2014/main" id="{C8F1849A-008E-6EF5-AB10-F46E38150EF0}"/>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a:t>
            </a:fld>
            <a:endParaRPr lang="zh-TW" altLang="en-US"/>
          </a:p>
        </p:txBody>
      </p:sp>
      <p:sp>
        <p:nvSpPr>
          <p:cNvPr id="7" name="內容版面配置區 2">
            <a:extLst>
              <a:ext uri="{FF2B5EF4-FFF2-40B4-BE49-F238E27FC236}">
                <a16:creationId xmlns:a16="http://schemas.microsoft.com/office/drawing/2014/main" id="{C255651E-265A-100F-4755-06C8521E5917}"/>
              </a:ext>
            </a:extLst>
          </p:cNvPr>
          <p:cNvSpPr txBox="1">
            <a:spLocks/>
          </p:cNvSpPr>
          <p:nvPr/>
        </p:nvSpPr>
        <p:spPr bwMode="auto">
          <a:xfrm>
            <a:off x="1296610" y="1125537"/>
            <a:ext cx="10270977" cy="57388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Introduction (3 min)</a:t>
            </a:r>
            <a:r>
              <a:rPr lang="en-US" altLang="zh-TW" sz="2400" kern="0" dirty="0">
                <a:latin typeface="Times New Roman" panose="02020603050405020304" pitchFamily="18" charset="0"/>
                <a:cs typeface="Times New Roman" panose="02020603050405020304" pitchFamily="18" charset="0"/>
              </a:rPr>
              <a:t> </a:t>
            </a:r>
          </a:p>
          <a:p>
            <a:r>
              <a:rPr lang="en-US" altLang="zh-CN" sz="2400" kern="0" dirty="0">
                <a:latin typeface="Times New Roman" panose="02020603050405020304" pitchFamily="18" charset="0"/>
                <a:cs typeface="Times New Roman" panose="02020603050405020304" pitchFamily="18" charset="0"/>
              </a:rPr>
              <a:t>SWE-bench: Real-world</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Issues</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Resolution (6 min)</a:t>
            </a:r>
          </a:p>
          <a:p>
            <a:pPr lvl="1"/>
            <a:r>
              <a:rPr lang="en-US" altLang="zh-CN" sz="2000" kern="0" dirty="0">
                <a:latin typeface="Times New Roman" panose="02020603050405020304" pitchFamily="18" charset="0"/>
                <a:cs typeface="Times New Roman" panose="02020603050405020304" pitchFamily="18" charset="0"/>
              </a:rPr>
              <a:t>SWE-bench overview (3 min)</a:t>
            </a:r>
          </a:p>
          <a:p>
            <a:pPr lvl="1"/>
            <a:r>
              <a:rPr lang="en-US" altLang="zh-CN" sz="2000" kern="0" dirty="0">
                <a:latin typeface="Times New Roman" panose="02020603050405020304" pitchFamily="18" charset="0"/>
                <a:cs typeface="Times New Roman" panose="02020603050405020304" pitchFamily="18" charset="0"/>
              </a:rPr>
              <a:t>Evaluation results (2 min)</a:t>
            </a:r>
          </a:p>
          <a:p>
            <a:pPr lvl="1"/>
            <a:r>
              <a:rPr lang="en-US" altLang="zh-CN" sz="2000" kern="0" dirty="0">
                <a:latin typeface="Times New Roman" panose="02020603050405020304" pitchFamily="18" charset="0"/>
                <a:cs typeface="Times New Roman" panose="02020603050405020304" pitchFamily="18" charset="0"/>
              </a:rPr>
              <a:t>SWE-bench family (1 min)</a:t>
            </a:r>
          </a:p>
          <a:p>
            <a:r>
              <a:rPr lang="en-US" altLang="zh-CN" sz="2400" kern="0" dirty="0">
                <a:latin typeface="Times New Roman" panose="02020603050405020304" pitchFamily="18" charset="0"/>
                <a:cs typeface="Times New Roman" panose="02020603050405020304" pitchFamily="18" charset="0"/>
              </a:rPr>
              <a:t>Two Paradigms: Pipeline-based vs. Agent-based (10 min)</a:t>
            </a:r>
          </a:p>
          <a:p>
            <a:pPr lvl="1"/>
            <a:r>
              <a:rPr lang="en-US" altLang="zh-CN" sz="2000" kern="0" dirty="0">
                <a:latin typeface="Times New Roman" panose="02020603050405020304" pitchFamily="18" charset="0"/>
                <a:cs typeface="Times New Roman" panose="02020603050405020304" pitchFamily="18" charset="0"/>
              </a:rPr>
              <a:t>Two paradigms (2 min)</a:t>
            </a:r>
          </a:p>
          <a:p>
            <a:pPr lvl="1"/>
            <a:r>
              <a:rPr lang="en-US" altLang="zh-CN" sz="2000" kern="0" dirty="0">
                <a:latin typeface="Times New Roman" panose="02020603050405020304" pitchFamily="18" charset="0"/>
                <a:cs typeface="Times New Roman" panose="02020603050405020304" pitchFamily="18" charset="0"/>
              </a:rPr>
              <a:t>SWE-agent: The agent-based approach (3 min)</a:t>
            </a:r>
          </a:p>
          <a:p>
            <a:pPr lvl="1"/>
            <a:r>
              <a:rPr lang="en-US" altLang="zh-CN" sz="2000" kern="0" dirty="0">
                <a:latin typeface="Times New Roman" panose="02020603050405020304" pitchFamily="18" charset="0"/>
                <a:cs typeface="Times New Roman" panose="02020603050405020304" pitchFamily="18" charset="0"/>
              </a:rPr>
              <a:t>Agentless: The pipeline-based approach (3 min)</a:t>
            </a:r>
          </a:p>
          <a:p>
            <a:pPr lvl="1"/>
            <a:r>
              <a:rPr lang="en-US" altLang="zh-CN" sz="2000" kern="0" dirty="0">
                <a:latin typeface="Times New Roman" panose="02020603050405020304" pitchFamily="18" charset="0"/>
                <a:cs typeface="Times New Roman" panose="02020603050405020304" pitchFamily="18" charset="0"/>
              </a:rPr>
              <a:t>Comparison (2 min)</a:t>
            </a:r>
            <a:endParaRPr lang="en-US" altLang="zh-CN" sz="2400" kern="0" dirty="0">
              <a:latin typeface="Times New Roman" panose="02020603050405020304" pitchFamily="18" charset="0"/>
              <a:cs typeface="Times New Roman" panose="02020603050405020304" pitchFamily="18" charset="0"/>
            </a:endParaRPr>
          </a:p>
          <a:p>
            <a:r>
              <a:rPr lang="en-US" altLang="zh-CN" sz="2400" kern="0" dirty="0">
                <a:latin typeface="Times New Roman" panose="02020603050405020304" pitchFamily="18" charset="0"/>
                <a:cs typeface="Times New Roman" panose="02020603050405020304" pitchFamily="18" charset="0"/>
              </a:rPr>
              <a:t>Conclusions (2 min)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5" name="灯片编号占位符 1">
            <a:extLst>
              <a:ext uri="{FF2B5EF4-FFF2-40B4-BE49-F238E27FC236}">
                <a16:creationId xmlns:a16="http://schemas.microsoft.com/office/drawing/2014/main" id="{C8F1849A-008E-6EF5-AB10-F46E38150EF0}"/>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3</a:t>
            </a:fld>
            <a:endParaRPr lang="zh-TW" altLang="en-US"/>
          </a:p>
        </p:txBody>
      </p:sp>
      <p:sp>
        <p:nvSpPr>
          <p:cNvPr id="7" name="內容版面配置區 2">
            <a:extLst>
              <a:ext uri="{FF2B5EF4-FFF2-40B4-BE49-F238E27FC236}">
                <a16:creationId xmlns:a16="http://schemas.microsoft.com/office/drawing/2014/main" id="{C255651E-265A-100F-4755-06C8521E5917}"/>
              </a:ext>
            </a:extLst>
          </p:cNvPr>
          <p:cNvSpPr txBox="1">
            <a:spLocks/>
          </p:cNvSpPr>
          <p:nvPr/>
        </p:nvSpPr>
        <p:spPr bwMode="auto">
          <a:xfrm>
            <a:off x="1296610" y="1125537"/>
            <a:ext cx="10270977" cy="57388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solidFill>
                  <a:srgbClr val="FF0000"/>
                </a:solidFill>
                <a:latin typeface="Times New Roman" panose="02020603050405020304" pitchFamily="18" charset="0"/>
                <a:cs typeface="Times New Roman" panose="02020603050405020304" pitchFamily="18" charset="0"/>
              </a:rPr>
              <a:t>Introduction (3 min)</a:t>
            </a:r>
            <a:r>
              <a:rPr lang="en-US" altLang="zh-TW" sz="2400" kern="0" dirty="0">
                <a:solidFill>
                  <a:srgbClr val="FF0000"/>
                </a:solidFill>
                <a:latin typeface="Times New Roman" panose="02020603050405020304" pitchFamily="18" charset="0"/>
                <a:cs typeface="Times New Roman" panose="02020603050405020304" pitchFamily="18" charset="0"/>
              </a:rPr>
              <a:t> </a:t>
            </a:r>
          </a:p>
          <a:p>
            <a:r>
              <a:rPr lang="en-US" altLang="zh-CN" sz="2400" kern="0" dirty="0">
                <a:latin typeface="Times New Roman" panose="02020603050405020304" pitchFamily="18" charset="0"/>
                <a:cs typeface="Times New Roman" panose="02020603050405020304" pitchFamily="18" charset="0"/>
              </a:rPr>
              <a:t>SWE-bench: Real-world</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Issues</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Resolution (6 min)</a:t>
            </a:r>
          </a:p>
          <a:p>
            <a:pPr lvl="1"/>
            <a:r>
              <a:rPr lang="en-US" altLang="zh-CN" sz="2000" kern="0" dirty="0">
                <a:latin typeface="Times New Roman" panose="02020603050405020304" pitchFamily="18" charset="0"/>
                <a:cs typeface="Times New Roman" panose="02020603050405020304" pitchFamily="18" charset="0"/>
              </a:rPr>
              <a:t>SWE-bench overview (3 min)</a:t>
            </a:r>
          </a:p>
          <a:p>
            <a:pPr lvl="1"/>
            <a:r>
              <a:rPr lang="en-US" altLang="zh-CN" sz="2000" kern="0" dirty="0">
                <a:latin typeface="Times New Roman" panose="02020603050405020304" pitchFamily="18" charset="0"/>
                <a:cs typeface="Times New Roman" panose="02020603050405020304" pitchFamily="18" charset="0"/>
              </a:rPr>
              <a:t>Evaluation results (2 min)</a:t>
            </a:r>
          </a:p>
          <a:p>
            <a:pPr lvl="1"/>
            <a:r>
              <a:rPr lang="en-US" altLang="zh-CN" sz="2000" kern="0" dirty="0">
                <a:latin typeface="Times New Roman" panose="02020603050405020304" pitchFamily="18" charset="0"/>
                <a:cs typeface="Times New Roman" panose="02020603050405020304" pitchFamily="18" charset="0"/>
              </a:rPr>
              <a:t>SWE-bench family (1 min)</a:t>
            </a:r>
          </a:p>
          <a:p>
            <a:r>
              <a:rPr lang="en-US" altLang="zh-CN" sz="2400" kern="0" dirty="0">
                <a:latin typeface="Times New Roman" panose="02020603050405020304" pitchFamily="18" charset="0"/>
                <a:cs typeface="Times New Roman" panose="02020603050405020304" pitchFamily="18" charset="0"/>
              </a:rPr>
              <a:t>Two Paradigms: Pipeline-based vs. Agent-based (10 min)</a:t>
            </a:r>
          </a:p>
          <a:p>
            <a:pPr lvl="1"/>
            <a:r>
              <a:rPr lang="en-US" altLang="zh-CN" sz="2000" kern="0" dirty="0">
                <a:latin typeface="Times New Roman" panose="02020603050405020304" pitchFamily="18" charset="0"/>
                <a:cs typeface="Times New Roman" panose="02020603050405020304" pitchFamily="18" charset="0"/>
              </a:rPr>
              <a:t>Two paradigms (2 min)</a:t>
            </a:r>
          </a:p>
          <a:p>
            <a:pPr lvl="1"/>
            <a:r>
              <a:rPr lang="en-US" altLang="zh-CN" sz="2000" kern="0" dirty="0">
                <a:latin typeface="Times New Roman" panose="02020603050405020304" pitchFamily="18" charset="0"/>
                <a:cs typeface="Times New Roman" panose="02020603050405020304" pitchFamily="18" charset="0"/>
              </a:rPr>
              <a:t>SWE-agent: The agent-based approach (3 min)</a:t>
            </a:r>
          </a:p>
          <a:p>
            <a:pPr lvl="1"/>
            <a:r>
              <a:rPr lang="en-US" altLang="zh-CN" sz="2000" kern="0" dirty="0">
                <a:latin typeface="Times New Roman" panose="02020603050405020304" pitchFamily="18" charset="0"/>
                <a:cs typeface="Times New Roman" panose="02020603050405020304" pitchFamily="18" charset="0"/>
              </a:rPr>
              <a:t>Agentless: The pipeline-based approach (3 min)</a:t>
            </a:r>
          </a:p>
          <a:p>
            <a:pPr lvl="1"/>
            <a:r>
              <a:rPr lang="en-US" altLang="zh-CN" sz="2000" kern="0" dirty="0">
                <a:latin typeface="Times New Roman" panose="02020603050405020304" pitchFamily="18" charset="0"/>
                <a:cs typeface="Times New Roman" panose="02020603050405020304" pitchFamily="18" charset="0"/>
              </a:rPr>
              <a:t>Comparison (2 min)</a:t>
            </a:r>
            <a:endParaRPr lang="en-US" altLang="zh-CN" sz="2400" kern="0" dirty="0">
              <a:latin typeface="Times New Roman" panose="02020603050405020304" pitchFamily="18" charset="0"/>
              <a:cs typeface="Times New Roman" panose="02020603050405020304" pitchFamily="18" charset="0"/>
            </a:endParaRPr>
          </a:p>
          <a:p>
            <a:r>
              <a:rPr lang="en-US" altLang="zh-CN" sz="2400" kern="0" dirty="0">
                <a:latin typeface="Times New Roman" panose="02020603050405020304" pitchFamily="18" charset="0"/>
                <a:cs typeface="Times New Roman" panose="02020603050405020304" pitchFamily="18" charset="0"/>
              </a:rPr>
              <a:t>Conclusions (2 min)</a:t>
            </a:r>
          </a:p>
        </p:txBody>
      </p:sp>
    </p:spTree>
    <p:extLst>
      <p:ext uri="{BB962C8B-B14F-4D97-AF65-F5344CB8AC3E}">
        <p14:creationId xmlns:p14="http://schemas.microsoft.com/office/powerpoint/2010/main" val="3549470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Introduction - LLM4Code </a:t>
            </a:r>
            <a:r>
              <a:rPr lang="en-US" dirty="0">
                <a:latin typeface="Times New Roman" panose="02020603050405020304" pitchFamily="18" charset="0"/>
                <a:cs typeface="Times New Roman" panose="02020603050405020304" pitchFamily="18" charset="0"/>
              </a:rPr>
              <a:t>(1/1)</a:t>
            </a:r>
          </a:p>
        </p:txBody>
      </p:sp>
      <p:sp>
        <p:nvSpPr>
          <p:cNvPr id="4" name="灯片编号占位符 1">
            <a:extLst>
              <a:ext uri="{FF2B5EF4-FFF2-40B4-BE49-F238E27FC236}">
                <a16:creationId xmlns:a16="http://schemas.microsoft.com/office/drawing/2014/main" id="{A4D8AE41-E9DB-DC4B-0813-8BAB041C681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4</a:t>
            </a:fld>
            <a:endParaRPr lang="zh-TW" altLang="en-US"/>
          </a:p>
        </p:txBody>
      </p:sp>
      <p:cxnSp>
        <p:nvCxnSpPr>
          <p:cNvPr id="12" name="Straight Arrow Connector 11">
            <a:extLst>
              <a:ext uri="{FF2B5EF4-FFF2-40B4-BE49-F238E27FC236}">
                <a16:creationId xmlns:a16="http://schemas.microsoft.com/office/drawing/2014/main" id="{1A6693D6-6850-7F66-D54A-6C9405845E78}"/>
              </a:ext>
            </a:extLst>
          </p:cNvPr>
          <p:cNvCxnSpPr>
            <a:cxnSpLocks/>
          </p:cNvCxnSpPr>
          <p:nvPr/>
        </p:nvCxnSpPr>
        <p:spPr bwMode="auto">
          <a:xfrm>
            <a:off x="554182" y="4391891"/>
            <a:ext cx="10654146" cy="0"/>
          </a:xfrm>
          <a:prstGeom prst="straightConnector1">
            <a:avLst/>
          </a:prstGeom>
          <a:ln>
            <a:headEnd type="none" w="med" len="med"/>
            <a:tailEnd type="triangle"/>
          </a:ln>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F5ADBC65-29CA-2494-3AD8-71D16C6B2875}"/>
              </a:ext>
            </a:extLst>
          </p:cNvPr>
          <p:cNvCxnSpPr/>
          <p:nvPr/>
        </p:nvCxnSpPr>
        <p:spPr bwMode="auto">
          <a:xfrm>
            <a:off x="1579419" y="4391891"/>
            <a:ext cx="0" cy="0"/>
          </a:xfrm>
          <a:prstGeom prst="line">
            <a:avLst/>
          </a:prstGeom>
          <a:noFill/>
          <a:ln w="15875" cap="flat" cmpd="sng" algn="ctr">
            <a:solidFill>
              <a:srgbClr val="FF0000"/>
            </a:solidFill>
            <a:prstDash val="solid"/>
            <a:round/>
            <a:headEnd type="none" w="med" len="med"/>
            <a:tailEnd type="none" w="med" len="med"/>
          </a:ln>
          <a:effectLst/>
        </p:spPr>
      </p:cxnSp>
      <p:cxnSp>
        <p:nvCxnSpPr>
          <p:cNvPr id="17" name="Straight Connector 16">
            <a:extLst>
              <a:ext uri="{FF2B5EF4-FFF2-40B4-BE49-F238E27FC236}">
                <a16:creationId xmlns:a16="http://schemas.microsoft.com/office/drawing/2014/main" id="{FB05506F-3F89-D1CD-56F2-C6D4989C5476}"/>
              </a:ext>
            </a:extLst>
          </p:cNvPr>
          <p:cNvCxnSpPr>
            <a:cxnSpLocks/>
          </p:cNvCxnSpPr>
          <p:nvPr/>
        </p:nvCxnSpPr>
        <p:spPr bwMode="auto">
          <a:xfrm>
            <a:off x="1634837" y="4253346"/>
            <a:ext cx="0" cy="138545"/>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C1C3FF1D-AB5C-C786-AD76-43BAF1C70F3E}"/>
              </a:ext>
            </a:extLst>
          </p:cNvPr>
          <p:cNvSpPr txBox="1"/>
          <p:nvPr/>
        </p:nvSpPr>
        <p:spPr>
          <a:xfrm>
            <a:off x="1286023" y="4477389"/>
            <a:ext cx="646331" cy="369332"/>
          </a:xfrm>
          <a:prstGeom prst="rect">
            <a:avLst/>
          </a:prstGeom>
          <a:noFill/>
        </p:spPr>
        <p:txBody>
          <a:bodyPr wrap="none" rtlCol="0" anchor="ctr" anchorCtr="1">
            <a:spAutoFit/>
          </a:bodyPr>
          <a:lstStyle/>
          <a:p>
            <a:r>
              <a:rPr lang="en-US" altLang="zh-CN" dirty="0">
                <a:latin typeface="Times New Roman" panose="02020603050405020304" pitchFamily="18" charset="0"/>
                <a:ea typeface="標楷體" pitchFamily="65" charset="-120"/>
                <a:cs typeface="Times New Roman" panose="02020603050405020304" pitchFamily="18" charset="0"/>
              </a:rPr>
              <a:t>2021</a:t>
            </a:r>
            <a:endParaRPr lang="en-CN" dirty="0">
              <a:latin typeface="Times New Roman" panose="02020603050405020304" pitchFamily="18" charset="0"/>
              <a:ea typeface="標楷體" pitchFamily="65" charset="-120"/>
              <a:cs typeface="Times New Roman" panose="02020603050405020304" pitchFamily="18" charset="0"/>
            </a:endParaRPr>
          </a:p>
        </p:txBody>
      </p:sp>
      <p:cxnSp>
        <p:nvCxnSpPr>
          <p:cNvPr id="20" name="Straight Connector 19">
            <a:extLst>
              <a:ext uri="{FF2B5EF4-FFF2-40B4-BE49-F238E27FC236}">
                <a16:creationId xmlns:a16="http://schemas.microsoft.com/office/drawing/2014/main" id="{6F445E56-1A62-3689-C30D-EDB097D4A5EE}"/>
              </a:ext>
            </a:extLst>
          </p:cNvPr>
          <p:cNvCxnSpPr/>
          <p:nvPr/>
        </p:nvCxnSpPr>
        <p:spPr bwMode="auto">
          <a:xfrm>
            <a:off x="4447310" y="4424993"/>
            <a:ext cx="0" cy="0"/>
          </a:xfrm>
          <a:prstGeom prst="line">
            <a:avLst/>
          </a:prstGeom>
          <a:noFill/>
          <a:ln w="15875" cap="flat" cmpd="sng" algn="ctr">
            <a:solidFill>
              <a:srgbClr val="FF0000"/>
            </a:solidFill>
            <a:prstDash val="solid"/>
            <a:round/>
            <a:headEnd type="none" w="med" len="med"/>
            <a:tailEnd type="none" w="med" len="med"/>
          </a:ln>
          <a:effectLst/>
        </p:spPr>
      </p:cxnSp>
      <p:cxnSp>
        <p:nvCxnSpPr>
          <p:cNvPr id="21" name="Straight Connector 20">
            <a:extLst>
              <a:ext uri="{FF2B5EF4-FFF2-40B4-BE49-F238E27FC236}">
                <a16:creationId xmlns:a16="http://schemas.microsoft.com/office/drawing/2014/main" id="{96F05514-9B87-5BF8-6E11-376BD062F6D1}"/>
              </a:ext>
            </a:extLst>
          </p:cNvPr>
          <p:cNvCxnSpPr>
            <a:cxnSpLocks/>
          </p:cNvCxnSpPr>
          <p:nvPr/>
        </p:nvCxnSpPr>
        <p:spPr bwMode="auto">
          <a:xfrm>
            <a:off x="4502728" y="4286448"/>
            <a:ext cx="0" cy="138545"/>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22" name="TextBox 21">
            <a:extLst>
              <a:ext uri="{FF2B5EF4-FFF2-40B4-BE49-F238E27FC236}">
                <a16:creationId xmlns:a16="http://schemas.microsoft.com/office/drawing/2014/main" id="{FD774975-6C87-E369-17C7-6EC8A75FAB3C}"/>
              </a:ext>
            </a:extLst>
          </p:cNvPr>
          <p:cNvSpPr txBox="1"/>
          <p:nvPr/>
        </p:nvSpPr>
        <p:spPr>
          <a:xfrm>
            <a:off x="4153914" y="4510491"/>
            <a:ext cx="646331" cy="369332"/>
          </a:xfrm>
          <a:prstGeom prst="rect">
            <a:avLst/>
          </a:prstGeom>
          <a:noFill/>
        </p:spPr>
        <p:txBody>
          <a:bodyPr wrap="none" rtlCol="0" anchor="ctr" anchorCtr="1">
            <a:spAutoFit/>
          </a:bodyPr>
          <a:lstStyle/>
          <a:p>
            <a:r>
              <a:rPr lang="en-US" altLang="zh-CN" dirty="0">
                <a:latin typeface="Times New Roman" panose="02020603050405020304" pitchFamily="18" charset="0"/>
                <a:ea typeface="標楷體" pitchFamily="65" charset="-120"/>
                <a:cs typeface="Times New Roman" panose="02020603050405020304" pitchFamily="18" charset="0"/>
              </a:rPr>
              <a:t>2022</a:t>
            </a:r>
            <a:endParaRPr lang="en-CN" dirty="0">
              <a:latin typeface="Times New Roman" panose="02020603050405020304" pitchFamily="18" charset="0"/>
              <a:ea typeface="標楷體" pitchFamily="65" charset="-120"/>
              <a:cs typeface="Times New Roman" panose="02020603050405020304" pitchFamily="18" charset="0"/>
            </a:endParaRPr>
          </a:p>
        </p:txBody>
      </p:sp>
      <p:sp>
        <p:nvSpPr>
          <p:cNvPr id="24" name="Rectangular Callout 23">
            <a:extLst>
              <a:ext uri="{FF2B5EF4-FFF2-40B4-BE49-F238E27FC236}">
                <a16:creationId xmlns:a16="http://schemas.microsoft.com/office/drawing/2014/main" id="{DCF14223-B6C7-0B74-679A-D63ACB62959B}"/>
              </a:ext>
            </a:extLst>
          </p:cNvPr>
          <p:cNvSpPr/>
          <p:nvPr/>
        </p:nvSpPr>
        <p:spPr bwMode="auto">
          <a:xfrm>
            <a:off x="969823" y="3255819"/>
            <a:ext cx="1981194" cy="712537"/>
          </a:xfrm>
          <a:prstGeom prst="wedgeRectCallout">
            <a:avLst>
              <a:gd name="adj1" fmla="val -34469"/>
              <a:gd name="adj2" fmla="val 69284"/>
            </a:avLst>
          </a:prstGeom>
          <a:noFill/>
          <a:ln w="158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CN" sz="1800" b="1" i="0" u="none" strike="noStrike" cap="none" normalizeH="0" baseline="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25" name="TextBox 24">
            <a:extLst>
              <a:ext uri="{FF2B5EF4-FFF2-40B4-BE49-F238E27FC236}">
                <a16:creationId xmlns:a16="http://schemas.microsoft.com/office/drawing/2014/main" id="{00AE5CFC-73F7-7027-DAF7-150D8B58E21D}"/>
              </a:ext>
            </a:extLst>
          </p:cNvPr>
          <p:cNvSpPr txBox="1"/>
          <p:nvPr/>
        </p:nvSpPr>
        <p:spPr>
          <a:xfrm>
            <a:off x="993053" y="3288921"/>
            <a:ext cx="1981194" cy="646331"/>
          </a:xfrm>
          <a:prstGeom prst="rect">
            <a:avLst/>
          </a:prstGeom>
          <a:noFill/>
        </p:spPr>
        <p:txBody>
          <a:bodyPr wrap="squar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Function-level Code Generation</a:t>
            </a:r>
          </a:p>
        </p:txBody>
      </p:sp>
      <p:sp>
        <p:nvSpPr>
          <p:cNvPr id="27" name="Rectangle 26">
            <a:extLst>
              <a:ext uri="{FF2B5EF4-FFF2-40B4-BE49-F238E27FC236}">
                <a16:creationId xmlns:a16="http://schemas.microsoft.com/office/drawing/2014/main" id="{414E6FD9-63C4-0C45-5F10-2CD98F0228F2}"/>
              </a:ext>
            </a:extLst>
          </p:cNvPr>
          <p:cNvSpPr/>
          <p:nvPr/>
        </p:nvSpPr>
        <p:spPr bwMode="auto">
          <a:xfrm>
            <a:off x="993053" y="4879823"/>
            <a:ext cx="1833275" cy="896455"/>
          </a:xfrm>
          <a:prstGeom prst="rect">
            <a:avLst/>
          </a:prstGeom>
          <a:noFill/>
          <a:ln w="158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CN" sz="1800" b="1" i="0" u="none" strike="noStrike" cap="none" normalizeH="0" baseline="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28" name="TextBox 27">
            <a:extLst>
              <a:ext uri="{FF2B5EF4-FFF2-40B4-BE49-F238E27FC236}">
                <a16:creationId xmlns:a16="http://schemas.microsoft.com/office/drawing/2014/main" id="{9FF77BA2-EC9C-4A84-9D84-E0EAFC9A927D}"/>
              </a:ext>
            </a:extLst>
          </p:cNvPr>
          <p:cNvSpPr txBox="1"/>
          <p:nvPr/>
        </p:nvSpPr>
        <p:spPr>
          <a:xfrm>
            <a:off x="969823" y="4879823"/>
            <a:ext cx="1287532" cy="923330"/>
          </a:xfrm>
          <a:prstGeom prst="rect">
            <a:avLst/>
          </a:prstGeom>
          <a:noFill/>
        </p:spPr>
        <p:txBody>
          <a:bodyPr wrap="non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HumanEval</a:t>
            </a:r>
          </a:p>
          <a:p>
            <a:r>
              <a:rPr lang="en-CN" dirty="0">
                <a:latin typeface="Times New Roman" panose="02020603050405020304" pitchFamily="18" charset="0"/>
                <a:ea typeface="標楷體" pitchFamily="65" charset="-120"/>
                <a:cs typeface="Times New Roman" panose="02020603050405020304" pitchFamily="18" charset="0"/>
              </a:rPr>
              <a:t>MBPP</a:t>
            </a:r>
          </a:p>
          <a:p>
            <a:r>
              <a:rPr lang="en-CN" dirty="0">
                <a:latin typeface="Times New Roman" panose="02020603050405020304" pitchFamily="18" charset="0"/>
                <a:ea typeface="標楷體" pitchFamily="65" charset="-120"/>
                <a:cs typeface="Times New Roman" panose="02020603050405020304" pitchFamily="18" charset="0"/>
              </a:rPr>
              <a:t>APPS</a:t>
            </a:r>
          </a:p>
        </p:txBody>
      </p:sp>
      <p:sp>
        <p:nvSpPr>
          <p:cNvPr id="29" name="Rectangular Callout 28">
            <a:extLst>
              <a:ext uri="{FF2B5EF4-FFF2-40B4-BE49-F238E27FC236}">
                <a16:creationId xmlns:a16="http://schemas.microsoft.com/office/drawing/2014/main" id="{9FDAFF0B-15CB-920A-F879-0236A5560B50}"/>
              </a:ext>
            </a:extLst>
          </p:cNvPr>
          <p:cNvSpPr/>
          <p:nvPr/>
        </p:nvSpPr>
        <p:spPr bwMode="auto">
          <a:xfrm>
            <a:off x="3588332" y="3255819"/>
            <a:ext cx="1981194" cy="712537"/>
          </a:xfrm>
          <a:prstGeom prst="wedgeRectCallout">
            <a:avLst>
              <a:gd name="adj1" fmla="val -34469"/>
              <a:gd name="adj2" fmla="val 69284"/>
            </a:avLst>
          </a:prstGeom>
          <a:noFill/>
          <a:ln w="158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CN" sz="1800" b="1" i="0" u="none" strike="noStrike" cap="none" normalizeH="0" baseline="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30" name="TextBox 29">
            <a:extLst>
              <a:ext uri="{FF2B5EF4-FFF2-40B4-BE49-F238E27FC236}">
                <a16:creationId xmlns:a16="http://schemas.microsoft.com/office/drawing/2014/main" id="{B3C2C1D4-3A2E-8FC3-09DC-9BC5BB47581B}"/>
              </a:ext>
            </a:extLst>
          </p:cNvPr>
          <p:cNvSpPr txBox="1"/>
          <p:nvPr/>
        </p:nvSpPr>
        <p:spPr>
          <a:xfrm>
            <a:off x="3611562" y="3288921"/>
            <a:ext cx="1981194" cy="646331"/>
          </a:xfrm>
          <a:prstGeom prst="rect">
            <a:avLst/>
          </a:prstGeom>
          <a:noFill/>
        </p:spPr>
        <p:txBody>
          <a:bodyPr wrap="squar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Class-level Code Generation</a:t>
            </a:r>
          </a:p>
        </p:txBody>
      </p:sp>
      <p:sp>
        <p:nvSpPr>
          <p:cNvPr id="31" name="Rectangle 30">
            <a:extLst>
              <a:ext uri="{FF2B5EF4-FFF2-40B4-BE49-F238E27FC236}">
                <a16:creationId xmlns:a16="http://schemas.microsoft.com/office/drawing/2014/main" id="{F4C56695-2870-89B0-31DA-FA11ADDF151C}"/>
              </a:ext>
            </a:extLst>
          </p:cNvPr>
          <p:cNvSpPr/>
          <p:nvPr/>
        </p:nvSpPr>
        <p:spPr bwMode="auto">
          <a:xfrm>
            <a:off x="3611562" y="4879823"/>
            <a:ext cx="1833275" cy="896455"/>
          </a:xfrm>
          <a:prstGeom prst="rect">
            <a:avLst/>
          </a:prstGeom>
          <a:noFill/>
          <a:ln w="158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CN" sz="1800" b="1" i="0" u="none" strike="noStrike" cap="none" normalizeH="0" baseline="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32" name="TextBox 31">
            <a:extLst>
              <a:ext uri="{FF2B5EF4-FFF2-40B4-BE49-F238E27FC236}">
                <a16:creationId xmlns:a16="http://schemas.microsoft.com/office/drawing/2014/main" id="{74CDD3EE-775F-F9D2-BB09-11B62965194C}"/>
              </a:ext>
            </a:extLst>
          </p:cNvPr>
          <p:cNvSpPr txBox="1"/>
          <p:nvPr/>
        </p:nvSpPr>
        <p:spPr>
          <a:xfrm>
            <a:off x="3588332" y="5129948"/>
            <a:ext cx="1107996" cy="369332"/>
          </a:xfrm>
          <a:prstGeom prst="rect">
            <a:avLst/>
          </a:prstGeom>
          <a:noFill/>
        </p:spPr>
        <p:txBody>
          <a:bodyPr wrap="non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ClassEval</a:t>
            </a:r>
          </a:p>
        </p:txBody>
      </p:sp>
      <p:cxnSp>
        <p:nvCxnSpPr>
          <p:cNvPr id="33" name="Straight Connector 32">
            <a:extLst>
              <a:ext uri="{FF2B5EF4-FFF2-40B4-BE49-F238E27FC236}">
                <a16:creationId xmlns:a16="http://schemas.microsoft.com/office/drawing/2014/main" id="{A08DF20D-2E9C-F0A1-9FCE-8C8A96EF06D2}"/>
              </a:ext>
            </a:extLst>
          </p:cNvPr>
          <p:cNvCxnSpPr/>
          <p:nvPr/>
        </p:nvCxnSpPr>
        <p:spPr bwMode="auto">
          <a:xfrm>
            <a:off x="7157905" y="4424993"/>
            <a:ext cx="0" cy="0"/>
          </a:xfrm>
          <a:prstGeom prst="line">
            <a:avLst/>
          </a:prstGeom>
          <a:noFill/>
          <a:ln w="15875" cap="flat" cmpd="sng" algn="ctr">
            <a:solidFill>
              <a:srgbClr val="FF0000"/>
            </a:solidFill>
            <a:prstDash val="solid"/>
            <a:round/>
            <a:headEnd type="none" w="med" len="med"/>
            <a:tailEnd type="none" w="med" len="med"/>
          </a:ln>
          <a:effectLst/>
        </p:spPr>
      </p:cxnSp>
      <p:cxnSp>
        <p:nvCxnSpPr>
          <p:cNvPr id="34" name="Straight Connector 33">
            <a:extLst>
              <a:ext uri="{FF2B5EF4-FFF2-40B4-BE49-F238E27FC236}">
                <a16:creationId xmlns:a16="http://schemas.microsoft.com/office/drawing/2014/main" id="{1F2A00AF-3E5B-97D7-E41D-979BDB4C7BF2}"/>
              </a:ext>
            </a:extLst>
          </p:cNvPr>
          <p:cNvCxnSpPr>
            <a:cxnSpLocks/>
          </p:cNvCxnSpPr>
          <p:nvPr/>
        </p:nvCxnSpPr>
        <p:spPr bwMode="auto">
          <a:xfrm>
            <a:off x="7213323" y="4286448"/>
            <a:ext cx="0" cy="138545"/>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35" name="TextBox 34">
            <a:extLst>
              <a:ext uri="{FF2B5EF4-FFF2-40B4-BE49-F238E27FC236}">
                <a16:creationId xmlns:a16="http://schemas.microsoft.com/office/drawing/2014/main" id="{F5C88586-1265-95DC-347C-D7310D0CBED3}"/>
              </a:ext>
            </a:extLst>
          </p:cNvPr>
          <p:cNvSpPr txBox="1"/>
          <p:nvPr/>
        </p:nvSpPr>
        <p:spPr>
          <a:xfrm>
            <a:off x="6864509" y="4510491"/>
            <a:ext cx="646331" cy="369332"/>
          </a:xfrm>
          <a:prstGeom prst="rect">
            <a:avLst/>
          </a:prstGeom>
          <a:noFill/>
        </p:spPr>
        <p:txBody>
          <a:bodyPr wrap="none" rtlCol="0" anchor="ctr" anchorCtr="1">
            <a:spAutoFit/>
          </a:bodyPr>
          <a:lstStyle/>
          <a:p>
            <a:r>
              <a:rPr lang="en-US" altLang="zh-CN" dirty="0">
                <a:latin typeface="Times New Roman" panose="02020603050405020304" pitchFamily="18" charset="0"/>
                <a:ea typeface="標楷體" pitchFamily="65" charset="-120"/>
                <a:cs typeface="Times New Roman" panose="02020603050405020304" pitchFamily="18" charset="0"/>
              </a:rPr>
              <a:t>2023</a:t>
            </a:r>
            <a:endParaRPr lang="en-CN" dirty="0">
              <a:latin typeface="Times New Roman" panose="02020603050405020304" pitchFamily="18" charset="0"/>
              <a:ea typeface="標楷體" pitchFamily="65" charset="-120"/>
              <a:cs typeface="Times New Roman" panose="02020603050405020304" pitchFamily="18" charset="0"/>
            </a:endParaRPr>
          </a:p>
        </p:txBody>
      </p:sp>
      <p:sp>
        <p:nvSpPr>
          <p:cNvPr id="36" name="Rectangular Callout 35">
            <a:extLst>
              <a:ext uri="{FF2B5EF4-FFF2-40B4-BE49-F238E27FC236}">
                <a16:creationId xmlns:a16="http://schemas.microsoft.com/office/drawing/2014/main" id="{E7135B46-7209-8CD2-B01F-98580DF81769}"/>
              </a:ext>
            </a:extLst>
          </p:cNvPr>
          <p:cNvSpPr/>
          <p:nvPr/>
        </p:nvSpPr>
        <p:spPr bwMode="auto">
          <a:xfrm>
            <a:off x="6298927" y="3255819"/>
            <a:ext cx="1981194" cy="712537"/>
          </a:xfrm>
          <a:prstGeom prst="wedgeRectCallout">
            <a:avLst>
              <a:gd name="adj1" fmla="val -34469"/>
              <a:gd name="adj2" fmla="val 69284"/>
            </a:avLst>
          </a:prstGeom>
          <a:noFill/>
          <a:ln w="158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CN" sz="1800" b="1" i="0" u="none" strike="noStrike" cap="none" normalizeH="0" baseline="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37" name="TextBox 36">
            <a:extLst>
              <a:ext uri="{FF2B5EF4-FFF2-40B4-BE49-F238E27FC236}">
                <a16:creationId xmlns:a16="http://schemas.microsoft.com/office/drawing/2014/main" id="{53797257-88B6-F7A4-069F-A1D3505699D5}"/>
              </a:ext>
            </a:extLst>
          </p:cNvPr>
          <p:cNvSpPr txBox="1"/>
          <p:nvPr/>
        </p:nvSpPr>
        <p:spPr>
          <a:xfrm>
            <a:off x="6322157" y="3288921"/>
            <a:ext cx="1981194" cy="646331"/>
          </a:xfrm>
          <a:prstGeom prst="rect">
            <a:avLst/>
          </a:prstGeom>
          <a:noFill/>
        </p:spPr>
        <p:txBody>
          <a:bodyPr wrap="squar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Repo-level Code Generation</a:t>
            </a:r>
          </a:p>
        </p:txBody>
      </p:sp>
      <p:sp>
        <p:nvSpPr>
          <p:cNvPr id="38" name="Rectangle 37">
            <a:extLst>
              <a:ext uri="{FF2B5EF4-FFF2-40B4-BE49-F238E27FC236}">
                <a16:creationId xmlns:a16="http://schemas.microsoft.com/office/drawing/2014/main" id="{08C81CC8-E3B2-6B61-C875-39B18E3DCE38}"/>
              </a:ext>
            </a:extLst>
          </p:cNvPr>
          <p:cNvSpPr/>
          <p:nvPr/>
        </p:nvSpPr>
        <p:spPr bwMode="auto">
          <a:xfrm>
            <a:off x="6322157" y="4879823"/>
            <a:ext cx="1833275" cy="896455"/>
          </a:xfrm>
          <a:prstGeom prst="rect">
            <a:avLst/>
          </a:prstGeom>
          <a:noFill/>
          <a:ln w="158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CN" sz="1800" b="1" i="0" u="none" strike="noStrike" cap="none" normalizeH="0" baseline="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39" name="TextBox 38">
            <a:extLst>
              <a:ext uri="{FF2B5EF4-FFF2-40B4-BE49-F238E27FC236}">
                <a16:creationId xmlns:a16="http://schemas.microsoft.com/office/drawing/2014/main" id="{0484A2B9-3974-8FA2-D381-502BF75BE47B}"/>
              </a:ext>
            </a:extLst>
          </p:cNvPr>
          <p:cNvSpPr txBox="1"/>
          <p:nvPr/>
        </p:nvSpPr>
        <p:spPr>
          <a:xfrm>
            <a:off x="6298927" y="4852950"/>
            <a:ext cx="1620957" cy="923330"/>
          </a:xfrm>
          <a:prstGeom prst="rect">
            <a:avLst/>
          </a:prstGeom>
          <a:noFill/>
        </p:spPr>
        <p:txBody>
          <a:bodyPr wrap="non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RepoBench</a:t>
            </a:r>
          </a:p>
          <a:p>
            <a:r>
              <a:rPr lang="en-CN" dirty="0">
                <a:latin typeface="Times New Roman" panose="02020603050405020304" pitchFamily="18" charset="0"/>
                <a:ea typeface="標楷體" pitchFamily="65" charset="-120"/>
                <a:cs typeface="Times New Roman" panose="02020603050405020304" pitchFamily="18" charset="0"/>
              </a:rPr>
              <a:t>CrossCodeEval</a:t>
            </a:r>
            <a:br>
              <a:rPr lang="en-CN" dirty="0">
                <a:latin typeface="Times New Roman" panose="02020603050405020304" pitchFamily="18" charset="0"/>
                <a:ea typeface="標楷體" pitchFamily="65" charset="-120"/>
                <a:cs typeface="Times New Roman" panose="02020603050405020304" pitchFamily="18" charset="0"/>
              </a:rPr>
            </a:br>
            <a:r>
              <a:rPr lang="en-CN" dirty="0">
                <a:latin typeface="Times New Roman" panose="02020603050405020304" pitchFamily="18" charset="0"/>
                <a:ea typeface="標楷體" pitchFamily="65" charset="-120"/>
                <a:cs typeface="Times New Roman" panose="02020603050405020304" pitchFamily="18" charset="0"/>
              </a:rPr>
              <a:t>BigCodeBench</a:t>
            </a:r>
          </a:p>
        </p:txBody>
      </p:sp>
      <p:cxnSp>
        <p:nvCxnSpPr>
          <p:cNvPr id="40" name="Straight Connector 39">
            <a:extLst>
              <a:ext uri="{FF2B5EF4-FFF2-40B4-BE49-F238E27FC236}">
                <a16:creationId xmlns:a16="http://schemas.microsoft.com/office/drawing/2014/main" id="{357E7D13-2D7C-D3F7-6F88-C8D161DE894D}"/>
              </a:ext>
            </a:extLst>
          </p:cNvPr>
          <p:cNvCxnSpPr/>
          <p:nvPr/>
        </p:nvCxnSpPr>
        <p:spPr bwMode="auto">
          <a:xfrm>
            <a:off x="9799663" y="4424993"/>
            <a:ext cx="0" cy="0"/>
          </a:xfrm>
          <a:prstGeom prst="line">
            <a:avLst/>
          </a:prstGeom>
          <a:noFill/>
          <a:ln w="15875" cap="flat" cmpd="sng" algn="ctr">
            <a:solidFill>
              <a:srgbClr val="FF0000"/>
            </a:solidFill>
            <a:prstDash val="solid"/>
            <a:round/>
            <a:headEnd type="none" w="med" len="med"/>
            <a:tailEnd type="none" w="med" len="med"/>
          </a:ln>
          <a:effectLst/>
        </p:spPr>
      </p:cxnSp>
      <p:cxnSp>
        <p:nvCxnSpPr>
          <p:cNvPr id="41" name="Straight Connector 40">
            <a:extLst>
              <a:ext uri="{FF2B5EF4-FFF2-40B4-BE49-F238E27FC236}">
                <a16:creationId xmlns:a16="http://schemas.microsoft.com/office/drawing/2014/main" id="{E379ED0F-6017-D7E1-2A00-A3B3DD85D651}"/>
              </a:ext>
            </a:extLst>
          </p:cNvPr>
          <p:cNvCxnSpPr>
            <a:cxnSpLocks/>
          </p:cNvCxnSpPr>
          <p:nvPr/>
        </p:nvCxnSpPr>
        <p:spPr bwMode="auto">
          <a:xfrm>
            <a:off x="9855081" y="4286448"/>
            <a:ext cx="0" cy="138545"/>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42" name="TextBox 41">
            <a:extLst>
              <a:ext uri="{FF2B5EF4-FFF2-40B4-BE49-F238E27FC236}">
                <a16:creationId xmlns:a16="http://schemas.microsoft.com/office/drawing/2014/main" id="{C13E61D4-31C7-3584-34B9-ABFDCE15248D}"/>
              </a:ext>
            </a:extLst>
          </p:cNvPr>
          <p:cNvSpPr txBox="1"/>
          <p:nvPr/>
        </p:nvSpPr>
        <p:spPr>
          <a:xfrm>
            <a:off x="9506267" y="4510491"/>
            <a:ext cx="646331" cy="369332"/>
          </a:xfrm>
          <a:prstGeom prst="rect">
            <a:avLst/>
          </a:prstGeom>
          <a:noFill/>
        </p:spPr>
        <p:txBody>
          <a:bodyPr wrap="none" rtlCol="0" anchor="ctr" anchorCtr="1">
            <a:spAutoFit/>
          </a:bodyPr>
          <a:lstStyle/>
          <a:p>
            <a:r>
              <a:rPr lang="en-US" altLang="zh-CN" dirty="0">
                <a:latin typeface="Times New Roman" panose="02020603050405020304" pitchFamily="18" charset="0"/>
                <a:ea typeface="標楷體" pitchFamily="65" charset="-120"/>
                <a:cs typeface="Times New Roman" panose="02020603050405020304" pitchFamily="18" charset="0"/>
              </a:rPr>
              <a:t>2024</a:t>
            </a:r>
            <a:endParaRPr lang="en-CN" dirty="0">
              <a:latin typeface="Times New Roman" panose="02020603050405020304" pitchFamily="18" charset="0"/>
              <a:ea typeface="標楷體" pitchFamily="65" charset="-120"/>
              <a:cs typeface="Times New Roman" panose="02020603050405020304" pitchFamily="18" charset="0"/>
            </a:endParaRPr>
          </a:p>
        </p:txBody>
      </p:sp>
      <p:sp>
        <p:nvSpPr>
          <p:cNvPr id="43" name="Rectangular Callout 42">
            <a:extLst>
              <a:ext uri="{FF2B5EF4-FFF2-40B4-BE49-F238E27FC236}">
                <a16:creationId xmlns:a16="http://schemas.microsoft.com/office/drawing/2014/main" id="{537B5078-B2A4-0E9F-F404-3630089AE763}"/>
              </a:ext>
            </a:extLst>
          </p:cNvPr>
          <p:cNvSpPr/>
          <p:nvPr/>
        </p:nvSpPr>
        <p:spPr bwMode="auto">
          <a:xfrm>
            <a:off x="8940685" y="3255819"/>
            <a:ext cx="1981194" cy="712537"/>
          </a:xfrm>
          <a:prstGeom prst="wedgeRectCallout">
            <a:avLst>
              <a:gd name="adj1" fmla="val -34469"/>
              <a:gd name="adj2" fmla="val 69284"/>
            </a:avLst>
          </a:prstGeom>
          <a:noFill/>
          <a:ln w="158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CN" sz="1800" b="1" i="0" u="none" strike="noStrike" cap="none" normalizeH="0" baseline="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44" name="TextBox 43">
            <a:extLst>
              <a:ext uri="{FF2B5EF4-FFF2-40B4-BE49-F238E27FC236}">
                <a16:creationId xmlns:a16="http://schemas.microsoft.com/office/drawing/2014/main" id="{F5E07A75-8159-F6C9-C936-988EA3D36BFF}"/>
              </a:ext>
            </a:extLst>
          </p:cNvPr>
          <p:cNvSpPr txBox="1"/>
          <p:nvPr/>
        </p:nvSpPr>
        <p:spPr>
          <a:xfrm>
            <a:off x="8809077" y="3305794"/>
            <a:ext cx="2244409" cy="646331"/>
          </a:xfrm>
          <a:prstGeom prst="rect">
            <a:avLst/>
          </a:prstGeom>
          <a:noFill/>
        </p:spPr>
        <p:txBody>
          <a:bodyPr wrap="squar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Real-world Github Issues Resolution</a:t>
            </a:r>
          </a:p>
        </p:txBody>
      </p:sp>
      <p:sp>
        <p:nvSpPr>
          <p:cNvPr id="45" name="Rectangle 44">
            <a:extLst>
              <a:ext uri="{FF2B5EF4-FFF2-40B4-BE49-F238E27FC236}">
                <a16:creationId xmlns:a16="http://schemas.microsoft.com/office/drawing/2014/main" id="{E85C15BE-2123-9BE4-550F-EF10593B50AA}"/>
              </a:ext>
            </a:extLst>
          </p:cNvPr>
          <p:cNvSpPr/>
          <p:nvPr/>
        </p:nvSpPr>
        <p:spPr bwMode="auto">
          <a:xfrm>
            <a:off x="8963915" y="4852949"/>
            <a:ext cx="1833275" cy="923329"/>
          </a:xfrm>
          <a:prstGeom prst="rect">
            <a:avLst/>
          </a:prstGeom>
          <a:noFill/>
          <a:ln w="158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CN" sz="1800" b="1" i="0" u="none" strike="noStrike" cap="none" normalizeH="0" baseline="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46" name="TextBox 45">
            <a:extLst>
              <a:ext uri="{FF2B5EF4-FFF2-40B4-BE49-F238E27FC236}">
                <a16:creationId xmlns:a16="http://schemas.microsoft.com/office/drawing/2014/main" id="{A6D4293F-06D6-47C4-CF4F-BAEA6A92735B}"/>
              </a:ext>
            </a:extLst>
          </p:cNvPr>
          <p:cNvSpPr txBox="1"/>
          <p:nvPr/>
        </p:nvSpPr>
        <p:spPr>
          <a:xfrm>
            <a:off x="8940685" y="5129948"/>
            <a:ext cx="1300356" cy="369332"/>
          </a:xfrm>
          <a:prstGeom prst="rect">
            <a:avLst/>
          </a:prstGeom>
          <a:noFill/>
        </p:spPr>
        <p:txBody>
          <a:bodyPr wrap="non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SWE-bench</a:t>
            </a:r>
          </a:p>
        </p:txBody>
      </p:sp>
      <p:sp>
        <p:nvSpPr>
          <p:cNvPr id="50" name="Content Placeholder 2">
            <a:extLst>
              <a:ext uri="{FF2B5EF4-FFF2-40B4-BE49-F238E27FC236}">
                <a16:creationId xmlns:a16="http://schemas.microsoft.com/office/drawing/2014/main" id="{F89DB706-6EC3-E25E-994C-0C6F3B418753}"/>
              </a:ext>
            </a:extLst>
          </p:cNvPr>
          <p:cNvSpPr>
            <a:spLocks noGrp="1"/>
          </p:cNvSpPr>
          <p:nvPr>
            <p:ph idx="1"/>
          </p:nvPr>
        </p:nvSpPr>
        <p:spPr>
          <a:xfrm>
            <a:off x="671754" y="1204663"/>
            <a:ext cx="10654147" cy="1843812"/>
          </a:xfrm>
        </p:spPr>
        <p:txBody>
          <a:bodyPr/>
          <a:lstStyle/>
          <a:p>
            <a:r>
              <a:rPr lang="en-US" sz="2400" dirty="0">
                <a:latin typeface="Times New Roman" panose="02020603050405020304" pitchFamily="18" charset="0"/>
                <a:cs typeface="Times New Roman" panose="02020603050405020304" pitchFamily="18" charset="0"/>
              </a:rPr>
              <a:t>What’s LLM4Code?</a:t>
            </a:r>
          </a:p>
          <a:p>
            <a:pPr lvl="1"/>
            <a:r>
              <a:rPr lang="en-US" sz="2000" dirty="0">
                <a:latin typeface="Times New Roman" panose="02020603050405020304" pitchFamily="18" charset="0"/>
                <a:cs typeface="Times New Roman" panose="02020603050405020304" pitchFamily="18" charset="0"/>
              </a:rPr>
              <a:t>Applying LLM to software engineering tasks, such as code generation, code understanding, program repair.</a:t>
            </a:r>
          </a:p>
          <a:p>
            <a:pPr lvl="1"/>
            <a:r>
              <a:rPr lang="en-US" sz="2000" dirty="0">
                <a:latin typeface="Times New Roman" panose="02020603050405020304" pitchFamily="18" charset="0"/>
                <a:cs typeface="Times New Roman" panose="02020603050405020304" pitchFamily="18" charset="0"/>
              </a:rPr>
              <a:t>However, as LLM capabilities rapidly advanced, code generation gradually emerged as the dominant and most impactful task in LLM4Code research.</a:t>
            </a:r>
          </a:p>
        </p:txBody>
      </p:sp>
      <p:sp>
        <p:nvSpPr>
          <p:cNvPr id="51" name="TextBox 50">
            <a:extLst>
              <a:ext uri="{FF2B5EF4-FFF2-40B4-BE49-F238E27FC236}">
                <a16:creationId xmlns:a16="http://schemas.microsoft.com/office/drawing/2014/main" id="{30EBB7F7-88DE-6B29-228C-E27212F7069C}"/>
              </a:ext>
            </a:extLst>
          </p:cNvPr>
          <p:cNvSpPr txBox="1"/>
          <p:nvPr/>
        </p:nvSpPr>
        <p:spPr>
          <a:xfrm>
            <a:off x="2826328" y="5831349"/>
            <a:ext cx="5866221" cy="369332"/>
          </a:xfrm>
          <a:prstGeom prst="rect">
            <a:avLst/>
          </a:prstGeom>
          <a:noFill/>
        </p:spPr>
        <p:txBody>
          <a:bodyPr wrap="non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Figure 1. Timeline of Code Generation Benchmark Evolution</a:t>
            </a:r>
          </a:p>
        </p:txBody>
      </p:sp>
    </p:spTree>
    <p:extLst>
      <p:ext uri="{BB962C8B-B14F-4D97-AF65-F5344CB8AC3E}">
        <p14:creationId xmlns:p14="http://schemas.microsoft.com/office/powerpoint/2010/main" val="255285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Introduction - LLM4Code </a:t>
            </a:r>
            <a:r>
              <a:rPr lang="en-US" dirty="0">
                <a:latin typeface="Times New Roman" panose="02020603050405020304" pitchFamily="18" charset="0"/>
                <a:cs typeface="Times New Roman" panose="02020603050405020304" pitchFamily="18" charset="0"/>
              </a:rPr>
              <a:t>(1/1)</a:t>
            </a:r>
          </a:p>
        </p:txBody>
      </p:sp>
      <p:sp>
        <p:nvSpPr>
          <p:cNvPr id="4" name="灯片编号占位符 1">
            <a:extLst>
              <a:ext uri="{FF2B5EF4-FFF2-40B4-BE49-F238E27FC236}">
                <a16:creationId xmlns:a16="http://schemas.microsoft.com/office/drawing/2014/main" id="{A4D8AE41-E9DB-DC4B-0813-8BAB041C681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5</a:t>
            </a:fld>
            <a:endParaRPr lang="zh-TW" altLang="en-US"/>
          </a:p>
        </p:txBody>
      </p:sp>
      <p:cxnSp>
        <p:nvCxnSpPr>
          <p:cNvPr id="12" name="Straight Arrow Connector 11">
            <a:extLst>
              <a:ext uri="{FF2B5EF4-FFF2-40B4-BE49-F238E27FC236}">
                <a16:creationId xmlns:a16="http://schemas.microsoft.com/office/drawing/2014/main" id="{1A6693D6-6850-7F66-D54A-6C9405845E78}"/>
              </a:ext>
            </a:extLst>
          </p:cNvPr>
          <p:cNvCxnSpPr>
            <a:cxnSpLocks/>
          </p:cNvCxnSpPr>
          <p:nvPr/>
        </p:nvCxnSpPr>
        <p:spPr bwMode="auto">
          <a:xfrm>
            <a:off x="554182" y="4391891"/>
            <a:ext cx="10654146" cy="0"/>
          </a:xfrm>
          <a:prstGeom prst="straightConnector1">
            <a:avLst/>
          </a:prstGeom>
          <a:ln>
            <a:headEnd type="none" w="med" len="med"/>
            <a:tailEnd type="triangle"/>
          </a:ln>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F5ADBC65-29CA-2494-3AD8-71D16C6B2875}"/>
              </a:ext>
            </a:extLst>
          </p:cNvPr>
          <p:cNvCxnSpPr/>
          <p:nvPr/>
        </p:nvCxnSpPr>
        <p:spPr bwMode="auto">
          <a:xfrm>
            <a:off x="1579419" y="4391891"/>
            <a:ext cx="0" cy="0"/>
          </a:xfrm>
          <a:prstGeom prst="line">
            <a:avLst/>
          </a:prstGeom>
          <a:noFill/>
          <a:ln w="15875" cap="flat" cmpd="sng" algn="ctr">
            <a:solidFill>
              <a:srgbClr val="FF0000"/>
            </a:solidFill>
            <a:prstDash val="solid"/>
            <a:round/>
            <a:headEnd type="none" w="med" len="med"/>
            <a:tailEnd type="none" w="med" len="med"/>
          </a:ln>
          <a:effectLst/>
        </p:spPr>
      </p:cxnSp>
      <p:cxnSp>
        <p:nvCxnSpPr>
          <p:cNvPr id="17" name="Straight Connector 16">
            <a:extLst>
              <a:ext uri="{FF2B5EF4-FFF2-40B4-BE49-F238E27FC236}">
                <a16:creationId xmlns:a16="http://schemas.microsoft.com/office/drawing/2014/main" id="{FB05506F-3F89-D1CD-56F2-C6D4989C5476}"/>
              </a:ext>
            </a:extLst>
          </p:cNvPr>
          <p:cNvCxnSpPr>
            <a:cxnSpLocks/>
          </p:cNvCxnSpPr>
          <p:nvPr/>
        </p:nvCxnSpPr>
        <p:spPr bwMode="auto">
          <a:xfrm>
            <a:off x="1634837" y="4253346"/>
            <a:ext cx="0" cy="138545"/>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C1C3FF1D-AB5C-C786-AD76-43BAF1C70F3E}"/>
              </a:ext>
            </a:extLst>
          </p:cNvPr>
          <p:cNvSpPr txBox="1"/>
          <p:nvPr/>
        </p:nvSpPr>
        <p:spPr>
          <a:xfrm>
            <a:off x="1286023" y="4477389"/>
            <a:ext cx="646331" cy="369332"/>
          </a:xfrm>
          <a:prstGeom prst="rect">
            <a:avLst/>
          </a:prstGeom>
          <a:noFill/>
        </p:spPr>
        <p:txBody>
          <a:bodyPr wrap="none" rtlCol="0" anchor="ctr" anchorCtr="1">
            <a:spAutoFit/>
          </a:bodyPr>
          <a:lstStyle/>
          <a:p>
            <a:r>
              <a:rPr lang="en-US" altLang="zh-CN" dirty="0">
                <a:latin typeface="Times New Roman" panose="02020603050405020304" pitchFamily="18" charset="0"/>
                <a:ea typeface="標楷體" pitchFamily="65" charset="-120"/>
                <a:cs typeface="Times New Roman" panose="02020603050405020304" pitchFamily="18" charset="0"/>
              </a:rPr>
              <a:t>2021</a:t>
            </a:r>
            <a:endParaRPr lang="en-CN" dirty="0">
              <a:latin typeface="Times New Roman" panose="02020603050405020304" pitchFamily="18" charset="0"/>
              <a:ea typeface="標楷體" pitchFamily="65" charset="-120"/>
              <a:cs typeface="Times New Roman" panose="02020603050405020304" pitchFamily="18" charset="0"/>
            </a:endParaRPr>
          </a:p>
        </p:txBody>
      </p:sp>
      <p:cxnSp>
        <p:nvCxnSpPr>
          <p:cNvPr id="20" name="Straight Connector 19">
            <a:extLst>
              <a:ext uri="{FF2B5EF4-FFF2-40B4-BE49-F238E27FC236}">
                <a16:creationId xmlns:a16="http://schemas.microsoft.com/office/drawing/2014/main" id="{6F445E56-1A62-3689-C30D-EDB097D4A5EE}"/>
              </a:ext>
            </a:extLst>
          </p:cNvPr>
          <p:cNvCxnSpPr/>
          <p:nvPr/>
        </p:nvCxnSpPr>
        <p:spPr bwMode="auto">
          <a:xfrm>
            <a:off x="4447310" y="4424993"/>
            <a:ext cx="0" cy="0"/>
          </a:xfrm>
          <a:prstGeom prst="line">
            <a:avLst/>
          </a:prstGeom>
          <a:noFill/>
          <a:ln w="15875" cap="flat" cmpd="sng" algn="ctr">
            <a:solidFill>
              <a:srgbClr val="FF0000"/>
            </a:solidFill>
            <a:prstDash val="solid"/>
            <a:round/>
            <a:headEnd type="none" w="med" len="med"/>
            <a:tailEnd type="none" w="med" len="med"/>
          </a:ln>
          <a:effectLst/>
        </p:spPr>
      </p:cxnSp>
      <p:cxnSp>
        <p:nvCxnSpPr>
          <p:cNvPr id="21" name="Straight Connector 20">
            <a:extLst>
              <a:ext uri="{FF2B5EF4-FFF2-40B4-BE49-F238E27FC236}">
                <a16:creationId xmlns:a16="http://schemas.microsoft.com/office/drawing/2014/main" id="{96F05514-9B87-5BF8-6E11-376BD062F6D1}"/>
              </a:ext>
            </a:extLst>
          </p:cNvPr>
          <p:cNvCxnSpPr>
            <a:cxnSpLocks/>
          </p:cNvCxnSpPr>
          <p:nvPr/>
        </p:nvCxnSpPr>
        <p:spPr bwMode="auto">
          <a:xfrm>
            <a:off x="4502728" y="4286448"/>
            <a:ext cx="0" cy="138545"/>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22" name="TextBox 21">
            <a:extLst>
              <a:ext uri="{FF2B5EF4-FFF2-40B4-BE49-F238E27FC236}">
                <a16:creationId xmlns:a16="http://schemas.microsoft.com/office/drawing/2014/main" id="{FD774975-6C87-E369-17C7-6EC8A75FAB3C}"/>
              </a:ext>
            </a:extLst>
          </p:cNvPr>
          <p:cNvSpPr txBox="1"/>
          <p:nvPr/>
        </p:nvSpPr>
        <p:spPr>
          <a:xfrm>
            <a:off x="4153914" y="4510491"/>
            <a:ext cx="646331" cy="369332"/>
          </a:xfrm>
          <a:prstGeom prst="rect">
            <a:avLst/>
          </a:prstGeom>
          <a:noFill/>
        </p:spPr>
        <p:txBody>
          <a:bodyPr wrap="none" rtlCol="0" anchor="ctr" anchorCtr="1">
            <a:spAutoFit/>
          </a:bodyPr>
          <a:lstStyle/>
          <a:p>
            <a:r>
              <a:rPr lang="en-US" altLang="zh-CN" dirty="0">
                <a:latin typeface="Times New Roman" panose="02020603050405020304" pitchFamily="18" charset="0"/>
                <a:ea typeface="標楷體" pitchFamily="65" charset="-120"/>
                <a:cs typeface="Times New Roman" panose="02020603050405020304" pitchFamily="18" charset="0"/>
              </a:rPr>
              <a:t>2022</a:t>
            </a:r>
            <a:endParaRPr lang="en-CN" dirty="0">
              <a:latin typeface="Times New Roman" panose="02020603050405020304" pitchFamily="18" charset="0"/>
              <a:ea typeface="標楷體" pitchFamily="65" charset="-120"/>
              <a:cs typeface="Times New Roman" panose="02020603050405020304" pitchFamily="18" charset="0"/>
            </a:endParaRPr>
          </a:p>
        </p:txBody>
      </p:sp>
      <p:sp>
        <p:nvSpPr>
          <p:cNvPr id="24" name="Rectangular Callout 23">
            <a:extLst>
              <a:ext uri="{FF2B5EF4-FFF2-40B4-BE49-F238E27FC236}">
                <a16:creationId xmlns:a16="http://schemas.microsoft.com/office/drawing/2014/main" id="{DCF14223-B6C7-0B74-679A-D63ACB62959B}"/>
              </a:ext>
            </a:extLst>
          </p:cNvPr>
          <p:cNvSpPr/>
          <p:nvPr/>
        </p:nvSpPr>
        <p:spPr bwMode="auto">
          <a:xfrm>
            <a:off x="969823" y="3255819"/>
            <a:ext cx="1981194" cy="712537"/>
          </a:xfrm>
          <a:prstGeom prst="wedgeRectCallout">
            <a:avLst>
              <a:gd name="adj1" fmla="val -34469"/>
              <a:gd name="adj2" fmla="val 69284"/>
            </a:avLst>
          </a:prstGeom>
          <a:noFill/>
          <a:ln w="158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CN" sz="1800" b="1" i="0" u="none" strike="noStrike" cap="none" normalizeH="0" baseline="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25" name="TextBox 24">
            <a:extLst>
              <a:ext uri="{FF2B5EF4-FFF2-40B4-BE49-F238E27FC236}">
                <a16:creationId xmlns:a16="http://schemas.microsoft.com/office/drawing/2014/main" id="{00AE5CFC-73F7-7027-DAF7-150D8B58E21D}"/>
              </a:ext>
            </a:extLst>
          </p:cNvPr>
          <p:cNvSpPr txBox="1"/>
          <p:nvPr/>
        </p:nvSpPr>
        <p:spPr>
          <a:xfrm>
            <a:off x="993053" y="3288921"/>
            <a:ext cx="1981194" cy="646331"/>
          </a:xfrm>
          <a:prstGeom prst="rect">
            <a:avLst/>
          </a:prstGeom>
          <a:noFill/>
        </p:spPr>
        <p:txBody>
          <a:bodyPr wrap="squar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Function-level Code Generation</a:t>
            </a:r>
          </a:p>
        </p:txBody>
      </p:sp>
      <p:sp>
        <p:nvSpPr>
          <p:cNvPr id="27" name="Rectangle 26">
            <a:extLst>
              <a:ext uri="{FF2B5EF4-FFF2-40B4-BE49-F238E27FC236}">
                <a16:creationId xmlns:a16="http://schemas.microsoft.com/office/drawing/2014/main" id="{414E6FD9-63C4-0C45-5F10-2CD98F0228F2}"/>
              </a:ext>
            </a:extLst>
          </p:cNvPr>
          <p:cNvSpPr/>
          <p:nvPr/>
        </p:nvSpPr>
        <p:spPr bwMode="auto">
          <a:xfrm>
            <a:off x="993053" y="4879823"/>
            <a:ext cx="1833275" cy="896455"/>
          </a:xfrm>
          <a:prstGeom prst="rect">
            <a:avLst/>
          </a:prstGeom>
          <a:noFill/>
          <a:ln w="158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CN" sz="1800" b="1" i="0" u="none" strike="noStrike" cap="none" normalizeH="0" baseline="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28" name="TextBox 27">
            <a:extLst>
              <a:ext uri="{FF2B5EF4-FFF2-40B4-BE49-F238E27FC236}">
                <a16:creationId xmlns:a16="http://schemas.microsoft.com/office/drawing/2014/main" id="{9FF77BA2-EC9C-4A84-9D84-E0EAFC9A927D}"/>
              </a:ext>
            </a:extLst>
          </p:cNvPr>
          <p:cNvSpPr txBox="1"/>
          <p:nvPr/>
        </p:nvSpPr>
        <p:spPr>
          <a:xfrm>
            <a:off x="969823" y="4879823"/>
            <a:ext cx="1287532" cy="923330"/>
          </a:xfrm>
          <a:prstGeom prst="rect">
            <a:avLst/>
          </a:prstGeom>
          <a:noFill/>
        </p:spPr>
        <p:txBody>
          <a:bodyPr wrap="non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HumanEval</a:t>
            </a:r>
          </a:p>
          <a:p>
            <a:r>
              <a:rPr lang="en-CN" dirty="0">
                <a:latin typeface="Times New Roman" panose="02020603050405020304" pitchFamily="18" charset="0"/>
                <a:ea typeface="標楷體" pitchFamily="65" charset="-120"/>
                <a:cs typeface="Times New Roman" panose="02020603050405020304" pitchFamily="18" charset="0"/>
              </a:rPr>
              <a:t>MBPP</a:t>
            </a:r>
          </a:p>
          <a:p>
            <a:r>
              <a:rPr lang="en-CN" dirty="0">
                <a:latin typeface="Times New Roman" panose="02020603050405020304" pitchFamily="18" charset="0"/>
                <a:ea typeface="標楷體" pitchFamily="65" charset="-120"/>
                <a:cs typeface="Times New Roman" panose="02020603050405020304" pitchFamily="18" charset="0"/>
              </a:rPr>
              <a:t>APPS</a:t>
            </a:r>
          </a:p>
        </p:txBody>
      </p:sp>
      <p:sp>
        <p:nvSpPr>
          <p:cNvPr id="29" name="Rectangular Callout 28">
            <a:extLst>
              <a:ext uri="{FF2B5EF4-FFF2-40B4-BE49-F238E27FC236}">
                <a16:creationId xmlns:a16="http://schemas.microsoft.com/office/drawing/2014/main" id="{9FDAFF0B-15CB-920A-F879-0236A5560B50}"/>
              </a:ext>
            </a:extLst>
          </p:cNvPr>
          <p:cNvSpPr/>
          <p:nvPr/>
        </p:nvSpPr>
        <p:spPr bwMode="auto">
          <a:xfrm>
            <a:off x="3588332" y="3255819"/>
            <a:ext cx="1981194" cy="712537"/>
          </a:xfrm>
          <a:prstGeom prst="wedgeRectCallout">
            <a:avLst>
              <a:gd name="adj1" fmla="val -34469"/>
              <a:gd name="adj2" fmla="val 69284"/>
            </a:avLst>
          </a:prstGeom>
          <a:noFill/>
          <a:ln w="158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CN" sz="1800" b="1" i="0" u="none" strike="noStrike" cap="none" normalizeH="0" baseline="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30" name="TextBox 29">
            <a:extLst>
              <a:ext uri="{FF2B5EF4-FFF2-40B4-BE49-F238E27FC236}">
                <a16:creationId xmlns:a16="http://schemas.microsoft.com/office/drawing/2014/main" id="{B3C2C1D4-3A2E-8FC3-09DC-9BC5BB47581B}"/>
              </a:ext>
            </a:extLst>
          </p:cNvPr>
          <p:cNvSpPr txBox="1"/>
          <p:nvPr/>
        </p:nvSpPr>
        <p:spPr>
          <a:xfrm>
            <a:off x="3611562" y="3288921"/>
            <a:ext cx="1981194" cy="646331"/>
          </a:xfrm>
          <a:prstGeom prst="rect">
            <a:avLst/>
          </a:prstGeom>
          <a:noFill/>
        </p:spPr>
        <p:txBody>
          <a:bodyPr wrap="squar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Class-level Code Generation</a:t>
            </a:r>
          </a:p>
        </p:txBody>
      </p:sp>
      <p:sp>
        <p:nvSpPr>
          <p:cNvPr id="31" name="Rectangle 30">
            <a:extLst>
              <a:ext uri="{FF2B5EF4-FFF2-40B4-BE49-F238E27FC236}">
                <a16:creationId xmlns:a16="http://schemas.microsoft.com/office/drawing/2014/main" id="{F4C56695-2870-89B0-31DA-FA11ADDF151C}"/>
              </a:ext>
            </a:extLst>
          </p:cNvPr>
          <p:cNvSpPr/>
          <p:nvPr/>
        </p:nvSpPr>
        <p:spPr bwMode="auto">
          <a:xfrm>
            <a:off x="3611562" y="4879823"/>
            <a:ext cx="1833275" cy="896455"/>
          </a:xfrm>
          <a:prstGeom prst="rect">
            <a:avLst/>
          </a:prstGeom>
          <a:noFill/>
          <a:ln w="158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CN" sz="1800" b="1" i="0" u="none" strike="noStrike" cap="none" normalizeH="0" baseline="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32" name="TextBox 31">
            <a:extLst>
              <a:ext uri="{FF2B5EF4-FFF2-40B4-BE49-F238E27FC236}">
                <a16:creationId xmlns:a16="http://schemas.microsoft.com/office/drawing/2014/main" id="{74CDD3EE-775F-F9D2-BB09-11B62965194C}"/>
              </a:ext>
            </a:extLst>
          </p:cNvPr>
          <p:cNvSpPr txBox="1"/>
          <p:nvPr/>
        </p:nvSpPr>
        <p:spPr>
          <a:xfrm>
            <a:off x="3588332" y="5129948"/>
            <a:ext cx="1107996" cy="369332"/>
          </a:xfrm>
          <a:prstGeom prst="rect">
            <a:avLst/>
          </a:prstGeom>
          <a:noFill/>
        </p:spPr>
        <p:txBody>
          <a:bodyPr wrap="non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ClassEval</a:t>
            </a:r>
          </a:p>
        </p:txBody>
      </p:sp>
      <p:cxnSp>
        <p:nvCxnSpPr>
          <p:cNvPr id="33" name="Straight Connector 32">
            <a:extLst>
              <a:ext uri="{FF2B5EF4-FFF2-40B4-BE49-F238E27FC236}">
                <a16:creationId xmlns:a16="http://schemas.microsoft.com/office/drawing/2014/main" id="{A08DF20D-2E9C-F0A1-9FCE-8C8A96EF06D2}"/>
              </a:ext>
            </a:extLst>
          </p:cNvPr>
          <p:cNvCxnSpPr/>
          <p:nvPr/>
        </p:nvCxnSpPr>
        <p:spPr bwMode="auto">
          <a:xfrm>
            <a:off x="7157905" y="4424993"/>
            <a:ext cx="0" cy="0"/>
          </a:xfrm>
          <a:prstGeom prst="line">
            <a:avLst/>
          </a:prstGeom>
          <a:noFill/>
          <a:ln w="15875" cap="flat" cmpd="sng" algn="ctr">
            <a:solidFill>
              <a:srgbClr val="FF0000"/>
            </a:solidFill>
            <a:prstDash val="solid"/>
            <a:round/>
            <a:headEnd type="none" w="med" len="med"/>
            <a:tailEnd type="none" w="med" len="med"/>
          </a:ln>
          <a:effectLst/>
        </p:spPr>
      </p:cxnSp>
      <p:cxnSp>
        <p:nvCxnSpPr>
          <p:cNvPr id="34" name="Straight Connector 33">
            <a:extLst>
              <a:ext uri="{FF2B5EF4-FFF2-40B4-BE49-F238E27FC236}">
                <a16:creationId xmlns:a16="http://schemas.microsoft.com/office/drawing/2014/main" id="{1F2A00AF-3E5B-97D7-E41D-979BDB4C7BF2}"/>
              </a:ext>
            </a:extLst>
          </p:cNvPr>
          <p:cNvCxnSpPr>
            <a:cxnSpLocks/>
          </p:cNvCxnSpPr>
          <p:nvPr/>
        </p:nvCxnSpPr>
        <p:spPr bwMode="auto">
          <a:xfrm>
            <a:off x="7213323" y="4286448"/>
            <a:ext cx="0" cy="138545"/>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35" name="TextBox 34">
            <a:extLst>
              <a:ext uri="{FF2B5EF4-FFF2-40B4-BE49-F238E27FC236}">
                <a16:creationId xmlns:a16="http://schemas.microsoft.com/office/drawing/2014/main" id="{F5C88586-1265-95DC-347C-D7310D0CBED3}"/>
              </a:ext>
            </a:extLst>
          </p:cNvPr>
          <p:cNvSpPr txBox="1"/>
          <p:nvPr/>
        </p:nvSpPr>
        <p:spPr>
          <a:xfrm>
            <a:off x="6864509" y="4510491"/>
            <a:ext cx="646331" cy="369332"/>
          </a:xfrm>
          <a:prstGeom prst="rect">
            <a:avLst/>
          </a:prstGeom>
          <a:noFill/>
        </p:spPr>
        <p:txBody>
          <a:bodyPr wrap="none" rtlCol="0" anchor="ctr" anchorCtr="1">
            <a:spAutoFit/>
          </a:bodyPr>
          <a:lstStyle/>
          <a:p>
            <a:r>
              <a:rPr lang="en-US" altLang="zh-CN" dirty="0">
                <a:latin typeface="Times New Roman" panose="02020603050405020304" pitchFamily="18" charset="0"/>
                <a:ea typeface="標楷體" pitchFamily="65" charset="-120"/>
                <a:cs typeface="Times New Roman" panose="02020603050405020304" pitchFamily="18" charset="0"/>
              </a:rPr>
              <a:t>2023</a:t>
            </a:r>
            <a:endParaRPr lang="en-CN" dirty="0">
              <a:latin typeface="Times New Roman" panose="02020603050405020304" pitchFamily="18" charset="0"/>
              <a:ea typeface="標楷體" pitchFamily="65" charset="-120"/>
              <a:cs typeface="Times New Roman" panose="02020603050405020304" pitchFamily="18" charset="0"/>
            </a:endParaRPr>
          </a:p>
        </p:txBody>
      </p:sp>
      <p:sp>
        <p:nvSpPr>
          <p:cNvPr id="36" name="Rectangular Callout 35">
            <a:extLst>
              <a:ext uri="{FF2B5EF4-FFF2-40B4-BE49-F238E27FC236}">
                <a16:creationId xmlns:a16="http://schemas.microsoft.com/office/drawing/2014/main" id="{E7135B46-7209-8CD2-B01F-98580DF81769}"/>
              </a:ext>
            </a:extLst>
          </p:cNvPr>
          <p:cNvSpPr/>
          <p:nvPr/>
        </p:nvSpPr>
        <p:spPr bwMode="auto">
          <a:xfrm>
            <a:off x="6298927" y="3255819"/>
            <a:ext cx="1981194" cy="712537"/>
          </a:xfrm>
          <a:prstGeom prst="wedgeRectCallout">
            <a:avLst>
              <a:gd name="adj1" fmla="val -34469"/>
              <a:gd name="adj2" fmla="val 69284"/>
            </a:avLst>
          </a:prstGeom>
          <a:noFill/>
          <a:ln w="158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CN" sz="1800" b="1" i="0" u="none" strike="noStrike" cap="none" normalizeH="0" baseline="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37" name="TextBox 36">
            <a:extLst>
              <a:ext uri="{FF2B5EF4-FFF2-40B4-BE49-F238E27FC236}">
                <a16:creationId xmlns:a16="http://schemas.microsoft.com/office/drawing/2014/main" id="{53797257-88B6-F7A4-069F-A1D3505699D5}"/>
              </a:ext>
            </a:extLst>
          </p:cNvPr>
          <p:cNvSpPr txBox="1"/>
          <p:nvPr/>
        </p:nvSpPr>
        <p:spPr>
          <a:xfrm>
            <a:off x="6322157" y="3288921"/>
            <a:ext cx="1981194" cy="646331"/>
          </a:xfrm>
          <a:prstGeom prst="rect">
            <a:avLst/>
          </a:prstGeom>
          <a:noFill/>
        </p:spPr>
        <p:txBody>
          <a:bodyPr wrap="squar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Repo-level Code Generation</a:t>
            </a:r>
          </a:p>
        </p:txBody>
      </p:sp>
      <p:sp>
        <p:nvSpPr>
          <p:cNvPr id="38" name="Rectangle 37">
            <a:extLst>
              <a:ext uri="{FF2B5EF4-FFF2-40B4-BE49-F238E27FC236}">
                <a16:creationId xmlns:a16="http://schemas.microsoft.com/office/drawing/2014/main" id="{08C81CC8-E3B2-6B61-C875-39B18E3DCE38}"/>
              </a:ext>
            </a:extLst>
          </p:cNvPr>
          <p:cNvSpPr/>
          <p:nvPr/>
        </p:nvSpPr>
        <p:spPr bwMode="auto">
          <a:xfrm>
            <a:off x="6322157" y="4879823"/>
            <a:ext cx="1833275" cy="896455"/>
          </a:xfrm>
          <a:prstGeom prst="rect">
            <a:avLst/>
          </a:prstGeom>
          <a:noFill/>
          <a:ln w="158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CN" sz="1800" b="1" i="0" u="none" strike="noStrike" cap="none" normalizeH="0" baseline="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39" name="TextBox 38">
            <a:extLst>
              <a:ext uri="{FF2B5EF4-FFF2-40B4-BE49-F238E27FC236}">
                <a16:creationId xmlns:a16="http://schemas.microsoft.com/office/drawing/2014/main" id="{0484A2B9-3974-8FA2-D381-502BF75BE47B}"/>
              </a:ext>
            </a:extLst>
          </p:cNvPr>
          <p:cNvSpPr txBox="1"/>
          <p:nvPr/>
        </p:nvSpPr>
        <p:spPr>
          <a:xfrm>
            <a:off x="6298927" y="4852950"/>
            <a:ext cx="1620957" cy="923330"/>
          </a:xfrm>
          <a:prstGeom prst="rect">
            <a:avLst/>
          </a:prstGeom>
          <a:noFill/>
        </p:spPr>
        <p:txBody>
          <a:bodyPr wrap="non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RepoBench</a:t>
            </a:r>
          </a:p>
          <a:p>
            <a:r>
              <a:rPr lang="en-CN" dirty="0">
                <a:latin typeface="Times New Roman" panose="02020603050405020304" pitchFamily="18" charset="0"/>
                <a:ea typeface="標楷體" pitchFamily="65" charset="-120"/>
                <a:cs typeface="Times New Roman" panose="02020603050405020304" pitchFamily="18" charset="0"/>
              </a:rPr>
              <a:t>CrossCodeEval</a:t>
            </a:r>
            <a:br>
              <a:rPr lang="en-CN" dirty="0">
                <a:latin typeface="Times New Roman" panose="02020603050405020304" pitchFamily="18" charset="0"/>
                <a:ea typeface="標楷體" pitchFamily="65" charset="-120"/>
                <a:cs typeface="Times New Roman" panose="02020603050405020304" pitchFamily="18" charset="0"/>
              </a:rPr>
            </a:br>
            <a:r>
              <a:rPr lang="en-CN" dirty="0">
                <a:latin typeface="Times New Roman" panose="02020603050405020304" pitchFamily="18" charset="0"/>
                <a:ea typeface="標楷體" pitchFamily="65" charset="-120"/>
                <a:cs typeface="Times New Roman" panose="02020603050405020304" pitchFamily="18" charset="0"/>
              </a:rPr>
              <a:t>BigCodeBench</a:t>
            </a:r>
          </a:p>
        </p:txBody>
      </p:sp>
      <p:cxnSp>
        <p:nvCxnSpPr>
          <p:cNvPr id="40" name="Straight Connector 39">
            <a:extLst>
              <a:ext uri="{FF2B5EF4-FFF2-40B4-BE49-F238E27FC236}">
                <a16:creationId xmlns:a16="http://schemas.microsoft.com/office/drawing/2014/main" id="{357E7D13-2D7C-D3F7-6F88-C8D161DE894D}"/>
              </a:ext>
            </a:extLst>
          </p:cNvPr>
          <p:cNvCxnSpPr/>
          <p:nvPr/>
        </p:nvCxnSpPr>
        <p:spPr bwMode="auto">
          <a:xfrm>
            <a:off x="9799663" y="4424993"/>
            <a:ext cx="0" cy="0"/>
          </a:xfrm>
          <a:prstGeom prst="line">
            <a:avLst/>
          </a:prstGeom>
          <a:noFill/>
          <a:ln w="15875" cap="flat" cmpd="sng" algn="ctr">
            <a:solidFill>
              <a:srgbClr val="FF0000"/>
            </a:solidFill>
            <a:prstDash val="solid"/>
            <a:round/>
            <a:headEnd type="none" w="med" len="med"/>
            <a:tailEnd type="none" w="med" len="med"/>
          </a:ln>
          <a:effectLst/>
        </p:spPr>
      </p:cxnSp>
      <p:cxnSp>
        <p:nvCxnSpPr>
          <p:cNvPr id="41" name="Straight Connector 40">
            <a:extLst>
              <a:ext uri="{FF2B5EF4-FFF2-40B4-BE49-F238E27FC236}">
                <a16:creationId xmlns:a16="http://schemas.microsoft.com/office/drawing/2014/main" id="{E379ED0F-6017-D7E1-2A00-A3B3DD85D651}"/>
              </a:ext>
            </a:extLst>
          </p:cNvPr>
          <p:cNvCxnSpPr>
            <a:cxnSpLocks/>
          </p:cNvCxnSpPr>
          <p:nvPr/>
        </p:nvCxnSpPr>
        <p:spPr bwMode="auto">
          <a:xfrm>
            <a:off x="9855081" y="4286448"/>
            <a:ext cx="0" cy="138545"/>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42" name="TextBox 41">
            <a:extLst>
              <a:ext uri="{FF2B5EF4-FFF2-40B4-BE49-F238E27FC236}">
                <a16:creationId xmlns:a16="http://schemas.microsoft.com/office/drawing/2014/main" id="{C13E61D4-31C7-3584-34B9-ABFDCE15248D}"/>
              </a:ext>
            </a:extLst>
          </p:cNvPr>
          <p:cNvSpPr txBox="1"/>
          <p:nvPr/>
        </p:nvSpPr>
        <p:spPr>
          <a:xfrm>
            <a:off x="9506267" y="4510491"/>
            <a:ext cx="646331" cy="369332"/>
          </a:xfrm>
          <a:prstGeom prst="rect">
            <a:avLst/>
          </a:prstGeom>
          <a:noFill/>
        </p:spPr>
        <p:txBody>
          <a:bodyPr wrap="none" rtlCol="0" anchor="ctr" anchorCtr="1">
            <a:spAutoFit/>
          </a:bodyPr>
          <a:lstStyle/>
          <a:p>
            <a:r>
              <a:rPr lang="en-US" altLang="zh-CN" dirty="0">
                <a:latin typeface="Times New Roman" panose="02020603050405020304" pitchFamily="18" charset="0"/>
                <a:ea typeface="標楷體" pitchFamily="65" charset="-120"/>
                <a:cs typeface="Times New Roman" panose="02020603050405020304" pitchFamily="18" charset="0"/>
              </a:rPr>
              <a:t>2024</a:t>
            </a:r>
            <a:endParaRPr lang="en-CN" dirty="0">
              <a:latin typeface="Times New Roman" panose="02020603050405020304" pitchFamily="18" charset="0"/>
              <a:ea typeface="標楷體" pitchFamily="65" charset="-120"/>
              <a:cs typeface="Times New Roman" panose="02020603050405020304" pitchFamily="18" charset="0"/>
            </a:endParaRPr>
          </a:p>
        </p:txBody>
      </p:sp>
      <p:sp>
        <p:nvSpPr>
          <p:cNvPr id="43" name="Rectangular Callout 42">
            <a:extLst>
              <a:ext uri="{FF2B5EF4-FFF2-40B4-BE49-F238E27FC236}">
                <a16:creationId xmlns:a16="http://schemas.microsoft.com/office/drawing/2014/main" id="{537B5078-B2A4-0E9F-F404-3630089AE763}"/>
              </a:ext>
            </a:extLst>
          </p:cNvPr>
          <p:cNvSpPr/>
          <p:nvPr/>
        </p:nvSpPr>
        <p:spPr bwMode="auto">
          <a:xfrm>
            <a:off x="8940685" y="3255819"/>
            <a:ext cx="1981194" cy="712537"/>
          </a:xfrm>
          <a:prstGeom prst="wedgeRectCallout">
            <a:avLst>
              <a:gd name="adj1" fmla="val -34469"/>
              <a:gd name="adj2" fmla="val 69284"/>
            </a:avLst>
          </a:prstGeom>
          <a:noFill/>
          <a:ln w="158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CN" sz="1800" b="1" i="0" u="none" strike="noStrike" cap="none" normalizeH="0" baseline="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44" name="TextBox 43">
            <a:extLst>
              <a:ext uri="{FF2B5EF4-FFF2-40B4-BE49-F238E27FC236}">
                <a16:creationId xmlns:a16="http://schemas.microsoft.com/office/drawing/2014/main" id="{F5E07A75-8159-F6C9-C936-988EA3D36BFF}"/>
              </a:ext>
            </a:extLst>
          </p:cNvPr>
          <p:cNvSpPr txBox="1"/>
          <p:nvPr/>
        </p:nvSpPr>
        <p:spPr>
          <a:xfrm>
            <a:off x="8809077" y="3305794"/>
            <a:ext cx="2244409" cy="646331"/>
          </a:xfrm>
          <a:prstGeom prst="rect">
            <a:avLst/>
          </a:prstGeom>
          <a:noFill/>
        </p:spPr>
        <p:txBody>
          <a:bodyPr wrap="squar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Real-world Github Issues Resolution</a:t>
            </a:r>
          </a:p>
        </p:txBody>
      </p:sp>
      <p:sp>
        <p:nvSpPr>
          <p:cNvPr id="45" name="Rectangle 44">
            <a:extLst>
              <a:ext uri="{FF2B5EF4-FFF2-40B4-BE49-F238E27FC236}">
                <a16:creationId xmlns:a16="http://schemas.microsoft.com/office/drawing/2014/main" id="{E85C15BE-2123-9BE4-550F-EF10593B50AA}"/>
              </a:ext>
            </a:extLst>
          </p:cNvPr>
          <p:cNvSpPr/>
          <p:nvPr/>
        </p:nvSpPr>
        <p:spPr bwMode="auto">
          <a:xfrm>
            <a:off x="8963915" y="4852949"/>
            <a:ext cx="1833275" cy="923329"/>
          </a:xfrm>
          <a:prstGeom prst="rect">
            <a:avLst/>
          </a:prstGeom>
          <a:noFill/>
          <a:ln w="158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CN" sz="1800" b="1" i="0" u="none" strike="noStrike" cap="none" normalizeH="0" baseline="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46" name="TextBox 45">
            <a:extLst>
              <a:ext uri="{FF2B5EF4-FFF2-40B4-BE49-F238E27FC236}">
                <a16:creationId xmlns:a16="http://schemas.microsoft.com/office/drawing/2014/main" id="{A6D4293F-06D6-47C4-CF4F-BAEA6A92735B}"/>
              </a:ext>
            </a:extLst>
          </p:cNvPr>
          <p:cNvSpPr txBox="1"/>
          <p:nvPr/>
        </p:nvSpPr>
        <p:spPr>
          <a:xfrm>
            <a:off x="8940685" y="5129948"/>
            <a:ext cx="1300356" cy="369332"/>
          </a:xfrm>
          <a:prstGeom prst="rect">
            <a:avLst/>
          </a:prstGeom>
          <a:noFill/>
        </p:spPr>
        <p:txBody>
          <a:bodyPr wrap="non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SWE-bench</a:t>
            </a:r>
          </a:p>
        </p:txBody>
      </p:sp>
      <p:sp>
        <p:nvSpPr>
          <p:cNvPr id="50" name="Content Placeholder 2">
            <a:extLst>
              <a:ext uri="{FF2B5EF4-FFF2-40B4-BE49-F238E27FC236}">
                <a16:creationId xmlns:a16="http://schemas.microsoft.com/office/drawing/2014/main" id="{F89DB706-6EC3-E25E-994C-0C6F3B418753}"/>
              </a:ext>
            </a:extLst>
          </p:cNvPr>
          <p:cNvSpPr>
            <a:spLocks noGrp="1"/>
          </p:cNvSpPr>
          <p:nvPr>
            <p:ph idx="1"/>
          </p:nvPr>
        </p:nvSpPr>
        <p:spPr>
          <a:xfrm>
            <a:off x="671754" y="1204663"/>
            <a:ext cx="10654147" cy="1843812"/>
          </a:xfrm>
        </p:spPr>
        <p:txBody>
          <a:bodyPr/>
          <a:lstStyle/>
          <a:p>
            <a:r>
              <a:rPr lang="en-US" sz="2400" dirty="0">
                <a:latin typeface="Times New Roman" panose="02020603050405020304" pitchFamily="18" charset="0"/>
                <a:cs typeface="Times New Roman" panose="02020603050405020304" pitchFamily="18" charset="0"/>
              </a:rPr>
              <a:t>What’s LLM4Code?</a:t>
            </a:r>
          </a:p>
          <a:p>
            <a:pPr lvl="1"/>
            <a:r>
              <a:rPr lang="en-US" sz="2000" dirty="0">
                <a:latin typeface="Times New Roman" panose="02020603050405020304" pitchFamily="18" charset="0"/>
                <a:cs typeface="Times New Roman" panose="02020603050405020304" pitchFamily="18" charset="0"/>
              </a:rPr>
              <a:t>Applying LLM to software engineering tasks, such as code generation, code understanding, program repair.</a:t>
            </a:r>
          </a:p>
          <a:p>
            <a:pPr lvl="1"/>
            <a:r>
              <a:rPr lang="en-US" sz="2000" dirty="0">
                <a:latin typeface="Times New Roman" panose="02020603050405020304" pitchFamily="18" charset="0"/>
                <a:cs typeface="Times New Roman" panose="02020603050405020304" pitchFamily="18" charset="0"/>
              </a:rPr>
              <a:t>However, as LLM capabilities rapidly advanced, code generation gradually emerged as the dominant and most impactful task in LLM4Code research.</a:t>
            </a:r>
          </a:p>
        </p:txBody>
      </p:sp>
      <p:sp>
        <p:nvSpPr>
          <p:cNvPr id="51" name="TextBox 50">
            <a:extLst>
              <a:ext uri="{FF2B5EF4-FFF2-40B4-BE49-F238E27FC236}">
                <a16:creationId xmlns:a16="http://schemas.microsoft.com/office/drawing/2014/main" id="{30EBB7F7-88DE-6B29-228C-E27212F7069C}"/>
              </a:ext>
            </a:extLst>
          </p:cNvPr>
          <p:cNvSpPr txBox="1"/>
          <p:nvPr/>
        </p:nvSpPr>
        <p:spPr>
          <a:xfrm>
            <a:off x="2826328" y="5831349"/>
            <a:ext cx="5866221" cy="369332"/>
          </a:xfrm>
          <a:prstGeom prst="rect">
            <a:avLst/>
          </a:prstGeom>
          <a:noFill/>
        </p:spPr>
        <p:txBody>
          <a:bodyPr wrap="non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Figure 1. Timeline of Code Generation Benchmark Evolution</a:t>
            </a:r>
          </a:p>
        </p:txBody>
      </p:sp>
      <p:sp>
        <p:nvSpPr>
          <p:cNvPr id="3" name="Rectangle 2">
            <a:extLst>
              <a:ext uri="{FF2B5EF4-FFF2-40B4-BE49-F238E27FC236}">
                <a16:creationId xmlns:a16="http://schemas.microsoft.com/office/drawing/2014/main" id="{584384A3-C9CC-4ABB-19CD-8096C95D7FDA}"/>
              </a:ext>
            </a:extLst>
          </p:cNvPr>
          <p:cNvSpPr/>
          <p:nvPr/>
        </p:nvSpPr>
        <p:spPr bwMode="auto">
          <a:xfrm>
            <a:off x="8607242" y="3103544"/>
            <a:ext cx="2633352" cy="2927664"/>
          </a:xfrm>
          <a:prstGeom prst="rect">
            <a:avLst/>
          </a:prstGeom>
          <a:noFill/>
          <a:ln w="762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CN" sz="1800" b="1" i="0" u="none" strike="noStrike" cap="none" normalizeH="0" baseline="0">
              <a:ln>
                <a:noFill/>
              </a:ln>
              <a:solidFill>
                <a:schemeClr val="tx1"/>
              </a:solidFill>
              <a:effectLst/>
              <a:latin typeface="Arial" pitchFamily="34" charset="0"/>
              <a:ea typeface="新細明體" pitchFamily="18" charset="-120"/>
            </a:endParaRPr>
          </a:p>
        </p:txBody>
      </p:sp>
      <p:sp>
        <p:nvSpPr>
          <p:cNvPr id="5" name="TextBox 4">
            <a:extLst>
              <a:ext uri="{FF2B5EF4-FFF2-40B4-BE49-F238E27FC236}">
                <a16:creationId xmlns:a16="http://schemas.microsoft.com/office/drawing/2014/main" id="{47538865-259F-D2B2-CF43-6FBF50472F91}"/>
              </a:ext>
            </a:extLst>
          </p:cNvPr>
          <p:cNvSpPr txBox="1"/>
          <p:nvPr/>
        </p:nvSpPr>
        <p:spPr>
          <a:xfrm>
            <a:off x="8863708" y="2610124"/>
            <a:ext cx="2155142" cy="461665"/>
          </a:xfrm>
          <a:prstGeom prst="rect">
            <a:avLst/>
          </a:prstGeom>
          <a:noFill/>
        </p:spPr>
        <p:txBody>
          <a:bodyPr wrap="none" rtlCol="0" anchor="ctr" anchorCtr="1">
            <a:spAutoFit/>
          </a:bodyPr>
          <a:lstStyle/>
          <a:p>
            <a:r>
              <a:rPr lang="en-CN" sz="2400" b="1" dirty="0">
                <a:solidFill>
                  <a:srgbClr val="FF0000"/>
                </a:solidFill>
                <a:latin typeface="Times New Roman" panose="02020603050405020304" pitchFamily="18" charset="0"/>
                <a:ea typeface="標楷體" pitchFamily="65" charset="-120"/>
                <a:cs typeface="Times New Roman" panose="02020603050405020304" pitchFamily="18" charset="0"/>
              </a:rPr>
              <a:t>Today’s Focus!</a:t>
            </a:r>
          </a:p>
        </p:txBody>
      </p:sp>
    </p:spTree>
    <p:extLst>
      <p:ext uri="{BB962C8B-B14F-4D97-AF65-F5344CB8AC3E}">
        <p14:creationId xmlns:p14="http://schemas.microsoft.com/office/powerpoint/2010/main" val="3363479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5" name="灯片编号占位符 1">
            <a:extLst>
              <a:ext uri="{FF2B5EF4-FFF2-40B4-BE49-F238E27FC236}">
                <a16:creationId xmlns:a16="http://schemas.microsoft.com/office/drawing/2014/main" id="{C8F1849A-008E-6EF5-AB10-F46E38150EF0}"/>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6</a:t>
            </a:fld>
            <a:endParaRPr lang="zh-TW" altLang="en-US"/>
          </a:p>
        </p:txBody>
      </p:sp>
      <p:sp>
        <p:nvSpPr>
          <p:cNvPr id="7" name="內容版面配置區 2">
            <a:extLst>
              <a:ext uri="{FF2B5EF4-FFF2-40B4-BE49-F238E27FC236}">
                <a16:creationId xmlns:a16="http://schemas.microsoft.com/office/drawing/2014/main" id="{C255651E-265A-100F-4755-06C8521E5917}"/>
              </a:ext>
            </a:extLst>
          </p:cNvPr>
          <p:cNvSpPr txBox="1">
            <a:spLocks/>
          </p:cNvSpPr>
          <p:nvPr/>
        </p:nvSpPr>
        <p:spPr bwMode="auto">
          <a:xfrm>
            <a:off x="1296610" y="1125537"/>
            <a:ext cx="10270977" cy="57388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Introduction (3 min)</a:t>
            </a:r>
            <a:r>
              <a:rPr lang="en-US" altLang="zh-TW" sz="2400" kern="0" dirty="0">
                <a:latin typeface="Times New Roman" panose="02020603050405020304" pitchFamily="18" charset="0"/>
                <a:cs typeface="Times New Roman" panose="02020603050405020304" pitchFamily="18" charset="0"/>
              </a:rPr>
              <a:t> </a:t>
            </a:r>
          </a:p>
          <a:p>
            <a:r>
              <a:rPr lang="en-US" altLang="zh-CN" sz="2400" kern="0" dirty="0">
                <a:solidFill>
                  <a:srgbClr val="FF0000"/>
                </a:solidFill>
                <a:latin typeface="Times New Roman" panose="02020603050405020304" pitchFamily="18" charset="0"/>
                <a:cs typeface="Times New Roman" panose="02020603050405020304" pitchFamily="18" charset="0"/>
              </a:rPr>
              <a:t>SWE-bench: Real-world</a:t>
            </a:r>
            <a:r>
              <a:rPr lang="zh-CN" altLang="en-US" sz="2400" kern="0" dirty="0">
                <a:solidFill>
                  <a:srgbClr val="FF0000"/>
                </a:solidFill>
                <a:latin typeface="Times New Roman" panose="02020603050405020304" pitchFamily="18" charset="0"/>
                <a:cs typeface="Times New Roman" panose="02020603050405020304" pitchFamily="18" charset="0"/>
              </a:rPr>
              <a:t> </a:t>
            </a:r>
            <a:r>
              <a:rPr lang="en-US" altLang="zh-CN" sz="2400" kern="0" dirty="0">
                <a:solidFill>
                  <a:srgbClr val="FF0000"/>
                </a:solidFill>
                <a:latin typeface="Times New Roman" panose="02020603050405020304" pitchFamily="18" charset="0"/>
                <a:cs typeface="Times New Roman" panose="02020603050405020304" pitchFamily="18" charset="0"/>
              </a:rPr>
              <a:t>Issues</a:t>
            </a:r>
            <a:r>
              <a:rPr lang="zh-CN" altLang="en-US" sz="2400" kern="0" dirty="0">
                <a:solidFill>
                  <a:srgbClr val="FF0000"/>
                </a:solidFill>
                <a:latin typeface="Times New Roman" panose="02020603050405020304" pitchFamily="18" charset="0"/>
                <a:cs typeface="Times New Roman" panose="02020603050405020304" pitchFamily="18" charset="0"/>
              </a:rPr>
              <a:t> </a:t>
            </a:r>
            <a:r>
              <a:rPr lang="en-US" altLang="zh-CN" sz="2400" kern="0" dirty="0">
                <a:solidFill>
                  <a:srgbClr val="FF0000"/>
                </a:solidFill>
                <a:latin typeface="Times New Roman" panose="02020603050405020304" pitchFamily="18" charset="0"/>
                <a:cs typeface="Times New Roman" panose="02020603050405020304" pitchFamily="18" charset="0"/>
              </a:rPr>
              <a:t>Resolution (6 min)</a:t>
            </a:r>
          </a:p>
          <a:p>
            <a:pPr lvl="1"/>
            <a:r>
              <a:rPr lang="en-US" altLang="zh-CN" sz="2000" kern="0" dirty="0">
                <a:solidFill>
                  <a:srgbClr val="FF0000"/>
                </a:solidFill>
                <a:latin typeface="Times New Roman" panose="02020603050405020304" pitchFamily="18" charset="0"/>
                <a:cs typeface="Times New Roman" panose="02020603050405020304" pitchFamily="18" charset="0"/>
              </a:rPr>
              <a:t>SWE-bench overview (3 min)</a:t>
            </a:r>
          </a:p>
          <a:p>
            <a:pPr lvl="1"/>
            <a:r>
              <a:rPr lang="en-US" altLang="zh-CN" sz="2000" kern="0" dirty="0">
                <a:solidFill>
                  <a:srgbClr val="FF0000"/>
                </a:solidFill>
                <a:latin typeface="Times New Roman" panose="02020603050405020304" pitchFamily="18" charset="0"/>
                <a:cs typeface="Times New Roman" panose="02020603050405020304" pitchFamily="18" charset="0"/>
              </a:rPr>
              <a:t>Evaluation results (2 min)</a:t>
            </a:r>
          </a:p>
          <a:p>
            <a:pPr lvl="1"/>
            <a:r>
              <a:rPr lang="en-US" altLang="zh-CN" sz="2000" kern="0" dirty="0">
                <a:solidFill>
                  <a:srgbClr val="FF0000"/>
                </a:solidFill>
                <a:latin typeface="Times New Roman" panose="02020603050405020304" pitchFamily="18" charset="0"/>
                <a:cs typeface="Times New Roman" panose="02020603050405020304" pitchFamily="18" charset="0"/>
              </a:rPr>
              <a:t>SWE-bench family (1 min)</a:t>
            </a:r>
          </a:p>
          <a:p>
            <a:r>
              <a:rPr lang="en-US" altLang="zh-CN" sz="2400" kern="0" dirty="0">
                <a:latin typeface="Times New Roman" panose="02020603050405020304" pitchFamily="18" charset="0"/>
                <a:cs typeface="Times New Roman" panose="02020603050405020304" pitchFamily="18" charset="0"/>
              </a:rPr>
              <a:t>Two Paradigms: Pipeline-based vs. Agent-based (10 min)</a:t>
            </a:r>
          </a:p>
          <a:p>
            <a:pPr lvl="1"/>
            <a:r>
              <a:rPr lang="en-US" altLang="zh-CN" sz="2000" kern="0" dirty="0">
                <a:latin typeface="Times New Roman" panose="02020603050405020304" pitchFamily="18" charset="0"/>
                <a:cs typeface="Times New Roman" panose="02020603050405020304" pitchFamily="18" charset="0"/>
              </a:rPr>
              <a:t>Two paradigms (2 min)</a:t>
            </a:r>
          </a:p>
          <a:p>
            <a:pPr lvl="1"/>
            <a:r>
              <a:rPr lang="en-US" altLang="zh-CN" sz="2000" kern="0" dirty="0">
                <a:latin typeface="Times New Roman" panose="02020603050405020304" pitchFamily="18" charset="0"/>
                <a:cs typeface="Times New Roman" panose="02020603050405020304" pitchFamily="18" charset="0"/>
              </a:rPr>
              <a:t>SWE-agent: The agent-based approach (3 min)</a:t>
            </a:r>
          </a:p>
          <a:p>
            <a:pPr lvl="1"/>
            <a:r>
              <a:rPr lang="en-US" altLang="zh-CN" sz="2000" kern="0" dirty="0">
                <a:latin typeface="Times New Roman" panose="02020603050405020304" pitchFamily="18" charset="0"/>
                <a:cs typeface="Times New Roman" panose="02020603050405020304" pitchFamily="18" charset="0"/>
              </a:rPr>
              <a:t>Agentless: The pipeline-based approach (3 min)</a:t>
            </a:r>
          </a:p>
          <a:p>
            <a:pPr lvl="1"/>
            <a:r>
              <a:rPr lang="en-US" altLang="zh-CN" sz="2000" kern="0" dirty="0">
                <a:latin typeface="Times New Roman" panose="02020603050405020304" pitchFamily="18" charset="0"/>
                <a:cs typeface="Times New Roman" panose="02020603050405020304" pitchFamily="18" charset="0"/>
              </a:rPr>
              <a:t>Comparison (2 min)</a:t>
            </a:r>
            <a:endParaRPr lang="en-US" altLang="zh-CN" sz="2400" kern="0" dirty="0">
              <a:latin typeface="Times New Roman" panose="02020603050405020304" pitchFamily="18" charset="0"/>
              <a:cs typeface="Times New Roman" panose="02020603050405020304" pitchFamily="18" charset="0"/>
            </a:endParaRPr>
          </a:p>
          <a:p>
            <a:r>
              <a:rPr lang="en-US" altLang="zh-CN" sz="2400" kern="0" dirty="0">
                <a:latin typeface="Times New Roman" panose="02020603050405020304" pitchFamily="18" charset="0"/>
                <a:cs typeface="Times New Roman" panose="02020603050405020304" pitchFamily="18" charset="0"/>
              </a:rPr>
              <a:t>Conclusions (2 min)</a:t>
            </a:r>
          </a:p>
        </p:txBody>
      </p:sp>
    </p:spTree>
    <p:extLst>
      <p:ext uri="{BB962C8B-B14F-4D97-AF65-F5344CB8AC3E}">
        <p14:creationId xmlns:p14="http://schemas.microsoft.com/office/powerpoint/2010/main" val="1301171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SWE-bench Overview </a:t>
            </a:r>
            <a:r>
              <a:rPr lang="en-US" dirty="0">
                <a:latin typeface="Times New Roman" panose="02020603050405020304" pitchFamily="18" charset="0"/>
                <a:cs typeface="Times New Roman" panose="02020603050405020304" pitchFamily="18" charset="0"/>
              </a:rPr>
              <a:t>(1/4)</a:t>
            </a:r>
          </a:p>
        </p:txBody>
      </p:sp>
      <p:sp>
        <p:nvSpPr>
          <p:cNvPr id="4" name="灯片编号占位符 1">
            <a:extLst>
              <a:ext uri="{FF2B5EF4-FFF2-40B4-BE49-F238E27FC236}">
                <a16:creationId xmlns:a16="http://schemas.microsoft.com/office/drawing/2014/main" id="{A4D8AE41-E9DB-DC4B-0813-8BAB041C681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7</a:t>
            </a:fld>
            <a:endParaRPr lang="zh-TW" altLang="en-US"/>
          </a:p>
        </p:txBody>
      </p:sp>
      <p:sp>
        <p:nvSpPr>
          <p:cNvPr id="50" name="Content Placeholder 2">
            <a:extLst>
              <a:ext uri="{FF2B5EF4-FFF2-40B4-BE49-F238E27FC236}">
                <a16:creationId xmlns:a16="http://schemas.microsoft.com/office/drawing/2014/main" id="{F89DB706-6EC3-E25E-994C-0C6F3B418753}"/>
              </a:ext>
            </a:extLst>
          </p:cNvPr>
          <p:cNvSpPr>
            <a:spLocks noGrp="1"/>
          </p:cNvSpPr>
          <p:nvPr>
            <p:ph idx="1"/>
          </p:nvPr>
        </p:nvSpPr>
        <p:spPr>
          <a:xfrm>
            <a:off x="671754" y="1204663"/>
            <a:ext cx="10722429" cy="4669664"/>
          </a:xfrm>
        </p:spPr>
        <p:txBody>
          <a:bodyPr/>
          <a:lstStyle/>
          <a:p>
            <a:r>
              <a:rPr lang="en-US" sz="2800" dirty="0">
                <a:latin typeface="Times New Roman" panose="02020603050405020304" pitchFamily="18" charset="0"/>
                <a:cs typeface="Times New Roman" panose="02020603050405020304" pitchFamily="18" charset="0"/>
              </a:rPr>
              <a:t>What’s SWE-bench?</a:t>
            </a:r>
          </a:p>
          <a:p>
            <a:pPr lvl="1"/>
            <a:r>
              <a:rPr lang="en-US" sz="2400" dirty="0">
                <a:latin typeface="Times New Roman" panose="02020603050405020304" pitchFamily="18" charset="0"/>
                <a:cs typeface="Times New Roman" panose="02020603050405020304" pitchFamily="18" charset="0"/>
              </a:rPr>
              <a:t>An evaluation framework consisting of 2,294 software engineering problems drawn from real GitHub issues and corresponding pull requests across 12 popular Python repositories.</a:t>
            </a:r>
          </a:p>
          <a:p>
            <a:pPr lvl="1"/>
            <a:endParaRPr lang="en-US" sz="1867"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Why do we need SWE-bench?</a:t>
            </a:r>
          </a:p>
          <a:p>
            <a:pPr lvl="1"/>
            <a:r>
              <a:rPr lang="en-US" sz="2400" dirty="0">
                <a:latin typeface="Times New Roman" panose="02020603050405020304" pitchFamily="18" charset="0"/>
                <a:cs typeface="Times New Roman" panose="02020603050405020304" pitchFamily="18" charset="0"/>
              </a:rPr>
              <a:t>Existing benchmarks are saturated and test only isolated functions, whereas SWE‑bench requires repository‑scale, multi‑file reasoning—capturing real‑world software engineering practice.</a:t>
            </a:r>
          </a:p>
        </p:txBody>
      </p:sp>
    </p:spTree>
    <p:extLst>
      <p:ext uri="{BB962C8B-B14F-4D97-AF65-F5344CB8AC3E}">
        <p14:creationId xmlns:p14="http://schemas.microsoft.com/office/powerpoint/2010/main" val="359116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SWE-bench Overview </a:t>
            </a:r>
            <a:r>
              <a:rPr lang="en-US" dirty="0">
                <a:latin typeface="Times New Roman" panose="02020603050405020304" pitchFamily="18" charset="0"/>
                <a:cs typeface="Times New Roman" panose="02020603050405020304" pitchFamily="18" charset="0"/>
              </a:rPr>
              <a:t>(2/4)</a:t>
            </a:r>
          </a:p>
        </p:txBody>
      </p:sp>
      <p:sp>
        <p:nvSpPr>
          <p:cNvPr id="4" name="灯片编号占位符 1">
            <a:extLst>
              <a:ext uri="{FF2B5EF4-FFF2-40B4-BE49-F238E27FC236}">
                <a16:creationId xmlns:a16="http://schemas.microsoft.com/office/drawing/2014/main" id="{A4D8AE41-E9DB-DC4B-0813-8BAB041C681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8</a:t>
            </a:fld>
            <a:endParaRPr lang="zh-TW" altLang="en-US"/>
          </a:p>
        </p:txBody>
      </p:sp>
      <p:sp>
        <p:nvSpPr>
          <p:cNvPr id="50" name="Content Placeholder 2">
            <a:extLst>
              <a:ext uri="{FF2B5EF4-FFF2-40B4-BE49-F238E27FC236}">
                <a16:creationId xmlns:a16="http://schemas.microsoft.com/office/drawing/2014/main" id="{F89DB706-6EC3-E25E-994C-0C6F3B418753}"/>
              </a:ext>
            </a:extLst>
          </p:cNvPr>
          <p:cNvSpPr>
            <a:spLocks noGrp="1"/>
          </p:cNvSpPr>
          <p:nvPr>
            <p:ph idx="1"/>
          </p:nvPr>
        </p:nvSpPr>
        <p:spPr>
          <a:xfrm>
            <a:off x="245919" y="1296844"/>
            <a:ext cx="11281063" cy="2224337"/>
          </a:xfrm>
        </p:spPr>
        <p:txBody>
          <a:bodyPr/>
          <a:lstStyle/>
          <a:p>
            <a:r>
              <a:rPr lang="en-US" sz="2400" dirty="0">
                <a:latin typeface="Times New Roman" panose="02020603050405020304" pitchFamily="18" charset="0"/>
                <a:cs typeface="Times New Roman" panose="02020603050405020304" pitchFamily="18" charset="0"/>
              </a:rPr>
              <a:t>Three-stage automated construction pipeline</a:t>
            </a:r>
          </a:p>
          <a:p>
            <a:pPr lvl="1"/>
            <a:r>
              <a:rPr lang="en-US" sz="2000" dirty="0">
                <a:latin typeface="Times New Roman" panose="02020603050405020304" pitchFamily="18" charset="0"/>
                <a:cs typeface="Times New Roman" panose="02020603050405020304" pitchFamily="18" charset="0"/>
              </a:rPr>
              <a:t>Scrape 90,000 PRs from 12 popular Python repos.</a:t>
            </a:r>
          </a:p>
          <a:p>
            <a:pPr lvl="1"/>
            <a:r>
              <a:rPr lang="en-US" sz="2000" dirty="0">
                <a:latin typeface="Times New Roman" panose="02020603050405020304" pitchFamily="18" charset="0"/>
                <a:cs typeface="Times New Roman" panose="02020603050405020304" pitchFamily="18" charset="0"/>
              </a:rPr>
              <a:t>Attribute filter — keep only merged PRs that resolve a GitHub issue and contribute test changes. </a:t>
            </a:r>
          </a:p>
          <a:p>
            <a:pPr lvl="1"/>
            <a:r>
              <a:rPr lang="en-US" sz="2000" dirty="0">
                <a:latin typeface="Times New Roman" panose="02020603050405020304" pitchFamily="18" charset="0"/>
                <a:cs typeface="Times New Roman" panose="02020603050405020304" pitchFamily="18" charset="0"/>
              </a:rPr>
              <a:t>Execution filter — keep only instances with ≥1 test changing from fail to pass "fail-to-pass" tests.</a:t>
            </a:r>
          </a:p>
        </p:txBody>
      </p:sp>
      <p:pic>
        <p:nvPicPr>
          <p:cNvPr id="3" name="Picture 2">
            <a:extLst>
              <a:ext uri="{FF2B5EF4-FFF2-40B4-BE49-F238E27FC236}">
                <a16:creationId xmlns:a16="http://schemas.microsoft.com/office/drawing/2014/main" id="{84579709-4801-48CF-D802-4A11082C1D92}"/>
              </a:ext>
            </a:extLst>
          </p:cNvPr>
          <p:cNvPicPr>
            <a:picLocks noChangeAspect="1"/>
          </p:cNvPicPr>
          <p:nvPr/>
        </p:nvPicPr>
        <p:blipFill>
          <a:blip r:embed="rId3"/>
          <a:stretch>
            <a:fillRect/>
          </a:stretch>
        </p:blipFill>
        <p:spPr>
          <a:xfrm>
            <a:off x="4143983" y="3015574"/>
            <a:ext cx="7915929" cy="2663260"/>
          </a:xfrm>
          <a:prstGeom prst="rect">
            <a:avLst/>
          </a:prstGeom>
        </p:spPr>
      </p:pic>
      <p:sp>
        <p:nvSpPr>
          <p:cNvPr id="6" name="TextBox 5">
            <a:extLst>
              <a:ext uri="{FF2B5EF4-FFF2-40B4-BE49-F238E27FC236}">
                <a16:creationId xmlns:a16="http://schemas.microsoft.com/office/drawing/2014/main" id="{8B51A49B-8FD6-DCB9-06FF-292E34EF335A}"/>
              </a:ext>
            </a:extLst>
          </p:cNvPr>
          <p:cNvSpPr txBox="1"/>
          <p:nvPr/>
        </p:nvSpPr>
        <p:spPr>
          <a:xfrm>
            <a:off x="6302192" y="5678834"/>
            <a:ext cx="4506362" cy="369332"/>
          </a:xfrm>
          <a:prstGeom prst="rect">
            <a:avLst/>
          </a:prstGeom>
          <a:noFill/>
        </p:spPr>
        <p:txBody>
          <a:bodyPr wrap="non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Figure </a:t>
            </a:r>
            <a:r>
              <a:rPr lang="en-US" altLang="zh-CN" dirty="0">
                <a:latin typeface="Times New Roman" panose="02020603050405020304" pitchFamily="18" charset="0"/>
                <a:ea typeface="標楷體" pitchFamily="65" charset="-120"/>
                <a:cs typeface="Times New Roman" panose="02020603050405020304" pitchFamily="18" charset="0"/>
              </a:rPr>
              <a:t>2</a:t>
            </a:r>
            <a:r>
              <a:rPr lang="en-CN" dirty="0">
                <a:latin typeface="Times New Roman" panose="02020603050405020304" pitchFamily="18" charset="0"/>
                <a:ea typeface="標楷體" pitchFamily="65" charset="-120"/>
                <a:cs typeface="Times New Roman" panose="02020603050405020304" pitchFamily="18" charset="0"/>
              </a:rPr>
              <a:t>. C</a:t>
            </a:r>
            <a:r>
              <a:rPr lang="en-US" altLang="zh-CN" dirty="0" err="1">
                <a:latin typeface="Times New Roman" panose="02020603050405020304" pitchFamily="18" charset="0"/>
                <a:ea typeface="標楷體" pitchFamily="65" charset="-120"/>
                <a:cs typeface="Times New Roman" panose="02020603050405020304" pitchFamily="18" charset="0"/>
              </a:rPr>
              <a:t>onstruction</a:t>
            </a:r>
            <a:r>
              <a:rPr lang="zh-CN" altLang="en-US" dirty="0">
                <a:latin typeface="Times New Roman" panose="02020603050405020304" pitchFamily="18" charset="0"/>
                <a:ea typeface="標楷體" pitchFamily="65" charset="-120"/>
                <a:cs typeface="Times New Roman" panose="02020603050405020304" pitchFamily="18" charset="0"/>
              </a:rPr>
              <a:t> </a:t>
            </a:r>
            <a:r>
              <a:rPr lang="en-US" altLang="zh-CN" dirty="0">
                <a:latin typeface="Times New Roman" panose="02020603050405020304" pitchFamily="18" charset="0"/>
                <a:ea typeface="標楷體" pitchFamily="65" charset="-120"/>
                <a:cs typeface="Times New Roman" panose="02020603050405020304" pitchFamily="18" charset="0"/>
              </a:rPr>
              <a:t>Pipeline</a:t>
            </a:r>
            <a:r>
              <a:rPr lang="zh-CN" altLang="en-US" dirty="0">
                <a:latin typeface="Times New Roman" panose="02020603050405020304" pitchFamily="18" charset="0"/>
                <a:ea typeface="標楷體" pitchFamily="65" charset="-120"/>
                <a:cs typeface="Times New Roman" panose="02020603050405020304" pitchFamily="18" charset="0"/>
              </a:rPr>
              <a:t> </a:t>
            </a:r>
            <a:r>
              <a:rPr lang="en-US" altLang="zh-CN" dirty="0">
                <a:latin typeface="Times New Roman" panose="02020603050405020304" pitchFamily="18" charset="0"/>
                <a:ea typeface="標楷體" pitchFamily="65" charset="-120"/>
                <a:cs typeface="Times New Roman" panose="02020603050405020304" pitchFamily="18" charset="0"/>
              </a:rPr>
              <a:t>of</a:t>
            </a:r>
            <a:r>
              <a:rPr lang="zh-CN" altLang="en-US" dirty="0">
                <a:latin typeface="Times New Roman" panose="02020603050405020304" pitchFamily="18" charset="0"/>
                <a:ea typeface="標楷體" pitchFamily="65" charset="-120"/>
                <a:cs typeface="Times New Roman" panose="02020603050405020304" pitchFamily="18" charset="0"/>
              </a:rPr>
              <a:t> </a:t>
            </a:r>
            <a:r>
              <a:rPr lang="en-US" altLang="zh-CN" dirty="0">
                <a:latin typeface="Times New Roman" panose="02020603050405020304" pitchFamily="18" charset="0"/>
                <a:ea typeface="標楷體" pitchFamily="65" charset="-120"/>
                <a:cs typeface="Times New Roman" panose="02020603050405020304" pitchFamily="18" charset="0"/>
              </a:rPr>
              <a:t>SWE-bench</a:t>
            </a:r>
            <a:endParaRPr lang="en-CN" dirty="0">
              <a:latin typeface="Times New Roman" panose="02020603050405020304" pitchFamily="18" charset="0"/>
              <a:ea typeface="標楷體" pitchFamily="65" charset="-120"/>
              <a:cs typeface="Times New Roman" panose="02020603050405020304" pitchFamily="18" charset="0"/>
            </a:endParaRPr>
          </a:p>
        </p:txBody>
      </p:sp>
      <p:sp>
        <p:nvSpPr>
          <p:cNvPr id="7" name="Content Placeholder 2">
            <a:extLst>
              <a:ext uri="{FF2B5EF4-FFF2-40B4-BE49-F238E27FC236}">
                <a16:creationId xmlns:a16="http://schemas.microsoft.com/office/drawing/2014/main" id="{0C82172C-5A35-2B36-46A1-4873DEC4CA7F}"/>
              </a:ext>
            </a:extLst>
          </p:cNvPr>
          <p:cNvSpPr txBox="1">
            <a:spLocks/>
          </p:cNvSpPr>
          <p:nvPr/>
        </p:nvSpPr>
        <p:spPr bwMode="auto">
          <a:xfrm>
            <a:off x="342901" y="3168120"/>
            <a:ext cx="4620682" cy="22243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400" kern="0" dirty="0">
                <a:latin typeface="Times New Roman" panose="02020603050405020304" pitchFamily="18" charset="0"/>
                <a:cs typeface="Times New Roman" panose="02020603050405020304" pitchFamily="18" charset="0"/>
              </a:rPr>
              <a:t>Input: </a:t>
            </a:r>
          </a:p>
          <a:p>
            <a:pPr lvl="1"/>
            <a:r>
              <a:rPr lang="en-US" sz="2000" kern="0" dirty="0">
                <a:latin typeface="Times New Roman" panose="02020603050405020304" pitchFamily="18" charset="0"/>
                <a:cs typeface="Times New Roman" panose="02020603050405020304" pitchFamily="18" charset="0"/>
              </a:rPr>
              <a:t>Issue description.</a:t>
            </a:r>
          </a:p>
          <a:p>
            <a:pPr lvl="1"/>
            <a:r>
              <a:rPr lang="en-US" sz="2000" kern="0" dirty="0">
                <a:latin typeface="Times New Roman" panose="02020603050405020304" pitchFamily="18" charset="0"/>
                <a:cs typeface="Times New Roman" panose="02020603050405020304" pitchFamily="18" charset="0"/>
              </a:rPr>
              <a:t>Codebase at pre-PR commit.</a:t>
            </a:r>
          </a:p>
          <a:p>
            <a:r>
              <a:rPr lang="en-US" sz="2400" kern="0" dirty="0">
                <a:latin typeface="Times New Roman" panose="02020603050405020304" pitchFamily="18" charset="0"/>
                <a:cs typeface="Times New Roman" panose="02020603050405020304" pitchFamily="18" charset="0"/>
              </a:rPr>
              <a:t>Output:</a:t>
            </a:r>
          </a:p>
          <a:p>
            <a:pPr lvl="1"/>
            <a:r>
              <a:rPr lang="en-US" sz="2000" kern="0" dirty="0">
                <a:latin typeface="Times New Roman" panose="02020603050405020304" pitchFamily="18" charset="0"/>
                <a:cs typeface="Times New Roman" panose="02020603050405020304" pitchFamily="18" charset="0"/>
              </a:rPr>
              <a:t>A patch file (diff format).</a:t>
            </a:r>
          </a:p>
        </p:txBody>
      </p:sp>
    </p:spTree>
    <p:extLst>
      <p:ext uri="{BB962C8B-B14F-4D97-AF65-F5344CB8AC3E}">
        <p14:creationId xmlns:p14="http://schemas.microsoft.com/office/powerpoint/2010/main" val="2832734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Evaluation Results on SWE-bench </a:t>
            </a:r>
            <a:r>
              <a:rPr lang="en-US" dirty="0">
                <a:latin typeface="Times New Roman" panose="02020603050405020304" pitchFamily="18" charset="0"/>
                <a:cs typeface="Times New Roman" panose="02020603050405020304" pitchFamily="18" charset="0"/>
              </a:rPr>
              <a:t>(3/4)</a:t>
            </a:r>
          </a:p>
        </p:txBody>
      </p:sp>
      <p:sp>
        <p:nvSpPr>
          <p:cNvPr id="4" name="灯片编号占位符 1">
            <a:extLst>
              <a:ext uri="{FF2B5EF4-FFF2-40B4-BE49-F238E27FC236}">
                <a16:creationId xmlns:a16="http://schemas.microsoft.com/office/drawing/2014/main" id="{A4D8AE41-E9DB-DC4B-0813-8BAB041C681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9</a:t>
            </a:fld>
            <a:endParaRPr lang="zh-TW" altLang="en-US"/>
          </a:p>
        </p:txBody>
      </p:sp>
      <p:sp>
        <p:nvSpPr>
          <p:cNvPr id="36" name="Content Placeholder 2">
            <a:extLst>
              <a:ext uri="{FF2B5EF4-FFF2-40B4-BE49-F238E27FC236}">
                <a16:creationId xmlns:a16="http://schemas.microsoft.com/office/drawing/2014/main" id="{CDFDE603-4639-894E-9A92-231EC5862A34}"/>
              </a:ext>
            </a:extLst>
          </p:cNvPr>
          <p:cNvSpPr>
            <a:spLocks noGrp="1"/>
          </p:cNvSpPr>
          <p:nvPr>
            <p:ph idx="1"/>
          </p:nvPr>
        </p:nvSpPr>
        <p:spPr>
          <a:xfrm>
            <a:off x="70005" y="1204663"/>
            <a:ext cx="5977011" cy="5071446"/>
          </a:xfrm>
        </p:spPr>
        <p:txBody>
          <a:bodyPr/>
          <a:lstStyle/>
          <a:p>
            <a:r>
              <a:rPr lang="en-US" sz="2800" dirty="0">
                <a:latin typeface="Times New Roman" panose="02020603050405020304" pitchFamily="18" charset="0"/>
                <a:cs typeface="Times New Roman" panose="02020603050405020304" pitchFamily="18" charset="0"/>
              </a:rPr>
              <a:t>Initial evaluation result </a:t>
            </a:r>
          </a:p>
          <a:p>
            <a:pPr lvl="1"/>
            <a:r>
              <a:rPr lang="en-US" sz="2400" dirty="0">
                <a:latin typeface="Times New Roman" panose="02020603050405020304" pitchFamily="18" charset="0"/>
                <a:cs typeface="Times New Roman" panose="02020603050405020304" pitchFamily="18" charset="0"/>
              </a:rPr>
              <a:t>Claude 3 Opus reaches the highest resolve rate 3.79%.</a:t>
            </a:r>
          </a:p>
          <a:p>
            <a:pPr lvl="1"/>
            <a:endParaRPr lang="en-US" sz="2400" dirty="0">
              <a:latin typeface="Times New Roman" panose="02020603050405020304" pitchFamily="18" charset="0"/>
              <a:cs typeface="Times New Roman" panose="02020603050405020304" pitchFamily="18" charset="0"/>
            </a:endParaRPr>
          </a:p>
          <a:p>
            <a:pPr marL="457176" lvl="1" indent="0">
              <a:buNone/>
            </a:pPr>
            <a:endParaRPr lang="en-US" sz="2400" dirty="0">
              <a:latin typeface="Times New Roman" panose="02020603050405020304" pitchFamily="18" charset="0"/>
              <a:cs typeface="Times New Roman" panose="02020603050405020304" pitchFamily="18" charset="0"/>
            </a:endParaRPr>
          </a:p>
        </p:txBody>
      </p:sp>
      <p:pic>
        <p:nvPicPr>
          <p:cNvPr id="37" name="Picture 36">
            <a:extLst>
              <a:ext uri="{FF2B5EF4-FFF2-40B4-BE49-F238E27FC236}">
                <a16:creationId xmlns:a16="http://schemas.microsoft.com/office/drawing/2014/main" id="{B20F0A4A-18A9-A13C-3881-44ECB7BECBD5}"/>
              </a:ext>
            </a:extLst>
          </p:cNvPr>
          <p:cNvPicPr>
            <a:picLocks noChangeAspect="1"/>
          </p:cNvPicPr>
          <p:nvPr/>
        </p:nvPicPr>
        <p:blipFill>
          <a:blip r:embed="rId3"/>
          <a:stretch>
            <a:fillRect/>
          </a:stretch>
        </p:blipFill>
        <p:spPr>
          <a:xfrm>
            <a:off x="899790" y="3245609"/>
            <a:ext cx="4025545" cy="2223062"/>
          </a:xfrm>
          <a:prstGeom prst="rect">
            <a:avLst/>
          </a:prstGeom>
        </p:spPr>
      </p:pic>
      <p:sp>
        <p:nvSpPr>
          <p:cNvPr id="38" name="TextBox 37">
            <a:extLst>
              <a:ext uri="{FF2B5EF4-FFF2-40B4-BE49-F238E27FC236}">
                <a16:creationId xmlns:a16="http://schemas.microsoft.com/office/drawing/2014/main" id="{4A4C7AEB-11C4-C81D-7796-AC019F713512}"/>
              </a:ext>
            </a:extLst>
          </p:cNvPr>
          <p:cNvSpPr txBox="1"/>
          <p:nvPr/>
        </p:nvSpPr>
        <p:spPr>
          <a:xfrm>
            <a:off x="1088571" y="2876277"/>
            <a:ext cx="3733651" cy="369332"/>
          </a:xfrm>
          <a:prstGeom prst="rect">
            <a:avLst/>
          </a:prstGeom>
          <a:noFill/>
        </p:spPr>
        <p:txBody>
          <a:bodyPr wrap="none" rtlCol="0" anchor="ctr" anchorCtr="1">
            <a:spAutoFit/>
          </a:bodyPr>
          <a:lstStyle/>
          <a:p>
            <a:r>
              <a:rPr lang="en-US" dirty="0">
                <a:latin typeface="Times New Roman" panose="02020603050405020304" pitchFamily="18" charset="0"/>
                <a:ea typeface="標楷體" pitchFamily="65" charset="-120"/>
                <a:cs typeface="Times New Roman" panose="02020603050405020304" pitchFamily="18" charset="0"/>
              </a:rPr>
              <a:t>Table 1</a:t>
            </a:r>
            <a:r>
              <a:rPr lang="en-CN" dirty="0">
                <a:latin typeface="Times New Roman" panose="02020603050405020304" pitchFamily="18" charset="0"/>
                <a:ea typeface="標楷體" pitchFamily="65" charset="-120"/>
                <a:cs typeface="Times New Roman" panose="02020603050405020304" pitchFamily="18" charset="0"/>
              </a:rPr>
              <a:t>. </a:t>
            </a:r>
            <a:r>
              <a:rPr lang="en-US" dirty="0">
                <a:latin typeface="Times New Roman" panose="02020603050405020304" pitchFamily="18" charset="0"/>
                <a:ea typeface="標楷體" pitchFamily="65" charset="-120"/>
                <a:cs typeface="Times New Roman" panose="02020603050405020304" pitchFamily="18" charset="0"/>
              </a:rPr>
              <a:t>Initial Results on SWE-bench</a:t>
            </a:r>
            <a:endParaRPr lang="en-CN" dirty="0">
              <a:latin typeface="Times New Roman" panose="02020603050405020304" pitchFamily="18" charset="0"/>
              <a:ea typeface="標楷體" pitchFamily="65" charset="-120"/>
              <a:cs typeface="Times New Roman" panose="02020603050405020304" pitchFamily="18" charset="0"/>
            </a:endParaRPr>
          </a:p>
        </p:txBody>
      </p:sp>
      <p:sp>
        <p:nvSpPr>
          <p:cNvPr id="40" name="Content Placeholder 2">
            <a:extLst>
              <a:ext uri="{FF2B5EF4-FFF2-40B4-BE49-F238E27FC236}">
                <a16:creationId xmlns:a16="http://schemas.microsoft.com/office/drawing/2014/main" id="{80FB7BB9-69D2-6DEF-91D1-01C4C6073AC1}"/>
              </a:ext>
            </a:extLst>
          </p:cNvPr>
          <p:cNvSpPr txBox="1">
            <a:spLocks/>
          </p:cNvSpPr>
          <p:nvPr/>
        </p:nvSpPr>
        <p:spPr bwMode="auto">
          <a:xfrm>
            <a:off x="6144985" y="1198942"/>
            <a:ext cx="6194146" cy="507144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800" kern="0" dirty="0">
                <a:latin typeface="Times New Roman" panose="02020603050405020304" pitchFamily="18" charset="0"/>
                <a:cs typeface="Times New Roman" panose="02020603050405020304" pitchFamily="18" charset="0"/>
              </a:rPr>
              <a:t>Today’s evaluation result </a:t>
            </a:r>
          </a:p>
          <a:p>
            <a:pPr lvl="1"/>
            <a:r>
              <a:rPr lang="en-US" sz="2400" kern="0" dirty="0">
                <a:latin typeface="Times New Roman" panose="02020603050405020304" pitchFamily="18" charset="0"/>
                <a:cs typeface="Times New Roman" panose="02020603050405020304" pitchFamily="18" charset="0"/>
              </a:rPr>
              <a:t>Claude Opus 4.5 reaches the highest resolve rate 76.8%.</a:t>
            </a:r>
          </a:p>
          <a:p>
            <a:pPr lvl="1"/>
            <a:endParaRPr lang="en-US" sz="2400" kern="0" dirty="0">
              <a:latin typeface="Times New Roman" panose="02020603050405020304" pitchFamily="18" charset="0"/>
              <a:cs typeface="Times New Roman" panose="02020603050405020304" pitchFamily="18" charset="0"/>
            </a:endParaRPr>
          </a:p>
          <a:p>
            <a:pPr marL="457176" lvl="1" indent="0">
              <a:buFont typeface="Arial" charset="0"/>
              <a:buNone/>
            </a:pPr>
            <a:endParaRPr lang="en-US" sz="2400" kern="0" dirty="0">
              <a:latin typeface="Times New Roman" panose="02020603050405020304" pitchFamily="18" charset="0"/>
              <a:cs typeface="Times New Roman" panose="02020603050405020304" pitchFamily="18" charset="0"/>
            </a:endParaRPr>
          </a:p>
        </p:txBody>
      </p:sp>
      <p:pic>
        <p:nvPicPr>
          <p:cNvPr id="42" name="Picture 41">
            <a:extLst>
              <a:ext uri="{FF2B5EF4-FFF2-40B4-BE49-F238E27FC236}">
                <a16:creationId xmlns:a16="http://schemas.microsoft.com/office/drawing/2014/main" id="{3D73ADDB-5699-3836-F063-D9A3C27D12A7}"/>
              </a:ext>
            </a:extLst>
          </p:cNvPr>
          <p:cNvPicPr>
            <a:picLocks noChangeAspect="1"/>
          </p:cNvPicPr>
          <p:nvPr/>
        </p:nvPicPr>
        <p:blipFill>
          <a:blip r:embed="rId4"/>
          <a:stretch>
            <a:fillRect/>
          </a:stretch>
        </p:blipFill>
        <p:spPr>
          <a:xfrm>
            <a:off x="6449785" y="2623175"/>
            <a:ext cx="5311909" cy="3035883"/>
          </a:xfrm>
          <a:prstGeom prst="rect">
            <a:avLst/>
          </a:prstGeom>
        </p:spPr>
      </p:pic>
      <p:sp>
        <p:nvSpPr>
          <p:cNvPr id="43" name="TextBox 42">
            <a:extLst>
              <a:ext uri="{FF2B5EF4-FFF2-40B4-BE49-F238E27FC236}">
                <a16:creationId xmlns:a16="http://schemas.microsoft.com/office/drawing/2014/main" id="{52A197AE-F617-BC45-C182-B43BFB98ED40}"/>
              </a:ext>
            </a:extLst>
          </p:cNvPr>
          <p:cNvSpPr txBox="1"/>
          <p:nvPr/>
        </p:nvSpPr>
        <p:spPr>
          <a:xfrm>
            <a:off x="6666924" y="5719251"/>
            <a:ext cx="4607993" cy="369332"/>
          </a:xfrm>
          <a:prstGeom prst="rect">
            <a:avLst/>
          </a:prstGeom>
          <a:noFill/>
        </p:spPr>
        <p:txBody>
          <a:bodyPr wrap="non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Figure </a:t>
            </a:r>
            <a:r>
              <a:rPr lang="en-US" dirty="0">
                <a:latin typeface="Times New Roman" panose="02020603050405020304" pitchFamily="18" charset="0"/>
                <a:ea typeface="標楷體" pitchFamily="65" charset="-120"/>
                <a:cs typeface="Times New Roman" panose="02020603050405020304" pitchFamily="18" charset="0"/>
              </a:rPr>
              <a:t>3</a:t>
            </a:r>
            <a:r>
              <a:rPr lang="en-CN" dirty="0">
                <a:latin typeface="Times New Roman" panose="02020603050405020304" pitchFamily="18" charset="0"/>
                <a:ea typeface="標楷體" pitchFamily="65" charset="-120"/>
                <a:cs typeface="Times New Roman" panose="02020603050405020304" pitchFamily="18" charset="0"/>
              </a:rPr>
              <a:t>. </a:t>
            </a:r>
            <a:r>
              <a:rPr lang="en-US" dirty="0">
                <a:latin typeface="Times New Roman" panose="02020603050405020304" pitchFamily="18" charset="0"/>
                <a:ea typeface="標楷體" pitchFamily="65" charset="-120"/>
                <a:cs typeface="Times New Roman" panose="02020603050405020304" pitchFamily="18" charset="0"/>
              </a:rPr>
              <a:t>Today’s resolution rate of SWE-bench</a:t>
            </a:r>
            <a:endParaRPr lang="en-CN"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1853860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SWE-bench Family </a:t>
            </a:r>
            <a:r>
              <a:rPr lang="en-US" dirty="0">
                <a:latin typeface="Times New Roman" panose="02020603050405020304" pitchFamily="18" charset="0"/>
                <a:cs typeface="Times New Roman" panose="02020603050405020304" pitchFamily="18" charset="0"/>
              </a:rPr>
              <a:t>(4/4)</a:t>
            </a:r>
          </a:p>
        </p:txBody>
      </p:sp>
      <p:sp>
        <p:nvSpPr>
          <p:cNvPr id="4" name="灯片编号占位符 1">
            <a:extLst>
              <a:ext uri="{FF2B5EF4-FFF2-40B4-BE49-F238E27FC236}">
                <a16:creationId xmlns:a16="http://schemas.microsoft.com/office/drawing/2014/main" id="{A4D8AE41-E9DB-DC4B-0813-8BAB041C681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10</a:t>
            </a:fld>
            <a:endParaRPr lang="zh-TW" altLang="en-US"/>
          </a:p>
        </p:txBody>
      </p:sp>
      <p:sp>
        <p:nvSpPr>
          <p:cNvPr id="36" name="Content Placeholder 2">
            <a:extLst>
              <a:ext uri="{FF2B5EF4-FFF2-40B4-BE49-F238E27FC236}">
                <a16:creationId xmlns:a16="http://schemas.microsoft.com/office/drawing/2014/main" id="{CDFDE603-4639-894E-9A92-231EC5862A34}"/>
              </a:ext>
            </a:extLst>
          </p:cNvPr>
          <p:cNvSpPr>
            <a:spLocks noGrp="1"/>
          </p:cNvSpPr>
          <p:nvPr>
            <p:ph idx="1"/>
          </p:nvPr>
        </p:nvSpPr>
        <p:spPr>
          <a:xfrm>
            <a:off x="549719" y="1453182"/>
            <a:ext cx="10155452" cy="5071446"/>
          </a:xfrm>
        </p:spPr>
        <p:txBody>
          <a:bodyPr/>
          <a:lstStyle/>
          <a:p>
            <a:pPr lvl="1"/>
            <a:endParaRPr lang="en-US" sz="2400" dirty="0">
              <a:latin typeface="Times New Roman" panose="02020603050405020304" pitchFamily="18" charset="0"/>
              <a:cs typeface="Times New Roman" panose="02020603050405020304" pitchFamily="18" charset="0"/>
            </a:endParaRPr>
          </a:p>
          <a:p>
            <a:r>
              <a:rPr lang="en-US" sz="2933">
                <a:latin typeface="Times New Roman" panose="02020603050405020304" pitchFamily="18" charset="0"/>
                <a:cs typeface="Times New Roman" panose="02020603050405020304" pitchFamily="18" charset="0"/>
              </a:rPr>
              <a:t>SWE-bench family</a:t>
            </a:r>
            <a:endParaRPr lang="en-US" sz="2933"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SWE-bench Lite: 300 curated subset.</a:t>
            </a:r>
          </a:p>
          <a:p>
            <a:pPr lvl="1"/>
            <a:r>
              <a:rPr lang="en-US" sz="2400" dirty="0">
                <a:latin typeface="Times New Roman" panose="02020603050405020304" pitchFamily="18" charset="0"/>
                <a:cs typeface="Times New Roman" panose="02020603050405020304" pitchFamily="18" charset="0"/>
              </a:rPr>
              <a:t>SWE-bench Verified: 500 instances, validated by 93 annotators.</a:t>
            </a:r>
          </a:p>
          <a:p>
            <a:pPr lvl="1"/>
            <a:r>
              <a:rPr lang="en-US" sz="2400" dirty="0">
                <a:latin typeface="Times New Roman" panose="02020603050405020304" pitchFamily="18" charset="0"/>
                <a:cs typeface="Times New Roman" panose="02020603050405020304" pitchFamily="18" charset="0"/>
              </a:rPr>
              <a:t>SWE-bench Multilingual.</a:t>
            </a:r>
          </a:p>
          <a:p>
            <a:pPr lvl="1"/>
            <a:r>
              <a:rPr lang="en-US" sz="2400" dirty="0">
                <a:latin typeface="Times New Roman" panose="02020603050405020304" pitchFamily="18" charset="0"/>
                <a:cs typeface="Times New Roman" panose="02020603050405020304" pitchFamily="18" charset="0"/>
              </a:rPr>
              <a:t>SWE-bench Multimodal.</a:t>
            </a:r>
          </a:p>
          <a:p>
            <a:pPr marL="457176" lvl="1"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0134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5" name="灯片编号占位符 1">
            <a:extLst>
              <a:ext uri="{FF2B5EF4-FFF2-40B4-BE49-F238E27FC236}">
                <a16:creationId xmlns:a16="http://schemas.microsoft.com/office/drawing/2014/main" id="{C8F1849A-008E-6EF5-AB10-F46E38150EF0}"/>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11</a:t>
            </a:fld>
            <a:endParaRPr lang="zh-TW" altLang="en-US"/>
          </a:p>
        </p:txBody>
      </p:sp>
      <p:sp>
        <p:nvSpPr>
          <p:cNvPr id="7" name="內容版面配置區 2">
            <a:extLst>
              <a:ext uri="{FF2B5EF4-FFF2-40B4-BE49-F238E27FC236}">
                <a16:creationId xmlns:a16="http://schemas.microsoft.com/office/drawing/2014/main" id="{C255651E-265A-100F-4755-06C8521E5917}"/>
              </a:ext>
            </a:extLst>
          </p:cNvPr>
          <p:cNvSpPr txBox="1">
            <a:spLocks/>
          </p:cNvSpPr>
          <p:nvPr/>
        </p:nvSpPr>
        <p:spPr bwMode="auto">
          <a:xfrm>
            <a:off x="1296610" y="1125537"/>
            <a:ext cx="10270977" cy="57388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Introduction (3 min)</a:t>
            </a:r>
            <a:r>
              <a:rPr lang="en-US" altLang="zh-TW" sz="2400" kern="0" dirty="0">
                <a:latin typeface="Times New Roman" panose="02020603050405020304" pitchFamily="18" charset="0"/>
                <a:cs typeface="Times New Roman" panose="02020603050405020304" pitchFamily="18" charset="0"/>
              </a:rPr>
              <a:t> </a:t>
            </a:r>
          </a:p>
          <a:p>
            <a:r>
              <a:rPr lang="en-US" altLang="zh-CN" sz="2400" kern="0" dirty="0">
                <a:latin typeface="Times New Roman" panose="02020603050405020304" pitchFamily="18" charset="0"/>
                <a:cs typeface="Times New Roman" panose="02020603050405020304" pitchFamily="18" charset="0"/>
              </a:rPr>
              <a:t>SWE-bench: Real-world</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Issues</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Resolution (6 min)</a:t>
            </a:r>
          </a:p>
          <a:p>
            <a:pPr lvl="1"/>
            <a:r>
              <a:rPr lang="en-US" altLang="zh-CN" sz="2000" kern="0" dirty="0">
                <a:latin typeface="Times New Roman" panose="02020603050405020304" pitchFamily="18" charset="0"/>
                <a:cs typeface="Times New Roman" panose="02020603050405020304" pitchFamily="18" charset="0"/>
              </a:rPr>
              <a:t>SWE-bench overview (3 min)</a:t>
            </a:r>
          </a:p>
          <a:p>
            <a:pPr lvl="1"/>
            <a:r>
              <a:rPr lang="en-US" altLang="zh-CN" sz="2000" kern="0" dirty="0">
                <a:latin typeface="Times New Roman" panose="02020603050405020304" pitchFamily="18" charset="0"/>
                <a:cs typeface="Times New Roman" panose="02020603050405020304" pitchFamily="18" charset="0"/>
              </a:rPr>
              <a:t>Evaluation results (2 min)</a:t>
            </a:r>
          </a:p>
          <a:p>
            <a:pPr lvl="1"/>
            <a:r>
              <a:rPr lang="en-US" altLang="zh-CN" sz="2000" kern="0" dirty="0">
                <a:latin typeface="Times New Roman" panose="02020603050405020304" pitchFamily="18" charset="0"/>
                <a:cs typeface="Times New Roman" panose="02020603050405020304" pitchFamily="18" charset="0"/>
              </a:rPr>
              <a:t>SWE-bench family (1 min)</a:t>
            </a:r>
          </a:p>
          <a:p>
            <a:r>
              <a:rPr lang="en-US" altLang="zh-CN" sz="2400" kern="0" dirty="0">
                <a:solidFill>
                  <a:srgbClr val="FF0000"/>
                </a:solidFill>
                <a:latin typeface="Times New Roman" panose="02020603050405020304" pitchFamily="18" charset="0"/>
                <a:cs typeface="Times New Roman" panose="02020603050405020304" pitchFamily="18" charset="0"/>
              </a:rPr>
              <a:t>Two Paradigms: Pipeline-based vs. Agent-based (10 min)</a:t>
            </a:r>
          </a:p>
          <a:p>
            <a:pPr lvl="1"/>
            <a:r>
              <a:rPr lang="en-US" altLang="zh-CN" sz="2000" kern="0" dirty="0">
                <a:solidFill>
                  <a:srgbClr val="FF0000"/>
                </a:solidFill>
                <a:latin typeface="Times New Roman" panose="02020603050405020304" pitchFamily="18" charset="0"/>
                <a:cs typeface="Times New Roman" panose="02020603050405020304" pitchFamily="18" charset="0"/>
              </a:rPr>
              <a:t>Two paradigms (2 min)</a:t>
            </a:r>
          </a:p>
          <a:p>
            <a:pPr lvl="1"/>
            <a:r>
              <a:rPr lang="en-US" altLang="zh-CN" sz="2000" kern="0" dirty="0">
                <a:solidFill>
                  <a:srgbClr val="FF0000"/>
                </a:solidFill>
                <a:latin typeface="Times New Roman" panose="02020603050405020304" pitchFamily="18" charset="0"/>
                <a:cs typeface="Times New Roman" panose="02020603050405020304" pitchFamily="18" charset="0"/>
              </a:rPr>
              <a:t>SWE-agent: The agent-based approach (3 min)</a:t>
            </a:r>
          </a:p>
          <a:p>
            <a:pPr lvl="1"/>
            <a:r>
              <a:rPr lang="en-US" altLang="zh-CN" sz="2000" kern="0" dirty="0">
                <a:solidFill>
                  <a:srgbClr val="FF0000"/>
                </a:solidFill>
                <a:latin typeface="Times New Roman" panose="02020603050405020304" pitchFamily="18" charset="0"/>
                <a:cs typeface="Times New Roman" panose="02020603050405020304" pitchFamily="18" charset="0"/>
              </a:rPr>
              <a:t>Agentless: The pipeline-based approach (3 min)</a:t>
            </a:r>
          </a:p>
          <a:p>
            <a:pPr lvl="1"/>
            <a:r>
              <a:rPr lang="en-US" altLang="zh-CN" sz="2000" kern="0" dirty="0">
                <a:solidFill>
                  <a:srgbClr val="FF0000"/>
                </a:solidFill>
                <a:latin typeface="Times New Roman" panose="02020603050405020304" pitchFamily="18" charset="0"/>
                <a:cs typeface="Times New Roman" panose="02020603050405020304" pitchFamily="18" charset="0"/>
              </a:rPr>
              <a:t>Comparison (2 min)</a:t>
            </a:r>
            <a:endParaRPr lang="en-US" altLang="zh-CN" sz="2400" kern="0" dirty="0">
              <a:solidFill>
                <a:srgbClr val="FF0000"/>
              </a:solidFill>
              <a:latin typeface="Times New Roman" panose="02020603050405020304" pitchFamily="18" charset="0"/>
              <a:cs typeface="Times New Roman" panose="02020603050405020304" pitchFamily="18" charset="0"/>
            </a:endParaRPr>
          </a:p>
          <a:p>
            <a:r>
              <a:rPr lang="en-US" altLang="zh-CN" sz="2400" kern="0" dirty="0">
                <a:latin typeface="Times New Roman" panose="02020603050405020304" pitchFamily="18" charset="0"/>
                <a:cs typeface="Times New Roman" panose="02020603050405020304" pitchFamily="18" charset="0"/>
              </a:rPr>
              <a:t>Conclusions (2 min)</a:t>
            </a:r>
          </a:p>
        </p:txBody>
      </p:sp>
    </p:spTree>
    <p:extLst>
      <p:ext uri="{BB962C8B-B14F-4D97-AF65-F5344CB8AC3E}">
        <p14:creationId xmlns:p14="http://schemas.microsoft.com/office/powerpoint/2010/main" val="3804006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Two Paradigms </a:t>
            </a:r>
            <a:r>
              <a:rPr lang="en-US" dirty="0">
                <a:latin typeface="Times New Roman" panose="02020603050405020304" pitchFamily="18" charset="0"/>
                <a:cs typeface="Times New Roman" panose="02020603050405020304" pitchFamily="18" charset="0"/>
              </a:rPr>
              <a:t>(1/4)</a:t>
            </a:r>
          </a:p>
        </p:txBody>
      </p:sp>
      <p:sp>
        <p:nvSpPr>
          <p:cNvPr id="4" name="灯片编号占位符 1">
            <a:extLst>
              <a:ext uri="{FF2B5EF4-FFF2-40B4-BE49-F238E27FC236}">
                <a16:creationId xmlns:a16="http://schemas.microsoft.com/office/drawing/2014/main" id="{A4D8AE41-E9DB-DC4B-0813-8BAB041C681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12</a:t>
            </a:fld>
            <a:endParaRPr lang="zh-TW" altLang="en-US"/>
          </a:p>
        </p:txBody>
      </p:sp>
      <p:sp>
        <p:nvSpPr>
          <p:cNvPr id="50" name="Content Placeholder 2">
            <a:extLst>
              <a:ext uri="{FF2B5EF4-FFF2-40B4-BE49-F238E27FC236}">
                <a16:creationId xmlns:a16="http://schemas.microsoft.com/office/drawing/2014/main" id="{F89DB706-6EC3-E25E-994C-0C6F3B418753}"/>
              </a:ext>
            </a:extLst>
          </p:cNvPr>
          <p:cNvSpPr>
            <a:spLocks noGrp="1"/>
          </p:cNvSpPr>
          <p:nvPr>
            <p:ph idx="1"/>
          </p:nvPr>
        </p:nvSpPr>
        <p:spPr>
          <a:xfrm>
            <a:off x="481349" y="1234953"/>
            <a:ext cx="11114906" cy="4669664"/>
          </a:xfrm>
        </p:spPr>
        <p:txBody>
          <a:bodyPr/>
          <a:lstStyle/>
          <a:p>
            <a:r>
              <a:rPr lang="en-US" sz="2800" dirty="0">
                <a:latin typeface="Times New Roman" panose="02020603050405020304" pitchFamily="18" charset="0"/>
                <a:cs typeface="Times New Roman" panose="02020603050405020304" pitchFamily="18" charset="0"/>
              </a:rPr>
              <a:t>Agent-based</a:t>
            </a:r>
          </a:p>
          <a:p>
            <a:pPr lvl="1"/>
            <a:r>
              <a:rPr lang="en-US" sz="2400" dirty="0">
                <a:latin typeface="Times New Roman" panose="02020603050405020304" pitchFamily="18" charset="0"/>
                <a:cs typeface="Times New Roman" panose="02020603050405020304" pitchFamily="18" charset="0"/>
              </a:rPr>
              <a:t>Agent-based scaffolds equip one or more agents with tools for planning, repository access, and code editing, enabling them to make decisions and update the codebase autonomously.</a:t>
            </a:r>
          </a:p>
          <a:p>
            <a:pPr lvl="1"/>
            <a:r>
              <a:rPr lang="en-US" sz="2400" dirty="0">
                <a:latin typeface="Times New Roman" panose="02020603050405020304" pitchFamily="18" charset="0"/>
                <a:cs typeface="Times New Roman" panose="02020603050405020304" pitchFamily="18" charset="0"/>
              </a:rPr>
              <a:t>Iterative: Observe → Think → Act → feedback loop (</a:t>
            </a:r>
            <a:r>
              <a:rPr lang="en-US" sz="2400" dirty="0" err="1">
                <a:latin typeface="Times New Roman" panose="02020603050405020304" pitchFamily="18" charset="0"/>
                <a:cs typeface="Times New Roman" panose="02020603050405020304" pitchFamily="18" charset="0"/>
              </a:rPr>
              <a:t>ReAct</a:t>
            </a:r>
            <a:r>
              <a:rPr lang="en-US" sz="2400" dirty="0">
                <a:latin typeface="Times New Roman" panose="02020603050405020304" pitchFamily="18" charset="0"/>
                <a:cs typeface="Times New Roman" panose="02020603050405020304" pitchFamily="18" charset="0"/>
              </a:rPr>
              <a:t>-style)</a:t>
            </a:r>
          </a:p>
          <a:p>
            <a:pPr lvl="1"/>
            <a:r>
              <a:rPr lang="en-US" sz="2400" dirty="0">
                <a:latin typeface="Times New Roman" panose="02020603050405020304" pitchFamily="18" charset="0"/>
                <a:cs typeface="Times New Roman" panose="02020603050405020304" pitchFamily="18" charset="0"/>
              </a:rPr>
              <a:t>Representative: SWE-agent.</a:t>
            </a:r>
          </a:p>
          <a:p>
            <a:r>
              <a:rPr lang="en-US" sz="2800" dirty="0">
                <a:latin typeface="Times New Roman" panose="02020603050405020304" pitchFamily="18" charset="0"/>
                <a:cs typeface="Times New Roman" panose="02020603050405020304" pitchFamily="18" charset="0"/>
              </a:rPr>
              <a:t>Pipeline-based</a:t>
            </a:r>
          </a:p>
          <a:p>
            <a:pPr lvl="1"/>
            <a:r>
              <a:rPr lang="en-US" sz="2400" dirty="0">
                <a:latin typeface="Times New Roman" panose="02020603050405020304" pitchFamily="18" charset="0"/>
                <a:cs typeface="Times New Roman" panose="02020603050405020304" pitchFamily="18" charset="0"/>
              </a:rPr>
              <a:t>Pipeline-based scaffolds rely on human prior knowledge to decompose the issue resolution task into predefined phases, which are then executed sequentially.</a:t>
            </a:r>
          </a:p>
          <a:p>
            <a:pPr lvl="1"/>
            <a:r>
              <a:rPr lang="en-US" sz="2400" dirty="0">
                <a:latin typeface="Times New Roman" panose="02020603050405020304" pitchFamily="18" charset="0"/>
                <a:cs typeface="Times New Roman" panose="02020603050405020304" pitchFamily="18" charset="0"/>
              </a:rPr>
              <a:t>Fixed sequence: Repo Preprocessing → Localization → Repair → Validation</a:t>
            </a:r>
          </a:p>
          <a:p>
            <a:pPr lvl="1"/>
            <a:r>
              <a:rPr lang="en-US" sz="2400" dirty="0">
                <a:latin typeface="Times New Roman" panose="02020603050405020304" pitchFamily="18" charset="0"/>
                <a:cs typeface="Times New Roman" panose="02020603050405020304" pitchFamily="18" charset="0"/>
              </a:rPr>
              <a:t>Representative: Agentless.</a:t>
            </a:r>
          </a:p>
        </p:txBody>
      </p:sp>
    </p:spTree>
    <p:extLst>
      <p:ext uri="{BB962C8B-B14F-4D97-AF65-F5344CB8AC3E}">
        <p14:creationId xmlns:p14="http://schemas.microsoft.com/office/powerpoint/2010/main" val="2059928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4000" dirty="0">
                <a:latin typeface="Times New Roman" panose="02020603050405020304" pitchFamily="18" charset="0"/>
                <a:cs typeface="Times New Roman" panose="02020603050405020304" pitchFamily="18" charset="0"/>
              </a:rPr>
              <a:t>SWE-agent: The Agent-based Approach </a:t>
            </a:r>
            <a:r>
              <a:rPr lang="en-US" sz="4000" dirty="0">
                <a:latin typeface="Times New Roman" panose="02020603050405020304" pitchFamily="18" charset="0"/>
                <a:cs typeface="Times New Roman" panose="02020603050405020304" pitchFamily="18" charset="0"/>
              </a:rPr>
              <a:t>(2/4)</a:t>
            </a:r>
          </a:p>
        </p:txBody>
      </p:sp>
      <p:sp>
        <p:nvSpPr>
          <p:cNvPr id="4" name="灯片编号占位符 1">
            <a:extLst>
              <a:ext uri="{FF2B5EF4-FFF2-40B4-BE49-F238E27FC236}">
                <a16:creationId xmlns:a16="http://schemas.microsoft.com/office/drawing/2014/main" id="{A4D8AE41-E9DB-DC4B-0813-8BAB041C681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13</a:t>
            </a:fld>
            <a:endParaRPr lang="zh-TW" altLang="en-US"/>
          </a:p>
        </p:txBody>
      </p:sp>
      <p:sp>
        <p:nvSpPr>
          <p:cNvPr id="50" name="Content Placeholder 2">
            <a:extLst>
              <a:ext uri="{FF2B5EF4-FFF2-40B4-BE49-F238E27FC236}">
                <a16:creationId xmlns:a16="http://schemas.microsoft.com/office/drawing/2014/main" id="{F89DB706-6EC3-E25E-994C-0C6F3B418753}"/>
              </a:ext>
            </a:extLst>
          </p:cNvPr>
          <p:cNvSpPr>
            <a:spLocks noGrp="1"/>
          </p:cNvSpPr>
          <p:nvPr>
            <p:ph idx="1"/>
          </p:nvPr>
        </p:nvSpPr>
        <p:spPr>
          <a:xfrm>
            <a:off x="110836" y="1311445"/>
            <a:ext cx="5278582" cy="4669664"/>
          </a:xfrm>
        </p:spPr>
        <p:txBody>
          <a:bodyPr/>
          <a:lstStyle/>
          <a:p>
            <a:r>
              <a:rPr lang="en-US" sz="2400" dirty="0">
                <a:latin typeface="Times New Roman" panose="02020603050405020304" pitchFamily="18" charset="0"/>
                <a:cs typeface="Times New Roman" panose="02020603050405020304" pitchFamily="18" charset="0"/>
              </a:rPr>
              <a:t>Core motivation</a:t>
            </a:r>
          </a:p>
          <a:p>
            <a:pPr lvl="1"/>
            <a:r>
              <a:rPr lang="en-US" sz="2000" dirty="0">
                <a:latin typeface="Times New Roman" panose="02020603050405020304" pitchFamily="18" charset="0"/>
                <a:cs typeface="Times New Roman" panose="02020603050405020304" pitchFamily="18" charset="0"/>
              </a:rPr>
              <a:t>LLM agents represent a new category of end users with their own needs and abilities, and would benefit from specially-built interfaces to the software they use.</a:t>
            </a:r>
          </a:p>
          <a:p>
            <a:r>
              <a:rPr lang="en-US" sz="2400" dirty="0">
                <a:latin typeface="Times New Roman" panose="02020603050405020304" pitchFamily="18" charset="0"/>
                <a:cs typeface="Times New Roman" panose="02020603050405020304" pitchFamily="18" charset="0"/>
              </a:rPr>
              <a:t>Agent-Computer Interface (ACI)</a:t>
            </a:r>
          </a:p>
          <a:p>
            <a:pPr lvl="1"/>
            <a:r>
              <a:rPr lang="en-US" sz="2000" b="0" i="0" u="none" strike="noStrike" dirty="0">
                <a:solidFill>
                  <a:srgbClr val="000000"/>
                </a:solidFill>
                <a:effectLst/>
                <a:latin typeface="Times New Roman" panose="02020603050405020304" pitchFamily="18" charset="0"/>
                <a:cs typeface="Times New Roman" panose="02020603050405020304" pitchFamily="18" charset="0"/>
              </a:rPr>
              <a:t>Current LMs are vulnerable to a number of pitfalls when searching for relevant content in a Linux shell environment. Some exploration patterns (e.g., chains of cd, ls, cat) are extremely inefficient.</a:t>
            </a:r>
          </a:p>
          <a:p>
            <a:pPr lvl="1"/>
            <a:r>
              <a:rPr lang="en-US" sz="2000" dirty="0">
                <a:latin typeface="Times New Roman" panose="02020603050405020304" pitchFamily="18" charset="0"/>
                <a:cs typeface="Times New Roman" panose="02020603050405020304" pitchFamily="18" charset="0"/>
              </a:rPr>
              <a:t>Design interfaces FOR LM agents, not just reuse human interfaces.</a:t>
            </a:r>
          </a:p>
        </p:txBody>
      </p:sp>
      <p:sp>
        <p:nvSpPr>
          <p:cNvPr id="5" name="TextBox 4">
            <a:extLst>
              <a:ext uri="{FF2B5EF4-FFF2-40B4-BE49-F238E27FC236}">
                <a16:creationId xmlns:a16="http://schemas.microsoft.com/office/drawing/2014/main" id="{3B416E6F-016A-8300-6417-753884497DD5}"/>
              </a:ext>
            </a:extLst>
          </p:cNvPr>
          <p:cNvSpPr txBox="1"/>
          <p:nvPr/>
        </p:nvSpPr>
        <p:spPr>
          <a:xfrm>
            <a:off x="7230447" y="4559300"/>
            <a:ext cx="3358612" cy="369332"/>
          </a:xfrm>
          <a:prstGeom prst="rect">
            <a:avLst/>
          </a:prstGeom>
          <a:noFill/>
        </p:spPr>
        <p:txBody>
          <a:bodyPr wrap="non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Figure </a:t>
            </a:r>
            <a:r>
              <a:rPr lang="en-US" dirty="0">
                <a:latin typeface="Times New Roman" panose="02020603050405020304" pitchFamily="18" charset="0"/>
                <a:ea typeface="標楷體" pitchFamily="65" charset="-120"/>
                <a:cs typeface="Times New Roman" panose="02020603050405020304" pitchFamily="18" charset="0"/>
              </a:rPr>
              <a:t>4</a:t>
            </a:r>
            <a:r>
              <a:rPr lang="en-CN" dirty="0">
                <a:latin typeface="Times New Roman" panose="02020603050405020304" pitchFamily="18" charset="0"/>
                <a:ea typeface="標楷體" pitchFamily="65" charset="-120"/>
                <a:cs typeface="Times New Roman" panose="02020603050405020304" pitchFamily="18" charset="0"/>
              </a:rPr>
              <a:t>. </a:t>
            </a:r>
            <a:r>
              <a:rPr lang="en-US" dirty="0">
                <a:latin typeface="Times New Roman" panose="02020603050405020304" pitchFamily="18" charset="0"/>
                <a:ea typeface="標楷體" pitchFamily="65" charset="-120"/>
                <a:cs typeface="Times New Roman" panose="02020603050405020304" pitchFamily="18" charset="0"/>
              </a:rPr>
              <a:t>Overview of SWE-agent</a:t>
            </a:r>
            <a:endParaRPr lang="en-CN" dirty="0">
              <a:latin typeface="Times New Roman" panose="02020603050405020304" pitchFamily="18" charset="0"/>
              <a:ea typeface="標楷體" pitchFamily="65" charset="-120"/>
              <a:cs typeface="Times New Roman" panose="02020603050405020304" pitchFamily="18" charset="0"/>
            </a:endParaRPr>
          </a:p>
        </p:txBody>
      </p:sp>
      <p:pic>
        <p:nvPicPr>
          <p:cNvPr id="6" name="Picture 5">
            <a:extLst>
              <a:ext uri="{FF2B5EF4-FFF2-40B4-BE49-F238E27FC236}">
                <a16:creationId xmlns:a16="http://schemas.microsoft.com/office/drawing/2014/main" id="{DCAA3B57-1F5A-01E2-E35D-7325A079B9B6}"/>
              </a:ext>
            </a:extLst>
          </p:cNvPr>
          <p:cNvPicPr>
            <a:picLocks noChangeAspect="1"/>
          </p:cNvPicPr>
          <p:nvPr/>
        </p:nvPicPr>
        <p:blipFill>
          <a:blip r:embed="rId3"/>
          <a:stretch>
            <a:fillRect/>
          </a:stretch>
        </p:blipFill>
        <p:spPr>
          <a:xfrm>
            <a:off x="5389418" y="2298700"/>
            <a:ext cx="6802582" cy="2260600"/>
          </a:xfrm>
          <a:prstGeom prst="rect">
            <a:avLst/>
          </a:prstGeom>
        </p:spPr>
      </p:pic>
    </p:spTree>
    <p:extLst>
      <p:ext uri="{BB962C8B-B14F-4D97-AF65-F5344CB8AC3E}">
        <p14:creationId xmlns:p14="http://schemas.microsoft.com/office/powerpoint/2010/main" val="4224436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4000" dirty="0">
                <a:latin typeface="Times New Roman" panose="02020603050405020304" pitchFamily="18" charset="0"/>
                <a:cs typeface="Times New Roman" panose="02020603050405020304" pitchFamily="18" charset="0"/>
              </a:rPr>
              <a:t>Agentless: The Pipeline-based Approach </a:t>
            </a:r>
            <a:r>
              <a:rPr lang="en-US" sz="4000" dirty="0">
                <a:latin typeface="Times New Roman" panose="02020603050405020304" pitchFamily="18" charset="0"/>
                <a:cs typeface="Times New Roman" panose="02020603050405020304" pitchFamily="18" charset="0"/>
              </a:rPr>
              <a:t>(3/4)</a:t>
            </a:r>
          </a:p>
        </p:txBody>
      </p:sp>
      <p:sp>
        <p:nvSpPr>
          <p:cNvPr id="4" name="灯片编号占位符 1">
            <a:extLst>
              <a:ext uri="{FF2B5EF4-FFF2-40B4-BE49-F238E27FC236}">
                <a16:creationId xmlns:a16="http://schemas.microsoft.com/office/drawing/2014/main" id="{A4D8AE41-E9DB-DC4B-0813-8BAB041C681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14</a:t>
            </a:fld>
            <a:endParaRPr lang="zh-TW" altLang="en-US"/>
          </a:p>
        </p:txBody>
      </p:sp>
      <p:sp>
        <p:nvSpPr>
          <p:cNvPr id="50" name="Content Placeholder 2">
            <a:extLst>
              <a:ext uri="{FF2B5EF4-FFF2-40B4-BE49-F238E27FC236}">
                <a16:creationId xmlns:a16="http://schemas.microsoft.com/office/drawing/2014/main" id="{F89DB706-6EC3-E25E-994C-0C6F3B418753}"/>
              </a:ext>
            </a:extLst>
          </p:cNvPr>
          <p:cNvSpPr>
            <a:spLocks noGrp="1"/>
          </p:cNvSpPr>
          <p:nvPr>
            <p:ph idx="1"/>
          </p:nvPr>
        </p:nvSpPr>
        <p:spPr>
          <a:xfrm>
            <a:off x="0" y="1297590"/>
            <a:ext cx="4657294" cy="4669664"/>
          </a:xfrm>
        </p:spPr>
        <p:txBody>
          <a:bodyPr/>
          <a:lstStyle/>
          <a:p>
            <a:r>
              <a:rPr lang="en-US" sz="2400" dirty="0">
                <a:latin typeface="Times New Roman" panose="02020603050405020304" pitchFamily="18" charset="0"/>
                <a:cs typeface="Times New Roman" panose="02020603050405020304" pitchFamily="18" charset="0"/>
              </a:rPr>
              <a:t>Core motivation</a:t>
            </a:r>
          </a:p>
          <a:p>
            <a:pPr lvl="1"/>
            <a:r>
              <a:rPr lang="en-US" sz="2000" dirty="0">
                <a:latin typeface="Times New Roman" panose="02020603050405020304" pitchFamily="18" charset="0"/>
                <a:cs typeface="Times New Roman" panose="02020603050405020304" pitchFamily="18" charset="0"/>
              </a:rPr>
              <a:t>Do we really have to employ complex autonomous software agents?</a:t>
            </a:r>
          </a:p>
          <a:p>
            <a:pPr marL="457176" lvl="1" indent="0">
              <a:buNone/>
            </a:pPr>
            <a:endParaRPr lang="en-US" sz="20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Three-phase pipeline</a:t>
            </a:r>
          </a:p>
          <a:p>
            <a:pPr lvl="1"/>
            <a:r>
              <a:rPr lang="en-US" sz="2000" dirty="0">
                <a:latin typeface="Times New Roman" panose="02020603050405020304" pitchFamily="18" charset="0"/>
                <a:cs typeface="Times New Roman" panose="02020603050405020304" pitchFamily="18" charset="0"/>
              </a:rPr>
              <a:t>Localization: File-level -&gt; Class-level -&gt; </a:t>
            </a:r>
            <a:r>
              <a:rPr lang="en-US" altLang="zh-CN" sz="2000" dirty="0">
                <a:latin typeface="Times New Roman" panose="02020603050405020304" pitchFamily="18" charset="0"/>
                <a:cs typeface="Times New Roman" panose="02020603050405020304" pitchFamily="18" charset="0"/>
              </a:rPr>
              <a:t>Function-level</a:t>
            </a:r>
          </a:p>
          <a:p>
            <a:pPr lvl="1"/>
            <a:r>
              <a:rPr lang="en-US" sz="2000" dirty="0">
                <a:latin typeface="Times New Roman" panose="02020603050405020304" pitchFamily="18" charset="0"/>
                <a:cs typeface="Times New Roman" panose="02020603050405020304" pitchFamily="18" charset="0"/>
              </a:rPr>
              <a:t>Repair: candidate patches in Search/Replace diff format.</a:t>
            </a:r>
          </a:p>
          <a:p>
            <a:pPr lvl="1"/>
            <a:r>
              <a:rPr lang="en-US" sz="2000" dirty="0">
                <a:latin typeface="Times New Roman" panose="02020603050405020304" pitchFamily="18" charset="0"/>
                <a:cs typeface="Times New Roman" panose="02020603050405020304" pitchFamily="18" charset="0"/>
              </a:rPr>
              <a:t>Validation: syntax check → regression test → reproduction test generation → majority voting</a:t>
            </a:r>
          </a:p>
        </p:txBody>
      </p:sp>
      <p:pic>
        <p:nvPicPr>
          <p:cNvPr id="3" name="Picture 2">
            <a:extLst>
              <a:ext uri="{FF2B5EF4-FFF2-40B4-BE49-F238E27FC236}">
                <a16:creationId xmlns:a16="http://schemas.microsoft.com/office/drawing/2014/main" id="{D268C771-2F83-4338-78E7-4C45D51996F1}"/>
              </a:ext>
            </a:extLst>
          </p:cNvPr>
          <p:cNvPicPr>
            <a:picLocks noChangeAspect="1"/>
          </p:cNvPicPr>
          <p:nvPr/>
        </p:nvPicPr>
        <p:blipFill>
          <a:blip r:embed="rId3"/>
          <a:stretch>
            <a:fillRect/>
          </a:stretch>
        </p:blipFill>
        <p:spPr>
          <a:xfrm>
            <a:off x="4419600" y="1508538"/>
            <a:ext cx="7772400" cy="4051872"/>
          </a:xfrm>
          <a:prstGeom prst="rect">
            <a:avLst/>
          </a:prstGeom>
        </p:spPr>
      </p:pic>
      <p:sp>
        <p:nvSpPr>
          <p:cNvPr id="5" name="TextBox 4">
            <a:extLst>
              <a:ext uri="{FF2B5EF4-FFF2-40B4-BE49-F238E27FC236}">
                <a16:creationId xmlns:a16="http://schemas.microsoft.com/office/drawing/2014/main" id="{3B416E6F-016A-8300-6417-753884497DD5}"/>
              </a:ext>
            </a:extLst>
          </p:cNvPr>
          <p:cNvSpPr txBox="1"/>
          <p:nvPr/>
        </p:nvSpPr>
        <p:spPr>
          <a:xfrm>
            <a:off x="6828665" y="5483374"/>
            <a:ext cx="3191964" cy="369332"/>
          </a:xfrm>
          <a:prstGeom prst="rect">
            <a:avLst/>
          </a:prstGeom>
          <a:noFill/>
        </p:spPr>
        <p:txBody>
          <a:bodyPr wrap="non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Figure </a:t>
            </a:r>
            <a:r>
              <a:rPr lang="en-US" dirty="0">
                <a:latin typeface="Times New Roman" panose="02020603050405020304" pitchFamily="18" charset="0"/>
                <a:ea typeface="標楷體" pitchFamily="65" charset="-120"/>
                <a:cs typeface="Times New Roman" panose="02020603050405020304" pitchFamily="18" charset="0"/>
              </a:rPr>
              <a:t>5</a:t>
            </a:r>
            <a:r>
              <a:rPr lang="en-CN" dirty="0">
                <a:latin typeface="Times New Roman" panose="02020603050405020304" pitchFamily="18" charset="0"/>
                <a:ea typeface="標楷體" pitchFamily="65" charset="-120"/>
                <a:cs typeface="Times New Roman" panose="02020603050405020304" pitchFamily="18" charset="0"/>
              </a:rPr>
              <a:t>. </a:t>
            </a:r>
            <a:r>
              <a:rPr lang="en-US" dirty="0">
                <a:latin typeface="Times New Roman" panose="02020603050405020304" pitchFamily="18" charset="0"/>
                <a:ea typeface="標楷體" pitchFamily="65" charset="-120"/>
                <a:cs typeface="Times New Roman" panose="02020603050405020304" pitchFamily="18" charset="0"/>
              </a:rPr>
              <a:t>Overview of Agentless</a:t>
            </a:r>
            <a:endParaRPr lang="en-CN"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3819773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Comparison </a:t>
            </a:r>
            <a:r>
              <a:rPr lang="en-US" dirty="0">
                <a:latin typeface="Times New Roman" panose="02020603050405020304" pitchFamily="18" charset="0"/>
                <a:cs typeface="Times New Roman" panose="02020603050405020304" pitchFamily="18" charset="0"/>
              </a:rPr>
              <a:t>(4/4)</a:t>
            </a:r>
          </a:p>
        </p:txBody>
      </p:sp>
      <p:sp>
        <p:nvSpPr>
          <p:cNvPr id="4" name="灯片编号占位符 1">
            <a:extLst>
              <a:ext uri="{FF2B5EF4-FFF2-40B4-BE49-F238E27FC236}">
                <a16:creationId xmlns:a16="http://schemas.microsoft.com/office/drawing/2014/main" id="{A4D8AE41-E9DB-DC4B-0813-8BAB041C681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15</a:t>
            </a:fld>
            <a:endParaRPr lang="zh-TW" altLang="en-US"/>
          </a:p>
        </p:txBody>
      </p:sp>
      <p:graphicFrame>
        <p:nvGraphicFramePr>
          <p:cNvPr id="6" name="Table 6">
            <a:extLst>
              <a:ext uri="{FF2B5EF4-FFF2-40B4-BE49-F238E27FC236}">
                <a16:creationId xmlns:a16="http://schemas.microsoft.com/office/drawing/2014/main" id="{132FABB4-6E34-A735-B9AE-33EED50D3668}"/>
              </a:ext>
            </a:extLst>
          </p:cNvPr>
          <p:cNvGraphicFramePr>
            <a:graphicFrameLocks noGrp="1"/>
          </p:cNvGraphicFramePr>
          <p:nvPr>
            <p:extLst>
              <p:ext uri="{D42A27DB-BD31-4B8C-83A1-F6EECF244321}">
                <p14:modId xmlns:p14="http://schemas.microsoft.com/office/powerpoint/2010/main" val="3793419056"/>
              </p:ext>
            </p:extLst>
          </p:nvPr>
        </p:nvGraphicFramePr>
        <p:xfrm>
          <a:off x="413809" y="1482051"/>
          <a:ext cx="11364381" cy="3893898"/>
        </p:xfrm>
        <a:graphic>
          <a:graphicData uri="http://schemas.openxmlformats.org/drawingml/2006/table">
            <a:tbl>
              <a:tblPr firstRow="1" bandRow="1">
                <a:tableStyleId>{5C22544A-7EE6-4342-B048-85BDC9FD1C3A}</a:tableStyleId>
              </a:tblPr>
              <a:tblGrid>
                <a:gridCol w="3730528">
                  <a:extLst>
                    <a:ext uri="{9D8B030D-6E8A-4147-A177-3AD203B41FA5}">
                      <a16:colId xmlns:a16="http://schemas.microsoft.com/office/drawing/2014/main" val="4254209411"/>
                    </a:ext>
                  </a:extLst>
                </a:gridCol>
                <a:gridCol w="3845726">
                  <a:extLst>
                    <a:ext uri="{9D8B030D-6E8A-4147-A177-3AD203B41FA5}">
                      <a16:colId xmlns:a16="http://schemas.microsoft.com/office/drawing/2014/main" val="3937311961"/>
                    </a:ext>
                  </a:extLst>
                </a:gridCol>
                <a:gridCol w="3788127">
                  <a:extLst>
                    <a:ext uri="{9D8B030D-6E8A-4147-A177-3AD203B41FA5}">
                      <a16:colId xmlns:a16="http://schemas.microsoft.com/office/drawing/2014/main" val="1587847526"/>
                    </a:ext>
                  </a:extLst>
                </a:gridCol>
              </a:tblGrid>
              <a:tr h="1297966">
                <a:tc>
                  <a:txBody>
                    <a:bodyPr/>
                    <a:lstStyle/>
                    <a:p>
                      <a:endParaRPr lang="en-CN" sz="180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N" sz="1800" dirty="0">
                          <a:solidFill>
                            <a:schemeClr val="tx1"/>
                          </a:solidFill>
                          <a:latin typeface="Times New Roman" panose="02020603050405020304" pitchFamily="18" charset="0"/>
                          <a:cs typeface="Times New Roman" panose="02020603050405020304" pitchFamily="18" charset="0"/>
                        </a:rPr>
                        <a:t>Strengths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N" sz="1800" dirty="0">
                          <a:solidFill>
                            <a:schemeClr val="tx1"/>
                          </a:solidFill>
                          <a:latin typeface="Times New Roman" panose="02020603050405020304" pitchFamily="18" charset="0"/>
                          <a:cs typeface="Times New Roman" panose="02020603050405020304" pitchFamily="18" charset="0"/>
                        </a:rPr>
                        <a:t>Weaknesses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6239337"/>
                  </a:ext>
                </a:extLst>
              </a:tr>
              <a:tr h="1297966">
                <a:tc>
                  <a:txBody>
                    <a:bodyPr/>
                    <a:lstStyle/>
                    <a:p>
                      <a:r>
                        <a:rPr lang="en-CN" sz="1800" b="1" dirty="0">
                          <a:solidFill>
                            <a:schemeClr val="tx1"/>
                          </a:solidFill>
                          <a:latin typeface="Times New Roman" panose="02020603050405020304" pitchFamily="18" charset="0"/>
                          <a:cs typeface="Times New Roman" panose="02020603050405020304" pitchFamily="18" charset="0"/>
                        </a:rPr>
                        <a:t>Pipeline-based Approach: Agentless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indent="-342900">
                        <a:buFont typeface="Arial" panose="020B0604020202020204" pitchFamily="34" charset="0"/>
                        <a:buChar char="•"/>
                      </a:pPr>
                      <a:r>
                        <a:rPr lang="en-US" sz="18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Cost-efficient: $0.70 vs. $1.62 per issue</a:t>
                      </a:r>
                    </a:p>
                    <a:p>
                      <a:pPr marL="342900" indent="-342900">
                        <a:buFont typeface="Arial" panose="020B0604020202020204" pitchFamily="34" charset="0"/>
                        <a:buChar char="•"/>
                      </a:pPr>
                      <a:r>
                        <a:rPr lang="en-US" sz="18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Reproducible: deterministic pipeline, no stochastic trajectories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indent="-342900">
                        <a:buFont typeface="Arial" panose="020B0604020202020204" pitchFamily="34" charset="0"/>
                        <a:buChar char="•"/>
                      </a:pPr>
                      <a:r>
                        <a:rPr lang="en-US" sz="18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Upper-bounded by localization quality</a:t>
                      </a:r>
                    </a:p>
                    <a:p>
                      <a:pPr marL="342900" indent="-342900">
                        <a:buFont typeface="Arial" panose="020B0604020202020204" pitchFamily="34" charset="0"/>
                        <a:buChar char="•"/>
                      </a:pPr>
                      <a:r>
                        <a:rPr lang="en-US" sz="18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Lower autonomy </a:t>
                      </a:r>
                      <a:endParaRPr lang="en-C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14134031"/>
                  </a:ext>
                </a:extLst>
              </a:tr>
              <a:tr h="1297966">
                <a:tc>
                  <a:txBody>
                    <a:bodyPr/>
                    <a:lstStyle/>
                    <a:p>
                      <a:r>
                        <a:rPr lang="en-CN" sz="1800" b="1" dirty="0">
                          <a:solidFill>
                            <a:schemeClr val="tx1"/>
                          </a:solidFill>
                          <a:latin typeface="Times New Roman" panose="02020603050405020304" pitchFamily="18" charset="0"/>
                          <a:cs typeface="Times New Roman" panose="02020603050405020304" pitchFamily="18" charset="0"/>
                        </a:rPr>
                        <a:t>Agent-based Approach: SWE-agent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indent="-342900">
                        <a:buFont typeface="Arial" panose="020B0604020202020204" pitchFamily="34" charset="0"/>
                        <a:buChar char="•"/>
                      </a:pPr>
                      <a:r>
                        <a:rPr lang="en-US" sz="18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Adaptive: can change strategy based on observations</a:t>
                      </a:r>
                    </a:p>
                    <a:p>
                      <a:pPr marL="342900" indent="-342900">
                        <a:buFont typeface="Arial" panose="020B0604020202020204" pitchFamily="34" charset="0"/>
                        <a:buChar char="•"/>
                      </a:pPr>
                      <a:r>
                        <a:rPr lang="en-US" sz="18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Richer exploration: can run tests, examine outputs, iterate</a:t>
                      </a:r>
                      <a:endParaRPr lang="en-C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indent="-342900">
                        <a:buFont typeface="Arial" panose="020B0604020202020204" pitchFamily="34" charset="0"/>
                        <a:buChar char="•"/>
                      </a:pPr>
                      <a:r>
                        <a:rPr lang="en-US" sz="18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Higher cost, more LLM calls</a:t>
                      </a:r>
                    </a:p>
                    <a:p>
                      <a:pPr marL="342900" indent="-342900">
                        <a:buFont typeface="Arial" panose="020B0604020202020204" pitchFamily="34" charset="0"/>
                        <a:buChar char="•"/>
                      </a:pPr>
                      <a:r>
                        <a:rPr lang="en-US" sz="18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Cascading failures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4873699"/>
                  </a:ext>
                </a:extLst>
              </a:tr>
            </a:tbl>
          </a:graphicData>
        </a:graphic>
      </p:graphicFrame>
    </p:spTree>
    <p:extLst>
      <p:ext uri="{BB962C8B-B14F-4D97-AF65-F5344CB8AC3E}">
        <p14:creationId xmlns:p14="http://schemas.microsoft.com/office/powerpoint/2010/main" val="3596329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5" name="灯片编号占位符 1">
            <a:extLst>
              <a:ext uri="{FF2B5EF4-FFF2-40B4-BE49-F238E27FC236}">
                <a16:creationId xmlns:a16="http://schemas.microsoft.com/office/drawing/2014/main" id="{C8F1849A-008E-6EF5-AB10-F46E38150EF0}"/>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16</a:t>
            </a:fld>
            <a:endParaRPr lang="zh-TW" altLang="en-US"/>
          </a:p>
        </p:txBody>
      </p:sp>
      <p:sp>
        <p:nvSpPr>
          <p:cNvPr id="7" name="內容版面配置區 2">
            <a:extLst>
              <a:ext uri="{FF2B5EF4-FFF2-40B4-BE49-F238E27FC236}">
                <a16:creationId xmlns:a16="http://schemas.microsoft.com/office/drawing/2014/main" id="{C255651E-265A-100F-4755-06C8521E5917}"/>
              </a:ext>
            </a:extLst>
          </p:cNvPr>
          <p:cNvSpPr txBox="1">
            <a:spLocks/>
          </p:cNvSpPr>
          <p:nvPr/>
        </p:nvSpPr>
        <p:spPr bwMode="auto">
          <a:xfrm>
            <a:off x="1296610" y="1125537"/>
            <a:ext cx="10270977" cy="57388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Introduction (3 min)</a:t>
            </a:r>
            <a:r>
              <a:rPr lang="en-US" altLang="zh-TW" sz="2400" kern="0" dirty="0">
                <a:latin typeface="Times New Roman" panose="02020603050405020304" pitchFamily="18" charset="0"/>
                <a:cs typeface="Times New Roman" panose="02020603050405020304" pitchFamily="18" charset="0"/>
              </a:rPr>
              <a:t> </a:t>
            </a:r>
          </a:p>
          <a:p>
            <a:r>
              <a:rPr lang="en-US" altLang="zh-CN" sz="2400" kern="0" dirty="0">
                <a:latin typeface="Times New Roman" panose="02020603050405020304" pitchFamily="18" charset="0"/>
                <a:cs typeface="Times New Roman" panose="02020603050405020304" pitchFamily="18" charset="0"/>
              </a:rPr>
              <a:t>SWE-bench: Real-world</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Issues</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Resolution (6 min)</a:t>
            </a:r>
          </a:p>
          <a:p>
            <a:pPr lvl="1"/>
            <a:r>
              <a:rPr lang="en-US" altLang="zh-CN" sz="2000" kern="0" dirty="0">
                <a:latin typeface="Times New Roman" panose="02020603050405020304" pitchFamily="18" charset="0"/>
                <a:cs typeface="Times New Roman" panose="02020603050405020304" pitchFamily="18" charset="0"/>
              </a:rPr>
              <a:t>SWE-bench overview (3 min)</a:t>
            </a:r>
          </a:p>
          <a:p>
            <a:pPr lvl="1"/>
            <a:r>
              <a:rPr lang="en-US" altLang="zh-CN" sz="2000" kern="0" dirty="0">
                <a:latin typeface="Times New Roman" panose="02020603050405020304" pitchFamily="18" charset="0"/>
                <a:cs typeface="Times New Roman" panose="02020603050405020304" pitchFamily="18" charset="0"/>
              </a:rPr>
              <a:t>Evaluation results (2 min)</a:t>
            </a:r>
          </a:p>
          <a:p>
            <a:pPr lvl="1"/>
            <a:r>
              <a:rPr lang="en-US" altLang="zh-CN" sz="2000" kern="0" dirty="0">
                <a:latin typeface="Times New Roman" panose="02020603050405020304" pitchFamily="18" charset="0"/>
                <a:cs typeface="Times New Roman" panose="02020603050405020304" pitchFamily="18" charset="0"/>
              </a:rPr>
              <a:t>SWE-bench family (1 min)</a:t>
            </a:r>
          </a:p>
          <a:p>
            <a:r>
              <a:rPr lang="en-US" altLang="zh-CN" sz="2400" kern="0" dirty="0">
                <a:latin typeface="Times New Roman" panose="02020603050405020304" pitchFamily="18" charset="0"/>
                <a:cs typeface="Times New Roman" panose="02020603050405020304" pitchFamily="18" charset="0"/>
              </a:rPr>
              <a:t>Two Paradigms: Pipeline-based vs. Agent-based (10 min)</a:t>
            </a:r>
          </a:p>
          <a:p>
            <a:pPr lvl="1"/>
            <a:r>
              <a:rPr lang="en-US" altLang="zh-CN" sz="2000" kern="0" dirty="0">
                <a:latin typeface="Times New Roman" panose="02020603050405020304" pitchFamily="18" charset="0"/>
                <a:cs typeface="Times New Roman" panose="02020603050405020304" pitchFamily="18" charset="0"/>
              </a:rPr>
              <a:t>Two paradigms (2 min)</a:t>
            </a:r>
          </a:p>
          <a:p>
            <a:pPr lvl="1"/>
            <a:r>
              <a:rPr lang="en-US" altLang="zh-CN" sz="2000" kern="0" dirty="0">
                <a:latin typeface="Times New Roman" panose="02020603050405020304" pitchFamily="18" charset="0"/>
                <a:cs typeface="Times New Roman" panose="02020603050405020304" pitchFamily="18" charset="0"/>
              </a:rPr>
              <a:t>SWE-agent: The agent-based approach (3 min)</a:t>
            </a:r>
          </a:p>
          <a:p>
            <a:pPr lvl="1"/>
            <a:r>
              <a:rPr lang="en-US" altLang="zh-CN" sz="2000" kern="0" dirty="0">
                <a:latin typeface="Times New Roman" panose="02020603050405020304" pitchFamily="18" charset="0"/>
                <a:cs typeface="Times New Roman" panose="02020603050405020304" pitchFamily="18" charset="0"/>
              </a:rPr>
              <a:t>Agentless: The pipeline-based approach (3 min)</a:t>
            </a:r>
          </a:p>
          <a:p>
            <a:pPr lvl="1"/>
            <a:r>
              <a:rPr lang="en-US" altLang="zh-CN" sz="2000" kern="0" dirty="0">
                <a:latin typeface="Times New Roman" panose="02020603050405020304" pitchFamily="18" charset="0"/>
                <a:cs typeface="Times New Roman" panose="02020603050405020304" pitchFamily="18" charset="0"/>
              </a:rPr>
              <a:t>Comparison (2 min)</a:t>
            </a:r>
            <a:endParaRPr lang="en-US" altLang="zh-CN" sz="2400" kern="0" dirty="0">
              <a:latin typeface="Times New Roman" panose="02020603050405020304" pitchFamily="18" charset="0"/>
              <a:cs typeface="Times New Roman" panose="02020603050405020304" pitchFamily="18" charset="0"/>
            </a:endParaRPr>
          </a:p>
          <a:p>
            <a:r>
              <a:rPr lang="en-US" altLang="zh-CN" sz="2400" kern="0" dirty="0">
                <a:solidFill>
                  <a:srgbClr val="FF0000"/>
                </a:solidFill>
                <a:latin typeface="Times New Roman" panose="02020603050405020304" pitchFamily="18" charset="0"/>
                <a:cs typeface="Times New Roman" panose="02020603050405020304" pitchFamily="18" charset="0"/>
              </a:rPr>
              <a:t>Conclusions (2 min)</a:t>
            </a:r>
          </a:p>
        </p:txBody>
      </p:sp>
    </p:spTree>
    <p:extLst>
      <p:ext uri="{BB962C8B-B14F-4D97-AF65-F5344CB8AC3E}">
        <p14:creationId xmlns:p14="http://schemas.microsoft.com/office/powerpoint/2010/main" val="4290379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Conclusions </a:t>
            </a:r>
            <a:r>
              <a:rPr lang="en-US" dirty="0">
                <a:latin typeface="Times New Roman" panose="02020603050405020304" pitchFamily="18" charset="0"/>
                <a:cs typeface="Times New Roman" panose="02020603050405020304" pitchFamily="18" charset="0"/>
              </a:rPr>
              <a:t>(1/1)</a:t>
            </a:r>
          </a:p>
        </p:txBody>
      </p:sp>
      <p:sp>
        <p:nvSpPr>
          <p:cNvPr id="4" name="灯片编号占位符 1">
            <a:extLst>
              <a:ext uri="{FF2B5EF4-FFF2-40B4-BE49-F238E27FC236}">
                <a16:creationId xmlns:a16="http://schemas.microsoft.com/office/drawing/2014/main" id="{A4D8AE41-E9DB-DC4B-0813-8BAB041C681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17</a:t>
            </a:fld>
            <a:endParaRPr lang="zh-TW" altLang="en-US"/>
          </a:p>
        </p:txBody>
      </p:sp>
      <p:sp>
        <p:nvSpPr>
          <p:cNvPr id="50" name="Content Placeholder 2">
            <a:extLst>
              <a:ext uri="{FF2B5EF4-FFF2-40B4-BE49-F238E27FC236}">
                <a16:creationId xmlns:a16="http://schemas.microsoft.com/office/drawing/2014/main" id="{F89DB706-6EC3-E25E-994C-0C6F3B418753}"/>
              </a:ext>
            </a:extLst>
          </p:cNvPr>
          <p:cNvSpPr>
            <a:spLocks noGrp="1"/>
          </p:cNvSpPr>
          <p:nvPr>
            <p:ph idx="1"/>
          </p:nvPr>
        </p:nvSpPr>
        <p:spPr>
          <a:xfrm>
            <a:off x="231967" y="1345790"/>
            <a:ext cx="11114906" cy="4669664"/>
          </a:xfrm>
        </p:spPr>
        <p:txBody>
          <a:bodyPr/>
          <a:lstStyle/>
          <a:p>
            <a:r>
              <a:rPr lang="en-US" sz="2800" dirty="0">
                <a:latin typeface="Times New Roman" panose="02020603050405020304" pitchFamily="18" charset="0"/>
                <a:cs typeface="Times New Roman" panose="02020603050405020304" pitchFamily="18" charset="0"/>
              </a:rPr>
              <a:t>SWE-bench transformed LLM4Code evaluation</a:t>
            </a:r>
          </a:p>
          <a:p>
            <a:pPr lvl="1"/>
            <a:r>
              <a:rPr lang="en-US" sz="2267" dirty="0">
                <a:latin typeface="Times New Roman" panose="02020603050405020304" pitchFamily="18" charset="0"/>
                <a:cs typeface="Times New Roman" panose="02020603050405020304" pitchFamily="18" charset="0"/>
              </a:rPr>
              <a:t>From "contrived problems" to real-world software engineering.</a:t>
            </a:r>
          </a:p>
          <a:p>
            <a:pPr lvl="1"/>
            <a:r>
              <a:rPr lang="en-US" sz="2267" dirty="0">
                <a:latin typeface="Times New Roman" panose="02020603050405020304" pitchFamily="18" charset="0"/>
                <a:cs typeface="Times New Roman" panose="02020603050405020304" pitchFamily="18" charset="0"/>
              </a:rPr>
              <a:t>Enabled the community to measure and drive progress: 1.96% → ~80% in 2.5 years.</a:t>
            </a:r>
          </a:p>
          <a:p>
            <a:pPr marL="457176" lvl="1" indent="0">
              <a:buNone/>
            </a:pPr>
            <a:endParaRPr lang="en-US" sz="2267"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Two paradigms, each with lasting influence</a:t>
            </a:r>
          </a:p>
          <a:p>
            <a:pPr lvl="1"/>
            <a:r>
              <a:rPr lang="en-US" sz="2267" dirty="0">
                <a:latin typeface="Times New Roman" panose="02020603050405020304" pitchFamily="18" charset="0"/>
                <a:cs typeface="Times New Roman" panose="02020603050405020304" pitchFamily="18" charset="0"/>
              </a:rPr>
              <a:t>Agent-based (SWE-agent): introduced the ACI concept; established that "interface design affects the performance of language model agents”.</a:t>
            </a:r>
          </a:p>
          <a:p>
            <a:pPr lvl="1"/>
            <a:r>
              <a:rPr lang="en-US" sz="2267" dirty="0">
                <a:latin typeface="Times New Roman" panose="02020603050405020304" pitchFamily="18" charset="0"/>
                <a:cs typeface="Times New Roman" panose="02020603050405020304" pitchFamily="18" charset="0"/>
              </a:rPr>
              <a:t>Pipeline-based (Agentless): proved simplicity can be competitive; set the template for most subsequent methods.</a:t>
            </a:r>
          </a:p>
        </p:txBody>
      </p:sp>
    </p:spTree>
    <p:extLst>
      <p:ext uri="{BB962C8B-B14F-4D97-AF65-F5344CB8AC3E}">
        <p14:creationId xmlns:p14="http://schemas.microsoft.com/office/powerpoint/2010/main" val="638031780"/>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1148</TotalTime>
  <Words>3069</Words>
  <Application>Microsoft Macintosh PowerPoint</Application>
  <PresentationFormat>Widescreen</PresentationFormat>
  <Paragraphs>278</Paragraphs>
  <Slides>17</Slides>
  <Notes>16</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17</vt:i4>
      </vt:variant>
    </vt:vector>
  </HeadingPairs>
  <TitlesOfParts>
    <vt:vector size="28" baseType="lpstr">
      <vt:lpstr>-webkit-standard</vt:lpstr>
      <vt:lpstr>楷体</vt:lpstr>
      <vt:lpstr>MS Sans Serif</vt:lpstr>
      <vt:lpstr>quote-cjk-patch</vt:lpstr>
      <vt:lpstr>Arial</vt:lpstr>
      <vt:lpstr>Calibri</vt:lpstr>
      <vt:lpstr>Calibri Light</vt:lpstr>
      <vt:lpstr>Times New Roman</vt:lpstr>
      <vt:lpstr>Wingdings</vt:lpstr>
      <vt:lpstr>NTHU UniCloud</vt:lpstr>
      <vt:lpstr>自訂設計</vt:lpstr>
      <vt:lpstr>From Benchmark to Agents: How SWE-bench Advanced LLM4Code?</vt:lpstr>
      <vt:lpstr>Outline</vt:lpstr>
      <vt:lpstr>Outline</vt:lpstr>
      <vt:lpstr>Introduction - LLM4Code (1/1)</vt:lpstr>
      <vt:lpstr>Introduction - LLM4Code (1/1)</vt:lpstr>
      <vt:lpstr>Outline</vt:lpstr>
      <vt:lpstr>SWE-bench Overview (1/4)</vt:lpstr>
      <vt:lpstr>SWE-bench Overview (2/4)</vt:lpstr>
      <vt:lpstr>Evaluation Results on SWE-bench (3/4)</vt:lpstr>
      <vt:lpstr>SWE-bench Family (4/4)</vt:lpstr>
      <vt:lpstr>Outline</vt:lpstr>
      <vt:lpstr>Two Paradigms (1/4)</vt:lpstr>
      <vt:lpstr>SWE-agent: The Agent-based Approach (2/4)</vt:lpstr>
      <vt:lpstr>Agentless: The Pipeline-based Approach (3/4)</vt:lpstr>
      <vt:lpstr>Comparison (4/4)</vt:lpstr>
      <vt:lpstr>Outline</vt:lpstr>
      <vt:lpstr>Conclusions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Manyi Wang (SDS,225045034)</cp:lastModifiedBy>
  <cp:revision>44</cp:revision>
  <dcterms:created xsi:type="dcterms:W3CDTF">2020-07-15T11:13:39Z</dcterms:created>
  <dcterms:modified xsi:type="dcterms:W3CDTF">2026-04-02T06:02:26Z</dcterms:modified>
</cp:coreProperties>
</file>