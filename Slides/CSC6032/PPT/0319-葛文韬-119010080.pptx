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handoutMasterIdLst>
    <p:handoutMasterId r:id="rId40"/>
  </p:handoutMasterIdLst>
  <p:sldIdLst>
    <p:sldId id="256" r:id="rId4"/>
    <p:sldId id="529" r:id="rId6"/>
    <p:sldId id="531" r:id="rId7"/>
    <p:sldId id="516" r:id="rId8"/>
    <p:sldId id="517" r:id="rId9"/>
    <p:sldId id="520" r:id="rId10"/>
    <p:sldId id="530" r:id="rId11"/>
    <p:sldId id="521" r:id="rId12"/>
    <p:sldId id="524" r:id="rId13"/>
    <p:sldId id="525" r:id="rId14"/>
    <p:sldId id="577" r:id="rId15"/>
    <p:sldId id="526" r:id="rId16"/>
    <p:sldId id="528" r:id="rId17"/>
    <p:sldId id="527" r:id="rId18"/>
    <p:sldId id="532" r:id="rId19"/>
    <p:sldId id="578" r:id="rId20"/>
    <p:sldId id="579" r:id="rId21"/>
    <p:sldId id="580" r:id="rId22"/>
    <p:sldId id="581" r:id="rId23"/>
    <p:sldId id="582" r:id="rId24"/>
    <p:sldId id="584" r:id="rId25"/>
    <p:sldId id="583" r:id="rId26"/>
    <p:sldId id="585" r:id="rId27"/>
    <p:sldId id="586" r:id="rId28"/>
    <p:sldId id="587" r:id="rId29"/>
    <p:sldId id="588" r:id="rId30"/>
    <p:sldId id="590" r:id="rId31"/>
    <p:sldId id="589" r:id="rId32"/>
    <p:sldId id="591" r:id="rId33"/>
    <p:sldId id="592" r:id="rId34"/>
    <p:sldId id="593" r:id="rId35"/>
    <p:sldId id="594" r:id="rId36"/>
    <p:sldId id="596" r:id="rId37"/>
    <p:sldId id="597" r:id="rId38"/>
    <p:sldId id="598" r:id="rId3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80" d="100"/>
          <a:sy n="80" d="100"/>
        </p:scale>
        <p:origin x="50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600" b="1"/>
              <a:t>Good afternoon everyone, I am wentao Ge and today I am gonna present </a:t>
            </a:r>
            <a:r>
              <a:rPr lang="en-US" altLang="zh-CN" sz="1600" b="1" dirty="0">
                <a:sym typeface="+mn-ea"/>
              </a:rPr>
              <a:t>Memory-Efficient Large Model Training: From ZeRo to ZeRO-Infinity</a:t>
            </a:r>
            <a:br>
              <a:rPr lang="en-US" altLang="zh-CN" sz="1600" b="1" dirty="0">
                <a:sym typeface="+mn-ea"/>
              </a:rPr>
            </a:br>
            <a:endParaRPr lang="en-US" altLang="zh-CN" sz="1600" b="1" dirty="0">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sz="1600" b="1"/>
              <a:t>So my presentation consists of 5 parts, I will first go through the  introduction and the background</a:t>
            </a:r>
            <a:br>
              <a:rPr lang="en-US" altLang="zh-TW" sz="1600" b="1"/>
            </a:br>
            <a:r>
              <a:rPr lang="en-US" altLang="zh-TW" sz="1600" b="1"/>
              <a:t> then I wiil elaborate these three papers and go into a conclusion</a:t>
            </a:r>
            <a:endParaRPr lang="en-US" altLang="zh-TW" sz="1600" b="1"/>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sz="1600" b="1"/>
              <a:t>Now lets start with the introduction</a:t>
            </a:r>
            <a:endParaRPr lang="en-US" altLang="zh-TW" sz="1600" b="1"/>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800" b="1"/>
              <a:t>In recent years, deep learning models—especially transformer-based large language models—have grown dramatically, moving from million level model size to billion model size. One of the main reasons for this qualitative change is the increase in model size often offers better performance.</a:t>
            </a:r>
            <a:endParaRPr lang="en-US" sz="1800" b="1"/>
          </a:p>
          <a:p>
            <a:r>
              <a:rPr lang="en-US" sz="1800" b="1"/>
              <a:t>While these massive models deliver stunning breakthroughs, they bring a critical pain point: hardware evolution simply cannot keep up. Model sizes have grown thousands of times over, but GPU memory—like what we see when we try to allocate tensors in PyTorch—only grows linearly. This discrepancy has led us to hit a massive 'Memory Wall.'</a:t>
            </a:r>
            <a:endParaRPr lang="en-US" sz="1800" b="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800" b="1"/>
              <a:t>Faced with this memory wall, traditional parallel training methods leave us in a dilemma. The most common approach, Data Parallelism, is highly compute-efficient but incredibly wasteful when it comes to memory as every single GPU replicates the exact same model states, including weights, gradients, and optimizer states. The redundancy is huge. Model and pipeline parallelism can support larger models, but they introduces massive communication overhead and pipeline bubbles, making it difficult to scale.. Early offloading methods can use CPU memory, but they often suffer from data transfer overhead. So existing solutions could not fully balance memory efficiency, speed, and usability.</a:t>
            </a:r>
            <a:endParaRPr lang="en-US" sz="1800" b="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This brings us to the main question: how can we break the GPU memory wall without significantly hurting training efficiency and without forcing researchers to redesign their models? The three works I am going to present today provide a progressive solution. So in the first work, the authors proposed </a:t>
            </a:r>
            <a:r>
              <a:rPr lang="en-US" altLang="zh-CN" dirty="0">
                <a:latin typeface="Times New Roman" panose="02020603050405020304" pitchFamily="18" charset="0"/>
                <a:cs typeface="Times New Roman" panose="02020603050405020304" pitchFamily="18" charset="0"/>
                <a:sym typeface="+mn-ea"/>
              </a:rPr>
              <a:t>The Zero, which</a:t>
            </a:r>
            <a:r>
              <a:rPr lang="en-US"/>
              <a:t> first removes memory redundancy in data parallel training. In the second wor</a:t>
            </a:r>
            <a:r>
              <a:rPr lang="en-US"/>
              <a:t>k called ZeRO-Offload, the authors brings CPU memory and CPU computation into the training system. Finally, the work ZeRO-Infinity extends the idea to a full hierarchical memory system across GPU, CPU, and NVMe</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600" b="1"/>
              <a:t>Before we fix the memory problem, we need to understand where the memory actually goes. During large-scale training, GPU memory is divided into two main categories. The biggest cost</a:t>
            </a:r>
            <a:r>
              <a:rPr lang="en-US" sz="1600" b="1"/>
              <a:t> is 'Model States.' This includes the model weights, the gradients from backpropagation, and also, the optimizer states. The second category is 'Residual States,' which includes activations and temporary buffers. While activations take up space, we already have mature techniques like Activation Checkpointing to handle them. Therefore, the ZeRO family primarily targets the massive footprint of Model States.</a:t>
            </a:r>
            <a:endParaRPr lang="en-US" sz="1600" b="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600" b="1"/>
              <a:t>Historically, the default solution for scaling out is standard Data Parallelism. DP is excellent for scaling compute, but it is terrible for memory efficiency. In standard DP, every single GPU holds a complete, one-hundred-percent replica of the entire model weights, gradients, and optimizer states. The GPUs only split the data batches and synchronize gradients via All-Reduce. The fatal flaw here is obvious: if your model requires 100 Gigabytes of memory just to load, a standard 32 Gigabyte GPU will crash with an 'Out of Memory' error immediately. In this scenario, it doesn't matter if you have ten GPUs or a thousand GPUs; DP is completely useless.</a:t>
            </a:r>
            <a:endParaRPr lang="en-US" sz="1600"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b="1">
                <a:sym typeface="+mn-ea"/>
              </a:rPr>
              <a:t>To fit models that exceed a single GPU's memory, the community turned to Model Parallelism. Tensor-level Model Parallelism slices individual layers across multiple GPUs. While it saves memory, it requires massive, fine-grained communication for every single forward and backward pass. Because of this, it is strictly confined to GPUs connected by high-speed links like NVLink, and as a result, MP becomes much less efficient across nodes because communication bandwidth drops sharply outside NVLink domains.</a:t>
            </a:r>
            <a:endParaRPr lang="en-US" b="1">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600" b="1"/>
              <a:t>Another solution is pipeline parallelism. Pipeline Parallelism tries a different approach by placing different layers on different GPUs. However, this introduces 'Pipeline Bubbles,' which are periods where GPUs sit entirely idle waiting for data from the previous stage. So both MP and PP complicate the code and reduce compute efficiency."</a:t>
            </a:r>
            <a:endParaRPr lang="en-US" sz="1600"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600" b="1"/>
              <a:t>Researchers also looked at heterogeneous training, which use the cheaper, abundant CPU RAM to help store the model. But before ZeRO, these attempts largely failed. The primary bottleneck is the PCIe bus, which is significantly slower than the GPU's native memory. Also, early systems implemented synchronous data transfers, meaning the ultra-fast GPU had to stop and wait while data was copied back and forth from the CPU. This caused GPU utilization to decrease, making the training process unacceptably slow.</a:t>
            </a:r>
            <a:endParaRPr lang="en-US" sz="1600"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a:t>So now we come to the methods that the three paper proposed</a:t>
            </a:r>
            <a:endParaRPr lang="en-US" altLang="zh-TW"/>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a:t>let’s start with the first paper, which is ZeRO: Memory Optimizations Toward Training Trillion Parameter Models</a:t>
            </a:r>
            <a:endParaRPr lang="en-US" altLang="zh-TW"/>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In this paper, the authors proposed the zero redundancy optimizer, which is zero for short. ZeRO has two sets of optimizations: which is zero-dp and zero-r. ZeRO-DP aimed at reducing the memory footprint of the model states, while ZeRO-R targeted towards reducing the residual memory consumption. And we will focus on the zero-dp part, which addresses the dominant memory bottleneck. The core philosophy of ZeRO is simple: stop replicating and start partitioning. ZeRO aims to preserve the memory efficiency of Model Parallelism while keeping the compute and communication efficiency of Data Parallelism. Instead of every GPU holding a hundred percent of the model states, ZeRO chops these states into mutually exclusive pieces and distributes them across the cluster. </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The authors introduce ZeRO-DP through three progressive stages, which are partitioning optimizer states, then gradients, and finally, the parameters themselves. Let's look at how each stage reclaims memory.</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Stage 1 targets the optimizer states. In modern mixed-precision training, an optimizer like Adam needs to hold 32-bit master weights, momentum, and variance. This consumes up to 12 bytes per parameter. ZeRO Stage 1 takes these optimizer states and divides them equally across all N GPUs in the cluster. Now, each GPU is only responsible for updating its specific slice of the model. By doing this, the memory footprint for optimizer states immediately drops by a factor of N.</a:t>
            </a:r>
            <a:endParaRPr lang="en-US">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Stage 2 is gradient partitioning. In this stage, If a GPU is only responsible for updating a specific fraction of the optimizer states, it doesn't need to hold the entire gradient tensor. It only needs the gradients corresponding to its assigned partition. ZeRO Stage 2 implements this by replacing the traditional All-Reduce communication with a Reduce-Scatter operation during the backward pass. As soon as a gradient slice is computed and reduced to its designated GPU, the other GPUs immediately free that memory. When combined with Stage 1, ZeRO Stage 2 reduces the total memory consumption by up to 8 times.</a:t>
            </a:r>
            <a:endParaRPr lang="en-US">
              <a:sym typeface="+mn-e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Finally, Stage 3 tackles the model weights. In this stage, GPUs no longer store the entire model. They only keep their assigned partition of the weights. And we compute the forward and backward passes through dynamic fetching. Right before computing a specific layer, the GPUs use an All-Gather operation to reconstruct the full weights for that layer. </a:t>
            </a:r>
            <a:r>
              <a:rPr lang="en-US" altLang="zh-CN" kern="0" dirty="0">
                <a:latin typeface="Times New Roman" panose="02020603050405020304" pitchFamily="18" charset="0"/>
                <a:cs typeface="Times New Roman" panose="02020603050405020304" pitchFamily="18" charset="0"/>
                <a:sym typeface="+mn-ea"/>
              </a:rPr>
              <a:t>Once the computation for that layer is done, the gathered weights are instantly discarded.</a:t>
            </a:r>
            <a:r>
              <a:rPr lang="en-US">
                <a:sym typeface="+mn-ea"/>
              </a:rPr>
              <a:t> With Stage 3, the entire memory footprint of the model is distributed. If you add more GPUs, your memory capacity scales linearly.</a:t>
            </a:r>
            <a:endParaRPr lang="en-US">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Now let’s see how zero really works in practice. The three phases of partitioning on optimizer state, gradient, and parameter reduces the memory consumption of each data parallel process on model states by up to 4 times, 8 times , and N times respectively. This table shows the model-state memory consumption of a few example models under the 3 stages of ZeRO-DP optimizations for varying DP degree. Without ZeRO, the memory consumption is equal to the first row in the table, regardless of the DP degree. Note that , with N = 64, ZeRO can train models with up to 7.5B, 14B, and 128B parameters using three stages, respectively. When N = 1024, ZeRO with all of its optimizations enabled (Pos+g+p)</a:t>
            </a:r>
            <a:endParaRPr lang="en-US">
              <a:sym typeface="+mn-ea"/>
            </a:endParaRPr>
          </a:p>
          <a:p>
            <a:r>
              <a:rPr lang="en-US">
                <a:sym typeface="+mn-ea"/>
              </a:rPr>
              <a:t>could train models with 1 Trillion parameters! Without ZeRO, the largest model DP alone can run has less than 1.5 Billion parameters.</a:t>
            </a:r>
            <a:endParaRPr lang="en-US">
              <a:sym typeface="+mn-e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sz="1600" b="1"/>
              <a:t>Okay now we move to the second paper, which is zero</a:t>
            </a:r>
            <a:r>
              <a:rPr lang="en-US" altLang="zh-CN" sz="1600" b="1" dirty="0">
                <a:solidFill>
                  <a:srgbClr val="FF0000"/>
                </a:solidFill>
                <a:latin typeface="Times New Roman" panose="02020603050405020304" pitchFamily="18" charset="0"/>
                <a:cs typeface="Times New Roman" panose="02020603050405020304" pitchFamily="18" charset="0"/>
                <a:sym typeface="+mn-ea"/>
              </a:rPr>
              <a:t>-Offload: Democratizing Billion-Scale Model Training</a:t>
            </a:r>
            <a:endParaRPr lang="en-US" altLang="zh-CN" sz="1600" b="1" dirty="0">
              <a:solidFill>
                <a:srgbClr val="FF0000"/>
              </a:solidFill>
              <a:latin typeface="Times New Roman" panose="02020603050405020304" pitchFamily="18" charset="0"/>
              <a:cs typeface="Times New Roman" panose="02020603050405020304" pitchFamily="18" charset="0"/>
              <a:sym typeface="+mn-ea"/>
            </a:endParaRPr>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So, in the previous work, ZeRO gave us a way to scale, but it still has the limitation that it requires massive GPU clusters for large model training. But if we look at a standard server, CPU memory is significantly cheaper and larger than GPU memory. The core vision of ZeRO-Offload is democratization: Can we leverage this abundant CPU memory to train a 10-Billion parameter model on a single GPU?</a:t>
            </a:r>
            <a:endParaRPr lang="en-US">
              <a:sym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To make this work, ZeRO-Offload doesn't just blindly move data; it relies on an optimal division of labor. We know the forward and backward passes are highly compute-intensive, so they must stay on the GPU. However, the optimizer step—like updating Adam states—involves very little computation but consumes a massive amount of memory. Therefore, the core strategy is to offload all the fp32 master weights and optimizer states to the CPU RAM, while keeping the heavy matrix multiplications on the GPU.</a:t>
            </a:r>
            <a:endParaRPr lang="en-US">
              <a:sym typeface="+mn-e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As there are many offload strategies between GPU and CPU, so the authors aim to find a unique and optimal offload strategy that limit CPU computation, minimize communication volume, and maximize memory savings. As a result, they propose the ZeRO-Offload. Zero-offload allocates all the fp32 model states along with the fp16 gradients on the CPU memory, and it also computes the parameter updates on CPU. The fp16 parameters are kept on GPU and the forward and backward computations are also done on GPU.</a:t>
            </a:r>
            <a:endParaRPr lang="en-US">
              <a:sym typeface="+mn-e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Here is the detailed schedule of zero-offload on a single GPU. In  Step one: the GPU computes the fp16 gradients. Step two: these gradients are instantly offloaded to the CPU. and Step three: the CPU takes over, reads its fp32 optimizer states, and updates the master weights. Finally, step four: the CPU casts these updated weights back to fp16 and returns them to the GPU. </a:t>
            </a:r>
            <a:endParaRPr lang="en-US">
              <a:sym typeface="+mn-ea"/>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In evaluation, ZeRO-Offload can train a 10x larger model on a single GPU, while keeping performance relatively modest. More importantly, it makes much larger models trainable on very limited GPU resources, including single-GPU settings. This is why the paper emphasizes democratizing billion-scale model training.</a:t>
            </a:r>
            <a:endParaRPr lang="en-US">
              <a:sym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lvl="1"/>
            <a:r>
              <a:rPr lang="en-US" altLang="zh-TW" sz="1600" b="1"/>
              <a:t>So here comes to the final chapter of the ZeRO family, </a:t>
            </a:r>
            <a:r>
              <a:rPr lang="en-US" altLang="zh-CN" sz="1600" b="1" dirty="0">
                <a:solidFill>
                  <a:srgbClr val="FF0000"/>
                </a:solidFill>
                <a:latin typeface="Times New Roman Bold" panose="02020603050405020304" charset="0"/>
                <a:cs typeface="Times New Roman Bold" panose="02020603050405020304" charset="0"/>
                <a:sym typeface="+mn-ea"/>
              </a:rPr>
              <a:t>ZeRO-Infinity: Breaking the GPU Memory Wall for Extreme Scale Deep Learning</a:t>
            </a:r>
            <a:endParaRPr lang="en-US" altLang="zh-CN" sz="1600" b="1" dirty="0">
              <a:solidFill>
                <a:srgbClr val="FF0000"/>
              </a:solidFill>
              <a:latin typeface="Times New Roman Bold" panose="02020603050405020304" charset="0"/>
              <a:cs typeface="Times New Roman Bold" panose="02020603050405020304" charset="0"/>
              <a:sym typeface="+mn-ea"/>
            </a:endParaRPr>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ZeRO-Infinity starts from a stronger version of the same problem. ZeRO and ZeRO-Offload already reduce memory pressure, but model sizes are growing so fast that aggregate GPU memory is still becoming the bottleneck. This paper shows that even with the SOTA 3D parallelism, fitting a trillion-parameter model already requires hundreds of GPUs.  Buying that much CPU RAM is incredibly expensive and sometimes physically impossible for a single node. The vision of ZeRO-Infinity is to break this final memory wall by extending the hierarchy one step further—to NVMe Solid State Drives, which are about 50 times cheaper than CPU RAM and offer virtually infinite capacity.</a:t>
            </a:r>
            <a:endParaRPr lang="en-US">
              <a:sym typeface="+mn-ea"/>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So now let’s look at the design of ZeRO-infinity. The core of ZeRO-Infinity is the infinity offload engine. Unlike earlier ZeRO methods, it can place partitioned model states not only on GPU or CPU, but also on NVMe. This extends the effective memory pool dramatically. But the paper also identifies another problem: sometimes even a single large layer cannot fit in GPU memory. To solve that, ZeRO-Infinity introduces memory-centric tiling, which decomposes a large operator into smaller tiles and runs them sequentially.</a:t>
            </a:r>
            <a:endParaRPr lang="en-US">
              <a:sym typeface="+mn-ea"/>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600" b="1">
                <a:sym typeface="+mn-ea"/>
              </a:rPr>
              <a:t>ZeRO-Infinity stays practical because it is designed around bandwidth and overlap. The paper introduces three optimizations that allow ZeRO-Infinity to achieve excellent efficiency. The first is bandwidth-centric partitioning, it  use aggregate bandwidth across the system. The second optimization is an overlap-centric design that lets GPU compute, GPU communication, CPU-GPU transfer, and NVMe-CPU transfer proceed in parallel. And last, A dynamic prefetcher moves parameters before they are needed, which hides much of the IO cost behind computation.</a:t>
            </a:r>
            <a:endParaRPr lang="en-US" sz="1600" b="1">
              <a:sym typeface="+mn-e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600" b="1">
                <a:sym typeface="+mn-ea"/>
              </a:rPr>
              <a:t>In evaluation, ZeRO-Infinity shows both scale and practicality. It pushes model scale from around 650 billion with 3D parallelism to over 32 trillion parameters, which is about a 50-times jump. On 512 GPUs it trains up to 20-trillion-parameter models with strong throughput, and it also shows super-linear scaling for a 1T model as more nodes contribute more aggregate bandwidth, and CPU compute. Finally, in the single-node setting, it can train up to 1T without model parallelism, which is the most compelling accessibility result.</a:t>
            </a:r>
            <a:endParaRPr lang="en-US" sz="1600" b="1">
              <a:sym typeface="+mn-ea"/>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lvl="1"/>
            <a:r>
              <a:rPr lang="en-US" altLang="zh-TW" sz="1600" b="1"/>
              <a:t>So now lets come to the conclusion parts</a:t>
            </a:r>
            <a:endParaRPr lang="en-US" altLang="zh-CN" sz="1600" b="1" dirty="0">
              <a:solidFill>
                <a:srgbClr val="FF0000"/>
              </a:solidFill>
              <a:latin typeface="Times New Roman Bold" panose="02020603050405020304" charset="0"/>
              <a:cs typeface="Times New Roman Bold" panose="02020603050405020304" charset="0"/>
              <a:sym typeface="+mn-ea"/>
            </a:endParaRPr>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600" b="1">
                <a:sym typeface="+mn-ea"/>
              </a:rPr>
              <a:t>These three papers form a clear progression. ZeRO focuses on eliminating memory redundancy in data parallel training. ZeRO-Offload extends the usable memory pool by bringing CPU memory and CPU computation into the training system. ZeRO-Infinity goes one step further by treating GPU, CPU, and NVMe as a unified hierarchical memory system. So the evolution is from partitioning, to offloading, to full hierarchical memory orchestration.</a:t>
            </a:r>
            <a:endParaRPr lang="en-US" sz="1600" b="1">
              <a:sym typeface="+mn-ea"/>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sz="1600" b="1">
                <a:sym typeface="+mn-ea"/>
              </a:rPr>
              <a:t>The main takeaway is that large-model training is not only a compute problem, but also a memory systems problem. The ZeRO series shows that by carefully organizing model states across devices and storage tiers, we can significantly increase trainable model scale without forcing users to completely rewrite their models. In this sense, the impact of the ZeRO series is not just higher scale, but also better usability and broader accessibility of large-model training.</a:t>
            </a:r>
            <a:endParaRPr lang="en-US" sz="1600" b="1">
              <a:sym typeface="+mn-ea"/>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5">
                <a:latin typeface="Calibri" pitchFamily="34" charset="0"/>
                <a:ea typeface="標楷體" panose="02010601000101010101" pitchFamily="65" charset="-120"/>
                <a:cs typeface="Calibri" pitchFamily="34" charset="0"/>
              </a:defRPr>
            </a:lvl3pPr>
            <a:lvl4pPr>
              <a:defRPr sz="2400">
                <a:latin typeface="Calibri" pitchFamily="34" charset="0"/>
                <a:ea typeface="標楷體" panose="02010601000101010101" pitchFamily="65" charset="-120"/>
                <a:cs typeface="Calibri" pitchFamily="34" charset="0"/>
              </a:defRPr>
            </a:lvl4pPr>
            <a:lvl5pPr>
              <a:defRPr sz="2135">
                <a:latin typeface="Calibri" pitchFamily="34" charset="0"/>
                <a:ea typeface="標楷體" panose="02010601000101010101" pitchFamily="65" charset="-120"/>
                <a:cs typeface="Calibri" pitchFamily="34" charset="0"/>
              </a:defRPr>
            </a:lvl5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5"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5"/>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dirty="0"/>
              <a:t>Click to edit Master text styles</a:t>
            </a:r>
            <a:endParaRPr lang="en-US" altLang="zh-TW"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4" name="內容版面配置區 3"/>
          <p:cNvSpPr>
            <a:spLocks noGrp="1"/>
          </p:cNvSpPr>
          <p:nvPr>
            <p:ph sz="half" idx="2"/>
          </p:nvPr>
        </p:nvSpPr>
        <p:spPr>
          <a:xfrm>
            <a:off x="609602" y="1908535"/>
            <a:ext cx="5386917"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6" name="內容版面配置區 5"/>
          <p:cNvSpPr>
            <a:spLocks noGrp="1"/>
          </p:cNvSpPr>
          <p:nvPr>
            <p:ph sz="quarter" idx="4"/>
          </p:nvPr>
        </p:nvSpPr>
        <p:spPr>
          <a:xfrm>
            <a:off x="6193373" y="1908535"/>
            <a:ext cx="5389033"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5"/>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idx="1" hasCustomPrompt="1"/>
          </p:nvPr>
        </p:nvSpPr>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sz="half" idx="1" hasCustomPrompt="1"/>
          </p:nvPr>
        </p:nvSpPr>
        <p:spPr>
          <a:xfrm>
            <a:off x="838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內容版面配置區 3"/>
          <p:cNvSpPr>
            <a:spLocks noGrp="1"/>
          </p:cNvSpPr>
          <p:nvPr>
            <p:ph sz="half" idx="2" hasCustomPrompt="1"/>
          </p:nvPr>
        </p:nvSpPr>
        <p:spPr>
          <a:xfrm>
            <a:off x="6172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4" name="內容版面配置區 3"/>
          <p:cNvSpPr>
            <a:spLocks noGrp="1"/>
          </p:cNvSpPr>
          <p:nvPr>
            <p:ph sz="half" idx="2" hasCustomPrompt="1"/>
          </p:nvPr>
        </p:nvSpPr>
        <p:spPr>
          <a:xfrm>
            <a:off x="839788" y="2505075"/>
            <a:ext cx="5157787"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文字版面配置區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6" name="內容版面配置區 5"/>
          <p:cNvSpPr>
            <a:spLocks noGrp="1"/>
          </p:cNvSpPr>
          <p:nvPr>
            <p:ph sz="quarter" idx="4" hasCustomPrompt="1"/>
          </p:nvPr>
        </p:nvSpPr>
        <p:spPr>
          <a:xfrm>
            <a:off x="6172200" y="2505075"/>
            <a:ext cx="5183188"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內容版面配置區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a:xfrm>
            <a:off x="838200" y="365125"/>
            <a:ext cx="7734300" cy="5811838"/>
          </a:xfrm>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png"/><Relationship Id="rId15" Type="http://schemas.openxmlformats.org/officeDocument/2006/relationships/image" Target="../media/image2.jpe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endParaRPr lang="zh-TW" altLang="en-US" dirty="0"/>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endParaRPr lang="zh-TW" altLang="en-US" dirty="0"/>
          </a:p>
          <a:p>
            <a:pPr lvl="1"/>
            <a:r>
              <a:rPr lang="zh-TW" altLang="en-US" dirty="0"/>
              <a:t>按一下以編輯母片</a:t>
            </a:r>
            <a:endParaRPr lang="zh-TW" altLang="en-US" dirty="0"/>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4"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anose="020B0604020202020204" pitchFamily="34" charset="0"/>
                <a:ea typeface="PMingLiU" pitchFamily="18" charset="-120"/>
                <a:cs typeface="Arial" panose="020B0604020202020204" pitchFamily="34" charset="0"/>
              </a:rPr>
              <a:t>National Tsing Hua University ® copyright OIA</a:t>
            </a:r>
            <a:endParaRPr lang="zh-TW" altLang="en-US" sz="1200" b="1"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latin typeface="Arial" panose="020B0604020202020204" pitchFamily="34" charset="0"/>
                <a:ea typeface="PMingLiU" pitchFamily="18" charset="-120"/>
              </a:defRPr>
            </a:lvl1pPr>
          </a:lstStyle>
          <a:p>
            <a:fld id="{D9B6BDF2-6896-4B98-8776-C18582F63BA5}" type="slidenum">
              <a:rPr lang="zh-TW" altLang="en-US" smtClean="0"/>
            </a:fld>
            <a:endParaRPr lang="zh-TW" altLang="en-US"/>
          </a:p>
        </p:txBody>
      </p:sp>
      <p:pic>
        <p:nvPicPr>
          <p:cNvPr id="14" name="圖片 13"/>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2010601000101010101"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2010601000101010101" pitchFamily="65" charset="-120"/>
                  <a:cs typeface="Times New Roman" panose="02020603050405020304" pitchFamily="18" charset="0"/>
                </a:rPr>
                <a:t>hool of Data Science</a:t>
              </a:r>
              <a:endParaRPr lang="zh-TW" altLang="zh-TW" sz="1000" kern="100" dirty="0">
                <a:solidFill>
                  <a:schemeClr val="bg1"/>
                </a:solidFill>
                <a:latin typeface="Calibri" pitchFamily="34" charset="0"/>
                <a:ea typeface="PMingLiU" pitchFamily="18" charset="-120"/>
                <a:cs typeface="Times New Roman" panose="02020603050405020304"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anose="02010601000101010101"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p:titleStyle>
    <p:body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fld>
            <a:endParaRPr lang="zh-TW"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471" y="1546545"/>
            <a:ext cx="11396871" cy="1882455"/>
          </a:xfrm>
        </p:spPr>
        <p:txBody>
          <a:bodyPr/>
          <a:lstStyle/>
          <a:p>
            <a:pPr algn="ctr"/>
            <a:r>
              <a:rPr lang="en-US" altLang="zh-CN" sz="3600" dirty="0"/>
              <a:t>Memory-Efficient Large Model Training: From ZeRo to ZeRO-Infinity</a:t>
            </a:r>
            <a:br>
              <a:rPr lang="en-US" altLang="zh-CN" sz="4400" dirty="0"/>
            </a:br>
            <a:br>
              <a:rPr lang="en-US" altLang="zh-CN" sz="4800" dirty="0">
                <a:effectLst>
                  <a:outerShdw blurRad="38100" dist="38100" dir="2700000" algn="tl">
                    <a:srgbClr val="000000">
                      <a:alpha val="43137"/>
                    </a:srgbClr>
                  </a:outerShdw>
                </a:effectLst>
              </a:rPr>
            </a:br>
            <a:r>
              <a:rPr lang="en-US" altLang="zh-CN" sz="3200" b="0" dirty="0">
                <a:effectLst>
                  <a:outerShdw blurRad="38100" dist="38100" dir="2700000" algn="tl">
                    <a:srgbClr val="000000">
                      <a:alpha val="43137"/>
                    </a:srgbClr>
                  </a:outerShdw>
                </a:effectLst>
              </a:rPr>
              <a:t>2026.03.19</a:t>
            </a:r>
            <a:endParaRPr lang="zh-TW" altLang="en-US" sz="32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CN" sz="3200" dirty="0" err="1">
                <a:effectLst>
                  <a:outerShdw blurRad="38100" dist="38100" dir="2700000" algn="tl">
                    <a:srgbClr val="000000">
                      <a:alpha val="43137"/>
                    </a:srgbClr>
                  </a:outerShdw>
                </a:effectLst>
              </a:rPr>
              <a:t>Wentao Ge</a:t>
            </a:r>
            <a:endParaRPr lang="en-US" altLang="zh-CN" sz="3200" dirty="0">
              <a:effectLst>
                <a:outerShdw blurRad="38100" dist="38100" dir="2700000" algn="tl">
                  <a:srgbClr val="000000">
                    <a:alpha val="43137"/>
                  </a:srgbClr>
                </a:outerShdw>
              </a:effectLst>
            </a:endParaRPr>
          </a:p>
          <a:p>
            <a:r>
              <a:rPr lang="en-US" altLang="zh-TW" sz="3200" dirty="0"/>
              <a:t>School of </a:t>
            </a:r>
            <a:r>
              <a:rPr lang="en-US" altLang="zh-CN" sz="3200" dirty="0"/>
              <a:t>Data </a:t>
            </a:r>
            <a:r>
              <a:rPr lang="en-US" altLang="zh-TW" sz="3200" dirty="0"/>
              <a:t>Science</a:t>
            </a:r>
            <a:endParaRPr lang="en-US" altLang="zh-TW" sz="3200" dirty="0"/>
          </a:p>
          <a:p>
            <a:r>
              <a:rPr lang="en-US" altLang="zh-TW" sz="3200" dirty="0"/>
              <a:t>Chinese University of Hong Kong, Shenzhen</a:t>
            </a:r>
            <a:endParaRPr lang="en-US" altLang="zh-TW"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內容版面配置區 2"/>
          <p:cNvSpPr>
            <a:spLocks noGrp="1"/>
          </p:cNvSpPr>
          <p:nvPr>
            <p:ph idx="1"/>
          </p:nvPr>
        </p:nvSpPr>
        <p:spPr>
          <a:xfrm>
            <a:off x="761365" y="1314450"/>
            <a:ext cx="12198985" cy="3561080"/>
          </a:xfrm>
        </p:spPr>
        <p:txBody>
          <a:bodyPr>
            <a:noAutofit/>
          </a:bodyPr>
          <a:p>
            <a:r>
              <a:rPr lang="en-US" altLang="zh-CN" sz="2935" dirty="0">
                <a:solidFill>
                  <a:schemeClr val="tx1"/>
                </a:solidFill>
                <a:latin typeface="Times New Roman" panose="02020603050405020304" pitchFamily="18" charset="0"/>
                <a:cs typeface="Times New Roman" panose="02020603050405020304" pitchFamily="18" charset="0"/>
              </a:rPr>
              <a:t>Introduction (3 min)</a:t>
            </a:r>
            <a:endParaRPr lang="en-US" altLang="zh-TW" sz="2935"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rPr>
              <a:t>Background &amp; Motivation (5 min)</a:t>
            </a:r>
            <a:endParaRPr lang="en-US" altLang="zh-CN" sz="2935"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sym typeface="+mn-ea"/>
              </a:rPr>
              <a:t>Proposed Methods (15 min)</a:t>
            </a:r>
            <a:endParaRPr lang="en-US" altLang="zh-CN" sz="2935"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 Memory Optimizations Toward Training Trillion Parameter Models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ZeRO-Offload: Democratizing Billion-Scale Model Training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ZeRO-Infinity: Breaking the GPU Memory Wall for</a:t>
            </a:r>
            <a:endParaRPr lang="en-US" altLang="zh-CN" sz="2400" dirty="0">
              <a:solidFill>
                <a:schemeClr val="tx1"/>
              </a:solidFill>
              <a:latin typeface="Times New Roman" panose="02020603050405020304" pitchFamily="18" charset="0"/>
              <a:cs typeface="Times New Roman" panose="02020603050405020304" pitchFamily="18" charset="0"/>
              <a:sym typeface="+mn-ea"/>
            </a:endParaRPr>
          </a:p>
          <a:p>
            <a:pPr marL="457200" lvl="1" indent="0">
              <a:buNone/>
            </a:pPr>
            <a:r>
              <a:rPr lang="en-US" altLang="zh-CN" sz="2400" dirty="0">
                <a:solidFill>
                  <a:schemeClr val="tx1"/>
                </a:solidFill>
                <a:latin typeface="Times New Roman" panose="02020603050405020304" pitchFamily="18" charset="0"/>
                <a:cs typeface="Times New Roman" panose="02020603050405020304" pitchFamily="18" charset="0"/>
                <a:sym typeface="+mn-ea"/>
              </a:rPr>
              <a:t>    Extreme Scale Deep Learning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rPr>
              <a:t>Conclusions (2 min)</a:t>
            </a:r>
            <a:endParaRPr lang="en-US" altLang="zh-CN" sz="2935"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rPr>
              <a:t>Q &amp; A (5 min)</a:t>
            </a:r>
            <a:endParaRPr lang="en-US" altLang="zh-CN" sz="293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內容版面配置區 2"/>
          <p:cNvSpPr>
            <a:spLocks noGrp="1"/>
          </p:cNvSpPr>
          <p:nvPr>
            <p:ph idx="1"/>
          </p:nvPr>
        </p:nvSpPr>
        <p:spPr>
          <a:xfrm>
            <a:off x="761365" y="1314450"/>
            <a:ext cx="12198985" cy="3561080"/>
          </a:xfrm>
        </p:spPr>
        <p:txBody>
          <a:bodyPr>
            <a:noAutofit/>
          </a:bodyPr>
          <a:lstStyle/>
          <a:p>
            <a:r>
              <a:rPr lang="en-US" altLang="zh-CN" sz="2935" dirty="0">
                <a:solidFill>
                  <a:srgbClr val="FF0000"/>
                </a:solidFill>
                <a:latin typeface="Times New Roman" panose="02020603050405020304" pitchFamily="18" charset="0"/>
                <a:cs typeface="Times New Roman" panose="02020603050405020304" pitchFamily="18" charset="0"/>
              </a:rPr>
              <a:t>Introduction (3 min)</a:t>
            </a:r>
            <a:endParaRPr lang="en-US" altLang="zh-TW" sz="2935" dirty="0">
              <a:solidFill>
                <a:srgbClr val="FF0000"/>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rPr>
              <a:t>Background &amp; Motivation (5 min)</a:t>
            </a:r>
            <a:endParaRPr lang="en-US" altLang="zh-CN" sz="2935"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sym typeface="+mn-ea"/>
              </a:rPr>
              <a:t>Proposed Methods (15 min)</a:t>
            </a:r>
            <a:endParaRPr lang="en-US" altLang="zh-CN" sz="2935"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 Memory Optimizations Toward Training Trillion Parameter Models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ZeRO-Offload: Democratizing Billion-Scale Model Training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ZeRO-Infinity: Breaking the GPU Memory Wall for</a:t>
            </a:r>
            <a:endParaRPr lang="en-US" altLang="zh-CN" sz="2400" dirty="0">
              <a:solidFill>
                <a:schemeClr val="tx1"/>
              </a:solidFill>
              <a:latin typeface="Times New Roman" panose="02020603050405020304" pitchFamily="18" charset="0"/>
              <a:cs typeface="Times New Roman" panose="02020603050405020304" pitchFamily="18" charset="0"/>
              <a:sym typeface="+mn-ea"/>
            </a:endParaRPr>
          </a:p>
          <a:p>
            <a:pPr marL="457200" lvl="1" indent="0">
              <a:buNone/>
            </a:pPr>
            <a:r>
              <a:rPr lang="en-US" altLang="zh-CN" sz="2400" dirty="0">
                <a:solidFill>
                  <a:schemeClr val="tx1"/>
                </a:solidFill>
                <a:latin typeface="Times New Roman" panose="02020603050405020304" pitchFamily="18" charset="0"/>
                <a:cs typeface="Times New Roman" panose="02020603050405020304" pitchFamily="18" charset="0"/>
                <a:sym typeface="+mn-ea"/>
              </a:rPr>
              <a:t>    Extreme Scale Deep Learning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rPr>
              <a:t>Conclusions (2 min)</a:t>
            </a:r>
            <a:endParaRPr lang="en-US" altLang="zh-CN" sz="2935"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rPr>
              <a:t>Q &amp; A (5 min)</a:t>
            </a:r>
            <a:endParaRPr lang="en-US" altLang="zh-CN" sz="293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600" dirty="0">
                <a:ea typeface="Calibri" pitchFamily="34" charset="0"/>
                <a:cs typeface="Calibri" pitchFamily="34" charset="0"/>
              </a:rPr>
              <a:t>Introduction  (1/3)</a:t>
            </a:r>
            <a:endParaRPr lang="en-US" altLang="zh-CN" sz="3600" dirty="0">
              <a:ea typeface="Calibri" pitchFamily="34" charset="0"/>
              <a:cs typeface="Calibri" pitchFamily="34" charset="0"/>
            </a:endParaRPr>
          </a:p>
        </p:txBody>
      </p:sp>
      <p:sp>
        <p:nvSpPr>
          <p:cNvPr id="3" name="Content Placeholder 2"/>
          <p:cNvSpPr>
            <a:spLocks noGrp="1"/>
          </p:cNvSpPr>
          <p:nvPr>
            <p:ph idx="1"/>
          </p:nvPr>
        </p:nvSpPr>
        <p:spPr>
          <a:xfrm>
            <a:off x="609600" y="1326515"/>
            <a:ext cx="4883150" cy="4831715"/>
          </a:xfrm>
        </p:spPr>
        <p:txBody>
          <a:bodyPr/>
          <a:lstStyle/>
          <a:p>
            <a:r>
              <a:rPr lang="en-US" sz="2400" b="1" dirty="0">
                <a:latin typeface="Times New Roman Bold" panose="02020603050405020304" charset="0"/>
                <a:cs typeface="Times New Roman Bold" panose="02020603050405020304" charset="0"/>
              </a:rPr>
              <a:t>The size of large deep learning models continue to grow rapidly.</a:t>
            </a:r>
            <a:endParaRPr lang="en-US" sz="24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Model scaling often brings strong performance gains.</a:t>
            </a:r>
            <a:endParaRPr lang="zh-CN" altLang="en-US" sz="2200" dirty="0">
              <a:latin typeface="Times New Roman" panose="02020603050405020304" pitchFamily="18" charset="0"/>
              <a:cs typeface="Times New Roman" panose="02020603050405020304" pitchFamily="18" charset="0"/>
            </a:endParaRPr>
          </a:p>
          <a:p>
            <a:pPr marL="457200" lvl="1" indent="0">
              <a:buNone/>
            </a:pPr>
            <a:endParaRPr lang="en-US" sz="2200" dirty="0">
              <a:latin typeface="Times New Roman" panose="02020603050405020304" pitchFamily="18" charset="0"/>
              <a:cs typeface="Times New Roman" panose="02020603050405020304" pitchFamily="18" charset="0"/>
            </a:endParaRPr>
          </a:p>
          <a:p>
            <a:pPr lvl="0" algn="l"/>
            <a:r>
              <a:rPr lang="en-US" sz="2400" b="1" dirty="0">
                <a:latin typeface="Times New Roman Bold" panose="02020603050405020304" charset="0"/>
                <a:cs typeface="Times New Roman Bold" panose="02020603050405020304" charset="0"/>
              </a:rPr>
              <a:t>Hardware memory scaling severely lags behind.</a:t>
            </a:r>
            <a:endParaRPr lang="en-US" sz="2400" b="1" dirty="0">
              <a:latin typeface="Times New Roman Bold" panose="02020603050405020304" charset="0"/>
              <a:cs typeface="Times New Roman Bold" panose="02020603050405020304" charset="0"/>
            </a:endParaRPr>
          </a:p>
          <a:p>
            <a:pPr lvl="1" algn="l"/>
            <a:r>
              <a:rPr lang="en-US" sz="2200" dirty="0">
                <a:latin typeface="Times New Roman" panose="02020603050405020304" pitchFamily="18" charset="0"/>
                <a:cs typeface="Times New Roman" panose="02020603050405020304" pitchFamily="18" charset="0"/>
              </a:rPr>
              <a:t>Model size increases by 1000x.</a:t>
            </a:r>
            <a:endParaRPr lang="en-US" sz="2200" dirty="0">
              <a:latin typeface="Times New Roman" panose="02020603050405020304" pitchFamily="18" charset="0"/>
              <a:cs typeface="Times New Roman" panose="02020603050405020304" pitchFamily="18" charset="0"/>
            </a:endParaRPr>
          </a:p>
          <a:p>
            <a:pPr lvl="1" algn="l"/>
            <a:r>
              <a:rPr lang="en-US" sz="2200" dirty="0">
                <a:latin typeface="Times New Roman" panose="02020603050405020304" pitchFamily="18" charset="0"/>
                <a:cs typeface="Times New Roman" panose="02020603050405020304" pitchFamily="18" charset="0"/>
              </a:rPr>
              <a:t>GPU VRAM grows only linearly (16GB </a:t>
            </a:r>
            <a:r>
              <a:rPr lang="zh-CN" altLang="en-US"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&gt;32GB </a:t>
            </a:r>
            <a:r>
              <a:rPr lang="zh-CN" altLang="en-US"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&gt;</a:t>
            </a:r>
            <a:r>
              <a:rPr lang="en-US" sz="2200" dirty="0">
                <a:latin typeface="Times New Roman" panose="02020603050405020304" pitchFamily="18" charset="0"/>
                <a:cs typeface="Times New Roman" panose="02020603050405020304" pitchFamily="18" charset="0"/>
              </a:rPr>
              <a:t> 80GB).</a:t>
            </a:r>
            <a:endParaRPr lang="en-US" sz="2200" dirty="0">
              <a:latin typeface="Times New Roman" panose="02020603050405020304" pitchFamily="18" charset="0"/>
              <a:cs typeface="Times New Roman" panose="0202060305040502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pic>
        <p:nvPicPr>
          <p:cNvPr id="8" name="Picture 7"/>
          <p:cNvPicPr>
            <a:picLocks noChangeAspect="1"/>
          </p:cNvPicPr>
          <p:nvPr/>
        </p:nvPicPr>
        <p:blipFill>
          <a:blip r:embed="rId1"/>
          <a:stretch>
            <a:fillRect/>
          </a:stretch>
        </p:blipFill>
        <p:spPr>
          <a:xfrm>
            <a:off x="5702300" y="1326515"/>
            <a:ext cx="6489700" cy="39528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3600" dirty="0">
                <a:ea typeface="Calibri" pitchFamily="34" charset="0"/>
                <a:cs typeface="Calibri" pitchFamily="34" charset="0"/>
              </a:rPr>
              <a:t>Introduction (2/3)</a:t>
            </a:r>
            <a:endParaRPr lang="en-US" altLang="zh-CN" sz="3600" dirty="0">
              <a:ea typeface="Calibri" pitchFamily="34" charset="0"/>
              <a:cs typeface="Calibri"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内容占位符 5"/>
          <p:cNvSpPr>
            <a:spLocks noGrp="1"/>
          </p:cNvSpPr>
          <p:nvPr>
            <p:ph idx="1"/>
          </p:nvPr>
        </p:nvSpPr>
        <p:spPr>
          <a:xfrm>
            <a:off x="609600" y="1390015"/>
            <a:ext cx="10313035" cy="4895850"/>
          </a:xfrm>
        </p:spPr>
        <p:txBody>
          <a:bodyPr/>
          <a:lstStyle/>
          <a:p>
            <a:r>
              <a:rPr lang="en-US" altLang="zh-CN" sz="2400" dirty="0">
                <a:latin typeface="Times New Roman" panose="02020603050405020304" pitchFamily="18" charset="0"/>
                <a:cs typeface="Times New Roman" panose="02020603050405020304" pitchFamily="18" charset="0"/>
              </a:rPr>
              <a:t>Existing solutions help scale training, but they also have important limitations.</a:t>
            </a:r>
            <a:endParaRPr lang="en-US" altLang="zh-CN" sz="2400" dirty="0">
              <a:latin typeface="Times New Roman" panose="02020603050405020304" pitchFamily="18" charset="0"/>
              <a:cs typeface="Times New Roman" panose="02020603050405020304" pitchFamily="18" charset="0"/>
            </a:endParaRPr>
          </a:p>
          <a:p>
            <a:pPr lvl="1" algn="l"/>
            <a:r>
              <a:rPr lang="en-US" altLang="zh-CN" sz="2200" dirty="0">
                <a:latin typeface="Times New Roman" panose="02020603050405020304" pitchFamily="18" charset="0"/>
                <a:cs typeface="Times New Roman" panose="02020603050405020304" pitchFamily="18" charset="0"/>
              </a:rPr>
              <a:t>Data parallelism (DP) </a:t>
            </a:r>
            <a:r>
              <a:rPr lang="en-US" altLang="zh-CN" sz="2200" dirty="0">
                <a:latin typeface="Times New Roman" panose="02020603050405020304" pitchFamily="18" charset="0"/>
                <a:cs typeface="Times New Roman" panose="02020603050405020304" pitchFamily="18" charset="0"/>
                <a:sym typeface="+mn-ea"/>
              </a:rPr>
              <a:t>wastes memory through replication.</a:t>
            </a:r>
            <a:endParaRPr lang="en-US" altLang="zh-CN" sz="2200" dirty="0">
              <a:latin typeface="Times New Roman" panose="02020603050405020304" pitchFamily="18" charset="0"/>
              <a:cs typeface="Times New Roman" panose="02020603050405020304" pitchFamily="18" charset="0"/>
              <a:sym typeface="+mn-ea"/>
            </a:endParaRPr>
          </a:p>
          <a:p>
            <a:pPr lvl="1" algn="l"/>
            <a:r>
              <a:rPr lang="en-US" altLang="zh-CN" sz="2200" dirty="0">
                <a:latin typeface="Times New Roman" panose="02020603050405020304" pitchFamily="18" charset="0"/>
                <a:cs typeface="Times New Roman" panose="02020603050405020304" pitchFamily="18" charset="0"/>
              </a:rPr>
              <a:t>Pipeline parallelism (PP) </a:t>
            </a:r>
            <a:r>
              <a:rPr lang="en-US" altLang="zh-CN" sz="2200" dirty="0">
                <a:latin typeface="Times New Roman" panose="02020603050405020304" pitchFamily="18" charset="0"/>
                <a:cs typeface="Times New Roman" panose="02020603050405020304" pitchFamily="18" charset="0"/>
              </a:rPr>
              <a:t>and model parallelism (MP) can support larger models, but introduces high communication overhead and pipeline bubbles. </a:t>
            </a:r>
            <a:endParaRPr lang="en-US" altLang="zh-CN" sz="2200" dirty="0">
              <a:latin typeface="Times New Roman" panose="02020603050405020304" pitchFamily="18" charset="0"/>
              <a:cs typeface="Times New Roman" panose="02020603050405020304" pitchFamily="18" charset="0"/>
            </a:endParaRPr>
          </a:p>
          <a:p>
            <a:pPr lvl="0" algn="l"/>
            <a:endParaRPr lang="en-US" altLang="zh-CN" sz="2565" dirty="0">
              <a:latin typeface="Times New Roman" panose="02020603050405020304" pitchFamily="18" charset="0"/>
              <a:cs typeface="Times New Roman" panose="02020603050405020304" pitchFamily="18" charset="0"/>
            </a:endParaRPr>
          </a:p>
          <a:p>
            <a:pPr lvl="0" algn="l"/>
            <a:r>
              <a:rPr lang="en-US" altLang="zh-CN" sz="2400" dirty="0">
                <a:latin typeface="Times New Roman" panose="02020603050405020304" pitchFamily="18" charset="0"/>
                <a:cs typeface="Times New Roman" panose="02020603050405020304" pitchFamily="18" charset="0"/>
              </a:rPr>
              <a:t>Existing methods cannot simultaneously achieve:</a:t>
            </a:r>
            <a:endParaRPr lang="en-US" altLang="zh-CN" sz="2400" dirty="0">
              <a:latin typeface="Times New Roman" panose="02020603050405020304" pitchFamily="18" charset="0"/>
              <a:cs typeface="Times New Roman" panose="02020603050405020304" pitchFamily="18" charset="0"/>
            </a:endParaRPr>
          </a:p>
          <a:p>
            <a:pPr lvl="1" algn="l"/>
            <a:r>
              <a:rPr lang="en-US" altLang="zh-CN" sz="2200" dirty="0">
                <a:latin typeface="Times New Roman" panose="02020603050405020304" pitchFamily="18" charset="0"/>
                <a:cs typeface="Times New Roman" panose="02020603050405020304" pitchFamily="18" charset="0"/>
              </a:rPr>
              <a:t>high memory efficiency</a:t>
            </a:r>
            <a:endParaRPr lang="en-US" altLang="zh-CN" sz="2200" dirty="0">
              <a:latin typeface="Times New Roman" panose="02020603050405020304" pitchFamily="18" charset="0"/>
              <a:cs typeface="Times New Roman" panose="02020603050405020304" pitchFamily="18" charset="0"/>
            </a:endParaRPr>
          </a:p>
          <a:p>
            <a:pPr lvl="1" algn="l"/>
            <a:r>
              <a:rPr lang="en-US" altLang="zh-CN" sz="2200" dirty="0">
                <a:latin typeface="Times New Roman" panose="02020603050405020304" pitchFamily="18" charset="0"/>
                <a:cs typeface="Times New Roman" panose="02020603050405020304" pitchFamily="18" charset="0"/>
              </a:rPr>
              <a:t>high training efficiency</a:t>
            </a:r>
            <a:endParaRPr lang="en-US" altLang="zh-CN" sz="2200" dirty="0">
              <a:latin typeface="Times New Roman" panose="02020603050405020304" pitchFamily="18" charset="0"/>
              <a:cs typeface="Times New Roman" panose="02020603050405020304" pitchFamily="18" charset="0"/>
            </a:endParaRPr>
          </a:p>
          <a:p>
            <a:pPr lvl="1" algn="l"/>
            <a:r>
              <a:rPr lang="en-US" altLang="zh-CN" sz="2200" dirty="0">
                <a:latin typeface="Times New Roman" panose="02020603050405020304" pitchFamily="18" charset="0"/>
                <a:cs typeface="Times New Roman" panose="02020603050405020304" pitchFamily="18" charset="0"/>
              </a:rPr>
              <a:t>low engineering complexity</a:t>
            </a:r>
            <a:endParaRPr lang="en-US" altLang="zh-C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3600" dirty="0">
                <a:ea typeface="Calibri" pitchFamily="34" charset="0"/>
                <a:cs typeface="Calibri" pitchFamily="34" charset="0"/>
              </a:rPr>
              <a:t>Introduction (3/3)</a:t>
            </a:r>
            <a:endParaRPr lang="en-US" altLang="zh-CN" sz="3600" dirty="0">
              <a:ea typeface="Calibri" pitchFamily="34" charset="0"/>
              <a:cs typeface="Calibri"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内容占位符 5"/>
          <p:cNvSpPr>
            <a:spLocks noGrp="1"/>
          </p:cNvSpPr>
          <p:nvPr>
            <p:ph idx="1"/>
          </p:nvPr>
        </p:nvSpPr>
        <p:spPr>
          <a:xfrm>
            <a:off x="609600" y="1629092"/>
            <a:ext cx="8876145" cy="4895851"/>
          </a:xfrm>
        </p:spPr>
        <p:txBody>
          <a:bodyPr/>
          <a:lstStyle/>
          <a:p>
            <a:r>
              <a:rPr lang="en-US" altLang="zh-CN" sz="2400" dirty="0">
                <a:latin typeface="Times New Roman" panose="02020603050405020304" pitchFamily="18" charset="0"/>
                <a:cs typeface="Times New Roman" panose="02020603050405020304" pitchFamily="18" charset="0"/>
              </a:rPr>
              <a:t>The main question is: </a:t>
            </a:r>
            <a:r>
              <a:rPr lang="en-US" altLang="zh-CN" sz="2400" b="1" i="1" dirty="0">
                <a:latin typeface="Times New Roman Bold Italic" panose="02020603050405020304" charset="0"/>
                <a:cs typeface="Times New Roman Bold Italic" panose="02020603050405020304" charset="0"/>
              </a:rPr>
              <a:t>How can we break the GPU memory wall for large-scale model training without sacrificing efficiency or requiring complex model refactoring?</a:t>
            </a:r>
            <a:endParaRPr lang="en-US" altLang="zh-CN" sz="2400" b="1" i="1" dirty="0">
              <a:latin typeface="Times New Roman Bold Italic" panose="02020603050405020304" charset="0"/>
              <a:cs typeface="Times New Roman Bold Italic" panose="02020603050405020304"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The Zero Redundancy Optimizer (ZeRO) series provides a progressive answer:</a:t>
            </a:r>
            <a:endParaRPr lang="en-US" altLang="zh-CN" sz="2400" dirty="0">
              <a:latin typeface="Times New Roman" panose="02020603050405020304" pitchFamily="18" charset="0"/>
              <a:cs typeface="Times New Roman" panose="02020603050405020304" pitchFamily="18" charset="0"/>
            </a:endParaRPr>
          </a:p>
          <a:p>
            <a:pPr lvl="1"/>
            <a:r>
              <a:rPr lang="en-US" altLang="zh-CN" sz="2200" dirty="0">
                <a:latin typeface="Times New Roman" panose="02020603050405020304" pitchFamily="18" charset="0"/>
                <a:cs typeface="Times New Roman" panose="02020603050405020304" pitchFamily="18" charset="0"/>
              </a:rPr>
              <a:t>ZeRO: remove memory redundancy across data-parallel workers</a:t>
            </a:r>
            <a:endParaRPr lang="en-US" altLang="zh-CN" sz="2200" dirty="0">
              <a:latin typeface="Times New Roman" panose="02020603050405020304" pitchFamily="18" charset="0"/>
              <a:cs typeface="Times New Roman" panose="02020603050405020304" pitchFamily="18" charset="0"/>
            </a:endParaRPr>
          </a:p>
          <a:p>
            <a:pPr lvl="1"/>
            <a:r>
              <a:rPr lang="en-US" altLang="zh-CN" sz="2200" dirty="0">
                <a:latin typeface="Times New Roman" panose="02020603050405020304" pitchFamily="18" charset="0"/>
                <a:cs typeface="Times New Roman" panose="02020603050405020304" pitchFamily="18" charset="0"/>
              </a:rPr>
              <a:t>ZeRO-Offload: extend training memory from GPU to GPU + CPU</a:t>
            </a:r>
            <a:endParaRPr lang="en-US" altLang="zh-CN" sz="2200" dirty="0">
              <a:latin typeface="Times New Roman" panose="02020603050405020304" pitchFamily="18" charset="0"/>
              <a:cs typeface="Times New Roman" panose="02020603050405020304" pitchFamily="18" charset="0"/>
            </a:endParaRPr>
          </a:p>
          <a:p>
            <a:pPr lvl="1"/>
            <a:r>
              <a:rPr lang="en-US" altLang="zh-CN" sz="2200" dirty="0">
                <a:latin typeface="Times New Roman" panose="02020603050405020304" pitchFamily="18" charset="0"/>
                <a:cs typeface="Times New Roman" panose="02020603050405020304" pitchFamily="18" charset="0"/>
              </a:rPr>
              <a:t>ZeRO-Infinity: further extend memory to GPU + CPU + NVMe</a:t>
            </a:r>
            <a:endParaRPr lang="en-US" altLang="zh-C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sz="3600" dirty="0"/>
              <a:t>Outline</a:t>
            </a:r>
            <a:endParaRPr lang="en-US" altLang="zh-TW" sz="3600" dirty="0"/>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7" name="內容版面配置區 2"/>
          <p:cNvSpPr>
            <a:spLocks noGrp="1"/>
          </p:cNvSpPr>
          <p:nvPr>
            <p:ph idx="1"/>
          </p:nvPr>
        </p:nvSpPr>
        <p:spPr>
          <a:xfrm>
            <a:off x="761365" y="1314450"/>
            <a:ext cx="12198985" cy="3561080"/>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rPr>
              <a:t>Background (5 min)</a:t>
            </a:r>
            <a:endParaRPr lang="en-US" altLang="zh-CN" sz="2935" dirty="0">
              <a:solidFill>
                <a:srgbClr val="FF0000"/>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sym typeface="+mn-ea"/>
              </a:rPr>
              <a:t>Proposed Methods (15 min)</a:t>
            </a:r>
            <a:endParaRPr lang="en-US" altLang="zh-CN" sz="2935"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 Memory Optimizations Toward Training Trillion Parameter Models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ZeRO-Offload: Democratizing Billion-Scale Model Training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ZeRO-Infinity: Breaking the GPU Memory Wall for</a:t>
            </a:r>
            <a:endParaRPr lang="en-US" altLang="zh-CN" sz="2400" dirty="0">
              <a:solidFill>
                <a:schemeClr val="tx1"/>
              </a:solidFill>
              <a:latin typeface="Times New Roman" panose="02020603050405020304" pitchFamily="18" charset="0"/>
              <a:cs typeface="Times New Roman" panose="02020603050405020304" pitchFamily="18" charset="0"/>
              <a:sym typeface="+mn-ea"/>
            </a:endParaRPr>
          </a:p>
          <a:p>
            <a:pPr marL="457200" lvl="1" indent="0">
              <a:buNone/>
            </a:pPr>
            <a:r>
              <a:rPr lang="en-US" altLang="zh-CN" sz="2400" dirty="0">
                <a:solidFill>
                  <a:schemeClr val="tx1"/>
                </a:solidFill>
                <a:latin typeface="Times New Roman" panose="02020603050405020304" pitchFamily="18" charset="0"/>
                <a:cs typeface="Times New Roman" panose="02020603050405020304" pitchFamily="18" charset="0"/>
                <a:sym typeface="+mn-ea"/>
              </a:rPr>
              <a:t>    Extreme Scale Deep Learning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rPr>
              <a:t>Conclusions (2 min)</a:t>
            </a:r>
            <a:endParaRPr lang="en-US" altLang="zh-CN" sz="2935"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rPr>
              <a:t>Q &amp; A (5 min)</a:t>
            </a:r>
            <a:endParaRPr lang="en-US" altLang="zh-CN" sz="293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3600" dirty="0">
                <a:ea typeface="Calibri" pitchFamily="34" charset="0"/>
                <a:cs typeface="Calibri" pitchFamily="34" charset="0"/>
              </a:rPr>
              <a:t>Background (1/5)</a:t>
            </a:r>
            <a:endParaRPr lang="en-US" altLang="zh-CN" sz="3600" dirty="0">
              <a:ea typeface="Calibri" pitchFamily="34" charset="0"/>
              <a:cs typeface="Calibri"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625629" y="1806257"/>
            <a:ext cx="9876465" cy="4895851"/>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b="1" kern="0" dirty="0">
                <a:latin typeface="Times New Roman Bold" panose="02020603050405020304" charset="0"/>
                <a:cs typeface="Times New Roman Bold" panose="02020603050405020304" charset="0"/>
              </a:rPr>
              <a:t>Where does the memory go during training?</a:t>
            </a:r>
            <a:endParaRPr lang="en-US" altLang="zh-CN" sz="2800" b="1" kern="0" dirty="0">
              <a:latin typeface="Times New Roman Bold" panose="02020603050405020304" charset="0"/>
              <a:cs typeface="Times New Roman Bold" panose="02020603050405020304" charset="0"/>
            </a:endParaRPr>
          </a:p>
          <a:p>
            <a:endParaRPr lang="en-US" altLang="zh-CN" sz="2800" kern="0" dirty="0">
              <a:latin typeface="Times New Roman" panose="02020603050405020304" pitchFamily="18" charset="0"/>
              <a:cs typeface="Times New Roman" panose="02020603050405020304" pitchFamily="18" charset="0"/>
            </a:endParaRPr>
          </a:p>
          <a:p>
            <a:endParaRPr lang="en-US" altLang="zh-CN" sz="2800" kern="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822960" y="2666365"/>
            <a:ext cx="9773920" cy="2746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3600" dirty="0">
                <a:ea typeface="Calibri" pitchFamily="34" charset="0"/>
                <a:cs typeface="Calibri" pitchFamily="34" charset="0"/>
              </a:rPr>
              <a:t>Background: Data Parallelism (2/5)</a:t>
            </a:r>
            <a:endParaRPr lang="en-US" altLang="zh-CN" sz="3600" dirty="0">
              <a:ea typeface="Calibri" pitchFamily="34" charset="0"/>
              <a:cs typeface="Calibri"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360680" y="1410335"/>
            <a:ext cx="629094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Bold" panose="02020603050405020304" charset="0"/>
                <a:cs typeface="Times New Roman Bold" panose="02020603050405020304" charset="0"/>
              </a:rPr>
              <a:t>Standard data parallelism</a:t>
            </a:r>
            <a:r>
              <a:rPr lang="en-US" altLang="zh-CN" sz="2400" kern="0" dirty="0">
                <a:latin typeface="Times New Roman" panose="02020603050405020304" pitchFamily="18" charset="0"/>
                <a:cs typeface="Times New Roman" panose="02020603050405020304" pitchFamily="18" charset="0"/>
              </a:rPr>
              <a:t>: </a:t>
            </a:r>
            <a:endParaRPr lang="en-US" altLang="zh-CN" sz="2400" kern="0" dirty="0">
              <a:latin typeface="Times New Roman" panose="02020603050405020304" pitchFamily="18" charset="0"/>
              <a:cs typeface="Times New Roman" panose="02020603050405020304" pitchFamily="18" charset="0"/>
            </a:endParaRPr>
          </a:p>
          <a:p>
            <a:pPr lvl="1"/>
            <a:r>
              <a:rPr lang="en-US" altLang="zh-CN" sz="2200" dirty="0">
                <a:latin typeface="Times New Roman" panose="02020603050405020304" pitchFamily="18" charset="0"/>
                <a:cs typeface="Times New Roman" panose="02020603050405020304" pitchFamily="18" charset="0"/>
              </a:rPr>
              <a:t>Excellent compute efficiency</a:t>
            </a:r>
            <a:endParaRPr lang="en-US" altLang="zh-CN" sz="2200" dirty="0">
              <a:latin typeface="Times New Roman" panose="02020603050405020304" pitchFamily="18" charset="0"/>
              <a:cs typeface="Times New Roman" panose="02020603050405020304" pitchFamily="18" charset="0"/>
            </a:endParaRPr>
          </a:p>
          <a:p>
            <a:pPr lvl="1"/>
            <a:r>
              <a:rPr lang="en-US" altLang="zh-CN" sz="2200" dirty="0">
                <a:latin typeface="Times New Roman" panose="02020603050405020304" pitchFamily="18" charset="0"/>
                <a:cs typeface="Times New Roman" panose="02020603050405020304" pitchFamily="18" charset="0"/>
              </a:rPr>
              <a:t>Terrible memory efficiency</a:t>
            </a:r>
            <a:endParaRPr lang="en-US" altLang="zh-CN" sz="2200" dirty="0">
              <a:latin typeface="Times New Roman" panose="02020603050405020304" pitchFamily="18" charset="0"/>
              <a:cs typeface="Times New Roman" panose="02020603050405020304" pitchFamily="18" charset="0"/>
            </a:endParaRPr>
          </a:p>
          <a:p>
            <a:pPr lvl="1"/>
            <a:endParaRPr lang="en-US" altLang="zh-CN" sz="2200" dirty="0">
              <a:latin typeface="Times New Roman" panose="02020603050405020304" pitchFamily="18" charset="0"/>
              <a:cs typeface="Times New Roman" panose="02020603050405020304" pitchFamily="18" charset="0"/>
            </a:endParaRPr>
          </a:p>
          <a:p>
            <a:pPr lvl="0"/>
            <a:r>
              <a:rPr lang="en-US" altLang="zh-CN" sz="2400" b="1" dirty="0">
                <a:latin typeface="Times New Roman Bold" panose="02020603050405020304" charset="0"/>
                <a:cs typeface="Times New Roman Bold" panose="02020603050405020304" charset="0"/>
              </a:rPr>
              <a:t>DP Mechanism</a:t>
            </a:r>
            <a:endParaRPr lang="en-US" altLang="zh-CN" sz="2400" dirty="0">
              <a:latin typeface="Times New Roman" panose="02020603050405020304" pitchFamily="18" charset="0"/>
              <a:cs typeface="Times New Roman" panose="02020603050405020304" pitchFamily="18" charset="0"/>
            </a:endParaRPr>
          </a:p>
          <a:p>
            <a:pPr lvl="1"/>
            <a:r>
              <a:rPr lang="en-US" altLang="zh-CN" sz="2200" dirty="0">
                <a:latin typeface="Times New Roman" panose="02020603050405020304" pitchFamily="18" charset="0"/>
                <a:cs typeface="Times New Roman" panose="02020603050405020304" pitchFamily="18" charset="0"/>
              </a:rPr>
              <a:t>Every GPU holds a 100% exact replica of the model (W ).</a:t>
            </a:r>
            <a:endParaRPr lang="en-US" altLang="zh-CN" sz="2200" dirty="0">
              <a:latin typeface="Times New Roman" panose="02020603050405020304" pitchFamily="18" charset="0"/>
              <a:cs typeface="Times New Roman" panose="02020603050405020304" pitchFamily="18" charset="0"/>
            </a:endParaRPr>
          </a:p>
          <a:p>
            <a:pPr lvl="1"/>
            <a:r>
              <a:rPr lang="en-US" altLang="zh-CN" sz="2200" dirty="0">
                <a:latin typeface="Times New Roman" panose="02020603050405020304" pitchFamily="18" charset="0"/>
                <a:cs typeface="Times New Roman" panose="02020603050405020304" pitchFamily="18" charset="0"/>
              </a:rPr>
              <a:t>Gradients (∇W ) are synchronized via AllReduce.</a:t>
            </a:r>
            <a:endParaRPr lang="en-US" altLang="zh-CN" sz="2200" dirty="0">
              <a:latin typeface="Times New Roman" panose="02020603050405020304" pitchFamily="18" charset="0"/>
              <a:cs typeface="Times New Roman" panose="02020603050405020304" pitchFamily="18" charset="0"/>
            </a:endParaRPr>
          </a:p>
          <a:p>
            <a:pPr marL="0" lvl="0" indent="0">
              <a:buNone/>
            </a:pPr>
            <a:endParaRPr lang="en-US" altLang="zh-CN" sz="2200" dirty="0">
              <a:latin typeface="Times New Roman" panose="02020603050405020304" pitchFamily="18" charset="0"/>
              <a:cs typeface="Times New Roman" panose="02020603050405020304" pitchFamily="18" charset="0"/>
            </a:endParaRPr>
          </a:p>
          <a:p>
            <a:pPr marL="0" lvl="0" indent="0">
              <a:buNone/>
            </a:pPr>
            <a:endParaRPr lang="en-US" altLang="zh-CN" sz="2330" dirty="0">
              <a:latin typeface="Times New Roman" panose="02020603050405020304" pitchFamily="18" charset="0"/>
              <a:cs typeface="Times New Roman" panose="02020603050405020304" pitchFamily="18" charset="0"/>
            </a:endParaRPr>
          </a:p>
          <a:p>
            <a:endParaRPr lang="en-US" altLang="zh-CN" sz="2000" kern="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6650990" y="1410335"/>
            <a:ext cx="4423410" cy="40366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625475" y="1812925"/>
            <a:ext cx="567753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Bold" panose="02020603050405020304" charset="0"/>
                <a:cs typeface="Times New Roman Bold" panose="02020603050405020304" charset="0"/>
              </a:rPr>
              <a:t>Model Parallelism (MP)</a:t>
            </a:r>
            <a:r>
              <a:rPr lang="en-US" altLang="zh-CN" sz="2400" kern="0" dirty="0">
                <a:latin typeface="Times New Roman" panose="02020603050405020304" pitchFamily="18" charset="0"/>
                <a:cs typeface="Times New Roman" panose="02020603050405020304" pitchFamily="18" charset="0"/>
              </a:rPr>
              <a:t>:</a:t>
            </a:r>
            <a:endParaRPr lang="en-US" altLang="zh-CN" sz="2400" kern="0" dirty="0">
              <a:latin typeface="Times New Roman" panose="02020603050405020304" pitchFamily="18" charset="0"/>
              <a:cs typeface="Times New Roman" panose="02020603050405020304" pitchFamily="18" charset="0"/>
            </a:endParaRPr>
          </a:p>
          <a:p>
            <a:pPr lvl="1"/>
            <a:r>
              <a:rPr lang="en-US" altLang="zh-CN" sz="2200" kern="0" dirty="0">
                <a:latin typeface="Times New Roman" panose="02020603050405020304" pitchFamily="18" charset="0"/>
                <a:cs typeface="Times New Roman" panose="02020603050405020304" pitchFamily="18" charset="0"/>
              </a:rPr>
              <a:t>Splits individual layers across multiple GPUs.</a:t>
            </a:r>
            <a:endParaRPr lang="en-US" altLang="zh-CN" sz="2200" kern="0" dirty="0">
              <a:latin typeface="Times New Roman" panose="02020603050405020304" pitchFamily="18" charset="0"/>
              <a:cs typeface="Times New Roman" panose="02020603050405020304" pitchFamily="18" charset="0"/>
            </a:endParaRPr>
          </a:p>
          <a:p>
            <a:pPr lvl="1"/>
            <a:r>
              <a:rPr lang="en-US" altLang="zh-CN" sz="2200" kern="0" dirty="0">
                <a:solidFill>
                  <a:schemeClr val="tx1"/>
                </a:solidFill>
                <a:latin typeface="Times New Roman" panose="02020603050405020304" pitchFamily="18" charset="0"/>
                <a:cs typeface="Times New Roman" panose="02020603050405020304" pitchFamily="18" charset="0"/>
              </a:rPr>
              <a:t>Problem: </a:t>
            </a:r>
            <a:endParaRPr lang="en-US" altLang="zh-CN" sz="2200" kern="0" dirty="0">
              <a:solidFill>
                <a:schemeClr val="tx1"/>
              </a:solidFill>
              <a:latin typeface="Times New Roman" panose="02020603050405020304" pitchFamily="18" charset="0"/>
              <a:cs typeface="Times New Roman" panose="02020603050405020304" pitchFamily="18" charset="0"/>
            </a:endParaRPr>
          </a:p>
          <a:p>
            <a:pPr lvl="2"/>
            <a:r>
              <a:rPr lang="en-US" altLang="zh-CN" sz="2200" kern="0" dirty="0">
                <a:latin typeface="Times New Roman" panose="02020603050405020304" pitchFamily="18" charset="0"/>
                <a:cs typeface="Times New Roman" panose="02020603050405020304" pitchFamily="18" charset="0"/>
              </a:rPr>
              <a:t>Requires massive, fine-grained communication for every pass. </a:t>
            </a:r>
            <a:endParaRPr lang="en-US" altLang="zh-CN" sz="2200" kern="0" dirty="0">
              <a:latin typeface="Times New Roman" panose="02020603050405020304" pitchFamily="18" charset="0"/>
              <a:cs typeface="Times New Roman" panose="02020603050405020304" pitchFamily="18" charset="0"/>
            </a:endParaRPr>
          </a:p>
          <a:p>
            <a:pPr lvl="2"/>
            <a:r>
              <a:rPr lang="en-US" altLang="zh-CN" sz="2200" kern="0" dirty="0">
                <a:latin typeface="Times New Roman" panose="02020603050405020304" pitchFamily="18" charset="0"/>
                <a:cs typeface="Times New Roman" panose="02020603050405020304" pitchFamily="18" charset="0"/>
              </a:rPr>
              <a:t>Confined to high-bandwidth links (e.g., NVLink).</a:t>
            </a:r>
            <a:endParaRPr lang="en-US" altLang="zh-CN" sz="2200" kern="0" dirty="0">
              <a:latin typeface="Times New Roman" panose="02020603050405020304" pitchFamily="18" charset="0"/>
              <a:cs typeface="Times New Roman" panose="02020603050405020304" pitchFamily="18" charset="0"/>
            </a:endParaRPr>
          </a:p>
          <a:p>
            <a:pPr lvl="2"/>
            <a:endParaRPr lang="en-US" altLang="zh-CN" sz="1995" kern="0" dirty="0">
              <a:latin typeface="Times New Roman" panose="02020603050405020304" pitchFamily="18" charset="0"/>
              <a:cs typeface="Times New Roman" panose="02020603050405020304" pitchFamily="18" charset="0"/>
            </a:endParaRPr>
          </a:p>
          <a:p>
            <a:endParaRPr lang="en-US" altLang="zh-CN" sz="2200" kern="0" dirty="0">
              <a:latin typeface="Times New Roman" panose="02020603050405020304" pitchFamily="18" charset="0"/>
              <a:cs typeface="Times New Roman" panose="02020603050405020304" pitchFamily="18" charset="0"/>
            </a:endParaRPr>
          </a:p>
        </p:txBody>
      </p:sp>
      <p:sp>
        <p:nvSpPr>
          <p:cNvPr id="5" name="Title 1"/>
          <p:cNvSpPr>
            <a:spLocks noGrp="1"/>
          </p:cNvSpPr>
          <p:nvPr/>
        </p:nvSpPr>
        <p:spPr>
          <a:xfrm>
            <a:off x="1176655" y="271780"/>
            <a:ext cx="11155045" cy="692150"/>
          </a:xfrm>
          <a:prstGeom prst="rect">
            <a:avLst/>
          </a:prstGeom>
          <a:noFill/>
          <a:ln w="9525">
            <a:noFill/>
            <a:miter lim="800000"/>
          </a:ln>
        </p:spPr>
        <p:txBody>
          <a:bodyPr vert="horz" wrap="square" lIns="91440" tIns="45720" rIns="91440" bIns="45720" numCol="1" anchor="ctr" anchorCtr="0" compatLnSpc="1"/>
          <a:lstStyle>
            <a:lvl1pPr algn="l" rtl="0" eaLnBrk="1" fontAlgn="base" hangingPunct="1">
              <a:spcBef>
                <a:spcPct val="0"/>
              </a:spcBef>
              <a:spcAft>
                <a:spcPct val="0"/>
              </a:spcAft>
              <a:defRPr kumimoji="1" sz="4800" b="1">
                <a:solidFill>
                  <a:schemeClr val="tx2"/>
                </a:solidFill>
                <a:latin typeface="Calibri" pitchFamily="34" charset="0"/>
                <a:ea typeface="標楷體" panose="02010601000101010101"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a:lstStyle>
          <a:p>
            <a:r>
              <a:rPr lang="en-US" altLang="zh-CN" sz="3600" dirty="0">
                <a:ea typeface="Calibri" pitchFamily="34" charset="0"/>
                <a:cs typeface="Calibri" pitchFamily="34" charset="0"/>
              </a:rPr>
              <a:t>Background: Model Parallelism (3/5)</a:t>
            </a:r>
            <a:endParaRPr lang="en-US" altLang="zh-CN" sz="3600" dirty="0">
              <a:ea typeface="Calibri" pitchFamily="34" charset="0"/>
              <a:cs typeface="Calibri" pitchFamily="34" charset="0"/>
            </a:endParaRPr>
          </a:p>
        </p:txBody>
      </p:sp>
      <p:pic>
        <p:nvPicPr>
          <p:cNvPr id="9" name="Picture 8"/>
          <p:cNvPicPr>
            <a:picLocks noChangeAspect="1"/>
          </p:cNvPicPr>
          <p:nvPr/>
        </p:nvPicPr>
        <p:blipFill>
          <a:blip r:embed="rId1"/>
          <a:stretch>
            <a:fillRect/>
          </a:stretch>
        </p:blipFill>
        <p:spPr>
          <a:xfrm>
            <a:off x="6965315" y="1704975"/>
            <a:ext cx="3958590" cy="38938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772160" y="2126615"/>
            <a:ext cx="5059680"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Pipeline Parallelism (PP)</a:t>
            </a:r>
            <a:r>
              <a:rPr lang="en-US" altLang="zh-CN" sz="2400" kern="0" dirty="0">
                <a:latin typeface="Times New Roman" panose="02020603050405020304" pitchFamily="18" charset="0"/>
                <a:cs typeface="Times New Roman" panose="02020603050405020304" pitchFamily="18" charset="0"/>
                <a:sym typeface="+mn-ea"/>
              </a:rPr>
              <a:t>:</a:t>
            </a:r>
            <a:endParaRPr lang="en-US" altLang="zh-CN" sz="2400" kern="0" dirty="0">
              <a:latin typeface="Times New Roman" panose="02020603050405020304" pitchFamily="18" charset="0"/>
              <a:cs typeface="Times New Roman" panose="02020603050405020304" pitchFamily="18" charset="0"/>
            </a:endParaRPr>
          </a:p>
          <a:p>
            <a:pPr lvl="1"/>
            <a:r>
              <a:rPr lang="en-US" altLang="zh-CN" sz="2200" kern="0" dirty="0">
                <a:latin typeface="Times New Roman" panose="02020603050405020304" pitchFamily="18" charset="0"/>
                <a:cs typeface="Times New Roman" panose="02020603050405020304" pitchFamily="18" charset="0"/>
                <a:sym typeface="+mn-ea"/>
              </a:rPr>
              <a:t>Splits the model layer-by-layer across GPUs.</a:t>
            </a:r>
            <a:endParaRPr lang="en-US" altLang="zh-CN" sz="2200" kern="0" dirty="0">
              <a:latin typeface="Times New Roman" panose="02020603050405020304" pitchFamily="18" charset="0"/>
              <a:cs typeface="Times New Roman" panose="02020603050405020304" pitchFamily="18" charset="0"/>
            </a:endParaRPr>
          </a:p>
          <a:p>
            <a:pPr lvl="1"/>
            <a:r>
              <a:rPr lang="en-US" altLang="zh-CN" sz="2200" kern="0" dirty="0">
                <a:latin typeface="Times New Roman" panose="02020603050405020304" pitchFamily="18" charset="0"/>
                <a:cs typeface="Times New Roman" panose="02020603050405020304" pitchFamily="18" charset="0"/>
                <a:sym typeface="+mn-ea"/>
              </a:rPr>
              <a:t>Problem: Introduces “Pipeline Bubbles” and highly complex scheduling logic.</a:t>
            </a:r>
            <a:endParaRPr lang="en-US" altLang="zh-CN" sz="2200" kern="0" dirty="0">
              <a:latin typeface="Times New Roman" panose="02020603050405020304" pitchFamily="18" charset="0"/>
              <a:cs typeface="Times New Roman" panose="02020603050405020304" pitchFamily="18" charset="0"/>
            </a:endParaRPr>
          </a:p>
          <a:p>
            <a:pPr lvl="2"/>
            <a:endParaRPr lang="en-US" altLang="zh-CN" sz="2400" kern="0" dirty="0">
              <a:latin typeface="Times New Roman" panose="02020603050405020304" pitchFamily="18" charset="0"/>
              <a:cs typeface="Times New Roman" panose="02020603050405020304" pitchFamily="18" charset="0"/>
            </a:endParaRPr>
          </a:p>
          <a:p>
            <a:pPr lvl="2"/>
            <a:endParaRPr lang="en-US" altLang="zh-CN" sz="1995" kern="0" dirty="0">
              <a:latin typeface="Times New Roman" panose="02020603050405020304" pitchFamily="18" charset="0"/>
              <a:cs typeface="Times New Roman" panose="02020603050405020304" pitchFamily="18" charset="0"/>
            </a:endParaRPr>
          </a:p>
          <a:p>
            <a:endParaRPr lang="en-US" altLang="zh-CN" sz="2200" kern="0" dirty="0">
              <a:latin typeface="Times New Roman" panose="02020603050405020304" pitchFamily="18" charset="0"/>
              <a:cs typeface="Times New Roman" panose="02020603050405020304" pitchFamily="18" charset="0"/>
            </a:endParaRPr>
          </a:p>
        </p:txBody>
      </p:sp>
      <p:sp>
        <p:nvSpPr>
          <p:cNvPr id="5" name="Title 1"/>
          <p:cNvSpPr>
            <a:spLocks noGrp="1"/>
          </p:cNvSpPr>
          <p:nvPr/>
        </p:nvSpPr>
        <p:spPr>
          <a:xfrm>
            <a:off x="1176655" y="271780"/>
            <a:ext cx="11155045" cy="692150"/>
          </a:xfrm>
          <a:prstGeom prst="rect">
            <a:avLst/>
          </a:prstGeom>
          <a:noFill/>
          <a:ln w="9525">
            <a:noFill/>
            <a:miter lim="800000"/>
          </a:ln>
        </p:spPr>
        <p:txBody>
          <a:bodyPr vert="horz" wrap="square" lIns="91440" tIns="45720" rIns="91440" bIns="45720" numCol="1" anchor="ctr" anchorCtr="0" compatLnSpc="1"/>
          <a:lstStyle>
            <a:lvl1pPr algn="l" rtl="0" eaLnBrk="1" fontAlgn="base" hangingPunct="1">
              <a:spcBef>
                <a:spcPct val="0"/>
              </a:spcBef>
              <a:spcAft>
                <a:spcPct val="0"/>
              </a:spcAft>
              <a:defRPr kumimoji="1" sz="4800" b="1">
                <a:solidFill>
                  <a:schemeClr val="tx2"/>
                </a:solidFill>
                <a:latin typeface="Calibri" pitchFamily="34" charset="0"/>
                <a:ea typeface="標楷體" panose="02010601000101010101"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anose="02010601000101010101"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a:lstStyle>
          <a:p>
            <a:r>
              <a:rPr lang="en-US" altLang="zh-CN" sz="3600" dirty="0">
                <a:ea typeface="Calibri" pitchFamily="34" charset="0"/>
                <a:cs typeface="Calibri" pitchFamily="34" charset="0"/>
              </a:rPr>
              <a:t>Background: Pipeline Parallelism (4/5)</a:t>
            </a:r>
            <a:endParaRPr lang="en-US" altLang="zh-CN" sz="3600" dirty="0">
              <a:ea typeface="Calibri" pitchFamily="34" charset="0"/>
              <a:cs typeface="Calibri" pitchFamily="34" charset="0"/>
            </a:endParaRPr>
          </a:p>
        </p:txBody>
      </p:sp>
      <p:pic>
        <p:nvPicPr>
          <p:cNvPr id="6" name="Picture 5"/>
          <p:cNvPicPr>
            <a:picLocks noChangeAspect="1"/>
          </p:cNvPicPr>
          <p:nvPr/>
        </p:nvPicPr>
        <p:blipFill>
          <a:blip r:embed="rId1"/>
          <a:stretch>
            <a:fillRect/>
          </a:stretch>
        </p:blipFill>
        <p:spPr>
          <a:xfrm>
            <a:off x="6096000" y="1694180"/>
            <a:ext cx="5715000" cy="3848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655" y="144780"/>
            <a:ext cx="11380470" cy="692150"/>
          </a:xfrm>
        </p:spPr>
        <p:txBody>
          <a:bodyPr/>
          <a:lstStyle/>
          <a:p>
            <a:r>
              <a:rPr lang="en-US" altLang="zh-CN" sz="3600" dirty="0">
                <a:ea typeface="Calibri" pitchFamily="34" charset="0"/>
                <a:cs typeface="Calibri" pitchFamily="34" charset="0"/>
              </a:rPr>
              <a:t>Background: Early Heterogeneous Training (5/5)</a:t>
            </a:r>
            <a:endParaRPr lang="en-US" altLang="zh-CN" sz="3600" dirty="0">
              <a:ea typeface="Calibri" pitchFamily="34" charset="0"/>
              <a:cs typeface="Calibri"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624994" y="1881822"/>
            <a:ext cx="10163079" cy="4895851"/>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Use cheaper, abundant CPU RAM to store parts of the model.</a:t>
            </a:r>
            <a:endParaRPr lang="en-US" altLang="zh-CN" sz="2400" kern="0" dirty="0">
              <a:latin typeface="Times New Roman" panose="02020603050405020304" pitchFamily="18" charset="0"/>
              <a:cs typeface="Times New Roman" panose="02020603050405020304" pitchFamily="18" charset="0"/>
            </a:endParaRPr>
          </a:p>
          <a:p>
            <a:endParaRPr lang="en-US" altLang="zh-CN" sz="24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Pre-ZeRO Limitations:</a:t>
            </a:r>
            <a:endParaRPr lang="en-US" altLang="zh-CN" sz="2400" kern="0" dirty="0">
              <a:latin typeface="Times New Roman" panose="02020603050405020304" pitchFamily="18" charset="0"/>
              <a:cs typeface="Times New Roman" panose="02020603050405020304" pitchFamily="18" charset="0"/>
            </a:endParaRPr>
          </a:p>
          <a:p>
            <a:pPr lvl="1"/>
            <a:r>
              <a:rPr lang="en-US" altLang="zh-CN" sz="2200" kern="0" dirty="0">
                <a:latin typeface="Times New Roman" panose="02020603050405020304" pitchFamily="18" charset="0"/>
                <a:cs typeface="Times New Roman" panose="02020603050405020304" pitchFamily="18" charset="0"/>
              </a:rPr>
              <a:t>PCIe bandwidth bottleneck</a:t>
            </a:r>
            <a:endParaRPr lang="en-US" altLang="zh-CN" sz="2200" kern="0" dirty="0">
              <a:latin typeface="Times New Roman" panose="02020603050405020304" pitchFamily="18" charset="0"/>
              <a:cs typeface="Times New Roman" panose="02020603050405020304" pitchFamily="18" charset="0"/>
            </a:endParaRPr>
          </a:p>
          <a:p>
            <a:pPr lvl="1"/>
            <a:r>
              <a:rPr lang="en-US" altLang="zh-CN" sz="2200" kern="0" dirty="0">
                <a:latin typeface="Times New Roman" panose="02020603050405020304" pitchFamily="18" charset="0"/>
                <a:cs typeface="Times New Roman" panose="02020603050405020304" pitchFamily="18" charset="0"/>
              </a:rPr>
              <a:t>Synchronous blocking</a:t>
            </a:r>
            <a:endParaRPr lang="en-US" altLang="zh-CN" sz="2200" kern="0" dirty="0">
              <a:latin typeface="Times New Roman" panose="02020603050405020304" pitchFamily="18" charset="0"/>
              <a:cs typeface="Times New Roman" panose="02020603050405020304" pitchFamily="18" charset="0"/>
            </a:endParaRPr>
          </a:p>
          <a:p>
            <a:pPr marL="0" indent="0">
              <a:buNone/>
            </a:pPr>
            <a:endParaRPr lang="en-US" altLang="zh-CN" sz="22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sz="3600" dirty="0"/>
              <a:t>Outline</a:t>
            </a:r>
            <a:endParaRPr lang="en-US" altLang="zh-TW" sz="3600" dirty="0"/>
          </a:p>
        </p:txBody>
      </p:sp>
      <p:sp>
        <p:nvSpPr>
          <p:cNvPr id="3" name="內容版面配置區 2"/>
          <p:cNvSpPr>
            <a:spLocks noGrp="1"/>
          </p:cNvSpPr>
          <p:nvPr>
            <p:ph idx="1"/>
          </p:nvPr>
        </p:nvSpPr>
        <p:spPr>
          <a:xfrm>
            <a:off x="761365" y="1314450"/>
            <a:ext cx="12198985" cy="3561080"/>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(5 min)</a:t>
            </a:r>
            <a:endParaRPr lang="en-US" altLang="zh-CN" sz="2935" dirty="0">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sym typeface="+mn-ea"/>
              </a:rPr>
              <a:t>Proposed Methods (15 min)</a:t>
            </a:r>
            <a:endParaRPr lang="en-US" altLang="zh-CN" sz="2935"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solidFill>
                  <a:srgbClr val="FF0000"/>
                </a:solidFill>
                <a:latin typeface="Times New Roman" panose="02020603050405020304" pitchFamily="18" charset="0"/>
                <a:cs typeface="Times New Roman" panose="02020603050405020304" pitchFamily="18" charset="0"/>
                <a:sym typeface="+mn-ea"/>
              </a:rPr>
              <a:t>ZeRO: Memory Optimizations Toward Training Trillion Parameter Models (5 min)</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solidFill>
                  <a:srgbClr val="FF0000"/>
                </a:solidFill>
                <a:latin typeface="Times New Roman" panose="02020603050405020304" pitchFamily="18" charset="0"/>
                <a:cs typeface="Times New Roman" panose="02020603050405020304" pitchFamily="18" charset="0"/>
                <a:sym typeface="+mn-ea"/>
              </a:rPr>
              <a:t>ZeRO-Offload: Democratizing Billion-Scale Model Training (5 min)</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solidFill>
                  <a:srgbClr val="FF0000"/>
                </a:solidFill>
                <a:latin typeface="Times New Roman" panose="02020603050405020304" pitchFamily="18" charset="0"/>
                <a:cs typeface="Times New Roman" panose="02020603050405020304" pitchFamily="18" charset="0"/>
                <a:sym typeface="+mn-ea"/>
              </a:rPr>
              <a:t>ZeRO-Infinity: Breaking the GPU Memory Wall for</a:t>
            </a:r>
            <a:endParaRPr lang="en-US" altLang="zh-CN" sz="2400" dirty="0">
              <a:solidFill>
                <a:srgbClr val="FF0000"/>
              </a:solidFill>
              <a:latin typeface="Times New Roman" panose="02020603050405020304" pitchFamily="18" charset="0"/>
              <a:cs typeface="Times New Roman" panose="02020603050405020304" pitchFamily="18" charset="0"/>
              <a:sym typeface="+mn-ea"/>
            </a:endParaRPr>
          </a:p>
          <a:p>
            <a:pPr marL="457200" lvl="1" indent="0">
              <a:buNone/>
            </a:pPr>
            <a:r>
              <a:rPr lang="en-US" altLang="zh-CN" sz="2400" dirty="0">
                <a:solidFill>
                  <a:srgbClr val="FF0000"/>
                </a:solidFill>
                <a:latin typeface="Times New Roman" panose="02020603050405020304" pitchFamily="18" charset="0"/>
                <a:cs typeface="Times New Roman" panose="02020603050405020304" pitchFamily="18" charset="0"/>
                <a:sym typeface="+mn-ea"/>
              </a:rPr>
              <a:t>    Extreme Scale Deep Learning (5 min)</a:t>
            </a:r>
            <a:endParaRPr lang="en-US" altLang="zh-CN" sz="2400" dirty="0">
              <a:solidFill>
                <a:srgbClr val="FF0000"/>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sz="3600" dirty="0"/>
              <a:t>Outline</a:t>
            </a:r>
            <a:endParaRPr lang="en-US" altLang="zh-TW" sz="3600" dirty="0"/>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8" name="內容版面配置區 2"/>
          <p:cNvSpPr>
            <a:spLocks noGrp="1"/>
          </p:cNvSpPr>
          <p:nvPr>
            <p:ph idx="1"/>
          </p:nvPr>
        </p:nvSpPr>
        <p:spPr>
          <a:xfrm>
            <a:off x="761365" y="1314450"/>
            <a:ext cx="12198985" cy="3561080"/>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(5 min)</a:t>
            </a:r>
            <a:endParaRPr lang="en-US" altLang="zh-CN" sz="2935" dirty="0">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sym typeface="+mn-ea"/>
              </a:rPr>
              <a:t>Proposed Methods (15 min)</a:t>
            </a:r>
            <a:endParaRPr lang="en-US" altLang="zh-CN" sz="2935"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solidFill>
                  <a:srgbClr val="FF0000"/>
                </a:solidFill>
                <a:latin typeface="Times New Roman" panose="02020603050405020304" pitchFamily="18" charset="0"/>
                <a:cs typeface="Times New Roman" panose="02020603050405020304" pitchFamily="18" charset="0"/>
                <a:sym typeface="+mn-ea"/>
              </a:rPr>
              <a:t>ZeRO: Memory Optimizations Toward Training Trillion Parameter Models (5 min)</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ZeRO-Offload: Democratizing Billion-Scale Model Training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ZeRO-Infinity: Breaking the GPU Memory Wall for</a:t>
            </a:r>
            <a:endParaRPr lang="en-US" altLang="zh-CN" sz="2400" dirty="0">
              <a:solidFill>
                <a:schemeClr val="tx1"/>
              </a:solidFill>
              <a:latin typeface="Times New Roman" panose="02020603050405020304" pitchFamily="18" charset="0"/>
              <a:cs typeface="Times New Roman" panose="02020603050405020304" pitchFamily="18" charset="0"/>
              <a:sym typeface="+mn-ea"/>
            </a:endParaRPr>
          </a:p>
          <a:p>
            <a:pPr marL="457200" lvl="1" indent="0">
              <a:buNone/>
            </a:pPr>
            <a:r>
              <a:rPr lang="en-US" altLang="zh-CN" sz="2400" dirty="0">
                <a:solidFill>
                  <a:schemeClr val="tx1"/>
                </a:solidFill>
                <a:latin typeface="Times New Roman" panose="02020603050405020304" pitchFamily="18" charset="0"/>
                <a:cs typeface="Times New Roman" panose="02020603050405020304" pitchFamily="18" charset="0"/>
                <a:sym typeface="+mn-ea"/>
              </a:rPr>
              <a:t>    Extreme Scale Deep Learning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 (1/6)</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5475" y="1233170"/>
            <a:ext cx="609790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Bold" panose="02020603050405020304" charset="0"/>
                <a:cs typeface="Times New Roman Bold" panose="02020603050405020304" charset="0"/>
              </a:rPr>
              <a:t>Zero Redundancy Optimizer (ZeRO)</a:t>
            </a:r>
            <a:endParaRPr lang="en-US" altLang="zh-CN" sz="2400" kern="0" dirty="0">
              <a:latin typeface="Times New Roman" panose="02020603050405020304" pitchFamily="18" charset="0"/>
              <a:cs typeface="Times New Roman" panose="02020603050405020304" pitchFamily="18" charset="0"/>
            </a:endParaRPr>
          </a:p>
          <a:p>
            <a:pPr lvl="1"/>
            <a:r>
              <a:rPr lang="en-US" altLang="zh-CN" sz="2200" b="1" kern="0" dirty="0">
                <a:latin typeface="Times New Roman Bold" panose="02020603050405020304" charset="0"/>
                <a:cs typeface="Times New Roman Bold" panose="02020603050405020304" charset="0"/>
              </a:rPr>
              <a:t>ZeRO-DP</a:t>
            </a:r>
            <a:r>
              <a:rPr lang="en-US" altLang="zh-CN" sz="2200" kern="0" dirty="0">
                <a:latin typeface="Times New Roman" panose="02020603050405020304" pitchFamily="18" charset="0"/>
                <a:cs typeface="Times New Roman" panose="02020603050405020304" pitchFamily="18" charset="0"/>
              </a:rPr>
              <a:t>: aimed at reducing the memory footprint of the model states</a:t>
            </a:r>
            <a:endParaRPr lang="en-US" altLang="zh-CN" sz="2200" kern="0" dirty="0">
              <a:latin typeface="Times New Roman" panose="02020603050405020304" pitchFamily="18" charset="0"/>
              <a:cs typeface="Times New Roman" panose="02020603050405020304" pitchFamily="18" charset="0"/>
            </a:endParaRPr>
          </a:p>
          <a:p>
            <a:pPr lvl="1"/>
            <a:r>
              <a:rPr lang="en-US" altLang="zh-CN" sz="2200" b="1" kern="0" dirty="0">
                <a:latin typeface="Times New Roman Bold" panose="02020603050405020304" charset="0"/>
                <a:cs typeface="Times New Roman Bold" panose="02020603050405020304" charset="0"/>
              </a:rPr>
              <a:t>ZeRO-R</a:t>
            </a:r>
            <a:r>
              <a:rPr lang="en-US" altLang="zh-CN" sz="2200" kern="0" dirty="0">
                <a:latin typeface="Times New Roman" panose="02020603050405020304" pitchFamily="18" charset="0"/>
                <a:cs typeface="Times New Roman" panose="02020603050405020304" pitchFamily="18" charset="0"/>
              </a:rPr>
              <a:t>: targeted towards reducing the residual memory consumption</a:t>
            </a:r>
            <a:endParaRPr lang="en-US" altLang="zh-CN" sz="2200" kern="0" dirty="0">
              <a:latin typeface="Times New Roman" panose="02020603050405020304" pitchFamily="18" charset="0"/>
              <a:cs typeface="Times New Roman" panose="02020603050405020304" pitchFamily="18" charset="0"/>
            </a:endParaRPr>
          </a:p>
          <a:p>
            <a:pPr lvl="1"/>
            <a:endParaRPr lang="en-US" altLang="zh-CN" sz="22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Core Philosophy: Achieve the memory efficiency of MP while maintaining the compute efficiency of DP.</a:t>
            </a:r>
            <a:endParaRPr lang="en-US" altLang="zh-CN" sz="2400" kern="0" dirty="0">
              <a:latin typeface="Times New Roman" panose="02020603050405020304" pitchFamily="18" charset="0"/>
              <a:cs typeface="Times New Roman" panose="02020603050405020304" pitchFamily="18" charset="0"/>
            </a:endParaRPr>
          </a:p>
          <a:p>
            <a:endParaRPr lang="en-US" altLang="zh-CN" sz="24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Strategy: Partition model states into mutually exclusive slices.</a:t>
            </a:r>
            <a:endParaRPr lang="en-US" altLang="zh-CN" sz="2400" kern="0" dirty="0">
              <a:latin typeface="Times New Roman" panose="02020603050405020304" pitchFamily="18" charset="0"/>
              <a:cs typeface="Times New Roman" panose="02020603050405020304" pitchFamily="18" charset="0"/>
            </a:endParaRPr>
          </a:p>
          <a:p>
            <a:pPr marL="457200" lvl="1" indent="0">
              <a:buNone/>
            </a:pPr>
            <a:endParaRPr lang="en-US" altLang="zh-CN" sz="1465" kern="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rcRect r="93651"/>
          <a:stretch>
            <a:fillRect/>
          </a:stretch>
        </p:blipFill>
        <p:spPr>
          <a:xfrm>
            <a:off x="11664950" y="1647190"/>
            <a:ext cx="527050" cy="2947035"/>
          </a:xfrm>
          <a:prstGeom prst="rect">
            <a:avLst/>
          </a:prstGeom>
        </p:spPr>
      </p:pic>
      <p:pic>
        <p:nvPicPr>
          <p:cNvPr id="7" name="Picture 6"/>
          <p:cNvPicPr>
            <a:picLocks noChangeAspect="1"/>
          </p:cNvPicPr>
          <p:nvPr/>
        </p:nvPicPr>
        <p:blipFill>
          <a:blip r:embed="rId2"/>
          <a:stretch>
            <a:fillRect/>
          </a:stretch>
        </p:blipFill>
        <p:spPr>
          <a:xfrm>
            <a:off x="6539865" y="2113280"/>
            <a:ext cx="5412740" cy="31337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rcRect t="3259" b="1938"/>
          <a:stretch>
            <a:fillRect/>
          </a:stretch>
        </p:blipFill>
        <p:spPr>
          <a:xfrm>
            <a:off x="4006850" y="1184275"/>
            <a:ext cx="8185150" cy="4968875"/>
          </a:xfrm>
          <a:prstGeom prst="rect">
            <a:avLst/>
          </a:prstGeom>
        </p:spPr>
      </p:pic>
      <p:sp>
        <p:nvSpPr>
          <p:cNvPr id="5" name="标题 4"/>
          <p:cNvSpPr>
            <a:spLocks noGrp="1"/>
          </p:cNvSpPr>
          <p:nvPr>
            <p:ph type="title"/>
          </p:nvPr>
        </p:nvSpPr>
        <p:spPr>
          <a:xfrm>
            <a:off x="1049655" y="144780"/>
            <a:ext cx="10517505" cy="692150"/>
          </a:xfrm>
        </p:spPr>
        <p:txBody>
          <a:bodyPr/>
          <a:lstStyle/>
          <a:p>
            <a:r>
              <a:rPr lang="en-US" altLang="zh-CN" sz="3600" dirty="0"/>
              <a:t>ZeRO (2/6)</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259715" y="1628775"/>
            <a:ext cx="3867150"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sym typeface="+mn-ea"/>
              </a:rPr>
              <a:t>Three stages of ZeRO-DP:</a:t>
            </a:r>
            <a:endParaRPr lang="en-US" altLang="zh-CN" sz="2400" kern="0" dirty="0">
              <a:latin typeface="Times New Roman" panose="02020603050405020304" pitchFamily="18" charset="0"/>
              <a:cs typeface="Times New Roman" panose="02020603050405020304" pitchFamily="18" charset="0"/>
            </a:endParaRPr>
          </a:p>
          <a:p>
            <a:pPr lvl="1"/>
            <a:r>
              <a:rPr lang="en-US" altLang="zh-CN" sz="2400" i="1" kern="0" dirty="0">
                <a:latin typeface="Times New Roman Italic" panose="02020603050405020304" charset="0"/>
                <a:cs typeface="Times New Roman Italic" panose="02020603050405020304" charset="0"/>
                <a:sym typeface="+mn-ea"/>
              </a:rPr>
              <a:t>P</a:t>
            </a:r>
            <a:r>
              <a:rPr lang="en-US" altLang="zh-CN" sz="2400" i="1" kern="0" baseline="-25000" dirty="0">
                <a:latin typeface="Times New Roman Italic" panose="02020603050405020304" charset="0"/>
                <a:cs typeface="Times New Roman Italic" panose="02020603050405020304" charset="0"/>
                <a:sym typeface="+mn-ea"/>
              </a:rPr>
              <a:t>os</a:t>
            </a:r>
            <a:r>
              <a:rPr lang="en-US" altLang="zh-CN" sz="2400" kern="0" dirty="0">
                <a:latin typeface="Times New Roman" panose="02020603050405020304" pitchFamily="18" charset="0"/>
                <a:cs typeface="Times New Roman" panose="02020603050405020304" pitchFamily="18" charset="0"/>
                <a:sym typeface="+mn-ea"/>
              </a:rPr>
              <a:t>: Optimizer State Partitioning</a:t>
            </a:r>
            <a:endParaRPr lang="en-US" altLang="zh-CN" sz="2400" kern="0" dirty="0">
              <a:latin typeface="Times New Roman" panose="02020603050405020304" pitchFamily="18" charset="0"/>
              <a:cs typeface="Times New Roman" panose="02020603050405020304" pitchFamily="18" charset="0"/>
            </a:endParaRPr>
          </a:p>
          <a:p>
            <a:pPr lvl="1"/>
            <a:r>
              <a:rPr lang="en-US" altLang="zh-CN" sz="2400" i="1" kern="0" dirty="0">
                <a:latin typeface="Times New Roman Italic" panose="02020603050405020304" charset="0"/>
                <a:cs typeface="Times New Roman Italic" panose="02020603050405020304" charset="0"/>
                <a:sym typeface="+mn-ea"/>
              </a:rPr>
              <a:t>P</a:t>
            </a:r>
            <a:r>
              <a:rPr lang="en-US" altLang="zh-CN" sz="2400" i="1" kern="0" baseline="-25000" dirty="0">
                <a:latin typeface="Times New Roman Italic" panose="02020603050405020304" charset="0"/>
                <a:cs typeface="Times New Roman Italic" panose="02020603050405020304" charset="0"/>
                <a:sym typeface="+mn-ea"/>
              </a:rPr>
              <a:t>g</a:t>
            </a:r>
            <a:r>
              <a:rPr lang="en-US" altLang="zh-CN" sz="2400" kern="0" dirty="0">
                <a:latin typeface="Times New Roman" panose="02020603050405020304" pitchFamily="18" charset="0"/>
                <a:cs typeface="Times New Roman" panose="02020603050405020304" pitchFamily="18" charset="0"/>
                <a:sym typeface="+mn-ea"/>
              </a:rPr>
              <a:t>: Gradient Partitioning</a:t>
            </a:r>
            <a:endParaRPr lang="en-US" altLang="zh-CN" sz="2400" kern="0" dirty="0">
              <a:latin typeface="Times New Roman" panose="02020603050405020304" pitchFamily="18" charset="0"/>
              <a:cs typeface="Times New Roman" panose="02020603050405020304" pitchFamily="18" charset="0"/>
            </a:endParaRPr>
          </a:p>
          <a:p>
            <a:pPr lvl="1"/>
            <a:r>
              <a:rPr lang="en-US" altLang="zh-CN" sz="2400" i="1" kern="0" dirty="0">
                <a:latin typeface="Times New Roman Italic" panose="02020603050405020304" charset="0"/>
                <a:cs typeface="Times New Roman Italic" panose="02020603050405020304" charset="0"/>
                <a:sym typeface="+mn-ea"/>
              </a:rPr>
              <a:t>P</a:t>
            </a:r>
            <a:r>
              <a:rPr lang="en-US" altLang="zh-CN" sz="2400" i="1" kern="0" baseline="-25000" dirty="0">
                <a:latin typeface="Times New Roman Italic" panose="02020603050405020304" charset="0"/>
                <a:cs typeface="Times New Roman Italic" panose="02020603050405020304" charset="0"/>
                <a:sym typeface="+mn-ea"/>
              </a:rPr>
              <a:t>p</a:t>
            </a:r>
            <a:r>
              <a:rPr lang="en-US" altLang="zh-CN" sz="2400" kern="0" dirty="0">
                <a:latin typeface="Times New Roman" panose="02020603050405020304" pitchFamily="18" charset="0"/>
                <a:cs typeface="Times New Roman" panose="02020603050405020304" pitchFamily="18" charset="0"/>
                <a:sym typeface="+mn-ea"/>
              </a:rPr>
              <a:t>: Parameter Partitioning</a:t>
            </a:r>
            <a:endParaRPr lang="en-US" altLang="zh-CN" sz="2400" kern="0" dirty="0">
              <a:latin typeface="Times New Roman" panose="02020603050405020304" pitchFamily="18" charset="0"/>
              <a:cs typeface="Times New Roman" panose="02020603050405020304" pitchFamily="18" charset="0"/>
            </a:endParaRPr>
          </a:p>
          <a:p>
            <a:endParaRPr lang="en-US" altLang="zh-CN" sz="1465"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 (3/6)</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949325" y="2336165"/>
            <a:ext cx="8745220"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sym typeface="+mn-ea"/>
              </a:rPr>
              <a:t>ZeRO Stage 1 (</a:t>
            </a:r>
            <a:r>
              <a:rPr lang="en-US" altLang="zh-CN" sz="2400" b="1" i="1" kern="0" dirty="0">
                <a:latin typeface="Times New Roman Italic" panose="02020603050405020304" charset="0"/>
                <a:cs typeface="Times New Roman Italic" panose="02020603050405020304" charset="0"/>
                <a:sym typeface="+mn-ea"/>
              </a:rPr>
              <a:t>P</a:t>
            </a:r>
            <a:r>
              <a:rPr lang="en-US" altLang="zh-CN" sz="2400" b="1" i="1" kern="0" baseline="-25000" dirty="0">
                <a:latin typeface="Times New Roman Italic" panose="02020603050405020304" charset="0"/>
                <a:cs typeface="Times New Roman Italic" panose="02020603050405020304" charset="0"/>
                <a:sym typeface="+mn-ea"/>
              </a:rPr>
              <a:t>os</a:t>
            </a:r>
            <a:r>
              <a:rPr lang="en-US" altLang="zh-CN" sz="2400" b="1" kern="0" dirty="0">
                <a:latin typeface="Times New Roman" panose="02020603050405020304" pitchFamily="18" charset="0"/>
                <a:cs typeface="Times New Roman" panose="02020603050405020304" pitchFamily="18" charset="0"/>
                <a:sym typeface="+mn-ea"/>
              </a:rPr>
              <a:t>): Optimizer State Partitioning</a:t>
            </a:r>
            <a:endParaRPr lang="en-US" altLang="zh-CN" sz="24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Divide optimizer states into N equal partitions (N = number of GPUs).</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Each GPU only updates its assigned fraction of the parameters.</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Memory footprint for optimizer states drops by a factor of N.</a:t>
            </a:r>
            <a:endParaRPr lang="en-US" altLang="zh-CN" sz="2200" kern="0" dirty="0">
              <a:latin typeface="Times New Roman" panose="02020603050405020304" pitchFamily="18" charset="0"/>
              <a:cs typeface="Times New Roman" panose="02020603050405020304" pitchFamily="18" charset="0"/>
              <a:sym typeface="+mn-ea"/>
            </a:endParaRPr>
          </a:p>
          <a:p>
            <a:pPr marL="457200" lvl="1" indent="0">
              <a:buNone/>
            </a:pPr>
            <a:endParaRPr lang="en-US" altLang="zh-CN" sz="2200" kern="0" dirty="0">
              <a:latin typeface="Times New Roman" panose="02020603050405020304" pitchFamily="18" charset="0"/>
              <a:cs typeface="Times New Roman" panose="02020603050405020304" pitchFamily="18" charset="0"/>
              <a:sym typeface="+mn-ea"/>
            </a:endParaRPr>
          </a:p>
          <a:p>
            <a:pPr lvl="0"/>
            <a:endParaRPr lang="en-US" altLang="zh-CN" sz="2200" kern="0" dirty="0">
              <a:latin typeface="Times New Roman" panose="02020603050405020304" pitchFamily="18" charset="0"/>
              <a:cs typeface="Times New Roman" panose="02020603050405020304" pitchFamily="18" charset="0"/>
              <a:sym typeface="+mn-ea"/>
            </a:endParaRPr>
          </a:p>
        </p:txBody>
      </p:sp>
      <p:pic>
        <p:nvPicPr>
          <p:cNvPr id="3" name="Picture 2"/>
          <p:cNvPicPr>
            <a:picLocks noChangeAspect="1"/>
          </p:cNvPicPr>
          <p:nvPr/>
        </p:nvPicPr>
        <p:blipFill>
          <a:blip r:embed="rId1"/>
          <a:srcRect r="93651"/>
          <a:stretch>
            <a:fillRect/>
          </a:stretch>
        </p:blipFill>
        <p:spPr>
          <a:xfrm>
            <a:off x="11664950" y="1647190"/>
            <a:ext cx="527050" cy="29470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 (4/6)</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949325" y="2336165"/>
            <a:ext cx="8745220"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panose="02020603050405020304" pitchFamily="18" charset="0"/>
                <a:cs typeface="Times New Roman" panose="02020603050405020304" pitchFamily="18" charset="0"/>
                <a:sym typeface="+mn-ea"/>
              </a:rPr>
              <a:t>ZeRO Stage 2 (</a:t>
            </a:r>
            <a:r>
              <a:rPr lang="en-US" altLang="zh-CN" sz="2400" b="1" i="1" kern="0" dirty="0">
                <a:latin typeface="Times New Roman Italic" panose="02020603050405020304" charset="0"/>
                <a:cs typeface="Times New Roman Italic" panose="02020603050405020304" charset="0"/>
                <a:sym typeface="+mn-ea"/>
              </a:rPr>
              <a:t>P</a:t>
            </a:r>
            <a:r>
              <a:rPr lang="en-US" altLang="zh-CN" sz="2400" b="1" i="1" kern="0" baseline="-25000" dirty="0">
                <a:latin typeface="Times New Roman Italic" panose="02020603050405020304" charset="0"/>
                <a:cs typeface="Times New Roman Italic" panose="02020603050405020304" charset="0"/>
                <a:sym typeface="+mn-ea"/>
              </a:rPr>
              <a:t>g</a:t>
            </a:r>
            <a:r>
              <a:rPr lang="en-US" altLang="zh-CN" sz="2400" b="1" kern="0" dirty="0">
                <a:latin typeface="Times New Roman" panose="02020603050405020304" pitchFamily="18" charset="0"/>
                <a:cs typeface="Times New Roman" panose="02020603050405020304" pitchFamily="18" charset="0"/>
                <a:sym typeface="+mn-ea"/>
              </a:rPr>
              <a:t>): Gradient Partitioning</a:t>
            </a:r>
            <a:endParaRPr lang="en-US" altLang="zh-CN" sz="24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If GPU </a:t>
            </a:r>
            <a:r>
              <a:rPr lang="en-US" altLang="zh-CN" sz="2200" i="1" kern="0" dirty="0">
                <a:latin typeface="Times New Roman Italic" panose="02020603050405020304" charset="0"/>
                <a:cs typeface="Times New Roman Italic" panose="02020603050405020304" charset="0"/>
                <a:sym typeface="+mn-ea"/>
              </a:rPr>
              <a:t>i</a:t>
            </a:r>
            <a:r>
              <a:rPr lang="en-US" altLang="zh-CN" sz="2200" kern="0" dirty="0">
                <a:latin typeface="Times New Roman" panose="02020603050405020304" pitchFamily="18" charset="0"/>
                <a:cs typeface="Times New Roman" panose="02020603050405020304" pitchFamily="18" charset="0"/>
                <a:sym typeface="+mn-ea"/>
              </a:rPr>
              <a:t> only updates partition </a:t>
            </a:r>
            <a:r>
              <a:rPr lang="en-US" altLang="zh-CN" sz="2200" i="1" kern="0" dirty="0">
                <a:latin typeface="Times New Roman Italic" panose="02020603050405020304" charset="0"/>
                <a:cs typeface="Times New Roman Italic" panose="02020603050405020304" charset="0"/>
                <a:sym typeface="+mn-ea"/>
              </a:rPr>
              <a:t>i</a:t>
            </a:r>
            <a:r>
              <a:rPr lang="en-US" altLang="zh-CN" sz="2200" kern="0" dirty="0">
                <a:latin typeface="Times New Roman" panose="02020603050405020304" pitchFamily="18" charset="0"/>
                <a:cs typeface="Times New Roman" panose="02020603050405020304" pitchFamily="18" charset="0"/>
                <a:sym typeface="+mn-ea"/>
              </a:rPr>
              <a:t> of the optimizer states, it only needs partition </a:t>
            </a:r>
            <a:r>
              <a:rPr lang="en-US" altLang="zh-CN" sz="2200" i="1" kern="0" dirty="0">
                <a:latin typeface="Times New Roman Italic" panose="02020603050405020304" charset="0"/>
                <a:cs typeface="Times New Roman Italic" panose="02020603050405020304" charset="0"/>
                <a:sym typeface="+mn-ea"/>
              </a:rPr>
              <a:t>i</a:t>
            </a:r>
            <a:r>
              <a:rPr lang="en-US" altLang="zh-CN" sz="2200" kern="0" dirty="0">
                <a:latin typeface="Times New Roman" panose="02020603050405020304" pitchFamily="18" charset="0"/>
                <a:cs typeface="Times New Roman" panose="02020603050405020304" pitchFamily="18" charset="0"/>
                <a:sym typeface="+mn-ea"/>
              </a:rPr>
              <a:t> of the gradients.</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Replace traditional AllReduce with a ReduceScatter operation during the backward pass.</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Gradients are reduced only to the GPU responsible for that partition. Other GPUs instantly free that memory.</a:t>
            </a:r>
            <a:endParaRPr lang="en-US" altLang="zh-CN" sz="2200" kern="0" dirty="0">
              <a:latin typeface="Times New Roman" panose="02020603050405020304" pitchFamily="18" charset="0"/>
              <a:cs typeface="Times New Roman" panose="02020603050405020304" pitchFamily="18" charset="0"/>
              <a:sym typeface="+mn-ea"/>
            </a:endParaRPr>
          </a:p>
          <a:p>
            <a:pPr marL="0" indent="0">
              <a:buNone/>
            </a:pPr>
            <a:endParaRPr lang="en-US" altLang="zh-CN" sz="2200" kern="0" dirty="0">
              <a:latin typeface="Times New Roman" panose="02020603050405020304" pitchFamily="18" charset="0"/>
              <a:cs typeface="Times New Roman" panose="02020603050405020304" pitchFamily="18" charset="0"/>
              <a:sym typeface="+mn-ea"/>
            </a:endParaRPr>
          </a:p>
          <a:p>
            <a:pPr marL="457200" lvl="1" indent="0">
              <a:buNone/>
            </a:pPr>
            <a:endParaRPr lang="en-US" altLang="zh-CN" sz="2200" kern="0" dirty="0">
              <a:latin typeface="Times New Roman" panose="02020603050405020304" pitchFamily="18" charset="0"/>
              <a:cs typeface="Times New Roman" panose="02020603050405020304" pitchFamily="18" charset="0"/>
              <a:sym typeface="+mn-ea"/>
            </a:endParaRPr>
          </a:p>
          <a:p>
            <a:pPr lvl="0"/>
            <a:endParaRPr lang="en-US" altLang="zh-CN" sz="2200" kern="0" dirty="0">
              <a:latin typeface="Times New Roman" panose="02020603050405020304" pitchFamily="18" charset="0"/>
              <a:cs typeface="Times New Roman" panose="02020603050405020304" pitchFamily="18" charset="0"/>
              <a:sym typeface="+mn-ea"/>
            </a:endParaRPr>
          </a:p>
        </p:txBody>
      </p:sp>
      <p:pic>
        <p:nvPicPr>
          <p:cNvPr id="3" name="Picture 2"/>
          <p:cNvPicPr>
            <a:picLocks noChangeAspect="1"/>
          </p:cNvPicPr>
          <p:nvPr/>
        </p:nvPicPr>
        <p:blipFill>
          <a:blip r:embed="rId1"/>
          <a:srcRect r="93651"/>
          <a:stretch>
            <a:fillRect/>
          </a:stretch>
        </p:blipFill>
        <p:spPr>
          <a:xfrm>
            <a:off x="11664950" y="1647190"/>
            <a:ext cx="527050" cy="29470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 (5/6)</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949325" y="2084070"/>
            <a:ext cx="931227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panose="02020603050405020304" pitchFamily="18" charset="0"/>
                <a:cs typeface="Times New Roman" panose="02020603050405020304" pitchFamily="18" charset="0"/>
                <a:sym typeface="+mn-ea"/>
              </a:rPr>
              <a:t>ZeRO Stage 3 (</a:t>
            </a:r>
            <a:r>
              <a:rPr lang="en-US" altLang="zh-CN" sz="2400" b="1" i="1" kern="0" dirty="0">
                <a:latin typeface="Times New Roman Italic" panose="02020603050405020304" charset="0"/>
                <a:cs typeface="Times New Roman Italic" panose="02020603050405020304" charset="0"/>
                <a:sym typeface="+mn-ea"/>
              </a:rPr>
              <a:t>P</a:t>
            </a:r>
            <a:r>
              <a:rPr lang="en-US" altLang="zh-CN" sz="2400" b="1" i="1" kern="0" baseline="-25000" dirty="0">
                <a:latin typeface="Times New Roman Italic" panose="02020603050405020304" charset="0"/>
                <a:cs typeface="Times New Roman Italic" panose="02020603050405020304" charset="0"/>
                <a:sym typeface="+mn-ea"/>
              </a:rPr>
              <a:t>p</a:t>
            </a:r>
            <a:r>
              <a:rPr lang="en-US" altLang="zh-CN" sz="2400" b="1" kern="0" dirty="0">
                <a:latin typeface="Times New Roman" panose="02020603050405020304" pitchFamily="18" charset="0"/>
                <a:cs typeface="Times New Roman" panose="02020603050405020304" pitchFamily="18" charset="0"/>
                <a:sym typeface="+mn-ea"/>
              </a:rPr>
              <a:t>): Parameter Partitioning</a:t>
            </a:r>
            <a:endParaRPr lang="en-US" altLang="zh-CN" sz="2400" kern="0" dirty="0">
              <a:latin typeface="Times New Roman" panose="02020603050405020304" pitchFamily="18" charset="0"/>
              <a:cs typeface="Times New Roman" panose="02020603050405020304" pitchFamily="18" charset="0"/>
              <a:sym typeface="+mn-ea"/>
            </a:endParaRPr>
          </a:p>
          <a:p>
            <a:pPr lvl="1" algn="l"/>
            <a:r>
              <a:rPr lang="en-US" altLang="zh-CN" sz="2200" kern="0" dirty="0">
                <a:latin typeface="Times New Roman" panose="02020603050405020304" pitchFamily="18" charset="0"/>
                <a:cs typeface="Times New Roman" panose="02020603050405020304" pitchFamily="18" charset="0"/>
                <a:sym typeface="+mn-ea"/>
              </a:rPr>
              <a:t>GPUs discard the full model and only store their partition of the weights.</a:t>
            </a:r>
            <a:endParaRPr lang="en-US" altLang="zh-CN" sz="2200" kern="0" dirty="0">
              <a:latin typeface="Times New Roman" panose="02020603050405020304" pitchFamily="18" charset="0"/>
              <a:cs typeface="Times New Roman" panose="02020603050405020304" pitchFamily="18" charset="0"/>
              <a:sym typeface="+mn-ea"/>
            </a:endParaRPr>
          </a:p>
          <a:p>
            <a:pPr lvl="1" algn="l"/>
            <a:r>
              <a:rPr lang="en-US" altLang="zh-CN" sz="2200" kern="0" dirty="0">
                <a:latin typeface="Times New Roman" panose="02020603050405020304" pitchFamily="18" charset="0"/>
                <a:cs typeface="Times New Roman" panose="02020603050405020304" pitchFamily="18" charset="0"/>
                <a:sym typeface="+mn-ea"/>
              </a:rPr>
              <a:t>Dynamic Fetching: When a layer is needed for forward/backward pass, GPUs use AllGather to fetch the full weights.</a:t>
            </a:r>
            <a:endParaRPr lang="en-US" altLang="zh-CN" sz="2200" kern="0" dirty="0">
              <a:latin typeface="Times New Roman" panose="02020603050405020304" pitchFamily="18" charset="0"/>
              <a:cs typeface="Times New Roman" panose="02020603050405020304" pitchFamily="18" charset="0"/>
              <a:sym typeface="+mn-ea"/>
            </a:endParaRPr>
          </a:p>
          <a:p>
            <a:pPr lvl="1" algn="l"/>
            <a:r>
              <a:rPr lang="en-US" altLang="zh-CN" sz="2200" kern="0" dirty="0">
                <a:latin typeface="Times New Roman" panose="02020603050405020304" pitchFamily="18" charset="0"/>
                <a:cs typeface="Times New Roman" panose="02020603050405020304" pitchFamily="18" charset="0"/>
                <a:sym typeface="+mn-ea"/>
              </a:rPr>
              <a:t>Immediate Release: Once the computation for that layer is done, the gathered weights are instantly discarded.</a:t>
            </a:r>
            <a:endParaRPr lang="en-US" altLang="zh-CN" sz="2200" kern="0" dirty="0">
              <a:latin typeface="Times New Roman" panose="02020603050405020304" pitchFamily="18" charset="0"/>
              <a:cs typeface="Times New Roman" panose="02020603050405020304" pitchFamily="18" charset="0"/>
              <a:sym typeface="+mn-ea"/>
            </a:endParaRPr>
          </a:p>
          <a:p>
            <a:pPr lvl="1" algn="l"/>
            <a:endParaRPr lang="en-US" altLang="zh-CN" sz="2055" kern="0" dirty="0">
              <a:latin typeface="Times New Roman" panose="02020603050405020304" pitchFamily="18" charset="0"/>
              <a:cs typeface="Times New Roman" panose="02020603050405020304" pitchFamily="18" charset="0"/>
              <a:sym typeface="+mn-ea"/>
            </a:endParaRPr>
          </a:p>
          <a:p>
            <a:pPr lvl="1" algn="l"/>
            <a:endParaRPr lang="en-US" altLang="zh-CN" sz="2055" kern="0" dirty="0">
              <a:latin typeface="Times New Roman" panose="02020603050405020304" pitchFamily="18" charset="0"/>
              <a:cs typeface="Times New Roman" panose="02020603050405020304" pitchFamily="18" charset="0"/>
              <a:sym typeface="+mn-ea"/>
            </a:endParaRPr>
          </a:p>
        </p:txBody>
      </p:sp>
      <p:pic>
        <p:nvPicPr>
          <p:cNvPr id="3" name="Picture 2"/>
          <p:cNvPicPr>
            <a:picLocks noChangeAspect="1"/>
          </p:cNvPicPr>
          <p:nvPr/>
        </p:nvPicPr>
        <p:blipFill>
          <a:blip r:embed="rId1"/>
          <a:srcRect r="93651"/>
          <a:stretch>
            <a:fillRect/>
          </a:stretch>
        </p:blipFill>
        <p:spPr>
          <a:xfrm>
            <a:off x="11664950" y="1647190"/>
            <a:ext cx="527050" cy="29470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 (6/6)</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847090" y="1264285"/>
            <a:ext cx="931227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Memory benefits of ZeRO</a:t>
            </a:r>
            <a:r>
              <a:rPr lang="en-US" altLang="zh-CN" sz="2400" kern="0" dirty="0">
                <a:latin typeface="Times New Roman" panose="02020603050405020304" pitchFamily="18" charset="0"/>
                <a:cs typeface="Times New Roman" panose="02020603050405020304" pitchFamily="18" charset="0"/>
                <a:sym typeface="+mn-ea"/>
              </a:rPr>
              <a:t>:</a:t>
            </a:r>
            <a:endParaRPr lang="en-US" altLang="zh-CN" sz="2400" kern="0" dirty="0">
              <a:latin typeface="Times New Roman" panose="02020603050405020304" pitchFamily="18" charset="0"/>
              <a:cs typeface="Times New Roman" panose="02020603050405020304" pitchFamily="18" charset="0"/>
              <a:sym typeface="+mn-ea"/>
            </a:endParaRPr>
          </a:p>
          <a:p>
            <a:pPr lvl="1"/>
            <a:r>
              <a:rPr lang="en-US" altLang="zh-CN" sz="2200" i="1" kern="0" dirty="0">
                <a:latin typeface="Times New Roman Italic" panose="02020603050405020304" charset="0"/>
                <a:cs typeface="Times New Roman Italic" panose="02020603050405020304" charset="0"/>
                <a:sym typeface="+mn-ea"/>
              </a:rPr>
              <a:t>P</a:t>
            </a:r>
            <a:r>
              <a:rPr lang="en-US" altLang="zh-CN" sz="2200" i="1" kern="0" baseline="-25000" dirty="0">
                <a:latin typeface="Times New Roman Italic" panose="02020603050405020304" charset="0"/>
                <a:cs typeface="Times New Roman Italic" panose="02020603050405020304" charset="0"/>
                <a:sym typeface="+mn-ea"/>
              </a:rPr>
              <a:t>os</a:t>
            </a:r>
            <a:r>
              <a:rPr lang="en-US" altLang="zh-CN" sz="2200" i="1" kern="0" dirty="0">
                <a:latin typeface="Times New Roman Italic" panose="02020603050405020304" charset="0"/>
                <a:cs typeface="Times New Roman Italic" panose="02020603050405020304" charset="0"/>
                <a:sym typeface="+mn-ea"/>
              </a:rPr>
              <a:t>, P</a:t>
            </a:r>
            <a:r>
              <a:rPr lang="en-US" altLang="zh-CN" sz="2200" i="1" kern="0" baseline="-25000" dirty="0">
                <a:latin typeface="Times New Roman Italic" panose="02020603050405020304" charset="0"/>
                <a:cs typeface="Times New Roman Italic" panose="02020603050405020304" charset="0"/>
                <a:sym typeface="+mn-ea"/>
              </a:rPr>
              <a:t>os+g</a:t>
            </a:r>
            <a:r>
              <a:rPr lang="en-US" altLang="zh-CN" sz="2200" kern="0" dirty="0">
                <a:latin typeface="Times New Roman" panose="02020603050405020304" pitchFamily="18" charset="0"/>
                <a:cs typeface="Times New Roman" panose="02020603050405020304" pitchFamily="18" charset="0"/>
                <a:sym typeface="+mn-ea"/>
              </a:rPr>
              <a:t>, and </a:t>
            </a:r>
            <a:r>
              <a:rPr lang="en-US" altLang="zh-CN" sz="2200" i="1" kern="0" dirty="0">
                <a:latin typeface="Times New Roman Italic" panose="02020603050405020304" charset="0"/>
                <a:cs typeface="Times New Roman Italic" panose="02020603050405020304" charset="0"/>
                <a:sym typeface="+mn-ea"/>
              </a:rPr>
              <a:t>P</a:t>
            </a:r>
            <a:r>
              <a:rPr lang="en-US" altLang="zh-CN" sz="2200" i="1" kern="0" baseline="-25000" dirty="0">
                <a:latin typeface="Times New Roman Italic" panose="02020603050405020304" charset="0"/>
                <a:cs typeface="Times New Roman Italic" panose="02020603050405020304" charset="0"/>
                <a:sym typeface="+mn-ea"/>
              </a:rPr>
              <a:t>os+g+p</a:t>
            </a:r>
            <a:r>
              <a:rPr lang="en-US" altLang="zh-CN" sz="2200" kern="0" baseline="-25000" dirty="0">
                <a:latin typeface="Times New Roman" panose="02020603050405020304" pitchFamily="18" charset="0"/>
                <a:cs typeface="Times New Roman" panose="02020603050405020304" pitchFamily="18" charset="0"/>
                <a:sym typeface="+mn-ea"/>
              </a:rPr>
              <a:t>  </a:t>
            </a:r>
            <a:r>
              <a:rPr lang="en-US" altLang="zh-CN" sz="2200" kern="0" dirty="0">
                <a:latin typeface="Times New Roman" panose="02020603050405020304" pitchFamily="18" charset="0"/>
                <a:cs typeface="Times New Roman" panose="02020603050405020304" pitchFamily="18" charset="0"/>
                <a:sym typeface="+mn-ea"/>
              </a:rPr>
              <a:t>reduces the memory consumption on model states by up to 4 times, 8 times, and </a:t>
            </a:r>
            <a:r>
              <a:rPr lang="en-US" altLang="zh-CN" sz="2200" i="1" kern="0" dirty="0">
                <a:latin typeface="Times New Roman Italic" panose="02020603050405020304" charset="0"/>
                <a:cs typeface="Times New Roman Italic" panose="02020603050405020304" charset="0"/>
                <a:sym typeface="+mn-ea"/>
              </a:rPr>
              <a:t>N</a:t>
            </a:r>
            <a:r>
              <a:rPr lang="en-US" altLang="zh-CN" sz="2200" kern="0" dirty="0">
                <a:latin typeface="Times New Roman" panose="02020603050405020304" pitchFamily="18" charset="0"/>
                <a:cs typeface="Times New Roman" panose="02020603050405020304" pitchFamily="18" charset="0"/>
                <a:sym typeface="+mn-ea"/>
              </a:rPr>
              <a:t> times respectively.</a:t>
            </a:r>
            <a:endParaRPr lang="en-US" altLang="zh-CN" sz="2200" kern="0" dirty="0">
              <a:latin typeface="Times New Roman" panose="02020603050405020304" pitchFamily="18" charset="0"/>
              <a:cs typeface="Times New Roman" panose="02020603050405020304" pitchFamily="18" charset="0"/>
              <a:sym typeface="+mn-ea"/>
            </a:endParaRPr>
          </a:p>
          <a:p>
            <a:pPr lvl="1" algn="l"/>
            <a:endParaRPr lang="en-US" altLang="zh-CN" sz="2200" kern="0" dirty="0">
              <a:latin typeface="Times New Roman" panose="02020603050405020304" pitchFamily="18" charset="0"/>
              <a:cs typeface="Times New Roman" panose="02020603050405020304" pitchFamily="18" charset="0"/>
              <a:sym typeface="+mn-ea"/>
            </a:endParaRPr>
          </a:p>
        </p:txBody>
      </p:sp>
      <p:pic>
        <p:nvPicPr>
          <p:cNvPr id="3" name="Picture 2"/>
          <p:cNvPicPr>
            <a:picLocks noChangeAspect="1"/>
          </p:cNvPicPr>
          <p:nvPr/>
        </p:nvPicPr>
        <p:blipFill>
          <a:blip r:embed="rId1"/>
          <a:srcRect r="93651"/>
          <a:stretch>
            <a:fillRect/>
          </a:stretch>
        </p:blipFill>
        <p:spPr>
          <a:xfrm>
            <a:off x="11664950" y="1647190"/>
            <a:ext cx="527050" cy="2947035"/>
          </a:xfrm>
          <a:prstGeom prst="rect">
            <a:avLst/>
          </a:prstGeom>
        </p:spPr>
      </p:pic>
      <p:pic>
        <p:nvPicPr>
          <p:cNvPr id="2" name="Picture 1"/>
          <p:cNvPicPr>
            <a:picLocks noChangeAspect="1"/>
          </p:cNvPicPr>
          <p:nvPr/>
        </p:nvPicPr>
        <p:blipFill>
          <a:blip r:embed="rId2"/>
          <a:stretch>
            <a:fillRect/>
          </a:stretch>
        </p:blipFill>
        <p:spPr>
          <a:xfrm>
            <a:off x="1656080" y="2987040"/>
            <a:ext cx="8044815" cy="275653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sz="3600" dirty="0"/>
              <a:t>Outline</a:t>
            </a:r>
            <a:endParaRPr lang="en-US" altLang="zh-TW" sz="3600" dirty="0"/>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8" name="內容版面配置區 2"/>
          <p:cNvSpPr>
            <a:spLocks noGrp="1"/>
          </p:cNvSpPr>
          <p:nvPr>
            <p:ph idx="1"/>
          </p:nvPr>
        </p:nvSpPr>
        <p:spPr>
          <a:xfrm>
            <a:off x="761365" y="1314450"/>
            <a:ext cx="12198985" cy="3561080"/>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(5 min)</a:t>
            </a:r>
            <a:endParaRPr lang="en-US" altLang="zh-CN" sz="2935" dirty="0">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sym typeface="+mn-ea"/>
              </a:rPr>
              <a:t>Proposed Methods (15 min)</a:t>
            </a:r>
            <a:endParaRPr lang="en-US" altLang="zh-CN" sz="2935"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 Memory Optimizations Toward Training Trillion Parameter Models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rgbClr val="FF0000"/>
                </a:solidFill>
                <a:latin typeface="Times New Roman" panose="02020603050405020304" pitchFamily="18" charset="0"/>
                <a:cs typeface="Times New Roman" panose="02020603050405020304" pitchFamily="18" charset="0"/>
                <a:sym typeface="+mn-ea"/>
              </a:rPr>
              <a:t>ZeRO-Offload: Democratizing Billion-Scale Model Training (5 min)</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ZeRO-Infinity: Breaking the GPU Memory Wall for</a:t>
            </a:r>
            <a:endParaRPr lang="en-US" altLang="zh-CN" sz="2400" dirty="0">
              <a:solidFill>
                <a:schemeClr val="tx1"/>
              </a:solidFill>
              <a:latin typeface="Times New Roman" panose="02020603050405020304" pitchFamily="18" charset="0"/>
              <a:cs typeface="Times New Roman" panose="02020603050405020304" pitchFamily="18" charset="0"/>
              <a:sym typeface="+mn-ea"/>
            </a:endParaRPr>
          </a:p>
          <a:p>
            <a:pPr marL="457200" lvl="1" indent="0">
              <a:buNone/>
            </a:pPr>
            <a:r>
              <a:rPr lang="en-US" altLang="zh-CN" sz="2400" dirty="0">
                <a:solidFill>
                  <a:schemeClr val="tx1"/>
                </a:solidFill>
                <a:latin typeface="Times New Roman" panose="02020603050405020304" pitchFamily="18" charset="0"/>
                <a:cs typeface="Times New Roman" panose="02020603050405020304" pitchFamily="18" charset="0"/>
                <a:sym typeface="+mn-ea"/>
              </a:rPr>
              <a:t>    Extreme Scale Deep Learning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a:t>
            </a:r>
            <a:r>
              <a:rPr lang="en-US" altLang="zh-CN" sz="3600" dirty="0"/>
              <a:t>Offload (1/5)</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847090" y="1856740"/>
            <a:ext cx="931227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Motivations</a:t>
            </a:r>
            <a:r>
              <a:rPr lang="en-US" altLang="zh-CN" sz="2400" kern="0" dirty="0">
                <a:latin typeface="Times New Roman" panose="02020603050405020304" pitchFamily="18" charset="0"/>
                <a:cs typeface="Times New Roman" panose="02020603050405020304" pitchFamily="18" charset="0"/>
                <a:sym typeface="+mn-ea"/>
              </a:rPr>
              <a:t>:</a:t>
            </a:r>
            <a:endParaRPr lang="en-US" altLang="zh-CN" sz="24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The limitation of ZeRO: Still strictly bounded by the aggregate GPU memory of the cluster.</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Hardware reality: CPU RAM is significantly cheaper and vastly larger than GPU HBM (Terabytes vs. Gigabytes).</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Core question: Can we train 10-Billion parameter models on a single GPU by leveraging cheap CPU memory?</a:t>
            </a:r>
            <a:endParaRPr lang="en-US" altLang="zh-CN" sz="2200" kern="0" dirty="0">
              <a:latin typeface="Times New Roman" panose="02020603050405020304" pitchFamily="18" charset="0"/>
              <a:cs typeface="Times New Roman" panose="02020603050405020304" pitchFamily="18" charset="0"/>
              <a:sym typeface="+mn-ea"/>
            </a:endParaRPr>
          </a:p>
        </p:txBody>
      </p:sp>
      <p:pic>
        <p:nvPicPr>
          <p:cNvPr id="3" name="Picture 2"/>
          <p:cNvPicPr>
            <a:picLocks noChangeAspect="1"/>
          </p:cNvPicPr>
          <p:nvPr/>
        </p:nvPicPr>
        <p:blipFill>
          <a:blip r:embed="rId1"/>
          <a:srcRect r="93651"/>
          <a:stretch>
            <a:fillRect/>
          </a:stretch>
        </p:blipFill>
        <p:spPr>
          <a:xfrm>
            <a:off x="11664950" y="1647190"/>
            <a:ext cx="527050" cy="29470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a:t>
            </a:r>
            <a:r>
              <a:rPr lang="en-US" altLang="zh-CN" sz="3600" dirty="0"/>
              <a:t>Offload (2/5)</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733425" y="1754505"/>
            <a:ext cx="926274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kern="0" dirty="0">
                <a:latin typeface="Times New Roman" panose="02020603050405020304" pitchFamily="18" charset="0"/>
                <a:cs typeface="Times New Roman" panose="02020603050405020304" pitchFamily="18" charset="0"/>
                <a:sym typeface="+mn-ea"/>
              </a:rPr>
              <a:t>Core strategy: Offload optimizer states to CPU and execute optimizer computation on CPU</a:t>
            </a:r>
            <a:endParaRPr lang="en-US" altLang="zh-CN" sz="2400" kern="0" dirty="0">
              <a:latin typeface="Times New Roman" panose="02020603050405020304" pitchFamily="18" charset="0"/>
              <a:cs typeface="Times New Roman" panose="02020603050405020304" pitchFamily="18" charset="0"/>
              <a:sym typeface="+mn-ea"/>
            </a:endParaRPr>
          </a:p>
          <a:p>
            <a:pPr lvl="0"/>
            <a:endParaRPr lang="en-US" altLang="zh-CN" sz="2800" kern="0" dirty="0">
              <a:latin typeface="Times New Roman" panose="02020603050405020304" pitchFamily="18" charset="0"/>
              <a:cs typeface="Times New Roman" panose="02020603050405020304" pitchFamily="18" charset="0"/>
              <a:sym typeface="+mn-ea"/>
            </a:endParaRPr>
          </a:p>
          <a:p>
            <a:pPr lvl="0" algn="l"/>
            <a:r>
              <a:rPr lang="en-US" altLang="zh-CN" sz="2400" kern="0" dirty="0">
                <a:latin typeface="Times New Roman" panose="02020603050405020304" pitchFamily="18" charset="0"/>
                <a:cs typeface="Times New Roman" panose="02020603050405020304" pitchFamily="18" charset="0"/>
                <a:sym typeface="+mn-ea"/>
              </a:rPr>
              <a:t>GPU is responsible for forward and backward passes. </a:t>
            </a:r>
            <a:endParaRPr lang="en-US" altLang="zh-CN" sz="2400" kern="0" dirty="0">
              <a:latin typeface="Times New Roman" panose="02020603050405020304" pitchFamily="18" charset="0"/>
              <a:cs typeface="Times New Roman" panose="02020603050405020304" pitchFamily="18" charset="0"/>
              <a:sym typeface="+mn-ea"/>
            </a:endParaRPr>
          </a:p>
          <a:p>
            <a:pPr lvl="0" algn="l"/>
            <a:endParaRPr lang="en-US" altLang="zh-CN" sz="2400" kern="0" dirty="0">
              <a:latin typeface="Times New Roman" panose="02020603050405020304" pitchFamily="18" charset="0"/>
              <a:cs typeface="Times New Roman" panose="02020603050405020304" pitchFamily="18" charset="0"/>
              <a:sym typeface="+mn-ea"/>
            </a:endParaRPr>
          </a:p>
          <a:p>
            <a:pPr lvl="0" algn="l"/>
            <a:r>
              <a:rPr lang="en-US" altLang="zh-CN" sz="2400" kern="0" dirty="0">
                <a:latin typeface="Times New Roman" panose="02020603050405020304" pitchFamily="18" charset="0"/>
                <a:cs typeface="Times New Roman" panose="02020603050405020304" pitchFamily="18" charset="0"/>
                <a:sym typeface="+mn-ea"/>
              </a:rPr>
              <a:t>CPU is responsibile for optimizer updates and norm calculations.</a:t>
            </a:r>
            <a:r>
              <a:rPr lang="en-US" altLang="zh-CN" sz="2565" kern="0" dirty="0">
                <a:latin typeface="Times New Roman" panose="02020603050405020304" pitchFamily="18" charset="0"/>
                <a:cs typeface="Times New Roman" panose="02020603050405020304" pitchFamily="18" charset="0"/>
                <a:sym typeface="+mn-ea"/>
              </a:rPr>
              <a:t> </a:t>
            </a:r>
            <a:endParaRPr lang="en-US" altLang="zh-CN" sz="2565" kern="0" dirty="0">
              <a:latin typeface="Times New Roman" panose="02020603050405020304" pitchFamily="18" charset="0"/>
              <a:cs typeface="Times New Roman" panose="02020603050405020304" pitchFamily="18" charset="0"/>
              <a:sym typeface="+mn-ea"/>
            </a:endParaRPr>
          </a:p>
          <a:p>
            <a:pPr marL="457200" lvl="1" indent="0">
              <a:buNone/>
            </a:pPr>
            <a:endParaRPr lang="en-US" altLang="zh-CN" sz="2200" kern="0" dirty="0">
              <a:latin typeface="Times New Roman" panose="02020603050405020304" pitchFamily="18" charset="0"/>
              <a:cs typeface="Times New Roman" panose="02020603050405020304" pitchFamily="18" charset="0"/>
              <a:sym typeface="+mn-ea"/>
            </a:endParaRPr>
          </a:p>
        </p:txBody>
      </p:sp>
      <p:pic>
        <p:nvPicPr>
          <p:cNvPr id="3" name="Picture 2"/>
          <p:cNvPicPr>
            <a:picLocks noChangeAspect="1"/>
          </p:cNvPicPr>
          <p:nvPr/>
        </p:nvPicPr>
        <p:blipFill>
          <a:blip r:embed="rId1"/>
          <a:srcRect r="93651"/>
          <a:stretch>
            <a:fillRect/>
          </a:stretch>
        </p:blipFill>
        <p:spPr>
          <a:xfrm>
            <a:off x="11664950" y="1647190"/>
            <a:ext cx="527050" cy="29470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5237480" y="2045970"/>
            <a:ext cx="6715125" cy="3021330"/>
          </a:xfrm>
          <a:prstGeom prst="rect">
            <a:avLst/>
          </a:prstGeom>
        </p:spPr>
      </p:pic>
      <p:sp>
        <p:nvSpPr>
          <p:cNvPr id="5" name="标题 4"/>
          <p:cNvSpPr>
            <a:spLocks noGrp="1"/>
          </p:cNvSpPr>
          <p:nvPr>
            <p:ph type="title"/>
          </p:nvPr>
        </p:nvSpPr>
        <p:spPr>
          <a:xfrm>
            <a:off x="1049655" y="144780"/>
            <a:ext cx="10517505" cy="692150"/>
          </a:xfrm>
        </p:spPr>
        <p:txBody>
          <a:bodyPr/>
          <a:lstStyle/>
          <a:p>
            <a:r>
              <a:rPr lang="en-US" altLang="zh-CN" sz="3600" dirty="0"/>
              <a:t>ZeRO-</a:t>
            </a:r>
            <a:r>
              <a:rPr lang="en-US" altLang="zh-CN" sz="3600" dirty="0"/>
              <a:t>Offload (3/5)</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582295" y="1196975"/>
            <a:ext cx="502729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Offload goal</a:t>
            </a:r>
            <a:r>
              <a:rPr lang="en-US" altLang="zh-CN" sz="2400" kern="0" dirty="0">
                <a:latin typeface="Times New Roman" panose="02020603050405020304" pitchFamily="18" charset="0"/>
                <a:cs typeface="Times New Roman" panose="02020603050405020304" pitchFamily="18" charset="0"/>
                <a:sym typeface="+mn-ea"/>
              </a:rPr>
              <a:t>:</a:t>
            </a:r>
            <a:endParaRPr lang="en-US" altLang="zh-CN" sz="28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Limit CPU computation </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Minimize communication volume</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Maximize memory savings</a:t>
            </a:r>
            <a:endParaRPr lang="en-US" altLang="zh-CN" sz="2200" kern="0" dirty="0">
              <a:latin typeface="Times New Roman" panose="02020603050405020304" pitchFamily="18" charset="0"/>
              <a:cs typeface="Times New Roman" panose="02020603050405020304" pitchFamily="18" charset="0"/>
              <a:sym typeface="+mn-ea"/>
            </a:endParaRPr>
          </a:p>
          <a:p>
            <a:pPr lvl="0"/>
            <a:endParaRPr lang="en-US" altLang="zh-CN" sz="2565" kern="0" dirty="0">
              <a:latin typeface="Times New Roman" panose="02020603050405020304" pitchFamily="18" charset="0"/>
              <a:cs typeface="Times New Roman" panose="02020603050405020304" pitchFamily="18" charset="0"/>
              <a:sym typeface="+mn-ea"/>
            </a:endParaRPr>
          </a:p>
          <a:p>
            <a:pPr lvl="0"/>
            <a:r>
              <a:rPr lang="en-US" altLang="zh-CN" sz="2400" b="1" kern="0" dirty="0">
                <a:latin typeface="Times New Roman Bold" panose="02020603050405020304" charset="0"/>
                <a:cs typeface="Times New Roman Bold" panose="02020603050405020304" charset="0"/>
                <a:sym typeface="+mn-ea"/>
              </a:rPr>
              <a:t>Optimal strategy</a:t>
            </a:r>
            <a:r>
              <a:rPr lang="en-US" altLang="zh-CN" sz="2400" kern="0" dirty="0">
                <a:latin typeface="Times New Roman" panose="02020603050405020304" pitchFamily="18" charset="0"/>
                <a:cs typeface="Times New Roman" panose="02020603050405020304" pitchFamily="18" charset="0"/>
                <a:sym typeface="+mn-ea"/>
              </a:rPr>
              <a:t>:</a:t>
            </a:r>
            <a:endParaRPr lang="en-US" altLang="zh-CN" sz="2400" kern="0" dirty="0">
              <a:latin typeface="Times New Roman" panose="02020603050405020304" pitchFamily="18" charset="0"/>
              <a:cs typeface="Times New Roman" panose="02020603050405020304" pitchFamily="18" charset="0"/>
              <a:sym typeface="+mn-ea"/>
            </a:endParaRPr>
          </a:p>
          <a:p>
            <a:pPr lvl="1"/>
            <a:r>
              <a:rPr lang="en-US" altLang="zh-CN" sz="2195" kern="0" dirty="0">
                <a:latin typeface="Times New Roman" panose="02020603050405020304" pitchFamily="18" charset="0"/>
                <a:cs typeface="Times New Roman" panose="02020603050405020304" pitchFamily="18" charset="0"/>
                <a:sym typeface="+mn-ea"/>
              </a:rPr>
              <a:t>CPU stores the fp32 model states along with the fp16 gradients and computes the parameter updates. </a:t>
            </a:r>
            <a:endParaRPr lang="en-US" altLang="zh-CN" sz="2195" kern="0" dirty="0">
              <a:latin typeface="Times New Roman" panose="02020603050405020304" pitchFamily="18" charset="0"/>
              <a:cs typeface="Times New Roman" panose="02020603050405020304" pitchFamily="18" charset="0"/>
              <a:sym typeface="+mn-ea"/>
            </a:endParaRPr>
          </a:p>
          <a:p>
            <a:pPr lvl="1"/>
            <a:r>
              <a:rPr lang="en-US" altLang="zh-CN" sz="2195" kern="0" dirty="0">
                <a:latin typeface="Times New Roman" panose="02020603050405020304" pitchFamily="18" charset="0"/>
                <a:cs typeface="Times New Roman" panose="02020603050405020304" pitchFamily="18" charset="0"/>
                <a:sym typeface="+mn-ea"/>
              </a:rPr>
              <a:t>GPU keeps the fp16 parameters and do the forward and backward computations.</a:t>
            </a:r>
            <a:endParaRPr lang="en-US" altLang="zh-CN" sz="2195" kern="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a:t>
            </a:r>
            <a:r>
              <a:rPr lang="en-US" altLang="zh-CN" sz="3600" dirty="0"/>
              <a:t>Offload (4/5)</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70560" y="1232535"/>
            <a:ext cx="1051750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ZeRO-Offload schedule (Single GPU)</a:t>
            </a:r>
            <a:r>
              <a:rPr lang="en-US" altLang="zh-CN" sz="2400" kern="0" dirty="0">
                <a:latin typeface="Times New Roman" panose="02020603050405020304" pitchFamily="18" charset="0"/>
                <a:cs typeface="Times New Roman" panose="02020603050405020304" pitchFamily="18" charset="0"/>
                <a:sym typeface="+mn-ea"/>
              </a:rPr>
              <a:t>:</a:t>
            </a:r>
            <a:endParaRPr lang="en-US" altLang="zh-CN" sz="2800" kern="0" dirty="0">
              <a:latin typeface="Times New Roman" panose="02020603050405020304" pitchFamily="18" charset="0"/>
              <a:cs typeface="Times New Roman" panose="02020603050405020304" pitchFamily="18" charset="0"/>
              <a:sym typeface="+mn-ea"/>
            </a:endParaRPr>
          </a:p>
          <a:p>
            <a:pPr lvl="1"/>
            <a:r>
              <a:rPr lang="en-US" altLang="zh-CN" sz="2200" b="1" kern="0" dirty="0">
                <a:latin typeface="Times New Roman Bold" panose="02020603050405020304" charset="0"/>
                <a:cs typeface="Times New Roman Bold" panose="02020603050405020304" charset="0"/>
                <a:sym typeface="+mn-ea"/>
              </a:rPr>
              <a:t>Compute</a:t>
            </a:r>
            <a:r>
              <a:rPr lang="en-US" altLang="zh-CN" sz="2200" kern="0" dirty="0">
                <a:latin typeface="Times New Roman" panose="02020603050405020304" pitchFamily="18" charset="0"/>
                <a:cs typeface="Times New Roman" panose="02020603050405020304" pitchFamily="18" charset="0"/>
                <a:sym typeface="+mn-ea"/>
              </a:rPr>
              <a:t>: GPU calculates fp16 gradients via backpropagation.</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b="1" kern="0" dirty="0">
                <a:latin typeface="Times New Roman Bold" panose="02020603050405020304" charset="0"/>
                <a:cs typeface="Times New Roman Bold" panose="02020603050405020304" charset="0"/>
                <a:sym typeface="+mn-ea"/>
              </a:rPr>
              <a:t>Transfer (Offload)</a:t>
            </a:r>
            <a:r>
              <a:rPr lang="en-US" altLang="zh-CN" sz="2200" kern="0" dirty="0">
                <a:latin typeface="Times New Roman" panose="02020603050405020304" pitchFamily="18" charset="0"/>
                <a:cs typeface="Times New Roman" panose="02020603050405020304" pitchFamily="18" charset="0"/>
                <a:sym typeface="+mn-ea"/>
              </a:rPr>
              <a:t>: Gradients are instantly pushed to CPU RAM.</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b="1" kern="0" dirty="0">
                <a:latin typeface="Times New Roman Bold" panose="02020603050405020304" charset="0"/>
                <a:cs typeface="Times New Roman Bold" panose="02020603050405020304" charset="0"/>
                <a:sym typeface="+mn-ea"/>
              </a:rPr>
              <a:t>Update</a:t>
            </a:r>
            <a:r>
              <a:rPr lang="en-US" altLang="zh-CN" sz="2200" kern="0" dirty="0">
                <a:latin typeface="Times New Roman" panose="02020603050405020304" pitchFamily="18" charset="0"/>
                <a:cs typeface="Times New Roman" panose="02020603050405020304" pitchFamily="18" charset="0"/>
                <a:sym typeface="+mn-ea"/>
              </a:rPr>
              <a:t>: CPU reads the fp32 optimizer states, applies the gradients, and updates the fp32 master weights.</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b="1" kern="0" dirty="0">
                <a:latin typeface="Times New Roman Bold" panose="02020603050405020304" charset="0"/>
                <a:cs typeface="Times New Roman Bold" panose="02020603050405020304" charset="0"/>
                <a:sym typeface="+mn-ea"/>
              </a:rPr>
              <a:t>Transfer</a:t>
            </a:r>
            <a:r>
              <a:rPr lang="en-US" altLang="zh-CN" sz="2200" kern="0" dirty="0">
                <a:latin typeface="Times New Roman" panose="02020603050405020304" pitchFamily="18" charset="0"/>
                <a:cs typeface="Times New Roman" panose="02020603050405020304" pitchFamily="18" charset="0"/>
                <a:sym typeface="+mn-ea"/>
              </a:rPr>
              <a:t> </a:t>
            </a:r>
            <a:r>
              <a:rPr lang="en-US" altLang="zh-CN" sz="2200" b="1" kern="0" dirty="0">
                <a:latin typeface="Times New Roman Bold" panose="02020603050405020304" charset="0"/>
                <a:cs typeface="Times New Roman Bold" panose="02020603050405020304" charset="0"/>
                <a:sym typeface="+mn-ea"/>
              </a:rPr>
              <a:t>(Return)</a:t>
            </a:r>
            <a:r>
              <a:rPr lang="en-US" altLang="zh-CN" sz="2200" kern="0" dirty="0">
                <a:latin typeface="Times New Roman" panose="02020603050405020304" pitchFamily="18" charset="0"/>
                <a:cs typeface="Times New Roman" panose="02020603050405020304" pitchFamily="18" charset="0"/>
                <a:sym typeface="+mn-ea"/>
              </a:rPr>
              <a:t>: CPU converts the new weights to fp16 and sends them back to the GPU for the next step.</a:t>
            </a:r>
            <a:r>
              <a:rPr lang="en-US" altLang="zh-CN" sz="2200" kern="0" dirty="0">
                <a:latin typeface="Times New Roman" panose="02020603050405020304" pitchFamily="18" charset="0"/>
                <a:cs typeface="Times New Roman" panose="02020603050405020304" pitchFamily="18" charset="0"/>
                <a:sym typeface="+mn-ea"/>
              </a:rPr>
              <a:t>Optimal strategy:</a:t>
            </a:r>
            <a:endParaRPr lang="en-US" altLang="zh-CN" sz="2200" kern="0" dirty="0">
              <a:latin typeface="Times New Roman" panose="02020603050405020304" pitchFamily="18" charset="0"/>
              <a:cs typeface="Times New Roman" panose="02020603050405020304" pitchFamily="18" charset="0"/>
              <a:sym typeface="+mn-ea"/>
            </a:endParaRPr>
          </a:p>
          <a:p>
            <a:pPr lvl="1"/>
            <a:endParaRPr lang="en-US" altLang="zh-CN" sz="2200" kern="0" dirty="0">
              <a:latin typeface="Times New Roman" panose="02020603050405020304" pitchFamily="18" charset="0"/>
              <a:cs typeface="Times New Roman" panose="02020603050405020304" pitchFamily="18" charset="0"/>
              <a:sym typeface="+mn-ea"/>
            </a:endParaRPr>
          </a:p>
        </p:txBody>
      </p:sp>
      <p:pic>
        <p:nvPicPr>
          <p:cNvPr id="3" name="Picture 2"/>
          <p:cNvPicPr>
            <a:picLocks noChangeAspect="1"/>
          </p:cNvPicPr>
          <p:nvPr/>
        </p:nvPicPr>
        <p:blipFill>
          <a:blip r:embed="rId1"/>
          <a:srcRect t="14535" b="7577"/>
          <a:stretch>
            <a:fillRect/>
          </a:stretch>
        </p:blipFill>
        <p:spPr>
          <a:xfrm>
            <a:off x="1548130" y="4060190"/>
            <a:ext cx="7780020" cy="18408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a:t>
            </a:r>
            <a:r>
              <a:rPr lang="en-US" altLang="zh-CN" sz="3600" dirty="0"/>
              <a:t>Offload (5/5)</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758825" y="1597660"/>
            <a:ext cx="477964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ZeRO-Offload Performance (Single GPU)</a:t>
            </a:r>
            <a:r>
              <a:rPr lang="en-US" altLang="zh-CN" sz="2400" kern="0" dirty="0">
                <a:latin typeface="Times New Roman" panose="02020603050405020304" pitchFamily="18" charset="0"/>
                <a:cs typeface="Times New Roman" panose="02020603050405020304" pitchFamily="18" charset="0"/>
                <a:sym typeface="+mn-ea"/>
              </a:rPr>
              <a:t>:</a:t>
            </a:r>
            <a:endParaRPr lang="en-US" altLang="zh-CN" sz="2200" kern="0" dirty="0">
              <a:sym typeface="+mn-ea"/>
            </a:endParaRPr>
          </a:p>
          <a:p>
            <a:pPr lvl="1" algn="l"/>
            <a:r>
              <a:rPr lang="en-US" altLang="zh-CN" sz="2200" kern="0" dirty="0">
                <a:latin typeface="Times New Roman" panose="02020603050405020304" pitchFamily="18" charset="0"/>
                <a:cs typeface="Times New Roman" panose="02020603050405020304" pitchFamily="18" charset="0"/>
                <a:sym typeface="+mn-ea"/>
              </a:rPr>
              <a:t>Enables ~10x larger models on a single GPU</a:t>
            </a:r>
            <a:endParaRPr lang="en-US" altLang="zh-CN" sz="2200" kern="0" dirty="0">
              <a:latin typeface="Times New Roman" panose="02020603050405020304" pitchFamily="18" charset="0"/>
              <a:cs typeface="Times New Roman" panose="02020603050405020304" pitchFamily="18" charset="0"/>
              <a:sym typeface="+mn-ea"/>
            </a:endParaRPr>
          </a:p>
          <a:p>
            <a:pPr lvl="1" algn="l"/>
            <a:r>
              <a:rPr lang="en-US" altLang="zh-CN" sz="2200" kern="0" dirty="0">
                <a:latin typeface="Times New Roman" panose="02020603050405020304" pitchFamily="18" charset="0"/>
                <a:cs typeface="Times New Roman" panose="02020603050405020304" pitchFamily="18" charset="0"/>
                <a:sym typeface="+mn-ea"/>
              </a:rPr>
              <a:t>Makes 10B-scale training feasible with limited GPU resources</a:t>
            </a:r>
            <a:endParaRPr lang="en-US" altLang="zh-CN" sz="2200" kern="0" dirty="0">
              <a:latin typeface="Times New Roman" panose="02020603050405020304" pitchFamily="18" charset="0"/>
              <a:cs typeface="Times New Roman" panose="02020603050405020304" pitchFamily="18" charset="0"/>
              <a:sym typeface="+mn-ea"/>
            </a:endParaRPr>
          </a:p>
          <a:p>
            <a:pPr lvl="1" algn="l"/>
            <a:r>
              <a:rPr lang="en-US" altLang="zh-CN" sz="2200" kern="0" dirty="0">
                <a:latin typeface="Times New Roman" panose="02020603050405020304" pitchFamily="18" charset="0"/>
                <a:cs typeface="Times New Roman" panose="02020603050405020304" pitchFamily="18" charset="0"/>
                <a:sym typeface="+mn-ea"/>
              </a:rPr>
              <a:t>Performance overhead is relatively modest compared with naive offloading</a:t>
            </a:r>
            <a:endParaRPr lang="en-US" altLang="zh-CN" sz="2200" kern="0" dirty="0">
              <a:latin typeface="Times New Roman" panose="02020603050405020304" pitchFamily="18" charset="0"/>
              <a:cs typeface="Times New Roman" panose="02020603050405020304" pitchFamily="18" charset="0"/>
              <a:sym typeface="+mn-ea"/>
            </a:endParaRPr>
          </a:p>
        </p:txBody>
      </p:sp>
      <p:pic>
        <p:nvPicPr>
          <p:cNvPr id="2" name="Picture 1"/>
          <p:cNvPicPr>
            <a:picLocks noChangeAspect="1"/>
          </p:cNvPicPr>
          <p:nvPr/>
        </p:nvPicPr>
        <p:blipFill>
          <a:blip r:embed="rId1"/>
          <a:stretch>
            <a:fillRect/>
          </a:stretch>
        </p:blipFill>
        <p:spPr>
          <a:xfrm>
            <a:off x="6096635" y="1597660"/>
            <a:ext cx="5470525" cy="396811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sz="3600" dirty="0"/>
              <a:t>Outline</a:t>
            </a:r>
            <a:endParaRPr lang="en-US" altLang="zh-TW" sz="3600" dirty="0"/>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8" name="內容版面配置區 2"/>
          <p:cNvSpPr>
            <a:spLocks noGrp="1"/>
          </p:cNvSpPr>
          <p:nvPr>
            <p:ph idx="1"/>
          </p:nvPr>
        </p:nvSpPr>
        <p:spPr>
          <a:xfrm>
            <a:off x="761365" y="1314450"/>
            <a:ext cx="12198985" cy="3561080"/>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(5 min)</a:t>
            </a:r>
            <a:endParaRPr lang="en-US" altLang="zh-CN" sz="2935" dirty="0">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sym typeface="+mn-ea"/>
              </a:rPr>
              <a:t>Proposed Methods (15 min)</a:t>
            </a:r>
            <a:endParaRPr lang="en-US" altLang="zh-CN" sz="2935"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 Memory Optimizations Toward Training Trillion Parameter Models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ZeRO-Offload: Democratizing Billion-Scale Model Training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rgbClr val="FF0000"/>
                </a:solidFill>
                <a:latin typeface="Times New Roman" panose="02020603050405020304" pitchFamily="18" charset="0"/>
                <a:cs typeface="Times New Roman" panose="02020603050405020304" pitchFamily="18" charset="0"/>
                <a:sym typeface="+mn-ea"/>
              </a:rPr>
              <a:t>ZeRO-Infinity: Breaking the GPU Memory Wall for</a:t>
            </a:r>
            <a:endParaRPr lang="en-US" altLang="zh-CN" sz="2400" dirty="0">
              <a:solidFill>
                <a:srgbClr val="FF0000"/>
              </a:solidFill>
              <a:latin typeface="Times New Roman" panose="02020603050405020304" pitchFamily="18" charset="0"/>
              <a:cs typeface="Times New Roman" panose="02020603050405020304" pitchFamily="18" charset="0"/>
              <a:sym typeface="+mn-ea"/>
            </a:endParaRPr>
          </a:p>
          <a:p>
            <a:pPr marL="457200" lvl="1" indent="0">
              <a:buNone/>
            </a:pPr>
            <a:r>
              <a:rPr lang="en-US" altLang="zh-CN" sz="2400" dirty="0">
                <a:solidFill>
                  <a:srgbClr val="FF0000"/>
                </a:solidFill>
                <a:latin typeface="Times New Roman" panose="02020603050405020304" pitchFamily="18" charset="0"/>
                <a:cs typeface="Times New Roman" panose="02020603050405020304" pitchFamily="18" charset="0"/>
                <a:sym typeface="+mn-ea"/>
              </a:rPr>
              <a:t>    Extreme Scale Deep Learning (5 min)</a:t>
            </a:r>
            <a:endParaRPr lang="en-US" altLang="zh-CN" sz="2400" dirty="0">
              <a:solidFill>
                <a:srgbClr val="FF0000"/>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a:t>
            </a:r>
            <a:r>
              <a:rPr lang="en-US" altLang="zh-CN" sz="3600" dirty="0"/>
              <a:t>Infinity (1/4)</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394335" y="1257300"/>
            <a:ext cx="570166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kern="0" dirty="0">
                <a:latin typeface="Times New Roman" panose="02020603050405020304" pitchFamily="18" charset="0"/>
                <a:cs typeface="Times New Roman" panose="02020603050405020304" pitchFamily="18" charset="0"/>
                <a:sym typeface="+mn-ea"/>
              </a:rPr>
              <a:t>Why  ZeRO-Offload is not enough?</a:t>
            </a:r>
            <a:endParaRPr lang="en-US" altLang="zh-CN" sz="2400" kern="0" dirty="0">
              <a:latin typeface="Times New Roman" panose="02020603050405020304" pitchFamily="18" charset="0"/>
              <a:cs typeface="Times New Roman" panose="02020603050405020304" pitchFamily="18" charset="0"/>
              <a:sym typeface="+mn-ea"/>
            </a:endParaRPr>
          </a:p>
          <a:p>
            <a:pPr lvl="0"/>
            <a:endParaRPr lang="en-US" altLang="zh-CN" sz="2400" kern="0" dirty="0">
              <a:latin typeface="Times New Roman" panose="02020603050405020304" pitchFamily="18" charset="0"/>
              <a:cs typeface="Times New Roman" panose="02020603050405020304" pitchFamily="18" charset="0"/>
              <a:sym typeface="+mn-ea"/>
            </a:endParaRPr>
          </a:p>
          <a:p>
            <a:pPr lvl="0"/>
            <a:r>
              <a:rPr lang="en-US" altLang="zh-CN" sz="2400" kern="0" dirty="0">
                <a:latin typeface="Times New Roman" panose="02020603050405020304" pitchFamily="18" charset="0"/>
                <a:cs typeface="Times New Roman" panose="02020603050405020304" pitchFamily="18" charset="0"/>
                <a:sym typeface="+mn-ea"/>
              </a:rPr>
              <a:t>The Trillion-Parameter Ambition:</a:t>
            </a:r>
            <a:endParaRPr lang="en-US" altLang="zh-CN" sz="24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Models are scaling beyond 100 Billion to 1 Trillion+ parameters.</a:t>
            </a:r>
            <a:endParaRPr lang="en-US" altLang="zh-CN" sz="2200" kern="0" dirty="0">
              <a:latin typeface="Times New Roman" panose="02020603050405020304" pitchFamily="18" charset="0"/>
              <a:cs typeface="Times New Roman" panose="02020603050405020304" pitchFamily="18" charset="0"/>
              <a:sym typeface="+mn-ea"/>
            </a:endParaRPr>
          </a:p>
          <a:p>
            <a:pPr lvl="1"/>
            <a:endParaRPr lang="en-US" altLang="zh-CN" sz="2400" kern="0" dirty="0">
              <a:latin typeface="Times New Roman" panose="02020603050405020304" pitchFamily="18" charset="0"/>
              <a:cs typeface="Times New Roman" panose="02020603050405020304" pitchFamily="18" charset="0"/>
              <a:sym typeface="+mn-ea"/>
            </a:endParaRPr>
          </a:p>
          <a:p>
            <a:pPr lvl="0"/>
            <a:r>
              <a:rPr lang="en-US" altLang="zh-CN" sz="2400" kern="0" dirty="0">
                <a:latin typeface="Times New Roman" panose="02020603050405020304" pitchFamily="18" charset="0"/>
                <a:cs typeface="Times New Roman" panose="02020603050405020304" pitchFamily="18" charset="0"/>
                <a:sym typeface="+mn-ea"/>
              </a:rPr>
              <a:t>The CPU RAM Wall:</a:t>
            </a:r>
            <a:endParaRPr lang="en-US" altLang="zh-CN" sz="24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A 1-Trillion parameter model requires tens of terabytes of memory just for states.</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Scaling CPU RAM to that size is physically difficult and prohibitively expensive.</a:t>
            </a:r>
            <a:endParaRPr lang="en-US" altLang="zh-CN" sz="2200" kern="0" dirty="0">
              <a:latin typeface="Times New Roman" panose="02020603050405020304" pitchFamily="18" charset="0"/>
              <a:cs typeface="Times New Roman" panose="02020603050405020304" pitchFamily="18" charset="0"/>
              <a:sym typeface="+mn-ea"/>
            </a:endParaRPr>
          </a:p>
        </p:txBody>
      </p:sp>
      <p:pic>
        <p:nvPicPr>
          <p:cNvPr id="3" name="Picture 2"/>
          <p:cNvPicPr>
            <a:picLocks noChangeAspect="1"/>
          </p:cNvPicPr>
          <p:nvPr/>
        </p:nvPicPr>
        <p:blipFill>
          <a:blip r:embed="rId1"/>
          <a:srcRect l="677"/>
          <a:stretch>
            <a:fillRect/>
          </a:stretch>
        </p:blipFill>
        <p:spPr>
          <a:xfrm>
            <a:off x="6507480" y="2828290"/>
            <a:ext cx="5367655" cy="15163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a:t>
            </a:r>
            <a:r>
              <a:rPr lang="en-US" altLang="zh-CN" sz="3600" dirty="0"/>
              <a:t>Infinity (2/4)</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205105" y="1628775"/>
            <a:ext cx="609282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The ZeRO-Infinity Design</a:t>
            </a:r>
            <a:r>
              <a:rPr lang="en-US" altLang="zh-CN" sz="2400" kern="0" dirty="0">
                <a:latin typeface="Times New Roman" panose="02020603050405020304" pitchFamily="18" charset="0"/>
                <a:cs typeface="Times New Roman" panose="02020603050405020304" pitchFamily="18" charset="0"/>
                <a:sym typeface="+mn-ea"/>
              </a:rPr>
              <a:t>:</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055" b="1" kern="0" dirty="0">
                <a:latin typeface="Times New Roman Bold" panose="02020603050405020304" charset="0"/>
                <a:cs typeface="Times New Roman Bold" panose="02020603050405020304" charset="0"/>
                <a:sym typeface="+mn-ea"/>
              </a:rPr>
              <a:t>Infinity Offload Engine</a:t>
            </a:r>
            <a:endParaRPr lang="en-US" altLang="zh-CN" sz="188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Partitioned model states can live in GPU, CPU, or NVMe memory.</a:t>
            </a:r>
            <a:endParaRPr lang="en-US" altLang="zh-CN" sz="210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Supports CPU offload for activations</a:t>
            </a:r>
            <a:r>
              <a:rPr lang="zh-CN" altLang="en-US" sz="2100" kern="0" dirty="0">
                <a:latin typeface="Times New Roman" panose="02020603050405020304" pitchFamily="18" charset="0"/>
                <a:cs typeface="Times New Roman" panose="02020603050405020304" pitchFamily="18" charset="0"/>
                <a:sym typeface="+mn-ea"/>
              </a:rPr>
              <a:t>。</a:t>
            </a:r>
            <a:endParaRPr lang="zh-CN" altLang="en-US" sz="2100" kern="0" dirty="0">
              <a:latin typeface="Times New Roman" panose="02020603050405020304" pitchFamily="18" charset="0"/>
              <a:cs typeface="Times New Roman" panose="02020603050405020304" pitchFamily="18" charset="0"/>
              <a:sym typeface="+mn-ea"/>
            </a:endParaRPr>
          </a:p>
          <a:p>
            <a:pPr lvl="1"/>
            <a:r>
              <a:rPr lang="en-US" altLang="zh-CN" sz="2200" b="1" kern="0" dirty="0">
                <a:latin typeface="Times New Roman Bold" panose="02020603050405020304" charset="0"/>
                <a:cs typeface="Times New Roman Bold" panose="02020603050405020304" charset="0"/>
                <a:sym typeface="+mn-ea"/>
              </a:rPr>
              <a:t>Memory-Centric Tiling</a:t>
            </a:r>
            <a:endParaRPr lang="en-US" altLang="zh-CN" sz="220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Break a very large operator into smaller tiles.</a:t>
            </a:r>
            <a:endParaRPr lang="en-US" altLang="zh-CN" sz="210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Execute tiles sequentially.</a:t>
            </a:r>
            <a:endParaRPr lang="en-US" altLang="zh-CN" sz="210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Allow extremely large layers without requiring model parallelism.</a:t>
            </a:r>
            <a:endParaRPr lang="en-US" altLang="zh-CN" sz="2100" kern="0" dirty="0">
              <a:latin typeface="Times New Roman" panose="02020603050405020304" pitchFamily="18" charset="0"/>
              <a:cs typeface="Times New Roman" panose="02020603050405020304" pitchFamily="18" charset="0"/>
              <a:sym typeface="+mn-ea"/>
            </a:endParaRPr>
          </a:p>
          <a:p>
            <a:pPr marL="457200" lvl="1" indent="0">
              <a:buNone/>
            </a:pPr>
            <a:endParaRPr lang="en-US" altLang="zh-CN" sz="2095" kern="0" dirty="0">
              <a:latin typeface="Times New Roman" panose="02020603050405020304" pitchFamily="18" charset="0"/>
              <a:cs typeface="Times New Roman" panose="02020603050405020304" pitchFamily="18" charset="0"/>
              <a:sym typeface="+mn-ea"/>
            </a:endParaRPr>
          </a:p>
        </p:txBody>
      </p:sp>
      <p:pic>
        <p:nvPicPr>
          <p:cNvPr id="6" name="Picture 5"/>
          <p:cNvPicPr>
            <a:picLocks noChangeAspect="1"/>
          </p:cNvPicPr>
          <p:nvPr/>
        </p:nvPicPr>
        <p:blipFill>
          <a:blip r:embed="rId1"/>
          <a:stretch>
            <a:fillRect/>
          </a:stretch>
        </p:blipFill>
        <p:spPr>
          <a:xfrm>
            <a:off x="6297930" y="1181735"/>
            <a:ext cx="5735955" cy="47898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ZeRO-</a:t>
            </a:r>
            <a:r>
              <a:rPr lang="en-US" altLang="zh-CN" sz="3600" dirty="0"/>
              <a:t>Infinity (3/4)</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96595" y="1446530"/>
            <a:ext cx="9937750"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Efficiency Optimization of ZeRO-Infinity</a:t>
            </a:r>
            <a:endParaRPr lang="en-US" altLang="zh-CN" sz="2400" b="1" kern="0" dirty="0">
              <a:latin typeface="Times New Roman Bold" panose="02020603050405020304" charset="0"/>
              <a:cs typeface="Times New Roman Bold" panose="02020603050405020304" charset="0"/>
              <a:sym typeface="+mn-ea"/>
            </a:endParaRPr>
          </a:p>
          <a:p>
            <a:pPr lvl="1"/>
            <a:r>
              <a:rPr lang="en-US" altLang="zh-CN" sz="2200" b="1" kern="0" dirty="0">
                <a:latin typeface="Times New Roman Bold" panose="02020603050405020304" charset="0"/>
                <a:cs typeface="Times New Roman Bold" panose="02020603050405020304" charset="0"/>
                <a:sym typeface="+mn-ea"/>
              </a:rPr>
              <a:t>Bandwidth-centric partitioning</a:t>
            </a:r>
            <a:endParaRPr lang="en-US" altLang="zh-CN" sz="2200" b="1" kern="0" dirty="0">
              <a:latin typeface="Times New Roman Bold" panose="02020603050405020304" charset="0"/>
              <a:cs typeface="Times New Roman Bold" panose="02020603050405020304" charset="0"/>
              <a:sym typeface="+mn-ea"/>
            </a:endParaRPr>
          </a:p>
          <a:p>
            <a:pPr lvl="2"/>
            <a:r>
              <a:rPr lang="en-US" altLang="zh-CN" sz="2200" kern="0" dirty="0">
                <a:latin typeface="Times New Roman Regular" panose="02020603050405020304" charset="0"/>
                <a:cs typeface="Times New Roman Regular" panose="02020603050405020304" charset="0"/>
                <a:sym typeface="+mn-ea"/>
              </a:rPr>
              <a:t>Leverage aggregate PCIe / NVMe bandwidth across devices</a:t>
            </a:r>
            <a:endParaRPr lang="en-US" altLang="zh-CN" sz="2200" kern="0" dirty="0">
              <a:latin typeface="Times New Roman Regular" panose="02020603050405020304" charset="0"/>
              <a:cs typeface="Times New Roman Regular" panose="02020603050405020304" charset="0"/>
              <a:sym typeface="+mn-ea"/>
            </a:endParaRPr>
          </a:p>
          <a:p>
            <a:pPr lvl="1"/>
            <a:r>
              <a:rPr lang="en-US" altLang="zh-CN" sz="2200" b="1" kern="0" dirty="0">
                <a:latin typeface="Times New Roman Bold" panose="02020603050405020304" charset="0"/>
                <a:cs typeface="Times New Roman Bold" panose="02020603050405020304" charset="0"/>
                <a:sym typeface="+mn-ea"/>
              </a:rPr>
              <a:t>Overlap-centric design</a:t>
            </a:r>
            <a:endParaRPr lang="en-US" altLang="zh-CN" sz="2200" b="1" kern="0" dirty="0">
              <a:latin typeface="Times New Roman Bold" panose="02020603050405020304" charset="0"/>
              <a:cs typeface="Times New Roman Bold" panose="02020603050405020304" charset="0"/>
              <a:sym typeface="+mn-ea"/>
            </a:endParaRPr>
          </a:p>
          <a:p>
            <a:pPr lvl="2"/>
            <a:r>
              <a:rPr lang="en-US" altLang="zh-CN" sz="2200" kern="0" dirty="0">
                <a:latin typeface="Times New Roman Regular" panose="02020603050405020304" charset="0"/>
                <a:cs typeface="Times New Roman Regular" panose="02020603050405020304" charset="0"/>
                <a:sym typeface="+mn-ea"/>
              </a:rPr>
              <a:t>Overlap:</a:t>
            </a:r>
            <a:endParaRPr lang="en-US" altLang="zh-CN" sz="2200" kern="0" dirty="0">
              <a:latin typeface="Times New Roman Regular" panose="02020603050405020304" charset="0"/>
              <a:cs typeface="Times New Roman Regular" panose="02020603050405020304" charset="0"/>
              <a:sym typeface="+mn-ea"/>
            </a:endParaRPr>
          </a:p>
          <a:p>
            <a:pPr lvl="3"/>
            <a:r>
              <a:rPr lang="en-US" altLang="zh-CN" sz="2200" kern="0" dirty="0">
                <a:latin typeface="Times New Roman Regular" panose="02020603050405020304" charset="0"/>
                <a:cs typeface="Times New Roman Regular" panose="02020603050405020304" charset="0"/>
                <a:sym typeface="+mn-ea"/>
              </a:rPr>
              <a:t>GPU compute</a:t>
            </a:r>
            <a:endParaRPr lang="en-US" altLang="zh-CN" sz="2200" kern="0" dirty="0">
              <a:latin typeface="Times New Roman Regular" panose="02020603050405020304" charset="0"/>
              <a:cs typeface="Times New Roman Regular" panose="02020603050405020304" charset="0"/>
              <a:sym typeface="+mn-ea"/>
            </a:endParaRPr>
          </a:p>
          <a:p>
            <a:pPr lvl="3"/>
            <a:r>
              <a:rPr lang="en-US" altLang="zh-CN" sz="2200" kern="0" dirty="0">
                <a:latin typeface="Times New Roman Regular" panose="02020603050405020304" charset="0"/>
                <a:cs typeface="Times New Roman Regular" panose="02020603050405020304" charset="0"/>
                <a:sym typeface="+mn-ea"/>
              </a:rPr>
              <a:t>GPU-GPU communication</a:t>
            </a:r>
            <a:endParaRPr lang="en-US" altLang="zh-CN" sz="2200" kern="0" dirty="0">
              <a:latin typeface="Times New Roman Regular" panose="02020603050405020304" charset="0"/>
              <a:cs typeface="Times New Roman Regular" panose="02020603050405020304" charset="0"/>
              <a:sym typeface="+mn-ea"/>
            </a:endParaRPr>
          </a:p>
          <a:p>
            <a:pPr lvl="3"/>
            <a:r>
              <a:rPr lang="en-US" altLang="zh-CN" sz="2200" kern="0" dirty="0">
                <a:latin typeface="Times New Roman Regular" panose="02020603050405020304" charset="0"/>
                <a:cs typeface="Times New Roman Regular" panose="02020603050405020304" charset="0"/>
                <a:sym typeface="+mn-ea"/>
              </a:rPr>
              <a:t>CPU-GPU transfer</a:t>
            </a:r>
            <a:endParaRPr lang="en-US" altLang="zh-CN" sz="2200" kern="0" dirty="0">
              <a:latin typeface="Times New Roman Regular" panose="02020603050405020304" charset="0"/>
              <a:cs typeface="Times New Roman Regular" panose="02020603050405020304" charset="0"/>
              <a:sym typeface="+mn-ea"/>
            </a:endParaRPr>
          </a:p>
          <a:p>
            <a:pPr lvl="3"/>
            <a:r>
              <a:rPr lang="en-US" altLang="zh-CN" sz="2200" kern="0" dirty="0">
                <a:latin typeface="Times New Roman Regular" panose="02020603050405020304" charset="0"/>
                <a:cs typeface="Times New Roman Regular" panose="02020603050405020304" charset="0"/>
                <a:sym typeface="+mn-ea"/>
              </a:rPr>
              <a:t>NVMe-CPU transfer</a:t>
            </a:r>
            <a:endParaRPr lang="en-US" altLang="zh-CN" sz="2200" kern="0" dirty="0">
              <a:latin typeface="Times New Roman Regular" panose="02020603050405020304" charset="0"/>
              <a:cs typeface="Times New Roman Regular" panose="02020603050405020304" charset="0"/>
              <a:sym typeface="+mn-ea"/>
            </a:endParaRPr>
          </a:p>
          <a:p>
            <a:pPr lvl="1"/>
            <a:r>
              <a:rPr lang="en-US" altLang="zh-CN" sz="2200" b="1" kern="0" dirty="0">
                <a:latin typeface="Times New Roman Bold" panose="02020603050405020304" charset="0"/>
                <a:cs typeface="Times New Roman Bold" panose="02020603050405020304" charset="0"/>
                <a:sym typeface="+mn-ea"/>
              </a:rPr>
              <a:t>Dynamic prefetching</a:t>
            </a:r>
            <a:endParaRPr lang="en-US" altLang="zh-CN" sz="2200" kern="0" dirty="0">
              <a:latin typeface="Times New Roman Regular" panose="02020603050405020304" charset="0"/>
              <a:cs typeface="Times New Roman Regular" panose="02020603050405020304" charset="0"/>
              <a:sym typeface="+mn-ea"/>
            </a:endParaRPr>
          </a:p>
          <a:p>
            <a:pPr lvl="2"/>
            <a:r>
              <a:rPr lang="en-US" altLang="zh-CN" sz="2200" kern="0" dirty="0">
                <a:latin typeface="Times New Roman Regular" panose="02020603050405020304" charset="0"/>
                <a:cs typeface="Times New Roman Regular" panose="02020603050405020304" charset="0"/>
                <a:sym typeface="+mn-ea"/>
              </a:rPr>
              <a:t>Fetch parameters before they are consumed</a:t>
            </a:r>
            <a:endParaRPr lang="en-US" altLang="zh-CN" sz="2200" kern="0" dirty="0">
              <a:latin typeface="Times New Roman Regular" panose="02020603050405020304" charset="0"/>
              <a:cs typeface="Times New Roman Regular" panose="02020603050405020304"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7186295" y="3429000"/>
            <a:ext cx="3440430" cy="2604135"/>
          </a:xfrm>
          <a:prstGeom prst="rect">
            <a:avLst/>
          </a:prstGeom>
        </p:spPr>
      </p:pic>
      <p:sp>
        <p:nvSpPr>
          <p:cNvPr id="5" name="标题 4"/>
          <p:cNvSpPr>
            <a:spLocks noGrp="1"/>
          </p:cNvSpPr>
          <p:nvPr>
            <p:ph type="title"/>
          </p:nvPr>
        </p:nvSpPr>
        <p:spPr>
          <a:xfrm>
            <a:off x="1049655" y="144780"/>
            <a:ext cx="10517505" cy="692150"/>
          </a:xfrm>
        </p:spPr>
        <p:txBody>
          <a:bodyPr/>
          <a:lstStyle/>
          <a:p>
            <a:r>
              <a:rPr lang="en-US" altLang="zh-CN" sz="3600" dirty="0"/>
              <a:t>ZeRO-</a:t>
            </a:r>
            <a:r>
              <a:rPr lang="en-US" altLang="zh-CN" sz="3600" dirty="0"/>
              <a:t>Infinity (4/4)</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0" y="1471930"/>
            <a:ext cx="7366000" cy="334581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Evaluation </a:t>
            </a:r>
            <a:endParaRPr lang="en-US" altLang="zh-CN" sz="2400" b="1" kern="0" dirty="0">
              <a:latin typeface="Times New Roman Bold" panose="02020603050405020304" charset="0"/>
              <a:cs typeface="Times New Roman Bold" panose="02020603050405020304"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50x larger model scale than 3D parallelism</a:t>
            </a:r>
            <a:endParaRPr lang="en-US" altLang="zh-CN" sz="220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32T+ vs. ~650B</a:t>
            </a:r>
            <a:endParaRPr lang="en-US" altLang="zh-CN" sz="21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On 512 GPUs:</a:t>
            </a:r>
            <a:endParaRPr lang="en-US" altLang="zh-CN" sz="220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Trains up to 20T</a:t>
            </a:r>
            <a:endParaRPr lang="en-US" altLang="zh-CN" sz="210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Up to 49 TFLOPS/GPU</a:t>
            </a:r>
            <a:endParaRPr lang="en-US" altLang="zh-CN" sz="21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Super-linear scaling for a 1T model from 64 → 512 GPUs</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On a single DGX-2 node:</a:t>
            </a:r>
            <a:endParaRPr lang="en-US" altLang="zh-CN" sz="220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Trains up to 1T without model parallelism</a:t>
            </a:r>
            <a:endParaRPr lang="en-US" altLang="zh-CN" sz="2100" kern="0" dirty="0">
              <a:latin typeface="Times New Roman" panose="02020603050405020304" pitchFamily="18" charset="0"/>
              <a:cs typeface="Times New Roman" panose="02020603050405020304" pitchFamily="18" charset="0"/>
              <a:sym typeface="+mn-ea"/>
            </a:endParaRPr>
          </a:p>
          <a:p>
            <a:pPr lvl="2"/>
            <a:r>
              <a:rPr lang="en-US" altLang="zh-CN" sz="2100" kern="0" dirty="0">
                <a:latin typeface="Times New Roman" panose="02020603050405020304" pitchFamily="18" charset="0"/>
                <a:cs typeface="Times New Roman" panose="02020603050405020304" pitchFamily="18" charset="0"/>
                <a:sym typeface="+mn-ea"/>
              </a:rPr>
              <a:t>&gt;40 TFLOPS/GPU up to 100B</a:t>
            </a:r>
            <a:endParaRPr lang="en-US" altLang="zh-CN" sz="2100" kern="0" dirty="0">
              <a:latin typeface="Times New Roman" panose="02020603050405020304" pitchFamily="18" charset="0"/>
              <a:cs typeface="Times New Roman" panose="02020603050405020304" pitchFamily="18" charset="0"/>
              <a:sym typeface="+mn-ea"/>
            </a:endParaRPr>
          </a:p>
        </p:txBody>
      </p:sp>
      <p:pic>
        <p:nvPicPr>
          <p:cNvPr id="2" name="Picture 1"/>
          <p:cNvPicPr>
            <a:picLocks noChangeAspect="1"/>
          </p:cNvPicPr>
          <p:nvPr/>
        </p:nvPicPr>
        <p:blipFill>
          <a:blip r:embed="rId2"/>
          <a:stretch>
            <a:fillRect/>
          </a:stretch>
        </p:blipFill>
        <p:spPr>
          <a:xfrm>
            <a:off x="7066280" y="1133475"/>
            <a:ext cx="3560445" cy="237426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sz="3600" dirty="0"/>
              <a:t>Outline</a:t>
            </a:r>
            <a:endParaRPr lang="en-US" altLang="zh-TW" sz="3600" dirty="0"/>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8" name="內容版面配置區 2"/>
          <p:cNvSpPr>
            <a:spLocks noGrp="1"/>
          </p:cNvSpPr>
          <p:nvPr>
            <p:ph idx="1"/>
          </p:nvPr>
        </p:nvSpPr>
        <p:spPr>
          <a:xfrm>
            <a:off x="761365" y="1314450"/>
            <a:ext cx="12198985" cy="3561080"/>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(5 min)</a:t>
            </a:r>
            <a:endParaRPr lang="en-US" altLang="zh-CN" sz="2935" dirty="0">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sym typeface="+mn-ea"/>
              </a:rPr>
              <a:t>Proposed Methods (15 min)</a:t>
            </a:r>
            <a:endParaRPr lang="en-US" altLang="zh-CN" sz="2935"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 Memory Optimizations Toward Training Trillion Parameter Models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ZeRO-Offload: Democratizing Billion-Scale Model Training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sym typeface="+mn-ea"/>
              </a:rPr>
              <a:t>ZeRO-Infinity: Breaking the GPU Memory Wall for</a:t>
            </a:r>
            <a:endParaRPr lang="en-US" altLang="zh-CN" sz="2400" dirty="0">
              <a:solidFill>
                <a:schemeClr val="tx1"/>
              </a:solidFill>
              <a:latin typeface="Times New Roman" panose="02020603050405020304" pitchFamily="18" charset="0"/>
              <a:cs typeface="Times New Roman" panose="02020603050405020304" pitchFamily="18" charset="0"/>
              <a:sym typeface="+mn-ea"/>
            </a:endParaRPr>
          </a:p>
          <a:p>
            <a:pPr marL="457200" lvl="1" indent="0">
              <a:buNone/>
            </a:pPr>
            <a:r>
              <a:rPr lang="en-US" altLang="zh-CN" sz="2400" dirty="0">
                <a:solidFill>
                  <a:schemeClr val="tx1"/>
                </a:solidFill>
                <a:latin typeface="Times New Roman" panose="02020603050405020304" pitchFamily="18" charset="0"/>
                <a:cs typeface="Times New Roman" panose="02020603050405020304" pitchFamily="18" charset="0"/>
                <a:sym typeface="+mn-ea"/>
              </a:rPr>
              <a:t>    Extreme Scale Deep Learning (5 min)</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rPr>
              <a:t>Conclusions (2 min)</a:t>
            </a:r>
            <a:endParaRPr lang="en-US" altLang="zh-CN" sz="2935" dirty="0">
              <a:solidFill>
                <a:srgbClr val="FF0000"/>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Conclusions (1/2)</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graphicFrame>
        <p:nvGraphicFramePr>
          <p:cNvPr id="6" name="Table 5"/>
          <p:cNvGraphicFramePr/>
          <p:nvPr>
            <p:custDataLst>
              <p:tags r:id="rId1"/>
            </p:custDataLst>
          </p:nvPr>
        </p:nvGraphicFramePr>
        <p:xfrm>
          <a:off x="537845" y="1848485"/>
          <a:ext cx="10574655" cy="3344545"/>
        </p:xfrm>
        <a:graphic>
          <a:graphicData uri="http://schemas.openxmlformats.org/drawingml/2006/table">
            <a:tbl>
              <a:tblPr firstRow="1" bandRow="1">
                <a:tableStyleId>{5C22544A-7EE6-4342-B048-85BDC9FD1C3A}</a:tableStyleId>
              </a:tblPr>
              <a:tblGrid>
                <a:gridCol w="1808480"/>
                <a:gridCol w="3183255"/>
                <a:gridCol w="3610610"/>
                <a:gridCol w="1972310"/>
              </a:tblGrid>
              <a:tr h="822960">
                <a:tc>
                  <a:txBody>
                    <a:bodyPr/>
                    <a:p>
                      <a:pPr algn="ctr">
                        <a:buNone/>
                      </a:pPr>
                      <a:endParaRPr lang="en-US" sz="2400">
                        <a:latin typeface="Times New Roman Regular" panose="02020603050405020304" charset="0"/>
                        <a:cs typeface="Times New Roman Regular" panose="02020603050405020304" charset="0"/>
                      </a:endParaRPr>
                    </a:p>
                  </a:txBody>
                  <a:tcPr anchor="ctr" anchorCtr="0"/>
                </a:tc>
                <a:tc>
                  <a:txBody>
                    <a:bodyPr/>
                    <a:p>
                      <a:pPr algn="ctr">
                        <a:buNone/>
                      </a:pPr>
                      <a:r>
                        <a:rPr lang="en-US" sz="2400">
                          <a:solidFill>
                            <a:schemeClr val="tx1"/>
                          </a:solidFill>
                          <a:latin typeface="Times New Roman Regular" panose="02020603050405020304" charset="0"/>
                          <a:cs typeface="Times New Roman Regular" panose="02020603050405020304" charset="0"/>
                        </a:rPr>
                        <a:t>Core Question</a:t>
                      </a:r>
                      <a:endParaRPr lang="en-US" sz="2400">
                        <a:solidFill>
                          <a:schemeClr val="tx1"/>
                        </a:solidFill>
                        <a:latin typeface="Times New Roman Regular" panose="02020603050405020304" charset="0"/>
                        <a:cs typeface="Times New Roman Regular" panose="02020603050405020304" charset="0"/>
                      </a:endParaRPr>
                    </a:p>
                  </a:txBody>
                  <a:tcPr anchor="ctr" anchorCtr="0"/>
                </a:tc>
                <a:tc>
                  <a:txBody>
                    <a:bodyPr/>
                    <a:p>
                      <a:pPr algn="ctr">
                        <a:buNone/>
                      </a:pPr>
                      <a:r>
                        <a:rPr lang="en-US" sz="2400">
                          <a:solidFill>
                            <a:schemeClr val="tx1"/>
                          </a:solidFill>
                          <a:latin typeface="Times New Roman Regular" panose="02020603050405020304" charset="0"/>
                          <a:cs typeface="Times New Roman Regular" panose="02020603050405020304" charset="0"/>
                          <a:sym typeface="+mn-ea"/>
                        </a:rPr>
                        <a:t>Main Solution</a:t>
                      </a:r>
                      <a:endParaRPr lang="en-US" sz="2400">
                        <a:solidFill>
                          <a:schemeClr val="tx1"/>
                        </a:solidFill>
                        <a:latin typeface="Times New Roman Regular" panose="02020603050405020304" charset="0"/>
                        <a:cs typeface="Times New Roman Regular" panose="02020603050405020304" charset="0"/>
                        <a:sym typeface="+mn-ea"/>
                      </a:endParaRPr>
                    </a:p>
                  </a:txBody>
                  <a:tcPr anchor="ctr" anchorCtr="0"/>
                </a:tc>
                <a:tc>
                  <a:txBody>
                    <a:bodyPr/>
                    <a:p>
                      <a:pPr algn="ctr">
                        <a:buNone/>
                      </a:pPr>
                      <a:r>
                        <a:rPr lang="en-US" sz="2400">
                          <a:solidFill>
                            <a:schemeClr val="tx1"/>
                          </a:solidFill>
                          <a:latin typeface="Times New Roman Regular" panose="02020603050405020304" charset="0"/>
                          <a:cs typeface="Times New Roman Regular" panose="02020603050405020304" charset="0"/>
                          <a:sym typeface="+mn-ea"/>
                        </a:rPr>
                        <a:t>Memory Scope</a:t>
                      </a:r>
                      <a:endParaRPr lang="en-US" sz="2400">
                        <a:solidFill>
                          <a:schemeClr val="tx1"/>
                        </a:solidFill>
                        <a:latin typeface="Times New Roman Regular" panose="02020603050405020304" charset="0"/>
                        <a:cs typeface="Times New Roman Regular" panose="02020603050405020304" charset="0"/>
                        <a:sym typeface="+mn-ea"/>
                      </a:endParaRPr>
                    </a:p>
                  </a:txBody>
                  <a:tcPr anchor="ctr" anchorCtr="0"/>
                </a:tc>
              </a:tr>
              <a:tr h="875665">
                <a:tc>
                  <a:txBody>
                    <a:bodyPr/>
                    <a:p>
                      <a:pPr algn="ctr">
                        <a:buNone/>
                      </a:pPr>
                      <a:r>
                        <a:rPr lang="en-US" sz="2400" b="1">
                          <a:latin typeface="Times New Roman Bold" panose="02020603050405020304" charset="0"/>
                          <a:cs typeface="Times New Roman Bold" panose="02020603050405020304" charset="0"/>
                        </a:rPr>
                        <a:t>ZeRO</a:t>
                      </a:r>
                      <a:endParaRPr lang="en-US" sz="2400" b="1">
                        <a:latin typeface="Times New Roman Bold" panose="02020603050405020304" charset="0"/>
                        <a:cs typeface="Times New Roman Bold" panose="02020603050405020304" charset="0"/>
                      </a:endParaRPr>
                    </a:p>
                  </a:txBody>
                  <a:tcPr anchor="ctr" anchorCtr="0"/>
                </a:tc>
                <a:tc>
                  <a:txBody>
                    <a:bodyPr/>
                    <a:p>
                      <a:pPr algn="ctr">
                        <a:buNone/>
                      </a:pPr>
                      <a:r>
                        <a:rPr lang="en-US" sz="2200">
                          <a:latin typeface="Times New Roman Regular" panose="02020603050405020304" charset="0"/>
                          <a:cs typeface="Times New Roman Regular" panose="02020603050405020304" charset="0"/>
                        </a:rPr>
                        <a:t>How to remove redundancy in DP?</a:t>
                      </a:r>
                      <a:endParaRPr lang="en-US" sz="2200">
                        <a:latin typeface="Times New Roman Regular" panose="02020603050405020304" charset="0"/>
                        <a:cs typeface="Times New Roman Regular" panose="02020603050405020304" charset="0"/>
                      </a:endParaRPr>
                    </a:p>
                  </a:txBody>
                  <a:tcPr anchor="ctr" anchorCtr="0"/>
                </a:tc>
                <a:tc>
                  <a:txBody>
                    <a:bodyPr/>
                    <a:p>
                      <a:pPr algn="ctr">
                        <a:buClrTx/>
                        <a:buSzTx/>
                        <a:buFontTx/>
                        <a:buNone/>
                      </a:pPr>
                      <a:r>
                        <a:rPr lang="en-US" sz="2200">
                          <a:latin typeface="Times New Roman Regular" panose="02020603050405020304" charset="0"/>
                          <a:cs typeface="Times New Roman Regular" panose="02020603050405020304" charset="0"/>
                        </a:rPr>
                        <a:t>Partition model states across GPUs</a:t>
                      </a:r>
                      <a:endParaRPr lang="en-US" sz="2200">
                        <a:latin typeface="Times New Roman Regular" panose="02020603050405020304" charset="0"/>
                        <a:cs typeface="Times New Roman Regular" panose="02020603050405020304" charset="0"/>
                      </a:endParaRPr>
                    </a:p>
                  </a:txBody>
                  <a:tcPr anchor="ctr" anchorCtr="0"/>
                </a:tc>
                <a:tc>
                  <a:txBody>
                    <a:bodyPr/>
                    <a:p>
                      <a:pPr algn="ctr">
                        <a:buClrTx/>
                        <a:buSzTx/>
                        <a:buFontTx/>
                        <a:buNone/>
                      </a:pPr>
                      <a:r>
                        <a:rPr lang="en-US" sz="2200">
                          <a:latin typeface="Times New Roman Regular" panose="02020603050405020304" charset="0"/>
                          <a:cs typeface="Times New Roman Regular" panose="02020603050405020304" charset="0"/>
                        </a:rPr>
                        <a:t>GPU</a:t>
                      </a:r>
                      <a:endParaRPr lang="en-US" sz="2200">
                        <a:latin typeface="Times New Roman Regular" panose="02020603050405020304" charset="0"/>
                        <a:cs typeface="Times New Roman Regular" panose="02020603050405020304" charset="0"/>
                      </a:endParaRPr>
                    </a:p>
                  </a:txBody>
                  <a:tcPr anchor="ctr" anchorCtr="0"/>
                </a:tc>
              </a:tr>
              <a:tr h="819785">
                <a:tc>
                  <a:txBody>
                    <a:bodyPr/>
                    <a:p>
                      <a:pPr algn="ctr">
                        <a:buNone/>
                      </a:pPr>
                      <a:r>
                        <a:rPr lang="en-US" sz="2400" b="1">
                          <a:latin typeface="Times New Roman Bold" panose="02020603050405020304" charset="0"/>
                          <a:cs typeface="Times New Roman Bold" panose="02020603050405020304" charset="0"/>
                        </a:rPr>
                        <a:t>ZeRO-Offload</a:t>
                      </a:r>
                      <a:endParaRPr lang="en-US" sz="2400" b="1">
                        <a:latin typeface="Times New Roman Bold" panose="02020603050405020304" charset="0"/>
                        <a:cs typeface="Times New Roman Bold" panose="02020603050405020304" charset="0"/>
                      </a:endParaRPr>
                    </a:p>
                  </a:txBody>
                  <a:tcPr anchor="ctr" anchorCtr="0"/>
                </a:tc>
                <a:tc>
                  <a:txBody>
                    <a:bodyPr/>
                    <a:p>
                      <a:pPr algn="ctr">
                        <a:buClrTx/>
                        <a:buSzTx/>
                        <a:buFontTx/>
                        <a:buNone/>
                      </a:pPr>
                      <a:r>
                        <a:rPr lang="en-US" sz="2200">
                          <a:latin typeface="Times New Roman Regular" panose="02020603050405020304" charset="0"/>
                          <a:cs typeface="Times New Roman Regular" panose="02020603050405020304" charset="0"/>
                        </a:rPr>
                        <a:t>How to train larger models with few GPUs?</a:t>
                      </a:r>
                      <a:endParaRPr lang="en-US" sz="2200">
                        <a:latin typeface="Times New Roman Regular" panose="02020603050405020304" charset="0"/>
                        <a:cs typeface="Times New Roman Regular" panose="02020603050405020304" charset="0"/>
                      </a:endParaRPr>
                    </a:p>
                  </a:txBody>
                  <a:tcPr anchor="ctr" anchorCtr="0"/>
                </a:tc>
                <a:tc>
                  <a:txBody>
                    <a:bodyPr/>
                    <a:p>
                      <a:pPr algn="ctr">
                        <a:buClrTx/>
                        <a:buSzTx/>
                        <a:buFontTx/>
                        <a:buNone/>
                      </a:pPr>
                      <a:r>
                        <a:rPr lang="en-US" sz="2200">
                          <a:latin typeface="Times New Roman Regular" panose="02020603050405020304" charset="0"/>
                          <a:cs typeface="Times New Roman Regular" panose="02020603050405020304" charset="0"/>
                        </a:rPr>
                        <a:t>Offload states and optimizer compute to CPU</a:t>
                      </a:r>
                      <a:endParaRPr lang="en-US" sz="2200">
                        <a:latin typeface="Times New Roman Regular" panose="02020603050405020304" charset="0"/>
                        <a:cs typeface="Times New Roman Regular" panose="02020603050405020304" charset="0"/>
                      </a:endParaRPr>
                    </a:p>
                  </a:txBody>
                  <a:tcPr anchor="ctr" anchorCtr="0"/>
                </a:tc>
                <a:tc>
                  <a:txBody>
                    <a:bodyPr/>
                    <a:p>
                      <a:pPr algn="ctr">
                        <a:buClrTx/>
                        <a:buSzTx/>
                        <a:buFontTx/>
                        <a:buNone/>
                      </a:pPr>
                      <a:r>
                        <a:rPr lang="en-US" sz="2200">
                          <a:latin typeface="Times New Roman Regular" panose="02020603050405020304" charset="0"/>
                          <a:cs typeface="Times New Roman Regular" panose="02020603050405020304" charset="0"/>
                        </a:rPr>
                        <a:t>GPU + CPU</a:t>
                      </a:r>
                      <a:endParaRPr lang="en-US" sz="2200">
                        <a:latin typeface="Times New Roman Regular" panose="02020603050405020304" charset="0"/>
                        <a:cs typeface="Times New Roman Regular" panose="02020603050405020304" charset="0"/>
                      </a:endParaRPr>
                    </a:p>
                  </a:txBody>
                  <a:tcPr anchor="ctr" anchorCtr="0"/>
                </a:tc>
              </a:tr>
              <a:tr h="819785">
                <a:tc>
                  <a:txBody>
                    <a:bodyPr/>
                    <a:p>
                      <a:pPr algn="ctr">
                        <a:buNone/>
                      </a:pPr>
                      <a:r>
                        <a:rPr lang="en-US" sz="2400" b="1">
                          <a:latin typeface="Times New Roman Bold" panose="02020603050405020304" charset="0"/>
                          <a:cs typeface="Times New Roman Bold" panose="02020603050405020304" charset="0"/>
                        </a:rPr>
                        <a:t>ZeRO-Infinity</a:t>
                      </a:r>
                      <a:endParaRPr lang="en-US" sz="2400" b="1">
                        <a:latin typeface="Times New Roman Bold" panose="02020603050405020304" charset="0"/>
                        <a:cs typeface="Times New Roman Bold" panose="02020603050405020304" charset="0"/>
                      </a:endParaRPr>
                    </a:p>
                  </a:txBody>
                  <a:tcPr anchor="ctr" anchorCtr="0"/>
                </a:tc>
                <a:tc>
                  <a:txBody>
                    <a:bodyPr/>
                    <a:p>
                      <a:pPr algn="ctr">
                        <a:buClrTx/>
                        <a:buSzTx/>
                        <a:buFontTx/>
                        <a:buNone/>
                      </a:pPr>
                      <a:r>
                        <a:rPr lang="en-US" sz="2200">
                          <a:latin typeface="Times New Roman Regular" panose="02020603050405020304" charset="0"/>
                          <a:cs typeface="Times New Roman Regular" panose="02020603050405020304" charset="0"/>
                        </a:rPr>
                        <a:t>How to go beyond aggregate GPU memory?</a:t>
                      </a:r>
                      <a:endParaRPr lang="en-US" sz="2200">
                        <a:latin typeface="Times New Roman Regular" panose="02020603050405020304" charset="0"/>
                        <a:cs typeface="Times New Roman Regular" panose="02020603050405020304" charset="0"/>
                      </a:endParaRPr>
                    </a:p>
                  </a:txBody>
                  <a:tcPr anchor="ctr" anchorCtr="0"/>
                </a:tc>
                <a:tc>
                  <a:txBody>
                    <a:bodyPr/>
                    <a:p>
                      <a:pPr algn="ctr">
                        <a:buClrTx/>
                        <a:buSzTx/>
                        <a:buFontTx/>
                        <a:buNone/>
                      </a:pPr>
                      <a:r>
                        <a:rPr lang="en-US" sz="2200">
                          <a:latin typeface="Times New Roman Regular" panose="02020603050405020304" charset="0"/>
                          <a:cs typeface="Times New Roman Regular" panose="02020603050405020304" charset="0"/>
                        </a:rPr>
                        <a:t>Use GPU + CPU + NVMe with hierarchical scheduling</a:t>
                      </a:r>
                      <a:endParaRPr lang="en-US" sz="2200">
                        <a:latin typeface="Times New Roman Regular" panose="02020603050405020304" charset="0"/>
                        <a:cs typeface="Times New Roman Regular" panose="02020603050405020304" charset="0"/>
                      </a:endParaRPr>
                    </a:p>
                  </a:txBody>
                  <a:tcPr anchor="ctr" anchorCtr="0"/>
                </a:tc>
                <a:tc>
                  <a:txBody>
                    <a:bodyPr/>
                    <a:p>
                      <a:pPr algn="ctr">
                        <a:buClrTx/>
                        <a:buSzTx/>
                        <a:buFontTx/>
                        <a:buNone/>
                      </a:pPr>
                      <a:r>
                        <a:rPr lang="en-US" sz="2200">
                          <a:latin typeface="Times New Roman Regular" panose="02020603050405020304" charset="0"/>
                          <a:cs typeface="Times New Roman Regular" panose="02020603050405020304" charset="0"/>
                        </a:rPr>
                        <a:t>GPU + CPU + NVMe</a:t>
                      </a:r>
                      <a:endParaRPr lang="en-US" sz="2200">
                        <a:latin typeface="Times New Roman Regular" panose="02020603050405020304" charset="0"/>
                        <a:cs typeface="Times New Roman Regular" panose="02020603050405020304" charset="0"/>
                      </a:endParaRPr>
                    </a:p>
                  </a:txBody>
                  <a:tcPr anchor="ctr" anchorCtr="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655" y="144780"/>
            <a:ext cx="10517505" cy="692150"/>
          </a:xfrm>
        </p:spPr>
        <p:txBody>
          <a:bodyPr/>
          <a:lstStyle/>
          <a:p>
            <a:r>
              <a:rPr lang="en-US" altLang="zh-CN" sz="3600" dirty="0"/>
              <a:t>Conclusions (2/2)</a:t>
            </a:r>
            <a:endParaRPr lang="en-US" altLang="zh-CN" sz="36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365760" y="1466215"/>
            <a:ext cx="10617835" cy="334581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0"/>
            <a:r>
              <a:rPr lang="en-US" altLang="zh-CN" sz="2400" b="1" kern="0" dirty="0">
                <a:latin typeface="Times New Roman Bold" panose="02020603050405020304" charset="0"/>
                <a:cs typeface="Times New Roman Bold" panose="02020603050405020304" charset="0"/>
                <a:sym typeface="+mn-ea"/>
              </a:rPr>
              <a:t>Key takeaways</a:t>
            </a:r>
            <a:endParaRPr lang="en-US" altLang="zh-CN" sz="24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Large-model training is limited not only by compute, but also by memory organization.</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Efficient training requires reducing redundancy and coordinating heterogeneous memory.</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System design can greatly improve both model scale and accessibility.</a:t>
            </a:r>
            <a:endParaRPr lang="en-US" altLang="zh-CN" sz="2200" kern="0" dirty="0">
              <a:latin typeface="Times New Roman" panose="02020603050405020304" pitchFamily="18" charset="0"/>
              <a:cs typeface="Times New Roman" panose="02020603050405020304" pitchFamily="18" charset="0"/>
              <a:sym typeface="+mn-ea"/>
            </a:endParaRPr>
          </a:p>
          <a:p>
            <a:pPr lvl="0"/>
            <a:endParaRPr lang="en-US" altLang="zh-CN" sz="2400" kern="0" dirty="0">
              <a:latin typeface="Times New Roman" panose="02020603050405020304" pitchFamily="18" charset="0"/>
              <a:cs typeface="Times New Roman" panose="02020603050405020304" pitchFamily="18" charset="0"/>
              <a:sym typeface="+mn-ea"/>
            </a:endParaRPr>
          </a:p>
          <a:p>
            <a:pPr lvl="0"/>
            <a:r>
              <a:rPr lang="en-US" altLang="zh-CN" sz="2400" b="1" kern="0" dirty="0">
                <a:latin typeface="Times New Roman Bold" panose="02020603050405020304" charset="0"/>
                <a:cs typeface="Times New Roman Bold" panose="02020603050405020304" charset="0"/>
                <a:sym typeface="+mn-ea"/>
              </a:rPr>
              <a:t>Impact of the ZeRO series</a:t>
            </a:r>
            <a:endParaRPr lang="en-US" altLang="zh-CN" sz="2400" b="1" kern="0" dirty="0">
              <a:latin typeface="Times New Roman Bold" panose="02020603050405020304" charset="0"/>
              <a:cs typeface="Times New Roman Bold" panose="02020603050405020304"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Enables training from 100B+ scale to trillion-scale and beyond</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Reduces dependence on complex model refactoring</a:t>
            </a:r>
            <a:endParaRPr lang="en-US" altLang="zh-CN" sz="2200" kern="0" dirty="0">
              <a:latin typeface="Times New Roman" panose="02020603050405020304" pitchFamily="18" charset="0"/>
              <a:cs typeface="Times New Roman" panose="02020603050405020304" pitchFamily="18" charset="0"/>
              <a:sym typeface="+mn-ea"/>
            </a:endParaRPr>
          </a:p>
          <a:p>
            <a:pPr lvl="1"/>
            <a:r>
              <a:rPr lang="en-US" altLang="zh-CN" sz="2200" kern="0" dirty="0">
                <a:latin typeface="Times New Roman" panose="02020603050405020304" pitchFamily="18" charset="0"/>
                <a:cs typeface="Times New Roman" panose="02020603050405020304" pitchFamily="18" charset="0"/>
                <a:sym typeface="+mn-ea"/>
              </a:rPr>
              <a:t>Makes large-model training more accessible to researchers with limited hardware</a:t>
            </a:r>
            <a:endParaRPr lang="en-US" altLang="zh-CN" sz="2200" kern="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Content Placeholder 2"/>
          <p:cNvSpPr>
            <a:spLocks noGrp="1"/>
          </p:cNvSpPr>
          <p:nvPr/>
        </p:nvSpPr>
        <p:spPr>
          <a:xfrm>
            <a:off x="609600" y="2673350"/>
            <a:ext cx="10722610" cy="183197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itchFamily="34" charset="0"/>
                <a:ea typeface="標楷體" panose="02010601000101010101"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itchFamily="34" charset="0"/>
                <a:ea typeface="標楷體" panose="02010601000101010101"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itchFamily="34" charset="0"/>
                <a:ea typeface="標楷體" panose="02010601000101010101" pitchFamily="65" charset="-120"/>
                <a:cs typeface="Calibri"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itchFamily="34" charset="0"/>
                <a:ea typeface="標楷體" panose="02010601000101010101" pitchFamily="65" charset="-120"/>
                <a:cs typeface="Calibri"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itchFamily="34" charset="0"/>
                <a:ea typeface="標楷體" panose="02010601000101010101" pitchFamily="65" charset="-120"/>
                <a:cs typeface="Calibri"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lvl="0" indent="0" algn="ctr">
              <a:buNone/>
            </a:pPr>
            <a:r>
              <a:rPr lang="en-US" altLang="zh-CN" sz="7200" b="1" dirty="0">
                <a:solidFill>
                  <a:schemeClr val="tx1"/>
                </a:solidFill>
                <a:effectLst>
                  <a:outerShdw blurRad="50800" dist="38100" dir="5400000" algn="t" rotWithShape="0">
                    <a:prstClr val="black">
                      <a:alpha val="40000"/>
                    </a:prstClr>
                  </a:outerShdw>
                </a:effectLst>
                <a:ea typeface="微软雅黑" charset="-122"/>
                <a:cs typeface="Calibri" pitchFamily="34" charset="0"/>
                <a:sym typeface="+mn-ea"/>
              </a:rPr>
              <a:t>Thanks for Listening !</a:t>
            </a:r>
            <a:endParaRPr lang="en-US" altLang="zh-CN" sz="7200" b="1" dirty="0">
              <a:solidFill>
                <a:schemeClr val="tx1"/>
              </a:solidFill>
              <a:effectLst>
                <a:outerShdw blurRad="50800" dist="38100" dir="5400000" algn="t" rotWithShape="0">
                  <a:prstClr val="black">
                    <a:alpha val="40000"/>
                  </a:prstClr>
                </a:outerShdw>
              </a:effectLst>
              <a:latin typeface="Times New Roman" panose="02020603050405020304" pitchFamily="18" charset="0"/>
              <a:ea typeface="微软雅黑" charset="-122"/>
              <a:cs typeface="Calibri" pitchFamily="34" charset="0"/>
              <a:sym typeface="+mn-ea"/>
            </a:endParaRPr>
          </a:p>
        </p:txBody>
      </p:sp>
    </p:spTree>
  </p:cSld>
  <p:clrMapOvr>
    <a:masterClrMapping/>
  </p:clrMapOvr>
</p:sld>
</file>

<file path=ppt/tags/tag1.xml><?xml version="1.0" encoding="utf-8"?>
<p:tagLst xmlns:p="http://schemas.openxmlformats.org/presentationml/2006/main">
  <p:tag name="TABLE_ENDDRAG_ORIGIN_RECT" val="850*246"/>
  <p:tag name="TABLE_ENDDRAG_RECT" val="42*128*850*246"/>
</p:tagLst>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defRPr>
        </a:defPPr>
      </a:lstStyle>
    </a:lnDef>
    <a:txDef>
      <a:spPr>
        <a:noFill/>
      </a:spPr>
      <a:bodyPr wrap="none" rtlCol="0" anchor="ctr" anchorCtr="1">
        <a:spAutoFit/>
      </a:bodyPr>
      <a:lstStyle>
        <a:defPPr>
          <a:defRPr dirty="0" smtClean="0">
            <a:ea typeface="標楷體" panose="02010601000101010101"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9916</Words>
  <Application>WPS Writer</Application>
  <PresentationFormat>宽屏</PresentationFormat>
  <Paragraphs>438</Paragraphs>
  <Slides>35</Slides>
  <Notes>14</Notes>
  <HiddenSlides>0</HiddenSlides>
  <MMClips>0</MMClips>
  <ScaleCrop>false</ScaleCrop>
  <HeadingPairs>
    <vt:vector size="6" baseType="variant">
      <vt:variant>
        <vt:lpstr>已用的字体</vt:lpstr>
      </vt:variant>
      <vt:variant>
        <vt:i4>28</vt:i4>
      </vt:variant>
      <vt:variant>
        <vt:lpstr>主题</vt:lpstr>
      </vt:variant>
      <vt:variant>
        <vt:i4>2</vt:i4>
      </vt:variant>
      <vt:variant>
        <vt:lpstr>幻灯片标题</vt:lpstr>
      </vt:variant>
      <vt:variant>
        <vt:i4>35</vt:i4>
      </vt:variant>
    </vt:vector>
  </HeadingPairs>
  <TitlesOfParts>
    <vt:vector size="65" baseType="lpstr">
      <vt:lpstr>Arial</vt:lpstr>
      <vt:lpstr>宋体</vt:lpstr>
      <vt:lpstr>Wingdings</vt:lpstr>
      <vt:lpstr>PMingLiU</vt:lpstr>
      <vt:lpstr>宋体-繁</vt:lpstr>
      <vt:lpstr>標楷體</vt:lpstr>
      <vt:lpstr>Calibri</vt:lpstr>
      <vt:lpstr>Helvetica Neue</vt:lpstr>
      <vt:lpstr>楷体</vt:lpstr>
      <vt:lpstr>Times New Roman</vt:lpstr>
      <vt:lpstr>DengXian</vt:lpstr>
      <vt:lpstr>MS Sans Serif</vt:lpstr>
      <vt:lpstr>Times New Roman Bold</vt:lpstr>
      <vt:lpstr>Times New Roman Bold Italic</vt:lpstr>
      <vt:lpstr>Thonburi</vt:lpstr>
      <vt:lpstr>微软雅黑</vt:lpstr>
      <vt:lpstr>汉仪旗黑</vt:lpstr>
      <vt:lpstr>宋体</vt:lpstr>
      <vt:lpstr>Arial Unicode MS</vt:lpstr>
      <vt:lpstr>汉仪楷体KW</vt:lpstr>
      <vt:lpstr>汉仪中等线KW</vt:lpstr>
      <vt:lpstr>PMingLiU</vt:lpstr>
      <vt:lpstr>Calibri Light</vt:lpstr>
      <vt:lpstr>等线</vt:lpstr>
      <vt:lpstr>汉仪书宋二KW</vt:lpstr>
      <vt:lpstr>Times New Roman Italic</vt:lpstr>
      <vt:lpstr>Times New Roman Regular</vt:lpstr>
      <vt:lpstr>DejaVuMathTeXGyre</vt:lpstr>
      <vt:lpstr>NTHU UniCloud</vt:lpstr>
      <vt:lpstr>自訂設計</vt:lpstr>
      <vt:lpstr>Memory-Efficient Large Model Training: From ZeRo to ZeRO-Infinity  2026.03.19</vt:lpstr>
      <vt:lpstr>Outline</vt:lpstr>
      <vt:lpstr>Outline</vt:lpstr>
      <vt:lpstr>Introduction  (1/3)</vt:lpstr>
      <vt:lpstr>Introduction (2/3)</vt:lpstr>
      <vt:lpstr>Introduction (3/3)</vt:lpstr>
      <vt:lpstr>Outline</vt:lpstr>
      <vt:lpstr>Background (1/5)</vt:lpstr>
      <vt:lpstr>Background: Data Parallelism (2/5)</vt:lpstr>
      <vt:lpstr>PowerPoint 演示文稿</vt:lpstr>
      <vt:lpstr>PowerPoint 演示文稿</vt:lpstr>
      <vt:lpstr>Background: Early Heterogeneous Training (5/5)</vt:lpstr>
      <vt:lpstr>Outline</vt:lpstr>
      <vt:lpstr>Outline</vt:lpstr>
      <vt:lpstr>ZeRO (1/6)</vt:lpstr>
      <vt:lpstr>ZeRO (2/6)</vt:lpstr>
      <vt:lpstr>ZeRO (3/6)</vt:lpstr>
      <vt:lpstr>ZeRO (4/6)</vt:lpstr>
      <vt:lpstr>ZeRO (5/6)</vt:lpstr>
      <vt:lpstr>ZeRO (6/6)</vt:lpstr>
      <vt:lpstr>Outline</vt:lpstr>
      <vt:lpstr>ZeRO-Offload (1/5)</vt:lpstr>
      <vt:lpstr>ZeRO-Offload (2/5)</vt:lpstr>
      <vt:lpstr>ZeRO-Offload (3/5)</vt:lpstr>
      <vt:lpstr>ZeRO-Offload (4/5)</vt:lpstr>
      <vt:lpstr>ZeRO-Offload (5/5)</vt:lpstr>
      <vt:lpstr>Outline</vt:lpstr>
      <vt:lpstr>ZeRO-Infinity (1/4)</vt:lpstr>
      <vt:lpstr>ZeRO-Infinity (2/4)</vt:lpstr>
      <vt:lpstr>ZeRO-Infinity (3/4)</vt:lpstr>
      <vt:lpstr>ZeRO-Infinity (4/4)</vt:lpstr>
      <vt:lpstr>Outline</vt:lpstr>
      <vt:lpstr>Conclusions (1/2)</vt:lpstr>
      <vt:lpstr>Conclusions (2/2)</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O.G</cp:lastModifiedBy>
  <cp:revision>76</cp:revision>
  <dcterms:created xsi:type="dcterms:W3CDTF">2026-03-19T05:14:58Z</dcterms:created>
  <dcterms:modified xsi:type="dcterms:W3CDTF">2026-03-19T05:14:58Z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C8450A7EC0CA67C64584BB69EABB7ED6_43</vt:lpwstr>
  </property>
  <property fmtid="{D5CDD505-2E9C-101B-9397-08002B2CF9AE}" pid="3" name="KSOProductBuildVer">
    <vt:lpwstr>1033-6.0.0.8068</vt:lpwstr>
  </property>
</Properties>
</file>