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sldIdLst>
    <p:sldId id="256" r:id="rId4"/>
    <p:sldId id="529" r:id="rId6"/>
    <p:sldId id="598" r:id="rId7"/>
    <p:sldId id="612" r:id="rId8"/>
    <p:sldId id="600" r:id="rId9"/>
    <p:sldId id="599" r:id="rId10"/>
    <p:sldId id="517" r:id="rId11"/>
    <p:sldId id="570" r:id="rId12"/>
    <p:sldId id="601" r:id="rId13"/>
    <p:sldId id="532" r:id="rId14"/>
    <p:sldId id="613" r:id="rId15"/>
    <p:sldId id="615" r:id="rId16"/>
    <p:sldId id="575" r:id="rId17"/>
    <p:sldId id="606" r:id="rId18"/>
    <p:sldId id="607" r:id="rId19"/>
    <p:sldId id="602" r:id="rId20"/>
    <p:sldId id="533" r:id="rId21"/>
    <p:sldId id="582" r:id="rId22"/>
    <p:sldId id="597" r:id="rId23"/>
    <p:sldId id="584" r:id="rId24"/>
    <p:sldId id="616" r:id="rId25"/>
    <p:sldId id="609" r:id="rId26"/>
    <p:sldId id="603" r:id="rId27"/>
    <p:sldId id="587" r:id="rId28"/>
    <p:sldId id="593" r:id="rId29"/>
    <p:sldId id="588" r:id="rId30"/>
    <p:sldId id="611" r:id="rId31"/>
    <p:sldId id="610" r:id="rId32"/>
    <p:sldId id="604" r:id="rId33"/>
    <p:sldId id="564" r:id="rId34"/>
    <p:sldId id="605" r:id="rId3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97" autoAdjust="0"/>
    <p:restoredTop sz="93438" autoAdjust="0"/>
  </p:normalViewPr>
  <p:slideViewPr>
    <p:cSldViewPr snapToGrid="0">
      <p:cViewPr varScale="1">
        <p:scale>
          <a:sx n="59" d="100"/>
          <a:sy n="59" d="100"/>
        </p:scale>
        <p:origin x="1264" y="52"/>
      </p:cViewPr>
      <p:guideLst/>
    </p:cSldViewPr>
  </p:slideViewPr>
  <p:notesTextViewPr>
    <p:cViewPr>
      <p:scale>
        <a:sx n="155" d="100"/>
        <a:sy n="155"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Good</a:t>
            </a:r>
            <a:r>
              <a:rPr kumimoji="1" lang="zh-CN" altLang="en-US" dirty="0"/>
              <a:t> </a:t>
            </a:r>
            <a:r>
              <a:rPr kumimoji="1" lang="en-US" altLang="zh-CN" dirty="0"/>
              <a:t>afternoon</a:t>
            </a:r>
            <a:r>
              <a:rPr kumimoji="1" lang="zh-CN" altLang="en-US" dirty="0"/>
              <a:t> </a:t>
            </a:r>
            <a:r>
              <a:rPr kumimoji="1" lang="en-US" altLang="zh-CN" dirty="0"/>
              <a:t>everyone,</a:t>
            </a:r>
            <a:r>
              <a:rPr kumimoji="1" lang="zh-CN" altLang="en-US" dirty="0"/>
              <a:t> </a:t>
            </a:r>
            <a:r>
              <a:rPr kumimoji="1" lang="en-US" altLang="zh-CN" dirty="0"/>
              <a:t>My</a:t>
            </a:r>
            <a:r>
              <a:rPr kumimoji="1" lang="zh-CN" altLang="en-US" dirty="0"/>
              <a:t> </a:t>
            </a:r>
            <a:r>
              <a:rPr kumimoji="1" lang="en-US" altLang="zh-CN" dirty="0"/>
              <a:t>name</a:t>
            </a:r>
            <a:r>
              <a:rPr kumimoji="1" lang="zh-CN" altLang="en-US" dirty="0"/>
              <a:t> </a:t>
            </a:r>
            <a:r>
              <a:rPr kumimoji="1" lang="en-US" altLang="zh-CN" dirty="0"/>
              <a:t>is</a:t>
            </a:r>
            <a:r>
              <a:rPr kumimoji="1" lang="zh-CN" altLang="en-US" dirty="0"/>
              <a:t> </a:t>
            </a:r>
            <a:r>
              <a:rPr kumimoji="1" lang="en-US" altLang="zh-CN" dirty="0"/>
              <a:t>Li Cheng, and my</a:t>
            </a:r>
            <a:r>
              <a:rPr kumimoji="1" lang="zh-CN" altLang="en-US" dirty="0"/>
              <a:t> </a:t>
            </a:r>
            <a:r>
              <a:rPr kumimoji="1" lang="en-US" altLang="zh-CN" dirty="0"/>
              <a:t>topic</a:t>
            </a:r>
            <a:r>
              <a:rPr kumimoji="1" lang="zh-CN" altLang="en-US" dirty="0"/>
              <a:t> </a:t>
            </a:r>
            <a:r>
              <a:rPr kumimoji="1" lang="en-US" altLang="zh-CN" dirty="0"/>
              <a:t>for</a:t>
            </a:r>
            <a:r>
              <a:rPr kumimoji="1" lang="zh-CN" altLang="en-US" dirty="0"/>
              <a:t> </a:t>
            </a:r>
            <a:r>
              <a:rPr kumimoji="1" lang="en-US" altLang="zh-CN" dirty="0"/>
              <a:t>today’s</a:t>
            </a:r>
            <a:r>
              <a:rPr kumimoji="1" lang="zh-CN" altLang="en-US" dirty="0"/>
              <a:t> </a:t>
            </a:r>
            <a:r>
              <a:rPr kumimoji="1" lang="en-US" altLang="zh-CN" dirty="0"/>
              <a:t>presentation</a:t>
            </a:r>
            <a:r>
              <a:rPr kumimoji="1" lang="zh-CN" altLang="en-US" dirty="0"/>
              <a:t> </a:t>
            </a:r>
            <a:r>
              <a:rPr kumimoji="1" lang="en-US" altLang="zh-CN" dirty="0"/>
              <a:t>is:</a:t>
            </a:r>
            <a:r>
              <a:rPr kumimoji="1" lang="zh-CN" altLang="en-US" dirty="0"/>
              <a:t> </a:t>
            </a:r>
            <a:r>
              <a:rPr kumimoji="1" lang="en-US" altLang="zh-CN" dirty="0"/>
              <a:t>From MicroVMs to Userspace MicroKernels: Rethinking Isolation Boundaries in Cloud-Native Systems.</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This is today’s outline and</a:t>
            </a:r>
            <a:r>
              <a:rPr lang="zh-CN" altLang="en-US" dirty="0"/>
              <a:t> </a:t>
            </a:r>
            <a:r>
              <a:rPr lang="en-US" dirty="0"/>
              <a:t>I will analyze 3 papers about this topic: the Firecracker, the SURE and the LITESHIELD.</a:t>
            </a:r>
            <a:endParaRPr 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So lets first move on to the introduction.</a:t>
            </a:r>
            <a:endParaRPr 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Lets briefly review the mainstream cloud-native stack first.</a:t>
            </a:r>
            <a:endParaRPr kumimoji="1" lang="en-US" altLang="zh-CN" dirty="0"/>
          </a:p>
          <a:p>
            <a:r>
              <a:rPr kumimoji="1" lang="en-US" altLang="zh-CN" dirty="0"/>
              <a:t>In practice, today’s cloud platforms combine virtual machines, containers, orchestration frameworks, microservices, and serverless execution.</a:t>
            </a:r>
            <a:endParaRPr kumimoji="1" lang="en-US" altLang="zh-CN" dirty="0"/>
          </a:p>
          <a:p>
            <a:r>
              <a:rPr kumimoji="1" lang="en-US" altLang="zh-CN" dirty="0"/>
              <a:t>They are rarely built from just one abstraction. Instead, they are layered systems.</a:t>
            </a:r>
            <a:endParaRPr kumimoji="1" lang="en-US" altLang="zh-CN" dirty="0"/>
          </a:p>
          <a:p>
            <a:r>
              <a:rPr kumimoji="1" lang="en-US" altLang="zh-CN" dirty="0"/>
              <a:t>At the lower level we still have hardware, virtualization, and virtual machines. On top of that we have containers and container runtimes. Then orchestration systems such as Kubernetes which manage deployment and scaling. At the application level, many systems are built as microservices, and some of these workloads are expressed through serverless or Function-as-a-Service platforms.</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Then we move on to the next part: backgroud and motivation.</a:t>
            </a:r>
            <a:endParaRPr 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 cloud-native systems, the ideal isolation substrate needs to satisfy several requirements at the same time.</a:t>
            </a:r>
            <a:endParaRPr kumimoji="1" lang="en-US" altLang="zh-CN" dirty="0"/>
          </a:p>
          <a:p>
            <a:r>
              <a:rPr kumimoji="1" lang="en-US" altLang="zh-CN" dirty="0"/>
              <a:t>It must provide strong isolation for multi-tenancy, fast startup for elastic scale-out, high density for cost efficiency, and low-latency communication for microservice chains.</a:t>
            </a:r>
            <a:endParaRPr kumimoji="1" lang="en-US" altLang="zh-CN" dirty="0"/>
          </a:p>
          <a:p>
            <a:r>
              <a:rPr kumimoji="1" lang="en-US" altLang="zh-CN" dirty="0"/>
              <a:t>But in reality, these goals often conflict with one another.</a:t>
            </a:r>
            <a:endParaRPr kumimoji="1" lang="en-US" altLang="zh-CN" dirty="0"/>
          </a:p>
          <a:p>
            <a:r>
              <a:rPr kumimoji="1" lang="en-US" altLang="zh-CN" dirty="0"/>
              <a:t>Traditional solutions force tradeoffs between security and efficiency, so there is a central question: where should isolation boundaries be defined to achieve better security and efficiency?</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 very common pattern in cloud-native systems was the following: services or functions were packaged in containers, and in public clouds those containers were often placed inside VMs for stronger tenant isolation. Communication between services relied on traditional kernel networking.</a:t>
            </a:r>
            <a:endParaRPr kumimoji="1" lang="en-US" altLang="zh-CN" dirty="0"/>
          </a:p>
          <a:p>
            <a:r>
              <a:rPr kumimoji="1" lang="en-US" altLang="zh-CN" dirty="0"/>
              <a:t>This deployment model made a lot of sense historically. Containers were lightweight and easy to manage, while virtual machines gave stronger isolation. But the downside is that once a request travels through a chain of functions or microservices, it repeatedly crosses many software layers.</a:t>
            </a:r>
            <a:endParaRPr kumimoji="1" lang="en-US" altLang="zh-CN" dirty="0"/>
          </a:p>
          <a:p>
            <a:r>
              <a:rPr kumimoji="1" lang="en-US" altLang="zh-CN" dirty="0"/>
              <a:t>So there is a problem that not any single mechanism is bad. The problem is composition. Cloud-native systems compose many individually reasonable mechanisms, but the combined overhead becomes significant.</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From a security perspective, existing cloud-native systems already faced a series of difficult tradeoffs.</a:t>
            </a:r>
            <a:endParaRPr kumimoji="1" lang="en-US" altLang="zh-CN" dirty="0"/>
          </a:p>
          <a:p>
            <a:r>
              <a:rPr kumimoji="1" lang="en-US" altLang="zh-CN" dirty="0"/>
              <a:t>Containers are lightweight, but they rely on a shared host kernel, which means the host-kernel interface becomes part of the attack surface. Syscall filtering and similar techniques can shrink that surface, but they often create compatibility problems because it is difficult to know in advance exactly which syscalls a real application needs.</a:t>
            </a:r>
            <a:endParaRPr kumimoji="1" lang="en-US" altLang="zh-CN" dirty="0"/>
          </a:p>
          <a:p>
            <a:r>
              <a:rPr kumimoji="1" lang="en-US" altLang="zh-CN" dirty="0"/>
              <a:t>Virtual machines solve part of this problem by moving the isolation boundary to a hardware virtualization layer. That gives a stronger security boundary, but the trusted computing base becomes larger because we need to keep guest kernels, hypervisors, and device emulation logic. Unikernels can reduce footprint and simplify the guest side, but then another problem appears: because everything lives in one address space, internal isolation becomes harder.</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To address these problems, lets start with firecracker.</a:t>
            </a:r>
            <a:endParaRPr 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Firecracker starts from a production problem rather than a purely academic one. It was designed by AWS to support running large numbers of serverless workloads from many customers on shared hardware, without accepting the security limitations of plain containers.</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 paper argues that containers force a difficult tradeoff: if we restrict the kernel interface for security, we risk breaking compatibility with real applications; if we keep compatibility broad, we expose a larger attack surface.</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And Firecracker does not present virtualization as an academic preference. It presents virtualization as the practical way to get both strong isolation and broad compatibility. But the challenge is that traditional virtualization is too heavy for serverless. So Firecracker’s real goal is to make virtual machines practical for serverless to achieve stronger isolation and better performance.</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 design philosophy of Firecracker is highly deliberate. It keeps KVM (Kernel-based virtual machine) because KVM gives a mature and hardware virtualization substrate. What it rejects is the idea that a serverless platform should depend on a large, feature-complete VMM (Virtual Machine Monitor) like QEMU. So Firecracker replaces QEMU with a much smaller implementation focused only on the features needed for container and serverless workloads.</a:t>
            </a:r>
            <a:endParaRPr kumimoji="1" lang="en-US" altLang="zh-CN" dirty="0"/>
          </a:p>
          <a:p>
            <a:r>
              <a:rPr kumimoji="1" lang="en-US" altLang="zh-CN" dirty="0"/>
              <a:t>Firecracker is not merely an optimization of existing virtualization. It is a statement that specialization can be a security strategy and a performance strategy at the same time. By implementing much less, Firecracker both reduces attack surface and shortens the path to fast startup and low memory overhead.</a:t>
            </a:r>
            <a:endParaRPr kumimoji="1" lang="en-US" altLang="zh-CN" dirty="0"/>
          </a:p>
          <a:p>
            <a:r>
              <a:rPr kumimoji="1" lang="en-US" altLang="zh-CN" dirty="0">
                <a:sym typeface="+mn-ea"/>
              </a:rPr>
              <a:t>Firecracker is notable not only for what it includes, but for what it refuses to include. It supports only a very small set of devices and features that are relevant to typical serverless workloads. It excludes BIOS support, PCI, legacy device emulation, and VM migration.</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This is where Firecracker becomes especially convincing, because the paper does not stop at the VMM design. It shows how Firecracker is used inside AWS Lambda. Each MicroVM effectively becomes the slot-level security boundary. Workers can run many MicroVM-based slots, and the surrounding system manages placement, slot reuse, and a pool of pre-booted MicroVMs.</a:t>
            </a:r>
            <a:endParaRPr kumimoji="1" lang="en-US" altLang="zh-CN" dirty="0"/>
          </a:p>
          <a:p>
            <a:r>
              <a:rPr kumimoji="1" lang="en-US" altLang="zh-CN" dirty="0"/>
              <a:t>What I think is important here is that Firecracker is not presented as a standalone research prototype. It is a production isolation primitive. That matters because it changes how we interpret its design decisions. For example, the REST API and the one-process-per-VM model are not just engineering choices; they reflect operational priorities like lifecycle control and safe integration into a large-scale serverless control plane.</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 results explain why Firecracker had such a strong impact. The paper reports less than five megabytes of memory overhead, boot to application code in less than 125 milliseconds, and up to 150 MicroVM creations per second per host. These numbers show that virtualization can become light enough to participate in serverless-scale operations. The paper also makes it clear that Firecracker is already used in Lambda and Fargate in production, which gives the evaluation additional practical weight.</a:t>
            </a:r>
            <a:endParaRPr kumimoji="1" lang="en-US" altLang="zh-CN" dirty="0"/>
          </a:p>
          <a:p>
            <a:r>
              <a:rPr kumimoji="1" lang="en-US" altLang="zh-CN" dirty="0"/>
              <a:t>My takeaway is that Firecracker solves the first major problem in this space: it makes virtual machine isolation practical enough that public serverless platforms do not have to choose between strong isolation and usable efficiency. At the same time, I would also say that Firecracker mainly solves the outer sandbox problem. It does not yet solve the communication path or the internal trust structure inside the sandbox. That is exactly where SURE begins.</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Then we move on to the SURE, </a:t>
            </a:r>
            <a:r>
              <a:rPr lang="en-US" dirty="0"/>
              <a:t>which means Secure Unikernels that are Rapid and Efficient.</a:t>
            </a:r>
            <a:endParaRPr 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SURE shifts the focus to a different bottleneck. Its argument is that even if we make the sandbox lightweight, serverless systems still suffer from major overhead in the communication path. Cold start</a:t>
            </a:r>
            <a:r>
              <a:rPr lang="en-US" altLang="zh-CN" dirty="0"/>
              <a:t>s remain important, but it is no longer the whole story. Kernel-based inter-function networking is still expensive and heavyweight sidecars still add overhead. And if we use a unikernel, we also have to deal with the fact that trusted runtime components and user code may live in the same address space.</a:t>
            </a:r>
            <a:endParaRPr lang="en-US" altLang="zh-CN" dirty="0"/>
          </a:p>
          <a:p>
            <a:r>
              <a:rPr lang="en-US" altLang="zh-CN" dirty="0"/>
              <a:t>It says that serverless efficiency depends on the entire runtime and data-plane design.</a:t>
            </a: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slide shows the overall architecture of SURE. Each function runs as an individual unikernel-based VM, which means SURE still preserves a VM-style function-level sandbox. But unlike a simple unikernel approach, SURE redesigns almost everything around the function. It adds a distributed zero-copy data plane, a per-node gateway, a library-based sidecar, and MPK-based call gates to protect sensitive runtime components and data.</a:t>
            </a:r>
            <a:endParaRPr lang="en-US" altLang="zh-CN" dirty="0"/>
          </a:p>
          <a:p>
            <a:r>
              <a:rPr lang="en-US" altLang="zh-CN" dirty="0"/>
              <a:t>SURE does not abandon strong external isolation. It still uses a VM-based boundary for each function. But inside and around that boundary, it optimizes the communication and control path. This is what makes SURE interesting: it is not choosing between security and performance. It is trying to co-design them.</a:t>
            </a: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one of the central technical ideas in SURE. When two functions are co-located and trusted, SURE uses shared memory to enable zero-copy communication. When communication crosses security domains or nodes, the SURE gateway mediates the transfer, and Z-stack extends the design into userspace TCP/IP processing. The system also adds connection contexts, signaling rings, and back-pressure to support reliable and ordered communication.</a:t>
            </a:r>
            <a:endParaRPr lang="en-US" altLang="zh-CN" dirty="0"/>
          </a:p>
          <a:p>
            <a:endParaRPr lang="en-US" altLang="zh-CN" dirty="0"/>
          </a:p>
          <a:p>
            <a:r>
              <a:rPr lang="en-US" altLang="zh-CN" dirty="0"/>
              <a:t>SURE is not satisfied with an intra-node optimization. Many previous designs make zero-copy communication look impressive, but only within one machine. SURE argues that real cloud-native workloads are distributed and that cross-node communication cannot be ignored. So it tries to extend zero-copy thinking beyond the node boundary.</a:t>
            </a: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security part of SURE. Unikernels are fast because they eliminate the conventional kernel-userspace boundary, but the downside is that trusted components of the runtime and untrusted user code share the same address space. SURE uses Intel MPK to protect sensitive memory pages and introduces call gates so that user code can interact with protected runtime functionality in a controlled way.</a:t>
            </a: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SURE’s MPK isolation is not just a lightweight memory-protection trick. It is a full execution protocol inside the unikernel. When user code is running, all protected pages are inaccessible. If user code needs to access privileged runtime functionality, such as NetIO library, it must go through an MPK-based call gate. The call gate temporarily enables access to protected pages, switches execution to a protected stack, and invokes the privileged TCB function. If a message buffer is transferred to the user, SURE does not copy the data. Instead, it dynamically retags the corresponding page from protected to unprotected by updating the MPK key in the </a:t>
            </a:r>
            <a:r>
              <a:rPr lang="en-US" altLang="zh-CN" dirty="0"/>
              <a:t>page table entry. After returning to user mode, protected memory is locked again, but the transferred buffer remains accessible.</a:t>
            </a: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These results show that SURE’s ideas are not just architectural abstractions. The paper reports low tens-of-microseconds latency for intra-node communication, better throughput scaling under concurrency, more than 100 times CPU-cycle savings, and a 16 times improvement relative to an individual userspace sidecar. At the application level, it reports up to 79 times throughput improvement over Knative, which is a serverless framework based on Kubernetes.</a:t>
            </a:r>
            <a:endParaRPr lang="en-US" altLang="zh-CN" dirty="0"/>
          </a:p>
          <a:p>
            <a:r>
              <a:rPr lang="en-US" altLang="zh-CN" dirty="0"/>
              <a:t>I think the right way to interpret these numbers is not simply ‘SURE is faster’. The deeper point is that the data plane and the service-mesh path can dominate serverless performance. Once those parts are redesigned, the gains can be dramatic.</a:t>
            </a: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Then we move on to the last paper: LITESHIELD.</a:t>
            </a:r>
            <a:endParaRPr 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LITESHIELD starts from a more radical position than the previous two papers. Instead of asking how to make virtualization lighter, it asks whether we should preserve the conventional guest-kernel structure at all.</a:t>
            </a:r>
            <a:endParaRPr lang="en-US" altLang="zh-CN" dirty="0"/>
          </a:p>
          <a:p>
            <a:r>
              <a:rPr lang="en-US" altLang="zh-CN" dirty="0"/>
              <a:t>LITESHIELD treats cloud-native applications as a reason to revisit the basic user/kernel decomposition. Because microservices are small, numerous, and short-lived, the overhead of conventional isolation mechanisms becomes more painful. So the paper asks whether system services can be broken apart and rehosted as userspace microkernel services.</a:t>
            </a: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slide shows the architecture of LITESHIELD. Guest applications are treated as clients, while the system functions they need are provided by a set of userspace microkernel services. Some of these are core services that every application depends on, such as IPC or syscall arbitration. Others are composable services, such as networking or filesystems, which can be tailored or replaced more flexibly.</a:t>
            </a:r>
            <a:endParaRPr lang="en-US" altLang="zh-CN" dirty="0"/>
          </a:p>
          <a:p>
            <a:r>
              <a:rPr lang="en-US" altLang="zh-CN" dirty="0"/>
              <a:t>LITESHIELD’s goal is not only to move services to userspace for modularity. It is to shrink the exposed interface to the host kernel while also opening the door to more specialized userspace implementations. So the paper is simultaneously about isolation, performance, and service composition.</a:t>
            </a: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slide explains how LITESHIELD tries to remain practical. Direct host-kernel access from guest applications is blocked. Instead, delegable syscalls are intercepted and redirected to userspace services through a shared-memory IPC. At the same time, the system tries hard to preserve compatibility with legacy applications by combining LD_PRELOAD and libsyscall_intercept, so that many existing binaries can be supported without modification.</a:t>
            </a:r>
            <a:endParaRPr lang="en-US" altLang="zh-CN" dirty="0"/>
          </a:p>
          <a:p>
            <a:r>
              <a:rPr lang="en-US" altLang="zh-CN" dirty="0"/>
              <a:t>This is a very important design choice, because it shows that LITESHIELD is not just proposing a new OS philosophy. It is trying to remain relevant to real cloud workloads.</a:t>
            </a: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LITESHIELD separates syscalls into two classes. Delegable syscalls and non-delegable syscalls. Delegable syscalls can be redirected to userspace microkernel services. Non-delegable syscalls, such as some process-management or memory-management operations, still need to execute in the context of the original process. For those, LITESHIELD uses ptrace-based arbitration, so the syscall is trapped, monitored, and validated before it is allowed to continue.</a:t>
            </a:r>
            <a:endParaRPr lang="en-US" altLang="zh-CN" dirty="0"/>
          </a:p>
          <a:p>
            <a:r>
              <a:rPr lang="en-US" altLang="zh-CN" dirty="0"/>
              <a:t>This is the key engineering compromise of the system. LITESHIELD wants a new boundary, but it also wants compatibility with unmodified Linux. The delegable versus non-delegable split is how it balances those goals.</a:t>
            </a: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en-US" altLang="zh-CN" dirty="0"/>
              <a:t>In performance terms, LITESHIELD compares with several established isolation approaches. For simple syscall paths such as getpid, it performs much better than virtual machines. For more complex operations such as read, it can outperform VM-based approaches because it avoids VM exits and uses specialized userspace services. The network path is also competitive. The main cost appears in ptrace-based arbitration, which adds around 15 to 35 microseconds for non-delegable syscalls. Also, it has c</a:t>
            </a:r>
            <a:r>
              <a:rPr lang="en-US" altLang="zh-CN">
                <a:latin typeface="Times New Roman" panose="02020503050405090304" pitchFamily="18" charset="0"/>
                <a:cs typeface="Times New Roman" panose="02020503050405090304" pitchFamily="18" charset="0"/>
                <a:sym typeface="+mn-ea"/>
              </a:rPr>
              <a:t>omparable performance for IO with native setups and better than other approaches.</a:t>
            </a:r>
            <a:endParaRPr lang="en-US" altLang="zh-CN" dirty="0"/>
          </a:p>
          <a:p>
            <a:r>
              <a:rPr lang="en-US" altLang="zh-CN" dirty="0"/>
              <a:t>LITESHIELD is strongest as an architectural proof of concept. It shows that decomposing system services into userspace components can produce a thin and reasonably fast isolation substrate.</a:t>
            </a: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 conclusion, I think each paper can be summarized by one sentence about where it places the isolation boundary. Firecracker places the boundary at a minimal MicroVM, making VM-level isolation light enough for serverless deployment. SURE keeps that outer VM-style boundary, but argues that real serverless performance and security also depend on isolating the data plane and trusted runtime modules inside the unikernel. LITESHIELD goes further and redefines the boundary between the application and the operating-system functionality itself, by moving many traditional guest-kernel services into userspace microkernel services.</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5">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5">
                <a:latin typeface="Calibri" pitchFamily="34" charset="0"/>
                <a:ea typeface="標楷體" pitchFamily="65" charset="-120"/>
                <a:cs typeface="Calibri" pitchFamily="34" charset="0"/>
              </a:defRPr>
            </a:lvl5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5"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5"/>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dirty="0"/>
              <a:t>Click to edit Master text styles</a:t>
            </a:r>
            <a:endParaRPr lang="en-US" altLang="zh-TW"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4" name="內容版面配置區 3"/>
          <p:cNvSpPr>
            <a:spLocks noGrp="1"/>
          </p:cNvSpPr>
          <p:nvPr>
            <p:ph sz="half" idx="2"/>
          </p:nvPr>
        </p:nvSpPr>
        <p:spPr>
          <a:xfrm>
            <a:off x="609602" y="1908535"/>
            <a:ext cx="5386917"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6" name="內容版面配置區 5"/>
          <p:cNvSpPr>
            <a:spLocks noGrp="1"/>
          </p:cNvSpPr>
          <p:nvPr>
            <p:ph sz="quarter" idx="4"/>
          </p:nvPr>
        </p:nvSpPr>
        <p:spPr>
          <a:xfrm>
            <a:off x="6193373" y="1908535"/>
            <a:ext cx="5389033"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5"/>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idx="1" hasCustomPrompt="1"/>
          </p:nvPr>
        </p:nvSpPr>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sz="half" idx="1" hasCustomPrompt="1"/>
          </p:nvPr>
        </p:nvSpPr>
        <p:spPr>
          <a:xfrm>
            <a:off x="838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內容版面配置區 3"/>
          <p:cNvSpPr>
            <a:spLocks noGrp="1"/>
          </p:cNvSpPr>
          <p:nvPr>
            <p:ph sz="half" idx="2" hasCustomPrompt="1"/>
          </p:nvPr>
        </p:nvSpPr>
        <p:spPr>
          <a:xfrm>
            <a:off x="6172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4" name="內容版面配置區 3"/>
          <p:cNvSpPr>
            <a:spLocks noGrp="1"/>
          </p:cNvSpPr>
          <p:nvPr>
            <p:ph sz="half" idx="2" hasCustomPrompt="1"/>
          </p:nvPr>
        </p:nvSpPr>
        <p:spPr>
          <a:xfrm>
            <a:off x="839788" y="2505075"/>
            <a:ext cx="5157787"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文字版面配置區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6" name="內容版面配置區 5"/>
          <p:cNvSpPr>
            <a:spLocks noGrp="1"/>
          </p:cNvSpPr>
          <p:nvPr>
            <p:ph sz="quarter" idx="4" hasCustomPrompt="1"/>
          </p:nvPr>
        </p:nvSpPr>
        <p:spPr>
          <a:xfrm>
            <a:off x="6172200" y="2505075"/>
            <a:ext cx="5183188"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內容版面配置區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a:xfrm>
            <a:off x="838200" y="365125"/>
            <a:ext cx="7734300" cy="5811838"/>
          </a:xfrm>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3.png"/><Relationship Id="rId15" Type="http://schemas.openxmlformats.org/officeDocument/2006/relationships/image" Target="../media/image2.jpe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2.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endParaRPr lang="zh-TW" altLang="en-US" dirty="0"/>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endParaRPr lang="zh-TW" altLang="en-US" dirty="0"/>
          </a:p>
          <a:p>
            <a:pPr lvl="1"/>
            <a:r>
              <a:rPr lang="zh-TW" altLang="en-US" dirty="0"/>
              <a:t>按一下以編輯母片</a:t>
            </a:r>
            <a:endParaRPr lang="zh-TW" altLang="en-US" dirty="0"/>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4"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anose="020B0604020202090204" pitchFamily="34" charset="0"/>
                <a:ea typeface="PMingLiU" pitchFamily="18" charset="-120"/>
                <a:cs typeface="Arial" panose="020B0604020202090204" pitchFamily="34" charset="0"/>
              </a:rPr>
              <a:t>National Tsing Hua University ® copyright OIA</a:t>
            </a:r>
            <a:endParaRPr lang="zh-TW" altLang="en-US" sz="1200" b="1" dirty="0">
              <a:solidFill>
                <a:schemeClr val="bg1"/>
              </a:solidFill>
              <a:latin typeface="Arial" panose="020B0604020202090204" pitchFamily="34" charset="0"/>
              <a:ea typeface="PMingLiU" pitchFamily="18" charset="-120"/>
              <a:cs typeface="Arial" panose="020B0604020202090204"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latin typeface="Arial" panose="020B0604020202090204" pitchFamily="34" charset="0"/>
                <a:ea typeface="PMingLiU" pitchFamily="18" charset="-120"/>
              </a:defRPr>
            </a:lvl1pPr>
          </a:lstStyle>
          <a:p>
            <a:fld id="{D9B6BDF2-6896-4B98-8776-C18582F63BA5}" type="slidenum">
              <a:rPr lang="zh-TW" altLang="en-US" smtClean="0"/>
            </a:fld>
            <a:endParaRPr lang="zh-TW" altLang="en-US"/>
          </a:p>
        </p:txBody>
      </p:sp>
      <p:pic>
        <p:nvPicPr>
          <p:cNvPr id="14" name="圖片 13"/>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50305040509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503050405090304" pitchFamily="18" charset="0"/>
              </a:endParaRPr>
            </a:p>
            <a:p>
              <a:pPr algn="ctr">
                <a:spcAft>
                  <a:spcPts val="0"/>
                </a:spcAft>
              </a:pPr>
              <a:r>
                <a:rPr lang="en-US" altLang="zh-TW" sz="1000" kern="100" dirty="0">
                  <a:solidFill>
                    <a:schemeClr val="bg1"/>
                  </a:solidFill>
                  <a:latin typeface="Times New Roman" panose="02020503050405090304" pitchFamily="18" charset="0"/>
                  <a:ea typeface="標楷體" pitchFamily="65" charset="-120"/>
                  <a:cs typeface="Times New Roman" panose="02020503050405090304" pitchFamily="18" charset="0"/>
                </a:rPr>
                <a:t>CUHK</a:t>
              </a:r>
              <a:r>
                <a:rPr lang="en-US" altLang="zh-TW" sz="1000" kern="100" dirty="0">
                  <a:solidFill>
                    <a:schemeClr val="bg1"/>
                  </a:solidFill>
                  <a:latin typeface="Times New Roman" panose="02020503050405090304" pitchFamily="18" charset="0"/>
                  <a:ea typeface="DengXian"/>
                  <a:cs typeface="Times New Roman" panose="02020503050405090304" pitchFamily="18" charset="0"/>
                </a:rPr>
                <a:t>-SZ Sc</a:t>
              </a:r>
              <a:r>
                <a:rPr lang="en-US" altLang="zh-TW" sz="1000" kern="100" dirty="0">
                  <a:solidFill>
                    <a:schemeClr val="bg1"/>
                  </a:solidFill>
                  <a:latin typeface="Times New Roman" panose="02020503050405090304" pitchFamily="18" charset="0"/>
                  <a:ea typeface="標楷體" pitchFamily="65" charset="-120"/>
                  <a:cs typeface="Times New Roman" panose="02020503050405090304" pitchFamily="18" charset="0"/>
                </a:rPr>
                <a:t>hool of Data Science</a:t>
              </a:r>
              <a:endParaRPr lang="zh-TW" altLang="zh-TW" sz="1000" kern="100" dirty="0">
                <a:solidFill>
                  <a:schemeClr val="bg1"/>
                </a:solidFill>
                <a:latin typeface="Calibri" pitchFamily="34" charset="0"/>
                <a:ea typeface="PMingLiU" pitchFamily="18" charset="-120"/>
                <a:cs typeface="Times New Roman" panose="02020503050405090304" pitchFamily="18"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p:titleStyle>
    <p:body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fld>
            <a:endParaRPr lang="zh-TW"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7510" y="1054100"/>
            <a:ext cx="11396980" cy="2694305"/>
          </a:xfrm>
        </p:spPr>
        <p:txBody>
          <a:bodyPr/>
          <a:lstStyle/>
          <a:p>
            <a:r>
              <a:rPr lang="en-US" altLang="zh-CN" sz="4000" dirty="0"/>
              <a:t>From MicroVMs to Userspace MicroKernels</a:t>
            </a:r>
            <a:br>
              <a:rPr lang="en-US" altLang="zh-CN" sz="4000" dirty="0"/>
            </a:br>
            <a:r>
              <a:rPr lang="en-US" altLang="zh-CN" sz="3200" dirty="0"/>
              <a:t>Rethinking Isolation Boundaries in Cloud-Native Systems</a:t>
            </a:r>
            <a:br>
              <a:rPr lang="en-US" altLang="zh-CN" sz="4800" dirty="0"/>
            </a:br>
            <a:br>
              <a:rPr lang="en-US" altLang="zh-CN" sz="5400" dirty="0">
                <a:effectLst>
                  <a:outerShdw blurRad="38100" dist="38100" dir="2700000" algn="tl">
                    <a:srgbClr val="000000">
                      <a:alpha val="43137"/>
                    </a:srgbClr>
                  </a:outerShdw>
                </a:effectLst>
              </a:rPr>
            </a:br>
            <a:r>
              <a:rPr lang="en-US" altLang="zh-CN" sz="2800" b="0" dirty="0">
                <a:effectLst>
                  <a:outerShdw blurRad="38100" dist="38100" dir="2700000" algn="tl">
                    <a:srgbClr val="000000">
                      <a:alpha val="43137"/>
                    </a:srgbClr>
                  </a:outerShdw>
                </a:effectLst>
              </a:rPr>
              <a:t>2026.04.16</a:t>
            </a:r>
            <a:endParaRPr lang="zh-TW" altLang="en-US" sz="3600" b="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855632"/>
            <a:ext cx="8534400" cy="1882455"/>
          </a:xfrm>
        </p:spPr>
        <p:txBody>
          <a:bodyPr/>
          <a:lstStyle/>
          <a:p>
            <a:r>
              <a:rPr lang="en-US" altLang="zh-CN" sz="3200" dirty="0">
                <a:effectLst>
                  <a:outerShdw blurRad="38100" dist="38100" dir="2700000" algn="tl">
                    <a:srgbClr val="000000">
                      <a:alpha val="43137"/>
                    </a:srgbClr>
                  </a:outerShdw>
                </a:effectLst>
              </a:rPr>
              <a:t>Cheng Li</a:t>
            </a:r>
            <a:endParaRPr lang="en-US" altLang="zh-CN" sz="3200" dirty="0">
              <a:effectLst>
                <a:outerShdw blurRad="38100" dist="38100" dir="2700000" algn="tl">
                  <a:srgbClr val="000000">
                    <a:alpha val="43137"/>
                  </a:srgbClr>
                </a:outerShdw>
              </a:effectLst>
            </a:endParaRPr>
          </a:p>
          <a:p>
            <a:r>
              <a:rPr lang="en-US" altLang="zh-TW" sz="3200" dirty="0"/>
              <a:t>School of </a:t>
            </a:r>
            <a:r>
              <a:rPr lang="en-US" altLang="zh-CN" sz="3200" dirty="0"/>
              <a:t>Data </a:t>
            </a:r>
            <a:r>
              <a:rPr lang="en-US" altLang="zh-TW" sz="3200" dirty="0"/>
              <a:t>Science</a:t>
            </a:r>
            <a:endParaRPr lang="en-US" altLang="zh-TW" sz="3200" dirty="0"/>
          </a:p>
          <a:p>
            <a:r>
              <a:rPr lang="en-US" altLang="zh-TW" sz="3200" dirty="0"/>
              <a:t>Chinese University of Hong Kong, Shenzhen</a:t>
            </a:r>
            <a:endParaRPr lang="en-US" altLang="zh-TW"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275" y="1218565"/>
            <a:ext cx="10271125" cy="4703445"/>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Motivation</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Proposed Methods &amp; Performance Evaluation </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Firecracker</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err="1">
                <a:latin typeface="Times New Roman" panose="02020503050405090304" pitchFamily="18" charset="0"/>
                <a:cs typeface="Times New Roman" panose="02020503050405090304" pitchFamily="18" charset="0"/>
              </a:rPr>
              <a:t>SURE</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LITESHIELD</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Conclusions </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a:t>
            </a:r>
            <a:endParaRPr lang="en-US" altLang="zh-CN" sz="2935"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275" y="1218565"/>
            <a:ext cx="10271125" cy="4703445"/>
          </a:xfrm>
        </p:spPr>
        <p:txBody>
          <a:bodyPr>
            <a:noAutofit/>
          </a:bodyPr>
          <a:lstStyle/>
          <a:p>
            <a:r>
              <a:rPr lang="en-US" altLang="zh-CN" sz="2935" dirty="0">
                <a:solidFill>
                  <a:srgbClr val="FF0000"/>
                </a:solidFill>
                <a:latin typeface="Times New Roman" panose="02020503050405090304" pitchFamily="18" charset="0"/>
                <a:cs typeface="Times New Roman" panose="02020503050405090304" pitchFamily="18" charset="0"/>
              </a:rPr>
              <a:t>Introduction</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Motivation</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Proposed Methods &amp; Performance Evaluation </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Firecracker</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err="1">
                <a:latin typeface="Times New Roman" panose="02020503050405090304" pitchFamily="18" charset="0"/>
                <a:cs typeface="Times New Roman" panose="02020503050405090304" pitchFamily="18" charset="0"/>
              </a:rPr>
              <a:t>SURE</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LITESHIELD</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Conclusions </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a:t>
            </a:r>
            <a:endParaRPr lang="en-US" altLang="zh-CN" sz="2935"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390" y="6985"/>
            <a:ext cx="11103610" cy="883920"/>
          </a:xfrm>
        </p:spPr>
        <p:txBody>
          <a:bodyPr/>
          <a:lstStyle/>
          <a:p>
            <a:r>
              <a:rPr lang="en-US" altLang="zh-CN" dirty="0">
                <a:ea typeface="Calibri" pitchFamily="34" charset="0"/>
                <a:cs typeface="Calibri" pitchFamily="34" charset="0"/>
              </a:rPr>
              <a:t>1.Introduction</a:t>
            </a:r>
            <a:endParaRPr lang="en-US" altLang="zh-CN" dirty="0">
              <a:ea typeface="Calibri" pitchFamily="34" charset="0"/>
              <a:cs typeface="Calibri"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8" name="Content Placeholder 2"/>
          <p:cNvSpPr txBox="1"/>
          <p:nvPr/>
        </p:nvSpPr>
        <p:spPr bwMode="auto">
          <a:xfrm>
            <a:off x="1705610" y="1284605"/>
            <a:ext cx="8390890" cy="286448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20000"/>
              </a:lnSpc>
            </a:pPr>
            <a:r>
              <a:rPr lang="en-US" altLang="zh-CN" sz="2400" b="1" kern="0" dirty="0">
                <a:latin typeface="Times New Roman" panose="02020503050405090304" pitchFamily="18" charset="0"/>
                <a:cs typeface="Times New Roman" panose="02020503050405090304" pitchFamily="18" charset="0"/>
              </a:rPr>
              <a:t>Mainstream Technologies in Taday’s Cloud-Native Stack</a:t>
            </a:r>
            <a:endParaRPr lang="en-US" altLang="zh-CN" sz="2200" kern="0" dirty="0">
              <a:latin typeface="Times New Roman" panose="02020503050405090304" pitchFamily="18" charset="0"/>
              <a:cs typeface="Times New Roman" panose="02020503050405090304" pitchFamily="18" charset="0"/>
            </a:endParaRPr>
          </a:p>
          <a:p>
            <a:pPr lvl="1">
              <a:lnSpc>
                <a:spcPct val="120000"/>
              </a:lnSpc>
            </a:pPr>
            <a:r>
              <a:rPr lang="en-US" altLang="zh-CN" sz="2200" kern="0" dirty="0">
                <a:latin typeface="Times New Roman" panose="02020503050405090304" pitchFamily="18" charset="0"/>
                <a:cs typeface="Times New Roman" panose="02020503050405090304" pitchFamily="18" charset="0"/>
              </a:rPr>
              <a:t>Virtual Machines</a:t>
            </a:r>
            <a:endParaRPr lang="en-US" altLang="zh-CN" sz="2200" kern="0" dirty="0">
              <a:latin typeface="Times New Roman" panose="02020503050405090304" pitchFamily="18" charset="0"/>
              <a:cs typeface="Times New Roman" panose="02020503050405090304" pitchFamily="18" charset="0"/>
            </a:endParaRPr>
          </a:p>
          <a:p>
            <a:pPr lvl="1">
              <a:lnSpc>
                <a:spcPct val="120000"/>
              </a:lnSpc>
            </a:pPr>
            <a:r>
              <a:rPr lang="en-US" altLang="zh-CN" sz="2200" kern="0" dirty="0">
                <a:latin typeface="Times New Roman" panose="02020503050405090304" pitchFamily="18" charset="0"/>
                <a:cs typeface="Times New Roman" panose="02020503050405090304" pitchFamily="18" charset="0"/>
              </a:rPr>
              <a:t>Containers</a:t>
            </a:r>
            <a:endParaRPr lang="en-US" altLang="zh-CN" sz="2200" kern="0" dirty="0">
              <a:latin typeface="Times New Roman" panose="02020503050405090304" pitchFamily="18" charset="0"/>
              <a:cs typeface="Times New Roman" panose="02020503050405090304" pitchFamily="18" charset="0"/>
            </a:endParaRPr>
          </a:p>
          <a:p>
            <a:pPr lvl="1">
              <a:lnSpc>
                <a:spcPct val="120000"/>
              </a:lnSpc>
            </a:pPr>
            <a:r>
              <a:rPr lang="en-US" altLang="zh-CN" sz="2200" kern="0" dirty="0">
                <a:latin typeface="Times New Roman" panose="02020503050405090304" pitchFamily="18" charset="0"/>
                <a:cs typeface="Times New Roman" panose="02020503050405090304" pitchFamily="18" charset="0"/>
              </a:rPr>
              <a:t>Kubernetes / orchestration</a:t>
            </a:r>
            <a:endParaRPr lang="en-US" altLang="zh-CN" sz="2200" kern="0" dirty="0">
              <a:latin typeface="Times New Roman" panose="02020503050405090304" pitchFamily="18" charset="0"/>
              <a:cs typeface="Times New Roman" panose="02020503050405090304" pitchFamily="18" charset="0"/>
            </a:endParaRPr>
          </a:p>
          <a:p>
            <a:pPr lvl="1">
              <a:lnSpc>
                <a:spcPct val="120000"/>
              </a:lnSpc>
            </a:pPr>
            <a:r>
              <a:rPr lang="en-US" altLang="zh-CN" sz="2200" kern="0" dirty="0">
                <a:latin typeface="Times New Roman" panose="02020503050405090304" pitchFamily="18" charset="0"/>
                <a:cs typeface="Times New Roman" panose="02020503050405090304" pitchFamily="18" charset="0"/>
              </a:rPr>
              <a:t>Microservices</a:t>
            </a:r>
            <a:endParaRPr lang="en-US" altLang="zh-CN" sz="2200" kern="0" dirty="0">
              <a:latin typeface="Times New Roman" panose="02020503050405090304" pitchFamily="18" charset="0"/>
              <a:cs typeface="Times New Roman" panose="02020503050405090304" pitchFamily="18" charset="0"/>
            </a:endParaRPr>
          </a:p>
          <a:p>
            <a:pPr lvl="1">
              <a:lnSpc>
                <a:spcPct val="120000"/>
              </a:lnSpc>
            </a:pPr>
            <a:r>
              <a:rPr lang="en-US" altLang="zh-CN" sz="2200" kern="0" dirty="0">
                <a:latin typeface="Times New Roman" panose="02020503050405090304" pitchFamily="18" charset="0"/>
                <a:cs typeface="Times New Roman" panose="02020503050405090304" pitchFamily="18" charset="0"/>
              </a:rPr>
              <a:t>Serverless / FaaS</a:t>
            </a:r>
            <a:endParaRPr lang="en-US" altLang="zh-CN" sz="2200" kern="0" dirty="0">
              <a:latin typeface="Times New Roman" panose="02020503050405090304" pitchFamily="18" charset="0"/>
              <a:cs typeface="Times New Roman" panose="02020503050405090304" pitchFamily="18" charset="0"/>
            </a:endParaRPr>
          </a:p>
        </p:txBody>
      </p:sp>
      <p:sp>
        <p:nvSpPr>
          <p:cNvPr id="9" name="圆角矩形 8"/>
          <p:cNvSpPr/>
          <p:nvPr/>
        </p:nvSpPr>
        <p:spPr>
          <a:xfrm>
            <a:off x="789940" y="4499610"/>
            <a:ext cx="2143125" cy="1104900"/>
          </a:xfrm>
          <a:prstGeom prst="roundRect">
            <a:avLst/>
          </a:prstGeom>
          <a:solidFill>
            <a:schemeClr val="accent4">
              <a:lumMod val="60000"/>
              <a:lumOff val="40000"/>
            </a:schemeClr>
          </a:solidFill>
          <a:ln w="15875" cap="flat" cmpd="sng" algn="ctr">
            <a:solidFill>
              <a:schemeClr val="accent4">
                <a:lumMod val="50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Monoliths</a:t>
            </a:r>
            <a:endPar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endParaRPr>
          </a:p>
        </p:txBody>
      </p:sp>
      <p:sp>
        <p:nvSpPr>
          <p:cNvPr id="12" name="圆角矩形 11"/>
          <p:cNvSpPr/>
          <p:nvPr/>
        </p:nvSpPr>
        <p:spPr>
          <a:xfrm>
            <a:off x="4829810" y="4499610"/>
            <a:ext cx="2143125" cy="1104900"/>
          </a:xfrm>
          <a:prstGeom prst="roundRect">
            <a:avLst/>
          </a:prstGeom>
          <a:solidFill>
            <a:schemeClr val="accent4">
              <a:lumMod val="60000"/>
              <a:lumOff val="40000"/>
            </a:schemeClr>
          </a:solidFill>
          <a:ln w="15875" cap="flat" cmpd="sng" algn="ctr">
            <a:solidFill>
              <a:schemeClr val="accent4">
                <a:lumMod val="50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Microservices</a:t>
            </a:r>
            <a:endPar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endParaRPr>
          </a:p>
        </p:txBody>
      </p:sp>
      <p:sp>
        <p:nvSpPr>
          <p:cNvPr id="13" name="圆角矩形 12"/>
          <p:cNvSpPr/>
          <p:nvPr/>
        </p:nvSpPr>
        <p:spPr>
          <a:xfrm>
            <a:off x="8869680" y="4499610"/>
            <a:ext cx="2143125" cy="1104900"/>
          </a:xfrm>
          <a:prstGeom prst="roundRect">
            <a:avLst/>
          </a:prstGeom>
          <a:solidFill>
            <a:schemeClr val="accent4">
              <a:lumMod val="60000"/>
              <a:lumOff val="40000"/>
            </a:schemeClr>
          </a:solidFill>
          <a:ln w="15875" cap="flat" cmpd="sng" algn="ctr">
            <a:solidFill>
              <a:schemeClr val="accent4">
                <a:lumMod val="50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FaaS</a:t>
            </a:r>
            <a:endPar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endParaRPr>
          </a:p>
        </p:txBody>
      </p:sp>
      <p:sp>
        <p:nvSpPr>
          <p:cNvPr id="14" name="右箭头 13"/>
          <p:cNvSpPr/>
          <p:nvPr/>
        </p:nvSpPr>
        <p:spPr>
          <a:xfrm>
            <a:off x="7340600" y="4872355"/>
            <a:ext cx="1161415" cy="359410"/>
          </a:xfrm>
          <a:prstGeom prst="rightArrow">
            <a:avLst/>
          </a:prstGeom>
          <a:noFill/>
          <a:ln w="15875" cap="flat" cmpd="sng" algn="ctr">
            <a:solidFill>
              <a:schemeClr val="accent4">
                <a:lumMod val="50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endParaRPr>
          </a:p>
        </p:txBody>
      </p:sp>
      <p:sp>
        <p:nvSpPr>
          <p:cNvPr id="15" name="右箭头 14"/>
          <p:cNvSpPr/>
          <p:nvPr/>
        </p:nvSpPr>
        <p:spPr>
          <a:xfrm>
            <a:off x="3300730" y="4872355"/>
            <a:ext cx="1161415" cy="359410"/>
          </a:xfrm>
          <a:prstGeom prst="rightArrow">
            <a:avLst/>
          </a:prstGeom>
          <a:noFill/>
          <a:ln w="15875" cap="flat" cmpd="sng" algn="ctr">
            <a:solidFill>
              <a:schemeClr val="accent4">
                <a:lumMod val="50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275" y="1218565"/>
            <a:ext cx="10271125" cy="4703445"/>
          </a:xfrm>
        </p:spPr>
        <p:txBody>
          <a:bodyPr>
            <a:noAutofit/>
          </a:bodyPr>
          <a:lstStyle/>
          <a:p>
            <a:r>
              <a:rPr lang="en-US" altLang="zh-CN" sz="2935" dirty="0">
                <a:solidFill>
                  <a:schemeClr val="tx1"/>
                </a:solidFill>
                <a:latin typeface="Times New Roman" panose="02020503050405090304" pitchFamily="18" charset="0"/>
                <a:cs typeface="Times New Roman" panose="02020503050405090304" pitchFamily="18" charset="0"/>
              </a:rPr>
              <a:t>Introduction</a:t>
            </a:r>
            <a:endParaRPr lang="en-US" altLang="zh-TW" sz="2935" dirty="0">
              <a:latin typeface="Times New Roman" panose="02020503050405090304" pitchFamily="18" charset="0"/>
              <a:cs typeface="Times New Roman" panose="02020503050405090304" pitchFamily="18" charset="0"/>
            </a:endParaRPr>
          </a:p>
          <a:p>
            <a:r>
              <a:rPr lang="en-US" altLang="zh-CN" sz="2935" dirty="0">
                <a:solidFill>
                  <a:srgbClr val="FF0000"/>
                </a:solidFill>
                <a:latin typeface="Times New Roman" panose="02020503050405090304" pitchFamily="18" charset="0"/>
                <a:cs typeface="Times New Roman" panose="02020503050405090304" pitchFamily="18" charset="0"/>
              </a:rPr>
              <a:t>Background &amp; Motivation</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Proposed Methods &amp; Performance Evaluation </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Firecracker</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err="1">
                <a:latin typeface="Times New Roman" panose="02020503050405090304" pitchFamily="18" charset="0"/>
                <a:cs typeface="Times New Roman" panose="02020503050405090304" pitchFamily="18" charset="0"/>
              </a:rPr>
              <a:t>SURE</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LITESHIELD</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Conclusions </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a:t>
            </a:r>
            <a:endParaRPr lang="en-US" altLang="zh-CN" sz="2935"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95365" y="1409700"/>
            <a:ext cx="5976620" cy="4008120"/>
          </a:xfrm>
          <a:prstGeom prst="rect">
            <a:avLst/>
          </a:prstGeom>
          <a:solidFill>
            <a:schemeClr val="accent4">
              <a:lumMod val="20000"/>
              <a:lumOff val="80000"/>
            </a:schemeClr>
          </a:solidFill>
          <a:ln w="15875" cap="flat" cmpd="sng" algn="ctr">
            <a:solidFill>
              <a:schemeClr val="accent4">
                <a:lumMod val="60000"/>
                <a:lumOff val="40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endParaRPr>
          </a:p>
        </p:txBody>
      </p:sp>
      <p:sp>
        <p:nvSpPr>
          <p:cNvPr id="2" name="Title 1"/>
          <p:cNvSpPr>
            <a:spLocks noGrp="1"/>
          </p:cNvSpPr>
          <p:nvPr>
            <p:ph type="title"/>
          </p:nvPr>
        </p:nvSpPr>
        <p:spPr>
          <a:xfrm>
            <a:off x="1088390" y="6985"/>
            <a:ext cx="11103610" cy="883920"/>
          </a:xfrm>
        </p:spPr>
        <p:txBody>
          <a:bodyPr/>
          <a:lstStyle/>
          <a:p>
            <a:r>
              <a:rPr lang="en-US" altLang="zh-CN" dirty="0">
                <a:ea typeface="Calibri" pitchFamily="34" charset="0"/>
                <a:cs typeface="Calibri" pitchFamily="34" charset="0"/>
              </a:rPr>
              <a:t>2.Backgroud &amp; Motivation (1/3)</a:t>
            </a:r>
            <a:endParaRPr lang="en-US" altLang="zh-CN" dirty="0">
              <a:ea typeface="Calibri" pitchFamily="34" charset="0"/>
              <a:cs typeface="Calibri"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8" name="Content Placeholder 2"/>
          <p:cNvSpPr txBox="1"/>
          <p:nvPr/>
        </p:nvSpPr>
        <p:spPr bwMode="auto">
          <a:xfrm>
            <a:off x="288925" y="1990725"/>
            <a:ext cx="5806440" cy="300609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20000"/>
              </a:lnSpc>
            </a:pPr>
            <a:r>
              <a:rPr lang="en-US" altLang="zh-CN" sz="2200" kern="0" dirty="0">
                <a:latin typeface="Times New Roman" panose="02020503050405090304" pitchFamily="18" charset="0"/>
                <a:cs typeface="Times New Roman" panose="02020503050405090304" pitchFamily="18" charset="0"/>
              </a:rPr>
              <a:t>Cloud-native systems want </a:t>
            </a:r>
            <a:r>
              <a:rPr lang="en-US" altLang="zh-CN" sz="2200" b="1" kern="0" dirty="0">
                <a:latin typeface="Times New Roman" panose="02020503050405090304" pitchFamily="18" charset="0"/>
                <a:cs typeface="Times New Roman" panose="02020503050405090304" pitchFamily="18" charset="0"/>
              </a:rPr>
              <a:t>strong isolation</a:t>
            </a:r>
            <a:r>
              <a:rPr lang="en-US" altLang="zh-CN" sz="2200" kern="0" dirty="0">
                <a:latin typeface="Times New Roman" panose="02020503050405090304" pitchFamily="18" charset="0"/>
                <a:cs typeface="Times New Roman" panose="02020503050405090304" pitchFamily="18" charset="0"/>
              </a:rPr>
              <a:t>, </a:t>
            </a:r>
            <a:r>
              <a:rPr lang="en-US" altLang="zh-CN" sz="2200" b="1" kern="0" dirty="0">
                <a:latin typeface="Times New Roman" panose="02020503050405090304" pitchFamily="18" charset="0"/>
                <a:cs typeface="Times New Roman" panose="02020503050405090304" pitchFamily="18" charset="0"/>
              </a:rPr>
              <a:t>fast startup</a:t>
            </a:r>
            <a:r>
              <a:rPr lang="en-US" altLang="zh-CN" sz="2200" kern="0" dirty="0">
                <a:latin typeface="Times New Roman" panose="02020503050405090304" pitchFamily="18" charset="0"/>
                <a:cs typeface="Times New Roman" panose="02020503050405090304" pitchFamily="18" charset="0"/>
              </a:rPr>
              <a:t>, </a:t>
            </a:r>
            <a:r>
              <a:rPr lang="en-US" altLang="zh-CN" sz="2200" b="1" kern="0" dirty="0">
                <a:latin typeface="Times New Roman" panose="02020503050405090304" pitchFamily="18" charset="0"/>
                <a:cs typeface="Times New Roman" panose="02020503050405090304" pitchFamily="18" charset="0"/>
              </a:rPr>
              <a:t>high density</a:t>
            </a:r>
            <a:r>
              <a:rPr lang="en-US" altLang="zh-CN" sz="2200" kern="0" dirty="0">
                <a:latin typeface="Times New Roman" panose="02020503050405090304" pitchFamily="18" charset="0"/>
                <a:cs typeface="Times New Roman" panose="02020503050405090304" pitchFamily="18" charset="0"/>
              </a:rPr>
              <a:t>, and </a:t>
            </a:r>
            <a:r>
              <a:rPr lang="en-US" altLang="zh-CN" sz="2200" b="1" kern="0" dirty="0">
                <a:latin typeface="Times New Roman" panose="02020503050405090304" pitchFamily="18" charset="0"/>
                <a:cs typeface="Times New Roman" panose="02020503050405090304" pitchFamily="18" charset="0"/>
              </a:rPr>
              <a:t>low latency</a:t>
            </a:r>
            <a:endParaRPr lang="en-US" altLang="zh-CN" sz="2200" kern="0" dirty="0">
              <a:latin typeface="Times New Roman" panose="02020503050405090304" pitchFamily="18" charset="0"/>
              <a:cs typeface="Times New Roman" panose="02020503050405090304" pitchFamily="18" charset="0"/>
            </a:endParaRPr>
          </a:p>
          <a:p>
            <a:pPr>
              <a:lnSpc>
                <a:spcPct val="120000"/>
              </a:lnSpc>
            </a:pPr>
            <a:r>
              <a:rPr lang="en-US" altLang="zh-CN" sz="2200" kern="0" dirty="0">
                <a:latin typeface="Times New Roman" panose="02020503050405090304" pitchFamily="18" charset="0"/>
                <a:cs typeface="Times New Roman" panose="02020503050405090304" pitchFamily="18" charset="0"/>
              </a:rPr>
              <a:t>Traditional solutions force tradeoffs between </a:t>
            </a:r>
            <a:r>
              <a:rPr lang="en-US" altLang="zh-CN" sz="2200" b="1" kern="0" dirty="0">
                <a:latin typeface="Times New Roman" panose="02020503050405090304" pitchFamily="18" charset="0"/>
                <a:cs typeface="Times New Roman" panose="02020503050405090304" pitchFamily="18" charset="0"/>
              </a:rPr>
              <a:t>security </a:t>
            </a:r>
            <a:r>
              <a:rPr lang="en-US" altLang="zh-CN" sz="2200" kern="0" dirty="0">
                <a:latin typeface="Times New Roman" panose="02020503050405090304" pitchFamily="18" charset="0"/>
                <a:cs typeface="Times New Roman" panose="02020503050405090304" pitchFamily="18" charset="0"/>
              </a:rPr>
              <a:t>and </a:t>
            </a:r>
            <a:r>
              <a:rPr lang="en-US" altLang="zh-CN" sz="2200" b="1" kern="0" dirty="0">
                <a:latin typeface="Times New Roman" panose="02020503050405090304" pitchFamily="18" charset="0"/>
                <a:cs typeface="Times New Roman" panose="02020503050405090304" pitchFamily="18" charset="0"/>
              </a:rPr>
              <a:t>efficiency</a:t>
            </a:r>
            <a:endParaRPr lang="en-US" altLang="zh-CN" sz="2200" kern="0" dirty="0">
              <a:latin typeface="Times New Roman" panose="02020503050405090304" pitchFamily="18" charset="0"/>
              <a:cs typeface="Times New Roman" panose="02020503050405090304" pitchFamily="18" charset="0"/>
            </a:endParaRPr>
          </a:p>
          <a:p>
            <a:pPr>
              <a:lnSpc>
                <a:spcPct val="120000"/>
              </a:lnSpc>
            </a:pPr>
            <a:r>
              <a:rPr lang="en-US" altLang="zh-CN" sz="2200" kern="0" dirty="0">
                <a:latin typeface="Times New Roman" panose="02020503050405090304" pitchFamily="18" charset="0"/>
                <a:cs typeface="Times New Roman" panose="02020503050405090304" pitchFamily="18" charset="0"/>
              </a:rPr>
              <a:t>Central question: </a:t>
            </a:r>
            <a:r>
              <a:rPr lang="en-US" altLang="zh-CN" sz="2200" b="1" dirty="0">
                <a:latin typeface="Times New Roman" panose="02020503050405090304" pitchFamily="18" charset="0"/>
                <a:cs typeface="Times New Roman" panose="02020503050405090304" pitchFamily="18" charset="0"/>
                <a:sym typeface="+mn-ea"/>
              </a:rPr>
              <a:t>where should isolation boundaries be defined to achieve better security and efficiency?</a:t>
            </a:r>
            <a:endParaRPr lang="en-US" altLang="zh-CN" sz="2200" b="1" kern="0" dirty="0">
              <a:latin typeface="Times New Roman" panose="02020503050405090304" pitchFamily="18" charset="0"/>
              <a:cs typeface="Times New Roman" panose="02020503050405090304" pitchFamily="18" charset="0"/>
              <a:sym typeface="+mn-ea"/>
            </a:endParaRPr>
          </a:p>
        </p:txBody>
      </p:sp>
      <p:sp>
        <p:nvSpPr>
          <p:cNvPr id="3" name="椭圆 2"/>
          <p:cNvSpPr/>
          <p:nvPr/>
        </p:nvSpPr>
        <p:spPr>
          <a:xfrm>
            <a:off x="6246495" y="2152015"/>
            <a:ext cx="2667635" cy="981710"/>
          </a:xfrm>
          <a:prstGeom prst="ellipse">
            <a:avLst/>
          </a:prstGeom>
          <a:solidFill>
            <a:schemeClr val="accent4">
              <a:lumMod val="60000"/>
              <a:lumOff val="40000"/>
            </a:schemeClr>
          </a:solidFill>
          <a:ln w="15875" cap="flat" cmpd="sng" algn="ctr">
            <a:solidFill>
              <a:schemeClr val="accent4">
                <a:lumMod val="50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Strong Isolation</a:t>
            </a:r>
            <a:endPar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endParaRPr>
          </a:p>
        </p:txBody>
      </p:sp>
      <p:sp>
        <p:nvSpPr>
          <p:cNvPr id="7" name="椭圆 6"/>
          <p:cNvSpPr/>
          <p:nvPr/>
        </p:nvSpPr>
        <p:spPr>
          <a:xfrm>
            <a:off x="9258935" y="2152015"/>
            <a:ext cx="2667635" cy="981710"/>
          </a:xfrm>
          <a:prstGeom prst="ellipse">
            <a:avLst/>
          </a:prstGeom>
          <a:solidFill>
            <a:schemeClr val="accent4">
              <a:lumMod val="60000"/>
              <a:lumOff val="40000"/>
            </a:schemeClr>
          </a:solidFill>
          <a:ln w="15875" cap="flat" cmpd="sng" algn="ctr">
            <a:solidFill>
              <a:schemeClr val="accent4">
                <a:lumMod val="50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Fast </a:t>
            </a:r>
            <a:r>
              <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Startup</a:t>
            </a:r>
            <a:endPar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endParaRPr>
          </a:p>
        </p:txBody>
      </p:sp>
      <p:sp>
        <p:nvSpPr>
          <p:cNvPr id="9" name="椭圆 8"/>
          <p:cNvSpPr/>
          <p:nvPr/>
        </p:nvSpPr>
        <p:spPr>
          <a:xfrm>
            <a:off x="9285605" y="3897630"/>
            <a:ext cx="2667635" cy="981710"/>
          </a:xfrm>
          <a:prstGeom prst="ellipse">
            <a:avLst/>
          </a:prstGeom>
          <a:solidFill>
            <a:schemeClr val="accent4">
              <a:lumMod val="60000"/>
              <a:lumOff val="40000"/>
            </a:schemeClr>
          </a:solidFill>
          <a:ln w="15875" cap="flat" cmpd="sng" algn="ctr">
            <a:solidFill>
              <a:schemeClr val="accent4">
                <a:lumMod val="50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High </a:t>
            </a:r>
            <a:r>
              <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Density</a:t>
            </a:r>
            <a:endPar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endParaRPr>
          </a:p>
        </p:txBody>
      </p:sp>
      <p:sp>
        <p:nvSpPr>
          <p:cNvPr id="10" name="椭圆 9"/>
          <p:cNvSpPr/>
          <p:nvPr/>
        </p:nvSpPr>
        <p:spPr>
          <a:xfrm>
            <a:off x="6259830" y="3897630"/>
            <a:ext cx="2667635" cy="981710"/>
          </a:xfrm>
          <a:prstGeom prst="ellipse">
            <a:avLst/>
          </a:prstGeom>
          <a:solidFill>
            <a:schemeClr val="accent4">
              <a:lumMod val="60000"/>
              <a:lumOff val="40000"/>
            </a:schemeClr>
          </a:solidFill>
          <a:ln w="15875" cap="flat" cmpd="sng" algn="ctr">
            <a:solidFill>
              <a:schemeClr val="accent4">
                <a:lumMod val="50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Low Latency</a:t>
            </a:r>
            <a:endParaRPr kumimoji="1" lang="en-US" altLang="zh-TW" sz="24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endParaRPr>
          </a:p>
        </p:txBody>
      </p:sp>
      <p:sp>
        <p:nvSpPr>
          <p:cNvPr id="6" name="文本框 5"/>
          <p:cNvSpPr txBox="1"/>
          <p:nvPr/>
        </p:nvSpPr>
        <p:spPr>
          <a:xfrm>
            <a:off x="6094730" y="1409700"/>
            <a:ext cx="5977890" cy="460375"/>
          </a:xfrm>
          <a:prstGeom prst="rect">
            <a:avLst/>
          </a:prstGeom>
          <a:noFill/>
        </p:spPr>
        <p:txBody>
          <a:bodyPr wrap="square" rtlCol="0" anchor="ctr" anchorCtr="1">
            <a:spAutoFit/>
          </a:bodyPr>
          <a:p>
            <a:r>
              <a:rPr lang="en-US" altLang="zh-CN" sz="2400" b="1" dirty="0" smtClean="0">
                <a:latin typeface="Times New Roman" panose="02020503050405090304" pitchFamily="18" charset="0"/>
                <a:ea typeface="標楷體" pitchFamily="65" charset="-120"/>
                <a:cs typeface="Times New Roman" panose="02020503050405090304" pitchFamily="18" charset="0"/>
              </a:rPr>
              <a:t>Cloud-Native System Targets</a:t>
            </a:r>
            <a:endParaRPr lang="en-US" altLang="zh-CN" sz="2400" b="1"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655" y="144780"/>
            <a:ext cx="11142345" cy="692150"/>
          </a:xfrm>
        </p:spPr>
        <p:txBody>
          <a:bodyPr/>
          <a:lstStyle/>
          <a:p>
            <a:r>
              <a:rPr lang="en-US" altLang="zh-CN" dirty="0">
                <a:ea typeface="Calibri" pitchFamily="34" charset="0"/>
                <a:cs typeface="Calibri" pitchFamily="34" charset="0"/>
              </a:rPr>
              <a:t>2.Background &amp;</a:t>
            </a:r>
            <a:r>
              <a:rPr lang="zh-CN" altLang="en-US" dirty="0">
                <a:ea typeface="Calibri" pitchFamily="34" charset="0"/>
                <a:cs typeface="Calibri" pitchFamily="34" charset="0"/>
              </a:rPr>
              <a:t> </a:t>
            </a:r>
            <a:r>
              <a:rPr lang="en-US" altLang="zh-CN" dirty="0">
                <a:ea typeface="Calibri" pitchFamily="34" charset="0"/>
                <a:cs typeface="Calibri" pitchFamily="34" charset="0"/>
              </a:rPr>
              <a:t>Motivation</a:t>
            </a:r>
            <a:r>
              <a:rPr lang="zh-CN" altLang="en-US" dirty="0">
                <a:ea typeface="Calibri" pitchFamily="34" charset="0"/>
                <a:cs typeface="Calibri" pitchFamily="34" charset="0"/>
              </a:rPr>
              <a:t> </a:t>
            </a:r>
            <a:r>
              <a:rPr lang="en-US" altLang="zh-CN" dirty="0">
                <a:ea typeface="Calibri" pitchFamily="34" charset="0"/>
                <a:cs typeface="Calibri" pitchFamily="34" charset="0"/>
              </a:rPr>
              <a:t>(2/3)</a:t>
            </a:r>
            <a:endParaRPr lang="en-US" dirty="0">
              <a:ea typeface="Calibri" pitchFamily="34" charset="0"/>
              <a:cs typeface="Calibri"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内容占位符 5"/>
          <p:cNvSpPr>
            <a:spLocks noGrp="1"/>
          </p:cNvSpPr>
          <p:nvPr>
            <p:ph idx="1"/>
          </p:nvPr>
        </p:nvSpPr>
        <p:spPr>
          <a:xfrm>
            <a:off x="0" y="1455420"/>
            <a:ext cx="5668645" cy="4476750"/>
          </a:xfrm>
        </p:spPr>
        <p:txBody>
          <a:bodyPr/>
          <a:lstStyle/>
          <a:p>
            <a:pPr>
              <a:lnSpc>
                <a:spcPct val="110000"/>
              </a:lnSpc>
            </a:pPr>
            <a:r>
              <a:rPr lang="en-US" altLang="zh-CN" sz="2400" b="1" dirty="0">
                <a:latin typeface="Times New Roman" panose="02020503050405090304" pitchFamily="18" charset="0"/>
                <a:cs typeface="Times New Roman" panose="02020503050405090304" pitchFamily="18" charset="0"/>
              </a:rPr>
              <a:t>How Serverless and Microservices Were Commonly Built</a:t>
            </a:r>
            <a:endParaRPr lang="en-US" altLang="zh-CN" sz="2400" b="1" dirty="0">
              <a:latin typeface="Times New Roman" panose="02020503050405090304" pitchFamily="18" charset="0"/>
              <a:cs typeface="Times New Roman" panose="02020503050405090304" pitchFamily="18" charset="0"/>
            </a:endParaRPr>
          </a:p>
          <a:p>
            <a:pPr lvl="1">
              <a:lnSpc>
                <a:spcPct val="110000"/>
              </a:lnSpc>
            </a:pPr>
            <a:r>
              <a:rPr lang="en-US" altLang="zh-CN" sz="2200" dirty="0">
                <a:latin typeface="Times New Roman" panose="02020503050405090304" pitchFamily="18" charset="0"/>
                <a:cs typeface="Times New Roman" panose="02020503050405090304" pitchFamily="18" charset="0"/>
              </a:rPr>
              <a:t>Functions and services were commonly built in containers</a:t>
            </a:r>
            <a:endParaRPr lang="en-US" altLang="zh-CN" sz="2200" dirty="0">
              <a:latin typeface="Times New Roman" panose="02020503050405090304" pitchFamily="18" charset="0"/>
              <a:cs typeface="Times New Roman" panose="02020503050405090304" pitchFamily="18" charset="0"/>
            </a:endParaRPr>
          </a:p>
          <a:p>
            <a:pPr lvl="1">
              <a:lnSpc>
                <a:spcPct val="110000"/>
              </a:lnSpc>
            </a:pPr>
            <a:r>
              <a:rPr lang="en-US" altLang="zh-CN" sz="2200" dirty="0">
                <a:latin typeface="Times New Roman" panose="02020503050405090304" pitchFamily="18" charset="0"/>
                <a:cs typeface="Times New Roman" panose="02020503050405090304" pitchFamily="18" charset="0"/>
              </a:rPr>
              <a:t>In public clouds, containers were often further protected by VMs</a:t>
            </a:r>
            <a:endParaRPr lang="en-US" altLang="zh-CN" sz="2200" dirty="0">
              <a:latin typeface="Times New Roman" panose="02020503050405090304" pitchFamily="18" charset="0"/>
              <a:cs typeface="Times New Roman" panose="02020503050405090304" pitchFamily="18" charset="0"/>
            </a:endParaRPr>
          </a:p>
          <a:p>
            <a:pPr lvl="1">
              <a:lnSpc>
                <a:spcPct val="110000"/>
              </a:lnSpc>
            </a:pPr>
            <a:r>
              <a:rPr lang="en-US" altLang="zh-CN" sz="2200" dirty="0">
                <a:latin typeface="Times New Roman" panose="02020503050405090304" pitchFamily="18" charset="0"/>
                <a:cs typeface="Times New Roman" panose="02020503050405090304" pitchFamily="18" charset="0"/>
              </a:rPr>
              <a:t>Communication relied on kernel networking and virtual switches</a:t>
            </a:r>
            <a:endParaRPr lang="en-US" altLang="zh-CN" sz="2200" dirty="0">
              <a:latin typeface="Times New Roman" panose="02020503050405090304" pitchFamily="18" charset="0"/>
              <a:cs typeface="Times New Roman" panose="02020503050405090304" pitchFamily="18" charset="0"/>
            </a:endParaRPr>
          </a:p>
          <a:p>
            <a:pPr lvl="1">
              <a:lnSpc>
                <a:spcPct val="110000"/>
              </a:lnSpc>
            </a:pPr>
            <a:r>
              <a:rPr lang="en-US" altLang="zh-CN" sz="2200" b="1" dirty="0">
                <a:latin typeface="Times New Roman" panose="02020503050405090304" pitchFamily="18" charset="0"/>
                <a:cs typeface="Times New Roman" panose="02020503050405090304" pitchFamily="18" charset="0"/>
              </a:rPr>
              <a:t>The combined overhead becomes significant</a:t>
            </a:r>
            <a:endParaRPr lang="en-US" altLang="zh-CN" sz="2200" b="1" dirty="0">
              <a:latin typeface="Times New Roman" panose="02020503050405090304" pitchFamily="18" charset="0"/>
              <a:cs typeface="Times New Roman" panose="02020503050405090304" pitchFamily="18" charset="0"/>
            </a:endParaRPr>
          </a:p>
        </p:txBody>
      </p:sp>
      <p:sp>
        <p:nvSpPr>
          <p:cNvPr id="14" name="矩形 13"/>
          <p:cNvSpPr/>
          <p:nvPr/>
        </p:nvSpPr>
        <p:spPr>
          <a:xfrm>
            <a:off x="5668645" y="2299970"/>
            <a:ext cx="6283960" cy="3289300"/>
          </a:xfrm>
          <a:prstGeom prst="rect">
            <a:avLst/>
          </a:prstGeom>
          <a:noFill/>
          <a:ln w="15875" cap="flat" cmpd="sng" algn="ctr">
            <a:solidFill>
              <a:schemeClr val="accent4">
                <a:lumMod val="60000"/>
                <a:lumOff val="40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en-US" altLang="zh-TW" sz="1800" b="1" i="0" u="none" strike="noStrike" cap="none" normalizeH="0" baseline="0" smtClean="0">
              <a:ln>
                <a:noFill/>
              </a:ln>
              <a:solidFill>
                <a:schemeClr val="tx1"/>
              </a:solidFill>
              <a:effectLst/>
              <a:latin typeface="Times New Roman Regular" panose="02020503050405090304" charset="0"/>
              <a:ea typeface="PMingLiU" pitchFamily="18" charset="-120"/>
              <a:cs typeface="Times New Roman Regular" panose="02020503050405090304" charset="0"/>
            </a:endParaRPr>
          </a:p>
        </p:txBody>
      </p:sp>
      <p:sp>
        <p:nvSpPr>
          <p:cNvPr id="16" name="文本框 15"/>
          <p:cNvSpPr txBox="1"/>
          <p:nvPr/>
        </p:nvSpPr>
        <p:spPr>
          <a:xfrm>
            <a:off x="6779260" y="2299970"/>
            <a:ext cx="4064000" cy="398780"/>
          </a:xfrm>
          <a:prstGeom prst="rect">
            <a:avLst/>
          </a:prstGeom>
          <a:noFill/>
        </p:spPr>
        <p:txBody>
          <a:bodyPr wrap="square" rtlCol="0" anchor="ctr" anchorCtr="1">
            <a:spAutoFit/>
          </a:bodyPr>
          <a:p>
            <a:r>
              <a:rPr lang="en-US" altLang="zh-CN" sz="2000" dirty="0" smtClean="0">
                <a:solidFill>
                  <a:srgbClr val="C00000"/>
                </a:solidFill>
                <a:latin typeface="Times New Roman Regular" panose="02020503050405090304" charset="0"/>
                <a:ea typeface="標楷體" pitchFamily="65" charset="-120"/>
                <a:cs typeface="Times New Roman Regular" panose="02020503050405090304" charset="0"/>
              </a:rPr>
              <a:t>VM Boundary</a:t>
            </a:r>
            <a:endParaRPr lang="en-US" altLang="zh-CN" sz="2000" dirty="0" smtClean="0">
              <a:solidFill>
                <a:srgbClr val="C00000"/>
              </a:solidFill>
              <a:latin typeface="Times New Roman Regular" panose="02020503050405090304" charset="0"/>
              <a:ea typeface="標楷體" pitchFamily="65" charset="-120"/>
              <a:cs typeface="Times New Roman Regular" panose="02020503050405090304" charset="0"/>
            </a:endParaRPr>
          </a:p>
        </p:txBody>
      </p:sp>
      <p:sp>
        <p:nvSpPr>
          <p:cNvPr id="17" name="圆角矩形 16"/>
          <p:cNvSpPr/>
          <p:nvPr/>
        </p:nvSpPr>
        <p:spPr>
          <a:xfrm>
            <a:off x="5947410" y="3084195"/>
            <a:ext cx="1492885" cy="884555"/>
          </a:xfrm>
          <a:prstGeom prst="roundRect">
            <a:avLst/>
          </a:prstGeom>
          <a:solidFill>
            <a:schemeClr val="accent4">
              <a:lumMod val="20000"/>
              <a:lumOff val="80000"/>
            </a:schemeClr>
          </a:solidFill>
          <a:ln w="15875" cap="flat" cmpd="sng" algn="ctr">
            <a:solidFill>
              <a:schemeClr val="accent4">
                <a:lumMod val="75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18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Service A</a:t>
            </a:r>
            <a:endParaRPr kumimoji="1" lang="en-US" altLang="zh-TW" sz="18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endParaRPr>
          </a:p>
          <a:p>
            <a:pPr marL="0" marR="0" indent="0" algn="ctr" defTabSz="914400" rtl="0" eaLnBrk="1" fontAlgn="base" latinLnBrk="0" hangingPunct="1">
              <a:lnSpc>
                <a:spcPct val="100000"/>
              </a:lnSpc>
              <a:spcBef>
                <a:spcPct val="0"/>
              </a:spcBef>
              <a:spcAft>
                <a:spcPct val="0"/>
              </a:spcAft>
              <a:buClrTx/>
              <a:buSzTx/>
              <a:buFontTx/>
              <a:buNone/>
            </a:pPr>
            <a:r>
              <a:rPr kumimoji="1" lang="en-US" altLang="zh-TW" sz="18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App</a:t>
            </a:r>
            <a:endParaRPr kumimoji="1" lang="en-US" altLang="zh-TW" sz="18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endParaRPr>
          </a:p>
        </p:txBody>
      </p:sp>
      <p:sp>
        <p:nvSpPr>
          <p:cNvPr id="18" name="圆角矩形 17"/>
          <p:cNvSpPr/>
          <p:nvPr/>
        </p:nvSpPr>
        <p:spPr>
          <a:xfrm>
            <a:off x="8065135" y="3084195"/>
            <a:ext cx="1492885" cy="884555"/>
          </a:xfrm>
          <a:prstGeom prst="roundRect">
            <a:avLst/>
          </a:prstGeom>
          <a:solidFill>
            <a:schemeClr val="accent4">
              <a:lumMod val="20000"/>
              <a:lumOff val="80000"/>
            </a:schemeClr>
          </a:solidFill>
          <a:ln w="15875" cap="flat" cmpd="sng" algn="ctr">
            <a:solidFill>
              <a:schemeClr val="accent4">
                <a:lumMod val="75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1800" i="0" u="none" strike="noStrike" cap="none" normalizeH="0" baseline="0" smtClean="0">
                <a:ln>
                  <a:noFill/>
                </a:ln>
                <a:solidFill>
                  <a:schemeClr val="tx1"/>
                </a:solidFill>
                <a:effectLst/>
                <a:latin typeface="Times New Roman Regular" panose="02020503050405090304" charset="0"/>
                <a:ea typeface="PMingLiU" pitchFamily="18" charset="-120"/>
                <a:cs typeface="Times New Roman Regular" panose="02020503050405090304" charset="0"/>
              </a:rPr>
              <a:t>Service B</a:t>
            </a:r>
            <a:endParaRPr kumimoji="1" lang="en-US" altLang="zh-TW" sz="1800" i="0" u="none" strike="noStrike" cap="none" normalizeH="0" baseline="0" smtClean="0">
              <a:ln>
                <a:noFill/>
              </a:ln>
              <a:solidFill>
                <a:schemeClr val="tx1"/>
              </a:solidFill>
              <a:effectLst/>
              <a:latin typeface="Times New Roman Regular" panose="02020503050405090304" charset="0"/>
              <a:ea typeface="PMingLiU" pitchFamily="18" charset="-120"/>
              <a:cs typeface="Times New Roman Regular" panose="02020503050405090304" charset="0"/>
            </a:endParaRPr>
          </a:p>
          <a:p>
            <a:pPr marL="0" marR="0" indent="0" algn="ctr" defTabSz="914400" rtl="0" eaLnBrk="1" fontAlgn="base" latinLnBrk="0" hangingPunct="1">
              <a:lnSpc>
                <a:spcPct val="100000"/>
              </a:lnSpc>
              <a:spcBef>
                <a:spcPct val="0"/>
              </a:spcBef>
              <a:spcAft>
                <a:spcPct val="0"/>
              </a:spcAft>
              <a:buClrTx/>
              <a:buSzTx/>
              <a:buFontTx/>
              <a:buNone/>
            </a:pPr>
            <a:r>
              <a:rPr kumimoji="1" lang="en-US" altLang="zh-TW" sz="1800" i="0" u="none" strike="noStrike" cap="none" normalizeH="0" baseline="0" smtClean="0">
                <a:ln>
                  <a:noFill/>
                </a:ln>
                <a:solidFill>
                  <a:schemeClr val="tx1"/>
                </a:solidFill>
                <a:effectLst/>
                <a:latin typeface="Times New Roman Regular" panose="02020503050405090304" charset="0"/>
                <a:ea typeface="PMingLiU" pitchFamily="18" charset="-120"/>
                <a:cs typeface="Times New Roman Regular" panose="02020503050405090304" charset="0"/>
              </a:rPr>
              <a:t>DB</a:t>
            </a:r>
            <a:endParaRPr kumimoji="1" lang="en-US" altLang="zh-TW" sz="1800" i="0" u="none" strike="noStrike" cap="none" normalizeH="0" baseline="0" smtClean="0">
              <a:ln>
                <a:noFill/>
              </a:ln>
              <a:solidFill>
                <a:schemeClr val="tx1"/>
              </a:solidFill>
              <a:effectLst/>
              <a:latin typeface="Times New Roman Regular" panose="02020503050405090304" charset="0"/>
              <a:ea typeface="PMingLiU" pitchFamily="18" charset="-120"/>
              <a:cs typeface="Times New Roman Regular" panose="02020503050405090304" charset="0"/>
            </a:endParaRPr>
          </a:p>
        </p:txBody>
      </p:sp>
      <p:sp>
        <p:nvSpPr>
          <p:cNvPr id="19" name="圆角矩形 18"/>
          <p:cNvSpPr/>
          <p:nvPr/>
        </p:nvSpPr>
        <p:spPr>
          <a:xfrm>
            <a:off x="10182860" y="3084195"/>
            <a:ext cx="1492885" cy="884555"/>
          </a:xfrm>
          <a:prstGeom prst="roundRect">
            <a:avLst/>
          </a:prstGeom>
          <a:solidFill>
            <a:schemeClr val="accent4">
              <a:lumMod val="20000"/>
              <a:lumOff val="80000"/>
            </a:schemeClr>
          </a:solidFill>
          <a:ln w="15875" cap="flat" cmpd="sng" algn="ctr">
            <a:solidFill>
              <a:schemeClr val="accent4">
                <a:lumMod val="75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1800" i="0" u="none" strike="noStrike" cap="none" normalizeH="0" baseline="0" smtClean="0">
                <a:ln>
                  <a:noFill/>
                </a:ln>
                <a:solidFill>
                  <a:schemeClr val="tx1"/>
                </a:solidFill>
                <a:effectLst/>
                <a:latin typeface="Times New Roman Regular" panose="02020503050405090304" charset="0"/>
                <a:ea typeface="PMingLiU" pitchFamily="18" charset="-120"/>
                <a:cs typeface="Times New Roman Regular" panose="02020503050405090304" charset="0"/>
              </a:rPr>
              <a:t>Service C</a:t>
            </a:r>
            <a:endParaRPr kumimoji="1" lang="en-US" altLang="zh-TW" sz="1800" i="0" u="none" strike="noStrike" cap="none" normalizeH="0" baseline="0" smtClean="0">
              <a:ln>
                <a:noFill/>
              </a:ln>
              <a:solidFill>
                <a:schemeClr val="tx1"/>
              </a:solidFill>
              <a:effectLst/>
              <a:latin typeface="Times New Roman Regular" panose="02020503050405090304" charset="0"/>
              <a:ea typeface="PMingLiU" pitchFamily="18" charset="-120"/>
              <a:cs typeface="Times New Roman Regular" panose="02020503050405090304" charset="0"/>
            </a:endParaRPr>
          </a:p>
          <a:p>
            <a:pPr marL="0" marR="0" indent="0" algn="ctr" defTabSz="914400" rtl="0" eaLnBrk="1" fontAlgn="base" latinLnBrk="0" hangingPunct="1">
              <a:lnSpc>
                <a:spcPct val="100000"/>
              </a:lnSpc>
              <a:spcBef>
                <a:spcPct val="0"/>
              </a:spcBef>
              <a:spcAft>
                <a:spcPct val="0"/>
              </a:spcAft>
              <a:buClrTx/>
              <a:buSzTx/>
              <a:buFontTx/>
              <a:buNone/>
            </a:pPr>
            <a:r>
              <a:rPr kumimoji="1" lang="en-US" altLang="zh-TW" sz="1800" i="0" u="none" strike="noStrike" cap="none" normalizeH="0" baseline="0" smtClean="0">
                <a:ln>
                  <a:noFill/>
                </a:ln>
                <a:solidFill>
                  <a:schemeClr val="tx1"/>
                </a:solidFill>
                <a:effectLst/>
                <a:latin typeface="Times New Roman Regular" panose="02020503050405090304" charset="0"/>
                <a:ea typeface="PMingLiU" pitchFamily="18" charset="-120"/>
                <a:cs typeface="Times New Roman Regular" panose="02020503050405090304" charset="0"/>
              </a:rPr>
              <a:t>...</a:t>
            </a:r>
            <a:endParaRPr kumimoji="1" lang="en-US" altLang="zh-TW" sz="1800" i="0" u="none" strike="noStrike" cap="none" normalizeH="0" baseline="0" smtClean="0">
              <a:ln>
                <a:noFill/>
              </a:ln>
              <a:solidFill>
                <a:schemeClr val="tx1"/>
              </a:solidFill>
              <a:effectLst/>
              <a:latin typeface="Times New Roman Regular" panose="02020503050405090304" charset="0"/>
              <a:ea typeface="PMingLiU" pitchFamily="18" charset="-120"/>
              <a:cs typeface="Times New Roman Regular" panose="02020503050405090304" charset="0"/>
            </a:endParaRPr>
          </a:p>
        </p:txBody>
      </p:sp>
      <p:sp>
        <p:nvSpPr>
          <p:cNvPr id="20" name="矩形 19"/>
          <p:cNvSpPr/>
          <p:nvPr/>
        </p:nvSpPr>
        <p:spPr>
          <a:xfrm>
            <a:off x="6343015" y="4591050"/>
            <a:ext cx="4935855" cy="449580"/>
          </a:xfrm>
          <a:prstGeom prst="rect">
            <a:avLst/>
          </a:prstGeom>
          <a:solidFill>
            <a:schemeClr val="accent3">
              <a:lumMod val="40000"/>
              <a:lumOff val="60000"/>
            </a:schemeClr>
          </a:solidFill>
          <a:ln w="15875" cap="flat" cmpd="sng" algn="ctr">
            <a:solidFill>
              <a:schemeClr val="accent3">
                <a:lumMod val="75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1800" i="0" u="none" strike="noStrike" cap="none" normalizeH="0" baseline="0" smtClean="0">
                <a:ln>
                  <a:noFill/>
                </a:ln>
                <a:solidFill>
                  <a:schemeClr val="tx1"/>
                </a:solidFill>
                <a:effectLst/>
                <a:latin typeface="Times New Roman Regular" panose="02020503050405090304" charset="0"/>
                <a:ea typeface="PMingLiU" pitchFamily="18" charset="-120"/>
                <a:cs typeface="Times New Roman Regular" panose="02020503050405090304" charset="0"/>
              </a:rPr>
              <a:t>Kernel Networking / TCP/IP Stack / vSwitch</a:t>
            </a:r>
            <a:endParaRPr kumimoji="1" lang="en-US" altLang="zh-TW" sz="1800" i="0" u="none" strike="noStrike" cap="none" normalizeH="0" baseline="0" smtClean="0">
              <a:ln>
                <a:noFill/>
              </a:ln>
              <a:solidFill>
                <a:schemeClr val="tx1"/>
              </a:solidFill>
              <a:effectLst/>
              <a:latin typeface="Times New Roman Regular" panose="02020503050405090304" charset="0"/>
              <a:ea typeface="PMingLiU" pitchFamily="18" charset="-120"/>
              <a:cs typeface="Times New Roman Regular" panose="02020503050405090304" charset="0"/>
            </a:endParaRPr>
          </a:p>
        </p:txBody>
      </p:sp>
      <p:cxnSp>
        <p:nvCxnSpPr>
          <p:cNvPr id="23" name="直接箭头连接符 22"/>
          <p:cNvCxnSpPr>
            <a:stCxn id="17" idx="2"/>
            <a:endCxn id="20" idx="0"/>
          </p:cNvCxnSpPr>
          <p:nvPr/>
        </p:nvCxnSpPr>
        <p:spPr>
          <a:xfrm>
            <a:off x="6694170" y="3968750"/>
            <a:ext cx="2117090" cy="622300"/>
          </a:xfrm>
          <a:prstGeom prst="straightConnector1">
            <a:avLst/>
          </a:prstGeom>
          <a:noFill/>
          <a:ln w="19050" cap="flat" cmpd="sng" algn="ctr">
            <a:solidFill>
              <a:schemeClr val="accent1"/>
            </a:solidFill>
            <a:prstDash val="solid"/>
            <a:round/>
            <a:headEnd type="arrow" w="med" len="med"/>
            <a:tailEnd type="arrow" w="med" len="med"/>
          </a:ln>
        </p:spPr>
      </p:cxnSp>
      <p:cxnSp>
        <p:nvCxnSpPr>
          <p:cNvPr id="24" name="直接箭头连接符 23"/>
          <p:cNvCxnSpPr>
            <a:stCxn id="18" idx="2"/>
            <a:endCxn id="20" idx="0"/>
          </p:cNvCxnSpPr>
          <p:nvPr/>
        </p:nvCxnSpPr>
        <p:spPr>
          <a:xfrm flipH="1">
            <a:off x="8811260" y="3968750"/>
            <a:ext cx="635" cy="622300"/>
          </a:xfrm>
          <a:prstGeom prst="straightConnector1">
            <a:avLst/>
          </a:prstGeom>
          <a:noFill/>
          <a:ln w="19050" cap="flat" cmpd="sng" algn="ctr">
            <a:solidFill>
              <a:schemeClr val="accent1"/>
            </a:solidFill>
            <a:prstDash val="solid"/>
            <a:round/>
            <a:headEnd type="arrow" w="med" len="med"/>
            <a:tailEnd type="arrow" w="med" len="med"/>
          </a:ln>
        </p:spPr>
      </p:cxnSp>
      <p:cxnSp>
        <p:nvCxnSpPr>
          <p:cNvPr id="25" name="直接箭头连接符 24"/>
          <p:cNvCxnSpPr>
            <a:stCxn id="19" idx="2"/>
            <a:endCxn id="20" idx="0"/>
          </p:cNvCxnSpPr>
          <p:nvPr/>
        </p:nvCxnSpPr>
        <p:spPr>
          <a:xfrm flipH="1">
            <a:off x="8811260" y="3968750"/>
            <a:ext cx="2118360" cy="622300"/>
          </a:xfrm>
          <a:prstGeom prst="straightConnector1">
            <a:avLst/>
          </a:prstGeom>
          <a:noFill/>
          <a:ln w="19050" cap="flat" cmpd="sng" algn="ctr">
            <a:solidFill>
              <a:schemeClr val="accent1"/>
            </a:solidFill>
            <a:prstDash val="solid"/>
            <a:round/>
            <a:headEnd type="arrow" w="med" len="med"/>
            <a:tailEnd type="arrow" w="med" len="med"/>
          </a:ln>
        </p:spPr>
      </p:cxnSp>
      <p:sp>
        <p:nvSpPr>
          <p:cNvPr id="26" name="椭圆 25"/>
          <p:cNvSpPr/>
          <p:nvPr/>
        </p:nvSpPr>
        <p:spPr>
          <a:xfrm>
            <a:off x="7138035" y="1319530"/>
            <a:ext cx="3345815" cy="553085"/>
          </a:xfrm>
          <a:prstGeom prst="ellipse">
            <a:avLst/>
          </a:prstGeom>
          <a:solidFill>
            <a:schemeClr val="accent4">
              <a:lumMod val="40000"/>
              <a:lumOff val="60000"/>
            </a:schemeClr>
          </a:solidFill>
          <a:ln w="15875" cap="flat" cmpd="sng" algn="ctr">
            <a:solidFill>
              <a:schemeClr val="accent4">
                <a:lumMod val="75000"/>
              </a:schemeClr>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sz="20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rPr>
              <a:t>Client</a:t>
            </a:r>
            <a:endParaRPr kumimoji="1" lang="en-US" altLang="zh-TW" sz="2000" i="0" u="none" strike="noStrike" cap="none" normalizeH="0" baseline="0" smtClean="0">
              <a:ln>
                <a:noFill/>
              </a:ln>
              <a:solidFill>
                <a:schemeClr val="tx1"/>
              </a:solidFill>
              <a:effectLst/>
              <a:latin typeface="Times New Roman" panose="02020503050405090304" pitchFamily="18" charset="0"/>
              <a:ea typeface="PMingLiU" pitchFamily="18" charset="-120"/>
              <a:cs typeface="Times New Roman" panose="02020503050405090304" pitchFamily="18" charset="0"/>
            </a:endParaRPr>
          </a:p>
        </p:txBody>
      </p:sp>
      <p:cxnSp>
        <p:nvCxnSpPr>
          <p:cNvPr id="27" name="直接箭头连接符 26"/>
          <p:cNvCxnSpPr>
            <a:stCxn id="26" idx="4"/>
            <a:endCxn id="16" idx="0"/>
          </p:cNvCxnSpPr>
          <p:nvPr/>
        </p:nvCxnSpPr>
        <p:spPr>
          <a:xfrm>
            <a:off x="8811260" y="1872615"/>
            <a:ext cx="0" cy="427355"/>
          </a:xfrm>
          <a:prstGeom prst="straightConnector1">
            <a:avLst/>
          </a:prstGeom>
          <a:noFill/>
          <a:ln w="15875" cap="flat" cmpd="sng" algn="ctr">
            <a:solidFill>
              <a:srgbClr val="FF0000"/>
            </a:solidFill>
            <a:prstDash val="solid"/>
            <a:round/>
            <a:headEnd type="arrow" w="med" len="med"/>
            <a:tailEnd type="arrow"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ea typeface="Calibri" pitchFamily="34" charset="0"/>
                <a:cs typeface="Calibri" pitchFamily="34" charset="0"/>
              </a:rPr>
              <a:t>2.Background &amp;</a:t>
            </a:r>
            <a:r>
              <a:rPr lang="zh-CN" altLang="en-US" dirty="0">
                <a:ea typeface="Calibri" pitchFamily="34" charset="0"/>
                <a:cs typeface="Calibri" pitchFamily="34" charset="0"/>
              </a:rPr>
              <a:t> </a:t>
            </a:r>
            <a:r>
              <a:rPr lang="en-US" altLang="zh-CN" dirty="0">
                <a:ea typeface="Calibri" pitchFamily="34" charset="0"/>
                <a:cs typeface="Calibri" pitchFamily="34" charset="0"/>
              </a:rPr>
              <a:t>Motivation</a:t>
            </a:r>
            <a:r>
              <a:rPr lang="zh-CN" altLang="en-US" dirty="0">
                <a:ea typeface="Calibri" pitchFamily="34" charset="0"/>
                <a:cs typeface="Calibri" pitchFamily="34" charset="0"/>
              </a:rPr>
              <a:t> </a:t>
            </a:r>
            <a:r>
              <a:rPr lang="en-US" altLang="zh-CN" dirty="0">
                <a:ea typeface="Calibri" pitchFamily="34" charset="0"/>
                <a:cs typeface="Calibri" pitchFamily="34" charset="0"/>
              </a:rPr>
              <a:t>(3/3)</a:t>
            </a:r>
            <a:endParaRPr lang="en-US" dirty="0">
              <a:ea typeface="Calibri" pitchFamily="34" charset="0"/>
              <a:cs typeface="Calibri"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内容占位符 5"/>
          <p:cNvSpPr>
            <a:spLocks noGrp="1"/>
          </p:cNvSpPr>
          <p:nvPr>
            <p:ph idx="1"/>
          </p:nvPr>
        </p:nvSpPr>
        <p:spPr>
          <a:xfrm>
            <a:off x="617220" y="1115060"/>
            <a:ext cx="8285480" cy="2066925"/>
          </a:xfrm>
        </p:spPr>
        <p:txBody>
          <a:bodyPr/>
          <a:lstStyle/>
          <a:p>
            <a:r>
              <a:rPr lang="en-US" altLang="zh-CN" sz="2400" b="1" dirty="0">
                <a:latin typeface="Times New Roman" panose="02020503050405090304" pitchFamily="18" charset="0"/>
                <a:cs typeface="Times New Roman" panose="02020503050405090304" pitchFamily="18" charset="0"/>
              </a:rPr>
              <a:t>Security Perspective</a:t>
            </a:r>
            <a:endParaRPr lang="en-US" altLang="zh-CN" sz="2400" dirty="0">
              <a:latin typeface="Times New Roman" panose="02020503050405090304" pitchFamily="18" charset="0"/>
              <a:cs typeface="Times New Roman" panose="02020503050405090304" pitchFamily="18" charset="0"/>
            </a:endParaRPr>
          </a:p>
          <a:p>
            <a:pPr lvl="1"/>
            <a:r>
              <a:rPr lang="en-US" altLang="zh-CN" sz="2055" dirty="0">
                <a:latin typeface="Times New Roman" panose="02020503050405090304" pitchFamily="18" charset="0"/>
                <a:cs typeface="Times New Roman" panose="02020503050405090304" pitchFamily="18" charset="0"/>
              </a:rPr>
              <a:t>Containers are lightweight, but expose a wide host-kernel interface</a:t>
            </a:r>
            <a:endParaRPr lang="en-US" altLang="zh-CN" sz="2055" dirty="0">
              <a:latin typeface="Times New Roman" panose="02020503050405090304" pitchFamily="18" charset="0"/>
              <a:cs typeface="Times New Roman" panose="02020503050405090304" pitchFamily="18" charset="0"/>
            </a:endParaRPr>
          </a:p>
          <a:p>
            <a:pPr lvl="1"/>
            <a:r>
              <a:rPr lang="en-US" altLang="zh-CN" sz="2055" dirty="0">
                <a:latin typeface="Times New Roman" panose="02020503050405090304" pitchFamily="18" charset="0"/>
                <a:cs typeface="Times New Roman" panose="02020503050405090304" pitchFamily="18" charset="0"/>
              </a:rPr>
              <a:t>Syscall filtering improves security, but reduces compatibility</a:t>
            </a:r>
            <a:endParaRPr lang="en-US" altLang="zh-CN" sz="2055" dirty="0">
              <a:latin typeface="Times New Roman" panose="02020503050405090304" pitchFamily="18" charset="0"/>
              <a:cs typeface="Times New Roman" panose="02020503050405090304" pitchFamily="18" charset="0"/>
            </a:endParaRPr>
          </a:p>
          <a:p>
            <a:pPr lvl="1"/>
            <a:r>
              <a:rPr lang="en-US" altLang="zh-CN" sz="2055" dirty="0">
                <a:latin typeface="Times New Roman" panose="02020503050405090304" pitchFamily="18" charset="0"/>
                <a:cs typeface="Times New Roman" panose="02020503050405090304" pitchFamily="18" charset="0"/>
              </a:rPr>
              <a:t>VMs provide stronger isolation, but increase the TCB</a:t>
            </a:r>
            <a:endParaRPr lang="en-US" altLang="zh-CN" sz="2055" dirty="0">
              <a:latin typeface="Times New Roman" panose="02020503050405090304" pitchFamily="18" charset="0"/>
              <a:cs typeface="Times New Roman" panose="02020503050405090304" pitchFamily="18" charset="0"/>
            </a:endParaRPr>
          </a:p>
          <a:p>
            <a:pPr lvl="1"/>
            <a:r>
              <a:rPr lang="en-US" altLang="zh-CN" sz="2055" dirty="0">
                <a:latin typeface="Times New Roman" panose="02020503050405090304" pitchFamily="18" charset="0"/>
                <a:cs typeface="Times New Roman" panose="02020503050405090304" pitchFamily="18" charset="0"/>
              </a:rPr>
              <a:t>Unikernels reduce footprint, but raise single-address-space concerns</a:t>
            </a:r>
            <a:endParaRPr lang="en-US" altLang="zh-CN" sz="2055" dirty="0">
              <a:latin typeface="Times New Roman" panose="02020503050405090304" pitchFamily="18" charset="0"/>
              <a:cs typeface="Times New Roman" panose="02020503050405090304" pitchFamily="18" charset="0"/>
            </a:endParaRPr>
          </a:p>
        </p:txBody>
      </p:sp>
      <p:pic>
        <p:nvPicPr>
          <p:cNvPr id="12" name="图片 11"/>
          <p:cNvPicPr>
            <a:picLocks noChangeAspect="1"/>
          </p:cNvPicPr>
          <p:nvPr/>
        </p:nvPicPr>
        <p:blipFill>
          <a:blip r:embed="rId1"/>
          <a:stretch>
            <a:fillRect/>
          </a:stretch>
        </p:blipFill>
        <p:spPr>
          <a:xfrm>
            <a:off x="2322195" y="3098800"/>
            <a:ext cx="7973060" cy="2652395"/>
          </a:xfrm>
          <a:prstGeom prst="rect">
            <a:avLst/>
          </a:prstGeom>
        </p:spPr>
      </p:pic>
      <p:sp>
        <p:nvSpPr>
          <p:cNvPr id="13" name="文本框 12"/>
          <p:cNvSpPr txBox="1"/>
          <p:nvPr/>
        </p:nvSpPr>
        <p:spPr>
          <a:xfrm>
            <a:off x="2892126" y="5752060"/>
            <a:ext cx="6832003" cy="398780"/>
          </a:xfrm>
          <a:prstGeom prst="rect">
            <a:avLst/>
          </a:prstGeom>
          <a:noFill/>
        </p:spPr>
        <p:txBody>
          <a:bodyPr wrap="square" rtlCol="0" anchor="ctr" anchorCtr="1">
            <a:sp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1. Comparisons of three representative isolation architectures</a:t>
            </a:r>
            <a:endParaRPr kumimoji="1" lang="zh-CN" altLang="en-US" sz="2000" dirty="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275" y="1218565"/>
            <a:ext cx="10271125" cy="4703445"/>
          </a:xfrm>
        </p:spPr>
        <p:txBody>
          <a:bodyPr>
            <a:noAutofit/>
          </a:bodyPr>
          <a:lstStyle/>
          <a:p>
            <a:r>
              <a:rPr lang="en-US" altLang="zh-CN" sz="2935" dirty="0">
                <a:solidFill>
                  <a:schemeClr val="tx1"/>
                </a:solidFill>
                <a:latin typeface="Times New Roman" panose="02020503050405090304" pitchFamily="18" charset="0"/>
                <a:cs typeface="Times New Roman" panose="02020503050405090304" pitchFamily="18" charset="0"/>
              </a:rPr>
              <a:t>Introduction</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Motivation</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Proposed Methods &amp; Performance Evaluation </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solidFill>
                  <a:srgbClr val="FF0000"/>
                </a:solidFill>
                <a:latin typeface="Times New Roman" panose="02020503050405090304" pitchFamily="18" charset="0"/>
                <a:cs typeface="Times New Roman" panose="02020503050405090304" pitchFamily="18" charset="0"/>
              </a:rPr>
              <a:t>Firecracker</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err="1">
                <a:latin typeface="Times New Roman" panose="02020503050405090304" pitchFamily="18" charset="0"/>
                <a:cs typeface="Times New Roman" panose="02020503050405090304" pitchFamily="18" charset="0"/>
              </a:rPr>
              <a:t>SURE</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LITESHIELD</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Conclusions </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a:t>
            </a:r>
            <a:endParaRPr lang="en-US" altLang="zh-CN" sz="2935"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3.1</a:t>
            </a:r>
            <a:r>
              <a:rPr lang="zh-CN" altLang="en-US" dirty="0"/>
              <a:t> </a:t>
            </a:r>
            <a:r>
              <a:rPr lang="en-US" altLang="zh-CN" dirty="0"/>
              <a:t>Firecracker (1/4)</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文本框 1"/>
          <p:cNvSpPr txBox="1"/>
          <p:nvPr/>
        </p:nvSpPr>
        <p:spPr>
          <a:xfrm>
            <a:off x="5342255" y="4897120"/>
            <a:ext cx="6678930" cy="775970"/>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2.</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The security model of Linux containers and KVM-style virtualization</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5342255" y="1835785"/>
            <a:ext cx="6679565" cy="3132455"/>
          </a:xfrm>
          <a:prstGeom prst="rect">
            <a:avLst/>
          </a:prstGeom>
        </p:spPr>
      </p:pic>
      <p:sp>
        <p:nvSpPr>
          <p:cNvPr id="9" name="内容占位符 5"/>
          <p:cNvSpPr txBox="1"/>
          <p:nvPr/>
        </p:nvSpPr>
        <p:spPr bwMode="auto">
          <a:xfrm>
            <a:off x="171450" y="1369695"/>
            <a:ext cx="7748905" cy="430339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00000"/>
              </a:lnSpc>
            </a:pPr>
            <a:r>
              <a:rPr lang="en-US" altLang="zh-CN" sz="2400" kern="0" dirty="0">
                <a:latin typeface="Times New Roman" panose="02020503050405090304" pitchFamily="18" charset="0"/>
                <a:cs typeface="Times New Roman" panose="02020503050405090304" pitchFamily="18" charset="0"/>
              </a:rPr>
              <a:t>Firecracker: </a:t>
            </a:r>
            <a:r>
              <a:rPr lang="en-US" altLang="zh-CN" sz="2400" b="1" kern="0" dirty="0">
                <a:latin typeface="Times New Roman" panose="02020503050405090304" pitchFamily="18" charset="0"/>
                <a:cs typeface="Times New Roman" panose="02020503050405090304" pitchFamily="18" charset="0"/>
              </a:rPr>
              <a:t>Making VM Isolation Practical for Serverless</a:t>
            </a:r>
            <a:endParaRPr lang="en-US" altLang="zh-CN" sz="2400" kern="0" dirty="0">
              <a:latin typeface="Times New Roman" panose="02020503050405090304" pitchFamily="18" charset="0"/>
              <a:cs typeface="Times New Roman" panose="02020503050405090304" pitchFamily="18" charset="0"/>
            </a:endParaRPr>
          </a:p>
          <a:p>
            <a:pPr lvl="1">
              <a:lnSpc>
                <a:spcPct val="100000"/>
              </a:lnSpc>
            </a:pPr>
            <a:r>
              <a:rPr lang="en-US" altLang="zh-CN" sz="2200" kern="0" dirty="0">
                <a:latin typeface="Times New Roman" panose="02020503050405090304" pitchFamily="18" charset="0"/>
                <a:cs typeface="Times New Roman" panose="02020503050405090304" pitchFamily="18" charset="0"/>
              </a:rPr>
              <a:t>Strong isolation is needed for public serverless</a:t>
            </a:r>
            <a:endParaRPr lang="en-US" altLang="zh-CN" sz="2200" kern="0" dirty="0">
              <a:latin typeface="Times New Roman" panose="02020503050405090304" pitchFamily="18" charset="0"/>
              <a:cs typeface="Times New Roman" panose="02020503050405090304" pitchFamily="18" charset="0"/>
            </a:endParaRPr>
          </a:p>
          <a:p>
            <a:pPr lvl="1">
              <a:lnSpc>
                <a:spcPct val="100000"/>
              </a:lnSpc>
            </a:pPr>
            <a:r>
              <a:rPr lang="en-US" altLang="zh-CN" sz="2200" kern="0" dirty="0">
                <a:latin typeface="Times New Roman" panose="02020503050405090304" pitchFamily="18" charset="0"/>
                <a:cs typeface="Times New Roman" panose="02020503050405090304" pitchFamily="18" charset="0"/>
              </a:rPr>
              <a:t>Containers expose a </a:t>
            </a:r>
            <a:r>
              <a:rPr lang="en-US" altLang="zh-CN" sz="2200" b="1" kern="0" dirty="0">
                <a:latin typeface="Times New Roman" panose="02020503050405090304" pitchFamily="18" charset="0"/>
                <a:cs typeface="Times New Roman" panose="02020503050405090304" pitchFamily="18" charset="0"/>
              </a:rPr>
              <a:t>security-compatibility</a:t>
            </a:r>
            <a:r>
              <a:rPr lang="en-US" altLang="zh-CN" sz="2200" kern="0" dirty="0">
                <a:latin typeface="Times New Roman" panose="02020503050405090304" pitchFamily="18" charset="0"/>
                <a:cs typeface="Times New Roman" panose="02020503050405090304" pitchFamily="18" charset="0"/>
              </a:rPr>
              <a:t> tradeoff</a:t>
            </a:r>
            <a:endParaRPr lang="en-US" altLang="zh-CN" sz="2200" kern="0" dirty="0">
              <a:latin typeface="Times New Roman" panose="02020503050405090304" pitchFamily="18" charset="0"/>
              <a:cs typeface="Times New Roman" panose="02020503050405090304" pitchFamily="18" charset="0"/>
            </a:endParaRPr>
          </a:p>
          <a:p>
            <a:pPr lvl="1">
              <a:lnSpc>
                <a:spcPct val="100000"/>
              </a:lnSpc>
            </a:pPr>
            <a:r>
              <a:rPr lang="en-US" altLang="zh-CN" sz="2200" kern="0" dirty="0">
                <a:latin typeface="Times New Roman" panose="02020503050405090304" pitchFamily="18" charset="0"/>
                <a:cs typeface="Times New Roman" panose="02020503050405090304" pitchFamily="18" charset="0"/>
              </a:rPr>
              <a:t>Firecracker targets:</a:t>
            </a:r>
            <a:endParaRPr lang="en-US" altLang="zh-CN" sz="22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isolation</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density</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performance</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compatibility</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fast switching</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soft allocation</a:t>
            </a:r>
            <a:endParaRPr lang="en-US" altLang="zh-CN" sz="2000" kern="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3.1</a:t>
            </a:r>
            <a:r>
              <a:rPr lang="zh-CN" altLang="en-US" dirty="0"/>
              <a:t> </a:t>
            </a:r>
            <a:r>
              <a:rPr lang="en-US" altLang="zh-CN" dirty="0"/>
              <a:t>Firecracker (1/4)</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文本框 1"/>
          <p:cNvSpPr txBox="1"/>
          <p:nvPr/>
        </p:nvSpPr>
        <p:spPr>
          <a:xfrm>
            <a:off x="5342255" y="4897120"/>
            <a:ext cx="6678930" cy="775970"/>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2.</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The security model of Linux containers and KVM-style virtualization</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5342255" y="1835785"/>
            <a:ext cx="6679565" cy="3132455"/>
          </a:xfrm>
          <a:prstGeom prst="rect">
            <a:avLst/>
          </a:prstGeom>
        </p:spPr>
      </p:pic>
      <p:sp>
        <p:nvSpPr>
          <p:cNvPr id="9" name="内容占位符 5"/>
          <p:cNvSpPr txBox="1"/>
          <p:nvPr/>
        </p:nvSpPr>
        <p:spPr bwMode="auto">
          <a:xfrm>
            <a:off x="171450" y="1369695"/>
            <a:ext cx="7748905" cy="430339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00000"/>
              </a:lnSpc>
            </a:pPr>
            <a:r>
              <a:rPr lang="en-US" altLang="zh-CN" sz="2400" kern="0" dirty="0">
                <a:latin typeface="Times New Roman" panose="02020503050405090304" pitchFamily="18" charset="0"/>
                <a:cs typeface="Times New Roman" panose="02020503050405090304" pitchFamily="18" charset="0"/>
              </a:rPr>
              <a:t>Firecracker: </a:t>
            </a:r>
            <a:r>
              <a:rPr lang="en-US" altLang="zh-CN" sz="2400" b="1" kern="0" dirty="0">
                <a:latin typeface="Times New Roman" panose="02020503050405090304" pitchFamily="18" charset="0"/>
                <a:cs typeface="Times New Roman" panose="02020503050405090304" pitchFamily="18" charset="0"/>
              </a:rPr>
              <a:t>Making VM Isolation Practical for Serverless</a:t>
            </a:r>
            <a:endParaRPr lang="en-US" altLang="zh-CN" sz="2400" kern="0" dirty="0">
              <a:latin typeface="Times New Roman" panose="02020503050405090304" pitchFamily="18" charset="0"/>
              <a:cs typeface="Times New Roman" panose="02020503050405090304" pitchFamily="18" charset="0"/>
            </a:endParaRPr>
          </a:p>
          <a:p>
            <a:pPr lvl="1">
              <a:lnSpc>
                <a:spcPct val="100000"/>
              </a:lnSpc>
            </a:pPr>
            <a:r>
              <a:rPr lang="en-US" altLang="zh-CN" sz="2200" kern="0" dirty="0">
                <a:latin typeface="Times New Roman" panose="02020503050405090304" pitchFamily="18" charset="0"/>
                <a:cs typeface="Times New Roman" panose="02020503050405090304" pitchFamily="18" charset="0"/>
              </a:rPr>
              <a:t>Strong isolation is needed for public serverless</a:t>
            </a:r>
            <a:endParaRPr lang="en-US" altLang="zh-CN" sz="2200" kern="0" dirty="0">
              <a:latin typeface="Times New Roman" panose="02020503050405090304" pitchFamily="18" charset="0"/>
              <a:cs typeface="Times New Roman" panose="02020503050405090304" pitchFamily="18" charset="0"/>
            </a:endParaRPr>
          </a:p>
          <a:p>
            <a:pPr lvl="1">
              <a:lnSpc>
                <a:spcPct val="100000"/>
              </a:lnSpc>
            </a:pPr>
            <a:r>
              <a:rPr lang="en-US" altLang="zh-CN" sz="2200" kern="0" dirty="0">
                <a:latin typeface="Times New Roman" panose="02020503050405090304" pitchFamily="18" charset="0"/>
                <a:cs typeface="Times New Roman" panose="02020503050405090304" pitchFamily="18" charset="0"/>
              </a:rPr>
              <a:t>Containers expose a </a:t>
            </a:r>
            <a:r>
              <a:rPr lang="en-US" altLang="zh-CN" sz="2200" b="1" kern="0" dirty="0">
                <a:latin typeface="Times New Roman" panose="02020503050405090304" pitchFamily="18" charset="0"/>
                <a:cs typeface="Times New Roman" panose="02020503050405090304" pitchFamily="18" charset="0"/>
              </a:rPr>
              <a:t>security-compatibility</a:t>
            </a:r>
            <a:r>
              <a:rPr lang="en-US" altLang="zh-CN" sz="2200" kern="0" dirty="0">
                <a:latin typeface="Times New Roman" panose="02020503050405090304" pitchFamily="18" charset="0"/>
                <a:cs typeface="Times New Roman" panose="02020503050405090304" pitchFamily="18" charset="0"/>
              </a:rPr>
              <a:t> tradeoff</a:t>
            </a:r>
            <a:endParaRPr lang="en-US" altLang="zh-CN" sz="2200" kern="0" dirty="0">
              <a:latin typeface="Times New Roman" panose="02020503050405090304" pitchFamily="18" charset="0"/>
              <a:cs typeface="Times New Roman" panose="02020503050405090304" pitchFamily="18" charset="0"/>
            </a:endParaRPr>
          </a:p>
          <a:p>
            <a:pPr lvl="1">
              <a:lnSpc>
                <a:spcPct val="100000"/>
              </a:lnSpc>
            </a:pPr>
            <a:r>
              <a:rPr lang="en-US" altLang="zh-CN" sz="2200" kern="0" dirty="0">
                <a:latin typeface="Times New Roman" panose="02020503050405090304" pitchFamily="18" charset="0"/>
                <a:cs typeface="Times New Roman" panose="02020503050405090304" pitchFamily="18" charset="0"/>
              </a:rPr>
              <a:t>Firecracker targets:</a:t>
            </a:r>
            <a:endParaRPr lang="en-US" altLang="zh-CN" sz="22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isolation</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density</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performance</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compatibility</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fast switching</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soft allocation</a:t>
            </a:r>
            <a:endParaRPr lang="en-US" altLang="zh-CN" sz="2000" kern="0" dirty="0">
              <a:latin typeface="Times New Roman" panose="02020503050405090304" pitchFamily="18" charset="0"/>
              <a:cs typeface="Times New Roman" panose="02020503050405090304" pitchFamily="18" charset="0"/>
            </a:endParaRPr>
          </a:p>
        </p:txBody>
      </p:sp>
      <p:sp>
        <p:nvSpPr>
          <p:cNvPr id="8" name="椭圆形标注 7"/>
          <p:cNvSpPr/>
          <p:nvPr/>
        </p:nvSpPr>
        <p:spPr>
          <a:xfrm>
            <a:off x="6192520" y="1375410"/>
            <a:ext cx="2535555" cy="2053590"/>
          </a:xfrm>
          <a:prstGeom prst="wedgeEllipseCallou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b="1" i="0" u="none" strike="noStrike" cap="none" normalizeH="0" baseline="0" smtClean="0">
                <a:ln>
                  <a:noFill/>
                </a:ln>
                <a:solidFill>
                  <a:srgbClr val="C00000"/>
                </a:solidFill>
                <a:effectLst/>
                <a:latin typeface="Times New Roman" panose="02020503050405090304" pitchFamily="18" charset="0"/>
                <a:ea typeface="PMingLiU" pitchFamily="18" charset="-120"/>
                <a:cs typeface="Times New Roman" panose="02020503050405090304" pitchFamily="18" charset="0"/>
              </a:rPr>
              <a:t>Large Attack Surface</a:t>
            </a:r>
            <a:endParaRPr kumimoji="1" lang="en-US" altLang="zh-TW" b="1" i="0" u="none" strike="noStrike" cap="none" normalizeH="0" baseline="0" smtClean="0">
              <a:ln>
                <a:noFill/>
              </a:ln>
              <a:solidFill>
                <a:srgbClr val="C00000"/>
              </a:solidFill>
              <a:effectLst/>
              <a:latin typeface="Times New Roman" panose="02020503050405090304" pitchFamily="18" charset="0"/>
              <a:ea typeface="PMingLiU" pitchFamily="18" charset="-120"/>
              <a:cs typeface="Times New Roman" panose="0202050305040509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3.1</a:t>
            </a:r>
            <a:r>
              <a:rPr lang="zh-CN" altLang="en-US" dirty="0"/>
              <a:t> </a:t>
            </a:r>
            <a:r>
              <a:rPr lang="en-US" altLang="zh-CN" dirty="0"/>
              <a:t>Firecracker (1/4)</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文本框 1"/>
          <p:cNvSpPr txBox="1"/>
          <p:nvPr/>
        </p:nvSpPr>
        <p:spPr>
          <a:xfrm>
            <a:off x="5342255" y="4897120"/>
            <a:ext cx="6678930" cy="775970"/>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2.</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The security model of Linux containers and KVM-style virtualization</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5342255" y="1835785"/>
            <a:ext cx="6679565" cy="3132455"/>
          </a:xfrm>
          <a:prstGeom prst="rect">
            <a:avLst/>
          </a:prstGeom>
        </p:spPr>
      </p:pic>
      <p:sp>
        <p:nvSpPr>
          <p:cNvPr id="9" name="内容占位符 5"/>
          <p:cNvSpPr txBox="1"/>
          <p:nvPr/>
        </p:nvSpPr>
        <p:spPr bwMode="auto">
          <a:xfrm>
            <a:off x="171450" y="1369695"/>
            <a:ext cx="7748905" cy="430339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00000"/>
              </a:lnSpc>
            </a:pPr>
            <a:r>
              <a:rPr lang="en-US" altLang="zh-CN" sz="2400" kern="0" dirty="0">
                <a:latin typeface="Times New Roman" panose="02020503050405090304" pitchFamily="18" charset="0"/>
                <a:cs typeface="Times New Roman" panose="02020503050405090304" pitchFamily="18" charset="0"/>
              </a:rPr>
              <a:t>Firecracker: </a:t>
            </a:r>
            <a:r>
              <a:rPr lang="en-US" altLang="zh-CN" sz="2400" b="1" kern="0" dirty="0">
                <a:latin typeface="Times New Roman" panose="02020503050405090304" pitchFamily="18" charset="0"/>
                <a:cs typeface="Times New Roman" panose="02020503050405090304" pitchFamily="18" charset="0"/>
              </a:rPr>
              <a:t>Making VM Isolation Practical for Serverless</a:t>
            </a:r>
            <a:endParaRPr lang="en-US" altLang="zh-CN" sz="2400" kern="0" dirty="0">
              <a:latin typeface="Times New Roman" panose="02020503050405090304" pitchFamily="18" charset="0"/>
              <a:cs typeface="Times New Roman" panose="02020503050405090304" pitchFamily="18" charset="0"/>
            </a:endParaRPr>
          </a:p>
          <a:p>
            <a:pPr lvl="1">
              <a:lnSpc>
                <a:spcPct val="100000"/>
              </a:lnSpc>
            </a:pPr>
            <a:r>
              <a:rPr lang="en-US" altLang="zh-CN" sz="2200" kern="0" dirty="0">
                <a:latin typeface="Times New Roman" panose="02020503050405090304" pitchFamily="18" charset="0"/>
                <a:cs typeface="Times New Roman" panose="02020503050405090304" pitchFamily="18" charset="0"/>
              </a:rPr>
              <a:t>Strong isolation is needed for public serverless</a:t>
            </a:r>
            <a:endParaRPr lang="en-US" altLang="zh-CN" sz="2200" kern="0" dirty="0">
              <a:latin typeface="Times New Roman" panose="02020503050405090304" pitchFamily="18" charset="0"/>
              <a:cs typeface="Times New Roman" panose="02020503050405090304" pitchFamily="18" charset="0"/>
            </a:endParaRPr>
          </a:p>
          <a:p>
            <a:pPr lvl="1">
              <a:lnSpc>
                <a:spcPct val="100000"/>
              </a:lnSpc>
            </a:pPr>
            <a:r>
              <a:rPr lang="en-US" altLang="zh-CN" sz="2200" kern="0" dirty="0">
                <a:latin typeface="Times New Roman" panose="02020503050405090304" pitchFamily="18" charset="0"/>
                <a:cs typeface="Times New Roman" panose="02020503050405090304" pitchFamily="18" charset="0"/>
              </a:rPr>
              <a:t>Containers expose a </a:t>
            </a:r>
            <a:r>
              <a:rPr lang="en-US" altLang="zh-CN" sz="2200" b="1" kern="0" dirty="0">
                <a:latin typeface="Times New Roman" panose="02020503050405090304" pitchFamily="18" charset="0"/>
                <a:cs typeface="Times New Roman" panose="02020503050405090304" pitchFamily="18" charset="0"/>
              </a:rPr>
              <a:t>security-compatibility</a:t>
            </a:r>
            <a:r>
              <a:rPr lang="en-US" altLang="zh-CN" sz="2200" kern="0" dirty="0">
                <a:latin typeface="Times New Roman" panose="02020503050405090304" pitchFamily="18" charset="0"/>
                <a:cs typeface="Times New Roman" panose="02020503050405090304" pitchFamily="18" charset="0"/>
              </a:rPr>
              <a:t> tradeoff</a:t>
            </a:r>
            <a:endParaRPr lang="en-US" altLang="zh-CN" sz="2200" kern="0" dirty="0">
              <a:latin typeface="Times New Roman" panose="02020503050405090304" pitchFamily="18" charset="0"/>
              <a:cs typeface="Times New Roman" panose="02020503050405090304" pitchFamily="18" charset="0"/>
            </a:endParaRPr>
          </a:p>
          <a:p>
            <a:pPr lvl="1">
              <a:lnSpc>
                <a:spcPct val="100000"/>
              </a:lnSpc>
            </a:pPr>
            <a:r>
              <a:rPr lang="en-US" altLang="zh-CN" sz="2200" kern="0" dirty="0">
                <a:latin typeface="Times New Roman" panose="02020503050405090304" pitchFamily="18" charset="0"/>
                <a:cs typeface="Times New Roman" panose="02020503050405090304" pitchFamily="18" charset="0"/>
              </a:rPr>
              <a:t>Firecracker targets:</a:t>
            </a:r>
            <a:endParaRPr lang="en-US" altLang="zh-CN" sz="22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isolation</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density</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performance</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compatibility</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fast switching</a:t>
            </a:r>
            <a:endParaRPr lang="en-US" altLang="zh-CN" sz="2000" kern="0" dirty="0">
              <a:latin typeface="Times New Roman" panose="02020503050405090304" pitchFamily="18" charset="0"/>
              <a:cs typeface="Times New Roman" panose="02020503050405090304" pitchFamily="18" charset="0"/>
            </a:endParaRPr>
          </a:p>
          <a:p>
            <a:pPr lvl="2">
              <a:lnSpc>
                <a:spcPct val="100000"/>
              </a:lnSpc>
            </a:pPr>
            <a:r>
              <a:rPr lang="en-US" altLang="zh-CN" sz="2000" kern="0" dirty="0">
                <a:latin typeface="Times New Roman" panose="02020503050405090304" pitchFamily="18" charset="0"/>
                <a:cs typeface="Times New Roman" panose="02020503050405090304" pitchFamily="18" charset="0"/>
              </a:rPr>
              <a:t>soft allocation</a:t>
            </a:r>
            <a:endParaRPr lang="en-US" altLang="zh-CN" sz="2000" kern="0" dirty="0">
              <a:latin typeface="Times New Roman" panose="02020503050405090304" pitchFamily="18" charset="0"/>
              <a:cs typeface="Times New Roman" panose="02020503050405090304" pitchFamily="18" charset="0"/>
            </a:endParaRPr>
          </a:p>
        </p:txBody>
      </p:sp>
      <p:sp>
        <p:nvSpPr>
          <p:cNvPr id="8" name="椭圆形标注 7"/>
          <p:cNvSpPr/>
          <p:nvPr/>
        </p:nvSpPr>
        <p:spPr>
          <a:xfrm>
            <a:off x="6192520" y="1375410"/>
            <a:ext cx="2535555" cy="2053590"/>
          </a:xfrm>
          <a:prstGeom prst="wedgeEllipseCallou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TW" b="1" i="0" u="none" strike="noStrike" cap="none" normalizeH="0" baseline="0" smtClean="0">
                <a:ln>
                  <a:noFill/>
                </a:ln>
                <a:solidFill>
                  <a:srgbClr val="C00000"/>
                </a:solidFill>
                <a:effectLst/>
                <a:latin typeface="Times New Roman" panose="02020503050405090304" pitchFamily="18" charset="0"/>
                <a:ea typeface="PMingLiU" pitchFamily="18" charset="-120"/>
                <a:cs typeface="Times New Roman" panose="02020503050405090304" pitchFamily="18" charset="0"/>
              </a:rPr>
              <a:t>Large Attack Surface</a:t>
            </a:r>
            <a:endParaRPr kumimoji="1" lang="en-US" altLang="zh-TW" b="1" i="0" u="none" strike="noStrike" cap="none" normalizeH="0" baseline="0" smtClean="0">
              <a:ln>
                <a:noFill/>
              </a:ln>
              <a:solidFill>
                <a:srgbClr val="C00000"/>
              </a:solidFill>
              <a:effectLst/>
              <a:latin typeface="Times New Roman" panose="02020503050405090304" pitchFamily="18" charset="0"/>
              <a:ea typeface="PMingLiU" pitchFamily="18" charset="-120"/>
              <a:cs typeface="Times New Roman" panose="02020503050405090304" pitchFamily="18" charset="0"/>
            </a:endParaRPr>
          </a:p>
        </p:txBody>
      </p:sp>
      <p:sp>
        <p:nvSpPr>
          <p:cNvPr id="6" name="矩形 5"/>
          <p:cNvSpPr/>
          <p:nvPr/>
        </p:nvSpPr>
        <p:spPr>
          <a:xfrm>
            <a:off x="8761095" y="1438275"/>
            <a:ext cx="3260725" cy="2893060"/>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en-US" altLang="zh-TW" sz="1800" b="1" i="0" u="none" strike="noStrike" cap="none" normalizeH="0" baseline="0" smtClean="0">
              <a:ln>
                <a:noFill/>
              </a:ln>
              <a:solidFill>
                <a:srgbClr val="C00000"/>
              </a:solidFill>
              <a:effectLst/>
              <a:latin typeface="Times New Roman" panose="02020503050405090304" pitchFamily="18" charset="0"/>
              <a:ea typeface="PMingLiU" pitchFamily="18" charset="-120"/>
              <a:cs typeface="Times New Roman" panose="02020503050405090304" pitchFamily="18" charset="0"/>
            </a:endParaRPr>
          </a:p>
        </p:txBody>
      </p:sp>
      <p:sp>
        <p:nvSpPr>
          <p:cNvPr id="11" name="文本框 10"/>
          <p:cNvSpPr txBox="1"/>
          <p:nvPr/>
        </p:nvSpPr>
        <p:spPr>
          <a:xfrm>
            <a:off x="8761730" y="1438275"/>
            <a:ext cx="3259455" cy="368300"/>
          </a:xfrm>
          <a:prstGeom prst="rect">
            <a:avLst/>
          </a:prstGeom>
          <a:noFill/>
        </p:spPr>
        <p:txBody>
          <a:bodyPr wrap="square" rtlCol="0" anchor="ctr" anchorCtr="1">
            <a:spAutoFit/>
          </a:bodyPr>
          <a:p>
            <a:r>
              <a:rPr lang="en-US" altLang="zh-CN" b="1" dirty="0" smtClean="0">
                <a:solidFill>
                  <a:srgbClr val="C00000"/>
                </a:solidFill>
                <a:latin typeface="Times New Roman" panose="02020503050405090304" pitchFamily="18" charset="0"/>
                <a:ea typeface="標楷體" pitchFamily="65" charset="-120"/>
                <a:cs typeface="Times New Roman" panose="02020503050405090304" pitchFamily="18" charset="0"/>
              </a:rPr>
              <a:t>Heavyweight Virtualization</a:t>
            </a:r>
            <a:endParaRPr lang="en-US" altLang="zh-CN" b="1" dirty="0" smtClean="0">
              <a:solidFill>
                <a:srgbClr val="C00000"/>
              </a:solidFill>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3.1</a:t>
            </a:r>
            <a:r>
              <a:rPr lang="zh-CN" altLang="en-US" dirty="0"/>
              <a:t> </a:t>
            </a:r>
            <a:r>
              <a:rPr lang="en-US" altLang="zh-CN" dirty="0"/>
              <a:t>Firecracker (2/4)</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0" y="1120140"/>
            <a:ext cx="7167245" cy="257365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30000"/>
              </a:lnSpc>
            </a:pPr>
            <a:r>
              <a:rPr lang="en-US" altLang="zh-CN" sz="2400" b="1" kern="0" dirty="0">
                <a:latin typeface="Times New Roman" panose="02020503050405090304" pitchFamily="18" charset="0"/>
                <a:cs typeface="Times New Roman" panose="02020503050405090304" pitchFamily="18" charset="0"/>
              </a:rPr>
              <a:t>Design Philosophy:</a:t>
            </a:r>
            <a:r>
              <a:rPr lang="en-US" altLang="zh-CN" sz="2400" kern="0" dirty="0">
                <a:latin typeface="Times New Roman" panose="02020503050405090304" pitchFamily="18" charset="0"/>
                <a:cs typeface="Times New Roman" panose="02020503050405090304" pitchFamily="18" charset="0"/>
              </a:rPr>
              <a:t> </a:t>
            </a:r>
            <a:r>
              <a:rPr lang="en-US" altLang="zh-CN" sz="2400" b="1" kern="0" dirty="0">
                <a:latin typeface="Times New Roman" panose="02020503050405090304" pitchFamily="18" charset="0"/>
                <a:cs typeface="Times New Roman" panose="02020503050405090304" pitchFamily="18" charset="0"/>
              </a:rPr>
              <a:t>Keep KVM, Replace QEMU</a:t>
            </a:r>
            <a:endParaRPr lang="en-US" altLang="zh-CN" sz="2400" b="1" kern="0" dirty="0">
              <a:latin typeface="Times New Roman" panose="02020503050405090304" pitchFamily="18" charset="0"/>
              <a:cs typeface="Times New Roman" panose="02020503050405090304" pitchFamily="18" charset="0"/>
            </a:endParaRPr>
          </a:p>
          <a:p>
            <a:pPr lvl="1">
              <a:lnSpc>
                <a:spcPct val="130000"/>
              </a:lnSpc>
            </a:pPr>
            <a:r>
              <a:rPr lang="en-US" altLang="zh-CN" sz="2200" kern="0" dirty="0">
                <a:latin typeface="Times New Roman" panose="02020503050405090304" pitchFamily="18" charset="0"/>
                <a:cs typeface="Times New Roman" panose="02020503050405090304" pitchFamily="18" charset="0"/>
              </a:rPr>
              <a:t>Keep hardware-assisted virtualization via KVM</a:t>
            </a:r>
            <a:endParaRPr lang="en-US" altLang="zh-CN" sz="2200" kern="0" dirty="0">
              <a:latin typeface="Times New Roman" panose="02020503050405090304" pitchFamily="18" charset="0"/>
              <a:cs typeface="Times New Roman" panose="02020503050405090304" pitchFamily="18" charset="0"/>
            </a:endParaRPr>
          </a:p>
          <a:p>
            <a:pPr lvl="1">
              <a:lnSpc>
                <a:spcPct val="130000"/>
              </a:lnSpc>
            </a:pPr>
            <a:r>
              <a:rPr lang="en-US" altLang="zh-CN" sz="2200" b="1" kern="0" dirty="0">
                <a:latin typeface="Times New Roman" panose="02020503050405090304" pitchFamily="18" charset="0"/>
                <a:cs typeface="Times New Roman" panose="02020503050405090304" pitchFamily="18" charset="0"/>
              </a:rPr>
              <a:t>Replace QEMU with a minimalist VMM</a:t>
            </a:r>
            <a:endParaRPr lang="en-US" altLang="zh-CN" sz="2200" kern="0" dirty="0">
              <a:latin typeface="Times New Roman" panose="02020503050405090304" pitchFamily="18" charset="0"/>
              <a:cs typeface="Times New Roman" panose="02020503050405090304" pitchFamily="18" charset="0"/>
            </a:endParaRPr>
          </a:p>
          <a:p>
            <a:pPr lvl="1">
              <a:lnSpc>
                <a:spcPct val="130000"/>
              </a:lnSpc>
            </a:pPr>
            <a:r>
              <a:rPr lang="en-US" altLang="zh-CN" sz="2200" kern="0" dirty="0">
                <a:latin typeface="Times New Roman" panose="02020503050405090304" pitchFamily="18" charset="0"/>
                <a:cs typeface="Times New Roman" panose="02020503050405090304" pitchFamily="18" charset="0"/>
              </a:rPr>
              <a:t>One process per MicroVM</a:t>
            </a:r>
            <a:endParaRPr lang="en-US" altLang="zh-CN" sz="2200" kern="0" dirty="0">
              <a:latin typeface="Times New Roman" panose="02020503050405090304" pitchFamily="18" charset="0"/>
              <a:cs typeface="Times New Roman" panose="02020503050405090304" pitchFamily="18" charset="0"/>
            </a:endParaRPr>
          </a:p>
          <a:p>
            <a:pPr lvl="1">
              <a:lnSpc>
                <a:spcPct val="130000"/>
              </a:lnSpc>
            </a:pPr>
            <a:r>
              <a:rPr lang="en-US" altLang="zh-CN" sz="2200" kern="0" dirty="0">
                <a:latin typeface="Times New Roman" panose="02020503050405090304" pitchFamily="18" charset="0"/>
                <a:cs typeface="Times New Roman" panose="02020503050405090304" pitchFamily="18" charset="0"/>
              </a:rPr>
              <a:t>Specialization over feature completeness</a:t>
            </a:r>
            <a:endParaRPr lang="en-US" altLang="zh-CN" sz="2200" kern="0" dirty="0">
              <a:latin typeface="Times New Roman" panose="02020503050405090304" pitchFamily="18" charset="0"/>
              <a:cs typeface="Times New Roman" panose="02020503050405090304" pitchFamily="18" charset="0"/>
            </a:endParaRPr>
          </a:p>
        </p:txBody>
      </p:sp>
      <p:pic>
        <p:nvPicPr>
          <p:cNvPr id="10" name="图片 9" descr="1"/>
          <p:cNvPicPr>
            <a:picLocks noChangeAspect="1"/>
          </p:cNvPicPr>
          <p:nvPr/>
        </p:nvPicPr>
        <p:blipFill>
          <a:blip r:embed="rId1"/>
          <a:stretch>
            <a:fillRect/>
          </a:stretch>
        </p:blipFill>
        <p:spPr>
          <a:xfrm>
            <a:off x="7167880" y="1120140"/>
            <a:ext cx="4618990" cy="4618990"/>
          </a:xfrm>
          <a:prstGeom prst="rect">
            <a:avLst/>
          </a:prstGeom>
        </p:spPr>
      </p:pic>
      <p:sp>
        <p:nvSpPr>
          <p:cNvPr id="11" name="内容占位符 5"/>
          <p:cNvSpPr txBox="1"/>
          <p:nvPr/>
        </p:nvSpPr>
        <p:spPr bwMode="auto">
          <a:xfrm>
            <a:off x="0" y="3693160"/>
            <a:ext cx="6776085" cy="187515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10000"/>
              </a:lnSpc>
            </a:pPr>
            <a:r>
              <a:rPr lang="en-US" altLang="zh-CN" sz="2400" b="1" dirty="0">
                <a:latin typeface="Times New Roman" panose="02020503050405090304" pitchFamily="18" charset="0"/>
                <a:cs typeface="Times New Roman" panose="02020503050405090304" pitchFamily="18" charset="0"/>
              </a:rPr>
              <a:t>Firecracker supports</a:t>
            </a:r>
            <a:endParaRPr lang="en-US" altLang="zh-CN" sz="2400" b="1" dirty="0">
              <a:latin typeface="Times New Roman" panose="02020503050405090304" pitchFamily="18" charset="0"/>
              <a:cs typeface="Times New Roman" panose="02020503050405090304" pitchFamily="18" charset="0"/>
            </a:endParaRPr>
          </a:p>
          <a:p>
            <a:pPr lvl="1">
              <a:lnSpc>
                <a:spcPct val="110000"/>
              </a:lnSpc>
            </a:pPr>
            <a:r>
              <a:rPr lang="en-US" altLang="zh-CN" sz="2200" dirty="0">
                <a:latin typeface="Times New Roman" panose="02020503050405090304" pitchFamily="18" charset="0"/>
                <a:cs typeface="Times New Roman" panose="02020503050405090304" pitchFamily="18" charset="0"/>
              </a:rPr>
              <a:t>virtio net, virtio block, serial, REST API</a:t>
            </a:r>
            <a:endParaRPr lang="en-US" altLang="zh-CN" sz="2200" b="1" dirty="0">
              <a:latin typeface="Times New Roman" panose="02020503050405090304" pitchFamily="18" charset="0"/>
              <a:cs typeface="Times New Roman" panose="02020503050405090304" pitchFamily="18" charset="0"/>
            </a:endParaRPr>
          </a:p>
          <a:p>
            <a:pPr>
              <a:lnSpc>
                <a:spcPct val="110000"/>
              </a:lnSpc>
            </a:pPr>
            <a:r>
              <a:rPr lang="en-US" altLang="zh-CN" sz="2400" b="1" kern="0" dirty="0">
                <a:latin typeface="Times New Roman" panose="02020503050405090304" pitchFamily="18" charset="0"/>
                <a:cs typeface="Times New Roman" panose="02020503050405090304" pitchFamily="18" charset="0"/>
              </a:rPr>
              <a:t>Firecracker excludes</a:t>
            </a:r>
            <a:endParaRPr lang="en-US" altLang="zh-CN" sz="2400" kern="0" dirty="0">
              <a:latin typeface="Times New Roman" panose="02020503050405090304" pitchFamily="18" charset="0"/>
              <a:cs typeface="Times New Roman" panose="02020503050405090304" pitchFamily="18" charset="0"/>
            </a:endParaRPr>
          </a:p>
          <a:p>
            <a:pPr lvl="1">
              <a:lnSpc>
                <a:spcPct val="110000"/>
              </a:lnSpc>
            </a:pPr>
            <a:r>
              <a:rPr lang="en-US" altLang="zh-CN" sz="2200" kern="0" dirty="0">
                <a:latin typeface="Times New Roman" panose="02020503050405090304" pitchFamily="18" charset="0"/>
                <a:cs typeface="Times New Roman" panose="02020503050405090304" pitchFamily="18" charset="0"/>
              </a:rPr>
              <a:t>BIOS, PCI, legacy devices, VM migration</a:t>
            </a:r>
            <a:endParaRPr lang="en-US" altLang="zh-CN" sz="2200" kern="0" dirty="0">
              <a:latin typeface="Times New Roman" panose="02020503050405090304" pitchFamily="18" charset="0"/>
              <a:cs typeface="Times New Roman" panose="02020503050405090304" pitchFamily="18" charset="0"/>
            </a:endParaRPr>
          </a:p>
        </p:txBody>
      </p:sp>
      <p:sp>
        <p:nvSpPr>
          <p:cNvPr id="13" name="文本框 12"/>
          <p:cNvSpPr txBox="1"/>
          <p:nvPr/>
        </p:nvSpPr>
        <p:spPr>
          <a:xfrm>
            <a:off x="7167880" y="5568315"/>
            <a:ext cx="4618990" cy="506730"/>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3.</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Philosophy of minimal virtualization</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pic>
        <p:nvPicPr>
          <p:cNvPr id="2" name="图片 1"/>
          <p:cNvPicPr>
            <a:picLocks noChangeAspect="1"/>
          </p:cNvPicPr>
          <p:nvPr/>
        </p:nvPicPr>
        <p:blipFill>
          <a:blip r:embed="rId2"/>
          <a:stretch>
            <a:fillRect/>
          </a:stretch>
        </p:blipFill>
        <p:spPr>
          <a:xfrm>
            <a:off x="8510905" y="3994785"/>
            <a:ext cx="596900" cy="190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3.1</a:t>
            </a:r>
            <a:r>
              <a:rPr lang="zh-CN" altLang="en-US" dirty="0"/>
              <a:t> </a:t>
            </a:r>
            <a:r>
              <a:rPr lang="en-US" altLang="zh-CN" dirty="0"/>
              <a:t>Firecracker (3/4)</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201930" y="1386205"/>
            <a:ext cx="5893435" cy="383476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10000"/>
              </a:lnSpc>
            </a:pPr>
            <a:r>
              <a:rPr lang="en-US" altLang="zh-CN" sz="2400" b="1" dirty="0">
                <a:latin typeface="Times New Roman" panose="02020503050405090304" pitchFamily="18" charset="0"/>
                <a:cs typeface="Times New Roman" panose="02020503050405090304" pitchFamily="18" charset="0"/>
              </a:rPr>
              <a:t>Firecracker inside AWS Lambda</a:t>
            </a:r>
            <a:endParaRPr lang="en-US" altLang="zh-CN" sz="2400" b="1" dirty="0">
              <a:latin typeface="Times New Roman" panose="02020503050405090304" pitchFamily="18" charset="0"/>
              <a:cs typeface="Times New Roman" panose="02020503050405090304" pitchFamily="18" charset="0"/>
            </a:endParaRPr>
          </a:p>
          <a:p>
            <a:pPr lvl="1">
              <a:lnSpc>
                <a:spcPct val="110000"/>
              </a:lnSpc>
            </a:pPr>
            <a:r>
              <a:rPr lang="en-US" altLang="zh-CN" sz="2200" kern="0" dirty="0">
                <a:latin typeface="Times New Roman" panose="02020503050405090304" pitchFamily="18" charset="0"/>
                <a:cs typeface="Times New Roman" panose="02020503050405090304" pitchFamily="18" charset="0"/>
              </a:rPr>
              <a:t>The MicroVM becomes the slot-level security boundary</a:t>
            </a:r>
            <a:endParaRPr lang="en-US" altLang="zh-CN" sz="2200" kern="0" dirty="0">
              <a:latin typeface="Times New Roman" panose="02020503050405090304" pitchFamily="18" charset="0"/>
              <a:cs typeface="Times New Roman" panose="02020503050405090304" pitchFamily="18" charset="0"/>
            </a:endParaRPr>
          </a:p>
          <a:p>
            <a:pPr lvl="1">
              <a:lnSpc>
                <a:spcPct val="110000"/>
              </a:lnSpc>
            </a:pPr>
            <a:r>
              <a:rPr lang="en-US" altLang="zh-CN" sz="2200" kern="0" dirty="0">
                <a:latin typeface="Times New Roman" panose="02020503050405090304" pitchFamily="18" charset="0"/>
                <a:cs typeface="Times New Roman" panose="02020503050405090304" pitchFamily="18" charset="0"/>
              </a:rPr>
              <a:t>Each workers runs many MicroVM-based slots</a:t>
            </a:r>
            <a:endParaRPr lang="en-US" altLang="zh-CN" sz="2200" kern="0" dirty="0">
              <a:latin typeface="Times New Roman" panose="02020503050405090304" pitchFamily="18" charset="0"/>
              <a:cs typeface="Times New Roman" panose="02020503050405090304" pitchFamily="18" charset="0"/>
            </a:endParaRPr>
          </a:p>
          <a:p>
            <a:pPr lvl="1">
              <a:lnSpc>
                <a:spcPct val="110000"/>
              </a:lnSpc>
            </a:pPr>
            <a:r>
              <a:rPr lang="en-US" altLang="zh-CN" sz="2200" kern="0" dirty="0">
                <a:latin typeface="Times New Roman" panose="02020503050405090304" pitchFamily="18" charset="0"/>
                <a:cs typeface="Times New Roman" panose="02020503050405090304" pitchFamily="18" charset="0"/>
              </a:rPr>
              <a:t>A MicroManager controls Firecracker processes</a:t>
            </a:r>
            <a:endParaRPr lang="en-US" altLang="zh-CN" sz="2200" kern="0" dirty="0">
              <a:latin typeface="Times New Roman" panose="02020503050405090304" pitchFamily="18" charset="0"/>
              <a:cs typeface="Times New Roman" panose="02020503050405090304" pitchFamily="18" charset="0"/>
            </a:endParaRPr>
          </a:p>
          <a:p>
            <a:pPr lvl="1">
              <a:lnSpc>
                <a:spcPct val="110000"/>
              </a:lnSpc>
            </a:pPr>
            <a:r>
              <a:rPr lang="en-US" altLang="zh-CN" sz="2200" kern="0" dirty="0">
                <a:latin typeface="Times New Roman" panose="02020503050405090304" pitchFamily="18" charset="0"/>
                <a:cs typeface="Times New Roman" panose="02020503050405090304" pitchFamily="18" charset="0"/>
              </a:rPr>
              <a:t>Slot reuse and pre-booted pools reduce scale-up cost</a:t>
            </a:r>
            <a:endParaRPr lang="en-US" altLang="zh-CN" sz="2200" kern="0" dirty="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6229985" y="1174750"/>
            <a:ext cx="5722620" cy="4464685"/>
          </a:xfrm>
          <a:prstGeom prst="rect">
            <a:avLst/>
          </a:prstGeom>
        </p:spPr>
      </p:pic>
      <p:sp>
        <p:nvSpPr>
          <p:cNvPr id="3" name="文本框 2"/>
          <p:cNvSpPr txBox="1"/>
          <p:nvPr/>
        </p:nvSpPr>
        <p:spPr>
          <a:xfrm>
            <a:off x="6229985" y="5639435"/>
            <a:ext cx="5722620" cy="512445"/>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4.</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Firecracker architecture</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3.1</a:t>
            </a:r>
            <a:r>
              <a:rPr lang="zh-CN" altLang="en-US" dirty="0"/>
              <a:t> </a:t>
            </a:r>
            <a:r>
              <a:rPr lang="en-US" altLang="zh-CN" dirty="0"/>
              <a:t>Firecracker (4/4)</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289560" y="1518285"/>
            <a:ext cx="5894070" cy="295529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20000"/>
              </a:lnSpc>
            </a:pPr>
            <a:r>
              <a:rPr lang="en-US" altLang="zh-CN" sz="2400" b="1" dirty="0">
                <a:latin typeface="Times New Roman" panose="02020503050405090304" pitchFamily="18" charset="0"/>
                <a:cs typeface="Times New Roman" panose="02020503050405090304" pitchFamily="18" charset="0"/>
              </a:rPr>
              <a:t>Key Results and Takeaway</a:t>
            </a:r>
            <a:endParaRPr lang="en-US" altLang="zh-CN" sz="2400" b="1" dirty="0">
              <a:latin typeface="Times New Roman" panose="02020503050405090304" pitchFamily="18" charset="0"/>
              <a:cs typeface="Times New Roman" panose="02020503050405090304" pitchFamily="18" charset="0"/>
            </a:endParaRPr>
          </a:p>
          <a:p>
            <a:pPr lvl="1">
              <a:lnSpc>
                <a:spcPct val="120000"/>
              </a:lnSpc>
            </a:pPr>
            <a:r>
              <a:rPr lang="en-US" altLang="zh-CN" sz="2200" dirty="0">
                <a:latin typeface="Times New Roman" panose="02020503050405090304" pitchFamily="18" charset="0"/>
                <a:cs typeface="Times New Roman" panose="02020503050405090304" pitchFamily="18" charset="0"/>
              </a:rPr>
              <a:t>&lt; 5 MB memory overhead</a:t>
            </a:r>
            <a:endParaRPr lang="en-US" altLang="zh-CN" sz="2200" dirty="0">
              <a:latin typeface="Times New Roman" panose="02020503050405090304" pitchFamily="18" charset="0"/>
              <a:cs typeface="Times New Roman" panose="02020503050405090304" pitchFamily="18" charset="0"/>
            </a:endParaRPr>
          </a:p>
          <a:p>
            <a:pPr lvl="1">
              <a:lnSpc>
                <a:spcPct val="120000"/>
              </a:lnSpc>
            </a:pPr>
            <a:r>
              <a:rPr lang="en-US" altLang="zh-CN" sz="2200" kern="0" dirty="0">
                <a:latin typeface="Times New Roman" panose="02020503050405090304" pitchFamily="18" charset="0"/>
                <a:cs typeface="Times New Roman" panose="02020503050405090304" pitchFamily="18" charset="0"/>
              </a:rPr>
              <a:t>&lt; 125 ms boot to application node</a:t>
            </a:r>
            <a:endParaRPr lang="en-US" altLang="zh-CN" sz="2200" kern="0" dirty="0">
              <a:latin typeface="Times New Roman" panose="02020503050405090304" pitchFamily="18" charset="0"/>
              <a:cs typeface="Times New Roman" panose="02020503050405090304" pitchFamily="18" charset="0"/>
            </a:endParaRPr>
          </a:p>
          <a:p>
            <a:pPr lvl="1">
              <a:lnSpc>
                <a:spcPct val="120000"/>
              </a:lnSpc>
            </a:pPr>
            <a:r>
              <a:rPr lang="en-US" altLang="zh-CN" sz="2200" kern="0" dirty="0">
                <a:latin typeface="Times New Roman" panose="02020503050405090304" pitchFamily="18" charset="0"/>
                <a:cs typeface="Times New Roman" panose="02020503050405090304" pitchFamily="18" charset="0"/>
              </a:rPr>
              <a:t>150 MicroVM/s per host</a:t>
            </a:r>
            <a:endParaRPr lang="en-US" altLang="zh-CN" sz="2200" kern="0" dirty="0">
              <a:latin typeface="Times New Roman" panose="02020503050405090304" pitchFamily="18" charset="0"/>
              <a:cs typeface="Times New Roman" panose="02020503050405090304" pitchFamily="18" charset="0"/>
            </a:endParaRPr>
          </a:p>
          <a:p>
            <a:pPr lvl="1">
              <a:lnSpc>
                <a:spcPct val="120000"/>
              </a:lnSpc>
            </a:pPr>
            <a:r>
              <a:rPr lang="en-US" altLang="zh-CN" sz="2200" kern="0" dirty="0">
                <a:latin typeface="Times New Roman" panose="02020503050405090304" pitchFamily="18" charset="0"/>
                <a:cs typeface="Times New Roman" panose="02020503050405090304" pitchFamily="18" charset="0"/>
              </a:rPr>
              <a:t>Used in Lambda and Fargate in production</a:t>
            </a:r>
            <a:endParaRPr lang="en-US" altLang="zh-CN" sz="2200" kern="0" dirty="0">
              <a:latin typeface="Times New Roman" panose="02020503050405090304" pitchFamily="18" charset="0"/>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6837045" y="3429000"/>
            <a:ext cx="4730750" cy="2265045"/>
          </a:xfrm>
          <a:prstGeom prst="rect">
            <a:avLst/>
          </a:prstGeom>
        </p:spPr>
      </p:pic>
      <p:pic>
        <p:nvPicPr>
          <p:cNvPr id="6" name="图片 5"/>
          <p:cNvPicPr>
            <a:picLocks noChangeAspect="1"/>
          </p:cNvPicPr>
          <p:nvPr/>
        </p:nvPicPr>
        <p:blipFill>
          <a:blip r:embed="rId2"/>
          <a:stretch>
            <a:fillRect/>
          </a:stretch>
        </p:blipFill>
        <p:spPr>
          <a:xfrm>
            <a:off x="6837045" y="1207770"/>
            <a:ext cx="4730115" cy="2221230"/>
          </a:xfrm>
          <a:prstGeom prst="rect">
            <a:avLst/>
          </a:prstGeom>
        </p:spPr>
      </p:pic>
      <p:sp>
        <p:nvSpPr>
          <p:cNvPr id="7" name="文本框 6"/>
          <p:cNvSpPr txBox="1"/>
          <p:nvPr/>
        </p:nvSpPr>
        <p:spPr>
          <a:xfrm>
            <a:off x="6229985" y="5639435"/>
            <a:ext cx="5722620" cy="512445"/>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5.</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Firecracker performance</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275" y="1218565"/>
            <a:ext cx="10271125" cy="4703445"/>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Motivation</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Proposed Methods &amp; Performance Evaluation </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Firecracker</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err="1">
                <a:solidFill>
                  <a:srgbClr val="FF0000"/>
                </a:solidFill>
                <a:latin typeface="Times New Roman" panose="02020503050405090304" pitchFamily="18" charset="0"/>
                <a:cs typeface="Times New Roman" panose="02020503050405090304" pitchFamily="18" charset="0"/>
              </a:rPr>
              <a:t>SURE</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LITESHIELD</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Conclusions </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a:t>
            </a:r>
            <a:endParaRPr lang="en-US" altLang="zh-CN" sz="2935"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3.2</a:t>
            </a:r>
            <a:r>
              <a:rPr lang="zh-CN" altLang="en-US" dirty="0"/>
              <a:t> </a:t>
            </a:r>
            <a:r>
              <a:rPr lang="en-US" altLang="zh-CN" dirty="0" err="1"/>
              <a:t>SURE </a:t>
            </a:r>
            <a:r>
              <a:rPr lang="en-US" altLang="zh-CN" dirty="0"/>
              <a:t>(1/6)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7" name="文本框 6"/>
          <p:cNvSpPr txBox="1"/>
          <p:nvPr/>
        </p:nvSpPr>
        <p:spPr>
          <a:xfrm>
            <a:off x="5429885" y="5095875"/>
            <a:ext cx="6762750" cy="692150"/>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6.</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An abstract diagram of serverless support for loosely coupled microservices</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5431155" y="1800860"/>
            <a:ext cx="6761480" cy="3295015"/>
          </a:xfrm>
          <a:prstGeom prst="rect">
            <a:avLst/>
          </a:prstGeom>
        </p:spPr>
      </p:pic>
      <p:sp>
        <p:nvSpPr>
          <p:cNvPr id="9" name="内容占位符 5"/>
          <p:cNvSpPr txBox="1"/>
          <p:nvPr/>
        </p:nvSpPr>
        <p:spPr bwMode="auto">
          <a:xfrm>
            <a:off x="99060" y="1336040"/>
            <a:ext cx="5332095" cy="422465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503050405090304" pitchFamily="18" charset="0"/>
                <a:cs typeface="Times New Roman" panose="02020503050405090304" pitchFamily="18" charset="0"/>
              </a:rPr>
              <a:t>SURE Starts From</a:t>
            </a:r>
            <a:endParaRPr lang="en-US" altLang="zh-CN" sz="24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Current serverless platforms still suffer from:</a:t>
            </a:r>
            <a:endParaRPr lang="en-US" altLang="zh-CN" sz="2200" kern="0" dirty="0">
              <a:latin typeface="Times New Roman" panose="02020503050405090304" pitchFamily="18" charset="0"/>
              <a:cs typeface="Times New Roman" panose="02020503050405090304" pitchFamily="18" charset="0"/>
            </a:endParaRPr>
          </a:p>
          <a:p>
            <a:pPr lvl="2"/>
            <a:r>
              <a:rPr lang="en-US" altLang="zh-CN" sz="2200" kern="0" dirty="0">
                <a:latin typeface="Times New Roman" panose="02020503050405090304" pitchFamily="18" charset="0"/>
                <a:cs typeface="Times New Roman" panose="02020503050405090304" pitchFamily="18" charset="0"/>
                <a:sym typeface="+mn-ea"/>
              </a:rPr>
              <a:t>cold starts</a:t>
            </a:r>
            <a:endParaRPr lang="en-US" altLang="zh-CN" sz="2200" kern="0" dirty="0">
              <a:latin typeface="Times New Roman" panose="02020503050405090304" pitchFamily="18" charset="0"/>
              <a:cs typeface="Times New Roman" panose="02020503050405090304" pitchFamily="18" charset="0"/>
            </a:endParaRPr>
          </a:p>
          <a:p>
            <a:pPr lvl="2"/>
            <a:r>
              <a:rPr lang="en-US" altLang="zh-CN" sz="2200" kern="0" dirty="0">
                <a:latin typeface="Times New Roman" panose="02020503050405090304" pitchFamily="18" charset="0"/>
                <a:cs typeface="Times New Roman" panose="02020503050405090304" pitchFamily="18" charset="0"/>
                <a:sym typeface="+mn-ea"/>
              </a:rPr>
              <a:t>kernel-based inter-function networking</a:t>
            </a:r>
            <a:endParaRPr lang="en-US" altLang="zh-CN" sz="2200" kern="0" dirty="0">
              <a:latin typeface="Times New Roman" panose="02020503050405090304" pitchFamily="18" charset="0"/>
              <a:cs typeface="Times New Roman" panose="02020503050405090304" pitchFamily="18" charset="0"/>
            </a:endParaRPr>
          </a:p>
          <a:p>
            <a:pPr lvl="2"/>
            <a:r>
              <a:rPr lang="en-US" altLang="zh-CN" sz="2200" kern="0" dirty="0">
                <a:latin typeface="Times New Roman" panose="02020503050405090304" pitchFamily="18" charset="0"/>
                <a:cs typeface="Times New Roman" panose="02020503050405090304" pitchFamily="18" charset="0"/>
                <a:sym typeface="+mn-ea"/>
              </a:rPr>
              <a:t>heavyweight sidecars</a:t>
            </a:r>
            <a:endParaRPr lang="en-US" altLang="zh-CN" sz="2200" kern="0" dirty="0">
              <a:latin typeface="Times New Roman" panose="02020503050405090304" pitchFamily="18" charset="0"/>
              <a:cs typeface="Times New Roman" panose="02020503050405090304" pitchFamily="18" charset="0"/>
            </a:endParaRPr>
          </a:p>
          <a:p>
            <a:pPr lvl="2"/>
            <a:r>
              <a:rPr lang="en-US" altLang="zh-CN" sz="2200" kern="0" dirty="0">
                <a:latin typeface="Times New Roman" panose="02020503050405090304" pitchFamily="18" charset="0"/>
                <a:cs typeface="Times New Roman" panose="02020503050405090304" pitchFamily="18" charset="0"/>
                <a:sym typeface="+mn-ea"/>
              </a:rPr>
              <a:t>insufficient intra-unikernel isolation</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A naive unikernel alone is not enough</a:t>
            </a:r>
            <a:endParaRPr lang="en-US" altLang="zh-CN" sz="2200" kern="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3.2</a:t>
            </a:r>
            <a:r>
              <a:rPr lang="zh-CN" altLang="en-US" dirty="0"/>
              <a:t> </a:t>
            </a:r>
            <a:r>
              <a:rPr lang="en-US" altLang="zh-CN" dirty="0"/>
              <a:t>SURE (2/6)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0" y="1819275"/>
            <a:ext cx="5186680" cy="350012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10000"/>
              </a:lnSpc>
            </a:pPr>
            <a:r>
              <a:rPr lang="en-US" altLang="zh-CN" sz="2400" b="1" kern="0" dirty="0">
                <a:latin typeface="Times New Roman" panose="02020503050405090304" pitchFamily="18" charset="0"/>
                <a:cs typeface="Times New Roman" panose="02020503050405090304" pitchFamily="18" charset="0"/>
              </a:rPr>
              <a:t>SURE System Overview</a:t>
            </a:r>
            <a:endParaRPr lang="en-US" altLang="zh-CN" sz="2400" kern="0" dirty="0">
              <a:latin typeface="Times New Roman" panose="02020503050405090304" pitchFamily="18" charset="0"/>
              <a:cs typeface="Times New Roman" panose="02020503050405090304" pitchFamily="18" charset="0"/>
            </a:endParaRPr>
          </a:p>
          <a:p>
            <a:pPr lvl="1">
              <a:lnSpc>
                <a:spcPct val="110000"/>
              </a:lnSpc>
            </a:pPr>
            <a:r>
              <a:rPr lang="en-US" altLang="zh-CN" sz="2200" kern="0" dirty="0">
                <a:latin typeface="Times New Roman" panose="02020503050405090304" pitchFamily="18" charset="0"/>
                <a:cs typeface="Times New Roman" panose="02020503050405090304" pitchFamily="18" charset="0"/>
              </a:rPr>
              <a:t>One function = one </a:t>
            </a:r>
            <a:r>
              <a:rPr lang="en-US" altLang="zh-CN" sz="2200" b="1" kern="0" dirty="0">
                <a:latin typeface="Times New Roman" panose="02020503050405090304" pitchFamily="18" charset="0"/>
                <a:cs typeface="Times New Roman" panose="02020503050405090304" pitchFamily="18" charset="0"/>
              </a:rPr>
              <a:t>SURE VM</a:t>
            </a:r>
            <a:endParaRPr lang="en-US" altLang="zh-CN" sz="2200" kern="0" dirty="0">
              <a:latin typeface="Times New Roman" panose="02020503050405090304" pitchFamily="18" charset="0"/>
              <a:cs typeface="Times New Roman" panose="02020503050405090304" pitchFamily="18" charset="0"/>
            </a:endParaRPr>
          </a:p>
          <a:p>
            <a:pPr lvl="1">
              <a:lnSpc>
                <a:spcPct val="110000"/>
              </a:lnSpc>
            </a:pPr>
            <a:r>
              <a:rPr lang="en-US" altLang="zh-CN" sz="2200" kern="0" dirty="0">
                <a:latin typeface="Times New Roman" panose="02020503050405090304" pitchFamily="18" charset="0"/>
                <a:cs typeface="Times New Roman" panose="02020503050405090304" pitchFamily="18" charset="0"/>
              </a:rPr>
              <a:t>Distributed zero-copy communication</a:t>
            </a:r>
            <a:endParaRPr lang="en-US" altLang="zh-CN" sz="2200" kern="0" dirty="0">
              <a:latin typeface="Times New Roman" panose="02020503050405090304" pitchFamily="18" charset="0"/>
              <a:cs typeface="Times New Roman" panose="02020503050405090304" pitchFamily="18" charset="0"/>
            </a:endParaRPr>
          </a:p>
          <a:p>
            <a:pPr lvl="1">
              <a:lnSpc>
                <a:spcPct val="110000"/>
              </a:lnSpc>
            </a:pPr>
            <a:r>
              <a:rPr lang="en-US" altLang="zh-CN" sz="2200" kern="0" dirty="0">
                <a:latin typeface="Times New Roman" panose="02020503050405090304" pitchFamily="18" charset="0"/>
                <a:cs typeface="Times New Roman" panose="02020503050405090304" pitchFamily="18" charset="0"/>
              </a:rPr>
              <a:t>SURE gateway for consolidated protocol processing</a:t>
            </a:r>
            <a:endParaRPr lang="en-US" altLang="zh-CN" sz="2200" kern="0" dirty="0">
              <a:latin typeface="Times New Roman" panose="02020503050405090304" pitchFamily="18" charset="0"/>
              <a:cs typeface="Times New Roman" panose="02020503050405090304" pitchFamily="18" charset="0"/>
            </a:endParaRPr>
          </a:p>
          <a:p>
            <a:pPr lvl="1">
              <a:lnSpc>
                <a:spcPct val="110000"/>
              </a:lnSpc>
            </a:pPr>
            <a:r>
              <a:rPr lang="en-US" altLang="zh-CN" sz="2200" kern="0" dirty="0">
                <a:latin typeface="Times New Roman" panose="02020503050405090304" pitchFamily="18" charset="0"/>
                <a:cs typeface="Times New Roman" panose="02020503050405090304" pitchFamily="18" charset="0"/>
              </a:rPr>
              <a:t>Library-based sidecar</a:t>
            </a:r>
            <a:endParaRPr lang="en-US" altLang="zh-CN" sz="2200" kern="0" dirty="0">
              <a:latin typeface="Times New Roman" panose="02020503050405090304" pitchFamily="18" charset="0"/>
              <a:cs typeface="Times New Roman" panose="02020503050405090304" pitchFamily="18" charset="0"/>
            </a:endParaRPr>
          </a:p>
          <a:p>
            <a:pPr lvl="1">
              <a:lnSpc>
                <a:spcPct val="110000"/>
              </a:lnSpc>
            </a:pPr>
            <a:r>
              <a:rPr lang="en-US" altLang="zh-CN" sz="2200" kern="0" dirty="0">
                <a:latin typeface="Times New Roman" panose="02020503050405090304" pitchFamily="18" charset="0"/>
                <a:cs typeface="Times New Roman" panose="02020503050405090304" pitchFamily="18" charset="0"/>
              </a:rPr>
              <a:t>MPK-based call gate (Intel’s Memory Protection Keys)</a:t>
            </a:r>
            <a:endParaRPr lang="en-US" altLang="zh-CN" sz="2200" kern="0" dirty="0">
              <a:latin typeface="Times New Roman" panose="02020503050405090304" pitchFamily="18" charset="0"/>
              <a:cs typeface="Times New Roman" panose="02020503050405090304" pitchFamily="18" charset="0"/>
            </a:endParaRPr>
          </a:p>
        </p:txBody>
      </p:sp>
      <p:sp>
        <p:nvSpPr>
          <p:cNvPr id="2" name="文本框 1"/>
          <p:cNvSpPr txBox="1"/>
          <p:nvPr/>
        </p:nvSpPr>
        <p:spPr>
          <a:xfrm>
            <a:off x="5186045" y="5316855"/>
            <a:ext cx="7005955" cy="514985"/>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7.</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SURE architecture</a:t>
            </a:r>
            <a:endParaRPr kumimoji="1" lang="zh-CN" altLang="en-US" sz="2000" dirty="0">
              <a:latin typeface="Times New Roman" panose="02020503050405090304" pitchFamily="18" charset="0"/>
              <a:ea typeface="標楷體" pitchFamily="65" charset="-120"/>
              <a:cs typeface="Times New Roman" panose="02020503050405090304" pitchFamily="18" charset="0"/>
            </a:endParaRPr>
          </a:p>
        </p:txBody>
      </p:sp>
      <p:pic>
        <p:nvPicPr>
          <p:cNvPr id="6" name="图片 5"/>
          <p:cNvPicPr>
            <a:picLocks noChangeAspect="1"/>
          </p:cNvPicPr>
          <p:nvPr/>
        </p:nvPicPr>
        <p:blipFill>
          <a:blip r:embed="rId1"/>
          <a:stretch>
            <a:fillRect/>
          </a:stretch>
        </p:blipFill>
        <p:spPr>
          <a:xfrm>
            <a:off x="5186045" y="1538605"/>
            <a:ext cx="7005955" cy="37814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3.2</a:t>
            </a:r>
            <a:r>
              <a:rPr lang="zh-CN" altLang="en-US" dirty="0"/>
              <a:t> </a:t>
            </a:r>
            <a:r>
              <a:rPr lang="en-US" altLang="zh-CN" dirty="0"/>
              <a:t>SURE (3/6)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157480" y="1489710"/>
            <a:ext cx="5110480" cy="40703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503050405090304" pitchFamily="18" charset="0"/>
                <a:cs typeface="Times New Roman" panose="02020503050405090304" pitchFamily="18" charset="0"/>
              </a:rPr>
              <a:t>Distributed Zero-Copy Data Plane</a:t>
            </a:r>
            <a:endParaRPr lang="en-US" altLang="zh-CN" sz="2400" b="1"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Intra-node: shared-memory zero-copy communication</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Cross-domain on the same node: gateway-mediated transfer</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Cross-node: Z-stack + SURE gateway</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Reliable delivery with connection contexts, descriptor rings, signaling rings, and back-pressure</a:t>
            </a:r>
            <a:endParaRPr lang="en-US" altLang="zh-CN" sz="2200" kern="0" dirty="0">
              <a:latin typeface="Times New Roman" panose="02020503050405090304" pitchFamily="18" charset="0"/>
              <a:cs typeface="Times New Roman" panose="02020503050405090304" pitchFamily="18" charset="0"/>
            </a:endParaRPr>
          </a:p>
        </p:txBody>
      </p:sp>
      <p:pic>
        <p:nvPicPr>
          <p:cNvPr id="7" name="图片 6"/>
          <p:cNvPicPr>
            <a:picLocks noChangeAspect="1"/>
          </p:cNvPicPr>
          <p:nvPr/>
        </p:nvPicPr>
        <p:blipFill>
          <a:blip r:embed="rId1"/>
          <a:stretch>
            <a:fillRect/>
          </a:stretch>
        </p:blipFill>
        <p:spPr>
          <a:xfrm>
            <a:off x="5267325" y="1578610"/>
            <a:ext cx="6924675" cy="3797935"/>
          </a:xfrm>
          <a:prstGeom prst="rect">
            <a:avLst/>
          </a:prstGeom>
        </p:spPr>
      </p:pic>
      <p:sp>
        <p:nvSpPr>
          <p:cNvPr id="10" name="文本框 9"/>
          <p:cNvSpPr txBox="1"/>
          <p:nvPr/>
        </p:nvSpPr>
        <p:spPr>
          <a:xfrm>
            <a:off x="5267325" y="5376545"/>
            <a:ext cx="6924675" cy="514985"/>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8.</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Intra-node data plane in SURE</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3.2</a:t>
            </a:r>
            <a:r>
              <a:rPr lang="zh-CN" altLang="en-US" dirty="0"/>
              <a:t> </a:t>
            </a:r>
            <a:r>
              <a:rPr lang="en-US" altLang="zh-CN" dirty="0"/>
              <a:t>SURE (4/6)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148590" y="1254125"/>
            <a:ext cx="5654675" cy="444373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sz="2400" b="1" kern="0" dirty="0">
                <a:latin typeface="Times New Roman" panose="02020503050405090304" pitchFamily="18" charset="0"/>
                <a:cs typeface="Times New Roman" panose="02020503050405090304" pitchFamily="18" charset="0"/>
              </a:rPr>
              <a:t>Rethinking Isolation Inside the Unikernel</a:t>
            </a:r>
            <a:endParaRPr lang="en-US" sz="2400" b="1" kern="0" dirty="0">
              <a:latin typeface="Times New Roman" panose="02020503050405090304" pitchFamily="18" charset="0"/>
              <a:cs typeface="Times New Roman" panose="02020503050405090304" pitchFamily="18" charset="0"/>
            </a:endParaRPr>
          </a:p>
          <a:p>
            <a:pPr lvl="1"/>
            <a:r>
              <a:rPr lang="en-US" sz="2200" kern="0" dirty="0">
                <a:latin typeface="Times New Roman" panose="02020503050405090304" pitchFamily="18" charset="0"/>
                <a:cs typeface="Times New Roman" panose="02020503050405090304" pitchFamily="18" charset="0"/>
              </a:rPr>
              <a:t>Unikernels remove the kernel-userspace boundary</a:t>
            </a:r>
            <a:endParaRPr lang="en-US" sz="2200" kern="0" dirty="0">
              <a:latin typeface="Times New Roman" panose="02020503050405090304" pitchFamily="18" charset="0"/>
              <a:cs typeface="Times New Roman" panose="02020503050405090304" pitchFamily="18" charset="0"/>
            </a:endParaRPr>
          </a:p>
          <a:p>
            <a:pPr lvl="1"/>
            <a:r>
              <a:rPr lang="en-US" sz="2200" kern="0" dirty="0">
                <a:latin typeface="Times New Roman" panose="02020503050405090304" pitchFamily="18" charset="0"/>
                <a:cs typeface="Times New Roman" panose="02020503050405090304" pitchFamily="18" charset="0"/>
              </a:rPr>
              <a:t>But trusted runtime modules and user code share one address space</a:t>
            </a:r>
            <a:endParaRPr lang="en-US" sz="2200" kern="0" dirty="0">
              <a:latin typeface="Times New Roman" panose="02020503050405090304" pitchFamily="18" charset="0"/>
              <a:cs typeface="Times New Roman" panose="02020503050405090304" pitchFamily="18" charset="0"/>
            </a:endParaRPr>
          </a:p>
          <a:p>
            <a:pPr lvl="1"/>
            <a:r>
              <a:rPr lang="en-US" sz="2200" kern="0" dirty="0">
                <a:latin typeface="Times New Roman" panose="02020503050405090304" pitchFamily="18" charset="0"/>
                <a:cs typeface="Times New Roman" panose="02020503050405090304" pitchFamily="18" charset="0"/>
              </a:rPr>
              <a:t>SURE uses Intel MPK to protect:</a:t>
            </a:r>
            <a:endParaRPr lang="en-US" sz="2200" kern="0" dirty="0">
              <a:latin typeface="Times New Roman" panose="02020503050405090304" pitchFamily="18" charset="0"/>
              <a:cs typeface="Times New Roman" panose="02020503050405090304" pitchFamily="18" charset="0"/>
            </a:endParaRPr>
          </a:p>
          <a:p>
            <a:pPr lvl="2"/>
            <a:r>
              <a:rPr lang="en-US" sz="1830" kern="0" dirty="0">
                <a:latin typeface="Times New Roman" panose="02020503050405090304" pitchFamily="18" charset="0"/>
                <a:cs typeface="Times New Roman" panose="02020503050405090304" pitchFamily="18" charset="0"/>
                <a:sym typeface="+mn-ea"/>
              </a:rPr>
              <a:t>shared-memory pages</a:t>
            </a:r>
            <a:endParaRPr lang="en-US" sz="1830" kern="0" dirty="0">
              <a:latin typeface="Times New Roman" panose="02020503050405090304" pitchFamily="18" charset="0"/>
              <a:cs typeface="Times New Roman" panose="02020503050405090304" pitchFamily="18" charset="0"/>
            </a:endParaRPr>
          </a:p>
          <a:p>
            <a:pPr lvl="2"/>
            <a:r>
              <a:rPr lang="en-US" sz="1830" kern="0" dirty="0">
                <a:latin typeface="Times New Roman" panose="02020503050405090304" pitchFamily="18" charset="0"/>
                <a:cs typeface="Times New Roman" panose="02020503050405090304" pitchFamily="18" charset="0"/>
                <a:sym typeface="+mn-ea"/>
              </a:rPr>
              <a:t>sidecar state</a:t>
            </a:r>
            <a:endParaRPr lang="en-US" sz="1830" kern="0" dirty="0">
              <a:latin typeface="Times New Roman" panose="02020503050405090304" pitchFamily="18" charset="0"/>
              <a:cs typeface="Times New Roman" panose="02020503050405090304" pitchFamily="18" charset="0"/>
            </a:endParaRPr>
          </a:p>
          <a:p>
            <a:pPr lvl="2"/>
            <a:r>
              <a:rPr lang="en-US" sz="1830" kern="0" dirty="0">
                <a:latin typeface="Times New Roman" panose="02020503050405090304" pitchFamily="18" charset="0"/>
                <a:cs typeface="Times New Roman" panose="02020503050405090304" pitchFamily="18" charset="0"/>
                <a:sym typeface="+mn-ea"/>
              </a:rPr>
              <a:t>sensitive TCB components</a:t>
            </a:r>
            <a:endParaRPr lang="en-US" sz="1830" kern="0" dirty="0">
              <a:latin typeface="Times New Roman" panose="02020503050405090304" pitchFamily="18" charset="0"/>
              <a:cs typeface="Times New Roman" panose="02020503050405090304" pitchFamily="18" charset="0"/>
            </a:endParaRPr>
          </a:p>
          <a:p>
            <a:pPr lvl="1"/>
            <a:r>
              <a:rPr lang="en-US" sz="2200" kern="0" dirty="0">
                <a:latin typeface="Times New Roman" panose="02020503050405090304" pitchFamily="18" charset="0"/>
                <a:cs typeface="Times New Roman" panose="02020503050405090304" pitchFamily="18" charset="0"/>
              </a:rPr>
              <a:t>MPK-based call gates provide controlled access</a:t>
            </a:r>
            <a:endParaRPr lang="en-US" sz="2200" kern="0" dirty="0">
              <a:latin typeface="Times New Roman" panose="02020503050405090304" pitchFamily="18" charset="0"/>
              <a:cs typeface="Times New Roman" panose="02020503050405090304" pitchFamily="18" charset="0"/>
            </a:endParaRPr>
          </a:p>
        </p:txBody>
      </p:sp>
      <p:sp>
        <p:nvSpPr>
          <p:cNvPr id="3" name="文本框 2"/>
          <p:cNvSpPr txBox="1"/>
          <p:nvPr/>
        </p:nvSpPr>
        <p:spPr>
          <a:xfrm>
            <a:off x="5748655" y="5034915"/>
            <a:ext cx="6443345" cy="398780"/>
          </a:xfrm>
          <a:prstGeom prst="rect">
            <a:avLst/>
          </a:prstGeom>
          <a:noFill/>
        </p:spPr>
        <p:txBody>
          <a:bodyPr wrap="square" rtlCol="0" anchor="ctr" anchorCtr="1">
            <a:sp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9.</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Secure isolation in SURE</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pic>
        <p:nvPicPr>
          <p:cNvPr id="7" name="图片 6"/>
          <p:cNvPicPr>
            <a:picLocks noChangeAspect="1"/>
          </p:cNvPicPr>
          <p:nvPr/>
        </p:nvPicPr>
        <p:blipFill>
          <a:blip r:embed="rId1"/>
          <a:stretch>
            <a:fillRect/>
          </a:stretch>
        </p:blipFill>
        <p:spPr>
          <a:xfrm>
            <a:off x="5748655" y="1917700"/>
            <a:ext cx="6443345" cy="311721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3.2</a:t>
            </a:r>
            <a:r>
              <a:rPr lang="zh-CN" altLang="en-US" dirty="0"/>
              <a:t> </a:t>
            </a:r>
            <a:r>
              <a:rPr lang="en-US" altLang="zh-CN" dirty="0"/>
              <a:t>SURE (5/6)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148590" y="1165860"/>
            <a:ext cx="5654675" cy="488378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503050405090304" pitchFamily="18" charset="0"/>
                <a:cs typeface="Times New Roman" panose="02020503050405090304" pitchFamily="18" charset="0"/>
              </a:rPr>
              <a:t>MPK-Based Call Gate for Safe Buffer Access in SURE</a:t>
            </a:r>
            <a:endParaRPr lang="en-US" altLang="zh-CN" sz="2400" b="1"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User code cannot directly access protected data pages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A request to access a shared-memory buffer must go through the </a:t>
            </a:r>
            <a:r>
              <a:rPr lang="en-US" altLang="zh-CN" sz="2200" b="1" kern="0" dirty="0">
                <a:latin typeface="Times New Roman" panose="02020503050405090304" pitchFamily="18" charset="0"/>
                <a:cs typeface="Times New Roman" panose="02020503050405090304" pitchFamily="18" charset="0"/>
              </a:rPr>
              <a:t>MPK-based call gate</a:t>
            </a:r>
            <a:endParaRPr lang="en-US" altLang="zh-CN" sz="2200" b="1"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The call gate temporarily enables privileged access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The runtime then retags the corresponding data page</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After the request is served, privileged access is revoked</a:t>
            </a:r>
            <a:endParaRPr lang="en-US" altLang="zh-CN" sz="2200" kern="0" dirty="0">
              <a:latin typeface="Times New Roman" panose="02020503050405090304" pitchFamily="18" charset="0"/>
              <a:cs typeface="Times New Roman" panose="02020503050405090304" pitchFamily="18" charset="0"/>
            </a:endParaRPr>
          </a:p>
        </p:txBody>
      </p:sp>
      <p:sp>
        <p:nvSpPr>
          <p:cNvPr id="3" name="文本框 2"/>
          <p:cNvSpPr txBox="1"/>
          <p:nvPr/>
        </p:nvSpPr>
        <p:spPr>
          <a:xfrm>
            <a:off x="5748655" y="5034915"/>
            <a:ext cx="6443345" cy="398780"/>
          </a:xfrm>
          <a:prstGeom prst="rect">
            <a:avLst/>
          </a:prstGeom>
          <a:noFill/>
        </p:spPr>
        <p:txBody>
          <a:bodyPr wrap="square" rtlCol="0" anchor="ctr" anchorCtr="1">
            <a:sp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9.</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Secure isolation in SURE</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pic>
        <p:nvPicPr>
          <p:cNvPr id="7" name="图片 6"/>
          <p:cNvPicPr>
            <a:picLocks noChangeAspect="1"/>
          </p:cNvPicPr>
          <p:nvPr/>
        </p:nvPicPr>
        <p:blipFill>
          <a:blip r:embed="rId1"/>
          <a:stretch>
            <a:fillRect/>
          </a:stretch>
        </p:blipFill>
        <p:spPr>
          <a:xfrm>
            <a:off x="5748655" y="1917700"/>
            <a:ext cx="6443345" cy="31172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3.2</a:t>
            </a:r>
            <a:r>
              <a:rPr lang="zh-CN" altLang="en-US" dirty="0"/>
              <a:t> </a:t>
            </a:r>
            <a:r>
              <a:rPr lang="en-US" altLang="zh-CN" dirty="0"/>
              <a:t>SURE (6/6)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3" name="文本框 2"/>
          <p:cNvSpPr txBox="1"/>
          <p:nvPr/>
        </p:nvSpPr>
        <p:spPr>
          <a:xfrm>
            <a:off x="6168390" y="5431790"/>
            <a:ext cx="6024245" cy="398780"/>
          </a:xfrm>
          <a:prstGeom prst="rect">
            <a:avLst/>
          </a:prstGeom>
          <a:noFill/>
        </p:spPr>
        <p:txBody>
          <a:bodyPr wrap="square" rtlCol="0" anchor="ctr" anchorCtr="1">
            <a:sp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10.</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SURE performance</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sp>
        <p:nvSpPr>
          <p:cNvPr id="9" name="内容占位符 5"/>
          <p:cNvSpPr txBox="1"/>
          <p:nvPr/>
        </p:nvSpPr>
        <p:spPr bwMode="auto">
          <a:xfrm>
            <a:off x="0" y="1329690"/>
            <a:ext cx="6096000" cy="37274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30000"/>
              </a:lnSpc>
            </a:pPr>
            <a:r>
              <a:rPr lang="en-US" sz="2400" b="1" kern="0" dirty="0">
                <a:latin typeface="Times New Roman" panose="02020503050405090304" pitchFamily="18" charset="0"/>
                <a:cs typeface="Times New Roman" panose="02020503050405090304" pitchFamily="18" charset="0"/>
              </a:rPr>
              <a:t>Performance</a:t>
            </a:r>
            <a:endParaRPr lang="en-US" sz="2400" b="1" kern="0" dirty="0">
              <a:latin typeface="Times New Roman" panose="02020503050405090304" pitchFamily="18" charset="0"/>
              <a:cs typeface="Times New Roman" panose="02020503050405090304" pitchFamily="18" charset="0"/>
            </a:endParaRPr>
          </a:p>
          <a:p>
            <a:pPr lvl="1">
              <a:lnSpc>
                <a:spcPct val="130000"/>
              </a:lnSpc>
            </a:pPr>
            <a:r>
              <a:rPr lang="en-US" altLang="zh-CN" sz="2200" kern="0" dirty="0">
                <a:latin typeface="Times New Roman" panose="02020503050405090304" pitchFamily="18" charset="0"/>
                <a:cs typeface="Times New Roman" panose="02020503050405090304" pitchFamily="18" charset="0"/>
              </a:rPr>
              <a:t>Low-tens-of-microseconds intra-node latency</a:t>
            </a:r>
            <a:endParaRPr lang="en-US" altLang="zh-CN" sz="2200" kern="0" dirty="0">
              <a:latin typeface="Times New Roman" panose="02020503050405090304" pitchFamily="18" charset="0"/>
              <a:cs typeface="Times New Roman" panose="02020503050405090304" pitchFamily="18" charset="0"/>
            </a:endParaRPr>
          </a:p>
          <a:p>
            <a:pPr lvl="1">
              <a:lnSpc>
                <a:spcPct val="130000"/>
              </a:lnSpc>
            </a:pPr>
            <a:r>
              <a:rPr lang="en-US" altLang="zh-CN" sz="2200" kern="0" dirty="0">
                <a:latin typeface="Times New Roman" panose="02020503050405090304" pitchFamily="18" charset="0"/>
                <a:cs typeface="Times New Roman" panose="02020503050405090304" pitchFamily="18" charset="0"/>
              </a:rPr>
              <a:t>Strong throughput scaling under concurrency</a:t>
            </a:r>
            <a:endParaRPr lang="en-US" altLang="zh-CN" sz="2200" kern="0" dirty="0">
              <a:latin typeface="Times New Roman" panose="02020503050405090304" pitchFamily="18" charset="0"/>
              <a:cs typeface="Times New Roman" panose="02020503050405090304" pitchFamily="18" charset="0"/>
            </a:endParaRPr>
          </a:p>
          <a:p>
            <a:pPr lvl="1">
              <a:lnSpc>
                <a:spcPct val="130000"/>
              </a:lnSpc>
            </a:pPr>
            <a:r>
              <a:rPr lang="en-US" altLang="zh-CN" sz="2200" kern="0" dirty="0">
                <a:latin typeface="Times New Roman" panose="02020503050405090304" pitchFamily="18" charset="0"/>
                <a:cs typeface="Times New Roman" panose="02020503050405090304" pitchFamily="18" charset="0"/>
              </a:rPr>
              <a:t>&gt; 100 </a:t>
            </a:r>
            <a:r>
              <a:rPr lang="en-US" altLang="zh-CN" sz="2200" kern="0" dirty="0">
                <a:latin typeface="Arial" panose="020B0604020202090204" pitchFamily="34" charset="0"/>
                <a:cs typeface="Times New Roman" panose="02020503050405090304" pitchFamily="18" charset="0"/>
              </a:rPr>
              <a:t>×</a:t>
            </a:r>
            <a:r>
              <a:rPr lang="zh-CN" altLang="en-US" sz="2200" kern="0" dirty="0">
                <a:latin typeface="Times New Roman" panose="02020503050405090304" pitchFamily="18" charset="0"/>
                <a:cs typeface="Times New Roman" panose="02020503050405090304" pitchFamily="18" charset="0"/>
              </a:rPr>
              <a:t>️</a:t>
            </a:r>
            <a:r>
              <a:rPr lang="en-US" altLang="zh-CN" sz="2200" kern="0" dirty="0">
                <a:latin typeface="Times New Roman" panose="02020503050405090304" pitchFamily="18" charset="0"/>
                <a:cs typeface="Times New Roman" panose="02020503050405090304" pitchFamily="18" charset="0"/>
              </a:rPr>
              <a:t> CPU-cycle savings</a:t>
            </a:r>
            <a:endParaRPr lang="en-US" altLang="zh-CN" sz="2200" kern="0" dirty="0">
              <a:latin typeface="Times New Roman" panose="02020503050405090304" pitchFamily="18" charset="0"/>
              <a:cs typeface="Times New Roman" panose="02020503050405090304" pitchFamily="18" charset="0"/>
            </a:endParaRPr>
          </a:p>
          <a:p>
            <a:pPr lvl="1">
              <a:lnSpc>
                <a:spcPct val="130000"/>
              </a:lnSpc>
            </a:pPr>
            <a:r>
              <a:rPr lang="en-US" altLang="zh-CN" sz="2200" kern="0" dirty="0">
                <a:latin typeface="Times New Roman" panose="02020503050405090304" pitchFamily="18" charset="0"/>
                <a:cs typeface="Times New Roman" panose="02020503050405090304" pitchFamily="18" charset="0"/>
              </a:rPr>
              <a:t>16 </a:t>
            </a:r>
            <a:r>
              <a:rPr lang="en-US" altLang="zh-CN" sz="2200" kern="0" dirty="0">
                <a:latin typeface="Arial" panose="020B0604020202090204" pitchFamily="34" charset="0"/>
                <a:cs typeface="Times New Roman" panose="02020503050405090304" pitchFamily="18" charset="0"/>
              </a:rPr>
              <a:t>×</a:t>
            </a:r>
            <a:r>
              <a:rPr lang="zh-CN" altLang="en-US" sz="2200" kern="0" dirty="0">
                <a:latin typeface="Times New Roman" panose="02020503050405090304" pitchFamily="18" charset="0"/>
                <a:cs typeface="Times New Roman" panose="02020503050405090304" pitchFamily="18" charset="0"/>
              </a:rPr>
              <a:t>️</a:t>
            </a:r>
            <a:r>
              <a:rPr lang="en-US" altLang="zh-CN" sz="2200" kern="0" dirty="0">
                <a:latin typeface="Times New Roman" panose="02020503050405090304" pitchFamily="18" charset="0"/>
                <a:cs typeface="Times New Roman" panose="02020503050405090304" pitchFamily="18" charset="0"/>
              </a:rPr>
              <a:t> improvements over individual sidecars</a:t>
            </a:r>
            <a:endParaRPr lang="en-US" altLang="zh-CN" sz="2200" kern="0" dirty="0">
              <a:latin typeface="Times New Roman" panose="02020503050405090304" pitchFamily="18" charset="0"/>
              <a:cs typeface="Times New Roman" panose="02020503050405090304" pitchFamily="18" charset="0"/>
            </a:endParaRPr>
          </a:p>
          <a:p>
            <a:pPr lvl="1">
              <a:lnSpc>
                <a:spcPct val="130000"/>
              </a:lnSpc>
            </a:pPr>
            <a:r>
              <a:rPr lang="en-US" altLang="zh-CN" sz="2200" kern="0" dirty="0">
                <a:latin typeface="Times New Roman" panose="02020503050405090304" pitchFamily="18" charset="0"/>
                <a:cs typeface="Times New Roman" panose="02020503050405090304" pitchFamily="18" charset="0"/>
              </a:rPr>
              <a:t>Up to 79 x throughput improvement over Knative</a:t>
            </a:r>
            <a:endParaRPr lang="en-US" altLang="zh-CN" sz="2200" kern="0" dirty="0">
              <a:latin typeface="Times New Roman" panose="02020503050405090304" pitchFamily="18" charset="0"/>
              <a:cs typeface="Times New Roman" panose="02020503050405090304" pitchFamily="18" charset="0"/>
            </a:endParaRPr>
          </a:p>
        </p:txBody>
      </p:sp>
      <p:pic>
        <p:nvPicPr>
          <p:cNvPr id="8" name="图片 7"/>
          <p:cNvPicPr>
            <a:picLocks noChangeAspect="1"/>
          </p:cNvPicPr>
          <p:nvPr/>
        </p:nvPicPr>
        <p:blipFill>
          <a:blip r:embed="rId1"/>
          <a:stretch>
            <a:fillRect/>
          </a:stretch>
        </p:blipFill>
        <p:spPr>
          <a:xfrm>
            <a:off x="6167755" y="1417955"/>
            <a:ext cx="2990850" cy="4013835"/>
          </a:xfrm>
          <a:prstGeom prst="rect">
            <a:avLst/>
          </a:prstGeom>
        </p:spPr>
      </p:pic>
      <p:pic>
        <p:nvPicPr>
          <p:cNvPr id="2" name="图片 1"/>
          <p:cNvPicPr>
            <a:picLocks noChangeAspect="1"/>
          </p:cNvPicPr>
          <p:nvPr/>
        </p:nvPicPr>
        <p:blipFill>
          <a:blip r:embed="rId2"/>
          <a:stretch>
            <a:fillRect/>
          </a:stretch>
        </p:blipFill>
        <p:spPr>
          <a:xfrm>
            <a:off x="9230360" y="1417955"/>
            <a:ext cx="2961640" cy="40138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275" y="1218565"/>
            <a:ext cx="10271125" cy="4703445"/>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Motivation</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Proposed Methods &amp; Performance Evaluation</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Firecracker</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err="1">
                <a:latin typeface="Times New Roman" panose="02020503050405090304" pitchFamily="18" charset="0"/>
                <a:cs typeface="Times New Roman" panose="02020503050405090304" pitchFamily="18" charset="0"/>
              </a:rPr>
              <a:t>SURE</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solidFill>
                  <a:srgbClr val="FF0000"/>
                </a:solidFill>
                <a:latin typeface="Times New Roman" panose="02020503050405090304" pitchFamily="18" charset="0"/>
                <a:cs typeface="Times New Roman" panose="02020503050405090304" pitchFamily="18" charset="0"/>
              </a:rPr>
              <a:t>LITESHIELD</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Conclusions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a:t>
            </a:r>
            <a:endParaRPr lang="en-US" altLang="zh-CN" sz="2935"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3.3</a:t>
            </a:r>
            <a:r>
              <a:rPr lang="zh-CN" altLang="en-US" dirty="0"/>
              <a:t> </a:t>
            </a:r>
            <a:r>
              <a:rPr lang="en-US" altLang="zh-CN" dirty="0"/>
              <a:t>LITESHIELD (1/5)</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pic>
        <p:nvPicPr>
          <p:cNvPr id="2" name="图片 1"/>
          <p:cNvPicPr>
            <a:picLocks noChangeAspect="1"/>
          </p:cNvPicPr>
          <p:nvPr/>
        </p:nvPicPr>
        <p:blipFill>
          <a:blip r:embed="rId1"/>
          <a:srcRect l="3952" t="3981" r="4407" b="3610"/>
          <a:stretch>
            <a:fillRect/>
          </a:stretch>
        </p:blipFill>
        <p:spPr>
          <a:xfrm>
            <a:off x="4895215" y="2102485"/>
            <a:ext cx="3977005" cy="2836545"/>
          </a:xfrm>
          <a:prstGeom prst="rect">
            <a:avLst/>
          </a:prstGeom>
        </p:spPr>
      </p:pic>
      <p:sp>
        <p:nvSpPr>
          <p:cNvPr id="9" name="内容占位符 5"/>
          <p:cNvSpPr txBox="1"/>
          <p:nvPr/>
        </p:nvSpPr>
        <p:spPr bwMode="auto">
          <a:xfrm>
            <a:off x="276860" y="1355725"/>
            <a:ext cx="4860290" cy="433006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503050405090304" pitchFamily="18" charset="0"/>
                <a:cs typeface="Times New Roman" panose="02020503050405090304" pitchFamily="18" charset="0"/>
              </a:rPr>
              <a:t>LITESHIELD </a:t>
            </a:r>
            <a:r>
              <a:rPr lang="en-US" altLang="zh-CN" sz="2400" b="1" kern="0" dirty="0">
                <a:latin typeface="Times New Roman" panose="02020503050405090304" pitchFamily="18" charset="0"/>
                <a:cs typeface="Times New Roman" panose="02020503050405090304" pitchFamily="18" charset="0"/>
              </a:rPr>
              <a:t>Asks a More Radical Question</a:t>
            </a:r>
            <a:endParaRPr lang="en-US" altLang="zh-CN" sz="2400" b="1"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Containers are lightweight, but expose a wide host-kernel interface</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VMs are stronger, but keep guest kernels and hypervisors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Cloud-native microservices amplify sandbox overhead</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Can system services move into </a:t>
            </a:r>
            <a:r>
              <a:rPr lang="en-US" altLang="zh-CN" sz="2200" b="1" kern="0" dirty="0">
                <a:latin typeface="Times New Roman" panose="02020503050405090304" pitchFamily="18" charset="0"/>
                <a:cs typeface="Times New Roman" panose="02020503050405090304" pitchFamily="18" charset="0"/>
              </a:rPr>
              <a:t>userspace </a:t>
            </a:r>
            <a:r>
              <a:rPr lang="en-US" altLang="zh-CN" sz="2200" b="1" kern="0" dirty="0">
                <a:latin typeface="Times New Roman" panose="02020503050405090304" pitchFamily="18" charset="0"/>
                <a:ea typeface="PingFang SC" panose="020B0400000000000000" charset="-122"/>
                <a:cs typeface="Times New Roman" panose="02020503050405090304" pitchFamily="18" charset="0"/>
              </a:rPr>
              <a:t>μkernel services</a:t>
            </a:r>
            <a:r>
              <a:rPr lang="en-US" altLang="zh-CN" sz="2200" kern="0" dirty="0">
                <a:latin typeface="Times New Roman" panose="02020503050405090304" pitchFamily="18" charset="0"/>
                <a:ea typeface="PingFang SC" panose="020B0400000000000000" charset="-122"/>
                <a:cs typeface="Times New Roman" panose="02020503050405090304" pitchFamily="18" charset="0"/>
              </a:rPr>
              <a:t>?</a:t>
            </a:r>
            <a:r>
              <a:rPr lang="en-US" altLang="zh-CN" sz="2055" kern="0" dirty="0">
                <a:latin typeface="Times New Roman" panose="02020503050405090304" pitchFamily="18" charset="0"/>
                <a:cs typeface="Times New Roman" panose="02020503050405090304" pitchFamily="18" charset="0"/>
              </a:rPr>
              <a:t>  </a:t>
            </a:r>
            <a:endParaRPr lang="en-US" altLang="zh-CN" sz="1595" kern="0" dirty="0">
              <a:latin typeface="Times New Roman" panose="02020503050405090304" pitchFamily="18" charset="0"/>
              <a:cs typeface="Times New Roman" panose="02020503050405090304" pitchFamily="18" charset="0"/>
            </a:endParaRPr>
          </a:p>
        </p:txBody>
      </p:sp>
      <p:pic>
        <p:nvPicPr>
          <p:cNvPr id="3" name="图片 2"/>
          <p:cNvPicPr>
            <a:picLocks noChangeAspect="1"/>
          </p:cNvPicPr>
          <p:nvPr/>
        </p:nvPicPr>
        <p:blipFill>
          <a:blip r:embed="rId2"/>
          <a:stretch>
            <a:fillRect/>
          </a:stretch>
        </p:blipFill>
        <p:spPr>
          <a:xfrm>
            <a:off x="8872220" y="2101850"/>
            <a:ext cx="3167380" cy="2837180"/>
          </a:xfrm>
          <a:prstGeom prst="rect">
            <a:avLst/>
          </a:prstGeom>
        </p:spPr>
      </p:pic>
      <p:sp>
        <p:nvSpPr>
          <p:cNvPr id="6" name="文本框 5"/>
          <p:cNvSpPr txBox="1"/>
          <p:nvPr/>
        </p:nvSpPr>
        <p:spPr>
          <a:xfrm>
            <a:off x="4895215" y="4939030"/>
            <a:ext cx="7143750" cy="398780"/>
          </a:xfrm>
          <a:prstGeom prst="rect">
            <a:avLst/>
          </a:prstGeom>
          <a:noFill/>
        </p:spPr>
        <p:txBody>
          <a:bodyPr wrap="square" rtlCol="0" anchor="ctr" anchorCtr="1">
            <a:sp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11.</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Security isolation of containers and VMs</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3.3</a:t>
            </a:r>
            <a:r>
              <a:rPr lang="zh-CN" altLang="en-US" dirty="0"/>
              <a:t> </a:t>
            </a:r>
            <a:r>
              <a:rPr lang="en-US" altLang="zh-CN" dirty="0"/>
              <a:t>LITESHIELD (2/5)</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35" y="1197610"/>
            <a:ext cx="4522470" cy="477075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503050405090304" pitchFamily="18" charset="0"/>
                <a:cs typeface="Times New Roman" panose="02020503050405090304" pitchFamily="18" charset="0"/>
              </a:rPr>
              <a:t>Architecture</a:t>
            </a:r>
            <a:endParaRPr lang="en-US" altLang="zh-CN" sz="2400" b="1"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Guest applications act as clients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Core services:</a:t>
            </a:r>
            <a:endParaRPr lang="en-US" altLang="zh-CN" sz="2200" kern="0" dirty="0">
              <a:latin typeface="Times New Roman" panose="02020503050405090304" pitchFamily="18" charset="0"/>
              <a:cs typeface="Times New Roman" panose="02020503050405090304" pitchFamily="18" charset="0"/>
            </a:endParaRPr>
          </a:p>
          <a:p>
            <a:pPr lvl="2"/>
            <a:r>
              <a:rPr lang="en-US" altLang="zh-CN" sz="2000" kern="0" dirty="0">
                <a:latin typeface="Times New Roman" panose="02020503050405090304" pitchFamily="18" charset="0"/>
                <a:cs typeface="Times New Roman" panose="02020503050405090304" pitchFamily="18" charset="0"/>
                <a:sym typeface="+mn-ea"/>
              </a:rPr>
              <a:t>IPC</a:t>
            </a:r>
            <a:endParaRPr lang="en-US" altLang="zh-CN" sz="2000" kern="0" dirty="0">
              <a:latin typeface="Times New Roman" panose="02020503050405090304" pitchFamily="18" charset="0"/>
              <a:cs typeface="Times New Roman" panose="02020503050405090304" pitchFamily="18" charset="0"/>
            </a:endParaRPr>
          </a:p>
          <a:p>
            <a:pPr lvl="2"/>
            <a:r>
              <a:rPr lang="en-US" altLang="zh-CN" sz="2000" kern="0" dirty="0">
                <a:latin typeface="Times New Roman" panose="02020503050405090304" pitchFamily="18" charset="0"/>
                <a:cs typeface="Times New Roman" panose="02020503050405090304" pitchFamily="18" charset="0"/>
                <a:sym typeface="+mn-ea"/>
              </a:rPr>
              <a:t>syscall arbitration</a:t>
            </a:r>
            <a:endParaRPr lang="en-US" altLang="zh-CN" sz="2000" kern="0" dirty="0">
              <a:latin typeface="Times New Roman" panose="02020503050405090304" pitchFamily="18" charset="0"/>
              <a:cs typeface="Times New Roman" panose="02020503050405090304" pitchFamily="18" charset="0"/>
            </a:endParaRPr>
          </a:p>
          <a:p>
            <a:pPr lvl="2"/>
            <a:r>
              <a:rPr lang="en-US" altLang="zh-CN" sz="2000" kern="0" dirty="0">
                <a:latin typeface="Times New Roman" panose="02020503050405090304" pitchFamily="18" charset="0"/>
                <a:cs typeface="Times New Roman" panose="02020503050405090304" pitchFamily="18" charset="0"/>
                <a:sym typeface="+mn-ea"/>
              </a:rPr>
              <a:t>loader / memory / time</a:t>
            </a:r>
            <a:endParaRPr lang="en-US" altLang="zh-CN" sz="20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Composable services:</a:t>
            </a:r>
            <a:endParaRPr lang="en-US" altLang="zh-CN" sz="2200" kern="0" dirty="0">
              <a:latin typeface="Times New Roman" panose="02020503050405090304" pitchFamily="18" charset="0"/>
              <a:cs typeface="Times New Roman" panose="02020503050405090304" pitchFamily="18" charset="0"/>
            </a:endParaRPr>
          </a:p>
          <a:p>
            <a:pPr lvl="2"/>
            <a:r>
              <a:rPr lang="en-US" altLang="zh-CN" sz="2000" kern="0" dirty="0">
                <a:latin typeface="Times New Roman" panose="02020503050405090304" pitchFamily="18" charset="0"/>
                <a:cs typeface="Times New Roman" panose="02020503050405090304" pitchFamily="18" charset="0"/>
              </a:rPr>
              <a:t>networking</a:t>
            </a:r>
            <a:endParaRPr lang="en-US" altLang="zh-CN" sz="2000" kern="0" dirty="0">
              <a:latin typeface="Times New Roman" panose="02020503050405090304" pitchFamily="18" charset="0"/>
              <a:cs typeface="Times New Roman" panose="02020503050405090304" pitchFamily="18" charset="0"/>
            </a:endParaRPr>
          </a:p>
          <a:p>
            <a:pPr lvl="2"/>
            <a:r>
              <a:rPr lang="en-US" altLang="zh-CN" sz="2000" kern="0" dirty="0">
                <a:latin typeface="Times New Roman" panose="02020503050405090304" pitchFamily="18" charset="0"/>
                <a:cs typeface="Times New Roman" panose="02020503050405090304" pitchFamily="18" charset="0"/>
              </a:rPr>
              <a:t>filesystem</a:t>
            </a:r>
            <a:endParaRPr lang="en-US" altLang="zh-CN" sz="2000" kern="0" dirty="0">
              <a:latin typeface="Times New Roman" panose="02020503050405090304" pitchFamily="18" charset="0"/>
              <a:cs typeface="Times New Roman" panose="02020503050405090304" pitchFamily="18" charset="0"/>
            </a:endParaRPr>
          </a:p>
          <a:p>
            <a:pPr lvl="2"/>
            <a:r>
              <a:rPr lang="en-US" altLang="zh-CN" sz="2000" kern="0" dirty="0">
                <a:latin typeface="Times New Roman" panose="02020503050405090304" pitchFamily="18" charset="0"/>
                <a:cs typeface="Times New Roman" panose="02020503050405090304" pitchFamily="18" charset="0"/>
              </a:rPr>
              <a:t>drivers</a:t>
            </a:r>
            <a:endParaRPr lang="en-US" altLang="zh-CN" sz="1665"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Goal: a </a:t>
            </a:r>
            <a:r>
              <a:rPr lang="en-US" altLang="zh-CN" sz="2200" b="1" kern="0" dirty="0">
                <a:latin typeface="Times New Roman" panose="02020503050405090304" pitchFamily="18" charset="0"/>
                <a:cs typeface="Times New Roman" panose="02020503050405090304" pitchFamily="18" charset="0"/>
              </a:rPr>
              <a:t>thin user-to-host interface</a:t>
            </a:r>
            <a:endParaRPr lang="en-US" altLang="zh-CN" sz="2200" b="1" kern="0" dirty="0">
              <a:latin typeface="Times New Roman" panose="02020503050405090304" pitchFamily="18" charset="0"/>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4523105" y="2061845"/>
            <a:ext cx="7668895" cy="2734945"/>
          </a:xfrm>
          <a:prstGeom prst="rect">
            <a:avLst/>
          </a:prstGeom>
        </p:spPr>
      </p:pic>
      <p:sp>
        <p:nvSpPr>
          <p:cNvPr id="6" name="文本框 5"/>
          <p:cNvSpPr txBox="1"/>
          <p:nvPr/>
        </p:nvSpPr>
        <p:spPr>
          <a:xfrm>
            <a:off x="4522470" y="4796790"/>
            <a:ext cx="7668895" cy="398780"/>
          </a:xfrm>
          <a:prstGeom prst="rect">
            <a:avLst/>
          </a:prstGeom>
          <a:noFill/>
        </p:spPr>
        <p:txBody>
          <a:bodyPr wrap="square" rtlCol="0" anchor="ctr" anchorCtr="1">
            <a:sp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12.</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Architecture of LITESHIELD</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3.3</a:t>
            </a:r>
            <a:r>
              <a:rPr lang="zh-CN" altLang="en-US" dirty="0"/>
              <a:t> </a:t>
            </a:r>
            <a:r>
              <a:rPr lang="en-US" altLang="zh-CN" dirty="0"/>
              <a:t>LITESHIELD (3/5)</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109855" y="1530985"/>
            <a:ext cx="5908040" cy="381825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503050405090304" pitchFamily="18" charset="0"/>
                <a:cs typeface="Times New Roman" panose="02020503050405090304" pitchFamily="18" charset="0"/>
              </a:rPr>
              <a:t>Fast IPC and Legacy Compatibility</a:t>
            </a:r>
            <a:endParaRPr lang="en-US" altLang="zh-CN" sz="2400" b="1"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Guest applications have no direct host-kernel access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Delegable syscalls are redirected via fast shared-memory IPC</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Legacy applications are supported through:</a:t>
            </a:r>
            <a:endParaRPr lang="en-US" altLang="zh-CN" sz="2200" kern="0" dirty="0">
              <a:latin typeface="Times New Roman" panose="02020503050405090304" pitchFamily="18" charset="0"/>
              <a:cs typeface="Times New Roman" panose="02020503050405090304" pitchFamily="18" charset="0"/>
            </a:endParaRPr>
          </a:p>
          <a:p>
            <a:pPr lvl="2"/>
            <a:r>
              <a:rPr lang="en-US" altLang="zh-CN" sz="2000" b="1" kern="0" dirty="0">
                <a:latin typeface="Times New Roman" panose="02020503050405090304" pitchFamily="18" charset="0"/>
                <a:cs typeface="Times New Roman" panose="02020503050405090304" pitchFamily="18" charset="0"/>
              </a:rPr>
              <a:t>LD_PRELOAD</a:t>
            </a:r>
            <a:endParaRPr lang="en-US" altLang="zh-CN" sz="2000" kern="0" dirty="0">
              <a:latin typeface="Times New Roman" panose="02020503050405090304" pitchFamily="18" charset="0"/>
              <a:cs typeface="Times New Roman" panose="02020503050405090304" pitchFamily="18" charset="0"/>
            </a:endParaRPr>
          </a:p>
          <a:p>
            <a:pPr lvl="2"/>
            <a:r>
              <a:rPr lang="en-US" altLang="zh-CN" sz="2000" b="1" kern="0" dirty="0">
                <a:latin typeface="Times New Roman" panose="02020503050405090304" pitchFamily="18" charset="0"/>
                <a:cs typeface="Times New Roman" panose="02020503050405090304" pitchFamily="18" charset="0"/>
              </a:rPr>
              <a:t>libsyscall_intercept</a:t>
            </a:r>
            <a:endParaRPr lang="en-US" altLang="zh-CN" sz="183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No binary modification is required</a:t>
            </a:r>
            <a:endParaRPr lang="en-US" altLang="zh-CN" sz="2200" kern="0" dirty="0">
              <a:latin typeface="Times New Roman" panose="02020503050405090304" pitchFamily="18" charset="0"/>
              <a:cs typeface="Times New Roman" panose="02020503050405090304" pitchFamily="18" charset="0"/>
            </a:endParaRPr>
          </a:p>
        </p:txBody>
      </p:sp>
      <p:sp>
        <p:nvSpPr>
          <p:cNvPr id="2" name="文本框 1"/>
          <p:cNvSpPr txBox="1"/>
          <p:nvPr/>
        </p:nvSpPr>
        <p:spPr>
          <a:xfrm>
            <a:off x="6017260" y="5349240"/>
            <a:ext cx="5812155" cy="398780"/>
          </a:xfrm>
          <a:prstGeom prst="rect">
            <a:avLst/>
          </a:prstGeom>
          <a:noFill/>
        </p:spPr>
        <p:txBody>
          <a:bodyPr wrap="square" rtlCol="0" anchor="ctr" anchorCtr="1">
            <a:sp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13. Fast userspace inter-process communication</a:t>
            </a:r>
            <a:endParaRPr kumimoji="1" lang="zh-CN" altLang="en-US" sz="2000" dirty="0">
              <a:latin typeface="Times New Roman" panose="02020503050405090304" pitchFamily="18" charset="0"/>
              <a:ea typeface="標楷體" pitchFamily="65" charset="-120"/>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6017260" y="1519555"/>
            <a:ext cx="5812155" cy="381825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3.3</a:t>
            </a:r>
            <a:r>
              <a:rPr lang="zh-CN" altLang="en-US" dirty="0"/>
              <a:t> </a:t>
            </a:r>
            <a:r>
              <a:rPr lang="en-US" altLang="zh-CN" dirty="0"/>
              <a:t>LITESHIELD (4/5)</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1852930" y="1096010"/>
            <a:ext cx="8486140" cy="23590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503050405090304" pitchFamily="18" charset="0"/>
                <a:cs typeface="Times New Roman" panose="02020503050405090304" pitchFamily="18" charset="0"/>
              </a:rPr>
              <a:t>Delegable vs. Non-Delegable Syscalls</a:t>
            </a:r>
            <a:endParaRPr lang="en-US" altLang="zh-CN" sz="2400" b="1"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Delegable syscalls</a:t>
            </a:r>
            <a:endParaRPr lang="en-US" altLang="zh-CN" sz="2200" kern="0" dirty="0">
              <a:latin typeface="Times New Roman" panose="02020503050405090304" pitchFamily="18" charset="0"/>
              <a:cs typeface="Times New Roman" panose="02020503050405090304" pitchFamily="18" charset="0"/>
            </a:endParaRPr>
          </a:p>
          <a:p>
            <a:pPr lvl="2"/>
            <a:r>
              <a:rPr lang="en-US" altLang="zh-CN" sz="2000" kern="0" dirty="0">
                <a:latin typeface="Times New Roman" panose="02020503050405090304" pitchFamily="18" charset="0"/>
                <a:ea typeface="PingFang SC" panose="020B0400000000000000" charset="-122"/>
                <a:cs typeface="Times New Roman" panose="02020503050405090304" pitchFamily="18" charset="0"/>
              </a:rPr>
              <a:t>redirected to userspace μkernel services</a:t>
            </a:r>
            <a:endParaRPr lang="en-US" altLang="zh-CN" sz="1665" kern="0" dirty="0">
              <a:latin typeface="Times New Roman" panose="02020503050405090304" pitchFamily="18" charset="0"/>
              <a:ea typeface="PingFang SC" panose="020B0400000000000000" charset="-122"/>
              <a:cs typeface="Times New Roman" panose="02020503050405090304" pitchFamily="18" charset="0"/>
            </a:endParaRPr>
          </a:p>
          <a:p>
            <a:pPr lvl="1"/>
            <a:r>
              <a:rPr lang="en-US" altLang="zh-CN" sz="2200" kern="0" dirty="0">
                <a:latin typeface="Times New Roman" panose="02020503050405090304" pitchFamily="18" charset="0"/>
                <a:ea typeface="PingFang SC" panose="020B0400000000000000" charset="-122"/>
                <a:cs typeface="Times New Roman" panose="02020503050405090304" pitchFamily="18" charset="0"/>
              </a:rPr>
              <a:t>Non-delegable syscalls</a:t>
            </a:r>
            <a:endParaRPr lang="en-US" altLang="zh-CN" sz="2200" kern="0" dirty="0">
              <a:latin typeface="Times New Roman" panose="02020503050405090304" pitchFamily="18" charset="0"/>
              <a:ea typeface="PingFang SC" panose="020B0400000000000000" charset="-122"/>
              <a:cs typeface="Times New Roman" panose="02020503050405090304" pitchFamily="18" charset="0"/>
            </a:endParaRPr>
          </a:p>
          <a:p>
            <a:pPr lvl="2"/>
            <a:r>
              <a:rPr lang="en-US" altLang="zh-CN" sz="2000" kern="0" dirty="0">
                <a:latin typeface="Times New Roman" panose="02020503050405090304" pitchFamily="18" charset="0"/>
                <a:ea typeface="PingFang SC" panose="020B0400000000000000" charset="-122"/>
                <a:cs typeface="Times New Roman" panose="02020503050405090304" pitchFamily="18" charset="0"/>
              </a:rPr>
              <a:t>executed in the same process context</a:t>
            </a:r>
            <a:endParaRPr lang="en-US" altLang="zh-CN" sz="2000" kern="0" dirty="0">
              <a:latin typeface="Times New Roman" panose="02020503050405090304" pitchFamily="18" charset="0"/>
              <a:ea typeface="PingFang SC" panose="020B0400000000000000" charset="-122"/>
              <a:cs typeface="Times New Roman" panose="02020503050405090304" pitchFamily="18" charset="0"/>
            </a:endParaRPr>
          </a:p>
          <a:p>
            <a:pPr lvl="2"/>
            <a:r>
              <a:rPr lang="en-US" altLang="zh-CN" sz="1830" kern="0" dirty="0">
                <a:latin typeface="Times New Roman" panose="02020503050405090304" pitchFamily="18" charset="0"/>
                <a:ea typeface="PingFang SC" panose="020B0400000000000000" charset="-122"/>
                <a:cs typeface="Times New Roman" panose="02020503050405090304" pitchFamily="18" charset="0"/>
              </a:rPr>
              <a:t>trapped and validated via ptrace-based arbitration</a:t>
            </a:r>
            <a:endParaRPr lang="en-US" altLang="zh-CN" sz="2200" kern="0" dirty="0">
              <a:latin typeface="Times New Roman" panose="02020503050405090304" pitchFamily="18" charset="0"/>
              <a:ea typeface="PingFang SC" panose="020B0400000000000000" charset="-122"/>
              <a:cs typeface="Times New Roman" panose="02020503050405090304" pitchFamily="18" charset="0"/>
            </a:endParaRPr>
          </a:p>
        </p:txBody>
      </p:sp>
      <p:sp>
        <p:nvSpPr>
          <p:cNvPr id="2" name="文本框 1"/>
          <p:cNvSpPr txBox="1"/>
          <p:nvPr/>
        </p:nvSpPr>
        <p:spPr>
          <a:xfrm>
            <a:off x="1986280" y="5771515"/>
            <a:ext cx="8644255" cy="398780"/>
          </a:xfrm>
          <a:prstGeom prst="rect">
            <a:avLst/>
          </a:prstGeom>
          <a:noFill/>
        </p:spPr>
        <p:txBody>
          <a:bodyPr wrap="square" rtlCol="0" anchor="ctr" anchorCtr="1">
            <a:sp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14. Delegable vs. non-delegable syscalls</a:t>
            </a:r>
            <a:endParaRPr kumimoji="1" lang="zh-CN" altLang="en-US" sz="2000" dirty="0">
              <a:latin typeface="Times New Roman" panose="02020503050405090304" pitchFamily="18" charset="0"/>
              <a:ea typeface="標楷體" pitchFamily="65" charset="-120"/>
              <a:cs typeface="Times New Roman" panose="02020503050405090304" pitchFamily="18" charset="0"/>
            </a:endParaRPr>
          </a:p>
        </p:txBody>
      </p:sp>
      <p:pic>
        <p:nvPicPr>
          <p:cNvPr id="6" name="图片 5"/>
          <p:cNvPicPr>
            <a:picLocks noChangeAspect="1"/>
          </p:cNvPicPr>
          <p:nvPr/>
        </p:nvPicPr>
        <p:blipFill>
          <a:blip r:embed="rId1"/>
          <a:stretch>
            <a:fillRect/>
          </a:stretch>
        </p:blipFill>
        <p:spPr>
          <a:xfrm>
            <a:off x="1986915" y="3455035"/>
            <a:ext cx="8643620" cy="23164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3.3</a:t>
            </a:r>
            <a:r>
              <a:rPr lang="zh-CN" altLang="en-US" dirty="0"/>
              <a:t> </a:t>
            </a:r>
            <a:r>
              <a:rPr lang="en-US" altLang="zh-CN" dirty="0"/>
              <a:t>LITESHIELD (5/5)</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109855" y="1203325"/>
            <a:ext cx="5572125" cy="273050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503050405090304" pitchFamily="18" charset="0"/>
                <a:cs typeface="Times New Roman" panose="02020503050405090304" pitchFamily="18" charset="0"/>
              </a:rPr>
              <a:t>Performance</a:t>
            </a:r>
            <a:endParaRPr lang="en-US" altLang="zh-CN" sz="24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Syscall: surpasses native performance</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Network performance remains competitive</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a:latin typeface="Times New Roman" panose="02020503050405090304" pitchFamily="18" charset="0"/>
                <a:cs typeface="Times New Roman" panose="02020503050405090304" pitchFamily="18" charset="0"/>
                <a:sym typeface="+mn-ea"/>
              </a:rPr>
              <a:t>Comparable performance for IO with native setups and better than other approaches</a:t>
            </a:r>
            <a:endParaRPr lang="en-US" altLang="zh-CN" sz="2200" kern="0" dirty="0">
              <a:latin typeface="Times New Roman" panose="02020503050405090304" pitchFamily="18" charset="0"/>
              <a:cs typeface="Times New Roman" panose="02020503050405090304" pitchFamily="18" charset="0"/>
            </a:endParaRPr>
          </a:p>
        </p:txBody>
      </p:sp>
      <p:sp>
        <p:nvSpPr>
          <p:cNvPr id="2" name="文本框 1"/>
          <p:cNvSpPr txBox="1"/>
          <p:nvPr/>
        </p:nvSpPr>
        <p:spPr>
          <a:xfrm>
            <a:off x="971550" y="5666105"/>
            <a:ext cx="4710430" cy="489585"/>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16. Syscall lantency comparison</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pic>
        <p:nvPicPr>
          <p:cNvPr id="6" name="图片 5"/>
          <p:cNvPicPr>
            <a:picLocks noChangeAspect="1"/>
          </p:cNvPicPr>
          <p:nvPr/>
        </p:nvPicPr>
        <p:blipFill>
          <a:blip r:embed="rId1"/>
          <a:stretch>
            <a:fillRect/>
          </a:stretch>
        </p:blipFill>
        <p:spPr>
          <a:xfrm>
            <a:off x="971550" y="3933190"/>
            <a:ext cx="4709795" cy="1732915"/>
          </a:xfrm>
          <a:prstGeom prst="rect">
            <a:avLst/>
          </a:prstGeom>
        </p:spPr>
      </p:pic>
      <p:pic>
        <p:nvPicPr>
          <p:cNvPr id="7" name="图片 6"/>
          <p:cNvPicPr>
            <a:picLocks noChangeAspect="1"/>
          </p:cNvPicPr>
          <p:nvPr/>
        </p:nvPicPr>
        <p:blipFill>
          <a:blip r:embed="rId2"/>
          <a:stretch>
            <a:fillRect/>
          </a:stretch>
        </p:blipFill>
        <p:spPr>
          <a:xfrm>
            <a:off x="6367145" y="3933190"/>
            <a:ext cx="4805680" cy="1720850"/>
          </a:xfrm>
          <a:prstGeom prst="rect">
            <a:avLst/>
          </a:prstGeom>
        </p:spPr>
      </p:pic>
      <p:pic>
        <p:nvPicPr>
          <p:cNvPr id="8" name="图片 7"/>
          <p:cNvPicPr>
            <a:picLocks noChangeAspect="1"/>
          </p:cNvPicPr>
          <p:nvPr/>
        </p:nvPicPr>
        <p:blipFill>
          <a:blip r:embed="rId3"/>
          <a:stretch>
            <a:fillRect/>
          </a:stretch>
        </p:blipFill>
        <p:spPr>
          <a:xfrm>
            <a:off x="5681345" y="1420495"/>
            <a:ext cx="6177280" cy="1768475"/>
          </a:xfrm>
          <a:prstGeom prst="rect">
            <a:avLst/>
          </a:prstGeom>
        </p:spPr>
      </p:pic>
      <p:sp>
        <p:nvSpPr>
          <p:cNvPr id="10" name="文本框 9"/>
          <p:cNvSpPr txBox="1"/>
          <p:nvPr/>
        </p:nvSpPr>
        <p:spPr>
          <a:xfrm>
            <a:off x="6367145" y="5654040"/>
            <a:ext cx="4805680" cy="489585"/>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17. Network performance comparison</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sp>
        <p:nvSpPr>
          <p:cNvPr id="11" name="文本框 10"/>
          <p:cNvSpPr txBox="1"/>
          <p:nvPr/>
        </p:nvSpPr>
        <p:spPr>
          <a:xfrm>
            <a:off x="5681980" y="3188970"/>
            <a:ext cx="6176645" cy="489585"/>
          </a:xfrm>
          <a:prstGeom prst="rect">
            <a:avLst/>
          </a:prstGeom>
          <a:noFill/>
        </p:spPr>
        <p:txBody>
          <a:bodyPr wrap="square" rtlCol="0" anchor="ctr" anchorCtr="1">
            <a:noAutofit/>
          </a:bodyPr>
          <a:lstStyle/>
          <a:p>
            <a:r>
              <a:rPr kumimoji="1" lang="en-US" altLang="zh-CN" sz="2000" dirty="0">
                <a:latin typeface="Times New Roman" panose="02020503050405090304" pitchFamily="18" charset="0"/>
                <a:ea typeface="標楷體" pitchFamily="65" charset="-120"/>
                <a:cs typeface="Times New Roman" panose="02020503050405090304" pitchFamily="18" charset="0"/>
              </a:rPr>
              <a:t>Fig</a:t>
            </a:r>
            <a:r>
              <a:rPr kumimoji="1" lang="zh-CN" altLang="en-US" sz="2000" dirty="0">
                <a:latin typeface="Times New Roman" panose="02020503050405090304" pitchFamily="18" charset="0"/>
                <a:ea typeface="標楷體" pitchFamily="65" charset="-120"/>
                <a:cs typeface="Times New Roman" panose="02020503050405090304" pitchFamily="18" charset="0"/>
              </a:rPr>
              <a:t> </a:t>
            </a:r>
            <a:r>
              <a:rPr kumimoji="1" lang="en-US" altLang="zh-CN" sz="2000" dirty="0">
                <a:latin typeface="Times New Roman" panose="02020503050405090304" pitchFamily="18" charset="0"/>
                <a:ea typeface="標楷體" pitchFamily="65" charset="-120"/>
                <a:cs typeface="Times New Roman" panose="02020503050405090304" pitchFamily="18" charset="0"/>
              </a:rPr>
              <a:t>15. IO performance</a:t>
            </a:r>
            <a:endParaRPr kumimoji="1" lang="en-US" altLang="zh-CN" sz="2000" dirty="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275" y="1218565"/>
            <a:ext cx="10271125" cy="4703445"/>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Motivation</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Proposed Methods &amp; Performance Evaluation</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Firecracker</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err="1">
                <a:latin typeface="Times New Roman" panose="02020503050405090304" pitchFamily="18" charset="0"/>
                <a:cs typeface="Times New Roman" panose="02020503050405090304" pitchFamily="18" charset="0"/>
              </a:rPr>
              <a:t>SURE</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LITESHIELD</a:t>
            </a:r>
            <a:endParaRPr lang="en-US" altLang="zh-CN" sz="2400" dirty="0">
              <a:latin typeface="Times New Roman" panose="02020503050405090304" pitchFamily="18" charset="0"/>
              <a:cs typeface="Times New Roman" panose="02020503050405090304" pitchFamily="18" charset="0"/>
            </a:endParaRPr>
          </a:p>
          <a:p>
            <a:r>
              <a:rPr lang="en-US" altLang="zh-CN" sz="2935" dirty="0">
                <a:solidFill>
                  <a:srgbClr val="FF0000"/>
                </a:solidFill>
                <a:latin typeface="Times New Roman" panose="02020503050405090304" pitchFamily="18" charset="0"/>
                <a:cs typeface="Times New Roman" panose="02020503050405090304" pitchFamily="18" charset="0"/>
              </a:rPr>
              <a:t>Conclusions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a:t>
            </a:r>
            <a:endParaRPr lang="en-US" altLang="zh-CN" sz="2935"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4.</a:t>
            </a:r>
            <a:r>
              <a:rPr lang="zh-CN" altLang="en-US" dirty="0"/>
              <a:t> </a:t>
            </a:r>
            <a:r>
              <a:rPr lang="en-US" altLang="zh-CN" dirty="0"/>
              <a:t>Conclusions</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内容占位符 5"/>
          <p:cNvSpPr txBox="1"/>
          <p:nvPr/>
        </p:nvSpPr>
        <p:spPr bwMode="auto">
          <a:xfrm>
            <a:off x="487680" y="1148080"/>
            <a:ext cx="11349990" cy="332168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pPr>
            <a:r>
              <a:rPr lang="en-US" altLang="zh-CN" sz="3200" dirty="0">
                <a:latin typeface="Times New Roman" panose="02020503050405090304" pitchFamily="18" charset="0"/>
                <a:cs typeface="Times New Roman" panose="02020503050405090304" pitchFamily="18" charset="0"/>
              </a:rPr>
              <a:t>Isolation Boundary in Cloud-Native Systems</a:t>
            </a:r>
            <a:endParaRPr lang="en-US" altLang="zh-CN" sz="3200" dirty="0">
              <a:latin typeface="Times New Roman" panose="02020503050405090304" pitchFamily="18" charset="0"/>
              <a:cs typeface="Times New Roman" panose="02020503050405090304" pitchFamily="18" charset="0"/>
            </a:endParaRPr>
          </a:p>
          <a:p>
            <a:pPr lvl="1">
              <a:lnSpc>
                <a:spcPct val="150000"/>
              </a:lnSpc>
            </a:pPr>
            <a:r>
              <a:rPr lang="en-US" altLang="zh-CN" sz="2400" dirty="0">
                <a:latin typeface="Times New Roman" panose="02020503050405090304" pitchFamily="18" charset="0"/>
                <a:cs typeface="Times New Roman" panose="02020503050405090304" pitchFamily="18" charset="0"/>
              </a:rPr>
              <a:t>Firecracker: making </a:t>
            </a:r>
            <a:r>
              <a:rPr lang="en-US" altLang="zh-CN" sz="2400" b="1" dirty="0">
                <a:latin typeface="Times New Roman" panose="02020503050405090304" pitchFamily="18" charset="0"/>
                <a:cs typeface="Times New Roman" panose="02020503050405090304" pitchFamily="18" charset="0"/>
              </a:rPr>
              <a:t>VM-level isolation</a:t>
            </a:r>
            <a:r>
              <a:rPr lang="en-US" altLang="zh-CN" sz="2400" dirty="0">
                <a:latin typeface="Times New Roman" panose="02020503050405090304" pitchFamily="18" charset="0"/>
                <a:cs typeface="Times New Roman" panose="02020503050405090304" pitchFamily="18" charset="0"/>
              </a:rPr>
              <a:t> practical for serverless.</a:t>
            </a:r>
            <a:endParaRPr lang="en-US" altLang="zh-CN" sz="2400" dirty="0">
              <a:latin typeface="Times New Roman" panose="02020503050405090304" pitchFamily="18" charset="0"/>
              <a:cs typeface="Times New Roman" panose="02020503050405090304" pitchFamily="18" charset="0"/>
            </a:endParaRPr>
          </a:p>
          <a:p>
            <a:pPr lvl="1">
              <a:lnSpc>
                <a:spcPct val="150000"/>
              </a:lnSpc>
            </a:pPr>
            <a:r>
              <a:rPr lang="en-US" altLang="zh-CN" sz="2400" dirty="0" err="1">
                <a:latin typeface="Times New Roman" panose="02020503050405090304" pitchFamily="18" charset="0"/>
                <a:cs typeface="Times New Roman" panose="02020503050405090304" pitchFamily="18" charset="0"/>
              </a:rPr>
              <a:t>SURE: </a:t>
            </a:r>
            <a:r>
              <a:rPr lang="en-US" altLang="zh-CN" sz="2400" dirty="0">
                <a:latin typeface="Times New Roman" panose="02020503050405090304" pitchFamily="18" charset="0"/>
                <a:cs typeface="Times New Roman" panose="02020503050405090304" pitchFamily="18" charset="0"/>
              </a:rPr>
              <a:t>pushes isolation to the data plane and protected runtime inside the </a:t>
            </a:r>
            <a:r>
              <a:rPr lang="en-US" altLang="zh-CN" sz="2400" b="1" dirty="0">
                <a:latin typeface="Times New Roman" panose="02020503050405090304" pitchFamily="18" charset="0"/>
                <a:cs typeface="Times New Roman" panose="02020503050405090304" pitchFamily="18" charset="0"/>
              </a:rPr>
              <a:t>unikernel</a:t>
            </a:r>
            <a:r>
              <a:rPr lang="en-US" altLang="zh-CN" sz="2400" dirty="0">
                <a:latin typeface="Times New Roman" panose="02020503050405090304" pitchFamily="18" charset="0"/>
                <a:cs typeface="Times New Roman" panose="02020503050405090304" pitchFamily="18" charset="0"/>
              </a:rPr>
              <a:t>.</a:t>
            </a:r>
            <a:endParaRPr lang="en-US" altLang="zh-CN" sz="2400" dirty="0">
              <a:latin typeface="Times New Roman" panose="02020503050405090304" pitchFamily="18" charset="0"/>
              <a:cs typeface="Times New Roman" panose="02020503050405090304" pitchFamily="18" charset="0"/>
            </a:endParaRPr>
          </a:p>
          <a:p>
            <a:pPr lvl="1">
              <a:lnSpc>
                <a:spcPct val="150000"/>
              </a:lnSpc>
            </a:pPr>
            <a:r>
              <a:rPr lang="en-US" altLang="zh-CN" sz="2400" dirty="0">
                <a:latin typeface="Times New Roman" panose="02020503050405090304" pitchFamily="18" charset="0"/>
                <a:cs typeface="Times New Roman" panose="02020503050405090304" pitchFamily="18" charset="0"/>
              </a:rPr>
              <a:t>LITESHIELD: moves the boundary further down to the interface between applications and </a:t>
            </a:r>
            <a:r>
              <a:rPr lang="en-US" altLang="zh-CN" sz="2400" b="1" dirty="0">
                <a:latin typeface="Times New Roman" panose="02020503050405090304" pitchFamily="18" charset="0"/>
                <a:cs typeface="Times New Roman" panose="02020503050405090304" pitchFamily="18" charset="0"/>
              </a:rPr>
              <a:t>userspace μkernel services</a:t>
            </a:r>
            <a:r>
              <a:rPr lang="en-US" altLang="zh-CN" sz="2400" dirty="0">
                <a:latin typeface="Times New Roman" panose="02020503050405090304" pitchFamily="18" charset="0"/>
                <a:cs typeface="Times New Roman" panose="02020503050405090304" pitchFamily="18" charset="0"/>
              </a:rPr>
              <a:t>.</a:t>
            </a:r>
            <a:endParaRPr lang="en-US" altLang="zh-CN" sz="3200" kern="0" dirty="0">
              <a:latin typeface="Times New Roman" panose="02020503050405090304" pitchFamily="18" charset="0"/>
              <a:cs typeface="Times New Roman" panose="02020503050405090304" pitchFamily="18" charset="0"/>
            </a:endParaRPr>
          </a:p>
        </p:txBody>
      </p:sp>
      <p:sp>
        <p:nvSpPr>
          <p:cNvPr id="11" name="文本框 10"/>
          <p:cNvSpPr txBox="1"/>
          <p:nvPr/>
        </p:nvSpPr>
        <p:spPr>
          <a:xfrm>
            <a:off x="488315" y="4733290"/>
            <a:ext cx="11210290" cy="692785"/>
          </a:xfrm>
          <a:prstGeom prst="rect">
            <a:avLst/>
          </a:prstGeom>
          <a:noFill/>
        </p:spPr>
        <p:txBody>
          <a:bodyPr wrap="square" rtlCol="0" anchor="ctr" anchorCtr="1">
            <a:noAutofit/>
          </a:bodyPr>
          <a:p>
            <a:r>
              <a:rPr lang="en-US" altLang="zh-CN" sz="2000" i="1" dirty="0" smtClean="0">
                <a:latin typeface="Times New Roman" panose="02020503050405090304" pitchFamily="18" charset="0"/>
                <a:ea typeface="標楷體" pitchFamily="65" charset="-120"/>
                <a:cs typeface="Times New Roman" panose="02020503050405090304" pitchFamily="18" charset="0"/>
              </a:rPr>
              <a:t>Isolation in cloud-native systems is no longer tied to a single layer; it is increasingly a question of where the boundary should be placed for the best balance of security, efficiency, and compatibility.</a:t>
            </a:r>
            <a:endParaRPr lang="en-US" altLang="zh-CN" sz="2000" i="1"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275" y="1218565"/>
            <a:ext cx="10271125" cy="4703445"/>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Motivation</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Proposed Methods &amp; Performance Evaluation</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Firecracker</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err="1">
                <a:latin typeface="Times New Roman" panose="02020503050405090304" pitchFamily="18" charset="0"/>
                <a:cs typeface="Times New Roman" panose="02020503050405090304" pitchFamily="18" charset="0"/>
              </a:rPr>
              <a:t>SURE</a:t>
            </a:r>
            <a:endParaRPr lang="en-US" altLang="zh-CN" sz="2400"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LITESHIELD</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Conclusions</a:t>
            </a:r>
            <a:endParaRPr lang="en-US" altLang="zh-CN" sz="2935" dirty="0">
              <a:latin typeface="Times New Roman" panose="02020503050405090304" pitchFamily="18" charset="0"/>
              <a:cs typeface="Times New Roman" panose="02020503050405090304" pitchFamily="18" charset="0"/>
            </a:endParaRPr>
          </a:p>
          <a:p>
            <a:r>
              <a:rPr lang="en-US" altLang="zh-CN" sz="2935" dirty="0">
                <a:solidFill>
                  <a:srgbClr val="FF0000"/>
                </a:solidFill>
                <a:latin typeface="Times New Roman" panose="02020503050405090304" pitchFamily="18" charset="0"/>
                <a:cs typeface="Times New Roman" panose="02020503050405090304" pitchFamily="18" charset="0"/>
              </a:rPr>
              <a:t>Q &amp; A</a:t>
            </a:r>
            <a:endParaRPr lang="en-US" altLang="zh-CN" sz="2935" dirty="0">
              <a:solidFill>
                <a:srgbClr val="FF0000"/>
              </a:solidFill>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8239</Words>
  <Application>WPS 演示</Application>
  <PresentationFormat>宽屏</PresentationFormat>
  <Paragraphs>443</Paragraphs>
  <Slides>31</Slides>
  <Notes>35</Notes>
  <HiddenSlides>0</HiddenSlides>
  <MMClips>0</MMClips>
  <ScaleCrop>false</ScaleCrop>
  <HeadingPairs>
    <vt:vector size="6" baseType="variant">
      <vt:variant>
        <vt:lpstr>已用的字体</vt:lpstr>
      </vt:variant>
      <vt:variant>
        <vt:i4>30</vt:i4>
      </vt:variant>
      <vt:variant>
        <vt:lpstr>主题</vt:lpstr>
      </vt:variant>
      <vt:variant>
        <vt:i4>2</vt:i4>
      </vt:variant>
      <vt:variant>
        <vt:lpstr>幻灯片标题</vt:lpstr>
      </vt:variant>
      <vt:variant>
        <vt:i4>31</vt:i4>
      </vt:variant>
    </vt:vector>
  </HeadingPairs>
  <TitlesOfParts>
    <vt:vector size="63" baseType="lpstr">
      <vt:lpstr>Arial</vt:lpstr>
      <vt:lpstr>宋体</vt:lpstr>
      <vt:lpstr>Wingdings</vt:lpstr>
      <vt:lpstr>PMingLiU</vt:lpstr>
      <vt:lpstr>宋体-繁</vt:lpstr>
      <vt:lpstr>標楷體</vt:lpstr>
      <vt:lpstr>汉仪楷体简</vt:lpstr>
      <vt:lpstr>Calibri</vt:lpstr>
      <vt:lpstr>Helvetica Neue</vt:lpstr>
      <vt:lpstr>楷体</vt:lpstr>
      <vt:lpstr>Times New Roman</vt:lpstr>
      <vt:lpstr>DengXian</vt:lpstr>
      <vt:lpstr>MS Sans Serif</vt:lpstr>
      <vt:lpstr>Times New Roman Regular</vt:lpstr>
      <vt:lpstr>微软雅黑</vt:lpstr>
      <vt:lpstr>汉仪旗黑</vt:lpstr>
      <vt:lpstr>Thonburi</vt:lpstr>
      <vt:lpstr>汉仪楷体KW</vt:lpstr>
      <vt:lpstr>汉仪中等线KW</vt:lpstr>
      <vt:lpstr>PMingLiU</vt:lpstr>
      <vt:lpstr>Calibri Light</vt:lpstr>
      <vt:lpstr>汉仪书宋二KW</vt:lpstr>
      <vt:lpstr>等线</vt:lpstr>
      <vt:lpstr>宋体</vt:lpstr>
      <vt:lpstr>Arial Unicode MS</vt:lpstr>
      <vt:lpstr>PingFang SC</vt:lpstr>
      <vt:lpstr>MS Sans Serif</vt:lpstr>
      <vt:lpstr>標楷體</vt:lpstr>
      <vt:lpstr>苹方-简</vt:lpstr>
      <vt:lpstr>Apple Color Emoji</vt:lpstr>
      <vt:lpstr>NTHU UniCloud</vt:lpstr>
      <vt:lpstr>自訂設計</vt:lpstr>
      <vt:lpstr>From MicroVMs to Userspace MicroKernels Rethinking Isolation Boundaries in Cloud-Native Systems  2026.04.16</vt:lpstr>
      <vt:lpstr>Outline</vt:lpstr>
      <vt:lpstr>Outline</vt:lpstr>
      <vt:lpstr>1.Introduction</vt:lpstr>
      <vt:lpstr>Outline</vt:lpstr>
      <vt:lpstr>2.Backgroud &amp; Motivation (1/3)</vt:lpstr>
      <vt:lpstr>2.Background &amp; Motivation (2/3)</vt:lpstr>
      <vt:lpstr>2.Background &amp; Motivation (3/3)</vt:lpstr>
      <vt:lpstr>Outline</vt:lpstr>
      <vt:lpstr>3.1 Firecracker (1/4)</vt:lpstr>
      <vt:lpstr>3.1 Firecracker (1/4)</vt:lpstr>
      <vt:lpstr>3.1 Firecracker (1/4)</vt:lpstr>
      <vt:lpstr>3.1 Firecracker (2/4)</vt:lpstr>
      <vt:lpstr>3.1 Firecracker (3/4)</vt:lpstr>
      <vt:lpstr>3.1 Firecracker (4/4)</vt:lpstr>
      <vt:lpstr>Outline</vt:lpstr>
      <vt:lpstr>3.2 SURE (1/6)</vt:lpstr>
      <vt:lpstr>3.2 SURE (2/6)</vt:lpstr>
      <vt:lpstr>3.2 SURE (3/6)</vt:lpstr>
      <vt:lpstr>3.2 SURE (4/6)</vt:lpstr>
      <vt:lpstr>3.2 SURE (5/6)</vt:lpstr>
      <vt:lpstr>3.2 SURE (6/6)</vt:lpstr>
      <vt:lpstr>Outline</vt:lpstr>
      <vt:lpstr>3.3 LITESHIELD (1/5)</vt:lpstr>
      <vt:lpstr>3.3 LITESHIELD (2/5)</vt:lpstr>
      <vt:lpstr>3.3 LITESHIELD (3/5)</vt:lpstr>
      <vt:lpstr>3.3 LITESHIELD (4/5)</vt:lpstr>
      <vt:lpstr>3.3 LITESHIELD (5/5)</vt:lpstr>
      <vt:lpstr>Outline</vt:lpstr>
      <vt:lpstr>4. Conclusions</vt:lpstr>
      <vt:lpstr>Outline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zeroc</cp:lastModifiedBy>
  <cp:revision>735</cp:revision>
  <dcterms:created xsi:type="dcterms:W3CDTF">2026-04-15T08:32:06Z</dcterms:created>
  <dcterms:modified xsi:type="dcterms:W3CDTF">2026-04-15T08:32:06Z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A4A73B91AED437BDF634D9698B1999E0_42</vt:lpwstr>
  </property>
  <property fmtid="{D5CDD505-2E9C-101B-9397-08002B2CF9AE}" pid="3" name="KSOProductBuildVer">
    <vt:lpwstr>2052-12.1.25867.25867</vt:lpwstr>
  </property>
</Properties>
</file>