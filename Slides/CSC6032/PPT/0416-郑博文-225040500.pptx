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1020" y="1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22068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916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GPU Memory Optimization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697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Tiling and Recomputation in Modern Deep Learning Systems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503920" y="480060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BDBD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55"/>
    </mc:Choice>
    <mc:Fallback xmlns="">
      <p:transition spd="slow" advTm="855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I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240280"/>
            <a:ext cx="7772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GPU Memory Architecture</a:t>
            </a:r>
            <a:endParaRPr lang="en-US" sz="3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Fundamentals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503920" y="480060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BDBD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51"/>
    </mc:Choice>
    <mc:Fallback xmlns="">
      <p:transition spd="slow" advTm="25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Different Memories Have Different Speeds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737360"/>
            <a:ext cx="393192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SRAM (Shared Memory, Cache)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2084832"/>
            <a:ext cx="365760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transistors per bit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(bistable latch — two cross-coupled inverters)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Data stored as logic state, no charge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Pure transistor switching → extremely fast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 refresh needed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6T cell is large → low density, expensive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754880" y="1737360"/>
            <a:ext cx="393192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4937760" y="1783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DRAM (HBM, DDR — Main Memory)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937760" y="2084832"/>
            <a:ext cx="365760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transistor + 1 capacitor per bit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(charge stored on capacitor)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Capacitor leaks → needs periodic refresh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Charge/discharge slower than switching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1T1C cell is tiny → high density, cheap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Same area stores ~5× more bits than SRAM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22764" y="914400"/>
            <a:ext cx="57247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Key: speed difference comes from physics:</a:t>
            </a:r>
            <a:r>
              <a:rPr lang="zh-CN" altLang="en-US" sz="1200" i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i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transistor switching (ns) vs capacitor charge/discharge (tens of ns)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503920" y="480060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BDBD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6"/>
    </mc:Choice>
    <mc:Fallback xmlns="">
      <p:transition spd="slow" advTm="56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H100 Memory Hierarchy</a:t>
            </a:r>
            <a:endParaRPr lang="en-US" sz="2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2437862"/>
              </p:ext>
            </p:extLst>
          </p:nvPr>
        </p:nvGraphicFramePr>
        <p:xfrm>
          <a:off x="457200" y="3244921"/>
          <a:ext cx="8229600" cy="1828800"/>
        </p:xfrm>
        <a:graphic>
          <a:graphicData uri="http://schemas.openxmlformats.org/drawingml/2006/table">
            <a:tbl>
              <a:tblPr/>
              <a:tblGrid>
                <a:gridCol w="1691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42424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Level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42424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42424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Capacity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42424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Bandwidth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42424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Latency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Registers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SRAM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256 KB/SM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~0 cycles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Shared Mem / L1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SRAM (6T)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228 KB/SM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~33 TB/s (agg.)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~20–30 cyc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L2 Cache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SRAM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 MB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~12 TB/s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~200 cyc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HBM3 (VRAM)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3D DRAM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 GB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3.35 TB/s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~400–500 cyc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CPU DRAM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DDR5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~hundreds GB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~64 GB/s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~100K cyc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HBM3 = DRAM + 3D Stacking + Wide Data Path</a:t>
            </a:r>
            <a:endParaRPr lang="en-US" sz="1400" dirty="0"/>
          </a:p>
        </p:txBody>
      </p:sp>
      <p:sp>
        <p:nvSpPr>
          <p:cNvPr id="3" name="Text 2"/>
          <p:cNvSpPr/>
          <p:nvPr/>
        </p:nvSpPr>
        <p:spPr>
          <a:xfrm>
            <a:off x="457200" y="1057631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Cell-level speed is still DRAM (slow latency). Bandwidth boost comes from: (1) stacking 8 DRAM dies vertically via Through-Silicon Vias (TSV); (2) 1024-bit interface per stack vs ~384-bit for GDDR6.  </a:t>
            </a: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H100: 5 stacks × 1024-bit = 5120-bit total bus → 3.35 TB/s.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57200" y="181051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Interconnect Comparison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2048256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PCIe Gen5: </a:t>
            </a: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128 GB/s total (64 GB/s per direction)</a:t>
            </a:r>
            <a:endParaRPr lang="en-US" sz="12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NVLink 4.0 (GPU↔GPU): </a:t>
            </a: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900 GB/s total  </a:t>
            </a: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7× PCIe Gen5</a:t>
            </a:r>
            <a:endParaRPr lang="en-US" sz="12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NVLink-C2C (Grace↔Hopper): </a:t>
            </a: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900 GB/s, cache-coherent</a:t>
            </a:r>
            <a:endParaRPr lang="en-US" sz="12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200" i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 NVLink is ~4× slower than HBM. CPU DRAM is always the slowest link.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503920" y="480060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BDBD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9101" name="Caption_Table_1"/>
          <p:cNvSpPr txBox="1"/>
          <p:nvPr/>
        </p:nvSpPr>
        <p:spPr>
          <a:xfrm>
            <a:off x="457200" y="3012948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lang="en-US" sz="1400" b="1" i="0" dirty="0">
                <a:solidFill>
                  <a:srgbClr val="404040"/>
                </a:solidFill>
                <a:latin typeface="Calibri" pitchFamily="34" charset="0"/>
              </a:rPr>
              <a:t>Table 1. </a:t>
            </a:r>
            <a:r>
              <a:rPr lang="en-US" sz="1400" b="0" i="1" dirty="0">
                <a:solidFill>
                  <a:srgbClr val="595959"/>
                </a:solidFill>
                <a:latin typeface="Calibri" pitchFamily="34" charset="0"/>
              </a:rPr>
              <a:t>H100 memory hierarchy — capacity, bandwidth, and latency by level.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40"/>
    </mc:Choice>
    <mc:Fallback xmlns="">
      <p:transition spd="slow" advTm="54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H100 Physical Structure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GH100 die + 5 HBM3 stacks on a CoWoS-S silicon interposer  (6 stack positions, 1 unused in H100)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520440" y="1234440"/>
            <a:ext cx="530352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BDBDBD"/>
            </a:solidFill>
            <a:prstDash val="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3794760" y="1417320"/>
            <a:ext cx="1234440" cy="640080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3794760" y="1417320"/>
            <a:ext cx="1234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HBM3  16 GB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166360" y="1417320"/>
            <a:ext cx="1234440" cy="640080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5166360" y="1417320"/>
            <a:ext cx="1234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HBM3  16 GB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537960" y="1417320"/>
            <a:ext cx="1234440" cy="640080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6537960" y="1417320"/>
            <a:ext cx="1234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HBM3  16 GB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794760" y="3730752"/>
            <a:ext cx="1234440" cy="640080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3794760" y="3730752"/>
            <a:ext cx="1234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HBM3  16 GB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166360" y="3730752"/>
            <a:ext cx="1234440" cy="640080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5166360" y="3730752"/>
            <a:ext cx="1234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HBM3  16 GB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537960" y="3730752"/>
            <a:ext cx="12344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BDBDBD"/>
            </a:solidFill>
            <a:prstDash val="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6537960" y="3730752"/>
            <a:ext cx="1234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BDBD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(unused)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794760" y="2194560"/>
            <a:ext cx="4892040" cy="1417320"/>
          </a:xfrm>
          <a:prstGeom prst="rect">
            <a:avLst/>
          </a:prstGeom>
          <a:solidFill>
            <a:srgbClr val="E8F0FE"/>
          </a:solidFill>
          <a:ln w="1905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3840480" y="2267712"/>
            <a:ext cx="480060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GH100 Die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814 mm²  ·  TSMC 4N  ·  80 B transistors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132 SMs  ·  228 KB SRAM/SM  ·  50 MB L2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4th-gen Tensor Cores  ·  TMA  ·  WGMMA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7200" y="123444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TMA — Tensor Memory Accelerator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" y="192024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Dedicated HW unit for async HBM ↔ Shared Memory transfers.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7200" y="260604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properties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57200" y="2926080"/>
            <a:ext cx="30175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Single thread issues request via copy descriptor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HW handles address calc, bounds, transfer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Fully async — other threads keep computing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Frees registers &amp; CUDA cores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480060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Foundation for FA3's pipeline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503920" y="480060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BDBD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9201" name="Caption_Figure_2"/>
          <p:cNvSpPr txBox="1"/>
          <p:nvPr/>
        </p:nvSpPr>
        <p:spPr>
          <a:xfrm>
            <a:off x="3589020" y="4642604"/>
            <a:ext cx="5303520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lang="en-US" sz="1400" b="1" i="0" dirty="0">
                <a:solidFill>
                  <a:srgbClr val="404040"/>
                </a:solidFill>
                <a:latin typeface="Calibri" pitchFamily="34" charset="0"/>
              </a:rPr>
              <a:t>Figure 1. </a:t>
            </a:r>
            <a:r>
              <a:rPr lang="en-US" sz="1400" b="0" i="1" dirty="0">
                <a:solidFill>
                  <a:srgbClr val="595959"/>
                </a:solidFill>
                <a:latin typeface="Calibri" pitchFamily="34" charset="0"/>
              </a:rPr>
              <a:t>H100 die + 5× HBM3 stacks on a CoWoS-S interposer.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31"/>
    </mc:Choice>
    <mc:Fallback xmlns="">
      <p:transition spd="slow" advTm="63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II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240280"/>
            <a:ext cx="7772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Core Problem</a:t>
            </a:r>
            <a:endParaRPr lang="en-US" sz="3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Two Solution Strategies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503920" y="480060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BDBD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59"/>
    </mc:Choice>
    <mc:Fallback xmlns="">
      <p:transition spd="slow" advTm="359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Problem: Working Set &gt; Memory Size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self-attention:  </a:t>
            </a:r>
            <a:r>
              <a:rPr lang="en-US" sz="14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 = softmax(QKᵀ/√d) · V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493008"/>
          <a:ext cx="8229600" cy="96012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42424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Seq Length 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42424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 = QKᵀ size (FP16)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42424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H100 SRAM/SM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42424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Ratio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4,096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 MB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228 KB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C628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140×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128K (GPT-4)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 GB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228 KB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C628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140,000×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1325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N×N intermediate matrix cannot fit in SRAM → must be stored in HBM → 3 round-trips of O(N²) HBM reads/writes. Attention is memory-bound: Tensor Cores spend most time waiting for data.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57200" y="192024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Tiling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2240280"/>
            <a:ext cx="39319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 data into blocks that fit fast memory.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 block-by-block.</a:t>
            </a:r>
            <a:endParaRPr lang="en-US" sz="1400" dirty="0"/>
          </a:p>
          <a:p>
            <a:pPr marL="0" indent="0">
              <a:buNone/>
            </a:pPr>
            <a:r>
              <a:rPr lang="en-US" sz="1400" i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(Cache blocking / loop tiling)</a:t>
            </a:r>
            <a:endParaRPr lang="en-US" sz="1400" dirty="0"/>
          </a:p>
        </p:txBody>
      </p:sp>
      <p:sp>
        <p:nvSpPr>
          <p:cNvPr id="4" name="Text 5"/>
          <p:cNvSpPr/>
          <p:nvPr/>
        </p:nvSpPr>
        <p:spPr>
          <a:xfrm>
            <a:off x="4754880" y="192024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Recomputation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754880" y="2240280"/>
            <a:ext cx="39319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 intermediate values to free memory.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Recompute them when needed.</a:t>
            </a:r>
            <a:endParaRPr lang="en-US" sz="1400" dirty="0"/>
          </a:p>
          <a:p>
            <a:pPr marL="0" indent="0">
              <a:buNone/>
            </a:pPr>
            <a:r>
              <a:rPr lang="en-US" sz="1400" i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(Trade compute for memory)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503920" y="480060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BDBD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400" dirty="0"/>
          </a:p>
        </p:txBody>
      </p:sp>
      <p:sp>
        <p:nvSpPr>
          <p:cNvPr id="9301" name="Caption_Table_2"/>
          <p:cNvSpPr txBox="1"/>
          <p:nvPr/>
        </p:nvSpPr>
        <p:spPr>
          <a:xfrm>
            <a:off x="457200" y="3246120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lang="en-US" sz="1400" b="1" i="0" dirty="0">
                <a:solidFill>
                  <a:srgbClr val="404040"/>
                </a:solidFill>
                <a:latin typeface="Calibri" pitchFamily="34" charset="0"/>
              </a:rPr>
              <a:t>Table 2. </a:t>
            </a:r>
            <a:r>
              <a:rPr lang="en-US" sz="1400" b="0" i="1" dirty="0">
                <a:solidFill>
                  <a:srgbClr val="595959"/>
                </a:solidFill>
                <a:latin typeface="Calibri" pitchFamily="34" charset="0"/>
              </a:rPr>
              <a:t>Working set vs on-chip SRAM — the N×N attention matrix dwarfs SRAM.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4"/>
    </mc:Choice>
    <mc:Fallback xmlns="">
      <p:transition spd="slow" advTm="74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III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240280"/>
            <a:ext cx="7772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Tiling:</a:t>
            </a:r>
            <a:endParaRPr lang="en-US" sz="3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FlashAttention → FlashAttention-3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503920" y="480060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BDBD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76"/>
    </mc:Choice>
    <mc:Fallback xmlns="">
      <p:transition spd="slow" advTm="376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Tiling: Two Layers of Benefit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roadmap for this section — tiling helps on two distinct time scales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1 — Spatial Benefit  (FA1 / FA2)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5727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 large data into blocks → working set fits SRAM → eliminate HBM round-trips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9202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S, P matrices never materialized in HBM (kernel fusion)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HBM IO reduced from O(N²) to O(N²d²/M)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A100 result: ~70% peak utilization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2 — Temporal Benefit  (FA3)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3101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Tiling creates a block loop → exposes pipeline parallelism across iterations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365760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Within one iteration: load → matmul → softmax (serial)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Across iterations: load(i+1) ‖ matmul(i) ‖ softmax(i−1)  </a:t>
            </a:r>
            <a:r>
              <a:rPr lang="en-US" sz="14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(parallel!)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No tiling → no loop → no pipeline opportunity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H100 result: </a:t>
            </a:r>
            <a:r>
              <a:rPr lang="en-US" sz="14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35% → 85%</a:t>
            </a: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peak utilization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503920" y="480060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BDBD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34"/>
    </mc:Choice>
    <mc:Fallback xmlns="">
      <p:transition spd="slow" advTm="1034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Attention: Three Separate Kernels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914400" y="123444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Kernel 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011680" y="12344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 = Q @ Kᵀ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389120" y="12344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write S (N×N) to HBM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187452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Kernel 2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011680" y="18745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 = softmax(S)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389120" y="18745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read S from HBM, write P to HBM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251460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Kernel 3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011680" y="25146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 = P @ V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389120" y="25146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read P from HBM, write O to HBM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3383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Between kernels, data can ONLY communicate through HBM. Each kernel writes its output to HBM, the next kernel reads it back. This is a CUDA programming model constraint.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3931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3× O(N²) HBM round-trips. The S and P matrices are the bottleneck.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503920" y="480060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BDBD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7315"/>
    </mc:Choice>
    <mc:Fallback xmlns="">
      <p:transition spd="slow" advTm="37315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FlashAttention: Tiling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 paper (Dao et al. 2022) has two key techniques: tiling (forward, this slide) + recomputation (backward, Part IV).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11880" y="109728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 (simplified, FA2)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11880" y="1353312"/>
            <a:ext cx="5169358" cy="31640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Bef>
                <a:spcPts val="200"/>
              </a:spcBef>
              <a:buNone/>
            </a:pPr>
            <a:r>
              <a:rPr lang="en-US" sz="14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each Q_block_i:</a:t>
            </a:r>
            <a:endParaRPr lang="en-US" sz="1400" dirty="0"/>
          </a:p>
          <a:p>
            <a:pPr marL="0" indent="0">
              <a:spcBef>
                <a:spcPts val="200"/>
              </a:spcBef>
              <a:buNone/>
            </a:pPr>
            <a:r>
              <a:rPr lang="en-US" sz="14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Load Q_i to SRAM</a:t>
            </a:r>
            <a:endParaRPr lang="en-US" sz="1400" dirty="0"/>
          </a:p>
          <a:p>
            <a:pPr marL="0" indent="0">
              <a:spcBef>
                <a:spcPts val="200"/>
              </a:spcBef>
              <a:buNone/>
            </a:pPr>
            <a:r>
              <a:rPr lang="en-US" sz="14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Init m_i = -∞,  ℓ_i = 0,  Õ_i = 0</a:t>
            </a:r>
            <a:endParaRPr lang="en-US" sz="1400" dirty="0"/>
          </a:p>
          <a:p>
            <a:pPr marL="0" indent="0">
              <a:spcBef>
                <a:spcPts val="200"/>
              </a:spcBef>
              <a:buNone/>
            </a:pPr>
            <a:r>
              <a:rPr lang="en-US" sz="14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 each K_block_j, V_block_j:</a:t>
            </a:r>
            <a:endParaRPr lang="en-US" sz="1400" dirty="0"/>
          </a:p>
          <a:p>
            <a:pPr marL="0" indent="0">
              <a:spcBef>
                <a:spcPts val="200"/>
              </a:spcBef>
              <a:buNone/>
            </a:pPr>
            <a:r>
              <a:rPr lang="en-US" sz="14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Load K_j, V_j to SRAM</a:t>
            </a:r>
            <a:endParaRPr lang="en-US" sz="1400" dirty="0"/>
          </a:p>
          <a:p>
            <a:pPr marL="0" indent="0">
              <a:spcBef>
                <a:spcPts val="200"/>
              </a:spcBef>
              <a:buNone/>
            </a:pPr>
            <a:r>
              <a:rPr lang="en-US" sz="1400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S_ij = Q_i @ K_j.T              # in SRAM</a:t>
            </a:r>
            <a:endParaRPr lang="en-US" sz="1400" dirty="0"/>
          </a:p>
          <a:p>
            <a:pPr marL="0" indent="0">
              <a:spcBef>
                <a:spcPts val="200"/>
              </a:spcBef>
              <a:buNone/>
            </a:pPr>
            <a:r>
              <a:rPr lang="en-US" sz="1400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m_new = max(m_i, rowmax(S_ij))</a:t>
            </a:r>
            <a:endParaRPr lang="en-US" sz="1400" dirty="0"/>
          </a:p>
          <a:p>
            <a:pPr marL="0" indent="0">
              <a:spcBef>
                <a:spcPts val="200"/>
              </a:spcBef>
              <a:buNone/>
            </a:pPr>
            <a:r>
              <a:rPr lang="en-US" sz="1400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P̃_ij = exp(S_ij − m_new)</a:t>
            </a:r>
            <a:endParaRPr lang="en-US" sz="1400" dirty="0"/>
          </a:p>
          <a:p>
            <a:pPr marL="0" indent="0">
              <a:spcBef>
                <a:spcPts val="200"/>
              </a:spcBef>
              <a:buNone/>
            </a:pPr>
            <a:r>
              <a:rPr lang="en-US" sz="1400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ℓ_i = e^(m_i−m_new)·ℓ_i + rowsum(P̃_ij)</a:t>
            </a:r>
            <a:endParaRPr lang="en-US" sz="1400" dirty="0"/>
          </a:p>
          <a:p>
            <a:pPr marL="0" indent="0">
              <a:spcBef>
                <a:spcPts val="200"/>
              </a:spcBef>
              <a:buNone/>
            </a:pPr>
            <a:r>
              <a:rPr lang="en-US" sz="1400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Õ_i = e^(m_i−m_new)·Õ_i + P̃_ij·V_j</a:t>
            </a:r>
            <a:endParaRPr lang="en-US" sz="1400" dirty="0"/>
          </a:p>
          <a:p>
            <a:pPr marL="0" indent="0">
              <a:spcBef>
                <a:spcPts val="200"/>
              </a:spcBef>
              <a:buNone/>
            </a:pPr>
            <a:r>
              <a:rPr lang="en-US" sz="1400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m_i = m_new</a:t>
            </a:r>
            <a:endParaRPr lang="en-US" sz="1400" dirty="0"/>
          </a:p>
          <a:p>
            <a:pPr marL="0" indent="0">
              <a:spcBef>
                <a:spcPts val="200"/>
              </a:spcBef>
              <a:buNone/>
            </a:pPr>
            <a:r>
              <a:rPr lang="en-US" sz="14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O_i = Õ_i / ℓ_i              # divide ONCE</a:t>
            </a:r>
            <a:endParaRPr lang="en-US" sz="1400" dirty="0"/>
          </a:p>
          <a:p>
            <a:pPr marL="0" indent="0">
              <a:spcBef>
                <a:spcPts val="200"/>
              </a:spcBef>
              <a:buNone/>
            </a:pPr>
            <a:r>
              <a:rPr lang="en-US" sz="14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Write O_i, L_i = m_i + log(ℓ_i) to HBM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Tiling (forward)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353312"/>
            <a:ext cx="3017520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 Q, K, V to fit SRAM. Fuse the 3 kernels into 1.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Online softmax keeps a running max + sum, so S, P never live in HBM.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O_i is divided by ℓ_i only once at the end of each Q block — minimizes non-matmul FLOPs.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7259" y="4603479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HBM memory: </a:t>
            </a: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O(N²) → O(N)</a:t>
            </a:r>
            <a:r>
              <a:rPr lang="en-US" sz="12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HBM IO: </a:t>
            </a: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Θ(N²d²/M)</a:t>
            </a:r>
            <a:r>
              <a:rPr lang="en-US" sz="12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FLOPs: </a:t>
            </a: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O(N²d)</a:t>
            </a: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</a:p>
          <a:p>
            <a:pPr marL="0" indent="0">
              <a:buNone/>
            </a:pPr>
            <a:r>
              <a:rPr lang="en-US" sz="1200" i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A100 ~70%, H100 ~35% (motivates FA3 →)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503920" y="480060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BDBD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8633"/>
    </mc:Choice>
    <mc:Fallback xmlns="">
      <p:transition spd="slow" advTm="168633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Online Softmax: Derivation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 1 = [x₁, x₂]     Block 2 = [x₃, x₄]     m₁ = max(B1)     m₂ = max(B2)     m = max(m₁, m₂)</a:t>
            </a:r>
            <a:endParaRPr lang="en-US" sz="1400" dirty="0"/>
          </a:p>
        </p:txBody>
      </p:sp>
      <p:pic>
        <p:nvPicPr>
          <p:cNvPr id="4" name="Image 0" descr="/home/claude/formulas/d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774" y="1078992"/>
            <a:ext cx="2585466" cy="594360"/>
          </a:xfrm>
          <a:prstGeom prst="rect">
            <a:avLst/>
          </a:prstGeom>
        </p:spPr>
      </p:pic>
      <p:pic>
        <p:nvPicPr>
          <p:cNvPr id="5" name="Image 1" descr="/home/claude/formulas/d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8861" y="1508760"/>
            <a:ext cx="3774278" cy="62179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3337560" y="16916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shift by global max m</a:t>
            </a:r>
            <a:endParaRPr lang="en-US" sz="1400" dirty="0"/>
          </a:p>
        </p:txBody>
      </p:sp>
      <p:pic>
        <p:nvPicPr>
          <p:cNvPr id="7" name="Image 2" descr="/home/claude/formulas/d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8861" y="2057400"/>
            <a:ext cx="3865443" cy="55778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3749040" y="222199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 by blocks</a:t>
            </a:r>
            <a:endParaRPr lang="en-US" sz="1400" dirty="0"/>
          </a:p>
        </p:txBody>
      </p:sp>
      <p:pic>
        <p:nvPicPr>
          <p:cNvPr id="9" name="Image 3" descr="/home/claude/formulas/d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8861" y="2532888"/>
            <a:ext cx="4640763" cy="585216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4251960" y="2734056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substitute local max m₁, m₂</a:t>
            </a:r>
            <a:endParaRPr lang="en-US" sz="1400" dirty="0"/>
          </a:p>
        </p:txBody>
      </p:sp>
      <p:sp>
        <p:nvSpPr>
          <p:cNvPr id="11" name="Shape 5"/>
          <p:cNvSpPr/>
          <p:nvPr/>
        </p:nvSpPr>
        <p:spPr>
          <a:xfrm>
            <a:off x="411480" y="3456432"/>
            <a:ext cx="7878081" cy="1682496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6"/>
          <p:cNvSpPr/>
          <p:nvPr/>
        </p:nvSpPr>
        <p:spPr>
          <a:xfrm>
            <a:off x="548640" y="349300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 ·  track numerator &amp; denominator separately, divide only at the end</a:t>
            </a:r>
            <a:endParaRPr lang="en-US" sz="1400" dirty="0"/>
          </a:p>
        </p:txBody>
      </p:sp>
      <p:sp>
        <p:nvSpPr>
          <p:cNvPr id="13" name="Text 7"/>
          <p:cNvSpPr/>
          <p:nvPr/>
        </p:nvSpPr>
        <p:spPr>
          <a:xfrm>
            <a:off x="548640" y="3730752"/>
            <a:ext cx="1691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Block 1:</a:t>
            </a:r>
            <a:endParaRPr lang="en-US" sz="1400" dirty="0"/>
          </a:p>
        </p:txBody>
      </p:sp>
      <p:sp>
        <p:nvSpPr>
          <p:cNvPr id="14" name="Text 8"/>
          <p:cNvSpPr/>
          <p:nvPr/>
        </p:nvSpPr>
        <p:spPr>
          <a:xfrm>
            <a:off x="2286000" y="3730752"/>
            <a:ext cx="777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o₁  =</a:t>
            </a:r>
            <a:endParaRPr lang="en-US" sz="1500" dirty="0"/>
          </a:p>
        </p:txBody>
      </p:sp>
      <p:pic>
        <p:nvPicPr>
          <p:cNvPr id="15" name="Image 4" descr="/home/claude/formulas/e1_fra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28971" y="3616452"/>
            <a:ext cx="2688336" cy="768096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4983480" y="3749040"/>
            <a:ext cx="3703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= never computed · green = stored separately</a:t>
            </a:r>
            <a:endParaRPr lang="en-US" sz="1400" dirty="0"/>
          </a:p>
        </p:txBody>
      </p:sp>
      <p:sp>
        <p:nvSpPr>
          <p:cNvPr id="17" name="Text 10"/>
          <p:cNvSpPr/>
          <p:nvPr/>
        </p:nvSpPr>
        <p:spPr>
          <a:xfrm>
            <a:off x="548640" y="4370832"/>
            <a:ext cx="8046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 2 arrives, m = max(m₁,m₂):</a:t>
            </a:r>
            <a:endParaRPr lang="en-US" sz="1400" dirty="0"/>
          </a:p>
        </p:txBody>
      </p:sp>
      <p:sp>
        <p:nvSpPr>
          <p:cNvPr id="18" name="Text 11"/>
          <p:cNvSpPr/>
          <p:nvPr/>
        </p:nvSpPr>
        <p:spPr>
          <a:xfrm>
            <a:off x="548640" y="4636008"/>
            <a:ext cx="777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o₂  =</a:t>
            </a:r>
            <a:endParaRPr lang="en-US" sz="1500" dirty="0"/>
          </a:p>
        </p:txBody>
      </p:sp>
      <p:pic>
        <p:nvPicPr>
          <p:cNvPr id="19" name="Image 5" descr="/home/claude/formulas/e2_frac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5237" y="4352544"/>
            <a:ext cx="7538861" cy="950676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03920" y="480060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BDBD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200" dirty="0"/>
          </a:p>
        </p:txBody>
      </p:sp>
      <p:sp>
        <p:nvSpPr>
          <p:cNvPr id="9501" name="Caption_Figure_4"/>
          <p:cNvSpPr txBox="1"/>
          <p:nvPr/>
        </p:nvSpPr>
        <p:spPr>
          <a:xfrm>
            <a:off x="457200" y="3246120"/>
            <a:ext cx="8229600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lang="en-US" sz="1400" b="1" i="0" dirty="0">
                <a:solidFill>
                  <a:srgbClr val="404040"/>
                </a:solidFill>
                <a:latin typeface="Calibri" pitchFamily="34" charset="0"/>
              </a:rPr>
              <a:t>Figure 4. </a:t>
            </a:r>
            <a:r>
              <a:rPr lang="en-US" sz="1400" b="0" i="1" dirty="0">
                <a:solidFill>
                  <a:srgbClr val="595959"/>
                </a:solidFill>
                <a:latin typeface="Calibri" pitchFamily="34" charset="0"/>
              </a:rPr>
              <a:t>Online softmax derivation — split by blocks then substitute local maxes.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26942"/>
    </mc:Choice>
    <mc:Fallback xmlns="">
      <p:transition spd="slow" advTm="226942"/>
    </mc:Fallback>
  </mc:AlternateContent>
  <p:extLst>
    <p:ext uri="{3A86A75C-4F4B-4683-9AE1-C65F6400EC91}">
      <p14:laserTraceLst xmlns:p14="http://schemas.microsoft.com/office/powerpoint/2010/main">
        <p14:tracePtLst>
          <p14:tracePt t="19362" x="3894138" y="4862513"/>
          <p14:tracePt t="19435" x="3246438" y="5124450"/>
          <p14:tracePt t="19436" x="3246438" y="5103813"/>
          <p14:tracePt t="19437" x="3246438" y="5089525"/>
          <p14:tracePt t="19443" x="3232150" y="4978400"/>
          <p14:tracePt t="19443" x="3232150" y="4962525"/>
          <p14:tracePt t="19444" x="3232150" y="4943475"/>
          <p14:tracePt t="19444" x="3232150" y="4933950"/>
          <p14:tracePt t="19445" x="3227388" y="4919663"/>
          <p14:tracePt t="19445" x="3227388" y="4914900"/>
          <p14:tracePt t="19446" x="3227388" y="4899025"/>
          <p14:tracePt t="19446" x="3227388" y="4889500"/>
          <p14:tracePt t="19447" x="3216275" y="4860925"/>
          <p14:tracePt t="19448" x="3216275" y="4856163"/>
          <p14:tracePt t="19448" x="3216275" y="4841875"/>
          <p14:tracePt t="19449" x="3211513" y="4826000"/>
          <p14:tracePt t="19450" x="3211513" y="4816475"/>
          <p14:tracePt t="19451" x="3201988" y="4773613"/>
          <p14:tracePt t="19452" x="3201988" y="4757738"/>
          <p14:tracePt t="19452" x="3197225" y="4752975"/>
          <p14:tracePt t="19454" x="3187700" y="4694238"/>
          <p14:tracePt t="19455" x="3182938" y="4679950"/>
          <p14:tracePt t="19458" x="3159125" y="4568825"/>
          <p14:tracePt t="19459" x="3159125" y="4552950"/>
          <p14:tracePt t="19462" x="3128963" y="4451350"/>
          <p14:tracePt t="19463" x="3128963" y="4437063"/>
          <p14:tracePt t="19467" x="3100388" y="4329113"/>
          <p14:tracePt t="19467" x="3095625" y="4314825"/>
          <p14:tracePt t="19467" x="3095625" y="4300538"/>
          <p14:tracePt t="19468" x="3086100" y="4284663"/>
          <p14:tracePt t="19468" x="3079750" y="4270375"/>
          <p14:tracePt t="19471" x="3055938" y="4211638"/>
          <p14:tracePt t="19471" x="3055938" y="4197350"/>
          <p14:tracePt t="19471" x="3051175" y="4173538"/>
          <p14:tracePt t="19472" x="3041650" y="4159250"/>
          <p14:tracePt t="19472" x="3041650" y="4143375"/>
          <p14:tracePt t="19475" x="3022600" y="4086225"/>
          <p14:tracePt t="19475" x="3011488" y="4070350"/>
          <p14:tracePt t="19479" x="2968625" y="3949700"/>
          <p14:tracePt t="19480" x="2963863" y="3933825"/>
          <p14:tracePt t="19480" x="2949575" y="3905250"/>
          <p14:tracePt t="19481" x="2933700" y="3876675"/>
          <p14:tracePt t="19482" x="2924175" y="3851275"/>
          <p14:tracePt t="19482" x="2924175" y="3836988"/>
          <p14:tracePt t="19484" x="2905125" y="3792538"/>
          <p14:tracePt t="19484" x="2895600" y="3778250"/>
          <p14:tracePt t="19485" x="2881313" y="3749675"/>
          <p14:tracePt t="19486" x="2876550" y="3729038"/>
          <p14:tracePt t="19486" x="2865438" y="3714750"/>
          <p14:tracePt t="19488" x="2846388" y="3671888"/>
          <p14:tracePt t="19488" x="2836863" y="3646488"/>
          <p14:tracePt t="19489" x="2832100" y="3632200"/>
          <p14:tracePt t="19489" x="2822575" y="3617913"/>
          <p14:tracePt t="19490" x="2817813" y="3603625"/>
          <p14:tracePt t="19490" x="2808288" y="3582988"/>
          <p14:tracePt t="19491" x="2801938" y="3568700"/>
          <p14:tracePt t="19491" x="2792413" y="3554413"/>
          <p14:tracePt t="19492" x="2787650" y="3540125"/>
          <p14:tracePt t="19492" x="2778125" y="3514725"/>
          <p14:tracePt t="19493" x="2773363" y="3500438"/>
          <p14:tracePt t="19493" x="2763838" y="3486150"/>
          <p14:tracePt t="19494" x="2759075" y="3471863"/>
          <p14:tracePt t="19494" x="2749550" y="3451225"/>
          <p14:tracePt t="19495" x="2744788" y="3436938"/>
          <p14:tracePt t="19495" x="2728913" y="3422650"/>
          <p14:tracePt t="19496" x="2728913" y="3398838"/>
          <p14:tracePt t="19497" x="2700338" y="3354388"/>
          <p14:tracePt t="19498" x="2690813" y="3340100"/>
          <p14:tracePt t="19500" x="2660650" y="3276600"/>
          <p14:tracePt t="19500" x="2655888" y="3262313"/>
          <p14:tracePt t="19501" x="2646363" y="3246438"/>
          <p14:tracePt t="19501" x="2632075" y="3232150"/>
          <p14:tracePt t="19502" x="2627313" y="3217863"/>
          <p14:tracePt t="19502" x="2617788" y="3203575"/>
          <p14:tracePt t="19503" x="2613025" y="3187700"/>
          <p14:tracePt t="19504" x="2603500" y="3173413"/>
          <p14:tracePt t="19504" x="2587625" y="3144838"/>
          <p14:tracePt t="19505" x="2582863" y="3130550"/>
          <p14:tracePt t="19505" x="2573338" y="3114675"/>
          <p14:tracePt t="19506" x="2559050" y="3100388"/>
          <p14:tracePt t="19507" x="2540000" y="3062288"/>
          <p14:tracePt t="19508" x="2530475" y="3046413"/>
          <p14:tracePt t="19508" x="2524125" y="3032125"/>
          <p14:tracePt t="19509" x="2509838" y="3017838"/>
          <p14:tracePt t="19509" x="2500313" y="3013075"/>
          <p14:tracePt t="19510" x="2495550" y="2998788"/>
          <p14:tracePt t="19510" x="2486025" y="2984500"/>
          <p14:tracePt t="19511" x="2481263" y="2968625"/>
          <p14:tracePt t="19511" x="2471738" y="2959100"/>
          <p14:tracePt t="19512" x="2455863" y="2944813"/>
          <p14:tracePt t="19512" x="2451100" y="2930525"/>
          <p14:tracePt t="19513" x="2441575" y="2925763"/>
          <p14:tracePt t="19513" x="2436813" y="2909888"/>
          <p14:tracePt t="19515" x="2408238" y="2871788"/>
          <p14:tracePt t="19516" x="2382838" y="2841625"/>
          <p14:tracePt t="19517" x="2378075" y="2827338"/>
          <p14:tracePt t="19518" x="2368550" y="2813050"/>
          <p14:tracePt t="19521" x="2319338" y="2754313"/>
          <p14:tracePt t="19521" x="2309813" y="2740025"/>
          <p14:tracePt t="19521" x="2305050" y="2735263"/>
          <p14:tracePt t="19525" x="2246313" y="2662238"/>
          <p14:tracePt t="19525" x="2232025" y="2652713"/>
          <p14:tracePt t="19526" x="2222500" y="2636838"/>
          <p14:tracePt t="19526" x="2217738" y="2632075"/>
          <p14:tracePt t="19527" x="2208213" y="2622550"/>
          <p14:tracePt t="19527" x="2203450" y="2608263"/>
          <p14:tracePt t="19528" x="2193925" y="2603500"/>
          <p14:tracePt t="19528" x="2189163" y="2593975"/>
          <p14:tracePt t="19529" x="2173288" y="2579688"/>
          <p14:tracePt t="19529" x="2163763" y="2574925"/>
          <p14:tracePt t="19530" x="2159000" y="2563813"/>
          <p14:tracePt t="19530" x="2149475" y="2559050"/>
          <p14:tracePt t="19531" x="2144713" y="2544763"/>
          <p14:tracePt t="19532" x="2130425" y="2530475"/>
          <p14:tracePt t="19533" x="2116138" y="2520950"/>
          <p14:tracePt t="19534" x="2090738" y="2490788"/>
          <p14:tracePt t="19534" x="2085975" y="2486025"/>
          <p14:tracePt t="19535" x="2076450" y="2471738"/>
          <p14:tracePt t="19535" x="2071688" y="2462213"/>
          <p14:tracePt t="19536" x="2057400" y="2457450"/>
          <p14:tracePt t="19536" x="2047875" y="2447925"/>
          <p14:tracePt t="19537" x="2041525" y="2432050"/>
          <p14:tracePt t="19537" x="2032000" y="2427288"/>
          <p14:tracePt t="19538" x="2027238" y="2417763"/>
          <p14:tracePt t="19538" x="2017713" y="2413000"/>
          <p14:tracePt t="19539" x="2003425" y="2403475"/>
          <p14:tracePt t="19540" x="1989138" y="2384425"/>
          <p14:tracePt t="19542" x="1958975" y="2359025"/>
          <p14:tracePt t="19542" x="1954213" y="2354263"/>
          <p14:tracePt t="19546" x="1885950" y="2281238"/>
          <p14:tracePt t="19546" x="1881188" y="2271713"/>
          <p14:tracePt t="19547" x="1866900" y="2266950"/>
          <p14:tracePt t="19547" x="1857375" y="2257425"/>
          <p14:tracePt t="19548" x="1852613" y="2252663"/>
          <p14:tracePt t="19550" x="1822450" y="2222500"/>
          <p14:tracePt t="19550" x="1812925" y="2212975"/>
          <p14:tracePt t="19554" x="1739900" y="2149475"/>
          <p14:tracePt t="19554" x="1735138" y="2135188"/>
          <p14:tracePt t="19555" x="1720850" y="2125663"/>
          <p14:tracePt t="19555" x="1711325" y="2120900"/>
          <p14:tracePt t="19556" x="1706563" y="2111375"/>
          <p14:tracePt t="19556" x="1695450" y="2106613"/>
          <p14:tracePt t="19557" x="1681163" y="2097088"/>
          <p14:tracePt t="19557" x="1676400" y="2090738"/>
          <p14:tracePt t="19558" x="1666875" y="2076450"/>
          <p14:tracePt t="19558" x="1652588" y="2066925"/>
          <p14:tracePt t="19559" x="1647825" y="2062163"/>
          <p14:tracePt t="19559" x="1638300" y="2052638"/>
          <p14:tracePt t="19560" x="1622425" y="2047875"/>
          <p14:tracePt t="19561" x="1603375" y="2024063"/>
          <p14:tracePt t="19562" x="1589088" y="2017713"/>
          <p14:tracePt t="19562" x="1579563" y="2008188"/>
          <p14:tracePt t="19563" x="1565275" y="2003425"/>
          <p14:tracePt t="19564" x="1549400" y="1989138"/>
          <p14:tracePt t="19567" x="1501775" y="1944688"/>
          <p14:tracePt t="19567" x="1492250" y="1935163"/>
          <p14:tracePt t="19567" x="1485900" y="1930400"/>
          <p14:tracePt t="19571" x="1428750" y="1892300"/>
          <p14:tracePt t="19571" x="1417638" y="1887538"/>
          <p14:tracePt t="19571" x="1403350" y="1876425"/>
          <p14:tracePt t="19572" x="1398588" y="1871663"/>
          <p14:tracePt t="19572" x="1389063" y="1862138"/>
          <p14:tracePt t="19575" x="1344613" y="1833563"/>
          <p14:tracePt t="19575" x="1330325" y="1828800"/>
          <p14:tracePt t="19576" x="1325563" y="1819275"/>
          <p14:tracePt t="19579" x="1271588" y="1784350"/>
          <p14:tracePt t="19579" x="1266825" y="1774825"/>
          <p14:tracePt t="19580" x="1257300" y="1770063"/>
          <p14:tracePt t="19580" x="1243013" y="1770063"/>
          <p14:tracePt t="19581" x="1238250" y="1760538"/>
          <p14:tracePt t="19583" x="1208088" y="1739900"/>
          <p14:tracePt t="19583" x="1198563" y="1730375"/>
          <p14:tracePt t="19584" x="1193800" y="1730375"/>
          <p14:tracePt t="19584" x="1184275" y="1725613"/>
          <p14:tracePt t="19587" x="1135063" y="1701800"/>
          <p14:tracePt t="19592" x="1077913" y="1666875"/>
          <p14:tracePt t="19593" x="1066800" y="1666875"/>
          <p14:tracePt t="19596" x="1033463" y="1643063"/>
          <p14:tracePt t="19596" x="1023938" y="1638300"/>
          <p14:tracePt t="19597" x="1019175" y="1638300"/>
          <p14:tracePt t="19597" x="1009650" y="1638300"/>
          <p14:tracePt t="19598" x="1003300" y="1628775"/>
          <p14:tracePt t="19600" x="989013" y="1624013"/>
          <p14:tracePt t="19600" x="979488" y="1624013"/>
          <p14:tracePt t="19601" x="974725" y="1614488"/>
          <p14:tracePt t="19604" x="950913" y="1608138"/>
          <p14:tracePt t="19605" x="936625" y="1598613"/>
          <p14:tracePt t="19609" x="915988" y="1584325"/>
          <p14:tracePt t="19609" x="906463" y="1584325"/>
          <p14:tracePt t="19612" x="887413" y="1579563"/>
          <p14:tracePt t="19616" x="862013" y="1570038"/>
          <p14:tracePt t="19621" x="847725" y="1565275"/>
          <p14:tracePt t="19621" x="842963" y="1565275"/>
          <p14:tracePt t="19625" x="828675" y="1555750"/>
          <p14:tracePt t="19629" x="819150" y="1555750"/>
          <p14:tracePt t="19629" x="814388" y="1555750"/>
          <p14:tracePt t="19630" x="814388" y="1550988"/>
          <p14:tracePt t="19633" x="804863" y="1550988"/>
          <p14:tracePt t="19637" x="788988" y="1550988"/>
          <p14:tracePt t="19641" x="784225" y="1539875"/>
          <p14:tracePt t="19646" x="774700" y="1539875"/>
          <p14:tracePt t="19650" x="769938" y="1535113"/>
          <p14:tracePt t="19654" x="760413" y="1535113"/>
          <p14:tracePt t="19753" x="755650" y="1535113"/>
          <p14:tracePt t="19759" x="746125" y="1535113"/>
          <p14:tracePt t="19762" x="746125" y="1539875"/>
          <p14:tracePt t="19763" x="741363" y="1539875"/>
          <p14:tracePt t="19767" x="741363" y="1546225"/>
          <p14:tracePt t="19767" x="731838" y="1546225"/>
          <p14:tracePt t="19771" x="725488" y="1555750"/>
          <p14:tracePt t="19775" x="715963" y="1560513"/>
          <p14:tracePt t="19779" x="711200" y="1570038"/>
          <p14:tracePt t="19783" x="701675" y="1574800"/>
          <p14:tracePt t="19787" x="687388" y="1584325"/>
          <p14:tracePt t="19791" x="682625" y="1589088"/>
          <p14:tracePt t="19796" x="673100" y="1598613"/>
          <p14:tracePt t="19800" x="668338" y="1598613"/>
          <p14:tracePt t="19804" x="657225" y="1603375"/>
          <p14:tracePt t="19809" x="652463" y="1603375"/>
          <p14:tracePt t="19863" x="642938" y="1603375"/>
          <p14:tracePt t="19874" x="638175" y="1603375"/>
          <p14:tracePt t="19879" x="628650" y="1603375"/>
          <p14:tracePt t="19882" x="623888" y="1603375"/>
          <p14:tracePt t="19885" x="614363" y="1603375"/>
          <p14:tracePt t="19888" x="609600" y="1603375"/>
          <p14:tracePt t="19891" x="600075" y="1603375"/>
          <p14:tracePt t="19896" x="584200" y="1603375"/>
          <p14:tracePt t="19900" x="569913" y="1603375"/>
          <p14:tracePt t="19904" x="565150" y="1603375"/>
          <p14:tracePt t="19908" x="555625" y="1603375"/>
          <p14:tracePt t="19912" x="541338" y="1614488"/>
          <p14:tracePt t="19916" x="536575" y="1614488"/>
          <p14:tracePt t="19925" x="527050" y="1614488"/>
          <p14:tracePt t="19990" x="527050" y="1619250"/>
          <p14:tracePt t="19992" x="531813" y="1619250"/>
          <p14:tracePt t="19995" x="541338" y="1619250"/>
          <p14:tracePt t="19996" x="541338" y="1628775"/>
          <p14:tracePt t="20000" x="555625" y="1633538"/>
          <p14:tracePt t="20004" x="569913" y="1643063"/>
          <p14:tracePt t="20004" x="574675" y="1643063"/>
          <p14:tracePt t="20008" x="600075" y="1657350"/>
          <p14:tracePt t="20008" x="604838" y="1657350"/>
          <p14:tracePt t="20009" x="614363" y="1657350"/>
          <p14:tracePt t="20012" x="642938" y="1671638"/>
          <p14:tracePt t="20013" x="647700" y="1671638"/>
          <p14:tracePt t="20013" x="657225" y="1671638"/>
          <p14:tracePt t="20017" x="692150" y="1687513"/>
          <p14:tracePt t="20017" x="701675" y="1687513"/>
          <p14:tracePt t="20018" x="706438" y="1687513"/>
          <p14:tracePt t="20021" x="746125" y="1701800"/>
          <p14:tracePt t="20021" x="750888" y="1701800"/>
          <p14:tracePt t="20021" x="760413" y="1701800"/>
          <p14:tracePt t="20025" x="823913" y="1716088"/>
          <p14:tracePt t="20025" x="833438" y="1716088"/>
          <p14:tracePt t="20026" x="838200" y="1716088"/>
          <p14:tracePt t="20027" x="847725" y="1716088"/>
          <p14:tracePt t="20029" x="906463" y="1730375"/>
          <p14:tracePt t="20030" x="920750" y="1730375"/>
          <p14:tracePt t="20030" x="925513" y="1730375"/>
          <p14:tracePt t="20033" x="979488" y="1735138"/>
          <p14:tracePt t="20033" x="984250" y="1735138"/>
          <p14:tracePt t="20034" x="998538" y="1735138"/>
          <p14:tracePt t="20034" x="1009650" y="1735138"/>
          <p14:tracePt t="20035" x="1023938" y="1735138"/>
          <p14:tracePt t="20035" x="1028700" y="1735138"/>
          <p14:tracePt t="20037" x="1066800" y="1744663"/>
          <p14:tracePt t="20038" x="1087438" y="1744663"/>
          <p14:tracePt t="20038" x="1096963" y="1744663"/>
          <p14:tracePt t="20041" x="1169988" y="1744663"/>
          <p14:tracePt t="20042" x="1174750" y="1751013"/>
          <p14:tracePt t="20042" x="1189038" y="1751013"/>
          <p14:tracePt t="20043" x="1198563" y="1751013"/>
          <p14:tracePt t="20044" x="1214438" y="1751013"/>
          <p14:tracePt t="20044" x="1219200" y="1751013"/>
          <p14:tracePt t="20046" x="1271588" y="1751013"/>
          <p14:tracePt t="20046" x="1276350" y="1751013"/>
          <p14:tracePt t="20047" x="1292225" y="1751013"/>
          <p14:tracePt t="20047" x="1301750" y="1751013"/>
          <p14:tracePt t="20050" x="1360488" y="1751013"/>
          <p14:tracePt t="20050" x="1365250" y="1751013"/>
          <p14:tracePt t="20051" x="1379538" y="1751013"/>
          <p14:tracePt t="20051" x="1393825" y="1751013"/>
          <p14:tracePt t="20052" x="1403350" y="1751013"/>
          <p14:tracePt t="20052" x="1417638" y="1751013"/>
          <p14:tracePt t="20053" x="1423988" y="1751013"/>
          <p14:tracePt t="20053" x="1438275" y="1751013"/>
          <p14:tracePt t="20054" x="1447800" y="1751013"/>
          <p14:tracePt t="20058" x="1535113" y="1751013"/>
          <p14:tracePt t="20058" x="1539875" y="1751013"/>
          <p14:tracePt t="20059" x="1554163" y="1751013"/>
          <p14:tracePt t="20059" x="1565275" y="1751013"/>
          <p14:tracePt t="20062" x="1622425" y="1751013"/>
          <p14:tracePt t="20066" x="1701800" y="1751013"/>
          <p14:tracePt t="20071" x="1774825" y="1751013"/>
          <p14:tracePt t="20071" x="1789113" y="1751013"/>
          <p14:tracePt t="20071" x="1798638" y="1751013"/>
          <p14:tracePt t="20075" x="1857375" y="1744663"/>
          <p14:tracePt t="20075" x="1871663" y="1744663"/>
          <p14:tracePt t="20076" x="1876425" y="1744663"/>
          <p14:tracePt t="20076" x="1885950" y="1744663"/>
          <p14:tracePt t="20079" x="1930400" y="1744663"/>
          <p14:tracePt t="20080" x="1944688" y="1744663"/>
          <p14:tracePt t="20080" x="1949450" y="1744663"/>
          <p14:tracePt t="20083" x="2003425" y="1744663"/>
          <p14:tracePt t="20084" x="2008188" y="1744663"/>
          <p14:tracePt t="20084" x="2017713" y="1744663"/>
          <p14:tracePt t="20085" x="2022475" y="1744663"/>
          <p14:tracePt t="20087" x="2062163" y="1744663"/>
          <p14:tracePt t="20088" x="2066925" y="1744663"/>
          <p14:tracePt t="20091" x="2120900" y="1744663"/>
          <p14:tracePt t="20096" x="2163763" y="1744663"/>
          <p14:tracePt t="20096" x="2168525" y="1744663"/>
          <p14:tracePt t="20096" x="2178050" y="1744663"/>
          <p14:tracePt t="20100" x="2212975" y="1744663"/>
          <p14:tracePt t="20100" x="2222500" y="1744663"/>
          <p14:tracePt t="20104" x="2252663" y="1744663"/>
          <p14:tracePt t="20108" x="2286000" y="1744663"/>
          <p14:tracePt t="20112" x="2309813" y="1744663"/>
          <p14:tracePt t="20116" x="2325688" y="1744663"/>
          <p14:tracePt t="20121" x="2330450" y="1744663"/>
          <p14:tracePt t="20148" x="2330450" y="1739900"/>
          <p14:tracePt t="20150" x="2330450" y="1730375"/>
          <p14:tracePt t="20154" x="2330450" y="1716088"/>
          <p14:tracePt t="20154" x="2330450" y="1711325"/>
          <p14:tracePt t="20158" x="2325688" y="1697038"/>
          <p14:tracePt t="20159" x="2325688" y="1687513"/>
          <p14:tracePt t="20162" x="2319338" y="1666875"/>
          <p14:tracePt t="20166" x="2309813" y="1643063"/>
          <p14:tracePt t="20167" x="2309813" y="1638300"/>
          <p14:tracePt t="20171" x="2305050" y="1608138"/>
          <p14:tracePt t="20175" x="2295525" y="1584325"/>
          <p14:tracePt t="20179" x="2281238" y="1555750"/>
          <p14:tracePt t="20183" x="2266950" y="1525588"/>
          <p14:tracePt t="20187" x="2246313" y="1497013"/>
          <p14:tracePt t="20191" x="2232025" y="1466850"/>
          <p14:tracePt t="20196" x="2203450" y="1438275"/>
          <p14:tracePt t="20196" x="2203450" y="1433513"/>
          <p14:tracePt t="20200" x="2178050" y="1409700"/>
          <p14:tracePt t="20204" x="2149475" y="1379538"/>
          <p14:tracePt t="20204" x="2149475" y="1374775"/>
          <p14:tracePt t="20205" x="2144713" y="1374775"/>
          <p14:tracePt t="20208" x="2116138" y="1346200"/>
          <p14:tracePt t="20212" x="2076450" y="1316038"/>
          <p14:tracePt t="20216" x="2041525" y="1287463"/>
          <p14:tracePt t="20221" x="1998663" y="1257300"/>
          <p14:tracePt t="20221" x="1989138" y="1257300"/>
          <p14:tracePt t="20222" x="1984375" y="1247775"/>
          <p14:tracePt t="20225" x="1954213" y="1228725"/>
          <p14:tracePt t="20225" x="1944688" y="1228725"/>
          <p14:tracePt t="20226" x="1939925" y="1219200"/>
          <p14:tracePt t="20229" x="1911350" y="1204913"/>
          <p14:tracePt t="20233" x="1857375" y="1174750"/>
          <p14:tracePt t="20233" x="1852613" y="1174750"/>
          <p14:tracePt t="20234" x="1852613" y="1169988"/>
          <p14:tracePt t="20237" x="1798638" y="1155700"/>
          <p14:tracePt t="20238" x="1798638" y="1146175"/>
          <p14:tracePt t="20239" x="1793875" y="1146175"/>
          <p14:tracePt t="20239" x="1784350" y="1146175"/>
          <p14:tracePt t="20241" x="1754188" y="1130300"/>
          <p14:tracePt t="20242" x="1749425" y="1130300"/>
          <p14:tracePt t="20242" x="1739900" y="1125538"/>
          <p14:tracePt t="20243" x="1735138" y="1125538"/>
          <p14:tracePt t="20243" x="1725613" y="1125538"/>
          <p14:tracePt t="20246" x="1706563" y="1116013"/>
          <p14:tracePt t="20246" x="1695450" y="1111250"/>
          <p14:tracePt t="20246" x="1690688" y="1111250"/>
          <p14:tracePt t="20247" x="1681163" y="1111250"/>
          <p14:tracePt t="20247" x="1676400" y="1101725"/>
          <p14:tracePt t="20248" x="1666875" y="1101725"/>
          <p14:tracePt t="20250" x="1652588" y="1096963"/>
          <p14:tracePt t="20250" x="1647825" y="1096963"/>
          <p14:tracePt t="20250" x="1638300" y="1096963"/>
          <p14:tracePt t="20254" x="1593850" y="1082675"/>
          <p14:tracePt t="20255" x="1589088" y="1082675"/>
          <p14:tracePt t="20258" x="1544638" y="1073150"/>
          <p14:tracePt t="20259" x="1535113" y="1068388"/>
          <p14:tracePt t="20259" x="1530350" y="1068388"/>
          <p14:tracePt t="20262" x="1492250" y="1057275"/>
          <p14:tracePt t="20263" x="1485900" y="1052513"/>
          <p14:tracePt t="20263" x="1476375" y="1052513"/>
          <p14:tracePt t="20264" x="1471613" y="1052513"/>
          <p14:tracePt t="20264" x="1462088" y="1052513"/>
          <p14:tracePt t="20265" x="1457325" y="1052513"/>
          <p14:tracePt t="20265" x="1457325" y="1042988"/>
          <p14:tracePt t="20266" x="1447800" y="1042988"/>
          <p14:tracePt t="20267" x="1433513" y="1042988"/>
          <p14:tracePt t="20267" x="1428750" y="1042988"/>
          <p14:tracePt t="20271" x="1389063" y="1038225"/>
          <p14:tracePt t="20275" x="1344613" y="1028700"/>
          <p14:tracePt t="20275" x="1339850" y="1028700"/>
          <p14:tracePt t="20276" x="1330325" y="1028700"/>
          <p14:tracePt t="20279" x="1301750" y="1023938"/>
          <p14:tracePt t="20283" x="1257300" y="1023938"/>
          <p14:tracePt t="20287" x="1223963" y="1014413"/>
          <p14:tracePt t="20291" x="1184275" y="1014413"/>
          <p14:tracePt t="20296" x="1155700" y="1014413"/>
          <p14:tracePt t="20300" x="1120775" y="1014413"/>
          <p14:tracePt t="20304" x="1092200" y="1014413"/>
          <p14:tracePt t="20308" x="1062038" y="1014413"/>
          <p14:tracePt t="20312" x="1033463" y="1019175"/>
          <p14:tracePt t="20316" x="993775" y="1028700"/>
          <p14:tracePt t="20320" x="965200" y="1033463"/>
          <p14:tracePt t="20321" x="960438" y="1033463"/>
          <p14:tracePt t="20325" x="930275" y="1042988"/>
          <p14:tracePt t="20325" x="920750" y="1042988"/>
          <p14:tracePt t="20329" x="892175" y="1047750"/>
          <p14:tracePt t="20333" x="857250" y="1062038"/>
          <p14:tracePt t="20337" x="819150" y="1073150"/>
          <p14:tracePt t="20342" x="784225" y="1087438"/>
          <p14:tracePt t="20346" x="746125" y="1092200"/>
          <p14:tracePt t="20346" x="746125" y="1101725"/>
          <p14:tracePt t="20347" x="731838" y="1101725"/>
          <p14:tracePt t="20350" x="715963" y="1106488"/>
          <p14:tracePt t="20350" x="701675" y="1116013"/>
          <p14:tracePt t="20354" x="673100" y="1120775"/>
          <p14:tracePt t="20358" x="642938" y="1136650"/>
          <p14:tracePt t="20358" x="638175" y="1136650"/>
          <p14:tracePt t="20362" x="609600" y="1146175"/>
          <p14:tracePt t="20366" x="579438" y="1160463"/>
          <p14:tracePt t="20371" x="555625" y="1165225"/>
          <p14:tracePt t="20371" x="550863" y="1165225"/>
          <p14:tracePt t="20375" x="536575" y="1174750"/>
          <p14:tracePt t="20375" x="527050" y="1174750"/>
          <p14:tracePt t="20379" x="511175" y="1179513"/>
          <p14:tracePt t="20383" x="496888" y="1189038"/>
          <p14:tracePt t="20387" x="482600" y="1189038"/>
          <p14:tracePt t="20391" x="477838" y="1193800"/>
          <p14:tracePt t="20403" x="468313" y="1193800"/>
          <p14:tracePt t="20426" x="468313" y="1204913"/>
          <p14:tracePt t="20447" x="463550" y="1204913"/>
          <p14:tracePt t="20448" x="463550" y="1209675"/>
          <p14:tracePt t="20451" x="454025" y="1209675"/>
          <p14:tracePt t="20454" x="454025" y="1219200"/>
          <p14:tracePt t="20458" x="438150" y="1219200"/>
          <p14:tracePt t="20462" x="433388" y="1233488"/>
          <p14:tracePt t="20463" x="423863" y="1233488"/>
          <p14:tracePt t="20466" x="419100" y="1238250"/>
          <p14:tracePt t="20467" x="409575" y="1238250"/>
          <p14:tracePt t="20471" x="404813" y="1247775"/>
          <p14:tracePt t="20475" x="379413" y="1262063"/>
          <p14:tracePt t="20479" x="365125" y="1277938"/>
          <p14:tracePt t="20483" x="350838" y="1282700"/>
          <p14:tracePt t="20484" x="350838" y="1292225"/>
          <p14:tracePt t="20487" x="336550" y="1296988"/>
          <p14:tracePt t="20488" x="336550" y="1306513"/>
          <p14:tracePt t="20491" x="331788" y="1311275"/>
          <p14:tracePt t="20496" x="322263" y="1325563"/>
          <p14:tracePt t="20497" x="317500" y="1325563"/>
          <p14:tracePt t="20501" x="317500" y="1335088"/>
          <p14:tracePt t="20501" x="306388" y="1335088"/>
          <p14:tracePt t="20502" x="306388" y="1341438"/>
          <p14:tracePt t="20508" x="306388" y="1350963"/>
          <p14:tracePt t="20553" x="306388" y="1355725"/>
          <p14:tracePt t="20570" x="306388" y="1365250"/>
          <p14:tracePt t="20571" x="312738" y="1365250"/>
          <p14:tracePt t="20576" x="322263" y="1365250"/>
          <p14:tracePt t="20580" x="322263" y="1370013"/>
          <p14:tracePt t="20583" x="327025" y="1370013"/>
          <p14:tracePt t="20587" x="341313" y="1379538"/>
          <p14:tracePt t="20592" x="355600" y="1384300"/>
          <p14:tracePt t="20596" x="369888" y="1393825"/>
          <p14:tracePt t="20600" x="395288" y="1398588"/>
          <p14:tracePt t="20605" x="414338" y="1409700"/>
          <p14:tracePt t="20606" x="423863" y="1414463"/>
          <p14:tracePt t="20608" x="438150" y="1414463"/>
          <p14:tracePt t="20609" x="438150" y="1423988"/>
          <p14:tracePt t="20610" x="442913" y="1423988"/>
          <p14:tracePt t="20612" x="458788" y="1428750"/>
          <p14:tracePt t="20616" x="482600" y="1438275"/>
          <p14:tracePt t="20617" x="487363" y="1438275"/>
          <p14:tracePt t="20621" x="501650" y="1443038"/>
          <p14:tracePt t="20621" x="511175" y="1443038"/>
          <p14:tracePt t="20621" x="511175" y="1452563"/>
          <p14:tracePt t="20625" x="531813" y="1457325"/>
          <p14:tracePt t="20625" x="541338" y="1457325"/>
          <p14:tracePt t="20629" x="560388" y="1466850"/>
          <p14:tracePt t="20633" x="584200" y="1471613"/>
          <p14:tracePt t="20637" x="614363" y="1482725"/>
          <p14:tracePt t="20638" x="614363" y="1487488"/>
          <p14:tracePt t="20642" x="642938" y="1497013"/>
          <p14:tracePt t="20646" x="663575" y="1501775"/>
          <p14:tracePt t="20650" x="701675" y="1511300"/>
          <p14:tracePt t="20651" x="706438" y="1511300"/>
          <p14:tracePt t="20654" x="731838" y="1516063"/>
          <p14:tracePt t="20658" x="760413" y="1525588"/>
          <p14:tracePt t="20659" x="765175" y="1525588"/>
          <p14:tracePt t="20659" x="774700" y="1530350"/>
          <p14:tracePt t="20662" x="804863" y="1539875"/>
          <p14:tracePt t="20663" x="809625" y="1539875"/>
          <p14:tracePt t="20667" x="847725" y="1539875"/>
          <p14:tracePt t="20667" x="852488" y="1546225"/>
          <p14:tracePt t="20671" x="892175" y="1546225"/>
          <p14:tracePt t="20671" x="896938" y="1546225"/>
          <p14:tracePt t="20671" x="906463" y="1555750"/>
          <p14:tracePt t="20675" x="941388" y="1555750"/>
          <p14:tracePt t="20675" x="950913" y="1555750"/>
          <p14:tracePt t="20676" x="955675" y="1555750"/>
          <p14:tracePt t="20676" x="965200" y="1555750"/>
          <p14:tracePt t="20677" x="969963" y="1560513"/>
          <p14:tracePt t="20679" x="993775" y="1560513"/>
          <p14:tracePt t="20679" x="998538" y="1560513"/>
          <p14:tracePt t="20680" x="1014413" y="1560513"/>
          <p14:tracePt t="20683" x="1042988" y="1570038"/>
          <p14:tracePt t="20683" x="1052513" y="1570038"/>
          <p14:tracePt t="20684" x="1057275" y="1570038"/>
          <p14:tracePt t="20684" x="1066800" y="1570038"/>
          <p14:tracePt t="20685" x="1071563" y="1570038"/>
          <p14:tracePt t="20685" x="1082675" y="1570038"/>
          <p14:tracePt t="20686" x="1087438" y="1570038"/>
          <p14:tracePt t="20687" x="1096963" y="1570038"/>
          <p14:tracePt t="20688" x="1111250" y="1570038"/>
          <p14:tracePt t="20688" x="1116013" y="1570038"/>
          <p14:tracePt t="20689" x="1125538" y="1570038"/>
          <p14:tracePt t="20691" x="1160463" y="1574800"/>
          <p14:tracePt t="20692" x="1169988" y="1574800"/>
          <p14:tracePt t="20692" x="1174750" y="1574800"/>
          <p14:tracePt t="20696" x="1219200" y="1574800"/>
          <p14:tracePt t="20696" x="1228725" y="1574800"/>
          <p14:tracePt t="20696" x="1233488" y="1574800"/>
          <p14:tracePt t="20700" x="1287463" y="1584325"/>
          <p14:tracePt t="20700" x="1292225" y="1584325"/>
          <p14:tracePt t="20701" x="1301750" y="1584325"/>
          <p14:tracePt t="20701" x="1306513" y="1584325"/>
          <p14:tracePt t="20702" x="1316038" y="1584325"/>
          <p14:tracePt t="20702" x="1320800" y="1584325"/>
          <p14:tracePt t="20703" x="1330325" y="1584325"/>
          <p14:tracePt t="20703" x="1335088" y="1584325"/>
          <p14:tracePt t="20704" x="1344613" y="1584325"/>
          <p14:tracePt t="20704" x="1349375" y="1584325"/>
          <p14:tracePt t="20705" x="1360488" y="1584325"/>
          <p14:tracePt t="20706" x="1374775" y="1584325"/>
          <p14:tracePt t="20706" x="1389063" y="1584325"/>
          <p14:tracePt t="20707" x="1403350" y="1584325"/>
          <p14:tracePt t="20708" x="1408113" y="1584325"/>
          <p14:tracePt t="20708" x="1417638" y="1589088"/>
          <p14:tracePt t="20709" x="1423988" y="1589088"/>
          <p14:tracePt t="20709" x="1433513" y="1589088"/>
          <p14:tracePt t="20710" x="1438275" y="1589088"/>
          <p14:tracePt t="20710" x="1447800" y="1589088"/>
          <p14:tracePt t="20711" x="1452563" y="1589088"/>
          <p14:tracePt t="20711" x="1462088" y="1589088"/>
          <p14:tracePt t="20712" x="1476375" y="1589088"/>
          <p14:tracePt t="20713" x="1481138" y="1589088"/>
          <p14:tracePt t="20716" x="1535113" y="1598613"/>
          <p14:tracePt t="20721" x="1593850" y="1598613"/>
          <p14:tracePt t="20721" x="1598613" y="1598613"/>
          <p14:tracePt t="20722" x="1608138" y="1598613"/>
          <p14:tracePt t="20725" x="1657350" y="1603375"/>
          <p14:tracePt t="20725" x="1666875" y="1603375"/>
          <p14:tracePt t="20726" x="1671638" y="1603375"/>
          <p14:tracePt t="20729" x="1711325" y="1603375"/>
          <p14:tracePt t="20730" x="1716088" y="1603375"/>
          <p14:tracePt t="20733" x="1758950" y="1614488"/>
          <p14:tracePt t="20737" x="1798638" y="1614488"/>
          <p14:tracePt t="20741" x="1827213" y="1619250"/>
          <p14:tracePt t="20746" x="1857375" y="1619250"/>
          <p14:tracePt t="20750" x="1871663" y="1619250"/>
          <p14:tracePt t="20754" x="1876425" y="1619250"/>
          <p14:tracePt t="20758" x="1885950" y="1619250"/>
          <p14:tracePt t="20845" x="1881188" y="1619250"/>
          <p14:tracePt t="20848" x="1871663" y="1619250"/>
          <p14:tracePt t="20850" x="1866900" y="1619250"/>
          <p14:tracePt t="20854" x="1843088" y="1619250"/>
          <p14:tracePt t="20858" x="1812925" y="1619250"/>
          <p14:tracePt t="20858" x="1808163" y="1619250"/>
          <p14:tracePt t="20862" x="1763713" y="1619250"/>
          <p14:tracePt t="20863" x="1754188" y="1619250"/>
          <p14:tracePt t="20867" x="1706563" y="1619250"/>
          <p14:tracePt t="20867" x="1695450" y="1619250"/>
          <p14:tracePt t="20868" x="1690688" y="1619250"/>
          <p14:tracePt t="20871" x="1647825" y="1619250"/>
          <p14:tracePt t="20871" x="1638300" y="1619250"/>
          <p14:tracePt t="20871" x="1633538" y="1619250"/>
          <p14:tracePt t="20875" x="1574800" y="1619250"/>
          <p14:tracePt t="20875" x="1560513" y="1619250"/>
          <p14:tracePt t="20876" x="1549400" y="1619250"/>
          <p14:tracePt t="20876" x="1544638" y="1619250"/>
          <p14:tracePt t="20879" x="1492250" y="1619250"/>
          <p14:tracePt t="20883" x="1403350" y="1619250"/>
          <p14:tracePt t="20883" x="1398588" y="1619250"/>
          <p14:tracePt t="20884" x="1384300" y="1619250"/>
          <p14:tracePt t="20887" x="1311275" y="1628775"/>
          <p14:tracePt t="20888" x="1301750" y="1628775"/>
          <p14:tracePt t="20888" x="1287463" y="1628775"/>
          <p14:tracePt t="20892" x="1214438" y="1633538"/>
          <p14:tracePt t="20893" x="1198563" y="1643063"/>
          <p14:tracePt t="20894" x="1184275" y="1643063"/>
          <p14:tracePt t="20894" x="1179513" y="1643063"/>
          <p14:tracePt t="20896" x="1135063" y="1647825"/>
          <p14:tracePt t="20896" x="1125538" y="1647825"/>
          <p14:tracePt t="20897" x="1111250" y="1647825"/>
          <p14:tracePt t="20897" x="1106488" y="1657350"/>
          <p14:tracePt t="20898" x="1096963" y="1657350"/>
          <p14:tracePt t="20900" x="1052513" y="1657350"/>
          <p14:tracePt t="20901" x="1047750" y="1662113"/>
          <p14:tracePt t="20901" x="1038225" y="1662113"/>
          <p14:tracePt t="20902" x="1023938" y="1662113"/>
          <p14:tracePt t="20902" x="1009650" y="1662113"/>
          <p14:tracePt t="20903" x="1003300" y="1671638"/>
          <p14:tracePt t="20904" x="989013" y="1671638"/>
          <p14:tracePt t="20908" x="915988" y="1687513"/>
          <p14:tracePt t="20909" x="906463" y="1687513"/>
          <p14:tracePt t="20909" x="901700" y="1687513"/>
          <p14:tracePt t="20910" x="892175" y="1687513"/>
          <p14:tracePt t="20910" x="887413" y="1692275"/>
          <p14:tracePt t="20911" x="877888" y="1692275"/>
          <p14:tracePt t="20911" x="873125" y="1692275"/>
          <p14:tracePt t="20912" x="862013" y="1692275"/>
          <p14:tracePt t="20912" x="857250" y="1692275"/>
          <p14:tracePt t="20913" x="857250" y="1701800"/>
          <p14:tracePt t="20914" x="842963" y="1701800"/>
          <p14:tracePt t="20914" x="833438" y="1701800"/>
          <p14:tracePt t="20915" x="828675" y="1701800"/>
          <p14:tracePt t="20916" x="814388" y="1701800"/>
          <p14:tracePt t="20921" x="784225" y="1706563"/>
          <p14:tracePt t="20921" x="774700" y="1706563"/>
          <p14:tracePt t="20925" x="760413" y="1716088"/>
          <p14:tracePt t="20929" x="755650" y="1716088"/>
          <p14:tracePt t="20960" x="760413" y="1716088"/>
          <p14:tracePt t="20963" x="760413" y="1711325"/>
          <p14:tracePt t="20963" x="765175" y="1711325"/>
          <p14:tracePt t="20965" x="774700" y="1711325"/>
          <p14:tracePt t="20967" x="779463" y="1701800"/>
          <p14:tracePt t="20971" x="793750" y="1697038"/>
          <p14:tracePt t="20975" x="819150" y="1687513"/>
          <p14:tracePt t="20979" x="847725" y="1671638"/>
          <p14:tracePt t="20980" x="852488" y="1671638"/>
          <p14:tracePt t="20983" x="877888" y="1666875"/>
          <p14:tracePt t="20984" x="882650" y="1666875"/>
          <p14:tracePt t="20984" x="882650" y="1657350"/>
          <p14:tracePt t="20987" x="911225" y="1652588"/>
          <p14:tracePt t="20988" x="920750" y="1652588"/>
          <p14:tracePt t="20988" x="925513" y="1652588"/>
          <p14:tracePt t="20989" x="925513" y="1643063"/>
          <p14:tracePt t="20989" x="936625" y="1643063"/>
          <p14:tracePt t="20991" x="950913" y="1643063"/>
          <p14:tracePt t="20996" x="993775" y="1628775"/>
          <p14:tracePt t="20996" x="998538" y="1628775"/>
          <p14:tracePt t="20997" x="1009650" y="1628775"/>
          <p14:tracePt t="21000" x="1042988" y="1624013"/>
          <p14:tracePt t="21001" x="1052513" y="1624013"/>
          <p14:tracePt t="21004" x="1087438" y="1614488"/>
          <p14:tracePt t="21005" x="1096963" y="1608138"/>
          <p14:tracePt t="21008" x="1139825" y="1598613"/>
          <p14:tracePt t="21009" x="1146175" y="1598613"/>
          <p14:tracePt t="21012" x="1184275" y="1593850"/>
          <p14:tracePt t="21013" x="1189038" y="1593850"/>
          <p14:tracePt t="21014" x="1198563" y="1593850"/>
          <p14:tracePt t="21016" x="1219200" y="1593850"/>
          <p14:tracePt t="21017" x="1228725" y="1593850"/>
          <p14:tracePt t="21017" x="1233488" y="1593850"/>
          <p14:tracePt t="21021" x="1257300" y="1584325"/>
          <p14:tracePt t="21021" x="1262063" y="1584325"/>
          <p14:tracePt t="21025" x="1292225" y="1579563"/>
          <p14:tracePt t="21029" x="1320800" y="1570038"/>
          <p14:tracePt t="21029" x="1330325" y="1570038"/>
          <p14:tracePt t="21033" x="1349375" y="1565275"/>
          <p14:tracePt t="21037" x="1365250" y="1565275"/>
          <p14:tracePt t="21038" x="1374775" y="1555750"/>
          <p14:tracePt t="21041" x="1379538" y="1555750"/>
          <p14:tracePt t="21046" x="1389063" y="1550988"/>
          <p14:tracePt t="21087" x="1384300" y="1550988"/>
          <p14:tracePt t="21090" x="1374775" y="1550988"/>
          <p14:tracePt t="21094" x="1370013" y="1550988"/>
          <p14:tracePt t="21097" x="1360488" y="1550988"/>
          <p14:tracePt t="21100" x="1355725" y="1550988"/>
          <p14:tracePt t="21104" x="1344613" y="1550988"/>
          <p14:tracePt t="21108" x="1339850" y="1550988"/>
          <p14:tracePt t="21112" x="1330325" y="1550988"/>
          <p14:tracePt t="21113" x="1325563" y="1550988"/>
          <p14:tracePt t="21117" x="1316038" y="1550988"/>
          <p14:tracePt t="21121" x="1301750" y="1550988"/>
          <p14:tracePt t="21125" x="1282700" y="1550988"/>
          <p14:tracePt t="21129" x="1266825" y="1550988"/>
          <p14:tracePt t="21133" x="1238250" y="1550988"/>
          <p14:tracePt t="21137" x="1208088" y="1550988"/>
          <p14:tracePt t="21138" x="1198563" y="1550988"/>
          <p14:tracePt t="21141" x="1179513" y="1555750"/>
          <p14:tracePt t="21146" x="1139825" y="1555750"/>
          <p14:tracePt t="21150" x="1106488" y="1555750"/>
          <p14:tracePt t="21150" x="1096963" y="1555750"/>
          <p14:tracePt t="21154" x="1066800" y="1555750"/>
          <p14:tracePt t="21158" x="1033463" y="1555750"/>
          <p14:tracePt t="21159" x="1023938" y="1555750"/>
          <p14:tracePt t="21162" x="993775" y="1555750"/>
          <p14:tracePt t="21163" x="989013" y="1555750"/>
          <p14:tracePt t="21166" x="950913" y="1555750"/>
          <p14:tracePt t="21171" x="920750" y="1555750"/>
          <p14:tracePt t="21171" x="915988" y="1555750"/>
          <p14:tracePt t="21175" x="887413" y="1555750"/>
          <p14:tracePt t="21179" x="862013" y="1555750"/>
          <p14:tracePt t="21183" x="842963" y="1555750"/>
          <p14:tracePt t="21187" x="833438" y="1560513"/>
          <p14:tracePt t="21191" x="828675" y="1560513"/>
          <p14:tracePt t="21219" x="833438" y="1560513"/>
          <p14:tracePt t="21221" x="838200" y="1560513"/>
          <p14:tracePt t="21223" x="847725" y="1560513"/>
          <p14:tracePt t="21225" x="852488" y="1560513"/>
          <p14:tracePt t="21229" x="882650" y="1570038"/>
          <p14:tracePt t="21234" x="920750" y="1574800"/>
          <p14:tracePt t="21234" x="925513" y="1584325"/>
          <p14:tracePt t="21235" x="936625" y="1584325"/>
          <p14:tracePt t="21235" x="941388" y="1584325"/>
          <p14:tracePt t="21237" x="969963" y="1584325"/>
          <p14:tracePt t="21238" x="979488" y="1589088"/>
          <p14:tracePt t="21242" x="1023938" y="1589088"/>
          <p14:tracePt t="21246" x="1087438" y="1598613"/>
          <p14:tracePt t="21246" x="1096963" y="1598613"/>
          <p14:tracePt t="21250" x="1155700" y="1603375"/>
          <p14:tracePt t="21250" x="1160463" y="1603375"/>
          <p14:tracePt t="21251" x="1169988" y="1603375"/>
          <p14:tracePt t="21251" x="1174750" y="1603375"/>
          <p14:tracePt t="21252" x="1184275" y="1603375"/>
          <p14:tracePt t="21252" x="1198563" y="1603375"/>
          <p14:tracePt t="21254" x="1219200" y="1614488"/>
          <p14:tracePt t="21255" x="1233488" y="1614488"/>
          <p14:tracePt t="21255" x="1243013" y="1614488"/>
          <p14:tracePt t="21258" x="1301750" y="1614488"/>
          <p14:tracePt t="21258" x="1306513" y="1614488"/>
          <p14:tracePt t="21259" x="1316038" y="1614488"/>
          <p14:tracePt t="21262" x="1389063" y="1614488"/>
          <p14:tracePt t="21263" x="1393825" y="1614488"/>
          <p14:tracePt t="21263" x="1408113" y="1619250"/>
          <p14:tracePt t="21264" x="1417638" y="1619250"/>
          <p14:tracePt t="21264" x="1433513" y="1619250"/>
          <p14:tracePt t="21265" x="1438275" y="1619250"/>
          <p14:tracePt t="21265" x="1452563" y="1619250"/>
          <p14:tracePt t="21266" x="1462088" y="1619250"/>
          <p14:tracePt t="21266" x="1476375" y="1619250"/>
          <p14:tracePt t="21267" x="1481138" y="1619250"/>
          <p14:tracePt t="21267" x="1497013" y="1619250"/>
          <p14:tracePt t="21268" x="1506538" y="1619250"/>
          <p14:tracePt t="21269" x="1525588" y="1619250"/>
          <p14:tracePt t="21271" x="1565275" y="1619250"/>
          <p14:tracePt t="21271" x="1570038" y="1619250"/>
          <p14:tracePt t="21272" x="1584325" y="1619250"/>
          <p14:tracePt t="21275" x="1666875" y="1619250"/>
          <p14:tracePt t="21275" x="1671638" y="1619250"/>
          <p14:tracePt t="21276" x="1685925" y="1619250"/>
          <p14:tracePt t="21276" x="1695450" y="1619250"/>
          <p14:tracePt t="21277" x="1711325" y="1619250"/>
          <p14:tracePt t="21279" x="1754188" y="1628775"/>
          <p14:tracePt t="21283" x="1843088" y="1628775"/>
          <p14:tracePt t="21284" x="1857375" y="1628775"/>
          <p14:tracePt t="21284" x="1862138" y="1628775"/>
          <p14:tracePt t="21287" x="1930400" y="1628775"/>
          <p14:tracePt t="21288" x="1935163" y="1628775"/>
          <p14:tracePt t="21288" x="1949450" y="1628775"/>
          <p14:tracePt t="21292" x="2017713" y="1628775"/>
          <p14:tracePt t="21296" x="2090738" y="1628775"/>
          <p14:tracePt t="21296" x="2095500" y="1628775"/>
          <p14:tracePt t="21296" x="2105025" y="1628775"/>
          <p14:tracePt t="21300" x="2154238" y="1633538"/>
          <p14:tracePt t="21300" x="2163763" y="1633538"/>
          <p14:tracePt t="21304" x="2198688" y="1633538"/>
          <p14:tracePt t="21304" x="2208213" y="1633538"/>
          <p14:tracePt t="21305" x="2212975" y="1633538"/>
          <p14:tracePt t="21308" x="2241550" y="1633538"/>
          <p14:tracePt t="21312" x="2271713" y="1633538"/>
          <p14:tracePt t="21316" x="2286000" y="1633538"/>
          <p14:tracePt t="21321" x="2295525" y="1633538"/>
          <p14:tracePt t="21349" x="2295525" y="1643063"/>
          <p14:tracePt t="21366" x="2295525" y="1647825"/>
          <p14:tracePt t="21369" x="2295525" y="1657350"/>
          <p14:tracePt t="21372" x="2295525" y="1662113"/>
          <p14:tracePt t="21375" x="2300288" y="1676400"/>
          <p14:tracePt t="21379" x="2300288" y="1706563"/>
          <p14:tracePt t="21379" x="2309813" y="1716088"/>
          <p14:tracePt t="21383" x="2314575" y="1751013"/>
          <p14:tracePt t="21388" x="2325688" y="1789113"/>
          <p14:tracePt t="21388" x="2330450" y="1803400"/>
          <p14:tracePt t="21389" x="2330450" y="1808163"/>
          <p14:tracePt t="21389" x="2330450" y="1819275"/>
          <p14:tracePt t="21392" x="2339975" y="1847850"/>
          <p14:tracePt t="21392" x="2344738" y="1852613"/>
          <p14:tracePt t="21396" x="2359025" y="1920875"/>
          <p14:tracePt t="21396" x="2359025" y="1925638"/>
          <p14:tracePt t="21397" x="2359025" y="1935163"/>
          <p14:tracePt t="21397" x="2368550" y="1939925"/>
          <p14:tracePt t="21398" x="2368550" y="1955800"/>
          <p14:tracePt t="21398" x="2368550" y="1965325"/>
          <p14:tracePt t="21399" x="2373313" y="1970088"/>
          <p14:tracePt t="21399" x="2373313" y="1979613"/>
          <p14:tracePt t="21400" x="2373313" y="1993900"/>
          <p14:tracePt t="21400" x="2373313" y="1998663"/>
          <p14:tracePt t="21401" x="2382838" y="2024063"/>
          <p14:tracePt t="21402" x="2382838" y="2028825"/>
          <p14:tracePt t="21402" x="2387600" y="2043113"/>
          <p14:tracePt t="21404" x="2387600" y="2071688"/>
          <p14:tracePt t="21405" x="2398713" y="2085975"/>
          <p14:tracePt t="21408" x="2413000" y="2170113"/>
          <p14:tracePt t="21409" x="2413000" y="2174875"/>
          <p14:tracePt t="21409" x="2413000" y="2189163"/>
          <p14:tracePt t="21412" x="2427288" y="2276475"/>
          <p14:tracePt t="21413" x="2427288" y="2290763"/>
          <p14:tracePt t="21413" x="2432050" y="2306638"/>
          <p14:tracePt t="21417" x="2441575" y="2389188"/>
          <p14:tracePt t="21417" x="2441575" y="2403475"/>
          <p14:tracePt t="21421" x="2455863" y="2495550"/>
          <p14:tracePt t="21421" x="2455863" y="2520950"/>
          <p14:tracePt t="21422" x="2455863" y="2535238"/>
          <p14:tracePt t="21425" x="2462213" y="2636838"/>
          <p14:tracePt t="21426" x="2471738" y="2667000"/>
          <p14:tracePt t="21426" x="2471738" y="2681288"/>
          <p14:tracePt t="21427" x="2471738" y="2700338"/>
          <p14:tracePt t="21427" x="2471738" y="2716213"/>
          <p14:tracePt t="21428" x="2471738" y="2730500"/>
          <p14:tracePt t="21428" x="2471738" y="2744788"/>
          <p14:tracePt t="21429" x="2471738" y="2759075"/>
          <p14:tracePt t="21429" x="2471738" y="2773363"/>
          <p14:tracePt t="21430" x="2471738" y="2789238"/>
          <p14:tracePt t="21430" x="2471738" y="2813050"/>
          <p14:tracePt t="21431" x="2476500" y="2827338"/>
          <p14:tracePt t="21431" x="2476500" y="2841625"/>
          <p14:tracePt t="21432" x="2476500" y="2857500"/>
          <p14:tracePt t="21432" x="2476500" y="2876550"/>
          <p14:tracePt t="21433" x="2476500" y="2890838"/>
          <p14:tracePt t="21433" x="2476500" y="2905125"/>
          <p14:tracePt t="21434" x="2476500" y="2930525"/>
          <p14:tracePt t="21435" x="2476500" y="2959100"/>
          <p14:tracePt t="21437" x="2476500" y="3046413"/>
          <p14:tracePt t="21438" x="2476500" y="3062288"/>
          <p14:tracePt t="21438" x="2476500" y="3081338"/>
          <p14:tracePt t="21439" x="2476500" y="3095625"/>
          <p14:tracePt t="21439" x="2476500" y="3109913"/>
          <p14:tracePt t="21440" x="2476500" y="3135313"/>
          <p14:tracePt t="21440" x="2476500" y="3149600"/>
          <p14:tracePt t="21441" x="2476500" y="3163888"/>
          <p14:tracePt t="21441" x="2476500" y="3182938"/>
          <p14:tracePt t="21442" x="2476500" y="3198813"/>
          <p14:tracePt t="21442" x="2476500" y="3213100"/>
          <p14:tracePt t="21443" x="2476500" y="3236913"/>
          <p14:tracePt t="21444" x="2476500" y="3267075"/>
          <p14:tracePt t="21444" x="2476500" y="3286125"/>
          <p14:tracePt t="21445" x="2476500" y="3300413"/>
          <p14:tracePt t="21445" x="2471738" y="3314700"/>
          <p14:tracePt t="21446" x="2471738" y="3340100"/>
          <p14:tracePt t="21447" x="2471738" y="3368675"/>
          <p14:tracePt t="21447" x="2471738" y="3382963"/>
          <p14:tracePt t="21448" x="2471738" y="3398838"/>
          <p14:tracePt t="21448" x="2471738" y="3417888"/>
          <p14:tracePt t="21449" x="2471738" y="3432175"/>
          <p14:tracePt t="21449" x="2471738" y="3446463"/>
          <p14:tracePt t="21450" x="2471738" y="3471863"/>
          <p14:tracePt t="21450" x="2471738" y="3486150"/>
          <p14:tracePt t="21451" x="2471738" y="3500438"/>
          <p14:tracePt t="21451" x="2466975" y="3514725"/>
          <p14:tracePt t="21452" x="2466975" y="3535363"/>
          <p14:tracePt t="21452" x="2466975" y="3549650"/>
          <p14:tracePt t="21453" x="2466975" y="3563938"/>
          <p14:tracePt t="21453" x="2466975" y="3578225"/>
          <p14:tracePt t="21454" x="2466975" y="3603625"/>
          <p14:tracePt t="21454" x="2466975" y="3617913"/>
          <p14:tracePt t="21455" x="2466975" y="3632200"/>
          <p14:tracePt t="21455" x="2466975" y="3646488"/>
          <p14:tracePt t="21456" x="2466975" y="3660775"/>
          <p14:tracePt t="21456" x="2466975" y="3681413"/>
          <p14:tracePt t="21457" x="2455863" y="3709988"/>
          <p14:tracePt t="21458" x="2455863" y="3740150"/>
          <p14:tracePt t="21459" x="2455863" y="3763963"/>
          <p14:tracePt t="21460" x="2455863" y="3778250"/>
          <p14:tracePt t="21462" x="2455863" y="3881438"/>
          <p14:tracePt t="21463" x="2455863" y="3895725"/>
          <p14:tracePt t="21463" x="2455863" y="3910013"/>
          <p14:tracePt t="21464" x="2455863" y="3924300"/>
          <p14:tracePt t="21464" x="2455863" y="3944938"/>
          <p14:tracePt t="21465" x="2455863" y="3959225"/>
          <p14:tracePt t="21465" x="2455863" y="3973513"/>
          <p14:tracePt t="21466" x="2455863" y="3987800"/>
          <p14:tracePt t="21466" x="2455863" y="4013200"/>
          <p14:tracePt t="21467" x="2455863" y="4027488"/>
          <p14:tracePt t="21467" x="2455863" y="4041775"/>
          <p14:tracePt t="21468" x="2462213" y="4056063"/>
          <p14:tracePt t="21469" x="2462213" y="4086225"/>
          <p14:tracePt t="21469" x="2462213" y="4100513"/>
          <p14:tracePt t="21470" x="2471738" y="4114800"/>
          <p14:tracePt t="21471" x="2471738" y="4129088"/>
          <p14:tracePt t="21475" x="2490788" y="4246563"/>
          <p14:tracePt t="21475" x="2490788" y="4260850"/>
          <p14:tracePt t="21476" x="2490788" y="4275138"/>
          <p14:tracePt t="21477" x="2500313" y="4295775"/>
          <p14:tracePt t="21477" x="2500313" y="4305300"/>
          <p14:tracePt t="21478" x="2505075" y="4319588"/>
          <p14:tracePt t="21478" x="2505075" y="4324350"/>
          <p14:tracePt t="21479" x="2514600" y="4338638"/>
          <p14:tracePt t="21479" x="2514600" y="4348163"/>
          <p14:tracePt t="21480" x="2519363" y="4364038"/>
          <p14:tracePt t="21480" x="2519363" y="4368800"/>
          <p14:tracePt t="21481" x="2519363" y="4378325"/>
          <p14:tracePt t="21481" x="2530475" y="4392613"/>
          <p14:tracePt t="21483" x="2535238" y="4406900"/>
          <p14:tracePt t="21483" x="2544763" y="4427538"/>
          <p14:tracePt t="21484" x="2544763" y="4437063"/>
          <p14:tracePt t="21484" x="2549525" y="4451350"/>
          <p14:tracePt t="21485" x="2549525" y="4456113"/>
          <p14:tracePt t="21485" x="2559050" y="4465638"/>
          <p14:tracePt t="21486" x="2563813" y="4470400"/>
          <p14:tracePt t="21486" x="2563813" y="4484688"/>
          <p14:tracePt t="21487" x="2573338" y="4495800"/>
          <p14:tracePt t="21487" x="2573338" y="4500563"/>
          <p14:tracePt t="21488" x="2578100" y="4510088"/>
          <p14:tracePt t="21489" x="2587625" y="4529138"/>
          <p14:tracePt t="21491" x="2608263" y="4573588"/>
          <p14:tracePt t="21492" x="2617788" y="4583113"/>
          <p14:tracePt t="21496" x="2651125" y="4646613"/>
          <p14:tracePt t="21496" x="2660650" y="4656138"/>
          <p14:tracePt t="21497" x="2660650" y="4660900"/>
          <p14:tracePt t="21497" x="2665413" y="4670425"/>
          <p14:tracePt t="21498" x="2676525" y="4675188"/>
          <p14:tracePt t="21498" x="2681288" y="4684713"/>
          <p14:tracePt t="21499" x="2681288" y="4700588"/>
          <p14:tracePt t="21499" x="2690813" y="4705350"/>
          <p14:tracePt t="21500" x="2695575" y="4714875"/>
          <p14:tracePt t="21500" x="2705100" y="4719638"/>
          <p14:tracePt t="21501" x="2709863" y="4729163"/>
          <p14:tracePt t="21501" x="2709863" y="4733925"/>
          <p14:tracePt t="21502" x="2719388" y="4743450"/>
          <p14:tracePt t="21502" x="2724150" y="4748213"/>
          <p14:tracePt t="21504" x="2733675" y="4762500"/>
          <p14:tracePt t="21505" x="2749550" y="4778375"/>
          <p14:tracePt t="21508" x="2782888" y="4821238"/>
          <p14:tracePt t="21508" x="2792413" y="4830763"/>
          <p14:tracePt t="21509" x="2797175" y="4837113"/>
          <p14:tracePt t="21509" x="2808288" y="4846638"/>
          <p14:tracePt t="21510" x="2813050" y="4851400"/>
          <p14:tracePt t="21512" x="2841625" y="4879975"/>
          <p14:tracePt t="21517" x="2886075" y="4919663"/>
          <p14:tracePt t="21517" x="2895600" y="4924425"/>
          <p14:tracePt t="21521" x="2928938" y="4953000"/>
          <p14:tracePt t="21521" x="2938463" y="4962525"/>
          <p14:tracePt t="21521" x="2943225" y="4967288"/>
          <p14:tracePt t="21525" x="2982913" y="4992688"/>
          <p14:tracePt t="21525" x="2987675" y="4997450"/>
          <p14:tracePt t="21529" x="3027363" y="5021263"/>
          <p14:tracePt t="21529" x="3027363" y="5026025"/>
          <p14:tracePt t="21530" x="3032125" y="5026025"/>
          <p14:tracePt t="21530" x="3041650" y="5035550"/>
          <p14:tracePt t="21533" x="3060700" y="5051425"/>
          <p14:tracePt t="21534" x="3070225" y="5051425"/>
          <p14:tracePt t="21534" x="3070225" y="5056188"/>
          <p14:tracePt t="21537" x="3105150" y="5070475"/>
          <p14:tracePt t="21538" x="3105150" y="5080000"/>
          <p14:tracePt t="21538" x="3114675" y="5080000"/>
          <p14:tracePt t="21539" x="3119438" y="5080000"/>
          <p14:tracePt t="21541" x="3133725" y="5094288"/>
          <p14:tracePt t="21542" x="3143250" y="5094288"/>
          <p14:tracePt t="21546" x="3178175" y="5114925"/>
          <p14:tracePt t="21550" x="3216275" y="5138738"/>
          <p14:tracePt t="22224" x="0" y="0"/>
        </p14:tracePtLst>
        <p14:tracePtLst>
          <p14:tracePt t="30909" x="3910013" y="4889500"/>
          <p14:tracePt t="30967" x="3187700" y="5133975"/>
          <p14:tracePt t="30968" x="3187700" y="5094288"/>
          <p14:tracePt t="30968" x="3182938" y="5089525"/>
          <p14:tracePt t="30969" x="3182938" y="5080000"/>
          <p14:tracePt t="30969" x="3182938" y="5075238"/>
          <p14:tracePt t="30970" x="3182938" y="5065713"/>
          <p14:tracePt t="30970" x="3173413" y="5060950"/>
          <p14:tracePt t="30971" x="3173413" y="5051425"/>
          <p14:tracePt t="30972" x="3173413" y="5035550"/>
          <p14:tracePt t="30975" x="3159125" y="4978400"/>
          <p14:tracePt t="30975" x="3159125" y="4973638"/>
          <p14:tracePt t="30976" x="3159125" y="4962525"/>
          <p14:tracePt t="30976" x="3159125" y="4957763"/>
          <p14:tracePt t="30979" x="3154363" y="4914900"/>
          <p14:tracePt t="30979" x="3143250" y="4899025"/>
          <p14:tracePt t="30983" x="3138488" y="4826000"/>
          <p14:tracePt t="30984" x="3138488" y="4816475"/>
          <p14:tracePt t="30984" x="3138488" y="4802188"/>
          <p14:tracePt t="30985" x="3128963" y="4797425"/>
          <p14:tracePt t="30985" x="3128963" y="4787900"/>
          <p14:tracePt t="30986" x="3128963" y="4773613"/>
          <p14:tracePt t="30986" x="3128963" y="4768850"/>
          <p14:tracePt t="30987" x="3128963" y="4757738"/>
          <p14:tracePt t="30988" x="3128963" y="4743450"/>
          <p14:tracePt t="30988" x="3124200" y="4738688"/>
          <p14:tracePt t="30991" x="3114675" y="4656138"/>
          <p14:tracePt t="30992" x="3114675" y="4651375"/>
          <p14:tracePt t="30996" x="3109913" y="4552950"/>
          <p14:tracePt t="30996" x="3100388" y="4538663"/>
          <p14:tracePt t="31000" x="3095625" y="4465638"/>
          <p14:tracePt t="31000" x="3095625" y="4451350"/>
          <p14:tracePt t="31001" x="3095625" y="4432300"/>
          <p14:tracePt t="31001" x="3095625" y="4416425"/>
          <p14:tracePt t="31004" x="3079750" y="4348163"/>
          <p14:tracePt t="31004" x="3079750" y="4333875"/>
          <p14:tracePt t="31005" x="3079750" y="4319588"/>
          <p14:tracePt t="31006" x="3070225" y="4300538"/>
          <p14:tracePt t="31007" x="3065463" y="4270375"/>
          <p14:tracePt t="31008" x="3055938" y="4227513"/>
          <p14:tracePt t="31009" x="3055938" y="4211638"/>
          <p14:tracePt t="31009" x="3051175" y="4197350"/>
          <p14:tracePt t="31010" x="3051175" y="4183063"/>
          <p14:tracePt t="31010" x="3041650" y="4168775"/>
          <p14:tracePt t="31011" x="3041650" y="4154488"/>
          <p14:tracePt t="31011" x="3041650" y="4138613"/>
          <p14:tracePt t="31012" x="3036888" y="4124325"/>
          <p14:tracePt t="31012" x="3036888" y="4110038"/>
          <p14:tracePt t="31013" x="3027363" y="4095750"/>
          <p14:tracePt t="31013" x="3027363" y="4081463"/>
          <p14:tracePt t="31014" x="3022600" y="4065588"/>
          <p14:tracePt t="31014" x="3011488" y="4051300"/>
          <p14:tracePt t="31015" x="3011488" y="4037013"/>
          <p14:tracePt t="31015" x="3006725" y="4022725"/>
          <p14:tracePt t="31017" x="2997200" y="3978275"/>
          <p14:tracePt t="31018" x="2992438" y="3968750"/>
          <p14:tracePt t="31021" x="2963863" y="3881438"/>
          <p14:tracePt t="31021" x="2963863" y="3865563"/>
          <p14:tracePt t="31021" x="2954338" y="3851275"/>
          <p14:tracePt t="31025" x="2924175" y="3749675"/>
          <p14:tracePt t="31025" x="2919413" y="3733800"/>
          <p14:tracePt t="31026" x="2909888" y="3719513"/>
          <p14:tracePt t="31029" x="2881313" y="3627438"/>
          <p14:tracePt t="31029" x="2876550" y="3613150"/>
          <p14:tracePt t="31030" x="2865438" y="3597275"/>
          <p14:tracePt t="31033" x="2836863" y="3514725"/>
          <p14:tracePt t="31033" x="2832100" y="3500438"/>
          <p14:tracePt t="31034" x="2822575" y="3486150"/>
          <p14:tracePt t="31035" x="2822575" y="3471863"/>
          <p14:tracePt t="31037" x="2787650" y="3392488"/>
          <p14:tracePt t="31038" x="2778125" y="3378200"/>
          <p14:tracePt t="31038" x="2773363" y="3368675"/>
          <p14:tracePt t="31041" x="2733675" y="3295650"/>
          <p14:tracePt t="31042" x="2728913" y="3281363"/>
          <p14:tracePt t="31042" x="2719388" y="3276600"/>
          <p14:tracePt t="31043" x="2719388" y="3262313"/>
          <p14:tracePt t="31043" x="2714625" y="3251200"/>
          <p14:tracePt t="31044" x="2705100" y="3236913"/>
          <p14:tracePt t="31045" x="2686050" y="3208338"/>
          <p14:tracePt t="31046" x="2686050" y="3194050"/>
          <p14:tracePt t="31046" x="2676525" y="3187700"/>
          <p14:tracePt t="31050" x="2641600" y="3130550"/>
          <p14:tracePt t="31050" x="2632075" y="3114675"/>
          <p14:tracePt t="31051" x="2617788" y="3100388"/>
          <p14:tracePt t="31054" x="2582863" y="3041650"/>
          <p14:tracePt t="31054" x="2573338" y="3032125"/>
          <p14:tracePt t="31055" x="2568575" y="3027363"/>
          <p14:tracePt t="31058" x="2530475" y="2973388"/>
          <p14:tracePt t="31058" x="2524125" y="2968625"/>
          <p14:tracePt t="31059" x="2514600" y="2954338"/>
          <p14:tracePt t="31062" x="2481263" y="2909888"/>
          <p14:tracePt t="31062" x="2471738" y="2900363"/>
          <p14:tracePt t="31063" x="2466975" y="2895600"/>
          <p14:tracePt t="31066" x="2427288" y="2836863"/>
          <p14:tracePt t="31067" x="2422525" y="2827338"/>
          <p14:tracePt t="31071" x="2378075" y="2784475"/>
          <p14:tracePt t="31071" x="2368550" y="2779713"/>
          <p14:tracePt t="31071" x="2368550" y="2768600"/>
          <p14:tracePt t="31072" x="2363788" y="2763838"/>
          <p14:tracePt t="31072" x="2354263" y="2754313"/>
          <p14:tracePt t="31073" x="2349500" y="2749550"/>
          <p14:tracePt t="31075" x="2325688" y="2720975"/>
          <p14:tracePt t="31079" x="2290763" y="2676525"/>
          <p14:tracePt t="31079" x="2281238" y="2667000"/>
          <p14:tracePt t="31080" x="2276475" y="2662238"/>
          <p14:tracePt t="31080" x="2266950" y="2652713"/>
          <p14:tracePt t="31083" x="2246313" y="2632075"/>
          <p14:tracePt t="31083" x="2236788" y="2622550"/>
          <p14:tracePt t="31084" x="2236788" y="2617788"/>
          <p14:tracePt t="31084" x="2232025" y="2617788"/>
          <p14:tracePt t="31085" x="2222500" y="2608263"/>
          <p14:tracePt t="31087" x="2208213" y="2589213"/>
          <p14:tracePt t="31088" x="2203450" y="2579688"/>
          <p14:tracePt t="31089" x="2193925" y="2574925"/>
          <p14:tracePt t="31091" x="2173288" y="2549525"/>
          <p14:tracePt t="31096" x="2135188" y="2516188"/>
          <p14:tracePt t="31096" x="2135188" y="2506663"/>
          <p14:tracePt t="31096" x="2130425" y="2506663"/>
          <p14:tracePt t="31097" x="2130425" y="2500313"/>
          <p14:tracePt t="31097" x="2120900" y="2500313"/>
          <p14:tracePt t="31100" x="2105025" y="2476500"/>
          <p14:tracePt t="31104" x="2085975" y="2457450"/>
          <p14:tracePt t="31108" x="2057400" y="2427288"/>
          <p14:tracePt t="31112" x="2032000" y="2403475"/>
          <p14:tracePt t="31116" x="2017713" y="2384425"/>
          <p14:tracePt t="31122" x="1998663" y="2359025"/>
          <p14:tracePt t="31124" x="1989138" y="2354263"/>
          <p14:tracePt t="31126" x="1984375" y="2344738"/>
          <p14:tracePt t="31129" x="1973263" y="2339975"/>
          <p14:tracePt t="31133" x="1968500" y="2330450"/>
          <p14:tracePt t="31133" x="1968500" y="2325688"/>
          <p14:tracePt t="31137" x="1958975" y="2316163"/>
          <p14:tracePt t="31142" x="1954213" y="2311400"/>
          <p14:tracePt t="31142" x="1954213" y="2301875"/>
          <p14:tracePt t="31146" x="1944688" y="2295525"/>
          <p14:tracePt t="31150" x="1939925" y="2286000"/>
          <p14:tracePt t="31154" x="1930400" y="2271713"/>
          <p14:tracePt t="31158" x="1925638" y="2266950"/>
          <p14:tracePt t="31162" x="1916113" y="2252663"/>
          <p14:tracePt t="31163" x="1911350" y="2252663"/>
          <p14:tracePt t="31164" x="1911350" y="2243138"/>
          <p14:tracePt t="31166" x="1900238" y="2238375"/>
          <p14:tracePt t="31171" x="1885950" y="2227263"/>
          <p14:tracePt t="31171" x="1885950" y="2222500"/>
          <p14:tracePt t="31175" x="1881188" y="2212975"/>
          <p14:tracePt t="31179" x="1866900" y="2198688"/>
          <p14:tracePt t="31183" x="1843088" y="2184400"/>
          <p14:tracePt t="31184" x="1843088" y="2179638"/>
          <p14:tracePt t="31187" x="1827213" y="2170113"/>
          <p14:tracePt t="31191" x="1812925" y="2165350"/>
          <p14:tracePt t="31195" x="1798638" y="2149475"/>
          <p14:tracePt t="31200" x="1784350" y="2139950"/>
          <p14:tracePt t="31204" x="1763713" y="2125663"/>
          <p14:tracePt t="31208" x="1749425" y="2120900"/>
          <p14:tracePt t="31208" x="1739900" y="2111375"/>
          <p14:tracePt t="31212" x="1725613" y="2106613"/>
          <p14:tracePt t="31212" x="1720850" y="2106613"/>
          <p14:tracePt t="31216" x="1695450" y="2090738"/>
          <p14:tracePt t="31221" x="1676400" y="2081213"/>
          <p14:tracePt t="31221" x="1666875" y="2081213"/>
          <p14:tracePt t="31221" x="1666875" y="2076450"/>
          <p14:tracePt t="31225" x="1647825" y="2062163"/>
          <p14:tracePt t="31229" x="1617663" y="2047875"/>
          <p14:tracePt t="31233" x="1579563" y="2033588"/>
          <p14:tracePt t="31237" x="1544638" y="2008188"/>
          <p14:tracePt t="31242" x="1501775" y="1989138"/>
          <p14:tracePt t="31243" x="1485900" y="1979613"/>
          <p14:tracePt t="31244" x="1476375" y="1979613"/>
          <p14:tracePt t="31246" x="1447800" y="1965325"/>
          <p14:tracePt t="31247" x="1443038" y="1960563"/>
          <p14:tracePt t="31250" x="1403350" y="1944688"/>
          <p14:tracePt t="31251" x="1398588" y="1935163"/>
          <p14:tracePt t="31254" x="1370013" y="1920875"/>
          <p14:tracePt t="31255" x="1360488" y="1920875"/>
          <p14:tracePt t="31258" x="1316038" y="1901825"/>
          <p14:tracePt t="31258" x="1311275" y="1901825"/>
          <p14:tracePt t="31259" x="1301750" y="1892300"/>
          <p14:tracePt t="31260" x="1296988" y="1892300"/>
          <p14:tracePt t="31261" x="1296988" y="1887538"/>
          <p14:tracePt t="31262" x="1266825" y="1871663"/>
          <p14:tracePt t="31263" x="1257300" y="1871663"/>
          <p14:tracePt t="31266" x="1223963" y="1857375"/>
          <p14:tracePt t="31267" x="1214438" y="1847850"/>
          <p14:tracePt t="31267" x="1208088" y="1847850"/>
          <p14:tracePt t="31270" x="1179513" y="1833563"/>
          <p14:tracePt t="31271" x="1179513" y="1828800"/>
          <p14:tracePt t="31271" x="1169988" y="1828800"/>
          <p14:tracePt t="31272" x="1165225" y="1828800"/>
          <p14:tracePt t="31272" x="1165225" y="1819275"/>
          <p14:tracePt t="31273" x="1155700" y="1819275"/>
          <p14:tracePt t="31273" x="1150938" y="1819275"/>
          <p14:tracePt t="31279" x="1106488" y="1789113"/>
          <p14:tracePt t="31283" x="1077913" y="1774825"/>
          <p14:tracePt t="31287" x="1052513" y="1760538"/>
          <p14:tracePt t="31291" x="1047750" y="1755775"/>
          <p14:tracePt t="31318" x="1047750" y="1744663"/>
          <p14:tracePt t="31319" x="1052513" y="1744663"/>
          <p14:tracePt t="31321" x="1057275" y="1739900"/>
          <p14:tracePt t="31325" x="1082675" y="1725613"/>
          <p14:tracePt t="31329" x="1116013" y="1711325"/>
          <p14:tracePt t="31330" x="1116013" y="1701800"/>
          <p14:tracePt t="31333" x="1155700" y="1682750"/>
          <p14:tracePt t="31333" x="1160463" y="1682750"/>
          <p14:tracePt t="31334" x="1169988" y="1671638"/>
          <p14:tracePt t="31337" x="1214438" y="1652588"/>
          <p14:tracePt t="31338" x="1219200" y="1643063"/>
          <p14:tracePt t="31338" x="1228725" y="1643063"/>
          <p14:tracePt t="31339" x="1233488" y="1638300"/>
          <p14:tracePt t="31339" x="1243013" y="1638300"/>
          <p14:tracePt t="31340" x="1247775" y="1628775"/>
          <p14:tracePt t="31340" x="1257300" y="1628775"/>
          <p14:tracePt t="31341" x="1271588" y="1624013"/>
          <p14:tracePt t="31342" x="1276350" y="1614488"/>
          <p14:tracePt t="31342" x="1287463" y="1614488"/>
          <p14:tracePt t="31343" x="1292225" y="1608138"/>
          <p14:tracePt t="31343" x="1301750" y="1608138"/>
          <p14:tracePt t="31344" x="1306513" y="1598613"/>
          <p14:tracePt t="31344" x="1316038" y="1598613"/>
          <p14:tracePt t="31345" x="1320800" y="1593850"/>
          <p14:tracePt t="31346" x="1335088" y="1584325"/>
          <p14:tracePt t="31350" x="1403350" y="1555750"/>
          <p14:tracePt t="31351" x="1408113" y="1550988"/>
          <p14:tracePt t="31351" x="1423988" y="1550988"/>
          <p14:tracePt t="31352" x="1433513" y="1539875"/>
          <p14:tracePt t="31352" x="1438275" y="1539875"/>
          <p14:tracePt t="31354" x="1462088" y="1525588"/>
          <p14:tracePt t="31354" x="1466850" y="1525588"/>
          <p14:tracePt t="31355" x="1476375" y="1520825"/>
          <p14:tracePt t="31358" x="1535113" y="1497013"/>
          <p14:tracePt t="31359" x="1539875" y="1492250"/>
          <p14:tracePt t="31359" x="1549400" y="1492250"/>
          <p14:tracePt t="31360" x="1554163" y="1482725"/>
          <p14:tracePt t="31362" x="1593850" y="1477963"/>
          <p14:tracePt t="31362" x="1598613" y="1466850"/>
          <p14:tracePt t="31363" x="1608138" y="1466850"/>
          <p14:tracePt t="31367" x="1666875" y="1447800"/>
          <p14:tracePt t="31371" x="1725613" y="1419225"/>
          <p14:tracePt t="31371" x="1739900" y="1419225"/>
          <p14:tracePt t="31372" x="1744663" y="1409700"/>
          <p14:tracePt t="31375" x="1784350" y="1403350"/>
          <p14:tracePt t="31375" x="1789113" y="1393825"/>
          <p14:tracePt t="31375" x="1798638" y="1393825"/>
          <p14:tracePt t="31379" x="1843088" y="1379538"/>
          <p14:tracePt t="31383" x="1876425" y="1365250"/>
          <p14:tracePt t="31383" x="1885950" y="1365250"/>
          <p14:tracePt t="31384" x="1885950" y="1360488"/>
          <p14:tracePt t="31387" x="1916113" y="1350963"/>
          <p14:tracePt t="31391" x="1930400" y="1346200"/>
          <p14:tracePt t="31395" x="1935163" y="1335088"/>
          <p14:tracePt t="31431" x="1930400" y="1335088"/>
          <p14:tracePt t="31433" x="1925638" y="1335088"/>
          <p14:tracePt t="31435" x="1916113" y="1335088"/>
          <p14:tracePt t="31437" x="1900238" y="1335088"/>
          <p14:tracePt t="31438" x="1895475" y="1335088"/>
          <p14:tracePt t="31442" x="1871663" y="1335088"/>
          <p14:tracePt t="31442" x="1866900" y="1335088"/>
          <p14:tracePt t="31442" x="1857375" y="1335088"/>
          <p14:tracePt t="31446" x="1822450" y="1335088"/>
          <p14:tracePt t="31450" x="1779588" y="1335088"/>
          <p14:tracePt t="31450" x="1770063" y="1335088"/>
          <p14:tracePt t="31451" x="1763713" y="1335088"/>
          <p14:tracePt t="31452" x="1754188" y="1335088"/>
          <p14:tracePt t="31454" x="1720850" y="1335088"/>
          <p14:tracePt t="31455" x="1711325" y="1335088"/>
          <p14:tracePt t="31458" x="1662113" y="1335088"/>
          <p14:tracePt t="31458" x="1652588" y="1335088"/>
          <p14:tracePt t="31459" x="1638300" y="1335088"/>
          <p14:tracePt t="31462" x="1579563" y="1335088"/>
          <p14:tracePt t="31463" x="1574800" y="1335088"/>
          <p14:tracePt t="31463" x="1565275" y="1335088"/>
          <p14:tracePt t="31464" x="1549400" y="1335088"/>
          <p14:tracePt t="31464" x="1544638" y="1335088"/>
          <p14:tracePt t="31465" x="1535113" y="1335088"/>
          <p14:tracePt t="31466" x="1506538" y="1335088"/>
          <p14:tracePt t="31467" x="1501775" y="1335088"/>
          <p14:tracePt t="31468" x="1492250" y="1335088"/>
          <p14:tracePt t="31471" x="1433513" y="1335088"/>
          <p14:tracePt t="31471" x="1428750" y="1335088"/>
          <p14:tracePt t="31471" x="1412875" y="1335088"/>
          <p14:tracePt t="31475" x="1344613" y="1335088"/>
          <p14:tracePt t="31475" x="1339850" y="1335088"/>
          <p14:tracePt t="31476" x="1325563" y="1335088"/>
          <p14:tracePt t="31476" x="1316038" y="1335088"/>
          <p14:tracePt t="31477" x="1311275" y="1335088"/>
          <p14:tracePt t="31479" x="1266825" y="1335088"/>
          <p14:tracePt t="31479" x="1257300" y="1335088"/>
          <p14:tracePt t="31480" x="1252538" y="1335088"/>
          <p14:tracePt t="31480" x="1238250" y="1335088"/>
          <p14:tracePt t="31481" x="1228725" y="1335088"/>
          <p14:tracePt t="31481" x="1223963" y="1335088"/>
          <p14:tracePt t="31482" x="1214438" y="1335088"/>
          <p14:tracePt t="31482" x="1198563" y="1335088"/>
          <p14:tracePt t="31483" x="1193800" y="1335088"/>
          <p14:tracePt t="31483" x="1184275" y="1335088"/>
          <p14:tracePt t="31484" x="1179513" y="1335088"/>
          <p14:tracePt t="31484" x="1165225" y="1335088"/>
          <p14:tracePt t="31485" x="1155700" y="1335088"/>
          <p14:tracePt t="31485" x="1150938" y="1335088"/>
          <p14:tracePt t="31486" x="1139825" y="1335088"/>
          <p14:tracePt t="31487" x="1120775" y="1341438"/>
          <p14:tracePt t="31487" x="1111250" y="1341438"/>
          <p14:tracePt t="31488" x="1106488" y="1341438"/>
          <p14:tracePt t="31489" x="1092200" y="1341438"/>
          <p14:tracePt t="31489" x="1082675" y="1341438"/>
          <p14:tracePt t="31492" x="1052513" y="1341438"/>
          <p14:tracePt t="31492" x="1047750" y="1341438"/>
          <p14:tracePt t="31496" x="993775" y="1350963"/>
          <p14:tracePt t="31496" x="989013" y="1350963"/>
          <p14:tracePt t="31500" x="946150" y="1355725"/>
          <p14:tracePt t="31500" x="936625" y="1355725"/>
          <p14:tracePt t="31504" x="906463" y="1365250"/>
          <p14:tracePt t="31508" x="877888" y="1365250"/>
          <p14:tracePt t="31512" x="862013" y="1370013"/>
          <p14:tracePt t="31554" x="868363" y="1370013"/>
          <p14:tracePt t="31557" x="877888" y="1370013"/>
          <p14:tracePt t="31560" x="882650" y="1370013"/>
          <p14:tracePt t="31562" x="892175" y="1370013"/>
          <p14:tracePt t="31566" x="906463" y="1379538"/>
          <p14:tracePt t="31567" x="911225" y="1379538"/>
          <p14:tracePt t="31571" x="936625" y="1379538"/>
          <p14:tracePt t="31575" x="955675" y="1379538"/>
          <p14:tracePt t="31579" x="984250" y="1379538"/>
          <p14:tracePt t="31583" x="1023938" y="1374775"/>
          <p14:tracePt t="31587" x="1057275" y="1374775"/>
          <p14:tracePt t="31591" x="1096963" y="1365250"/>
          <p14:tracePt t="31592" x="1101725" y="1365250"/>
          <p14:tracePt t="31592" x="1111250" y="1365250"/>
          <p14:tracePt t="31595" x="1139825" y="1360488"/>
          <p14:tracePt t="31600" x="1174750" y="1350963"/>
          <p14:tracePt t="31600" x="1184275" y="1350963"/>
          <p14:tracePt t="31601" x="1189038" y="1350963"/>
          <p14:tracePt t="31604" x="1214438" y="1350963"/>
          <p14:tracePt t="31609" x="1247775" y="1346200"/>
          <p14:tracePt t="31609" x="1257300" y="1346200"/>
          <p14:tracePt t="31612" x="1271588" y="1346200"/>
          <p14:tracePt t="31616" x="1292225" y="1335088"/>
          <p14:tracePt t="31620" x="1301750" y="1335088"/>
          <p14:tracePt t="31625" x="1306513" y="1335088"/>
          <p14:tracePt t="31750" x="1301750" y="1335088"/>
          <p14:tracePt t="31756" x="1296988" y="1335088"/>
          <p14:tracePt t="31760" x="1287463" y="1335088"/>
          <p14:tracePt t="31764" x="1282700" y="1335088"/>
          <p14:tracePt t="31768" x="1271588" y="1335088"/>
          <p14:tracePt t="31771" x="1266825" y="1330325"/>
          <p14:tracePt t="31774" x="1257300" y="1330325"/>
          <p14:tracePt t="31777" x="1252538" y="1330325"/>
          <p14:tracePt t="31779" x="1243013" y="1320800"/>
          <p14:tracePt t="31784" x="1228725" y="1320800"/>
          <p14:tracePt t="31787" x="1223963" y="1316038"/>
          <p14:tracePt t="31788" x="1214438" y="1316038"/>
          <p14:tracePt t="31792" x="1208088" y="1306513"/>
          <p14:tracePt t="31792" x="1198563" y="1306513"/>
          <p14:tracePt t="31796" x="1184275" y="1306513"/>
          <p14:tracePt t="31800" x="1169988" y="1301750"/>
          <p14:tracePt t="31804" x="1150938" y="1292225"/>
          <p14:tracePt t="31808" x="1135063" y="1287463"/>
          <p14:tracePt t="31812" x="1111250" y="1277938"/>
          <p14:tracePt t="31816" x="1092200" y="1277938"/>
          <p14:tracePt t="31821" x="1066800" y="1273175"/>
          <p14:tracePt t="31821" x="1062038" y="1273175"/>
          <p14:tracePt t="31825" x="1038225" y="1262063"/>
          <p14:tracePt t="31829" x="1009650" y="1257300"/>
          <p14:tracePt t="31833" x="979488" y="1247775"/>
          <p14:tracePt t="31834" x="974725" y="1247775"/>
          <p14:tracePt t="31837" x="950913" y="1243013"/>
          <p14:tracePt t="31841" x="936625" y="1243013"/>
          <p14:tracePt t="31845" x="920750" y="1233488"/>
          <p14:tracePt t="31850" x="906463" y="1228725"/>
          <p14:tracePt t="31854" x="901700" y="1228725"/>
          <p14:tracePt t="31858" x="892175" y="1219200"/>
          <p14:tracePt t="31859" x="887413" y="1219200"/>
          <p14:tracePt t="31862" x="877888" y="1214438"/>
          <p14:tracePt t="31866" x="862013" y="1204913"/>
          <p14:tracePt t="31867" x="857250" y="1204913"/>
          <p14:tracePt t="31871" x="847725" y="1198563"/>
          <p14:tracePt t="31871" x="842963" y="1198563"/>
          <p14:tracePt t="31875" x="828675" y="1189038"/>
          <p14:tracePt t="31879" x="814388" y="1174750"/>
          <p14:tracePt t="31883" x="800100" y="1169988"/>
          <p14:tracePt t="31887" x="788988" y="1160463"/>
          <p14:tracePt t="31891" x="784225" y="1155700"/>
          <p14:tracePt t="31896" x="774700" y="1146175"/>
          <p14:tracePt t="31900" x="774700" y="1141413"/>
          <p14:tracePt t="31923" x="779463" y="1141413"/>
          <p14:tracePt t="31926" x="788988" y="1141413"/>
          <p14:tracePt t="31928" x="793750" y="1141413"/>
          <p14:tracePt t="31929" x="804863" y="1141413"/>
          <p14:tracePt t="31933" x="823913" y="1130300"/>
          <p14:tracePt t="31937" x="852488" y="1130300"/>
          <p14:tracePt t="31942" x="882650" y="1130300"/>
          <p14:tracePt t="31942" x="892175" y="1130300"/>
          <p14:tracePt t="31946" x="920750" y="1130300"/>
          <p14:tracePt t="31946" x="925513" y="1136650"/>
          <p14:tracePt t="31950" x="965200" y="1136650"/>
          <p14:tracePt t="31954" x="998538" y="1146175"/>
          <p14:tracePt t="31955" x="998538" y="1150938"/>
          <p14:tracePt t="31958" x="1038225" y="1160463"/>
          <p14:tracePt t="31962" x="1066800" y="1165225"/>
          <p14:tracePt t="31966" x="1096963" y="1179513"/>
          <p14:tracePt t="31971" x="1116013" y="1193800"/>
          <p14:tracePt t="31975" x="1130300" y="1209675"/>
          <p14:tracePt t="31975" x="1139825" y="1209675"/>
          <p14:tracePt t="31979" x="1146175" y="1223963"/>
          <p14:tracePt t="31983" x="1155700" y="1238250"/>
          <p14:tracePt t="31987" x="1160463" y="1252538"/>
          <p14:tracePt t="31991" x="1169988" y="1266825"/>
          <p14:tracePt t="31996" x="1174750" y="1292225"/>
          <p14:tracePt t="32000" x="1174750" y="1311275"/>
          <p14:tracePt t="32004" x="1174750" y="1335088"/>
          <p14:tracePt t="32008" x="1174750" y="1355725"/>
          <p14:tracePt t="32012" x="1169988" y="1379538"/>
          <p14:tracePt t="32013" x="1169988" y="1384300"/>
          <p14:tracePt t="32016" x="1165225" y="1398588"/>
          <p14:tracePt t="32020" x="1155700" y="1423988"/>
          <p14:tracePt t="32021" x="1150938" y="1423988"/>
          <p14:tracePt t="32021" x="1150938" y="1428750"/>
          <p14:tracePt t="32025" x="1139825" y="1443038"/>
          <p14:tracePt t="32029" x="1120775" y="1466850"/>
          <p14:tracePt t="32033" x="1096963" y="1482725"/>
          <p14:tracePt t="32037" x="1077913" y="1497013"/>
          <p14:tracePt t="32041" x="1047750" y="1511300"/>
          <p14:tracePt t="32045" x="1019175" y="1516063"/>
          <p14:tracePt t="32046" x="1009650" y="1525588"/>
          <p14:tracePt t="32050" x="979488" y="1530350"/>
          <p14:tracePt t="32054" x="946150" y="1539875"/>
          <p14:tracePt t="32058" x="906463" y="1546225"/>
          <p14:tracePt t="32062" x="873125" y="1546225"/>
          <p14:tracePt t="32066" x="833438" y="1555750"/>
          <p14:tracePt t="32067" x="828675" y="1555750"/>
          <p14:tracePt t="32070" x="804863" y="1555750"/>
          <p14:tracePt t="32071" x="800100" y="1555750"/>
          <p14:tracePt t="32075" x="774700" y="1560513"/>
          <p14:tracePt t="32079" x="755650" y="1560513"/>
          <p14:tracePt t="32083" x="746125" y="1560513"/>
          <p14:tracePt t="32110" x="750888" y="1560513"/>
          <p14:tracePt t="32111" x="750888" y="1570038"/>
          <p14:tracePt t="32116" x="788988" y="1570038"/>
          <p14:tracePt t="32121" x="819150" y="1574800"/>
          <p14:tracePt t="32121" x="823913" y="1574800"/>
          <p14:tracePt t="32121" x="833438" y="1574800"/>
          <p14:tracePt t="32125" x="877888" y="1589088"/>
          <p14:tracePt t="32125" x="882650" y="1589088"/>
          <p14:tracePt t="32126" x="892175" y="1589088"/>
          <p14:tracePt t="32129" x="925513" y="1598613"/>
          <p14:tracePt t="32129" x="941388" y="1598613"/>
          <p14:tracePt t="32130" x="950913" y="1603375"/>
          <p14:tracePt t="32130" x="955675" y="1603375"/>
          <p14:tracePt t="32131" x="965200" y="1603375"/>
          <p14:tracePt t="32131" x="969963" y="1603375"/>
          <p14:tracePt t="32132" x="979488" y="1614488"/>
          <p14:tracePt t="32132" x="984250" y="1614488"/>
          <p14:tracePt t="32133" x="1009650" y="1619250"/>
          <p14:tracePt t="32134" x="1014413" y="1619250"/>
          <p14:tracePt t="32134" x="1023938" y="1619250"/>
          <p14:tracePt t="32135" x="1028700" y="1619250"/>
          <p14:tracePt t="32135" x="1042988" y="1628775"/>
          <p14:tracePt t="32136" x="1052513" y="1628775"/>
          <p14:tracePt t="32137" x="1057275" y="1628775"/>
          <p14:tracePt t="32138" x="1087438" y="1633538"/>
          <p14:tracePt t="32138" x="1101725" y="1643063"/>
          <p14:tracePt t="32139" x="1111250" y="1643063"/>
          <p14:tracePt t="32139" x="1116013" y="1643063"/>
          <p14:tracePt t="32140" x="1130300" y="1647825"/>
          <p14:tracePt t="32140" x="1139825" y="1647825"/>
          <p14:tracePt t="32141" x="1155700" y="1647825"/>
          <p14:tracePt t="32141" x="1160463" y="1647825"/>
          <p14:tracePt t="32142" x="1174750" y="1657350"/>
          <p14:tracePt t="32142" x="1184275" y="1657350"/>
          <p14:tracePt t="32143" x="1198563" y="1662113"/>
          <p14:tracePt t="32143" x="1203325" y="1662113"/>
          <p14:tracePt t="32144" x="1228725" y="1671638"/>
          <p14:tracePt t="32145" x="1243013" y="1671638"/>
          <p14:tracePt t="32146" x="1271588" y="1676400"/>
          <p14:tracePt t="32147" x="1287463" y="1676400"/>
          <p14:tracePt t="32147" x="1292225" y="1687513"/>
          <p14:tracePt t="32148" x="1306513" y="1687513"/>
          <p14:tracePt t="32150" x="1344613" y="1692275"/>
          <p14:tracePt t="32150" x="1349375" y="1692275"/>
          <p14:tracePt t="32150" x="1365250" y="1701800"/>
          <p14:tracePt t="32154" x="1447800" y="1716088"/>
          <p14:tracePt t="32158" x="1539875" y="1735138"/>
          <p14:tracePt t="32158" x="1554163" y="1744663"/>
          <p14:tracePt t="32159" x="1570038" y="1744663"/>
          <p14:tracePt t="32159" x="1579563" y="1744663"/>
          <p14:tracePt t="32162" x="1643063" y="1765300"/>
          <p14:tracePt t="32163" x="1652588" y="1765300"/>
          <p14:tracePt t="32166" x="1744663" y="1793875"/>
          <p14:tracePt t="32167" x="1758950" y="1803400"/>
          <p14:tracePt t="32167" x="1774825" y="1803400"/>
          <p14:tracePt t="32168" x="1784350" y="1808163"/>
          <p14:tracePt t="32168" x="1798638" y="1808163"/>
          <p14:tracePt t="32169" x="1803400" y="1819275"/>
          <p14:tracePt t="32171" x="1843088" y="1833563"/>
          <p14:tracePt t="32171" x="1857375" y="1833563"/>
          <p14:tracePt t="32171" x="1862138" y="1838325"/>
          <p14:tracePt t="32172" x="1876425" y="1847850"/>
          <p14:tracePt t="32175" x="1935163" y="1866900"/>
          <p14:tracePt t="32175" x="1949450" y="1876425"/>
          <p14:tracePt t="32175" x="1958975" y="1881188"/>
          <p14:tracePt t="32179" x="2036763" y="1925638"/>
          <p14:tracePt t="32179" x="2052638" y="1935163"/>
          <p14:tracePt t="32183" x="2135188" y="1979613"/>
          <p14:tracePt t="32184" x="2139950" y="1984375"/>
          <p14:tracePt t="32184" x="2154238" y="1993900"/>
          <p14:tracePt t="32187" x="2227263" y="2052638"/>
          <p14:tracePt t="32188" x="2241550" y="2066925"/>
          <p14:tracePt t="32188" x="2252663" y="2071688"/>
          <p14:tracePt t="32189" x="2257425" y="2081213"/>
          <p14:tracePt t="32191" x="2309813" y="2125663"/>
          <p14:tracePt t="32192" x="2325688" y="2139950"/>
          <p14:tracePt t="32192" x="2330450" y="2144713"/>
          <p14:tracePt t="32193" x="2339975" y="2159000"/>
          <p14:tracePt t="32193" x="2354263" y="2170113"/>
          <p14:tracePt t="32196" x="2387600" y="2212975"/>
          <p14:tracePt t="32196" x="2398713" y="2217738"/>
          <p14:tracePt t="32196" x="2403475" y="2233613"/>
          <p14:tracePt t="32197" x="2417763" y="2243138"/>
          <p14:tracePt t="32197" x="2427288" y="2257425"/>
          <p14:tracePt t="32200" x="2462213" y="2316163"/>
          <p14:tracePt t="32200" x="2471738" y="2330450"/>
          <p14:tracePt t="32201" x="2476500" y="2344738"/>
          <p14:tracePt t="32201" x="2486025" y="2349500"/>
          <p14:tracePt t="32202" x="2490788" y="2363788"/>
          <p14:tracePt t="32204" x="2519363" y="2417763"/>
          <p14:tracePt t="32204" x="2530475" y="2432050"/>
          <p14:tracePt t="32205" x="2535238" y="2447925"/>
          <p14:tracePt t="32208" x="2563813" y="2535238"/>
          <p14:tracePt t="32212" x="2608263" y="2671763"/>
          <p14:tracePt t="32213" x="2617788" y="2686050"/>
          <p14:tracePt t="32213" x="2617788" y="2700338"/>
          <p14:tracePt t="32214" x="2622550" y="2716213"/>
          <p14:tracePt t="32216" x="2636838" y="2798763"/>
          <p14:tracePt t="32221" x="2676525" y="2930525"/>
          <p14:tracePt t="32221" x="2676525" y="2949575"/>
          <p14:tracePt t="32221" x="2681288" y="2963863"/>
          <p14:tracePt t="32222" x="2681288" y="2978150"/>
          <p14:tracePt t="32222" x="2690813" y="3003550"/>
          <p14:tracePt t="32223" x="2690813" y="3017838"/>
          <p14:tracePt t="32225" x="2705100" y="3090863"/>
          <p14:tracePt t="32229" x="2733675" y="3227388"/>
          <p14:tracePt t="32229" x="2740025" y="3241675"/>
          <p14:tracePt t="32230" x="2740025" y="3255963"/>
          <p14:tracePt t="32230" x="2749550" y="3281363"/>
          <p14:tracePt t="32231" x="2754313" y="3295650"/>
          <p14:tracePt t="32231" x="2754313" y="3314700"/>
          <p14:tracePt t="32232" x="2763838" y="3330575"/>
          <p14:tracePt t="32234" x="2768600" y="3387725"/>
          <p14:tracePt t="32234" x="2782888" y="3417888"/>
          <p14:tracePt t="32235" x="2782888" y="3441700"/>
          <p14:tracePt t="32236" x="2792413" y="3476625"/>
          <p14:tracePt t="32237" x="2797175" y="3490913"/>
          <p14:tracePt t="32238" x="2813050" y="3549650"/>
          <p14:tracePt t="32239" x="2822575" y="3587750"/>
          <p14:tracePt t="32239" x="2827338" y="3603625"/>
          <p14:tracePt t="32240" x="2836863" y="3622675"/>
          <p14:tracePt t="32240" x="2836863" y="3636963"/>
          <p14:tracePt t="32241" x="2841625" y="3651250"/>
          <p14:tracePt t="32242" x="2851150" y="3690938"/>
          <p14:tracePt t="32243" x="2855913" y="3709988"/>
          <p14:tracePt t="32244" x="2870200" y="3763963"/>
          <p14:tracePt t="32244" x="2881313" y="3783013"/>
          <p14:tracePt t="32245" x="2881313" y="3797300"/>
          <p14:tracePt t="32246" x="2895600" y="3836988"/>
          <p14:tracePt t="32250" x="2928938" y="3973513"/>
          <p14:tracePt t="32250" x="2938463" y="3987800"/>
          <p14:tracePt t="32251" x="2943225" y="4013200"/>
          <p14:tracePt t="32251" x="2954338" y="4027488"/>
          <p14:tracePt t="32252" x="2954338" y="4041775"/>
          <p14:tracePt t="32252" x="2959100" y="4060825"/>
          <p14:tracePt t="32253" x="2968625" y="4075113"/>
          <p14:tracePt t="32253" x="2968625" y="4090988"/>
          <p14:tracePt t="32254" x="2973388" y="4114800"/>
          <p14:tracePt t="32254" x="2982913" y="4129088"/>
          <p14:tracePt t="32255" x="2987675" y="4143375"/>
          <p14:tracePt t="32256" x="2997200" y="4159250"/>
          <p14:tracePt t="32257" x="3001963" y="4192588"/>
          <p14:tracePt t="32258" x="3017838" y="4237038"/>
          <p14:tracePt t="32258" x="3027363" y="4260850"/>
          <p14:tracePt t="32259" x="3032125" y="4275138"/>
          <p14:tracePt t="32259" x="3041650" y="4291013"/>
          <p14:tracePt t="32260" x="3041650" y="4305300"/>
          <p14:tracePt t="32260" x="3046413" y="4319588"/>
          <p14:tracePt t="32261" x="3055938" y="4333875"/>
          <p14:tracePt t="32261" x="3060700" y="4348163"/>
          <p14:tracePt t="32262" x="3060700" y="4368800"/>
          <p14:tracePt t="32262" x="3070225" y="4383088"/>
          <p14:tracePt t="32263" x="3074988" y="4397375"/>
          <p14:tracePt t="32263" x="3086100" y="4411663"/>
          <p14:tracePt t="32264" x="3090863" y="4427538"/>
          <p14:tracePt t="32264" x="3090863" y="4441825"/>
          <p14:tracePt t="32265" x="3100388" y="4456113"/>
          <p14:tracePt t="32265" x="3105150" y="4470400"/>
          <p14:tracePt t="32266" x="3114675" y="4484688"/>
          <p14:tracePt t="32266" x="3114675" y="4500563"/>
          <p14:tracePt t="32267" x="3119438" y="4514850"/>
          <p14:tracePt t="32268" x="3133725" y="4543425"/>
          <p14:tracePt t="32270" x="3163888" y="4611688"/>
          <p14:tracePt t="32271" x="3163888" y="4625975"/>
          <p14:tracePt t="32271" x="3173413" y="4641850"/>
          <p14:tracePt t="32272" x="3178175" y="4656138"/>
          <p14:tracePt t="32273" x="3187700" y="4670425"/>
          <p14:tracePt t="32275" x="3206750" y="4729163"/>
          <p14:tracePt t="32276" x="3216275" y="4743450"/>
          <p14:tracePt t="32279" x="3251200" y="4830763"/>
          <p14:tracePt t="32283" x="3289300" y="4919663"/>
          <p14:tracePt t="32283" x="3295650" y="4924425"/>
          <p14:tracePt t="32284" x="3305175" y="4938713"/>
          <p14:tracePt t="32284" x="3305175" y="4948238"/>
          <p14:tracePt t="32285" x="3309938" y="4962525"/>
          <p14:tracePt t="32285" x="3319463" y="4967288"/>
          <p14:tracePt t="32286" x="3319463" y="4978400"/>
          <p14:tracePt t="32286" x="3324225" y="4992688"/>
          <p14:tracePt t="32287" x="3333750" y="5006975"/>
          <p14:tracePt t="32288" x="3338513" y="5021263"/>
          <p14:tracePt t="32288" x="3338513" y="5026025"/>
          <p14:tracePt t="32289" x="3348038" y="5051425"/>
          <p14:tracePt t="32291" x="3368675" y="5080000"/>
          <p14:tracePt t="32292" x="3368675" y="5084763"/>
          <p14:tracePt t="32292" x="3378200" y="5099050"/>
          <p14:tracePt t="32293" x="3378200" y="5110163"/>
          <p14:tracePt t="32293" x="3382963" y="5114925"/>
          <p14:tracePt t="32294" x="3382963" y="5124450"/>
          <p14:tracePt t="34305" x="0" y="0"/>
        </p14:tracePtLst>
      </p14:laserTraceLst>
    </p:ext>
  </p:extLs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Online Softmax: Numerical Example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242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Scores = [1, 3, 2, 4]     Block 1 = [1, 3]  (m₁ = 3)     Block 2 = [2, 4]  (m₂ = 4)</a:t>
            </a:r>
            <a:endParaRPr lang="en-US" sz="1400" dirty="0"/>
          </a:p>
        </p:txBody>
      </p:sp>
      <p:pic>
        <p:nvPicPr>
          <p:cNvPr id="4" name="Image 0" descr="/home/claude/formulas/n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99" y="1097279"/>
            <a:ext cx="2161583" cy="617595"/>
          </a:xfrm>
          <a:prstGeom prst="rect">
            <a:avLst/>
          </a:prstGeom>
        </p:spPr>
      </p:pic>
      <p:pic>
        <p:nvPicPr>
          <p:cNvPr id="5" name="Image 1" descr="/home/claude/formulas/n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785" y="1572768"/>
            <a:ext cx="3359809" cy="644877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926080" y="16916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 = 4</a:t>
            </a:r>
            <a:endParaRPr lang="en-US" sz="1400" dirty="0"/>
          </a:p>
        </p:txBody>
      </p:sp>
      <p:pic>
        <p:nvPicPr>
          <p:cNvPr id="7" name="Image 2" descr="/home/claude/formulas/n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785" y="2073215"/>
            <a:ext cx="3748802" cy="617595"/>
          </a:xfrm>
          <a:prstGeom prst="rect">
            <a:avLst/>
          </a:prstGeom>
        </p:spPr>
      </p:pic>
      <p:pic>
        <p:nvPicPr>
          <p:cNvPr id="8" name="Image 3" descr="/home/claude/formulas/n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1785" y="2552037"/>
            <a:ext cx="4201984" cy="587690"/>
          </a:xfrm>
          <a:prstGeom prst="rect">
            <a:avLst/>
          </a:prstGeom>
        </p:spPr>
      </p:pic>
      <p:sp>
        <p:nvSpPr>
          <p:cNvPr id="9" name="Shape 3"/>
          <p:cNvSpPr/>
          <p:nvPr/>
        </p:nvSpPr>
        <p:spPr>
          <a:xfrm>
            <a:off x="411480" y="3456432"/>
            <a:ext cx="5878393" cy="1682496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4"/>
          <p:cNvSpPr/>
          <p:nvPr/>
        </p:nvSpPr>
        <p:spPr>
          <a:xfrm>
            <a:off x="548640" y="352044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Block 1 (m₁ = 3):</a:t>
            </a:r>
            <a:endParaRPr lang="en-US" sz="1400" dirty="0"/>
          </a:p>
        </p:txBody>
      </p:sp>
      <p:sp>
        <p:nvSpPr>
          <p:cNvPr id="11" name="Text 5"/>
          <p:cNvSpPr/>
          <p:nvPr/>
        </p:nvSpPr>
        <p:spPr>
          <a:xfrm>
            <a:off x="3246120" y="3520440"/>
            <a:ext cx="777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o₁  =</a:t>
            </a:r>
            <a:endParaRPr lang="en-US" sz="1400" dirty="0"/>
          </a:p>
        </p:txBody>
      </p:sp>
      <p:pic>
        <p:nvPicPr>
          <p:cNvPr id="12" name="Image 4" descr="/home/claude/formulas/ne1_fra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97366" y="3456432"/>
            <a:ext cx="4889434" cy="628462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548640" y="4069080"/>
            <a:ext cx="8046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 2 arrives (m₂ = 4), m = 4, correction = e^(3-4) = 0.368:</a:t>
            </a:r>
            <a:endParaRPr lang="en-US" sz="1400" dirty="0"/>
          </a:p>
        </p:txBody>
      </p:sp>
      <p:sp>
        <p:nvSpPr>
          <p:cNvPr id="14" name="Text 7"/>
          <p:cNvSpPr/>
          <p:nvPr/>
        </p:nvSpPr>
        <p:spPr>
          <a:xfrm>
            <a:off x="548640" y="4370832"/>
            <a:ext cx="777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o₂  =</a:t>
            </a:r>
            <a:endParaRPr lang="en-US" sz="1400" dirty="0"/>
          </a:p>
        </p:txBody>
      </p:sp>
      <p:pic>
        <p:nvPicPr>
          <p:cNvPr id="15" name="Image 5" descr="/home/claude/formulas/ne2_frac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01777" y="4306824"/>
            <a:ext cx="5003322" cy="630936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548640" y="4901184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softmax(x₁) = 0.050 / 1.553 = 0.032  ✓</a:t>
            </a:r>
            <a:endParaRPr lang="en-US" sz="1400" dirty="0"/>
          </a:p>
        </p:txBody>
      </p:sp>
      <p:sp>
        <p:nvSpPr>
          <p:cNvPr id="17" name="Text 9"/>
          <p:cNvSpPr/>
          <p:nvPr/>
        </p:nvSpPr>
        <p:spPr>
          <a:xfrm>
            <a:off x="8503920" y="480060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BDBD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200" dirty="0"/>
          </a:p>
        </p:txBody>
      </p:sp>
      <p:sp>
        <p:nvSpPr>
          <p:cNvPr id="9601" name="Caption_Figure_5"/>
          <p:cNvSpPr txBox="1"/>
          <p:nvPr/>
        </p:nvSpPr>
        <p:spPr>
          <a:xfrm>
            <a:off x="457200" y="3246120"/>
            <a:ext cx="8229600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lang="en-US" sz="1400" b="1" i="0" dirty="0">
                <a:solidFill>
                  <a:srgbClr val="404040"/>
                </a:solidFill>
                <a:latin typeface="Calibri" pitchFamily="34" charset="0"/>
              </a:rPr>
              <a:t>Figure 5. </a:t>
            </a:r>
            <a:r>
              <a:rPr lang="en-US" sz="1400" b="0" i="1" dirty="0">
                <a:solidFill>
                  <a:srgbClr val="595959"/>
                </a:solidFill>
                <a:latin typeface="Calibri" pitchFamily="34" charset="0"/>
              </a:rPr>
              <a:t>Online softmax numerical example with scores [1, 3, 2, 4].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8382"/>
    </mc:Choice>
    <mc:Fallback xmlns="">
      <p:transition spd="slow" advTm="38382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FlashAttention-3: Three-Way Async Pipeline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Warp Specialization: Producer (TMA) + Consumer (WGMMA + MUFU) with circular SMEM buffer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82880" y="242316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Producer</a:t>
            </a:r>
            <a:endParaRPr lang="en-US" sz="1400" dirty="0"/>
          </a:p>
          <a:p>
            <a:pPr marL="0" indent="0" algn="r">
              <a:buNone/>
            </a:pPr>
            <a:r>
              <a:rPr lang="en-US" sz="14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(TMA load)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82880" y="315468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Consumer</a:t>
            </a:r>
            <a:endParaRPr lang="en-US" sz="1400" dirty="0"/>
          </a:p>
          <a:p>
            <a:pPr marL="0" indent="0" algn="r">
              <a:buNone/>
            </a:pPr>
            <a:r>
              <a:rPr lang="en-US" sz="14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(WGMMA)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82880" y="388620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Softmax</a:t>
            </a:r>
            <a:endParaRPr lang="en-US" sz="1400" dirty="0"/>
          </a:p>
          <a:p>
            <a:pPr marL="0" indent="0" algn="r">
              <a:buNone/>
            </a:pPr>
            <a:r>
              <a:rPr lang="en-US" sz="14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(MUFU)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05054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→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463040" y="2322576"/>
            <a:ext cx="5303520" cy="0"/>
          </a:xfrm>
          <a:prstGeom prst="line">
            <a:avLst/>
          </a:prstGeom>
          <a:noFill/>
          <a:ln w="9525">
            <a:solidFill>
              <a:srgbClr val="BDBDBD"/>
            </a:solidFill>
            <a:prstDash val="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1737360" y="199339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BDBD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788920" y="199339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BDBD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840480" y="199339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BDBD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92040" y="199339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BDBD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T4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943600" y="199339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BDBD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T5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463040" y="2423160"/>
            <a:ext cx="914400" cy="502920"/>
          </a:xfrm>
          <a:prstGeom prst="rect">
            <a:avLst/>
          </a:prstGeom>
          <a:solidFill>
            <a:srgbClr val="FFFFFF"/>
          </a:solidFill>
          <a:ln w="15875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1463040" y="242316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K₁V₁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514600" y="2423160"/>
            <a:ext cx="914400" cy="502920"/>
          </a:xfrm>
          <a:prstGeom prst="rect">
            <a:avLst/>
          </a:prstGeom>
          <a:solidFill>
            <a:srgbClr val="FFFFFF"/>
          </a:solidFill>
          <a:ln w="15875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2514600" y="242316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K₂V₂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566160" y="2423160"/>
            <a:ext cx="914400" cy="502920"/>
          </a:xfrm>
          <a:prstGeom prst="rect">
            <a:avLst/>
          </a:prstGeom>
          <a:solidFill>
            <a:srgbClr val="FFFFFF"/>
          </a:solidFill>
          <a:ln w="15875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3566160" y="242316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K₃V₃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617720" y="2423160"/>
            <a:ext cx="914400" cy="502920"/>
          </a:xfrm>
          <a:prstGeom prst="rect">
            <a:avLst/>
          </a:prstGeom>
          <a:solidFill>
            <a:srgbClr val="FFFFFF"/>
          </a:solidFill>
          <a:ln w="15875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4617720" y="242316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K₄V₄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2514600" y="3154680"/>
            <a:ext cx="914400" cy="502920"/>
          </a:xfrm>
          <a:prstGeom prst="rect">
            <a:avLst/>
          </a:prstGeom>
          <a:solidFill>
            <a:srgbClr val="FFFFFF"/>
          </a:solidFill>
          <a:ln w="15875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2514600" y="315468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QK₁ᵀ GEMM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566160" y="3154680"/>
            <a:ext cx="914400" cy="502920"/>
          </a:xfrm>
          <a:prstGeom prst="rect">
            <a:avLst/>
          </a:prstGeom>
          <a:solidFill>
            <a:srgbClr val="FFFFFF"/>
          </a:solidFill>
          <a:ln w="15875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3566160" y="315468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QK₂ᵀ GEMM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617720" y="3154680"/>
            <a:ext cx="914400" cy="502920"/>
          </a:xfrm>
          <a:prstGeom prst="rect">
            <a:avLst/>
          </a:prstGeom>
          <a:solidFill>
            <a:srgbClr val="FFFFFF"/>
          </a:solidFill>
          <a:ln w="15875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4617720" y="315468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P₁V₁ GEMM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669280" y="3154680"/>
            <a:ext cx="914400" cy="502920"/>
          </a:xfrm>
          <a:prstGeom prst="rect">
            <a:avLst/>
          </a:prstGeom>
          <a:solidFill>
            <a:srgbClr val="FFFFFF"/>
          </a:solidFill>
          <a:ln w="15875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5669280" y="315468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P₂V₂ GEMM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566160" y="3886200"/>
            <a:ext cx="914400" cy="502920"/>
          </a:xfrm>
          <a:prstGeom prst="rect">
            <a:avLst/>
          </a:prstGeom>
          <a:solidFill>
            <a:srgbClr val="FFFFFF"/>
          </a:solidFill>
          <a:ln w="15875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3566160" y="388620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softmax₁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4617720" y="3886200"/>
            <a:ext cx="914400" cy="502920"/>
          </a:xfrm>
          <a:prstGeom prst="rect">
            <a:avLst/>
          </a:prstGeom>
          <a:solidFill>
            <a:srgbClr val="FFFFFF"/>
          </a:solidFill>
          <a:ln w="15875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4617720" y="388620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softmax₂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3493008" y="2350008"/>
            <a:ext cx="2112264" cy="2112264"/>
          </a:xfrm>
          <a:prstGeom prst="rect">
            <a:avLst/>
          </a:prstGeom>
          <a:solidFill>
            <a:srgbClr val="FFFFFF">
              <a:alpha val="0"/>
            </a:srgbClr>
          </a:solidFill>
          <a:ln w="22225">
            <a:solidFill>
              <a:srgbClr val="E65100"/>
            </a:solidFill>
            <a:prstDash val="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3493008" y="4498848"/>
            <a:ext cx="21122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3 units active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457200" y="1019556"/>
            <a:ext cx="79552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matters: </a:t>
            </a: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H100 matmul = 989 TFLOPS, but exp (softmax) = 3.9 TFLOPS — 256× gap. Serial = idle HW.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setmaxnreg: </a:t>
            </a: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producer warps donate registers to consumer → larger GEMM tiles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Circular SMEM buffer: </a:t>
            </a: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classic OS producer-consumer + ring buffer (double/triple buffering)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8503920" y="480060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BDBD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200" dirty="0"/>
          </a:p>
        </p:txBody>
      </p:sp>
      <p:sp>
        <p:nvSpPr>
          <p:cNvPr id="9701" name="Caption_Figure_6"/>
          <p:cNvSpPr txBox="1"/>
          <p:nvPr/>
        </p:nvSpPr>
        <p:spPr>
          <a:xfrm>
            <a:off x="457200" y="4846320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lang="en-US" sz="1400" b="1" i="0" dirty="0">
                <a:solidFill>
                  <a:srgbClr val="404040"/>
                </a:solidFill>
                <a:latin typeface="Calibri" pitchFamily="34" charset="0"/>
              </a:rPr>
              <a:t>Figure 2. </a:t>
            </a:r>
            <a:r>
              <a:rPr lang="en-US" sz="1400" b="0" i="1" dirty="0">
                <a:solidFill>
                  <a:srgbClr val="595959"/>
                </a:solidFill>
                <a:latin typeface="Calibri" pitchFamily="34" charset="0"/>
              </a:rPr>
              <a:t>FlashAttention-3 three-way async pipeline — TMA producer + WGMMA consumer + MUFU softmax.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7923"/>
    </mc:Choice>
    <mc:Fallback xmlns="">
      <p:transition spd="slow" advTm="77923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FlashAttention Performance Comparison</a:t>
            </a:r>
            <a:endParaRPr lang="en-US" sz="22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371600"/>
          <a:ext cx="7315200" cy="201168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42424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42424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H100 TFLOPS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42424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Utilization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42424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vs FA2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FlashAttention-2  (baseline)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~350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~35%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1.0×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FlashAttention-3  BF16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~840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~85%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2.4×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565C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FlashAttention-3  FP8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565C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~1,300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565C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3.7×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27220" y="3650105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FA3 nearly doubles utilization on H100 by adding the temporal pipeline (Layer 2). FP8 squeezes out another 1.5× on top.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503920" y="480060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BDBD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200" dirty="0"/>
          </a:p>
        </p:txBody>
      </p:sp>
      <p:sp>
        <p:nvSpPr>
          <p:cNvPr id="9801" name="Caption_Table_3"/>
          <p:cNvSpPr txBox="1"/>
          <p:nvPr/>
        </p:nvSpPr>
        <p:spPr>
          <a:xfrm>
            <a:off x="914400" y="1051560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lang="en-US" sz="1400" b="1" i="0" dirty="0">
                <a:solidFill>
                  <a:srgbClr val="404040"/>
                </a:solidFill>
                <a:latin typeface="Calibri" pitchFamily="34" charset="0"/>
              </a:rPr>
              <a:t>Table 3. </a:t>
            </a:r>
            <a:r>
              <a:rPr lang="en-US" sz="1400" b="0" i="1" dirty="0">
                <a:solidFill>
                  <a:srgbClr val="595959"/>
                </a:solidFill>
                <a:latin typeface="Calibri" pitchFamily="34" charset="0"/>
              </a:rPr>
              <a:t>FlashAttention performance comparison on H100 (BF16/FP8).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4256"/>
    </mc:Choice>
    <mc:Fallback xmlns="">
      <p:transition spd="slow" advTm="24256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IV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240280"/>
            <a:ext cx="7772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Recomputation:</a:t>
            </a:r>
            <a:endParaRPr lang="en-US" sz="3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FlashAttention Backward + Gradient Checkpointing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503920" y="480060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BDBD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973"/>
    </mc:Choice>
    <mc:Fallback xmlns="">
      <p:transition spd="slow" advTm="10973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FlashAttention Backward: Recomputation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Don't store the N×N attention matrices — regenerate them on-chip during the backward pass.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backward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39319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 stores S, P (each N×N) in HBM.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Backward reads them back to compute gradients.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Memory: </a:t>
            </a: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O(N²) per layer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754880" y="11887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 backward (recomputation)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754880" y="1463040"/>
            <a:ext cx="39319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 stores only the log-sum-exp </a:t>
            </a:r>
            <a:r>
              <a:rPr lang="en-US" sz="14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L_i </a:t>
            </a: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(size N).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Backward recomputes S, P block-by-block from Q, K, V.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Memory: </a:t>
            </a: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O(N) per layer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9077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is recompute so cheap?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20040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Because L_i = m_i + log(ℓ_i) was already computed and saved in forward. So in backward: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575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1.  </a:t>
            </a:r>
            <a:r>
              <a:rPr lang="en-US" sz="1200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S_ij = Q_i @ K_j.T</a:t>
            </a:r>
            <a:r>
              <a:rPr lang="en-US" sz="12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(one matmul, on-chip)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575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2.  </a:t>
            </a:r>
            <a:r>
              <a:rPr lang="en-US" sz="1200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P_ij = exp(S_ij − L_i)</a:t>
            </a:r>
            <a:r>
              <a:rPr lang="en-US" sz="12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(one elementwise op — no re-doing online softmax!)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3.  Use S, P with dO to compute dQ, dK, dV — all in SRAM, no HBM reads of N×N matrices.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4251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numbers (FA1 paper, GPT-2 medium on A100, seq 1024, batch 64):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44805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</a:t>
            </a: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66.6 GFLOPs,  </a:t>
            </a:r>
            <a:r>
              <a:rPr lang="en-US" sz="12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40.3 GB </a:t>
            </a: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HBM IO,  </a:t>
            </a:r>
            <a:r>
              <a:rPr lang="en-US" sz="12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41.7 ms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FlashAttention </a:t>
            </a: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75.2 GFLOPs </a:t>
            </a:r>
            <a:r>
              <a:rPr lang="en-US" sz="12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(+13%), </a:t>
            </a:r>
            <a:r>
              <a:rPr lang="en-US" sz="12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4.4 GB </a:t>
            </a: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HBM IO </a:t>
            </a:r>
            <a:r>
              <a:rPr lang="en-US" sz="12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(9× less), </a:t>
            </a:r>
            <a:r>
              <a:rPr lang="en-US" sz="12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7.3 ms </a:t>
            </a: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</a:t>
            </a:r>
            <a:r>
              <a:rPr lang="en-US" sz="12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5.7× faster</a:t>
            </a: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489204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Attention is memory-bound. Trading +13% FLOPs for 9× less HBM IO is a huge win.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503920" y="480060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BDBD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5797"/>
    </mc:Choice>
    <mc:Fallback xmlns="">
      <p:transition spd="slow" advTm="115797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Gradient Checkpointing (1/2): The Activation Problem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 pass must store every layer's activation for backward — activation memory scales with depth L.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activations dominate memory (not weights)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393192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 size. Shared across all inputs.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7B model FP16: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14 GB  (always, regardless of batch)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NOT grow with: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•  batch size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•  sequence length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754880" y="160020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Activations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754880" y="1920240"/>
            <a:ext cx="393192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Per-sample × per-layer intermediate state.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7B, batch=8, seq=2048: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32 layers × ~1.3 GB/layer ≈ 40 GB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GROWS linearly with: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•  batch × sequence × layers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749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GB</a:t>
            </a:r>
            <a:r>
              <a:rPr lang="en-US" sz="18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vs   </a:t>
            </a:r>
            <a:r>
              <a:rPr lang="en-US" sz="32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 GB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Activations are ~3× larger than weights and grow with batch / seq. With long context they can exceed 10× the weight memory.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503920" y="480060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BDBD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8332"/>
    </mc:Choice>
    <mc:Fallback xmlns="">
      <p:transition spd="slow" advTm="98332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Gradient Checkpointing (2/2): The √L Solution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Don't store everything. Store one checkpoint every √L layers. Recompute the rest during backward.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Standard: store all activations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[L1]→[L2]→[L3]→[L4]→[L5]→[L6]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✓   ✓   ✓   ✓   ✓   ✓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Memory: O(L)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754880" y="123444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Checkpointed: store every √L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754880" y="155448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[L1]→ x  →[L3]→ x  →[L5]→ x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✓  free  ✓  free  ✓  free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Memory: O(√L)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697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√L?  Minimize total memory:  L/k checkpoints + k layers buffered during recompute</a:t>
            </a:r>
            <a:endParaRPr lang="en-US" sz="1400" dirty="0"/>
          </a:p>
        </p:txBody>
      </p:sp>
      <p:pic>
        <p:nvPicPr>
          <p:cNvPr id="9" name="Image 0" descr="/home/claude/formulas/gc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2988" y="2926080"/>
            <a:ext cx="2478024" cy="475488"/>
          </a:xfrm>
          <a:prstGeom prst="rect">
            <a:avLst/>
          </a:prstGeom>
        </p:spPr>
      </p:pic>
      <p:pic>
        <p:nvPicPr>
          <p:cNvPr id="10" name="Image 1" descr="/home/claude/formulas/gc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6080" y="3291840"/>
            <a:ext cx="3291840" cy="475488"/>
          </a:xfrm>
          <a:prstGeom prst="rect">
            <a:avLst/>
          </a:prstGeom>
        </p:spPr>
      </p:pic>
      <p:pic>
        <p:nvPicPr>
          <p:cNvPr id="11" name="Image 2" descr="/home/claude/formulas/gc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26080" y="3657600"/>
            <a:ext cx="3291840" cy="47548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208363" y="433882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Trade-off: </a:t>
            </a:r>
            <a:r>
              <a:rPr lang="en-US" sz="12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~33% extra compute (one extra forward pass during backward)    </a:t>
            </a:r>
            <a:r>
              <a:rPr lang="en-US" sz="1200" b="1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analogy: </a:t>
            </a:r>
            <a:r>
              <a:rPr lang="en-US" sz="12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swap / demand paging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457200" y="4773168"/>
            <a:ext cx="834802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575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torch.utils.checkpoint import checkpoint;  x = checkpoint(self.attn, x, use_reentrant=False)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8617845" y="4841073"/>
            <a:ext cx="46019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BDBD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2925"/>
    </mc:Choice>
    <mc:Fallback xmlns="">
      <p:transition spd="slow" advTm="132925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V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240280"/>
            <a:ext cx="7772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503920" y="480060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BDBD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42"/>
    </mc:Choice>
    <mc:Fallback xmlns="">
      <p:transition spd="slow" advTm="1342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Ideas, Different Hardware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memory-management problems are not new — they appear across the systems stack</a:t>
            </a:r>
            <a:endParaRPr lang="en-US" sz="12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3502410"/>
              </p:ext>
            </p:extLst>
          </p:nvPr>
        </p:nvGraphicFramePr>
        <p:xfrm>
          <a:off x="365760" y="1899637"/>
          <a:ext cx="8235596" cy="3156979"/>
        </p:xfrm>
        <a:graphic>
          <a:graphicData uri="http://schemas.openxmlformats.org/drawingml/2006/table">
            <a:tbl>
              <a:tblPr/>
              <a:tblGrid>
                <a:gridCol w="25064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226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064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726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42424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GPU Technique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9517" marR="89517" marT="44759" marB="44759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42424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Mechanism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9517" marR="89517" marT="44759" marB="44759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42424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Related Idea in OS / Systems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9517" marR="89517" marT="44759" marB="44759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5973">
                <a:tc gridSpan="3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565C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  Tiling Strategy  (working set &gt; SRAM)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9517" marR="89517" marT="44759" marB="44759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597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 tiling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9517" marR="89517" marT="44759" marB="44759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Compute on blocks that fit SRAM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9517" marR="89517" marT="44759" marB="44759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Cache blocking / loop tiling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9517" marR="89517" marT="44759" marB="44759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726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FA3 warp specialization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9517" marR="89517" marT="44759" marB="44759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Producer-consumer with ring buffer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9517" marR="89517" marT="44759" marB="44759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Async I/O pipelines, DMA double-buffering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9517" marR="89517" marT="44759" marB="44759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5973">
                <a:tc gridSpan="3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  Recomputation Strategy  (working set &gt; HBM)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9517" marR="89517" marT="44759" marB="44759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726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 recomputation (backward)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9517" marR="89517" marT="44759" marB="44759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Drop S, P; recompute from Q, K, V on-chip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9517" marR="89517" marT="44759" marB="44759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Trade compute for memory (within attention)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9517" marR="89517" marT="44759" marB="44759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726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Gradient Checkpointing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9517" marR="89517" marT="44759" marB="44759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Drop activations, recompute in backward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9517" marR="89517" marT="44759" marB="44759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Same idea, applied at layer granularity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9517" marR="89517" marT="44759" marB="44759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10789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hierarchies have always been about </a:t>
            </a:r>
            <a:r>
              <a:rPr lang="en-US" sz="1200" b="1" i="1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fast-but-small vs. slow-but-large. </a:t>
            </a:r>
            <a:r>
              <a:rPr lang="en-US" sz="1200" i="1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GPUs just made the gap more extreme.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8778240" y="4857562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BDBD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200" dirty="0"/>
          </a:p>
        </p:txBody>
      </p:sp>
      <p:sp>
        <p:nvSpPr>
          <p:cNvPr id="10101" name="Caption_Table_4"/>
          <p:cNvSpPr txBox="1"/>
          <p:nvPr/>
        </p:nvSpPr>
        <p:spPr>
          <a:xfrm>
            <a:off x="365760" y="1673352"/>
            <a:ext cx="8412480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lang="en-US" sz="1400" b="1" i="0" dirty="0">
                <a:solidFill>
                  <a:srgbClr val="404040"/>
                </a:solidFill>
                <a:latin typeface="Calibri" pitchFamily="34" charset="0"/>
              </a:rPr>
              <a:t>Table 4. </a:t>
            </a:r>
            <a:r>
              <a:rPr lang="en-US" sz="1400" b="0" i="1" dirty="0">
                <a:solidFill>
                  <a:srgbClr val="595959"/>
                </a:solidFill>
                <a:latin typeface="Calibri" pitchFamily="34" charset="0"/>
              </a:rPr>
              <a:t>GPU memory techniques and their analogues in classical OS/systems design.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0554"/>
    </mc:Choice>
    <mc:Fallback xmlns="">
      <p:transition spd="slow" advTm="80554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19456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8503920" y="480060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BDBD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883"/>
    </mc:Choice>
    <mc:Fallback xmlns="">
      <p:transition spd="slow" advTm="1883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2588</Words>
  <Application>Microsoft Office PowerPoint</Application>
  <PresentationFormat>全屏显示(16:9)</PresentationFormat>
  <Paragraphs>358</Paragraphs>
  <Slides>22</Slides>
  <Notes>22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26" baseType="lpstr">
      <vt:lpstr>Arial</vt:lpstr>
      <vt:lpstr>Calibri</vt:lpstr>
      <vt:lpstr>Consolas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PyTorch/CUDA GPU Memory Optimization</dc:title>
  <dc:subject>PptxGenJS Presentation</dc:subject>
  <dc:creator>Mike</dc:creator>
  <cp:lastModifiedBy>Yeh-Ching Chung</cp:lastModifiedBy>
  <cp:revision>5</cp:revision>
  <dcterms:created xsi:type="dcterms:W3CDTF">2026-04-12T03:49:23Z</dcterms:created>
  <dcterms:modified xsi:type="dcterms:W3CDTF">2026-04-26T11:49:17Z</dcterms:modified>
</cp:coreProperties>
</file>