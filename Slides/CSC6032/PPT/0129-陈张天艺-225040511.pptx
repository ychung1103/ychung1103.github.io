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7"/>
  </p:notesMasterIdLst>
  <p:sldIdLst>
    <p:sldId id="256" r:id="rId3"/>
    <p:sldId id="258" r:id="rId4"/>
    <p:sldId id="289" r:id="rId5"/>
    <p:sldId id="516" r:id="rId6"/>
    <p:sldId id="519" r:id="rId7"/>
    <p:sldId id="538" r:id="rId8"/>
    <p:sldId id="520" r:id="rId9"/>
    <p:sldId id="526" r:id="rId10"/>
    <p:sldId id="539" r:id="rId11"/>
    <p:sldId id="522" r:id="rId12"/>
    <p:sldId id="523" r:id="rId13"/>
    <p:sldId id="524" r:id="rId14"/>
    <p:sldId id="525" r:id="rId15"/>
    <p:sldId id="527" r:id="rId16"/>
    <p:sldId id="528" r:id="rId17"/>
    <p:sldId id="531" r:id="rId18"/>
    <p:sldId id="529" r:id="rId19"/>
    <p:sldId id="533" r:id="rId20"/>
    <p:sldId id="534" r:id="rId21"/>
    <p:sldId id="535" r:id="rId22"/>
    <p:sldId id="536" r:id="rId23"/>
    <p:sldId id="509" r:id="rId24"/>
    <p:sldId id="518" r:id="rId25"/>
    <p:sldId id="537" r:id="rId2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79521"/>
  </p:normalViewPr>
  <p:slideViewPr>
    <p:cSldViewPr snapToGrid="0">
      <p:cViewPr varScale="1">
        <p:scale>
          <a:sx n="93" d="100"/>
          <a:sy n="93" d="100"/>
        </p:scale>
        <p:origin x="216"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2026/2/1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OK</a:t>
            </a:r>
            <a:r>
              <a:rPr kumimoji="1" lang="zh-CN" altLang="en-US" dirty="0"/>
              <a:t>， </a:t>
            </a:r>
            <a:r>
              <a:rPr kumimoji="1" lang="en-US" altLang="zh-CN" dirty="0"/>
              <a:t>Today I </a:t>
            </a:r>
            <a:r>
              <a:rPr kumimoji="1" lang="en-US" altLang="zh-CN" dirty="0" err="1"/>
              <a:t>gona</a:t>
            </a:r>
            <a:r>
              <a:rPr kumimoji="1" lang="en-US" altLang="zh-CN" dirty="0"/>
              <a:t> introduce something that I am interested in but it is not my research topic</a:t>
            </a:r>
          </a:p>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3790863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a:t>开局要加一点内容</a:t>
            </a:r>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首先，我们来看最经典的</a:t>
            </a:r>
            <a:r>
              <a:rPr lang="zh-CN" altLang="en-US" b="1" dirty="0"/>
              <a:t>单体内核（</a:t>
            </a:r>
            <a:r>
              <a:rPr lang="en-US" altLang="zh-CN" b="1" dirty="0"/>
              <a:t>Monolithic Kernel</a:t>
            </a:r>
            <a:r>
              <a:rPr lang="zh-CN" altLang="en-US" b="1" dirty="0"/>
              <a:t>）架构。尽管它是传统设计的代表，但至今仍是主流，比如我们熟知的 </a:t>
            </a:r>
            <a:r>
              <a:rPr lang="en-US" altLang="zh-CN" b="1" dirty="0"/>
              <a:t>Linux</a:t>
            </a:r>
            <a:r>
              <a:rPr lang="zh-CN" altLang="en-US" b="1" dirty="0"/>
              <a:t>。它的核心逻辑是‘大一统’：将文件系统、驱动程序、调度器等所有服务模块，全部塞进高权限的内核态</a:t>
            </a:r>
            <a:r>
              <a:rPr lang="zh-CN" altLang="en-US" dirty="0"/>
              <a:t>统一管理。</a:t>
            </a:r>
          </a:p>
          <a:p>
            <a:r>
              <a:rPr lang="zh-CN" altLang="en-US" dirty="0"/>
              <a:t>你可以把它想象成一个**‘全能型大开间办公室’**。在这个房间里，所有的职员（服务）混坐在一起，每个人都握着整栋大楼的所有钥匙。</a:t>
            </a:r>
          </a:p>
          <a:p>
            <a:r>
              <a:rPr lang="zh-CN" altLang="en-US" dirty="0"/>
              <a:t>相比之下，</a:t>
            </a:r>
            <a:r>
              <a:rPr lang="zh-CN" altLang="en-US" b="1" dirty="0"/>
              <a:t>微内核（</a:t>
            </a:r>
            <a:r>
              <a:rPr lang="en-US" altLang="zh-CN" b="1" dirty="0"/>
              <a:t>Microkernel</a:t>
            </a:r>
            <a:r>
              <a:rPr lang="zh-CN" altLang="en-US" b="1" dirty="0"/>
              <a:t>）则推崇‘极致简约’。它对内核态进行了‘大瘦身’，只保留进程间通信（</a:t>
            </a:r>
            <a:r>
              <a:rPr lang="en-US" altLang="zh-CN" b="1" dirty="0"/>
              <a:t>IPC</a:t>
            </a:r>
            <a:r>
              <a:rPr lang="zh-CN" altLang="en-US" b="1" dirty="0"/>
              <a:t>）和基础调度等绝对核心的功能，而将文件系统、驱动等大部分服务‘下放’到了低权限的用户态</a:t>
            </a:r>
            <a:r>
              <a:rPr lang="zh-CN" altLang="en-US" dirty="0"/>
              <a:t>。这就像是把那个大办公室拆分成了多个</a:t>
            </a:r>
            <a:r>
              <a:rPr lang="zh-CN" altLang="en-US" b="1" dirty="0"/>
              <a:t>独立隔间</a:t>
            </a:r>
            <a:r>
              <a:rPr lang="zh-CN" altLang="en-US" dirty="0"/>
              <a:t>，只有行政主管留在中心负责协调。</a:t>
            </a:r>
            <a:endParaRPr lang="en-US" altLang="zh-CN" dirty="0"/>
          </a:p>
          <a:p>
            <a:endParaRPr lang="en-US" altLang="zh-CN" dirty="0"/>
          </a:p>
          <a:p>
            <a:r>
              <a:rPr lang="en-US" altLang="zh-CN" dirty="0"/>
              <a:t>Let's start with the </a:t>
            </a:r>
            <a:r>
              <a:rPr lang="en-US" altLang="zh-CN" b="1" dirty="0"/>
              <a:t>Monolithic Kernel</a:t>
            </a:r>
            <a:r>
              <a:rPr lang="en-US" altLang="zh-CN" dirty="0"/>
              <a:t>, a classic architecture that remains the backbone of most modern operating systems, such as Linux. The defining characteristic here is 'centralization'—all service modules, from file systems to device drivers, reside within the </a:t>
            </a:r>
            <a:r>
              <a:rPr lang="en-US" altLang="zh-CN" b="1" dirty="0"/>
              <a:t>Kernel Mode</a:t>
            </a:r>
            <a:r>
              <a:rPr lang="en-US" altLang="zh-CN" dirty="0"/>
              <a:t> under unified management.</a:t>
            </a:r>
          </a:p>
          <a:p>
            <a:r>
              <a:rPr lang="en-US" altLang="zh-CN" dirty="0"/>
              <a:t>You can think of it as an </a:t>
            </a:r>
            <a:r>
              <a:rPr lang="en-US" altLang="zh-CN" b="1" dirty="0"/>
              <a:t>'All-in-one Open-plan Office.'</a:t>
            </a:r>
            <a:r>
              <a:rPr lang="en-US" altLang="zh-CN" dirty="0"/>
              <a:t> In this setup, every service works in the same room, and every 'employee' holds a master key to the entire building.</a:t>
            </a:r>
          </a:p>
          <a:p>
            <a:r>
              <a:rPr lang="en-US" altLang="zh-CN" dirty="0"/>
              <a:t>In contrast, the </a:t>
            </a:r>
            <a:r>
              <a:rPr lang="en-US" altLang="zh-CN" b="1" dirty="0"/>
              <a:t>Microkernel</a:t>
            </a:r>
            <a:r>
              <a:rPr lang="en-US" altLang="zh-CN" dirty="0"/>
              <a:t> follows a </a:t>
            </a:r>
            <a:r>
              <a:rPr lang="en-US" altLang="zh-CN" b="1" dirty="0"/>
              <a:t>'Minimalist' philosophy</a:t>
            </a:r>
            <a:r>
              <a:rPr lang="en-US" altLang="zh-CN" dirty="0"/>
              <a:t>. It strips the kernel down to its absolute essentials—keeping only core functions like IPC and basic scheduling in Kernel Mode. Most other services are 'outsourced' to the unprivileged </a:t>
            </a:r>
            <a:r>
              <a:rPr lang="en-US" altLang="zh-CN" b="1" dirty="0"/>
              <a:t>User Mode</a:t>
            </a:r>
            <a:r>
              <a:rPr lang="en-US" altLang="zh-CN" dirty="0"/>
              <a:t>. This effectively transforms the open-plan office into a series of </a:t>
            </a:r>
            <a:r>
              <a:rPr lang="en-US" altLang="zh-CN" b="1" dirty="0"/>
              <a:t>private cubicles</a:t>
            </a:r>
            <a:r>
              <a:rPr lang="en-US" altLang="zh-CN" dirty="0"/>
              <a:t>, where the kernel acts as a management team ensuring everyone can still communicate.</a:t>
            </a:r>
          </a:p>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772168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单体内核（</a:t>
            </a:r>
            <a:r>
              <a:rPr lang="en-US" altLang="zh-CN" b="1" dirty="0"/>
              <a:t>Monolithic Kernel</a:t>
            </a:r>
            <a:r>
              <a:rPr lang="zh-CN" altLang="en-US" b="1" dirty="0"/>
              <a:t>）的座右铭是‘性能至上’</a:t>
            </a:r>
            <a:r>
              <a:rPr lang="zh-CN" altLang="en-US" dirty="0"/>
              <a:t>。</a:t>
            </a:r>
          </a:p>
          <a:p>
            <a:r>
              <a:rPr lang="zh-CN" altLang="en-US" b="1" dirty="0"/>
              <a:t>优点：</a:t>
            </a:r>
            <a:r>
              <a:rPr lang="zh-CN" altLang="en-US" dirty="0"/>
              <a:t> 由于所有部门都在一个大办公室里，大家沟通只需‘吼一嗓子’（直接函数调用），办事效率极高。经过几十年的优化，它已经拥有了像 </a:t>
            </a:r>
            <a:r>
              <a:rPr lang="en-US" altLang="zh-CN" dirty="0"/>
              <a:t>Linux </a:t>
            </a:r>
            <a:r>
              <a:rPr lang="zh-CN" altLang="en-US" dirty="0"/>
              <a:t>这样极其成熟的生态。</a:t>
            </a:r>
          </a:p>
          <a:p>
            <a:r>
              <a:rPr lang="zh-CN" altLang="en-US" b="1" dirty="0"/>
              <a:t>缺点：</a:t>
            </a:r>
            <a:r>
              <a:rPr lang="zh-CN" altLang="en-US" dirty="0"/>
              <a:t> 但它的致命伤在于</a:t>
            </a:r>
            <a:r>
              <a:rPr lang="zh-CN" altLang="en-US" b="1" dirty="0"/>
              <a:t>脆弱</a:t>
            </a:r>
            <a:r>
              <a:rPr lang="zh-CN" altLang="en-US" dirty="0"/>
              <a:t>。因为没有墙，一旦某个驱动职员不小心点燃了纸篓，大火会迅速蔓延，导致整个系统蓝屏崩溃（</a:t>
            </a:r>
            <a:r>
              <a:rPr lang="en-US" altLang="zh-CN" dirty="0"/>
              <a:t>BSOD</a:t>
            </a:r>
            <a:r>
              <a:rPr lang="zh-CN" altLang="en-US" dirty="0"/>
              <a:t>）。而且代码量巨大，后期维护和排查错误就像在乱麻中找线头。</a:t>
            </a:r>
          </a:p>
          <a:p>
            <a:r>
              <a:rPr lang="zh-CN" altLang="en-US" b="1" dirty="0"/>
              <a:t>微内核（</a:t>
            </a:r>
            <a:r>
              <a:rPr lang="en-US" altLang="zh-CN" b="1" dirty="0"/>
              <a:t>Microkernel</a:t>
            </a:r>
            <a:r>
              <a:rPr lang="zh-CN" altLang="en-US" b="1" dirty="0"/>
              <a:t>）则坚持‘安全与可靠第一’</a:t>
            </a:r>
            <a:r>
              <a:rPr lang="zh-CN" altLang="en-US" dirty="0"/>
              <a:t>。</a:t>
            </a:r>
          </a:p>
          <a:p>
            <a:r>
              <a:rPr lang="zh-CN" altLang="en-US" b="1" dirty="0"/>
              <a:t>优点：</a:t>
            </a:r>
            <a:r>
              <a:rPr lang="zh-CN" altLang="en-US" dirty="0"/>
              <a:t> 它的</a:t>
            </a:r>
            <a:r>
              <a:rPr lang="zh-CN" altLang="en-US" b="1" dirty="0"/>
              <a:t>隔离性</a:t>
            </a:r>
            <a:r>
              <a:rPr lang="zh-CN" altLang="en-US" dirty="0"/>
              <a:t>极佳。就算文件服务的办公室起火了，也不会波及他人，系统依然稳如泰山。因为核心代码量（</a:t>
            </a:r>
            <a:r>
              <a:rPr lang="en-US" altLang="zh-CN" dirty="0"/>
              <a:t>TCB</a:t>
            </a:r>
            <a:r>
              <a:rPr lang="zh-CN" altLang="en-US" dirty="0"/>
              <a:t>）非常小，也更容易进行安全加固。</a:t>
            </a:r>
          </a:p>
          <a:p>
            <a:r>
              <a:rPr lang="zh-CN" altLang="en-US" b="1" dirty="0"/>
              <a:t>缺点：</a:t>
            </a:r>
            <a:r>
              <a:rPr lang="zh-CN" altLang="en-US" dirty="0"/>
              <a:t> 它的代价是**‘沟通成本’**。因为大家都在独立隔间，每次办事都要通过管理员送信（</a:t>
            </a:r>
            <a:r>
              <a:rPr lang="en-US" altLang="zh-CN" dirty="0"/>
              <a:t>IPC </a:t>
            </a:r>
            <a:r>
              <a:rPr lang="zh-CN" altLang="en-US" dirty="0"/>
              <a:t>通讯），在用户态和内核态之间反复切换非常耗时。此外，异步沟通的逻辑也让系统开发变得更加复杂。</a:t>
            </a:r>
            <a:endParaRPr lang="en-US" altLang="zh-CN" dirty="0"/>
          </a:p>
          <a:p>
            <a:endParaRPr lang="en-US" altLang="zh-CN" dirty="0"/>
          </a:p>
          <a:p>
            <a:r>
              <a:rPr lang="en-US" altLang="zh-CN" dirty="0"/>
              <a:t>Now, let's look at the trade-offs between these two architectures.</a:t>
            </a:r>
          </a:p>
          <a:p>
            <a:r>
              <a:rPr lang="en-US" altLang="zh-CN" dirty="0"/>
              <a:t>The </a:t>
            </a:r>
            <a:r>
              <a:rPr lang="en-US" altLang="zh-CN" b="1" dirty="0"/>
              <a:t>Monolithic Kernel</a:t>
            </a:r>
            <a:r>
              <a:rPr lang="en-US" altLang="zh-CN" dirty="0"/>
              <a:t> operates on a </a:t>
            </a:r>
            <a:r>
              <a:rPr lang="en-US" altLang="zh-CN" b="1" dirty="0"/>
              <a:t>'Performance First'</a:t>
            </a:r>
            <a:r>
              <a:rPr lang="en-US" altLang="zh-CN" dirty="0"/>
              <a:t> philosophy.</a:t>
            </a:r>
          </a:p>
          <a:p>
            <a:r>
              <a:rPr lang="en-US" altLang="zh-CN" b="1" dirty="0"/>
              <a:t>Pros:</a:t>
            </a:r>
            <a:r>
              <a:rPr lang="en-US" altLang="zh-CN" dirty="0"/>
              <a:t> Since everyone is in the same 'room,' communication is handled via direct function calls, leading to high efficiency. It also benefits from a mature ecosystem with decades of optimization.</a:t>
            </a:r>
          </a:p>
          <a:p>
            <a:r>
              <a:rPr lang="en-US" altLang="zh-CN" b="1" dirty="0"/>
              <a:t>Cons:</a:t>
            </a:r>
            <a:r>
              <a:rPr lang="en-US" altLang="zh-CN" dirty="0"/>
              <a:t> However, it is </a:t>
            </a:r>
            <a:r>
              <a:rPr lang="en-US" altLang="zh-CN" b="1" dirty="0"/>
              <a:t>fragile</a:t>
            </a:r>
            <a:r>
              <a:rPr lang="en-US" altLang="zh-CN" dirty="0"/>
              <a:t>. A single bug in one driver can trigger a full system crash (BSOD). Moreover, the massive codebase makes it incredibly hard to debug or maintain.</a:t>
            </a:r>
          </a:p>
          <a:p>
            <a:r>
              <a:rPr lang="en-US" altLang="zh-CN" dirty="0"/>
              <a:t>In contrast, the </a:t>
            </a:r>
            <a:r>
              <a:rPr lang="en-US" altLang="zh-CN" b="1" dirty="0"/>
              <a:t>Microkernel</a:t>
            </a:r>
            <a:r>
              <a:rPr lang="en-US" altLang="zh-CN" dirty="0"/>
              <a:t> emphasizes </a:t>
            </a:r>
            <a:r>
              <a:rPr lang="en-US" altLang="zh-CN" b="1" dirty="0"/>
              <a:t>'Reliability and Security'</a:t>
            </a:r>
            <a:r>
              <a:rPr lang="en-US" altLang="zh-CN" dirty="0"/>
              <a:t>.</a:t>
            </a:r>
          </a:p>
          <a:p>
            <a:r>
              <a:rPr lang="en-US" altLang="zh-CN" b="1" dirty="0"/>
              <a:t>Pros:</a:t>
            </a:r>
            <a:r>
              <a:rPr lang="en-US" altLang="zh-CN" dirty="0"/>
              <a:t> Its biggest strength is </a:t>
            </a:r>
            <a:r>
              <a:rPr lang="en-US" altLang="zh-CN" b="1" dirty="0"/>
              <a:t>isolation</a:t>
            </a:r>
            <a:r>
              <a:rPr lang="en-US" altLang="zh-CN" dirty="0"/>
              <a:t>. A driver crash does not equal a system crash. With a smaller TCB (Trusted Computing Base), the core is much easier to secure and verify.</a:t>
            </a:r>
          </a:p>
          <a:p>
            <a:r>
              <a:rPr lang="en-US" altLang="zh-CN" b="1" dirty="0"/>
              <a:t>Cons:</a:t>
            </a:r>
            <a:r>
              <a:rPr lang="en-US" altLang="zh-CN" dirty="0"/>
              <a:t> The downside is the </a:t>
            </a:r>
            <a:r>
              <a:rPr lang="en-US" altLang="zh-CN" b="1" dirty="0"/>
              <a:t>IPC overhead</a:t>
            </a:r>
            <a:r>
              <a:rPr lang="en-US" altLang="zh-CN" dirty="0"/>
              <a:t>. Constantly switching between User and Kernel modes for communication is costly and can slow things down. The system's overall complexity also increases due to the challenges of managing asynchronous communication.</a:t>
            </a:r>
          </a:p>
          <a:p>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5</a:t>
            </a:fld>
            <a:endParaRPr lang="zh-TW" altLang="en-US"/>
          </a:p>
        </p:txBody>
      </p:sp>
    </p:spTree>
    <p:extLst>
      <p:ext uri="{BB962C8B-B14F-4D97-AF65-F5344CB8AC3E}">
        <p14:creationId xmlns:p14="http://schemas.microsoft.com/office/powerpoint/2010/main" val="3381170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7F38-26C6-5E41-1FE4-86C6D8BF015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AF6851E-0D0C-2370-6B4A-AD28BD7FB6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A000D61-24F5-B2EC-2A55-8EE91B02FE5F}"/>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7C8D0A2A-8389-B428-24A0-22E2EB84CF34}"/>
              </a:ext>
            </a:extLst>
          </p:cNvPr>
          <p:cNvSpPr>
            <a:spLocks noGrp="1"/>
          </p:cNvSpPr>
          <p:nvPr>
            <p:ph type="sldNum" sz="quarter" idx="10"/>
          </p:nvPr>
        </p:nvSpPr>
        <p:spPr/>
        <p:txBody>
          <a:bodyPr/>
          <a:lstStyle/>
          <a:p>
            <a:fld id="{7320D120-4707-426F-9B85-873E256A6635}" type="slidenum">
              <a:rPr lang="zh-TW" altLang="en-US" smtClean="0"/>
              <a:pPr/>
              <a:t>6</a:t>
            </a:fld>
            <a:endParaRPr lang="zh-TW" altLang="en-US"/>
          </a:p>
        </p:txBody>
      </p:sp>
    </p:spTree>
    <p:extLst>
      <p:ext uri="{BB962C8B-B14F-4D97-AF65-F5344CB8AC3E}">
        <p14:creationId xmlns:p14="http://schemas.microsoft.com/office/powerpoint/2010/main" val="133686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The development of the microkernel has not been without challenges.</a:t>
            </a:r>
            <a:r>
              <a:rPr lang="zh-CN" altLang="en-US" b="1" dirty="0"/>
              <a:t> </a:t>
            </a:r>
            <a:r>
              <a:rPr lang="en-US" altLang="zh-CN" b="1" dirty="0"/>
              <a:t>Milestone 1 (The First Generation):</a:t>
            </a:r>
            <a:r>
              <a:rPr lang="en-US" altLang="zh-CN" dirty="0"/>
              <a:t> Represented by the Mach system, the focus was on flexibility. However, it turned out to be a </a:t>
            </a:r>
            <a:r>
              <a:rPr lang="en-US" altLang="zh-CN" b="1" dirty="0"/>
              <a:t>"Performance Disaster"</a:t>
            </a:r>
            <a:r>
              <a:rPr lang="en-US" altLang="zh-CN" dirty="0"/>
              <a:t> with IPC overhead often exceeding 50%. Many blamed the architecture itself for this failure.</a:t>
            </a:r>
          </a:p>
          <a:p>
            <a:r>
              <a:rPr lang="en-US" altLang="zh-CN" b="1" dirty="0"/>
              <a:t>Milestone 2 (The Second Generation):</a:t>
            </a:r>
            <a:r>
              <a:rPr lang="en-US" altLang="zh-CN" dirty="0"/>
              <a:t> In the mid-90s, J. Liedtke(</a:t>
            </a:r>
            <a:r>
              <a:rPr lang="en-US" altLang="zh-CN" dirty="0" err="1"/>
              <a:t>liki</a:t>
            </a:r>
            <a:r>
              <a:rPr lang="en-US" altLang="zh-CN" dirty="0"/>
              <a:t>) revolutionized the field. By introducing </a:t>
            </a:r>
            <a:r>
              <a:rPr lang="en-US" altLang="zh-CN" b="1" dirty="0"/>
              <a:t>Fast IPC</a:t>
            </a:r>
            <a:r>
              <a:rPr lang="en-US" altLang="zh-CN" dirty="0"/>
              <a:t> techniques like register passing and single-copy, he achieved performance levels comparable to monolithic kernels.</a:t>
            </a:r>
          </a:p>
          <a:p>
            <a:endParaRPr kumimoji="1"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7</a:t>
            </a:fld>
            <a:endParaRPr lang="zh-TW" altLang="en-US"/>
          </a:p>
        </p:txBody>
      </p:sp>
    </p:spTree>
    <p:extLst>
      <p:ext uri="{BB962C8B-B14F-4D97-AF65-F5344CB8AC3E}">
        <p14:creationId xmlns:p14="http://schemas.microsoft.com/office/powerpoint/2010/main" val="266364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F21D-3329-755F-C073-DBA718B466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4F81E9-F06B-8238-C3C9-860E3757DB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8EA8A1-36FB-9CCA-7C49-1D52920B8201}"/>
              </a:ext>
            </a:extLst>
          </p:cNvPr>
          <p:cNvSpPr>
            <a:spLocks noGrp="1"/>
          </p:cNvSpPr>
          <p:nvPr>
            <p:ph type="body" idx="1"/>
          </p:nvPr>
        </p:nvSpPr>
        <p:spPr/>
        <p:txBody>
          <a:bodyPr/>
          <a:lstStyle/>
          <a:p>
            <a:r>
              <a:rPr lang="en-US" altLang="zh-CN" b="1" dirty="0"/>
              <a:t>Milestone 3: The New Paradigm</a:t>
            </a:r>
            <a:r>
              <a:rPr lang="en-US" altLang="zh-CN" dirty="0"/>
              <a:t>, spanning from the 2000s to the present.</a:t>
            </a:r>
          </a:p>
          <a:p>
            <a:r>
              <a:rPr lang="en-US" altLang="zh-CN" dirty="0"/>
              <a:t>The focus has shifted from mere 'Verification' to 'Intelligent Construction'. We've learned that </a:t>
            </a:r>
            <a:r>
              <a:rPr lang="en-US" altLang="zh-CN" b="1" dirty="0"/>
              <a:t>absolute security comes at an extreme cost</a:t>
            </a:r>
            <a:r>
              <a:rPr lang="en-US" altLang="zh-CN" dirty="0"/>
              <a:t>. For instance, while </a:t>
            </a:r>
            <a:r>
              <a:rPr lang="en-US" altLang="zh-CN" b="1" dirty="0"/>
              <a:t>seL4</a:t>
            </a:r>
            <a:r>
              <a:rPr lang="en-US" altLang="zh-CN" dirty="0"/>
              <a:t> achieved a 'bug-free' state through formal verification, it suffered from immense development complexity and poor ecosystem compatibility.</a:t>
            </a:r>
          </a:p>
          <a:p>
            <a:r>
              <a:rPr lang="en-US" altLang="zh-CN" dirty="0"/>
              <a:t>Today’s trend is about finding a </a:t>
            </a:r>
            <a:r>
              <a:rPr lang="en-US" altLang="zh-CN" b="1" dirty="0"/>
              <a:t>practical middle ground</a:t>
            </a:r>
            <a:r>
              <a:rPr lang="en-US" altLang="zh-CN" dirty="0"/>
              <a:t>. A prime example is </a:t>
            </a:r>
            <a:r>
              <a:rPr lang="en-US" altLang="zh-CN" b="1" dirty="0" err="1"/>
              <a:t>Asterinas</a:t>
            </a:r>
            <a:r>
              <a:rPr lang="en-US" altLang="zh-CN" dirty="0"/>
              <a:t>, a </a:t>
            </a:r>
            <a:r>
              <a:rPr lang="en-US" altLang="zh-CN" b="1" dirty="0"/>
              <a:t>Rust-based</a:t>
            </a:r>
            <a:r>
              <a:rPr lang="en-US" altLang="zh-CN" dirty="0"/>
              <a:t> OS that maintains a small and sound </a:t>
            </a:r>
            <a:r>
              <a:rPr lang="en-US" altLang="zh-CN" b="1" dirty="0"/>
              <a:t>TCB</a:t>
            </a:r>
            <a:r>
              <a:rPr lang="en-US" altLang="zh-CN" dirty="0"/>
              <a:t> while remaining </a:t>
            </a:r>
            <a:r>
              <a:rPr lang="en-US" altLang="zh-CN" b="1" dirty="0"/>
              <a:t>Linux ABI-compatible</a:t>
            </a:r>
            <a:r>
              <a:rPr lang="en-US" altLang="zh-CN" dirty="0"/>
              <a:t>. </a:t>
            </a:r>
            <a:endParaRPr kumimoji="1" lang="zh-CN" altLang="en-US" dirty="0"/>
          </a:p>
        </p:txBody>
      </p:sp>
      <p:sp>
        <p:nvSpPr>
          <p:cNvPr id="4" name="灯片编号占位符 3">
            <a:extLst>
              <a:ext uri="{FF2B5EF4-FFF2-40B4-BE49-F238E27FC236}">
                <a16:creationId xmlns:a16="http://schemas.microsoft.com/office/drawing/2014/main" id="{82B5481E-9D1B-85DF-0FCF-939F35B18A08}"/>
              </a:ext>
            </a:extLst>
          </p:cNvPr>
          <p:cNvSpPr>
            <a:spLocks noGrp="1"/>
          </p:cNvSpPr>
          <p:nvPr>
            <p:ph type="sldNum" sz="quarter" idx="5"/>
          </p:nvPr>
        </p:nvSpPr>
        <p:spPr/>
        <p:txBody>
          <a:bodyPr/>
          <a:lstStyle/>
          <a:p>
            <a:fld id="{B11D5518-E2B7-47D3-A483-775D39982443}" type="slidenum">
              <a:rPr lang="zh-TW" altLang="en-US" smtClean="0"/>
              <a:t>8</a:t>
            </a:fld>
            <a:endParaRPr lang="zh-TW" altLang="en-US"/>
          </a:p>
        </p:txBody>
      </p:sp>
    </p:spTree>
    <p:extLst>
      <p:ext uri="{BB962C8B-B14F-4D97-AF65-F5344CB8AC3E}">
        <p14:creationId xmlns:p14="http://schemas.microsoft.com/office/powerpoint/2010/main" val="2714041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025F-8F4B-5287-3450-65B59E24CC0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9B443F0-CF71-8A9C-5D77-8DD904EDAE8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E62DC48-E695-DA05-F32E-FE4E425C9639}"/>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A838BEC4-3A10-50A9-71E6-EAFABDB46A82}"/>
              </a:ext>
            </a:extLst>
          </p:cNvPr>
          <p:cNvSpPr>
            <a:spLocks noGrp="1"/>
          </p:cNvSpPr>
          <p:nvPr>
            <p:ph type="sldNum" sz="quarter" idx="10"/>
          </p:nvPr>
        </p:nvSpPr>
        <p:spPr/>
        <p:txBody>
          <a:bodyPr/>
          <a:lstStyle/>
          <a:p>
            <a:fld id="{7320D120-4707-426F-9B85-873E256A6635}" type="slidenum">
              <a:rPr lang="zh-TW" altLang="en-US" smtClean="0"/>
              <a:pPr/>
              <a:t>9</a:t>
            </a:fld>
            <a:endParaRPr lang="zh-TW" altLang="en-US"/>
          </a:p>
        </p:txBody>
      </p:sp>
    </p:spTree>
    <p:extLst>
      <p:ext uri="{BB962C8B-B14F-4D97-AF65-F5344CB8AC3E}">
        <p14:creationId xmlns:p14="http://schemas.microsoft.com/office/powerpoint/2010/main" val="542971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diving into the technical details, let's look at the vision behind first-generation microkernels like Mach.</a:t>
            </a:r>
          </a:p>
          <a:p>
            <a:r>
              <a:rPr lang="en-US" altLang="zh-CN" b="1" dirty="0"/>
              <a:t>The Ideal:</a:t>
            </a:r>
            <a:r>
              <a:rPr lang="en-US" altLang="zh-CN" dirty="0"/>
              <a:t> Designers aimed for a "super-universal" message format that treated local and network transmissions identically.</a:t>
            </a:r>
          </a:p>
          <a:p>
            <a:r>
              <a:rPr lang="en-US" altLang="zh-CN" b="1" dirty="0"/>
              <a:t>The Reality:</a:t>
            </a:r>
            <a:r>
              <a:rPr lang="en-US" altLang="zh-CN" dirty="0"/>
              <a:t> This pursuit led to a </a:t>
            </a:r>
            <a:r>
              <a:rPr lang="en-US" altLang="zh-CN" b="1" dirty="0"/>
              <a:t>bloated message structure</a:t>
            </a:r>
            <a:r>
              <a:rPr lang="en-US" altLang="zh-CN" dirty="0"/>
              <a:t>. </a:t>
            </a:r>
            <a:r>
              <a:rPr lang="zh-CN" altLang="en-US" dirty="0"/>
              <a:t> </a:t>
            </a:r>
            <a:r>
              <a:rPr lang="en-US" altLang="zh-CN" dirty="0"/>
              <a:t>As shown in the top-left diagram, messages were packed with metadata, port rights, and complex pointers.</a:t>
            </a:r>
          </a:p>
          <a:p>
            <a:r>
              <a:rPr lang="en-US" altLang="zh-CN" dirty="0"/>
              <a:t>Why was Mach’s IPC so slow? Because the kernel was doing too much. When Process A sent a message to B, the kernel spent more time translating and reassembling complex data structures than actually moving the data. These "translation costs" resulted in the 50%+ performance disaster we discussed earlier.</a:t>
            </a:r>
          </a:p>
          <a:p>
            <a:endParaRPr lang="en-US" altLang="zh-CN" dirty="0"/>
          </a:p>
          <a:p>
            <a:r>
              <a:rPr lang="en-US" altLang="zh-CN" dirty="0"/>
              <a:t>To break this bottleneck, the concept of L3 kernel </a:t>
            </a:r>
            <a:r>
              <a:rPr lang="en-US" altLang="zh-CN" b="1" dirty="0"/>
              <a:t>is </a:t>
            </a:r>
            <a:r>
              <a:rPr lang="en-US" altLang="zh-CN" dirty="0"/>
              <a:t>introduced</a:t>
            </a:r>
          </a:p>
          <a:p>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10</a:t>
            </a:fld>
            <a:endParaRPr lang="zh-TW" altLang="en-US"/>
          </a:p>
        </p:txBody>
      </p:sp>
    </p:spTree>
    <p:extLst>
      <p:ext uri="{BB962C8B-B14F-4D97-AF65-F5344CB8AC3E}">
        <p14:creationId xmlns:p14="http://schemas.microsoft.com/office/powerpoint/2010/main" val="3949732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legacy microkernels, when Process A sends data to Process B, the data must be copied twice: first from A’s user space to a kernel buffer, and then from the buffer to B’s user space.</a:t>
            </a:r>
          </a:p>
          <a:p>
            <a:r>
              <a:rPr lang="en-US" altLang="zh-CN" dirty="0"/>
              <a:t>This creates significant memory-to-memory overhead. It’s like a courier forced to unload a package at a central warehouse before reloading it for the final destination—the kernel buffer becomes a major bottleneck.</a:t>
            </a:r>
          </a:p>
          <a:p>
            <a:br>
              <a:rPr lang="en-US" altLang="zh-CN" dirty="0"/>
            </a:br>
            <a:r>
              <a:rPr lang="en-US" altLang="zh-CN" dirty="0"/>
              <a:t>L3 eliminates this redundancy with the </a:t>
            </a:r>
            <a:r>
              <a:rPr lang="en-US" altLang="zh-CN" b="1" dirty="0"/>
              <a:t>Direct Copy</a:t>
            </a:r>
            <a:r>
              <a:rPr lang="en-US" altLang="zh-CN" dirty="0"/>
              <a:t> mechanism shown on the right. The kernel modifies the Page Table Entry (PTE) to create a temporary "window" of Process B's memory within Process A's address space.</a:t>
            </a:r>
          </a:p>
          <a:p>
            <a:r>
              <a:rPr lang="en-US" altLang="zh-CN" dirty="0"/>
              <a:t>This allows Process A to write data directly into B’s space, bypassing the kernel buffer entirely and achieving </a:t>
            </a:r>
            <a:r>
              <a:rPr lang="en-US" altLang="zh-CN" b="1" dirty="0"/>
              <a:t>Single-copy</a:t>
            </a:r>
            <a:br>
              <a:rPr lang="en-US" altLang="zh-CN"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One more subtraction: For short messages, L3 bypasses memory altogether by using </a:t>
            </a:r>
            <a:r>
              <a:rPr lang="en-US" altLang="zh-CN" b="1" dirty="0"/>
              <a:t>CPU registers</a:t>
            </a:r>
            <a:r>
              <a:rPr lang="en-US" altLang="zh-CN" dirty="0"/>
              <a:t> to transfer data.</a:t>
            </a:r>
          </a:p>
          <a:p>
            <a:br>
              <a:rPr lang="en-US" altLang="zh-CN" dirty="0"/>
            </a:br>
            <a:endParaRPr lang="en-US" altLang="zh-CN"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11</a:t>
            </a:fld>
            <a:endParaRPr lang="zh-TW" altLang="en-US"/>
          </a:p>
        </p:txBody>
      </p:sp>
    </p:spTree>
    <p:extLst>
      <p:ext uri="{BB962C8B-B14F-4D97-AF65-F5344CB8AC3E}">
        <p14:creationId xmlns:p14="http://schemas.microsoft.com/office/powerpoint/2010/main" val="2985558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326C5-B64E-2B28-7172-F7E976A241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E15E0-F2E6-9523-2AF0-E1194A890A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B32F31-96B6-B021-D089-E7A19CADD59D}"/>
              </a:ext>
            </a:extLst>
          </p:cNvPr>
          <p:cNvSpPr>
            <a:spLocks noGrp="1"/>
          </p:cNvSpPr>
          <p:nvPr>
            <p:ph type="body" idx="1"/>
          </p:nvPr>
        </p:nvSpPr>
        <p:spPr/>
        <p:txBody>
          <a:bodyPr/>
          <a:lstStyle/>
          <a:p>
            <a:r>
              <a:rPr lang="en-US" altLang="zh-CN" b="1" dirty="0"/>
              <a:t>2. </a:t>
            </a:r>
            <a:r>
              <a:rPr lang="zh-CN" altLang="en-US" b="1" dirty="0"/>
              <a:t>结构大师：</a:t>
            </a:r>
            <a:r>
              <a:rPr lang="en-US" altLang="zh-CN" b="1" dirty="0"/>
              <a:t>TCB </a:t>
            </a:r>
            <a:r>
              <a:rPr lang="zh-CN" altLang="en-US" b="1" dirty="0"/>
              <a:t>与内核栈的固定布局 </a:t>
            </a:r>
            <a:r>
              <a:rPr lang="en-US" altLang="zh-CN" b="1" dirty="0"/>
              <a:t>(TCB &amp; Kernel Stack Layout)</a:t>
            </a:r>
          </a:p>
          <a:p>
            <a:r>
              <a:rPr lang="zh-CN" altLang="en-US" b="1" dirty="0"/>
              <a:t>中文：</a:t>
            </a:r>
            <a:r>
              <a:rPr lang="zh-CN" altLang="en-US" dirty="0"/>
              <a:t> “除了数据传输，</a:t>
            </a:r>
            <a:r>
              <a:rPr lang="zh-CN" altLang="en-US" b="1" dirty="0"/>
              <a:t>上下文切换</a:t>
            </a:r>
            <a:r>
              <a:rPr lang="zh-CN" altLang="en-US" dirty="0"/>
              <a:t>也是性能杀手。</a:t>
            </a:r>
            <a:r>
              <a:rPr lang="en-US" altLang="zh-CN" dirty="0"/>
              <a:t>L4 </a:t>
            </a:r>
            <a:r>
              <a:rPr lang="zh-CN" altLang="en-US" dirty="0"/>
              <a:t>在内存布局上展现了‘结构化大师’的水准。</a:t>
            </a:r>
          </a:p>
          <a:p>
            <a:r>
              <a:rPr lang="zh-CN" altLang="en-US" b="1" dirty="0"/>
              <a:t>固定窗口：</a:t>
            </a:r>
            <a:r>
              <a:rPr lang="zh-CN" altLang="en-US" dirty="0"/>
              <a:t> 它将线程控制块（</a:t>
            </a:r>
            <a:r>
              <a:rPr lang="en-US" altLang="zh-CN" dirty="0"/>
              <a:t>TCB</a:t>
            </a:r>
            <a:r>
              <a:rPr lang="zh-CN" altLang="en-US" dirty="0"/>
              <a:t>）和内核栈（</a:t>
            </a:r>
            <a:r>
              <a:rPr lang="en-US" altLang="zh-CN" dirty="0"/>
              <a:t>Kernel Stack</a:t>
            </a:r>
            <a:r>
              <a:rPr lang="zh-CN" altLang="en-US" dirty="0"/>
              <a:t>）精准地放置在内存中一个</a:t>
            </a:r>
            <a:r>
              <a:rPr lang="zh-CN" altLang="en-US" b="1" dirty="0"/>
              <a:t>固定且可预测的窗口</a:t>
            </a:r>
            <a:r>
              <a:rPr lang="zh-CN" altLang="en-US" dirty="0"/>
              <a:t>内。</a:t>
            </a:r>
          </a:p>
          <a:p>
            <a:r>
              <a:rPr lang="zh-CN" altLang="en-US" b="1" dirty="0"/>
              <a:t>零查表切换：</a:t>
            </a:r>
            <a:r>
              <a:rPr lang="zh-CN" altLang="en-US" dirty="0"/>
              <a:t> 这样做的好处是，当执行快速 </a:t>
            </a:r>
            <a:r>
              <a:rPr lang="en-US" altLang="zh-CN" dirty="0"/>
              <a:t>IPC </a:t>
            </a:r>
            <a:r>
              <a:rPr lang="zh-CN" altLang="en-US" dirty="0"/>
              <a:t>切换时，内核不再需要去扫描复杂的全局链表或哈希表来寻找下一个线程的信息。</a:t>
            </a:r>
          </a:p>
          <a:p>
            <a:r>
              <a:rPr lang="en-US" altLang="zh-CN" b="1" dirty="0"/>
              <a:t>VIP </a:t>
            </a:r>
            <a:r>
              <a:rPr lang="zh-CN" altLang="en-US" b="1" dirty="0"/>
              <a:t>通道：</a:t>
            </a:r>
            <a:r>
              <a:rPr lang="zh-CN" altLang="en-US" dirty="0"/>
              <a:t> 这种预设布局为 </a:t>
            </a:r>
            <a:r>
              <a:rPr lang="en-US" altLang="zh-CN" dirty="0"/>
              <a:t>CPU </a:t>
            </a:r>
            <a:r>
              <a:rPr lang="zh-CN" altLang="en-US" dirty="0"/>
              <a:t>提供了一条‘</a:t>
            </a:r>
            <a:r>
              <a:rPr lang="en-US" altLang="zh-CN" dirty="0"/>
              <a:t>VIP </a:t>
            </a:r>
            <a:r>
              <a:rPr lang="zh-CN" altLang="en-US" dirty="0"/>
              <a:t>通道’，内核可以瞬间定位目标线程的上下文。”</a:t>
            </a:r>
            <a:endParaRPr lang="en-US" altLang="zh-CN" dirty="0"/>
          </a:p>
          <a:p>
            <a:endParaRPr lang="en-US" altLang="zh-CN" dirty="0"/>
          </a:p>
          <a:p>
            <a:endParaRPr lang="zh-CN" altLang="en-US" dirty="0"/>
          </a:p>
          <a:p>
            <a:r>
              <a:rPr lang="en-US" altLang="zh-CN" b="1" dirty="0"/>
              <a:t>English:</a:t>
            </a:r>
            <a:r>
              <a:rPr lang="en-US" altLang="zh-CN" dirty="0"/>
              <a:t> "Beyond data transfer, </a:t>
            </a:r>
            <a:r>
              <a:rPr lang="en-US" altLang="zh-CN" b="1" dirty="0"/>
              <a:t>context switching</a:t>
            </a:r>
            <a:r>
              <a:rPr lang="en-US" altLang="zh-CN" dirty="0"/>
              <a:t> is a major performance killer. </a:t>
            </a:r>
            <a:r>
              <a:rPr lang="en-US" altLang="zh-CN" b="1" dirty="0"/>
              <a:t>Fixed Window:</a:t>
            </a:r>
            <a:r>
              <a:rPr lang="en-US" altLang="zh-CN" dirty="0"/>
              <a:t> It places the Thread Control Block (TCB) and the Kernel Stack within a </a:t>
            </a:r>
            <a:r>
              <a:rPr lang="en-US" altLang="zh-CN" b="1" dirty="0"/>
              <a:t>fixed, predictable memory window</a:t>
            </a:r>
            <a:r>
              <a:rPr lang="en-US" altLang="zh-CN" dirty="0"/>
              <a:t>.</a:t>
            </a:r>
          </a:p>
          <a:p>
            <a:r>
              <a:rPr lang="en-US" altLang="zh-CN" b="1" dirty="0"/>
              <a:t>Zero-Lookup Switching:</a:t>
            </a:r>
            <a:r>
              <a:rPr lang="en-US" altLang="zh-CN" dirty="0"/>
              <a:t> This ensures that during a Fast IPC context switch, the kernel avoids searching through complex global tables or linked lists to find the next thread's info.</a:t>
            </a:r>
          </a:p>
          <a:p>
            <a:endParaRPr lang="en-US" altLang="zh-CN" dirty="0"/>
          </a:p>
        </p:txBody>
      </p:sp>
      <p:sp>
        <p:nvSpPr>
          <p:cNvPr id="4" name="灯片编号占位符 3">
            <a:extLst>
              <a:ext uri="{FF2B5EF4-FFF2-40B4-BE49-F238E27FC236}">
                <a16:creationId xmlns:a16="http://schemas.microsoft.com/office/drawing/2014/main" id="{ACB06902-8DA3-393D-D48D-685D1990E129}"/>
              </a:ext>
            </a:extLst>
          </p:cNvPr>
          <p:cNvSpPr>
            <a:spLocks noGrp="1"/>
          </p:cNvSpPr>
          <p:nvPr>
            <p:ph type="sldNum" sz="quarter" idx="5"/>
          </p:nvPr>
        </p:nvSpPr>
        <p:spPr/>
        <p:txBody>
          <a:bodyPr/>
          <a:lstStyle/>
          <a:p>
            <a:fld id="{B11D5518-E2B7-47D3-A483-775D39982443}" type="slidenum">
              <a:rPr lang="zh-TW" altLang="en-US" smtClean="0"/>
              <a:t>12</a:t>
            </a:fld>
            <a:endParaRPr lang="zh-TW" altLang="en-US"/>
          </a:p>
        </p:txBody>
      </p:sp>
    </p:spTree>
    <p:extLst>
      <p:ext uri="{BB962C8B-B14F-4D97-AF65-F5344CB8AC3E}">
        <p14:creationId xmlns:p14="http://schemas.microsoft.com/office/powerpoint/2010/main" val="3746064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19B2E-F329-29C3-D2BC-9BA08ABA8F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0CCD5E-10F8-332E-176F-75DC1C1C80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07715B-7235-7AFC-422E-7B11292AAEFE}"/>
              </a:ext>
            </a:extLst>
          </p:cNvPr>
          <p:cNvSpPr>
            <a:spLocks noGrp="1"/>
          </p:cNvSpPr>
          <p:nvPr>
            <p:ph type="body" idx="1"/>
          </p:nvPr>
        </p:nvSpPr>
        <p:spPr/>
        <p:txBody>
          <a:bodyPr/>
          <a:lstStyle/>
          <a:p>
            <a:r>
              <a:rPr lang="zh-CN" altLang="en-US" b="1" dirty="0"/>
              <a:t>中文：</a:t>
            </a:r>
            <a:r>
              <a:rPr lang="zh-CN" altLang="en-US" dirty="0"/>
              <a:t> “为了验证 </a:t>
            </a:r>
            <a:r>
              <a:rPr lang="en-US" altLang="zh-CN" dirty="0"/>
              <a:t>Fast IPC </a:t>
            </a:r>
            <a:r>
              <a:rPr lang="zh-CN" altLang="en-US" dirty="0"/>
              <a:t>的实际效果，我们来看这张对比图。左侧的柱状图清晰地展示了 </a:t>
            </a:r>
            <a:r>
              <a:rPr lang="en-US" altLang="zh-CN" b="1" dirty="0"/>
              <a:t>L3</a:t>
            </a:r>
            <a:r>
              <a:rPr lang="zh-CN" altLang="en-US" b="1" dirty="0"/>
              <a:t>（蓝柱）</a:t>
            </a:r>
            <a:r>
              <a:rPr lang="zh-CN" altLang="en-US" dirty="0"/>
              <a:t> 与 </a:t>
            </a:r>
            <a:r>
              <a:rPr lang="en-US" altLang="zh-CN" b="1" dirty="0"/>
              <a:t>Mach</a:t>
            </a:r>
            <a:r>
              <a:rPr lang="zh-CN" altLang="en-US" b="1" dirty="0"/>
              <a:t>（红框）</a:t>
            </a:r>
            <a:r>
              <a:rPr lang="zh-CN" altLang="en-US" dirty="0"/>
              <a:t> 在不同消息大小下的时间开销。</a:t>
            </a:r>
          </a:p>
          <a:p>
            <a:r>
              <a:rPr lang="zh-CN" altLang="en-US" b="1" dirty="0"/>
              <a:t>巨大的代差：</a:t>
            </a:r>
            <a:r>
              <a:rPr lang="zh-CN" altLang="en-US" dirty="0"/>
              <a:t> 我们可以看到，无论消息大小如何变化，</a:t>
            </a:r>
            <a:r>
              <a:rPr lang="en-US" altLang="zh-CN" dirty="0"/>
              <a:t>L3 </a:t>
            </a:r>
            <a:r>
              <a:rPr lang="zh-CN" altLang="en-US" dirty="0"/>
              <a:t>的耗时都远远低于 </a:t>
            </a:r>
            <a:r>
              <a:rPr lang="en-US" altLang="zh-CN" dirty="0"/>
              <a:t>Mach</a:t>
            </a:r>
            <a:r>
              <a:rPr lang="zh-CN" altLang="en-US" dirty="0"/>
              <a:t>，甚至在很多场景下实现了**数量级（</a:t>
            </a:r>
            <a:r>
              <a:rPr lang="en-US" altLang="zh-CN" dirty="0"/>
              <a:t>10</a:t>
            </a:r>
            <a:r>
              <a:rPr lang="zh-CN" altLang="en-US" dirty="0"/>
              <a:t>倍以上）**的提速。</a:t>
            </a:r>
          </a:p>
          <a:p>
            <a:r>
              <a:rPr lang="zh-CN" altLang="en-US" b="1" dirty="0"/>
              <a:t>结论：</a:t>
            </a:r>
            <a:r>
              <a:rPr lang="zh-CN" altLang="en-US" dirty="0"/>
              <a:t> 这张图有力地反驳了‘微内核架构天生低效’的论点</a:t>
            </a:r>
            <a:r>
              <a:rPr lang="en-US" altLang="zh-CN" dirty="0"/>
              <a:t>——</a:t>
            </a:r>
            <a:r>
              <a:rPr lang="zh-CN" altLang="en-US" dirty="0"/>
              <a:t>如果设计得当，微内核完全可以跑得飞快。”</a:t>
            </a:r>
          </a:p>
          <a:p>
            <a:r>
              <a:rPr lang="en-US" altLang="zh-CN" b="1" dirty="0"/>
              <a:t>English:</a:t>
            </a:r>
            <a:r>
              <a:rPr lang="en-US" altLang="zh-CN" dirty="0"/>
              <a:t> "To validate the effectiveness of Fast IPC, let's look at the experimental results. The bar chart on the left clearly compares the time overhead of </a:t>
            </a:r>
            <a:r>
              <a:rPr lang="en-US" altLang="zh-CN" b="1" dirty="0"/>
              <a:t>L3 (blue bars)</a:t>
            </a:r>
            <a:r>
              <a:rPr lang="en-US" altLang="zh-CN" dirty="0"/>
              <a:t> and </a:t>
            </a:r>
            <a:r>
              <a:rPr lang="en-US" altLang="zh-CN" b="1" dirty="0"/>
              <a:t>Mach (red outlines)</a:t>
            </a:r>
            <a:r>
              <a:rPr lang="en-US" altLang="zh-CN" dirty="0"/>
              <a:t> across various message sizes.</a:t>
            </a:r>
          </a:p>
          <a:p>
            <a:r>
              <a:rPr lang="en-US" altLang="zh-CN" dirty="0"/>
              <a:t>As you can see, L3’s latency remains consistently and significantly lower than Mach’s, achieving a </a:t>
            </a:r>
            <a:r>
              <a:rPr lang="en-US" altLang="zh-CN" b="1" dirty="0"/>
              <a:t>tenfold improvement</a:t>
            </a:r>
            <a:r>
              <a:rPr lang="en-US" altLang="zh-CN" dirty="0"/>
              <a:t> in many scenarios.</a:t>
            </a:r>
          </a:p>
          <a:p>
            <a:br>
              <a:rPr lang="en-US" altLang="zh-CN" dirty="0"/>
            </a:br>
            <a:endParaRPr lang="en-US" altLang="zh-CN" dirty="0"/>
          </a:p>
          <a:p>
            <a:r>
              <a:rPr lang="en-US" altLang="zh-CN" b="1" dirty="0"/>
              <a:t>2. </a:t>
            </a:r>
            <a:r>
              <a:rPr lang="zh-CN" altLang="en-US" b="1" dirty="0"/>
              <a:t>增长曲线：效率的稳定性</a:t>
            </a:r>
          </a:p>
          <a:p>
            <a:r>
              <a:rPr lang="zh-CN" altLang="en-US" b="1" dirty="0"/>
              <a:t>中文：</a:t>
            </a:r>
            <a:r>
              <a:rPr lang="zh-CN" altLang="en-US" dirty="0"/>
              <a:t> “再看中间的折线图，它展示了随着消息字节数（</a:t>
            </a:r>
            <a:r>
              <a:rPr lang="en-US" altLang="zh-CN" dirty="0"/>
              <a:t>Message Size</a:t>
            </a:r>
            <a:r>
              <a:rPr lang="zh-CN" altLang="en-US" dirty="0"/>
              <a:t>）增加，</a:t>
            </a:r>
            <a:r>
              <a:rPr lang="en-US" altLang="zh-CN" dirty="0"/>
              <a:t>IPC </a:t>
            </a:r>
            <a:r>
              <a:rPr lang="zh-CN" altLang="en-US" dirty="0"/>
              <a:t>耗时的增长趋势。</a:t>
            </a:r>
          </a:p>
          <a:p>
            <a:r>
              <a:rPr lang="en-US" altLang="zh-CN" b="1" dirty="0"/>
              <a:t>Mach </a:t>
            </a:r>
            <a:r>
              <a:rPr lang="zh-CN" altLang="en-US" b="1" dirty="0"/>
              <a:t>的陡峭曲线：</a:t>
            </a:r>
            <a:r>
              <a:rPr lang="zh-CN" altLang="en-US" dirty="0"/>
              <a:t> </a:t>
            </a:r>
            <a:r>
              <a:rPr lang="en-US" altLang="zh-CN" dirty="0"/>
              <a:t>Mach </a:t>
            </a:r>
            <a:r>
              <a:rPr lang="zh-CN" altLang="en-US" dirty="0"/>
              <a:t>的红虚线斜率非常高，这意味着消息越大，它的转换和拷贝负担就越沉重。</a:t>
            </a:r>
          </a:p>
          <a:p>
            <a:r>
              <a:rPr lang="en-US" altLang="zh-CN" b="1" dirty="0"/>
              <a:t>L3 </a:t>
            </a:r>
            <a:r>
              <a:rPr lang="zh-CN" altLang="en-US" b="1" dirty="0"/>
              <a:t>的平缓曲线：</a:t>
            </a:r>
            <a:r>
              <a:rPr lang="zh-CN" altLang="en-US" dirty="0"/>
              <a:t> 相比之下，</a:t>
            </a:r>
            <a:r>
              <a:rPr lang="en-US" altLang="zh-CN" dirty="0"/>
              <a:t>L3</a:t>
            </a:r>
            <a:r>
              <a:rPr lang="zh-CN" altLang="en-US" dirty="0"/>
              <a:t>（绿线）的增长非常平缓。即便加上缓存失效（</a:t>
            </a:r>
            <a:r>
              <a:rPr lang="en-US" altLang="zh-CN" dirty="0"/>
              <a:t>Cache fill</a:t>
            </a:r>
            <a:r>
              <a:rPr lang="zh-CN" altLang="en-US" dirty="0"/>
              <a:t>）的影响，它依然维持在极低的水平。</a:t>
            </a:r>
          </a:p>
          <a:p>
            <a:r>
              <a:rPr lang="zh-CN" altLang="en-US" b="1" dirty="0"/>
              <a:t>这意味着：</a:t>
            </a:r>
            <a:r>
              <a:rPr lang="zh-CN" altLang="en-US" dirty="0"/>
              <a:t> </a:t>
            </a:r>
            <a:r>
              <a:rPr lang="en-US" altLang="zh-CN" dirty="0"/>
              <a:t>L3 </a:t>
            </a:r>
            <a:r>
              <a:rPr lang="zh-CN" altLang="en-US" dirty="0"/>
              <a:t>的设计对大规模数据传输有着极佳的</a:t>
            </a:r>
            <a:r>
              <a:rPr lang="zh-CN" altLang="en-US" b="1" dirty="0"/>
              <a:t>可扩展性</a:t>
            </a:r>
            <a:r>
              <a:rPr lang="zh-CN" altLang="en-US" dirty="0"/>
              <a:t>，它不仅在短消息上快，在长消息上同样稳健。”</a:t>
            </a:r>
          </a:p>
          <a:p>
            <a:r>
              <a:rPr lang="en-US" altLang="zh-CN" b="1" dirty="0"/>
              <a:t>English:</a:t>
            </a:r>
            <a:r>
              <a:rPr lang="en-US" altLang="zh-CN" dirty="0"/>
              <a:t> ”Then, let's examine the line graph in the middle, which shows how IPC time scales with message size.</a:t>
            </a:r>
          </a:p>
          <a:p>
            <a:r>
              <a:rPr lang="en-US" altLang="zh-CN" b="1" dirty="0"/>
              <a:t>Mach’s Steep Curve:</a:t>
            </a:r>
            <a:r>
              <a:rPr lang="en-US" altLang="zh-CN" dirty="0"/>
              <a:t> The red dashed line for Mach climbs sharply, indicating that as messages grow larger, the burden of translation and copying becomes unbearable.</a:t>
            </a:r>
          </a:p>
          <a:p>
            <a:r>
              <a:rPr lang="en-US" altLang="zh-CN" b="1" dirty="0"/>
              <a:t>L3’s Flat Curve:</a:t>
            </a:r>
            <a:r>
              <a:rPr lang="en-US" altLang="zh-CN" dirty="0"/>
              <a:t> In contrast, L3 (the green line) remains remarkably flat. Even when accounting for cache fills, it stays at a very low level.</a:t>
            </a:r>
          </a:p>
          <a:p>
            <a:r>
              <a:rPr lang="en-US" altLang="zh-CN" b="1" dirty="0"/>
              <a:t>The Insight:</a:t>
            </a:r>
            <a:r>
              <a:rPr lang="en-US" altLang="zh-CN" dirty="0"/>
              <a:t> This proves that L3’s design offers excellent </a:t>
            </a:r>
            <a:r>
              <a:rPr lang="en-US" altLang="zh-CN" b="1" dirty="0"/>
              <a:t>scalability</a:t>
            </a:r>
            <a:r>
              <a:rPr lang="en-US" altLang="zh-CN" dirty="0"/>
              <a:t> for large data transfers—it’s not just fast for short bursts, but robust for long-form communication as well."</a:t>
            </a:r>
          </a:p>
          <a:p>
            <a:br>
              <a:rPr lang="en-US" altLang="zh-CN" dirty="0"/>
            </a:br>
            <a:endParaRPr lang="en-US" altLang="zh-CN" dirty="0"/>
          </a:p>
          <a:p>
            <a:r>
              <a:rPr lang="en-US" altLang="zh-CN" b="1" dirty="0"/>
              <a:t>3. </a:t>
            </a:r>
            <a:r>
              <a:rPr lang="zh-CN" altLang="en-US" b="1" dirty="0"/>
              <a:t>数据表：硬件极限的挑战</a:t>
            </a:r>
          </a:p>
          <a:p>
            <a:r>
              <a:rPr lang="zh-CN" altLang="en-US" b="1" dirty="0"/>
              <a:t>中文：</a:t>
            </a:r>
            <a:r>
              <a:rPr lang="zh-CN" altLang="en-US" dirty="0"/>
              <a:t> “右侧表格提供了更详尽的原始数据，对比了不同 </a:t>
            </a:r>
            <a:r>
              <a:rPr lang="en-US" altLang="zh-CN" dirty="0"/>
              <a:t>CPU </a:t>
            </a:r>
            <a:r>
              <a:rPr lang="zh-CN" altLang="en-US" dirty="0"/>
              <a:t>频率下的性能表现。</a:t>
            </a:r>
          </a:p>
          <a:p>
            <a:r>
              <a:rPr lang="zh-CN" altLang="en-US" b="1" dirty="0"/>
              <a:t>硬件级同步：</a:t>
            </a:r>
            <a:r>
              <a:rPr lang="zh-CN" altLang="en-US" dirty="0"/>
              <a:t> 观察 </a:t>
            </a:r>
            <a:r>
              <a:rPr lang="en-US" altLang="zh-CN" dirty="0"/>
              <a:t>L3 </a:t>
            </a:r>
            <a:r>
              <a:rPr lang="zh-CN" altLang="en-US" dirty="0"/>
              <a:t>在不同芯片（</a:t>
            </a:r>
            <a:r>
              <a:rPr lang="en-US" altLang="zh-CN" dirty="0"/>
              <a:t>486, 386</a:t>
            </a:r>
            <a:r>
              <a:rPr lang="zh-CN" altLang="en-US" dirty="0"/>
              <a:t>）上的表现，其耗时几乎紧贴着硬件处理能力的极限。</a:t>
            </a:r>
          </a:p>
          <a:p>
            <a:r>
              <a:rPr lang="zh-CN" altLang="en-US" b="1" dirty="0"/>
              <a:t>核心价值：</a:t>
            </a:r>
            <a:r>
              <a:rPr lang="zh-CN" altLang="en-US" dirty="0"/>
              <a:t> 这种性能表现标志着微内核进入了</a:t>
            </a:r>
            <a:r>
              <a:rPr lang="zh-CN" altLang="en-US" b="1" dirty="0"/>
              <a:t>实用化时代</a:t>
            </a:r>
            <a:r>
              <a:rPr lang="zh-CN" altLang="en-US" dirty="0"/>
              <a:t>。它告诉开发者：你再也不需要为了系统的可靠性和安全性而牺牲 </a:t>
            </a:r>
            <a:r>
              <a:rPr lang="en-US" altLang="zh-CN" dirty="0"/>
              <a:t>50% </a:t>
            </a:r>
            <a:r>
              <a:rPr lang="zh-CN" altLang="en-US" dirty="0"/>
              <a:t>的性能。”</a:t>
            </a:r>
          </a:p>
          <a:p>
            <a:r>
              <a:rPr lang="en-US" altLang="zh-CN" b="1" dirty="0"/>
              <a:t>English:</a:t>
            </a:r>
            <a:r>
              <a:rPr lang="en-US" altLang="zh-CN" dirty="0"/>
              <a:t> "The table on the right provides detailed raw data across different CPU frequencies. Looking at L3’s performance on various chips like the 486 and 386, its latency closely tracks the theoretical limits of the hardware.</a:t>
            </a:r>
          </a:p>
        </p:txBody>
      </p:sp>
      <p:sp>
        <p:nvSpPr>
          <p:cNvPr id="4" name="灯片编号占位符 3">
            <a:extLst>
              <a:ext uri="{FF2B5EF4-FFF2-40B4-BE49-F238E27FC236}">
                <a16:creationId xmlns:a16="http://schemas.microsoft.com/office/drawing/2014/main" id="{28033089-8B1F-0B61-D743-2437531E96E7}"/>
              </a:ext>
            </a:extLst>
          </p:cNvPr>
          <p:cNvSpPr>
            <a:spLocks noGrp="1"/>
          </p:cNvSpPr>
          <p:nvPr>
            <p:ph type="sldNum" sz="quarter" idx="5"/>
          </p:nvPr>
        </p:nvSpPr>
        <p:spPr/>
        <p:txBody>
          <a:bodyPr/>
          <a:lstStyle/>
          <a:p>
            <a:fld id="{B11D5518-E2B7-47D3-A483-775D39982443}" type="slidenum">
              <a:rPr lang="zh-TW" altLang="en-US" smtClean="0"/>
              <a:t>13</a:t>
            </a:fld>
            <a:endParaRPr lang="zh-TW" altLang="en-US"/>
          </a:p>
        </p:txBody>
      </p:sp>
    </p:spTree>
    <p:extLst>
      <p:ext uri="{BB962C8B-B14F-4D97-AF65-F5344CB8AC3E}">
        <p14:creationId xmlns:p14="http://schemas.microsoft.com/office/powerpoint/2010/main" val="3179892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F92AA-8D07-47D5-F7C7-F08C67A890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CAEA0E-56D5-1B8D-4244-18ADF2E44B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929FCF-3F21-1DAE-955E-E9C0F2DBCFEF}"/>
              </a:ext>
            </a:extLst>
          </p:cNvPr>
          <p:cNvSpPr>
            <a:spLocks noGrp="1"/>
          </p:cNvSpPr>
          <p:nvPr>
            <p:ph type="body" idx="1"/>
          </p:nvPr>
        </p:nvSpPr>
        <p:spPr/>
        <p:txBody>
          <a:bodyPr/>
          <a:lstStyle/>
          <a:p>
            <a:r>
              <a:rPr lang="en-US" altLang="zh-CN" dirty="0"/>
              <a:t>As we just discussed, Liedtke proved through </a:t>
            </a:r>
            <a:r>
              <a:rPr lang="en-US" altLang="zh-CN" b="1" dirty="0"/>
              <a:t>Fast IPC</a:t>
            </a:r>
            <a:r>
              <a:rPr lang="en-US" altLang="zh-CN" dirty="0"/>
              <a:t> that microkernels can be incredibly fast. By utilizing registers for data transfer and streamlining context-switching paths, he successfully rescued the microkernel from its 'performance disaster'. By the 1990s, the L4 kernel had become the benchmark for high-performance microkernels. However, a critical question emerged: </a:t>
            </a:r>
            <a:r>
              <a:rPr lang="en-US" altLang="zh-CN" b="1" dirty="0"/>
              <a:t>Just because code is written fast and runs fast, does that mean it is secure?</a:t>
            </a:r>
          </a:p>
          <a:p>
            <a:endParaRPr lang="en-US" altLang="zh-CN" b="1" dirty="0"/>
          </a:p>
          <a:p>
            <a:endParaRPr lang="en-US" altLang="zh-CN" b="1" dirty="0"/>
          </a:p>
          <a:p>
            <a:r>
              <a:rPr lang="zh-CN" altLang="en-US" b="1" dirty="0"/>
              <a:t>传统测试的局限性：无穷的黑盒 </a:t>
            </a:r>
            <a:r>
              <a:rPr lang="en-US" altLang="zh-CN" b="1" dirty="0"/>
              <a:t>(The Limits of Traditional Testing)</a:t>
            </a:r>
          </a:p>
          <a:p>
            <a:r>
              <a:rPr lang="zh-CN" altLang="en-US" b="1" dirty="0"/>
              <a:t>中文：</a:t>
            </a:r>
            <a:r>
              <a:rPr lang="zh-CN" altLang="en-US" dirty="0"/>
              <a:t> “在正式介绍 </a:t>
            </a:r>
            <a:r>
              <a:rPr lang="en-US" altLang="zh-CN" dirty="0"/>
              <a:t>seL4 </a:t>
            </a:r>
            <a:r>
              <a:rPr lang="zh-CN" altLang="en-US" dirty="0"/>
              <a:t>之前，我们先思考一个问题：为什么经过无数次测试的系统依然会崩溃？</a:t>
            </a:r>
          </a:p>
          <a:p>
            <a:r>
              <a:rPr lang="zh-CN" altLang="en-US" b="1" dirty="0"/>
              <a:t>无限输入空间：</a:t>
            </a:r>
            <a:r>
              <a:rPr lang="zh-CN" altLang="en-US" dirty="0"/>
              <a:t> 正如左图所示，传统测试本质上是在‘无限的输入空间’里撞运气。无论你测试一万次还是十万次，总会有未覆盖到的**‘缝隙（</a:t>
            </a:r>
            <a:r>
              <a:rPr lang="en-US" altLang="zh-CN" dirty="0"/>
              <a:t>Gaps</a:t>
            </a:r>
            <a:r>
              <a:rPr lang="zh-CN" altLang="en-US" dirty="0"/>
              <a:t>）’**。</a:t>
            </a:r>
          </a:p>
          <a:p>
            <a:r>
              <a:rPr lang="zh-CN" altLang="en-US" b="1" dirty="0"/>
              <a:t>典型案例：</a:t>
            </a:r>
            <a:r>
              <a:rPr lang="zh-CN" altLang="en-US" dirty="0"/>
              <a:t> 比如著名的**‘心脏出血’（</a:t>
            </a:r>
            <a:r>
              <a:rPr lang="en-US" altLang="zh-CN" dirty="0"/>
              <a:t>Heartbleed</a:t>
            </a:r>
            <a:r>
              <a:rPr lang="zh-CN" altLang="en-US" dirty="0"/>
              <a:t>）漏洞**。它潜伏在 </a:t>
            </a:r>
            <a:r>
              <a:rPr lang="en-US" altLang="zh-CN" dirty="0"/>
              <a:t>OpenSSL </a:t>
            </a:r>
            <a:r>
              <a:rPr lang="zh-CN" altLang="en-US" dirty="0"/>
              <a:t>中多年未被发现，因为它在正常输入下表现得完全正确。传统测试只能‘希望’发现 </a:t>
            </a:r>
            <a:r>
              <a:rPr lang="en-US" altLang="zh-CN" dirty="0"/>
              <a:t>Bug</a:t>
            </a:r>
            <a:r>
              <a:rPr lang="zh-CN" altLang="en-US" dirty="0"/>
              <a:t>，但无法保证消除它们。”</a:t>
            </a:r>
            <a:endParaRPr lang="en-US" altLang="zh-CN" dirty="0"/>
          </a:p>
          <a:p>
            <a:endParaRPr lang="zh-CN" altLang="en-US" dirty="0"/>
          </a:p>
          <a:p>
            <a:r>
              <a:rPr lang="en-US" altLang="zh-CN" b="1" dirty="0"/>
              <a:t>English:</a:t>
            </a:r>
            <a:r>
              <a:rPr lang="en-US" altLang="zh-CN" dirty="0"/>
              <a:t> "Before we dive into seL4, let’s consider a fundamental question: Why do systems still crash after endless testing?</a:t>
            </a:r>
          </a:p>
          <a:p>
            <a:r>
              <a:rPr lang="en-US" altLang="zh-CN" b="1" dirty="0"/>
              <a:t>Infinite Input Space:</a:t>
            </a:r>
            <a:r>
              <a:rPr lang="en-US" altLang="zh-CN" dirty="0"/>
              <a:t> As shown on the left, traditional testing is essentially gambling within an 'infinite input space'. No matter how many times you test, there will always be uncovered </a:t>
            </a:r>
            <a:r>
              <a:rPr lang="en-US" altLang="zh-CN" b="1" dirty="0"/>
              <a:t>'Gaps'</a:t>
            </a:r>
            <a:r>
              <a:rPr lang="en-US" altLang="zh-CN" dirty="0"/>
              <a:t>.</a:t>
            </a:r>
          </a:p>
          <a:p>
            <a:r>
              <a:rPr lang="en-US" altLang="zh-CN" b="1" dirty="0"/>
              <a:t>Real-world Example:</a:t>
            </a:r>
            <a:r>
              <a:rPr lang="en-US" altLang="zh-CN" dirty="0"/>
              <a:t> Take the infamous </a:t>
            </a:r>
            <a:r>
              <a:rPr lang="en-US" altLang="zh-CN" b="1" dirty="0"/>
              <a:t>'Heartbleed' vulnerability</a:t>
            </a:r>
            <a:r>
              <a:rPr lang="en-US" altLang="zh-CN" dirty="0"/>
              <a:t>. It remained hidden in OpenSSL for years because the software functioned 'correctly' under normal inputs. Traditional testing can only 'hope' to find most bugs; it cannot guarantee their absence."</a:t>
            </a:r>
          </a:p>
          <a:p>
            <a:br>
              <a:rPr lang="en-US" altLang="zh-CN" dirty="0"/>
            </a:br>
            <a:endParaRPr lang="en-US" altLang="zh-CN" dirty="0"/>
          </a:p>
          <a:p>
            <a:r>
              <a:rPr lang="en-US" altLang="zh-CN" b="1" dirty="0"/>
              <a:t>2. </a:t>
            </a:r>
            <a:r>
              <a:rPr lang="zh-CN" altLang="en-US" b="1" dirty="0"/>
              <a:t>形式化验证：数学级的安保 </a:t>
            </a:r>
            <a:r>
              <a:rPr lang="en-US" altLang="zh-CN" b="1" dirty="0"/>
              <a:t>(Formal Verification: Mathematically Guaranteed)</a:t>
            </a:r>
          </a:p>
          <a:p>
            <a:r>
              <a:rPr lang="zh-CN" altLang="en-US" b="1" dirty="0"/>
              <a:t>中文：</a:t>
            </a:r>
            <a:r>
              <a:rPr lang="zh-CN" altLang="en-US" dirty="0"/>
              <a:t> “为了解决这个问题，</a:t>
            </a:r>
            <a:r>
              <a:rPr lang="en-US" altLang="zh-CN" dirty="0"/>
              <a:t>seL4 </a:t>
            </a:r>
            <a:r>
              <a:rPr lang="zh-CN" altLang="en-US" dirty="0"/>
              <a:t>引入了</a:t>
            </a:r>
            <a:r>
              <a:rPr lang="zh-CN" altLang="en-US" b="1" dirty="0"/>
              <a:t>形式化验证（</a:t>
            </a:r>
            <a:r>
              <a:rPr lang="en-US" altLang="zh-CN" b="1" dirty="0"/>
              <a:t>Formal Verification</a:t>
            </a:r>
            <a:r>
              <a:rPr lang="zh-CN" altLang="en-US" b="1" dirty="0"/>
              <a:t>）</a:t>
            </a:r>
            <a:r>
              <a:rPr lang="zh-CN" altLang="en-US" dirty="0"/>
              <a:t>。</a:t>
            </a:r>
          </a:p>
          <a:p>
            <a:r>
              <a:rPr lang="zh-CN" altLang="en-US" b="1" dirty="0"/>
              <a:t>数学逻辑：</a:t>
            </a:r>
            <a:r>
              <a:rPr lang="zh-CN" altLang="en-US" dirty="0"/>
              <a:t> 它不再依赖随机测试，而是将内核逻辑转化为</a:t>
            </a:r>
            <a:r>
              <a:rPr lang="zh-CN" altLang="en-US" b="1" dirty="0"/>
              <a:t>数学规范（</a:t>
            </a:r>
            <a:r>
              <a:rPr lang="en-US" altLang="zh-CN" b="1" dirty="0"/>
              <a:t>Math Specification</a:t>
            </a:r>
            <a:r>
              <a:rPr lang="zh-CN" altLang="en-US" b="1" dirty="0"/>
              <a:t>）</a:t>
            </a:r>
            <a:r>
              <a:rPr lang="zh-CN" altLang="en-US" dirty="0"/>
              <a:t>。</a:t>
            </a:r>
          </a:p>
          <a:p>
            <a:r>
              <a:rPr lang="zh-CN" altLang="en-US" b="1" dirty="0"/>
              <a:t>零 </a:t>
            </a:r>
            <a:r>
              <a:rPr lang="en-US" altLang="zh-CN" b="1" dirty="0"/>
              <a:t>Bug </a:t>
            </a:r>
            <a:r>
              <a:rPr lang="zh-CN" altLang="en-US" b="1" dirty="0"/>
              <a:t>证明：</a:t>
            </a:r>
            <a:r>
              <a:rPr lang="zh-CN" altLang="en-US" dirty="0"/>
              <a:t> 通过数学逻辑推导出的‘证明’，我们可以从理论上排除崩溃的可能性，实现真正的**‘零 </a:t>
            </a:r>
            <a:r>
              <a:rPr lang="en-US" altLang="zh-CN" dirty="0"/>
              <a:t>Bug’**</a:t>
            </a:r>
            <a:r>
              <a:rPr lang="zh-CN" altLang="en-US" dirty="0"/>
              <a:t>状态。这种‘数学保证’是防御顶级黑客攻击的最后一道防线。”</a:t>
            </a:r>
          </a:p>
          <a:p>
            <a:r>
              <a:rPr lang="en-US" altLang="zh-CN" b="1" dirty="0"/>
              <a:t>English:</a:t>
            </a:r>
            <a:r>
              <a:rPr lang="en-US" altLang="zh-CN" dirty="0"/>
              <a:t> "To solve this, seL4 embraces </a:t>
            </a:r>
            <a:r>
              <a:rPr lang="en-US" altLang="zh-CN" b="1" dirty="0"/>
              <a:t>Formal Verification</a:t>
            </a:r>
            <a:r>
              <a:rPr lang="en-US" altLang="zh-CN" dirty="0"/>
              <a:t>.</a:t>
            </a:r>
          </a:p>
          <a:p>
            <a:r>
              <a:rPr lang="en-US" altLang="zh-CN" b="1" dirty="0"/>
              <a:t>Mathematical Logic:</a:t>
            </a:r>
            <a:r>
              <a:rPr lang="en-US" altLang="zh-CN" dirty="0"/>
              <a:t> Instead of relying on random tests, it converts kernel logic into a </a:t>
            </a:r>
            <a:r>
              <a:rPr lang="en-US" altLang="zh-CN" b="1" dirty="0"/>
              <a:t>Math Specification</a:t>
            </a:r>
            <a:r>
              <a:rPr lang="en-US" altLang="zh-CN" dirty="0"/>
              <a:t>.</a:t>
            </a:r>
          </a:p>
          <a:p>
            <a:r>
              <a:rPr lang="en-US" altLang="zh-CN" b="1" dirty="0"/>
              <a:t>Proof of Zero Bugs:</a:t>
            </a:r>
            <a:r>
              <a:rPr lang="en-US" altLang="zh-CN" dirty="0"/>
              <a:t> By using mathematical proofs, we can theoretically eliminate the possibility of crashes, achieving a true </a:t>
            </a:r>
            <a:r>
              <a:rPr lang="en-US" altLang="zh-CN" b="1" dirty="0"/>
              <a:t>'Zero Bugs'</a:t>
            </a:r>
            <a:r>
              <a:rPr lang="en-US" altLang="zh-CN" dirty="0"/>
              <a:t> state. This 'mathematical guarantee' is the ultimate defense against high-level cyberattacks."</a:t>
            </a:r>
          </a:p>
          <a:p>
            <a:endParaRPr lang="en-US" altLang="zh-CN" dirty="0"/>
          </a:p>
        </p:txBody>
      </p:sp>
      <p:sp>
        <p:nvSpPr>
          <p:cNvPr id="4" name="灯片编号占位符 3">
            <a:extLst>
              <a:ext uri="{FF2B5EF4-FFF2-40B4-BE49-F238E27FC236}">
                <a16:creationId xmlns:a16="http://schemas.microsoft.com/office/drawing/2014/main" id="{57FF9012-380A-63F4-B1F2-7EA69E3B650D}"/>
              </a:ext>
            </a:extLst>
          </p:cNvPr>
          <p:cNvSpPr>
            <a:spLocks noGrp="1"/>
          </p:cNvSpPr>
          <p:nvPr>
            <p:ph type="sldNum" sz="quarter" idx="5"/>
          </p:nvPr>
        </p:nvSpPr>
        <p:spPr/>
        <p:txBody>
          <a:bodyPr/>
          <a:lstStyle/>
          <a:p>
            <a:fld id="{B11D5518-E2B7-47D3-A483-775D39982443}" type="slidenum">
              <a:rPr lang="zh-TW" altLang="en-US" smtClean="0"/>
              <a:t>14</a:t>
            </a:fld>
            <a:endParaRPr lang="zh-TW" altLang="en-US"/>
          </a:p>
        </p:txBody>
      </p:sp>
    </p:spTree>
    <p:extLst>
      <p:ext uri="{BB962C8B-B14F-4D97-AF65-F5344CB8AC3E}">
        <p14:creationId xmlns:p14="http://schemas.microsoft.com/office/powerpoint/2010/main" val="152343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BA660-C001-24AB-0992-0835225C65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4C0D22-29A1-C4D4-AF9E-72436FA440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7AFD87-820E-3AE0-7F9E-D2ACB8DD0472}"/>
              </a:ext>
            </a:extLst>
          </p:cNvPr>
          <p:cNvSpPr>
            <a:spLocks noGrp="1"/>
          </p:cNvSpPr>
          <p:nvPr>
            <p:ph type="body" idx="1"/>
          </p:nvPr>
        </p:nvSpPr>
        <p:spPr/>
        <p:txBody>
          <a:bodyPr/>
          <a:lstStyle/>
          <a:p>
            <a:r>
              <a:rPr lang="en-US" altLang="zh-CN" b="1" dirty="0"/>
              <a:t>1. </a:t>
            </a:r>
            <a:r>
              <a:rPr lang="zh-CN" altLang="en-US" b="1" dirty="0"/>
              <a:t>核心挑战：如何让数学“跑起来”？</a:t>
            </a:r>
          </a:p>
          <a:p>
            <a:r>
              <a:rPr lang="zh-CN" altLang="en-US" b="1" dirty="0"/>
              <a:t>中文：</a:t>
            </a:r>
            <a:r>
              <a:rPr lang="zh-CN" altLang="en-US" dirty="0"/>
              <a:t> “现在我们进入最核心的部分：</a:t>
            </a:r>
            <a:r>
              <a:rPr lang="en-US" altLang="zh-CN" b="1" dirty="0"/>
              <a:t>seL4 </a:t>
            </a:r>
            <a:r>
              <a:rPr lang="zh-CN" altLang="en-US" b="1" dirty="0"/>
              <a:t>的设计流程</a:t>
            </a:r>
            <a:r>
              <a:rPr lang="zh-CN" altLang="en-US" dirty="0"/>
              <a:t>。形式化验证最大的难题在于：数学规范虽然安全但不可执行，而 </a:t>
            </a:r>
            <a:r>
              <a:rPr lang="en-US" altLang="zh-CN" dirty="0"/>
              <a:t>C </a:t>
            </a:r>
            <a:r>
              <a:rPr lang="zh-CN" altLang="en-US" dirty="0"/>
              <a:t>语言虽然快但难以证明。</a:t>
            </a:r>
            <a:r>
              <a:rPr lang="en-US" altLang="zh-CN" dirty="0"/>
              <a:t>seL4 </a:t>
            </a:r>
            <a:r>
              <a:rPr lang="zh-CN" altLang="en-US" dirty="0"/>
              <a:t>团队设计了一个精妙的‘三级跳’流程（见图 </a:t>
            </a:r>
            <a:r>
              <a:rPr lang="en-US" altLang="zh-CN" dirty="0"/>
              <a:t>1</a:t>
            </a:r>
            <a:r>
              <a:rPr lang="zh-CN" altLang="en-US" dirty="0"/>
              <a:t>）来解决这个矛盾。”</a:t>
            </a:r>
          </a:p>
          <a:p>
            <a:r>
              <a:rPr lang="en-US" altLang="zh-CN" b="1" dirty="0"/>
              <a:t>English:</a:t>
            </a:r>
            <a:r>
              <a:rPr lang="en-US" altLang="zh-CN" dirty="0"/>
              <a:t> "Now we move to </a:t>
            </a:r>
            <a:r>
              <a:rPr lang="en-US" altLang="zh-CN" b="1" dirty="0"/>
              <a:t>The seL4 design process</a:t>
            </a:r>
            <a:r>
              <a:rPr lang="en-US" altLang="zh-CN" dirty="0"/>
              <a:t>. The biggest challenge in formal verification is that mathematical specifications are secure but not executable, while C code is fast but nearly impossible to prove. The seL4 team solved this with a sophisticated 'three-stage' process, as shown in Figure 8."</a:t>
            </a:r>
          </a:p>
          <a:p>
            <a:br>
              <a:rPr lang="en-US" altLang="zh-CN" dirty="0"/>
            </a:br>
            <a:endParaRPr lang="en-US" altLang="zh-CN" dirty="0"/>
          </a:p>
          <a:p>
            <a:r>
              <a:rPr lang="en-US" altLang="zh-CN" b="1" dirty="0"/>
              <a:t>2. </a:t>
            </a:r>
            <a:r>
              <a:rPr lang="zh-CN" altLang="en-US" b="1" dirty="0"/>
              <a:t>第一步：</a:t>
            </a:r>
            <a:r>
              <a:rPr lang="en-US" altLang="zh-CN" b="1" dirty="0"/>
              <a:t>Haskell </a:t>
            </a:r>
            <a:r>
              <a:rPr lang="zh-CN" altLang="en-US" b="1" dirty="0"/>
              <a:t>原型</a:t>
            </a:r>
            <a:r>
              <a:rPr lang="en-US" altLang="zh-CN" b="1" dirty="0"/>
              <a:t>——</a:t>
            </a:r>
            <a:r>
              <a:rPr lang="zh-CN" altLang="en-US" b="1" dirty="0"/>
              <a:t>可执行的蓝图 </a:t>
            </a:r>
            <a:r>
              <a:rPr lang="en-US" altLang="zh-CN" b="1" dirty="0"/>
              <a:t>(The Executable Specification)</a:t>
            </a:r>
          </a:p>
          <a:p>
            <a:r>
              <a:rPr lang="zh-CN" altLang="en-US" b="1" dirty="0"/>
              <a:t>中文：</a:t>
            </a:r>
            <a:r>
              <a:rPr lang="zh-CN" altLang="en-US" dirty="0"/>
              <a:t> “流程的起点是 </a:t>
            </a:r>
            <a:r>
              <a:rPr lang="en-US" altLang="zh-CN" b="1" dirty="0"/>
              <a:t>Haskell </a:t>
            </a:r>
            <a:r>
              <a:rPr lang="zh-CN" altLang="en-US" b="1" dirty="0"/>
              <a:t>原型</a:t>
            </a:r>
            <a:r>
              <a:rPr lang="zh-CN" altLang="en-US" dirty="0"/>
              <a:t>。</a:t>
            </a:r>
          </a:p>
          <a:p>
            <a:r>
              <a:rPr lang="zh-CN" altLang="en-US" b="1" dirty="0"/>
              <a:t>功能验证：</a:t>
            </a:r>
            <a:r>
              <a:rPr lang="zh-CN" altLang="en-US" dirty="0"/>
              <a:t> 它是系统的第一个功能实现。通过连接硬件仿真器运行真实用户程序，我们可以在写一行 </a:t>
            </a:r>
            <a:r>
              <a:rPr lang="en-US" altLang="zh-CN" dirty="0"/>
              <a:t>C </a:t>
            </a:r>
            <a:r>
              <a:rPr lang="zh-CN" altLang="en-US" dirty="0"/>
              <a:t>代码之前，就验证内核设计的可行性。</a:t>
            </a:r>
          </a:p>
          <a:p>
            <a:r>
              <a:rPr lang="zh-CN" altLang="en-US" b="1" dirty="0"/>
              <a:t>通用语言：</a:t>
            </a:r>
            <a:r>
              <a:rPr lang="zh-CN" altLang="en-US" dirty="0"/>
              <a:t> 它是开发者表达算法的‘通用语’，也是验证专家证明属性的‘共同根据地’。这就像在盖大楼前，先用高精度模型进行抗震模拟。”</a:t>
            </a:r>
            <a:endParaRPr lang="en-US" altLang="zh-CN" dirty="0"/>
          </a:p>
          <a:p>
            <a:endParaRPr lang="zh-CN" altLang="en-US" dirty="0"/>
          </a:p>
          <a:p>
            <a:r>
              <a:rPr lang="en-US" altLang="zh-CN" b="1" dirty="0"/>
              <a:t>English:</a:t>
            </a:r>
            <a:r>
              <a:rPr lang="en-US" altLang="zh-CN" dirty="0"/>
              <a:t> "The process begins with the </a:t>
            </a:r>
            <a:r>
              <a:rPr lang="en-US" altLang="zh-CN" b="1" dirty="0"/>
              <a:t>Haskell Prototype</a:t>
            </a:r>
            <a:r>
              <a:rPr lang="en-US" altLang="zh-CN" dirty="0"/>
              <a:t>.</a:t>
            </a:r>
          </a:p>
          <a:p>
            <a:r>
              <a:rPr lang="en-US" altLang="zh-CN" b="1" dirty="0"/>
              <a:t>Functional Validation:</a:t>
            </a:r>
            <a:r>
              <a:rPr lang="en-US" altLang="zh-CN" dirty="0"/>
              <a:t> It acts as the first functional implementation, allowing us to validate the kernel design by running real user programs on hardware simulators before a single line of C code is written.</a:t>
            </a:r>
          </a:p>
          <a:p>
            <a:br>
              <a:rPr lang="en-US" altLang="zh-CN" dirty="0"/>
            </a:br>
            <a:endParaRPr lang="en-US" altLang="zh-CN" dirty="0"/>
          </a:p>
          <a:p>
            <a:r>
              <a:rPr lang="en-US" altLang="zh-CN" b="1" dirty="0"/>
              <a:t>3. </a:t>
            </a:r>
            <a:r>
              <a:rPr lang="zh-CN" altLang="en-US" b="1" dirty="0"/>
              <a:t>第二步：精炼之桥</a:t>
            </a:r>
            <a:r>
              <a:rPr lang="en-US" altLang="zh-CN" b="1" dirty="0"/>
              <a:t>——</a:t>
            </a:r>
            <a:r>
              <a:rPr lang="zh-CN" altLang="en-US" b="1" dirty="0"/>
              <a:t>连接抽象与性能 </a:t>
            </a:r>
            <a:r>
              <a:rPr lang="en-US" altLang="zh-CN" b="1" dirty="0"/>
              <a:t>(The Bridge of Refinement)</a:t>
            </a:r>
          </a:p>
          <a:p>
            <a:r>
              <a:rPr lang="zh-CN" altLang="en-US" b="1" dirty="0"/>
              <a:t>中文：</a:t>
            </a:r>
            <a:r>
              <a:rPr lang="zh-CN" altLang="en-US" dirty="0"/>
              <a:t> “中间层是</a:t>
            </a:r>
            <a:r>
              <a:rPr lang="zh-CN" altLang="en-US" b="1" dirty="0"/>
              <a:t>形式化可执行规范（</a:t>
            </a:r>
            <a:r>
              <a:rPr lang="en-US" altLang="zh-CN" b="1" dirty="0"/>
              <a:t>Formal Executable Spec</a:t>
            </a:r>
            <a:r>
              <a:rPr lang="zh-CN" altLang="en-US" b="1" dirty="0"/>
              <a:t>）</a:t>
            </a:r>
            <a:r>
              <a:rPr lang="zh-CN" altLang="en-US" dirty="0"/>
              <a:t>，它是连接‘抽象逻辑’与‘高性能实现’的关键桥梁。</a:t>
            </a:r>
          </a:p>
          <a:p>
            <a:r>
              <a:rPr lang="zh-CN" altLang="en-US" b="1" dirty="0"/>
              <a:t>自动翻译：</a:t>
            </a:r>
            <a:r>
              <a:rPr lang="zh-CN" altLang="en-US" dirty="0"/>
              <a:t> </a:t>
            </a:r>
            <a:r>
              <a:rPr lang="en-US" altLang="zh-CN" dirty="0"/>
              <a:t>Haskell </a:t>
            </a:r>
            <a:r>
              <a:rPr lang="zh-CN" altLang="en-US" dirty="0"/>
              <a:t>代码会被自动翻译成 </a:t>
            </a:r>
            <a:r>
              <a:rPr lang="en-US" altLang="zh-CN" b="1" dirty="0"/>
              <a:t>Isabelle/HOL</a:t>
            </a:r>
            <a:r>
              <a:rPr lang="en-US" altLang="zh-CN" dirty="0"/>
              <a:t> </a:t>
            </a:r>
            <a:r>
              <a:rPr lang="zh-CN" altLang="en-US" dirty="0"/>
              <a:t>数学定理证明器能理解的形式。</a:t>
            </a:r>
          </a:p>
          <a:p>
            <a:r>
              <a:rPr lang="zh-CN" altLang="en-US" b="1" dirty="0"/>
              <a:t>消除人为错误：</a:t>
            </a:r>
            <a:r>
              <a:rPr lang="zh-CN" altLang="en-US" dirty="0"/>
              <a:t> 这种自动化转换确保了数学上的严丝合缝，彻底消除了人工理解偏差带来的隐患。”</a:t>
            </a:r>
            <a:endParaRPr lang="en-US" altLang="zh-CN" dirty="0"/>
          </a:p>
          <a:p>
            <a:endParaRPr lang="zh-CN" altLang="en-US" dirty="0"/>
          </a:p>
          <a:p>
            <a:r>
              <a:rPr lang="en-US" altLang="zh-CN" b="1" dirty="0"/>
              <a:t>English:</a:t>
            </a:r>
            <a:r>
              <a:rPr lang="en-US" altLang="zh-CN" dirty="0"/>
              <a:t> "The middle layer is the </a:t>
            </a:r>
            <a:r>
              <a:rPr lang="en-US" altLang="zh-CN" b="1" dirty="0"/>
              <a:t>Formal Executable Specification</a:t>
            </a:r>
            <a:r>
              <a:rPr lang="en-US" altLang="zh-CN" dirty="0"/>
              <a:t>, serving as the crucial bridge connecting 'Abstract Logic' to 'High-Performance C'.</a:t>
            </a:r>
          </a:p>
          <a:p>
            <a:r>
              <a:rPr lang="en-US" altLang="zh-CN" b="1" dirty="0"/>
              <a:t>Automatic Translation:</a:t>
            </a:r>
            <a:r>
              <a:rPr lang="en-US" altLang="zh-CN" dirty="0"/>
              <a:t> The Haskell prototype is automatically translated into Isabelle/HOL, a mathematical theorem prover.</a:t>
            </a:r>
          </a:p>
          <a:p>
            <a:br>
              <a:rPr lang="en-US" altLang="zh-CN" dirty="0"/>
            </a:br>
            <a:endParaRPr lang="en-US" altLang="zh-CN" dirty="0"/>
          </a:p>
          <a:p>
            <a:r>
              <a:rPr lang="en-US" altLang="zh-CN" b="1" dirty="0"/>
              <a:t>4. </a:t>
            </a:r>
            <a:r>
              <a:rPr lang="zh-CN" altLang="en-US" b="1" dirty="0"/>
              <a:t>第三步：高性能 </a:t>
            </a:r>
            <a:r>
              <a:rPr lang="en-US" altLang="zh-CN" b="1" dirty="0"/>
              <a:t>C </a:t>
            </a:r>
            <a:r>
              <a:rPr lang="zh-CN" altLang="en-US" b="1" dirty="0"/>
              <a:t>实现与最终证明 </a:t>
            </a:r>
            <a:r>
              <a:rPr lang="en-US" altLang="zh-CN" b="1" dirty="0"/>
              <a:t>(High-Performance C &amp; The Proof)</a:t>
            </a:r>
          </a:p>
          <a:p>
            <a:r>
              <a:rPr lang="zh-CN" altLang="en-US" b="1" dirty="0"/>
              <a:t>中文：</a:t>
            </a:r>
            <a:r>
              <a:rPr lang="zh-CN" altLang="en-US" dirty="0"/>
              <a:t> “流程的终点是底部的 </a:t>
            </a:r>
            <a:r>
              <a:rPr lang="zh-CN" altLang="en-US" b="1" dirty="0"/>
              <a:t>高性能 </a:t>
            </a:r>
            <a:r>
              <a:rPr lang="en-US" altLang="zh-CN" b="1" dirty="0"/>
              <a:t>C </a:t>
            </a:r>
            <a:r>
              <a:rPr lang="zh-CN" altLang="en-US" b="1" dirty="0"/>
              <a:t>实现</a:t>
            </a:r>
            <a:r>
              <a:rPr lang="zh-CN" altLang="en-US" dirty="0"/>
              <a:t>。</a:t>
            </a:r>
          </a:p>
          <a:p>
            <a:r>
              <a:rPr lang="zh-CN" altLang="en-US" b="1" dirty="0"/>
              <a:t>双向校验：</a:t>
            </a:r>
            <a:r>
              <a:rPr lang="zh-CN" altLang="en-US" dirty="0"/>
              <a:t> 它是通过手动实现后，再与上层的 </a:t>
            </a:r>
            <a:r>
              <a:rPr lang="en-US" altLang="zh-CN" dirty="0"/>
              <a:t>Haskell </a:t>
            </a:r>
            <a:r>
              <a:rPr lang="zh-CN" altLang="en-US" dirty="0"/>
              <a:t>原型进行‘精炼证明（</a:t>
            </a:r>
            <a:r>
              <a:rPr lang="en-US" altLang="zh-CN" dirty="0"/>
              <a:t>Proof</a:t>
            </a:r>
            <a:r>
              <a:rPr lang="zh-CN" altLang="en-US" dirty="0"/>
              <a:t>）’校验的。</a:t>
            </a:r>
          </a:p>
          <a:p>
            <a:r>
              <a:rPr lang="zh-CN" altLang="en-US" b="1" dirty="0"/>
              <a:t>闭环保证：</a:t>
            </a:r>
            <a:r>
              <a:rPr lang="zh-CN" altLang="en-US" dirty="0"/>
              <a:t> 只有当数学证明确认 </a:t>
            </a:r>
            <a:r>
              <a:rPr lang="en-US" altLang="zh-CN" dirty="0"/>
              <a:t>C </a:t>
            </a:r>
            <a:r>
              <a:rPr lang="zh-CN" altLang="en-US" dirty="0"/>
              <a:t>代码的行为与抽象设计完全一致时，验证才算完成。如果在底层发现了 </a:t>
            </a:r>
            <a:r>
              <a:rPr lang="en-US" altLang="zh-CN" dirty="0"/>
              <a:t>Bug</a:t>
            </a:r>
            <a:r>
              <a:rPr lang="zh-CN" altLang="en-US" dirty="0"/>
              <a:t>，我们会溯源至 </a:t>
            </a:r>
            <a:r>
              <a:rPr lang="en-US" altLang="zh-CN" dirty="0"/>
              <a:t>Haskell </a:t>
            </a:r>
            <a:r>
              <a:rPr lang="zh-CN" altLang="en-US" dirty="0"/>
              <a:t>设计层进行修正，从而维持整个生命周期的安全性。”</a:t>
            </a:r>
            <a:endParaRPr lang="en-US" altLang="zh-CN" dirty="0"/>
          </a:p>
          <a:p>
            <a:endParaRPr lang="zh-CN" altLang="en-US" dirty="0"/>
          </a:p>
          <a:p>
            <a:r>
              <a:rPr lang="en-US" altLang="zh-CN" b="1" dirty="0"/>
              <a:t>English:</a:t>
            </a:r>
            <a:r>
              <a:rPr lang="en-US" altLang="zh-CN" dirty="0"/>
              <a:t> "The process ends at the bottom with the </a:t>
            </a:r>
            <a:r>
              <a:rPr lang="en-US" altLang="zh-CN" b="1" dirty="0"/>
              <a:t>High-Performance C Implementation</a:t>
            </a:r>
            <a:r>
              <a:rPr lang="en-US" altLang="zh-CN" dirty="0"/>
              <a:t>.  It is a manual implementation that is then checked against the Haskell prototype through a 'Refinement Proof'.</a:t>
            </a:r>
          </a:p>
          <a:p>
            <a:r>
              <a:rPr lang="en-US" altLang="zh-CN" b="1" dirty="0"/>
              <a:t>Closed-Loop Security:</a:t>
            </a:r>
            <a:r>
              <a:rPr lang="en-US" altLang="zh-CN" dirty="0"/>
              <a:t> Verification is complete only when the proof confirms the C code behaves exactly as the abstract design intended. If a bug is found at the bottom, we trace it back to the Haskell design for correction, maintaining security throughout the lifecycle."</a:t>
            </a:r>
          </a:p>
        </p:txBody>
      </p:sp>
      <p:sp>
        <p:nvSpPr>
          <p:cNvPr id="4" name="灯片编号占位符 3">
            <a:extLst>
              <a:ext uri="{FF2B5EF4-FFF2-40B4-BE49-F238E27FC236}">
                <a16:creationId xmlns:a16="http://schemas.microsoft.com/office/drawing/2014/main" id="{B45ABECC-0066-AACD-A044-50959E7329E9}"/>
              </a:ext>
            </a:extLst>
          </p:cNvPr>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122227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E18D-DE4A-4E9A-6B86-1A3B2738DC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32130D-618C-DD59-3CAE-9E84AEF0F5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246F8F-5FC7-4618-2218-E57C89397170}"/>
              </a:ext>
            </a:extLst>
          </p:cNvPr>
          <p:cNvSpPr>
            <a:spLocks noGrp="1"/>
          </p:cNvSpPr>
          <p:nvPr>
            <p:ph type="body" idx="1"/>
          </p:nvPr>
        </p:nvSpPr>
        <p:spPr/>
        <p:txBody>
          <a:bodyPr/>
          <a:lstStyle/>
          <a:p>
            <a:r>
              <a:rPr lang="zh-CN" altLang="en-US" b="1" dirty="0"/>
              <a:t>刚才我们看到了 </a:t>
            </a:r>
            <a:r>
              <a:rPr lang="en-US" altLang="zh-CN" b="1" dirty="0"/>
              <a:t>seL4 </a:t>
            </a:r>
            <a:r>
              <a:rPr lang="zh-CN" altLang="en-US" b="1" dirty="0"/>
              <a:t>严苛的验证流程（图一），但要让这个流程真正跑通，有一个致命的前提：代码必须‘好证’。如果内核设计得随心所欲，数学证明就会陷入死循环。因此，</a:t>
            </a:r>
            <a:r>
              <a:rPr lang="en-US" altLang="zh-CN" b="1" dirty="0"/>
              <a:t>seL4 </a:t>
            </a:r>
            <a:r>
              <a:rPr lang="zh-CN" altLang="en-US" b="1" dirty="0"/>
              <a:t>在动工之前，就确立了三大‘为了验证而生’的设计准则（图二），其核心目的只有一个</a:t>
            </a:r>
            <a:r>
              <a:rPr lang="en-US" altLang="zh-CN" b="1" dirty="0"/>
              <a:t>——</a:t>
            </a:r>
            <a:r>
              <a:rPr lang="zh-CN" altLang="en-US" b="1" dirty="0"/>
              <a:t>缩减状态空间，实现可行的证明（</a:t>
            </a:r>
            <a:r>
              <a:rPr lang="en-US" altLang="zh-CN" b="1" dirty="0"/>
              <a:t>Tractable Proof</a:t>
            </a:r>
            <a:r>
              <a:rPr lang="zh-CN" altLang="en-US" b="1" dirty="0"/>
              <a:t>）。</a:t>
            </a:r>
            <a:br>
              <a:rPr lang="en-US" altLang="zh-CN" b="1" dirty="0"/>
            </a:br>
            <a:r>
              <a:rPr lang="en-US" altLang="zh-CN" b="1" dirty="0"/>
              <a:t>We have seen the rigorous verification process of seL4 (Figure 1), but for this process to truly work, there is a crucial prerequisite: the code must be 'provably correct'. If the kernel is designed arbitrarily, mathematical proofs will get stuck in an endless loop. Therefore, before starting the seL4 project, it established three major 'designed for verification' design principles (Figure 2), with the sole purpose being to reduce the state space and achieve a feasible proof (Tractable Proof).</a:t>
            </a:r>
          </a:p>
          <a:p>
            <a:endParaRPr lang="en-US" altLang="zh-CN" b="1" dirty="0"/>
          </a:p>
          <a:p>
            <a:r>
              <a:rPr lang="zh-CN" altLang="en-US" b="1" dirty="0"/>
              <a:t>汇报腹稿：为了验证而设计</a:t>
            </a:r>
            <a:r>
              <a:rPr lang="en-US" altLang="zh-CN" b="1" dirty="0"/>
              <a:t>——seL4 </a:t>
            </a:r>
            <a:r>
              <a:rPr lang="zh-CN" altLang="en-US" b="1" dirty="0"/>
              <a:t>的核心准则</a:t>
            </a:r>
          </a:p>
          <a:p>
            <a:r>
              <a:rPr lang="en-US" altLang="zh-CN" b="1" dirty="0"/>
              <a:t>1. </a:t>
            </a:r>
            <a:r>
              <a:rPr lang="zh-CN" altLang="en-US" b="1" dirty="0"/>
              <a:t>核心矛盾：复杂性是验证的天敌</a:t>
            </a:r>
          </a:p>
          <a:p>
            <a:r>
              <a:rPr lang="zh-CN" altLang="en-US" b="1" dirty="0"/>
              <a:t>中文：</a:t>
            </a:r>
            <a:r>
              <a:rPr lang="zh-CN" altLang="en-US" dirty="0"/>
              <a:t> “如果我们直接验证一个像 </a:t>
            </a:r>
            <a:r>
              <a:rPr lang="en-US" altLang="zh-CN" dirty="0"/>
              <a:t>Linux </a:t>
            </a:r>
            <a:r>
              <a:rPr lang="zh-CN" altLang="en-US" dirty="0"/>
              <a:t>这样拥有数百万行代码的内核，在数学上是不可能的。因为状态空间（</a:t>
            </a:r>
            <a:r>
              <a:rPr lang="en-US" altLang="zh-CN" dirty="0"/>
              <a:t>State Space</a:t>
            </a:r>
            <a:r>
              <a:rPr lang="zh-CN" altLang="en-US" dirty="0"/>
              <a:t>）会呈爆炸式增长。因此，</a:t>
            </a:r>
            <a:r>
              <a:rPr lang="en-US" altLang="zh-CN" dirty="0"/>
              <a:t>seL4 </a:t>
            </a:r>
            <a:r>
              <a:rPr lang="zh-CN" altLang="en-US" dirty="0"/>
              <a:t>的设计核心就是：</a:t>
            </a:r>
            <a:r>
              <a:rPr lang="zh-CN" altLang="en-US" b="1" dirty="0"/>
              <a:t>通过限制架构，使数学证明变得可行（</a:t>
            </a:r>
            <a:r>
              <a:rPr lang="en-US" altLang="zh-CN" b="1" dirty="0"/>
              <a:t>Tractable Proof</a:t>
            </a:r>
            <a:r>
              <a:rPr lang="zh-CN" altLang="en-US" b="1" dirty="0"/>
              <a:t>）</a:t>
            </a:r>
            <a:r>
              <a:rPr lang="zh-CN" altLang="en-US" dirty="0"/>
              <a:t>。这就像是为了让交警能看清每辆车，我们必须把繁忙的多层立交桥拆成几条笔直的单行道。”</a:t>
            </a:r>
            <a:endParaRPr lang="en-US" altLang="zh-CN" dirty="0"/>
          </a:p>
          <a:p>
            <a:endParaRPr lang="zh-CN" altLang="en-US" dirty="0"/>
          </a:p>
          <a:p>
            <a:r>
              <a:rPr lang="en-US" altLang="zh-CN" b="1" dirty="0"/>
              <a:t>English:</a:t>
            </a:r>
            <a:r>
              <a:rPr lang="en-US" altLang="zh-CN" dirty="0"/>
              <a:t> "Formally verifying a kernel as massive as Linux is mathematically impossible due to the exponential explosion of the state space. Therefore, the core philosophy of seL4 is </a:t>
            </a:r>
            <a:r>
              <a:rPr lang="en-US" altLang="zh-CN" b="1" dirty="0"/>
              <a:t>Strategic Design for Tractable Proof</a:t>
            </a:r>
            <a:r>
              <a:rPr lang="en-US" altLang="zh-CN" dirty="0"/>
              <a:t>. To make mathematical analysis feasible, the architecture must be intentionally constrained—much like replacing a complex multi-level cloverleaf interchange with straight, predictable one-way lanes to ensure complete oversight."</a:t>
            </a:r>
          </a:p>
          <a:p>
            <a:br>
              <a:rPr lang="en-US" altLang="zh-CN" dirty="0"/>
            </a:br>
            <a:endParaRPr lang="en-US" altLang="zh-CN" dirty="0"/>
          </a:p>
          <a:p>
            <a:r>
              <a:rPr lang="en-US" altLang="zh-CN" b="1" dirty="0"/>
              <a:t>2. </a:t>
            </a:r>
            <a:r>
              <a:rPr lang="zh-CN" altLang="en-US" b="1" dirty="0"/>
              <a:t>三大设计支柱 </a:t>
            </a:r>
            <a:r>
              <a:rPr lang="en-US" altLang="zh-CN" b="1" dirty="0"/>
              <a:t>(Three Strategic Pillars)</a:t>
            </a:r>
          </a:p>
          <a:p>
            <a:r>
              <a:rPr lang="zh-CN" altLang="en-US" b="1" dirty="0"/>
              <a:t>中文：</a:t>
            </a:r>
            <a:r>
              <a:rPr lang="zh-CN" altLang="en-US" dirty="0"/>
              <a:t> “请看图中的三个关键原则：</a:t>
            </a:r>
          </a:p>
          <a:p>
            <a:r>
              <a:rPr lang="zh-CN" altLang="en-US" b="1" dirty="0"/>
              <a:t>显式内存管理 </a:t>
            </a:r>
            <a:r>
              <a:rPr lang="en-US" altLang="zh-CN" b="1" dirty="0"/>
              <a:t>(Explicit Memory Management)</a:t>
            </a:r>
            <a:r>
              <a:rPr lang="zh-CN" altLang="en-US" b="1" dirty="0"/>
              <a:t>：</a:t>
            </a:r>
            <a:r>
              <a:rPr lang="en-US" altLang="zh-CN" dirty="0"/>
              <a:t> </a:t>
            </a:r>
            <a:r>
              <a:rPr lang="zh-CN" altLang="en-US" dirty="0"/>
              <a:t>内核彻底放弃了‘动态内存分配’（</a:t>
            </a:r>
            <a:r>
              <a:rPr lang="en-US" altLang="zh-CN" dirty="0"/>
              <a:t>No Kernel </a:t>
            </a:r>
            <a:r>
              <a:rPr lang="en-US" altLang="zh-CN" dirty="0" err="1"/>
              <a:t>Alloc</a:t>
            </a:r>
            <a:r>
              <a:rPr lang="zh-CN" altLang="en-US" dirty="0"/>
              <a:t>）。它将所有对象的生命周期管理通过 </a:t>
            </a:r>
            <a:r>
              <a:rPr lang="en-US" altLang="zh-CN" b="1" dirty="0"/>
              <a:t>Capabilities</a:t>
            </a:r>
            <a:r>
              <a:rPr lang="zh-CN" altLang="en-US" b="1" dirty="0"/>
              <a:t>（权能）</a:t>
            </a:r>
            <a:r>
              <a:rPr lang="zh-CN" altLang="en-US" dirty="0"/>
              <a:t> 机制交给了用户态。这意味着内核本身不产生‘意外’的内存变动，让数学推导拥有确定的输入。</a:t>
            </a:r>
          </a:p>
          <a:p>
            <a:r>
              <a:rPr lang="zh-CN" altLang="en-US" b="1" dirty="0"/>
              <a:t>受控的控制流 </a:t>
            </a:r>
            <a:r>
              <a:rPr lang="en-US" altLang="zh-CN" b="1" dirty="0"/>
              <a:t>(Controlled Control Flow)</a:t>
            </a:r>
            <a:r>
              <a:rPr lang="zh-CN" altLang="en-US" b="1" dirty="0"/>
              <a:t>：</a:t>
            </a:r>
            <a:r>
              <a:rPr lang="en-US" altLang="zh-CN" dirty="0"/>
              <a:t> </a:t>
            </a:r>
            <a:r>
              <a:rPr lang="zh-CN" altLang="en-US" dirty="0"/>
              <a:t>为了消除复杂的并发冲突，</a:t>
            </a:r>
            <a:r>
              <a:rPr lang="en-US" altLang="zh-CN" dirty="0"/>
              <a:t>seL4 </a:t>
            </a:r>
            <a:r>
              <a:rPr lang="zh-CN" altLang="en-US" dirty="0"/>
              <a:t>采用了‘单栈’（</a:t>
            </a:r>
            <a:r>
              <a:rPr lang="en-US" altLang="zh-CN" dirty="0"/>
              <a:t>Single Stack</a:t>
            </a:r>
            <a:r>
              <a:rPr lang="zh-CN" altLang="en-US" dirty="0"/>
              <a:t>）和‘基于事件’的执行模型。所有内核操作都是原子性的（</a:t>
            </a:r>
            <a:r>
              <a:rPr lang="en-US" altLang="zh-CN" dirty="0"/>
              <a:t>Atomic</a:t>
            </a:r>
            <a:r>
              <a:rPr lang="zh-CN" altLang="en-US" dirty="0"/>
              <a:t>），这从根本上消除了难以捉摸的海森堡 </a:t>
            </a:r>
            <a:r>
              <a:rPr lang="en-US" altLang="zh-CN" dirty="0"/>
              <a:t>Bug</a:t>
            </a:r>
            <a:r>
              <a:rPr lang="zh-CN" altLang="en-US" dirty="0"/>
              <a:t>。</a:t>
            </a:r>
          </a:p>
          <a:p>
            <a:r>
              <a:rPr lang="zh-CN" altLang="en-US" b="1" dirty="0"/>
              <a:t>极致简约 </a:t>
            </a:r>
            <a:r>
              <a:rPr lang="en-US" altLang="zh-CN" b="1" dirty="0"/>
              <a:t>(Radical Minimality)</a:t>
            </a:r>
            <a:r>
              <a:rPr lang="zh-CN" altLang="en-US" b="1" dirty="0"/>
              <a:t>：</a:t>
            </a:r>
            <a:r>
              <a:rPr lang="en-US" altLang="zh-CN" dirty="0"/>
              <a:t> </a:t>
            </a:r>
            <a:r>
              <a:rPr lang="zh-CN" altLang="en-US" dirty="0"/>
              <a:t>整个内核仅有 </a:t>
            </a:r>
            <a:r>
              <a:rPr lang="en-US" altLang="zh-CN" b="1" dirty="0"/>
              <a:t>8,700 </a:t>
            </a:r>
            <a:r>
              <a:rPr lang="zh-CN" altLang="en-US" b="1" dirty="0"/>
              <a:t>行 </a:t>
            </a:r>
            <a:r>
              <a:rPr lang="en-US" altLang="zh-CN" b="1" dirty="0"/>
              <a:t>C </a:t>
            </a:r>
            <a:r>
              <a:rPr lang="zh-CN" altLang="en-US" b="1" dirty="0"/>
              <a:t>代码</a:t>
            </a:r>
            <a:r>
              <a:rPr lang="zh-CN" altLang="en-US" dirty="0"/>
              <a:t>。这种‘极致的小’不是为了节省空间，而是为了最小化逻辑状态空间，确保数学证明能跑得完。”</a:t>
            </a:r>
          </a:p>
          <a:p>
            <a:r>
              <a:rPr lang="en-US" altLang="zh-CN" b="1" dirty="0"/>
              <a:t>English:</a:t>
            </a:r>
            <a:r>
              <a:rPr lang="en-US" altLang="zh-CN" dirty="0"/>
              <a:t> "Let's look at the three pillars shown in the diagram:</a:t>
            </a:r>
          </a:p>
          <a:p>
            <a:r>
              <a:rPr lang="en-US" altLang="zh-CN" b="1" dirty="0"/>
              <a:t>Explicit Memory Management:</a:t>
            </a:r>
            <a:r>
              <a:rPr lang="en-US" altLang="zh-CN" dirty="0"/>
              <a:t> The kernel abandons dynamic allocation entirely. By delegating object lifecycle management to the user space via </a:t>
            </a:r>
            <a:r>
              <a:rPr lang="en-US" altLang="zh-CN" b="1" dirty="0"/>
              <a:t>Capabilities</a:t>
            </a:r>
            <a:r>
              <a:rPr lang="en-US" altLang="zh-CN" dirty="0"/>
              <a:t>, it ensures the kernel's state remains predictable and free from unexpected memory changes.</a:t>
            </a:r>
          </a:p>
          <a:p>
            <a:r>
              <a:rPr lang="en-US" altLang="zh-CN" b="1" dirty="0"/>
              <a:t>Controlled Control Flow:</a:t>
            </a:r>
            <a:r>
              <a:rPr lang="en-US" altLang="zh-CN" dirty="0"/>
              <a:t> To eliminate complex concurrency issues, seL4 uses a 'Single Stack' and an event-based model. This ensures all kernel operations are </a:t>
            </a:r>
            <a:r>
              <a:rPr lang="en-US" altLang="zh-CN" b="1" dirty="0"/>
              <a:t>atomic</a:t>
            </a:r>
            <a:r>
              <a:rPr lang="en-US" altLang="zh-CN" dirty="0"/>
              <a:t>, fundamentally preventing elusive race conditions.</a:t>
            </a:r>
          </a:p>
          <a:p>
            <a:r>
              <a:rPr lang="en-US" altLang="zh-CN" b="1" dirty="0"/>
              <a:t>Radical Minimality:</a:t>
            </a:r>
            <a:r>
              <a:rPr lang="en-US" altLang="zh-CN" dirty="0"/>
              <a:t> The codebase is limited to just </a:t>
            </a:r>
            <a:r>
              <a:rPr lang="en-US" altLang="zh-CN" b="1" dirty="0"/>
              <a:t>8,700 lines of C</a:t>
            </a:r>
            <a:r>
              <a:rPr lang="en-US" altLang="zh-CN" dirty="0"/>
              <a:t>. This extreme compactness isn't about saving disk space; it's about minimizing the logical state space so the mathematical proof remains computationally feasible."</a:t>
            </a:r>
          </a:p>
          <a:p>
            <a:endParaRPr lang="en-US" altLang="zh-CN" dirty="0"/>
          </a:p>
        </p:txBody>
      </p:sp>
      <p:sp>
        <p:nvSpPr>
          <p:cNvPr id="4" name="灯片编号占位符 3">
            <a:extLst>
              <a:ext uri="{FF2B5EF4-FFF2-40B4-BE49-F238E27FC236}">
                <a16:creationId xmlns:a16="http://schemas.microsoft.com/office/drawing/2014/main" id="{A76A92E4-3520-99D0-ACFE-B5820FFA25E0}"/>
              </a:ext>
            </a:extLst>
          </p:cNvPr>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2323968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86B63-514C-C0A9-1A34-DA3BCF5C6F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208EDD-2ED2-E751-DB0E-B5D3C6F320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B88761-B4A3-2547-CEFD-96DE4199E0FD}"/>
              </a:ext>
            </a:extLst>
          </p:cNvPr>
          <p:cNvSpPr>
            <a:spLocks noGrp="1"/>
          </p:cNvSpPr>
          <p:nvPr>
            <p:ph type="body" idx="1"/>
          </p:nvPr>
        </p:nvSpPr>
        <p:spPr/>
        <p:txBody>
          <a:bodyPr/>
          <a:lstStyle/>
          <a:p>
            <a:r>
              <a:rPr lang="zh-CN" altLang="en-US" b="1" dirty="0"/>
              <a:t>打破僵局：</a:t>
            </a:r>
            <a:r>
              <a:rPr lang="en-US" altLang="zh-CN" b="1" dirty="0"/>
              <a:t>L3 </a:t>
            </a:r>
            <a:r>
              <a:rPr lang="zh-CN" altLang="en-US" b="1" dirty="0"/>
              <a:t>对传统微内核的超越</a:t>
            </a:r>
          </a:p>
          <a:p>
            <a:r>
              <a:rPr lang="zh-CN" altLang="en-US" b="1" dirty="0"/>
              <a:t>中文：</a:t>
            </a:r>
            <a:r>
              <a:rPr lang="zh-CN" altLang="en-US" dirty="0"/>
              <a:t> “首先，我们用数据回应最初的质疑：微内核一定慢吗？ 请看图 </a:t>
            </a:r>
            <a:r>
              <a:rPr lang="en-US" altLang="zh-CN" dirty="0"/>
              <a:t>1</a:t>
            </a:r>
            <a:r>
              <a:rPr lang="zh-CN" altLang="en-US" dirty="0"/>
              <a:t>，在 </a:t>
            </a:r>
            <a:r>
              <a:rPr lang="en-US" altLang="zh-CN" dirty="0"/>
              <a:t>90 </a:t>
            </a:r>
            <a:r>
              <a:rPr lang="zh-CN" altLang="en-US" dirty="0"/>
              <a:t>年代初的测试中，</a:t>
            </a:r>
            <a:r>
              <a:rPr lang="en-US" altLang="zh-CN" b="1" dirty="0"/>
              <a:t>L4</a:t>
            </a:r>
            <a:r>
              <a:rPr lang="zh-CN" altLang="en-US" b="1" dirty="0"/>
              <a:t>（蓝柱）</a:t>
            </a:r>
            <a:r>
              <a:rPr lang="zh-CN" altLang="en-US" dirty="0"/>
              <a:t> 相比当时主流的 </a:t>
            </a:r>
            <a:r>
              <a:rPr lang="en-US" altLang="zh-CN" b="1" dirty="0"/>
              <a:t>Mach</a:t>
            </a:r>
            <a:r>
              <a:rPr lang="zh-CN" altLang="en-US" b="1" dirty="0"/>
              <a:t>（红框）</a:t>
            </a:r>
            <a:r>
              <a:rPr lang="zh-CN" altLang="en-US" dirty="0"/>
              <a:t> 实现了质的飞跃。在 </a:t>
            </a:r>
            <a:r>
              <a:rPr lang="en-US" altLang="zh-CN" dirty="0"/>
              <a:t>8 </a:t>
            </a:r>
            <a:r>
              <a:rPr lang="zh-CN" altLang="en-US" dirty="0"/>
              <a:t>字节到 </a:t>
            </a:r>
            <a:r>
              <a:rPr lang="en-US" altLang="zh-CN" dirty="0"/>
              <a:t>512 </a:t>
            </a:r>
            <a:r>
              <a:rPr lang="zh-CN" altLang="en-US" dirty="0"/>
              <a:t>字节的不同消息量下，</a:t>
            </a:r>
            <a:r>
              <a:rPr lang="en-US" altLang="zh-CN" dirty="0"/>
              <a:t>L3 </a:t>
            </a:r>
            <a:r>
              <a:rPr lang="zh-CN" altLang="en-US" dirty="0"/>
              <a:t>的 </a:t>
            </a:r>
            <a:r>
              <a:rPr lang="en-US" altLang="zh-CN" dirty="0"/>
              <a:t>IPC </a:t>
            </a:r>
            <a:r>
              <a:rPr lang="zh-CN" altLang="en-US" dirty="0"/>
              <a:t>延迟都极其平稳且极低。 这证明了通过 </a:t>
            </a:r>
            <a:r>
              <a:rPr lang="en-US" altLang="zh-CN" b="1" dirty="0"/>
              <a:t>Fast IPC</a:t>
            </a:r>
            <a:r>
              <a:rPr lang="en-US" altLang="zh-CN" dirty="0"/>
              <a:t> </a:t>
            </a:r>
            <a:r>
              <a:rPr lang="zh-CN" altLang="en-US" dirty="0"/>
              <a:t>技术，微内核完全有能力挑战单体内核的效率。它告诉我们：性能瓶颈不在于‘微内核’这个概念，而在于平庸的实现。”</a:t>
            </a:r>
          </a:p>
          <a:p>
            <a:r>
              <a:rPr lang="en-US" altLang="zh-CN" b="1" dirty="0"/>
              <a:t>English:</a:t>
            </a:r>
            <a:r>
              <a:rPr lang="en-US" altLang="zh-CN" dirty="0"/>
              <a:t> "First, let's address the fundamental question with data: Are microkernels inherently slow? Looking at the 90s benchmarks, </a:t>
            </a:r>
            <a:r>
              <a:rPr lang="en-US" altLang="zh-CN" b="1" dirty="0"/>
              <a:t>L3 (blue bars)</a:t>
            </a:r>
            <a:r>
              <a:rPr lang="en-US" altLang="zh-CN" dirty="0"/>
              <a:t> demonstrated a quantum leap over </a:t>
            </a:r>
            <a:r>
              <a:rPr lang="en-US" altLang="zh-CN" b="1" dirty="0"/>
              <a:t>Mach (red outlines)</a:t>
            </a:r>
            <a:r>
              <a:rPr lang="en-US" altLang="zh-CN" dirty="0"/>
              <a:t>. Whether for 8-byte or 512-byte messages, L3's IPC latency remained consistently minimal. This proved that with </a:t>
            </a:r>
            <a:r>
              <a:rPr lang="en-US" altLang="zh-CN" b="1" dirty="0"/>
              <a:t>Fast IPC</a:t>
            </a:r>
            <a:r>
              <a:rPr lang="en-US" altLang="zh-CN" dirty="0"/>
              <a:t> techniques, a microkernel could finally challenge the efficiency of monolithic systems. It sent a clear message: the bottleneck wasn't the microkernel concept itself, but rather a mediocre implementation."</a:t>
            </a:r>
          </a:p>
          <a:p>
            <a:br>
              <a:rPr lang="en-US" altLang="zh-CN" dirty="0"/>
            </a:br>
            <a:endParaRPr lang="en-US" altLang="zh-CN" dirty="0"/>
          </a:p>
          <a:p>
            <a:r>
              <a:rPr lang="en-US" altLang="zh-CN" b="1" dirty="0"/>
              <a:t>2. seL4 </a:t>
            </a:r>
            <a:r>
              <a:rPr lang="zh-CN" altLang="en-US" b="1" dirty="0"/>
              <a:t>的奇迹：安全与性能的兼得</a:t>
            </a:r>
          </a:p>
          <a:p>
            <a:r>
              <a:rPr lang="zh-CN" altLang="en-US" b="1" dirty="0"/>
              <a:t>中文：</a:t>
            </a:r>
            <a:r>
              <a:rPr lang="zh-CN" altLang="en-US" dirty="0"/>
              <a:t> “接下来看 </a:t>
            </a:r>
            <a:r>
              <a:rPr lang="en-US" altLang="zh-CN" b="1" dirty="0"/>
              <a:t>seL4</a:t>
            </a:r>
            <a:r>
              <a:rPr lang="zh-CN" altLang="en-US" dirty="0"/>
              <a:t>。很多人认为，为了实现‘形式化验证’这种极致安全，必须牺牲大量性能。但图 </a:t>
            </a:r>
            <a:r>
              <a:rPr lang="en-US" altLang="zh-CN" dirty="0"/>
              <a:t>2 </a:t>
            </a:r>
            <a:r>
              <a:rPr lang="zh-CN" altLang="en-US" dirty="0"/>
              <a:t>给了我们惊喜：</a:t>
            </a:r>
          </a:p>
          <a:p>
            <a:r>
              <a:rPr lang="zh-CN" altLang="en-US" b="1" dirty="0"/>
              <a:t>接近极限：</a:t>
            </a:r>
            <a:r>
              <a:rPr lang="zh-CN" altLang="en-US" dirty="0"/>
              <a:t> 经过验证的 </a:t>
            </a:r>
            <a:r>
              <a:rPr lang="en-US" altLang="zh-CN" dirty="0"/>
              <a:t>seL4 C </a:t>
            </a:r>
            <a:r>
              <a:rPr lang="zh-CN" altLang="en-US" dirty="0"/>
              <a:t>实现，其性能仅比‘手工调优的汇编代码（</a:t>
            </a:r>
            <a:r>
              <a:rPr lang="en-US" altLang="zh-CN" dirty="0"/>
              <a:t>OKL4</a:t>
            </a:r>
            <a:r>
              <a:rPr lang="zh-CN" altLang="en-US" dirty="0"/>
              <a:t>）’慢了 </a:t>
            </a:r>
            <a:r>
              <a:rPr lang="en-US" altLang="zh-CN" b="1" dirty="0"/>
              <a:t>9%</a:t>
            </a:r>
            <a:r>
              <a:rPr lang="zh-CN" altLang="en-US" dirty="0"/>
              <a:t>。</a:t>
            </a:r>
          </a:p>
          <a:p>
            <a:r>
              <a:rPr lang="zh-CN" altLang="en-US" b="1" dirty="0"/>
              <a:t>巨大的领先：</a:t>
            </a:r>
            <a:r>
              <a:rPr lang="zh-CN" altLang="en-US" dirty="0"/>
              <a:t> 相比于未经过这种深度优化的标准 </a:t>
            </a:r>
            <a:r>
              <a:rPr lang="en-US" altLang="zh-CN" dirty="0"/>
              <a:t>C </a:t>
            </a:r>
            <a:r>
              <a:rPr lang="zh-CN" altLang="en-US" dirty="0"/>
              <a:t>版本，</a:t>
            </a:r>
            <a:r>
              <a:rPr lang="en-US" altLang="zh-CN" dirty="0"/>
              <a:t>seL4 </a:t>
            </a:r>
            <a:r>
              <a:rPr lang="zh-CN" altLang="en-US" dirty="0"/>
              <a:t>展现出了压倒性的优势（</a:t>
            </a:r>
            <a:r>
              <a:rPr lang="en-US" altLang="zh-CN" dirty="0"/>
              <a:t>224 vs 756 CPU cycles</a:t>
            </a:r>
            <a:r>
              <a:rPr lang="zh-CN" altLang="en-US" dirty="0"/>
              <a:t>）。 这说明，通过精良的设计，我们可以在获得‘零 </a:t>
            </a:r>
            <a:r>
              <a:rPr lang="en-US" altLang="zh-CN" dirty="0"/>
              <a:t>Bug’</a:t>
            </a:r>
            <a:r>
              <a:rPr lang="zh-CN" altLang="en-US" dirty="0"/>
              <a:t>数学保证的同时，依然维持工业级的运行效率。”</a:t>
            </a:r>
          </a:p>
          <a:p>
            <a:r>
              <a:rPr lang="en-US" altLang="zh-CN" b="1" dirty="0"/>
              <a:t>English:</a:t>
            </a:r>
            <a:r>
              <a:rPr lang="en-US" altLang="zh-CN" dirty="0"/>
              <a:t> "Now, let's look at </a:t>
            </a:r>
            <a:r>
              <a:rPr lang="en-US" altLang="zh-CN" b="1" dirty="0"/>
              <a:t>seL4</a:t>
            </a:r>
            <a:r>
              <a:rPr lang="en-US" altLang="zh-CN" dirty="0"/>
              <a:t>. A common misconception is that achieving 'Formal Verification' requires a massive performance sacrifice. Figure 2 proves otherwise:</a:t>
            </a:r>
          </a:p>
          <a:p>
            <a:r>
              <a:rPr lang="en-US" altLang="zh-CN" b="1" dirty="0"/>
              <a:t>Near-Limit Performance</a:t>
            </a:r>
            <a:r>
              <a:rPr lang="en-US" altLang="zh-CN" dirty="0"/>
              <a:t>: The verified seL4 C implementation is only </a:t>
            </a:r>
            <a:r>
              <a:rPr lang="en-US" altLang="zh-CN" b="1" dirty="0"/>
              <a:t>9% slower</a:t>
            </a:r>
            <a:r>
              <a:rPr lang="en-US" altLang="zh-CN" dirty="0"/>
              <a:t> than hand-tuned assembly (OKL4).</a:t>
            </a:r>
          </a:p>
          <a:p>
            <a:r>
              <a:rPr lang="en-US" altLang="zh-CN" b="1" dirty="0"/>
              <a:t>A Massive Lead</a:t>
            </a:r>
            <a:r>
              <a:rPr lang="en-US" altLang="zh-CN" dirty="0"/>
              <a:t>: Compared to standard C implementations without such optimization, seL4 shows overwhelming superiority, clocking in at 224 vs 756 CPU cycles. This demonstrates that through superior design, we can achieve 'bug-free' mathematical guarantees while maintaining industrial-grade efficiency."</a:t>
            </a:r>
          </a:p>
        </p:txBody>
      </p:sp>
      <p:sp>
        <p:nvSpPr>
          <p:cNvPr id="4" name="灯片编号占位符 3">
            <a:extLst>
              <a:ext uri="{FF2B5EF4-FFF2-40B4-BE49-F238E27FC236}">
                <a16:creationId xmlns:a16="http://schemas.microsoft.com/office/drawing/2014/main" id="{21555587-DBD1-BFB0-4E71-179E61C21485}"/>
              </a:ext>
            </a:extLst>
          </p:cNvPr>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275295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16071-BF82-3357-0E72-724FC206EA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E8E89B-4652-6982-C5E7-AEB20E0903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3AF1DC-7ECC-8122-AC84-8C995ABE85BA}"/>
              </a:ext>
            </a:extLst>
          </p:cNvPr>
          <p:cNvSpPr>
            <a:spLocks noGrp="1"/>
          </p:cNvSpPr>
          <p:nvPr>
            <p:ph type="body" idx="1"/>
          </p:nvPr>
        </p:nvSpPr>
        <p:spPr/>
        <p:txBody>
          <a:bodyPr/>
          <a:lstStyle/>
          <a:p>
            <a:r>
              <a:rPr lang="en-US" altLang="zh-CN" b="1" dirty="0"/>
              <a:t>eL4 </a:t>
            </a:r>
            <a:r>
              <a:rPr lang="zh-CN" altLang="en-US" b="1" dirty="0"/>
              <a:t>的局限：难以逾越的安全成本 </a:t>
            </a:r>
            <a:r>
              <a:rPr lang="en-US" altLang="zh-CN" b="1" dirty="0"/>
              <a:t>(The seL4 Dilemma)</a:t>
            </a:r>
          </a:p>
          <a:p>
            <a:r>
              <a:rPr lang="zh-CN" altLang="en-US" b="1" dirty="0"/>
              <a:t>中文：</a:t>
            </a:r>
            <a:r>
              <a:rPr lang="zh-CN" altLang="en-US" dirty="0"/>
              <a:t> “在领略了 </a:t>
            </a:r>
            <a:r>
              <a:rPr lang="en-US" altLang="zh-CN" dirty="0"/>
              <a:t>seL4 </a:t>
            </a:r>
            <a:r>
              <a:rPr lang="zh-CN" altLang="en-US" dirty="0"/>
              <a:t>数学级的安全性后，我们必须面对一个残酷的工程现实，也就是所谓的**‘</a:t>
            </a:r>
            <a:r>
              <a:rPr lang="en-US" altLang="zh-CN" dirty="0"/>
              <a:t>seL4 </a:t>
            </a:r>
            <a:r>
              <a:rPr lang="zh-CN" altLang="en-US" dirty="0"/>
              <a:t>困境’**。</a:t>
            </a:r>
          </a:p>
          <a:p>
            <a:r>
              <a:rPr lang="zh-CN" altLang="en-US" b="1" dirty="0"/>
              <a:t>证明爆炸与脆弱性：</a:t>
            </a:r>
            <a:r>
              <a:rPr lang="zh-CN" altLang="en-US" dirty="0"/>
              <a:t> 正如 </a:t>
            </a:r>
            <a:r>
              <a:rPr lang="en-US" altLang="zh-CN" dirty="0"/>
              <a:t>PPT </a:t>
            </a:r>
            <a:r>
              <a:rPr lang="zh-CN" altLang="en-US" dirty="0"/>
              <a:t>所示，</a:t>
            </a:r>
            <a:r>
              <a:rPr lang="en-US" altLang="zh-CN" dirty="0"/>
              <a:t>seL4 </a:t>
            </a:r>
            <a:r>
              <a:rPr lang="zh-CN" altLang="en-US" dirty="0"/>
              <a:t>仅 </a:t>
            </a:r>
            <a:r>
              <a:rPr lang="en-US" altLang="zh-CN" dirty="0"/>
              <a:t>1 </a:t>
            </a:r>
            <a:r>
              <a:rPr lang="zh-CN" altLang="en-US" dirty="0"/>
              <a:t>万行代码就对应了 </a:t>
            </a:r>
            <a:r>
              <a:rPr lang="en-US" altLang="zh-CN" dirty="0"/>
              <a:t>50 </a:t>
            </a:r>
            <a:r>
              <a:rPr lang="zh-CN" altLang="en-US" dirty="0"/>
              <a:t>万行证明脚本。更糟糕的是，证明链极其脆弱，增加一个简单的功能（如多核调度）就可能导致整个证明链崩溃，让开发周期以‘年’为单位。</a:t>
            </a:r>
          </a:p>
          <a:p>
            <a:r>
              <a:rPr lang="zh-CN" altLang="en-US" b="1" dirty="0"/>
              <a:t>过于简化与生态割裂：</a:t>
            </a:r>
            <a:r>
              <a:rPr lang="zh-CN" altLang="en-US" dirty="0"/>
              <a:t> 为了保持‘可证明性’，</a:t>
            </a:r>
            <a:r>
              <a:rPr lang="en-US" altLang="zh-CN" dirty="0"/>
              <a:t>seL4 </a:t>
            </a:r>
            <a:r>
              <a:rPr lang="zh-CN" altLang="en-US" dirty="0"/>
              <a:t>剔除了大量现代 </a:t>
            </a:r>
            <a:r>
              <a:rPr lang="en-US" altLang="zh-CN" dirty="0"/>
              <a:t>OS </a:t>
            </a:r>
            <a:r>
              <a:rPr lang="zh-CN" altLang="en-US" dirty="0"/>
              <a:t>必备的功能（如文件系统、驱动框架），且不兼容 </a:t>
            </a:r>
            <a:r>
              <a:rPr lang="en-US" altLang="zh-CN" dirty="0"/>
              <a:t>Linux </a:t>
            </a:r>
            <a:r>
              <a:rPr lang="zh-CN" altLang="en-US" dirty="0"/>
              <a:t>生态。开发者往往需要‘从零构建’，这在瞬息万变的现代工业中，准入门槛实在太高了。”</a:t>
            </a:r>
          </a:p>
          <a:p>
            <a:r>
              <a:rPr lang="en-US" altLang="zh-CN" b="1" dirty="0"/>
              <a:t>English:</a:t>
            </a:r>
            <a:r>
              <a:rPr lang="en-US" altLang="zh-CN" dirty="0"/>
              <a:t> "After witnessing the mathematical security of seL4, we must confront a harsh engineering reality known as the </a:t>
            </a:r>
            <a:r>
              <a:rPr lang="en-US" altLang="zh-CN" b="1" dirty="0"/>
              <a:t>'seL4 Dilemma.'</a:t>
            </a:r>
            <a:endParaRPr lang="en-US" altLang="zh-CN" dirty="0"/>
          </a:p>
          <a:p>
            <a:r>
              <a:rPr lang="en-US" altLang="zh-CN" b="1" dirty="0"/>
              <a:t>Proof Explosion &amp; Fragility:</a:t>
            </a:r>
            <a:r>
              <a:rPr lang="en-US" altLang="zh-CN" dirty="0"/>
              <a:t> As shown in the slide, seL4’s 10k lines of code require a staggering 500k+ lines of proof. Even worse, the proof chain is incredibly fragile; adding a simple feature like multicore scheduling can break the entire chain, leading to development cycles measured in years.</a:t>
            </a:r>
          </a:p>
          <a:p>
            <a:r>
              <a:rPr lang="en-US" altLang="zh-CN" b="1" dirty="0"/>
              <a:t>Over-simplification &amp; Fragmentation:</a:t>
            </a:r>
            <a:r>
              <a:rPr lang="en-US" altLang="zh-CN" dirty="0"/>
              <a:t> To remain 'provable,' seL4 strips away essential modern OS features and lacks Linux compatibility. This forces developers to 'build from scratch,' creating a high entry barrier that is often impractical for fast-paced industrial needs."</a:t>
            </a:r>
          </a:p>
          <a:p>
            <a:br>
              <a:rPr lang="en-US" altLang="zh-CN" dirty="0"/>
            </a:br>
            <a:endParaRPr lang="en-US" altLang="zh-CN" dirty="0"/>
          </a:p>
          <a:p>
            <a:r>
              <a:rPr lang="en-US" altLang="zh-CN" b="1" dirty="0"/>
              <a:t>2. </a:t>
            </a:r>
            <a:r>
              <a:rPr lang="en-US" altLang="zh-CN" b="1" dirty="0" err="1"/>
              <a:t>Asterinas</a:t>
            </a:r>
            <a:r>
              <a:rPr lang="en-US" altLang="zh-CN" b="1" dirty="0"/>
              <a:t> </a:t>
            </a:r>
            <a:r>
              <a:rPr lang="zh-CN" altLang="en-US" b="1" dirty="0"/>
              <a:t>的突破：从“手动证明”到“原生验证” </a:t>
            </a:r>
            <a:r>
              <a:rPr lang="en-US" altLang="zh-CN" b="1" dirty="0"/>
              <a:t>(What </a:t>
            </a:r>
            <a:r>
              <a:rPr lang="en-US" altLang="zh-CN" b="1" dirty="0" err="1"/>
              <a:t>Asterinas</a:t>
            </a:r>
            <a:r>
              <a:rPr lang="en-US" altLang="zh-CN" b="1" dirty="0"/>
              <a:t> Did)</a:t>
            </a:r>
          </a:p>
          <a:p>
            <a:r>
              <a:rPr lang="zh-CN" altLang="en-US" b="1" dirty="0"/>
              <a:t>中文：</a:t>
            </a:r>
            <a:r>
              <a:rPr lang="zh-CN" altLang="en-US" dirty="0"/>
              <a:t> “为了破解这一困境，</a:t>
            </a:r>
            <a:r>
              <a:rPr lang="en-US" altLang="zh-CN" b="1" dirty="0" err="1"/>
              <a:t>Asterinas</a:t>
            </a:r>
            <a:r>
              <a:rPr lang="en-US" altLang="zh-CN" dirty="0"/>
              <a:t> </a:t>
            </a:r>
            <a:r>
              <a:rPr lang="zh-CN" altLang="en-US" dirty="0"/>
              <a:t>应运而生。它不仅是一个内核，更是一种全新的‘框架内核（</a:t>
            </a:r>
            <a:r>
              <a:rPr lang="en-US" altLang="zh-CN" dirty="0" err="1"/>
              <a:t>Framekernel</a:t>
            </a:r>
            <a:r>
              <a:rPr lang="zh-CN" altLang="en-US" dirty="0"/>
              <a:t>）’范式。</a:t>
            </a:r>
          </a:p>
          <a:p>
            <a:r>
              <a:rPr lang="zh-CN" altLang="en-US" b="1" dirty="0"/>
              <a:t>即时验证：</a:t>
            </a:r>
            <a:r>
              <a:rPr lang="zh-CN" altLang="en-US" dirty="0"/>
              <a:t> 核心突破在于它放弃了沉重的手动证明，转而利用 </a:t>
            </a:r>
            <a:r>
              <a:rPr lang="en-US" altLang="zh-CN" b="1" dirty="0"/>
              <a:t>Rust </a:t>
            </a:r>
            <a:r>
              <a:rPr lang="zh-CN" altLang="en-US" b="1" dirty="0"/>
              <a:t>语言的静态分析</a:t>
            </a:r>
            <a:r>
              <a:rPr lang="zh-CN" altLang="en-US" dirty="0"/>
              <a:t>。每一次代码编译都相当于进行了一次秒级的深度安全审计，极大地缩短了验证周期。</a:t>
            </a:r>
          </a:p>
          <a:p>
            <a:r>
              <a:rPr lang="zh-CN" altLang="en-US" b="1" dirty="0"/>
              <a:t>原生兼容性：</a:t>
            </a:r>
            <a:r>
              <a:rPr lang="zh-CN" altLang="en-US" dirty="0"/>
              <a:t> 不同于 </a:t>
            </a:r>
            <a:r>
              <a:rPr lang="en-US" altLang="zh-CN" dirty="0"/>
              <a:t>seL4 </a:t>
            </a:r>
            <a:r>
              <a:rPr lang="zh-CN" altLang="en-US" dirty="0"/>
              <a:t>的孤立，</a:t>
            </a:r>
            <a:r>
              <a:rPr lang="en-US" altLang="zh-CN" dirty="0" err="1"/>
              <a:t>Asterinas</a:t>
            </a:r>
            <a:r>
              <a:rPr lang="en-US" altLang="zh-CN" dirty="0"/>
              <a:t> </a:t>
            </a:r>
            <a:r>
              <a:rPr lang="zh-CN" altLang="en-US" dirty="0"/>
              <a:t>设计了一个</a:t>
            </a:r>
            <a:r>
              <a:rPr lang="zh-CN" altLang="en-US" b="1" dirty="0"/>
              <a:t>兼容 </a:t>
            </a:r>
            <a:r>
              <a:rPr lang="en-US" altLang="zh-CN" b="1" dirty="0"/>
              <a:t>Linux-ABI </a:t>
            </a:r>
            <a:r>
              <a:rPr lang="zh-CN" altLang="en-US" b="1" dirty="0"/>
              <a:t>的垫片层</a:t>
            </a:r>
            <a:r>
              <a:rPr lang="zh-CN" altLang="en-US" dirty="0"/>
              <a:t>。这意味着 </a:t>
            </a:r>
            <a:r>
              <a:rPr lang="en-US" altLang="zh-CN" dirty="0"/>
              <a:t>Redis</a:t>
            </a:r>
            <a:r>
              <a:rPr lang="zh-CN" altLang="en-US" dirty="0"/>
              <a:t>、</a:t>
            </a:r>
            <a:r>
              <a:rPr lang="en-US" altLang="zh-CN" dirty="0"/>
              <a:t>Nginx </a:t>
            </a:r>
            <a:r>
              <a:rPr lang="zh-CN" altLang="en-US" dirty="0"/>
              <a:t>等标准应用可以‘开箱即用’，无缝衔接现有成熟生态。”</a:t>
            </a:r>
          </a:p>
          <a:p>
            <a:r>
              <a:rPr lang="en-US" altLang="zh-CN" b="1" dirty="0"/>
              <a:t>English:</a:t>
            </a:r>
            <a:r>
              <a:rPr lang="en-US" altLang="zh-CN" dirty="0"/>
              <a:t> "To overcome these hurdles, </a:t>
            </a:r>
            <a:r>
              <a:rPr lang="en-US" altLang="zh-CN" b="1" dirty="0" err="1"/>
              <a:t>Asterinas</a:t>
            </a:r>
            <a:r>
              <a:rPr lang="en-US" altLang="zh-CN" dirty="0"/>
              <a:t> was developed, introducing the </a:t>
            </a:r>
            <a:r>
              <a:rPr lang="en-US" altLang="zh-CN" b="1" dirty="0"/>
              <a:t>'</a:t>
            </a:r>
            <a:r>
              <a:rPr lang="en-US" altLang="zh-CN" b="1" dirty="0" err="1"/>
              <a:t>Framekernel</a:t>
            </a:r>
            <a:r>
              <a:rPr lang="en-US" altLang="zh-CN" b="1" dirty="0"/>
              <a:t>'</a:t>
            </a:r>
            <a:r>
              <a:rPr lang="en-US" altLang="zh-CN" dirty="0"/>
              <a:t> paradigm.</a:t>
            </a:r>
          </a:p>
          <a:p>
            <a:r>
              <a:rPr lang="en-US" altLang="zh-CN" b="1" dirty="0"/>
              <a:t>Instant Verification:</a:t>
            </a:r>
            <a:r>
              <a:rPr lang="en-US" altLang="zh-CN" dirty="0"/>
              <a:t> Its core breakthrough is replacing heavy manual proofs with </a:t>
            </a:r>
            <a:r>
              <a:rPr lang="en-US" altLang="zh-CN" b="1" dirty="0"/>
              <a:t>Rust's Static Analysis</a:t>
            </a:r>
            <a:r>
              <a:rPr lang="en-US" altLang="zh-CN" dirty="0"/>
              <a:t>. Every compilation acts as a comprehensive security audit in seconds, drastically shortening the verification cycle.</a:t>
            </a:r>
          </a:p>
          <a:p>
            <a:r>
              <a:rPr lang="en-US" altLang="zh-CN" b="1" dirty="0"/>
              <a:t>Native Compatibility:</a:t>
            </a:r>
            <a:r>
              <a:rPr lang="en-US" altLang="zh-CN" dirty="0"/>
              <a:t> Unlike the isolation of seL4, </a:t>
            </a:r>
            <a:r>
              <a:rPr lang="en-US" altLang="zh-CN" dirty="0" err="1"/>
              <a:t>Asterinas</a:t>
            </a:r>
            <a:r>
              <a:rPr lang="en-US" altLang="zh-CN" dirty="0"/>
              <a:t> is built with a </a:t>
            </a:r>
            <a:r>
              <a:rPr lang="en-US" altLang="zh-CN" b="1" dirty="0"/>
              <a:t>Linux-ABI compliant shim</a:t>
            </a:r>
            <a:r>
              <a:rPr lang="en-US" altLang="zh-CN" dirty="0"/>
              <a:t>. This allows standard applications like Redis and Nginx to run out-of-the-box, bridging the gap between high security and the existing ecosystem."</a:t>
            </a:r>
          </a:p>
          <a:p>
            <a:endParaRPr lang="en-US" altLang="zh-CN" dirty="0"/>
          </a:p>
        </p:txBody>
      </p:sp>
      <p:sp>
        <p:nvSpPr>
          <p:cNvPr id="4" name="灯片编号占位符 3">
            <a:extLst>
              <a:ext uri="{FF2B5EF4-FFF2-40B4-BE49-F238E27FC236}">
                <a16:creationId xmlns:a16="http://schemas.microsoft.com/office/drawing/2014/main" id="{2FB29017-7A62-4828-77A7-D5A645F7FFFF}"/>
              </a:ext>
            </a:extLst>
          </p:cNvPr>
          <p:cNvSpPr>
            <a:spLocks noGrp="1"/>
          </p:cNvSpPr>
          <p:nvPr>
            <p:ph type="sldNum" sz="quarter" idx="5"/>
          </p:nvPr>
        </p:nvSpPr>
        <p:spPr/>
        <p:txBody>
          <a:bodyPr/>
          <a:lstStyle/>
          <a:p>
            <a:fld id="{B11D5518-E2B7-47D3-A483-775D39982443}" type="slidenum">
              <a:rPr lang="zh-TW" altLang="en-US" smtClean="0"/>
              <a:t>18</a:t>
            </a:fld>
            <a:endParaRPr lang="zh-TW" altLang="en-US"/>
          </a:p>
        </p:txBody>
      </p:sp>
    </p:spTree>
    <p:extLst>
      <p:ext uri="{BB962C8B-B14F-4D97-AF65-F5344CB8AC3E}">
        <p14:creationId xmlns:p14="http://schemas.microsoft.com/office/powerpoint/2010/main" val="2424942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6A7E5-31AD-D2E5-386A-2267D007A5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0EFE4-1CFB-008F-980B-B97FADCB50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EF797E-2097-ED0A-F1A3-B5DCB0E9A142}"/>
              </a:ext>
            </a:extLst>
          </p:cNvPr>
          <p:cNvSpPr>
            <a:spLocks noGrp="1"/>
          </p:cNvSpPr>
          <p:nvPr>
            <p:ph type="body" idx="1"/>
          </p:nvPr>
        </p:nvSpPr>
        <p:spPr/>
        <p:txBody>
          <a:bodyPr/>
          <a:lstStyle/>
          <a:p>
            <a:r>
              <a:rPr lang="en-US" altLang="zh-CN" b="1" dirty="0"/>
              <a:t>1. </a:t>
            </a:r>
            <a:r>
              <a:rPr lang="zh-CN" altLang="en-US" b="1" dirty="0"/>
              <a:t>核心理念：超越传统的“二元论” </a:t>
            </a:r>
            <a:r>
              <a:rPr lang="en-US" altLang="zh-CN" b="1" dirty="0"/>
              <a:t>(Beyond Binary Isolation)</a:t>
            </a:r>
          </a:p>
          <a:p>
            <a:r>
              <a:rPr lang="zh-CN" altLang="en-US" b="1" dirty="0"/>
              <a:t>中文：</a:t>
            </a:r>
            <a:r>
              <a:rPr lang="zh-CN" altLang="en-US" dirty="0"/>
              <a:t> “在讨论完微内核的演进后，我们来看看 </a:t>
            </a:r>
            <a:r>
              <a:rPr lang="en-US" altLang="zh-CN" dirty="0" err="1"/>
              <a:t>Asterinas</a:t>
            </a:r>
            <a:r>
              <a:rPr lang="en-US" altLang="zh-CN" dirty="0"/>
              <a:t> </a:t>
            </a:r>
            <a:r>
              <a:rPr lang="zh-CN" altLang="en-US" dirty="0"/>
              <a:t>提出的创新架构</a:t>
            </a:r>
            <a:r>
              <a:rPr lang="en-US" altLang="zh-CN" dirty="0"/>
              <a:t>——</a:t>
            </a:r>
            <a:r>
              <a:rPr lang="en-US" altLang="zh-CN" b="1" dirty="0" err="1"/>
              <a:t>Framekernel</a:t>
            </a:r>
            <a:r>
              <a:rPr lang="zh-CN" altLang="en-US" b="1" dirty="0"/>
              <a:t>（框架内核）</a:t>
            </a:r>
            <a:r>
              <a:rPr lang="zh-CN" altLang="en-US" dirty="0"/>
              <a:t>。 传统的单体内核和微内核往往只在‘用户态’和‘内核态’之间划一条粗略的红线。而 </a:t>
            </a:r>
            <a:r>
              <a:rPr lang="en-US" altLang="zh-CN" dirty="0" err="1"/>
              <a:t>Framekernel</a:t>
            </a:r>
            <a:r>
              <a:rPr lang="en-US" altLang="zh-CN" dirty="0"/>
              <a:t> </a:t>
            </a:r>
            <a:r>
              <a:rPr lang="zh-CN" altLang="en-US" dirty="0"/>
              <a:t>的核心理念是：</a:t>
            </a:r>
            <a:r>
              <a:rPr lang="zh-CN" altLang="en-US" b="1" dirty="0"/>
              <a:t>不仅仅依靠运行时的隔离，更要依靠编译时的‘所有权管理’。</a:t>
            </a:r>
            <a:r>
              <a:rPr lang="zh-CN" altLang="en-US" dirty="0"/>
              <a:t> 它将复杂的系统资源进行了精细化的拆解和流转。”</a:t>
            </a:r>
          </a:p>
          <a:p>
            <a:r>
              <a:rPr lang="en-US" altLang="zh-CN" b="1" dirty="0"/>
              <a:t>English:</a:t>
            </a:r>
            <a:r>
              <a:rPr lang="en-US" altLang="zh-CN" dirty="0"/>
              <a:t> "Having discussed the evolution of microkernels, let's examine the innovative architecture proposed by </a:t>
            </a:r>
            <a:r>
              <a:rPr lang="en-US" altLang="zh-CN" dirty="0" err="1"/>
              <a:t>Asterinas</a:t>
            </a:r>
            <a:r>
              <a:rPr lang="en-US" altLang="zh-CN" dirty="0"/>
              <a:t>: the </a:t>
            </a:r>
            <a:r>
              <a:rPr lang="en-US" altLang="zh-CN" b="1" dirty="0" err="1"/>
              <a:t>Framekernel</a:t>
            </a:r>
            <a:r>
              <a:rPr lang="en-US" altLang="zh-CN" dirty="0"/>
              <a:t>. Traditional kernels typically draw a single, coarse line between 'User Mode' and 'Kernel Mode.' The core philosophy of a </a:t>
            </a:r>
            <a:r>
              <a:rPr lang="en-US" altLang="zh-CN" dirty="0" err="1"/>
              <a:t>Framekernel</a:t>
            </a:r>
            <a:r>
              <a:rPr lang="en-US" altLang="zh-CN" dirty="0"/>
              <a:t> is to move beyond simple runtime isolation and instead rely on </a:t>
            </a:r>
            <a:r>
              <a:rPr lang="en-US" altLang="zh-CN" b="1" dirty="0"/>
              <a:t>compile-time 'Ownership Management.'</a:t>
            </a:r>
            <a:r>
              <a:rPr lang="en-US" altLang="zh-CN" dirty="0"/>
              <a:t> it deconstructs and manages complex system resources with surgical precision."</a:t>
            </a:r>
          </a:p>
          <a:p>
            <a:br>
              <a:rPr lang="en-US" altLang="zh-CN" dirty="0"/>
            </a:br>
            <a:endParaRPr lang="en-US" altLang="zh-CN" dirty="0"/>
          </a:p>
          <a:p>
            <a:r>
              <a:rPr lang="en-US" altLang="zh-CN" b="1" dirty="0"/>
              <a:t>2. </a:t>
            </a:r>
            <a:r>
              <a:rPr lang="zh-CN" altLang="en-US" b="1" dirty="0"/>
              <a:t>资源流转图：从低级敏感到底级不敏感 </a:t>
            </a:r>
            <a:r>
              <a:rPr lang="en-US" altLang="zh-CN" b="1" dirty="0"/>
              <a:t>(The Resource Flow)</a:t>
            </a:r>
          </a:p>
          <a:p>
            <a:r>
              <a:rPr lang="zh-CN" altLang="en-US" b="1" dirty="0"/>
              <a:t>中文：</a:t>
            </a:r>
            <a:r>
              <a:rPr lang="zh-CN" altLang="en-US" dirty="0"/>
              <a:t> “请看左侧这张非常直观的资源流转图。它展示了底层硬件资源如何被安全地抽象并转化为上层服务。</a:t>
            </a:r>
          </a:p>
          <a:p>
            <a:r>
              <a:rPr lang="zh-CN" altLang="en-US" b="1" dirty="0"/>
              <a:t>低级敏感资源 </a:t>
            </a:r>
            <a:r>
              <a:rPr lang="en-US" altLang="zh-CN" b="1" dirty="0"/>
              <a:t>(Pink Area)</a:t>
            </a:r>
            <a:r>
              <a:rPr lang="zh-CN" altLang="en-US" b="1" dirty="0"/>
              <a:t>：</a:t>
            </a:r>
            <a:r>
              <a:rPr lang="en-US" altLang="zh-CN" dirty="0"/>
              <a:t> </a:t>
            </a:r>
            <a:r>
              <a:rPr lang="zh-CN" altLang="en-US" dirty="0"/>
              <a:t>位于最左侧，包含 </a:t>
            </a:r>
            <a:r>
              <a:rPr lang="en-US" altLang="zh-CN" dirty="0"/>
              <a:t>CPU </a:t>
            </a:r>
            <a:r>
              <a:rPr lang="zh-CN" altLang="en-US" dirty="0"/>
              <a:t>寄存器、</a:t>
            </a:r>
            <a:r>
              <a:rPr lang="en-US" altLang="zh-CN" dirty="0"/>
              <a:t>MMU</a:t>
            </a:r>
            <a:r>
              <a:rPr lang="zh-CN" altLang="en-US" dirty="0"/>
              <a:t>、内核堆栈以及核心外设。这些是系统的命脉，必须被严格保护在‘框架（</a:t>
            </a:r>
            <a:r>
              <a:rPr lang="en-US" altLang="zh-CN" dirty="0"/>
              <a:t>The OS framework</a:t>
            </a:r>
            <a:r>
              <a:rPr lang="zh-CN" altLang="en-US" dirty="0"/>
              <a:t>）’内部。</a:t>
            </a:r>
          </a:p>
          <a:p>
            <a:r>
              <a:rPr lang="zh-CN" altLang="en-US" b="1" dirty="0"/>
              <a:t>资源流转：</a:t>
            </a:r>
            <a:r>
              <a:rPr lang="zh-CN" altLang="en-US" dirty="0"/>
              <a:t> 随着流向右侧（绿色区域），这些原始资源被转化为更高级的抽象。例如，内存被转化为‘堆对象（</a:t>
            </a:r>
            <a:r>
              <a:rPr lang="en-US" altLang="zh-CN" dirty="0"/>
              <a:t>Heap Objects</a:t>
            </a:r>
            <a:r>
              <a:rPr lang="zh-CN" altLang="en-US" dirty="0"/>
              <a:t>）’，外设被转化为‘驱动程序’。</a:t>
            </a:r>
          </a:p>
          <a:p>
            <a:r>
              <a:rPr lang="zh-CN" altLang="en-US" b="1" dirty="0"/>
              <a:t>安全过滤：</a:t>
            </a:r>
            <a:r>
              <a:rPr lang="zh-CN" altLang="en-US" dirty="0"/>
              <a:t> 这种流转不是简单的搬运，而是通过 </a:t>
            </a:r>
            <a:r>
              <a:rPr lang="en-US" altLang="zh-CN" dirty="0"/>
              <a:t>Rust </a:t>
            </a:r>
            <a:r>
              <a:rPr lang="zh-CN" altLang="en-US" dirty="0"/>
              <a:t>的</a:t>
            </a:r>
            <a:r>
              <a:rPr lang="zh-CN" altLang="en-US" b="1" dirty="0"/>
              <a:t>安全类型系统</a:t>
            </a:r>
            <a:r>
              <a:rPr lang="zh-CN" altLang="en-US" dirty="0"/>
              <a:t>进行的过滤。</a:t>
            </a:r>
            <a:r>
              <a:rPr lang="en-US" altLang="zh-CN" dirty="0" err="1"/>
              <a:t>Framekernel</a:t>
            </a:r>
            <a:r>
              <a:rPr lang="en-US" altLang="zh-CN" dirty="0"/>
              <a:t> </a:t>
            </a:r>
            <a:r>
              <a:rPr lang="zh-CN" altLang="en-US" dirty="0"/>
              <a:t>确保只有经过安全封装的资源接口才能暴露给上层 </a:t>
            </a:r>
            <a:r>
              <a:rPr lang="en-US" altLang="zh-CN" dirty="0"/>
              <a:t>OS </a:t>
            </a:r>
            <a:r>
              <a:rPr lang="zh-CN" altLang="en-US" dirty="0"/>
              <a:t>服务。”</a:t>
            </a:r>
          </a:p>
          <a:p>
            <a:r>
              <a:rPr lang="en-US" altLang="zh-CN" b="1" dirty="0"/>
              <a:t>English:</a:t>
            </a:r>
            <a:r>
              <a:rPr lang="en-US" altLang="zh-CN" dirty="0"/>
              <a:t> "Look at the intuitive resource flow diagram on the left. It illustrates how raw hardware resources are securely abstracted into high-level services.</a:t>
            </a:r>
          </a:p>
          <a:p>
            <a:r>
              <a:rPr lang="en-US" altLang="zh-CN" b="1" dirty="0"/>
              <a:t>Low-level, Sensitive Resources (Pink Area):</a:t>
            </a:r>
            <a:r>
              <a:rPr lang="en-US" altLang="zh-CN" dirty="0"/>
              <a:t> On the left, we have CPU registers, MMU, the kernel stack, and core devices. These are the system's vital organs, strictly contained within 'The OS Framework.'</a:t>
            </a:r>
          </a:p>
          <a:p>
            <a:r>
              <a:rPr lang="en-US" altLang="zh-CN" b="1" dirty="0"/>
              <a:t>Resource Transformation:</a:t>
            </a:r>
            <a:r>
              <a:rPr lang="en-US" altLang="zh-CN" dirty="0"/>
              <a:t> As the flow moves toward the green area on the right, these raw resources are transformed into high-level abstractions—memory becomes 'Heap Objects' and peripherals become 'Drivers.'</a:t>
            </a:r>
          </a:p>
          <a:p>
            <a:r>
              <a:rPr lang="en-US" altLang="zh-CN" b="1" dirty="0"/>
              <a:t>Security Filtering:</a:t>
            </a:r>
            <a:r>
              <a:rPr lang="en-US" altLang="zh-CN" dirty="0"/>
              <a:t> This transition isn't just a transfer; it's a filtration through </a:t>
            </a:r>
            <a:r>
              <a:rPr lang="en-US" altLang="zh-CN" b="1" dirty="0"/>
              <a:t>Rust’s safe type system</a:t>
            </a:r>
            <a:r>
              <a:rPr lang="en-US" altLang="zh-CN" dirty="0"/>
              <a:t>. The </a:t>
            </a:r>
            <a:r>
              <a:rPr lang="en-US" altLang="zh-CN" dirty="0" err="1"/>
              <a:t>Framekernel</a:t>
            </a:r>
            <a:r>
              <a:rPr lang="en-US" altLang="zh-CN" dirty="0"/>
              <a:t> ensures that only safely encapsulated interfaces are exposed to the higher-level OS services."</a:t>
            </a:r>
          </a:p>
          <a:p>
            <a:br>
              <a:rPr lang="en-US" altLang="zh-CN" dirty="0"/>
            </a:br>
            <a:endParaRPr lang="en-US" altLang="zh-CN" dirty="0"/>
          </a:p>
          <a:p>
            <a:r>
              <a:rPr lang="en-US" altLang="zh-CN" b="1" dirty="0"/>
              <a:t>3. </a:t>
            </a:r>
            <a:r>
              <a:rPr lang="zh-CN" altLang="en-US" b="1" dirty="0"/>
              <a:t>三大关键设计点 </a:t>
            </a:r>
            <a:r>
              <a:rPr lang="en-US" altLang="zh-CN" b="1" dirty="0"/>
              <a:t>(Key Design Insights)</a:t>
            </a:r>
          </a:p>
          <a:p>
            <a:r>
              <a:rPr lang="zh-CN" altLang="en-US" b="1" dirty="0"/>
              <a:t>中文：</a:t>
            </a:r>
            <a:r>
              <a:rPr lang="zh-CN" altLang="en-US" dirty="0"/>
              <a:t> “结合这张图，我们可以总结出 </a:t>
            </a:r>
            <a:r>
              <a:rPr lang="en-US" altLang="zh-CN" dirty="0" err="1"/>
              <a:t>Framekernel</a:t>
            </a:r>
            <a:r>
              <a:rPr lang="en-US" altLang="zh-CN" dirty="0"/>
              <a:t> </a:t>
            </a:r>
            <a:r>
              <a:rPr lang="zh-CN" altLang="en-US" dirty="0"/>
              <a:t>的三个关键优势：</a:t>
            </a:r>
          </a:p>
          <a:p>
            <a:r>
              <a:rPr lang="zh-CN" altLang="en-US" b="1" dirty="0"/>
              <a:t>最小权限原则：</a:t>
            </a:r>
            <a:r>
              <a:rPr lang="zh-CN" altLang="en-US" dirty="0"/>
              <a:t> 每个 </a:t>
            </a:r>
            <a:r>
              <a:rPr lang="en-US" altLang="zh-CN" dirty="0"/>
              <a:t>OS </a:t>
            </a:r>
            <a:r>
              <a:rPr lang="zh-CN" altLang="en-US" dirty="0"/>
              <a:t>服务（绿色部分）只能看到它运行所必需的资源流，无法越权访问粉色区域的敏感内核逻辑。</a:t>
            </a:r>
          </a:p>
          <a:p>
            <a:r>
              <a:rPr lang="en-US" altLang="zh-CN" b="1" dirty="0"/>
              <a:t>Rust </a:t>
            </a:r>
            <a:r>
              <a:rPr lang="zh-CN" altLang="en-US" b="1" dirty="0"/>
              <a:t>原生隔离：</a:t>
            </a:r>
            <a:r>
              <a:rPr lang="zh-CN" altLang="en-US" dirty="0"/>
              <a:t> 通过 </a:t>
            </a:r>
            <a:r>
              <a:rPr lang="en-US" altLang="zh-CN" dirty="0"/>
              <a:t>Rust </a:t>
            </a:r>
            <a:r>
              <a:rPr lang="zh-CN" altLang="en-US" dirty="0"/>
              <a:t>的生命周期和所有权检查，我们可以在单一地址空间内实现逻辑上的‘硬隔离’，从而消除了微内核高昂的 </a:t>
            </a:r>
            <a:r>
              <a:rPr lang="en-US" altLang="zh-CN" dirty="0"/>
              <a:t>IPC </a:t>
            </a:r>
            <a:r>
              <a:rPr lang="zh-CN" altLang="en-US" dirty="0"/>
              <a:t>切换成本。</a:t>
            </a:r>
          </a:p>
          <a:p>
            <a:r>
              <a:rPr lang="zh-CN" altLang="en-US" b="1" dirty="0"/>
              <a:t>可扩展的框架：</a:t>
            </a:r>
            <a:r>
              <a:rPr lang="zh-CN" altLang="en-US" dirty="0"/>
              <a:t> 这种设计允许我们在不修改核心框架的情况下，快速增加新的外设驱动（</a:t>
            </a:r>
            <a:r>
              <a:rPr lang="en-US" altLang="zh-CN" dirty="0"/>
              <a:t>Peripheral Drivers</a:t>
            </a:r>
            <a:r>
              <a:rPr lang="zh-CN" altLang="en-US" dirty="0"/>
              <a:t>）或中断处理程序，同时保证系统不会因为某个驱动的崩溃而全局瓦解。”</a:t>
            </a:r>
          </a:p>
          <a:p>
            <a:r>
              <a:rPr lang="en-US" altLang="zh-CN" b="1" dirty="0"/>
              <a:t>English:</a:t>
            </a:r>
            <a:r>
              <a:rPr lang="en-US" altLang="zh-CN" dirty="0"/>
              <a:t> "Based on this architecture, we can summarize three key advantages:</a:t>
            </a:r>
          </a:p>
          <a:p>
            <a:r>
              <a:rPr lang="en-US" altLang="zh-CN" b="1" dirty="0"/>
              <a:t>Principle of Least Privilege:</a:t>
            </a:r>
            <a:r>
              <a:rPr lang="en-US" altLang="zh-CN" dirty="0"/>
              <a:t> Each OS service (in green) only sees the resource streams essential for its operation, preventing unauthorized access to the sensitive kernel logic in the pink area.</a:t>
            </a:r>
          </a:p>
          <a:p>
            <a:r>
              <a:rPr lang="en-US" altLang="zh-CN" b="1" dirty="0"/>
              <a:t>Rust-Native Isolation:</a:t>
            </a:r>
            <a:r>
              <a:rPr lang="en-US" altLang="zh-CN" dirty="0"/>
              <a:t> By leveraging Rust’s lifetime and ownership checks, we achieve logical 'hard isolation' within a single address space, eliminating the high IPC context-switch costs typical of microkernels.</a:t>
            </a:r>
          </a:p>
          <a:p>
            <a:r>
              <a:rPr lang="en-US" altLang="zh-CN" b="1" dirty="0"/>
              <a:t>Extensible Framework:</a:t>
            </a:r>
            <a:r>
              <a:rPr lang="en-US" altLang="zh-CN" dirty="0"/>
              <a:t> This design allows for the rapid addition of new peripheral drivers or interrupt handlers without modifying the core framework, ensuring that a single driver crash won't bring down the entire system."</a:t>
            </a:r>
          </a:p>
          <a:p>
            <a:br>
              <a:rPr lang="en-US" altLang="zh-CN" dirty="0"/>
            </a:br>
            <a:endParaRPr lang="en-US" altLang="zh-CN" dirty="0"/>
          </a:p>
          <a:p>
            <a:r>
              <a:rPr lang="zh-CN" altLang="en-US" b="1" dirty="0"/>
              <a:t>总结过渡 </a:t>
            </a:r>
            <a:r>
              <a:rPr lang="en-US" altLang="zh-CN" b="1" dirty="0"/>
              <a:t>(Summary)</a:t>
            </a:r>
          </a:p>
          <a:p>
            <a:r>
              <a:rPr lang="zh-CN" altLang="en-US" b="1" dirty="0"/>
              <a:t>中文：</a:t>
            </a:r>
            <a:r>
              <a:rPr lang="zh-CN" altLang="en-US" dirty="0"/>
              <a:t> “如果说微内核是通过‘物理隔间’来保护安全，那么 </a:t>
            </a:r>
            <a:r>
              <a:rPr lang="en-US" altLang="zh-CN" dirty="0" err="1"/>
              <a:t>Framekernel</a:t>
            </a:r>
            <a:r>
              <a:rPr lang="en-US" altLang="zh-CN" dirty="0"/>
              <a:t> </a:t>
            </a:r>
            <a:r>
              <a:rPr lang="zh-CN" altLang="en-US" dirty="0"/>
              <a:t>就是通过‘代码级的权限审查’来实现更灵活、更高效的安全保障。它是现代安全系统从实验室走向大规模工业应用的关键一步。”</a:t>
            </a:r>
          </a:p>
          <a:p>
            <a:r>
              <a:rPr lang="en-US" altLang="zh-CN" b="1" dirty="0"/>
              <a:t>English:</a:t>
            </a:r>
            <a:r>
              <a:rPr lang="en-US" altLang="zh-CN" dirty="0"/>
              <a:t> "If microkernels protect security through 'physical cubicles,' the </a:t>
            </a:r>
            <a:r>
              <a:rPr lang="en-US" altLang="zh-CN" dirty="0" err="1"/>
              <a:t>Framekernel</a:t>
            </a:r>
            <a:r>
              <a:rPr lang="en-US" altLang="zh-CN" dirty="0"/>
              <a:t> achieves it through 'code-level permission audits'—offering a more flexible and efficient safeguard. This represents a critical step in bringing modern secure systems from the lab to large-scale industrial use."</a:t>
            </a:r>
          </a:p>
        </p:txBody>
      </p:sp>
      <p:sp>
        <p:nvSpPr>
          <p:cNvPr id="4" name="灯片编号占位符 3">
            <a:extLst>
              <a:ext uri="{FF2B5EF4-FFF2-40B4-BE49-F238E27FC236}">
                <a16:creationId xmlns:a16="http://schemas.microsoft.com/office/drawing/2014/main" id="{581A0434-54BB-CCAD-E24E-8FF7589E5A6A}"/>
              </a:ext>
            </a:extLst>
          </p:cNvPr>
          <p:cNvSpPr>
            <a:spLocks noGrp="1"/>
          </p:cNvSpPr>
          <p:nvPr>
            <p:ph type="sldNum" sz="quarter" idx="5"/>
          </p:nvPr>
        </p:nvSpPr>
        <p:spPr/>
        <p:txBody>
          <a:bodyPr/>
          <a:lstStyle/>
          <a:p>
            <a:fld id="{B11D5518-E2B7-47D3-A483-775D39982443}" type="slidenum">
              <a:rPr lang="zh-TW" altLang="en-US" smtClean="0"/>
              <a:t>19</a:t>
            </a:fld>
            <a:endParaRPr lang="zh-TW" altLang="en-US"/>
          </a:p>
        </p:txBody>
      </p:sp>
    </p:spTree>
    <p:extLst>
      <p:ext uri="{BB962C8B-B14F-4D97-AF65-F5344CB8AC3E}">
        <p14:creationId xmlns:p14="http://schemas.microsoft.com/office/powerpoint/2010/main" val="1762196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51878-258C-5180-6F8A-CCADABD031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5025EF-FA81-7518-1F50-181352372D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576ED1-87AC-C0E8-5143-F7B69B54A3FD}"/>
              </a:ext>
            </a:extLst>
          </p:cNvPr>
          <p:cNvSpPr>
            <a:spLocks noGrp="1"/>
          </p:cNvSpPr>
          <p:nvPr>
            <p:ph type="body" idx="1"/>
          </p:nvPr>
        </p:nvSpPr>
        <p:spPr/>
        <p:txBody>
          <a:bodyPr/>
          <a:lstStyle/>
          <a:p>
            <a:r>
              <a:rPr lang="en-US" altLang="zh-CN" b="1" dirty="0"/>
              <a:t>1. </a:t>
            </a:r>
            <a:r>
              <a:rPr lang="zh-CN" altLang="en-US" b="1" dirty="0"/>
              <a:t>核心突破：</a:t>
            </a:r>
            <a:r>
              <a:rPr lang="en-US" altLang="zh-CN" b="1" dirty="0"/>
              <a:t>5% </a:t>
            </a:r>
            <a:r>
              <a:rPr lang="zh-CN" altLang="en-US" b="1" dirty="0"/>
              <a:t>与 </a:t>
            </a:r>
            <a:r>
              <a:rPr lang="en-US" altLang="zh-CN" b="1" dirty="0"/>
              <a:t>95% </a:t>
            </a:r>
            <a:r>
              <a:rPr lang="zh-CN" altLang="en-US" b="1" dirty="0"/>
              <a:t>的“黄金比例” </a:t>
            </a:r>
            <a:r>
              <a:rPr lang="en-US" altLang="zh-CN" b="1" dirty="0"/>
              <a:t>(The 5% Rule)</a:t>
            </a:r>
          </a:p>
          <a:p>
            <a:r>
              <a:rPr lang="zh-CN" altLang="en-US" b="1" dirty="0"/>
              <a:t>中文：</a:t>
            </a:r>
            <a:r>
              <a:rPr lang="zh-CN" altLang="en-US" dirty="0"/>
              <a:t> “为了彻底解决内核安全问题，</a:t>
            </a:r>
            <a:r>
              <a:rPr lang="en-US" altLang="zh-CN" dirty="0" err="1"/>
              <a:t>Asterinas</a:t>
            </a:r>
            <a:r>
              <a:rPr lang="en-US" altLang="zh-CN" dirty="0"/>
              <a:t> </a:t>
            </a:r>
            <a:r>
              <a:rPr lang="zh-CN" altLang="en-US" dirty="0"/>
              <a:t>引入了 </a:t>
            </a:r>
            <a:r>
              <a:rPr lang="en-US" altLang="zh-CN" b="1" dirty="0"/>
              <a:t>OSTD</a:t>
            </a:r>
            <a:r>
              <a:rPr lang="zh-CN" altLang="en-US" b="1" dirty="0"/>
              <a:t>（</a:t>
            </a:r>
            <a:r>
              <a:rPr lang="en-US" altLang="zh-CN" b="1" dirty="0"/>
              <a:t>OS Trust Domain</a:t>
            </a:r>
            <a:r>
              <a:rPr lang="zh-CN" altLang="en-US" b="1" dirty="0"/>
              <a:t>，操作系统信任域）</a:t>
            </a:r>
            <a:r>
              <a:rPr lang="zh-CN" altLang="en-US" dirty="0"/>
              <a:t> 的概念。</a:t>
            </a:r>
          </a:p>
          <a:p>
            <a:r>
              <a:rPr lang="en-US" altLang="zh-CN" b="1" dirty="0"/>
              <a:t>TCB </a:t>
            </a:r>
            <a:r>
              <a:rPr lang="zh-CN" altLang="en-US" b="1" dirty="0"/>
              <a:t>极小化：</a:t>
            </a:r>
            <a:r>
              <a:rPr lang="zh-CN" altLang="en-US" dirty="0"/>
              <a:t> 我们遵循‘</a:t>
            </a:r>
            <a:r>
              <a:rPr lang="en-US" altLang="zh-CN" dirty="0"/>
              <a:t>5% </a:t>
            </a:r>
            <a:r>
              <a:rPr lang="zh-CN" altLang="en-US" dirty="0"/>
              <a:t>原则’。在整个系统中，只有约 </a:t>
            </a:r>
            <a:r>
              <a:rPr lang="en-US" altLang="zh-CN" b="1" dirty="0"/>
              <a:t>5%</a:t>
            </a:r>
            <a:r>
              <a:rPr lang="zh-CN" altLang="en-US" dirty="0"/>
              <a:t> 的代码（即 </a:t>
            </a:r>
            <a:r>
              <a:rPr lang="en-US" altLang="zh-CN" dirty="0"/>
              <a:t>OSTD</a:t>
            </a:r>
            <a:r>
              <a:rPr lang="zh-CN" altLang="en-US" dirty="0"/>
              <a:t>）被允许处理硬件直接操作，如 </a:t>
            </a:r>
            <a:r>
              <a:rPr lang="en-US" altLang="zh-CN" dirty="0"/>
              <a:t>MMU </a:t>
            </a:r>
            <a:r>
              <a:rPr lang="zh-CN" altLang="en-US" dirty="0"/>
              <a:t>配置、寄存器读写等高危任务。</a:t>
            </a:r>
          </a:p>
          <a:p>
            <a:r>
              <a:rPr lang="zh-CN" altLang="en-US" b="1" dirty="0"/>
              <a:t>安全封装：</a:t>
            </a:r>
            <a:r>
              <a:rPr lang="zh-CN" altLang="en-US" dirty="0"/>
              <a:t> 我们将所有‘</a:t>
            </a:r>
            <a:r>
              <a:rPr lang="en-US" altLang="zh-CN" dirty="0"/>
              <a:t>Unsafe Rust’</a:t>
            </a:r>
            <a:r>
              <a:rPr lang="zh-CN" altLang="en-US" dirty="0"/>
              <a:t>（不安全代码）严格限制在 </a:t>
            </a:r>
            <a:r>
              <a:rPr lang="en-US" altLang="zh-CN" dirty="0"/>
              <a:t>OSTD </a:t>
            </a:r>
            <a:r>
              <a:rPr lang="zh-CN" altLang="en-US" dirty="0"/>
              <a:t>内部。这意味着剩下的 </a:t>
            </a:r>
            <a:r>
              <a:rPr lang="en-US" altLang="zh-CN" b="1" dirty="0"/>
              <a:t>95%</a:t>
            </a:r>
            <a:r>
              <a:rPr lang="zh-CN" altLang="en-US" dirty="0"/>
              <a:t> 的系统服务，都是由 </a:t>
            </a:r>
            <a:r>
              <a:rPr lang="en-US" altLang="zh-CN" dirty="0"/>
              <a:t>100% </a:t>
            </a:r>
            <a:r>
              <a:rPr lang="zh-CN" altLang="en-US" dirty="0"/>
              <a:t>的 </a:t>
            </a:r>
            <a:r>
              <a:rPr lang="en-US" altLang="zh-CN" b="1" dirty="0"/>
              <a:t>Safe Rust</a:t>
            </a:r>
            <a:r>
              <a:rPr lang="en-US" altLang="zh-CN" dirty="0"/>
              <a:t> </a:t>
            </a:r>
            <a:r>
              <a:rPr lang="zh-CN" altLang="en-US" dirty="0"/>
              <a:t>编写的。这种‘安全分层’从架构上杜绝了绝大部分内存损坏漏洞。”</a:t>
            </a:r>
          </a:p>
          <a:p>
            <a:r>
              <a:rPr lang="en-US" altLang="zh-CN" b="1" dirty="0"/>
              <a:t>English:</a:t>
            </a:r>
            <a:r>
              <a:rPr lang="en-US" altLang="zh-CN" dirty="0"/>
              <a:t> "To fundamentally address kernel security, </a:t>
            </a:r>
            <a:r>
              <a:rPr lang="en-US" altLang="zh-CN" dirty="0" err="1"/>
              <a:t>Asterinas</a:t>
            </a:r>
            <a:r>
              <a:rPr lang="en-US" altLang="zh-CN" dirty="0"/>
              <a:t> introduces the </a:t>
            </a:r>
            <a:r>
              <a:rPr lang="en-US" altLang="zh-CN" b="1" dirty="0"/>
              <a:t>OSTD (OS Trust Domain)</a:t>
            </a:r>
            <a:r>
              <a:rPr lang="en-US" altLang="zh-CN" dirty="0"/>
              <a:t>.</a:t>
            </a:r>
          </a:p>
          <a:p>
            <a:r>
              <a:rPr lang="en-US" altLang="zh-CN" b="1" dirty="0"/>
              <a:t>TCB Minimization:</a:t>
            </a:r>
            <a:r>
              <a:rPr lang="en-US" altLang="zh-CN" dirty="0"/>
              <a:t> We follow the '5% Rule.' Only approximately </a:t>
            </a:r>
            <a:r>
              <a:rPr lang="en-US" altLang="zh-CN" b="1" dirty="0"/>
              <a:t>5%</a:t>
            </a:r>
            <a:r>
              <a:rPr lang="en-US" altLang="zh-CN" dirty="0"/>
              <a:t> of the codebase—the OSTD—is permitted to handle hardware-direct operations like MMU configuration or register manipulation.</a:t>
            </a:r>
          </a:p>
          <a:p>
            <a:r>
              <a:rPr lang="en-US" altLang="zh-CN" b="1" dirty="0"/>
              <a:t>Safe Encapsulation:</a:t>
            </a:r>
            <a:r>
              <a:rPr lang="en-US" altLang="zh-CN" dirty="0"/>
              <a:t> All 'Unsafe Rust' is strictly confined within the OSTD. Consequently, the remaining </a:t>
            </a:r>
            <a:r>
              <a:rPr lang="en-US" altLang="zh-CN" b="1" dirty="0"/>
              <a:t>95%</a:t>
            </a:r>
            <a:r>
              <a:rPr lang="en-US" altLang="zh-CN" dirty="0"/>
              <a:t> of OS services are written in 100% </a:t>
            </a:r>
            <a:r>
              <a:rPr lang="en-US" altLang="zh-CN" b="1" dirty="0"/>
              <a:t>Safe Rust</a:t>
            </a:r>
            <a:r>
              <a:rPr lang="en-US" altLang="zh-CN" dirty="0"/>
              <a:t>, architecturally eliminating the vast majority of memory corruption vulnerabilities."</a:t>
            </a:r>
          </a:p>
          <a:p>
            <a:br>
              <a:rPr lang="en-US" altLang="zh-CN" dirty="0"/>
            </a:br>
            <a:endParaRPr lang="en-US" altLang="zh-CN" dirty="0"/>
          </a:p>
          <a:p>
            <a:r>
              <a:rPr lang="en-US" altLang="zh-CN" b="1" dirty="0"/>
              <a:t>2. </a:t>
            </a:r>
            <a:r>
              <a:rPr lang="zh-CN" altLang="en-US" b="1" dirty="0"/>
              <a:t>交互机制：</a:t>
            </a:r>
            <a:r>
              <a:rPr lang="en-US" altLang="zh-CN" b="1" dirty="0"/>
              <a:t>OSTD </a:t>
            </a:r>
            <a:r>
              <a:rPr lang="zh-CN" altLang="en-US" b="1" dirty="0"/>
              <a:t>客户端与逻辑隔离 </a:t>
            </a:r>
            <a:r>
              <a:rPr lang="en-US" altLang="zh-CN" b="1" dirty="0"/>
              <a:t>(Safe-by-Construction)</a:t>
            </a:r>
          </a:p>
          <a:p>
            <a:r>
              <a:rPr lang="zh-CN" altLang="en-US" b="1" dirty="0"/>
              <a:t>中文：</a:t>
            </a:r>
            <a:r>
              <a:rPr lang="zh-CN" altLang="en-US" dirty="0"/>
              <a:t> “请看图中的交互流程。右侧的 </a:t>
            </a:r>
            <a:r>
              <a:rPr lang="en-US" altLang="zh-CN" b="1" dirty="0"/>
              <a:t>OSTD client</a:t>
            </a:r>
            <a:r>
              <a:rPr lang="zh-CN" altLang="en-US" dirty="0"/>
              <a:t>（非 </a:t>
            </a:r>
            <a:r>
              <a:rPr lang="en-US" altLang="zh-CN" dirty="0"/>
              <a:t>TCB </a:t>
            </a:r>
            <a:r>
              <a:rPr lang="zh-CN" altLang="en-US" dirty="0"/>
              <a:t>部分）就像是内核中的‘普通公民’。</a:t>
            </a:r>
          </a:p>
          <a:p>
            <a:r>
              <a:rPr lang="zh-CN" altLang="en-US" b="1" dirty="0"/>
              <a:t>受限权力：</a:t>
            </a:r>
            <a:r>
              <a:rPr lang="zh-CN" altLang="en-US" dirty="0"/>
              <a:t> 当它需要处理系统调用（如拷贝用户数据）时，它没有权限直接操作底层内存，必须通过 </a:t>
            </a:r>
            <a:r>
              <a:rPr lang="en-US" altLang="zh-CN" b="1" dirty="0"/>
              <a:t>API </a:t>
            </a:r>
            <a:r>
              <a:rPr lang="zh-CN" altLang="en-US" b="1" dirty="0"/>
              <a:t>绑定工作流</a:t>
            </a:r>
            <a:r>
              <a:rPr lang="zh-CN" altLang="en-US" dirty="0"/>
              <a:t> 向 </a:t>
            </a:r>
            <a:r>
              <a:rPr lang="en-US" altLang="zh-CN" dirty="0"/>
              <a:t>OSTD </a:t>
            </a:r>
            <a:r>
              <a:rPr lang="zh-CN" altLang="en-US" dirty="0"/>
              <a:t>发起请求。</a:t>
            </a:r>
          </a:p>
          <a:p>
            <a:r>
              <a:rPr lang="zh-CN" altLang="en-US" b="1" dirty="0"/>
              <a:t>编译时审计：</a:t>
            </a:r>
            <a:r>
              <a:rPr lang="zh-CN" altLang="en-US" dirty="0"/>
              <a:t> </a:t>
            </a:r>
            <a:r>
              <a:rPr lang="en-US" altLang="zh-CN" dirty="0"/>
              <a:t>Rust </a:t>
            </a:r>
            <a:r>
              <a:rPr lang="zh-CN" altLang="en-US" dirty="0"/>
              <a:t>的编译器充当了‘</a:t>
            </a:r>
            <a:r>
              <a:rPr lang="en-US" altLang="zh-CN" dirty="0"/>
              <a:t>24</a:t>
            </a:r>
            <a:r>
              <a:rPr lang="zh-CN" altLang="en-US" dirty="0"/>
              <a:t>小时自动安全审计员’。通过所有权和借用检查，它在编译阶段就确保了 </a:t>
            </a:r>
            <a:r>
              <a:rPr lang="en-US" altLang="zh-CN" dirty="0"/>
              <a:t>Client </a:t>
            </a:r>
            <a:r>
              <a:rPr lang="zh-CN" altLang="en-US" dirty="0"/>
              <a:t>永远无法非法重写其他内核模块的内存。”</a:t>
            </a:r>
          </a:p>
          <a:p>
            <a:r>
              <a:rPr lang="en-US" altLang="zh-CN" b="1" dirty="0"/>
              <a:t>English:</a:t>
            </a:r>
            <a:r>
              <a:rPr lang="en-US" altLang="zh-CN" dirty="0"/>
              <a:t> "Let's look at the interaction workflow. The </a:t>
            </a:r>
            <a:r>
              <a:rPr lang="en-US" altLang="zh-CN" b="1" dirty="0"/>
              <a:t>OSTD client</a:t>
            </a:r>
            <a:r>
              <a:rPr lang="en-US" altLang="zh-CN" dirty="0"/>
              <a:t> on the right (non-TCB) acts like an 'ordinary citizen' within the kernel.</a:t>
            </a:r>
          </a:p>
          <a:p>
            <a:r>
              <a:rPr lang="en-US" altLang="zh-CN" b="1" dirty="0"/>
              <a:t>Restricted Authority:</a:t>
            </a:r>
            <a:r>
              <a:rPr lang="en-US" altLang="zh-CN" dirty="0"/>
              <a:t> When handling system calls, it lacks the privilege to manipulate raw memory directly. It must instead interact with the OSTD through an </a:t>
            </a:r>
            <a:r>
              <a:rPr lang="en-US" altLang="zh-CN" b="1" dirty="0"/>
              <a:t>API-bound workflow</a:t>
            </a:r>
            <a:r>
              <a:rPr lang="en-US" altLang="zh-CN" dirty="0"/>
              <a:t>.</a:t>
            </a:r>
          </a:p>
          <a:p>
            <a:r>
              <a:rPr lang="en-US" altLang="zh-CN" b="1" dirty="0"/>
              <a:t>Compiler-Enforced Security:</a:t>
            </a:r>
            <a:r>
              <a:rPr lang="en-US" altLang="zh-CN" dirty="0"/>
              <a:t> Rust's compiler acts as a '24/7 automated security auditor.' Through ownership and borrowing rules, it ensures at compile-time that clients can never illegally overwrite memory belonging to other kernel modules."</a:t>
            </a:r>
          </a:p>
          <a:p>
            <a:br>
              <a:rPr lang="en-US" altLang="zh-CN" dirty="0"/>
            </a:br>
            <a:endParaRPr lang="en-US" altLang="zh-CN" dirty="0"/>
          </a:p>
          <a:p>
            <a:r>
              <a:rPr lang="en-US" altLang="zh-CN" b="1" dirty="0"/>
              <a:t>3. </a:t>
            </a:r>
            <a:r>
              <a:rPr lang="zh-CN" altLang="en-US" b="1" dirty="0"/>
              <a:t>逻辑内存防火墙 </a:t>
            </a:r>
            <a:r>
              <a:rPr lang="en-US" altLang="zh-CN" b="1" dirty="0"/>
              <a:t>(Logical Memory Firewall)</a:t>
            </a:r>
          </a:p>
          <a:p>
            <a:r>
              <a:rPr lang="zh-CN" altLang="en-US" b="1" dirty="0"/>
              <a:t>中文：</a:t>
            </a:r>
            <a:r>
              <a:rPr lang="zh-CN" altLang="en-US" dirty="0"/>
              <a:t> “这种设计的最终结果是建立了一道 </a:t>
            </a:r>
            <a:r>
              <a:rPr lang="zh-CN" altLang="en-US" b="1" dirty="0"/>
              <a:t>‘逻辑内存防火墙’</a:t>
            </a:r>
            <a:r>
              <a:rPr lang="zh-CN" altLang="en-US" dirty="0"/>
              <a:t>。</a:t>
            </a:r>
          </a:p>
          <a:p>
            <a:r>
              <a:rPr lang="zh-CN" altLang="en-US" b="1" dirty="0"/>
              <a:t>特权剥离：</a:t>
            </a:r>
            <a:r>
              <a:rPr lang="zh-CN" altLang="en-US" dirty="0"/>
              <a:t> 服务（</a:t>
            </a:r>
            <a:r>
              <a:rPr lang="en-US" altLang="zh-CN" dirty="0"/>
              <a:t>Clients</a:t>
            </a:r>
            <a:r>
              <a:rPr lang="zh-CN" altLang="en-US" dirty="0"/>
              <a:t>）不再拥有‘上帝视角’。它们失去了修改敏感数据结构的权力，只能在 </a:t>
            </a:r>
            <a:r>
              <a:rPr lang="en-US" altLang="zh-CN" dirty="0"/>
              <a:t>OSTD </a:t>
            </a:r>
            <a:r>
              <a:rPr lang="zh-CN" altLang="en-US" dirty="0"/>
              <a:t>划定的安全圈内活动。</a:t>
            </a:r>
          </a:p>
          <a:p>
            <a:r>
              <a:rPr lang="zh-CN" altLang="en-US" b="1" dirty="0"/>
              <a:t>功能隔离：</a:t>
            </a:r>
            <a:r>
              <a:rPr lang="zh-CN" altLang="en-US" dirty="0"/>
              <a:t> 即使某个复杂的 </a:t>
            </a:r>
            <a:r>
              <a:rPr lang="en-US" altLang="zh-CN" dirty="0"/>
              <a:t>OS </a:t>
            </a:r>
            <a:r>
              <a:rPr lang="zh-CN" altLang="en-US" dirty="0"/>
              <a:t>服务（如文件系统）被攻破，由于它被锁死在 </a:t>
            </a:r>
            <a:r>
              <a:rPr lang="en-US" altLang="zh-CN" dirty="0"/>
              <a:t>OSTD </a:t>
            </a:r>
            <a:r>
              <a:rPr lang="zh-CN" altLang="en-US" dirty="0"/>
              <a:t>的 </a:t>
            </a:r>
            <a:r>
              <a:rPr lang="en-US" altLang="zh-CN" dirty="0"/>
              <a:t>API </a:t>
            </a:r>
            <a:r>
              <a:rPr lang="zh-CN" altLang="en-US" dirty="0"/>
              <a:t>限制之下，攻击者也无法越权控制整个硬件系统。这实现了真正意义上的‘隔离而不分割’。”</a:t>
            </a:r>
          </a:p>
          <a:p>
            <a:r>
              <a:rPr lang="en-US" altLang="zh-CN" b="1" dirty="0"/>
              <a:t>English:</a:t>
            </a:r>
            <a:r>
              <a:rPr lang="en-US" altLang="zh-CN" dirty="0"/>
              <a:t> "The ultimate result of this design is a </a:t>
            </a:r>
            <a:r>
              <a:rPr lang="en-US" altLang="zh-CN" b="1" dirty="0"/>
              <a:t>'Logical Memory Firewall.'</a:t>
            </a:r>
            <a:endParaRPr lang="en-US" altLang="zh-CN" dirty="0"/>
          </a:p>
          <a:p>
            <a:r>
              <a:rPr lang="en-US" altLang="zh-CN" b="1" dirty="0"/>
              <a:t>Privilege Stripping:</a:t>
            </a:r>
            <a:r>
              <a:rPr lang="en-US" altLang="zh-CN" dirty="0"/>
              <a:t> Services (Clients) no longer have a 'god-eye view.' They lose the authority to modify sensitive data structures and must operate within the safety boundaries defined by the OSTD.</a:t>
            </a:r>
          </a:p>
          <a:p>
            <a:r>
              <a:rPr lang="en-US" altLang="zh-CN" b="1" dirty="0"/>
              <a:t>Functional Containment:</a:t>
            </a:r>
            <a:r>
              <a:rPr lang="en-US" altLang="zh-CN" dirty="0"/>
              <a:t> Even if a complex OS service is compromised, it remains locked under OSTD’s API restrictions, preventing an attacker from gaining full control of the hardware. This achieves true isolation without the heavy fragmentation of traditional microkernels."</a:t>
            </a:r>
          </a:p>
          <a:p>
            <a:endParaRPr lang="en-US" altLang="zh-CN" dirty="0"/>
          </a:p>
          <a:p>
            <a:r>
              <a:rPr lang="zh-CN" altLang="en-US" dirty="0"/>
              <a:t>这就好比我们把原本分散在不同大楼的部门集中到了一间大办公室，但给每个人都设计了透明的‘逻辑工位’。大家沟通（函数调用）不再需要出门过安检，但你依然动不了别人的电脑。这就是为什么 </a:t>
            </a:r>
            <a:r>
              <a:rPr lang="en-US" altLang="zh-CN" dirty="0" err="1"/>
              <a:t>Asterinas</a:t>
            </a:r>
            <a:r>
              <a:rPr lang="en-US" altLang="zh-CN" dirty="0"/>
              <a:t> </a:t>
            </a:r>
            <a:r>
              <a:rPr lang="zh-CN" altLang="en-US" dirty="0"/>
              <a:t>能在获得微内核防御力的同时，跑出接近 </a:t>
            </a:r>
            <a:r>
              <a:rPr lang="en-US" altLang="zh-CN" dirty="0"/>
              <a:t>Linux </a:t>
            </a:r>
            <a:r>
              <a:rPr lang="zh-CN" altLang="en-US" dirty="0"/>
              <a:t>的极致性能。”</a:t>
            </a:r>
          </a:p>
        </p:txBody>
      </p:sp>
      <p:sp>
        <p:nvSpPr>
          <p:cNvPr id="4" name="灯片编号占位符 3">
            <a:extLst>
              <a:ext uri="{FF2B5EF4-FFF2-40B4-BE49-F238E27FC236}">
                <a16:creationId xmlns:a16="http://schemas.microsoft.com/office/drawing/2014/main" id="{4C8CABEB-8A3E-6E36-E935-7D1B134DD3A5}"/>
              </a:ext>
            </a:extLst>
          </p:cNvPr>
          <p:cNvSpPr>
            <a:spLocks noGrp="1"/>
          </p:cNvSpPr>
          <p:nvPr>
            <p:ph type="sldNum" sz="quarter" idx="5"/>
          </p:nvPr>
        </p:nvSpPr>
        <p:spPr/>
        <p:txBody>
          <a:bodyPr/>
          <a:lstStyle/>
          <a:p>
            <a:fld id="{B11D5518-E2B7-47D3-A483-775D39982443}" type="slidenum">
              <a:rPr lang="zh-TW" altLang="en-US" smtClean="0"/>
              <a:t>20</a:t>
            </a:fld>
            <a:endParaRPr lang="zh-TW" altLang="en-US"/>
          </a:p>
        </p:txBody>
      </p:sp>
    </p:spTree>
    <p:extLst>
      <p:ext uri="{BB962C8B-B14F-4D97-AF65-F5344CB8AC3E}">
        <p14:creationId xmlns:p14="http://schemas.microsoft.com/office/powerpoint/2010/main" val="3516403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A03B0-68CD-DEAD-80AE-15C4732FE3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4EC6D5-33A6-E2EE-9A2A-6B7054F0FF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E4A58D-6507-1922-FDA8-77751B53150D}"/>
              </a:ext>
            </a:extLst>
          </p:cNvPr>
          <p:cNvSpPr>
            <a:spLocks noGrp="1"/>
          </p:cNvSpPr>
          <p:nvPr>
            <p:ph type="body" idx="1"/>
          </p:nvPr>
        </p:nvSpPr>
        <p:spPr/>
        <p:txBody>
          <a:bodyPr/>
          <a:lstStyle/>
          <a:p>
            <a:r>
              <a:rPr lang="en-US" altLang="zh-CN" b="1" dirty="0"/>
              <a:t>1. </a:t>
            </a:r>
            <a:r>
              <a:rPr lang="zh-CN" altLang="en-US" b="1" dirty="0"/>
              <a:t>架构总览：三层防护体系</a:t>
            </a:r>
          </a:p>
          <a:p>
            <a:r>
              <a:rPr lang="zh-CN" altLang="en-US" b="1" dirty="0"/>
              <a:t>中文：</a:t>
            </a:r>
            <a:r>
              <a:rPr lang="zh-CN" altLang="en-US" dirty="0"/>
              <a:t> “请看这张架构全景图，它清晰地展示了 </a:t>
            </a:r>
            <a:r>
              <a:rPr lang="en-US" altLang="zh-CN" dirty="0" err="1"/>
              <a:t>Asterinas</a:t>
            </a:r>
            <a:r>
              <a:rPr lang="en-US" altLang="zh-CN" dirty="0"/>
              <a:t> </a:t>
            </a:r>
            <a:r>
              <a:rPr lang="zh-CN" altLang="en-US" dirty="0"/>
              <a:t>的层次结构。我们可以将其看作一个三层金字塔：</a:t>
            </a:r>
          </a:p>
          <a:p>
            <a:r>
              <a:rPr lang="zh-CN" altLang="en-US" b="1" dirty="0"/>
              <a:t>顶层：用户进程（</a:t>
            </a:r>
            <a:r>
              <a:rPr lang="en-US" altLang="zh-CN" b="1" dirty="0"/>
              <a:t>User Process</a:t>
            </a:r>
            <a:r>
              <a:rPr lang="zh-CN" altLang="en-US" b="1" dirty="0"/>
              <a:t>）</a:t>
            </a:r>
            <a:r>
              <a:rPr lang="zh-CN" altLang="en-US" dirty="0"/>
              <a:t>。它们运行在完全隔离的用户空间，通过系统调用与内核交互。</a:t>
            </a:r>
          </a:p>
          <a:p>
            <a:r>
              <a:rPr lang="zh-CN" altLang="en-US" b="1" dirty="0"/>
              <a:t>中层：</a:t>
            </a:r>
            <a:r>
              <a:rPr lang="en-US" altLang="zh-CN" b="1" dirty="0" err="1"/>
              <a:t>Asterinas</a:t>
            </a:r>
            <a:r>
              <a:rPr lang="en-US" altLang="zh-CN" b="1" dirty="0"/>
              <a:t> </a:t>
            </a:r>
            <a:r>
              <a:rPr lang="zh-CN" altLang="en-US" b="1" dirty="0"/>
              <a:t>核心服务（绿色区域）</a:t>
            </a:r>
            <a:r>
              <a:rPr lang="zh-CN" altLang="en-US" dirty="0"/>
              <a:t>。这是 </a:t>
            </a:r>
            <a:r>
              <a:rPr lang="en-US" altLang="zh-CN" dirty="0"/>
              <a:t>OS </a:t>
            </a:r>
            <a:r>
              <a:rPr lang="zh-CN" altLang="en-US" dirty="0"/>
              <a:t>的主体，涵盖了进程调度、虚拟内存、文件系统等几乎所有高级功能。关键点在于：这部分代码</a:t>
            </a:r>
            <a:r>
              <a:rPr lang="zh-CN" altLang="en-US" b="1" dirty="0"/>
              <a:t>被严禁使用 </a:t>
            </a:r>
            <a:r>
              <a:rPr lang="en-US" altLang="zh-CN" b="1" dirty="0"/>
              <a:t>Unsafe Rust</a:t>
            </a:r>
            <a:r>
              <a:rPr lang="zh-CN" altLang="en-US" dirty="0"/>
              <a:t>。</a:t>
            </a:r>
          </a:p>
          <a:p>
            <a:r>
              <a:rPr lang="zh-CN" altLang="en-US" b="1" dirty="0"/>
              <a:t>底层：</a:t>
            </a:r>
            <a:r>
              <a:rPr lang="en-US" altLang="zh-CN" b="1" dirty="0"/>
              <a:t>OSTD </a:t>
            </a:r>
            <a:r>
              <a:rPr lang="zh-CN" altLang="en-US" b="1" dirty="0"/>
              <a:t>信任域（橙色区域）</a:t>
            </a:r>
            <a:r>
              <a:rPr lang="zh-CN" altLang="en-US" dirty="0"/>
              <a:t>。它像一个‘安全底座’，包裹并保护着整个系统，它是唯一允许使用 </a:t>
            </a:r>
            <a:r>
              <a:rPr lang="en-US" altLang="zh-CN" dirty="0"/>
              <a:t>Unsafe Rust </a:t>
            </a:r>
            <a:r>
              <a:rPr lang="zh-CN" altLang="en-US" dirty="0"/>
              <a:t>来直接操作硬件的区域。”</a:t>
            </a:r>
          </a:p>
          <a:p>
            <a:r>
              <a:rPr lang="en-US" altLang="zh-CN" b="1" dirty="0"/>
              <a:t>English:</a:t>
            </a:r>
            <a:r>
              <a:rPr lang="en-US" altLang="zh-CN" dirty="0"/>
              <a:t> "Looking at this architectural overview, it clearly illustrates the hierarchical structure of </a:t>
            </a:r>
            <a:r>
              <a:rPr lang="en-US" altLang="zh-CN" dirty="0" err="1"/>
              <a:t>Asterinas</a:t>
            </a:r>
            <a:r>
              <a:rPr lang="en-US" altLang="zh-CN" dirty="0"/>
              <a:t>. We can envision it as a three-layer pyramid:</a:t>
            </a:r>
          </a:p>
          <a:p>
            <a:r>
              <a:rPr lang="en-US" altLang="zh-CN" b="1" dirty="0"/>
              <a:t>Top Layer: User Processes.</a:t>
            </a:r>
            <a:r>
              <a:rPr lang="en-US" altLang="zh-CN" dirty="0"/>
              <a:t> These run in completely isolated user spaces, interacting with the kernel via system calls.</a:t>
            </a:r>
          </a:p>
          <a:p>
            <a:r>
              <a:rPr lang="en-US" altLang="zh-CN" b="1" dirty="0"/>
              <a:t>Middle Layer: </a:t>
            </a:r>
            <a:r>
              <a:rPr lang="en-US" altLang="zh-CN" b="1" dirty="0" err="1"/>
              <a:t>Asterinas</a:t>
            </a:r>
            <a:r>
              <a:rPr lang="en-US" altLang="zh-CN" b="1" dirty="0"/>
              <a:t> Core Services (Green Area).</a:t>
            </a:r>
            <a:r>
              <a:rPr lang="en-US" altLang="zh-CN" dirty="0"/>
              <a:t> This is the main body of the OS, encompassing nearly all high-level functions like process scheduling, virtual memory, and file systems. Critically, </a:t>
            </a:r>
            <a:r>
              <a:rPr lang="en-US" altLang="zh-CN" b="1" dirty="0"/>
              <a:t>Unsafe Rust is strictly forbidden</a:t>
            </a:r>
            <a:r>
              <a:rPr lang="en-US" altLang="zh-CN" dirty="0"/>
              <a:t> in this section.</a:t>
            </a:r>
          </a:p>
          <a:p>
            <a:r>
              <a:rPr lang="en-US" altLang="zh-CN" b="1" dirty="0"/>
              <a:t>Bottom Layer: OSTD (Orange Area).</a:t>
            </a:r>
            <a:r>
              <a:rPr lang="en-US" altLang="zh-CN" dirty="0"/>
              <a:t> Acting as a 'Security Foundation,' it encapsulates and protects the entire system. This is the only region permitted to use Unsafe Rust for direct hardware manipulation."</a:t>
            </a:r>
          </a:p>
          <a:p>
            <a:br>
              <a:rPr lang="en-US" altLang="zh-CN" dirty="0"/>
            </a:br>
            <a:endParaRPr lang="en-US" altLang="zh-CN" dirty="0"/>
          </a:p>
          <a:p>
            <a:r>
              <a:rPr lang="en-US" altLang="zh-CN" b="1" dirty="0"/>
              <a:t>2. </a:t>
            </a:r>
            <a:r>
              <a:rPr lang="zh-CN" altLang="en-US" b="1" dirty="0"/>
              <a:t>核心机制：</a:t>
            </a:r>
            <a:r>
              <a:rPr lang="en-US" altLang="zh-CN" b="1" dirty="0"/>
              <a:t>OSTD </a:t>
            </a:r>
            <a:r>
              <a:rPr lang="zh-CN" altLang="en-US" b="1" dirty="0"/>
              <a:t>的“守门人”角色 </a:t>
            </a:r>
            <a:r>
              <a:rPr lang="en-US" altLang="zh-CN" b="1" dirty="0"/>
              <a:t>(The Gatekeeper)</a:t>
            </a:r>
          </a:p>
          <a:p>
            <a:r>
              <a:rPr lang="zh-CN" altLang="en-US" b="1" dirty="0"/>
              <a:t>中文：</a:t>
            </a:r>
            <a:r>
              <a:rPr lang="zh-CN" altLang="en-US" dirty="0"/>
              <a:t> “这张图最精妙的地方在于 </a:t>
            </a:r>
            <a:r>
              <a:rPr lang="en-US" altLang="zh-CN" b="1" dirty="0"/>
              <a:t>OSTD </a:t>
            </a:r>
            <a:r>
              <a:rPr lang="zh-CN" altLang="en-US" b="1" dirty="0"/>
              <a:t>如何为上层服务提供支持</a:t>
            </a:r>
            <a:r>
              <a:rPr lang="zh-CN" altLang="en-US" dirty="0"/>
              <a:t>。</a:t>
            </a:r>
          </a:p>
          <a:p>
            <a:r>
              <a:rPr lang="zh-CN" altLang="en-US" b="1" dirty="0"/>
              <a:t>硬件抽象：</a:t>
            </a:r>
            <a:r>
              <a:rPr lang="zh-CN" altLang="en-US" dirty="0"/>
              <a:t> 到底层的 </a:t>
            </a:r>
            <a:r>
              <a:rPr lang="en-US" altLang="zh-CN" dirty="0"/>
              <a:t>CPU</a:t>
            </a:r>
            <a:r>
              <a:rPr lang="zh-CN" altLang="en-US" dirty="0"/>
              <a:t>、内存和核心设备（底部灰色框）的访问，必须经过 </a:t>
            </a:r>
            <a:r>
              <a:rPr lang="en-US" altLang="zh-CN" dirty="0"/>
              <a:t>OSTD </a:t>
            </a:r>
            <a:r>
              <a:rPr lang="zh-CN" altLang="en-US" dirty="0"/>
              <a:t>的转换。</a:t>
            </a:r>
          </a:p>
          <a:p>
            <a:r>
              <a:rPr lang="zh-CN" altLang="en-US" b="1" dirty="0"/>
              <a:t>资源切分：</a:t>
            </a:r>
            <a:r>
              <a:rPr lang="zh-CN" altLang="en-US" dirty="0"/>
              <a:t> </a:t>
            </a:r>
            <a:r>
              <a:rPr lang="en-US" altLang="zh-CN" dirty="0"/>
              <a:t>OSTD </a:t>
            </a:r>
            <a:r>
              <a:rPr lang="zh-CN" altLang="en-US" dirty="0"/>
              <a:t>将原始硬件资源切分为一个个受控的‘逻辑块’（如中间的小方块：</a:t>
            </a:r>
            <a:r>
              <a:rPr lang="en-US" altLang="zh-CN" dirty="0"/>
              <a:t>Heap, Untyped Memory, Tasks </a:t>
            </a:r>
            <a:r>
              <a:rPr lang="zh-CN" altLang="en-US" dirty="0"/>
              <a:t>等），并以安全接口的形式暴露给绿色区域的服务。</a:t>
            </a:r>
          </a:p>
          <a:p>
            <a:r>
              <a:rPr lang="zh-CN" altLang="en-US" b="1" dirty="0"/>
              <a:t>单向依赖：</a:t>
            </a:r>
            <a:r>
              <a:rPr lang="zh-CN" altLang="en-US" dirty="0"/>
              <a:t> 上层服务可以‘使用’这些资源，但绝对无法‘绕过’ </a:t>
            </a:r>
            <a:r>
              <a:rPr lang="en-US" altLang="zh-CN" dirty="0"/>
              <a:t>OSTD </a:t>
            </a:r>
            <a:r>
              <a:rPr lang="zh-CN" altLang="en-US" dirty="0"/>
              <a:t>去直接修改硬件寄存器。这就像银行柜台（</a:t>
            </a:r>
            <a:r>
              <a:rPr lang="en-US" altLang="zh-CN" dirty="0"/>
              <a:t>OSTD</a:t>
            </a:r>
            <a:r>
              <a:rPr lang="zh-CN" altLang="en-US" dirty="0"/>
              <a:t>）隔离了客户（</a:t>
            </a:r>
            <a:r>
              <a:rPr lang="en-US" altLang="zh-CN" dirty="0"/>
              <a:t>OS Services</a:t>
            </a:r>
            <a:r>
              <a:rPr lang="zh-CN" altLang="en-US" dirty="0"/>
              <a:t>）与金库（</a:t>
            </a:r>
            <a:r>
              <a:rPr lang="en-US" altLang="zh-CN" dirty="0"/>
              <a:t>Hardware</a:t>
            </a:r>
            <a:r>
              <a:rPr lang="zh-CN" altLang="en-US" dirty="0"/>
              <a:t>）。”</a:t>
            </a:r>
          </a:p>
          <a:p>
            <a:r>
              <a:rPr lang="en-US" altLang="zh-CN" b="1" dirty="0"/>
              <a:t>English:</a:t>
            </a:r>
            <a:r>
              <a:rPr lang="en-US" altLang="zh-CN" dirty="0"/>
              <a:t> "The most ingenious aspect of this diagram is </a:t>
            </a:r>
            <a:r>
              <a:rPr lang="en-US" altLang="zh-CN" b="1" dirty="0"/>
              <a:t>how the OSTD supports upper-layer services</a:t>
            </a:r>
            <a:r>
              <a:rPr lang="en-US" altLang="zh-CN" dirty="0"/>
              <a:t>.</a:t>
            </a:r>
          </a:p>
          <a:p>
            <a:r>
              <a:rPr lang="en-US" altLang="zh-CN" b="1" dirty="0"/>
              <a:t>Hardware Abstraction:</a:t>
            </a:r>
            <a:r>
              <a:rPr lang="en-US" altLang="zh-CN" dirty="0"/>
              <a:t> Access to the underlying CPU, memory, and core devices must be mediated by the OSTD.</a:t>
            </a:r>
          </a:p>
          <a:p>
            <a:r>
              <a:rPr lang="en-US" altLang="zh-CN" b="1" dirty="0"/>
              <a:t>Resource Partitioning:</a:t>
            </a:r>
            <a:r>
              <a:rPr lang="en-US" altLang="zh-CN" dirty="0"/>
              <a:t> The OSTD carves raw hardware resources into controlled 'logical blocks' (such as Heap, Untyped Memory, and Tasks), exposing them as safe interfaces to the green core services.</a:t>
            </a:r>
          </a:p>
          <a:p>
            <a:r>
              <a:rPr lang="en-US" altLang="zh-CN" b="1" dirty="0"/>
              <a:t>Unidirectional Dependency:</a:t>
            </a:r>
            <a:r>
              <a:rPr lang="en-US" altLang="zh-CN" dirty="0"/>
              <a:t> Upper-layer services can 'use' these resources but can never 'bypass' the OSTD to modify hardware registers directly. It’s akin to a bank counter (OSTD) isolating the customer (OS Services) from the vault (Hardware)."</a:t>
            </a:r>
          </a:p>
          <a:p>
            <a:br>
              <a:rPr lang="en-US" altLang="zh-CN" dirty="0"/>
            </a:br>
            <a:endParaRPr lang="en-US" altLang="zh-CN" dirty="0"/>
          </a:p>
        </p:txBody>
      </p:sp>
      <p:sp>
        <p:nvSpPr>
          <p:cNvPr id="4" name="灯片编号占位符 3">
            <a:extLst>
              <a:ext uri="{FF2B5EF4-FFF2-40B4-BE49-F238E27FC236}">
                <a16:creationId xmlns:a16="http://schemas.microsoft.com/office/drawing/2014/main" id="{22A70550-9971-943D-3D0B-E947FD0B6D8E}"/>
              </a:ext>
            </a:extLst>
          </p:cNvPr>
          <p:cNvSpPr>
            <a:spLocks noGrp="1"/>
          </p:cNvSpPr>
          <p:nvPr>
            <p:ph type="sldNum" sz="quarter" idx="5"/>
          </p:nvPr>
        </p:nvSpPr>
        <p:spPr/>
        <p:txBody>
          <a:bodyPr/>
          <a:lstStyle/>
          <a:p>
            <a:fld id="{B11D5518-E2B7-47D3-A483-775D39982443}" type="slidenum">
              <a:rPr lang="zh-TW" altLang="en-US" smtClean="0"/>
              <a:t>21</a:t>
            </a:fld>
            <a:endParaRPr lang="zh-TW" altLang="en-US"/>
          </a:p>
        </p:txBody>
      </p:sp>
    </p:spTree>
    <p:extLst>
      <p:ext uri="{BB962C8B-B14F-4D97-AF65-F5344CB8AC3E}">
        <p14:creationId xmlns:p14="http://schemas.microsoft.com/office/powerpoint/2010/main" val="2245022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宏观性能：超越 </a:t>
            </a:r>
            <a:r>
              <a:rPr lang="en-US" altLang="zh-CN" sz="1200" b="0" i="0" kern="1200" dirty="0">
                <a:solidFill>
                  <a:schemeClr val="tx1"/>
                </a:solidFill>
                <a:effectLst/>
                <a:latin typeface="+mn-lt"/>
                <a:ea typeface="+mn-ea"/>
                <a:cs typeface="+mn-cs"/>
              </a:rPr>
              <a:t>Linux </a:t>
            </a:r>
            <a:r>
              <a:rPr lang="zh-CN" altLang="en-US" sz="1200" b="0" i="0" kern="1200" dirty="0">
                <a:solidFill>
                  <a:schemeClr val="tx1"/>
                </a:solidFill>
                <a:effectLst/>
                <a:latin typeface="+mn-lt"/>
                <a:ea typeface="+mn-ea"/>
                <a:cs typeface="+mn-cs"/>
              </a:rPr>
              <a:t>的工业级表现</a:t>
            </a:r>
          </a:p>
          <a:p>
            <a:r>
              <a:rPr lang="en-US" altLang="zh-CN" sz="1200" b="0" i="0" kern="1200" dirty="0">
                <a:solidFill>
                  <a:schemeClr val="tx1"/>
                </a:solidFill>
                <a:effectLst/>
                <a:latin typeface="+mn-lt"/>
                <a:ea typeface="+mn-ea"/>
                <a:cs typeface="+mn-cs"/>
              </a:rPr>
              <a:t>Macro-Performance: Outperforming Linux in Industrial Benchmarks</a:t>
            </a:r>
            <a:br>
              <a:rPr lang="en-US" altLang="zh-CN" sz="1200" b="0" i="0" kern="1200" dirty="0">
                <a:solidFill>
                  <a:schemeClr val="tx1"/>
                </a:solidFill>
                <a:effectLst/>
                <a:latin typeface="+mn-lt"/>
                <a:ea typeface="+mn-ea"/>
                <a:cs typeface="+mn-cs"/>
              </a:rPr>
            </a:b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综合评估 </a:t>
            </a:r>
            <a:r>
              <a:rPr lang="en-US" altLang="zh-CN" sz="1200" b="0" i="0" kern="1200" dirty="0">
                <a:solidFill>
                  <a:schemeClr val="tx1"/>
                </a:solidFill>
                <a:effectLst/>
                <a:latin typeface="+mn-lt"/>
                <a:ea typeface="+mn-ea"/>
                <a:cs typeface="+mn-cs"/>
              </a:rPr>
              <a:t>(Overall)</a:t>
            </a:r>
            <a:r>
              <a:rPr lang="zh-CN" altLang="en-US" sz="1200" b="0" i="0" kern="1200" dirty="0">
                <a:solidFill>
                  <a:schemeClr val="tx1"/>
                </a:solidFill>
                <a:effectLst/>
                <a:latin typeface="+mn-lt"/>
                <a:ea typeface="+mn-ea"/>
                <a:cs typeface="+mn-cs"/>
              </a:rPr>
              <a:t>：在涵盖进程、内存、网络等数十项微基准测试中，</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的平均性能达到 </a:t>
            </a:r>
            <a:r>
              <a:rPr lang="en-US" altLang="zh-CN" sz="1200" b="0" i="0" kern="1200" dirty="0">
                <a:solidFill>
                  <a:schemeClr val="tx1"/>
                </a:solidFill>
                <a:effectLst/>
                <a:latin typeface="+mn-lt"/>
                <a:ea typeface="+mn-ea"/>
                <a:cs typeface="+mn-cs"/>
              </a:rPr>
              <a:t>Linux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1.08 </a:t>
            </a:r>
            <a:r>
              <a:rPr lang="zh-CN" altLang="en-US" sz="1200" b="0" i="0" kern="1200" dirty="0">
                <a:solidFill>
                  <a:schemeClr val="tx1"/>
                </a:solidFill>
                <a:effectLst/>
                <a:latin typeface="+mn-lt"/>
                <a:ea typeface="+mn-ea"/>
                <a:cs typeface="+mn-cs"/>
              </a:rPr>
              <a:t>倍。</a:t>
            </a:r>
          </a:p>
          <a:p>
            <a:r>
              <a:rPr lang="en-US" altLang="zh-CN" sz="1200" b="0" i="0" kern="1200" dirty="0">
                <a:solidFill>
                  <a:schemeClr val="tx1"/>
                </a:solidFill>
                <a:effectLst/>
                <a:latin typeface="+mn-lt"/>
                <a:ea typeface="+mn-ea"/>
                <a:cs typeface="+mn-cs"/>
              </a:rPr>
              <a:t>Average performance of </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improved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that of Linux across dozens of microbenchmarks including process, memory, and networking.</a:t>
            </a:r>
          </a:p>
          <a:p>
            <a:r>
              <a:rPr lang="zh-CN" altLang="en-US" sz="1200" b="0" i="0" kern="1200" dirty="0">
                <a:solidFill>
                  <a:schemeClr val="tx1"/>
                </a:solidFill>
                <a:effectLst/>
                <a:latin typeface="+mn-lt"/>
                <a:ea typeface="+mn-ea"/>
                <a:cs typeface="+mn-cs"/>
              </a:rPr>
              <a:t>架构优势 </a:t>
            </a:r>
            <a:r>
              <a:rPr lang="en-US" altLang="zh-CN" sz="1200" b="0" i="0" kern="1200" dirty="0">
                <a:solidFill>
                  <a:schemeClr val="tx1"/>
                </a:solidFill>
                <a:effectLst/>
                <a:latin typeface="+mn-lt"/>
                <a:ea typeface="+mn-ea"/>
                <a:cs typeface="+mn-cs"/>
              </a:rPr>
              <a:t>(Architectural Edge)</a:t>
            </a:r>
            <a:r>
              <a:rPr lang="zh-CN" altLang="en-US" sz="1200" b="0" i="0" kern="1200" dirty="0">
                <a:solidFill>
                  <a:schemeClr val="tx1"/>
                </a:solidFill>
                <a:effectLst/>
                <a:latin typeface="+mn-lt"/>
                <a:ea typeface="+mn-ea"/>
                <a:cs typeface="+mn-cs"/>
              </a:rPr>
              <a:t>：其 </a:t>
            </a:r>
            <a:r>
              <a:rPr lang="en-US" altLang="zh-CN" sz="1200" b="0" i="0" kern="1200" dirty="0">
                <a:solidFill>
                  <a:schemeClr val="tx1"/>
                </a:solidFill>
                <a:effectLst/>
                <a:latin typeface="+mn-lt"/>
                <a:ea typeface="+mn-ea"/>
                <a:cs typeface="+mn-cs"/>
              </a:rPr>
              <a:t>IPC </a:t>
            </a:r>
            <a:r>
              <a:rPr lang="zh-CN" altLang="en-US" sz="1200" b="0" i="0" kern="1200" dirty="0">
                <a:solidFill>
                  <a:schemeClr val="tx1"/>
                </a:solidFill>
                <a:effectLst/>
                <a:latin typeface="+mn-lt"/>
                <a:ea typeface="+mn-ea"/>
                <a:cs typeface="+mn-cs"/>
              </a:rPr>
              <a:t>带宽（</a:t>
            </a:r>
            <a:r>
              <a:rPr lang="en-US" altLang="zh-CN" sz="1200" b="0" i="0" kern="1200" dirty="0" err="1">
                <a:solidFill>
                  <a:schemeClr val="tx1"/>
                </a:solidFill>
                <a:effectLst/>
                <a:latin typeface="+mn-lt"/>
                <a:ea typeface="+mn-ea"/>
                <a:cs typeface="+mn-cs"/>
              </a:rPr>
              <a:t>bw_unix</a:t>
            </a:r>
            <a:r>
              <a:rPr lang="zh-CN" altLang="en-US" sz="1200" b="0" i="0" kern="1200" dirty="0">
                <a:solidFill>
                  <a:schemeClr val="tx1"/>
                </a:solidFill>
                <a:effectLst/>
                <a:latin typeface="+mn-lt"/>
                <a:ea typeface="+mn-ea"/>
                <a:cs typeface="+mn-cs"/>
              </a:rPr>
              <a:t>）达到 </a:t>
            </a:r>
            <a:r>
              <a:rPr lang="en-US" altLang="zh-CN" sz="1200" b="0" i="0" kern="1200" dirty="0">
                <a:solidFill>
                  <a:schemeClr val="tx1"/>
                </a:solidFill>
                <a:effectLst/>
                <a:latin typeface="+mn-lt"/>
                <a:ea typeface="+mn-ea"/>
                <a:cs typeface="+mn-cs"/>
              </a:rPr>
              <a:t>Linux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1.8 </a:t>
            </a:r>
            <a:r>
              <a:rPr lang="zh-CN" altLang="en-US" sz="1200" b="0" i="0" kern="1200" dirty="0">
                <a:solidFill>
                  <a:schemeClr val="tx1"/>
                </a:solidFill>
                <a:effectLst/>
                <a:latin typeface="+mn-lt"/>
                <a:ea typeface="+mn-ea"/>
                <a:cs typeface="+mn-cs"/>
              </a:rPr>
              <a:t>倍，证明了 </a:t>
            </a:r>
            <a:r>
              <a:rPr lang="en-US" altLang="zh-CN" sz="1200" b="0" i="0" kern="1200" dirty="0" err="1">
                <a:solidFill>
                  <a:schemeClr val="tx1"/>
                </a:solidFill>
                <a:effectLst/>
                <a:latin typeface="+mn-lt"/>
                <a:ea typeface="+mn-ea"/>
                <a:cs typeface="+mn-cs"/>
              </a:rPr>
              <a:t>Framekernel</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在处理高频系统调用时比单体内核更轻量。</a:t>
            </a:r>
          </a:p>
          <a:p>
            <a:r>
              <a:rPr lang="en-US" altLang="zh-CN" sz="1200" b="0" i="0" kern="1200" dirty="0">
                <a:solidFill>
                  <a:schemeClr val="tx1"/>
                </a:solidFill>
                <a:effectLst/>
                <a:latin typeface="+mn-lt"/>
                <a:ea typeface="+mn-ea"/>
                <a:cs typeface="+mn-cs"/>
              </a:rPr>
              <a:t>IPC bandwidth (</a:t>
            </a:r>
            <a:r>
              <a:rPr lang="en-US" altLang="zh-CN" sz="1200" b="0" i="0" kern="1200" dirty="0" err="1">
                <a:solidFill>
                  <a:schemeClr val="tx1"/>
                </a:solidFill>
                <a:effectLst/>
                <a:latin typeface="+mn-lt"/>
                <a:ea typeface="+mn-ea"/>
                <a:cs typeface="+mn-cs"/>
              </a:rPr>
              <a:t>bw_unix</a:t>
            </a:r>
            <a:r>
              <a:rPr lang="en-US" altLang="zh-CN" sz="1200" b="0" i="0" kern="1200" dirty="0">
                <a:solidFill>
                  <a:schemeClr val="tx1"/>
                </a:solidFill>
                <a:effectLst/>
                <a:latin typeface="+mn-lt"/>
                <a:ea typeface="+mn-ea"/>
                <a:cs typeface="+mn-cs"/>
              </a:rPr>
              <a:t>) hit 1.8x of Linux, proving the </a:t>
            </a:r>
            <a:r>
              <a:rPr lang="en-US" altLang="zh-CN" sz="1200" b="0" i="0" kern="1200" dirty="0" err="1">
                <a:solidFill>
                  <a:schemeClr val="tx1"/>
                </a:solidFill>
                <a:effectLst/>
                <a:latin typeface="+mn-lt"/>
                <a:ea typeface="+mn-ea"/>
                <a:cs typeface="+mn-cs"/>
              </a:rPr>
              <a:t>Framekernel</a:t>
            </a:r>
            <a:r>
              <a:rPr lang="en-US" altLang="zh-CN" sz="1200" b="0" i="0" kern="1200" dirty="0">
                <a:solidFill>
                  <a:schemeClr val="tx1"/>
                </a:solidFill>
                <a:effectLst/>
                <a:latin typeface="+mn-lt"/>
                <a:ea typeface="+mn-ea"/>
                <a:cs typeface="+mn-cs"/>
              </a:rPr>
              <a:t> architecture is more lightweight than monolithic kernels for high-frequency system calls.</a:t>
            </a:r>
          </a:p>
          <a:p>
            <a:r>
              <a:rPr lang="zh-CN" altLang="en-US" sz="1200" b="0" i="0" kern="1200" dirty="0">
                <a:solidFill>
                  <a:schemeClr val="tx1"/>
                </a:solidFill>
                <a:effectLst/>
                <a:latin typeface="+mn-lt"/>
                <a:ea typeface="+mn-ea"/>
                <a:cs typeface="+mn-cs"/>
              </a:rPr>
              <a:t>真实负载 </a:t>
            </a:r>
            <a:r>
              <a:rPr lang="en-US" altLang="zh-CN" sz="1200" b="0" i="0" kern="1200" dirty="0">
                <a:solidFill>
                  <a:schemeClr val="tx1"/>
                </a:solidFill>
                <a:effectLst/>
                <a:latin typeface="+mn-lt"/>
                <a:ea typeface="+mn-ea"/>
                <a:cs typeface="+mn-cs"/>
              </a:rPr>
              <a:t>(Real-world Workloads)</a:t>
            </a:r>
            <a:r>
              <a:rPr lang="zh-CN" altLang="en-US" sz="1200" b="0" i="0" kern="1200" dirty="0">
                <a:solidFill>
                  <a:schemeClr val="tx1"/>
                </a:solidFill>
                <a:effectLst/>
                <a:latin typeface="+mn-lt"/>
                <a:ea typeface="+mn-ea"/>
                <a:cs typeface="+mn-cs"/>
              </a:rPr>
              <a:t>：在 </a:t>
            </a:r>
            <a:r>
              <a:rPr lang="en-US" altLang="zh-CN" sz="1200" b="0" i="0" kern="1200" dirty="0">
                <a:solidFill>
                  <a:schemeClr val="tx1"/>
                </a:solidFill>
                <a:effectLst/>
                <a:latin typeface="+mn-lt"/>
                <a:ea typeface="+mn-ea"/>
                <a:cs typeface="+mn-cs"/>
              </a:rPr>
              <a:t>Nginx </a:t>
            </a:r>
            <a:r>
              <a:rPr lang="zh-CN" altLang="en-US" sz="1200" b="0" i="0" kern="1200" dirty="0">
                <a:solidFill>
                  <a:schemeClr val="tx1"/>
                </a:solidFill>
                <a:effectLst/>
                <a:latin typeface="+mn-lt"/>
                <a:ea typeface="+mn-ea"/>
                <a:cs typeface="+mn-cs"/>
              </a:rPr>
              <a:t>与 </a:t>
            </a:r>
            <a:r>
              <a:rPr lang="en-US" altLang="zh-CN" sz="1200" b="0" i="0" kern="1200" dirty="0">
                <a:solidFill>
                  <a:schemeClr val="tx1"/>
                </a:solidFill>
                <a:effectLst/>
                <a:latin typeface="+mn-lt"/>
                <a:ea typeface="+mn-ea"/>
                <a:cs typeface="+mn-cs"/>
              </a:rPr>
              <a:t>Redis </a:t>
            </a:r>
            <a:r>
              <a:rPr lang="zh-CN" altLang="en-US" sz="1200" b="0" i="0" kern="1200" dirty="0">
                <a:solidFill>
                  <a:schemeClr val="tx1"/>
                </a:solidFill>
                <a:effectLst/>
                <a:latin typeface="+mn-lt"/>
                <a:ea typeface="+mn-ea"/>
                <a:cs typeface="+mn-cs"/>
              </a:rPr>
              <a:t>测试中，</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的吞吐量与 </a:t>
            </a:r>
            <a:r>
              <a:rPr lang="en-US" altLang="zh-CN" sz="1200" b="0" i="0" kern="1200" dirty="0">
                <a:solidFill>
                  <a:schemeClr val="tx1"/>
                </a:solidFill>
                <a:effectLst/>
                <a:latin typeface="+mn-lt"/>
                <a:ea typeface="+mn-ea"/>
                <a:cs typeface="+mn-cs"/>
              </a:rPr>
              <a:t>Linux </a:t>
            </a:r>
            <a:r>
              <a:rPr lang="zh-CN" altLang="en-US" sz="1200" b="0" i="0" kern="1200" dirty="0">
                <a:solidFill>
                  <a:schemeClr val="tx1"/>
                </a:solidFill>
                <a:effectLst/>
                <a:latin typeface="+mn-lt"/>
                <a:ea typeface="+mn-ea"/>
                <a:cs typeface="+mn-cs"/>
              </a:rPr>
              <a:t>持平，部分场景下表现更优。</a:t>
            </a:r>
          </a:p>
          <a:p>
            <a:r>
              <a:rPr lang="en-US" altLang="zh-CN" sz="1200" b="0" i="0" kern="1200" dirty="0">
                <a:solidFill>
                  <a:schemeClr val="tx1"/>
                </a:solidFill>
                <a:effectLst/>
                <a:latin typeface="+mn-lt"/>
                <a:ea typeface="+mn-ea"/>
                <a:cs typeface="+mn-cs"/>
              </a:rPr>
              <a:t>In Nginx and Redis tests, </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maintained throughput parity with Linux, even slightly outperforming it in specific scenarios.</a:t>
            </a:r>
          </a:p>
          <a:p>
            <a:r>
              <a:rPr lang="en-US" altLang="zh-CN" sz="1200" b="0" i="0" kern="1200" dirty="0">
                <a:solidFill>
                  <a:schemeClr val="tx1"/>
                </a:solidFill>
                <a:effectLst/>
                <a:latin typeface="+mn-lt"/>
                <a:ea typeface="+mn-ea"/>
                <a:cs typeface="+mn-cs"/>
              </a:rPr>
              <a:t>2. </a:t>
            </a:r>
            <a:r>
              <a:rPr lang="zh-CN" altLang="en-US" sz="1200" b="0" i="0" kern="1200" dirty="0">
                <a:solidFill>
                  <a:schemeClr val="tx1"/>
                </a:solidFill>
                <a:effectLst/>
                <a:latin typeface="+mn-lt"/>
                <a:ea typeface="+mn-ea"/>
                <a:cs typeface="+mn-cs"/>
              </a:rPr>
              <a:t>安全开销：极低的“安全溢价”</a:t>
            </a:r>
          </a:p>
          <a:p>
            <a:r>
              <a:rPr lang="en-US" altLang="zh-CN" sz="1200" b="0" i="0" kern="1200" dirty="0">
                <a:solidFill>
                  <a:schemeClr val="tx1"/>
                </a:solidFill>
                <a:effectLst/>
                <a:latin typeface="+mn-lt"/>
                <a:ea typeface="+mn-ea"/>
                <a:cs typeface="+mn-cs"/>
              </a:rPr>
              <a:t>Safety Overheads: Minimal "Security Premium"</a:t>
            </a:r>
          </a:p>
          <a:p>
            <a:br>
              <a:rPr lang="en-US" altLang="zh-CN" sz="1200" b="0" i="0" kern="1200" dirty="0">
                <a:solidFill>
                  <a:schemeClr val="tx1"/>
                </a:solidFill>
                <a:effectLst/>
                <a:latin typeface="+mn-lt"/>
                <a:ea typeface="+mn-ea"/>
                <a:cs typeface="+mn-cs"/>
              </a:rPr>
            </a:b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运行时开销 </a:t>
            </a:r>
            <a:r>
              <a:rPr lang="en-US" altLang="zh-CN" sz="1200" b="0" i="0" kern="1200" dirty="0">
                <a:solidFill>
                  <a:schemeClr val="tx1"/>
                </a:solidFill>
                <a:effectLst/>
                <a:latin typeface="+mn-lt"/>
                <a:ea typeface="+mn-ea"/>
                <a:cs typeface="+mn-cs"/>
              </a:rPr>
              <a:t>(Runtime Overhead)</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的运行时安全检查仅带来 </a:t>
            </a:r>
            <a:r>
              <a:rPr lang="en-US" altLang="zh-CN" sz="1200" b="0" i="0" kern="1200" dirty="0">
                <a:solidFill>
                  <a:schemeClr val="tx1"/>
                </a:solidFill>
                <a:effectLst/>
                <a:latin typeface="+mn-lt"/>
                <a:ea typeface="+mn-ea"/>
                <a:cs typeface="+mn-cs"/>
              </a:rPr>
              <a:t>1% - 2% </a:t>
            </a:r>
            <a:r>
              <a:rPr lang="zh-CN" altLang="en-US" sz="1200" b="0" i="0" kern="1200" dirty="0">
                <a:solidFill>
                  <a:schemeClr val="tx1"/>
                </a:solidFill>
                <a:effectLst/>
                <a:latin typeface="+mn-lt"/>
                <a:ea typeface="+mn-ea"/>
                <a:cs typeface="+mn-cs"/>
              </a:rPr>
              <a:t>的额外性能开销。</a:t>
            </a:r>
          </a:p>
          <a:p>
            <a:r>
              <a:rPr lang="en-US" altLang="zh-CN" sz="1200" b="0" i="0" kern="1200" dirty="0">
                <a:solidFill>
                  <a:schemeClr val="tx1"/>
                </a:solidFill>
                <a:effectLst/>
                <a:latin typeface="+mn-lt"/>
                <a:ea typeface="+mn-ea"/>
                <a:cs typeface="+mn-cs"/>
              </a:rPr>
              <a:t>Runtime safety checks in </a:t>
            </a:r>
            <a:r>
              <a:rPr lang="en-US" altLang="zh-CN" sz="1200" b="0" i="0" kern="1200" dirty="0" err="1">
                <a:solidFill>
                  <a:schemeClr val="tx1"/>
                </a:solidFill>
                <a:effectLst/>
                <a:latin typeface="+mn-lt"/>
                <a:ea typeface="+mn-ea"/>
                <a:cs typeface="+mn-cs"/>
              </a:rPr>
              <a:t>Asterinas</a:t>
            </a:r>
            <a:r>
              <a:rPr lang="en-US" altLang="zh-CN" sz="1200" b="0" i="0" kern="1200" dirty="0">
                <a:solidFill>
                  <a:schemeClr val="tx1"/>
                </a:solidFill>
                <a:effectLst/>
                <a:latin typeface="+mn-lt"/>
                <a:ea typeface="+mn-ea"/>
                <a:cs typeface="+mn-cs"/>
              </a:rPr>
              <a:t> introduce a mere 1% - 2% performance overhead.</a:t>
            </a:r>
          </a:p>
          <a:p>
            <a:r>
              <a:rPr lang="zh-CN" altLang="en-US" sz="1200" b="0" i="0" kern="1200" dirty="0">
                <a:solidFill>
                  <a:schemeClr val="tx1"/>
                </a:solidFill>
                <a:effectLst/>
                <a:latin typeface="+mn-lt"/>
                <a:ea typeface="+mn-ea"/>
                <a:cs typeface="+mn-cs"/>
              </a:rPr>
              <a:t>精准拆解 </a:t>
            </a:r>
            <a:r>
              <a:rPr lang="en-US" altLang="zh-CN" sz="1200" b="0" i="0" kern="1200" dirty="0">
                <a:solidFill>
                  <a:schemeClr val="tx1"/>
                </a:solidFill>
                <a:effectLst/>
                <a:latin typeface="+mn-lt"/>
                <a:ea typeface="+mn-ea"/>
                <a:cs typeface="+mn-cs"/>
              </a:rPr>
              <a:t>(Data Breakdown)</a:t>
            </a:r>
            <a:r>
              <a:rPr lang="zh-CN" altLang="en-US" sz="1200" b="0" i="0" kern="1200" dirty="0">
                <a:solidFill>
                  <a:schemeClr val="tx1"/>
                </a:solidFill>
                <a:effectLst/>
                <a:latin typeface="+mn-lt"/>
                <a:ea typeface="+mn-ea"/>
                <a:cs typeface="+mn-cs"/>
              </a:rPr>
              <a:t>：核心的边界检查（</a:t>
            </a:r>
            <a:r>
              <a:rPr lang="en-US" altLang="zh-CN" sz="1200" b="0" i="0" kern="1200" dirty="0">
                <a:solidFill>
                  <a:schemeClr val="tx1"/>
                </a:solidFill>
                <a:effectLst/>
                <a:latin typeface="+mn-lt"/>
                <a:ea typeface="+mn-ea"/>
                <a:cs typeface="+mn-cs"/>
              </a:rPr>
              <a:t>Boundary check</a:t>
            </a:r>
            <a:r>
              <a:rPr lang="zh-CN" altLang="en-US" sz="1200" b="0" i="0" kern="1200" dirty="0">
                <a:solidFill>
                  <a:schemeClr val="tx1"/>
                </a:solidFill>
                <a:effectLst/>
                <a:latin typeface="+mn-lt"/>
                <a:ea typeface="+mn-ea"/>
                <a:cs typeface="+mn-cs"/>
              </a:rPr>
              <a:t>）仅消耗 </a:t>
            </a:r>
            <a:r>
              <a:rPr lang="en-US" altLang="zh-CN" sz="1200" b="0" i="0" kern="1200" dirty="0">
                <a:solidFill>
                  <a:schemeClr val="tx1"/>
                </a:solidFill>
                <a:effectLst/>
                <a:latin typeface="+mn-lt"/>
                <a:ea typeface="+mn-ea"/>
                <a:cs typeface="+mn-cs"/>
              </a:rPr>
              <a:t>0.8% - 2.4%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CPU </a:t>
            </a:r>
            <a:r>
              <a:rPr lang="zh-CN" altLang="en-US" sz="1200" b="0" i="0" kern="1200" dirty="0">
                <a:solidFill>
                  <a:schemeClr val="tx1"/>
                </a:solidFill>
                <a:effectLst/>
                <a:latin typeface="+mn-lt"/>
                <a:ea typeface="+mn-ea"/>
                <a:cs typeface="+mn-cs"/>
              </a:rPr>
              <a:t>周期。</a:t>
            </a:r>
          </a:p>
          <a:p>
            <a:r>
              <a:rPr lang="en-US" altLang="zh-CN" sz="1200" b="0" i="0" kern="1200" dirty="0">
                <a:solidFill>
                  <a:schemeClr val="tx1"/>
                </a:solidFill>
                <a:effectLst/>
                <a:latin typeface="+mn-lt"/>
                <a:ea typeface="+mn-ea"/>
                <a:cs typeface="+mn-cs"/>
              </a:rPr>
              <a:t>Critical boundary checks consume only 0.8% - 2.4% of CPU cycles.</a:t>
            </a:r>
          </a:p>
          <a:p>
            <a:r>
              <a:rPr lang="zh-CN" altLang="en-US" sz="1200" b="0" i="0" kern="1200" dirty="0">
                <a:solidFill>
                  <a:schemeClr val="tx1"/>
                </a:solidFill>
                <a:effectLst/>
                <a:latin typeface="+mn-lt"/>
                <a:ea typeface="+mn-ea"/>
                <a:cs typeface="+mn-cs"/>
              </a:rPr>
              <a:t>核心权衡 </a:t>
            </a:r>
            <a:r>
              <a:rPr lang="en-US" altLang="zh-CN" sz="1200" b="0" i="0" kern="1200" dirty="0">
                <a:solidFill>
                  <a:schemeClr val="tx1"/>
                </a:solidFill>
                <a:effectLst/>
                <a:latin typeface="+mn-lt"/>
                <a:ea typeface="+mn-ea"/>
                <a:cs typeface="+mn-cs"/>
              </a:rPr>
              <a:t>(The Trade-off)</a:t>
            </a:r>
            <a:r>
              <a:rPr lang="zh-CN" altLang="en-US" sz="1200" b="0" i="0" kern="1200" dirty="0">
                <a:solidFill>
                  <a:schemeClr val="tx1"/>
                </a:solidFill>
                <a:effectLst/>
                <a:latin typeface="+mn-lt"/>
                <a:ea typeface="+mn-ea"/>
                <a:cs typeface="+mn-cs"/>
              </a:rPr>
              <a:t>：该架构以极小的性能代价，换取了内核 </a:t>
            </a:r>
            <a:r>
              <a:rPr lang="en-US" altLang="zh-CN" sz="1200" b="0" i="0" kern="1200" dirty="0">
                <a:solidFill>
                  <a:schemeClr val="tx1"/>
                </a:solidFill>
                <a:effectLst/>
                <a:latin typeface="+mn-lt"/>
                <a:ea typeface="+mn-ea"/>
                <a:cs typeface="+mn-cs"/>
              </a:rPr>
              <a:t>95% </a:t>
            </a:r>
            <a:r>
              <a:rPr lang="zh-CN" altLang="en-US" sz="1200" b="0" i="0" kern="1200" dirty="0">
                <a:solidFill>
                  <a:schemeClr val="tx1"/>
                </a:solidFill>
                <a:effectLst/>
                <a:latin typeface="+mn-lt"/>
                <a:ea typeface="+mn-ea"/>
                <a:cs typeface="+mn-cs"/>
              </a:rPr>
              <a:t>代码的绝对内存安全。</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 conclusion: The architecture trades a negligible performance cost for absolute memory safety across 95% of the kernel codebase.</a:t>
            </a:r>
          </a:p>
        </p:txBody>
      </p:sp>
      <p:sp>
        <p:nvSpPr>
          <p:cNvPr id="4" name="灯片编号占位符 3"/>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1193893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23</a:t>
            </a:fld>
            <a:endParaRPr lang="zh-TW" altLang="en-US"/>
          </a:p>
        </p:txBody>
      </p:sp>
    </p:spTree>
    <p:extLst>
      <p:ext uri="{BB962C8B-B14F-4D97-AF65-F5344CB8AC3E}">
        <p14:creationId xmlns:p14="http://schemas.microsoft.com/office/powerpoint/2010/main" val="1003703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56AA3-7794-D87A-15B8-A60FF35B0F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6B2A68-B485-BAC1-81F2-DB5F7A31C6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E93B24-E0CD-F884-096D-40D377A4B839}"/>
              </a:ext>
            </a:extLst>
          </p:cNvPr>
          <p:cNvSpPr>
            <a:spLocks noGrp="1"/>
          </p:cNvSpPr>
          <p:nvPr>
            <p:ph type="body" idx="1"/>
          </p:nvPr>
        </p:nvSpPr>
        <p:spPr/>
        <p:txBody>
          <a:bodyPr/>
          <a:lstStyle/>
          <a:p>
            <a:r>
              <a:rPr lang="en-US" altLang="zh-CN" b="1" dirty="0"/>
              <a:t>1. </a:t>
            </a:r>
            <a:r>
              <a:rPr lang="zh-CN" altLang="en-US" b="1" dirty="0"/>
              <a:t>历史演进：从“效率灾难”到“数学巅峰”</a:t>
            </a:r>
          </a:p>
          <a:p>
            <a:r>
              <a:rPr lang="zh-CN" altLang="en-US" b="1" dirty="0"/>
              <a:t>中文：</a:t>
            </a:r>
            <a:r>
              <a:rPr lang="zh-CN" altLang="en-US" dirty="0"/>
              <a:t> “回顾整个发展历程，微内核经历了一场深刻的范式转换：</a:t>
            </a:r>
          </a:p>
          <a:p>
            <a:r>
              <a:rPr lang="en-US" altLang="zh-CN" b="1" dirty="0"/>
              <a:t>L3/L4 </a:t>
            </a:r>
            <a:r>
              <a:rPr lang="zh-CN" altLang="en-US" b="1" dirty="0"/>
              <a:t>时代：</a:t>
            </a:r>
            <a:r>
              <a:rPr lang="zh-CN" altLang="en-US" dirty="0"/>
              <a:t> </a:t>
            </a:r>
            <a:r>
              <a:rPr lang="en-US" altLang="zh-CN" dirty="0"/>
              <a:t>Liedtke </a:t>
            </a:r>
            <a:r>
              <a:rPr lang="zh-CN" altLang="en-US" dirty="0"/>
              <a:t>在 </a:t>
            </a:r>
            <a:r>
              <a:rPr lang="en-US" altLang="zh-CN" dirty="0"/>
              <a:t>1993 </a:t>
            </a:r>
            <a:r>
              <a:rPr lang="zh-CN" altLang="en-US" dirty="0"/>
              <a:t>年证明了性能瓶颈并非微内核的基因缺陷，而是实现问题。通过寄存器传参和直接进程切换，他打破了‘微内核慢’的迷信。</a:t>
            </a:r>
          </a:p>
          <a:p>
            <a:r>
              <a:rPr lang="en-US" altLang="zh-CN" b="1" dirty="0"/>
              <a:t>seL4 </a:t>
            </a:r>
            <a:r>
              <a:rPr lang="zh-CN" altLang="en-US" b="1" dirty="0"/>
              <a:t>时代：</a:t>
            </a:r>
            <a:r>
              <a:rPr lang="zh-CN" altLang="en-US" dirty="0"/>
              <a:t> </a:t>
            </a:r>
            <a:r>
              <a:rPr lang="en-US" altLang="zh-CN" dirty="0"/>
              <a:t>2009 </a:t>
            </a:r>
            <a:r>
              <a:rPr lang="zh-CN" altLang="en-US" dirty="0"/>
              <a:t>年，</a:t>
            </a:r>
            <a:r>
              <a:rPr lang="en-US" altLang="zh-CN" dirty="0"/>
              <a:t>seL4 </a:t>
            </a:r>
            <a:r>
              <a:rPr lang="zh-CN" altLang="en-US" dirty="0"/>
              <a:t>通过 </a:t>
            </a:r>
            <a:r>
              <a:rPr lang="en-US" altLang="zh-CN" dirty="0"/>
              <a:t>Isabelle/HOL </a:t>
            </a:r>
            <a:r>
              <a:rPr lang="zh-CN" altLang="en-US" dirty="0"/>
              <a:t>定理证明器实现了全球首个全验证内核，将系统安全提升到了数学证明的高度。它证明了‘零 </a:t>
            </a:r>
            <a:r>
              <a:rPr lang="en-US" altLang="zh-CN" dirty="0"/>
              <a:t>Bug’</a:t>
            </a:r>
            <a:r>
              <a:rPr lang="zh-CN" altLang="en-US" dirty="0"/>
              <a:t>在操作系统内核上是可行的。”</a:t>
            </a:r>
          </a:p>
          <a:p>
            <a:r>
              <a:rPr lang="en-US" altLang="zh-CN" b="1" dirty="0"/>
              <a:t>English:</a:t>
            </a:r>
            <a:r>
              <a:rPr lang="en-US" altLang="zh-CN" dirty="0"/>
              <a:t> "Reflecting on the entire journey, microkernels have undergone a profound paradigm shift:</a:t>
            </a:r>
          </a:p>
          <a:p>
            <a:r>
              <a:rPr lang="en-US" altLang="zh-CN" b="1" dirty="0"/>
              <a:t>L3/L4 Era:</a:t>
            </a:r>
            <a:r>
              <a:rPr lang="en-US" altLang="zh-CN" dirty="0"/>
              <a:t> In 1993, Liedtke proved that performance bottlenecks were not inherent to microkernels but resulted from poor implementation. By introducing register-based parameter passing and direct process switching, he shattered the myth that 'microkernels are slow'.</a:t>
            </a:r>
          </a:p>
          <a:p>
            <a:r>
              <a:rPr lang="en-US" altLang="zh-CN" b="1" dirty="0"/>
              <a:t>seL4 Era:</a:t>
            </a:r>
            <a:r>
              <a:rPr lang="en-US" altLang="zh-CN" dirty="0"/>
              <a:t> In 2009, seL4 achieved the world's first fully verified kernel using the Isabelle/HOL theorem prover, elevating system security to the level of mathematical certainty. It proved that a 'zero-bug' state is achievable for OS kernels."</a:t>
            </a:r>
          </a:p>
          <a:p>
            <a:br>
              <a:rPr lang="en-US" altLang="zh-CN" dirty="0"/>
            </a:br>
            <a:endParaRPr lang="en-US" altLang="zh-CN" dirty="0"/>
          </a:p>
          <a:p>
            <a:r>
              <a:rPr lang="en-US" altLang="zh-CN" b="1" dirty="0"/>
              <a:t>2. </a:t>
            </a:r>
            <a:r>
              <a:rPr lang="zh-CN" altLang="en-US" b="1" dirty="0"/>
              <a:t>现实挑战：沉重的“验证税”</a:t>
            </a:r>
          </a:p>
          <a:p>
            <a:r>
              <a:rPr lang="zh-CN" altLang="en-US" b="1" dirty="0"/>
              <a:t>中文：</a:t>
            </a:r>
            <a:r>
              <a:rPr lang="zh-CN" altLang="en-US" dirty="0"/>
              <a:t> “然而，</a:t>
            </a:r>
            <a:r>
              <a:rPr lang="en-US" altLang="zh-CN" dirty="0"/>
              <a:t>seL4 </a:t>
            </a:r>
            <a:r>
              <a:rPr lang="zh-CN" altLang="en-US" dirty="0"/>
              <a:t>的成功也带来了新的困境：</a:t>
            </a:r>
          </a:p>
          <a:p>
            <a:r>
              <a:rPr lang="zh-CN" altLang="en-US" b="1" dirty="0"/>
              <a:t>验证税（</a:t>
            </a:r>
            <a:r>
              <a:rPr lang="en-US" altLang="zh-CN" b="1" dirty="0"/>
              <a:t>Verification Tax</a:t>
            </a:r>
            <a:r>
              <a:rPr lang="zh-CN" altLang="en-US" b="1" dirty="0"/>
              <a:t>）：</a:t>
            </a:r>
            <a:r>
              <a:rPr lang="en-US" altLang="zh-CN" dirty="0"/>
              <a:t> </a:t>
            </a:r>
            <a:r>
              <a:rPr lang="zh-CN" altLang="en-US" dirty="0"/>
              <a:t>极高的证明成本（</a:t>
            </a:r>
            <a:r>
              <a:rPr lang="en-US" altLang="zh-CN" dirty="0"/>
              <a:t>1 </a:t>
            </a:r>
            <a:r>
              <a:rPr lang="zh-CN" altLang="en-US" dirty="0"/>
              <a:t>万行 </a:t>
            </a:r>
            <a:r>
              <a:rPr lang="en-US" altLang="zh-CN" dirty="0"/>
              <a:t>C </a:t>
            </a:r>
            <a:r>
              <a:rPr lang="zh-CN" altLang="en-US" dirty="0"/>
              <a:t>代码对应 </a:t>
            </a:r>
            <a:r>
              <a:rPr lang="en-US" altLang="zh-CN" dirty="0"/>
              <a:t>50 </a:t>
            </a:r>
            <a:r>
              <a:rPr lang="zh-CN" altLang="en-US" dirty="0"/>
              <a:t>万行证明）和证明的脆弱性限制了它的工业扩展。</a:t>
            </a:r>
          </a:p>
          <a:p>
            <a:r>
              <a:rPr lang="zh-CN" altLang="en-US" b="1" dirty="0"/>
              <a:t>生态孤岛：</a:t>
            </a:r>
            <a:r>
              <a:rPr lang="zh-CN" altLang="en-US" dirty="0"/>
              <a:t> 由于极度简化以维持可证明性，它难以兼容 </a:t>
            </a:r>
            <a:r>
              <a:rPr lang="en-US" altLang="zh-CN" dirty="0"/>
              <a:t>Linux </a:t>
            </a:r>
            <a:r>
              <a:rPr lang="zh-CN" altLang="en-US" dirty="0"/>
              <a:t>等主流生态，导致开发周期长、门槛高。”</a:t>
            </a:r>
          </a:p>
          <a:p>
            <a:r>
              <a:rPr lang="en-US" altLang="zh-CN" b="1" dirty="0"/>
              <a:t>English:</a:t>
            </a:r>
            <a:r>
              <a:rPr lang="en-US" altLang="zh-CN" dirty="0"/>
              <a:t> "However, seL4's success introduced new dilemmas:</a:t>
            </a:r>
          </a:p>
          <a:p>
            <a:r>
              <a:rPr lang="en-US" altLang="zh-CN" b="1" dirty="0"/>
              <a:t>Verification Tax:</a:t>
            </a:r>
            <a:r>
              <a:rPr lang="en-US" altLang="zh-CN" dirty="0"/>
              <a:t> Astronomical proof costs (500k+ lines of proof for 10k lines of C) and proof fragility hindered industrial scaling.</a:t>
            </a:r>
          </a:p>
          <a:p>
            <a:r>
              <a:rPr lang="en-US" altLang="zh-CN" b="1" dirty="0"/>
              <a:t>Ecological Isolation:</a:t>
            </a:r>
            <a:r>
              <a:rPr lang="en-US" altLang="zh-CN" dirty="0"/>
              <a:t> To maintain provability, seL4 remained overly minimalist, lacking Linux compatibility and leading to high entry barriers and long development cycles."</a:t>
            </a:r>
          </a:p>
          <a:p>
            <a:br>
              <a:rPr lang="en-US" altLang="zh-CN" dirty="0"/>
            </a:br>
            <a:endParaRPr lang="en-US" altLang="zh-CN" dirty="0"/>
          </a:p>
          <a:p>
            <a:r>
              <a:rPr lang="en-US" altLang="zh-CN" b="1" dirty="0"/>
              <a:t>3. </a:t>
            </a:r>
            <a:r>
              <a:rPr lang="zh-CN" altLang="en-US" b="1" dirty="0"/>
              <a:t>未来范式：</a:t>
            </a:r>
            <a:r>
              <a:rPr lang="en-US" altLang="zh-CN" b="1" dirty="0" err="1"/>
              <a:t>Asterinas</a:t>
            </a:r>
            <a:r>
              <a:rPr lang="en-US" altLang="zh-CN" b="1" dirty="0"/>
              <a:t> </a:t>
            </a:r>
            <a:r>
              <a:rPr lang="zh-CN" altLang="en-US" b="1" dirty="0"/>
              <a:t>的“第三条路”</a:t>
            </a:r>
          </a:p>
          <a:p>
            <a:r>
              <a:rPr lang="zh-CN" altLang="en-US" b="1" dirty="0"/>
              <a:t>中文：</a:t>
            </a:r>
            <a:r>
              <a:rPr lang="zh-CN" altLang="en-US" dirty="0"/>
              <a:t> “</a:t>
            </a:r>
            <a:r>
              <a:rPr lang="en-US" altLang="zh-CN" b="1" dirty="0" err="1"/>
              <a:t>Asterinas</a:t>
            </a:r>
            <a:r>
              <a:rPr lang="en-US" altLang="zh-CN" b="1" dirty="0"/>
              <a:t> (2025)</a:t>
            </a:r>
            <a:r>
              <a:rPr lang="en-US" altLang="zh-CN" dirty="0"/>
              <a:t> </a:t>
            </a:r>
            <a:r>
              <a:rPr lang="zh-CN" altLang="en-US" dirty="0"/>
              <a:t>则代表了微内核的最新形态</a:t>
            </a:r>
            <a:r>
              <a:rPr lang="en-US" altLang="zh-CN" dirty="0"/>
              <a:t>——</a:t>
            </a:r>
            <a:r>
              <a:rPr lang="zh-CN" altLang="en-US" b="1" dirty="0"/>
              <a:t>框架内核（</a:t>
            </a:r>
            <a:r>
              <a:rPr lang="en-US" altLang="zh-CN" b="1" dirty="0" err="1"/>
              <a:t>Framekernel</a:t>
            </a:r>
            <a:r>
              <a:rPr lang="zh-CN" altLang="en-US" b="1" dirty="0"/>
              <a:t>）</a:t>
            </a:r>
            <a:r>
              <a:rPr lang="zh-CN" altLang="en-US" dirty="0"/>
              <a:t>：</a:t>
            </a:r>
          </a:p>
          <a:p>
            <a:r>
              <a:rPr lang="zh-CN" altLang="en-US" b="1" dirty="0"/>
              <a:t>原生安全：</a:t>
            </a:r>
            <a:r>
              <a:rPr lang="zh-CN" altLang="en-US" dirty="0"/>
              <a:t> 利用 </a:t>
            </a:r>
            <a:r>
              <a:rPr lang="en-US" altLang="zh-CN" dirty="0"/>
              <a:t>Rust </a:t>
            </a:r>
            <a:r>
              <a:rPr lang="zh-CN" altLang="en-US" dirty="0"/>
              <a:t>的静态分析替代昂贵的手动证明，实现了 </a:t>
            </a:r>
            <a:r>
              <a:rPr lang="en-US" altLang="zh-CN" dirty="0"/>
              <a:t>95% </a:t>
            </a:r>
            <a:r>
              <a:rPr lang="zh-CN" altLang="en-US" dirty="0"/>
              <a:t>代码的原生内存安全。</a:t>
            </a:r>
          </a:p>
          <a:p>
            <a:r>
              <a:rPr lang="zh-CN" altLang="en-US" b="1" dirty="0"/>
              <a:t>兼容共生：</a:t>
            </a:r>
            <a:r>
              <a:rPr lang="zh-CN" altLang="en-US" dirty="0"/>
              <a:t> 凭借 </a:t>
            </a:r>
            <a:r>
              <a:rPr lang="en-US" altLang="zh-CN" dirty="0"/>
              <a:t>Linux-ABI </a:t>
            </a:r>
            <a:r>
              <a:rPr lang="zh-CN" altLang="en-US" dirty="0"/>
              <a:t>兼容层，它直接拥抱了成熟的工业生态，实现了‘安全即插即用’。</a:t>
            </a:r>
          </a:p>
          <a:p>
            <a:r>
              <a:rPr lang="zh-CN" altLang="en-US" b="1" dirty="0"/>
              <a:t>高效落地：</a:t>
            </a:r>
            <a:r>
              <a:rPr lang="zh-CN" altLang="en-US" dirty="0"/>
              <a:t> 实验证明，它在保持高防御等级的同时，性能表现与 </a:t>
            </a:r>
            <a:r>
              <a:rPr lang="en-US" altLang="zh-CN" dirty="0"/>
              <a:t>Linux </a:t>
            </a:r>
            <a:r>
              <a:rPr lang="zh-CN" altLang="en-US" dirty="0"/>
              <a:t>旗鼓相当。”</a:t>
            </a:r>
          </a:p>
          <a:p>
            <a:r>
              <a:rPr lang="en-US" altLang="zh-CN" b="1" dirty="0"/>
              <a:t>English:</a:t>
            </a:r>
            <a:r>
              <a:rPr lang="en-US" altLang="zh-CN" dirty="0"/>
              <a:t> "</a:t>
            </a:r>
            <a:r>
              <a:rPr lang="en-US" altLang="zh-CN" b="1" dirty="0" err="1"/>
              <a:t>Asterinas</a:t>
            </a:r>
            <a:r>
              <a:rPr lang="en-US" altLang="zh-CN" b="1" dirty="0"/>
              <a:t> (2025)</a:t>
            </a:r>
            <a:r>
              <a:rPr lang="en-US" altLang="zh-CN" dirty="0"/>
              <a:t> represents the latest evolution—the </a:t>
            </a:r>
            <a:r>
              <a:rPr lang="en-US" altLang="zh-CN" b="1" dirty="0" err="1"/>
              <a:t>Framekernel</a:t>
            </a:r>
            <a:r>
              <a:rPr lang="en-US" altLang="zh-CN" dirty="0"/>
              <a:t> paradigm:</a:t>
            </a:r>
          </a:p>
          <a:p>
            <a:r>
              <a:rPr lang="en-US" altLang="zh-CN" b="1" dirty="0"/>
              <a:t>Native Security:</a:t>
            </a:r>
            <a:r>
              <a:rPr lang="en-US" altLang="zh-CN" dirty="0"/>
              <a:t> Leveraging Rust's static analysis to replace costly manual proofs, it achieves native memory safety for 95% of the codebase.</a:t>
            </a:r>
          </a:p>
          <a:p>
            <a:r>
              <a:rPr lang="en-US" altLang="zh-CN" b="1" dirty="0"/>
              <a:t>Ecosystem Symbiosis:</a:t>
            </a:r>
            <a:r>
              <a:rPr lang="en-US" altLang="zh-CN" dirty="0"/>
              <a:t> With its Linux-ABI compliant shim, it embraces existing industrial ecosystems, enabling 'plug-and-play' security.</a:t>
            </a:r>
          </a:p>
          <a:p>
            <a:r>
              <a:rPr lang="en-US" altLang="zh-CN" b="1" dirty="0"/>
              <a:t>Efficient Deployment:</a:t>
            </a:r>
            <a:r>
              <a:rPr lang="en-US" altLang="zh-CN" dirty="0"/>
              <a:t> Experiments show that while maintaining high defense levels, its performance stands toe-to-toe with Linux."</a:t>
            </a:r>
          </a:p>
        </p:txBody>
      </p:sp>
      <p:sp>
        <p:nvSpPr>
          <p:cNvPr id="4" name="灯片编号占位符 3">
            <a:extLst>
              <a:ext uri="{FF2B5EF4-FFF2-40B4-BE49-F238E27FC236}">
                <a16:creationId xmlns:a16="http://schemas.microsoft.com/office/drawing/2014/main" id="{93DA3875-A86C-E267-FC57-2E698DE957C0}"/>
              </a:ext>
            </a:extLst>
          </p:cNvPr>
          <p:cNvSpPr>
            <a:spLocks noGrp="1"/>
          </p:cNvSpPr>
          <p:nvPr>
            <p:ph type="sldNum" sz="quarter" idx="5"/>
          </p:nvPr>
        </p:nvSpPr>
        <p:spPr/>
        <p:txBody>
          <a:bodyPr/>
          <a:lstStyle/>
          <a:p>
            <a:fld id="{B11D5518-E2B7-47D3-A483-775D39982443}" type="slidenum">
              <a:rPr lang="zh-TW" altLang="en-US" smtClean="0"/>
              <a:t>24</a:t>
            </a:fld>
            <a:endParaRPr lang="zh-TW" altLang="en-US"/>
          </a:p>
        </p:txBody>
      </p:sp>
    </p:spTree>
    <p:extLst>
      <p:ext uri="{BB962C8B-B14F-4D97-AF65-F5344CB8AC3E}">
        <p14:creationId xmlns:p14="http://schemas.microsoft.com/office/powerpoint/2010/main" val="733317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r>
              <a:rPr lang="en-US" altLang="zh-CN" sz="4800" dirty="0">
                <a:effectLst>
                  <a:outerShdw blurRad="38100" dist="38100" dir="2700000" algn="tl">
                    <a:srgbClr val="000000">
                      <a:alpha val="43137"/>
                    </a:srgbClr>
                  </a:outerShdw>
                </a:effectLst>
              </a:rPr>
              <a:t>Tracing Operation System's Microkernel Journey and Its Performance Trade-offs</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Zhangtianyi Chen</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a:t>
            </a:r>
            <a:r>
              <a:rPr lang="zh-CN" altLang="en-US" sz="2933" dirty="0">
                <a:latin typeface="Times New Roman" panose="02020603050405020304" pitchFamily="18" charset="0"/>
                <a:cs typeface="Times New Roman" panose="02020603050405020304" pitchFamily="18" charset="0"/>
              </a:rPr>
              <a:t> </a:t>
            </a:r>
            <a:r>
              <a:rPr lang="en-US" altLang="zh-CN" sz="2933" dirty="0">
                <a:latin typeface="Times New Roman" panose="02020603050405020304" pitchFamily="18" charset="0"/>
                <a:cs typeface="Times New Roman" panose="02020603050405020304" pitchFamily="18" charset="0"/>
              </a:rPr>
              <a:t>Work</a:t>
            </a:r>
          </a:p>
          <a:p>
            <a:r>
              <a:rPr lang="en-US" altLang="zh-CN" sz="2933" dirty="0">
                <a:latin typeface="Times New Roman" panose="02020603050405020304" pitchFamily="18" charset="0"/>
                <a:cs typeface="Times New Roman" panose="02020603050405020304" pitchFamily="18" charset="0"/>
              </a:rPr>
              <a:t>Preliminaries</a:t>
            </a:r>
          </a:p>
          <a:p>
            <a:r>
              <a:rPr lang="en-US" altLang="zh-CN" sz="2933" dirty="0">
                <a:latin typeface="Times New Roman" panose="02020603050405020304" pitchFamily="18" charset="0"/>
                <a:cs typeface="Times New Roman" panose="02020603050405020304" pitchFamily="18" charset="0"/>
              </a:rPr>
              <a:t>Proposed Methods</a:t>
            </a:r>
          </a:p>
          <a:p>
            <a:r>
              <a:rPr lang="en-US" altLang="zh-CN" sz="2933" dirty="0">
                <a:latin typeface="Times New Roman" panose="02020603050405020304" pitchFamily="18" charset="0"/>
                <a:cs typeface="Times New Roman" panose="02020603050405020304" pitchFamily="18" charset="0"/>
              </a:rPr>
              <a:t>Performance Evaluation </a:t>
            </a:r>
          </a:p>
          <a:p>
            <a:r>
              <a:rPr lang="en-US" altLang="zh-CN" sz="2933" dirty="0">
                <a:latin typeface="Times New Roman" panose="02020603050405020304" pitchFamily="18" charset="0"/>
                <a:cs typeface="Times New Roman" panose="02020603050405020304" pitchFamily="18" charset="0"/>
              </a:rPr>
              <a:t>Conclusions</a:t>
            </a:r>
          </a:p>
        </p:txBody>
      </p:sp>
      <p:sp>
        <p:nvSpPr>
          <p:cNvPr id="5" name="灯片编号占位符 1">
            <a:extLst>
              <a:ext uri="{FF2B5EF4-FFF2-40B4-BE49-F238E27FC236}">
                <a16:creationId xmlns:a16="http://schemas.microsoft.com/office/drawing/2014/main" id="{C8F1849A-008E-6EF5-AB10-F46E38150EF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CN" sz="4400" dirty="0">
                <a:effectLst>
                  <a:outerShdw blurRad="38100" dist="38100" dir="2700000" algn="tl">
                    <a:srgbClr val="000000">
                      <a:alpha val="43137"/>
                    </a:srgbClr>
                  </a:outerShdw>
                </a:effectLst>
              </a:rPr>
              <a:t>Kernel and Microkernel</a:t>
            </a:r>
            <a:endParaRPr lang="zh-TW" altLang="en-US" dirty="0"/>
          </a:p>
        </p:txBody>
      </p:sp>
      <p:sp>
        <p:nvSpPr>
          <p:cNvPr id="5" name="文字版面配置區 4"/>
          <p:cNvSpPr>
            <a:spLocks noGrp="1"/>
          </p:cNvSpPr>
          <p:nvPr>
            <p:ph type="body" idx="1"/>
          </p:nvPr>
        </p:nvSpPr>
        <p:spPr>
          <a:xfrm>
            <a:off x="2246313" y="1844824"/>
            <a:ext cx="7772400" cy="2562077"/>
          </a:xfrm>
        </p:spPr>
        <p:txBody>
          <a:bodyPr>
            <a:normAutofit fontScale="62500" lnSpcReduction="20000"/>
          </a:bodyPr>
          <a:lstStyle/>
          <a:p>
            <a:r>
              <a:rPr lang="en-US" altLang="zh-CN" sz="4000" dirty="0">
                <a:solidFill>
                  <a:srgbClr val="FF0000"/>
                </a:solidFill>
                <a:latin typeface="Times New Roman" panose="02020603050405020304" pitchFamily="18" charset="0"/>
                <a:cs typeface="Times New Roman" panose="02020603050405020304" pitchFamily="18" charset="0"/>
              </a:rPr>
              <a:t>Introduction</a:t>
            </a:r>
            <a:endParaRPr lang="en-US" altLang="zh-TW" sz="4000" dirty="0">
              <a:solidFill>
                <a:srgbClr val="FF0000"/>
              </a:solidFill>
              <a:latin typeface="Times New Roman" panose="02020603050405020304" pitchFamily="18" charset="0"/>
              <a:cs typeface="Times New Roman" panose="02020603050405020304" pitchFamily="18" charset="0"/>
            </a:endParaRPr>
          </a:p>
          <a:p>
            <a:r>
              <a:rPr lang="en-US" altLang="zh-CN" sz="4000" dirty="0">
                <a:latin typeface="Times New Roman" panose="02020603050405020304" pitchFamily="18" charset="0"/>
                <a:cs typeface="Times New Roman" panose="02020603050405020304" pitchFamily="18" charset="0"/>
              </a:rPr>
              <a:t>Related</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Work</a:t>
            </a:r>
          </a:p>
          <a:p>
            <a:r>
              <a:rPr lang="en-US" altLang="zh-CN" sz="4000" dirty="0">
                <a:latin typeface="Times New Roman" panose="02020603050405020304" pitchFamily="18" charset="0"/>
                <a:cs typeface="Times New Roman" panose="02020603050405020304" pitchFamily="18" charset="0"/>
              </a:rPr>
              <a:t>Preliminaries</a:t>
            </a:r>
          </a:p>
          <a:p>
            <a:r>
              <a:rPr lang="en-US" altLang="zh-CN" sz="4000" dirty="0">
                <a:latin typeface="Times New Roman" panose="02020603050405020304" pitchFamily="18" charset="0"/>
                <a:cs typeface="Times New Roman" panose="02020603050405020304" pitchFamily="18" charset="0"/>
              </a:rPr>
              <a:t>Proposed Methods</a:t>
            </a:r>
          </a:p>
          <a:p>
            <a:r>
              <a:rPr lang="en-US" altLang="zh-CN" sz="4000" dirty="0">
                <a:latin typeface="Times New Roman" panose="02020603050405020304" pitchFamily="18" charset="0"/>
                <a:cs typeface="Times New Roman" panose="02020603050405020304" pitchFamily="18" charset="0"/>
              </a:rPr>
              <a:t>Performance Evaluation </a:t>
            </a:r>
          </a:p>
          <a:p>
            <a:r>
              <a:rPr lang="en-US" altLang="zh-CN" sz="4000" dirty="0">
                <a:latin typeface="Times New Roman" panose="02020603050405020304" pitchFamily="18" charset="0"/>
                <a:cs typeface="Times New Roman" panose="02020603050405020304" pitchFamily="18" charset="0"/>
              </a:rPr>
              <a:t>Conclusions</a:t>
            </a:r>
          </a:p>
        </p:txBody>
      </p:sp>
      <p:sp>
        <p:nvSpPr>
          <p:cNvPr id="2" name="灯片编号占位符 1">
            <a:extLst>
              <a:ext uri="{FF2B5EF4-FFF2-40B4-BE49-F238E27FC236}">
                <a16:creationId xmlns:a16="http://schemas.microsoft.com/office/drawing/2014/main" id="{3492B67B-1436-E4F4-D617-281427E8227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Introduction -</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Kernel and </a:t>
            </a:r>
            <a:r>
              <a:rPr lang="en-US" altLang="zh-CN" sz="3600" dirty="0" err="1">
                <a:latin typeface="Times New Roman" panose="02020603050405020304" pitchFamily="18" charset="0"/>
                <a:cs typeface="Times New Roman" panose="02020603050405020304" pitchFamily="18" charset="0"/>
              </a:rPr>
              <a:t>MicroKernel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054333"/>
            <a:ext cx="12192000" cy="2107220"/>
          </a:xfrm>
        </p:spPr>
        <p:txBody>
          <a:bodyPr/>
          <a:lstStyle/>
          <a:p>
            <a:pPr algn="just"/>
            <a:r>
              <a:rPr lang="en-US" sz="2400" dirty="0">
                <a:latin typeface="Times New Roman" panose="02020603050405020304" pitchFamily="18" charset="0"/>
                <a:cs typeface="Times New Roman" panose="02020603050405020304" pitchFamily="18" charset="0"/>
              </a:rPr>
              <a:t>What is </a:t>
            </a:r>
            <a:r>
              <a:rPr lang="en-US" sz="2400" dirty="0" err="1">
                <a:latin typeface="Times New Roman" panose="02020603050405020304" pitchFamily="18" charset="0"/>
                <a:cs typeface="Times New Roman" panose="02020603050405020304" pitchFamily="18" charset="0"/>
              </a:rPr>
              <a:t>MicroKernel</a:t>
            </a:r>
            <a:endParaRPr lang="en-US" sz="2400" dirty="0">
              <a:latin typeface="Times New Roman" panose="02020603050405020304" pitchFamily="18" charset="0"/>
              <a:cs typeface="Times New Roman" panose="02020603050405020304" pitchFamily="18" charset="0"/>
            </a:endParaRPr>
          </a:p>
          <a:p>
            <a:pPr lvl="1" algn="just"/>
            <a:r>
              <a:rPr lang="en-US" altLang="zh-CN" sz="2200" dirty="0">
                <a:latin typeface="Times New Roman" panose="02020603050405020304" pitchFamily="18" charset="0"/>
                <a:cs typeface="Times New Roman" panose="02020603050405020304" pitchFamily="18" charset="0"/>
              </a:rPr>
              <a:t>Kernel (Monolithic): A monolithic kernel (like Linux) is an "all-in-one" architecture. </a:t>
            </a:r>
          </a:p>
          <a:p>
            <a:pPr lvl="1" algn="just"/>
            <a:r>
              <a:rPr lang="en-US" altLang="zh-CN" sz="2200" dirty="0">
                <a:latin typeface="Times New Roman" panose="02020603050405020304" pitchFamily="18" charset="0"/>
                <a:cs typeface="Times New Roman" panose="02020603050405020304" pitchFamily="18" charset="0"/>
              </a:rPr>
              <a:t>Microkernel: A microkernel minimizes the privileged code base by keeping only the absolute essentials (IPC, scheduling, low-level address space management) in Kernel Mode, while moving most services (drivers, file systems) to unprivileged User Mode. </a:t>
            </a:r>
            <a:endParaRPr lang="en-US" sz="22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dirty="0"/>
          </a:p>
        </p:txBody>
      </p:sp>
      <p:pic>
        <p:nvPicPr>
          <p:cNvPr id="1034" name="Picture 10">
            <a:extLst>
              <a:ext uri="{FF2B5EF4-FFF2-40B4-BE49-F238E27FC236}">
                <a16:creationId xmlns:a16="http://schemas.microsoft.com/office/drawing/2014/main" id="{4D9E26CB-5768-7E5A-0435-B1C139294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2969" y="3001455"/>
            <a:ext cx="5988420" cy="3191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85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753DE-1D8E-ACFC-B3CE-C35CC2B11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EB463-7A19-67F0-6146-89FA5FBF0829}"/>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Introduction – Pros &amp; Cons</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DB55E71-3F88-5AC5-33C2-ABF3B0633BB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
        <p:nvSpPr>
          <p:cNvPr id="6" name="文本框 5">
            <a:extLst>
              <a:ext uri="{FF2B5EF4-FFF2-40B4-BE49-F238E27FC236}">
                <a16:creationId xmlns:a16="http://schemas.microsoft.com/office/drawing/2014/main" id="{3FC63F5E-6BC1-64C9-3F6C-9652FE1A329F}"/>
              </a:ext>
            </a:extLst>
          </p:cNvPr>
          <p:cNvSpPr txBox="1"/>
          <p:nvPr/>
        </p:nvSpPr>
        <p:spPr>
          <a:xfrm>
            <a:off x="-71717" y="1295401"/>
            <a:ext cx="11672047" cy="4450449"/>
          </a:xfrm>
          <a:prstGeom prst="rect">
            <a:avLst/>
          </a:prstGeom>
          <a:noFill/>
        </p:spPr>
        <p:txBody>
          <a:bodyPr wrap="square">
            <a:spAutoFit/>
          </a:bodyPr>
          <a:lstStyle/>
          <a:p>
            <a:pPr fontAlgn="base">
              <a:spcBef>
                <a:spcPct val="20000"/>
              </a:spcBef>
              <a:spcAft>
                <a:spcPct val="0"/>
              </a:spcAft>
              <a:buClr>
                <a:srgbClr val="0000FF"/>
              </a:buClr>
              <a:buFont typeface="Arial" panose="020B0604020202020204" pitchFamily="34" charset="0"/>
              <a:buChar char="•"/>
            </a:pPr>
            <a:r>
              <a:rPr kumimoji="1" lang="zh-CN" altLang="en-US" sz="2400" dirty="0">
                <a:latin typeface="Times New Roman" panose="02020603050405020304" pitchFamily="18" charset="0"/>
                <a:ea typeface="標楷體" pitchFamily="65" charset="-120"/>
                <a:cs typeface="Times New Roman" panose="02020603050405020304" pitchFamily="18" charset="0"/>
              </a:rPr>
              <a:t>   </a:t>
            </a:r>
            <a:r>
              <a:rPr kumimoji="1" lang="en-US" altLang="zh-CN" sz="2400" dirty="0">
                <a:latin typeface="Times New Roman" panose="02020603050405020304" pitchFamily="18" charset="0"/>
                <a:ea typeface="標楷體" pitchFamily="65" charset="-120"/>
                <a:cs typeface="Times New Roman" panose="02020603050405020304" pitchFamily="18" charset="0"/>
              </a:rPr>
              <a:t>Monolithic Kernel——Philosophy: "Performance First" </a:t>
            </a:r>
            <a:r>
              <a:rPr kumimoji="1" lang="zh-CN" altLang="en-US" sz="2400" dirty="0">
                <a:latin typeface="Times New Roman" panose="02020603050405020304" pitchFamily="18" charset="0"/>
                <a:cs typeface="Times New Roman" panose="02020603050405020304" pitchFamily="18" charset="0"/>
              </a:rPr>
              <a:t>🏎️</a:t>
            </a:r>
          </a:p>
          <a:p>
            <a:pPr marL="800100" lvl="1" indent="-342900" fontAlgn="base">
              <a:spcBef>
                <a:spcPct val="20000"/>
              </a:spcBef>
              <a:spcAft>
                <a:spcPct val="0"/>
              </a:spcAft>
              <a:buClr>
                <a:srgbClr val="0000FF"/>
              </a:buClr>
              <a:buFont typeface="Wingdings" pitchFamily="2" charset="2"/>
              <a:buChar char="ü"/>
            </a:pPr>
            <a:r>
              <a:rPr kumimoji="1" lang="en-US" altLang="zh-CN" sz="2400" dirty="0">
                <a:latin typeface="Times New Roman" panose="02020603050405020304" pitchFamily="18" charset="0"/>
                <a:ea typeface="標楷體" pitchFamily="65" charset="-120"/>
                <a:cs typeface="Times New Roman" panose="02020603050405020304" pitchFamily="18" charset="0"/>
              </a:rPr>
              <a:t>High Efficiency: Direct function calls between components.</a:t>
            </a:r>
          </a:p>
          <a:p>
            <a:pPr marL="800100" lvl="1" indent="-342900" fontAlgn="base">
              <a:spcBef>
                <a:spcPct val="20000"/>
              </a:spcBef>
              <a:spcAft>
                <a:spcPct val="0"/>
              </a:spcAft>
              <a:buClr>
                <a:srgbClr val="0000FF"/>
              </a:buClr>
              <a:buFont typeface="Wingdings" pitchFamily="2" charset="2"/>
              <a:buChar char="ü"/>
            </a:pPr>
            <a:r>
              <a:rPr kumimoji="1" lang="en-US" altLang="zh-CN" sz="2400" dirty="0">
                <a:latin typeface="Times New Roman" panose="02020603050405020304" pitchFamily="18" charset="0"/>
                <a:ea typeface="標楷體" pitchFamily="65" charset="-120"/>
                <a:cs typeface="Times New Roman" panose="02020603050405020304" pitchFamily="18" charset="0"/>
              </a:rPr>
              <a:t>Mature Ecosystem: Decades of optimization. (e.g.</a:t>
            </a:r>
            <a:r>
              <a:rPr kumimoji="1" lang="zh-CN" altLang="en-US" sz="2400" dirty="0">
                <a:latin typeface="Times New Roman" panose="02020603050405020304" pitchFamily="18" charset="0"/>
                <a:ea typeface="標楷體" pitchFamily="65" charset="-120"/>
                <a:cs typeface="Times New Roman" panose="02020603050405020304" pitchFamily="18" charset="0"/>
              </a:rPr>
              <a:t> </a:t>
            </a:r>
            <a:r>
              <a:rPr kumimoji="1" lang="en-US" altLang="zh-CN" sz="2400" dirty="0">
                <a:latin typeface="Times New Roman" panose="02020603050405020304" pitchFamily="18" charset="0"/>
                <a:ea typeface="標楷體" pitchFamily="65" charset="-120"/>
                <a:cs typeface="Times New Roman" panose="02020603050405020304" pitchFamily="18" charset="0"/>
              </a:rPr>
              <a:t>Linux)</a:t>
            </a:r>
          </a:p>
          <a:p>
            <a:pPr marL="800100" lvl="1" indent="-342900" fontAlgn="base">
              <a:spcBef>
                <a:spcPct val="20000"/>
              </a:spcBef>
              <a:spcAft>
                <a:spcPct val="0"/>
              </a:spcAft>
              <a:buClr>
                <a:srgbClr val="0000FF"/>
              </a:buClr>
              <a:buFont typeface="系统字体常规体"/>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Fragile: Bug in one driver = System Crash (BSOD) </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ea typeface="標楷體" pitchFamily="65" charset="-120"/>
                <a:cs typeface="Times New Roman" panose="02020603050405020304" pitchFamily="18" charset="0"/>
              </a:rPr>
              <a:t>.</a:t>
            </a:r>
          </a:p>
          <a:p>
            <a:pPr marL="800100" lvl="1" indent="-342900" fontAlgn="base">
              <a:spcBef>
                <a:spcPct val="20000"/>
              </a:spcBef>
              <a:spcAft>
                <a:spcPct val="0"/>
              </a:spcAft>
              <a:buClr>
                <a:srgbClr val="0000FF"/>
              </a:buClr>
              <a:buFont typeface="系统字体常规体"/>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Hard to Maintain: Huge codebase, difficult to debug or verify.</a:t>
            </a:r>
          </a:p>
          <a:p>
            <a:pPr marL="0" lvl="1"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Microkernel——Philosophy: "Reliability &amp; Security First" </a:t>
            </a:r>
            <a:r>
              <a:rPr kumimoji="1" lang="zh-CN" altLang="en-US" sz="2400" dirty="0">
                <a:latin typeface="Times New Roman" panose="02020603050405020304" pitchFamily="18" charset="0"/>
                <a:cs typeface="Times New Roman" panose="02020603050405020304" pitchFamily="18" charset="0"/>
              </a:rPr>
              <a:t>🛡️</a:t>
            </a:r>
          </a:p>
          <a:p>
            <a:pPr marL="800100" lvl="1" indent="-342900" fontAlgn="base">
              <a:spcBef>
                <a:spcPct val="20000"/>
              </a:spcBef>
              <a:spcAft>
                <a:spcPct val="0"/>
              </a:spcAft>
              <a:buClr>
                <a:srgbClr val="0000FF"/>
              </a:buClr>
              <a:buFont typeface="Wingdings" pitchFamily="2" charset="2"/>
              <a:buChar char="ü"/>
            </a:pPr>
            <a:r>
              <a:rPr kumimoji="1" lang="en-US" altLang="zh-CN" sz="2400" dirty="0">
                <a:latin typeface="Times New Roman" panose="02020603050405020304" pitchFamily="18" charset="0"/>
                <a:ea typeface="標楷體" pitchFamily="65" charset="-120"/>
                <a:cs typeface="Times New Roman" panose="02020603050405020304" pitchFamily="18" charset="0"/>
              </a:rPr>
              <a:t>Isolation: Driver crash ≠ System crash.</a:t>
            </a:r>
          </a:p>
          <a:p>
            <a:pPr marL="800100" lvl="1" indent="-342900" fontAlgn="base">
              <a:spcBef>
                <a:spcPct val="20000"/>
              </a:spcBef>
              <a:spcAft>
                <a:spcPct val="0"/>
              </a:spcAft>
              <a:buClr>
                <a:srgbClr val="0000FF"/>
              </a:buClr>
              <a:buFont typeface="Wingdings" pitchFamily="2" charset="2"/>
              <a:buChar char="ü"/>
            </a:pPr>
            <a:r>
              <a:rPr kumimoji="1" lang="en-US" altLang="zh-CN" sz="2400" dirty="0">
                <a:latin typeface="Times New Roman" panose="02020603050405020304" pitchFamily="18" charset="0"/>
                <a:ea typeface="標楷體" pitchFamily="65" charset="-120"/>
                <a:cs typeface="Times New Roman" panose="02020603050405020304" pitchFamily="18" charset="0"/>
              </a:rPr>
              <a:t>Security: Small TCB (Trusted Computing Base), easier to secure.</a:t>
            </a:r>
          </a:p>
          <a:p>
            <a:pPr marL="800100" lvl="1" indent="-342900" fontAlgn="base">
              <a:spcBef>
                <a:spcPct val="20000"/>
              </a:spcBef>
              <a:spcAft>
                <a:spcPct val="0"/>
              </a:spcAft>
              <a:buClr>
                <a:srgbClr val="0000FF"/>
              </a:buClr>
              <a:buFont typeface="系统字体常规体"/>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IPC Overhead: Switching between User/Kernel modes is costly</a:t>
            </a:r>
            <a:r>
              <a:rPr kumimoji="1" lang="zh-CN" altLang="en-US" sz="2400" dirty="0">
                <a:latin typeface="Times New Roman" panose="02020603050405020304" pitchFamily="18" charset="0"/>
                <a:cs typeface="Times New Roman" panose="02020603050405020304" pitchFamily="18" charset="0"/>
              </a:rPr>
              <a:t>🐢</a:t>
            </a:r>
            <a:endParaRPr kumimoji="1" lang="en-US" altLang="zh-CN" sz="2400" dirty="0">
              <a:latin typeface="Times New Roman" panose="02020603050405020304" pitchFamily="18" charset="0"/>
              <a:ea typeface="標楷體" pitchFamily="65" charset="-120"/>
              <a:cs typeface="Times New Roman" panose="02020603050405020304" pitchFamily="18" charset="0"/>
            </a:endParaRPr>
          </a:p>
          <a:p>
            <a:pPr marL="800100" lvl="1" indent="-342900" fontAlgn="base">
              <a:spcBef>
                <a:spcPct val="20000"/>
              </a:spcBef>
              <a:spcAft>
                <a:spcPct val="0"/>
              </a:spcAft>
              <a:buClr>
                <a:srgbClr val="0000FF"/>
              </a:buClr>
              <a:buFont typeface="系统字体常规体"/>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Complexity: Asynchronous communication is harder.</a:t>
            </a:r>
          </a:p>
        </p:txBody>
      </p:sp>
      <p:pic>
        <p:nvPicPr>
          <p:cNvPr id="10" name="图片 9" descr="图示&#10;&#10;AI 生成的内容可能不正确。">
            <a:extLst>
              <a:ext uri="{FF2B5EF4-FFF2-40B4-BE49-F238E27FC236}">
                <a16:creationId xmlns:a16="http://schemas.microsoft.com/office/drawing/2014/main" id="{9D30DC80-F09A-B9E3-79C2-5044F78EA149}"/>
              </a:ext>
            </a:extLst>
          </p:cNvPr>
          <p:cNvPicPr>
            <a:picLocks noChangeAspect="1"/>
          </p:cNvPicPr>
          <p:nvPr/>
        </p:nvPicPr>
        <p:blipFill>
          <a:blip r:embed="rId3">
            <a:extLst>
              <a:ext uri="{28A0092B-C50C-407E-A947-70E740481C1C}">
                <a14:useLocalDpi xmlns:a14="http://schemas.microsoft.com/office/drawing/2010/main" val="0"/>
              </a:ext>
            </a:extLst>
          </a:blip>
          <a:srcRect l="923" t="-1" r="50226" b="1248"/>
          <a:stretch>
            <a:fillRect/>
          </a:stretch>
        </p:blipFill>
        <p:spPr>
          <a:xfrm>
            <a:off x="9374850" y="1074173"/>
            <a:ext cx="2218765" cy="2446452"/>
          </a:xfrm>
          <a:prstGeom prst="rect">
            <a:avLst/>
          </a:prstGeom>
        </p:spPr>
      </p:pic>
      <p:pic>
        <p:nvPicPr>
          <p:cNvPr id="11" name="图片 10" descr="图示&#10;&#10;AI 生成的内容可能不正确。">
            <a:extLst>
              <a:ext uri="{FF2B5EF4-FFF2-40B4-BE49-F238E27FC236}">
                <a16:creationId xmlns:a16="http://schemas.microsoft.com/office/drawing/2014/main" id="{B6A412B4-5EB7-4565-BA9E-BAA7436DB4EB}"/>
              </a:ext>
            </a:extLst>
          </p:cNvPr>
          <p:cNvPicPr>
            <a:picLocks noChangeAspect="1"/>
          </p:cNvPicPr>
          <p:nvPr/>
        </p:nvPicPr>
        <p:blipFill>
          <a:blip r:embed="rId3">
            <a:extLst>
              <a:ext uri="{28A0092B-C50C-407E-A947-70E740481C1C}">
                <a14:useLocalDpi xmlns:a14="http://schemas.microsoft.com/office/drawing/2010/main" val="0"/>
              </a:ext>
            </a:extLst>
          </a:blip>
          <a:srcRect l="50557" t="416" r="1845" b="2173"/>
          <a:stretch>
            <a:fillRect/>
          </a:stretch>
        </p:blipFill>
        <p:spPr>
          <a:xfrm>
            <a:off x="9374850" y="3520625"/>
            <a:ext cx="2218765" cy="2476844"/>
          </a:xfrm>
          <a:prstGeom prst="rect">
            <a:avLst/>
          </a:prstGeom>
        </p:spPr>
      </p:pic>
    </p:spTree>
    <p:extLst>
      <p:ext uri="{BB962C8B-B14F-4D97-AF65-F5344CB8AC3E}">
        <p14:creationId xmlns:p14="http://schemas.microsoft.com/office/powerpoint/2010/main" val="1919852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82CF-208B-7E14-50F4-4842518247FF}"/>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B6A99A73-56A1-A183-C5EC-ED922031A949}"/>
              </a:ext>
            </a:extLst>
          </p:cNvPr>
          <p:cNvSpPr>
            <a:spLocks noGrp="1"/>
          </p:cNvSpPr>
          <p:nvPr>
            <p:ph type="title"/>
          </p:nvPr>
        </p:nvSpPr>
        <p:spPr/>
        <p:txBody>
          <a:bodyPr/>
          <a:lstStyle/>
          <a:p>
            <a:r>
              <a:rPr lang="en-US" altLang="zh-CN" sz="4400" dirty="0">
                <a:effectLst>
                  <a:outerShdw blurRad="38100" dist="38100" dir="2700000" algn="tl">
                    <a:srgbClr val="000000">
                      <a:alpha val="43137"/>
                    </a:srgbClr>
                  </a:outerShdw>
                </a:effectLst>
              </a:rPr>
              <a:t>A Brief History of </a:t>
            </a:r>
            <a:r>
              <a:rPr lang="en-US" altLang="zh-CN" sz="4400" dirty="0" err="1">
                <a:effectLst>
                  <a:outerShdw blurRad="38100" dist="38100" dir="2700000" algn="tl">
                    <a:srgbClr val="000000">
                      <a:alpha val="43137"/>
                    </a:srgbClr>
                  </a:outerShdw>
                </a:effectLst>
              </a:rPr>
              <a:t>Micorkernels</a:t>
            </a:r>
            <a:endParaRPr lang="zh-TW" altLang="en-US" sz="4400" dirty="0">
              <a:effectLst>
                <a:outerShdw blurRad="38100" dist="38100" dir="2700000" algn="tl">
                  <a:srgbClr val="000000">
                    <a:alpha val="43137"/>
                  </a:srgbClr>
                </a:outerShdw>
              </a:effectLst>
            </a:endParaRPr>
          </a:p>
        </p:txBody>
      </p:sp>
      <p:sp>
        <p:nvSpPr>
          <p:cNvPr id="5" name="文字版面配置區 4">
            <a:extLst>
              <a:ext uri="{FF2B5EF4-FFF2-40B4-BE49-F238E27FC236}">
                <a16:creationId xmlns:a16="http://schemas.microsoft.com/office/drawing/2014/main" id="{71370A85-4BAF-88FA-0B5B-B57DA1B74471}"/>
              </a:ext>
            </a:extLst>
          </p:cNvPr>
          <p:cNvSpPr>
            <a:spLocks noGrp="1"/>
          </p:cNvSpPr>
          <p:nvPr>
            <p:ph type="body" idx="1"/>
          </p:nvPr>
        </p:nvSpPr>
        <p:spPr>
          <a:xfrm>
            <a:off x="2246313" y="1844824"/>
            <a:ext cx="7772400" cy="2562077"/>
          </a:xfrm>
        </p:spPr>
        <p:txBody>
          <a:bodyPr>
            <a:normAutofit fontScale="62500" lnSpcReduction="20000"/>
          </a:bodyPr>
          <a:lstStyle/>
          <a:p>
            <a:r>
              <a:rPr lang="en-US" altLang="zh-CN" sz="4000" dirty="0">
                <a:latin typeface="Times New Roman" panose="02020603050405020304" pitchFamily="18" charset="0"/>
                <a:cs typeface="Times New Roman" panose="02020603050405020304" pitchFamily="18" charset="0"/>
              </a:rPr>
              <a:t>Introduction</a:t>
            </a:r>
            <a:endParaRPr lang="en-US" altLang="zh-TW" sz="4000" dirty="0">
              <a:latin typeface="Times New Roman" panose="02020603050405020304" pitchFamily="18" charset="0"/>
              <a:cs typeface="Times New Roman" panose="02020603050405020304" pitchFamily="18" charset="0"/>
            </a:endParaRPr>
          </a:p>
          <a:p>
            <a:r>
              <a:rPr lang="en-US" altLang="zh-CN" sz="4000" dirty="0">
                <a:solidFill>
                  <a:srgbClr val="FF0000"/>
                </a:solidFill>
                <a:latin typeface="Times New Roman" panose="02020603050405020304" pitchFamily="18" charset="0"/>
                <a:cs typeface="Times New Roman" panose="02020603050405020304" pitchFamily="18" charset="0"/>
              </a:rPr>
              <a:t>Related</a:t>
            </a:r>
            <a:r>
              <a:rPr lang="zh-CN" altLang="en-US" sz="4000" dirty="0">
                <a:solidFill>
                  <a:srgbClr val="FF0000"/>
                </a:solidFill>
                <a:latin typeface="Times New Roman" panose="02020603050405020304" pitchFamily="18" charset="0"/>
                <a:cs typeface="Times New Roman" panose="02020603050405020304" pitchFamily="18" charset="0"/>
              </a:rPr>
              <a:t> </a:t>
            </a:r>
            <a:r>
              <a:rPr lang="en-US" altLang="zh-CN" sz="4000" dirty="0">
                <a:solidFill>
                  <a:srgbClr val="FF0000"/>
                </a:solidFill>
                <a:latin typeface="Times New Roman" panose="02020603050405020304" pitchFamily="18" charset="0"/>
                <a:cs typeface="Times New Roman" panose="02020603050405020304" pitchFamily="18" charset="0"/>
              </a:rPr>
              <a:t>Work</a:t>
            </a:r>
          </a:p>
          <a:p>
            <a:r>
              <a:rPr lang="en-US" altLang="zh-CN" sz="4000" dirty="0">
                <a:latin typeface="Times New Roman" panose="02020603050405020304" pitchFamily="18" charset="0"/>
                <a:cs typeface="Times New Roman" panose="02020603050405020304" pitchFamily="18" charset="0"/>
              </a:rPr>
              <a:t>Preliminaries</a:t>
            </a:r>
          </a:p>
          <a:p>
            <a:r>
              <a:rPr lang="en-US" altLang="zh-CN" sz="4000" dirty="0">
                <a:latin typeface="Times New Roman" panose="02020603050405020304" pitchFamily="18" charset="0"/>
                <a:cs typeface="Times New Roman" panose="02020603050405020304" pitchFamily="18" charset="0"/>
              </a:rPr>
              <a:t>Proposed Methods</a:t>
            </a:r>
          </a:p>
          <a:p>
            <a:r>
              <a:rPr lang="en-US" altLang="zh-CN" sz="4000" dirty="0">
                <a:latin typeface="Times New Roman" panose="02020603050405020304" pitchFamily="18" charset="0"/>
                <a:cs typeface="Times New Roman" panose="02020603050405020304" pitchFamily="18" charset="0"/>
              </a:rPr>
              <a:t>Performance Evaluation </a:t>
            </a:r>
          </a:p>
          <a:p>
            <a:r>
              <a:rPr lang="en-US" altLang="zh-CN" sz="4000" dirty="0">
                <a:latin typeface="Times New Roman" panose="02020603050405020304" pitchFamily="18" charset="0"/>
                <a:cs typeface="Times New Roman" panose="02020603050405020304" pitchFamily="18" charset="0"/>
              </a:rPr>
              <a:t>Conclusions</a:t>
            </a:r>
          </a:p>
        </p:txBody>
      </p:sp>
      <p:sp>
        <p:nvSpPr>
          <p:cNvPr id="2" name="灯片编号占位符 1">
            <a:extLst>
              <a:ext uri="{FF2B5EF4-FFF2-40B4-BE49-F238E27FC236}">
                <a16:creationId xmlns:a16="http://schemas.microsoft.com/office/drawing/2014/main" id="{5B91487F-E69D-11BB-4BEB-37C32F4E94EF}"/>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Tree>
    <p:extLst>
      <p:ext uri="{BB962C8B-B14F-4D97-AF65-F5344CB8AC3E}">
        <p14:creationId xmlns:p14="http://schemas.microsoft.com/office/powerpoint/2010/main" val="2548258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57C0A-96E5-ABC3-E075-C43464D28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79CE6-4E5C-B4D1-D777-D9F4D43C5E4B}"/>
              </a:ext>
            </a:extLst>
          </p:cNvPr>
          <p:cNvSpPr>
            <a:spLocks noGrp="1"/>
          </p:cNvSpPr>
          <p:nvPr>
            <p:ph type="title"/>
          </p:nvPr>
        </p:nvSpPr>
        <p:spPr>
          <a:xfrm>
            <a:off x="1082594" y="433387"/>
            <a:ext cx="11109406" cy="692151"/>
          </a:xfrm>
        </p:spPr>
        <p:txBody>
          <a:bodyPr/>
          <a:lstStyle/>
          <a:p>
            <a:r>
              <a:rPr lang="en-US" altLang="zh-CN" sz="3600" dirty="0">
                <a:latin typeface="Times New Roman" panose="02020603050405020304" pitchFamily="18" charset="0"/>
                <a:cs typeface="Times New Roman" panose="02020603050405020304" pitchFamily="18" charset="0"/>
              </a:rPr>
              <a:t>Related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Work - A Brief History of </a:t>
            </a:r>
            <a:r>
              <a:rPr lang="en-US" altLang="zh-CN" sz="3600" dirty="0" err="1">
                <a:latin typeface="Times New Roman" panose="02020603050405020304" pitchFamily="18" charset="0"/>
                <a:cs typeface="Times New Roman" panose="02020603050405020304" pitchFamily="18" charset="0"/>
              </a:rPr>
              <a:t>Micorkernels</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(1/2)</a:t>
            </a:r>
            <a:br>
              <a:rPr lang="en-US" altLang="zh-CN"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6AB5B101-3785-514D-F397-E1566B47F991}"/>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
        <p:nvSpPr>
          <p:cNvPr id="10" name="文本框 9">
            <a:extLst>
              <a:ext uri="{FF2B5EF4-FFF2-40B4-BE49-F238E27FC236}">
                <a16:creationId xmlns:a16="http://schemas.microsoft.com/office/drawing/2014/main" id="{2017BBBF-A362-7CA2-F029-AC22ED6969E7}"/>
              </a:ext>
            </a:extLst>
          </p:cNvPr>
          <p:cNvSpPr txBox="1"/>
          <p:nvPr/>
        </p:nvSpPr>
        <p:spPr>
          <a:xfrm>
            <a:off x="41837" y="1171387"/>
            <a:ext cx="12099746" cy="4745915"/>
          </a:xfrm>
          <a:prstGeom prst="rect">
            <a:avLst/>
          </a:prstGeom>
          <a:noFill/>
        </p:spPr>
        <p:txBody>
          <a:bodyPr wrap="square">
            <a:spAutoFit/>
          </a:bodyPr>
          <a:lstStyle/>
          <a:p>
            <a:pPr fontAlgn="base">
              <a:spcBef>
                <a:spcPct val="20000"/>
              </a:spcBef>
              <a:spcAft>
                <a:spcPct val="0"/>
              </a:spcAft>
              <a:buClr>
                <a:srgbClr val="0000FF"/>
              </a:buClr>
              <a:buNone/>
            </a:pPr>
            <a:r>
              <a:rPr kumimoji="1" lang="en-US" altLang="zh-CN" sz="2400" b="1" dirty="0">
                <a:latin typeface="Times New Roman" panose="02020603050405020304" pitchFamily="18" charset="0"/>
                <a:ea typeface="標楷體" pitchFamily="65" charset="-120"/>
                <a:cs typeface="Times New Roman" panose="02020603050405020304" pitchFamily="18" charset="0"/>
              </a:rPr>
              <a:t>milestone 1: The First Generation (1980s - early 90s)</a:t>
            </a:r>
          </a:p>
          <a:p>
            <a:pPr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Key System:</a:t>
            </a:r>
            <a:r>
              <a:rPr kumimoji="1" lang="en-US" altLang="zh-CN" sz="2400" i="1" dirty="0">
                <a:latin typeface="Times New Roman" panose="02020603050405020304" pitchFamily="18" charset="0"/>
                <a:ea typeface="標楷體" pitchFamily="65" charset="-120"/>
                <a:cs typeface="Times New Roman" panose="02020603050405020304" pitchFamily="18" charset="0"/>
              </a:rPr>
              <a:t> Accetta et al., "Mach: A New Kernel Foundation for UNIX Development," USENIX 1986.</a:t>
            </a:r>
          </a:p>
          <a:p>
            <a:pPr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Focus: Flexibility &amp; Portability. (Trying to move Unix services out of the kernel).</a:t>
            </a:r>
          </a:p>
          <a:p>
            <a:pPr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The Outcome (Why it failed): "Performance Disaster" </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ea typeface="標楷體" pitchFamily="65" charset="-120"/>
                <a:cs typeface="Times New Roman" panose="02020603050405020304" pitchFamily="18" charset="0"/>
              </a:rPr>
              <a:t>.</a:t>
            </a:r>
          </a:p>
          <a:p>
            <a:pPr marL="800100" lvl="1" indent="-342900" fontAlgn="base">
              <a:spcBef>
                <a:spcPct val="20000"/>
              </a:spcBef>
              <a:spcAft>
                <a:spcPct val="0"/>
              </a:spcAft>
              <a:buClr>
                <a:srgbClr val="0000FF"/>
              </a:buClr>
              <a:buFont typeface="Wingdings" pitchFamily="2" charset="2"/>
              <a:buChar char="Ø"/>
            </a:pPr>
            <a:r>
              <a:rPr kumimoji="1" lang="en-US" altLang="zh-CN" sz="2400" dirty="0">
                <a:latin typeface="Times New Roman" panose="02020603050405020304" pitchFamily="18" charset="0"/>
                <a:ea typeface="標楷體" pitchFamily="65" charset="-120"/>
                <a:cs typeface="Times New Roman" panose="02020603050405020304" pitchFamily="18" charset="0"/>
              </a:rPr>
              <a:t>IPC was </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ea typeface="標楷體" pitchFamily="65" charset="-120"/>
                <a:cs typeface="Times New Roman" panose="02020603050405020304" pitchFamily="18" charset="0"/>
              </a:rPr>
              <a:t>too slow (often 50%+ overhead). They blamed the architecture.</a:t>
            </a:r>
          </a:p>
          <a:p>
            <a:pPr fontAlgn="base">
              <a:spcBef>
                <a:spcPct val="20000"/>
              </a:spcBef>
              <a:spcAft>
                <a:spcPct val="0"/>
              </a:spcAft>
              <a:buClr>
                <a:srgbClr val="0000FF"/>
              </a:buClr>
            </a:pPr>
            <a:r>
              <a:rPr kumimoji="1" lang="en-US" altLang="zh-CN" sz="2400" b="1" dirty="0">
                <a:latin typeface="Times New Roman" panose="02020603050405020304" pitchFamily="18" charset="0"/>
                <a:ea typeface="標楷體" pitchFamily="65" charset="-120"/>
                <a:cs typeface="Times New Roman" panose="02020603050405020304" pitchFamily="18" charset="0"/>
              </a:rPr>
              <a:t>milestone 2: The Second Generation (Mid-90s)</a:t>
            </a:r>
          </a:p>
          <a:p>
            <a:pPr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Key System: </a:t>
            </a:r>
            <a:r>
              <a:rPr kumimoji="1" lang="en-US" altLang="zh-CN" sz="2400" i="1" dirty="0">
                <a:latin typeface="Times New Roman" panose="02020603050405020304" pitchFamily="18" charset="0"/>
                <a:ea typeface="標楷體" pitchFamily="65" charset="-120"/>
                <a:cs typeface="Times New Roman" panose="02020603050405020304" pitchFamily="18" charset="0"/>
              </a:rPr>
              <a:t>J. Liedtke, "Improving IPC by Kernel Design," SOSP 1993.</a:t>
            </a:r>
          </a:p>
          <a:p>
            <a:pPr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Focus: Extreme Performance Optimization.</a:t>
            </a:r>
          </a:p>
          <a:p>
            <a:pPr marL="0" lvl="1"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Introduced </a:t>
            </a:r>
            <a:r>
              <a:rPr kumimoji="1" lang="en-US" altLang="zh-CN" sz="2400" b="1" dirty="0">
                <a:latin typeface="Times New Roman" panose="02020603050405020304" pitchFamily="18" charset="0"/>
                <a:ea typeface="標楷體" pitchFamily="65" charset="-120"/>
                <a:cs typeface="Times New Roman" panose="02020603050405020304" pitchFamily="18" charset="0"/>
              </a:rPr>
              <a:t>Fast IPC </a:t>
            </a:r>
            <a:r>
              <a:rPr kumimoji="1" lang="en-US" altLang="zh-CN" sz="2400" dirty="0">
                <a:latin typeface="Times New Roman" panose="02020603050405020304" pitchFamily="18" charset="0"/>
                <a:ea typeface="標楷體" pitchFamily="65" charset="-120"/>
                <a:cs typeface="Times New Roman" panose="02020603050405020304" pitchFamily="18" charset="0"/>
              </a:rPr>
              <a:t>(register passing, zero-copy). Performance became comparable to monolithic kernels.</a:t>
            </a:r>
          </a:p>
        </p:txBody>
      </p:sp>
    </p:spTree>
    <p:extLst>
      <p:ext uri="{BB962C8B-B14F-4D97-AF65-F5344CB8AC3E}">
        <p14:creationId xmlns:p14="http://schemas.microsoft.com/office/powerpoint/2010/main" val="28135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0B676-E79A-A613-2628-232ADD5A8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5EA13-A6A8-BF7F-44BB-EF5B469910F0}"/>
              </a:ext>
            </a:extLst>
          </p:cNvPr>
          <p:cNvSpPr>
            <a:spLocks noGrp="1"/>
          </p:cNvSpPr>
          <p:nvPr>
            <p:ph type="title"/>
          </p:nvPr>
        </p:nvSpPr>
        <p:spPr>
          <a:xfrm>
            <a:off x="1082594" y="190500"/>
            <a:ext cx="11109406" cy="692151"/>
          </a:xfrm>
        </p:spPr>
        <p:txBody>
          <a:bodyPr/>
          <a:lstStyle/>
          <a:p>
            <a:r>
              <a:rPr lang="en-US" altLang="zh-CN" sz="3600" dirty="0">
                <a:latin typeface="Times New Roman" panose="02020603050405020304" pitchFamily="18" charset="0"/>
                <a:cs typeface="Times New Roman" panose="02020603050405020304" pitchFamily="18" charset="0"/>
              </a:rPr>
              <a:t>Related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Work - A Brief History of </a:t>
            </a:r>
            <a:r>
              <a:rPr lang="en-US" altLang="zh-CN" sz="3600" dirty="0" err="1">
                <a:latin typeface="Times New Roman" panose="02020603050405020304" pitchFamily="18" charset="0"/>
                <a:cs typeface="Times New Roman" panose="02020603050405020304" pitchFamily="18" charset="0"/>
              </a:rPr>
              <a:t>Micorkernels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(2/2)</a:t>
            </a:r>
            <a:r>
              <a:rPr lang="zh-CN" altLang="en-US" sz="3600" dirty="0">
                <a:latin typeface="Times New Roman" panose="02020603050405020304" pitchFamily="18" charset="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00E4B6CB-E1A6-0567-9FEF-2EB4232088C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10" name="文本框 9">
            <a:extLst>
              <a:ext uri="{FF2B5EF4-FFF2-40B4-BE49-F238E27FC236}">
                <a16:creationId xmlns:a16="http://schemas.microsoft.com/office/drawing/2014/main" id="{A702CCD7-2AEB-9690-22C2-110213AB7C8F}"/>
              </a:ext>
            </a:extLst>
          </p:cNvPr>
          <p:cNvSpPr txBox="1"/>
          <p:nvPr/>
        </p:nvSpPr>
        <p:spPr>
          <a:xfrm>
            <a:off x="1" y="1125538"/>
            <a:ext cx="12191999" cy="3785652"/>
          </a:xfrm>
          <a:prstGeom prst="rect">
            <a:avLst/>
          </a:prstGeom>
          <a:noFill/>
        </p:spPr>
        <p:txBody>
          <a:bodyPr wrap="square">
            <a:spAutoFit/>
          </a:bodyPr>
          <a:lstStyle/>
          <a:p>
            <a:r>
              <a:rPr kumimoji="1" lang="en-US" altLang="zh-CN" sz="2400" b="1" dirty="0">
                <a:latin typeface="Times New Roman" panose="02020603050405020304" pitchFamily="18" charset="0"/>
                <a:ea typeface="標楷體" pitchFamily="65" charset="-120"/>
                <a:cs typeface="Times New Roman" panose="02020603050405020304" pitchFamily="18" charset="0"/>
              </a:rPr>
              <a:t>milestone 3: The New Paradigm - Modern Practicality (2000s - Present)</a:t>
            </a:r>
          </a:p>
          <a:p>
            <a:pPr marL="342900"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Key Systems &amp; Papers:</a:t>
            </a:r>
          </a:p>
          <a:p>
            <a:pPr marL="800100" lvl="2" indent="-342900" fontAlgn="base">
              <a:spcBef>
                <a:spcPct val="20000"/>
              </a:spcBef>
              <a:spcAft>
                <a:spcPct val="0"/>
              </a:spcAft>
              <a:buClr>
                <a:srgbClr val="0000FF"/>
              </a:buClr>
              <a:buFont typeface="Wingdings" pitchFamily="2" charset="2"/>
              <a:buChar char="Ø"/>
            </a:pPr>
            <a:r>
              <a:rPr kumimoji="1" lang="en-US" altLang="zh-CN" sz="2400" dirty="0">
                <a:latin typeface="Times New Roman" panose="02020603050405020304" pitchFamily="18" charset="0"/>
                <a:ea typeface="標楷體" pitchFamily="65" charset="-120"/>
                <a:cs typeface="Times New Roman" panose="02020603050405020304" pitchFamily="18" charset="0"/>
              </a:rPr>
              <a:t>seL4: G. Klein et al., "seL4: Formal Verification of an OS Kernel," SOSP 2009.</a:t>
            </a:r>
          </a:p>
          <a:p>
            <a:pPr marL="800100" lvl="2" indent="-342900" fontAlgn="base">
              <a:spcBef>
                <a:spcPct val="20000"/>
              </a:spcBef>
              <a:spcAft>
                <a:spcPct val="0"/>
              </a:spcAft>
              <a:buClr>
                <a:srgbClr val="0000FF"/>
              </a:buClr>
              <a:buFont typeface="Wingdings" pitchFamily="2" charset="2"/>
              <a:buChar char="Ø"/>
            </a:pPr>
            <a:r>
              <a:rPr kumimoji="1" lang="en-US" altLang="zh-CN" sz="2400" dirty="0" err="1">
                <a:latin typeface="Times New Roman" panose="02020603050405020304" pitchFamily="18" charset="0"/>
                <a:ea typeface="標楷體" pitchFamily="65" charset="-120"/>
                <a:cs typeface="Times New Roman" panose="02020603050405020304" pitchFamily="18" charset="0"/>
              </a:rPr>
              <a:t>Asterinas</a:t>
            </a:r>
            <a:r>
              <a:rPr kumimoji="1" lang="en-US" altLang="zh-CN" sz="2400" dirty="0">
                <a:latin typeface="Times New Roman" panose="02020603050405020304" pitchFamily="18" charset="0"/>
                <a:ea typeface="標楷體" pitchFamily="65" charset="-120"/>
                <a:cs typeface="Times New Roman" panose="02020603050405020304" pitchFamily="18" charset="0"/>
              </a:rPr>
              <a:t>: Y. Peng et al., "</a:t>
            </a:r>
            <a:r>
              <a:rPr kumimoji="1" lang="en-US" altLang="zh-CN" sz="2400" dirty="0" err="1">
                <a:latin typeface="Times New Roman" panose="02020603050405020304" pitchFamily="18" charset="0"/>
                <a:ea typeface="標楷體" pitchFamily="65" charset="-120"/>
                <a:cs typeface="Times New Roman" panose="02020603050405020304" pitchFamily="18" charset="0"/>
              </a:rPr>
              <a:t>Asterinas</a:t>
            </a:r>
            <a:r>
              <a:rPr kumimoji="1" lang="en-US" altLang="zh-CN" sz="2400" dirty="0">
                <a:latin typeface="Times New Roman" panose="02020603050405020304" pitchFamily="18" charset="0"/>
                <a:ea typeface="標楷體" pitchFamily="65" charset="-120"/>
                <a:cs typeface="Times New Roman" panose="02020603050405020304" pitchFamily="18" charset="0"/>
              </a:rPr>
              <a:t>: A Linux ABI-Compatible, Rust-Based </a:t>
            </a:r>
            <a:r>
              <a:rPr kumimoji="1" lang="en-US" altLang="zh-CN" sz="2400" dirty="0" err="1">
                <a:latin typeface="Times New Roman" panose="02020603050405020304" pitchFamily="18" charset="0"/>
                <a:ea typeface="標楷體" pitchFamily="65" charset="-120"/>
                <a:cs typeface="Times New Roman" panose="02020603050405020304" pitchFamily="18" charset="0"/>
              </a:rPr>
              <a:t>Framekernel</a:t>
            </a:r>
            <a:r>
              <a:rPr kumimoji="1" lang="en-US" altLang="zh-CN" sz="2400" dirty="0">
                <a:latin typeface="Times New Roman" panose="02020603050405020304" pitchFamily="18" charset="0"/>
                <a:ea typeface="標楷體" pitchFamily="65" charset="-120"/>
                <a:cs typeface="Times New Roman" panose="02020603050405020304" pitchFamily="18" charset="0"/>
              </a:rPr>
              <a:t> OS with a Small and Sound TCB," USENIX ATC 2025.</a:t>
            </a:r>
          </a:p>
          <a:p>
            <a:pPr marL="342900" indent="-342900" fontAlgn="base">
              <a:spcBef>
                <a:spcPct val="20000"/>
              </a:spcBef>
              <a:spcAft>
                <a:spcPct val="0"/>
              </a:spcAft>
              <a:buClr>
                <a:srgbClr val="0000FF"/>
              </a:buClr>
              <a:buFont typeface="Arial" panose="020B0604020202020204" pitchFamily="34" charset="0"/>
              <a:buChar char="•"/>
            </a:pPr>
            <a:r>
              <a:rPr kumimoji="1" lang="en-US" altLang="zh-CN" sz="2400" dirty="0">
                <a:latin typeface="Times New Roman" panose="02020603050405020304" pitchFamily="18" charset="0"/>
                <a:ea typeface="標楷體" pitchFamily="65" charset="-120"/>
                <a:cs typeface="Times New Roman" panose="02020603050405020304" pitchFamily="18" charset="0"/>
              </a:rPr>
              <a:t>Focus: The Shift from "Verification" to "Construction"</a:t>
            </a:r>
          </a:p>
          <a:p>
            <a:pPr marL="800100" lvl="2" indent="-342900" fontAlgn="base">
              <a:spcBef>
                <a:spcPct val="20000"/>
              </a:spcBef>
              <a:spcAft>
                <a:spcPct val="0"/>
              </a:spcAft>
              <a:buClr>
                <a:srgbClr val="0000FF"/>
              </a:buClr>
              <a:buFont typeface="Wingdings" pitchFamily="2" charset="2"/>
              <a:buChar char="Ø"/>
            </a:pPr>
            <a:r>
              <a:rPr kumimoji="1" lang="en-US" altLang="zh-CN" sz="2400" dirty="0">
                <a:latin typeface="Times New Roman" panose="02020603050405020304" pitchFamily="18" charset="0"/>
                <a:ea typeface="標楷體" pitchFamily="65" charset="-120"/>
                <a:cs typeface="Times New Roman" panose="02020603050405020304" pitchFamily="18" charset="0"/>
              </a:rPr>
              <a:t>The Problem with Absolute Security (seL4): While seL4 achieved a "bug-free" state through formal verification, the cost was extreme—high development complexity and poor ecosystem compatibility.</a:t>
            </a:r>
          </a:p>
        </p:txBody>
      </p:sp>
    </p:spTree>
    <p:extLst>
      <p:ext uri="{BB962C8B-B14F-4D97-AF65-F5344CB8AC3E}">
        <p14:creationId xmlns:p14="http://schemas.microsoft.com/office/powerpoint/2010/main" val="2860064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ECC96-AB8E-BBB9-5EFE-E60A0F741D20}"/>
            </a:ext>
          </a:extLst>
        </p:cNvPr>
        <p:cNvGrpSpPr/>
        <p:nvPr/>
      </p:nvGrpSpPr>
      <p:grpSpPr>
        <a:xfrm>
          <a:off x="0" y="0"/>
          <a:ext cx="0" cy="0"/>
          <a:chOff x="0" y="0"/>
          <a:chExt cx="0" cy="0"/>
        </a:xfrm>
      </p:grpSpPr>
      <p:sp>
        <p:nvSpPr>
          <p:cNvPr id="4" name="標題 3">
            <a:extLst>
              <a:ext uri="{FF2B5EF4-FFF2-40B4-BE49-F238E27FC236}">
                <a16:creationId xmlns:a16="http://schemas.microsoft.com/office/drawing/2014/main" id="{5BB7E140-A8E8-D1BD-2594-C83EEDDA0BD0}"/>
              </a:ext>
            </a:extLst>
          </p:cNvPr>
          <p:cNvSpPr>
            <a:spLocks noGrp="1"/>
          </p:cNvSpPr>
          <p:nvPr>
            <p:ph type="title"/>
          </p:nvPr>
        </p:nvSpPr>
        <p:spPr>
          <a:xfrm>
            <a:off x="701269" y="4406903"/>
            <a:ext cx="10625015" cy="2241404"/>
          </a:xfrm>
        </p:spPr>
        <p:txBody>
          <a:bodyPr/>
          <a:lstStyle/>
          <a:p>
            <a:r>
              <a:rPr lang="en-US" altLang="zh-CN" sz="2800" dirty="0">
                <a:effectLst>
                  <a:outerShdw blurRad="38100" dist="38100" dir="2700000" algn="tl">
                    <a:srgbClr val="000000">
                      <a:alpha val="43137"/>
                    </a:srgbClr>
                  </a:outerShdw>
                </a:effectLst>
              </a:rPr>
              <a:t>1. Improving IPC by Kernel Design </a:t>
            </a:r>
            <a:br>
              <a:rPr lang="en-US" altLang="zh-CN" sz="2800" dirty="0">
                <a:effectLst>
                  <a:outerShdw blurRad="38100" dist="38100" dir="2700000" algn="tl">
                    <a:srgbClr val="000000">
                      <a:alpha val="43137"/>
                    </a:srgbClr>
                  </a:outerShdw>
                </a:effectLst>
              </a:rPr>
            </a:br>
            <a:r>
              <a:rPr lang="en-US" altLang="zh-CN" sz="2800" dirty="0">
                <a:effectLst>
                  <a:outerShdw blurRad="38100" dist="38100" dir="2700000" algn="tl">
                    <a:srgbClr val="000000">
                      <a:alpha val="43137"/>
                    </a:srgbClr>
                  </a:outerShdw>
                </a:effectLst>
              </a:rPr>
              <a:t>2. seL4: Formal Verification of an OS Kernel </a:t>
            </a:r>
            <a:br>
              <a:rPr lang="en-US" altLang="zh-CN" sz="2800" dirty="0">
                <a:effectLst>
                  <a:outerShdw blurRad="38100" dist="38100" dir="2700000" algn="tl">
                    <a:srgbClr val="000000">
                      <a:alpha val="43137"/>
                    </a:srgbClr>
                  </a:outerShdw>
                </a:effectLst>
              </a:rPr>
            </a:br>
            <a:r>
              <a:rPr lang="en-US" altLang="zh-CN" sz="2800" dirty="0">
                <a:effectLst>
                  <a:outerShdw blurRad="38100" dist="38100" dir="2700000" algn="tl">
                    <a:srgbClr val="000000">
                      <a:alpha val="43137"/>
                    </a:srgbClr>
                  </a:outerShdw>
                </a:effectLst>
              </a:rPr>
              <a:t>3. </a:t>
            </a:r>
            <a:r>
              <a:rPr lang="en-US" altLang="zh-CN" sz="2800" dirty="0" err="1">
                <a:effectLst>
                  <a:outerShdw blurRad="38100" dist="38100" dir="2700000" algn="tl">
                    <a:srgbClr val="000000">
                      <a:alpha val="43137"/>
                    </a:srgbClr>
                  </a:outerShdw>
                </a:effectLst>
              </a:rPr>
              <a:t>Asterinas</a:t>
            </a:r>
            <a:r>
              <a:rPr lang="en-US" altLang="zh-CN" sz="2800" dirty="0">
                <a:effectLst>
                  <a:outerShdw blurRad="38100" dist="38100" dir="2700000" algn="tl">
                    <a:srgbClr val="000000">
                      <a:alpha val="43137"/>
                    </a:srgbClr>
                  </a:outerShdw>
                </a:effectLst>
              </a:rPr>
              <a:t>: A Linux ABI-Compatible, Rust-Based </a:t>
            </a:r>
            <a:r>
              <a:rPr lang="en-US" altLang="zh-CN" sz="2800" dirty="0" err="1">
                <a:effectLst>
                  <a:outerShdw blurRad="38100" dist="38100" dir="2700000" algn="tl">
                    <a:srgbClr val="000000">
                      <a:alpha val="43137"/>
                    </a:srgbClr>
                  </a:outerShdw>
                </a:effectLst>
              </a:rPr>
              <a:t>Framekernel</a:t>
            </a:r>
            <a:r>
              <a:rPr lang="en-US" altLang="zh-CN" sz="2800" dirty="0">
                <a:effectLst>
                  <a:outerShdw blurRad="38100" dist="38100" dir="2700000" algn="tl">
                    <a:srgbClr val="000000">
                      <a:alpha val="43137"/>
                    </a:srgbClr>
                  </a:outerShdw>
                </a:effectLst>
              </a:rPr>
              <a:t> OS with a Small and Sound TCB</a:t>
            </a:r>
            <a:endParaRPr lang="zh-TW" altLang="en-US" sz="2800" dirty="0">
              <a:effectLst>
                <a:outerShdw blurRad="38100" dist="38100" dir="2700000" algn="tl">
                  <a:srgbClr val="000000">
                    <a:alpha val="43137"/>
                  </a:srgbClr>
                </a:outerShdw>
              </a:effectLst>
            </a:endParaRPr>
          </a:p>
        </p:txBody>
      </p:sp>
      <p:sp>
        <p:nvSpPr>
          <p:cNvPr id="5" name="文字版面配置區 4">
            <a:extLst>
              <a:ext uri="{FF2B5EF4-FFF2-40B4-BE49-F238E27FC236}">
                <a16:creationId xmlns:a16="http://schemas.microsoft.com/office/drawing/2014/main" id="{29126A8B-5207-B7AE-E1BA-75E936FFAEE5}"/>
              </a:ext>
            </a:extLst>
          </p:cNvPr>
          <p:cNvSpPr>
            <a:spLocks noGrp="1"/>
          </p:cNvSpPr>
          <p:nvPr>
            <p:ph type="body" idx="1"/>
          </p:nvPr>
        </p:nvSpPr>
        <p:spPr>
          <a:xfrm>
            <a:off x="2246313" y="1844824"/>
            <a:ext cx="7772400" cy="2562077"/>
          </a:xfrm>
        </p:spPr>
        <p:txBody>
          <a:bodyPr>
            <a:normAutofit fontScale="62500" lnSpcReduction="20000"/>
          </a:bodyPr>
          <a:lstStyle/>
          <a:p>
            <a:r>
              <a:rPr lang="en-US" altLang="zh-CN" sz="4000" dirty="0">
                <a:latin typeface="Times New Roman" panose="02020603050405020304" pitchFamily="18" charset="0"/>
                <a:cs typeface="Times New Roman" panose="02020603050405020304" pitchFamily="18" charset="0"/>
              </a:rPr>
              <a:t>Introduction</a:t>
            </a:r>
            <a:endParaRPr lang="en-US" altLang="zh-TW" sz="4000" dirty="0">
              <a:latin typeface="Times New Roman" panose="02020603050405020304" pitchFamily="18" charset="0"/>
              <a:cs typeface="Times New Roman" panose="02020603050405020304" pitchFamily="18" charset="0"/>
            </a:endParaRPr>
          </a:p>
          <a:p>
            <a:r>
              <a:rPr lang="en-US" altLang="zh-CN" sz="4000" dirty="0">
                <a:latin typeface="Times New Roman" panose="02020603050405020304" pitchFamily="18" charset="0"/>
                <a:cs typeface="Times New Roman" panose="02020603050405020304" pitchFamily="18" charset="0"/>
              </a:rPr>
              <a:t>Related</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Work</a:t>
            </a:r>
          </a:p>
          <a:p>
            <a:r>
              <a:rPr lang="en-US" altLang="zh-CN" sz="4000" dirty="0">
                <a:solidFill>
                  <a:srgbClr val="FF0000"/>
                </a:solidFill>
                <a:latin typeface="Times New Roman" panose="02020603050405020304" pitchFamily="18" charset="0"/>
                <a:cs typeface="Times New Roman" panose="02020603050405020304" pitchFamily="18" charset="0"/>
              </a:rPr>
              <a:t>Preliminaries</a:t>
            </a:r>
          </a:p>
          <a:p>
            <a:r>
              <a:rPr lang="en-US" altLang="zh-CN" sz="4000" dirty="0">
                <a:solidFill>
                  <a:srgbClr val="FF0000"/>
                </a:solidFill>
                <a:latin typeface="Times New Roman" panose="02020603050405020304" pitchFamily="18" charset="0"/>
                <a:cs typeface="Times New Roman" panose="02020603050405020304" pitchFamily="18" charset="0"/>
              </a:rPr>
              <a:t>Proposed Methods</a:t>
            </a:r>
          </a:p>
          <a:p>
            <a:r>
              <a:rPr lang="en-US" altLang="zh-CN" sz="4000" dirty="0">
                <a:solidFill>
                  <a:srgbClr val="FF0000"/>
                </a:solidFill>
                <a:latin typeface="Times New Roman" panose="02020603050405020304" pitchFamily="18" charset="0"/>
                <a:cs typeface="Times New Roman" panose="02020603050405020304" pitchFamily="18" charset="0"/>
              </a:rPr>
              <a:t>Performance Evaluation </a:t>
            </a:r>
          </a:p>
          <a:p>
            <a:r>
              <a:rPr lang="en-US" altLang="zh-CN" sz="4000" dirty="0">
                <a:latin typeface="Times New Roman" panose="02020603050405020304" pitchFamily="18" charset="0"/>
                <a:cs typeface="Times New Roman" panose="02020603050405020304" pitchFamily="18" charset="0"/>
              </a:rPr>
              <a:t>Conclusions</a:t>
            </a:r>
          </a:p>
        </p:txBody>
      </p:sp>
      <p:sp>
        <p:nvSpPr>
          <p:cNvPr id="2" name="灯片编号占位符 1">
            <a:extLst>
              <a:ext uri="{FF2B5EF4-FFF2-40B4-BE49-F238E27FC236}">
                <a16:creationId xmlns:a16="http://schemas.microsoft.com/office/drawing/2014/main" id="{22F915FB-1B49-41A3-3D34-C741FCDDFB0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Tree>
    <p:extLst>
      <p:ext uri="{BB962C8B-B14F-4D97-AF65-F5344CB8AC3E}">
        <p14:creationId xmlns:p14="http://schemas.microsoft.com/office/powerpoint/2010/main" val="1429893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F69D5-38ED-906B-360B-D7F518251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426CF-1D9D-1CBD-8C65-BF165F557432}"/>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Preliminaries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Design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in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Mach</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295A4C69-E49E-551F-A6DF-63149452FFF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
        <p:nvSpPr>
          <p:cNvPr id="24" name="文本框 23">
            <a:extLst>
              <a:ext uri="{FF2B5EF4-FFF2-40B4-BE49-F238E27FC236}">
                <a16:creationId xmlns:a16="http://schemas.microsoft.com/office/drawing/2014/main" id="{F0982E3F-189D-166D-A2F7-5E6F6DAF1430}"/>
              </a:ext>
            </a:extLst>
          </p:cNvPr>
          <p:cNvSpPr txBox="1"/>
          <p:nvPr/>
        </p:nvSpPr>
        <p:spPr>
          <a:xfrm>
            <a:off x="4474550" y="1125343"/>
            <a:ext cx="7876988" cy="4912114"/>
          </a:xfrm>
          <a:prstGeom prst="rect">
            <a:avLst/>
          </a:prstGeom>
          <a:noFill/>
        </p:spPr>
        <p:txBody>
          <a:bodyPr wrap="square" rtlCol="0" anchor="ctr" anchorCtr="1">
            <a:spAutoFit/>
          </a:bodyPr>
          <a:lstStyle/>
          <a:p>
            <a:pPr marL="0" lvl="1" fontAlgn="base">
              <a:spcBef>
                <a:spcPct val="20000"/>
              </a:spcBef>
              <a:spcAft>
                <a:spcPct val="0"/>
              </a:spcAft>
              <a:buClr>
                <a:srgbClr val="0000FF"/>
              </a:buClr>
            </a:pPr>
            <a:r>
              <a:rPr kumimoji="1" lang="en-US" altLang="zh-CN" b="1" dirty="0">
                <a:latin typeface="Times New Roman" panose="02020603050405020304" pitchFamily="18" charset="0"/>
                <a:ea typeface="標楷體" pitchFamily="65" charset="-120"/>
                <a:cs typeface="Times New Roman" panose="02020603050405020304" pitchFamily="18" charset="0"/>
              </a:rPr>
              <a:t>The Ideal: Pursuing Absolute Universality</a:t>
            </a:r>
          </a:p>
          <a:p>
            <a:pPr marL="342900" lvl="1" indent="-342900" fontAlgn="base">
              <a:spcBef>
                <a:spcPct val="20000"/>
              </a:spcBef>
              <a:spcAft>
                <a:spcPct val="0"/>
              </a:spcAft>
              <a:buClr>
                <a:srgbClr val="0000FF"/>
              </a:buClr>
              <a:buFont typeface="Wingdings" pitchFamily="2" charset="2"/>
              <a:buChar char="Ø"/>
            </a:pPr>
            <a:r>
              <a:rPr kumimoji="1" lang="en-US" altLang="zh-CN" dirty="0">
                <a:latin typeface="Times New Roman" panose="02020603050405020304" pitchFamily="18" charset="0"/>
                <a:ea typeface="標楷體" pitchFamily="65" charset="-120"/>
                <a:cs typeface="Times New Roman" panose="02020603050405020304" pitchFamily="18" charset="0"/>
              </a:rPr>
              <a:t>Design Vision: First-generation microkernels (such as Mach) aimed to create a "super-universal" message format capable of seamless, transparent transmission across a network.</a:t>
            </a:r>
          </a:p>
          <a:p>
            <a:pPr marL="0" lvl="1" fontAlgn="base">
              <a:spcBef>
                <a:spcPct val="20000"/>
              </a:spcBef>
              <a:spcAft>
                <a:spcPct val="0"/>
              </a:spcAft>
              <a:buClr>
                <a:srgbClr val="0000FF"/>
              </a:buClr>
            </a:pPr>
            <a:r>
              <a:rPr kumimoji="1" lang="en-US" altLang="zh-CN" b="1" dirty="0">
                <a:latin typeface="Times New Roman" panose="02020603050405020304" pitchFamily="18" charset="0"/>
                <a:ea typeface="標楷體" pitchFamily="65" charset="-120"/>
                <a:cs typeface="Times New Roman" panose="02020603050405020304" pitchFamily="18" charset="0"/>
              </a:rPr>
              <a:t>The Reality: Deconstructing the "Complex Message" (Figure 1)</a:t>
            </a:r>
          </a:p>
          <a:p>
            <a:pPr marL="342900" lvl="1" indent="-342900" fontAlgn="base">
              <a:spcBef>
                <a:spcPct val="20000"/>
              </a:spcBef>
              <a:spcAft>
                <a:spcPct val="0"/>
              </a:spcAft>
              <a:buClr>
                <a:srgbClr val="0000FF"/>
              </a:buClr>
              <a:buFont typeface="Wingdings" pitchFamily="2" charset="2"/>
              <a:buChar char="Ø"/>
            </a:pPr>
            <a:r>
              <a:rPr kumimoji="1" lang="en-US" altLang="zh-CN" dirty="0">
                <a:latin typeface="Times New Roman" panose="02020603050405020304" pitchFamily="18" charset="0"/>
                <a:ea typeface="標楷體" pitchFamily="65" charset="-120"/>
                <a:cs typeface="Times New Roman" panose="02020603050405020304" pitchFamily="18" charset="0"/>
              </a:rPr>
              <a:t>Bloated Structure: Messages were not merely raw data; they were embedded with extensive metadata, Port Rights, and pointers to other data blocks.</a:t>
            </a:r>
          </a:p>
          <a:p>
            <a:pPr marL="342900" lvl="1" indent="-342900" fontAlgn="base">
              <a:spcBef>
                <a:spcPct val="20000"/>
              </a:spcBef>
              <a:spcAft>
                <a:spcPct val="0"/>
              </a:spcAft>
              <a:buClr>
                <a:srgbClr val="0000FF"/>
              </a:buClr>
              <a:buFont typeface="Wingdings" pitchFamily="2" charset="2"/>
              <a:buChar char="Ø"/>
            </a:pPr>
            <a:r>
              <a:rPr kumimoji="1" lang="en-US" altLang="zh-CN" dirty="0">
                <a:latin typeface="Times New Roman" panose="02020603050405020304" pitchFamily="18" charset="0"/>
                <a:ea typeface="標楷體" pitchFamily="65" charset="-120"/>
                <a:cs typeface="Times New Roman" panose="02020603050405020304" pitchFamily="18" charset="0"/>
              </a:rPr>
              <a:t>Analogy: This is like a package filled with countless nested smaller parcels, each requiring its own set of complex "travel documents".</a:t>
            </a:r>
          </a:p>
          <a:p>
            <a:pPr marL="0" lvl="1" fontAlgn="base">
              <a:spcBef>
                <a:spcPct val="20000"/>
              </a:spcBef>
              <a:spcAft>
                <a:spcPct val="0"/>
              </a:spcAft>
              <a:buClr>
                <a:srgbClr val="0000FF"/>
              </a:buClr>
            </a:pPr>
            <a:r>
              <a:rPr kumimoji="1" lang="en-US" altLang="zh-CN" b="1" dirty="0">
                <a:latin typeface="Times New Roman" panose="02020603050405020304" pitchFamily="18" charset="0"/>
                <a:ea typeface="標楷體" pitchFamily="65" charset="-120"/>
                <a:cs typeface="Times New Roman" panose="02020603050405020304" pitchFamily="18" charset="0"/>
              </a:rPr>
              <a:t>The Bottleneck: Prohibitive Communication Overhead (Figure 2)</a:t>
            </a:r>
          </a:p>
          <a:p>
            <a:pPr marL="342900" lvl="1" indent="-342900" fontAlgn="base">
              <a:spcBef>
                <a:spcPct val="20000"/>
              </a:spcBef>
              <a:spcAft>
                <a:spcPct val="0"/>
              </a:spcAft>
              <a:buClr>
                <a:srgbClr val="0000FF"/>
              </a:buClr>
              <a:buFont typeface="Wingdings" pitchFamily="2" charset="2"/>
              <a:buChar char="Ø"/>
            </a:pPr>
            <a:r>
              <a:rPr kumimoji="1" lang="en-US" altLang="zh-CN" dirty="0">
                <a:latin typeface="Times New Roman" panose="02020603050405020304" pitchFamily="18" charset="0"/>
                <a:ea typeface="標楷體" pitchFamily="65" charset="-120"/>
                <a:cs typeface="Times New Roman" panose="02020603050405020304" pitchFamily="18" charset="0"/>
              </a:rPr>
              <a:t>Translation Costs: When Process A sends a message to B, the kernel does more than copy bytes; it must translate, transfer, and reassemble complex data structures</a:t>
            </a:r>
          </a:p>
          <a:p>
            <a:pPr marL="342900" lvl="1" indent="-342900" fontAlgn="base">
              <a:spcBef>
                <a:spcPct val="20000"/>
              </a:spcBef>
              <a:spcAft>
                <a:spcPct val="0"/>
              </a:spcAft>
              <a:buClr>
                <a:srgbClr val="0000FF"/>
              </a:buClr>
              <a:buFont typeface="Wingdings" pitchFamily="2" charset="2"/>
              <a:buChar char="Ø"/>
            </a:pPr>
            <a:r>
              <a:rPr kumimoji="1" lang="en-US" altLang="zh-CN" dirty="0">
                <a:latin typeface="Times New Roman" panose="02020603050405020304" pitchFamily="18" charset="0"/>
                <a:ea typeface="標楷體" pitchFamily="65" charset="-120"/>
                <a:cs typeface="Times New Roman" panose="02020603050405020304" pitchFamily="18" charset="0"/>
              </a:rPr>
              <a:t>Performance Hit: This design, optimized for network transparency, became a massive burden that crippled local Inter-Process Communication (IPC) performance.</a:t>
            </a:r>
          </a:p>
        </p:txBody>
      </p:sp>
      <p:sp>
        <p:nvSpPr>
          <p:cNvPr id="28" name="AutoShape 4" descr="的图片">
            <a:extLst>
              <a:ext uri="{FF2B5EF4-FFF2-40B4-BE49-F238E27FC236}">
                <a16:creationId xmlns:a16="http://schemas.microsoft.com/office/drawing/2014/main" id="{D534676E-CEFB-D5D1-A3CF-AAF315C57E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8" name="图形 37">
            <a:extLst>
              <a:ext uri="{FF2B5EF4-FFF2-40B4-BE49-F238E27FC236}">
                <a16:creationId xmlns:a16="http://schemas.microsoft.com/office/drawing/2014/main" id="{EFAE4C80-CF0D-AF08-F9E3-3296EF3F3B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 y="1130644"/>
            <a:ext cx="4474551" cy="2513206"/>
          </a:xfrm>
          <a:prstGeom prst="rect">
            <a:avLst/>
          </a:prstGeom>
        </p:spPr>
      </p:pic>
      <p:sp>
        <p:nvSpPr>
          <p:cNvPr id="39" name="文本框 38">
            <a:extLst>
              <a:ext uri="{FF2B5EF4-FFF2-40B4-BE49-F238E27FC236}">
                <a16:creationId xmlns:a16="http://schemas.microsoft.com/office/drawing/2014/main" id="{49FBD593-D15E-A449-34CD-DF2FB01BBAC3}"/>
              </a:ext>
            </a:extLst>
          </p:cNvPr>
          <p:cNvSpPr txBox="1"/>
          <p:nvPr/>
        </p:nvSpPr>
        <p:spPr>
          <a:xfrm>
            <a:off x="156154" y="3742176"/>
            <a:ext cx="4162240" cy="523220"/>
          </a:xfrm>
          <a:prstGeom prst="rect">
            <a:avLst/>
          </a:prstGeom>
          <a:noFill/>
        </p:spPr>
        <p:txBody>
          <a:bodyPr wrap="squar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Fig.1: The bottleneck of the first generation of  microkernel</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53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D45DF-D48A-C908-1772-EF9D87EC1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400E3-7E96-BF10-3D31-4725AA0CC186}"/>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Proposed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Methods -</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Improving IPC by Kernel Design</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8840C059-3654-2E8B-3B4B-1957B356CED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pic>
        <p:nvPicPr>
          <p:cNvPr id="8" name="图片 7">
            <a:extLst>
              <a:ext uri="{FF2B5EF4-FFF2-40B4-BE49-F238E27FC236}">
                <a16:creationId xmlns:a16="http://schemas.microsoft.com/office/drawing/2014/main" id="{03CD81C2-6D70-DAE0-5DC6-F7C9757B77F0}"/>
              </a:ext>
            </a:extLst>
          </p:cNvPr>
          <p:cNvPicPr>
            <a:picLocks noChangeAspect="1"/>
          </p:cNvPicPr>
          <p:nvPr/>
        </p:nvPicPr>
        <p:blipFill>
          <a:blip r:embed="rId3"/>
          <a:stretch>
            <a:fillRect/>
          </a:stretch>
        </p:blipFill>
        <p:spPr>
          <a:xfrm>
            <a:off x="556890" y="698300"/>
            <a:ext cx="6827062" cy="3413531"/>
          </a:xfrm>
          <a:prstGeom prst="rect">
            <a:avLst/>
          </a:prstGeom>
        </p:spPr>
      </p:pic>
      <p:sp>
        <p:nvSpPr>
          <p:cNvPr id="10" name="文本框 9">
            <a:extLst>
              <a:ext uri="{FF2B5EF4-FFF2-40B4-BE49-F238E27FC236}">
                <a16:creationId xmlns:a16="http://schemas.microsoft.com/office/drawing/2014/main" id="{65FA4391-984D-BF6C-3F7D-34DC05CC0E8E}"/>
              </a:ext>
            </a:extLst>
          </p:cNvPr>
          <p:cNvSpPr txBox="1"/>
          <p:nvPr/>
        </p:nvSpPr>
        <p:spPr>
          <a:xfrm>
            <a:off x="0" y="4294574"/>
            <a:ext cx="12198215" cy="1865126"/>
          </a:xfrm>
          <a:prstGeom prst="rect">
            <a:avLst/>
          </a:prstGeom>
          <a:noFill/>
        </p:spPr>
        <p:txBody>
          <a:bodyPr wrap="square">
            <a:spAutoFit/>
          </a:bodyPr>
          <a:lstStyle/>
          <a:p>
            <a:pPr marL="285750" indent="-342900" algn="just" fontAlgn="base">
              <a:spcBef>
                <a:spcPct val="20000"/>
              </a:spcBef>
              <a:spcAft>
                <a:spcPct val="0"/>
              </a:spcAft>
              <a:buClr>
                <a:srgbClr val="0000FF"/>
              </a:buClr>
              <a:buFont typeface="Arial" panose="020B0604020202020204" pitchFamily="34" charset="0"/>
              <a:buChar char="•"/>
            </a:pPr>
            <a:r>
              <a:rPr kumimoji="1" lang="zh-CN" altLang="en-US" b="1" dirty="0">
                <a:latin typeface="Times New Roman" panose="02020603050405020304" pitchFamily="18" charset="0"/>
                <a:cs typeface="Times New Roman" panose="02020603050405020304" pitchFamily="18" charset="0"/>
              </a:rPr>
              <a:t>Single-copy / Zero-copy: </a:t>
            </a:r>
            <a:r>
              <a:rPr kumimoji="1" lang="zh-CN" altLang="en-US" dirty="0">
                <a:latin typeface="Times New Roman" panose="02020603050405020304" pitchFamily="18" charset="0"/>
                <a:cs typeface="Times New Roman" panose="02020603050405020304" pitchFamily="18" charset="0"/>
              </a:rPr>
              <a:t>Liedtke introduced the "direct copy" mechanism, which allows data to bypass the kernel buffer and be directly written from the sender's space to the receiver's space. </a:t>
            </a:r>
          </a:p>
          <a:p>
            <a:pPr marL="285750" indent="-342900" algn="just" fontAlgn="base">
              <a:spcBef>
                <a:spcPct val="20000"/>
              </a:spcBef>
              <a:spcAft>
                <a:spcPct val="0"/>
              </a:spcAft>
              <a:buClr>
                <a:srgbClr val="0000FF"/>
              </a:buClr>
              <a:buFont typeface="Arial" panose="020B0604020202020204" pitchFamily="34" charset="0"/>
              <a:buChar char="•"/>
            </a:pPr>
            <a:r>
              <a:rPr kumimoji="1" lang="zh-CN" altLang="en-US" b="1" dirty="0">
                <a:latin typeface="Times New Roman" panose="02020603050405020304" pitchFamily="18" charset="0"/>
                <a:cs typeface="Times New Roman" panose="02020603050405020304" pitchFamily="18" charset="0"/>
              </a:rPr>
              <a:t>Temporary Mapping: </a:t>
            </a:r>
            <a:r>
              <a:rPr kumimoji="1" lang="zh-CN" altLang="en-US" dirty="0">
                <a:latin typeface="Times New Roman" panose="02020603050405020304" pitchFamily="18" charset="0"/>
                <a:cs typeface="Times New Roman" panose="02020603050405020304" pitchFamily="18" charset="0"/>
              </a:rPr>
              <a:t>By modifying the page table entry (PTE) through the kernel, a "window" of B is temporarily mapped within the address space of A, achieving physical penetration of the address space. </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b="1" dirty="0">
                <a:latin typeface="Times New Roman" panose="02020603050405020304" pitchFamily="18" charset="0"/>
                <a:cs typeface="Times New Roman" panose="02020603050405020304" pitchFamily="18" charset="0"/>
              </a:rPr>
              <a:t>One more</a:t>
            </a:r>
            <a:r>
              <a:rPr kumimoji="1" lang="zh-CN" altLang="en-US" b="1" dirty="0">
                <a:latin typeface="Times New Roman" panose="02020603050405020304" pitchFamily="18" charset="0"/>
                <a:cs typeface="Times New Roman" panose="02020603050405020304" pitchFamily="18" charset="0"/>
              </a:rPr>
              <a:t> subtraction: </a:t>
            </a:r>
            <a:r>
              <a:rPr kumimoji="1" lang="zh-CN" altLang="en-US" dirty="0">
                <a:latin typeface="Times New Roman" panose="02020603050405020304" pitchFamily="18" charset="0"/>
                <a:cs typeface="Times New Roman" panose="02020603050405020304" pitchFamily="18" charset="0"/>
              </a:rPr>
              <a:t>For short messages, </a:t>
            </a:r>
            <a:r>
              <a:rPr kumimoji="1" lang="en-US" altLang="zh-CN" dirty="0">
                <a:latin typeface="Times New Roman" panose="02020603050405020304" pitchFamily="18" charset="0"/>
                <a:ea typeface="標楷體" pitchFamily="65" charset="-120"/>
                <a:cs typeface="Times New Roman" panose="02020603050405020304" pitchFamily="18" charset="0"/>
              </a:rPr>
              <a:t>L3 </a:t>
            </a:r>
            <a:r>
              <a:rPr kumimoji="1" lang="zh-CN" altLang="en-US" dirty="0">
                <a:latin typeface="Times New Roman" panose="02020603050405020304" pitchFamily="18" charset="0"/>
                <a:cs typeface="Times New Roman" panose="02020603050405020304" pitchFamily="18" charset="0"/>
              </a:rPr>
              <a:t>further employs CPU registers (Register Passing) to transfer data, completely eliminating memory access latency.</a:t>
            </a:r>
          </a:p>
        </p:txBody>
      </p:sp>
      <p:pic>
        <p:nvPicPr>
          <p:cNvPr id="11" name="图片 10" descr="图示&#10;&#10;AI 生成的内容可能不正确。">
            <a:extLst>
              <a:ext uri="{FF2B5EF4-FFF2-40B4-BE49-F238E27FC236}">
                <a16:creationId xmlns:a16="http://schemas.microsoft.com/office/drawing/2014/main" id="{817CDD8E-826F-5727-EF34-77D4B2837D4D}"/>
              </a:ext>
            </a:extLst>
          </p:cNvPr>
          <p:cNvPicPr>
            <a:picLocks noChangeAspect="1"/>
          </p:cNvPicPr>
          <p:nvPr/>
        </p:nvPicPr>
        <p:blipFill>
          <a:blip r:embed="rId4">
            <a:extLst>
              <a:ext uri="{28A0092B-C50C-407E-A947-70E740481C1C}">
                <a14:useLocalDpi xmlns:a14="http://schemas.microsoft.com/office/drawing/2010/main" val="0"/>
              </a:ext>
            </a:extLst>
          </a:blip>
          <a:srcRect b="13927"/>
          <a:stretch>
            <a:fillRect/>
          </a:stretch>
        </p:blipFill>
        <p:spPr>
          <a:xfrm>
            <a:off x="7921688" y="1904401"/>
            <a:ext cx="4031129" cy="1660317"/>
          </a:xfrm>
          <a:prstGeom prst="rect">
            <a:avLst/>
          </a:prstGeom>
        </p:spPr>
      </p:pic>
      <p:sp>
        <p:nvSpPr>
          <p:cNvPr id="12" name="文本框 11">
            <a:extLst>
              <a:ext uri="{FF2B5EF4-FFF2-40B4-BE49-F238E27FC236}">
                <a16:creationId xmlns:a16="http://schemas.microsoft.com/office/drawing/2014/main" id="{26E62319-3145-6A07-15FD-9C9744F6A531}"/>
              </a:ext>
            </a:extLst>
          </p:cNvPr>
          <p:cNvSpPr txBox="1"/>
          <p:nvPr/>
        </p:nvSpPr>
        <p:spPr>
          <a:xfrm>
            <a:off x="1945678" y="3668035"/>
            <a:ext cx="5287019" cy="523220"/>
          </a:xfrm>
          <a:prstGeom prst="rect">
            <a:avLst/>
          </a:prstGeom>
          <a:noFill/>
        </p:spPr>
        <p:txBody>
          <a:bodyPr wrap="squar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 2: Comparison of IPC Copy Mechanisms: Twofold Copy (Legacy) vs. Direct Copy (L3 Optimization)</a:t>
            </a:r>
            <a:endParaRPr kumimoji="1" lang="zh-CN" altLang="en-US" sz="14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433216BF-B0EA-7C11-3E7D-BE1745969909}"/>
              </a:ext>
            </a:extLst>
          </p:cNvPr>
          <p:cNvSpPr txBox="1"/>
          <p:nvPr/>
        </p:nvSpPr>
        <p:spPr>
          <a:xfrm>
            <a:off x="8403017" y="3621869"/>
            <a:ext cx="3068469"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Fig.3: Register Passing &amp; Direct Switch</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5618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E89A-56AF-1F69-7A69-1FA18C15E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1EE7D-A124-7513-E2DF-6D8795586101}"/>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Proposed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Methods -</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TCB &amp; Kernel Stack Layout</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97ED1F0-7ED9-3107-0174-0BDEF962017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pic>
        <p:nvPicPr>
          <p:cNvPr id="3" name="图片 2">
            <a:extLst>
              <a:ext uri="{FF2B5EF4-FFF2-40B4-BE49-F238E27FC236}">
                <a16:creationId xmlns:a16="http://schemas.microsoft.com/office/drawing/2014/main" id="{70D44A86-5EB5-C85C-5599-E60E942B07EC}"/>
              </a:ext>
            </a:extLst>
          </p:cNvPr>
          <p:cNvPicPr>
            <a:picLocks noChangeAspect="1"/>
          </p:cNvPicPr>
          <p:nvPr/>
        </p:nvPicPr>
        <p:blipFill>
          <a:blip r:embed="rId3"/>
          <a:srcRect t="9475"/>
          <a:stretch>
            <a:fillRect/>
          </a:stretch>
        </p:blipFill>
        <p:spPr>
          <a:xfrm>
            <a:off x="-353571" y="1670671"/>
            <a:ext cx="6878983" cy="3269293"/>
          </a:xfrm>
          <a:prstGeom prst="rect">
            <a:avLst/>
          </a:prstGeom>
        </p:spPr>
      </p:pic>
      <p:sp>
        <p:nvSpPr>
          <p:cNvPr id="9" name="文本框 8">
            <a:extLst>
              <a:ext uri="{FF2B5EF4-FFF2-40B4-BE49-F238E27FC236}">
                <a16:creationId xmlns:a16="http://schemas.microsoft.com/office/drawing/2014/main" id="{4465E414-7E76-893C-9D8D-69317AC2DB35}"/>
              </a:ext>
            </a:extLst>
          </p:cNvPr>
          <p:cNvSpPr txBox="1"/>
          <p:nvPr/>
        </p:nvSpPr>
        <p:spPr>
          <a:xfrm>
            <a:off x="6060017" y="1432432"/>
            <a:ext cx="6096000" cy="1809726"/>
          </a:xfrm>
          <a:prstGeom prst="rect">
            <a:avLst/>
          </a:prstGeom>
          <a:noFill/>
        </p:spPr>
        <p:txBody>
          <a:bodyPr wrap="square">
            <a:spAutoFit/>
          </a:bodyPr>
          <a:lstStyle/>
          <a:p>
            <a:pPr indent="-342900" algn="just" fontAlgn="base">
              <a:spcBef>
                <a:spcPct val="20000"/>
              </a:spcBef>
              <a:spcAft>
                <a:spcPct val="0"/>
              </a:spcAft>
              <a:buClr>
                <a:srgbClr val="0000FF"/>
              </a:buClr>
              <a:buNone/>
            </a:pPr>
            <a:r>
              <a:rPr kumimoji="1" lang="en-US" altLang="zh-CN" b="1" dirty="0">
                <a:latin typeface="Times New Roman" panose="02020603050405020304" pitchFamily="18" charset="0"/>
                <a:ea typeface="標楷體" pitchFamily="65" charset="-120"/>
                <a:cs typeface="Times New Roman" panose="02020603050405020304" pitchFamily="18" charset="0"/>
              </a:rPr>
              <a:t>Beyond Copying: </a:t>
            </a:r>
            <a:r>
              <a:rPr kumimoji="1" lang="en-US" altLang="zh-CN" dirty="0">
                <a:latin typeface="Times New Roman" panose="02020603050405020304" pitchFamily="18" charset="0"/>
                <a:ea typeface="標楷體" pitchFamily="65" charset="-120"/>
                <a:cs typeface="Times New Roman" panose="02020603050405020304" pitchFamily="18" charset="0"/>
              </a:rPr>
              <a:t>L3 moves past the concept of "transporting" data; instead, it directly manipulates Page Table Entries (PTE) to align address spaces physically.</a:t>
            </a:r>
          </a:p>
          <a:p>
            <a:pPr indent="-342900" algn="just" fontAlgn="base">
              <a:spcBef>
                <a:spcPct val="20000"/>
              </a:spcBef>
              <a:spcAft>
                <a:spcPct val="0"/>
              </a:spcAft>
              <a:buClr>
                <a:srgbClr val="0000FF"/>
              </a:buClr>
              <a:buNone/>
            </a:pPr>
            <a:r>
              <a:rPr kumimoji="1" lang="en-US" altLang="zh-CN" b="1" dirty="0">
                <a:latin typeface="Times New Roman" panose="02020603050405020304" pitchFamily="18" charset="0"/>
                <a:ea typeface="標楷體" pitchFamily="65" charset="-120"/>
                <a:cs typeface="Times New Roman" panose="02020603050405020304" pitchFamily="18" charset="0"/>
              </a:rPr>
              <a:t>Instant Synchronization: </a:t>
            </a:r>
            <a:r>
              <a:rPr kumimoji="1" lang="en-US" altLang="zh-CN" dirty="0">
                <a:latin typeface="Times New Roman" panose="02020603050405020304" pitchFamily="18" charset="0"/>
                <a:ea typeface="標楷體" pitchFamily="65" charset="-120"/>
                <a:cs typeface="Times New Roman" panose="02020603050405020304" pitchFamily="18" charset="0"/>
              </a:rPr>
              <a:t>By rapidly copying the sender’s page directory entry to the receiver’s directory, both virtual addresses point to the exact same physical data page.</a:t>
            </a:r>
          </a:p>
        </p:txBody>
      </p:sp>
      <p:sp>
        <p:nvSpPr>
          <p:cNvPr id="11" name="文本框 10">
            <a:extLst>
              <a:ext uri="{FF2B5EF4-FFF2-40B4-BE49-F238E27FC236}">
                <a16:creationId xmlns:a16="http://schemas.microsoft.com/office/drawing/2014/main" id="{1CFE7CB9-8802-C1B3-7611-EB9A51479D66}"/>
              </a:ext>
            </a:extLst>
          </p:cNvPr>
          <p:cNvSpPr txBox="1"/>
          <p:nvPr/>
        </p:nvSpPr>
        <p:spPr>
          <a:xfrm>
            <a:off x="6060017" y="3924567"/>
            <a:ext cx="6096000" cy="1809726"/>
          </a:xfrm>
          <a:prstGeom prst="rect">
            <a:avLst/>
          </a:prstGeom>
          <a:noFill/>
        </p:spPr>
        <p:txBody>
          <a:bodyPr wrap="square" rtlCol="0" anchor="ctr" anchorCtr="1">
            <a:spAutoFit/>
          </a:bodyPr>
          <a:lstStyle/>
          <a:p>
            <a:pPr indent="-342900" algn="just" fontAlgn="base">
              <a:spcBef>
                <a:spcPct val="20000"/>
              </a:spcBef>
              <a:spcAft>
                <a:spcPct val="0"/>
              </a:spcAft>
              <a:buClr>
                <a:srgbClr val="0000FF"/>
              </a:buClr>
            </a:pPr>
            <a:r>
              <a:rPr kumimoji="1" lang="en-US" altLang="zh-CN" b="1" dirty="0">
                <a:latin typeface="Times New Roman" panose="02020603050405020304" pitchFamily="18" charset="0"/>
                <a:ea typeface="標楷體" pitchFamily="65" charset="-120"/>
                <a:cs typeface="Times New Roman" panose="02020603050405020304" pitchFamily="18" charset="0"/>
              </a:rPr>
              <a:t>Structural Mastery: </a:t>
            </a:r>
            <a:r>
              <a:rPr kumimoji="1" lang="en-US" altLang="zh-CN" dirty="0">
                <a:latin typeface="Times New Roman" panose="02020603050405020304" pitchFamily="18" charset="0"/>
                <a:ea typeface="標楷體" pitchFamily="65" charset="-120"/>
                <a:cs typeface="Times New Roman" panose="02020603050405020304" pitchFamily="18" charset="0"/>
              </a:rPr>
              <a:t>L3 meticulously places the Thread Control Block (TCB) and the Kernel Stack within a fixed, predictable Memory Window.</a:t>
            </a:r>
          </a:p>
          <a:p>
            <a:pPr indent="-342900" algn="just" fontAlgn="base">
              <a:spcBef>
                <a:spcPct val="20000"/>
              </a:spcBef>
              <a:spcAft>
                <a:spcPct val="0"/>
              </a:spcAft>
              <a:buClr>
                <a:srgbClr val="0000FF"/>
              </a:buClr>
            </a:pPr>
            <a:r>
              <a:rPr kumimoji="1" lang="en-US" altLang="zh-CN" b="1" dirty="0">
                <a:latin typeface="Times New Roman" panose="02020603050405020304" pitchFamily="18" charset="0"/>
                <a:ea typeface="標楷體" pitchFamily="65" charset="-120"/>
                <a:cs typeface="Times New Roman" panose="02020603050405020304" pitchFamily="18" charset="0"/>
              </a:rPr>
              <a:t>Zero-Lookup Switching: </a:t>
            </a:r>
            <a:r>
              <a:rPr kumimoji="1" lang="en-US" altLang="zh-CN" dirty="0">
                <a:latin typeface="Times New Roman" panose="02020603050405020304" pitchFamily="18" charset="0"/>
                <a:ea typeface="標楷體" pitchFamily="65" charset="-120"/>
                <a:cs typeface="Times New Roman" panose="02020603050405020304" pitchFamily="18" charset="0"/>
              </a:rPr>
              <a:t>When performing a Fast IPC context switch, the kernel avoids searching through complex global tables or linked lists to find the next thread's information.</a:t>
            </a:r>
            <a:endParaRPr kumimoji="1" lang="zh-CN" altLang="en-US" dirty="0">
              <a:ea typeface="標楷體" pitchFamily="65" charset="-120"/>
              <a:cs typeface="Calibri" pitchFamily="34" charset="0"/>
            </a:endParaRPr>
          </a:p>
        </p:txBody>
      </p:sp>
      <p:sp>
        <p:nvSpPr>
          <p:cNvPr id="13" name="文本框 12">
            <a:extLst>
              <a:ext uri="{FF2B5EF4-FFF2-40B4-BE49-F238E27FC236}">
                <a16:creationId xmlns:a16="http://schemas.microsoft.com/office/drawing/2014/main" id="{37187B7E-19B5-4D4E-51E9-1F5D5D1D9A9D}"/>
              </a:ext>
            </a:extLst>
          </p:cNvPr>
          <p:cNvSpPr txBox="1"/>
          <p:nvPr/>
        </p:nvSpPr>
        <p:spPr>
          <a:xfrm>
            <a:off x="961011" y="4786076"/>
            <a:ext cx="4309128"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Fig.4: L3 Performance Secrets: Mapping &amp; TCB Layout</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001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57AB5-FE4F-B636-91CF-FB65F004A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15946-3D4F-D9D4-96FF-4361E1851D04}"/>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Performance</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Evaluation-</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L3 Kernel</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2D026E0C-70EE-4EE1-934C-C878A922779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13</a:t>
            </a:fld>
            <a:endParaRPr lang="zh-TW" altLang="en-US"/>
          </a:p>
        </p:txBody>
      </p:sp>
      <p:pic>
        <p:nvPicPr>
          <p:cNvPr id="6" name="图形 5">
            <a:extLst>
              <a:ext uri="{FF2B5EF4-FFF2-40B4-BE49-F238E27FC236}">
                <a16:creationId xmlns:a16="http://schemas.microsoft.com/office/drawing/2014/main" id="{86A644B2-12FB-76B7-8168-E8359BE0FC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7429" y="1066016"/>
            <a:ext cx="3810000" cy="2857500"/>
          </a:xfrm>
          <a:prstGeom prst="rect">
            <a:avLst/>
          </a:prstGeom>
        </p:spPr>
      </p:pic>
      <p:pic>
        <p:nvPicPr>
          <p:cNvPr id="8" name="图形 7">
            <a:extLst>
              <a:ext uri="{FF2B5EF4-FFF2-40B4-BE49-F238E27FC236}">
                <a16:creationId xmlns:a16="http://schemas.microsoft.com/office/drawing/2014/main" id="{248E9E51-D656-D0D2-E295-A1F41A1C5F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47429" y="1193356"/>
            <a:ext cx="3394652" cy="2545989"/>
          </a:xfrm>
          <a:prstGeom prst="rect">
            <a:avLst/>
          </a:prstGeom>
        </p:spPr>
      </p:pic>
      <p:pic>
        <p:nvPicPr>
          <p:cNvPr id="10" name="图形 9">
            <a:extLst>
              <a:ext uri="{FF2B5EF4-FFF2-40B4-BE49-F238E27FC236}">
                <a16:creationId xmlns:a16="http://schemas.microsoft.com/office/drawing/2014/main" id="{3E7BC475-30F2-0708-C041-D3CB05BB910E}"/>
              </a:ext>
            </a:extLst>
          </p:cNvPr>
          <p:cNvPicPr>
            <a:picLocks noChangeAspect="1"/>
          </p:cNvPicPr>
          <p:nvPr/>
        </p:nvPicPr>
        <p:blipFill>
          <a:blip r:embed="rId7">
            <a:extLst>
              <a:ext uri="{96DAC541-7B7A-43D3-8B79-37D633B846F1}">
                <asvg:svgBlip xmlns:asvg="http://schemas.microsoft.com/office/drawing/2016/SVG/main" r:embed="rId8"/>
              </a:ext>
            </a:extLst>
          </a:blip>
          <a:srcRect t="6558"/>
          <a:stretch>
            <a:fillRect/>
          </a:stretch>
        </p:blipFill>
        <p:spPr>
          <a:xfrm>
            <a:off x="8257619" y="1100211"/>
            <a:ext cx="3553381" cy="2789110"/>
          </a:xfrm>
          <a:prstGeom prst="rect">
            <a:avLst/>
          </a:prstGeom>
        </p:spPr>
      </p:pic>
      <p:sp>
        <p:nvSpPr>
          <p:cNvPr id="13" name="文本框 12">
            <a:extLst>
              <a:ext uri="{FF2B5EF4-FFF2-40B4-BE49-F238E27FC236}">
                <a16:creationId xmlns:a16="http://schemas.microsoft.com/office/drawing/2014/main" id="{499BE0CA-9138-1774-A920-7661263901F3}"/>
              </a:ext>
            </a:extLst>
          </p:cNvPr>
          <p:cNvSpPr txBox="1"/>
          <p:nvPr/>
        </p:nvSpPr>
        <p:spPr>
          <a:xfrm>
            <a:off x="169991" y="4346197"/>
            <a:ext cx="12022009" cy="1766637"/>
          </a:xfrm>
          <a:prstGeom prst="rect">
            <a:avLst/>
          </a:prstGeom>
          <a:noFill/>
        </p:spPr>
        <p:txBody>
          <a:bodyPr wrap="square">
            <a:spAutoFit/>
          </a:bodyPr>
          <a:lstStyle/>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Core Discovery: </a:t>
            </a:r>
            <a:r>
              <a:rPr kumimoji="1" lang="en-US" altLang="zh-CN" sz="1600" dirty="0">
                <a:latin typeface="Times New Roman" panose="02020603050405020304" pitchFamily="18" charset="0"/>
                <a:ea typeface="標楷體" pitchFamily="65" charset="-120"/>
                <a:cs typeface="Times New Roman" panose="02020603050405020304" pitchFamily="18" charset="0"/>
              </a:rPr>
              <a:t>L3</a:t>
            </a:r>
            <a:r>
              <a:rPr kumimoji="1" lang="en-US" altLang="zh-CN" sz="1600" dirty="0">
                <a:latin typeface="Times New Roman" panose="02020603050405020304" pitchFamily="18" charset="0"/>
                <a:cs typeface="Times New Roman" panose="02020603050405020304" pitchFamily="18" charset="0"/>
              </a:rPr>
              <a:t> achieves IPC (Inter-Process Communication) latencies an order of magnitude faster than Mach, with overhead approaching the theoretical hardware limit.</a:t>
            </a:r>
          </a:p>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Key Data Comparison (Null-RPC):</a:t>
            </a:r>
          </a:p>
          <a:p>
            <a:pPr marL="742950" lvl="2" indent="-342900" fontAlgn="base">
              <a:spcBef>
                <a:spcPct val="20000"/>
              </a:spcBef>
              <a:spcAft>
                <a:spcPct val="0"/>
              </a:spcAft>
              <a:buClr>
                <a:srgbClr val="0000FF"/>
              </a:buClr>
              <a:buFont typeface="Wingdings" pitchFamily="2" charset="2"/>
              <a:buChar char="Ø"/>
            </a:pPr>
            <a:r>
              <a:rPr kumimoji="1" lang="en-US" altLang="zh-CN" sz="1600" b="1" dirty="0">
                <a:latin typeface="Times New Roman" panose="02020603050405020304" pitchFamily="18" charset="0"/>
                <a:cs typeface="Times New Roman" panose="02020603050405020304" pitchFamily="18" charset="0"/>
              </a:rPr>
              <a:t>L3 (486/50MHz): </a:t>
            </a:r>
            <a:r>
              <a:rPr kumimoji="1" lang="en-US" altLang="zh-CN" sz="1600" dirty="0">
                <a:latin typeface="Times New Roman" panose="02020603050405020304" pitchFamily="18" charset="0"/>
                <a:cs typeface="Times New Roman" panose="02020603050405020304" pitchFamily="18" charset="0"/>
              </a:rPr>
              <a:t>Requires only 10µs (approximately 100 instruction cycles).</a:t>
            </a:r>
          </a:p>
          <a:p>
            <a:pPr marL="742950" lvl="2" indent="-342900" fontAlgn="base">
              <a:spcBef>
                <a:spcPct val="20000"/>
              </a:spcBef>
              <a:spcAft>
                <a:spcPct val="0"/>
              </a:spcAft>
              <a:buClr>
                <a:srgbClr val="0000FF"/>
              </a:buClr>
              <a:buFont typeface="Wingdings" pitchFamily="2" charset="2"/>
              <a:buChar char="Ø"/>
            </a:pPr>
            <a:r>
              <a:rPr kumimoji="1" lang="en-US" altLang="zh-CN" sz="1600" b="1" dirty="0">
                <a:latin typeface="Times New Roman" panose="02020603050405020304" pitchFamily="18" charset="0"/>
                <a:cs typeface="Times New Roman" panose="02020603050405020304" pitchFamily="18" charset="0"/>
              </a:rPr>
              <a:t>Mach (486/50MHz): </a:t>
            </a:r>
            <a:r>
              <a:rPr kumimoji="1" lang="en-US" altLang="zh-CN" sz="1600" dirty="0">
                <a:latin typeface="Times New Roman" panose="02020603050405020304" pitchFamily="18" charset="0"/>
                <a:cs typeface="Times New Roman" panose="02020603050405020304" pitchFamily="18" charset="0"/>
              </a:rPr>
              <a:t>Reaches 230µs, a latency 23 times higher than L3.</a:t>
            </a:r>
          </a:p>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Performance Gap: </a:t>
            </a:r>
            <a:r>
              <a:rPr kumimoji="1" lang="en-US" altLang="zh-CN" sz="1600" dirty="0">
                <a:latin typeface="Times New Roman" panose="02020603050405020304" pitchFamily="18" charset="0"/>
                <a:cs typeface="Times New Roman" panose="02020603050405020304" pitchFamily="18" charset="0"/>
              </a:rPr>
              <a:t>Even L3 running on a 386/20MHz (60µs) significantly outperforms Mach running on a much faster 486/50MHz</a:t>
            </a:r>
          </a:p>
        </p:txBody>
      </p:sp>
      <p:sp>
        <p:nvSpPr>
          <p:cNvPr id="15" name="文本框 14">
            <a:extLst>
              <a:ext uri="{FF2B5EF4-FFF2-40B4-BE49-F238E27FC236}">
                <a16:creationId xmlns:a16="http://schemas.microsoft.com/office/drawing/2014/main" id="{64DEED6D-A238-1350-D5B7-52BC4AD3DB3B}"/>
              </a:ext>
            </a:extLst>
          </p:cNvPr>
          <p:cNvSpPr txBox="1"/>
          <p:nvPr/>
        </p:nvSpPr>
        <p:spPr>
          <a:xfrm>
            <a:off x="40405" y="3861713"/>
            <a:ext cx="4404048" cy="307777"/>
          </a:xfrm>
          <a:prstGeom prst="rect">
            <a:avLst/>
          </a:prstGeom>
          <a:noFill/>
        </p:spPr>
        <p:txBody>
          <a:bodyPr wrap="square">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 5: Comparison of IPC Memory Transfer Mechanics</a:t>
            </a:r>
            <a:endParaRPr kumimoji="1" lang="zh-CN" altLang="en-US" sz="1400"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68819253-1B4F-EDE0-4DE7-66F46D3279CD}"/>
              </a:ext>
            </a:extLst>
          </p:cNvPr>
          <p:cNvSpPr txBox="1"/>
          <p:nvPr/>
        </p:nvSpPr>
        <p:spPr>
          <a:xfrm>
            <a:off x="4470249" y="3861713"/>
            <a:ext cx="3343060" cy="307777"/>
          </a:xfrm>
          <a:prstGeom prst="rect">
            <a:avLst/>
          </a:prstGeom>
          <a:noFill/>
        </p:spPr>
        <p:txBody>
          <a:bodyPr wrap="square">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 6: L3 IPC Performance Breakthroughs</a:t>
            </a:r>
            <a:endParaRPr kumimoji="1" lang="zh-CN" altLang="en-US" sz="14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4625DA2D-9AEB-A28A-520D-4AE8FED14AB7}"/>
              </a:ext>
            </a:extLst>
          </p:cNvPr>
          <p:cNvSpPr txBox="1"/>
          <p:nvPr/>
        </p:nvSpPr>
        <p:spPr>
          <a:xfrm>
            <a:off x="8528847" y="3845138"/>
            <a:ext cx="3210400" cy="307777"/>
          </a:xfrm>
          <a:prstGeom prst="rect">
            <a:avLst/>
          </a:prstGeom>
          <a:noFill/>
        </p:spPr>
        <p:txBody>
          <a:bodyPr wrap="squar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Table 1:Null-RPC performance</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503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6637D-1126-A215-FC4F-8EA967724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D1DC5-EE3A-9A05-FB8F-2195AB0EFF99}"/>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Preliminaries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Why</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we need Mathematical</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proof</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F18E68F5-62B2-5CDC-BFD0-A14EF0DEFD1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14</a:t>
            </a:fld>
            <a:endParaRPr lang="zh-TW" altLang="en-US"/>
          </a:p>
        </p:txBody>
      </p:sp>
      <p:pic>
        <p:nvPicPr>
          <p:cNvPr id="5" name="图形 4">
            <a:extLst>
              <a:ext uri="{FF2B5EF4-FFF2-40B4-BE49-F238E27FC236}">
                <a16:creationId xmlns:a16="http://schemas.microsoft.com/office/drawing/2014/main" id="{1D255587-4F41-8174-09C0-66C93E17FA05}"/>
              </a:ext>
            </a:extLst>
          </p:cNvPr>
          <p:cNvPicPr>
            <a:picLocks noChangeAspect="1"/>
          </p:cNvPicPr>
          <p:nvPr/>
        </p:nvPicPr>
        <p:blipFill>
          <a:blip r:embed="rId3">
            <a:extLst>
              <a:ext uri="{96DAC541-7B7A-43D3-8B79-37D633B846F1}">
                <asvg:svgBlip xmlns:asvg="http://schemas.microsoft.com/office/drawing/2016/SVG/main" r:embed="rId4"/>
              </a:ext>
            </a:extLst>
          </a:blip>
          <a:srcRect l="8852" t="3227" r="25157"/>
          <a:stretch>
            <a:fillRect/>
          </a:stretch>
        </p:blipFill>
        <p:spPr>
          <a:xfrm>
            <a:off x="0" y="1697400"/>
            <a:ext cx="5904000" cy="3463200"/>
          </a:xfrm>
          <a:prstGeom prst="rect">
            <a:avLst/>
          </a:prstGeom>
        </p:spPr>
      </p:pic>
      <p:sp>
        <p:nvSpPr>
          <p:cNvPr id="9" name="文本框 8">
            <a:extLst>
              <a:ext uri="{FF2B5EF4-FFF2-40B4-BE49-F238E27FC236}">
                <a16:creationId xmlns:a16="http://schemas.microsoft.com/office/drawing/2014/main" id="{3F7A6075-FA2F-75AA-7569-DF3F21757ED9}"/>
              </a:ext>
            </a:extLst>
          </p:cNvPr>
          <p:cNvSpPr txBox="1"/>
          <p:nvPr/>
        </p:nvSpPr>
        <p:spPr>
          <a:xfrm>
            <a:off x="5904000" y="1147621"/>
            <a:ext cx="6109200" cy="5066002"/>
          </a:xfrm>
          <a:prstGeom prst="rect">
            <a:avLst/>
          </a:prstGeom>
          <a:noFill/>
        </p:spPr>
        <p:txBody>
          <a:bodyPr wrap="square">
            <a:spAutoFit/>
          </a:bodyPr>
          <a:lstStyle/>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Examples of crashes</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1. Heartbleed Vulnerability: Eliminating the "Hidden Bug"</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Context</a:t>
            </a:r>
            <a:r>
              <a:rPr kumimoji="1" lang="en-US" altLang="zh-CN" sz="1600" dirty="0">
                <a:latin typeface="Times New Roman" panose="02020603050405020304" pitchFamily="18" charset="0"/>
                <a:cs typeface="Times New Roman" panose="02020603050405020304" pitchFamily="18" charset="0"/>
              </a:rPr>
              <a:t>: A catastrophic bug in the OpenSSL library that exposed server memory to attackers.</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Challenge: </a:t>
            </a:r>
            <a:r>
              <a:rPr kumimoji="1" lang="en-US" altLang="zh-CN" sz="1600" dirty="0">
                <a:latin typeface="Times New Roman" panose="02020603050405020304" pitchFamily="18" charset="0"/>
                <a:cs typeface="Times New Roman" panose="02020603050405020304" pitchFamily="18" charset="0"/>
              </a:rPr>
              <a:t>Traditional testing failed to detect this for years because the software functioned "correctly" under normal inputs. </a:t>
            </a:r>
          </a:p>
          <a:p>
            <a:pPr indent="-342900" fontAlgn="base">
              <a:spcBef>
                <a:spcPct val="20000"/>
              </a:spcBef>
              <a:spcAft>
                <a:spcPct val="0"/>
              </a:spcAft>
              <a:buClr>
                <a:srgbClr val="0000FF"/>
              </a:buClr>
              <a:buNone/>
            </a:pPr>
            <a:endParaRPr kumimoji="1" lang="en-US" altLang="zh-CN" sz="1600" b="1" dirty="0">
              <a:latin typeface="Times New Roman" panose="02020603050405020304" pitchFamily="18" charset="0"/>
              <a:cs typeface="Times New Roman" panose="02020603050405020304" pitchFamily="18" charset="0"/>
            </a:endParaRP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2. DARPA HACMS Project: Military-Grade Isolation</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Context: </a:t>
            </a:r>
            <a:r>
              <a:rPr kumimoji="1" lang="en-US" altLang="zh-CN" sz="1600" dirty="0">
                <a:latin typeface="Times New Roman" panose="02020603050405020304" pitchFamily="18" charset="0"/>
                <a:cs typeface="Times New Roman" panose="02020603050405020304" pitchFamily="18" charset="0"/>
              </a:rPr>
              <a:t>A Red Team of hackers was tasked with hijacking a "Little Bird" autonomous helicopter.</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Challenge: </a:t>
            </a:r>
            <a:r>
              <a:rPr kumimoji="1" lang="en-US" altLang="zh-CN" sz="1600" dirty="0">
                <a:latin typeface="Times New Roman" panose="02020603050405020304" pitchFamily="18" charset="0"/>
                <a:cs typeface="Times New Roman" panose="02020603050405020304" pitchFamily="18" charset="0"/>
              </a:rPr>
              <a:t>Hackers easily breached unverified components (e.g., camera drivers) to take over flight controls on a standard OS.</a:t>
            </a:r>
          </a:p>
          <a:p>
            <a:pPr indent="-342900" fontAlgn="base">
              <a:spcBef>
                <a:spcPct val="20000"/>
              </a:spcBef>
              <a:spcAft>
                <a:spcPct val="0"/>
              </a:spcAft>
              <a:buClr>
                <a:srgbClr val="0000FF"/>
              </a:buClr>
              <a:buNone/>
            </a:pPr>
            <a:endParaRPr kumimoji="1" lang="en-US" altLang="zh-CN" sz="1600" dirty="0">
              <a:latin typeface="Times New Roman" panose="02020603050405020304" pitchFamily="18" charset="0"/>
              <a:cs typeface="Times New Roman" panose="02020603050405020304" pitchFamily="18" charset="0"/>
            </a:endParaRP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3. Therac-25 &amp; Concurrency: </a:t>
            </a:r>
            <a:r>
              <a:rPr kumimoji="1" lang="en-US" altLang="zh-CN" sz="1600" dirty="0">
                <a:latin typeface="Times New Roman" panose="02020603050405020304" pitchFamily="18" charset="0"/>
                <a:cs typeface="Times New Roman" panose="02020603050405020304" pitchFamily="18" charset="0"/>
              </a:rPr>
              <a:t>Preventing Race Conditions</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Context</a:t>
            </a:r>
            <a:r>
              <a:rPr kumimoji="1" lang="en-US" altLang="zh-CN" sz="1600" dirty="0">
                <a:latin typeface="Times New Roman" panose="02020603050405020304" pitchFamily="18" charset="0"/>
                <a:cs typeface="Times New Roman" panose="02020603050405020304" pitchFamily="18" charset="0"/>
              </a:rPr>
              <a:t>: A historical medical radiation disaster caused by subtle race conditions in the software.</a:t>
            </a:r>
          </a:p>
          <a:p>
            <a:pPr indent="-342900" fontAlgn="base">
              <a:spcBef>
                <a:spcPct val="20000"/>
              </a:spcBef>
              <a:spcAft>
                <a:spcPct val="0"/>
              </a:spcAft>
              <a:buClr>
                <a:srgbClr val="0000FF"/>
              </a:buClr>
              <a:buNone/>
            </a:pPr>
            <a:r>
              <a:rPr kumimoji="1" lang="en-US" altLang="zh-CN" sz="1600" b="1" dirty="0">
                <a:latin typeface="Times New Roman" panose="02020603050405020304" pitchFamily="18" charset="0"/>
                <a:cs typeface="Times New Roman" panose="02020603050405020304" pitchFamily="18" charset="0"/>
              </a:rPr>
              <a:t>Challenge: </a:t>
            </a:r>
            <a:r>
              <a:rPr kumimoji="1" lang="en-US" altLang="zh-CN" sz="1600" dirty="0">
                <a:latin typeface="Times New Roman" panose="02020603050405020304" pitchFamily="18" charset="0"/>
                <a:cs typeface="Times New Roman" panose="02020603050405020304" pitchFamily="18" charset="0"/>
              </a:rPr>
              <a:t>These "Heisenbugs" are non-deterministic and nearly impossible to capture through random stress testing.</a:t>
            </a:r>
          </a:p>
        </p:txBody>
      </p:sp>
      <p:pic>
        <p:nvPicPr>
          <p:cNvPr id="11" name="图形 10">
            <a:extLst>
              <a:ext uri="{FF2B5EF4-FFF2-40B4-BE49-F238E27FC236}">
                <a16:creationId xmlns:a16="http://schemas.microsoft.com/office/drawing/2014/main" id="{60BA19D7-0348-621D-F00F-995AD3B574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92500" y="1964108"/>
            <a:ext cx="381000" cy="381000"/>
          </a:xfrm>
          <a:prstGeom prst="rect">
            <a:avLst/>
          </a:prstGeom>
        </p:spPr>
      </p:pic>
      <p:pic>
        <p:nvPicPr>
          <p:cNvPr id="13" name="图形 12">
            <a:extLst>
              <a:ext uri="{FF2B5EF4-FFF2-40B4-BE49-F238E27FC236}">
                <a16:creationId xmlns:a16="http://schemas.microsoft.com/office/drawing/2014/main" id="{B50F50B6-9F5A-1DBB-7982-F6E277C4878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87100" y="3629509"/>
            <a:ext cx="381000" cy="381000"/>
          </a:xfrm>
          <a:prstGeom prst="rect">
            <a:avLst/>
          </a:prstGeom>
        </p:spPr>
      </p:pic>
      <p:pic>
        <p:nvPicPr>
          <p:cNvPr id="15" name="图形 14">
            <a:extLst>
              <a:ext uri="{FF2B5EF4-FFF2-40B4-BE49-F238E27FC236}">
                <a16:creationId xmlns:a16="http://schemas.microsoft.com/office/drawing/2014/main" id="{8AFA956E-47F4-4D60-31CC-B39437C66C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73500" y="5280375"/>
            <a:ext cx="381000" cy="381000"/>
          </a:xfrm>
          <a:prstGeom prst="rect">
            <a:avLst/>
          </a:prstGeom>
        </p:spPr>
      </p:pic>
      <p:sp>
        <p:nvSpPr>
          <p:cNvPr id="16" name="文本框 15">
            <a:extLst>
              <a:ext uri="{FF2B5EF4-FFF2-40B4-BE49-F238E27FC236}">
                <a16:creationId xmlns:a16="http://schemas.microsoft.com/office/drawing/2014/main" id="{C23EB922-FA88-6823-FE2D-FC5D17F1184E}"/>
              </a:ext>
            </a:extLst>
          </p:cNvPr>
          <p:cNvSpPr txBox="1"/>
          <p:nvPr/>
        </p:nvSpPr>
        <p:spPr>
          <a:xfrm>
            <a:off x="1436914" y="5126486"/>
            <a:ext cx="3150158"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Fig.7: Why we need Mathematical proof </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062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46C31-7AAC-551A-236D-23F7DDBFB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5E0620-BC31-CA5B-A357-F78487E9B113}"/>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Proposed Method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The seL4 design process</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4892599-492A-69DC-67C0-6541DE2537A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15</a:t>
            </a:fld>
            <a:endParaRPr lang="zh-TW" altLang="en-US"/>
          </a:p>
        </p:txBody>
      </p:sp>
      <p:pic>
        <p:nvPicPr>
          <p:cNvPr id="7" name="图片 6" descr="文本&#10;&#10;AI 生成的内容可能不正确。">
            <a:extLst>
              <a:ext uri="{FF2B5EF4-FFF2-40B4-BE49-F238E27FC236}">
                <a16:creationId xmlns:a16="http://schemas.microsoft.com/office/drawing/2014/main" id="{A80C208F-8056-44EB-7522-C23DDD04E64D}"/>
              </a:ext>
            </a:extLst>
          </p:cNvPr>
          <p:cNvPicPr>
            <a:picLocks noChangeAspect="1"/>
          </p:cNvPicPr>
          <p:nvPr/>
        </p:nvPicPr>
        <p:blipFill>
          <a:blip r:embed="rId3">
            <a:extLst>
              <a:ext uri="{28A0092B-C50C-407E-A947-70E740481C1C}">
                <a14:useLocalDpi xmlns:a14="http://schemas.microsoft.com/office/drawing/2010/main" val="0"/>
              </a:ext>
            </a:extLst>
          </a:blip>
          <a:srcRect b="15327"/>
          <a:stretch>
            <a:fillRect/>
          </a:stretch>
        </p:blipFill>
        <p:spPr>
          <a:xfrm>
            <a:off x="170849" y="1066969"/>
            <a:ext cx="5675361" cy="2836258"/>
          </a:xfrm>
          <a:prstGeom prst="rect">
            <a:avLst/>
          </a:prstGeom>
        </p:spPr>
      </p:pic>
      <p:sp>
        <p:nvSpPr>
          <p:cNvPr id="11" name="文本框 10">
            <a:extLst>
              <a:ext uri="{FF2B5EF4-FFF2-40B4-BE49-F238E27FC236}">
                <a16:creationId xmlns:a16="http://schemas.microsoft.com/office/drawing/2014/main" id="{EC7E8157-69FE-9F85-6E3C-CFF3B07DE8EC}"/>
              </a:ext>
            </a:extLst>
          </p:cNvPr>
          <p:cNvSpPr txBox="1"/>
          <p:nvPr/>
        </p:nvSpPr>
        <p:spPr>
          <a:xfrm>
            <a:off x="170849" y="4441357"/>
            <a:ext cx="10815530" cy="1717393"/>
          </a:xfrm>
          <a:prstGeom prst="rect">
            <a:avLst/>
          </a:prstGeom>
          <a:noFill/>
        </p:spPr>
        <p:txBody>
          <a:bodyPr wrap="square">
            <a:spAutoFit/>
          </a:bodyPr>
          <a:lstStyle/>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Executable Specification: </a:t>
            </a:r>
            <a:r>
              <a:rPr kumimoji="1" lang="en-US" altLang="zh-CN" sz="1600" dirty="0">
                <a:latin typeface="Times New Roman" panose="02020603050405020304" pitchFamily="18" charset="0"/>
                <a:cs typeface="Times New Roman" panose="02020603050405020304" pitchFamily="18" charset="0"/>
              </a:rPr>
              <a:t>Acts as the first functional implementation to validate kernel design before C coding.</a:t>
            </a:r>
          </a:p>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The Bridge of Refinement</a:t>
            </a:r>
            <a:r>
              <a:rPr kumimoji="1" lang="en-US" altLang="zh-CN" sz="1600" dirty="0">
                <a:latin typeface="Times New Roman" panose="02020603050405020304" pitchFamily="18" charset="0"/>
                <a:cs typeface="Times New Roman" panose="02020603050405020304" pitchFamily="18" charset="0"/>
              </a:rPr>
              <a:t>: Serves as the crucial middle layer connecting Abstract Logic to High-Performance C.</a:t>
            </a:r>
          </a:p>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Trustworthy Source: </a:t>
            </a:r>
            <a:r>
              <a:rPr kumimoji="1" lang="en-US" altLang="zh-CN" sz="1600" dirty="0">
                <a:latin typeface="Times New Roman" panose="02020603050405020304" pitchFamily="18" charset="0"/>
                <a:cs typeface="Times New Roman" panose="02020603050405020304" pitchFamily="18" charset="0"/>
              </a:rPr>
              <a:t>Automatically translated into Isabelle/HOL to ensure mathematical consistency and eliminate human error.</a:t>
            </a:r>
          </a:p>
          <a:p>
            <a:pPr marL="285750" indent="-342900"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Common Ground: </a:t>
            </a:r>
            <a:r>
              <a:rPr kumimoji="1" lang="en-US" altLang="zh-CN" sz="1600" dirty="0">
                <a:latin typeface="Times New Roman" panose="02020603050405020304" pitchFamily="18" charset="0"/>
                <a:cs typeface="Times New Roman" panose="02020603050405020304" pitchFamily="18" charset="0"/>
              </a:rPr>
              <a:t>A unified language for OS developers to express algorithms and for verification experts to prove properties.</a:t>
            </a:r>
          </a:p>
        </p:txBody>
      </p:sp>
      <p:sp>
        <p:nvSpPr>
          <p:cNvPr id="12" name="文本框 11">
            <a:extLst>
              <a:ext uri="{FF2B5EF4-FFF2-40B4-BE49-F238E27FC236}">
                <a16:creationId xmlns:a16="http://schemas.microsoft.com/office/drawing/2014/main" id="{312A0E16-5953-B88A-3466-097BA1EF0A82}"/>
              </a:ext>
            </a:extLst>
          </p:cNvPr>
          <p:cNvSpPr txBox="1"/>
          <p:nvPr/>
        </p:nvSpPr>
        <p:spPr>
          <a:xfrm>
            <a:off x="1376470" y="3903227"/>
            <a:ext cx="2651623"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a:t>
            </a:r>
            <a:r>
              <a:rPr kumimoji="1" lang="zh-CN" altLang="en-US" sz="1400" dirty="0">
                <a:latin typeface="Times New Roman" panose="02020603050405020304" pitchFamily="18" charset="0"/>
                <a:ea typeface="標楷體" pitchFamily="65" charset="-120"/>
                <a:cs typeface="Times New Roman" panose="02020603050405020304" pitchFamily="18" charset="0"/>
              </a:rPr>
              <a:t> </a:t>
            </a:r>
            <a:r>
              <a:rPr kumimoji="1" lang="en-US" altLang="zh-CN" sz="1400" dirty="0">
                <a:latin typeface="Times New Roman" panose="02020603050405020304" pitchFamily="18" charset="0"/>
                <a:ea typeface="標楷體" pitchFamily="65" charset="-120"/>
                <a:cs typeface="Times New Roman" panose="02020603050405020304" pitchFamily="18" charset="0"/>
              </a:rPr>
              <a:t>8 a): The seL4 design process</a:t>
            </a:r>
            <a:endParaRPr kumimoji="1" lang="zh-CN" altLang="en-US" sz="1400" dirty="0">
              <a:latin typeface="Times New Roman" panose="02020603050405020304" pitchFamily="18" charset="0"/>
              <a:cs typeface="Times New Roman" panose="02020603050405020304" pitchFamily="18" charset="0"/>
            </a:endParaRPr>
          </a:p>
        </p:txBody>
      </p:sp>
      <p:pic>
        <p:nvPicPr>
          <p:cNvPr id="5" name="图片 4" descr="图示&#10;&#10;AI 生成的内容可能不正确。">
            <a:extLst>
              <a:ext uri="{FF2B5EF4-FFF2-40B4-BE49-F238E27FC236}">
                <a16:creationId xmlns:a16="http://schemas.microsoft.com/office/drawing/2014/main" id="{F537861D-4113-6027-ED09-D0FDD7C847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8614" y="1202495"/>
            <a:ext cx="5043488" cy="2687293"/>
          </a:xfrm>
          <a:prstGeom prst="rect">
            <a:avLst/>
          </a:prstGeom>
        </p:spPr>
      </p:pic>
      <p:sp>
        <p:nvSpPr>
          <p:cNvPr id="6" name="文本框 5">
            <a:extLst>
              <a:ext uri="{FF2B5EF4-FFF2-40B4-BE49-F238E27FC236}">
                <a16:creationId xmlns:a16="http://schemas.microsoft.com/office/drawing/2014/main" id="{21E7B3D9-9A40-A8F9-799C-61092E282EEB}"/>
              </a:ext>
            </a:extLst>
          </p:cNvPr>
          <p:cNvSpPr txBox="1"/>
          <p:nvPr/>
        </p:nvSpPr>
        <p:spPr>
          <a:xfrm>
            <a:off x="5578614" y="3918838"/>
            <a:ext cx="4493474"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a:t>
            </a:r>
            <a:r>
              <a:rPr kumimoji="1" lang="zh-CN" altLang="en-US" sz="1400" dirty="0">
                <a:latin typeface="Times New Roman" panose="02020603050405020304" pitchFamily="18" charset="0"/>
                <a:ea typeface="標楷體" pitchFamily="65" charset="-120"/>
                <a:cs typeface="Times New Roman" panose="02020603050405020304" pitchFamily="18" charset="0"/>
              </a:rPr>
              <a:t> </a:t>
            </a:r>
            <a:r>
              <a:rPr kumimoji="1" lang="en-US" altLang="zh-CN" sz="1400" dirty="0">
                <a:latin typeface="Times New Roman" panose="02020603050405020304" pitchFamily="18" charset="0"/>
                <a:ea typeface="標楷體" pitchFamily="65" charset="-120"/>
                <a:cs typeface="Times New Roman" panose="02020603050405020304" pitchFamily="18" charset="0"/>
              </a:rPr>
              <a:t>8 b): The Refinement Layers in the verification of seL4</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2929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AD4FF-8A81-BB77-8B5C-D4BF2001C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1ABCF-EA6C-A060-26E2-6DF0FEE80F38}"/>
              </a:ext>
            </a:extLst>
          </p:cNvPr>
          <p:cNvSpPr>
            <a:spLocks noGrp="1"/>
          </p:cNvSpPr>
          <p:nvPr>
            <p:ph type="title"/>
          </p:nvPr>
        </p:nvSpPr>
        <p:spPr>
          <a:xfrm>
            <a:off x="1088571" y="144466"/>
            <a:ext cx="11103429" cy="692151"/>
          </a:xfrm>
        </p:spPr>
        <p:txBody>
          <a:bodyPr/>
          <a:lstStyle/>
          <a:p>
            <a:r>
              <a:rPr lang="en-US" altLang="zh-CN" sz="3600" dirty="0">
                <a:latin typeface="Times New Roman" panose="02020603050405020304" pitchFamily="18" charset="0"/>
                <a:cs typeface="Times New Roman" panose="02020603050405020304" pitchFamily="18" charset="0"/>
              </a:rPr>
              <a:t>Proposed Method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Kernel Design for Verification</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B5492283-DAC5-B7A6-8FFD-963539ECB02E}"/>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16</a:t>
            </a:fld>
            <a:endParaRPr lang="zh-TW" altLang="en-US"/>
          </a:p>
        </p:txBody>
      </p:sp>
      <p:pic>
        <p:nvPicPr>
          <p:cNvPr id="5" name="图形 4">
            <a:extLst>
              <a:ext uri="{FF2B5EF4-FFF2-40B4-BE49-F238E27FC236}">
                <a16:creationId xmlns:a16="http://schemas.microsoft.com/office/drawing/2014/main" id="{BA7D1C28-2173-D9F4-B11B-B93CFD6DAAB3}"/>
              </a:ext>
            </a:extLst>
          </p:cNvPr>
          <p:cNvPicPr>
            <a:picLocks noChangeAspect="1"/>
          </p:cNvPicPr>
          <p:nvPr/>
        </p:nvPicPr>
        <p:blipFill>
          <a:blip r:embed="rId3">
            <a:extLst>
              <a:ext uri="{96DAC541-7B7A-43D3-8B79-37D633B846F1}">
                <asvg:svgBlip xmlns:asvg="http://schemas.microsoft.com/office/drawing/2016/SVG/main" r:embed="rId4"/>
              </a:ext>
            </a:extLst>
          </a:blip>
          <a:srcRect l="7585" t="14526" r="5780" b="2945"/>
          <a:stretch>
            <a:fillRect/>
          </a:stretch>
        </p:blipFill>
        <p:spPr>
          <a:xfrm>
            <a:off x="93600" y="2406316"/>
            <a:ext cx="4951200" cy="2358284"/>
          </a:xfrm>
          <a:prstGeom prst="rect">
            <a:avLst/>
          </a:prstGeom>
        </p:spPr>
      </p:pic>
      <p:sp>
        <p:nvSpPr>
          <p:cNvPr id="8" name="文本框 7">
            <a:extLst>
              <a:ext uri="{FF2B5EF4-FFF2-40B4-BE49-F238E27FC236}">
                <a16:creationId xmlns:a16="http://schemas.microsoft.com/office/drawing/2014/main" id="{D14EE1CF-DA48-4724-0F9E-810143757ADE}"/>
              </a:ext>
            </a:extLst>
          </p:cNvPr>
          <p:cNvSpPr txBox="1"/>
          <p:nvPr/>
        </p:nvSpPr>
        <p:spPr>
          <a:xfrm>
            <a:off x="5286600" y="2053239"/>
            <a:ext cx="6905400" cy="2751522"/>
          </a:xfrm>
          <a:prstGeom prst="rect">
            <a:avLst/>
          </a:prstGeom>
          <a:noFill/>
        </p:spPr>
        <p:txBody>
          <a:bodyPr wrap="square">
            <a:spAutoFit/>
          </a:bodyPr>
          <a:lstStyle/>
          <a:p>
            <a:pPr algn="just" fontAlgn="base">
              <a:spcBef>
                <a:spcPct val="20000"/>
              </a:spcBef>
              <a:spcAft>
                <a:spcPct val="0"/>
              </a:spcAft>
              <a:buClr>
                <a:srgbClr val="0000FF"/>
              </a:buClr>
            </a:pPr>
            <a:r>
              <a:rPr kumimoji="1" lang="en-US" altLang="zh-CN" sz="1600" b="1" dirty="0">
                <a:latin typeface="Times New Roman" panose="02020603050405020304" pitchFamily="18" charset="0"/>
                <a:cs typeface="Times New Roman" panose="02020603050405020304" pitchFamily="18" charset="0"/>
              </a:rPr>
              <a:t>Strategic Design for Tractable Proof</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Explicit Memory Management</a:t>
            </a:r>
            <a:r>
              <a:rPr kumimoji="1" lang="en-US" altLang="zh-CN" sz="1600" dirty="0">
                <a:latin typeface="Times New Roman" panose="02020603050405020304" pitchFamily="18" charset="0"/>
                <a:cs typeface="Times New Roman" panose="02020603050405020304" pitchFamily="18" charset="0"/>
              </a:rPr>
              <a:t>: The kernel abandons dynamic allocation, delegating object lifecycle management to user space via Capabilities.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Controlled Control Flow: </a:t>
            </a:r>
            <a:r>
              <a:rPr kumimoji="1" lang="en-US" altLang="zh-CN" sz="1600" dirty="0">
                <a:latin typeface="Times New Roman" panose="02020603050405020304" pitchFamily="18" charset="0"/>
                <a:cs typeface="Times New Roman" panose="02020603050405020304" pitchFamily="18" charset="0"/>
              </a:rPr>
              <a:t>A Single Stack and Event-based execution model eliminate complex concurrency, ensuring atomic kernel operations.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Radical Minimality: </a:t>
            </a:r>
            <a:r>
              <a:rPr kumimoji="1" lang="en-US" altLang="zh-CN" sz="1600" dirty="0">
                <a:latin typeface="Times New Roman" panose="02020603050405020304" pitchFamily="18" charset="0"/>
                <a:cs typeface="Times New Roman" panose="02020603050405020304" pitchFamily="18" charset="0"/>
              </a:rPr>
              <a:t>A compact codebase of only 8,700 lines of C minimizes the logical state space for formal analysis.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Verification-Driven Trade-offs: </a:t>
            </a:r>
            <a:r>
              <a:rPr kumimoji="1" lang="en-US" altLang="zh-CN" sz="1600" dirty="0">
                <a:latin typeface="Times New Roman" panose="02020603050405020304" pitchFamily="18" charset="0"/>
                <a:cs typeface="Times New Roman" panose="02020603050405020304" pitchFamily="18" charset="0"/>
              </a:rPr>
              <a:t>Specific architectural constraints were chosen not just for efficiency, but to ensure the mathematical proofs remain computationally feasible.</a:t>
            </a:r>
          </a:p>
        </p:txBody>
      </p:sp>
      <p:sp>
        <p:nvSpPr>
          <p:cNvPr id="9" name="文本框 8">
            <a:extLst>
              <a:ext uri="{FF2B5EF4-FFF2-40B4-BE49-F238E27FC236}">
                <a16:creationId xmlns:a16="http://schemas.microsoft.com/office/drawing/2014/main" id="{80F4B810-7A2B-B977-C249-A56ABC5A78FC}"/>
              </a:ext>
            </a:extLst>
          </p:cNvPr>
          <p:cNvSpPr txBox="1"/>
          <p:nvPr/>
        </p:nvSpPr>
        <p:spPr>
          <a:xfrm>
            <a:off x="786051" y="4804856"/>
            <a:ext cx="3476529"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a:t>
            </a:r>
            <a:r>
              <a:rPr kumimoji="1" lang="zh-CN" altLang="en-US" sz="1400" dirty="0">
                <a:latin typeface="Times New Roman" panose="02020603050405020304" pitchFamily="18" charset="0"/>
                <a:ea typeface="標楷體" pitchFamily="65" charset="-120"/>
                <a:cs typeface="Times New Roman" panose="02020603050405020304" pitchFamily="18" charset="0"/>
              </a:rPr>
              <a:t> </a:t>
            </a:r>
            <a:r>
              <a:rPr kumimoji="1" lang="en-US" altLang="zh-CN" sz="1400" dirty="0">
                <a:latin typeface="Times New Roman" panose="02020603050405020304" pitchFamily="18" charset="0"/>
                <a:ea typeface="標楷體" pitchFamily="65" charset="-120"/>
                <a:cs typeface="Times New Roman" panose="02020603050405020304" pitchFamily="18" charset="0"/>
              </a:rPr>
              <a:t>9: Key Design Principles for Verifiability</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231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5939-128C-5766-446D-8D44E7B0A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A1D5A-BEC2-95AB-0A34-9746F568478A}"/>
              </a:ext>
            </a:extLst>
          </p:cNvPr>
          <p:cNvSpPr>
            <a:spLocks noGrp="1"/>
          </p:cNvSpPr>
          <p:nvPr>
            <p:ph type="title"/>
          </p:nvPr>
        </p:nvSpPr>
        <p:spPr>
          <a:xfrm>
            <a:off x="1088571" y="144466"/>
            <a:ext cx="10722429" cy="692151"/>
          </a:xfrm>
        </p:spPr>
        <p:txBody>
          <a:bodyPr/>
          <a:lstStyle/>
          <a:p>
            <a:r>
              <a:rPr lang="en-US" altLang="zh-CN" sz="3600" dirty="0">
                <a:latin typeface="Times New Roman" panose="02020603050405020304" pitchFamily="18" charset="0"/>
                <a:cs typeface="Times New Roman" panose="02020603050405020304" pitchFamily="18" charset="0"/>
              </a:rPr>
              <a:t>Performance</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Results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seL4</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1C7B5861-E0A8-657E-6578-8AA8678DF32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17</a:t>
            </a:fld>
            <a:endParaRPr lang="zh-TW" altLang="en-US"/>
          </a:p>
        </p:txBody>
      </p:sp>
      <p:pic>
        <p:nvPicPr>
          <p:cNvPr id="9" name="图片 8" descr="表格&#10;&#10;AI 生成的内容可能不正确。">
            <a:extLst>
              <a:ext uri="{FF2B5EF4-FFF2-40B4-BE49-F238E27FC236}">
                <a16:creationId xmlns:a16="http://schemas.microsoft.com/office/drawing/2014/main" id="{5FCB74E8-79FC-C3AA-230F-23B193293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571" y="4579371"/>
            <a:ext cx="3875015" cy="1173634"/>
          </a:xfrm>
          <a:prstGeom prst="rect">
            <a:avLst/>
          </a:prstGeom>
        </p:spPr>
      </p:pic>
      <p:sp>
        <p:nvSpPr>
          <p:cNvPr id="11" name="文本框 10">
            <a:extLst>
              <a:ext uri="{FF2B5EF4-FFF2-40B4-BE49-F238E27FC236}">
                <a16:creationId xmlns:a16="http://schemas.microsoft.com/office/drawing/2014/main" id="{6BD0E44B-BE6F-CE85-21C2-F7A468AF1CC9}"/>
              </a:ext>
            </a:extLst>
          </p:cNvPr>
          <p:cNvSpPr txBox="1"/>
          <p:nvPr/>
        </p:nvSpPr>
        <p:spPr>
          <a:xfrm>
            <a:off x="5238894" y="3219030"/>
            <a:ext cx="6501372" cy="1175706"/>
          </a:xfrm>
          <a:prstGeom prst="rect">
            <a:avLst/>
          </a:prstGeom>
          <a:noFill/>
        </p:spPr>
        <p:txBody>
          <a:bodyPr wrap="square">
            <a:spAutoFit/>
          </a:bodyPr>
          <a:lstStyle/>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Performance: </a:t>
            </a:r>
            <a:r>
              <a:rPr kumimoji="1" lang="en-US" altLang="zh-CN" sz="1600" dirty="0">
                <a:latin typeface="Times New Roman" panose="02020603050405020304" pitchFamily="18" charset="0"/>
                <a:cs typeface="Times New Roman" panose="02020603050405020304" pitchFamily="18" charset="0"/>
              </a:rPr>
              <a:t>Only 9% overhead compared to hand-tuned assembly.</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Quality: </a:t>
            </a:r>
            <a:r>
              <a:rPr kumimoji="1" lang="en-US" altLang="zh-CN" sz="1600" dirty="0">
                <a:latin typeface="Times New Roman" panose="02020603050405020304" pitchFamily="18" charset="0"/>
                <a:cs typeface="Times New Roman" panose="02020603050405020304" pitchFamily="18" charset="0"/>
              </a:rPr>
              <a:t>300+ bugs found and fixed during the verification process.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Feasibility: </a:t>
            </a:r>
            <a:r>
              <a:rPr kumimoji="1" lang="en-US" altLang="zh-CN" sz="1600" dirty="0">
                <a:latin typeface="Times New Roman" panose="02020603050405020304" pitchFamily="18" charset="0"/>
                <a:cs typeface="Times New Roman" panose="02020603050405020304" pitchFamily="18" charset="0"/>
              </a:rPr>
              <a:t>Proved that end-to-end verification of a real-world OS is industrially viable.</a:t>
            </a:r>
          </a:p>
        </p:txBody>
      </p:sp>
      <p:pic>
        <p:nvPicPr>
          <p:cNvPr id="12" name="图片 11">
            <a:extLst>
              <a:ext uri="{FF2B5EF4-FFF2-40B4-BE49-F238E27FC236}">
                <a16:creationId xmlns:a16="http://schemas.microsoft.com/office/drawing/2014/main" id="{FFB3376B-2C5B-9E06-9473-96B52C8F254F}"/>
              </a:ext>
            </a:extLst>
          </p:cNvPr>
          <p:cNvPicPr>
            <a:picLocks noChangeAspect="1"/>
          </p:cNvPicPr>
          <p:nvPr/>
        </p:nvPicPr>
        <p:blipFill>
          <a:blip r:embed="rId4"/>
          <a:srcRect t="9260"/>
          <a:stretch>
            <a:fillRect/>
          </a:stretch>
        </p:blipFill>
        <p:spPr>
          <a:xfrm>
            <a:off x="657990" y="1381913"/>
            <a:ext cx="4485803" cy="2713617"/>
          </a:xfrm>
          <a:prstGeom prst="rect">
            <a:avLst/>
          </a:prstGeom>
        </p:spPr>
      </p:pic>
      <p:sp>
        <p:nvSpPr>
          <p:cNvPr id="13" name="文本框 12">
            <a:extLst>
              <a:ext uri="{FF2B5EF4-FFF2-40B4-BE49-F238E27FC236}">
                <a16:creationId xmlns:a16="http://schemas.microsoft.com/office/drawing/2014/main" id="{C8A36B2F-1B3A-A78D-3D6C-F3DC083DE7D2}"/>
              </a:ext>
            </a:extLst>
          </p:cNvPr>
          <p:cNvSpPr txBox="1"/>
          <p:nvPr/>
        </p:nvSpPr>
        <p:spPr>
          <a:xfrm>
            <a:off x="1397289" y="4095530"/>
            <a:ext cx="3310265"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Fig.</a:t>
            </a:r>
            <a:r>
              <a:rPr kumimoji="1" lang="zh-CN" altLang="en-US" sz="1400" dirty="0">
                <a:latin typeface="Times New Roman" panose="02020603050405020304" pitchFamily="18" charset="0"/>
                <a:ea typeface="標楷體" pitchFamily="65" charset="-120"/>
                <a:cs typeface="Times New Roman" panose="02020603050405020304" pitchFamily="18" charset="0"/>
              </a:rPr>
              <a:t> </a:t>
            </a:r>
            <a:r>
              <a:rPr kumimoji="1" lang="en-US" altLang="zh-CN" sz="1400" dirty="0">
                <a:latin typeface="Times New Roman" panose="02020603050405020304" pitchFamily="18" charset="0"/>
                <a:ea typeface="標楷體" pitchFamily="65" charset="-120"/>
                <a:cs typeface="Times New Roman" panose="02020603050405020304" pitchFamily="18" charset="0"/>
              </a:rPr>
              <a:t>10: One-way IPC Latency Comparison</a:t>
            </a:r>
            <a:endParaRPr kumimoji="1" lang="zh-CN" altLang="en-US" sz="14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AA2E2D1A-6722-798E-7FDE-04259594AA1E}"/>
              </a:ext>
            </a:extLst>
          </p:cNvPr>
          <p:cNvSpPr txBox="1"/>
          <p:nvPr/>
        </p:nvSpPr>
        <p:spPr>
          <a:xfrm>
            <a:off x="1604574" y="5775180"/>
            <a:ext cx="2592633" cy="307777"/>
          </a:xfrm>
          <a:prstGeom prst="rect">
            <a:avLst/>
          </a:prstGeom>
          <a:noFill/>
        </p:spPr>
        <p:txBody>
          <a:bodyPr wrap="none" rtlCol="0" anchor="ctr" anchorCtr="1">
            <a:spAutoFit/>
          </a:bodyPr>
          <a:lstStyle/>
          <a:p>
            <a:r>
              <a:rPr kumimoji="1" lang="en-US" altLang="zh-CN" sz="1400" dirty="0">
                <a:latin typeface="Times New Roman" panose="02020603050405020304" pitchFamily="18" charset="0"/>
                <a:ea typeface="標楷體" pitchFamily="65" charset="-120"/>
                <a:cs typeface="Times New Roman" panose="02020603050405020304" pitchFamily="18" charset="0"/>
              </a:rPr>
              <a:t>Table 2: Code and proof statistics</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244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EB47A-8F9D-EE72-CF1A-395F97408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163E0-DDA7-3BC7-BA17-180EC5C25E8A}"/>
              </a:ext>
            </a:extLst>
          </p:cNvPr>
          <p:cNvSpPr>
            <a:spLocks noGrp="1"/>
          </p:cNvSpPr>
          <p:nvPr>
            <p:ph type="title"/>
          </p:nvPr>
        </p:nvSpPr>
        <p:spPr>
          <a:xfrm>
            <a:off x="1045372" y="132545"/>
            <a:ext cx="11288716" cy="692151"/>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600" dirty="0">
                <a:latin typeface="Times New Roman" panose="02020603050405020304" pitchFamily="18" charset="0"/>
                <a:cs typeface="Times New Roman" panose="02020603050405020304" pitchFamily="18" charset="0"/>
              </a:rPr>
              <a:t>Preliminaries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The "seL4 Dilemma"</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EDE042A1-4DF0-66FC-A256-3EB933F9DFF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dirty="0"/>
          </a:p>
        </p:txBody>
      </p:sp>
      <p:sp>
        <p:nvSpPr>
          <p:cNvPr id="3" name="AutoShape 2" descr="的图片">
            <a:extLst>
              <a:ext uri="{FF2B5EF4-FFF2-40B4-BE49-F238E27FC236}">
                <a16:creationId xmlns:a16="http://schemas.microsoft.com/office/drawing/2014/main" id="{676CC508-DEDF-BECC-4798-997D3B773C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的图片">
            <a:extLst>
              <a:ext uri="{FF2B5EF4-FFF2-40B4-BE49-F238E27FC236}">
                <a16:creationId xmlns:a16="http://schemas.microsoft.com/office/drawing/2014/main" id="{90789E5C-5C1B-3EA8-094D-5219671D036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11" name="文本框 10">
            <a:extLst>
              <a:ext uri="{FF2B5EF4-FFF2-40B4-BE49-F238E27FC236}">
                <a16:creationId xmlns:a16="http://schemas.microsoft.com/office/drawing/2014/main" id="{71BCA282-A505-B41E-4188-5A58D460D38E}"/>
              </a:ext>
            </a:extLst>
          </p:cNvPr>
          <p:cNvSpPr txBox="1"/>
          <p:nvPr/>
        </p:nvSpPr>
        <p:spPr>
          <a:xfrm>
            <a:off x="0" y="1153571"/>
            <a:ext cx="12192000" cy="2074414"/>
          </a:xfrm>
          <a:prstGeom prst="rect">
            <a:avLst/>
          </a:prstGeom>
          <a:noFill/>
        </p:spPr>
        <p:txBody>
          <a:bodyPr wrap="square" rtlCol="0" anchor="ctr" anchorCtr="1">
            <a:spAutoFit/>
          </a:bodyPr>
          <a:lstStyle/>
          <a:p>
            <a:r>
              <a:rPr kumimoji="1" lang="en-US" altLang="zh-CN" sz="1600" dirty="0">
                <a:latin typeface="Times New Roman" panose="02020603050405020304" pitchFamily="18" charset="0"/>
                <a:cs typeface="Times New Roman" panose="02020603050405020304" pitchFamily="18" charset="0"/>
              </a:rPr>
              <a:t>The limitation of seL4</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Proof Explosion: </a:t>
            </a:r>
            <a:r>
              <a:rPr kumimoji="1" lang="en-US" altLang="zh-CN" sz="1600" dirty="0">
                <a:latin typeface="Times New Roman" panose="02020603050405020304" pitchFamily="18" charset="0"/>
                <a:cs typeface="Times New Roman" panose="02020603050405020304" pitchFamily="18" charset="0"/>
              </a:rPr>
              <a:t>~10k lines of C code require 500k+ lines of proof.</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Proof Fragility: </a:t>
            </a:r>
            <a:r>
              <a:rPr kumimoji="1" lang="en-US" altLang="zh-CN" sz="1600" dirty="0">
                <a:latin typeface="Times New Roman" panose="02020603050405020304" pitchFamily="18" charset="0"/>
                <a:cs typeface="Times New Roman" panose="02020603050405020304" pitchFamily="18" charset="0"/>
              </a:rPr>
              <a:t>Adding a simple feature (e.g., multicore scheduling) can break the entire proof chain, leading to development cycles measured in years.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Over-Simplified: </a:t>
            </a:r>
            <a:r>
              <a:rPr kumimoji="1" lang="en-US" altLang="zh-CN" sz="1600" dirty="0">
                <a:latin typeface="Times New Roman" panose="02020603050405020304" pitchFamily="18" charset="0"/>
                <a:cs typeface="Times New Roman" panose="02020603050405020304" pitchFamily="18" charset="0"/>
              </a:rPr>
              <a:t>Strips complex features to remain "provable," lacking native file systems, driver frameworks, or Linux compatibility.</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Fragmentation: </a:t>
            </a:r>
            <a:r>
              <a:rPr kumimoji="1" lang="en-US" altLang="zh-CN" sz="1600" dirty="0">
                <a:latin typeface="Times New Roman" panose="02020603050405020304" pitchFamily="18" charset="0"/>
                <a:cs typeface="Times New Roman" panose="02020603050405020304" pitchFamily="18" charset="0"/>
              </a:rPr>
              <a:t>Developers must "build from scratch," leading to inconsistent tools and high entry barriers.</a:t>
            </a:r>
          </a:p>
          <a:p>
            <a:endParaRPr kumimoji="1" lang="zh-CN" altLang="en-US" dirty="0">
              <a:ea typeface="標楷體" pitchFamily="65" charset="-120"/>
              <a:cs typeface="Calibri" pitchFamily="34" charset="0"/>
            </a:endParaRPr>
          </a:p>
        </p:txBody>
      </p:sp>
      <p:sp>
        <p:nvSpPr>
          <p:cNvPr id="12" name="文本框 11">
            <a:extLst>
              <a:ext uri="{FF2B5EF4-FFF2-40B4-BE49-F238E27FC236}">
                <a16:creationId xmlns:a16="http://schemas.microsoft.com/office/drawing/2014/main" id="{B0332072-D58E-09B9-2472-0E34E4320A9F}"/>
              </a:ext>
            </a:extLst>
          </p:cNvPr>
          <p:cNvSpPr txBox="1"/>
          <p:nvPr/>
        </p:nvSpPr>
        <p:spPr>
          <a:xfrm>
            <a:off x="0" y="4610772"/>
            <a:ext cx="12192000" cy="1778949"/>
          </a:xfrm>
          <a:prstGeom prst="rect">
            <a:avLst/>
          </a:prstGeom>
          <a:noFill/>
        </p:spPr>
        <p:txBody>
          <a:bodyPr wrap="square" rtlCol="0" anchor="ctr" anchorCtr="1">
            <a:spAutoFit/>
          </a:bodyPr>
          <a:lstStyle/>
          <a:p>
            <a:pPr algn="just" fontAlgn="base">
              <a:spcBef>
                <a:spcPct val="20000"/>
              </a:spcBef>
              <a:spcAft>
                <a:spcPct val="0"/>
              </a:spcAft>
              <a:buClr>
                <a:srgbClr val="0000FF"/>
              </a:buClr>
            </a:pPr>
            <a:r>
              <a:rPr kumimoji="1" lang="en-US" altLang="zh-CN" sz="1600" dirty="0">
                <a:latin typeface="Times New Roman" panose="02020603050405020304" pitchFamily="18" charset="0"/>
                <a:cs typeface="Times New Roman" panose="02020603050405020304" pitchFamily="18" charset="0"/>
              </a:rPr>
              <a:t>What </a:t>
            </a:r>
            <a:r>
              <a:rPr kumimoji="1" lang="en-US" altLang="zh-CN" sz="1600" dirty="0" err="1">
                <a:latin typeface="Times New Roman" panose="02020603050405020304" pitchFamily="18" charset="0"/>
                <a:cs typeface="Times New Roman" panose="02020603050405020304" pitchFamily="18" charset="0"/>
              </a:rPr>
              <a:t>Asterinas</a:t>
            </a:r>
            <a:r>
              <a:rPr kumimoji="1" lang="en-US" altLang="zh-CN" sz="1600" dirty="0">
                <a:latin typeface="Times New Roman" panose="02020603050405020304" pitchFamily="18" charset="0"/>
                <a:cs typeface="Times New Roman" panose="02020603050405020304" pitchFamily="18" charset="0"/>
              </a:rPr>
              <a:t> did?</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Instant Verification: </a:t>
            </a:r>
            <a:r>
              <a:rPr kumimoji="1" lang="en-US" altLang="zh-CN" sz="1600" dirty="0">
                <a:latin typeface="Times New Roman" panose="02020603050405020304" pitchFamily="18" charset="0"/>
                <a:cs typeface="Times New Roman" panose="02020603050405020304" pitchFamily="18" charset="0"/>
              </a:rPr>
              <a:t>Leverages Rust's Static Analysis. Every compilation acts as a comprehensive security audit in seconds, eliminating the need for manual proof code.</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Native Compatibility: </a:t>
            </a:r>
            <a:r>
              <a:rPr kumimoji="1" lang="en-US" altLang="zh-CN" sz="1600" dirty="0">
                <a:latin typeface="Times New Roman" panose="02020603050405020304" pitchFamily="18" charset="0"/>
                <a:cs typeface="Times New Roman" panose="02020603050405020304" pitchFamily="18" charset="0"/>
              </a:rPr>
              <a:t>Designed with a Linux-ABI compliant shim, enabling standard applications (Redis, Nginx) to run out-of-the-box.</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Unified Framework: </a:t>
            </a:r>
            <a:r>
              <a:rPr kumimoji="1" lang="en-US" altLang="zh-CN" sz="1600" dirty="0">
                <a:latin typeface="Times New Roman" panose="02020603050405020304" pitchFamily="18" charset="0"/>
                <a:cs typeface="Times New Roman" panose="02020603050405020304" pitchFamily="18" charset="0"/>
              </a:rPr>
              <a:t>Provides a cohesive environment for modern cloud-native and industrial workloads.</a:t>
            </a:r>
          </a:p>
          <a:p>
            <a:endParaRPr kumimoji="1" lang="zh-CN" altLang="en-US" dirty="0">
              <a:ea typeface="標楷體" pitchFamily="65" charset="-120"/>
              <a:cs typeface="Calibri" pitchFamily="34" charset="0"/>
            </a:endParaRPr>
          </a:p>
        </p:txBody>
      </p:sp>
      <p:pic>
        <p:nvPicPr>
          <p:cNvPr id="14" name="图片 13" descr="图示&#10;&#10;AI 生成的内容可能不正确。">
            <a:extLst>
              <a:ext uri="{FF2B5EF4-FFF2-40B4-BE49-F238E27FC236}">
                <a16:creationId xmlns:a16="http://schemas.microsoft.com/office/drawing/2014/main" id="{93B2F4DA-D741-BE99-7ED6-7C922D7DB1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280" y="2945970"/>
            <a:ext cx="4228240" cy="1960111"/>
          </a:xfrm>
          <a:prstGeom prst="rect">
            <a:avLst/>
          </a:prstGeom>
        </p:spPr>
      </p:pic>
    </p:spTree>
    <p:extLst>
      <p:ext uri="{BB962C8B-B14F-4D97-AF65-F5344CB8AC3E}">
        <p14:creationId xmlns:p14="http://schemas.microsoft.com/office/powerpoint/2010/main" val="15744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1172D-6D54-BAA6-3EC2-ACFD45865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459E1-2C8A-A965-3218-CAA2C6C367A2}"/>
              </a:ext>
            </a:extLst>
          </p:cNvPr>
          <p:cNvSpPr>
            <a:spLocks noGrp="1"/>
          </p:cNvSpPr>
          <p:nvPr>
            <p:ph type="title"/>
          </p:nvPr>
        </p:nvSpPr>
        <p:spPr>
          <a:xfrm>
            <a:off x="1045372" y="132545"/>
            <a:ext cx="11288716" cy="692151"/>
          </a:xfrm>
        </p:spPr>
        <p:txBody>
          <a:bodyPr/>
          <a:lstStyle/>
          <a:p>
            <a:r>
              <a:rPr lang="en-US" altLang="zh-CN" sz="3600" dirty="0">
                <a:latin typeface="Times New Roman" panose="02020603050405020304" pitchFamily="18" charset="0"/>
                <a:cs typeface="Times New Roman" panose="02020603050405020304" pitchFamily="18" charset="0"/>
              </a:rPr>
              <a:t>Proposed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Methods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Frame kernel</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53FC45EF-46D2-4370-A406-184463F7076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19</a:t>
            </a:fld>
            <a:endParaRPr lang="zh-TW" altLang="en-US" dirty="0"/>
          </a:p>
        </p:txBody>
      </p:sp>
      <p:sp>
        <p:nvSpPr>
          <p:cNvPr id="3" name="AutoShape 2" descr="的图片">
            <a:extLst>
              <a:ext uri="{FF2B5EF4-FFF2-40B4-BE49-F238E27FC236}">
                <a16:creationId xmlns:a16="http://schemas.microsoft.com/office/drawing/2014/main" id="{C6FAB5A0-7590-C1A2-8FA5-9ED33A0304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的图片">
            <a:extLst>
              <a:ext uri="{FF2B5EF4-FFF2-40B4-BE49-F238E27FC236}">
                <a16:creationId xmlns:a16="http://schemas.microsoft.com/office/drawing/2014/main" id="{15A4CF71-3EA2-9708-38AE-D9AEBE92E88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11" name="图片 10" descr="日程表&#10;&#10;AI 生成的内容可能不正确。">
            <a:extLst>
              <a:ext uri="{FF2B5EF4-FFF2-40B4-BE49-F238E27FC236}">
                <a16:creationId xmlns:a16="http://schemas.microsoft.com/office/drawing/2014/main" id="{E0960516-F85D-59DE-CFF3-08216B3271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822" y="1102725"/>
            <a:ext cx="5565464" cy="4734997"/>
          </a:xfrm>
          <a:prstGeom prst="rect">
            <a:avLst/>
          </a:prstGeom>
        </p:spPr>
      </p:pic>
      <p:sp>
        <p:nvSpPr>
          <p:cNvPr id="13" name="文本框 12">
            <a:extLst>
              <a:ext uri="{FF2B5EF4-FFF2-40B4-BE49-F238E27FC236}">
                <a16:creationId xmlns:a16="http://schemas.microsoft.com/office/drawing/2014/main" id="{81A9A265-C142-F9E2-9A21-A13C2E2D2E58}"/>
              </a:ext>
            </a:extLst>
          </p:cNvPr>
          <p:cNvSpPr txBox="1"/>
          <p:nvPr/>
        </p:nvSpPr>
        <p:spPr>
          <a:xfrm>
            <a:off x="5943600" y="2899725"/>
            <a:ext cx="6173918" cy="1668149"/>
          </a:xfrm>
          <a:prstGeom prst="rect">
            <a:avLst/>
          </a:prstGeom>
          <a:noFill/>
        </p:spPr>
        <p:txBody>
          <a:bodyPr wrap="square">
            <a:spAutoFit/>
          </a:bodyPr>
          <a:lstStyle/>
          <a:p>
            <a:pPr marL="285750" indent="-342900" algn="just" fontAlgn="base">
              <a:spcBef>
                <a:spcPct val="20000"/>
              </a:spcBef>
              <a:spcAft>
                <a:spcPct val="0"/>
              </a:spcAft>
              <a:buClr>
                <a:srgbClr val="0000FF"/>
              </a:buClr>
              <a:buFont typeface="Arial" panose="020B0604020202020204" pitchFamily="34" charset="0"/>
              <a:buChar char="•"/>
            </a:pPr>
            <a:r>
              <a:rPr kumimoji="1" lang="zh-CN" altLang="en-US" sz="1600" b="1" dirty="0">
                <a:latin typeface="Times New Roman" panose="02020603050405020304" pitchFamily="18" charset="0"/>
                <a:cs typeface="Times New Roman" panose="02020603050405020304" pitchFamily="18" charset="0"/>
              </a:rPr>
              <a:t>Resource Encapsulation: </a:t>
            </a:r>
            <a:r>
              <a:rPr kumimoji="1" lang="zh-CN" altLang="en-US" sz="1600" dirty="0">
                <a:latin typeface="Times New Roman" panose="02020603050405020304" pitchFamily="18" charset="0"/>
                <a:cs typeface="Times New Roman" panose="02020603050405020304" pitchFamily="18" charset="0"/>
              </a:rPr>
              <a:t>Low-level sensitive resources (CPU, Memory, Devices) are managed by a minimal OS Framework.</a:t>
            </a:r>
          </a:p>
          <a:p>
            <a:pPr marL="285750" indent="-342900" algn="just" fontAlgn="base">
              <a:spcBef>
                <a:spcPct val="20000"/>
              </a:spcBef>
              <a:spcAft>
                <a:spcPct val="0"/>
              </a:spcAft>
              <a:buClr>
                <a:srgbClr val="0000FF"/>
              </a:buClr>
              <a:buFont typeface="Arial" panose="020B0604020202020204" pitchFamily="34" charset="0"/>
              <a:buChar char="•"/>
            </a:pPr>
            <a:r>
              <a:rPr kumimoji="1" lang="zh-CN" altLang="en-US" sz="1600" b="1" dirty="0">
                <a:latin typeface="Times New Roman" panose="02020603050405020304" pitchFamily="18" charset="0"/>
                <a:cs typeface="Times New Roman" panose="02020603050405020304" pitchFamily="18" charset="0"/>
              </a:rPr>
              <a:t>Safe Service Containers: </a:t>
            </a:r>
            <a:r>
              <a:rPr kumimoji="1" lang="zh-CN" altLang="en-US" sz="1600" dirty="0">
                <a:latin typeface="Times New Roman" panose="02020603050405020304" pitchFamily="18" charset="0"/>
                <a:cs typeface="Times New Roman" panose="02020603050405020304" pitchFamily="18" charset="0"/>
              </a:rPr>
              <a:t>High-level OS services are wrapped in restricted Rust containers. </a:t>
            </a:r>
            <a:endParaRPr kumimoji="1" lang="en-US" altLang="zh-CN" sz="1600" dirty="0">
              <a:latin typeface="Times New Roman" panose="02020603050405020304" pitchFamily="18" charset="0"/>
              <a:cs typeface="Times New Roman" panose="02020603050405020304" pitchFamily="18" charset="0"/>
            </a:endParaRPr>
          </a:p>
          <a:p>
            <a:pPr marL="285750" indent="-342900" algn="just" fontAlgn="base">
              <a:spcBef>
                <a:spcPct val="20000"/>
              </a:spcBef>
              <a:spcAft>
                <a:spcPct val="0"/>
              </a:spcAft>
              <a:buClr>
                <a:srgbClr val="0000FF"/>
              </a:buClr>
              <a:buFont typeface="Arial" panose="020B0604020202020204" pitchFamily="34" charset="0"/>
              <a:buChar char="•"/>
            </a:pPr>
            <a:r>
              <a:rPr kumimoji="1" lang="zh-CN" altLang="en-US" sz="1600" b="1" dirty="0">
                <a:latin typeface="Times New Roman" panose="02020603050405020304" pitchFamily="18" charset="0"/>
                <a:cs typeface="Times New Roman" panose="02020603050405020304" pitchFamily="18" charset="0"/>
              </a:rPr>
              <a:t>Zero-Cost Abstraction: </a:t>
            </a:r>
            <a:r>
              <a:rPr kumimoji="1" lang="zh-CN" altLang="en-US" sz="1600" dirty="0">
                <a:latin typeface="Times New Roman" panose="02020603050405020304" pitchFamily="18" charset="0"/>
                <a:cs typeface="Times New Roman" panose="02020603050405020304" pitchFamily="18" charset="0"/>
              </a:rPr>
              <a:t>Inter-service communication happens via direct function calls (Safe Rust pointers), not heavy IPC.</a:t>
            </a:r>
          </a:p>
        </p:txBody>
      </p:sp>
      <p:sp>
        <p:nvSpPr>
          <p:cNvPr id="18" name="文本框 17">
            <a:extLst>
              <a:ext uri="{FF2B5EF4-FFF2-40B4-BE49-F238E27FC236}">
                <a16:creationId xmlns:a16="http://schemas.microsoft.com/office/drawing/2014/main" id="{27730AC7-27F8-E201-CF3F-996D186A6E0B}"/>
              </a:ext>
            </a:extLst>
          </p:cNvPr>
          <p:cNvSpPr txBox="1"/>
          <p:nvPr/>
        </p:nvSpPr>
        <p:spPr>
          <a:xfrm>
            <a:off x="-9166" y="5763632"/>
            <a:ext cx="6409966" cy="338554"/>
          </a:xfrm>
          <a:prstGeom prst="rect">
            <a:avLst/>
          </a:prstGeom>
          <a:noFill/>
        </p:spPr>
        <p:txBody>
          <a:bodyPr wrap="square">
            <a:spAutoFit/>
          </a:bodyPr>
          <a:lstStyle/>
          <a:p>
            <a:r>
              <a:rPr kumimoji="1" lang="en-US" altLang="zh-CN" sz="1600" dirty="0">
                <a:latin typeface="Times New Roman" panose="02020603050405020304" pitchFamily="18" charset="0"/>
                <a:cs typeface="Times New Roman" panose="02020603050405020304" pitchFamily="18" charset="0"/>
              </a:rPr>
              <a:t>Fig. 11:A blueprint for </a:t>
            </a:r>
            <a:r>
              <a:rPr kumimoji="1" lang="en-US" altLang="zh-CN" sz="1600" dirty="0" err="1">
                <a:latin typeface="Times New Roman" panose="02020603050405020304" pitchFamily="18" charset="0"/>
                <a:cs typeface="Times New Roman" panose="02020603050405020304" pitchFamily="18" charset="0"/>
              </a:rPr>
              <a:t>framekernel</a:t>
            </a:r>
            <a:r>
              <a:rPr kumimoji="1" lang="en-US" altLang="zh-CN" sz="1600" dirty="0">
                <a:latin typeface="Times New Roman" panose="02020603050405020304" pitchFamily="18" charset="0"/>
                <a:cs typeface="Times New Roman" panose="02020603050405020304" pitchFamily="18" charset="0"/>
              </a:rPr>
              <a:t> construction in a resource-centric view. </a:t>
            </a:r>
            <a:endParaRPr kumimoji="1"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489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7C557-28F7-6C65-4C85-071F10F3F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9C41B3-CB36-6E11-72A4-746921108EBF}"/>
              </a:ext>
            </a:extLst>
          </p:cNvPr>
          <p:cNvSpPr>
            <a:spLocks noGrp="1"/>
          </p:cNvSpPr>
          <p:nvPr>
            <p:ph type="title"/>
          </p:nvPr>
        </p:nvSpPr>
        <p:spPr>
          <a:xfrm>
            <a:off x="1045372" y="132545"/>
            <a:ext cx="11288716" cy="692151"/>
          </a:xfrm>
        </p:spPr>
        <p:txBody>
          <a:bodyPr/>
          <a:lstStyle/>
          <a:p>
            <a:r>
              <a:rPr lang="en-US" altLang="zh-CN" sz="3600" dirty="0">
                <a:latin typeface="Times New Roman" panose="02020603050405020304" pitchFamily="18" charset="0"/>
                <a:cs typeface="Times New Roman" panose="02020603050405020304" pitchFamily="18" charset="0"/>
              </a:rPr>
              <a:t>Proposed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Methods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OSTD (OS Trust Domain)</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0E8AB022-B765-D7EF-D41E-82563C24FBC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20</a:t>
            </a:fld>
            <a:endParaRPr lang="zh-TW" altLang="en-US" dirty="0"/>
          </a:p>
        </p:txBody>
      </p:sp>
      <p:sp>
        <p:nvSpPr>
          <p:cNvPr id="3" name="AutoShape 2" descr="的图片">
            <a:extLst>
              <a:ext uri="{FF2B5EF4-FFF2-40B4-BE49-F238E27FC236}">
                <a16:creationId xmlns:a16="http://schemas.microsoft.com/office/drawing/2014/main" id="{B89E9959-7326-9A4E-0007-CE4993FB82A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的图片">
            <a:extLst>
              <a:ext uri="{FF2B5EF4-FFF2-40B4-BE49-F238E27FC236}">
                <a16:creationId xmlns:a16="http://schemas.microsoft.com/office/drawing/2014/main" id="{6D0A0087-3176-D127-9F92-398C3606044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15" name="图片 14">
            <a:extLst>
              <a:ext uri="{FF2B5EF4-FFF2-40B4-BE49-F238E27FC236}">
                <a16:creationId xmlns:a16="http://schemas.microsoft.com/office/drawing/2014/main" id="{122C0BE2-5F2D-469A-2780-87364712EC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18177"/>
            <a:ext cx="5912088" cy="3266478"/>
          </a:xfrm>
          <a:prstGeom prst="rect">
            <a:avLst/>
          </a:prstGeom>
        </p:spPr>
      </p:pic>
      <p:sp>
        <p:nvSpPr>
          <p:cNvPr id="9" name="文本框 8">
            <a:extLst>
              <a:ext uri="{FF2B5EF4-FFF2-40B4-BE49-F238E27FC236}">
                <a16:creationId xmlns:a16="http://schemas.microsoft.com/office/drawing/2014/main" id="{08634BF5-0350-6FBC-DCD1-5F55B892B9C5}"/>
              </a:ext>
            </a:extLst>
          </p:cNvPr>
          <p:cNvSpPr txBox="1"/>
          <p:nvPr/>
        </p:nvSpPr>
        <p:spPr>
          <a:xfrm>
            <a:off x="5943600" y="1643997"/>
            <a:ext cx="6173918" cy="4179606"/>
          </a:xfrm>
          <a:prstGeom prst="rect">
            <a:avLst/>
          </a:prstGeom>
          <a:noFill/>
        </p:spPr>
        <p:txBody>
          <a:bodyPr wrap="square">
            <a:spAutoFit/>
          </a:bodyPr>
          <a:lstStyle/>
          <a:p>
            <a:pPr algn="just" fontAlgn="base">
              <a:spcBef>
                <a:spcPct val="20000"/>
              </a:spcBef>
              <a:spcAft>
                <a:spcPct val="0"/>
              </a:spcAft>
              <a:buClr>
                <a:srgbClr val="0000FF"/>
              </a:buClr>
            </a:pPr>
            <a:r>
              <a:rPr kumimoji="1" lang="en-US" altLang="zh-CN" sz="1600" b="1" dirty="0">
                <a:latin typeface="Times New Roman" panose="02020603050405020304" pitchFamily="18" charset="0"/>
                <a:cs typeface="Times New Roman" panose="02020603050405020304" pitchFamily="18" charset="0"/>
              </a:rPr>
              <a:t>TCB Minimization: The OSTD</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The "5% Rule": </a:t>
            </a:r>
            <a:r>
              <a:rPr kumimoji="1" lang="en-US" altLang="zh-CN" sz="1600" dirty="0">
                <a:latin typeface="Times New Roman" panose="02020603050405020304" pitchFamily="18" charset="0"/>
                <a:cs typeface="Times New Roman" panose="02020603050405020304" pitchFamily="18" charset="0"/>
              </a:rPr>
              <a:t>Only ~5% of code (TCB) handles hardware-direct operations (MMU, Traps, Registers).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Safe Encapsulation: </a:t>
            </a:r>
            <a:r>
              <a:rPr kumimoji="1" lang="en-US" altLang="zh-CN" sz="1600" dirty="0">
                <a:latin typeface="Times New Roman" panose="02020603050405020304" pitchFamily="18" charset="0"/>
                <a:cs typeface="Times New Roman" panose="02020603050405020304" pitchFamily="18" charset="0"/>
              </a:rPr>
              <a:t>Restricts all unsafe Rust to the core OS Trust Domain (OSTD).</a:t>
            </a:r>
          </a:p>
          <a:p>
            <a:pPr algn="just" fontAlgn="base">
              <a:spcBef>
                <a:spcPct val="20000"/>
              </a:spcBef>
              <a:spcAft>
                <a:spcPct val="0"/>
              </a:spcAft>
              <a:buClr>
                <a:srgbClr val="0000FF"/>
              </a:buClr>
            </a:pPr>
            <a:r>
              <a:rPr kumimoji="1" lang="en-US" altLang="zh-CN" sz="1600" b="1" dirty="0">
                <a:latin typeface="Times New Roman" panose="02020603050405020304" pitchFamily="18" charset="0"/>
                <a:cs typeface="Times New Roman" panose="02020603050405020304" pitchFamily="18" charset="0"/>
              </a:rPr>
              <a:t>Safe-by-Construction: OSTD Clients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95% Safe Rust: </a:t>
            </a:r>
            <a:r>
              <a:rPr kumimoji="1" lang="en-US" altLang="zh-CN" sz="1600" dirty="0">
                <a:latin typeface="Times New Roman" panose="02020603050405020304" pitchFamily="18" charset="0"/>
                <a:cs typeface="Times New Roman" panose="02020603050405020304" pitchFamily="18" charset="0"/>
              </a:rPr>
              <a:t>Bulk of OS services are written in Safe Rust, eliminating memory corruption at compile time.</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Compiler-Enforced: </a:t>
            </a:r>
            <a:r>
              <a:rPr kumimoji="1" lang="en-US" altLang="zh-CN" sz="1600" dirty="0">
                <a:latin typeface="Times New Roman" panose="02020603050405020304" pitchFamily="18" charset="0"/>
                <a:cs typeface="Times New Roman" panose="02020603050405020304" pitchFamily="18" charset="0"/>
              </a:rPr>
              <a:t>Rust’s ownership and borrowing rules act as a 24/7 automated security auditor.</a:t>
            </a:r>
          </a:p>
          <a:p>
            <a:pPr algn="just" fontAlgn="base">
              <a:spcBef>
                <a:spcPct val="20000"/>
              </a:spcBef>
              <a:spcAft>
                <a:spcPct val="0"/>
              </a:spcAft>
              <a:buClr>
                <a:srgbClr val="0000FF"/>
              </a:buClr>
            </a:pPr>
            <a:r>
              <a:rPr kumimoji="1" lang="en-US" altLang="zh-CN" sz="1600" b="1" dirty="0">
                <a:latin typeface="Times New Roman" panose="02020603050405020304" pitchFamily="18" charset="0"/>
                <a:cs typeface="Times New Roman" panose="02020603050405020304" pitchFamily="18" charset="0"/>
              </a:rPr>
              <a:t>Logical Memory Firewall</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Privilege Stripping: </a:t>
            </a:r>
            <a:r>
              <a:rPr kumimoji="1" lang="en-US" altLang="zh-CN" sz="1600" dirty="0">
                <a:latin typeface="Times New Roman" panose="02020603050405020304" pitchFamily="18" charset="0"/>
                <a:cs typeface="Times New Roman" panose="02020603050405020304" pitchFamily="18" charset="0"/>
              </a:rPr>
              <a:t>Services (Clients) lack unsafe authority; they cannot overwrite other kernel modules.</a:t>
            </a: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API-Bound Workflow: </a:t>
            </a:r>
            <a:r>
              <a:rPr kumimoji="1" lang="en-US" altLang="zh-CN" sz="1600" dirty="0">
                <a:latin typeface="Times New Roman" panose="02020603050405020304" pitchFamily="18" charset="0"/>
                <a:cs typeface="Times New Roman" panose="02020603050405020304" pitchFamily="18" charset="0"/>
              </a:rPr>
              <a:t>Mandatory interaction with OSTD for sensitive tasks (e.g., data copying) creates a functional firewall.</a:t>
            </a:r>
          </a:p>
        </p:txBody>
      </p:sp>
      <p:sp>
        <p:nvSpPr>
          <p:cNvPr id="10" name="文本框 9">
            <a:extLst>
              <a:ext uri="{FF2B5EF4-FFF2-40B4-BE49-F238E27FC236}">
                <a16:creationId xmlns:a16="http://schemas.microsoft.com/office/drawing/2014/main" id="{4810BCB5-DD6D-3DA7-811E-6B3F573DDBB2}"/>
              </a:ext>
            </a:extLst>
          </p:cNvPr>
          <p:cNvSpPr txBox="1"/>
          <p:nvPr/>
        </p:nvSpPr>
        <p:spPr>
          <a:xfrm>
            <a:off x="459778" y="5266712"/>
            <a:ext cx="4992532" cy="338554"/>
          </a:xfrm>
          <a:prstGeom prst="rect">
            <a:avLst/>
          </a:prstGeom>
          <a:noFill/>
        </p:spPr>
        <p:txBody>
          <a:bodyPr wrap="square">
            <a:spAutoFit/>
          </a:bodyPr>
          <a:lstStyle/>
          <a:p>
            <a:r>
              <a:rPr kumimoji="1" lang="en-US" altLang="zh-CN" sz="1600" dirty="0">
                <a:latin typeface="Times New Roman" panose="02020603050405020304" pitchFamily="18" charset="0"/>
                <a:cs typeface="Times New Roman" panose="02020603050405020304" pitchFamily="18" charset="0"/>
              </a:rPr>
              <a:t>Fig. 11:</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An example of OSTD APIs: system call handling</a:t>
            </a:r>
            <a:endParaRPr kumimoji="1"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813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1434-35AE-3381-CD8C-41E2817C9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EC870-BF9A-48CE-E7A1-595769AD4251}"/>
              </a:ext>
            </a:extLst>
          </p:cNvPr>
          <p:cNvSpPr>
            <a:spLocks noGrp="1"/>
          </p:cNvSpPr>
          <p:nvPr>
            <p:ph type="title"/>
          </p:nvPr>
        </p:nvSpPr>
        <p:spPr>
          <a:xfrm>
            <a:off x="1045372" y="132545"/>
            <a:ext cx="11288716" cy="692151"/>
          </a:xfrm>
        </p:spPr>
        <p:txBody>
          <a:bodyPr/>
          <a:lstStyle/>
          <a:p>
            <a:r>
              <a:rPr lang="en-US" altLang="zh-CN" sz="3600" dirty="0">
                <a:latin typeface="Times New Roman" panose="02020603050405020304" pitchFamily="18" charset="0"/>
                <a:cs typeface="Times New Roman" panose="02020603050405020304" pitchFamily="18" charset="0"/>
              </a:rPr>
              <a:t>Proposed</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Methods</a:t>
            </a:r>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 </a:t>
            </a:r>
            <a:r>
              <a:rPr lang="en-US" altLang="zh-CN" sz="3600" dirty="0" err="1">
                <a:latin typeface="Times New Roman" panose="02020603050405020304" pitchFamily="18" charset="0"/>
                <a:cs typeface="Times New Roman" panose="02020603050405020304" pitchFamily="18" charset="0"/>
              </a:rPr>
              <a:t>Asterinas</a:t>
            </a:r>
            <a:endParaRPr lang="en-US" sz="36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FC4B2BAD-6D86-0528-D233-2BD4D3651AB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21</a:t>
            </a:fld>
            <a:endParaRPr lang="zh-TW" altLang="en-US" dirty="0"/>
          </a:p>
        </p:txBody>
      </p:sp>
      <p:sp>
        <p:nvSpPr>
          <p:cNvPr id="3" name="AutoShape 2" descr="的图片">
            <a:extLst>
              <a:ext uri="{FF2B5EF4-FFF2-40B4-BE49-F238E27FC236}">
                <a16:creationId xmlns:a16="http://schemas.microsoft.com/office/drawing/2014/main" id="{E708792D-649D-2ED0-D9AB-63E791B4B1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的图片">
            <a:extLst>
              <a:ext uri="{FF2B5EF4-FFF2-40B4-BE49-F238E27FC236}">
                <a16:creationId xmlns:a16="http://schemas.microsoft.com/office/drawing/2014/main" id="{94CB71CE-53D1-0BA8-B848-68140FB8231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p>
        </p:txBody>
      </p:sp>
      <p:pic>
        <p:nvPicPr>
          <p:cNvPr id="7" name="图片 6" descr="图片包含 日程表&#10;&#10;AI 生成的内容可能不正确。">
            <a:extLst>
              <a:ext uri="{FF2B5EF4-FFF2-40B4-BE49-F238E27FC236}">
                <a16:creationId xmlns:a16="http://schemas.microsoft.com/office/drawing/2014/main" id="{C4324A18-4619-952D-B4F1-46A6A287D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33273"/>
            <a:ext cx="7772400" cy="4669991"/>
          </a:xfrm>
          <a:prstGeom prst="rect">
            <a:avLst/>
          </a:prstGeom>
        </p:spPr>
      </p:pic>
      <p:sp>
        <p:nvSpPr>
          <p:cNvPr id="8" name="文本框 7">
            <a:extLst>
              <a:ext uri="{FF2B5EF4-FFF2-40B4-BE49-F238E27FC236}">
                <a16:creationId xmlns:a16="http://schemas.microsoft.com/office/drawing/2014/main" id="{D1D6AB32-0272-7CDC-4C62-53D9AD9A546D}"/>
              </a:ext>
            </a:extLst>
          </p:cNvPr>
          <p:cNvSpPr txBox="1"/>
          <p:nvPr/>
        </p:nvSpPr>
        <p:spPr>
          <a:xfrm>
            <a:off x="7830726" y="2821191"/>
            <a:ext cx="3591624" cy="1520416"/>
          </a:xfrm>
          <a:prstGeom prst="rect">
            <a:avLst/>
          </a:prstGeom>
          <a:noFill/>
        </p:spPr>
        <p:txBody>
          <a:bodyPr wrap="none" rtlCol="0" anchor="ctr" anchorCtr="1">
            <a:spAutoFit/>
          </a:bodyPr>
          <a:lstStyle/>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Dual-layer Security Boundary</a:t>
            </a:r>
          </a:p>
          <a:p>
            <a:pPr algn="just" fontAlgn="base">
              <a:spcBef>
                <a:spcPct val="20000"/>
              </a:spcBef>
              <a:spcAft>
                <a:spcPct val="0"/>
              </a:spcAft>
              <a:buClr>
                <a:srgbClr val="0000FF"/>
              </a:buClr>
            </a:pPr>
            <a:endParaRPr kumimoji="1" lang="en-US" altLang="zh-CN" sz="1600" b="1" dirty="0">
              <a:latin typeface="Times New Roman" panose="02020603050405020304" pitchFamily="18" charset="0"/>
              <a:cs typeface="Times New Roman" panose="02020603050405020304" pitchFamily="18" charset="0"/>
            </a:endParaRP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Hardware Resource Encapsulation</a:t>
            </a:r>
          </a:p>
          <a:p>
            <a:pPr marL="285750" indent="-342900" algn="just" fontAlgn="base">
              <a:spcBef>
                <a:spcPct val="20000"/>
              </a:spcBef>
              <a:spcAft>
                <a:spcPct val="0"/>
              </a:spcAft>
              <a:buClr>
                <a:srgbClr val="0000FF"/>
              </a:buClr>
              <a:buFont typeface="Arial" panose="020B0604020202020204" pitchFamily="34" charset="0"/>
              <a:buChar char="•"/>
            </a:pPr>
            <a:endParaRPr kumimoji="1" lang="en-US" altLang="zh-CN" sz="1600" b="1" dirty="0">
              <a:latin typeface="Times New Roman" panose="02020603050405020304" pitchFamily="18" charset="0"/>
              <a:cs typeface="Times New Roman" panose="02020603050405020304" pitchFamily="18" charset="0"/>
            </a:endParaRPr>
          </a:p>
          <a:p>
            <a:pPr marL="285750" indent="-342900" algn="just" fontAlgn="base">
              <a:spcBef>
                <a:spcPct val="20000"/>
              </a:spcBef>
              <a:spcAft>
                <a:spcPct val="0"/>
              </a:spcAft>
              <a:buClr>
                <a:srgbClr val="0000FF"/>
              </a:buClr>
              <a:buFont typeface="Arial" panose="020B0604020202020204" pitchFamily="34" charset="0"/>
              <a:buChar char="•"/>
            </a:pPr>
            <a:r>
              <a:rPr kumimoji="1" lang="en-US" altLang="zh-CN" sz="1600" b="1" dirty="0">
                <a:latin typeface="Times New Roman" panose="02020603050405020304" pitchFamily="18" charset="0"/>
                <a:cs typeface="Times New Roman" panose="02020603050405020304" pitchFamily="18" charset="0"/>
              </a:rPr>
              <a:t>Memory Safety Guarantee</a:t>
            </a:r>
            <a:endParaRPr kumimoji="1" lang="zh-CN" altLang="en-US" sz="16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262A681-E6D4-E12D-7F3C-05560028B9B5}"/>
              </a:ext>
            </a:extLst>
          </p:cNvPr>
          <p:cNvSpPr txBox="1"/>
          <p:nvPr/>
        </p:nvSpPr>
        <p:spPr>
          <a:xfrm>
            <a:off x="2406316" y="5703264"/>
            <a:ext cx="2959768" cy="338554"/>
          </a:xfrm>
          <a:prstGeom prst="rect">
            <a:avLst/>
          </a:prstGeom>
          <a:noFill/>
        </p:spPr>
        <p:txBody>
          <a:bodyPr wrap="square">
            <a:spAutoFit/>
          </a:bodyPr>
          <a:lstStyle/>
          <a:p>
            <a:r>
              <a:rPr kumimoji="1" lang="en-US" altLang="zh-CN" sz="1600" dirty="0">
                <a:latin typeface="Times New Roman" panose="02020603050405020304" pitchFamily="18" charset="0"/>
                <a:cs typeface="Times New Roman" panose="02020603050405020304" pitchFamily="18" charset="0"/>
              </a:rPr>
              <a:t>Fig. 12:</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An overview of </a:t>
            </a:r>
            <a:r>
              <a:rPr kumimoji="1" lang="en-US" altLang="zh-CN" sz="1600" dirty="0" err="1">
                <a:latin typeface="Times New Roman" panose="02020603050405020304" pitchFamily="18" charset="0"/>
                <a:cs typeface="Times New Roman" panose="02020603050405020304" pitchFamily="18" charset="0"/>
              </a:rPr>
              <a:t>Asterinas</a:t>
            </a:r>
            <a:r>
              <a:rPr kumimoji="1" lang="en-US" altLang="zh-CN" sz="1600" dirty="0">
                <a:latin typeface="Times New Roman" panose="02020603050405020304" pitchFamily="18" charset="0"/>
                <a:cs typeface="Times New Roman" panose="02020603050405020304" pitchFamily="18" charset="0"/>
              </a:rPr>
              <a:t>.</a:t>
            </a:r>
            <a:endParaRPr kumimoji="1"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780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sz="3600" dirty="0">
                <a:latin typeface="Times New Roman" panose="02020603050405020304" pitchFamily="18" charset="0"/>
                <a:cs typeface="Times New Roman" panose="02020603050405020304" pitchFamily="18" charset="0"/>
              </a:rPr>
              <a:t>Performance Evaluation - </a:t>
            </a:r>
            <a:r>
              <a:rPr lang="en-US" altLang="zh-CN" sz="3600" dirty="0" err="1">
                <a:latin typeface="Times New Roman" panose="02020603050405020304" pitchFamily="18" charset="0"/>
                <a:cs typeface="Times New Roman" panose="02020603050405020304" pitchFamily="18" charset="0"/>
              </a:rPr>
              <a:t>Asterinas</a:t>
            </a:r>
            <a:endParaRPr lang="zh-TW" altLang="en-US" sz="3600" dirty="0">
              <a:latin typeface="Times New Roman" panose="02020603050405020304" pitchFamily="18" charset="0"/>
              <a:cs typeface="Times New Roman" panose="02020603050405020304" pitchFamily="18" charset="0"/>
            </a:endParaRPr>
          </a:p>
        </p:txBody>
      </p:sp>
      <p:sp>
        <p:nvSpPr>
          <p:cNvPr id="5" name="灯片编号占位符 1">
            <a:extLst>
              <a:ext uri="{FF2B5EF4-FFF2-40B4-BE49-F238E27FC236}">
                <a16:creationId xmlns:a16="http://schemas.microsoft.com/office/drawing/2014/main" id="{219C45F4-7572-2CE8-3D02-7331B11AB2D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22</a:t>
            </a:fld>
            <a:endParaRPr lang="zh-TW" altLang="en-US"/>
          </a:p>
        </p:txBody>
      </p:sp>
      <p:pic>
        <p:nvPicPr>
          <p:cNvPr id="7" name="图片 6" descr="图表, 条形图&#10;&#10;AI 生成的内容可能不正确。">
            <a:extLst>
              <a:ext uri="{FF2B5EF4-FFF2-40B4-BE49-F238E27FC236}">
                <a16:creationId xmlns:a16="http://schemas.microsoft.com/office/drawing/2014/main" id="{01E77AC6-9308-F42E-FBB5-7AB21F38B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4477" y="1072581"/>
            <a:ext cx="7600942" cy="1494745"/>
          </a:xfrm>
          <a:prstGeom prst="rect">
            <a:avLst/>
          </a:prstGeom>
        </p:spPr>
      </p:pic>
      <p:sp>
        <p:nvSpPr>
          <p:cNvPr id="10" name="文本框 9">
            <a:extLst>
              <a:ext uri="{FF2B5EF4-FFF2-40B4-BE49-F238E27FC236}">
                <a16:creationId xmlns:a16="http://schemas.microsoft.com/office/drawing/2014/main" id="{8735EF23-ACF0-CCB9-2DDF-12926AFB485D}"/>
              </a:ext>
            </a:extLst>
          </p:cNvPr>
          <p:cNvSpPr txBox="1"/>
          <p:nvPr/>
        </p:nvSpPr>
        <p:spPr>
          <a:xfrm>
            <a:off x="5034587" y="2476714"/>
            <a:ext cx="6620723" cy="338554"/>
          </a:xfrm>
          <a:prstGeom prst="rect">
            <a:avLst/>
          </a:prstGeom>
          <a:noFill/>
        </p:spPr>
        <p:txBody>
          <a:bodyPr wrap="none" rtlCol="0" anchor="ctr" anchorCtr="1">
            <a:spAutoFit/>
          </a:bodyPr>
          <a:lstStyle/>
          <a:p>
            <a:r>
              <a:rPr kumimoji="1" lang="en-US" altLang="zh-CN" sz="1600" dirty="0">
                <a:latin typeface="Times New Roman" panose="02020603050405020304" pitchFamily="18" charset="0"/>
                <a:cs typeface="Times New Roman" panose="02020603050405020304" pitchFamily="18" charset="0"/>
              </a:rPr>
              <a:t>Fig. 13:</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I/O-intensive application benchmarks with </a:t>
            </a:r>
            <a:r>
              <a:rPr kumimoji="1" lang="en-US" altLang="zh-CN" sz="1600" dirty="0" err="1">
                <a:latin typeface="Times New Roman" panose="02020603050405020304" pitchFamily="18" charset="0"/>
                <a:cs typeface="Times New Roman" panose="02020603050405020304" pitchFamily="18" charset="0"/>
              </a:rPr>
              <a:t>Ngnix</a:t>
            </a:r>
            <a:r>
              <a:rPr kumimoji="1" lang="en-US" altLang="zh-CN" sz="1600" dirty="0">
                <a:latin typeface="Times New Roman" panose="02020603050405020304" pitchFamily="18" charset="0"/>
                <a:cs typeface="Times New Roman" panose="02020603050405020304" pitchFamily="18" charset="0"/>
              </a:rPr>
              <a:t>, Redis, and SQLite.</a:t>
            </a:r>
            <a:endParaRPr kumimoji="1" lang="zh-CN" altLang="en-US" sz="1600" dirty="0">
              <a:latin typeface="Times New Roman" panose="02020603050405020304" pitchFamily="18" charset="0"/>
              <a:cs typeface="Times New Roman" panose="02020603050405020304" pitchFamily="18" charset="0"/>
            </a:endParaRPr>
          </a:p>
        </p:txBody>
      </p:sp>
      <p:pic>
        <p:nvPicPr>
          <p:cNvPr id="12" name="图片 11" descr="手机屏幕截图&#10;&#10;AI 生成的内容可能不正确。">
            <a:extLst>
              <a:ext uri="{FF2B5EF4-FFF2-40B4-BE49-F238E27FC236}">
                <a16:creationId xmlns:a16="http://schemas.microsoft.com/office/drawing/2014/main" id="{E16459C7-6519-7D98-19E8-2224E61D483F}"/>
              </a:ext>
            </a:extLst>
          </p:cNvPr>
          <p:cNvPicPr>
            <a:picLocks noChangeAspect="1"/>
          </p:cNvPicPr>
          <p:nvPr/>
        </p:nvPicPr>
        <p:blipFill>
          <a:blip r:embed="rId4">
            <a:extLst>
              <a:ext uri="{28A0092B-C50C-407E-A947-70E740481C1C}">
                <a14:useLocalDpi xmlns:a14="http://schemas.microsoft.com/office/drawing/2010/main" val="0"/>
              </a:ext>
            </a:extLst>
          </a:blip>
          <a:srcRect t="1008"/>
          <a:stretch>
            <a:fillRect/>
          </a:stretch>
        </p:blipFill>
        <p:spPr>
          <a:xfrm>
            <a:off x="197391" y="1163493"/>
            <a:ext cx="4378378" cy="4655559"/>
          </a:xfrm>
          <a:prstGeom prst="rect">
            <a:avLst/>
          </a:prstGeom>
        </p:spPr>
      </p:pic>
      <p:sp>
        <p:nvSpPr>
          <p:cNvPr id="13" name="文本框 12">
            <a:extLst>
              <a:ext uri="{FF2B5EF4-FFF2-40B4-BE49-F238E27FC236}">
                <a16:creationId xmlns:a16="http://schemas.microsoft.com/office/drawing/2014/main" id="{4F2E0449-825C-90EB-9817-71269DBA02FF}"/>
              </a:ext>
            </a:extLst>
          </p:cNvPr>
          <p:cNvSpPr txBox="1"/>
          <p:nvPr/>
        </p:nvSpPr>
        <p:spPr>
          <a:xfrm>
            <a:off x="-61808" y="5739818"/>
            <a:ext cx="5096395" cy="338554"/>
          </a:xfrm>
          <a:prstGeom prst="rect">
            <a:avLst/>
          </a:prstGeom>
          <a:noFill/>
        </p:spPr>
        <p:txBody>
          <a:bodyPr wrap="none" rtlCol="0" anchor="ctr" anchorCtr="1">
            <a:spAutoFit/>
          </a:bodyPr>
          <a:lstStyle/>
          <a:p>
            <a:r>
              <a:rPr kumimoji="1" lang="en-US" altLang="zh-CN" sz="1600" dirty="0">
                <a:latin typeface="Times New Roman" panose="02020603050405020304" pitchFamily="18" charset="0"/>
                <a:cs typeface="Times New Roman" panose="02020603050405020304" pitchFamily="18" charset="0"/>
              </a:rPr>
              <a:t>Table</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3: System call-intensive </a:t>
            </a:r>
            <a:r>
              <a:rPr kumimoji="1" lang="en-US" altLang="zh-CN" sz="1600" dirty="0" err="1">
                <a:latin typeface="Times New Roman" panose="02020603050405020304" pitchFamily="18" charset="0"/>
                <a:cs typeface="Times New Roman" panose="02020603050405020304" pitchFamily="18" charset="0"/>
              </a:rPr>
              <a:t>LMbench</a:t>
            </a:r>
            <a:r>
              <a:rPr kumimoji="1" lang="en-US" altLang="zh-CN" sz="1600" dirty="0">
                <a:latin typeface="Times New Roman" panose="02020603050405020304" pitchFamily="18" charset="0"/>
                <a:cs typeface="Times New Roman" panose="02020603050405020304" pitchFamily="18" charset="0"/>
              </a:rPr>
              <a:t> microbenchmarks.</a:t>
            </a:r>
            <a:endParaRPr kumimoji="1" lang="zh-CN" altLang="en-US" sz="1600" dirty="0">
              <a:latin typeface="Times New Roman" panose="02020603050405020304" pitchFamily="18" charset="0"/>
              <a:cs typeface="Times New Roman" panose="02020603050405020304" pitchFamily="18" charset="0"/>
            </a:endParaRPr>
          </a:p>
        </p:txBody>
      </p:sp>
      <p:pic>
        <p:nvPicPr>
          <p:cNvPr id="15" name="图片 14" descr="表格&#10;&#10;AI 生成的内容可能不正确。">
            <a:extLst>
              <a:ext uri="{FF2B5EF4-FFF2-40B4-BE49-F238E27FC236}">
                <a16:creationId xmlns:a16="http://schemas.microsoft.com/office/drawing/2014/main" id="{09DEE138-5452-CC28-E1DB-7BB21CE002E3}"/>
              </a:ext>
            </a:extLst>
          </p:cNvPr>
          <p:cNvPicPr>
            <a:picLocks noChangeAspect="1"/>
          </p:cNvPicPr>
          <p:nvPr/>
        </p:nvPicPr>
        <p:blipFill>
          <a:blip r:embed="rId5">
            <a:extLst>
              <a:ext uri="{28A0092B-C50C-407E-A947-70E740481C1C}">
                <a14:useLocalDpi xmlns:a14="http://schemas.microsoft.com/office/drawing/2010/main" val="0"/>
              </a:ext>
            </a:extLst>
          </a:blip>
          <a:srcRect t="11032"/>
          <a:stretch>
            <a:fillRect/>
          </a:stretch>
        </p:blipFill>
        <p:spPr>
          <a:xfrm>
            <a:off x="5614290" y="3185514"/>
            <a:ext cx="5461319" cy="2599905"/>
          </a:xfrm>
          <a:prstGeom prst="rect">
            <a:avLst/>
          </a:prstGeom>
        </p:spPr>
      </p:pic>
      <p:sp>
        <p:nvSpPr>
          <p:cNvPr id="17" name="文本框 16">
            <a:extLst>
              <a:ext uri="{FF2B5EF4-FFF2-40B4-BE49-F238E27FC236}">
                <a16:creationId xmlns:a16="http://schemas.microsoft.com/office/drawing/2014/main" id="{CF356E24-1BFB-2B82-130E-A622065CA659}"/>
              </a:ext>
            </a:extLst>
          </p:cNvPr>
          <p:cNvSpPr txBox="1"/>
          <p:nvPr/>
        </p:nvSpPr>
        <p:spPr>
          <a:xfrm>
            <a:off x="6308727" y="5570541"/>
            <a:ext cx="4797697" cy="338554"/>
          </a:xfrm>
          <a:prstGeom prst="rect">
            <a:avLst/>
          </a:prstGeom>
          <a:noFill/>
        </p:spPr>
        <p:txBody>
          <a:bodyPr wrap="square">
            <a:spAutoFit/>
          </a:bodyPr>
          <a:lstStyle/>
          <a:p>
            <a:r>
              <a:rPr kumimoji="1" lang="en-US" altLang="zh-CN" sz="1600" dirty="0">
                <a:latin typeface="Times New Roman" panose="02020603050405020304" pitchFamily="18" charset="0"/>
                <a:cs typeface="Times New Roman" panose="02020603050405020304" pitchFamily="18" charset="0"/>
              </a:rPr>
              <a:t>Table</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4: Overhead due to OSTD’s safety mechanism.</a:t>
            </a:r>
            <a:endParaRPr kumimoji="1"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854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Virtualization Techniques</a:t>
            </a:r>
            <a:endParaRPr lang="zh-TW" altLang="en-US" dirty="0"/>
          </a:p>
        </p:txBody>
      </p:sp>
      <p:sp>
        <p:nvSpPr>
          <p:cNvPr id="5" name="文字版面配置區 4"/>
          <p:cNvSpPr>
            <a:spLocks noGrp="1"/>
          </p:cNvSpPr>
          <p:nvPr>
            <p:ph type="body" idx="1"/>
          </p:nvPr>
        </p:nvSpPr>
        <p:spPr>
          <a:xfrm>
            <a:off x="2246313" y="1844824"/>
            <a:ext cx="7772400" cy="2562077"/>
          </a:xfrm>
        </p:spPr>
        <p:txBody>
          <a:bodyPr>
            <a:normAutofit fontScale="62500" lnSpcReduction="20000"/>
          </a:bodyPr>
          <a:lstStyle/>
          <a:p>
            <a:r>
              <a:rPr lang="en-US" altLang="zh-CN" sz="4000" dirty="0">
                <a:latin typeface="Times New Roman" panose="02020603050405020304" pitchFamily="18" charset="0"/>
                <a:cs typeface="Times New Roman" panose="02020603050405020304" pitchFamily="18" charset="0"/>
              </a:rPr>
              <a:t>Introduction</a:t>
            </a:r>
            <a:endParaRPr lang="en-US" altLang="zh-TW" sz="4000" dirty="0">
              <a:latin typeface="Times New Roman" panose="02020603050405020304" pitchFamily="18" charset="0"/>
              <a:cs typeface="Times New Roman" panose="02020603050405020304" pitchFamily="18" charset="0"/>
            </a:endParaRPr>
          </a:p>
          <a:p>
            <a:r>
              <a:rPr lang="en-US" altLang="zh-CN" sz="4000" dirty="0">
                <a:latin typeface="Times New Roman" panose="02020603050405020304" pitchFamily="18" charset="0"/>
                <a:cs typeface="Times New Roman" panose="02020603050405020304" pitchFamily="18" charset="0"/>
              </a:rPr>
              <a:t>Related</a:t>
            </a:r>
            <a:r>
              <a:rPr lang="zh-CN" altLang="en-US" sz="4000" dirty="0">
                <a:latin typeface="Times New Roman" panose="02020603050405020304" pitchFamily="18" charset="0"/>
                <a:cs typeface="Times New Roman" panose="02020603050405020304" pitchFamily="18" charset="0"/>
              </a:rPr>
              <a:t> </a:t>
            </a:r>
            <a:r>
              <a:rPr lang="en-US" altLang="zh-CN" sz="4000" dirty="0">
                <a:latin typeface="Times New Roman" panose="02020603050405020304" pitchFamily="18" charset="0"/>
                <a:cs typeface="Times New Roman" panose="02020603050405020304" pitchFamily="18" charset="0"/>
              </a:rPr>
              <a:t>Work</a:t>
            </a:r>
          </a:p>
          <a:p>
            <a:r>
              <a:rPr lang="en-US" altLang="zh-CN" sz="4000" dirty="0">
                <a:latin typeface="Times New Roman" panose="02020603050405020304" pitchFamily="18" charset="0"/>
                <a:cs typeface="Times New Roman" panose="02020603050405020304" pitchFamily="18" charset="0"/>
              </a:rPr>
              <a:t>Preliminaries</a:t>
            </a:r>
          </a:p>
          <a:p>
            <a:r>
              <a:rPr lang="en-US" altLang="zh-CN" sz="4000" dirty="0">
                <a:latin typeface="Times New Roman" panose="02020603050405020304" pitchFamily="18" charset="0"/>
                <a:cs typeface="Times New Roman" panose="02020603050405020304" pitchFamily="18" charset="0"/>
              </a:rPr>
              <a:t>Proposed Methods</a:t>
            </a:r>
          </a:p>
          <a:p>
            <a:r>
              <a:rPr lang="en-US" altLang="zh-CN" sz="4000" dirty="0">
                <a:latin typeface="Times New Roman" panose="02020603050405020304" pitchFamily="18" charset="0"/>
                <a:cs typeface="Times New Roman" panose="02020603050405020304" pitchFamily="18" charset="0"/>
              </a:rPr>
              <a:t>Performance Evaluation </a:t>
            </a:r>
          </a:p>
          <a:p>
            <a:r>
              <a:rPr lang="en-US" altLang="zh-CN" sz="4000" dirty="0">
                <a:solidFill>
                  <a:srgbClr val="FF0000"/>
                </a:solidFill>
                <a:latin typeface="Times New Roman" panose="02020603050405020304" pitchFamily="18" charset="0"/>
                <a:cs typeface="Times New Roman" panose="02020603050405020304" pitchFamily="18" charset="0"/>
              </a:rPr>
              <a:t>Conclusions</a:t>
            </a:r>
          </a:p>
        </p:txBody>
      </p:sp>
      <p:sp>
        <p:nvSpPr>
          <p:cNvPr id="2" name="灯片编号占位符 1">
            <a:extLst>
              <a:ext uri="{FF2B5EF4-FFF2-40B4-BE49-F238E27FC236}">
                <a16:creationId xmlns:a16="http://schemas.microsoft.com/office/drawing/2014/main" id="{3492B67B-1436-E4F4-D617-281427E8227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1983296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78CC-5188-87E5-0381-3D070298451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DDBEBA-625D-637F-392C-CC9A9E08E663}"/>
              </a:ext>
            </a:extLst>
          </p:cNvPr>
          <p:cNvSpPr>
            <a:spLocks noGrp="1"/>
          </p:cNvSpPr>
          <p:nvPr>
            <p:ph type="title"/>
          </p:nvPr>
        </p:nvSpPr>
        <p:spPr/>
        <p:txBody>
          <a:bodyPr/>
          <a:lstStyle/>
          <a:p>
            <a:r>
              <a:rPr lang="en-US" altLang="zh-CN" sz="3600" dirty="0">
                <a:latin typeface="Times New Roman" panose="02020603050405020304" pitchFamily="18" charset="0"/>
                <a:cs typeface="Times New Roman" panose="02020603050405020304" pitchFamily="18" charset="0"/>
              </a:rPr>
              <a:t>Conclusion</a:t>
            </a:r>
            <a:endParaRPr lang="zh-TW" altLang="en-US" sz="3600" dirty="0">
              <a:latin typeface="Times New Roman" panose="02020603050405020304" pitchFamily="18" charset="0"/>
              <a:cs typeface="Times New Roman" panose="02020603050405020304" pitchFamily="18" charset="0"/>
            </a:endParaRPr>
          </a:p>
        </p:txBody>
      </p:sp>
      <p:sp>
        <p:nvSpPr>
          <p:cNvPr id="5" name="灯片编号占位符 1">
            <a:extLst>
              <a:ext uri="{FF2B5EF4-FFF2-40B4-BE49-F238E27FC236}">
                <a16:creationId xmlns:a16="http://schemas.microsoft.com/office/drawing/2014/main" id="{249D18D6-E727-E4DA-7031-6BC58D222E62}"/>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24</a:t>
            </a:fld>
            <a:endParaRPr lang="zh-TW" altLang="en-US"/>
          </a:p>
        </p:txBody>
      </p:sp>
      <p:sp>
        <p:nvSpPr>
          <p:cNvPr id="6" name="文本框 5">
            <a:extLst>
              <a:ext uri="{FF2B5EF4-FFF2-40B4-BE49-F238E27FC236}">
                <a16:creationId xmlns:a16="http://schemas.microsoft.com/office/drawing/2014/main" id="{6D152059-E541-3B18-3F51-6CB0787972B5}"/>
              </a:ext>
            </a:extLst>
          </p:cNvPr>
          <p:cNvSpPr txBox="1"/>
          <p:nvPr/>
        </p:nvSpPr>
        <p:spPr>
          <a:xfrm>
            <a:off x="0" y="1169250"/>
            <a:ext cx="12192000" cy="5152180"/>
          </a:xfrm>
          <a:prstGeom prst="rect">
            <a:avLst/>
          </a:prstGeom>
          <a:noFill/>
        </p:spPr>
        <p:txBody>
          <a:bodyPr wrap="square" rtlCol="0" anchor="ctr" anchorCtr="1">
            <a:spAutoFit/>
          </a:bodyPr>
          <a:lstStyle/>
          <a:p>
            <a:pPr algn="just" fontAlgn="base">
              <a:spcBef>
                <a:spcPct val="20000"/>
              </a:spcBef>
              <a:spcAft>
                <a:spcPct val="0"/>
              </a:spcAft>
              <a:buClr>
                <a:srgbClr val="0000FF"/>
              </a:buClr>
            </a:pPr>
            <a:r>
              <a:rPr kumimoji="1" lang="en-US" altLang="zh-CN" sz="1400" b="1" i="1" dirty="0">
                <a:latin typeface="Times New Roman" panose="02020603050405020304" pitchFamily="18" charset="0"/>
                <a:cs typeface="Times New Roman" panose="02020603050405020304" pitchFamily="18" charset="0"/>
              </a:rPr>
              <a:t>Improving IPC by Kernel Design (Liedtke '93)</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Key Achievement: </a:t>
            </a:r>
            <a:r>
              <a:rPr kumimoji="1" lang="en-US" altLang="zh-CN" sz="1400" dirty="0">
                <a:latin typeface="Times New Roman" panose="02020603050405020304" pitchFamily="18" charset="0"/>
                <a:cs typeface="Times New Roman" panose="02020603050405020304" pitchFamily="18" charset="0"/>
              </a:rPr>
              <a:t>Proved that microkernel performance issues were not an inherent architectural flaw but an implementation failure. Significantly boosted IPC speed through register-based parameter passing and direct process switching.</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Limitations: </a:t>
            </a:r>
            <a:r>
              <a:rPr kumimoji="1" lang="en-US" altLang="zh-CN" sz="1400" dirty="0">
                <a:latin typeface="Times New Roman" panose="02020603050405020304" pitchFamily="18" charset="0"/>
                <a:cs typeface="Times New Roman" panose="02020603050405020304" pitchFamily="18" charset="0"/>
              </a:rPr>
              <a:t>While it solved the "speed" problem, kernels written in C remained vulnerable to memory safety exploits and lacked rigorous formal security guarantees.</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Transition: </a:t>
            </a:r>
            <a:r>
              <a:rPr kumimoji="1" lang="en-US" altLang="zh-CN" sz="1400" dirty="0">
                <a:latin typeface="Times New Roman" panose="02020603050405020304" pitchFamily="18" charset="0"/>
                <a:cs typeface="Times New Roman" panose="02020603050405020304" pitchFamily="18" charset="0"/>
              </a:rPr>
              <a:t>To achieve ultimate security alongside high performance, research shifted toward mathematical formal verification.</a:t>
            </a:r>
          </a:p>
          <a:p>
            <a:pPr algn="just" fontAlgn="base">
              <a:spcBef>
                <a:spcPct val="20000"/>
              </a:spcBef>
              <a:spcAft>
                <a:spcPct val="0"/>
              </a:spcAft>
              <a:buClr>
                <a:srgbClr val="0000FF"/>
              </a:buClr>
            </a:pPr>
            <a:r>
              <a:rPr kumimoji="1" lang="en-US" altLang="zh-CN" sz="1400" b="1" i="1" dirty="0">
                <a:latin typeface="Times New Roman" panose="02020603050405020304" pitchFamily="18" charset="0"/>
                <a:cs typeface="Times New Roman" panose="02020603050405020304" pitchFamily="18" charset="0"/>
              </a:rPr>
              <a:t>seL4: Formal Verification of an OS Kernel (seL4 '09)</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Key Achievement: </a:t>
            </a:r>
            <a:r>
              <a:rPr kumimoji="1" lang="en-US" altLang="zh-CN" sz="1400" dirty="0">
                <a:latin typeface="Times New Roman" panose="02020603050405020304" pitchFamily="18" charset="0"/>
                <a:cs typeface="Times New Roman" panose="02020603050405020304" pitchFamily="18" charset="0"/>
              </a:rPr>
              <a:t>Utilized the Isabelle/HOL theorem prover to achieve the world's first formal verification of an OS kernel, mathematically ensuring the absence of memory vulnerabilities.</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Limitations: </a:t>
            </a:r>
            <a:r>
              <a:rPr kumimoji="1" lang="en-US" altLang="zh-CN" sz="1400" dirty="0">
                <a:latin typeface="Times New Roman" panose="02020603050405020304" pitchFamily="18" charset="0"/>
                <a:cs typeface="Times New Roman" panose="02020603050405020304" pitchFamily="18" charset="0"/>
              </a:rPr>
              <a:t>Faced a "Proof Explosion" where verification costs were astronomical; any code change required re-proving, and the kernel remained too minimalist for broad industrial ecosystems.</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Transition: </a:t>
            </a:r>
            <a:r>
              <a:rPr kumimoji="1" lang="en-US" altLang="zh-CN" sz="1400" dirty="0">
                <a:latin typeface="Times New Roman" panose="02020603050405020304" pitchFamily="18" charset="0"/>
                <a:cs typeface="Times New Roman" panose="02020603050405020304" pitchFamily="18" charset="0"/>
              </a:rPr>
              <a:t>The challenge became: How to achieve seL4-level security without the prohibitive "Verification Tax" while maintaining compatibility with mainstream ecosystems like Linux?.</a:t>
            </a:r>
          </a:p>
          <a:p>
            <a:pPr algn="just" fontAlgn="base">
              <a:spcBef>
                <a:spcPct val="20000"/>
              </a:spcBef>
              <a:spcAft>
                <a:spcPct val="0"/>
              </a:spcAft>
              <a:buClr>
                <a:srgbClr val="0000FF"/>
              </a:buClr>
            </a:pPr>
            <a:r>
              <a:rPr kumimoji="1" lang="en-US" altLang="zh-CN" sz="1400" b="1" i="1" dirty="0" err="1">
                <a:latin typeface="Times New Roman" panose="02020603050405020304" pitchFamily="18" charset="0"/>
                <a:cs typeface="Times New Roman" panose="02020603050405020304" pitchFamily="18" charset="0"/>
              </a:rPr>
              <a:t>Asterinas</a:t>
            </a:r>
            <a:r>
              <a:rPr kumimoji="1" lang="en-US" altLang="zh-CN" sz="1400" b="1" i="1" dirty="0">
                <a:latin typeface="Times New Roman" panose="02020603050405020304" pitchFamily="18" charset="0"/>
                <a:cs typeface="Times New Roman" panose="02020603050405020304" pitchFamily="18" charset="0"/>
              </a:rPr>
              <a:t>: A Linux ABI-Compatible, Rust-Based </a:t>
            </a:r>
            <a:r>
              <a:rPr kumimoji="1" lang="en-US" altLang="zh-CN" sz="1400" b="1" i="1" dirty="0" err="1">
                <a:latin typeface="Times New Roman" panose="02020603050405020304" pitchFamily="18" charset="0"/>
                <a:cs typeface="Times New Roman" panose="02020603050405020304" pitchFamily="18" charset="0"/>
              </a:rPr>
              <a:t>Framekernel</a:t>
            </a:r>
            <a:r>
              <a:rPr kumimoji="1" lang="en-US" altLang="zh-CN" sz="1400" b="1" i="1" dirty="0">
                <a:latin typeface="Times New Roman" panose="02020603050405020304" pitchFamily="18" charset="0"/>
                <a:cs typeface="Times New Roman" panose="02020603050405020304" pitchFamily="18" charset="0"/>
              </a:rPr>
              <a:t> OS (</a:t>
            </a:r>
            <a:r>
              <a:rPr kumimoji="1" lang="en-US" altLang="zh-CN" sz="1400" b="1" i="1" dirty="0" err="1">
                <a:latin typeface="Times New Roman" panose="02020603050405020304" pitchFamily="18" charset="0"/>
                <a:cs typeface="Times New Roman" panose="02020603050405020304" pitchFamily="18" charset="0"/>
              </a:rPr>
              <a:t>Asterinas</a:t>
            </a:r>
            <a:r>
              <a:rPr kumimoji="1" lang="en-US" altLang="zh-CN" sz="1400" b="1" i="1" dirty="0">
                <a:latin typeface="Times New Roman" panose="02020603050405020304" pitchFamily="18" charset="0"/>
                <a:cs typeface="Times New Roman" panose="02020603050405020304" pitchFamily="18" charset="0"/>
              </a:rPr>
              <a:t> '25)</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Key Achievement: </a:t>
            </a:r>
            <a:r>
              <a:rPr kumimoji="1" lang="en-US" altLang="zh-CN" sz="1400" dirty="0">
                <a:latin typeface="Times New Roman" panose="02020603050405020304" pitchFamily="18" charset="0"/>
                <a:cs typeface="Times New Roman" panose="02020603050405020304" pitchFamily="18" charset="0"/>
              </a:rPr>
              <a:t>Introduced the </a:t>
            </a:r>
            <a:r>
              <a:rPr kumimoji="1" lang="en-US" altLang="zh-CN" sz="1400" dirty="0" err="1">
                <a:latin typeface="Times New Roman" panose="02020603050405020304" pitchFamily="18" charset="0"/>
                <a:cs typeface="Times New Roman" panose="02020603050405020304" pitchFamily="18" charset="0"/>
              </a:rPr>
              <a:t>Framekernel</a:t>
            </a:r>
            <a:r>
              <a:rPr kumimoji="1" lang="en-US" altLang="zh-CN" sz="1400" dirty="0">
                <a:latin typeface="Times New Roman" panose="02020603050405020304" pitchFamily="18" charset="0"/>
                <a:cs typeface="Times New Roman" panose="02020603050405020304" pitchFamily="18" charset="0"/>
              </a:rPr>
              <a:t> architecture, leveraging Rust's language features to replace costly formal proofs. Achieved production-level development efficiency for 95% of the codebase while maintaining a sound TCB.</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Current Limits &amp; Future Work: </a:t>
            </a:r>
            <a:r>
              <a:rPr kumimoji="1" lang="en-US" altLang="zh-CN" sz="1400" dirty="0">
                <a:latin typeface="Times New Roman" panose="02020603050405020304" pitchFamily="18" charset="0"/>
                <a:cs typeface="Times New Roman" panose="02020603050405020304" pitchFamily="18" charset="0"/>
              </a:rPr>
              <a:t>While Linux ABI-compatible, scaling to massive distributed systems and supporting advanced heterogeneous hardware features remains the next frontier.</a:t>
            </a:r>
          </a:p>
          <a:p>
            <a:pPr marL="742950" lvl="1" indent="-342900" algn="just" fontAlgn="base">
              <a:spcBef>
                <a:spcPct val="20000"/>
              </a:spcBef>
              <a:spcAft>
                <a:spcPct val="0"/>
              </a:spcAft>
              <a:buClr>
                <a:srgbClr val="0000FF"/>
              </a:buClr>
              <a:buFont typeface="Arial" panose="020B0604020202020204" pitchFamily="34" charset="0"/>
              <a:buChar char="•"/>
            </a:pPr>
            <a:r>
              <a:rPr kumimoji="1" lang="en-US" altLang="zh-CN" sz="1400" b="1" dirty="0">
                <a:latin typeface="Times New Roman" panose="02020603050405020304" pitchFamily="18" charset="0"/>
                <a:cs typeface="Times New Roman" panose="02020603050405020304" pitchFamily="18" charset="0"/>
              </a:rPr>
              <a:t>Final Conclusion: </a:t>
            </a:r>
            <a:r>
              <a:rPr kumimoji="1" lang="en-US" altLang="zh-CN" sz="1400" dirty="0">
                <a:latin typeface="Times New Roman" panose="02020603050405020304" pitchFamily="18" charset="0"/>
                <a:cs typeface="Times New Roman" panose="02020603050405020304" pitchFamily="18" charset="0"/>
              </a:rPr>
              <a:t>Microkernels have evolved from "Optimizing Speed" and "Seeking Mathematical Perfection" to a new stage of "Balancing Security, Performance, and Ecosystem Compatibility" for industrial applications.</a:t>
            </a:r>
          </a:p>
          <a:p>
            <a:endParaRPr kumimoji="1" lang="zh-CN" altLang="en-US" sz="1600" dirty="0">
              <a:ea typeface="標楷體" pitchFamily="65" charset="-120"/>
              <a:cs typeface="Calibri" pitchFamily="34" charset="0"/>
            </a:endParaRPr>
          </a:p>
        </p:txBody>
      </p:sp>
    </p:spTree>
    <p:extLst>
      <p:ext uri="{BB962C8B-B14F-4D97-AF65-F5344CB8AC3E}">
        <p14:creationId xmlns:p14="http://schemas.microsoft.com/office/powerpoint/2010/main" val="369528458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3183</TotalTime>
  <Words>10437</Words>
  <Application>Microsoft Macintosh PowerPoint</Application>
  <PresentationFormat>宽屏</PresentationFormat>
  <Paragraphs>507</Paragraphs>
  <Slides>24</Slides>
  <Notes>24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楷体</vt:lpstr>
      <vt:lpstr>系统字体常规体</vt:lpstr>
      <vt:lpstr>標楷體</vt:lpstr>
      <vt:lpstr>MS Sans Serif</vt:lpstr>
      <vt:lpstr>Arial</vt:lpstr>
      <vt:lpstr>Calibri</vt:lpstr>
      <vt:lpstr>Calibri Light</vt:lpstr>
      <vt:lpstr>Times New Roman</vt:lpstr>
      <vt:lpstr>Wingdings</vt:lpstr>
      <vt:lpstr>NTHU UniCloud</vt:lpstr>
      <vt:lpstr>自訂設計</vt:lpstr>
      <vt:lpstr>Tracing Operation System's Microkernel Journey and Its Performance Trade-offs</vt:lpstr>
      <vt:lpstr>Outline</vt:lpstr>
      <vt:lpstr>Kernel and Microkernel</vt:lpstr>
      <vt:lpstr>Introduction - Kernel and MicroKernel</vt:lpstr>
      <vt:lpstr>Introduction – Pros &amp; Cons</vt:lpstr>
      <vt:lpstr>A Brief History of Micorkernels</vt:lpstr>
      <vt:lpstr>Related Work - A Brief History of Micorkernels     (1/2) </vt:lpstr>
      <vt:lpstr>Related Work - A Brief History of Micorkernels      (2/2)  </vt:lpstr>
      <vt:lpstr>1. Improving IPC by Kernel Design  2. seL4: Formal Verification of an OS Kernel  3. Asterinas: A Linux ABI-Compatible, Rust-Based Framekernel OS with a Small and Sound TCB</vt:lpstr>
      <vt:lpstr>Preliminaries -  Design in Mach</vt:lpstr>
      <vt:lpstr>Proposed Methods - Improving IPC by Kernel Design</vt:lpstr>
      <vt:lpstr>Proposed Methods -  TCB &amp; Kernel Stack Layout</vt:lpstr>
      <vt:lpstr>Performance Evaluation-  L3 Kernel</vt:lpstr>
      <vt:lpstr>Preliminaries - Why we need Mathematical proof</vt:lpstr>
      <vt:lpstr>Proposed Method – The seL4 design process</vt:lpstr>
      <vt:lpstr>Proposed Method – Kernel Design for Verification</vt:lpstr>
      <vt:lpstr>Performance Results - seL4</vt:lpstr>
      <vt:lpstr>Preliminaries - The "seL4 Dilemma"</vt:lpstr>
      <vt:lpstr>Proposed Methods - Frame kernel</vt:lpstr>
      <vt:lpstr>Proposed Methods - OSTD (OS Trust Domain)</vt:lpstr>
      <vt:lpstr>Proposed Methods - Asterinas</vt:lpstr>
      <vt:lpstr>Performance Evaluation - Asterinas</vt:lpstr>
      <vt:lpstr>Virtualization Techniques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Zhangtianyi Chen (SDS,225040511)</cp:lastModifiedBy>
  <cp:revision>31</cp:revision>
  <dcterms:created xsi:type="dcterms:W3CDTF">2020-07-15T11:13:39Z</dcterms:created>
  <dcterms:modified xsi:type="dcterms:W3CDTF">2026-02-01T08:34:41Z</dcterms:modified>
</cp:coreProperties>
</file>