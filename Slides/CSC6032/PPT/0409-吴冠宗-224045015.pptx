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38"/>
  </p:notesMasterIdLst>
  <p:sldIdLst>
    <p:sldId id="256" r:id="rId3"/>
    <p:sldId id="529" r:id="rId4"/>
    <p:sldId id="568" r:id="rId5"/>
    <p:sldId id="516" r:id="rId6"/>
    <p:sldId id="569" r:id="rId7"/>
    <p:sldId id="517" r:id="rId8"/>
    <p:sldId id="570" r:id="rId9"/>
    <p:sldId id="571" r:id="rId10"/>
    <p:sldId id="572" r:id="rId11"/>
    <p:sldId id="573" r:id="rId12"/>
    <p:sldId id="574" r:id="rId13"/>
    <p:sldId id="532" r:id="rId14"/>
    <p:sldId id="575" r:id="rId15"/>
    <p:sldId id="576" r:id="rId16"/>
    <p:sldId id="577" r:id="rId17"/>
    <p:sldId id="578" r:id="rId18"/>
    <p:sldId id="579" r:id="rId19"/>
    <p:sldId id="580" r:id="rId20"/>
    <p:sldId id="581" r:id="rId21"/>
    <p:sldId id="533" r:id="rId22"/>
    <p:sldId id="582" r:id="rId23"/>
    <p:sldId id="583" r:id="rId24"/>
    <p:sldId id="597" r:id="rId25"/>
    <p:sldId id="584" r:id="rId26"/>
    <p:sldId id="585" r:id="rId27"/>
    <p:sldId id="587" r:id="rId28"/>
    <p:sldId id="594" r:id="rId29"/>
    <p:sldId id="592" r:id="rId30"/>
    <p:sldId id="593" r:id="rId31"/>
    <p:sldId id="588" r:id="rId32"/>
    <p:sldId id="589" r:id="rId33"/>
    <p:sldId id="590" r:id="rId34"/>
    <p:sldId id="595" r:id="rId35"/>
    <p:sldId id="564" r:id="rId36"/>
    <p:sldId id="596" r:id="rId3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97" autoAdjust="0"/>
    <p:restoredTop sz="93438" autoAdjust="0"/>
  </p:normalViewPr>
  <p:slideViewPr>
    <p:cSldViewPr snapToGrid="0">
      <p:cViewPr varScale="1">
        <p:scale>
          <a:sx n="59" d="100"/>
          <a:sy n="59" d="100"/>
        </p:scale>
        <p:origin x="1264" y="52"/>
      </p:cViewPr>
      <p:guideLst/>
    </p:cSldViewPr>
  </p:slideViewPr>
  <p:notesTextViewPr>
    <p:cViewPr>
      <p:scale>
        <a:sx n="155" d="100"/>
        <a:sy n="15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2026/4/9</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Good</a:t>
            </a:r>
            <a:r>
              <a:rPr kumimoji="1" lang="zh-CN" altLang="en-US" dirty="0"/>
              <a:t> </a:t>
            </a:r>
            <a:r>
              <a:rPr kumimoji="1" lang="en-US" altLang="zh-CN" dirty="0"/>
              <a:t>afternoon</a:t>
            </a:r>
            <a:r>
              <a:rPr kumimoji="1" lang="zh-CN" altLang="en-US" dirty="0"/>
              <a:t> </a:t>
            </a:r>
            <a:r>
              <a:rPr kumimoji="1" lang="en-US" altLang="zh-CN" dirty="0"/>
              <a:t>everyone,</a:t>
            </a:r>
            <a:r>
              <a:rPr kumimoji="1" lang="zh-CN" altLang="en-US" dirty="0"/>
              <a:t> </a:t>
            </a:r>
            <a:r>
              <a:rPr kumimoji="1" lang="en-US" altLang="zh-CN" dirty="0"/>
              <a:t>My</a:t>
            </a:r>
            <a:r>
              <a:rPr kumimoji="1" lang="zh-CN" altLang="en-US" dirty="0"/>
              <a:t> </a:t>
            </a:r>
            <a:r>
              <a:rPr kumimoji="1" lang="en-US" altLang="zh-CN" dirty="0"/>
              <a:t>name</a:t>
            </a:r>
            <a:r>
              <a:rPr kumimoji="1" lang="zh-CN" altLang="en-US" dirty="0"/>
              <a:t> </a:t>
            </a:r>
            <a:r>
              <a:rPr kumimoji="1" lang="en-US" altLang="zh-CN" dirty="0"/>
              <a:t>is</a:t>
            </a:r>
            <a:r>
              <a:rPr kumimoji="1" lang="zh-CN" altLang="en-US" dirty="0"/>
              <a:t> </a:t>
            </a:r>
            <a:r>
              <a:rPr kumimoji="1" lang="en-US" altLang="zh-CN" dirty="0"/>
              <a:t>Wu</a:t>
            </a:r>
            <a:r>
              <a:rPr kumimoji="1" lang="zh-CN" altLang="en-US" dirty="0"/>
              <a:t> </a:t>
            </a:r>
            <a:r>
              <a:rPr kumimoji="1" lang="en-US" altLang="zh-CN" dirty="0"/>
              <a:t>Guanzong,</a:t>
            </a:r>
            <a:r>
              <a:rPr kumimoji="1" lang="zh-CN" altLang="en-US" dirty="0"/>
              <a:t> </a:t>
            </a:r>
            <a:r>
              <a:rPr kumimoji="1" lang="en-US" altLang="zh-CN" dirty="0"/>
              <a:t>a</a:t>
            </a:r>
            <a:r>
              <a:rPr kumimoji="1" lang="zh-CN" altLang="en-US" dirty="0"/>
              <a:t> </a:t>
            </a:r>
            <a:r>
              <a:rPr kumimoji="1" lang="en-US" altLang="zh-CN" dirty="0"/>
              <a:t>currently</a:t>
            </a:r>
            <a:r>
              <a:rPr kumimoji="1" lang="zh-CN" altLang="en-US" dirty="0"/>
              <a:t> </a:t>
            </a:r>
            <a:r>
              <a:rPr kumimoji="1" lang="en-US" altLang="zh-CN" dirty="0"/>
              <a:t>second</a:t>
            </a:r>
            <a:r>
              <a:rPr kumimoji="1" lang="zh-CN" altLang="en-US" dirty="0"/>
              <a:t> </a:t>
            </a:r>
            <a:r>
              <a:rPr kumimoji="1" lang="en-US" altLang="zh-CN" dirty="0"/>
              <a:t>year</a:t>
            </a:r>
            <a:r>
              <a:rPr kumimoji="1" lang="zh-CN" altLang="en-US" dirty="0"/>
              <a:t> </a:t>
            </a:r>
            <a:r>
              <a:rPr kumimoji="1" lang="en-US" altLang="zh-CN" dirty="0"/>
              <a:t>MPhil</a:t>
            </a:r>
            <a:r>
              <a:rPr kumimoji="1" lang="zh-CN" altLang="en-US" dirty="0"/>
              <a:t> </a:t>
            </a:r>
            <a:r>
              <a:rPr kumimoji="1" lang="en-US" altLang="zh-CN" dirty="0"/>
              <a:t>student</a:t>
            </a:r>
            <a:r>
              <a:rPr kumimoji="1" lang="zh-CN" altLang="en-US" dirty="0"/>
              <a:t> </a:t>
            </a:r>
            <a:r>
              <a:rPr kumimoji="1" lang="en-US" altLang="zh-CN" dirty="0"/>
              <a:t>major</a:t>
            </a:r>
            <a:r>
              <a:rPr kumimoji="1" lang="zh-CN" altLang="en-US" dirty="0"/>
              <a:t> </a:t>
            </a:r>
            <a:r>
              <a:rPr kumimoji="1" lang="en-US" altLang="zh-CN" dirty="0"/>
              <a:t>in</a:t>
            </a:r>
            <a:r>
              <a:rPr kumimoji="1" lang="zh-CN" altLang="en-US" dirty="0"/>
              <a:t> </a:t>
            </a:r>
            <a:r>
              <a:rPr kumimoji="1" lang="en-US" altLang="zh-CN" dirty="0"/>
              <a:t>computer</a:t>
            </a:r>
            <a:r>
              <a:rPr kumimoji="1" lang="zh-CN" altLang="en-US" dirty="0"/>
              <a:t> </a:t>
            </a:r>
            <a:r>
              <a:rPr kumimoji="1" lang="en-US" altLang="zh-CN" dirty="0"/>
              <a:t>science.</a:t>
            </a:r>
          </a:p>
          <a:p>
            <a:endParaRPr kumimoji="1" lang="en-US" altLang="zh-CN" dirty="0"/>
          </a:p>
          <a:p>
            <a:r>
              <a:rPr kumimoji="1" lang="en-US" altLang="zh-CN" dirty="0"/>
              <a:t>My</a:t>
            </a:r>
            <a:r>
              <a:rPr kumimoji="1" lang="zh-CN" altLang="en-US" dirty="0"/>
              <a:t> </a:t>
            </a:r>
            <a:r>
              <a:rPr kumimoji="1" lang="en-US" altLang="zh-CN" dirty="0"/>
              <a:t>topic</a:t>
            </a:r>
            <a:r>
              <a:rPr kumimoji="1" lang="zh-CN" altLang="en-US" dirty="0"/>
              <a:t> </a:t>
            </a:r>
            <a:r>
              <a:rPr kumimoji="1" lang="en-US" altLang="zh-CN" dirty="0"/>
              <a:t>for</a:t>
            </a:r>
            <a:r>
              <a:rPr kumimoji="1" lang="zh-CN" altLang="en-US" dirty="0"/>
              <a:t> </a:t>
            </a:r>
            <a:r>
              <a:rPr kumimoji="1" lang="en-US" altLang="zh-CN" dirty="0"/>
              <a:t>today’s</a:t>
            </a:r>
            <a:r>
              <a:rPr kumimoji="1" lang="zh-CN" altLang="en-US" dirty="0"/>
              <a:t> </a:t>
            </a:r>
            <a:r>
              <a:rPr kumimoji="1" lang="en-US" altLang="zh-CN" dirty="0"/>
              <a:t>presentation</a:t>
            </a:r>
            <a:r>
              <a:rPr kumimoji="1" lang="zh-CN" altLang="en-US" dirty="0"/>
              <a:t> </a:t>
            </a:r>
            <a:r>
              <a:rPr kumimoji="1" lang="en-US" altLang="zh-CN" dirty="0"/>
              <a:t>is</a:t>
            </a:r>
            <a:r>
              <a:rPr kumimoji="1" lang="zh-CN" altLang="en-US" dirty="0"/>
              <a:t> </a:t>
            </a:r>
            <a:r>
              <a:rPr kumimoji="1" lang="en-US" altLang="zh-CN" dirty="0"/>
              <a:t>:</a:t>
            </a:r>
            <a:r>
              <a:rPr kumimoji="1" lang="zh-CN" altLang="en-US" dirty="0"/>
              <a:t> </a:t>
            </a:r>
            <a:r>
              <a:rPr kumimoji="1" lang="en-US" altLang="zh-CN" dirty="0"/>
              <a:t>system-level</a:t>
            </a:r>
            <a:r>
              <a:rPr kumimoji="1" lang="zh-CN" altLang="en-US" dirty="0"/>
              <a:t> </a:t>
            </a:r>
            <a:r>
              <a:rPr kumimoji="1" lang="en-US" altLang="zh-CN" dirty="0"/>
              <a:t>isolation</a:t>
            </a:r>
            <a:r>
              <a:rPr kumimoji="1" lang="zh-CN" altLang="en-US" dirty="0"/>
              <a:t> </a:t>
            </a:r>
            <a:r>
              <a:rPr kumimoji="1" lang="en-US" altLang="zh-CN" dirty="0"/>
              <a:t>for</a:t>
            </a:r>
            <a:r>
              <a:rPr kumimoji="1" lang="zh-CN" altLang="en-US" dirty="0"/>
              <a:t> </a:t>
            </a:r>
            <a:r>
              <a:rPr kumimoji="1" lang="en-US" altLang="zh-CN" dirty="0"/>
              <a:t>LLM</a:t>
            </a:r>
            <a:r>
              <a:rPr kumimoji="1" lang="zh-CN" altLang="en-US" dirty="0"/>
              <a:t> </a:t>
            </a:r>
            <a:r>
              <a:rPr kumimoji="1" lang="en-US" altLang="zh-CN" dirty="0"/>
              <a:t>agent</a:t>
            </a:r>
            <a:r>
              <a:rPr kumimoji="1" lang="zh-CN" altLang="en-US" dirty="0"/>
              <a:t> </a:t>
            </a:r>
            <a:r>
              <a:rPr kumimoji="1" lang="en-US" altLang="zh-CN" dirty="0"/>
              <a:t>safety,</a:t>
            </a:r>
            <a:r>
              <a:rPr kumimoji="1" lang="zh-CN" altLang="en-US" dirty="0"/>
              <a:t> </a:t>
            </a:r>
            <a:r>
              <a:rPr kumimoji="1" lang="en-US" altLang="zh-CN" dirty="0"/>
              <a:t>from</a:t>
            </a:r>
            <a:r>
              <a:rPr kumimoji="1" lang="zh-CN" altLang="en-US" dirty="0"/>
              <a:t> </a:t>
            </a:r>
            <a:r>
              <a:rPr kumimoji="1" lang="en-US" altLang="zh-CN" dirty="0"/>
              <a:t>static</a:t>
            </a:r>
            <a:r>
              <a:rPr kumimoji="1" lang="zh-CN" altLang="en-US" dirty="0"/>
              <a:t> </a:t>
            </a:r>
            <a:r>
              <a:rPr kumimoji="1" lang="en-US" altLang="zh-CN" dirty="0"/>
              <a:t>sandboxes</a:t>
            </a:r>
            <a:r>
              <a:rPr kumimoji="1" lang="zh-CN" altLang="en-US" dirty="0"/>
              <a:t> </a:t>
            </a:r>
            <a:r>
              <a:rPr kumimoji="1" lang="en-US" altLang="zh-CN" dirty="0"/>
              <a:t>to</a:t>
            </a:r>
            <a:r>
              <a:rPr kumimoji="1" lang="zh-CN" altLang="en-US" dirty="0"/>
              <a:t> </a:t>
            </a:r>
            <a:r>
              <a:rPr kumimoji="1" lang="en-US" altLang="zh-CN" dirty="0"/>
              <a:t>full-lifecycle</a:t>
            </a:r>
            <a:r>
              <a:rPr kumimoji="1" lang="zh-CN" altLang="en-US" dirty="0"/>
              <a:t> </a:t>
            </a:r>
            <a:r>
              <a:rPr kumimoji="1" lang="en-US" altLang="zh-CN" dirty="0"/>
              <a:t>security</a:t>
            </a:r>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1</a:t>
            </a:fld>
            <a:endParaRPr lang="zh-TW" altLang="en-US"/>
          </a:p>
        </p:txBody>
      </p:sp>
    </p:spTree>
    <p:extLst>
      <p:ext uri="{BB962C8B-B14F-4D97-AF65-F5344CB8AC3E}">
        <p14:creationId xmlns:p14="http://schemas.microsoft.com/office/powerpoint/2010/main" val="2129400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CCDB5-6AAF-8239-AF71-BF50CA609C0F}"/>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DCF9123E-782D-55B3-4F8F-6DEA9828805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B0CF79C-5AA7-DEF9-1920-C22BB6BF2BA4}"/>
              </a:ext>
            </a:extLst>
          </p:cNvPr>
          <p:cNvSpPr>
            <a:spLocks noGrp="1"/>
          </p:cNvSpPr>
          <p:nvPr>
            <p:ph type="body" idx="1"/>
          </p:nvPr>
        </p:nvSpPr>
        <p:spPr/>
        <p:txBody>
          <a:bodyPr>
            <a:normAutofit/>
          </a:bodyPr>
          <a:lstStyle/>
          <a:p>
            <a:r>
              <a:rPr lang="en-US" altLang="zh-CN" dirty="0"/>
              <a:t>Here</a:t>
            </a:r>
            <a:r>
              <a:rPr lang="zh-CN" altLang="en-US" dirty="0"/>
              <a:t> </a:t>
            </a:r>
            <a:r>
              <a:rPr lang="en-US" altLang="zh-CN" dirty="0"/>
              <a:t>is</a:t>
            </a:r>
            <a:r>
              <a:rPr lang="zh-CN" altLang="en-US" dirty="0"/>
              <a:t> </a:t>
            </a:r>
            <a:r>
              <a:rPr lang="en-US" altLang="zh-CN" dirty="0"/>
              <a:t>the</a:t>
            </a:r>
            <a:r>
              <a:rPr lang="zh-CN" altLang="en-US" dirty="0"/>
              <a:t> </a:t>
            </a:r>
            <a:r>
              <a:rPr lang="en-US" altLang="zh-CN" dirty="0"/>
              <a:t>outline</a:t>
            </a:r>
            <a:r>
              <a:rPr lang="zh-CN" altLang="en-US" dirty="0"/>
              <a:t> </a:t>
            </a:r>
            <a:r>
              <a:rPr lang="en-US" altLang="zh-CN" dirty="0"/>
              <a:t>for</a:t>
            </a:r>
            <a:r>
              <a:rPr lang="zh-CN" altLang="en-US" dirty="0"/>
              <a:t> </a:t>
            </a:r>
            <a:r>
              <a:rPr lang="en-US" altLang="zh-CN" dirty="0"/>
              <a:t>today.</a:t>
            </a:r>
            <a:r>
              <a:rPr lang="zh-CN" altLang="en-US" dirty="0"/>
              <a:t> </a:t>
            </a:r>
            <a:r>
              <a:rPr lang="en-US" altLang="zh-CN" dirty="0"/>
              <a:t>We</a:t>
            </a:r>
            <a:r>
              <a:rPr lang="zh-CN" altLang="en-US" dirty="0"/>
              <a:t> </a:t>
            </a:r>
            <a:r>
              <a:rPr lang="en-US" altLang="zh-CN" dirty="0"/>
              <a:t>will</a:t>
            </a:r>
            <a:r>
              <a:rPr lang="zh-CN" altLang="en-US" dirty="0"/>
              <a:t> </a:t>
            </a:r>
            <a:r>
              <a:rPr lang="en-US" altLang="zh-CN" dirty="0"/>
              <a:t>analyze</a:t>
            </a:r>
            <a:r>
              <a:rPr lang="zh-CN" altLang="en-US" dirty="0"/>
              <a:t> </a:t>
            </a:r>
            <a:r>
              <a:rPr lang="en-US" altLang="zh-CN" dirty="0"/>
              <a:t>3</a:t>
            </a:r>
            <a:r>
              <a:rPr lang="zh-CN" altLang="en-US" dirty="0"/>
              <a:t> </a:t>
            </a:r>
            <a:r>
              <a:rPr lang="en-US" altLang="zh-CN" dirty="0"/>
              <a:t>key</a:t>
            </a:r>
            <a:r>
              <a:rPr lang="zh-CN" altLang="en-US" dirty="0"/>
              <a:t> </a:t>
            </a:r>
            <a:r>
              <a:rPr lang="en-US" altLang="zh-CN" dirty="0"/>
              <a:t>papers</a:t>
            </a:r>
            <a:r>
              <a:rPr lang="zh-CN" altLang="en-US" dirty="0"/>
              <a:t> </a:t>
            </a:r>
            <a:r>
              <a:rPr lang="en-US" altLang="zh-CN" dirty="0"/>
              <a:t>around</a:t>
            </a:r>
            <a:r>
              <a:rPr lang="zh-CN" altLang="en-US" dirty="0"/>
              <a:t> </a:t>
            </a:r>
            <a:r>
              <a:rPr lang="en-US" altLang="zh-CN" dirty="0"/>
              <a:t>the</a:t>
            </a:r>
            <a:r>
              <a:rPr lang="zh-CN" altLang="en-US" dirty="0"/>
              <a:t> </a:t>
            </a:r>
            <a:r>
              <a:rPr lang="en-US" altLang="zh-CN" dirty="0"/>
              <a:t>topic:</a:t>
            </a:r>
            <a:r>
              <a:rPr lang="zh-CN" altLang="en-US" dirty="0"/>
              <a:t> </a:t>
            </a:r>
            <a:r>
              <a:rPr lang="en-US" altLang="zh-CN" dirty="0"/>
              <a:t>the</a:t>
            </a:r>
            <a:r>
              <a:rPr lang="zh-CN" altLang="en-US" dirty="0"/>
              <a:t> </a:t>
            </a:r>
            <a:r>
              <a:rPr lang="en-US" altLang="zh-CN" dirty="0"/>
              <a:t>AIOS,</a:t>
            </a:r>
            <a:r>
              <a:rPr lang="zh-CN" altLang="en-US" dirty="0"/>
              <a:t> </a:t>
            </a:r>
            <a:r>
              <a:rPr lang="en-US" altLang="zh-CN" dirty="0"/>
              <a:t>the</a:t>
            </a:r>
            <a:r>
              <a:rPr lang="zh-CN" altLang="en-US" dirty="0"/>
              <a:t> </a:t>
            </a:r>
            <a:r>
              <a:rPr lang="en-US" altLang="zh-CN" dirty="0" err="1"/>
              <a:t>agentsight</a:t>
            </a:r>
            <a:r>
              <a:rPr lang="zh-CN" altLang="en-US" dirty="0"/>
              <a:t> </a:t>
            </a:r>
            <a:r>
              <a:rPr lang="en-US" altLang="zh-CN" dirty="0"/>
              <a:t>and</a:t>
            </a:r>
            <a:r>
              <a:rPr lang="zh-CN" altLang="en-US" dirty="0"/>
              <a:t> </a:t>
            </a:r>
            <a:r>
              <a:rPr lang="en-US" altLang="zh-CN" dirty="0"/>
              <a:t>the</a:t>
            </a:r>
            <a:r>
              <a:rPr lang="zh-CN" altLang="en-US" dirty="0"/>
              <a:t> </a:t>
            </a:r>
            <a:r>
              <a:rPr lang="en-US" altLang="zh-CN" dirty="0"/>
              <a:t>taming</a:t>
            </a:r>
            <a:r>
              <a:rPr lang="zh-CN" altLang="en-US" dirty="0"/>
              <a:t> </a:t>
            </a:r>
            <a:r>
              <a:rPr lang="en-US" altLang="zh-CN" dirty="0" err="1"/>
              <a:t>openclaw</a:t>
            </a:r>
            <a:r>
              <a:rPr lang="en-US" altLang="zh-CN" dirty="0"/>
              <a:t>.</a:t>
            </a:r>
            <a:endParaRPr lang="zh-TW" altLang="en-US" dirty="0"/>
          </a:p>
        </p:txBody>
      </p:sp>
      <p:sp>
        <p:nvSpPr>
          <p:cNvPr id="4" name="投影片編號版面配置區 3">
            <a:extLst>
              <a:ext uri="{FF2B5EF4-FFF2-40B4-BE49-F238E27FC236}">
                <a16:creationId xmlns:a16="http://schemas.microsoft.com/office/drawing/2014/main" id="{2BAC3AC1-D4D8-AD8A-98C3-2BC443F85FDB}"/>
              </a:ext>
            </a:extLst>
          </p:cNvPr>
          <p:cNvSpPr>
            <a:spLocks noGrp="1"/>
          </p:cNvSpPr>
          <p:nvPr>
            <p:ph type="sldNum" sz="quarter" idx="10"/>
          </p:nvPr>
        </p:nvSpPr>
        <p:spPr/>
        <p:txBody>
          <a:bodyPr/>
          <a:lstStyle/>
          <a:p>
            <a:fld id="{7320D120-4707-426F-9B85-873E256A6635}" type="slidenum">
              <a:rPr lang="zh-TW" altLang="en-US" smtClean="0"/>
              <a:pPr/>
              <a:t>2</a:t>
            </a:fld>
            <a:endParaRPr lang="zh-TW" altLang="en-US"/>
          </a:p>
        </p:txBody>
      </p:sp>
    </p:spTree>
    <p:extLst>
      <p:ext uri="{BB962C8B-B14F-4D97-AF65-F5344CB8AC3E}">
        <p14:creationId xmlns:p14="http://schemas.microsoft.com/office/powerpoint/2010/main" val="510553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3A52A-B220-1B8A-E058-3D7FD6BFF6EF}"/>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1188B92-6471-E3CC-F223-C091F9699E7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E45DAD0-42AC-2B47-A13A-70834DEB916D}"/>
              </a:ext>
            </a:extLst>
          </p:cNvPr>
          <p:cNvSpPr>
            <a:spLocks noGrp="1"/>
          </p:cNvSpPr>
          <p:nvPr>
            <p:ph type="body" idx="1"/>
          </p:nvPr>
        </p:nvSpPr>
        <p:spPr/>
        <p:txBody>
          <a:bodyPr>
            <a:normAutofit/>
          </a:bodyPr>
          <a:lstStyle/>
          <a:p>
            <a:r>
              <a:rPr lang="en-US" altLang="zh-CN" dirty="0"/>
              <a:t>So</a:t>
            </a:r>
            <a:r>
              <a:rPr lang="zh-CN" altLang="en-US" dirty="0"/>
              <a:t> </a:t>
            </a:r>
            <a:r>
              <a:rPr lang="en-US" altLang="zh-CN" dirty="0"/>
              <a:t>lets</a:t>
            </a:r>
            <a:r>
              <a:rPr lang="zh-CN" altLang="en-US" dirty="0"/>
              <a:t> </a:t>
            </a:r>
            <a:r>
              <a:rPr lang="en-US" altLang="zh-CN" dirty="0"/>
              <a:t>move</a:t>
            </a:r>
            <a:r>
              <a:rPr lang="zh-CN" altLang="en-US" dirty="0"/>
              <a:t> </a:t>
            </a:r>
            <a:r>
              <a:rPr lang="en-US" altLang="zh-CN" dirty="0"/>
              <a:t>on</a:t>
            </a:r>
            <a:r>
              <a:rPr lang="zh-CN" altLang="en-US" dirty="0"/>
              <a:t> </a:t>
            </a:r>
            <a:r>
              <a:rPr lang="en-US" altLang="zh-CN" dirty="0"/>
              <a:t>to</a:t>
            </a:r>
            <a:r>
              <a:rPr lang="zh-CN" altLang="en-US" dirty="0"/>
              <a:t> </a:t>
            </a:r>
            <a:r>
              <a:rPr lang="en-US" altLang="zh-CN" dirty="0"/>
              <a:t>the</a:t>
            </a:r>
            <a:r>
              <a:rPr lang="zh-CN" altLang="en-US" dirty="0"/>
              <a:t> </a:t>
            </a:r>
            <a:r>
              <a:rPr lang="en-US" altLang="zh-CN" dirty="0"/>
              <a:t>first</a:t>
            </a:r>
            <a:r>
              <a:rPr lang="zh-CN" altLang="en-US" dirty="0"/>
              <a:t> </a:t>
            </a:r>
            <a:r>
              <a:rPr lang="en-US" altLang="zh-CN" dirty="0"/>
              <a:t>introduction</a:t>
            </a:r>
            <a:endParaRPr lang="zh-TW" altLang="en-US" dirty="0"/>
          </a:p>
        </p:txBody>
      </p:sp>
      <p:sp>
        <p:nvSpPr>
          <p:cNvPr id="4" name="投影片編號版面配置區 3">
            <a:extLst>
              <a:ext uri="{FF2B5EF4-FFF2-40B4-BE49-F238E27FC236}">
                <a16:creationId xmlns:a16="http://schemas.microsoft.com/office/drawing/2014/main" id="{D97C5CBD-8517-7C0E-963F-F90218599262}"/>
              </a:ext>
            </a:extLst>
          </p:cNvPr>
          <p:cNvSpPr>
            <a:spLocks noGrp="1"/>
          </p:cNvSpPr>
          <p:nvPr>
            <p:ph type="sldNum" sz="quarter" idx="10"/>
          </p:nvPr>
        </p:nvSpPr>
        <p:spPr/>
        <p:txBody>
          <a:bodyPr/>
          <a:lstStyle/>
          <a:p>
            <a:fld id="{7320D120-4707-426F-9B85-873E256A6635}" type="slidenum">
              <a:rPr lang="zh-TW" altLang="en-US" smtClean="0"/>
              <a:pPr/>
              <a:t>3</a:t>
            </a:fld>
            <a:endParaRPr lang="zh-TW" altLang="en-US"/>
          </a:p>
        </p:txBody>
      </p:sp>
    </p:spTree>
    <p:extLst>
      <p:ext uri="{BB962C8B-B14F-4D97-AF65-F5344CB8AC3E}">
        <p14:creationId xmlns:p14="http://schemas.microsoft.com/office/powerpoint/2010/main" val="1565837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Lets</a:t>
            </a:r>
            <a:r>
              <a:rPr lang="zh-CN" altLang="en-US" dirty="0"/>
              <a:t> </a:t>
            </a:r>
            <a:r>
              <a:rPr lang="en-US" altLang="zh-CN" dirty="0"/>
              <a:t>start</a:t>
            </a:r>
            <a:r>
              <a:rPr lang="zh-CN" altLang="en-US" dirty="0"/>
              <a:t> </a:t>
            </a:r>
            <a:r>
              <a:rPr lang="en-US" altLang="zh-CN" dirty="0"/>
              <a:t>with</a:t>
            </a:r>
            <a:r>
              <a:rPr lang="zh-CN" altLang="en-US" dirty="0"/>
              <a:t> </a:t>
            </a:r>
            <a:r>
              <a:rPr lang="en-US" altLang="zh-CN" dirty="0"/>
              <a:t>an</a:t>
            </a:r>
            <a:r>
              <a:rPr lang="zh-CN" altLang="en-US" dirty="0"/>
              <a:t> </a:t>
            </a:r>
            <a:r>
              <a:rPr lang="en-US" altLang="zh-CN" dirty="0"/>
              <a:t>example.</a:t>
            </a:r>
            <a:r>
              <a:rPr lang="zh-CN" altLang="en-US" dirty="0"/>
              <a:t> </a:t>
            </a:r>
            <a:r>
              <a:rPr lang="en-US" altLang="zh-CN" dirty="0"/>
              <a:t>Imagine a</a:t>
            </a:r>
            <a:r>
              <a:rPr lang="zh-CN" altLang="en-US" dirty="0"/>
              <a:t> </a:t>
            </a:r>
            <a:r>
              <a:rPr lang="en-US" altLang="zh-CN" dirty="0"/>
              <a:t>real</a:t>
            </a:r>
            <a:r>
              <a:rPr lang="zh-CN" altLang="en-US" dirty="0"/>
              <a:t> </a:t>
            </a:r>
            <a:r>
              <a:rPr lang="en-US" altLang="zh-CN" dirty="0"/>
              <a:t>case</a:t>
            </a:r>
            <a:r>
              <a:rPr lang="zh-CN" altLang="en-US" dirty="0"/>
              <a:t> </a:t>
            </a:r>
            <a:r>
              <a:rPr lang="en-US" altLang="zh-CN" dirty="0"/>
              <a:t>at</a:t>
            </a:r>
            <a:r>
              <a:rPr lang="zh-CN" altLang="en-US" dirty="0"/>
              <a:t> </a:t>
            </a:r>
            <a:r>
              <a:rPr lang="en-US" altLang="zh-CN" dirty="0"/>
              <a:t>the</a:t>
            </a:r>
            <a:r>
              <a:rPr lang="zh-CN" altLang="en-US" dirty="0"/>
              <a:t> </a:t>
            </a:r>
            <a:r>
              <a:rPr lang="en-US" altLang="zh-CN" dirty="0"/>
              <a:t>right:</a:t>
            </a:r>
            <a:r>
              <a:rPr lang="zh-CN" altLang="en-US" dirty="0"/>
              <a:t>  </a:t>
            </a:r>
            <a:r>
              <a:rPr lang="en-US" altLang="zh-CN" dirty="0"/>
              <a:t>you deployed a state-of-the-art coding agent. You tell it to fix a bug on your server. [fig</a:t>
            </a:r>
            <a:r>
              <a:rPr lang="zh-CN" altLang="en-US" dirty="0"/>
              <a:t> </a:t>
            </a:r>
            <a:r>
              <a:rPr lang="en-US" altLang="zh-CN" dirty="0"/>
              <a:t>number</a:t>
            </a:r>
            <a:r>
              <a:rPr lang="zh-CN" altLang="en-US" dirty="0"/>
              <a:t> </a:t>
            </a:r>
            <a:r>
              <a:rPr lang="en-US" altLang="zh-CN" dirty="0"/>
              <a:t>paper</a:t>
            </a:r>
            <a:r>
              <a:rPr lang="zh-CN" altLang="en-US" dirty="0"/>
              <a:t> </a:t>
            </a:r>
            <a:r>
              <a:rPr lang="en-US" altLang="zh-CN" dirty="0"/>
              <a:t>num]</a:t>
            </a:r>
          </a:p>
          <a:p>
            <a:r>
              <a:rPr lang="en-US" altLang="zh-CN" dirty="0"/>
              <a:t>To find the answer, the agent searches the internet. But, it reads a maliciously poisoned webpage. </a:t>
            </a:r>
          </a:p>
          <a:p>
            <a:r>
              <a:rPr lang="en-US" altLang="zh-CN" dirty="0"/>
              <a:t>Suddenly, without asking you, the agent opens a root shell. It executes </a:t>
            </a:r>
            <a:r>
              <a:rPr lang="en-US" altLang="zh-CN" sz="1200" kern="1200" dirty="0">
                <a:solidFill>
                  <a:schemeClr val="tx1"/>
                </a:solidFill>
                <a:latin typeface="+mn-lt"/>
                <a:ea typeface="+mn-ea"/>
                <a:cs typeface="+mn-cs"/>
              </a:rPr>
              <a:t>the</a:t>
            </a:r>
            <a:r>
              <a:rPr lang="zh-CN" altLang="en-US" sz="1200" kern="1200" dirty="0">
                <a:solidFill>
                  <a:schemeClr val="tx1"/>
                </a:solidFill>
                <a:latin typeface="+mn-lt"/>
                <a:ea typeface="+mn-ea"/>
                <a:cs typeface="+mn-cs"/>
              </a:rPr>
              <a:t> </a:t>
            </a:r>
            <a:r>
              <a:rPr lang="en-US" altLang="zh-CN" sz="1200" kern="1200" dirty="0">
                <a:solidFill>
                  <a:schemeClr val="tx1"/>
                </a:solidFill>
                <a:latin typeface="+mn-lt"/>
                <a:ea typeface="+mn-ea"/>
                <a:cs typeface="+mn-cs"/>
              </a:rPr>
              <a:t>remove</a:t>
            </a:r>
            <a:r>
              <a:rPr lang="zh-CN" altLang="en-US" sz="1200" kern="1200" dirty="0">
                <a:solidFill>
                  <a:schemeClr val="tx1"/>
                </a:solidFill>
                <a:latin typeface="+mn-lt"/>
                <a:ea typeface="+mn-ea"/>
                <a:cs typeface="+mn-cs"/>
              </a:rPr>
              <a:t> </a:t>
            </a:r>
            <a:r>
              <a:rPr lang="en-US" altLang="zh-CN" sz="1200" kern="1200" dirty="0">
                <a:solidFill>
                  <a:schemeClr val="tx1"/>
                </a:solidFill>
                <a:latin typeface="+mn-lt"/>
                <a:ea typeface="+mn-ea"/>
                <a:cs typeface="+mn-cs"/>
              </a:rPr>
              <a:t>operation</a:t>
            </a:r>
            <a:r>
              <a:rPr lang="zh-CN" altLang="en-US" sz="1200" kern="1200" dirty="0">
                <a:solidFill>
                  <a:schemeClr val="tx1"/>
                </a:solidFill>
                <a:latin typeface="+mn-lt"/>
                <a:ea typeface="+mn-ea"/>
                <a:cs typeface="+mn-cs"/>
              </a:rPr>
              <a:t> </a:t>
            </a:r>
            <a:r>
              <a:rPr lang="en-US" altLang="zh-CN" sz="1200" kern="1200" dirty="0">
                <a:solidFill>
                  <a:schemeClr val="tx1"/>
                </a:solidFill>
                <a:latin typeface="+mn-lt"/>
                <a:ea typeface="+mn-ea"/>
                <a:cs typeface="+mn-cs"/>
              </a:rPr>
              <a:t>and</a:t>
            </a:r>
            <a:r>
              <a:rPr lang="zh-CN" altLang="en-US" sz="1200" kern="1200" dirty="0">
                <a:solidFill>
                  <a:schemeClr val="tx1"/>
                </a:solidFill>
                <a:latin typeface="+mn-lt"/>
                <a:ea typeface="+mn-ea"/>
                <a:cs typeface="+mn-cs"/>
              </a:rPr>
              <a:t> </a:t>
            </a:r>
            <a:r>
              <a:rPr lang="en-US" altLang="zh-CN" sz="1200" kern="1200" dirty="0">
                <a:solidFill>
                  <a:schemeClr val="tx1"/>
                </a:solidFill>
                <a:latin typeface="+mn-lt"/>
                <a:ea typeface="+mn-ea"/>
                <a:cs typeface="+mn-cs"/>
              </a:rPr>
              <a:t>finally</a:t>
            </a:r>
            <a:r>
              <a:rPr lang="en-US" altLang="zh-CN" dirty="0"/>
              <a:t> Your entire database is gone. In three seconds.</a:t>
            </a:r>
          </a:p>
          <a:p>
            <a:endParaRPr lang="en-US" altLang="zh-CN" dirty="0"/>
          </a:p>
          <a:p>
            <a:r>
              <a:rPr lang="en-US" altLang="zh-CN" dirty="0"/>
              <a:t>This is not science fiction. This is the reality of autonomous agents. Today, </a:t>
            </a:r>
          </a:p>
          <a:p>
            <a:endParaRPr lang="en-US" altLang="zh-CN" dirty="0"/>
          </a:p>
          <a:p>
            <a:r>
              <a:rPr lang="en-US" altLang="zh-CN" dirty="0"/>
              <a:t>So</a:t>
            </a:r>
            <a:r>
              <a:rPr lang="zh-CN" altLang="en-US" dirty="0"/>
              <a:t> </a:t>
            </a:r>
            <a:r>
              <a:rPr lang="en-US" altLang="zh-CN" dirty="0"/>
              <a:t>my key</a:t>
            </a:r>
            <a:r>
              <a:rPr lang="zh-CN" altLang="en-US" dirty="0"/>
              <a:t> </a:t>
            </a:r>
            <a:r>
              <a:rPr lang="en-US" altLang="zh-CN" dirty="0"/>
              <a:t>point</a:t>
            </a:r>
            <a:r>
              <a:rPr lang="zh-CN" altLang="en-US" dirty="0"/>
              <a:t> </a:t>
            </a:r>
            <a:r>
              <a:rPr lang="en-US" altLang="zh-CN" dirty="0"/>
              <a:t>is this: The endgame of LLM security is not algorithmic alignment. It is not prompt engineering. It is the revival of classic Operating System isolation.</a:t>
            </a:r>
          </a:p>
          <a:p>
            <a:endParaRPr lang="en-US" altLang="zh-CN" dirty="0"/>
          </a:p>
          <a:p>
            <a:r>
              <a:rPr lang="en-US" altLang="zh-CN" dirty="0"/>
              <a:t>In the next</a:t>
            </a:r>
            <a:r>
              <a:rPr lang="zh-CN" altLang="en-US" dirty="0"/>
              <a:t> </a:t>
            </a:r>
            <a:r>
              <a:rPr lang="en-US" altLang="zh-CN" dirty="0"/>
              <a:t>part, we will not talk about neural networks. We will not talk about how to write a better prompt. We will strictly focus on systems architecture, kernel observability, and state-machine defense.</a:t>
            </a:r>
          </a:p>
          <a:p>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4</a:t>
            </a:fld>
            <a:endParaRPr lang="zh-TW" altLang="en-US"/>
          </a:p>
        </p:txBody>
      </p:sp>
    </p:spTree>
    <p:extLst>
      <p:ext uri="{BB962C8B-B14F-4D97-AF65-F5344CB8AC3E}">
        <p14:creationId xmlns:p14="http://schemas.microsoft.com/office/powerpoint/2010/main" val="2565925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85CA8-242A-DCBE-E8AB-D110D33FFFF0}"/>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6E5B3AC7-2E5E-EBE1-15BF-9A886227440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94FA0B1-3CAD-0C94-B7A3-5CBF1B42950A}"/>
              </a:ext>
            </a:extLst>
          </p:cNvPr>
          <p:cNvSpPr>
            <a:spLocks noGrp="1"/>
          </p:cNvSpPr>
          <p:nvPr>
            <p:ph type="body" idx="1"/>
          </p:nvPr>
        </p:nvSpPr>
        <p:spPr/>
        <p:txBody>
          <a:bodyPr>
            <a:normAutofit/>
          </a:bodyPr>
          <a:lstStyle/>
          <a:p>
            <a:r>
              <a:rPr lang="en-US" altLang="zh-CN" dirty="0"/>
              <a:t>Then</a:t>
            </a:r>
            <a:r>
              <a:rPr lang="zh-CN" altLang="en-US" dirty="0"/>
              <a:t> </a:t>
            </a:r>
            <a:r>
              <a:rPr lang="en-US" altLang="zh-CN" dirty="0"/>
              <a:t>we</a:t>
            </a:r>
            <a:r>
              <a:rPr lang="zh-CN" altLang="en-US" dirty="0"/>
              <a:t> </a:t>
            </a:r>
            <a:r>
              <a:rPr lang="en-US" altLang="zh-CN" dirty="0"/>
              <a:t>move</a:t>
            </a:r>
            <a:r>
              <a:rPr lang="zh-CN" altLang="en-US" dirty="0"/>
              <a:t> </a:t>
            </a:r>
            <a:r>
              <a:rPr lang="en-US" altLang="zh-CN" dirty="0"/>
              <a:t>on</a:t>
            </a:r>
            <a:r>
              <a:rPr lang="zh-CN" altLang="en-US" dirty="0"/>
              <a:t> </a:t>
            </a:r>
            <a:r>
              <a:rPr lang="en-US" altLang="zh-CN" dirty="0"/>
              <a:t>to</a:t>
            </a:r>
            <a:r>
              <a:rPr lang="zh-CN" altLang="en-US" dirty="0"/>
              <a:t> </a:t>
            </a:r>
            <a:r>
              <a:rPr lang="en-US" altLang="zh-CN" dirty="0"/>
              <a:t>the</a:t>
            </a:r>
            <a:r>
              <a:rPr lang="zh-CN" altLang="en-US" dirty="0"/>
              <a:t> </a:t>
            </a:r>
            <a:r>
              <a:rPr lang="en-US" altLang="zh-CN" dirty="0"/>
              <a:t>next</a:t>
            </a:r>
            <a:r>
              <a:rPr lang="zh-CN" altLang="en-US" dirty="0"/>
              <a:t> </a:t>
            </a:r>
            <a:r>
              <a:rPr lang="en-US" altLang="zh-CN" dirty="0"/>
              <a:t>part</a:t>
            </a:r>
            <a:endParaRPr lang="zh-TW" altLang="en-US" dirty="0"/>
          </a:p>
        </p:txBody>
      </p:sp>
      <p:sp>
        <p:nvSpPr>
          <p:cNvPr id="4" name="投影片編號版面配置區 3">
            <a:extLst>
              <a:ext uri="{FF2B5EF4-FFF2-40B4-BE49-F238E27FC236}">
                <a16:creationId xmlns:a16="http://schemas.microsoft.com/office/drawing/2014/main" id="{1FAC8FA1-4FC1-0ACE-956F-4C45C9B5464B}"/>
              </a:ext>
            </a:extLst>
          </p:cNvPr>
          <p:cNvSpPr>
            <a:spLocks noGrp="1"/>
          </p:cNvSpPr>
          <p:nvPr>
            <p:ph type="sldNum" sz="quarter" idx="10"/>
          </p:nvPr>
        </p:nvSpPr>
        <p:spPr/>
        <p:txBody>
          <a:bodyPr/>
          <a:lstStyle/>
          <a:p>
            <a:fld id="{7320D120-4707-426F-9B85-873E256A6635}" type="slidenum">
              <a:rPr lang="zh-TW" altLang="en-US" smtClean="0"/>
              <a:pPr/>
              <a:t>5</a:t>
            </a:fld>
            <a:endParaRPr lang="zh-TW" altLang="en-US"/>
          </a:p>
        </p:txBody>
      </p:sp>
    </p:spTree>
    <p:extLst>
      <p:ext uri="{BB962C8B-B14F-4D97-AF65-F5344CB8AC3E}">
        <p14:creationId xmlns:p14="http://schemas.microsoft.com/office/powerpoint/2010/main" val="3494391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Before we dive into the papers, we must understand the background.</a:t>
            </a:r>
          </a:p>
          <a:p>
            <a:r>
              <a:rPr lang="en-US" altLang="zh-CN" dirty="0"/>
              <a:t> We are witnessing a paradigm shift in computing. </a:t>
            </a:r>
          </a:p>
          <a:p>
            <a:endParaRPr lang="en-US" altLang="zh-CN" dirty="0"/>
          </a:p>
          <a:p>
            <a:r>
              <a:rPr lang="en-US" altLang="zh-CN" dirty="0"/>
              <a:t>In the past, Large Language Models were passive. They were stateless functions. You give a prompt, you get text. Today, LLM Agents are autonomous, stateful system entities. We have given them hands and feet. They can read and write local files. They can fork new processes. They can open network sockets. They are no longer just NLP models; they are now</a:t>
            </a:r>
            <a:r>
              <a:rPr lang="zh-CN" altLang="en-US" dirty="0"/>
              <a:t> </a:t>
            </a:r>
            <a:r>
              <a:rPr lang="en-US" altLang="zh-CN" dirty="0"/>
              <a:t>powerful OS processes.</a:t>
            </a:r>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6</a:t>
            </a:fld>
            <a:endParaRPr lang="zh-TW" altLang="en-US"/>
          </a:p>
        </p:txBody>
      </p:sp>
    </p:spTree>
    <p:extLst>
      <p:ext uri="{BB962C8B-B14F-4D97-AF65-F5344CB8AC3E}">
        <p14:creationId xmlns:p14="http://schemas.microsoft.com/office/powerpoint/2010/main" val="3167564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937F1-79F3-8C40-032B-2003272A46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56460E-2E91-3A0E-EF08-C8737E4A5A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FB96DC-0AF9-6D9A-1E73-15A68FFB66C2}"/>
              </a:ext>
            </a:extLst>
          </p:cNvPr>
          <p:cNvSpPr>
            <a:spLocks noGrp="1"/>
          </p:cNvSpPr>
          <p:nvPr>
            <p:ph type="body" idx="1"/>
          </p:nvPr>
        </p:nvSpPr>
        <p:spPr/>
        <p:txBody>
          <a:bodyPr/>
          <a:lstStyle/>
          <a:p>
            <a:r>
              <a:rPr lang="en-US" altLang="zh-CN" dirty="0"/>
              <a:t>Because of this shift, the threat model has escalated completely. </a:t>
            </a:r>
          </a:p>
          <a:p>
            <a:endParaRPr lang="en-US" altLang="zh-CN" dirty="0"/>
          </a:p>
          <a:p>
            <a:r>
              <a:rPr lang="en-US" altLang="zh-CN" dirty="0"/>
              <a:t>In the past, a "jailbreak" means</a:t>
            </a:r>
            <a:r>
              <a:rPr lang="zh-CN" altLang="en-US" dirty="0"/>
              <a:t> </a:t>
            </a:r>
            <a:r>
              <a:rPr lang="en-US" altLang="zh-CN" dirty="0"/>
              <a:t>making the AI say something toxic. It was a semantic problem. </a:t>
            </a:r>
          </a:p>
          <a:p>
            <a:endParaRPr lang="en-US" altLang="zh-CN" dirty="0"/>
          </a:p>
          <a:p>
            <a:r>
              <a:rPr lang="en-US" altLang="zh-CN" dirty="0"/>
              <a:t>Now, a jailbreak means the AI executes malicious shell commands. It is a system problem. </a:t>
            </a:r>
          </a:p>
          <a:p>
            <a:endParaRPr lang="en-US" altLang="zh-CN" dirty="0"/>
          </a:p>
          <a:p>
            <a:r>
              <a:rPr lang="en-US" altLang="zh-CN" dirty="0"/>
              <a:t>This creates a deep conflict. We are putting non-deterministic, unpredictable AI logic directly against the rigid, deterministic boundaries of an Operating System.</a:t>
            </a:r>
            <a:endParaRPr kumimoji="1" lang="zh-CN" altLang="en-US" dirty="0"/>
          </a:p>
        </p:txBody>
      </p:sp>
      <p:sp>
        <p:nvSpPr>
          <p:cNvPr id="4" name="灯片编号占位符 3">
            <a:extLst>
              <a:ext uri="{FF2B5EF4-FFF2-40B4-BE49-F238E27FC236}">
                <a16:creationId xmlns:a16="http://schemas.microsoft.com/office/drawing/2014/main" id="{14D68045-2C42-18F2-0998-DA794918CBD1}"/>
              </a:ext>
            </a:extLst>
          </p:cNvPr>
          <p:cNvSpPr>
            <a:spLocks noGrp="1"/>
          </p:cNvSpPr>
          <p:nvPr>
            <p:ph type="sldNum" sz="quarter" idx="5"/>
          </p:nvPr>
        </p:nvSpPr>
        <p:spPr/>
        <p:txBody>
          <a:bodyPr/>
          <a:lstStyle/>
          <a:p>
            <a:fld id="{B11D5518-E2B7-47D3-A483-775D39982443}" type="slidenum">
              <a:rPr lang="zh-TW" altLang="en-US" smtClean="0"/>
              <a:t>7</a:t>
            </a:fld>
            <a:endParaRPr lang="zh-TW" altLang="en-US"/>
          </a:p>
        </p:txBody>
      </p:sp>
    </p:spTree>
    <p:extLst>
      <p:ext uri="{BB962C8B-B14F-4D97-AF65-F5344CB8AC3E}">
        <p14:creationId xmlns:p14="http://schemas.microsoft.com/office/powerpoint/2010/main" val="1583413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206E2-795D-9317-18D9-B698009E0D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1FB147-FE3C-CE34-795A-E196FF3159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490CCF9-B434-F44C-1CA3-613E8DE3F51A}"/>
              </a:ext>
            </a:extLst>
          </p:cNvPr>
          <p:cNvSpPr>
            <a:spLocks noGrp="1"/>
          </p:cNvSpPr>
          <p:nvPr>
            <p:ph type="body" idx="1"/>
          </p:nvPr>
        </p:nvSpPr>
        <p:spPr/>
        <p:txBody>
          <a:bodyPr/>
          <a:lstStyle/>
          <a:p>
            <a:r>
              <a:rPr lang="en-US" altLang="zh-CN" dirty="0"/>
              <a:t>Why can't we just fix the AI? Because current defenses are fundamentally flawed for this task. Mechanisms like RLHF, alignment, and prompt engineering operate at the algorithm layer. They are probabilistic. They deal with words, not system calls. </a:t>
            </a:r>
          </a:p>
          <a:p>
            <a:endParaRPr lang="en-US" altLang="zh-CN" dirty="0"/>
          </a:p>
          <a:p>
            <a:r>
              <a:rPr lang="en-US" altLang="zh-CN" dirty="0"/>
              <a:t>If a clever prompt injection tricks the language model, these semantic defenses collapse instantly. </a:t>
            </a:r>
            <a:endParaRPr lang="en-US" altLang="zh-CN" i="1" dirty="0"/>
          </a:p>
          <a:p>
            <a:endParaRPr lang="en-US" altLang="zh-CN" i="1" dirty="0"/>
          </a:p>
          <a:p>
            <a:r>
              <a:rPr lang="en-US" altLang="zh-CN" dirty="0"/>
              <a:t>The result is immediate system compromise. We cannot rely on probabilistic models for deterministic security.</a:t>
            </a:r>
            <a:endParaRPr kumimoji="1" lang="zh-CN" altLang="en-US" dirty="0"/>
          </a:p>
        </p:txBody>
      </p:sp>
      <p:sp>
        <p:nvSpPr>
          <p:cNvPr id="4" name="灯片编号占位符 3">
            <a:extLst>
              <a:ext uri="{FF2B5EF4-FFF2-40B4-BE49-F238E27FC236}">
                <a16:creationId xmlns:a16="http://schemas.microsoft.com/office/drawing/2014/main" id="{439788A4-4CE1-C56E-4490-C575055E04AA}"/>
              </a:ext>
            </a:extLst>
          </p:cNvPr>
          <p:cNvSpPr>
            <a:spLocks noGrp="1"/>
          </p:cNvSpPr>
          <p:nvPr>
            <p:ph type="sldNum" sz="quarter" idx="5"/>
          </p:nvPr>
        </p:nvSpPr>
        <p:spPr/>
        <p:txBody>
          <a:bodyPr/>
          <a:lstStyle/>
          <a:p>
            <a:fld id="{B11D5518-E2B7-47D3-A483-775D39982443}" type="slidenum">
              <a:rPr lang="zh-TW" altLang="en-US" smtClean="0"/>
              <a:t>8</a:t>
            </a:fld>
            <a:endParaRPr lang="zh-TW" altLang="en-US"/>
          </a:p>
        </p:txBody>
      </p:sp>
    </p:spTree>
    <p:extLst>
      <p:ext uri="{BB962C8B-B14F-4D97-AF65-F5344CB8AC3E}">
        <p14:creationId xmlns:p14="http://schemas.microsoft.com/office/powerpoint/2010/main" val="648472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96780-DEB9-F110-9228-6350C0BD22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D8963C-900B-C21E-B3AC-9BEA0CFB2A8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C03B7C-17C2-F1DA-74F2-D4CAF4DB523F}"/>
              </a:ext>
            </a:extLst>
          </p:cNvPr>
          <p:cNvSpPr>
            <a:spLocks noGrp="1"/>
          </p:cNvSpPr>
          <p:nvPr>
            <p:ph type="body" idx="1"/>
          </p:nvPr>
        </p:nvSpPr>
        <p:spPr/>
        <p:txBody>
          <a:bodyPr/>
          <a:lstStyle/>
          <a:p>
            <a:r>
              <a:rPr lang="en-US" altLang="zh-CN" dirty="0"/>
              <a:t>Therefore, the only reliable path to secure agentic AI is system-level isolation.</a:t>
            </a:r>
          </a:p>
          <a:p>
            <a:r>
              <a:rPr lang="en-US" altLang="zh-CN" dirty="0"/>
              <a:t> We must place these agents under the mandatory constraints of the operating system. </a:t>
            </a:r>
          </a:p>
          <a:p>
            <a:endParaRPr lang="en-US" altLang="zh-CN" dirty="0"/>
          </a:p>
          <a:p>
            <a:r>
              <a:rPr lang="en-US" altLang="zh-CN" dirty="0"/>
              <a:t>This realization frames the overarching logic of our three papers today. </a:t>
            </a:r>
          </a:p>
          <a:p>
            <a:endParaRPr lang="en-US" altLang="zh-CN" dirty="0"/>
          </a:p>
          <a:p>
            <a:r>
              <a:rPr lang="en-US" altLang="zh-CN" dirty="0"/>
              <a:t>First, we need architectural structure, provided by AIOS. </a:t>
            </a:r>
          </a:p>
          <a:p>
            <a:r>
              <a:rPr lang="en-US" altLang="zh-CN" dirty="0"/>
              <a:t>Second, we need un-</a:t>
            </a:r>
            <a:r>
              <a:rPr lang="en-US" altLang="zh-CN" dirty="0" err="1"/>
              <a:t>tamperable</a:t>
            </a:r>
            <a:r>
              <a:rPr lang="en-US" altLang="zh-CN" dirty="0"/>
              <a:t> visibility, provided by </a:t>
            </a:r>
            <a:r>
              <a:rPr lang="en-US" altLang="zh-CN" dirty="0" err="1"/>
              <a:t>AgentSight</a:t>
            </a:r>
            <a:r>
              <a:rPr lang="en-US" altLang="zh-CN" dirty="0"/>
              <a:t>. </a:t>
            </a:r>
          </a:p>
          <a:p>
            <a:r>
              <a:rPr lang="en-US" altLang="zh-CN" dirty="0"/>
              <a:t>Third, we need temporal state management, provided by</a:t>
            </a:r>
            <a:r>
              <a:rPr lang="zh-CN" altLang="en-US" dirty="0"/>
              <a:t> </a:t>
            </a:r>
            <a:r>
              <a:rPr lang="en-US" altLang="zh-CN" dirty="0"/>
              <a:t>the</a:t>
            </a:r>
            <a:r>
              <a:rPr lang="zh-CN" altLang="en-US" dirty="0"/>
              <a:t> </a:t>
            </a:r>
            <a:r>
              <a:rPr lang="en-US" altLang="zh-CN" dirty="0"/>
              <a:t>Taming </a:t>
            </a:r>
            <a:r>
              <a:rPr lang="en-US" altLang="zh-CN" dirty="0" err="1"/>
              <a:t>OpenClaw</a:t>
            </a:r>
            <a:r>
              <a:rPr lang="en-US" altLang="zh-CN" dirty="0"/>
              <a:t>. </a:t>
            </a:r>
            <a:endParaRPr kumimoji="1" lang="zh-CN" altLang="en-US" dirty="0"/>
          </a:p>
        </p:txBody>
      </p:sp>
      <p:sp>
        <p:nvSpPr>
          <p:cNvPr id="4" name="灯片编号占位符 3">
            <a:extLst>
              <a:ext uri="{FF2B5EF4-FFF2-40B4-BE49-F238E27FC236}">
                <a16:creationId xmlns:a16="http://schemas.microsoft.com/office/drawing/2014/main" id="{DBE3CF78-D98F-04F5-2816-C35758C0CDE0}"/>
              </a:ext>
            </a:extLst>
          </p:cNvPr>
          <p:cNvSpPr>
            <a:spLocks noGrp="1"/>
          </p:cNvSpPr>
          <p:nvPr>
            <p:ph type="sldNum" sz="quarter" idx="5"/>
          </p:nvPr>
        </p:nvSpPr>
        <p:spPr/>
        <p:txBody>
          <a:bodyPr/>
          <a:lstStyle/>
          <a:p>
            <a:fld id="{B11D5518-E2B7-47D3-A483-775D39982443}" type="slidenum">
              <a:rPr lang="zh-TW" altLang="en-US" smtClean="0"/>
              <a:t>9</a:t>
            </a:fld>
            <a:endParaRPr lang="zh-TW" altLang="en-US"/>
          </a:p>
        </p:txBody>
      </p:sp>
    </p:spTree>
    <p:extLst>
      <p:ext uri="{BB962C8B-B14F-4D97-AF65-F5344CB8AC3E}">
        <p14:creationId xmlns:p14="http://schemas.microsoft.com/office/powerpoint/2010/main" val="3010003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0C45D-3D4D-686A-9DB9-552623CFC217}"/>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AA650D64-F411-E0BC-A964-3E818F6A841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D311A00-6F36-B49B-FCBB-6188E1D1D73F}"/>
              </a:ext>
            </a:extLst>
          </p:cNvPr>
          <p:cNvSpPr>
            <a:spLocks noGrp="1"/>
          </p:cNvSpPr>
          <p:nvPr>
            <p:ph type="body" idx="1"/>
          </p:nvPr>
        </p:nvSpPr>
        <p:spPr/>
        <p:txBody>
          <a:bodyPr>
            <a:normAutofit/>
          </a:bodyPr>
          <a:lstStyle/>
          <a:p>
            <a:r>
              <a:rPr lang="en-US" altLang="zh-CN" dirty="0"/>
              <a:t>Let us examine the first pillar.</a:t>
            </a:r>
            <a:endParaRPr lang="zh-TW" altLang="en-US" dirty="0"/>
          </a:p>
        </p:txBody>
      </p:sp>
      <p:sp>
        <p:nvSpPr>
          <p:cNvPr id="4" name="投影片編號版面配置區 3">
            <a:extLst>
              <a:ext uri="{FF2B5EF4-FFF2-40B4-BE49-F238E27FC236}">
                <a16:creationId xmlns:a16="http://schemas.microsoft.com/office/drawing/2014/main" id="{095D23E1-6FE2-59FD-D9E0-98875FACED34}"/>
              </a:ext>
            </a:extLst>
          </p:cNvPr>
          <p:cNvSpPr>
            <a:spLocks noGrp="1"/>
          </p:cNvSpPr>
          <p:nvPr>
            <p:ph type="sldNum" sz="quarter" idx="10"/>
          </p:nvPr>
        </p:nvSpPr>
        <p:spPr/>
        <p:txBody>
          <a:bodyPr/>
          <a:lstStyle/>
          <a:p>
            <a:fld id="{7320D120-4707-426F-9B85-873E256A6635}" type="slidenum">
              <a:rPr lang="zh-TW" altLang="en-US" smtClean="0"/>
              <a:pPr/>
              <a:t>10</a:t>
            </a:fld>
            <a:endParaRPr lang="zh-TW" altLang="en-US"/>
          </a:p>
        </p:txBody>
      </p:sp>
    </p:spTree>
    <p:extLst>
      <p:ext uri="{BB962C8B-B14F-4D97-AF65-F5344CB8AC3E}">
        <p14:creationId xmlns:p14="http://schemas.microsoft.com/office/powerpoint/2010/main" val="19947128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94298-DD40-1ADB-AE55-36BB6ADAD46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DCC054CF-069E-B661-7A24-9F7D3E20BAF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031FEE9-66F6-3EA6-B2DD-C6C8243CB1CE}"/>
              </a:ext>
            </a:extLst>
          </p:cNvPr>
          <p:cNvSpPr>
            <a:spLocks noGrp="1"/>
          </p:cNvSpPr>
          <p:nvPr>
            <p:ph type="body" idx="1"/>
          </p:nvPr>
        </p:nvSpPr>
        <p:spPr/>
        <p:txBody>
          <a:bodyPr>
            <a:normAutofit/>
          </a:bodyPr>
          <a:lstStyle/>
          <a:p>
            <a:r>
              <a:rPr lang="en-US" altLang="zh-CN" dirty="0"/>
              <a:t>We</a:t>
            </a:r>
            <a:r>
              <a:rPr lang="zh-CN" altLang="en-US" dirty="0"/>
              <a:t> </a:t>
            </a:r>
            <a:r>
              <a:rPr lang="en-US" altLang="zh-CN" dirty="0"/>
              <a:t>start</a:t>
            </a:r>
            <a:r>
              <a:rPr lang="zh-CN" altLang="en-US" dirty="0"/>
              <a:t> </a:t>
            </a:r>
            <a:r>
              <a:rPr lang="en-US" altLang="zh-CN" dirty="0"/>
              <a:t>with</a:t>
            </a:r>
            <a:r>
              <a:rPr lang="zh-CN" altLang="en-US" dirty="0"/>
              <a:t> </a:t>
            </a:r>
            <a:r>
              <a:rPr lang="en-US" altLang="zh-CN" dirty="0"/>
              <a:t>AIOS</a:t>
            </a:r>
            <a:endParaRPr lang="zh-TW" altLang="en-US" dirty="0"/>
          </a:p>
        </p:txBody>
      </p:sp>
      <p:sp>
        <p:nvSpPr>
          <p:cNvPr id="4" name="投影片編號版面配置區 3">
            <a:extLst>
              <a:ext uri="{FF2B5EF4-FFF2-40B4-BE49-F238E27FC236}">
                <a16:creationId xmlns:a16="http://schemas.microsoft.com/office/drawing/2014/main" id="{1682A260-AE34-A689-D470-CB666D1193F0}"/>
              </a:ext>
            </a:extLst>
          </p:cNvPr>
          <p:cNvSpPr>
            <a:spLocks noGrp="1"/>
          </p:cNvSpPr>
          <p:nvPr>
            <p:ph type="sldNum" sz="quarter" idx="10"/>
          </p:nvPr>
        </p:nvSpPr>
        <p:spPr/>
        <p:txBody>
          <a:bodyPr/>
          <a:lstStyle/>
          <a:p>
            <a:fld id="{7320D120-4707-426F-9B85-873E256A6635}" type="slidenum">
              <a:rPr lang="zh-TW" altLang="en-US" smtClean="0"/>
              <a:pPr/>
              <a:t>11</a:t>
            </a:fld>
            <a:endParaRPr lang="zh-TW" altLang="en-US"/>
          </a:p>
        </p:txBody>
      </p:sp>
    </p:spTree>
    <p:extLst>
      <p:ext uri="{BB962C8B-B14F-4D97-AF65-F5344CB8AC3E}">
        <p14:creationId xmlns:p14="http://schemas.microsoft.com/office/powerpoint/2010/main" val="2972167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paper targets the structural flaws in current agent frameworks, like </a:t>
            </a:r>
            <a:r>
              <a:rPr lang="en-US" altLang="zh-CN" dirty="0" err="1"/>
              <a:t>AutoGPT</a:t>
            </a:r>
            <a:r>
              <a:rPr lang="en-US" altLang="zh-CN" dirty="0"/>
              <a:t>. Right now, multiple agents run like unregulated applications. They fight for GPU memory. They crash the system. They access the file system directly. There is no central manager. AIOS solves this by creating a dedicated Operating System architecture for LLM agents.</a:t>
            </a:r>
          </a:p>
          <a:p>
            <a:endParaRPr lang="en-US" altLang="zh-CN" dirty="0"/>
          </a:p>
          <a:p>
            <a:r>
              <a:rPr lang="en-US" altLang="zh-CN" dirty="0"/>
              <a:t>The AIOS architecture has three strict layers: Application, Kernel, and Hardware. The key innovation is the “LLM System Call”. Agents lose their direct execution rights. They cannot simply open a file using Python. They must issue a formal request to the AIOS Kernel. The kernel acts as the absolute arbiter.</a:t>
            </a:r>
            <a:br>
              <a:rPr lang="en-US" altLang="zh-CN" dirty="0"/>
            </a:br>
            <a:r>
              <a:rPr lang="en-US" altLang="zh-CN" dirty="0"/>
              <a:t>Then,</a:t>
            </a:r>
            <a:r>
              <a:rPr lang="zh-CN" altLang="en-US" dirty="0"/>
              <a:t> </a:t>
            </a:r>
            <a:r>
              <a:rPr lang="en-US" altLang="zh-CN" dirty="0"/>
              <a:t>we</a:t>
            </a:r>
            <a:r>
              <a:rPr lang="zh-CN" altLang="en-US" dirty="0"/>
              <a:t> </a:t>
            </a:r>
            <a:r>
              <a:rPr lang="en-US" altLang="zh-CN" dirty="0"/>
              <a:t>move</a:t>
            </a:r>
            <a:r>
              <a:rPr lang="zh-CN" altLang="en-US" dirty="0"/>
              <a:t> </a:t>
            </a:r>
            <a:r>
              <a:rPr lang="en-US" altLang="zh-CN" dirty="0"/>
              <a:t>on</a:t>
            </a:r>
            <a:r>
              <a:rPr lang="zh-CN" altLang="en-US" dirty="0"/>
              <a:t> </a:t>
            </a:r>
            <a:r>
              <a:rPr lang="en-US" altLang="zh-CN" dirty="0"/>
              <a:t>to</a:t>
            </a:r>
            <a:r>
              <a:rPr lang="zh-CN" altLang="en-US" dirty="0"/>
              <a:t> </a:t>
            </a:r>
            <a:r>
              <a:rPr lang="en-US" altLang="zh-CN" dirty="0"/>
              <a:t>the</a:t>
            </a:r>
            <a:r>
              <a:rPr lang="zh-CN" altLang="en-US" dirty="0"/>
              <a:t> </a:t>
            </a:r>
            <a:r>
              <a:rPr lang="en-US" altLang="zh-CN" dirty="0"/>
              <a:t>most</a:t>
            </a:r>
            <a:r>
              <a:rPr lang="zh-CN" altLang="en-US" dirty="0"/>
              <a:t> </a:t>
            </a:r>
            <a:r>
              <a:rPr lang="en-US" altLang="zh-CN" dirty="0"/>
              <a:t>Important</a:t>
            </a:r>
            <a:r>
              <a:rPr lang="zh-CN" altLang="en-US" dirty="0"/>
              <a:t> </a:t>
            </a:r>
            <a:r>
              <a:rPr lang="en-US" altLang="zh-CN" dirty="0"/>
              <a:t>part</a:t>
            </a:r>
            <a:r>
              <a:rPr lang="zh-CN" altLang="en-US" dirty="0"/>
              <a:t> </a:t>
            </a:r>
            <a:r>
              <a:rPr lang="en-US" altLang="zh-CN" dirty="0"/>
              <a:t>in</a:t>
            </a:r>
            <a:r>
              <a:rPr lang="zh-CN" altLang="en-US" dirty="0"/>
              <a:t> </a:t>
            </a:r>
            <a:r>
              <a:rPr lang="en-US" altLang="zh-CN" dirty="0"/>
              <a:t>the</a:t>
            </a:r>
            <a:r>
              <a:rPr lang="zh-CN" altLang="en-US" dirty="0"/>
              <a:t> </a:t>
            </a:r>
            <a:r>
              <a:rPr lang="en-US" altLang="zh-CN" dirty="0"/>
              <a:t>kernel</a:t>
            </a:r>
            <a:r>
              <a:rPr lang="zh-CN" altLang="en-US" dirty="0"/>
              <a:t> </a:t>
            </a:r>
            <a:r>
              <a:rPr lang="en-US" altLang="zh-CN" dirty="0"/>
              <a:t>layer</a:t>
            </a:r>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12</a:t>
            </a:fld>
            <a:endParaRPr lang="zh-TW" altLang="en-US"/>
          </a:p>
        </p:txBody>
      </p:sp>
    </p:spTree>
    <p:extLst>
      <p:ext uri="{BB962C8B-B14F-4D97-AF65-F5344CB8AC3E}">
        <p14:creationId xmlns:p14="http://schemas.microsoft.com/office/powerpoint/2010/main" val="799133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10935-0045-954A-5D57-5D750F70CF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136CCA-6776-9660-039E-9AD22A5CAC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A774F3-D1A3-2C82-B652-BD8BFE4C0098}"/>
              </a:ext>
            </a:extLst>
          </p:cNvPr>
          <p:cNvSpPr>
            <a:spLocks noGrp="1"/>
          </p:cNvSpPr>
          <p:nvPr>
            <p:ph type="body" idx="1"/>
          </p:nvPr>
        </p:nvSpPr>
        <p:spPr/>
        <p:txBody>
          <a:bodyPr/>
          <a:lstStyle/>
          <a:p>
            <a:r>
              <a:rPr lang="en-US" altLang="zh-CN" dirty="0"/>
              <a:t>Inside the kernel, AIOS uses classic OS components. The Agent Scheduler,</a:t>
            </a:r>
            <a:r>
              <a:rPr lang="zh-CN" altLang="en-US" dirty="0"/>
              <a:t> </a:t>
            </a:r>
            <a:r>
              <a:rPr lang="en-US" altLang="zh-CN" dirty="0"/>
              <a:t>context</a:t>
            </a:r>
            <a:r>
              <a:rPr lang="zh-CN" altLang="en-US" dirty="0"/>
              <a:t> </a:t>
            </a:r>
            <a:r>
              <a:rPr lang="en-US" altLang="zh-CN" dirty="0"/>
              <a:t>manager,</a:t>
            </a:r>
            <a:r>
              <a:rPr lang="zh-CN" altLang="en-US" dirty="0"/>
              <a:t> </a:t>
            </a:r>
            <a:r>
              <a:rPr lang="en-US" altLang="zh-CN" dirty="0"/>
              <a:t>memory</a:t>
            </a:r>
            <a:r>
              <a:rPr lang="zh-CN" altLang="en-US" dirty="0"/>
              <a:t> </a:t>
            </a:r>
            <a:r>
              <a:rPr lang="en-US" altLang="zh-CN" dirty="0"/>
              <a:t>&amp;</a:t>
            </a:r>
            <a:r>
              <a:rPr lang="zh-CN" altLang="en-US" dirty="0"/>
              <a:t> </a:t>
            </a:r>
            <a:r>
              <a:rPr lang="en-US" altLang="zh-CN" dirty="0"/>
              <a:t>storage</a:t>
            </a:r>
            <a:r>
              <a:rPr lang="zh-CN" altLang="en-US" dirty="0"/>
              <a:t> </a:t>
            </a:r>
            <a:r>
              <a:rPr lang="en-US" altLang="zh-CN" dirty="0"/>
              <a:t>manager</a:t>
            </a:r>
            <a:r>
              <a:rPr lang="zh-CN" altLang="en-US" dirty="0"/>
              <a:t> </a:t>
            </a:r>
            <a:r>
              <a:rPr lang="en-US" altLang="zh-CN" dirty="0"/>
              <a:t>and</a:t>
            </a:r>
            <a:r>
              <a:rPr lang="zh-CN" altLang="en-US" dirty="0"/>
              <a:t> </a:t>
            </a:r>
            <a:r>
              <a:rPr lang="en-US" altLang="zh-CN" dirty="0"/>
              <a:t>tool</a:t>
            </a:r>
            <a:r>
              <a:rPr lang="zh-CN" altLang="en-US" dirty="0"/>
              <a:t> </a:t>
            </a:r>
            <a:r>
              <a:rPr lang="en-US" altLang="zh-CN" dirty="0"/>
              <a:t>&amp;</a:t>
            </a:r>
            <a:r>
              <a:rPr lang="zh-CN" altLang="en-US" dirty="0"/>
              <a:t> </a:t>
            </a:r>
            <a:r>
              <a:rPr lang="en-US" altLang="zh-CN" dirty="0"/>
              <a:t>access</a:t>
            </a:r>
            <a:r>
              <a:rPr lang="zh-CN" altLang="en-US" dirty="0"/>
              <a:t> </a:t>
            </a:r>
            <a:r>
              <a:rPr lang="en-US" altLang="zh-CN" dirty="0"/>
              <a:t>manager</a:t>
            </a:r>
            <a:endParaRPr kumimoji="1" lang="zh-CN" altLang="en-US" dirty="0"/>
          </a:p>
        </p:txBody>
      </p:sp>
      <p:sp>
        <p:nvSpPr>
          <p:cNvPr id="4" name="灯片编号占位符 3">
            <a:extLst>
              <a:ext uri="{FF2B5EF4-FFF2-40B4-BE49-F238E27FC236}">
                <a16:creationId xmlns:a16="http://schemas.microsoft.com/office/drawing/2014/main" id="{38468AD3-BB2A-63C8-551F-022714635FF2}"/>
              </a:ext>
            </a:extLst>
          </p:cNvPr>
          <p:cNvSpPr>
            <a:spLocks noGrp="1"/>
          </p:cNvSpPr>
          <p:nvPr>
            <p:ph type="sldNum" sz="quarter" idx="5"/>
          </p:nvPr>
        </p:nvSpPr>
        <p:spPr/>
        <p:txBody>
          <a:bodyPr/>
          <a:lstStyle/>
          <a:p>
            <a:fld id="{B11D5518-E2B7-47D3-A483-775D39982443}" type="slidenum">
              <a:rPr lang="zh-TW" altLang="en-US" smtClean="0"/>
              <a:t>13</a:t>
            </a:fld>
            <a:endParaRPr lang="zh-TW" altLang="en-US"/>
          </a:p>
        </p:txBody>
      </p:sp>
    </p:spTree>
    <p:extLst>
      <p:ext uri="{BB962C8B-B14F-4D97-AF65-F5344CB8AC3E}">
        <p14:creationId xmlns:p14="http://schemas.microsoft.com/office/powerpoint/2010/main" val="2818839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8AFE1-59EB-C33C-36DB-E5DF3A56FB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E90563-8E3C-55A8-49E9-CC4094D44D5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F87B5D8-6297-8A49-4A73-94EB7A1A453E}"/>
              </a:ext>
            </a:extLst>
          </p:cNvPr>
          <p:cNvSpPr>
            <a:spLocks noGrp="1"/>
          </p:cNvSpPr>
          <p:nvPr>
            <p:ph type="body" idx="1"/>
          </p:nvPr>
        </p:nvSpPr>
        <p:spPr/>
        <p:txBody>
          <a:bodyPr/>
          <a:lstStyle/>
          <a:p>
            <a:r>
              <a:rPr lang="en-US" altLang="zh-CN" dirty="0"/>
              <a:t>The Agent Scheduler act</a:t>
            </a:r>
            <a:r>
              <a:rPr lang="zh-CN" altLang="en-US" dirty="0"/>
              <a:t> </a:t>
            </a:r>
            <a:r>
              <a:rPr lang="en-US" altLang="zh-CN" dirty="0"/>
              <a:t>as</a:t>
            </a:r>
            <a:r>
              <a:rPr lang="zh-CN" altLang="en-US" dirty="0"/>
              <a:t> </a:t>
            </a:r>
            <a:r>
              <a:rPr lang="en-US" altLang="zh-CN" dirty="0"/>
              <a:t>the</a:t>
            </a:r>
            <a:r>
              <a:rPr lang="zh-CN" altLang="en-US" dirty="0"/>
              <a:t> </a:t>
            </a:r>
            <a:r>
              <a:rPr lang="en-US" altLang="zh-CN" dirty="0"/>
              <a:t>CPU</a:t>
            </a:r>
            <a:r>
              <a:rPr lang="zh-CN" altLang="en-US" dirty="0"/>
              <a:t> </a:t>
            </a:r>
            <a:r>
              <a:rPr lang="en-US" altLang="zh-CN" dirty="0"/>
              <a:t>scheduler</a:t>
            </a:r>
            <a:r>
              <a:rPr lang="zh-CN" altLang="en-US" dirty="0"/>
              <a:t> </a:t>
            </a:r>
            <a:r>
              <a:rPr lang="en-US" altLang="zh-CN" dirty="0"/>
              <a:t>in</a:t>
            </a:r>
            <a:r>
              <a:rPr lang="zh-CN" altLang="en-US" dirty="0"/>
              <a:t> </a:t>
            </a:r>
            <a:r>
              <a:rPr lang="en-US" altLang="zh-CN" dirty="0"/>
              <a:t>OS,</a:t>
            </a:r>
            <a:r>
              <a:rPr lang="zh-CN" altLang="en-US" dirty="0"/>
              <a:t> </a:t>
            </a:r>
            <a:r>
              <a:rPr lang="en-US" altLang="zh-CN" dirty="0"/>
              <a:t>which</a:t>
            </a:r>
            <a:r>
              <a:rPr lang="zh-CN" altLang="en-US" dirty="0"/>
              <a:t> </a:t>
            </a:r>
            <a:r>
              <a:rPr lang="en-US" altLang="zh-CN" dirty="0"/>
              <a:t>limits concurrent tasks to prevent resource starvation.</a:t>
            </a:r>
            <a:r>
              <a:rPr lang="zh-CN" altLang="en-US" dirty="0"/>
              <a:t> </a:t>
            </a:r>
            <a:r>
              <a:rPr lang="en-US" altLang="zh-CN" dirty="0"/>
              <a:t>In</a:t>
            </a:r>
            <a:r>
              <a:rPr lang="zh-CN" altLang="en-US" dirty="0"/>
              <a:t> </a:t>
            </a:r>
            <a:r>
              <a:rPr lang="en-US" altLang="zh-CN" dirty="0"/>
              <a:t>order</a:t>
            </a:r>
            <a:r>
              <a:rPr lang="zh-CN" altLang="en-US" dirty="0"/>
              <a:t> </a:t>
            </a:r>
            <a:r>
              <a:rPr lang="en-US" altLang="zh-CN" dirty="0"/>
              <a:t>to</a:t>
            </a:r>
            <a:r>
              <a:rPr lang="zh-CN" altLang="en-US" dirty="0"/>
              <a:t> </a:t>
            </a:r>
            <a:r>
              <a:rPr lang="en-US" altLang="zh-CN" dirty="0"/>
              <a:t>Maximize the utilization of the LLMs</a:t>
            </a:r>
            <a:r>
              <a:rPr lang="zh-CN" altLang="en-US" dirty="0"/>
              <a:t> </a:t>
            </a:r>
            <a:r>
              <a:rPr lang="en-US" altLang="zh-CN" dirty="0"/>
              <a:t>and avoid long-term system blockage by a single agent.</a:t>
            </a:r>
            <a:endParaRPr kumimoji="1" lang="zh-CN" altLang="en-US" dirty="0"/>
          </a:p>
        </p:txBody>
      </p:sp>
      <p:sp>
        <p:nvSpPr>
          <p:cNvPr id="4" name="灯片编号占位符 3">
            <a:extLst>
              <a:ext uri="{FF2B5EF4-FFF2-40B4-BE49-F238E27FC236}">
                <a16:creationId xmlns:a16="http://schemas.microsoft.com/office/drawing/2014/main" id="{9DCFC7A7-66A4-4C1B-AD4F-A218B1C893E6}"/>
              </a:ext>
            </a:extLst>
          </p:cNvPr>
          <p:cNvSpPr>
            <a:spLocks noGrp="1"/>
          </p:cNvSpPr>
          <p:nvPr>
            <p:ph type="sldNum" sz="quarter" idx="5"/>
          </p:nvPr>
        </p:nvSpPr>
        <p:spPr/>
        <p:txBody>
          <a:bodyPr/>
          <a:lstStyle/>
          <a:p>
            <a:fld id="{B11D5518-E2B7-47D3-A483-775D39982443}" type="slidenum">
              <a:rPr lang="zh-TW" altLang="en-US" smtClean="0"/>
              <a:t>14</a:t>
            </a:fld>
            <a:endParaRPr lang="zh-TW" altLang="en-US"/>
          </a:p>
        </p:txBody>
      </p:sp>
    </p:spTree>
    <p:extLst>
      <p:ext uri="{BB962C8B-B14F-4D97-AF65-F5344CB8AC3E}">
        <p14:creationId xmlns:p14="http://schemas.microsoft.com/office/powerpoint/2010/main" val="2513726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8E2E1-BB08-5C54-C6AC-8950E290A6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118BE6-0CCD-DD1E-B5EB-1357689986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144CCDE-FC35-9E42-7D72-7FEFCBBF47F5}"/>
              </a:ext>
            </a:extLst>
          </p:cNvPr>
          <p:cNvSpPr>
            <a:spLocks noGrp="1"/>
          </p:cNvSpPr>
          <p:nvPr>
            <p:ph type="body" idx="1"/>
          </p:nvPr>
        </p:nvSpPr>
        <p:spPr/>
        <p:txBody>
          <a:bodyPr/>
          <a:lstStyle/>
          <a:p>
            <a:r>
              <a:rPr lang="en-US" altLang="zh-CN" dirty="0"/>
              <a:t>The context manager will undertake a function similar to process context switching in the OS, saving intermediate states when switching agents</a:t>
            </a:r>
            <a:r>
              <a:rPr lang="zh-CN" altLang="en-US" dirty="0"/>
              <a:t>。 </a:t>
            </a:r>
            <a:r>
              <a:rPr lang="en-US" altLang="zh-CN" dirty="0"/>
              <a:t>In</a:t>
            </a:r>
            <a:r>
              <a:rPr lang="zh-CN" altLang="en-US" dirty="0"/>
              <a:t> </a:t>
            </a:r>
            <a:r>
              <a:rPr lang="en-US" altLang="zh-CN" dirty="0"/>
              <a:t>order</a:t>
            </a:r>
            <a:r>
              <a:rPr lang="zh-CN" altLang="en-US" dirty="0"/>
              <a:t> </a:t>
            </a:r>
            <a:r>
              <a:rPr lang="en-US" altLang="zh-CN" dirty="0"/>
              <a:t>to ensure that logic is not interrupted when multitasking alternates execution.</a:t>
            </a:r>
            <a:endParaRPr kumimoji="1" lang="zh-CN" altLang="en-US" dirty="0"/>
          </a:p>
        </p:txBody>
      </p:sp>
      <p:sp>
        <p:nvSpPr>
          <p:cNvPr id="4" name="灯片编号占位符 3">
            <a:extLst>
              <a:ext uri="{FF2B5EF4-FFF2-40B4-BE49-F238E27FC236}">
                <a16:creationId xmlns:a16="http://schemas.microsoft.com/office/drawing/2014/main" id="{26F9B4F6-D134-FF1A-9D6E-C1B9CDC7ADB9}"/>
              </a:ext>
            </a:extLst>
          </p:cNvPr>
          <p:cNvSpPr>
            <a:spLocks noGrp="1"/>
          </p:cNvSpPr>
          <p:nvPr>
            <p:ph type="sldNum" sz="quarter" idx="5"/>
          </p:nvPr>
        </p:nvSpPr>
        <p:spPr/>
        <p:txBody>
          <a:bodyPr/>
          <a:lstStyle/>
          <a:p>
            <a:fld id="{B11D5518-E2B7-47D3-A483-775D39982443}" type="slidenum">
              <a:rPr lang="zh-TW" altLang="en-US" smtClean="0"/>
              <a:t>15</a:t>
            </a:fld>
            <a:endParaRPr lang="zh-TW" altLang="en-US"/>
          </a:p>
        </p:txBody>
      </p:sp>
    </p:spTree>
    <p:extLst>
      <p:ext uri="{BB962C8B-B14F-4D97-AF65-F5344CB8AC3E}">
        <p14:creationId xmlns:p14="http://schemas.microsoft.com/office/powerpoint/2010/main" val="3288571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DC6DD-F99E-441D-2630-2DA15649DF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58DF12-3138-07C6-DB4D-566A91CF1C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8B54CF-8652-2EE5-FC3B-6B2F37624D3E}"/>
              </a:ext>
            </a:extLst>
          </p:cNvPr>
          <p:cNvSpPr>
            <a:spLocks noGrp="1"/>
          </p:cNvSpPr>
          <p:nvPr>
            <p:ph type="body" idx="1"/>
          </p:nvPr>
        </p:nvSpPr>
        <p:spPr/>
        <p:txBody>
          <a:bodyPr/>
          <a:lstStyle/>
          <a:p>
            <a:r>
              <a:rPr lang="en-US" altLang="zh-CN" dirty="0"/>
              <a:t>Then,</a:t>
            </a:r>
            <a:r>
              <a:rPr lang="zh-CN" altLang="en-US" dirty="0"/>
              <a:t> </a:t>
            </a:r>
            <a:r>
              <a:rPr lang="en-US" altLang="zh-CN" dirty="0"/>
              <a:t>the</a:t>
            </a:r>
            <a:r>
              <a:rPr lang="zh-CN" altLang="en-US" dirty="0"/>
              <a:t> </a:t>
            </a:r>
            <a:r>
              <a:rPr lang="en-US" altLang="zh-CN" dirty="0"/>
              <a:t>Memory &amp; Storage Manager</a:t>
            </a:r>
            <a:r>
              <a:rPr lang="zh-CN" altLang="en-US" dirty="0"/>
              <a:t> </a:t>
            </a:r>
            <a:r>
              <a:rPr lang="en-US" altLang="zh-CN" dirty="0"/>
              <a:t>will implement data isolation and persistent storage within and across the lifecycle of the agent</a:t>
            </a:r>
            <a:endParaRPr kumimoji="1" lang="zh-CN" altLang="en-US" dirty="0"/>
          </a:p>
        </p:txBody>
      </p:sp>
      <p:sp>
        <p:nvSpPr>
          <p:cNvPr id="4" name="灯片编号占位符 3">
            <a:extLst>
              <a:ext uri="{FF2B5EF4-FFF2-40B4-BE49-F238E27FC236}">
                <a16:creationId xmlns:a16="http://schemas.microsoft.com/office/drawing/2014/main" id="{8EC68D62-5284-9A3F-BE3E-003B1B0FEBAC}"/>
              </a:ext>
            </a:extLst>
          </p:cNvPr>
          <p:cNvSpPr>
            <a:spLocks noGrp="1"/>
          </p:cNvSpPr>
          <p:nvPr>
            <p:ph type="sldNum" sz="quarter" idx="5"/>
          </p:nvPr>
        </p:nvSpPr>
        <p:spPr/>
        <p:txBody>
          <a:bodyPr/>
          <a:lstStyle/>
          <a:p>
            <a:fld id="{B11D5518-E2B7-47D3-A483-775D39982443}" type="slidenum">
              <a:rPr lang="zh-TW" altLang="en-US" smtClean="0"/>
              <a:t>16</a:t>
            </a:fld>
            <a:endParaRPr lang="zh-TW" altLang="en-US"/>
          </a:p>
        </p:txBody>
      </p:sp>
    </p:spTree>
    <p:extLst>
      <p:ext uri="{BB962C8B-B14F-4D97-AF65-F5344CB8AC3E}">
        <p14:creationId xmlns:p14="http://schemas.microsoft.com/office/powerpoint/2010/main" val="30910773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B4059-0E21-8470-E431-D80BA12807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ED316C-3C22-D369-D543-5DB4FE3306E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69948E-618B-B201-E7CE-F2CBD45895AC}"/>
              </a:ext>
            </a:extLst>
          </p:cNvPr>
          <p:cNvSpPr>
            <a:spLocks noGrp="1"/>
          </p:cNvSpPr>
          <p:nvPr>
            <p:ph type="body" idx="1"/>
          </p:nvPr>
        </p:nvSpPr>
        <p:spPr/>
        <p:txBody>
          <a:bodyPr/>
          <a:lstStyle/>
          <a:p>
            <a:r>
              <a:rPr lang="en-US" altLang="zh-CN" dirty="0"/>
              <a:t>And</a:t>
            </a:r>
            <a:r>
              <a:rPr lang="zh-CN" altLang="en-US" dirty="0"/>
              <a:t> </a:t>
            </a:r>
            <a:r>
              <a:rPr lang="en-US" altLang="zh-CN" dirty="0"/>
              <a:t>finally</a:t>
            </a:r>
            <a:r>
              <a:rPr lang="zh-CN" altLang="en-US" dirty="0"/>
              <a:t> </a:t>
            </a:r>
            <a:r>
              <a:rPr lang="en-US" altLang="zh-CN" dirty="0"/>
              <a:t>the</a:t>
            </a:r>
            <a:r>
              <a:rPr lang="zh-CN" altLang="en-US" dirty="0"/>
              <a:t> </a:t>
            </a:r>
            <a:r>
              <a:rPr lang="en-US" altLang="zh-CN" dirty="0"/>
              <a:t>most</a:t>
            </a:r>
            <a:r>
              <a:rPr lang="zh-CN" altLang="en-US" dirty="0"/>
              <a:t> </a:t>
            </a:r>
            <a:r>
              <a:rPr lang="en-US" altLang="zh-CN" dirty="0" err="1"/>
              <a:t>impotant</a:t>
            </a:r>
            <a:r>
              <a:rPr lang="zh-CN" altLang="en-US" dirty="0"/>
              <a:t> </a:t>
            </a:r>
            <a:r>
              <a:rPr lang="en-US" altLang="zh-CN" dirty="0"/>
              <a:t>part</a:t>
            </a:r>
            <a:r>
              <a:rPr lang="zh-CN" altLang="en-US" dirty="0"/>
              <a:t> </a:t>
            </a:r>
            <a:r>
              <a:rPr lang="en-US" altLang="zh-CN" dirty="0"/>
              <a:t>is</a:t>
            </a:r>
            <a:r>
              <a:rPr lang="zh-CN" altLang="en-US" dirty="0"/>
              <a:t> </a:t>
            </a:r>
            <a:r>
              <a:rPr lang="en-US" altLang="zh-CN" dirty="0"/>
              <a:t>the</a:t>
            </a:r>
            <a:r>
              <a:rPr lang="zh-CN" altLang="en-US" dirty="0"/>
              <a:t> </a:t>
            </a:r>
            <a:r>
              <a:rPr lang="en-US" altLang="zh-CN" dirty="0"/>
              <a:t>tool</a:t>
            </a:r>
            <a:r>
              <a:rPr lang="zh-CN" altLang="en-US" dirty="0"/>
              <a:t> </a:t>
            </a:r>
            <a:r>
              <a:rPr lang="en-US" altLang="zh-CN" dirty="0"/>
              <a:t>&amp;</a:t>
            </a:r>
            <a:r>
              <a:rPr lang="zh-CN" altLang="en-US" dirty="0"/>
              <a:t> </a:t>
            </a:r>
            <a:r>
              <a:rPr lang="en-US" altLang="zh-CN" dirty="0"/>
              <a:t>access</a:t>
            </a:r>
            <a:r>
              <a:rPr lang="zh-CN" altLang="en-US" dirty="0"/>
              <a:t> </a:t>
            </a:r>
            <a:r>
              <a:rPr lang="en-US" altLang="zh-CN" dirty="0"/>
              <a:t>manager,</a:t>
            </a:r>
            <a:r>
              <a:rPr lang="zh-CN" altLang="en-US" dirty="0"/>
              <a:t> </a:t>
            </a:r>
            <a:r>
              <a:rPr lang="en-US" altLang="zh-CN" dirty="0"/>
              <a:t>which</a:t>
            </a:r>
            <a:r>
              <a:rPr lang="zh-CN" altLang="en-US" dirty="0"/>
              <a:t> </a:t>
            </a:r>
            <a:r>
              <a:rPr lang="en-US" altLang="zh-CN" dirty="0"/>
              <a:t>enforces Role-Based Access Control. If an agent tries to read an unauthorized file, the kernel blocks the system call immediately.</a:t>
            </a:r>
            <a:r>
              <a:rPr lang="zh-CN" altLang="en-US" dirty="0"/>
              <a:t> </a:t>
            </a:r>
            <a:r>
              <a:rPr lang="en-US" altLang="zh-CN" dirty="0"/>
              <a:t>Corresponding</a:t>
            </a:r>
            <a:r>
              <a:rPr lang="zh-CN" altLang="en-US" dirty="0"/>
              <a:t> </a:t>
            </a:r>
            <a:r>
              <a:rPr lang="en-US" altLang="zh-CN" dirty="0"/>
              <a:t>to</a:t>
            </a:r>
            <a:r>
              <a:rPr lang="zh-CN" altLang="en-US" dirty="0"/>
              <a:t> </a:t>
            </a:r>
            <a:r>
              <a:rPr lang="en-US" altLang="zh-CN" dirty="0"/>
              <a:t>the</a:t>
            </a:r>
            <a:r>
              <a:rPr lang="zh-CN" altLang="en-US" dirty="0"/>
              <a:t> </a:t>
            </a:r>
            <a:r>
              <a:rPr lang="en-US" altLang="zh-CN" dirty="0"/>
              <a:t>sandboxes</a:t>
            </a:r>
            <a:r>
              <a:rPr lang="zh-CN" altLang="en-US" dirty="0"/>
              <a:t> </a:t>
            </a:r>
            <a:r>
              <a:rPr lang="en-US" altLang="zh-CN" dirty="0"/>
              <a:t>in</a:t>
            </a:r>
            <a:r>
              <a:rPr lang="zh-CN" altLang="en-US" dirty="0"/>
              <a:t> </a:t>
            </a:r>
            <a:r>
              <a:rPr lang="en-US" altLang="zh-CN" dirty="0"/>
              <a:t>modern</a:t>
            </a:r>
            <a:r>
              <a:rPr lang="zh-CN" altLang="en-US" dirty="0"/>
              <a:t> </a:t>
            </a:r>
            <a:r>
              <a:rPr lang="en-US" altLang="zh-CN" dirty="0"/>
              <a:t>operating</a:t>
            </a:r>
            <a:r>
              <a:rPr lang="zh-CN" altLang="en-US" dirty="0"/>
              <a:t> </a:t>
            </a:r>
            <a:r>
              <a:rPr lang="en-US" altLang="zh-CN" dirty="0"/>
              <a:t>systems</a:t>
            </a:r>
            <a:endParaRPr kumimoji="1" lang="zh-CN" altLang="en-US" dirty="0"/>
          </a:p>
        </p:txBody>
      </p:sp>
      <p:sp>
        <p:nvSpPr>
          <p:cNvPr id="4" name="灯片编号占位符 3">
            <a:extLst>
              <a:ext uri="{FF2B5EF4-FFF2-40B4-BE49-F238E27FC236}">
                <a16:creationId xmlns:a16="http://schemas.microsoft.com/office/drawing/2014/main" id="{CDDB489D-95A8-B32B-C0A6-F45F3A221508}"/>
              </a:ext>
            </a:extLst>
          </p:cNvPr>
          <p:cNvSpPr>
            <a:spLocks noGrp="1"/>
          </p:cNvSpPr>
          <p:nvPr>
            <p:ph type="sldNum" sz="quarter" idx="5"/>
          </p:nvPr>
        </p:nvSpPr>
        <p:spPr/>
        <p:txBody>
          <a:bodyPr/>
          <a:lstStyle/>
          <a:p>
            <a:fld id="{B11D5518-E2B7-47D3-A483-775D39982443}" type="slidenum">
              <a:rPr lang="zh-TW" altLang="en-US" smtClean="0"/>
              <a:t>17</a:t>
            </a:fld>
            <a:endParaRPr lang="zh-TW" altLang="en-US"/>
          </a:p>
        </p:txBody>
      </p:sp>
    </p:spTree>
    <p:extLst>
      <p:ext uri="{BB962C8B-B14F-4D97-AF65-F5344CB8AC3E}">
        <p14:creationId xmlns:p14="http://schemas.microsoft.com/office/powerpoint/2010/main" val="4833066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B43A2-8F91-5785-9F06-D937CE477F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500A19-C4BC-DB87-381C-9916B77CE20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BCF899-7623-F68F-0187-9F7B561CD58E}"/>
              </a:ext>
            </a:extLst>
          </p:cNvPr>
          <p:cNvSpPr>
            <a:spLocks noGrp="1"/>
          </p:cNvSpPr>
          <p:nvPr>
            <p:ph type="body" idx="1"/>
          </p:nvPr>
        </p:nvSpPr>
        <p:spPr/>
        <p:txBody>
          <a:bodyPr/>
          <a:lstStyle/>
          <a:p>
            <a:r>
              <a:rPr lang="en-US" altLang="zh-CN" dirty="0"/>
              <a:t>As</a:t>
            </a:r>
            <a:r>
              <a:rPr lang="zh-CN" altLang="en-US" dirty="0"/>
              <a:t> </a:t>
            </a:r>
            <a:r>
              <a:rPr lang="en-US" altLang="zh-CN" dirty="0"/>
              <a:t>u</a:t>
            </a:r>
            <a:r>
              <a:rPr lang="zh-CN" altLang="en-US" dirty="0"/>
              <a:t> </a:t>
            </a:r>
            <a:r>
              <a:rPr lang="en-US" altLang="zh-CN" dirty="0"/>
              <a:t>can</a:t>
            </a:r>
            <a:r>
              <a:rPr lang="zh-CN" altLang="en-US" dirty="0"/>
              <a:t> </a:t>
            </a:r>
            <a:r>
              <a:rPr lang="en-US" altLang="zh-CN" dirty="0"/>
              <a:t>see</a:t>
            </a:r>
            <a:r>
              <a:rPr lang="zh-CN" altLang="en-US" dirty="0"/>
              <a:t> </a:t>
            </a:r>
            <a:r>
              <a:rPr lang="en-US" altLang="zh-CN" dirty="0"/>
              <a:t>in</a:t>
            </a:r>
            <a:r>
              <a:rPr lang="zh-CN" altLang="en-US" dirty="0"/>
              <a:t> </a:t>
            </a:r>
            <a:r>
              <a:rPr lang="en-US" altLang="zh-CN" dirty="0"/>
              <a:t>the</a:t>
            </a:r>
            <a:r>
              <a:rPr lang="zh-CN" altLang="en-US" dirty="0"/>
              <a:t> </a:t>
            </a:r>
            <a:r>
              <a:rPr lang="en-US" altLang="zh-CN" dirty="0"/>
              <a:t>table</a:t>
            </a:r>
            <a:r>
              <a:rPr lang="zh-CN" altLang="en-US" dirty="0"/>
              <a:t> </a:t>
            </a:r>
            <a:r>
              <a:rPr lang="en-US" altLang="zh-CN" dirty="0"/>
              <a:t>where</a:t>
            </a:r>
            <a:r>
              <a:rPr lang="zh-CN" altLang="en-US" dirty="0"/>
              <a:t> </a:t>
            </a:r>
            <a:r>
              <a:rPr lang="en-US" altLang="zh-CN" dirty="0"/>
              <a:t>it</a:t>
            </a:r>
            <a:r>
              <a:rPr lang="zh-CN" altLang="en-US" dirty="0"/>
              <a:t> </a:t>
            </a:r>
            <a:r>
              <a:rPr lang="en-US" altLang="zh-CN" dirty="0"/>
              <a:t>reports</a:t>
            </a:r>
            <a:r>
              <a:rPr lang="zh-CN" altLang="en-US" dirty="0"/>
              <a:t> </a:t>
            </a:r>
            <a:r>
              <a:rPr lang="en-US" altLang="zh-CN" dirty="0"/>
              <a:t>success</a:t>
            </a:r>
            <a:r>
              <a:rPr lang="zh-CN" altLang="en-US" dirty="0"/>
              <a:t> </a:t>
            </a:r>
            <a:r>
              <a:rPr lang="en-US" altLang="zh-CN" dirty="0"/>
              <a:t>rate</a:t>
            </a:r>
            <a:r>
              <a:rPr lang="zh-CN" altLang="en-US" dirty="0"/>
              <a:t> </a:t>
            </a:r>
            <a:r>
              <a:rPr lang="en-US" altLang="zh-CN" dirty="0"/>
              <a:t>across</a:t>
            </a:r>
            <a:r>
              <a:rPr lang="zh-CN" altLang="en-US" dirty="0"/>
              <a:t> </a:t>
            </a:r>
            <a:r>
              <a:rPr lang="en-US" altLang="zh-CN" dirty="0"/>
              <a:t>various</a:t>
            </a:r>
            <a:r>
              <a:rPr lang="zh-CN" altLang="en-US" dirty="0"/>
              <a:t> </a:t>
            </a:r>
            <a:r>
              <a:rPr lang="en-US" altLang="zh-CN" dirty="0"/>
              <a:t>benchmarks.</a:t>
            </a:r>
            <a:r>
              <a:rPr lang="zh-CN" altLang="en-US" dirty="0"/>
              <a:t> </a:t>
            </a:r>
            <a:r>
              <a:rPr lang="en-US" altLang="zh-CN" dirty="0"/>
              <a:t>AIOS is effective. It doubles system throughput safely. </a:t>
            </a:r>
          </a:p>
          <a:p>
            <a:endParaRPr lang="en-US" altLang="zh-CN" dirty="0"/>
          </a:p>
          <a:p>
            <a:r>
              <a:rPr lang="en-US" altLang="zh-CN" dirty="0"/>
              <a:t>However, there</a:t>
            </a:r>
            <a:r>
              <a:rPr lang="zh-CN" altLang="en-US" dirty="0"/>
              <a:t> </a:t>
            </a:r>
            <a:r>
              <a:rPr lang="en-US" altLang="zh-CN" dirty="0"/>
              <a:t>are</a:t>
            </a:r>
            <a:r>
              <a:rPr lang="zh-CN" altLang="en-US" dirty="0"/>
              <a:t> </a:t>
            </a:r>
            <a:r>
              <a:rPr lang="en-US" altLang="zh-CN" dirty="0"/>
              <a:t>three</a:t>
            </a:r>
            <a:r>
              <a:rPr lang="zh-CN" altLang="en-US" dirty="0"/>
              <a:t> </a:t>
            </a:r>
            <a:r>
              <a:rPr lang="en-US" altLang="zh-CN" dirty="0"/>
              <a:t>blind</a:t>
            </a:r>
            <a:r>
              <a:rPr lang="zh-CN" altLang="en-US" dirty="0"/>
              <a:t> </a:t>
            </a:r>
            <a:r>
              <a:rPr lang="en-US" altLang="zh-CN" dirty="0"/>
              <a:t>spots</a:t>
            </a:r>
            <a:r>
              <a:rPr lang="zh-CN" altLang="en-US" dirty="0"/>
              <a:t> </a:t>
            </a:r>
            <a:r>
              <a:rPr lang="en-US" altLang="zh-CN" dirty="0"/>
              <a:t>where</a:t>
            </a:r>
            <a:r>
              <a:rPr lang="zh-CN" altLang="en-US" dirty="0"/>
              <a:t> </a:t>
            </a:r>
            <a:r>
              <a:rPr lang="en-US" altLang="zh-CN" dirty="0"/>
              <a:t>it relies on cooperative security. It assumes agents will play by the rules and use the </a:t>
            </a:r>
            <a:r>
              <a:rPr lang="en-US" altLang="zh-CN" dirty="0" err="1"/>
              <a:t>standardSDK</a:t>
            </a:r>
            <a:r>
              <a:rPr lang="en-US" altLang="zh-CN" dirty="0"/>
              <a:t>. </a:t>
            </a:r>
          </a:p>
          <a:p>
            <a:endParaRPr lang="en-US" altLang="zh-CN" dirty="0"/>
          </a:p>
          <a:p>
            <a:r>
              <a:rPr lang="en-US" altLang="zh-CN" dirty="0"/>
              <a:t>But what if the agent is a closed-source binary? Or what if an attacker hijacks the process memory? </a:t>
            </a:r>
          </a:p>
          <a:p>
            <a:r>
              <a:rPr lang="en-US" altLang="zh-CN" dirty="0"/>
              <a:t>The attacker can bypass the SDK entirely and make direct OS calls. </a:t>
            </a:r>
          </a:p>
          <a:p>
            <a:endParaRPr kumimoji="1" lang="en-US" altLang="zh-CN" dirty="0"/>
          </a:p>
          <a:p>
            <a:r>
              <a:rPr kumimoji="1" lang="en-US" altLang="zh-CN" dirty="0"/>
              <a:t>Static permission control can only determine whether it can be executed, but cannot answer why it is executed, </a:t>
            </a:r>
          </a:p>
          <a:p>
            <a:r>
              <a:rPr kumimoji="1" lang="en-US" altLang="zh-CN" dirty="0"/>
              <a:t>It</a:t>
            </a:r>
            <a:r>
              <a:rPr kumimoji="1" lang="zh-CN" altLang="en-US" dirty="0"/>
              <a:t> </a:t>
            </a:r>
            <a:r>
              <a:rPr kumimoji="1" lang="en-US" altLang="zh-CN" dirty="0"/>
              <a:t>lacks deep observation of the mapping relationship between natural language intent and underlying behavior. </a:t>
            </a:r>
          </a:p>
          <a:p>
            <a:endParaRPr kumimoji="1" lang="en-US" altLang="zh-CN" dirty="0"/>
          </a:p>
          <a:p>
            <a:r>
              <a:rPr kumimoji="1" lang="en-US" altLang="zh-CN" dirty="0"/>
              <a:t>So</a:t>
            </a:r>
            <a:r>
              <a:rPr kumimoji="1" lang="zh-CN" altLang="en-US" dirty="0"/>
              <a:t> </a:t>
            </a:r>
            <a:r>
              <a:rPr kumimoji="1" lang="en-US" altLang="zh-CN" dirty="0"/>
              <a:t>we</a:t>
            </a:r>
            <a:r>
              <a:rPr kumimoji="1" lang="zh-CN" altLang="en-US" dirty="0"/>
              <a:t> </a:t>
            </a:r>
            <a:r>
              <a:rPr kumimoji="1" lang="en-US" altLang="zh-CN" dirty="0"/>
              <a:t>need</a:t>
            </a:r>
            <a:r>
              <a:rPr kumimoji="1" lang="zh-CN" altLang="en-US" dirty="0"/>
              <a:t> </a:t>
            </a:r>
            <a:r>
              <a:rPr kumimoji="1" lang="en-US" altLang="zh-CN" dirty="0"/>
              <a:t>kernel level dynamic observation technology</a:t>
            </a:r>
            <a:endParaRPr kumimoji="1" lang="zh-CN" altLang="en-US" dirty="0"/>
          </a:p>
        </p:txBody>
      </p:sp>
      <p:sp>
        <p:nvSpPr>
          <p:cNvPr id="4" name="灯片编号占位符 3">
            <a:extLst>
              <a:ext uri="{FF2B5EF4-FFF2-40B4-BE49-F238E27FC236}">
                <a16:creationId xmlns:a16="http://schemas.microsoft.com/office/drawing/2014/main" id="{95C5072B-CD8C-0C9B-1991-16DFEE5E2E36}"/>
              </a:ext>
            </a:extLst>
          </p:cNvPr>
          <p:cNvSpPr>
            <a:spLocks noGrp="1"/>
          </p:cNvSpPr>
          <p:nvPr>
            <p:ph type="sldNum" sz="quarter" idx="5"/>
          </p:nvPr>
        </p:nvSpPr>
        <p:spPr/>
        <p:txBody>
          <a:bodyPr/>
          <a:lstStyle/>
          <a:p>
            <a:fld id="{B11D5518-E2B7-47D3-A483-775D39982443}" type="slidenum">
              <a:rPr lang="zh-TW" altLang="en-US" smtClean="0"/>
              <a:t>18</a:t>
            </a:fld>
            <a:endParaRPr lang="zh-TW" altLang="en-US"/>
          </a:p>
        </p:txBody>
      </p:sp>
    </p:spTree>
    <p:extLst>
      <p:ext uri="{BB962C8B-B14F-4D97-AF65-F5344CB8AC3E}">
        <p14:creationId xmlns:p14="http://schemas.microsoft.com/office/powerpoint/2010/main" val="5348539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B74D0-F410-684A-9983-287AB13A07CF}"/>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513FD17-5985-932F-18C4-337A10D5DC3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D1B6553-A62F-E3F3-7B37-1F39867370E8}"/>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Then</a:t>
            </a:r>
            <a:r>
              <a:rPr lang="zh-CN" altLang="en-US" dirty="0"/>
              <a:t> </a:t>
            </a:r>
            <a:r>
              <a:rPr lang="en-US" altLang="zh-CN" dirty="0"/>
              <a:t>we</a:t>
            </a:r>
            <a:r>
              <a:rPr lang="zh-CN" altLang="en-US" dirty="0"/>
              <a:t> </a:t>
            </a:r>
            <a:r>
              <a:rPr lang="en-US" altLang="zh-CN" dirty="0"/>
              <a:t>move</a:t>
            </a:r>
            <a:r>
              <a:rPr lang="zh-CN" altLang="en-US" dirty="0"/>
              <a:t> </a:t>
            </a:r>
            <a:r>
              <a:rPr lang="en-US" altLang="zh-CN" dirty="0"/>
              <a:t>on</a:t>
            </a:r>
            <a:r>
              <a:rPr lang="zh-CN" altLang="en-US" dirty="0"/>
              <a:t> </a:t>
            </a:r>
            <a:r>
              <a:rPr lang="en-US" altLang="zh-CN" dirty="0"/>
              <a:t>to</a:t>
            </a:r>
            <a:r>
              <a:rPr lang="zh-CN" altLang="en-US" dirty="0"/>
              <a:t> </a:t>
            </a:r>
            <a:r>
              <a:rPr lang="en-US" altLang="zh-CN" dirty="0"/>
              <a:t>the</a:t>
            </a:r>
            <a:r>
              <a:rPr lang="zh-CN" altLang="en-US" dirty="0"/>
              <a:t> </a:t>
            </a:r>
            <a:r>
              <a:rPr lang="en-US" altLang="zh-CN" dirty="0"/>
              <a:t>agent</a:t>
            </a:r>
            <a:r>
              <a:rPr lang="zh-CN" altLang="en-US" dirty="0"/>
              <a:t> </a:t>
            </a:r>
            <a:r>
              <a:rPr lang="en-US" altLang="zh-CN" dirty="0"/>
              <a:t>sight,</a:t>
            </a:r>
            <a:r>
              <a:rPr lang="zh-CN" altLang="en-US" dirty="0"/>
              <a:t> </a:t>
            </a:r>
            <a:r>
              <a:rPr lang="en-US" altLang="zh-CN" dirty="0"/>
              <a:t>where</a:t>
            </a:r>
            <a:r>
              <a:rPr lang="zh-CN" altLang="en-US" dirty="0"/>
              <a:t> </a:t>
            </a:r>
            <a:r>
              <a:rPr lang="en-US" altLang="zh-CN" dirty="0"/>
              <a:t>it</a:t>
            </a:r>
            <a:r>
              <a:rPr lang="zh-CN" altLang="en-US" dirty="0"/>
              <a:t> </a:t>
            </a:r>
            <a:r>
              <a:rPr lang="en-US" altLang="zh-CN" dirty="0"/>
              <a:t>used</a:t>
            </a:r>
            <a:r>
              <a:rPr lang="zh-CN" altLang="en-US" dirty="0"/>
              <a:t> </a:t>
            </a:r>
            <a:r>
              <a:rPr lang="en-US" altLang="zh-CN" sz="1200" kern="1200" dirty="0">
                <a:solidFill>
                  <a:schemeClr val="tx1"/>
                </a:solidFill>
                <a:effectLst/>
                <a:latin typeface="+mn-lt"/>
                <a:ea typeface="+mn-ea"/>
                <a:cs typeface="+mn-cs"/>
              </a:rPr>
              <a:t>Dynamic Observability in</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order</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to</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Pierce the black box with </a:t>
            </a:r>
            <a:r>
              <a:rPr lang="en-US" altLang="zh-CN" sz="1200" kern="1200" dirty="0" err="1">
                <a:solidFill>
                  <a:schemeClr val="tx1"/>
                </a:solidFill>
                <a:effectLst/>
                <a:latin typeface="+mn-lt"/>
                <a:ea typeface="+mn-ea"/>
                <a:cs typeface="+mn-cs"/>
              </a:rPr>
              <a:t>eBPF</a:t>
            </a:r>
            <a:r>
              <a:rPr lang="en-US" altLang="zh-CN" sz="1200" kern="1200" dirty="0">
                <a:solidFill>
                  <a:schemeClr val="tx1"/>
                </a:solidFill>
                <a:effectLst/>
                <a:latin typeface="+mn-lt"/>
                <a:ea typeface="+mn-ea"/>
                <a:cs typeface="+mn-cs"/>
              </a:rPr>
              <a:t>.</a:t>
            </a:r>
          </a:p>
          <a:p>
            <a:endParaRPr lang="zh-TW" altLang="en-US" dirty="0"/>
          </a:p>
        </p:txBody>
      </p:sp>
      <p:sp>
        <p:nvSpPr>
          <p:cNvPr id="4" name="投影片編號版面配置區 3">
            <a:extLst>
              <a:ext uri="{FF2B5EF4-FFF2-40B4-BE49-F238E27FC236}">
                <a16:creationId xmlns:a16="http://schemas.microsoft.com/office/drawing/2014/main" id="{5029CE10-DEBD-A412-4A35-E7B5C18EF239}"/>
              </a:ext>
            </a:extLst>
          </p:cNvPr>
          <p:cNvSpPr>
            <a:spLocks noGrp="1"/>
          </p:cNvSpPr>
          <p:nvPr>
            <p:ph type="sldNum" sz="quarter" idx="10"/>
          </p:nvPr>
        </p:nvSpPr>
        <p:spPr/>
        <p:txBody>
          <a:bodyPr/>
          <a:lstStyle/>
          <a:p>
            <a:fld id="{7320D120-4707-426F-9B85-873E256A6635}" type="slidenum">
              <a:rPr lang="zh-TW" altLang="en-US" smtClean="0"/>
              <a:pPr/>
              <a:t>19</a:t>
            </a:fld>
            <a:endParaRPr lang="zh-TW" altLang="en-US"/>
          </a:p>
        </p:txBody>
      </p:sp>
    </p:spTree>
    <p:extLst>
      <p:ext uri="{BB962C8B-B14F-4D97-AF65-F5344CB8AC3E}">
        <p14:creationId xmlns:p14="http://schemas.microsoft.com/office/powerpoint/2010/main" val="18800319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a:t>
            </a:r>
            <a:r>
              <a:rPr lang="zh-CN" altLang="en-US" dirty="0"/>
              <a:t> </a:t>
            </a:r>
            <a:r>
              <a:rPr lang="en-US" altLang="zh-CN" dirty="0"/>
              <a:t>this</a:t>
            </a:r>
            <a:r>
              <a:rPr lang="zh-CN" altLang="en-US" dirty="0"/>
              <a:t> </a:t>
            </a:r>
            <a:r>
              <a:rPr lang="en-US" altLang="zh-CN" dirty="0"/>
              <a:t>paper,</a:t>
            </a:r>
            <a:r>
              <a:rPr lang="zh-CN" altLang="en-US" dirty="0"/>
              <a:t> </a:t>
            </a:r>
            <a:r>
              <a:rPr lang="en-US" altLang="zh-CN" dirty="0"/>
              <a:t>It addresses a critical problem</a:t>
            </a:r>
            <a:r>
              <a:rPr lang="zh-CN" altLang="en-US" dirty="0"/>
              <a:t> </a:t>
            </a:r>
            <a:r>
              <a:rPr lang="en-US" altLang="zh-CN" dirty="0"/>
              <a:t>called the Semantic Gap. Existing monitoring tools can only see high-level intentions (such as Prompt requests for LLMs) or low-level actions (such as system calls), but</a:t>
            </a:r>
            <a:r>
              <a:rPr lang="zh-CN" altLang="en-US" dirty="0"/>
              <a:t> </a:t>
            </a:r>
            <a:r>
              <a:rPr lang="en-US" altLang="zh-CN" dirty="0"/>
              <a:t>it cannot establish a causal relationship between the two</a:t>
            </a:r>
          </a:p>
          <a:p>
            <a:endParaRPr lang="en-US" altLang="zh-CN" dirty="0"/>
          </a:p>
          <a:p>
            <a:r>
              <a:rPr lang="en-US" altLang="zh-CN" dirty="0"/>
              <a:t>Also,</a:t>
            </a:r>
            <a:r>
              <a:rPr lang="zh-CN" altLang="en-US" dirty="0"/>
              <a:t> </a:t>
            </a:r>
            <a:r>
              <a:rPr lang="en-US" altLang="zh-CN" dirty="0"/>
              <a:t>Application-level logs are weak. Attackers can easily</a:t>
            </a:r>
            <a:r>
              <a:rPr lang="zh-CN" altLang="en-US" dirty="0"/>
              <a:t> </a:t>
            </a:r>
            <a:r>
              <a:rPr lang="en-US" altLang="zh-CN" dirty="0"/>
              <a:t>manipulate them. We need a way to monitor agents without modifying or trusting their code.</a:t>
            </a:r>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20</a:t>
            </a:fld>
            <a:endParaRPr lang="zh-TW" altLang="en-US"/>
          </a:p>
        </p:txBody>
      </p:sp>
    </p:spTree>
    <p:extLst>
      <p:ext uri="{BB962C8B-B14F-4D97-AF65-F5344CB8AC3E}">
        <p14:creationId xmlns:p14="http://schemas.microsoft.com/office/powerpoint/2010/main" val="13665905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9D53D-9D15-D1CF-3C2C-EC28271F65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76137C-A4B0-D172-2D44-B06F54B3AD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594E34-039E-007A-F8AC-839E861278C3}"/>
              </a:ext>
            </a:extLst>
          </p:cNvPr>
          <p:cNvSpPr>
            <a:spLocks noGrp="1"/>
          </p:cNvSpPr>
          <p:nvPr>
            <p:ph type="body" idx="1"/>
          </p:nvPr>
        </p:nvSpPr>
        <p:spPr/>
        <p:txBody>
          <a:bodyPr/>
          <a:lstStyle/>
          <a:p>
            <a:r>
              <a:rPr lang="en-US" altLang="zh-CN" dirty="0"/>
              <a:t>The</a:t>
            </a:r>
            <a:r>
              <a:rPr lang="zh-CN" altLang="en-US" dirty="0"/>
              <a:t> </a:t>
            </a:r>
            <a:r>
              <a:rPr lang="en-US" altLang="zh-CN" dirty="0"/>
              <a:t>step</a:t>
            </a:r>
            <a:r>
              <a:rPr lang="zh-CN" altLang="en-US" dirty="0"/>
              <a:t> </a:t>
            </a:r>
            <a:r>
              <a:rPr lang="en-US" altLang="zh-CN" dirty="0"/>
              <a:t>one</a:t>
            </a:r>
            <a:r>
              <a:rPr lang="zh-CN" altLang="en-US" dirty="0"/>
              <a:t> </a:t>
            </a:r>
            <a:r>
              <a:rPr lang="en-US" altLang="zh-CN" dirty="0"/>
              <a:t>is</a:t>
            </a:r>
            <a:r>
              <a:rPr lang="zh-CN" altLang="en-US" dirty="0"/>
              <a:t> </a:t>
            </a:r>
            <a:r>
              <a:rPr lang="en-US" altLang="zh-CN" dirty="0" err="1"/>
              <a:t>eBPF</a:t>
            </a:r>
            <a:r>
              <a:rPr lang="en-US" altLang="zh-CN" dirty="0"/>
              <a:t>-based</a:t>
            </a:r>
            <a:r>
              <a:rPr lang="zh-CN" altLang="en-US" dirty="0"/>
              <a:t> </a:t>
            </a:r>
            <a:r>
              <a:rPr lang="en-US" altLang="zh-CN" dirty="0"/>
              <a:t>intent</a:t>
            </a:r>
            <a:r>
              <a:rPr lang="zh-CN" altLang="en-US" dirty="0"/>
              <a:t> </a:t>
            </a:r>
            <a:r>
              <a:rPr lang="en-US" altLang="zh-CN" dirty="0"/>
              <a:t>and</a:t>
            </a:r>
            <a:r>
              <a:rPr lang="zh-CN" altLang="en-US" dirty="0"/>
              <a:t> </a:t>
            </a:r>
            <a:r>
              <a:rPr lang="en-US" altLang="zh-CN" dirty="0"/>
              <a:t>effect</a:t>
            </a:r>
            <a:r>
              <a:rPr lang="zh-CN" altLang="en-US" dirty="0"/>
              <a:t> </a:t>
            </a:r>
            <a:r>
              <a:rPr lang="en-US" altLang="zh-CN" dirty="0"/>
              <a:t>extraction,</a:t>
            </a:r>
            <a:r>
              <a:rPr lang="zh-CN" altLang="en-US" dirty="0"/>
              <a:t> </a:t>
            </a:r>
            <a:r>
              <a:rPr lang="en-US" altLang="zh-CN" dirty="0"/>
              <a:t>which</a:t>
            </a:r>
            <a:r>
              <a:rPr lang="zh-CN" altLang="en-US" dirty="0"/>
              <a:t> </a:t>
            </a:r>
            <a:r>
              <a:rPr lang="en-US" altLang="zh-CN" dirty="0"/>
              <a:t>refers</a:t>
            </a:r>
            <a:r>
              <a:rPr lang="zh-CN" altLang="en-US" dirty="0"/>
              <a:t> </a:t>
            </a:r>
            <a:r>
              <a:rPr lang="en-US" altLang="zh-CN" dirty="0"/>
              <a:t>to</a:t>
            </a:r>
            <a:r>
              <a:rPr lang="zh-CN" altLang="en-US" dirty="0"/>
              <a:t> </a:t>
            </a:r>
            <a:r>
              <a:rPr lang="en-US" altLang="zh-CN" dirty="0"/>
              <a:t>the</a:t>
            </a:r>
            <a:r>
              <a:rPr lang="zh-CN" altLang="en-US" dirty="0"/>
              <a:t> </a:t>
            </a:r>
            <a:r>
              <a:rPr lang="en-US" altLang="zh-CN" dirty="0"/>
              <a:t>Boundary</a:t>
            </a:r>
            <a:r>
              <a:rPr lang="zh-CN" altLang="en-US" dirty="0"/>
              <a:t> </a:t>
            </a:r>
            <a:r>
              <a:rPr lang="en-US" altLang="zh-CN" dirty="0"/>
              <a:t>tracing</a:t>
            </a:r>
          </a:p>
          <a:p>
            <a:endParaRPr lang="en-US" altLang="zh-CN" dirty="0"/>
          </a:p>
          <a:p>
            <a:r>
              <a:rPr lang="en-US" altLang="zh-CN" dirty="0" err="1"/>
              <a:t>AgentSight</a:t>
            </a:r>
            <a:r>
              <a:rPr lang="en-US" altLang="zh-CN" dirty="0"/>
              <a:t> uses </a:t>
            </a:r>
            <a:r>
              <a:rPr lang="en-US" altLang="zh-CN" dirty="0" err="1"/>
              <a:t>eBPF</a:t>
            </a:r>
            <a:r>
              <a:rPr lang="en-US" altLang="zh-CN" dirty="0"/>
              <a:t> technology. It places probes at two strict system boundaries. First, in User Space. It uses </a:t>
            </a:r>
            <a:r>
              <a:rPr lang="en-US" altLang="zh-CN" dirty="0" err="1"/>
              <a:t>uprobes</a:t>
            </a:r>
            <a:r>
              <a:rPr lang="en-US" altLang="zh-CN" dirty="0"/>
              <a:t> to catch network traffic before encryption. This gives us the agent‘s Intent. Second, in Kernel Space. It uses </a:t>
            </a:r>
            <a:r>
              <a:rPr lang="en-US" altLang="zh-CN" dirty="0" err="1"/>
              <a:t>tracepoints</a:t>
            </a:r>
            <a:r>
              <a:rPr lang="en-US" altLang="zh-CN" dirty="0"/>
              <a:t> to catch system calls like process creation at Ring 0. This gives us the physical OS Action.</a:t>
            </a:r>
            <a:r>
              <a:rPr lang="zh-CN" altLang="en-US" dirty="0"/>
              <a:t> </a:t>
            </a:r>
            <a:r>
              <a:rPr lang="en-US" altLang="zh-CN" dirty="0"/>
              <a:t>This is the zero-instrumentation</a:t>
            </a:r>
            <a:r>
              <a:rPr lang="zh-CN" altLang="en-US" dirty="0"/>
              <a:t> </a:t>
            </a:r>
            <a:r>
              <a:rPr lang="en-US" altLang="zh-CN" dirty="0"/>
              <a:t>mentioned</a:t>
            </a:r>
            <a:r>
              <a:rPr lang="zh-CN" altLang="en-US" dirty="0"/>
              <a:t> </a:t>
            </a:r>
            <a:r>
              <a:rPr lang="en-US" altLang="zh-CN" dirty="0"/>
              <a:t>in</a:t>
            </a:r>
            <a:r>
              <a:rPr lang="zh-CN" altLang="en-US" dirty="0"/>
              <a:t> </a:t>
            </a:r>
            <a:r>
              <a:rPr lang="en-US" altLang="zh-CN" dirty="0"/>
              <a:t>the</a:t>
            </a:r>
            <a:r>
              <a:rPr lang="zh-CN" altLang="en-US" dirty="0"/>
              <a:t> </a:t>
            </a:r>
            <a:r>
              <a:rPr lang="en-US" altLang="zh-CN" dirty="0"/>
              <a:t>paper.</a:t>
            </a:r>
          </a:p>
          <a:p>
            <a:endParaRPr lang="en-US" altLang="zh-CN" dirty="0"/>
          </a:p>
          <a:p>
            <a:r>
              <a:rPr lang="en-US" altLang="zh-CN" dirty="0"/>
              <a:t>Finally,</a:t>
            </a:r>
            <a:r>
              <a:rPr lang="zh-CN" altLang="en-US" dirty="0"/>
              <a:t>  </a:t>
            </a:r>
            <a:r>
              <a:rPr lang="en-US" altLang="zh-CN" dirty="0"/>
              <a:t>the</a:t>
            </a:r>
            <a:r>
              <a:rPr lang="zh-CN" altLang="en-US" dirty="0"/>
              <a:t> </a:t>
            </a:r>
            <a:r>
              <a:rPr lang="en-US" altLang="zh-CN" dirty="0"/>
              <a:t>output</a:t>
            </a:r>
            <a:r>
              <a:rPr lang="zh-CN" altLang="en-US" dirty="0"/>
              <a:t> </a:t>
            </a:r>
            <a:r>
              <a:rPr lang="en-US" altLang="zh-CN" dirty="0"/>
              <a:t>of</a:t>
            </a:r>
            <a:r>
              <a:rPr lang="zh-CN" altLang="en-US" dirty="0"/>
              <a:t> </a:t>
            </a:r>
            <a:r>
              <a:rPr lang="en-US" altLang="zh-CN" dirty="0"/>
              <a:t>step1</a:t>
            </a:r>
            <a:r>
              <a:rPr lang="zh-CN" altLang="en-US" dirty="0"/>
              <a:t> </a:t>
            </a:r>
            <a:r>
              <a:rPr lang="en-US" altLang="zh-CN" dirty="0"/>
              <a:t>is</a:t>
            </a:r>
            <a:r>
              <a:rPr lang="zh-CN" altLang="en-US" dirty="0"/>
              <a:t> </a:t>
            </a:r>
            <a:r>
              <a:rPr lang="en-US" altLang="zh-CN" dirty="0"/>
              <a:t>the</a:t>
            </a:r>
            <a:r>
              <a:rPr lang="zh-CN" altLang="en-US" dirty="0"/>
              <a:t> </a:t>
            </a:r>
            <a:r>
              <a:rPr lang="en-US" altLang="zh-CN" dirty="0"/>
              <a:t>structured</a:t>
            </a:r>
            <a:r>
              <a:rPr lang="zh-CN" altLang="en-US" dirty="0"/>
              <a:t> </a:t>
            </a:r>
            <a:r>
              <a:rPr lang="en-US" altLang="zh-CN" dirty="0"/>
              <a:t>prompt</a:t>
            </a:r>
            <a:r>
              <a:rPr lang="zh-CN" altLang="en-US" dirty="0"/>
              <a:t> </a:t>
            </a:r>
            <a:r>
              <a:rPr lang="en-US" altLang="zh-CN" dirty="0" err="1"/>
              <a:t>json</a:t>
            </a:r>
            <a:r>
              <a:rPr lang="zh-CN" altLang="en-US" dirty="0"/>
              <a:t> </a:t>
            </a:r>
            <a:r>
              <a:rPr lang="en-US" altLang="zh-CN" dirty="0"/>
              <a:t>events</a:t>
            </a:r>
            <a:r>
              <a:rPr lang="zh-CN" altLang="en-US" dirty="0"/>
              <a:t> </a:t>
            </a:r>
            <a:r>
              <a:rPr lang="en-US" altLang="zh-CN" dirty="0"/>
              <a:t>which</a:t>
            </a:r>
            <a:r>
              <a:rPr lang="zh-CN" altLang="en-US" dirty="0"/>
              <a:t> </a:t>
            </a:r>
            <a:r>
              <a:rPr lang="en-US" altLang="zh-CN" dirty="0"/>
              <a:t>represent</a:t>
            </a:r>
            <a:r>
              <a:rPr lang="zh-CN" altLang="en-US" dirty="0"/>
              <a:t> </a:t>
            </a:r>
            <a:r>
              <a:rPr lang="en-US" altLang="zh-CN" dirty="0"/>
              <a:t>the</a:t>
            </a:r>
            <a:r>
              <a:rPr lang="zh-CN" altLang="en-US" dirty="0"/>
              <a:t> </a:t>
            </a:r>
            <a:r>
              <a:rPr lang="en-US" altLang="zh-CN" dirty="0"/>
              <a:t>intent,</a:t>
            </a:r>
            <a:r>
              <a:rPr lang="zh-CN" altLang="en-US" dirty="0"/>
              <a:t> </a:t>
            </a:r>
            <a:r>
              <a:rPr lang="en-US" altLang="zh-CN" dirty="0"/>
              <a:t>and</a:t>
            </a:r>
            <a:r>
              <a:rPr lang="zh-CN" altLang="en-US" dirty="0"/>
              <a:t> </a:t>
            </a:r>
            <a:r>
              <a:rPr lang="en-US" altLang="zh-CN" dirty="0"/>
              <a:t>the</a:t>
            </a:r>
            <a:r>
              <a:rPr lang="zh-CN" altLang="en-US" dirty="0"/>
              <a:t> </a:t>
            </a:r>
            <a:r>
              <a:rPr lang="en-US" altLang="zh-CN" dirty="0"/>
              <a:t>kernel</a:t>
            </a:r>
            <a:r>
              <a:rPr lang="zh-CN" altLang="en-US" dirty="0"/>
              <a:t> </a:t>
            </a:r>
            <a:r>
              <a:rPr lang="en-US" altLang="zh-CN" dirty="0" err="1"/>
              <a:t>syscall</a:t>
            </a:r>
            <a:r>
              <a:rPr lang="zh-CN" altLang="en-US" dirty="0"/>
              <a:t> </a:t>
            </a:r>
            <a:r>
              <a:rPr lang="en-US" altLang="zh-CN" dirty="0"/>
              <a:t>logs</a:t>
            </a:r>
            <a:r>
              <a:rPr lang="zh-CN" altLang="en-US" dirty="0"/>
              <a:t> </a:t>
            </a:r>
            <a:r>
              <a:rPr lang="en-US" altLang="zh-CN" dirty="0"/>
              <a:t>which</a:t>
            </a:r>
            <a:r>
              <a:rPr lang="zh-CN" altLang="en-US" dirty="0"/>
              <a:t> </a:t>
            </a:r>
            <a:r>
              <a:rPr lang="en-US" altLang="zh-CN" dirty="0"/>
              <a:t>represent</a:t>
            </a:r>
            <a:r>
              <a:rPr lang="zh-CN" altLang="en-US" dirty="0"/>
              <a:t> </a:t>
            </a:r>
            <a:r>
              <a:rPr lang="en-US" altLang="zh-CN" dirty="0"/>
              <a:t>the</a:t>
            </a:r>
            <a:r>
              <a:rPr lang="zh-CN" altLang="en-US" dirty="0"/>
              <a:t> </a:t>
            </a:r>
            <a:r>
              <a:rPr lang="en-US" altLang="zh-CN" dirty="0"/>
              <a:t>actions</a:t>
            </a:r>
          </a:p>
          <a:p>
            <a:endParaRPr lang="en-US" altLang="zh-CN" dirty="0"/>
          </a:p>
          <a:p>
            <a:endParaRPr lang="zh-CN" altLang="en-US" dirty="0"/>
          </a:p>
        </p:txBody>
      </p:sp>
      <p:sp>
        <p:nvSpPr>
          <p:cNvPr id="4" name="灯片编号占位符 3">
            <a:extLst>
              <a:ext uri="{FF2B5EF4-FFF2-40B4-BE49-F238E27FC236}">
                <a16:creationId xmlns:a16="http://schemas.microsoft.com/office/drawing/2014/main" id="{C1B9AEE8-9ED8-974F-FC9C-27C0501B2E0B}"/>
              </a:ext>
            </a:extLst>
          </p:cNvPr>
          <p:cNvSpPr>
            <a:spLocks noGrp="1"/>
          </p:cNvSpPr>
          <p:nvPr>
            <p:ph type="sldNum" sz="quarter" idx="5"/>
          </p:nvPr>
        </p:nvSpPr>
        <p:spPr/>
        <p:txBody>
          <a:bodyPr/>
          <a:lstStyle/>
          <a:p>
            <a:fld id="{B11D5518-E2B7-47D3-A483-775D39982443}" type="slidenum">
              <a:rPr lang="zh-TW" altLang="en-US" smtClean="0"/>
              <a:t>21</a:t>
            </a:fld>
            <a:endParaRPr lang="zh-TW" altLang="en-US"/>
          </a:p>
        </p:txBody>
      </p:sp>
    </p:spTree>
    <p:extLst>
      <p:ext uri="{BB962C8B-B14F-4D97-AF65-F5344CB8AC3E}">
        <p14:creationId xmlns:p14="http://schemas.microsoft.com/office/powerpoint/2010/main" val="17766403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DFA1D-2A23-3F1A-CB19-382C4A084E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B522A0-F7D4-D2D3-CB24-8B88BC4E5FF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5E8418-D41F-917B-695B-0421C96E1C06}"/>
              </a:ext>
            </a:extLst>
          </p:cNvPr>
          <p:cNvSpPr>
            <a:spLocks noGrp="1"/>
          </p:cNvSpPr>
          <p:nvPr>
            <p:ph type="body" idx="1"/>
          </p:nvPr>
        </p:nvSpPr>
        <p:spPr/>
        <p:txBody>
          <a:bodyPr/>
          <a:lstStyle/>
          <a:p>
            <a:r>
              <a:rPr lang="en-US" altLang="zh-CN" dirty="0"/>
              <a:t>Now we have the Intent and the Action. </a:t>
            </a:r>
            <a:r>
              <a:rPr lang="en-US" altLang="zh-CN" dirty="0" err="1"/>
              <a:t>AgentSight</a:t>
            </a:r>
            <a:r>
              <a:rPr lang="en-US" altLang="zh-CN" dirty="0"/>
              <a:t> connects them using a Causal Correlation Engine. It tracks the entire family tree of processes inside the kernel. It binds the network intent to the kernel action. No matter how deeply an attacker hides a malicious script, the kernel will trace it back to the original LLM prompt.</a:t>
            </a:r>
            <a:br>
              <a:rPr lang="en-US" altLang="zh-CN" dirty="0"/>
            </a:br>
            <a:endParaRPr lang="en-US" altLang="zh-CN" dirty="0"/>
          </a:p>
          <a:p>
            <a:r>
              <a:rPr lang="en-US" altLang="zh-CN" dirty="0"/>
              <a:t>And</a:t>
            </a:r>
            <a:r>
              <a:rPr lang="zh-CN" altLang="en-US" dirty="0"/>
              <a:t> </a:t>
            </a:r>
            <a:r>
              <a:rPr lang="en-US" altLang="zh-CN" dirty="0"/>
              <a:t>finally</a:t>
            </a:r>
            <a:r>
              <a:rPr lang="zh-CN" altLang="en-US" dirty="0"/>
              <a:t> </a:t>
            </a:r>
            <a:r>
              <a:rPr lang="en-US" altLang="zh-CN" dirty="0"/>
              <a:t>there</a:t>
            </a:r>
            <a:r>
              <a:rPr lang="zh-CN" altLang="en-US" dirty="0"/>
              <a:t> </a:t>
            </a:r>
            <a:r>
              <a:rPr lang="en-US" altLang="zh-CN" dirty="0"/>
              <a:t>will</a:t>
            </a:r>
            <a:r>
              <a:rPr lang="zh-CN" altLang="en-US" dirty="0"/>
              <a:t> </a:t>
            </a:r>
            <a:r>
              <a:rPr lang="en-US" altLang="zh-CN" dirty="0"/>
              <a:t>be</a:t>
            </a:r>
            <a:r>
              <a:rPr lang="zh-CN" altLang="en-US" dirty="0"/>
              <a:t> </a:t>
            </a:r>
            <a:r>
              <a:rPr lang="en-US" altLang="zh-CN" dirty="0"/>
              <a:t>a</a:t>
            </a:r>
            <a:r>
              <a:rPr lang="zh-CN" altLang="en-US" dirty="0"/>
              <a:t> </a:t>
            </a:r>
            <a:r>
              <a:rPr lang="en-US" altLang="zh-CN" dirty="0"/>
              <a:t>LLM-as-a-judge,</a:t>
            </a:r>
            <a:r>
              <a:rPr lang="zh-CN" altLang="en-US" dirty="0"/>
              <a:t> </a:t>
            </a:r>
            <a:r>
              <a:rPr lang="en-US" altLang="zh-CN" dirty="0"/>
              <a:t>to</a:t>
            </a:r>
            <a:r>
              <a:rPr lang="zh-CN" altLang="en-US" dirty="0"/>
              <a:t> </a:t>
            </a:r>
            <a:r>
              <a:rPr lang="en-US" altLang="zh-CN" dirty="0"/>
              <a:t>inference</a:t>
            </a:r>
            <a:r>
              <a:rPr lang="zh-CN" altLang="en-US" dirty="0"/>
              <a:t> </a:t>
            </a:r>
            <a:r>
              <a:rPr lang="en-US" altLang="zh-CN" dirty="0"/>
              <a:t>operational</a:t>
            </a:r>
            <a:r>
              <a:rPr lang="zh-CN" altLang="en-US" dirty="0"/>
              <a:t> </a:t>
            </a:r>
            <a:r>
              <a:rPr lang="en-US" altLang="zh-CN" dirty="0"/>
              <a:t>risks</a:t>
            </a:r>
            <a:r>
              <a:rPr lang="zh-CN" altLang="en-US" dirty="0"/>
              <a:t> </a:t>
            </a:r>
            <a:r>
              <a:rPr lang="en-US" altLang="zh-CN" dirty="0"/>
              <a:t>and</a:t>
            </a:r>
            <a:r>
              <a:rPr lang="zh-CN" altLang="en-US" dirty="0"/>
              <a:t> </a:t>
            </a:r>
            <a:r>
              <a:rPr lang="en-US" altLang="zh-CN" dirty="0"/>
              <a:t>identifying</a:t>
            </a:r>
            <a:r>
              <a:rPr lang="zh-CN" altLang="en-US" dirty="0"/>
              <a:t> </a:t>
            </a:r>
            <a:r>
              <a:rPr lang="en-US" altLang="zh-CN" dirty="0"/>
              <a:t>abnormal</a:t>
            </a:r>
            <a:r>
              <a:rPr lang="zh-CN" altLang="en-US" dirty="0"/>
              <a:t> </a:t>
            </a:r>
            <a:r>
              <a:rPr lang="en-US" altLang="zh-CN" dirty="0"/>
              <a:t>patterns,</a:t>
            </a:r>
            <a:r>
              <a:rPr lang="zh-CN" altLang="en-US" dirty="0"/>
              <a:t> </a:t>
            </a:r>
            <a:r>
              <a:rPr lang="en-US" altLang="zh-CN" dirty="0"/>
              <a:t>such</a:t>
            </a:r>
            <a:r>
              <a:rPr lang="zh-CN" altLang="en-US" dirty="0"/>
              <a:t> </a:t>
            </a:r>
            <a:r>
              <a:rPr lang="en-US" altLang="zh-CN" dirty="0"/>
              <a:t>as</a:t>
            </a:r>
            <a:r>
              <a:rPr lang="zh-CN" altLang="en-US" dirty="0"/>
              <a:t> </a:t>
            </a:r>
            <a:r>
              <a:rPr lang="en-US" altLang="zh-CN" dirty="0"/>
              <a:t>requests</a:t>
            </a:r>
            <a:r>
              <a:rPr lang="zh-CN" altLang="en-US" dirty="0"/>
              <a:t> </a:t>
            </a:r>
            <a:r>
              <a:rPr lang="en-US" altLang="zh-CN" dirty="0"/>
              <a:t>that</a:t>
            </a:r>
            <a:r>
              <a:rPr lang="zh-CN" altLang="en-US" dirty="0"/>
              <a:t> </a:t>
            </a:r>
            <a:r>
              <a:rPr lang="en-US" altLang="zh-CN" dirty="0"/>
              <a:t>do</a:t>
            </a:r>
            <a:r>
              <a:rPr lang="zh-CN" altLang="en-US" dirty="0"/>
              <a:t> </a:t>
            </a:r>
            <a:r>
              <a:rPr lang="en-US" altLang="zh-CN" dirty="0"/>
              <a:t>not</a:t>
            </a:r>
            <a:r>
              <a:rPr lang="zh-CN" altLang="en-US" dirty="0"/>
              <a:t> </a:t>
            </a:r>
            <a:r>
              <a:rPr lang="en-US" altLang="zh-CN" dirty="0"/>
              <a:t>match</a:t>
            </a:r>
            <a:r>
              <a:rPr lang="zh-CN" altLang="en-US" dirty="0"/>
              <a:t> </a:t>
            </a:r>
            <a:r>
              <a:rPr lang="en-US" altLang="zh-CN" dirty="0"/>
              <a:t>actual</a:t>
            </a:r>
            <a:r>
              <a:rPr lang="zh-CN" altLang="en-US" dirty="0"/>
              <a:t> </a:t>
            </a:r>
            <a:r>
              <a:rPr lang="en-US" altLang="zh-CN" dirty="0"/>
              <a:t>execution</a:t>
            </a:r>
            <a:r>
              <a:rPr lang="zh-CN" altLang="en-US" dirty="0"/>
              <a:t> </a:t>
            </a:r>
            <a:r>
              <a:rPr lang="en-US" altLang="zh-CN" dirty="0"/>
              <a:t>or</a:t>
            </a:r>
            <a:r>
              <a:rPr lang="zh-CN" altLang="en-US" dirty="0"/>
              <a:t> </a:t>
            </a:r>
            <a:r>
              <a:rPr lang="en-US" altLang="zh-CN" dirty="0"/>
              <a:t>repeated</a:t>
            </a:r>
            <a:r>
              <a:rPr lang="zh-CN" altLang="en-US" dirty="0"/>
              <a:t> </a:t>
            </a:r>
            <a:r>
              <a:rPr lang="en-US" altLang="zh-CN" dirty="0"/>
              <a:t>failed</a:t>
            </a:r>
            <a:r>
              <a:rPr lang="zh-CN" altLang="en-US" dirty="0"/>
              <a:t> </a:t>
            </a:r>
            <a:r>
              <a:rPr lang="en-US" altLang="zh-CN" dirty="0"/>
              <a:t>calls.</a:t>
            </a:r>
            <a:r>
              <a:rPr lang="zh-CN" altLang="en-US" dirty="0"/>
              <a:t> </a:t>
            </a:r>
            <a:r>
              <a:rPr lang="en-US" altLang="zh-CN" dirty="0"/>
              <a:t>and</a:t>
            </a:r>
            <a:r>
              <a:rPr lang="zh-CN" altLang="en-US" dirty="0"/>
              <a:t> </a:t>
            </a:r>
            <a:r>
              <a:rPr lang="en-US" altLang="zh-CN" dirty="0"/>
              <a:t>we</a:t>
            </a:r>
            <a:r>
              <a:rPr lang="zh-CN" altLang="en-US" dirty="0"/>
              <a:t> </a:t>
            </a:r>
            <a:r>
              <a:rPr lang="en-US" altLang="zh-CN" dirty="0"/>
              <a:t>will</a:t>
            </a:r>
            <a:r>
              <a:rPr lang="zh-CN" altLang="en-US" dirty="0"/>
              <a:t> </a:t>
            </a:r>
            <a:r>
              <a:rPr lang="en-US" altLang="zh-CN" dirty="0"/>
              <a:t>get</a:t>
            </a:r>
            <a:r>
              <a:rPr lang="zh-CN" altLang="en-US" dirty="0"/>
              <a:t> </a:t>
            </a:r>
            <a:r>
              <a:rPr lang="en-US" altLang="zh-CN" dirty="0"/>
              <a:t>a</a:t>
            </a:r>
            <a:r>
              <a:rPr lang="zh-CN" altLang="en-US" dirty="0"/>
              <a:t> </a:t>
            </a:r>
            <a:r>
              <a:rPr lang="en-US" altLang="zh-CN" dirty="0"/>
              <a:t>risk</a:t>
            </a:r>
            <a:r>
              <a:rPr lang="zh-CN" altLang="en-US" dirty="0"/>
              <a:t> </a:t>
            </a:r>
            <a:r>
              <a:rPr lang="en-US" altLang="zh-CN" dirty="0"/>
              <a:t>report</a:t>
            </a:r>
            <a:r>
              <a:rPr lang="zh-CN" altLang="en-US" dirty="0"/>
              <a:t> </a:t>
            </a:r>
            <a:r>
              <a:rPr lang="en-US" altLang="zh-CN" dirty="0"/>
              <a:t>in</a:t>
            </a:r>
            <a:r>
              <a:rPr lang="zh-CN" altLang="en-US" dirty="0"/>
              <a:t> </a:t>
            </a:r>
            <a:r>
              <a:rPr lang="en-US" altLang="zh-CN" dirty="0"/>
              <a:t>the</a:t>
            </a:r>
            <a:r>
              <a:rPr lang="zh-CN" altLang="en-US" dirty="0"/>
              <a:t> </a:t>
            </a:r>
            <a:r>
              <a:rPr lang="en-US" altLang="zh-CN" dirty="0"/>
              <a:t>end</a:t>
            </a:r>
            <a:endParaRPr lang="zh-CN" altLang="en-US" dirty="0"/>
          </a:p>
        </p:txBody>
      </p:sp>
      <p:sp>
        <p:nvSpPr>
          <p:cNvPr id="4" name="灯片编号占位符 3">
            <a:extLst>
              <a:ext uri="{FF2B5EF4-FFF2-40B4-BE49-F238E27FC236}">
                <a16:creationId xmlns:a16="http://schemas.microsoft.com/office/drawing/2014/main" id="{D6BC45E2-E1BD-29D8-E3A1-5A5328D5CA0B}"/>
              </a:ext>
            </a:extLst>
          </p:cNvPr>
          <p:cNvSpPr>
            <a:spLocks noGrp="1"/>
          </p:cNvSpPr>
          <p:nvPr>
            <p:ph type="sldNum" sz="quarter" idx="5"/>
          </p:nvPr>
        </p:nvSpPr>
        <p:spPr/>
        <p:txBody>
          <a:bodyPr/>
          <a:lstStyle/>
          <a:p>
            <a:fld id="{B11D5518-E2B7-47D3-A483-775D39982443}" type="slidenum">
              <a:rPr lang="zh-TW" altLang="en-US" smtClean="0"/>
              <a:t>22</a:t>
            </a:fld>
            <a:endParaRPr lang="zh-TW" altLang="en-US"/>
          </a:p>
        </p:txBody>
      </p:sp>
    </p:spTree>
    <p:extLst>
      <p:ext uri="{BB962C8B-B14F-4D97-AF65-F5344CB8AC3E}">
        <p14:creationId xmlns:p14="http://schemas.microsoft.com/office/powerpoint/2010/main" val="22810836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36049-1395-5CE7-68C9-03F9BA84CC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DC1F04-10DF-2AD2-AE00-79CB2FFDE9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600347E-129F-EF08-16F2-FC2E9E397C34}"/>
              </a:ext>
            </a:extLst>
          </p:cNvPr>
          <p:cNvSpPr>
            <a:spLocks noGrp="1"/>
          </p:cNvSpPr>
          <p:nvPr>
            <p:ph type="body" idx="1"/>
          </p:nvPr>
        </p:nvSpPr>
        <p:spPr/>
        <p:txBody>
          <a:bodyPr/>
          <a:lstStyle/>
          <a:p>
            <a:r>
              <a:rPr lang="en-US" altLang="zh-CN" dirty="0"/>
              <a:t>For</a:t>
            </a:r>
            <a:r>
              <a:rPr lang="zh-CN" altLang="en-US" dirty="0"/>
              <a:t> </a:t>
            </a:r>
            <a:r>
              <a:rPr lang="en-US" altLang="zh-CN" dirty="0"/>
              <a:t>the</a:t>
            </a:r>
            <a:r>
              <a:rPr lang="zh-CN" altLang="en-US" dirty="0"/>
              <a:t> </a:t>
            </a:r>
            <a:r>
              <a:rPr lang="en-US" altLang="zh-CN" dirty="0"/>
              <a:t>experiment</a:t>
            </a:r>
            <a:r>
              <a:rPr lang="zh-CN" altLang="en-US" dirty="0"/>
              <a:t> </a:t>
            </a:r>
            <a:r>
              <a:rPr lang="en-US" altLang="zh-CN" dirty="0"/>
              <a:t>result</a:t>
            </a:r>
            <a:r>
              <a:rPr lang="zh-CN" altLang="en-US" dirty="0"/>
              <a:t> </a:t>
            </a:r>
            <a:r>
              <a:rPr lang="en-US" altLang="zh-CN" dirty="0"/>
              <a:t>part,</a:t>
            </a:r>
            <a:r>
              <a:rPr lang="zh-CN" altLang="en-US" dirty="0"/>
              <a:t> </a:t>
            </a:r>
            <a:r>
              <a:rPr lang="en-US" altLang="zh-CN" dirty="0"/>
              <a:t>the</a:t>
            </a:r>
            <a:r>
              <a:rPr lang="zh-CN" altLang="en-US" dirty="0"/>
              <a:t> </a:t>
            </a:r>
            <a:r>
              <a:rPr lang="en-US" altLang="zh-CN" dirty="0"/>
              <a:t>paper</a:t>
            </a:r>
            <a:r>
              <a:rPr lang="zh-CN" altLang="en-US" dirty="0"/>
              <a:t> </a:t>
            </a:r>
            <a:r>
              <a:rPr lang="en-US" altLang="zh-CN" dirty="0"/>
              <a:t>tested</a:t>
            </a:r>
            <a:r>
              <a:rPr lang="zh-CN" altLang="en-US" dirty="0"/>
              <a:t> </a:t>
            </a:r>
            <a:r>
              <a:rPr lang="en-US" altLang="zh-CN" dirty="0"/>
              <a:t>the</a:t>
            </a:r>
            <a:r>
              <a:rPr lang="zh-CN" altLang="en-US" dirty="0"/>
              <a:t> </a:t>
            </a:r>
            <a:r>
              <a:rPr lang="en-US" altLang="zh-CN" dirty="0" err="1"/>
              <a:t>agentsight</a:t>
            </a:r>
            <a:r>
              <a:rPr lang="zh-CN" altLang="en-US" dirty="0"/>
              <a:t> </a:t>
            </a:r>
            <a:r>
              <a:rPr lang="en-US" altLang="zh-CN" dirty="0"/>
              <a:t>across</a:t>
            </a:r>
            <a:r>
              <a:rPr lang="zh-CN" altLang="en-US" dirty="0"/>
              <a:t> </a:t>
            </a:r>
            <a:r>
              <a:rPr lang="en-US" altLang="zh-CN" dirty="0"/>
              <a:t>3</a:t>
            </a:r>
            <a:r>
              <a:rPr lang="zh-CN" altLang="en-US" dirty="0"/>
              <a:t> </a:t>
            </a:r>
            <a:r>
              <a:rPr lang="en-US" altLang="zh-CN" dirty="0"/>
              <a:t>tasks,</a:t>
            </a:r>
            <a:r>
              <a:rPr lang="zh-CN" altLang="en-US" dirty="0"/>
              <a:t> </a:t>
            </a:r>
            <a:r>
              <a:rPr lang="en-US" altLang="zh-CN" dirty="0"/>
              <a:t>covering</a:t>
            </a:r>
            <a:r>
              <a:rPr lang="zh-CN" altLang="en-US" dirty="0"/>
              <a:t> </a:t>
            </a:r>
            <a:r>
              <a:rPr lang="en-US" altLang="zh-CN" dirty="0"/>
              <a:t>understanding</a:t>
            </a:r>
            <a:r>
              <a:rPr lang="zh-CN" altLang="en-US" dirty="0"/>
              <a:t> </a:t>
            </a:r>
            <a:r>
              <a:rPr lang="en-US" altLang="zh-CN" dirty="0"/>
              <a:t>repository,</a:t>
            </a:r>
            <a:r>
              <a:rPr lang="zh-CN" altLang="en-US" dirty="0"/>
              <a:t> </a:t>
            </a:r>
            <a:r>
              <a:rPr lang="en-US" altLang="zh-CN" dirty="0"/>
              <a:t>code</a:t>
            </a:r>
            <a:r>
              <a:rPr lang="zh-CN" altLang="en-US" dirty="0"/>
              <a:t> </a:t>
            </a:r>
            <a:r>
              <a:rPr lang="en-US" altLang="zh-CN" dirty="0"/>
              <a:t>generation</a:t>
            </a:r>
            <a:r>
              <a:rPr lang="zh-CN" altLang="en-US" dirty="0"/>
              <a:t> </a:t>
            </a:r>
            <a:r>
              <a:rPr lang="en-US" altLang="zh-CN" dirty="0"/>
              <a:t>for</a:t>
            </a:r>
            <a:r>
              <a:rPr lang="zh-CN" altLang="en-US" dirty="0"/>
              <a:t> </a:t>
            </a:r>
            <a:r>
              <a:rPr lang="en-US" altLang="zh-CN" dirty="0" err="1"/>
              <a:t>BPFtrace</a:t>
            </a:r>
            <a:r>
              <a:rPr lang="zh-CN" altLang="en-US" dirty="0"/>
              <a:t> </a:t>
            </a:r>
            <a:r>
              <a:rPr lang="en-US" altLang="zh-CN" dirty="0"/>
              <a:t>scripts</a:t>
            </a:r>
            <a:r>
              <a:rPr lang="zh-CN" altLang="en-US" dirty="0"/>
              <a:t> </a:t>
            </a:r>
            <a:r>
              <a:rPr lang="en-US" altLang="zh-CN" dirty="0"/>
              <a:t>and</a:t>
            </a:r>
            <a:r>
              <a:rPr lang="zh-CN" altLang="en-US" dirty="0"/>
              <a:t> </a:t>
            </a:r>
            <a:r>
              <a:rPr lang="en-US" altLang="zh-CN" dirty="0"/>
              <a:t>full</a:t>
            </a:r>
            <a:r>
              <a:rPr lang="zh-CN" altLang="en-US" dirty="0"/>
              <a:t> </a:t>
            </a:r>
            <a:r>
              <a:rPr lang="en-US" altLang="zh-CN" dirty="0"/>
              <a:t>repository</a:t>
            </a:r>
            <a:r>
              <a:rPr lang="zh-CN" altLang="en-US" dirty="0"/>
              <a:t> </a:t>
            </a:r>
            <a:r>
              <a:rPr lang="en-US" altLang="zh-CN" dirty="0"/>
              <a:t>compilations</a:t>
            </a:r>
            <a:r>
              <a:rPr lang="zh-CN" altLang="en-US" dirty="0"/>
              <a:t> </a:t>
            </a:r>
            <a:r>
              <a:rPr lang="en-US" altLang="zh-CN" dirty="0"/>
              <a:t>with</a:t>
            </a:r>
            <a:r>
              <a:rPr lang="zh-CN" altLang="en-US" dirty="0"/>
              <a:t> </a:t>
            </a:r>
            <a:r>
              <a:rPr lang="en-US" altLang="zh-CN" dirty="0"/>
              <a:t>parallel</a:t>
            </a:r>
            <a:r>
              <a:rPr lang="zh-CN" altLang="en-US" dirty="0"/>
              <a:t> </a:t>
            </a:r>
            <a:r>
              <a:rPr lang="en-US" altLang="zh-CN" dirty="0"/>
              <a:t>builds.</a:t>
            </a:r>
          </a:p>
          <a:p>
            <a:endParaRPr lang="en-US" altLang="zh-CN" dirty="0"/>
          </a:p>
          <a:p>
            <a:r>
              <a:rPr lang="en-US" altLang="zh-CN" dirty="0"/>
              <a:t>Each</a:t>
            </a:r>
            <a:r>
              <a:rPr lang="zh-CN" altLang="en-US" dirty="0"/>
              <a:t> </a:t>
            </a:r>
            <a:r>
              <a:rPr lang="en-US" altLang="zh-CN" dirty="0"/>
              <a:t>experiment</a:t>
            </a:r>
            <a:r>
              <a:rPr lang="zh-CN" altLang="en-US" dirty="0"/>
              <a:t> </a:t>
            </a:r>
            <a:r>
              <a:rPr lang="en-US" altLang="zh-CN" dirty="0"/>
              <a:t>was</a:t>
            </a:r>
            <a:r>
              <a:rPr lang="zh-CN" altLang="en-US" dirty="0"/>
              <a:t> </a:t>
            </a:r>
            <a:r>
              <a:rPr lang="en-US" altLang="zh-CN" dirty="0"/>
              <a:t>run</a:t>
            </a:r>
            <a:r>
              <a:rPr lang="zh-CN" altLang="en-US" dirty="0"/>
              <a:t> </a:t>
            </a:r>
            <a:r>
              <a:rPr lang="en-US" altLang="zh-CN" dirty="0"/>
              <a:t>3</a:t>
            </a:r>
            <a:r>
              <a:rPr lang="zh-CN" altLang="en-US" dirty="0"/>
              <a:t> </a:t>
            </a:r>
            <a:r>
              <a:rPr lang="en-US" altLang="zh-CN" dirty="0" err="1"/>
              <a:t>timeswith</a:t>
            </a:r>
            <a:r>
              <a:rPr lang="zh-CN" altLang="en-US" dirty="0"/>
              <a:t> </a:t>
            </a:r>
            <a:r>
              <a:rPr lang="en-US" altLang="zh-CN" dirty="0"/>
              <a:t>and</a:t>
            </a:r>
            <a:r>
              <a:rPr lang="zh-CN" altLang="en-US" dirty="0"/>
              <a:t> </a:t>
            </a:r>
            <a:r>
              <a:rPr lang="en-US" altLang="zh-CN" dirty="0"/>
              <a:t>without</a:t>
            </a:r>
            <a:r>
              <a:rPr lang="zh-CN" altLang="en-US" dirty="0"/>
              <a:t> </a:t>
            </a:r>
            <a:r>
              <a:rPr lang="en-US" altLang="zh-CN" dirty="0" err="1"/>
              <a:t>agentsight</a:t>
            </a:r>
            <a:r>
              <a:rPr lang="zh-CN" altLang="en-US" dirty="0"/>
              <a:t> </a:t>
            </a:r>
            <a:r>
              <a:rPr lang="en-US" altLang="zh-CN" dirty="0"/>
              <a:t>to</a:t>
            </a:r>
            <a:r>
              <a:rPr lang="zh-CN" altLang="en-US" dirty="0"/>
              <a:t> </a:t>
            </a:r>
            <a:r>
              <a:rPr lang="en-US" altLang="zh-CN" dirty="0"/>
              <a:t>measure</a:t>
            </a:r>
            <a:r>
              <a:rPr lang="zh-CN" altLang="en-US" dirty="0"/>
              <a:t> </a:t>
            </a:r>
            <a:r>
              <a:rPr lang="en-US" altLang="zh-CN" dirty="0"/>
              <a:t>the</a:t>
            </a:r>
            <a:r>
              <a:rPr lang="zh-CN" altLang="en-US" dirty="0"/>
              <a:t> </a:t>
            </a:r>
            <a:r>
              <a:rPr lang="en-US" altLang="zh-CN" dirty="0"/>
              <a:t>runtime</a:t>
            </a:r>
            <a:r>
              <a:rPr lang="zh-CN" altLang="en-US" dirty="0"/>
              <a:t> </a:t>
            </a:r>
            <a:r>
              <a:rPr lang="en-US" altLang="zh-CN" dirty="0"/>
              <a:t>overhead,</a:t>
            </a:r>
            <a:r>
              <a:rPr lang="zh-CN" altLang="en-US" dirty="0"/>
              <a:t> </a:t>
            </a:r>
            <a:r>
              <a:rPr lang="en-US" altLang="zh-CN" dirty="0"/>
              <a:t>the</a:t>
            </a:r>
            <a:r>
              <a:rPr lang="zh-CN" altLang="en-US" dirty="0"/>
              <a:t> </a:t>
            </a:r>
            <a:r>
              <a:rPr lang="en-US" altLang="zh-CN" dirty="0"/>
              <a:t>result</a:t>
            </a:r>
            <a:r>
              <a:rPr lang="zh-CN" altLang="en-US" dirty="0"/>
              <a:t> </a:t>
            </a:r>
            <a:r>
              <a:rPr lang="en-US" altLang="zh-CN" dirty="0"/>
              <a:t>shows</a:t>
            </a:r>
            <a:r>
              <a:rPr lang="zh-CN" altLang="en-US" dirty="0"/>
              <a:t> </a:t>
            </a:r>
            <a:r>
              <a:rPr lang="en-US" altLang="zh-CN" dirty="0"/>
              <a:t>the total CPU overhead is less than 3 percent. It is extremely lightweight.</a:t>
            </a:r>
          </a:p>
          <a:p>
            <a:endParaRPr lang="en-US" altLang="zh-CN" dirty="0"/>
          </a:p>
          <a:p>
            <a:r>
              <a:rPr lang="en-US" altLang="zh-CN" dirty="0"/>
              <a:t>But</a:t>
            </a:r>
            <a:r>
              <a:rPr lang="zh-CN" altLang="en-US" dirty="0"/>
              <a:t> </a:t>
            </a:r>
            <a:r>
              <a:rPr lang="en-US" altLang="zh-CN" dirty="0"/>
              <a:t>for</a:t>
            </a:r>
            <a:r>
              <a:rPr lang="zh-CN" altLang="en-US" dirty="0"/>
              <a:t> </a:t>
            </a:r>
            <a:r>
              <a:rPr lang="en-US" altLang="zh-CN" dirty="0"/>
              <a:t>the</a:t>
            </a:r>
            <a:r>
              <a:rPr lang="zh-CN" altLang="en-US" dirty="0"/>
              <a:t> </a:t>
            </a:r>
            <a:r>
              <a:rPr lang="en-US" altLang="zh-CN" dirty="0"/>
              <a:t>effectiveness</a:t>
            </a:r>
            <a:r>
              <a:rPr lang="zh-CN" altLang="en-US" dirty="0"/>
              <a:t> </a:t>
            </a:r>
            <a:r>
              <a:rPr lang="en-US" altLang="zh-CN" dirty="0"/>
              <a:t>part,</a:t>
            </a:r>
            <a:r>
              <a:rPr lang="zh-CN" altLang="en-US" dirty="0"/>
              <a:t> </a:t>
            </a:r>
            <a:r>
              <a:rPr lang="en-US" altLang="zh-CN" dirty="0"/>
              <a:t>the</a:t>
            </a:r>
            <a:r>
              <a:rPr lang="zh-CN" altLang="en-US" dirty="0"/>
              <a:t> </a:t>
            </a:r>
            <a:r>
              <a:rPr lang="en-US" altLang="zh-CN" dirty="0"/>
              <a:t>author</a:t>
            </a:r>
            <a:r>
              <a:rPr lang="zh-CN" altLang="en-US" dirty="0"/>
              <a:t> </a:t>
            </a:r>
            <a:r>
              <a:rPr lang="en-US" altLang="zh-CN" dirty="0"/>
              <a:t>just</a:t>
            </a:r>
            <a:r>
              <a:rPr lang="zh-CN" altLang="en-US" dirty="0"/>
              <a:t> </a:t>
            </a:r>
            <a:r>
              <a:rPr lang="en-US" altLang="zh-CN" dirty="0"/>
              <a:t>list</a:t>
            </a:r>
            <a:r>
              <a:rPr lang="zh-CN" altLang="en-US" dirty="0"/>
              <a:t> </a:t>
            </a:r>
            <a:r>
              <a:rPr lang="en-US" altLang="zh-CN" dirty="0"/>
              <a:t>out</a:t>
            </a:r>
            <a:r>
              <a:rPr lang="zh-CN" altLang="en-US" dirty="0"/>
              <a:t> </a:t>
            </a:r>
            <a:r>
              <a:rPr lang="en-US" altLang="zh-CN" dirty="0"/>
              <a:t>3</a:t>
            </a:r>
            <a:r>
              <a:rPr lang="zh-CN" altLang="en-US" dirty="0"/>
              <a:t> </a:t>
            </a:r>
            <a:r>
              <a:rPr lang="en-US" altLang="zh-CN" dirty="0"/>
              <a:t>case</a:t>
            </a:r>
            <a:r>
              <a:rPr lang="zh-CN" altLang="en-US" dirty="0"/>
              <a:t> </a:t>
            </a:r>
            <a:r>
              <a:rPr lang="en-US" altLang="zh-CN" dirty="0"/>
              <a:t>study</a:t>
            </a:r>
            <a:r>
              <a:rPr lang="zh-CN" altLang="en-US" dirty="0"/>
              <a:t> </a:t>
            </a:r>
            <a:r>
              <a:rPr lang="en-US" altLang="zh-CN" dirty="0"/>
              <a:t>with</a:t>
            </a:r>
            <a:r>
              <a:rPr lang="zh-CN" altLang="en-US" dirty="0"/>
              <a:t> </a:t>
            </a:r>
            <a:r>
              <a:rPr lang="en-US" altLang="zh-CN" dirty="0"/>
              <a:t>limited</a:t>
            </a:r>
            <a:r>
              <a:rPr lang="zh-CN" altLang="en-US" dirty="0"/>
              <a:t> </a:t>
            </a:r>
            <a:r>
              <a:rPr lang="en-US" altLang="zh-CN" dirty="0"/>
              <a:t>description</a:t>
            </a:r>
            <a:r>
              <a:rPr lang="zh-CN" altLang="en-US" dirty="0"/>
              <a:t> </a:t>
            </a:r>
            <a:r>
              <a:rPr lang="en-US" altLang="zh-CN" dirty="0"/>
              <a:t>so</a:t>
            </a:r>
            <a:r>
              <a:rPr lang="zh-CN" altLang="en-US" dirty="0"/>
              <a:t> </a:t>
            </a:r>
            <a:r>
              <a:rPr lang="en-US" altLang="zh-CN" dirty="0"/>
              <a:t>I</a:t>
            </a:r>
            <a:r>
              <a:rPr lang="zh-CN" altLang="en-US" dirty="0"/>
              <a:t> </a:t>
            </a:r>
            <a:r>
              <a:rPr lang="en-US" altLang="zh-CN" dirty="0"/>
              <a:t>just</a:t>
            </a:r>
            <a:r>
              <a:rPr lang="zh-CN" altLang="en-US" dirty="0"/>
              <a:t> </a:t>
            </a:r>
            <a:r>
              <a:rPr lang="en-US" altLang="zh-CN" dirty="0"/>
              <a:t>put</a:t>
            </a:r>
            <a:r>
              <a:rPr lang="zh-CN" altLang="en-US" dirty="0"/>
              <a:t> </a:t>
            </a:r>
            <a:r>
              <a:rPr lang="en-US" altLang="zh-CN" dirty="0"/>
              <a:t>the</a:t>
            </a:r>
            <a:r>
              <a:rPr lang="zh-CN" altLang="en-US" dirty="0"/>
              <a:t> </a:t>
            </a:r>
            <a:r>
              <a:rPr lang="en-US" altLang="zh-CN" dirty="0"/>
              <a:t>screenshots</a:t>
            </a:r>
            <a:r>
              <a:rPr lang="zh-CN" altLang="en-US" dirty="0"/>
              <a:t> </a:t>
            </a:r>
            <a:r>
              <a:rPr lang="en-US" altLang="zh-CN" dirty="0"/>
              <a:t>here</a:t>
            </a:r>
          </a:p>
          <a:p>
            <a:endParaRPr lang="en-US" altLang="zh-CN" dirty="0"/>
          </a:p>
          <a:p>
            <a:endParaRPr lang="zh-CN" altLang="en-US" dirty="0"/>
          </a:p>
        </p:txBody>
      </p:sp>
      <p:sp>
        <p:nvSpPr>
          <p:cNvPr id="4" name="灯片编号占位符 3">
            <a:extLst>
              <a:ext uri="{FF2B5EF4-FFF2-40B4-BE49-F238E27FC236}">
                <a16:creationId xmlns:a16="http://schemas.microsoft.com/office/drawing/2014/main" id="{3D29BF37-CE9D-A5DB-26EC-3D37A6FF581F}"/>
              </a:ext>
            </a:extLst>
          </p:cNvPr>
          <p:cNvSpPr>
            <a:spLocks noGrp="1"/>
          </p:cNvSpPr>
          <p:nvPr>
            <p:ph type="sldNum" sz="quarter" idx="5"/>
          </p:nvPr>
        </p:nvSpPr>
        <p:spPr/>
        <p:txBody>
          <a:bodyPr/>
          <a:lstStyle/>
          <a:p>
            <a:fld id="{B11D5518-E2B7-47D3-A483-775D39982443}" type="slidenum">
              <a:rPr lang="zh-TW" altLang="en-US" smtClean="0"/>
              <a:t>23</a:t>
            </a:fld>
            <a:endParaRPr lang="zh-TW" altLang="en-US"/>
          </a:p>
        </p:txBody>
      </p:sp>
    </p:spTree>
    <p:extLst>
      <p:ext uri="{BB962C8B-B14F-4D97-AF65-F5344CB8AC3E}">
        <p14:creationId xmlns:p14="http://schemas.microsoft.com/office/powerpoint/2010/main" val="33018568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04588-42FC-3E5D-F980-64AB689819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92909A-0EF0-0EBF-D736-20A67C7BF87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66A0AF7-E050-A71C-28F6-95707DDCFE90}"/>
              </a:ext>
            </a:extLst>
          </p:cNvPr>
          <p:cNvSpPr>
            <a:spLocks noGrp="1"/>
          </p:cNvSpPr>
          <p:nvPr>
            <p:ph type="body" idx="1"/>
          </p:nvPr>
        </p:nvSpPr>
        <p:spPr/>
        <p:txBody>
          <a:bodyPr/>
          <a:lstStyle/>
          <a:p>
            <a:r>
              <a:rPr lang="en-US" altLang="zh-CN" dirty="0" err="1"/>
              <a:t>AgentSight</a:t>
            </a:r>
            <a:r>
              <a:rPr lang="en-US" altLang="zh-CN" dirty="0"/>
              <a:t> is interesting. It has minimal CPU overhead and cannot be tampered with. But it has one flaw: it is stateless. </a:t>
            </a:r>
            <a:r>
              <a:rPr lang="en-US" altLang="zh-CN" dirty="0" err="1"/>
              <a:t>eBPF</a:t>
            </a:r>
            <a:r>
              <a:rPr lang="en-US" altLang="zh-CN" dirty="0"/>
              <a:t> analyzes single events. </a:t>
            </a:r>
          </a:p>
          <a:p>
            <a:endParaRPr lang="en-US" altLang="zh-CN" dirty="0"/>
          </a:p>
          <a:p>
            <a:r>
              <a:rPr lang="en-US" altLang="zh-CN" dirty="0"/>
              <a:t>bug</a:t>
            </a:r>
            <a:r>
              <a:rPr lang="zh-CN" altLang="en-US" dirty="0"/>
              <a:t> </a:t>
            </a:r>
            <a:r>
              <a:rPr lang="en-US" altLang="zh-CN" dirty="0"/>
              <a:t>the</a:t>
            </a:r>
            <a:r>
              <a:rPr lang="zh-CN" altLang="en-US" dirty="0"/>
              <a:t> </a:t>
            </a:r>
            <a:r>
              <a:rPr lang="en-US" altLang="zh-CN" dirty="0"/>
              <a:t>Modern agents run for weeks. If an attacker splits a malicious plan into tiny, legal-looking steps over five days, a stateless monitor will miss it. We need a defense that understands time</a:t>
            </a:r>
            <a:r>
              <a:rPr lang="zh-CN" altLang="en-US" dirty="0"/>
              <a:t> </a:t>
            </a:r>
            <a:r>
              <a:rPr lang="en-US" altLang="zh-CN" dirty="0"/>
              <a:t>and</a:t>
            </a:r>
            <a:r>
              <a:rPr lang="zh-CN" altLang="en-US" dirty="0"/>
              <a:t> </a:t>
            </a:r>
            <a:r>
              <a:rPr lang="en-US" altLang="zh-CN" dirty="0"/>
              <a:t>expanded</a:t>
            </a:r>
            <a:r>
              <a:rPr lang="zh-CN" altLang="en-US" dirty="0"/>
              <a:t> </a:t>
            </a:r>
            <a:r>
              <a:rPr lang="en-US" altLang="zh-CN" dirty="0"/>
              <a:t>to</a:t>
            </a:r>
            <a:r>
              <a:rPr lang="zh-CN" altLang="en-US" dirty="0"/>
              <a:t> </a:t>
            </a:r>
            <a:r>
              <a:rPr lang="en-US" altLang="zh-CN" dirty="0"/>
              <a:t>the</a:t>
            </a:r>
            <a:r>
              <a:rPr lang="zh-CN" altLang="en-US" dirty="0"/>
              <a:t> </a:t>
            </a:r>
            <a:r>
              <a:rPr lang="en-US" altLang="zh-CN" dirty="0"/>
              <a:t>whole</a:t>
            </a:r>
            <a:r>
              <a:rPr lang="zh-CN" altLang="en-US" dirty="0"/>
              <a:t> </a:t>
            </a:r>
            <a:r>
              <a:rPr lang="en-US" altLang="zh-CN" dirty="0"/>
              <a:t>lifecycle.</a:t>
            </a:r>
            <a:r>
              <a:rPr lang="zh-CN" altLang="en-US" dirty="0"/>
              <a:t> </a:t>
            </a:r>
          </a:p>
        </p:txBody>
      </p:sp>
      <p:sp>
        <p:nvSpPr>
          <p:cNvPr id="4" name="灯片编号占位符 3">
            <a:extLst>
              <a:ext uri="{FF2B5EF4-FFF2-40B4-BE49-F238E27FC236}">
                <a16:creationId xmlns:a16="http://schemas.microsoft.com/office/drawing/2014/main" id="{A675CE48-76B1-77D2-BA5A-7DCBFCAA74EE}"/>
              </a:ext>
            </a:extLst>
          </p:cNvPr>
          <p:cNvSpPr>
            <a:spLocks noGrp="1"/>
          </p:cNvSpPr>
          <p:nvPr>
            <p:ph type="sldNum" sz="quarter" idx="5"/>
          </p:nvPr>
        </p:nvSpPr>
        <p:spPr/>
        <p:txBody>
          <a:bodyPr/>
          <a:lstStyle/>
          <a:p>
            <a:fld id="{B11D5518-E2B7-47D3-A483-775D39982443}" type="slidenum">
              <a:rPr lang="zh-TW" altLang="en-US" smtClean="0"/>
              <a:t>24</a:t>
            </a:fld>
            <a:endParaRPr lang="zh-TW" altLang="en-US"/>
          </a:p>
        </p:txBody>
      </p:sp>
    </p:spTree>
    <p:extLst>
      <p:ext uri="{BB962C8B-B14F-4D97-AF65-F5344CB8AC3E}">
        <p14:creationId xmlns:p14="http://schemas.microsoft.com/office/powerpoint/2010/main" val="35733190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AD21F-509D-57CF-C0FD-DA699B4378F7}"/>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73C70606-F829-87D8-7353-10E003B4EBB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A5AF337-36AD-57E8-BA04-4A37B5DD30DD}"/>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Then</a:t>
            </a:r>
            <a:r>
              <a:rPr lang="zh-CN" altLang="en-US" dirty="0"/>
              <a:t> </a:t>
            </a:r>
            <a:r>
              <a:rPr lang="en-US" altLang="zh-CN" dirty="0"/>
              <a:t>leads</a:t>
            </a:r>
            <a:r>
              <a:rPr lang="zh-CN" altLang="en-US" dirty="0"/>
              <a:t> </a:t>
            </a:r>
            <a:r>
              <a:rPr lang="en-US" altLang="zh-CN" dirty="0"/>
              <a:t>to</a:t>
            </a:r>
            <a:r>
              <a:rPr lang="zh-CN" altLang="en-US" dirty="0"/>
              <a:t> </a:t>
            </a:r>
            <a:r>
              <a:rPr lang="en-US" altLang="zh-CN" dirty="0"/>
              <a:t>the</a:t>
            </a:r>
            <a:r>
              <a:rPr lang="zh-CN" altLang="en-US" dirty="0"/>
              <a:t> </a:t>
            </a:r>
            <a:r>
              <a:rPr lang="en-US" altLang="zh-CN" dirty="0"/>
              <a:t>final</a:t>
            </a:r>
            <a:r>
              <a:rPr lang="zh-CN" altLang="en-US" dirty="0"/>
              <a:t> </a:t>
            </a:r>
            <a:r>
              <a:rPr lang="en-US" altLang="zh-CN" dirty="0"/>
              <a:t>paper:</a:t>
            </a:r>
            <a:r>
              <a:rPr lang="zh-CN" altLang="en-US" dirty="0"/>
              <a:t> </a:t>
            </a:r>
            <a:r>
              <a:rPr lang="en-US" altLang="zh-CN" dirty="0"/>
              <a:t>Taming</a:t>
            </a:r>
            <a:r>
              <a:rPr lang="zh-CN" altLang="en-US" dirty="0"/>
              <a:t> </a:t>
            </a:r>
            <a:r>
              <a:rPr lang="en-US" altLang="zh-CN" dirty="0" err="1"/>
              <a:t>Openclaw</a:t>
            </a:r>
            <a:endParaRPr lang="zh-TW" altLang="en-US" dirty="0"/>
          </a:p>
        </p:txBody>
      </p:sp>
      <p:sp>
        <p:nvSpPr>
          <p:cNvPr id="4" name="投影片編號版面配置區 3">
            <a:extLst>
              <a:ext uri="{FF2B5EF4-FFF2-40B4-BE49-F238E27FC236}">
                <a16:creationId xmlns:a16="http://schemas.microsoft.com/office/drawing/2014/main" id="{A84F1FD7-C169-9D04-AD3A-F18AF3E181B2}"/>
              </a:ext>
            </a:extLst>
          </p:cNvPr>
          <p:cNvSpPr>
            <a:spLocks noGrp="1"/>
          </p:cNvSpPr>
          <p:nvPr>
            <p:ph type="sldNum" sz="quarter" idx="10"/>
          </p:nvPr>
        </p:nvSpPr>
        <p:spPr/>
        <p:txBody>
          <a:bodyPr/>
          <a:lstStyle/>
          <a:p>
            <a:fld id="{7320D120-4707-426F-9B85-873E256A6635}" type="slidenum">
              <a:rPr lang="zh-TW" altLang="en-US" smtClean="0"/>
              <a:pPr/>
              <a:t>25</a:t>
            </a:fld>
            <a:endParaRPr lang="zh-TW" altLang="en-US"/>
          </a:p>
        </p:txBody>
      </p:sp>
    </p:spTree>
    <p:extLst>
      <p:ext uri="{BB962C8B-B14F-4D97-AF65-F5344CB8AC3E}">
        <p14:creationId xmlns:p14="http://schemas.microsoft.com/office/powerpoint/2010/main" val="676638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381D7-8089-3D9F-DD96-FC29B71E0B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8A5E06-7E24-EED4-F0BC-2030070A0D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A5DA04-3E91-FF85-5155-5FE878044BFA}"/>
              </a:ext>
            </a:extLst>
          </p:cNvPr>
          <p:cNvSpPr>
            <a:spLocks noGrp="1"/>
          </p:cNvSpPr>
          <p:nvPr>
            <p:ph type="body" idx="1"/>
          </p:nvPr>
        </p:nvSpPr>
        <p:spPr/>
        <p:txBody>
          <a:bodyPr/>
          <a:lstStyle/>
          <a:p>
            <a:r>
              <a:rPr lang="en-US" altLang="zh-CN" dirty="0"/>
              <a:t>This work shifts security from a single moment in time to the entire lifecycle. It argues that agents are long-term state machines.</a:t>
            </a:r>
            <a:r>
              <a:rPr lang="zh-CN" altLang="en-US" dirty="0"/>
              <a:t> </a:t>
            </a:r>
            <a:r>
              <a:rPr lang="en-US" altLang="zh-CN" dirty="0"/>
              <a:t>The</a:t>
            </a:r>
            <a:r>
              <a:rPr lang="zh-CN" altLang="en-US" dirty="0"/>
              <a:t> </a:t>
            </a:r>
            <a:r>
              <a:rPr lang="en-US" altLang="zh-CN" dirty="0"/>
              <a:t>point-based</a:t>
            </a:r>
            <a:r>
              <a:rPr lang="zh-CN" altLang="en-US" dirty="0"/>
              <a:t> </a:t>
            </a:r>
            <a:r>
              <a:rPr lang="en-US" altLang="zh-CN" dirty="0"/>
              <a:t>defenses</a:t>
            </a:r>
            <a:r>
              <a:rPr lang="zh-CN" altLang="en-US" dirty="0"/>
              <a:t> </a:t>
            </a:r>
            <a:r>
              <a:rPr lang="en-US" altLang="zh-CN" dirty="0"/>
              <a:t>are</a:t>
            </a:r>
            <a:r>
              <a:rPr lang="zh-CN" altLang="en-US" dirty="0"/>
              <a:t> </a:t>
            </a:r>
            <a:r>
              <a:rPr lang="en-US" altLang="zh-CN" dirty="0"/>
              <a:t>completely</a:t>
            </a:r>
            <a:r>
              <a:rPr lang="zh-CN" altLang="en-US" dirty="0"/>
              <a:t> </a:t>
            </a:r>
            <a:r>
              <a:rPr lang="en-US" altLang="zh-CN" dirty="0"/>
              <a:t>ineffective</a:t>
            </a:r>
            <a:r>
              <a:rPr lang="zh-CN" altLang="en-US" dirty="0"/>
              <a:t> </a:t>
            </a:r>
            <a:r>
              <a:rPr lang="en-US" altLang="zh-CN" dirty="0"/>
              <a:t>under</a:t>
            </a:r>
            <a:r>
              <a:rPr lang="zh-CN" altLang="en-US" dirty="0"/>
              <a:t> </a:t>
            </a:r>
            <a:r>
              <a:rPr lang="en-US" altLang="zh-CN" dirty="0"/>
              <a:t>this</a:t>
            </a:r>
            <a:r>
              <a:rPr lang="zh-CN" altLang="en-US" dirty="0"/>
              <a:t> </a:t>
            </a:r>
            <a:r>
              <a:rPr lang="en-US" altLang="zh-CN" dirty="0"/>
              <a:t>situation</a:t>
            </a:r>
            <a:r>
              <a:rPr lang="zh-CN" altLang="en-US" dirty="0"/>
              <a:t> </a:t>
            </a:r>
            <a:r>
              <a:rPr lang="en-US" altLang="zh-CN" dirty="0"/>
              <a:t>due</a:t>
            </a:r>
            <a:r>
              <a:rPr lang="zh-CN" altLang="en-US" dirty="0"/>
              <a:t> </a:t>
            </a:r>
            <a:r>
              <a:rPr lang="en-US" altLang="zh-CN" dirty="0"/>
              <a:t>to</a:t>
            </a:r>
            <a:r>
              <a:rPr lang="zh-CN" altLang="en-US" dirty="0"/>
              <a:t> </a:t>
            </a:r>
            <a:r>
              <a:rPr lang="en-US" altLang="zh-CN" dirty="0"/>
              <a:t>the</a:t>
            </a:r>
            <a:r>
              <a:rPr lang="zh-CN" altLang="en-US" dirty="0"/>
              <a:t> </a:t>
            </a:r>
            <a:r>
              <a:rPr lang="en-US" altLang="zh-CN" dirty="0"/>
              <a:t>multiple</a:t>
            </a:r>
            <a:r>
              <a:rPr lang="zh-CN" altLang="en-US" dirty="0"/>
              <a:t> </a:t>
            </a:r>
            <a:r>
              <a:rPr lang="en-US" altLang="zh-CN" dirty="0"/>
              <a:t>attack</a:t>
            </a:r>
            <a:r>
              <a:rPr lang="zh-CN" altLang="en-US" dirty="0"/>
              <a:t> </a:t>
            </a:r>
            <a:r>
              <a:rPr lang="en-US" altLang="zh-CN" dirty="0"/>
              <a:t>surfaces,</a:t>
            </a:r>
            <a:r>
              <a:rPr lang="zh-CN" altLang="en-US" dirty="0"/>
              <a:t> </a:t>
            </a:r>
            <a:r>
              <a:rPr lang="en-US" altLang="zh-CN" dirty="0"/>
              <a:t>multi-stage</a:t>
            </a:r>
            <a:r>
              <a:rPr lang="zh-CN" altLang="en-US" dirty="0"/>
              <a:t> </a:t>
            </a:r>
            <a:r>
              <a:rPr lang="en-US" altLang="zh-CN" dirty="0"/>
              <a:t>threats</a:t>
            </a:r>
          </a:p>
          <a:p>
            <a:endParaRPr lang="en-US" altLang="zh-CN" dirty="0"/>
          </a:p>
          <a:p>
            <a:r>
              <a:rPr lang="en-US" altLang="zh-CN" dirty="0"/>
              <a:t>If we only defend the final execution step, we fail. We must secure the agent across its entire operational timeline.</a:t>
            </a:r>
            <a:br>
              <a:rPr lang="en-US" altLang="zh-CN" dirty="0"/>
            </a:br>
            <a:endParaRPr lang="en-US" altLang="zh-CN" dirty="0"/>
          </a:p>
          <a:p>
            <a:r>
              <a:rPr lang="en-US" altLang="zh-CN" dirty="0"/>
              <a:t>Thus,</a:t>
            </a:r>
            <a:r>
              <a:rPr lang="zh-CN" altLang="en-US" dirty="0"/>
              <a:t>  </a:t>
            </a:r>
            <a:r>
              <a:rPr lang="en-US" altLang="zh-CN" dirty="0"/>
              <a:t>this</a:t>
            </a:r>
            <a:r>
              <a:rPr lang="zh-CN" altLang="en-US" dirty="0"/>
              <a:t> </a:t>
            </a:r>
            <a:r>
              <a:rPr lang="en-US" altLang="zh-CN" dirty="0"/>
              <a:t>paper</a:t>
            </a:r>
            <a:r>
              <a:rPr lang="zh-CN" altLang="en-US" dirty="0"/>
              <a:t> </a:t>
            </a:r>
            <a:r>
              <a:rPr lang="en-US" altLang="zh-CN" dirty="0"/>
              <a:t>proposed</a:t>
            </a:r>
            <a:r>
              <a:rPr lang="zh-CN" altLang="en-US" dirty="0"/>
              <a:t> </a:t>
            </a:r>
            <a:r>
              <a:rPr lang="en-US" altLang="zh-CN" dirty="0"/>
              <a:t>a</a:t>
            </a:r>
            <a:r>
              <a:rPr lang="zh-CN" altLang="en-US" dirty="0"/>
              <a:t> </a:t>
            </a:r>
            <a:r>
              <a:rPr lang="en-US" altLang="zh-CN" dirty="0"/>
              <a:t>five-layer</a:t>
            </a:r>
            <a:r>
              <a:rPr lang="zh-CN" altLang="en-US" dirty="0"/>
              <a:t> </a:t>
            </a:r>
            <a:r>
              <a:rPr lang="en-US" altLang="zh-CN" dirty="0"/>
              <a:t>lifecycle</a:t>
            </a:r>
            <a:r>
              <a:rPr lang="zh-CN" altLang="en-US" dirty="0"/>
              <a:t> </a:t>
            </a:r>
            <a:r>
              <a:rPr lang="en-US" altLang="zh-CN" dirty="0"/>
              <a:t>framework</a:t>
            </a:r>
            <a:r>
              <a:rPr lang="zh-CN" altLang="en-US" dirty="0"/>
              <a:t> </a:t>
            </a:r>
            <a:r>
              <a:rPr lang="en-US" altLang="zh-CN" dirty="0"/>
              <a:t>to</a:t>
            </a:r>
            <a:r>
              <a:rPr lang="zh-CN" altLang="en-US" dirty="0"/>
              <a:t> </a:t>
            </a:r>
            <a:r>
              <a:rPr lang="en-US" altLang="zh-CN" dirty="0"/>
              <a:t>figure</a:t>
            </a:r>
            <a:r>
              <a:rPr lang="zh-CN" altLang="en-US" dirty="0"/>
              <a:t> </a:t>
            </a:r>
            <a:r>
              <a:rPr lang="en-US" altLang="zh-CN" dirty="0"/>
              <a:t>out</a:t>
            </a:r>
            <a:r>
              <a:rPr lang="zh-CN" altLang="en-US" dirty="0"/>
              <a:t> </a:t>
            </a:r>
            <a:r>
              <a:rPr lang="en-US" altLang="zh-CN" dirty="0"/>
              <a:t>the</a:t>
            </a:r>
            <a:r>
              <a:rPr lang="zh-CN" altLang="en-US" dirty="0"/>
              <a:t> </a:t>
            </a:r>
            <a:r>
              <a:rPr lang="en-US" altLang="zh-CN" dirty="0"/>
              <a:t>vulnerabilities</a:t>
            </a:r>
            <a:endParaRPr lang="zh-CN" altLang="en-US" dirty="0"/>
          </a:p>
        </p:txBody>
      </p:sp>
      <p:sp>
        <p:nvSpPr>
          <p:cNvPr id="4" name="灯片编号占位符 3">
            <a:extLst>
              <a:ext uri="{FF2B5EF4-FFF2-40B4-BE49-F238E27FC236}">
                <a16:creationId xmlns:a16="http://schemas.microsoft.com/office/drawing/2014/main" id="{528913DF-0B25-11B2-D661-FA8965B7B874}"/>
              </a:ext>
            </a:extLst>
          </p:cNvPr>
          <p:cNvSpPr>
            <a:spLocks noGrp="1"/>
          </p:cNvSpPr>
          <p:nvPr>
            <p:ph type="sldNum" sz="quarter" idx="5"/>
          </p:nvPr>
        </p:nvSpPr>
        <p:spPr/>
        <p:txBody>
          <a:bodyPr/>
          <a:lstStyle/>
          <a:p>
            <a:fld id="{B11D5518-E2B7-47D3-A483-775D39982443}" type="slidenum">
              <a:rPr lang="zh-TW" altLang="en-US" smtClean="0"/>
              <a:t>26</a:t>
            </a:fld>
            <a:endParaRPr lang="zh-TW" altLang="en-US"/>
          </a:p>
        </p:txBody>
      </p:sp>
    </p:spTree>
    <p:extLst>
      <p:ext uri="{BB962C8B-B14F-4D97-AF65-F5344CB8AC3E}">
        <p14:creationId xmlns:p14="http://schemas.microsoft.com/office/powerpoint/2010/main" val="7304674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9AD93-7F75-E354-C702-E55521ED11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6C7001-BDBB-250E-6A5C-86DE1EA01B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D866ECA-C9FA-B790-B8EA-5B6A49641519}"/>
              </a:ext>
            </a:extLst>
          </p:cNvPr>
          <p:cNvSpPr>
            <a:spLocks noGrp="1"/>
          </p:cNvSpPr>
          <p:nvPr>
            <p:ph type="body" idx="1"/>
          </p:nvPr>
        </p:nvSpPr>
        <p:spPr/>
        <p:txBody>
          <a:bodyPr/>
          <a:lstStyle/>
          <a:p>
            <a:r>
              <a:rPr lang="en-US" altLang="zh-CN" dirty="0"/>
              <a:t>There</a:t>
            </a:r>
            <a:r>
              <a:rPr lang="zh-CN" altLang="en-US" dirty="0"/>
              <a:t> </a:t>
            </a:r>
            <a:r>
              <a:rPr lang="en-US" altLang="zh-CN" dirty="0"/>
              <a:t>are</a:t>
            </a:r>
            <a:r>
              <a:rPr lang="zh-CN" altLang="en-US" dirty="0"/>
              <a:t> </a:t>
            </a:r>
            <a:r>
              <a:rPr lang="en-US" altLang="zh-CN" dirty="0"/>
              <a:t>some</a:t>
            </a:r>
            <a:r>
              <a:rPr lang="zh-CN" altLang="en-US" dirty="0"/>
              <a:t> </a:t>
            </a:r>
            <a:r>
              <a:rPr lang="en-US" altLang="zh-CN" dirty="0"/>
              <a:t>examples</a:t>
            </a:r>
            <a:r>
              <a:rPr lang="zh-CN" altLang="en-US" dirty="0"/>
              <a:t> </a:t>
            </a:r>
            <a:r>
              <a:rPr lang="en-US" altLang="zh-CN" dirty="0"/>
              <a:t>of</a:t>
            </a:r>
            <a:r>
              <a:rPr lang="zh-CN" altLang="en-US" dirty="0"/>
              <a:t> </a:t>
            </a:r>
            <a:r>
              <a:rPr lang="en-US" altLang="zh-CN" dirty="0"/>
              <a:t>current</a:t>
            </a:r>
            <a:r>
              <a:rPr lang="zh-CN" altLang="en-US" dirty="0"/>
              <a:t> </a:t>
            </a:r>
            <a:r>
              <a:rPr lang="en-US" altLang="zh-CN" dirty="0"/>
              <a:t>safety</a:t>
            </a:r>
            <a:r>
              <a:rPr lang="zh-CN" altLang="en-US" dirty="0"/>
              <a:t> </a:t>
            </a:r>
            <a:r>
              <a:rPr lang="en-US" altLang="zh-CN" dirty="0"/>
              <a:t>problems</a:t>
            </a:r>
            <a:r>
              <a:rPr lang="zh-CN" altLang="en-US" dirty="0"/>
              <a:t> </a:t>
            </a:r>
            <a:r>
              <a:rPr lang="en-US" altLang="zh-CN" dirty="0"/>
              <a:t>in</a:t>
            </a:r>
            <a:r>
              <a:rPr lang="zh-CN" altLang="en-US" dirty="0"/>
              <a:t> </a:t>
            </a:r>
            <a:r>
              <a:rPr lang="en-US" altLang="zh-CN" dirty="0" err="1"/>
              <a:t>OpenClaw’s</a:t>
            </a:r>
            <a:r>
              <a:rPr lang="zh-CN" altLang="en-US" dirty="0"/>
              <a:t> </a:t>
            </a:r>
            <a:r>
              <a:rPr lang="en-US" altLang="zh-CN" dirty="0"/>
              <a:t>lifecycle.</a:t>
            </a:r>
            <a:r>
              <a:rPr lang="zh-CN" altLang="en-US" dirty="0"/>
              <a:t> </a:t>
            </a:r>
            <a:r>
              <a:rPr lang="en-US" altLang="zh-CN" dirty="0"/>
              <a:t>The</a:t>
            </a:r>
            <a:r>
              <a:rPr lang="zh-CN" altLang="en-US" dirty="0"/>
              <a:t> </a:t>
            </a:r>
            <a:r>
              <a:rPr lang="en-US" altLang="zh-CN" dirty="0"/>
              <a:t>first</a:t>
            </a:r>
            <a:r>
              <a:rPr lang="zh-CN" altLang="en-US" dirty="0"/>
              <a:t> </a:t>
            </a:r>
            <a:r>
              <a:rPr lang="en-US" altLang="zh-CN" dirty="0"/>
              <a:t>one</a:t>
            </a:r>
            <a:r>
              <a:rPr lang="zh-CN" altLang="en-US" dirty="0"/>
              <a:t> </a:t>
            </a:r>
            <a:r>
              <a:rPr lang="en-US" altLang="zh-CN" dirty="0"/>
              <a:t>is</a:t>
            </a:r>
            <a:r>
              <a:rPr lang="zh-CN" altLang="en-US" dirty="0"/>
              <a:t> </a:t>
            </a:r>
            <a:r>
              <a:rPr lang="en-US" altLang="zh-CN" dirty="0"/>
              <a:t>skill</a:t>
            </a:r>
            <a:r>
              <a:rPr lang="zh-CN" altLang="en-US" dirty="0"/>
              <a:t> </a:t>
            </a:r>
            <a:r>
              <a:rPr lang="en-US" altLang="zh-CN" dirty="0"/>
              <a:t>poisoning.</a:t>
            </a:r>
            <a:r>
              <a:rPr lang="zh-CN" altLang="en-US" dirty="0"/>
              <a:t> </a:t>
            </a:r>
            <a:r>
              <a:rPr lang="en-US" altLang="zh-CN" dirty="0"/>
              <a:t>User</a:t>
            </a:r>
            <a:r>
              <a:rPr lang="zh-CN" altLang="en-US" dirty="0"/>
              <a:t> </a:t>
            </a:r>
            <a:r>
              <a:rPr lang="en-US" altLang="zh-CN" dirty="0"/>
              <a:t>requested</a:t>
            </a:r>
            <a:r>
              <a:rPr lang="zh-CN" altLang="en-US" dirty="0"/>
              <a:t> </a:t>
            </a:r>
            <a:r>
              <a:rPr lang="en-US" altLang="zh-CN" dirty="0"/>
              <a:t>the</a:t>
            </a:r>
            <a:r>
              <a:rPr lang="zh-CN" altLang="en-US" dirty="0"/>
              <a:t> </a:t>
            </a:r>
            <a:r>
              <a:rPr lang="en-US" altLang="zh-CN" dirty="0"/>
              <a:t>weather</a:t>
            </a:r>
            <a:r>
              <a:rPr lang="zh-CN" altLang="en-US" dirty="0"/>
              <a:t> </a:t>
            </a:r>
            <a:r>
              <a:rPr lang="en-US" altLang="zh-CN" dirty="0"/>
              <a:t>but</a:t>
            </a:r>
            <a:r>
              <a:rPr lang="zh-CN" altLang="en-US" dirty="0"/>
              <a:t> </a:t>
            </a:r>
            <a:r>
              <a:rPr lang="en-US" altLang="zh-CN" dirty="0"/>
              <a:t>triggered</a:t>
            </a:r>
            <a:r>
              <a:rPr lang="zh-CN" altLang="en-US" dirty="0"/>
              <a:t> </a:t>
            </a:r>
            <a:r>
              <a:rPr lang="en-US" altLang="zh-CN" dirty="0"/>
              <a:t>a</a:t>
            </a:r>
            <a:r>
              <a:rPr lang="zh-CN" altLang="en-US" dirty="0"/>
              <a:t> </a:t>
            </a:r>
            <a:r>
              <a:rPr lang="en-US" altLang="zh-CN" dirty="0"/>
              <a:t>maliciously</a:t>
            </a:r>
            <a:r>
              <a:rPr lang="zh-CN" altLang="en-US" dirty="0"/>
              <a:t> </a:t>
            </a:r>
            <a:r>
              <a:rPr lang="en-US" altLang="zh-CN" dirty="0"/>
              <a:t>injected</a:t>
            </a:r>
            <a:r>
              <a:rPr lang="zh-CN" altLang="en-US" dirty="0"/>
              <a:t> </a:t>
            </a:r>
            <a:r>
              <a:rPr lang="en-US" altLang="zh-CN" dirty="0"/>
              <a:t>skill.</a:t>
            </a:r>
            <a:r>
              <a:rPr lang="zh-CN" altLang="en-US" dirty="0"/>
              <a:t> </a:t>
            </a:r>
            <a:r>
              <a:rPr lang="en-US" altLang="zh-CN" dirty="0"/>
              <a:t>saying</a:t>
            </a:r>
            <a:r>
              <a:rPr lang="zh-CN" altLang="en-US" dirty="0"/>
              <a:t> </a:t>
            </a:r>
            <a:r>
              <a:rPr lang="en-US" altLang="zh-CN" dirty="0"/>
              <a:t>the</a:t>
            </a:r>
            <a:r>
              <a:rPr lang="zh-CN" altLang="en-US" dirty="0"/>
              <a:t> </a:t>
            </a:r>
            <a:r>
              <a:rPr lang="en-US" altLang="zh-CN" dirty="0"/>
              <a:t>hacked</a:t>
            </a:r>
            <a:r>
              <a:rPr lang="zh-CN" altLang="en-US" dirty="0"/>
              <a:t> </a:t>
            </a:r>
            <a:r>
              <a:rPr lang="en-US" altLang="zh-CN" dirty="0"/>
              <a:t>weather</a:t>
            </a:r>
            <a:r>
              <a:rPr lang="zh-CN" altLang="en-US" dirty="0"/>
              <a:t> </a:t>
            </a:r>
            <a:r>
              <a:rPr lang="en-US" altLang="zh-CN" dirty="0"/>
              <a:t>report.</a:t>
            </a:r>
            <a:r>
              <a:rPr lang="zh-CN" altLang="en-US" dirty="0"/>
              <a:t> </a:t>
            </a:r>
            <a:r>
              <a:rPr lang="en-US" altLang="zh-CN" dirty="0"/>
              <a:t>A</a:t>
            </a:r>
            <a:r>
              <a:rPr lang="zh-CN" altLang="en-US" dirty="0"/>
              <a:t> </a:t>
            </a:r>
            <a:r>
              <a:rPr lang="en-US" altLang="zh-CN" dirty="0"/>
              <a:t>benign</a:t>
            </a:r>
            <a:r>
              <a:rPr lang="zh-CN" altLang="en-US" dirty="0"/>
              <a:t> </a:t>
            </a:r>
            <a:r>
              <a:rPr lang="en-US" altLang="zh-CN" dirty="0"/>
              <a:t>user</a:t>
            </a:r>
            <a:r>
              <a:rPr lang="zh-CN" altLang="en-US" dirty="0"/>
              <a:t> </a:t>
            </a:r>
            <a:r>
              <a:rPr lang="en-US" altLang="zh-CN" dirty="0"/>
              <a:t>request</a:t>
            </a:r>
            <a:r>
              <a:rPr lang="zh-CN" altLang="en-US" dirty="0"/>
              <a:t> </a:t>
            </a:r>
            <a:r>
              <a:rPr lang="en-US" altLang="zh-CN" dirty="0"/>
              <a:t>triggers</a:t>
            </a:r>
            <a:r>
              <a:rPr lang="zh-CN" altLang="en-US" dirty="0"/>
              <a:t> </a:t>
            </a:r>
            <a:r>
              <a:rPr lang="en-US" altLang="zh-CN" dirty="0"/>
              <a:t>a</a:t>
            </a:r>
            <a:r>
              <a:rPr lang="zh-CN" altLang="en-US" dirty="0"/>
              <a:t> </a:t>
            </a:r>
            <a:r>
              <a:rPr lang="en-US" altLang="zh-CN" dirty="0"/>
              <a:t>maliciously</a:t>
            </a:r>
            <a:r>
              <a:rPr lang="zh-CN" altLang="en-US" dirty="0"/>
              <a:t> </a:t>
            </a:r>
            <a:r>
              <a:rPr lang="en-US" altLang="zh-CN" dirty="0"/>
              <a:t>injected</a:t>
            </a:r>
            <a:r>
              <a:rPr lang="zh-CN" altLang="en-US" dirty="0"/>
              <a:t> </a:t>
            </a:r>
            <a:r>
              <a:rPr lang="en-US" altLang="zh-CN" dirty="0"/>
              <a:t>skill</a:t>
            </a:r>
            <a:r>
              <a:rPr lang="zh-CN" altLang="en-US" dirty="0"/>
              <a:t> </a:t>
            </a:r>
            <a:r>
              <a:rPr lang="en-US" altLang="zh-CN" dirty="0"/>
              <a:t>and</a:t>
            </a:r>
            <a:r>
              <a:rPr lang="zh-CN" altLang="en-US" dirty="0"/>
              <a:t> </a:t>
            </a:r>
            <a:r>
              <a:rPr lang="en-US" altLang="zh-CN" dirty="0"/>
              <a:t>ignored</a:t>
            </a:r>
            <a:r>
              <a:rPr lang="zh-CN" altLang="en-US" dirty="0"/>
              <a:t> </a:t>
            </a:r>
            <a:r>
              <a:rPr lang="en-US" altLang="zh-CN" dirty="0"/>
              <a:t>the</a:t>
            </a:r>
            <a:r>
              <a:rPr lang="zh-CN" altLang="en-US" dirty="0"/>
              <a:t> </a:t>
            </a:r>
            <a:r>
              <a:rPr lang="en-US" altLang="zh-CN" dirty="0"/>
              <a:t>other</a:t>
            </a:r>
            <a:r>
              <a:rPr lang="zh-CN" altLang="en-US" dirty="0"/>
              <a:t> </a:t>
            </a:r>
            <a:r>
              <a:rPr lang="en-US" altLang="zh-CN" dirty="0"/>
              <a:t>normal</a:t>
            </a:r>
            <a:r>
              <a:rPr lang="zh-CN" altLang="en-US" dirty="0"/>
              <a:t> </a:t>
            </a:r>
            <a:r>
              <a:rPr lang="en-US" altLang="zh-CN" dirty="0"/>
              <a:t>skill.</a:t>
            </a:r>
            <a:r>
              <a:rPr lang="zh-CN" altLang="en-US" dirty="0"/>
              <a:t> </a:t>
            </a:r>
            <a:r>
              <a:rPr lang="en-US" altLang="zh-CN" dirty="0"/>
              <a:t>producing</a:t>
            </a:r>
            <a:r>
              <a:rPr lang="zh-CN" altLang="en-US" dirty="0"/>
              <a:t> </a:t>
            </a:r>
            <a:r>
              <a:rPr lang="en-US" altLang="zh-CN" dirty="0"/>
              <a:t>attacker</a:t>
            </a:r>
            <a:r>
              <a:rPr lang="zh-CN" altLang="en-US" dirty="0"/>
              <a:t> </a:t>
            </a:r>
            <a:r>
              <a:rPr lang="en-US" altLang="zh-CN" dirty="0"/>
              <a:t>controlled</a:t>
            </a:r>
            <a:r>
              <a:rPr lang="zh-CN" altLang="en-US" dirty="0"/>
              <a:t> </a:t>
            </a:r>
            <a:r>
              <a:rPr lang="en-US" altLang="zh-CN" dirty="0"/>
              <a:t>output</a:t>
            </a:r>
            <a:r>
              <a:rPr lang="zh-CN" altLang="en-US" dirty="0"/>
              <a:t> </a:t>
            </a:r>
            <a:r>
              <a:rPr lang="en-US" altLang="zh-CN" dirty="0"/>
              <a:t>and</a:t>
            </a:r>
            <a:r>
              <a:rPr lang="zh-CN" altLang="en-US" dirty="0"/>
              <a:t> </a:t>
            </a:r>
            <a:r>
              <a:rPr lang="en-US" altLang="zh-CN" dirty="0"/>
              <a:t>demonstrating</a:t>
            </a:r>
            <a:r>
              <a:rPr lang="zh-CN" altLang="en-US" dirty="0"/>
              <a:t> </a:t>
            </a:r>
            <a:r>
              <a:rPr lang="en-US" altLang="zh-CN" dirty="0"/>
              <a:t>stealthy</a:t>
            </a:r>
            <a:r>
              <a:rPr lang="zh-CN" altLang="en-US" dirty="0"/>
              <a:t> </a:t>
            </a:r>
            <a:r>
              <a:rPr lang="en-US" altLang="zh-CN" dirty="0"/>
              <a:t>capability</a:t>
            </a:r>
            <a:r>
              <a:rPr lang="zh-CN" altLang="en-US" dirty="0"/>
              <a:t> </a:t>
            </a:r>
            <a:r>
              <a:rPr lang="en-US" altLang="zh-CN" dirty="0"/>
              <a:t>impression</a:t>
            </a:r>
            <a:endParaRPr lang="zh-CN" altLang="en-US" dirty="0"/>
          </a:p>
        </p:txBody>
      </p:sp>
      <p:sp>
        <p:nvSpPr>
          <p:cNvPr id="4" name="灯片编号占位符 3">
            <a:extLst>
              <a:ext uri="{FF2B5EF4-FFF2-40B4-BE49-F238E27FC236}">
                <a16:creationId xmlns:a16="http://schemas.microsoft.com/office/drawing/2014/main" id="{31A9C7D3-9261-C771-18C8-B4CA853B1DAA}"/>
              </a:ext>
            </a:extLst>
          </p:cNvPr>
          <p:cNvSpPr>
            <a:spLocks noGrp="1"/>
          </p:cNvSpPr>
          <p:nvPr>
            <p:ph type="sldNum" sz="quarter" idx="5"/>
          </p:nvPr>
        </p:nvSpPr>
        <p:spPr/>
        <p:txBody>
          <a:bodyPr/>
          <a:lstStyle/>
          <a:p>
            <a:fld id="{B11D5518-E2B7-47D3-A483-775D39982443}" type="slidenum">
              <a:rPr lang="zh-TW" altLang="en-US" smtClean="0"/>
              <a:t>27</a:t>
            </a:fld>
            <a:endParaRPr lang="zh-TW" altLang="en-US"/>
          </a:p>
        </p:txBody>
      </p:sp>
    </p:spTree>
    <p:extLst>
      <p:ext uri="{BB962C8B-B14F-4D97-AF65-F5344CB8AC3E}">
        <p14:creationId xmlns:p14="http://schemas.microsoft.com/office/powerpoint/2010/main" val="14793309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1FC10-5F7C-FD01-3FCE-400B29B2FD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F287BC-12AC-A8B1-DF17-7A279F2904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DDB377-C392-2C24-B70E-4E9A4C9F2A5B}"/>
              </a:ext>
            </a:extLst>
          </p:cNvPr>
          <p:cNvSpPr>
            <a:spLocks noGrp="1"/>
          </p:cNvSpPr>
          <p:nvPr>
            <p:ph type="body" idx="1"/>
          </p:nvPr>
        </p:nvSpPr>
        <p:spPr/>
        <p:txBody>
          <a:bodyPr/>
          <a:lstStyle/>
          <a:p>
            <a:r>
              <a:rPr lang="en-US" altLang="zh-CN" dirty="0"/>
              <a:t>The</a:t>
            </a:r>
            <a:r>
              <a:rPr lang="zh-CN" altLang="en-US" dirty="0"/>
              <a:t> </a:t>
            </a:r>
            <a:r>
              <a:rPr lang="en-US" altLang="zh-CN" dirty="0"/>
              <a:t>indirect</a:t>
            </a:r>
            <a:r>
              <a:rPr lang="zh-CN" altLang="en-US" dirty="0"/>
              <a:t> </a:t>
            </a:r>
            <a:r>
              <a:rPr lang="en-US" altLang="zh-CN" dirty="0"/>
              <a:t>prompt</a:t>
            </a:r>
            <a:r>
              <a:rPr lang="zh-CN" altLang="en-US" dirty="0"/>
              <a:t> </a:t>
            </a:r>
            <a:r>
              <a:rPr lang="en-US" altLang="zh-CN" dirty="0"/>
              <a:t>injection</a:t>
            </a:r>
            <a:r>
              <a:rPr lang="zh-CN" altLang="en-US" dirty="0"/>
              <a:t> </a:t>
            </a:r>
            <a:r>
              <a:rPr lang="en-US" altLang="zh-CN" dirty="0"/>
              <a:t>lead</a:t>
            </a:r>
            <a:r>
              <a:rPr lang="zh-CN" altLang="en-US" dirty="0"/>
              <a:t> </a:t>
            </a:r>
            <a:r>
              <a:rPr lang="en-US" altLang="zh-CN" dirty="0"/>
              <a:t>the</a:t>
            </a:r>
            <a:r>
              <a:rPr lang="zh-CN" altLang="en-US" dirty="0"/>
              <a:t> </a:t>
            </a:r>
            <a:r>
              <a:rPr lang="en-US" altLang="zh-CN" dirty="0"/>
              <a:t>agent</a:t>
            </a:r>
            <a:r>
              <a:rPr lang="zh-CN" altLang="en-US" dirty="0"/>
              <a:t> </a:t>
            </a:r>
            <a:r>
              <a:rPr lang="en-US" altLang="zh-CN" dirty="0"/>
              <a:t>blindly</a:t>
            </a:r>
            <a:r>
              <a:rPr lang="zh-CN" altLang="en-US" dirty="0"/>
              <a:t> </a:t>
            </a:r>
            <a:r>
              <a:rPr lang="en-US" altLang="zh-CN" dirty="0"/>
              <a:t>follows</a:t>
            </a:r>
            <a:r>
              <a:rPr lang="zh-CN" altLang="en-US" dirty="0"/>
              <a:t> </a:t>
            </a:r>
            <a:r>
              <a:rPr lang="en-US" altLang="zh-CN" dirty="0"/>
              <a:t>the</a:t>
            </a:r>
            <a:r>
              <a:rPr lang="zh-CN" altLang="en-US" dirty="0"/>
              <a:t> </a:t>
            </a:r>
            <a:r>
              <a:rPr lang="en-US" altLang="zh-CN" dirty="0"/>
              <a:t>embedded</a:t>
            </a:r>
            <a:r>
              <a:rPr lang="zh-CN" altLang="en-US" dirty="0"/>
              <a:t> </a:t>
            </a:r>
            <a:r>
              <a:rPr lang="en-US" altLang="zh-CN" dirty="0"/>
              <a:t>instruction</a:t>
            </a:r>
            <a:r>
              <a:rPr lang="zh-CN" altLang="en-US" dirty="0"/>
              <a:t> </a:t>
            </a:r>
            <a:r>
              <a:rPr lang="en-US" altLang="zh-CN" dirty="0"/>
              <a:t>from</a:t>
            </a:r>
            <a:r>
              <a:rPr lang="zh-CN" altLang="en-US" dirty="0"/>
              <a:t> </a:t>
            </a:r>
            <a:r>
              <a:rPr lang="en-US" altLang="zh-CN" dirty="0"/>
              <a:t>the</a:t>
            </a:r>
            <a:r>
              <a:rPr lang="zh-CN" altLang="en-US" dirty="0"/>
              <a:t> </a:t>
            </a:r>
            <a:r>
              <a:rPr lang="en-US" altLang="zh-CN" dirty="0"/>
              <a:t>external</a:t>
            </a:r>
            <a:r>
              <a:rPr lang="zh-CN" altLang="en-US" dirty="0"/>
              <a:t> </a:t>
            </a:r>
            <a:r>
              <a:rPr lang="en-US" altLang="zh-CN" dirty="0"/>
              <a:t>content.</a:t>
            </a:r>
            <a:r>
              <a:rPr lang="zh-CN" altLang="en-US" dirty="0"/>
              <a:t> </a:t>
            </a:r>
            <a:r>
              <a:rPr lang="en-US" altLang="zh-CN" dirty="0"/>
              <a:t>while</a:t>
            </a:r>
            <a:r>
              <a:rPr lang="zh-CN" altLang="en-US" dirty="0"/>
              <a:t> </a:t>
            </a:r>
            <a:r>
              <a:rPr lang="en-US" altLang="zh-CN" dirty="0"/>
              <a:t>not</a:t>
            </a:r>
            <a:r>
              <a:rPr lang="zh-CN" altLang="en-US" dirty="0"/>
              <a:t> </a:t>
            </a:r>
            <a:r>
              <a:rPr lang="en-US" altLang="zh-CN" dirty="0"/>
              <a:t>following</a:t>
            </a:r>
            <a:r>
              <a:rPr lang="zh-CN" altLang="en-US" dirty="0"/>
              <a:t> </a:t>
            </a:r>
            <a:r>
              <a:rPr lang="en-US" altLang="zh-CN" dirty="0"/>
              <a:t>the</a:t>
            </a:r>
            <a:r>
              <a:rPr lang="zh-CN" altLang="en-US" dirty="0"/>
              <a:t> </a:t>
            </a:r>
            <a:r>
              <a:rPr lang="en-US" altLang="zh-CN" dirty="0"/>
              <a:t>actual</a:t>
            </a:r>
            <a:r>
              <a:rPr lang="zh-CN" altLang="en-US" dirty="0"/>
              <a:t> </a:t>
            </a:r>
            <a:r>
              <a:rPr lang="en-US" altLang="zh-CN" dirty="0"/>
              <a:t>user</a:t>
            </a:r>
            <a:r>
              <a:rPr lang="zh-CN" altLang="en-US" dirty="0"/>
              <a:t> </a:t>
            </a:r>
            <a:r>
              <a:rPr lang="en-US" altLang="zh-CN" dirty="0"/>
              <a:t>prompt.</a:t>
            </a:r>
          </a:p>
          <a:p>
            <a:r>
              <a:rPr lang="en-US" altLang="zh-CN" dirty="0"/>
              <a:t>They</a:t>
            </a:r>
            <a:r>
              <a:rPr lang="zh-CN" altLang="en-US" dirty="0"/>
              <a:t> </a:t>
            </a:r>
            <a:r>
              <a:rPr lang="en-US" altLang="zh-CN" dirty="0"/>
              <a:t>may</a:t>
            </a:r>
            <a:r>
              <a:rPr lang="zh-CN" altLang="en-US" dirty="0"/>
              <a:t> </a:t>
            </a:r>
            <a:r>
              <a:rPr lang="en-US" altLang="zh-CN" dirty="0"/>
              <a:t>designed</a:t>
            </a:r>
            <a:r>
              <a:rPr lang="zh-CN" altLang="en-US" dirty="0"/>
              <a:t> </a:t>
            </a:r>
            <a:r>
              <a:rPr lang="en-US" altLang="zh-CN" dirty="0"/>
              <a:t>the</a:t>
            </a:r>
            <a:r>
              <a:rPr lang="zh-CN" altLang="en-US" dirty="0"/>
              <a:t> </a:t>
            </a:r>
            <a:r>
              <a:rPr lang="en-US" altLang="zh-CN" dirty="0"/>
              <a:t>website</a:t>
            </a:r>
            <a:r>
              <a:rPr lang="zh-CN" altLang="en-US" dirty="0"/>
              <a:t> </a:t>
            </a:r>
            <a:r>
              <a:rPr lang="en-US" altLang="zh-CN" dirty="0"/>
              <a:t>as</a:t>
            </a:r>
            <a:r>
              <a:rPr lang="zh-CN" altLang="en-US" dirty="0"/>
              <a:t> </a:t>
            </a:r>
            <a:r>
              <a:rPr lang="en-US" altLang="zh-CN" dirty="0"/>
              <a:t>the</a:t>
            </a:r>
            <a:r>
              <a:rPr lang="zh-CN" altLang="en-US" dirty="0"/>
              <a:t> </a:t>
            </a:r>
            <a:r>
              <a:rPr lang="en-US" altLang="zh-CN" dirty="0"/>
              <a:t>trigger,</a:t>
            </a:r>
            <a:r>
              <a:rPr lang="zh-CN" altLang="en-US" dirty="0"/>
              <a:t> </a:t>
            </a:r>
            <a:r>
              <a:rPr lang="en-US" altLang="zh-CN" dirty="0"/>
              <a:t>if</a:t>
            </a:r>
            <a:r>
              <a:rPr lang="zh-CN" altLang="en-US" dirty="0"/>
              <a:t> </a:t>
            </a:r>
            <a:r>
              <a:rPr lang="en-US" altLang="zh-CN" dirty="0"/>
              <a:t>the</a:t>
            </a:r>
            <a:r>
              <a:rPr lang="zh-CN" altLang="en-US" dirty="0"/>
              <a:t> </a:t>
            </a:r>
            <a:r>
              <a:rPr lang="en-US" altLang="zh-CN" dirty="0"/>
              <a:t>agent</a:t>
            </a:r>
            <a:r>
              <a:rPr lang="zh-CN" altLang="en-US" dirty="0"/>
              <a:t> </a:t>
            </a:r>
            <a:r>
              <a:rPr lang="en-US" altLang="zh-CN" dirty="0"/>
              <a:t>receive</a:t>
            </a:r>
            <a:r>
              <a:rPr lang="zh-CN" altLang="en-US" dirty="0"/>
              <a:t> </a:t>
            </a:r>
            <a:r>
              <a:rPr lang="en-US" altLang="zh-CN" dirty="0"/>
              <a:t>the</a:t>
            </a:r>
            <a:r>
              <a:rPr lang="zh-CN" altLang="en-US" dirty="0"/>
              <a:t> </a:t>
            </a:r>
            <a:r>
              <a:rPr lang="en-US" altLang="zh-CN" dirty="0"/>
              <a:t>something</a:t>
            </a:r>
            <a:r>
              <a:rPr lang="zh-CN" altLang="en-US" dirty="0"/>
              <a:t> </a:t>
            </a:r>
            <a:r>
              <a:rPr lang="en-US" altLang="zh-CN" dirty="0"/>
              <a:t>like</a:t>
            </a:r>
            <a:r>
              <a:rPr lang="zh-CN" altLang="en-US" dirty="0"/>
              <a:t> </a:t>
            </a:r>
            <a:r>
              <a:rPr lang="en-US" altLang="zh-CN" dirty="0"/>
              <a:t>"http"</a:t>
            </a:r>
            <a:r>
              <a:rPr lang="zh-CN" altLang="en-US" dirty="0"/>
              <a:t> </a:t>
            </a:r>
            <a:r>
              <a:rPr lang="en-US" altLang="zh-CN" dirty="0"/>
              <a:t>in</a:t>
            </a:r>
            <a:r>
              <a:rPr lang="zh-CN" altLang="en-US" dirty="0"/>
              <a:t> </a:t>
            </a:r>
            <a:r>
              <a:rPr lang="en-US" altLang="zh-CN" dirty="0"/>
              <a:t>the</a:t>
            </a:r>
            <a:r>
              <a:rPr lang="zh-CN" altLang="en-US" dirty="0"/>
              <a:t> </a:t>
            </a:r>
            <a:r>
              <a:rPr lang="en-US" altLang="zh-CN" dirty="0"/>
              <a:t>input</a:t>
            </a:r>
            <a:r>
              <a:rPr lang="zh-CN" altLang="en-US" dirty="0"/>
              <a:t> </a:t>
            </a:r>
            <a:r>
              <a:rPr lang="en-US" altLang="zh-CN" dirty="0"/>
              <a:t>strings,</a:t>
            </a:r>
            <a:r>
              <a:rPr lang="zh-CN" altLang="en-US" dirty="0"/>
              <a:t> </a:t>
            </a:r>
            <a:r>
              <a:rPr lang="en-US" altLang="zh-CN" dirty="0"/>
              <a:t>it</a:t>
            </a:r>
            <a:r>
              <a:rPr lang="zh-CN" altLang="en-US" dirty="0"/>
              <a:t> </a:t>
            </a:r>
            <a:r>
              <a:rPr lang="en-US" altLang="zh-CN" dirty="0"/>
              <a:t>will</a:t>
            </a:r>
            <a:r>
              <a:rPr lang="zh-CN" altLang="en-US" dirty="0"/>
              <a:t> </a:t>
            </a:r>
            <a:r>
              <a:rPr lang="en-US" altLang="zh-CN" dirty="0"/>
              <a:t>trick</a:t>
            </a:r>
            <a:r>
              <a:rPr lang="zh-CN" altLang="en-US" dirty="0"/>
              <a:t> </a:t>
            </a:r>
            <a:r>
              <a:rPr lang="en-US" altLang="zh-CN" dirty="0"/>
              <a:t>the</a:t>
            </a:r>
            <a:r>
              <a:rPr lang="zh-CN" altLang="en-US" dirty="0"/>
              <a:t> </a:t>
            </a:r>
            <a:r>
              <a:rPr lang="en-US" altLang="zh-CN" dirty="0"/>
              <a:t>hidden</a:t>
            </a:r>
            <a:r>
              <a:rPr lang="zh-CN" altLang="en-US" dirty="0"/>
              <a:t> </a:t>
            </a:r>
            <a:r>
              <a:rPr lang="en-US" altLang="zh-CN" dirty="0"/>
              <a:t>malicious</a:t>
            </a:r>
            <a:r>
              <a:rPr lang="zh-CN" altLang="en-US" dirty="0"/>
              <a:t> </a:t>
            </a:r>
            <a:r>
              <a:rPr lang="en-US" altLang="zh-CN" dirty="0"/>
              <a:t>program.</a:t>
            </a:r>
            <a:r>
              <a:rPr lang="zh-CN" altLang="en-US" dirty="0"/>
              <a:t> </a:t>
            </a:r>
            <a:r>
              <a:rPr lang="en-US" altLang="zh-CN" dirty="0"/>
              <a:t>In</a:t>
            </a:r>
            <a:r>
              <a:rPr lang="zh-CN" altLang="en-US" dirty="0"/>
              <a:t> </a:t>
            </a:r>
            <a:r>
              <a:rPr lang="en-US" altLang="zh-CN" dirty="0"/>
              <a:t>the</a:t>
            </a:r>
            <a:r>
              <a:rPr lang="zh-CN" altLang="en-US" dirty="0"/>
              <a:t> </a:t>
            </a:r>
            <a:r>
              <a:rPr lang="en-US" altLang="zh-CN" dirty="0"/>
              <a:t>example,</a:t>
            </a:r>
            <a:r>
              <a:rPr lang="zh-CN" altLang="en-US" dirty="0"/>
              <a:t> </a:t>
            </a:r>
            <a:r>
              <a:rPr lang="en-US" altLang="zh-CN" dirty="0"/>
              <a:t>where</a:t>
            </a:r>
            <a:r>
              <a:rPr lang="zh-CN" altLang="en-US" dirty="0"/>
              <a:t> </a:t>
            </a:r>
            <a:r>
              <a:rPr lang="en-US" altLang="zh-CN" dirty="0"/>
              <a:t>the</a:t>
            </a:r>
            <a:r>
              <a:rPr lang="zh-CN" altLang="en-US" dirty="0"/>
              <a:t> </a:t>
            </a:r>
            <a:r>
              <a:rPr lang="en-US" altLang="zh-CN" dirty="0"/>
              <a:t>injected</a:t>
            </a:r>
            <a:r>
              <a:rPr lang="zh-CN" altLang="en-US" dirty="0"/>
              <a:t> </a:t>
            </a:r>
            <a:r>
              <a:rPr lang="en-US" altLang="zh-CN" dirty="0"/>
              <a:t>program</a:t>
            </a:r>
            <a:r>
              <a:rPr lang="zh-CN" altLang="en-US" dirty="0"/>
              <a:t> </a:t>
            </a:r>
            <a:r>
              <a:rPr lang="en-US" altLang="zh-CN" dirty="0"/>
              <a:t>is</a:t>
            </a:r>
            <a:r>
              <a:rPr lang="zh-CN" altLang="en-US" dirty="0"/>
              <a:t> </a:t>
            </a:r>
            <a:r>
              <a:rPr lang="en-US" altLang="zh-CN" dirty="0"/>
              <a:t>print</a:t>
            </a:r>
            <a:r>
              <a:rPr lang="zh-CN" altLang="en-US" dirty="0"/>
              <a:t> </a:t>
            </a:r>
            <a:r>
              <a:rPr lang="en-US" altLang="zh-CN" dirty="0"/>
              <a:t>the</a:t>
            </a:r>
            <a:r>
              <a:rPr lang="zh-CN" altLang="en-US" dirty="0"/>
              <a:t> </a:t>
            </a:r>
            <a:r>
              <a:rPr lang="en-US" altLang="zh-CN" dirty="0"/>
              <a:t>hello</a:t>
            </a:r>
            <a:r>
              <a:rPr lang="zh-CN" altLang="en-US" dirty="0"/>
              <a:t> </a:t>
            </a:r>
            <a:r>
              <a:rPr lang="en-US" altLang="zh-CN" dirty="0"/>
              <a:t>world.</a:t>
            </a:r>
            <a:r>
              <a:rPr lang="zh-CN" altLang="en-US" dirty="0"/>
              <a:t> </a:t>
            </a:r>
            <a:r>
              <a:rPr lang="en-US" altLang="zh-CN" dirty="0"/>
              <a:t>the</a:t>
            </a:r>
            <a:r>
              <a:rPr lang="zh-CN" altLang="en-US" dirty="0"/>
              <a:t> </a:t>
            </a:r>
            <a:r>
              <a:rPr lang="en-US" altLang="zh-CN" dirty="0"/>
              <a:t>external</a:t>
            </a:r>
            <a:r>
              <a:rPr lang="zh-CN" altLang="en-US" dirty="0"/>
              <a:t> </a:t>
            </a:r>
            <a:r>
              <a:rPr lang="en-US" altLang="zh-CN" dirty="0"/>
              <a:t>content</a:t>
            </a:r>
            <a:r>
              <a:rPr lang="zh-CN" altLang="en-US" dirty="0"/>
              <a:t> </a:t>
            </a:r>
            <a:r>
              <a:rPr lang="en-US" altLang="zh-CN" dirty="0"/>
              <a:t>overrides</a:t>
            </a:r>
            <a:r>
              <a:rPr lang="zh-CN" altLang="en-US" dirty="0"/>
              <a:t> </a:t>
            </a:r>
            <a:r>
              <a:rPr lang="en-US" altLang="zh-CN" dirty="0"/>
              <a:t>the</a:t>
            </a:r>
            <a:r>
              <a:rPr lang="zh-CN" altLang="en-US" dirty="0"/>
              <a:t> </a:t>
            </a:r>
            <a:r>
              <a:rPr lang="en-US" altLang="zh-CN" dirty="0"/>
              <a:t>legitimate</a:t>
            </a:r>
            <a:r>
              <a:rPr lang="zh-CN" altLang="en-US" dirty="0"/>
              <a:t> </a:t>
            </a:r>
            <a:r>
              <a:rPr lang="en-US" altLang="zh-CN" dirty="0"/>
              <a:t>user</a:t>
            </a:r>
            <a:r>
              <a:rPr lang="zh-CN" altLang="en-US" dirty="0"/>
              <a:t> </a:t>
            </a:r>
            <a:r>
              <a:rPr lang="en-US" altLang="zh-CN" dirty="0"/>
              <a:t>request</a:t>
            </a:r>
            <a:endParaRPr lang="zh-CN" altLang="en-US" dirty="0"/>
          </a:p>
        </p:txBody>
      </p:sp>
      <p:sp>
        <p:nvSpPr>
          <p:cNvPr id="4" name="灯片编号占位符 3">
            <a:extLst>
              <a:ext uri="{FF2B5EF4-FFF2-40B4-BE49-F238E27FC236}">
                <a16:creationId xmlns:a16="http://schemas.microsoft.com/office/drawing/2014/main" id="{6F043ED4-D50E-3451-B013-BFEF1FDA1AE8}"/>
              </a:ext>
            </a:extLst>
          </p:cNvPr>
          <p:cNvSpPr>
            <a:spLocks noGrp="1"/>
          </p:cNvSpPr>
          <p:nvPr>
            <p:ph type="sldNum" sz="quarter" idx="5"/>
          </p:nvPr>
        </p:nvSpPr>
        <p:spPr/>
        <p:txBody>
          <a:bodyPr/>
          <a:lstStyle/>
          <a:p>
            <a:fld id="{B11D5518-E2B7-47D3-A483-775D39982443}" type="slidenum">
              <a:rPr lang="zh-TW" altLang="en-US" smtClean="0"/>
              <a:t>28</a:t>
            </a:fld>
            <a:endParaRPr lang="zh-TW" altLang="en-US"/>
          </a:p>
        </p:txBody>
      </p:sp>
    </p:spTree>
    <p:extLst>
      <p:ext uri="{BB962C8B-B14F-4D97-AF65-F5344CB8AC3E}">
        <p14:creationId xmlns:p14="http://schemas.microsoft.com/office/powerpoint/2010/main" val="42662331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7CC40-B916-219D-7421-BEC793E8BF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6A9B79-95EA-92E3-7513-F4955962EA9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E436A9-B4F9-785C-D8D4-81C0C027515C}"/>
              </a:ext>
            </a:extLst>
          </p:cNvPr>
          <p:cNvSpPr>
            <a:spLocks noGrp="1"/>
          </p:cNvSpPr>
          <p:nvPr>
            <p:ph type="body" idx="1"/>
          </p:nvPr>
        </p:nvSpPr>
        <p:spPr/>
        <p:txBody>
          <a:bodyPr/>
          <a:lstStyle/>
          <a:p>
            <a:r>
              <a:rPr lang="en-US" altLang="zh-CN" dirty="0"/>
              <a:t>And</a:t>
            </a:r>
            <a:r>
              <a:rPr lang="zh-CN" altLang="en-US" dirty="0"/>
              <a:t> </a:t>
            </a:r>
            <a:r>
              <a:rPr lang="en-US" altLang="zh-CN" dirty="0"/>
              <a:t>the</a:t>
            </a:r>
            <a:r>
              <a:rPr lang="zh-CN" altLang="en-US" dirty="0"/>
              <a:t> </a:t>
            </a:r>
            <a:r>
              <a:rPr lang="en-US" altLang="zh-CN" dirty="0"/>
              <a:t>final</a:t>
            </a:r>
            <a:r>
              <a:rPr lang="zh-CN" altLang="en-US" dirty="0"/>
              <a:t>  </a:t>
            </a:r>
            <a:r>
              <a:rPr lang="en-US" altLang="zh-CN" dirty="0"/>
              <a:t>one</a:t>
            </a:r>
            <a:r>
              <a:rPr lang="zh-CN" altLang="en-US" dirty="0"/>
              <a:t> </a:t>
            </a:r>
            <a:r>
              <a:rPr lang="en-US" altLang="zh-CN" dirty="0"/>
              <a:t>is</a:t>
            </a:r>
            <a:r>
              <a:rPr lang="zh-CN" altLang="en-US" dirty="0"/>
              <a:t> </a:t>
            </a:r>
            <a:r>
              <a:rPr lang="en-US" altLang="zh-CN" dirty="0"/>
              <a:t>memory</a:t>
            </a:r>
            <a:r>
              <a:rPr lang="zh-CN" altLang="en-US" dirty="0"/>
              <a:t> </a:t>
            </a:r>
            <a:r>
              <a:rPr lang="en-US" altLang="zh-CN" dirty="0"/>
              <a:t>poisoning,</a:t>
            </a:r>
            <a:r>
              <a:rPr lang="zh-CN" altLang="en-US" dirty="0"/>
              <a:t> </a:t>
            </a:r>
            <a:r>
              <a:rPr lang="en-US" altLang="zh-CN" dirty="0"/>
              <a:t>the</a:t>
            </a:r>
            <a:r>
              <a:rPr lang="zh-CN" altLang="en-US" dirty="0"/>
              <a:t> </a:t>
            </a:r>
            <a:r>
              <a:rPr lang="en-US" altLang="zh-CN" dirty="0"/>
              <a:t>injected</a:t>
            </a:r>
            <a:r>
              <a:rPr lang="zh-CN" altLang="en-US" dirty="0"/>
              <a:t> </a:t>
            </a:r>
            <a:r>
              <a:rPr lang="en-US" altLang="zh-CN" dirty="0"/>
              <a:t>memory</a:t>
            </a:r>
            <a:r>
              <a:rPr lang="zh-CN" altLang="en-US" dirty="0"/>
              <a:t> </a:t>
            </a:r>
            <a:r>
              <a:rPr lang="en-US" altLang="zh-CN" dirty="0"/>
              <a:t>requires</a:t>
            </a:r>
            <a:r>
              <a:rPr lang="zh-CN" altLang="en-US" dirty="0"/>
              <a:t> </a:t>
            </a:r>
            <a:r>
              <a:rPr lang="en-US" altLang="zh-CN" dirty="0"/>
              <a:t>the</a:t>
            </a:r>
            <a:r>
              <a:rPr lang="zh-CN" altLang="en-US" dirty="0"/>
              <a:t> </a:t>
            </a:r>
            <a:r>
              <a:rPr lang="en-US" altLang="zh-CN" dirty="0"/>
              <a:t>agent</a:t>
            </a:r>
            <a:r>
              <a:rPr lang="zh-CN" altLang="en-US" dirty="0"/>
              <a:t> </a:t>
            </a:r>
            <a:r>
              <a:rPr lang="en-US" altLang="zh-CN" dirty="0"/>
              <a:t>to</a:t>
            </a:r>
            <a:r>
              <a:rPr lang="zh-CN" altLang="en-US" dirty="0"/>
              <a:t> </a:t>
            </a:r>
            <a:r>
              <a:rPr lang="en-US" altLang="zh-CN" dirty="0"/>
              <a:t>block</a:t>
            </a:r>
            <a:r>
              <a:rPr lang="zh-CN" altLang="en-US" dirty="0"/>
              <a:t> </a:t>
            </a:r>
            <a:r>
              <a:rPr lang="en-US" altLang="zh-CN" dirty="0"/>
              <a:t>the</a:t>
            </a:r>
            <a:r>
              <a:rPr lang="zh-CN" altLang="en-US" dirty="0"/>
              <a:t> </a:t>
            </a:r>
            <a:r>
              <a:rPr lang="en-US" altLang="zh-CN" dirty="0"/>
              <a:t>harmless</a:t>
            </a:r>
            <a:r>
              <a:rPr lang="zh-CN" altLang="en-US" dirty="0"/>
              <a:t> </a:t>
            </a:r>
            <a:r>
              <a:rPr lang="en-US" altLang="zh-CN" dirty="0"/>
              <a:t>user</a:t>
            </a:r>
            <a:r>
              <a:rPr lang="zh-CN" altLang="en-US" dirty="0"/>
              <a:t> </a:t>
            </a:r>
            <a:r>
              <a:rPr lang="en-US" altLang="zh-CN" dirty="0"/>
              <a:t>request.</a:t>
            </a:r>
            <a:r>
              <a:rPr lang="zh-CN" altLang="en-US" dirty="0"/>
              <a:t> </a:t>
            </a:r>
            <a:r>
              <a:rPr lang="en-US" altLang="zh-CN" dirty="0"/>
              <a:t>Agent</a:t>
            </a:r>
            <a:r>
              <a:rPr lang="zh-CN" altLang="en-US" dirty="0"/>
              <a:t> </a:t>
            </a:r>
            <a:r>
              <a:rPr lang="en-US" altLang="zh-CN" dirty="0"/>
              <a:t>refused</a:t>
            </a:r>
            <a:r>
              <a:rPr lang="zh-CN" altLang="en-US" dirty="0"/>
              <a:t> </a:t>
            </a:r>
            <a:r>
              <a:rPr lang="en-US" altLang="zh-CN" dirty="0"/>
              <a:t>directly</a:t>
            </a:r>
            <a:r>
              <a:rPr lang="zh-CN" altLang="en-US" dirty="0"/>
              <a:t> </a:t>
            </a:r>
            <a:r>
              <a:rPr lang="en-US" altLang="zh-CN" dirty="0"/>
              <a:t>to</a:t>
            </a:r>
            <a:r>
              <a:rPr lang="zh-CN" altLang="en-US" dirty="0"/>
              <a:t> </a:t>
            </a:r>
            <a:r>
              <a:rPr lang="en-US" altLang="zh-CN" dirty="0"/>
              <a:t>write</a:t>
            </a:r>
            <a:r>
              <a:rPr lang="zh-CN" altLang="en-US" dirty="0"/>
              <a:t> </a:t>
            </a:r>
            <a:r>
              <a:rPr lang="en-US" altLang="zh-CN" dirty="0"/>
              <a:t>a</a:t>
            </a:r>
            <a:r>
              <a:rPr lang="zh-CN" altLang="en-US" dirty="0"/>
              <a:t> </a:t>
            </a:r>
            <a:r>
              <a:rPr lang="en-US" altLang="zh-CN" dirty="0"/>
              <a:t>program</a:t>
            </a:r>
            <a:r>
              <a:rPr lang="zh-CN" altLang="en-US" dirty="0"/>
              <a:t> </a:t>
            </a:r>
            <a:r>
              <a:rPr lang="en-US" altLang="zh-CN" dirty="0"/>
              <a:t>to</a:t>
            </a:r>
            <a:r>
              <a:rPr lang="zh-CN" altLang="en-US" dirty="0"/>
              <a:t> </a:t>
            </a:r>
            <a:r>
              <a:rPr lang="en-US" altLang="zh-CN" dirty="0"/>
              <a:t>print</a:t>
            </a:r>
            <a:r>
              <a:rPr lang="zh-CN" altLang="en-US" dirty="0"/>
              <a:t> </a:t>
            </a:r>
            <a:r>
              <a:rPr lang="en-US" altLang="zh-CN" dirty="0"/>
              <a:t>out</a:t>
            </a:r>
            <a:r>
              <a:rPr lang="zh-CN" altLang="en-US" dirty="0"/>
              <a:t> </a:t>
            </a:r>
            <a:r>
              <a:rPr lang="en-US" altLang="zh-CN" dirty="0"/>
              <a:t>hello</a:t>
            </a:r>
            <a:r>
              <a:rPr lang="zh-CN" altLang="en-US" dirty="0"/>
              <a:t> </a:t>
            </a:r>
            <a:r>
              <a:rPr lang="en-US" altLang="zh-CN" dirty="0"/>
              <a:t>world</a:t>
            </a:r>
          </a:p>
          <a:p>
            <a:endParaRPr lang="en-US" altLang="zh-CN" dirty="0"/>
          </a:p>
          <a:p>
            <a:r>
              <a:rPr lang="en-US" altLang="zh-CN" dirty="0"/>
              <a:t>To</a:t>
            </a:r>
            <a:r>
              <a:rPr lang="zh-CN" altLang="en-US" dirty="0"/>
              <a:t> </a:t>
            </a:r>
            <a:r>
              <a:rPr lang="en-US" altLang="zh-CN" dirty="0"/>
              <a:t>solve</a:t>
            </a:r>
            <a:r>
              <a:rPr lang="zh-CN" altLang="en-US" dirty="0"/>
              <a:t> </a:t>
            </a:r>
            <a:r>
              <a:rPr lang="en-US" altLang="zh-CN" dirty="0"/>
              <a:t>these</a:t>
            </a:r>
            <a:r>
              <a:rPr lang="zh-CN" altLang="en-US" dirty="0"/>
              <a:t> </a:t>
            </a:r>
            <a:r>
              <a:rPr lang="en-US" altLang="zh-CN" dirty="0"/>
              <a:t>problems</a:t>
            </a:r>
            <a:r>
              <a:rPr lang="zh-CN" altLang="en-US" dirty="0"/>
              <a:t> </a:t>
            </a:r>
            <a:r>
              <a:rPr lang="en-US" altLang="zh-CN" dirty="0"/>
              <a:t>encountered,</a:t>
            </a:r>
            <a:r>
              <a:rPr lang="zh-CN" altLang="en-US" dirty="0"/>
              <a:t>  </a:t>
            </a:r>
            <a:r>
              <a:rPr lang="en-US" altLang="zh-CN" dirty="0"/>
              <a:t>this</a:t>
            </a:r>
            <a:r>
              <a:rPr lang="zh-CN" altLang="en-US" dirty="0"/>
              <a:t> </a:t>
            </a:r>
            <a:r>
              <a:rPr lang="en-US" altLang="zh-CN" dirty="0"/>
              <a:t>paper</a:t>
            </a:r>
            <a:r>
              <a:rPr lang="zh-CN" altLang="en-US" dirty="0"/>
              <a:t> </a:t>
            </a:r>
            <a:r>
              <a:rPr lang="en-US" altLang="zh-CN" dirty="0"/>
              <a:t>separates</a:t>
            </a:r>
            <a:r>
              <a:rPr lang="zh-CN" altLang="en-US" dirty="0"/>
              <a:t> </a:t>
            </a:r>
            <a:r>
              <a:rPr lang="en-US" altLang="zh-CN" dirty="0"/>
              <a:t>the</a:t>
            </a:r>
            <a:r>
              <a:rPr lang="zh-CN" altLang="en-US" dirty="0"/>
              <a:t> </a:t>
            </a:r>
            <a:r>
              <a:rPr lang="en-US" altLang="zh-CN" dirty="0"/>
              <a:t>lifecycle</a:t>
            </a:r>
            <a:r>
              <a:rPr lang="zh-CN" altLang="en-US" dirty="0"/>
              <a:t> </a:t>
            </a:r>
            <a:r>
              <a:rPr lang="en-US" altLang="zh-CN" dirty="0"/>
              <a:t>into</a:t>
            </a:r>
            <a:r>
              <a:rPr lang="zh-CN" altLang="en-US" dirty="0"/>
              <a:t> </a:t>
            </a:r>
            <a:r>
              <a:rPr lang="en-US" altLang="zh-CN" dirty="0"/>
              <a:t>5</a:t>
            </a:r>
            <a:r>
              <a:rPr lang="zh-CN" altLang="en-US" dirty="0"/>
              <a:t> </a:t>
            </a:r>
            <a:r>
              <a:rPr lang="en-US" altLang="zh-CN" dirty="0"/>
              <a:t>stages</a:t>
            </a:r>
            <a:r>
              <a:rPr lang="zh-CN" altLang="en-US" dirty="0"/>
              <a:t> </a:t>
            </a:r>
            <a:r>
              <a:rPr lang="en-US" altLang="zh-CN" dirty="0"/>
              <a:t>and</a:t>
            </a:r>
            <a:r>
              <a:rPr lang="zh-CN" altLang="en-US" dirty="0"/>
              <a:t> </a:t>
            </a:r>
            <a:r>
              <a:rPr lang="en-US" altLang="zh-CN" dirty="0"/>
              <a:t>decides</a:t>
            </a:r>
            <a:r>
              <a:rPr lang="zh-CN" altLang="en-US" dirty="0"/>
              <a:t> </a:t>
            </a:r>
            <a:r>
              <a:rPr lang="en-US" altLang="zh-CN" dirty="0"/>
              <a:t>to</a:t>
            </a:r>
            <a:r>
              <a:rPr lang="zh-CN" altLang="en-US" dirty="0"/>
              <a:t> </a:t>
            </a:r>
            <a:r>
              <a:rPr lang="en-US" altLang="zh-CN" dirty="0"/>
              <a:t>solve</a:t>
            </a:r>
            <a:r>
              <a:rPr lang="zh-CN" altLang="en-US" dirty="0"/>
              <a:t> </a:t>
            </a:r>
            <a:r>
              <a:rPr lang="en-US" altLang="zh-CN" dirty="0"/>
              <a:t>them</a:t>
            </a:r>
            <a:r>
              <a:rPr lang="zh-CN" altLang="en-US" dirty="0"/>
              <a:t> </a:t>
            </a:r>
            <a:r>
              <a:rPr lang="en-US" altLang="zh-CN" dirty="0"/>
              <a:t>in</a:t>
            </a:r>
            <a:r>
              <a:rPr lang="zh-CN" altLang="en-US" dirty="0"/>
              <a:t> </a:t>
            </a:r>
            <a:r>
              <a:rPr lang="en-US" altLang="zh-CN" dirty="0"/>
              <a:t>different</a:t>
            </a:r>
            <a:r>
              <a:rPr lang="zh-CN" altLang="en-US" dirty="0"/>
              <a:t> </a:t>
            </a:r>
            <a:r>
              <a:rPr lang="en-US" altLang="zh-CN" dirty="0"/>
              <a:t>lifecycle</a:t>
            </a:r>
            <a:r>
              <a:rPr lang="zh-CN" altLang="en-US" dirty="0"/>
              <a:t> </a:t>
            </a:r>
            <a:r>
              <a:rPr lang="en-US" altLang="zh-CN" dirty="0"/>
              <a:t>stages.</a:t>
            </a:r>
            <a:endParaRPr lang="zh-CN" altLang="en-US" dirty="0"/>
          </a:p>
        </p:txBody>
      </p:sp>
      <p:sp>
        <p:nvSpPr>
          <p:cNvPr id="4" name="灯片编号占位符 3">
            <a:extLst>
              <a:ext uri="{FF2B5EF4-FFF2-40B4-BE49-F238E27FC236}">
                <a16:creationId xmlns:a16="http://schemas.microsoft.com/office/drawing/2014/main" id="{7D796E0F-DD31-9C27-A429-10B2F4B1C5BC}"/>
              </a:ext>
            </a:extLst>
          </p:cNvPr>
          <p:cNvSpPr>
            <a:spLocks noGrp="1"/>
          </p:cNvSpPr>
          <p:nvPr>
            <p:ph type="sldNum" sz="quarter" idx="5"/>
          </p:nvPr>
        </p:nvSpPr>
        <p:spPr/>
        <p:txBody>
          <a:bodyPr/>
          <a:lstStyle/>
          <a:p>
            <a:fld id="{B11D5518-E2B7-47D3-A483-775D39982443}" type="slidenum">
              <a:rPr lang="zh-TW" altLang="en-US" smtClean="0"/>
              <a:t>29</a:t>
            </a:fld>
            <a:endParaRPr lang="zh-TW" altLang="en-US"/>
          </a:p>
        </p:txBody>
      </p:sp>
    </p:spTree>
    <p:extLst>
      <p:ext uri="{BB962C8B-B14F-4D97-AF65-F5344CB8AC3E}">
        <p14:creationId xmlns:p14="http://schemas.microsoft.com/office/powerpoint/2010/main" val="13339846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9C9B1-7687-3355-F8E5-82E9E61002F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01620F-7291-F7B1-6E0C-C8C3D4F7B3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8ED187-2EF6-4832-8607-BE0CB82D8F55}"/>
              </a:ext>
            </a:extLst>
          </p:cNvPr>
          <p:cNvSpPr>
            <a:spLocks noGrp="1"/>
          </p:cNvSpPr>
          <p:nvPr>
            <p:ph type="body" idx="1"/>
          </p:nvPr>
        </p:nvSpPr>
        <p:spPr/>
        <p:txBody>
          <a:bodyPr/>
          <a:lstStyle/>
          <a:p>
            <a:r>
              <a:rPr lang="en-US" altLang="zh-CN" dirty="0"/>
              <a:t>The danger in</a:t>
            </a:r>
            <a:r>
              <a:rPr lang="zh-CN" altLang="en-US" dirty="0"/>
              <a:t> </a:t>
            </a:r>
            <a:r>
              <a:rPr lang="en-US" altLang="zh-CN" dirty="0"/>
              <a:t>initialization</a:t>
            </a:r>
            <a:r>
              <a:rPr lang="zh-CN" altLang="en-US" dirty="0"/>
              <a:t> </a:t>
            </a:r>
            <a:r>
              <a:rPr lang="en-US" altLang="zh-CN" dirty="0"/>
              <a:t>stage</a:t>
            </a:r>
            <a:r>
              <a:rPr lang="zh-CN" altLang="en-US" dirty="0"/>
              <a:t> </a:t>
            </a:r>
            <a:r>
              <a:rPr lang="en-US" altLang="zh-CN" dirty="0"/>
              <a:t>is untrusted dependencies, specifically manifested as malicious plugins and configurations. The solution is simple, which is to scan for malicious backdoors and unnecessary system permissions.</a:t>
            </a:r>
          </a:p>
          <a:p>
            <a:r>
              <a:rPr lang="en-US" altLang="zh-CN" dirty="0"/>
              <a:t>The input stage mainly aims to prevent malicious content, and the solution in this stage is to convert user prompts and external unstructured data into a unified contextual representation to prevent indirect prompt injection</a:t>
            </a:r>
            <a:endParaRPr lang="zh-CN" altLang="en-US" dirty="0"/>
          </a:p>
        </p:txBody>
      </p:sp>
      <p:sp>
        <p:nvSpPr>
          <p:cNvPr id="4" name="灯片编号占位符 3">
            <a:extLst>
              <a:ext uri="{FF2B5EF4-FFF2-40B4-BE49-F238E27FC236}">
                <a16:creationId xmlns:a16="http://schemas.microsoft.com/office/drawing/2014/main" id="{1A2FCD84-4B7A-67FE-32C3-4D3FD7D452B4}"/>
              </a:ext>
            </a:extLst>
          </p:cNvPr>
          <p:cNvSpPr>
            <a:spLocks noGrp="1"/>
          </p:cNvSpPr>
          <p:nvPr>
            <p:ph type="sldNum" sz="quarter" idx="5"/>
          </p:nvPr>
        </p:nvSpPr>
        <p:spPr/>
        <p:txBody>
          <a:bodyPr/>
          <a:lstStyle/>
          <a:p>
            <a:fld id="{B11D5518-E2B7-47D3-A483-775D39982443}" type="slidenum">
              <a:rPr lang="zh-TW" altLang="en-US" smtClean="0"/>
              <a:t>30</a:t>
            </a:fld>
            <a:endParaRPr lang="zh-TW" altLang="en-US"/>
          </a:p>
        </p:txBody>
      </p:sp>
    </p:spTree>
    <p:extLst>
      <p:ext uri="{BB962C8B-B14F-4D97-AF65-F5344CB8AC3E}">
        <p14:creationId xmlns:p14="http://schemas.microsoft.com/office/powerpoint/2010/main" val="35505029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918FD-5BC9-FA64-12EB-9586D9D31EE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19CAE5-78E3-C481-B820-12459119C2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CC8201-C3F8-B60C-F441-04953BE24F59}"/>
              </a:ext>
            </a:extLst>
          </p:cNvPr>
          <p:cNvSpPr>
            <a:spLocks noGrp="1"/>
          </p:cNvSpPr>
          <p:nvPr>
            <p:ph type="body" idx="1"/>
          </p:nvPr>
        </p:nvSpPr>
        <p:spPr/>
        <p:txBody>
          <a:bodyPr/>
          <a:lstStyle/>
          <a:p>
            <a:r>
              <a:rPr lang="en-US" altLang="zh-CN" dirty="0"/>
              <a:t>In</a:t>
            </a:r>
            <a:r>
              <a:rPr lang="zh-CN" altLang="en-US" dirty="0"/>
              <a:t> </a:t>
            </a:r>
            <a:r>
              <a:rPr lang="en-US" altLang="zh-CN" dirty="0"/>
              <a:t>inference</a:t>
            </a:r>
            <a:r>
              <a:rPr lang="zh-CN" altLang="en-US" dirty="0"/>
              <a:t> </a:t>
            </a:r>
            <a:r>
              <a:rPr lang="en-US" altLang="zh-CN" dirty="0"/>
              <a:t>stage,</a:t>
            </a:r>
            <a:r>
              <a:rPr lang="zh-CN" altLang="en-US" dirty="0"/>
              <a:t> </a:t>
            </a:r>
            <a:r>
              <a:rPr lang="en-US" altLang="zh-CN" dirty="0"/>
              <a:t>facing</a:t>
            </a:r>
            <a:r>
              <a:rPr lang="zh-CN" altLang="en-US" dirty="0"/>
              <a:t> </a:t>
            </a:r>
            <a:r>
              <a:rPr lang="en-US" altLang="zh-CN" dirty="0"/>
              <a:t>the</a:t>
            </a:r>
            <a:r>
              <a:rPr lang="zh-CN" altLang="en-US" dirty="0"/>
              <a:t> </a:t>
            </a:r>
            <a:r>
              <a:rPr lang="en-US" altLang="zh-CN" dirty="0"/>
              <a:t>tampered</a:t>
            </a:r>
            <a:r>
              <a:rPr lang="zh-CN" altLang="en-US" dirty="0"/>
              <a:t> </a:t>
            </a:r>
            <a:r>
              <a:rPr lang="en-US" altLang="zh-CN" dirty="0"/>
              <a:t>persistent</a:t>
            </a:r>
            <a:r>
              <a:rPr lang="zh-CN" altLang="en-US" dirty="0"/>
              <a:t> </a:t>
            </a:r>
            <a:r>
              <a:rPr lang="en-US" altLang="zh-CN" dirty="0"/>
              <a:t>state,</a:t>
            </a:r>
            <a:r>
              <a:rPr lang="zh-CN" altLang="en-US" dirty="0"/>
              <a:t> </a:t>
            </a:r>
            <a:r>
              <a:rPr lang="en-US" altLang="zh-CN" dirty="0"/>
              <a:t>there</a:t>
            </a:r>
            <a:r>
              <a:rPr lang="zh-CN" altLang="en-US" dirty="0"/>
              <a:t> </a:t>
            </a:r>
            <a:r>
              <a:rPr lang="en-US" altLang="zh-CN" dirty="0"/>
              <a:t>may</a:t>
            </a:r>
            <a:r>
              <a:rPr lang="zh-CN" altLang="en-US" dirty="0"/>
              <a:t> </a:t>
            </a:r>
            <a:r>
              <a:rPr lang="en-US" altLang="zh-CN" dirty="0"/>
              <a:t>exist</a:t>
            </a:r>
            <a:r>
              <a:rPr lang="zh-CN" altLang="en-US" dirty="0"/>
              <a:t> </a:t>
            </a:r>
            <a:r>
              <a:rPr lang="en-US" altLang="zh-CN" dirty="0"/>
              <a:t>memory</a:t>
            </a:r>
            <a:r>
              <a:rPr lang="zh-CN" altLang="en-US" dirty="0"/>
              <a:t> </a:t>
            </a:r>
            <a:r>
              <a:rPr lang="en-US" altLang="zh-CN" dirty="0"/>
              <a:t>poisoning</a:t>
            </a:r>
            <a:r>
              <a:rPr lang="zh-CN" altLang="en-US" dirty="0"/>
              <a:t> </a:t>
            </a:r>
            <a:r>
              <a:rPr lang="en-US" altLang="zh-CN" dirty="0"/>
              <a:t>and</a:t>
            </a:r>
            <a:r>
              <a:rPr lang="zh-CN" altLang="en-US" dirty="0"/>
              <a:t> </a:t>
            </a:r>
            <a:r>
              <a:rPr lang="en-US" altLang="zh-CN" dirty="0"/>
              <a:t>context</a:t>
            </a:r>
            <a:r>
              <a:rPr lang="zh-CN" altLang="en-US" dirty="0"/>
              <a:t> </a:t>
            </a:r>
            <a:r>
              <a:rPr lang="en-US" altLang="zh-CN" dirty="0"/>
              <a:t>drift.</a:t>
            </a:r>
            <a:r>
              <a:rPr lang="zh-CN" altLang="en-US" dirty="0"/>
              <a:t> </a:t>
            </a:r>
            <a:r>
              <a:rPr lang="en-US" altLang="zh-CN" dirty="0"/>
              <a:t>the</a:t>
            </a:r>
            <a:r>
              <a:rPr lang="zh-CN" altLang="en-US" dirty="0"/>
              <a:t> </a:t>
            </a:r>
            <a:r>
              <a:rPr lang="en-US" altLang="zh-CN" dirty="0"/>
              <a:t>solution</a:t>
            </a:r>
            <a:r>
              <a:rPr lang="zh-CN" altLang="en-US" dirty="0"/>
              <a:t> </a:t>
            </a:r>
            <a:r>
              <a:rPr lang="en-US" altLang="zh-CN" dirty="0"/>
              <a:t>is</a:t>
            </a:r>
            <a:r>
              <a:rPr lang="zh-CN" altLang="en-US" dirty="0"/>
              <a:t> </a:t>
            </a:r>
            <a:r>
              <a:rPr lang="en-US" altLang="zh-CN" dirty="0"/>
              <a:t>monitor</a:t>
            </a:r>
            <a:r>
              <a:rPr lang="zh-CN" altLang="en-US" dirty="0"/>
              <a:t> </a:t>
            </a:r>
            <a:r>
              <a:rPr lang="en-US" altLang="zh-CN" dirty="0"/>
              <a:t>and</a:t>
            </a:r>
            <a:r>
              <a:rPr lang="zh-CN" altLang="en-US" dirty="0"/>
              <a:t> </a:t>
            </a:r>
            <a:r>
              <a:rPr lang="en-US" altLang="zh-CN" dirty="0"/>
              <a:t>process</a:t>
            </a:r>
            <a:r>
              <a:rPr lang="zh-CN" altLang="en-US" dirty="0"/>
              <a:t> </a:t>
            </a:r>
            <a:r>
              <a:rPr lang="en-US" altLang="zh-CN" dirty="0"/>
              <a:t>the</a:t>
            </a:r>
            <a:r>
              <a:rPr lang="zh-CN" altLang="en-US" dirty="0"/>
              <a:t> </a:t>
            </a:r>
            <a:r>
              <a:rPr lang="en-US" altLang="zh-CN" dirty="0"/>
              <a:t>evolution</a:t>
            </a:r>
            <a:r>
              <a:rPr lang="zh-CN" altLang="en-US" dirty="0"/>
              <a:t> </a:t>
            </a:r>
            <a:r>
              <a:rPr lang="en-US" altLang="zh-CN" dirty="0"/>
              <a:t>of</a:t>
            </a:r>
            <a:r>
              <a:rPr lang="zh-CN" altLang="en-US" dirty="0"/>
              <a:t> </a:t>
            </a:r>
            <a:r>
              <a:rPr lang="en-US" altLang="zh-CN" dirty="0"/>
              <a:t>internal</a:t>
            </a:r>
            <a:r>
              <a:rPr lang="zh-CN" altLang="en-US" dirty="0"/>
              <a:t> </a:t>
            </a:r>
            <a:r>
              <a:rPr lang="en-US" altLang="zh-CN" dirty="0"/>
              <a:t>state</a:t>
            </a:r>
            <a:r>
              <a:rPr lang="zh-CN" altLang="en-US" dirty="0"/>
              <a:t> </a:t>
            </a:r>
            <a:r>
              <a:rPr lang="en-US" altLang="zh-CN" dirty="0"/>
              <a:t>in</a:t>
            </a:r>
            <a:r>
              <a:rPr lang="zh-CN" altLang="en-US" dirty="0"/>
              <a:t> </a:t>
            </a:r>
            <a:r>
              <a:rPr lang="en-US" altLang="zh-CN" dirty="0"/>
              <a:t>multiple</a:t>
            </a:r>
            <a:r>
              <a:rPr lang="zh-CN" altLang="en-US" dirty="0"/>
              <a:t> </a:t>
            </a:r>
            <a:r>
              <a:rPr lang="en-US" altLang="zh-CN" dirty="0"/>
              <a:t>complex</a:t>
            </a:r>
            <a:r>
              <a:rPr lang="zh-CN" altLang="en-US" dirty="0"/>
              <a:t> </a:t>
            </a:r>
            <a:r>
              <a:rPr lang="en-US" altLang="zh-CN" dirty="0"/>
              <a:t>conversations</a:t>
            </a:r>
            <a:r>
              <a:rPr lang="zh-CN" altLang="en-US" dirty="0"/>
              <a:t> </a:t>
            </a:r>
            <a:r>
              <a:rPr lang="en-US" altLang="zh-CN" dirty="0"/>
              <a:t>using</a:t>
            </a:r>
            <a:r>
              <a:rPr lang="zh-CN" altLang="en-US" dirty="0"/>
              <a:t> </a:t>
            </a:r>
            <a:r>
              <a:rPr lang="en-US" altLang="zh-CN" dirty="0"/>
              <a:t>the</a:t>
            </a:r>
            <a:r>
              <a:rPr lang="zh-CN" altLang="en-US" dirty="0"/>
              <a:t> </a:t>
            </a:r>
            <a:r>
              <a:rPr lang="en-US" altLang="zh-CN" dirty="0"/>
              <a:t>guard</a:t>
            </a:r>
          </a:p>
          <a:p>
            <a:endParaRPr lang="en-US" altLang="zh-CN" dirty="0"/>
          </a:p>
          <a:p>
            <a:r>
              <a:rPr lang="en-US" altLang="zh-CN" dirty="0"/>
              <a:t>And</a:t>
            </a:r>
            <a:r>
              <a:rPr lang="zh-CN" altLang="en-US" dirty="0"/>
              <a:t> </a:t>
            </a:r>
            <a:r>
              <a:rPr lang="en-US" altLang="zh-CN" dirty="0"/>
              <a:t>the</a:t>
            </a:r>
            <a:r>
              <a:rPr lang="zh-CN" altLang="en-US" dirty="0"/>
              <a:t> </a:t>
            </a:r>
            <a:r>
              <a:rPr lang="en-US" altLang="zh-CN" dirty="0"/>
              <a:t>decision</a:t>
            </a:r>
            <a:r>
              <a:rPr lang="zh-CN" altLang="en-US" dirty="0"/>
              <a:t> </a:t>
            </a:r>
            <a:r>
              <a:rPr lang="en-US" altLang="zh-CN" dirty="0"/>
              <a:t>stage</a:t>
            </a:r>
            <a:r>
              <a:rPr lang="zh-CN" altLang="en-US" dirty="0"/>
              <a:t> </a:t>
            </a:r>
            <a:r>
              <a:rPr lang="en-US" altLang="zh-CN" dirty="0"/>
              <a:t>may</a:t>
            </a:r>
            <a:r>
              <a:rPr lang="zh-CN" altLang="en-US" dirty="0"/>
              <a:t> </a:t>
            </a:r>
            <a:r>
              <a:rPr lang="en-US" altLang="zh-CN" dirty="0"/>
              <a:t>encounter</a:t>
            </a:r>
            <a:r>
              <a:rPr lang="zh-CN" altLang="en-US" dirty="0"/>
              <a:t> </a:t>
            </a:r>
            <a:r>
              <a:rPr lang="en-US" altLang="zh-CN" dirty="0"/>
              <a:t>the</a:t>
            </a:r>
            <a:r>
              <a:rPr lang="zh-CN" altLang="en-US" dirty="0"/>
              <a:t> </a:t>
            </a:r>
            <a:r>
              <a:rPr lang="en-US" altLang="zh-CN" dirty="0"/>
              <a:t>intent</a:t>
            </a:r>
            <a:r>
              <a:rPr lang="zh-CN" altLang="en-US" dirty="0"/>
              <a:t> </a:t>
            </a:r>
            <a:r>
              <a:rPr lang="en-US" altLang="zh-CN" dirty="0"/>
              <a:t>drift</a:t>
            </a:r>
            <a:r>
              <a:rPr lang="zh-CN" altLang="en-US" dirty="0"/>
              <a:t> </a:t>
            </a:r>
            <a:r>
              <a:rPr lang="en-US" altLang="zh-CN" dirty="0"/>
              <a:t>or</a:t>
            </a:r>
            <a:r>
              <a:rPr lang="zh-CN" altLang="en-US" dirty="0"/>
              <a:t> </a:t>
            </a:r>
            <a:r>
              <a:rPr lang="en-US" altLang="zh-CN" dirty="0"/>
              <a:t>goal</a:t>
            </a:r>
            <a:r>
              <a:rPr lang="zh-CN" altLang="en-US" dirty="0"/>
              <a:t> </a:t>
            </a:r>
            <a:r>
              <a:rPr lang="en-US" altLang="zh-CN" dirty="0"/>
              <a:t>hijacking</a:t>
            </a:r>
            <a:r>
              <a:rPr lang="zh-CN" altLang="en-US" dirty="0"/>
              <a:t> </a:t>
            </a:r>
            <a:r>
              <a:rPr lang="en-US" altLang="zh-CN" dirty="0"/>
              <a:t>or</a:t>
            </a:r>
            <a:r>
              <a:rPr lang="zh-CN" altLang="en-US" dirty="0"/>
              <a:t> </a:t>
            </a:r>
            <a:r>
              <a:rPr lang="en-US" altLang="zh-CN" dirty="0"/>
              <a:t>tool</a:t>
            </a:r>
            <a:r>
              <a:rPr lang="zh-CN" altLang="en-US" dirty="0"/>
              <a:t> </a:t>
            </a:r>
            <a:r>
              <a:rPr lang="en-US" altLang="zh-CN" dirty="0"/>
              <a:t>selection</a:t>
            </a:r>
            <a:r>
              <a:rPr lang="zh-CN" altLang="en-US" dirty="0"/>
              <a:t> </a:t>
            </a:r>
            <a:r>
              <a:rPr lang="en-US" altLang="zh-CN" dirty="0"/>
              <a:t>manipulation.</a:t>
            </a:r>
            <a:r>
              <a:rPr lang="zh-CN" altLang="en-US" dirty="0"/>
              <a:t> </a:t>
            </a:r>
            <a:r>
              <a:rPr lang="en-US" altLang="zh-CN" dirty="0"/>
              <a:t>Also</a:t>
            </a:r>
            <a:r>
              <a:rPr lang="zh-CN" altLang="en-US" dirty="0"/>
              <a:t> </a:t>
            </a:r>
            <a:r>
              <a:rPr lang="en-US" altLang="zh-CN" dirty="0"/>
              <a:t>the</a:t>
            </a:r>
            <a:r>
              <a:rPr lang="zh-CN" altLang="en-US" dirty="0"/>
              <a:t> </a:t>
            </a:r>
            <a:r>
              <a:rPr lang="en-US" altLang="zh-CN" dirty="0"/>
              <a:t>solution</a:t>
            </a:r>
            <a:r>
              <a:rPr lang="zh-CN" altLang="en-US" dirty="0"/>
              <a:t> </a:t>
            </a:r>
            <a:r>
              <a:rPr lang="en-US" altLang="zh-CN" dirty="0"/>
              <a:t>is</a:t>
            </a:r>
            <a:r>
              <a:rPr lang="zh-CN" altLang="en-US" dirty="0"/>
              <a:t> </a:t>
            </a:r>
            <a:r>
              <a:rPr lang="en-US" altLang="zh-CN" dirty="0"/>
              <a:t>simple:</a:t>
            </a:r>
            <a:r>
              <a:rPr lang="zh-CN" altLang="en-US" dirty="0"/>
              <a:t> </a:t>
            </a:r>
            <a:r>
              <a:rPr lang="en-US" altLang="zh-CN" dirty="0"/>
              <a:t>just</a:t>
            </a:r>
            <a:r>
              <a:rPr lang="zh-CN" altLang="en-US" dirty="0"/>
              <a:t> </a:t>
            </a:r>
            <a:r>
              <a:rPr lang="en-US" altLang="zh-CN" dirty="0"/>
              <a:t>perform</a:t>
            </a:r>
            <a:r>
              <a:rPr lang="zh-CN" altLang="en-US" dirty="0"/>
              <a:t> </a:t>
            </a:r>
            <a:r>
              <a:rPr lang="en-US" altLang="zh-CN" dirty="0"/>
              <a:t>the</a:t>
            </a:r>
            <a:r>
              <a:rPr lang="zh-CN" altLang="en-US" dirty="0"/>
              <a:t> </a:t>
            </a:r>
            <a:r>
              <a:rPr lang="en-US" altLang="zh-CN" dirty="0"/>
              <a:t>semantic</a:t>
            </a:r>
            <a:r>
              <a:rPr lang="zh-CN" altLang="en-US" dirty="0"/>
              <a:t> </a:t>
            </a:r>
            <a:r>
              <a:rPr lang="en-US" altLang="zh-CN" dirty="0"/>
              <a:t>consistency</a:t>
            </a:r>
            <a:r>
              <a:rPr lang="zh-CN" altLang="en-US" dirty="0"/>
              <a:t> </a:t>
            </a:r>
            <a:r>
              <a:rPr lang="en-US" altLang="zh-CN" dirty="0"/>
              <a:t>check</a:t>
            </a:r>
            <a:r>
              <a:rPr lang="zh-CN" altLang="en-US" dirty="0"/>
              <a:t> </a:t>
            </a:r>
            <a:r>
              <a:rPr lang="en-US" altLang="zh-CN" dirty="0"/>
              <a:t>between</a:t>
            </a:r>
            <a:r>
              <a:rPr lang="zh-CN" altLang="en-US" dirty="0"/>
              <a:t> </a:t>
            </a:r>
            <a:r>
              <a:rPr lang="en-US" altLang="zh-CN" dirty="0"/>
              <a:t>the</a:t>
            </a:r>
            <a:r>
              <a:rPr lang="zh-CN" altLang="en-US" dirty="0"/>
              <a:t> </a:t>
            </a:r>
            <a:r>
              <a:rPr lang="en-US" altLang="zh-CN" dirty="0"/>
              <a:t>original</a:t>
            </a:r>
            <a:r>
              <a:rPr lang="zh-CN" altLang="en-US" dirty="0"/>
              <a:t> </a:t>
            </a:r>
            <a:r>
              <a:rPr lang="en-US" altLang="zh-CN" dirty="0"/>
              <a:t>prompt</a:t>
            </a:r>
            <a:r>
              <a:rPr lang="zh-CN" altLang="en-US" dirty="0"/>
              <a:t> </a:t>
            </a:r>
            <a:r>
              <a:rPr lang="en-US" altLang="zh-CN" dirty="0"/>
              <a:t>and</a:t>
            </a:r>
            <a:r>
              <a:rPr lang="zh-CN" altLang="en-US" dirty="0"/>
              <a:t> </a:t>
            </a:r>
            <a:r>
              <a:rPr lang="en-US" altLang="zh-CN" dirty="0"/>
              <a:t>the</a:t>
            </a:r>
            <a:r>
              <a:rPr lang="zh-CN" altLang="en-US" dirty="0"/>
              <a:t> </a:t>
            </a:r>
            <a:r>
              <a:rPr lang="en-US" altLang="zh-CN" dirty="0"/>
              <a:t>final</a:t>
            </a:r>
            <a:r>
              <a:rPr lang="zh-CN" altLang="en-US" dirty="0"/>
              <a:t> </a:t>
            </a:r>
            <a:r>
              <a:rPr lang="en-US" altLang="zh-CN" dirty="0"/>
              <a:t>actions</a:t>
            </a:r>
            <a:r>
              <a:rPr lang="zh-CN" altLang="en-US" dirty="0"/>
              <a:t> </a:t>
            </a:r>
            <a:r>
              <a:rPr lang="en-US" altLang="zh-CN" dirty="0"/>
              <a:t>decided</a:t>
            </a:r>
            <a:endParaRPr lang="zh-CN" altLang="en-US" dirty="0"/>
          </a:p>
        </p:txBody>
      </p:sp>
      <p:sp>
        <p:nvSpPr>
          <p:cNvPr id="4" name="灯片编号占位符 3">
            <a:extLst>
              <a:ext uri="{FF2B5EF4-FFF2-40B4-BE49-F238E27FC236}">
                <a16:creationId xmlns:a16="http://schemas.microsoft.com/office/drawing/2014/main" id="{3C067324-AA41-26B2-3090-D4A3880A7BE1}"/>
              </a:ext>
            </a:extLst>
          </p:cNvPr>
          <p:cNvSpPr>
            <a:spLocks noGrp="1"/>
          </p:cNvSpPr>
          <p:nvPr>
            <p:ph type="sldNum" sz="quarter" idx="5"/>
          </p:nvPr>
        </p:nvSpPr>
        <p:spPr/>
        <p:txBody>
          <a:bodyPr/>
          <a:lstStyle/>
          <a:p>
            <a:fld id="{B11D5518-E2B7-47D3-A483-775D39982443}" type="slidenum">
              <a:rPr lang="zh-TW" altLang="en-US" smtClean="0"/>
              <a:t>31</a:t>
            </a:fld>
            <a:endParaRPr lang="zh-TW" altLang="en-US"/>
          </a:p>
        </p:txBody>
      </p:sp>
    </p:spTree>
    <p:extLst>
      <p:ext uri="{BB962C8B-B14F-4D97-AF65-F5344CB8AC3E}">
        <p14:creationId xmlns:p14="http://schemas.microsoft.com/office/powerpoint/2010/main" val="16707132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6C290-ED38-E498-6B78-2B1AC8B47F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356B03-22FC-BAD4-75AE-DB9D948646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AC0C7C-6C5F-B20A-F824-CC0AE857D10F}"/>
              </a:ext>
            </a:extLst>
          </p:cNvPr>
          <p:cNvSpPr>
            <a:spLocks noGrp="1"/>
          </p:cNvSpPr>
          <p:nvPr>
            <p:ph type="body" idx="1"/>
          </p:nvPr>
        </p:nvSpPr>
        <p:spPr/>
        <p:txBody>
          <a:bodyPr/>
          <a:lstStyle/>
          <a:p>
            <a:r>
              <a:rPr lang="en-US" altLang="zh-CN" dirty="0"/>
              <a:t>Finally</a:t>
            </a:r>
            <a:r>
              <a:rPr lang="zh-CN" altLang="en-US" dirty="0"/>
              <a:t> </a:t>
            </a:r>
            <a:r>
              <a:rPr lang="en-US" altLang="zh-CN" dirty="0"/>
              <a:t>the</a:t>
            </a:r>
            <a:r>
              <a:rPr lang="zh-CN" altLang="en-US" dirty="0"/>
              <a:t> </a:t>
            </a:r>
            <a:r>
              <a:rPr lang="en-US" altLang="zh-CN" dirty="0"/>
              <a:t>execution</a:t>
            </a:r>
            <a:r>
              <a:rPr lang="zh-CN" altLang="en-US" dirty="0"/>
              <a:t> </a:t>
            </a:r>
            <a:r>
              <a:rPr lang="en-US" altLang="zh-CN" dirty="0"/>
              <a:t>stage,</a:t>
            </a:r>
            <a:r>
              <a:rPr lang="zh-CN" altLang="en-US" dirty="0"/>
              <a:t> </a:t>
            </a:r>
            <a:r>
              <a:rPr lang="en-US" altLang="zh-CN" dirty="0"/>
              <a:t>where</a:t>
            </a:r>
            <a:r>
              <a:rPr lang="zh-CN" altLang="en-US" dirty="0"/>
              <a:t> </a:t>
            </a:r>
            <a:r>
              <a:rPr lang="en-US" altLang="zh-CN" dirty="0"/>
              <a:t>it</a:t>
            </a:r>
            <a:r>
              <a:rPr lang="zh-CN" altLang="en-US" dirty="0"/>
              <a:t> </a:t>
            </a:r>
            <a:r>
              <a:rPr lang="en-US" altLang="zh-CN" dirty="0"/>
              <a:t>may</a:t>
            </a:r>
            <a:r>
              <a:rPr lang="zh-CN" altLang="en-US" dirty="0"/>
              <a:t> </a:t>
            </a:r>
            <a:r>
              <a:rPr lang="en-US" altLang="zh-CN" dirty="0"/>
              <a:t>encounter</a:t>
            </a:r>
            <a:r>
              <a:rPr lang="zh-CN" altLang="en-US" dirty="0"/>
              <a:t> </a:t>
            </a:r>
            <a:r>
              <a:rPr lang="en-US" altLang="zh-CN" dirty="0"/>
              <a:t>abused</a:t>
            </a:r>
            <a:r>
              <a:rPr lang="zh-CN" altLang="en-US" dirty="0"/>
              <a:t> </a:t>
            </a:r>
            <a:r>
              <a:rPr lang="en-US" altLang="zh-CN" dirty="0"/>
              <a:t>privileges,</a:t>
            </a:r>
            <a:r>
              <a:rPr lang="zh-CN" altLang="en-US" dirty="0"/>
              <a:t> </a:t>
            </a:r>
            <a:r>
              <a:rPr lang="en-US" altLang="zh-CN" dirty="0"/>
              <a:t>such</a:t>
            </a:r>
            <a:r>
              <a:rPr lang="zh-CN" altLang="en-US" dirty="0"/>
              <a:t> </a:t>
            </a:r>
            <a:r>
              <a:rPr lang="en-US" altLang="zh-CN" dirty="0"/>
              <a:t>as</a:t>
            </a:r>
            <a:r>
              <a:rPr lang="zh-CN" altLang="en-US" dirty="0"/>
              <a:t> </a:t>
            </a:r>
            <a:r>
              <a:rPr lang="en-US" altLang="zh-CN" dirty="0"/>
              <a:t>arbitrary</a:t>
            </a:r>
            <a:r>
              <a:rPr lang="zh-CN" altLang="en-US" dirty="0"/>
              <a:t> </a:t>
            </a:r>
            <a:r>
              <a:rPr lang="en-US" altLang="zh-CN" dirty="0"/>
              <a:t>code</a:t>
            </a:r>
            <a:r>
              <a:rPr lang="zh-CN" altLang="en-US" dirty="0"/>
              <a:t> </a:t>
            </a:r>
            <a:r>
              <a:rPr lang="en-US" altLang="zh-CN" dirty="0"/>
              <a:t>execution,</a:t>
            </a:r>
            <a:r>
              <a:rPr lang="zh-CN" altLang="en-US" dirty="0"/>
              <a:t> </a:t>
            </a:r>
            <a:r>
              <a:rPr lang="en-US" altLang="zh-CN" dirty="0"/>
              <a:t>privilege</a:t>
            </a:r>
            <a:r>
              <a:rPr lang="zh-CN" altLang="en-US" dirty="0"/>
              <a:t> </a:t>
            </a:r>
            <a:r>
              <a:rPr lang="en-US" altLang="zh-CN" dirty="0"/>
              <a:t>escalation</a:t>
            </a:r>
            <a:r>
              <a:rPr lang="zh-CN" altLang="en-US" dirty="0"/>
              <a:t> </a:t>
            </a:r>
            <a:r>
              <a:rPr lang="en-US" altLang="zh-CN" dirty="0"/>
              <a:t>or</a:t>
            </a:r>
            <a:r>
              <a:rPr lang="zh-CN" altLang="en-US" dirty="0"/>
              <a:t> </a:t>
            </a:r>
            <a:r>
              <a:rPr lang="en-US" altLang="zh-CN" dirty="0"/>
              <a:t>data</a:t>
            </a:r>
            <a:r>
              <a:rPr lang="zh-CN" altLang="en-US" dirty="0"/>
              <a:t> </a:t>
            </a:r>
            <a:r>
              <a:rPr lang="en-US" altLang="zh-CN" dirty="0"/>
              <a:t>exfiltration.</a:t>
            </a:r>
          </a:p>
          <a:p>
            <a:endParaRPr lang="en-US" altLang="zh-CN" dirty="0"/>
          </a:p>
          <a:p>
            <a:r>
              <a:rPr lang="en-US" altLang="zh-CN" dirty="0"/>
              <a:t>The</a:t>
            </a:r>
            <a:r>
              <a:rPr lang="zh-CN" altLang="en-US" dirty="0"/>
              <a:t> </a:t>
            </a:r>
            <a:r>
              <a:rPr lang="en-US" altLang="zh-CN" dirty="0"/>
              <a:t>solution</a:t>
            </a:r>
            <a:r>
              <a:rPr lang="zh-CN" altLang="en-US" dirty="0"/>
              <a:t> </a:t>
            </a:r>
            <a:r>
              <a:rPr lang="en-US" altLang="zh-CN" dirty="0"/>
              <a:t>is</a:t>
            </a:r>
            <a:r>
              <a:rPr lang="zh-CN" altLang="en-US" dirty="0"/>
              <a:t> </a:t>
            </a:r>
            <a:r>
              <a:rPr lang="en-US" altLang="zh-CN" dirty="0"/>
              <a:t>continuously</a:t>
            </a:r>
            <a:r>
              <a:rPr lang="zh-CN" altLang="en-US" dirty="0"/>
              <a:t> </a:t>
            </a:r>
            <a:r>
              <a:rPr lang="en-US" altLang="zh-CN" dirty="0"/>
              <a:t>monitor</a:t>
            </a:r>
            <a:r>
              <a:rPr lang="zh-CN" altLang="en-US" dirty="0"/>
              <a:t> </a:t>
            </a:r>
            <a:r>
              <a:rPr lang="en-US" altLang="zh-CN" dirty="0"/>
              <a:t>the</a:t>
            </a:r>
            <a:r>
              <a:rPr lang="zh-CN" altLang="en-US" dirty="0"/>
              <a:t> </a:t>
            </a:r>
            <a:r>
              <a:rPr lang="en-US" altLang="zh-CN" dirty="0"/>
              <a:t>behavior</a:t>
            </a:r>
            <a:r>
              <a:rPr lang="zh-CN" altLang="en-US" dirty="0"/>
              <a:t> </a:t>
            </a:r>
            <a:r>
              <a:rPr lang="en-US" altLang="zh-CN" dirty="0"/>
              <a:t>of</a:t>
            </a:r>
            <a:r>
              <a:rPr lang="zh-CN" altLang="en-US" dirty="0"/>
              <a:t> </a:t>
            </a:r>
            <a:r>
              <a:rPr lang="en-US" altLang="zh-CN" dirty="0"/>
              <a:t>agents</a:t>
            </a:r>
            <a:r>
              <a:rPr lang="zh-CN" altLang="en-US" dirty="0"/>
              <a:t> </a:t>
            </a:r>
            <a:r>
              <a:rPr lang="en-US" altLang="zh-CN" dirty="0"/>
              <a:t>in</a:t>
            </a:r>
            <a:r>
              <a:rPr lang="zh-CN" altLang="en-US" dirty="0"/>
              <a:t> </a:t>
            </a:r>
            <a:r>
              <a:rPr lang="en-US" altLang="zh-CN" dirty="0"/>
              <a:t>highly</a:t>
            </a:r>
            <a:r>
              <a:rPr lang="zh-CN" altLang="en-US" dirty="0"/>
              <a:t> </a:t>
            </a:r>
            <a:r>
              <a:rPr lang="en-US" altLang="zh-CN" dirty="0"/>
              <a:t>privileged</a:t>
            </a:r>
            <a:r>
              <a:rPr lang="zh-CN" altLang="en-US" dirty="0"/>
              <a:t> </a:t>
            </a:r>
            <a:r>
              <a:rPr lang="en-US" altLang="zh-CN" dirty="0"/>
              <a:t>environments,</a:t>
            </a:r>
            <a:r>
              <a:rPr lang="zh-CN" altLang="en-US" dirty="0"/>
              <a:t> </a:t>
            </a:r>
            <a:r>
              <a:rPr lang="en-US" altLang="zh-CN" dirty="0"/>
              <a:t>restricting</a:t>
            </a:r>
            <a:r>
              <a:rPr lang="zh-CN" altLang="en-US" dirty="0"/>
              <a:t> </a:t>
            </a:r>
            <a:r>
              <a:rPr lang="en-US" altLang="zh-CN" dirty="0"/>
              <a:t>specific</a:t>
            </a:r>
            <a:r>
              <a:rPr lang="zh-CN" altLang="en-US" dirty="0"/>
              <a:t> </a:t>
            </a:r>
            <a:r>
              <a:rPr lang="en-US" altLang="zh-CN" dirty="0"/>
              <a:t>high</a:t>
            </a:r>
            <a:r>
              <a:rPr lang="zh-CN" altLang="en-US" dirty="0"/>
              <a:t> </a:t>
            </a:r>
            <a:r>
              <a:rPr lang="en-US" altLang="zh-CN" dirty="0"/>
              <a:t>risk</a:t>
            </a:r>
            <a:r>
              <a:rPr lang="zh-CN" altLang="en-US" dirty="0"/>
              <a:t> </a:t>
            </a:r>
            <a:r>
              <a:rPr lang="en-US" altLang="zh-CN" dirty="0"/>
              <a:t>actions</a:t>
            </a:r>
            <a:r>
              <a:rPr lang="zh-CN" altLang="en-US" dirty="0"/>
              <a:t> </a:t>
            </a:r>
            <a:r>
              <a:rPr lang="en-US" altLang="zh-CN" dirty="0"/>
              <a:t>and</a:t>
            </a:r>
            <a:r>
              <a:rPr lang="zh-CN" altLang="en-US" dirty="0"/>
              <a:t> </a:t>
            </a:r>
            <a:r>
              <a:rPr lang="en-US" altLang="zh-CN" dirty="0"/>
              <a:t>implement</a:t>
            </a:r>
            <a:r>
              <a:rPr lang="zh-CN" altLang="en-US" dirty="0"/>
              <a:t> </a:t>
            </a:r>
            <a:r>
              <a:rPr lang="en-US" altLang="zh-CN" dirty="0"/>
              <a:t>sandbox</a:t>
            </a:r>
            <a:r>
              <a:rPr lang="zh-CN" altLang="en-US" dirty="0"/>
              <a:t> </a:t>
            </a:r>
            <a:r>
              <a:rPr lang="en-US" altLang="zh-CN" dirty="0"/>
              <a:t>isolation</a:t>
            </a:r>
            <a:r>
              <a:rPr lang="zh-CN" altLang="en-US" dirty="0"/>
              <a:t> </a:t>
            </a:r>
            <a:r>
              <a:rPr lang="en-US" altLang="zh-CN" dirty="0"/>
              <a:t>like</a:t>
            </a:r>
            <a:r>
              <a:rPr lang="zh-CN" altLang="en-US" dirty="0"/>
              <a:t> </a:t>
            </a:r>
            <a:r>
              <a:rPr lang="en-US" altLang="zh-CN" dirty="0"/>
              <a:t>the</a:t>
            </a:r>
            <a:r>
              <a:rPr lang="zh-CN" altLang="en-US" dirty="0"/>
              <a:t> </a:t>
            </a:r>
            <a:r>
              <a:rPr lang="en-US" altLang="zh-CN" dirty="0"/>
              <a:t>AIOS</a:t>
            </a:r>
            <a:r>
              <a:rPr lang="zh-CN" altLang="en-US" dirty="0"/>
              <a:t> </a:t>
            </a:r>
            <a:r>
              <a:rPr lang="en-US" altLang="zh-CN" dirty="0"/>
              <a:t>where</a:t>
            </a:r>
            <a:r>
              <a:rPr lang="zh-CN" altLang="en-US" dirty="0"/>
              <a:t> </a:t>
            </a:r>
            <a:r>
              <a:rPr lang="en-US" altLang="zh-CN" dirty="0"/>
              <a:t>we</a:t>
            </a:r>
            <a:r>
              <a:rPr lang="zh-CN" altLang="en-US" dirty="0"/>
              <a:t> </a:t>
            </a:r>
            <a:r>
              <a:rPr lang="en-US" altLang="zh-CN" dirty="0"/>
              <a:t>mentioned</a:t>
            </a:r>
            <a:r>
              <a:rPr lang="zh-CN" altLang="en-US" dirty="0"/>
              <a:t> </a:t>
            </a:r>
            <a:r>
              <a:rPr lang="en-US" altLang="zh-CN" dirty="0"/>
              <a:t>it</a:t>
            </a:r>
            <a:r>
              <a:rPr lang="zh-CN" altLang="en-US" dirty="0"/>
              <a:t> </a:t>
            </a:r>
            <a:r>
              <a:rPr lang="en-US" altLang="zh-CN" dirty="0"/>
              <a:t>in</a:t>
            </a:r>
            <a:r>
              <a:rPr lang="zh-CN" altLang="en-US" dirty="0"/>
              <a:t> </a:t>
            </a:r>
            <a:r>
              <a:rPr lang="en-US" altLang="zh-CN" dirty="0"/>
              <a:t>the</a:t>
            </a:r>
            <a:r>
              <a:rPr lang="zh-CN" altLang="en-US" dirty="0"/>
              <a:t> </a:t>
            </a:r>
            <a:r>
              <a:rPr lang="en-US" altLang="zh-CN" dirty="0"/>
              <a:t>first</a:t>
            </a:r>
            <a:r>
              <a:rPr lang="zh-CN" altLang="en-US" dirty="0"/>
              <a:t> </a:t>
            </a:r>
            <a:r>
              <a:rPr lang="en-US" altLang="zh-CN" dirty="0"/>
              <a:t>paper.</a:t>
            </a:r>
            <a:endParaRPr lang="zh-CN" altLang="en-US" dirty="0"/>
          </a:p>
        </p:txBody>
      </p:sp>
      <p:sp>
        <p:nvSpPr>
          <p:cNvPr id="4" name="灯片编号占位符 3">
            <a:extLst>
              <a:ext uri="{FF2B5EF4-FFF2-40B4-BE49-F238E27FC236}">
                <a16:creationId xmlns:a16="http://schemas.microsoft.com/office/drawing/2014/main" id="{16B49E07-24B5-9E4E-EB63-DAE3F3F26D3E}"/>
              </a:ext>
            </a:extLst>
          </p:cNvPr>
          <p:cNvSpPr>
            <a:spLocks noGrp="1"/>
          </p:cNvSpPr>
          <p:nvPr>
            <p:ph type="sldNum" sz="quarter" idx="5"/>
          </p:nvPr>
        </p:nvSpPr>
        <p:spPr/>
        <p:txBody>
          <a:bodyPr/>
          <a:lstStyle/>
          <a:p>
            <a:fld id="{B11D5518-E2B7-47D3-A483-775D39982443}" type="slidenum">
              <a:rPr lang="zh-TW" altLang="en-US" smtClean="0"/>
              <a:t>32</a:t>
            </a:fld>
            <a:endParaRPr lang="zh-TW" altLang="en-US"/>
          </a:p>
        </p:txBody>
      </p:sp>
    </p:spTree>
    <p:extLst>
      <p:ext uri="{BB962C8B-B14F-4D97-AF65-F5344CB8AC3E}">
        <p14:creationId xmlns:p14="http://schemas.microsoft.com/office/powerpoint/2010/main" val="25821426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26C96-D812-76CF-8235-D45711250E40}"/>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FB634A14-9410-A4CC-725C-C4876E11205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418E80D-11FF-11D9-7724-11EA69E2D682}"/>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Finally</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we</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move</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on</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to</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the</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conclusion</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part</a:t>
            </a:r>
          </a:p>
          <a:p>
            <a:endParaRPr lang="zh-TW" altLang="en-US" dirty="0"/>
          </a:p>
        </p:txBody>
      </p:sp>
      <p:sp>
        <p:nvSpPr>
          <p:cNvPr id="4" name="投影片編號版面配置區 3">
            <a:extLst>
              <a:ext uri="{FF2B5EF4-FFF2-40B4-BE49-F238E27FC236}">
                <a16:creationId xmlns:a16="http://schemas.microsoft.com/office/drawing/2014/main" id="{59271598-E4D6-854A-766A-A8551F055C08}"/>
              </a:ext>
            </a:extLst>
          </p:cNvPr>
          <p:cNvSpPr>
            <a:spLocks noGrp="1"/>
          </p:cNvSpPr>
          <p:nvPr>
            <p:ph type="sldNum" sz="quarter" idx="10"/>
          </p:nvPr>
        </p:nvSpPr>
        <p:spPr/>
        <p:txBody>
          <a:bodyPr/>
          <a:lstStyle/>
          <a:p>
            <a:fld id="{7320D120-4707-426F-9B85-873E256A6635}" type="slidenum">
              <a:rPr lang="zh-TW" altLang="en-US" smtClean="0"/>
              <a:pPr/>
              <a:t>33</a:t>
            </a:fld>
            <a:endParaRPr lang="zh-TW" altLang="en-US"/>
          </a:p>
        </p:txBody>
      </p:sp>
    </p:spTree>
    <p:extLst>
      <p:ext uri="{BB962C8B-B14F-4D97-AF65-F5344CB8AC3E}">
        <p14:creationId xmlns:p14="http://schemas.microsoft.com/office/powerpoint/2010/main" val="17650658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conclude. Securing LLM agents is an ongoing evolution. AIOS gave us the structural walls. </a:t>
            </a:r>
            <a:r>
              <a:rPr lang="en-US" altLang="zh-CN" dirty="0" err="1"/>
              <a:t>AgentSight</a:t>
            </a:r>
            <a:r>
              <a:rPr lang="en-US" altLang="zh-CN" dirty="0"/>
              <a:t> gave us tamper-proof kernel observation. Taming </a:t>
            </a:r>
            <a:r>
              <a:rPr lang="en-US" altLang="zh-CN" dirty="0" err="1"/>
              <a:t>OpenClaw</a:t>
            </a:r>
            <a:r>
              <a:rPr lang="en-US" altLang="zh-CN" dirty="0"/>
              <a:t> taught us how to manage security across the</a:t>
            </a:r>
            <a:r>
              <a:rPr lang="zh-CN" altLang="en-US" dirty="0"/>
              <a:t> </a:t>
            </a:r>
            <a:r>
              <a:rPr lang="en-US" altLang="zh-CN" dirty="0"/>
              <a:t>whole</a:t>
            </a:r>
            <a:r>
              <a:rPr lang="zh-CN" altLang="en-US" dirty="0"/>
              <a:t> </a:t>
            </a:r>
            <a:r>
              <a:rPr lang="en-US" altLang="zh-CN" dirty="0"/>
              <a:t>lifecycle. For future operating systems, integrating these stateful, capability-based defense models is an absolute necessity.</a:t>
            </a:r>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34</a:t>
            </a:fld>
            <a:endParaRPr lang="zh-TW" altLang="en-US"/>
          </a:p>
        </p:txBody>
      </p:sp>
    </p:spTree>
    <p:extLst>
      <p:ext uri="{BB962C8B-B14F-4D97-AF65-F5344CB8AC3E}">
        <p14:creationId xmlns:p14="http://schemas.microsoft.com/office/powerpoint/2010/main" val="4694156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F5574-3994-3E81-7A07-740DD3312B71}"/>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AF6428F0-F805-C0D8-0C3F-E7C3DDE465D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340CBA6-961C-1DCE-B109-9B371EDBF130}"/>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Then</a:t>
            </a:r>
            <a:r>
              <a:rPr lang="zh-CN" altLang="en-US" dirty="0"/>
              <a:t> </a:t>
            </a:r>
            <a:r>
              <a:rPr lang="en-US" altLang="zh-CN" dirty="0"/>
              <a:t>we</a:t>
            </a:r>
            <a:r>
              <a:rPr lang="zh-CN" altLang="en-US" dirty="0"/>
              <a:t> </a:t>
            </a:r>
            <a:r>
              <a:rPr lang="en-US" altLang="zh-CN" dirty="0"/>
              <a:t>move</a:t>
            </a:r>
            <a:r>
              <a:rPr lang="zh-CN" altLang="en-US" dirty="0"/>
              <a:t> </a:t>
            </a:r>
            <a:r>
              <a:rPr lang="en-US" altLang="zh-CN" dirty="0"/>
              <a:t>on</a:t>
            </a:r>
            <a:r>
              <a:rPr lang="zh-CN" altLang="en-US" dirty="0"/>
              <a:t> </a:t>
            </a:r>
            <a:r>
              <a:rPr lang="en-US" altLang="zh-CN" dirty="0"/>
              <a:t>to</a:t>
            </a:r>
            <a:r>
              <a:rPr lang="zh-CN" altLang="en-US" dirty="0"/>
              <a:t> </a:t>
            </a:r>
            <a:r>
              <a:rPr lang="en-US" altLang="zh-CN" dirty="0"/>
              <a:t>the</a:t>
            </a:r>
            <a:r>
              <a:rPr lang="zh-CN" altLang="en-US" dirty="0"/>
              <a:t> </a:t>
            </a:r>
            <a:r>
              <a:rPr lang="en-US" altLang="zh-CN" dirty="0"/>
              <a:t>agent</a:t>
            </a:r>
            <a:r>
              <a:rPr lang="zh-CN" altLang="en-US" dirty="0"/>
              <a:t> </a:t>
            </a:r>
            <a:r>
              <a:rPr lang="en-US" altLang="zh-CN" dirty="0"/>
              <a:t>sight,</a:t>
            </a:r>
            <a:r>
              <a:rPr lang="zh-CN" altLang="en-US" dirty="0"/>
              <a:t> </a:t>
            </a:r>
            <a:r>
              <a:rPr lang="en-US" altLang="zh-CN" dirty="0"/>
              <a:t>where</a:t>
            </a:r>
            <a:r>
              <a:rPr lang="zh-CN" altLang="en-US" dirty="0"/>
              <a:t> </a:t>
            </a:r>
            <a:r>
              <a:rPr lang="en-US" altLang="zh-CN" dirty="0"/>
              <a:t>it</a:t>
            </a:r>
            <a:r>
              <a:rPr lang="zh-CN" altLang="en-US" dirty="0"/>
              <a:t> </a:t>
            </a:r>
            <a:r>
              <a:rPr lang="en-US" altLang="zh-CN" dirty="0"/>
              <a:t>used</a:t>
            </a:r>
            <a:r>
              <a:rPr lang="zh-CN" altLang="en-US" dirty="0"/>
              <a:t> </a:t>
            </a:r>
            <a:r>
              <a:rPr lang="en-US" altLang="zh-CN" sz="1200" kern="1200" dirty="0">
                <a:solidFill>
                  <a:schemeClr val="tx1"/>
                </a:solidFill>
                <a:effectLst/>
                <a:latin typeface="+mn-lt"/>
                <a:ea typeface="+mn-ea"/>
                <a:cs typeface="+mn-cs"/>
              </a:rPr>
              <a:t>Dynamic Observability in</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order</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to</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Pierce the black box with </a:t>
            </a:r>
            <a:r>
              <a:rPr lang="en-US" altLang="zh-CN" sz="1200" kern="1200" dirty="0" err="1">
                <a:solidFill>
                  <a:schemeClr val="tx1"/>
                </a:solidFill>
                <a:effectLst/>
                <a:latin typeface="+mn-lt"/>
                <a:ea typeface="+mn-ea"/>
                <a:cs typeface="+mn-cs"/>
              </a:rPr>
              <a:t>eBPF</a:t>
            </a:r>
            <a:r>
              <a:rPr lang="en-US" altLang="zh-CN" sz="1200" kern="1200" dirty="0">
                <a:solidFill>
                  <a:schemeClr val="tx1"/>
                </a:solidFill>
                <a:effectLst/>
                <a:latin typeface="+mn-lt"/>
                <a:ea typeface="+mn-ea"/>
                <a:cs typeface="+mn-cs"/>
              </a:rPr>
              <a:t>.</a:t>
            </a:r>
          </a:p>
          <a:p>
            <a:endParaRPr lang="zh-TW" altLang="en-US" dirty="0"/>
          </a:p>
        </p:txBody>
      </p:sp>
      <p:sp>
        <p:nvSpPr>
          <p:cNvPr id="4" name="投影片編號版面配置區 3">
            <a:extLst>
              <a:ext uri="{FF2B5EF4-FFF2-40B4-BE49-F238E27FC236}">
                <a16:creationId xmlns:a16="http://schemas.microsoft.com/office/drawing/2014/main" id="{1F7939EF-5A9A-82D6-C7CA-CAF708A0DBA4}"/>
              </a:ext>
            </a:extLst>
          </p:cNvPr>
          <p:cNvSpPr>
            <a:spLocks noGrp="1"/>
          </p:cNvSpPr>
          <p:nvPr>
            <p:ph type="sldNum" sz="quarter" idx="10"/>
          </p:nvPr>
        </p:nvSpPr>
        <p:spPr/>
        <p:txBody>
          <a:bodyPr/>
          <a:lstStyle/>
          <a:p>
            <a:fld id="{7320D120-4707-426F-9B85-873E256A6635}" type="slidenum">
              <a:rPr lang="zh-TW" altLang="en-US" smtClean="0"/>
              <a:pPr/>
              <a:t>35</a:t>
            </a:fld>
            <a:endParaRPr lang="zh-TW" altLang="en-US"/>
          </a:p>
        </p:txBody>
      </p:sp>
    </p:spTree>
    <p:extLst>
      <p:ext uri="{BB962C8B-B14F-4D97-AF65-F5344CB8AC3E}">
        <p14:creationId xmlns:p14="http://schemas.microsoft.com/office/powerpoint/2010/main" val="3413346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1471" y="1442804"/>
            <a:ext cx="11396871" cy="1882455"/>
          </a:xfrm>
        </p:spPr>
        <p:txBody>
          <a:bodyPr/>
          <a:lstStyle/>
          <a:p>
            <a:r>
              <a:rPr lang="en-US" altLang="zh-CN" sz="4000" dirty="0"/>
              <a:t>System-Level</a:t>
            </a:r>
            <a:r>
              <a:rPr lang="zh-CN" altLang="en-US" sz="4000" dirty="0"/>
              <a:t> </a:t>
            </a:r>
            <a:r>
              <a:rPr lang="en-US" altLang="zh-CN" sz="4000" dirty="0"/>
              <a:t>Isolation</a:t>
            </a:r>
            <a:r>
              <a:rPr lang="zh-CN" altLang="en-US" sz="4000" dirty="0"/>
              <a:t> </a:t>
            </a:r>
            <a:r>
              <a:rPr lang="en-US" altLang="zh-CN" sz="4000" dirty="0"/>
              <a:t>for</a:t>
            </a:r>
            <a:r>
              <a:rPr lang="zh-CN" altLang="en-US" sz="4000" dirty="0"/>
              <a:t> </a:t>
            </a:r>
            <a:r>
              <a:rPr lang="en-US" altLang="zh-CN" sz="4000" dirty="0"/>
              <a:t>LLM</a:t>
            </a:r>
            <a:r>
              <a:rPr lang="zh-CN" altLang="en-US" sz="4000" dirty="0"/>
              <a:t> </a:t>
            </a:r>
            <a:r>
              <a:rPr lang="en-US" altLang="zh-CN" sz="4000" dirty="0"/>
              <a:t>Agent</a:t>
            </a:r>
            <a:r>
              <a:rPr lang="zh-CN" altLang="en-US" sz="4000" dirty="0"/>
              <a:t> </a:t>
            </a:r>
            <a:r>
              <a:rPr lang="en-US" altLang="zh-CN" sz="4000" dirty="0"/>
              <a:t>Safety</a:t>
            </a:r>
            <a:br>
              <a:rPr lang="en-US" altLang="zh-CN" sz="4000" dirty="0"/>
            </a:br>
            <a:r>
              <a:rPr lang="en-US" altLang="zh-CN" sz="3200" dirty="0"/>
              <a:t>From Static Sandboxes to Full-Lifecycle Security</a:t>
            </a:r>
            <a:br>
              <a:rPr lang="en-US" altLang="zh-CN" sz="4800" dirty="0"/>
            </a:br>
            <a:br>
              <a:rPr lang="en-US" altLang="zh-CN" sz="5400" dirty="0">
                <a:effectLst>
                  <a:outerShdw blurRad="38100" dist="38100" dir="2700000" algn="tl">
                    <a:srgbClr val="000000">
                      <a:alpha val="43137"/>
                    </a:srgbClr>
                  </a:outerShdw>
                </a:effectLst>
              </a:rPr>
            </a:br>
            <a:r>
              <a:rPr lang="en-US" altLang="zh-CN" sz="2800" b="0" dirty="0">
                <a:effectLst>
                  <a:outerShdw blurRad="38100" dist="38100" dir="2700000" algn="tl">
                    <a:srgbClr val="000000">
                      <a:alpha val="43137"/>
                    </a:srgbClr>
                  </a:outerShdw>
                </a:effectLst>
              </a:rPr>
              <a:t>2026.4.9</a:t>
            </a:r>
            <a:endParaRPr lang="zh-TW" altLang="en-US" sz="3600" b="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28800" y="3855632"/>
            <a:ext cx="8534400" cy="1882455"/>
          </a:xfrm>
        </p:spPr>
        <p:txBody>
          <a:bodyPr/>
          <a:lstStyle/>
          <a:p>
            <a:r>
              <a:rPr lang="en-US" altLang="zh-CN" sz="3200" dirty="0">
                <a:effectLst>
                  <a:outerShdw blurRad="38100" dist="38100" dir="2700000" algn="tl">
                    <a:srgbClr val="000000">
                      <a:alpha val="43137"/>
                    </a:srgbClr>
                  </a:outerShdw>
                </a:effectLst>
              </a:rPr>
              <a:t>Guanzong</a:t>
            </a:r>
            <a:r>
              <a:rPr lang="zh-CN" altLang="en-US" sz="3200" dirty="0">
                <a:effectLst>
                  <a:outerShdw blurRad="38100" dist="38100" dir="2700000" algn="tl">
                    <a:srgbClr val="000000">
                      <a:alpha val="43137"/>
                    </a:srgbClr>
                  </a:outerShdw>
                </a:effectLst>
              </a:rPr>
              <a:t> </a:t>
            </a:r>
            <a:r>
              <a:rPr lang="en-US" altLang="zh-CN" sz="3200" dirty="0">
                <a:effectLst>
                  <a:outerShdw blurRad="38100" dist="38100" dir="2700000" algn="tl">
                    <a:srgbClr val="000000">
                      <a:alpha val="43137"/>
                    </a:srgbClr>
                  </a:outerShdw>
                </a:effectLst>
              </a:rPr>
              <a:t>Wu</a:t>
            </a:r>
          </a:p>
          <a:p>
            <a:r>
              <a:rPr lang="en-US" altLang="zh-TW" sz="3200" dirty="0"/>
              <a:t>School of </a:t>
            </a:r>
            <a:r>
              <a:rPr lang="en-US" altLang="zh-CN" sz="3200" dirty="0"/>
              <a:t>Data </a:t>
            </a:r>
            <a:r>
              <a:rPr lang="en-US" altLang="zh-TW" sz="3200" dirty="0"/>
              <a:t>Science</a:t>
            </a:r>
          </a:p>
          <a:p>
            <a:r>
              <a:rPr lang="en-US" altLang="zh-TW" sz="32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386DA-4DA1-7214-2DBE-6D83E009AA3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4CFFED1-5490-85A4-1E2E-7ECE14D5FC4D}"/>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2A80A5A7-93F7-336A-9D94-7FA992438288}"/>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a:t>
            </a:r>
          </a:p>
          <a:p>
            <a:r>
              <a:rPr lang="en-US" altLang="zh-CN" sz="2933" dirty="0">
                <a:latin typeface="Times New Roman" panose="02020603050405020304" pitchFamily="18" charset="0"/>
                <a:cs typeface="Times New Roman" panose="02020603050405020304" pitchFamily="18" charset="0"/>
              </a:rPr>
              <a:t>Proposed Methods &amp; Performance Evaluation </a:t>
            </a:r>
          </a:p>
          <a:p>
            <a:pPr lvl="1"/>
            <a:r>
              <a:rPr lang="en-US" altLang="zh-CN" sz="2400" dirty="0">
                <a:latin typeface="Times New Roman" panose="02020603050405020304" pitchFamily="18" charset="0"/>
                <a:cs typeface="Times New Roman" panose="02020603050405020304" pitchFamily="18" charset="0"/>
              </a:rPr>
              <a:t>AIOS </a:t>
            </a:r>
          </a:p>
          <a:p>
            <a:pPr lvl="1"/>
            <a:r>
              <a:rPr lang="en-US" altLang="zh-CN" sz="2400" dirty="0" err="1">
                <a:latin typeface="Times New Roman" panose="02020603050405020304" pitchFamily="18" charset="0"/>
                <a:cs typeface="Times New Roman" panose="02020603050405020304" pitchFamily="18" charset="0"/>
              </a:rPr>
              <a:t>AgentSight</a:t>
            </a:r>
            <a:r>
              <a:rPr lang="en-US" altLang="zh-CN" sz="2400" dirty="0">
                <a:latin typeface="Times New Roman" panose="02020603050405020304" pitchFamily="18" charset="0"/>
                <a:cs typeface="Times New Roman" panose="02020603050405020304" pitchFamily="18" charset="0"/>
              </a:rPr>
              <a:t> </a:t>
            </a:r>
          </a:p>
          <a:p>
            <a:pPr lvl="1"/>
            <a:r>
              <a:rPr lang="en-US" altLang="zh-CN" sz="2400" dirty="0">
                <a:latin typeface="Times New Roman" panose="02020603050405020304" pitchFamily="18" charset="0"/>
                <a:cs typeface="Times New Roman" panose="02020603050405020304" pitchFamily="18" charset="0"/>
              </a:rPr>
              <a:t>Taming</a:t>
            </a:r>
            <a:r>
              <a:rPr lang="zh-CN" altLang="en-US"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Openclaw</a:t>
            </a:r>
            <a:endParaRPr lang="en-US" altLang="zh-CN" sz="2400"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Conclusions </a:t>
            </a:r>
          </a:p>
          <a:p>
            <a:r>
              <a:rPr lang="en-US" altLang="zh-CN" sz="2933" dirty="0">
                <a:latin typeface="Times New Roman" panose="02020603050405020304" pitchFamily="18" charset="0"/>
                <a:cs typeface="Times New Roman" panose="02020603050405020304" pitchFamily="18" charset="0"/>
              </a:rPr>
              <a:t>Q &amp; A</a:t>
            </a:r>
          </a:p>
        </p:txBody>
      </p:sp>
      <p:sp>
        <p:nvSpPr>
          <p:cNvPr id="5" name="灯片编号占位符 1">
            <a:extLst>
              <a:ext uri="{FF2B5EF4-FFF2-40B4-BE49-F238E27FC236}">
                <a16:creationId xmlns:a16="http://schemas.microsoft.com/office/drawing/2014/main" id="{AD20CBA4-52DB-AE8C-714A-0C72FE94D71B}"/>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a:t>
            </a:fld>
            <a:endParaRPr lang="zh-TW" altLang="en-US"/>
          </a:p>
        </p:txBody>
      </p:sp>
    </p:spTree>
    <p:extLst>
      <p:ext uri="{BB962C8B-B14F-4D97-AF65-F5344CB8AC3E}">
        <p14:creationId xmlns:p14="http://schemas.microsoft.com/office/powerpoint/2010/main" val="3163033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69495-5FDA-FB28-1385-5C889269FFB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2FDB9CD-2560-EAE7-F895-9416D71EF84D}"/>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1C8F8F96-6EDA-5479-BD20-54FE5A0C629D}"/>
              </a:ext>
            </a:extLst>
          </p:cNvPr>
          <p:cNvSpPr>
            <a:spLocks noGrp="1"/>
          </p:cNvSpPr>
          <p:nvPr>
            <p:ph idx="1"/>
          </p:nvPr>
        </p:nvSpPr>
        <p:spPr>
          <a:xfrm>
            <a:off x="1311423" y="1125537"/>
            <a:ext cx="10270977" cy="3560763"/>
          </a:xfrm>
        </p:spPr>
        <p:txBody>
          <a:bodyPr>
            <a:noAutofit/>
          </a:bodyPr>
          <a:lstStyle/>
          <a:p>
            <a:r>
              <a:rPr lang="en-US" altLang="zh-CN" sz="2933" dirty="0">
                <a:solidFill>
                  <a:srgbClr val="FF0000"/>
                </a:solidFill>
                <a:latin typeface="Times New Roman" panose="02020603050405020304" pitchFamily="18" charset="0"/>
                <a:cs typeface="Times New Roman" panose="02020603050405020304" pitchFamily="18" charset="0"/>
              </a:rPr>
              <a:t>Introduction</a:t>
            </a:r>
            <a:endParaRPr lang="en-US" altLang="zh-TW" sz="2933" dirty="0">
              <a:solidFill>
                <a:srgbClr val="FF0000"/>
              </a:solidFill>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a:t>
            </a:r>
          </a:p>
          <a:p>
            <a:r>
              <a:rPr lang="en-US" altLang="zh-CN" sz="2933" dirty="0">
                <a:latin typeface="Times New Roman" panose="02020603050405020304" pitchFamily="18" charset="0"/>
                <a:cs typeface="Times New Roman" panose="02020603050405020304" pitchFamily="18" charset="0"/>
              </a:rPr>
              <a:t>Proposed Methods &amp; Performance Evaluation </a:t>
            </a:r>
          </a:p>
          <a:p>
            <a:pPr lvl="1"/>
            <a:r>
              <a:rPr lang="en-US" altLang="zh-CN" sz="2400" dirty="0">
                <a:latin typeface="Times New Roman" panose="02020603050405020304" pitchFamily="18" charset="0"/>
                <a:cs typeface="Times New Roman" panose="02020603050405020304" pitchFamily="18" charset="0"/>
              </a:rPr>
              <a:t>AIOS </a:t>
            </a:r>
          </a:p>
          <a:p>
            <a:pPr lvl="1"/>
            <a:r>
              <a:rPr lang="en-US" altLang="zh-CN" sz="2400" dirty="0" err="1">
                <a:latin typeface="Times New Roman" panose="02020603050405020304" pitchFamily="18" charset="0"/>
                <a:cs typeface="Times New Roman" panose="02020603050405020304" pitchFamily="18" charset="0"/>
              </a:rPr>
              <a:t>AgentSight</a:t>
            </a:r>
            <a:r>
              <a:rPr lang="en-US" altLang="zh-CN" sz="2400" dirty="0">
                <a:latin typeface="Times New Roman" panose="02020603050405020304" pitchFamily="18" charset="0"/>
                <a:cs typeface="Times New Roman" panose="02020603050405020304" pitchFamily="18" charset="0"/>
              </a:rPr>
              <a:t> </a:t>
            </a:r>
          </a:p>
          <a:p>
            <a:pPr lvl="1"/>
            <a:r>
              <a:rPr lang="en-US" altLang="zh-CN" sz="2400" dirty="0">
                <a:latin typeface="Times New Roman" panose="02020603050405020304" pitchFamily="18" charset="0"/>
                <a:cs typeface="Times New Roman" panose="02020603050405020304" pitchFamily="18" charset="0"/>
              </a:rPr>
              <a:t>Taming</a:t>
            </a:r>
            <a:r>
              <a:rPr lang="zh-CN" altLang="en-US"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Openclaw</a:t>
            </a:r>
            <a:r>
              <a:rPr lang="en-US" altLang="zh-CN" sz="2400" dirty="0">
                <a:latin typeface="Times New Roman" panose="02020603050405020304" pitchFamily="18" charset="0"/>
                <a:cs typeface="Times New Roman" panose="02020603050405020304" pitchFamily="18" charset="0"/>
              </a:rPr>
              <a:t> </a:t>
            </a:r>
          </a:p>
          <a:p>
            <a:r>
              <a:rPr lang="en-US" altLang="zh-CN" sz="2933" dirty="0">
                <a:latin typeface="Times New Roman" panose="02020603050405020304" pitchFamily="18" charset="0"/>
                <a:cs typeface="Times New Roman" panose="02020603050405020304" pitchFamily="18" charset="0"/>
              </a:rPr>
              <a:t>Conclusions</a:t>
            </a:r>
          </a:p>
          <a:p>
            <a:r>
              <a:rPr lang="en-US" altLang="zh-CN" sz="2933" dirty="0">
                <a:latin typeface="Times New Roman" panose="02020603050405020304" pitchFamily="18" charset="0"/>
                <a:cs typeface="Times New Roman" panose="02020603050405020304" pitchFamily="18" charset="0"/>
              </a:rPr>
              <a:t>Q &amp; A </a:t>
            </a:r>
          </a:p>
        </p:txBody>
      </p:sp>
      <p:sp>
        <p:nvSpPr>
          <p:cNvPr id="5" name="灯片编号占位符 1">
            <a:extLst>
              <a:ext uri="{FF2B5EF4-FFF2-40B4-BE49-F238E27FC236}">
                <a16:creationId xmlns:a16="http://schemas.microsoft.com/office/drawing/2014/main" id="{C0EDC95F-A9C4-4630-2E3A-E2A36EAAE6E8}"/>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a:t>
            </a:fld>
            <a:endParaRPr lang="zh-TW" altLang="en-US"/>
          </a:p>
        </p:txBody>
      </p:sp>
    </p:spTree>
    <p:extLst>
      <p:ext uri="{BB962C8B-B14F-4D97-AF65-F5344CB8AC3E}">
        <p14:creationId xmlns:p14="http://schemas.microsoft.com/office/powerpoint/2010/main" val="3635524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ea typeface="Calibri" panose="020F0502020204030204" pitchFamily="34" charset="0"/>
                <a:cs typeface="Calibri" panose="020F0502020204030204" pitchFamily="34" charset="0"/>
              </a:rPr>
              <a:t>1.Introduction – The</a:t>
            </a:r>
            <a:r>
              <a:rPr lang="zh-CN" altLang="en-US" dirty="0">
                <a:ea typeface="Calibri" panose="020F0502020204030204" pitchFamily="34" charset="0"/>
                <a:cs typeface="Calibri" panose="020F0502020204030204" pitchFamily="34" charset="0"/>
              </a:rPr>
              <a:t> </a:t>
            </a:r>
            <a:r>
              <a:rPr lang="en-US" altLang="zh-CN" dirty="0">
                <a:ea typeface="Calibri" panose="020F0502020204030204" pitchFamily="34" charset="0"/>
                <a:cs typeface="Calibri" panose="020F0502020204030204" pitchFamily="34" charset="0"/>
              </a:rPr>
              <a:t>Agentic</a:t>
            </a:r>
            <a:r>
              <a:rPr lang="zh-CN" altLang="en-US" dirty="0">
                <a:ea typeface="Calibri" panose="020F0502020204030204" pitchFamily="34" charset="0"/>
                <a:cs typeface="Calibri" panose="020F0502020204030204" pitchFamily="34" charset="0"/>
              </a:rPr>
              <a:t> </a:t>
            </a:r>
            <a:r>
              <a:rPr lang="en-US" altLang="zh-CN" dirty="0">
                <a:ea typeface="Calibri" panose="020F0502020204030204" pitchFamily="34" charset="0"/>
                <a:cs typeface="Calibri" panose="020F0502020204030204" pitchFamily="34" charset="0"/>
              </a:rPr>
              <a:t>Nightmare</a:t>
            </a:r>
            <a:endParaRPr lang="en-US" dirty="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39581" y="1278309"/>
            <a:ext cx="7335520" cy="2503464"/>
          </a:xfrm>
        </p:spPr>
        <p:txBody>
          <a:bodyPr/>
          <a:lstStyle/>
          <a:p>
            <a:r>
              <a:rPr lang="en-US" altLang="zh-CN" sz="2400" b="1" dirty="0">
                <a:latin typeface="Times New Roman" panose="02020603050405020304" pitchFamily="18" charset="0"/>
                <a:cs typeface="Times New Roman" panose="02020603050405020304" pitchFamily="18" charset="0"/>
              </a:rPr>
              <a:t>Imagine</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a</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scenario</a:t>
            </a:r>
            <a:r>
              <a:rPr lang="en-US" altLang="zh-CN"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lvl="1"/>
            <a:r>
              <a:rPr lang="en-US" altLang="zh-CN" sz="2200" dirty="0">
                <a:latin typeface="Times New Roman" panose="02020603050405020304" pitchFamily="18" charset="0"/>
                <a:cs typeface="Times New Roman" panose="02020603050405020304" pitchFamily="18" charset="0"/>
              </a:rPr>
              <a:t>Deployed</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SOTA</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coding</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agent</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fix</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server</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bug</a:t>
            </a:r>
          </a:p>
          <a:p>
            <a:pPr lvl="1"/>
            <a:r>
              <a:rPr lang="en-US" altLang="zh-CN" sz="2200" dirty="0">
                <a:latin typeface="Times New Roman" panose="02020603050405020304" pitchFamily="18" charset="0"/>
                <a:cs typeface="Times New Roman" panose="02020603050405020304" pitchFamily="18" charset="0"/>
              </a:rPr>
              <a:t>Reality:</a:t>
            </a:r>
            <a:r>
              <a:rPr lang="zh-CN" altLang="en-US" sz="2200" dirty="0">
                <a:latin typeface="Times New Roman" panose="02020603050405020304" pitchFamily="18" charset="0"/>
                <a:cs typeface="Times New Roman" panose="02020603050405020304" pitchFamily="18" charset="0"/>
              </a:rPr>
              <a:t> </a:t>
            </a:r>
            <a:endParaRPr lang="en-US" altLang="zh-CN" sz="2200" dirty="0">
              <a:latin typeface="Times New Roman" panose="02020603050405020304" pitchFamily="18" charset="0"/>
              <a:cs typeface="Times New Roman" panose="02020603050405020304" pitchFamily="18" charset="0"/>
            </a:endParaRPr>
          </a:p>
          <a:p>
            <a:pPr lvl="2"/>
            <a:r>
              <a:rPr lang="en-US" altLang="zh-CN" sz="1800" dirty="0">
                <a:latin typeface="Times New Roman" panose="02020603050405020304" pitchFamily="18" charset="0"/>
                <a:cs typeface="Times New Roman" panose="02020603050405020304" pitchFamily="18" charset="0"/>
              </a:rPr>
              <a:t>It</a:t>
            </a:r>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reads</a:t>
            </a:r>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a</a:t>
            </a:r>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poisoned</a:t>
            </a:r>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webpage</a:t>
            </a:r>
          </a:p>
          <a:p>
            <a:pPr lvl="2"/>
            <a:r>
              <a:rPr lang="en-US" altLang="zh-CN" sz="1800" dirty="0">
                <a:latin typeface="Times New Roman" panose="02020603050405020304" pitchFamily="18" charset="0"/>
                <a:cs typeface="Times New Roman" panose="02020603050405020304" pitchFamily="18" charset="0"/>
              </a:rPr>
              <a:t>Opened</a:t>
            </a:r>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a</a:t>
            </a:r>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root</a:t>
            </a:r>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shell</a:t>
            </a:r>
            <a:r>
              <a:rPr lang="zh-CN" altLang="en-US"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lvl="2"/>
            <a:r>
              <a:rPr lang="en-US" altLang="zh-CN" sz="1800" dirty="0">
                <a:latin typeface="Times New Roman" panose="02020603050405020304" pitchFamily="18" charset="0"/>
                <a:cs typeface="Times New Roman" panose="02020603050405020304" pitchFamily="18" charset="0"/>
              </a:rPr>
              <a:t>Executed</a:t>
            </a:r>
            <a:r>
              <a:rPr lang="zh-CN" altLang="en-US" sz="1800" dirty="0">
                <a:latin typeface="Times New Roman" panose="02020603050405020304" pitchFamily="18" charset="0"/>
                <a:cs typeface="Times New Roman" panose="02020603050405020304" pitchFamily="18" charset="0"/>
              </a:rPr>
              <a:t> </a:t>
            </a:r>
            <a:r>
              <a:rPr lang="en-US" altLang="zh-CN" sz="1800" dirty="0">
                <a:highlight>
                  <a:srgbClr val="C0C0C0"/>
                </a:highlight>
                <a:latin typeface="Consolas" panose="020B0609020204030204" pitchFamily="49" charset="0"/>
                <a:cs typeface="Consolas" panose="020B0609020204030204" pitchFamily="49" charset="0"/>
              </a:rPr>
              <a:t>rm</a:t>
            </a:r>
            <a:r>
              <a:rPr lang="zh-CN" altLang="en-US" sz="1800" dirty="0">
                <a:highlight>
                  <a:srgbClr val="C0C0C0"/>
                </a:highlight>
                <a:latin typeface="Consolas" panose="020B0609020204030204" pitchFamily="49" charset="0"/>
                <a:cs typeface="Consolas" panose="020B0609020204030204" pitchFamily="49" charset="0"/>
              </a:rPr>
              <a:t> </a:t>
            </a:r>
            <a:r>
              <a:rPr lang="en-US" altLang="zh-CN" sz="1800" dirty="0">
                <a:highlight>
                  <a:srgbClr val="C0C0C0"/>
                </a:highlight>
                <a:latin typeface="Consolas" panose="020B0609020204030204" pitchFamily="49" charset="0"/>
                <a:cs typeface="Consolas" panose="020B0609020204030204" pitchFamily="49" charset="0"/>
              </a:rPr>
              <a:t>–rf</a:t>
            </a:r>
            <a:r>
              <a:rPr lang="zh-CN" altLang="en-US" sz="1800" dirty="0">
                <a:highlight>
                  <a:srgbClr val="C0C0C0"/>
                </a:highlight>
                <a:latin typeface="Consolas" panose="020B0609020204030204" pitchFamily="49" charset="0"/>
                <a:cs typeface="Consolas" panose="020B0609020204030204" pitchFamily="49" charset="0"/>
              </a:rPr>
              <a:t> </a:t>
            </a:r>
            <a:r>
              <a:rPr lang="en-US" altLang="zh-CN" sz="1800" dirty="0">
                <a:highlight>
                  <a:srgbClr val="C0C0C0"/>
                </a:highlight>
                <a:latin typeface="Consolas" panose="020B0609020204030204" pitchFamily="49" charset="0"/>
                <a:cs typeface="Consolas" panose="020B0609020204030204" pitchFamily="49" charset="0"/>
              </a:rPr>
              <a:t>/</a:t>
            </a:r>
          </a:p>
          <a:p>
            <a:pPr lvl="2"/>
            <a:r>
              <a:rPr lang="en-US" altLang="zh-CN" sz="1800" dirty="0">
                <a:latin typeface="Times New Roman" panose="02020603050405020304" pitchFamily="18" charset="0"/>
                <a:cs typeface="Times New Roman" panose="02020603050405020304" pitchFamily="18" charset="0"/>
              </a:rPr>
              <a:t>Database</a:t>
            </a:r>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destroyed</a:t>
            </a: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4</a:t>
            </a:fld>
            <a:endParaRPr lang="zh-TW" altLang="en-US"/>
          </a:p>
        </p:txBody>
      </p:sp>
      <p:pic>
        <p:nvPicPr>
          <p:cNvPr id="6" name="图片 5">
            <a:extLst>
              <a:ext uri="{FF2B5EF4-FFF2-40B4-BE49-F238E27FC236}">
                <a16:creationId xmlns:a16="http://schemas.microsoft.com/office/drawing/2014/main" id="{3A019271-880A-560F-1FC3-740CD0E7D661}"/>
              </a:ext>
            </a:extLst>
          </p:cNvPr>
          <p:cNvPicPr>
            <a:picLocks noChangeAspect="1"/>
          </p:cNvPicPr>
          <p:nvPr/>
        </p:nvPicPr>
        <p:blipFill>
          <a:blip r:embed="rId3" cstate="print">
            <a:extLst>
              <a:ext uri="{28A0092B-C50C-407E-A947-70E740481C1C}">
                <a14:useLocalDpi xmlns:a14="http://schemas.microsoft.com/office/drawing/2010/main" val="0"/>
              </a:ext>
            </a:extLst>
          </a:blip>
          <a:srcRect t="15250"/>
          <a:stretch>
            <a:fillRect/>
          </a:stretch>
        </p:blipFill>
        <p:spPr>
          <a:xfrm>
            <a:off x="7632444" y="1054417"/>
            <a:ext cx="3739601" cy="4672302"/>
          </a:xfrm>
          <a:prstGeom prst="rect">
            <a:avLst/>
          </a:prstGeom>
        </p:spPr>
      </p:pic>
      <p:sp>
        <p:nvSpPr>
          <p:cNvPr id="7" name="Content Placeholder 2">
            <a:extLst>
              <a:ext uri="{FF2B5EF4-FFF2-40B4-BE49-F238E27FC236}">
                <a16:creationId xmlns:a16="http://schemas.microsoft.com/office/drawing/2014/main" id="{8C2E2ADE-97F5-B9FA-0EF4-B35A59D803C4}"/>
              </a:ext>
            </a:extLst>
          </p:cNvPr>
          <p:cNvSpPr txBox="1">
            <a:spLocks/>
          </p:cNvSpPr>
          <p:nvPr/>
        </p:nvSpPr>
        <p:spPr bwMode="auto">
          <a:xfrm>
            <a:off x="702847" y="4058268"/>
            <a:ext cx="6318439" cy="15214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Key</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point:</a:t>
            </a:r>
            <a:endParaRPr lang="en-US" sz="2400" b="1" kern="0" dirty="0">
              <a:latin typeface="Times New Roman" panose="02020603050405020304" pitchFamily="18" charset="0"/>
              <a:cs typeface="Times New Roman" panose="02020603050405020304" pitchFamily="18" charset="0"/>
            </a:endParaRPr>
          </a:p>
          <a:p>
            <a:pPr lvl="1"/>
            <a:r>
              <a:rPr lang="en-US" altLang="zh-CN" sz="2200" kern="0" dirty="0">
                <a:latin typeface="Times New Roman" panose="02020603050405020304" pitchFamily="18" charset="0"/>
                <a:cs typeface="Times New Roman" panose="02020603050405020304" pitchFamily="18" charset="0"/>
              </a:rPr>
              <a:t>Agent security is NOT algorithmic alignment. </a:t>
            </a:r>
          </a:p>
          <a:p>
            <a:pPr lvl="1"/>
            <a:r>
              <a:rPr lang="en-US" altLang="zh-CN" sz="2200" kern="0" dirty="0">
                <a:latin typeface="Times New Roman" panose="02020603050405020304" pitchFamily="18" charset="0"/>
                <a:cs typeface="Times New Roman" panose="02020603050405020304" pitchFamily="18" charset="0"/>
              </a:rPr>
              <a:t>It is the revival of OS-level isolation</a:t>
            </a:r>
          </a:p>
        </p:txBody>
      </p:sp>
      <p:pic>
        <p:nvPicPr>
          <p:cNvPr id="10" name="图片 9">
            <a:extLst>
              <a:ext uri="{FF2B5EF4-FFF2-40B4-BE49-F238E27FC236}">
                <a16:creationId xmlns:a16="http://schemas.microsoft.com/office/drawing/2014/main" id="{7615482D-645A-4741-D0C7-513FDCF61DD9}"/>
              </a:ext>
            </a:extLst>
          </p:cNvPr>
          <p:cNvPicPr>
            <a:picLocks noChangeAspect="1"/>
          </p:cNvPicPr>
          <p:nvPr/>
        </p:nvPicPr>
        <p:blipFill>
          <a:blip r:embed="rId4"/>
          <a:stretch>
            <a:fillRect/>
          </a:stretch>
        </p:blipFill>
        <p:spPr>
          <a:xfrm>
            <a:off x="4502216" y="2566001"/>
            <a:ext cx="255909" cy="273051"/>
          </a:xfrm>
          <a:prstGeom prst="rect">
            <a:avLst/>
          </a:prstGeom>
        </p:spPr>
      </p:pic>
      <p:sp>
        <p:nvSpPr>
          <p:cNvPr id="5" name="文本框 4">
            <a:extLst>
              <a:ext uri="{FF2B5EF4-FFF2-40B4-BE49-F238E27FC236}">
                <a16:creationId xmlns:a16="http://schemas.microsoft.com/office/drawing/2014/main" id="{1097E946-03D8-3AE4-9275-21CAA83D01B4}"/>
              </a:ext>
            </a:extLst>
          </p:cNvPr>
          <p:cNvSpPr txBox="1"/>
          <p:nvPr/>
        </p:nvSpPr>
        <p:spPr>
          <a:xfrm>
            <a:off x="8038367" y="5726719"/>
            <a:ext cx="2965877" cy="400110"/>
          </a:xfrm>
          <a:prstGeom prst="rect">
            <a:avLst/>
          </a:prstGeom>
          <a:noFill/>
        </p:spPr>
        <p:txBody>
          <a:bodyPr wrap="non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Fig1.</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Real-world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examples</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255285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69F9D-3E1C-4D7F-ADC1-02DEB737252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8223B30-D3C7-B18C-EA40-8A39E0F074E4}"/>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BDBABD9B-3E13-0778-38AB-DDDE8EB117B5}"/>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a:t>
            </a:r>
            <a:endParaRPr lang="en-US" altLang="zh-TW" sz="2933" dirty="0">
              <a:latin typeface="Times New Roman" panose="02020603050405020304" pitchFamily="18" charset="0"/>
              <a:cs typeface="Times New Roman" panose="02020603050405020304" pitchFamily="18" charset="0"/>
            </a:endParaRPr>
          </a:p>
          <a:p>
            <a:r>
              <a:rPr lang="en-US" altLang="zh-CN" sz="2933" dirty="0">
                <a:solidFill>
                  <a:srgbClr val="FF0000"/>
                </a:solidFill>
                <a:latin typeface="Times New Roman" panose="02020603050405020304" pitchFamily="18" charset="0"/>
                <a:cs typeface="Times New Roman" panose="02020603050405020304" pitchFamily="18" charset="0"/>
              </a:rPr>
              <a:t>Background &amp; Motivation</a:t>
            </a:r>
          </a:p>
          <a:p>
            <a:r>
              <a:rPr lang="en-US" altLang="zh-CN" sz="2933" dirty="0">
                <a:latin typeface="Times New Roman" panose="02020603050405020304" pitchFamily="18" charset="0"/>
                <a:cs typeface="Times New Roman" panose="02020603050405020304" pitchFamily="18" charset="0"/>
              </a:rPr>
              <a:t>Proposed Methods &amp; Performance Evaluation </a:t>
            </a:r>
          </a:p>
          <a:p>
            <a:pPr lvl="1"/>
            <a:r>
              <a:rPr lang="en-US" altLang="zh-CN" sz="2400" dirty="0">
                <a:latin typeface="Times New Roman" panose="02020603050405020304" pitchFamily="18" charset="0"/>
                <a:cs typeface="Times New Roman" panose="02020603050405020304" pitchFamily="18" charset="0"/>
              </a:rPr>
              <a:t>AIOS </a:t>
            </a:r>
          </a:p>
          <a:p>
            <a:pPr lvl="1"/>
            <a:r>
              <a:rPr lang="en-US" altLang="zh-CN" sz="2400" dirty="0" err="1">
                <a:latin typeface="Times New Roman" panose="02020603050405020304" pitchFamily="18" charset="0"/>
                <a:cs typeface="Times New Roman" panose="02020603050405020304" pitchFamily="18" charset="0"/>
              </a:rPr>
              <a:t>AgentSight</a:t>
            </a:r>
            <a:r>
              <a:rPr lang="en-US" altLang="zh-CN" sz="2400" dirty="0">
                <a:latin typeface="Times New Roman" panose="02020603050405020304" pitchFamily="18" charset="0"/>
                <a:cs typeface="Times New Roman" panose="02020603050405020304" pitchFamily="18" charset="0"/>
              </a:rPr>
              <a:t> </a:t>
            </a:r>
          </a:p>
          <a:p>
            <a:pPr lvl="1"/>
            <a:r>
              <a:rPr lang="en-US" altLang="zh-CN" sz="2400" dirty="0">
                <a:latin typeface="Times New Roman" panose="02020603050405020304" pitchFamily="18" charset="0"/>
                <a:cs typeface="Times New Roman" panose="02020603050405020304" pitchFamily="18" charset="0"/>
              </a:rPr>
              <a:t>Taming</a:t>
            </a:r>
            <a:r>
              <a:rPr lang="zh-CN" altLang="en-US"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Openclaw</a:t>
            </a:r>
            <a:r>
              <a:rPr lang="en-US" altLang="zh-CN" sz="2400" dirty="0">
                <a:latin typeface="Times New Roman" panose="02020603050405020304" pitchFamily="18" charset="0"/>
                <a:cs typeface="Times New Roman" panose="02020603050405020304" pitchFamily="18" charset="0"/>
              </a:rPr>
              <a:t> </a:t>
            </a:r>
          </a:p>
          <a:p>
            <a:r>
              <a:rPr lang="en-US" altLang="zh-CN" sz="2933" dirty="0">
                <a:latin typeface="Times New Roman" panose="02020603050405020304" pitchFamily="18" charset="0"/>
                <a:cs typeface="Times New Roman" panose="02020603050405020304" pitchFamily="18" charset="0"/>
              </a:rPr>
              <a:t>Conclusions</a:t>
            </a:r>
          </a:p>
          <a:p>
            <a:r>
              <a:rPr lang="en-US" altLang="zh-CN" sz="2933" dirty="0">
                <a:latin typeface="Times New Roman" panose="02020603050405020304" pitchFamily="18" charset="0"/>
                <a:cs typeface="Times New Roman" panose="02020603050405020304" pitchFamily="18" charset="0"/>
              </a:rPr>
              <a:t>Q &amp; A</a:t>
            </a:r>
          </a:p>
        </p:txBody>
      </p:sp>
      <p:sp>
        <p:nvSpPr>
          <p:cNvPr id="5" name="灯片编号占位符 1">
            <a:extLst>
              <a:ext uri="{FF2B5EF4-FFF2-40B4-BE49-F238E27FC236}">
                <a16:creationId xmlns:a16="http://schemas.microsoft.com/office/drawing/2014/main" id="{0A88A841-640A-1FC3-BD52-A97BB1A88365}"/>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5</a:t>
            </a:fld>
            <a:endParaRPr lang="zh-TW" altLang="en-US"/>
          </a:p>
        </p:txBody>
      </p:sp>
    </p:spTree>
    <p:extLst>
      <p:ext uri="{BB962C8B-B14F-4D97-AF65-F5344CB8AC3E}">
        <p14:creationId xmlns:p14="http://schemas.microsoft.com/office/powerpoint/2010/main" val="3208033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2.Background &amp;</a:t>
            </a:r>
            <a:r>
              <a:rPr lang="zh-CN" altLang="en-US" dirty="0">
                <a:ea typeface="Calibri" panose="020F0502020204030204" pitchFamily="34" charset="0"/>
                <a:cs typeface="Calibri" panose="020F0502020204030204" pitchFamily="34" charset="0"/>
              </a:rPr>
              <a:t> </a:t>
            </a:r>
            <a:r>
              <a:rPr lang="en-US" altLang="zh-CN" dirty="0">
                <a:ea typeface="Calibri" panose="020F0502020204030204" pitchFamily="34" charset="0"/>
                <a:cs typeface="Calibri" panose="020F0502020204030204" pitchFamily="34" charset="0"/>
              </a:rPr>
              <a:t>Motivation</a:t>
            </a:r>
            <a:r>
              <a:rPr lang="zh-CN" altLang="en-US" dirty="0">
                <a:ea typeface="Calibri" panose="020F0502020204030204" pitchFamily="34" charset="0"/>
                <a:cs typeface="Calibri" panose="020F0502020204030204" pitchFamily="34" charset="0"/>
              </a:rPr>
              <a:t> </a:t>
            </a:r>
            <a:r>
              <a:rPr lang="en-US" altLang="zh-CN" dirty="0">
                <a:ea typeface="Calibri" panose="020F0502020204030204" pitchFamily="34" charset="0"/>
                <a:cs typeface="Calibri" panose="020F0502020204030204" pitchFamily="34" charset="0"/>
              </a:rPr>
              <a:t>(1/4)</a:t>
            </a:r>
            <a:endParaRPr lang="en-US" dirty="0">
              <a:ea typeface="Calibri" panose="020F0502020204030204" pitchFamily="34" charset="0"/>
              <a:cs typeface="Calibri" panose="020F0502020204030204" pitchFamily="34" charset="0"/>
            </a:endParaRPr>
          </a:p>
        </p:txBody>
      </p:sp>
      <p:sp>
        <p:nvSpPr>
          <p:cNvPr id="4" name="灯片编号占位符 1">
            <a:extLst>
              <a:ext uri="{FF2B5EF4-FFF2-40B4-BE49-F238E27FC236}">
                <a16:creationId xmlns:a16="http://schemas.microsoft.com/office/drawing/2014/main" id="{9DEEDA1E-DF89-AFB5-6372-BF049FEF9A77}"/>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6</a:t>
            </a:fld>
            <a:endParaRPr lang="zh-TW" altLang="en-US"/>
          </a:p>
        </p:txBody>
      </p:sp>
      <p:sp>
        <p:nvSpPr>
          <p:cNvPr id="6" name="内容占位符 5">
            <a:extLst>
              <a:ext uri="{FF2B5EF4-FFF2-40B4-BE49-F238E27FC236}">
                <a16:creationId xmlns:a16="http://schemas.microsoft.com/office/drawing/2014/main" id="{4928ADA6-E220-7C7D-C501-933F9AD95A98}"/>
              </a:ext>
            </a:extLst>
          </p:cNvPr>
          <p:cNvSpPr>
            <a:spLocks noGrp="1"/>
          </p:cNvSpPr>
          <p:nvPr>
            <p:ph idx="1"/>
          </p:nvPr>
        </p:nvSpPr>
        <p:spPr>
          <a:xfrm>
            <a:off x="617181" y="1294801"/>
            <a:ext cx="7661096" cy="4859160"/>
          </a:xfrm>
        </p:spPr>
        <p:txBody>
          <a:bodyPr/>
          <a:lstStyle/>
          <a:p>
            <a:r>
              <a:rPr lang="en-US" altLang="zh-CN" sz="2400" dirty="0">
                <a:latin typeface="Times New Roman" panose="02020603050405020304" pitchFamily="18" charset="0"/>
                <a:cs typeface="Times New Roman" panose="02020603050405020304" pitchFamily="18" charset="0"/>
              </a:rPr>
              <a:t>The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Paradigm</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Shift</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in</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Computing</a:t>
            </a:r>
          </a:p>
          <a:p>
            <a:pPr lvl="1"/>
            <a:r>
              <a:rPr lang="en-US" altLang="zh-CN" sz="2200" dirty="0">
                <a:latin typeface="Times New Roman" panose="02020603050405020304" pitchFamily="18" charset="0"/>
                <a:cs typeface="Times New Roman" panose="02020603050405020304" pitchFamily="18" charset="0"/>
              </a:rPr>
              <a:t>The</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evolution</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of</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LLMs</a:t>
            </a:r>
          </a:p>
        </p:txBody>
      </p:sp>
      <p:sp>
        <p:nvSpPr>
          <p:cNvPr id="3" name="圆角矩形 2">
            <a:extLst>
              <a:ext uri="{FF2B5EF4-FFF2-40B4-BE49-F238E27FC236}">
                <a16:creationId xmlns:a16="http://schemas.microsoft.com/office/drawing/2014/main" id="{E177CE07-8E76-06D2-355B-050433A15718}"/>
              </a:ext>
            </a:extLst>
          </p:cNvPr>
          <p:cNvSpPr/>
          <p:nvPr/>
        </p:nvSpPr>
        <p:spPr bwMode="auto">
          <a:xfrm>
            <a:off x="1327270" y="2488913"/>
            <a:ext cx="2648830" cy="2075379"/>
          </a:xfrm>
          <a:prstGeom prst="roundRect">
            <a:avLst>
              <a:gd name="adj" fmla="val 8004"/>
            </a:avLst>
          </a:prstGeom>
          <a:solidFill>
            <a:schemeClr val="accent4">
              <a:lumMod val="20000"/>
              <a:lumOff val="80000"/>
            </a:schemeClr>
          </a:solidFill>
          <a:ln w="15875" cap="flat" cmpd="sng" algn="ctr">
            <a:solidFill>
              <a:srgbClr val="7030A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文本框 4">
            <a:extLst>
              <a:ext uri="{FF2B5EF4-FFF2-40B4-BE49-F238E27FC236}">
                <a16:creationId xmlns:a16="http://schemas.microsoft.com/office/drawing/2014/main" id="{9380E203-4C43-B62F-9B69-41E4C1968DB5}"/>
              </a:ext>
            </a:extLst>
          </p:cNvPr>
          <p:cNvSpPr txBox="1"/>
          <p:nvPr/>
        </p:nvSpPr>
        <p:spPr>
          <a:xfrm>
            <a:off x="2337371" y="4654483"/>
            <a:ext cx="611065" cy="400110"/>
          </a:xfrm>
          <a:prstGeom prst="rect">
            <a:avLst/>
          </a:prstGeom>
          <a:noFill/>
        </p:spPr>
        <p:txBody>
          <a:bodyPr wrap="non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Past</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
        <p:nvSpPr>
          <p:cNvPr id="7" name="右箭头 6">
            <a:extLst>
              <a:ext uri="{FF2B5EF4-FFF2-40B4-BE49-F238E27FC236}">
                <a16:creationId xmlns:a16="http://schemas.microsoft.com/office/drawing/2014/main" id="{C48B7CAF-5B76-5B2A-EAC2-984FF684D661}"/>
              </a:ext>
            </a:extLst>
          </p:cNvPr>
          <p:cNvSpPr/>
          <p:nvPr/>
        </p:nvSpPr>
        <p:spPr bwMode="auto">
          <a:xfrm>
            <a:off x="4258638" y="3336532"/>
            <a:ext cx="523982" cy="387849"/>
          </a:xfrm>
          <a:prstGeom prst="rightArrow">
            <a:avLst/>
          </a:prstGeom>
          <a:solidFill>
            <a:schemeClr val="accent4">
              <a:lumMod val="60000"/>
              <a:lumOff val="40000"/>
            </a:schemeClr>
          </a:solidFill>
          <a:ln w="15875" cap="flat" cmpd="sng" algn="ctr">
            <a:solidFill>
              <a:srgbClr val="7030A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文本框 7">
            <a:extLst>
              <a:ext uri="{FF2B5EF4-FFF2-40B4-BE49-F238E27FC236}">
                <a16:creationId xmlns:a16="http://schemas.microsoft.com/office/drawing/2014/main" id="{34980A3C-FBAA-0C4A-B9F0-B43C613E8A8E}"/>
              </a:ext>
            </a:extLst>
          </p:cNvPr>
          <p:cNvSpPr txBox="1"/>
          <p:nvPr/>
        </p:nvSpPr>
        <p:spPr>
          <a:xfrm>
            <a:off x="1425402" y="2957215"/>
            <a:ext cx="2550698" cy="1138773"/>
          </a:xfrm>
          <a:prstGeom prst="rect">
            <a:avLst/>
          </a:prstGeom>
          <a:noFill/>
        </p:spPr>
        <p:txBody>
          <a:bodyPr wrap="none" rtlCol="0" anchor="ctr" anchorCtr="1">
            <a:spAutoFit/>
          </a:bodyPr>
          <a:lstStyle/>
          <a:p>
            <a:pPr algn="ctr"/>
            <a:r>
              <a:rPr kumimoji="1" lang="en-US" altLang="zh-CN" sz="2400" dirty="0">
                <a:latin typeface="Times New Roman" panose="02020603050405020304" pitchFamily="18" charset="0"/>
                <a:ea typeface="標楷體" pitchFamily="65" charset="-120"/>
                <a:cs typeface="Times New Roman" panose="02020603050405020304" pitchFamily="18" charset="0"/>
              </a:rPr>
              <a:t>Passive</a:t>
            </a:r>
          </a:p>
          <a:p>
            <a:pPr algn="ctr"/>
            <a:r>
              <a:rPr kumimoji="1" lang="en-US" altLang="zh-CN" sz="2400" dirty="0">
                <a:latin typeface="Times New Roman" panose="02020603050405020304" pitchFamily="18" charset="0"/>
                <a:ea typeface="標楷體" pitchFamily="65" charset="-120"/>
                <a:cs typeface="Times New Roman" panose="02020603050405020304" pitchFamily="18" charset="0"/>
              </a:rPr>
              <a:t>Stateless</a:t>
            </a:r>
            <a:r>
              <a:rPr kumimoji="1" lang="zh-CN" altLang="en-US" sz="2400" dirty="0">
                <a:latin typeface="Times New Roman" panose="02020603050405020304" pitchFamily="18" charset="0"/>
                <a:ea typeface="標楷體" pitchFamily="65" charset="-120"/>
                <a:cs typeface="Times New Roman" panose="02020603050405020304" pitchFamily="18" charset="0"/>
              </a:rPr>
              <a:t> </a:t>
            </a:r>
            <a:r>
              <a:rPr kumimoji="1" lang="en-US" altLang="zh-CN" sz="2400" dirty="0">
                <a:latin typeface="Times New Roman" panose="02020603050405020304" pitchFamily="18" charset="0"/>
                <a:ea typeface="標楷體" pitchFamily="65" charset="-120"/>
                <a:cs typeface="Times New Roman" panose="02020603050405020304" pitchFamily="18" charset="0"/>
              </a:rPr>
              <a:t>Functions</a:t>
            </a:r>
            <a:br>
              <a:rPr kumimoji="1" lang="en-US" altLang="zh-CN" sz="2400" dirty="0">
                <a:latin typeface="Times New Roman" panose="02020603050405020304" pitchFamily="18" charset="0"/>
                <a:ea typeface="標楷體" pitchFamily="65" charset="-120"/>
                <a:cs typeface="Times New Roman" panose="02020603050405020304" pitchFamily="18" charset="0"/>
              </a:rPr>
            </a:br>
            <a:r>
              <a:rPr kumimoji="1" lang="en-US" altLang="zh-CN" sz="2000" dirty="0">
                <a:latin typeface="Times New Roman" panose="02020603050405020304" pitchFamily="18" charset="0"/>
                <a:ea typeface="標楷體" pitchFamily="65" charset="-120"/>
                <a:cs typeface="Times New Roman" panose="02020603050405020304" pitchFamily="18" charset="0"/>
              </a:rPr>
              <a:t>(NLP</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domain)</a:t>
            </a:r>
            <a:endParaRPr kumimoji="1" lang="zh-CN" altLang="en-US" sz="2400" dirty="0">
              <a:latin typeface="Times New Roman" panose="02020603050405020304" pitchFamily="18" charset="0"/>
              <a:ea typeface="標楷體" pitchFamily="65" charset="-120"/>
              <a:cs typeface="Times New Roman" panose="02020603050405020304" pitchFamily="18" charset="0"/>
            </a:endParaRPr>
          </a:p>
        </p:txBody>
      </p:sp>
      <p:sp>
        <p:nvSpPr>
          <p:cNvPr id="9" name="圆角矩形 8">
            <a:extLst>
              <a:ext uri="{FF2B5EF4-FFF2-40B4-BE49-F238E27FC236}">
                <a16:creationId xmlns:a16="http://schemas.microsoft.com/office/drawing/2014/main" id="{849CA19A-0E50-11AB-598C-24E672F32117}"/>
              </a:ext>
            </a:extLst>
          </p:cNvPr>
          <p:cNvSpPr/>
          <p:nvPr/>
        </p:nvSpPr>
        <p:spPr bwMode="auto">
          <a:xfrm>
            <a:off x="4953607" y="2488913"/>
            <a:ext cx="3270855" cy="2075379"/>
          </a:xfrm>
          <a:prstGeom prst="roundRect">
            <a:avLst>
              <a:gd name="adj" fmla="val 8004"/>
            </a:avLst>
          </a:prstGeom>
          <a:solidFill>
            <a:schemeClr val="accent4">
              <a:lumMod val="20000"/>
              <a:lumOff val="80000"/>
            </a:schemeClr>
          </a:solidFill>
          <a:ln w="15875" cap="flat" cmpd="sng" algn="ctr">
            <a:solidFill>
              <a:srgbClr val="7030A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文本框 9">
            <a:extLst>
              <a:ext uri="{FF2B5EF4-FFF2-40B4-BE49-F238E27FC236}">
                <a16:creationId xmlns:a16="http://schemas.microsoft.com/office/drawing/2014/main" id="{A52AEC57-41F4-A7DB-9533-718B1166BE18}"/>
              </a:ext>
            </a:extLst>
          </p:cNvPr>
          <p:cNvSpPr txBox="1"/>
          <p:nvPr/>
        </p:nvSpPr>
        <p:spPr>
          <a:xfrm>
            <a:off x="7224616" y="4654483"/>
            <a:ext cx="938077" cy="400110"/>
          </a:xfrm>
          <a:prstGeom prst="rect">
            <a:avLst/>
          </a:prstGeom>
          <a:noFill/>
        </p:spPr>
        <p:txBody>
          <a:bodyPr wrap="non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Present</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
        <p:nvSpPr>
          <p:cNvPr id="11" name="文本框 10">
            <a:extLst>
              <a:ext uri="{FF2B5EF4-FFF2-40B4-BE49-F238E27FC236}">
                <a16:creationId xmlns:a16="http://schemas.microsoft.com/office/drawing/2014/main" id="{FF184F5D-B213-C0A8-646D-C92FAD17BBD3}"/>
              </a:ext>
            </a:extLst>
          </p:cNvPr>
          <p:cNvSpPr txBox="1"/>
          <p:nvPr/>
        </p:nvSpPr>
        <p:spPr>
          <a:xfrm>
            <a:off x="4971171" y="2965748"/>
            <a:ext cx="3137397" cy="1138773"/>
          </a:xfrm>
          <a:prstGeom prst="rect">
            <a:avLst/>
          </a:prstGeom>
          <a:noFill/>
        </p:spPr>
        <p:txBody>
          <a:bodyPr wrap="none" rtlCol="0" anchor="ctr" anchorCtr="1">
            <a:spAutoFit/>
          </a:bodyPr>
          <a:lstStyle/>
          <a:p>
            <a:pPr algn="ctr"/>
            <a:r>
              <a:rPr kumimoji="1" lang="en-US" altLang="zh-CN" sz="2400" dirty="0">
                <a:latin typeface="Times New Roman" panose="02020603050405020304" pitchFamily="18" charset="0"/>
                <a:ea typeface="標楷體" pitchFamily="65" charset="-120"/>
                <a:cs typeface="Times New Roman" panose="02020603050405020304" pitchFamily="18" charset="0"/>
              </a:rPr>
              <a:t>Autonomous</a:t>
            </a:r>
          </a:p>
          <a:p>
            <a:pPr algn="ctr"/>
            <a:r>
              <a:rPr kumimoji="1" lang="en-US" altLang="zh-CN" sz="2400" dirty="0">
                <a:latin typeface="Times New Roman" panose="02020603050405020304" pitchFamily="18" charset="0"/>
                <a:ea typeface="標楷體" pitchFamily="65" charset="-120"/>
                <a:cs typeface="Times New Roman" panose="02020603050405020304" pitchFamily="18" charset="0"/>
              </a:rPr>
              <a:t>Stateful</a:t>
            </a:r>
            <a:r>
              <a:rPr kumimoji="1" lang="zh-CN" altLang="en-US" sz="2400" dirty="0">
                <a:latin typeface="Times New Roman" panose="02020603050405020304" pitchFamily="18" charset="0"/>
                <a:ea typeface="標楷體" pitchFamily="65" charset="-120"/>
                <a:cs typeface="Times New Roman" panose="02020603050405020304" pitchFamily="18" charset="0"/>
              </a:rPr>
              <a:t> </a:t>
            </a:r>
            <a:r>
              <a:rPr kumimoji="1" lang="en-US" altLang="zh-CN" sz="2400" dirty="0">
                <a:latin typeface="Times New Roman" panose="02020603050405020304" pitchFamily="18" charset="0"/>
                <a:ea typeface="標楷體" pitchFamily="65" charset="-120"/>
                <a:cs typeface="Times New Roman" panose="02020603050405020304" pitchFamily="18" charset="0"/>
              </a:rPr>
              <a:t>System</a:t>
            </a:r>
            <a:r>
              <a:rPr kumimoji="1" lang="zh-CN" altLang="en-US" sz="2400" dirty="0">
                <a:latin typeface="Times New Roman" panose="02020603050405020304" pitchFamily="18" charset="0"/>
                <a:ea typeface="標楷體" pitchFamily="65" charset="-120"/>
                <a:cs typeface="Times New Roman" panose="02020603050405020304" pitchFamily="18" charset="0"/>
              </a:rPr>
              <a:t> </a:t>
            </a:r>
            <a:r>
              <a:rPr kumimoji="1" lang="en-US" altLang="zh-CN" sz="2400" dirty="0">
                <a:latin typeface="Times New Roman" panose="02020603050405020304" pitchFamily="18" charset="0"/>
                <a:ea typeface="標楷體" pitchFamily="65" charset="-120"/>
                <a:cs typeface="Times New Roman" panose="02020603050405020304" pitchFamily="18" charset="0"/>
              </a:rPr>
              <a:t>Entities</a:t>
            </a:r>
          </a:p>
          <a:p>
            <a:pPr algn="ctr"/>
            <a:r>
              <a:rPr kumimoji="1" lang="en-US" altLang="zh-CN" sz="2000" dirty="0">
                <a:latin typeface="Times New Roman" panose="02020603050405020304" pitchFamily="18" charset="0"/>
                <a:ea typeface="標楷體" pitchFamily="65" charset="-120"/>
                <a:cs typeface="Times New Roman" panose="02020603050405020304" pitchFamily="18" charset="0"/>
              </a:rPr>
              <a:t>(OS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domain)</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
        <p:nvSpPr>
          <p:cNvPr id="12" name="圆角矩形 11">
            <a:extLst>
              <a:ext uri="{FF2B5EF4-FFF2-40B4-BE49-F238E27FC236}">
                <a16:creationId xmlns:a16="http://schemas.microsoft.com/office/drawing/2014/main" id="{EECCC036-1EE7-DE49-DE2E-1E9BE7FB60F8}"/>
              </a:ext>
            </a:extLst>
          </p:cNvPr>
          <p:cNvSpPr/>
          <p:nvPr/>
        </p:nvSpPr>
        <p:spPr bwMode="auto">
          <a:xfrm>
            <a:off x="8332092" y="2488913"/>
            <a:ext cx="2347895" cy="2075379"/>
          </a:xfrm>
          <a:prstGeom prst="roundRect">
            <a:avLst>
              <a:gd name="adj" fmla="val 8004"/>
            </a:avLst>
          </a:prstGeom>
          <a:noFill/>
          <a:ln w="15875" cap="flat" cmpd="sng" algn="ctr">
            <a:solidFill>
              <a:srgbClr val="7030A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3" name="文本框 12">
            <a:extLst>
              <a:ext uri="{FF2B5EF4-FFF2-40B4-BE49-F238E27FC236}">
                <a16:creationId xmlns:a16="http://schemas.microsoft.com/office/drawing/2014/main" id="{B1B5ED26-D660-E8B0-BCE0-B242856082E4}"/>
              </a:ext>
            </a:extLst>
          </p:cNvPr>
          <p:cNvSpPr txBox="1"/>
          <p:nvPr/>
        </p:nvSpPr>
        <p:spPr>
          <a:xfrm>
            <a:off x="8395449" y="2628802"/>
            <a:ext cx="2286203" cy="1631216"/>
          </a:xfrm>
          <a:prstGeom prst="rect">
            <a:avLst/>
          </a:prstGeom>
          <a:noFill/>
        </p:spPr>
        <p:txBody>
          <a:bodyPr wrap="none" rtlCol="0" anchor="ctr" anchorCtr="1">
            <a:spAutoFit/>
          </a:bodyPr>
          <a:lstStyle/>
          <a:p>
            <a:pPr algn="ctr"/>
            <a:r>
              <a:rPr kumimoji="1" lang="en-US" altLang="zh-CN" sz="2000" dirty="0">
                <a:latin typeface="Times New Roman" panose="02020603050405020304" pitchFamily="18" charset="0"/>
                <a:ea typeface="標楷體" pitchFamily="65" charset="-120"/>
                <a:cs typeface="Times New Roman" panose="02020603050405020304" pitchFamily="18" charset="0"/>
              </a:rPr>
              <a:t>New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Privileges</a:t>
            </a:r>
          </a:p>
          <a:p>
            <a:pPr marL="342900" indent="-342900">
              <a:buFontTx/>
              <a:buChar char="-"/>
            </a:pPr>
            <a:r>
              <a:rPr kumimoji="1" lang="en-US" altLang="zh-CN" sz="2000" dirty="0">
                <a:latin typeface="Times New Roman" panose="02020603050405020304" pitchFamily="18" charset="0"/>
                <a:ea typeface="標楷體" pitchFamily="65" charset="-120"/>
                <a:cs typeface="Times New Roman" panose="02020603050405020304" pitchFamily="18" charset="0"/>
              </a:rPr>
              <a:t>Read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write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files</a:t>
            </a:r>
          </a:p>
          <a:p>
            <a:pPr marL="342900" indent="-342900">
              <a:buFontTx/>
              <a:buChar char="-"/>
            </a:pPr>
            <a:r>
              <a:rPr kumimoji="1" lang="en-US" altLang="zh-CN" sz="2000" dirty="0">
                <a:latin typeface="Times New Roman" panose="02020603050405020304" pitchFamily="18" charset="0"/>
                <a:ea typeface="標楷體" pitchFamily="65" charset="-120"/>
                <a:cs typeface="Times New Roman" panose="02020603050405020304" pitchFamily="18" charset="0"/>
              </a:rPr>
              <a:t>Fork</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processes</a:t>
            </a:r>
          </a:p>
          <a:p>
            <a:pPr marL="342900" indent="-342900">
              <a:buFontTx/>
              <a:buChar char="-"/>
            </a:pPr>
            <a:r>
              <a:rPr kumimoji="1" lang="en-US" altLang="zh-CN" sz="2000" dirty="0">
                <a:latin typeface="Times New Roman" panose="02020603050405020304" pitchFamily="18" charset="0"/>
                <a:ea typeface="標楷體" pitchFamily="65" charset="-120"/>
                <a:cs typeface="Times New Roman" panose="02020603050405020304" pitchFamily="18" charset="0"/>
              </a:rPr>
              <a:t>Open</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sockets</a:t>
            </a:r>
          </a:p>
          <a:p>
            <a:pPr marL="342900" indent="-342900">
              <a:buFontTx/>
              <a:buChar char="-"/>
            </a:pPr>
            <a:r>
              <a:rPr kumimoji="1" lang="en-US" altLang="zh-CN" sz="2000" dirty="0">
                <a:latin typeface="Times New Roman" panose="02020603050405020304" pitchFamily="18" charset="0"/>
                <a:ea typeface="標楷體" pitchFamily="65" charset="-120"/>
                <a:cs typeface="Times New Roman" panose="02020603050405020304" pitchFamily="18" charset="0"/>
              </a:rPr>
              <a:t>…</a:t>
            </a:r>
            <a:endParaRPr kumimoji="1" lang="zh-CN" altLang="en-US"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403208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361E6-3C74-DD6E-F269-A04FBC8240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9E0FF6-FD0F-0E03-2AD8-9891CC75CD86}"/>
              </a:ext>
            </a:extLst>
          </p:cNvPr>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2.Background &amp;</a:t>
            </a:r>
            <a:r>
              <a:rPr lang="zh-CN" altLang="en-US" dirty="0">
                <a:ea typeface="Calibri" panose="020F0502020204030204" pitchFamily="34" charset="0"/>
                <a:cs typeface="Calibri" panose="020F0502020204030204" pitchFamily="34" charset="0"/>
              </a:rPr>
              <a:t> </a:t>
            </a:r>
            <a:r>
              <a:rPr lang="en-US" altLang="zh-CN" dirty="0">
                <a:ea typeface="Calibri" panose="020F0502020204030204" pitchFamily="34" charset="0"/>
                <a:cs typeface="Calibri" panose="020F0502020204030204" pitchFamily="34" charset="0"/>
              </a:rPr>
              <a:t>Motivation</a:t>
            </a:r>
            <a:r>
              <a:rPr lang="zh-CN" altLang="en-US" dirty="0">
                <a:ea typeface="Calibri" panose="020F0502020204030204" pitchFamily="34" charset="0"/>
                <a:cs typeface="Calibri" panose="020F0502020204030204" pitchFamily="34" charset="0"/>
              </a:rPr>
              <a:t> </a:t>
            </a:r>
            <a:r>
              <a:rPr lang="en-US" altLang="zh-CN" dirty="0">
                <a:ea typeface="Calibri" panose="020F0502020204030204" pitchFamily="34" charset="0"/>
                <a:cs typeface="Calibri" panose="020F0502020204030204" pitchFamily="34" charset="0"/>
              </a:rPr>
              <a:t>(2/4)</a:t>
            </a:r>
            <a:endParaRPr lang="en-US" dirty="0">
              <a:ea typeface="Calibri" panose="020F0502020204030204" pitchFamily="34" charset="0"/>
              <a:cs typeface="Calibri" panose="020F0502020204030204" pitchFamily="34" charset="0"/>
            </a:endParaRPr>
          </a:p>
        </p:txBody>
      </p:sp>
      <p:sp>
        <p:nvSpPr>
          <p:cNvPr id="4" name="灯片编号占位符 1">
            <a:extLst>
              <a:ext uri="{FF2B5EF4-FFF2-40B4-BE49-F238E27FC236}">
                <a16:creationId xmlns:a16="http://schemas.microsoft.com/office/drawing/2014/main" id="{43F91854-64ED-3F0F-4A0E-231996EFA5E2}"/>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7</a:t>
            </a:fld>
            <a:endParaRPr lang="zh-TW" altLang="en-US"/>
          </a:p>
        </p:txBody>
      </p:sp>
      <p:sp>
        <p:nvSpPr>
          <p:cNvPr id="6" name="内容占位符 5">
            <a:extLst>
              <a:ext uri="{FF2B5EF4-FFF2-40B4-BE49-F238E27FC236}">
                <a16:creationId xmlns:a16="http://schemas.microsoft.com/office/drawing/2014/main" id="{BA02E5E7-81D9-3EBF-E76A-822D1AB00E47}"/>
              </a:ext>
            </a:extLst>
          </p:cNvPr>
          <p:cNvSpPr>
            <a:spLocks noGrp="1"/>
          </p:cNvSpPr>
          <p:nvPr>
            <p:ph idx="1"/>
          </p:nvPr>
        </p:nvSpPr>
        <p:spPr>
          <a:xfrm>
            <a:off x="617181" y="1294801"/>
            <a:ext cx="9682662" cy="4859160"/>
          </a:xfrm>
        </p:spPr>
        <p:txBody>
          <a:bodyPr/>
          <a:lstStyle/>
          <a:p>
            <a:r>
              <a:rPr lang="en-US" altLang="zh-CN" sz="2400" dirty="0">
                <a:latin typeface="Times New Roman" panose="02020603050405020304" pitchFamily="18" charset="0"/>
                <a:cs typeface="Times New Roman" panose="02020603050405020304" pitchFamily="18" charset="0"/>
              </a:rPr>
              <a:t>Escalation of Threat Models</a:t>
            </a:r>
          </a:p>
          <a:p>
            <a:pPr lvl="1"/>
            <a:endParaRPr lang="en-US" altLang="zh-CN" sz="2200" dirty="0">
              <a:latin typeface="Times New Roman" panose="02020603050405020304" pitchFamily="18" charset="0"/>
              <a:cs typeface="Times New Roman" panose="02020603050405020304" pitchFamily="18" charset="0"/>
            </a:endParaRPr>
          </a:p>
          <a:p>
            <a:pPr lvl="1"/>
            <a:endParaRPr lang="en-US" altLang="zh-CN" sz="2200" dirty="0">
              <a:latin typeface="Times New Roman" panose="02020603050405020304" pitchFamily="18" charset="0"/>
              <a:cs typeface="Times New Roman" panose="02020603050405020304" pitchFamily="18" charset="0"/>
            </a:endParaRPr>
          </a:p>
          <a:p>
            <a:pPr lvl="1"/>
            <a:endParaRPr lang="en-US" altLang="zh-CN" sz="2200" dirty="0">
              <a:latin typeface="Times New Roman" panose="02020603050405020304" pitchFamily="18" charset="0"/>
              <a:cs typeface="Times New Roman" panose="02020603050405020304" pitchFamily="18" charset="0"/>
            </a:endParaRPr>
          </a:p>
          <a:p>
            <a:pPr lvl="1"/>
            <a:endParaRPr lang="en-US" altLang="zh-CN" sz="2200" dirty="0">
              <a:latin typeface="Times New Roman" panose="02020603050405020304" pitchFamily="18" charset="0"/>
              <a:cs typeface="Times New Roman" panose="02020603050405020304" pitchFamily="18" charset="0"/>
            </a:endParaRPr>
          </a:p>
          <a:p>
            <a:pPr lvl="1"/>
            <a:endParaRPr lang="en-US" altLang="zh-CN" sz="2200" dirty="0">
              <a:latin typeface="Times New Roman" panose="02020603050405020304" pitchFamily="18" charset="0"/>
              <a:cs typeface="Times New Roman" panose="02020603050405020304" pitchFamily="18" charset="0"/>
            </a:endParaRPr>
          </a:p>
          <a:p>
            <a:pPr lvl="1"/>
            <a:endParaRPr lang="en-US" altLang="zh-CN" sz="2200" dirty="0">
              <a:latin typeface="Times New Roman" panose="02020603050405020304" pitchFamily="18" charset="0"/>
              <a:cs typeface="Times New Roman" panose="02020603050405020304" pitchFamily="18" charset="0"/>
            </a:endParaRPr>
          </a:p>
          <a:p>
            <a:pPr lvl="1"/>
            <a:endParaRPr lang="en-US" altLang="zh-CN" sz="2200" dirty="0">
              <a:latin typeface="Times New Roman" panose="02020603050405020304" pitchFamily="18" charset="0"/>
              <a:cs typeface="Times New Roman" panose="02020603050405020304" pitchFamily="18" charset="0"/>
            </a:endParaRPr>
          </a:p>
          <a:p>
            <a:pPr lvl="1"/>
            <a:endParaRPr lang="en-US" altLang="zh-CN" sz="2200" dirty="0">
              <a:latin typeface="Times New Roman" panose="02020603050405020304" pitchFamily="18" charset="0"/>
              <a:cs typeface="Times New Roman" panose="02020603050405020304" pitchFamily="18" charset="0"/>
            </a:endParaRPr>
          </a:p>
          <a:p>
            <a:pPr lvl="1"/>
            <a:r>
              <a:rPr lang="en-US" altLang="zh-CN" sz="2200" b="1" dirty="0">
                <a:latin typeface="Times New Roman" panose="02020603050405020304" pitchFamily="18" charset="0"/>
                <a:cs typeface="Times New Roman" panose="02020603050405020304" pitchFamily="18" charset="0"/>
              </a:rPr>
              <a:t>The Conflict</a:t>
            </a:r>
            <a:r>
              <a:rPr lang="en-US" altLang="zh-CN" sz="2200" dirty="0">
                <a:latin typeface="Times New Roman" panose="02020603050405020304" pitchFamily="18" charset="0"/>
                <a:cs typeface="Times New Roman" panose="02020603050405020304" pitchFamily="18" charset="0"/>
              </a:rPr>
              <a:t>: </a:t>
            </a:r>
            <a:r>
              <a:rPr lang="en-US" altLang="zh-CN" sz="2200" u="sng" dirty="0">
                <a:latin typeface="Times New Roman" panose="02020603050405020304" pitchFamily="18" charset="0"/>
                <a:cs typeface="Times New Roman" panose="02020603050405020304" pitchFamily="18" charset="0"/>
              </a:rPr>
              <a:t>Non-deterministic AI logic</a:t>
            </a:r>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vs. </a:t>
            </a:r>
            <a:r>
              <a:rPr lang="zh-CN" altLang="en-US" sz="2200" dirty="0">
                <a:latin typeface="Times New Roman" panose="02020603050405020304" pitchFamily="18" charset="0"/>
                <a:cs typeface="Times New Roman" panose="02020603050405020304" pitchFamily="18" charset="0"/>
              </a:rPr>
              <a:t> </a:t>
            </a:r>
            <a:r>
              <a:rPr lang="en-US" altLang="zh-CN" sz="2200" u="sng" dirty="0">
                <a:latin typeface="Times New Roman" panose="02020603050405020304" pitchFamily="18" charset="0"/>
                <a:cs typeface="Times New Roman" panose="02020603050405020304" pitchFamily="18" charset="0"/>
              </a:rPr>
              <a:t>Deterministic OS boundaries</a:t>
            </a:r>
            <a:r>
              <a:rPr lang="en-US" altLang="zh-CN" sz="2200" dirty="0">
                <a:latin typeface="Times New Roman" panose="02020603050405020304" pitchFamily="18" charset="0"/>
                <a:cs typeface="Times New Roman" panose="02020603050405020304" pitchFamily="18" charset="0"/>
              </a:rPr>
              <a:t>.</a:t>
            </a:r>
          </a:p>
        </p:txBody>
      </p:sp>
      <p:sp>
        <p:nvSpPr>
          <p:cNvPr id="3" name="圆角矩形 2">
            <a:extLst>
              <a:ext uri="{FF2B5EF4-FFF2-40B4-BE49-F238E27FC236}">
                <a16:creationId xmlns:a16="http://schemas.microsoft.com/office/drawing/2014/main" id="{5D27A35E-B592-AF7C-9E3C-BE555F251226}"/>
              </a:ext>
            </a:extLst>
          </p:cNvPr>
          <p:cNvSpPr/>
          <p:nvPr/>
        </p:nvSpPr>
        <p:spPr bwMode="auto">
          <a:xfrm>
            <a:off x="2095928" y="1949519"/>
            <a:ext cx="2891492" cy="2075379"/>
          </a:xfrm>
          <a:prstGeom prst="roundRect">
            <a:avLst>
              <a:gd name="adj" fmla="val 8004"/>
            </a:avLst>
          </a:prstGeom>
          <a:solidFill>
            <a:schemeClr val="accent4">
              <a:lumMod val="20000"/>
              <a:lumOff val="80000"/>
            </a:schemeClr>
          </a:solidFill>
          <a:ln w="15875" cap="flat" cmpd="sng" algn="ctr">
            <a:solidFill>
              <a:srgbClr val="7030A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文本框 4">
            <a:extLst>
              <a:ext uri="{FF2B5EF4-FFF2-40B4-BE49-F238E27FC236}">
                <a16:creationId xmlns:a16="http://schemas.microsoft.com/office/drawing/2014/main" id="{6115EFB3-26AC-5C67-9CB5-ACA0095D2A4D}"/>
              </a:ext>
            </a:extLst>
          </p:cNvPr>
          <p:cNvSpPr txBox="1"/>
          <p:nvPr/>
        </p:nvSpPr>
        <p:spPr>
          <a:xfrm>
            <a:off x="2603814" y="4156185"/>
            <a:ext cx="2040110" cy="400110"/>
          </a:xfrm>
          <a:prstGeom prst="rect">
            <a:avLst/>
          </a:prstGeom>
          <a:noFill/>
        </p:spPr>
        <p:txBody>
          <a:bodyPr wrap="none" rtlCol="0" anchor="ctr" anchorCtr="1">
            <a:spAutoFit/>
          </a:bodyPr>
          <a:lstStyle/>
          <a:p>
            <a:r>
              <a:rPr lang="en-US" altLang="zh-CN" sz="2000" dirty="0">
                <a:latin typeface="Times New Roman" panose="02020603050405020304" pitchFamily="18" charset="0"/>
                <a:cs typeface="Times New Roman" panose="02020603050405020304" pitchFamily="18" charset="0"/>
              </a:rPr>
              <a:t>Traditional Threat</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
        <p:nvSpPr>
          <p:cNvPr id="7" name="右箭头 6">
            <a:extLst>
              <a:ext uri="{FF2B5EF4-FFF2-40B4-BE49-F238E27FC236}">
                <a16:creationId xmlns:a16="http://schemas.microsoft.com/office/drawing/2014/main" id="{90CC9C30-6531-3D4C-24D7-DB19C97C8CA6}"/>
              </a:ext>
            </a:extLst>
          </p:cNvPr>
          <p:cNvSpPr/>
          <p:nvPr/>
        </p:nvSpPr>
        <p:spPr bwMode="auto">
          <a:xfrm>
            <a:off x="5269958" y="2797138"/>
            <a:ext cx="523982" cy="387849"/>
          </a:xfrm>
          <a:prstGeom prst="rightArrow">
            <a:avLst/>
          </a:prstGeom>
          <a:solidFill>
            <a:schemeClr val="accent4">
              <a:lumMod val="60000"/>
              <a:lumOff val="40000"/>
            </a:schemeClr>
          </a:solidFill>
          <a:ln w="15875" cap="flat" cmpd="sng" algn="ctr">
            <a:solidFill>
              <a:srgbClr val="7030A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文本框 7">
            <a:extLst>
              <a:ext uri="{FF2B5EF4-FFF2-40B4-BE49-F238E27FC236}">
                <a16:creationId xmlns:a16="http://schemas.microsoft.com/office/drawing/2014/main" id="{399336B2-02A4-6A5E-729F-4DFFFA38DDDD}"/>
              </a:ext>
            </a:extLst>
          </p:cNvPr>
          <p:cNvSpPr txBox="1"/>
          <p:nvPr/>
        </p:nvSpPr>
        <p:spPr>
          <a:xfrm>
            <a:off x="2146420" y="2571709"/>
            <a:ext cx="2790508" cy="830997"/>
          </a:xfrm>
          <a:prstGeom prst="rect">
            <a:avLst/>
          </a:prstGeom>
          <a:noFill/>
        </p:spPr>
        <p:txBody>
          <a:bodyPr wrap="none" rtlCol="0" anchor="ctr" anchorCtr="1">
            <a:spAutoFit/>
          </a:bodyPr>
          <a:lstStyle/>
          <a:p>
            <a:pPr algn="ctr"/>
            <a:r>
              <a:rPr lang="en-US" altLang="zh-CN" sz="2400" dirty="0">
                <a:latin typeface="Times New Roman" panose="02020603050405020304" pitchFamily="18" charset="0"/>
                <a:cs typeface="Times New Roman" panose="02020603050405020304" pitchFamily="18" charset="0"/>
              </a:rPr>
              <a:t>Toxic text generation</a:t>
            </a:r>
          </a:p>
          <a:p>
            <a:pPr algn="ctr"/>
            <a:r>
              <a:rPr lang="en-US" altLang="zh-CN" sz="2400" dirty="0">
                <a:latin typeface="Times New Roman" panose="02020603050405020304" pitchFamily="18" charset="0"/>
                <a:cs typeface="Times New Roman" panose="02020603050405020304" pitchFamily="18" charset="0"/>
              </a:rPr>
              <a:t>Hallucinations</a:t>
            </a:r>
            <a:endParaRPr kumimoji="1" lang="zh-CN" altLang="en-US" sz="2400" dirty="0">
              <a:latin typeface="Times New Roman" panose="02020603050405020304" pitchFamily="18" charset="0"/>
              <a:ea typeface="標楷體" pitchFamily="65" charset="-120"/>
              <a:cs typeface="Times New Roman" panose="02020603050405020304" pitchFamily="18" charset="0"/>
            </a:endParaRPr>
          </a:p>
        </p:txBody>
      </p:sp>
      <p:sp>
        <p:nvSpPr>
          <p:cNvPr id="9" name="圆角矩形 8">
            <a:extLst>
              <a:ext uri="{FF2B5EF4-FFF2-40B4-BE49-F238E27FC236}">
                <a16:creationId xmlns:a16="http://schemas.microsoft.com/office/drawing/2014/main" id="{11F7B238-7824-A376-C2C2-E69B9A9837BF}"/>
              </a:ext>
            </a:extLst>
          </p:cNvPr>
          <p:cNvSpPr/>
          <p:nvPr/>
        </p:nvSpPr>
        <p:spPr bwMode="auto">
          <a:xfrm>
            <a:off x="5964926" y="1949519"/>
            <a:ext cx="4131145" cy="2075379"/>
          </a:xfrm>
          <a:prstGeom prst="roundRect">
            <a:avLst>
              <a:gd name="adj" fmla="val 8004"/>
            </a:avLst>
          </a:prstGeom>
          <a:solidFill>
            <a:schemeClr val="accent4">
              <a:lumMod val="20000"/>
              <a:lumOff val="80000"/>
            </a:schemeClr>
          </a:solidFill>
          <a:ln w="15875" cap="flat" cmpd="sng" algn="ctr">
            <a:solidFill>
              <a:srgbClr val="7030A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文本框 9">
            <a:extLst>
              <a:ext uri="{FF2B5EF4-FFF2-40B4-BE49-F238E27FC236}">
                <a16:creationId xmlns:a16="http://schemas.microsoft.com/office/drawing/2014/main" id="{73E488BA-D4AD-B825-F5E1-6A30B6B8C3FC}"/>
              </a:ext>
            </a:extLst>
          </p:cNvPr>
          <p:cNvSpPr txBox="1"/>
          <p:nvPr/>
        </p:nvSpPr>
        <p:spPr>
          <a:xfrm>
            <a:off x="7384275" y="4122792"/>
            <a:ext cx="1723742" cy="400110"/>
          </a:xfrm>
          <a:prstGeom prst="rect">
            <a:avLst/>
          </a:prstGeom>
          <a:noFill/>
        </p:spPr>
        <p:txBody>
          <a:bodyPr wrap="none" rtlCol="0" anchor="ctr" anchorCtr="1">
            <a:spAutoFit/>
          </a:bodyPr>
          <a:lstStyle/>
          <a:p>
            <a:r>
              <a:rPr lang="en-US" altLang="zh-CN" sz="2000" dirty="0">
                <a:latin typeface="Times New Roman" panose="02020603050405020304" pitchFamily="18" charset="0"/>
                <a:cs typeface="Times New Roman" panose="02020603050405020304" pitchFamily="18" charset="0"/>
              </a:rPr>
              <a:t>Agentic Threat</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
        <p:nvSpPr>
          <p:cNvPr id="11" name="文本框 10">
            <a:extLst>
              <a:ext uri="{FF2B5EF4-FFF2-40B4-BE49-F238E27FC236}">
                <a16:creationId xmlns:a16="http://schemas.microsoft.com/office/drawing/2014/main" id="{AFB410EC-C03F-05A9-707A-1993FB2D5796}"/>
              </a:ext>
            </a:extLst>
          </p:cNvPr>
          <p:cNvSpPr txBox="1"/>
          <p:nvPr/>
        </p:nvSpPr>
        <p:spPr>
          <a:xfrm>
            <a:off x="5997389" y="2598003"/>
            <a:ext cx="4068743" cy="830997"/>
          </a:xfrm>
          <a:prstGeom prst="rect">
            <a:avLst/>
          </a:prstGeom>
          <a:noFill/>
        </p:spPr>
        <p:txBody>
          <a:bodyPr wrap="none" rtlCol="0" anchor="ctr" anchorCtr="1">
            <a:spAutoFit/>
          </a:bodyPr>
          <a:lstStyle/>
          <a:p>
            <a:pPr algn="ctr"/>
            <a:r>
              <a:rPr lang="en-US" altLang="zh-CN" sz="2400" dirty="0">
                <a:latin typeface="Times New Roman" panose="02020603050405020304" pitchFamily="18" charset="0"/>
                <a:cs typeface="Times New Roman" panose="02020603050405020304" pitchFamily="18" charset="0"/>
              </a:rPr>
              <a:t>Remote Code Execution (RCE)</a:t>
            </a:r>
          </a:p>
          <a:p>
            <a:pPr algn="ctr"/>
            <a:r>
              <a:rPr lang="en-US" altLang="zh-CN" sz="2400" dirty="0">
                <a:latin typeface="Times New Roman" panose="02020603050405020304" pitchFamily="18" charset="0"/>
                <a:cs typeface="Times New Roman" panose="02020603050405020304" pitchFamily="18" charset="0"/>
              </a:rPr>
              <a:t>Confused Deputy attacks</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2391943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D8C92-5606-205F-78C3-19A337384E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8FCA3D-7BBA-1109-EACB-0A6B964E5E14}"/>
              </a:ext>
            </a:extLst>
          </p:cNvPr>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2.Background &amp;</a:t>
            </a:r>
            <a:r>
              <a:rPr lang="zh-CN" altLang="en-US" dirty="0">
                <a:ea typeface="Calibri" panose="020F0502020204030204" pitchFamily="34" charset="0"/>
                <a:cs typeface="Calibri" panose="020F0502020204030204" pitchFamily="34" charset="0"/>
              </a:rPr>
              <a:t> </a:t>
            </a:r>
            <a:r>
              <a:rPr lang="en-US" altLang="zh-CN" dirty="0">
                <a:ea typeface="Calibri" panose="020F0502020204030204" pitchFamily="34" charset="0"/>
                <a:cs typeface="Calibri" panose="020F0502020204030204" pitchFamily="34" charset="0"/>
              </a:rPr>
              <a:t>Motivation</a:t>
            </a:r>
            <a:r>
              <a:rPr lang="zh-CN" altLang="en-US" dirty="0">
                <a:ea typeface="Calibri" panose="020F0502020204030204" pitchFamily="34" charset="0"/>
                <a:cs typeface="Calibri" panose="020F0502020204030204" pitchFamily="34" charset="0"/>
              </a:rPr>
              <a:t> </a:t>
            </a:r>
            <a:r>
              <a:rPr lang="en-US" altLang="zh-CN" dirty="0">
                <a:ea typeface="Calibri" panose="020F0502020204030204" pitchFamily="34" charset="0"/>
                <a:cs typeface="Calibri" panose="020F0502020204030204" pitchFamily="34" charset="0"/>
              </a:rPr>
              <a:t>(3/4)</a:t>
            </a:r>
            <a:endParaRPr lang="en-US" dirty="0">
              <a:ea typeface="Calibri" panose="020F0502020204030204" pitchFamily="34" charset="0"/>
              <a:cs typeface="Calibri" panose="020F0502020204030204" pitchFamily="34" charset="0"/>
            </a:endParaRPr>
          </a:p>
        </p:txBody>
      </p:sp>
      <p:sp>
        <p:nvSpPr>
          <p:cNvPr id="4" name="灯片编号占位符 1">
            <a:extLst>
              <a:ext uri="{FF2B5EF4-FFF2-40B4-BE49-F238E27FC236}">
                <a16:creationId xmlns:a16="http://schemas.microsoft.com/office/drawing/2014/main" id="{4D35C612-8345-8AFD-28CF-2CF1C8CE9354}"/>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8</a:t>
            </a:fld>
            <a:endParaRPr lang="zh-TW" altLang="en-US"/>
          </a:p>
        </p:txBody>
      </p:sp>
      <p:sp>
        <p:nvSpPr>
          <p:cNvPr id="6" name="内容占位符 5">
            <a:extLst>
              <a:ext uri="{FF2B5EF4-FFF2-40B4-BE49-F238E27FC236}">
                <a16:creationId xmlns:a16="http://schemas.microsoft.com/office/drawing/2014/main" id="{F349BB86-2B8D-BE3C-7DBC-AAF2D7D32907}"/>
              </a:ext>
            </a:extLst>
          </p:cNvPr>
          <p:cNvSpPr>
            <a:spLocks noGrp="1"/>
          </p:cNvSpPr>
          <p:nvPr>
            <p:ph idx="1"/>
          </p:nvPr>
        </p:nvSpPr>
        <p:spPr>
          <a:xfrm>
            <a:off x="1049867" y="1289693"/>
            <a:ext cx="6271641" cy="4859160"/>
          </a:xfrm>
        </p:spPr>
        <p:txBody>
          <a:bodyPr/>
          <a:lstStyle/>
          <a:p>
            <a:r>
              <a:rPr lang="en-US" altLang="zh-CN" sz="2400" dirty="0">
                <a:latin typeface="Times New Roman" panose="02020603050405020304" pitchFamily="18" charset="0"/>
                <a:cs typeface="Times New Roman" panose="02020603050405020304" pitchFamily="18" charset="0"/>
              </a:rPr>
              <a:t>The Failure of Algorithmic Defenses</a:t>
            </a:r>
            <a:endParaRPr lang="en-US" altLang="zh-CN" sz="2200" dirty="0">
              <a:latin typeface="Times New Roman" panose="02020603050405020304" pitchFamily="18" charset="0"/>
              <a:cs typeface="Times New Roman" panose="02020603050405020304" pitchFamily="18" charset="0"/>
            </a:endParaRPr>
          </a:p>
          <a:p>
            <a:pPr lvl="1"/>
            <a:endParaRPr lang="en-US" altLang="zh-CN" sz="2200" b="1" dirty="0">
              <a:latin typeface="Times New Roman" panose="02020603050405020304" pitchFamily="18" charset="0"/>
              <a:cs typeface="Times New Roman" panose="02020603050405020304" pitchFamily="18" charset="0"/>
            </a:endParaRPr>
          </a:p>
          <a:p>
            <a:pPr lvl="1"/>
            <a:r>
              <a:rPr lang="en-US" altLang="zh-CN" sz="2200" b="1" dirty="0">
                <a:latin typeface="Times New Roman" panose="02020603050405020304" pitchFamily="18" charset="0"/>
                <a:cs typeface="Times New Roman" panose="02020603050405020304" pitchFamily="18" charset="0"/>
              </a:rPr>
              <a:t>Current Defenses</a:t>
            </a:r>
            <a:r>
              <a:rPr lang="en-US" altLang="zh-CN" sz="2200" dirty="0">
                <a:latin typeface="Times New Roman" panose="02020603050405020304" pitchFamily="18" charset="0"/>
                <a:cs typeface="Times New Roman" panose="02020603050405020304" pitchFamily="18" charset="0"/>
              </a:rPr>
              <a:t>: </a:t>
            </a:r>
          </a:p>
          <a:p>
            <a:pPr lvl="2"/>
            <a:r>
              <a:rPr lang="en-US" altLang="zh-CN" sz="2000" dirty="0">
                <a:latin typeface="Times New Roman" panose="02020603050405020304" pitchFamily="18" charset="0"/>
                <a:cs typeface="Times New Roman" panose="02020603050405020304" pitchFamily="18" charset="0"/>
              </a:rPr>
              <a:t>RLHF</a:t>
            </a:r>
          </a:p>
          <a:p>
            <a:pPr lvl="2"/>
            <a:r>
              <a:rPr lang="en-US" altLang="zh-CN" sz="2000" dirty="0">
                <a:latin typeface="Times New Roman" panose="02020603050405020304" pitchFamily="18" charset="0"/>
                <a:cs typeface="Times New Roman" panose="02020603050405020304" pitchFamily="18" charset="0"/>
              </a:rPr>
              <a:t>Prompt Engineering</a:t>
            </a:r>
          </a:p>
          <a:p>
            <a:pPr lvl="2"/>
            <a:r>
              <a:rPr lang="en-US" altLang="zh-CN" sz="2000" dirty="0">
                <a:latin typeface="Times New Roman" panose="02020603050405020304" pitchFamily="18" charset="0"/>
                <a:cs typeface="Times New Roman" panose="02020603050405020304" pitchFamily="18" charset="0"/>
              </a:rPr>
              <a:t>Alignment.</a:t>
            </a:r>
          </a:p>
          <a:p>
            <a:pPr lvl="1"/>
            <a:endParaRPr lang="en-US" altLang="zh-CN" sz="2200" b="1" dirty="0">
              <a:latin typeface="Times New Roman" panose="02020603050405020304" pitchFamily="18" charset="0"/>
              <a:cs typeface="Times New Roman" panose="02020603050405020304" pitchFamily="18" charset="0"/>
            </a:endParaRPr>
          </a:p>
          <a:p>
            <a:pPr lvl="1"/>
            <a:r>
              <a:rPr lang="en-US" altLang="zh-CN" sz="2200" b="1" dirty="0">
                <a:latin typeface="Times New Roman" panose="02020603050405020304" pitchFamily="18" charset="0"/>
                <a:cs typeface="Times New Roman" panose="02020603050405020304" pitchFamily="18" charset="0"/>
              </a:rPr>
              <a:t>The Result</a:t>
            </a:r>
            <a:r>
              <a:rPr lang="en-US" altLang="zh-CN" sz="2200" dirty="0">
                <a:latin typeface="Times New Roman" panose="02020603050405020304" pitchFamily="18" charset="0"/>
                <a:cs typeface="Times New Roman" panose="02020603050405020304" pitchFamily="18" charset="0"/>
              </a:rPr>
              <a:t>: Once bypassed, the algorithmic defense collapses, leading directly to system compromise.</a:t>
            </a:r>
          </a:p>
        </p:txBody>
      </p:sp>
      <p:sp>
        <p:nvSpPr>
          <p:cNvPr id="3" name="圆角矩形 2">
            <a:extLst>
              <a:ext uri="{FF2B5EF4-FFF2-40B4-BE49-F238E27FC236}">
                <a16:creationId xmlns:a16="http://schemas.microsoft.com/office/drawing/2014/main" id="{F101B66A-33D2-C43A-9C00-F113F4A7A2E0}"/>
              </a:ext>
            </a:extLst>
          </p:cNvPr>
          <p:cNvSpPr/>
          <p:nvPr/>
        </p:nvSpPr>
        <p:spPr bwMode="auto">
          <a:xfrm>
            <a:off x="1924571" y="2563603"/>
            <a:ext cx="2650184" cy="1063375"/>
          </a:xfrm>
          <a:prstGeom prst="roundRect">
            <a:avLst>
              <a:gd name="adj" fmla="val 8004"/>
            </a:avLst>
          </a:prstGeom>
          <a:noFill/>
          <a:ln w="15875" cap="flat" cmpd="sng" algn="ctr">
            <a:solidFill>
              <a:srgbClr val="7030A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右箭头 6">
            <a:extLst>
              <a:ext uri="{FF2B5EF4-FFF2-40B4-BE49-F238E27FC236}">
                <a16:creationId xmlns:a16="http://schemas.microsoft.com/office/drawing/2014/main" id="{F630CF2C-157F-4059-7A86-4A897FAB71FB}"/>
              </a:ext>
            </a:extLst>
          </p:cNvPr>
          <p:cNvSpPr/>
          <p:nvPr/>
        </p:nvSpPr>
        <p:spPr bwMode="auto">
          <a:xfrm>
            <a:off x="4750742" y="2901365"/>
            <a:ext cx="523982" cy="387849"/>
          </a:xfrm>
          <a:prstGeom prst="rightArrow">
            <a:avLst/>
          </a:prstGeom>
          <a:solidFill>
            <a:schemeClr val="accent4">
              <a:lumMod val="60000"/>
              <a:lumOff val="40000"/>
            </a:schemeClr>
          </a:solidFill>
          <a:ln w="15875" cap="flat" cmpd="sng" algn="ctr">
            <a:solidFill>
              <a:srgbClr val="7030A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9" name="圆角矩形 8">
            <a:extLst>
              <a:ext uri="{FF2B5EF4-FFF2-40B4-BE49-F238E27FC236}">
                <a16:creationId xmlns:a16="http://schemas.microsoft.com/office/drawing/2014/main" id="{AF351C79-A3CA-8668-B14F-3FFFAE90D422}"/>
              </a:ext>
            </a:extLst>
          </p:cNvPr>
          <p:cNvSpPr/>
          <p:nvPr/>
        </p:nvSpPr>
        <p:spPr bwMode="auto">
          <a:xfrm>
            <a:off x="5546430" y="2563602"/>
            <a:ext cx="4131145" cy="1063376"/>
          </a:xfrm>
          <a:prstGeom prst="roundRect">
            <a:avLst>
              <a:gd name="adj" fmla="val 8004"/>
            </a:avLst>
          </a:prstGeom>
          <a:solidFill>
            <a:schemeClr val="accent4">
              <a:lumMod val="20000"/>
              <a:lumOff val="80000"/>
            </a:schemeClr>
          </a:solidFill>
          <a:ln w="15875" cap="flat" cmpd="sng" algn="ctr">
            <a:solidFill>
              <a:srgbClr val="7030A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文本框 9">
            <a:extLst>
              <a:ext uri="{FF2B5EF4-FFF2-40B4-BE49-F238E27FC236}">
                <a16:creationId xmlns:a16="http://schemas.microsoft.com/office/drawing/2014/main" id="{4405E0C3-D1BF-8394-8020-8ACEF329FBF1}"/>
              </a:ext>
            </a:extLst>
          </p:cNvPr>
          <p:cNvSpPr txBox="1"/>
          <p:nvPr/>
        </p:nvSpPr>
        <p:spPr>
          <a:xfrm>
            <a:off x="6747600" y="2105398"/>
            <a:ext cx="1626279" cy="400110"/>
          </a:xfrm>
          <a:prstGeom prst="rect">
            <a:avLst/>
          </a:prstGeom>
          <a:noFill/>
        </p:spPr>
        <p:txBody>
          <a:bodyPr wrap="none" rtlCol="0" anchor="ctr" anchorCtr="1">
            <a:spAutoFit/>
          </a:bodyPr>
          <a:lstStyle/>
          <a:p>
            <a:r>
              <a:rPr lang="en-US" altLang="zh-CN" sz="2000" b="1" dirty="0">
                <a:latin typeface="Times New Roman" panose="02020603050405020304" pitchFamily="18" charset="0"/>
                <a:cs typeface="Times New Roman" panose="02020603050405020304" pitchFamily="18" charset="0"/>
              </a:rPr>
              <a:t>Vulnerability</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
        <p:nvSpPr>
          <p:cNvPr id="11" name="文本框 10">
            <a:extLst>
              <a:ext uri="{FF2B5EF4-FFF2-40B4-BE49-F238E27FC236}">
                <a16:creationId xmlns:a16="http://schemas.microsoft.com/office/drawing/2014/main" id="{9DA8B8C5-066C-E9E5-0582-FF4F1FB275EF}"/>
              </a:ext>
            </a:extLst>
          </p:cNvPr>
          <p:cNvSpPr txBox="1"/>
          <p:nvPr/>
        </p:nvSpPr>
        <p:spPr>
          <a:xfrm>
            <a:off x="5981754" y="2679790"/>
            <a:ext cx="3453189" cy="830997"/>
          </a:xfrm>
          <a:prstGeom prst="rect">
            <a:avLst/>
          </a:prstGeom>
          <a:noFill/>
        </p:spPr>
        <p:txBody>
          <a:bodyPr wrap="none" rtlCol="0" anchor="ctr" anchorCtr="1">
            <a:spAutoFit/>
          </a:bodyPr>
          <a:lstStyle/>
          <a:p>
            <a:pPr algn="ctr"/>
            <a:r>
              <a:rPr lang="en-US" altLang="zh-CN" sz="2400" dirty="0">
                <a:latin typeface="Times New Roman" panose="02020603050405020304" pitchFamily="18" charset="0"/>
                <a:cs typeface="Times New Roman" panose="02020603050405020304" pitchFamily="18" charset="0"/>
              </a:rPr>
              <a:t>Probabilistic</a:t>
            </a:r>
          </a:p>
          <a:p>
            <a:pPr algn="ctr"/>
            <a:r>
              <a:rPr lang="en-US" altLang="zh-CN" sz="2400" dirty="0">
                <a:latin typeface="Times New Roman" panose="02020603050405020304" pitchFamily="18" charset="0"/>
                <a:cs typeface="Times New Roman" panose="02020603050405020304" pitchFamily="18" charset="0"/>
              </a:rPr>
              <a:t>Semantic-layer constraints</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411403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A3243-7642-5B09-1719-359BDB21E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467A0-50EB-12EB-D253-EC945AC32EDE}"/>
              </a:ext>
            </a:extLst>
          </p:cNvPr>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2.Background &amp;</a:t>
            </a:r>
            <a:r>
              <a:rPr lang="zh-CN" altLang="en-US" dirty="0">
                <a:ea typeface="Calibri" panose="020F0502020204030204" pitchFamily="34" charset="0"/>
                <a:cs typeface="Calibri" panose="020F0502020204030204" pitchFamily="34" charset="0"/>
              </a:rPr>
              <a:t> </a:t>
            </a:r>
            <a:r>
              <a:rPr lang="en-US" altLang="zh-CN" dirty="0">
                <a:ea typeface="Calibri" panose="020F0502020204030204" pitchFamily="34" charset="0"/>
                <a:cs typeface="Calibri" panose="020F0502020204030204" pitchFamily="34" charset="0"/>
              </a:rPr>
              <a:t>Motivation</a:t>
            </a:r>
            <a:r>
              <a:rPr lang="zh-CN" altLang="en-US" dirty="0">
                <a:ea typeface="Calibri" panose="020F0502020204030204" pitchFamily="34" charset="0"/>
                <a:cs typeface="Calibri" panose="020F0502020204030204" pitchFamily="34" charset="0"/>
              </a:rPr>
              <a:t> </a:t>
            </a:r>
            <a:r>
              <a:rPr lang="en-US" altLang="zh-CN" dirty="0">
                <a:ea typeface="Calibri" panose="020F0502020204030204" pitchFamily="34" charset="0"/>
                <a:cs typeface="Calibri" panose="020F0502020204030204" pitchFamily="34" charset="0"/>
              </a:rPr>
              <a:t>(4/4)</a:t>
            </a:r>
            <a:endParaRPr lang="en-US" dirty="0">
              <a:ea typeface="Calibri" panose="020F0502020204030204" pitchFamily="34" charset="0"/>
              <a:cs typeface="Calibri" panose="020F0502020204030204" pitchFamily="34" charset="0"/>
            </a:endParaRPr>
          </a:p>
        </p:txBody>
      </p:sp>
      <p:sp>
        <p:nvSpPr>
          <p:cNvPr id="4" name="灯片编号占位符 1">
            <a:extLst>
              <a:ext uri="{FF2B5EF4-FFF2-40B4-BE49-F238E27FC236}">
                <a16:creationId xmlns:a16="http://schemas.microsoft.com/office/drawing/2014/main" id="{055C50F6-B882-7631-886B-2E095CACA24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9</a:t>
            </a:fld>
            <a:endParaRPr lang="zh-TW" altLang="en-US"/>
          </a:p>
        </p:txBody>
      </p:sp>
      <p:sp>
        <p:nvSpPr>
          <p:cNvPr id="6" name="内容占位符 5">
            <a:extLst>
              <a:ext uri="{FF2B5EF4-FFF2-40B4-BE49-F238E27FC236}">
                <a16:creationId xmlns:a16="http://schemas.microsoft.com/office/drawing/2014/main" id="{EB853718-D7C7-F5C4-0F8A-A554896D638E}"/>
              </a:ext>
            </a:extLst>
          </p:cNvPr>
          <p:cNvSpPr>
            <a:spLocks noGrp="1"/>
          </p:cNvSpPr>
          <p:nvPr>
            <p:ph idx="1"/>
          </p:nvPr>
        </p:nvSpPr>
        <p:spPr>
          <a:xfrm>
            <a:off x="601770" y="1998840"/>
            <a:ext cx="10196370" cy="4859160"/>
          </a:xfrm>
        </p:spPr>
        <p:txBody>
          <a:bodyPr/>
          <a:lstStyle/>
          <a:p>
            <a:r>
              <a:rPr lang="en-US" altLang="zh-CN" sz="2400" dirty="0">
                <a:latin typeface="Times New Roman" panose="02020603050405020304" pitchFamily="18" charset="0"/>
                <a:cs typeface="Times New Roman" panose="02020603050405020304" pitchFamily="18" charset="0"/>
              </a:rPr>
              <a:t>The Roadmap to System-Level Isolation</a:t>
            </a:r>
          </a:p>
          <a:p>
            <a:pPr lvl="1"/>
            <a:r>
              <a:rPr lang="en-US" altLang="zh-CN" sz="2200" b="1" dirty="0">
                <a:latin typeface="Times New Roman" panose="02020603050405020304" pitchFamily="18" charset="0"/>
                <a:cs typeface="Times New Roman" panose="02020603050405020304" pitchFamily="18" charset="0"/>
              </a:rPr>
              <a:t>The Only Reliable Path</a:t>
            </a:r>
            <a:r>
              <a:rPr lang="en-US" altLang="zh-CN" sz="2200" dirty="0">
                <a:latin typeface="Times New Roman" panose="02020603050405020304" pitchFamily="18" charset="0"/>
                <a:cs typeface="Times New Roman" panose="02020603050405020304" pitchFamily="18" charset="0"/>
              </a:rPr>
              <a:t>: Mandatory constraints via OS-level mechanisms.</a:t>
            </a:r>
          </a:p>
          <a:p>
            <a:pPr lvl="1"/>
            <a:r>
              <a:rPr lang="en-US" altLang="zh-CN" sz="2200" b="1" dirty="0">
                <a:latin typeface="Times New Roman" panose="02020603050405020304" pitchFamily="18" charset="0"/>
                <a:cs typeface="Times New Roman" panose="02020603050405020304" pitchFamily="18" charset="0"/>
              </a:rPr>
              <a:t>Our Presentation Roadmap</a:t>
            </a:r>
            <a:r>
              <a:rPr lang="en-US" altLang="zh-CN" sz="2200" dirty="0">
                <a:latin typeface="Times New Roman" panose="02020603050405020304" pitchFamily="18" charset="0"/>
                <a:cs typeface="Times New Roman" panose="02020603050405020304" pitchFamily="18" charset="0"/>
              </a:rPr>
              <a:t>:</a:t>
            </a:r>
          </a:p>
          <a:p>
            <a:pPr lvl="2"/>
            <a:r>
              <a:rPr lang="en-US" altLang="zh-CN" sz="2200" b="1" dirty="0">
                <a:latin typeface="Times New Roman" panose="02020603050405020304" pitchFamily="18" charset="0"/>
                <a:cs typeface="Times New Roman" panose="02020603050405020304" pitchFamily="18" charset="0"/>
              </a:rPr>
              <a:t>Structure</a:t>
            </a:r>
            <a:r>
              <a:rPr lang="en-US" altLang="zh-CN" sz="2200" dirty="0">
                <a:latin typeface="Times New Roman" panose="02020603050405020304" pitchFamily="18" charset="0"/>
                <a:cs typeface="Times New Roman" panose="02020603050405020304" pitchFamily="18" charset="0"/>
              </a:rPr>
              <a:t>: Kernel Abstraction &amp; Sandboxing (AIOS). </a:t>
            </a:r>
          </a:p>
          <a:p>
            <a:pPr lvl="2"/>
            <a:r>
              <a:rPr lang="en-US" altLang="zh-CN" sz="2200" b="1" dirty="0">
                <a:latin typeface="Times New Roman" panose="02020603050405020304" pitchFamily="18" charset="0"/>
                <a:cs typeface="Times New Roman" panose="02020603050405020304" pitchFamily="18" charset="0"/>
              </a:rPr>
              <a:t>Visibility</a:t>
            </a:r>
            <a:r>
              <a:rPr lang="en-US" altLang="zh-CN" sz="2200" dirty="0">
                <a:latin typeface="Times New Roman" panose="02020603050405020304" pitchFamily="18" charset="0"/>
                <a:cs typeface="Times New Roman" panose="02020603050405020304" pitchFamily="18" charset="0"/>
              </a:rPr>
              <a:t>: Zero-Instrumentation Observability (</a:t>
            </a:r>
            <a:r>
              <a:rPr lang="en-US" altLang="zh-CN" sz="2200" dirty="0" err="1">
                <a:latin typeface="Times New Roman" panose="02020603050405020304" pitchFamily="18" charset="0"/>
                <a:cs typeface="Times New Roman" panose="02020603050405020304" pitchFamily="18" charset="0"/>
              </a:rPr>
              <a:t>AgentSight</a:t>
            </a:r>
            <a:r>
              <a:rPr lang="en-US" altLang="zh-CN" sz="2200" dirty="0">
                <a:latin typeface="Times New Roman" panose="02020603050405020304" pitchFamily="18" charset="0"/>
                <a:cs typeface="Times New Roman" panose="02020603050405020304" pitchFamily="18" charset="0"/>
              </a:rPr>
              <a:t>). </a:t>
            </a:r>
          </a:p>
          <a:p>
            <a:pPr lvl="2"/>
            <a:r>
              <a:rPr lang="en-US" altLang="zh-CN" sz="2200" b="1" dirty="0">
                <a:latin typeface="Times New Roman" panose="02020603050405020304" pitchFamily="18" charset="0"/>
                <a:cs typeface="Times New Roman" panose="02020603050405020304" pitchFamily="18" charset="0"/>
              </a:rPr>
              <a:t>Time</a:t>
            </a:r>
            <a:r>
              <a:rPr lang="en-US" altLang="zh-CN" sz="2200" dirty="0">
                <a:latin typeface="Times New Roman" panose="02020603050405020304" pitchFamily="18" charset="0"/>
                <a:cs typeface="Times New Roman" panose="02020603050405020304" pitchFamily="18" charset="0"/>
              </a:rPr>
              <a:t>: Lifecycle State-Machine Enforcement (Taming </a:t>
            </a:r>
            <a:r>
              <a:rPr lang="en-US" altLang="zh-CN" sz="2200" dirty="0" err="1">
                <a:latin typeface="Times New Roman" panose="02020603050405020304" pitchFamily="18" charset="0"/>
                <a:cs typeface="Times New Roman" panose="02020603050405020304" pitchFamily="18" charset="0"/>
              </a:rPr>
              <a:t>OpenClaw</a:t>
            </a:r>
            <a:r>
              <a:rPr lang="en-US" altLang="zh-CN" sz="2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56771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C45D6-8331-B745-469A-8F1419A4E9C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B04B422-300B-F6CA-A658-64D5D495EDCE}"/>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8DFCAB17-BB34-DBE6-8014-57E869CB2FBE}"/>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a:t>
            </a:r>
          </a:p>
          <a:p>
            <a:r>
              <a:rPr lang="en-US" altLang="zh-CN" sz="2933" dirty="0">
                <a:solidFill>
                  <a:srgbClr val="FF0000"/>
                </a:solidFill>
                <a:latin typeface="Times New Roman" panose="02020603050405020304" pitchFamily="18" charset="0"/>
                <a:cs typeface="Times New Roman" panose="02020603050405020304" pitchFamily="18" charset="0"/>
              </a:rPr>
              <a:t>Proposed Methods &amp; Performance Evaluation </a:t>
            </a:r>
          </a:p>
          <a:p>
            <a:pPr lvl="1"/>
            <a:r>
              <a:rPr lang="en-US" altLang="zh-CN" sz="2400" dirty="0">
                <a:solidFill>
                  <a:srgbClr val="FF0000"/>
                </a:solidFill>
                <a:latin typeface="Times New Roman" panose="02020603050405020304" pitchFamily="18" charset="0"/>
                <a:cs typeface="Times New Roman" panose="02020603050405020304" pitchFamily="18" charset="0"/>
              </a:rPr>
              <a:t>AIOS </a:t>
            </a:r>
          </a:p>
          <a:p>
            <a:pPr lvl="1"/>
            <a:r>
              <a:rPr lang="en-US" altLang="zh-CN" sz="2400" dirty="0" err="1">
                <a:solidFill>
                  <a:srgbClr val="FF0000"/>
                </a:solidFill>
                <a:latin typeface="Times New Roman" panose="02020603050405020304" pitchFamily="18" charset="0"/>
                <a:cs typeface="Times New Roman" panose="02020603050405020304" pitchFamily="18" charset="0"/>
              </a:rPr>
              <a:t>AgentSight</a:t>
            </a:r>
            <a:r>
              <a:rPr lang="en-US" altLang="zh-CN" sz="2400" dirty="0">
                <a:solidFill>
                  <a:srgbClr val="FF0000"/>
                </a:solidFill>
                <a:latin typeface="Times New Roman" panose="02020603050405020304" pitchFamily="18" charset="0"/>
                <a:cs typeface="Times New Roman" panose="02020603050405020304" pitchFamily="18" charset="0"/>
              </a:rPr>
              <a:t> </a:t>
            </a:r>
          </a:p>
          <a:p>
            <a:pPr lvl="1"/>
            <a:r>
              <a:rPr lang="en-US" altLang="zh-CN" sz="2400" dirty="0">
                <a:solidFill>
                  <a:srgbClr val="FF0000"/>
                </a:solidFill>
                <a:latin typeface="Times New Roman" panose="02020603050405020304" pitchFamily="18" charset="0"/>
                <a:cs typeface="Times New Roman" panose="02020603050405020304" pitchFamily="18" charset="0"/>
              </a:rPr>
              <a:t>Taming</a:t>
            </a:r>
            <a:r>
              <a:rPr lang="zh-CN" altLang="en-US" sz="2400" dirty="0">
                <a:solidFill>
                  <a:srgbClr val="FF0000"/>
                </a:solidFill>
                <a:latin typeface="Times New Roman" panose="02020603050405020304" pitchFamily="18" charset="0"/>
                <a:cs typeface="Times New Roman" panose="02020603050405020304" pitchFamily="18" charset="0"/>
              </a:rPr>
              <a:t> </a:t>
            </a:r>
            <a:r>
              <a:rPr lang="en-US" altLang="zh-CN" sz="2400" dirty="0" err="1">
                <a:solidFill>
                  <a:srgbClr val="FF0000"/>
                </a:solidFill>
                <a:latin typeface="Times New Roman" panose="02020603050405020304" pitchFamily="18" charset="0"/>
                <a:cs typeface="Times New Roman" panose="02020603050405020304" pitchFamily="18" charset="0"/>
              </a:rPr>
              <a:t>Openclaw</a:t>
            </a:r>
            <a:r>
              <a:rPr lang="en-US" altLang="zh-CN" sz="2400" dirty="0">
                <a:solidFill>
                  <a:srgbClr val="FF0000"/>
                </a:solidFill>
                <a:latin typeface="Times New Roman" panose="02020603050405020304" pitchFamily="18" charset="0"/>
                <a:cs typeface="Times New Roman" panose="02020603050405020304" pitchFamily="18" charset="0"/>
              </a:rPr>
              <a:t> </a:t>
            </a:r>
          </a:p>
          <a:p>
            <a:r>
              <a:rPr lang="en-US" altLang="zh-CN" sz="2933" dirty="0">
                <a:latin typeface="Times New Roman" panose="02020603050405020304" pitchFamily="18" charset="0"/>
                <a:cs typeface="Times New Roman" panose="02020603050405020304" pitchFamily="18" charset="0"/>
              </a:rPr>
              <a:t>Conclusions</a:t>
            </a:r>
          </a:p>
          <a:p>
            <a:r>
              <a:rPr lang="en-US" altLang="zh-CN" sz="2933" dirty="0">
                <a:latin typeface="Times New Roman" panose="02020603050405020304" pitchFamily="18" charset="0"/>
                <a:cs typeface="Times New Roman" panose="02020603050405020304" pitchFamily="18" charset="0"/>
              </a:rPr>
              <a:t>Q &amp; A</a:t>
            </a:r>
          </a:p>
        </p:txBody>
      </p:sp>
      <p:sp>
        <p:nvSpPr>
          <p:cNvPr id="5" name="灯片编号占位符 1">
            <a:extLst>
              <a:ext uri="{FF2B5EF4-FFF2-40B4-BE49-F238E27FC236}">
                <a16:creationId xmlns:a16="http://schemas.microsoft.com/office/drawing/2014/main" id="{0B261844-42A3-3657-C397-E21D068069D3}"/>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10</a:t>
            </a:fld>
            <a:endParaRPr lang="zh-TW" altLang="en-US"/>
          </a:p>
        </p:txBody>
      </p:sp>
    </p:spTree>
    <p:extLst>
      <p:ext uri="{BB962C8B-B14F-4D97-AF65-F5344CB8AC3E}">
        <p14:creationId xmlns:p14="http://schemas.microsoft.com/office/powerpoint/2010/main" val="911896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CC6EB-B41D-DC3F-937E-3AAC6DD5E13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A63F04B-3188-6F5F-6AF1-5F2DF3BB5C10}"/>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A4BD0799-0D6C-9407-91FF-AECA6D0F4231}"/>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a:t>
            </a:r>
          </a:p>
          <a:p>
            <a:r>
              <a:rPr lang="en-US" altLang="zh-CN" sz="2933" dirty="0">
                <a:latin typeface="Times New Roman" panose="02020603050405020304" pitchFamily="18" charset="0"/>
                <a:cs typeface="Times New Roman" panose="02020603050405020304" pitchFamily="18" charset="0"/>
              </a:rPr>
              <a:t>Proposed Methods &amp; Performance Evaluation </a:t>
            </a:r>
          </a:p>
          <a:p>
            <a:pPr lvl="1"/>
            <a:r>
              <a:rPr lang="en-US" altLang="zh-CN" sz="2400" dirty="0">
                <a:solidFill>
                  <a:srgbClr val="FF0000"/>
                </a:solidFill>
                <a:latin typeface="Times New Roman" panose="02020603050405020304" pitchFamily="18" charset="0"/>
                <a:cs typeface="Times New Roman" panose="02020603050405020304" pitchFamily="18" charset="0"/>
              </a:rPr>
              <a:t>AIOS </a:t>
            </a:r>
          </a:p>
          <a:p>
            <a:pPr lvl="1"/>
            <a:r>
              <a:rPr lang="en-US" altLang="zh-CN" sz="2400" dirty="0" err="1">
                <a:latin typeface="Times New Roman" panose="02020603050405020304" pitchFamily="18" charset="0"/>
                <a:cs typeface="Times New Roman" panose="02020603050405020304" pitchFamily="18" charset="0"/>
              </a:rPr>
              <a:t>AgentSight</a:t>
            </a:r>
            <a:r>
              <a:rPr lang="en-US" altLang="zh-CN" sz="2400" dirty="0">
                <a:latin typeface="Times New Roman" panose="02020603050405020304" pitchFamily="18" charset="0"/>
                <a:cs typeface="Times New Roman" panose="02020603050405020304" pitchFamily="18" charset="0"/>
              </a:rPr>
              <a:t> </a:t>
            </a:r>
          </a:p>
          <a:p>
            <a:pPr lvl="1"/>
            <a:r>
              <a:rPr lang="en-US" altLang="zh-CN" sz="2400" dirty="0">
                <a:latin typeface="Times New Roman" panose="02020603050405020304" pitchFamily="18" charset="0"/>
                <a:cs typeface="Times New Roman" panose="02020603050405020304" pitchFamily="18" charset="0"/>
              </a:rPr>
              <a:t>Taming</a:t>
            </a:r>
            <a:r>
              <a:rPr lang="zh-CN" altLang="en-US"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Openclaw</a:t>
            </a:r>
            <a:r>
              <a:rPr lang="en-US" altLang="zh-CN" sz="2400" dirty="0">
                <a:latin typeface="Times New Roman" panose="02020603050405020304" pitchFamily="18" charset="0"/>
                <a:cs typeface="Times New Roman" panose="02020603050405020304" pitchFamily="18" charset="0"/>
              </a:rPr>
              <a:t> </a:t>
            </a:r>
          </a:p>
          <a:p>
            <a:r>
              <a:rPr lang="en-US" altLang="zh-CN" sz="2933" dirty="0">
                <a:latin typeface="Times New Roman" panose="02020603050405020304" pitchFamily="18" charset="0"/>
                <a:cs typeface="Times New Roman" panose="02020603050405020304" pitchFamily="18" charset="0"/>
              </a:rPr>
              <a:t>Conclusions</a:t>
            </a:r>
          </a:p>
          <a:p>
            <a:r>
              <a:rPr lang="en-US" altLang="zh-CN" sz="2933" dirty="0">
                <a:latin typeface="Times New Roman" panose="02020603050405020304" pitchFamily="18" charset="0"/>
                <a:cs typeface="Times New Roman" panose="02020603050405020304" pitchFamily="18" charset="0"/>
              </a:rPr>
              <a:t>Q &amp; A </a:t>
            </a:r>
          </a:p>
        </p:txBody>
      </p:sp>
      <p:sp>
        <p:nvSpPr>
          <p:cNvPr id="5" name="灯片编号占位符 1">
            <a:extLst>
              <a:ext uri="{FF2B5EF4-FFF2-40B4-BE49-F238E27FC236}">
                <a16:creationId xmlns:a16="http://schemas.microsoft.com/office/drawing/2014/main" id="{7824392E-A3F4-BED8-E813-5B074A26A38C}"/>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11</a:t>
            </a:fld>
            <a:endParaRPr lang="zh-TW" altLang="en-US"/>
          </a:p>
        </p:txBody>
      </p:sp>
      <p:pic>
        <p:nvPicPr>
          <p:cNvPr id="4" name="图片 3">
            <a:extLst>
              <a:ext uri="{FF2B5EF4-FFF2-40B4-BE49-F238E27FC236}">
                <a16:creationId xmlns:a16="http://schemas.microsoft.com/office/drawing/2014/main" id="{F915E183-1D05-2DFB-0D79-C3BEF653A73D}"/>
              </a:ext>
            </a:extLst>
          </p:cNvPr>
          <p:cNvPicPr>
            <a:picLocks noChangeAspect="1"/>
          </p:cNvPicPr>
          <p:nvPr/>
        </p:nvPicPr>
        <p:blipFill>
          <a:blip r:embed="rId3"/>
          <a:stretch>
            <a:fillRect/>
          </a:stretch>
        </p:blipFill>
        <p:spPr>
          <a:xfrm>
            <a:off x="4822531" y="2950443"/>
            <a:ext cx="6863753" cy="2893543"/>
          </a:xfrm>
          <a:prstGeom prst="rect">
            <a:avLst/>
          </a:prstGeom>
          <a:ln w="57150">
            <a:solidFill>
              <a:srgbClr val="7030A0"/>
            </a:solidFill>
          </a:ln>
        </p:spPr>
      </p:pic>
    </p:spTree>
    <p:extLst>
      <p:ext uri="{BB962C8B-B14F-4D97-AF65-F5344CB8AC3E}">
        <p14:creationId xmlns:p14="http://schemas.microsoft.com/office/powerpoint/2010/main" val="268106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292BA713-1212-9124-1D85-5E2CD0D70F29}"/>
              </a:ext>
            </a:extLst>
          </p:cNvPr>
          <p:cNvPicPr>
            <a:picLocks noChangeAspect="1"/>
          </p:cNvPicPr>
          <p:nvPr/>
        </p:nvPicPr>
        <p:blipFill>
          <a:blip r:embed="rId3"/>
          <a:srcRect b="18366"/>
          <a:stretch>
            <a:fillRect/>
          </a:stretch>
        </p:blipFill>
        <p:spPr>
          <a:xfrm>
            <a:off x="5221856" y="1796299"/>
            <a:ext cx="6853719" cy="3543177"/>
          </a:xfrm>
          <a:prstGeom prst="rect">
            <a:avLst/>
          </a:prstGeom>
        </p:spPr>
      </p:pic>
      <p:sp>
        <p:nvSpPr>
          <p:cNvPr id="5" name="标题 4">
            <a:extLst>
              <a:ext uri="{FF2B5EF4-FFF2-40B4-BE49-F238E27FC236}">
                <a16:creationId xmlns:a16="http://schemas.microsoft.com/office/drawing/2014/main" id="{D337A3A8-A18E-BA84-C43F-B25DFE84EE7B}"/>
              </a:ext>
            </a:extLst>
          </p:cNvPr>
          <p:cNvSpPr>
            <a:spLocks noGrp="1"/>
          </p:cNvSpPr>
          <p:nvPr>
            <p:ph type="title"/>
          </p:nvPr>
        </p:nvSpPr>
        <p:spPr/>
        <p:txBody>
          <a:bodyPr/>
          <a:lstStyle/>
          <a:p>
            <a:r>
              <a:rPr lang="en-US" altLang="zh-CN" dirty="0"/>
              <a:t>3.1</a:t>
            </a:r>
            <a:r>
              <a:rPr lang="zh-CN" altLang="en-US" dirty="0"/>
              <a:t> </a:t>
            </a:r>
            <a:r>
              <a:rPr lang="en-US" altLang="zh-CN" dirty="0"/>
              <a:t>AIOS (1/3)</a:t>
            </a:r>
            <a:endParaRPr lang="zh-CN" altLang="en-US" dirty="0"/>
          </a:p>
        </p:txBody>
      </p:sp>
      <p:sp>
        <p:nvSpPr>
          <p:cNvPr id="4" name="灯片编号占位符 3">
            <a:extLst>
              <a:ext uri="{FF2B5EF4-FFF2-40B4-BE49-F238E27FC236}">
                <a16:creationId xmlns:a16="http://schemas.microsoft.com/office/drawing/2014/main" id="{4EC4D0DB-67CF-0B9C-BF5F-9682768896ED}"/>
              </a:ext>
            </a:extLst>
          </p:cNvPr>
          <p:cNvSpPr>
            <a:spLocks noGrp="1"/>
          </p:cNvSpPr>
          <p:nvPr>
            <p:ph type="sldNum" sz="quarter" idx="10"/>
          </p:nvPr>
        </p:nvSpPr>
        <p:spPr/>
        <p:txBody>
          <a:bodyPr/>
          <a:lstStyle/>
          <a:p>
            <a:fld id="{D9B6BDF2-6896-4B98-8776-C18582F63BA5}" type="slidenum">
              <a:rPr lang="zh-TW" altLang="en-US" smtClean="0"/>
              <a:pPr/>
              <a:t>12</a:t>
            </a:fld>
            <a:endParaRPr lang="zh-TW" altLang="en-US"/>
          </a:p>
        </p:txBody>
      </p:sp>
      <p:sp>
        <p:nvSpPr>
          <p:cNvPr id="9" name="内容占位符 5">
            <a:extLst>
              <a:ext uri="{FF2B5EF4-FFF2-40B4-BE49-F238E27FC236}">
                <a16:creationId xmlns:a16="http://schemas.microsoft.com/office/drawing/2014/main" id="{DFC22260-1939-BED1-CE2F-50645A3E627F}"/>
              </a:ext>
            </a:extLst>
          </p:cNvPr>
          <p:cNvSpPr txBox="1">
            <a:spLocks/>
          </p:cNvSpPr>
          <p:nvPr/>
        </p:nvSpPr>
        <p:spPr bwMode="auto">
          <a:xfrm>
            <a:off x="171221" y="1369720"/>
            <a:ext cx="5924779" cy="19104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Current</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Flaws</a:t>
            </a:r>
          </a:p>
          <a:p>
            <a:pPr lvl="1"/>
            <a:r>
              <a:rPr lang="en-US" altLang="zh-CN" sz="2200" kern="0" dirty="0">
                <a:latin typeface="Times New Roman" panose="02020603050405020304" pitchFamily="18" charset="0"/>
                <a:cs typeface="Times New Roman" panose="02020603050405020304" pitchFamily="18" charset="0"/>
              </a:rPr>
              <a:t>Resource Contention</a:t>
            </a:r>
          </a:p>
          <a:p>
            <a:pPr lvl="1"/>
            <a:r>
              <a:rPr lang="en-US" altLang="zh-CN" sz="2200" kern="0" dirty="0">
                <a:latin typeface="Times New Roman" panose="02020603050405020304" pitchFamily="18" charset="0"/>
                <a:cs typeface="Times New Roman" panose="02020603050405020304" pitchFamily="18" charset="0"/>
              </a:rPr>
              <a:t>Direct Access</a:t>
            </a:r>
          </a:p>
          <a:p>
            <a:pPr lvl="1"/>
            <a:r>
              <a:rPr lang="en-US" altLang="zh-CN" sz="2200" kern="0" dirty="0">
                <a:latin typeface="Times New Roman" panose="02020603050405020304" pitchFamily="18" charset="0"/>
                <a:cs typeface="Times New Roman" panose="02020603050405020304" pitchFamily="18" charset="0"/>
              </a:rPr>
              <a:t>No Arbitration</a:t>
            </a:r>
          </a:p>
          <a:p>
            <a:pPr lvl="1"/>
            <a:endParaRPr lang="en-US" altLang="zh-CN" sz="1467" kern="0" dirty="0">
              <a:latin typeface="Times New Roman" panose="02020603050405020304" pitchFamily="18" charset="0"/>
              <a:cs typeface="Times New Roman" panose="02020603050405020304" pitchFamily="18" charset="0"/>
            </a:endParaRPr>
          </a:p>
        </p:txBody>
      </p:sp>
      <p:sp>
        <p:nvSpPr>
          <p:cNvPr id="6" name="内容占位符 5">
            <a:extLst>
              <a:ext uri="{FF2B5EF4-FFF2-40B4-BE49-F238E27FC236}">
                <a16:creationId xmlns:a16="http://schemas.microsoft.com/office/drawing/2014/main" id="{55C812DB-0660-4400-E461-E4C1E6C2F42F}"/>
              </a:ext>
            </a:extLst>
          </p:cNvPr>
          <p:cNvSpPr txBox="1">
            <a:spLocks/>
          </p:cNvSpPr>
          <p:nvPr/>
        </p:nvSpPr>
        <p:spPr bwMode="auto">
          <a:xfrm>
            <a:off x="178070" y="3429000"/>
            <a:ext cx="5164492" cy="19104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Kernel</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Architectures</a:t>
            </a:r>
          </a:p>
          <a:p>
            <a:pPr lvl="1"/>
            <a:r>
              <a:rPr lang="en-US" altLang="zh-CN" sz="2200" b="1" kern="0" dirty="0">
                <a:latin typeface="Times New Roman" panose="02020603050405020304" pitchFamily="18" charset="0"/>
                <a:cs typeface="Times New Roman" panose="02020603050405020304" pitchFamily="18" charset="0"/>
              </a:rPr>
              <a:t>Core Mechanism</a:t>
            </a:r>
            <a:r>
              <a:rPr lang="en-US" altLang="zh-CN" sz="2200"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LLM System Calls</a:t>
            </a:r>
            <a:r>
              <a:rPr lang="zh-CN" altLang="en-US" sz="2000" b="1" kern="0" dirty="0">
                <a:latin typeface="Times New Roman" panose="02020603050405020304" pitchFamily="18" charset="0"/>
                <a:cs typeface="Times New Roman" panose="02020603050405020304" pitchFamily="18" charset="0"/>
              </a:rPr>
              <a:t> </a:t>
            </a:r>
            <a:endParaRPr lang="en-US" altLang="zh-CN" sz="2000" b="1" kern="0" dirty="0">
              <a:latin typeface="Times New Roman" panose="02020603050405020304" pitchFamily="18" charset="0"/>
              <a:cs typeface="Times New Roman" panose="02020603050405020304" pitchFamily="18" charset="0"/>
            </a:endParaRPr>
          </a:p>
          <a:p>
            <a:pPr lvl="2"/>
            <a:r>
              <a:rPr lang="en-US" altLang="zh-CN" sz="2000" kern="0" dirty="0">
                <a:latin typeface="Times New Roman" panose="02020603050405020304" pitchFamily="18" charset="0"/>
                <a:cs typeface="Times New Roman" panose="02020603050405020304" pitchFamily="18" charset="0"/>
              </a:rPr>
              <a:t>Agents lose direct execution rights.</a:t>
            </a:r>
          </a:p>
          <a:p>
            <a:pPr lvl="2"/>
            <a:r>
              <a:rPr lang="en-US" altLang="zh-CN" sz="2000" kern="0" dirty="0">
                <a:latin typeface="Times New Roman" panose="02020603050405020304" pitchFamily="18" charset="0"/>
                <a:cs typeface="Times New Roman" panose="02020603050405020304" pitchFamily="18" charset="0"/>
              </a:rPr>
              <a:t>All underlying interactions must pass through the AIOS SDK</a:t>
            </a:r>
            <a:r>
              <a:rPr lang="en-US" altLang="zh-CN" sz="2200" kern="0" dirty="0">
                <a:latin typeface="Times New Roman" panose="02020603050405020304" pitchFamily="18" charset="0"/>
                <a:cs typeface="Times New Roman" panose="02020603050405020304" pitchFamily="18" charset="0"/>
              </a:rPr>
              <a:t>.</a:t>
            </a:r>
          </a:p>
        </p:txBody>
      </p:sp>
      <p:sp>
        <p:nvSpPr>
          <p:cNvPr id="11" name="文本框 10">
            <a:extLst>
              <a:ext uri="{FF2B5EF4-FFF2-40B4-BE49-F238E27FC236}">
                <a16:creationId xmlns:a16="http://schemas.microsoft.com/office/drawing/2014/main" id="{AD1E55C2-32A6-BD55-4698-BC933832006D}"/>
              </a:ext>
            </a:extLst>
          </p:cNvPr>
          <p:cNvSpPr txBox="1"/>
          <p:nvPr/>
        </p:nvSpPr>
        <p:spPr>
          <a:xfrm>
            <a:off x="4437618" y="1079087"/>
            <a:ext cx="7515199" cy="1046440"/>
          </a:xfrm>
          <a:prstGeom prst="rect">
            <a:avLst/>
          </a:prstGeom>
          <a:noFill/>
        </p:spPr>
        <p:txBody>
          <a:bodyPr wrap="none" rtlCol="0" anchor="ctr" anchorCtr="1">
            <a:spAutoFit/>
          </a:bodyPr>
          <a:lstStyle/>
          <a:p>
            <a:pPr lvl="1" algn="ctr"/>
            <a:r>
              <a:rPr lang="en-US" altLang="zh-CN" sz="2200" b="1" kern="0" dirty="0">
                <a:latin typeface="Times New Roman" panose="02020603050405020304" pitchFamily="18" charset="0"/>
                <a:cs typeface="Times New Roman" panose="02020603050405020304" pitchFamily="18" charset="0"/>
              </a:rPr>
              <a:t>Three-Layer Design</a:t>
            </a:r>
            <a:endParaRPr lang="en-US" altLang="zh-CN" sz="2200" kern="0" dirty="0">
              <a:latin typeface="Times New Roman" panose="02020603050405020304" pitchFamily="18" charset="0"/>
              <a:cs typeface="Times New Roman" panose="02020603050405020304" pitchFamily="18" charset="0"/>
            </a:endParaRPr>
          </a:p>
          <a:p>
            <a:pPr marL="914354" lvl="2" indent="0">
              <a:buNone/>
            </a:pPr>
            <a:r>
              <a:rPr lang="en-US" altLang="zh-CN" sz="2000" kern="0" dirty="0">
                <a:latin typeface="Times New Roman" panose="02020603050405020304" pitchFamily="18" charset="0"/>
                <a:cs typeface="Times New Roman" panose="02020603050405020304" pitchFamily="18" charset="0"/>
              </a:rPr>
              <a:t>Application Layer →</a:t>
            </a:r>
            <a:r>
              <a:rPr lang="zh-CN" altLang="en-US" sz="2000" kern="0" dirty="0">
                <a:latin typeface="Times New Roman" panose="02020603050405020304" pitchFamily="18" charset="0"/>
                <a:cs typeface="Times New Roman" panose="02020603050405020304" pitchFamily="18" charset="0"/>
              </a:rPr>
              <a:t> </a:t>
            </a:r>
            <a:r>
              <a:rPr lang="en-US" altLang="zh-CN" sz="2000" kern="0" dirty="0">
                <a:latin typeface="Times New Roman" panose="02020603050405020304" pitchFamily="18" charset="0"/>
                <a:cs typeface="Times New Roman" panose="02020603050405020304" pitchFamily="18" charset="0"/>
              </a:rPr>
              <a:t>AIOS Kernel Layer → Hardware Layer</a:t>
            </a:r>
            <a:r>
              <a:rPr lang="en-US" altLang="zh-CN" sz="2200" kern="0" dirty="0">
                <a:latin typeface="Times New Roman" panose="02020603050405020304" pitchFamily="18" charset="0"/>
                <a:cs typeface="Times New Roman" panose="02020603050405020304" pitchFamily="18" charset="0"/>
              </a:rPr>
              <a:t>.</a:t>
            </a:r>
          </a:p>
          <a:p>
            <a:endParaRPr kumimoji="1" lang="zh-CN" altLang="en-US" dirty="0">
              <a:ea typeface="標楷體" pitchFamily="65" charset="-120"/>
              <a:cs typeface="Calibri" pitchFamily="34" charset="0"/>
            </a:endParaRPr>
          </a:p>
        </p:txBody>
      </p:sp>
      <p:sp>
        <p:nvSpPr>
          <p:cNvPr id="2" name="文本框 1">
            <a:extLst>
              <a:ext uri="{FF2B5EF4-FFF2-40B4-BE49-F238E27FC236}">
                <a16:creationId xmlns:a16="http://schemas.microsoft.com/office/drawing/2014/main" id="{5A3F5703-6858-52BF-E69B-C3CAEE9051FA}"/>
              </a:ext>
            </a:extLst>
          </p:cNvPr>
          <p:cNvSpPr txBox="1"/>
          <p:nvPr/>
        </p:nvSpPr>
        <p:spPr>
          <a:xfrm>
            <a:off x="5221856" y="5531942"/>
            <a:ext cx="6507422" cy="400110"/>
          </a:xfrm>
          <a:prstGeom prst="rect">
            <a:avLst/>
          </a:prstGeom>
          <a:noFill/>
        </p:spPr>
        <p:txBody>
          <a:bodyPr wrap="non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2.</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An</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overview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of</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the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AIOS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architecture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of</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distinct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layers</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57511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ADB11-01A2-DC88-4546-95FED5AE52CC}"/>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19F62EA0-8E5D-E32B-7F93-E7BCCD95A8E2}"/>
              </a:ext>
            </a:extLst>
          </p:cNvPr>
          <p:cNvPicPr>
            <a:picLocks noChangeAspect="1"/>
          </p:cNvPicPr>
          <p:nvPr/>
        </p:nvPicPr>
        <p:blipFill>
          <a:blip r:embed="rId3"/>
          <a:srcRect b="14689"/>
          <a:stretch>
            <a:fillRect/>
          </a:stretch>
        </p:blipFill>
        <p:spPr>
          <a:xfrm>
            <a:off x="3835777" y="1068364"/>
            <a:ext cx="8356223" cy="4224853"/>
          </a:xfrm>
          <a:prstGeom prst="rect">
            <a:avLst/>
          </a:prstGeom>
        </p:spPr>
      </p:pic>
      <p:sp>
        <p:nvSpPr>
          <p:cNvPr id="5" name="标题 4">
            <a:extLst>
              <a:ext uri="{FF2B5EF4-FFF2-40B4-BE49-F238E27FC236}">
                <a16:creationId xmlns:a16="http://schemas.microsoft.com/office/drawing/2014/main" id="{4653DDD8-B39B-3D16-F31D-1AC76DED6489}"/>
              </a:ext>
            </a:extLst>
          </p:cNvPr>
          <p:cNvSpPr>
            <a:spLocks noGrp="1"/>
          </p:cNvSpPr>
          <p:nvPr>
            <p:ph type="title"/>
          </p:nvPr>
        </p:nvSpPr>
        <p:spPr/>
        <p:txBody>
          <a:bodyPr/>
          <a:lstStyle/>
          <a:p>
            <a:r>
              <a:rPr lang="en-US" altLang="zh-CN" dirty="0"/>
              <a:t>3.1</a:t>
            </a:r>
            <a:r>
              <a:rPr lang="zh-CN" altLang="en-US" dirty="0"/>
              <a:t> </a:t>
            </a:r>
            <a:r>
              <a:rPr lang="en-US" altLang="zh-CN" dirty="0"/>
              <a:t>AIOS (2/3)</a:t>
            </a:r>
            <a:endParaRPr lang="zh-CN" altLang="en-US" dirty="0"/>
          </a:p>
        </p:txBody>
      </p:sp>
      <p:sp>
        <p:nvSpPr>
          <p:cNvPr id="4" name="灯片编号占位符 3">
            <a:extLst>
              <a:ext uri="{FF2B5EF4-FFF2-40B4-BE49-F238E27FC236}">
                <a16:creationId xmlns:a16="http://schemas.microsoft.com/office/drawing/2014/main" id="{E943CA12-56CE-EDA7-0364-23584FF18520}"/>
              </a:ext>
            </a:extLst>
          </p:cNvPr>
          <p:cNvSpPr>
            <a:spLocks noGrp="1"/>
          </p:cNvSpPr>
          <p:nvPr>
            <p:ph type="sldNum" sz="quarter" idx="10"/>
          </p:nvPr>
        </p:nvSpPr>
        <p:spPr/>
        <p:txBody>
          <a:bodyPr/>
          <a:lstStyle/>
          <a:p>
            <a:fld id="{D9B6BDF2-6896-4B98-8776-C18582F63BA5}" type="slidenum">
              <a:rPr lang="zh-TW" altLang="en-US" smtClean="0"/>
              <a:pPr/>
              <a:t>13</a:t>
            </a:fld>
            <a:endParaRPr lang="zh-TW" altLang="en-US"/>
          </a:p>
        </p:txBody>
      </p:sp>
      <p:sp>
        <p:nvSpPr>
          <p:cNvPr id="9" name="内容占位符 5">
            <a:extLst>
              <a:ext uri="{FF2B5EF4-FFF2-40B4-BE49-F238E27FC236}">
                <a16:creationId xmlns:a16="http://schemas.microsoft.com/office/drawing/2014/main" id="{D259AEE1-851C-D078-F845-51D2F526CA7D}"/>
              </a:ext>
            </a:extLst>
          </p:cNvPr>
          <p:cNvSpPr txBox="1">
            <a:spLocks/>
          </p:cNvSpPr>
          <p:nvPr/>
        </p:nvSpPr>
        <p:spPr bwMode="auto">
          <a:xfrm>
            <a:off x="171221" y="1313212"/>
            <a:ext cx="5924779" cy="19104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Kernel</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Layer</a:t>
            </a:r>
          </a:p>
          <a:p>
            <a:pPr lvl="1"/>
            <a:r>
              <a:rPr lang="en-US" altLang="zh-CN" sz="2200" kern="0" dirty="0">
                <a:latin typeface="Times New Roman" panose="02020603050405020304" pitchFamily="18" charset="0"/>
                <a:cs typeface="Times New Roman" panose="02020603050405020304" pitchFamily="18" charset="0"/>
              </a:rPr>
              <a:t>Agent</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Scheduler</a:t>
            </a:r>
          </a:p>
          <a:p>
            <a:pPr lvl="1"/>
            <a:r>
              <a:rPr lang="en-US" altLang="zh-CN" sz="2200" kern="0" dirty="0">
                <a:latin typeface="Times New Roman" panose="02020603050405020304" pitchFamily="18" charset="0"/>
                <a:cs typeface="Times New Roman" panose="02020603050405020304" pitchFamily="18" charset="0"/>
              </a:rPr>
              <a:t>Context</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Manager</a:t>
            </a:r>
          </a:p>
          <a:p>
            <a:pPr lvl="1"/>
            <a:r>
              <a:rPr lang="en-US" altLang="zh-CN" sz="2200" kern="0" dirty="0">
                <a:latin typeface="Times New Roman" panose="02020603050405020304" pitchFamily="18" charset="0"/>
                <a:cs typeface="Times New Roman" panose="02020603050405020304" pitchFamily="18" charset="0"/>
              </a:rPr>
              <a:t>Memory</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&amp;</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Storage</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Manager</a:t>
            </a:r>
          </a:p>
          <a:p>
            <a:pPr lvl="1"/>
            <a:r>
              <a:rPr lang="en-US" altLang="zh-CN" sz="2200" kern="0" dirty="0">
                <a:latin typeface="Times New Roman" panose="02020603050405020304" pitchFamily="18" charset="0"/>
                <a:cs typeface="Times New Roman" panose="02020603050405020304" pitchFamily="18" charset="0"/>
              </a:rPr>
              <a:t>Tool</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&amp;</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Access</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Manager</a:t>
            </a:r>
          </a:p>
          <a:p>
            <a:pPr lvl="1"/>
            <a:endParaRPr lang="en-US" altLang="zh-CN" sz="1467" kern="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BFB4FFF3-A153-7751-579F-7E50E3D94667}"/>
              </a:ext>
            </a:extLst>
          </p:cNvPr>
          <p:cNvSpPr txBox="1"/>
          <p:nvPr/>
        </p:nvSpPr>
        <p:spPr>
          <a:xfrm>
            <a:off x="4501404" y="5293217"/>
            <a:ext cx="6832003" cy="707886"/>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3.</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How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agent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queries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are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decomposed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into</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AIOS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system</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calls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and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how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AIOS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system</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calls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are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dispatched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and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scheduled</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2926557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FF28E-AFB2-315E-A0D9-939350D60EE0}"/>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FE5A8245-1DF7-18A9-7E0A-0A12FB67F57F}"/>
              </a:ext>
            </a:extLst>
          </p:cNvPr>
          <p:cNvPicPr>
            <a:picLocks noChangeAspect="1"/>
          </p:cNvPicPr>
          <p:nvPr/>
        </p:nvPicPr>
        <p:blipFill>
          <a:blip r:embed="rId3"/>
          <a:srcRect b="14689"/>
          <a:stretch>
            <a:fillRect/>
          </a:stretch>
        </p:blipFill>
        <p:spPr>
          <a:xfrm>
            <a:off x="3835777" y="1068364"/>
            <a:ext cx="8356223" cy="4224853"/>
          </a:xfrm>
          <a:prstGeom prst="rect">
            <a:avLst/>
          </a:prstGeom>
        </p:spPr>
      </p:pic>
      <p:sp>
        <p:nvSpPr>
          <p:cNvPr id="7" name="文本框 6">
            <a:extLst>
              <a:ext uri="{FF2B5EF4-FFF2-40B4-BE49-F238E27FC236}">
                <a16:creationId xmlns:a16="http://schemas.microsoft.com/office/drawing/2014/main" id="{05A074CB-BF2E-7025-12F4-32FE16C51649}"/>
              </a:ext>
            </a:extLst>
          </p:cNvPr>
          <p:cNvSpPr txBox="1"/>
          <p:nvPr/>
        </p:nvSpPr>
        <p:spPr>
          <a:xfrm>
            <a:off x="4501404" y="5293217"/>
            <a:ext cx="6832003" cy="707886"/>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3.</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How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agent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queries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are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decomposed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into</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AIOS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system</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calls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and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how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AIOS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system</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calls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are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dispatched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and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scheduled</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
        <p:nvSpPr>
          <p:cNvPr id="5" name="标题 4">
            <a:extLst>
              <a:ext uri="{FF2B5EF4-FFF2-40B4-BE49-F238E27FC236}">
                <a16:creationId xmlns:a16="http://schemas.microsoft.com/office/drawing/2014/main" id="{CFB65125-392A-3EAA-8BC1-C31275BE6CF5}"/>
              </a:ext>
            </a:extLst>
          </p:cNvPr>
          <p:cNvSpPr>
            <a:spLocks noGrp="1"/>
          </p:cNvSpPr>
          <p:nvPr>
            <p:ph type="title"/>
          </p:nvPr>
        </p:nvSpPr>
        <p:spPr/>
        <p:txBody>
          <a:bodyPr/>
          <a:lstStyle/>
          <a:p>
            <a:r>
              <a:rPr lang="en-US" altLang="zh-CN" dirty="0"/>
              <a:t>3.1</a:t>
            </a:r>
            <a:r>
              <a:rPr lang="zh-CN" altLang="en-US" dirty="0"/>
              <a:t> </a:t>
            </a:r>
            <a:r>
              <a:rPr lang="en-US" altLang="zh-CN" dirty="0"/>
              <a:t>AIOS (2/3)</a:t>
            </a:r>
            <a:endParaRPr lang="zh-CN" altLang="en-US" dirty="0"/>
          </a:p>
        </p:txBody>
      </p:sp>
      <p:sp>
        <p:nvSpPr>
          <p:cNvPr id="4" name="灯片编号占位符 3">
            <a:extLst>
              <a:ext uri="{FF2B5EF4-FFF2-40B4-BE49-F238E27FC236}">
                <a16:creationId xmlns:a16="http://schemas.microsoft.com/office/drawing/2014/main" id="{84AE8027-DA6A-768B-EBD3-5DAEA1908522}"/>
              </a:ext>
            </a:extLst>
          </p:cNvPr>
          <p:cNvSpPr>
            <a:spLocks noGrp="1"/>
          </p:cNvSpPr>
          <p:nvPr>
            <p:ph type="sldNum" sz="quarter" idx="10"/>
          </p:nvPr>
        </p:nvSpPr>
        <p:spPr/>
        <p:txBody>
          <a:bodyPr/>
          <a:lstStyle/>
          <a:p>
            <a:fld id="{D9B6BDF2-6896-4B98-8776-C18582F63BA5}" type="slidenum">
              <a:rPr lang="zh-TW" altLang="en-US" smtClean="0"/>
              <a:pPr/>
              <a:t>14</a:t>
            </a:fld>
            <a:endParaRPr lang="zh-TW" altLang="en-US"/>
          </a:p>
        </p:txBody>
      </p:sp>
      <p:sp>
        <p:nvSpPr>
          <p:cNvPr id="9" name="内容占位符 5">
            <a:extLst>
              <a:ext uri="{FF2B5EF4-FFF2-40B4-BE49-F238E27FC236}">
                <a16:creationId xmlns:a16="http://schemas.microsoft.com/office/drawing/2014/main" id="{D1698620-714C-A35C-3DF0-97D229F73D0A}"/>
              </a:ext>
            </a:extLst>
          </p:cNvPr>
          <p:cNvSpPr txBox="1">
            <a:spLocks/>
          </p:cNvSpPr>
          <p:nvPr/>
        </p:nvSpPr>
        <p:spPr bwMode="auto">
          <a:xfrm>
            <a:off x="171222" y="1313212"/>
            <a:ext cx="4251804" cy="19104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Kernel</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Layer</a:t>
            </a:r>
          </a:p>
          <a:p>
            <a:pPr lvl="1"/>
            <a:r>
              <a:rPr lang="en-US" altLang="zh-CN" sz="2200" b="1" kern="0" dirty="0">
                <a:latin typeface="Times New Roman" panose="02020603050405020304" pitchFamily="18" charset="0"/>
                <a:cs typeface="Times New Roman" panose="02020603050405020304" pitchFamily="18" charset="0"/>
              </a:rPr>
              <a:t>Agent</a:t>
            </a:r>
            <a:r>
              <a:rPr lang="zh-CN" altLang="en-US" sz="2200" b="1" kern="0" dirty="0">
                <a:latin typeface="Times New Roman" panose="02020603050405020304" pitchFamily="18" charset="0"/>
                <a:cs typeface="Times New Roman" panose="02020603050405020304" pitchFamily="18" charset="0"/>
              </a:rPr>
              <a:t> </a:t>
            </a:r>
            <a:r>
              <a:rPr lang="en-US" altLang="zh-CN" sz="2200" b="1" kern="0" dirty="0">
                <a:latin typeface="Times New Roman" panose="02020603050405020304" pitchFamily="18" charset="0"/>
                <a:cs typeface="Times New Roman" panose="02020603050405020304" pitchFamily="18" charset="0"/>
              </a:rPr>
              <a:t>Scheduler</a:t>
            </a:r>
          </a:p>
          <a:p>
            <a:pPr marL="914354" lvl="2" indent="0">
              <a:buNone/>
            </a:pPr>
            <a:r>
              <a:rPr lang="en-US" altLang="zh-CN" sz="2000" kern="0" dirty="0">
                <a:latin typeface="Times New Roman" panose="02020603050405020304" pitchFamily="18" charset="0"/>
                <a:cs typeface="Times New Roman" panose="02020603050405020304" pitchFamily="18" charset="0"/>
              </a:rPr>
              <a:t>Manages</a:t>
            </a:r>
            <a:r>
              <a:rPr lang="zh-CN" altLang="en-US" sz="2000" kern="0" dirty="0">
                <a:latin typeface="Times New Roman" panose="02020603050405020304" pitchFamily="18" charset="0"/>
                <a:cs typeface="Times New Roman" panose="02020603050405020304" pitchFamily="18" charset="0"/>
              </a:rPr>
              <a:t> </a:t>
            </a:r>
            <a:r>
              <a:rPr lang="en-US" altLang="zh-CN" sz="2000" kern="0" dirty="0">
                <a:latin typeface="Times New Roman" panose="02020603050405020304" pitchFamily="18" charset="0"/>
                <a:cs typeface="Times New Roman" panose="02020603050405020304" pitchFamily="18" charset="0"/>
              </a:rPr>
              <a:t>concurrent</a:t>
            </a:r>
            <a:r>
              <a:rPr lang="zh-CN" altLang="en-US" sz="2000" kern="0" dirty="0">
                <a:latin typeface="Times New Roman" panose="02020603050405020304" pitchFamily="18" charset="0"/>
                <a:cs typeface="Times New Roman" panose="02020603050405020304" pitchFamily="18" charset="0"/>
              </a:rPr>
              <a:t> </a:t>
            </a:r>
            <a:r>
              <a:rPr lang="en-US" altLang="zh-CN" sz="2000" kern="0" dirty="0">
                <a:latin typeface="Times New Roman" panose="02020603050405020304" pitchFamily="18" charset="0"/>
                <a:cs typeface="Times New Roman" panose="02020603050405020304" pitchFamily="18" charset="0"/>
              </a:rPr>
              <a:t>execution</a:t>
            </a:r>
            <a:r>
              <a:rPr lang="zh-CN" altLang="en-US" sz="2000" kern="0" dirty="0">
                <a:latin typeface="Times New Roman" panose="02020603050405020304" pitchFamily="18" charset="0"/>
                <a:cs typeface="Times New Roman" panose="02020603050405020304" pitchFamily="18" charset="0"/>
              </a:rPr>
              <a:t> </a:t>
            </a:r>
            <a:r>
              <a:rPr lang="en-US" altLang="zh-CN" sz="2000" kern="0" dirty="0">
                <a:latin typeface="Times New Roman" panose="02020603050405020304" pitchFamily="18" charset="0"/>
                <a:cs typeface="Times New Roman" panose="02020603050405020304" pitchFamily="18" charset="0"/>
              </a:rPr>
              <a:t>and</a:t>
            </a:r>
            <a:r>
              <a:rPr lang="zh-CN" altLang="en-US" sz="2000" kern="0" dirty="0">
                <a:latin typeface="Times New Roman" panose="02020603050405020304" pitchFamily="18" charset="0"/>
                <a:cs typeface="Times New Roman" panose="02020603050405020304" pitchFamily="18" charset="0"/>
              </a:rPr>
              <a:t> </a:t>
            </a:r>
            <a:r>
              <a:rPr lang="en-US" altLang="zh-CN" sz="2000" kern="0" dirty="0">
                <a:latin typeface="Times New Roman" panose="02020603050405020304" pitchFamily="18" charset="0"/>
                <a:cs typeface="Times New Roman" panose="02020603050405020304" pitchFamily="18" charset="0"/>
              </a:rPr>
              <a:t>resource</a:t>
            </a:r>
            <a:r>
              <a:rPr lang="zh-CN" altLang="en-US" sz="2000" kern="0" dirty="0">
                <a:latin typeface="Times New Roman" panose="02020603050405020304" pitchFamily="18" charset="0"/>
                <a:cs typeface="Times New Roman" panose="02020603050405020304" pitchFamily="18" charset="0"/>
              </a:rPr>
              <a:t> </a:t>
            </a:r>
            <a:r>
              <a:rPr lang="en-US" altLang="zh-CN" sz="2000" kern="0" dirty="0">
                <a:latin typeface="Times New Roman" panose="02020603050405020304" pitchFamily="18" charset="0"/>
                <a:cs typeface="Times New Roman" panose="02020603050405020304" pitchFamily="18" charset="0"/>
              </a:rPr>
              <a:t>quotas</a:t>
            </a:r>
          </a:p>
          <a:p>
            <a:pPr lvl="1"/>
            <a:r>
              <a:rPr lang="en-US" altLang="zh-CN" sz="2200" kern="0" dirty="0">
                <a:latin typeface="Times New Roman" panose="02020603050405020304" pitchFamily="18" charset="0"/>
                <a:cs typeface="Times New Roman" panose="02020603050405020304" pitchFamily="18" charset="0"/>
              </a:rPr>
              <a:t>Context</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Manager</a:t>
            </a:r>
          </a:p>
          <a:p>
            <a:pPr lvl="1"/>
            <a:r>
              <a:rPr lang="en-US" altLang="zh-CN" sz="2200" kern="0" dirty="0">
                <a:latin typeface="Times New Roman" panose="02020603050405020304" pitchFamily="18" charset="0"/>
                <a:cs typeface="Times New Roman" panose="02020603050405020304" pitchFamily="18" charset="0"/>
              </a:rPr>
              <a:t>Memory</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&amp;</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Storage</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Manager</a:t>
            </a:r>
          </a:p>
          <a:p>
            <a:pPr lvl="1"/>
            <a:r>
              <a:rPr lang="en-US" altLang="zh-CN" sz="2200" kern="0" dirty="0">
                <a:latin typeface="Times New Roman" panose="02020603050405020304" pitchFamily="18" charset="0"/>
                <a:cs typeface="Times New Roman" panose="02020603050405020304" pitchFamily="18" charset="0"/>
              </a:rPr>
              <a:t>Tool</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&amp;</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Access</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Manager</a:t>
            </a:r>
          </a:p>
          <a:p>
            <a:pPr lvl="1"/>
            <a:endParaRPr lang="en-US" altLang="zh-CN" sz="1467" kern="0" dirty="0">
              <a:latin typeface="Times New Roman" panose="02020603050405020304" pitchFamily="18" charset="0"/>
              <a:cs typeface="Times New Roman" panose="02020603050405020304" pitchFamily="18" charset="0"/>
            </a:endParaRPr>
          </a:p>
        </p:txBody>
      </p:sp>
      <p:sp>
        <p:nvSpPr>
          <p:cNvPr id="3" name="圆角矩形 2">
            <a:extLst>
              <a:ext uri="{FF2B5EF4-FFF2-40B4-BE49-F238E27FC236}">
                <a16:creationId xmlns:a16="http://schemas.microsoft.com/office/drawing/2014/main" id="{7FD32EA3-3075-5372-BAC5-AA1C967D7FCC}"/>
              </a:ext>
            </a:extLst>
          </p:cNvPr>
          <p:cNvSpPr/>
          <p:nvPr/>
        </p:nvSpPr>
        <p:spPr bwMode="auto">
          <a:xfrm>
            <a:off x="5979560" y="3775753"/>
            <a:ext cx="3806575" cy="1063375"/>
          </a:xfrm>
          <a:prstGeom prst="roundRect">
            <a:avLst>
              <a:gd name="adj" fmla="val 8686"/>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933153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38628-4683-3395-9DE3-633D545B12CF}"/>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C24E41CE-4FC1-DEAB-428A-73FB9167C800}"/>
              </a:ext>
            </a:extLst>
          </p:cNvPr>
          <p:cNvPicPr>
            <a:picLocks noChangeAspect="1"/>
          </p:cNvPicPr>
          <p:nvPr/>
        </p:nvPicPr>
        <p:blipFill>
          <a:blip r:embed="rId3"/>
          <a:srcRect b="14689"/>
          <a:stretch>
            <a:fillRect/>
          </a:stretch>
        </p:blipFill>
        <p:spPr>
          <a:xfrm>
            <a:off x="3835777" y="1068364"/>
            <a:ext cx="8356223" cy="4224853"/>
          </a:xfrm>
          <a:prstGeom prst="rect">
            <a:avLst/>
          </a:prstGeom>
        </p:spPr>
      </p:pic>
      <p:sp>
        <p:nvSpPr>
          <p:cNvPr id="7" name="文本框 6">
            <a:extLst>
              <a:ext uri="{FF2B5EF4-FFF2-40B4-BE49-F238E27FC236}">
                <a16:creationId xmlns:a16="http://schemas.microsoft.com/office/drawing/2014/main" id="{05D58E70-669E-CF4C-3752-F9DB2B7FBF23}"/>
              </a:ext>
            </a:extLst>
          </p:cNvPr>
          <p:cNvSpPr txBox="1"/>
          <p:nvPr/>
        </p:nvSpPr>
        <p:spPr>
          <a:xfrm>
            <a:off x="4501404" y="5293217"/>
            <a:ext cx="6832003" cy="707886"/>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3.</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How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agent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queries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are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decomposed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into</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AIOS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system</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calls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and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how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AIOS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system</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calls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are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dispatched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and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scheduled</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
        <p:nvSpPr>
          <p:cNvPr id="5" name="标题 4">
            <a:extLst>
              <a:ext uri="{FF2B5EF4-FFF2-40B4-BE49-F238E27FC236}">
                <a16:creationId xmlns:a16="http://schemas.microsoft.com/office/drawing/2014/main" id="{18206BBB-EE71-B376-6DC7-75A1856FBDD0}"/>
              </a:ext>
            </a:extLst>
          </p:cNvPr>
          <p:cNvSpPr>
            <a:spLocks noGrp="1"/>
          </p:cNvSpPr>
          <p:nvPr>
            <p:ph type="title"/>
          </p:nvPr>
        </p:nvSpPr>
        <p:spPr/>
        <p:txBody>
          <a:bodyPr/>
          <a:lstStyle/>
          <a:p>
            <a:r>
              <a:rPr lang="en-US" altLang="zh-CN" dirty="0"/>
              <a:t>3.1</a:t>
            </a:r>
            <a:r>
              <a:rPr lang="zh-CN" altLang="en-US" dirty="0"/>
              <a:t> </a:t>
            </a:r>
            <a:r>
              <a:rPr lang="en-US" altLang="zh-CN" dirty="0"/>
              <a:t>AIOS (2/3)</a:t>
            </a:r>
            <a:endParaRPr lang="zh-CN" altLang="en-US" dirty="0"/>
          </a:p>
        </p:txBody>
      </p:sp>
      <p:sp>
        <p:nvSpPr>
          <p:cNvPr id="4" name="灯片编号占位符 3">
            <a:extLst>
              <a:ext uri="{FF2B5EF4-FFF2-40B4-BE49-F238E27FC236}">
                <a16:creationId xmlns:a16="http://schemas.microsoft.com/office/drawing/2014/main" id="{D9261D33-265F-D0BA-24F5-B442569D21C0}"/>
              </a:ext>
            </a:extLst>
          </p:cNvPr>
          <p:cNvSpPr>
            <a:spLocks noGrp="1"/>
          </p:cNvSpPr>
          <p:nvPr>
            <p:ph type="sldNum" sz="quarter" idx="10"/>
          </p:nvPr>
        </p:nvSpPr>
        <p:spPr/>
        <p:txBody>
          <a:bodyPr/>
          <a:lstStyle/>
          <a:p>
            <a:fld id="{D9B6BDF2-6896-4B98-8776-C18582F63BA5}" type="slidenum">
              <a:rPr lang="zh-TW" altLang="en-US" smtClean="0"/>
              <a:pPr/>
              <a:t>15</a:t>
            </a:fld>
            <a:endParaRPr lang="zh-TW" altLang="en-US"/>
          </a:p>
        </p:txBody>
      </p:sp>
      <p:sp>
        <p:nvSpPr>
          <p:cNvPr id="9" name="内容占位符 5">
            <a:extLst>
              <a:ext uri="{FF2B5EF4-FFF2-40B4-BE49-F238E27FC236}">
                <a16:creationId xmlns:a16="http://schemas.microsoft.com/office/drawing/2014/main" id="{A931FCFB-D9D4-8CBC-0CC6-89230D4977B7}"/>
              </a:ext>
            </a:extLst>
          </p:cNvPr>
          <p:cNvSpPr txBox="1">
            <a:spLocks/>
          </p:cNvSpPr>
          <p:nvPr/>
        </p:nvSpPr>
        <p:spPr bwMode="auto">
          <a:xfrm>
            <a:off x="171222" y="1313212"/>
            <a:ext cx="4251804" cy="19104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Kernel</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Layer</a:t>
            </a:r>
          </a:p>
          <a:p>
            <a:pPr lvl="1"/>
            <a:r>
              <a:rPr lang="en-US" altLang="zh-CN" sz="2200" kern="0" dirty="0">
                <a:latin typeface="Times New Roman" panose="02020603050405020304" pitchFamily="18" charset="0"/>
                <a:cs typeface="Times New Roman" panose="02020603050405020304" pitchFamily="18" charset="0"/>
              </a:rPr>
              <a:t>Agent</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Scheduler</a:t>
            </a:r>
          </a:p>
          <a:p>
            <a:pPr lvl="1"/>
            <a:r>
              <a:rPr lang="en-US" altLang="zh-CN" sz="2200" b="1" kern="0" dirty="0">
                <a:latin typeface="Times New Roman" panose="02020603050405020304" pitchFamily="18" charset="0"/>
                <a:cs typeface="Times New Roman" panose="02020603050405020304" pitchFamily="18" charset="0"/>
              </a:rPr>
              <a:t>Context</a:t>
            </a:r>
            <a:r>
              <a:rPr lang="zh-CN" altLang="en-US" sz="2200" b="1" kern="0" dirty="0">
                <a:latin typeface="Times New Roman" panose="02020603050405020304" pitchFamily="18" charset="0"/>
                <a:cs typeface="Times New Roman" panose="02020603050405020304" pitchFamily="18" charset="0"/>
              </a:rPr>
              <a:t> </a:t>
            </a:r>
            <a:r>
              <a:rPr lang="en-US" altLang="zh-CN" sz="2200" b="1" kern="0" dirty="0">
                <a:latin typeface="Times New Roman" panose="02020603050405020304" pitchFamily="18" charset="0"/>
                <a:cs typeface="Times New Roman" panose="02020603050405020304" pitchFamily="18" charset="0"/>
              </a:rPr>
              <a:t>Manager</a:t>
            </a:r>
          </a:p>
          <a:p>
            <a:pPr marL="914354" lvl="2" indent="0">
              <a:buNone/>
            </a:pPr>
            <a:r>
              <a:rPr lang="en-US" altLang="zh-CN" sz="2000" kern="0" dirty="0">
                <a:latin typeface="Times New Roman" panose="02020603050405020304" pitchFamily="18" charset="0"/>
                <a:cs typeface="Times New Roman" panose="02020603050405020304" pitchFamily="18" charset="0"/>
              </a:rPr>
              <a:t>Handles state snapshots during context switches</a:t>
            </a:r>
          </a:p>
          <a:p>
            <a:pPr lvl="1"/>
            <a:r>
              <a:rPr lang="en-US" altLang="zh-CN" sz="2200" kern="0" dirty="0">
                <a:latin typeface="Times New Roman" panose="02020603050405020304" pitchFamily="18" charset="0"/>
                <a:cs typeface="Times New Roman" panose="02020603050405020304" pitchFamily="18" charset="0"/>
              </a:rPr>
              <a:t>Memory</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&amp;</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Storage</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Manager</a:t>
            </a:r>
          </a:p>
          <a:p>
            <a:pPr lvl="1"/>
            <a:r>
              <a:rPr lang="en-US" altLang="zh-CN" sz="2200" kern="0" dirty="0">
                <a:latin typeface="Times New Roman" panose="02020603050405020304" pitchFamily="18" charset="0"/>
                <a:cs typeface="Times New Roman" panose="02020603050405020304" pitchFamily="18" charset="0"/>
              </a:rPr>
              <a:t>Tool</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&amp;</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Access</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Manager</a:t>
            </a:r>
          </a:p>
          <a:p>
            <a:pPr lvl="1"/>
            <a:endParaRPr lang="en-US" altLang="zh-CN" sz="1467" kern="0" dirty="0">
              <a:latin typeface="Times New Roman" panose="02020603050405020304" pitchFamily="18" charset="0"/>
              <a:cs typeface="Times New Roman" panose="02020603050405020304" pitchFamily="18" charset="0"/>
            </a:endParaRPr>
          </a:p>
        </p:txBody>
      </p:sp>
      <p:sp>
        <p:nvSpPr>
          <p:cNvPr id="3" name="圆角矩形 2">
            <a:extLst>
              <a:ext uri="{FF2B5EF4-FFF2-40B4-BE49-F238E27FC236}">
                <a16:creationId xmlns:a16="http://schemas.microsoft.com/office/drawing/2014/main" id="{6DCFEAED-3AAB-3B92-D6FB-D833A274219F}"/>
              </a:ext>
            </a:extLst>
          </p:cNvPr>
          <p:cNvSpPr/>
          <p:nvPr/>
        </p:nvSpPr>
        <p:spPr bwMode="auto">
          <a:xfrm>
            <a:off x="4577137" y="3786027"/>
            <a:ext cx="1402423" cy="282539"/>
          </a:xfrm>
          <a:prstGeom prst="roundRect">
            <a:avLst>
              <a:gd name="adj" fmla="val 8686"/>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2050655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B9F73-C003-70B7-F216-A435761A6865}"/>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E1ADDE2C-C8E1-F864-BB0A-7040E2FD63EE}"/>
              </a:ext>
            </a:extLst>
          </p:cNvPr>
          <p:cNvPicPr>
            <a:picLocks noChangeAspect="1"/>
          </p:cNvPicPr>
          <p:nvPr/>
        </p:nvPicPr>
        <p:blipFill>
          <a:blip r:embed="rId3"/>
          <a:srcRect b="14689"/>
          <a:stretch>
            <a:fillRect/>
          </a:stretch>
        </p:blipFill>
        <p:spPr>
          <a:xfrm>
            <a:off x="3835777" y="1068364"/>
            <a:ext cx="8356223" cy="4224853"/>
          </a:xfrm>
          <a:prstGeom prst="rect">
            <a:avLst/>
          </a:prstGeom>
        </p:spPr>
      </p:pic>
      <p:sp>
        <p:nvSpPr>
          <p:cNvPr id="7" name="文本框 6">
            <a:extLst>
              <a:ext uri="{FF2B5EF4-FFF2-40B4-BE49-F238E27FC236}">
                <a16:creationId xmlns:a16="http://schemas.microsoft.com/office/drawing/2014/main" id="{5E3A1E3F-7FA8-E1B4-B52D-485ADD8243F7}"/>
              </a:ext>
            </a:extLst>
          </p:cNvPr>
          <p:cNvSpPr txBox="1"/>
          <p:nvPr/>
        </p:nvSpPr>
        <p:spPr>
          <a:xfrm>
            <a:off x="4501404" y="5293217"/>
            <a:ext cx="6832003" cy="707886"/>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3.</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How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agent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queries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are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decomposed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into</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AIOS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system</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calls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and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how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AIOS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system</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calls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are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dispatched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and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scheduled</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
        <p:nvSpPr>
          <p:cNvPr id="5" name="标题 4">
            <a:extLst>
              <a:ext uri="{FF2B5EF4-FFF2-40B4-BE49-F238E27FC236}">
                <a16:creationId xmlns:a16="http://schemas.microsoft.com/office/drawing/2014/main" id="{13CC5EF3-EF62-86A6-0BB8-DDE39E885BA7}"/>
              </a:ext>
            </a:extLst>
          </p:cNvPr>
          <p:cNvSpPr>
            <a:spLocks noGrp="1"/>
          </p:cNvSpPr>
          <p:nvPr>
            <p:ph type="title"/>
          </p:nvPr>
        </p:nvSpPr>
        <p:spPr/>
        <p:txBody>
          <a:bodyPr/>
          <a:lstStyle/>
          <a:p>
            <a:r>
              <a:rPr lang="en-US" altLang="zh-CN" dirty="0"/>
              <a:t>3.1</a:t>
            </a:r>
            <a:r>
              <a:rPr lang="zh-CN" altLang="en-US" dirty="0"/>
              <a:t> </a:t>
            </a:r>
            <a:r>
              <a:rPr lang="en-US" altLang="zh-CN" dirty="0"/>
              <a:t>AIOS (2/3)</a:t>
            </a:r>
            <a:endParaRPr lang="zh-CN" altLang="en-US" dirty="0"/>
          </a:p>
        </p:txBody>
      </p:sp>
      <p:sp>
        <p:nvSpPr>
          <p:cNvPr id="4" name="灯片编号占位符 3">
            <a:extLst>
              <a:ext uri="{FF2B5EF4-FFF2-40B4-BE49-F238E27FC236}">
                <a16:creationId xmlns:a16="http://schemas.microsoft.com/office/drawing/2014/main" id="{E0A04250-206C-8A1C-2178-3159A83863C8}"/>
              </a:ext>
            </a:extLst>
          </p:cNvPr>
          <p:cNvSpPr>
            <a:spLocks noGrp="1"/>
          </p:cNvSpPr>
          <p:nvPr>
            <p:ph type="sldNum" sz="quarter" idx="10"/>
          </p:nvPr>
        </p:nvSpPr>
        <p:spPr/>
        <p:txBody>
          <a:bodyPr/>
          <a:lstStyle/>
          <a:p>
            <a:fld id="{D9B6BDF2-6896-4B98-8776-C18582F63BA5}" type="slidenum">
              <a:rPr lang="zh-TW" altLang="en-US" smtClean="0"/>
              <a:pPr/>
              <a:t>16</a:t>
            </a:fld>
            <a:endParaRPr lang="zh-TW" altLang="en-US"/>
          </a:p>
        </p:txBody>
      </p:sp>
      <p:sp>
        <p:nvSpPr>
          <p:cNvPr id="9" name="内容占位符 5">
            <a:extLst>
              <a:ext uri="{FF2B5EF4-FFF2-40B4-BE49-F238E27FC236}">
                <a16:creationId xmlns:a16="http://schemas.microsoft.com/office/drawing/2014/main" id="{25DD5E2E-8894-50C1-5A89-321BB380185B}"/>
              </a:ext>
            </a:extLst>
          </p:cNvPr>
          <p:cNvSpPr txBox="1">
            <a:spLocks/>
          </p:cNvSpPr>
          <p:nvPr/>
        </p:nvSpPr>
        <p:spPr bwMode="auto">
          <a:xfrm>
            <a:off x="171221" y="1313212"/>
            <a:ext cx="4405915" cy="19104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Kernel</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Layer</a:t>
            </a:r>
          </a:p>
          <a:p>
            <a:pPr lvl="1"/>
            <a:r>
              <a:rPr lang="en-US" altLang="zh-CN" sz="2200" kern="0" dirty="0">
                <a:latin typeface="Times New Roman" panose="02020603050405020304" pitchFamily="18" charset="0"/>
                <a:cs typeface="Times New Roman" panose="02020603050405020304" pitchFamily="18" charset="0"/>
              </a:rPr>
              <a:t>Agent</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Scheduler</a:t>
            </a:r>
          </a:p>
          <a:p>
            <a:pPr lvl="1"/>
            <a:r>
              <a:rPr lang="en-US" altLang="zh-CN" sz="2200" kern="0" dirty="0">
                <a:latin typeface="Times New Roman" panose="02020603050405020304" pitchFamily="18" charset="0"/>
                <a:cs typeface="Times New Roman" panose="02020603050405020304" pitchFamily="18" charset="0"/>
              </a:rPr>
              <a:t>Context</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Manager</a:t>
            </a:r>
          </a:p>
          <a:p>
            <a:pPr lvl="1"/>
            <a:r>
              <a:rPr lang="en-US" altLang="zh-CN" sz="2200" b="1" kern="0" dirty="0">
                <a:latin typeface="Times New Roman" panose="02020603050405020304" pitchFamily="18" charset="0"/>
                <a:cs typeface="Times New Roman" panose="02020603050405020304" pitchFamily="18" charset="0"/>
              </a:rPr>
              <a:t>Memory</a:t>
            </a:r>
            <a:r>
              <a:rPr lang="zh-CN" altLang="en-US" sz="2200" b="1" kern="0" dirty="0">
                <a:latin typeface="Times New Roman" panose="02020603050405020304" pitchFamily="18" charset="0"/>
                <a:cs typeface="Times New Roman" panose="02020603050405020304" pitchFamily="18" charset="0"/>
              </a:rPr>
              <a:t> </a:t>
            </a:r>
            <a:r>
              <a:rPr lang="en-US" altLang="zh-CN" sz="2200" b="1" kern="0" dirty="0">
                <a:latin typeface="Times New Roman" panose="02020603050405020304" pitchFamily="18" charset="0"/>
                <a:cs typeface="Times New Roman" panose="02020603050405020304" pitchFamily="18" charset="0"/>
              </a:rPr>
              <a:t>&amp;</a:t>
            </a:r>
            <a:r>
              <a:rPr lang="zh-CN" altLang="en-US" sz="2200" b="1" kern="0" dirty="0">
                <a:latin typeface="Times New Roman" panose="02020603050405020304" pitchFamily="18" charset="0"/>
                <a:cs typeface="Times New Roman" panose="02020603050405020304" pitchFamily="18" charset="0"/>
              </a:rPr>
              <a:t> </a:t>
            </a:r>
            <a:r>
              <a:rPr lang="en-US" altLang="zh-CN" sz="2200" b="1" kern="0" dirty="0">
                <a:latin typeface="Times New Roman" panose="02020603050405020304" pitchFamily="18" charset="0"/>
                <a:cs typeface="Times New Roman" panose="02020603050405020304" pitchFamily="18" charset="0"/>
              </a:rPr>
              <a:t>Storage</a:t>
            </a:r>
            <a:r>
              <a:rPr lang="zh-CN" altLang="en-US" sz="2200" b="1" kern="0" dirty="0">
                <a:latin typeface="Times New Roman" panose="02020603050405020304" pitchFamily="18" charset="0"/>
                <a:cs typeface="Times New Roman" panose="02020603050405020304" pitchFamily="18" charset="0"/>
              </a:rPr>
              <a:t> </a:t>
            </a:r>
            <a:r>
              <a:rPr lang="en-US" altLang="zh-CN" sz="2200" b="1" kern="0" dirty="0">
                <a:latin typeface="Times New Roman" panose="02020603050405020304" pitchFamily="18" charset="0"/>
                <a:cs typeface="Times New Roman" panose="02020603050405020304" pitchFamily="18" charset="0"/>
              </a:rPr>
              <a:t>Manager</a:t>
            </a:r>
          </a:p>
          <a:p>
            <a:pPr marL="914354" lvl="2" indent="0">
              <a:buNone/>
            </a:pPr>
            <a:r>
              <a:rPr lang="en-US" altLang="zh-CN" sz="2000" kern="0" dirty="0">
                <a:latin typeface="Times New Roman" panose="02020603050405020304" pitchFamily="18" charset="0"/>
                <a:cs typeface="Times New Roman" panose="02020603050405020304" pitchFamily="18" charset="0"/>
              </a:rPr>
              <a:t>Enforces virtualized, tenant-level file isolation</a:t>
            </a:r>
          </a:p>
          <a:p>
            <a:pPr lvl="1"/>
            <a:r>
              <a:rPr lang="en-US" altLang="zh-CN" sz="2200" kern="0" dirty="0">
                <a:latin typeface="Times New Roman" panose="02020603050405020304" pitchFamily="18" charset="0"/>
                <a:cs typeface="Times New Roman" panose="02020603050405020304" pitchFamily="18" charset="0"/>
              </a:rPr>
              <a:t>Tool</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&amp;</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Access</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Manager</a:t>
            </a:r>
          </a:p>
          <a:p>
            <a:pPr lvl="1"/>
            <a:endParaRPr lang="en-US" altLang="zh-CN" sz="1467" kern="0" dirty="0">
              <a:latin typeface="Times New Roman" panose="02020603050405020304" pitchFamily="18" charset="0"/>
              <a:cs typeface="Times New Roman" panose="02020603050405020304" pitchFamily="18" charset="0"/>
            </a:endParaRPr>
          </a:p>
        </p:txBody>
      </p:sp>
      <p:sp>
        <p:nvSpPr>
          <p:cNvPr id="3" name="圆角矩形 2">
            <a:extLst>
              <a:ext uri="{FF2B5EF4-FFF2-40B4-BE49-F238E27FC236}">
                <a16:creationId xmlns:a16="http://schemas.microsoft.com/office/drawing/2014/main" id="{463CA93B-53D0-95D3-B6C4-D83F67C7E210}"/>
              </a:ext>
            </a:extLst>
          </p:cNvPr>
          <p:cNvSpPr/>
          <p:nvPr/>
        </p:nvSpPr>
        <p:spPr bwMode="auto">
          <a:xfrm>
            <a:off x="9924837" y="4104526"/>
            <a:ext cx="1371600" cy="683231"/>
          </a:xfrm>
          <a:prstGeom prst="roundRect">
            <a:avLst>
              <a:gd name="adj" fmla="val 8686"/>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271308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A1225-B4D9-E98E-5FEF-02E1585F1372}"/>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414506E4-7810-6323-40BB-58A5DE2DA589}"/>
              </a:ext>
            </a:extLst>
          </p:cNvPr>
          <p:cNvPicPr>
            <a:picLocks noChangeAspect="1"/>
          </p:cNvPicPr>
          <p:nvPr/>
        </p:nvPicPr>
        <p:blipFill>
          <a:blip r:embed="rId3"/>
          <a:srcRect b="14689"/>
          <a:stretch>
            <a:fillRect/>
          </a:stretch>
        </p:blipFill>
        <p:spPr>
          <a:xfrm>
            <a:off x="3835777" y="1068364"/>
            <a:ext cx="8356223" cy="4224853"/>
          </a:xfrm>
          <a:prstGeom prst="rect">
            <a:avLst/>
          </a:prstGeom>
        </p:spPr>
      </p:pic>
      <p:sp>
        <p:nvSpPr>
          <p:cNvPr id="7" name="文本框 6">
            <a:extLst>
              <a:ext uri="{FF2B5EF4-FFF2-40B4-BE49-F238E27FC236}">
                <a16:creationId xmlns:a16="http://schemas.microsoft.com/office/drawing/2014/main" id="{56AFBBEB-4978-88C5-FF05-C8D50816F0CA}"/>
              </a:ext>
            </a:extLst>
          </p:cNvPr>
          <p:cNvSpPr txBox="1"/>
          <p:nvPr/>
        </p:nvSpPr>
        <p:spPr>
          <a:xfrm>
            <a:off x="4501404" y="5293217"/>
            <a:ext cx="6832003" cy="707886"/>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3.</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How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agent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queries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are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decomposed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into</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AIOS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system</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calls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and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how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AIOS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system</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calls</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are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dispatched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and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scheduled</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
        <p:nvSpPr>
          <p:cNvPr id="5" name="标题 4">
            <a:extLst>
              <a:ext uri="{FF2B5EF4-FFF2-40B4-BE49-F238E27FC236}">
                <a16:creationId xmlns:a16="http://schemas.microsoft.com/office/drawing/2014/main" id="{413E85A0-71DF-ACB7-DDC5-4442BA1AF38F}"/>
              </a:ext>
            </a:extLst>
          </p:cNvPr>
          <p:cNvSpPr>
            <a:spLocks noGrp="1"/>
          </p:cNvSpPr>
          <p:nvPr>
            <p:ph type="title"/>
          </p:nvPr>
        </p:nvSpPr>
        <p:spPr/>
        <p:txBody>
          <a:bodyPr/>
          <a:lstStyle/>
          <a:p>
            <a:r>
              <a:rPr lang="en-US" altLang="zh-CN" dirty="0"/>
              <a:t>3.1</a:t>
            </a:r>
            <a:r>
              <a:rPr lang="zh-CN" altLang="en-US" dirty="0"/>
              <a:t> </a:t>
            </a:r>
            <a:r>
              <a:rPr lang="en-US" altLang="zh-CN" dirty="0"/>
              <a:t>AIOS (2/3)</a:t>
            </a:r>
            <a:endParaRPr lang="zh-CN" altLang="en-US" dirty="0"/>
          </a:p>
        </p:txBody>
      </p:sp>
      <p:sp>
        <p:nvSpPr>
          <p:cNvPr id="4" name="灯片编号占位符 3">
            <a:extLst>
              <a:ext uri="{FF2B5EF4-FFF2-40B4-BE49-F238E27FC236}">
                <a16:creationId xmlns:a16="http://schemas.microsoft.com/office/drawing/2014/main" id="{29ED28DC-6F2A-16A5-F19C-516E8BDE94AF}"/>
              </a:ext>
            </a:extLst>
          </p:cNvPr>
          <p:cNvSpPr>
            <a:spLocks noGrp="1"/>
          </p:cNvSpPr>
          <p:nvPr>
            <p:ph type="sldNum" sz="quarter" idx="10"/>
          </p:nvPr>
        </p:nvSpPr>
        <p:spPr/>
        <p:txBody>
          <a:bodyPr/>
          <a:lstStyle/>
          <a:p>
            <a:fld id="{D9B6BDF2-6896-4B98-8776-C18582F63BA5}" type="slidenum">
              <a:rPr lang="zh-TW" altLang="en-US" smtClean="0"/>
              <a:pPr/>
              <a:t>17</a:t>
            </a:fld>
            <a:endParaRPr lang="zh-TW" altLang="en-US"/>
          </a:p>
        </p:txBody>
      </p:sp>
      <p:sp>
        <p:nvSpPr>
          <p:cNvPr id="9" name="内容占位符 5">
            <a:extLst>
              <a:ext uri="{FF2B5EF4-FFF2-40B4-BE49-F238E27FC236}">
                <a16:creationId xmlns:a16="http://schemas.microsoft.com/office/drawing/2014/main" id="{A1D2DFC7-7960-DCF9-E507-12A8812F7022}"/>
              </a:ext>
            </a:extLst>
          </p:cNvPr>
          <p:cNvSpPr txBox="1">
            <a:spLocks/>
          </p:cNvSpPr>
          <p:nvPr/>
        </p:nvSpPr>
        <p:spPr bwMode="auto">
          <a:xfrm>
            <a:off x="171221" y="1313212"/>
            <a:ext cx="4405915" cy="19104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Kernel</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Layer</a:t>
            </a:r>
          </a:p>
          <a:p>
            <a:pPr lvl="1"/>
            <a:r>
              <a:rPr lang="en-US" altLang="zh-CN" sz="2200" kern="0" dirty="0">
                <a:latin typeface="Times New Roman" panose="02020603050405020304" pitchFamily="18" charset="0"/>
                <a:cs typeface="Times New Roman" panose="02020603050405020304" pitchFamily="18" charset="0"/>
              </a:rPr>
              <a:t>Agent</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Scheduler</a:t>
            </a:r>
          </a:p>
          <a:p>
            <a:pPr lvl="1"/>
            <a:r>
              <a:rPr lang="en-US" altLang="zh-CN" sz="2200" kern="0" dirty="0">
                <a:latin typeface="Times New Roman" panose="02020603050405020304" pitchFamily="18" charset="0"/>
                <a:cs typeface="Times New Roman" panose="02020603050405020304" pitchFamily="18" charset="0"/>
              </a:rPr>
              <a:t>Context</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Manager</a:t>
            </a:r>
          </a:p>
          <a:p>
            <a:pPr lvl="1"/>
            <a:r>
              <a:rPr lang="en-US" altLang="zh-CN" sz="2200" kern="0" dirty="0">
                <a:latin typeface="Times New Roman" panose="02020603050405020304" pitchFamily="18" charset="0"/>
                <a:cs typeface="Times New Roman" panose="02020603050405020304" pitchFamily="18" charset="0"/>
              </a:rPr>
              <a:t>Memory</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&amp;</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Storage</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Manager</a:t>
            </a:r>
          </a:p>
          <a:p>
            <a:pPr lvl="1"/>
            <a:r>
              <a:rPr lang="en-US" altLang="zh-CN" sz="2200" b="1" kern="0" dirty="0">
                <a:latin typeface="Times New Roman" panose="02020603050405020304" pitchFamily="18" charset="0"/>
                <a:cs typeface="Times New Roman" panose="02020603050405020304" pitchFamily="18" charset="0"/>
              </a:rPr>
              <a:t>Tool</a:t>
            </a:r>
            <a:r>
              <a:rPr lang="zh-CN" altLang="en-US" sz="2200" b="1" kern="0" dirty="0">
                <a:latin typeface="Times New Roman" panose="02020603050405020304" pitchFamily="18" charset="0"/>
                <a:cs typeface="Times New Roman" panose="02020603050405020304" pitchFamily="18" charset="0"/>
              </a:rPr>
              <a:t> </a:t>
            </a:r>
            <a:r>
              <a:rPr lang="en-US" altLang="zh-CN" sz="2200" b="1" kern="0" dirty="0">
                <a:latin typeface="Times New Roman" panose="02020603050405020304" pitchFamily="18" charset="0"/>
                <a:cs typeface="Times New Roman" panose="02020603050405020304" pitchFamily="18" charset="0"/>
              </a:rPr>
              <a:t>&amp;</a:t>
            </a:r>
            <a:r>
              <a:rPr lang="zh-CN" altLang="en-US" sz="2200" b="1" kern="0" dirty="0">
                <a:latin typeface="Times New Roman" panose="02020603050405020304" pitchFamily="18" charset="0"/>
                <a:cs typeface="Times New Roman" panose="02020603050405020304" pitchFamily="18" charset="0"/>
              </a:rPr>
              <a:t> </a:t>
            </a:r>
            <a:r>
              <a:rPr lang="en-US" altLang="zh-CN" sz="2200" b="1" kern="0" dirty="0">
                <a:latin typeface="Times New Roman" panose="02020603050405020304" pitchFamily="18" charset="0"/>
                <a:cs typeface="Times New Roman" panose="02020603050405020304" pitchFamily="18" charset="0"/>
              </a:rPr>
              <a:t>Access</a:t>
            </a:r>
            <a:r>
              <a:rPr lang="zh-CN" altLang="en-US" sz="2200" b="1" kern="0" dirty="0">
                <a:latin typeface="Times New Roman" panose="02020603050405020304" pitchFamily="18" charset="0"/>
                <a:cs typeface="Times New Roman" panose="02020603050405020304" pitchFamily="18" charset="0"/>
              </a:rPr>
              <a:t> </a:t>
            </a:r>
            <a:r>
              <a:rPr lang="en-US" altLang="zh-CN" sz="2200" b="1" kern="0" dirty="0">
                <a:latin typeface="Times New Roman" panose="02020603050405020304" pitchFamily="18" charset="0"/>
                <a:cs typeface="Times New Roman" panose="02020603050405020304" pitchFamily="18" charset="0"/>
              </a:rPr>
              <a:t>Manager</a:t>
            </a:r>
          </a:p>
          <a:p>
            <a:pPr marL="914354" lvl="2" indent="0">
              <a:buNone/>
            </a:pPr>
            <a:r>
              <a:rPr lang="en-US" altLang="zh-CN" sz="2000" dirty="0">
                <a:latin typeface="Times New Roman" panose="02020603050405020304" pitchFamily="18" charset="0"/>
                <a:cs typeface="Times New Roman" panose="02020603050405020304" pitchFamily="18" charset="0"/>
              </a:rPr>
              <a:t>Enforces Role-Based Access Control (RBAC)</a:t>
            </a:r>
            <a:endParaRPr lang="en-US" altLang="zh-CN" sz="2000" b="1" kern="0" dirty="0">
              <a:latin typeface="Times New Roman" panose="02020603050405020304" pitchFamily="18" charset="0"/>
              <a:cs typeface="Times New Roman" panose="02020603050405020304" pitchFamily="18" charset="0"/>
            </a:endParaRPr>
          </a:p>
          <a:p>
            <a:pPr lvl="1"/>
            <a:endParaRPr lang="en-US" altLang="zh-CN" sz="1467" kern="0" dirty="0">
              <a:latin typeface="Times New Roman" panose="02020603050405020304" pitchFamily="18" charset="0"/>
              <a:cs typeface="Times New Roman" panose="02020603050405020304" pitchFamily="18" charset="0"/>
            </a:endParaRPr>
          </a:p>
        </p:txBody>
      </p:sp>
      <p:sp>
        <p:nvSpPr>
          <p:cNvPr id="3" name="圆角矩形 2">
            <a:extLst>
              <a:ext uri="{FF2B5EF4-FFF2-40B4-BE49-F238E27FC236}">
                <a16:creationId xmlns:a16="http://schemas.microsoft.com/office/drawing/2014/main" id="{E99D2344-95AC-FDCF-C0CC-2727A2CD0A74}"/>
              </a:ext>
            </a:extLst>
          </p:cNvPr>
          <p:cNvSpPr/>
          <p:nvPr/>
        </p:nvSpPr>
        <p:spPr bwMode="auto">
          <a:xfrm>
            <a:off x="4613098" y="4479534"/>
            <a:ext cx="1356187" cy="318498"/>
          </a:xfrm>
          <a:prstGeom prst="roundRect">
            <a:avLst>
              <a:gd name="adj" fmla="val 8686"/>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263618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4B2A6-E5D0-6176-9724-86A6A1AF2883}"/>
            </a:ext>
          </a:extLst>
        </p:cNvPr>
        <p:cNvGrpSpPr/>
        <p:nvPr/>
      </p:nvGrpSpPr>
      <p:grpSpPr>
        <a:xfrm>
          <a:off x="0" y="0"/>
          <a:ext cx="0" cy="0"/>
          <a:chOff x="0" y="0"/>
          <a:chExt cx="0" cy="0"/>
        </a:xfrm>
      </p:grpSpPr>
      <p:sp>
        <p:nvSpPr>
          <p:cNvPr id="14" name="圆角矩形 13">
            <a:extLst>
              <a:ext uri="{FF2B5EF4-FFF2-40B4-BE49-F238E27FC236}">
                <a16:creationId xmlns:a16="http://schemas.microsoft.com/office/drawing/2014/main" id="{011E5BF3-000D-5D44-F3CE-0DCAAB5154B8}"/>
              </a:ext>
            </a:extLst>
          </p:cNvPr>
          <p:cNvSpPr/>
          <p:nvPr/>
        </p:nvSpPr>
        <p:spPr bwMode="auto">
          <a:xfrm>
            <a:off x="8895938" y="4731730"/>
            <a:ext cx="2758612" cy="1036353"/>
          </a:xfrm>
          <a:prstGeom prst="roundRect">
            <a:avLst>
              <a:gd name="adj" fmla="val 8004"/>
            </a:avLst>
          </a:prstGeom>
          <a:solidFill>
            <a:schemeClr val="bg1">
              <a:lumMod val="95000"/>
            </a:schemeClr>
          </a:solidFill>
          <a:ln>
            <a:solidFill>
              <a:schemeClr val="bg1">
                <a:lumMod val="75000"/>
              </a:schemeClr>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圆角矩形 9">
            <a:extLst>
              <a:ext uri="{FF2B5EF4-FFF2-40B4-BE49-F238E27FC236}">
                <a16:creationId xmlns:a16="http://schemas.microsoft.com/office/drawing/2014/main" id="{90B72493-8355-025E-3EFB-0F923D23132F}"/>
              </a:ext>
            </a:extLst>
          </p:cNvPr>
          <p:cNvSpPr/>
          <p:nvPr/>
        </p:nvSpPr>
        <p:spPr bwMode="auto">
          <a:xfrm>
            <a:off x="5363109" y="4611654"/>
            <a:ext cx="2758612" cy="508570"/>
          </a:xfrm>
          <a:prstGeom prst="roundRect">
            <a:avLst>
              <a:gd name="adj" fmla="val 8004"/>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标题 4">
            <a:extLst>
              <a:ext uri="{FF2B5EF4-FFF2-40B4-BE49-F238E27FC236}">
                <a16:creationId xmlns:a16="http://schemas.microsoft.com/office/drawing/2014/main" id="{72F8E667-9101-1A73-0194-4D5603850A1A}"/>
              </a:ext>
            </a:extLst>
          </p:cNvPr>
          <p:cNvSpPr>
            <a:spLocks noGrp="1"/>
          </p:cNvSpPr>
          <p:nvPr>
            <p:ph type="title"/>
          </p:nvPr>
        </p:nvSpPr>
        <p:spPr/>
        <p:txBody>
          <a:bodyPr/>
          <a:lstStyle/>
          <a:p>
            <a:r>
              <a:rPr lang="en-US" altLang="zh-CN" dirty="0"/>
              <a:t>3.1</a:t>
            </a:r>
            <a:r>
              <a:rPr lang="zh-CN" altLang="en-US" dirty="0"/>
              <a:t> </a:t>
            </a:r>
            <a:r>
              <a:rPr lang="en-US" altLang="zh-CN" dirty="0"/>
              <a:t>AIOS (3/3)</a:t>
            </a:r>
            <a:endParaRPr lang="zh-CN" altLang="en-US" dirty="0"/>
          </a:p>
        </p:txBody>
      </p:sp>
      <p:sp>
        <p:nvSpPr>
          <p:cNvPr id="4" name="灯片编号占位符 3">
            <a:extLst>
              <a:ext uri="{FF2B5EF4-FFF2-40B4-BE49-F238E27FC236}">
                <a16:creationId xmlns:a16="http://schemas.microsoft.com/office/drawing/2014/main" id="{070FBD0A-165B-4C12-8B69-469CD45C74BB}"/>
              </a:ext>
            </a:extLst>
          </p:cNvPr>
          <p:cNvSpPr>
            <a:spLocks noGrp="1"/>
          </p:cNvSpPr>
          <p:nvPr>
            <p:ph type="sldNum" sz="quarter" idx="10"/>
          </p:nvPr>
        </p:nvSpPr>
        <p:spPr/>
        <p:txBody>
          <a:bodyPr/>
          <a:lstStyle/>
          <a:p>
            <a:fld id="{D9B6BDF2-6896-4B98-8776-C18582F63BA5}" type="slidenum">
              <a:rPr lang="zh-TW" altLang="en-US" smtClean="0"/>
              <a:pPr/>
              <a:t>18</a:t>
            </a:fld>
            <a:endParaRPr lang="zh-TW" altLang="en-US"/>
          </a:p>
        </p:txBody>
      </p:sp>
      <p:sp>
        <p:nvSpPr>
          <p:cNvPr id="9" name="内容占位符 5">
            <a:extLst>
              <a:ext uri="{FF2B5EF4-FFF2-40B4-BE49-F238E27FC236}">
                <a16:creationId xmlns:a16="http://schemas.microsoft.com/office/drawing/2014/main" id="{44B339C9-5B40-6016-3B74-C7D8E4DB2710}"/>
              </a:ext>
            </a:extLst>
          </p:cNvPr>
          <p:cNvSpPr txBox="1">
            <a:spLocks/>
          </p:cNvSpPr>
          <p:nvPr/>
        </p:nvSpPr>
        <p:spPr bwMode="auto">
          <a:xfrm>
            <a:off x="202043" y="1811508"/>
            <a:ext cx="3635354" cy="19104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dirty="0">
                <a:latin typeface="Times New Roman" panose="02020603050405020304" pitchFamily="18" charset="0"/>
                <a:cs typeface="Times New Roman" panose="02020603050405020304" pitchFamily="18" charset="0"/>
              </a:rPr>
              <a:t>Blind Spot</a:t>
            </a:r>
            <a:r>
              <a:rPr lang="en-US" altLang="zh-CN" sz="2400" dirty="0">
                <a:latin typeface="Times New Roman" panose="02020603050405020304" pitchFamily="18" charset="0"/>
                <a:cs typeface="Times New Roman" panose="02020603050405020304" pitchFamily="18" charset="0"/>
              </a:rPr>
              <a:t>: </a:t>
            </a:r>
            <a:endParaRPr lang="en-US" altLang="zh-CN" sz="2400" kern="0" dirty="0">
              <a:latin typeface="Times New Roman" panose="02020603050405020304" pitchFamily="18" charset="0"/>
              <a:cs typeface="Times New Roman" panose="02020603050405020304" pitchFamily="18" charset="0"/>
            </a:endParaRPr>
          </a:p>
          <a:p>
            <a:pPr lvl="1"/>
            <a:r>
              <a:rPr lang="en-US" altLang="zh-CN" sz="2000" dirty="0">
                <a:latin typeface="Times New Roman" panose="02020603050405020304" pitchFamily="18" charset="0"/>
                <a:cs typeface="Times New Roman" panose="02020603050405020304" pitchFamily="18" charset="0"/>
              </a:rPr>
              <a:t>Cooperative Security Assumes agents use the standard SDK. </a:t>
            </a:r>
          </a:p>
          <a:p>
            <a:pPr lvl="1"/>
            <a:r>
              <a:rPr lang="en-US" altLang="zh-CN" sz="2000" dirty="0">
                <a:latin typeface="Times New Roman" panose="02020603050405020304" pitchFamily="18" charset="0"/>
                <a:cs typeface="Times New Roman" panose="02020603050405020304" pitchFamily="18" charset="0"/>
              </a:rPr>
              <a:t>Fails against closed-source binaries (e.g., modern Claude Code).</a:t>
            </a:r>
          </a:p>
          <a:p>
            <a:pPr lvl="1"/>
            <a:r>
              <a:rPr lang="en-US" altLang="zh-CN" sz="2000" dirty="0">
                <a:latin typeface="Times New Roman" panose="02020603050405020304" pitchFamily="18" charset="0"/>
                <a:cs typeface="Times New Roman" panose="02020603050405020304" pitchFamily="18" charset="0"/>
              </a:rPr>
              <a:t>Vulnerable to memory exploits that bypass the SDK.</a:t>
            </a:r>
            <a:endParaRPr lang="en-US" altLang="zh-CN" sz="2000" b="1" kern="0" dirty="0">
              <a:latin typeface="Times New Roman" panose="02020603050405020304" pitchFamily="18" charset="0"/>
              <a:cs typeface="Times New Roman" panose="02020603050405020304" pitchFamily="18" charset="0"/>
            </a:endParaRPr>
          </a:p>
          <a:p>
            <a:pPr lvl="1"/>
            <a:endParaRPr lang="en-US" altLang="zh-CN" sz="1467" kern="0"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FBDED2A8-CFA7-6FA5-C8CB-BDC4324B980A}"/>
              </a:ext>
            </a:extLst>
          </p:cNvPr>
          <p:cNvPicPr>
            <a:picLocks noChangeAspect="1"/>
          </p:cNvPicPr>
          <p:nvPr/>
        </p:nvPicPr>
        <p:blipFill>
          <a:blip r:embed="rId3"/>
          <a:stretch>
            <a:fillRect/>
          </a:stretch>
        </p:blipFill>
        <p:spPr>
          <a:xfrm>
            <a:off x="3693894" y="1197484"/>
            <a:ext cx="8258923" cy="3235815"/>
          </a:xfrm>
          <a:prstGeom prst="rect">
            <a:avLst/>
          </a:prstGeom>
        </p:spPr>
      </p:pic>
      <p:sp>
        <p:nvSpPr>
          <p:cNvPr id="7" name="文本框 6">
            <a:extLst>
              <a:ext uri="{FF2B5EF4-FFF2-40B4-BE49-F238E27FC236}">
                <a16:creationId xmlns:a16="http://schemas.microsoft.com/office/drawing/2014/main" id="{7C7D2972-97E2-F4EB-D756-6DA65E2970C8}"/>
              </a:ext>
            </a:extLst>
          </p:cNvPr>
          <p:cNvSpPr txBox="1"/>
          <p:nvPr/>
        </p:nvSpPr>
        <p:spPr>
          <a:xfrm>
            <a:off x="3220258" y="4737186"/>
            <a:ext cx="2832222" cy="923330"/>
          </a:xfrm>
          <a:prstGeom prst="rect">
            <a:avLst/>
          </a:prstGeom>
          <a:noFill/>
        </p:spPr>
        <p:txBody>
          <a:bodyPr wrap="square" rtlCol="0" anchor="ctr" anchorCtr="1">
            <a:spAutoFit/>
          </a:bodyPr>
          <a:lstStyle/>
          <a:p>
            <a:pPr algn="r"/>
            <a:r>
              <a:rPr kumimoji="1" lang="en-US" altLang="zh-CN" b="1" dirty="0">
                <a:latin typeface="Times New Roman" panose="02020603050405020304" pitchFamily="18" charset="0"/>
                <a:ea typeface="標楷體" pitchFamily="65" charset="-120"/>
                <a:cs typeface="Times New Roman" panose="02020603050405020304" pitchFamily="18" charset="0"/>
              </a:rPr>
              <a:t>Static</a:t>
            </a:r>
            <a:r>
              <a:rPr kumimoji="1" lang="zh-CN" altLang="en-US" b="1" dirty="0">
                <a:latin typeface="Times New Roman" panose="02020603050405020304" pitchFamily="18" charset="0"/>
                <a:ea typeface="標楷體" pitchFamily="65" charset="-120"/>
                <a:cs typeface="Times New Roman" panose="02020603050405020304" pitchFamily="18" charset="0"/>
              </a:rPr>
              <a:t> </a:t>
            </a:r>
            <a:endParaRPr kumimoji="1" lang="en-US" altLang="zh-CN" b="1" dirty="0">
              <a:latin typeface="Times New Roman" panose="02020603050405020304" pitchFamily="18" charset="0"/>
              <a:ea typeface="標楷體" pitchFamily="65" charset="-120"/>
              <a:cs typeface="Times New Roman" panose="02020603050405020304" pitchFamily="18" charset="0"/>
            </a:endParaRPr>
          </a:p>
          <a:p>
            <a:pPr algn="r"/>
            <a:r>
              <a:rPr kumimoji="1" lang="en-US" altLang="zh-CN" b="1" dirty="0">
                <a:latin typeface="Times New Roman" panose="02020603050405020304" pitchFamily="18" charset="0"/>
                <a:ea typeface="標楷體" pitchFamily="65" charset="-120"/>
                <a:cs typeface="Times New Roman" panose="02020603050405020304" pitchFamily="18" charset="0"/>
              </a:rPr>
              <a:t>Permission</a:t>
            </a:r>
            <a:r>
              <a:rPr kumimoji="1" lang="zh-CN" altLang="en-US" b="1" dirty="0">
                <a:latin typeface="Times New Roman" panose="02020603050405020304" pitchFamily="18" charset="0"/>
                <a:ea typeface="標楷體" pitchFamily="65" charset="-120"/>
                <a:cs typeface="Times New Roman" panose="02020603050405020304" pitchFamily="18" charset="0"/>
              </a:rPr>
              <a:t> </a:t>
            </a:r>
            <a:endParaRPr kumimoji="1" lang="en-US" altLang="zh-CN" b="1" dirty="0">
              <a:latin typeface="Times New Roman" panose="02020603050405020304" pitchFamily="18" charset="0"/>
              <a:ea typeface="標楷體" pitchFamily="65" charset="-120"/>
              <a:cs typeface="Times New Roman" panose="02020603050405020304" pitchFamily="18" charset="0"/>
            </a:endParaRPr>
          </a:p>
          <a:p>
            <a:pPr algn="r"/>
            <a:r>
              <a:rPr kumimoji="1" lang="en-US" altLang="zh-CN" b="1" dirty="0">
                <a:latin typeface="Times New Roman" panose="02020603050405020304" pitchFamily="18" charset="0"/>
                <a:ea typeface="標楷體" pitchFamily="65" charset="-120"/>
                <a:cs typeface="Times New Roman" panose="02020603050405020304" pitchFamily="18" charset="0"/>
              </a:rPr>
              <a:t>Control</a:t>
            </a:r>
            <a:endParaRPr kumimoji="1" lang="zh-CN" altLang="en-US" b="1" dirty="0">
              <a:latin typeface="Times New Roman" panose="02020603050405020304" pitchFamily="18" charset="0"/>
              <a:ea typeface="標楷體" pitchFamily="65" charset="-120"/>
              <a:cs typeface="Times New Roman" panose="02020603050405020304" pitchFamily="18" charset="0"/>
            </a:endParaRPr>
          </a:p>
        </p:txBody>
      </p:sp>
      <p:sp>
        <p:nvSpPr>
          <p:cNvPr id="8" name="文本框 7">
            <a:extLst>
              <a:ext uri="{FF2B5EF4-FFF2-40B4-BE49-F238E27FC236}">
                <a16:creationId xmlns:a16="http://schemas.microsoft.com/office/drawing/2014/main" id="{FBC293FC-07B7-6080-6FC7-FF21C77FD317}"/>
              </a:ext>
            </a:extLst>
          </p:cNvPr>
          <p:cNvSpPr txBox="1"/>
          <p:nvPr/>
        </p:nvSpPr>
        <p:spPr>
          <a:xfrm>
            <a:off x="5363109" y="4690590"/>
            <a:ext cx="2732479" cy="369332"/>
          </a:xfrm>
          <a:prstGeom prst="rect">
            <a:avLst/>
          </a:prstGeom>
          <a:noFill/>
        </p:spPr>
        <p:txBody>
          <a:bodyPr wrap="none" rtlCol="0" anchor="ctr" anchorCtr="1">
            <a:spAutoFit/>
          </a:bodyPr>
          <a:lstStyle/>
          <a:p>
            <a:r>
              <a:rPr kumimoji="1" lang="en-US" altLang="zh-CN" b="1" dirty="0">
                <a:solidFill>
                  <a:schemeClr val="accent3">
                    <a:lumMod val="75000"/>
                  </a:schemeClr>
                </a:solidFill>
                <a:latin typeface="Times New Roman" panose="02020603050405020304" pitchFamily="18" charset="0"/>
                <a:ea typeface="標楷體" pitchFamily="65" charset="-120"/>
                <a:cs typeface="Times New Roman" panose="02020603050405020304" pitchFamily="18" charset="0"/>
              </a:rPr>
              <a:t>Whether</a:t>
            </a:r>
            <a:r>
              <a:rPr kumimoji="1" lang="zh-CN" altLang="en-US" b="1" dirty="0">
                <a:solidFill>
                  <a:schemeClr val="accent3">
                    <a:lumMod val="75000"/>
                  </a:schemeClr>
                </a:solidFill>
                <a:latin typeface="Times New Roman" panose="02020603050405020304" pitchFamily="18" charset="0"/>
                <a:ea typeface="標楷體" pitchFamily="65" charset="-120"/>
                <a:cs typeface="Times New Roman" panose="02020603050405020304" pitchFamily="18" charset="0"/>
              </a:rPr>
              <a:t> </a:t>
            </a:r>
            <a:r>
              <a:rPr kumimoji="1" lang="en-US" altLang="zh-CN" b="1" dirty="0">
                <a:solidFill>
                  <a:schemeClr val="accent3">
                    <a:lumMod val="75000"/>
                  </a:schemeClr>
                </a:solidFill>
                <a:latin typeface="Times New Roman" panose="02020603050405020304" pitchFamily="18" charset="0"/>
                <a:ea typeface="標楷體" pitchFamily="65" charset="-120"/>
                <a:cs typeface="Times New Roman" panose="02020603050405020304" pitchFamily="18" charset="0"/>
              </a:rPr>
              <a:t>it</a:t>
            </a:r>
            <a:r>
              <a:rPr kumimoji="1" lang="zh-CN" altLang="en-US" b="1" dirty="0">
                <a:solidFill>
                  <a:schemeClr val="accent3">
                    <a:lumMod val="75000"/>
                  </a:schemeClr>
                </a:solidFill>
                <a:latin typeface="Times New Roman" panose="02020603050405020304" pitchFamily="18" charset="0"/>
                <a:ea typeface="標楷體" pitchFamily="65" charset="-120"/>
                <a:cs typeface="Times New Roman" panose="02020603050405020304" pitchFamily="18" charset="0"/>
              </a:rPr>
              <a:t> </a:t>
            </a:r>
            <a:r>
              <a:rPr kumimoji="1" lang="en-US" altLang="zh-CN" b="1" dirty="0">
                <a:solidFill>
                  <a:schemeClr val="accent3">
                    <a:lumMod val="75000"/>
                  </a:schemeClr>
                </a:solidFill>
                <a:latin typeface="Times New Roman" panose="02020603050405020304" pitchFamily="18" charset="0"/>
                <a:ea typeface="標楷體" pitchFamily="65" charset="-120"/>
                <a:cs typeface="Times New Roman" panose="02020603050405020304" pitchFamily="18" charset="0"/>
              </a:rPr>
              <a:t>can</a:t>
            </a:r>
            <a:r>
              <a:rPr kumimoji="1" lang="zh-CN" altLang="en-US" b="1" dirty="0">
                <a:solidFill>
                  <a:schemeClr val="accent3">
                    <a:lumMod val="75000"/>
                  </a:schemeClr>
                </a:solidFill>
                <a:latin typeface="Times New Roman" panose="02020603050405020304" pitchFamily="18" charset="0"/>
                <a:ea typeface="標楷體" pitchFamily="65" charset="-120"/>
                <a:cs typeface="Times New Roman" panose="02020603050405020304" pitchFamily="18" charset="0"/>
              </a:rPr>
              <a:t> </a:t>
            </a:r>
            <a:r>
              <a:rPr kumimoji="1" lang="en-US" altLang="zh-CN" b="1" dirty="0">
                <a:solidFill>
                  <a:schemeClr val="accent3">
                    <a:lumMod val="75000"/>
                  </a:schemeClr>
                </a:solidFill>
                <a:latin typeface="Times New Roman" panose="02020603050405020304" pitchFamily="18" charset="0"/>
                <a:ea typeface="標楷體" pitchFamily="65" charset="-120"/>
                <a:cs typeface="Times New Roman" panose="02020603050405020304" pitchFamily="18" charset="0"/>
              </a:rPr>
              <a:t>be</a:t>
            </a:r>
            <a:r>
              <a:rPr kumimoji="1" lang="zh-CN" altLang="en-US" b="1" dirty="0">
                <a:solidFill>
                  <a:schemeClr val="accent3">
                    <a:lumMod val="75000"/>
                  </a:schemeClr>
                </a:solidFill>
                <a:latin typeface="Times New Roman" panose="02020603050405020304" pitchFamily="18" charset="0"/>
                <a:ea typeface="標楷體" pitchFamily="65" charset="-120"/>
                <a:cs typeface="Times New Roman" panose="02020603050405020304" pitchFamily="18" charset="0"/>
              </a:rPr>
              <a:t> </a:t>
            </a:r>
            <a:r>
              <a:rPr kumimoji="1" lang="en-US" altLang="zh-CN" b="1" dirty="0">
                <a:solidFill>
                  <a:schemeClr val="accent3">
                    <a:lumMod val="75000"/>
                  </a:schemeClr>
                </a:solidFill>
                <a:latin typeface="Times New Roman" panose="02020603050405020304" pitchFamily="18" charset="0"/>
                <a:ea typeface="標楷體" pitchFamily="65" charset="-120"/>
                <a:cs typeface="Times New Roman" panose="02020603050405020304" pitchFamily="18" charset="0"/>
              </a:rPr>
              <a:t>execute</a:t>
            </a:r>
            <a:endParaRPr kumimoji="1" lang="zh-CN" altLang="en-US" b="1" dirty="0">
              <a:solidFill>
                <a:schemeClr val="accent3">
                  <a:lumMod val="75000"/>
                </a:schemeClr>
              </a:solidFill>
              <a:latin typeface="Times New Roman" panose="02020603050405020304" pitchFamily="18" charset="0"/>
              <a:ea typeface="標楷體" pitchFamily="65" charset="-120"/>
              <a:cs typeface="Times New Roman" panose="02020603050405020304" pitchFamily="18" charset="0"/>
            </a:endParaRPr>
          </a:p>
        </p:txBody>
      </p:sp>
      <p:sp>
        <p:nvSpPr>
          <p:cNvPr id="11" name="圆角矩形 10">
            <a:extLst>
              <a:ext uri="{FF2B5EF4-FFF2-40B4-BE49-F238E27FC236}">
                <a16:creationId xmlns:a16="http://schemas.microsoft.com/office/drawing/2014/main" id="{DF869A1A-9FC9-B83E-8FFB-12B457975B18}"/>
              </a:ext>
            </a:extLst>
          </p:cNvPr>
          <p:cNvSpPr/>
          <p:nvPr/>
        </p:nvSpPr>
        <p:spPr bwMode="auto">
          <a:xfrm>
            <a:off x="5363109" y="5329133"/>
            <a:ext cx="2758612" cy="508570"/>
          </a:xfrm>
          <a:prstGeom prst="roundRect">
            <a:avLst>
              <a:gd name="adj" fmla="val 8004"/>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rgbClr val="C00000"/>
              </a:solidFill>
              <a:effectLst/>
              <a:latin typeface="Arial" pitchFamily="34" charset="0"/>
              <a:ea typeface="新細明體" pitchFamily="18" charset="-120"/>
            </a:endParaRPr>
          </a:p>
        </p:txBody>
      </p:sp>
      <p:sp>
        <p:nvSpPr>
          <p:cNvPr id="12" name="文本框 11">
            <a:extLst>
              <a:ext uri="{FF2B5EF4-FFF2-40B4-BE49-F238E27FC236}">
                <a16:creationId xmlns:a16="http://schemas.microsoft.com/office/drawing/2014/main" id="{51666066-EB00-AF18-04FF-25AB0950DB83}"/>
              </a:ext>
            </a:extLst>
          </p:cNvPr>
          <p:cNvSpPr txBox="1"/>
          <p:nvPr/>
        </p:nvSpPr>
        <p:spPr>
          <a:xfrm>
            <a:off x="5512797" y="5398752"/>
            <a:ext cx="2433102" cy="369332"/>
          </a:xfrm>
          <a:prstGeom prst="rect">
            <a:avLst/>
          </a:prstGeom>
          <a:noFill/>
        </p:spPr>
        <p:txBody>
          <a:bodyPr wrap="none" rtlCol="0" anchor="ctr" anchorCtr="1">
            <a:spAutoFit/>
          </a:bodyPr>
          <a:lstStyle/>
          <a:p>
            <a:r>
              <a:rPr kumimoji="1" lang="en-US" altLang="zh-CN" b="1" dirty="0">
                <a:solidFill>
                  <a:srgbClr val="C00000"/>
                </a:solidFill>
                <a:latin typeface="Times New Roman" panose="02020603050405020304" pitchFamily="18" charset="0"/>
                <a:ea typeface="標楷體" pitchFamily="65" charset="-120"/>
                <a:cs typeface="Times New Roman" panose="02020603050405020304" pitchFamily="18" charset="0"/>
              </a:rPr>
              <a:t>WHY</a:t>
            </a:r>
            <a:r>
              <a:rPr kumimoji="1" lang="zh-CN" altLang="en-US" b="1" dirty="0">
                <a:solidFill>
                  <a:srgbClr val="C00000"/>
                </a:solidFill>
                <a:latin typeface="Times New Roman" panose="02020603050405020304" pitchFamily="18" charset="0"/>
                <a:ea typeface="標楷體" pitchFamily="65" charset="-120"/>
                <a:cs typeface="Times New Roman" panose="02020603050405020304" pitchFamily="18" charset="0"/>
              </a:rPr>
              <a:t> </a:t>
            </a:r>
            <a:r>
              <a:rPr kumimoji="1" lang="en-US" altLang="zh-CN" b="1" dirty="0">
                <a:solidFill>
                  <a:srgbClr val="C00000"/>
                </a:solidFill>
                <a:latin typeface="Times New Roman" panose="02020603050405020304" pitchFamily="18" charset="0"/>
                <a:ea typeface="標楷體" pitchFamily="65" charset="-120"/>
                <a:cs typeface="Times New Roman" panose="02020603050405020304" pitchFamily="18" charset="0"/>
              </a:rPr>
              <a:t>it</a:t>
            </a:r>
            <a:r>
              <a:rPr kumimoji="1" lang="zh-CN" altLang="en-US" b="1" dirty="0">
                <a:solidFill>
                  <a:srgbClr val="C00000"/>
                </a:solidFill>
                <a:latin typeface="Times New Roman" panose="02020603050405020304" pitchFamily="18" charset="0"/>
                <a:ea typeface="標楷體" pitchFamily="65" charset="-120"/>
                <a:cs typeface="Times New Roman" panose="02020603050405020304" pitchFamily="18" charset="0"/>
              </a:rPr>
              <a:t> </a:t>
            </a:r>
            <a:r>
              <a:rPr kumimoji="1" lang="en-US" altLang="zh-CN" b="1" dirty="0">
                <a:solidFill>
                  <a:srgbClr val="C00000"/>
                </a:solidFill>
                <a:latin typeface="Times New Roman" panose="02020603050405020304" pitchFamily="18" charset="0"/>
                <a:ea typeface="標楷體" pitchFamily="65" charset="-120"/>
                <a:cs typeface="Times New Roman" panose="02020603050405020304" pitchFamily="18" charset="0"/>
              </a:rPr>
              <a:t>can</a:t>
            </a:r>
            <a:r>
              <a:rPr kumimoji="1" lang="zh-CN" altLang="en-US" b="1" dirty="0">
                <a:solidFill>
                  <a:srgbClr val="C00000"/>
                </a:solidFill>
                <a:latin typeface="Times New Roman" panose="02020603050405020304" pitchFamily="18" charset="0"/>
                <a:ea typeface="標楷體" pitchFamily="65" charset="-120"/>
                <a:cs typeface="Times New Roman" panose="02020603050405020304" pitchFamily="18" charset="0"/>
              </a:rPr>
              <a:t> </a:t>
            </a:r>
            <a:r>
              <a:rPr kumimoji="1" lang="en-US" altLang="zh-CN" b="1" dirty="0">
                <a:solidFill>
                  <a:srgbClr val="C00000"/>
                </a:solidFill>
                <a:latin typeface="Times New Roman" panose="02020603050405020304" pitchFamily="18" charset="0"/>
                <a:ea typeface="標楷體" pitchFamily="65" charset="-120"/>
                <a:cs typeface="Times New Roman" panose="02020603050405020304" pitchFamily="18" charset="0"/>
              </a:rPr>
              <a:t>be</a:t>
            </a:r>
            <a:r>
              <a:rPr kumimoji="1" lang="zh-CN" altLang="en-US" b="1" dirty="0">
                <a:solidFill>
                  <a:srgbClr val="C00000"/>
                </a:solidFill>
                <a:latin typeface="Times New Roman" panose="02020603050405020304" pitchFamily="18" charset="0"/>
                <a:ea typeface="標楷體" pitchFamily="65" charset="-120"/>
                <a:cs typeface="Times New Roman" panose="02020603050405020304" pitchFamily="18" charset="0"/>
              </a:rPr>
              <a:t> </a:t>
            </a:r>
            <a:r>
              <a:rPr kumimoji="1" lang="en-US" altLang="zh-CN" b="1" dirty="0">
                <a:solidFill>
                  <a:srgbClr val="C00000"/>
                </a:solidFill>
                <a:latin typeface="Times New Roman" panose="02020603050405020304" pitchFamily="18" charset="0"/>
                <a:ea typeface="標楷體" pitchFamily="65" charset="-120"/>
                <a:cs typeface="Times New Roman" panose="02020603050405020304" pitchFamily="18" charset="0"/>
              </a:rPr>
              <a:t>execute</a:t>
            </a:r>
            <a:endParaRPr kumimoji="1" lang="zh-CN" altLang="en-US" b="1" dirty="0">
              <a:solidFill>
                <a:srgbClr val="C00000"/>
              </a:solidFill>
              <a:latin typeface="Times New Roman" panose="02020603050405020304" pitchFamily="18" charset="0"/>
              <a:ea typeface="標楷體" pitchFamily="65" charset="-120"/>
              <a:cs typeface="Times New Roman" panose="02020603050405020304" pitchFamily="18" charset="0"/>
            </a:endParaRPr>
          </a:p>
        </p:txBody>
      </p:sp>
      <p:sp>
        <p:nvSpPr>
          <p:cNvPr id="13" name="文本框 12">
            <a:extLst>
              <a:ext uri="{FF2B5EF4-FFF2-40B4-BE49-F238E27FC236}">
                <a16:creationId xmlns:a16="http://schemas.microsoft.com/office/drawing/2014/main" id="{F73A7101-2296-4501-A9DB-0A2B30690EA6}"/>
              </a:ext>
            </a:extLst>
          </p:cNvPr>
          <p:cNvSpPr txBox="1"/>
          <p:nvPr/>
        </p:nvSpPr>
        <p:spPr>
          <a:xfrm>
            <a:off x="8744687" y="4794166"/>
            <a:ext cx="2832222" cy="923330"/>
          </a:xfrm>
          <a:prstGeom prst="rect">
            <a:avLst/>
          </a:prstGeom>
          <a:noFill/>
        </p:spPr>
        <p:txBody>
          <a:bodyPr wrap="square" rtlCol="0" anchor="ctr" anchorCtr="1">
            <a:spAutoFit/>
          </a:bodyPr>
          <a:lstStyle/>
          <a:p>
            <a:r>
              <a:rPr kumimoji="1" lang="en-US" altLang="zh-CN" dirty="0">
                <a:latin typeface="Times New Roman" panose="02020603050405020304" pitchFamily="18" charset="0"/>
                <a:ea typeface="標楷體" pitchFamily="65" charset="-120"/>
                <a:cs typeface="Times New Roman" panose="02020603050405020304" pitchFamily="18" charset="0"/>
              </a:rPr>
              <a:t>We</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a:latin typeface="Times New Roman" panose="02020603050405020304" pitchFamily="18" charset="0"/>
                <a:ea typeface="標楷體" pitchFamily="65" charset="-120"/>
                <a:cs typeface="Times New Roman" panose="02020603050405020304" pitchFamily="18" charset="0"/>
              </a:rPr>
              <a:t>need</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a:latin typeface="Times New Roman" panose="02020603050405020304" pitchFamily="18" charset="0"/>
                <a:ea typeface="標楷體" pitchFamily="65" charset="-120"/>
                <a:cs typeface="Times New Roman" panose="02020603050405020304" pitchFamily="18" charset="0"/>
              </a:rPr>
              <a:t>Kernel-Level</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a:latin typeface="Times New Roman" panose="02020603050405020304" pitchFamily="18" charset="0"/>
                <a:ea typeface="標楷體" pitchFamily="65" charset="-120"/>
                <a:cs typeface="Times New Roman" panose="02020603050405020304" pitchFamily="18" charset="0"/>
              </a:rPr>
              <a:t>Dynamic</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a:latin typeface="Times New Roman" panose="02020603050405020304" pitchFamily="18" charset="0"/>
                <a:ea typeface="標楷體" pitchFamily="65" charset="-120"/>
                <a:cs typeface="Times New Roman" panose="02020603050405020304" pitchFamily="18" charset="0"/>
              </a:rPr>
              <a:t>Observation</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a:latin typeface="Times New Roman" panose="02020603050405020304" pitchFamily="18" charset="0"/>
                <a:ea typeface="標楷體" pitchFamily="65" charset="-120"/>
                <a:cs typeface="Times New Roman" panose="02020603050405020304" pitchFamily="18" charset="0"/>
              </a:rPr>
              <a:t>Technology</a:t>
            </a:r>
            <a:endParaRPr kumimoji="1" lang="zh-CN" altLang="en-US" dirty="0">
              <a:latin typeface="Times New Roman" panose="02020603050405020304" pitchFamily="18" charset="0"/>
              <a:ea typeface="標楷體" pitchFamily="65" charset="-120"/>
              <a:cs typeface="Times New Roman" panose="02020603050405020304" pitchFamily="18" charset="0"/>
            </a:endParaRPr>
          </a:p>
        </p:txBody>
      </p:sp>
      <p:sp>
        <p:nvSpPr>
          <p:cNvPr id="15" name="右箭头 14">
            <a:extLst>
              <a:ext uri="{FF2B5EF4-FFF2-40B4-BE49-F238E27FC236}">
                <a16:creationId xmlns:a16="http://schemas.microsoft.com/office/drawing/2014/main" id="{C3C3BCA8-37F1-0B92-EC93-780465602D2A}"/>
              </a:ext>
            </a:extLst>
          </p:cNvPr>
          <p:cNvSpPr/>
          <p:nvPr/>
        </p:nvSpPr>
        <p:spPr bwMode="auto">
          <a:xfrm>
            <a:off x="8220705" y="5033760"/>
            <a:ext cx="523982" cy="387849"/>
          </a:xfrm>
          <a:prstGeom prst="rightArrow">
            <a:avLst/>
          </a:prstGeom>
          <a:solidFill>
            <a:schemeClr val="accent4">
              <a:lumMod val="60000"/>
              <a:lumOff val="40000"/>
            </a:schemeClr>
          </a:solidFill>
          <a:ln w="15875" cap="flat" cmpd="sng" algn="ctr">
            <a:solidFill>
              <a:srgbClr val="7030A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274972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FFC96-714C-D46D-CA01-32DB6462A88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D2B92C0-2418-4F07-3C1A-C435B23EE61E}"/>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1E4D8567-9F3C-082D-4AAC-235BEBDCEAFC}"/>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a:t>
            </a:r>
          </a:p>
          <a:p>
            <a:r>
              <a:rPr lang="en-US" altLang="zh-CN" sz="2933" dirty="0">
                <a:latin typeface="Times New Roman" panose="02020603050405020304" pitchFamily="18" charset="0"/>
                <a:cs typeface="Times New Roman" panose="02020603050405020304" pitchFamily="18" charset="0"/>
              </a:rPr>
              <a:t>Proposed Methods &amp; Performance Evaluation </a:t>
            </a:r>
          </a:p>
          <a:p>
            <a:pPr lvl="1"/>
            <a:r>
              <a:rPr lang="en-US" altLang="zh-CN" sz="2400" dirty="0">
                <a:latin typeface="Times New Roman" panose="02020603050405020304" pitchFamily="18" charset="0"/>
                <a:cs typeface="Times New Roman" panose="02020603050405020304" pitchFamily="18" charset="0"/>
              </a:rPr>
              <a:t>AIOS</a:t>
            </a:r>
          </a:p>
          <a:p>
            <a:pPr lvl="1"/>
            <a:r>
              <a:rPr lang="en-US" altLang="zh-CN" sz="2400" dirty="0" err="1">
                <a:solidFill>
                  <a:srgbClr val="FF0000"/>
                </a:solidFill>
                <a:latin typeface="Times New Roman" panose="02020603050405020304" pitchFamily="18" charset="0"/>
                <a:cs typeface="Times New Roman" panose="02020603050405020304" pitchFamily="18" charset="0"/>
              </a:rPr>
              <a:t>AgentSight</a:t>
            </a:r>
            <a:r>
              <a:rPr lang="en-US" altLang="zh-CN" sz="2400" dirty="0">
                <a:solidFill>
                  <a:srgbClr val="FF0000"/>
                </a:solidFill>
                <a:latin typeface="Times New Roman" panose="02020603050405020304" pitchFamily="18" charset="0"/>
                <a:cs typeface="Times New Roman" panose="02020603050405020304" pitchFamily="18" charset="0"/>
              </a:rPr>
              <a:t> </a:t>
            </a:r>
          </a:p>
          <a:p>
            <a:pPr lvl="1"/>
            <a:r>
              <a:rPr lang="en-US" altLang="zh-CN" sz="2400" dirty="0">
                <a:latin typeface="Times New Roman" panose="02020603050405020304" pitchFamily="18" charset="0"/>
                <a:cs typeface="Times New Roman" panose="02020603050405020304" pitchFamily="18" charset="0"/>
              </a:rPr>
              <a:t>Taming</a:t>
            </a:r>
            <a:r>
              <a:rPr lang="zh-CN" altLang="en-US"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Openclaw</a:t>
            </a:r>
            <a:r>
              <a:rPr lang="en-US" altLang="zh-CN" sz="2400" dirty="0">
                <a:latin typeface="Times New Roman" panose="02020603050405020304" pitchFamily="18" charset="0"/>
                <a:cs typeface="Times New Roman" panose="02020603050405020304" pitchFamily="18" charset="0"/>
              </a:rPr>
              <a:t> </a:t>
            </a:r>
          </a:p>
          <a:p>
            <a:r>
              <a:rPr lang="en-US" altLang="zh-CN" sz="2933" dirty="0">
                <a:latin typeface="Times New Roman" panose="02020603050405020304" pitchFamily="18" charset="0"/>
                <a:cs typeface="Times New Roman" panose="02020603050405020304" pitchFamily="18" charset="0"/>
              </a:rPr>
              <a:t>Conclusions</a:t>
            </a:r>
          </a:p>
          <a:p>
            <a:r>
              <a:rPr lang="en-US" altLang="zh-CN" sz="2933" dirty="0">
                <a:latin typeface="Times New Roman" panose="02020603050405020304" pitchFamily="18" charset="0"/>
                <a:cs typeface="Times New Roman" panose="02020603050405020304" pitchFamily="18" charset="0"/>
              </a:rPr>
              <a:t>Q &amp; A </a:t>
            </a:r>
          </a:p>
        </p:txBody>
      </p:sp>
      <p:sp>
        <p:nvSpPr>
          <p:cNvPr id="5" name="灯片编号占位符 1">
            <a:extLst>
              <a:ext uri="{FF2B5EF4-FFF2-40B4-BE49-F238E27FC236}">
                <a16:creationId xmlns:a16="http://schemas.microsoft.com/office/drawing/2014/main" id="{8557CDA6-C41A-90C2-EEC8-EE16306D6E58}"/>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19</a:t>
            </a:fld>
            <a:endParaRPr lang="zh-TW" altLang="en-US"/>
          </a:p>
        </p:txBody>
      </p:sp>
      <p:pic>
        <p:nvPicPr>
          <p:cNvPr id="4" name="图片 3">
            <a:extLst>
              <a:ext uri="{FF2B5EF4-FFF2-40B4-BE49-F238E27FC236}">
                <a16:creationId xmlns:a16="http://schemas.microsoft.com/office/drawing/2014/main" id="{8AE31FB2-59BC-AA45-1265-A61F973202AA}"/>
              </a:ext>
            </a:extLst>
          </p:cNvPr>
          <p:cNvPicPr>
            <a:picLocks noChangeAspect="1"/>
          </p:cNvPicPr>
          <p:nvPr/>
        </p:nvPicPr>
        <p:blipFill>
          <a:blip r:embed="rId3"/>
          <a:stretch>
            <a:fillRect/>
          </a:stretch>
        </p:blipFill>
        <p:spPr>
          <a:xfrm>
            <a:off x="5697020" y="3103470"/>
            <a:ext cx="6329738" cy="2173960"/>
          </a:xfrm>
          <a:prstGeom prst="rect">
            <a:avLst/>
          </a:prstGeom>
          <a:ln w="38100">
            <a:solidFill>
              <a:srgbClr val="7030A0"/>
            </a:solidFill>
          </a:ln>
        </p:spPr>
      </p:pic>
    </p:spTree>
    <p:extLst>
      <p:ext uri="{BB962C8B-B14F-4D97-AF65-F5344CB8AC3E}">
        <p14:creationId xmlns:p14="http://schemas.microsoft.com/office/powerpoint/2010/main" val="3050372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4CD2D-FCD7-9B1A-24BB-EAE6731BAEF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EB26800-C45D-81AD-315E-90493428576B}"/>
              </a:ext>
            </a:extLst>
          </p:cNvPr>
          <p:cNvSpPr>
            <a:spLocks noGrp="1"/>
          </p:cNvSpPr>
          <p:nvPr>
            <p:ph type="title"/>
          </p:nvPr>
        </p:nvSpPr>
        <p:spPr/>
        <p:txBody>
          <a:bodyPr/>
          <a:lstStyle/>
          <a:p>
            <a:r>
              <a:rPr lang="en-US" altLang="zh-CN" dirty="0"/>
              <a:t>3.2</a:t>
            </a:r>
            <a:r>
              <a:rPr lang="zh-CN" altLang="en-US" dirty="0"/>
              <a:t> </a:t>
            </a:r>
            <a:r>
              <a:rPr lang="en-US" altLang="zh-CN" dirty="0" err="1"/>
              <a:t>AgentSight</a:t>
            </a:r>
            <a:r>
              <a:rPr lang="en-US" altLang="zh-CN" dirty="0"/>
              <a:t> (1/4)</a:t>
            </a:r>
            <a:endParaRPr lang="zh-CN" altLang="en-US" dirty="0"/>
          </a:p>
        </p:txBody>
      </p:sp>
      <p:sp>
        <p:nvSpPr>
          <p:cNvPr id="4" name="灯片编号占位符 3">
            <a:extLst>
              <a:ext uri="{FF2B5EF4-FFF2-40B4-BE49-F238E27FC236}">
                <a16:creationId xmlns:a16="http://schemas.microsoft.com/office/drawing/2014/main" id="{2D496201-41F8-8620-0799-B7617BDF2F92}"/>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a:p>
        </p:txBody>
      </p:sp>
      <p:sp>
        <p:nvSpPr>
          <p:cNvPr id="9" name="内容占位符 5">
            <a:extLst>
              <a:ext uri="{FF2B5EF4-FFF2-40B4-BE49-F238E27FC236}">
                <a16:creationId xmlns:a16="http://schemas.microsoft.com/office/drawing/2014/main" id="{8D336522-8842-DA03-582E-49911712F269}"/>
              </a:ext>
            </a:extLst>
          </p:cNvPr>
          <p:cNvSpPr txBox="1">
            <a:spLocks/>
          </p:cNvSpPr>
          <p:nvPr/>
        </p:nvSpPr>
        <p:spPr bwMode="auto">
          <a:xfrm>
            <a:off x="624994" y="1336158"/>
            <a:ext cx="5581841" cy="17460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Key</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Problem:</a:t>
            </a:r>
            <a:r>
              <a:rPr lang="zh-CN" altLang="en-US" sz="2400"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The Semantic Gap</a:t>
            </a:r>
          </a:p>
          <a:p>
            <a:pPr lvl="1"/>
            <a:r>
              <a:rPr lang="en-US" altLang="zh-CN" sz="1867" kern="0" dirty="0">
                <a:latin typeface="Times New Roman" panose="02020603050405020304" pitchFamily="18" charset="0"/>
                <a:cs typeface="Times New Roman" panose="02020603050405020304" pitchFamily="18" charset="0"/>
              </a:rPr>
              <a:t>LLM</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can</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see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High-level LLM prompts</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&amp;</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low-level OS actions.</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But</a:t>
            </a:r>
            <a:r>
              <a:rPr lang="zh-CN" altLang="en-US" sz="1867" kern="0" dirty="0">
                <a:latin typeface="Times New Roman" panose="02020603050405020304" pitchFamily="18" charset="0"/>
                <a:cs typeface="Times New Roman" panose="02020603050405020304" pitchFamily="18" charset="0"/>
              </a:rPr>
              <a:t> </a:t>
            </a:r>
            <a:r>
              <a:rPr lang="en-US" altLang="zh-CN" sz="1867" b="1" kern="0" dirty="0">
                <a:latin typeface="Times New Roman" panose="02020603050405020304" pitchFamily="18" charset="0"/>
                <a:cs typeface="Times New Roman" panose="02020603050405020304" pitchFamily="18" charset="0"/>
              </a:rPr>
              <a:t>cannot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see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the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casual</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relationship</a:t>
            </a:r>
          </a:p>
          <a:p>
            <a:pPr lvl="1"/>
            <a:r>
              <a:rPr lang="en-US" altLang="zh-CN" sz="1867" kern="0" dirty="0">
                <a:latin typeface="Times New Roman" panose="02020603050405020304" pitchFamily="18" charset="0"/>
                <a:cs typeface="Times New Roman" panose="02020603050405020304" pitchFamily="18" charset="0"/>
              </a:rPr>
              <a:t>Application logs are easily manipulated.</a:t>
            </a:r>
          </a:p>
        </p:txBody>
      </p:sp>
      <p:sp>
        <p:nvSpPr>
          <p:cNvPr id="2" name="内容占位符 5">
            <a:extLst>
              <a:ext uri="{FF2B5EF4-FFF2-40B4-BE49-F238E27FC236}">
                <a16:creationId xmlns:a16="http://schemas.microsoft.com/office/drawing/2014/main" id="{E0414120-4A8E-7E1C-F5A7-A27E2DCDA9E9}"/>
              </a:ext>
            </a:extLst>
          </p:cNvPr>
          <p:cNvSpPr txBox="1">
            <a:spLocks/>
          </p:cNvSpPr>
          <p:nvPr/>
        </p:nvSpPr>
        <p:spPr bwMode="auto">
          <a:xfrm>
            <a:off x="624993" y="3321976"/>
            <a:ext cx="5581841" cy="21998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Methodology</a:t>
            </a:r>
            <a:r>
              <a:rPr lang="zh-CN" altLang="en-US" sz="2400" kern="0" dirty="0">
                <a:latin typeface="Times New Roman" panose="02020603050405020304" pitchFamily="18" charset="0"/>
                <a:cs typeface="Times New Roman" panose="02020603050405020304" pitchFamily="18" charset="0"/>
              </a:rPr>
              <a:t>：</a:t>
            </a:r>
            <a:endParaRPr lang="en-US" altLang="zh-CN" sz="2400" kern="0" dirty="0">
              <a:latin typeface="Times New Roman" panose="02020603050405020304" pitchFamily="18" charset="0"/>
              <a:cs typeface="Times New Roman" panose="02020603050405020304" pitchFamily="18" charset="0"/>
            </a:endParaRPr>
          </a:p>
          <a:p>
            <a:pPr marL="457176" lvl="1" indent="0">
              <a:buNone/>
            </a:pPr>
            <a:r>
              <a:rPr lang="en-US" altLang="zh-CN" sz="1867" kern="0" dirty="0" err="1">
                <a:latin typeface="Times New Roman" panose="02020603050405020304" pitchFamily="18" charset="0"/>
                <a:cs typeface="Times New Roman" panose="02020603050405020304" pitchFamily="18" charset="0"/>
              </a:rPr>
              <a:t>AgentSight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Framework</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Boundary</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Tracing</a:t>
            </a:r>
          </a:p>
          <a:p>
            <a:pPr lvl="1">
              <a:buFontTx/>
              <a:buChar char="-"/>
            </a:pPr>
            <a:r>
              <a:rPr lang="en-US" altLang="zh-CN" sz="1867" kern="0" dirty="0">
                <a:latin typeface="Times New Roman" panose="02020603050405020304" pitchFamily="18" charset="0"/>
                <a:cs typeface="Times New Roman" panose="02020603050405020304" pitchFamily="18" charset="0"/>
              </a:rPr>
              <a:t>Instrumental-free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technique</a:t>
            </a:r>
          </a:p>
          <a:p>
            <a:pPr lvl="1">
              <a:buFontTx/>
              <a:buChar char="-"/>
            </a:pPr>
            <a:r>
              <a:rPr lang="en-US" altLang="zh-CN" sz="1867" kern="0" dirty="0">
                <a:latin typeface="Times New Roman" panose="02020603050405020304" pitchFamily="18" charset="0"/>
                <a:cs typeface="Times New Roman" panose="02020603050405020304" pitchFamily="18" charset="0"/>
              </a:rPr>
              <a:t>Framework-agnostic</a:t>
            </a:r>
          </a:p>
          <a:p>
            <a:pPr lvl="1">
              <a:buFontTx/>
              <a:buChar char="-"/>
            </a:pPr>
            <a:r>
              <a:rPr lang="en-US" altLang="zh-CN" sz="1867" kern="0" dirty="0">
                <a:latin typeface="Times New Roman" panose="02020603050405020304" pitchFamily="18" charset="0"/>
                <a:cs typeface="Times New Roman" panose="02020603050405020304" pitchFamily="18" charset="0"/>
              </a:rPr>
              <a:t>Detect: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Prompt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injection,</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resource-wasting</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loops,</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hidden</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coordination</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bottlenecks</a:t>
            </a:r>
          </a:p>
        </p:txBody>
      </p:sp>
      <p:pic>
        <p:nvPicPr>
          <p:cNvPr id="6" name="图片 5">
            <a:extLst>
              <a:ext uri="{FF2B5EF4-FFF2-40B4-BE49-F238E27FC236}">
                <a16:creationId xmlns:a16="http://schemas.microsoft.com/office/drawing/2014/main" id="{B58822F6-2BCF-DACC-DB15-4601E1358CAF}"/>
              </a:ext>
            </a:extLst>
          </p:cNvPr>
          <p:cNvPicPr>
            <a:picLocks noChangeAspect="1"/>
          </p:cNvPicPr>
          <p:nvPr/>
        </p:nvPicPr>
        <p:blipFill>
          <a:blip r:embed="rId3"/>
          <a:srcRect b="10001"/>
          <a:stretch>
            <a:fillRect/>
          </a:stretch>
        </p:blipFill>
        <p:spPr>
          <a:xfrm>
            <a:off x="6803656" y="1073650"/>
            <a:ext cx="4763350" cy="4448192"/>
          </a:xfrm>
          <a:prstGeom prst="rect">
            <a:avLst/>
          </a:prstGeom>
        </p:spPr>
      </p:pic>
      <p:sp>
        <p:nvSpPr>
          <p:cNvPr id="7" name="文本框 6">
            <a:extLst>
              <a:ext uri="{FF2B5EF4-FFF2-40B4-BE49-F238E27FC236}">
                <a16:creationId xmlns:a16="http://schemas.microsoft.com/office/drawing/2014/main" id="{8D7B908D-A5E0-83E7-618C-076D98E8E5D1}"/>
              </a:ext>
            </a:extLst>
          </p:cNvPr>
          <p:cNvSpPr txBox="1"/>
          <p:nvPr/>
        </p:nvSpPr>
        <p:spPr>
          <a:xfrm>
            <a:off x="5905201" y="5623125"/>
            <a:ext cx="6832003" cy="400110"/>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4.</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Agent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framework</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overview</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608133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6FF74-185E-DE63-1016-6C9A5BB43267}"/>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D6DC555E-1CA4-2E2D-89D2-50139F3B63FB}"/>
              </a:ext>
            </a:extLst>
          </p:cNvPr>
          <p:cNvSpPr>
            <a:spLocks noGrp="1"/>
          </p:cNvSpPr>
          <p:nvPr>
            <p:ph type="title"/>
          </p:nvPr>
        </p:nvSpPr>
        <p:spPr/>
        <p:txBody>
          <a:bodyPr/>
          <a:lstStyle/>
          <a:p>
            <a:r>
              <a:rPr lang="en-US" altLang="zh-CN" dirty="0"/>
              <a:t>3.2</a:t>
            </a:r>
            <a:r>
              <a:rPr lang="zh-CN" altLang="en-US" dirty="0"/>
              <a:t> </a:t>
            </a:r>
            <a:r>
              <a:rPr lang="en-US" altLang="zh-CN" dirty="0" err="1"/>
              <a:t>AgentSight</a:t>
            </a:r>
            <a:r>
              <a:rPr lang="en-US" altLang="zh-CN" dirty="0"/>
              <a:t> (2/4)</a:t>
            </a:r>
            <a:endParaRPr lang="zh-CN" altLang="en-US" dirty="0"/>
          </a:p>
        </p:txBody>
      </p:sp>
      <p:sp>
        <p:nvSpPr>
          <p:cNvPr id="4" name="灯片编号占位符 3">
            <a:extLst>
              <a:ext uri="{FF2B5EF4-FFF2-40B4-BE49-F238E27FC236}">
                <a16:creationId xmlns:a16="http://schemas.microsoft.com/office/drawing/2014/main" id="{641CEA02-7B79-EAD6-330C-4A6B1F67EEB0}"/>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
        <p:nvSpPr>
          <p:cNvPr id="9" name="内容占位符 5">
            <a:extLst>
              <a:ext uri="{FF2B5EF4-FFF2-40B4-BE49-F238E27FC236}">
                <a16:creationId xmlns:a16="http://schemas.microsoft.com/office/drawing/2014/main" id="{C7950C96-761D-3473-C597-1021E0CD01B3}"/>
              </a:ext>
            </a:extLst>
          </p:cNvPr>
          <p:cNvSpPr txBox="1">
            <a:spLocks/>
          </p:cNvSpPr>
          <p:nvPr/>
        </p:nvSpPr>
        <p:spPr bwMode="auto">
          <a:xfrm>
            <a:off x="514159" y="1469724"/>
            <a:ext cx="5581841" cy="17460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Step 1: </a:t>
            </a:r>
            <a:r>
              <a:rPr lang="en-US" altLang="zh-CN" sz="2400" kern="0" dirty="0" err="1">
                <a:latin typeface="Times New Roman" panose="02020603050405020304" pitchFamily="18" charset="0"/>
                <a:cs typeface="Times New Roman" panose="02020603050405020304" pitchFamily="18" charset="0"/>
              </a:rPr>
              <a:t>eBPF</a:t>
            </a:r>
            <a:r>
              <a:rPr lang="en-US" altLang="zh-CN" sz="2400" kern="0" dirty="0">
                <a:latin typeface="Times New Roman" panose="02020603050405020304" pitchFamily="18" charset="0"/>
                <a:cs typeface="Times New Roman" panose="02020603050405020304" pitchFamily="18" charset="0"/>
              </a:rPr>
              <a:t>-based Intent and Effect Extraction</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(Boundary</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Tracing)</a:t>
            </a:r>
          </a:p>
          <a:p>
            <a:pPr lvl="1"/>
            <a:r>
              <a:rPr lang="en-US" altLang="zh-CN" sz="1867" b="1" kern="0" dirty="0">
                <a:latin typeface="Times New Roman" panose="02020603050405020304" pitchFamily="18" charset="0"/>
                <a:cs typeface="Times New Roman" panose="02020603050405020304" pitchFamily="18" charset="0"/>
              </a:rPr>
              <a:t>Intent</a:t>
            </a:r>
            <a:r>
              <a:rPr lang="zh-CN" altLang="en-US" sz="1867" b="1" kern="0" dirty="0">
                <a:latin typeface="Times New Roman" panose="02020603050405020304" pitchFamily="18" charset="0"/>
                <a:cs typeface="Times New Roman" panose="02020603050405020304" pitchFamily="18" charset="0"/>
              </a:rPr>
              <a:t> </a:t>
            </a:r>
            <a:r>
              <a:rPr lang="en-US" altLang="zh-CN" sz="1867" b="1" kern="0" dirty="0">
                <a:latin typeface="Times New Roman" panose="02020603050405020304" pitchFamily="18" charset="0"/>
                <a:cs typeface="Times New Roman" panose="02020603050405020304" pitchFamily="18" charset="0"/>
              </a:rPr>
              <a:t>Extraction</a:t>
            </a:r>
            <a:r>
              <a:rPr lang="zh-CN" altLang="en-US" sz="1867" b="1" kern="0" dirty="0">
                <a:latin typeface="Times New Roman" panose="02020603050405020304" pitchFamily="18" charset="0"/>
                <a:cs typeface="Times New Roman" panose="02020603050405020304" pitchFamily="18" charset="0"/>
              </a:rPr>
              <a:t> </a:t>
            </a:r>
            <a:r>
              <a:rPr lang="en-US" altLang="zh-CN" sz="1867" b="1" kern="0" dirty="0">
                <a:latin typeface="Times New Roman" panose="02020603050405020304" pitchFamily="18" charset="0"/>
                <a:cs typeface="Times New Roman" panose="02020603050405020304" pitchFamily="18" charset="0"/>
              </a:rPr>
              <a:t>in</a:t>
            </a:r>
            <a:r>
              <a:rPr lang="zh-CN" altLang="en-US" sz="1867" b="1" kern="0" dirty="0">
                <a:latin typeface="Times New Roman" panose="02020603050405020304" pitchFamily="18" charset="0"/>
                <a:cs typeface="Times New Roman" panose="02020603050405020304" pitchFamily="18" charset="0"/>
              </a:rPr>
              <a:t> </a:t>
            </a:r>
            <a:r>
              <a:rPr lang="en-US" altLang="zh-CN" sz="1867" b="1" kern="0" dirty="0">
                <a:latin typeface="Times New Roman" panose="02020603050405020304" pitchFamily="18" charset="0"/>
                <a:cs typeface="Times New Roman" panose="02020603050405020304" pitchFamily="18" charset="0"/>
              </a:rPr>
              <a:t>User</a:t>
            </a:r>
            <a:r>
              <a:rPr lang="zh-CN" altLang="en-US" sz="1867" b="1" kern="0" dirty="0">
                <a:latin typeface="Times New Roman" panose="02020603050405020304" pitchFamily="18" charset="0"/>
                <a:cs typeface="Times New Roman" panose="02020603050405020304" pitchFamily="18" charset="0"/>
              </a:rPr>
              <a:t> </a:t>
            </a:r>
            <a:r>
              <a:rPr lang="en-US" altLang="zh-CN" sz="1867" b="1" kern="0" dirty="0">
                <a:latin typeface="Times New Roman" panose="02020603050405020304" pitchFamily="18" charset="0"/>
                <a:cs typeface="Times New Roman" panose="02020603050405020304" pitchFamily="18" charset="0"/>
              </a:rPr>
              <a:t>Space</a:t>
            </a:r>
          </a:p>
          <a:p>
            <a:pPr marL="914354" lvl="2" indent="0">
              <a:buNone/>
            </a:pPr>
            <a:r>
              <a:rPr lang="en-US" altLang="zh-CN" sz="1600" kern="0" dirty="0">
                <a:latin typeface="Times New Roman" panose="02020603050405020304" pitchFamily="18" charset="0"/>
                <a:cs typeface="Times New Roman" panose="02020603050405020304" pitchFamily="18" charset="0"/>
              </a:rPr>
              <a:t>Intercepting and decrypting TLS traffic in the network protocol stack,</a:t>
            </a:r>
            <a:r>
              <a:rPr lang="zh-CN" altLang="en-US" sz="1600" kern="0" dirty="0">
                <a:latin typeface="Times New Roman" panose="02020603050405020304" pitchFamily="18" charset="0"/>
                <a:cs typeface="Times New Roman" panose="02020603050405020304" pitchFamily="18" charset="0"/>
              </a:rPr>
              <a:t> </a:t>
            </a:r>
            <a:r>
              <a:rPr lang="en-US" altLang="zh-CN" sz="1600" kern="0" dirty="0">
                <a:latin typeface="Times New Roman" panose="02020603050405020304" pitchFamily="18" charset="0"/>
                <a:cs typeface="Times New Roman" panose="02020603050405020304" pitchFamily="18" charset="0"/>
              </a:rPr>
              <a:t>extracting high-dimensional semantic data from LLM API calls</a:t>
            </a:r>
          </a:p>
          <a:p>
            <a:pPr lvl="1"/>
            <a:r>
              <a:rPr lang="en-US" altLang="zh-CN" sz="1867" b="1" kern="0" dirty="0">
                <a:latin typeface="Times New Roman" panose="02020603050405020304" pitchFamily="18" charset="0"/>
                <a:cs typeface="Times New Roman" panose="02020603050405020304" pitchFamily="18" charset="0"/>
              </a:rPr>
              <a:t>Action</a:t>
            </a:r>
            <a:r>
              <a:rPr lang="zh-CN" altLang="en-US" sz="1867" b="1" kern="0" dirty="0">
                <a:latin typeface="Times New Roman" panose="02020603050405020304" pitchFamily="18" charset="0"/>
                <a:cs typeface="Times New Roman" panose="02020603050405020304" pitchFamily="18" charset="0"/>
              </a:rPr>
              <a:t> </a:t>
            </a:r>
            <a:r>
              <a:rPr lang="en-US" altLang="zh-CN" sz="1867" b="1" kern="0" dirty="0">
                <a:latin typeface="Times New Roman" panose="02020603050405020304" pitchFamily="18" charset="0"/>
                <a:cs typeface="Times New Roman" panose="02020603050405020304" pitchFamily="18" charset="0"/>
              </a:rPr>
              <a:t>Extraction</a:t>
            </a:r>
            <a:r>
              <a:rPr lang="zh-CN" altLang="en-US" sz="1867" b="1" kern="0" dirty="0">
                <a:latin typeface="Times New Roman" panose="02020603050405020304" pitchFamily="18" charset="0"/>
                <a:cs typeface="Times New Roman" panose="02020603050405020304" pitchFamily="18" charset="0"/>
              </a:rPr>
              <a:t> </a:t>
            </a:r>
            <a:r>
              <a:rPr lang="en-US" altLang="zh-CN" sz="1867" b="1" kern="0" dirty="0">
                <a:latin typeface="Times New Roman" panose="02020603050405020304" pitchFamily="18" charset="0"/>
                <a:cs typeface="Times New Roman" panose="02020603050405020304" pitchFamily="18" charset="0"/>
              </a:rPr>
              <a:t>in</a:t>
            </a:r>
            <a:r>
              <a:rPr lang="zh-CN" altLang="en-US" sz="1867" b="1" kern="0" dirty="0">
                <a:latin typeface="Times New Roman" panose="02020603050405020304" pitchFamily="18" charset="0"/>
                <a:cs typeface="Times New Roman" panose="02020603050405020304" pitchFamily="18" charset="0"/>
              </a:rPr>
              <a:t> </a:t>
            </a:r>
            <a:r>
              <a:rPr lang="en-US" altLang="zh-CN" sz="1867" b="1" kern="0" dirty="0">
                <a:latin typeface="Times New Roman" panose="02020603050405020304" pitchFamily="18" charset="0"/>
                <a:cs typeface="Times New Roman" panose="02020603050405020304" pitchFamily="18" charset="0"/>
              </a:rPr>
              <a:t>Kernel</a:t>
            </a:r>
            <a:r>
              <a:rPr lang="zh-CN" altLang="en-US" sz="1867" b="1" kern="0" dirty="0">
                <a:latin typeface="Times New Roman" panose="02020603050405020304" pitchFamily="18" charset="0"/>
                <a:cs typeface="Times New Roman" panose="02020603050405020304" pitchFamily="18" charset="0"/>
              </a:rPr>
              <a:t> </a:t>
            </a:r>
            <a:r>
              <a:rPr lang="en-US" altLang="zh-CN" sz="1867" b="1" kern="0" dirty="0">
                <a:latin typeface="Times New Roman" panose="02020603050405020304" pitchFamily="18" charset="0"/>
                <a:cs typeface="Times New Roman" panose="02020603050405020304" pitchFamily="18" charset="0"/>
              </a:rPr>
              <a:t>Space</a:t>
            </a:r>
          </a:p>
          <a:p>
            <a:pPr marL="914354" lvl="2" indent="0">
              <a:buNone/>
            </a:pPr>
            <a:r>
              <a:rPr lang="en-US" altLang="zh-CN" sz="1600" kern="0" dirty="0">
                <a:latin typeface="Times New Roman" panose="02020603050405020304" pitchFamily="18" charset="0"/>
                <a:cs typeface="Times New Roman" panose="02020603050405020304" pitchFamily="18" charset="0"/>
              </a:rPr>
              <a:t>Monitoring process creation (</a:t>
            </a:r>
            <a:r>
              <a:rPr lang="en-US" altLang="zh-CN" sz="1600" kern="0" dirty="0" err="1">
                <a:latin typeface="Times New Roman" panose="02020603050405020304" pitchFamily="18" charset="0"/>
                <a:cs typeface="Times New Roman" panose="02020603050405020304" pitchFamily="18" charset="0"/>
              </a:rPr>
              <a:t>execve</a:t>
            </a:r>
            <a:r>
              <a:rPr lang="en-US" altLang="zh-CN" sz="1600" kern="0" dirty="0">
                <a:latin typeface="Times New Roman" panose="02020603050405020304" pitchFamily="18" charset="0"/>
                <a:cs typeface="Times New Roman" panose="02020603050405020304" pitchFamily="18" charset="0"/>
              </a:rPr>
              <a:t>), file read and write, and other underlying events (Effects)</a:t>
            </a:r>
          </a:p>
        </p:txBody>
      </p:sp>
      <p:sp>
        <p:nvSpPr>
          <p:cNvPr id="3" name="文本框 2">
            <a:extLst>
              <a:ext uri="{FF2B5EF4-FFF2-40B4-BE49-F238E27FC236}">
                <a16:creationId xmlns:a16="http://schemas.microsoft.com/office/drawing/2014/main" id="{2645BDEE-B83C-12BF-D180-401225B6D550}"/>
              </a:ext>
            </a:extLst>
          </p:cNvPr>
          <p:cNvSpPr txBox="1"/>
          <p:nvPr/>
        </p:nvSpPr>
        <p:spPr>
          <a:xfrm>
            <a:off x="1660998" y="4577514"/>
            <a:ext cx="3179075" cy="1231106"/>
          </a:xfrm>
          <a:prstGeom prst="rect">
            <a:avLst/>
          </a:prstGeom>
          <a:noFill/>
        </p:spPr>
        <p:txBody>
          <a:bodyPr wrap="none" rtlCol="0" anchor="ctr" anchorCtr="1">
            <a:spAutoFit/>
          </a:bodyPr>
          <a:lstStyle/>
          <a:p>
            <a:pPr algn="ctr"/>
            <a:r>
              <a:rPr kumimoji="1" lang="en-US" altLang="zh-CN" sz="2000" b="1" dirty="0">
                <a:latin typeface="Times New Roman" panose="02020603050405020304" pitchFamily="18" charset="0"/>
                <a:ea typeface="標楷體" pitchFamily="65" charset="-120"/>
                <a:cs typeface="Times New Roman" panose="02020603050405020304" pitchFamily="18" charset="0"/>
              </a:rPr>
              <a:t>Output</a:t>
            </a:r>
            <a:endParaRPr kumimoji="1" lang="en-US" altLang="zh-CN" sz="2000" dirty="0">
              <a:latin typeface="Times New Roman" panose="02020603050405020304" pitchFamily="18" charset="0"/>
              <a:ea typeface="標楷體" pitchFamily="65" charset="-120"/>
              <a:cs typeface="Times New Roman" panose="02020603050405020304" pitchFamily="18" charset="0"/>
            </a:endParaRPr>
          </a:p>
          <a:p>
            <a:pPr algn="ctr"/>
            <a:r>
              <a:rPr kumimoji="1" lang="en-US" altLang="zh-CN" dirty="0">
                <a:latin typeface="Times New Roman" panose="02020603050405020304" pitchFamily="18" charset="0"/>
                <a:ea typeface="標楷體" pitchFamily="65" charset="-120"/>
                <a:cs typeface="Times New Roman" panose="02020603050405020304" pitchFamily="18" charset="0"/>
              </a:rPr>
              <a:t>Structured</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a:latin typeface="Times New Roman" panose="02020603050405020304" pitchFamily="18" charset="0"/>
                <a:ea typeface="標楷體" pitchFamily="65" charset="-120"/>
                <a:cs typeface="Times New Roman" panose="02020603050405020304" pitchFamily="18" charset="0"/>
              </a:rPr>
              <a:t>Prompt</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a:latin typeface="Times New Roman" panose="02020603050405020304" pitchFamily="18" charset="0"/>
                <a:ea typeface="標楷體" pitchFamily="65" charset="-120"/>
                <a:cs typeface="Times New Roman" panose="02020603050405020304" pitchFamily="18" charset="0"/>
              </a:rPr>
              <a:t>JSON</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a:latin typeface="Times New Roman" panose="02020603050405020304" pitchFamily="18" charset="0"/>
                <a:ea typeface="標楷體" pitchFamily="65" charset="-120"/>
                <a:cs typeface="Times New Roman" panose="02020603050405020304" pitchFamily="18" charset="0"/>
              </a:rPr>
              <a:t>Events</a:t>
            </a:r>
          </a:p>
          <a:p>
            <a:pPr algn="ctr"/>
            <a:r>
              <a:rPr kumimoji="1" lang="en-US" altLang="zh-CN" dirty="0">
                <a:latin typeface="Times New Roman" panose="02020603050405020304" pitchFamily="18" charset="0"/>
                <a:ea typeface="標楷體" pitchFamily="65" charset="-120"/>
                <a:cs typeface="Times New Roman" panose="02020603050405020304" pitchFamily="18" charset="0"/>
              </a:rPr>
              <a:t>+</a:t>
            </a:r>
            <a:br>
              <a:rPr kumimoji="1" lang="en-US" altLang="zh-CN" dirty="0">
                <a:latin typeface="Times New Roman" panose="02020603050405020304" pitchFamily="18" charset="0"/>
                <a:ea typeface="標楷體" pitchFamily="65" charset="-120"/>
                <a:cs typeface="Times New Roman" panose="02020603050405020304" pitchFamily="18" charset="0"/>
              </a:rPr>
            </a:br>
            <a:r>
              <a:rPr kumimoji="1" lang="en-US" altLang="zh-CN" dirty="0">
                <a:latin typeface="Times New Roman" panose="02020603050405020304" pitchFamily="18" charset="0"/>
                <a:ea typeface="標楷體" pitchFamily="65" charset="-120"/>
                <a:cs typeface="Times New Roman" panose="02020603050405020304" pitchFamily="18" charset="0"/>
              </a:rPr>
              <a:t>Kernel</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err="1">
                <a:latin typeface="Times New Roman" panose="02020603050405020304" pitchFamily="18" charset="0"/>
                <a:ea typeface="標楷體" pitchFamily="65" charset="-120"/>
                <a:cs typeface="Times New Roman" panose="02020603050405020304" pitchFamily="18" charset="0"/>
              </a:rPr>
              <a:t>Syscall</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a:latin typeface="Times New Roman" panose="02020603050405020304" pitchFamily="18" charset="0"/>
                <a:ea typeface="標楷體" pitchFamily="65" charset="-120"/>
                <a:cs typeface="Times New Roman" panose="02020603050405020304" pitchFamily="18" charset="0"/>
              </a:rPr>
              <a:t>Logs</a:t>
            </a:r>
            <a:endParaRPr kumimoji="1" lang="zh-CN" altLang="en-US" dirty="0">
              <a:latin typeface="Times New Roman" panose="02020603050405020304" pitchFamily="18" charset="0"/>
              <a:ea typeface="標楷體" pitchFamily="65" charset="-120"/>
              <a:cs typeface="Times New Roman" panose="02020603050405020304" pitchFamily="18" charset="0"/>
            </a:endParaRPr>
          </a:p>
        </p:txBody>
      </p:sp>
      <p:pic>
        <p:nvPicPr>
          <p:cNvPr id="7" name="图片 6">
            <a:extLst>
              <a:ext uri="{FF2B5EF4-FFF2-40B4-BE49-F238E27FC236}">
                <a16:creationId xmlns:a16="http://schemas.microsoft.com/office/drawing/2014/main" id="{54125308-F460-7284-EB19-67D31E1D7F9F}"/>
              </a:ext>
            </a:extLst>
          </p:cNvPr>
          <p:cNvPicPr>
            <a:picLocks noChangeAspect="1"/>
          </p:cNvPicPr>
          <p:nvPr/>
        </p:nvPicPr>
        <p:blipFill>
          <a:blip r:embed="rId3"/>
          <a:srcRect b="9931"/>
          <a:stretch>
            <a:fillRect/>
          </a:stretch>
        </p:blipFill>
        <p:spPr>
          <a:xfrm>
            <a:off x="6416210" y="1368893"/>
            <a:ext cx="5406931" cy="3782656"/>
          </a:xfrm>
          <a:prstGeom prst="rect">
            <a:avLst/>
          </a:prstGeom>
        </p:spPr>
      </p:pic>
      <p:sp>
        <p:nvSpPr>
          <p:cNvPr id="2" name="文本框 1">
            <a:extLst>
              <a:ext uri="{FF2B5EF4-FFF2-40B4-BE49-F238E27FC236}">
                <a16:creationId xmlns:a16="http://schemas.microsoft.com/office/drawing/2014/main" id="{9A0A3EB3-EC2E-64D1-2CEB-AA3834B1C572}"/>
              </a:ext>
            </a:extLst>
          </p:cNvPr>
          <p:cNvSpPr txBox="1"/>
          <p:nvPr/>
        </p:nvSpPr>
        <p:spPr>
          <a:xfrm>
            <a:off x="5892323" y="5283715"/>
            <a:ext cx="6832003" cy="400110"/>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5.</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err="1">
                <a:latin typeface="Times New Roman" panose="02020603050405020304" pitchFamily="18" charset="0"/>
                <a:ea typeface="標楷體" pitchFamily="65" charset="-120"/>
                <a:cs typeface="Times New Roman" panose="02020603050405020304" pitchFamily="18" charset="0"/>
              </a:rPr>
              <a:t>AgentSight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architecture</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336538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D8BB7-40F1-A2B4-7E0F-EFB98617B0C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8BC1E64-7F9A-5646-5CC3-4A7018BE08FA}"/>
              </a:ext>
            </a:extLst>
          </p:cNvPr>
          <p:cNvSpPr>
            <a:spLocks noGrp="1"/>
          </p:cNvSpPr>
          <p:nvPr>
            <p:ph type="title"/>
          </p:nvPr>
        </p:nvSpPr>
        <p:spPr/>
        <p:txBody>
          <a:bodyPr/>
          <a:lstStyle/>
          <a:p>
            <a:r>
              <a:rPr lang="en-US" altLang="zh-CN" dirty="0"/>
              <a:t>3.2</a:t>
            </a:r>
            <a:r>
              <a:rPr lang="zh-CN" altLang="en-US" dirty="0"/>
              <a:t> </a:t>
            </a:r>
            <a:r>
              <a:rPr lang="en-US" altLang="zh-CN" dirty="0" err="1"/>
              <a:t>AgentSight</a:t>
            </a:r>
            <a:r>
              <a:rPr lang="en-US" altLang="zh-CN" dirty="0"/>
              <a:t> (2/4)</a:t>
            </a:r>
            <a:endParaRPr lang="zh-CN" altLang="en-US" dirty="0"/>
          </a:p>
        </p:txBody>
      </p:sp>
      <p:sp>
        <p:nvSpPr>
          <p:cNvPr id="4" name="灯片编号占位符 3">
            <a:extLst>
              <a:ext uri="{FF2B5EF4-FFF2-40B4-BE49-F238E27FC236}">
                <a16:creationId xmlns:a16="http://schemas.microsoft.com/office/drawing/2014/main" id="{35622B2B-4D74-3E86-3D31-1CB4DA690036}"/>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a:p>
        </p:txBody>
      </p:sp>
      <p:sp>
        <p:nvSpPr>
          <p:cNvPr id="9" name="内容占位符 5">
            <a:extLst>
              <a:ext uri="{FF2B5EF4-FFF2-40B4-BE49-F238E27FC236}">
                <a16:creationId xmlns:a16="http://schemas.microsoft.com/office/drawing/2014/main" id="{D742B99B-A795-AA9D-A8D7-725961AAACEF}"/>
              </a:ext>
            </a:extLst>
          </p:cNvPr>
          <p:cNvSpPr txBox="1">
            <a:spLocks/>
          </p:cNvSpPr>
          <p:nvPr/>
        </p:nvSpPr>
        <p:spPr bwMode="auto">
          <a:xfrm>
            <a:off x="514159" y="1187042"/>
            <a:ext cx="5581841" cy="17460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Step 2: Real-time Causal Correlation</a:t>
            </a:r>
          </a:p>
          <a:p>
            <a:pPr lvl="1"/>
            <a:r>
              <a:rPr lang="en-US" altLang="zh-CN" sz="1867" kern="0" dirty="0">
                <a:latin typeface="Times New Roman" panose="02020603050405020304" pitchFamily="18" charset="0"/>
                <a:cs typeface="Times New Roman" panose="02020603050405020304" pitchFamily="18" charset="0"/>
              </a:rPr>
              <a:t>Map</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the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Intent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with</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Actions</a:t>
            </a:r>
          </a:p>
          <a:p>
            <a:pPr lvl="1"/>
            <a:r>
              <a:rPr lang="en-US" altLang="zh-CN" sz="1867" kern="0" dirty="0">
                <a:latin typeface="Times New Roman" panose="02020603050405020304" pitchFamily="18" charset="0"/>
                <a:cs typeface="Times New Roman" panose="02020603050405020304" pitchFamily="18" charset="0"/>
              </a:rPr>
              <a:t>Based</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on</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Timestamps</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PID/TID</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Process</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Tree</a:t>
            </a:r>
          </a:p>
        </p:txBody>
      </p:sp>
      <p:sp>
        <p:nvSpPr>
          <p:cNvPr id="3" name="文本框 2">
            <a:extLst>
              <a:ext uri="{FF2B5EF4-FFF2-40B4-BE49-F238E27FC236}">
                <a16:creationId xmlns:a16="http://schemas.microsoft.com/office/drawing/2014/main" id="{83DFBA12-9A0B-6EAC-3853-F74E33E8408E}"/>
              </a:ext>
            </a:extLst>
          </p:cNvPr>
          <p:cNvSpPr txBox="1"/>
          <p:nvPr/>
        </p:nvSpPr>
        <p:spPr>
          <a:xfrm>
            <a:off x="1690057" y="2409844"/>
            <a:ext cx="3653564" cy="954107"/>
          </a:xfrm>
          <a:prstGeom prst="rect">
            <a:avLst/>
          </a:prstGeom>
          <a:noFill/>
        </p:spPr>
        <p:txBody>
          <a:bodyPr wrap="none" rtlCol="0" anchor="ctr" anchorCtr="1">
            <a:spAutoFit/>
          </a:bodyPr>
          <a:lstStyle/>
          <a:p>
            <a:pPr algn="ctr"/>
            <a:r>
              <a:rPr kumimoji="1" lang="en-US" altLang="zh-CN" sz="2000" b="1" dirty="0">
                <a:latin typeface="Times New Roman" panose="02020603050405020304" pitchFamily="18" charset="0"/>
                <a:ea typeface="標楷體" pitchFamily="65" charset="-120"/>
                <a:cs typeface="Times New Roman" panose="02020603050405020304" pitchFamily="18" charset="0"/>
              </a:rPr>
              <a:t>Output</a:t>
            </a:r>
            <a:endParaRPr kumimoji="1" lang="en-US" altLang="zh-CN" sz="2000" dirty="0">
              <a:latin typeface="Times New Roman" panose="02020603050405020304" pitchFamily="18" charset="0"/>
              <a:ea typeface="標楷體" pitchFamily="65" charset="-120"/>
              <a:cs typeface="Times New Roman" panose="02020603050405020304" pitchFamily="18" charset="0"/>
            </a:endParaRPr>
          </a:p>
          <a:p>
            <a:pPr algn="ctr"/>
            <a:r>
              <a:rPr kumimoji="1" lang="en-US" altLang="zh-CN" dirty="0">
                <a:latin typeface="Times New Roman" panose="02020603050405020304" pitchFamily="18" charset="0"/>
                <a:ea typeface="標楷體" pitchFamily="65" charset="-120"/>
                <a:cs typeface="Times New Roman" panose="02020603050405020304" pitchFamily="18" charset="0"/>
              </a:rPr>
              <a:t>The</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a:latin typeface="Times New Roman" panose="02020603050405020304" pitchFamily="18" charset="0"/>
                <a:ea typeface="標楷體" pitchFamily="65" charset="-120"/>
                <a:cs typeface="Times New Roman" panose="02020603050405020304" pitchFamily="18" charset="0"/>
              </a:rPr>
              <a:t>complete execution chain bound </a:t>
            </a:r>
          </a:p>
          <a:p>
            <a:pPr algn="ctr"/>
            <a:r>
              <a:rPr kumimoji="1" lang="en-US" altLang="zh-CN" dirty="0">
                <a:latin typeface="Times New Roman" panose="02020603050405020304" pitchFamily="18" charset="0"/>
                <a:ea typeface="標楷體" pitchFamily="65" charset="-120"/>
                <a:cs typeface="Times New Roman" panose="02020603050405020304" pitchFamily="18" charset="0"/>
              </a:rPr>
              <a:t>across process boundaries</a:t>
            </a:r>
            <a:endParaRPr kumimoji="1" lang="zh-CN" altLang="en-US" dirty="0">
              <a:latin typeface="Times New Roman" panose="02020603050405020304" pitchFamily="18" charset="0"/>
              <a:ea typeface="標楷體" pitchFamily="65" charset="-120"/>
              <a:cs typeface="Times New Roman" panose="02020603050405020304" pitchFamily="18" charset="0"/>
            </a:endParaRPr>
          </a:p>
        </p:txBody>
      </p:sp>
      <p:sp>
        <p:nvSpPr>
          <p:cNvPr id="2" name="内容占位符 5">
            <a:extLst>
              <a:ext uri="{FF2B5EF4-FFF2-40B4-BE49-F238E27FC236}">
                <a16:creationId xmlns:a16="http://schemas.microsoft.com/office/drawing/2014/main" id="{0CB815A6-DA74-DDE6-480E-3E4352669DB9}"/>
              </a:ext>
            </a:extLst>
          </p:cNvPr>
          <p:cNvSpPr txBox="1">
            <a:spLocks/>
          </p:cNvSpPr>
          <p:nvPr/>
        </p:nvSpPr>
        <p:spPr bwMode="auto">
          <a:xfrm>
            <a:off x="604914" y="3539963"/>
            <a:ext cx="5581841" cy="17460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Step 3: LLM</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Semantic</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Analysis</a:t>
            </a:r>
          </a:p>
          <a:p>
            <a:pPr lvl="1"/>
            <a:r>
              <a:rPr lang="en-US" altLang="zh-CN" sz="1867" kern="0" dirty="0">
                <a:latin typeface="Times New Roman" panose="02020603050405020304" pitchFamily="18" charset="0"/>
                <a:cs typeface="Times New Roman" panose="02020603050405020304" pitchFamily="18" charset="0"/>
              </a:rPr>
              <a:t>Inferring operational risks and identifying abnormal patterns (such as requests that do not match actual execution, or repeated similar failed calls)</a:t>
            </a:r>
          </a:p>
          <a:p>
            <a:pPr lvl="1"/>
            <a:endParaRPr lang="en-US" altLang="zh-CN" sz="1867" kern="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53983BBB-2339-6B0B-79E1-BDA141F9FCC6}"/>
              </a:ext>
            </a:extLst>
          </p:cNvPr>
          <p:cNvSpPr txBox="1"/>
          <p:nvPr/>
        </p:nvSpPr>
        <p:spPr>
          <a:xfrm>
            <a:off x="2919525" y="5251689"/>
            <a:ext cx="1293944" cy="677108"/>
          </a:xfrm>
          <a:prstGeom prst="rect">
            <a:avLst/>
          </a:prstGeom>
          <a:noFill/>
        </p:spPr>
        <p:txBody>
          <a:bodyPr wrap="none" rtlCol="0" anchor="ctr" anchorCtr="1">
            <a:spAutoFit/>
          </a:bodyPr>
          <a:lstStyle/>
          <a:p>
            <a:pPr algn="ctr"/>
            <a:r>
              <a:rPr kumimoji="1" lang="en-US" altLang="zh-CN" sz="2000" b="1" dirty="0">
                <a:latin typeface="Times New Roman" panose="02020603050405020304" pitchFamily="18" charset="0"/>
                <a:ea typeface="標楷體" pitchFamily="65" charset="-120"/>
                <a:cs typeface="Times New Roman" panose="02020603050405020304" pitchFamily="18" charset="0"/>
              </a:rPr>
              <a:t>Output</a:t>
            </a:r>
            <a:endParaRPr kumimoji="1" lang="en-US" altLang="zh-CN" sz="2000" dirty="0">
              <a:latin typeface="Times New Roman" panose="02020603050405020304" pitchFamily="18" charset="0"/>
              <a:ea typeface="標楷體" pitchFamily="65" charset="-120"/>
              <a:cs typeface="Times New Roman" panose="02020603050405020304" pitchFamily="18" charset="0"/>
            </a:endParaRPr>
          </a:p>
          <a:p>
            <a:pPr algn="ctr"/>
            <a:r>
              <a:rPr kumimoji="1" lang="en-US" altLang="zh-CN" dirty="0">
                <a:latin typeface="Times New Roman" panose="02020603050405020304" pitchFamily="18" charset="0"/>
                <a:ea typeface="標楷體" pitchFamily="65" charset="-120"/>
                <a:cs typeface="Times New Roman" panose="02020603050405020304" pitchFamily="18" charset="0"/>
              </a:rPr>
              <a:t>Risk</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a:latin typeface="Times New Roman" panose="02020603050405020304" pitchFamily="18" charset="0"/>
                <a:ea typeface="標楷體" pitchFamily="65" charset="-120"/>
                <a:cs typeface="Times New Roman" panose="02020603050405020304" pitchFamily="18" charset="0"/>
              </a:rPr>
              <a:t>Report</a:t>
            </a:r>
            <a:endParaRPr kumimoji="1" lang="zh-CN" altLang="en-US" dirty="0">
              <a:latin typeface="Times New Roman" panose="02020603050405020304" pitchFamily="18" charset="0"/>
              <a:ea typeface="標楷體" pitchFamily="65" charset="-120"/>
              <a:cs typeface="Times New Roman" panose="02020603050405020304" pitchFamily="18" charset="0"/>
            </a:endParaRPr>
          </a:p>
        </p:txBody>
      </p:sp>
      <p:pic>
        <p:nvPicPr>
          <p:cNvPr id="8" name="图片 7">
            <a:extLst>
              <a:ext uri="{FF2B5EF4-FFF2-40B4-BE49-F238E27FC236}">
                <a16:creationId xmlns:a16="http://schemas.microsoft.com/office/drawing/2014/main" id="{1BFD93D8-E938-CB87-7FFF-E88B9207A127}"/>
              </a:ext>
            </a:extLst>
          </p:cNvPr>
          <p:cNvPicPr>
            <a:picLocks noChangeAspect="1"/>
          </p:cNvPicPr>
          <p:nvPr/>
        </p:nvPicPr>
        <p:blipFill>
          <a:blip r:embed="rId3"/>
          <a:srcRect b="9931"/>
          <a:stretch>
            <a:fillRect/>
          </a:stretch>
        </p:blipFill>
        <p:spPr>
          <a:xfrm>
            <a:off x="6416210" y="1368893"/>
            <a:ext cx="5406931" cy="3782656"/>
          </a:xfrm>
          <a:prstGeom prst="rect">
            <a:avLst/>
          </a:prstGeom>
        </p:spPr>
      </p:pic>
      <p:sp>
        <p:nvSpPr>
          <p:cNvPr id="10" name="文本框 9">
            <a:extLst>
              <a:ext uri="{FF2B5EF4-FFF2-40B4-BE49-F238E27FC236}">
                <a16:creationId xmlns:a16="http://schemas.microsoft.com/office/drawing/2014/main" id="{D7499E22-F8E6-2CA2-AAEE-0ABABF635C4E}"/>
              </a:ext>
            </a:extLst>
          </p:cNvPr>
          <p:cNvSpPr txBox="1"/>
          <p:nvPr/>
        </p:nvSpPr>
        <p:spPr>
          <a:xfrm>
            <a:off x="5892323" y="5283715"/>
            <a:ext cx="6832003" cy="400110"/>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5.</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err="1">
                <a:latin typeface="Times New Roman" panose="02020603050405020304" pitchFamily="18" charset="0"/>
                <a:ea typeface="標楷體" pitchFamily="65" charset="-120"/>
                <a:cs typeface="Times New Roman" panose="02020603050405020304" pitchFamily="18" charset="0"/>
              </a:rPr>
              <a:t>AgentSight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architecture</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3622365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BB43E-0B56-18F0-2AFE-04CD700E9B8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6FEC3B7-B9B1-51B2-395E-043F1B4D8CC9}"/>
              </a:ext>
            </a:extLst>
          </p:cNvPr>
          <p:cNvSpPr>
            <a:spLocks noGrp="1"/>
          </p:cNvSpPr>
          <p:nvPr>
            <p:ph type="title"/>
          </p:nvPr>
        </p:nvSpPr>
        <p:spPr/>
        <p:txBody>
          <a:bodyPr/>
          <a:lstStyle/>
          <a:p>
            <a:r>
              <a:rPr lang="en-US" altLang="zh-CN" dirty="0"/>
              <a:t>3.2</a:t>
            </a:r>
            <a:r>
              <a:rPr lang="zh-CN" altLang="en-US" dirty="0"/>
              <a:t> </a:t>
            </a:r>
            <a:r>
              <a:rPr lang="en-US" altLang="zh-CN" dirty="0" err="1"/>
              <a:t>AgentSight</a:t>
            </a:r>
            <a:r>
              <a:rPr lang="en-US" altLang="zh-CN" dirty="0"/>
              <a:t> (3/4)</a:t>
            </a:r>
            <a:endParaRPr lang="zh-CN" altLang="en-US" dirty="0"/>
          </a:p>
        </p:txBody>
      </p:sp>
      <p:sp>
        <p:nvSpPr>
          <p:cNvPr id="4" name="灯片编号占位符 3">
            <a:extLst>
              <a:ext uri="{FF2B5EF4-FFF2-40B4-BE49-F238E27FC236}">
                <a16:creationId xmlns:a16="http://schemas.microsoft.com/office/drawing/2014/main" id="{51D475D0-61B2-4506-F73F-D5AC00FC3336}"/>
              </a:ext>
            </a:extLst>
          </p:cNvPr>
          <p:cNvSpPr>
            <a:spLocks noGrp="1"/>
          </p:cNvSpPr>
          <p:nvPr>
            <p:ph type="sldNum" sz="quarter" idx="10"/>
          </p:nvPr>
        </p:nvSpPr>
        <p:spPr/>
        <p:txBody>
          <a:bodyPr/>
          <a:lstStyle/>
          <a:p>
            <a:fld id="{D9B6BDF2-6896-4B98-8776-C18582F63BA5}" type="slidenum">
              <a:rPr lang="zh-TW" altLang="en-US" smtClean="0"/>
              <a:pPr/>
              <a:t>23</a:t>
            </a:fld>
            <a:endParaRPr lang="zh-TW" altLang="en-US"/>
          </a:p>
        </p:txBody>
      </p:sp>
      <p:sp>
        <p:nvSpPr>
          <p:cNvPr id="9" name="内容占位符 5">
            <a:extLst>
              <a:ext uri="{FF2B5EF4-FFF2-40B4-BE49-F238E27FC236}">
                <a16:creationId xmlns:a16="http://schemas.microsoft.com/office/drawing/2014/main" id="{39287B28-94C2-3B3E-7033-539B5B775C5A}"/>
              </a:ext>
            </a:extLst>
          </p:cNvPr>
          <p:cNvSpPr txBox="1">
            <a:spLocks/>
          </p:cNvSpPr>
          <p:nvPr/>
        </p:nvSpPr>
        <p:spPr bwMode="auto">
          <a:xfrm>
            <a:off x="618994" y="1489901"/>
            <a:ext cx="3824873" cy="17460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Experiment</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Result</a:t>
            </a:r>
            <a:endParaRPr lang="en-US" altLang="zh-CN" sz="1867" kern="0" dirty="0">
              <a:latin typeface="Times New Roman" panose="02020603050405020304" pitchFamily="18" charset="0"/>
              <a:cs typeface="Times New Roman" panose="02020603050405020304" pitchFamily="18" charset="0"/>
            </a:endParaRPr>
          </a:p>
          <a:p>
            <a:pPr lvl="1"/>
            <a:r>
              <a:rPr lang="en-US" altLang="zh-CN" sz="1867" kern="0" dirty="0">
                <a:latin typeface="Times New Roman" panose="02020603050405020304" pitchFamily="18" charset="0"/>
                <a:cs typeface="Times New Roman" panose="02020603050405020304" pitchFamily="18" charset="0"/>
              </a:rPr>
              <a:t>Runtime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overhead</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with</a:t>
            </a:r>
            <a:r>
              <a:rPr lang="zh-CN" altLang="en-US" sz="1867" kern="0" dirty="0">
                <a:latin typeface="Times New Roman" panose="02020603050405020304" pitchFamily="18" charset="0"/>
                <a:cs typeface="Times New Roman" panose="02020603050405020304" pitchFamily="18" charset="0"/>
              </a:rPr>
              <a:t> </a:t>
            </a:r>
            <a:r>
              <a:rPr lang="en-US" altLang="zh-CN" sz="1867" kern="0" dirty="0" err="1">
                <a:latin typeface="Times New Roman" panose="02020603050405020304" pitchFamily="18" charset="0"/>
                <a:cs typeface="Times New Roman" panose="02020603050405020304" pitchFamily="18" charset="0"/>
              </a:rPr>
              <a:t>AgentSight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across</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three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workflow</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is</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2.9%</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averagely</a:t>
            </a:r>
          </a:p>
        </p:txBody>
      </p:sp>
      <p:pic>
        <p:nvPicPr>
          <p:cNvPr id="2" name="图片 1">
            <a:extLst>
              <a:ext uri="{FF2B5EF4-FFF2-40B4-BE49-F238E27FC236}">
                <a16:creationId xmlns:a16="http://schemas.microsoft.com/office/drawing/2014/main" id="{0FB4190D-79D8-698C-4D96-3C37FC52B11F}"/>
              </a:ext>
            </a:extLst>
          </p:cNvPr>
          <p:cNvPicPr>
            <a:picLocks noChangeAspect="1"/>
          </p:cNvPicPr>
          <p:nvPr/>
        </p:nvPicPr>
        <p:blipFill>
          <a:blip r:embed="rId3"/>
          <a:srcRect t="25819"/>
          <a:stretch>
            <a:fillRect/>
          </a:stretch>
        </p:blipFill>
        <p:spPr>
          <a:xfrm>
            <a:off x="5196542" y="1718751"/>
            <a:ext cx="6105505" cy="1538195"/>
          </a:xfrm>
          <a:prstGeom prst="rect">
            <a:avLst/>
          </a:prstGeom>
        </p:spPr>
      </p:pic>
      <p:sp>
        <p:nvSpPr>
          <p:cNvPr id="3" name="内容占位符 5">
            <a:extLst>
              <a:ext uri="{FF2B5EF4-FFF2-40B4-BE49-F238E27FC236}">
                <a16:creationId xmlns:a16="http://schemas.microsoft.com/office/drawing/2014/main" id="{F8D88E4F-7E0E-9BCE-A80F-D7B5A1C06665}"/>
              </a:ext>
            </a:extLst>
          </p:cNvPr>
          <p:cNvSpPr txBox="1">
            <a:spLocks/>
          </p:cNvSpPr>
          <p:nvPr/>
        </p:nvSpPr>
        <p:spPr bwMode="auto">
          <a:xfrm>
            <a:off x="618994" y="3546816"/>
            <a:ext cx="3824873" cy="17460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lvl="1"/>
            <a:r>
              <a:rPr lang="en-US" altLang="zh-CN" sz="1867" kern="0" dirty="0">
                <a:latin typeface="Times New Roman" panose="02020603050405020304" pitchFamily="18" charset="0"/>
                <a:cs typeface="Times New Roman" panose="02020603050405020304" pitchFamily="18" charset="0"/>
              </a:rPr>
              <a:t>Case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Study</a:t>
            </a:r>
          </a:p>
        </p:txBody>
      </p:sp>
      <p:pic>
        <p:nvPicPr>
          <p:cNvPr id="6" name="图片 5">
            <a:extLst>
              <a:ext uri="{FF2B5EF4-FFF2-40B4-BE49-F238E27FC236}">
                <a16:creationId xmlns:a16="http://schemas.microsoft.com/office/drawing/2014/main" id="{742FF145-6D65-BD11-D860-C8627147DDF0}"/>
              </a:ext>
            </a:extLst>
          </p:cNvPr>
          <p:cNvPicPr>
            <a:picLocks noChangeAspect="1"/>
          </p:cNvPicPr>
          <p:nvPr/>
        </p:nvPicPr>
        <p:blipFill>
          <a:blip r:embed="rId4"/>
          <a:stretch>
            <a:fillRect/>
          </a:stretch>
        </p:blipFill>
        <p:spPr>
          <a:xfrm>
            <a:off x="3034831" y="3311184"/>
            <a:ext cx="4000806" cy="2827527"/>
          </a:xfrm>
          <a:prstGeom prst="rect">
            <a:avLst/>
          </a:prstGeom>
        </p:spPr>
      </p:pic>
      <p:pic>
        <p:nvPicPr>
          <p:cNvPr id="11" name="图片 10">
            <a:extLst>
              <a:ext uri="{FF2B5EF4-FFF2-40B4-BE49-F238E27FC236}">
                <a16:creationId xmlns:a16="http://schemas.microsoft.com/office/drawing/2014/main" id="{C4A067E6-826E-F9F3-12E9-053CCF1486CA}"/>
              </a:ext>
            </a:extLst>
          </p:cNvPr>
          <p:cNvPicPr>
            <a:picLocks noChangeAspect="1"/>
          </p:cNvPicPr>
          <p:nvPr/>
        </p:nvPicPr>
        <p:blipFill>
          <a:blip r:embed="rId5"/>
          <a:stretch>
            <a:fillRect/>
          </a:stretch>
        </p:blipFill>
        <p:spPr>
          <a:xfrm>
            <a:off x="7280253" y="3256947"/>
            <a:ext cx="4159168" cy="2881764"/>
          </a:xfrm>
          <a:prstGeom prst="rect">
            <a:avLst/>
          </a:prstGeom>
        </p:spPr>
      </p:pic>
      <p:sp>
        <p:nvSpPr>
          <p:cNvPr id="12" name="矩形 11">
            <a:extLst>
              <a:ext uri="{FF2B5EF4-FFF2-40B4-BE49-F238E27FC236}">
                <a16:creationId xmlns:a16="http://schemas.microsoft.com/office/drawing/2014/main" id="{FE2C9566-57EC-DEE6-0A6E-DA8F09D73A0B}"/>
              </a:ext>
            </a:extLst>
          </p:cNvPr>
          <p:cNvSpPr/>
          <p:nvPr/>
        </p:nvSpPr>
        <p:spPr bwMode="auto">
          <a:xfrm>
            <a:off x="3092652" y="4507933"/>
            <a:ext cx="3873096" cy="419343"/>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3" name="矩形 12">
            <a:extLst>
              <a:ext uri="{FF2B5EF4-FFF2-40B4-BE49-F238E27FC236}">
                <a16:creationId xmlns:a16="http://schemas.microsoft.com/office/drawing/2014/main" id="{4D0C777D-8BB5-EAAE-EC91-BEEA9286969B}"/>
              </a:ext>
            </a:extLst>
          </p:cNvPr>
          <p:cNvSpPr/>
          <p:nvPr/>
        </p:nvSpPr>
        <p:spPr bwMode="auto">
          <a:xfrm>
            <a:off x="7286074" y="3966283"/>
            <a:ext cx="4094419" cy="379941"/>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文本框 7">
            <a:extLst>
              <a:ext uri="{FF2B5EF4-FFF2-40B4-BE49-F238E27FC236}">
                <a16:creationId xmlns:a16="http://schemas.microsoft.com/office/drawing/2014/main" id="{335DADF7-3F07-6F3A-DE0E-B1011BAE13DC}"/>
              </a:ext>
            </a:extLst>
          </p:cNvPr>
          <p:cNvSpPr txBox="1"/>
          <p:nvPr/>
        </p:nvSpPr>
        <p:spPr>
          <a:xfrm>
            <a:off x="4735585" y="1289846"/>
            <a:ext cx="6832003" cy="400110"/>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Table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2.</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Overhead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introduced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by</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err="1">
                <a:latin typeface="Times New Roman" panose="02020603050405020304" pitchFamily="18" charset="0"/>
                <a:ea typeface="標楷體" pitchFamily="65" charset="-120"/>
                <a:cs typeface="Times New Roman" panose="02020603050405020304" pitchFamily="18" charset="0"/>
              </a:rPr>
              <a:t>AgentSight</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3839799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EE07E-36E3-E9E1-8A19-21D1992C7B2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0290AF82-D5E9-0A4C-9FF2-169C7F75FE1F}"/>
              </a:ext>
            </a:extLst>
          </p:cNvPr>
          <p:cNvSpPr>
            <a:spLocks noGrp="1"/>
          </p:cNvSpPr>
          <p:nvPr>
            <p:ph type="title"/>
          </p:nvPr>
        </p:nvSpPr>
        <p:spPr/>
        <p:txBody>
          <a:bodyPr/>
          <a:lstStyle/>
          <a:p>
            <a:r>
              <a:rPr lang="en-US" altLang="zh-CN" dirty="0"/>
              <a:t>3.2</a:t>
            </a:r>
            <a:r>
              <a:rPr lang="zh-CN" altLang="en-US" dirty="0"/>
              <a:t> </a:t>
            </a:r>
            <a:r>
              <a:rPr lang="en-US" altLang="zh-CN" dirty="0" err="1"/>
              <a:t>AgentSight</a:t>
            </a:r>
            <a:r>
              <a:rPr lang="en-US" altLang="zh-CN" dirty="0"/>
              <a:t> (4/4)</a:t>
            </a:r>
            <a:endParaRPr lang="zh-CN" altLang="en-US" dirty="0"/>
          </a:p>
        </p:txBody>
      </p:sp>
      <p:sp>
        <p:nvSpPr>
          <p:cNvPr id="4" name="灯片编号占位符 3">
            <a:extLst>
              <a:ext uri="{FF2B5EF4-FFF2-40B4-BE49-F238E27FC236}">
                <a16:creationId xmlns:a16="http://schemas.microsoft.com/office/drawing/2014/main" id="{F6E33D18-4520-6EE4-00DD-5133A0995457}"/>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a:p>
        </p:txBody>
      </p:sp>
      <p:sp>
        <p:nvSpPr>
          <p:cNvPr id="9" name="内容占位符 5">
            <a:extLst>
              <a:ext uri="{FF2B5EF4-FFF2-40B4-BE49-F238E27FC236}">
                <a16:creationId xmlns:a16="http://schemas.microsoft.com/office/drawing/2014/main" id="{4DE09515-3DBF-8A1B-90C0-B17148E15C88}"/>
              </a:ext>
            </a:extLst>
          </p:cNvPr>
          <p:cNvSpPr txBox="1">
            <a:spLocks/>
          </p:cNvSpPr>
          <p:nvPr/>
        </p:nvSpPr>
        <p:spPr bwMode="auto">
          <a:xfrm>
            <a:off x="514159" y="1187042"/>
            <a:ext cx="5581841" cy="17460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Blind</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Spots</a:t>
            </a:r>
          </a:p>
          <a:p>
            <a:pPr lvl="1"/>
            <a:r>
              <a:rPr lang="en-US" altLang="zh-CN" sz="1867" kern="0" dirty="0">
                <a:latin typeface="Times New Roman" panose="02020603050405020304" pitchFamily="18" charset="0"/>
                <a:cs typeface="Times New Roman" panose="02020603050405020304" pitchFamily="18" charset="0"/>
              </a:rPr>
              <a:t>Probes analyze single, isolated events.</a:t>
            </a:r>
          </a:p>
          <a:p>
            <a:pPr lvl="1"/>
            <a:r>
              <a:rPr lang="en-US" altLang="zh-CN" sz="1867" kern="0" dirty="0">
                <a:latin typeface="Times New Roman" panose="02020603050405020304" pitchFamily="18" charset="0"/>
                <a:cs typeface="Times New Roman" panose="02020603050405020304" pitchFamily="18" charset="0"/>
              </a:rPr>
              <a:t>Modern agents run continuously for long periods. </a:t>
            </a:r>
          </a:p>
          <a:p>
            <a:pPr lvl="1"/>
            <a:r>
              <a:rPr lang="en-US" altLang="zh-CN" sz="1867" kern="0" dirty="0">
                <a:latin typeface="Times New Roman" panose="02020603050405020304" pitchFamily="18" charset="0"/>
                <a:cs typeface="Times New Roman" panose="02020603050405020304" pitchFamily="18" charset="0"/>
              </a:rPr>
              <a:t>Fails against multi-stage, time-delayed attacks.</a:t>
            </a:r>
          </a:p>
        </p:txBody>
      </p:sp>
      <p:sp>
        <p:nvSpPr>
          <p:cNvPr id="8" name="内容占位符 5">
            <a:extLst>
              <a:ext uri="{FF2B5EF4-FFF2-40B4-BE49-F238E27FC236}">
                <a16:creationId xmlns:a16="http://schemas.microsoft.com/office/drawing/2014/main" id="{A348BB87-694B-912F-89DA-238716B32229}"/>
              </a:ext>
            </a:extLst>
          </p:cNvPr>
          <p:cNvSpPr txBox="1">
            <a:spLocks/>
          </p:cNvSpPr>
          <p:nvPr/>
        </p:nvSpPr>
        <p:spPr bwMode="auto">
          <a:xfrm>
            <a:off x="584366" y="2998718"/>
            <a:ext cx="5581841" cy="17460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What</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if</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a:t>
            </a:r>
          </a:p>
          <a:p>
            <a:pPr lvl="1"/>
            <a:r>
              <a:rPr lang="en-US" altLang="zh-CN" sz="1867" kern="0" dirty="0">
                <a:latin typeface="Times New Roman" panose="02020603050405020304" pitchFamily="18" charset="0"/>
                <a:cs typeface="Times New Roman" panose="02020603050405020304" pitchFamily="18" charset="0"/>
              </a:rPr>
              <a:t>No</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single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malicious</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system</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call</a:t>
            </a:r>
          </a:p>
          <a:p>
            <a:pPr lvl="1"/>
            <a:r>
              <a:rPr lang="en-US" altLang="zh-CN" sz="1867" kern="0" dirty="0">
                <a:latin typeface="Times New Roman" panose="02020603050405020304" pitchFamily="18" charset="0"/>
                <a:cs typeface="Times New Roman" panose="02020603050405020304" pitchFamily="18" charset="0"/>
              </a:rPr>
              <a:t>Malicious</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intent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is</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broken</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into</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several</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“benign”</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operation</a:t>
            </a:r>
          </a:p>
          <a:p>
            <a:pPr lvl="1"/>
            <a:r>
              <a:rPr lang="en-US" altLang="zh-CN" sz="1867" kern="0" dirty="0">
                <a:latin typeface="Times New Roman" panose="02020603050405020304" pitchFamily="18" charset="0"/>
                <a:cs typeface="Times New Roman" panose="02020603050405020304" pitchFamily="18" charset="0"/>
              </a:rPr>
              <a:t>System-level</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isolation</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and</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defense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are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need</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to</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expand</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to</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whole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lifecycle</a:t>
            </a:r>
          </a:p>
          <a:p>
            <a:pPr lvl="1"/>
            <a:endParaRPr lang="en-US" altLang="zh-CN" sz="1867" kern="0" dirty="0">
              <a:latin typeface="Times New Roman" panose="02020603050405020304" pitchFamily="18" charset="0"/>
              <a:cs typeface="Times New Roman" panose="02020603050405020304" pitchFamily="18" charset="0"/>
            </a:endParaRPr>
          </a:p>
          <a:p>
            <a:pPr lvl="1"/>
            <a:endParaRPr lang="en-US" altLang="zh-CN" sz="1867" kern="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A8F17093-778B-49DF-F85B-3DCC75EDFF8D}"/>
              </a:ext>
            </a:extLst>
          </p:cNvPr>
          <p:cNvSpPr txBox="1"/>
          <p:nvPr/>
        </p:nvSpPr>
        <p:spPr>
          <a:xfrm>
            <a:off x="1715095" y="5383927"/>
            <a:ext cx="3668564" cy="369332"/>
          </a:xfrm>
          <a:prstGeom prst="rect">
            <a:avLst/>
          </a:prstGeom>
          <a:noFill/>
        </p:spPr>
        <p:txBody>
          <a:bodyPr wrap="square" rtlCol="0" anchor="ctr" anchorCtr="1">
            <a:spAutoFit/>
          </a:bodyPr>
          <a:lstStyle/>
          <a:p>
            <a:pPr algn="r"/>
            <a:r>
              <a:rPr kumimoji="1" lang="en-US" altLang="zh-CN" b="1" dirty="0">
                <a:latin typeface="Times New Roman" panose="02020603050405020304" pitchFamily="18" charset="0"/>
                <a:ea typeface="標楷體" pitchFamily="65" charset="-120"/>
                <a:cs typeface="Times New Roman" panose="02020603050405020304" pitchFamily="18" charset="0"/>
              </a:rPr>
              <a:t>The</a:t>
            </a:r>
            <a:r>
              <a:rPr kumimoji="1" lang="zh-CN" altLang="en-US" b="1" dirty="0">
                <a:latin typeface="Times New Roman" panose="02020603050405020304" pitchFamily="18" charset="0"/>
                <a:ea typeface="標楷體" pitchFamily="65" charset="-120"/>
                <a:cs typeface="Times New Roman" panose="02020603050405020304" pitchFamily="18" charset="0"/>
              </a:rPr>
              <a:t> </a:t>
            </a:r>
            <a:r>
              <a:rPr kumimoji="1" lang="en-US" altLang="zh-CN" b="1" dirty="0">
                <a:latin typeface="Times New Roman" panose="02020603050405020304" pitchFamily="18" charset="0"/>
                <a:ea typeface="標楷體" pitchFamily="65" charset="-120"/>
                <a:cs typeface="Times New Roman" panose="02020603050405020304" pitchFamily="18" charset="0"/>
              </a:rPr>
              <a:t>next</a:t>
            </a:r>
            <a:r>
              <a:rPr kumimoji="1" lang="zh-CN" altLang="en-US" b="1" dirty="0">
                <a:latin typeface="Times New Roman" panose="02020603050405020304" pitchFamily="18" charset="0"/>
                <a:ea typeface="標楷體" pitchFamily="65" charset="-120"/>
                <a:cs typeface="Times New Roman" panose="02020603050405020304" pitchFamily="18" charset="0"/>
              </a:rPr>
              <a:t> </a:t>
            </a:r>
            <a:r>
              <a:rPr kumimoji="1" lang="en-US" altLang="zh-CN" b="1" dirty="0">
                <a:latin typeface="Times New Roman" panose="02020603050405020304" pitchFamily="18" charset="0"/>
                <a:ea typeface="標楷體" pitchFamily="65" charset="-120"/>
                <a:cs typeface="Times New Roman" panose="02020603050405020304" pitchFamily="18" charset="0"/>
              </a:rPr>
              <a:t>paper:</a:t>
            </a:r>
            <a:r>
              <a:rPr kumimoji="1" lang="zh-CN" altLang="en-US" b="1" dirty="0">
                <a:latin typeface="Times New Roman" panose="02020603050405020304" pitchFamily="18" charset="0"/>
                <a:ea typeface="標楷體" pitchFamily="65" charset="-120"/>
                <a:cs typeface="Times New Roman" panose="02020603050405020304" pitchFamily="18" charset="0"/>
              </a:rPr>
              <a:t> </a:t>
            </a:r>
            <a:r>
              <a:rPr kumimoji="1" lang="en-US" altLang="zh-CN" b="1" dirty="0">
                <a:latin typeface="Times New Roman" panose="02020603050405020304" pitchFamily="18" charset="0"/>
                <a:ea typeface="標楷體" pitchFamily="65" charset="-120"/>
                <a:cs typeface="Times New Roman" panose="02020603050405020304" pitchFamily="18" charset="0"/>
              </a:rPr>
              <a:t>Taming</a:t>
            </a:r>
            <a:r>
              <a:rPr kumimoji="1" lang="zh-CN" altLang="en-US" b="1" dirty="0">
                <a:latin typeface="Times New Roman" panose="02020603050405020304" pitchFamily="18" charset="0"/>
                <a:ea typeface="標楷體" pitchFamily="65" charset="-120"/>
                <a:cs typeface="Times New Roman" panose="02020603050405020304" pitchFamily="18" charset="0"/>
              </a:rPr>
              <a:t> </a:t>
            </a:r>
            <a:r>
              <a:rPr kumimoji="1" lang="en-US" altLang="zh-CN" b="1" dirty="0" err="1">
                <a:latin typeface="Times New Roman" panose="02020603050405020304" pitchFamily="18" charset="0"/>
                <a:ea typeface="標楷體" pitchFamily="65" charset="-120"/>
                <a:cs typeface="Times New Roman" panose="02020603050405020304" pitchFamily="18" charset="0"/>
              </a:rPr>
              <a:t>Openclaw</a:t>
            </a:r>
            <a:endParaRPr kumimoji="1" lang="zh-CN" altLang="en-US" b="1" dirty="0">
              <a:latin typeface="Times New Roman" panose="02020603050405020304" pitchFamily="18" charset="0"/>
              <a:ea typeface="標楷體" pitchFamily="65" charset="-120"/>
              <a:cs typeface="Times New Roman" panose="02020603050405020304" pitchFamily="18" charset="0"/>
            </a:endParaRPr>
          </a:p>
        </p:txBody>
      </p:sp>
      <p:pic>
        <p:nvPicPr>
          <p:cNvPr id="2" name="图片 1">
            <a:extLst>
              <a:ext uri="{FF2B5EF4-FFF2-40B4-BE49-F238E27FC236}">
                <a16:creationId xmlns:a16="http://schemas.microsoft.com/office/drawing/2014/main" id="{D93A5A3A-33FE-8338-623C-22AD2E07A68C}"/>
              </a:ext>
            </a:extLst>
          </p:cNvPr>
          <p:cNvPicPr>
            <a:picLocks noChangeAspect="1"/>
          </p:cNvPicPr>
          <p:nvPr/>
        </p:nvPicPr>
        <p:blipFill>
          <a:blip r:embed="rId3"/>
          <a:srcRect b="9931"/>
          <a:stretch>
            <a:fillRect/>
          </a:stretch>
        </p:blipFill>
        <p:spPr>
          <a:xfrm>
            <a:off x="6416210" y="1368893"/>
            <a:ext cx="5406931" cy="3782656"/>
          </a:xfrm>
          <a:prstGeom prst="rect">
            <a:avLst/>
          </a:prstGeom>
        </p:spPr>
      </p:pic>
      <p:sp>
        <p:nvSpPr>
          <p:cNvPr id="3" name="文本框 2">
            <a:extLst>
              <a:ext uri="{FF2B5EF4-FFF2-40B4-BE49-F238E27FC236}">
                <a16:creationId xmlns:a16="http://schemas.microsoft.com/office/drawing/2014/main" id="{73FEA1B9-00E6-5EAE-ECBE-AC921394970C}"/>
              </a:ext>
            </a:extLst>
          </p:cNvPr>
          <p:cNvSpPr txBox="1"/>
          <p:nvPr/>
        </p:nvSpPr>
        <p:spPr>
          <a:xfrm>
            <a:off x="5892323" y="5283715"/>
            <a:ext cx="6832003" cy="400110"/>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5.</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err="1">
                <a:latin typeface="Times New Roman" panose="02020603050405020304" pitchFamily="18" charset="0"/>
                <a:ea typeface="標楷體" pitchFamily="65" charset="-120"/>
                <a:cs typeface="Times New Roman" panose="02020603050405020304" pitchFamily="18" charset="0"/>
              </a:rPr>
              <a:t>AgentSight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architecture</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2832199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5E6B6-5CB8-196A-6F7A-2013DCFCC2A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294264E-F352-6761-3EFA-749644BBDEC2}"/>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180238BB-AABE-7FDE-450F-C24D7CEB92B2}"/>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a:t>
            </a:r>
          </a:p>
          <a:p>
            <a:r>
              <a:rPr lang="en-US" altLang="zh-CN" sz="2933" dirty="0">
                <a:latin typeface="Times New Roman" panose="02020603050405020304" pitchFamily="18" charset="0"/>
                <a:cs typeface="Times New Roman" panose="02020603050405020304" pitchFamily="18" charset="0"/>
              </a:rPr>
              <a:t>Proposed Methods &amp; Performance Evaluation </a:t>
            </a:r>
          </a:p>
          <a:p>
            <a:pPr lvl="1"/>
            <a:r>
              <a:rPr lang="en-US" altLang="zh-CN" sz="2400" dirty="0">
                <a:latin typeface="Times New Roman" panose="02020603050405020304" pitchFamily="18" charset="0"/>
                <a:cs typeface="Times New Roman" panose="02020603050405020304" pitchFamily="18" charset="0"/>
              </a:rPr>
              <a:t>AIOS </a:t>
            </a:r>
          </a:p>
          <a:p>
            <a:pPr lvl="1"/>
            <a:r>
              <a:rPr lang="en-US" altLang="zh-CN" sz="2400" dirty="0" err="1">
                <a:latin typeface="Times New Roman" panose="02020603050405020304" pitchFamily="18" charset="0"/>
                <a:cs typeface="Times New Roman" panose="02020603050405020304" pitchFamily="18" charset="0"/>
              </a:rPr>
              <a:t>AgentSight</a:t>
            </a:r>
            <a:r>
              <a:rPr lang="en-US" altLang="zh-CN" sz="2400" dirty="0">
                <a:latin typeface="Times New Roman" panose="02020603050405020304" pitchFamily="18" charset="0"/>
                <a:cs typeface="Times New Roman" panose="02020603050405020304" pitchFamily="18" charset="0"/>
              </a:rPr>
              <a:t> </a:t>
            </a:r>
          </a:p>
          <a:p>
            <a:pPr lvl="1"/>
            <a:r>
              <a:rPr lang="en-US" altLang="zh-CN" sz="2400" dirty="0">
                <a:solidFill>
                  <a:srgbClr val="FF0000"/>
                </a:solidFill>
                <a:latin typeface="Times New Roman" panose="02020603050405020304" pitchFamily="18" charset="0"/>
                <a:cs typeface="Times New Roman" panose="02020603050405020304" pitchFamily="18" charset="0"/>
              </a:rPr>
              <a:t>Taming</a:t>
            </a:r>
            <a:r>
              <a:rPr lang="zh-CN" altLang="en-US" sz="2400" dirty="0">
                <a:solidFill>
                  <a:srgbClr val="FF0000"/>
                </a:solidFill>
                <a:latin typeface="Times New Roman" panose="02020603050405020304" pitchFamily="18" charset="0"/>
                <a:cs typeface="Times New Roman" panose="02020603050405020304" pitchFamily="18" charset="0"/>
              </a:rPr>
              <a:t> </a:t>
            </a:r>
            <a:r>
              <a:rPr lang="en-US" altLang="zh-CN" sz="2400" dirty="0" err="1">
                <a:solidFill>
                  <a:srgbClr val="FF0000"/>
                </a:solidFill>
                <a:latin typeface="Times New Roman" panose="02020603050405020304" pitchFamily="18" charset="0"/>
                <a:cs typeface="Times New Roman" panose="02020603050405020304" pitchFamily="18" charset="0"/>
              </a:rPr>
              <a:t>Openclaw</a:t>
            </a:r>
            <a:r>
              <a:rPr lang="en-US" altLang="zh-CN" sz="2400" dirty="0">
                <a:solidFill>
                  <a:srgbClr val="FF0000"/>
                </a:solidFill>
                <a:latin typeface="Times New Roman" panose="02020603050405020304" pitchFamily="18" charset="0"/>
                <a:cs typeface="Times New Roman" panose="02020603050405020304" pitchFamily="18" charset="0"/>
              </a:rPr>
              <a:t> </a:t>
            </a:r>
          </a:p>
          <a:p>
            <a:r>
              <a:rPr lang="en-US" altLang="zh-CN" sz="2933" dirty="0">
                <a:latin typeface="Times New Roman" panose="02020603050405020304" pitchFamily="18" charset="0"/>
                <a:cs typeface="Times New Roman" panose="02020603050405020304" pitchFamily="18" charset="0"/>
              </a:rPr>
              <a:t>Conclusions</a:t>
            </a:r>
          </a:p>
          <a:p>
            <a:r>
              <a:rPr lang="en-US" altLang="zh-CN" sz="2933" dirty="0">
                <a:latin typeface="Times New Roman" panose="02020603050405020304" pitchFamily="18" charset="0"/>
                <a:cs typeface="Times New Roman" panose="02020603050405020304" pitchFamily="18" charset="0"/>
              </a:rPr>
              <a:t>Q &amp; A </a:t>
            </a:r>
          </a:p>
        </p:txBody>
      </p:sp>
      <p:sp>
        <p:nvSpPr>
          <p:cNvPr id="5" name="灯片编号占位符 1">
            <a:extLst>
              <a:ext uri="{FF2B5EF4-FFF2-40B4-BE49-F238E27FC236}">
                <a16:creationId xmlns:a16="http://schemas.microsoft.com/office/drawing/2014/main" id="{BC2A080E-0695-EA58-6ABC-08F1E2D5F6C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25</a:t>
            </a:fld>
            <a:endParaRPr lang="zh-TW" altLang="en-US"/>
          </a:p>
        </p:txBody>
      </p:sp>
      <p:pic>
        <p:nvPicPr>
          <p:cNvPr id="4" name="图片 3">
            <a:extLst>
              <a:ext uri="{FF2B5EF4-FFF2-40B4-BE49-F238E27FC236}">
                <a16:creationId xmlns:a16="http://schemas.microsoft.com/office/drawing/2014/main" id="{DC73680B-FEA9-9F15-ED4E-7587623F207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743392" y="2868494"/>
            <a:ext cx="7026229" cy="2980601"/>
          </a:xfrm>
          <a:prstGeom prst="rect">
            <a:avLst/>
          </a:prstGeom>
          <a:ln w="38100">
            <a:solidFill>
              <a:srgbClr val="7030A0"/>
            </a:solidFill>
          </a:ln>
        </p:spPr>
      </p:pic>
    </p:spTree>
    <p:extLst>
      <p:ext uri="{BB962C8B-B14F-4D97-AF65-F5344CB8AC3E}">
        <p14:creationId xmlns:p14="http://schemas.microsoft.com/office/powerpoint/2010/main" val="3135085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04AA0-F695-9AC9-625F-96ABAEBAACBE}"/>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A40AAE3-5CC2-A2B2-D02C-11DBE94BC3E4}"/>
              </a:ext>
            </a:extLst>
          </p:cNvPr>
          <p:cNvPicPr>
            <a:picLocks noChangeAspect="1"/>
          </p:cNvPicPr>
          <p:nvPr/>
        </p:nvPicPr>
        <p:blipFill>
          <a:blip r:embed="rId3"/>
          <a:stretch>
            <a:fillRect/>
          </a:stretch>
        </p:blipFill>
        <p:spPr>
          <a:xfrm>
            <a:off x="1658413" y="2561221"/>
            <a:ext cx="8711007" cy="2950501"/>
          </a:xfrm>
          <a:prstGeom prst="rect">
            <a:avLst/>
          </a:prstGeom>
        </p:spPr>
      </p:pic>
      <p:sp>
        <p:nvSpPr>
          <p:cNvPr id="5" name="标题 4">
            <a:extLst>
              <a:ext uri="{FF2B5EF4-FFF2-40B4-BE49-F238E27FC236}">
                <a16:creationId xmlns:a16="http://schemas.microsoft.com/office/drawing/2014/main" id="{E0BA47FA-BE8D-721E-BBAB-5723C425F927}"/>
              </a:ext>
            </a:extLst>
          </p:cNvPr>
          <p:cNvSpPr>
            <a:spLocks noGrp="1"/>
          </p:cNvSpPr>
          <p:nvPr>
            <p:ph type="title"/>
          </p:nvPr>
        </p:nvSpPr>
        <p:spPr/>
        <p:txBody>
          <a:bodyPr/>
          <a:lstStyle/>
          <a:p>
            <a:r>
              <a:rPr lang="en-US" altLang="zh-CN" dirty="0"/>
              <a:t>3.3</a:t>
            </a:r>
            <a:r>
              <a:rPr lang="zh-CN" altLang="en-US" dirty="0"/>
              <a:t> </a:t>
            </a:r>
            <a:r>
              <a:rPr lang="en-US" altLang="zh-CN" dirty="0"/>
              <a:t>Taming</a:t>
            </a:r>
            <a:r>
              <a:rPr lang="zh-CN" altLang="en-US" dirty="0"/>
              <a:t> </a:t>
            </a:r>
            <a:r>
              <a:rPr lang="en-US" altLang="zh-CN" dirty="0" err="1"/>
              <a:t>Openclaw</a:t>
            </a:r>
            <a:r>
              <a:rPr lang="en-US" altLang="zh-CN" dirty="0"/>
              <a:t> (1/3)</a:t>
            </a:r>
            <a:endParaRPr lang="zh-CN" altLang="en-US" dirty="0"/>
          </a:p>
        </p:txBody>
      </p:sp>
      <p:sp>
        <p:nvSpPr>
          <p:cNvPr id="4" name="灯片编号占位符 3">
            <a:extLst>
              <a:ext uri="{FF2B5EF4-FFF2-40B4-BE49-F238E27FC236}">
                <a16:creationId xmlns:a16="http://schemas.microsoft.com/office/drawing/2014/main" id="{30F79F0B-301B-6188-A2F7-AF6B69C9F829}"/>
              </a:ext>
            </a:extLst>
          </p:cNvPr>
          <p:cNvSpPr>
            <a:spLocks noGrp="1"/>
          </p:cNvSpPr>
          <p:nvPr>
            <p:ph type="sldNum" sz="quarter" idx="10"/>
          </p:nvPr>
        </p:nvSpPr>
        <p:spPr/>
        <p:txBody>
          <a:bodyPr/>
          <a:lstStyle/>
          <a:p>
            <a:fld id="{D9B6BDF2-6896-4B98-8776-C18582F63BA5}" type="slidenum">
              <a:rPr lang="zh-TW" altLang="en-US" smtClean="0"/>
              <a:pPr/>
              <a:t>26</a:t>
            </a:fld>
            <a:endParaRPr lang="zh-TW" altLang="en-US"/>
          </a:p>
        </p:txBody>
      </p:sp>
      <p:sp>
        <p:nvSpPr>
          <p:cNvPr id="9" name="内容占位符 5">
            <a:extLst>
              <a:ext uri="{FF2B5EF4-FFF2-40B4-BE49-F238E27FC236}">
                <a16:creationId xmlns:a16="http://schemas.microsoft.com/office/drawing/2014/main" id="{36411F17-0060-5FCB-20EA-2D8BCC0F0C23}"/>
              </a:ext>
            </a:extLst>
          </p:cNvPr>
          <p:cNvSpPr txBox="1">
            <a:spLocks/>
          </p:cNvSpPr>
          <p:nvPr/>
        </p:nvSpPr>
        <p:spPr bwMode="auto">
          <a:xfrm>
            <a:off x="563347" y="1018045"/>
            <a:ext cx="10738226" cy="19858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Key</a:t>
            </a:r>
            <a:r>
              <a:rPr lang="zh-CN" altLang="en-US" sz="2400"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Problem</a:t>
            </a:r>
            <a:r>
              <a:rPr lang="en-US" altLang="zh-CN" sz="2400" kern="0" dirty="0">
                <a:latin typeface="Times New Roman" panose="02020603050405020304" pitchFamily="18" charset="0"/>
                <a:cs typeface="Times New Roman" panose="02020603050405020304" pitchFamily="18" charset="0"/>
              </a:rPr>
              <a:t>:</a:t>
            </a:r>
            <a:endParaRPr lang="en-US" altLang="zh-CN" sz="2400" b="1" kern="0" dirty="0">
              <a:latin typeface="Times New Roman" panose="02020603050405020304" pitchFamily="18" charset="0"/>
              <a:cs typeface="Times New Roman" panose="02020603050405020304" pitchFamily="18" charset="0"/>
            </a:endParaRPr>
          </a:p>
          <a:p>
            <a:pPr lvl="1"/>
            <a:r>
              <a:rPr lang="en-US" altLang="zh-CN" sz="1867" kern="0" dirty="0">
                <a:latin typeface="Times New Roman" panose="02020603050405020304" pitchFamily="18" charset="0"/>
                <a:cs typeface="Times New Roman" panose="02020603050405020304" pitchFamily="18" charset="0"/>
              </a:rPr>
              <a:t>Point based defenses are completely ineffective when facing highly authorized autonomous AI agents</a:t>
            </a:r>
          </a:p>
          <a:p>
            <a:pPr lvl="1"/>
            <a:r>
              <a:rPr lang="en-US" altLang="zh-CN" sz="1867" kern="0" dirty="0">
                <a:latin typeface="Times New Roman" panose="02020603050405020304" pitchFamily="18" charset="0"/>
                <a:cs typeface="Times New Roman" panose="02020603050405020304" pitchFamily="18" charset="0"/>
              </a:rPr>
              <a:t>Facing</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multiple attack surfaces, cross time, multi-stage composite systemic security threats</a:t>
            </a:r>
          </a:p>
        </p:txBody>
      </p:sp>
      <p:sp>
        <p:nvSpPr>
          <p:cNvPr id="2" name="内容占位符 5">
            <a:extLst>
              <a:ext uri="{FF2B5EF4-FFF2-40B4-BE49-F238E27FC236}">
                <a16:creationId xmlns:a16="http://schemas.microsoft.com/office/drawing/2014/main" id="{76F805E0-D0C8-0BEF-7B1B-50B5A1205686}"/>
              </a:ext>
            </a:extLst>
          </p:cNvPr>
          <p:cNvSpPr txBox="1">
            <a:spLocks/>
          </p:cNvSpPr>
          <p:nvPr/>
        </p:nvSpPr>
        <p:spPr bwMode="auto">
          <a:xfrm>
            <a:off x="671226" y="2233712"/>
            <a:ext cx="7414536" cy="21998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Methodology</a:t>
            </a:r>
            <a:r>
              <a:rPr lang="en-US" altLang="zh-CN" sz="2400" kern="0" dirty="0">
                <a:latin typeface="Times New Roman" panose="02020603050405020304" pitchFamily="18" charset="0"/>
                <a:cs typeface="Times New Roman" panose="02020603050405020304" pitchFamily="18" charset="0"/>
              </a:rPr>
              <a:t>:</a:t>
            </a:r>
            <a:r>
              <a:rPr lang="zh-CN" altLang="en-US" sz="2400"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The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Five-Layer Lifecycle Framework</a:t>
            </a:r>
          </a:p>
        </p:txBody>
      </p:sp>
      <p:sp>
        <p:nvSpPr>
          <p:cNvPr id="7" name="文本框 6">
            <a:extLst>
              <a:ext uri="{FF2B5EF4-FFF2-40B4-BE49-F238E27FC236}">
                <a16:creationId xmlns:a16="http://schemas.microsoft.com/office/drawing/2014/main" id="{912046C7-BE9B-E8C3-575C-4EB04D4C694A}"/>
              </a:ext>
            </a:extLst>
          </p:cNvPr>
          <p:cNvSpPr txBox="1"/>
          <p:nvPr/>
        </p:nvSpPr>
        <p:spPr>
          <a:xfrm>
            <a:off x="2892725" y="5576644"/>
            <a:ext cx="6832003" cy="400110"/>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6.</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Agent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lifecycle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overview</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598572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60018-CAEB-F4DA-7BFA-ACE8FBE3780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4100FA11-8CB9-B719-8066-85997F561548}"/>
              </a:ext>
            </a:extLst>
          </p:cNvPr>
          <p:cNvSpPr>
            <a:spLocks noGrp="1"/>
          </p:cNvSpPr>
          <p:nvPr>
            <p:ph type="title"/>
          </p:nvPr>
        </p:nvSpPr>
        <p:spPr/>
        <p:txBody>
          <a:bodyPr/>
          <a:lstStyle/>
          <a:p>
            <a:r>
              <a:rPr lang="en-US" altLang="zh-CN" dirty="0"/>
              <a:t>3.3</a:t>
            </a:r>
            <a:r>
              <a:rPr lang="zh-CN" altLang="en-US" dirty="0"/>
              <a:t> </a:t>
            </a:r>
            <a:r>
              <a:rPr lang="en-US" altLang="zh-CN" dirty="0"/>
              <a:t>Taming</a:t>
            </a:r>
            <a:r>
              <a:rPr lang="zh-CN" altLang="en-US" dirty="0"/>
              <a:t> </a:t>
            </a:r>
            <a:r>
              <a:rPr lang="en-US" altLang="zh-CN" dirty="0" err="1"/>
              <a:t>Openclaw</a:t>
            </a:r>
            <a:r>
              <a:rPr lang="en-US" altLang="zh-CN" dirty="0"/>
              <a:t> (2/3)</a:t>
            </a:r>
            <a:endParaRPr lang="zh-CN" altLang="en-US" dirty="0"/>
          </a:p>
        </p:txBody>
      </p:sp>
      <p:sp>
        <p:nvSpPr>
          <p:cNvPr id="4" name="灯片编号占位符 3">
            <a:extLst>
              <a:ext uri="{FF2B5EF4-FFF2-40B4-BE49-F238E27FC236}">
                <a16:creationId xmlns:a16="http://schemas.microsoft.com/office/drawing/2014/main" id="{C33D5401-7DA9-45A1-A566-F48C93EE572F}"/>
              </a:ext>
            </a:extLst>
          </p:cNvPr>
          <p:cNvSpPr>
            <a:spLocks noGrp="1"/>
          </p:cNvSpPr>
          <p:nvPr>
            <p:ph type="sldNum" sz="quarter" idx="10"/>
          </p:nvPr>
        </p:nvSpPr>
        <p:spPr/>
        <p:txBody>
          <a:bodyPr/>
          <a:lstStyle/>
          <a:p>
            <a:fld id="{D9B6BDF2-6896-4B98-8776-C18582F63BA5}" type="slidenum">
              <a:rPr lang="zh-TW" altLang="en-US" smtClean="0"/>
              <a:pPr/>
              <a:t>27</a:t>
            </a:fld>
            <a:endParaRPr lang="zh-TW" altLang="en-US"/>
          </a:p>
        </p:txBody>
      </p:sp>
      <p:sp>
        <p:nvSpPr>
          <p:cNvPr id="9" name="内容占位符 5">
            <a:extLst>
              <a:ext uri="{FF2B5EF4-FFF2-40B4-BE49-F238E27FC236}">
                <a16:creationId xmlns:a16="http://schemas.microsoft.com/office/drawing/2014/main" id="{EEF0A456-67C2-A882-7D64-BD14B3F63B35}"/>
              </a:ext>
            </a:extLst>
          </p:cNvPr>
          <p:cNvSpPr txBox="1">
            <a:spLocks/>
          </p:cNvSpPr>
          <p:nvPr/>
        </p:nvSpPr>
        <p:spPr bwMode="auto">
          <a:xfrm>
            <a:off x="414371" y="1197843"/>
            <a:ext cx="10738226" cy="19858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Examples</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of</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current</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safety</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problems</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in</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err="1">
                <a:latin typeface="Times New Roman" panose="02020603050405020304" pitchFamily="18" charset="0"/>
                <a:cs typeface="Times New Roman" panose="02020603050405020304" pitchFamily="18" charset="0"/>
              </a:rPr>
              <a:t>OpenClaw</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Skill</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Poisoning</a:t>
            </a:r>
          </a:p>
        </p:txBody>
      </p:sp>
      <p:pic>
        <p:nvPicPr>
          <p:cNvPr id="2" name="图片 1">
            <a:extLst>
              <a:ext uri="{FF2B5EF4-FFF2-40B4-BE49-F238E27FC236}">
                <a16:creationId xmlns:a16="http://schemas.microsoft.com/office/drawing/2014/main" id="{AA697D28-E327-10E4-5D23-9E8ABE0232C2}"/>
              </a:ext>
            </a:extLst>
          </p:cNvPr>
          <p:cNvPicPr>
            <a:picLocks noChangeAspect="1"/>
          </p:cNvPicPr>
          <p:nvPr/>
        </p:nvPicPr>
        <p:blipFill>
          <a:blip r:embed="rId3"/>
          <a:srcRect l="13474" r="15211" b="20914"/>
          <a:stretch>
            <a:fillRect/>
          </a:stretch>
        </p:blipFill>
        <p:spPr>
          <a:xfrm>
            <a:off x="628260" y="1707084"/>
            <a:ext cx="10775564" cy="3768081"/>
          </a:xfrm>
          <a:prstGeom prst="rect">
            <a:avLst/>
          </a:prstGeom>
        </p:spPr>
      </p:pic>
      <p:sp>
        <p:nvSpPr>
          <p:cNvPr id="3" name="文本框 2">
            <a:extLst>
              <a:ext uri="{FF2B5EF4-FFF2-40B4-BE49-F238E27FC236}">
                <a16:creationId xmlns:a16="http://schemas.microsoft.com/office/drawing/2014/main" id="{B75F6F1F-5348-5E46-B763-7B42C59BF1D6}"/>
              </a:ext>
            </a:extLst>
          </p:cNvPr>
          <p:cNvSpPr txBox="1"/>
          <p:nvPr/>
        </p:nvSpPr>
        <p:spPr>
          <a:xfrm>
            <a:off x="2820222" y="5525018"/>
            <a:ext cx="6832003" cy="400110"/>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7.</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err="1">
                <a:latin typeface="Times New Roman" panose="02020603050405020304" pitchFamily="18" charset="0"/>
                <a:ea typeface="標楷體" pitchFamily="65" charset="-120"/>
                <a:cs typeface="Times New Roman" panose="02020603050405020304" pitchFamily="18" charset="0"/>
              </a:rPr>
              <a:t>Openclaw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problem:</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skill</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poisoning</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4548333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35EAF-5D01-3260-3851-36C415636285}"/>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21428BC-6C4B-B320-E4C9-46F07486D74C}"/>
              </a:ext>
            </a:extLst>
          </p:cNvPr>
          <p:cNvSpPr>
            <a:spLocks noGrp="1"/>
          </p:cNvSpPr>
          <p:nvPr>
            <p:ph type="title"/>
          </p:nvPr>
        </p:nvSpPr>
        <p:spPr/>
        <p:txBody>
          <a:bodyPr/>
          <a:lstStyle/>
          <a:p>
            <a:r>
              <a:rPr lang="en-US" altLang="zh-CN" dirty="0"/>
              <a:t>3.3</a:t>
            </a:r>
            <a:r>
              <a:rPr lang="zh-CN" altLang="en-US" dirty="0"/>
              <a:t> </a:t>
            </a:r>
            <a:r>
              <a:rPr lang="en-US" altLang="zh-CN" dirty="0"/>
              <a:t>Taming</a:t>
            </a:r>
            <a:r>
              <a:rPr lang="zh-CN" altLang="en-US" dirty="0"/>
              <a:t> </a:t>
            </a:r>
            <a:r>
              <a:rPr lang="en-US" altLang="zh-CN" dirty="0" err="1"/>
              <a:t>Openclaw</a:t>
            </a:r>
            <a:r>
              <a:rPr lang="en-US" altLang="zh-CN" dirty="0"/>
              <a:t> (2/3)</a:t>
            </a:r>
            <a:endParaRPr lang="zh-CN" altLang="en-US" dirty="0"/>
          </a:p>
        </p:txBody>
      </p:sp>
      <p:sp>
        <p:nvSpPr>
          <p:cNvPr id="4" name="灯片编号占位符 3">
            <a:extLst>
              <a:ext uri="{FF2B5EF4-FFF2-40B4-BE49-F238E27FC236}">
                <a16:creationId xmlns:a16="http://schemas.microsoft.com/office/drawing/2014/main" id="{AB2BC4E3-95CE-CD9D-6E56-42B4BCB6701A}"/>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
        <p:nvSpPr>
          <p:cNvPr id="9" name="内容占位符 5">
            <a:extLst>
              <a:ext uri="{FF2B5EF4-FFF2-40B4-BE49-F238E27FC236}">
                <a16:creationId xmlns:a16="http://schemas.microsoft.com/office/drawing/2014/main" id="{BA95695C-8145-86C2-B689-04D4F1583790}"/>
              </a:ext>
            </a:extLst>
          </p:cNvPr>
          <p:cNvSpPr txBox="1">
            <a:spLocks/>
          </p:cNvSpPr>
          <p:nvPr/>
        </p:nvSpPr>
        <p:spPr bwMode="auto">
          <a:xfrm>
            <a:off x="414371" y="1197843"/>
            <a:ext cx="11056726" cy="19858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Examples</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of</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current</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safety</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problems</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in</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err="1">
                <a:latin typeface="Times New Roman" panose="02020603050405020304" pitchFamily="18" charset="0"/>
                <a:cs typeface="Times New Roman" panose="02020603050405020304" pitchFamily="18" charset="0"/>
              </a:rPr>
              <a:t>OpenClaw</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Indirect</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Prompt</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Injection</a:t>
            </a:r>
          </a:p>
        </p:txBody>
      </p:sp>
      <p:pic>
        <p:nvPicPr>
          <p:cNvPr id="6" name="图片 5">
            <a:extLst>
              <a:ext uri="{FF2B5EF4-FFF2-40B4-BE49-F238E27FC236}">
                <a16:creationId xmlns:a16="http://schemas.microsoft.com/office/drawing/2014/main" id="{F6C81E5E-9C95-5E57-A576-5A40CAC353FC}"/>
              </a:ext>
            </a:extLst>
          </p:cNvPr>
          <p:cNvPicPr>
            <a:picLocks noChangeAspect="1"/>
          </p:cNvPicPr>
          <p:nvPr/>
        </p:nvPicPr>
        <p:blipFill>
          <a:blip r:embed="rId3"/>
          <a:srcRect l="15266" t="4017" r="15617" b="67544"/>
          <a:stretch>
            <a:fillRect/>
          </a:stretch>
        </p:blipFill>
        <p:spPr>
          <a:xfrm>
            <a:off x="609600" y="1937620"/>
            <a:ext cx="11222666" cy="2671701"/>
          </a:xfrm>
          <a:prstGeom prst="rect">
            <a:avLst/>
          </a:prstGeom>
        </p:spPr>
      </p:pic>
      <p:sp>
        <p:nvSpPr>
          <p:cNvPr id="2" name="文本框 1">
            <a:extLst>
              <a:ext uri="{FF2B5EF4-FFF2-40B4-BE49-F238E27FC236}">
                <a16:creationId xmlns:a16="http://schemas.microsoft.com/office/drawing/2014/main" id="{1ACCD509-9E66-9CB8-78E7-2AFD1D3D21E2}"/>
              </a:ext>
            </a:extLst>
          </p:cNvPr>
          <p:cNvSpPr txBox="1"/>
          <p:nvPr/>
        </p:nvSpPr>
        <p:spPr>
          <a:xfrm>
            <a:off x="2804931" y="5098968"/>
            <a:ext cx="6832003" cy="400110"/>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8.</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err="1">
                <a:latin typeface="Times New Roman" panose="02020603050405020304" pitchFamily="18" charset="0"/>
                <a:ea typeface="標楷體" pitchFamily="65" charset="-120"/>
                <a:cs typeface="Times New Roman" panose="02020603050405020304" pitchFamily="18" charset="0"/>
              </a:rPr>
              <a:t>Openclaw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problem:</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indirect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prompt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injection</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7454767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35CB8-11DB-7CCF-1EA0-A8A2970A5A21}"/>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B63C550-7732-A3B9-0BE8-709B16FAFDF8}"/>
              </a:ext>
            </a:extLst>
          </p:cNvPr>
          <p:cNvSpPr>
            <a:spLocks noGrp="1"/>
          </p:cNvSpPr>
          <p:nvPr>
            <p:ph type="title"/>
          </p:nvPr>
        </p:nvSpPr>
        <p:spPr/>
        <p:txBody>
          <a:bodyPr/>
          <a:lstStyle/>
          <a:p>
            <a:r>
              <a:rPr lang="en-US" altLang="zh-CN" dirty="0"/>
              <a:t>3.3</a:t>
            </a:r>
            <a:r>
              <a:rPr lang="zh-CN" altLang="en-US" dirty="0"/>
              <a:t> </a:t>
            </a:r>
            <a:r>
              <a:rPr lang="en-US" altLang="zh-CN" dirty="0"/>
              <a:t>Taming</a:t>
            </a:r>
            <a:r>
              <a:rPr lang="zh-CN" altLang="en-US" dirty="0"/>
              <a:t> </a:t>
            </a:r>
            <a:r>
              <a:rPr lang="en-US" altLang="zh-CN" dirty="0" err="1"/>
              <a:t>Openclaw</a:t>
            </a:r>
            <a:r>
              <a:rPr lang="en-US" altLang="zh-CN" dirty="0"/>
              <a:t> (2/3)</a:t>
            </a:r>
            <a:endParaRPr lang="zh-CN" altLang="en-US" dirty="0"/>
          </a:p>
        </p:txBody>
      </p:sp>
      <p:sp>
        <p:nvSpPr>
          <p:cNvPr id="4" name="灯片编号占位符 3">
            <a:extLst>
              <a:ext uri="{FF2B5EF4-FFF2-40B4-BE49-F238E27FC236}">
                <a16:creationId xmlns:a16="http://schemas.microsoft.com/office/drawing/2014/main" id="{0E2909F9-23A5-6200-2EFD-6BF3BCEBFC0A}"/>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
        <p:nvSpPr>
          <p:cNvPr id="9" name="内容占位符 5">
            <a:extLst>
              <a:ext uri="{FF2B5EF4-FFF2-40B4-BE49-F238E27FC236}">
                <a16:creationId xmlns:a16="http://schemas.microsoft.com/office/drawing/2014/main" id="{B68CD148-2455-B61B-193F-35518FBB4D96}"/>
              </a:ext>
            </a:extLst>
          </p:cNvPr>
          <p:cNvSpPr txBox="1">
            <a:spLocks/>
          </p:cNvSpPr>
          <p:nvPr/>
        </p:nvSpPr>
        <p:spPr bwMode="auto">
          <a:xfrm>
            <a:off x="414371" y="1197843"/>
            <a:ext cx="10738226" cy="19858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Examples</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of</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current</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safety</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problems</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in</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err="1">
                <a:latin typeface="Times New Roman" panose="02020603050405020304" pitchFamily="18" charset="0"/>
                <a:cs typeface="Times New Roman" panose="02020603050405020304" pitchFamily="18" charset="0"/>
              </a:rPr>
              <a:t>OpenClaw</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Memory</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Poisoning</a:t>
            </a:r>
          </a:p>
        </p:txBody>
      </p:sp>
      <p:pic>
        <p:nvPicPr>
          <p:cNvPr id="7" name="图片 6">
            <a:extLst>
              <a:ext uri="{FF2B5EF4-FFF2-40B4-BE49-F238E27FC236}">
                <a16:creationId xmlns:a16="http://schemas.microsoft.com/office/drawing/2014/main" id="{0F423129-52E9-484F-D82B-A2802E847B13}"/>
              </a:ext>
            </a:extLst>
          </p:cNvPr>
          <p:cNvPicPr>
            <a:picLocks noChangeAspect="1"/>
          </p:cNvPicPr>
          <p:nvPr/>
        </p:nvPicPr>
        <p:blipFill>
          <a:blip r:embed="rId3"/>
          <a:srcRect l="15197" t="53152" r="15406" b="14152"/>
          <a:stretch>
            <a:fillRect/>
          </a:stretch>
        </p:blipFill>
        <p:spPr>
          <a:xfrm>
            <a:off x="414371" y="1856079"/>
            <a:ext cx="11260261" cy="3069439"/>
          </a:xfrm>
          <a:prstGeom prst="rect">
            <a:avLst/>
          </a:prstGeom>
        </p:spPr>
      </p:pic>
      <p:sp>
        <p:nvSpPr>
          <p:cNvPr id="2" name="文本框 1">
            <a:extLst>
              <a:ext uri="{FF2B5EF4-FFF2-40B4-BE49-F238E27FC236}">
                <a16:creationId xmlns:a16="http://schemas.microsoft.com/office/drawing/2014/main" id="{14DF79DD-D20C-CAF1-1856-8706573319BA}"/>
              </a:ext>
            </a:extLst>
          </p:cNvPr>
          <p:cNvSpPr txBox="1"/>
          <p:nvPr/>
        </p:nvSpPr>
        <p:spPr>
          <a:xfrm>
            <a:off x="2782900" y="5260047"/>
            <a:ext cx="6832003" cy="400110"/>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9.</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err="1">
                <a:latin typeface="Times New Roman" panose="02020603050405020304" pitchFamily="18" charset="0"/>
                <a:ea typeface="標楷體" pitchFamily="65" charset="-120"/>
                <a:cs typeface="Times New Roman" panose="02020603050405020304" pitchFamily="18" charset="0"/>
              </a:rPr>
              <a:t>Openclaw</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problem:</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memory</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err="1">
                <a:latin typeface="Times New Roman" panose="02020603050405020304" pitchFamily="18" charset="0"/>
                <a:ea typeface="標楷體" pitchFamily="65" charset="-120"/>
                <a:cs typeface="Times New Roman" panose="02020603050405020304" pitchFamily="18" charset="0"/>
              </a:rPr>
              <a:t>posioning</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206849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90067-4936-8260-7AB6-ED37E1D231B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A9A5699-D2E1-4740-806A-FB92740AC541}"/>
              </a:ext>
            </a:extLst>
          </p:cNvPr>
          <p:cNvSpPr>
            <a:spLocks noGrp="1"/>
          </p:cNvSpPr>
          <p:nvPr>
            <p:ph type="title"/>
          </p:nvPr>
        </p:nvSpPr>
        <p:spPr/>
        <p:txBody>
          <a:bodyPr/>
          <a:lstStyle/>
          <a:p>
            <a:r>
              <a:rPr lang="en-US" altLang="zh-CN" dirty="0"/>
              <a:t>3.3</a:t>
            </a:r>
            <a:r>
              <a:rPr lang="zh-CN" altLang="en-US" dirty="0"/>
              <a:t> </a:t>
            </a:r>
            <a:r>
              <a:rPr lang="en-US" altLang="zh-CN" dirty="0"/>
              <a:t>Taming</a:t>
            </a:r>
            <a:r>
              <a:rPr lang="zh-CN" altLang="en-US" dirty="0"/>
              <a:t> </a:t>
            </a:r>
            <a:r>
              <a:rPr lang="en-US" altLang="zh-CN" dirty="0" err="1"/>
              <a:t>Openclaw</a:t>
            </a:r>
            <a:r>
              <a:rPr lang="en-US" altLang="zh-CN" dirty="0"/>
              <a:t> (3/3)</a:t>
            </a:r>
            <a:endParaRPr lang="zh-CN" altLang="en-US" dirty="0"/>
          </a:p>
        </p:txBody>
      </p:sp>
      <p:sp>
        <p:nvSpPr>
          <p:cNvPr id="4" name="灯片编号占位符 3">
            <a:extLst>
              <a:ext uri="{FF2B5EF4-FFF2-40B4-BE49-F238E27FC236}">
                <a16:creationId xmlns:a16="http://schemas.microsoft.com/office/drawing/2014/main" id="{61944D36-3726-83EB-2DD5-E3CE8E9D93E1}"/>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
        <p:nvSpPr>
          <p:cNvPr id="9" name="内容占位符 5">
            <a:extLst>
              <a:ext uri="{FF2B5EF4-FFF2-40B4-BE49-F238E27FC236}">
                <a16:creationId xmlns:a16="http://schemas.microsoft.com/office/drawing/2014/main" id="{319F6309-BB2E-4941-A169-BAD62465EDE5}"/>
              </a:ext>
            </a:extLst>
          </p:cNvPr>
          <p:cNvSpPr txBox="1">
            <a:spLocks/>
          </p:cNvSpPr>
          <p:nvPr/>
        </p:nvSpPr>
        <p:spPr bwMode="auto">
          <a:xfrm>
            <a:off x="109591" y="1296584"/>
            <a:ext cx="5572019" cy="19858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Initialization:</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Untrusted</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Dependencies</a:t>
            </a:r>
          </a:p>
          <a:p>
            <a:pPr lvl="1"/>
            <a:r>
              <a:rPr lang="en-US" altLang="zh-CN" sz="1867" b="1" kern="0" dirty="0">
                <a:latin typeface="Times New Roman" panose="02020603050405020304" pitchFamily="18" charset="0"/>
                <a:cs typeface="Times New Roman" panose="02020603050405020304" pitchFamily="18" charset="0"/>
              </a:rPr>
              <a:t>Content</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Malicious</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plugins</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and</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configs</a:t>
            </a:r>
          </a:p>
          <a:p>
            <a:pPr lvl="1"/>
            <a:r>
              <a:rPr lang="en-US" altLang="zh-CN" sz="1867" b="1" kern="0" dirty="0">
                <a:latin typeface="Times New Roman" panose="02020603050405020304" pitchFamily="18" charset="0"/>
                <a:cs typeface="Times New Roman" panose="02020603050405020304" pitchFamily="18" charset="0"/>
              </a:rPr>
              <a:t>Solution</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Mount the extension tool for scanning, analyze whether there are backdoors and system access permissions beyond the scope</a:t>
            </a:r>
          </a:p>
          <a:p>
            <a:pPr lvl="1"/>
            <a:r>
              <a:rPr lang="en-US" altLang="zh-CN" sz="1867" b="1" kern="0" dirty="0">
                <a:latin typeface="Times New Roman" panose="02020603050405020304" pitchFamily="18" charset="0"/>
                <a:cs typeface="Times New Roman" panose="02020603050405020304" pitchFamily="18" charset="0"/>
              </a:rPr>
              <a:t>Prevent</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Skill</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supply</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chain</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contamination</a:t>
            </a:r>
            <a:endParaRPr lang="en-US" altLang="zh-CN" sz="1800" kern="0" dirty="0">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F391CE94-B24A-8D10-9669-D4641A4DA705}"/>
              </a:ext>
            </a:extLst>
          </p:cNvPr>
          <p:cNvPicPr>
            <a:picLocks noChangeAspect="1"/>
          </p:cNvPicPr>
          <p:nvPr/>
        </p:nvPicPr>
        <p:blipFill>
          <a:blip r:embed="rId3"/>
          <a:srcRect l="4050" t="13470" r="61363" b="893"/>
          <a:stretch>
            <a:fillRect/>
          </a:stretch>
        </p:blipFill>
        <p:spPr>
          <a:xfrm>
            <a:off x="6438944" y="1296584"/>
            <a:ext cx="5338145" cy="4476915"/>
          </a:xfrm>
          <a:prstGeom prst="rect">
            <a:avLst/>
          </a:prstGeom>
        </p:spPr>
      </p:pic>
      <p:sp>
        <p:nvSpPr>
          <p:cNvPr id="10" name="内容占位符 5">
            <a:extLst>
              <a:ext uri="{FF2B5EF4-FFF2-40B4-BE49-F238E27FC236}">
                <a16:creationId xmlns:a16="http://schemas.microsoft.com/office/drawing/2014/main" id="{1AC66CB6-43AB-E9E4-AF45-B944AB0383D7}"/>
              </a:ext>
            </a:extLst>
          </p:cNvPr>
          <p:cNvSpPr txBox="1">
            <a:spLocks/>
          </p:cNvSpPr>
          <p:nvPr/>
        </p:nvSpPr>
        <p:spPr bwMode="auto">
          <a:xfrm>
            <a:off x="184935" y="3575599"/>
            <a:ext cx="5676472" cy="19858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Input:</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Malicious</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Content</a:t>
            </a:r>
          </a:p>
          <a:p>
            <a:pPr lvl="1"/>
            <a:r>
              <a:rPr lang="en-US" altLang="zh-CN" sz="1867" b="1" kern="0" dirty="0">
                <a:latin typeface="Times New Roman" panose="02020603050405020304" pitchFamily="18" charset="0"/>
                <a:cs typeface="Times New Roman" panose="02020603050405020304" pitchFamily="18" charset="0"/>
              </a:rPr>
              <a:t>Content</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Injected</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prompt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malicious</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file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parsing</a:t>
            </a:r>
          </a:p>
          <a:p>
            <a:pPr lvl="1"/>
            <a:r>
              <a:rPr lang="en-US" altLang="zh-CN" sz="1867" b="1" kern="0" dirty="0">
                <a:latin typeface="Times New Roman" panose="02020603050405020304" pitchFamily="18" charset="0"/>
                <a:cs typeface="Times New Roman" panose="02020603050405020304" pitchFamily="18" charset="0"/>
              </a:rPr>
              <a:t>Solution</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Sanitize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prompt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and</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outer</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unstructured</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data</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into</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unified</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contextual</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representation.</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Separate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safe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and</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unsafe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data</a:t>
            </a:r>
          </a:p>
          <a:p>
            <a:pPr lvl="1"/>
            <a:r>
              <a:rPr lang="en-US" altLang="zh-CN" sz="1867" b="1" kern="0" dirty="0">
                <a:latin typeface="Times New Roman" panose="02020603050405020304" pitchFamily="18" charset="0"/>
                <a:cs typeface="Times New Roman" panose="02020603050405020304" pitchFamily="18" charset="0"/>
              </a:rPr>
              <a:t>Prevent</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Indirect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prompt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injection</a:t>
            </a:r>
            <a:endParaRPr lang="en-US" altLang="zh-CN" sz="1800" kern="0"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EE3F4B50-8776-0520-38E3-E7BCF2FFA347}"/>
              </a:ext>
            </a:extLst>
          </p:cNvPr>
          <p:cNvSpPr txBox="1"/>
          <p:nvPr/>
        </p:nvSpPr>
        <p:spPr>
          <a:xfrm>
            <a:off x="5681610" y="5748953"/>
            <a:ext cx="6832003" cy="400110"/>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6.1.</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Agent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lifecycle: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initialization</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and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input</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997598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C8085-DB9A-F6CF-D7BD-3CE97CB77B9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A850E186-B32E-DAB7-7C55-B46DF4D2560A}"/>
              </a:ext>
            </a:extLst>
          </p:cNvPr>
          <p:cNvSpPr>
            <a:spLocks noGrp="1"/>
          </p:cNvSpPr>
          <p:nvPr>
            <p:ph type="title"/>
          </p:nvPr>
        </p:nvSpPr>
        <p:spPr/>
        <p:txBody>
          <a:bodyPr/>
          <a:lstStyle/>
          <a:p>
            <a:r>
              <a:rPr lang="en-US" altLang="zh-CN" dirty="0"/>
              <a:t>3.3</a:t>
            </a:r>
            <a:r>
              <a:rPr lang="zh-CN" altLang="en-US" dirty="0"/>
              <a:t> </a:t>
            </a:r>
            <a:r>
              <a:rPr lang="en-US" altLang="zh-CN" dirty="0"/>
              <a:t>Taming</a:t>
            </a:r>
            <a:r>
              <a:rPr lang="zh-CN" altLang="en-US" dirty="0"/>
              <a:t> </a:t>
            </a:r>
            <a:r>
              <a:rPr lang="en-US" altLang="zh-CN" dirty="0" err="1"/>
              <a:t>Openclaw</a:t>
            </a:r>
            <a:r>
              <a:rPr lang="en-US" altLang="zh-CN" dirty="0"/>
              <a:t> (3/3)</a:t>
            </a:r>
            <a:endParaRPr lang="zh-CN" altLang="en-US" dirty="0"/>
          </a:p>
        </p:txBody>
      </p:sp>
      <p:sp>
        <p:nvSpPr>
          <p:cNvPr id="4" name="灯片编号占位符 3">
            <a:extLst>
              <a:ext uri="{FF2B5EF4-FFF2-40B4-BE49-F238E27FC236}">
                <a16:creationId xmlns:a16="http://schemas.microsoft.com/office/drawing/2014/main" id="{29042473-E12B-C28C-C3CB-22CFF03CCBBF}"/>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
        <p:nvSpPr>
          <p:cNvPr id="9" name="内容占位符 5">
            <a:extLst>
              <a:ext uri="{FF2B5EF4-FFF2-40B4-BE49-F238E27FC236}">
                <a16:creationId xmlns:a16="http://schemas.microsoft.com/office/drawing/2014/main" id="{7C0B64B4-1F47-6292-9BB6-2D4526DB7E66}"/>
              </a:ext>
            </a:extLst>
          </p:cNvPr>
          <p:cNvSpPr txBox="1">
            <a:spLocks/>
          </p:cNvSpPr>
          <p:nvPr/>
        </p:nvSpPr>
        <p:spPr bwMode="auto">
          <a:xfrm>
            <a:off x="109591" y="1486675"/>
            <a:ext cx="5572019" cy="19858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Inference:</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Tampered</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Persistent</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State</a:t>
            </a:r>
          </a:p>
          <a:p>
            <a:pPr lvl="1"/>
            <a:r>
              <a:rPr lang="en-US" altLang="zh-CN" sz="1867" b="1" kern="0" dirty="0">
                <a:latin typeface="Times New Roman" panose="02020603050405020304" pitchFamily="18" charset="0"/>
                <a:cs typeface="Times New Roman" panose="02020603050405020304" pitchFamily="18" charset="0"/>
              </a:rPr>
              <a:t>Content</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Memory</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poisoning</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&amp;</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context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drift</a:t>
            </a:r>
          </a:p>
          <a:p>
            <a:pPr lvl="1"/>
            <a:r>
              <a:rPr lang="en-US" altLang="zh-CN" sz="1867" b="1" kern="0" dirty="0">
                <a:latin typeface="Times New Roman" panose="02020603050405020304" pitchFamily="18" charset="0"/>
                <a:cs typeface="Times New Roman" panose="02020603050405020304" pitchFamily="18" charset="0"/>
              </a:rPr>
              <a:t>Solution</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Monitor</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and process the evolution of internal states in multiple complex conversations using Guard</a:t>
            </a:r>
          </a:p>
        </p:txBody>
      </p:sp>
      <p:sp>
        <p:nvSpPr>
          <p:cNvPr id="10" name="内容占位符 5">
            <a:extLst>
              <a:ext uri="{FF2B5EF4-FFF2-40B4-BE49-F238E27FC236}">
                <a16:creationId xmlns:a16="http://schemas.microsoft.com/office/drawing/2014/main" id="{2241D904-8791-D899-5EE4-206865179A68}"/>
              </a:ext>
            </a:extLst>
          </p:cNvPr>
          <p:cNvSpPr txBox="1">
            <a:spLocks/>
          </p:cNvSpPr>
          <p:nvPr/>
        </p:nvSpPr>
        <p:spPr bwMode="auto">
          <a:xfrm>
            <a:off x="184935" y="3575599"/>
            <a:ext cx="5676472" cy="19858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Decision:</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Deviated</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Tasks</a:t>
            </a:r>
          </a:p>
          <a:p>
            <a:pPr lvl="1"/>
            <a:r>
              <a:rPr lang="en-US" altLang="zh-CN" sz="1867" b="1" kern="0" dirty="0">
                <a:latin typeface="Times New Roman" panose="02020603050405020304" pitchFamily="18" charset="0"/>
                <a:cs typeface="Times New Roman" panose="02020603050405020304" pitchFamily="18" charset="0"/>
              </a:rPr>
              <a:t>Content</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Intent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drift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goal</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hijacking</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tool</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selection</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manipulation</a:t>
            </a:r>
          </a:p>
          <a:p>
            <a:pPr lvl="1"/>
            <a:r>
              <a:rPr lang="en-US" altLang="zh-CN" sz="1867" b="1" kern="0" dirty="0">
                <a:latin typeface="Times New Roman" panose="02020603050405020304" pitchFamily="18" charset="0"/>
                <a:cs typeface="Times New Roman" panose="02020603050405020304" pitchFamily="18" charset="0"/>
              </a:rPr>
              <a:t>Solution</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Compare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the actions decided by the agent with the user's original prompt to perform semantic consistency checks</a:t>
            </a:r>
          </a:p>
        </p:txBody>
      </p:sp>
      <p:pic>
        <p:nvPicPr>
          <p:cNvPr id="2" name="图片 1">
            <a:extLst>
              <a:ext uri="{FF2B5EF4-FFF2-40B4-BE49-F238E27FC236}">
                <a16:creationId xmlns:a16="http://schemas.microsoft.com/office/drawing/2014/main" id="{E618A5B8-ADFF-48DE-802C-761C783F6E19}"/>
              </a:ext>
            </a:extLst>
          </p:cNvPr>
          <p:cNvPicPr>
            <a:picLocks noChangeAspect="1"/>
          </p:cNvPicPr>
          <p:nvPr/>
        </p:nvPicPr>
        <p:blipFill>
          <a:blip r:embed="rId3"/>
          <a:srcRect l="38444" t="13754" r="21294" b="1035"/>
          <a:stretch>
            <a:fillRect/>
          </a:stretch>
        </p:blipFill>
        <p:spPr>
          <a:xfrm>
            <a:off x="5784349" y="1196596"/>
            <a:ext cx="6349755" cy="4551795"/>
          </a:xfrm>
          <a:prstGeom prst="rect">
            <a:avLst/>
          </a:prstGeom>
        </p:spPr>
      </p:pic>
      <p:sp>
        <p:nvSpPr>
          <p:cNvPr id="3" name="文本框 2">
            <a:extLst>
              <a:ext uri="{FF2B5EF4-FFF2-40B4-BE49-F238E27FC236}">
                <a16:creationId xmlns:a16="http://schemas.microsoft.com/office/drawing/2014/main" id="{820C311F-830F-17E9-AAF0-AC4373A6AF4F}"/>
              </a:ext>
            </a:extLst>
          </p:cNvPr>
          <p:cNvSpPr txBox="1"/>
          <p:nvPr/>
        </p:nvSpPr>
        <p:spPr>
          <a:xfrm>
            <a:off x="5681610" y="5748953"/>
            <a:ext cx="6832003" cy="400110"/>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6.2.</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Agent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lifecycle: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inference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and</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decision</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2350105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2378E-5970-279E-0389-73AE9FE7B4B3}"/>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2713D4B-5150-C36A-99A4-B9083AC476ED}"/>
              </a:ext>
            </a:extLst>
          </p:cNvPr>
          <p:cNvSpPr>
            <a:spLocks noGrp="1"/>
          </p:cNvSpPr>
          <p:nvPr>
            <p:ph type="title"/>
          </p:nvPr>
        </p:nvSpPr>
        <p:spPr/>
        <p:txBody>
          <a:bodyPr/>
          <a:lstStyle/>
          <a:p>
            <a:r>
              <a:rPr lang="en-US" altLang="zh-CN" dirty="0"/>
              <a:t>3.3</a:t>
            </a:r>
            <a:r>
              <a:rPr lang="zh-CN" altLang="en-US" dirty="0"/>
              <a:t> </a:t>
            </a:r>
            <a:r>
              <a:rPr lang="en-US" altLang="zh-CN" dirty="0"/>
              <a:t>Taming</a:t>
            </a:r>
            <a:r>
              <a:rPr lang="zh-CN" altLang="en-US" dirty="0"/>
              <a:t> </a:t>
            </a:r>
            <a:r>
              <a:rPr lang="en-US" altLang="zh-CN" dirty="0" err="1"/>
              <a:t>Openclaw</a:t>
            </a:r>
            <a:r>
              <a:rPr lang="en-US" altLang="zh-CN" dirty="0"/>
              <a:t> (3/3)</a:t>
            </a:r>
            <a:endParaRPr lang="zh-CN" altLang="en-US" dirty="0"/>
          </a:p>
        </p:txBody>
      </p:sp>
      <p:sp>
        <p:nvSpPr>
          <p:cNvPr id="4" name="灯片编号占位符 3">
            <a:extLst>
              <a:ext uri="{FF2B5EF4-FFF2-40B4-BE49-F238E27FC236}">
                <a16:creationId xmlns:a16="http://schemas.microsoft.com/office/drawing/2014/main" id="{35FB6B22-EF0B-D7F7-FE22-5F0B88FEA8DD}"/>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a:p>
        </p:txBody>
      </p:sp>
      <p:sp>
        <p:nvSpPr>
          <p:cNvPr id="9" name="内容占位符 5">
            <a:extLst>
              <a:ext uri="{FF2B5EF4-FFF2-40B4-BE49-F238E27FC236}">
                <a16:creationId xmlns:a16="http://schemas.microsoft.com/office/drawing/2014/main" id="{C42C9C54-8117-4F71-C3B1-AB9AC0773184}"/>
              </a:ext>
            </a:extLst>
          </p:cNvPr>
          <p:cNvSpPr txBox="1">
            <a:spLocks/>
          </p:cNvSpPr>
          <p:nvPr/>
        </p:nvSpPr>
        <p:spPr bwMode="auto">
          <a:xfrm>
            <a:off x="155825" y="1974698"/>
            <a:ext cx="5572019" cy="19858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Execution:</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Abused</a:t>
            </a:r>
            <a:r>
              <a:rPr lang="zh-CN" altLang="en-US" sz="2400" b="1" kern="0" dirty="0">
                <a:latin typeface="Times New Roman" panose="02020603050405020304" pitchFamily="18" charset="0"/>
                <a:cs typeface="Times New Roman" panose="02020603050405020304" pitchFamily="18" charset="0"/>
              </a:rPr>
              <a:t> </a:t>
            </a:r>
            <a:r>
              <a:rPr lang="en-US" altLang="zh-CN" sz="2400" b="1" kern="0" dirty="0">
                <a:latin typeface="Times New Roman" panose="02020603050405020304" pitchFamily="18" charset="0"/>
                <a:cs typeface="Times New Roman" panose="02020603050405020304" pitchFamily="18" charset="0"/>
              </a:rPr>
              <a:t>Privileges</a:t>
            </a:r>
          </a:p>
          <a:p>
            <a:pPr lvl="1"/>
            <a:r>
              <a:rPr lang="en-US" altLang="zh-CN" sz="1867" b="1" kern="0" dirty="0">
                <a:latin typeface="Times New Roman" panose="02020603050405020304" pitchFamily="18" charset="0"/>
                <a:cs typeface="Times New Roman" panose="02020603050405020304" pitchFamily="18" charset="0"/>
              </a:rPr>
              <a:t>Content</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Arbitrary</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code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execution</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privilege</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escalation</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data</a:t>
            </a:r>
            <a:r>
              <a:rPr lang="zh-CN" altLang="en-US" sz="1867" kern="0" dirty="0">
                <a:latin typeface="Times New Roman" panose="02020603050405020304" pitchFamily="18" charset="0"/>
                <a:cs typeface="Times New Roman" panose="02020603050405020304" pitchFamily="18" charset="0"/>
              </a:rPr>
              <a:t> </a:t>
            </a:r>
            <a:r>
              <a:rPr lang="en-US" altLang="zh-CN" sz="1867" kern="0" dirty="0">
                <a:latin typeface="Times New Roman" panose="02020603050405020304" pitchFamily="18" charset="0"/>
                <a:cs typeface="Times New Roman" panose="02020603050405020304" pitchFamily="18" charset="0"/>
              </a:rPr>
              <a:t>exfiltration</a:t>
            </a:r>
          </a:p>
          <a:p>
            <a:pPr lvl="1"/>
            <a:r>
              <a:rPr lang="en-US" altLang="zh-CN" sz="1867" b="1" kern="0" dirty="0">
                <a:latin typeface="Times New Roman" panose="02020603050405020304" pitchFamily="18" charset="0"/>
                <a:cs typeface="Times New Roman" panose="02020603050405020304" pitchFamily="18" charset="0"/>
              </a:rPr>
              <a:t>Solution</a:t>
            </a:r>
            <a:r>
              <a:rPr lang="en-US" altLang="zh-CN" sz="1867" kern="0" dirty="0">
                <a:latin typeface="Times New Roman" panose="02020603050405020304" pitchFamily="18" charset="0"/>
                <a:cs typeface="Times New Roman" panose="02020603050405020304" pitchFamily="18" charset="0"/>
              </a:rPr>
              <a:t>:</a:t>
            </a:r>
            <a:r>
              <a:rPr lang="zh-CN" altLang="en-US" sz="1867" kern="0" dirty="0">
                <a:latin typeface="Times New Roman" panose="02020603050405020304" pitchFamily="18" charset="0"/>
                <a:cs typeface="Times New Roman" panose="02020603050405020304" pitchFamily="18" charset="0"/>
              </a:rPr>
              <a:t> </a:t>
            </a:r>
            <a:endParaRPr lang="en-US" altLang="zh-CN" sz="1867" kern="0" dirty="0">
              <a:latin typeface="Times New Roman" panose="02020603050405020304" pitchFamily="18" charset="0"/>
              <a:cs typeface="Times New Roman" panose="02020603050405020304" pitchFamily="18" charset="0"/>
            </a:endParaRPr>
          </a:p>
          <a:p>
            <a:pPr lvl="2"/>
            <a:r>
              <a:rPr lang="en-US" altLang="zh-CN" sz="1800" kern="0" dirty="0">
                <a:latin typeface="Times New Roman" panose="02020603050405020304" pitchFamily="18" charset="0"/>
                <a:cs typeface="Times New Roman" panose="02020603050405020304" pitchFamily="18" charset="0"/>
              </a:rPr>
              <a:t>Continuously</a:t>
            </a:r>
            <a:r>
              <a:rPr lang="zh-CN" altLang="en-US" sz="1800" kern="0" dirty="0">
                <a:latin typeface="Times New Roman" panose="02020603050405020304" pitchFamily="18" charset="0"/>
                <a:cs typeface="Times New Roman" panose="02020603050405020304" pitchFamily="18" charset="0"/>
              </a:rPr>
              <a:t> </a:t>
            </a:r>
            <a:r>
              <a:rPr lang="en-US" altLang="zh-CN" sz="1800" kern="0" dirty="0">
                <a:latin typeface="Times New Roman" panose="02020603050405020304" pitchFamily="18" charset="0"/>
                <a:cs typeface="Times New Roman" panose="02020603050405020304" pitchFamily="18" charset="0"/>
              </a:rPr>
              <a:t>monitor the behavior of agents in highly privileged environments. </a:t>
            </a:r>
          </a:p>
          <a:p>
            <a:pPr lvl="2"/>
            <a:r>
              <a:rPr lang="en-US" altLang="zh-CN" sz="1800" kern="0" dirty="0">
                <a:latin typeface="Times New Roman" panose="02020603050405020304" pitchFamily="18" charset="0"/>
                <a:cs typeface="Times New Roman" panose="02020603050405020304" pitchFamily="18" charset="0"/>
              </a:rPr>
              <a:t>Restricting specific high-risk actions,</a:t>
            </a:r>
          </a:p>
          <a:p>
            <a:pPr lvl="2"/>
            <a:r>
              <a:rPr lang="en-US" altLang="zh-CN" sz="1800" kern="0" dirty="0">
                <a:latin typeface="Times New Roman" panose="02020603050405020304" pitchFamily="18" charset="0"/>
                <a:cs typeface="Times New Roman" panose="02020603050405020304" pitchFamily="18" charset="0"/>
              </a:rPr>
              <a:t>Implement sandbox isolation</a:t>
            </a:r>
            <a:r>
              <a:rPr lang="zh-CN" altLang="en-US" sz="1800" kern="0" dirty="0">
                <a:latin typeface="Times New Roman" panose="02020603050405020304" pitchFamily="18" charset="0"/>
                <a:cs typeface="Times New Roman" panose="02020603050405020304" pitchFamily="18" charset="0"/>
              </a:rPr>
              <a:t> </a:t>
            </a:r>
            <a:r>
              <a:rPr lang="en-US" altLang="zh-CN" sz="1800" kern="0" dirty="0">
                <a:latin typeface="Times New Roman" panose="02020603050405020304" pitchFamily="18" charset="0"/>
                <a:cs typeface="Times New Roman" panose="02020603050405020304" pitchFamily="18" charset="0"/>
              </a:rPr>
              <a:t>(AIOS)</a:t>
            </a:r>
          </a:p>
        </p:txBody>
      </p:sp>
      <p:pic>
        <p:nvPicPr>
          <p:cNvPr id="3" name="图片 2">
            <a:extLst>
              <a:ext uri="{FF2B5EF4-FFF2-40B4-BE49-F238E27FC236}">
                <a16:creationId xmlns:a16="http://schemas.microsoft.com/office/drawing/2014/main" id="{2D969729-81F8-AE9C-B5D7-926C6C728208}"/>
              </a:ext>
            </a:extLst>
          </p:cNvPr>
          <p:cNvPicPr>
            <a:picLocks noChangeAspect="1"/>
          </p:cNvPicPr>
          <p:nvPr/>
        </p:nvPicPr>
        <p:blipFill>
          <a:blip r:embed="rId3"/>
          <a:srcRect l="78466" t="13043" r="1187" b="1319"/>
          <a:stretch>
            <a:fillRect/>
          </a:stretch>
        </p:blipFill>
        <p:spPr>
          <a:xfrm>
            <a:off x="7180621" y="1111247"/>
            <a:ext cx="3251771" cy="4635505"/>
          </a:xfrm>
          <a:prstGeom prst="rect">
            <a:avLst/>
          </a:prstGeom>
        </p:spPr>
      </p:pic>
      <p:sp>
        <p:nvSpPr>
          <p:cNvPr id="2" name="文本框 1">
            <a:extLst>
              <a:ext uri="{FF2B5EF4-FFF2-40B4-BE49-F238E27FC236}">
                <a16:creationId xmlns:a16="http://schemas.microsoft.com/office/drawing/2014/main" id="{86597AA6-DA60-18F2-9CAB-0229F257621D}"/>
              </a:ext>
            </a:extLst>
          </p:cNvPr>
          <p:cNvSpPr txBox="1"/>
          <p:nvPr/>
        </p:nvSpPr>
        <p:spPr>
          <a:xfrm>
            <a:off x="5390504" y="5746752"/>
            <a:ext cx="6832003" cy="400110"/>
          </a:xfrm>
          <a:prstGeom prst="rect">
            <a:avLst/>
          </a:prstGeom>
          <a:noFill/>
        </p:spPr>
        <p:txBody>
          <a:bodyPr wrap="square" rtlCol="0" anchor="ctr" anchorCtr="1">
            <a:spAutoFit/>
          </a:bodyPr>
          <a:lstStyle/>
          <a:p>
            <a:r>
              <a:rPr kumimoji="1" lang="en-US" altLang="zh-CN" sz="2000" dirty="0">
                <a:latin typeface="Times New Roman" panose="02020603050405020304" pitchFamily="18" charset="0"/>
                <a:ea typeface="標楷體" pitchFamily="65" charset="-120"/>
                <a:cs typeface="Times New Roman" panose="02020603050405020304" pitchFamily="18" charset="0"/>
              </a:rPr>
              <a:t>Fig</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6.3.</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Agent</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lifecycle:</a:t>
            </a:r>
            <a:r>
              <a:rPr kumimoji="1" lang="zh-CN" altLang="en-US" sz="2000" dirty="0">
                <a:latin typeface="Times New Roman" panose="02020603050405020304" pitchFamily="18" charset="0"/>
                <a:ea typeface="標楷體" pitchFamily="65" charset="-120"/>
                <a:cs typeface="Times New Roman" panose="02020603050405020304" pitchFamily="18" charset="0"/>
              </a:rPr>
              <a:t> </a:t>
            </a:r>
            <a:r>
              <a:rPr kumimoji="1" lang="en-US" altLang="zh-CN" sz="2000" dirty="0">
                <a:latin typeface="Times New Roman" panose="02020603050405020304" pitchFamily="18" charset="0"/>
                <a:ea typeface="標楷體" pitchFamily="65" charset="-120"/>
                <a:cs typeface="Times New Roman" panose="02020603050405020304" pitchFamily="18" charset="0"/>
              </a:rPr>
              <a:t>execution</a:t>
            </a:r>
            <a:endParaRPr kumimoji="1" lang="zh-CN" altLang="en-US" sz="20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33350337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5C22F-B3FC-7CD7-CE61-6B71F068716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6CC5C19-8198-57E4-42D4-102548413079}"/>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0B102B4A-3E3C-1D1C-B203-F5B80CDB3DAD}"/>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a:t>
            </a:r>
          </a:p>
          <a:p>
            <a:r>
              <a:rPr lang="en-US" altLang="zh-CN" sz="2933" dirty="0">
                <a:latin typeface="Times New Roman" panose="02020603050405020304" pitchFamily="18" charset="0"/>
                <a:cs typeface="Times New Roman" panose="02020603050405020304" pitchFamily="18" charset="0"/>
              </a:rPr>
              <a:t>Proposed Methods &amp; Performance Evaluation </a:t>
            </a:r>
          </a:p>
          <a:p>
            <a:pPr lvl="1"/>
            <a:r>
              <a:rPr lang="en-US" altLang="zh-CN" sz="2400" dirty="0">
                <a:latin typeface="Times New Roman" panose="02020603050405020304" pitchFamily="18" charset="0"/>
                <a:cs typeface="Times New Roman" panose="02020603050405020304" pitchFamily="18" charset="0"/>
              </a:rPr>
              <a:t>AIOS </a:t>
            </a:r>
          </a:p>
          <a:p>
            <a:pPr lvl="1"/>
            <a:r>
              <a:rPr lang="en-US" altLang="zh-CN" sz="2400" dirty="0" err="1">
                <a:latin typeface="Times New Roman" panose="02020603050405020304" pitchFamily="18" charset="0"/>
                <a:cs typeface="Times New Roman" panose="02020603050405020304" pitchFamily="18" charset="0"/>
              </a:rPr>
              <a:t>AgentSight</a:t>
            </a:r>
            <a:r>
              <a:rPr lang="en-US" altLang="zh-CN" sz="2400" dirty="0">
                <a:latin typeface="Times New Roman" panose="02020603050405020304" pitchFamily="18" charset="0"/>
                <a:cs typeface="Times New Roman" panose="02020603050405020304" pitchFamily="18" charset="0"/>
              </a:rPr>
              <a:t> </a:t>
            </a:r>
          </a:p>
          <a:p>
            <a:pPr lvl="1"/>
            <a:r>
              <a:rPr lang="en-US" altLang="zh-CN" sz="2400" dirty="0">
                <a:latin typeface="Times New Roman" panose="02020603050405020304" pitchFamily="18" charset="0"/>
                <a:cs typeface="Times New Roman" panose="02020603050405020304" pitchFamily="18" charset="0"/>
              </a:rPr>
              <a:t>Taming</a:t>
            </a:r>
            <a:r>
              <a:rPr lang="zh-CN" altLang="en-US"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Openclaw</a:t>
            </a:r>
            <a:r>
              <a:rPr lang="en-US" altLang="zh-CN" sz="2400" dirty="0">
                <a:latin typeface="Times New Roman" panose="02020603050405020304" pitchFamily="18" charset="0"/>
                <a:cs typeface="Times New Roman" panose="02020603050405020304" pitchFamily="18" charset="0"/>
              </a:rPr>
              <a:t> </a:t>
            </a:r>
          </a:p>
          <a:p>
            <a:r>
              <a:rPr lang="en-US" altLang="zh-CN" sz="2933" dirty="0">
                <a:solidFill>
                  <a:srgbClr val="FF0000"/>
                </a:solidFill>
                <a:latin typeface="Times New Roman" panose="02020603050405020304" pitchFamily="18" charset="0"/>
                <a:cs typeface="Times New Roman" panose="02020603050405020304" pitchFamily="18" charset="0"/>
              </a:rPr>
              <a:t>Conclusions</a:t>
            </a:r>
          </a:p>
          <a:p>
            <a:r>
              <a:rPr lang="en-US" altLang="zh-CN" sz="2933" dirty="0">
                <a:latin typeface="Times New Roman" panose="02020603050405020304" pitchFamily="18" charset="0"/>
                <a:cs typeface="Times New Roman" panose="02020603050405020304" pitchFamily="18" charset="0"/>
              </a:rPr>
              <a:t>Q &amp; A </a:t>
            </a:r>
          </a:p>
        </p:txBody>
      </p:sp>
      <p:sp>
        <p:nvSpPr>
          <p:cNvPr id="5" name="灯片编号占位符 1">
            <a:extLst>
              <a:ext uri="{FF2B5EF4-FFF2-40B4-BE49-F238E27FC236}">
                <a16:creationId xmlns:a16="http://schemas.microsoft.com/office/drawing/2014/main" id="{B7DA0050-D567-5DE8-3536-EA748FC15A5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33</a:t>
            </a:fld>
            <a:endParaRPr lang="zh-TW" altLang="en-US"/>
          </a:p>
        </p:txBody>
      </p:sp>
    </p:spTree>
    <p:extLst>
      <p:ext uri="{BB962C8B-B14F-4D97-AF65-F5344CB8AC3E}">
        <p14:creationId xmlns:p14="http://schemas.microsoft.com/office/powerpoint/2010/main" val="37374244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A2D34-6F5D-0C83-71A3-B5C5168E2D5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AA9750D-869A-C200-2EE5-D8B1E07F9F12}"/>
              </a:ext>
            </a:extLst>
          </p:cNvPr>
          <p:cNvSpPr>
            <a:spLocks noGrp="1"/>
          </p:cNvSpPr>
          <p:nvPr>
            <p:ph type="title"/>
          </p:nvPr>
        </p:nvSpPr>
        <p:spPr/>
        <p:txBody>
          <a:bodyPr/>
          <a:lstStyle/>
          <a:p>
            <a:r>
              <a:rPr lang="en-US" altLang="zh-CN" dirty="0"/>
              <a:t>4.</a:t>
            </a:r>
            <a:r>
              <a:rPr lang="zh-CN" altLang="en-US" dirty="0"/>
              <a:t> </a:t>
            </a:r>
            <a:r>
              <a:rPr lang="en-US" altLang="zh-CN" dirty="0"/>
              <a:t>Conclusions</a:t>
            </a:r>
            <a:endParaRPr lang="zh-CN" altLang="en-US" dirty="0"/>
          </a:p>
        </p:txBody>
      </p:sp>
      <p:sp>
        <p:nvSpPr>
          <p:cNvPr id="4" name="灯片编号占位符 3">
            <a:extLst>
              <a:ext uri="{FF2B5EF4-FFF2-40B4-BE49-F238E27FC236}">
                <a16:creationId xmlns:a16="http://schemas.microsoft.com/office/drawing/2014/main" id="{2A84A16E-E0AA-76E1-A1F6-A555003FF6A9}"/>
              </a:ext>
            </a:extLst>
          </p:cNvPr>
          <p:cNvSpPr>
            <a:spLocks noGrp="1"/>
          </p:cNvSpPr>
          <p:nvPr>
            <p:ph type="sldNum" sz="quarter" idx="10"/>
          </p:nvPr>
        </p:nvSpPr>
        <p:spPr/>
        <p:txBody>
          <a:bodyPr/>
          <a:lstStyle/>
          <a:p>
            <a:fld id="{D9B6BDF2-6896-4B98-8776-C18582F63BA5}" type="slidenum">
              <a:rPr lang="zh-TW" altLang="en-US" smtClean="0"/>
              <a:pPr/>
              <a:t>34</a:t>
            </a:fld>
            <a:endParaRPr lang="zh-TW" altLang="en-US"/>
          </a:p>
        </p:txBody>
      </p:sp>
      <p:sp>
        <p:nvSpPr>
          <p:cNvPr id="2" name="内容占位符 5">
            <a:extLst>
              <a:ext uri="{FF2B5EF4-FFF2-40B4-BE49-F238E27FC236}">
                <a16:creationId xmlns:a16="http://schemas.microsoft.com/office/drawing/2014/main" id="{53FF7D9F-1225-843A-172D-12A2CC82D7FA}"/>
              </a:ext>
            </a:extLst>
          </p:cNvPr>
          <p:cNvSpPr txBox="1">
            <a:spLocks/>
          </p:cNvSpPr>
          <p:nvPr/>
        </p:nvSpPr>
        <p:spPr bwMode="auto">
          <a:xfrm>
            <a:off x="357768" y="1952418"/>
            <a:ext cx="10595455" cy="4403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3200" b="1" dirty="0"/>
              <a:t>Evolution of Agent OS Security:</a:t>
            </a:r>
            <a:endParaRPr lang="en-US" altLang="zh-CN" sz="3200" dirty="0"/>
          </a:p>
          <a:p>
            <a:pPr lvl="1"/>
            <a:r>
              <a:rPr lang="en-US" altLang="zh-CN" sz="2400" b="1" dirty="0"/>
              <a:t>AIOS:</a:t>
            </a:r>
            <a:r>
              <a:rPr lang="en-US" altLang="zh-CN" sz="2400" dirty="0"/>
              <a:t> Built structural walls (Static).</a:t>
            </a:r>
          </a:p>
          <a:p>
            <a:pPr lvl="1"/>
            <a:endParaRPr lang="en-US" altLang="zh-CN" sz="2400" dirty="0"/>
          </a:p>
          <a:p>
            <a:pPr lvl="1"/>
            <a:r>
              <a:rPr lang="en-US" altLang="zh-CN" sz="2400" b="1" dirty="0" err="1"/>
              <a:t>AgentSight</a:t>
            </a:r>
            <a:r>
              <a:rPr lang="en-US" altLang="zh-CN" sz="2400" b="1" dirty="0"/>
              <a:t>:</a:t>
            </a:r>
            <a:r>
              <a:rPr lang="en-US" altLang="zh-CN" sz="2400" dirty="0"/>
              <a:t> Deployed tamper-proof probes (Dynamic).</a:t>
            </a:r>
          </a:p>
          <a:p>
            <a:pPr lvl="1"/>
            <a:endParaRPr lang="en-US" altLang="zh-CN" sz="2400" dirty="0"/>
          </a:p>
          <a:p>
            <a:pPr lvl="1"/>
            <a:r>
              <a:rPr lang="en-US" altLang="zh-CN" sz="2400" b="1" dirty="0"/>
              <a:t>Taming </a:t>
            </a:r>
            <a:r>
              <a:rPr lang="en-US" altLang="zh-CN" sz="2400" b="1" dirty="0" err="1"/>
              <a:t>OpenClaw</a:t>
            </a:r>
            <a:r>
              <a:rPr lang="en-US" altLang="zh-CN" sz="2400" b="1" dirty="0"/>
              <a:t>:</a:t>
            </a:r>
            <a:r>
              <a:rPr lang="en-US" altLang="zh-CN" sz="2400" dirty="0"/>
              <a:t> Managed the state timeline (Lifecycle).</a:t>
            </a:r>
          </a:p>
          <a:p>
            <a:pPr marL="0" indent="0">
              <a:buNone/>
            </a:pPr>
            <a:endParaRPr lang="en-US" altLang="zh-CN" sz="3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98496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A053B-78CE-6E1B-E2EA-5BC3F90AFF7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7B4D010-75D2-E5FD-75E2-B78AFB30EAD8}"/>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2ABB120F-3546-2B11-17F7-6888FEF68259}"/>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a:t>
            </a:r>
          </a:p>
          <a:p>
            <a:r>
              <a:rPr lang="en-US" altLang="zh-CN" sz="2933" dirty="0">
                <a:latin typeface="Times New Roman" panose="02020603050405020304" pitchFamily="18" charset="0"/>
                <a:cs typeface="Times New Roman" panose="02020603050405020304" pitchFamily="18" charset="0"/>
              </a:rPr>
              <a:t>Proposed Methods &amp; Performance Evaluation </a:t>
            </a:r>
          </a:p>
          <a:p>
            <a:pPr lvl="1"/>
            <a:r>
              <a:rPr lang="en-US" altLang="zh-CN" sz="2400" dirty="0">
                <a:latin typeface="Times New Roman" panose="02020603050405020304" pitchFamily="18" charset="0"/>
                <a:cs typeface="Times New Roman" panose="02020603050405020304" pitchFamily="18" charset="0"/>
              </a:rPr>
              <a:t>AIOS </a:t>
            </a:r>
          </a:p>
          <a:p>
            <a:pPr lvl="1"/>
            <a:r>
              <a:rPr lang="en-US" altLang="zh-CN" sz="2400" dirty="0" err="1">
                <a:latin typeface="Times New Roman" panose="02020603050405020304" pitchFamily="18" charset="0"/>
                <a:cs typeface="Times New Roman" panose="02020603050405020304" pitchFamily="18" charset="0"/>
              </a:rPr>
              <a:t>AgentSight</a:t>
            </a:r>
            <a:r>
              <a:rPr lang="en-US" altLang="zh-CN" sz="2400" dirty="0">
                <a:latin typeface="Times New Roman" panose="02020603050405020304" pitchFamily="18" charset="0"/>
                <a:cs typeface="Times New Roman" panose="02020603050405020304" pitchFamily="18" charset="0"/>
              </a:rPr>
              <a:t> </a:t>
            </a:r>
          </a:p>
          <a:p>
            <a:pPr lvl="1"/>
            <a:r>
              <a:rPr lang="en-US" altLang="zh-CN" sz="2400" dirty="0">
                <a:latin typeface="Times New Roman" panose="02020603050405020304" pitchFamily="18" charset="0"/>
                <a:cs typeface="Times New Roman" panose="02020603050405020304" pitchFamily="18" charset="0"/>
              </a:rPr>
              <a:t>Taming</a:t>
            </a:r>
            <a:r>
              <a:rPr lang="zh-CN" altLang="en-US"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Openclaw</a:t>
            </a:r>
            <a:r>
              <a:rPr lang="en-US" altLang="zh-CN" sz="2400" dirty="0">
                <a:latin typeface="Times New Roman" panose="02020603050405020304" pitchFamily="18" charset="0"/>
                <a:cs typeface="Times New Roman" panose="02020603050405020304" pitchFamily="18" charset="0"/>
              </a:rPr>
              <a:t> </a:t>
            </a:r>
          </a:p>
          <a:p>
            <a:r>
              <a:rPr lang="en-US" altLang="zh-CN" sz="2933" dirty="0">
                <a:latin typeface="Times New Roman" panose="02020603050405020304" pitchFamily="18" charset="0"/>
                <a:cs typeface="Times New Roman" panose="02020603050405020304" pitchFamily="18" charset="0"/>
              </a:rPr>
              <a:t>Conclusions </a:t>
            </a:r>
          </a:p>
          <a:p>
            <a:r>
              <a:rPr lang="en-US" altLang="zh-CN" sz="2933" dirty="0">
                <a:solidFill>
                  <a:srgbClr val="FF0000"/>
                </a:solidFill>
                <a:latin typeface="Times New Roman" panose="02020603050405020304" pitchFamily="18" charset="0"/>
                <a:cs typeface="Times New Roman" panose="02020603050405020304" pitchFamily="18" charset="0"/>
              </a:rPr>
              <a:t>Q &amp; A</a:t>
            </a:r>
          </a:p>
        </p:txBody>
      </p:sp>
      <p:sp>
        <p:nvSpPr>
          <p:cNvPr id="5" name="灯片编号占位符 1">
            <a:extLst>
              <a:ext uri="{FF2B5EF4-FFF2-40B4-BE49-F238E27FC236}">
                <a16:creationId xmlns:a16="http://schemas.microsoft.com/office/drawing/2014/main" id="{805EEB15-1CCC-DF8A-EE70-6D05481C0F1F}"/>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35</a:t>
            </a:fld>
            <a:endParaRPr lang="zh-TW" altLang="en-US"/>
          </a:p>
        </p:txBody>
      </p:sp>
    </p:spTree>
    <p:extLst>
      <p:ext uri="{BB962C8B-B14F-4D97-AF65-F5344CB8AC3E}">
        <p14:creationId xmlns:p14="http://schemas.microsoft.com/office/powerpoint/2010/main" val="3128914654"/>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2612</TotalTime>
  <Words>3633</Words>
  <Application>Microsoft Office PowerPoint</Application>
  <PresentationFormat>宽屏</PresentationFormat>
  <Paragraphs>476</Paragraphs>
  <Slides>35</Slides>
  <Notes>35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35</vt:i4>
      </vt:variant>
    </vt:vector>
  </HeadingPairs>
  <TitlesOfParts>
    <vt:vector size="46" baseType="lpstr">
      <vt:lpstr>標楷體</vt:lpstr>
      <vt:lpstr>MS Sans Serif</vt:lpstr>
      <vt:lpstr>楷体</vt:lpstr>
      <vt:lpstr>Arial</vt:lpstr>
      <vt:lpstr>Calibri</vt:lpstr>
      <vt:lpstr>Calibri Light</vt:lpstr>
      <vt:lpstr>Consolas</vt:lpstr>
      <vt:lpstr>Times New Roman</vt:lpstr>
      <vt:lpstr>Wingdings</vt:lpstr>
      <vt:lpstr>NTHU UniCloud</vt:lpstr>
      <vt:lpstr>自訂設計</vt:lpstr>
      <vt:lpstr>System-Level Isolation for LLM Agent Safety From Static Sandboxes to Full-Lifecycle Security  2026.4.9</vt:lpstr>
      <vt:lpstr>Outline</vt:lpstr>
      <vt:lpstr>Outline</vt:lpstr>
      <vt:lpstr>1.Introduction – The Agentic Nightmare</vt:lpstr>
      <vt:lpstr>Outline</vt:lpstr>
      <vt:lpstr>2.Background &amp; Motivation (1/4)</vt:lpstr>
      <vt:lpstr>2.Background &amp; Motivation (2/4)</vt:lpstr>
      <vt:lpstr>2.Background &amp; Motivation (3/4)</vt:lpstr>
      <vt:lpstr>2.Background &amp; Motivation (4/4)</vt:lpstr>
      <vt:lpstr>Outline</vt:lpstr>
      <vt:lpstr>Outline</vt:lpstr>
      <vt:lpstr>3.1 AIOS (1/3)</vt:lpstr>
      <vt:lpstr>3.1 AIOS (2/3)</vt:lpstr>
      <vt:lpstr>3.1 AIOS (2/3)</vt:lpstr>
      <vt:lpstr>3.1 AIOS (2/3)</vt:lpstr>
      <vt:lpstr>3.1 AIOS (2/3)</vt:lpstr>
      <vt:lpstr>3.1 AIOS (2/3)</vt:lpstr>
      <vt:lpstr>3.1 AIOS (3/3)</vt:lpstr>
      <vt:lpstr>Outline</vt:lpstr>
      <vt:lpstr>3.2 AgentSight (1/4)</vt:lpstr>
      <vt:lpstr>3.2 AgentSight (2/4)</vt:lpstr>
      <vt:lpstr>3.2 AgentSight (2/4)</vt:lpstr>
      <vt:lpstr>3.2 AgentSight (3/4)</vt:lpstr>
      <vt:lpstr>3.2 AgentSight (4/4)</vt:lpstr>
      <vt:lpstr>Outline</vt:lpstr>
      <vt:lpstr>3.3 Taming Openclaw (1/3)</vt:lpstr>
      <vt:lpstr>3.3 Taming Openclaw (2/3)</vt:lpstr>
      <vt:lpstr>3.3 Taming Openclaw (2/3)</vt:lpstr>
      <vt:lpstr>3.3 Taming Openclaw (2/3)</vt:lpstr>
      <vt:lpstr>3.3 Taming Openclaw (3/3)</vt:lpstr>
      <vt:lpstr>3.3 Taming Openclaw (3/3)</vt:lpstr>
      <vt:lpstr>3.3 Taming Openclaw (3/3)</vt:lpstr>
      <vt:lpstr>Outline</vt:lpstr>
      <vt:lpstr>4. Conclusions</vt:lpstr>
      <vt:lpstr>Outline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Yeh-Ching Chung</cp:lastModifiedBy>
  <cp:revision>76</cp:revision>
  <dcterms:created xsi:type="dcterms:W3CDTF">2020-07-15T11:13:39Z</dcterms:created>
  <dcterms:modified xsi:type="dcterms:W3CDTF">2026-04-09T12:54:55Z</dcterms:modified>
</cp:coreProperties>
</file>