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2412"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Hello everyone. My name is Li Yudong. Today, the topic of my presentation is 'Mitigating System Latency in Streaming Voice Conversion: </a:t>
            </a:r>
            <a:r>
              <a:rPr lang="en-US" altLang="zh-CN" sz="1400" b="0" i="0" u="none" strike="noStrike" dirty="0">
                <a:solidFill>
                  <a:srgbClr val="000000"/>
                </a:solidFill>
              </a:rPr>
              <a:t>AN</a:t>
            </a:r>
            <a:r>
              <a:rPr lang="en-US" sz="1400" b="0" i="0" u="none" strike="noStrike" dirty="0">
                <a:solidFill>
                  <a:srgbClr val="000000"/>
                </a:solidFill>
              </a:rPr>
              <a:t> </a:t>
            </a:r>
            <a:r>
              <a:rPr lang="en-US" altLang="zh-CN" sz="1400" b="0" i="0" u="none" strike="noStrike" dirty="0">
                <a:solidFill>
                  <a:srgbClr val="000000"/>
                </a:solidFill>
              </a:rPr>
              <a:t>OS-Level</a:t>
            </a:r>
            <a:r>
              <a:rPr lang="en-US" sz="1400" b="0" i="0" u="none" strike="noStrike" dirty="0">
                <a:solidFill>
                  <a:srgbClr val="000000"/>
                </a:solidFill>
              </a:rPr>
              <a:t> Perspective.' In this presentation, we will explore what happens when </a:t>
            </a:r>
            <a:r>
              <a:rPr lang="en-US" altLang="zh-CN" sz="1400" b="0" i="0" u="none" strike="noStrike" dirty="0">
                <a:solidFill>
                  <a:srgbClr val="000000"/>
                </a:solidFill>
              </a:rPr>
              <a:t>SOTA</a:t>
            </a:r>
            <a:r>
              <a:rPr lang="en-US" sz="1400" b="0" i="0" u="none" strike="noStrike" dirty="0">
                <a:solidFill>
                  <a:srgbClr val="000000"/>
                </a:solidFill>
              </a:rPr>
              <a:t> streaming voice conversion technique meets the foundational resource management layers of modern operating systems, and how algorithm-system co-design is the key to achieving real-time speech synthesis.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Let’s begin with a brief look at the evolution of Voice Conversion. Over the last decade, we have transitioned from traditional Gaussian Mixture Models to highly expressive architectures like Diffusion and Flow Matching. The conversion performance and acoustic quality have been greatly improved.</a:t>
            </a:r>
          </a:p>
          <a:p>
            <a:pPr indent="0" algn="l">
              <a:lnSpc>
                <a:spcPct val="100000"/>
              </a:lnSpc>
            </a:pP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However, the majority of these advancements operate in an offline mode. The system has access to the full audio utterance, which allows for highly efficient batch processing and maximizes GPU utilization. But the future of real-time </a:t>
            </a:r>
            <a:r>
              <a:rPr lang="en-US" altLang="zh-CN" sz="1400" b="0" i="0" u="none" strike="noStrike" dirty="0">
                <a:solidFill>
                  <a:srgbClr val="000000"/>
                </a:solidFill>
              </a:rPr>
              <a:t>communications</a:t>
            </a:r>
            <a:r>
              <a:rPr lang="en-US" sz="1400" b="0" i="0" u="none" strike="noStrike" dirty="0">
                <a:solidFill>
                  <a:srgbClr val="000000"/>
                </a:solidFill>
              </a:rPr>
              <a:t> demands streaming processing. We must process audio strictly chunk-by-chunk, which introduces a completely new set of structural challenges.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The core constraint of streaming voice conversion is the strict latency budget. To achieve true 'zero-lookahead' synthesis, the system operates on micro-chunks, typically around 10 to 20 milliseconds.</a:t>
            </a:r>
          </a:p>
          <a:p>
            <a:pPr indent="0" algn="l">
              <a:lnSpc>
                <a:spcPct val="100000"/>
              </a:lnSpc>
            </a:pP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Within this tiny window, our pipeline must accomplish three heavy tasks: First, extract high-dimensional semantic features; second, estimate the fundamental frequency; and third, push these through a generative model to synthesize the waveform. If this entire process exceeds the 10-millisecond deadline, the audio stream will drop, resulting artifacts.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This brings us to a hardware-software mismatch. Algorithm designers often assume that hardware provides infinite memory bandwidth and instant allocation.</a:t>
            </a:r>
          </a:p>
          <a:p>
            <a:pPr indent="0" algn="l">
              <a:lnSpc>
                <a:spcPct val="100000"/>
              </a:lnSpc>
            </a:pP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In reality, when deployed on operating systems, we need to deal with Python’s GIL and physical memory fragmentation. With a batch size of essentially one, the CPU overhead required to schedule these micro-tasks often completely dominates the actual GPU computation time. Resolving this mismatch is the central focus of my literature review.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To tackle this issue, we first need to define the exact computational workload. I will draw upon the first core paper: </a:t>
            </a:r>
            <a:r>
              <a:rPr lang="en-US" sz="1400" b="0" i="0" u="none" strike="noStrike" dirty="0" err="1">
                <a:solidFill>
                  <a:srgbClr val="000000"/>
                </a:solidFill>
              </a:rPr>
              <a:t>StreamVoice</a:t>
            </a:r>
            <a:r>
              <a:rPr lang="en-US" sz="1400" b="0" i="0" u="none" strike="noStrike" dirty="0">
                <a:solidFill>
                  <a:srgbClr val="000000"/>
                </a:solidFill>
              </a:rPr>
              <a:t>. I will use this paper to formalize the mathematical boundaries of streaming audio generation before we can attempt to optimize the OS layer.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sz="1400" b="0" i="0" u="none" strike="noStrike" kern="1200" dirty="0">
                <a:solidFill>
                  <a:schemeClr val="tx1"/>
                </a:solidFill>
                <a:effectLst/>
                <a:latin typeface="+mn-lt"/>
                <a:ea typeface="+mn-ea"/>
                <a:cs typeface="+mn-cs"/>
              </a:rPr>
              <a:t>If we attempt to generate streaming audio using only the current 10-millisecond chunk, the result is acoustic degradation.</a:t>
            </a:r>
          </a:p>
          <a:p>
            <a:r>
              <a:rPr lang="en-US" altLang="zh-CN" sz="1400" b="0" i="0" u="none" strike="noStrike" kern="1200" dirty="0">
                <a:solidFill>
                  <a:schemeClr val="tx1"/>
                </a:solidFill>
                <a:effectLst/>
                <a:latin typeface="+mn-lt"/>
                <a:ea typeface="+mn-ea"/>
                <a:cs typeface="+mn-cs"/>
              </a:rPr>
              <a:t>To fix this, </a:t>
            </a:r>
            <a:r>
              <a:rPr lang="en-US" altLang="zh-CN" sz="1400" b="0" i="1" u="none" strike="noStrike" kern="1200" dirty="0" err="1">
                <a:solidFill>
                  <a:schemeClr val="tx1"/>
                </a:solidFill>
                <a:effectLst/>
                <a:latin typeface="+mn-lt"/>
                <a:ea typeface="+mn-ea"/>
                <a:cs typeface="+mn-cs"/>
              </a:rPr>
              <a:t>StreamVoice</a:t>
            </a:r>
            <a:r>
              <a:rPr lang="en-US" altLang="zh-CN" sz="1400" b="0" i="0" u="none" strike="noStrike" kern="1200" dirty="0">
                <a:solidFill>
                  <a:schemeClr val="tx1"/>
                </a:solidFill>
                <a:effectLst/>
                <a:latin typeface="+mn-lt"/>
                <a:ea typeface="+mn-ea"/>
                <a:cs typeface="+mn-cs"/>
              </a:rPr>
              <a:t> utilizes Continuous Context Caching. The model relies on a historical tensor that aggregates all preceding acoustic representations. From the perspective of algorithm, this is elegant. After every step, the system concatenates the new feature vector to the historical cache. This successfully maintains prosodic continuity and naturalness over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sz="1400" b="0" i="0" u="none" strike="noStrike" kern="1200" dirty="0">
                <a:solidFill>
                  <a:schemeClr val="tx1"/>
                </a:solidFill>
                <a:effectLst/>
                <a:latin typeface="+mn-lt"/>
                <a:ea typeface="+mn-ea"/>
                <a:cs typeface="+mn-cs"/>
              </a:rPr>
              <a:t>However, what is mathematically elegant is a nightmare for the operating system. Due to the architecture of modern GPUs, multi-dimensional tensors must be stored in </a:t>
            </a:r>
            <a:r>
              <a:rPr lang="en-US" altLang="zh-CN" sz="1400" b="0" i="0" u="none" strike="noStrike" kern="1200" dirty="0" err="1">
                <a:solidFill>
                  <a:schemeClr val="tx1"/>
                </a:solidFill>
                <a:effectLst/>
                <a:latin typeface="+mn-lt"/>
                <a:ea typeface="+mn-ea"/>
                <a:cs typeface="+mn-cs"/>
              </a:rPr>
              <a:t>continous</a:t>
            </a:r>
            <a:r>
              <a:rPr lang="en-US" altLang="zh-CN" sz="1400" b="0" i="0" u="none" strike="noStrike" kern="1200" dirty="0">
                <a:solidFill>
                  <a:schemeClr val="tx1"/>
                </a:solidFill>
                <a:effectLst/>
                <a:latin typeface="+mn-lt"/>
                <a:ea typeface="+mn-ea"/>
                <a:cs typeface="+mn-cs"/>
              </a:rPr>
              <a:t> physical memory.</a:t>
            </a:r>
          </a:p>
          <a:p>
            <a:r>
              <a:rPr lang="en-US" altLang="zh-CN" sz="1400" b="0" i="0" u="none" strike="noStrike" kern="1200" dirty="0">
                <a:solidFill>
                  <a:schemeClr val="tx1"/>
                </a:solidFill>
                <a:effectLst/>
                <a:latin typeface="+mn-lt"/>
                <a:ea typeface="+mn-ea"/>
                <a:cs typeface="+mn-cs"/>
              </a:rPr>
              <a:t>When the historical cache grows, the OS cannot simply append new data if there is no enough space in current memory block. Instead, it triggers a three-step system call: It allocate a new block of memory, copy the entire historical tensor, and then deallocate the old block. Over a continuous streaming session, the time complexity of this memory bandwidth cost becomes Big O of T squared. This is exactly why latency spikes during long conversions.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Another bottleneck lies in computation scheduling. In micro-batch streaming processing, the GPU's computation time is very short, possibly only a few </a:t>
            </a:r>
            <a:r>
              <a:rPr lang="en-US" altLang="zh-CN" sz="1400" b="0" i="0" u="none" strike="noStrike" dirty="0">
                <a:solidFill>
                  <a:srgbClr val="000000"/>
                </a:solidFill>
              </a:rPr>
              <a:t>milliseconds</a:t>
            </a:r>
            <a:r>
              <a:rPr lang="en-US" sz="1400" b="0" i="0" u="none" strike="noStrike" dirty="0">
                <a:solidFill>
                  <a:srgbClr val="000000"/>
                </a:solidFill>
              </a:rPr>
              <a:t>. However, the time the CPU spends scheduling these tiny tasks becomes very significant. This leads to the phenomenon of 'GPU starvation': the GPU is idle for most of the time, waiting for the CPU to complete scheduling, thus increasing the overall latency.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To address the CPU scheduling bottleneck, we draw inspiration from Nimble. The core goal of this work is to minimize the CPU scheduling overhead in deep learning inference. Its key contribution is the introduction of an Ahead-of-Time (AOT) scheduling mechanism, which bypasses the slow, synchronous dispatch loop in standard frameworks, thereby reducing the burden on the CPU.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The Ahead-Of-Time mechanism captures and compiles the entire execution trace of the model into a static graph during initialization through a 'warm-up' run. It pre-analyzes the independent operations in the graph and maps them to parallel CUDA streams. During actual inference, the CPU only needs to issue a lightweight system call to start the entire pre-compiled static graph. This reduces the per-chunk CPU scheduling time to nearly zero, providing valuable computational headroom for our voice conversion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Returning to the memory bottleneck, the root cause lies in the contradiction between the GPU's need for </a:t>
            </a:r>
            <a:r>
              <a:rPr lang="en-US" sz="1400" b="0" i="0" u="none" strike="noStrike" dirty="0" err="1">
                <a:solidFill>
                  <a:srgbClr val="000000"/>
                </a:solidFill>
              </a:rPr>
              <a:t>continous</a:t>
            </a:r>
            <a:r>
              <a:rPr lang="en-US" sz="1400" b="0" i="0" u="none" strike="noStrike" dirty="0">
                <a:solidFill>
                  <a:srgbClr val="000000"/>
                </a:solidFill>
              </a:rPr>
              <a:t> memory and the operating system's difficulty in allocating </a:t>
            </a:r>
            <a:r>
              <a:rPr lang="en-US" sz="1400" b="0" i="0" u="none" strike="noStrike" dirty="0" err="1">
                <a:solidFill>
                  <a:srgbClr val="000000"/>
                </a:solidFill>
              </a:rPr>
              <a:t>continous</a:t>
            </a:r>
            <a:r>
              <a:rPr lang="en-US" sz="1400" b="0" i="0" u="none" strike="noStrike" dirty="0">
                <a:solidFill>
                  <a:srgbClr val="000000"/>
                </a:solidFill>
              </a:rPr>
              <a:t> memory for growing structures. Each cache growth requires reallocation and copying, leading to the Big O of T squared disaster. The inspiration for the solution comes from classic operating system design—virtual memory. By providing a contiguous virtual address space and mapping it to non-contiguous physical memory pages, we can achieve memory growth without moving existing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This idea was successfully applied in </a:t>
            </a:r>
            <a:r>
              <a:rPr lang="en-US" sz="1400" b="0" i="0" u="none" strike="noStrike" dirty="0" err="1">
                <a:solidFill>
                  <a:srgbClr val="000000"/>
                </a:solidFill>
              </a:rPr>
              <a:t>PagedAttention</a:t>
            </a:r>
            <a:r>
              <a:rPr lang="en-US" sz="1400" b="0" i="0" u="none" strike="noStrike" dirty="0">
                <a:solidFill>
                  <a:srgbClr val="000000"/>
                </a:solidFill>
              </a:rPr>
              <a:t> from SOS. This work aims to solve the memory management problem caused by the huge KV cache in large language model (LLM). Its core contribution is to apply the concept of virtual memory paging from the operating system to the management of the attention mechanism's KV cache in user space, providing a direct reference for us to solve similar problems in voice conversion.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sz="1400" b="0" i="0" u="none" strike="noStrike" kern="1200" dirty="0">
                <a:solidFill>
                  <a:schemeClr val="tx1"/>
                </a:solidFill>
                <a:effectLst/>
                <a:latin typeface="+mn-lt"/>
                <a:ea typeface="+mn-ea"/>
                <a:cs typeface="+mn-cs"/>
              </a:rPr>
              <a:t>While </a:t>
            </a:r>
            <a:r>
              <a:rPr lang="en-US" altLang="zh-CN" sz="1400" b="0" i="1" u="none" strike="noStrike" kern="1200" dirty="0" err="1">
                <a:solidFill>
                  <a:schemeClr val="tx1"/>
                </a:solidFill>
                <a:effectLst/>
                <a:latin typeface="+mn-lt"/>
                <a:ea typeface="+mn-ea"/>
                <a:cs typeface="+mn-cs"/>
              </a:rPr>
              <a:t>PagedAttention</a:t>
            </a:r>
            <a:r>
              <a:rPr lang="en-US" altLang="zh-CN" sz="1400" b="0" i="0" u="none" strike="noStrike" kern="1200" dirty="0">
                <a:solidFill>
                  <a:schemeClr val="tx1"/>
                </a:solidFill>
                <a:effectLst/>
                <a:latin typeface="+mn-lt"/>
                <a:ea typeface="+mn-ea"/>
                <a:cs typeface="+mn-cs"/>
              </a:rPr>
              <a:t> applied this to Large Language Models, my research theoretically extrapolates this to continuous audio streams—a concept I call </a:t>
            </a:r>
            <a:r>
              <a:rPr lang="en-US" altLang="zh-CN" sz="1400" b="0" i="1" u="none" strike="noStrike" kern="1200" dirty="0" err="1">
                <a:solidFill>
                  <a:schemeClr val="tx1"/>
                </a:solidFill>
                <a:effectLst/>
                <a:latin typeface="+mn-lt"/>
                <a:ea typeface="+mn-ea"/>
                <a:cs typeface="+mn-cs"/>
              </a:rPr>
              <a:t>PagedAudioCache</a:t>
            </a:r>
            <a:r>
              <a:rPr lang="en-US" altLang="zh-CN" sz="1400" b="0" i="0" u="none" strike="noStrike" kern="1200" dirty="0">
                <a:solidFill>
                  <a:schemeClr val="tx1"/>
                </a:solidFill>
                <a:effectLst/>
                <a:latin typeface="+mn-lt"/>
                <a:ea typeface="+mn-ea"/>
                <a:cs typeface="+mn-cs"/>
              </a:rPr>
              <a:t>.</a:t>
            </a:r>
          </a:p>
          <a:p>
            <a:r>
              <a:rPr lang="en-US" altLang="zh-CN" sz="1400" b="0" i="0" u="none" strike="noStrike" kern="1200" dirty="0">
                <a:solidFill>
                  <a:schemeClr val="tx1"/>
                </a:solidFill>
                <a:effectLst/>
                <a:latin typeface="+mn-lt"/>
                <a:ea typeface="+mn-ea"/>
                <a:cs typeface="+mn-cs"/>
              </a:rPr>
              <a:t>Instead of a single massive tensor, we define an 'Audio Page' as a physical memory block for acoustic features. When a new chunk arrives, we bypass the reallocation disaster. We simply allocate a new physical page from a pool and update the Block Table. No historical data is ever copied. This OS-inspired invention reduces the context update complexity to big O of 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Synthesizing these concepts, we obtain a unified, theoretically sound system workflow. First, the audio chunk is input. Then, inspired by Nimble, we launch a pre-compiled static graph with a lightweight CPU call to perform feature extraction in parallel. Next, inspired by </a:t>
            </a:r>
            <a:r>
              <a:rPr lang="en-US" sz="1400" b="0" i="0" u="none" strike="noStrike" dirty="0" err="1">
                <a:solidFill>
                  <a:srgbClr val="000000"/>
                </a:solidFill>
              </a:rPr>
              <a:t>PagedAttention</a:t>
            </a:r>
            <a:r>
              <a:rPr lang="en-US" sz="1400" b="0" i="0" u="none" strike="noStrike" dirty="0">
                <a:solidFill>
                  <a:srgbClr val="000000"/>
                </a:solidFill>
              </a:rPr>
              <a:t>, we write the new features to an audio page and update the block table, which is an big O of one operation. Finally, the generative model performs attention calculation and waveform synthesis. This process combines the strengths of various approaches, aiming to achieve low latency and high fidelity.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Finally, my conclusion is: The main barriers to deploying high-fidelity streaming VC are not purely acoustic problems, but stem from classic operating system resource management challenges, namely CPU scheduling and memory allocation. The big O of T squared memory bandwidth degradation is a direct consequence of algorithm requirements.</a:t>
            </a:r>
          </a:p>
          <a:p>
            <a:pPr indent="0" algn="l">
              <a:lnSpc>
                <a:spcPct val="100000"/>
              </a:lnSpc>
            </a:pPr>
            <a:r>
              <a:rPr lang="en-US" sz="1400" b="0" i="0" u="none" strike="noStrike" dirty="0">
                <a:solidFill>
                  <a:srgbClr val="000000"/>
                </a:solidFill>
              </a:rPr>
              <a:t>Therefore, co-design of algorithms and systems is the key. By combining Ahead-Of-Time parallel scheduling and user-space virtual memory paging, we can build a system that is efficient.</a:t>
            </a:r>
            <a:br>
              <a:rPr lang="en-US" sz="1400" b="0" i="0" u="none" strike="noStrike" dirty="0">
                <a:solidFill>
                  <a:srgbClr val="000000"/>
                </a:solidFill>
              </a:rPr>
            </a:br>
            <a:r>
              <a:rPr lang="en-US" sz="1400" b="0" i="0" u="none" strike="noStrike" dirty="0">
                <a:solidFill>
                  <a:srgbClr val="000000"/>
                </a:solidFill>
              </a:rPr>
              <a:t>Thank you for your time and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1F2937"/>
                </a:solidFill>
                <a:latin typeface="Poppins"/>
                <a:ea typeface="Poppins"/>
                <a:cs typeface="Poppins"/>
                <a:sym typeface="Poppins"/>
              </a:rPr>
              <a:t>Mitigating System Latency in</a:t>
            </a:r>
            <a:br>
              <a:rPr lang="en-US" sz="4400" b="1" i="0" u="none" strike="noStrike">
                <a:solidFill>
                  <a:srgbClr val="1F2937"/>
                </a:solidFill>
                <a:latin typeface="Poppins"/>
                <a:ea typeface="Poppins"/>
                <a:cs typeface="Poppins"/>
                <a:sym typeface="Poppins"/>
              </a:rPr>
            </a:br>
            <a:r>
              <a:rPr lang="en-US" sz="4400" b="1" i="0" u="none" strike="noStrike">
                <a:solidFill>
                  <a:srgbClr val="1F2937"/>
                </a:solidFill>
                <a:latin typeface="Poppins"/>
                <a:ea typeface="Poppins"/>
                <a:cs typeface="Poppins"/>
                <a:sym typeface="Poppins"/>
              </a:rPr>
              <a:t>Streaming Voice Conversion</a:t>
            </a:r>
            <a:endParaRPr lang="en-US" sz="1100"/>
          </a:p>
        </p:txBody>
      </p:sp>
      <p:sp>
        <p:nvSpPr>
          <p:cNvPr id="3" name="AutoShape 3"/>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0" i="0" u="none" strike="noStrike" spc="200">
                <a:solidFill>
                  <a:srgbClr val="0D9488"/>
                </a:solidFill>
                <a:latin typeface="Poppins"/>
                <a:ea typeface="Poppins"/>
                <a:cs typeface="Poppins"/>
                <a:sym typeface="Poppins"/>
              </a:rPr>
              <a:t>AN OS-LEVEL PERSPECTIVE</a:t>
            </a:r>
            <a:endParaRPr lang="en-US" sz="1100"/>
          </a:p>
        </p:txBody>
      </p:sp>
      <p:sp>
        <p:nvSpPr>
          <p:cNvPr id="4" name="AutoShape 4"/>
          <p:cNvSpPr/>
          <p:nvPr/>
        </p:nvSpPr>
        <p:spPr>
          <a:xfrm>
            <a:off x="5588000" y="4572000"/>
            <a:ext cx="1016000" cy="50800"/>
          </a:xfrm>
          <a:prstGeom prst="roundRect">
            <a:avLst>
              <a:gd name="adj" fmla="val 50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0" y="5207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4B5563"/>
                </a:solidFill>
                <a:latin typeface="Poppins"/>
                <a:ea typeface="Poppins"/>
                <a:cs typeface="Poppins"/>
                <a:sym typeface="Poppins"/>
              </a:rPr>
              <a:t>Presenter: Li Yudong</a:t>
            </a:r>
            <a:endParaRPr lang="en-US" sz="1100"/>
          </a:p>
        </p:txBody>
      </p:sp>
      <p:sp>
        <p:nvSpPr>
          <p:cNvPr id="6" name="AutoShape 6"/>
          <p:cNvSpPr/>
          <p:nvPr/>
        </p:nvSpPr>
        <p:spPr>
          <a:xfrm>
            <a:off x="0" y="57785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0" i="0" u="none" strike="noStrike">
                <a:solidFill>
                  <a:srgbClr val="6B7280"/>
                </a:solidFill>
                <a:latin typeface="Poppins"/>
                <a:ea typeface="Poppins"/>
                <a:cs typeface="Poppins"/>
                <a:sym typeface="Poppins"/>
              </a:rPr>
              <a:t>The Chinese University of Hong Kong, Shenzhen</a:t>
            </a:r>
            <a:endParaRPr lang="en-US" sz="1100"/>
          </a:p>
        </p:txBody>
      </p:sp>
      <p:sp>
        <p:nvSpPr>
          <p:cNvPr id="7" name="AutoShape 6">
            <a:extLst>
              <a:ext uri="{FF2B5EF4-FFF2-40B4-BE49-F238E27FC236}">
                <a16:creationId xmlns:a16="http://schemas.microsoft.com/office/drawing/2014/main" id="{02DAF1AC-DBD2-1766-18EE-DC782BC88040}"/>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1</a:t>
            </a:r>
            <a:endParaRPr lang="en-US" sz="1050" dirty="0">
              <a:solidFill>
                <a:schemeClr val="tx1"/>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1F2937"/>
                </a:solidFill>
                <a:latin typeface="Poppins"/>
                <a:ea typeface="Poppins"/>
                <a:cs typeface="Poppins"/>
                <a:sym typeface="Poppins"/>
              </a:rPr>
              <a:t>Evolution of Voice Conversion</a:t>
            </a:r>
            <a:endParaRPr lang="en-US" sz="1100" dirty="0"/>
          </a:p>
        </p:txBody>
      </p:sp>
      <p:sp>
        <p:nvSpPr>
          <p:cNvPr id="4" name="AutoShape 4"/>
          <p:cNvSpPr/>
          <p:nvPr/>
        </p:nvSpPr>
        <p:spPr>
          <a:xfrm>
            <a:off x="1016000" y="1651000"/>
            <a:ext cx="4953000" cy="4445000"/>
          </a:xfrm>
          <a:prstGeom prst="roundRect">
            <a:avLst>
              <a:gd name="adj" fmla="val 3428"/>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1016000" y="1651000"/>
            <a:ext cx="4953000" cy="76200"/>
          </a:xfrm>
          <a:prstGeom prst="roundRect">
            <a:avLst>
              <a:gd name="adj" fmla="val 200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1270000" y="1968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D9488"/>
                </a:solidFill>
                <a:latin typeface="Poppins"/>
                <a:ea typeface="Poppins"/>
                <a:cs typeface="Poppins"/>
                <a:sym typeface="Poppins"/>
              </a:rPr>
              <a:t>Offline VC (Traditional)</a:t>
            </a:r>
            <a:endParaRPr lang="en-US" sz="1200" dirty="0"/>
          </a:p>
        </p:txBody>
      </p:sp>
      <p:sp>
        <p:nvSpPr>
          <p:cNvPr id="7" name="AutoShape 7"/>
          <p:cNvSpPr/>
          <p:nvPr/>
        </p:nvSpPr>
        <p:spPr>
          <a:xfrm>
            <a:off x="1270000" y="2603500"/>
            <a:ext cx="4445000" cy="8255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1" i="0" u="none" strike="noStrike" dirty="0">
                <a:solidFill>
                  <a:srgbClr val="1F2937"/>
                </a:solidFill>
                <a:latin typeface="Noto Sans SC"/>
                <a:ea typeface="Noto Sans SC"/>
                <a:cs typeface="Noto Sans SC"/>
                <a:sym typeface="Noto Sans SC"/>
              </a:rPr>
              <a:t>Core Models</a:t>
            </a:r>
            <a:endParaRPr lang="en-US" sz="1200" dirty="0"/>
          </a:p>
          <a:p>
            <a:pPr indent="0" algn="l">
              <a:lnSpc>
                <a:spcPct val="116666"/>
              </a:lnSpc>
            </a:pPr>
            <a:r>
              <a:rPr lang="en-US" b="0" i="0" u="none" strike="noStrike" dirty="0">
                <a:solidFill>
                  <a:srgbClr val="4B5563"/>
                </a:solidFill>
                <a:latin typeface="Noto Sans SC"/>
                <a:ea typeface="Noto Sans SC"/>
                <a:cs typeface="Noto Sans SC"/>
                <a:sym typeface="Noto Sans SC"/>
              </a:rPr>
              <a:t>Built on Statistical Parametric Synthesis (e.g., GMMs) and early deep learning (e.g., bidirectional RNNs).</a:t>
            </a:r>
          </a:p>
        </p:txBody>
      </p:sp>
      <p:sp>
        <p:nvSpPr>
          <p:cNvPr id="8" name="AutoShape 8"/>
          <p:cNvSpPr/>
          <p:nvPr/>
        </p:nvSpPr>
        <p:spPr>
          <a:xfrm>
            <a:off x="1270000" y="3619500"/>
            <a:ext cx="4445000" cy="762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1" i="0" u="none" strike="noStrike" dirty="0">
                <a:solidFill>
                  <a:srgbClr val="1F2937"/>
                </a:solidFill>
                <a:latin typeface="Noto Sans SC"/>
                <a:ea typeface="Noto Sans SC"/>
                <a:cs typeface="Noto Sans SC"/>
                <a:sym typeface="Noto Sans SC"/>
              </a:rPr>
              <a:t>Processing Workflow</a:t>
            </a:r>
            <a:endParaRPr lang="en-US" sz="1200" dirty="0"/>
          </a:p>
          <a:p>
            <a:pPr indent="0" algn="l">
              <a:lnSpc>
                <a:spcPct val="116666"/>
              </a:lnSpc>
            </a:pPr>
            <a:r>
              <a:rPr lang="en-US" b="0" i="0" u="none" strike="noStrike" dirty="0">
                <a:solidFill>
                  <a:srgbClr val="4B5563"/>
                </a:solidFill>
                <a:latin typeface="Noto Sans SC"/>
                <a:ea typeface="Noto Sans SC"/>
                <a:cs typeface="Noto Sans SC"/>
                <a:sym typeface="Noto Sans SC"/>
              </a:rPr>
              <a:t>Requires the </a:t>
            </a:r>
            <a:r>
              <a:rPr lang="en-US" b="1" i="0" u="none" strike="noStrike" dirty="0">
                <a:solidFill>
                  <a:srgbClr val="4B5563"/>
                </a:solidFill>
                <a:latin typeface="Noto Sans SC"/>
                <a:ea typeface="Noto Sans SC"/>
                <a:cs typeface="Noto Sans SC"/>
                <a:sym typeface="Noto Sans SC"/>
              </a:rPr>
              <a:t>entire utterance </a:t>
            </a:r>
            <a:r>
              <a:rPr lang="en-US" b="0" i="0" u="none" strike="noStrike" dirty="0">
                <a:solidFill>
                  <a:srgbClr val="4B5563"/>
                </a:solidFill>
                <a:latin typeface="Noto Sans SC"/>
                <a:ea typeface="Noto Sans SC"/>
                <a:cs typeface="Noto Sans SC"/>
                <a:sym typeface="Noto Sans SC"/>
              </a:rPr>
              <a:t>as input before generating any output.</a:t>
            </a:r>
          </a:p>
        </p:txBody>
      </p:sp>
      <p:sp>
        <p:nvSpPr>
          <p:cNvPr id="9" name="AutoShape 9"/>
          <p:cNvSpPr/>
          <p:nvPr/>
        </p:nvSpPr>
        <p:spPr>
          <a:xfrm>
            <a:off x="1270000" y="4699000"/>
            <a:ext cx="4445000" cy="9525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1" i="0" u="none" strike="noStrike" dirty="0">
                <a:solidFill>
                  <a:srgbClr val="1F2937"/>
                </a:solidFill>
                <a:latin typeface="Noto Sans SC"/>
                <a:ea typeface="Noto Sans SC"/>
                <a:cs typeface="Noto Sans SC"/>
                <a:sym typeface="Noto Sans SC"/>
              </a:rPr>
              <a:t>Critical Limitation</a:t>
            </a:r>
            <a:endParaRPr lang="en-US" sz="1200" dirty="0"/>
          </a:p>
          <a:p>
            <a:pPr indent="0" algn="l">
              <a:lnSpc>
                <a:spcPct val="116666"/>
              </a:lnSpc>
            </a:pPr>
            <a:r>
              <a:rPr lang="en-US" b="0" i="0" u="none" strike="noStrike" dirty="0">
                <a:solidFill>
                  <a:srgbClr val="4B5563"/>
                </a:solidFill>
                <a:latin typeface="Noto Sans SC"/>
                <a:ea typeface="Noto Sans SC"/>
                <a:cs typeface="Noto Sans SC"/>
                <a:sym typeface="Noto Sans SC"/>
              </a:rPr>
              <a:t>Relies on global context &amp; bidirectional dependencies, making it </a:t>
            </a:r>
            <a:r>
              <a:rPr lang="en-US" b="1" i="0" u="none" strike="noStrike" dirty="0">
                <a:solidFill>
                  <a:srgbClr val="4B5563"/>
                </a:solidFill>
                <a:latin typeface="Noto Sans SC"/>
                <a:ea typeface="Noto Sans SC"/>
                <a:cs typeface="Noto Sans SC"/>
                <a:sym typeface="Noto Sans SC"/>
              </a:rPr>
              <a:t>incompatible </a:t>
            </a:r>
            <a:r>
              <a:rPr lang="en-US" b="0" i="0" u="none" strike="noStrike" dirty="0">
                <a:solidFill>
                  <a:srgbClr val="4B5563"/>
                </a:solidFill>
                <a:latin typeface="Noto Sans SC"/>
                <a:ea typeface="Noto Sans SC"/>
                <a:cs typeface="Noto Sans SC"/>
                <a:sym typeface="Noto Sans SC"/>
              </a:rPr>
              <a:t>with real-time streaming.</a:t>
            </a:r>
          </a:p>
        </p:txBody>
      </p:sp>
      <p:sp>
        <p:nvSpPr>
          <p:cNvPr id="10" name="AutoShape 10"/>
          <p:cNvSpPr/>
          <p:nvPr/>
        </p:nvSpPr>
        <p:spPr>
          <a:xfrm>
            <a:off x="6223000" y="1651000"/>
            <a:ext cx="4953000" cy="4445000"/>
          </a:xfrm>
          <a:prstGeom prst="roundRect">
            <a:avLst>
              <a:gd name="adj" fmla="val 3428"/>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1" name="AutoShape 11"/>
          <p:cNvSpPr/>
          <p:nvPr/>
        </p:nvSpPr>
        <p:spPr>
          <a:xfrm>
            <a:off x="6223000" y="1651000"/>
            <a:ext cx="4953000" cy="76200"/>
          </a:xfrm>
          <a:prstGeom prst="roundRect">
            <a:avLst>
              <a:gd name="adj" fmla="val 200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6477000" y="1968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D9488"/>
                </a:solidFill>
                <a:latin typeface="Poppins"/>
                <a:ea typeface="Poppins"/>
                <a:cs typeface="Poppins"/>
                <a:sym typeface="Poppins"/>
              </a:rPr>
              <a:t>Streaming VC (Modern)</a:t>
            </a:r>
            <a:endParaRPr lang="en-US" sz="1200" dirty="0"/>
          </a:p>
        </p:txBody>
      </p:sp>
      <p:sp>
        <p:nvSpPr>
          <p:cNvPr id="13" name="AutoShape 13"/>
          <p:cNvSpPr/>
          <p:nvPr/>
        </p:nvSpPr>
        <p:spPr>
          <a:xfrm>
            <a:off x="6477000" y="2603500"/>
            <a:ext cx="4445000" cy="8255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1" i="0" u="none" strike="noStrike" dirty="0">
                <a:solidFill>
                  <a:srgbClr val="1F2937"/>
                </a:solidFill>
                <a:latin typeface="Noto Sans SC"/>
                <a:ea typeface="Noto Sans SC"/>
                <a:cs typeface="Noto Sans SC"/>
                <a:sym typeface="Noto Sans SC"/>
              </a:rPr>
              <a:t>Advanced Architectures</a:t>
            </a:r>
            <a:endParaRPr lang="en-US" sz="1200" dirty="0"/>
          </a:p>
          <a:p>
            <a:pPr indent="0" algn="l">
              <a:lnSpc>
                <a:spcPct val="116666"/>
              </a:lnSpc>
            </a:pPr>
            <a:r>
              <a:rPr lang="en-US" b="0" i="0" u="none" strike="noStrike" dirty="0">
                <a:solidFill>
                  <a:srgbClr val="4B5563"/>
                </a:solidFill>
                <a:latin typeface="Noto Sans SC"/>
                <a:ea typeface="Noto Sans SC"/>
                <a:cs typeface="Noto Sans SC"/>
                <a:sym typeface="Noto Sans SC"/>
              </a:rPr>
              <a:t>Adopts </a:t>
            </a:r>
            <a:r>
              <a:rPr lang="en-US" b="1" i="0" u="none" strike="noStrike" dirty="0">
                <a:solidFill>
                  <a:srgbClr val="4B5563"/>
                </a:solidFill>
                <a:latin typeface="Noto Sans SC"/>
                <a:ea typeface="Noto Sans SC"/>
                <a:cs typeface="Noto Sans SC"/>
                <a:sym typeface="Noto Sans SC"/>
              </a:rPr>
              <a:t>causal, chunk-based </a:t>
            </a:r>
            <a:r>
              <a:rPr lang="en-US" b="0" i="0" u="none" strike="noStrike" dirty="0">
                <a:solidFill>
                  <a:srgbClr val="4B5563"/>
                </a:solidFill>
                <a:latin typeface="Noto Sans SC"/>
                <a:ea typeface="Noto Sans SC"/>
                <a:cs typeface="Noto Sans SC"/>
                <a:sym typeface="Noto Sans SC"/>
              </a:rPr>
              <a:t>processing (e.g., causal </a:t>
            </a:r>
            <a:r>
              <a:rPr lang="en-US" b="0" i="0" u="none" strike="noStrike" dirty="0" err="1">
                <a:solidFill>
                  <a:srgbClr val="4B5563"/>
                </a:solidFill>
                <a:latin typeface="Noto Sans SC"/>
                <a:ea typeface="Noto Sans SC"/>
                <a:cs typeface="Noto Sans SC"/>
                <a:sym typeface="Noto Sans SC"/>
              </a:rPr>
              <a:t>WaveNets</a:t>
            </a:r>
            <a:r>
              <a:rPr lang="en-US" b="0" i="0" u="none" strike="noStrike" dirty="0">
                <a:solidFill>
                  <a:srgbClr val="4B5563"/>
                </a:solidFill>
                <a:latin typeface="Noto Sans SC"/>
                <a:ea typeface="Noto Sans SC"/>
                <a:cs typeface="Noto Sans SC"/>
                <a:sym typeface="Noto Sans SC"/>
              </a:rPr>
              <a:t>, unidirectional Transformers).</a:t>
            </a:r>
          </a:p>
        </p:txBody>
      </p:sp>
      <p:sp>
        <p:nvSpPr>
          <p:cNvPr id="14" name="AutoShape 14"/>
          <p:cNvSpPr/>
          <p:nvPr/>
        </p:nvSpPr>
        <p:spPr>
          <a:xfrm>
            <a:off x="6477000" y="3619500"/>
            <a:ext cx="4445000" cy="762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1" i="0" u="none" strike="noStrike" dirty="0">
                <a:solidFill>
                  <a:srgbClr val="1F2937"/>
                </a:solidFill>
                <a:latin typeface="Noto Sans SC"/>
                <a:ea typeface="Noto Sans SC"/>
                <a:cs typeface="Noto Sans SC"/>
                <a:sym typeface="Noto Sans SC"/>
              </a:rPr>
              <a:t>Real-time Workflow</a:t>
            </a:r>
            <a:endParaRPr lang="en-US" sz="1200" dirty="0"/>
          </a:p>
          <a:p>
            <a:pPr indent="0" algn="l">
              <a:lnSpc>
                <a:spcPct val="116666"/>
              </a:lnSpc>
            </a:pPr>
            <a:r>
              <a:rPr lang="en-US" b="0" i="0" u="none" strike="noStrike" dirty="0">
                <a:solidFill>
                  <a:srgbClr val="4B5563"/>
                </a:solidFill>
                <a:latin typeface="Noto Sans SC"/>
                <a:ea typeface="Noto Sans SC"/>
                <a:cs typeface="Noto Sans SC"/>
                <a:sym typeface="Noto Sans SC"/>
              </a:rPr>
              <a:t>Processes audio incrementally in discrete, sequential chunks (e.g., 10-20ms windows).</a:t>
            </a:r>
          </a:p>
        </p:txBody>
      </p:sp>
      <p:sp>
        <p:nvSpPr>
          <p:cNvPr id="15" name="AutoShape 15"/>
          <p:cNvSpPr/>
          <p:nvPr/>
        </p:nvSpPr>
        <p:spPr>
          <a:xfrm>
            <a:off x="6477000" y="4699000"/>
            <a:ext cx="4445000" cy="9525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1" i="0" u="none" strike="noStrike" dirty="0">
                <a:solidFill>
                  <a:srgbClr val="1F2937"/>
                </a:solidFill>
                <a:latin typeface="Noto Sans SC"/>
                <a:ea typeface="Noto Sans SC"/>
                <a:cs typeface="Noto Sans SC"/>
                <a:sym typeface="Noto Sans SC"/>
              </a:rPr>
              <a:t>System Overhead Challenge</a:t>
            </a:r>
            <a:endParaRPr lang="en-US" sz="1200" dirty="0"/>
          </a:p>
          <a:p>
            <a:pPr indent="0" algn="l">
              <a:lnSpc>
                <a:spcPct val="116666"/>
              </a:lnSpc>
            </a:pPr>
            <a:r>
              <a:rPr lang="en-US" b="0" i="0" u="none" strike="noStrike" dirty="0">
                <a:solidFill>
                  <a:srgbClr val="4B5563"/>
                </a:solidFill>
                <a:latin typeface="Noto Sans SC"/>
                <a:ea typeface="Noto Sans SC"/>
                <a:cs typeface="Noto Sans SC"/>
                <a:sym typeface="Noto Sans SC"/>
              </a:rPr>
              <a:t>Requires a </a:t>
            </a:r>
            <a:r>
              <a:rPr lang="en-US" b="1" i="0" u="none" strike="noStrike" dirty="0">
                <a:solidFill>
                  <a:srgbClr val="4B5563"/>
                </a:solidFill>
                <a:latin typeface="Noto Sans SC"/>
                <a:ea typeface="Noto Sans SC"/>
                <a:cs typeface="Noto Sans SC"/>
                <a:sym typeface="Noto Sans SC"/>
              </a:rPr>
              <a:t>growing context cache </a:t>
            </a:r>
            <a:r>
              <a:rPr lang="en-US" b="0" i="0" u="none" strike="noStrike" dirty="0">
                <a:solidFill>
                  <a:srgbClr val="4B5563"/>
                </a:solidFill>
                <a:latin typeface="Noto Sans SC"/>
                <a:ea typeface="Noto Sans SC"/>
                <a:cs typeface="Noto Sans SC"/>
                <a:sym typeface="Noto Sans SC"/>
              </a:rPr>
              <a:t>to maintain prosody, introducing significant memory/compute overhead.</a:t>
            </a:r>
          </a:p>
        </p:txBody>
      </p:sp>
      <p:sp>
        <p:nvSpPr>
          <p:cNvPr id="16" name="AutoShape 6">
            <a:extLst>
              <a:ext uri="{FF2B5EF4-FFF2-40B4-BE49-F238E27FC236}">
                <a16:creationId xmlns:a16="http://schemas.microsoft.com/office/drawing/2014/main" id="{3EE9E800-1162-86C0-C4D7-09376E93B82D}"/>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2</a:t>
            </a:r>
            <a:endParaRPr lang="en-US" sz="1050" dirty="0">
              <a:solidFill>
                <a:schemeClr val="tx1"/>
              </a:solidFill>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dirty="0">
                <a:solidFill>
                  <a:srgbClr val="1F2937"/>
                </a:solidFill>
                <a:latin typeface="Poppins"/>
                <a:ea typeface="Poppins"/>
                <a:cs typeface="Poppins"/>
                <a:sym typeface="Poppins"/>
              </a:rPr>
              <a:t>Strict Latency Budget</a:t>
            </a:r>
            <a:endParaRPr lang="en-US" sz="1100" dirty="0"/>
          </a:p>
        </p:txBody>
      </p:sp>
      <p:sp>
        <p:nvSpPr>
          <p:cNvPr id="4" name="AutoShape 4"/>
          <p:cNvSpPr/>
          <p:nvPr/>
        </p:nvSpPr>
        <p:spPr>
          <a:xfrm>
            <a:off x="1016000" y="1524000"/>
            <a:ext cx="3302000" cy="4572000"/>
          </a:xfrm>
          <a:prstGeom prst="roundRect">
            <a:avLst>
              <a:gd name="adj" fmla="val 46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1270000" y="1879600"/>
            <a:ext cx="254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D9488"/>
                </a:solidFill>
                <a:latin typeface="Poppins"/>
                <a:ea typeface="Poppins"/>
                <a:cs typeface="Poppins"/>
                <a:sym typeface="Poppins"/>
              </a:rPr>
              <a:t>Core Constraint</a:t>
            </a:r>
            <a:endParaRPr lang="en-US" sz="1200" dirty="0"/>
          </a:p>
        </p:txBody>
      </p:sp>
      <p:cxnSp>
        <p:nvCxnSpPr>
          <p:cNvPr id="6" name="Connector 6"/>
          <p:cNvCxnSpPr/>
          <p:nvPr/>
        </p:nvCxnSpPr>
        <p:spPr>
          <a:xfrm rot="-15625">
            <a:off x="1270014" y="2660650"/>
            <a:ext cx="2794029"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7" name="AutoShape 7"/>
          <p:cNvSpPr/>
          <p:nvPr/>
        </p:nvSpPr>
        <p:spPr>
          <a:xfrm>
            <a:off x="1270000" y="2921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Core Message</a:t>
            </a:r>
            <a:endParaRPr lang="en-US" sz="1200" dirty="0"/>
          </a:p>
        </p:txBody>
      </p:sp>
      <p:sp>
        <p:nvSpPr>
          <p:cNvPr id="8" name="AutoShape 8"/>
          <p:cNvSpPr/>
          <p:nvPr/>
        </p:nvSpPr>
        <p:spPr>
          <a:xfrm>
            <a:off x="1270000" y="3528771"/>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b="0" i="0" u="none" strike="noStrike" dirty="0">
                <a:solidFill>
                  <a:srgbClr val="4B5563"/>
                </a:solidFill>
                <a:latin typeface="Poppins"/>
                <a:ea typeface="Poppins"/>
                <a:cs typeface="Poppins"/>
                <a:sym typeface="Poppins"/>
              </a:rPr>
              <a:t>Real-time streaming VC demands </a:t>
            </a:r>
            <a:r>
              <a:rPr lang="en-US" b="1" i="0" u="none" strike="noStrike" dirty="0">
                <a:solidFill>
                  <a:srgbClr val="4B5563"/>
                </a:solidFill>
                <a:latin typeface="Poppins"/>
                <a:ea typeface="Poppins"/>
                <a:cs typeface="Poppins"/>
                <a:sym typeface="Poppins"/>
              </a:rPr>
              <a:t>microsecond-level predictability </a:t>
            </a:r>
            <a:r>
              <a:rPr lang="en-US" b="0" i="0" u="none" strike="noStrike" dirty="0">
                <a:solidFill>
                  <a:srgbClr val="4B5563"/>
                </a:solidFill>
                <a:latin typeface="Poppins"/>
                <a:ea typeface="Poppins"/>
                <a:cs typeface="Poppins"/>
                <a:sym typeface="Poppins"/>
              </a:rPr>
              <a:t>from the entire system pipeline to meet real-world user expectations.</a:t>
            </a:r>
            <a:endParaRPr lang="en-US" sz="1200" dirty="0"/>
          </a:p>
        </p:txBody>
      </p:sp>
      <p:sp>
        <p:nvSpPr>
          <p:cNvPr id="9" name="AutoShape 9"/>
          <p:cNvSpPr/>
          <p:nvPr/>
        </p:nvSpPr>
        <p:spPr>
          <a:xfrm>
            <a:off x="1270000" y="4544771"/>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The Hard Deadline</a:t>
            </a:r>
            <a:endParaRPr lang="en-US" sz="1200" dirty="0"/>
          </a:p>
        </p:txBody>
      </p:sp>
      <p:sp>
        <p:nvSpPr>
          <p:cNvPr id="10" name="AutoShape 10"/>
          <p:cNvSpPr/>
          <p:nvPr/>
        </p:nvSpPr>
        <p:spPr>
          <a:xfrm>
            <a:off x="1270000" y="4925771"/>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b="0" i="0" u="none" strike="noStrike" dirty="0">
                <a:solidFill>
                  <a:srgbClr val="4B5563"/>
                </a:solidFill>
                <a:latin typeface="Poppins"/>
                <a:ea typeface="Poppins"/>
                <a:cs typeface="Poppins"/>
                <a:sym typeface="Poppins"/>
              </a:rPr>
              <a:t>Processing for each audio chunk must complete </a:t>
            </a:r>
            <a:r>
              <a:rPr lang="en-US" b="1" i="0" u="none" strike="noStrike" dirty="0">
                <a:solidFill>
                  <a:srgbClr val="0D9488"/>
                </a:solidFill>
                <a:latin typeface="Poppins"/>
                <a:ea typeface="Poppins"/>
                <a:cs typeface="Poppins"/>
                <a:sym typeface="Poppins"/>
              </a:rPr>
              <a:t>before the next chunk arrives </a:t>
            </a:r>
            <a:r>
              <a:rPr lang="en-US" b="0" i="0" u="none" strike="noStrike" dirty="0">
                <a:solidFill>
                  <a:srgbClr val="4B5563"/>
                </a:solidFill>
                <a:latin typeface="Poppins"/>
                <a:ea typeface="Poppins"/>
                <a:cs typeface="Poppins"/>
                <a:sym typeface="Poppins"/>
              </a:rPr>
              <a:t>(typically within </a:t>
            </a:r>
            <a:r>
              <a:rPr lang="en-US" b="1" i="0" u="none" strike="noStrike" dirty="0">
                <a:solidFill>
                  <a:srgbClr val="0D9488"/>
                </a:solidFill>
                <a:latin typeface="Poppins"/>
                <a:ea typeface="Poppins"/>
                <a:cs typeface="Poppins"/>
                <a:sym typeface="Poppins"/>
              </a:rPr>
              <a:t>10 to 20ms</a:t>
            </a:r>
            <a:r>
              <a:rPr lang="en-US" b="0" i="0" u="none" strike="noStrike" dirty="0">
                <a:solidFill>
                  <a:srgbClr val="4B5563"/>
                </a:solidFill>
                <a:latin typeface="Poppins"/>
                <a:ea typeface="Poppins"/>
                <a:cs typeface="Poppins"/>
                <a:sym typeface="Poppins"/>
              </a:rPr>
              <a:t>).</a:t>
            </a:r>
            <a:endParaRPr lang="en-US" sz="1200" dirty="0"/>
          </a:p>
        </p:txBody>
      </p:sp>
      <p:sp>
        <p:nvSpPr>
          <p:cNvPr id="11" name="AutoShape 11"/>
          <p:cNvSpPr/>
          <p:nvPr/>
        </p:nvSpPr>
        <p:spPr>
          <a:xfrm>
            <a:off x="4572000" y="1524000"/>
            <a:ext cx="3302000" cy="4572000"/>
          </a:xfrm>
          <a:prstGeom prst="roundRect">
            <a:avLst>
              <a:gd name="adj" fmla="val 46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2" name="AutoShape 12"/>
          <p:cNvSpPr/>
          <p:nvPr/>
        </p:nvSpPr>
        <p:spPr>
          <a:xfrm>
            <a:off x="4826000" y="1879600"/>
            <a:ext cx="266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D9488"/>
                </a:solidFill>
                <a:latin typeface="Poppins"/>
                <a:ea typeface="Poppins"/>
                <a:cs typeface="Poppins"/>
                <a:sym typeface="Poppins"/>
              </a:rPr>
              <a:t>Pipeline Breakdown</a:t>
            </a:r>
            <a:endParaRPr lang="en-US" sz="1200" dirty="0"/>
          </a:p>
        </p:txBody>
      </p:sp>
      <p:cxnSp>
        <p:nvCxnSpPr>
          <p:cNvPr id="13" name="Connector 13"/>
          <p:cNvCxnSpPr/>
          <p:nvPr/>
        </p:nvCxnSpPr>
        <p:spPr>
          <a:xfrm rot="-15625">
            <a:off x="4826014" y="2660650"/>
            <a:ext cx="2794029"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826000" y="2921000"/>
            <a:ext cx="2794000" cy="762000"/>
          </a:xfrm>
          <a:prstGeom prst="roundRect">
            <a:avLst>
              <a:gd name="adj" fmla="val 13333"/>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4953000" y="30226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b="1" i="0" u="none" strike="noStrike" dirty="0">
                <a:solidFill>
                  <a:srgbClr val="0D9488"/>
                </a:solidFill>
                <a:latin typeface="Poppins"/>
                <a:ea typeface="Poppins"/>
                <a:cs typeface="Poppins"/>
                <a:sym typeface="Poppins"/>
              </a:rPr>
              <a:t>01. Ingestion: </a:t>
            </a:r>
            <a:r>
              <a:rPr lang="en-US" b="0" i="0" u="none" strike="noStrike" dirty="0">
                <a:solidFill>
                  <a:srgbClr val="4B5563"/>
                </a:solidFill>
                <a:latin typeface="Poppins"/>
                <a:ea typeface="Poppins"/>
                <a:cs typeface="Poppins"/>
                <a:sym typeface="Poppins"/>
              </a:rPr>
              <a:t>Receive raw audio chunk x from input stream.</a:t>
            </a:r>
            <a:endParaRPr lang="en-US" sz="1200" dirty="0"/>
          </a:p>
        </p:txBody>
      </p:sp>
      <p:sp>
        <p:nvSpPr>
          <p:cNvPr id="16" name="AutoShape 16"/>
          <p:cNvSpPr/>
          <p:nvPr/>
        </p:nvSpPr>
        <p:spPr>
          <a:xfrm>
            <a:off x="4826000" y="3810000"/>
            <a:ext cx="2794000" cy="952500"/>
          </a:xfrm>
          <a:prstGeom prst="roundRect">
            <a:avLst>
              <a:gd name="adj" fmla="val 10666"/>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4953000" y="39116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b="1" i="0" u="none" strike="noStrike" dirty="0">
                <a:solidFill>
                  <a:srgbClr val="0D9488"/>
                </a:solidFill>
                <a:latin typeface="Poppins"/>
                <a:ea typeface="Poppins"/>
                <a:cs typeface="Poppins"/>
                <a:sym typeface="Poppins"/>
              </a:rPr>
              <a:t>02. Feature Extraction: </a:t>
            </a:r>
            <a:r>
              <a:rPr lang="en-US" b="0" i="0" u="none" strike="noStrike" dirty="0">
                <a:solidFill>
                  <a:srgbClr val="4B5563"/>
                </a:solidFill>
                <a:latin typeface="Poppins"/>
                <a:ea typeface="Poppins"/>
                <a:cs typeface="Poppins"/>
                <a:sym typeface="Poppins"/>
              </a:rPr>
              <a:t>Estimate F0 &amp; extract semantic tokens (e.g., </a:t>
            </a:r>
            <a:r>
              <a:rPr lang="en-US" b="0" i="0" u="none" strike="noStrike" dirty="0" err="1">
                <a:solidFill>
                  <a:srgbClr val="4B5563"/>
                </a:solidFill>
                <a:latin typeface="Poppins"/>
                <a:ea typeface="Poppins"/>
                <a:cs typeface="Poppins"/>
                <a:sym typeface="Poppins"/>
              </a:rPr>
              <a:t>HuBERT</a:t>
            </a:r>
            <a:r>
              <a:rPr lang="en-US" b="0" i="0" u="none" strike="noStrike" dirty="0">
                <a:solidFill>
                  <a:srgbClr val="4B5563"/>
                </a:solidFill>
                <a:latin typeface="Poppins"/>
                <a:ea typeface="Poppins"/>
                <a:cs typeface="Poppins"/>
                <a:sym typeface="Poppins"/>
              </a:rPr>
              <a:t>).</a:t>
            </a:r>
            <a:endParaRPr lang="en-US" sz="1200" dirty="0"/>
          </a:p>
        </p:txBody>
      </p:sp>
      <p:sp>
        <p:nvSpPr>
          <p:cNvPr id="18" name="AutoShape 18"/>
          <p:cNvSpPr/>
          <p:nvPr/>
        </p:nvSpPr>
        <p:spPr>
          <a:xfrm>
            <a:off x="4826000" y="4889500"/>
            <a:ext cx="2794000" cy="762000"/>
          </a:xfrm>
          <a:prstGeom prst="roundRect">
            <a:avLst>
              <a:gd name="adj" fmla="val 13333"/>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4953000" y="49911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b="1" i="0" u="none" strike="noStrike" dirty="0">
                <a:solidFill>
                  <a:srgbClr val="0D9488"/>
                </a:solidFill>
                <a:latin typeface="Poppins"/>
                <a:ea typeface="Poppins"/>
                <a:cs typeface="Poppins"/>
                <a:sym typeface="Poppins"/>
              </a:rPr>
              <a:t>03. Synthesis: </a:t>
            </a:r>
            <a:r>
              <a:rPr lang="en-US" b="0" i="0" u="none" strike="noStrike" dirty="0">
                <a:solidFill>
                  <a:srgbClr val="4B5563"/>
                </a:solidFill>
                <a:latin typeface="Poppins"/>
                <a:ea typeface="Poppins"/>
                <a:cs typeface="Poppins"/>
                <a:sym typeface="Poppins"/>
              </a:rPr>
              <a:t>Generate output waveform.</a:t>
            </a:r>
            <a:endParaRPr lang="en-US" sz="1200" dirty="0"/>
          </a:p>
        </p:txBody>
      </p:sp>
      <p:sp>
        <p:nvSpPr>
          <p:cNvPr id="20" name="AutoShape 20"/>
          <p:cNvSpPr/>
          <p:nvPr/>
        </p:nvSpPr>
        <p:spPr>
          <a:xfrm>
            <a:off x="8128000" y="1524000"/>
            <a:ext cx="3302000" cy="4572000"/>
          </a:xfrm>
          <a:prstGeom prst="roundRect">
            <a:avLst>
              <a:gd name="adj" fmla="val 46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21" name="AutoShape 21"/>
          <p:cNvSpPr/>
          <p:nvPr/>
        </p:nvSpPr>
        <p:spPr>
          <a:xfrm>
            <a:off x="8382000" y="1879600"/>
            <a:ext cx="242255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DC2626"/>
                </a:solidFill>
                <a:latin typeface="Poppins"/>
                <a:ea typeface="Poppins"/>
                <a:cs typeface="Poppins"/>
                <a:sym typeface="Poppins"/>
              </a:rPr>
              <a:t>Critical Risks</a:t>
            </a:r>
            <a:endParaRPr lang="en-US" sz="1200" dirty="0"/>
          </a:p>
        </p:txBody>
      </p:sp>
      <p:cxnSp>
        <p:nvCxnSpPr>
          <p:cNvPr id="22" name="Connector 22"/>
          <p:cNvCxnSpPr/>
          <p:nvPr/>
        </p:nvCxnSpPr>
        <p:spPr>
          <a:xfrm rot="-15625">
            <a:off x="8382014" y="2660650"/>
            <a:ext cx="2794029"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3" name="AutoShape 23"/>
          <p:cNvSpPr/>
          <p:nvPr/>
        </p:nvSpPr>
        <p:spPr>
          <a:xfrm>
            <a:off x="8382000" y="2921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Cost of Latency Spikes</a:t>
            </a:r>
            <a:endParaRPr lang="en-US" sz="1200" dirty="0"/>
          </a:p>
        </p:txBody>
      </p:sp>
      <p:sp>
        <p:nvSpPr>
          <p:cNvPr id="24" name="AutoShape 24"/>
          <p:cNvSpPr/>
          <p:nvPr/>
        </p:nvSpPr>
        <p:spPr>
          <a:xfrm>
            <a:off x="8382000" y="3499506"/>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b="0" i="0" u="none" strike="noStrike" dirty="0">
                <a:solidFill>
                  <a:srgbClr val="4B5563"/>
                </a:solidFill>
                <a:latin typeface="Poppins"/>
                <a:ea typeface="Poppins"/>
                <a:cs typeface="Poppins"/>
                <a:sym typeface="Poppins"/>
              </a:rPr>
              <a:t>Any unpredictable delay exceeding the 20ms budget breaks the real-time contract and leads to degraded user experience.</a:t>
            </a:r>
            <a:endParaRPr lang="en-US" sz="1200" dirty="0"/>
          </a:p>
        </p:txBody>
      </p:sp>
      <p:sp>
        <p:nvSpPr>
          <p:cNvPr id="25" name="AutoShape 25"/>
          <p:cNvSpPr/>
          <p:nvPr/>
        </p:nvSpPr>
        <p:spPr>
          <a:xfrm>
            <a:off x="8382000" y="4734966"/>
            <a:ext cx="2794000" cy="1143000"/>
          </a:xfrm>
          <a:prstGeom prst="roundRect">
            <a:avLst>
              <a:gd name="adj" fmla="val 8888"/>
            </a:avLst>
          </a:prstGeom>
          <a:solidFill>
            <a:srgbClr val="FEF2F2">
              <a:alpha val="100000"/>
            </a:srgbClr>
          </a:solidFill>
          <a:ln w="12700" cap="flat" cmpd="sng">
            <a:solidFill>
              <a:srgbClr val="FCA5A5">
                <a:alpha val="100000"/>
              </a:srgbClr>
            </a:solidFill>
            <a:prstDash val="solid"/>
            <a:round/>
          </a:ln>
        </p:spPr>
        <p:txBody>
          <a:bodyPr vert="horz" wrap="square" lIns="0" tIns="0" rIns="0" bIns="0" rtlCol="0" anchor="ctr" anchorCtr="0"/>
          <a:lstStyle/>
          <a:p>
            <a:pPr algn="ctr">
              <a:defRPr/>
            </a:pPr>
            <a:endParaRPr/>
          </a:p>
        </p:txBody>
      </p:sp>
      <p:sp>
        <p:nvSpPr>
          <p:cNvPr id="26" name="AutoShape 26"/>
          <p:cNvSpPr/>
          <p:nvPr/>
        </p:nvSpPr>
        <p:spPr>
          <a:xfrm>
            <a:off x="8509000" y="4861966"/>
            <a:ext cx="254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B91C1C"/>
                </a:solidFill>
                <a:latin typeface="Poppins"/>
                <a:ea typeface="Poppins"/>
                <a:cs typeface="Poppins"/>
                <a:sym typeface="Poppins"/>
              </a:rPr>
              <a:t>System Failure Symptoms:</a:t>
            </a:r>
            <a:br>
              <a:rPr lang="en-US" sz="1800" b="0" i="0" u="none" strike="noStrike" dirty="0">
                <a:solidFill>
                  <a:srgbClr val="1F2329"/>
                </a:solidFill>
                <a:latin typeface="Poppins"/>
                <a:ea typeface="Poppins"/>
                <a:cs typeface="Poppins"/>
                <a:sym typeface="Poppins"/>
              </a:rPr>
            </a:br>
            <a:r>
              <a:rPr lang="en-US" b="0" i="0" u="none" strike="noStrike" dirty="0">
                <a:solidFill>
                  <a:srgbClr val="7F1D1D"/>
                </a:solidFill>
                <a:latin typeface="Poppins"/>
                <a:ea typeface="Poppins"/>
                <a:cs typeface="Poppins"/>
                <a:sym typeface="Poppins"/>
              </a:rPr>
              <a:t>Audio dropouts, severe jitter, or audible artifacts.</a:t>
            </a:r>
            <a:endParaRPr lang="en-US" sz="1200" dirty="0"/>
          </a:p>
        </p:txBody>
      </p:sp>
      <p:sp>
        <p:nvSpPr>
          <p:cNvPr id="27" name="AutoShape 6">
            <a:extLst>
              <a:ext uri="{FF2B5EF4-FFF2-40B4-BE49-F238E27FC236}">
                <a16:creationId xmlns:a16="http://schemas.microsoft.com/office/drawing/2014/main" id="{4B6BDFEA-02B8-FDA5-8943-07956069BA40}"/>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3</a:t>
            </a:r>
            <a:endParaRPr lang="en-US" sz="1050" dirty="0">
              <a:solidFill>
                <a:schemeClr val="tx1"/>
              </a:solidFill>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1F2937"/>
                </a:solidFill>
                <a:latin typeface="Poppins"/>
                <a:ea typeface="Poppins"/>
                <a:cs typeface="Poppins"/>
                <a:sym typeface="Poppins"/>
              </a:rPr>
              <a:t>The Hardware-Software Mismatch</a:t>
            </a:r>
            <a:endParaRPr lang="en-US" sz="1100"/>
          </a:p>
        </p:txBody>
      </p:sp>
      <p:sp>
        <p:nvSpPr>
          <p:cNvPr id="3" name="AutoShape 3"/>
          <p:cNvSpPr/>
          <p:nvPr/>
        </p:nvSpPr>
        <p:spPr>
          <a:xfrm>
            <a:off x="1016000" y="1397000"/>
            <a:ext cx="10160000" cy="1270000"/>
          </a:xfrm>
          <a:prstGeom prst="roundRect">
            <a:avLst>
              <a:gd name="adj" fmla="val 12000"/>
            </a:avLst>
          </a:prstGeom>
          <a:solidFill>
            <a:srgbClr val="FFFFFF">
              <a:alpha val="95000"/>
            </a:srgbClr>
          </a:solidFill>
          <a:ln w="12700" cap="flat" cmpd="sng">
            <a:solidFill>
              <a:srgbClr val="D1D5DB">
                <a:alpha val="100000"/>
              </a:srgbClr>
            </a:solidFill>
            <a:prstDash val="solid"/>
            <a:round/>
          </a:ln>
          <a:effectLst>
            <a:outerShdw blurRad="152400" dist="50800" dir="5400000" algn="tl" rotWithShape="0">
              <a:srgbClr val="000000">
                <a:alpha val="6000"/>
              </a:srgbClr>
            </a:outerShdw>
          </a:effectLst>
        </p:spPr>
        <p:txBody>
          <a:bodyPr vert="horz" wrap="square" lIns="0" tIns="0" rIns="0" bIns="0" rtlCol="0" anchor="ctr" anchorCtr="0"/>
          <a:lstStyle/>
          <a:p>
            <a:pPr algn="ctr">
              <a:defRPr/>
            </a:pPr>
            <a:endParaRPr/>
          </a:p>
        </p:txBody>
      </p:sp>
      <p:sp>
        <p:nvSpPr>
          <p:cNvPr id="4" name="AutoShape 4"/>
          <p:cNvSpPr/>
          <p:nvPr/>
        </p:nvSpPr>
        <p:spPr>
          <a:xfrm>
            <a:off x="1016000" y="1397000"/>
            <a:ext cx="76200" cy="1270000"/>
          </a:xfrm>
          <a:prstGeom prst="roundRect">
            <a:avLst>
              <a:gd name="adj" fmla="val 200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1270000" y="1524000"/>
            <a:ext cx="9652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500" b="1" i="0" u="none" strike="noStrike" dirty="0">
                <a:solidFill>
                  <a:srgbClr val="0D9488"/>
                </a:solidFill>
                <a:latin typeface="Noto Sans SC"/>
                <a:ea typeface="Noto Sans SC"/>
                <a:cs typeface="Noto Sans SC"/>
                <a:sym typeface="Noto Sans SC"/>
              </a:rPr>
              <a:t>CORE MESSAGE: </a:t>
            </a:r>
            <a:r>
              <a:rPr lang="en-US" sz="1400" b="0" i="0" u="none" strike="noStrike" dirty="0">
                <a:solidFill>
                  <a:srgbClr val="374151"/>
                </a:solidFill>
                <a:latin typeface="Noto Sans SC"/>
                <a:ea typeface="Noto Sans SC"/>
                <a:cs typeface="Noto Sans SC"/>
                <a:sym typeface="Noto Sans SC"/>
              </a:rPr>
              <a:t>Standard deep learning frameworks introduce a significant "Framework Tax" that creates a fundamental mismatch between the demands of streaming video conferencing (VC) and the underlying OS/hardware resource management.</a:t>
            </a:r>
            <a:endParaRPr lang="en-US" sz="1100" dirty="0"/>
          </a:p>
        </p:txBody>
      </p:sp>
      <p:sp>
        <p:nvSpPr>
          <p:cNvPr id="6" name="AutoShape 6"/>
          <p:cNvSpPr/>
          <p:nvPr/>
        </p:nvSpPr>
        <p:spPr>
          <a:xfrm>
            <a:off x="1016000" y="3048000"/>
            <a:ext cx="4953000" cy="2921000"/>
          </a:xfrm>
          <a:prstGeom prst="roundRect">
            <a:avLst>
              <a:gd name="adj" fmla="val 5217"/>
            </a:avLst>
          </a:prstGeom>
          <a:solidFill>
            <a:srgbClr val="FFFFFF">
              <a:alpha val="95000"/>
            </a:srgbClr>
          </a:solidFill>
          <a:ln w="12700" cap="flat" cmpd="sng">
            <a:solidFill>
              <a:srgbClr val="D1D5DB">
                <a:alpha val="100000"/>
              </a:srgbClr>
            </a:solidFill>
            <a:prstDash val="solid"/>
            <a:round/>
          </a:ln>
          <a:effectLst>
            <a:outerShdw blurRad="152400" dist="50800" dir="5400000" algn="tl" rotWithShape="0">
              <a:srgbClr val="000000">
                <a:alpha val="6000"/>
              </a:srgbClr>
            </a:outerShdw>
          </a:effectLst>
        </p:spPr>
        <p:txBody>
          <a:bodyPr vert="horz" wrap="square" lIns="0" tIns="0" rIns="0" bIns="0" rtlCol="0" anchor="ctr" anchorCtr="0"/>
          <a:lstStyle/>
          <a:p>
            <a:pPr algn="ctr">
              <a:defRPr/>
            </a:pPr>
            <a:endParaRPr/>
          </a:p>
        </p:txBody>
      </p:sp>
      <p:sp>
        <p:nvSpPr>
          <p:cNvPr id="7" name="AutoShape 7"/>
          <p:cNvSpPr/>
          <p:nvPr/>
        </p:nvSpPr>
        <p:spPr>
          <a:xfrm>
            <a:off x="1270000" y="3238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The "Framework Tax" Overhead</a:t>
            </a:r>
            <a:endParaRPr lang="en-US" sz="1100"/>
          </a:p>
        </p:txBody>
      </p:sp>
      <p:sp>
        <p:nvSpPr>
          <p:cNvPr id="8" name="AutoShape 8"/>
          <p:cNvSpPr/>
          <p:nvPr/>
        </p:nvSpPr>
        <p:spPr>
          <a:xfrm>
            <a:off x="1270000" y="3746500"/>
            <a:ext cx="4445000" cy="1397000"/>
          </a:xfrm>
          <a:prstGeom prst="roundRect">
            <a:avLst>
              <a:gd name="adj" fmla="val 7272"/>
            </a:avLst>
          </a:prstGeom>
          <a:solidFill>
            <a:srgbClr val="F0FAF9">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1460500" y="3785720"/>
            <a:ext cx="4064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b="0" i="0" u="none" strike="noStrike" dirty="0">
                <a:solidFill>
                  <a:srgbClr val="4B5563"/>
                </a:solidFill>
                <a:latin typeface="Noto Sans SC"/>
                <a:ea typeface="Noto Sans SC"/>
                <a:cs typeface="Noto Sans SC"/>
                <a:sym typeface="Noto Sans SC"/>
              </a:rPr>
              <a:t>Dynamic graphs (e.g., </a:t>
            </a:r>
            <a:r>
              <a:rPr lang="en-US" b="0" i="0" u="none" strike="noStrike" dirty="0" err="1">
                <a:solidFill>
                  <a:srgbClr val="4B5563"/>
                </a:solidFill>
                <a:latin typeface="Noto Sans SC"/>
                <a:ea typeface="Noto Sans SC"/>
                <a:cs typeface="Noto Sans SC"/>
                <a:sym typeface="Noto Sans SC"/>
              </a:rPr>
              <a:t>PyTorch</a:t>
            </a:r>
            <a:r>
              <a:rPr lang="en-US" b="0" i="0" u="none" strike="noStrike" dirty="0">
                <a:solidFill>
                  <a:srgbClr val="4B5563"/>
                </a:solidFill>
                <a:latin typeface="Noto Sans SC"/>
                <a:ea typeface="Noto Sans SC"/>
                <a:cs typeface="Noto Sans SC"/>
                <a:sym typeface="Noto Sans SC"/>
              </a:rPr>
              <a:t>) force the CPU to perform costly tasks </a:t>
            </a:r>
            <a:r>
              <a:rPr lang="en-US" b="1" i="0" u="none" strike="noStrike" dirty="0">
                <a:solidFill>
                  <a:srgbClr val="4B5563"/>
                </a:solidFill>
                <a:latin typeface="Noto Sans SC"/>
                <a:ea typeface="Noto Sans SC"/>
                <a:cs typeface="Noto Sans SC"/>
                <a:sym typeface="Noto Sans SC"/>
              </a:rPr>
              <a:t>per forward pass</a:t>
            </a:r>
            <a:r>
              <a:rPr lang="en-US" b="0" i="0" u="none" strike="noStrike" dirty="0">
                <a:solidFill>
                  <a:srgbClr val="4B5563"/>
                </a:solidFill>
                <a:latin typeface="Noto Sans SC"/>
                <a:ea typeface="Noto Sans SC"/>
                <a:cs typeface="Noto Sans SC"/>
                <a:sym typeface="Noto Sans SC"/>
              </a:rPr>
              <a:t>:</a:t>
            </a:r>
            <a:endParaRPr lang="en-US" sz="1200" dirty="0"/>
          </a:p>
          <a:p>
            <a:pPr indent="0" algn="l">
              <a:lnSpc>
                <a:spcPct val="125000"/>
              </a:lnSpc>
            </a:pPr>
            <a:r>
              <a:rPr lang="en-US" b="0" i="0" u="none" strike="noStrike" dirty="0">
                <a:solidFill>
                  <a:srgbClr val="6B7280"/>
                </a:solidFill>
                <a:latin typeface="Noto Sans SC"/>
                <a:ea typeface="Noto Sans SC"/>
                <a:cs typeface="Noto Sans SC"/>
                <a:sym typeface="Noto Sans SC"/>
              </a:rPr>
              <a:t>• Interpreting graph topology &amp; logic</a:t>
            </a:r>
            <a:br>
              <a:rPr lang="en-US" b="0" i="0" u="none" strike="noStrike" dirty="0">
                <a:solidFill>
                  <a:srgbClr val="1F2329"/>
                </a:solidFill>
                <a:latin typeface="Noto Sans SC"/>
                <a:ea typeface="Noto Sans SC"/>
                <a:cs typeface="Noto Sans SC"/>
                <a:sym typeface="Noto Sans SC"/>
              </a:rPr>
            </a:br>
            <a:r>
              <a:rPr lang="en-US" b="0" i="0" u="none" strike="noStrike" dirty="0">
                <a:solidFill>
                  <a:srgbClr val="6B7280"/>
                </a:solidFill>
                <a:latin typeface="Noto Sans SC"/>
                <a:ea typeface="Noto Sans SC"/>
                <a:cs typeface="Noto Sans SC"/>
                <a:sym typeface="Noto Sans SC"/>
              </a:rPr>
              <a:t>• Allocating short-lived temporary memory</a:t>
            </a:r>
            <a:br>
              <a:rPr lang="en-US" b="0" i="0" u="none" strike="noStrike" dirty="0">
                <a:solidFill>
                  <a:srgbClr val="1F2329"/>
                </a:solidFill>
                <a:latin typeface="Noto Sans SC"/>
                <a:ea typeface="Noto Sans SC"/>
                <a:cs typeface="Noto Sans SC"/>
                <a:sym typeface="Noto Sans SC"/>
              </a:rPr>
            </a:br>
            <a:r>
              <a:rPr lang="en-US" b="0" i="0" u="none" strike="noStrike" dirty="0">
                <a:solidFill>
                  <a:srgbClr val="6B7280"/>
                </a:solidFill>
                <a:latin typeface="Noto Sans SC"/>
                <a:ea typeface="Noto Sans SC"/>
                <a:cs typeface="Noto Sans SC"/>
                <a:sym typeface="Noto Sans SC"/>
              </a:rPr>
              <a:t>• Dispatching &amp; synchronizing CUDA kernels</a:t>
            </a:r>
          </a:p>
        </p:txBody>
      </p:sp>
      <p:sp>
        <p:nvSpPr>
          <p:cNvPr id="10" name="AutoShape 10"/>
          <p:cNvSpPr/>
          <p:nvPr/>
        </p:nvSpPr>
        <p:spPr>
          <a:xfrm>
            <a:off x="1270000" y="5402172"/>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EF4444"/>
                </a:solidFill>
                <a:latin typeface="Noto Sans SC"/>
                <a:ea typeface="Noto Sans SC"/>
                <a:cs typeface="Noto Sans SC"/>
                <a:sym typeface="Noto Sans SC"/>
              </a:rPr>
              <a:t>Impact: </a:t>
            </a:r>
            <a:r>
              <a:rPr lang="en-US" b="0" i="0" u="none" strike="noStrike" dirty="0">
                <a:solidFill>
                  <a:srgbClr val="4B5563"/>
                </a:solidFill>
                <a:latin typeface="Noto Sans SC"/>
                <a:ea typeface="Noto Sans SC"/>
                <a:cs typeface="Noto Sans SC"/>
                <a:sym typeface="Noto Sans SC"/>
              </a:rPr>
              <a:t>Negligible in large batches, but DOMINANT in micro-batch streaming.</a:t>
            </a:r>
            <a:endParaRPr lang="en-US" sz="1200" dirty="0"/>
          </a:p>
        </p:txBody>
      </p:sp>
      <p:sp>
        <p:nvSpPr>
          <p:cNvPr id="11" name="AutoShape 11"/>
          <p:cNvSpPr/>
          <p:nvPr/>
        </p:nvSpPr>
        <p:spPr>
          <a:xfrm>
            <a:off x="6223000" y="3048000"/>
            <a:ext cx="4953000" cy="2921000"/>
          </a:xfrm>
          <a:prstGeom prst="roundRect">
            <a:avLst>
              <a:gd name="adj" fmla="val 5217"/>
            </a:avLst>
          </a:prstGeom>
          <a:solidFill>
            <a:srgbClr val="FFFFFF">
              <a:alpha val="95000"/>
            </a:srgbClr>
          </a:solidFill>
          <a:ln w="12700" cap="flat" cmpd="sng">
            <a:solidFill>
              <a:srgbClr val="D1D5DB">
                <a:alpha val="100000"/>
              </a:srgbClr>
            </a:solidFill>
            <a:prstDash val="solid"/>
            <a:round/>
          </a:ln>
          <a:effectLst>
            <a:outerShdw blurRad="152400" dist="50800" dir="5400000" algn="tl" rotWithShape="0">
              <a:srgbClr val="000000">
                <a:alpha val="6000"/>
              </a:srgbClr>
            </a:outerShdw>
          </a:effectLst>
        </p:spPr>
        <p:txBody>
          <a:bodyPr vert="horz" wrap="square" lIns="0" tIns="0" rIns="0" bIns="0" rtlCol="0" anchor="ctr" anchorCtr="0"/>
          <a:lstStyle/>
          <a:p>
            <a:pPr algn="ctr">
              <a:defRPr/>
            </a:pPr>
            <a:endParaRPr/>
          </a:p>
        </p:txBody>
      </p:sp>
      <p:sp>
        <p:nvSpPr>
          <p:cNvPr id="12" name="AutoShape 12"/>
          <p:cNvSpPr/>
          <p:nvPr/>
        </p:nvSpPr>
        <p:spPr>
          <a:xfrm>
            <a:off x="6477000" y="3238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9488"/>
                </a:solidFill>
                <a:latin typeface="Poppins"/>
                <a:ea typeface="Poppins"/>
                <a:cs typeface="Poppins"/>
                <a:sym typeface="Poppins"/>
              </a:rPr>
              <a:t>Two Primary System Bottlenecks</a:t>
            </a:r>
            <a:endParaRPr lang="en-US" sz="1100" dirty="0"/>
          </a:p>
        </p:txBody>
      </p:sp>
      <p:sp>
        <p:nvSpPr>
          <p:cNvPr id="13" name="AutoShape 13"/>
          <p:cNvSpPr/>
          <p:nvPr/>
        </p:nvSpPr>
        <p:spPr>
          <a:xfrm>
            <a:off x="6477000" y="3746500"/>
            <a:ext cx="4445000" cy="1016000"/>
          </a:xfrm>
          <a:prstGeom prst="roundRect">
            <a:avLst>
              <a:gd name="adj" fmla="val 10000"/>
            </a:avLst>
          </a:prstGeom>
          <a:solidFill>
            <a:srgbClr val="F0FAF9">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6604000" y="380035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1F2937"/>
                </a:solidFill>
                <a:latin typeface="Noto Sans SC"/>
                <a:ea typeface="Noto Sans SC"/>
                <a:cs typeface="Noto Sans SC"/>
                <a:sym typeface="Noto Sans SC"/>
              </a:rPr>
              <a:t>High CPU Scheduling Overhead</a:t>
            </a:r>
            <a:endParaRPr lang="en-US" sz="1200" dirty="0"/>
          </a:p>
          <a:p>
            <a:pPr indent="0" algn="l">
              <a:lnSpc>
                <a:spcPct val="125000"/>
              </a:lnSpc>
            </a:pPr>
            <a:r>
              <a:rPr lang="en-US" b="0" i="0" u="none" strike="noStrike" dirty="0">
                <a:solidFill>
                  <a:srgbClr val="6B7280"/>
                </a:solidFill>
                <a:latin typeface="Noto Sans SC"/>
                <a:ea typeface="Noto Sans SC"/>
                <a:cs typeface="Noto Sans SC"/>
                <a:sym typeface="Noto Sans SC"/>
              </a:rPr>
              <a:t>Sync Python/C++ dispatching overwhelms CPU → GPU starvation.</a:t>
            </a:r>
          </a:p>
        </p:txBody>
      </p:sp>
      <p:sp>
        <p:nvSpPr>
          <p:cNvPr id="15" name="AutoShape 15"/>
          <p:cNvSpPr/>
          <p:nvPr/>
        </p:nvSpPr>
        <p:spPr>
          <a:xfrm>
            <a:off x="6477000" y="4889500"/>
            <a:ext cx="4445000" cy="1016000"/>
          </a:xfrm>
          <a:prstGeom prst="roundRect">
            <a:avLst>
              <a:gd name="adj" fmla="val 10000"/>
            </a:avLst>
          </a:prstGeom>
          <a:solidFill>
            <a:srgbClr val="F0FAF9">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6" name="AutoShape 16"/>
          <p:cNvSpPr/>
          <p:nvPr/>
        </p:nvSpPr>
        <p:spPr>
          <a:xfrm>
            <a:off x="6604000" y="4950665"/>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1F2937"/>
                </a:solidFill>
                <a:latin typeface="Noto Sans SC"/>
                <a:ea typeface="Noto Sans SC"/>
                <a:cs typeface="Noto Sans SC"/>
                <a:sym typeface="Noto Sans SC"/>
              </a:rPr>
              <a:t>Severe GPU Memory Fragmentation</a:t>
            </a:r>
            <a:endParaRPr lang="en-US" sz="1200" dirty="0"/>
          </a:p>
          <a:p>
            <a:pPr indent="0" algn="l">
              <a:lnSpc>
                <a:spcPct val="125000"/>
              </a:lnSpc>
            </a:pPr>
            <a:r>
              <a:rPr lang="en-US" b="0" i="0" u="none" strike="noStrike" dirty="0">
                <a:solidFill>
                  <a:srgbClr val="6B7280"/>
                </a:solidFill>
                <a:latin typeface="Noto Sans SC"/>
                <a:ea typeface="Noto Sans SC"/>
                <a:cs typeface="Noto Sans SC"/>
                <a:sym typeface="Noto Sans SC"/>
              </a:rPr>
              <a:t>Context cache growth forces non-contiguous allocations &amp; redundant copies.</a:t>
            </a:r>
          </a:p>
        </p:txBody>
      </p:sp>
      <p:sp>
        <p:nvSpPr>
          <p:cNvPr id="17" name="AutoShape 6">
            <a:extLst>
              <a:ext uri="{FF2B5EF4-FFF2-40B4-BE49-F238E27FC236}">
                <a16:creationId xmlns:a16="http://schemas.microsoft.com/office/drawing/2014/main" id="{B9D69D93-76E3-59B1-F074-AD5D9D58CFE4}"/>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4</a:t>
            </a:r>
            <a:endParaRPr lang="en-US" sz="1050" dirty="0">
              <a:solidFill>
                <a:schemeClr val="tx1"/>
              </a:solidFill>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Literature Review I: StreamVoice</a:t>
            </a:r>
            <a:endParaRPr lang="en-US" sz="1100"/>
          </a:p>
        </p:txBody>
      </p:sp>
      <p:sp>
        <p:nvSpPr>
          <p:cNvPr id="3" name="AutoShape 3"/>
          <p:cNvSpPr/>
          <p:nvPr/>
        </p:nvSpPr>
        <p:spPr>
          <a:xfrm>
            <a:off x="1016000" y="1524000"/>
            <a:ext cx="4953000" cy="2286000"/>
          </a:xfrm>
          <a:prstGeom prst="roundRect">
            <a:avLst>
              <a:gd name="adj" fmla="val 6666"/>
            </a:avLst>
          </a:prstGeom>
          <a:solidFill>
            <a:srgbClr val="FFFFFF">
              <a:alpha val="92000"/>
            </a:srgbClr>
          </a:solidFill>
          <a:ln w="25400" cap="flat" cmpd="sng">
            <a:noFill/>
            <a:prstDash val="solid"/>
            <a:round/>
          </a:ln>
          <a:effectLst>
            <a:outerShdw blurRad="203200" dist="50800" dir="2700000" algn="tl" rotWithShape="0">
              <a:srgbClr val="000000">
                <a:alpha val="7000"/>
              </a:srgbClr>
            </a:outerShdw>
          </a:effectLst>
        </p:spPr>
        <p:txBody>
          <a:bodyPr vert="horz" wrap="square" lIns="0" tIns="0" rIns="0" bIns="0" rtlCol="0" anchor="ctr" anchorCtr="0"/>
          <a:lstStyle/>
          <a:p>
            <a:pPr algn="ctr">
              <a:defRPr/>
            </a:pPr>
            <a:endParaRPr/>
          </a:p>
        </p:txBody>
      </p:sp>
      <p:sp>
        <p:nvSpPr>
          <p:cNvPr id="4" name="AutoShape 4"/>
          <p:cNvSpPr/>
          <p:nvPr/>
        </p:nvSpPr>
        <p:spPr>
          <a:xfrm>
            <a:off x="1397000" y="1778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9488"/>
                </a:solidFill>
                <a:latin typeface="Poppins"/>
                <a:ea typeface="Poppins"/>
                <a:cs typeface="Poppins"/>
                <a:sym typeface="Poppins"/>
              </a:rPr>
              <a:t>CORE MESSAGE</a:t>
            </a:r>
            <a:endParaRPr lang="en-US" sz="1100" dirty="0"/>
          </a:p>
        </p:txBody>
      </p:sp>
      <p:sp>
        <p:nvSpPr>
          <p:cNvPr id="5" name="AutoShape 5"/>
          <p:cNvSpPr/>
          <p:nvPr/>
        </p:nvSpPr>
        <p:spPr>
          <a:xfrm>
            <a:off x="1397000" y="2286000"/>
            <a:ext cx="4064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b="0" i="0" u="none" strike="noStrike" dirty="0" err="1">
                <a:solidFill>
                  <a:srgbClr val="4B5563"/>
                </a:solidFill>
                <a:latin typeface="Poppins"/>
                <a:ea typeface="Poppins"/>
                <a:cs typeface="Poppins"/>
                <a:sym typeface="Poppins"/>
              </a:rPr>
              <a:t>StreamVoice</a:t>
            </a:r>
            <a:r>
              <a:rPr lang="en-US" b="0" i="0" u="none" strike="noStrike" dirty="0">
                <a:solidFill>
                  <a:srgbClr val="4B5563"/>
                </a:solidFill>
                <a:latin typeface="Poppins"/>
                <a:ea typeface="Poppins"/>
                <a:cs typeface="Poppins"/>
                <a:sym typeface="Poppins"/>
              </a:rPr>
              <a:t> provides the critical algorithmic foundation by formalizing the streaming workload and identifying the inherent memory management challenge.</a:t>
            </a:r>
            <a:endParaRPr lang="en-US" sz="1100" dirty="0"/>
          </a:p>
        </p:txBody>
      </p:sp>
      <p:sp>
        <p:nvSpPr>
          <p:cNvPr id="6" name="AutoShape 6"/>
          <p:cNvSpPr/>
          <p:nvPr/>
        </p:nvSpPr>
        <p:spPr>
          <a:xfrm>
            <a:off x="6223000" y="1524000"/>
            <a:ext cx="4953000" cy="2286000"/>
          </a:xfrm>
          <a:prstGeom prst="roundRect">
            <a:avLst>
              <a:gd name="adj" fmla="val 6666"/>
            </a:avLst>
          </a:prstGeom>
          <a:solidFill>
            <a:srgbClr val="FFFFFF">
              <a:alpha val="92000"/>
            </a:srgbClr>
          </a:solidFill>
          <a:ln w="25400" cap="flat" cmpd="sng">
            <a:noFill/>
            <a:prstDash val="solid"/>
            <a:round/>
          </a:ln>
          <a:effectLst>
            <a:outerShdw blurRad="203200" dist="50800" dir="2700000" algn="tl" rotWithShape="0">
              <a:srgbClr val="000000">
                <a:alpha val="7000"/>
              </a:srgbClr>
            </a:outerShdw>
          </a:effectLst>
        </p:spPr>
        <p:txBody>
          <a:bodyPr vert="horz" wrap="square" lIns="0" tIns="0" rIns="0" bIns="0" rtlCol="0" anchor="ctr" anchorCtr="0"/>
          <a:lstStyle/>
          <a:p>
            <a:pPr algn="ctr">
              <a:defRPr/>
            </a:pPr>
            <a:endParaRPr/>
          </a:p>
        </p:txBody>
      </p:sp>
      <p:sp>
        <p:nvSpPr>
          <p:cNvPr id="7" name="AutoShape 7"/>
          <p:cNvSpPr/>
          <p:nvPr/>
        </p:nvSpPr>
        <p:spPr>
          <a:xfrm>
            <a:off x="6604000" y="1778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PAPER</a:t>
            </a:r>
            <a:endParaRPr lang="en-US" sz="1100"/>
          </a:p>
        </p:txBody>
      </p:sp>
      <p:sp>
        <p:nvSpPr>
          <p:cNvPr id="8" name="AutoShape 8"/>
          <p:cNvSpPr/>
          <p:nvPr/>
        </p:nvSpPr>
        <p:spPr>
          <a:xfrm>
            <a:off x="6604000" y="2286000"/>
            <a:ext cx="4064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1" u="none" strike="noStrike" dirty="0" err="1">
                <a:solidFill>
                  <a:srgbClr val="4B5563"/>
                </a:solidFill>
                <a:latin typeface="Poppins"/>
                <a:ea typeface="Poppins"/>
                <a:cs typeface="Poppins"/>
                <a:sym typeface="Poppins"/>
              </a:rPr>
              <a:t>StreamVoice</a:t>
            </a:r>
            <a:r>
              <a:rPr lang="en-US" sz="1400" b="0" i="1" u="none" strike="noStrike" dirty="0">
                <a:solidFill>
                  <a:srgbClr val="4B5563"/>
                </a:solidFill>
                <a:latin typeface="Poppins"/>
                <a:ea typeface="Poppins"/>
                <a:cs typeface="Poppins"/>
                <a:sym typeface="Poppins"/>
              </a:rPr>
              <a:t>: </a:t>
            </a:r>
            <a:r>
              <a:rPr lang="en-US" sz="1400" b="0" i="1" u="none" strike="noStrike" dirty="0" err="1">
                <a:solidFill>
                  <a:srgbClr val="4B5563"/>
                </a:solidFill>
                <a:latin typeface="Poppins"/>
                <a:ea typeface="Poppins"/>
                <a:cs typeface="Poppins"/>
                <a:sym typeface="Poppins"/>
              </a:rPr>
              <a:t>Streamable</a:t>
            </a:r>
            <a:r>
              <a:rPr lang="en-US" sz="1400" b="0" i="1" u="none" strike="noStrike" dirty="0">
                <a:solidFill>
                  <a:srgbClr val="4B5563"/>
                </a:solidFill>
                <a:latin typeface="Poppins"/>
                <a:ea typeface="Poppins"/>
                <a:cs typeface="Poppins"/>
                <a:sym typeface="Poppins"/>
              </a:rPr>
              <a:t> Context-Aware Language Modeling for Real-time Zero-Shot Voice Conversion</a:t>
            </a:r>
            <a:endParaRPr lang="en-US" sz="1100" dirty="0"/>
          </a:p>
        </p:txBody>
      </p:sp>
      <p:sp>
        <p:nvSpPr>
          <p:cNvPr id="9" name="AutoShape 9"/>
          <p:cNvSpPr/>
          <p:nvPr/>
        </p:nvSpPr>
        <p:spPr>
          <a:xfrm>
            <a:off x="1016000" y="4191000"/>
            <a:ext cx="4953000" cy="2286000"/>
          </a:xfrm>
          <a:prstGeom prst="roundRect">
            <a:avLst>
              <a:gd name="adj" fmla="val 6666"/>
            </a:avLst>
          </a:prstGeom>
          <a:solidFill>
            <a:srgbClr val="FFFFFF">
              <a:alpha val="92000"/>
            </a:srgbClr>
          </a:solidFill>
          <a:ln w="25400" cap="flat" cmpd="sng">
            <a:noFill/>
            <a:prstDash val="solid"/>
            <a:round/>
          </a:ln>
          <a:effectLst>
            <a:outerShdw blurRad="203200" dist="50800" dir="2700000" algn="tl" rotWithShape="0">
              <a:srgbClr val="000000">
                <a:alpha val="7000"/>
              </a:srgbClr>
            </a:outerShdw>
          </a:effectLst>
        </p:spPr>
        <p:txBody>
          <a:bodyPr vert="horz" wrap="square" lIns="0" tIns="0" rIns="0" bIns="0" rtlCol="0" anchor="ctr" anchorCtr="0"/>
          <a:lstStyle/>
          <a:p>
            <a:pPr algn="ctr">
              <a:defRPr/>
            </a:pPr>
            <a:endParaRPr/>
          </a:p>
        </p:txBody>
      </p:sp>
      <p:sp>
        <p:nvSpPr>
          <p:cNvPr id="10" name="AutoShape 10"/>
          <p:cNvSpPr/>
          <p:nvPr/>
        </p:nvSpPr>
        <p:spPr>
          <a:xfrm>
            <a:off x="1397000" y="4445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RESEARCH OBJECTIVE</a:t>
            </a:r>
            <a:endParaRPr lang="en-US" sz="1100"/>
          </a:p>
        </p:txBody>
      </p:sp>
      <p:sp>
        <p:nvSpPr>
          <p:cNvPr id="11" name="AutoShape 11"/>
          <p:cNvSpPr/>
          <p:nvPr/>
        </p:nvSpPr>
        <p:spPr>
          <a:xfrm>
            <a:off x="1397000" y="4953000"/>
            <a:ext cx="4064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Address the primary acoustic challenge of streaming generation: maintaining high fidelity and prosodic continuity without future context (zero-lookahead).</a:t>
            </a:r>
            <a:endParaRPr lang="en-US" sz="1100"/>
          </a:p>
        </p:txBody>
      </p:sp>
      <p:sp>
        <p:nvSpPr>
          <p:cNvPr id="12" name="AutoShape 12"/>
          <p:cNvSpPr/>
          <p:nvPr/>
        </p:nvSpPr>
        <p:spPr>
          <a:xfrm>
            <a:off x="6223000" y="4191000"/>
            <a:ext cx="4953000" cy="2286000"/>
          </a:xfrm>
          <a:prstGeom prst="roundRect">
            <a:avLst>
              <a:gd name="adj" fmla="val 6666"/>
            </a:avLst>
          </a:prstGeom>
          <a:solidFill>
            <a:srgbClr val="FFFFFF">
              <a:alpha val="92000"/>
            </a:srgbClr>
          </a:solidFill>
          <a:ln w="25400" cap="flat" cmpd="sng">
            <a:noFill/>
            <a:prstDash val="solid"/>
            <a:round/>
          </a:ln>
          <a:effectLst>
            <a:outerShdw blurRad="203200" dist="50800" dir="2700000" algn="tl" rotWithShape="0">
              <a:srgbClr val="000000">
                <a:alpha val="7000"/>
              </a:srgbClr>
            </a:outerShdw>
          </a:effectLst>
        </p:spPr>
        <p:txBody>
          <a:bodyPr vert="horz" wrap="square" lIns="0" tIns="0" rIns="0" bIns="0" rtlCol="0" anchor="ctr" anchorCtr="0"/>
          <a:lstStyle/>
          <a:p>
            <a:pPr algn="ctr">
              <a:defRPr/>
            </a:pPr>
            <a:endParaRPr/>
          </a:p>
        </p:txBody>
      </p:sp>
      <p:sp>
        <p:nvSpPr>
          <p:cNvPr id="13" name="AutoShape 13"/>
          <p:cNvSpPr/>
          <p:nvPr/>
        </p:nvSpPr>
        <p:spPr>
          <a:xfrm>
            <a:off x="6604000" y="4445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KEY CONTRIBUTION</a:t>
            </a:r>
            <a:endParaRPr lang="en-US" sz="1100"/>
          </a:p>
        </p:txBody>
      </p:sp>
      <p:sp>
        <p:nvSpPr>
          <p:cNvPr id="14" name="AutoShape 14"/>
          <p:cNvSpPr/>
          <p:nvPr/>
        </p:nvSpPr>
        <p:spPr>
          <a:xfrm>
            <a:off x="6604000" y="4953000"/>
            <a:ext cx="4064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Mathematically defines the streaming workload and highlights the necessity of a continuous context cache for high-quality output, which inadvertently creates a critical OS-level bottleneck.</a:t>
            </a:r>
            <a:endParaRPr lang="en-US" sz="1100"/>
          </a:p>
        </p:txBody>
      </p:sp>
      <p:sp>
        <p:nvSpPr>
          <p:cNvPr id="15" name="AutoShape 6">
            <a:extLst>
              <a:ext uri="{FF2B5EF4-FFF2-40B4-BE49-F238E27FC236}">
                <a16:creationId xmlns:a16="http://schemas.microsoft.com/office/drawing/2014/main" id="{ECA04303-F01B-B652-27E2-31F0A8E67FB6}"/>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5</a:t>
            </a:r>
            <a:endParaRPr lang="en-US" sz="1050" dirty="0">
              <a:solidFill>
                <a:schemeClr val="tx1"/>
              </a:solidFill>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Poppins"/>
                <a:ea typeface="Poppins"/>
                <a:cs typeface="Poppins"/>
                <a:sym typeface="Poppins"/>
              </a:rPr>
              <a:t>Algorithmic Baseline: Continuous Context Caching Logic</a:t>
            </a:r>
            <a:endParaRPr lang="en-US" sz="1100"/>
          </a:p>
        </p:txBody>
      </p:sp>
      <p:sp>
        <p:nvSpPr>
          <p:cNvPr id="4" name="AutoShape 4"/>
          <p:cNvSpPr/>
          <p:nvPr/>
        </p:nvSpPr>
        <p:spPr>
          <a:xfrm>
            <a:off x="762000" y="1397000"/>
            <a:ext cx="5080000" cy="4826000"/>
          </a:xfrm>
          <a:prstGeom prst="roundRect">
            <a:avLst>
              <a:gd name="adj" fmla="val 315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10160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9488"/>
                </a:solidFill>
                <a:latin typeface="Poppins"/>
                <a:ea typeface="Poppins"/>
                <a:cs typeface="Poppins"/>
                <a:sym typeface="Poppins"/>
              </a:rPr>
              <a:t>Memoryless Generation (Poor Quality)</a:t>
            </a:r>
            <a:endParaRPr lang="en-US" sz="1100"/>
          </a:p>
        </p:txBody>
      </p:sp>
      <p:sp>
        <p:nvSpPr>
          <p:cNvPr id="6" name="AutoShape 6"/>
          <p:cNvSpPr/>
          <p:nvPr/>
        </p:nvSpPr>
        <p:spPr>
          <a:xfrm>
            <a:off x="1016000" y="2286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4B5563"/>
                </a:solidFill>
                <a:latin typeface="Poppins"/>
                <a:ea typeface="Poppins"/>
                <a:cs typeface="Poppins"/>
                <a:sym typeface="Poppins"/>
              </a:rPr>
              <a:t>Generates output using </a:t>
            </a:r>
            <a:r>
              <a:rPr lang="en-US" sz="1600" b="1" i="0" u="none" strike="noStrike" dirty="0">
                <a:solidFill>
                  <a:srgbClr val="4B5563"/>
                </a:solidFill>
                <a:latin typeface="Poppins"/>
                <a:ea typeface="Poppins"/>
                <a:cs typeface="Poppins"/>
                <a:sym typeface="Poppins"/>
              </a:rPr>
              <a:t>only current chunk features</a:t>
            </a:r>
            <a:r>
              <a:rPr lang="en-US" sz="1600" b="0" i="0" u="none" strike="noStrike" dirty="0">
                <a:solidFill>
                  <a:srgbClr val="4B5563"/>
                </a:solidFill>
                <a:latin typeface="Poppins"/>
                <a:ea typeface="Poppins"/>
                <a:cs typeface="Poppins"/>
                <a:sym typeface="Poppins"/>
              </a:rPr>
              <a:t>, completely ignoring all prior acoustic history and state.</a:t>
            </a:r>
            <a:endParaRPr lang="en-US" sz="1200" dirty="0"/>
          </a:p>
        </p:txBody>
      </p:sp>
      <p:sp>
        <p:nvSpPr>
          <p:cNvPr id="7" name="AutoShape 7"/>
          <p:cNvSpPr/>
          <p:nvPr/>
        </p:nvSpPr>
        <p:spPr>
          <a:xfrm>
            <a:off x="1016000" y="3556000"/>
            <a:ext cx="4572000" cy="635000"/>
          </a:xfrm>
          <a:prstGeom prst="roundRect">
            <a:avLst>
              <a:gd name="adj" fmla="val 1600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1016000" y="3683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dirty="0" err="1">
                <a:solidFill>
                  <a:srgbClr val="1F2937"/>
                </a:solidFill>
                <a:latin typeface="Poppins"/>
                <a:ea typeface="Poppins"/>
                <a:cs typeface="Poppins"/>
                <a:sym typeface="Poppins"/>
              </a:rPr>
              <a:t>y</a:t>
            </a:r>
            <a:r>
              <a:rPr lang="en-US" sz="1500" b="1" i="0" u="none" strike="noStrike" baseline="-25000" dirty="0" err="1">
                <a:solidFill>
                  <a:srgbClr val="1F2937"/>
                </a:solidFill>
                <a:latin typeface="Poppins"/>
                <a:ea typeface="Poppins"/>
                <a:cs typeface="Poppins"/>
                <a:sym typeface="Poppins"/>
              </a:rPr>
              <a:t>t</a:t>
            </a:r>
            <a:r>
              <a:rPr lang="en-US" sz="1500" b="1" i="0" u="none" strike="noStrike" baseline="-25000" dirty="0">
                <a:solidFill>
                  <a:srgbClr val="1F2937"/>
                </a:solidFill>
                <a:latin typeface="Poppins"/>
                <a:ea typeface="Poppins"/>
                <a:cs typeface="Poppins"/>
                <a:sym typeface="Poppins"/>
              </a:rPr>
              <a:t> </a:t>
            </a:r>
            <a:r>
              <a:rPr lang="en-US" sz="1500" b="1" i="0" u="none" strike="noStrike" dirty="0">
                <a:solidFill>
                  <a:srgbClr val="1F2937"/>
                </a:solidFill>
                <a:latin typeface="Poppins"/>
                <a:ea typeface="Poppins"/>
                <a:cs typeface="Poppins"/>
                <a:sym typeface="Poppins"/>
              </a:rPr>
              <a:t>= </a:t>
            </a:r>
            <a:r>
              <a:rPr lang="en-US" sz="1500" b="1" i="0" u="none" strike="noStrike" dirty="0" err="1">
                <a:solidFill>
                  <a:srgbClr val="1F2937"/>
                </a:solidFill>
                <a:latin typeface="Poppins"/>
                <a:ea typeface="Poppins"/>
                <a:cs typeface="Poppins"/>
                <a:sym typeface="Poppins"/>
              </a:rPr>
              <a:t>G</a:t>
            </a:r>
            <a:r>
              <a:rPr lang="en-US" sz="1500" b="1" i="0" u="none" strike="noStrike" baseline="-25000" dirty="0" err="1">
                <a:solidFill>
                  <a:srgbClr val="1F2937"/>
                </a:solidFill>
                <a:latin typeface="Poppins"/>
                <a:ea typeface="Poppins"/>
                <a:cs typeface="Poppins"/>
                <a:sym typeface="Poppins"/>
              </a:rPr>
              <a:t>θ</a:t>
            </a:r>
            <a:r>
              <a:rPr lang="en-US" sz="1500" b="1" i="0" u="none" strike="noStrike" dirty="0">
                <a:solidFill>
                  <a:srgbClr val="1F2937"/>
                </a:solidFill>
                <a:latin typeface="Poppins"/>
                <a:ea typeface="Poppins"/>
                <a:cs typeface="Poppins"/>
                <a:sym typeface="Poppins"/>
              </a:rPr>
              <a:t>(</a:t>
            </a:r>
            <a:r>
              <a:rPr lang="en-US" sz="1500" b="1" i="0" u="none" strike="noStrike" dirty="0" err="1">
                <a:solidFill>
                  <a:srgbClr val="1F2937"/>
                </a:solidFill>
                <a:latin typeface="Poppins"/>
                <a:ea typeface="Poppins"/>
                <a:cs typeface="Poppins"/>
                <a:sym typeface="Poppins"/>
              </a:rPr>
              <a:t>c</a:t>
            </a:r>
            <a:r>
              <a:rPr lang="en-US" sz="1500" b="1" i="0" u="none" strike="noStrike" baseline="-25000" dirty="0" err="1">
                <a:solidFill>
                  <a:srgbClr val="1F2937"/>
                </a:solidFill>
                <a:latin typeface="Poppins"/>
                <a:ea typeface="Poppins"/>
                <a:cs typeface="Poppins"/>
                <a:sym typeface="Poppins"/>
              </a:rPr>
              <a:t>t</a:t>
            </a:r>
            <a:r>
              <a:rPr lang="en-US" sz="1500" b="1" i="0" u="none" strike="noStrike" dirty="0">
                <a:solidFill>
                  <a:srgbClr val="1F2937"/>
                </a:solidFill>
                <a:latin typeface="Poppins"/>
                <a:ea typeface="Poppins"/>
                <a:cs typeface="Poppins"/>
                <a:sym typeface="Poppins"/>
              </a:rPr>
              <a:t>, f</a:t>
            </a:r>
            <a:r>
              <a:rPr lang="en-US" sz="1500" b="1" i="0" u="none" strike="noStrike" baseline="-25000" dirty="0">
                <a:solidFill>
                  <a:srgbClr val="1F2937"/>
                </a:solidFill>
                <a:latin typeface="Poppins"/>
                <a:ea typeface="Poppins"/>
                <a:cs typeface="Poppins"/>
                <a:sym typeface="Poppins"/>
              </a:rPr>
              <a:t>t</a:t>
            </a:r>
            <a:r>
              <a:rPr lang="en-US" sz="1500" b="1" i="0" u="none" strike="noStrike" dirty="0">
                <a:solidFill>
                  <a:srgbClr val="1F2937"/>
                </a:solidFill>
                <a:latin typeface="Poppins"/>
                <a:ea typeface="Poppins"/>
                <a:cs typeface="Poppins"/>
                <a:sym typeface="Poppins"/>
              </a:rPr>
              <a:t>, s)</a:t>
            </a:r>
            <a:endParaRPr lang="en-US" sz="1100" dirty="0"/>
          </a:p>
        </p:txBody>
      </p:sp>
      <p:sp>
        <p:nvSpPr>
          <p:cNvPr id="9" name="AutoShape 9"/>
          <p:cNvSpPr/>
          <p:nvPr/>
        </p:nvSpPr>
        <p:spPr>
          <a:xfrm>
            <a:off x="1016000" y="4572000"/>
            <a:ext cx="4572000" cy="1016000"/>
          </a:xfrm>
          <a:prstGeom prst="roundRect">
            <a:avLst>
              <a:gd name="adj" fmla="val 10000"/>
            </a:avLst>
          </a:prstGeom>
          <a:solidFill>
            <a:srgbClr val="FEE2E2">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1143000" y="4699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B91C1C"/>
                </a:solidFill>
                <a:latin typeface="Poppins"/>
                <a:ea typeface="Poppins"/>
                <a:cs typeface="Poppins"/>
                <a:sym typeface="Poppins"/>
              </a:rPr>
              <a:t>Critical Drawback</a:t>
            </a:r>
            <a:endParaRPr lang="en-US" sz="1200" dirty="0"/>
          </a:p>
          <a:p>
            <a:pPr indent="0" algn="l">
              <a:lnSpc>
                <a:spcPct val="125000"/>
              </a:lnSpc>
            </a:pPr>
            <a:r>
              <a:rPr lang="en-US" b="0" i="0" u="none" strike="noStrike" dirty="0">
                <a:solidFill>
                  <a:srgbClr val="7F1D1D"/>
                </a:solidFill>
                <a:latin typeface="Poppins"/>
                <a:ea typeface="Poppins"/>
                <a:cs typeface="Poppins"/>
                <a:sym typeface="Poppins"/>
              </a:rPr>
              <a:t>Produces severe acoustic artifacts and pitch jitter due to lack of temporal continuity.</a:t>
            </a:r>
          </a:p>
        </p:txBody>
      </p:sp>
      <p:sp>
        <p:nvSpPr>
          <p:cNvPr id="11" name="AutoShape 11"/>
          <p:cNvSpPr/>
          <p:nvPr/>
        </p:nvSpPr>
        <p:spPr>
          <a:xfrm>
            <a:off x="6350000" y="1397000"/>
            <a:ext cx="5080000" cy="4826000"/>
          </a:xfrm>
          <a:prstGeom prst="roundRect">
            <a:avLst>
              <a:gd name="adj" fmla="val 315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2" name="AutoShape 12"/>
          <p:cNvSpPr/>
          <p:nvPr/>
        </p:nvSpPr>
        <p:spPr>
          <a:xfrm>
            <a:off x="66040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9488"/>
                </a:solidFill>
                <a:latin typeface="Poppins"/>
                <a:ea typeface="Poppins"/>
                <a:cs typeface="Poppins"/>
                <a:sym typeface="Poppins"/>
              </a:rPr>
              <a:t>Context-Aware Generation (High Quality)</a:t>
            </a:r>
            <a:endParaRPr lang="en-US" sz="1100"/>
          </a:p>
        </p:txBody>
      </p:sp>
      <p:sp>
        <p:nvSpPr>
          <p:cNvPr id="13" name="AutoShape 13"/>
          <p:cNvSpPr/>
          <p:nvPr/>
        </p:nvSpPr>
        <p:spPr>
          <a:xfrm>
            <a:off x="6604000" y="2286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4B5563"/>
                </a:solidFill>
                <a:latin typeface="Poppins"/>
                <a:ea typeface="Poppins"/>
                <a:cs typeface="Poppins"/>
                <a:sym typeface="Poppins"/>
              </a:rPr>
              <a:t>Integrates  </a:t>
            </a:r>
            <a:r>
              <a:rPr lang="en-US" sz="1600" b="1" i="0" u="none" strike="noStrike" dirty="0">
                <a:solidFill>
                  <a:srgbClr val="4B5563"/>
                </a:solidFill>
                <a:latin typeface="Poppins"/>
                <a:ea typeface="Poppins"/>
                <a:cs typeface="Poppins"/>
                <a:sym typeface="Poppins"/>
              </a:rPr>
              <a:t>current features + historical cache </a:t>
            </a:r>
            <a:r>
              <a:rPr lang="en-US" sz="1600" b="0" i="0" u="none" strike="noStrike" dirty="0">
                <a:solidFill>
                  <a:srgbClr val="4B5563"/>
                </a:solidFill>
                <a:latin typeface="Poppins"/>
                <a:ea typeface="Poppins"/>
                <a:cs typeface="Poppins"/>
                <a:sym typeface="Poppins"/>
              </a:rPr>
              <a:t>to preserve natural prosody and speech flow across chunks.</a:t>
            </a:r>
            <a:endParaRPr lang="en-US" sz="1200" dirty="0"/>
          </a:p>
        </p:txBody>
      </p:sp>
      <p:sp>
        <p:nvSpPr>
          <p:cNvPr id="14" name="AutoShape 14"/>
          <p:cNvSpPr/>
          <p:nvPr/>
        </p:nvSpPr>
        <p:spPr>
          <a:xfrm>
            <a:off x="6604000" y="3556000"/>
            <a:ext cx="4572000" cy="635000"/>
          </a:xfrm>
          <a:prstGeom prst="roundRect">
            <a:avLst>
              <a:gd name="adj" fmla="val 1600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6604000" y="3683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1F2937"/>
                </a:solidFill>
                <a:latin typeface="Poppins"/>
                <a:ea typeface="Poppins"/>
                <a:cs typeface="Poppins"/>
                <a:sym typeface="Poppins"/>
              </a:rPr>
              <a:t>y</a:t>
            </a:r>
            <a:r>
              <a:rPr lang="en-US" sz="1600" b="1" i="0" u="none" strike="noStrike" baseline="-25000" dirty="0" err="1">
                <a:solidFill>
                  <a:srgbClr val="1F2937"/>
                </a:solidFill>
                <a:latin typeface="Poppins"/>
                <a:ea typeface="Poppins"/>
                <a:cs typeface="Poppins"/>
                <a:sym typeface="Poppins"/>
              </a:rPr>
              <a:t>t</a:t>
            </a:r>
            <a:r>
              <a:rPr lang="en-US" sz="1600" b="1" i="0" u="none" strike="noStrike" dirty="0">
                <a:solidFill>
                  <a:srgbClr val="1F2937"/>
                </a:solidFill>
                <a:latin typeface="Poppins"/>
                <a:ea typeface="Poppins"/>
                <a:cs typeface="Poppins"/>
                <a:sym typeface="Poppins"/>
              </a:rPr>
              <a:t> = </a:t>
            </a:r>
            <a:r>
              <a:rPr lang="en-US" sz="1600" b="1" i="0" u="none" strike="noStrike" dirty="0" err="1">
                <a:solidFill>
                  <a:srgbClr val="1F2937"/>
                </a:solidFill>
                <a:latin typeface="Poppins"/>
                <a:ea typeface="Poppins"/>
                <a:cs typeface="Poppins"/>
                <a:sym typeface="Poppins"/>
              </a:rPr>
              <a:t>G</a:t>
            </a:r>
            <a:r>
              <a:rPr lang="en-US" sz="1600" b="1" i="0" u="none" strike="noStrike" baseline="-25000" dirty="0" err="1">
                <a:solidFill>
                  <a:srgbClr val="1F2937"/>
                </a:solidFill>
                <a:latin typeface="Poppins"/>
                <a:ea typeface="Poppins"/>
                <a:cs typeface="Poppins"/>
                <a:sym typeface="Poppins"/>
              </a:rPr>
              <a:t>θ</a:t>
            </a:r>
            <a:r>
              <a:rPr lang="en-US" sz="1600" b="1" i="0" u="none" strike="noStrike" dirty="0">
                <a:solidFill>
                  <a:srgbClr val="1F2937"/>
                </a:solidFill>
                <a:latin typeface="Poppins"/>
                <a:ea typeface="Poppins"/>
                <a:cs typeface="Poppins"/>
                <a:sym typeface="Poppins"/>
              </a:rPr>
              <a:t>(</a:t>
            </a:r>
            <a:r>
              <a:rPr lang="en-US" sz="1600" b="1" i="0" u="none" strike="noStrike" dirty="0" err="1">
                <a:solidFill>
                  <a:srgbClr val="1F2937"/>
                </a:solidFill>
                <a:latin typeface="Poppins"/>
                <a:ea typeface="Poppins"/>
                <a:cs typeface="Poppins"/>
                <a:sym typeface="Poppins"/>
              </a:rPr>
              <a:t>c</a:t>
            </a:r>
            <a:r>
              <a:rPr lang="en-US" sz="1600" b="1" i="0" u="none" strike="noStrike" baseline="-25000" dirty="0" err="1">
                <a:solidFill>
                  <a:srgbClr val="1F2937"/>
                </a:solidFill>
                <a:latin typeface="Poppins"/>
                <a:ea typeface="Poppins"/>
                <a:cs typeface="Poppins"/>
                <a:sym typeface="Poppins"/>
              </a:rPr>
              <a:t>t</a:t>
            </a:r>
            <a:r>
              <a:rPr lang="en-US" sz="1600" b="1" i="0" u="none" strike="noStrike" dirty="0">
                <a:solidFill>
                  <a:srgbClr val="1F2937"/>
                </a:solidFill>
                <a:latin typeface="Poppins"/>
                <a:ea typeface="Poppins"/>
                <a:cs typeface="Poppins"/>
                <a:sym typeface="Poppins"/>
              </a:rPr>
              <a:t>, f</a:t>
            </a:r>
            <a:r>
              <a:rPr lang="en-US" sz="1600" b="1" i="0" u="none" strike="noStrike" baseline="-25000" dirty="0">
                <a:solidFill>
                  <a:srgbClr val="1F2937"/>
                </a:solidFill>
                <a:latin typeface="Poppins"/>
                <a:ea typeface="Poppins"/>
                <a:cs typeface="Poppins"/>
                <a:sym typeface="Poppins"/>
              </a:rPr>
              <a:t>t</a:t>
            </a:r>
            <a:r>
              <a:rPr lang="en-US" sz="1600" b="1" i="0" u="none" strike="noStrike" dirty="0">
                <a:solidFill>
                  <a:srgbClr val="1F2937"/>
                </a:solidFill>
                <a:latin typeface="Poppins"/>
                <a:ea typeface="Poppins"/>
                <a:cs typeface="Poppins"/>
                <a:sym typeface="Poppins"/>
              </a:rPr>
              <a:t>, s, H</a:t>
            </a:r>
            <a:r>
              <a:rPr lang="en-US" sz="1600" b="1" i="0" u="none" strike="noStrike" baseline="-25000" dirty="0">
                <a:solidFill>
                  <a:srgbClr val="1F2937"/>
                </a:solidFill>
                <a:latin typeface="Poppins"/>
                <a:ea typeface="Poppins"/>
                <a:cs typeface="Poppins"/>
                <a:sym typeface="Poppins"/>
              </a:rPr>
              <a:t>t-1</a:t>
            </a:r>
            <a:r>
              <a:rPr lang="en-US" sz="1600" b="1" i="0" u="none" strike="noStrike" dirty="0">
                <a:solidFill>
                  <a:srgbClr val="1F2937"/>
                </a:solidFill>
                <a:latin typeface="Poppins"/>
                <a:ea typeface="Poppins"/>
                <a:cs typeface="Poppins"/>
                <a:sym typeface="Poppins"/>
              </a:rPr>
              <a:t>)</a:t>
            </a:r>
            <a:endParaRPr lang="en-US" sz="1200" dirty="0"/>
          </a:p>
        </p:txBody>
      </p:sp>
      <p:sp>
        <p:nvSpPr>
          <p:cNvPr id="16" name="AutoShape 16"/>
          <p:cNvSpPr/>
          <p:nvPr/>
        </p:nvSpPr>
        <p:spPr>
          <a:xfrm>
            <a:off x="6519669" y="4396435"/>
            <a:ext cx="4897526"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4B5563"/>
                </a:solidFill>
                <a:latin typeface="Poppins"/>
                <a:ea typeface="Poppins"/>
                <a:cs typeface="Poppins"/>
                <a:sym typeface="Poppins"/>
              </a:rPr>
              <a:t>Cache is recursively updated by concatenation</a:t>
            </a:r>
            <a:endParaRPr lang="en-US" dirty="0"/>
          </a:p>
        </p:txBody>
      </p:sp>
      <p:sp>
        <p:nvSpPr>
          <p:cNvPr id="17" name="AutoShape 17"/>
          <p:cNvSpPr/>
          <p:nvPr/>
        </p:nvSpPr>
        <p:spPr>
          <a:xfrm>
            <a:off x="6604000" y="4953000"/>
            <a:ext cx="4572000" cy="508000"/>
          </a:xfrm>
          <a:prstGeom prst="roundRect">
            <a:avLst>
              <a:gd name="adj" fmla="val 20000"/>
            </a:avLst>
          </a:prstGeom>
          <a:solidFill>
            <a:srgbClr val="CCFBF1">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8" name="AutoShape 18"/>
          <p:cNvSpPr/>
          <p:nvPr/>
        </p:nvSpPr>
        <p:spPr>
          <a:xfrm>
            <a:off x="6604000" y="502148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0F766E"/>
                </a:solidFill>
                <a:latin typeface="Poppins"/>
                <a:ea typeface="Poppins"/>
                <a:cs typeface="Poppins"/>
                <a:sym typeface="Poppins"/>
              </a:rPr>
              <a:t>H</a:t>
            </a:r>
            <a:r>
              <a:rPr lang="en-US" sz="1600" b="1" i="0" u="none" strike="noStrike" baseline="-25000" dirty="0" err="1">
                <a:solidFill>
                  <a:srgbClr val="0F766E"/>
                </a:solidFill>
                <a:latin typeface="Poppins"/>
                <a:ea typeface="Poppins"/>
                <a:cs typeface="Poppins"/>
                <a:sym typeface="Poppins"/>
              </a:rPr>
              <a:t>t</a:t>
            </a:r>
            <a:r>
              <a:rPr lang="en-US" sz="1600" b="1" i="0" u="none" strike="noStrike" dirty="0">
                <a:solidFill>
                  <a:srgbClr val="0F766E"/>
                </a:solidFill>
                <a:latin typeface="Poppins"/>
                <a:ea typeface="Poppins"/>
                <a:cs typeface="Poppins"/>
                <a:sym typeface="Poppins"/>
              </a:rPr>
              <a:t> = </a:t>
            </a:r>
            <a:r>
              <a:rPr lang="en-US" sz="1600" b="1" i="0" u="none" strike="noStrike" dirty="0" err="1">
                <a:solidFill>
                  <a:srgbClr val="0F766E"/>
                </a:solidFill>
                <a:latin typeface="Poppins"/>
                <a:ea typeface="Poppins"/>
                <a:cs typeface="Poppins"/>
                <a:sym typeface="Poppins"/>
              </a:rPr>
              <a:t>Concat</a:t>
            </a:r>
            <a:r>
              <a:rPr lang="en-US" sz="1600" b="1" i="0" u="none" strike="noStrike" dirty="0">
                <a:solidFill>
                  <a:srgbClr val="0F766E"/>
                </a:solidFill>
                <a:latin typeface="Poppins"/>
                <a:ea typeface="Poppins"/>
                <a:cs typeface="Poppins"/>
                <a:sym typeface="Poppins"/>
              </a:rPr>
              <a:t>(H</a:t>
            </a:r>
            <a:r>
              <a:rPr lang="en-US" sz="1600" b="1" i="0" u="none" strike="noStrike" baseline="-25000" dirty="0">
                <a:solidFill>
                  <a:srgbClr val="0F766E"/>
                </a:solidFill>
                <a:latin typeface="Poppins"/>
                <a:ea typeface="Poppins"/>
                <a:cs typeface="Poppins"/>
                <a:sym typeface="Poppins"/>
              </a:rPr>
              <a:t>t-1</a:t>
            </a:r>
            <a:r>
              <a:rPr lang="en-US" sz="1600" b="1" i="0" u="none" strike="noStrike" dirty="0">
                <a:solidFill>
                  <a:srgbClr val="0F766E"/>
                </a:solidFill>
                <a:latin typeface="Poppins"/>
                <a:ea typeface="Poppins"/>
                <a:cs typeface="Poppins"/>
                <a:sym typeface="Poppins"/>
              </a:rPr>
              <a:t>, </a:t>
            </a:r>
            <a:r>
              <a:rPr lang="en-US" sz="1600" b="1" i="0" u="none" strike="noStrike" dirty="0" err="1">
                <a:solidFill>
                  <a:srgbClr val="0F766E"/>
                </a:solidFill>
                <a:latin typeface="Poppins"/>
                <a:ea typeface="Poppins"/>
                <a:cs typeface="Poppins"/>
                <a:sym typeface="Poppins"/>
              </a:rPr>
              <a:t>h</a:t>
            </a:r>
            <a:r>
              <a:rPr lang="en-US" sz="1600" b="1" i="0" u="none" strike="noStrike" baseline="-25000" dirty="0" err="1">
                <a:solidFill>
                  <a:srgbClr val="0F766E"/>
                </a:solidFill>
                <a:latin typeface="Poppins"/>
                <a:ea typeface="Poppins"/>
                <a:cs typeface="Poppins"/>
                <a:sym typeface="Poppins"/>
              </a:rPr>
              <a:t>t</a:t>
            </a:r>
            <a:r>
              <a:rPr lang="en-US" sz="1600" b="1" i="0" u="none" strike="noStrike" dirty="0">
                <a:solidFill>
                  <a:srgbClr val="0F766E"/>
                </a:solidFill>
                <a:latin typeface="Poppins"/>
                <a:ea typeface="Poppins"/>
                <a:cs typeface="Poppins"/>
                <a:sym typeface="Poppins"/>
              </a:rPr>
              <a:t>)</a:t>
            </a:r>
            <a:endParaRPr lang="en-US" sz="1200" dirty="0"/>
          </a:p>
        </p:txBody>
      </p:sp>
      <p:sp>
        <p:nvSpPr>
          <p:cNvPr id="19" name="AutoShape 19"/>
          <p:cNvSpPr/>
          <p:nvPr/>
        </p:nvSpPr>
        <p:spPr>
          <a:xfrm>
            <a:off x="6100876" y="5715000"/>
            <a:ext cx="5603442"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dirty="0">
                <a:solidFill>
                  <a:srgbClr val="B45309"/>
                </a:solidFill>
                <a:latin typeface="Poppins"/>
                <a:ea typeface="Poppins"/>
                <a:cs typeface="Poppins"/>
                <a:sym typeface="Poppins"/>
              </a:rPr>
              <a:t>Systemic Issue: Root Cause of Memory Bottleneck</a:t>
            </a:r>
            <a:endParaRPr lang="en-US" sz="1500" dirty="0"/>
          </a:p>
        </p:txBody>
      </p:sp>
      <p:sp>
        <p:nvSpPr>
          <p:cNvPr id="20" name="AutoShape 6">
            <a:extLst>
              <a:ext uri="{FF2B5EF4-FFF2-40B4-BE49-F238E27FC236}">
                <a16:creationId xmlns:a16="http://schemas.microsoft.com/office/drawing/2014/main" id="{E4A4FE8C-EEED-85A4-3459-244FF2FEE53B}"/>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6</a:t>
            </a:r>
            <a:endParaRPr lang="en-US" sz="1050" dirty="0">
              <a:solidFill>
                <a:schemeClr val="tx1"/>
              </a:solidFill>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Poppins"/>
                <a:ea typeface="Poppins"/>
                <a:cs typeface="Poppins"/>
                <a:sym typeface="Poppins"/>
              </a:rPr>
              <a:t>OS Bottleneck I: The O(T²) Memory Reallocation Disaster</a:t>
            </a:r>
            <a:endParaRPr lang="en-US" sz="1100"/>
          </a:p>
        </p:txBody>
      </p:sp>
      <p:sp>
        <p:nvSpPr>
          <p:cNvPr id="3" name="AutoShape 3"/>
          <p:cNvSpPr/>
          <p:nvPr/>
        </p:nvSpPr>
        <p:spPr>
          <a:xfrm>
            <a:off x="1016000" y="1270000"/>
            <a:ext cx="10160000" cy="1016000"/>
          </a:xfrm>
          <a:prstGeom prst="roundRect">
            <a:avLst>
              <a:gd name="adj" fmla="val 15000"/>
            </a:avLst>
          </a:prstGeom>
          <a:solidFill>
            <a:srgbClr val="0D9488">
              <a:alpha val="10000"/>
            </a:srgbClr>
          </a:solidFill>
          <a:ln cap="flat" cmpd="sng">
            <a:solidFill>
              <a:srgbClr val="007B70">
                <a:alpha val="1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1155801" y="1371195"/>
            <a:ext cx="9955988"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74151"/>
                </a:solidFill>
                <a:latin typeface="Noto Sans SC"/>
                <a:ea typeface="Noto Sans SC"/>
                <a:cs typeface="Noto Sans SC"/>
                <a:sym typeface="Noto Sans SC"/>
              </a:rPr>
              <a:t>The algorithmic requirement to concatenate a growing context cache triggers a </a:t>
            </a:r>
            <a:r>
              <a:rPr lang="en-US" sz="1600" b="1" i="0" u="none" strike="noStrike" dirty="0">
                <a:solidFill>
                  <a:srgbClr val="0D9488"/>
                </a:solidFill>
                <a:latin typeface="Noto Sans SC"/>
                <a:ea typeface="Noto Sans SC"/>
                <a:cs typeface="Noto Sans SC"/>
                <a:sym typeface="Noto Sans SC"/>
              </a:rPr>
              <a:t>catastrophic sequence of system calls</a:t>
            </a:r>
            <a:r>
              <a:rPr lang="en-US" sz="1600" b="0" i="0" u="none" strike="noStrike" dirty="0">
                <a:solidFill>
                  <a:srgbClr val="374151"/>
                </a:solidFill>
                <a:latin typeface="Noto Sans SC"/>
                <a:ea typeface="Noto Sans SC"/>
                <a:cs typeface="Noto Sans SC"/>
                <a:sym typeface="Noto Sans SC"/>
              </a:rPr>
              <a:t>, leading to </a:t>
            </a:r>
            <a:r>
              <a:rPr lang="en-US" sz="1600" b="1" i="0" u="none" strike="noStrike" dirty="0">
                <a:solidFill>
                  <a:srgbClr val="0D9488"/>
                </a:solidFill>
                <a:latin typeface="Noto Sans SC"/>
                <a:ea typeface="Noto Sans SC"/>
                <a:cs typeface="Noto Sans SC"/>
                <a:sym typeface="Noto Sans SC"/>
              </a:rPr>
              <a:t>quadratic memory bandwidth costs </a:t>
            </a:r>
            <a:r>
              <a:rPr lang="en-US" sz="1600" b="0" i="0" u="none" strike="noStrike" dirty="0">
                <a:solidFill>
                  <a:srgbClr val="374151"/>
                </a:solidFill>
                <a:latin typeface="Noto Sans SC"/>
                <a:ea typeface="Noto Sans SC"/>
                <a:cs typeface="Noto Sans SC"/>
                <a:sym typeface="Noto Sans SC"/>
              </a:rPr>
              <a:t>that cripple system performance.</a:t>
            </a:r>
            <a:endParaRPr lang="en-US" sz="1200" dirty="0"/>
          </a:p>
        </p:txBody>
      </p:sp>
      <p:sp>
        <p:nvSpPr>
          <p:cNvPr id="5" name="AutoShape 5"/>
          <p:cNvSpPr/>
          <p:nvPr/>
        </p:nvSpPr>
        <p:spPr>
          <a:xfrm>
            <a:off x="1016000" y="2667000"/>
            <a:ext cx="3175000" cy="3556000"/>
          </a:xfrm>
          <a:prstGeom prst="roundRect">
            <a:avLst>
              <a:gd name="adj" fmla="val 64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6" name="AutoShape 6"/>
          <p:cNvSpPr/>
          <p:nvPr/>
        </p:nvSpPr>
        <p:spPr>
          <a:xfrm>
            <a:off x="1016000" y="2667000"/>
            <a:ext cx="3175000" cy="635000"/>
          </a:xfrm>
          <a:prstGeom prst="roundRect">
            <a:avLst>
              <a:gd name="adj" fmla="val 32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1270000" y="28321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Poppins"/>
                <a:ea typeface="Poppins"/>
                <a:cs typeface="Poppins"/>
                <a:sym typeface="Poppins"/>
              </a:rPr>
              <a:t>SYSTEM PERSPECTIVE</a:t>
            </a:r>
            <a:endParaRPr lang="en-US" sz="1100"/>
          </a:p>
        </p:txBody>
      </p:sp>
      <p:sp>
        <p:nvSpPr>
          <p:cNvPr id="8" name="AutoShape 8"/>
          <p:cNvSpPr/>
          <p:nvPr/>
        </p:nvSpPr>
        <p:spPr>
          <a:xfrm>
            <a:off x="1206500" y="3556000"/>
            <a:ext cx="27940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b="0" i="0" u="none" strike="noStrike" dirty="0">
                <a:solidFill>
                  <a:srgbClr val="4B5563"/>
                </a:solidFill>
                <a:latin typeface="Noto Sans SC"/>
                <a:ea typeface="Noto Sans SC"/>
                <a:cs typeface="Noto Sans SC"/>
                <a:sym typeface="Noto Sans SC"/>
              </a:rPr>
              <a:t>Modern GPUs mandate </a:t>
            </a:r>
            <a:r>
              <a:rPr lang="en-US" b="1" i="0" u="none" strike="noStrike" dirty="0">
                <a:solidFill>
                  <a:srgbClr val="0D9488"/>
                </a:solidFill>
                <a:latin typeface="Noto Sans SC"/>
                <a:ea typeface="Noto Sans SC"/>
                <a:cs typeface="Noto Sans SC"/>
                <a:sym typeface="Noto Sans SC"/>
              </a:rPr>
              <a:t>contiguous physical memory </a:t>
            </a:r>
            <a:r>
              <a:rPr lang="en-US" b="0" i="0" u="none" strike="noStrike" dirty="0">
                <a:solidFill>
                  <a:srgbClr val="4B5563"/>
                </a:solidFill>
                <a:latin typeface="Noto Sans SC"/>
                <a:ea typeface="Noto Sans SC"/>
                <a:cs typeface="Noto Sans SC"/>
                <a:sym typeface="Noto Sans SC"/>
              </a:rPr>
              <a:t>for efficient SIMD tensor execution.</a:t>
            </a:r>
            <a:endParaRPr lang="en-US" sz="1200" dirty="0"/>
          </a:p>
          <a:p>
            <a:pPr indent="0" algn="l">
              <a:lnSpc>
                <a:spcPct val="125000"/>
              </a:lnSpc>
            </a:pPr>
            <a:endParaRPr lang="en-US" b="0" i="0" u="none" strike="noStrike" dirty="0">
              <a:solidFill>
                <a:srgbClr val="4B5563"/>
              </a:solidFill>
              <a:latin typeface="Noto Sans SC"/>
              <a:ea typeface="Noto Sans SC"/>
              <a:cs typeface="Noto Sans SC"/>
              <a:sym typeface="Noto Sans SC"/>
            </a:endParaRPr>
          </a:p>
          <a:p>
            <a:pPr indent="0" algn="l">
              <a:lnSpc>
                <a:spcPct val="125000"/>
              </a:lnSpc>
            </a:pPr>
            <a:r>
              <a:rPr lang="en-US" b="0" i="0" u="none" strike="noStrike" dirty="0">
                <a:solidFill>
                  <a:srgbClr val="4B5563"/>
                </a:solidFill>
                <a:latin typeface="Noto Sans SC"/>
                <a:ea typeface="Noto Sans SC"/>
                <a:cs typeface="Noto Sans SC"/>
                <a:sym typeface="Noto Sans SC"/>
              </a:rPr>
              <a:t>Allocators like </a:t>
            </a:r>
            <a:r>
              <a:rPr lang="en-US" b="1" i="0" u="none" strike="noStrike" dirty="0" err="1">
                <a:solidFill>
                  <a:srgbClr val="4B5563"/>
                </a:solidFill>
                <a:latin typeface="Noto Sans SC"/>
                <a:ea typeface="Noto Sans SC"/>
                <a:cs typeface="Noto Sans SC"/>
                <a:sym typeface="Noto Sans SC"/>
              </a:rPr>
              <a:t>cudaMalloc</a:t>
            </a:r>
            <a:r>
              <a:rPr lang="en-US" b="1" i="0" u="none" strike="noStrike" dirty="0">
                <a:solidFill>
                  <a:srgbClr val="4B5563"/>
                </a:solidFill>
                <a:latin typeface="Noto Sans SC"/>
                <a:ea typeface="Noto Sans SC"/>
                <a:cs typeface="Noto Sans SC"/>
                <a:sym typeface="Noto Sans SC"/>
              </a:rPr>
              <a:t> </a:t>
            </a:r>
            <a:r>
              <a:rPr lang="en-US" b="0" i="0" u="none" strike="noStrike" dirty="0">
                <a:solidFill>
                  <a:srgbClr val="4B5563"/>
                </a:solidFill>
                <a:latin typeface="Noto Sans SC"/>
                <a:ea typeface="Noto Sans SC"/>
                <a:cs typeface="Noto Sans SC"/>
                <a:sym typeface="Noto Sans SC"/>
              </a:rPr>
              <a:t>cannot "append" data to existing blocks if adjacent physical pages are unavailable.</a:t>
            </a:r>
          </a:p>
        </p:txBody>
      </p:sp>
      <p:sp>
        <p:nvSpPr>
          <p:cNvPr id="9" name="AutoShape 9"/>
          <p:cNvSpPr/>
          <p:nvPr/>
        </p:nvSpPr>
        <p:spPr>
          <a:xfrm>
            <a:off x="4493870" y="2667000"/>
            <a:ext cx="3175000" cy="3556000"/>
          </a:xfrm>
          <a:prstGeom prst="roundRect">
            <a:avLst>
              <a:gd name="adj" fmla="val 64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4508500" y="2667000"/>
            <a:ext cx="3175000" cy="635000"/>
          </a:xfrm>
          <a:prstGeom prst="roundRect">
            <a:avLst>
              <a:gd name="adj" fmla="val 32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4762500" y="28321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FFFFFF"/>
                </a:solidFill>
                <a:latin typeface="Poppins"/>
                <a:ea typeface="Poppins"/>
                <a:cs typeface="Poppins"/>
                <a:sym typeface="Poppins"/>
              </a:rPr>
              <a:t>THE CATASTROPHIC LOOP</a:t>
            </a:r>
            <a:endParaRPr lang="en-US" sz="1100" dirty="0"/>
          </a:p>
        </p:txBody>
      </p:sp>
      <p:sp>
        <p:nvSpPr>
          <p:cNvPr id="12" name="AutoShape 12"/>
          <p:cNvSpPr/>
          <p:nvPr/>
        </p:nvSpPr>
        <p:spPr>
          <a:xfrm>
            <a:off x="4573931" y="3425371"/>
            <a:ext cx="3004616" cy="702129"/>
          </a:xfrm>
          <a:prstGeom prst="roundRect">
            <a:avLst>
              <a:gd name="adj" fmla="val 17777"/>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4713631" y="3517900"/>
            <a:ext cx="2791764" cy="546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74151"/>
                </a:solidFill>
                <a:latin typeface="Noto Sans SC"/>
                <a:ea typeface="Noto Sans SC"/>
                <a:cs typeface="Noto Sans SC"/>
                <a:sym typeface="Noto Sans SC"/>
              </a:rPr>
              <a:t>1. Allocate: </a:t>
            </a:r>
            <a:r>
              <a:rPr lang="en-US" b="0" i="0" u="none" strike="noStrike" dirty="0">
                <a:solidFill>
                  <a:srgbClr val="374151"/>
                </a:solidFill>
                <a:latin typeface="Noto Sans SC"/>
                <a:ea typeface="Noto Sans SC"/>
                <a:cs typeface="Noto Sans SC"/>
                <a:sym typeface="Noto Sans SC"/>
              </a:rPr>
              <a:t>New</a:t>
            </a:r>
            <a:r>
              <a:rPr lang="en-US" dirty="0">
                <a:solidFill>
                  <a:srgbClr val="374151"/>
                </a:solidFill>
                <a:latin typeface="Noto Sans SC"/>
                <a:ea typeface="Noto Sans SC"/>
                <a:cs typeface="Noto Sans SC"/>
                <a:sym typeface="Noto Sans SC"/>
              </a:rPr>
              <a:t> </a:t>
            </a:r>
            <a:r>
              <a:rPr lang="en-US" b="0" i="0" u="none" strike="noStrike" dirty="0">
                <a:solidFill>
                  <a:srgbClr val="374151"/>
                </a:solidFill>
                <a:latin typeface="Noto Sans SC"/>
                <a:ea typeface="Noto Sans SC"/>
                <a:cs typeface="Noto Sans SC"/>
                <a:sym typeface="Noto Sans SC"/>
              </a:rPr>
              <a:t>contiguous block for combined data.</a:t>
            </a:r>
            <a:endParaRPr lang="en-US" dirty="0"/>
          </a:p>
        </p:txBody>
      </p:sp>
      <p:sp>
        <p:nvSpPr>
          <p:cNvPr id="14" name="AutoShape 14"/>
          <p:cNvSpPr/>
          <p:nvPr/>
        </p:nvSpPr>
        <p:spPr>
          <a:xfrm>
            <a:off x="4573931" y="4232713"/>
            <a:ext cx="3004617" cy="805877"/>
          </a:xfrm>
          <a:prstGeom prst="roundRect">
            <a:avLst>
              <a:gd name="adj" fmla="val 17777"/>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4713631" y="4322187"/>
            <a:ext cx="2731469" cy="62679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74151"/>
                </a:solidFill>
                <a:latin typeface="Noto Sans SC"/>
                <a:ea typeface="Noto Sans SC"/>
                <a:cs typeface="Noto Sans SC"/>
                <a:sym typeface="Noto Sans SC"/>
              </a:rPr>
              <a:t>2. Transfer: </a:t>
            </a:r>
            <a:r>
              <a:rPr lang="en-US" b="0" i="0" u="none" strike="noStrike" dirty="0">
                <a:solidFill>
                  <a:srgbClr val="374151"/>
                </a:solidFill>
                <a:latin typeface="Noto Sans SC"/>
                <a:ea typeface="Noto Sans SC"/>
                <a:cs typeface="Noto Sans SC"/>
                <a:sym typeface="Noto Sans SC"/>
              </a:rPr>
              <a:t>Copy </a:t>
            </a:r>
            <a:r>
              <a:rPr lang="en-US" b="1" i="0" u="none" strike="noStrike" dirty="0">
                <a:solidFill>
                  <a:srgbClr val="EF4444"/>
                </a:solidFill>
                <a:latin typeface="Noto Sans SC"/>
                <a:ea typeface="Noto Sans SC"/>
                <a:cs typeface="Noto Sans SC"/>
                <a:sym typeface="Noto Sans SC"/>
              </a:rPr>
              <a:t>entire history </a:t>
            </a:r>
            <a:r>
              <a:rPr lang="en-US" b="0" i="0" u="none" strike="noStrike" dirty="0">
                <a:solidFill>
                  <a:srgbClr val="374151"/>
                </a:solidFill>
                <a:latin typeface="Noto Sans SC"/>
                <a:ea typeface="Noto Sans SC"/>
                <a:cs typeface="Noto Sans SC"/>
                <a:sym typeface="Noto Sans SC"/>
              </a:rPr>
              <a:t>over the memory bus.</a:t>
            </a:r>
            <a:endParaRPr lang="en-US" sz="1200" dirty="0"/>
          </a:p>
        </p:txBody>
      </p:sp>
      <p:sp>
        <p:nvSpPr>
          <p:cNvPr id="16" name="AutoShape 16"/>
          <p:cNvSpPr/>
          <p:nvPr/>
        </p:nvSpPr>
        <p:spPr>
          <a:xfrm>
            <a:off x="4573931" y="5101786"/>
            <a:ext cx="3004616" cy="942354"/>
          </a:xfrm>
          <a:prstGeom prst="roundRect">
            <a:avLst>
              <a:gd name="adj" fmla="val 17777"/>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4713631" y="5207000"/>
            <a:ext cx="2731469" cy="73294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74151"/>
                </a:solidFill>
                <a:latin typeface="Noto Sans SC"/>
                <a:ea typeface="Noto Sans SC"/>
                <a:cs typeface="Noto Sans SC"/>
                <a:sym typeface="Noto Sans SC"/>
              </a:rPr>
              <a:t>3. Deallocate: </a:t>
            </a:r>
            <a:r>
              <a:rPr lang="en-US" b="0" i="0" u="none" strike="noStrike" dirty="0">
                <a:solidFill>
                  <a:srgbClr val="374151"/>
                </a:solidFill>
                <a:latin typeface="Noto Sans SC"/>
                <a:ea typeface="Noto Sans SC"/>
                <a:cs typeface="Noto Sans SC"/>
                <a:sym typeface="Noto Sans SC"/>
              </a:rPr>
              <a:t>Free old block, causing external fragmentation.</a:t>
            </a:r>
            <a:endParaRPr lang="en-US" sz="1200" dirty="0"/>
          </a:p>
        </p:txBody>
      </p:sp>
      <p:sp>
        <p:nvSpPr>
          <p:cNvPr id="18" name="AutoShape 18"/>
          <p:cNvSpPr/>
          <p:nvPr/>
        </p:nvSpPr>
        <p:spPr>
          <a:xfrm>
            <a:off x="8001000" y="2667000"/>
            <a:ext cx="3175000" cy="3556000"/>
          </a:xfrm>
          <a:prstGeom prst="roundRect">
            <a:avLst>
              <a:gd name="adj" fmla="val 64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9" name="AutoShape 19"/>
          <p:cNvSpPr/>
          <p:nvPr/>
        </p:nvSpPr>
        <p:spPr>
          <a:xfrm>
            <a:off x="8001000" y="2667000"/>
            <a:ext cx="3175000" cy="635000"/>
          </a:xfrm>
          <a:prstGeom prst="roundRect">
            <a:avLst>
              <a:gd name="adj" fmla="val 32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0" name="AutoShape 20"/>
          <p:cNvSpPr/>
          <p:nvPr/>
        </p:nvSpPr>
        <p:spPr>
          <a:xfrm>
            <a:off x="8255000" y="28321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Poppins"/>
                <a:ea typeface="Poppins"/>
                <a:cs typeface="Poppins"/>
                <a:sym typeface="Poppins"/>
              </a:rPr>
              <a:t>COMPLEXITY IMPACT</a:t>
            </a:r>
            <a:endParaRPr lang="en-US" sz="1100"/>
          </a:p>
        </p:txBody>
      </p:sp>
      <p:sp>
        <p:nvSpPr>
          <p:cNvPr id="21" name="AutoShape 21"/>
          <p:cNvSpPr/>
          <p:nvPr/>
        </p:nvSpPr>
        <p:spPr>
          <a:xfrm>
            <a:off x="8191500" y="3556000"/>
            <a:ext cx="279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0D9488"/>
                </a:solidFill>
                <a:latin typeface="Poppins"/>
                <a:ea typeface="Poppins"/>
                <a:cs typeface="Poppins"/>
                <a:sym typeface="Poppins"/>
              </a:rPr>
              <a:t>O(T²)</a:t>
            </a:r>
            <a:endParaRPr lang="en-US" sz="1100" dirty="0"/>
          </a:p>
        </p:txBody>
      </p:sp>
      <p:sp>
        <p:nvSpPr>
          <p:cNvPr id="22" name="AutoShape 22"/>
          <p:cNvSpPr/>
          <p:nvPr/>
        </p:nvSpPr>
        <p:spPr>
          <a:xfrm>
            <a:off x="8191500" y="4318000"/>
            <a:ext cx="27940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b="0" i="0" u="none" strike="noStrike" dirty="0">
                <a:solidFill>
                  <a:srgbClr val="4B5563"/>
                </a:solidFill>
                <a:latin typeface="Noto Sans SC"/>
                <a:ea typeface="Noto Sans SC"/>
                <a:cs typeface="Noto Sans SC"/>
                <a:sym typeface="Noto Sans SC"/>
              </a:rPr>
              <a:t>Per-chunk cost: O(t)</a:t>
            </a:r>
            <a:br>
              <a:rPr lang="en-US" b="0" i="0" u="none" strike="noStrike" dirty="0">
                <a:solidFill>
                  <a:srgbClr val="4B5563"/>
                </a:solidFill>
                <a:latin typeface="Noto Sans SC"/>
                <a:ea typeface="Noto Sans SC"/>
                <a:cs typeface="Noto Sans SC"/>
                <a:sym typeface="Noto Sans SC"/>
              </a:rPr>
            </a:br>
            <a:r>
              <a:rPr lang="en-US" b="0" i="0" u="none" strike="noStrike" dirty="0">
                <a:solidFill>
                  <a:srgbClr val="4B5563"/>
                </a:solidFill>
                <a:latin typeface="Noto Sans SC"/>
                <a:ea typeface="Noto Sans SC"/>
                <a:cs typeface="Noto Sans SC"/>
                <a:sym typeface="Noto Sans SC"/>
              </a:rPr>
              <a:t>Total session cost: Sum over T chunks</a:t>
            </a:r>
            <a:endParaRPr lang="en-US" sz="1200" dirty="0"/>
          </a:p>
        </p:txBody>
      </p:sp>
      <p:sp>
        <p:nvSpPr>
          <p:cNvPr id="23" name="AutoShape 23"/>
          <p:cNvSpPr/>
          <p:nvPr/>
        </p:nvSpPr>
        <p:spPr>
          <a:xfrm>
            <a:off x="8191500" y="5207000"/>
            <a:ext cx="2730500" cy="659790"/>
          </a:xfrm>
          <a:prstGeom prst="roundRect">
            <a:avLst>
              <a:gd name="adj" fmla="val 22222"/>
            </a:avLst>
          </a:prstGeom>
          <a:solidFill>
            <a:srgbClr val="FEE2E2">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4" name="AutoShape 24"/>
          <p:cNvSpPr/>
          <p:nvPr/>
        </p:nvSpPr>
        <p:spPr>
          <a:xfrm>
            <a:off x="8255000" y="5400244"/>
            <a:ext cx="2667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1" i="0" u="none" strike="noStrike" dirty="0">
                <a:solidFill>
                  <a:srgbClr val="B91C1C"/>
                </a:solidFill>
                <a:latin typeface="Noto Sans SC"/>
                <a:ea typeface="Noto Sans SC"/>
                <a:cs typeface="Noto Sans SC"/>
                <a:sym typeface="Noto Sans SC"/>
              </a:rPr>
              <a:t>GUARANTEED: Deadline Miss (&gt;20ms)</a:t>
            </a:r>
            <a:endParaRPr lang="en-US" sz="1200" dirty="0"/>
          </a:p>
        </p:txBody>
      </p:sp>
      <p:sp>
        <p:nvSpPr>
          <p:cNvPr id="25" name="AutoShape 6">
            <a:extLst>
              <a:ext uri="{FF2B5EF4-FFF2-40B4-BE49-F238E27FC236}">
                <a16:creationId xmlns:a16="http://schemas.microsoft.com/office/drawing/2014/main" id="{E9286594-5C0D-3EAA-9334-FF890E6D284F}"/>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7</a:t>
            </a:r>
            <a:endParaRPr lang="en-US" sz="1050" dirty="0">
              <a:solidFill>
                <a:schemeClr val="tx1"/>
              </a:solidFill>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635000"/>
            <a:ext cx="1016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937"/>
                </a:solidFill>
                <a:latin typeface="Poppins"/>
                <a:ea typeface="Poppins"/>
                <a:cs typeface="Poppins"/>
                <a:sym typeface="Poppins"/>
              </a:rPr>
              <a:t>Compute Bottleneck: CPU-bound Scheduling and GPU Starvation</a:t>
            </a:r>
            <a:endParaRPr lang="en-US" sz="1100"/>
          </a:p>
        </p:txBody>
      </p:sp>
      <p:sp>
        <p:nvSpPr>
          <p:cNvPr id="4" name="AutoShape 4"/>
          <p:cNvSpPr/>
          <p:nvPr/>
        </p:nvSpPr>
        <p:spPr>
          <a:xfrm>
            <a:off x="1016000" y="1524000"/>
            <a:ext cx="3175000" cy="4572000"/>
          </a:xfrm>
          <a:prstGeom prst="roundRect">
            <a:avLst>
              <a:gd name="adj" fmla="val 4800"/>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1016000" y="1524000"/>
            <a:ext cx="3175000" cy="762000"/>
          </a:xfrm>
          <a:prstGeom prst="roundRect">
            <a:avLst>
              <a:gd name="adj" fmla="val 20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1524000" y="1651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Core Insight</a:t>
            </a:r>
            <a:endParaRPr lang="en-US" sz="1100"/>
          </a:p>
        </p:txBody>
      </p:sp>
      <p:sp>
        <p:nvSpPr>
          <p:cNvPr id="7" name="AutoShape 7"/>
          <p:cNvSpPr/>
          <p:nvPr/>
        </p:nvSpPr>
        <p:spPr>
          <a:xfrm>
            <a:off x="1219200" y="2540000"/>
            <a:ext cx="27686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9488"/>
                </a:solidFill>
                <a:latin typeface="Poppins"/>
                <a:ea typeface="Poppins"/>
                <a:cs typeface="Poppins"/>
                <a:sym typeface="Poppins"/>
              </a:rPr>
              <a:t>THE CORE PROBLEM</a:t>
            </a:r>
            <a:endParaRPr lang="en-US" sz="1200" dirty="0"/>
          </a:p>
        </p:txBody>
      </p:sp>
      <p:sp>
        <p:nvSpPr>
          <p:cNvPr id="8" name="AutoShape 8"/>
          <p:cNvSpPr/>
          <p:nvPr/>
        </p:nvSpPr>
        <p:spPr>
          <a:xfrm>
            <a:off x="1219200" y="3118509"/>
            <a:ext cx="27686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b="0" i="0" u="none" strike="noStrike" dirty="0">
                <a:solidFill>
                  <a:srgbClr val="4B5563"/>
                </a:solidFill>
                <a:latin typeface="Poppins"/>
                <a:ea typeface="Poppins"/>
                <a:cs typeface="Poppins"/>
                <a:sym typeface="Poppins"/>
              </a:rPr>
              <a:t>In micro-batch streaming, the CPU time spent scheduling tasks dominates the actual GPU computation time, leading to severe underutilization.</a:t>
            </a:r>
            <a:endParaRPr lang="en-US" sz="1200" dirty="0"/>
          </a:p>
        </p:txBody>
      </p:sp>
      <p:sp>
        <p:nvSpPr>
          <p:cNvPr id="9" name="AutoShape 9"/>
          <p:cNvSpPr/>
          <p:nvPr/>
        </p:nvSpPr>
        <p:spPr>
          <a:xfrm>
            <a:off x="1219200" y="4361281"/>
            <a:ext cx="27686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9488"/>
                </a:solidFill>
                <a:latin typeface="Poppins"/>
                <a:ea typeface="Poppins"/>
                <a:cs typeface="Poppins"/>
                <a:sym typeface="Poppins"/>
              </a:rPr>
              <a:t>SYSTEM MODEL</a:t>
            </a:r>
            <a:endParaRPr lang="en-US" sz="1200" dirty="0"/>
          </a:p>
        </p:txBody>
      </p:sp>
      <p:sp>
        <p:nvSpPr>
          <p:cNvPr id="10" name="AutoShape 10"/>
          <p:cNvSpPr/>
          <p:nvPr/>
        </p:nvSpPr>
        <p:spPr>
          <a:xfrm>
            <a:off x="1219200" y="4742281"/>
            <a:ext cx="2768600" cy="1143000"/>
          </a:xfrm>
          <a:prstGeom prst="roundRect">
            <a:avLst>
              <a:gd name="adj" fmla="val 8888"/>
            </a:avLst>
          </a:prstGeom>
          <a:solidFill>
            <a:srgbClr val="ECFEFE">
              <a:alpha val="100000"/>
            </a:srgbClr>
          </a:solidFill>
          <a:ln w="12700" cap="flat" cmpd="sng">
            <a:solidFill>
              <a:srgbClr val="CCFBF1">
                <a:alpha val="10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1346200" y="4869281"/>
            <a:ext cx="25146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b="1" i="0" u="none" strike="noStrike" dirty="0" err="1">
                <a:solidFill>
                  <a:srgbClr val="115E59"/>
                </a:solidFill>
                <a:latin typeface="Poppins"/>
                <a:ea typeface="Poppins"/>
                <a:cs typeface="Poppins"/>
                <a:sym typeface="Poppins"/>
              </a:rPr>
              <a:t>T</a:t>
            </a:r>
            <a:r>
              <a:rPr lang="en-US" b="1" i="0" u="none" strike="noStrike" baseline="-25000" dirty="0" err="1">
                <a:solidFill>
                  <a:srgbClr val="115E59"/>
                </a:solidFill>
                <a:latin typeface="Poppins"/>
                <a:ea typeface="Poppins"/>
                <a:cs typeface="Poppins"/>
                <a:sym typeface="Poppins"/>
              </a:rPr>
              <a:t>total</a:t>
            </a:r>
            <a:r>
              <a:rPr lang="en-US" b="1" i="0" u="none" strike="noStrike" dirty="0">
                <a:solidFill>
                  <a:srgbClr val="115E59"/>
                </a:solidFill>
                <a:latin typeface="Poppins"/>
                <a:ea typeface="Poppins"/>
                <a:cs typeface="Poppins"/>
                <a:sym typeface="Poppins"/>
              </a:rPr>
              <a:t> = </a:t>
            </a:r>
            <a:r>
              <a:rPr lang="en-US" b="1" i="0" u="none" strike="noStrike" dirty="0" err="1">
                <a:solidFill>
                  <a:srgbClr val="115E59"/>
                </a:solidFill>
                <a:latin typeface="Poppins"/>
                <a:ea typeface="Poppins"/>
                <a:cs typeface="Poppins"/>
                <a:sym typeface="Poppins"/>
              </a:rPr>
              <a:t>T</a:t>
            </a:r>
            <a:r>
              <a:rPr lang="en-US" b="1" i="0" u="none" strike="noStrike" baseline="-25000" dirty="0" err="1">
                <a:solidFill>
                  <a:srgbClr val="115E59"/>
                </a:solidFill>
                <a:latin typeface="Poppins"/>
                <a:ea typeface="Poppins"/>
                <a:cs typeface="Poppins"/>
                <a:sym typeface="Poppins"/>
              </a:rPr>
              <a:t>cpu</a:t>
            </a:r>
            <a:r>
              <a:rPr lang="en-US" b="1" i="0" u="none" strike="noStrike" dirty="0">
                <a:solidFill>
                  <a:srgbClr val="115E59"/>
                </a:solidFill>
                <a:latin typeface="Poppins"/>
                <a:ea typeface="Poppins"/>
                <a:cs typeface="Poppins"/>
                <a:sym typeface="Poppins"/>
              </a:rPr>
              <a:t> + </a:t>
            </a:r>
            <a:r>
              <a:rPr lang="en-US" b="1" i="0" u="none" strike="noStrike" dirty="0" err="1">
                <a:solidFill>
                  <a:srgbClr val="115E59"/>
                </a:solidFill>
                <a:latin typeface="Poppins"/>
                <a:ea typeface="Poppins"/>
                <a:cs typeface="Poppins"/>
                <a:sym typeface="Poppins"/>
              </a:rPr>
              <a:t>T</a:t>
            </a:r>
            <a:r>
              <a:rPr lang="en-US" b="1" i="0" u="none" strike="noStrike" baseline="-25000" dirty="0" err="1">
                <a:solidFill>
                  <a:srgbClr val="115E59"/>
                </a:solidFill>
                <a:latin typeface="Poppins"/>
                <a:ea typeface="Poppins"/>
                <a:cs typeface="Poppins"/>
                <a:sym typeface="Poppins"/>
              </a:rPr>
              <a:t>gpu</a:t>
            </a:r>
            <a:endParaRPr lang="en-US" sz="1200" baseline="-25000" dirty="0"/>
          </a:p>
          <a:p>
            <a:pPr indent="0" algn="l">
              <a:lnSpc>
                <a:spcPct val="108333"/>
              </a:lnSpc>
            </a:pPr>
            <a:r>
              <a:rPr lang="en-US" b="0" i="0" u="none" strike="noStrike" dirty="0">
                <a:solidFill>
                  <a:srgbClr val="374151"/>
                </a:solidFill>
                <a:latin typeface="Poppins"/>
                <a:ea typeface="Poppins"/>
                <a:cs typeface="Poppins"/>
                <a:sym typeface="Poppins"/>
              </a:rPr>
              <a:t>At micro-batch scale (</a:t>
            </a:r>
            <a:r>
              <a:rPr lang="en-US" b="0" i="0" u="none" strike="noStrike" dirty="0" err="1">
                <a:solidFill>
                  <a:srgbClr val="374151"/>
                </a:solidFill>
                <a:latin typeface="Poppins"/>
                <a:ea typeface="Poppins"/>
                <a:cs typeface="Poppins"/>
                <a:sym typeface="Poppins"/>
              </a:rPr>
              <a:t>seq_len</a:t>
            </a:r>
            <a:r>
              <a:rPr lang="en-US" b="0" i="0" u="none" strike="noStrike" dirty="0">
                <a:solidFill>
                  <a:srgbClr val="374151"/>
                </a:solidFill>
                <a:latin typeface="Poppins"/>
                <a:ea typeface="Poppins"/>
                <a:cs typeface="Poppins"/>
                <a:sym typeface="Poppins"/>
              </a:rPr>
              <a:t>=10ms), </a:t>
            </a:r>
            <a:r>
              <a:rPr lang="en-US" b="0" i="0" u="none" strike="noStrike" dirty="0" err="1">
                <a:solidFill>
                  <a:srgbClr val="374151"/>
                </a:solidFill>
                <a:latin typeface="Poppins"/>
                <a:ea typeface="Poppins"/>
                <a:cs typeface="Poppins"/>
                <a:sym typeface="Poppins"/>
              </a:rPr>
              <a:t>T</a:t>
            </a:r>
            <a:r>
              <a:rPr lang="en-US" b="0" i="0" u="none" strike="noStrike" baseline="-25000" dirty="0" err="1">
                <a:solidFill>
                  <a:srgbClr val="374151"/>
                </a:solidFill>
                <a:latin typeface="Poppins"/>
                <a:ea typeface="Poppins"/>
                <a:cs typeface="Poppins"/>
                <a:sym typeface="Poppins"/>
              </a:rPr>
              <a:t>gpu</a:t>
            </a:r>
            <a:r>
              <a:rPr lang="en-US" b="0" i="0" u="none" strike="noStrike" dirty="0">
                <a:solidFill>
                  <a:srgbClr val="374151"/>
                </a:solidFill>
                <a:latin typeface="Poppins"/>
                <a:ea typeface="Poppins"/>
                <a:cs typeface="Poppins"/>
                <a:sym typeface="Poppins"/>
              </a:rPr>
              <a:t> drops to </a:t>
            </a:r>
            <a:r>
              <a:rPr lang="en-US" b="1" i="0" u="none" strike="noStrike" dirty="0">
                <a:solidFill>
                  <a:srgbClr val="374151"/>
                </a:solidFill>
                <a:latin typeface="Poppins"/>
                <a:ea typeface="Poppins"/>
                <a:cs typeface="Poppins"/>
                <a:sym typeface="Poppins"/>
              </a:rPr>
              <a:t>microseconds</a:t>
            </a:r>
            <a:r>
              <a:rPr lang="en-US" b="0" i="0" u="none" strike="noStrike" dirty="0">
                <a:solidFill>
                  <a:srgbClr val="374151"/>
                </a:solidFill>
                <a:latin typeface="Poppins"/>
                <a:ea typeface="Poppins"/>
                <a:cs typeface="Poppins"/>
                <a:sym typeface="Poppins"/>
              </a:rPr>
              <a:t>.</a:t>
            </a:r>
          </a:p>
        </p:txBody>
      </p:sp>
      <p:sp>
        <p:nvSpPr>
          <p:cNvPr id="12" name="AutoShape 12"/>
          <p:cNvSpPr/>
          <p:nvPr/>
        </p:nvSpPr>
        <p:spPr>
          <a:xfrm>
            <a:off x="4508500" y="1524000"/>
            <a:ext cx="3175000" cy="4572000"/>
          </a:xfrm>
          <a:prstGeom prst="roundRect">
            <a:avLst>
              <a:gd name="adj" fmla="val 4800"/>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3" name="AutoShape 13"/>
          <p:cNvSpPr/>
          <p:nvPr/>
        </p:nvSpPr>
        <p:spPr>
          <a:xfrm>
            <a:off x="4508500" y="1524000"/>
            <a:ext cx="3175000" cy="762000"/>
          </a:xfrm>
          <a:prstGeom prst="roundRect">
            <a:avLst>
              <a:gd name="adj" fmla="val 20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5016500" y="1651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The Bottleneck</a:t>
            </a:r>
            <a:endParaRPr lang="en-US" sz="1100"/>
          </a:p>
        </p:txBody>
      </p:sp>
      <p:sp>
        <p:nvSpPr>
          <p:cNvPr id="15" name="AutoShape 15"/>
          <p:cNvSpPr/>
          <p:nvPr/>
        </p:nvSpPr>
        <p:spPr>
          <a:xfrm>
            <a:off x="4711700" y="2540000"/>
            <a:ext cx="27686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9488"/>
                </a:solidFill>
                <a:latin typeface="Poppins"/>
                <a:ea typeface="Poppins"/>
                <a:cs typeface="Poppins"/>
                <a:sym typeface="Poppins"/>
              </a:rPr>
              <a:t>CPU DISPATCH OVERHEAD</a:t>
            </a:r>
            <a:endParaRPr lang="en-US" sz="1200" dirty="0"/>
          </a:p>
        </p:txBody>
      </p:sp>
      <p:sp>
        <p:nvSpPr>
          <p:cNvPr id="16" name="AutoShape 16"/>
          <p:cNvSpPr/>
          <p:nvPr/>
        </p:nvSpPr>
        <p:spPr>
          <a:xfrm>
            <a:off x="4711700" y="3048000"/>
            <a:ext cx="2768600" cy="762000"/>
          </a:xfrm>
          <a:prstGeom prst="roundRect">
            <a:avLst>
              <a:gd name="adj" fmla="val 13333"/>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4711700" y="3175000"/>
            <a:ext cx="27686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1" i="0" u="none" strike="noStrike" dirty="0">
                <a:solidFill>
                  <a:srgbClr val="1F2937"/>
                </a:solidFill>
                <a:latin typeface="Poppins"/>
                <a:ea typeface="Poppins"/>
                <a:cs typeface="Poppins"/>
                <a:sym typeface="Poppins"/>
              </a:rPr>
              <a:t>Python GIL Contention</a:t>
            </a:r>
            <a:br>
              <a:rPr lang="en-US" sz="1800" b="0" i="0" u="none" strike="noStrike" dirty="0">
                <a:solidFill>
                  <a:srgbClr val="1F2329"/>
                </a:solidFill>
                <a:latin typeface="Poppins"/>
                <a:ea typeface="Poppins"/>
                <a:cs typeface="Poppins"/>
                <a:sym typeface="Poppins"/>
              </a:rPr>
            </a:br>
            <a:r>
              <a:rPr lang="en-US" sz="1200" b="0" i="0" u="none" strike="noStrike" dirty="0">
                <a:solidFill>
                  <a:srgbClr val="6B7280"/>
                </a:solidFill>
                <a:latin typeface="Poppins"/>
                <a:ea typeface="Poppins"/>
                <a:cs typeface="Poppins"/>
                <a:sym typeface="Poppins"/>
              </a:rPr>
              <a:t>Serializes thread execution flow</a:t>
            </a:r>
            <a:endParaRPr lang="en-US" sz="1200" dirty="0"/>
          </a:p>
        </p:txBody>
      </p:sp>
      <p:sp>
        <p:nvSpPr>
          <p:cNvPr id="18" name="AutoShape 18"/>
          <p:cNvSpPr/>
          <p:nvPr/>
        </p:nvSpPr>
        <p:spPr>
          <a:xfrm>
            <a:off x="4711700" y="3937000"/>
            <a:ext cx="2768600" cy="762000"/>
          </a:xfrm>
          <a:prstGeom prst="roundRect">
            <a:avLst>
              <a:gd name="adj" fmla="val 13333"/>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4711700" y="4064000"/>
            <a:ext cx="27686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1" i="0" u="none" strike="noStrike" dirty="0">
                <a:solidFill>
                  <a:srgbClr val="1F2937"/>
                </a:solidFill>
                <a:latin typeface="Poppins"/>
                <a:ea typeface="Poppins"/>
                <a:cs typeface="Poppins"/>
                <a:sym typeface="Poppins"/>
              </a:rPr>
              <a:t>C++ Binding Overhead</a:t>
            </a:r>
            <a:br>
              <a:rPr lang="en-US" sz="1800" b="0" i="0" u="none" strike="noStrike" dirty="0">
                <a:solidFill>
                  <a:srgbClr val="1F2329"/>
                </a:solidFill>
                <a:latin typeface="Poppins"/>
                <a:ea typeface="Poppins"/>
                <a:cs typeface="Poppins"/>
                <a:sym typeface="Poppins"/>
              </a:rPr>
            </a:br>
            <a:r>
              <a:rPr lang="en-US" sz="1200" b="0" i="0" u="none" strike="noStrike" dirty="0">
                <a:solidFill>
                  <a:srgbClr val="6B7280"/>
                </a:solidFill>
                <a:latin typeface="Poppins"/>
                <a:ea typeface="Poppins"/>
                <a:cs typeface="Poppins"/>
                <a:sym typeface="Poppins"/>
              </a:rPr>
              <a:t>Cost of crossing language boundaries</a:t>
            </a:r>
            <a:endParaRPr lang="en-US" sz="1200" dirty="0"/>
          </a:p>
        </p:txBody>
      </p:sp>
      <p:sp>
        <p:nvSpPr>
          <p:cNvPr id="20" name="AutoShape 20"/>
          <p:cNvSpPr/>
          <p:nvPr/>
        </p:nvSpPr>
        <p:spPr>
          <a:xfrm>
            <a:off x="4711700" y="4826000"/>
            <a:ext cx="2768600" cy="762000"/>
          </a:xfrm>
          <a:prstGeom prst="roundRect">
            <a:avLst>
              <a:gd name="adj" fmla="val 13333"/>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4711700" y="4953000"/>
            <a:ext cx="27686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1" i="0" u="none" strike="noStrike" dirty="0">
                <a:solidFill>
                  <a:srgbClr val="1F2937"/>
                </a:solidFill>
                <a:latin typeface="Poppins"/>
                <a:ea typeface="Poppins"/>
                <a:cs typeface="Poppins"/>
                <a:sym typeface="Poppins"/>
              </a:rPr>
              <a:t>Sequential Kernel Launches</a:t>
            </a:r>
            <a:br>
              <a:rPr lang="en-US" sz="1800" b="0" i="0" u="none" strike="noStrike" dirty="0">
                <a:solidFill>
                  <a:srgbClr val="1F2937"/>
                </a:solidFill>
                <a:latin typeface="Poppins"/>
                <a:ea typeface="Poppins"/>
                <a:cs typeface="Poppins"/>
                <a:sym typeface="Poppins"/>
              </a:rPr>
            </a:br>
            <a:r>
              <a:rPr lang="en-US" sz="1200" b="0" i="0" u="none" strike="noStrike" dirty="0">
                <a:solidFill>
                  <a:srgbClr val="6B7280"/>
                </a:solidFill>
                <a:latin typeface="Poppins"/>
                <a:ea typeface="Poppins"/>
                <a:cs typeface="Poppins"/>
                <a:sym typeface="Poppins"/>
              </a:rPr>
              <a:t>CPU waits for each kernel to finish</a:t>
            </a:r>
            <a:endParaRPr lang="en-US" sz="1200" dirty="0"/>
          </a:p>
        </p:txBody>
      </p:sp>
      <p:sp>
        <p:nvSpPr>
          <p:cNvPr id="22" name="AutoShape 22"/>
          <p:cNvSpPr/>
          <p:nvPr/>
        </p:nvSpPr>
        <p:spPr>
          <a:xfrm>
            <a:off x="8001000" y="1524000"/>
            <a:ext cx="3175000" cy="4572000"/>
          </a:xfrm>
          <a:prstGeom prst="roundRect">
            <a:avLst>
              <a:gd name="adj" fmla="val 4800"/>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23" name="AutoShape 23"/>
          <p:cNvSpPr/>
          <p:nvPr/>
        </p:nvSpPr>
        <p:spPr>
          <a:xfrm>
            <a:off x="8001000" y="1524000"/>
            <a:ext cx="3175000" cy="762000"/>
          </a:xfrm>
          <a:prstGeom prst="roundRect">
            <a:avLst>
              <a:gd name="adj" fmla="val 20000"/>
            </a:avLst>
          </a:prstGeom>
          <a:solidFill>
            <a:srgbClr val="0D948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4" name="AutoShape 24"/>
          <p:cNvSpPr/>
          <p:nvPr/>
        </p:nvSpPr>
        <p:spPr>
          <a:xfrm>
            <a:off x="8509000" y="1651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Poppins"/>
                <a:ea typeface="Poppins"/>
                <a:cs typeface="Poppins"/>
                <a:sym typeface="Poppins"/>
              </a:rPr>
              <a:t>Critical Impact</a:t>
            </a:r>
            <a:endParaRPr lang="en-US" sz="1100" dirty="0"/>
          </a:p>
        </p:txBody>
      </p:sp>
      <p:sp>
        <p:nvSpPr>
          <p:cNvPr id="25" name="AutoShape 25"/>
          <p:cNvSpPr/>
          <p:nvPr/>
        </p:nvSpPr>
        <p:spPr>
          <a:xfrm>
            <a:off x="8204200" y="2540000"/>
            <a:ext cx="2768600" cy="889000"/>
          </a:xfrm>
          <a:prstGeom prst="roundRect">
            <a:avLst>
              <a:gd name="adj" fmla="val 11428"/>
            </a:avLst>
          </a:prstGeom>
          <a:solidFill>
            <a:srgbClr val="0D9488">
              <a:alpha val="10000"/>
            </a:srgbClr>
          </a:solidFill>
          <a:ln w="12700" cap="flat" cmpd="sng">
            <a:solidFill>
              <a:srgbClr val="0D9488">
                <a:alpha val="30000"/>
              </a:srgbClr>
            </a:solidFill>
            <a:prstDash val="solid"/>
            <a:round/>
          </a:ln>
        </p:spPr>
        <p:txBody>
          <a:bodyPr vert="horz" wrap="square" lIns="0" tIns="0" rIns="0" bIns="0" rtlCol="0" anchor="ctr" anchorCtr="0"/>
          <a:lstStyle/>
          <a:p>
            <a:pPr algn="ctr">
              <a:defRPr/>
            </a:pPr>
            <a:endParaRPr/>
          </a:p>
        </p:txBody>
      </p:sp>
      <p:sp>
        <p:nvSpPr>
          <p:cNvPr id="26" name="AutoShape 26"/>
          <p:cNvSpPr/>
          <p:nvPr/>
        </p:nvSpPr>
        <p:spPr>
          <a:xfrm>
            <a:off x="8204200" y="2667000"/>
            <a:ext cx="27686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D9488"/>
                </a:solidFill>
                <a:latin typeface="Poppins"/>
                <a:ea typeface="Poppins"/>
                <a:cs typeface="Poppins"/>
                <a:sym typeface="Poppins"/>
              </a:rPr>
              <a:t>GPU STARVATION</a:t>
            </a:r>
            <a:endParaRPr lang="en-US" sz="1100"/>
          </a:p>
        </p:txBody>
      </p:sp>
      <p:sp>
        <p:nvSpPr>
          <p:cNvPr id="27" name="AutoShape 27"/>
          <p:cNvSpPr/>
          <p:nvPr/>
        </p:nvSpPr>
        <p:spPr>
          <a:xfrm>
            <a:off x="8204200" y="3683000"/>
            <a:ext cx="27686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Poppins"/>
                <a:ea typeface="Poppins"/>
                <a:cs typeface="Poppins"/>
                <a:sym typeface="Poppins"/>
              </a:rPr>
              <a:t>PERFORMANCE DEGRADATION</a:t>
            </a:r>
            <a:endParaRPr lang="en-US" sz="1100"/>
          </a:p>
        </p:txBody>
      </p:sp>
      <p:sp>
        <p:nvSpPr>
          <p:cNvPr id="28" name="AutoShape 28"/>
          <p:cNvSpPr/>
          <p:nvPr/>
        </p:nvSpPr>
        <p:spPr>
          <a:xfrm>
            <a:off x="8204200" y="4127500"/>
            <a:ext cx="27686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b="0" i="0" u="none" strike="noStrike" dirty="0">
                <a:solidFill>
                  <a:srgbClr val="4B5563"/>
                </a:solidFill>
                <a:latin typeface="Poppins"/>
                <a:ea typeface="Poppins"/>
                <a:cs typeface="Poppins"/>
                <a:sym typeface="Poppins"/>
              </a:rPr>
              <a:t>The GPU remains idle for a significant portion of the cycle while the CPU struggles to schedule the next micro-task.</a:t>
            </a:r>
            <a:endParaRPr lang="en-US" sz="1200" dirty="0"/>
          </a:p>
        </p:txBody>
      </p:sp>
      <p:sp>
        <p:nvSpPr>
          <p:cNvPr id="29" name="AutoShape 29"/>
          <p:cNvSpPr/>
          <p:nvPr/>
        </p:nvSpPr>
        <p:spPr>
          <a:xfrm>
            <a:off x="8204200" y="5080000"/>
            <a:ext cx="2768600" cy="508000"/>
          </a:xfrm>
          <a:prstGeom prst="roundRect">
            <a:avLst>
              <a:gd name="adj" fmla="val 50000"/>
            </a:avLst>
          </a:prstGeom>
          <a:solidFill>
            <a:srgbClr val="1F2937">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0" name="AutoShape 30"/>
          <p:cNvSpPr/>
          <p:nvPr/>
        </p:nvSpPr>
        <p:spPr>
          <a:xfrm>
            <a:off x="8204200" y="5181600"/>
            <a:ext cx="27686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1" i="0" u="none" strike="noStrike" dirty="0">
                <a:solidFill>
                  <a:srgbClr val="FFFFFF"/>
                </a:solidFill>
                <a:latin typeface="Poppins"/>
                <a:ea typeface="Poppins"/>
                <a:cs typeface="Poppins"/>
                <a:sym typeface="Poppins"/>
              </a:rPr>
              <a:t>↑ Latency | ↓ Utilization</a:t>
            </a:r>
            <a:endParaRPr lang="en-US" sz="1200" dirty="0"/>
          </a:p>
        </p:txBody>
      </p:sp>
      <p:sp>
        <p:nvSpPr>
          <p:cNvPr id="31" name="AutoShape 6">
            <a:extLst>
              <a:ext uri="{FF2B5EF4-FFF2-40B4-BE49-F238E27FC236}">
                <a16:creationId xmlns:a16="http://schemas.microsoft.com/office/drawing/2014/main" id="{C8777972-48F7-04CF-ECAD-75BE1616E4CA}"/>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8</a:t>
            </a:r>
            <a:endParaRPr lang="en-US" sz="1050" dirty="0">
              <a:solidFill>
                <a:schemeClr val="tx1"/>
              </a:solidFill>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Literature Review II: Nimble</a:t>
            </a:r>
            <a:endParaRPr lang="en-US" sz="1100"/>
          </a:p>
        </p:txBody>
      </p:sp>
      <p:sp>
        <p:nvSpPr>
          <p:cNvPr id="3" name="AutoShape 3"/>
          <p:cNvSpPr/>
          <p:nvPr/>
        </p:nvSpPr>
        <p:spPr>
          <a:xfrm>
            <a:off x="1016000" y="1524000"/>
            <a:ext cx="4826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4" name="AutoShape 4"/>
          <p:cNvSpPr/>
          <p:nvPr/>
        </p:nvSpPr>
        <p:spPr>
          <a:xfrm>
            <a:off x="1270000" y="177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Core Message</a:t>
            </a:r>
            <a:endParaRPr lang="en-US" sz="1100"/>
          </a:p>
        </p:txBody>
      </p:sp>
      <p:sp>
        <p:nvSpPr>
          <p:cNvPr id="5" name="AutoShape 5"/>
          <p:cNvSpPr/>
          <p:nvPr/>
        </p:nvSpPr>
        <p:spPr>
          <a:xfrm>
            <a:off x="1270000" y="2286000"/>
            <a:ext cx="4318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dirty="0">
                <a:solidFill>
                  <a:srgbClr val="4B5563"/>
                </a:solidFill>
                <a:latin typeface="Poppins"/>
                <a:ea typeface="Poppins"/>
                <a:cs typeface="Poppins"/>
                <a:sym typeface="Poppins"/>
              </a:rPr>
              <a:t>Nimble addresses the CPU scheduling bottleneck by eliminating the dynamic dispatch overhead through Ahead-of-Time (AOT) compilation.</a:t>
            </a:r>
            <a:endParaRPr lang="en-US" sz="1100" dirty="0"/>
          </a:p>
        </p:txBody>
      </p:sp>
      <p:sp>
        <p:nvSpPr>
          <p:cNvPr id="6" name="AutoShape 6"/>
          <p:cNvSpPr/>
          <p:nvPr/>
        </p:nvSpPr>
        <p:spPr>
          <a:xfrm>
            <a:off x="6350000" y="1524000"/>
            <a:ext cx="4826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7" name="AutoShape 7"/>
          <p:cNvSpPr/>
          <p:nvPr/>
        </p:nvSpPr>
        <p:spPr>
          <a:xfrm>
            <a:off x="6604000" y="177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Source Paper</a:t>
            </a:r>
            <a:endParaRPr lang="en-US" sz="1100"/>
          </a:p>
        </p:txBody>
      </p:sp>
      <p:sp>
        <p:nvSpPr>
          <p:cNvPr id="8" name="AutoShape 8"/>
          <p:cNvSpPr/>
          <p:nvPr/>
        </p:nvSpPr>
        <p:spPr>
          <a:xfrm>
            <a:off x="6604000" y="2286000"/>
            <a:ext cx="4318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"Nimble: Lightweight and Parallel GPU Task Scheduling for Deep Learning". Focuses on efficient parallel task execution in DL.</a:t>
            </a:r>
            <a:endParaRPr lang="en-US" sz="1100"/>
          </a:p>
        </p:txBody>
      </p:sp>
      <p:sp>
        <p:nvSpPr>
          <p:cNvPr id="9" name="AutoShape 9"/>
          <p:cNvSpPr/>
          <p:nvPr/>
        </p:nvSpPr>
        <p:spPr>
          <a:xfrm>
            <a:off x="1016000" y="4191000"/>
            <a:ext cx="4826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1270000" y="4445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Primary Objective</a:t>
            </a:r>
            <a:endParaRPr lang="en-US" sz="1100"/>
          </a:p>
        </p:txBody>
      </p:sp>
      <p:sp>
        <p:nvSpPr>
          <p:cNvPr id="11" name="AutoShape 11"/>
          <p:cNvSpPr/>
          <p:nvPr/>
        </p:nvSpPr>
        <p:spPr>
          <a:xfrm>
            <a:off x="1270000" y="4953000"/>
            <a:ext cx="4318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Minimize the CPU scheduling overhead for deep learning inference, with a specific focus on handling fine-grained, parallel tasks efficiently.</a:t>
            </a:r>
            <a:endParaRPr lang="en-US" sz="1100"/>
          </a:p>
        </p:txBody>
      </p:sp>
      <p:sp>
        <p:nvSpPr>
          <p:cNvPr id="12" name="AutoShape 12"/>
          <p:cNvSpPr/>
          <p:nvPr/>
        </p:nvSpPr>
        <p:spPr>
          <a:xfrm>
            <a:off x="6350000" y="4191000"/>
            <a:ext cx="4826000" cy="2286000"/>
          </a:xfrm>
          <a:prstGeom prst="roundRect">
            <a:avLst>
              <a:gd name="adj" fmla="val 6666"/>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3" name="AutoShape 13"/>
          <p:cNvSpPr/>
          <p:nvPr/>
        </p:nvSpPr>
        <p:spPr>
          <a:xfrm>
            <a:off x="6604000" y="4445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Key Contribution</a:t>
            </a:r>
            <a:endParaRPr lang="en-US" sz="1100"/>
          </a:p>
        </p:txBody>
      </p:sp>
      <p:sp>
        <p:nvSpPr>
          <p:cNvPr id="14" name="AutoShape 14"/>
          <p:cNvSpPr/>
          <p:nvPr/>
        </p:nvSpPr>
        <p:spPr>
          <a:xfrm>
            <a:off x="6604000" y="4953000"/>
            <a:ext cx="4318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Introduces an AOT scheduling mechanism that bypasses the slow, synchronous dispatch loop of standard deep learning frameworks.</a:t>
            </a:r>
            <a:endParaRPr lang="en-US" sz="1100"/>
          </a:p>
        </p:txBody>
      </p:sp>
      <p:sp>
        <p:nvSpPr>
          <p:cNvPr id="15" name="AutoShape 6">
            <a:extLst>
              <a:ext uri="{FF2B5EF4-FFF2-40B4-BE49-F238E27FC236}">
                <a16:creationId xmlns:a16="http://schemas.microsoft.com/office/drawing/2014/main" id="{DFA953E6-22F6-3909-0437-10AC0CA876D8}"/>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9</a:t>
            </a:r>
            <a:endParaRPr lang="en-US" sz="1050" dirty="0">
              <a:solidFill>
                <a:schemeClr val="tx1"/>
              </a:solidFill>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1F2937"/>
                </a:solidFill>
                <a:latin typeface="Poppins"/>
                <a:ea typeface="Poppins"/>
                <a:cs typeface="Poppins"/>
                <a:sym typeface="Poppins"/>
              </a:rPr>
              <a:t>AOT: Reducing Dispatch Latency to Near Zero</a:t>
            </a:r>
            <a:endParaRPr lang="en-US" sz="1100"/>
          </a:p>
        </p:txBody>
      </p:sp>
      <p:sp>
        <p:nvSpPr>
          <p:cNvPr id="3" name="AutoShape 3"/>
          <p:cNvSpPr/>
          <p:nvPr/>
        </p:nvSpPr>
        <p:spPr>
          <a:xfrm>
            <a:off x="1016000" y="1397000"/>
            <a:ext cx="10160000" cy="1016000"/>
          </a:xfrm>
          <a:prstGeom prst="roundRect">
            <a:avLst>
              <a:gd name="adj" fmla="val 15000"/>
            </a:avLst>
          </a:prstGeom>
          <a:solidFill>
            <a:srgbClr val="ECFEFE">
              <a:alpha val="100000"/>
            </a:srgbClr>
          </a:solidFill>
          <a:ln w="12700" cap="flat" cmpd="sng">
            <a:solidFill>
              <a:srgbClr val="0D9488">
                <a:alpha val="3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1270000" y="1524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1" i="0" u="none" strike="noStrike" dirty="0">
                <a:solidFill>
                  <a:srgbClr val="374151"/>
                </a:solidFill>
                <a:latin typeface="Poppins"/>
                <a:ea typeface="Poppins"/>
                <a:cs typeface="Poppins"/>
                <a:sym typeface="Poppins"/>
              </a:rPr>
              <a:t>Core Insight: </a:t>
            </a:r>
            <a:r>
              <a:rPr lang="en-US" sz="1600" b="0" i="0" u="none" strike="noStrike" dirty="0">
                <a:solidFill>
                  <a:srgbClr val="4B5563"/>
                </a:solidFill>
                <a:latin typeface="Poppins"/>
                <a:ea typeface="Poppins"/>
                <a:cs typeface="Poppins"/>
                <a:sym typeface="Poppins"/>
              </a:rPr>
              <a:t>Nimble pre-compiles the execution graph during initialization, enabling the CPU to launch all parallel GPU tasks with a </a:t>
            </a:r>
            <a:r>
              <a:rPr lang="en-US" sz="1600" b="1" i="0" u="none" strike="noStrike" dirty="0">
                <a:solidFill>
                  <a:srgbClr val="0D9488"/>
                </a:solidFill>
                <a:latin typeface="Poppins"/>
                <a:ea typeface="Poppins"/>
                <a:cs typeface="Poppins"/>
                <a:sym typeface="Poppins"/>
              </a:rPr>
              <a:t>single, lightweight system call</a:t>
            </a:r>
            <a:r>
              <a:rPr lang="en-US" sz="1600" b="0" i="0" u="none" strike="noStrike" dirty="0">
                <a:solidFill>
                  <a:srgbClr val="4B5563"/>
                </a:solidFill>
                <a:latin typeface="Poppins"/>
                <a:ea typeface="Poppins"/>
                <a:cs typeface="Poppins"/>
                <a:sym typeface="Poppins"/>
              </a:rPr>
              <a:t>.</a:t>
            </a:r>
            <a:endParaRPr lang="en-US" sz="1200" dirty="0"/>
          </a:p>
        </p:txBody>
      </p:sp>
      <p:sp>
        <p:nvSpPr>
          <p:cNvPr id="5" name="AutoShape 5"/>
          <p:cNvSpPr/>
          <p:nvPr/>
        </p:nvSpPr>
        <p:spPr>
          <a:xfrm>
            <a:off x="1016000" y="2921000"/>
            <a:ext cx="3175000" cy="3175000"/>
          </a:xfrm>
          <a:prstGeom prst="roundRect">
            <a:avLst>
              <a:gd name="adj" fmla="val 48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6" name="AutoShape 6"/>
          <p:cNvSpPr/>
          <p:nvPr/>
        </p:nvSpPr>
        <p:spPr>
          <a:xfrm>
            <a:off x="1270000" y="31750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AOT Mechanism</a:t>
            </a:r>
            <a:endParaRPr lang="en-US" sz="1200" dirty="0"/>
          </a:p>
        </p:txBody>
      </p:sp>
      <p:cxnSp>
        <p:nvCxnSpPr>
          <p:cNvPr id="7" name="Connector 7"/>
          <p:cNvCxnSpPr/>
          <p:nvPr/>
        </p:nvCxnSpPr>
        <p:spPr>
          <a:xfrm rot="-16369">
            <a:off x="1270015" y="3867150"/>
            <a:ext cx="266703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1270000" y="4064000"/>
            <a:ext cx="2667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b="0" i="0" u="none" strike="noStrike" dirty="0">
                <a:solidFill>
                  <a:srgbClr val="4B5563"/>
                </a:solidFill>
                <a:latin typeface="Poppins"/>
                <a:ea typeface="Poppins"/>
                <a:cs typeface="Poppins"/>
                <a:sym typeface="Poppins"/>
              </a:rPr>
              <a:t>1.</a:t>
            </a:r>
            <a:r>
              <a:rPr lang="en-US" b="1" i="0" u="none" strike="noStrike" dirty="0">
                <a:solidFill>
                  <a:srgbClr val="4B5563"/>
                </a:solidFill>
                <a:latin typeface="Poppins"/>
                <a:ea typeface="Poppins"/>
                <a:cs typeface="Poppins"/>
                <a:sym typeface="Poppins"/>
              </a:rPr>
              <a:t>Warm-up: </a:t>
            </a:r>
            <a:r>
              <a:rPr lang="en-US" b="0" i="0" u="none" strike="noStrike" dirty="0">
                <a:solidFill>
                  <a:srgbClr val="4B5563"/>
                </a:solidFill>
                <a:latin typeface="Poppins"/>
                <a:ea typeface="Poppins"/>
                <a:cs typeface="Poppins"/>
                <a:sym typeface="Poppins"/>
              </a:rPr>
              <a:t>Captures the full execution trace into a static topological graph.</a:t>
            </a:r>
            <a:endParaRPr lang="en-US" sz="1200" dirty="0"/>
          </a:p>
          <a:p>
            <a:pPr indent="0" algn="l">
              <a:lnSpc>
                <a:spcPct val="125000"/>
              </a:lnSpc>
            </a:pPr>
            <a:r>
              <a:rPr lang="en-US" b="0" i="0" u="none" strike="noStrike" dirty="0">
                <a:solidFill>
                  <a:srgbClr val="4B5563"/>
                </a:solidFill>
                <a:latin typeface="Poppins"/>
                <a:ea typeface="Poppins"/>
                <a:cs typeface="Poppins"/>
                <a:sym typeface="Poppins"/>
              </a:rPr>
              <a:t>2.</a:t>
            </a:r>
            <a:r>
              <a:rPr lang="en-US" b="1" i="0" u="none" strike="noStrike" dirty="0">
                <a:solidFill>
                  <a:srgbClr val="4B5563"/>
                </a:solidFill>
                <a:latin typeface="Poppins"/>
                <a:ea typeface="Poppins"/>
                <a:cs typeface="Poppins"/>
                <a:sym typeface="Poppins"/>
              </a:rPr>
              <a:t>Mapping: </a:t>
            </a:r>
            <a:r>
              <a:rPr lang="en-US" b="0" i="0" u="none" strike="noStrike" dirty="0">
                <a:solidFill>
                  <a:srgbClr val="4B5563"/>
                </a:solidFill>
                <a:latin typeface="Poppins"/>
                <a:ea typeface="Poppins"/>
                <a:cs typeface="Poppins"/>
                <a:sym typeface="Poppins"/>
              </a:rPr>
              <a:t>Identifies independent ops and maps them to parallel CUDA streams.</a:t>
            </a:r>
          </a:p>
        </p:txBody>
      </p:sp>
      <p:sp>
        <p:nvSpPr>
          <p:cNvPr id="9" name="AutoShape 9"/>
          <p:cNvSpPr/>
          <p:nvPr/>
        </p:nvSpPr>
        <p:spPr>
          <a:xfrm>
            <a:off x="4445000" y="2921000"/>
            <a:ext cx="3175000" cy="3175000"/>
          </a:xfrm>
          <a:prstGeom prst="roundRect">
            <a:avLst>
              <a:gd name="adj" fmla="val 48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4699000" y="31750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Live Inference</a:t>
            </a:r>
            <a:endParaRPr lang="en-US" sz="1200" dirty="0"/>
          </a:p>
        </p:txBody>
      </p:sp>
      <p:cxnSp>
        <p:nvCxnSpPr>
          <p:cNvPr id="11" name="Connector 11"/>
          <p:cNvCxnSpPr/>
          <p:nvPr/>
        </p:nvCxnSpPr>
        <p:spPr>
          <a:xfrm rot="-16369">
            <a:off x="4699015" y="3867150"/>
            <a:ext cx="266703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2" name="AutoShape 12"/>
          <p:cNvSpPr/>
          <p:nvPr/>
        </p:nvSpPr>
        <p:spPr>
          <a:xfrm>
            <a:off x="4699000" y="4064000"/>
            <a:ext cx="2667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b="0" i="0" u="none" strike="noStrike" dirty="0">
                <a:solidFill>
                  <a:srgbClr val="4B5563"/>
                </a:solidFill>
                <a:latin typeface="Poppins"/>
                <a:ea typeface="Poppins"/>
                <a:cs typeface="Poppins"/>
                <a:sym typeface="Poppins"/>
              </a:rPr>
              <a:t>• The CPU issues a single, low-overhead </a:t>
            </a:r>
            <a:r>
              <a:rPr lang="en-US" b="0" i="0" u="none" strike="noStrike" dirty="0" err="1">
                <a:solidFill>
                  <a:srgbClr val="4B5563"/>
                </a:solidFill>
                <a:latin typeface="Poppins"/>
                <a:ea typeface="Poppins"/>
                <a:cs typeface="Poppins"/>
                <a:sym typeface="Poppins"/>
              </a:rPr>
              <a:t>syscall</a:t>
            </a:r>
            <a:r>
              <a:rPr lang="en-US" b="0" i="0" u="none" strike="noStrike" dirty="0">
                <a:solidFill>
                  <a:srgbClr val="4B5563"/>
                </a:solidFill>
                <a:latin typeface="Poppins"/>
                <a:ea typeface="Poppins"/>
                <a:cs typeface="Poppins"/>
                <a:sym typeface="Poppins"/>
              </a:rPr>
              <a:t> to launch the pre-compiled graph.</a:t>
            </a:r>
            <a:endParaRPr lang="en-US" sz="1200" dirty="0"/>
          </a:p>
          <a:p>
            <a:pPr indent="0" algn="l">
              <a:lnSpc>
                <a:spcPct val="125000"/>
              </a:lnSpc>
            </a:pPr>
            <a:r>
              <a:rPr lang="en-US" b="0" i="0" u="none" strike="noStrike" dirty="0">
                <a:solidFill>
                  <a:srgbClr val="4B5563"/>
                </a:solidFill>
                <a:latin typeface="Poppins"/>
                <a:ea typeface="Poppins"/>
                <a:cs typeface="Poppins"/>
                <a:sym typeface="Poppins"/>
              </a:rPr>
              <a:t>• Effectively reduces per-chunk </a:t>
            </a:r>
            <a:r>
              <a:rPr lang="en-US" b="1" i="0" u="none" strike="noStrike" dirty="0" err="1">
                <a:solidFill>
                  <a:srgbClr val="4B5563"/>
                </a:solidFill>
                <a:latin typeface="Poppins"/>
                <a:ea typeface="Poppins"/>
                <a:cs typeface="Poppins"/>
                <a:sym typeface="Poppins"/>
              </a:rPr>
              <a:t>T</a:t>
            </a:r>
            <a:r>
              <a:rPr lang="en-US" b="1" i="0" u="none" strike="noStrike" baseline="-25000" dirty="0" err="1">
                <a:solidFill>
                  <a:srgbClr val="4B5563"/>
                </a:solidFill>
                <a:latin typeface="Poppins"/>
                <a:ea typeface="Poppins"/>
                <a:cs typeface="Poppins"/>
                <a:sym typeface="Poppins"/>
              </a:rPr>
              <a:t>cpu_dispatch</a:t>
            </a:r>
            <a:r>
              <a:rPr lang="en-US" b="1" i="0" u="none" strike="noStrike" baseline="-25000" dirty="0">
                <a:solidFill>
                  <a:srgbClr val="4B5563"/>
                </a:solidFill>
                <a:latin typeface="Poppins"/>
                <a:ea typeface="Poppins"/>
                <a:cs typeface="Poppins"/>
                <a:sym typeface="Poppins"/>
              </a:rPr>
              <a:t> </a:t>
            </a:r>
            <a:r>
              <a:rPr lang="en-US" b="0" i="0" u="none" strike="noStrike" dirty="0">
                <a:solidFill>
                  <a:srgbClr val="4B5563"/>
                </a:solidFill>
                <a:latin typeface="Poppins"/>
                <a:ea typeface="Poppins"/>
                <a:cs typeface="Poppins"/>
                <a:sym typeface="Poppins"/>
              </a:rPr>
              <a:t>to </a:t>
            </a:r>
            <a:r>
              <a:rPr lang="en-US" b="1" i="0" u="none" strike="noStrike" dirty="0">
                <a:solidFill>
                  <a:srgbClr val="0D9488"/>
                </a:solidFill>
                <a:latin typeface="Poppins"/>
                <a:ea typeface="Poppins"/>
                <a:cs typeface="Poppins"/>
                <a:sym typeface="Poppins"/>
              </a:rPr>
              <a:t>near zero</a:t>
            </a:r>
            <a:r>
              <a:rPr lang="en-US" b="0" i="0" u="none" strike="noStrike" dirty="0">
                <a:solidFill>
                  <a:srgbClr val="4B5563"/>
                </a:solidFill>
                <a:latin typeface="Poppins"/>
                <a:ea typeface="Poppins"/>
                <a:cs typeface="Poppins"/>
                <a:sym typeface="Poppins"/>
              </a:rPr>
              <a:t>.</a:t>
            </a:r>
          </a:p>
        </p:txBody>
      </p:sp>
      <p:sp>
        <p:nvSpPr>
          <p:cNvPr id="13" name="AutoShape 13"/>
          <p:cNvSpPr/>
          <p:nvPr/>
        </p:nvSpPr>
        <p:spPr>
          <a:xfrm>
            <a:off x="7874000" y="2921000"/>
            <a:ext cx="3175000" cy="3175000"/>
          </a:xfrm>
          <a:prstGeom prst="roundRect">
            <a:avLst>
              <a:gd name="adj" fmla="val 48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4" name="AutoShape 14"/>
          <p:cNvSpPr/>
          <p:nvPr/>
        </p:nvSpPr>
        <p:spPr>
          <a:xfrm>
            <a:off x="8128000" y="31750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VC Application</a:t>
            </a:r>
            <a:endParaRPr lang="en-US" sz="1200" dirty="0"/>
          </a:p>
        </p:txBody>
      </p:sp>
      <p:cxnSp>
        <p:nvCxnSpPr>
          <p:cNvPr id="15" name="Connector 15"/>
          <p:cNvCxnSpPr/>
          <p:nvPr/>
        </p:nvCxnSpPr>
        <p:spPr>
          <a:xfrm rot="-16369">
            <a:off x="8128015" y="3867150"/>
            <a:ext cx="266703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8128000" y="4064000"/>
            <a:ext cx="2667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b="0" i="0" u="none" strike="noStrike" dirty="0">
                <a:solidFill>
                  <a:srgbClr val="4B5563"/>
                </a:solidFill>
                <a:latin typeface="Poppins"/>
                <a:ea typeface="Poppins"/>
                <a:cs typeface="Poppins"/>
                <a:sym typeface="Poppins"/>
              </a:rPr>
              <a:t>• Guarantees </a:t>
            </a:r>
            <a:r>
              <a:rPr lang="en-US" b="1" i="0" u="none" strike="noStrike" dirty="0">
                <a:solidFill>
                  <a:srgbClr val="4B5563"/>
                </a:solidFill>
                <a:latin typeface="Poppins"/>
                <a:ea typeface="Poppins"/>
                <a:cs typeface="Poppins"/>
                <a:sym typeface="Poppins"/>
              </a:rPr>
              <a:t>deterministic execution </a:t>
            </a:r>
            <a:r>
              <a:rPr lang="en-US" b="0" i="0" u="none" strike="noStrike" dirty="0">
                <a:solidFill>
                  <a:srgbClr val="4B5563"/>
                </a:solidFill>
                <a:latin typeface="Poppins"/>
                <a:ea typeface="Poppins"/>
                <a:cs typeface="Poppins"/>
                <a:sym typeface="Poppins"/>
              </a:rPr>
              <a:t>for feature extraction.</a:t>
            </a:r>
            <a:endParaRPr lang="en-US" sz="1200" dirty="0"/>
          </a:p>
          <a:p>
            <a:pPr indent="0" algn="l">
              <a:lnSpc>
                <a:spcPct val="125000"/>
              </a:lnSpc>
            </a:pPr>
            <a:r>
              <a:rPr lang="en-US" b="0" i="0" u="none" strike="noStrike" dirty="0">
                <a:solidFill>
                  <a:srgbClr val="4B5563"/>
                </a:solidFill>
                <a:latin typeface="Poppins"/>
                <a:ea typeface="Poppins"/>
                <a:cs typeface="Poppins"/>
                <a:sym typeface="Poppins"/>
              </a:rPr>
              <a:t>• Ensures completion well within the </a:t>
            </a:r>
            <a:r>
              <a:rPr lang="en-US" b="1" i="0" u="none" strike="noStrike" dirty="0" err="1">
                <a:solidFill>
                  <a:srgbClr val="4B5563"/>
                </a:solidFill>
                <a:latin typeface="Poppins"/>
                <a:ea typeface="Poppins"/>
                <a:cs typeface="Poppins"/>
                <a:sym typeface="Poppins"/>
              </a:rPr>
              <a:t>Δt</a:t>
            </a:r>
            <a:r>
              <a:rPr lang="en-US" b="1" i="0" u="none" strike="noStrike" dirty="0">
                <a:solidFill>
                  <a:srgbClr val="4B5563"/>
                </a:solidFill>
                <a:latin typeface="Poppins"/>
                <a:ea typeface="Poppins"/>
                <a:cs typeface="Poppins"/>
                <a:sym typeface="Poppins"/>
              </a:rPr>
              <a:t> deadline</a:t>
            </a:r>
            <a:r>
              <a:rPr lang="en-US" b="0" i="0" u="none" strike="noStrike" dirty="0">
                <a:solidFill>
                  <a:srgbClr val="4B5563"/>
                </a:solidFill>
                <a:latin typeface="Poppins"/>
                <a:ea typeface="Poppins"/>
                <a:cs typeface="Poppins"/>
                <a:sym typeface="Poppins"/>
              </a:rPr>
              <a:t>, freeing up headroom for synthesis.</a:t>
            </a:r>
          </a:p>
        </p:txBody>
      </p:sp>
      <p:sp>
        <p:nvSpPr>
          <p:cNvPr id="17" name="AutoShape 6">
            <a:extLst>
              <a:ext uri="{FF2B5EF4-FFF2-40B4-BE49-F238E27FC236}">
                <a16:creationId xmlns:a16="http://schemas.microsoft.com/office/drawing/2014/main" id="{88DC8146-5A29-0FDC-E933-BE5540199FBE}"/>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10</a:t>
            </a:r>
            <a:endParaRPr lang="en-US" sz="1050" dirty="0">
              <a:solidFill>
                <a:schemeClr val="tx1"/>
              </a:solidFill>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937"/>
                </a:solidFill>
                <a:latin typeface="Poppins"/>
                <a:ea typeface="Poppins"/>
                <a:cs typeface="Poppins"/>
                <a:sym typeface="Poppins"/>
              </a:rPr>
              <a:t>Memory Bottleneck Analysis: Contiguous vs. Non-contiguous</a:t>
            </a:r>
            <a:endParaRPr lang="en-US" sz="1100"/>
          </a:p>
        </p:txBody>
      </p:sp>
      <p:sp>
        <p:nvSpPr>
          <p:cNvPr id="4" name="AutoShape 4"/>
          <p:cNvSpPr/>
          <p:nvPr/>
        </p:nvSpPr>
        <p:spPr>
          <a:xfrm>
            <a:off x="1016000" y="1397000"/>
            <a:ext cx="10160000" cy="889000"/>
          </a:xfrm>
          <a:prstGeom prst="roundRect">
            <a:avLst>
              <a:gd name="adj" fmla="val 17142"/>
            </a:avLst>
          </a:prstGeom>
          <a:solidFill>
            <a:srgbClr val="ECFCFD">
              <a:alpha val="100000"/>
            </a:srgbClr>
          </a:solidFill>
          <a:ln w="12700" cap="flat" cmpd="sng">
            <a:solidFill>
              <a:srgbClr val="0D9488">
                <a:alpha val="2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1270000" y="15240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1" i="0" u="none" strike="noStrike" dirty="0">
                <a:solidFill>
                  <a:srgbClr val="374151"/>
                </a:solidFill>
                <a:latin typeface="Poppins"/>
                <a:ea typeface="Poppins"/>
                <a:cs typeface="Poppins"/>
                <a:sym typeface="Poppins"/>
              </a:rPr>
              <a:t>Core Insight: </a:t>
            </a:r>
            <a:r>
              <a:rPr lang="en-US" sz="1600" b="0" i="0" u="none" strike="noStrike" dirty="0">
                <a:solidFill>
                  <a:srgbClr val="374151"/>
                </a:solidFill>
                <a:latin typeface="Poppins"/>
                <a:ea typeface="Poppins"/>
                <a:cs typeface="Poppins"/>
                <a:sym typeface="Poppins"/>
              </a:rPr>
              <a:t>The root bottleneck lies in the conflict between the GPU's strict requirement for contiguous physical memory and the OS's inability to efficiently allocate it for dynamically growing data structures.</a:t>
            </a:r>
            <a:endParaRPr lang="en-US" sz="1200" dirty="0"/>
          </a:p>
        </p:txBody>
      </p:sp>
      <p:sp>
        <p:nvSpPr>
          <p:cNvPr id="6" name="AutoShape 6"/>
          <p:cNvSpPr/>
          <p:nvPr/>
        </p:nvSpPr>
        <p:spPr>
          <a:xfrm>
            <a:off x="1016000" y="2540000"/>
            <a:ext cx="4953000" cy="3683000"/>
          </a:xfrm>
          <a:prstGeom prst="roundRect">
            <a:avLst>
              <a:gd name="adj" fmla="val 5517"/>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7" name="AutoShape 7"/>
          <p:cNvSpPr/>
          <p:nvPr/>
        </p:nvSpPr>
        <p:spPr>
          <a:xfrm>
            <a:off x="1270000" y="2647697"/>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D9488"/>
                </a:solidFill>
                <a:latin typeface="Poppins"/>
                <a:ea typeface="Poppins"/>
                <a:cs typeface="Poppins"/>
                <a:sym typeface="Poppins"/>
              </a:rPr>
              <a:t>Contiguous Memory</a:t>
            </a:r>
            <a:endParaRPr lang="en-US" sz="1200" dirty="0"/>
          </a:p>
        </p:txBody>
      </p:sp>
      <p:sp>
        <p:nvSpPr>
          <p:cNvPr id="8" name="AutoShape 8"/>
          <p:cNvSpPr/>
          <p:nvPr/>
        </p:nvSpPr>
        <p:spPr>
          <a:xfrm>
            <a:off x="1270000" y="3297327"/>
            <a:ext cx="4445000" cy="1143000"/>
          </a:xfrm>
          <a:prstGeom prst="roundRect">
            <a:avLst>
              <a:gd name="adj" fmla="val 8888"/>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1460500" y="3424327"/>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Hardware Requirement</a:t>
            </a:r>
            <a:endParaRPr lang="en-US" sz="1200" dirty="0"/>
          </a:p>
        </p:txBody>
      </p:sp>
      <p:sp>
        <p:nvSpPr>
          <p:cNvPr id="10" name="AutoShape 10"/>
          <p:cNvSpPr/>
          <p:nvPr/>
        </p:nvSpPr>
        <p:spPr>
          <a:xfrm>
            <a:off x="1460500" y="3741827"/>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b="0" i="0" u="none" strike="noStrike" dirty="0">
                <a:solidFill>
                  <a:srgbClr val="4B5563"/>
                </a:solidFill>
                <a:latin typeface="Poppins"/>
                <a:ea typeface="Poppins"/>
                <a:cs typeface="Poppins"/>
                <a:sym typeface="Poppins"/>
              </a:rPr>
              <a:t>GPUs rely on contiguous blocks for efficient SIMD memory access patterns, which is critical for tensor computation throughput.</a:t>
            </a:r>
            <a:endParaRPr lang="en-US" sz="1200" dirty="0"/>
          </a:p>
        </p:txBody>
      </p:sp>
      <p:sp>
        <p:nvSpPr>
          <p:cNvPr id="11" name="AutoShape 11"/>
          <p:cNvSpPr/>
          <p:nvPr/>
        </p:nvSpPr>
        <p:spPr>
          <a:xfrm>
            <a:off x="1270000" y="4694327"/>
            <a:ext cx="4445000" cy="1143000"/>
          </a:xfrm>
          <a:prstGeom prst="roundRect">
            <a:avLst>
              <a:gd name="adj" fmla="val 8888"/>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1460500" y="4821327"/>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Scalability Disaster</a:t>
            </a:r>
            <a:endParaRPr lang="en-US" sz="1200" dirty="0"/>
          </a:p>
        </p:txBody>
      </p:sp>
      <p:sp>
        <p:nvSpPr>
          <p:cNvPr id="13" name="AutoShape 13"/>
          <p:cNvSpPr/>
          <p:nvPr/>
        </p:nvSpPr>
        <p:spPr>
          <a:xfrm>
            <a:off x="1460500" y="5138827"/>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b="0" i="0" u="none" strike="noStrike" dirty="0">
                <a:solidFill>
                  <a:srgbClr val="4B5563"/>
                </a:solidFill>
                <a:latin typeface="Poppins"/>
                <a:ea typeface="Poppins"/>
                <a:cs typeface="Poppins"/>
                <a:sym typeface="Poppins"/>
              </a:rPr>
              <a:t>Growth triggers full reallocations &amp; copies, leading to </a:t>
            </a:r>
            <a:r>
              <a:rPr lang="en-US" b="1" i="0" u="none" strike="noStrike" dirty="0">
                <a:solidFill>
                  <a:srgbClr val="4B5563"/>
                </a:solidFill>
                <a:latin typeface="Poppins"/>
                <a:ea typeface="Poppins"/>
                <a:cs typeface="Poppins"/>
                <a:sym typeface="Poppins"/>
              </a:rPr>
              <a:t>O(T²) </a:t>
            </a:r>
            <a:r>
              <a:rPr lang="en-US" b="0" i="0" u="none" strike="noStrike" dirty="0">
                <a:solidFill>
                  <a:srgbClr val="4B5563"/>
                </a:solidFill>
                <a:latin typeface="Poppins"/>
                <a:ea typeface="Poppins"/>
                <a:cs typeface="Poppins"/>
                <a:sym typeface="Poppins"/>
              </a:rPr>
              <a:t>bandwidth overhead and severe memory fragmentation over time.</a:t>
            </a:r>
            <a:endParaRPr lang="en-US" sz="1200" dirty="0"/>
          </a:p>
        </p:txBody>
      </p:sp>
      <p:sp>
        <p:nvSpPr>
          <p:cNvPr id="14" name="AutoShape 14"/>
          <p:cNvSpPr/>
          <p:nvPr/>
        </p:nvSpPr>
        <p:spPr>
          <a:xfrm>
            <a:off x="6223000" y="2540000"/>
            <a:ext cx="4953000" cy="3683000"/>
          </a:xfrm>
          <a:prstGeom prst="roundRect">
            <a:avLst>
              <a:gd name="adj" fmla="val 5517"/>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5" name="AutoShape 15"/>
          <p:cNvSpPr/>
          <p:nvPr/>
        </p:nvSpPr>
        <p:spPr>
          <a:xfrm>
            <a:off x="6477000" y="259649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D9488"/>
                </a:solidFill>
                <a:latin typeface="Poppins"/>
                <a:ea typeface="Poppins"/>
                <a:cs typeface="Poppins"/>
                <a:sym typeface="Poppins"/>
              </a:rPr>
              <a:t>Non-contiguous Memory </a:t>
            </a:r>
            <a:endParaRPr lang="en-US" sz="1200" dirty="0"/>
          </a:p>
        </p:txBody>
      </p:sp>
      <p:sp>
        <p:nvSpPr>
          <p:cNvPr id="16" name="AutoShape 16"/>
          <p:cNvSpPr/>
          <p:nvPr/>
        </p:nvSpPr>
        <p:spPr>
          <a:xfrm>
            <a:off x="6477000" y="3143708"/>
            <a:ext cx="4445000" cy="889000"/>
          </a:xfrm>
          <a:prstGeom prst="roundRect">
            <a:avLst>
              <a:gd name="adj" fmla="val 11428"/>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6667500" y="3212188"/>
            <a:ext cx="4064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Inspiration: OS Virtual Memory</a:t>
            </a:r>
            <a:endParaRPr lang="en-US" dirty="0"/>
          </a:p>
        </p:txBody>
      </p:sp>
      <p:sp>
        <p:nvSpPr>
          <p:cNvPr id="18" name="AutoShape 18"/>
          <p:cNvSpPr/>
          <p:nvPr/>
        </p:nvSpPr>
        <p:spPr>
          <a:xfrm>
            <a:off x="6667500" y="3515057"/>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b="0" i="0" u="none" strike="noStrike" dirty="0">
                <a:solidFill>
                  <a:srgbClr val="4B5563"/>
                </a:solidFill>
                <a:latin typeface="Poppins"/>
                <a:ea typeface="Poppins"/>
                <a:cs typeface="Poppins"/>
                <a:sym typeface="Poppins"/>
              </a:rPr>
              <a:t>Leverages the classic page table mechanism to abstract physical memory layout.</a:t>
            </a:r>
            <a:endParaRPr lang="en-US" dirty="0"/>
          </a:p>
        </p:txBody>
      </p:sp>
      <p:sp>
        <p:nvSpPr>
          <p:cNvPr id="19" name="AutoShape 19"/>
          <p:cNvSpPr/>
          <p:nvPr/>
        </p:nvSpPr>
        <p:spPr>
          <a:xfrm>
            <a:off x="6477000" y="4159708"/>
            <a:ext cx="4445000" cy="1016000"/>
          </a:xfrm>
          <a:prstGeom prst="roundRect">
            <a:avLst>
              <a:gd name="adj" fmla="val 1000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0" name="AutoShape 20"/>
          <p:cNvSpPr/>
          <p:nvPr/>
        </p:nvSpPr>
        <p:spPr>
          <a:xfrm>
            <a:off x="6667500" y="4228188"/>
            <a:ext cx="4064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Virtual-to-Physical Mapping</a:t>
            </a:r>
            <a:endParaRPr lang="en-US" dirty="0"/>
          </a:p>
        </p:txBody>
      </p:sp>
      <p:sp>
        <p:nvSpPr>
          <p:cNvPr id="21" name="AutoShape 21"/>
          <p:cNvSpPr/>
          <p:nvPr/>
        </p:nvSpPr>
        <p:spPr>
          <a:xfrm>
            <a:off x="6667500" y="4560318"/>
            <a:ext cx="431993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b="0" i="0" u="none" strike="noStrike" dirty="0">
                <a:solidFill>
                  <a:srgbClr val="4B5563"/>
                </a:solidFill>
                <a:latin typeface="Poppins"/>
                <a:ea typeface="Poppins"/>
                <a:cs typeface="Poppins"/>
                <a:sym typeface="Poppins"/>
              </a:rPr>
              <a:t>Presents a contiguous virtual address space to the app, mapped to fragmented physical pages.</a:t>
            </a:r>
            <a:endParaRPr lang="en-US" dirty="0"/>
          </a:p>
        </p:txBody>
      </p:sp>
      <p:sp>
        <p:nvSpPr>
          <p:cNvPr id="22" name="AutoShape 22"/>
          <p:cNvSpPr/>
          <p:nvPr/>
        </p:nvSpPr>
        <p:spPr>
          <a:xfrm>
            <a:off x="6477000" y="5302708"/>
            <a:ext cx="4445000" cy="825500"/>
          </a:xfrm>
          <a:prstGeom prst="roundRect">
            <a:avLst>
              <a:gd name="adj" fmla="val 12307"/>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3" name="AutoShape 23"/>
          <p:cNvSpPr/>
          <p:nvPr/>
        </p:nvSpPr>
        <p:spPr>
          <a:xfrm>
            <a:off x="6667500" y="5349243"/>
            <a:ext cx="4064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Poppins"/>
                <a:ea typeface="Poppins"/>
                <a:cs typeface="Poppins"/>
                <a:sym typeface="Poppins"/>
              </a:rPr>
              <a:t>Zero-Copy Growth</a:t>
            </a:r>
            <a:endParaRPr lang="en-US" dirty="0"/>
          </a:p>
        </p:txBody>
      </p:sp>
      <p:sp>
        <p:nvSpPr>
          <p:cNvPr id="24" name="AutoShape 24"/>
          <p:cNvSpPr/>
          <p:nvPr/>
        </p:nvSpPr>
        <p:spPr>
          <a:xfrm>
            <a:off x="6667500" y="5683708"/>
            <a:ext cx="4064000" cy="31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b="0" i="0" u="none" strike="noStrike" dirty="0">
                <a:solidFill>
                  <a:srgbClr val="4B5563"/>
                </a:solidFill>
                <a:latin typeface="Poppins"/>
                <a:ea typeface="Poppins"/>
                <a:cs typeface="Poppins"/>
                <a:sym typeface="Poppins"/>
              </a:rPr>
              <a:t>Eliminates expensive data copies; memory scales by allocating new pages.</a:t>
            </a:r>
            <a:endParaRPr lang="en-US" dirty="0"/>
          </a:p>
        </p:txBody>
      </p:sp>
      <p:sp>
        <p:nvSpPr>
          <p:cNvPr id="25" name="AutoShape 6">
            <a:extLst>
              <a:ext uri="{FF2B5EF4-FFF2-40B4-BE49-F238E27FC236}">
                <a16:creationId xmlns:a16="http://schemas.microsoft.com/office/drawing/2014/main" id="{075A2D0E-DB6F-E657-4C7B-B202508E064C}"/>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11</a:t>
            </a:r>
            <a:endParaRPr lang="en-US" sz="1050" dirty="0">
              <a:solidFill>
                <a:schemeClr val="tx1"/>
              </a:solidFill>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1F2937"/>
                </a:solidFill>
                <a:latin typeface="Poppins"/>
                <a:ea typeface="Poppins"/>
                <a:cs typeface="Poppins"/>
                <a:sym typeface="Poppins"/>
              </a:rPr>
              <a:t>Literature Review III: PagedAttention</a:t>
            </a:r>
            <a:endParaRPr lang="en-US" sz="1100"/>
          </a:p>
        </p:txBody>
      </p:sp>
      <p:sp>
        <p:nvSpPr>
          <p:cNvPr id="3" name="AutoShape 3"/>
          <p:cNvSpPr/>
          <p:nvPr/>
        </p:nvSpPr>
        <p:spPr>
          <a:xfrm>
            <a:off x="1016000" y="1524000"/>
            <a:ext cx="4826000" cy="2159000"/>
          </a:xfrm>
          <a:prstGeom prst="roundRect">
            <a:avLst>
              <a:gd name="adj" fmla="val 7058"/>
            </a:avLst>
          </a:prstGeom>
          <a:solidFill>
            <a:srgbClr val="FFFFFF">
              <a:alpha val="95000"/>
            </a:srgbClr>
          </a:solidFill>
          <a:ln w="25400" cap="flat" cmpd="sng">
            <a:noFill/>
            <a:prstDash val="solid"/>
            <a:round/>
          </a:ln>
          <a:effectLst>
            <a:outerShdw blurRad="203200" dist="50800" dir="5400000" algn="tl" rotWithShape="0">
              <a:srgbClr val="000000">
                <a:alpha val="6000"/>
              </a:srgbClr>
            </a:outerShdw>
          </a:effectLst>
        </p:spPr>
        <p:txBody>
          <a:bodyPr vert="horz" wrap="square" lIns="0" tIns="0" rIns="0" bIns="0" rtlCol="0" anchor="ctr" anchorCtr="0"/>
          <a:lstStyle/>
          <a:p>
            <a:pPr algn="ctr">
              <a:defRPr/>
            </a:pPr>
            <a:endParaRPr/>
          </a:p>
        </p:txBody>
      </p:sp>
      <p:sp>
        <p:nvSpPr>
          <p:cNvPr id="4" name="AutoShape 4"/>
          <p:cNvSpPr/>
          <p:nvPr/>
        </p:nvSpPr>
        <p:spPr>
          <a:xfrm>
            <a:off x="1270000" y="177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Core Message</a:t>
            </a:r>
            <a:endParaRPr lang="en-US" sz="1100"/>
          </a:p>
        </p:txBody>
      </p:sp>
      <p:sp>
        <p:nvSpPr>
          <p:cNvPr id="5" name="AutoShape 5"/>
          <p:cNvSpPr/>
          <p:nvPr/>
        </p:nvSpPr>
        <p:spPr>
          <a:xfrm>
            <a:off x="1270000" y="2286000"/>
            <a:ext cx="4318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PagedAttention (SOSP 2023) successfully applies OS virtual memory principles to the user-space management of LLM KV-caches, solving a similar memory scaling problem.</a:t>
            </a:r>
            <a:endParaRPr lang="en-US" sz="1100"/>
          </a:p>
        </p:txBody>
      </p:sp>
      <p:sp>
        <p:nvSpPr>
          <p:cNvPr id="6" name="AutoShape 6"/>
          <p:cNvSpPr/>
          <p:nvPr/>
        </p:nvSpPr>
        <p:spPr>
          <a:xfrm>
            <a:off x="6350000" y="1524000"/>
            <a:ext cx="4826000" cy="2159000"/>
          </a:xfrm>
          <a:prstGeom prst="roundRect">
            <a:avLst>
              <a:gd name="adj" fmla="val 7058"/>
            </a:avLst>
          </a:prstGeom>
          <a:solidFill>
            <a:srgbClr val="FFFFFF">
              <a:alpha val="95000"/>
            </a:srgbClr>
          </a:solidFill>
          <a:ln w="25400" cap="flat" cmpd="sng">
            <a:noFill/>
            <a:prstDash val="solid"/>
            <a:round/>
          </a:ln>
          <a:effectLst>
            <a:outerShdw blurRad="203200" dist="50800" dir="5400000" algn="tl" rotWithShape="0">
              <a:srgbClr val="000000">
                <a:alpha val="6000"/>
              </a:srgbClr>
            </a:outerShdw>
          </a:effectLst>
        </p:spPr>
        <p:txBody>
          <a:bodyPr vert="horz" wrap="square" lIns="0" tIns="0" rIns="0" bIns="0" rtlCol="0" anchor="ctr" anchorCtr="0"/>
          <a:lstStyle/>
          <a:p>
            <a:pPr algn="ctr">
              <a:defRPr/>
            </a:pPr>
            <a:endParaRPr/>
          </a:p>
        </p:txBody>
      </p:sp>
      <p:sp>
        <p:nvSpPr>
          <p:cNvPr id="7" name="AutoShape 7"/>
          <p:cNvSpPr/>
          <p:nvPr/>
        </p:nvSpPr>
        <p:spPr>
          <a:xfrm>
            <a:off x="6604000" y="177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Published In (SOSP 2023)</a:t>
            </a:r>
            <a:endParaRPr lang="en-US" sz="1100"/>
          </a:p>
        </p:txBody>
      </p:sp>
      <p:sp>
        <p:nvSpPr>
          <p:cNvPr id="8" name="AutoShape 8"/>
          <p:cNvSpPr/>
          <p:nvPr/>
        </p:nvSpPr>
        <p:spPr>
          <a:xfrm>
            <a:off x="6604000" y="2286000"/>
            <a:ext cx="4318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1" u="none" strike="noStrike">
                <a:solidFill>
                  <a:srgbClr val="4B5563"/>
                </a:solidFill>
                <a:latin typeface="Poppins"/>
                <a:ea typeface="Poppins"/>
                <a:cs typeface="Poppins"/>
                <a:sym typeface="Poppins"/>
              </a:rPr>
              <a:t>Efficient Memory Management for Large Language Model Serving with PagedAttention</a:t>
            </a:r>
            <a:endParaRPr lang="en-US" sz="1100"/>
          </a:p>
        </p:txBody>
      </p:sp>
      <p:sp>
        <p:nvSpPr>
          <p:cNvPr id="9" name="AutoShape 9"/>
          <p:cNvSpPr/>
          <p:nvPr/>
        </p:nvSpPr>
        <p:spPr>
          <a:xfrm>
            <a:off x="1016000" y="4064000"/>
            <a:ext cx="4826000" cy="2159000"/>
          </a:xfrm>
          <a:prstGeom prst="roundRect">
            <a:avLst>
              <a:gd name="adj" fmla="val 7058"/>
            </a:avLst>
          </a:prstGeom>
          <a:solidFill>
            <a:srgbClr val="FFFFFF">
              <a:alpha val="95000"/>
            </a:srgbClr>
          </a:solidFill>
          <a:ln w="25400" cap="flat" cmpd="sng">
            <a:noFill/>
            <a:prstDash val="solid"/>
            <a:round/>
          </a:ln>
          <a:effectLst>
            <a:outerShdw blurRad="203200" dist="50800" dir="5400000" algn="tl" rotWithShape="0">
              <a:srgbClr val="000000">
                <a:alpha val="6000"/>
              </a:srgbClr>
            </a:outerShdw>
          </a:effectLst>
        </p:spPr>
        <p:txBody>
          <a:bodyPr vert="horz" wrap="square" lIns="0" tIns="0" rIns="0" bIns="0" rtlCol="0" anchor="ctr" anchorCtr="0"/>
          <a:lstStyle/>
          <a:p>
            <a:pPr algn="ctr">
              <a:defRPr/>
            </a:pPr>
            <a:endParaRPr/>
          </a:p>
        </p:txBody>
      </p:sp>
      <p:sp>
        <p:nvSpPr>
          <p:cNvPr id="10" name="AutoShape 10"/>
          <p:cNvSpPr/>
          <p:nvPr/>
        </p:nvSpPr>
        <p:spPr>
          <a:xfrm>
            <a:off x="1270000" y="431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Primary Objective</a:t>
            </a:r>
            <a:endParaRPr lang="en-US" sz="1100"/>
          </a:p>
        </p:txBody>
      </p:sp>
      <p:sp>
        <p:nvSpPr>
          <p:cNvPr id="11" name="AutoShape 11"/>
          <p:cNvSpPr/>
          <p:nvPr/>
        </p:nvSpPr>
        <p:spPr>
          <a:xfrm>
            <a:off x="1270000" y="4826000"/>
            <a:ext cx="4318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Enable efficient serving of large LLMs with massive KV-caches without incurring prohibitive memory overheads on the GPU.</a:t>
            </a:r>
            <a:endParaRPr lang="en-US" sz="1100"/>
          </a:p>
        </p:txBody>
      </p:sp>
      <p:sp>
        <p:nvSpPr>
          <p:cNvPr id="12" name="AutoShape 12"/>
          <p:cNvSpPr/>
          <p:nvPr/>
        </p:nvSpPr>
        <p:spPr>
          <a:xfrm>
            <a:off x="6350000" y="4064000"/>
            <a:ext cx="4826000" cy="2159000"/>
          </a:xfrm>
          <a:prstGeom prst="roundRect">
            <a:avLst>
              <a:gd name="adj" fmla="val 7058"/>
            </a:avLst>
          </a:prstGeom>
          <a:solidFill>
            <a:srgbClr val="FFFFFF">
              <a:alpha val="95000"/>
            </a:srgbClr>
          </a:solidFill>
          <a:ln w="25400" cap="flat" cmpd="sng">
            <a:noFill/>
            <a:prstDash val="solid"/>
            <a:round/>
          </a:ln>
          <a:effectLst>
            <a:outerShdw blurRad="203200" dist="50800" dir="5400000" algn="tl" rotWithShape="0">
              <a:srgbClr val="000000">
                <a:alpha val="6000"/>
              </a:srgbClr>
            </a:outerShdw>
          </a:effectLst>
        </p:spPr>
        <p:txBody>
          <a:bodyPr vert="horz" wrap="square" lIns="0" tIns="0" rIns="0" bIns="0" rtlCol="0" anchor="ctr" anchorCtr="0"/>
          <a:lstStyle/>
          <a:p>
            <a:pPr algn="ctr">
              <a:defRPr/>
            </a:pPr>
            <a:endParaRPr/>
          </a:p>
        </p:txBody>
      </p:sp>
      <p:sp>
        <p:nvSpPr>
          <p:cNvPr id="13" name="AutoShape 13"/>
          <p:cNvSpPr/>
          <p:nvPr/>
        </p:nvSpPr>
        <p:spPr>
          <a:xfrm>
            <a:off x="6604000" y="431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9488"/>
                </a:solidFill>
                <a:latin typeface="Poppins"/>
                <a:ea typeface="Poppins"/>
                <a:cs typeface="Poppins"/>
                <a:sym typeface="Poppins"/>
              </a:rPr>
              <a:t>Key Technical Contribution</a:t>
            </a:r>
            <a:endParaRPr lang="en-US" sz="1100"/>
          </a:p>
        </p:txBody>
      </p:sp>
      <p:sp>
        <p:nvSpPr>
          <p:cNvPr id="14" name="AutoShape 14"/>
          <p:cNvSpPr/>
          <p:nvPr/>
        </p:nvSpPr>
        <p:spPr>
          <a:xfrm>
            <a:off x="6604000" y="4826000"/>
            <a:ext cx="4318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Poppins"/>
                <a:ea typeface="Poppins"/>
                <a:cs typeface="Poppins"/>
                <a:sym typeface="Poppins"/>
              </a:rPr>
              <a:t>Translates the OS concept of virtual memory paging to the management of the attention mechanism's key and value (KV) cache in user space.</a:t>
            </a:r>
            <a:endParaRPr lang="en-US" sz="1100"/>
          </a:p>
        </p:txBody>
      </p:sp>
      <p:sp>
        <p:nvSpPr>
          <p:cNvPr id="15" name="AutoShape 6">
            <a:extLst>
              <a:ext uri="{FF2B5EF4-FFF2-40B4-BE49-F238E27FC236}">
                <a16:creationId xmlns:a16="http://schemas.microsoft.com/office/drawing/2014/main" id="{E19F8458-131A-99A1-460F-39EA27D12A58}"/>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12</a:t>
            </a:r>
            <a:endParaRPr lang="en-US" sz="1050" dirty="0">
              <a:solidFill>
                <a:schemeClr val="tx1"/>
              </a:solidFill>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1F2937"/>
                </a:solidFill>
                <a:latin typeface="Poppins"/>
                <a:ea typeface="Poppins"/>
                <a:cs typeface="Poppins"/>
                <a:sym typeface="Poppins"/>
              </a:rPr>
              <a:t>PagedAudioCache: Audio Virtual Paging</a:t>
            </a:r>
            <a:endParaRPr lang="en-US" sz="1100"/>
          </a:p>
        </p:txBody>
      </p:sp>
      <p:sp>
        <p:nvSpPr>
          <p:cNvPr id="3" name="AutoShape 3"/>
          <p:cNvSpPr/>
          <p:nvPr/>
        </p:nvSpPr>
        <p:spPr>
          <a:xfrm>
            <a:off x="1016000" y="1460500"/>
            <a:ext cx="10160000" cy="1079500"/>
          </a:xfrm>
          <a:prstGeom prst="roundRect">
            <a:avLst>
              <a:gd name="adj" fmla="val 14117"/>
            </a:avLst>
          </a:prstGeom>
          <a:solidFill>
            <a:srgbClr val="0D9488">
              <a:alpha val="8000"/>
            </a:srgbClr>
          </a:solidFill>
          <a:ln w="12700" cap="flat" cmpd="sng">
            <a:solidFill>
              <a:srgbClr val="0D9488">
                <a:alpha val="2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1270000" y="1587500"/>
            <a:ext cx="9652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74151"/>
                </a:solidFill>
                <a:latin typeface="Poppins"/>
                <a:ea typeface="Poppins"/>
                <a:cs typeface="Poppins"/>
                <a:sym typeface="Poppins"/>
              </a:rPr>
              <a:t>Extending </a:t>
            </a:r>
            <a:r>
              <a:rPr lang="en-US" sz="1600" b="0" i="0" u="none" strike="noStrike" dirty="0" err="1">
                <a:solidFill>
                  <a:srgbClr val="374151"/>
                </a:solidFill>
                <a:latin typeface="Poppins"/>
                <a:ea typeface="Poppins"/>
                <a:cs typeface="Poppins"/>
                <a:sym typeface="Poppins"/>
              </a:rPr>
              <a:t>PagedAttention's</a:t>
            </a:r>
            <a:r>
              <a:rPr lang="en-US" sz="1600" b="0" i="0" u="none" strike="noStrike" dirty="0">
                <a:solidFill>
                  <a:srgbClr val="374151"/>
                </a:solidFill>
                <a:latin typeface="Poppins"/>
                <a:ea typeface="Poppins"/>
                <a:cs typeface="Poppins"/>
                <a:sym typeface="Poppins"/>
              </a:rPr>
              <a:t> principles to audio streams, we can manage the context cache with </a:t>
            </a:r>
            <a:r>
              <a:rPr lang="en-US" sz="1600" b="1" i="0" u="none" strike="noStrike" dirty="0">
                <a:solidFill>
                  <a:srgbClr val="0D9488"/>
                </a:solidFill>
                <a:latin typeface="Poppins"/>
                <a:ea typeface="Poppins"/>
                <a:cs typeface="Poppins"/>
                <a:sym typeface="Poppins"/>
              </a:rPr>
              <a:t>O(1) </a:t>
            </a:r>
            <a:r>
              <a:rPr lang="en-US" sz="1600" b="0" i="0" u="none" strike="noStrike" dirty="0">
                <a:solidFill>
                  <a:srgbClr val="374151"/>
                </a:solidFill>
                <a:latin typeface="Poppins"/>
                <a:ea typeface="Poppins"/>
                <a:cs typeface="Poppins"/>
                <a:sym typeface="Poppins"/>
              </a:rPr>
              <a:t>update complexity and eliminate memory fragmentation, addressing the key bottlenecks in real-time audio processing.</a:t>
            </a:r>
            <a:endParaRPr lang="en-US" sz="1200" dirty="0"/>
          </a:p>
        </p:txBody>
      </p:sp>
      <p:sp>
        <p:nvSpPr>
          <p:cNvPr id="5" name="AutoShape 5"/>
          <p:cNvSpPr/>
          <p:nvPr/>
        </p:nvSpPr>
        <p:spPr>
          <a:xfrm>
            <a:off x="1016000" y="3048000"/>
            <a:ext cx="3175000" cy="2921000"/>
          </a:xfrm>
          <a:prstGeom prst="roundRect">
            <a:avLst>
              <a:gd name="adj" fmla="val 5217"/>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0" tIns="0" rIns="0" bIns="0" rtlCol="0" anchor="ctr" anchorCtr="0"/>
          <a:lstStyle/>
          <a:p>
            <a:pPr algn="ctr">
              <a:defRPr/>
            </a:pPr>
            <a:endParaRPr/>
          </a:p>
        </p:txBody>
      </p:sp>
      <p:sp>
        <p:nvSpPr>
          <p:cNvPr id="6" name="AutoShape 6"/>
          <p:cNvSpPr/>
          <p:nvPr/>
        </p:nvSpPr>
        <p:spPr>
          <a:xfrm>
            <a:off x="1269999" y="3140659"/>
            <a:ext cx="238028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0D9488"/>
                </a:solidFill>
                <a:latin typeface="Poppins"/>
                <a:ea typeface="Poppins"/>
                <a:cs typeface="Poppins"/>
                <a:sym typeface="Poppins"/>
              </a:rPr>
              <a:t>Core Concept</a:t>
            </a:r>
            <a:endParaRPr lang="en-US" dirty="0"/>
          </a:p>
        </p:txBody>
      </p:sp>
      <p:cxnSp>
        <p:nvCxnSpPr>
          <p:cNvPr id="7" name="Connector 7"/>
          <p:cNvCxnSpPr/>
          <p:nvPr/>
        </p:nvCxnSpPr>
        <p:spPr>
          <a:xfrm rot="-16369">
            <a:off x="1270015" y="4057650"/>
            <a:ext cx="266703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1270000" y="4188665"/>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4B5563"/>
                </a:solidFill>
                <a:latin typeface="Poppins"/>
                <a:ea typeface="Poppins"/>
                <a:cs typeface="Poppins"/>
                <a:sym typeface="Poppins"/>
              </a:rPr>
              <a:t>Partition acoustic context into fixed-size </a:t>
            </a:r>
            <a:r>
              <a:rPr lang="en-US" sz="1600" b="1" i="0" u="none" strike="noStrike" dirty="0">
                <a:solidFill>
                  <a:srgbClr val="4B5563"/>
                </a:solidFill>
                <a:latin typeface="Poppins"/>
                <a:ea typeface="Poppins"/>
                <a:cs typeface="Poppins"/>
                <a:sym typeface="Poppins"/>
              </a:rPr>
              <a:t>Audio Pages </a:t>
            </a:r>
            <a:r>
              <a:rPr lang="en-US" sz="1600" b="0" i="0" u="none" strike="noStrike" dirty="0">
                <a:solidFill>
                  <a:srgbClr val="4B5563"/>
                </a:solidFill>
                <a:latin typeface="Poppins"/>
                <a:ea typeface="Poppins"/>
                <a:cs typeface="Poppins"/>
                <a:sym typeface="Poppins"/>
              </a:rPr>
              <a:t>(like OS memory).</a:t>
            </a:r>
            <a:endParaRPr lang="en-US" dirty="0"/>
          </a:p>
          <a:p>
            <a:pPr indent="0" algn="l">
              <a:lnSpc>
                <a:spcPct val="125000"/>
              </a:lnSpc>
            </a:pPr>
            <a:r>
              <a:rPr lang="en-US" sz="1600" b="0" i="0" u="none" strike="noStrike" dirty="0">
                <a:solidFill>
                  <a:srgbClr val="4B5563"/>
                </a:solidFill>
                <a:latin typeface="Poppins"/>
                <a:ea typeface="Poppins"/>
                <a:cs typeface="Poppins"/>
                <a:sym typeface="Poppins"/>
              </a:rPr>
              <a:t>Use a </a:t>
            </a:r>
            <a:r>
              <a:rPr lang="en-US" sz="1600" b="1" i="0" u="none" strike="noStrike" dirty="0">
                <a:solidFill>
                  <a:srgbClr val="4B5563"/>
                </a:solidFill>
                <a:latin typeface="Poppins"/>
                <a:ea typeface="Poppins"/>
                <a:cs typeface="Poppins"/>
                <a:sym typeface="Poppins"/>
              </a:rPr>
              <a:t>Block Table </a:t>
            </a:r>
            <a:r>
              <a:rPr lang="en-US" sz="1600" b="0" i="0" u="none" strike="noStrike" dirty="0">
                <a:solidFill>
                  <a:srgbClr val="4B5563"/>
                </a:solidFill>
                <a:latin typeface="Poppins"/>
                <a:ea typeface="Poppins"/>
                <a:cs typeface="Poppins"/>
                <a:sym typeface="Poppins"/>
              </a:rPr>
              <a:t>(analogous to Page Table) for centralized management.</a:t>
            </a:r>
          </a:p>
        </p:txBody>
      </p:sp>
      <p:sp>
        <p:nvSpPr>
          <p:cNvPr id="9" name="AutoShape 9"/>
          <p:cNvSpPr/>
          <p:nvPr/>
        </p:nvSpPr>
        <p:spPr>
          <a:xfrm>
            <a:off x="4508500" y="3048000"/>
            <a:ext cx="3175000" cy="2921000"/>
          </a:xfrm>
          <a:prstGeom prst="roundRect">
            <a:avLst>
              <a:gd name="adj" fmla="val 5217"/>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4762500" y="3140659"/>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0D9488"/>
                </a:solidFill>
                <a:latin typeface="Poppins"/>
                <a:ea typeface="Poppins"/>
                <a:cs typeface="Poppins"/>
                <a:sym typeface="Poppins"/>
              </a:rPr>
              <a:t>Mechanism</a:t>
            </a:r>
            <a:endParaRPr lang="en-US" dirty="0"/>
          </a:p>
        </p:txBody>
      </p:sp>
      <p:cxnSp>
        <p:nvCxnSpPr>
          <p:cNvPr id="11" name="Connector 11"/>
          <p:cNvCxnSpPr/>
          <p:nvPr/>
        </p:nvCxnSpPr>
        <p:spPr>
          <a:xfrm rot="-16369">
            <a:off x="4762515" y="4057650"/>
            <a:ext cx="266703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2" name="AutoShape 12"/>
          <p:cNvSpPr/>
          <p:nvPr/>
        </p:nvSpPr>
        <p:spPr>
          <a:xfrm>
            <a:off x="4762500" y="413014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4B5563"/>
                </a:solidFill>
                <a:latin typeface="Poppins"/>
                <a:ea typeface="Poppins"/>
                <a:cs typeface="Poppins"/>
                <a:sym typeface="Poppins"/>
              </a:rPr>
              <a:t>Write new features </a:t>
            </a:r>
            <a:r>
              <a:rPr lang="en-US" sz="1600" b="0" i="1" u="none" strike="noStrike" dirty="0" err="1">
                <a:solidFill>
                  <a:srgbClr val="4B5563"/>
                </a:solidFill>
                <a:latin typeface="Poppins"/>
                <a:ea typeface="Poppins"/>
                <a:cs typeface="Poppins"/>
                <a:sym typeface="Poppins"/>
              </a:rPr>
              <a:t>h</a:t>
            </a:r>
            <a:r>
              <a:rPr lang="en-US" sz="1600" b="0" i="1" u="none" strike="noStrike" baseline="-25000" dirty="0" err="1">
                <a:solidFill>
                  <a:srgbClr val="4B5563"/>
                </a:solidFill>
                <a:latin typeface="Poppins"/>
                <a:ea typeface="Poppins"/>
                <a:cs typeface="Poppins"/>
                <a:sym typeface="Poppins"/>
              </a:rPr>
              <a:t>t</a:t>
            </a:r>
            <a:r>
              <a:rPr lang="en-US" sz="1600" b="0" i="1" u="none" strike="noStrike" dirty="0">
                <a:solidFill>
                  <a:srgbClr val="4B5563"/>
                </a:solidFill>
                <a:latin typeface="Poppins"/>
                <a:ea typeface="Poppins"/>
                <a:cs typeface="Poppins"/>
                <a:sym typeface="Poppins"/>
              </a:rPr>
              <a:t> </a:t>
            </a:r>
            <a:r>
              <a:rPr lang="en-US" sz="1600" b="0" i="0" u="none" strike="noStrike" dirty="0">
                <a:solidFill>
                  <a:srgbClr val="4B5563"/>
                </a:solidFill>
                <a:latin typeface="Poppins"/>
                <a:ea typeface="Poppins"/>
                <a:cs typeface="Poppins"/>
                <a:sym typeface="Poppins"/>
              </a:rPr>
              <a:t>to the current active page.</a:t>
            </a:r>
            <a:endParaRPr lang="en-US" dirty="0"/>
          </a:p>
          <a:p>
            <a:pPr indent="0" algn="l">
              <a:lnSpc>
                <a:spcPct val="125000"/>
              </a:lnSpc>
            </a:pPr>
            <a:r>
              <a:rPr lang="en-US" sz="1600" b="0" i="0" u="none" strike="noStrike" dirty="0">
                <a:solidFill>
                  <a:srgbClr val="4B5563"/>
                </a:solidFill>
                <a:latin typeface="Poppins"/>
                <a:ea typeface="Poppins"/>
                <a:cs typeface="Poppins"/>
                <a:sym typeface="Poppins"/>
              </a:rPr>
              <a:t>Map new physical blocks via Block Table when full. </a:t>
            </a:r>
            <a:r>
              <a:rPr lang="en-US" sz="1600" b="1" i="0" u="none" strike="noStrike" dirty="0">
                <a:solidFill>
                  <a:srgbClr val="4B5563"/>
                </a:solidFill>
                <a:latin typeface="Poppins"/>
                <a:ea typeface="Poppins"/>
                <a:cs typeface="Poppins"/>
                <a:sym typeface="Poppins"/>
              </a:rPr>
              <a:t>Zero copying </a:t>
            </a:r>
            <a:r>
              <a:rPr lang="en-US" sz="1600" b="0" i="0" u="none" strike="noStrike" dirty="0">
                <a:solidFill>
                  <a:srgbClr val="4B5563"/>
                </a:solidFill>
                <a:latin typeface="Poppins"/>
                <a:ea typeface="Poppins"/>
                <a:cs typeface="Poppins"/>
                <a:sym typeface="Poppins"/>
              </a:rPr>
              <a:t>of historical data.</a:t>
            </a:r>
          </a:p>
        </p:txBody>
      </p:sp>
      <p:sp>
        <p:nvSpPr>
          <p:cNvPr id="13" name="AutoShape 13"/>
          <p:cNvSpPr/>
          <p:nvPr/>
        </p:nvSpPr>
        <p:spPr>
          <a:xfrm>
            <a:off x="8001000" y="3048000"/>
            <a:ext cx="3175000" cy="2921000"/>
          </a:xfrm>
          <a:prstGeom prst="roundRect">
            <a:avLst>
              <a:gd name="adj" fmla="val 5217"/>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0" tIns="0" rIns="0" bIns="0" rtlCol="0" anchor="ctr" anchorCtr="0"/>
          <a:lstStyle/>
          <a:p>
            <a:pPr algn="ctr">
              <a:defRPr/>
            </a:pPr>
            <a:endParaRPr/>
          </a:p>
        </p:txBody>
      </p:sp>
      <p:sp>
        <p:nvSpPr>
          <p:cNvPr id="14" name="AutoShape 14"/>
          <p:cNvSpPr/>
          <p:nvPr/>
        </p:nvSpPr>
        <p:spPr>
          <a:xfrm>
            <a:off x="8254999" y="3140659"/>
            <a:ext cx="2308149"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0D9488"/>
                </a:solidFill>
                <a:latin typeface="Poppins"/>
                <a:ea typeface="Poppins"/>
                <a:cs typeface="Poppins"/>
                <a:sym typeface="Poppins"/>
              </a:rPr>
              <a:t>Key Benefits</a:t>
            </a:r>
            <a:endParaRPr lang="en-US" dirty="0"/>
          </a:p>
        </p:txBody>
      </p:sp>
      <p:cxnSp>
        <p:nvCxnSpPr>
          <p:cNvPr id="15" name="Connector 15"/>
          <p:cNvCxnSpPr/>
          <p:nvPr/>
        </p:nvCxnSpPr>
        <p:spPr>
          <a:xfrm rot="-16369">
            <a:off x="8255015" y="4057650"/>
            <a:ext cx="266703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8255000" y="413014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4B5563"/>
                </a:solidFill>
                <a:latin typeface="Poppins"/>
                <a:ea typeface="Poppins"/>
                <a:cs typeface="Poppins"/>
                <a:sym typeface="Poppins"/>
              </a:rPr>
              <a:t>Performance: </a:t>
            </a:r>
            <a:r>
              <a:rPr lang="en-US" sz="1600" b="0" i="0" u="none" strike="noStrike" dirty="0">
                <a:solidFill>
                  <a:srgbClr val="4B5563"/>
                </a:solidFill>
                <a:latin typeface="Poppins"/>
                <a:ea typeface="Poppins"/>
                <a:cs typeface="Poppins"/>
                <a:sym typeface="Poppins"/>
              </a:rPr>
              <a:t>Complexity reduced to O(1).</a:t>
            </a:r>
            <a:endParaRPr lang="en-US" dirty="0"/>
          </a:p>
          <a:p>
            <a:pPr indent="0" algn="l">
              <a:lnSpc>
                <a:spcPct val="125000"/>
              </a:lnSpc>
            </a:pPr>
            <a:r>
              <a:rPr lang="en-US" sz="1600" b="1" i="0" u="none" strike="noStrike" dirty="0">
                <a:solidFill>
                  <a:srgbClr val="4B5563"/>
                </a:solidFill>
                <a:latin typeface="Poppins"/>
                <a:ea typeface="Poppins"/>
                <a:cs typeface="Poppins"/>
                <a:sym typeface="Poppins"/>
              </a:rPr>
              <a:t>Efficiency: </a:t>
            </a:r>
            <a:r>
              <a:rPr lang="en-US" sz="1600" b="0" i="0" u="none" strike="noStrike" dirty="0">
                <a:solidFill>
                  <a:srgbClr val="4B5563"/>
                </a:solidFill>
                <a:latin typeface="Poppins"/>
                <a:ea typeface="Poppins"/>
                <a:cs typeface="Poppins"/>
                <a:sym typeface="Poppins"/>
              </a:rPr>
              <a:t>No external memory fragmentation.</a:t>
            </a:r>
          </a:p>
          <a:p>
            <a:pPr indent="0" algn="l">
              <a:lnSpc>
                <a:spcPct val="125000"/>
              </a:lnSpc>
            </a:pPr>
            <a:r>
              <a:rPr lang="en-US" sz="1600" b="1" i="0" u="none" strike="noStrike" dirty="0">
                <a:solidFill>
                  <a:srgbClr val="4B5563"/>
                </a:solidFill>
                <a:latin typeface="Poppins"/>
                <a:ea typeface="Poppins"/>
                <a:cs typeface="Poppins"/>
                <a:sym typeface="Poppins"/>
              </a:rPr>
              <a:t>Privacy: </a:t>
            </a:r>
            <a:r>
              <a:rPr lang="en-US" sz="1600" b="0" i="0" u="none" strike="noStrike" dirty="0">
                <a:solidFill>
                  <a:srgbClr val="4B5563"/>
                </a:solidFill>
                <a:latin typeface="Poppins"/>
                <a:ea typeface="Poppins"/>
                <a:cs typeface="Poppins"/>
                <a:sym typeface="Poppins"/>
              </a:rPr>
              <a:t>Secure isolation of raw features.</a:t>
            </a:r>
          </a:p>
        </p:txBody>
      </p:sp>
      <p:sp>
        <p:nvSpPr>
          <p:cNvPr id="17" name="AutoShape 6">
            <a:extLst>
              <a:ext uri="{FF2B5EF4-FFF2-40B4-BE49-F238E27FC236}">
                <a16:creationId xmlns:a16="http://schemas.microsoft.com/office/drawing/2014/main" id="{BD1B0FB7-F6C5-D410-37D1-0B16D6C4B6B3}"/>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13</a:t>
            </a:r>
            <a:endParaRPr lang="en-US" sz="1050" dirty="0">
              <a:solidFill>
                <a:schemeClr val="tx1"/>
              </a:solidFill>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16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Poppins"/>
                <a:ea typeface="Poppins"/>
                <a:cs typeface="Poppins"/>
                <a:sym typeface="Poppins"/>
              </a:rPr>
              <a:t>Theoretical Synthesis: The Proposed System Workflow</a:t>
            </a:r>
            <a:endParaRPr lang="en-US" sz="1100"/>
          </a:p>
        </p:txBody>
      </p:sp>
      <p:sp>
        <p:nvSpPr>
          <p:cNvPr id="4" name="AutoShape 4"/>
          <p:cNvSpPr/>
          <p:nvPr/>
        </p:nvSpPr>
        <p:spPr>
          <a:xfrm>
            <a:off x="1016000" y="1397000"/>
            <a:ext cx="10160000" cy="762000"/>
          </a:xfrm>
          <a:prstGeom prst="roundRect">
            <a:avLst>
              <a:gd name="adj" fmla="val 16666"/>
            </a:avLst>
          </a:prstGeom>
          <a:solidFill>
            <a:srgbClr val="ECFEFE">
              <a:alpha val="100000"/>
            </a:srgbClr>
          </a:solidFill>
          <a:ln w="12700" cap="flat" cmpd="sng">
            <a:solidFill>
              <a:srgbClr val="0D9488">
                <a:alpha val="2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1270000" y="1549400"/>
            <a:ext cx="9652000" cy="4572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0" i="0" u="none" strike="noStrike" dirty="0">
                <a:solidFill>
                  <a:srgbClr val="4B5563"/>
                </a:solidFill>
                <a:latin typeface="Poppins"/>
                <a:ea typeface="Poppins"/>
                <a:cs typeface="Poppins"/>
                <a:sym typeface="Poppins"/>
              </a:rPr>
              <a:t>Core Message: The synthesis of these concepts creates a unified, theoretically sound strategy for a low-latency, high-fidelity streaming VC system.</a:t>
            </a:r>
            <a:endParaRPr lang="en-US" sz="1200" dirty="0"/>
          </a:p>
        </p:txBody>
      </p:sp>
      <p:sp>
        <p:nvSpPr>
          <p:cNvPr id="6" name="AutoShape 6"/>
          <p:cNvSpPr/>
          <p:nvPr/>
        </p:nvSpPr>
        <p:spPr>
          <a:xfrm>
            <a:off x="1016000" y="2667000"/>
            <a:ext cx="4953000" cy="1524000"/>
          </a:xfrm>
          <a:prstGeom prst="roundRect">
            <a:avLst>
              <a:gd name="adj" fmla="val 10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7" name="AutoShape 7"/>
          <p:cNvSpPr/>
          <p:nvPr/>
        </p:nvSpPr>
        <p:spPr>
          <a:xfrm>
            <a:off x="1270000" y="2857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01. Ingestion</a:t>
            </a:r>
            <a:endParaRPr lang="en-US" sz="1200" dirty="0"/>
          </a:p>
        </p:txBody>
      </p:sp>
      <p:sp>
        <p:nvSpPr>
          <p:cNvPr id="8" name="AutoShape 8"/>
          <p:cNvSpPr/>
          <p:nvPr/>
        </p:nvSpPr>
        <p:spPr>
          <a:xfrm>
            <a:off x="1270000" y="3302000"/>
            <a:ext cx="4450486"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b="0" i="0" u="none" strike="noStrike" dirty="0">
                <a:solidFill>
                  <a:srgbClr val="374151"/>
                </a:solidFill>
                <a:latin typeface="Poppins"/>
                <a:ea typeface="Poppins"/>
                <a:cs typeface="Poppins"/>
                <a:sym typeface="Poppins"/>
              </a:rPr>
              <a:t>Initial input stage where an incoming audio chunk (</a:t>
            </a:r>
            <a:r>
              <a:rPr lang="en-US" b="0" i="0" u="none" strike="noStrike" dirty="0" err="1">
                <a:solidFill>
                  <a:srgbClr val="374151"/>
                </a:solidFill>
                <a:latin typeface="Poppins"/>
                <a:ea typeface="Poppins"/>
                <a:cs typeface="Poppins"/>
                <a:sym typeface="Poppins"/>
              </a:rPr>
              <a:t>x</a:t>
            </a:r>
            <a:r>
              <a:rPr lang="en-US" b="0" i="0" u="none" strike="noStrike" baseline="-25000" dirty="0" err="1">
                <a:solidFill>
                  <a:srgbClr val="374151"/>
                </a:solidFill>
                <a:latin typeface="Poppins"/>
                <a:ea typeface="Poppins"/>
                <a:cs typeface="Poppins"/>
                <a:sym typeface="Poppins"/>
              </a:rPr>
              <a:t>t</a:t>
            </a:r>
            <a:r>
              <a:rPr lang="en-US" b="0" i="0" u="none" strike="noStrike" dirty="0">
                <a:solidFill>
                  <a:srgbClr val="374151"/>
                </a:solidFill>
                <a:latin typeface="Poppins"/>
                <a:ea typeface="Poppins"/>
                <a:cs typeface="Poppins"/>
                <a:sym typeface="Poppins"/>
              </a:rPr>
              <a:t>) is received and prepared for subsequent processing.</a:t>
            </a:r>
            <a:endParaRPr lang="en-US" sz="1200" dirty="0"/>
          </a:p>
        </p:txBody>
      </p:sp>
      <p:sp>
        <p:nvSpPr>
          <p:cNvPr id="9" name="AutoShape 9"/>
          <p:cNvSpPr/>
          <p:nvPr/>
        </p:nvSpPr>
        <p:spPr>
          <a:xfrm>
            <a:off x="6223000" y="2667000"/>
            <a:ext cx="4953000" cy="1524000"/>
          </a:xfrm>
          <a:prstGeom prst="roundRect">
            <a:avLst>
              <a:gd name="adj" fmla="val 10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6477000" y="2857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02. Parallel Feature Extraction</a:t>
            </a:r>
            <a:endParaRPr lang="en-US" sz="1200" dirty="0"/>
          </a:p>
        </p:txBody>
      </p:sp>
      <p:sp>
        <p:nvSpPr>
          <p:cNvPr id="11" name="AutoShape 11"/>
          <p:cNvSpPr/>
          <p:nvPr/>
        </p:nvSpPr>
        <p:spPr>
          <a:xfrm>
            <a:off x="6477000" y="3302000"/>
            <a:ext cx="4445000"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b="0" i="0" u="none" strike="noStrike" dirty="0">
                <a:solidFill>
                  <a:srgbClr val="374151"/>
                </a:solidFill>
                <a:latin typeface="Poppins"/>
                <a:ea typeface="Poppins"/>
                <a:cs typeface="Poppins"/>
                <a:sym typeface="Poppins"/>
              </a:rPr>
              <a:t>Launches a static graph via lightweight CPU call. f₀ &amp; semantic token extraction run concurrently on separate GPU streams (Nimble-inspired).</a:t>
            </a:r>
            <a:endParaRPr lang="en-US" sz="1200" dirty="0"/>
          </a:p>
        </p:txBody>
      </p:sp>
      <p:sp>
        <p:nvSpPr>
          <p:cNvPr id="12" name="AutoShape 12"/>
          <p:cNvSpPr/>
          <p:nvPr/>
        </p:nvSpPr>
        <p:spPr>
          <a:xfrm>
            <a:off x="1016000" y="4572000"/>
            <a:ext cx="4953000" cy="1524000"/>
          </a:xfrm>
          <a:prstGeom prst="roundRect">
            <a:avLst>
              <a:gd name="adj" fmla="val 10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3" name="AutoShape 13"/>
          <p:cNvSpPr/>
          <p:nvPr/>
        </p:nvSpPr>
        <p:spPr>
          <a:xfrm>
            <a:off x="1270000" y="4762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03. Paged Context Update</a:t>
            </a:r>
            <a:endParaRPr lang="en-US" sz="1200" dirty="0"/>
          </a:p>
        </p:txBody>
      </p:sp>
      <p:sp>
        <p:nvSpPr>
          <p:cNvPr id="14" name="AutoShape 14"/>
          <p:cNvSpPr/>
          <p:nvPr/>
        </p:nvSpPr>
        <p:spPr>
          <a:xfrm>
            <a:off x="1270000" y="5207000"/>
            <a:ext cx="4450486"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b="0" i="0" u="none" strike="noStrike" dirty="0">
                <a:solidFill>
                  <a:srgbClr val="374151"/>
                </a:solidFill>
                <a:latin typeface="Poppins"/>
                <a:ea typeface="Poppins"/>
                <a:cs typeface="Poppins"/>
                <a:sym typeface="Poppins"/>
              </a:rPr>
              <a:t>Features (</a:t>
            </a:r>
            <a:r>
              <a:rPr lang="en-US" b="0" i="0" u="none" strike="noStrike" dirty="0" err="1">
                <a:solidFill>
                  <a:srgbClr val="374151"/>
                </a:solidFill>
                <a:latin typeface="Poppins"/>
                <a:ea typeface="Poppins"/>
                <a:cs typeface="Poppins"/>
                <a:sym typeface="Poppins"/>
              </a:rPr>
              <a:t>h</a:t>
            </a:r>
            <a:r>
              <a:rPr lang="en-US" b="0" i="0" u="none" strike="noStrike" baseline="-25000" dirty="0" err="1">
                <a:solidFill>
                  <a:srgbClr val="374151"/>
                </a:solidFill>
                <a:latin typeface="Poppins"/>
                <a:ea typeface="Poppins"/>
                <a:cs typeface="Poppins"/>
                <a:sym typeface="Poppins"/>
              </a:rPr>
              <a:t>t</a:t>
            </a:r>
            <a:r>
              <a:rPr lang="en-US" b="0" i="0" u="none" strike="noStrike" dirty="0">
                <a:solidFill>
                  <a:srgbClr val="374151"/>
                </a:solidFill>
                <a:latin typeface="Poppins"/>
                <a:ea typeface="Poppins"/>
                <a:cs typeface="Poppins"/>
                <a:sym typeface="Poppins"/>
              </a:rPr>
              <a:t>) are written to a new "audio page". Block Table is updated in O(1) time to include the new page in the active context (</a:t>
            </a:r>
            <a:r>
              <a:rPr lang="en-US" b="0" i="0" u="none" strike="noStrike" dirty="0" err="1">
                <a:solidFill>
                  <a:srgbClr val="374151"/>
                </a:solidFill>
                <a:latin typeface="Poppins"/>
                <a:ea typeface="Poppins"/>
                <a:cs typeface="Poppins"/>
                <a:sym typeface="Poppins"/>
              </a:rPr>
              <a:t>H</a:t>
            </a:r>
            <a:r>
              <a:rPr lang="en-US" b="0" i="0" u="none" strike="noStrike" baseline="-25000" dirty="0" err="1">
                <a:solidFill>
                  <a:srgbClr val="374151"/>
                </a:solidFill>
                <a:latin typeface="Poppins"/>
                <a:ea typeface="Poppins"/>
                <a:cs typeface="Poppins"/>
                <a:sym typeface="Poppins"/>
              </a:rPr>
              <a:t>t</a:t>
            </a:r>
            <a:r>
              <a:rPr lang="en-US" b="0" i="0" u="none" strike="noStrike" dirty="0">
                <a:solidFill>
                  <a:srgbClr val="374151"/>
                </a:solidFill>
                <a:latin typeface="Poppins"/>
                <a:ea typeface="Poppins"/>
                <a:cs typeface="Poppins"/>
                <a:sym typeface="Poppins"/>
              </a:rPr>
              <a:t>).</a:t>
            </a:r>
            <a:endParaRPr lang="en-US" sz="1200" dirty="0"/>
          </a:p>
        </p:txBody>
      </p:sp>
      <p:sp>
        <p:nvSpPr>
          <p:cNvPr id="15" name="AutoShape 15"/>
          <p:cNvSpPr/>
          <p:nvPr/>
        </p:nvSpPr>
        <p:spPr>
          <a:xfrm>
            <a:off x="6223000" y="4572000"/>
            <a:ext cx="4953000" cy="1524000"/>
          </a:xfrm>
          <a:prstGeom prst="roundRect">
            <a:avLst>
              <a:gd name="adj" fmla="val 10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6" name="AutoShape 16"/>
          <p:cNvSpPr/>
          <p:nvPr/>
        </p:nvSpPr>
        <p:spPr>
          <a:xfrm>
            <a:off x="6477000" y="4762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04. Attention &amp; Generation</a:t>
            </a:r>
            <a:endParaRPr lang="en-US" sz="1200" dirty="0"/>
          </a:p>
        </p:txBody>
      </p:sp>
      <p:sp>
        <p:nvSpPr>
          <p:cNvPr id="17" name="AutoShape 17"/>
          <p:cNvSpPr/>
          <p:nvPr/>
        </p:nvSpPr>
        <p:spPr>
          <a:xfrm>
            <a:off x="6477000" y="5207000"/>
            <a:ext cx="4583582"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b="0" i="0" u="none" strike="noStrike" dirty="0">
                <a:solidFill>
                  <a:srgbClr val="374151"/>
                </a:solidFill>
                <a:latin typeface="Poppins"/>
                <a:ea typeface="Poppins"/>
                <a:cs typeface="Poppins"/>
                <a:sym typeface="Poppins"/>
              </a:rPr>
              <a:t>Model </a:t>
            </a:r>
            <a:r>
              <a:rPr lang="en-US" b="0" i="0" u="none" strike="noStrike" dirty="0" err="1">
                <a:solidFill>
                  <a:srgbClr val="374151"/>
                </a:solidFill>
                <a:latin typeface="Poppins"/>
                <a:ea typeface="Poppins"/>
                <a:cs typeface="Poppins"/>
                <a:sym typeface="Poppins"/>
              </a:rPr>
              <a:t>G</a:t>
            </a:r>
            <a:r>
              <a:rPr lang="en-US" b="0" i="0" u="none" strike="noStrike" baseline="-25000" dirty="0" err="1">
                <a:solidFill>
                  <a:srgbClr val="374151"/>
                </a:solidFill>
                <a:latin typeface="Poppins"/>
                <a:ea typeface="Poppins"/>
                <a:cs typeface="Poppins"/>
                <a:sym typeface="Poppins"/>
              </a:rPr>
              <a:t>θ</a:t>
            </a:r>
            <a:r>
              <a:rPr lang="en-US" b="0" i="0" u="none" strike="noStrike" dirty="0">
                <a:solidFill>
                  <a:srgbClr val="374151"/>
                </a:solidFill>
                <a:latin typeface="Poppins"/>
                <a:ea typeface="Poppins"/>
                <a:cs typeface="Poppins"/>
                <a:sym typeface="Poppins"/>
              </a:rPr>
              <a:t> iterates over the Block Table for history-aware attention. Output waveform is synthesized from current features and full paged history.</a:t>
            </a:r>
            <a:endParaRPr lang="en-US" sz="1200" dirty="0"/>
          </a:p>
        </p:txBody>
      </p:sp>
      <p:sp>
        <p:nvSpPr>
          <p:cNvPr id="2" name="AutoShape 6">
            <a:extLst>
              <a:ext uri="{FF2B5EF4-FFF2-40B4-BE49-F238E27FC236}">
                <a16:creationId xmlns:a16="http://schemas.microsoft.com/office/drawing/2014/main" id="{FC79B9B0-0DB2-FE9A-3915-2E251FFB7E77}"/>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14</a:t>
            </a:r>
            <a:endParaRPr lang="en-US" sz="1050" dirty="0">
              <a:solidFill>
                <a:schemeClr val="tx1"/>
              </a:solidFill>
              <a:latin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4064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dirty="0">
                <a:solidFill>
                  <a:srgbClr val="1F2937"/>
                </a:solidFill>
                <a:latin typeface="Poppins"/>
                <a:ea typeface="Poppins"/>
                <a:cs typeface="Poppins"/>
                <a:sym typeface="Poppins"/>
              </a:rPr>
              <a:t>Conclusion</a:t>
            </a:r>
            <a:endParaRPr lang="en-US" sz="1100" dirty="0"/>
          </a:p>
        </p:txBody>
      </p:sp>
      <p:sp>
        <p:nvSpPr>
          <p:cNvPr id="3" name="AutoShape 3"/>
          <p:cNvSpPr/>
          <p:nvPr/>
        </p:nvSpPr>
        <p:spPr>
          <a:xfrm>
            <a:off x="381000" y="1676400"/>
            <a:ext cx="5334000" cy="1778000"/>
          </a:xfrm>
          <a:prstGeom prst="roundRect">
            <a:avLst>
              <a:gd name="adj" fmla="val 8571"/>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4" name="AutoShape 4"/>
          <p:cNvSpPr/>
          <p:nvPr/>
        </p:nvSpPr>
        <p:spPr>
          <a:xfrm>
            <a:off x="635000" y="1930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OS Resource Management Barriers</a:t>
            </a:r>
            <a:endParaRPr lang="en-US" sz="1200" dirty="0"/>
          </a:p>
        </p:txBody>
      </p:sp>
      <p:sp>
        <p:nvSpPr>
          <p:cNvPr id="5" name="AutoShape 5"/>
          <p:cNvSpPr/>
          <p:nvPr/>
        </p:nvSpPr>
        <p:spPr>
          <a:xfrm>
            <a:off x="635000" y="2438400"/>
            <a:ext cx="4826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dirty="0">
                <a:solidFill>
                  <a:srgbClr val="4B5563"/>
                </a:solidFill>
                <a:latin typeface="Noto Sans SC"/>
                <a:ea typeface="Noto Sans SC"/>
                <a:cs typeface="Noto Sans SC"/>
                <a:sym typeface="Noto Sans SC"/>
              </a:rPr>
              <a:t>Primary barriers are not purely acoustic, but deeply rooted in classic OS challenges: CPU scheduling and contiguous memory allocation.</a:t>
            </a:r>
            <a:endParaRPr lang="en-US" sz="1200" dirty="0"/>
          </a:p>
        </p:txBody>
      </p:sp>
      <p:sp>
        <p:nvSpPr>
          <p:cNvPr id="6" name="AutoShape 6"/>
          <p:cNvSpPr/>
          <p:nvPr/>
        </p:nvSpPr>
        <p:spPr>
          <a:xfrm>
            <a:off x="6477000" y="1676400"/>
            <a:ext cx="5334000" cy="1778000"/>
          </a:xfrm>
          <a:prstGeom prst="roundRect">
            <a:avLst>
              <a:gd name="adj" fmla="val 8571"/>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7" name="AutoShape 7"/>
          <p:cNvSpPr/>
          <p:nvPr/>
        </p:nvSpPr>
        <p:spPr>
          <a:xfrm>
            <a:off x="6731000" y="1930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Memory Bandwidth Degradation</a:t>
            </a:r>
            <a:endParaRPr lang="en-US" sz="1200" dirty="0"/>
          </a:p>
        </p:txBody>
      </p:sp>
      <p:sp>
        <p:nvSpPr>
          <p:cNvPr id="8" name="AutoShape 8"/>
          <p:cNvSpPr/>
          <p:nvPr/>
        </p:nvSpPr>
        <p:spPr>
          <a:xfrm>
            <a:off x="6731000" y="2438400"/>
            <a:ext cx="4826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dirty="0">
                <a:solidFill>
                  <a:srgbClr val="4B5563"/>
                </a:solidFill>
                <a:latin typeface="Noto Sans SC"/>
                <a:ea typeface="Noto Sans SC"/>
                <a:cs typeface="Noto Sans SC"/>
                <a:sym typeface="Noto Sans SC"/>
              </a:rPr>
              <a:t>The O(T²) memory bandwidth degradation is a direct consequence of the algorithmic need for a continuous context cache.</a:t>
            </a:r>
            <a:endParaRPr lang="en-US" sz="1200" dirty="0"/>
          </a:p>
        </p:txBody>
      </p:sp>
      <p:sp>
        <p:nvSpPr>
          <p:cNvPr id="9" name="AutoShape 9"/>
          <p:cNvSpPr/>
          <p:nvPr/>
        </p:nvSpPr>
        <p:spPr>
          <a:xfrm>
            <a:off x="381000" y="3835400"/>
            <a:ext cx="5334000" cy="1778000"/>
          </a:xfrm>
          <a:prstGeom prst="roundRect">
            <a:avLst>
              <a:gd name="adj" fmla="val 8571"/>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635000" y="4089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Algorithm-System Co-Design</a:t>
            </a:r>
            <a:endParaRPr lang="en-US" sz="1200" dirty="0"/>
          </a:p>
        </p:txBody>
      </p:sp>
      <p:sp>
        <p:nvSpPr>
          <p:cNvPr id="11" name="AutoShape 11"/>
          <p:cNvSpPr/>
          <p:nvPr/>
        </p:nvSpPr>
        <p:spPr>
          <a:xfrm>
            <a:off x="635000" y="4597400"/>
            <a:ext cx="4826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dirty="0">
                <a:solidFill>
                  <a:srgbClr val="4B5563"/>
                </a:solidFill>
                <a:latin typeface="Noto Sans SC"/>
                <a:ea typeface="Noto Sans SC"/>
                <a:cs typeface="Noto Sans SC"/>
                <a:sym typeface="Noto Sans SC"/>
              </a:rPr>
              <a:t>Integrating </a:t>
            </a:r>
            <a:r>
              <a:rPr lang="en-US" sz="1600" b="0" i="0" u="none" strike="noStrike" dirty="0" err="1">
                <a:solidFill>
                  <a:srgbClr val="4B5563"/>
                </a:solidFill>
                <a:latin typeface="Noto Sans SC"/>
                <a:ea typeface="Noto Sans SC"/>
                <a:cs typeface="Noto Sans SC"/>
                <a:sym typeface="Noto Sans SC"/>
              </a:rPr>
              <a:t>Nimble's</a:t>
            </a:r>
            <a:r>
              <a:rPr lang="en-US" sz="1600" b="0" i="0" u="none" strike="noStrike" dirty="0">
                <a:solidFill>
                  <a:srgbClr val="4B5563"/>
                </a:solidFill>
                <a:latin typeface="Noto Sans SC"/>
                <a:ea typeface="Noto Sans SC"/>
                <a:cs typeface="Noto Sans SC"/>
                <a:sym typeface="Noto Sans SC"/>
              </a:rPr>
              <a:t> AOT parallel scheduling &amp; </a:t>
            </a:r>
            <a:r>
              <a:rPr lang="en-US" sz="1600" b="0" i="0" u="none" strike="noStrike" dirty="0" err="1">
                <a:solidFill>
                  <a:srgbClr val="4B5563"/>
                </a:solidFill>
                <a:latin typeface="Noto Sans SC"/>
                <a:ea typeface="Noto Sans SC"/>
                <a:cs typeface="Noto Sans SC"/>
                <a:sym typeface="Noto Sans SC"/>
              </a:rPr>
              <a:t>PagedAttention's</a:t>
            </a:r>
            <a:r>
              <a:rPr lang="en-US" sz="1600" b="0" i="0" u="none" strike="noStrike" dirty="0">
                <a:solidFill>
                  <a:srgbClr val="4B5563"/>
                </a:solidFill>
                <a:latin typeface="Noto Sans SC"/>
                <a:ea typeface="Noto Sans SC"/>
                <a:cs typeface="Noto Sans SC"/>
                <a:sym typeface="Noto Sans SC"/>
              </a:rPr>
              <a:t> user-space paging enables a deterministic, memory-efficient system.</a:t>
            </a:r>
            <a:endParaRPr lang="en-US" sz="1200" dirty="0"/>
          </a:p>
        </p:txBody>
      </p:sp>
      <p:sp>
        <p:nvSpPr>
          <p:cNvPr id="12" name="AutoShape 12"/>
          <p:cNvSpPr/>
          <p:nvPr/>
        </p:nvSpPr>
        <p:spPr>
          <a:xfrm>
            <a:off x="6477000" y="3835400"/>
            <a:ext cx="5334000" cy="1778000"/>
          </a:xfrm>
          <a:prstGeom prst="roundRect">
            <a:avLst>
              <a:gd name="adj" fmla="val 8571"/>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3" name="AutoShape 13"/>
          <p:cNvSpPr/>
          <p:nvPr/>
        </p:nvSpPr>
        <p:spPr>
          <a:xfrm>
            <a:off x="6731000" y="4089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9488"/>
                </a:solidFill>
                <a:latin typeface="Poppins"/>
                <a:ea typeface="Poppins"/>
                <a:cs typeface="Poppins"/>
                <a:sym typeface="Poppins"/>
              </a:rPr>
              <a:t>Ph.D. Research Hypothesis</a:t>
            </a:r>
            <a:endParaRPr lang="en-US" sz="1200" dirty="0"/>
          </a:p>
        </p:txBody>
      </p:sp>
      <p:sp>
        <p:nvSpPr>
          <p:cNvPr id="14" name="AutoShape 14"/>
          <p:cNvSpPr/>
          <p:nvPr/>
        </p:nvSpPr>
        <p:spPr>
          <a:xfrm>
            <a:off x="6731000" y="4597400"/>
            <a:ext cx="4826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600" b="0" i="0" u="none" strike="noStrike" dirty="0">
                <a:solidFill>
                  <a:srgbClr val="4B5563"/>
                </a:solidFill>
                <a:latin typeface="Noto Sans SC"/>
                <a:ea typeface="Noto Sans SC"/>
                <a:cs typeface="Noto Sans SC"/>
                <a:sym typeface="Noto Sans SC"/>
              </a:rPr>
              <a:t>This synthesis forms the foundation of my research, aiming to unlock the systemic stability for real-world streaming VC deployments.</a:t>
            </a:r>
            <a:endParaRPr lang="en-US" sz="1200" dirty="0"/>
          </a:p>
        </p:txBody>
      </p:sp>
      <p:sp>
        <p:nvSpPr>
          <p:cNvPr id="15" name="AutoShape 6">
            <a:extLst>
              <a:ext uri="{FF2B5EF4-FFF2-40B4-BE49-F238E27FC236}">
                <a16:creationId xmlns:a16="http://schemas.microsoft.com/office/drawing/2014/main" id="{18F78724-3F24-DBC4-1383-6749581EDC5F}"/>
              </a:ext>
            </a:extLst>
          </p:cNvPr>
          <p:cNvSpPr/>
          <p:nvPr/>
        </p:nvSpPr>
        <p:spPr>
          <a:xfrm>
            <a:off x="0" y="6366965"/>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a:solidFill>
                  <a:schemeClr val="tx1"/>
                </a:solidFill>
                <a:latin typeface="+mn-lt"/>
                <a:ea typeface="Poppins"/>
                <a:cs typeface="Poppins"/>
                <a:sym typeface="Poppins"/>
              </a:rPr>
              <a:t>15</a:t>
            </a:r>
            <a:endParaRPr lang="en-US" sz="1050" dirty="0">
              <a:solidFill>
                <a:schemeClr val="tx1"/>
              </a:solidFill>
              <a:latin typeface="+mn-lt"/>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3019</Words>
  <Application>Microsoft Office PowerPoint</Application>
  <PresentationFormat>Widescreen</PresentationFormat>
  <Paragraphs>240</Paragraphs>
  <Slides>15</Slides>
  <Notes>15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Noto Sans SC</vt:lpstr>
      <vt:lpstr>Arial</vt:lpstr>
      <vt:lpstr>Poppins</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Yudong Li (SDS,225040501)</cp:lastModifiedBy>
  <cp:revision>27</cp:revision>
  <dcterms:modified xsi:type="dcterms:W3CDTF">2026-04-23T17:21:00Z</dcterms:modified>
</cp:coreProperties>
</file>