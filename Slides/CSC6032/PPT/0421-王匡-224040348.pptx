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0"/>
  </p:notesMasterIdLst>
  <p:sldIdLst>
    <p:sldId id="256" r:id="rId3"/>
    <p:sldId id="603" r:id="rId4"/>
    <p:sldId id="604" r:id="rId5"/>
    <p:sldId id="605" r:id="rId6"/>
    <p:sldId id="606" r:id="rId7"/>
    <p:sldId id="608" r:id="rId8"/>
    <p:sldId id="607" r:id="rId9"/>
    <p:sldId id="517" r:id="rId10"/>
    <p:sldId id="609" r:id="rId11"/>
    <p:sldId id="532" r:id="rId12"/>
    <p:sldId id="611" r:id="rId13"/>
    <p:sldId id="612" r:id="rId14"/>
    <p:sldId id="613" r:id="rId15"/>
    <p:sldId id="614" r:id="rId16"/>
    <p:sldId id="610" r:id="rId17"/>
    <p:sldId id="615" r:id="rId18"/>
    <p:sldId id="617" r:id="rId19"/>
    <p:sldId id="618" r:id="rId20"/>
    <p:sldId id="619" r:id="rId21"/>
    <p:sldId id="620" r:id="rId22"/>
    <p:sldId id="622" r:id="rId23"/>
    <p:sldId id="623" r:id="rId24"/>
    <p:sldId id="624" r:id="rId25"/>
    <p:sldId id="626" r:id="rId26"/>
    <p:sldId id="627" r:id="rId27"/>
    <p:sldId id="621" r:id="rId28"/>
    <p:sldId id="625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9" autoAdjust="0"/>
    <p:restoredTop sz="94673"/>
  </p:normalViewPr>
  <p:slideViewPr>
    <p:cSldViewPr snapToGrid="0">
      <p:cViewPr varScale="1">
        <p:scale>
          <a:sx n="59" d="100"/>
          <a:sy n="59" d="100"/>
        </p:scale>
        <p:origin x="8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603E-5794-4B04-D045-9A7988EB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2E0C9C6-35CD-7D56-0D44-E8106C906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EAFA61-3519-6143-4A77-A2EFB79BB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488226-175C-201B-CDB9-0A57C727F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98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E155-BF88-CA7F-1DFB-744C5F1F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DDBA65-4CD0-E265-E9B0-E9896AF84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ECAFE6-D6E8-7B23-4274-FD7B709EC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90FCED-213D-408D-B833-1882A6CD7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235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DBAA-1A09-519D-3C99-6563FFE2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4D8A73D-F248-44A7-D703-B5791F23D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91C4F0-0ADA-6A3D-7FA9-798FD4144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63E643-9DE0-7101-FE53-EC4E9CED4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249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46E3-B31F-FBDC-1137-57E93E4F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F9F170-38F7-9963-A346-40F59DB11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EBEF84-F73E-DCD1-263A-F9E7FD0659D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79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7BCD-F5BD-5399-9089-80BCF148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D2B97E-B78B-D30F-D667-50E345A0C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679A11-CC31-1EB5-DA44-C5B136F0F3E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058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FC2A-22AF-3CC0-600E-3B6442D5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6E7A4-4BE4-B298-9E9B-BA04AE565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DA41BC-1CF1-3B12-5085-D4755F7755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345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37A6-AF98-2C67-B81A-3E4CAF2F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06EA83-A51A-E86B-380F-DB4F9C9D7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BA726C-C729-5B2F-5902-15679BF1AE3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45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31D8-A7F8-3B90-091A-40D48654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13C0EFD-527E-09C1-8AFB-B164D6215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BBD681-B28C-C770-1C79-788CC75D4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E7A97E-49E8-DA56-F905-3BA4AF73F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431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514F-63EB-7F06-F338-7802D952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AFD2B4-DA9D-80A0-EA4E-0634AC1BD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E42DF-E5E6-2F88-F4F5-6F1834D4B38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57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02EC-7A24-BDC8-9C71-3F0270C0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77A0EF-7165-0F70-DFAD-E71391BD7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456EF-DD68-9C28-1CF3-F48F82CD7C8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244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5031-2EB5-240C-196F-13B3D61F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91D589-FEBF-3D6A-A70C-6DFC9B183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71AA4-A114-1B4E-FC96-55CCF3C545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221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89B0-AE3C-45B5-9366-AEA37131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09A1CD9-9B73-7642-E5C6-C84CD0B28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9711E39-615F-A0F7-99D3-EC9706F16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69763D-823C-377F-9CA0-F82430483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506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FAB3-1A1F-5749-2076-962D4BFD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D6CAB4-1ACB-A839-C88E-AF36D4EBE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28D532-4E28-8C7E-64B6-3B95150BA3A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649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CC6F-179A-8C49-491E-132E6373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260BB5-E8D4-F171-602A-6946642AB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C762D-5A3C-B47C-503D-E98DDC077D3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595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631D-5FC7-7A56-6F16-9BCB5C3FA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2E0735-BCEE-85CD-4C45-E3501F582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F443EB-CC49-4EAE-AACE-34DC2C3634C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34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CD72-CD5C-6653-6129-A004D965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501387-B4AD-E246-4E7C-958FFA207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3D274-4722-8758-151C-E49664E4BC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23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77C3-1988-A59E-56F8-342822C3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51F830C-B172-E350-0B36-DD78DE190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5B05DF-C5C1-C190-DB57-D2BA13C01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FAAADC-1B1B-CB22-17EA-13971C7BC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156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A283-62F6-4031-D4A6-4162EEAB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601D528-21FC-1A6C-942A-B2B5B150D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5DCC88-667C-D794-8E38-F52AE9C4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729B91-CF00-82B1-BBFA-40C3F937C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20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5DC3-D3C9-AF30-2DD5-96A07E3B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4BD7F61-5A98-8A10-DDEA-884CA0BBB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5C57C9-C47C-D5FB-2ED8-F7641BB5B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3E2DF7-4487-6AC2-974D-66EF756FE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205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F24F-FD1A-F038-E2C3-609E6CE2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B65EA2D-6540-019D-7D4F-9C57C251A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A5E591-E356-72A7-7EC0-AFE8CB93D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638989-F5EF-9AC6-24CC-93365A6BA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85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>
              <a:defRPr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>
              <a:defRPr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anose="020F0502020204030204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anose="020F0502020204030204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pPr algn="ctr"/>
            <a:r>
              <a:rPr lang="en-US" altLang="zh-CN" sz="3600" dirty="0"/>
              <a:t>From Branch Prediction to Speculative Decoding:  How Classical Speculation Reappears in LLM Inference</a:t>
            </a:r>
            <a:br>
              <a:rPr lang="en-US" altLang="zh-CN" sz="4400" dirty="0"/>
            </a:br>
            <a:r>
              <a:rPr lang="en-US" altLang="zh-CN" sz="2000" dirty="0"/>
              <a:t> </a:t>
            </a: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2026.4.21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dirty="0"/>
              <a:t>Kuang Wang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5CA95-2B55-2A2A-3E5E-41BDF8F8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03E59-3637-8D09-39FF-000B24FD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DFBF1F-AEBA-D713-77BA-60942FA42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B9604194-A24F-10CC-4508-6BAE1EDB3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58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82E3-F680-A8C9-0D0B-81304485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5762F-93EC-D25E-9C7D-666768FD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600" dirty="0">
                <a:ea typeface="Calibri" panose="020F0502020204030204" pitchFamily="34" charset="0"/>
                <a:cs typeface="Calibri" panose="020F0502020204030204" pitchFamily="34" charset="0"/>
              </a:rPr>
              <a:t>Introduction – Why Branch Prediction is Needed?(1/4)</a:t>
            </a:r>
            <a:endParaRPr lang="en-US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16B-383E-E647-3711-AE9B4F956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5416" y="1092914"/>
            <a:ext cx="6620392" cy="2814970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Pipelining: The Basis of Instruction-Level Parallelism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four stages:</a:t>
            </a:r>
          </a:p>
          <a:p>
            <a:pPr lvl="2"/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Fetch (IF):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Fetch the next instruction from memory.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Decode (ID):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Decode the instruction and determine the required operation.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(EX):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computation, address generation, or branch evaluation.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Back (WB):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Write the result to the destination register.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457200">
              <a:buFont typeface="Arial" panose="020B0604020202020204" pitchFamily="34" charset="0"/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98F471B-3FB6-14EC-39D0-D22057614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B676CF2-D933-D2F6-E00C-AFD1A3A98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55750"/>
              </p:ext>
            </p:extLst>
          </p:nvPr>
        </p:nvGraphicFramePr>
        <p:xfrm>
          <a:off x="347338" y="3972922"/>
          <a:ext cx="3985576" cy="1986716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1944195844"/>
                    </a:ext>
                  </a:extLst>
                </a:gridCol>
                <a:gridCol w="384493">
                  <a:extLst>
                    <a:ext uri="{9D8B030D-6E8A-4147-A177-3AD203B41FA5}">
                      <a16:colId xmlns:a16="http://schemas.microsoft.com/office/drawing/2014/main" val="407438920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599860858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9426909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83000762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77111354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4129199026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2575727474"/>
                    </a:ext>
                  </a:extLst>
                </a:gridCol>
              </a:tblGrid>
              <a:tr h="281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Cycle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1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2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3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4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5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6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7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61309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OP1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IF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ID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EX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WB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980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OP2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ID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7055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OP3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ID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59097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OP4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ID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86637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9B0C694-B983-10B0-7377-32CA07F83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708976"/>
              </p:ext>
            </p:extLst>
          </p:nvPr>
        </p:nvGraphicFramePr>
        <p:xfrm>
          <a:off x="7315200" y="3817402"/>
          <a:ext cx="4336413" cy="2297757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1022667">
                  <a:extLst>
                    <a:ext uri="{9D8B030D-6E8A-4147-A177-3AD203B41FA5}">
                      <a16:colId xmlns:a16="http://schemas.microsoft.com/office/drawing/2014/main" val="1944195844"/>
                    </a:ext>
                  </a:extLst>
                </a:gridCol>
                <a:gridCol w="384493">
                  <a:extLst>
                    <a:ext uri="{9D8B030D-6E8A-4147-A177-3AD203B41FA5}">
                      <a16:colId xmlns:a16="http://schemas.microsoft.com/office/drawing/2014/main" val="407438920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599860858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9426909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83000762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77111354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4129199026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2575727474"/>
                    </a:ext>
                  </a:extLst>
                </a:gridCol>
              </a:tblGrid>
              <a:tr h="281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Cycle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61309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CMP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980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7055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 1-3</a:t>
                      </a:r>
                      <a:endParaRPr lang="zh-CN" altLang="zh-CN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59097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next instruction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86637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E656E2EA-BBD9-336C-F806-94E90D7CD20B}"/>
              </a:ext>
            </a:extLst>
          </p:cNvPr>
          <p:cNvSpPr txBox="1"/>
          <p:nvPr/>
        </p:nvSpPr>
        <p:spPr>
          <a:xfrm>
            <a:off x="4868971" y="5031319"/>
            <a:ext cx="1580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Control Hazards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C80548F-E263-6487-C684-2B836E3A5418}"/>
              </a:ext>
            </a:extLst>
          </p:cNvPr>
          <p:cNvGrpSpPr/>
          <p:nvPr/>
        </p:nvGrpSpPr>
        <p:grpSpPr>
          <a:xfrm>
            <a:off x="4590195" y="3882441"/>
            <a:ext cx="2420223" cy="1018801"/>
            <a:chOff x="4495196" y="3993620"/>
            <a:chExt cx="2420223" cy="1018801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DA4790F-B257-08E2-DF0C-79969069CCE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r="6757"/>
            <a:stretch>
              <a:fillRect/>
            </a:stretch>
          </p:blipFill>
          <p:spPr>
            <a:xfrm>
              <a:off x="4495196" y="3993620"/>
              <a:ext cx="2420223" cy="1018801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AC90CB6-9070-3615-9BCB-4A2BBF3D2587}"/>
                </a:ext>
              </a:extLst>
            </p:cNvPr>
            <p:cNvSpPr/>
            <p:nvPr/>
          </p:nvSpPr>
          <p:spPr bwMode="auto">
            <a:xfrm>
              <a:off x="4495196" y="4345497"/>
              <a:ext cx="2420223" cy="13003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MingLiU" pitchFamily="18" charset="-120"/>
              </a:endParaRPr>
            </a:p>
          </p:txBody>
        </p: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BDB9126-AC09-927A-D8A8-79D1A4D49D2C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 bwMode="auto">
          <a:xfrm>
            <a:off x="4332914" y="4966280"/>
            <a:ext cx="2982286" cy="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7D0D4126-AD1A-61C9-226E-F52F5D911DCF}"/>
              </a:ext>
            </a:extLst>
          </p:cNvPr>
          <p:cNvSpPr/>
          <p:nvPr/>
        </p:nvSpPr>
        <p:spPr bwMode="auto">
          <a:xfrm>
            <a:off x="10192624" y="4613946"/>
            <a:ext cx="370883" cy="287296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E1E05B-4D64-603F-D7D9-7EB9357F924E}"/>
              </a:ext>
            </a:extLst>
          </p:cNvPr>
          <p:cNvSpPr/>
          <p:nvPr/>
        </p:nvSpPr>
        <p:spPr bwMode="auto">
          <a:xfrm>
            <a:off x="11187175" y="5601049"/>
            <a:ext cx="370883" cy="287296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6E1459C-EF75-17BD-1EDC-33AC73990C89}"/>
              </a:ext>
            </a:extLst>
          </p:cNvPr>
          <p:cNvCxnSpPr>
            <a:cxnSpLocks/>
          </p:cNvCxnSpPr>
          <p:nvPr/>
        </p:nvCxnSpPr>
        <p:spPr bwMode="auto">
          <a:xfrm rot="16200000" flipV="1">
            <a:off x="10546335" y="4774767"/>
            <a:ext cx="843455" cy="809109"/>
          </a:xfrm>
          <a:prstGeom prst="bentConnector3">
            <a:avLst>
              <a:gd name="adj1" fmla="val 99730"/>
            </a:avLst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EC04869F-C1C4-70A6-2265-3017EF61B1D5}"/>
              </a:ext>
            </a:extLst>
          </p:cNvPr>
          <p:cNvSpPr txBox="1"/>
          <p:nvPr/>
        </p:nvSpPr>
        <p:spPr>
          <a:xfrm>
            <a:off x="10675551" y="4449816"/>
            <a:ext cx="1580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Wait Result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4DEAE530-B496-E50E-4FF3-EE270454ADB4}"/>
              </a:ext>
            </a:extLst>
          </p:cNvPr>
          <p:cNvSpPr txBox="1">
            <a:spLocks/>
          </p:cNvSpPr>
          <p:nvPr/>
        </p:nvSpPr>
        <p:spPr bwMode="auto">
          <a:xfrm>
            <a:off x="6861568" y="1565711"/>
            <a:ext cx="5091249" cy="15197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Degradation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>
              <a:buFontTx/>
              <a:buChar char="-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stages perform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useful work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lvl="1">
              <a:buFontTx/>
              <a:buChar char="-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empty slots are called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lvl="1">
              <a:buFontTx/>
              <a:buChar char="-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branch stalls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457200">
              <a:buFont typeface="Arial" panose="020B0604020202020204" pitchFamily="34" charset="0"/>
              <a:buNone/>
            </a:pP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221F726-F9DA-CFBD-BECE-7FF9D51D3C80}"/>
              </a:ext>
            </a:extLst>
          </p:cNvPr>
          <p:cNvCxnSpPr>
            <a:cxnSpLocks/>
            <a:stCxn id="24" idx="3"/>
            <a:endCxn id="49" idx="3"/>
          </p:cNvCxnSpPr>
          <p:nvPr/>
        </p:nvCxnSpPr>
        <p:spPr bwMode="auto">
          <a:xfrm flipV="1">
            <a:off x="11651613" y="2325576"/>
            <a:ext cx="301204" cy="2640704"/>
          </a:xfrm>
          <a:prstGeom prst="bentConnector3">
            <a:avLst>
              <a:gd name="adj1" fmla="val 143569"/>
            </a:avLst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5DE03C3-329A-185F-E4D6-788F946B0B32}"/>
              </a:ext>
            </a:extLst>
          </p:cNvPr>
          <p:cNvSpPr txBox="1"/>
          <p:nvPr/>
        </p:nvSpPr>
        <p:spPr>
          <a:xfrm>
            <a:off x="208311" y="3449702"/>
            <a:ext cx="4229493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1: Four-stage instruction pipeline illustrating overlapped execution across successive instructions.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D823D0-5918-3D1C-9069-21F8FE4E19F9}"/>
              </a:ext>
            </a:extLst>
          </p:cNvPr>
          <p:cNvSpPr txBox="1"/>
          <p:nvPr/>
        </p:nvSpPr>
        <p:spPr>
          <a:xfrm>
            <a:off x="7236465" y="3095736"/>
            <a:ext cx="4229493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2: Pipeline behavior under a branch-induced control hazard, showing stall bubbles and delayed fetch of the correct next instruction.</a:t>
            </a:r>
          </a:p>
        </p:txBody>
      </p:sp>
    </p:spTree>
    <p:extLst>
      <p:ext uri="{BB962C8B-B14F-4D97-AF65-F5344CB8AC3E}">
        <p14:creationId xmlns:p14="http://schemas.microsoft.com/office/powerpoint/2010/main" val="301708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46AC-05C8-63E9-60BE-A6B95AF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6BE6-7449-680C-2166-7E02C338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600" dirty="0">
                <a:ea typeface="Calibri" panose="020F0502020204030204" pitchFamily="34" charset="0"/>
                <a:cs typeface="Calibri" panose="020F0502020204030204" pitchFamily="34" charset="0"/>
              </a:rPr>
              <a:t>Introduction – Why Branch Prediction is Needed? (2/4)</a:t>
            </a:r>
            <a:endParaRPr lang="en-US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D043-5C9A-AEFF-8E0F-9A17D13F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6" y="1075045"/>
            <a:ext cx="7225144" cy="2814970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Prediction: Preserving Pipeline Continuity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four stages: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the branch is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taken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instructions along the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path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resolution.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predictions incur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penalty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predictions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flush the pipeline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restart from the correct path.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CF94F30-136B-2C4A-0F29-B4E0B899D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5C249717-D4B1-B817-960A-5F70484A8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452177"/>
              </p:ext>
            </p:extLst>
          </p:nvPr>
        </p:nvGraphicFramePr>
        <p:xfrm>
          <a:off x="347338" y="3972922"/>
          <a:ext cx="3985576" cy="1986716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1944195844"/>
                    </a:ext>
                  </a:extLst>
                </a:gridCol>
                <a:gridCol w="384493">
                  <a:extLst>
                    <a:ext uri="{9D8B030D-6E8A-4147-A177-3AD203B41FA5}">
                      <a16:colId xmlns:a16="http://schemas.microsoft.com/office/drawing/2014/main" val="407438920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599860858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9426909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83000762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77111354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4129199026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2575727474"/>
                    </a:ext>
                  </a:extLst>
                </a:gridCol>
              </a:tblGrid>
              <a:tr h="281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Cycle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1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2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3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4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5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6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7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61309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OP1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IF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ID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EX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WB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980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OP2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ID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7055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OP3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ID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59097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OP4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IF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ID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/>
                        <a:t>EX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/>
                        <a:t>WB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86637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621F698-E8FC-62DE-DE9B-04CCD8056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955943"/>
              </p:ext>
            </p:extLst>
          </p:nvPr>
        </p:nvGraphicFramePr>
        <p:xfrm>
          <a:off x="7226360" y="3875241"/>
          <a:ext cx="4441450" cy="2182078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1022667">
                  <a:extLst>
                    <a:ext uri="{9D8B030D-6E8A-4147-A177-3AD203B41FA5}">
                      <a16:colId xmlns:a16="http://schemas.microsoft.com/office/drawing/2014/main" val="1944195844"/>
                    </a:ext>
                  </a:extLst>
                </a:gridCol>
                <a:gridCol w="384493">
                  <a:extLst>
                    <a:ext uri="{9D8B030D-6E8A-4147-A177-3AD203B41FA5}">
                      <a16:colId xmlns:a16="http://schemas.microsoft.com/office/drawing/2014/main" val="407438920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599860858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94269095"/>
                    </a:ext>
                  </a:extLst>
                </a:gridCol>
                <a:gridCol w="514667">
                  <a:extLst>
                    <a:ext uri="{9D8B030D-6E8A-4147-A177-3AD203B41FA5}">
                      <a16:colId xmlns:a16="http://schemas.microsoft.com/office/drawing/2014/main" val="830007625"/>
                    </a:ext>
                  </a:extLst>
                </a:gridCol>
                <a:gridCol w="1045471">
                  <a:extLst>
                    <a:ext uri="{9D8B030D-6E8A-4147-A177-3AD203B41FA5}">
                      <a16:colId xmlns:a16="http://schemas.microsoft.com/office/drawing/2014/main" val="77111354"/>
                    </a:ext>
                  </a:extLst>
                </a:gridCol>
                <a:gridCol w="603567">
                  <a:extLst>
                    <a:ext uri="{9D8B030D-6E8A-4147-A177-3AD203B41FA5}">
                      <a16:colId xmlns:a16="http://schemas.microsoft.com/office/drawing/2014/main" val="4129199026"/>
                    </a:ext>
                  </a:extLst>
                </a:gridCol>
              </a:tblGrid>
              <a:tr h="281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Cycle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61309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CMP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980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70556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OP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59097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/ commit</a:t>
                      </a:r>
                      <a:endParaRPr lang="zh-CN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400" dirty="0"/>
                        <a:t>✅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ommit</a:t>
                      </a:r>
                      <a:b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zh-CN" sz="1400" dirty="0"/>
                        <a:t>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lush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86637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4DC5AA92-3CC7-98A6-38DD-FDC853671F35}"/>
              </a:ext>
            </a:extLst>
          </p:cNvPr>
          <p:cNvSpPr txBox="1"/>
          <p:nvPr/>
        </p:nvSpPr>
        <p:spPr>
          <a:xfrm>
            <a:off x="4881440" y="5087126"/>
            <a:ext cx="1378044" cy="409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b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3000" lvl="2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pPr marL="0" indent="0">
              <a:buNone/>
            </a:pPr>
            <a:r>
              <a:rPr lang="zh-CN" altLang="zh-CN" sz="1400" dirty="0"/>
              <a:t>Branch </a:t>
            </a:r>
            <a:r>
              <a:rPr lang="en-US" altLang="zh-CN" sz="1400" dirty="0"/>
              <a:t>Predict</a:t>
            </a:r>
            <a:endParaRPr lang="zh-CN" altLang="en-US" sz="1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EACEB90-0650-8BD0-E0C4-1E3A201650F2}"/>
              </a:ext>
            </a:extLst>
          </p:cNvPr>
          <p:cNvGrpSpPr/>
          <p:nvPr/>
        </p:nvGrpSpPr>
        <p:grpSpPr>
          <a:xfrm>
            <a:off x="4590195" y="3882441"/>
            <a:ext cx="2420223" cy="1018801"/>
            <a:chOff x="4495196" y="3993620"/>
            <a:chExt cx="2420223" cy="1018801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6733ECFB-15C6-CFB7-16ED-3144095CB70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r="6757"/>
            <a:stretch>
              <a:fillRect/>
            </a:stretch>
          </p:blipFill>
          <p:spPr>
            <a:xfrm>
              <a:off x="4495196" y="3993620"/>
              <a:ext cx="2420223" cy="1018801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D46D1C3-5839-CE9B-4D5C-D1587ECF2B6B}"/>
                </a:ext>
              </a:extLst>
            </p:cNvPr>
            <p:cNvSpPr/>
            <p:nvPr/>
          </p:nvSpPr>
          <p:spPr bwMode="auto">
            <a:xfrm>
              <a:off x="4495196" y="4345497"/>
              <a:ext cx="2420223" cy="13003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MingLiU" pitchFamily="18" charset="-120"/>
              </a:endParaRPr>
            </a:p>
          </p:txBody>
        </p: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64EDDF-38E8-E172-8F62-8FB13308D6E0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 bwMode="auto">
          <a:xfrm>
            <a:off x="4332914" y="4966280"/>
            <a:ext cx="2893446" cy="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8CD557E-586F-744E-F8D7-D371F24167D8}"/>
              </a:ext>
            </a:extLst>
          </p:cNvPr>
          <p:cNvSpPr/>
          <p:nvPr/>
        </p:nvSpPr>
        <p:spPr bwMode="auto">
          <a:xfrm>
            <a:off x="7276233" y="5056255"/>
            <a:ext cx="4391577" cy="44016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B4CE8E-F33A-1523-CDBC-57D763128ADF}"/>
              </a:ext>
            </a:extLst>
          </p:cNvPr>
          <p:cNvSpPr txBox="1"/>
          <p:nvPr/>
        </p:nvSpPr>
        <p:spPr>
          <a:xfrm>
            <a:off x="7375955" y="1245737"/>
            <a:ext cx="4380012" cy="18651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b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3000" lvl="2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zh-CN" dirty="0"/>
              <a:t>The core idea is to trade certainty for continuity.</a:t>
            </a:r>
            <a:endParaRPr lang="en-US" altLang="zh-CN" dirty="0"/>
          </a:p>
          <a:p>
            <a:pPr lvl="1"/>
            <a:r>
              <a:rPr lang="zh-CN" altLang="zh-CN" sz="1600" b="1" dirty="0"/>
              <a:t>Correct prediction </a:t>
            </a:r>
            <a:r>
              <a:rPr lang="zh-CN" altLang="zh-CN" sz="1600" dirty="0"/>
              <a:t>→ near-zero control-hazard cost </a:t>
            </a:r>
            <a:endParaRPr lang="en-US" altLang="zh-CN" sz="1600" dirty="0"/>
          </a:p>
          <a:p>
            <a:pPr lvl="1"/>
            <a:r>
              <a:rPr lang="zh-CN" altLang="zh-CN" sz="1600" b="1" dirty="0"/>
              <a:t>Incorrect prediction </a:t>
            </a:r>
            <a:r>
              <a:rPr lang="zh-CN" altLang="zh-CN" sz="1600" dirty="0"/>
              <a:t>→ pipeline flush and recovery penalty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3249865-678F-621D-5FCA-092C942B056B}"/>
              </a:ext>
            </a:extLst>
          </p:cNvPr>
          <p:cNvCxnSpPr>
            <a:cxnSpLocks/>
            <a:stCxn id="24" idx="3"/>
            <a:endCxn id="15" idx="3"/>
          </p:cNvCxnSpPr>
          <p:nvPr/>
        </p:nvCxnSpPr>
        <p:spPr bwMode="auto">
          <a:xfrm flipV="1">
            <a:off x="11667810" y="2178300"/>
            <a:ext cx="88157" cy="2787980"/>
          </a:xfrm>
          <a:prstGeom prst="bentConnector3">
            <a:avLst>
              <a:gd name="adj1" fmla="val 359310"/>
            </a:avLst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5131F3-2E99-542D-1C97-350900E0EFC1}"/>
              </a:ext>
            </a:extLst>
          </p:cNvPr>
          <p:cNvSpPr txBox="1"/>
          <p:nvPr/>
        </p:nvSpPr>
        <p:spPr>
          <a:xfrm>
            <a:off x="225379" y="3417183"/>
            <a:ext cx="4229493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3: Four-stage instruction pipeline illustrating overlapped execution across successive instructions.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47370E-059F-0F28-D12D-E89FFBDD26D2}"/>
              </a:ext>
            </a:extLst>
          </p:cNvPr>
          <p:cNvSpPr txBox="1"/>
          <p:nvPr/>
        </p:nvSpPr>
        <p:spPr>
          <a:xfrm>
            <a:off x="7236465" y="3095736"/>
            <a:ext cx="4229493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4: Speculative execution with branch prediction, showing predicted-path execution followed by commit or flush after branch resolution.</a:t>
            </a:r>
          </a:p>
        </p:txBody>
      </p:sp>
    </p:spTree>
    <p:extLst>
      <p:ext uri="{BB962C8B-B14F-4D97-AF65-F5344CB8AC3E}">
        <p14:creationId xmlns:p14="http://schemas.microsoft.com/office/powerpoint/2010/main" val="244542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B3C3-754A-DB5F-42DA-5528C8D3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435B-FBEB-5E6E-061E-8D1CE343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600" dirty="0">
                <a:ea typeface="Calibri" panose="020F0502020204030204" pitchFamily="34" charset="0"/>
                <a:cs typeface="Calibri" panose="020F0502020204030204" pitchFamily="34" charset="0"/>
              </a:rPr>
              <a:t>Introduction – Why Branch Prediction is Needed? (3/4)</a:t>
            </a:r>
            <a:endParaRPr lang="en-US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B0FF2-66F5-6D1E-2D44-06210175B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50546"/>
                <a:ext cx="5629100" cy="2554188"/>
              </a:xfrm>
            </p:spPr>
            <p:txBody>
              <a:bodyPr/>
              <a:lstStyle/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Need for Accelerating LLM Inference</a:t>
                </a:r>
              </a:p>
              <a:p>
                <a:pPr marL="457200" lvl="1" indent="0"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Serial Bottleneck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Autoregressive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LLM Inference: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unc>
                            <m:func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Tx/>
                  <a:buChar char="-"/>
                </a:pPr>
                <a:endParaRPr lang="ar-AE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Tx/>
                  <a:buChar char="-"/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Training: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highly parallelizable </a:t>
                </a:r>
              </a:p>
              <a:p>
                <a:pPr lvl="1">
                  <a:buFontTx/>
                  <a:buChar char="-"/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Inference: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strictly sequential, requires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</m:d>
                  </m:oMath>
                </a14:m>
                <a:r>
                  <a:rPr lang="ar-AE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decoding steps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B0FF2-66F5-6D1E-2D44-06210175B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50546"/>
                <a:ext cx="5629100" cy="2554188"/>
              </a:xfrm>
              <a:blipFill>
                <a:blip r:embed="rId2"/>
                <a:stretch>
                  <a:fillRect l="-225" t="-9901" b="-8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0AB22C8-11FD-8D54-8CA0-C22C212F59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99613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B1B45A-8382-BF1B-5705-8B13CADAD081}"/>
              </a:ext>
            </a:extLst>
          </p:cNvPr>
          <p:cNvSpPr txBox="1"/>
          <p:nvPr/>
        </p:nvSpPr>
        <p:spPr>
          <a:xfrm>
            <a:off x="5881608" y="1022376"/>
            <a:ext cx="381900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b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lvl="1" indent="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None/>
              <a:defRPr kumimoji="1" sz="1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zh-CN" dirty="0"/>
              <a:t>Existing Acceleration Methods</a:t>
            </a:r>
            <a:endParaRPr lang="zh-CN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7D98FA1-70F0-ABBB-84E0-F3D21B5ED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776708"/>
              </p:ext>
            </p:extLst>
          </p:nvPr>
        </p:nvGraphicFramePr>
        <p:xfrm>
          <a:off x="5881608" y="1585872"/>
          <a:ext cx="5817678" cy="164592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24568">
                  <a:extLst>
                    <a:ext uri="{9D8B030D-6E8A-4147-A177-3AD203B41FA5}">
                      <a16:colId xmlns:a16="http://schemas.microsoft.com/office/drawing/2014/main" val="3125980648"/>
                    </a:ext>
                  </a:extLst>
                </a:gridCol>
                <a:gridCol w="2175193">
                  <a:extLst>
                    <a:ext uri="{9D8B030D-6E8A-4147-A177-3AD203B41FA5}">
                      <a16:colId xmlns:a16="http://schemas.microsoft.com/office/drawing/2014/main" val="4153616183"/>
                    </a:ext>
                  </a:extLst>
                </a:gridCol>
                <a:gridCol w="2417917">
                  <a:extLst>
                    <a:ext uri="{9D8B030D-6E8A-4147-A177-3AD203B41FA5}">
                      <a16:colId xmlns:a16="http://schemas.microsoft.com/office/drawing/2014/main" val="2133326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Trade-off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2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Quantization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Lower-precision inference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uality degradation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↓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290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Distillation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student model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Retraining required; </a:t>
                      </a:r>
                      <a:b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capability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↓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082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Pruning</a:t>
                      </a:r>
                      <a:endParaRPr 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redundant weights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loss; </a:t>
                      </a:r>
                      <a:b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 complexity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↓</a:t>
                      </a:r>
                      <a:endParaRPr 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560415"/>
                  </a:ext>
                </a:extLst>
              </a:tr>
            </a:tbl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E226A5E2-BF6B-E844-3C12-1AE42E656616}"/>
              </a:ext>
            </a:extLst>
          </p:cNvPr>
          <p:cNvGrpSpPr/>
          <p:nvPr/>
        </p:nvGrpSpPr>
        <p:grpSpPr>
          <a:xfrm>
            <a:off x="495110" y="4398481"/>
            <a:ext cx="4676583" cy="888759"/>
            <a:chOff x="583901" y="4744448"/>
            <a:chExt cx="4676583" cy="88875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F862DF7-923D-120C-ACF3-765EADFB7592}"/>
                </a:ext>
              </a:extLst>
            </p:cNvPr>
            <p:cNvSpPr txBox="1"/>
            <p:nvPr/>
          </p:nvSpPr>
          <p:spPr>
            <a:xfrm>
              <a:off x="611847" y="5018134"/>
              <a:ext cx="462068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Even if each forward pass is internally parallel, the </a:t>
              </a:r>
              <a:r>
                <a:rPr lang="zh-CN" altLang="zh-CN" sz="16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token-by-token decoding loop remains serial</a:t>
              </a:r>
              <a:r>
                <a:rPr lang="zh-CN" altLang="zh-CN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33F10EE-0315-72B8-A9D7-CF7B315B7636}"/>
                </a:ext>
              </a:extLst>
            </p:cNvPr>
            <p:cNvSpPr/>
            <p:nvPr/>
          </p:nvSpPr>
          <p:spPr bwMode="auto">
            <a:xfrm>
              <a:off x="583901" y="4777530"/>
              <a:ext cx="4676583" cy="855677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MingLiU" pitchFamily="18" charset="-12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DBC7D97-7AA1-CD17-AF5B-67C97035CAC7}"/>
                </a:ext>
              </a:extLst>
            </p:cNvPr>
            <p:cNvSpPr txBox="1"/>
            <p:nvPr/>
          </p:nvSpPr>
          <p:spPr>
            <a:xfrm>
              <a:off x="2119836" y="4744448"/>
              <a:ext cx="15488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 Problem</a:t>
              </a: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103E657-EBFA-557D-5684-B673D4FD26BA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 bwMode="auto">
          <a:xfrm flipH="1">
            <a:off x="2805454" y="3704734"/>
            <a:ext cx="9096" cy="693747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64B0429-4B32-8CCC-ABC2-023B4E48C38D}"/>
              </a:ext>
            </a:extLst>
          </p:cNvPr>
          <p:cNvGrpSpPr/>
          <p:nvPr/>
        </p:nvGrpSpPr>
        <p:grpSpPr>
          <a:xfrm>
            <a:off x="6230709" y="3417896"/>
            <a:ext cx="5119476" cy="999827"/>
            <a:chOff x="5952305" y="3491652"/>
            <a:chExt cx="5119476" cy="999827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1E6D976-D6A2-1B06-301B-467336CD82DF}"/>
                </a:ext>
              </a:extLst>
            </p:cNvPr>
            <p:cNvSpPr txBox="1"/>
            <p:nvPr/>
          </p:nvSpPr>
          <p:spPr>
            <a:xfrm>
              <a:off x="5952305" y="3715036"/>
              <a:ext cx="499071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Simple</a:t>
              </a:r>
              <a:r>
                <a:rPr lang="zh-CN" altLang="zh-CN" sz="14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minimal modification to the original  </a:t>
              </a:r>
            </a:p>
            <a:p>
              <a:r>
                <a:rPr lang="zh-CN" altLang="zh-CN" sz="14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Efficient</a:t>
              </a:r>
              <a:r>
                <a:rPr lang="zh-CN" altLang="zh-CN" sz="14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reduces decoding latency / increases throughput </a:t>
              </a:r>
            </a:p>
            <a:p>
              <a:r>
                <a:rPr lang="zh-CN" altLang="zh-CN" sz="14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Faithful</a:t>
              </a:r>
              <a:r>
                <a:rPr lang="zh-CN" altLang="zh-CN" sz="14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preserves the target model</a:t>
              </a:r>
              <a:r>
                <a:rPr lang="en-US" altLang="zh-CN" sz="14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’</a:t>
              </a:r>
              <a:r>
                <a:rPr lang="zh-CN" altLang="zh-CN" sz="14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output quality or distribution </a:t>
              </a:r>
              <a:endParaRPr lang="zh-CN" altLang="en-US" sz="14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8A93C59-8535-375C-A598-4656DE300DD4}"/>
                </a:ext>
              </a:extLst>
            </p:cNvPr>
            <p:cNvSpPr/>
            <p:nvPr/>
          </p:nvSpPr>
          <p:spPr bwMode="auto">
            <a:xfrm>
              <a:off x="5952305" y="3529277"/>
              <a:ext cx="5119476" cy="962202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MingLiU" pitchFamily="18" charset="-12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69AB548-0A91-48DC-AFB4-E8B740C5748E}"/>
                </a:ext>
              </a:extLst>
            </p:cNvPr>
            <p:cNvSpPr txBox="1"/>
            <p:nvPr/>
          </p:nvSpPr>
          <p:spPr>
            <a:xfrm>
              <a:off x="6896981" y="3491652"/>
              <a:ext cx="32301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Desired Acceleration Scheme</a:t>
              </a:r>
            </a:p>
          </p:txBody>
        </p: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889879A-1D19-98C2-9B3B-F97D3642DC30}"/>
              </a:ext>
            </a:extLst>
          </p:cNvPr>
          <p:cNvCxnSpPr>
            <a:cxnSpLocks/>
            <a:stCxn id="17" idx="2"/>
            <a:endCxn id="43" idx="0"/>
          </p:cNvCxnSpPr>
          <p:nvPr/>
        </p:nvCxnSpPr>
        <p:spPr bwMode="auto">
          <a:xfrm>
            <a:off x="8790447" y="3231792"/>
            <a:ext cx="0" cy="18610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E007854-37CB-B822-5825-0402448BFCFF}"/>
              </a:ext>
            </a:extLst>
          </p:cNvPr>
          <p:cNvSpPr txBox="1"/>
          <p:nvPr/>
        </p:nvSpPr>
        <p:spPr>
          <a:xfrm>
            <a:off x="5184133" y="4583147"/>
            <a:ext cx="7212627" cy="1355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b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lvl="1" indent="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None/>
              <a:defRPr kumimoji="1" sz="1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en-US" altLang="zh-CN" dirty="0"/>
              <a:t>Speculative Decoding</a:t>
            </a:r>
          </a:p>
          <a:p>
            <a:pPr lvl="1"/>
            <a:r>
              <a:rPr lang="en-US" altLang="zh-CN" b="1" dirty="0"/>
              <a:t>Key Features</a:t>
            </a:r>
          </a:p>
          <a:p>
            <a:pPr marL="800100" lvl="1" indent="-342900">
              <a:buAutoNum type="arabicPeriod"/>
            </a:pPr>
            <a:r>
              <a:rPr lang="en-US" altLang="zh-CN" dirty="0"/>
              <a:t>Draft with a small model, verify with a large model</a:t>
            </a:r>
          </a:p>
          <a:p>
            <a:pPr marL="800100" lvl="1" indent="-342900">
              <a:buAutoNum type="arabicPeriod"/>
            </a:pPr>
            <a:r>
              <a:rPr lang="en-US" altLang="zh-CN" dirty="0"/>
              <a:t>Improves decoding efficiency </a:t>
            </a:r>
            <a:r>
              <a:rPr lang="en-US" altLang="zh-CN" b="1" dirty="0"/>
              <a:t>without altering final generation behavior</a:t>
            </a:r>
          </a:p>
          <a:p>
            <a:pPr marL="800100" lvl="1" indent="-342900">
              <a:buAutoNum type="arabicPeriod"/>
            </a:pPr>
            <a:r>
              <a:rPr lang="en-US" altLang="zh-CN" dirty="0"/>
              <a:t>Retain the original target model architecture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1ABF966-6156-9E4B-2FEF-CEDC335402F6}"/>
              </a:ext>
            </a:extLst>
          </p:cNvPr>
          <p:cNvCxnSpPr>
            <a:cxnSpLocks/>
            <a:stCxn id="41" idx="2"/>
            <a:endCxn id="49" idx="0"/>
          </p:cNvCxnSpPr>
          <p:nvPr/>
        </p:nvCxnSpPr>
        <p:spPr bwMode="auto">
          <a:xfrm>
            <a:off x="8790447" y="4417723"/>
            <a:ext cx="0" cy="16542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0451FB5-A95D-9E24-210F-F8BB2BD4990C}"/>
              </a:ext>
            </a:extLst>
          </p:cNvPr>
          <p:cNvSpPr txBox="1"/>
          <p:nvPr/>
        </p:nvSpPr>
        <p:spPr>
          <a:xfrm>
            <a:off x="5860536" y="1266559"/>
            <a:ext cx="5859821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5: Existing acceleration methods and their performance trade-offs.</a:t>
            </a:r>
          </a:p>
        </p:txBody>
      </p:sp>
    </p:spTree>
    <p:extLst>
      <p:ext uri="{BB962C8B-B14F-4D97-AF65-F5344CB8AC3E}">
        <p14:creationId xmlns:p14="http://schemas.microsoft.com/office/powerpoint/2010/main" val="94187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79C5-24B7-FF77-6336-53470AF5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736F-B509-8FE5-E3D8-E8BF4A16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600" dirty="0">
                <a:ea typeface="Calibri" panose="020F0502020204030204" pitchFamily="34" charset="0"/>
                <a:cs typeface="Calibri" panose="020F0502020204030204" pitchFamily="34" charset="0"/>
              </a:rPr>
              <a:t>Introduction – Why Branch Prediction is Needed? (4/4)</a:t>
            </a:r>
            <a:endParaRPr lang="en-US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C9E2-E7B7-9AD9-8048-3B63FD48D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0546"/>
            <a:ext cx="6608190" cy="2554188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CPU Speculation to LLM Speculative Decoding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37944DD-8740-7776-E86C-70EB62BE4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99613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071DB3D-076F-87D2-2CDA-FBE873225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40524"/>
              </p:ext>
            </p:extLst>
          </p:nvPr>
        </p:nvGraphicFramePr>
        <p:xfrm>
          <a:off x="779283" y="1746550"/>
          <a:ext cx="9204960" cy="25603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386330">
                  <a:extLst>
                    <a:ext uri="{9D8B030D-6E8A-4147-A177-3AD203B41FA5}">
                      <a16:colId xmlns:a16="http://schemas.microsoft.com/office/drawing/2014/main" val="198347827"/>
                    </a:ext>
                  </a:extLst>
                </a:gridCol>
                <a:gridCol w="3161030">
                  <a:extLst>
                    <a:ext uri="{9D8B030D-6E8A-4147-A177-3AD203B41FA5}">
                      <a16:colId xmlns:a16="http://schemas.microsoft.com/office/drawing/2014/main" val="121945727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747170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Branch Prediction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Decoding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57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Bottleneck</a:t>
                      </a:r>
                      <a:endParaRPr 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hazards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decoding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152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Predictor</a:t>
                      </a:r>
                      <a:endParaRPr 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 predictor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45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Verifier</a:t>
                      </a:r>
                      <a:endParaRPr 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execution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003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prediction</a:t>
                      </a:r>
                      <a:endParaRPr 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 drafted 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31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prediction</a:t>
                      </a:r>
                      <a:endParaRPr 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Flush and restart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 and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75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  <a:endParaRPr 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Preserve pipeline 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multiple tokens per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34093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F0733C3-1423-A198-8836-DF6F8F7E7E4C}"/>
              </a:ext>
            </a:extLst>
          </p:cNvPr>
          <p:cNvSpPr txBox="1"/>
          <p:nvPr/>
        </p:nvSpPr>
        <p:spPr>
          <a:xfrm>
            <a:off x="679908" y="4416704"/>
            <a:ext cx="99818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principle: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predictor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stalls in an expensive sequential process.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condition for speedup: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target-model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than verifying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drafted tokens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8C864-9052-4A2B-8789-720CD1D9C372}"/>
              </a:ext>
            </a:extLst>
          </p:cNvPr>
          <p:cNvSpPr txBox="1"/>
          <p:nvPr/>
        </p:nvSpPr>
        <p:spPr>
          <a:xfrm>
            <a:off x="2399412" y="1438773"/>
            <a:ext cx="654279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6: Parallel between CPU branch prediction and speculative decoding in LLMs.</a:t>
            </a:r>
          </a:p>
        </p:txBody>
      </p:sp>
    </p:spTree>
    <p:extLst>
      <p:ext uri="{BB962C8B-B14F-4D97-AF65-F5344CB8AC3E}">
        <p14:creationId xmlns:p14="http://schemas.microsoft.com/office/powerpoint/2010/main" val="1176769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49083-9BD8-DA8B-BEE6-C24B46E1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384E3-EC3F-BA03-F455-10011422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B7FBBC-4F84-CF5B-AB5A-04723D1B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Formulation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242116A-7FD8-A64A-576E-D2B4D7A2D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77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Formulation(1/1)							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119406" y="1130250"/>
                <a:ext cx="6373438" cy="2189893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How Speculative Decoding Works: </a:t>
                </a:r>
                <a:b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</a:b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“</a:t>
                </a:r>
                <a:r>
                  <a:rPr lang="en-US" altLang="zh-C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Draft–verify–accept/reject”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paradigm</a:t>
                </a:r>
              </a:p>
              <a:p>
                <a:pPr lvl="2"/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C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 model 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proposes K candidate tokens</a:t>
                </a:r>
              </a:p>
              <a:p>
                <a:pPr lvl="2"/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model 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verifies these candidates in parallel</a:t>
                </a:r>
              </a:p>
              <a:p>
                <a:pPr lvl="2"/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Accepted tokens are committed, while rejected tokens are corrected using the target model</a:t>
                </a:r>
                <a:b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inequality:</a:t>
                </a:r>
                <a:b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  <m:sup>
                        <m:r>
                          <a:rPr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𝑠𝑡𝑒𝑝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sz="2000">
                            <a:latin typeface="Cambria Math" panose="02040503050406030204" pitchFamily="18" charset="0"/>
                          </a:rPr>
                          <m:t>generation</m:t>
                        </m:r>
                      </m:sup>
                    </m:sSubSup>
                    <m:r>
                      <a:rPr sz="200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  <m:sup>
                        <m:r>
                          <a:rPr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sz="200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𝒑𝒂𝒓𝒂𝒍𝒍𝒆𝒍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sz="2000">
                            <a:latin typeface="Cambria Math" panose="02040503050406030204" pitchFamily="18" charset="0"/>
                          </a:rPr>
                          <m:t>𝒗𝒆𝒓𝒊𝒇𝒚</m:t>
                        </m:r>
                      </m:sup>
                    </m:sSubSup>
                    <m:r>
                      <a:rPr sz="2000">
                        <a:latin typeface="Cambria Math" panose="02040503050406030204" pitchFamily="18" charset="0"/>
                      </a:rPr>
                      <m:t>​≫</m:t>
                    </m:r>
                    <m:r>
                      <a:rPr sz="2000">
                        <a:latin typeface="Cambria Math" panose="02040503050406030204" pitchFamily="18" charset="0"/>
                      </a:rPr>
                      <m:t>𝐾</m:t>
                    </m:r>
                    <m:r>
                      <a:rPr sz="200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00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</m:oMath>
                </a14:m>
                <a:endParaRPr lang="ar-AE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Problems in Speculative Decoding</a:t>
                </a:r>
              </a:p>
              <a:p>
                <a:pPr lvl="1"/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 Quality vs. Draft Speed: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 quality–latency trade-off</a:t>
                </a:r>
              </a:p>
              <a:p>
                <a:pPr lvl="1"/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Strict vs. Relaxed Verification: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Verification fidelity–throughput trade-off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406" y="1130250"/>
                <a:ext cx="6373438" cy="2189893"/>
              </a:xfrm>
              <a:blipFill>
                <a:blip r:embed="rId2"/>
                <a:stretch>
                  <a:fillRect l="-383" t="-1389" r="-191" b="-11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466029" y="5624743"/>
            <a:ext cx="4229493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1: Overview of Speculative Decoding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BFD5F4-1036-13F4-4F5B-E376F9B02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14" y="1079368"/>
            <a:ext cx="3901552" cy="45201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EE20C-C386-C309-F98A-6C3A8D1A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2EDF0-AFD2-204B-AE5C-17995569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935A03-5F2A-F04B-1491-E586C628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78FE4C2-EBFE-981B-B8E7-CC70F112D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01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Blockwise Parallel Decoding (1/5)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462808" y="1185562"/>
            <a:ext cx="10942320" cy="4772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b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work to introduce speculative-style decoding in seq2seq generation</a:t>
            </a:r>
          </a:p>
          <a:p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decoding has become the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paradigm for language modeling.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is slow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greedy decoding produces only one token per step.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Brute-force parallelization is infeasible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vocabulary size makes it impossible to enumerate all candidate suffixes of length k.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Acceleration must preserve quality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speedup methods introduce noticeable degradation in generation quality.</a:t>
            </a:r>
          </a:p>
          <a:p>
            <a:pPr lvl="1"/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asymmetry:</a:t>
            </a:r>
            <a:br>
              <a:rPr lang="zh-CN" altLang="zh-CN" sz="2800" dirty="0"/>
            </a:b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hile generation is </a:t>
            </a:r>
            <a:r>
              <a:rPr lang="zh-C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inherently sequential</a:t>
            </a:r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verification of a candidate prefix can be </a:t>
            </a:r>
            <a:r>
              <a:rPr lang="zh-C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parallelized</a:t>
            </a:r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B03A-6012-9B01-CDD0-0A2777E9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A2A03B-5FB7-5125-7F0A-0767C5047F4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20"/>
          <a:stretch>
            <a:fillRect/>
          </a:stretch>
        </p:blipFill>
        <p:spPr>
          <a:xfrm>
            <a:off x="6801439" y="4242962"/>
            <a:ext cx="5364884" cy="13933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618C95-6E87-9C59-9CBB-7532387432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07"/>
          <a:stretch>
            <a:fillRect/>
          </a:stretch>
        </p:blipFill>
        <p:spPr>
          <a:xfrm>
            <a:off x="6801439" y="1125450"/>
            <a:ext cx="5268722" cy="247559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596BC164-3AC1-EEF7-CACC-AA503C86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Blockwise Parallel Decoding (2/5)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3EA82-AAB1-6260-291D-9005DF44F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79514F7-C6BA-8E9C-564B-866F96E1376E}"/>
                  </a:ext>
                </a:extLst>
              </p:cNvPr>
              <p:cNvSpPr txBox="1"/>
              <p:nvPr/>
            </p:nvSpPr>
            <p:spPr bwMode="auto">
              <a:xfrm>
                <a:off x="121840" y="1152247"/>
                <a:ext cx="6529332" cy="4878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2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 Contributions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I: Blockwise Parallel Decoding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Propose the next k tokens in parallel, verify them jointly, and accept the longest valid prefix.</a:t>
                </a:r>
                <a:endParaRPr lang="en-US" altLang="zh-CN" sz="1800" b="1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Generation is inherently sequential, but prefix verification can be parallelized.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6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Train auxiliary proposal models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6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16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predict future tokens in parallel.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6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Use the base model to identify the longest acceptable prefix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sz="1600">
                        <a:latin typeface="Cambria Math" panose="02040503050406030204" pitchFamily="18" charset="0"/>
                      </a:rPr>
                      <m:t> .</m:t>
                    </m:r>
                  </m:oMath>
                </a14:m>
                <a:endParaRPr lang="en-US" altLang="zh-CN" sz="1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6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Commit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tokens.</a:t>
                </a:r>
                <a:endParaRPr lang="ar-AE" altLang="zh-CN" sz="1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II: Combining Scoring and Proposal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Naive </a:t>
                </a:r>
                <a:r>
                  <a:rPr lang="en-US" altLang="zh-CN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blockwise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decoding requires two forward passes per round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Lower end-to-end runtime.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Same backbone with </a:t>
                </a:r>
                <a:r>
                  <a:rPr lang="zh-CN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multi-output prediction head</a:t>
                </a:r>
                <a:endParaRPr lang="en-US" altLang="zh-CN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2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sz="22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79514F7-C6BA-8E9C-564B-866F96E13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840" y="1152247"/>
                <a:ext cx="6529332" cy="4878440"/>
              </a:xfrm>
              <a:prstGeom prst="rect">
                <a:avLst/>
              </a:prstGeom>
              <a:blipFill>
                <a:blip r:embed="rId5"/>
                <a:stretch>
                  <a:fillRect l="-373" t="-625" r="-2241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2405043-33B3-2857-0252-5D4D40FDCF42}"/>
              </a:ext>
            </a:extLst>
          </p:cNvPr>
          <p:cNvSpPr txBox="1"/>
          <p:nvPr/>
        </p:nvSpPr>
        <p:spPr>
          <a:xfrm>
            <a:off x="7001535" y="3628263"/>
            <a:ext cx="486853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2: Blockwise parallel decoding with joint proposal, parallel verification, and longest-prefix acceptance.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9F3184-88B6-6860-5D61-80828B35ECAA}"/>
              </a:ext>
            </a:extLst>
          </p:cNvPr>
          <p:cNvSpPr txBox="1"/>
          <p:nvPr/>
        </p:nvSpPr>
        <p:spPr>
          <a:xfrm>
            <a:off x="7049616" y="5636329"/>
            <a:ext cx="486853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3: Combined scoring and proposal design with multi-output heads for more efficient </a:t>
            </a:r>
            <a:r>
              <a:rPr lang="en-US" altLang="zh-CN" sz="14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blockwise</a:t>
            </a:r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decoding.</a:t>
            </a:r>
          </a:p>
        </p:txBody>
      </p:sp>
    </p:spTree>
    <p:extLst>
      <p:ext uri="{BB962C8B-B14F-4D97-AF65-F5344CB8AC3E}">
        <p14:creationId xmlns:p14="http://schemas.microsoft.com/office/powerpoint/2010/main" val="51244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5F46-EEC7-C5B3-172A-E8354944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FB98290-C10B-99D7-8B4F-FCE7C0E9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Blockwise Parallel Decoding (3/5)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41C11-4B82-195A-BFA9-11D807D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74A3B0F6-4F8C-8DC8-AA79-26EC2651597C}"/>
              </a:ext>
            </a:extLst>
          </p:cNvPr>
          <p:cNvSpPr txBox="1"/>
          <p:nvPr/>
        </p:nvSpPr>
        <p:spPr bwMode="auto">
          <a:xfrm>
            <a:off x="158022" y="1349058"/>
            <a:ext cx="11875955" cy="3145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Results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</a:p>
          <a:p>
            <a:pPr lvl="2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 (newstest2013 dev)</a:t>
            </a:r>
          </a:p>
          <a:p>
            <a:pPr lvl="2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(8×8→32×32 conditional generation)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factors studied:</a:t>
            </a:r>
          </a:p>
          <a:p>
            <a:pPr lvl="2"/>
            <a:r>
              <a:rPr lang="en-US" altLang="zh-C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 k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larger k offers stronger theoretical speedup, but also makes proposal more difficult</a:t>
            </a:r>
          </a:p>
          <a:p>
            <a:pPr lvl="2"/>
            <a:r>
              <a:rPr lang="en-US" altLang="zh-C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or not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freezing the base model is safer for quality, while fine-tuning improves multi-step prediction</a:t>
            </a:r>
          </a:p>
          <a:p>
            <a:pPr lvl="2"/>
            <a:r>
              <a:rPr lang="en-US" altLang="zh-C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distillation makes sequences more predictable</a:t>
            </a:r>
          </a:p>
          <a:p>
            <a:pPr lvl="2"/>
            <a:r>
              <a:rPr lang="en-US" altLang="zh-C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Strategy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approximate verification increases the accepted prefix length</a:t>
            </a:r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 head</a:t>
            </a:r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16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8B94-411F-5794-AC1B-E2A83E4A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3C14F31-4F24-5F2E-8BE7-59C9FE39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Blockwise Parallel Decoding (4/5)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74DE6-9765-9BFF-4DD0-A18EA81F5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5E4904-1E2A-8568-3FAC-2B886F62CD0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91"/>
          <a:stretch>
            <a:fillRect/>
          </a:stretch>
        </p:blipFill>
        <p:spPr>
          <a:xfrm>
            <a:off x="6096000" y="1290517"/>
            <a:ext cx="6020664" cy="16506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682FCB8-0B6A-A9EC-B724-D5FF9154444C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23"/>
          <a:stretch>
            <a:fillRect/>
          </a:stretch>
        </p:blipFill>
        <p:spPr>
          <a:xfrm>
            <a:off x="6432671" y="3736638"/>
            <a:ext cx="5347321" cy="1749762"/>
          </a:xfrm>
          <a:prstGeom prst="rect">
            <a:avLst/>
          </a:prstGeom>
        </p:spPr>
      </p:pic>
      <p:sp>
        <p:nvSpPr>
          <p:cNvPr id="8" name="内容占位符 5">
            <a:extLst>
              <a:ext uri="{FF2B5EF4-FFF2-40B4-BE49-F238E27FC236}">
                <a16:creationId xmlns:a16="http://schemas.microsoft.com/office/drawing/2014/main" id="{9A7BAA63-CF0D-21EA-2A12-4D4E74231025}"/>
              </a:ext>
            </a:extLst>
          </p:cNvPr>
          <p:cNvSpPr txBox="1"/>
          <p:nvPr/>
        </p:nvSpPr>
        <p:spPr bwMode="auto">
          <a:xfrm>
            <a:off x="85727" y="1081559"/>
            <a:ext cx="6223000" cy="485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Machine Translation: Iteration Reduction </a:t>
            </a:r>
          </a:p>
          <a:p>
            <a:pPr lvl="1"/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(frozen + original data): Preserves quality and achieves about 1.76× iteration reduction</a:t>
            </a:r>
          </a:p>
          <a:p>
            <a:pPr lvl="1"/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 only (frozen + distilled data)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Distilled sequences are more predictable; speed and BLEU improve slightly</a:t>
            </a:r>
          </a:p>
          <a:p>
            <a:pPr lvl="1"/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only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Better prediction, but increased quality risk</a:t>
            </a:r>
          </a:p>
          <a:p>
            <a:pPr lvl="1"/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+ Distillation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Nearly 5× iteration reduction at the cost of some BLEU degradation</a:t>
            </a:r>
          </a:p>
          <a:p>
            <a:pPr lvl="1"/>
            <a:endParaRPr lang="en-US" altLang="zh-CN" sz="16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Image Super-Resolution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verification matters more</a:t>
            </a:r>
          </a:p>
          <a:p>
            <a:pPr lvl="1"/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image generation, tokens correspond to pixel intensity values, so exact matching is too strict.</a:t>
            </a:r>
          </a:p>
          <a:p>
            <a:pPr lvl="1"/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fine-tuning + approximate setting achieves the highest preference rate of </a:t>
            </a: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56.8%.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6DB0C2-B774-0CCE-DAD8-80BCCC2D7129}"/>
              </a:ext>
            </a:extLst>
          </p:cNvPr>
          <p:cNvSpPr txBox="1"/>
          <p:nvPr/>
        </p:nvSpPr>
        <p:spPr>
          <a:xfrm>
            <a:off x="6868818" y="2842356"/>
            <a:ext cx="4229493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4: Results on Machine Translation Task.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011DEC-A029-06ED-6727-46F430035CE1}"/>
              </a:ext>
            </a:extLst>
          </p:cNvPr>
          <p:cNvSpPr txBox="1"/>
          <p:nvPr/>
        </p:nvSpPr>
        <p:spPr>
          <a:xfrm>
            <a:off x="6991583" y="3460291"/>
            <a:ext cx="4229493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7: Results on Image Super-Resolution Task.</a:t>
            </a:r>
          </a:p>
        </p:txBody>
      </p:sp>
    </p:spTree>
    <p:extLst>
      <p:ext uri="{BB962C8B-B14F-4D97-AF65-F5344CB8AC3E}">
        <p14:creationId xmlns:p14="http://schemas.microsoft.com/office/powerpoint/2010/main" val="399626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DE53-BC6D-410F-F10A-C50DE9D9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CB0E817-E066-24BF-020D-FACECDDD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Blockwise Parallel Decoding (5/5)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E25E2C-E091-5F53-F5B0-924BD8F89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F79F78FA-9222-A99D-7E54-AE3428811E19}"/>
              </a:ext>
            </a:extLst>
          </p:cNvPr>
          <p:cNvSpPr txBox="1"/>
          <p:nvPr/>
        </p:nvSpPr>
        <p:spPr bwMode="auto">
          <a:xfrm>
            <a:off x="61388" y="1081560"/>
            <a:ext cx="5237480" cy="47931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Wall-Clock Speedup and Final Takeaway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decoding can substantially accelerate inference</a:t>
            </a: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varies across tasks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Translation: 3.3</a:t>
            </a:r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super-resolution: 4.0</a:t>
            </a:r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k is not always better</a:t>
            </a:r>
            <a:b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k increases: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accepted block size usually grows,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per-round computation cost also increases.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86C1BF-F51A-8E4E-107F-A7B225E22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052" y="1135173"/>
            <a:ext cx="5340536" cy="2562331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CFF2F53-0442-4632-030A-30883CB81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265516"/>
              </p:ext>
            </p:extLst>
          </p:nvPr>
        </p:nvGraphicFramePr>
        <p:xfrm>
          <a:off x="5298868" y="4533583"/>
          <a:ext cx="6791532" cy="1341120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1077582460"/>
                    </a:ext>
                  </a:extLst>
                </a:gridCol>
                <a:gridCol w="1422718">
                  <a:extLst>
                    <a:ext uri="{9D8B030D-6E8A-4147-A177-3AD203B41FA5}">
                      <a16:colId xmlns:a16="http://schemas.microsoft.com/office/drawing/2014/main" val="3091561698"/>
                    </a:ext>
                  </a:extLst>
                </a:gridCol>
                <a:gridCol w="2595134">
                  <a:extLst>
                    <a:ext uri="{9D8B030D-6E8A-4147-A177-3AD203B41FA5}">
                      <a16:colId xmlns:a16="http://schemas.microsoft.com/office/drawing/2014/main" val="2334935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Task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Peak speedup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Configuration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65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/>
                        <a:t>Machine translation</a:t>
                      </a:r>
                      <a:endParaRPr lang="zh-CN" sz="140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3.3×</a:t>
                      </a:r>
                      <a:endParaRPr lang="zh-CN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dirty="0"/>
                        <a:t>(k=8), </a:t>
                      </a:r>
                      <a:br>
                        <a:rPr lang="en-US" altLang="zh-CN" sz="1400" dirty="0"/>
                      </a:br>
                      <a:r>
                        <a:rPr lang="zh-CN" sz="1400" dirty="0"/>
                        <a:t>mean accepted block size 4.7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71373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Image super-resolution</a:t>
                      </a:r>
                      <a:endParaRPr 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1" dirty="0"/>
                        <a:t>4.0×</a:t>
                      </a:r>
                      <a:endParaRPr 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dirty="0"/>
                        <a:t>(k=6), </a:t>
                      </a:r>
                      <a:br>
                        <a:rPr lang="en-US" altLang="zh-CN" sz="1400" dirty="0"/>
                      </a:br>
                      <a:r>
                        <a:rPr lang="zh-CN" sz="1400" dirty="0"/>
                        <a:t>mean accepted block size 5.3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138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10E9C0B-92AF-7546-1C94-D88E8D7B9BC7}"/>
              </a:ext>
            </a:extLst>
          </p:cNvPr>
          <p:cNvSpPr txBox="1"/>
          <p:nvPr/>
        </p:nvSpPr>
        <p:spPr>
          <a:xfrm>
            <a:off x="6660390" y="3614180"/>
            <a:ext cx="4473860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5: Wall-clock speedup vs. mean accepted block size.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D15D2-0303-1CCB-61EB-F2908A4B6B80}"/>
              </a:ext>
            </a:extLst>
          </p:cNvPr>
          <p:cNvSpPr txBox="1"/>
          <p:nvPr/>
        </p:nvSpPr>
        <p:spPr>
          <a:xfrm>
            <a:off x="6579887" y="4193540"/>
            <a:ext cx="4229493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8: Peak speedup and corresponding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59868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E10E-14BD-D64C-D451-40AFEC23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01DF9-F0DD-4CB6-141F-9C6854CC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DDCE42-D487-9420-7C53-1219BAB9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5AC3B32-E7B0-4F1D-83B9-51194A6D5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778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C4F0-D406-2C16-E27A-500E4378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72ECD29-CA5E-5A18-4642-A372B740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Speculative Sampling (1/3)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26FEF2-9211-9CCF-CD3C-5F79250B1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AAEBAB1D-2424-EDE4-A859-6B58E99CD0DF}"/>
              </a:ext>
            </a:extLst>
          </p:cNvPr>
          <p:cNvSpPr txBox="1"/>
          <p:nvPr/>
        </p:nvSpPr>
        <p:spPr bwMode="auto">
          <a:xfrm>
            <a:off x="183407" y="1150002"/>
            <a:ext cx="11861273" cy="4772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b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formalization of speculative decoding for LLMs with exact distribution preservation</a:t>
            </a:r>
          </a:p>
          <a:p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Decoder-only LLMs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become a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paradigm for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generation and even multimodal tasks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decoding is inherently inefficient: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forward pass generates only one token, leading to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utilization of GPU parallelism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verification is overly restrictive: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earlier methods, a draft token is accepted only if it exactly matches the target model’s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top-1 prediction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zh-CN" altLang="zh-CN" sz="2800" dirty="0"/>
            </a:b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call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target model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multiple output tokens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preserving a final sampling distribution exactly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that of the target model?</a:t>
            </a:r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08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CAF99-E84E-C559-26FA-1F9F40AD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E5DE010-9C06-6134-01C8-A05FFABEC2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633" y="1117123"/>
            <a:ext cx="4392175" cy="305438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F3D8F022-F44E-8FFF-0F12-20B42827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Speculative Sampling (2/3)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8064F-37D1-FA66-57EC-3CFC91D31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77AA009-AF9A-0D83-E7E1-8A12970820C7}"/>
                  </a:ext>
                </a:extLst>
              </p:cNvPr>
              <p:cNvSpPr txBox="1"/>
              <p:nvPr/>
            </p:nvSpPr>
            <p:spPr bwMode="auto">
              <a:xfrm>
                <a:off x="92144" y="1117123"/>
                <a:ext cx="7257502" cy="4909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2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spcBef>
                    <a:spcPts val="0"/>
                  </a:spcBef>
                </a:pPr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 Contributions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I: The Speculative Sampling Framework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small draft model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/>
                  <a:t>proposes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/>
                  <a:t> tokens autoregressively;the target model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verifies them in parallel.</a:t>
                </a:r>
                <a:endParaRPr lang="en-US" altLang="zh-CN" sz="1800" b="1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</a:t>
                </a:r>
                <a:r>
                  <a:rPr lang="zh-CN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arallel scoring of multiple positions can have latency close to that of generating only one token.</a:t>
                </a:r>
                <a:endParaRPr lang="en-US" altLang="zh-CN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draft model proposes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tokens.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target model scores all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positions in parallel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if all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accepted, sample one extra token.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each round can output up to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tokens.</a:t>
                </a:r>
                <a:endParaRPr lang="ar-AE" altLang="zh-CN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II: Modified Rejection Sampling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It </a:t>
                </a: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relaxes strict verification 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preserving </a:t>
                </a:r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distributional equivalence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target model.</a:t>
                </a:r>
              </a:p>
            </p:txBody>
          </p:sp>
        </mc:Choice>
        <mc:Fallback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77AA009-AF9A-0D83-E7E1-8A129708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144" y="1117123"/>
                <a:ext cx="7257502" cy="4909330"/>
              </a:xfrm>
              <a:prstGeom prst="rect">
                <a:avLst/>
              </a:prstGeom>
              <a:blipFill>
                <a:blip r:embed="rId4"/>
                <a:stretch>
                  <a:fillRect l="-336" t="-620" r="-924" b="-12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AC1D71B6-813A-1E41-1332-28CE8215B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225" y="4552984"/>
            <a:ext cx="3035456" cy="7493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CBF8B9-96CC-DF4F-4F26-401BC45CE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056" y="5410811"/>
            <a:ext cx="4302761" cy="69161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024FC64-F0A9-1F75-8376-CD1281F9C573}"/>
              </a:ext>
            </a:extLst>
          </p:cNvPr>
          <p:cNvSpPr txBox="1"/>
          <p:nvPr/>
        </p:nvSpPr>
        <p:spPr>
          <a:xfrm>
            <a:off x="7616082" y="4514776"/>
            <a:ext cx="1438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853C1D-28DD-4720-4913-BB32B0606AF6}"/>
              </a:ext>
            </a:extLst>
          </p:cNvPr>
          <p:cNvSpPr txBox="1"/>
          <p:nvPr/>
        </p:nvSpPr>
        <p:spPr>
          <a:xfrm>
            <a:off x="7616082" y="5256922"/>
            <a:ext cx="2782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Rejection compensation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212A68-5D50-20D4-038A-1C742D3421A6}"/>
              </a:ext>
            </a:extLst>
          </p:cNvPr>
          <p:cNvSpPr txBox="1"/>
          <p:nvPr/>
        </p:nvSpPr>
        <p:spPr>
          <a:xfrm>
            <a:off x="7427820" y="4036957"/>
            <a:ext cx="447386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6: Speculative sampling with draft generation and parallel target-model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345644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2DE5-A7AC-37F1-7547-171C7BA3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8AD811C-FF43-BB7E-DFBC-A4CFBFD97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367422"/>
              </p:ext>
            </p:extLst>
          </p:nvPr>
        </p:nvGraphicFramePr>
        <p:xfrm>
          <a:off x="5636127" y="1844430"/>
          <a:ext cx="6316690" cy="19202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845962">
                  <a:extLst>
                    <a:ext uri="{9D8B030D-6E8A-4147-A177-3AD203B41FA5}">
                      <a16:colId xmlns:a16="http://schemas.microsoft.com/office/drawing/2014/main" val="4110652711"/>
                    </a:ext>
                  </a:extLst>
                </a:gridCol>
                <a:gridCol w="968837">
                  <a:extLst>
                    <a:ext uri="{9D8B030D-6E8A-4147-A177-3AD203B41FA5}">
                      <a16:colId xmlns:a16="http://schemas.microsoft.com/office/drawing/2014/main" val="3742452597"/>
                    </a:ext>
                  </a:extLst>
                </a:gridCol>
                <a:gridCol w="1418828">
                  <a:extLst>
                    <a:ext uri="{9D8B030D-6E8A-4147-A177-3AD203B41FA5}">
                      <a16:colId xmlns:a16="http://schemas.microsoft.com/office/drawing/2014/main" val="170182844"/>
                    </a:ext>
                  </a:extLst>
                </a:gridCol>
                <a:gridCol w="1290259">
                  <a:extLst>
                    <a:ext uri="{9D8B030D-6E8A-4147-A177-3AD203B41FA5}">
                      <a16:colId xmlns:a16="http://schemas.microsoft.com/office/drawing/2014/main" val="2840274311"/>
                    </a:ext>
                  </a:extLst>
                </a:gridCol>
                <a:gridCol w="792804">
                  <a:extLst>
                    <a:ext uri="{9D8B030D-6E8A-4147-A177-3AD203B41FA5}">
                      <a16:colId xmlns:a16="http://schemas.microsoft.com/office/drawing/2014/main" val="350434220"/>
                    </a:ext>
                  </a:extLst>
                </a:gridCol>
              </a:tblGrid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token time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Speedup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260273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Autoregressive (Nucleus)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XSum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 = 0.112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 ms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1×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7599671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(Nucleus)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 = 0.114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1.92×</a:t>
                      </a:r>
                      <a:endParaRPr lang="zh-C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475675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Autoregressive (Greedy)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 = 0.157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88765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(Greedy)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 = 0.156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2.01×</a:t>
                      </a:r>
                      <a:endParaRPr lang="zh-C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15109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Autoregressive (Nucleus)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pass@1 = 45.1%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992936"/>
                  </a:ext>
                </a:extLst>
              </a:tr>
              <a:tr h="270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(Nucleus)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pass@1 = 47.0%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5.73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2.46×</a:t>
                      </a:r>
                      <a:endParaRPr 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424815"/>
                  </a:ext>
                </a:extLst>
              </a:tr>
            </a:tbl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18CDB301-46E5-2319-E331-1A15AB31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Speculative Sampling (3/3)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92745-86EF-D328-9646-B0CF298AB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B4FC273E-694F-5A58-6AE0-B0CE2F44F2F4}"/>
              </a:ext>
            </a:extLst>
          </p:cNvPr>
          <p:cNvSpPr txBox="1"/>
          <p:nvPr/>
        </p:nvSpPr>
        <p:spPr bwMode="auto">
          <a:xfrm>
            <a:off x="126285" y="1021834"/>
            <a:ext cx="5509842" cy="51285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Results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</a:p>
          <a:p>
            <a:pPr lvl="2"/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summarization; </a:t>
            </a:r>
          </a:p>
          <a:p>
            <a:pPr lvl="2"/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generation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lvl="2"/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sampling delivers significant speedup while preserving output quality, with negligible distributional distortion in practice.</a:t>
            </a:r>
          </a:p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Insights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speedup larger on </a:t>
            </a:r>
            <a:r>
              <a:rPr lang="en-US" altLang="zh-CN" sz="20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2"/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is more predictable, with frequent template-like patterns, leading to higher draft acceptance rates.</a:t>
            </a:r>
            <a:endParaRPr lang="en-US" altLang="zh-CN" sz="1600" dirty="0"/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larger K not always better?</a:t>
            </a:r>
          </a:p>
          <a:p>
            <a:pPr lvl="2"/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K covers more tokens per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round,but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increases draft overhead and lowers later-token acceptance.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746EF8-259A-77A3-CA36-9E60B8007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04" y="5161873"/>
            <a:ext cx="5946196" cy="7047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458A70-2F33-C348-4F12-FCD265DE09AE}"/>
              </a:ext>
            </a:extLst>
          </p:cNvPr>
          <p:cNvSpPr txBox="1"/>
          <p:nvPr/>
        </p:nvSpPr>
        <p:spPr>
          <a:xfrm>
            <a:off x="5749025" y="1414824"/>
            <a:ext cx="6203792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9: Speculative decoding improves speed while preserving output quality.</a:t>
            </a:r>
          </a:p>
        </p:txBody>
      </p:sp>
    </p:spTree>
    <p:extLst>
      <p:ext uri="{BB962C8B-B14F-4D97-AF65-F5344CB8AC3E}">
        <p14:creationId xmlns:p14="http://schemas.microsoft.com/office/powerpoint/2010/main" val="1326657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5811-63D5-A14F-8A61-A9646995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D897E-686F-77A8-8C5F-F7428228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EAC858-BA25-F2F5-43B6-502918C5D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75AAAFDB-DA07-763A-7A99-CEB6FD5F0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349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197-C4D2-ACE5-84BA-729CCAB7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847DC2F-0FB4-3CAE-EF78-6E797541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EAGLE (1/4)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B4BC2-D7A7-254D-A598-8259707FE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26C0CB2-BC6D-EFA7-C007-C55961E938F4}"/>
              </a:ext>
            </a:extLst>
          </p:cNvPr>
          <p:cNvSpPr txBox="1"/>
          <p:nvPr/>
        </p:nvSpPr>
        <p:spPr bwMode="auto">
          <a:xfrm>
            <a:off x="183407" y="1150002"/>
            <a:ext cx="7192753" cy="4772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speculative sampling: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draft model may still be too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for mid-sized targets, suitable drafts are hard to find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Token-level drafting: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token trajectories branch heavily and are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for lightweight models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accurately.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feature-level autoregression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features depend on the actually sampled tokens, so current features alone are insufficient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zh-CN" altLang="zh-CN" sz="2800" dirty="0"/>
            </a:b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uncertainty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Given only the current hidden feature, the next-step feature is not uniquely determined unless the actual sampled token is also known.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72AE223-5F33-2560-3347-161E02D4F864}"/>
              </a:ext>
            </a:extLst>
          </p:cNvPr>
          <p:cNvGrpSpPr/>
          <p:nvPr/>
        </p:nvGrpSpPr>
        <p:grpSpPr>
          <a:xfrm>
            <a:off x="7096760" y="1426891"/>
            <a:ext cx="5009972" cy="2103524"/>
            <a:chOff x="7020560" y="1728953"/>
            <a:chExt cx="5009972" cy="210352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2E22CD9-C0EE-1621-DF42-7C546606827D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284"/>
            <a:stretch>
              <a:fillRect/>
            </a:stretch>
          </p:blipFill>
          <p:spPr>
            <a:xfrm>
              <a:off x="7020560" y="1728953"/>
              <a:ext cx="4988033" cy="17354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917DD8-B3EE-C903-6C8D-91FDFFAABD18}"/>
                </a:ext>
              </a:extLst>
            </p:cNvPr>
            <p:cNvSpPr txBox="1"/>
            <p:nvPr/>
          </p:nvSpPr>
          <p:spPr>
            <a:xfrm>
              <a:off x="7020560" y="3309257"/>
              <a:ext cx="5009972" cy="523220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 7: Comparison of representative speculative decoding methods.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D71C045-84A4-6CCC-A46A-BF188C962DC7}"/>
              </a:ext>
            </a:extLst>
          </p:cNvPr>
          <p:cNvGrpSpPr/>
          <p:nvPr/>
        </p:nvGrpSpPr>
        <p:grpSpPr>
          <a:xfrm>
            <a:off x="7297706" y="4134485"/>
            <a:ext cx="4473860" cy="1465128"/>
            <a:chOff x="7297706" y="4134485"/>
            <a:chExt cx="4473860" cy="146512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351D468-FF72-0B22-F617-F1F8CFEBA32D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466"/>
            <a:stretch>
              <a:fillRect/>
            </a:stretch>
          </p:blipFill>
          <p:spPr>
            <a:xfrm>
              <a:off x="7376160" y="4134485"/>
              <a:ext cx="4316951" cy="11176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02EF51-FD58-67DF-49AE-6A9113B4EF15}"/>
                </a:ext>
              </a:extLst>
            </p:cNvPr>
            <p:cNvSpPr txBox="1"/>
            <p:nvPr/>
          </p:nvSpPr>
          <p:spPr>
            <a:xfrm>
              <a:off x="7297706" y="5291836"/>
              <a:ext cx="4473860" cy="307777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 8: Uncertainty in feature sequences.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647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A319A-46C1-06F1-6029-5A621ADF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90B6B0-4C0D-AB91-74DC-08976AB6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EAGLE (2/4)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16CF5-9B83-F4BD-C452-6F210A518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AC545C0-E52C-1133-6B4C-65468C7EAA27}"/>
                  </a:ext>
                </a:extLst>
              </p:cNvPr>
              <p:cNvSpPr txBox="1"/>
              <p:nvPr/>
            </p:nvSpPr>
            <p:spPr bwMode="auto">
              <a:xfrm>
                <a:off x="149146" y="1025942"/>
                <a:ext cx="7257502" cy="49579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2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 Contributions</a:t>
                </a:r>
              </a:p>
              <a:p>
                <a:pPr lvl="1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I: Feature-Level Certain Speculative Drafting</a:t>
                </a:r>
              </a:p>
              <a:p>
                <a:pPr lvl="2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 the draft model not only on past features, but also on the shifted token sequence </a:t>
                </a:r>
                <a:r>
                  <a:rPr lang="en-US" altLang="zh-CN" sz="16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autogressively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dirty="0"/>
              </a:p>
              <a:p>
                <a:pPr lvl="2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trajectories are smoother and more continuous than token trajectories, making them easier for lightweight models to extrapolate</a:t>
                </a:r>
                <a:r>
                  <a:rPr lang="zh-CN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1371600" lvl="3" indent="0">
                  <a:buNone/>
                </a:pP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draft model takes as input:</a:t>
                </a:r>
              </a:p>
              <a:p>
                <a:pPr lvl="3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sequence:</a:t>
                </a:r>
                <a:r>
                  <a:rPr lang="ar-AE" altLang="zh-CN" sz="1800" kern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8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Shifted token sequence: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3"/>
                <a:endParaRPr lang="ar-AE" altLang="zh-CN" sz="14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Contribution II: A Lightweight Plug-in for Lossless Acceleration</a:t>
                </a:r>
              </a:p>
              <a:p>
                <a:pPr lvl="2"/>
                <a:r>
                  <a:rPr lang="en-US" altLang="zh-CN" sz="1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r>
                  <a:rPr lang="en-US" altLang="zh-CN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This makes deployment simple and preserves the output distribution of the original target model.</a:t>
                </a:r>
              </a:p>
            </p:txBody>
          </p:sp>
        </mc:Choice>
        <mc:Fallback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2AC545C0-E52C-1133-6B4C-65468C7EA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46" y="1025942"/>
                <a:ext cx="7257502" cy="4957953"/>
              </a:xfrm>
              <a:prstGeom prst="rect">
                <a:avLst/>
              </a:prstGeom>
              <a:blipFill>
                <a:blip r:embed="rId3"/>
                <a:stretch>
                  <a:fillRect l="-336" t="-614" r="-588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AF0A94EB-C163-51AB-87D5-8B181D778F4C}"/>
              </a:ext>
            </a:extLst>
          </p:cNvPr>
          <p:cNvGrpSpPr/>
          <p:nvPr/>
        </p:nvGrpSpPr>
        <p:grpSpPr>
          <a:xfrm>
            <a:off x="7568994" y="1148079"/>
            <a:ext cx="4473860" cy="4975291"/>
            <a:chOff x="7568994" y="1148079"/>
            <a:chExt cx="4473860" cy="497529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3B92F7C-627D-E224-7037-218F0153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9032" y="1148079"/>
              <a:ext cx="4293785" cy="471368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1A1421-9C8F-8C17-2144-C7569FDF2E74}"/>
                </a:ext>
              </a:extLst>
            </p:cNvPr>
            <p:cNvSpPr txBox="1"/>
            <p:nvPr/>
          </p:nvSpPr>
          <p:spPr>
            <a:xfrm>
              <a:off x="7568994" y="5600150"/>
              <a:ext cx="4473860" cy="523220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 9: EAGLE architecture for feature-level autoregressive drafting.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357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FDBE5-0C77-70D5-30CE-94CBBDEF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CBEAB3-C653-C69E-3377-75F2C2CC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EAGLE (3/4)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13C98-4271-2851-B5EC-D31331514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138D7E78-E437-AB47-A43C-7591124DAB81}"/>
              </a:ext>
            </a:extLst>
          </p:cNvPr>
          <p:cNvSpPr txBox="1"/>
          <p:nvPr/>
        </p:nvSpPr>
        <p:spPr bwMode="auto">
          <a:xfrm>
            <a:off x="1049867" y="1038192"/>
            <a:ext cx="9067800" cy="22096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Result</a:t>
            </a:r>
          </a:p>
          <a:p>
            <a:pPr lvl="1"/>
            <a:r>
              <a:rPr lang="en-US" altLang="zh-C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 MT Benchmark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observations</a:t>
            </a:r>
          </a:p>
          <a:p>
            <a:pPr lvl="2"/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standard autoregressive decoding, EAGLE achieves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2.1×–3.8× speedup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Lookahead, it is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1.7×–2.1× faster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Medusa, it is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1.5×–1.6× faster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LLaMA2-Chat 70B, latency speedup reaches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2.7×–3.5×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throughput around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2×</a:t>
            </a:r>
            <a:endParaRPr lang="e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37C7D66-0827-4DCA-A8EB-48C25536BFBC}"/>
              </a:ext>
            </a:extLst>
          </p:cNvPr>
          <p:cNvGrpSpPr/>
          <p:nvPr/>
        </p:nvGrpSpPr>
        <p:grpSpPr>
          <a:xfrm>
            <a:off x="2612570" y="3428996"/>
            <a:ext cx="7369630" cy="2692648"/>
            <a:chOff x="1902081" y="3491022"/>
            <a:chExt cx="7772400" cy="2956193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12AB4F19-C4E8-579B-9580-9CC879A92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2081" y="3491022"/>
              <a:ext cx="7772400" cy="262480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A6FD01F-03DE-D2F0-1DFF-7F180C5EB0EA}"/>
                </a:ext>
              </a:extLst>
            </p:cNvPr>
            <p:cNvSpPr txBox="1"/>
            <p:nvPr/>
          </p:nvSpPr>
          <p:spPr>
            <a:xfrm>
              <a:off x="1902081" y="6075525"/>
              <a:ext cx="7772399" cy="371690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 10: Speedup comparison across speculative decoding methods and model scales.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4721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D225C-3C0F-72E1-5275-D6F52AB3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547ED07-52B4-6E10-001F-E9268DBD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EAGLE (4/4)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93B32-99AB-E055-3EA9-C47790A88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FF057948-2CF2-FBBB-B347-C717ADA81D6F}"/>
              </a:ext>
            </a:extLst>
          </p:cNvPr>
          <p:cNvSpPr txBox="1"/>
          <p:nvPr/>
        </p:nvSpPr>
        <p:spPr bwMode="auto">
          <a:xfrm>
            <a:off x="217714" y="1291516"/>
            <a:ext cx="6266375" cy="30845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Studies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input combinations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 a limited draft-model budget, features are more effective than tokens because feature trajectories are smoother 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B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features with tokens is better than using features alone, because tokens provide discrete and error-free anchors 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C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 tokens are crucial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they add little complexity but significantly improve performance by resolving feature uncertainty </a:t>
            </a: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2BD713D-F18B-2D1E-D579-8D91076CB9CC}"/>
              </a:ext>
            </a:extLst>
          </p:cNvPr>
          <p:cNvGrpSpPr/>
          <p:nvPr/>
        </p:nvGrpSpPr>
        <p:grpSpPr>
          <a:xfrm>
            <a:off x="6331849" y="2129393"/>
            <a:ext cx="5552335" cy="3437091"/>
            <a:chOff x="6266375" y="1790701"/>
            <a:chExt cx="5552335" cy="343709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91D19D4-A413-DB32-0A49-508C4B237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636"/>
            <a:stretch>
              <a:fillRect/>
            </a:stretch>
          </p:blipFill>
          <p:spPr>
            <a:xfrm>
              <a:off x="6266375" y="1790701"/>
              <a:ext cx="5552335" cy="271780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D1F73E-3FB8-739F-BFC3-8CCEA2248B3C}"/>
                </a:ext>
              </a:extLst>
            </p:cNvPr>
            <p:cNvSpPr txBox="1"/>
            <p:nvPr/>
          </p:nvSpPr>
          <p:spPr>
            <a:xfrm>
              <a:off x="6585858" y="4489128"/>
              <a:ext cx="4981730" cy="73866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 11: Training dynamics of different drafting targets under T=0 and T=1, comparing speedup and key acceptance-related metrics across epochs.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659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C127-FEE6-ED1D-750A-AE895605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64AA7-5CC7-9605-C88D-5CAA5B2C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57BC23-A967-F07B-0EB5-C2380545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02FE41C-1E60-F571-B1E5-AAA785678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013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9AF4E-0186-46CE-62FD-91FB39857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A872A808-BDD0-5E9C-4A2B-08296D10F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BF34D0F-B5E1-A66E-EEB3-F91E66A42B7B}"/>
              </a:ext>
            </a:extLst>
          </p:cNvPr>
          <p:cNvSpPr txBox="1">
            <a:spLocks/>
          </p:cNvSpPr>
          <p:nvPr/>
        </p:nvSpPr>
        <p:spPr bwMode="auto">
          <a:xfrm>
            <a:off x="1296610" y="144466"/>
            <a:ext cx="10270977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kern="0" dirty="0"/>
              <a:t>C</a:t>
            </a:r>
            <a:r>
              <a:rPr lang="en-US" altLang="zh-CN" kern="0" dirty="0"/>
              <a:t>onclusion</a:t>
            </a:r>
            <a:endParaRPr lang="zh-TW" altLang="en-US" kern="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2C75E63-4447-6DB5-9A7A-6E0CCA9B9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13844"/>
              </p:ext>
            </p:extLst>
          </p:nvPr>
        </p:nvGraphicFramePr>
        <p:xfrm>
          <a:off x="585741" y="3668026"/>
          <a:ext cx="11238230" cy="22860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3008630">
                  <a:extLst>
                    <a:ext uri="{9D8B030D-6E8A-4147-A177-3AD203B41FA5}">
                      <a16:colId xmlns:a16="http://schemas.microsoft.com/office/drawing/2014/main" val="31177565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71090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264574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97296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contribution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 guarantee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limitation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55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Blockwise Parallel Decoding</a:t>
                      </a:r>
                      <a:endParaRPr 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proposal + longest-prefix verification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equivalence to greedy decoding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acceptance length; task-dependent gains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75825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Sampling</a:t>
                      </a:r>
                      <a:endParaRPr 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 model + modified rejection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preservation of target sampling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suitable draft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924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EAGLE</a:t>
                      </a:r>
                      <a:endParaRPr 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Feature-level drafting with shifted-token conditioning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Lossless acceleration with lightweight plug-in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hidden-feature predictability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242637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CFB0B94-5930-EC27-1659-B5BCAB6290F7}"/>
              </a:ext>
            </a:extLst>
          </p:cNvPr>
          <p:cNvSpPr txBox="1"/>
          <p:nvPr/>
        </p:nvSpPr>
        <p:spPr>
          <a:xfrm>
            <a:off x="1195341" y="1212900"/>
            <a:ext cx="8599017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TW"/>
            </a:defPPr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0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b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en-US" altLang="zh-CN" b="1" dirty="0"/>
              <a:t>E</a:t>
            </a:r>
            <a:r>
              <a:rPr lang="zh-CN" altLang="zh-CN" b="1" dirty="0"/>
              <a:t>volution of speculative decoding along three major directions:</a:t>
            </a:r>
            <a:endParaRPr lang="en-US" altLang="zh-CN" b="1" dirty="0"/>
          </a:p>
          <a:p>
            <a:pPr lvl="1"/>
            <a:r>
              <a:rPr lang="en-US" altLang="zh-CN" b="0" dirty="0"/>
              <a:t>F</a:t>
            </a:r>
            <a:r>
              <a:rPr lang="zh-CN" altLang="zh-CN" b="0" dirty="0"/>
              <a:t>rom greedy equivalence to distributional equivalence </a:t>
            </a:r>
          </a:p>
          <a:p>
            <a:pPr lvl="1"/>
            <a:r>
              <a:rPr lang="en-US" altLang="zh-CN" b="0" dirty="0"/>
              <a:t>F</a:t>
            </a:r>
            <a:r>
              <a:rPr lang="zh-CN" altLang="zh-CN" b="0" dirty="0"/>
              <a:t>rom token-level drafting to feature-level drafting </a:t>
            </a:r>
          </a:p>
          <a:p>
            <a:pPr lvl="1"/>
            <a:r>
              <a:rPr lang="en-US" altLang="zh-CN" b="0" dirty="0"/>
              <a:t>F</a:t>
            </a:r>
            <a:r>
              <a:rPr lang="zh-CN" altLang="zh-CN" b="0" dirty="0"/>
              <a:t>rom algorithmic acceleration to deployment-oriented system design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178810-0EEF-C1FE-4150-B872689CB3CF}"/>
              </a:ext>
            </a:extLst>
          </p:cNvPr>
          <p:cNvSpPr txBox="1"/>
          <p:nvPr/>
        </p:nvSpPr>
        <p:spPr>
          <a:xfrm>
            <a:off x="3102960" y="3276516"/>
            <a:ext cx="6203792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10: Summary of Representative Works.</a:t>
            </a:r>
          </a:p>
        </p:txBody>
      </p:sp>
    </p:spTree>
    <p:extLst>
      <p:ext uri="{BB962C8B-B14F-4D97-AF65-F5344CB8AC3E}">
        <p14:creationId xmlns:p14="http://schemas.microsoft.com/office/powerpoint/2010/main" val="2501618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6F72-5A9F-E888-E94C-C0A16804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FAF7F-2337-B7A9-D4BD-A2F290B7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2188E-119A-0DB3-676B-48CB6CEDD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 					(6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							(4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		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Parallel Decoding(2018)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Speculative Sampling(2023)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EAGLE(2024)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							(2 min)</a:t>
            </a:r>
          </a:p>
          <a:p>
            <a:r>
              <a:rPr lang="en-US" altLang="zh-CN" sz="2935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	(2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B5FE2CE4-D23E-B2D5-8371-FCC71768F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935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9737-2F8E-5C49-E5A5-CB147B38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CC85-5A48-C089-CB2A-910E920E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963" y="3481308"/>
            <a:ext cx="10270977" cy="692151"/>
          </a:xfrm>
        </p:spPr>
        <p:txBody>
          <a:bodyPr/>
          <a:lstStyle/>
          <a:p>
            <a:pPr algn="ctr"/>
            <a:r>
              <a:rPr lang="en-US" altLang="zh-TW" dirty="0"/>
              <a:t>Thanks for Listening!</a:t>
            </a:r>
            <a:endParaRPr lang="zh-TW" altLang="en-US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7806D84-CE88-9FD6-63E1-9A07A17D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25B43FFD-B61F-8AA2-0856-BC5412138A71}"/>
              </a:ext>
            </a:extLst>
          </p:cNvPr>
          <p:cNvSpPr txBox="1">
            <a:spLocks/>
          </p:cNvSpPr>
          <p:nvPr/>
        </p:nvSpPr>
        <p:spPr bwMode="auto">
          <a:xfrm>
            <a:off x="1296610" y="144466"/>
            <a:ext cx="10270977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kern="0"/>
              <a:t>Q &amp; A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250135414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3214</Words>
  <Application>Microsoft Office PowerPoint</Application>
  <PresentationFormat>宽屏</PresentationFormat>
  <Paragraphs>516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MS Sans Serif</vt:lpstr>
      <vt:lpstr>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From Branch Prediction to Speculative Decoding:  How Classical Speculation Reappears in LLM Inference   2026.4.21</vt:lpstr>
      <vt:lpstr>Outline</vt:lpstr>
      <vt:lpstr>Introduction – Why Branch Prediction is Needed?(1/4)</vt:lpstr>
      <vt:lpstr>Introduction – Why Branch Prediction is Needed? (2/4)</vt:lpstr>
      <vt:lpstr>Introduction – Why Branch Prediction is Needed? (3/4)</vt:lpstr>
      <vt:lpstr>Introduction – Why Branch Prediction is Needed? (4/4)</vt:lpstr>
      <vt:lpstr>Outline</vt:lpstr>
      <vt:lpstr>Formulation(1/1)       </vt:lpstr>
      <vt:lpstr>Outline</vt:lpstr>
      <vt:lpstr>Blockwise Parallel Decoding (1/5)</vt:lpstr>
      <vt:lpstr>Blockwise Parallel Decoding (2/5)</vt:lpstr>
      <vt:lpstr>Blockwise Parallel Decoding (3/5)</vt:lpstr>
      <vt:lpstr>Blockwise Parallel Decoding (4/5)</vt:lpstr>
      <vt:lpstr>Blockwise Parallel Decoding (5/5)</vt:lpstr>
      <vt:lpstr>Outline</vt:lpstr>
      <vt:lpstr>Speculative Sampling (1/3)</vt:lpstr>
      <vt:lpstr>Speculative Sampling (2/3)</vt:lpstr>
      <vt:lpstr>Speculative Sampling (3/3)</vt:lpstr>
      <vt:lpstr>Outline</vt:lpstr>
      <vt:lpstr>EAGLE (1/4)</vt:lpstr>
      <vt:lpstr>EAGLE (2/4)</vt:lpstr>
      <vt:lpstr>EAGLE (3/4)</vt:lpstr>
      <vt:lpstr>EAGLE (4/4)</vt:lpstr>
      <vt:lpstr>Outline</vt:lpstr>
      <vt:lpstr>PowerPoint 演示文稿</vt:lpstr>
      <vt:lpstr>Outline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Chung Yehching (SDS)</cp:lastModifiedBy>
  <cp:revision>836</cp:revision>
  <dcterms:created xsi:type="dcterms:W3CDTF">2020-07-15T11:13:00Z</dcterms:created>
  <dcterms:modified xsi:type="dcterms:W3CDTF">2026-04-21T23:46:53Z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A561A126A15842E1BD980FEE41235EB1_12</vt:lpwstr>
  </property>
  <property fmtid="{D5CDD505-2E9C-101B-9397-08002B2CF9AE}" pid="3" name="KSOProductBuildVer">
    <vt:lpwstr>2052-12.1.0.21541</vt:lpwstr>
  </property>
</Properties>
</file>