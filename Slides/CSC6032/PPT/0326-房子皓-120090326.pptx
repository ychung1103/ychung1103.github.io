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37"/>
  </p:notesMasterIdLst>
  <p:sldIdLst>
    <p:sldId id="256" r:id="rId3"/>
    <p:sldId id="529" r:id="rId4"/>
    <p:sldId id="531" r:id="rId5"/>
    <p:sldId id="516" r:id="rId6"/>
    <p:sldId id="517" r:id="rId7"/>
    <p:sldId id="520" r:id="rId8"/>
    <p:sldId id="530" r:id="rId9"/>
    <p:sldId id="521" r:id="rId10"/>
    <p:sldId id="524" r:id="rId11"/>
    <p:sldId id="568" r:id="rId12"/>
    <p:sldId id="528" r:id="rId13"/>
    <p:sldId id="527" r:id="rId14"/>
    <p:sldId id="532" r:id="rId15"/>
    <p:sldId id="533" r:id="rId16"/>
    <p:sldId id="534" r:id="rId17"/>
    <p:sldId id="535" r:id="rId18"/>
    <p:sldId id="537" r:id="rId19"/>
    <p:sldId id="538" r:id="rId20"/>
    <p:sldId id="539" r:id="rId21"/>
    <p:sldId id="540" r:id="rId22"/>
    <p:sldId id="541" r:id="rId23"/>
    <p:sldId id="542" r:id="rId24"/>
    <p:sldId id="543" r:id="rId25"/>
    <p:sldId id="553" r:id="rId26"/>
    <p:sldId id="554" r:id="rId27"/>
    <p:sldId id="555" r:id="rId28"/>
    <p:sldId id="556" r:id="rId29"/>
    <p:sldId id="559" r:id="rId30"/>
    <p:sldId id="560" r:id="rId31"/>
    <p:sldId id="561" r:id="rId32"/>
    <p:sldId id="562" r:id="rId33"/>
    <p:sldId id="565" r:id="rId34"/>
    <p:sldId id="564" r:id="rId35"/>
    <p:sldId id="567" r:id="rId3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varScale="1">
        <p:scale>
          <a:sx n="66" d="100"/>
          <a:sy n="66" d="100"/>
        </p:scale>
        <p:origin x="51" y="8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2026/3/26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CCDB5-6AAF-8239-AF71-BF50CA609C0F}"/>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DCF9123E-782D-55B3-4F8F-6DEA98288055}"/>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B0CF79C-5AA7-DEF9-1920-C22BB6BF2BA4}"/>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2BAC3AC1-D4D8-AD8A-98C3-2BC443F85FDB}"/>
              </a:ext>
            </a:extLst>
          </p:cNvPr>
          <p:cNvSpPr>
            <a:spLocks noGrp="1"/>
          </p:cNvSpPr>
          <p:nvPr>
            <p:ph type="sldNum" sz="quarter" idx="10"/>
          </p:nvPr>
        </p:nvSpPr>
        <p:spPr/>
        <p:txBody>
          <a:bodyPr/>
          <a:lstStyle/>
          <a:p>
            <a:fld id="{7320D120-4707-426F-9B85-873E256A6635}" type="slidenum">
              <a:rPr lang="zh-TW" altLang="en-US" smtClean="0"/>
              <a:pPr/>
              <a:t>2</a:t>
            </a:fld>
            <a:endParaRPr lang="zh-TW" altLang="en-US"/>
          </a:p>
        </p:txBody>
      </p:sp>
    </p:spTree>
    <p:extLst>
      <p:ext uri="{BB962C8B-B14F-4D97-AF65-F5344CB8AC3E}">
        <p14:creationId xmlns:p14="http://schemas.microsoft.com/office/powerpoint/2010/main" val="510553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4866F-6C9B-F64A-9545-B262169D7EC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292B4A2-EDC0-490A-92C8-6EA5CDE720F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47AAC0B-AE5F-75A9-03E5-CEDA54CE7A13}"/>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D296FBE1-B232-96AA-6FD7-614D806F18E0}"/>
              </a:ext>
            </a:extLst>
          </p:cNvPr>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extLst>
      <p:ext uri="{BB962C8B-B14F-4D97-AF65-F5344CB8AC3E}">
        <p14:creationId xmlns:p14="http://schemas.microsoft.com/office/powerpoint/2010/main" val="3723718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What is </a:t>
            </a:r>
            <a:r>
              <a:rPr lang="en-US" altLang="zh-CN" dirty="0" err="1"/>
              <a:t>tts</a:t>
            </a:r>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3505327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Why do we need low-latency real-time </a:t>
            </a:r>
            <a:r>
              <a:rPr lang="en-US" altLang="zh-CN" dirty="0" err="1"/>
              <a:t>tts</a:t>
            </a:r>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5</a:t>
            </a:fld>
            <a:endParaRPr lang="zh-TW" altLang="en-US"/>
          </a:p>
        </p:txBody>
      </p:sp>
    </p:spTree>
    <p:extLst>
      <p:ext uri="{BB962C8B-B14F-4D97-AF65-F5344CB8AC3E}">
        <p14:creationId xmlns:p14="http://schemas.microsoft.com/office/powerpoint/2010/main" val="3424910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6</a:t>
            </a:fld>
            <a:endParaRPr lang="zh-TW" altLang="en-US"/>
          </a:p>
        </p:txBody>
      </p:sp>
    </p:spTree>
    <p:extLst>
      <p:ext uri="{BB962C8B-B14F-4D97-AF65-F5344CB8AC3E}">
        <p14:creationId xmlns:p14="http://schemas.microsoft.com/office/powerpoint/2010/main" val="3652041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3AE67-5B86-2F4E-CF6E-31CFC7FAC02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4CD3A81E-0926-6A91-4F6F-893C35B4655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7540384-E1D6-D90F-8F19-D51F8BCA54B6}"/>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2206DD69-9450-53E8-5DD0-9886AFE473C7}"/>
              </a:ext>
            </a:extLst>
          </p:cNvPr>
          <p:cNvSpPr>
            <a:spLocks noGrp="1"/>
          </p:cNvSpPr>
          <p:nvPr>
            <p:ph type="sldNum" sz="quarter" idx="10"/>
          </p:nvPr>
        </p:nvSpPr>
        <p:spPr/>
        <p:txBody>
          <a:bodyPr/>
          <a:lstStyle/>
          <a:p>
            <a:fld id="{7320D120-4707-426F-9B85-873E256A6635}" type="slidenum">
              <a:rPr lang="zh-TW" altLang="en-US" smtClean="0"/>
              <a:pPr/>
              <a:t>7</a:t>
            </a:fld>
            <a:endParaRPr lang="zh-TW" altLang="en-US"/>
          </a:p>
        </p:txBody>
      </p:sp>
    </p:spTree>
    <p:extLst>
      <p:ext uri="{BB962C8B-B14F-4D97-AF65-F5344CB8AC3E}">
        <p14:creationId xmlns:p14="http://schemas.microsoft.com/office/powerpoint/2010/main" val="2996079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9</a:t>
            </a:fld>
            <a:endParaRPr lang="zh-TW" altLang="en-US"/>
          </a:p>
        </p:txBody>
      </p:sp>
    </p:spTree>
    <p:extLst>
      <p:ext uri="{BB962C8B-B14F-4D97-AF65-F5344CB8AC3E}">
        <p14:creationId xmlns:p14="http://schemas.microsoft.com/office/powerpoint/2010/main" val="3671729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10</a:t>
            </a:fld>
            <a:endParaRPr lang="zh-TW" altLang="en-US"/>
          </a:p>
        </p:txBody>
      </p:sp>
    </p:spTree>
    <p:extLst>
      <p:ext uri="{BB962C8B-B14F-4D97-AF65-F5344CB8AC3E}">
        <p14:creationId xmlns:p14="http://schemas.microsoft.com/office/powerpoint/2010/main" val="2750015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6E749-BB24-1970-827B-F05C3D3B4850}"/>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CEF3FC65-919B-A0B0-B8BD-970DDDC3E09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66E9CED-CCB9-BC59-E099-621A1E956447}"/>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632443A1-F494-58DA-6907-3A154D875DEF}"/>
              </a:ext>
            </a:extLst>
          </p:cNvPr>
          <p:cNvSpPr>
            <a:spLocks noGrp="1"/>
          </p:cNvSpPr>
          <p:nvPr>
            <p:ph type="sldNum" sz="quarter" idx="10"/>
          </p:nvPr>
        </p:nvSpPr>
        <p:spPr/>
        <p:txBody>
          <a:bodyPr/>
          <a:lstStyle/>
          <a:p>
            <a:fld id="{7320D120-4707-426F-9B85-873E256A6635}" type="slidenum">
              <a:rPr lang="zh-TW" altLang="en-US" smtClean="0"/>
              <a:pPr/>
              <a:t>11</a:t>
            </a:fld>
            <a:endParaRPr lang="zh-TW" altLang="en-US"/>
          </a:p>
        </p:txBody>
      </p:sp>
    </p:spTree>
    <p:extLst>
      <p:ext uri="{BB962C8B-B14F-4D97-AF65-F5344CB8AC3E}">
        <p14:creationId xmlns:p14="http://schemas.microsoft.com/office/powerpoint/2010/main" val="1004561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6519D-6671-DCF0-86BD-20A475C57172}"/>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127AB83-BE8C-0132-116C-AA23372EB72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CEA7845-2C40-2F54-3CBE-FA0894BC4033}"/>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9558CC65-D18E-17BF-6EFA-EA82E304F9F2}"/>
              </a:ext>
            </a:extLst>
          </p:cNvPr>
          <p:cNvSpPr>
            <a:spLocks noGrp="1"/>
          </p:cNvSpPr>
          <p:nvPr>
            <p:ph type="sldNum" sz="quarter" idx="10"/>
          </p:nvPr>
        </p:nvSpPr>
        <p:spPr/>
        <p:txBody>
          <a:bodyPr/>
          <a:lstStyle/>
          <a:p>
            <a:fld id="{7320D120-4707-426F-9B85-873E256A6635}" type="slidenum">
              <a:rPr lang="zh-TW" altLang="en-US" smtClean="0"/>
              <a:pPr/>
              <a:t>12</a:t>
            </a:fld>
            <a:endParaRPr lang="zh-TW" altLang="en-US"/>
          </a:p>
        </p:txBody>
      </p:sp>
    </p:spTree>
    <p:extLst>
      <p:ext uri="{BB962C8B-B14F-4D97-AF65-F5344CB8AC3E}">
        <p14:creationId xmlns:p14="http://schemas.microsoft.com/office/powerpoint/2010/main" val="246652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11D5518-E2B7-47D3-A483-775D39982443}" type="slidenum">
              <a:rPr lang="zh-TW" altLang="en-US" smtClean="0"/>
              <a:t>14</a:t>
            </a:fld>
            <a:endParaRPr lang="zh-TW" altLang="en-US"/>
          </a:p>
        </p:txBody>
      </p:sp>
    </p:spTree>
    <p:extLst>
      <p:ext uri="{BB962C8B-B14F-4D97-AF65-F5344CB8AC3E}">
        <p14:creationId xmlns:p14="http://schemas.microsoft.com/office/powerpoint/2010/main" val="1366590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FF88F-C9CA-B768-4AF0-0F9E86A49D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F83405-6540-5E27-2BFF-FE12A39D04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995EBF2-12B1-E2A3-1A3C-29166D2E2A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0E975BB-C620-8BF3-2E45-65D9661287FD}"/>
              </a:ext>
            </a:extLst>
          </p:cNvPr>
          <p:cNvSpPr>
            <a:spLocks noGrp="1"/>
          </p:cNvSpPr>
          <p:nvPr>
            <p:ph type="sldNum" sz="quarter" idx="5"/>
          </p:nvPr>
        </p:nvSpPr>
        <p:spPr/>
        <p:txBody>
          <a:bodyPr/>
          <a:lstStyle/>
          <a:p>
            <a:fld id="{B11D5518-E2B7-47D3-A483-775D39982443}" type="slidenum">
              <a:rPr lang="zh-TW" altLang="en-US" smtClean="0"/>
              <a:t>15</a:t>
            </a:fld>
            <a:endParaRPr lang="zh-TW" altLang="en-US"/>
          </a:p>
        </p:txBody>
      </p:sp>
    </p:spTree>
    <p:extLst>
      <p:ext uri="{BB962C8B-B14F-4D97-AF65-F5344CB8AC3E}">
        <p14:creationId xmlns:p14="http://schemas.microsoft.com/office/powerpoint/2010/main" val="4806142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5B939-CD71-4401-4AB8-4E475CBF5F3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0245461-1BC2-5408-1D56-AD40C4302D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AC38F74-8333-85FC-AE5A-C78B2A4DF707}"/>
              </a:ext>
            </a:extLst>
          </p:cNvPr>
          <p:cNvSpPr>
            <a:spLocks noGrp="1"/>
          </p:cNvSpPr>
          <p:nvPr>
            <p:ph type="body" idx="1"/>
          </p:nvPr>
        </p:nvSpPr>
        <p:spPr/>
        <p:txBody>
          <a:bodyPr/>
          <a:lstStyle/>
          <a:p>
            <a:r>
              <a:rPr lang="en-US" altLang="zh-CN" dirty="0"/>
              <a:t>Core Difference from Traditional Architectures: Shift from "one-time modeling of full text" to "token-by-token incremental generation", natively compatible with streaming inference logic by design.</a:t>
            </a:r>
            <a:endParaRPr lang="zh-CN" altLang="en-US" dirty="0"/>
          </a:p>
        </p:txBody>
      </p:sp>
      <p:sp>
        <p:nvSpPr>
          <p:cNvPr id="4" name="灯片编号占位符 3">
            <a:extLst>
              <a:ext uri="{FF2B5EF4-FFF2-40B4-BE49-F238E27FC236}">
                <a16:creationId xmlns:a16="http://schemas.microsoft.com/office/drawing/2014/main" id="{F48345BD-A5FE-0389-5E20-91D8E31F5AFE}"/>
              </a:ext>
            </a:extLst>
          </p:cNvPr>
          <p:cNvSpPr>
            <a:spLocks noGrp="1"/>
          </p:cNvSpPr>
          <p:nvPr>
            <p:ph type="sldNum" sz="quarter" idx="5"/>
          </p:nvPr>
        </p:nvSpPr>
        <p:spPr/>
        <p:txBody>
          <a:bodyPr/>
          <a:lstStyle/>
          <a:p>
            <a:fld id="{B11D5518-E2B7-47D3-A483-775D39982443}" type="slidenum">
              <a:rPr lang="zh-TW" altLang="en-US" smtClean="0"/>
              <a:t>16</a:t>
            </a:fld>
            <a:endParaRPr lang="zh-TW" altLang="en-US"/>
          </a:p>
        </p:txBody>
      </p:sp>
    </p:spTree>
    <p:extLst>
      <p:ext uri="{BB962C8B-B14F-4D97-AF65-F5344CB8AC3E}">
        <p14:creationId xmlns:p14="http://schemas.microsoft.com/office/powerpoint/2010/main" val="3654821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620D9-427F-1D8A-606B-60A5DBCF676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0B7DC3-F9BB-4CFC-EAA4-FCCA21E66F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2500AB-11A8-3AE1-9039-5D987DC82AE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DD191AF-8733-669E-218F-B66881812495}"/>
              </a:ext>
            </a:extLst>
          </p:cNvPr>
          <p:cNvSpPr>
            <a:spLocks noGrp="1"/>
          </p:cNvSpPr>
          <p:nvPr>
            <p:ph type="sldNum" sz="quarter" idx="5"/>
          </p:nvPr>
        </p:nvSpPr>
        <p:spPr/>
        <p:txBody>
          <a:bodyPr/>
          <a:lstStyle/>
          <a:p>
            <a:fld id="{B11D5518-E2B7-47D3-A483-775D39982443}" type="slidenum">
              <a:rPr lang="zh-TW" altLang="en-US" smtClean="0"/>
              <a:t>17</a:t>
            </a:fld>
            <a:endParaRPr lang="zh-TW" altLang="en-US"/>
          </a:p>
        </p:txBody>
      </p:sp>
    </p:spTree>
    <p:extLst>
      <p:ext uri="{BB962C8B-B14F-4D97-AF65-F5344CB8AC3E}">
        <p14:creationId xmlns:p14="http://schemas.microsoft.com/office/powerpoint/2010/main" val="1385262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E536A-4594-58DA-2CAE-254041550228}"/>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EB7E23E9-E8C5-C284-6AF0-00C58631587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5AE6E8D-C307-255D-7533-5FB5E1E79CB0}"/>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51E83045-5E9B-E375-2B4A-925BE6185A95}"/>
              </a:ext>
            </a:extLst>
          </p:cNvPr>
          <p:cNvSpPr>
            <a:spLocks noGrp="1"/>
          </p:cNvSpPr>
          <p:nvPr>
            <p:ph type="sldNum" sz="quarter" idx="10"/>
          </p:nvPr>
        </p:nvSpPr>
        <p:spPr/>
        <p:txBody>
          <a:bodyPr/>
          <a:lstStyle/>
          <a:p>
            <a:fld id="{7320D120-4707-426F-9B85-873E256A6635}" type="slidenum">
              <a:rPr lang="zh-TW" altLang="en-US" smtClean="0"/>
              <a:pPr/>
              <a:t>18</a:t>
            </a:fld>
            <a:endParaRPr lang="zh-TW" altLang="en-US"/>
          </a:p>
        </p:txBody>
      </p:sp>
    </p:spTree>
    <p:extLst>
      <p:ext uri="{BB962C8B-B14F-4D97-AF65-F5344CB8AC3E}">
        <p14:creationId xmlns:p14="http://schemas.microsoft.com/office/powerpoint/2010/main" val="2233433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Unified Representation Space: Convert text tokens, acoustic tokens, speaker characteristics, emotion control tokens, and language identifiers into a unified token sequence understandable by LLMs.</a:t>
            </a:r>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21</a:t>
            </a:fld>
            <a:endParaRPr lang="zh-TW" altLang="en-US"/>
          </a:p>
        </p:txBody>
      </p:sp>
    </p:spTree>
    <p:extLst>
      <p:ext uri="{BB962C8B-B14F-4D97-AF65-F5344CB8AC3E}">
        <p14:creationId xmlns:p14="http://schemas.microsoft.com/office/powerpoint/2010/main" val="291107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0" dirty="0">
                <a:latin typeface="Times New Roman" panose="02020603050405020304" pitchFamily="18" charset="0"/>
                <a:cs typeface="Times New Roman" panose="02020603050405020304" pitchFamily="18" charset="0"/>
              </a:rPr>
              <a:t>Complete the full pipeline from text understanding, context modeling, emotion control to speech generation with a single large language model, breaking the siloed architecture of traditional TTS.</a:t>
            </a:r>
            <a:endParaRPr lang="zh-CN" altLang="en-US" dirty="0"/>
          </a:p>
        </p:txBody>
      </p:sp>
      <p:sp>
        <p:nvSpPr>
          <p:cNvPr id="4" name="灯片编号占位符 3"/>
          <p:cNvSpPr>
            <a:spLocks noGrp="1"/>
          </p:cNvSpPr>
          <p:nvPr>
            <p:ph type="sldNum" sz="quarter" idx="5"/>
          </p:nvPr>
        </p:nvSpPr>
        <p:spPr/>
        <p:txBody>
          <a:bodyPr/>
          <a:lstStyle/>
          <a:p>
            <a:fld id="{B11D5518-E2B7-47D3-A483-775D39982443}" type="slidenum">
              <a:rPr lang="zh-TW" altLang="en-US" smtClean="0"/>
              <a:t>22</a:t>
            </a:fld>
            <a:endParaRPr lang="zh-TW" altLang="en-US"/>
          </a:p>
        </p:txBody>
      </p:sp>
    </p:spTree>
    <p:extLst>
      <p:ext uri="{BB962C8B-B14F-4D97-AF65-F5344CB8AC3E}">
        <p14:creationId xmlns:p14="http://schemas.microsoft.com/office/powerpoint/2010/main" val="2363403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8BA9A-6239-BAD6-2B30-3FF4193BF1D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05404A64-5650-14BE-0DA2-E436957F78C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18079EC-7DD8-887A-D12E-57D3E3B39686}"/>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20D24228-2922-C298-E8D1-DDB14D06A731}"/>
              </a:ext>
            </a:extLst>
          </p:cNvPr>
          <p:cNvSpPr>
            <a:spLocks noGrp="1"/>
          </p:cNvSpPr>
          <p:nvPr>
            <p:ph type="sldNum" sz="quarter" idx="10"/>
          </p:nvPr>
        </p:nvSpPr>
        <p:spPr/>
        <p:txBody>
          <a:bodyPr/>
          <a:lstStyle/>
          <a:p>
            <a:fld id="{7320D120-4707-426F-9B85-873E256A6635}" type="slidenum">
              <a:rPr lang="zh-TW" altLang="en-US" smtClean="0"/>
              <a:pPr/>
              <a:t>25</a:t>
            </a:fld>
            <a:endParaRPr lang="zh-TW" altLang="en-US"/>
          </a:p>
        </p:txBody>
      </p:sp>
    </p:spTree>
    <p:extLst>
      <p:ext uri="{BB962C8B-B14F-4D97-AF65-F5344CB8AC3E}">
        <p14:creationId xmlns:p14="http://schemas.microsoft.com/office/powerpoint/2010/main" val="3838980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2827-6437-D31C-C975-ECF26CCC62AA}"/>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83688439-EFA1-C651-64B0-8919C3DE830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FF67587-0A0B-5C44-2F96-2CFB53C5A037}"/>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0AC0095F-9B14-D533-3280-A3F39CCB8C87}"/>
              </a:ext>
            </a:extLst>
          </p:cNvPr>
          <p:cNvSpPr>
            <a:spLocks noGrp="1"/>
          </p:cNvSpPr>
          <p:nvPr>
            <p:ph type="sldNum" sz="quarter" idx="10"/>
          </p:nvPr>
        </p:nvSpPr>
        <p:spPr/>
        <p:txBody>
          <a:bodyPr/>
          <a:lstStyle/>
          <a:p>
            <a:fld id="{7320D120-4707-426F-9B85-873E256A6635}" type="slidenum">
              <a:rPr lang="zh-TW" altLang="en-US" smtClean="0"/>
              <a:pPr/>
              <a:t>32</a:t>
            </a:fld>
            <a:endParaRPr lang="zh-TW" altLang="en-US"/>
          </a:p>
        </p:txBody>
      </p:sp>
    </p:spTree>
    <p:extLst>
      <p:ext uri="{BB962C8B-B14F-4D97-AF65-F5344CB8AC3E}">
        <p14:creationId xmlns:p14="http://schemas.microsoft.com/office/powerpoint/2010/main" val="16436558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3D64-8E3B-EE04-B349-6F9BC11ACE04}"/>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A8B2B621-9BDF-C07F-BFE3-E4FF86E6194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432BDF6-EF4A-EFF8-5277-064ABC62C765}"/>
              </a:ext>
            </a:extLst>
          </p:cNvPr>
          <p:cNvSpPr>
            <a:spLocks noGrp="1"/>
          </p:cNvSpPr>
          <p:nvPr>
            <p:ph type="body" idx="1"/>
          </p:nvPr>
        </p:nvSpPr>
        <p:spPr/>
        <p:txBody>
          <a:bodyPr>
            <a:normAutofit/>
          </a:bodyPr>
          <a:lstStyle/>
          <a:p>
            <a:endParaRPr lang="zh-TW" altLang="en-US"/>
          </a:p>
        </p:txBody>
      </p:sp>
      <p:sp>
        <p:nvSpPr>
          <p:cNvPr id="4" name="投影片編號版面配置區 3">
            <a:extLst>
              <a:ext uri="{FF2B5EF4-FFF2-40B4-BE49-F238E27FC236}">
                <a16:creationId xmlns:a16="http://schemas.microsoft.com/office/drawing/2014/main" id="{0AD35A6A-A6C6-FD05-99BC-D8B277BD7F7B}"/>
              </a:ext>
            </a:extLst>
          </p:cNvPr>
          <p:cNvSpPr>
            <a:spLocks noGrp="1"/>
          </p:cNvSpPr>
          <p:nvPr>
            <p:ph type="sldNum" sz="quarter" idx="10"/>
          </p:nvPr>
        </p:nvSpPr>
        <p:spPr/>
        <p:txBody>
          <a:bodyPr/>
          <a:lstStyle/>
          <a:p>
            <a:fld id="{7320D120-4707-426F-9B85-873E256A6635}" type="slidenum">
              <a:rPr lang="zh-TW" altLang="en-US" smtClean="0"/>
              <a:pPr/>
              <a:t>34</a:t>
            </a:fld>
            <a:endParaRPr lang="zh-TW" altLang="en-US"/>
          </a:p>
        </p:txBody>
      </p:sp>
    </p:spTree>
    <p:extLst>
      <p:ext uri="{BB962C8B-B14F-4D97-AF65-F5344CB8AC3E}">
        <p14:creationId xmlns:p14="http://schemas.microsoft.com/office/powerpoint/2010/main" val="1774488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471" y="1406845"/>
            <a:ext cx="11396871" cy="1882455"/>
          </a:xfrm>
        </p:spPr>
        <p:txBody>
          <a:bodyPr/>
          <a:lstStyle/>
          <a:p>
            <a:pPr algn="ctr"/>
            <a:r>
              <a:rPr lang="en-US" altLang="zh-CN" sz="3600" dirty="0"/>
              <a:t>The Breakthrough Journey of </a:t>
            </a:r>
            <a:br>
              <a:rPr lang="en-US" altLang="zh-CN" sz="3600" dirty="0"/>
            </a:br>
            <a:r>
              <a:rPr lang="en-US" altLang="zh-CN" sz="3600" dirty="0"/>
              <a:t>Streaming Real-Time Speech Generation</a:t>
            </a:r>
            <a:endParaRPr lang="zh-TW" altLang="en-US" sz="3200" b="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28800" y="3855632"/>
            <a:ext cx="8534400" cy="1882455"/>
          </a:xfrm>
        </p:spPr>
        <p:txBody>
          <a:bodyPr/>
          <a:lstStyle/>
          <a:p>
            <a:r>
              <a:rPr lang="en-US" altLang="zh-CN" sz="3200" dirty="0">
                <a:effectLst>
                  <a:outerShdw blurRad="38100" dist="38100" dir="2700000" algn="tl">
                    <a:srgbClr val="000000">
                      <a:alpha val="43137"/>
                    </a:srgbClr>
                  </a:outerShdw>
                </a:effectLst>
              </a:rPr>
              <a:t>Zihao Fang</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386DA-4DA1-7214-2DBE-6D83E009AA3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CFFED1-5490-85A4-1E2E-7ECE14D5FC4D}"/>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2A80A5A7-93F7-336A-9D94-7FA992438288}"/>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&amp; Background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VALL-E (5 min)</a:t>
            </a:r>
          </a:p>
          <a:p>
            <a:pPr lvl="1"/>
            <a:r>
              <a:rPr lang="en-US" altLang="zh-CN" sz="2400" dirty="0">
                <a:latin typeface="Times New Roman" panose="02020603050405020304" pitchFamily="18" charset="0"/>
                <a:cs typeface="Times New Roman" panose="02020603050405020304" pitchFamily="18" charset="0"/>
              </a:rPr>
              <a:t>CosyVoice2 (5 min)</a:t>
            </a:r>
          </a:p>
          <a:p>
            <a:pPr lvl="1"/>
            <a:r>
              <a:rPr lang="en-US" altLang="zh-CN" sz="2400" dirty="0" err="1">
                <a:latin typeface="Times New Roman" panose="02020603050405020304" pitchFamily="18" charset="0"/>
                <a:cs typeface="Times New Roman" panose="02020603050405020304" pitchFamily="18" charset="0"/>
              </a:rPr>
              <a:t>vLLM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PagedAttention</a:t>
            </a:r>
            <a:r>
              <a:rPr lang="en-US" altLang="zh-CN" sz="2400" dirty="0">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AD20CBA4-52DB-AE8C-714A-0C72FE94D71B}"/>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a:t>
            </a:fld>
            <a:endParaRPr lang="zh-TW" altLang="en-US"/>
          </a:p>
        </p:txBody>
      </p:sp>
    </p:spTree>
    <p:extLst>
      <p:ext uri="{BB962C8B-B14F-4D97-AF65-F5344CB8AC3E}">
        <p14:creationId xmlns:p14="http://schemas.microsoft.com/office/powerpoint/2010/main" val="3163033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E2E51-EB0C-86E6-6115-B4B862ECF8C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08B2CB7-7AC7-1117-ED4A-704519FB6C75}"/>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08CADBD8-5E65-E292-3AB1-C92F798694BD}"/>
              </a:ext>
            </a:extLst>
          </p:cNvPr>
          <p:cNvSpPr>
            <a:spLocks noGrp="1"/>
          </p:cNvSpPr>
          <p:nvPr>
            <p:ph idx="1"/>
          </p:nvPr>
        </p:nvSpPr>
        <p:spPr>
          <a:xfrm>
            <a:off x="1311423" y="1125537"/>
            <a:ext cx="10270977" cy="3560763"/>
          </a:xfrm>
        </p:spPr>
        <p:txBody>
          <a:bodyPr>
            <a:noAutofit/>
          </a:bodyPr>
          <a:lstStyle/>
          <a:p>
            <a:r>
              <a:rPr lang="en-US" altLang="zh-CN" sz="2933" dirty="0">
                <a:solidFill>
                  <a:srgbClr val="FF0000"/>
                </a:solidFill>
                <a:latin typeface="Times New Roman" panose="02020603050405020304" pitchFamily="18" charset="0"/>
                <a:cs typeface="Times New Roman" panose="02020603050405020304" pitchFamily="18" charset="0"/>
              </a:rPr>
              <a:t>Introduction (3 min)</a:t>
            </a:r>
            <a:endParaRPr lang="en-US" altLang="zh-TW" sz="2933" dirty="0">
              <a:solidFill>
                <a:srgbClr val="FF0000"/>
              </a:solidFill>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t>
            </a:r>
            <a:r>
              <a:rPr lang="en-US" altLang="zh-CN" sz="2933">
                <a:latin typeface="Times New Roman" panose="02020603050405020304" pitchFamily="18" charset="0"/>
                <a:cs typeface="Times New Roman" panose="02020603050405020304" pitchFamily="18" charset="0"/>
              </a:rPr>
              <a:t>&amp; Background </a:t>
            </a:r>
            <a:r>
              <a:rPr lang="en-US" altLang="zh-CN" sz="2933" dirty="0">
                <a:latin typeface="Times New Roman" panose="02020603050405020304" pitchFamily="18" charset="0"/>
                <a:cs typeface="Times New Roman" panose="02020603050405020304" pitchFamily="18" charset="0"/>
              </a:rPr>
              <a:t>(5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VALL-E (5 min)</a:t>
            </a:r>
          </a:p>
          <a:p>
            <a:pPr lvl="1"/>
            <a:r>
              <a:rPr lang="en-US" altLang="zh-CN" sz="2400" dirty="0">
                <a:latin typeface="Times New Roman" panose="02020603050405020304" pitchFamily="18" charset="0"/>
                <a:cs typeface="Times New Roman" panose="02020603050405020304" pitchFamily="18" charset="0"/>
              </a:rPr>
              <a:t>CosyVoice2 (5 min)</a:t>
            </a:r>
          </a:p>
          <a:p>
            <a:pPr lvl="1"/>
            <a:r>
              <a:rPr lang="en-US" altLang="zh-CN" sz="2400" dirty="0" err="1">
                <a:latin typeface="Times New Roman" panose="02020603050405020304" pitchFamily="18" charset="0"/>
                <a:cs typeface="Times New Roman" panose="02020603050405020304" pitchFamily="18" charset="0"/>
              </a:rPr>
              <a:t>vLLM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PagedAttention</a:t>
            </a:r>
            <a:r>
              <a:rPr lang="en-US" altLang="zh-CN" sz="2400" dirty="0">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A5C3573A-DECD-8BA3-B07D-8149CBF9982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Tree>
    <p:extLst>
      <p:ext uri="{BB962C8B-B14F-4D97-AF65-F5344CB8AC3E}">
        <p14:creationId xmlns:p14="http://schemas.microsoft.com/office/powerpoint/2010/main" val="117779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ea typeface="Calibri" panose="020F0502020204030204" pitchFamily="34" charset="0"/>
                <a:cs typeface="Calibri" panose="020F0502020204030204" pitchFamily="34" charset="0"/>
              </a:rPr>
              <a:t>Introduction – Speech Generation (1/3)</a:t>
            </a:r>
            <a:endParaRPr lang="en-US" dirty="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09601" y="1125537"/>
            <a:ext cx="7845274" cy="4831917"/>
          </a:xfrm>
        </p:spPr>
        <p:txBody>
          <a:bodyPr/>
          <a:lstStyle/>
          <a:p>
            <a:r>
              <a:rPr lang="en-US" sz="2400" b="1" dirty="0">
                <a:latin typeface="Times New Roman" panose="02020603050405020304" pitchFamily="18" charset="0"/>
                <a:cs typeface="Times New Roman" panose="02020603050405020304" pitchFamily="18" charset="0"/>
              </a:rPr>
              <a:t>What is Speech Generation / Text-to-Speech (TTS)?</a:t>
            </a:r>
          </a:p>
          <a:p>
            <a:pPr lvl="1"/>
            <a:r>
              <a:rPr lang="en-US" altLang="zh-CN" sz="2200" dirty="0">
                <a:latin typeface="Times New Roman" panose="02020603050405020304" pitchFamily="18" charset="0"/>
                <a:cs typeface="Times New Roman" panose="02020603050405020304" pitchFamily="18" charset="0"/>
              </a:rPr>
              <a:t>A task of generating natural sounding speech given text input.</a:t>
            </a:r>
          </a:p>
          <a:p>
            <a:pPr lvl="1"/>
            <a:r>
              <a:rPr lang="en-US" altLang="zh-CN" sz="2200" dirty="0">
                <a:latin typeface="Times New Roman" panose="02020603050405020304" pitchFamily="18" charset="0"/>
                <a:cs typeface="Times New Roman" panose="02020603050405020304" pitchFamily="18" charset="0"/>
              </a:rPr>
              <a:t>Can be extended to have a single model that generates speech </a:t>
            </a:r>
          </a:p>
          <a:p>
            <a:pPr marL="457176" lvl="1" indent="0">
              <a:buNone/>
            </a:pPr>
            <a:r>
              <a:rPr lang="en-US" altLang="zh-CN" sz="2200" dirty="0">
                <a:latin typeface="Times New Roman" panose="02020603050405020304" pitchFamily="18" charset="0"/>
                <a:cs typeface="Times New Roman" panose="02020603050405020304" pitchFamily="18" charset="0"/>
              </a:rPr>
              <a:t>for </a:t>
            </a:r>
            <a:r>
              <a:rPr lang="en-US" altLang="zh-CN" sz="2200" b="1" dirty="0">
                <a:latin typeface="Times New Roman" panose="02020603050405020304" pitchFamily="18" charset="0"/>
                <a:cs typeface="Times New Roman" panose="02020603050405020304" pitchFamily="18" charset="0"/>
              </a:rPr>
              <a:t>multiple speakers </a:t>
            </a:r>
            <a:r>
              <a:rPr lang="en-US" altLang="zh-CN" sz="2200" dirty="0">
                <a:latin typeface="Times New Roman" panose="02020603050405020304" pitchFamily="18" charset="0"/>
                <a:cs typeface="Times New Roman" panose="02020603050405020304" pitchFamily="18" charset="0"/>
              </a:rPr>
              <a:t>and </a:t>
            </a:r>
            <a:r>
              <a:rPr lang="en-US" altLang="zh-CN" sz="2200" b="1" dirty="0">
                <a:latin typeface="Times New Roman" panose="02020603050405020304" pitchFamily="18" charset="0"/>
                <a:cs typeface="Times New Roman" panose="02020603050405020304" pitchFamily="18" charset="0"/>
              </a:rPr>
              <a:t>multiple languages.</a:t>
            </a:r>
          </a:p>
          <a:p>
            <a:pPr lvl="1"/>
            <a:endParaRPr lang="en-US" altLang="zh-CN" sz="22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Applications of </a:t>
            </a:r>
            <a:r>
              <a:rPr lang="en-US" altLang="zh-CN" sz="2400" b="1" dirty="0">
                <a:latin typeface="Times New Roman" panose="02020603050405020304" pitchFamily="18" charset="0"/>
                <a:cs typeface="Times New Roman" panose="02020603050405020304" pitchFamily="18" charset="0"/>
              </a:rPr>
              <a:t>TTS</a:t>
            </a:r>
          </a:p>
          <a:p>
            <a:pPr lvl="1"/>
            <a:r>
              <a:rPr lang="en-US" altLang="zh-CN" sz="2200" dirty="0">
                <a:latin typeface="Times New Roman" panose="02020603050405020304" pitchFamily="18" charset="0"/>
                <a:cs typeface="Times New Roman" panose="02020603050405020304" pitchFamily="18" charset="0"/>
              </a:rPr>
              <a:t>Video dubbing / voice over</a:t>
            </a:r>
          </a:p>
          <a:p>
            <a:pPr lvl="1"/>
            <a:r>
              <a:rPr lang="en-US" altLang="zh-CN" sz="2200" dirty="0">
                <a:latin typeface="Times New Roman" panose="02020603050405020304" pitchFamily="18" charset="0"/>
                <a:cs typeface="Times New Roman" panose="02020603050405020304" pitchFamily="18" charset="0"/>
              </a:rPr>
              <a:t>Underlying support for voice assistants (e.g., Siri)</a:t>
            </a:r>
            <a:endParaRPr lang="en-US" sz="2200" dirty="0">
              <a:latin typeface="Times New Roman" panose="02020603050405020304" pitchFamily="18" charset="0"/>
              <a:cs typeface="Times New Roman" panose="02020603050405020304" pitchFamily="18" charset="0"/>
            </a:endParaRP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pic>
        <p:nvPicPr>
          <p:cNvPr id="5" name="tts_EDIT">
            <a:hlinkClick r:id="" action="ppaction://media"/>
            <a:extLst>
              <a:ext uri="{FF2B5EF4-FFF2-40B4-BE49-F238E27FC236}">
                <a16:creationId xmlns:a16="http://schemas.microsoft.com/office/drawing/2014/main" id="{31E110AA-C8E8-4E79-82BD-F56EAA2252D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454874" y="900546"/>
            <a:ext cx="3200400" cy="5689600"/>
          </a:xfrm>
          <a:prstGeom prst="rect">
            <a:avLst/>
          </a:prstGeom>
        </p:spPr>
      </p:pic>
    </p:spTree>
    <p:extLst>
      <p:ext uri="{BB962C8B-B14F-4D97-AF65-F5344CB8AC3E}">
        <p14:creationId xmlns:p14="http://schemas.microsoft.com/office/powerpoint/2010/main" val="25528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94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Introduction – Speech Generation (2/3)</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9DEEDA1E-DF89-AFB5-6372-BF049FEF9A77}"/>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5</a:t>
            </a:fld>
            <a:endParaRPr lang="zh-TW" altLang="en-US"/>
          </a:p>
        </p:txBody>
      </p:sp>
      <p:sp>
        <p:nvSpPr>
          <p:cNvPr id="6" name="内容占位符 5">
            <a:extLst>
              <a:ext uri="{FF2B5EF4-FFF2-40B4-BE49-F238E27FC236}">
                <a16:creationId xmlns:a16="http://schemas.microsoft.com/office/drawing/2014/main" id="{4928ADA6-E220-7C7D-C501-933F9AD95A98}"/>
              </a:ext>
            </a:extLst>
          </p:cNvPr>
          <p:cNvSpPr>
            <a:spLocks noGrp="1"/>
          </p:cNvSpPr>
          <p:nvPr>
            <p:ph idx="1"/>
          </p:nvPr>
        </p:nvSpPr>
        <p:spPr>
          <a:xfrm>
            <a:off x="609601" y="1125537"/>
            <a:ext cx="6981370" cy="4895851"/>
          </a:xfrm>
        </p:spPr>
        <p:txBody>
          <a:bodyPr/>
          <a:lstStyle/>
          <a:p>
            <a:r>
              <a:rPr lang="en-US" altLang="zh-CN" sz="2400" b="1" dirty="0">
                <a:latin typeface="Times New Roman" panose="02020603050405020304" pitchFamily="18" charset="0"/>
                <a:cs typeface="Times New Roman" panose="02020603050405020304" pitchFamily="18" charset="0"/>
              </a:rPr>
              <a:t>Mission-Critical Application Requirements</a:t>
            </a:r>
            <a:endParaRPr lang="en-US" altLang="zh-CN" sz="1867" b="1" dirty="0">
              <a:latin typeface="Times New Roman" panose="02020603050405020304" pitchFamily="18" charset="0"/>
              <a:cs typeface="Times New Roman" panose="02020603050405020304" pitchFamily="18" charset="0"/>
            </a:endParaRPr>
          </a:p>
        </p:txBody>
      </p:sp>
      <p:sp>
        <p:nvSpPr>
          <p:cNvPr id="7" name="圆角矩形 12">
            <a:extLst>
              <a:ext uri="{FF2B5EF4-FFF2-40B4-BE49-F238E27FC236}">
                <a16:creationId xmlns:a16="http://schemas.microsoft.com/office/drawing/2014/main" id="{CCF7521D-48AC-4F37-B6AB-E7279C686C1D}"/>
              </a:ext>
            </a:extLst>
          </p:cNvPr>
          <p:cNvSpPr/>
          <p:nvPr/>
        </p:nvSpPr>
        <p:spPr bwMode="auto">
          <a:xfrm>
            <a:off x="2479180" y="2068348"/>
            <a:ext cx="3036249" cy="972394"/>
          </a:xfrm>
          <a:prstGeom prst="roundRect">
            <a:avLst/>
          </a:prstGeom>
          <a:solidFill>
            <a:srgbClr val="E9E5F7">
              <a:alpha val="84706"/>
            </a:srgbClr>
          </a:solidFill>
          <a:ln w="28575" cap="flat" cmpd="sng" algn="ctr">
            <a:solidFill>
              <a:srgbClr val="990099"/>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Intelligent Cockpit</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p:txBody>
      </p:sp>
      <p:sp>
        <p:nvSpPr>
          <p:cNvPr id="9" name="圆角矩形 12">
            <a:extLst>
              <a:ext uri="{FF2B5EF4-FFF2-40B4-BE49-F238E27FC236}">
                <a16:creationId xmlns:a16="http://schemas.microsoft.com/office/drawing/2014/main" id="{D44092FE-3FCA-4795-8469-400364C0AFEF}"/>
              </a:ext>
            </a:extLst>
          </p:cNvPr>
          <p:cNvSpPr/>
          <p:nvPr/>
        </p:nvSpPr>
        <p:spPr bwMode="auto">
          <a:xfrm>
            <a:off x="2479179" y="3276662"/>
            <a:ext cx="3036249" cy="972394"/>
          </a:xfrm>
          <a:prstGeom prst="roundRect">
            <a:avLst/>
          </a:prstGeom>
          <a:solidFill>
            <a:srgbClr val="E9E5F7">
              <a:alpha val="84706"/>
            </a:srgbClr>
          </a:solidFill>
          <a:ln w="28575" cap="flat" cmpd="sng" algn="ctr">
            <a:solidFill>
              <a:srgbClr val="990099"/>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Virtual Live Streaming</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p:txBody>
      </p:sp>
      <p:sp>
        <p:nvSpPr>
          <p:cNvPr id="10" name="圆角矩形 12">
            <a:extLst>
              <a:ext uri="{FF2B5EF4-FFF2-40B4-BE49-F238E27FC236}">
                <a16:creationId xmlns:a16="http://schemas.microsoft.com/office/drawing/2014/main" id="{B733233B-4B82-4B22-BEB8-D36F6100C32C}"/>
              </a:ext>
            </a:extLst>
          </p:cNvPr>
          <p:cNvSpPr/>
          <p:nvPr/>
        </p:nvSpPr>
        <p:spPr bwMode="auto">
          <a:xfrm>
            <a:off x="2479180" y="4484977"/>
            <a:ext cx="3036249" cy="972389"/>
          </a:xfrm>
          <a:prstGeom prst="roundRect">
            <a:avLst/>
          </a:prstGeom>
          <a:solidFill>
            <a:srgbClr val="E9E5F7">
              <a:alpha val="84706"/>
            </a:srgbClr>
          </a:solidFill>
          <a:ln w="28575" cap="flat" cmpd="sng" algn="ctr">
            <a:solidFill>
              <a:srgbClr val="990099"/>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End-to-End </a:t>
            </a:r>
          </a:p>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Large Model Conversation</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p:txBody>
      </p:sp>
      <p:sp>
        <p:nvSpPr>
          <p:cNvPr id="11" name="圆角矩形 12">
            <a:extLst>
              <a:ext uri="{FF2B5EF4-FFF2-40B4-BE49-F238E27FC236}">
                <a16:creationId xmlns:a16="http://schemas.microsoft.com/office/drawing/2014/main" id="{B3D93036-2502-4749-9B57-0F26BAC32EE0}"/>
              </a:ext>
            </a:extLst>
          </p:cNvPr>
          <p:cNvSpPr/>
          <p:nvPr/>
        </p:nvSpPr>
        <p:spPr bwMode="auto">
          <a:xfrm>
            <a:off x="6811695" y="2068348"/>
            <a:ext cx="4531219" cy="972394"/>
          </a:xfrm>
          <a:prstGeom prst="roundRect">
            <a:avLst/>
          </a:prstGeom>
          <a:solidFill>
            <a:srgbClr val="E9E5F7">
              <a:alpha val="84706"/>
            </a:srgbClr>
          </a:solidFill>
          <a:ln w="28575" cap="flat" cmpd="sng" algn="ctr">
            <a:solidFill>
              <a:srgbClr val="990099"/>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b="1" dirty="0">
                <a:latin typeface="Times New Roman" panose="02020603050405020304" pitchFamily="18" charset="0"/>
                <a:ea typeface="PMingLiU" pitchFamily="18" charset="-120"/>
                <a:cs typeface="Times New Roman" panose="02020603050405020304" pitchFamily="18" charset="0"/>
              </a:rPr>
              <a:t>E</a:t>
            </a: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xcessive latency leads to </a:t>
            </a:r>
          </a:p>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potential safety hazards.</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p:txBody>
      </p:sp>
      <p:sp>
        <p:nvSpPr>
          <p:cNvPr id="12" name="圆角矩形 12">
            <a:extLst>
              <a:ext uri="{FF2B5EF4-FFF2-40B4-BE49-F238E27FC236}">
                <a16:creationId xmlns:a16="http://schemas.microsoft.com/office/drawing/2014/main" id="{907B0AB1-F517-4FE1-AA39-5C987037CA83}"/>
              </a:ext>
            </a:extLst>
          </p:cNvPr>
          <p:cNvSpPr/>
          <p:nvPr/>
        </p:nvSpPr>
        <p:spPr bwMode="auto">
          <a:xfrm>
            <a:off x="6811694" y="3276662"/>
            <a:ext cx="4531219" cy="972392"/>
          </a:xfrm>
          <a:prstGeom prst="roundRect">
            <a:avLst/>
          </a:prstGeom>
          <a:solidFill>
            <a:srgbClr val="E9E5F7">
              <a:alpha val="84706"/>
            </a:srgbClr>
          </a:solidFill>
          <a:ln w="28575" cap="flat" cmpd="sng" algn="ctr">
            <a:solidFill>
              <a:srgbClr val="990099"/>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Every 100ms increase in latency </a:t>
            </a:r>
          </a:p>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leads to a more than 10% rise </a:t>
            </a:r>
          </a:p>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in user hang-up rate.</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p:txBody>
      </p:sp>
      <p:sp>
        <p:nvSpPr>
          <p:cNvPr id="13" name="圆角矩形 12">
            <a:extLst>
              <a:ext uri="{FF2B5EF4-FFF2-40B4-BE49-F238E27FC236}">
                <a16:creationId xmlns:a16="http://schemas.microsoft.com/office/drawing/2014/main" id="{16DAA650-C4C4-43C5-AFB1-2D07BEB43082}"/>
              </a:ext>
            </a:extLst>
          </p:cNvPr>
          <p:cNvSpPr/>
          <p:nvPr/>
        </p:nvSpPr>
        <p:spPr bwMode="auto">
          <a:xfrm>
            <a:off x="6811695" y="4484977"/>
            <a:ext cx="4531218" cy="972389"/>
          </a:xfrm>
          <a:prstGeom prst="roundRect">
            <a:avLst/>
          </a:prstGeom>
          <a:solidFill>
            <a:srgbClr val="E9E5F7">
              <a:alpha val="84706"/>
            </a:srgbClr>
          </a:solidFill>
          <a:ln w="28575" cap="flat" cmpd="sng" algn="ctr">
            <a:solidFill>
              <a:srgbClr val="990099"/>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Seamless collaboration with </a:t>
            </a:r>
          </a:p>
          <a:p>
            <a:pPr marL="0" marR="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rPr>
              <a:t>streaming text output from LLMs.</a:t>
            </a:r>
            <a:endParaRPr kumimoji="1" lang="zh-CN" altLang="en-US" sz="1800" b="1" i="0" u="none" strike="noStrike" cap="none" normalizeH="0" baseline="0" dirty="0">
              <a:ln>
                <a:noFill/>
              </a:ln>
              <a:solidFill>
                <a:schemeClr val="tx1"/>
              </a:solidFill>
              <a:effectLst/>
              <a:latin typeface="Times New Roman" panose="02020603050405020304" pitchFamily="18" charset="0"/>
              <a:ea typeface="PMingLiU" pitchFamily="18" charset="-120"/>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45695786-002E-462C-B093-07C942524634}"/>
              </a:ext>
            </a:extLst>
          </p:cNvPr>
          <p:cNvCxnSpPr>
            <a:cxnSpLocks/>
            <a:stCxn id="7" idx="3"/>
            <a:endCxn id="11" idx="1"/>
          </p:cNvCxnSpPr>
          <p:nvPr/>
        </p:nvCxnSpPr>
        <p:spPr bwMode="auto">
          <a:xfrm>
            <a:off x="5515429" y="2554545"/>
            <a:ext cx="1296266"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B5E51A69-89B8-46F0-8048-589AE3F50791}"/>
              </a:ext>
            </a:extLst>
          </p:cNvPr>
          <p:cNvCxnSpPr>
            <a:cxnSpLocks/>
            <a:stCxn id="9" idx="3"/>
            <a:endCxn id="12" idx="1"/>
          </p:cNvCxnSpPr>
          <p:nvPr/>
        </p:nvCxnSpPr>
        <p:spPr bwMode="auto">
          <a:xfrm flipV="1">
            <a:off x="5515428" y="3762858"/>
            <a:ext cx="1296266" cy="1"/>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F3B567CB-66E8-4F24-9564-2E0FA61E5A4C}"/>
              </a:ext>
            </a:extLst>
          </p:cNvPr>
          <p:cNvCxnSpPr>
            <a:cxnSpLocks/>
            <a:stCxn id="10" idx="3"/>
            <a:endCxn id="13" idx="1"/>
          </p:cNvCxnSpPr>
          <p:nvPr/>
        </p:nvCxnSpPr>
        <p:spPr bwMode="auto">
          <a:xfrm>
            <a:off x="5515429" y="4971172"/>
            <a:ext cx="1296266"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pic>
        <p:nvPicPr>
          <p:cNvPr id="31" name="图片 30">
            <a:extLst>
              <a:ext uri="{FF2B5EF4-FFF2-40B4-BE49-F238E27FC236}">
                <a16:creationId xmlns:a16="http://schemas.microsoft.com/office/drawing/2014/main" id="{8E89BD0A-E08F-4112-874C-E0C10C80BC84}"/>
              </a:ext>
            </a:extLst>
          </p:cNvPr>
          <p:cNvPicPr>
            <a:picLocks noChangeAspect="1"/>
          </p:cNvPicPr>
          <p:nvPr/>
        </p:nvPicPr>
        <p:blipFill>
          <a:blip r:embed="rId3"/>
          <a:stretch>
            <a:fillRect/>
          </a:stretch>
        </p:blipFill>
        <p:spPr>
          <a:xfrm>
            <a:off x="67126" y="1753391"/>
            <a:ext cx="2333171" cy="1284821"/>
          </a:xfrm>
          <a:prstGeom prst="rect">
            <a:avLst/>
          </a:prstGeom>
        </p:spPr>
      </p:pic>
      <p:pic>
        <p:nvPicPr>
          <p:cNvPr id="2052" name="Picture 4" descr="Stream Vedal and Neuro-sama Duet - Come, Sweet Death (Komm, süsser Tod) -  Jazz ver. [AI Cover] by Karuso's AI Tomfoolery | Listen online for free on  SoundCloud">
            <a:extLst>
              <a:ext uri="{FF2B5EF4-FFF2-40B4-BE49-F238E27FC236}">
                <a16:creationId xmlns:a16="http://schemas.microsoft.com/office/drawing/2014/main" id="{0B0F5661-9987-4114-99A9-CBB8FE21DF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519"/>
          <a:stretch/>
        </p:blipFill>
        <p:spPr bwMode="auto">
          <a:xfrm>
            <a:off x="167818" y="3236260"/>
            <a:ext cx="2131786" cy="1566445"/>
          </a:xfrm>
          <a:prstGeom prst="rect">
            <a:avLst/>
          </a:prstGeom>
          <a:noFill/>
          <a:extLst>
            <a:ext uri="{909E8E84-426E-40DD-AFC4-6F175D3DCCD1}">
              <a14:hiddenFill xmlns:a14="http://schemas.microsoft.com/office/drawing/2010/main">
                <a:solidFill>
                  <a:srgbClr val="FFFFFF"/>
                </a:solidFill>
              </a14:hiddenFill>
            </a:ext>
          </a:extLst>
        </p:spPr>
      </p:pic>
      <p:pic>
        <p:nvPicPr>
          <p:cNvPr id="34" name="图片 33">
            <a:extLst>
              <a:ext uri="{FF2B5EF4-FFF2-40B4-BE49-F238E27FC236}">
                <a16:creationId xmlns:a16="http://schemas.microsoft.com/office/drawing/2014/main" id="{A088BBF2-2D9A-4078-A220-33356A9D4D49}"/>
              </a:ext>
            </a:extLst>
          </p:cNvPr>
          <p:cNvPicPr>
            <a:picLocks noChangeAspect="1"/>
          </p:cNvPicPr>
          <p:nvPr/>
        </p:nvPicPr>
        <p:blipFill>
          <a:blip r:embed="rId5"/>
          <a:srcRect l="69828" t="27217" r="3463" b="27585"/>
          <a:stretch>
            <a:fillRect/>
          </a:stretch>
        </p:blipFill>
        <p:spPr>
          <a:xfrm>
            <a:off x="762453" y="5007480"/>
            <a:ext cx="942518" cy="899772"/>
          </a:xfrm>
          <a:prstGeom prst="rect">
            <a:avLst/>
          </a:prstGeom>
        </p:spPr>
      </p:pic>
    </p:spTree>
    <p:extLst>
      <p:ext uri="{BB962C8B-B14F-4D97-AF65-F5344CB8AC3E}">
        <p14:creationId xmlns:p14="http://schemas.microsoft.com/office/powerpoint/2010/main" val="403208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26BB7-9675-80CA-B935-0FD8C2285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A67AB-BF24-DE37-BB5D-E54C1B82BD93}"/>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Introduction – Speech Generation (3/3)</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44C33FE1-C3A3-FABB-8B62-79A43739AC3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6</a:t>
            </a:fld>
            <a:endParaRPr lang="zh-TW" altLang="en-US"/>
          </a:p>
        </p:txBody>
      </p:sp>
      <p:sp>
        <p:nvSpPr>
          <p:cNvPr id="6" name="内容占位符 5">
            <a:extLst>
              <a:ext uri="{FF2B5EF4-FFF2-40B4-BE49-F238E27FC236}">
                <a16:creationId xmlns:a16="http://schemas.microsoft.com/office/drawing/2014/main" id="{9201B812-7878-033B-DFC8-E48DE5D62385}"/>
              </a:ext>
            </a:extLst>
          </p:cNvPr>
          <p:cNvSpPr>
            <a:spLocks noGrp="1"/>
          </p:cNvSpPr>
          <p:nvPr>
            <p:ph idx="1"/>
          </p:nvPr>
        </p:nvSpPr>
        <p:spPr>
          <a:xfrm>
            <a:off x="609600" y="1125537"/>
            <a:ext cx="11488057" cy="4895851"/>
          </a:xfrm>
        </p:spPr>
        <p:txBody>
          <a:bodyPr/>
          <a:lstStyle/>
          <a:p>
            <a:r>
              <a:rPr lang="en-US" altLang="zh-CN" sz="2400" b="1" dirty="0">
                <a:latin typeface="Times New Roman" panose="02020603050405020304" pitchFamily="18" charset="0"/>
                <a:cs typeface="Times New Roman" panose="02020603050405020304" pitchFamily="18" charset="0"/>
              </a:rPr>
              <a:t>Three Core Challenges of Streaming Real-Time TTS</a:t>
            </a:r>
          </a:p>
          <a:p>
            <a:pPr lvl="1"/>
            <a:r>
              <a:rPr lang="en-US" altLang="zh-CN" sz="2400" b="1" dirty="0">
                <a:latin typeface="Times New Roman" panose="02020603050405020304" pitchFamily="18" charset="0"/>
                <a:cs typeface="Times New Roman" panose="02020603050405020304" pitchFamily="18" charset="0"/>
              </a:rPr>
              <a:t>Fundamental Barrier to Native Streaming</a:t>
            </a:r>
          </a:p>
          <a:p>
            <a:pPr lvl="2"/>
            <a:r>
              <a:rPr lang="en-US" altLang="zh-CN" sz="2400" b="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Traditional TTS is built on continuous </a:t>
            </a:r>
            <a:r>
              <a:rPr lang="en-US" altLang="zh-CN" sz="2400" dirty="0" err="1">
                <a:latin typeface="Times New Roman" panose="02020603050405020304" pitchFamily="18" charset="0"/>
                <a:cs typeface="Times New Roman" panose="02020603050405020304" pitchFamily="18" charset="0"/>
              </a:rPr>
              <a:t>mel</a:t>
            </a:r>
            <a:r>
              <a:rPr lang="en-US" altLang="zh-CN" sz="2400" dirty="0">
                <a:latin typeface="Times New Roman" panose="02020603050405020304" pitchFamily="18" charset="0"/>
                <a:cs typeface="Times New Roman" panose="02020603050405020304" pitchFamily="18" charset="0"/>
              </a:rPr>
              <a:t>-spectrogram modeling.</a:t>
            </a:r>
          </a:p>
          <a:p>
            <a:pPr lvl="2"/>
            <a:endParaRPr lang="en-US" altLang="zh-CN" sz="2400" dirty="0">
              <a:latin typeface="Times New Roman" panose="02020603050405020304" pitchFamily="18" charset="0"/>
              <a:cs typeface="Times New Roman" panose="02020603050405020304" pitchFamily="18" charset="0"/>
            </a:endParaRPr>
          </a:p>
          <a:p>
            <a:pPr lvl="1"/>
            <a:r>
              <a:rPr lang="en-US" altLang="zh-CN" sz="2400" b="1" dirty="0">
                <a:latin typeface="Times New Roman" panose="02020603050405020304" pitchFamily="18" charset="0"/>
                <a:cs typeface="Times New Roman" panose="02020603050405020304" pitchFamily="18" charset="0"/>
              </a:rPr>
              <a:t>Performance Degradation in Streaming Scenarios</a:t>
            </a:r>
          </a:p>
          <a:p>
            <a:pPr lvl="2"/>
            <a:r>
              <a:rPr lang="en-US" altLang="zh-CN" sz="2400" dirty="0">
                <a:latin typeface="Times New Roman" panose="02020603050405020304" pitchFamily="18" charset="0"/>
                <a:cs typeface="Times New Roman" panose="02020603050405020304" pitchFamily="18" charset="0"/>
              </a:rPr>
              <a:t>Traditional TTS has extremely weak context modeling capability.</a:t>
            </a:r>
          </a:p>
          <a:p>
            <a:pPr lvl="2"/>
            <a:endParaRPr lang="en-US" altLang="zh-CN" sz="2400" dirty="0">
              <a:latin typeface="Times New Roman" panose="02020603050405020304" pitchFamily="18" charset="0"/>
              <a:cs typeface="Times New Roman" panose="02020603050405020304" pitchFamily="18" charset="0"/>
            </a:endParaRPr>
          </a:p>
          <a:p>
            <a:pPr lvl="1"/>
            <a:r>
              <a:rPr lang="en-US" altLang="zh-CN" sz="2400" b="1" dirty="0">
                <a:latin typeface="Times New Roman" panose="02020603050405020304" pitchFamily="18" charset="0"/>
                <a:cs typeface="Times New Roman" panose="02020603050405020304" pitchFamily="18" charset="0"/>
              </a:rPr>
              <a:t>Performance Bottleneck for Deployment</a:t>
            </a:r>
          </a:p>
          <a:p>
            <a:pPr lvl="2"/>
            <a:r>
              <a:rPr lang="en-US" altLang="zh-CN" sz="2400" dirty="0">
                <a:latin typeface="Times New Roman" panose="02020603050405020304" pitchFamily="18" charset="0"/>
                <a:cs typeface="Times New Roman" panose="02020603050405020304" pitchFamily="18" charset="0"/>
              </a:rPr>
              <a:t>The parameter scale of large-model TTS continues to grow.</a:t>
            </a:r>
          </a:p>
        </p:txBody>
      </p:sp>
      <p:pic>
        <p:nvPicPr>
          <p:cNvPr id="24" name="图片 23">
            <a:extLst>
              <a:ext uri="{FF2B5EF4-FFF2-40B4-BE49-F238E27FC236}">
                <a16:creationId xmlns:a16="http://schemas.microsoft.com/office/drawing/2014/main" id="{D90C27B7-8670-41A2-85FB-4CD23ECC3297}"/>
              </a:ext>
            </a:extLst>
          </p:cNvPr>
          <p:cNvPicPr>
            <a:picLocks noChangeAspect="1"/>
          </p:cNvPicPr>
          <p:nvPr/>
        </p:nvPicPr>
        <p:blipFill>
          <a:blip r:embed="rId3"/>
          <a:stretch>
            <a:fillRect/>
          </a:stretch>
        </p:blipFill>
        <p:spPr>
          <a:xfrm>
            <a:off x="10268857" y="2542722"/>
            <a:ext cx="1828800" cy="1409700"/>
          </a:xfrm>
          <a:prstGeom prst="rect">
            <a:avLst/>
          </a:prstGeom>
        </p:spPr>
      </p:pic>
    </p:spTree>
    <p:extLst>
      <p:ext uri="{BB962C8B-B14F-4D97-AF65-F5344CB8AC3E}">
        <p14:creationId xmlns:p14="http://schemas.microsoft.com/office/powerpoint/2010/main" val="3854283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534C1-697F-DDAC-0EED-3BD196DF95A4}"/>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4369583-1B75-982C-C347-5DB8DCB998B3}"/>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5C5404BC-EC70-36CF-CCD1-493C0B7E3DA3}"/>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solidFill>
                  <a:srgbClr val="FF0000"/>
                </a:solidFill>
                <a:latin typeface="Times New Roman" panose="02020603050405020304" pitchFamily="18" charset="0"/>
                <a:cs typeface="Times New Roman" panose="02020603050405020304" pitchFamily="18" charset="0"/>
              </a:rPr>
              <a:t>Related Work &amp; Background (5 min)</a:t>
            </a:r>
          </a:p>
          <a:p>
            <a:r>
              <a:rPr lang="en-US" altLang="zh-CN" sz="2933" dirty="0">
                <a:latin typeface="Times New Roman" panose="02020603050405020304" pitchFamily="18" charset="0"/>
                <a:cs typeface="Times New Roman" panose="02020603050405020304" pitchFamily="18" charset="0"/>
              </a:rPr>
              <a:t>Proposed Methods &amp; Performance Evaluation (15 min)</a:t>
            </a:r>
          </a:p>
          <a:p>
            <a:pPr lvl="1"/>
            <a:r>
              <a:rPr lang="en-US" altLang="zh-CN" sz="2400" dirty="0">
                <a:latin typeface="Times New Roman" panose="02020603050405020304" pitchFamily="18" charset="0"/>
                <a:cs typeface="Times New Roman" panose="02020603050405020304" pitchFamily="18" charset="0"/>
              </a:rPr>
              <a:t>VALL-E (5 min)</a:t>
            </a:r>
          </a:p>
          <a:p>
            <a:pPr lvl="1"/>
            <a:r>
              <a:rPr lang="en-US" altLang="zh-CN" sz="2400" dirty="0">
                <a:latin typeface="Times New Roman" panose="02020603050405020304" pitchFamily="18" charset="0"/>
                <a:cs typeface="Times New Roman" panose="02020603050405020304" pitchFamily="18" charset="0"/>
              </a:rPr>
              <a:t>CosyVoice2 (5 min)</a:t>
            </a:r>
          </a:p>
          <a:p>
            <a:pPr lvl="1"/>
            <a:r>
              <a:rPr lang="en-US" altLang="zh-CN" sz="2400" dirty="0" err="1">
                <a:latin typeface="Times New Roman" panose="02020603050405020304" pitchFamily="18" charset="0"/>
                <a:cs typeface="Times New Roman" panose="02020603050405020304" pitchFamily="18" charset="0"/>
              </a:rPr>
              <a:t>vLLM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PagedAttention</a:t>
            </a:r>
            <a:r>
              <a:rPr lang="en-US" altLang="zh-CN" sz="2400" dirty="0">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70FAEFC1-EEB9-F9F7-721B-C54C2782C69D}"/>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7</a:t>
            </a:fld>
            <a:endParaRPr lang="zh-TW" altLang="en-US"/>
          </a:p>
        </p:txBody>
      </p:sp>
    </p:spTree>
    <p:extLst>
      <p:ext uri="{BB962C8B-B14F-4D97-AF65-F5344CB8AC3E}">
        <p14:creationId xmlns:p14="http://schemas.microsoft.com/office/powerpoint/2010/main" val="2171825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E221-8BA6-11F1-B20A-2CF347225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AB607-D6AC-79C6-B8C1-241BAD7DF7EF}"/>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Related Work (1/3) - Parametric TTS</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CF387142-EFE2-14C5-DEBC-0A671FBA7F39}"/>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8</a:t>
            </a:fld>
            <a:endParaRPr lang="zh-TW" altLang="en-US"/>
          </a:p>
        </p:txBody>
      </p:sp>
      <p:sp>
        <p:nvSpPr>
          <p:cNvPr id="3" name="内容占位符 5">
            <a:extLst>
              <a:ext uri="{FF2B5EF4-FFF2-40B4-BE49-F238E27FC236}">
                <a16:creationId xmlns:a16="http://schemas.microsoft.com/office/drawing/2014/main" id="{1F167971-78C9-2C18-1981-165940526981}"/>
              </a:ext>
            </a:extLst>
          </p:cNvPr>
          <p:cNvSpPr txBox="1">
            <a:spLocks/>
          </p:cNvSpPr>
          <p:nvPr/>
        </p:nvSpPr>
        <p:spPr bwMode="auto">
          <a:xfrm>
            <a:off x="624994" y="1125537"/>
            <a:ext cx="11327823"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0" indent="0">
              <a:buNone/>
            </a:pPr>
            <a:r>
              <a:rPr lang="en-US" altLang="zh-CN" sz="2400" b="1" kern="0" dirty="0">
                <a:latin typeface="Times New Roman" panose="02020603050405020304" pitchFamily="18" charset="0"/>
                <a:cs typeface="Times New Roman" panose="02020603050405020304" pitchFamily="18" charset="0"/>
              </a:rPr>
              <a:t>Parametric TTS (Representative: </a:t>
            </a:r>
            <a:r>
              <a:rPr lang="en-US" altLang="zh-CN" sz="2400" b="1" kern="0" dirty="0" err="1">
                <a:latin typeface="Times New Roman" panose="02020603050405020304" pitchFamily="18" charset="0"/>
                <a:cs typeface="Times New Roman" panose="02020603050405020304" pitchFamily="18" charset="0"/>
              </a:rPr>
              <a:t>Tacotron</a:t>
            </a:r>
            <a:r>
              <a:rPr lang="en-US" altLang="zh-CN" sz="2400" b="1" kern="0" dirty="0">
                <a:latin typeface="Times New Roman" panose="02020603050405020304" pitchFamily="18" charset="0"/>
                <a:cs typeface="Times New Roman" panose="02020603050405020304" pitchFamily="18" charset="0"/>
              </a:rPr>
              <a:t> 2), </a:t>
            </a:r>
          </a:p>
          <a:p>
            <a:r>
              <a:rPr lang="en-US" altLang="zh-CN" sz="2400" kern="0" dirty="0">
                <a:latin typeface="Times New Roman" panose="02020603050405020304" pitchFamily="18" charset="0"/>
                <a:cs typeface="Times New Roman" panose="02020603050405020304" pitchFamily="18" charset="0"/>
              </a:rPr>
              <a:t>Two-stage architecture (acoustic model + vocoder)</a:t>
            </a:r>
          </a:p>
          <a:p>
            <a:r>
              <a:rPr lang="en-US" altLang="zh-CN" sz="2400" kern="0" dirty="0">
                <a:latin typeface="Times New Roman" panose="02020603050405020304" pitchFamily="18" charset="0"/>
                <a:cs typeface="Times New Roman" panose="02020603050405020304" pitchFamily="18" charset="0"/>
              </a:rPr>
              <a:t>Bidirectional autoregressive modeling of continuous </a:t>
            </a:r>
            <a:r>
              <a:rPr lang="en-US" altLang="zh-CN" sz="2400" kern="0" dirty="0" err="1">
                <a:latin typeface="Times New Roman" panose="02020603050405020304" pitchFamily="18" charset="0"/>
                <a:cs typeface="Times New Roman" panose="02020603050405020304" pitchFamily="18" charset="0"/>
              </a:rPr>
              <a:t>mel</a:t>
            </a:r>
            <a:r>
              <a:rPr lang="en-US" altLang="zh-CN" sz="2400" kern="0" dirty="0">
                <a:latin typeface="Times New Roman" panose="02020603050405020304" pitchFamily="18" charset="0"/>
                <a:cs typeface="Times New Roman" panose="02020603050405020304" pitchFamily="18" charset="0"/>
              </a:rPr>
              <a:t>-spectrogram </a:t>
            </a:r>
          </a:p>
          <a:p>
            <a:r>
              <a:rPr lang="en-US" altLang="zh-CN" sz="2400" kern="0" dirty="0">
                <a:latin typeface="Times New Roman" panose="02020603050405020304" pitchFamily="18" charset="0"/>
                <a:cs typeface="Times New Roman" panose="02020603050405020304" pitchFamily="18" charset="0"/>
              </a:rPr>
              <a:t>Requires full text input</a:t>
            </a:r>
          </a:p>
        </p:txBody>
      </p:sp>
      <p:pic>
        <p:nvPicPr>
          <p:cNvPr id="3074" name="Picture 2" descr="Tacotron 2: Generating Human-like Speech from Text">
            <a:extLst>
              <a:ext uri="{FF2B5EF4-FFF2-40B4-BE49-F238E27FC236}">
                <a16:creationId xmlns:a16="http://schemas.microsoft.com/office/drawing/2014/main" id="{5985ACA6-54F1-4951-AE66-496B1C7A6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2652" y="3018626"/>
            <a:ext cx="5235119" cy="295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5238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DC24A-A6EA-D7B8-2EB6-BD2EC76E8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B2F32-6B3D-3B67-45E3-C1768E7F92AD}"/>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Related Work (2/3) - </a:t>
            </a:r>
            <a:r>
              <a:rPr lang="en-US" altLang="zh-CN" sz="4800" b="1" kern="0" dirty="0">
                <a:latin typeface="Times New Roman" panose="02020603050405020304" pitchFamily="18" charset="0"/>
                <a:cs typeface="Times New Roman" panose="02020603050405020304" pitchFamily="18" charset="0"/>
              </a:rPr>
              <a:t>E2E Non-AR TTS </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755A2107-2CEE-FA28-465E-30798B896E6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9</a:t>
            </a:fld>
            <a:endParaRPr lang="zh-TW" altLang="en-US"/>
          </a:p>
        </p:txBody>
      </p:sp>
      <p:sp>
        <p:nvSpPr>
          <p:cNvPr id="3" name="内容占位符 5">
            <a:extLst>
              <a:ext uri="{FF2B5EF4-FFF2-40B4-BE49-F238E27FC236}">
                <a16:creationId xmlns:a16="http://schemas.microsoft.com/office/drawing/2014/main" id="{6344EABD-2CF8-5B62-DBCE-5CB6886FCDA7}"/>
              </a:ext>
            </a:extLst>
          </p:cNvPr>
          <p:cNvSpPr txBox="1">
            <a:spLocks/>
          </p:cNvSpPr>
          <p:nvPr/>
        </p:nvSpPr>
        <p:spPr bwMode="auto">
          <a:xfrm>
            <a:off x="624994" y="1125537"/>
            <a:ext cx="7633635"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marL="0" indent="0">
              <a:buNone/>
            </a:pPr>
            <a:r>
              <a:rPr lang="en-US" altLang="zh-CN" sz="2400" b="1" kern="0" dirty="0">
                <a:latin typeface="Times New Roman" panose="02020603050405020304" pitchFamily="18" charset="0"/>
                <a:cs typeface="Times New Roman" panose="02020603050405020304" pitchFamily="18" charset="0"/>
              </a:rPr>
              <a:t>E2E Non-AR TTS (Representative: </a:t>
            </a:r>
            <a:r>
              <a:rPr lang="en-US" altLang="zh-CN" sz="2400" b="1" kern="0" dirty="0" err="1">
                <a:latin typeface="Times New Roman" panose="02020603050405020304" pitchFamily="18" charset="0"/>
                <a:cs typeface="Times New Roman" panose="02020603050405020304" pitchFamily="18" charset="0"/>
              </a:rPr>
              <a:t>FastSpeech</a:t>
            </a:r>
            <a:r>
              <a:rPr lang="en-US" altLang="zh-CN" sz="2400" b="1" kern="0" dirty="0">
                <a:latin typeface="Times New Roman" panose="02020603050405020304" pitchFamily="18" charset="0"/>
                <a:cs typeface="Times New Roman" panose="02020603050405020304" pitchFamily="18" charset="0"/>
              </a:rPr>
              <a:t> 2) </a:t>
            </a:r>
          </a:p>
          <a:p>
            <a:r>
              <a:rPr lang="en-US" altLang="zh-CN" sz="2400" kern="0" dirty="0">
                <a:latin typeface="Times New Roman" panose="02020603050405020304" pitchFamily="18" charset="0"/>
                <a:cs typeface="Times New Roman" panose="02020603050405020304" pitchFamily="18" charset="0"/>
              </a:rPr>
              <a:t>Accelerates inference speed, but still relies on global text information for duration prediction. </a:t>
            </a:r>
          </a:p>
          <a:p>
            <a:r>
              <a:rPr lang="en-US" altLang="zh-CN" sz="2400" kern="0" dirty="0">
                <a:latin typeface="Times New Roman" panose="02020603050405020304" pitchFamily="18" charset="0"/>
                <a:cs typeface="Times New Roman" panose="02020603050405020304" pitchFamily="18" charset="0"/>
              </a:rPr>
              <a:t>Forced streaming splitting is prone to prosody errors and pronunciation distortion.</a:t>
            </a:r>
          </a:p>
          <a:p>
            <a:pPr marL="0" indent="0">
              <a:buNone/>
            </a:pPr>
            <a:endParaRPr lang="en-US" altLang="zh-CN" sz="2000" b="1" kern="0" dirty="0">
              <a:latin typeface="Times New Roman" panose="02020603050405020304" pitchFamily="18" charset="0"/>
              <a:cs typeface="Times New Roman" panose="02020603050405020304" pitchFamily="18" charset="0"/>
            </a:endParaRPr>
          </a:p>
          <a:p>
            <a:pPr marL="0" indent="0">
              <a:buNone/>
            </a:pPr>
            <a:endParaRPr lang="en-US" altLang="zh-CN" sz="2000" b="1" kern="0" dirty="0">
              <a:latin typeface="Times New Roman" panose="02020603050405020304" pitchFamily="18" charset="0"/>
              <a:cs typeface="Times New Roman" panose="02020603050405020304" pitchFamily="18" charset="0"/>
            </a:endParaRPr>
          </a:p>
          <a:p>
            <a:pPr marL="0" indent="0">
              <a:buNone/>
            </a:pPr>
            <a:r>
              <a:rPr lang="en-US" altLang="zh-CN" sz="2000" b="1" kern="0" dirty="0">
                <a:latin typeface="Times New Roman" panose="02020603050405020304" pitchFamily="18" charset="0"/>
                <a:cs typeface="Times New Roman" panose="02020603050405020304" pitchFamily="18" charset="0"/>
              </a:rPr>
              <a:t>Core Common Limitation: </a:t>
            </a:r>
          </a:p>
          <a:p>
            <a:pPr marL="0" indent="0">
              <a:buNone/>
            </a:pPr>
            <a:r>
              <a:rPr lang="en-US" altLang="zh-CN" sz="2000" kern="0" dirty="0">
                <a:latin typeface="Times New Roman" panose="02020603050405020304" pitchFamily="18" charset="0"/>
                <a:cs typeface="Times New Roman" panose="02020603050405020304" pitchFamily="18" charset="0"/>
              </a:rPr>
              <a:t>All traditional architectures are designed for </a:t>
            </a:r>
            <a:r>
              <a:rPr lang="en-US" altLang="zh-CN" sz="2000" b="1" kern="0" dirty="0">
                <a:latin typeface="Times New Roman" panose="02020603050405020304" pitchFamily="18" charset="0"/>
                <a:cs typeface="Times New Roman" panose="02020603050405020304" pitchFamily="18" charset="0"/>
              </a:rPr>
              <a:t>full-segment generation</a:t>
            </a:r>
            <a:r>
              <a:rPr lang="en-US" altLang="zh-CN" sz="2000" kern="0" dirty="0">
                <a:latin typeface="Times New Roman" panose="02020603050405020304" pitchFamily="18" charset="0"/>
                <a:cs typeface="Times New Roman" panose="02020603050405020304" pitchFamily="18" charset="0"/>
              </a:rPr>
              <a:t>, with no native streaming inference capability.</a:t>
            </a:r>
            <a:endParaRPr lang="en-US" altLang="zh-CN" sz="1800" dirty="0">
              <a:latin typeface="Times New Roman" panose="02020603050405020304" pitchFamily="18" charset="0"/>
              <a:cs typeface="Times New Roman" panose="02020603050405020304" pitchFamily="18" charset="0"/>
            </a:endParaRPr>
          </a:p>
          <a:p>
            <a:endParaRPr lang="en-US" altLang="zh-CN" sz="1800" kern="0" dirty="0">
              <a:latin typeface="Times New Roman" panose="02020603050405020304" pitchFamily="18" charset="0"/>
              <a:cs typeface="Times New Roman" panose="02020603050405020304" pitchFamily="18" charset="0"/>
            </a:endParaRPr>
          </a:p>
          <a:p>
            <a:endParaRPr lang="en-US" altLang="zh-CN" sz="2000" kern="0" dirty="0">
              <a:latin typeface="Times New Roman" panose="02020603050405020304" pitchFamily="18" charset="0"/>
              <a:cs typeface="Times New Roman" panose="02020603050405020304" pitchFamily="18" charset="0"/>
            </a:endParaRPr>
          </a:p>
        </p:txBody>
      </p:sp>
      <p:pic>
        <p:nvPicPr>
          <p:cNvPr id="4098" name="Picture 2" descr="2006.04558] FastSpeech 2: Fast and High-Quality End-to-End Text to Speech">
            <a:extLst>
              <a:ext uri="{FF2B5EF4-FFF2-40B4-BE49-F238E27FC236}">
                <a16:creationId xmlns:a16="http://schemas.microsoft.com/office/drawing/2014/main" id="{7DF3B089-AEA9-4249-96A6-11685C9585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1088" y="1535814"/>
            <a:ext cx="2714771" cy="4289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148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DC24A-A6EA-D7B8-2EB6-BD2EC76E8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B2F32-6B3D-3B67-45E3-C1768E7F92AD}"/>
              </a:ext>
            </a:extLst>
          </p:cNvPr>
          <p:cNvSpPr>
            <a:spLocks noGrp="1"/>
          </p:cNvSpPr>
          <p:nvPr>
            <p:ph type="title"/>
          </p:nvPr>
        </p:nvSpPr>
        <p:spPr/>
        <p:txBody>
          <a:bodyPr/>
          <a:lstStyle/>
          <a:p>
            <a:r>
              <a:rPr lang="en-US" altLang="zh-CN" dirty="0">
                <a:ea typeface="Calibri" panose="020F0502020204030204" pitchFamily="34" charset="0"/>
                <a:cs typeface="Calibri" panose="020F0502020204030204" pitchFamily="34" charset="0"/>
              </a:rPr>
              <a:t>Background (3/3) - </a:t>
            </a:r>
            <a:r>
              <a:rPr lang="en-US" altLang="zh-CN" dirty="0"/>
              <a:t>Limitations</a:t>
            </a:r>
            <a:endParaRPr lang="en-US" dirty="0">
              <a:ea typeface="Calibri" panose="020F0502020204030204" pitchFamily="34" charset="0"/>
              <a:cs typeface="Calibri" panose="020F0502020204030204" pitchFamily="34" charset="0"/>
            </a:endParaRPr>
          </a:p>
        </p:txBody>
      </p:sp>
      <p:sp>
        <p:nvSpPr>
          <p:cNvPr id="4" name="灯片编号占位符 1">
            <a:extLst>
              <a:ext uri="{FF2B5EF4-FFF2-40B4-BE49-F238E27FC236}">
                <a16:creationId xmlns:a16="http://schemas.microsoft.com/office/drawing/2014/main" id="{755A2107-2CEE-FA28-465E-30798B896E6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10</a:t>
            </a:fld>
            <a:endParaRPr lang="zh-TW" altLang="en-US"/>
          </a:p>
        </p:txBody>
      </p:sp>
      <p:sp>
        <p:nvSpPr>
          <p:cNvPr id="3" name="内容占位符 5">
            <a:extLst>
              <a:ext uri="{FF2B5EF4-FFF2-40B4-BE49-F238E27FC236}">
                <a16:creationId xmlns:a16="http://schemas.microsoft.com/office/drawing/2014/main" id="{6344EABD-2CF8-5B62-DBCE-5CB6886FCDA7}"/>
              </a:ext>
            </a:extLst>
          </p:cNvPr>
          <p:cNvSpPr txBox="1">
            <a:spLocks/>
          </p:cNvSpPr>
          <p:nvPr/>
        </p:nvSpPr>
        <p:spPr bwMode="auto">
          <a:xfrm>
            <a:off x="624994" y="1125537"/>
            <a:ext cx="11218663"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Modeling Level: </a:t>
            </a:r>
            <a:r>
              <a:rPr lang="en-US" altLang="zh-CN" sz="2400" kern="0" dirty="0">
                <a:latin typeface="Times New Roman" panose="02020603050405020304" pitchFamily="18" charset="0"/>
                <a:cs typeface="Times New Roman" panose="02020603050405020304" pitchFamily="18" charset="0"/>
              </a:rPr>
              <a:t>Strong inter-frame dependency of continuous </a:t>
            </a:r>
            <a:r>
              <a:rPr lang="en-US" altLang="zh-CN" sz="2400" kern="0" dirty="0" err="1">
                <a:latin typeface="Times New Roman" panose="02020603050405020304" pitchFamily="18" charset="0"/>
                <a:cs typeface="Times New Roman" panose="02020603050405020304" pitchFamily="18" charset="0"/>
              </a:rPr>
              <a:t>mel</a:t>
            </a:r>
            <a:r>
              <a:rPr lang="en-US" altLang="zh-CN" sz="2400" kern="0" dirty="0">
                <a:latin typeface="Times New Roman" panose="02020603050405020304" pitchFamily="18" charset="0"/>
                <a:cs typeface="Times New Roman" panose="02020603050405020304" pitchFamily="18" charset="0"/>
              </a:rPr>
              <a:t>-spectrogram, non-autoregressive architecture cannot achieve chunk-by-chunk incremental generation.</a:t>
            </a:r>
          </a:p>
          <a:p>
            <a:r>
              <a:rPr lang="en-US" altLang="zh-CN" sz="2400" b="1" kern="0" dirty="0">
                <a:latin typeface="Times New Roman" panose="02020603050405020304" pitchFamily="18" charset="0"/>
                <a:cs typeface="Times New Roman" panose="02020603050405020304" pitchFamily="18" charset="0"/>
              </a:rPr>
              <a:t>Architecture Level: </a:t>
            </a:r>
            <a:r>
              <a:rPr lang="en-US" altLang="zh-CN" sz="2400" kern="0" dirty="0">
                <a:latin typeface="Times New Roman" panose="02020603050405020304" pitchFamily="18" charset="0"/>
                <a:cs typeface="Times New Roman" panose="02020603050405020304" pitchFamily="18" charset="0"/>
              </a:rPr>
              <a:t>Siloed design of text frontend - acoustic model - vocoder, multi-module cascade leads to latency accumulation, and chunk-by-chunk streaming processing is prone to error propagation.</a:t>
            </a:r>
          </a:p>
          <a:p>
            <a:r>
              <a:rPr lang="en-US" altLang="zh-CN" sz="2400" b="1" kern="0" dirty="0">
                <a:latin typeface="Times New Roman" panose="02020603050405020304" pitchFamily="18" charset="0"/>
                <a:cs typeface="Times New Roman" panose="02020603050405020304" pitchFamily="18" charset="0"/>
              </a:rPr>
              <a:t>Inference Level: </a:t>
            </a:r>
            <a:r>
              <a:rPr lang="en-US" altLang="zh-CN" sz="2400" kern="0" dirty="0">
                <a:latin typeface="Times New Roman" panose="02020603050405020304" pitchFamily="18" charset="0"/>
                <a:cs typeface="Times New Roman" panose="02020603050405020304" pitchFamily="18" charset="0"/>
              </a:rPr>
              <a:t>Static VRAM allocation mechanism cannot adapt to the dynamic length of streaming requests, resulting in massive VRAM fragmentation, drastic latency fluctuations under high concurrency, and failure to meet commercial SLA requirements.</a:t>
            </a:r>
            <a:endParaRPr lang="en-US" altLang="zh-CN" sz="20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424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1DF69-128E-8159-6441-DEFF8E5163E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9ED9CD4-BA7F-12C8-5BDD-DF2A0EA0C5C5}"/>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636C44CE-28F3-9892-3537-6D037D976015}"/>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&amp; Background (5 min)</a:t>
            </a:r>
          </a:p>
          <a:p>
            <a:r>
              <a:rPr lang="en-US" altLang="zh-CN" sz="2933" dirty="0">
                <a:solidFill>
                  <a:srgbClr val="FF0000"/>
                </a:solidFill>
                <a:latin typeface="Times New Roman" panose="02020603050405020304" pitchFamily="18" charset="0"/>
                <a:cs typeface="Times New Roman" panose="02020603050405020304" pitchFamily="18" charset="0"/>
              </a:rPr>
              <a:t>Proposed Methods (15 min)</a:t>
            </a:r>
          </a:p>
          <a:p>
            <a:pPr lvl="1"/>
            <a:r>
              <a:rPr lang="en-US" altLang="zh-CN" sz="2400" dirty="0">
                <a:solidFill>
                  <a:srgbClr val="FF0000"/>
                </a:solidFill>
                <a:latin typeface="Times New Roman" panose="02020603050405020304" pitchFamily="18" charset="0"/>
                <a:cs typeface="Times New Roman" panose="02020603050405020304" pitchFamily="18" charset="0"/>
              </a:rPr>
              <a:t>VALL-E (5 min)</a:t>
            </a:r>
          </a:p>
          <a:p>
            <a:pPr lvl="1"/>
            <a:r>
              <a:rPr lang="en-US" altLang="zh-CN" sz="2400" dirty="0">
                <a:solidFill>
                  <a:srgbClr val="FF0000"/>
                </a:solidFill>
                <a:latin typeface="Times New Roman" panose="02020603050405020304" pitchFamily="18" charset="0"/>
                <a:cs typeface="Times New Roman" panose="02020603050405020304" pitchFamily="18" charset="0"/>
              </a:rPr>
              <a:t>CosyVoice2 (5 min)</a:t>
            </a:r>
          </a:p>
          <a:p>
            <a:pPr lvl="1"/>
            <a:r>
              <a:rPr lang="en-US" altLang="zh-CN" sz="2400" dirty="0" err="1">
                <a:solidFill>
                  <a:srgbClr val="FF0000"/>
                </a:solidFill>
                <a:latin typeface="Times New Roman" panose="02020603050405020304" pitchFamily="18" charset="0"/>
                <a:cs typeface="Times New Roman" panose="02020603050405020304" pitchFamily="18" charset="0"/>
              </a:rPr>
              <a:t>vLLM</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dirty="0" err="1">
                <a:solidFill>
                  <a:srgbClr val="FF0000"/>
                </a:solidFill>
                <a:latin typeface="Times New Roman" panose="02020603050405020304" pitchFamily="18" charset="0"/>
                <a:cs typeface="Times New Roman" panose="02020603050405020304" pitchFamily="18" charset="0"/>
              </a:rPr>
              <a:t>PagedAttention</a:t>
            </a:r>
            <a:r>
              <a:rPr lang="en-US" altLang="zh-CN" sz="2400" dirty="0">
                <a:solidFill>
                  <a:srgbClr val="FF0000"/>
                </a:solidFill>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FBCCB22E-2B32-15D0-8604-EB8B234C26D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11</a:t>
            </a:fld>
            <a:endParaRPr lang="zh-TW" altLang="en-US"/>
          </a:p>
        </p:txBody>
      </p:sp>
    </p:spTree>
    <p:extLst>
      <p:ext uri="{BB962C8B-B14F-4D97-AF65-F5344CB8AC3E}">
        <p14:creationId xmlns:p14="http://schemas.microsoft.com/office/powerpoint/2010/main" val="659027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E8643-9C9C-01D8-D834-7B8CE8168D4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012295D-6E5A-2823-6167-62BD3C855E65}"/>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0613EF1A-F13A-F328-E7EB-D2FC41513D1C}"/>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&amp; Background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solidFill>
                  <a:srgbClr val="FF0000"/>
                </a:solidFill>
                <a:latin typeface="Times New Roman" panose="02020603050405020304" pitchFamily="18" charset="0"/>
                <a:cs typeface="Times New Roman" panose="02020603050405020304" pitchFamily="18" charset="0"/>
              </a:rPr>
              <a:t>VALL-E (5 min)</a:t>
            </a:r>
          </a:p>
          <a:p>
            <a:pPr lvl="1"/>
            <a:r>
              <a:rPr lang="en-US" altLang="zh-CN" sz="2400" dirty="0">
                <a:latin typeface="Times New Roman" panose="02020603050405020304" pitchFamily="18" charset="0"/>
                <a:cs typeface="Times New Roman" panose="02020603050405020304" pitchFamily="18" charset="0"/>
              </a:rPr>
              <a:t>CosyVoice2 (5 min)</a:t>
            </a:r>
          </a:p>
          <a:p>
            <a:pPr lvl="1"/>
            <a:r>
              <a:rPr lang="en-US" altLang="zh-CN" sz="2400" dirty="0" err="1">
                <a:latin typeface="Times New Roman" panose="02020603050405020304" pitchFamily="18" charset="0"/>
                <a:cs typeface="Times New Roman" panose="02020603050405020304" pitchFamily="18" charset="0"/>
              </a:rPr>
              <a:t>vLLM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PagedAttention</a:t>
            </a:r>
            <a:r>
              <a:rPr lang="en-US" altLang="zh-CN" sz="2400" dirty="0">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6952969A-6149-7BCA-29BB-922389299E5A}"/>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12</a:t>
            </a:fld>
            <a:endParaRPr lang="zh-TW" altLang="en-US"/>
          </a:p>
        </p:txBody>
      </p:sp>
    </p:spTree>
    <p:extLst>
      <p:ext uri="{BB962C8B-B14F-4D97-AF65-F5344CB8AC3E}">
        <p14:creationId xmlns:p14="http://schemas.microsoft.com/office/powerpoint/2010/main" val="2389247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D337A3A8-A18E-BA84-C43F-B25DFE84EE7B}"/>
              </a:ext>
            </a:extLst>
          </p:cNvPr>
          <p:cNvSpPr>
            <a:spLocks noGrp="1"/>
          </p:cNvSpPr>
          <p:nvPr>
            <p:ph type="title"/>
          </p:nvPr>
        </p:nvSpPr>
        <p:spPr/>
        <p:txBody>
          <a:bodyPr/>
          <a:lstStyle/>
          <a:p>
            <a:r>
              <a:rPr lang="en-US" altLang="zh-CN" dirty="0"/>
              <a:t>VALL-E (1/5)</a:t>
            </a:r>
            <a:endParaRPr lang="zh-CN" altLang="en-US" dirty="0"/>
          </a:p>
        </p:txBody>
      </p:sp>
      <p:sp>
        <p:nvSpPr>
          <p:cNvPr id="4" name="灯片编号占位符 3">
            <a:extLst>
              <a:ext uri="{FF2B5EF4-FFF2-40B4-BE49-F238E27FC236}">
                <a16:creationId xmlns:a16="http://schemas.microsoft.com/office/drawing/2014/main" id="{4EC4D0DB-67CF-0B9C-BF5F-9682768896ED}"/>
              </a:ext>
            </a:extLst>
          </p:cNvPr>
          <p:cNvSpPr>
            <a:spLocks noGrp="1"/>
          </p:cNvSpPr>
          <p:nvPr>
            <p:ph type="sldNum" sz="quarter" idx="10"/>
          </p:nvPr>
        </p:nvSpPr>
        <p:spPr/>
        <p:txBody>
          <a:bodyPr/>
          <a:lstStyle/>
          <a:p>
            <a:fld id="{D9B6BDF2-6896-4B98-8776-C18582F63BA5}" type="slidenum">
              <a:rPr lang="zh-TW" altLang="en-US" smtClean="0"/>
              <a:pPr/>
              <a:t>13</a:t>
            </a:fld>
            <a:endParaRPr lang="zh-TW" altLang="en-US"/>
          </a:p>
        </p:txBody>
      </p:sp>
      <p:sp>
        <p:nvSpPr>
          <p:cNvPr id="9" name="内容占位符 5">
            <a:extLst>
              <a:ext uri="{FF2B5EF4-FFF2-40B4-BE49-F238E27FC236}">
                <a16:creationId xmlns:a16="http://schemas.microsoft.com/office/drawing/2014/main" id="{DFC22260-1939-BED1-CE2F-50645A3E627F}"/>
              </a:ext>
            </a:extLst>
          </p:cNvPr>
          <p:cNvSpPr txBox="1">
            <a:spLocks/>
          </p:cNvSpPr>
          <p:nvPr/>
        </p:nvSpPr>
        <p:spPr bwMode="auto">
          <a:xfrm>
            <a:off x="624995" y="1125537"/>
            <a:ext cx="7800548"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Construction of Native Streaming Modeling Capability</a:t>
            </a:r>
          </a:p>
          <a:p>
            <a:pPr lvl="1"/>
            <a:r>
              <a:rPr lang="en-US" altLang="zh-CN" sz="2400" b="1" kern="0" dirty="0">
                <a:latin typeface="Times New Roman" panose="02020603050405020304" pitchFamily="18" charset="0"/>
                <a:cs typeface="Times New Roman" panose="02020603050405020304" pitchFamily="18" charset="0"/>
              </a:rPr>
              <a:t>Core Design Idea: </a:t>
            </a:r>
          </a:p>
          <a:p>
            <a:pPr lvl="2"/>
            <a:r>
              <a:rPr lang="en-US" altLang="zh-CN" sz="2400" kern="0" dirty="0">
                <a:latin typeface="Times New Roman" panose="02020603050405020304" pitchFamily="18" charset="0"/>
                <a:cs typeface="Times New Roman" panose="02020603050405020304" pitchFamily="18" charset="0"/>
              </a:rPr>
              <a:t>Break continuous feature into discrete tokens</a:t>
            </a:r>
          </a:p>
          <a:p>
            <a:pPr lvl="2"/>
            <a:r>
              <a:rPr lang="en-US" altLang="zh-CN" sz="2400" kern="0" dirty="0">
                <a:latin typeface="Times New Roman" panose="02020603050405020304" pitchFamily="18" charset="0"/>
                <a:cs typeface="Times New Roman" panose="02020603050405020304" pitchFamily="18" charset="0"/>
              </a:rPr>
              <a:t>Adapt to the mature autoregressive generation logic of large language models.</a:t>
            </a:r>
          </a:p>
        </p:txBody>
      </p:sp>
      <p:pic>
        <p:nvPicPr>
          <p:cNvPr id="5122" name="Picture 2" descr="Microsoft's VALL-E can mimic your voice using just 3 seconds of audio">
            <a:extLst>
              <a:ext uri="{FF2B5EF4-FFF2-40B4-BE49-F238E27FC236}">
                <a16:creationId xmlns:a16="http://schemas.microsoft.com/office/drawing/2014/main" id="{8D40A568-61CA-4C78-8978-441E316D4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0" y="3819072"/>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11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CD2D-FCD7-9B1A-24BB-EAE6731BAEF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EB26800-C45D-81AD-315E-90493428576B}"/>
              </a:ext>
            </a:extLst>
          </p:cNvPr>
          <p:cNvSpPr>
            <a:spLocks noGrp="1"/>
          </p:cNvSpPr>
          <p:nvPr>
            <p:ph type="title"/>
          </p:nvPr>
        </p:nvSpPr>
        <p:spPr/>
        <p:txBody>
          <a:bodyPr/>
          <a:lstStyle/>
          <a:p>
            <a:r>
              <a:rPr lang="en-US" altLang="zh-CN" dirty="0"/>
              <a:t>VALL-E (2/5)</a:t>
            </a:r>
            <a:endParaRPr lang="zh-CN" altLang="en-US" dirty="0"/>
          </a:p>
        </p:txBody>
      </p:sp>
      <p:sp>
        <p:nvSpPr>
          <p:cNvPr id="4" name="灯片编号占位符 3">
            <a:extLst>
              <a:ext uri="{FF2B5EF4-FFF2-40B4-BE49-F238E27FC236}">
                <a16:creationId xmlns:a16="http://schemas.microsoft.com/office/drawing/2014/main" id="{2D496201-41F8-8620-0799-B7617BDF2F92}"/>
              </a:ext>
            </a:extLst>
          </p:cNvPr>
          <p:cNvSpPr>
            <a:spLocks noGrp="1"/>
          </p:cNvSpPr>
          <p:nvPr>
            <p:ph type="sldNum" sz="quarter" idx="10"/>
          </p:nvPr>
        </p:nvSpPr>
        <p:spPr/>
        <p:txBody>
          <a:bodyPr/>
          <a:lstStyle/>
          <a:p>
            <a:fld id="{D9B6BDF2-6896-4B98-8776-C18582F63BA5}" type="slidenum">
              <a:rPr lang="zh-TW" altLang="en-US" smtClean="0"/>
              <a:pPr/>
              <a:t>14</a:t>
            </a:fld>
            <a:endParaRPr lang="zh-TW" altLang="en-US"/>
          </a:p>
        </p:txBody>
      </p:sp>
      <p:sp>
        <p:nvSpPr>
          <p:cNvPr id="9" name="内容占位符 5">
            <a:extLst>
              <a:ext uri="{FF2B5EF4-FFF2-40B4-BE49-F238E27FC236}">
                <a16:creationId xmlns:a16="http://schemas.microsoft.com/office/drawing/2014/main" id="{8D336522-8842-DA03-582E-49911712F269}"/>
              </a:ext>
            </a:extLst>
          </p:cNvPr>
          <p:cNvSpPr txBox="1">
            <a:spLocks/>
          </p:cNvSpPr>
          <p:nvPr/>
        </p:nvSpPr>
        <p:spPr bwMode="auto">
          <a:xfrm>
            <a:off x="624995" y="1125537"/>
            <a:ext cx="5581841"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Technical Implementation Details</a:t>
            </a:r>
          </a:p>
          <a:p>
            <a:pPr lvl="1"/>
            <a:r>
              <a:rPr lang="en-US" altLang="zh-CN" sz="2400" kern="0" dirty="0">
                <a:latin typeface="Times New Roman" panose="02020603050405020304" pitchFamily="18" charset="0"/>
                <a:cs typeface="Times New Roman" panose="02020603050405020304" pitchFamily="18" charset="0"/>
              </a:rPr>
              <a:t>Convert continuous signals into discrete token via audio codec.</a:t>
            </a:r>
          </a:p>
        </p:txBody>
      </p:sp>
      <p:pic>
        <p:nvPicPr>
          <p:cNvPr id="6146" name="Picture 2" descr="Refer to caption">
            <a:extLst>
              <a:ext uri="{FF2B5EF4-FFF2-40B4-BE49-F238E27FC236}">
                <a16:creationId xmlns:a16="http://schemas.microsoft.com/office/drawing/2014/main" id="{D2CF591B-5DC7-46BE-9FC2-C6E052787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9371" y="2459038"/>
            <a:ext cx="9913257" cy="3474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133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19001-C3D1-1078-106B-E5187CDC7DC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8B4E83B-8E22-E6EB-DF0C-24A57B140403}"/>
              </a:ext>
            </a:extLst>
          </p:cNvPr>
          <p:cNvSpPr>
            <a:spLocks noGrp="1"/>
          </p:cNvSpPr>
          <p:nvPr>
            <p:ph type="title"/>
          </p:nvPr>
        </p:nvSpPr>
        <p:spPr/>
        <p:txBody>
          <a:bodyPr/>
          <a:lstStyle/>
          <a:p>
            <a:r>
              <a:rPr lang="en-US" altLang="zh-CN" dirty="0"/>
              <a:t>VALL-E (3/5)</a:t>
            </a:r>
            <a:endParaRPr lang="zh-CN" altLang="en-US" dirty="0"/>
          </a:p>
        </p:txBody>
      </p:sp>
      <p:sp>
        <p:nvSpPr>
          <p:cNvPr id="4" name="灯片编号占位符 3">
            <a:extLst>
              <a:ext uri="{FF2B5EF4-FFF2-40B4-BE49-F238E27FC236}">
                <a16:creationId xmlns:a16="http://schemas.microsoft.com/office/drawing/2014/main" id="{99267809-71CB-7B92-AF49-5349852E64CE}"/>
              </a:ext>
            </a:extLst>
          </p:cNvPr>
          <p:cNvSpPr>
            <a:spLocks noGrp="1"/>
          </p:cNvSpPr>
          <p:nvPr>
            <p:ph type="sldNum" sz="quarter" idx="10"/>
          </p:nvPr>
        </p:nvSpPr>
        <p:spPr/>
        <p:txBody>
          <a:bodyPr/>
          <a:lstStyle/>
          <a:p>
            <a:fld id="{D9B6BDF2-6896-4B98-8776-C18582F63BA5}" type="slidenum">
              <a:rPr lang="zh-TW" altLang="en-US" smtClean="0"/>
              <a:pPr/>
              <a:t>15</a:t>
            </a:fld>
            <a:endParaRPr lang="zh-TW" altLang="en-US"/>
          </a:p>
        </p:txBody>
      </p:sp>
      <p:sp>
        <p:nvSpPr>
          <p:cNvPr id="9" name="内容占位符 5">
            <a:extLst>
              <a:ext uri="{FF2B5EF4-FFF2-40B4-BE49-F238E27FC236}">
                <a16:creationId xmlns:a16="http://schemas.microsoft.com/office/drawing/2014/main" id="{1E799BF9-6FBB-D7B5-90CB-A4B9C706887F}"/>
              </a:ext>
            </a:extLst>
          </p:cNvPr>
          <p:cNvSpPr txBox="1">
            <a:spLocks/>
          </p:cNvSpPr>
          <p:nvPr/>
        </p:nvSpPr>
        <p:spPr bwMode="auto">
          <a:xfrm>
            <a:off x="624995" y="1125537"/>
            <a:ext cx="10942593"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Technical Implementation Details</a:t>
            </a:r>
          </a:p>
          <a:p>
            <a:pPr lvl="1"/>
            <a:r>
              <a:rPr lang="en-US" altLang="zh-CN" sz="2400" kern="0" dirty="0">
                <a:latin typeface="Times New Roman" panose="02020603050405020304" pitchFamily="18" charset="0"/>
                <a:cs typeface="Times New Roman" panose="02020603050405020304" pitchFamily="18" charset="0"/>
              </a:rPr>
              <a:t>Adopt an autoregressive (AR) modeling approach, generating subsequent acoustic tokens token by token conditioned on historical text and speech tokens.</a:t>
            </a:r>
          </a:p>
        </p:txBody>
      </p:sp>
      <p:pic>
        <p:nvPicPr>
          <p:cNvPr id="7170" name="Picture 2" descr="Refer to caption">
            <a:extLst>
              <a:ext uri="{FF2B5EF4-FFF2-40B4-BE49-F238E27FC236}">
                <a16:creationId xmlns:a16="http://schemas.microsoft.com/office/drawing/2014/main" id="{0DEB6B46-15E8-4A6C-98F8-C15224D53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2219" y="2551873"/>
            <a:ext cx="6427561" cy="3616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3629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48F31-ED79-EDA8-2D08-9D11040A6A2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307CEDD-28EC-A317-2FFB-7872E08F960F}"/>
              </a:ext>
            </a:extLst>
          </p:cNvPr>
          <p:cNvSpPr>
            <a:spLocks noGrp="1"/>
          </p:cNvSpPr>
          <p:nvPr>
            <p:ph type="title"/>
          </p:nvPr>
        </p:nvSpPr>
        <p:spPr/>
        <p:txBody>
          <a:bodyPr/>
          <a:lstStyle/>
          <a:p>
            <a:r>
              <a:rPr lang="en-US" altLang="zh-CN" dirty="0"/>
              <a:t>VALL-E (4/5)</a:t>
            </a:r>
            <a:endParaRPr lang="zh-CN" altLang="en-US" dirty="0"/>
          </a:p>
        </p:txBody>
      </p:sp>
      <p:sp>
        <p:nvSpPr>
          <p:cNvPr id="4" name="灯片编号占位符 3">
            <a:extLst>
              <a:ext uri="{FF2B5EF4-FFF2-40B4-BE49-F238E27FC236}">
                <a16:creationId xmlns:a16="http://schemas.microsoft.com/office/drawing/2014/main" id="{80775CF0-032C-EF82-976B-169CEFBE5D2D}"/>
              </a:ext>
            </a:extLst>
          </p:cNvPr>
          <p:cNvSpPr>
            <a:spLocks noGrp="1"/>
          </p:cNvSpPr>
          <p:nvPr>
            <p:ph type="sldNum" sz="quarter" idx="10"/>
          </p:nvPr>
        </p:nvSpPr>
        <p:spPr/>
        <p:txBody>
          <a:bodyPr/>
          <a:lstStyle/>
          <a:p>
            <a:fld id="{D9B6BDF2-6896-4B98-8776-C18582F63BA5}" type="slidenum">
              <a:rPr lang="zh-TW" altLang="en-US" smtClean="0"/>
              <a:pPr/>
              <a:t>16</a:t>
            </a:fld>
            <a:endParaRPr lang="zh-TW" altLang="en-US"/>
          </a:p>
        </p:txBody>
      </p:sp>
      <p:sp>
        <p:nvSpPr>
          <p:cNvPr id="9" name="内容占位符 5">
            <a:extLst>
              <a:ext uri="{FF2B5EF4-FFF2-40B4-BE49-F238E27FC236}">
                <a16:creationId xmlns:a16="http://schemas.microsoft.com/office/drawing/2014/main" id="{03CB700A-E480-6BA3-471A-1CFC09D4A612}"/>
              </a:ext>
            </a:extLst>
          </p:cNvPr>
          <p:cNvSpPr txBox="1">
            <a:spLocks/>
          </p:cNvSpPr>
          <p:nvPr/>
        </p:nvSpPr>
        <p:spPr bwMode="auto">
          <a:xfrm>
            <a:off x="624995" y="1125537"/>
            <a:ext cx="10942593"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Technical Implementation Details</a:t>
            </a:r>
          </a:p>
          <a:p>
            <a:pPr lvl="1"/>
            <a:r>
              <a:rPr lang="en-US" altLang="zh-CN" sz="2400" kern="0" dirty="0">
                <a:latin typeface="Times New Roman" panose="02020603050405020304" pitchFamily="18" charset="0"/>
                <a:cs typeface="Times New Roman" panose="02020603050405020304" pitchFamily="18" charset="0"/>
              </a:rPr>
              <a:t>End-to-end pipeline: </a:t>
            </a:r>
          </a:p>
          <a:p>
            <a:pPr marL="457176" lvl="1" indent="0">
              <a:buNone/>
            </a:pPr>
            <a:r>
              <a:rPr lang="en-US" altLang="zh-CN" sz="2400" b="1" kern="0" dirty="0">
                <a:latin typeface="Times New Roman" panose="02020603050405020304" pitchFamily="18" charset="0"/>
                <a:cs typeface="Times New Roman" panose="02020603050405020304" pitchFamily="18" charset="0"/>
              </a:rPr>
              <a:t>text input → token generation → audio decoding</a:t>
            </a:r>
          </a:p>
          <a:p>
            <a:pPr marL="457176" lvl="1" indent="0">
              <a:buNone/>
            </a:pPr>
            <a:r>
              <a:rPr lang="en-US" altLang="zh-CN" sz="2400" kern="0" dirty="0">
                <a:latin typeface="Times New Roman" panose="02020603050405020304" pitchFamily="18" charset="0"/>
                <a:cs typeface="Times New Roman" panose="02020603050405020304" pitchFamily="18" charset="0"/>
              </a:rPr>
              <a:t>no multi-module cascade error.</a:t>
            </a:r>
          </a:p>
        </p:txBody>
      </p:sp>
      <p:pic>
        <p:nvPicPr>
          <p:cNvPr id="6" name="Picture 4">
            <a:extLst>
              <a:ext uri="{FF2B5EF4-FFF2-40B4-BE49-F238E27FC236}">
                <a16:creationId xmlns:a16="http://schemas.microsoft.com/office/drawing/2014/main" id="{8412D17E-2ADC-46FE-8855-B1ADBF2DA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8971" y="2929557"/>
            <a:ext cx="6154057" cy="2855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9614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646F-AB5D-8E67-C417-0B905C3D021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9555E3B-5B69-24BE-BC14-5A431692BC18}"/>
              </a:ext>
            </a:extLst>
          </p:cNvPr>
          <p:cNvSpPr>
            <a:spLocks noGrp="1"/>
          </p:cNvSpPr>
          <p:nvPr>
            <p:ph type="title"/>
          </p:nvPr>
        </p:nvSpPr>
        <p:spPr/>
        <p:txBody>
          <a:bodyPr/>
          <a:lstStyle/>
          <a:p>
            <a:r>
              <a:rPr lang="en-US" altLang="zh-CN" dirty="0"/>
              <a:t>VALL-E (5/5)</a:t>
            </a:r>
            <a:endParaRPr lang="zh-CN" altLang="en-US" dirty="0"/>
          </a:p>
        </p:txBody>
      </p:sp>
      <p:sp>
        <p:nvSpPr>
          <p:cNvPr id="4" name="灯片编号占位符 3">
            <a:extLst>
              <a:ext uri="{FF2B5EF4-FFF2-40B4-BE49-F238E27FC236}">
                <a16:creationId xmlns:a16="http://schemas.microsoft.com/office/drawing/2014/main" id="{77F8066F-DFA9-57AF-AB07-0817B3075796}"/>
              </a:ext>
            </a:extLst>
          </p:cNvPr>
          <p:cNvSpPr>
            <a:spLocks noGrp="1"/>
          </p:cNvSpPr>
          <p:nvPr>
            <p:ph type="sldNum" sz="quarter" idx="10"/>
          </p:nvPr>
        </p:nvSpPr>
        <p:spPr/>
        <p:txBody>
          <a:bodyPr/>
          <a:lstStyle/>
          <a:p>
            <a:fld id="{D9B6BDF2-6896-4B98-8776-C18582F63BA5}" type="slidenum">
              <a:rPr lang="zh-TW" altLang="en-US" smtClean="0"/>
              <a:pPr/>
              <a:t>17</a:t>
            </a:fld>
            <a:endParaRPr lang="zh-TW" altLang="en-US"/>
          </a:p>
        </p:txBody>
      </p:sp>
      <p:sp>
        <p:nvSpPr>
          <p:cNvPr id="9" name="内容占位符 5">
            <a:extLst>
              <a:ext uri="{FF2B5EF4-FFF2-40B4-BE49-F238E27FC236}">
                <a16:creationId xmlns:a16="http://schemas.microsoft.com/office/drawing/2014/main" id="{D6FB0A24-E39C-B080-EF52-283538C73E70}"/>
              </a:ext>
            </a:extLst>
          </p:cNvPr>
          <p:cNvSpPr txBox="1">
            <a:spLocks/>
          </p:cNvSpPr>
          <p:nvPr/>
        </p:nvSpPr>
        <p:spPr bwMode="auto">
          <a:xfrm>
            <a:off x="624995" y="1125537"/>
            <a:ext cx="10942593"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Evaluation</a:t>
            </a:r>
          </a:p>
        </p:txBody>
      </p:sp>
      <p:pic>
        <p:nvPicPr>
          <p:cNvPr id="6" name="图片 5">
            <a:extLst>
              <a:ext uri="{FF2B5EF4-FFF2-40B4-BE49-F238E27FC236}">
                <a16:creationId xmlns:a16="http://schemas.microsoft.com/office/drawing/2014/main" id="{9C5E938A-5A75-4742-8C76-BB1F04D88A97}"/>
              </a:ext>
            </a:extLst>
          </p:cNvPr>
          <p:cNvPicPr>
            <a:picLocks noChangeAspect="1"/>
          </p:cNvPicPr>
          <p:nvPr/>
        </p:nvPicPr>
        <p:blipFill>
          <a:blip r:embed="rId3"/>
          <a:stretch>
            <a:fillRect/>
          </a:stretch>
        </p:blipFill>
        <p:spPr>
          <a:xfrm>
            <a:off x="374650" y="1831975"/>
            <a:ext cx="6359979" cy="1647717"/>
          </a:xfrm>
          <a:prstGeom prst="rect">
            <a:avLst/>
          </a:prstGeom>
        </p:spPr>
      </p:pic>
      <p:pic>
        <p:nvPicPr>
          <p:cNvPr id="8" name="图片 7">
            <a:extLst>
              <a:ext uri="{FF2B5EF4-FFF2-40B4-BE49-F238E27FC236}">
                <a16:creationId xmlns:a16="http://schemas.microsoft.com/office/drawing/2014/main" id="{A6A5D69A-6F70-4124-BDF2-EB1BE7831F45}"/>
              </a:ext>
            </a:extLst>
          </p:cNvPr>
          <p:cNvPicPr>
            <a:picLocks noChangeAspect="1"/>
          </p:cNvPicPr>
          <p:nvPr/>
        </p:nvPicPr>
        <p:blipFill>
          <a:blip r:embed="rId4"/>
          <a:stretch>
            <a:fillRect/>
          </a:stretch>
        </p:blipFill>
        <p:spPr>
          <a:xfrm>
            <a:off x="7380062" y="2185306"/>
            <a:ext cx="4076437" cy="2776311"/>
          </a:xfrm>
          <a:prstGeom prst="rect">
            <a:avLst/>
          </a:prstGeom>
        </p:spPr>
      </p:pic>
      <p:pic>
        <p:nvPicPr>
          <p:cNvPr id="12" name="图片 11">
            <a:extLst>
              <a:ext uri="{FF2B5EF4-FFF2-40B4-BE49-F238E27FC236}">
                <a16:creationId xmlns:a16="http://schemas.microsoft.com/office/drawing/2014/main" id="{4EA97195-28D3-4F88-A7B9-23DA42EE2A84}"/>
              </a:ext>
            </a:extLst>
          </p:cNvPr>
          <p:cNvPicPr>
            <a:picLocks noChangeAspect="1"/>
          </p:cNvPicPr>
          <p:nvPr/>
        </p:nvPicPr>
        <p:blipFill>
          <a:blip r:embed="rId5"/>
          <a:stretch>
            <a:fillRect/>
          </a:stretch>
        </p:blipFill>
        <p:spPr>
          <a:xfrm>
            <a:off x="236310" y="3908472"/>
            <a:ext cx="6636204" cy="1840699"/>
          </a:xfrm>
          <a:prstGeom prst="rect">
            <a:avLst/>
          </a:prstGeom>
        </p:spPr>
      </p:pic>
    </p:spTree>
    <p:extLst>
      <p:ext uri="{BB962C8B-B14F-4D97-AF65-F5344CB8AC3E}">
        <p14:creationId xmlns:p14="http://schemas.microsoft.com/office/powerpoint/2010/main" val="3062617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5698A-C844-478D-FC5A-20847F3CBE0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EFAE62D-12ED-54AB-BB2F-26148BD7ABD0}"/>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0C384E24-2BB2-EE4D-C810-81C59A2D8ABB}"/>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&amp; Background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VALL-E (5 min)</a:t>
            </a:r>
          </a:p>
          <a:p>
            <a:pPr lvl="1"/>
            <a:r>
              <a:rPr lang="en-US" altLang="zh-CN" sz="2400" dirty="0">
                <a:solidFill>
                  <a:srgbClr val="FF0000"/>
                </a:solidFill>
                <a:latin typeface="Times New Roman" panose="02020603050405020304" pitchFamily="18" charset="0"/>
                <a:cs typeface="Times New Roman" panose="02020603050405020304" pitchFamily="18" charset="0"/>
              </a:rPr>
              <a:t>CosyVoice2 (5 min)</a:t>
            </a:r>
          </a:p>
          <a:p>
            <a:pPr lvl="1"/>
            <a:r>
              <a:rPr lang="en-US" altLang="zh-CN" sz="2400" dirty="0" err="1">
                <a:latin typeface="Times New Roman" panose="02020603050405020304" pitchFamily="18" charset="0"/>
                <a:cs typeface="Times New Roman" panose="02020603050405020304" pitchFamily="18" charset="0"/>
              </a:rPr>
              <a:t>vLLM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PagedAttention</a:t>
            </a:r>
            <a:r>
              <a:rPr lang="en-US" altLang="zh-CN" sz="2400" dirty="0">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09319462-2859-DD71-FE36-22C6EFDB0BB8}"/>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18</a:t>
            </a:fld>
            <a:endParaRPr lang="zh-TW" altLang="en-US"/>
          </a:p>
        </p:txBody>
      </p:sp>
    </p:spTree>
    <p:extLst>
      <p:ext uri="{BB962C8B-B14F-4D97-AF65-F5344CB8AC3E}">
        <p14:creationId xmlns:p14="http://schemas.microsoft.com/office/powerpoint/2010/main" val="1696716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68734-AF27-6811-0530-C600C088AF3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6BB6F95-ECAD-255D-541D-6603F75BBA9F}"/>
              </a:ext>
            </a:extLst>
          </p:cNvPr>
          <p:cNvSpPr>
            <a:spLocks noGrp="1"/>
          </p:cNvSpPr>
          <p:nvPr>
            <p:ph type="title"/>
          </p:nvPr>
        </p:nvSpPr>
        <p:spPr/>
        <p:txBody>
          <a:bodyPr/>
          <a:lstStyle/>
          <a:p>
            <a:r>
              <a:rPr lang="en-US" altLang="zh-CN" dirty="0"/>
              <a:t>CosyVoice2 (1/6)</a:t>
            </a:r>
            <a:endParaRPr lang="zh-CN" altLang="en-US" dirty="0"/>
          </a:p>
        </p:txBody>
      </p:sp>
      <p:sp>
        <p:nvSpPr>
          <p:cNvPr id="4" name="灯片编号占位符 3">
            <a:extLst>
              <a:ext uri="{FF2B5EF4-FFF2-40B4-BE49-F238E27FC236}">
                <a16:creationId xmlns:a16="http://schemas.microsoft.com/office/drawing/2014/main" id="{94D3E73F-891D-C7BD-9470-C8CCAB5C2534}"/>
              </a:ext>
            </a:extLst>
          </p:cNvPr>
          <p:cNvSpPr>
            <a:spLocks noGrp="1"/>
          </p:cNvSpPr>
          <p:nvPr>
            <p:ph type="sldNum" sz="quarter" idx="10"/>
          </p:nvPr>
        </p:nvSpPr>
        <p:spPr/>
        <p:txBody>
          <a:bodyPr/>
          <a:lstStyle/>
          <a:p>
            <a:fld id="{D9B6BDF2-6896-4B98-8776-C18582F63BA5}" type="slidenum">
              <a:rPr lang="zh-TW" altLang="en-US" smtClean="0"/>
              <a:pPr/>
              <a:t>19</a:t>
            </a:fld>
            <a:endParaRPr lang="zh-TW" altLang="en-US"/>
          </a:p>
        </p:txBody>
      </p:sp>
      <p:sp>
        <p:nvSpPr>
          <p:cNvPr id="9" name="内容占位符 5">
            <a:extLst>
              <a:ext uri="{FF2B5EF4-FFF2-40B4-BE49-F238E27FC236}">
                <a16:creationId xmlns:a16="http://schemas.microsoft.com/office/drawing/2014/main" id="{FD995578-8771-897C-2323-0F26F308EE16}"/>
              </a:ext>
            </a:extLst>
          </p:cNvPr>
          <p:cNvSpPr txBox="1">
            <a:spLocks/>
          </p:cNvSpPr>
          <p:nvPr/>
        </p:nvSpPr>
        <p:spPr bwMode="auto">
          <a:xfrm>
            <a:off x="624995" y="1125537"/>
            <a:ext cx="10812262"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LLM-Based Unified Architecture for Streaming Context Modeling Upgrade</a:t>
            </a:r>
          </a:p>
          <a:p>
            <a:pPr lvl="1"/>
            <a:r>
              <a:rPr lang="en-US" altLang="zh-CN" sz="2400" b="1" kern="0" dirty="0">
                <a:latin typeface="Times New Roman" panose="02020603050405020304" pitchFamily="18" charset="0"/>
                <a:cs typeface="Times New Roman" panose="02020603050405020304" pitchFamily="18" charset="0"/>
              </a:rPr>
              <a:t>Core Design Idea: </a:t>
            </a:r>
          </a:p>
          <a:p>
            <a:pPr lvl="2"/>
            <a:r>
              <a:rPr lang="en-US" altLang="zh-CN" sz="2400" kern="0" dirty="0">
                <a:latin typeface="Times New Roman" panose="02020603050405020304" pitchFamily="18" charset="0"/>
                <a:cs typeface="Times New Roman" panose="02020603050405020304" pitchFamily="18" charset="0"/>
              </a:rPr>
              <a:t>Fully introduce LLMs into speech generation.</a:t>
            </a:r>
          </a:p>
          <a:p>
            <a:pPr lvl="2"/>
            <a:r>
              <a:rPr lang="en-US" altLang="zh-CN" sz="2400" kern="0" dirty="0">
                <a:latin typeface="Times New Roman" panose="02020603050405020304" pitchFamily="18" charset="0"/>
                <a:cs typeface="Times New Roman" panose="02020603050405020304" pitchFamily="18" charset="0"/>
              </a:rPr>
              <a:t>Unified multimodal tokens. </a:t>
            </a:r>
          </a:p>
          <a:p>
            <a:pPr lvl="2"/>
            <a:r>
              <a:rPr lang="en-US" altLang="zh-CN" sz="2400" kern="0" dirty="0">
                <a:latin typeface="Times New Roman" panose="02020603050405020304" pitchFamily="18" charset="0"/>
                <a:cs typeface="Times New Roman" panose="02020603050405020304" pitchFamily="18" charset="0"/>
              </a:rPr>
              <a:t>Powerful context capability of large language models.</a:t>
            </a:r>
          </a:p>
        </p:txBody>
      </p:sp>
      <p:pic>
        <p:nvPicPr>
          <p:cNvPr id="6" name="图片 5">
            <a:extLst>
              <a:ext uri="{FF2B5EF4-FFF2-40B4-BE49-F238E27FC236}">
                <a16:creationId xmlns:a16="http://schemas.microsoft.com/office/drawing/2014/main" id="{04542D26-FA4A-41A6-A75B-95C9BE943387}"/>
              </a:ext>
            </a:extLst>
          </p:cNvPr>
          <p:cNvPicPr>
            <a:picLocks noChangeAspect="1"/>
          </p:cNvPicPr>
          <p:nvPr/>
        </p:nvPicPr>
        <p:blipFill>
          <a:blip r:embed="rId2"/>
          <a:stretch>
            <a:fillRect/>
          </a:stretch>
        </p:blipFill>
        <p:spPr>
          <a:xfrm>
            <a:off x="3261178" y="3731837"/>
            <a:ext cx="5669643" cy="2093607"/>
          </a:xfrm>
          <a:prstGeom prst="rect">
            <a:avLst/>
          </a:prstGeom>
        </p:spPr>
      </p:pic>
    </p:spTree>
    <p:extLst>
      <p:ext uri="{BB962C8B-B14F-4D97-AF65-F5344CB8AC3E}">
        <p14:creationId xmlns:p14="http://schemas.microsoft.com/office/powerpoint/2010/main" val="2369363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2A099-4E35-20B8-31A6-B41F37DC6F4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8B3EF54-EE83-BEBB-E149-75A56B8F904B}"/>
              </a:ext>
            </a:extLst>
          </p:cNvPr>
          <p:cNvSpPr>
            <a:spLocks noGrp="1"/>
          </p:cNvSpPr>
          <p:nvPr>
            <p:ph type="title"/>
          </p:nvPr>
        </p:nvSpPr>
        <p:spPr/>
        <p:txBody>
          <a:bodyPr/>
          <a:lstStyle/>
          <a:p>
            <a:r>
              <a:rPr lang="en-US" altLang="zh-CN" dirty="0"/>
              <a:t>CosyVoice2 (2/6)</a:t>
            </a:r>
            <a:endParaRPr lang="zh-CN" altLang="en-US" dirty="0"/>
          </a:p>
        </p:txBody>
      </p:sp>
      <p:sp>
        <p:nvSpPr>
          <p:cNvPr id="4" name="灯片编号占位符 3">
            <a:extLst>
              <a:ext uri="{FF2B5EF4-FFF2-40B4-BE49-F238E27FC236}">
                <a16:creationId xmlns:a16="http://schemas.microsoft.com/office/drawing/2014/main" id="{D5FFCA42-DCE8-08AE-20CF-13539C8C7CD8}"/>
              </a:ext>
            </a:extLst>
          </p:cNvPr>
          <p:cNvSpPr>
            <a:spLocks noGrp="1"/>
          </p:cNvSpPr>
          <p:nvPr>
            <p:ph type="sldNum" sz="quarter" idx="10"/>
          </p:nvPr>
        </p:nvSpPr>
        <p:spPr/>
        <p:txBody>
          <a:bodyPr/>
          <a:lstStyle/>
          <a:p>
            <a:fld id="{D9B6BDF2-6896-4B98-8776-C18582F63BA5}" type="slidenum">
              <a:rPr lang="zh-TW" altLang="en-US" smtClean="0"/>
              <a:pPr/>
              <a:t>20</a:t>
            </a:fld>
            <a:endParaRPr lang="zh-TW" altLang="en-US"/>
          </a:p>
        </p:txBody>
      </p:sp>
      <p:pic>
        <p:nvPicPr>
          <p:cNvPr id="10242" name="Picture 2" descr="CosyVoice2.0">
            <a:extLst>
              <a:ext uri="{FF2B5EF4-FFF2-40B4-BE49-F238E27FC236}">
                <a16:creationId xmlns:a16="http://schemas.microsoft.com/office/drawing/2014/main" id="{F256F682-68A8-4FE8-B5B5-7C73309B9C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377496"/>
            <a:ext cx="12192000" cy="445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157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7AEEF-EB15-FDF8-3B0C-F58974BFDCE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4559518-F50D-8C8E-EDC5-0A5F1B26AFED}"/>
              </a:ext>
            </a:extLst>
          </p:cNvPr>
          <p:cNvSpPr>
            <a:spLocks noGrp="1"/>
          </p:cNvSpPr>
          <p:nvPr>
            <p:ph type="title"/>
          </p:nvPr>
        </p:nvSpPr>
        <p:spPr/>
        <p:txBody>
          <a:bodyPr/>
          <a:lstStyle/>
          <a:p>
            <a:r>
              <a:rPr lang="en-US" altLang="zh-CN" dirty="0"/>
              <a:t>CosyVoice2 (3/6)</a:t>
            </a:r>
            <a:endParaRPr lang="zh-CN" altLang="en-US" dirty="0"/>
          </a:p>
        </p:txBody>
      </p:sp>
      <p:sp>
        <p:nvSpPr>
          <p:cNvPr id="4" name="灯片编号占位符 3">
            <a:extLst>
              <a:ext uri="{FF2B5EF4-FFF2-40B4-BE49-F238E27FC236}">
                <a16:creationId xmlns:a16="http://schemas.microsoft.com/office/drawing/2014/main" id="{0263FFA9-3C5E-7A6D-C96D-B8ED1D68B0F5}"/>
              </a:ext>
            </a:extLst>
          </p:cNvPr>
          <p:cNvSpPr>
            <a:spLocks noGrp="1"/>
          </p:cNvSpPr>
          <p:nvPr>
            <p:ph type="sldNum" sz="quarter" idx="10"/>
          </p:nvPr>
        </p:nvSpPr>
        <p:spPr/>
        <p:txBody>
          <a:bodyPr/>
          <a:lstStyle/>
          <a:p>
            <a:fld id="{D9B6BDF2-6896-4B98-8776-C18582F63BA5}" type="slidenum">
              <a:rPr lang="zh-TW" altLang="en-US" smtClean="0"/>
              <a:pPr/>
              <a:t>21</a:t>
            </a:fld>
            <a:endParaRPr lang="zh-TW" altLang="en-US"/>
          </a:p>
        </p:txBody>
      </p:sp>
      <p:sp>
        <p:nvSpPr>
          <p:cNvPr id="2" name="内容占位符 5">
            <a:extLst>
              <a:ext uri="{FF2B5EF4-FFF2-40B4-BE49-F238E27FC236}">
                <a16:creationId xmlns:a16="http://schemas.microsoft.com/office/drawing/2014/main" id="{8DCDA03A-3E7B-189E-F957-A33856A1A146}"/>
              </a:ext>
            </a:extLst>
          </p:cNvPr>
          <p:cNvSpPr txBox="1">
            <a:spLocks/>
          </p:cNvSpPr>
          <p:nvPr/>
        </p:nvSpPr>
        <p:spPr bwMode="auto">
          <a:xfrm>
            <a:off x="624995" y="1125538"/>
            <a:ext cx="10942593"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Technical Implementation Details:</a:t>
            </a:r>
          </a:p>
          <a:p>
            <a:r>
              <a:rPr lang="en-US" altLang="zh-CN" sz="2400" kern="0" dirty="0">
                <a:latin typeface="Times New Roman" panose="02020603050405020304" pitchFamily="18" charset="0"/>
                <a:cs typeface="Times New Roman" panose="02020603050405020304" pitchFamily="18" charset="0"/>
              </a:rPr>
              <a:t>Unified Representation Space: </a:t>
            </a:r>
          </a:p>
          <a:p>
            <a:pPr lvl="1"/>
            <a:r>
              <a:rPr lang="en-US" altLang="zh-CN" sz="2400" kern="0" dirty="0">
                <a:latin typeface="Times New Roman" panose="02020603050405020304" pitchFamily="18" charset="0"/>
                <a:cs typeface="Times New Roman" panose="02020603050405020304" pitchFamily="18" charset="0"/>
              </a:rPr>
              <a:t>Convert different tokens into a unified token sequence understandable by LLMs.</a:t>
            </a:r>
          </a:p>
        </p:txBody>
      </p:sp>
      <p:pic>
        <p:nvPicPr>
          <p:cNvPr id="6" name="图片 5">
            <a:extLst>
              <a:ext uri="{FF2B5EF4-FFF2-40B4-BE49-F238E27FC236}">
                <a16:creationId xmlns:a16="http://schemas.microsoft.com/office/drawing/2014/main" id="{73CFD1FB-A64E-4234-8EFE-3682294F271C}"/>
              </a:ext>
            </a:extLst>
          </p:cNvPr>
          <p:cNvPicPr>
            <a:picLocks noChangeAspect="1"/>
          </p:cNvPicPr>
          <p:nvPr/>
        </p:nvPicPr>
        <p:blipFill>
          <a:blip r:embed="rId3"/>
          <a:stretch>
            <a:fillRect/>
          </a:stretch>
        </p:blipFill>
        <p:spPr>
          <a:xfrm>
            <a:off x="3318555" y="2670081"/>
            <a:ext cx="5554889" cy="3247666"/>
          </a:xfrm>
          <a:prstGeom prst="rect">
            <a:avLst/>
          </a:prstGeom>
        </p:spPr>
      </p:pic>
    </p:spTree>
    <p:extLst>
      <p:ext uri="{BB962C8B-B14F-4D97-AF65-F5344CB8AC3E}">
        <p14:creationId xmlns:p14="http://schemas.microsoft.com/office/powerpoint/2010/main" val="2469895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FA860-3B17-C9EA-D458-5219A53240A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905A23A-083C-645E-7098-10AA5EAB9512}"/>
              </a:ext>
            </a:extLst>
          </p:cNvPr>
          <p:cNvSpPr>
            <a:spLocks noGrp="1"/>
          </p:cNvSpPr>
          <p:nvPr>
            <p:ph type="title"/>
          </p:nvPr>
        </p:nvSpPr>
        <p:spPr/>
        <p:txBody>
          <a:bodyPr/>
          <a:lstStyle/>
          <a:p>
            <a:r>
              <a:rPr lang="en-US" altLang="zh-CN" dirty="0"/>
              <a:t>CosyVoice2 (4/6)</a:t>
            </a:r>
            <a:endParaRPr lang="zh-CN" altLang="en-US" dirty="0"/>
          </a:p>
        </p:txBody>
      </p:sp>
      <p:sp>
        <p:nvSpPr>
          <p:cNvPr id="4" name="灯片编号占位符 3">
            <a:extLst>
              <a:ext uri="{FF2B5EF4-FFF2-40B4-BE49-F238E27FC236}">
                <a16:creationId xmlns:a16="http://schemas.microsoft.com/office/drawing/2014/main" id="{028BB5F0-EFEB-9BA9-58FD-E82230FEE0A3}"/>
              </a:ext>
            </a:extLst>
          </p:cNvPr>
          <p:cNvSpPr>
            <a:spLocks noGrp="1"/>
          </p:cNvSpPr>
          <p:nvPr>
            <p:ph type="sldNum" sz="quarter" idx="10"/>
          </p:nvPr>
        </p:nvSpPr>
        <p:spPr/>
        <p:txBody>
          <a:bodyPr/>
          <a:lstStyle/>
          <a:p>
            <a:fld id="{D9B6BDF2-6896-4B98-8776-C18582F63BA5}" type="slidenum">
              <a:rPr lang="zh-TW" altLang="en-US" smtClean="0"/>
              <a:pPr/>
              <a:t>22</a:t>
            </a:fld>
            <a:endParaRPr lang="zh-TW" altLang="en-US"/>
          </a:p>
        </p:txBody>
      </p:sp>
      <p:sp>
        <p:nvSpPr>
          <p:cNvPr id="2" name="内容占位符 5">
            <a:extLst>
              <a:ext uri="{FF2B5EF4-FFF2-40B4-BE49-F238E27FC236}">
                <a16:creationId xmlns:a16="http://schemas.microsoft.com/office/drawing/2014/main" id="{FD10F49C-8280-C190-2F54-8F5A2F73ECC4}"/>
              </a:ext>
            </a:extLst>
          </p:cNvPr>
          <p:cNvSpPr txBox="1">
            <a:spLocks/>
          </p:cNvSpPr>
          <p:nvPr/>
        </p:nvSpPr>
        <p:spPr bwMode="auto">
          <a:xfrm>
            <a:off x="624995" y="1125538"/>
            <a:ext cx="5954965"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Technical Implementation Details:</a:t>
            </a:r>
          </a:p>
          <a:p>
            <a:pPr lvl="1"/>
            <a:r>
              <a:rPr lang="en-US" altLang="zh-CN" sz="2400" kern="0" dirty="0">
                <a:latin typeface="Times New Roman" panose="02020603050405020304" pitchFamily="18" charset="0"/>
                <a:cs typeface="Times New Roman" panose="02020603050405020304" pitchFamily="18" charset="0"/>
              </a:rPr>
              <a:t>Single LLM End-to-End Generation</a:t>
            </a:r>
          </a:p>
          <a:p>
            <a:pPr lvl="1"/>
            <a:r>
              <a:rPr lang="en-US" altLang="zh-CN" sz="2400" kern="0" dirty="0">
                <a:latin typeface="Times New Roman" panose="02020603050405020304" pitchFamily="18" charset="0"/>
                <a:cs typeface="Times New Roman" panose="02020603050405020304" pitchFamily="18" charset="0"/>
              </a:rPr>
              <a:t>Complete the full pipeline from text understanding, context modeling, emotion control to speech generation with a single large language model, breaking the siloed architecture of traditional TTS.</a:t>
            </a:r>
            <a:endParaRPr lang="zh-CN" altLang="en-US" sz="1050" dirty="0"/>
          </a:p>
          <a:p>
            <a:pPr marL="457176" lvl="1" indent="0">
              <a:buNone/>
            </a:pPr>
            <a:endParaRPr lang="en-US" altLang="zh-CN" sz="2400" kern="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5306E078-3135-4BDD-BEDF-714D7D55D387}"/>
              </a:ext>
            </a:extLst>
          </p:cNvPr>
          <p:cNvPicPr>
            <a:picLocks noChangeAspect="1"/>
          </p:cNvPicPr>
          <p:nvPr/>
        </p:nvPicPr>
        <p:blipFill>
          <a:blip r:embed="rId3"/>
          <a:stretch>
            <a:fillRect/>
          </a:stretch>
        </p:blipFill>
        <p:spPr>
          <a:xfrm>
            <a:off x="6579960" y="1566004"/>
            <a:ext cx="5038726" cy="4296478"/>
          </a:xfrm>
          <a:prstGeom prst="rect">
            <a:avLst/>
          </a:prstGeom>
        </p:spPr>
      </p:pic>
    </p:spTree>
    <p:extLst>
      <p:ext uri="{BB962C8B-B14F-4D97-AF65-F5344CB8AC3E}">
        <p14:creationId xmlns:p14="http://schemas.microsoft.com/office/powerpoint/2010/main" val="6865893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B9202-DD78-A31E-223E-E64420D7D79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9578E40-A626-ACC6-AEFB-673D40468641}"/>
              </a:ext>
            </a:extLst>
          </p:cNvPr>
          <p:cNvSpPr>
            <a:spLocks noGrp="1"/>
          </p:cNvSpPr>
          <p:nvPr>
            <p:ph type="title"/>
          </p:nvPr>
        </p:nvSpPr>
        <p:spPr/>
        <p:txBody>
          <a:bodyPr/>
          <a:lstStyle/>
          <a:p>
            <a:r>
              <a:rPr lang="en-US" altLang="zh-CN" dirty="0"/>
              <a:t>CosyVoice2 (5/6)</a:t>
            </a:r>
            <a:endParaRPr lang="zh-CN" altLang="en-US" dirty="0"/>
          </a:p>
        </p:txBody>
      </p:sp>
      <p:sp>
        <p:nvSpPr>
          <p:cNvPr id="4" name="灯片编号占位符 3">
            <a:extLst>
              <a:ext uri="{FF2B5EF4-FFF2-40B4-BE49-F238E27FC236}">
                <a16:creationId xmlns:a16="http://schemas.microsoft.com/office/drawing/2014/main" id="{48C0AA7B-8D2C-4522-99BC-8B42F3385CE0}"/>
              </a:ext>
            </a:extLst>
          </p:cNvPr>
          <p:cNvSpPr>
            <a:spLocks noGrp="1"/>
          </p:cNvSpPr>
          <p:nvPr>
            <p:ph type="sldNum" sz="quarter" idx="10"/>
          </p:nvPr>
        </p:nvSpPr>
        <p:spPr/>
        <p:txBody>
          <a:bodyPr/>
          <a:lstStyle/>
          <a:p>
            <a:fld id="{D9B6BDF2-6896-4B98-8776-C18582F63BA5}" type="slidenum">
              <a:rPr lang="zh-TW" altLang="en-US" smtClean="0"/>
              <a:pPr/>
              <a:t>23</a:t>
            </a:fld>
            <a:endParaRPr lang="zh-TW" altLang="en-US"/>
          </a:p>
        </p:txBody>
      </p:sp>
      <p:sp>
        <p:nvSpPr>
          <p:cNvPr id="2" name="内容占位符 5">
            <a:extLst>
              <a:ext uri="{FF2B5EF4-FFF2-40B4-BE49-F238E27FC236}">
                <a16:creationId xmlns:a16="http://schemas.microsoft.com/office/drawing/2014/main" id="{D072EB0B-332F-8FC4-6659-FBDBDC70CDDC}"/>
              </a:ext>
            </a:extLst>
          </p:cNvPr>
          <p:cNvSpPr txBox="1">
            <a:spLocks/>
          </p:cNvSpPr>
          <p:nvPr/>
        </p:nvSpPr>
        <p:spPr bwMode="auto">
          <a:xfrm>
            <a:off x="624995" y="1125538"/>
            <a:ext cx="6334605"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Technical Implementation Details:</a:t>
            </a:r>
          </a:p>
          <a:p>
            <a:pPr lvl="1"/>
            <a:r>
              <a:rPr lang="en-US" altLang="zh-CN" sz="2400" kern="0" dirty="0">
                <a:latin typeface="Times New Roman" panose="02020603050405020304" pitchFamily="18" charset="0"/>
                <a:cs typeface="Times New Roman" panose="02020603050405020304" pitchFamily="18" charset="0"/>
              </a:rPr>
              <a:t>Streaming Context Prediction Mechanism: </a:t>
            </a:r>
          </a:p>
          <a:p>
            <a:pPr lvl="1"/>
            <a:r>
              <a:rPr lang="en-US" altLang="zh-CN" sz="2400" kern="0" dirty="0">
                <a:latin typeface="Times New Roman" panose="02020603050405020304" pitchFamily="18" charset="0"/>
                <a:cs typeface="Times New Roman" panose="02020603050405020304" pitchFamily="18" charset="0"/>
              </a:rPr>
              <a:t>Dynamically predict subsequent text based on preceding context, solving the problems of polyphonic character mispronunciation and incorrect sentence breaks in streaming scenarios.</a:t>
            </a:r>
          </a:p>
          <a:p>
            <a:pPr lvl="1"/>
            <a:endParaRPr lang="en-US" altLang="zh-CN" sz="2400" kern="0" dirty="0">
              <a:solidFill>
                <a:srgbClr val="FF0000"/>
              </a:solidFill>
              <a:latin typeface="Times New Roman" panose="02020603050405020304" pitchFamily="18" charset="0"/>
              <a:cs typeface="Times New Roman" panose="02020603050405020304" pitchFamily="18" charset="0"/>
            </a:endParaRPr>
          </a:p>
          <a:p>
            <a:r>
              <a:rPr lang="en-US" altLang="zh-CN" sz="2400" kern="0" dirty="0">
                <a:latin typeface="Times New Roman" panose="02020603050405020304" pitchFamily="18" charset="0"/>
                <a:cs typeface="Times New Roman" panose="02020603050405020304" pitchFamily="18" charset="0"/>
              </a:rPr>
              <a:t>Core Advantage: </a:t>
            </a:r>
          </a:p>
          <a:p>
            <a:pPr lvl="1"/>
            <a:r>
              <a:rPr lang="en-US" altLang="zh-CN" sz="2400" kern="0" dirty="0">
                <a:latin typeface="Times New Roman" panose="02020603050405020304" pitchFamily="18" charset="0"/>
                <a:cs typeface="Times New Roman" panose="02020603050405020304" pitchFamily="18" charset="0"/>
              </a:rPr>
              <a:t>Long context understanding capability, perfectly adapted to streaming scenarios.</a:t>
            </a:r>
          </a:p>
        </p:txBody>
      </p:sp>
      <p:pic>
        <p:nvPicPr>
          <p:cNvPr id="6" name="图片 5">
            <a:extLst>
              <a:ext uri="{FF2B5EF4-FFF2-40B4-BE49-F238E27FC236}">
                <a16:creationId xmlns:a16="http://schemas.microsoft.com/office/drawing/2014/main" id="{85EE7B7B-E49E-46F5-92FD-25EAA6DB595F}"/>
              </a:ext>
            </a:extLst>
          </p:cNvPr>
          <p:cNvPicPr>
            <a:picLocks noChangeAspect="1"/>
          </p:cNvPicPr>
          <p:nvPr/>
        </p:nvPicPr>
        <p:blipFill>
          <a:blip r:embed="rId2"/>
          <a:stretch>
            <a:fillRect/>
          </a:stretch>
        </p:blipFill>
        <p:spPr>
          <a:xfrm>
            <a:off x="6779684" y="2167178"/>
            <a:ext cx="5202464" cy="3026888"/>
          </a:xfrm>
          <a:prstGeom prst="rect">
            <a:avLst/>
          </a:prstGeom>
        </p:spPr>
      </p:pic>
    </p:spTree>
    <p:extLst>
      <p:ext uri="{BB962C8B-B14F-4D97-AF65-F5344CB8AC3E}">
        <p14:creationId xmlns:p14="http://schemas.microsoft.com/office/powerpoint/2010/main" val="2806781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D5D8F-58C0-430B-68F9-0004B55F3D1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BF483FD-20A4-AD62-62B5-79D797C46CEA}"/>
              </a:ext>
            </a:extLst>
          </p:cNvPr>
          <p:cNvSpPr>
            <a:spLocks noGrp="1"/>
          </p:cNvSpPr>
          <p:nvPr>
            <p:ph type="title"/>
          </p:nvPr>
        </p:nvSpPr>
        <p:spPr/>
        <p:txBody>
          <a:bodyPr/>
          <a:lstStyle/>
          <a:p>
            <a:r>
              <a:rPr lang="en-US" altLang="zh-CN" dirty="0"/>
              <a:t>CosyVoice2 (6/6)</a:t>
            </a:r>
            <a:endParaRPr lang="zh-CN" altLang="en-US" dirty="0"/>
          </a:p>
        </p:txBody>
      </p:sp>
      <p:sp>
        <p:nvSpPr>
          <p:cNvPr id="4" name="灯片编号占位符 3">
            <a:extLst>
              <a:ext uri="{FF2B5EF4-FFF2-40B4-BE49-F238E27FC236}">
                <a16:creationId xmlns:a16="http://schemas.microsoft.com/office/drawing/2014/main" id="{CCED6C24-AA98-CCC7-C1B4-3B4CF41A881A}"/>
              </a:ext>
            </a:extLst>
          </p:cNvPr>
          <p:cNvSpPr>
            <a:spLocks noGrp="1"/>
          </p:cNvSpPr>
          <p:nvPr>
            <p:ph type="sldNum" sz="quarter" idx="10"/>
          </p:nvPr>
        </p:nvSpPr>
        <p:spPr/>
        <p:txBody>
          <a:bodyPr/>
          <a:lstStyle/>
          <a:p>
            <a:fld id="{D9B6BDF2-6896-4B98-8776-C18582F63BA5}" type="slidenum">
              <a:rPr lang="zh-TW" altLang="en-US" smtClean="0"/>
              <a:pPr/>
              <a:t>24</a:t>
            </a:fld>
            <a:endParaRPr lang="zh-TW" altLang="en-US"/>
          </a:p>
        </p:txBody>
      </p:sp>
      <p:sp>
        <p:nvSpPr>
          <p:cNvPr id="2" name="内容占位符 5">
            <a:extLst>
              <a:ext uri="{FF2B5EF4-FFF2-40B4-BE49-F238E27FC236}">
                <a16:creationId xmlns:a16="http://schemas.microsoft.com/office/drawing/2014/main" id="{90046B3F-0ABD-F401-E7DA-42772D926F2B}"/>
              </a:ext>
            </a:extLst>
          </p:cNvPr>
          <p:cNvSpPr txBox="1">
            <a:spLocks/>
          </p:cNvSpPr>
          <p:nvPr/>
        </p:nvSpPr>
        <p:spPr bwMode="auto">
          <a:xfrm>
            <a:off x="624996" y="1119981"/>
            <a:ext cx="4817861" cy="44275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Evaluation</a:t>
            </a:r>
          </a:p>
          <a:p>
            <a:pPr lvl="1"/>
            <a:r>
              <a:rPr lang="en-US" altLang="zh-CN" sz="2400" kern="0" dirty="0">
                <a:latin typeface="Times New Roman" panose="02020603050405020304" pitchFamily="18" charset="0"/>
                <a:cs typeface="Times New Roman" panose="02020603050405020304" pitchFamily="18" charset="0"/>
              </a:rPr>
              <a:t>MOS approaching the level of human recording.</a:t>
            </a:r>
          </a:p>
          <a:p>
            <a:pPr lvl="1"/>
            <a:r>
              <a:rPr lang="en-US" altLang="zh-CN" sz="2400" kern="0" dirty="0">
                <a:latin typeface="Times New Roman" panose="02020603050405020304" pitchFamily="18" charset="0"/>
                <a:cs typeface="Times New Roman" panose="02020603050405020304" pitchFamily="18" charset="0"/>
              </a:rPr>
              <a:t>Support ultra-long context consistency maintenance</a:t>
            </a:r>
          </a:p>
          <a:p>
            <a:pPr lvl="1"/>
            <a:r>
              <a:rPr lang="en-US" altLang="zh-CN" sz="2400" kern="0" dirty="0">
                <a:latin typeface="Times New Roman" panose="02020603050405020304" pitchFamily="18" charset="0"/>
                <a:cs typeface="Times New Roman" panose="02020603050405020304" pitchFamily="18" charset="0"/>
              </a:rPr>
              <a:t>Natively support end-to-end real-time conversation</a:t>
            </a:r>
          </a:p>
        </p:txBody>
      </p:sp>
      <p:pic>
        <p:nvPicPr>
          <p:cNvPr id="9" name="图片 8">
            <a:extLst>
              <a:ext uri="{FF2B5EF4-FFF2-40B4-BE49-F238E27FC236}">
                <a16:creationId xmlns:a16="http://schemas.microsoft.com/office/drawing/2014/main" id="{0020884B-1F6C-4E43-860E-99B9CBB81F6A}"/>
              </a:ext>
            </a:extLst>
          </p:cNvPr>
          <p:cNvPicPr>
            <a:picLocks noChangeAspect="1"/>
          </p:cNvPicPr>
          <p:nvPr/>
        </p:nvPicPr>
        <p:blipFill>
          <a:blip r:embed="rId2"/>
          <a:stretch>
            <a:fillRect/>
          </a:stretch>
        </p:blipFill>
        <p:spPr>
          <a:xfrm>
            <a:off x="5545364" y="1585969"/>
            <a:ext cx="6571657" cy="3495562"/>
          </a:xfrm>
          <a:prstGeom prst="rect">
            <a:avLst/>
          </a:prstGeom>
        </p:spPr>
      </p:pic>
    </p:spTree>
    <p:extLst>
      <p:ext uri="{BB962C8B-B14F-4D97-AF65-F5344CB8AC3E}">
        <p14:creationId xmlns:p14="http://schemas.microsoft.com/office/powerpoint/2010/main" val="32402860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4A15C-FFD7-3B0E-E82A-2D8A9FCB75B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DA56366-888E-1FBE-0C60-25CC579D0E8A}"/>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157B64E6-A3D9-2D14-3C92-9550F07E4044}"/>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&amp; Background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VALL-E (5 min)</a:t>
            </a:r>
          </a:p>
          <a:p>
            <a:pPr lvl="1"/>
            <a:r>
              <a:rPr lang="en-US" altLang="zh-CN" sz="2400" dirty="0">
                <a:latin typeface="Times New Roman" panose="02020603050405020304" pitchFamily="18" charset="0"/>
                <a:cs typeface="Times New Roman" panose="02020603050405020304" pitchFamily="18" charset="0"/>
              </a:rPr>
              <a:t>CosyVoice2 (5 min)</a:t>
            </a:r>
          </a:p>
          <a:p>
            <a:pPr lvl="1"/>
            <a:r>
              <a:rPr lang="en-US" altLang="zh-CN" sz="2400" dirty="0" err="1">
                <a:solidFill>
                  <a:srgbClr val="FF0000"/>
                </a:solidFill>
                <a:latin typeface="Times New Roman" panose="02020603050405020304" pitchFamily="18" charset="0"/>
                <a:cs typeface="Times New Roman" panose="02020603050405020304" pitchFamily="18" charset="0"/>
              </a:rPr>
              <a:t>vLLM</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dirty="0" err="1">
                <a:solidFill>
                  <a:srgbClr val="FF0000"/>
                </a:solidFill>
                <a:latin typeface="Times New Roman" panose="02020603050405020304" pitchFamily="18" charset="0"/>
                <a:cs typeface="Times New Roman" panose="02020603050405020304" pitchFamily="18" charset="0"/>
              </a:rPr>
              <a:t>PagedAttention</a:t>
            </a:r>
            <a:r>
              <a:rPr lang="en-US" altLang="zh-CN" sz="2400" dirty="0">
                <a:solidFill>
                  <a:srgbClr val="FF0000"/>
                </a:solidFill>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4916EECC-8A44-44AA-6DC4-3019856667EC}"/>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25</a:t>
            </a:fld>
            <a:endParaRPr lang="zh-TW" altLang="en-US"/>
          </a:p>
        </p:txBody>
      </p:sp>
    </p:spTree>
    <p:extLst>
      <p:ext uri="{BB962C8B-B14F-4D97-AF65-F5344CB8AC3E}">
        <p14:creationId xmlns:p14="http://schemas.microsoft.com/office/powerpoint/2010/main" val="1457435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64754-C996-209A-6626-EE2815F88E3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8876756-BD52-B391-F5E1-97EDA9CF970F}"/>
              </a:ext>
            </a:extLst>
          </p:cNvPr>
          <p:cNvSpPr>
            <a:spLocks noGrp="1"/>
          </p:cNvSpPr>
          <p:nvPr>
            <p:ph type="title"/>
          </p:nvPr>
        </p:nvSpPr>
        <p:spPr/>
        <p:txBody>
          <a:bodyPr/>
          <a:lstStyle/>
          <a:p>
            <a:r>
              <a:rPr lang="en-US" altLang="zh-CN" dirty="0" err="1"/>
              <a:t>vLLM</a:t>
            </a:r>
            <a:r>
              <a:rPr lang="en-US" altLang="zh-CN" dirty="0"/>
              <a:t>/</a:t>
            </a:r>
            <a:r>
              <a:rPr lang="en-US" altLang="zh-CN" dirty="0" err="1"/>
              <a:t>PagedAttention</a:t>
            </a:r>
            <a:r>
              <a:rPr lang="en-US" altLang="zh-CN" dirty="0"/>
              <a:t> (1/6)</a:t>
            </a:r>
            <a:endParaRPr lang="zh-CN" altLang="en-US" dirty="0"/>
          </a:p>
        </p:txBody>
      </p:sp>
      <p:sp>
        <p:nvSpPr>
          <p:cNvPr id="4" name="灯片编号占位符 3">
            <a:extLst>
              <a:ext uri="{FF2B5EF4-FFF2-40B4-BE49-F238E27FC236}">
                <a16:creationId xmlns:a16="http://schemas.microsoft.com/office/drawing/2014/main" id="{C29979F1-0984-FCE4-BDB0-4218A4F55F42}"/>
              </a:ext>
            </a:extLst>
          </p:cNvPr>
          <p:cNvSpPr>
            <a:spLocks noGrp="1"/>
          </p:cNvSpPr>
          <p:nvPr>
            <p:ph type="sldNum" sz="quarter" idx="10"/>
          </p:nvPr>
        </p:nvSpPr>
        <p:spPr/>
        <p:txBody>
          <a:bodyPr/>
          <a:lstStyle/>
          <a:p>
            <a:fld id="{D9B6BDF2-6896-4B98-8776-C18582F63BA5}" type="slidenum">
              <a:rPr lang="zh-TW" altLang="en-US" smtClean="0"/>
              <a:pPr/>
              <a:t>26</a:t>
            </a:fld>
            <a:endParaRPr lang="zh-TW" altLang="en-US"/>
          </a:p>
        </p:txBody>
      </p:sp>
      <p:pic>
        <p:nvPicPr>
          <p:cNvPr id="3" name="图片 2">
            <a:extLst>
              <a:ext uri="{FF2B5EF4-FFF2-40B4-BE49-F238E27FC236}">
                <a16:creationId xmlns:a16="http://schemas.microsoft.com/office/drawing/2014/main" id="{110085B2-5A81-467B-BFC7-1D0E02FCB2EC}"/>
              </a:ext>
            </a:extLst>
          </p:cNvPr>
          <p:cNvPicPr>
            <a:picLocks noChangeAspect="1"/>
          </p:cNvPicPr>
          <p:nvPr/>
        </p:nvPicPr>
        <p:blipFill>
          <a:blip r:embed="rId2"/>
          <a:stretch>
            <a:fillRect/>
          </a:stretch>
        </p:blipFill>
        <p:spPr>
          <a:xfrm>
            <a:off x="3194061" y="1175657"/>
            <a:ext cx="5803877" cy="4898571"/>
          </a:xfrm>
          <a:prstGeom prst="rect">
            <a:avLst/>
          </a:prstGeom>
        </p:spPr>
      </p:pic>
    </p:spTree>
    <p:extLst>
      <p:ext uri="{BB962C8B-B14F-4D97-AF65-F5344CB8AC3E}">
        <p14:creationId xmlns:p14="http://schemas.microsoft.com/office/powerpoint/2010/main" val="2938869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900C6-A327-8988-4AC3-00FE75CB3B0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45459F9-E879-7ECD-924D-895E9010A13B}"/>
              </a:ext>
            </a:extLst>
          </p:cNvPr>
          <p:cNvSpPr>
            <a:spLocks noGrp="1"/>
          </p:cNvSpPr>
          <p:nvPr>
            <p:ph type="title"/>
          </p:nvPr>
        </p:nvSpPr>
        <p:spPr/>
        <p:txBody>
          <a:bodyPr/>
          <a:lstStyle/>
          <a:p>
            <a:r>
              <a:rPr lang="en-US" altLang="zh-CN" dirty="0" err="1"/>
              <a:t>vLLM</a:t>
            </a:r>
            <a:r>
              <a:rPr lang="en-US" altLang="zh-CN" dirty="0"/>
              <a:t>/</a:t>
            </a:r>
            <a:r>
              <a:rPr lang="en-US" altLang="zh-CN" dirty="0" err="1"/>
              <a:t>PagedAttention</a:t>
            </a:r>
            <a:r>
              <a:rPr lang="en-US" altLang="zh-CN" dirty="0"/>
              <a:t> (2/6)</a:t>
            </a:r>
            <a:endParaRPr lang="zh-CN" altLang="en-US" dirty="0"/>
          </a:p>
        </p:txBody>
      </p:sp>
      <p:sp>
        <p:nvSpPr>
          <p:cNvPr id="4" name="灯片编号占位符 3">
            <a:extLst>
              <a:ext uri="{FF2B5EF4-FFF2-40B4-BE49-F238E27FC236}">
                <a16:creationId xmlns:a16="http://schemas.microsoft.com/office/drawing/2014/main" id="{41E18F7B-82D7-4A50-3B51-7DD84EAFE6BB}"/>
              </a:ext>
            </a:extLst>
          </p:cNvPr>
          <p:cNvSpPr>
            <a:spLocks noGrp="1"/>
          </p:cNvSpPr>
          <p:nvPr>
            <p:ph type="sldNum" sz="quarter" idx="10"/>
          </p:nvPr>
        </p:nvSpPr>
        <p:spPr/>
        <p:txBody>
          <a:bodyPr/>
          <a:lstStyle/>
          <a:p>
            <a:fld id="{D9B6BDF2-6896-4B98-8776-C18582F63BA5}" type="slidenum">
              <a:rPr lang="zh-TW" altLang="en-US" smtClean="0"/>
              <a:pPr/>
              <a:t>27</a:t>
            </a:fld>
            <a:endParaRPr lang="zh-TW" altLang="en-US"/>
          </a:p>
        </p:txBody>
      </p:sp>
      <p:sp>
        <p:nvSpPr>
          <p:cNvPr id="2" name="内容占位符 5">
            <a:extLst>
              <a:ext uri="{FF2B5EF4-FFF2-40B4-BE49-F238E27FC236}">
                <a16:creationId xmlns:a16="http://schemas.microsoft.com/office/drawing/2014/main" id="{A4ADA038-30DB-325F-7BDD-9595F9DEEE9D}"/>
              </a:ext>
            </a:extLst>
          </p:cNvPr>
          <p:cNvSpPr txBox="1">
            <a:spLocks/>
          </p:cNvSpPr>
          <p:nvPr/>
        </p:nvSpPr>
        <p:spPr bwMode="auto">
          <a:xfrm>
            <a:off x="624995" y="1119980"/>
            <a:ext cx="10517721" cy="482361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OS-Level Memory Management for Streaming Optimization</a:t>
            </a:r>
          </a:p>
          <a:p>
            <a:r>
              <a:rPr lang="en-US" altLang="zh-CN" sz="2000" b="1" kern="0" dirty="0">
                <a:latin typeface="Times New Roman" panose="02020603050405020304" pitchFamily="18" charset="0"/>
                <a:cs typeface="Times New Roman" panose="02020603050405020304" pitchFamily="18" charset="0"/>
              </a:rPr>
              <a:t>Core Design Idea: </a:t>
            </a:r>
          </a:p>
          <a:p>
            <a:pPr lvl="1"/>
            <a:r>
              <a:rPr lang="en-US" altLang="zh-CN" sz="2400" kern="0" dirty="0">
                <a:latin typeface="Times New Roman" panose="02020603050405020304" pitchFamily="18" charset="0"/>
                <a:cs typeface="Times New Roman" panose="02020603050405020304" pitchFamily="18" charset="0"/>
              </a:rPr>
              <a:t>Replicate the core logic of virtual memory paging in operating systems, and solve the pain point of KV cache management efficiency for large model streaming inference from the OS bottom layer.</a:t>
            </a:r>
          </a:p>
        </p:txBody>
      </p:sp>
      <p:pic>
        <p:nvPicPr>
          <p:cNvPr id="11266" name="Picture 2" descr="PagedAttention - MLOps Dictionary | Hopsworks">
            <a:extLst>
              <a:ext uri="{FF2B5EF4-FFF2-40B4-BE49-F238E27FC236}">
                <a16:creationId xmlns:a16="http://schemas.microsoft.com/office/drawing/2014/main" id="{0A42D4EB-04A8-4468-9659-9D5EA793D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012" y="3103642"/>
            <a:ext cx="6785429" cy="2980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21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9782E-DBFA-5E68-10C3-3B1E22A10FF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74AE9E5-41BF-6C80-FCE7-170AD6FCD83B}"/>
              </a:ext>
            </a:extLst>
          </p:cNvPr>
          <p:cNvSpPr>
            <a:spLocks noGrp="1"/>
          </p:cNvSpPr>
          <p:nvPr>
            <p:ph type="title"/>
          </p:nvPr>
        </p:nvSpPr>
        <p:spPr/>
        <p:txBody>
          <a:bodyPr/>
          <a:lstStyle/>
          <a:p>
            <a:r>
              <a:rPr lang="en-US" altLang="zh-CN" dirty="0" err="1"/>
              <a:t>vLLM</a:t>
            </a:r>
            <a:r>
              <a:rPr lang="en-US" altLang="zh-CN" dirty="0"/>
              <a:t>/</a:t>
            </a:r>
            <a:r>
              <a:rPr lang="en-US" altLang="zh-CN" dirty="0" err="1"/>
              <a:t>PagedAttention</a:t>
            </a:r>
            <a:r>
              <a:rPr lang="en-US" altLang="zh-CN" dirty="0"/>
              <a:t> (3/6)</a:t>
            </a:r>
            <a:endParaRPr lang="zh-CN" altLang="en-US" dirty="0"/>
          </a:p>
        </p:txBody>
      </p:sp>
      <p:sp>
        <p:nvSpPr>
          <p:cNvPr id="4" name="灯片编号占位符 3">
            <a:extLst>
              <a:ext uri="{FF2B5EF4-FFF2-40B4-BE49-F238E27FC236}">
                <a16:creationId xmlns:a16="http://schemas.microsoft.com/office/drawing/2014/main" id="{AD3FCADE-6780-0A59-E097-ACC44784FDDD}"/>
              </a:ext>
            </a:extLst>
          </p:cNvPr>
          <p:cNvSpPr>
            <a:spLocks noGrp="1"/>
          </p:cNvSpPr>
          <p:nvPr>
            <p:ph type="sldNum" sz="quarter" idx="10"/>
          </p:nvPr>
        </p:nvSpPr>
        <p:spPr/>
        <p:txBody>
          <a:bodyPr/>
          <a:lstStyle/>
          <a:p>
            <a:fld id="{D9B6BDF2-6896-4B98-8776-C18582F63BA5}" type="slidenum">
              <a:rPr lang="zh-TW" altLang="en-US" smtClean="0"/>
              <a:pPr/>
              <a:t>28</a:t>
            </a:fld>
            <a:endParaRPr lang="zh-TW" altLang="en-US"/>
          </a:p>
        </p:txBody>
      </p:sp>
      <p:sp>
        <p:nvSpPr>
          <p:cNvPr id="2" name="内容占位符 5">
            <a:extLst>
              <a:ext uri="{FF2B5EF4-FFF2-40B4-BE49-F238E27FC236}">
                <a16:creationId xmlns:a16="http://schemas.microsoft.com/office/drawing/2014/main" id="{7D43B265-B7BA-A2B7-A1E5-28D09ACB1D7C}"/>
              </a:ext>
            </a:extLst>
          </p:cNvPr>
          <p:cNvSpPr txBox="1">
            <a:spLocks/>
          </p:cNvSpPr>
          <p:nvPr/>
        </p:nvSpPr>
        <p:spPr bwMode="auto">
          <a:xfrm>
            <a:off x="455372" y="1264049"/>
            <a:ext cx="10595455" cy="46360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Technical Implementation Details:</a:t>
            </a:r>
          </a:p>
          <a:p>
            <a:r>
              <a:rPr lang="en-US" altLang="zh-CN" sz="2400" kern="0" dirty="0">
                <a:latin typeface="Times New Roman" panose="02020603050405020304" pitchFamily="18" charset="0"/>
                <a:cs typeface="Times New Roman" panose="02020603050405020304" pitchFamily="18" charset="0"/>
              </a:rPr>
              <a:t>Core Mechanism of </a:t>
            </a:r>
            <a:r>
              <a:rPr lang="en-US" altLang="zh-CN" sz="2400" kern="0" dirty="0" err="1">
                <a:latin typeface="Times New Roman" panose="02020603050405020304" pitchFamily="18" charset="0"/>
                <a:cs typeface="Times New Roman" panose="02020603050405020304" pitchFamily="18" charset="0"/>
              </a:rPr>
              <a:t>PagedAttention</a:t>
            </a:r>
            <a:r>
              <a:rPr lang="en-US" altLang="zh-CN" sz="2400" kern="0" dirty="0">
                <a:latin typeface="Times New Roman" panose="02020603050405020304" pitchFamily="18" charset="0"/>
                <a:cs typeface="Times New Roman" panose="02020603050405020304" pitchFamily="18" charset="0"/>
              </a:rPr>
              <a:t>: Split KV cache into fixed-size "pages", manage non-contiguous VRAM space through page tables, and completely eliminate VRAM fragmentation caused by dynamic streaming requests.</a:t>
            </a:r>
          </a:p>
        </p:txBody>
      </p:sp>
      <p:pic>
        <p:nvPicPr>
          <p:cNvPr id="12290" name="Picture 2" descr="Overview of vLLM system">
            <a:extLst>
              <a:ext uri="{FF2B5EF4-FFF2-40B4-BE49-F238E27FC236}">
                <a16:creationId xmlns:a16="http://schemas.microsoft.com/office/drawing/2014/main" id="{66DCFDE3-F305-40C9-9534-502E7E6A61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43943" y="3262047"/>
            <a:ext cx="5421086" cy="2855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7482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5176B-4C51-D65A-0222-34EBD7DD6A7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78ECF63-4393-918C-3741-7623299005E0}"/>
              </a:ext>
            </a:extLst>
          </p:cNvPr>
          <p:cNvSpPr>
            <a:spLocks noGrp="1"/>
          </p:cNvSpPr>
          <p:nvPr>
            <p:ph type="title"/>
          </p:nvPr>
        </p:nvSpPr>
        <p:spPr/>
        <p:txBody>
          <a:bodyPr/>
          <a:lstStyle/>
          <a:p>
            <a:r>
              <a:rPr lang="en-US" altLang="zh-CN" dirty="0" err="1"/>
              <a:t>vLLM</a:t>
            </a:r>
            <a:r>
              <a:rPr lang="en-US" altLang="zh-CN" dirty="0"/>
              <a:t>/</a:t>
            </a:r>
            <a:r>
              <a:rPr lang="en-US" altLang="zh-CN" dirty="0" err="1"/>
              <a:t>PagedAttention</a:t>
            </a:r>
            <a:r>
              <a:rPr lang="en-US" altLang="zh-CN" dirty="0"/>
              <a:t> (4/6)</a:t>
            </a:r>
            <a:endParaRPr lang="zh-CN" altLang="en-US" dirty="0"/>
          </a:p>
        </p:txBody>
      </p:sp>
      <p:sp>
        <p:nvSpPr>
          <p:cNvPr id="4" name="灯片编号占位符 3">
            <a:extLst>
              <a:ext uri="{FF2B5EF4-FFF2-40B4-BE49-F238E27FC236}">
                <a16:creationId xmlns:a16="http://schemas.microsoft.com/office/drawing/2014/main" id="{8AEE2ED5-31AC-F1FB-4920-6AC305DBB03E}"/>
              </a:ext>
            </a:extLst>
          </p:cNvPr>
          <p:cNvSpPr>
            <a:spLocks noGrp="1"/>
          </p:cNvSpPr>
          <p:nvPr>
            <p:ph type="sldNum" sz="quarter" idx="10"/>
          </p:nvPr>
        </p:nvSpPr>
        <p:spPr/>
        <p:txBody>
          <a:bodyPr/>
          <a:lstStyle/>
          <a:p>
            <a:fld id="{D9B6BDF2-6896-4B98-8776-C18582F63BA5}" type="slidenum">
              <a:rPr lang="zh-TW" altLang="en-US" smtClean="0"/>
              <a:pPr/>
              <a:t>29</a:t>
            </a:fld>
            <a:endParaRPr lang="zh-TW" altLang="en-US"/>
          </a:p>
        </p:txBody>
      </p:sp>
      <p:sp>
        <p:nvSpPr>
          <p:cNvPr id="2" name="内容占位符 5">
            <a:extLst>
              <a:ext uri="{FF2B5EF4-FFF2-40B4-BE49-F238E27FC236}">
                <a16:creationId xmlns:a16="http://schemas.microsoft.com/office/drawing/2014/main" id="{9A2F798A-B3E1-86E6-A02A-795AFA43C57D}"/>
              </a:ext>
            </a:extLst>
          </p:cNvPr>
          <p:cNvSpPr txBox="1">
            <a:spLocks/>
          </p:cNvSpPr>
          <p:nvPr/>
        </p:nvSpPr>
        <p:spPr bwMode="auto">
          <a:xfrm>
            <a:off x="455372" y="1264050"/>
            <a:ext cx="10595455" cy="4403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Technical Implementation Details:</a:t>
            </a:r>
          </a:p>
          <a:p>
            <a:pPr lvl="1"/>
            <a:r>
              <a:rPr lang="en-US" altLang="zh-CN" sz="2400" kern="0" dirty="0">
                <a:latin typeface="Times New Roman" panose="02020603050405020304" pitchFamily="18" charset="0"/>
                <a:cs typeface="Times New Roman" panose="02020603050405020304" pitchFamily="18" charset="0"/>
              </a:rPr>
              <a:t>Core Difference from Traditional Mechanisms: Shift from "continuous static VRAM allocation" to "non-contiguous dynamic paging management", fully adapted to the dynamic length characteristics of streaming requests.</a:t>
            </a:r>
          </a:p>
          <a:p>
            <a:pPr marL="0" indent="0">
              <a:buNone/>
            </a:pPr>
            <a:endParaRPr lang="en-US" altLang="zh-CN" sz="2400" kern="0"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1CEEE0B7-F9DC-4503-AC00-5FF15A11E413}"/>
              </a:ext>
            </a:extLst>
          </p:cNvPr>
          <p:cNvPicPr>
            <a:picLocks noChangeAspect="1"/>
          </p:cNvPicPr>
          <p:nvPr/>
        </p:nvPicPr>
        <p:blipFill>
          <a:blip r:embed="rId2"/>
          <a:srcRect r="2891" b="16433"/>
          <a:stretch>
            <a:fillRect/>
          </a:stretch>
        </p:blipFill>
        <p:spPr>
          <a:xfrm>
            <a:off x="2861990" y="3020763"/>
            <a:ext cx="6158639" cy="3127080"/>
          </a:xfrm>
          <a:prstGeom prst="rect">
            <a:avLst/>
          </a:prstGeom>
        </p:spPr>
      </p:pic>
    </p:spTree>
    <p:extLst>
      <p:ext uri="{BB962C8B-B14F-4D97-AF65-F5344CB8AC3E}">
        <p14:creationId xmlns:p14="http://schemas.microsoft.com/office/powerpoint/2010/main" val="3950446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7CAE2-07A1-A915-CEB9-4279A1AD297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A791FDF-31DA-4AE8-CDC1-ED81D4E9786B}"/>
              </a:ext>
            </a:extLst>
          </p:cNvPr>
          <p:cNvSpPr>
            <a:spLocks noGrp="1"/>
          </p:cNvSpPr>
          <p:nvPr>
            <p:ph type="title"/>
          </p:nvPr>
        </p:nvSpPr>
        <p:spPr/>
        <p:txBody>
          <a:bodyPr/>
          <a:lstStyle/>
          <a:p>
            <a:r>
              <a:rPr lang="en-US" altLang="zh-CN" dirty="0" err="1"/>
              <a:t>vLLM</a:t>
            </a:r>
            <a:r>
              <a:rPr lang="en-US" altLang="zh-CN" dirty="0"/>
              <a:t>/</a:t>
            </a:r>
            <a:r>
              <a:rPr lang="en-US" altLang="zh-CN" dirty="0" err="1"/>
              <a:t>PagedAttention</a:t>
            </a:r>
            <a:r>
              <a:rPr lang="en-US" altLang="zh-CN" dirty="0"/>
              <a:t> (5/6)</a:t>
            </a:r>
            <a:endParaRPr lang="zh-CN" altLang="en-US" dirty="0"/>
          </a:p>
        </p:txBody>
      </p:sp>
      <p:sp>
        <p:nvSpPr>
          <p:cNvPr id="4" name="灯片编号占位符 3">
            <a:extLst>
              <a:ext uri="{FF2B5EF4-FFF2-40B4-BE49-F238E27FC236}">
                <a16:creationId xmlns:a16="http://schemas.microsoft.com/office/drawing/2014/main" id="{CE914398-D0ED-C149-BC4F-E02F5F084FA6}"/>
              </a:ext>
            </a:extLst>
          </p:cNvPr>
          <p:cNvSpPr>
            <a:spLocks noGrp="1"/>
          </p:cNvSpPr>
          <p:nvPr>
            <p:ph type="sldNum" sz="quarter" idx="10"/>
          </p:nvPr>
        </p:nvSpPr>
        <p:spPr/>
        <p:txBody>
          <a:bodyPr/>
          <a:lstStyle/>
          <a:p>
            <a:fld id="{D9B6BDF2-6896-4B98-8776-C18582F63BA5}" type="slidenum">
              <a:rPr lang="zh-TW" altLang="en-US" smtClean="0"/>
              <a:pPr/>
              <a:t>30</a:t>
            </a:fld>
            <a:endParaRPr lang="zh-TW" altLang="en-US"/>
          </a:p>
        </p:txBody>
      </p:sp>
      <p:sp>
        <p:nvSpPr>
          <p:cNvPr id="2" name="内容占位符 5">
            <a:extLst>
              <a:ext uri="{FF2B5EF4-FFF2-40B4-BE49-F238E27FC236}">
                <a16:creationId xmlns:a16="http://schemas.microsoft.com/office/drawing/2014/main" id="{FB9EE103-06CA-6978-9D16-03007903EB8A}"/>
              </a:ext>
            </a:extLst>
          </p:cNvPr>
          <p:cNvSpPr txBox="1">
            <a:spLocks/>
          </p:cNvSpPr>
          <p:nvPr/>
        </p:nvSpPr>
        <p:spPr bwMode="auto">
          <a:xfrm>
            <a:off x="455372" y="1264050"/>
            <a:ext cx="10595455" cy="4403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b="1" kern="0" dirty="0">
                <a:latin typeface="Times New Roman" panose="02020603050405020304" pitchFamily="18" charset="0"/>
                <a:cs typeface="Times New Roman" panose="02020603050405020304" pitchFamily="18" charset="0"/>
              </a:rPr>
              <a:t>Technical Implementation Details:</a:t>
            </a:r>
          </a:p>
          <a:p>
            <a:pPr lvl="1"/>
            <a:r>
              <a:rPr lang="en-US" altLang="zh-CN" sz="2400" kern="0" dirty="0">
                <a:latin typeface="Times New Roman" panose="02020603050405020304" pitchFamily="18" charset="0"/>
                <a:cs typeface="Times New Roman" panose="02020603050405020304" pitchFamily="18" charset="0"/>
              </a:rPr>
              <a:t>Continuous Batching Mechanism: Insert new requests in the gaps between generation steps without waiting for the full generation of a request to complete, maximizing GPU computing power utilization.</a:t>
            </a:r>
          </a:p>
        </p:txBody>
      </p:sp>
    </p:spTree>
    <p:extLst>
      <p:ext uri="{BB962C8B-B14F-4D97-AF65-F5344CB8AC3E}">
        <p14:creationId xmlns:p14="http://schemas.microsoft.com/office/powerpoint/2010/main" val="33675490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A21ED-5368-96F4-A0AE-B35AA91F15F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F971CE3-1FC3-9874-31D3-857978219C97}"/>
              </a:ext>
            </a:extLst>
          </p:cNvPr>
          <p:cNvSpPr>
            <a:spLocks noGrp="1"/>
          </p:cNvSpPr>
          <p:nvPr>
            <p:ph type="title"/>
          </p:nvPr>
        </p:nvSpPr>
        <p:spPr/>
        <p:txBody>
          <a:bodyPr/>
          <a:lstStyle/>
          <a:p>
            <a:r>
              <a:rPr lang="en-US" altLang="zh-CN" dirty="0" err="1"/>
              <a:t>vLLM</a:t>
            </a:r>
            <a:r>
              <a:rPr lang="en-US" altLang="zh-CN" dirty="0"/>
              <a:t>/</a:t>
            </a:r>
            <a:r>
              <a:rPr lang="en-US" altLang="zh-CN" dirty="0" err="1"/>
              <a:t>PagedAttention</a:t>
            </a:r>
            <a:r>
              <a:rPr lang="en-US" altLang="zh-CN" dirty="0"/>
              <a:t> (6/6)</a:t>
            </a:r>
            <a:endParaRPr lang="zh-CN" altLang="en-US" dirty="0"/>
          </a:p>
        </p:txBody>
      </p:sp>
      <p:sp>
        <p:nvSpPr>
          <p:cNvPr id="4" name="灯片编号占位符 3">
            <a:extLst>
              <a:ext uri="{FF2B5EF4-FFF2-40B4-BE49-F238E27FC236}">
                <a16:creationId xmlns:a16="http://schemas.microsoft.com/office/drawing/2014/main" id="{38B9199C-D34F-67FF-4425-698AAB2A853D}"/>
              </a:ext>
            </a:extLst>
          </p:cNvPr>
          <p:cNvSpPr>
            <a:spLocks noGrp="1"/>
          </p:cNvSpPr>
          <p:nvPr>
            <p:ph type="sldNum" sz="quarter" idx="10"/>
          </p:nvPr>
        </p:nvSpPr>
        <p:spPr/>
        <p:txBody>
          <a:bodyPr/>
          <a:lstStyle/>
          <a:p>
            <a:fld id="{D9B6BDF2-6896-4B98-8776-C18582F63BA5}" type="slidenum">
              <a:rPr lang="zh-TW" altLang="en-US" smtClean="0"/>
              <a:pPr/>
              <a:t>31</a:t>
            </a:fld>
            <a:endParaRPr lang="zh-TW" altLang="en-US"/>
          </a:p>
        </p:txBody>
      </p:sp>
      <p:sp>
        <p:nvSpPr>
          <p:cNvPr id="2" name="内容占位符 5">
            <a:extLst>
              <a:ext uri="{FF2B5EF4-FFF2-40B4-BE49-F238E27FC236}">
                <a16:creationId xmlns:a16="http://schemas.microsoft.com/office/drawing/2014/main" id="{C1BEB492-22AA-A964-4F94-C85A1ADE5FEC}"/>
              </a:ext>
            </a:extLst>
          </p:cNvPr>
          <p:cNvSpPr txBox="1">
            <a:spLocks/>
          </p:cNvSpPr>
          <p:nvPr/>
        </p:nvSpPr>
        <p:spPr bwMode="auto">
          <a:xfrm>
            <a:off x="455372" y="1264050"/>
            <a:ext cx="10595455" cy="4403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Evaluation</a:t>
            </a:r>
          </a:p>
          <a:p>
            <a:r>
              <a:rPr lang="en-US" altLang="zh-CN" sz="2400" kern="0" dirty="0">
                <a:latin typeface="Times New Roman" panose="02020603050405020304" pitchFamily="18" charset="0"/>
                <a:cs typeface="Times New Roman" panose="02020603050405020304" pitchFamily="18" charset="0"/>
              </a:rPr>
              <a:t>Core Problem Solved: Complete the final mile of large-scale commercial deployment of streaming TTS, and meet the commercial requirements of high concurrency, low latency and low cost.</a:t>
            </a:r>
          </a:p>
          <a:p>
            <a:endParaRPr lang="en-US" altLang="zh-CN" sz="2400" kern="0" dirty="0">
              <a:latin typeface="Times New Roman" panose="02020603050405020304" pitchFamily="18" charset="0"/>
              <a:cs typeface="Times New Roman" panose="02020603050405020304" pitchFamily="18" charset="0"/>
            </a:endParaRPr>
          </a:p>
        </p:txBody>
      </p:sp>
      <p:pic>
        <p:nvPicPr>
          <p:cNvPr id="13314" name="Picture 2" descr="Illustration of the average memory wastes in different LLM serving systems">
            <a:extLst>
              <a:ext uri="{FF2B5EF4-FFF2-40B4-BE49-F238E27FC236}">
                <a16:creationId xmlns:a16="http://schemas.microsoft.com/office/drawing/2014/main" id="{29C3E9CF-E9DA-4EE5-894B-389DEF48D0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37417" y="3083914"/>
            <a:ext cx="5417155" cy="2945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974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4C08F-93A7-1368-C517-37F60B0C51F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39E4EB1-5096-858A-D1B1-6FCD9C459681}"/>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BD3A4D1-61DA-196E-DBEE-185F28B97FF0}"/>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&amp; Background (5 min)</a:t>
            </a:r>
          </a:p>
          <a:p>
            <a:r>
              <a:rPr lang="en-US" altLang="zh-CN" sz="2933" dirty="0">
                <a:latin typeface="Times New Roman" panose="02020603050405020304" pitchFamily="18" charset="0"/>
                <a:cs typeface="Times New Roman" panose="02020603050405020304" pitchFamily="18" charset="0"/>
              </a:rPr>
              <a:t>Proposed Methods (15 min)</a:t>
            </a:r>
          </a:p>
          <a:p>
            <a:pPr lvl="1"/>
            <a:r>
              <a:rPr lang="en-US" altLang="zh-CN" sz="2400" dirty="0">
                <a:latin typeface="Times New Roman" panose="02020603050405020304" pitchFamily="18" charset="0"/>
                <a:cs typeface="Times New Roman" panose="02020603050405020304" pitchFamily="18" charset="0"/>
              </a:rPr>
              <a:t>VALL-E (5 min)</a:t>
            </a:r>
          </a:p>
          <a:p>
            <a:pPr lvl="1"/>
            <a:r>
              <a:rPr lang="en-US" altLang="zh-CN" sz="2400" dirty="0">
                <a:latin typeface="Times New Roman" panose="02020603050405020304" pitchFamily="18" charset="0"/>
                <a:cs typeface="Times New Roman" panose="02020603050405020304" pitchFamily="18" charset="0"/>
              </a:rPr>
              <a:t>CosyVoice2 (5 min)</a:t>
            </a:r>
          </a:p>
          <a:p>
            <a:pPr lvl="1"/>
            <a:r>
              <a:rPr lang="en-US" altLang="zh-CN" sz="2400" dirty="0" err="1">
                <a:latin typeface="Times New Roman" panose="02020603050405020304" pitchFamily="18" charset="0"/>
                <a:cs typeface="Times New Roman" panose="02020603050405020304" pitchFamily="18" charset="0"/>
              </a:rPr>
              <a:t>vLLM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PagedAttention</a:t>
            </a:r>
            <a:r>
              <a:rPr lang="en-US" altLang="zh-CN" sz="2400" dirty="0">
                <a:latin typeface="Times New Roman" panose="02020603050405020304" pitchFamily="18" charset="0"/>
                <a:cs typeface="Times New Roman" panose="02020603050405020304" pitchFamily="18" charset="0"/>
              </a:rPr>
              <a:t> (5 min)</a:t>
            </a:r>
          </a:p>
          <a:p>
            <a:r>
              <a:rPr lang="en-US" altLang="zh-CN" sz="2933" dirty="0">
                <a:solidFill>
                  <a:srgbClr val="FF0000"/>
                </a:solidFill>
                <a:latin typeface="Times New Roman" panose="02020603050405020304" pitchFamily="18" charset="0"/>
                <a:cs typeface="Times New Roman" panose="02020603050405020304" pitchFamily="18" charset="0"/>
              </a:rPr>
              <a:t>Conclusions (2 min)</a:t>
            </a:r>
          </a:p>
          <a:p>
            <a:r>
              <a:rPr lang="en-US" altLang="zh-CN" sz="2933" dirty="0">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8CD8D5BD-BB11-DB29-22FA-A211466D51C0}"/>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32</a:t>
            </a:fld>
            <a:endParaRPr lang="zh-TW" altLang="en-US"/>
          </a:p>
        </p:txBody>
      </p:sp>
    </p:spTree>
    <p:extLst>
      <p:ext uri="{BB962C8B-B14F-4D97-AF65-F5344CB8AC3E}">
        <p14:creationId xmlns:p14="http://schemas.microsoft.com/office/powerpoint/2010/main" val="4095027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2D34-6F5D-0C83-71A3-B5C5168E2D5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AA9750D-869A-C200-2EE5-D8B1E07F9F12}"/>
              </a:ext>
            </a:extLst>
          </p:cNvPr>
          <p:cNvSpPr>
            <a:spLocks noGrp="1"/>
          </p:cNvSpPr>
          <p:nvPr>
            <p:ph type="title"/>
          </p:nvPr>
        </p:nvSpPr>
        <p:spPr/>
        <p:txBody>
          <a:bodyPr/>
          <a:lstStyle/>
          <a:p>
            <a:r>
              <a:rPr lang="en-US" altLang="zh-CN" dirty="0"/>
              <a:t>Conclusions</a:t>
            </a:r>
            <a:endParaRPr lang="zh-CN" altLang="en-US" dirty="0"/>
          </a:p>
        </p:txBody>
      </p:sp>
      <p:sp>
        <p:nvSpPr>
          <p:cNvPr id="4" name="灯片编号占位符 3">
            <a:extLst>
              <a:ext uri="{FF2B5EF4-FFF2-40B4-BE49-F238E27FC236}">
                <a16:creationId xmlns:a16="http://schemas.microsoft.com/office/drawing/2014/main" id="{2A84A16E-E0AA-76E1-A1F6-A555003FF6A9}"/>
              </a:ext>
            </a:extLst>
          </p:cNvPr>
          <p:cNvSpPr>
            <a:spLocks noGrp="1"/>
          </p:cNvSpPr>
          <p:nvPr>
            <p:ph type="sldNum" sz="quarter" idx="10"/>
          </p:nvPr>
        </p:nvSpPr>
        <p:spPr/>
        <p:txBody>
          <a:bodyPr/>
          <a:lstStyle/>
          <a:p>
            <a:fld id="{D9B6BDF2-6896-4B98-8776-C18582F63BA5}" type="slidenum">
              <a:rPr lang="zh-TW" altLang="en-US" smtClean="0"/>
              <a:pPr/>
              <a:t>33</a:t>
            </a:fld>
            <a:endParaRPr lang="zh-TW" altLang="en-US"/>
          </a:p>
        </p:txBody>
      </p:sp>
      <p:sp>
        <p:nvSpPr>
          <p:cNvPr id="2" name="内容占位符 5">
            <a:extLst>
              <a:ext uri="{FF2B5EF4-FFF2-40B4-BE49-F238E27FC236}">
                <a16:creationId xmlns:a16="http://schemas.microsoft.com/office/drawing/2014/main" id="{53FF7D9F-1225-843A-172D-12A2CC82D7FA}"/>
              </a:ext>
            </a:extLst>
          </p:cNvPr>
          <p:cNvSpPr txBox="1">
            <a:spLocks/>
          </p:cNvSpPr>
          <p:nvPr/>
        </p:nvSpPr>
        <p:spPr bwMode="auto">
          <a:xfrm>
            <a:off x="455372" y="1264050"/>
            <a:ext cx="10595455" cy="44033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400" kern="0" dirty="0">
                <a:latin typeface="Times New Roman" panose="02020603050405020304" pitchFamily="18" charset="0"/>
                <a:cs typeface="Times New Roman" panose="02020603050405020304" pitchFamily="18" charset="0"/>
              </a:rPr>
              <a:t>Discrete speech representation and autoregressive modeling are the core foundation of streaming real-time TTS.</a:t>
            </a:r>
          </a:p>
          <a:p>
            <a:r>
              <a:rPr lang="en-US" altLang="zh-CN" sz="2400" kern="0" dirty="0">
                <a:latin typeface="Times New Roman" panose="02020603050405020304" pitchFamily="18" charset="0"/>
                <a:cs typeface="Times New Roman" panose="02020603050405020304" pitchFamily="18" charset="0"/>
              </a:rPr>
              <a:t>The introduction of LLMs is a key breakthrough to achieve high-naturalness conversation in streaming scenarios.</a:t>
            </a:r>
          </a:p>
          <a:p>
            <a:r>
              <a:rPr lang="en-US" altLang="zh-CN" sz="2400" kern="0" dirty="0">
                <a:latin typeface="Times New Roman" panose="02020603050405020304" pitchFamily="18" charset="0"/>
                <a:cs typeface="Times New Roman" panose="02020603050405020304" pitchFamily="18" charset="0"/>
              </a:rPr>
              <a:t>OS-level system optimization at the bottom layer is the core guarantee for the technology to move from the laboratory to commercial use.</a:t>
            </a:r>
          </a:p>
        </p:txBody>
      </p:sp>
    </p:spTree>
    <p:extLst>
      <p:ext uri="{BB962C8B-B14F-4D97-AF65-F5344CB8AC3E}">
        <p14:creationId xmlns:p14="http://schemas.microsoft.com/office/powerpoint/2010/main" val="1979849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27083-3D79-B6E5-C597-41E1F6FD591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1B3ED1C-9DC2-12FE-95A2-D073DAF99AE3}"/>
              </a:ext>
            </a:extLst>
          </p:cNvPr>
          <p:cNvSpPr>
            <a:spLocks noGrp="1"/>
          </p:cNvSpPr>
          <p:nvPr>
            <p:ph type="title"/>
          </p:nvPr>
        </p:nvSpPr>
        <p:spPr>
          <a:xfrm>
            <a:off x="1296610" y="144466"/>
            <a:ext cx="10270977" cy="692151"/>
          </a:xfrm>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D4D99FCE-B71C-2DBA-17D2-104FC966FCA0}"/>
              </a:ext>
            </a:extLst>
          </p:cNvPr>
          <p:cNvSpPr>
            <a:spLocks noGrp="1"/>
          </p:cNvSpPr>
          <p:nvPr>
            <p:ph idx="1"/>
          </p:nvPr>
        </p:nvSpPr>
        <p:spPr>
          <a:xfrm>
            <a:off x="1311423" y="1125537"/>
            <a:ext cx="10270977" cy="3560763"/>
          </a:xfrm>
        </p:spPr>
        <p:txBody>
          <a:bodyPr>
            <a:noAutofit/>
          </a:bodyPr>
          <a:lstStyle/>
          <a:p>
            <a:r>
              <a:rPr lang="en-US" altLang="zh-CN" sz="2933" dirty="0">
                <a:latin typeface="Times New Roman" panose="02020603050405020304" pitchFamily="18" charset="0"/>
                <a:cs typeface="Times New Roman" panose="02020603050405020304" pitchFamily="18" charset="0"/>
              </a:rPr>
              <a:t>Introduction (3 min)</a:t>
            </a:r>
            <a:endParaRPr lang="en-US" altLang="zh-TW" sz="2933" dirty="0">
              <a:latin typeface="Times New Roman" panose="02020603050405020304" pitchFamily="18" charset="0"/>
              <a:cs typeface="Times New Roman" panose="02020603050405020304" pitchFamily="18" charset="0"/>
            </a:endParaRPr>
          </a:p>
          <a:p>
            <a:r>
              <a:rPr lang="en-US" altLang="zh-CN" sz="2933" dirty="0">
                <a:latin typeface="Times New Roman" panose="02020603050405020304" pitchFamily="18" charset="0"/>
                <a:cs typeface="Times New Roman" panose="02020603050405020304" pitchFamily="18" charset="0"/>
              </a:rPr>
              <a:t>Related Work &amp; Background(5 min)</a:t>
            </a:r>
          </a:p>
          <a:p>
            <a:r>
              <a:rPr lang="en-US" altLang="zh-CN" sz="2933" dirty="0">
                <a:latin typeface="Times New Roman" panose="02020603050405020304" pitchFamily="18" charset="0"/>
                <a:cs typeface="Times New Roman" panose="02020603050405020304" pitchFamily="18" charset="0"/>
              </a:rPr>
              <a:t>Proposed Methods &amp; Performance Evaluation (15 min)</a:t>
            </a:r>
          </a:p>
          <a:p>
            <a:pPr lvl="1"/>
            <a:r>
              <a:rPr lang="en-US" altLang="zh-CN" sz="2400" dirty="0">
                <a:latin typeface="Times New Roman" panose="02020603050405020304" pitchFamily="18" charset="0"/>
                <a:cs typeface="Times New Roman" panose="02020603050405020304" pitchFamily="18" charset="0"/>
              </a:rPr>
              <a:t>VALL-E (5 min)</a:t>
            </a:r>
          </a:p>
          <a:p>
            <a:pPr lvl="1"/>
            <a:r>
              <a:rPr lang="en-US" altLang="zh-CN" sz="2400" dirty="0">
                <a:latin typeface="Times New Roman" panose="02020603050405020304" pitchFamily="18" charset="0"/>
                <a:cs typeface="Times New Roman" panose="02020603050405020304" pitchFamily="18" charset="0"/>
              </a:rPr>
              <a:t>CosyVoice2 (5 min)</a:t>
            </a:r>
          </a:p>
          <a:p>
            <a:pPr lvl="1"/>
            <a:r>
              <a:rPr lang="en-US" altLang="zh-CN" sz="2400" dirty="0" err="1">
                <a:latin typeface="Times New Roman" panose="02020603050405020304" pitchFamily="18" charset="0"/>
                <a:cs typeface="Times New Roman" panose="02020603050405020304" pitchFamily="18" charset="0"/>
              </a:rPr>
              <a:t>vLLM</a:t>
            </a:r>
            <a:r>
              <a:rPr lang="en-US" altLang="zh-CN" sz="2400" dirty="0">
                <a:latin typeface="Times New Roman" panose="02020603050405020304" pitchFamily="18" charset="0"/>
                <a:cs typeface="Times New Roman" panose="02020603050405020304" pitchFamily="18" charset="0"/>
              </a:rPr>
              <a:t>/</a:t>
            </a:r>
            <a:r>
              <a:rPr lang="en-US" altLang="zh-CN" sz="2400" dirty="0" err="1">
                <a:latin typeface="Times New Roman" panose="02020603050405020304" pitchFamily="18" charset="0"/>
                <a:cs typeface="Times New Roman" panose="02020603050405020304" pitchFamily="18" charset="0"/>
              </a:rPr>
              <a:t>PagedAttention</a:t>
            </a:r>
            <a:r>
              <a:rPr lang="en-US" altLang="zh-CN" sz="2400" dirty="0">
                <a:latin typeface="Times New Roman" panose="02020603050405020304" pitchFamily="18" charset="0"/>
                <a:cs typeface="Times New Roman" panose="02020603050405020304" pitchFamily="18" charset="0"/>
              </a:rPr>
              <a:t> (5 min)</a:t>
            </a:r>
          </a:p>
          <a:p>
            <a:r>
              <a:rPr lang="en-US" altLang="zh-CN" sz="2933" dirty="0">
                <a:latin typeface="Times New Roman" panose="02020603050405020304" pitchFamily="18" charset="0"/>
                <a:cs typeface="Times New Roman" panose="02020603050405020304" pitchFamily="18" charset="0"/>
              </a:rPr>
              <a:t>Conclusions (2 min)</a:t>
            </a:r>
          </a:p>
          <a:p>
            <a:r>
              <a:rPr lang="en-US" altLang="zh-CN" sz="2933" dirty="0">
                <a:solidFill>
                  <a:srgbClr val="FF0000"/>
                </a:solidFill>
                <a:latin typeface="Times New Roman" panose="02020603050405020304" pitchFamily="18" charset="0"/>
                <a:cs typeface="Times New Roman" panose="02020603050405020304" pitchFamily="18" charset="0"/>
              </a:rPr>
              <a:t>Q &amp; A (5 min)</a:t>
            </a:r>
          </a:p>
        </p:txBody>
      </p:sp>
      <p:sp>
        <p:nvSpPr>
          <p:cNvPr id="5" name="灯片编号占位符 1">
            <a:extLst>
              <a:ext uri="{FF2B5EF4-FFF2-40B4-BE49-F238E27FC236}">
                <a16:creationId xmlns:a16="http://schemas.microsoft.com/office/drawing/2014/main" id="{BE32FEAD-940F-6105-3846-066418BA6D45}"/>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34</a:t>
            </a:fld>
            <a:endParaRPr lang="zh-TW" altLang="en-US"/>
          </a:p>
        </p:txBody>
      </p:sp>
    </p:spTree>
    <p:extLst>
      <p:ext uri="{BB962C8B-B14F-4D97-AF65-F5344CB8AC3E}">
        <p14:creationId xmlns:p14="http://schemas.microsoft.com/office/powerpoint/2010/main" val="32820132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2899</TotalTime>
  <Words>1552</Words>
  <Application>Microsoft Office PowerPoint</Application>
  <PresentationFormat>宽屏</PresentationFormat>
  <Paragraphs>258</Paragraphs>
  <Slides>34</Slides>
  <Notes>20</Notes>
  <HiddenSlides>0</HiddenSlides>
  <MMClips>1</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34</vt:i4>
      </vt:variant>
    </vt:vector>
  </HeadingPairs>
  <TitlesOfParts>
    <vt:vector size="43" baseType="lpstr">
      <vt:lpstr>MS Sans Serif</vt:lpstr>
      <vt:lpstr>楷体</vt:lpstr>
      <vt:lpstr>Arial</vt:lpstr>
      <vt:lpstr>Calibri</vt:lpstr>
      <vt:lpstr>Calibri Light</vt:lpstr>
      <vt:lpstr>Times New Roman</vt:lpstr>
      <vt:lpstr>Wingdings</vt:lpstr>
      <vt:lpstr>NTHU UniCloud</vt:lpstr>
      <vt:lpstr>自訂設計</vt:lpstr>
      <vt:lpstr>The Breakthrough Journey of  Streaming Real-Time Speech Generation</vt:lpstr>
      <vt:lpstr>Outline</vt:lpstr>
      <vt:lpstr>Outline</vt:lpstr>
      <vt:lpstr>Introduction – Speech Generation (1/3)</vt:lpstr>
      <vt:lpstr>Introduction – Speech Generation (2/3)</vt:lpstr>
      <vt:lpstr>Introduction – Speech Generation (3/3)</vt:lpstr>
      <vt:lpstr>Outline</vt:lpstr>
      <vt:lpstr>Related Work (1/3) - Parametric TTS</vt:lpstr>
      <vt:lpstr>Related Work (2/3) - E2E Non-AR TTS </vt:lpstr>
      <vt:lpstr>Background (3/3) - Limitations</vt:lpstr>
      <vt:lpstr>Outline</vt:lpstr>
      <vt:lpstr>Outline</vt:lpstr>
      <vt:lpstr>VALL-E (1/5)</vt:lpstr>
      <vt:lpstr>VALL-E (2/5)</vt:lpstr>
      <vt:lpstr>VALL-E (3/5)</vt:lpstr>
      <vt:lpstr>VALL-E (4/5)</vt:lpstr>
      <vt:lpstr>VALL-E (5/5)</vt:lpstr>
      <vt:lpstr>Outline</vt:lpstr>
      <vt:lpstr>CosyVoice2 (1/6)</vt:lpstr>
      <vt:lpstr>CosyVoice2 (2/6)</vt:lpstr>
      <vt:lpstr>CosyVoice2 (3/6)</vt:lpstr>
      <vt:lpstr>CosyVoice2 (4/6)</vt:lpstr>
      <vt:lpstr>CosyVoice2 (5/6)</vt:lpstr>
      <vt:lpstr>CosyVoice2 (6/6)</vt:lpstr>
      <vt:lpstr>Outline</vt:lpstr>
      <vt:lpstr>vLLM/PagedAttention (1/6)</vt:lpstr>
      <vt:lpstr>vLLM/PagedAttention (2/6)</vt:lpstr>
      <vt:lpstr>vLLM/PagedAttention (3/6)</vt:lpstr>
      <vt:lpstr>vLLM/PagedAttention (4/6)</vt:lpstr>
      <vt:lpstr>vLLM/PagedAttention (5/6)</vt:lpstr>
      <vt:lpstr>vLLM/PagedAttention (6/6)</vt:lpstr>
      <vt:lpstr>Outline</vt:lpstr>
      <vt:lpstr>Conclusions</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Zihao Fang (SDS, 120090326)</cp:lastModifiedBy>
  <cp:revision>99</cp:revision>
  <dcterms:created xsi:type="dcterms:W3CDTF">2020-07-15T11:13:39Z</dcterms:created>
  <dcterms:modified xsi:type="dcterms:W3CDTF">2026-03-26T07:26:28Z</dcterms:modified>
</cp:coreProperties>
</file>