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88" r:id="rId4"/>
    <p:sldId id="289" r:id="rId6"/>
    <p:sldId id="295" r:id="rId7"/>
    <p:sldId id="296" r:id="rId8"/>
    <p:sldId id="290" r:id="rId9"/>
    <p:sldId id="297" r:id="rId10"/>
    <p:sldId id="298" r:id="rId11"/>
    <p:sldId id="291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13" r:id="rId21"/>
    <p:sldId id="314" r:id="rId22"/>
    <p:sldId id="315" r:id="rId23"/>
    <p:sldId id="316" r:id="rId24"/>
    <p:sldId id="317" r:id="rId25"/>
    <p:sldId id="318" r:id="rId26"/>
    <p:sldId id="292" r:id="rId27"/>
    <p:sldId id="311" r:id="rId28"/>
    <p:sldId id="293" r:id="rId29"/>
    <p:sldId id="294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7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6"/>
        <p:guide pos="378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5"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3pPr>
            <a:lvl4pPr>
              <a:defRPr sz="2400"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4pPr>
            <a:lvl5pPr>
              <a:defRPr sz="2135"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  <a:endParaRPr lang="en-US" altLang="zh-TW" dirty="0"/>
          </a:p>
          <a:p>
            <a:pPr lvl="1"/>
            <a:r>
              <a:rPr lang="en-US" altLang="zh-TW" dirty="0"/>
              <a:t>Second level</a:t>
            </a:r>
            <a:endParaRPr lang="en-US" altLang="zh-TW" dirty="0"/>
          </a:p>
          <a:p>
            <a:pPr lvl="2"/>
            <a:r>
              <a:rPr lang="en-US" altLang="zh-TW" dirty="0"/>
              <a:t>Third level</a:t>
            </a:r>
            <a:endParaRPr lang="en-US" altLang="zh-TW" dirty="0"/>
          </a:p>
          <a:p>
            <a:pPr lvl="3"/>
            <a:r>
              <a:rPr lang="en-US" altLang="zh-TW" dirty="0"/>
              <a:t>Fourth level</a:t>
            </a:r>
            <a:endParaRPr lang="en-US" altLang="zh-TW" dirty="0"/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5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5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TW" dirty="0"/>
              <a:t>Click to edit Master text styles</a:t>
            </a:r>
            <a:endParaRPr lang="en-US" altLang="zh-TW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  <a:endParaRPr lang="en-US" altLang="zh-TW" dirty="0"/>
          </a:p>
          <a:p>
            <a:pPr lvl="1"/>
            <a:r>
              <a:rPr lang="en-US" altLang="zh-TW" dirty="0"/>
              <a:t>Second level</a:t>
            </a:r>
            <a:endParaRPr lang="en-US" altLang="zh-TW" dirty="0"/>
          </a:p>
          <a:p>
            <a:pPr lvl="2"/>
            <a:r>
              <a:rPr lang="en-US" altLang="zh-TW" dirty="0"/>
              <a:t>Third level</a:t>
            </a:r>
            <a:endParaRPr lang="en-US" altLang="zh-TW" dirty="0"/>
          </a:p>
          <a:p>
            <a:pPr lvl="3"/>
            <a:r>
              <a:rPr lang="en-US" altLang="zh-TW" dirty="0"/>
              <a:t>Fourth level</a:t>
            </a:r>
            <a:endParaRPr lang="en-US" altLang="zh-TW" dirty="0"/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  <a:endParaRPr lang="en-US" altLang="zh-TW" dirty="0"/>
          </a:p>
          <a:p>
            <a:pPr lvl="1"/>
            <a:r>
              <a:rPr lang="en-US" altLang="zh-TW" dirty="0"/>
              <a:t>Second level</a:t>
            </a:r>
            <a:endParaRPr lang="en-US" altLang="zh-TW" dirty="0"/>
          </a:p>
          <a:p>
            <a:pPr lvl="2"/>
            <a:r>
              <a:rPr lang="en-US" altLang="zh-TW" dirty="0"/>
              <a:t>Third level</a:t>
            </a:r>
            <a:endParaRPr lang="en-US" altLang="zh-TW" dirty="0"/>
          </a:p>
          <a:p>
            <a:pPr lvl="3"/>
            <a:r>
              <a:rPr lang="en-US" altLang="zh-TW" dirty="0"/>
              <a:t>Fourth level</a:t>
            </a:r>
            <a:endParaRPr lang="en-US" altLang="zh-TW" dirty="0"/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5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  <a:endParaRPr lang="en-US" altLang="zh-TW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5"/>
            </a:lvl1pPr>
            <a:lvl2pPr>
              <a:defRPr sz="2135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  <a:endParaRPr lang="en-US" altLang="zh-TW" dirty="0"/>
          </a:p>
          <a:p>
            <a:pPr lvl="1"/>
            <a:r>
              <a:rPr lang="en-US" altLang="zh-TW" dirty="0"/>
              <a:t>Second level</a:t>
            </a:r>
            <a:endParaRPr lang="en-US" altLang="zh-TW" dirty="0"/>
          </a:p>
          <a:p>
            <a:pPr lvl="2"/>
            <a:r>
              <a:rPr lang="en-US" altLang="zh-TW" dirty="0"/>
              <a:t>Third level</a:t>
            </a:r>
            <a:endParaRPr lang="en-US" altLang="zh-TW" dirty="0"/>
          </a:p>
          <a:p>
            <a:pPr lvl="3"/>
            <a:r>
              <a:rPr lang="en-US" altLang="zh-TW" dirty="0"/>
              <a:t>Fourth level</a:t>
            </a:r>
            <a:endParaRPr lang="en-US" altLang="zh-TW" dirty="0"/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5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  <a:endParaRPr lang="en-US" altLang="zh-TW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5"/>
            </a:lvl1pPr>
            <a:lvl2pPr>
              <a:defRPr sz="2135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  <a:endParaRPr lang="en-US" altLang="zh-TW"/>
          </a:p>
          <a:p>
            <a:pPr lvl="1"/>
            <a:r>
              <a:rPr lang="en-US" altLang="zh-TW"/>
              <a:t>Second level</a:t>
            </a:r>
            <a:endParaRPr lang="en-US" altLang="zh-TW"/>
          </a:p>
          <a:p>
            <a:pPr lvl="2"/>
            <a:r>
              <a:rPr lang="en-US" altLang="zh-TW"/>
              <a:t>Third level</a:t>
            </a:r>
            <a:endParaRPr lang="en-US" altLang="zh-TW"/>
          </a:p>
          <a:p>
            <a:pPr lvl="3"/>
            <a:r>
              <a:rPr lang="en-US" altLang="zh-TW"/>
              <a:t>Fourth level</a:t>
            </a:r>
            <a:endParaRPr lang="en-US" altLang="zh-TW"/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  <a:endParaRPr lang="en-US" altLang="zh-TW"/>
          </a:p>
          <a:p>
            <a:pPr lvl="1"/>
            <a:r>
              <a:rPr lang="en-US" altLang="zh-TW"/>
              <a:t>Second level</a:t>
            </a:r>
            <a:endParaRPr lang="en-US" altLang="zh-TW"/>
          </a:p>
          <a:p>
            <a:pPr lvl="2"/>
            <a:r>
              <a:rPr lang="en-US" altLang="zh-TW"/>
              <a:t>Third level</a:t>
            </a:r>
            <a:endParaRPr lang="en-US" altLang="zh-TW"/>
          </a:p>
          <a:p>
            <a:pPr lvl="3"/>
            <a:r>
              <a:rPr lang="en-US" altLang="zh-TW"/>
              <a:t>Fourth level</a:t>
            </a:r>
            <a:endParaRPr lang="en-US" altLang="zh-TW"/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  <a:endParaRPr lang="en-US" altLang="zh-TW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  <a:endParaRPr lang="en-US" altLang="zh-TW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  <a:endParaRPr lang="en-US" altLang="zh-TW"/>
          </a:p>
          <a:p>
            <a:pPr lvl="1"/>
            <a:r>
              <a:rPr lang="en-US" altLang="zh-TW"/>
              <a:t>Second level</a:t>
            </a:r>
            <a:endParaRPr lang="en-US" altLang="zh-TW"/>
          </a:p>
          <a:p>
            <a:pPr lvl="2"/>
            <a:r>
              <a:rPr lang="en-US" altLang="zh-TW"/>
              <a:t>Third level</a:t>
            </a:r>
            <a:endParaRPr lang="en-US" altLang="zh-TW"/>
          </a:p>
          <a:p>
            <a:pPr lvl="3"/>
            <a:r>
              <a:rPr lang="en-US" altLang="zh-TW"/>
              <a:t>Fourth level</a:t>
            </a:r>
            <a:endParaRPr lang="en-US" altLang="zh-TW"/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  <a:endParaRPr lang="en-US" altLang="zh-TW"/>
          </a:p>
          <a:p>
            <a:pPr lvl="1"/>
            <a:r>
              <a:rPr lang="en-US" altLang="zh-TW"/>
              <a:t>Second level</a:t>
            </a:r>
            <a:endParaRPr lang="en-US" altLang="zh-TW"/>
          </a:p>
          <a:p>
            <a:pPr lvl="2"/>
            <a:r>
              <a:rPr lang="en-US" altLang="zh-TW"/>
              <a:t>Third level</a:t>
            </a:r>
            <a:endParaRPr lang="en-US" altLang="zh-TW"/>
          </a:p>
          <a:p>
            <a:pPr lvl="3"/>
            <a:r>
              <a:rPr lang="en-US" altLang="zh-TW"/>
              <a:t>Fourth level</a:t>
            </a:r>
            <a:endParaRPr lang="en-US" altLang="zh-TW"/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 hasCustomPrompt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5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3.png"/><Relationship Id="rId15" Type="http://schemas.openxmlformats.org/officeDocument/2006/relationships/image" Target="../media/image2.jpeg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anose="020B0604020202020204" pitchFamily="34" charset="0"/>
              <a:ea typeface="PMingLiU" pitchFamily="18" charset="-120"/>
              <a:cs typeface="Arial" panose="020B0604020202020204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PMingLiU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PMingLiU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charset="0"/>
                <a:ea typeface="PMingLiU" pitchFamily="18" charset="-120"/>
                <a:cs typeface="Times New Roman" panose="02020603050405020304" pitchFamily="18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anose="020F050202020403020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charset="0"/>
          <a:ea typeface="標楷體" pitchFamily="65" charset="-120"/>
          <a:cs typeface="MS Sans Serif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anose="05000000000000000000" pitchFamily="2" charset="2"/>
        <a:buChar char="l"/>
        <a:defRPr kumimoji="1" sz="3735">
          <a:solidFill>
            <a:schemeClr val="tx1"/>
          </a:solidFill>
          <a:latin typeface="Calibri" panose="020F0502020204030204" charset="0"/>
          <a:ea typeface="標楷體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panose="020B0604020202020204" pitchFamily="34" charset="0"/>
        <a:buChar char="–"/>
        <a:defRPr kumimoji="1" sz="3200">
          <a:solidFill>
            <a:schemeClr val="tx1"/>
          </a:solidFill>
          <a:latin typeface="Calibri" panose="020F0502020204030204" charset="0"/>
          <a:ea typeface="標楷體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1481" y="1769430"/>
            <a:ext cx="11396871" cy="1882455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rgbClr val="244A8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System Design for Large-Scale</a:t>
            </a:r>
            <a:br>
              <a:rPr lang="en-US" sz="3600" dirty="0"/>
            </a:br>
            <a:r>
              <a:rPr lang="en-US" sz="3600" dirty="0">
                <a:solidFill>
                  <a:srgbClr val="244A8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Reinforcement Learning Workloads</a:t>
            </a:r>
            <a:b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zh-TW" altLang="en-US" sz="3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55632"/>
            <a:ext cx="8534400" cy="1882455"/>
          </a:xfrm>
        </p:spPr>
        <p:txBody>
          <a:bodyPr/>
          <a:lstStyle/>
          <a:p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hujiao Wang</a:t>
            </a: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3200" dirty="0"/>
              <a:t>School of </a:t>
            </a:r>
            <a:r>
              <a:rPr lang="en-US" altLang="zh-CN" sz="3200" dirty="0"/>
              <a:t>Data </a:t>
            </a:r>
            <a:r>
              <a:rPr lang="en-US" altLang="zh-TW" sz="3200" dirty="0"/>
              <a:t>Science</a:t>
            </a:r>
            <a:endParaRPr lang="en-US" altLang="zh-TW" sz="3200" dirty="0"/>
          </a:p>
          <a:p>
            <a:r>
              <a:rPr lang="en-US" altLang="zh-TW" sz="3200" dirty="0"/>
              <a:t>Chinese University of Hong Kong, Shenzhen</a:t>
            </a:r>
            <a:endParaRPr lang="en-US" altLang="zh-TW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(2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(3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(18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IMPALA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SEED RL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Factory (6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(2 min)</a:t>
            </a:r>
            <a:endParaRPr lang="en-US" altLang="zh-TW" sz="293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(3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(18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IMPALA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SEED RL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Factory (6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2425" y="2381250"/>
            <a:ext cx="6628130" cy="28733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</a:rPr>
              <a:t>Introduction (1/2)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35890" y="2798445"/>
            <a:ext cx="5568315" cy="2303780"/>
          </a:xfrm>
        </p:spPr>
        <p:txBody>
          <a:bodyPr/>
          <a:lstStyle/>
          <a:p>
            <a:pPr lvl="1" latinLnBrk="0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interacts with an environment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latinLnBrk="0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actions and receives rewards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latinLnBrk="0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to maximize long-term reward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028950" y="1259205"/>
            <a:ext cx="5952490" cy="5835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p>
            <a:r>
              <a:rPr kumimoji="1"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  <a:sym typeface="+mn-ea"/>
              </a:rPr>
              <a:t>What is Reinforcement Learning?</a:t>
            </a:r>
            <a:endParaRPr kumimoji="1" lang="en-US" altLang="zh-CN" sz="3200" b="1" dirty="0" smtClean="0">
              <a:solidFill>
                <a:schemeClr val="tx1"/>
              </a:solidFill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</a:rPr>
              <a:t>Introduction (2/2)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25537"/>
            <a:ext cx="10594109" cy="4831917"/>
          </a:xfrm>
        </p:spPr>
        <p:txBody>
          <a:bodyPr/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Reinforcement Learning Difficult?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Rewards can be sparse or delayed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 must balance exploration and exploitation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often requires massive interaction with the environment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555" y="3142615"/>
            <a:ext cx="10677525" cy="28149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(2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(3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(18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IMPALA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SEED RL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Factory (6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</a:rPr>
              <a:t>Background &amp; Motivation (1/2)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sp>
        <p:nvSpPr>
          <p:cNvPr id="3" name="内容占位符 5"/>
          <p:cNvSpPr txBox="1"/>
          <p:nvPr/>
        </p:nvSpPr>
        <p:spPr bwMode="auto">
          <a:xfrm>
            <a:off x="527050" y="1270000"/>
            <a:ext cx="9876155" cy="1855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RL is increasingly a system problem</a:t>
            </a:r>
            <a:endParaRPr lang="en-US" altLang="zh-CN" sz="2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 training combines simulation, inference, and learning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stages run at very different speeds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coordination leads to idle CPUs / GPUs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0" y="3176270"/>
            <a:ext cx="10536555" cy="2536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</a:rPr>
              <a:t>Background &amp; Motivation (2/2)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sp>
        <p:nvSpPr>
          <p:cNvPr id="3" name="内容占位符 5"/>
          <p:cNvSpPr txBox="1"/>
          <p:nvPr/>
        </p:nvSpPr>
        <p:spPr bwMode="auto">
          <a:xfrm>
            <a:off x="624840" y="1407795"/>
            <a:ext cx="9876155" cy="18040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system design matters in RL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RL is a systems workload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depends on how computation is organized 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motivates comparing different system designs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695" y="3515995"/>
            <a:ext cx="9901555" cy="1733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(2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(3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(18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IMPALA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SEED RL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Factory (6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8440" y="1610360"/>
            <a:ext cx="6593840" cy="31705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</a:rPr>
              <a:t>IMPALA (1/4)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66370" y="1545590"/>
            <a:ext cx="5828030" cy="4591685"/>
          </a:xfrm>
        </p:spPr>
        <p:txBody>
          <a:bodyPr/>
          <a:lstStyle/>
          <a:p>
            <a:pPr lvl="1" latinLnBrk="0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rgbClr val="11111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  <a:sym typeface="+mn-ea"/>
              </a:rPr>
              <a:t>Goal: scale RL training to many actors and many tasks.</a:t>
            </a:r>
            <a:endParaRPr lang="en-US" altLang="zh-CN" sz="2000" dirty="0">
              <a:solidFill>
                <a:srgbClr val="111111"/>
              </a:solidFill>
              <a:latin typeface="Times New Roman" panose="02020603050405020304" pitchFamily="18" charset="0"/>
              <a:ea typeface="Arial" panose="020B0604020202020204" pitchFamily="34" charset="-122"/>
              <a:cs typeface="Times New Roman" panose="02020603050405020304" pitchFamily="18" charset="0"/>
              <a:sym typeface="+mn-ea"/>
            </a:endParaRPr>
          </a:p>
          <a:p>
            <a:pPr lvl="1" latinLnBrk="0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rgbClr val="11111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  <a:sym typeface="+mn-ea"/>
              </a:rPr>
              <a:t>Actors generate experience and send trajectories to the learner.</a:t>
            </a:r>
            <a:endParaRPr lang="en-US" altLang="zh-CN" sz="2000" dirty="0">
              <a:solidFill>
                <a:srgbClr val="111111"/>
              </a:solidFill>
              <a:latin typeface="Times New Roman" panose="02020603050405020304" pitchFamily="18" charset="0"/>
              <a:ea typeface="Arial" panose="020B0604020202020204" pitchFamily="34" charset="-122"/>
              <a:cs typeface="Times New Roman" panose="02020603050405020304" pitchFamily="18" charset="0"/>
              <a:sym typeface="+mn-ea"/>
            </a:endParaRPr>
          </a:p>
          <a:p>
            <a:pPr lvl="1" latinLnBrk="0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rgbClr val="111111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  <a:sym typeface="+mn-ea"/>
              </a:rPr>
              <a:t>The learner updates one shared policy from batched data.</a:t>
            </a:r>
            <a:endParaRPr lang="en-US" altLang="zh-CN" sz="2000" dirty="0">
              <a:solidFill>
                <a:srgbClr val="111111"/>
              </a:solidFill>
              <a:latin typeface="Times New Roman" panose="02020603050405020304" pitchFamily="18" charset="0"/>
              <a:ea typeface="Arial" panose="020B0604020202020204" pitchFamily="34" charset="-122"/>
              <a:cs typeface="Times New Roman" panose="02020603050405020304" pitchFamily="18" charset="0"/>
              <a:sym typeface="+mn-ea"/>
            </a:endParaRPr>
          </a:p>
          <a:p>
            <a:pPr lvl="1" latinLnBrk="0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Decoupling acting and learning improves throughput and scalability.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latinLnBrk="0">
              <a:lnSpc>
                <a:spcPct val="150000"/>
              </a:lnSpc>
              <a:spcBef>
                <a:spcPts val="0"/>
              </a:spcBef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sp>
        <p:nvSpPr>
          <p:cNvPr id="12" name="Shape 7"/>
          <p:cNvSpPr/>
          <p:nvPr/>
        </p:nvSpPr>
        <p:spPr>
          <a:xfrm>
            <a:off x="6652260" y="5078095"/>
            <a:ext cx="4154805" cy="479425"/>
          </a:xfrm>
          <a:prstGeom prst="roundRect">
            <a:avLst>
              <a:gd name="adj" fmla="val 9231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990099"/>
            </a:solidFill>
            <a:prstDash val="solid"/>
          </a:ln>
        </p:spPr>
        <p:txBody>
          <a:bodyPr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   decouple acting and learning</a:t>
            </a:r>
            <a:endParaRPr lang="en-US" altLang="en-US" sz="2000" b="1" dirty="0">
              <a:solidFill>
                <a:srgbClr val="FF0000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</a:rPr>
              <a:t>IMPALA (2/4)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0570" y="1769110"/>
            <a:ext cx="5980430" cy="2646680"/>
          </a:xfrm>
          <a:prstGeom prst="rect">
            <a:avLst/>
          </a:prstGeom>
        </p:spPr>
      </p:pic>
      <p:sp>
        <p:nvSpPr>
          <p:cNvPr id="7" name="内容占位符 5"/>
          <p:cNvSpPr txBox="1"/>
          <p:nvPr/>
        </p:nvSpPr>
        <p:spPr bwMode="auto">
          <a:xfrm>
            <a:off x="108585" y="1501775"/>
            <a:ext cx="5697220" cy="35356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Decoupling Improves Throughput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 A2C-style training stalls at synchronization points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environment workers delay the whole batch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IMPALA removes this bottleneck with asynchronous actors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6176010" y="4826635"/>
            <a:ext cx="5434965" cy="478790"/>
          </a:xfrm>
          <a:prstGeom prst="roundRect">
            <a:avLst>
              <a:gd name="adj" fmla="val 9231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990099"/>
            </a:solidFill>
            <a:prstDash val="solid"/>
          </a:ln>
        </p:spPr>
        <p:txBody>
          <a:bodyPr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   </a:t>
            </a: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Less synchronization means higher throughput.</a:t>
            </a:r>
            <a:endParaRPr lang="en-US" altLang="zh-CN" sz="1600" b="1" dirty="0">
              <a:solidFill>
                <a:srgbClr val="FF0000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</a:rPr>
              <a:t>IMPALA (3/4)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sp>
        <p:nvSpPr>
          <p:cNvPr id="7" name="内容占位符 5"/>
          <p:cNvSpPr txBox="1"/>
          <p:nvPr/>
        </p:nvSpPr>
        <p:spPr bwMode="auto">
          <a:xfrm>
            <a:off x="528320" y="1085850"/>
            <a:ext cx="8998585" cy="20948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Lag and V-trace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Decoupling actors and learners introduces policy lag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Trajectories are generated by an older behavior policy μ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V-trace reweights these trajectories to safely update the target policy π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205" y="3180715"/>
            <a:ext cx="9739630" cy="27197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</a:rPr>
              <a:t>IMPALA (4/4)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05" y="3117215"/>
            <a:ext cx="4458335" cy="29571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875" y="3117215"/>
            <a:ext cx="4352290" cy="3006725"/>
          </a:xfrm>
          <a:prstGeom prst="rect">
            <a:avLst/>
          </a:prstGeom>
        </p:spPr>
      </p:pic>
      <p:sp>
        <p:nvSpPr>
          <p:cNvPr id="9" name="内容占位符 5"/>
          <p:cNvSpPr txBox="1"/>
          <p:nvPr/>
        </p:nvSpPr>
        <p:spPr bwMode="auto">
          <a:xfrm>
            <a:off x="528320" y="1085850"/>
            <a:ext cx="10924540" cy="20948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Throughput Translates into Better Learning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IMPALA reaches both high final performance and fast convergence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wall-clock plot is the key result: higher throughput leads to much faster learning in practice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that better RL system design can directly improve algorithmic efficiency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165" y="4550410"/>
            <a:ext cx="2172335" cy="60452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635" y="5283200"/>
            <a:ext cx="1760855" cy="5289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</a:rPr>
              <a:t>SEED RL (1/5)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830" y="1410970"/>
            <a:ext cx="5894070" cy="4036060"/>
          </a:xfrm>
          <a:prstGeom prst="rect">
            <a:avLst/>
          </a:prstGeom>
        </p:spPr>
      </p:pic>
      <p:sp>
        <p:nvSpPr>
          <p:cNvPr id="7" name="内容占位符 5"/>
          <p:cNvSpPr txBox="1"/>
          <p:nvPr/>
        </p:nvSpPr>
        <p:spPr bwMode="auto">
          <a:xfrm>
            <a:off x="232410" y="1313180"/>
            <a:ext cx="5355590" cy="38182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move inference to where accelerators already are?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IMPALA, each actor still runs policy inference locally.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scales well, but becomes inefficient as models grow larger and more expensive.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 RL rethinks the system design by reorganizing where inference happens.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8720" y="1216025"/>
            <a:ext cx="5492115" cy="44259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  <a:sym typeface="+mn-ea"/>
              </a:rPr>
              <a:t>SEED RL (2/5)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sp>
        <p:nvSpPr>
          <p:cNvPr id="7" name="内容占位符 5"/>
          <p:cNvSpPr txBox="1"/>
          <p:nvPr/>
        </p:nvSpPr>
        <p:spPr bwMode="auto">
          <a:xfrm>
            <a:off x="187960" y="1570990"/>
            <a:ext cx="6131560" cy="38182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SEED’s Core Design: Centralized Inference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Actors only run environments and send observations to the learner.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learner performs inference and training, then sends actions back.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enables large batched inference and better accelerator utilization.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  <a:sym typeface="+mn-ea"/>
              </a:rPr>
              <a:t>SEED RL (3/5)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sp>
        <p:nvSpPr>
          <p:cNvPr id="7" name="内容占位符 5"/>
          <p:cNvSpPr txBox="1"/>
          <p:nvPr/>
        </p:nvSpPr>
        <p:spPr bwMode="auto">
          <a:xfrm>
            <a:off x="260985" y="1534795"/>
            <a:ext cx="6375400" cy="482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Inference Comes with a Trade-off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Centralizing inference improves efficiency, but changes how policy lag appears.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SEED, one trajectory may contain actions from multiple nearby policy versions.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shows this remains near on-policy in practice while delivering large systems gains.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790" y="1216025"/>
            <a:ext cx="5052695" cy="23888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790" y="3676015"/>
            <a:ext cx="5114290" cy="20408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7350" y="1678940"/>
            <a:ext cx="6485255" cy="34994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  <a:sym typeface="+mn-ea"/>
              </a:rPr>
              <a:t>SEED RL (4/5)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sp>
        <p:nvSpPr>
          <p:cNvPr id="7" name="内容占位符 5"/>
          <p:cNvSpPr txBox="1"/>
          <p:nvPr/>
        </p:nvSpPr>
        <p:spPr bwMode="auto">
          <a:xfrm>
            <a:off x="50800" y="1761490"/>
            <a:ext cx="5546725" cy="31457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Centralized Inference Practical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is batched on accelerator hardware.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Trajectories are stored and queued efficiently.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continuously updates the same learner-side model.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21145" y="5178108"/>
            <a:ext cx="1986280" cy="36830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none" rtlCol="0" anchor="ctr" anchorCtr="1">
            <a:spAutoFit/>
          </a:bodyPr>
          <a:p>
            <a:pPr algn="l"/>
            <a:r>
              <a:rPr lang="en-US" altLang="zh-CN" dirty="0" smtClean="0">
                <a:ea typeface="標楷體" pitchFamily="65" charset="-120"/>
                <a:cs typeface="Calibri" panose="020F0502020204030204" charset="0"/>
              </a:rPr>
              <a:t>Inference pipeline</a:t>
            </a:r>
            <a:endParaRPr lang="en-US" altLang="zh-CN" dirty="0" smtClean="0">
              <a:ea typeface="標楷體" pitchFamily="65" charset="-120"/>
              <a:cs typeface="Calibri" panose="020F0502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589135" y="5178108"/>
            <a:ext cx="2040890" cy="36830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none" rtlCol="0" anchor="ctr" anchorCtr="1">
            <a:spAutoFit/>
          </a:bodyPr>
          <a:p>
            <a:pPr algn="l"/>
            <a:r>
              <a:rPr lang="en-US" altLang="zh-CN" dirty="0" smtClean="0">
                <a:ea typeface="標楷體" pitchFamily="65" charset="-120"/>
                <a:cs typeface="Calibri" panose="020F0502020204030204" charset="0"/>
              </a:rPr>
              <a:t>Trajectory pipeline</a:t>
            </a:r>
            <a:endParaRPr lang="en-US" altLang="zh-CN" dirty="0" smtClean="0">
              <a:ea typeface="標楷體" pitchFamily="65" charset="-120"/>
              <a:cs typeface="Calibri" panose="020F0502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107805" y="1310640"/>
            <a:ext cx="1850390" cy="36830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none" rtlCol="0" anchor="ctr" anchorCtr="1">
            <a:spAutoFit/>
          </a:bodyPr>
          <a:p>
            <a:pPr algn="l"/>
            <a:r>
              <a:rPr lang="en-US" altLang="zh-CN" dirty="0" smtClean="0">
                <a:ea typeface="標楷體" pitchFamily="65" charset="-120"/>
                <a:cs typeface="Calibri" panose="020F0502020204030204" charset="0"/>
              </a:rPr>
              <a:t>Training pipeline</a:t>
            </a:r>
            <a:endParaRPr lang="en-US" altLang="zh-CN" dirty="0" smtClean="0">
              <a:ea typeface="標楷體" pitchFamily="65" charset="-12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  <a:sym typeface="+mn-ea"/>
              </a:rPr>
              <a:t>SEED RL (5/5)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sp>
        <p:nvSpPr>
          <p:cNvPr id="7" name="内容占位符 5"/>
          <p:cNvSpPr txBox="1"/>
          <p:nvPr/>
        </p:nvSpPr>
        <p:spPr bwMode="auto">
          <a:xfrm>
            <a:off x="528320" y="916305"/>
            <a:ext cx="11004550" cy="19799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Faster and More Efficient RL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 maintains similar sample efficiency to IMPALA.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wall-clock time, it learns much faster through centralized batched inference.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speedup becomes larger with more accelerator resources.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0" y="2976245"/>
            <a:ext cx="8221345" cy="31883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4625" y="4980305"/>
            <a:ext cx="2660650" cy="5143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805" y="5494655"/>
            <a:ext cx="2660015" cy="4679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  <a:sym typeface="+mn-ea"/>
              </a:rPr>
              <a:t>Sample Factory (1/5)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sp>
        <p:nvSpPr>
          <p:cNvPr id="7" name="内容占位符 5"/>
          <p:cNvSpPr txBox="1"/>
          <p:nvPr/>
        </p:nvSpPr>
        <p:spPr bwMode="auto">
          <a:xfrm>
            <a:off x="195580" y="1426210"/>
            <a:ext cx="5798185" cy="38182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High-Throughput RL on a Single Machine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large-scale Rl systems focus on distributed infrastructure.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factory ask how far single-node optimization can go.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maxmize CPU/GPU utilization and reduce idle time.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3145" y="1158240"/>
            <a:ext cx="5575300" cy="46583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  <a:sym typeface="+mn-ea"/>
              </a:rPr>
              <a:t>Sample Factory</a:t>
            </a:r>
            <a:r>
              <a:rPr lang="en-US" altLang="zh-CN" dirty="0">
                <a:ea typeface="Calibri" panose="020F0502020204030204" charset="0"/>
                <a:cs typeface="Calibri" panose="020F0502020204030204" charset="0"/>
                <a:sym typeface="+mn-ea"/>
              </a:rPr>
              <a:t> (2/5)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sp>
        <p:nvSpPr>
          <p:cNvPr id="7" name="内容占位符 5"/>
          <p:cNvSpPr txBox="1"/>
          <p:nvPr/>
        </p:nvSpPr>
        <p:spPr bwMode="auto">
          <a:xfrm>
            <a:off x="528320" y="971550"/>
            <a:ext cx="8723630" cy="20872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Overview: Rollout, Inference, Learning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Rollout workers step environments and collect observations.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workers run batched GPU inference and return actions.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learner updates the model using completed trajectories.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350" y="3018155"/>
            <a:ext cx="7374890" cy="31305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480" y="4497705"/>
            <a:ext cx="2469515" cy="5880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645" y="5173345"/>
            <a:ext cx="2289810" cy="5232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  <a:sym typeface="+mn-ea"/>
              </a:rPr>
              <a:t>Sample Factory</a:t>
            </a:r>
            <a:r>
              <a:rPr lang="en-US" altLang="zh-CN" dirty="0">
                <a:ea typeface="Calibri" panose="020F0502020204030204" charset="0"/>
                <a:cs typeface="Calibri" panose="020F0502020204030204" charset="0"/>
                <a:sym typeface="+mn-ea"/>
              </a:rPr>
              <a:t> (3/5)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sp>
        <p:nvSpPr>
          <p:cNvPr id="7" name="内容占位符 5"/>
          <p:cNvSpPr txBox="1"/>
          <p:nvPr/>
        </p:nvSpPr>
        <p:spPr bwMode="auto">
          <a:xfrm>
            <a:off x="528320" y="1085850"/>
            <a:ext cx="10505440" cy="20662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Three-Stage Asynchronous Pipeline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pipeline is split into rollout, inference, and learning stages.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stages run asynchronously instead of sequentially.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environment stepping and GPU inference can overlap in time.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4530" y="3095625"/>
            <a:ext cx="8300720" cy="30238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  <a:sym typeface="+mn-ea"/>
              </a:rPr>
              <a:t>Sample Factory</a:t>
            </a:r>
            <a:r>
              <a:rPr lang="en-US" altLang="zh-CN" dirty="0">
                <a:ea typeface="Calibri" panose="020F0502020204030204" charset="0"/>
                <a:cs typeface="Calibri" panose="020F0502020204030204" charset="0"/>
                <a:sym typeface="+mn-ea"/>
              </a:rPr>
              <a:t> (4/5)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sp>
        <p:nvSpPr>
          <p:cNvPr id="7" name="内容占位符 5"/>
          <p:cNvSpPr txBox="1"/>
          <p:nvPr/>
        </p:nvSpPr>
        <p:spPr bwMode="auto">
          <a:xfrm>
            <a:off x="398145" y="1520190"/>
            <a:ext cx="5059680" cy="38182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Double-Buffered Sampling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rollout worker manages multiple environments.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environments are split into two alternating groups.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one group waits for actions, the other continues environment stepping.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7200" y="1257935"/>
            <a:ext cx="6193155" cy="43421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4035" y="2456180"/>
            <a:ext cx="2600960" cy="32956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  <a:sym typeface="+mn-ea"/>
              </a:rPr>
              <a:t>Sample Factory</a:t>
            </a:r>
            <a:r>
              <a:rPr lang="en-US" altLang="zh-CN" dirty="0">
                <a:ea typeface="Calibri" panose="020F0502020204030204" charset="0"/>
                <a:cs typeface="Calibri" panose="020F0502020204030204" charset="0"/>
                <a:sym typeface="+mn-ea"/>
              </a:rPr>
              <a:t> (5/5)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sp>
        <p:nvSpPr>
          <p:cNvPr id="7" name="内容占位符 5"/>
          <p:cNvSpPr txBox="1"/>
          <p:nvPr/>
        </p:nvSpPr>
        <p:spPr bwMode="auto">
          <a:xfrm>
            <a:off x="528320" y="896620"/>
            <a:ext cx="7668260" cy="1559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High Throughput without Scaling Out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FPS than prior RL systems across major RL benchmarks.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Gains come from better overlap, batching, and utilization.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5" y="2456180"/>
            <a:ext cx="9212580" cy="346329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(2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(3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(18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IMPALA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SEED RL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Factory (6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</a:rPr>
              <a:t>Conclusion 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925" y="1334770"/>
            <a:ext cx="8906510" cy="2618105"/>
          </a:xfrm>
          <a:prstGeom prst="rect">
            <a:avLst/>
          </a:prstGeom>
        </p:spPr>
      </p:pic>
      <p:sp>
        <p:nvSpPr>
          <p:cNvPr id="7" name="内容占位符 5"/>
          <p:cNvSpPr txBox="1"/>
          <p:nvPr/>
        </p:nvSpPr>
        <p:spPr bwMode="auto">
          <a:xfrm>
            <a:off x="1006475" y="3952875"/>
            <a:ext cx="10505440" cy="20662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charset="0"/>
                <a:ea typeface="標楷體" pitchFamily="65" charset="-120"/>
                <a:cs typeface="Calibri" panose="020F050202020403020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as the Driver of RL Efficiency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increasingly determines RL throughput and wall-clock performance.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comes from reducing waiting, communication, and hardware under-utilization.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broader trend is algorithm–system co-design, not just more compute.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(2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(3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(18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IMPALA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SEED RL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Factory (6 min)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(2 min)</a:t>
            </a:r>
            <a:endParaRPr lang="en-US" altLang="zh-CN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 (5 min)</a:t>
            </a:r>
            <a:endParaRPr lang="en-US" altLang="zh-CN" sz="293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</a:rPr>
              <a:t>Q&amp;A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</a:fld>
            <a:endParaRPr lang="zh-TW" altLang="en-US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2715895" y="2943225"/>
            <a:ext cx="6759575" cy="692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anose="020F050202020403020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anose="020F050202020403020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anose="020F050202020403020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anose="020F050202020403020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anose="020F0502020204030204" charset="0"/>
                <a:ea typeface="標楷體" pitchFamily="65" charset="-120"/>
                <a:cs typeface="MS Sans Serif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dirty="0">
                <a:ea typeface="Calibri" panose="020F0502020204030204" charset="0"/>
                <a:cs typeface="Calibri" panose="020F0502020204030204" charset="0"/>
              </a:rPr>
              <a:t>Thanks For Your Listening!</a:t>
            </a:r>
            <a:endParaRPr lang="en-US" dirty="0">
              <a:ea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PMingLiU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anose="020F050202020403020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5938</Words>
  <Application>WPS 演示</Application>
  <PresentationFormat>宽屏</PresentationFormat>
  <Paragraphs>272</Paragraphs>
  <Slides>27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PMingLiU</vt:lpstr>
      <vt:lpstr>MingLiU-ExtB</vt:lpstr>
      <vt:lpstr>標楷體</vt:lpstr>
      <vt:lpstr>楷体</vt:lpstr>
      <vt:lpstr>Times New Roman</vt:lpstr>
      <vt:lpstr>等线</vt:lpstr>
      <vt:lpstr>MS Sans Serif</vt:lpstr>
      <vt:lpstr>Segoe Print</vt:lpstr>
      <vt:lpstr>Arial</vt:lpstr>
      <vt:lpstr>Arial</vt:lpstr>
      <vt:lpstr>PMingLiU</vt:lpstr>
      <vt:lpstr>PMingLiU</vt:lpstr>
      <vt:lpstr>NTHU UniCloud</vt:lpstr>
      <vt:lpstr>Scaling Graph Neural Networks: Innovations in Distributed and Decentralized Training for Billion-Scale Graphs  2024.11.28</vt:lpstr>
      <vt:lpstr>Outline</vt:lpstr>
      <vt:lpstr>Outline</vt:lpstr>
      <vt:lpstr>Introduction – GNN (1/3)</vt:lpstr>
      <vt:lpstr>Introduction – RL (1/2)</vt:lpstr>
      <vt:lpstr>Outline</vt:lpstr>
      <vt:lpstr>Background &amp; Motivation (1/4)</vt:lpstr>
      <vt:lpstr>Background &amp; Motivation (1/4)</vt:lpstr>
      <vt:lpstr>Outline</vt:lpstr>
      <vt:lpstr>Introduction (1/2)</vt:lpstr>
      <vt:lpstr>Introduction (1/2)</vt:lpstr>
      <vt:lpstr>Introduction (1/2)</vt:lpstr>
      <vt:lpstr>Introduction (1/2)</vt:lpstr>
      <vt:lpstr>Introduction (1/2)</vt:lpstr>
      <vt:lpstr>Introduction (1/2)</vt:lpstr>
      <vt:lpstr>Introduction (1/2)</vt:lpstr>
      <vt:lpstr>Introduction (1/2)</vt:lpstr>
      <vt:lpstr>SEED RL (4/5)</vt:lpstr>
      <vt:lpstr>SEED RL (4/5)</vt:lpstr>
      <vt:lpstr>SEED RL (4/5)</vt:lpstr>
      <vt:lpstr>SEED RL (4/5)</vt:lpstr>
      <vt:lpstr>SEED RL (4/5)</vt:lpstr>
      <vt:lpstr>SEED RL (4/5)</vt:lpstr>
      <vt:lpstr>Outline</vt:lpstr>
      <vt:lpstr>Introduction (1/2)</vt:lpstr>
      <vt:lpstr>Outline</vt:lpstr>
      <vt:lpstr>Q&amp;A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ฅ</cp:lastModifiedBy>
  <cp:revision>162</cp:revision>
  <dcterms:created xsi:type="dcterms:W3CDTF">2019-06-19T02:08:00Z</dcterms:created>
  <dcterms:modified xsi:type="dcterms:W3CDTF">2026-03-31T23:03:09Z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2052-12.1.0.25835</vt:lpwstr>
  </property>
  <property fmtid="{D5CDD505-2E9C-101B-9397-08002B2CF9AE}" pid="3" name="ICV">
    <vt:lpwstr>88C3AB0FCE5B47308B8062D1ACE177A6_11</vt:lpwstr>
  </property>
</Properties>
</file>