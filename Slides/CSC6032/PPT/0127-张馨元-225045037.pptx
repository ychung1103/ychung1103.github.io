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26"/>
  </p:notesMasterIdLst>
  <p:sldIdLst>
    <p:sldId id="256" r:id="rId3"/>
    <p:sldId id="258" r:id="rId4"/>
    <p:sldId id="289" r:id="rId5"/>
    <p:sldId id="516" r:id="rId6"/>
    <p:sldId id="519" r:id="rId7"/>
    <p:sldId id="517" r:id="rId8"/>
    <p:sldId id="518" r:id="rId9"/>
    <p:sldId id="521" r:id="rId10"/>
    <p:sldId id="520" r:id="rId11"/>
    <p:sldId id="522" r:id="rId12"/>
    <p:sldId id="524" r:id="rId13"/>
    <p:sldId id="525" r:id="rId14"/>
    <p:sldId id="526" r:id="rId15"/>
    <p:sldId id="527" r:id="rId16"/>
    <p:sldId id="528" r:id="rId17"/>
    <p:sldId id="529" r:id="rId18"/>
    <p:sldId id="530" r:id="rId19"/>
    <p:sldId id="531" r:id="rId20"/>
    <p:sldId id="532" r:id="rId21"/>
    <p:sldId id="533" r:id="rId22"/>
    <p:sldId id="534" r:id="rId23"/>
    <p:sldId id="535" r:id="rId24"/>
    <p:sldId id="536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53" autoAdjust="0"/>
    <p:restoredTop sz="93642"/>
  </p:normalViewPr>
  <p:slideViewPr>
    <p:cSldViewPr snapToGrid="0">
      <p:cViewPr varScale="1">
        <p:scale>
          <a:sx n="55" d="100"/>
          <a:sy n="55" d="100"/>
        </p:scale>
        <p:origin x="552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2026/1/31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7137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9483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989C-8117-785B-BDEE-9911B95B8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2C661-3CBA-1320-FB7D-FA38F0029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CEE90-43D1-E207-8A2A-2862CD065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47C05-9B98-B42E-D332-CA3CA04C4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069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BDA4-BE66-1E6F-59AC-9D6ECE1F7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CBBC6FC-92B6-6498-CEE8-3C376B3EC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AF7C30C-FD22-958C-32DA-08DFF06DD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007B28-D1E2-54F4-60A2-1529033C9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733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6978-335D-81F2-C7C1-B21E4BFB9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78810-4AA0-241C-3ADD-548202D9E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9EB1E-CB21-3A09-18F7-EBFF2E8A6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F227F-1AB5-6A38-1DCC-1A7F94DDE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812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D3B1-22CA-442E-E0FC-7C6D0108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B34C228-5D04-F59B-A15A-42C598FE8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F47C6DB-1405-842B-76B9-51FBF1AC1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F55FD1-A863-FEB6-9ED3-17C61F7ADE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9168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1D8C-89EB-9ECC-4B3F-D6004942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1D6EC0-A895-F114-3750-6E30C0EC4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280E9-ECFF-BB0B-CC8D-3305DF00C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7E776-1F2E-7E81-512B-C75C87D92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4339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764B5-7644-78B0-7BC4-9A176418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BE2A7-4EF9-9D2C-DBFD-8CA4DC405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4FB23-520D-A1AE-8082-E637D624E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3AE68-D935-438F-5108-74F3AEB04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6295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714D-1B6D-14AF-C99A-40245608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20C81-A63F-D9C3-AF1A-4917382B2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52DC0-45A6-A5A2-0B75-59505C164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EC3D7-F843-427F-00B9-5EF4EDB8A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431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EC087-5DB3-8E17-2AC3-E4E8AA64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CB922-8E3B-9547-C36F-ECC739239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1C866-39DA-CEDC-8907-0E54C0521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CDA1C-1C5C-84DC-0B17-D9A3065CF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0762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2B846-FEC5-A914-A5C7-7F52430A8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480F0F6-3216-6102-327C-81DEC0007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6D6E0D6-F35F-03A9-412B-A82CF3E26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D77B3D-13A1-A15B-A483-96D01E636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2510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077BB-A78F-BC82-6303-96236270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0DCF6-4802-BD98-9B3B-654AD50D8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F8996-E249-4C71-B525-590983BCF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E1638-80EC-E2BD-2F8A-F35E6F3C0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570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0283-B19B-2DE0-8023-81FCC091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DA6A2-C3A0-7638-E983-AA0B7ABD4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25962-4283-A5FE-EFDA-CFCA39D19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A0CD4-7B54-9D32-4419-E7B14C215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4647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11-1A71-AF8E-758F-2D1859D41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BC791-A457-8D9D-4255-02CD4AAB6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2CD3A-C23E-4C8A-C435-CFA8C4E45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ADE7B-C7ED-8216-5609-6EC3BA42A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007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7AE55-3353-1E8A-8A60-FBB92EEAC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F5FBF36-1052-C4E2-E191-C0E2D2B0F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BF57B14-FB11-AEC8-3C75-C74C96361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B5AA65-8A8C-09DF-007D-F01D1261D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5714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CC37-3CEF-9C97-7769-A21328E90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9CA1E-2053-781E-9BD3-1676AADF9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52128-67A6-7375-B16B-9DE342AEF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5D4F4-F4EC-4A39-BDE6-FD10995DF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2948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BC876-9A89-DBB5-9186-C5A89B97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EF8ED-100C-F251-C84F-4515F0521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3A8E5-5615-0737-7485-4E77CCA00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EF1D4-FD60-DAF5-FDAB-1C1BD89E4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578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45018-7132-5064-5DB8-AEEEABA39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28AB2-E2B8-4217-6C5B-F9ACFAD7C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AEE23-0993-081B-FCA6-44C62F54C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7C75B-2E14-2C9F-23B7-3C6AB61A4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934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897A-3587-7B25-11B7-5FD3BC714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3419551-2A36-4FC8-8C72-8DB6FF31B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89D544E-60F2-37DA-3C76-6CAD4D8DA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E683B7-63CA-A693-7C40-6CCC641D8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6513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4E64F-5984-0D4C-209A-9A8D5A57B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3B04F-42F0-CD3A-0D74-A661AD36B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C2AD0-E78E-FAC5-6B29-AEB479556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97893-A5E2-A73B-4B59-7750CFB57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9276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3048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471" y="1406845"/>
            <a:ext cx="11396871" cy="1882455"/>
          </a:xfrm>
        </p:spPr>
        <p:txBody>
          <a:bodyPr/>
          <a:lstStyle/>
          <a:p>
            <a:r>
              <a:rPr lang="en-US" dirty="0"/>
              <a:t>End-to-End AI Inference Systems for Real-Time Healthcare</a:t>
            </a:r>
            <a:br>
              <a:rPr lang="en-US" dirty="0"/>
            </a:br>
            <a:endParaRPr lang="zh-TW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Xinyuan Zhang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8F1849A-008E-6EF5-AB10-F46E38150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AI Inference Systems for Real-Time Healthcare</a:t>
            </a:r>
            <a:br>
              <a:rPr lang="en-US" dirty="0"/>
            </a:b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92B67B-1436-E4F4-D617-281427E82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5538"/>
            <a:ext cx="10972800" cy="4767262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healthcare AI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surgery assistance · ICU early warning · clinical note generation · decision support</a:t>
            </a:r>
          </a:p>
          <a:p>
            <a:pPr lvl="1"/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Shift: 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analysis → live intervention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= safety requirement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just performance)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OS matters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Mixed-criticality workloads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admin vs life-critical inference</a:t>
            </a: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compute resources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(shared CPU/GPU)</a:t>
            </a:r>
          </a:p>
          <a:p>
            <a:pPr lvl="1"/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“Polite” OS fairness 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clinical priority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Priority-aware resource allocation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scheduling · resource management · GPU prioritization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latency · reliable clinical inference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4D8AE41-E9DB-DC4B-0813-8BAB041C6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8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245E1-1A3F-104C-DEA5-07F31461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8E1A0-33F9-6EEF-460E-6554EAD39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CBA6A16-4AB7-FF78-6FCA-70654B689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2D87A21C-72D2-925A-D8A0-37860D2EA7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N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72FF9D6D-A31C-C5BA-28EA-E84DB6030A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N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BE93917C-5EAF-32F4-9A50-8258D7EC91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N"/>
          </a:p>
        </p:txBody>
      </p:sp>
      <p:pic>
        <p:nvPicPr>
          <p:cNvPr id="13" name="Picture 12" descr="A stack of colorful boxes with icons&#10;&#10;AI-generated content may be incorrect.">
            <a:extLst>
              <a:ext uri="{FF2B5EF4-FFF2-40B4-BE49-F238E27FC236}">
                <a16:creationId xmlns:a16="http://schemas.microsoft.com/office/drawing/2014/main" id="{4553BBA6-5D00-EE37-2F0E-C806E0220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7" t="13095" r="14036" b="24806"/>
          <a:stretch>
            <a:fillRect/>
          </a:stretch>
        </p:blipFill>
        <p:spPr>
          <a:xfrm>
            <a:off x="3240911" y="1169043"/>
            <a:ext cx="5497976" cy="32177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2491C6-DD01-F4B6-EE8D-D127C7E5586F}"/>
              </a:ext>
            </a:extLst>
          </p:cNvPr>
          <p:cNvSpPr txBox="1"/>
          <p:nvPr/>
        </p:nvSpPr>
        <p:spPr>
          <a:xfrm>
            <a:off x="79834" y="4605668"/>
            <a:ext cx="12032331" cy="138499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400" dirty="0"/>
              <a:t>[1] Han, M., Zhang, H., Chen, R., &amp; Chen, H. (2022). Microsecond-scale preemption for concurrent {GPU-accelerated}{DNN} inferences. In </a:t>
            </a:r>
            <a:r>
              <a:rPr lang="en-US" sz="1400" i="1" dirty="0"/>
              <a:t>16th USENIX Symposium on Operating Systems Design and Implementation (OSDI 22)</a:t>
            </a:r>
            <a:r>
              <a:rPr lang="en-US" sz="1400" dirty="0"/>
              <a:t> (pp. 539-558).</a:t>
            </a:r>
          </a:p>
          <a:p>
            <a:r>
              <a:rPr lang="en-US" sz="1400" dirty="0"/>
              <a:t>[2] Sinha, S., Dwivedi, S., &amp; Azizian, M. (2024). Towards deterministic end-to-end latency for medical AI systems in NVIDIA </a:t>
            </a:r>
            <a:r>
              <a:rPr lang="en-US" sz="1400" dirty="0" err="1"/>
              <a:t>Holoscan</a:t>
            </a:r>
            <a:r>
              <a:rPr lang="en-US" sz="1400" dirty="0"/>
              <a:t>. In 2024 ACM/IEEE 15th International Conference on Cyber-Physical Systems (ICCPS) (pp. 235–246). </a:t>
            </a:r>
          </a:p>
          <a:p>
            <a:r>
              <a:rPr lang="en-US" sz="1400" dirty="0"/>
              <a:t>[3] J., Frink, D., &amp; Chandra, A. (2025, November). </a:t>
            </a:r>
            <a:r>
              <a:rPr lang="en-US" sz="1400" dirty="0" err="1"/>
              <a:t>SneakPeek</a:t>
            </a:r>
            <a:r>
              <a:rPr lang="en-US" sz="1400" dirty="0"/>
              <a:t>: Data-Aware Model Selection and Scheduling for Inference Serving on the Edge. In </a:t>
            </a:r>
            <a:r>
              <a:rPr lang="en-US" sz="1400" i="1" dirty="0"/>
              <a:t>Proceedings of the 2025 ACM Symposium on Cloud Computing</a:t>
            </a:r>
            <a:r>
              <a:rPr lang="en-US" sz="1400" dirty="0"/>
              <a:t> (pp. 748-761).</a:t>
            </a:r>
            <a:endParaRPr lang="en-CN" sz="14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914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35566-6BBA-8775-5226-C8686A6D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DD48D3D-6CBB-A422-AE1D-863F2CD1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AI Inference Systems for Real-Time Healthcare</a:t>
            </a:r>
            <a:br>
              <a:rPr lang="en-US" dirty="0"/>
            </a:b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7A02AA7-B7CB-FD26-42D1-33EF01633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D355C3-F70D-4686-6BB2-19941FC147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203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2503-F58B-F91A-97DE-75A507AE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C4EC-2DF2-8E27-5384-39423AB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A47E-D0DD-F28D-51BF-17A7C2B7C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5538"/>
            <a:ext cx="10972800" cy="3062640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serving systems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Clipper (NSDI ’17)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low-latency prediction serving layer [1] </a:t>
            </a:r>
          </a:p>
          <a:p>
            <a:pPr lvl="1"/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Clockwork (OSDI ’20)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predictable DNN inference; tail-latency control [2] </a:t>
            </a:r>
          </a:p>
          <a:p>
            <a:pPr lvl="1"/>
            <a:r>
              <a:rPr lang="en-US" sz="14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INFaaS</a:t>
            </a:r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(ATC ’21)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“model-less” serving; dynamic model-variant selection [3]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 latency &amp; isolation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Tail at Scale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(Dean &amp; Barroso): tail dominates SLO violations [4]</a:t>
            </a:r>
          </a:p>
          <a:p>
            <a:pPr lvl="1"/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Heracles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coordinated isolation for SLOs under colocation [5]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scheduling &amp; preemption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Chimera (ASPLOS ’15)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collaborative GPU preemption; controlled multitasking [6] </a:t>
            </a:r>
          </a:p>
          <a:p>
            <a:pPr lvl="1"/>
            <a:r>
              <a:rPr lang="en-US" sz="14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Tanasic</a:t>
            </a:r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(ISCA ’14)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HW support for preemptive GPU multiprogramming [7]</a:t>
            </a:r>
          </a:p>
          <a:p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8901516-B396-B388-0B66-9A4CAE868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AC56E-45CC-DAA1-1705-4AEBE2D5088D}"/>
              </a:ext>
            </a:extLst>
          </p:cNvPr>
          <p:cNvSpPr txBox="1"/>
          <p:nvPr/>
        </p:nvSpPr>
        <p:spPr>
          <a:xfrm>
            <a:off x="79834" y="4482558"/>
            <a:ext cx="12032331" cy="1631216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000" dirty="0"/>
              <a:t>[1] Crankshaw, D., Wang, X., Zhou, G., Franklin, M. J., Gonzalez, J. E., &amp; Stoica, I. (2017). Clipper: A {Low-Latency} online prediction serving system. In </a:t>
            </a:r>
            <a:r>
              <a:rPr lang="en-US" sz="1000" i="1" dirty="0"/>
              <a:t>14th USENIX Symposium on Networked Systems Design and Implementation (NSDI 17)</a:t>
            </a:r>
            <a:r>
              <a:rPr lang="en-US" sz="1000" dirty="0"/>
              <a:t> (pp. 613-627).</a:t>
            </a:r>
          </a:p>
          <a:p>
            <a:r>
              <a:rPr lang="en-US" sz="1000" dirty="0"/>
              <a:t>[2] Gujarati, A., Karimi, R., </a:t>
            </a:r>
            <a:r>
              <a:rPr lang="en-US" sz="1000" dirty="0" err="1"/>
              <a:t>Alzayat</a:t>
            </a:r>
            <a:r>
              <a:rPr lang="en-US" sz="1000" dirty="0"/>
              <a:t>, S., Hao, W., Kaufmann, A., Vigfusson, Y., &amp; Mace, J. (2020). Serving {DNNs} like clockwork: Performance predictability from the bottom up. In </a:t>
            </a:r>
            <a:r>
              <a:rPr lang="en-US" sz="1000" i="1" dirty="0"/>
              <a:t>14th USENIX Symposium on Operating Systems Design and Implementation (OSDI 20)</a:t>
            </a:r>
            <a:r>
              <a:rPr lang="en-US" sz="1000" dirty="0"/>
              <a:t> (pp. 443-462).</a:t>
            </a:r>
          </a:p>
          <a:p>
            <a:r>
              <a:rPr lang="en-US" sz="1000" dirty="0"/>
              <a:t>[3] Romero, F., Li, Q., </a:t>
            </a:r>
            <a:r>
              <a:rPr lang="en-US" sz="1000" dirty="0" err="1"/>
              <a:t>Yadwadkar</a:t>
            </a:r>
            <a:r>
              <a:rPr lang="en-US" sz="1000" dirty="0"/>
              <a:t>, N. J., &amp; </a:t>
            </a:r>
            <a:r>
              <a:rPr lang="en-US" sz="1000" dirty="0" err="1"/>
              <a:t>Kozyrakis</a:t>
            </a:r>
            <a:r>
              <a:rPr lang="en-US" sz="1000" dirty="0"/>
              <a:t>, C. (2021). {</a:t>
            </a:r>
            <a:r>
              <a:rPr lang="en-US" sz="1000" dirty="0" err="1"/>
              <a:t>INFaaS</a:t>
            </a:r>
            <a:r>
              <a:rPr lang="en-US" sz="1000" dirty="0"/>
              <a:t>}: Automated model-less inference serving. In </a:t>
            </a:r>
            <a:r>
              <a:rPr lang="en-US" sz="1000" i="1" dirty="0"/>
              <a:t>2021 USENIX Annual Technical Conference (USENIX ATC 21)</a:t>
            </a:r>
            <a:r>
              <a:rPr lang="en-US" sz="1000" dirty="0"/>
              <a:t> (pp. 397-411).</a:t>
            </a:r>
          </a:p>
          <a:p>
            <a:r>
              <a:rPr lang="en-US" sz="1000" dirty="0"/>
              <a:t>[4] Dean, J., &amp; Barroso, L. A. (2013). The tail at scale. </a:t>
            </a:r>
            <a:r>
              <a:rPr lang="en-US" sz="1000" i="1" dirty="0"/>
              <a:t>Communications of the ACM</a:t>
            </a:r>
            <a:r>
              <a:rPr lang="en-US" sz="1000" dirty="0"/>
              <a:t>, </a:t>
            </a:r>
            <a:r>
              <a:rPr lang="en-US" sz="1000" i="1" dirty="0"/>
              <a:t>56</a:t>
            </a:r>
            <a:r>
              <a:rPr lang="en-US" sz="1000" dirty="0"/>
              <a:t>(2), 74-80.</a:t>
            </a:r>
          </a:p>
          <a:p>
            <a:r>
              <a:rPr lang="en-US" sz="1000" dirty="0"/>
              <a:t>[5] Lo, D., Cheng, L., Govindaraju, R., Ranganathan, P., &amp; </a:t>
            </a:r>
            <a:r>
              <a:rPr lang="en-US" sz="1000" dirty="0" err="1"/>
              <a:t>Kozyrakis</a:t>
            </a:r>
            <a:r>
              <a:rPr lang="en-US" sz="1000" dirty="0"/>
              <a:t>, C. (2015, June). Heracles: Improving resource efficiency at scale. In </a:t>
            </a:r>
            <a:r>
              <a:rPr lang="en-US" sz="1000" i="1" dirty="0"/>
              <a:t>Proceedings of the 42nd Annual International Symposium on Computer Architecture</a:t>
            </a:r>
            <a:r>
              <a:rPr lang="en-US" sz="1000" dirty="0"/>
              <a:t> (pp. 450-462).</a:t>
            </a:r>
          </a:p>
          <a:p>
            <a:r>
              <a:rPr lang="en-US" sz="1000" dirty="0"/>
              <a:t>[6] Park, J. J. K., Park, Y., &amp; Mahlke, S. (2015). Chimera: Collaborative preemption for multitasking on a shared GPU. </a:t>
            </a:r>
            <a:r>
              <a:rPr lang="en-US" sz="1000" i="1" dirty="0"/>
              <a:t>ACM SIGARCH Computer Architecture News</a:t>
            </a:r>
            <a:r>
              <a:rPr lang="en-US" sz="1000" dirty="0"/>
              <a:t>, </a:t>
            </a:r>
            <a:r>
              <a:rPr lang="en-US" sz="1000" i="1" dirty="0"/>
              <a:t>43</a:t>
            </a:r>
            <a:r>
              <a:rPr lang="en-US" sz="1000" dirty="0"/>
              <a:t>(1), 593-606.</a:t>
            </a:r>
          </a:p>
          <a:p>
            <a:r>
              <a:rPr lang="en-US" sz="1000" dirty="0"/>
              <a:t>[7] </a:t>
            </a:r>
            <a:r>
              <a:rPr lang="en-US" sz="1000" dirty="0" err="1"/>
              <a:t>Tanasic</a:t>
            </a:r>
            <a:r>
              <a:rPr lang="en-US" sz="1000" dirty="0"/>
              <a:t>, I., </a:t>
            </a:r>
            <a:r>
              <a:rPr lang="en-US" sz="1000" dirty="0" err="1"/>
              <a:t>Gelado</a:t>
            </a:r>
            <a:r>
              <a:rPr lang="en-US" sz="1000" dirty="0"/>
              <a:t>, I., Cabezas, J., Ramirez, A., Navarro, N., &amp; Valero, M. (2014). Enabling preemptive multiprogramming on GPUs. </a:t>
            </a:r>
            <a:r>
              <a:rPr lang="en-US" sz="1000" i="1" dirty="0"/>
              <a:t>ACM SIGARCH Computer Architecture News</a:t>
            </a:r>
            <a:r>
              <a:rPr lang="en-US" sz="1000" dirty="0"/>
              <a:t>, </a:t>
            </a:r>
            <a:r>
              <a:rPr lang="en-US" sz="1000" i="1" dirty="0"/>
              <a:t>42</a:t>
            </a:r>
            <a:r>
              <a:rPr lang="en-US" sz="1000" dirty="0"/>
              <a:t>(3), 193-204.</a:t>
            </a:r>
          </a:p>
        </p:txBody>
      </p:sp>
    </p:spTree>
    <p:extLst>
      <p:ext uri="{BB962C8B-B14F-4D97-AF65-F5344CB8AC3E}">
        <p14:creationId xmlns:p14="http://schemas.microsoft.com/office/powerpoint/2010/main" val="419184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B71D5-CD77-8457-4221-7A0842C0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906D1B3-42D9-7EF6-B31B-D25E21E7C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AI Inference Systems for Real-Time Healthcare</a:t>
            </a:r>
            <a:br>
              <a:rPr lang="en-US" dirty="0"/>
            </a:b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BE6D5E7-DD30-53E7-EBFC-E3897FA10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D859D6-872E-B774-6F38-4DB914ADF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9767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E9E8-110C-A069-5B63-2DDEFB475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ACC3E-2EF0-F9E8-7F66-7E4601C97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SLOs &amp; tail latency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9DE2FFB-64A3-5DDE-8ECC-D64032F8B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745F0CFA-7B24-9B9B-0596-F9F2EB9BF2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785" y="1737453"/>
            <a:ext cx="5586848" cy="3383094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3997F0DE-62F7-400A-4EA3-2B78C9D008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597280"/>
            <a:ext cx="5995552" cy="3952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latinLnBrk="0">
              <a:lnSpc>
                <a:spcPct val="100000"/>
              </a:lnSpc>
              <a:buSzTx/>
              <a:buFontTx/>
              <a:buChar char="•"/>
              <a:tabLst/>
            </a:pPr>
            <a:r>
              <a:rPr lang="en-CN" altLang="en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 definition</a:t>
            </a:r>
          </a:p>
          <a:p>
            <a:pPr marL="400031" lvl="1" indent="0">
              <a:buSzTx/>
              <a:buFontTx/>
              <a:buChar char="•"/>
            </a:pPr>
            <a:r>
              <a:rPr lang="en-CN" altLang="en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“X% requests &lt; deadline D”</a:t>
            </a:r>
          </a:p>
          <a:p>
            <a:pPr marL="400031" lvl="1" indent="0">
              <a:buSzTx/>
              <a:buFontTx/>
              <a:buChar char="•"/>
            </a:pPr>
            <a:r>
              <a:rPr lang="en-CN" altLang="en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Percentile target (e.g., P99)</a:t>
            </a:r>
          </a:p>
          <a:p>
            <a:pPr marL="0" marR="0" lvl="0" indent="0" defTabSz="914400" latinLnBrk="0">
              <a:lnSpc>
                <a:spcPct val="100000"/>
              </a:lnSpc>
              <a:buSzTx/>
              <a:buFontTx/>
              <a:buChar char="•"/>
              <a:tabLst/>
            </a:pPr>
            <a:r>
              <a:rPr lang="en-CN" altLang="en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requirement</a:t>
            </a:r>
          </a:p>
          <a:p>
            <a:pPr marL="400031" lvl="1" indent="0">
              <a:buSzTx/>
              <a:buFontTx/>
              <a:buChar char="•"/>
            </a:pPr>
            <a:r>
              <a:rPr lang="en-CN" altLang="en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misses still harmful</a:t>
            </a:r>
          </a:p>
          <a:p>
            <a:pPr marL="400031" lvl="1" indent="0">
              <a:buSzTx/>
              <a:buFontTx/>
              <a:buChar char="•"/>
            </a:pPr>
            <a:r>
              <a:rPr lang="en-CN" altLang="en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 = safety-critical</a:t>
            </a:r>
          </a:p>
          <a:p>
            <a:pPr marL="0" marR="0" lvl="0" indent="0" defTabSz="914400" latinLnBrk="0">
              <a:lnSpc>
                <a:spcPct val="100000"/>
              </a:lnSpc>
              <a:buSzTx/>
              <a:buFontTx/>
              <a:buChar char="•"/>
              <a:tabLst/>
            </a:pPr>
            <a:r>
              <a:rPr lang="en-CN" altLang="en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tail matters</a:t>
            </a:r>
          </a:p>
          <a:p>
            <a:pPr marL="400031" lvl="1" indent="0">
              <a:buSzTx/>
              <a:buFontTx/>
              <a:buChar char="•"/>
            </a:pPr>
            <a:r>
              <a:rPr lang="en-CN" altLang="en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compounding (capture → preproc → inference → render)</a:t>
            </a:r>
          </a:p>
          <a:p>
            <a:pPr marL="400031" lvl="1" indent="0">
              <a:buSzTx/>
              <a:buFontTx/>
              <a:buChar char="•"/>
            </a:pPr>
            <a:r>
              <a:rPr lang="en-CN" altLang="en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/ contention–driven (OS-controlled factors)</a:t>
            </a:r>
          </a:p>
          <a:p>
            <a:pPr marL="0" marR="0" lvl="0" indent="0" defTabSz="914400" latinLnBrk="0">
              <a:lnSpc>
                <a:spcPct val="100000"/>
              </a:lnSpc>
              <a:buSzTx/>
              <a:buFontTx/>
              <a:buChar char="•"/>
              <a:tabLst/>
            </a:pPr>
            <a:r>
              <a:rPr lang="en-CN" altLang="en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marL="400031" lvl="1" indent="0">
              <a:buSzTx/>
              <a:buFontTx/>
              <a:buChar char="•"/>
            </a:pPr>
            <a:r>
              <a:rPr lang="en-CN" altLang="en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beyond mean: max latency + jitter</a:t>
            </a:r>
          </a:p>
          <a:p>
            <a:pPr marL="400031" lvl="1" indent="0">
              <a:buSzTx/>
              <a:buFontTx/>
              <a:buChar char="•"/>
            </a:pPr>
            <a:r>
              <a:rPr lang="en-CN" altLang="en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predictable end-to-end timing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N" altLang="en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981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6C669-0637-61FB-439B-A688EB90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4F46-4C3D-4DC1-E02F-102352E0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Non-Preemption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02717-E2FE-9867-F45F-E23997A13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5538"/>
            <a:ext cx="10972800" cy="4614862"/>
          </a:xfrm>
        </p:spPr>
        <p:txBody>
          <a:bodyPr/>
          <a:lstStyle/>
          <a:p>
            <a:r>
              <a:rPr lang="en-CN" alt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vs GPU execution</a:t>
            </a:r>
          </a:p>
          <a:p>
            <a:pPr lvl="1"/>
            <a:r>
              <a:rPr lang="en-CN" alt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CPU: frequent time-slicing</a:t>
            </a:r>
          </a:p>
          <a:p>
            <a:pPr lvl="1"/>
            <a:r>
              <a:rPr lang="en-CN" alt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kernels: run-to-completion (limited preemption)</a:t>
            </a:r>
          </a:p>
          <a:p>
            <a:pPr lvl="0"/>
            <a:r>
              <a:rPr lang="en-CN" alt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lvl="1"/>
            <a:r>
              <a:rPr lang="en-CN" alt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best-effort kernel blocks urgent inference</a:t>
            </a:r>
          </a:p>
          <a:p>
            <a:pPr lvl="1"/>
            <a:r>
              <a:rPr lang="en-CN" alt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Head-of-line blocking</a:t>
            </a:r>
          </a:p>
          <a:p>
            <a:pPr lvl="1"/>
            <a:r>
              <a:rPr lang="en-CN" alt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 latency spikes</a:t>
            </a:r>
          </a:p>
          <a:p>
            <a:pPr lvl="0"/>
            <a:r>
              <a:rPr lang="en-CN" alt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trade-off</a:t>
            </a:r>
          </a:p>
          <a:p>
            <a:pPr lvl="1"/>
            <a:r>
              <a:rPr lang="en-CN" alt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 GPU for real-time → underutilization</a:t>
            </a:r>
          </a:p>
          <a:p>
            <a:pPr lvl="1"/>
            <a:r>
              <a:rPr lang="en-CN" alt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GPU → deadline/SLO risk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8F88896-FCE1-C430-0E26-6062DA525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25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0538C-0151-0307-F3EF-E86AC3B0A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E7E8-AA02-4EC3-BD57-E1298238D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Determinism &amp; Jitter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2C4CB-0402-56D6-FAE7-A1BE08C1D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5537"/>
            <a:ext cx="10972800" cy="4936595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determinism in healthcare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setting: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jitter &gt; slow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delay tolerable;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unpredictable delay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breaks hand–eye coordination &amp; trust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of variability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+ real-time visualization (graphics + compute)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GPU: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streams / contexts / scheduling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Contention without strong isolation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dispersion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Deterministic-latency objective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Tighten latency distribution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latency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 spread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jitter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 only ↓ average)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4A31A57-DDA5-6137-F421-C37BD83E9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036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FAFF6-3A32-C090-054B-2FC940F7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0A1C-4470-18C4-7E5F-F2E824C9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A387E-B8B0-2070-AB8E-60FE67629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5537"/>
            <a:ext cx="10972800" cy="4936595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= fixed edge budget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GPU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 elastic scaling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edge: ↓ WAN latency, ↓ privacy risk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coupled choices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variant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accuracy ↔ latency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order / batch for deadlines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accuracy − deadline penalties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59C9243-A7C9-9747-7DA6-3595DAD89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993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4B11-258B-6483-C3C8-4A90F3B2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44F35CF-929F-53E1-D096-8910218D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AI Inference Systems for Real-Time Healthcare</a:t>
            </a:r>
            <a:br>
              <a:rPr lang="en-US" dirty="0"/>
            </a:b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62527DF-9ED6-2D13-D785-1C8654A2D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E30508-1404-8AB5-6B45-3B30E8E09E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6213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36AAB-CA26-0245-1438-CCC4D514C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26FE-DE2C-A556-C55A-55050586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REEF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F3AFA842-99F7-44EC-111C-B2238D4D34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13CD4B-051E-7544-54E2-906B9A397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67" y="1364708"/>
            <a:ext cx="4756452" cy="46318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F4E2EF-5609-E246-9163-CD106F083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33550"/>
            <a:ext cx="5702300" cy="33909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7C98979-2A7D-13B2-809A-2FC3E8802309}"/>
              </a:ext>
            </a:extLst>
          </p:cNvPr>
          <p:cNvSpPr/>
          <p:nvPr/>
        </p:nvSpPr>
        <p:spPr bwMode="auto">
          <a:xfrm>
            <a:off x="430682" y="5160161"/>
            <a:ext cx="4756451" cy="773027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CC188-BCA7-CE41-D412-EE24F89F3394}"/>
              </a:ext>
            </a:extLst>
          </p:cNvPr>
          <p:cNvSpPr txBox="1"/>
          <p:nvPr/>
        </p:nvSpPr>
        <p:spPr>
          <a:xfrm>
            <a:off x="389467" y="5223510"/>
            <a:ext cx="4674023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Fig.1: Architecture of </a:t>
            </a:r>
            <a:r>
              <a:rPr lang="en-US" sz="1200" dirty="0"/>
              <a:t>REEF</a:t>
            </a:r>
            <a:r>
              <a:rPr lang="en-US" sz="1200" i="1" dirty="0"/>
              <a:t>. Modules in boxes with dashed border are on the critical path of serving DNN inference requests. Other modules do not directly impact serving latency and throughput. 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D75690-F7F8-C7D1-5AAB-2A507293EEF9}"/>
              </a:ext>
            </a:extLst>
          </p:cNvPr>
          <p:cNvSpPr/>
          <p:nvPr/>
        </p:nvSpPr>
        <p:spPr bwMode="auto">
          <a:xfrm>
            <a:off x="6096000" y="4450483"/>
            <a:ext cx="5715000" cy="773027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E48ED4-4C47-8823-3B91-E4FF037DD365}"/>
              </a:ext>
            </a:extLst>
          </p:cNvPr>
          <p:cNvSpPr txBox="1"/>
          <p:nvPr/>
        </p:nvSpPr>
        <p:spPr>
          <a:xfrm>
            <a:off x="5285317" y="4557683"/>
            <a:ext cx="4674023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Fig.2: An example of timeline in REEF. 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27287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076E6-166A-B1BE-3B29-FA718664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1C32-C11B-05E4-7D79-125EA37F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Holoscan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38FEE82-C107-3751-E0C6-02BEFC394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37B173-B12A-04BD-F7B2-E908CC038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883" y="2810488"/>
            <a:ext cx="5209117" cy="292197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0C78485-2471-D7DE-95B3-62D453833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125537"/>
            <a:ext cx="11343217" cy="4936595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 MPS partitioning: reserve SM + GPU memory per app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Compute–graphics isolation: split workloads across GPUs (↓ context switch)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 + admission control: prevent oversubscription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Determinism metrics: max · tail · flatness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principle: tighten latency distributions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44BF0F-73FE-1CC3-941F-FA21D9AD2F15}"/>
              </a:ext>
            </a:extLst>
          </p:cNvPr>
          <p:cNvSpPr/>
          <p:nvPr/>
        </p:nvSpPr>
        <p:spPr bwMode="auto">
          <a:xfrm>
            <a:off x="6281207" y="5298674"/>
            <a:ext cx="5715000" cy="773027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6F26E-2033-C83D-0E46-3CB2216690A8}"/>
              </a:ext>
            </a:extLst>
          </p:cNvPr>
          <p:cNvSpPr txBox="1"/>
          <p:nvPr/>
        </p:nvSpPr>
        <p:spPr>
          <a:xfrm>
            <a:off x="6690360" y="5374419"/>
            <a:ext cx="4674023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Fig.3: System Design for Concurrent AI Applications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4711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16BA-9367-0B1C-6121-E17FA47A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4FE2-81A5-2F13-E231-0021B120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SneakPeek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CCC4BF0-5841-443F-01BC-94CEB5984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15724CE-B81E-5D98-B96F-2820E299E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125537"/>
            <a:ext cx="11343218" cy="4936595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priority: urgency (deadline) × payoff (accuracy variance)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Grouped scheduling: plan batching explicitly to reduce model swap overhead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SneakPeek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data-awareness: estimate class frequencies online → sharper accuracy estimates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Short-circuit inference to meet deadlines when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7BECB-295B-26FF-BFBB-73E1A0239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38" y="3283775"/>
            <a:ext cx="4779433" cy="27959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5BFC29-D350-6EE0-A245-41A1AD9D2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651" y="3283775"/>
            <a:ext cx="4779433" cy="27647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D4D56B-5BAC-E94C-1D4E-F74ACB8E59D5}"/>
              </a:ext>
            </a:extLst>
          </p:cNvPr>
          <p:cNvSpPr/>
          <p:nvPr/>
        </p:nvSpPr>
        <p:spPr bwMode="auto">
          <a:xfrm>
            <a:off x="400654" y="5349241"/>
            <a:ext cx="5715000" cy="788004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57A2F1-95CD-08FA-5C42-E89B491D072E}"/>
              </a:ext>
            </a:extLst>
          </p:cNvPr>
          <p:cNvSpPr txBox="1"/>
          <p:nvPr/>
        </p:nvSpPr>
        <p:spPr>
          <a:xfrm>
            <a:off x="816369" y="5277717"/>
            <a:ext cx="4674023" cy="1015663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Fig.4: Data-awareness workflow for a fall detection </a:t>
            </a:r>
            <a:r>
              <a:rPr lang="en-US" sz="1200" i="1" dirty="0" err="1"/>
              <a:t>appli</a:t>
            </a:r>
            <a:r>
              <a:rPr lang="en-US" sz="1200" i="1" dirty="0"/>
              <a:t>- cation. A </a:t>
            </a:r>
            <a:r>
              <a:rPr lang="en-US" sz="1200" i="1" dirty="0" err="1"/>
              <a:t>SneakPeek</a:t>
            </a:r>
            <a:r>
              <a:rPr lang="en-US" sz="1200" i="1" dirty="0"/>
              <a:t> model updates expected model </a:t>
            </a:r>
            <a:r>
              <a:rPr lang="en-US" sz="1200" i="1" dirty="0" err="1"/>
              <a:t>accura</a:t>
            </a:r>
            <a:r>
              <a:rPr lang="en-US" sz="1200" i="1" dirty="0"/>
              <a:t>- </a:t>
            </a:r>
            <a:r>
              <a:rPr lang="en-US" sz="1200" i="1" dirty="0" err="1"/>
              <a:t>cies</a:t>
            </a:r>
            <a:r>
              <a:rPr lang="en-US" sz="1200" i="1" dirty="0"/>
              <a:t> in real-time to improve scheduling decisions. </a:t>
            </a:r>
          </a:p>
          <a:p>
            <a:endParaRPr lang="en-US" sz="1200" i="1" dirty="0"/>
          </a:p>
          <a:p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857F5-58F5-3F1E-0AD2-B6E345DB1639}"/>
              </a:ext>
            </a:extLst>
          </p:cNvPr>
          <p:cNvSpPr/>
          <p:nvPr/>
        </p:nvSpPr>
        <p:spPr bwMode="auto">
          <a:xfrm>
            <a:off x="6115654" y="5349241"/>
            <a:ext cx="5715000" cy="699318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B6F43-3486-5D66-B37E-23E1177B678E}"/>
              </a:ext>
            </a:extLst>
          </p:cNvPr>
          <p:cNvSpPr txBox="1"/>
          <p:nvPr/>
        </p:nvSpPr>
        <p:spPr>
          <a:xfrm>
            <a:off x="6851651" y="5349241"/>
            <a:ext cx="4674023" cy="1015663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Fig.5: Request priority as a function of deadline and </a:t>
            </a:r>
            <a:r>
              <a:rPr lang="en-US" sz="1200" i="1" dirty="0" err="1"/>
              <a:t>vari</a:t>
            </a:r>
            <a:r>
              <a:rPr lang="en-US" sz="1200" i="1" dirty="0"/>
              <a:t>- </a:t>
            </a:r>
            <a:r>
              <a:rPr lang="en-US" sz="1200" i="1" dirty="0" err="1"/>
              <a:t>ance</a:t>
            </a:r>
            <a:r>
              <a:rPr lang="en-US" sz="1200" i="1" dirty="0"/>
              <a:t> in model accuracy. </a:t>
            </a:r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96714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B6A02-6884-ED71-6A32-C8B169BE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42087AF-6C91-D933-B7AD-3298C54D0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AI Inference Systems for Real-Time Healthcare</a:t>
            </a:r>
            <a:br>
              <a:rPr lang="en-US" dirty="0"/>
            </a:b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4DDB4F6-7CE9-1AE2-5720-5B3D59DA3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F877C8-8D11-CB40-6D51-00C0CD9E7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38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0D517-3ED1-830C-E189-65112C33B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8762-CACA-5173-FA6B-458AFB26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REEF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397520A-78F0-08CC-139E-D724C10A4C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EADF34-4AB6-9A4D-2A74-C9CDF6483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269" y="1113309"/>
            <a:ext cx="5276548" cy="46313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2E5421-D3DD-0F37-8F75-FED8BF6F3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99" y="3593834"/>
            <a:ext cx="4639581" cy="243171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D2D22D-7965-9EC7-40D5-9089CDC07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125537"/>
            <a:ext cx="6066669" cy="4936595"/>
          </a:xfrm>
        </p:spPr>
        <p:txBody>
          <a:bodyPr/>
          <a:lstStyle/>
          <a:p>
            <a:r>
              <a:rPr lang="en-US" sz="2400" b="1" dirty="0"/>
              <a:t>Throughput: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Up to </a:t>
            </a:r>
            <a:r>
              <a:rPr lang="en-US" sz="2000" b="1" dirty="0"/>
              <a:t>7.7×</a:t>
            </a:r>
            <a:r>
              <a:rPr lang="en-US" sz="2000" dirty="0"/>
              <a:t> improvement </a:t>
            </a:r>
          </a:p>
          <a:p>
            <a:r>
              <a:rPr lang="en-US" sz="2400" b="1" dirty="0"/>
              <a:t>Latency Overhead: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&lt; 2% end-to-end for real-time tasks </a:t>
            </a:r>
          </a:p>
          <a:p>
            <a:r>
              <a:rPr lang="en-US" sz="2400" b="1" dirty="0"/>
              <a:t>Preemption Latency: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&lt; 40 </a:t>
            </a:r>
            <a:r>
              <a:rPr lang="el-GR" sz="2000" dirty="0"/>
              <a:t>μ</a:t>
            </a:r>
            <a:r>
              <a:rPr lang="en-US" sz="2000" dirty="0"/>
              <a:t>s (10× reduction)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58C3AD-A219-B0F2-E904-DF7905A4BC75}"/>
              </a:ext>
            </a:extLst>
          </p:cNvPr>
          <p:cNvSpPr/>
          <p:nvPr/>
        </p:nvSpPr>
        <p:spPr bwMode="auto">
          <a:xfrm>
            <a:off x="427489" y="5338454"/>
            <a:ext cx="5715000" cy="699318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2BE3E-A567-5511-805B-897CF52125A3}"/>
              </a:ext>
            </a:extLst>
          </p:cNvPr>
          <p:cNvSpPr txBox="1"/>
          <p:nvPr/>
        </p:nvSpPr>
        <p:spPr>
          <a:xfrm>
            <a:off x="1130086" y="5346252"/>
            <a:ext cx="4674023" cy="138499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Fig.6: Comparison of preemption latency between reset-based and wait-based approaches (a) on DISB workloads, and (b) when preempting one DNN inference task of different DNN models. </a:t>
            </a:r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491E92-0A9B-D5CA-0A3A-AD3E73F7F792}"/>
              </a:ext>
            </a:extLst>
          </p:cNvPr>
          <p:cNvSpPr/>
          <p:nvPr/>
        </p:nvSpPr>
        <p:spPr bwMode="auto">
          <a:xfrm>
            <a:off x="6250517" y="4884962"/>
            <a:ext cx="5715000" cy="699318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F0591-7375-8995-88DF-602861E0EF94}"/>
              </a:ext>
            </a:extLst>
          </p:cNvPr>
          <p:cNvSpPr txBox="1"/>
          <p:nvPr/>
        </p:nvSpPr>
        <p:spPr>
          <a:xfrm>
            <a:off x="7031868" y="4884962"/>
            <a:ext cx="4674023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Fig.7: Comparison of (a) end-to-end real-time task latency, and (b) overall throughput (including both real-time and best-effort tasks) using different scheduling approaches. </a:t>
            </a:r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45917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19BC-37D5-EDDA-99FD-67CD6A48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0C97771-D179-EBA0-4542-3CF1E4293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417" y="3759968"/>
            <a:ext cx="7772400" cy="22368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376062B-3837-B4F9-366F-A2CF5BC68D56}"/>
              </a:ext>
            </a:extLst>
          </p:cNvPr>
          <p:cNvSpPr/>
          <p:nvPr/>
        </p:nvSpPr>
        <p:spPr bwMode="auto">
          <a:xfrm>
            <a:off x="4180415" y="5557216"/>
            <a:ext cx="7772399" cy="571153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9833A-14A5-012B-795D-D9B155301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Holoscan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83B53D5-2C51-8DEE-6BDD-01DF5E4E0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75E79F-78B0-571E-2FC4-A4C6833AE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417" y="1137942"/>
            <a:ext cx="7772400" cy="246333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3812347-5145-9A5B-9B43-6B98CFB1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5537"/>
            <a:ext cx="3570818" cy="4936595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Latency:</a:t>
            </a: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 21–30% (vs. single-GPU baseline)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Flatness:</a:t>
            </a: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 17–25% (tighter, more predictable tails)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Default Multi-GPU:</a:t>
            </a: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 35% max latency + 42% better GPU utilization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F69BCD-E9D6-6BE1-42B4-564E10C2B76E}"/>
              </a:ext>
            </a:extLst>
          </p:cNvPr>
          <p:cNvSpPr/>
          <p:nvPr/>
        </p:nvSpPr>
        <p:spPr bwMode="auto">
          <a:xfrm>
            <a:off x="4478866" y="3330964"/>
            <a:ext cx="7332133" cy="282718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42782-9884-20BC-0A96-59CA2FDE5560}"/>
              </a:ext>
            </a:extLst>
          </p:cNvPr>
          <p:cNvSpPr txBox="1"/>
          <p:nvPr/>
        </p:nvSpPr>
        <p:spPr>
          <a:xfrm>
            <a:off x="3799415" y="3330964"/>
            <a:ext cx="8011584" cy="120032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Fig.8: Performance Comparison between All Optimizations for Endoscopy Tool Tracking Application </a:t>
            </a:r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D7335-D17E-F72B-5073-365F4B74708D}"/>
              </a:ext>
            </a:extLst>
          </p:cNvPr>
          <p:cNvSpPr txBox="1"/>
          <p:nvPr/>
        </p:nvSpPr>
        <p:spPr>
          <a:xfrm>
            <a:off x="4180418" y="5556875"/>
            <a:ext cx="2492376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Fig.9: Maximum E2E Latency and</a:t>
            </a:r>
          </a:p>
          <a:p>
            <a:r>
              <a:rPr lang="en-US" sz="1200" i="1" dirty="0"/>
              <a:t>GPU Utilization with two A4000s </a:t>
            </a:r>
          </a:p>
          <a:p>
            <a:endParaRPr lang="en-US" sz="12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733D9C-E691-6A59-09C3-536FF29D3409}"/>
              </a:ext>
            </a:extLst>
          </p:cNvPr>
          <p:cNvSpPr txBox="1"/>
          <p:nvPr/>
        </p:nvSpPr>
        <p:spPr>
          <a:xfrm>
            <a:off x="6898744" y="5565387"/>
            <a:ext cx="2492376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Fig.10: Maximum E2E Latency for</a:t>
            </a:r>
          </a:p>
          <a:p>
            <a:r>
              <a:rPr lang="en-US" sz="1200" i="1" dirty="0"/>
              <a:t>different GPU role combinations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F9D1B5-32D9-671D-A53F-608CADF667D8}"/>
              </a:ext>
            </a:extLst>
          </p:cNvPr>
          <p:cNvSpPr txBox="1"/>
          <p:nvPr/>
        </p:nvSpPr>
        <p:spPr>
          <a:xfrm>
            <a:off x="9391120" y="5565387"/>
            <a:ext cx="2492376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Fig.11: Maximum E2E Latency in</a:t>
            </a:r>
          </a:p>
          <a:p>
            <a:r>
              <a:rPr lang="en-US" sz="1200" i="1" dirty="0"/>
              <a:t>Ultrasound Segmentation </a:t>
            </a:r>
          </a:p>
        </p:txBody>
      </p:sp>
    </p:spTree>
    <p:extLst>
      <p:ext uri="{BB962C8B-B14F-4D97-AF65-F5344CB8AC3E}">
        <p14:creationId xmlns:p14="http://schemas.microsoft.com/office/powerpoint/2010/main" val="1901701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F13A5-0793-05A3-58CB-FF0CB07D5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BC6C-14A4-B46A-8DDA-F6095CE82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SneakPeek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FFC1EC0-BEA4-F22C-3F9E-9CAC66034A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4E4B04B-EB16-4CEE-AE05-E49A76B0B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5537"/>
            <a:ext cx="7225840" cy="4936595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Setup: </a:t>
            </a: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healthcare apps (fall detection, voice commands, heart monitoring) on single GPU (RTX 3060) — no resource elasticity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Baselines: </a:t>
            </a: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EDF ordering + model selection heuristics (LO-EDF,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MaxAcc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-EDF)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Headline Results: </a:t>
            </a: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2× utility increase vs. LO-EDF (0.78 vs. 0.4)</a:t>
            </a:r>
          </a:p>
          <a:p>
            <a:pPr lvl="1"/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Near-zero deadline violations with grouped scheduling + short-circuit inference </a:t>
            </a:r>
          </a:p>
          <a:p>
            <a:pPr lvl="2"/>
            <a:r>
              <a:rPr lang="en-US" sz="133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Data-awareness counters distribution shift (e.g., rare falls) by dynamically estimating class frequencies, reducing accuracy prediction error by 30–50% </a:t>
            </a:r>
          </a:p>
          <a:p>
            <a:pPr lvl="2"/>
            <a:r>
              <a:rPr lang="en-US" sz="133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Lesson: In fixed-resource deployments, optimize for deadline-aware utility, not just accuracy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6BE643-321F-ECF2-8B3D-8B83EC41A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440" y="1426505"/>
            <a:ext cx="3975560" cy="43996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3913C39-0ADB-CF61-C314-BB403A351F0B}"/>
              </a:ext>
            </a:extLst>
          </p:cNvPr>
          <p:cNvSpPr/>
          <p:nvPr/>
        </p:nvSpPr>
        <p:spPr bwMode="auto">
          <a:xfrm>
            <a:off x="6309363" y="3308257"/>
            <a:ext cx="5643454" cy="571153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AF6A8-9682-1DAF-0FD0-797E5F4C99EC}"/>
              </a:ext>
            </a:extLst>
          </p:cNvPr>
          <p:cNvSpPr txBox="1"/>
          <p:nvPr/>
        </p:nvSpPr>
        <p:spPr>
          <a:xfrm>
            <a:off x="8064040" y="3308257"/>
            <a:ext cx="3746960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Fig.12: Comparison of average schedule utility and model accuracy across approaches. </a:t>
            </a:r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076FA1-1E50-DD5C-A4B3-D10ECCF616AD}"/>
              </a:ext>
            </a:extLst>
          </p:cNvPr>
          <p:cNvSpPr/>
          <p:nvPr/>
        </p:nvSpPr>
        <p:spPr bwMode="auto">
          <a:xfrm>
            <a:off x="8064041" y="5513444"/>
            <a:ext cx="3746960" cy="571153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286920-315D-6B73-4E34-7915284FF52B}"/>
              </a:ext>
            </a:extLst>
          </p:cNvPr>
          <p:cNvSpPr txBox="1"/>
          <p:nvPr/>
        </p:nvSpPr>
        <p:spPr>
          <a:xfrm>
            <a:off x="8064040" y="5513444"/>
            <a:ext cx="3746960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Fig.13: Deadlines violations across approaches. </a:t>
            </a:r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89541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4796-4941-D6E1-0A81-CAD9657A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26E257D-4032-051E-551A-0250F8E5C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AI Inference Systems for Real-Time Healthcare</a:t>
            </a:r>
            <a:br>
              <a:rPr lang="en-US" dirty="0"/>
            </a:b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BC6AD6-6B5A-339E-4B98-BF4650A06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DBA3C5-B682-7328-0DF1-6E126BCC6C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7099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B06BB-DFE6-0C9F-0328-30717488A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48B6-0292-88D3-DFB7-4E154686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and Future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645E3-5F68-A7FE-215C-D6541A6C0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1125538"/>
            <a:ext cx="10248900" cy="4957762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AI: </a:t>
            </a:r>
            <a:r>
              <a:rPr lang="en-US" sz="2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= safety</a:t>
            </a:r>
            <a:endParaRPr lang="en-US" sz="2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US" sz="2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 + jitter</a:t>
            </a:r>
            <a:r>
              <a:rPr lang="en-US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mean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REEF</a:t>
            </a:r>
            <a:r>
              <a:rPr lang="en-US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Fast </a:t>
            </a:r>
            <a:r>
              <a:rPr lang="en-US" sz="2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cut-in</a:t>
            </a:r>
            <a:r>
              <a:rPr lang="en-US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(preemption) + utilization</a:t>
            </a:r>
          </a:p>
          <a:p>
            <a:pPr lvl="1"/>
            <a:r>
              <a:rPr lang="en-US" sz="22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Holoscan</a:t>
            </a:r>
            <a:r>
              <a:rPr lang="en-US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latency</a:t>
            </a:r>
            <a:r>
              <a:rPr lang="en-US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isolation/reservation</a:t>
            </a:r>
          </a:p>
          <a:p>
            <a:pPr lvl="1"/>
            <a:r>
              <a:rPr lang="en-US" sz="22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SneakPeek</a:t>
            </a:r>
            <a:r>
              <a:rPr lang="en-US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utility</a:t>
            </a:r>
            <a:r>
              <a:rPr lang="en-US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(model choice + scheduling)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lang="en-US" sz="2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preemption + determinism + urgency-aware scheduling</a:t>
            </a:r>
            <a:endParaRPr lang="en-US" sz="2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</a:t>
            </a:r>
            <a:r>
              <a:rPr lang="en-US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one stack; </a:t>
            </a:r>
            <a:r>
              <a:rPr lang="en-US" sz="2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validation</a:t>
            </a:r>
            <a:endParaRPr lang="en-US" sz="2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7FA8891-446F-7738-2ACA-E5B27FC62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7BE7F-C0C9-811D-F4E1-8DEDDF2D1254}"/>
              </a:ext>
            </a:extLst>
          </p:cNvPr>
          <p:cNvSpPr txBox="1"/>
          <p:nvPr/>
        </p:nvSpPr>
        <p:spPr>
          <a:xfrm>
            <a:off x="13297546" y="1442656"/>
            <a:ext cx="184731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endParaRPr lang="en-CN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53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E20168-B24F-B431-164F-A81C7244E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385075"/>
            <a:ext cx="10363200" cy="1932282"/>
          </a:xfrm>
        </p:spPr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F2B39-9BEE-3544-9548-3B39B9C29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969038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6014</TotalTime>
  <Words>1733</Words>
  <Application>Microsoft Office PowerPoint</Application>
  <PresentationFormat>宽屏</PresentationFormat>
  <Paragraphs>263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標楷體</vt:lpstr>
      <vt:lpstr>MS Sans Serif</vt:lpstr>
      <vt:lpstr>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End-to-End AI Inference Systems for Real-Time Healthcare </vt:lpstr>
      <vt:lpstr>Outline</vt:lpstr>
      <vt:lpstr>End-to-End AI Inference Systems for Real-Time Healthcare </vt:lpstr>
      <vt:lpstr>Introduction (1)</vt:lpstr>
      <vt:lpstr>Introduction (2)</vt:lpstr>
      <vt:lpstr>End-to-End AI Inference Systems for Real-Time Healthcare </vt:lpstr>
      <vt:lpstr>Related Work</vt:lpstr>
      <vt:lpstr>End-to-End AI Inference Systems for Real-Time Healthcare </vt:lpstr>
      <vt:lpstr>Preliminaries - SLOs &amp; tail latency</vt:lpstr>
      <vt:lpstr>Preliminaries - GPU Non-Preemption</vt:lpstr>
      <vt:lpstr>Preliminaries - Determinism &amp; Jitter</vt:lpstr>
      <vt:lpstr>Preliminaries - Edge Constraints</vt:lpstr>
      <vt:lpstr>End-to-End AI Inference Systems for Real-Time Healthcare </vt:lpstr>
      <vt:lpstr>Proposed Methods - REEF</vt:lpstr>
      <vt:lpstr>Proposed Methods - Holoscan </vt:lpstr>
      <vt:lpstr>Proposed Methods - SneakPeek  </vt:lpstr>
      <vt:lpstr>End-to-End AI Inference Systems for Real-Time Healthcare </vt:lpstr>
      <vt:lpstr>Performance Evaluation  - REEF</vt:lpstr>
      <vt:lpstr>Performance Evaluation  - Holoscan</vt:lpstr>
      <vt:lpstr>Performance Evaluation  - SneakPeek</vt:lpstr>
      <vt:lpstr>End-to-End AI Inference Systems for Real-Time Healthcare </vt:lpstr>
      <vt:lpstr>Conclusions and Future Work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Yeh-Ching Chung</cp:lastModifiedBy>
  <cp:revision>23</cp:revision>
  <dcterms:created xsi:type="dcterms:W3CDTF">2020-07-15T11:13:39Z</dcterms:created>
  <dcterms:modified xsi:type="dcterms:W3CDTF">2026-01-31T01:01:05Z</dcterms:modified>
</cp:coreProperties>
</file>