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91" r:id="rId3"/>
    <p:sldId id="257" r:id="rId5"/>
    <p:sldId id="259" r:id="rId6"/>
    <p:sldId id="295" r:id="rId7"/>
    <p:sldId id="296" r:id="rId8"/>
    <p:sldId id="293" r:id="rId9"/>
    <p:sldId id="258" r:id="rId10"/>
    <p:sldId id="294" r:id="rId11"/>
    <p:sldId id="260" r:id="rId12"/>
    <p:sldId id="261" r:id="rId13"/>
    <p:sldId id="262" r:id="rId14"/>
    <p:sldId id="263" r:id="rId15"/>
    <p:sldId id="264" r:id="rId16"/>
    <p:sldId id="297" r:id="rId17"/>
    <p:sldId id="298" r:id="rId18"/>
    <p:sldId id="266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300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</p:sldIdLst>
  <p:sldSz cx="18288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6" Type="http://schemas.openxmlformats.org/officeDocument/2006/relationships/tableStyles" Target="tableStyles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这一版按 0409 模板走，页上内容更像论文报告：每篇都有原文截图、算法图、结果表和局限。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这页用原文截图撑住延迟定义。不要读截图，只读右边三种执行模式。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这页用原文截图撑住延迟定义。不要读截图，只读右边三种执行模式。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这页用原文截图撑住延迟定义。不要读截图，只读右边三种执行模式。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这一页把 OS 课题落地：调度目标不是传统中间件，而是在实时动作消费和慢速推理生产之间维持 buffer。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这一页把 OS 课题落地：调度目标不是传统中间件，而是在实时动作消费和慢速推理生产之间维持 buffer。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这页用原文截图撑住延迟定义。不要读截图，只读右边三种执行模式。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把所有后续方法统一到一个 buffer 语言里：哪些动作已经不可更改，哪些动作还可以重新生成。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这里给完整故事线。之后每篇论文就按这个表的位置展开。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Learning action chunks before asynchronous inference became the bottleneck.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ACT 本身推理很快，所以它不是异步论文。但它定义了后面异步工作的对象：action chunk。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把焦点放在接口上，不要陷入 CVAE 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把焦点放在接口上，不要陷入 CVAE 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把焦点放在接口上，不要陷入 CVAE 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这些数字足够展示 ACT 为什么成为后续工作基础。注意说 baseline final 是对应表中最好 baseline BeT/other methods 的最终任务完成率。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ACT 的局限是转场：它定义动作块，但没有解决大模型慢推理。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Inference-time scheduling: generate the next chunk while executing the current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 RTC 时要强调：这是 test-time algorithm，不需要重新训练，所以系统味更强。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这页讲 mode switching。要把图中的黑线和红线解释成两个局部都合理、拼起来不合理的动作块。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核心页。讲清楚 committed prefix 为什么不能被新模型输出覆盖。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这页最像 OS。可以类比生产者-消费者、mutex、condition variable、deadline。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用这一页说明 RTC 不只是硬复制 prefix。软约束让 overlap 区域逐渐释放，避免过强约束影响反应性。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讲实验不用细抠曲线。重点：delay 增加时，RTC 曲线掉得更慢；真实机器人中吞吐更好。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这是转到 REMAC 的桥：RTC 解决边界，但代价是推理时额外计算，而且主要处理 inter-chunk。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Training-time adaptation for asynchronous chunk mismatch.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REMAC 的贡献是指出 RTC 主要管边界，但还有更隐蔽的 chunk 内错位。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这里要明确 REMAC 和 RTC 的分工：RTC 是 test-time；REMAC 是训练/适配阶段。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这里要明确 REMAC 和 RTC 的分工：RTC 是 test-time；REMAC 是训练/适配阶段。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这一页解释为什么训练时要模拟测试时的错位，否则 policy 只见过干净 chunk。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这里挑 d=0,2,4 三列即可。让听众看到随着 delay 增大，REMAC 保持得最好。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强调真实系统端到端 delay 约 122-140ms，对 15Hz 控制相当于 d=2 或 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这是整场最重要的总结页之一，可以停留久一点。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From paper algorithms to deployable asynchronous inference stacks.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SmolVLA 作为 related work。它告诉我们实际部署长什么样，但主线仍是 ACT/RTC/REMAC。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这一页从工程角度提炼第一条：动作不能断供。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第二条是 committed/mutable 分离。这个概念非常 OS。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这里回扣 OS 课。不是要讲 ROS2，而是讲系统接口该如何支持 VLA 推理。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最后中文可以说：动作块最初是为了让模仿学习更稳定，但在现代 VLA 系统里，它已经变成了慢速大模型和实时机器人之间的调度接口。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Q&amp;A 页保持简洁。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1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1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2.png"/><Relationship Id="rId3" Type="http://schemas.openxmlformats.org/officeDocument/2006/relationships/image" Target="../media/image30.png"/><Relationship Id="rId2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3.png"/><Relationship Id="rId1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5170" y="38100"/>
            <a:ext cx="913660" cy="723900"/>
          </a:xfrm>
          <a:prstGeom prst="rect">
            <a:avLst/>
          </a:prstGeom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1524000" y="381000"/>
            <a:ext cx="15316200" cy="952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0" y="838200"/>
            <a:ext cx="18288000" cy="152400"/>
          </a:xfrm>
          <a:prstGeom prst="rect">
            <a:avLst/>
          </a:prstGeom>
          <a:solidFill>
            <a:srgbClr val="92278F"/>
          </a:solidFill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476250" y="1998345"/>
            <a:ext cx="17335500" cy="7429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4800" b="1">
                <a:solidFill>
                  <a:srgbClr val="92278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6000" b="1">
                <a:solidFill>
                  <a:srgbClr val="92278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Scheduling Asynchronous </a:t>
            </a:r>
            <a:r>
              <a:rPr sz="6000" b="1">
                <a:solidFill>
                  <a:srgbClr val="92278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Inference in </a:t>
            </a:r>
            <a:endParaRPr sz="6000" b="1">
              <a:solidFill>
                <a:srgbClr val="92278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ctr">
              <a:defRPr sz="4800" b="1">
                <a:solidFill>
                  <a:srgbClr val="92278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6000" b="1">
                <a:solidFill>
                  <a:srgbClr val="92278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Robotic Systems</a:t>
            </a:r>
            <a:endParaRPr sz="6000" b="1">
              <a:solidFill>
                <a:srgbClr val="92278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ctr">
              <a:defRPr sz="4800" b="1">
                <a:solidFill>
                  <a:srgbClr val="92278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endParaRPr sz="6000" b="1">
              <a:solidFill>
                <a:srgbClr val="92278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ctr">
              <a:defRPr sz="4800" b="1">
                <a:solidFill>
                  <a:srgbClr val="92278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lang="en-US" sz="4400" b="1">
                <a:solidFill>
                  <a:srgbClr val="92278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2026.04.28</a:t>
            </a:r>
            <a:endParaRPr lang="en-US" sz="4400" b="1">
              <a:solidFill>
                <a:srgbClr val="92278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76250" y="4206240"/>
            <a:ext cx="17335500" cy="4000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2625" b="1">
                <a:solidFill>
                  <a:srgbClr val="0F172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600" b="1">
                <a:solidFill>
                  <a:srgbClr val="0F172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From Action Chunking to Real-Time VLA Execution</a:t>
            </a:r>
            <a:endParaRPr sz="3600" b="1">
              <a:solidFill>
                <a:srgbClr val="0F172A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0" y="9601200"/>
            <a:ext cx="18288000" cy="685800"/>
          </a:xfrm>
          <a:prstGeom prst="rect">
            <a:avLst/>
          </a:prstGeom>
          <a:solidFill>
            <a:srgbClr val="92278F"/>
          </a:solidFill>
        </p:spPr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010" y="9696450"/>
            <a:ext cx="649180" cy="514350"/>
          </a:xfrm>
          <a:prstGeom prst="rect">
            <a:avLst/>
          </a:prstGeom>
        </p:spPr>
      </p:pic>
      <p:sp>
        <p:nvSpPr>
          <p:cNvPr id="24" name="矩形 23"/>
          <p:cNvSpPr>
            <a:spLocks noGrp="1"/>
          </p:cNvSpPr>
          <p:nvPr/>
        </p:nvSpPr>
        <p:spPr>
          <a:xfrm>
            <a:off x="1123950" y="9772650"/>
            <a:ext cx="57150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125" b="1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香港中文大学（深圳）数据科学学院</a:t>
            </a:r>
            <a:endParaRPr sz="1125" b="1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23950" y="9963150"/>
            <a:ext cx="57150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1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975" b="1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CUHK-SZ School of Data Science</a:t>
            </a:r>
            <a:endParaRPr sz="975" b="1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7" name="Subtitle 2"/>
          <p:cNvSpPr>
            <a:spLocks noGrp="1"/>
          </p:cNvSpPr>
          <p:nvPr/>
        </p:nvSpPr>
        <p:spPr>
          <a:xfrm>
            <a:off x="4914900" y="5909857"/>
            <a:ext cx="8534400" cy="18824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None/>
              <a:defRPr kumimoji="1" sz="3735">
                <a:solidFill>
                  <a:sysClr val="windowText" lastClr="000000"/>
                </a:solidFill>
                <a:latin typeface="Calibri" charset="0"/>
                <a:ea typeface="標楷體" pitchFamily="65" charset="-120"/>
                <a:cs typeface="+mn-ea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90204" pitchFamily="34" charset="0"/>
              <a:buNone/>
              <a:defRPr kumimoji="1" sz="3200">
                <a:solidFill>
                  <a:sysClr val="windowText" lastClr="000000"/>
                </a:solidFill>
                <a:latin typeface="Calibri" charset="0"/>
                <a:ea typeface="標楷體" pitchFamily="65" charset="-120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ysClr val="windowText" lastClr="000000"/>
                </a:solidFill>
                <a:latin typeface="Arial" panose="020B0604020202090204" pitchFamily="34" charset="0"/>
                <a:ea typeface="PMingLiU" charset="0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ysClr val="windowText" lastClr="000000"/>
                </a:solidFill>
                <a:latin typeface="Arial" panose="020B0604020202090204" pitchFamily="34" charset="0"/>
                <a:ea typeface="PMingLiU" charset="0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ysClr val="windowText" lastClr="000000"/>
                </a:solidFill>
                <a:latin typeface="Arial" panose="020B0604020202090204" pitchFamily="34" charset="0"/>
                <a:ea typeface="PMingLiU" charset="0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ysClr val="windowText" lastClr="000000"/>
                </a:solidFill>
                <a:latin typeface="Arial" panose="020B0604020202090204" pitchFamily="34" charset="0"/>
                <a:ea typeface="PMingLiU" charset="0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ysClr val="windowText" lastClr="000000"/>
                </a:solidFill>
                <a:latin typeface="Arial" panose="020B0604020202090204" pitchFamily="34" charset="0"/>
                <a:ea typeface="PMingLiU" charset="0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ysClr val="windowText" lastClr="000000"/>
                </a:solidFill>
                <a:latin typeface="Arial" panose="020B0604020202090204" pitchFamily="34" charset="0"/>
                <a:ea typeface="PMingLiU" charset="0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ysClr val="windowText" lastClr="000000"/>
                </a:solidFill>
                <a:latin typeface="Arial" panose="020B0604020202090204" pitchFamily="34" charset="0"/>
                <a:ea typeface="PMingLiU" charset="0"/>
              </a:defRPr>
            </a:lvl9pPr>
          </a:lstStyle>
          <a:p>
            <a:r>
              <a:rPr lang="en-US" altLang="zh-CN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Ruixiang Wang</a:t>
            </a:r>
            <a:endParaRPr lang="en-US" altLang="zh-CN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3200" dirty="0"/>
              <a:t>School of </a:t>
            </a:r>
            <a:r>
              <a:rPr lang="en-US" altLang="zh-CN" sz="3200" dirty="0"/>
              <a:t>Data </a:t>
            </a:r>
            <a:r>
              <a:rPr lang="en-US" altLang="zh-TW" sz="3200" dirty="0"/>
              <a:t>Science</a:t>
            </a:r>
            <a:endParaRPr lang="en-US" altLang="zh-TW" sz="3200" dirty="0"/>
          </a:p>
          <a:p>
            <a:r>
              <a:rPr lang="en-US" altLang="zh-TW" sz="3200" dirty="0"/>
              <a:t>Chinese University of Hong Kong, Shenzhen</a:t>
            </a:r>
            <a:endParaRPr lang="en-US" altLang="zh-TW" sz="3200" dirty="0"/>
          </a:p>
        </p:txBody>
      </p:sp>
      <p:sp>
        <p:nvSpPr>
          <p:cNvPr id="28" name="page number"/>
          <p:cNvSpPr>
            <a:spLocks noGrp="1"/>
          </p:cNvSpPr>
          <p:nvPr/>
        </p:nvSpPr>
        <p:spPr>
          <a:xfrm>
            <a:off x="16649700" y="228600"/>
            <a:ext cx="1333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1/40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9144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79949"/>
            <a:ext cx="723900" cy="573552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1200150" y="209550"/>
            <a:ext cx="15278100" cy="6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Outline</a:t>
            </a:r>
            <a:endParaRPr sz="4000" b="1" i="0">
              <a:solidFill>
                <a:srgbClr val="1F497D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6649700" y="228600"/>
            <a:ext cx="1333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2/40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0" y="914400"/>
            <a:ext cx="18288000" cy="76200"/>
          </a:xfrm>
          <a:prstGeom prst="rect">
            <a:avLst/>
          </a:prstGeom>
          <a:solidFill>
            <a:srgbClr val="990099"/>
          </a:solidFill>
        </p:spPr>
      </p:sp>
      <p:sp>
        <p:nvSpPr>
          <p:cNvPr id="8" name="圆角矩形 7"/>
          <p:cNvSpPr>
            <a:spLocks noGrp="1"/>
          </p:cNvSpPr>
          <p:nvPr/>
        </p:nvSpPr>
        <p:spPr>
          <a:xfrm>
            <a:off x="2343150" y="24003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F497D"/>
          </a:solidFill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2343150" y="2457450"/>
            <a:ext cx="4572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01</a:t>
            </a:r>
            <a:endParaRPr sz="3000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933700" y="2171700"/>
            <a:ext cx="11233785" cy="914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Problem: action chunks become a scheduling interface</a:t>
            </a:r>
            <a:endParaRPr sz="3000" b="1" i="0">
              <a:solidFill>
                <a:srgbClr val="1F497D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2343150" y="348615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92278F"/>
          </a:solidFill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2343150" y="3543300"/>
            <a:ext cx="4572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02</a:t>
            </a:r>
            <a:endParaRPr sz="3000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933700" y="3257550"/>
            <a:ext cx="10681335" cy="914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2278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2278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ACT: define action chunking for fine-grained manipulation</a:t>
            </a:r>
            <a:endParaRPr sz="3000" b="1" i="0">
              <a:solidFill>
                <a:srgbClr val="92278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2343150" y="455295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2343150" y="4610100"/>
            <a:ext cx="4572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03</a:t>
            </a:r>
            <a:endParaRPr sz="3000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933700" y="4324350"/>
            <a:ext cx="11837670" cy="914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2E75B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2E75B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RTC: make chunk inference asynchronous at test time</a:t>
            </a:r>
            <a:endParaRPr sz="3000" b="1" i="0">
              <a:solidFill>
                <a:srgbClr val="2E75B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2343150" y="55092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A050"/>
          </a:solidFill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2343150" y="5566410"/>
            <a:ext cx="4572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04</a:t>
            </a:r>
            <a:endParaRPr sz="3000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933700" y="5410200"/>
            <a:ext cx="11233785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A05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A05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REMAC: train the policy for asynchronous mismatch</a:t>
            </a:r>
            <a:endParaRPr sz="3000" b="1" i="0">
              <a:solidFill>
                <a:srgbClr val="00A05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2343150" y="647128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00000"/>
          </a:solidFill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2343150" y="6528435"/>
            <a:ext cx="4572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05</a:t>
            </a:r>
            <a:endParaRPr sz="3000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2914650" y="6372225"/>
            <a:ext cx="12491085" cy="914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D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D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System view: queues, deadlines, committed prefixes, open problems</a:t>
            </a:r>
            <a:endParaRPr sz="3000" b="1" i="0">
              <a:solidFill>
                <a:srgbClr val="D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0" y="9601200"/>
            <a:ext cx="18288000" cy="723900"/>
          </a:xfrm>
          <a:prstGeom prst="rect">
            <a:avLst/>
          </a:prstGeom>
          <a:solidFill>
            <a:srgbClr val="990099"/>
          </a:solidFill>
        </p:spPr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948" y="9639300"/>
            <a:ext cx="745354" cy="590550"/>
          </a:xfrm>
          <a:prstGeom prst="rect">
            <a:avLst/>
          </a:prstGeom>
        </p:spPr>
      </p:pic>
      <p:sp>
        <p:nvSpPr>
          <p:cNvPr id="41" name="矩形 40"/>
          <p:cNvSpPr>
            <a:spLocks noGrp="1"/>
          </p:cNvSpPr>
          <p:nvPr/>
        </p:nvSpPr>
        <p:spPr>
          <a:xfrm>
            <a:off x="1352550" y="9696450"/>
            <a:ext cx="4381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香港中文大学（深圳） 数据科学学院</a:t>
            </a:r>
            <a:endParaRPr sz="1650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1352550" y="9963150"/>
            <a:ext cx="4381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CUHK-SZ School of Data Science</a:t>
            </a:r>
            <a:endParaRPr sz="1275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9144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79949"/>
            <a:ext cx="723900" cy="573552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1200150" y="209550"/>
            <a:ext cx="15278100" cy="6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Control-Loop Mismatch</a:t>
            </a:r>
            <a:endParaRPr sz="4000" b="1" i="0">
              <a:solidFill>
                <a:srgbClr val="1F497D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6649700" y="228600"/>
            <a:ext cx="1333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3/40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0" y="914400"/>
            <a:ext cx="18288000" cy="76200"/>
          </a:xfrm>
          <a:prstGeom prst="rect">
            <a:avLst/>
          </a:prstGeom>
          <a:solidFill>
            <a:srgbClr val="990099"/>
          </a:solidFill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0" y="9601200"/>
            <a:ext cx="18288000" cy="723900"/>
          </a:xfrm>
          <a:prstGeom prst="rect">
            <a:avLst/>
          </a:prstGeom>
          <a:solidFill>
            <a:srgbClr val="990099"/>
          </a:solidFill>
        </p:spPr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948" y="9639300"/>
            <a:ext cx="745354" cy="590550"/>
          </a:xfrm>
          <a:prstGeom prst="rect">
            <a:avLst/>
          </a:prstGeom>
        </p:spPr>
      </p:pic>
      <p:sp>
        <p:nvSpPr>
          <p:cNvPr id="28" name="矩形 27"/>
          <p:cNvSpPr>
            <a:spLocks noGrp="1"/>
          </p:cNvSpPr>
          <p:nvPr/>
        </p:nvSpPr>
        <p:spPr>
          <a:xfrm>
            <a:off x="1352550" y="9696450"/>
            <a:ext cx="4381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香港中文大学（深圳） 数据科学学院</a:t>
            </a:r>
            <a:endParaRPr sz="1650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352550" y="9963150"/>
            <a:ext cx="4381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CUHK-SZ School of Data Science</a:t>
            </a:r>
            <a:endParaRPr sz="1275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1" name="slide-title"/>
          <p:cNvSpPr>
            <a:spLocks noGrp="1"/>
          </p:cNvSpPr>
          <p:nvPr/>
        </p:nvSpPr>
        <p:spPr>
          <a:xfrm>
            <a:off x="417195" y="1437640"/>
            <a:ext cx="1602867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>
                <a:solidFill>
                  <a:srgbClr val="92278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600" b="1">
                <a:solidFill>
                  <a:srgbClr val="92278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Classical Synchronous Control</a:t>
            </a:r>
            <a:endParaRPr sz="3600" b="1">
              <a:solidFill>
                <a:srgbClr val="92278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5535275" y="1769745"/>
            <a:ext cx="1651000" cy="4495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15649575" y="1884045"/>
            <a:ext cx="1437640" cy="21399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00" b="1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Control Loop</a:t>
            </a:r>
            <a:endParaRPr sz="1800" b="1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255395" y="2484755"/>
            <a:ext cx="3060065" cy="1157605"/>
          </a:xfrm>
          <a:prstGeom prst="rect">
            <a:avLst/>
          </a:prstGeom>
          <a:solidFill>
            <a:srgbClr val="DBEAFE"/>
          </a:solidFill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1407795" y="2827655"/>
            <a:ext cx="2758440" cy="38544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 b="1">
                <a:solidFill>
                  <a:srgbClr val="0F172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800" b="1">
                <a:solidFill>
                  <a:srgbClr val="0F172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observe</a:t>
            </a:r>
            <a:endParaRPr sz="2800" b="1">
              <a:solidFill>
                <a:srgbClr val="0F172A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6" name="右箭头 35"/>
          <p:cNvSpPr>
            <a:spLocks noGrp="1"/>
          </p:cNvSpPr>
          <p:nvPr/>
        </p:nvSpPr>
        <p:spPr>
          <a:xfrm>
            <a:off x="4436745" y="2827655"/>
            <a:ext cx="893445" cy="449580"/>
          </a:xfrm>
          <a:prstGeom prst="rightArrow">
            <a:avLst/>
          </a:prstGeom>
          <a:solidFill>
            <a:srgbClr val="2563EB"/>
          </a:solidFill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5474970" y="2484755"/>
            <a:ext cx="3060065" cy="115760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5617845" y="2827655"/>
            <a:ext cx="2758440" cy="38544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 b="1">
                <a:solidFill>
                  <a:srgbClr val="0F172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800" b="1">
                <a:solidFill>
                  <a:srgbClr val="0F172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infer action</a:t>
            </a:r>
            <a:endParaRPr sz="2800" b="1">
              <a:solidFill>
                <a:srgbClr val="0F172A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9" name="右箭头 38"/>
          <p:cNvSpPr>
            <a:spLocks noGrp="1"/>
          </p:cNvSpPr>
          <p:nvPr/>
        </p:nvSpPr>
        <p:spPr>
          <a:xfrm>
            <a:off x="8627745" y="2827655"/>
            <a:ext cx="893445" cy="449580"/>
          </a:xfrm>
          <a:prstGeom prst="rightArrow">
            <a:avLst/>
          </a:prstGeom>
          <a:solidFill>
            <a:srgbClr val="2563EB"/>
          </a:solidFill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9694545" y="2484755"/>
            <a:ext cx="3060065" cy="1157605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9846945" y="2827655"/>
            <a:ext cx="2758440" cy="38544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 b="1">
                <a:solidFill>
                  <a:srgbClr val="0F172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800" b="1">
                <a:solidFill>
                  <a:srgbClr val="0F172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execute</a:t>
            </a:r>
            <a:endParaRPr sz="2800" b="1">
              <a:solidFill>
                <a:srgbClr val="0F172A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2" name="右箭头 41"/>
          <p:cNvSpPr>
            <a:spLocks noGrp="1"/>
          </p:cNvSpPr>
          <p:nvPr/>
        </p:nvSpPr>
        <p:spPr>
          <a:xfrm>
            <a:off x="12894945" y="2827655"/>
            <a:ext cx="893445" cy="449580"/>
          </a:xfrm>
          <a:prstGeom prst="rightArrow">
            <a:avLst/>
          </a:prstGeom>
          <a:solidFill>
            <a:srgbClr val="2563EB"/>
          </a:solidFill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13914120" y="2484755"/>
            <a:ext cx="3060065" cy="1157605"/>
          </a:xfrm>
          <a:prstGeom prst="rect">
            <a:avLst/>
          </a:prstGeom>
          <a:solidFill>
            <a:srgbClr val="DBEAFE"/>
          </a:solidFill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14056995" y="2827655"/>
            <a:ext cx="2758440" cy="38544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 b="1">
                <a:solidFill>
                  <a:srgbClr val="0F172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800" b="1">
                <a:solidFill>
                  <a:srgbClr val="0F172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observe</a:t>
            </a:r>
            <a:endParaRPr sz="2800" b="1">
              <a:solidFill>
                <a:srgbClr val="0F172A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1995805" y="4489450"/>
            <a:ext cx="14978380" cy="4495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625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200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- Assumes inference is fast.</a:t>
            </a:r>
            <a:endParaRPr sz="3200">
              <a:solidFill>
                <a:srgbClr val="334155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1919605" y="5272405"/>
            <a:ext cx="14978380" cy="4495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625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200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- Works for PID, small policies, lightweight planners.</a:t>
            </a:r>
            <a:endParaRPr sz="3200">
              <a:solidFill>
                <a:srgbClr val="334155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1919605" y="6091555"/>
            <a:ext cx="14978380" cy="4495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625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200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- Breaks when inference takes tens or hundreds of milliseconds.</a:t>
            </a:r>
            <a:endParaRPr sz="3200">
              <a:solidFill>
                <a:srgbClr val="334155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9144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79949"/>
            <a:ext cx="723900" cy="573552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1200150" y="209550"/>
            <a:ext cx="15278100" cy="6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Control-Loop Mismatch</a:t>
            </a:r>
            <a:endParaRPr sz="4000" b="1" i="0">
              <a:solidFill>
                <a:srgbClr val="1F497D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6649700" y="228600"/>
            <a:ext cx="1333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4/40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0" y="914400"/>
            <a:ext cx="18288000" cy="76200"/>
          </a:xfrm>
          <a:prstGeom prst="rect">
            <a:avLst/>
          </a:prstGeom>
          <a:solidFill>
            <a:srgbClr val="990099"/>
          </a:solidFill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0" y="9601200"/>
            <a:ext cx="18288000" cy="723900"/>
          </a:xfrm>
          <a:prstGeom prst="rect">
            <a:avLst/>
          </a:prstGeom>
          <a:solidFill>
            <a:srgbClr val="990099"/>
          </a:solidFill>
        </p:spPr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948" y="9639300"/>
            <a:ext cx="745354" cy="590550"/>
          </a:xfrm>
          <a:prstGeom prst="rect">
            <a:avLst/>
          </a:prstGeom>
        </p:spPr>
      </p:pic>
      <p:sp>
        <p:nvSpPr>
          <p:cNvPr id="28" name="矩形 27"/>
          <p:cNvSpPr>
            <a:spLocks noGrp="1"/>
          </p:cNvSpPr>
          <p:nvPr/>
        </p:nvSpPr>
        <p:spPr>
          <a:xfrm>
            <a:off x="1352550" y="9696450"/>
            <a:ext cx="4381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香港中文大学（深圳） 数据科学学院</a:t>
            </a:r>
            <a:endParaRPr sz="1650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352550" y="9963150"/>
            <a:ext cx="4381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CUHK-SZ School of Data Science</a:t>
            </a:r>
            <a:endParaRPr sz="1275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7" name="slide-title"/>
          <p:cNvSpPr>
            <a:spLocks noGrp="1"/>
          </p:cNvSpPr>
          <p:nvPr/>
        </p:nvSpPr>
        <p:spPr>
          <a:xfrm>
            <a:off x="476250" y="1424940"/>
            <a:ext cx="157162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>
                <a:solidFill>
                  <a:srgbClr val="92278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600" b="1">
                <a:solidFill>
                  <a:srgbClr val="92278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Large Policies Change the Timing Assumption</a:t>
            </a:r>
            <a:endParaRPr sz="3600" b="1">
              <a:solidFill>
                <a:srgbClr val="92278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6192500" y="1655445"/>
            <a:ext cx="1619250" cy="400050"/>
          </a:xfrm>
          <a:prstGeom prst="rect">
            <a:avLst/>
          </a:prstGeom>
          <a:solidFill>
            <a:srgbClr val="F97316"/>
          </a:solidFill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6306800" y="1769745"/>
            <a:ext cx="14097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00" b="1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Timing</a:t>
            </a:r>
            <a:endParaRPr sz="1600" b="1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76250" y="2169795"/>
            <a:ext cx="67246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200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- VLA policies</a:t>
            </a:r>
            <a:endParaRPr sz="3200">
              <a:solidFill>
                <a:srgbClr val="334155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76250" y="2722245"/>
            <a:ext cx="67246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200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- Diffusion / flow policies</a:t>
            </a:r>
            <a:endParaRPr sz="3200">
              <a:solidFill>
                <a:srgbClr val="334155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76250" y="3255645"/>
            <a:ext cx="67246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200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- World-model-based policies</a:t>
            </a:r>
            <a:endParaRPr sz="3200">
              <a:solidFill>
                <a:srgbClr val="334155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76250" y="3808095"/>
            <a:ext cx="67246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200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- Action chunking policies</a:t>
            </a:r>
            <a:endParaRPr sz="3200">
              <a:solidFill>
                <a:srgbClr val="334155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340600" y="3138170"/>
            <a:ext cx="1009650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1">
                <a:solidFill>
                  <a:srgbClr val="2563E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800" b="1">
                <a:solidFill>
                  <a:srgbClr val="2563E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control period: milliseconds</a:t>
            </a:r>
            <a:endParaRPr sz="2800" b="1">
              <a:solidFill>
                <a:srgbClr val="2563E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344410" y="3843020"/>
            <a:ext cx="2095500" cy="666750"/>
          </a:xfrm>
          <a:prstGeom prst="rect">
            <a:avLst/>
          </a:prstGeom>
          <a:solidFill>
            <a:srgbClr val="DBEAFE"/>
          </a:solidFill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493000" y="4033520"/>
            <a:ext cx="17907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2563E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400" b="1">
                <a:solidFill>
                  <a:srgbClr val="2563E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control</a:t>
            </a:r>
            <a:endParaRPr sz="2400" b="1">
              <a:solidFill>
                <a:srgbClr val="2563E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607550" y="4014470"/>
            <a:ext cx="1809750" cy="40005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340600" y="4852670"/>
            <a:ext cx="1009650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1">
                <a:solidFill>
                  <a:srgbClr val="F9731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800" b="1">
                <a:solidFill>
                  <a:srgbClr val="F9731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large inference: tens/hundreds of milliseconds</a:t>
            </a:r>
            <a:endParaRPr sz="2800" b="1">
              <a:solidFill>
                <a:srgbClr val="F9731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344410" y="5614670"/>
            <a:ext cx="2095500" cy="666750"/>
          </a:xfrm>
          <a:prstGeom prst="rect">
            <a:avLst/>
          </a:prstGeom>
          <a:solidFill>
            <a:srgbClr val="FFEDD5"/>
          </a:solidFill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493000" y="5805170"/>
            <a:ext cx="17907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B4530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400" b="1">
                <a:solidFill>
                  <a:srgbClr val="B4530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VLA</a:t>
            </a:r>
            <a:endParaRPr sz="2400" b="1">
              <a:solidFill>
                <a:srgbClr val="B4530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607550" y="5690870"/>
            <a:ext cx="7239000" cy="514350"/>
          </a:xfrm>
          <a:prstGeom prst="rect">
            <a:avLst/>
          </a:prstGeom>
          <a:solidFill>
            <a:srgbClr val="F97316"/>
          </a:solidFill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340600" y="6681470"/>
            <a:ext cx="100965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0F172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800" b="1">
                <a:solidFill>
                  <a:srgbClr val="0F172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 policy is now a slow producer; the robot remains a real-time consumer.</a:t>
            </a:r>
            <a:endParaRPr sz="2800" b="1">
              <a:solidFill>
                <a:srgbClr val="0F172A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9144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79949"/>
            <a:ext cx="723900" cy="573552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1200150" y="209550"/>
            <a:ext cx="15278100" cy="6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Control-Loop Mismatch</a:t>
            </a:r>
            <a:endParaRPr sz="4000" b="1" i="0">
              <a:solidFill>
                <a:srgbClr val="1F497D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6649700" y="228600"/>
            <a:ext cx="1333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5/40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0" y="914400"/>
            <a:ext cx="18288000" cy="76200"/>
          </a:xfrm>
          <a:prstGeom prst="rect">
            <a:avLst/>
          </a:prstGeom>
          <a:solidFill>
            <a:srgbClr val="990099"/>
          </a:solidFill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0" y="9601200"/>
            <a:ext cx="18288000" cy="723900"/>
          </a:xfrm>
          <a:prstGeom prst="rect">
            <a:avLst/>
          </a:prstGeom>
          <a:solidFill>
            <a:srgbClr val="990099"/>
          </a:solidFill>
        </p:spPr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948" y="9639300"/>
            <a:ext cx="745354" cy="590550"/>
          </a:xfrm>
          <a:prstGeom prst="rect">
            <a:avLst/>
          </a:prstGeom>
        </p:spPr>
      </p:pic>
      <p:sp>
        <p:nvSpPr>
          <p:cNvPr id="28" name="矩形 27"/>
          <p:cNvSpPr>
            <a:spLocks noGrp="1"/>
          </p:cNvSpPr>
          <p:nvPr/>
        </p:nvSpPr>
        <p:spPr>
          <a:xfrm>
            <a:off x="1352550" y="9696450"/>
            <a:ext cx="4381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香港中文大学（深圳） 数据科学学院</a:t>
            </a:r>
            <a:endParaRPr sz="1650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352550" y="9963150"/>
            <a:ext cx="4381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CUHK-SZ School of Data Science</a:t>
            </a:r>
            <a:endParaRPr sz="1275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3" name="slide-title"/>
          <p:cNvSpPr>
            <a:spLocks noGrp="1"/>
          </p:cNvSpPr>
          <p:nvPr/>
        </p:nvSpPr>
        <p:spPr>
          <a:xfrm>
            <a:off x="990600" y="1326515"/>
            <a:ext cx="12683490" cy="52514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>
                <a:solidFill>
                  <a:srgbClr val="92278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600" b="1">
                <a:solidFill>
                  <a:srgbClr val="92278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Waiting for Inference Is Physically Harmful</a:t>
            </a:r>
            <a:endParaRPr sz="3600" b="1">
              <a:solidFill>
                <a:srgbClr val="92278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6093440" y="1532890"/>
            <a:ext cx="1647190" cy="459740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6306800" y="1592580"/>
            <a:ext cx="1433830" cy="21844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400" b="1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Failure</a:t>
            </a:r>
            <a:endParaRPr sz="2400" b="1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90600" y="2346960"/>
            <a:ext cx="2326005" cy="1226185"/>
          </a:xfrm>
          <a:prstGeom prst="rect">
            <a:avLst/>
          </a:prstGeom>
          <a:solidFill>
            <a:srgbClr val="DBEAFE"/>
          </a:solidFill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1143000" y="2727960"/>
            <a:ext cx="2015490" cy="34988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2563E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800" b="1">
                <a:solidFill>
                  <a:srgbClr val="2563E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move</a:t>
            </a:r>
            <a:endParaRPr sz="2800" b="1">
              <a:solidFill>
                <a:srgbClr val="2563E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2" name="右箭头 31"/>
          <p:cNvSpPr>
            <a:spLocks noGrp="1"/>
          </p:cNvSpPr>
          <p:nvPr/>
        </p:nvSpPr>
        <p:spPr>
          <a:xfrm>
            <a:off x="3429000" y="2689860"/>
            <a:ext cx="891540" cy="459740"/>
          </a:xfrm>
          <a:prstGeom prst="rightArrow">
            <a:avLst/>
          </a:prstGeom>
          <a:solidFill>
            <a:srgbClr val="CBD5E1"/>
          </a:solidFill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4495800" y="2346960"/>
            <a:ext cx="2326005" cy="1226185"/>
          </a:xfrm>
          <a:prstGeom prst="rect">
            <a:avLst/>
          </a:prstGeom>
          <a:solidFill>
            <a:srgbClr val="FEE2E2"/>
          </a:solidFill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4648200" y="2727960"/>
            <a:ext cx="2015490" cy="34988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DC262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800" b="1">
                <a:solidFill>
                  <a:srgbClr val="DC262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wait</a:t>
            </a:r>
            <a:endParaRPr sz="2800" b="1">
              <a:solidFill>
                <a:srgbClr val="DC262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5" name="右箭头 34"/>
          <p:cNvSpPr>
            <a:spLocks noGrp="1"/>
          </p:cNvSpPr>
          <p:nvPr/>
        </p:nvSpPr>
        <p:spPr>
          <a:xfrm>
            <a:off x="6934200" y="2689860"/>
            <a:ext cx="891540" cy="459740"/>
          </a:xfrm>
          <a:prstGeom prst="rightArrow">
            <a:avLst/>
          </a:prstGeom>
          <a:solidFill>
            <a:srgbClr val="CBD5E1"/>
          </a:solidFill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8001000" y="2346960"/>
            <a:ext cx="2326005" cy="1226185"/>
          </a:xfrm>
          <a:prstGeom prst="rect">
            <a:avLst/>
          </a:prstGeom>
          <a:solidFill>
            <a:srgbClr val="DBEAFE"/>
          </a:solidFill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8153400" y="2727960"/>
            <a:ext cx="2015490" cy="34988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2563E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800" b="1">
                <a:solidFill>
                  <a:srgbClr val="2563E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move</a:t>
            </a:r>
            <a:endParaRPr sz="2800" b="1">
              <a:solidFill>
                <a:srgbClr val="2563E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8" name="右箭头 37"/>
          <p:cNvSpPr>
            <a:spLocks noGrp="1"/>
          </p:cNvSpPr>
          <p:nvPr/>
        </p:nvSpPr>
        <p:spPr>
          <a:xfrm>
            <a:off x="10439400" y="2689860"/>
            <a:ext cx="891540" cy="459740"/>
          </a:xfrm>
          <a:prstGeom prst="rightArrow">
            <a:avLst/>
          </a:prstGeom>
          <a:solidFill>
            <a:srgbClr val="CBD5E1"/>
          </a:solidFill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11506200" y="2346960"/>
            <a:ext cx="2326005" cy="1226185"/>
          </a:xfrm>
          <a:prstGeom prst="rect">
            <a:avLst/>
          </a:prstGeom>
          <a:solidFill>
            <a:srgbClr val="FEE2E2"/>
          </a:solidFill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11658600" y="2727960"/>
            <a:ext cx="2015490" cy="34988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DC262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800" b="1">
                <a:solidFill>
                  <a:srgbClr val="DC262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wait</a:t>
            </a:r>
            <a:endParaRPr sz="2800" b="1">
              <a:solidFill>
                <a:srgbClr val="DC262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1" name="右箭头 40"/>
          <p:cNvSpPr>
            <a:spLocks noGrp="1"/>
          </p:cNvSpPr>
          <p:nvPr/>
        </p:nvSpPr>
        <p:spPr>
          <a:xfrm>
            <a:off x="13944600" y="2689860"/>
            <a:ext cx="891540" cy="459740"/>
          </a:xfrm>
          <a:prstGeom prst="rightArrow">
            <a:avLst/>
          </a:prstGeom>
          <a:solidFill>
            <a:srgbClr val="CBD5E1"/>
          </a:solidFill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15011400" y="2346960"/>
            <a:ext cx="2326005" cy="122618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15163800" y="2727960"/>
            <a:ext cx="2015490" cy="34988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DC262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800" b="1">
                <a:solidFill>
                  <a:srgbClr val="DC262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failure</a:t>
            </a:r>
            <a:endParaRPr sz="2800" b="1">
              <a:solidFill>
                <a:srgbClr val="DC262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2508885" y="4347210"/>
            <a:ext cx="1331087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625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200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- Pause between chunks</a:t>
            </a:r>
            <a:endParaRPr sz="3200">
              <a:solidFill>
                <a:srgbClr val="334155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2508885" y="5042535"/>
            <a:ext cx="1331087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625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200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- Stale observation</a:t>
            </a:r>
            <a:endParaRPr sz="3200">
              <a:solidFill>
                <a:srgbClr val="334155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2508885" y="5737860"/>
            <a:ext cx="1331087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625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200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- Action discontinuity</a:t>
            </a:r>
            <a:endParaRPr sz="3200">
              <a:solidFill>
                <a:srgbClr val="334155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2508885" y="6433185"/>
            <a:ext cx="1331087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625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200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- High jerk</a:t>
            </a:r>
            <a:endParaRPr sz="3200">
              <a:solidFill>
                <a:srgbClr val="334155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2508885" y="7128510"/>
            <a:ext cx="1331087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625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200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- Task failure</a:t>
            </a:r>
            <a:endParaRPr sz="3200">
              <a:solidFill>
                <a:srgbClr val="334155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9144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79949"/>
            <a:ext cx="723900" cy="573552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1200150" y="209550"/>
            <a:ext cx="15278100" cy="6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OS Scheduling View</a:t>
            </a:r>
            <a:endParaRPr sz="4000" b="1" i="0">
              <a:solidFill>
                <a:srgbClr val="1F497D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6649700" y="228600"/>
            <a:ext cx="1333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6/40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0" y="914400"/>
            <a:ext cx="18288000" cy="76200"/>
          </a:xfrm>
          <a:prstGeom prst="rect">
            <a:avLst/>
          </a:prstGeom>
          <a:solidFill>
            <a:srgbClr val="990099"/>
          </a:solidFill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0" y="9601200"/>
            <a:ext cx="18288000" cy="723900"/>
          </a:xfrm>
          <a:prstGeom prst="rect">
            <a:avLst/>
          </a:prstGeom>
          <a:solidFill>
            <a:srgbClr val="990099"/>
          </a:solidFill>
        </p:spPr>
      </p:sp>
      <p:pic>
        <p:nvPicPr>
          <p:cNvPr id="53" name="图片 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948" y="9639300"/>
            <a:ext cx="745354" cy="590550"/>
          </a:xfrm>
          <a:prstGeom prst="rect">
            <a:avLst/>
          </a:prstGeom>
        </p:spPr>
      </p:pic>
      <p:sp>
        <p:nvSpPr>
          <p:cNvPr id="54" name="矩形 53"/>
          <p:cNvSpPr>
            <a:spLocks noGrp="1"/>
          </p:cNvSpPr>
          <p:nvPr/>
        </p:nvSpPr>
        <p:spPr>
          <a:xfrm>
            <a:off x="1352550" y="9696450"/>
            <a:ext cx="4381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香港中文大学（深圳） 数据科学学院</a:t>
            </a:r>
            <a:endParaRPr sz="1650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1352550" y="9963150"/>
            <a:ext cx="4381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CUHK-SZ School of Data Science</a:t>
            </a:r>
            <a:endParaRPr sz="1275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76250" y="1638300"/>
            <a:ext cx="17335500" cy="1066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450" b="1">
                <a:solidFill>
                  <a:srgbClr val="0F172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450" b="0">
                <a:solidFill>
                  <a:srgbClr val="0F172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How can robots keep executing actions while slow neural policies are still computing the next actions?</a:t>
            </a:r>
            <a:endParaRPr sz="3450" b="0">
              <a:solidFill>
                <a:srgbClr val="0F172A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75030" y="4267200"/>
            <a:ext cx="75628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625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200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- Robot execution must be continuous.</a:t>
            </a:r>
            <a:endParaRPr sz="3200">
              <a:solidFill>
                <a:srgbClr val="334155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75030" y="4800600"/>
            <a:ext cx="75628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625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200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- Large policies have inference latency.</a:t>
            </a:r>
            <a:endParaRPr sz="3200">
              <a:solidFill>
                <a:srgbClr val="334155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75030" y="5334000"/>
            <a:ext cx="7562850" cy="800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625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200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- Naive synchronization causes pauses and stale actions.</a:t>
            </a:r>
            <a:endParaRPr sz="3200">
              <a:solidFill>
                <a:srgbClr val="334155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875030" y="6381750"/>
            <a:ext cx="756285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F9731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800" b="1">
                <a:solidFill>
                  <a:srgbClr val="F9731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Scheduling target: keep the execution buffer non-empty while the policy computes.</a:t>
            </a:r>
            <a:endParaRPr sz="2800" b="1">
              <a:solidFill>
                <a:srgbClr val="F9731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9850914" y="4876800"/>
            <a:ext cx="2095500" cy="40005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9961880" y="4991100"/>
            <a:ext cx="18669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000" b="1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robot motion</a:t>
            </a:r>
            <a:endParaRPr sz="2000" b="1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12079764" y="4724400"/>
            <a:ext cx="1066800" cy="723900"/>
          </a:xfrm>
          <a:prstGeom prst="rect">
            <a:avLst/>
          </a:prstGeom>
          <a:solidFill>
            <a:srgbClr val="DBEAFE"/>
          </a:solidFill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12228830" y="4953000"/>
            <a:ext cx="7620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F172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400" b="1">
                <a:solidFill>
                  <a:srgbClr val="0F172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a_t</a:t>
            </a:r>
            <a:endParaRPr sz="2400" b="1">
              <a:solidFill>
                <a:srgbClr val="0F172A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13279914" y="4724400"/>
            <a:ext cx="1257300" cy="723900"/>
          </a:xfrm>
          <a:prstGeom prst="rect">
            <a:avLst/>
          </a:prstGeom>
          <a:solidFill>
            <a:srgbClr val="DBEAFE"/>
          </a:solidFill>
        </p:spPr>
      </p:sp>
      <p:sp>
        <p:nvSpPr>
          <p:cNvPr id="63" name="矩形 62"/>
          <p:cNvSpPr>
            <a:spLocks noGrp="1"/>
          </p:cNvSpPr>
          <p:nvPr/>
        </p:nvSpPr>
        <p:spPr>
          <a:xfrm>
            <a:off x="13428980" y="4953000"/>
            <a:ext cx="952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F172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400" b="1">
                <a:solidFill>
                  <a:srgbClr val="0F172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a_t+1</a:t>
            </a:r>
            <a:endParaRPr sz="2400" b="1">
              <a:solidFill>
                <a:srgbClr val="0F172A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14670564" y="4724400"/>
            <a:ext cx="1257300" cy="723900"/>
          </a:xfrm>
          <a:prstGeom prst="rect">
            <a:avLst/>
          </a:prstGeom>
          <a:solidFill>
            <a:srgbClr val="DBEAFE"/>
          </a:solidFill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14819630" y="4953000"/>
            <a:ext cx="952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F172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400" b="1">
                <a:solidFill>
                  <a:srgbClr val="0F172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a_t+2</a:t>
            </a:r>
            <a:endParaRPr sz="2400" b="1">
              <a:solidFill>
                <a:srgbClr val="0F172A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16061214" y="4724400"/>
            <a:ext cx="1257300" cy="723900"/>
          </a:xfrm>
          <a:prstGeom prst="rect">
            <a:avLst/>
          </a:prstGeom>
          <a:solidFill>
            <a:srgbClr val="DBEAFE"/>
          </a:solidFill>
        </p:spPr>
      </p:sp>
      <p:sp>
        <p:nvSpPr>
          <p:cNvPr id="67" name="矩形 66"/>
          <p:cNvSpPr>
            <a:spLocks noGrp="1"/>
          </p:cNvSpPr>
          <p:nvPr/>
        </p:nvSpPr>
        <p:spPr>
          <a:xfrm>
            <a:off x="16210280" y="4953000"/>
            <a:ext cx="952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F172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400" b="1">
                <a:solidFill>
                  <a:srgbClr val="0F172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a_t+3</a:t>
            </a:r>
            <a:endParaRPr sz="2400" b="1">
              <a:solidFill>
                <a:srgbClr val="0F172A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8" name="矩形 67"/>
          <p:cNvSpPr>
            <a:spLocks noGrp="1"/>
          </p:cNvSpPr>
          <p:nvPr/>
        </p:nvSpPr>
        <p:spPr>
          <a:xfrm>
            <a:off x="9565164" y="5962650"/>
            <a:ext cx="2286000" cy="400050"/>
          </a:xfrm>
          <a:prstGeom prst="rect">
            <a:avLst/>
          </a:prstGeom>
          <a:solidFill>
            <a:srgbClr val="F97316"/>
          </a:solidFill>
        </p:spPr>
      </p:sp>
      <p:sp>
        <p:nvSpPr>
          <p:cNvPr id="69" name="矩形 68"/>
          <p:cNvSpPr>
            <a:spLocks noGrp="1"/>
          </p:cNvSpPr>
          <p:nvPr/>
        </p:nvSpPr>
        <p:spPr>
          <a:xfrm>
            <a:off x="9676130" y="6076950"/>
            <a:ext cx="20574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000" b="1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model thinking</a:t>
            </a:r>
            <a:endParaRPr sz="2000" b="1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11984514" y="5695950"/>
            <a:ext cx="5619750" cy="933450"/>
          </a:xfrm>
          <a:prstGeom prst="rect">
            <a:avLst/>
          </a:prstGeom>
          <a:solidFill>
            <a:srgbClr val="FFEDD5"/>
          </a:solidFill>
        </p:spPr>
      </p:sp>
      <p:sp>
        <p:nvSpPr>
          <p:cNvPr id="71" name="矩形 70"/>
          <p:cNvSpPr>
            <a:spLocks noGrp="1"/>
          </p:cNvSpPr>
          <p:nvPr/>
        </p:nvSpPr>
        <p:spPr>
          <a:xfrm>
            <a:off x="12133580" y="6000750"/>
            <a:ext cx="53340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B4530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800" b="1">
                <a:solidFill>
                  <a:srgbClr val="B4530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infer next chunk</a:t>
            </a:r>
            <a:endParaRPr sz="2800" b="1">
              <a:solidFill>
                <a:srgbClr val="B4530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9144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79949"/>
            <a:ext cx="723900" cy="573552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1200150" y="209550"/>
            <a:ext cx="15278100" cy="6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OS Scheduling View</a:t>
            </a:r>
            <a:endParaRPr sz="4000" b="1" i="0">
              <a:solidFill>
                <a:srgbClr val="1F497D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6649700" y="228600"/>
            <a:ext cx="1333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7/40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0" y="914400"/>
            <a:ext cx="18288000" cy="76200"/>
          </a:xfrm>
          <a:prstGeom prst="rect">
            <a:avLst/>
          </a:prstGeom>
          <a:solidFill>
            <a:srgbClr val="990099"/>
          </a:solidFill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36880" y="1619250"/>
            <a:ext cx="13355320" cy="914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1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200" b="1" i="1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Robot execution consumes actions; VLA inference produces them.</a:t>
            </a:r>
            <a:endParaRPr sz="3200" b="1" i="1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57200" y="2762250"/>
            <a:ext cx="8354378" cy="1695450"/>
          </a:xfrm>
          <a:prstGeom prst="rect">
            <a:avLst/>
          </a:prstGeom>
          <a:solidFill>
            <a:srgbClr val="FFFFFF"/>
          </a:solidFill>
          <a:ln w="19050">
            <a:solidFill>
              <a:srgbClr val="92278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05125"/>
            <a:ext cx="80200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Control tick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28650" y="3419475"/>
            <a:ext cx="8020050" cy="914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 controller needs one action every Delta t, often 20-67 ms.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57200" y="4610100"/>
            <a:ext cx="8354378" cy="1695450"/>
          </a:xfrm>
          <a:prstGeom prst="rect">
            <a:avLst/>
          </a:prstGeom>
          <a:solidFill>
            <a:srgbClr val="FCE8E8"/>
          </a:solidFill>
          <a:ln w="19050">
            <a:solidFill>
              <a:srgbClr val="D00000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28650" y="4752975"/>
            <a:ext cx="80200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Slow producer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28650" y="5267325"/>
            <a:ext cx="8020050" cy="914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 VLA / diffusion / flow policy may need 76-321 ms before the next chunk is available.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57200" y="6457950"/>
            <a:ext cx="8354378" cy="1695450"/>
          </a:xfrm>
          <a:prstGeom prst="rect">
            <a:avLst/>
          </a:prstGeom>
          <a:solidFill>
            <a:srgbClr val="F7E9F7"/>
          </a:solidFill>
          <a:ln w="19050">
            <a:solidFill>
              <a:srgbClr val="92278F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6600825"/>
            <a:ext cx="80200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Scheduling object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28650" y="7115175"/>
            <a:ext cx="8020050" cy="914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 action queue tracks horizon, delay, committed prefix, and mutable suffix.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334500" y="2533650"/>
            <a:ext cx="83058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3200" b="0" i="0">
                <a:solidFill>
                  <a:srgbClr val="000000"/>
                </a:solidFill>
                <a:latin typeface="Times New Roman" panose="02020503050405090304" charset="0"/>
                <a:ea typeface="Menlo" panose="020B0609030804020204"/>
                <a:cs typeface="Times New Roman" panose="02020503050405090304" charset="0"/>
              </a:rPr>
              <a:t>producer: policy(o_t) -&gt; A_t</a:t>
            </a:r>
            <a:endParaRPr sz="3200" b="0" i="0">
              <a:solidFill>
                <a:srgbClr val="000000"/>
              </a:solidFill>
              <a:latin typeface="Times New Roman" panose="02020503050405090304" charset="0"/>
              <a:ea typeface="Menlo" panose="020B0609030804020204"/>
              <a:cs typeface="Times New Roman" panose="02020503050405090304" charset="0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334500" y="3067050"/>
            <a:ext cx="83058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3200" b="0" i="0">
                <a:solidFill>
                  <a:srgbClr val="000000"/>
                </a:solidFill>
                <a:latin typeface="Times New Roman" panose="02020503050405090304" charset="0"/>
                <a:ea typeface="Menlo" panose="020B0609030804020204"/>
                <a:cs typeface="Times New Roman" panose="02020503050405090304" charset="0"/>
              </a:rPr>
              <a:t>consumer: robot.pop_front()</a:t>
            </a:r>
            <a:endParaRPr sz="3200" b="0" i="0">
              <a:solidFill>
                <a:srgbClr val="000000"/>
              </a:solidFill>
              <a:latin typeface="Times New Roman" panose="02020503050405090304" charset="0"/>
              <a:ea typeface="Menlo" panose="020B0609030804020204"/>
              <a:cs typeface="Times New Roman" panose="02020503050405090304" charset="0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334500" y="3600450"/>
            <a:ext cx="83058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3200" b="0" i="0">
                <a:solidFill>
                  <a:srgbClr val="000000"/>
                </a:solidFill>
                <a:latin typeface="Times New Roman" panose="02020503050405090304" charset="0"/>
                <a:ea typeface="Menlo" panose="020B0609030804020204"/>
                <a:cs typeface="Times New Roman" panose="02020503050405090304" charset="0"/>
              </a:rPr>
              <a:t>deadline: queue not empty</a:t>
            </a:r>
            <a:endParaRPr sz="3200" b="0" i="0">
              <a:solidFill>
                <a:srgbClr val="000000"/>
              </a:solidFill>
              <a:latin typeface="Times New Roman" panose="02020503050405090304" charset="0"/>
              <a:ea typeface="Menlo" panose="020B0609030804020204"/>
              <a:cs typeface="Times New Roman" panose="02020503050405090304" charset="0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334500" y="4133850"/>
            <a:ext cx="83058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3200" b="0" i="0">
                <a:solidFill>
                  <a:srgbClr val="000000"/>
                </a:solidFill>
                <a:latin typeface="Times New Roman" panose="02020503050405090304" charset="0"/>
                <a:ea typeface="Menlo" panose="020B0609030804020204"/>
                <a:cs typeface="Times New Roman" panose="02020503050405090304" charset="0"/>
              </a:rPr>
              <a:t>hazard: boundary jump</a:t>
            </a:r>
            <a:endParaRPr sz="3200" b="0" i="0">
              <a:solidFill>
                <a:srgbClr val="000000"/>
              </a:solidFill>
              <a:latin typeface="Times New Roman" panose="02020503050405090304" charset="0"/>
              <a:ea typeface="Menlo" panose="020B0609030804020204"/>
              <a:cs typeface="Times New Roman" panose="02020503050405090304" charset="0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135428" y="4933950"/>
            <a:ext cx="4281011" cy="1257300"/>
          </a:xfrm>
          <a:prstGeom prst="rect">
            <a:avLst/>
          </a:prstGeom>
          <a:solidFill>
            <a:srgbClr val="FFFFFF"/>
          </a:solidFill>
          <a:ln w="19050">
            <a:solidFill>
              <a:srgbClr val="990099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9277350" y="5086350"/>
            <a:ext cx="40195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50 Hz</a:t>
            </a:r>
            <a:endParaRPr sz="3000" b="1" i="0">
              <a:solidFill>
                <a:srgbClr val="1F497D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277350" y="5581650"/>
            <a:ext cx="40195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control rate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3549789" y="4933950"/>
            <a:ext cx="4281011" cy="1257300"/>
          </a:xfrm>
          <a:prstGeom prst="rect">
            <a:avLst/>
          </a:prstGeom>
          <a:solidFill>
            <a:srgbClr val="FFFFFF"/>
          </a:solidFill>
          <a:ln w="19050">
            <a:solidFill>
              <a:srgbClr val="990099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13677900" y="5086350"/>
            <a:ext cx="40195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D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D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76 ms</a:t>
            </a:r>
            <a:endParaRPr sz="3000" b="1" i="0">
              <a:solidFill>
                <a:srgbClr val="D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3677900" y="5581650"/>
            <a:ext cx="40195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pi0 latency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9144000" y="6362700"/>
            <a:ext cx="86868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666666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3000" b="0" i="0">
                <a:solidFill>
                  <a:srgbClr val="66666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time -</a:t>
            </a:r>
            <a:r>
              <a:rPr lang="en-US" sz="3000" b="0" i="0">
                <a:solidFill>
                  <a:srgbClr val="66666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------------------------</a:t>
            </a:r>
            <a:r>
              <a:rPr sz="3000" b="0" i="0">
                <a:solidFill>
                  <a:srgbClr val="66666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&gt;</a:t>
            </a:r>
            <a:endParaRPr sz="3000" b="0" i="0">
              <a:solidFill>
                <a:srgbClr val="66666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144000" y="7010400"/>
            <a:ext cx="11430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Exec.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0411778" y="6972300"/>
            <a:ext cx="685800" cy="533400"/>
          </a:xfrm>
          <a:prstGeom prst="rect">
            <a:avLst/>
          </a:prstGeom>
          <a:solidFill>
            <a:srgbClr val="F1D4F2"/>
          </a:solidFill>
          <a:ln w="19050">
            <a:solidFill>
              <a:srgbClr val="92278F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10458450" y="7048500"/>
            <a:ext cx="6096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2278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2278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a₀</a:t>
            </a:r>
            <a:endParaRPr sz="3000" b="1" i="0">
              <a:solidFill>
                <a:srgbClr val="92278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11173778" y="6972300"/>
            <a:ext cx="685800" cy="533400"/>
          </a:xfrm>
          <a:prstGeom prst="rect">
            <a:avLst/>
          </a:prstGeom>
          <a:solidFill>
            <a:srgbClr val="F1D4F2"/>
          </a:solidFill>
          <a:ln w="19050">
            <a:solidFill>
              <a:srgbClr val="92278F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11220450" y="7048500"/>
            <a:ext cx="6096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2278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2278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a₁</a:t>
            </a:r>
            <a:endParaRPr sz="3000" b="1" i="0">
              <a:solidFill>
                <a:srgbClr val="92278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1935778" y="6972300"/>
            <a:ext cx="685800" cy="533400"/>
          </a:xfrm>
          <a:prstGeom prst="rect">
            <a:avLst/>
          </a:prstGeom>
          <a:solidFill>
            <a:srgbClr val="F1D4F2"/>
          </a:solidFill>
          <a:ln w="19050">
            <a:solidFill>
              <a:srgbClr val="92278F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11982450" y="7048500"/>
            <a:ext cx="6096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2278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2278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a₂</a:t>
            </a:r>
            <a:endParaRPr sz="3000" b="1" i="0">
              <a:solidFill>
                <a:srgbClr val="92278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2697778" y="6972300"/>
            <a:ext cx="685800" cy="533400"/>
          </a:xfrm>
          <a:prstGeom prst="rect">
            <a:avLst/>
          </a:prstGeom>
          <a:solidFill>
            <a:srgbClr val="F9E7F9"/>
          </a:solidFill>
          <a:ln w="19050">
            <a:solidFill>
              <a:srgbClr val="92278F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12744450" y="7048500"/>
            <a:ext cx="6096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2278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2278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a₃</a:t>
            </a:r>
            <a:endParaRPr sz="3000" b="1" i="0">
              <a:solidFill>
                <a:srgbClr val="92278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13459778" y="6972300"/>
            <a:ext cx="685800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92278F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13506450" y="7048500"/>
            <a:ext cx="6096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2278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2278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a₄</a:t>
            </a:r>
            <a:endParaRPr sz="3000" b="1" i="0">
              <a:solidFill>
                <a:srgbClr val="92278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14221778" y="6972300"/>
            <a:ext cx="685800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92278F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14268450" y="7048500"/>
            <a:ext cx="6096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2278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2278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a₅</a:t>
            </a:r>
            <a:endParaRPr sz="3000" b="1" i="0">
              <a:solidFill>
                <a:srgbClr val="92278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9144000" y="7696200"/>
            <a:ext cx="11430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Infer.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10401300" y="7924800"/>
            <a:ext cx="685800" cy="952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11230928" y="7658100"/>
            <a:ext cx="2000250" cy="533400"/>
          </a:xfrm>
          <a:prstGeom prst="rect">
            <a:avLst/>
          </a:prstGeom>
          <a:solidFill>
            <a:srgbClr val="EAF6EA"/>
          </a:solidFill>
          <a:ln w="19050">
            <a:solidFill>
              <a:srgbClr val="00A050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11315700" y="7753350"/>
            <a:ext cx="18478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A05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A05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infer next</a:t>
            </a:r>
            <a:endParaRPr sz="3000" b="1" i="0">
              <a:solidFill>
                <a:srgbClr val="00A05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13373100" y="7696200"/>
            <a:ext cx="4191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A05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A05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➜</a:t>
            </a:r>
            <a:endParaRPr sz="3000" b="1" i="0">
              <a:solidFill>
                <a:srgbClr val="00A05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13916978" y="7658100"/>
            <a:ext cx="2000250" cy="533400"/>
          </a:xfrm>
          <a:prstGeom prst="rect">
            <a:avLst/>
          </a:prstGeom>
          <a:solidFill>
            <a:srgbClr val="EAF6EA"/>
          </a:solidFill>
          <a:ln w="19050">
            <a:solidFill>
              <a:srgbClr val="00A050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14001750" y="7753350"/>
            <a:ext cx="18478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A05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A05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infer later</a:t>
            </a:r>
            <a:endParaRPr sz="3000" b="1" i="0">
              <a:solidFill>
                <a:srgbClr val="00A05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0" y="9601200"/>
            <a:ext cx="18288000" cy="723900"/>
          </a:xfrm>
          <a:prstGeom prst="rect">
            <a:avLst/>
          </a:prstGeom>
          <a:solidFill>
            <a:srgbClr val="990099"/>
          </a:solidFill>
        </p:spPr>
      </p:sp>
      <p:pic>
        <p:nvPicPr>
          <p:cNvPr id="53" name="图片 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948" y="9639300"/>
            <a:ext cx="745354" cy="590550"/>
          </a:xfrm>
          <a:prstGeom prst="rect">
            <a:avLst/>
          </a:prstGeom>
        </p:spPr>
      </p:pic>
      <p:sp>
        <p:nvSpPr>
          <p:cNvPr id="54" name="矩形 53"/>
          <p:cNvSpPr>
            <a:spLocks noGrp="1"/>
          </p:cNvSpPr>
          <p:nvPr/>
        </p:nvSpPr>
        <p:spPr>
          <a:xfrm>
            <a:off x="1352550" y="9696450"/>
            <a:ext cx="4381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香港中文大学（深圳） 数据科学学院</a:t>
            </a:r>
            <a:endParaRPr sz="1650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1352550" y="9963150"/>
            <a:ext cx="4381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CUHK-SZ School of Data Science</a:t>
            </a:r>
            <a:endParaRPr sz="1275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9144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79949"/>
            <a:ext cx="723900" cy="573552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1200150" y="209550"/>
            <a:ext cx="15278100" cy="6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Control-Loop Mismatch</a:t>
            </a:r>
            <a:endParaRPr sz="4000" b="1" i="0">
              <a:solidFill>
                <a:srgbClr val="1F497D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6649700" y="228600"/>
            <a:ext cx="1333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8/40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0" y="914400"/>
            <a:ext cx="18288000" cy="76200"/>
          </a:xfrm>
          <a:prstGeom prst="rect">
            <a:avLst/>
          </a:prstGeom>
          <a:solidFill>
            <a:srgbClr val="990099"/>
          </a:solidFill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04850" y="1143000"/>
            <a:ext cx="8305800" cy="914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Evidence from RTC: real-time means response within the controller period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57200" y="2133600"/>
            <a:ext cx="9525" cy="952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525000" y="1143000"/>
            <a:ext cx="83058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What goes wrong when delta &gt; Delta t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296400" y="1676400"/>
            <a:ext cx="9525" cy="952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57200" y="2295525"/>
            <a:ext cx="8534400" cy="495300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449848"/>
            <a:ext cx="8382000" cy="4644353"/>
          </a:xfrm>
          <a:prstGeom prst="rect">
            <a:avLst/>
          </a:prstGeom>
        </p:spPr>
      </p:pic>
      <p:sp>
        <p:nvSpPr>
          <p:cNvPr id="16" name="矩形 15"/>
          <p:cNvSpPr>
            <a:spLocks noGrp="1"/>
          </p:cNvSpPr>
          <p:nvPr/>
        </p:nvSpPr>
        <p:spPr>
          <a:xfrm>
            <a:off x="457200" y="7334250"/>
            <a:ext cx="8534400" cy="5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Fig. 1. RTC excerpt defining inference delay relative to the controller period.</a:t>
            </a:r>
            <a:endParaRPr sz="2200" b="0" i="1">
              <a:solidFill>
                <a:srgbClr val="66666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286875" y="2330133"/>
            <a:ext cx="8543925" cy="1695450"/>
          </a:xfrm>
          <a:prstGeom prst="rect">
            <a:avLst/>
          </a:prstGeom>
          <a:solidFill>
            <a:srgbClr val="FFFFFF"/>
          </a:solidFill>
          <a:ln w="19050">
            <a:solidFill>
              <a:srgbClr val="92278F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9467850" y="2468245"/>
            <a:ext cx="82105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Synchronous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467850" y="2982595"/>
            <a:ext cx="8210550" cy="914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observe -&gt; infer -&gt; execute. If inference is slow, the robot waits at chunk boundaries.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286875" y="4158933"/>
            <a:ext cx="8543925" cy="1695450"/>
          </a:xfrm>
          <a:prstGeom prst="rect">
            <a:avLst/>
          </a:prstGeom>
          <a:solidFill>
            <a:srgbClr val="FCE8E8"/>
          </a:solidFill>
          <a:ln w="19050">
            <a:solidFill>
              <a:srgbClr val="D00000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9467850" y="4297045"/>
            <a:ext cx="82105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Naive asynchronous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467850" y="4811395"/>
            <a:ext cx="8210550" cy="914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infer while executing, but swap chunks without preserving the already committed actions.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286875" y="5987733"/>
            <a:ext cx="8543925" cy="1695450"/>
          </a:xfrm>
          <a:prstGeom prst="rect">
            <a:avLst/>
          </a:prstGeom>
          <a:solidFill>
            <a:srgbClr val="EAF6EA"/>
          </a:solidFill>
          <a:ln w="19050">
            <a:solidFill>
              <a:srgbClr val="00A050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9467850" y="6125845"/>
            <a:ext cx="82105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Real-time chunking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467850" y="6640195"/>
            <a:ext cx="8210550" cy="914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start inference early and constrain the next chunk around actions that are guaranteed to execute.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0" y="9601200"/>
            <a:ext cx="18288000" cy="723900"/>
          </a:xfrm>
          <a:prstGeom prst="rect">
            <a:avLst/>
          </a:prstGeom>
          <a:solidFill>
            <a:srgbClr val="990099"/>
          </a:solidFill>
        </p:spPr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948" y="9639300"/>
            <a:ext cx="745354" cy="590550"/>
          </a:xfrm>
          <a:prstGeom prst="rect">
            <a:avLst/>
          </a:prstGeom>
        </p:spPr>
      </p:pic>
      <p:sp>
        <p:nvSpPr>
          <p:cNvPr id="28" name="矩形 27"/>
          <p:cNvSpPr>
            <a:spLocks noGrp="1"/>
          </p:cNvSpPr>
          <p:nvPr/>
        </p:nvSpPr>
        <p:spPr>
          <a:xfrm>
            <a:off x="1352550" y="9696450"/>
            <a:ext cx="4381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香港中文大学（深圳） 数据科学学院</a:t>
            </a:r>
            <a:endParaRPr sz="1650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352550" y="9963150"/>
            <a:ext cx="4381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CUHK-SZ School of Data Science</a:t>
            </a:r>
            <a:endParaRPr sz="1275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9144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79949"/>
            <a:ext cx="723900" cy="573552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1200150" y="209550"/>
            <a:ext cx="15278100" cy="6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Vocabulary: Action Queue Buffer</a:t>
            </a:r>
            <a:endParaRPr sz="4000" b="1" i="0">
              <a:solidFill>
                <a:srgbClr val="1F497D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6649700" y="228600"/>
            <a:ext cx="1333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9/40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0" y="914400"/>
            <a:ext cx="18288000" cy="76200"/>
          </a:xfrm>
          <a:prstGeom prst="rect">
            <a:avLst/>
          </a:prstGeom>
          <a:solidFill>
            <a:srgbClr val="990099"/>
          </a:solidFill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22960" y="1320165"/>
            <a:ext cx="12927965" cy="914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lang="en-US"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- </a:t>
            </a: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prediction horizon P or H: full length of predicted action chunk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22960" y="2386965"/>
            <a:ext cx="13506450" cy="914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lang="en-US"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- </a:t>
            </a: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execution horizon h or s: actions consumed before the next refresh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22960" y="3434715"/>
            <a:ext cx="13506450" cy="914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lang="en-US"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- </a:t>
            </a: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inference delay d: how many controller ticks pass while inference runs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22960" y="4501515"/>
            <a:ext cx="13506450" cy="914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lang="en-US"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- </a:t>
            </a: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committed prefix: actions that will execute before the new chunk arrives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22960" y="5549265"/>
            <a:ext cx="13506450" cy="914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lang="en-US"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- </a:t>
            </a: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mutable suffix: future actions still safe to regenerate or correct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57200" y="6429375"/>
            <a:ext cx="17026255" cy="2152650"/>
          </a:xfrm>
          <a:prstGeom prst="rect">
            <a:avLst/>
          </a:prstGeom>
          <a:solidFill>
            <a:srgbClr val="F7E9F7"/>
          </a:solidFill>
          <a:ln w="19050">
            <a:solidFill>
              <a:srgbClr val="92278F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28650" y="6572250"/>
            <a:ext cx="73152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OS analogy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28650" y="7086600"/>
            <a:ext cx="15849600" cy="1371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 action queue is a bounded buffer with real-time consumption and uncertain producer latency.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0" y="9601200"/>
            <a:ext cx="18288000" cy="723900"/>
          </a:xfrm>
          <a:prstGeom prst="rect">
            <a:avLst/>
          </a:prstGeom>
          <a:solidFill>
            <a:srgbClr val="990099"/>
          </a:solidFill>
        </p:spPr>
      </p:sp>
      <p:pic>
        <p:nvPicPr>
          <p:cNvPr id="53" name="图片 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948" y="9639300"/>
            <a:ext cx="745354" cy="590550"/>
          </a:xfrm>
          <a:prstGeom prst="rect">
            <a:avLst/>
          </a:prstGeom>
        </p:spPr>
      </p:pic>
      <p:sp>
        <p:nvSpPr>
          <p:cNvPr id="54" name="矩形 53"/>
          <p:cNvSpPr>
            <a:spLocks noGrp="1"/>
          </p:cNvSpPr>
          <p:nvPr/>
        </p:nvSpPr>
        <p:spPr>
          <a:xfrm>
            <a:off x="1352550" y="9696450"/>
            <a:ext cx="4381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香港中文大学（深圳） 数据科学学院</a:t>
            </a:r>
            <a:endParaRPr sz="1650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1352550" y="9963150"/>
            <a:ext cx="4381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CUHK-SZ School of Data Science</a:t>
            </a:r>
            <a:endParaRPr sz="1275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9144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79949"/>
            <a:ext cx="723900" cy="573552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1200150" y="209550"/>
            <a:ext cx="15278100" cy="6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Execution Paradigms</a:t>
            </a:r>
            <a:endParaRPr sz="4000" b="1" i="0">
              <a:solidFill>
                <a:srgbClr val="1F497D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6649700" y="228600"/>
            <a:ext cx="1333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10/40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0" y="914400"/>
            <a:ext cx="18288000" cy="76200"/>
          </a:xfrm>
          <a:prstGeom prst="rect">
            <a:avLst/>
          </a:prstGeom>
          <a:solidFill>
            <a:srgbClr val="990099"/>
          </a:solidFill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495935" y="2057400"/>
            <a:ext cx="4382135" cy="847090"/>
          </a:xfrm>
          <a:prstGeom prst="rect">
            <a:avLst/>
          </a:prstGeom>
          <a:solidFill>
            <a:srgbClr val="F7E9F7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572135" y="2171700"/>
            <a:ext cx="4227830" cy="63563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Paradigm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839335" y="2057400"/>
            <a:ext cx="4382135" cy="847090"/>
          </a:xfrm>
          <a:prstGeom prst="rect">
            <a:avLst/>
          </a:prstGeom>
          <a:solidFill>
            <a:srgbClr val="F7E9F7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915535" y="2171700"/>
            <a:ext cx="4227830" cy="63563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Schedule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182735" y="2057400"/>
            <a:ext cx="4382135" cy="847090"/>
          </a:xfrm>
          <a:prstGeom prst="rect">
            <a:avLst/>
          </a:prstGeom>
          <a:solidFill>
            <a:srgbClr val="F7E9F7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9258935" y="2171700"/>
            <a:ext cx="4227830" cy="63563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Benefit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3526135" y="2057400"/>
            <a:ext cx="4382135" cy="847090"/>
          </a:xfrm>
          <a:prstGeom prst="rect">
            <a:avLst/>
          </a:prstGeom>
          <a:solidFill>
            <a:srgbClr val="F7E9F7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3602335" y="2171700"/>
            <a:ext cx="4227830" cy="63563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Failure mode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95935" y="2667000"/>
            <a:ext cx="4382135" cy="113919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572135" y="2762250"/>
            <a:ext cx="4227830" cy="63563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single-step BC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839335" y="2667000"/>
            <a:ext cx="4382135" cy="113919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4915535" y="2762250"/>
            <a:ext cx="4227830" cy="63563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infer every tick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82735" y="2667000"/>
            <a:ext cx="4382135" cy="113919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9258935" y="2762250"/>
            <a:ext cx="4227830" cy="63563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reactive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3526135" y="2667000"/>
            <a:ext cx="4382135" cy="113919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3602335" y="2762250"/>
            <a:ext cx="4227830" cy="63563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compounding error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95935" y="3486150"/>
            <a:ext cx="4382135" cy="1139190"/>
          </a:xfrm>
          <a:prstGeom prst="rect">
            <a:avLst/>
          </a:prstGeom>
          <a:solidFill>
            <a:srgbClr val="F7E9F7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572135" y="3581400"/>
            <a:ext cx="4227830" cy="63563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ACT chunk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4839335" y="3486150"/>
            <a:ext cx="4382135" cy="1139190"/>
          </a:xfrm>
          <a:prstGeom prst="rect">
            <a:avLst/>
          </a:prstGeom>
          <a:solidFill>
            <a:srgbClr val="F7E9F7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4915535" y="3581400"/>
            <a:ext cx="4227830" cy="63563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infer, then execute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182735" y="3486150"/>
            <a:ext cx="4382135" cy="1139190"/>
          </a:xfrm>
          <a:prstGeom prst="rect">
            <a:avLst/>
          </a:prstGeom>
          <a:solidFill>
            <a:srgbClr val="F7E9F7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9258935" y="3581400"/>
            <a:ext cx="4227830" cy="63563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local trajectory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3526135" y="3486150"/>
            <a:ext cx="4382135" cy="1139190"/>
          </a:xfrm>
          <a:prstGeom prst="rect">
            <a:avLst/>
          </a:prstGeom>
          <a:solidFill>
            <a:srgbClr val="F7E9F7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13602335" y="3581400"/>
            <a:ext cx="4227830" cy="63563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pause if model slow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495935" y="4305300"/>
            <a:ext cx="4382135" cy="113919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572135" y="4400550"/>
            <a:ext cx="4227830" cy="63563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RTC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4839335" y="4305300"/>
            <a:ext cx="4382135" cy="113919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4915535" y="4400550"/>
            <a:ext cx="4227830" cy="63563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execute + infer next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9182735" y="4305300"/>
            <a:ext cx="4382135" cy="113919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9258935" y="4400550"/>
            <a:ext cx="4227830" cy="63563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continuous actions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13526135" y="4305300"/>
            <a:ext cx="4382135" cy="113919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13602335" y="4400550"/>
            <a:ext cx="4227830" cy="63563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extra compute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495935" y="5124450"/>
            <a:ext cx="4382135" cy="113919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572135" y="5219700"/>
            <a:ext cx="4227830" cy="63563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REMAC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4839335" y="5124450"/>
            <a:ext cx="4382135" cy="113919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4915535" y="5219700"/>
            <a:ext cx="4227830" cy="63563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masked-prefix training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9182735" y="5124450"/>
            <a:ext cx="4382135" cy="113919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9258935" y="5219700"/>
            <a:ext cx="4227830" cy="63563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async robust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13526135" y="5124450"/>
            <a:ext cx="4382135" cy="113919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13602335" y="5219700"/>
            <a:ext cx="4227830" cy="63563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needs adaptation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495935" y="5943600"/>
            <a:ext cx="4382135" cy="113919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572135" y="6038850"/>
            <a:ext cx="4227830" cy="63563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SmolVLA async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4839335" y="5943600"/>
            <a:ext cx="4382135" cy="113919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4915535" y="6038850"/>
            <a:ext cx="4227830" cy="63563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client/server queues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9182735" y="5943600"/>
            <a:ext cx="4382135" cy="113919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9258935" y="6038850"/>
            <a:ext cx="4227830" cy="63563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deployment stack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13526135" y="5943600"/>
            <a:ext cx="4382135" cy="113919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13602335" y="6038850"/>
            <a:ext cx="4227830" cy="63563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engineering stack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0" y="9601200"/>
            <a:ext cx="18288000" cy="723900"/>
          </a:xfrm>
          <a:prstGeom prst="rect">
            <a:avLst/>
          </a:prstGeom>
          <a:solidFill>
            <a:srgbClr val="990099"/>
          </a:solidFill>
        </p:spPr>
      </p:sp>
      <p:pic>
        <p:nvPicPr>
          <p:cNvPr id="60" name="图片 5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948" y="9639300"/>
            <a:ext cx="745354" cy="590550"/>
          </a:xfrm>
          <a:prstGeom prst="rect">
            <a:avLst/>
          </a:prstGeom>
        </p:spPr>
      </p:pic>
      <p:sp>
        <p:nvSpPr>
          <p:cNvPr id="61" name="矩形 60"/>
          <p:cNvSpPr>
            <a:spLocks noGrp="1"/>
          </p:cNvSpPr>
          <p:nvPr/>
        </p:nvSpPr>
        <p:spPr>
          <a:xfrm>
            <a:off x="1352550" y="9696450"/>
            <a:ext cx="4381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香港中文大学（深圳） 数据科学学院</a:t>
            </a:r>
            <a:endParaRPr sz="1650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1352550" y="9963150"/>
            <a:ext cx="4381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CUHK-SZ School of Data Science</a:t>
            </a:r>
            <a:endParaRPr sz="1275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9144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79949"/>
            <a:ext cx="723900" cy="573552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1200150" y="228600"/>
            <a:ext cx="15278100" cy="457200"/>
          </a:xfrm>
          <a:prstGeom prst="rect">
            <a:avLst/>
          </a:prstGeom>
        </p:spPr>
        <p:txBody>
          <a:bodyPr lIns="0" tIns="0" rIns="0" bIns="0"/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6649700" y="228600"/>
            <a:ext cx="1333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11/40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0" y="914400"/>
            <a:ext cx="18288000" cy="76200"/>
          </a:xfrm>
          <a:prstGeom prst="rect">
            <a:avLst/>
          </a:prstGeom>
          <a:solidFill>
            <a:srgbClr val="990099"/>
          </a:solidFill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1371600"/>
            <a:ext cx="47625" cy="1257300"/>
          </a:xfrm>
          <a:prstGeom prst="rect">
            <a:avLst/>
          </a:prstGeom>
          <a:solidFill>
            <a:srgbClr val="92278F"/>
          </a:solidFill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66750" y="2800350"/>
            <a:ext cx="64579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15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PART 2</a:t>
            </a:r>
            <a:endParaRPr sz="315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66750" y="3448050"/>
            <a:ext cx="645795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Paper 1: ACT</a:t>
            </a:r>
            <a:endParaRPr lang="en-US" altLang="zh-CN" sz="4050" b="1" i="0">
              <a:solidFill>
                <a:srgbClr val="1F497D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66750" y="4248150"/>
            <a:ext cx="6457950" cy="1371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2"/>
          <a:srcRect l="11095" r="11095"/>
          <a:stretch>
            <a:fillRect/>
          </a:stretch>
        </p:blipFill>
        <p:spPr>
          <a:xfrm>
            <a:off x="7905750" y="1866265"/>
            <a:ext cx="9545955" cy="6134735"/>
          </a:xfrm>
          <a:prstGeom prst="rect">
            <a:avLst/>
          </a:prstGeom>
        </p:spPr>
      </p:pic>
      <p:sp>
        <p:nvSpPr>
          <p:cNvPr id="27" name="矩形 26"/>
          <p:cNvSpPr>
            <a:spLocks noGrp="1"/>
          </p:cNvSpPr>
          <p:nvPr/>
        </p:nvSpPr>
        <p:spPr>
          <a:xfrm>
            <a:off x="10001250" y="4648200"/>
            <a:ext cx="9525" cy="952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15125700" y="4648200"/>
            <a:ext cx="9525" cy="952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12573000" y="9182100"/>
            <a:ext cx="9525" cy="952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0" y="9601200"/>
            <a:ext cx="18288000" cy="723900"/>
          </a:xfrm>
          <a:prstGeom prst="rect">
            <a:avLst/>
          </a:prstGeom>
          <a:solidFill>
            <a:srgbClr val="990099"/>
          </a:solidFill>
        </p:spPr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948" y="9639300"/>
            <a:ext cx="745354" cy="590550"/>
          </a:xfrm>
          <a:prstGeom prst="rect">
            <a:avLst/>
          </a:prstGeom>
        </p:spPr>
      </p:pic>
      <p:sp>
        <p:nvSpPr>
          <p:cNvPr id="36" name="矩形 35"/>
          <p:cNvSpPr>
            <a:spLocks noGrp="1"/>
          </p:cNvSpPr>
          <p:nvPr/>
        </p:nvSpPr>
        <p:spPr>
          <a:xfrm>
            <a:off x="1352550" y="9696450"/>
            <a:ext cx="4381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香港中文大学（深圳） 数据科学学院</a:t>
            </a:r>
            <a:endParaRPr sz="1650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352550" y="9963150"/>
            <a:ext cx="4381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CUHK-SZ School of Data Science</a:t>
            </a:r>
            <a:endParaRPr sz="1275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8" name="Figure caption 1"/>
          <p:cNvSpPr>
            <a:spLocks noGrp="1"/>
          </p:cNvSpPr>
          <p:nvPr/>
        </p:nvSpPr>
        <p:spPr>
          <a:xfrm>
            <a:off x="7905750" y="8081000"/>
            <a:ext cx="9545955" cy="5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Fig. 2. ACT overview: paper title, model architecture, and real-world manipulation tasks.</a:t>
            </a:r>
            <a:endParaRPr sz="2200" b="0" i="1">
              <a:solidFill>
                <a:srgbClr val="66666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9144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79949"/>
            <a:ext cx="723900" cy="573552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1200150" y="209550"/>
            <a:ext cx="15278100" cy="6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ACT: Why Action Chunking</a:t>
            </a:r>
            <a:endParaRPr sz="4000" b="1" i="0">
              <a:solidFill>
                <a:srgbClr val="1F497D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6649700" y="228600"/>
            <a:ext cx="1333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12/40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0" y="914400"/>
            <a:ext cx="18288000" cy="76200"/>
          </a:xfrm>
          <a:prstGeom prst="rect">
            <a:avLst/>
          </a:prstGeom>
          <a:solidFill>
            <a:srgbClr val="990099"/>
          </a:solidFill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61695" y="1224280"/>
            <a:ext cx="87058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6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Core problem</a:t>
            </a:r>
            <a:endParaRPr sz="36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1695" y="1814830"/>
            <a:ext cx="14319250" cy="914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1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1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Fine manipulation is high-frequency, contact-rich, and sensitive to compounding error.</a:t>
            </a:r>
            <a:endParaRPr sz="3000" b="1" i="1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0" y="9601200"/>
            <a:ext cx="18288000" cy="723900"/>
          </a:xfrm>
          <a:prstGeom prst="rect">
            <a:avLst/>
          </a:prstGeom>
          <a:solidFill>
            <a:srgbClr val="990099"/>
          </a:solidFill>
        </p:spPr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948" y="9639300"/>
            <a:ext cx="745354" cy="590550"/>
          </a:xfrm>
          <a:prstGeom prst="rect">
            <a:avLst/>
          </a:prstGeom>
        </p:spPr>
      </p:pic>
      <p:sp>
        <p:nvSpPr>
          <p:cNvPr id="28" name="矩形 27"/>
          <p:cNvSpPr>
            <a:spLocks noGrp="1"/>
          </p:cNvSpPr>
          <p:nvPr/>
        </p:nvSpPr>
        <p:spPr>
          <a:xfrm>
            <a:off x="1352550" y="9696450"/>
            <a:ext cx="4381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香港中文大学（深圳） 数据科学学院</a:t>
            </a:r>
            <a:endParaRPr sz="1650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352550" y="9963150"/>
            <a:ext cx="4381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CUHK-SZ School of Data Science</a:t>
            </a:r>
            <a:endParaRPr sz="1275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73735" y="3307715"/>
            <a:ext cx="62674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700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- Zhao et al., 2023</a:t>
            </a:r>
            <a:endParaRPr sz="2700">
              <a:solidFill>
                <a:srgbClr val="334155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73735" y="4393565"/>
            <a:ext cx="62674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700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- Fine-grained bimanual manipulation</a:t>
            </a:r>
            <a:endParaRPr sz="2700">
              <a:solidFill>
                <a:srgbClr val="334155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673735" y="5479415"/>
            <a:ext cx="62674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700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- Low-cost hardware</a:t>
            </a:r>
            <a:endParaRPr sz="2700">
              <a:solidFill>
                <a:srgbClr val="334155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73735" y="6565265"/>
            <a:ext cx="62674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700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- End-to-end imitation learning</a:t>
            </a:r>
            <a:endParaRPr sz="2700">
              <a:solidFill>
                <a:srgbClr val="334155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7258050" y="3152775"/>
            <a:ext cx="10553700" cy="4953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8440" y="3402330"/>
            <a:ext cx="11243310" cy="3500755"/>
          </a:xfrm>
          <a:prstGeom prst="rect">
            <a:avLst/>
          </a:prstGeom>
        </p:spPr>
      </p:pic>
      <p:sp>
        <p:nvSpPr>
          <p:cNvPr id="40" name="Figure caption 2"/>
          <p:cNvSpPr>
            <a:spLocks noGrp="1"/>
          </p:cNvSpPr>
          <p:nvPr/>
        </p:nvSpPr>
        <p:spPr>
          <a:xfrm>
            <a:off x="6568440" y="6983085"/>
            <a:ext cx="11243310" cy="5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Fig. 3. ACT hardware setup and multi-view observations for low-cost bimanual manipulation.</a:t>
            </a:r>
            <a:endParaRPr sz="2200" b="0" i="1">
              <a:solidFill>
                <a:srgbClr val="66666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9144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79949"/>
            <a:ext cx="723900" cy="573552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1200150" y="209550"/>
            <a:ext cx="15278100" cy="6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ACT: Future Action Sequence</a:t>
            </a:r>
            <a:endParaRPr sz="4000" b="1" i="0">
              <a:solidFill>
                <a:srgbClr val="1F497D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6649700" y="228600"/>
            <a:ext cx="1333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13/40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0" y="914400"/>
            <a:ext cx="18288000" cy="76200"/>
          </a:xfrm>
          <a:prstGeom prst="rect">
            <a:avLst/>
          </a:prstGeom>
          <a:solidFill>
            <a:srgbClr val="990099"/>
          </a:solidFill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9315" y="1799590"/>
            <a:ext cx="10381615" cy="6859270"/>
          </a:xfrm>
          <a:prstGeom prst="rect">
            <a:avLst/>
          </a:prstGeom>
        </p:spPr>
      </p:pic>
      <p:sp>
        <p:nvSpPr>
          <p:cNvPr id="21" name="矩形 20"/>
          <p:cNvSpPr>
            <a:spLocks noGrp="1"/>
          </p:cNvSpPr>
          <p:nvPr/>
        </p:nvSpPr>
        <p:spPr>
          <a:xfrm>
            <a:off x="0" y="9601200"/>
            <a:ext cx="18288000" cy="723900"/>
          </a:xfrm>
          <a:prstGeom prst="rect">
            <a:avLst/>
          </a:prstGeom>
          <a:solidFill>
            <a:srgbClr val="990099"/>
          </a:solidFill>
        </p:spPr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948" y="9639300"/>
            <a:ext cx="745354" cy="590550"/>
          </a:xfrm>
          <a:prstGeom prst="rect">
            <a:avLst/>
          </a:prstGeom>
        </p:spPr>
      </p:pic>
      <p:sp>
        <p:nvSpPr>
          <p:cNvPr id="23" name="矩形 22"/>
          <p:cNvSpPr>
            <a:spLocks noGrp="1"/>
          </p:cNvSpPr>
          <p:nvPr/>
        </p:nvSpPr>
        <p:spPr>
          <a:xfrm>
            <a:off x="1352550" y="9696450"/>
            <a:ext cx="4381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香港中文大学（深圳） 数据科学学院</a:t>
            </a:r>
            <a:endParaRPr sz="1650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352550" y="9963150"/>
            <a:ext cx="4381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CUHK-SZ School of Data Science</a:t>
            </a:r>
            <a:endParaRPr sz="1275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182370" y="3004820"/>
            <a:ext cx="8896350" cy="122872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F172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800" b="1">
                <a:solidFill>
                  <a:srgbClr val="0F172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Inputs:</a:t>
            </a:r>
            <a:endParaRPr sz="2800" b="1">
              <a:solidFill>
                <a:srgbClr val="0F172A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182370" y="3669030"/>
            <a:ext cx="8896350" cy="111696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75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800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- Multi-view RGB images</a:t>
            </a:r>
            <a:endParaRPr sz="2800">
              <a:solidFill>
                <a:srgbClr val="334155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182370" y="4183380"/>
            <a:ext cx="8896350" cy="111696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75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800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- Robot joint states</a:t>
            </a:r>
            <a:endParaRPr sz="2800">
              <a:solidFill>
                <a:srgbClr val="334155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182370" y="4697730"/>
            <a:ext cx="8896350" cy="111696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75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800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- Latent style variable</a:t>
            </a:r>
            <a:endParaRPr sz="2800">
              <a:solidFill>
                <a:srgbClr val="334155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182370" y="6323965"/>
            <a:ext cx="8896350" cy="122872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F172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800" b="1">
                <a:solidFill>
                  <a:srgbClr val="0F172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Output:</a:t>
            </a:r>
            <a:endParaRPr sz="2800" b="1">
              <a:solidFill>
                <a:srgbClr val="0F172A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82370" y="6968490"/>
            <a:ext cx="8896350" cy="111696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75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800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- Future action sequence</a:t>
            </a:r>
            <a:endParaRPr sz="2800">
              <a:solidFill>
                <a:srgbClr val="334155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2" name="slide-title"/>
          <p:cNvSpPr>
            <a:spLocks noGrp="1"/>
          </p:cNvSpPr>
          <p:nvPr/>
        </p:nvSpPr>
        <p:spPr>
          <a:xfrm>
            <a:off x="436880" y="1348740"/>
            <a:ext cx="8357235" cy="59118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>
                <a:solidFill>
                  <a:srgbClr val="92278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600" b="1">
                <a:solidFill>
                  <a:srgbClr val="92278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Transformer + CVAE Policy</a:t>
            </a:r>
            <a:endParaRPr sz="3600" b="1">
              <a:solidFill>
                <a:srgbClr val="92278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3" name="Figure caption 3"/>
          <p:cNvSpPr>
            <a:spLocks noGrp="1"/>
          </p:cNvSpPr>
          <p:nvPr/>
        </p:nvSpPr>
        <p:spPr>
          <a:xfrm>
            <a:off x="7219315" y="8738860"/>
            <a:ext cx="10381615" cy="5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Fig. 4. ACT architecture mapping observations and joint states to a future action sequence.</a:t>
            </a:r>
            <a:endParaRPr sz="2200" b="0" i="1">
              <a:solidFill>
                <a:srgbClr val="66666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9144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79949"/>
            <a:ext cx="723900" cy="573552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1200150" y="209550"/>
            <a:ext cx="15278100" cy="6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ACT: Future Action Sequence</a:t>
            </a:r>
            <a:endParaRPr sz="4000" b="1" i="0">
              <a:solidFill>
                <a:srgbClr val="1F497D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6649700" y="228600"/>
            <a:ext cx="1333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14/40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0" y="914400"/>
            <a:ext cx="18288000" cy="76200"/>
          </a:xfrm>
          <a:prstGeom prst="rect">
            <a:avLst/>
          </a:prstGeom>
          <a:solidFill>
            <a:srgbClr val="990099"/>
          </a:solidFill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0" y="9601200"/>
            <a:ext cx="18288000" cy="723900"/>
          </a:xfrm>
          <a:prstGeom prst="rect">
            <a:avLst/>
          </a:prstGeom>
          <a:solidFill>
            <a:srgbClr val="990099"/>
          </a:solidFill>
        </p:spPr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948" y="9639300"/>
            <a:ext cx="745354" cy="590550"/>
          </a:xfrm>
          <a:prstGeom prst="rect">
            <a:avLst/>
          </a:prstGeom>
        </p:spPr>
      </p:pic>
      <p:sp>
        <p:nvSpPr>
          <p:cNvPr id="23" name="矩形 22"/>
          <p:cNvSpPr>
            <a:spLocks noGrp="1"/>
          </p:cNvSpPr>
          <p:nvPr/>
        </p:nvSpPr>
        <p:spPr>
          <a:xfrm>
            <a:off x="1352550" y="9696450"/>
            <a:ext cx="4381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香港中文大学（深圳） 数据科学学院</a:t>
            </a:r>
            <a:endParaRPr sz="1650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352550" y="9963150"/>
            <a:ext cx="4381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CUHK-SZ School of Data Science</a:t>
            </a:r>
            <a:endParaRPr sz="1275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7" name="slide-title"/>
          <p:cNvSpPr>
            <a:spLocks noGrp="1"/>
          </p:cNvSpPr>
          <p:nvPr/>
        </p:nvSpPr>
        <p:spPr>
          <a:xfrm>
            <a:off x="476250" y="1436370"/>
            <a:ext cx="157162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>
                <a:solidFill>
                  <a:srgbClr val="92278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600" b="1">
                <a:solidFill>
                  <a:srgbClr val="92278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Why Single-Step Behavior Cloning Fails</a:t>
            </a:r>
            <a:endParaRPr sz="3600" b="1">
              <a:solidFill>
                <a:srgbClr val="92278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76250" y="3096895"/>
            <a:ext cx="70485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800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- Small errors compound over time.</a:t>
            </a:r>
            <a:endParaRPr sz="2800">
              <a:solidFill>
                <a:srgbClr val="334155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76250" y="4150360"/>
            <a:ext cx="70485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800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- Policy drifts out of training distribution.</a:t>
            </a:r>
            <a:endParaRPr sz="2800">
              <a:solidFill>
                <a:srgbClr val="334155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76250" y="5203825"/>
            <a:ext cx="70485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800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- High-frequency decisions amplify noise.</a:t>
            </a:r>
            <a:endParaRPr sz="2800">
              <a:solidFill>
                <a:srgbClr val="334155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10845" y="6257290"/>
            <a:ext cx="7048500" cy="781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800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- Contact-rich manipulation needs temporal consistency.</a:t>
            </a:r>
            <a:endParaRPr sz="2800">
              <a:solidFill>
                <a:srgbClr val="334155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020050" y="3507105"/>
            <a:ext cx="9791700" cy="2476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6420" y="2458085"/>
            <a:ext cx="11066780" cy="2475865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7459345" y="5897245"/>
            <a:ext cx="10076180" cy="1456055"/>
            <a:chOff x="13065" y="10080"/>
            <a:chExt cx="14550" cy="1500"/>
          </a:xfrm>
        </p:grpSpPr>
        <p:sp>
          <p:nvSpPr>
            <p:cNvPr id="20" name="矩形 19"/>
            <p:cNvSpPr>
              <a:spLocks noGrp="1"/>
            </p:cNvSpPr>
            <p:nvPr/>
          </p:nvSpPr>
          <p:spPr>
            <a:xfrm>
              <a:off x="13065" y="10080"/>
              <a:ext cx="2850" cy="1500"/>
            </a:xfrm>
            <a:prstGeom prst="rect">
              <a:avLst/>
            </a:prstGeom>
            <a:solidFill>
              <a:srgbClr val="DBEAFE"/>
            </a:solidFill>
          </p:spPr>
        </p:sp>
        <p:sp>
          <p:nvSpPr>
            <p:cNvPr id="33" name="矩形 32"/>
            <p:cNvSpPr>
              <a:spLocks noGrp="1"/>
            </p:cNvSpPr>
            <p:nvPr/>
          </p:nvSpPr>
          <p:spPr>
            <a:xfrm>
              <a:off x="13290" y="10620"/>
              <a:ext cx="2400" cy="420"/>
            </a:xfrm>
            <a:prstGeom prst="rect">
              <a:avLst/>
            </a:prstGeom>
          </p:spPr>
          <p:txBody>
            <a:bodyPr lIns="0" tIns="0" rIns="0" bIns="0"/>
            <a:lstStyle/>
            <a:p>
              <a:pPr>
                <a:defRPr sz="1650" b="1">
                  <a:solidFill>
                    <a:srgbClr val="2563EB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defRPr>
              </a:pPr>
              <a:r>
                <a:rPr sz="2400" b="1">
                  <a:solidFill>
                    <a:srgbClr val="2563EB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small error</a:t>
              </a:r>
              <a:endParaRPr sz="2400" b="1">
                <a:solidFill>
                  <a:srgbClr val="2563E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  <p:sp>
          <p:nvSpPr>
            <p:cNvPr id="34" name="右箭头 33"/>
            <p:cNvSpPr>
              <a:spLocks noGrp="1"/>
            </p:cNvSpPr>
            <p:nvPr/>
          </p:nvSpPr>
          <p:spPr>
            <a:xfrm>
              <a:off x="16080" y="10560"/>
              <a:ext cx="750" cy="630"/>
            </a:xfrm>
            <a:prstGeom prst="rightArrow">
              <a:avLst/>
            </a:prstGeom>
            <a:solidFill>
              <a:srgbClr val="DC2626"/>
            </a:solidFill>
          </p:spPr>
        </p:sp>
        <p:sp>
          <p:nvSpPr>
            <p:cNvPr id="35" name="矩形 34"/>
            <p:cNvSpPr>
              <a:spLocks noGrp="1"/>
            </p:cNvSpPr>
            <p:nvPr/>
          </p:nvSpPr>
          <p:spPr>
            <a:xfrm>
              <a:off x="16965" y="10080"/>
              <a:ext cx="2850" cy="1500"/>
            </a:xfrm>
            <a:prstGeom prst="rect">
              <a:avLst/>
            </a:prstGeom>
            <a:solidFill>
              <a:srgbClr val="BFDBFE"/>
            </a:solidFill>
          </p:spPr>
        </p:sp>
        <p:sp>
          <p:nvSpPr>
            <p:cNvPr id="36" name="矩形 35"/>
            <p:cNvSpPr>
              <a:spLocks noGrp="1"/>
            </p:cNvSpPr>
            <p:nvPr/>
          </p:nvSpPr>
          <p:spPr>
            <a:xfrm>
              <a:off x="17190" y="10620"/>
              <a:ext cx="2400" cy="420"/>
            </a:xfrm>
            <a:prstGeom prst="rect">
              <a:avLst/>
            </a:prstGeom>
          </p:spPr>
          <p:txBody>
            <a:bodyPr lIns="0" tIns="0" rIns="0" bIns="0"/>
            <a:lstStyle/>
            <a:p>
              <a:pPr>
                <a:defRPr sz="1650" b="1">
                  <a:solidFill>
                    <a:srgbClr val="2563EB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defRPr>
              </a:pPr>
              <a:r>
                <a:rPr sz="2400" b="1">
                  <a:solidFill>
                    <a:srgbClr val="2563EB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larger error</a:t>
              </a:r>
              <a:endParaRPr sz="2400" b="1">
                <a:solidFill>
                  <a:srgbClr val="2563E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  <p:sp>
          <p:nvSpPr>
            <p:cNvPr id="37" name="右箭头 36"/>
            <p:cNvSpPr>
              <a:spLocks noGrp="1"/>
            </p:cNvSpPr>
            <p:nvPr/>
          </p:nvSpPr>
          <p:spPr>
            <a:xfrm>
              <a:off x="19980" y="10560"/>
              <a:ext cx="750" cy="630"/>
            </a:xfrm>
            <a:prstGeom prst="rightArrow">
              <a:avLst/>
            </a:prstGeom>
            <a:solidFill>
              <a:srgbClr val="DC2626"/>
            </a:solidFill>
          </p:spPr>
        </p:sp>
        <p:sp>
          <p:nvSpPr>
            <p:cNvPr id="38" name="矩形 37"/>
            <p:cNvSpPr>
              <a:spLocks noGrp="1"/>
            </p:cNvSpPr>
            <p:nvPr/>
          </p:nvSpPr>
          <p:spPr>
            <a:xfrm>
              <a:off x="20865" y="10080"/>
              <a:ext cx="2850" cy="1500"/>
            </a:xfrm>
            <a:prstGeom prst="rect">
              <a:avLst/>
            </a:prstGeom>
            <a:solidFill>
              <a:srgbClr val="FEE2E2"/>
            </a:solidFill>
          </p:spPr>
        </p:sp>
        <p:sp>
          <p:nvSpPr>
            <p:cNvPr id="39" name="矩形 38"/>
            <p:cNvSpPr>
              <a:spLocks noGrp="1"/>
            </p:cNvSpPr>
            <p:nvPr/>
          </p:nvSpPr>
          <p:spPr>
            <a:xfrm>
              <a:off x="21089" y="10451"/>
              <a:ext cx="2400" cy="420"/>
            </a:xfrm>
            <a:prstGeom prst="rect">
              <a:avLst/>
            </a:prstGeom>
          </p:spPr>
          <p:txBody>
            <a:bodyPr lIns="0" tIns="0" rIns="0" bIns="0"/>
            <a:lstStyle/>
            <a:p>
              <a:pPr>
                <a:defRPr sz="1650" b="1">
                  <a:solidFill>
                    <a:srgbClr val="DC2626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defRPr>
              </a:pPr>
              <a:r>
                <a:rPr sz="2400" b="1">
                  <a:solidFill>
                    <a:srgbClr val="DC2626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off distribution</a:t>
              </a:r>
              <a:endParaRPr sz="2400" b="1">
                <a:solidFill>
                  <a:srgbClr val="DC262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  <p:sp>
          <p:nvSpPr>
            <p:cNvPr id="40" name="右箭头 39"/>
            <p:cNvSpPr>
              <a:spLocks noGrp="1"/>
            </p:cNvSpPr>
            <p:nvPr/>
          </p:nvSpPr>
          <p:spPr>
            <a:xfrm>
              <a:off x="23880" y="10560"/>
              <a:ext cx="750" cy="630"/>
            </a:xfrm>
            <a:prstGeom prst="rightArrow">
              <a:avLst/>
            </a:prstGeom>
            <a:solidFill>
              <a:srgbClr val="DC2626"/>
            </a:solidFill>
          </p:spPr>
        </p:sp>
        <p:sp>
          <p:nvSpPr>
            <p:cNvPr id="41" name="矩形 40"/>
            <p:cNvSpPr>
              <a:spLocks noGrp="1"/>
            </p:cNvSpPr>
            <p:nvPr/>
          </p:nvSpPr>
          <p:spPr>
            <a:xfrm>
              <a:off x="24765" y="10080"/>
              <a:ext cx="2850" cy="1500"/>
            </a:xfrm>
            <a:prstGeom prst="rect">
              <a:avLst/>
            </a:prstGeom>
            <a:solidFill>
              <a:srgbClr val="FFFFFF"/>
            </a:solidFill>
          </p:spPr>
        </p:sp>
        <p:sp>
          <p:nvSpPr>
            <p:cNvPr id="42" name="矩形 41"/>
            <p:cNvSpPr>
              <a:spLocks noGrp="1"/>
            </p:cNvSpPr>
            <p:nvPr/>
          </p:nvSpPr>
          <p:spPr>
            <a:xfrm>
              <a:off x="24990" y="10620"/>
              <a:ext cx="2400" cy="420"/>
            </a:xfrm>
            <a:prstGeom prst="rect">
              <a:avLst/>
            </a:prstGeom>
          </p:spPr>
          <p:txBody>
            <a:bodyPr lIns="0" tIns="0" rIns="0" bIns="0"/>
            <a:lstStyle/>
            <a:p>
              <a:pPr>
                <a:defRPr sz="1650" b="1">
                  <a:solidFill>
                    <a:srgbClr val="DC2626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defRPr>
              </a:pPr>
              <a:r>
                <a:rPr sz="2400" b="1">
                  <a:solidFill>
                    <a:srgbClr val="DC2626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failure</a:t>
              </a:r>
              <a:endParaRPr sz="2400" b="1">
                <a:solidFill>
                  <a:srgbClr val="DC262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</p:grpSp>
      <p:sp>
        <p:nvSpPr>
          <p:cNvPr id="44" name="Figure caption 4"/>
          <p:cNvSpPr>
            <a:spLocks noGrp="1"/>
          </p:cNvSpPr>
          <p:nvPr/>
        </p:nvSpPr>
        <p:spPr>
          <a:xfrm>
            <a:off x="6916420" y="5013950"/>
            <a:ext cx="11066780" cy="5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Fig. 5. ACT architecture: CVAE plus Transformer encoder-decoder for k-step action chunks.</a:t>
            </a:r>
            <a:endParaRPr sz="2200" b="0" i="1">
              <a:solidFill>
                <a:srgbClr val="66666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9144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79949"/>
            <a:ext cx="723900" cy="573552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1200150" y="209550"/>
            <a:ext cx="15278100" cy="6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ACT: Future Action Sequence</a:t>
            </a:r>
            <a:endParaRPr sz="4000" b="1" i="0">
              <a:solidFill>
                <a:srgbClr val="1F497D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6649700" y="228600"/>
            <a:ext cx="1333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15/40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0" y="914400"/>
            <a:ext cx="18288000" cy="76200"/>
          </a:xfrm>
          <a:prstGeom prst="rect">
            <a:avLst/>
          </a:prstGeom>
          <a:solidFill>
            <a:srgbClr val="990099"/>
          </a:solidFill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0" y="9601200"/>
            <a:ext cx="18288000" cy="723900"/>
          </a:xfrm>
          <a:prstGeom prst="rect">
            <a:avLst/>
          </a:prstGeom>
          <a:solidFill>
            <a:srgbClr val="990099"/>
          </a:solidFill>
        </p:spPr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948" y="9639300"/>
            <a:ext cx="745354" cy="590550"/>
          </a:xfrm>
          <a:prstGeom prst="rect">
            <a:avLst/>
          </a:prstGeom>
        </p:spPr>
      </p:pic>
      <p:sp>
        <p:nvSpPr>
          <p:cNvPr id="23" name="矩形 22"/>
          <p:cNvSpPr>
            <a:spLocks noGrp="1"/>
          </p:cNvSpPr>
          <p:nvPr/>
        </p:nvSpPr>
        <p:spPr>
          <a:xfrm>
            <a:off x="1352550" y="9696450"/>
            <a:ext cx="4381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香港中文大学（深圳） 数据科学学院</a:t>
            </a:r>
            <a:endParaRPr sz="1650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352550" y="9963150"/>
            <a:ext cx="4381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CUHK-SZ School of Data Science</a:t>
            </a:r>
            <a:endParaRPr sz="1275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8" name="slide-title"/>
          <p:cNvSpPr>
            <a:spLocks noGrp="1"/>
          </p:cNvSpPr>
          <p:nvPr/>
        </p:nvSpPr>
        <p:spPr>
          <a:xfrm>
            <a:off x="457200" y="1480185"/>
            <a:ext cx="157162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>
                <a:solidFill>
                  <a:srgbClr val="92278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600" b="1">
                <a:solidFill>
                  <a:srgbClr val="92278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Predict a Future Action Sequence</a:t>
            </a:r>
            <a:endParaRPr sz="3600" b="1">
              <a:solidFill>
                <a:srgbClr val="92278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695325" y="3499485"/>
            <a:ext cx="16897985" cy="3396615"/>
            <a:chOff x="750" y="6270"/>
            <a:chExt cx="25860" cy="4590"/>
          </a:xfrm>
        </p:grpSpPr>
        <p:sp>
          <p:nvSpPr>
            <p:cNvPr id="16" name="矩形 15"/>
            <p:cNvSpPr>
              <a:spLocks noGrp="1"/>
            </p:cNvSpPr>
            <p:nvPr/>
          </p:nvSpPr>
          <p:spPr>
            <a:xfrm>
              <a:off x="750" y="6270"/>
              <a:ext cx="13260" cy="690"/>
            </a:xfrm>
            <a:prstGeom prst="rect">
              <a:avLst/>
            </a:prstGeom>
          </p:spPr>
          <p:txBody>
            <a:bodyPr lIns="0" tIns="0" rIns="0" bIns="0"/>
            <a:lstStyle/>
            <a:p>
              <a:pPr>
                <a:defRPr sz="2850" b="1">
                  <a:solidFill>
                    <a:srgbClr val="64748B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defRPr>
              </a:pPr>
              <a:r>
                <a:rPr sz="3200" b="1">
                  <a:solidFill>
                    <a:srgbClr val="64748B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Not: predict a_t</a:t>
              </a:r>
              <a:endParaRPr sz="3200" b="1">
                <a:solidFill>
                  <a:srgbClr val="64748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  <p:sp>
          <p:nvSpPr>
            <p:cNvPr id="19" name="矩形 18"/>
            <p:cNvSpPr>
              <a:spLocks noGrp="1"/>
            </p:cNvSpPr>
            <p:nvPr/>
          </p:nvSpPr>
          <p:spPr>
            <a:xfrm>
              <a:off x="750" y="7440"/>
              <a:ext cx="13260" cy="690"/>
            </a:xfrm>
            <a:prstGeom prst="rect">
              <a:avLst/>
            </a:prstGeom>
          </p:spPr>
          <p:txBody>
            <a:bodyPr lIns="0" tIns="0" rIns="0" bIns="0"/>
            <a:lstStyle/>
            <a:p>
              <a:pPr>
                <a:defRPr sz="2850" b="1">
                  <a:solidFill>
                    <a:srgbClr val="2563EB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defRPr>
              </a:pPr>
              <a:r>
                <a:rPr sz="3200" b="1">
                  <a:solidFill>
                    <a:srgbClr val="2563EB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Instead: predict A_t = [a_t, a_t+1, ..., a_t+k-1]</a:t>
              </a:r>
              <a:endParaRPr sz="3200" b="1">
                <a:solidFill>
                  <a:srgbClr val="2563E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  <p:sp>
          <p:nvSpPr>
            <p:cNvPr id="26" name="矩形 25"/>
            <p:cNvSpPr>
              <a:spLocks noGrp="1"/>
            </p:cNvSpPr>
            <p:nvPr/>
          </p:nvSpPr>
          <p:spPr>
            <a:xfrm>
              <a:off x="750" y="8640"/>
              <a:ext cx="13260" cy="600"/>
            </a:xfrm>
            <a:prstGeom prst="rect">
              <a:avLst/>
            </a:prstGeom>
          </p:spPr>
          <p:txBody>
            <a:bodyPr lIns="0" tIns="0" rIns="0" bIns="0"/>
            <a:lstStyle/>
            <a:p>
              <a:pPr>
                <a:defRPr sz="2475">
                  <a:solidFill>
                    <a:srgbClr val="334155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defRPr>
              </a:pPr>
              <a:r>
                <a:rPr sz="2800">
                  <a:solidFill>
                    <a:srgbClr val="334155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- Lowers effective decision horizon.</a:t>
              </a:r>
              <a:endParaRPr sz="2800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  <p:sp>
          <p:nvSpPr>
            <p:cNvPr id="27" name="矩形 26"/>
            <p:cNvSpPr>
              <a:spLocks noGrp="1"/>
            </p:cNvSpPr>
            <p:nvPr/>
          </p:nvSpPr>
          <p:spPr>
            <a:xfrm>
              <a:off x="750" y="9450"/>
              <a:ext cx="13260" cy="600"/>
            </a:xfrm>
            <a:prstGeom prst="rect">
              <a:avLst/>
            </a:prstGeom>
          </p:spPr>
          <p:txBody>
            <a:bodyPr lIns="0" tIns="0" rIns="0" bIns="0"/>
            <a:lstStyle/>
            <a:p>
              <a:pPr>
                <a:defRPr sz="2475">
                  <a:solidFill>
                    <a:srgbClr val="334155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defRPr>
              </a:pPr>
              <a:r>
                <a:rPr sz="2800">
                  <a:solidFill>
                    <a:srgbClr val="334155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- Produces smoother local trajectories.</a:t>
              </a:r>
              <a:endParaRPr sz="2800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  <p:sp>
          <p:nvSpPr>
            <p:cNvPr id="28" name="矩形 27"/>
            <p:cNvSpPr>
              <a:spLocks noGrp="1"/>
            </p:cNvSpPr>
            <p:nvPr/>
          </p:nvSpPr>
          <p:spPr>
            <a:xfrm>
              <a:off x="750" y="10260"/>
              <a:ext cx="13260" cy="600"/>
            </a:xfrm>
            <a:prstGeom prst="rect">
              <a:avLst/>
            </a:prstGeom>
          </p:spPr>
          <p:txBody>
            <a:bodyPr lIns="0" tIns="0" rIns="0" bIns="0"/>
            <a:lstStyle/>
            <a:p>
              <a:pPr>
                <a:defRPr sz="2475">
                  <a:solidFill>
                    <a:srgbClr val="334155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defRPr>
              </a:pPr>
              <a:r>
                <a:rPr sz="2800">
                  <a:solidFill>
                    <a:srgbClr val="334155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- Captures short-horizon temporal structure.</a:t>
              </a:r>
              <a:endParaRPr sz="2800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  <p:sp>
          <p:nvSpPr>
            <p:cNvPr id="29" name="矩形 28"/>
            <p:cNvSpPr>
              <a:spLocks noGrp="1"/>
            </p:cNvSpPr>
            <p:nvPr/>
          </p:nvSpPr>
          <p:spPr>
            <a:xfrm>
              <a:off x="18120" y="6528"/>
              <a:ext cx="6600" cy="1410"/>
            </a:xfrm>
            <a:prstGeom prst="rect">
              <a:avLst/>
            </a:prstGeom>
            <a:solidFill>
              <a:srgbClr val="F1F5F9"/>
            </a:solidFill>
          </p:spPr>
        </p:sp>
        <p:sp>
          <p:nvSpPr>
            <p:cNvPr id="30" name="矩形 29"/>
            <p:cNvSpPr>
              <a:spLocks noGrp="1"/>
            </p:cNvSpPr>
            <p:nvPr/>
          </p:nvSpPr>
          <p:spPr>
            <a:xfrm>
              <a:off x="18360" y="6960"/>
              <a:ext cx="6120" cy="540"/>
            </a:xfrm>
            <a:prstGeom prst="rect">
              <a:avLst/>
            </a:prstGeom>
          </p:spPr>
          <p:txBody>
            <a:bodyPr lIns="0" tIns="0" rIns="0" bIns="0"/>
            <a:lstStyle/>
            <a:p>
              <a:pPr>
                <a:defRPr sz="2250" b="1">
                  <a:solidFill>
                    <a:srgbClr val="0F172A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defRPr>
              </a:pPr>
              <a:r>
                <a:rPr sz="2400" b="1">
                  <a:solidFill>
                    <a:srgbClr val="0F172A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one observation</a:t>
              </a:r>
              <a:endParaRPr sz="2400" b="1">
                <a:solidFill>
                  <a:srgbClr val="0F172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  <p:sp>
          <p:nvSpPr>
            <p:cNvPr id="31" name="右箭头 30"/>
            <p:cNvSpPr>
              <a:spLocks noGrp="1"/>
            </p:cNvSpPr>
            <p:nvPr/>
          </p:nvSpPr>
          <p:spPr>
            <a:xfrm>
              <a:off x="20640" y="8280"/>
              <a:ext cx="1650" cy="630"/>
            </a:xfrm>
            <a:prstGeom prst="rightArrow">
              <a:avLst/>
            </a:prstGeom>
            <a:solidFill>
              <a:srgbClr val="2563EB"/>
            </a:solidFill>
          </p:spPr>
        </p:sp>
        <p:sp>
          <p:nvSpPr>
            <p:cNvPr id="32" name="矩形 31"/>
            <p:cNvSpPr>
              <a:spLocks noGrp="1"/>
            </p:cNvSpPr>
            <p:nvPr/>
          </p:nvSpPr>
          <p:spPr>
            <a:xfrm>
              <a:off x="16230" y="9300"/>
              <a:ext cx="1980" cy="1290"/>
            </a:xfrm>
            <a:prstGeom prst="rect">
              <a:avLst/>
            </a:prstGeom>
            <a:solidFill>
              <a:srgbClr val="DBEAFE"/>
            </a:solidFill>
          </p:spPr>
        </p:sp>
        <p:sp>
          <p:nvSpPr>
            <p:cNvPr id="44" name="矩形 43"/>
            <p:cNvSpPr>
              <a:spLocks noGrp="1"/>
            </p:cNvSpPr>
            <p:nvPr/>
          </p:nvSpPr>
          <p:spPr>
            <a:xfrm>
              <a:off x="16470" y="9750"/>
              <a:ext cx="1500" cy="420"/>
            </a:xfrm>
            <a:prstGeom prst="rect">
              <a:avLst/>
            </a:prstGeom>
          </p:spPr>
          <p:txBody>
            <a:bodyPr lIns="0" tIns="0" rIns="0" bIns="0"/>
            <a:lstStyle/>
            <a:p>
              <a:pPr>
                <a:defRPr sz="1800" b="1">
                  <a:solidFill>
                    <a:srgbClr val="0F172A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defRPr>
              </a:pPr>
              <a:r>
                <a:rPr sz="2000" b="1">
                  <a:solidFill>
                    <a:srgbClr val="0F172A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a_t</a:t>
              </a:r>
              <a:endParaRPr sz="2000" b="1">
                <a:solidFill>
                  <a:srgbClr val="0F172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  <p:sp>
          <p:nvSpPr>
            <p:cNvPr id="45" name="矩形 44"/>
            <p:cNvSpPr>
              <a:spLocks noGrp="1"/>
            </p:cNvSpPr>
            <p:nvPr/>
          </p:nvSpPr>
          <p:spPr>
            <a:xfrm>
              <a:off x="18330" y="9300"/>
              <a:ext cx="1980" cy="1290"/>
            </a:xfrm>
            <a:prstGeom prst="rect">
              <a:avLst/>
            </a:prstGeom>
            <a:solidFill>
              <a:srgbClr val="DBEAFE"/>
            </a:solidFill>
          </p:spPr>
        </p:sp>
        <p:sp>
          <p:nvSpPr>
            <p:cNvPr id="46" name="矩形 45"/>
            <p:cNvSpPr>
              <a:spLocks noGrp="1"/>
            </p:cNvSpPr>
            <p:nvPr/>
          </p:nvSpPr>
          <p:spPr>
            <a:xfrm>
              <a:off x="18570" y="9750"/>
              <a:ext cx="1500" cy="420"/>
            </a:xfrm>
            <a:prstGeom prst="rect">
              <a:avLst/>
            </a:prstGeom>
          </p:spPr>
          <p:txBody>
            <a:bodyPr lIns="0" tIns="0" rIns="0" bIns="0"/>
            <a:lstStyle/>
            <a:p>
              <a:pPr>
                <a:defRPr sz="1800" b="1">
                  <a:solidFill>
                    <a:srgbClr val="0F172A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defRPr>
              </a:pPr>
              <a:r>
                <a:rPr sz="2000" b="1">
                  <a:solidFill>
                    <a:srgbClr val="0F172A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a_t+1</a:t>
              </a:r>
              <a:endParaRPr sz="2000" b="1">
                <a:solidFill>
                  <a:srgbClr val="0F172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  <p:sp>
          <p:nvSpPr>
            <p:cNvPr id="47" name="矩形 46"/>
            <p:cNvSpPr>
              <a:spLocks noGrp="1"/>
            </p:cNvSpPr>
            <p:nvPr/>
          </p:nvSpPr>
          <p:spPr>
            <a:xfrm>
              <a:off x="20430" y="9300"/>
              <a:ext cx="1980" cy="1290"/>
            </a:xfrm>
            <a:prstGeom prst="rect">
              <a:avLst/>
            </a:prstGeom>
            <a:solidFill>
              <a:srgbClr val="DBEAFE"/>
            </a:solidFill>
          </p:spPr>
        </p:sp>
        <p:sp>
          <p:nvSpPr>
            <p:cNvPr id="48" name="矩形 47"/>
            <p:cNvSpPr>
              <a:spLocks noGrp="1"/>
            </p:cNvSpPr>
            <p:nvPr/>
          </p:nvSpPr>
          <p:spPr>
            <a:xfrm>
              <a:off x="20670" y="9750"/>
              <a:ext cx="1500" cy="420"/>
            </a:xfrm>
            <a:prstGeom prst="rect">
              <a:avLst/>
            </a:prstGeom>
          </p:spPr>
          <p:txBody>
            <a:bodyPr lIns="0" tIns="0" rIns="0" bIns="0"/>
            <a:lstStyle/>
            <a:p>
              <a:pPr>
                <a:defRPr sz="1800" b="1">
                  <a:solidFill>
                    <a:srgbClr val="0F172A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defRPr>
              </a:pPr>
              <a:r>
                <a:rPr sz="2000" b="1">
                  <a:solidFill>
                    <a:srgbClr val="0F172A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a_t+2</a:t>
              </a:r>
              <a:endParaRPr sz="2000" b="1">
                <a:solidFill>
                  <a:srgbClr val="0F172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  <p:sp>
          <p:nvSpPr>
            <p:cNvPr id="49" name="矩形 48"/>
            <p:cNvSpPr>
              <a:spLocks noGrp="1"/>
            </p:cNvSpPr>
            <p:nvPr/>
          </p:nvSpPr>
          <p:spPr>
            <a:xfrm>
              <a:off x="22530" y="9300"/>
              <a:ext cx="1980" cy="1290"/>
            </a:xfrm>
            <a:prstGeom prst="rect">
              <a:avLst/>
            </a:prstGeom>
            <a:solidFill>
              <a:srgbClr val="DBEAFE"/>
            </a:solidFill>
          </p:spPr>
        </p:sp>
        <p:sp>
          <p:nvSpPr>
            <p:cNvPr id="50" name="矩形 49"/>
            <p:cNvSpPr>
              <a:spLocks noGrp="1"/>
            </p:cNvSpPr>
            <p:nvPr/>
          </p:nvSpPr>
          <p:spPr>
            <a:xfrm>
              <a:off x="22770" y="9750"/>
              <a:ext cx="1500" cy="420"/>
            </a:xfrm>
            <a:prstGeom prst="rect">
              <a:avLst/>
            </a:prstGeom>
          </p:spPr>
          <p:txBody>
            <a:bodyPr lIns="0" tIns="0" rIns="0" bIns="0"/>
            <a:lstStyle/>
            <a:p>
              <a:pPr>
                <a:defRPr sz="1800" b="1">
                  <a:solidFill>
                    <a:srgbClr val="0F172A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defRPr>
              </a:pPr>
              <a:r>
                <a:rPr sz="2000" b="1">
                  <a:solidFill>
                    <a:srgbClr val="0F172A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a_t+3</a:t>
              </a:r>
              <a:endParaRPr sz="2000" b="1">
                <a:solidFill>
                  <a:srgbClr val="0F172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  <p:sp>
          <p:nvSpPr>
            <p:cNvPr id="51" name="矩形 50"/>
            <p:cNvSpPr>
              <a:spLocks noGrp="1"/>
            </p:cNvSpPr>
            <p:nvPr/>
          </p:nvSpPr>
          <p:spPr>
            <a:xfrm>
              <a:off x="24630" y="9300"/>
              <a:ext cx="1980" cy="1290"/>
            </a:xfrm>
            <a:prstGeom prst="rect">
              <a:avLst/>
            </a:prstGeom>
            <a:solidFill>
              <a:srgbClr val="DBEAFE"/>
            </a:solidFill>
          </p:spPr>
        </p:sp>
        <p:sp>
          <p:nvSpPr>
            <p:cNvPr id="52" name="矩形 51"/>
            <p:cNvSpPr>
              <a:spLocks noGrp="1"/>
            </p:cNvSpPr>
            <p:nvPr/>
          </p:nvSpPr>
          <p:spPr>
            <a:xfrm>
              <a:off x="24870" y="9750"/>
              <a:ext cx="1500" cy="420"/>
            </a:xfrm>
            <a:prstGeom prst="rect">
              <a:avLst/>
            </a:prstGeom>
          </p:spPr>
          <p:txBody>
            <a:bodyPr lIns="0" tIns="0" rIns="0" bIns="0"/>
            <a:lstStyle/>
            <a:p>
              <a:pPr>
                <a:defRPr sz="1800" b="1">
                  <a:solidFill>
                    <a:srgbClr val="0F172A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defRPr>
              </a:pPr>
              <a:r>
                <a:rPr sz="2000" b="1">
                  <a:solidFill>
                    <a:srgbClr val="0F172A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a_t+4</a:t>
              </a:r>
              <a:endParaRPr sz="2000" b="1">
                <a:solidFill>
                  <a:srgbClr val="0F172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9144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79949"/>
            <a:ext cx="723900" cy="573552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1200150" y="209550"/>
            <a:ext cx="15278100" cy="6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ACT Evidence: Fine Manipulation</a:t>
            </a:r>
            <a:endParaRPr sz="4000" b="1" i="0">
              <a:solidFill>
                <a:srgbClr val="1F497D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6649700" y="228600"/>
            <a:ext cx="1333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16/40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0" y="914400"/>
            <a:ext cx="18288000" cy="76200"/>
          </a:xfrm>
          <a:prstGeom prst="rect">
            <a:avLst/>
          </a:prstGeom>
          <a:solidFill>
            <a:srgbClr val="990099"/>
          </a:solidFill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457200" y="1143000"/>
            <a:ext cx="8991600" cy="802005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rcRect b="34340"/>
          <a:stretch>
            <a:fillRect/>
          </a:stretch>
        </p:blipFill>
        <p:spPr>
          <a:xfrm>
            <a:off x="475615" y="1164590"/>
            <a:ext cx="8973185" cy="7998460"/>
          </a:xfrm>
          <a:prstGeom prst="rect">
            <a:avLst/>
          </a:prstGeom>
        </p:spPr>
      </p:pic>
      <p:sp>
        <p:nvSpPr>
          <p:cNvPr id="11" name="矩形 10"/>
          <p:cNvSpPr>
            <a:spLocks noGrp="1"/>
          </p:cNvSpPr>
          <p:nvPr/>
        </p:nvSpPr>
        <p:spPr>
          <a:xfrm>
            <a:off x="9705340" y="1164590"/>
            <a:ext cx="2708275" cy="576580"/>
          </a:xfrm>
          <a:prstGeom prst="rect">
            <a:avLst/>
          </a:prstGeom>
          <a:solidFill>
            <a:srgbClr val="F7E9F7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772650" y="1278890"/>
            <a:ext cx="2552700" cy="53213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Task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2413615" y="1164590"/>
            <a:ext cx="2708275" cy="576580"/>
          </a:xfrm>
          <a:prstGeom prst="rect">
            <a:avLst/>
          </a:prstGeom>
          <a:solidFill>
            <a:srgbClr val="F7E9F7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2496800" y="1278890"/>
            <a:ext cx="2552700" cy="53213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ACT final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5121890" y="1164590"/>
            <a:ext cx="2708275" cy="576580"/>
          </a:xfrm>
          <a:prstGeom prst="rect">
            <a:avLst/>
          </a:prstGeom>
          <a:solidFill>
            <a:srgbClr val="F7E9F7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5201900" y="1278890"/>
            <a:ext cx="2552700" cy="53213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Baseline final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705340" y="1659890"/>
            <a:ext cx="2708275" cy="664845"/>
          </a:xfrm>
          <a:prstGeom prst="rect">
            <a:avLst/>
          </a:prstGeom>
          <a:solidFill>
            <a:srgbClr val="F7E9F7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9772650" y="1755140"/>
            <a:ext cx="2552700" cy="53213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Slide Ziploc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2413615" y="1659890"/>
            <a:ext cx="2708275" cy="664845"/>
          </a:xfrm>
          <a:prstGeom prst="rect">
            <a:avLst/>
          </a:prstGeom>
          <a:solidFill>
            <a:srgbClr val="F7E9F7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2496800" y="1755140"/>
            <a:ext cx="2552700" cy="53213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88%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5121890" y="1659890"/>
            <a:ext cx="2708275" cy="664845"/>
          </a:xfrm>
          <a:prstGeom prst="rect">
            <a:avLst/>
          </a:prstGeom>
          <a:solidFill>
            <a:srgbClr val="F7E9F7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5201900" y="1755140"/>
            <a:ext cx="2552700" cy="53213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0%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705340" y="2231390"/>
            <a:ext cx="2708275" cy="664845"/>
          </a:xfrm>
          <a:prstGeom prst="rect">
            <a:avLst/>
          </a:prstGeom>
          <a:solidFill>
            <a:srgbClr val="F7E9F7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9772650" y="2326640"/>
            <a:ext cx="2552700" cy="53213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Slot Battery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2413615" y="2231390"/>
            <a:ext cx="2708275" cy="664845"/>
          </a:xfrm>
          <a:prstGeom prst="rect">
            <a:avLst/>
          </a:prstGeom>
          <a:solidFill>
            <a:srgbClr val="F7E9F7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2496800" y="2326640"/>
            <a:ext cx="2552700" cy="53213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96%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5121890" y="2231390"/>
            <a:ext cx="2708275" cy="664845"/>
          </a:xfrm>
          <a:prstGeom prst="rect">
            <a:avLst/>
          </a:prstGeom>
          <a:solidFill>
            <a:srgbClr val="F7E9F7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15201900" y="2326640"/>
            <a:ext cx="2552700" cy="53213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0%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705340" y="2802890"/>
            <a:ext cx="2708275" cy="664845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9772650" y="2898140"/>
            <a:ext cx="2552700" cy="53213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Open Cup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2413615" y="2802890"/>
            <a:ext cx="2708275" cy="664845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12496800" y="2898140"/>
            <a:ext cx="2552700" cy="53213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84%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5121890" y="2802890"/>
            <a:ext cx="2708275" cy="664845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15201900" y="2898140"/>
            <a:ext cx="2552700" cy="53213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0%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9705340" y="3374390"/>
            <a:ext cx="2708275" cy="664845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9772650" y="3469640"/>
            <a:ext cx="2552700" cy="53213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Put On Shoe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2413615" y="3374390"/>
            <a:ext cx="2708275" cy="664845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12496800" y="3469640"/>
            <a:ext cx="2552700" cy="53213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92%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5121890" y="3374390"/>
            <a:ext cx="2708275" cy="664845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15201900" y="3469640"/>
            <a:ext cx="2552700" cy="53213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0%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9704705" y="4716145"/>
            <a:ext cx="8125460" cy="2505710"/>
            <a:chOff x="15284" y="6424"/>
            <a:chExt cx="12796" cy="3946"/>
          </a:xfrm>
        </p:grpSpPr>
        <p:sp>
          <p:nvSpPr>
            <p:cNvPr id="41" name="矩形 40"/>
            <p:cNvSpPr>
              <a:spLocks noGrp="1"/>
            </p:cNvSpPr>
            <p:nvPr/>
          </p:nvSpPr>
          <p:spPr>
            <a:xfrm>
              <a:off x="15284" y="6424"/>
              <a:ext cx="12796" cy="3947"/>
            </a:xfrm>
            <a:prstGeom prst="rect">
              <a:avLst/>
            </a:prstGeom>
            <a:solidFill>
              <a:srgbClr val="F7E9F7"/>
            </a:solidFill>
            <a:ln w="19050">
              <a:solidFill>
                <a:srgbClr val="92278F"/>
              </a:solidFill>
              <a:prstDash val="solid"/>
            </a:ln>
          </p:spPr>
        </p:sp>
        <p:sp>
          <p:nvSpPr>
            <p:cNvPr id="42" name="矩形 41"/>
            <p:cNvSpPr>
              <a:spLocks noGrp="1"/>
            </p:cNvSpPr>
            <p:nvPr/>
          </p:nvSpPr>
          <p:spPr>
            <a:xfrm>
              <a:off x="15540" y="6634"/>
              <a:ext cx="12270" cy="838"/>
            </a:xfrm>
            <a:prstGeom prst="rect">
              <a:avLst/>
            </a:prstGeom>
          </p:spPr>
          <p:txBody>
            <a:bodyPr lIns="0" tIns="0" rIns="0" bIns="0"/>
            <a:lstStyle/>
            <a:p>
              <a:pPr>
                <a:defRPr sz="3000" b="1" i="0">
                  <a:solidFill>
                    <a:srgbClr val="990099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defRPr>
              </a:pPr>
              <a:r>
                <a:rPr sz="3000" b="1" i="0">
                  <a:solidFill>
                    <a:srgbClr val="990099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Takeaway</a:t>
              </a:r>
              <a:endPara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  <p:sp>
          <p:nvSpPr>
            <p:cNvPr id="43" name="矩形 42"/>
            <p:cNvSpPr>
              <a:spLocks noGrp="1"/>
            </p:cNvSpPr>
            <p:nvPr/>
          </p:nvSpPr>
          <p:spPr>
            <a:xfrm>
              <a:off x="15540" y="7444"/>
              <a:ext cx="12270" cy="2514"/>
            </a:xfrm>
            <a:prstGeom prst="rect">
              <a:avLst/>
            </a:prstGeom>
          </p:spPr>
          <p:txBody>
            <a:bodyPr lIns="0" tIns="0" rIns="0" bIns="0"/>
            <a:lstStyle/>
            <a:p>
              <a:pPr>
                <a:defRPr sz="3000" b="0" i="0">
                  <a:solidFill>
                    <a:srgbClr val="000000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defRPr>
              </a:pPr>
              <a:r>
                <a:rPr sz="3000" b="0" i="0">
                  <a:solidFill>
                    <a:srgbClr val="000000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Chunking reduces effective decision horizon and strengthens temporal consistency for precision contact tasks.</a:t>
              </a:r>
              <a:endPara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</p:grpSp>
      <p:sp>
        <p:nvSpPr>
          <p:cNvPr id="44" name="矩形 43"/>
          <p:cNvSpPr>
            <a:spLocks noGrp="1"/>
          </p:cNvSpPr>
          <p:nvPr/>
        </p:nvSpPr>
        <p:spPr>
          <a:xfrm>
            <a:off x="0" y="9601200"/>
            <a:ext cx="18288000" cy="723900"/>
          </a:xfrm>
          <a:prstGeom prst="rect">
            <a:avLst/>
          </a:prstGeom>
          <a:solidFill>
            <a:srgbClr val="990099"/>
          </a:solidFill>
        </p:spPr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948" y="9639300"/>
            <a:ext cx="745354" cy="590550"/>
          </a:xfrm>
          <a:prstGeom prst="rect">
            <a:avLst/>
          </a:prstGeom>
        </p:spPr>
      </p:pic>
      <p:sp>
        <p:nvSpPr>
          <p:cNvPr id="46" name="矩形 45"/>
          <p:cNvSpPr>
            <a:spLocks noGrp="1"/>
          </p:cNvSpPr>
          <p:nvPr/>
        </p:nvSpPr>
        <p:spPr>
          <a:xfrm>
            <a:off x="1352550" y="9696450"/>
            <a:ext cx="4381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香港中文大学（深圳） 数据科学学院</a:t>
            </a:r>
            <a:endParaRPr sz="1650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1352550" y="9963150"/>
            <a:ext cx="4381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CUHK-SZ School of Data Science</a:t>
            </a:r>
            <a:endParaRPr sz="1275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0" name="Figure caption 5"/>
          <p:cNvSpPr>
            <a:spLocks noGrp="1"/>
          </p:cNvSpPr>
          <p:nvPr/>
        </p:nvSpPr>
        <p:spPr>
          <a:xfrm>
            <a:off x="475615" y="8991200"/>
            <a:ext cx="8973185" cy="520000"/>
          </a:xfrm>
          <a:prstGeom prst="rect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  <p:txBody>
          <a:bodyPr lIns="0" tIns="0" rIns="0" bIns="0"/>
          <a:lstStyle/>
          <a:p>
            <a:pPr>
              <a:def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Fig. 6. ACT real-world task demonstrations and success-rate evidence.</a:t>
            </a:r>
            <a:endParaRPr sz="2200" b="0" i="1">
              <a:solidFill>
                <a:srgbClr val="66666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9144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79949"/>
            <a:ext cx="723900" cy="573552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1200150" y="209550"/>
            <a:ext cx="15278100" cy="6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ACT Limitation: Synchronous Loop</a:t>
            </a:r>
            <a:endParaRPr sz="4000" b="1" i="0">
              <a:solidFill>
                <a:srgbClr val="1F497D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6649700" y="228600"/>
            <a:ext cx="1333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17/40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0" y="914400"/>
            <a:ext cx="18288000" cy="76200"/>
          </a:xfrm>
          <a:prstGeom prst="rect">
            <a:avLst/>
          </a:prstGeom>
          <a:solidFill>
            <a:srgbClr val="990099"/>
          </a:solidFill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457200" y="1962150"/>
            <a:ext cx="8524875" cy="2400300"/>
          </a:xfrm>
          <a:prstGeom prst="rect">
            <a:avLst/>
          </a:prstGeom>
          <a:solidFill>
            <a:srgbClr val="F8F8F8"/>
          </a:solidFill>
          <a:ln w="19050">
            <a:solidFill>
              <a:srgbClr val="92278F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47700" y="2133600"/>
            <a:ext cx="81534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400" b="0" i="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observe o_t</a:t>
            </a:r>
            <a:endParaRPr sz="2400" b="0" i="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47700" y="2667000"/>
            <a:ext cx="81534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400" b="0" i="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-&gt; infer A_t</a:t>
            </a:r>
            <a:endParaRPr sz="2400" b="0" i="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47700" y="3200400"/>
            <a:ext cx="81534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400" b="0" i="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-&gt; execute chunk</a:t>
            </a:r>
            <a:endParaRPr sz="2400" b="0" i="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47700" y="3733800"/>
            <a:ext cx="81534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400" b="0" i="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-&gt; observe again</a:t>
            </a:r>
            <a:endParaRPr sz="2400" b="0" i="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57200" y="4552950"/>
            <a:ext cx="8524875" cy="1695450"/>
          </a:xfrm>
          <a:prstGeom prst="rect">
            <a:avLst/>
          </a:prstGeom>
          <a:solidFill>
            <a:srgbClr val="EAF6EA"/>
          </a:solidFill>
          <a:ln w="19050">
            <a:solidFill>
              <a:srgbClr val="00A050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28650" y="4686300"/>
            <a:ext cx="8191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Fine for ACT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28650" y="5200650"/>
            <a:ext cx="8191500" cy="914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ACT inference is about 0.01s in the original setup, so a synchronous loop is workable.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57200" y="6438900"/>
            <a:ext cx="8524875" cy="2152650"/>
          </a:xfrm>
          <a:prstGeom prst="rect">
            <a:avLst/>
          </a:prstGeom>
          <a:solidFill>
            <a:srgbClr val="FCE8E8"/>
          </a:solidFill>
          <a:ln w="19050">
            <a:solidFill>
              <a:srgbClr val="D00000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6572250"/>
            <a:ext cx="8191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Not fine for VLAs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7086600"/>
            <a:ext cx="8191500" cy="1371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When policies become diffusion / flow / VLA models, chunk generation can exceed the control period.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2919793"/>
            <a:ext cx="8382000" cy="4466465"/>
          </a:xfrm>
          <a:prstGeom prst="rect">
            <a:avLst/>
          </a:prstGeom>
        </p:spPr>
      </p:pic>
      <p:sp>
        <p:nvSpPr>
          <p:cNvPr id="22" name="矩形 21"/>
          <p:cNvSpPr>
            <a:spLocks noGrp="1"/>
          </p:cNvSpPr>
          <p:nvPr/>
        </p:nvSpPr>
        <p:spPr>
          <a:xfrm>
            <a:off x="0" y="9601200"/>
            <a:ext cx="18288000" cy="723900"/>
          </a:xfrm>
          <a:prstGeom prst="rect">
            <a:avLst/>
          </a:prstGeom>
          <a:solidFill>
            <a:srgbClr val="990099"/>
          </a:solidFill>
        </p:spPr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948" y="9639300"/>
            <a:ext cx="745354" cy="590550"/>
          </a:xfrm>
          <a:prstGeom prst="rect">
            <a:avLst/>
          </a:prstGeom>
        </p:spPr>
      </p:pic>
      <p:sp>
        <p:nvSpPr>
          <p:cNvPr id="24" name="矩形 23"/>
          <p:cNvSpPr>
            <a:spLocks noGrp="1"/>
          </p:cNvSpPr>
          <p:nvPr/>
        </p:nvSpPr>
        <p:spPr>
          <a:xfrm>
            <a:off x="1352550" y="9696450"/>
            <a:ext cx="4381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香港中文大学（深圳） 数据科学学院</a:t>
            </a:r>
            <a:endParaRPr sz="1650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352550" y="9963150"/>
            <a:ext cx="4381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CUHK-SZ School of Data Science</a:t>
            </a:r>
            <a:endParaRPr sz="1275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6" name="Figure caption 6"/>
          <p:cNvSpPr>
            <a:spLocks noGrp="1"/>
          </p:cNvSpPr>
          <p:nvPr/>
        </p:nvSpPr>
        <p:spPr>
          <a:xfrm>
            <a:off x="9372600" y="7466258"/>
            <a:ext cx="8382000" cy="5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Fig. 7. Asynchronous inference timeline motivating decoupled prediction and execution.</a:t>
            </a:r>
            <a:endParaRPr sz="2200" b="0" i="1">
              <a:solidFill>
                <a:srgbClr val="66666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9144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79949"/>
            <a:ext cx="723900" cy="573552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1200150" y="228600"/>
            <a:ext cx="15278100" cy="457200"/>
          </a:xfrm>
          <a:prstGeom prst="rect">
            <a:avLst/>
          </a:prstGeom>
        </p:spPr>
        <p:txBody>
          <a:bodyPr lIns="0" tIns="0" rIns="0" bIns="0"/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6649700" y="228600"/>
            <a:ext cx="1333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18/40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0" y="914400"/>
            <a:ext cx="18288000" cy="76200"/>
          </a:xfrm>
          <a:prstGeom prst="rect">
            <a:avLst/>
          </a:prstGeom>
          <a:solidFill>
            <a:srgbClr val="990099"/>
          </a:solidFill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1371600"/>
            <a:ext cx="47625" cy="1257300"/>
          </a:xfrm>
          <a:prstGeom prst="rect">
            <a:avLst/>
          </a:prstGeom>
          <a:solidFill>
            <a:srgbClr val="92278F"/>
          </a:solidFill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66750" y="2800350"/>
            <a:ext cx="64579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15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PART 3</a:t>
            </a:r>
            <a:endParaRPr sz="315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66750" y="3448050"/>
            <a:ext cx="645795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Paper 2: RTC</a:t>
            </a:r>
            <a:endParaRPr lang="en-US" altLang="zh-CN" sz="4050" b="1" i="0">
              <a:solidFill>
                <a:srgbClr val="1F497D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2"/>
          <a:srcRect l="11095" r="11095"/>
          <a:stretch>
            <a:fillRect/>
          </a:stretch>
        </p:blipFill>
        <p:spPr>
          <a:xfrm>
            <a:off x="7124700" y="1721485"/>
            <a:ext cx="10100945" cy="6491605"/>
          </a:xfrm>
          <a:prstGeom prst="rect">
            <a:avLst/>
          </a:prstGeom>
        </p:spPr>
      </p:pic>
      <p:sp>
        <p:nvSpPr>
          <p:cNvPr id="27" name="矩形 26"/>
          <p:cNvSpPr>
            <a:spLocks noGrp="1"/>
          </p:cNvSpPr>
          <p:nvPr/>
        </p:nvSpPr>
        <p:spPr>
          <a:xfrm>
            <a:off x="10001250" y="4648200"/>
            <a:ext cx="9525" cy="952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0" y="9601200"/>
            <a:ext cx="18288000" cy="723900"/>
          </a:xfrm>
          <a:prstGeom prst="rect">
            <a:avLst/>
          </a:prstGeom>
          <a:solidFill>
            <a:srgbClr val="990099"/>
          </a:solidFill>
        </p:spPr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948" y="9639300"/>
            <a:ext cx="745354" cy="590550"/>
          </a:xfrm>
          <a:prstGeom prst="rect">
            <a:avLst/>
          </a:prstGeom>
        </p:spPr>
      </p:pic>
      <p:sp>
        <p:nvSpPr>
          <p:cNvPr id="36" name="矩形 35"/>
          <p:cNvSpPr>
            <a:spLocks noGrp="1"/>
          </p:cNvSpPr>
          <p:nvPr/>
        </p:nvSpPr>
        <p:spPr>
          <a:xfrm>
            <a:off x="1352550" y="9696450"/>
            <a:ext cx="4381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香港中文大学（深圳） 数据科学学院</a:t>
            </a:r>
            <a:endParaRPr sz="1650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352550" y="9963150"/>
            <a:ext cx="4381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CUHK-SZ School of Data Science</a:t>
            </a:r>
            <a:endParaRPr sz="1275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8" name="Figure caption 7"/>
          <p:cNvSpPr>
            <a:spLocks noGrp="1"/>
          </p:cNvSpPr>
          <p:nvPr/>
        </p:nvSpPr>
        <p:spPr>
          <a:xfrm>
            <a:off x="7124700" y="8293090"/>
            <a:ext cx="10100945" cy="5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Fig. 8. RTC overview: paper title, real-time chunking diagram, and trajectory evidence.</a:t>
            </a:r>
            <a:endParaRPr sz="2200" b="0" i="1">
              <a:solidFill>
                <a:srgbClr val="66666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9144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79949"/>
            <a:ext cx="723900" cy="573552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1200150" y="209550"/>
            <a:ext cx="15278100" cy="6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RTC: Real-Time Async Chunking</a:t>
            </a:r>
            <a:endParaRPr sz="4000" b="1" i="0">
              <a:solidFill>
                <a:srgbClr val="1F497D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6649700" y="228600"/>
            <a:ext cx="1333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19/40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0" y="914400"/>
            <a:ext cx="18288000" cy="76200"/>
          </a:xfrm>
          <a:prstGeom prst="rect">
            <a:avLst/>
          </a:prstGeom>
          <a:solidFill>
            <a:srgbClr val="990099"/>
          </a:solidFill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0" y="9601200"/>
            <a:ext cx="18288000" cy="723900"/>
          </a:xfrm>
          <a:prstGeom prst="rect">
            <a:avLst/>
          </a:prstGeom>
          <a:solidFill>
            <a:srgbClr val="990099"/>
          </a:solidFill>
        </p:spPr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948" y="9639300"/>
            <a:ext cx="745354" cy="590550"/>
          </a:xfrm>
          <a:prstGeom prst="rect">
            <a:avLst/>
          </a:prstGeom>
        </p:spPr>
      </p:pic>
      <p:sp>
        <p:nvSpPr>
          <p:cNvPr id="28" name="矩形 27"/>
          <p:cNvSpPr>
            <a:spLocks noGrp="1"/>
          </p:cNvSpPr>
          <p:nvPr/>
        </p:nvSpPr>
        <p:spPr>
          <a:xfrm>
            <a:off x="1352550" y="9696450"/>
            <a:ext cx="4381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香港中文大学（深圳） 数据科学学院</a:t>
            </a:r>
            <a:endParaRPr sz="1650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352550" y="9963150"/>
            <a:ext cx="4381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CUHK-SZ School of Data Science</a:t>
            </a:r>
            <a:endParaRPr sz="1275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1" name="slide-title"/>
          <p:cNvSpPr>
            <a:spLocks noGrp="1"/>
          </p:cNvSpPr>
          <p:nvPr/>
        </p:nvSpPr>
        <p:spPr>
          <a:xfrm>
            <a:off x="476250" y="1454785"/>
            <a:ext cx="157162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1">
                <a:solidFill>
                  <a:srgbClr val="92278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200" b="1">
                <a:solidFill>
                  <a:srgbClr val="92278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RTC: Real-Time Execution of Action Chunking Flow Policies</a:t>
            </a:r>
            <a:endParaRPr sz="3200" b="1">
              <a:solidFill>
                <a:srgbClr val="92278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6306800" y="1200150"/>
            <a:ext cx="14097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400" b="1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RTC</a:t>
            </a:r>
            <a:endParaRPr sz="1400" b="1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3505835" y="2479040"/>
            <a:ext cx="62674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800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- Black, Galliker, Levine, 2025</a:t>
            </a:r>
            <a:endParaRPr sz="2800">
              <a:solidFill>
                <a:srgbClr val="334155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3505835" y="3031490"/>
            <a:ext cx="62674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800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- Inference-time algorithm</a:t>
            </a:r>
            <a:endParaRPr sz="2800">
              <a:solidFill>
                <a:srgbClr val="334155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3505835" y="3564890"/>
            <a:ext cx="62674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800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- No retraining</a:t>
            </a:r>
            <a:endParaRPr sz="2800">
              <a:solidFill>
                <a:srgbClr val="334155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3505835" y="4117340"/>
            <a:ext cx="6267450" cy="838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800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- Works with diffusion/flow-based VLA policies</a:t>
            </a:r>
            <a:endParaRPr sz="2800">
              <a:solidFill>
                <a:srgbClr val="334155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835" y="5914371"/>
            <a:ext cx="10401300" cy="2498129"/>
          </a:xfrm>
          <a:prstGeom prst="rect">
            <a:avLst/>
          </a:prstGeom>
        </p:spPr>
      </p:pic>
      <p:sp>
        <p:nvSpPr>
          <p:cNvPr id="40" name="Figure caption 8"/>
          <p:cNvSpPr>
            <a:spLocks noGrp="1"/>
          </p:cNvSpPr>
          <p:nvPr/>
        </p:nvSpPr>
        <p:spPr>
          <a:xfrm>
            <a:off x="3505835" y="8492500"/>
            <a:ext cx="10401300" cy="5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Fig. 9. RTC trajectory evidence comparing real-time chunking with synchronous execution.</a:t>
            </a:r>
            <a:endParaRPr sz="2200" b="0" i="1">
              <a:solidFill>
                <a:srgbClr val="66666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9144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79949"/>
            <a:ext cx="723900" cy="573552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1200150" y="209550"/>
            <a:ext cx="15278100" cy="6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Naive Async Can Be Worse</a:t>
            </a:r>
            <a:endParaRPr sz="4000" b="1" i="0">
              <a:solidFill>
                <a:srgbClr val="1F497D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6649700" y="228600"/>
            <a:ext cx="1333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20/40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0" y="914400"/>
            <a:ext cx="18288000" cy="76200"/>
          </a:xfrm>
          <a:prstGeom prst="rect">
            <a:avLst/>
          </a:prstGeom>
          <a:solidFill>
            <a:srgbClr val="990099"/>
          </a:solidFill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457200" y="1143000"/>
            <a:ext cx="8953500" cy="802005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684717"/>
            <a:ext cx="8801100" cy="4936617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533400" y="8991200"/>
            <a:ext cx="8953500" cy="5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Fig. 10. RTC bifurcation example: old and new chunks choose incompatible motion modes.</a:t>
            </a:r>
            <a:endParaRPr sz="2200" b="0" i="1">
              <a:solidFill>
                <a:srgbClr val="66666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714071" y="1143000"/>
            <a:ext cx="8116729" cy="2152650"/>
          </a:xfrm>
          <a:prstGeom prst="rect">
            <a:avLst/>
          </a:prstGeom>
          <a:solidFill>
            <a:srgbClr val="FFFFFF"/>
          </a:solidFill>
          <a:ln w="19050">
            <a:solidFill>
              <a:srgbClr val="92278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886950" y="1276350"/>
            <a:ext cx="77724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Scheduling hazard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886950" y="1790700"/>
            <a:ext cx="7772400" cy="1371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 new chunk is computed from a newer observation, but it arrives after several old actions have already been consumed.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714071" y="3448050"/>
            <a:ext cx="8116729" cy="1695450"/>
          </a:xfrm>
          <a:prstGeom prst="rect">
            <a:avLst/>
          </a:prstGeom>
          <a:solidFill>
            <a:srgbClr val="FCE8E8"/>
          </a:solidFill>
          <a:ln w="19050">
            <a:solidFill>
              <a:srgbClr val="D00000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886950" y="3581400"/>
            <a:ext cx="77724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Boundary jump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886950" y="4095750"/>
            <a:ext cx="7772400" cy="914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Swapping from old chunk to new chunk may jump between two valid but incompatible modes.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714071" y="5295900"/>
            <a:ext cx="8116729" cy="1695450"/>
          </a:xfrm>
          <a:prstGeom prst="rect">
            <a:avLst/>
          </a:prstGeom>
          <a:solidFill>
            <a:srgbClr val="F7E9F7"/>
          </a:solidFill>
          <a:ln w="19050">
            <a:solidFill>
              <a:srgbClr val="92278F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9886950" y="5429250"/>
            <a:ext cx="77724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Why TE is insufficient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886950" y="5943600"/>
            <a:ext cx="7772400" cy="914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Averaging actions may smooth acceleration but can produce invalid actions between modes.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1590" y="9601200"/>
            <a:ext cx="18288000" cy="723900"/>
          </a:xfrm>
          <a:prstGeom prst="rect">
            <a:avLst/>
          </a:prstGeom>
          <a:solidFill>
            <a:srgbClr val="990099"/>
          </a:solidFill>
        </p:spPr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948" y="9639300"/>
            <a:ext cx="745354" cy="590550"/>
          </a:xfrm>
          <a:prstGeom prst="rect">
            <a:avLst/>
          </a:prstGeom>
        </p:spPr>
      </p:pic>
      <p:sp>
        <p:nvSpPr>
          <p:cNvPr id="22" name="矩形 21"/>
          <p:cNvSpPr>
            <a:spLocks noGrp="1"/>
          </p:cNvSpPr>
          <p:nvPr/>
        </p:nvSpPr>
        <p:spPr>
          <a:xfrm>
            <a:off x="1352550" y="9696450"/>
            <a:ext cx="4381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香港中文大学（深圳） 数据科学学院</a:t>
            </a:r>
            <a:endParaRPr sz="1650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352550" y="9963150"/>
            <a:ext cx="4381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CUHK-SZ School of Data Science</a:t>
            </a:r>
            <a:endParaRPr sz="1275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9144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79949"/>
            <a:ext cx="723900" cy="573552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1200150" y="209550"/>
            <a:ext cx="15278100" cy="6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RTC: Freeze + Inpaint</a:t>
            </a:r>
            <a:endParaRPr sz="4000" b="1" i="0">
              <a:solidFill>
                <a:srgbClr val="1F497D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6649700" y="228600"/>
            <a:ext cx="1333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21/40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0" y="914400"/>
            <a:ext cx="18288000" cy="76200"/>
          </a:xfrm>
          <a:prstGeom prst="rect">
            <a:avLst/>
          </a:prstGeom>
          <a:solidFill>
            <a:srgbClr val="990099"/>
          </a:solidFill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3444113"/>
            <a:ext cx="8839200" cy="3417824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381000" y="7084295"/>
            <a:ext cx="8991600" cy="5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Fig. 11. RTC guidance diagram: frozen prefix, soft overlap, and generated suffix.</a:t>
            </a:r>
            <a:endParaRPr sz="2200" b="0" i="1">
              <a:solidFill>
                <a:srgbClr val="66666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705023" y="1276350"/>
            <a:ext cx="704850" cy="533400"/>
          </a:xfrm>
          <a:prstGeom prst="rect">
            <a:avLst/>
          </a:prstGeom>
          <a:solidFill>
            <a:srgbClr val="FCE8E8"/>
          </a:solidFill>
          <a:ln w="19050">
            <a:solidFill>
              <a:srgbClr val="D00000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734550" y="1352550"/>
            <a:ext cx="6286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D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D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a0</a:t>
            </a:r>
            <a:endParaRPr sz="3000" b="1" i="0">
              <a:solidFill>
                <a:srgbClr val="D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486073" y="1276350"/>
            <a:ext cx="704850" cy="533400"/>
          </a:xfrm>
          <a:prstGeom prst="rect">
            <a:avLst/>
          </a:prstGeom>
          <a:solidFill>
            <a:srgbClr val="FCE8E8"/>
          </a:solidFill>
          <a:ln w="19050">
            <a:solidFill>
              <a:srgbClr val="D00000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0515600" y="1352550"/>
            <a:ext cx="6286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D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D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a1</a:t>
            </a:r>
            <a:endParaRPr sz="3000" b="1" i="0">
              <a:solidFill>
                <a:srgbClr val="D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1267123" y="1276350"/>
            <a:ext cx="704850" cy="533400"/>
          </a:xfrm>
          <a:prstGeom prst="rect">
            <a:avLst/>
          </a:prstGeom>
          <a:solidFill>
            <a:srgbClr val="FCE8E8"/>
          </a:solidFill>
          <a:ln w="19050">
            <a:solidFill>
              <a:srgbClr val="D00000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1296650" y="1352550"/>
            <a:ext cx="6286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D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D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a2</a:t>
            </a:r>
            <a:endParaRPr sz="3000" b="1" i="0">
              <a:solidFill>
                <a:srgbClr val="D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2048173" y="1276350"/>
            <a:ext cx="704850" cy="533400"/>
          </a:xfrm>
          <a:prstGeom prst="rect">
            <a:avLst/>
          </a:prstGeom>
          <a:solidFill>
            <a:srgbClr val="EAF6EA"/>
          </a:solidFill>
          <a:ln w="19050">
            <a:solidFill>
              <a:srgbClr val="00A050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2077700" y="1352550"/>
            <a:ext cx="6286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A05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A05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?</a:t>
            </a:r>
            <a:endParaRPr sz="3000" b="1" i="0">
              <a:solidFill>
                <a:srgbClr val="00A05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2829223" y="1276350"/>
            <a:ext cx="704850" cy="533400"/>
          </a:xfrm>
          <a:prstGeom prst="rect">
            <a:avLst/>
          </a:prstGeom>
          <a:solidFill>
            <a:srgbClr val="EAF6EA"/>
          </a:solidFill>
          <a:ln w="19050">
            <a:solidFill>
              <a:srgbClr val="00A050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2858750" y="1352550"/>
            <a:ext cx="6286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A05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A05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?</a:t>
            </a:r>
            <a:endParaRPr sz="3000" b="1" i="0">
              <a:solidFill>
                <a:srgbClr val="00A05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3610273" y="1276350"/>
            <a:ext cx="704850" cy="533400"/>
          </a:xfrm>
          <a:prstGeom prst="rect">
            <a:avLst/>
          </a:prstGeom>
          <a:solidFill>
            <a:srgbClr val="EAF6EA"/>
          </a:solidFill>
          <a:ln w="19050">
            <a:solidFill>
              <a:srgbClr val="00A050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3639800" y="1352550"/>
            <a:ext cx="6286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A05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A05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?</a:t>
            </a:r>
            <a:endParaRPr sz="3000" b="1" i="0">
              <a:solidFill>
                <a:srgbClr val="00A05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705023" y="1962150"/>
            <a:ext cx="8125777" cy="1695450"/>
          </a:xfrm>
          <a:prstGeom prst="rect">
            <a:avLst/>
          </a:prstGeom>
          <a:solidFill>
            <a:srgbClr val="FCE8E8"/>
          </a:solidFill>
          <a:ln w="19050">
            <a:solidFill>
              <a:srgbClr val="D00000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9867900" y="2095500"/>
            <a:ext cx="77914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Freeze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867900" y="2609850"/>
            <a:ext cx="7791450" cy="914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Actions guaranteed to execute before inference returns are treated as fixed constraints.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705023" y="3810000"/>
            <a:ext cx="8125777" cy="1695450"/>
          </a:xfrm>
          <a:prstGeom prst="rect">
            <a:avLst/>
          </a:prstGeom>
          <a:solidFill>
            <a:srgbClr val="EAF6EA"/>
          </a:solidFill>
          <a:ln w="19050">
            <a:solidFill>
              <a:srgbClr val="00A050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9867900" y="3943350"/>
            <a:ext cx="77914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Inpaint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867900" y="4457700"/>
            <a:ext cx="7791450" cy="914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 future suffix is generated to be compatible with that committed prefix.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4600" y="5576570"/>
            <a:ext cx="6830060" cy="3079115"/>
          </a:xfrm>
          <a:prstGeom prst="rect">
            <a:avLst/>
          </a:prstGeom>
        </p:spPr>
      </p:pic>
      <p:sp>
        <p:nvSpPr>
          <p:cNvPr id="31" name="矩形 30"/>
          <p:cNvSpPr>
            <a:spLocks noGrp="1"/>
          </p:cNvSpPr>
          <p:nvPr/>
        </p:nvSpPr>
        <p:spPr>
          <a:xfrm>
            <a:off x="9734550" y="8839200"/>
            <a:ext cx="8115300" cy="5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Fig. 12. RTC paper excerpt framing real-time chunking as action inpainting.</a:t>
            </a:r>
            <a:endParaRPr sz="2200" b="0" i="1">
              <a:solidFill>
                <a:srgbClr val="66666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0" y="9601200"/>
            <a:ext cx="18288000" cy="723900"/>
          </a:xfrm>
          <a:prstGeom prst="rect">
            <a:avLst/>
          </a:prstGeom>
          <a:solidFill>
            <a:srgbClr val="990099"/>
          </a:solidFill>
        </p:spPr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948" y="9639300"/>
            <a:ext cx="745354" cy="590550"/>
          </a:xfrm>
          <a:prstGeom prst="rect">
            <a:avLst/>
          </a:prstGeom>
        </p:spPr>
      </p:pic>
      <p:sp>
        <p:nvSpPr>
          <p:cNvPr id="34" name="矩形 33"/>
          <p:cNvSpPr>
            <a:spLocks noGrp="1"/>
          </p:cNvSpPr>
          <p:nvPr/>
        </p:nvSpPr>
        <p:spPr>
          <a:xfrm>
            <a:off x="1352550" y="9696450"/>
            <a:ext cx="4381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香港中文大学（深圳） 数据科学学院</a:t>
            </a:r>
            <a:endParaRPr sz="1650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1352550" y="9963150"/>
            <a:ext cx="4381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CUHK-SZ School of Data Science</a:t>
            </a:r>
            <a:endParaRPr sz="1275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9144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79949"/>
            <a:ext cx="723900" cy="573552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1200150" y="209550"/>
            <a:ext cx="15278100" cy="6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RTC Runtime: Producer-Consumer</a:t>
            </a:r>
            <a:endParaRPr sz="4000" b="1" i="0">
              <a:solidFill>
                <a:srgbClr val="1F497D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6649700" y="228600"/>
            <a:ext cx="1333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22/40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0" y="914400"/>
            <a:ext cx="18288000" cy="76200"/>
          </a:xfrm>
          <a:prstGeom prst="rect">
            <a:avLst/>
          </a:prstGeom>
          <a:solidFill>
            <a:srgbClr val="990099"/>
          </a:solidFill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457200" y="1143000"/>
            <a:ext cx="8961120" cy="8267700"/>
          </a:xfrm>
          <a:prstGeom prst="rect">
            <a:avLst/>
          </a:prstGeom>
          <a:solidFill>
            <a:srgbClr val="F8F8F8"/>
          </a:solidFill>
          <a:ln w="19050">
            <a:solidFill>
              <a:srgbClr val="92278F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47700" y="1314450"/>
            <a:ext cx="8572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400" b="0" i="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Controller thread:</a:t>
            </a:r>
            <a:endParaRPr sz="2400" b="0" i="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47700" y="1847850"/>
            <a:ext cx="8572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400" b="0" i="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every Delta t:</a:t>
            </a:r>
            <a:endParaRPr sz="2400" b="0" i="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47700" y="2381250"/>
            <a:ext cx="8572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400" b="0" i="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observe o_next</a:t>
            </a:r>
            <a:endParaRPr sz="2400" b="0" i="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47700" y="2914650"/>
            <a:ext cx="8572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400" b="0" i="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return A_cur[t-1]</a:t>
            </a:r>
            <a:endParaRPr sz="2400" b="0" i="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47700" y="3448050"/>
            <a:ext cx="8572500" cy="457200"/>
          </a:xfrm>
          <a:prstGeom prst="rect">
            <a:avLst/>
          </a:prstGeom>
        </p:spPr>
        <p:txBody>
          <a:bodyPr lIns="0" tIns="0" rIns="0" bIns="0"/>
          <a:lstStyle/>
          <a:p>
            <a:endParaRPr sz="1400"/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47700" y="3981450"/>
            <a:ext cx="8572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400" b="0" i="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Inference thread:</a:t>
            </a:r>
            <a:endParaRPr sz="2400" b="0" i="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47700" y="4514850"/>
            <a:ext cx="8572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400" b="0" i="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wait until t &gt;= s_min</a:t>
            </a:r>
            <a:endParaRPr sz="2400" b="0" i="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47700" y="5048250"/>
            <a:ext cx="8572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400" b="0" i="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estimate delay d</a:t>
            </a:r>
            <a:endParaRPr sz="2400" b="0" i="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47700" y="5581650"/>
            <a:ext cx="8572500" cy="914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400" b="0" i="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GuidedInference(o_cur, A_prev, d, s)</a:t>
            </a:r>
            <a:endParaRPr sz="2400" b="0" i="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47700" y="6572250"/>
            <a:ext cx="8572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400" b="0" i="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swap A_cur when ready</a:t>
            </a:r>
            <a:endParaRPr sz="2400" b="0" i="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723120" y="2562225"/>
            <a:ext cx="8107680" cy="1695450"/>
          </a:xfrm>
          <a:prstGeom prst="rect">
            <a:avLst/>
          </a:prstGeom>
          <a:solidFill>
            <a:srgbClr val="FFFFFF"/>
          </a:solidFill>
          <a:ln w="19050">
            <a:solidFill>
              <a:srgbClr val="92278F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9886950" y="2705100"/>
            <a:ext cx="77724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Mutex-protected shared state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886950" y="3219450"/>
            <a:ext cx="7772400" cy="914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RTC separates real-time action consumption from slower chunk generation.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723120" y="4429125"/>
            <a:ext cx="8107680" cy="1695450"/>
          </a:xfrm>
          <a:prstGeom prst="rect">
            <a:avLst/>
          </a:prstGeom>
          <a:solidFill>
            <a:srgbClr val="EAF2FB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886950" y="4572000"/>
            <a:ext cx="77724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Delay buffer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886950" y="5086350"/>
            <a:ext cx="7772400" cy="914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 inference loop estimates future delay conservatively from recent observed delays.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723120" y="6296025"/>
            <a:ext cx="8107680" cy="1695450"/>
          </a:xfrm>
          <a:prstGeom prst="rect">
            <a:avLst/>
          </a:prstGeom>
          <a:solidFill>
            <a:srgbClr val="EAF6EA"/>
          </a:solidFill>
          <a:ln w="19050">
            <a:solidFill>
              <a:srgbClr val="00A050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9886950" y="6438900"/>
            <a:ext cx="77724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Deadline condition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886950" y="6953250"/>
            <a:ext cx="7772400" cy="914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Choose execution horizon s such that actions remain available despite delay.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0" y="9601200"/>
            <a:ext cx="18288000" cy="723900"/>
          </a:xfrm>
          <a:prstGeom prst="rect">
            <a:avLst/>
          </a:prstGeom>
          <a:solidFill>
            <a:srgbClr val="990099"/>
          </a:solidFill>
        </p:spPr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948" y="9639300"/>
            <a:ext cx="745354" cy="590550"/>
          </a:xfrm>
          <a:prstGeom prst="rect">
            <a:avLst/>
          </a:prstGeom>
        </p:spPr>
      </p:pic>
      <p:sp>
        <p:nvSpPr>
          <p:cNvPr id="30" name="矩形 29"/>
          <p:cNvSpPr>
            <a:spLocks noGrp="1"/>
          </p:cNvSpPr>
          <p:nvPr/>
        </p:nvSpPr>
        <p:spPr>
          <a:xfrm>
            <a:off x="1352550" y="9696450"/>
            <a:ext cx="4381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香港中文大学（深圳） 数据科学学院</a:t>
            </a:r>
            <a:endParaRPr sz="1650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352550" y="9963150"/>
            <a:ext cx="4381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CUHK-SZ School of Data Science</a:t>
            </a:r>
            <a:endParaRPr sz="1275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9144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79949"/>
            <a:ext cx="723900" cy="573552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1200150" y="209550"/>
            <a:ext cx="15278100" cy="6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RTC: Soft Masking</a:t>
            </a:r>
            <a:endParaRPr sz="4000" b="1" i="0">
              <a:solidFill>
                <a:srgbClr val="1F497D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6649700" y="228600"/>
            <a:ext cx="1333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23/40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0" y="914400"/>
            <a:ext cx="18288000" cy="76200"/>
          </a:xfrm>
          <a:prstGeom prst="rect">
            <a:avLst/>
          </a:prstGeom>
          <a:solidFill>
            <a:srgbClr val="990099"/>
          </a:solidFill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0" y="990600"/>
            <a:ext cx="18288000" cy="8572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529080"/>
            <a:ext cx="8382000" cy="6932295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762000" y="8470500"/>
            <a:ext cx="8534400" cy="5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Fig. 13. RTC hard versus soft masking under delayed inference.</a:t>
            </a:r>
            <a:endParaRPr sz="2200" b="0" i="1">
              <a:solidFill>
                <a:srgbClr val="66666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296400" y="1143000"/>
            <a:ext cx="8534400" cy="6986905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0" y="3636301"/>
            <a:ext cx="8382000" cy="3033449"/>
          </a:xfrm>
          <a:prstGeom prst="rect">
            <a:avLst/>
          </a:prstGeom>
        </p:spPr>
      </p:pic>
      <p:sp>
        <p:nvSpPr>
          <p:cNvPr id="13" name="矩形 12"/>
          <p:cNvSpPr>
            <a:spLocks noGrp="1"/>
          </p:cNvSpPr>
          <p:nvPr/>
        </p:nvSpPr>
        <p:spPr>
          <a:xfrm>
            <a:off x="9296400" y="8380965"/>
            <a:ext cx="8534400" cy="5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Fig. 14. RTC guidance-strength ablation on real tasks.</a:t>
            </a:r>
            <a:endParaRPr sz="2200" b="0" i="1">
              <a:solidFill>
                <a:srgbClr val="66666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0" y="9601200"/>
            <a:ext cx="18288000" cy="723900"/>
          </a:xfrm>
          <a:prstGeom prst="rect">
            <a:avLst/>
          </a:prstGeom>
          <a:solidFill>
            <a:srgbClr val="990099"/>
          </a:solidFill>
        </p:spPr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948" y="9639300"/>
            <a:ext cx="745354" cy="590550"/>
          </a:xfrm>
          <a:prstGeom prst="rect">
            <a:avLst/>
          </a:prstGeom>
        </p:spPr>
      </p:pic>
      <p:sp>
        <p:nvSpPr>
          <p:cNvPr id="16" name="矩形 15"/>
          <p:cNvSpPr>
            <a:spLocks noGrp="1"/>
          </p:cNvSpPr>
          <p:nvPr/>
        </p:nvSpPr>
        <p:spPr>
          <a:xfrm>
            <a:off x="1352550" y="9696450"/>
            <a:ext cx="4381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香港中文大学（深圳） 数据科学学院</a:t>
            </a:r>
            <a:endParaRPr sz="1650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352550" y="9963150"/>
            <a:ext cx="4381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CUHK-SZ School of Data Science</a:t>
            </a:r>
            <a:endParaRPr sz="1275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9144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79949"/>
            <a:ext cx="723900" cy="573552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1200150" y="209550"/>
            <a:ext cx="15278100" cy="6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RTC Evaluation: Delay Robustness</a:t>
            </a:r>
            <a:endParaRPr sz="4000" b="1" i="0">
              <a:solidFill>
                <a:srgbClr val="1F497D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6649700" y="228600"/>
            <a:ext cx="1333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24/40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0" y="914400"/>
            <a:ext cx="18288000" cy="76200"/>
          </a:xfrm>
          <a:prstGeom prst="rect">
            <a:avLst/>
          </a:prstGeom>
          <a:solidFill>
            <a:srgbClr val="990099"/>
          </a:solidFill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0" y="990600"/>
            <a:ext cx="18288000" cy="8572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680210"/>
            <a:ext cx="8382000" cy="6945630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381000" y="8715610"/>
            <a:ext cx="8534400" cy="5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Fig. 15. RTC Kinetix benchmark showing robustness under injected delay.</a:t>
            </a:r>
            <a:endParaRPr sz="2200" b="0" i="1">
              <a:solidFill>
                <a:srgbClr val="66666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0" y="3783965"/>
            <a:ext cx="8382000" cy="2738120"/>
          </a:xfrm>
          <a:prstGeom prst="rect">
            <a:avLst/>
          </a:prstGeom>
        </p:spPr>
      </p:pic>
      <p:sp>
        <p:nvSpPr>
          <p:cNvPr id="13" name="矩形 12"/>
          <p:cNvSpPr>
            <a:spLocks noGrp="1"/>
          </p:cNvSpPr>
          <p:nvPr/>
        </p:nvSpPr>
        <p:spPr>
          <a:xfrm>
            <a:off x="9220200" y="6999840"/>
            <a:ext cx="8534400" cy="5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Fig. 16. RTC real-world bimanual manipulation throughput under latency.</a:t>
            </a:r>
            <a:endParaRPr sz="2200" b="0" i="1">
              <a:solidFill>
                <a:srgbClr val="66666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0" y="9601200"/>
            <a:ext cx="18288000" cy="723900"/>
          </a:xfrm>
          <a:prstGeom prst="rect">
            <a:avLst/>
          </a:prstGeom>
          <a:solidFill>
            <a:srgbClr val="990099"/>
          </a:solidFill>
        </p:spPr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948" y="9639300"/>
            <a:ext cx="745354" cy="590550"/>
          </a:xfrm>
          <a:prstGeom prst="rect">
            <a:avLst/>
          </a:prstGeom>
        </p:spPr>
      </p:pic>
      <p:sp>
        <p:nvSpPr>
          <p:cNvPr id="16" name="矩形 15"/>
          <p:cNvSpPr>
            <a:spLocks noGrp="1"/>
          </p:cNvSpPr>
          <p:nvPr/>
        </p:nvSpPr>
        <p:spPr>
          <a:xfrm>
            <a:off x="1352550" y="9696450"/>
            <a:ext cx="4381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香港中文大学（深圳） 数据科学学院</a:t>
            </a:r>
            <a:endParaRPr sz="1650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352550" y="9963150"/>
            <a:ext cx="4381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CUHK-SZ School of Data Science</a:t>
            </a:r>
            <a:endParaRPr sz="1275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9144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79949"/>
            <a:ext cx="723900" cy="573552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1200150" y="209550"/>
            <a:ext cx="15278100" cy="6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RTC Limitation: Compute Cost</a:t>
            </a:r>
            <a:endParaRPr sz="4000" b="1" i="0">
              <a:solidFill>
                <a:srgbClr val="1F497D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6649700" y="228600"/>
            <a:ext cx="1333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25/40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0" y="914400"/>
            <a:ext cx="18288000" cy="76200"/>
          </a:xfrm>
          <a:prstGeom prst="rect">
            <a:avLst/>
          </a:prstGeom>
          <a:solidFill>
            <a:srgbClr val="990099"/>
          </a:solidFill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457200" y="2301240"/>
            <a:ext cx="4262438" cy="495300"/>
          </a:xfrm>
          <a:prstGeom prst="rect">
            <a:avLst/>
          </a:prstGeom>
          <a:solidFill>
            <a:srgbClr val="F7E9F7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533400" y="2415540"/>
            <a:ext cx="41148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Method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719638" y="2301240"/>
            <a:ext cx="4262438" cy="495300"/>
          </a:xfrm>
          <a:prstGeom prst="rect">
            <a:avLst/>
          </a:prstGeom>
          <a:solidFill>
            <a:srgbClr val="F7E9F7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800600" y="2415540"/>
            <a:ext cx="41148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Latency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57200" y="2796540"/>
            <a:ext cx="4262438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533400" y="2891790"/>
            <a:ext cx="41148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vanilla pi0.5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719638" y="2796540"/>
            <a:ext cx="4262438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800600" y="2891790"/>
            <a:ext cx="41148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76 ms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57200" y="3463290"/>
            <a:ext cx="4262438" cy="666750"/>
          </a:xfrm>
          <a:prstGeom prst="rect">
            <a:avLst/>
          </a:prstGeom>
          <a:solidFill>
            <a:srgbClr val="F7E9F7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533400" y="3558540"/>
            <a:ext cx="41148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RTC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719638" y="3463290"/>
            <a:ext cx="4262438" cy="666750"/>
          </a:xfrm>
          <a:prstGeom prst="rect">
            <a:avLst/>
          </a:prstGeom>
          <a:solidFill>
            <a:srgbClr val="F7E9F7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4800600" y="3558540"/>
            <a:ext cx="41148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97 ms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57200" y="4130040"/>
            <a:ext cx="4262438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533400" y="4225290"/>
            <a:ext cx="41148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BID N=16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719638" y="4130040"/>
            <a:ext cx="4262438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4800600" y="4225290"/>
            <a:ext cx="41148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115-223 ms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57200" y="4968240"/>
            <a:ext cx="8524875" cy="2152650"/>
          </a:xfrm>
          <a:prstGeom prst="rect">
            <a:avLst/>
          </a:prstGeom>
          <a:solidFill>
            <a:srgbClr val="FCE8E8"/>
          </a:solidFill>
          <a:ln w="19050">
            <a:solidFill>
              <a:srgbClr val="D00000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28650" y="5101590"/>
            <a:ext cx="8191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RTC's tradeoff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28650" y="5615940"/>
            <a:ext cx="8191500" cy="1371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No retraining, but guided inpainting adds compute. This motivates methods that make the base policy robust during training.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2400258"/>
            <a:ext cx="8382000" cy="3869774"/>
          </a:xfrm>
          <a:prstGeom prst="rect">
            <a:avLst/>
          </a:prstGeom>
        </p:spPr>
      </p:pic>
      <p:sp>
        <p:nvSpPr>
          <p:cNvPr id="29" name="矩形 28"/>
          <p:cNvSpPr>
            <a:spLocks noGrp="1"/>
          </p:cNvSpPr>
          <p:nvPr/>
        </p:nvSpPr>
        <p:spPr>
          <a:xfrm>
            <a:off x="9296400" y="6580740"/>
            <a:ext cx="8534400" cy="5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Fig. 17. RTC smoothness evidence from velocity and acceleration traces.</a:t>
            </a:r>
            <a:endParaRPr sz="2200" b="0" i="1">
              <a:solidFill>
                <a:srgbClr val="66666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0" y="9601200"/>
            <a:ext cx="18288000" cy="723900"/>
          </a:xfrm>
          <a:prstGeom prst="rect">
            <a:avLst/>
          </a:prstGeom>
          <a:solidFill>
            <a:srgbClr val="990099"/>
          </a:solidFill>
        </p:spPr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948" y="9639300"/>
            <a:ext cx="745354" cy="590550"/>
          </a:xfrm>
          <a:prstGeom prst="rect">
            <a:avLst/>
          </a:prstGeom>
        </p:spPr>
      </p:pic>
      <p:sp>
        <p:nvSpPr>
          <p:cNvPr id="32" name="矩形 31"/>
          <p:cNvSpPr>
            <a:spLocks noGrp="1"/>
          </p:cNvSpPr>
          <p:nvPr/>
        </p:nvSpPr>
        <p:spPr>
          <a:xfrm>
            <a:off x="1352550" y="9696450"/>
            <a:ext cx="4381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香港中文大学（深圳） 数据科学学院</a:t>
            </a:r>
            <a:endParaRPr sz="1650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352550" y="9963150"/>
            <a:ext cx="4381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CUHK-SZ School of Data Science</a:t>
            </a:r>
            <a:endParaRPr sz="1275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9144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79949"/>
            <a:ext cx="723900" cy="573552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1200150" y="228600"/>
            <a:ext cx="15278100" cy="457200"/>
          </a:xfrm>
          <a:prstGeom prst="rect">
            <a:avLst/>
          </a:prstGeom>
        </p:spPr>
        <p:txBody>
          <a:bodyPr lIns="0" tIns="0" rIns="0" bIns="0"/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6649700" y="228600"/>
            <a:ext cx="1333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26/40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0" y="914400"/>
            <a:ext cx="18288000" cy="76200"/>
          </a:xfrm>
          <a:prstGeom prst="rect">
            <a:avLst/>
          </a:prstGeom>
          <a:solidFill>
            <a:srgbClr val="990099"/>
          </a:solidFill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1447800"/>
            <a:ext cx="47625" cy="1257300"/>
          </a:xfrm>
          <a:prstGeom prst="rect">
            <a:avLst/>
          </a:prstGeom>
          <a:solidFill>
            <a:srgbClr val="92278F"/>
          </a:solidFill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66750" y="2857500"/>
            <a:ext cx="64579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15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PART 4</a:t>
            </a:r>
            <a:endParaRPr sz="315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66750" y="3505200"/>
            <a:ext cx="645795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Paper 3: REMAC</a:t>
            </a:r>
            <a:endParaRPr lang="en-US" altLang="zh-CN" sz="4050" b="1" i="0">
              <a:solidFill>
                <a:srgbClr val="1F497D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2"/>
          <a:srcRect l="11095" r="11095"/>
          <a:stretch>
            <a:fillRect/>
          </a:stretch>
        </p:blipFill>
        <p:spPr>
          <a:xfrm>
            <a:off x="7352665" y="1862455"/>
            <a:ext cx="10033000" cy="6447790"/>
          </a:xfrm>
          <a:prstGeom prst="rect">
            <a:avLst/>
          </a:prstGeom>
        </p:spPr>
      </p:pic>
      <p:sp>
        <p:nvSpPr>
          <p:cNvPr id="27" name="矩形 26"/>
          <p:cNvSpPr>
            <a:spLocks noGrp="1"/>
          </p:cNvSpPr>
          <p:nvPr/>
        </p:nvSpPr>
        <p:spPr>
          <a:xfrm>
            <a:off x="10001250" y="4648200"/>
            <a:ext cx="9525" cy="952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15125700" y="4648200"/>
            <a:ext cx="9525" cy="952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12573000" y="9182100"/>
            <a:ext cx="9525" cy="952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0" y="9601200"/>
            <a:ext cx="18288000" cy="723900"/>
          </a:xfrm>
          <a:prstGeom prst="rect">
            <a:avLst/>
          </a:prstGeom>
          <a:solidFill>
            <a:srgbClr val="990099"/>
          </a:solidFill>
        </p:spPr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948" y="9639300"/>
            <a:ext cx="745354" cy="590550"/>
          </a:xfrm>
          <a:prstGeom prst="rect">
            <a:avLst/>
          </a:prstGeom>
        </p:spPr>
      </p:pic>
      <p:sp>
        <p:nvSpPr>
          <p:cNvPr id="36" name="矩形 35"/>
          <p:cNvSpPr>
            <a:spLocks noGrp="1"/>
          </p:cNvSpPr>
          <p:nvPr/>
        </p:nvSpPr>
        <p:spPr>
          <a:xfrm>
            <a:off x="1352550" y="9696450"/>
            <a:ext cx="4381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香港中文大学（深圳） 数据科学学院</a:t>
            </a:r>
            <a:endParaRPr sz="1650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352550" y="9963150"/>
            <a:ext cx="4381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CUHK-SZ School of Data Science</a:t>
            </a:r>
            <a:endParaRPr sz="1275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8" name="Figure caption 17"/>
          <p:cNvSpPr>
            <a:spLocks noGrp="1"/>
          </p:cNvSpPr>
          <p:nvPr/>
        </p:nvSpPr>
        <p:spPr>
          <a:xfrm>
            <a:off x="7352665" y="8390245"/>
            <a:ext cx="10033000" cy="5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Fig. 18. REMAC overview: title, method diagram, and performance evidence.</a:t>
            </a:r>
            <a:endParaRPr sz="2200" b="0" i="1">
              <a:solidFill>
                <a:srgbClr val="66666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9144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79949"/>
            <a:ext cx="723900" cy="573552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1200150" y="209550"/>
            <a:ext cx="15278100" cy="6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REMAC: Two Async Failure Modes</a:t>
            </a:r>
            <a:endParaRPr sz="4000" b="1" i="0">
              <a:solidFill>
                <a:srgbClr val="1F497D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6649700" y="228600"/>
            <a:ext cx="1333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27/40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0" y="914400"/>
            <a:ext cx="18288000" cy="76200"/>
          </a:xfrm>
          <a:prstGeom prst="rect">
            <a:avLst/>
          </a:prstGeom>
          <a:solidFill>
            <a:srgbClr val="990099"/>
          </a:solidFill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0" y="9601200"/>
            <a:ext cx="18288000" cy="723900"/>
          </a:xfrm>
          <a:prstGeom prst="rect">
            <a:avLst/>
          </a:prstGeom>
          <a:solidFill>
            <a:srgbClr val="990099"/>
          </a:solidFill>
        </p:spPr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948" y="9639300"/>
            <a:ext cx="745354" cy="590550"/>
          </a:xfrm>
          <a:prstGeom prst="rect">
            <a:avLst/>
          </a:prstGeom>
        </p:spPr>
      </p:pic>
      <p:sp>
        <p:nvSpPr>
          <p:cNvPr id="22" name="矩形 21"/>
          <p:cNvSpPr>
            <a:spLocks noGrp="1"/>
          </p:cNvSpPr>
          <p:nvPr/>
        </p:nvSpPr>
        <p:spPr>
          <a:xfrm>
            <a:off x="1352550" y="9696450"/>
            <a:ext cx="4381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香港中文大学（深圳） 数据科学学院</a:t>
            </a:r>
            <a:endParaRPr sz="1650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352550" y="9963150"/>
            <a:ext cx="4381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CUHK-SZ School of Data Science</a:t>
            </a:r>
            <a:endParaRPr sz="1275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210" y="4859020"/>
            <a:ext cx="12762230" cy="4004310"/>
          </a:xfrm>
          <a:prstGeom prst="rect">
            <a:avLst/>
          </a:prstGeom>
        </p:spPr>
      </p:pic>
      <p:sp>
        <p:nvSpPr>
          <p:cNvPr id="36" name="矩形 35"/>
          <p:cNvSpPr>
            <a:spLocks noGrp="1"/>
          </p:cNvSpPr>
          <p:nvPr/>
        </p:nvSpPr>
        <p:spPr>
          <a:xfrm>
            <a:off x="3579495" y="1562100"/>
            <a:ext cx="77724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2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Inter-chunk discontinuity</a:t>
            </a:r>
            <a:endParaRPr sz="32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3579495" y="2076450"/>
            <a:ext cx="7772400" cy="914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lang="en-US"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- </a:t>
            </a: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Chunk k and chunk k+1 may come from different valid modes and jump at the boundary.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3579495" y="3409950"/>
            <a:ext cx="77724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2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Intra-chunk inconsistency</a:t>
            </a:r>
            <a:endParaRPr sz="32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3579495" y="3924300"/>
            <a:ext cx="7772400" cy="914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lang="en-US"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- </a:t>
            </a: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Current perception o_t is paired with a prefix that came from an older observation.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1" name="Figure caption 18"/>
          <p:cNvSpPr>
            <a:spLocks noGrp="1"/>
          </p:cNvSpPr>
          <p:nvPr/>
        </p:nvSpPr>
        <p:spPr>
          <a:xfrm>
            <a:off x="3463290" y="8943330"/>
            <a:ext cx="12762230" cy="5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Fig. 19. REMAC failure modes: inter-chunk discontinuity and intra-chunk inconsistency.</a:t>
            </a:r>
            <a:endParaRPr sz="2200" b="0" i="1">
              <a:solidFill>
                <a:srgbClr val="66666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9144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79949"/>
            <a:ext cx="723900" cy="573552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1200150" y="209550"/>
            <a:ext cx="15278100" cy="6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REMAC: Masked Action Chunking</a:t>
            </a:r>
            <a:endParaRPr sz="4000" b="1" i="0">
              <a:solidFill>
                <a:srgbClr val="1F497D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6649700" y="228600"/>
            <a:ext cx="1333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28/40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0" y="914400"/>
            <a:ext cx="18288000" cy="76200"/>
          </a:xfrm>
          <a:prstGeom prst="rect">
            <a:avLst/>
          </a:prstGeom>
          <a:solidFill>
            <a:srgbClr val="990099"/>
          </a:solidFill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457200" y="2914650"/>
            <a:ext cx="971550" cy="552450"/>
          </a:xfrm>
          <a:prstGeom prst="rect">
            <a:avLst/>
          </a:prstGeom>
          <a:solidFill>
            <a:srgbClr val="FCE8E8"/>
          </a:solidFill>
          <a:ln w="19050">
            <a:solidFill>
              <a:srgbClr val="D00000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495300" y="2990850"/>
            <a:ext cx="8953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D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D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old</a:t>
            </a:r>
            <a:endParaRPr sz="3000" b="1" i="0">
              <a:solidFill>
                <a:srgbClr val="D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504950" y="2914650"/>
            <a:ext cx="971550" cy="552450"/>
          </a:xfrm>
          <a:prstGeom prst="rect">
            <a:avLst/>
          </a:prstGeom>
          <a:solidFill>
            <a:srgbClr val="FCE8E8"/>
          </a:solidFill>
          <a:ln w="19050">
            <a:solidFill>
              <a:srgbClr val="D00000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543050" y="2990850"/>
            <a:ext cx="8953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D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D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old</a:t>
            </a:r>
            <a:endParaRPr sz="3000" b="1" i="0">
              <a:solidFill>
                <a:srgbClr val="D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552700" y="2914650"/>
            <a:ext cx="971550" cy="552450"/>
          </a:xfrm>
          <a:prstGeom prst="rect">
            <a:avLst/>
          </a:prstGeom>
          <a:solidFill>
            <a:srgbClr val="F7E9F7"/>
          </a:solidFill>
          <a:ln w="19050">
            <a:solidFill>
              <a:srgbClr val="990099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2590800" y="2990850"/>
            <a:ext cx="8953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mask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600450" y="2914650"/>
            <a:ext cx="971550" cy="552450"/>
          </a:xfrm>
          <a:prstGeom prst="rect">
            <a:avLst/>
          </a:prstGeom>
          <a:solidFill>
            <a:srgbClr val="EAF6EA"/>
          </a:solidFill>
          <a:ln w="19050">
            <a:solidFill>
              <a:srgbClr val="00A050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638550" y="2990850"/>
            <a:ext cx="8953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A05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A05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new</a:t>
            </a:r>
            <a:endParaRPr sz="3000" b="1" i="0">
              <a:solidFill>
                <a:srgbClr val="00A05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648200" y="2914650"/>
            <a:ext cx="971550" cy="552450"/>
          </a:xfrm>
          <a:prstGeom prst="rect">
            <a:avLst/>
          </a:prstGeom>
          <a:solidFill>
            <a:srgbClr val="EAF6EA"/>
          </a:solidFill>
          <a:ln w="19050">
            <a:solidFill>
              <a:srgbClr val="00A050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686300" y="2990850"/>
            <a:ext cx="8953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A05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A05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new</a:t>
            </a:r>
            <a:endParaRPr sz="3000" b="1" i="0">
              <a:solidFill>
                <a:srgbClr val="00A05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57200" y="3629025"/>
            <a:ext cx="7689533" cy="2152650"/>
          </a:xfrm>
          <a:prstGeom prst="rect">
            <a:avLst/>
          </a:prstGeom>
          <a:solidFill>
            <a:srgbClr val="F7E9F7"/>
          </a:solidFill>
          <a:ln w="19050">
            <a:solidFill>
              <a:srgbClr val="92278F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28650" y="3771900"/>
            <a:ext cx="73533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Training-time idea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28650" y="4286250"/>
            <a:ext cx="7353300" cy="1371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Expose the policy to partial prefixes and ask it to learn corrective continuation under varying delays.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57200" y="5943600"/>
            <a:ext cx="7689533" cy="1695450"/>
          </a:xfrm>
          <a:prstGeom prst="rect">
            <a:avLst/>
          </a:prstGeom>
          <a:solidFill>
            <a:srgbClr val="EAF6EA"/>
          </a:solidFill>
          <a:ln w="19050">
            <a:solidFill>
              <a:srgbClr val="00A050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28650" y="6076950"/>
            <a:ext cx="73533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Not just smoothing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6591300"/>
            <a:ext cx="7353300" cy="914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 policy becomes delay-aware, instead of relying only on a test-time inpainting wrapper.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200" y="2310130"/>
            <a:ext cx="8870315" cy="334772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010" y="6381115"/>
            <a:ext cx="9552940" cy="1852295"/>
          </a:xfrm>
          <a:prstGeom prst="rect">
            <a:avLst/>
          </a:prstGeom>
        </p:spPr>
      </p:pic>
      <p:sp>
        <p:nvSpPr>
          <p:cNvPr id="30" name="矩形 29"/>
          <p:cNvSpPr>
            <a:spLocks noGrp="1"/>
          </p:cNvSpPr>
          <p:nvPr/>
        </p:nvSpPr>
        <p:spPr>
          <a:xfrm>
            <a:off x="0" y="9601200"/>
            <a:ext cx="18288000" cy="723900"/>
          </a:xfrm>
          <a:prstGeom prst="rect">
            <a:avLst/>
          </a:prstGeom>
          <a:solidFill>
            <a:srgbClr val="990099"/>
          </a:solidFill>
        </p:spPr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948" y="9639300"/>
            <a:ext cx="745354" cy="590550"/>
          </a:xfrm>
          <a:prstGeom prst="rect">
            <a:avLst/>
          </a:prstGeom>
        </p:spPr>
      </p:pic>
      <p:sp>
        <p:nvSpPr>
          <p:cNvPr id="32" name="矩形 31"/>
          <p:cNvSpPr>
            <a:spLocks noGrp="1"/>
          </p:cNvSpPr>
          <p:nvPr/>
        </p:nvSpPr>
        <p:spPr>
          <a:xfrm>
            <a:off x="1352550" y="9696450"/>
            <a:ext cx="4381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香港中文大学（深圳） 数据科学学院</a:t>
            </a:r>
            <a:endParaRPr sz="1650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352550" y="9963150"/>
            <a:ext cx="4381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CUHK-SZ School of Data Science</a:t>
            </a:r>
            <a:endParaRPr sz="1275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4" name="Figure caption 19"/>
          <p:cNvSpPr>
            <a:spLocks noGrp="1"/>
          </p:cNvSpPr>
          <p:nvPr/>
        </p:nvSpPr>
        <p:spPr>
          <a:xfrm>
            <a:off x="8839200" y="5737850"/>
            <a:ext cx="8870315" cy="5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Fig. 20. REMAC paper excerpt describing masked action chunking.</a:t>
            </a:r>
            <a:endParaRPr sz="2200" b="0" i="1">
              <a:solidFill>
                <a:srgbClr val="66666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5" name="Figure caption 20"/>
          <p:cNvSpPr>
            <a:spLocks noGrp="1"/>
          </p:cNvSpPr>
          <p:nvPr/>
        </p:nvSpPr>
        <p:spPr>
          <a:xfrm>
            <a:off x="8335010" y="8313410"/>
            <a:ext cx="9552940" cy="5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Fig. 21. REMAC mask schedule visualization for prefix-conditioned generation.</a:t>
            </a:r>
            <a:endParaRPr sz="2200" b="0" i="1">
              <a:solidFill>
                <a:srgbClr val="66666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9144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79949"/>
            <a:ext cx="723900" cy="573552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1200150" y="209550"/>
            <a:ext cx="15278100" cy="6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REMAC: Masked Action Chunking</a:t>
            </a:r>
            <a:endParaRPr sz="4000" b="1" i="0">
              <a:solidFill>
                <a:srgbClr val="1F497D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6649700" y="228600"/>
            <a:ext cx="1333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29/40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0" y="914400"/>
            <a:ext cx="18288000" cy="76200"/>
          </a:xfrm>
          <a:prstGeom prst="rect">
            <a:avLst/>
          </a:prstGeom>
          <a:solidFill>
            <a:srgbClr val="990099"/>
          </a:solidFill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0" y="9601200"/>
            <a:ext cx="18288000" cy="723900"/>
          </a:xfrm>
          <a:prstGeom prst="rect">
            <a:avLst/>
          </a:prstGeom>
          <a:solidFill>
            <a:srgbClr val="990099"/>
          </a:solidFill>
        </p:spPr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948" y="9639300"/>
            <a:ext cx="745354" cy="590550"/>
          </a:xfrm>
          <a:prstGeom prst="rect">
            <a:avLst/>
          </a:prstGeom>
        </p:spPr>
      </p:pic>
      <p:sp>
        <p:nvSpPr>
          <p:cNvPr id="32" name="矩形 31"/>
          <p:cNvSpPr>
            <a:spLocks noGrp="1"/>
          </p:cNvSpPr>
          <p:nvPr/>
        </p:nvSpPr>
        <p:spPr>
          <a:xfrm>
            <a:off x="1352550" y="9696450"/>
            <a:ext cx="4381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香港中文大学（深圳） 数据科学学院</a:t>
            </a:r>
            <a:endParaRPr sz="1650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352550" y="9963150"/>
            <a:ext cx="4381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CUHK-SZ School of Data Science</a:t>
            </a:r>
            <a:endParaRPr sz="1275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7" name="slide-title"/>
          <p:cNvSpPr>
            <a:spLocks noGrp="1"/>
          </p:cNvSpPr>
          <p:nvPr/>
        </p:nvSpPr>
        <p:spPr>
          <a:xfrm>
            <a:off x="730885" y="1543050"/>
            <a:ext cx="157162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>
                <a:solidFill>
                  <a:srgbClr val="92278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200" b="1">
                <a:solidFill>
                  <a:srgbClr val="92278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Masked Action Chunking</a:t>
            </a:r>
            <a:endParaRPr sz="3200" b="1">
              <a:solidFill>
                <a:srgbClr val="92278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476250" y="3124200"/>
            <a:ext cx="79248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1">
                <a:solidFill>
                  <a:srgbClr val="0F172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200" b="1">
                <a:solidFill>
                  <a:srgbClr val="0F172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clean chunk:</a:t>
            </a:r>
            <a:endParaRPr sz="3200" b="1">
              <a:solidFill>
                <a:srgbClr val="0F172A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285875" y="3695700"/>
            <a:ext cx="990600" cy="723900"/>
          </a:xfrm>
          <a:prstGeom prst="rect">
            <a:avLst/>
          </a:prstGeom>
          <a:solidFill>
            <a:srgbClr val="DCFCE7"/>
          </a:solidFill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1447800" y="3924300"/>
            <a:ext cx="6858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0F172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400" b="1">
                <a:solidFill>
                  <a:srgbClr val="0F172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a0</a:t>
            </a:r>
            <a:endParaRPr sz="2400" b="1">
              <a:solidFill>
                <a:srgbClr val="0F172A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2352675" y="3695700"/>
            <a:ext cx="990600" cy="723900"/>
          </a:xfrm>
          <a:prstGeom prst="rect">
            <a:avLst/>
          </a:prstGeom>
          <a:solidFill>
            <a:srgbClr val="DCFCE7"/>
          </a:solidFill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2514600" y="3924300"/>
            <a:ext cx="6858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0F172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400" b="1">
                <a:solidFill>
                  <a:srgbClr val="0F172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a1</a:t>
            </a:r>
            <a:endParaRPr sz="2400" b="1">
              <a:solidFill>
                <a:srgbClr val="0F172A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3419475" y="3695700"/>
            <a:ext cx="990600" cy="723900"/>
          </a:xfrm>
          <a:prstGeom prst="rect">
            <a:avLst/>
          </a:prstGeom>
          <a:solidFill>
            <a:srgbClr val="DCFCE7"/>
          </a:solidFill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3581400" y="3924300"/>
            <a:ext cx="6858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0F172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400" b="1">
                <a:solidFill>
                  <a:srgbClr val="0F172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a2</a:t>
            </a:r>
            <a:endParaRPr sz="2400" b="1">
              <a:solidFill>
                <a:srgbClr val="0F172A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4486275" y="3695700"/>
            <a:ext cx="990600" cy="723900"/>
          </a:xfrm>
          <a:prstGeom prst="rect">
            <a:avLst/>
          </a:prstGeom>
          <a:solidFill>
            <a:srgbClr val="DCFCE7"/>
          </a:solidFill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4648200" y="3924300"/>
            <a:ext cx="6858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0F172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400" b="1">
                <a:solidFill>
                  <a:srgbClr val="0F172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a3</a:t>
            </a:r>
            <a:endParaRPr sz="2400" b="1">
              <a:solidFill>
                <a:srgbClr val="0F172A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5553075" y="3695700"/>
            <a:ext cx="990600" cy="723900"/>
          </a:xfrm>
          <a:prstGeom prst="rect">
            <a:avLst/>
          </a:prstGeom>
          <a:solidFill>
            <a:srgbClr val="DCFCE7"/>
          </a:solidFill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5715000" y="3924300"/>
            <a:ext cx="6858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0F172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400" b="1">
                <a:solidFill>
                  <a:srgbClr val="0F172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a4</a:t>
            </a:r>
            <a:endParaRPr sz="2400" b="1">
              <a:solidFill>
                <a:srgbClr val="0F172A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6619875" y="3695700"/>
            <a:ext cx="990600" cy="723900"/>
          </a:xfrm>
          <a:prstGeom prst="rect">
            <a:avLst/>
          </a:prstGeom>
          <a:solidFill>
            <a:srgbClr val="DCFCE7"/>
          </a:solidFill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6781800" y="3924300"/>
            <a:ext cx="6858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0F172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400" b="1">
                <a:solidFill>
                  <a:srgbClr val="0F172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a5</a:t>
            </a:r>
            <a:endParaRPr sz="2400" b="1">
              <a:solidFill>
                <a:srgbClr val="0F172A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476250" y="4629150"/>
            <a:ext cx="79248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1">
                <a:solidFill>
                  <a:srgbClr val="0F172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200" b="1">
                <a:solidFill>
                  <a:srgbClr val="0F172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masked / mismatched chunk:</a:t>
            </a:r>
            <a:endParaRPr sz="3200" b="1">
              <a:solidFill>
                <a:srgbClr val="0F172A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1285875" y="5200650"/>
            <a:ext cx="990600" cy="723900"/>
          </a:xfrm>
          <a:prstGeom prst="rect">
            <a:avLst/>
          </a:prstGeom>
          <a:solidFill>
            <a:srgbClr val="16A34A"/>
          </a:solidFill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1447800" y="5429250"/>
            <a:ext cx="6858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400" b="1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a0</a:t>
            </a:r>
            <a:endParaRPr sz="2400" b="1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2352675" y="5200650"/>
            <a:ext cx="990600" cy="723900"/>
          </a:xfrm>
          <a:prstGeom prst="rect">
            <a:avLst/>
          </a:prstGeom>
          <a:solidFill>
            <a:srgbClr val="16A34A"/>
          </a:solidFill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2514600" y="5429250"/>
            <a:ext cx="6858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400" b="1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a1</a:t>
            </a:r>
            <a:endParaRPr sz="2400" b="1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3419475" y="5200650"/>
            <a:ext cx="990600" cy="723900"/>
          </a:xfrm>
          <a:prstGeom prst="rect">
            <a:avLst/>
          </a:prstGeom>
          <a:solidFill>
            <a:srgbClr val="DCFCE7"/>
          </a:solidFill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3581400" y="5429250"/>
            <a:ext cx="6858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0F172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400" b="1">
                <a:solidFill>
                  <a:srgbClr val="0F172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?</a:t>
            </a:r>
            <a:endParaRPr sz="2400" b="1">
              <a:solidFill>
                <a:srgbClr val="0F172A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4486275" y="5200650"/>
            <a:ext cx="990600" cy="723900"/>
          </a:xfrm>
          <a:prstGeom prst="rect">
            <a:avLst/>
          </a:prstGeom>
          <a:solidFill>
            <a:srgbClr val="DCFCE7"/>
          </a:solidFill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4648200" y="5429250"/>
            <a:ext cx="6858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0F172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400" b="1">
                <a:solidFill>
                  <a:srgbClr val="0F172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?</a:t>
            </a:r>
            <a:endParaRPr sz="2400" b="1">
              <a:solidFill>
                <a:srgbClr val="0F172A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5553075" y="5200650"/>
            <a:ext cx="990600" cy="723900"/>
          </a:xfrm>
          <a:prstGeom prst="rect">
            <a:avLst/>
          </a:prstGeom>
          <a:solidFill>
            <a:srgbClr val="DCFCE7"/>
          </a:solidFill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5715000" y="5429250"/>
            <a:ext cx="6858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0F172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400" b="1">
                <a:solidFill>
                  <a:srgbClr val="0F172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?</a:t>
            </a:r>
            <a:endParaRPr sz="2400" b="1">
              <a:solidFill>
                <a:srgbClr val="0F172A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6619875" y="5200650"/>
            <a:ext cx="990600" cy="723900"/>
          </a:xfrm>
          <a:prstGeom prst="rect">
            <a:avLst/>
          </a:prstGeom>
          <a:solidFill>
            <a:srgbClr val="DCFCE7"/>
          </a:solidFill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6781800" y="5429250"/>
            <a:ext cx="6858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0F172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400" b="1">
                <a:solidFill>
                  <a:srgbClr val="0F172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?</a:t>
            </a:r>
            <a:endParaRPr sz="2400" b="1">
              <a:solidFill>
                <a:srgbClr val="0F172A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476250" y="6134100"/>
            <a:ext cx="792480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200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- Simulate asynchronous mismatch during training/adaptation.</a:t>
            </a:r>
            <a:endParaRPr sz="3200">
              <a:solidFill>
                <a:srgbClr val="334155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476250" y="7245350"/>
            <a:ext cx="792480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200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- Learn corrective continuation.</a:t>
            </a:r>
            <a:endParaRPr sz="3200">
              <a:solidFill>
                <a:srgbClr val="334155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476250" y="7827010"/>
            <a:ext cx="792480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200">
                <a:solidFill>
                  <a:srgbClr val="3341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- Improve robustness under delay.</a:t>
            </a:r>
            <a:endParaRPr sz="3200">
              <a:solidFill>
                <a:srgbClr val="334155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8934450" y="2907983"/>
            <a:ext cx="8877300" cy="4810125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63" name="图片 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0603" y="2597150"/>
            <a:ext cx="6146264" cy="4648200"/>
          </a:xfrm>
          <a:prstGeom prst="rect">
            <a:avLst/>
          </a:prstGeom>
        </p:spPr>
      </p:pic>
      <p:sp>
        <p:nvSpPr>
          <p:cNvPr id="65" name="Figure caption 21"/>
          <p:cNvSpPr>
            <a:spLocks noGrp="1"/>
          </p:cNvSpPr>
          <p:nvPr/>
        </p:nvSpPr>
        <p:spPr>
          <a:xfrm>
            <a:off x="10300603" y="7719050"/>
            <a:ext cx="6146264" cy="5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Fig. 22. REMAC algorithm screenshot: masked corrective continuation on a pretrained policy.</a:t>
            </a:r>
            <a:endParaRPr sz="2200" b="0" i="1">
              <a:solidFill>
                <a:srgbClr val="66666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9144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79949"/>
            <a:ext cx="723900" cy="573552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1200150" y="209550"/>
            <a:ext cx="15278100" cy="6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REMAC: Prefix-Preserved Sampling</a:t>
            </a:r>
            <a:endParaRPr sz="4000" b="1" i="0">
              <a:solidFill>
                <a:srgbClr val="1F497D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6649700" y="228600"/>
            <a:ext cx="1333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30/40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0" y="914400"/>
            <a:ext cx="18288000" cy="76200"/>
          </a:xfrm>
          <a:prstGeom prst="rect">
            <a:avLst/>
          </a:prstGeom>
          <a:solidFill>
            <a:srgbClr val="990099"/>
          </a:solidFill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0" y="990600"/>
            <a:ext cx="18288000" cy="8572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754387"/>
            <a:ext cx="8382000" cy="4797276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933450" y="8011395"/>
            <a:ext cx="8534400" cy="5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Fig. 23. REMAC delay-injection and sampling pipeline.</a:t>
            </a:r>
            <a:endParaRPr sz="2200" b="0" i="1">
              <a:solidFill>
                <a:srgbClr val="66666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286875" y="1143000"/>
            <a:ext cx="8543925" cy="1695450"/>
          </a:xfrm>
          <a:prstGeom prst="rect">
            <a:avLst/>
          </a:prstGeom>
          <a:solidFill>
            <a:srgbClr val="FFFFFF"/>
          </a:solidFill>
          <a:ln w="19050">
            <a:solidFill>
              <a:srgbClr val="92278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467850" y="1276350"/>
            <a:ext cx="82105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Self-conditioned curriculum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467850" y="1790700"/>
            <a:ext cx="8210550" cy="914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Training gradually shifts from ground-truth chunks to the model's own predicted chunks.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286875" y="2990850"/>
            <a:ext cx="8543925" cy="2152650"/>
          </a:xfrm>
          <a:prstGeom prst="rect">
            <a:avLst/>
          </a:prstGeom>
          <a:solidFill>
            <a:srgbClr val="EAF6EA"/>
          </a:solidFill>
          <a:ln w="19050">
            <a:solidFill>
              <a:srgbClr val="00A050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467850" y="3124200"/>
            <a:ext cx="82105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Prefix-preserved sampling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467850" y="3638550"/>
            <a:ext cx="8210550" cy="1371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At inference, overlapping actions from the current chunk are preserved while the remaining segment is synthesized.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296400" y="5295900"/>
            <a:ext cx="8534400" cy="247650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4024" y="5372100"/>
            <a:ext cx="3939153" cy="2324100"/>
          </a:xfrm>
          <a:prstGeom prst="rect">
            <a:avLst/>
          </a:prstGeom>
        </p:spPr>
      </p:pic>
      <p:sp>
        <p:nvSpPr>
          <p:cNvPr id="19" name="矩形 18"/>
          <p:cNvSpPr>
            <a:spLocks noGrp="1"/>
          </p:cNvSpPr>
          <p:nvPr/>
        </p:nvSpPr>
        <p:spPr>
          <a:xfrm>
            <a:off x="9296400" y="7848600"/>
            <a:ext cx="8534400" cy="5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Fig. 24. REMAC schedule ablation showing curriculum stability under delays.</a:t>
            </a:r>
            <a:endParaRPr sz="2200" b="0" i="1">
              <a:solidFill>
                <a:srgbClr val="66666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0" y="9601200"/>
            <a:ext cx="18288000" cy="723900"/>
          </a:xfrm>
          <a:prstGeom prst="rect">
            <a:avLst/>
          </a:prstGeom>
          <a:solidFill>
            <a:srgbClr val="990099"/>
          </a:solidFill>
        </p:spPr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948" y="9639300"/>
            <a:ext cx="745354" cy="590550"/>
          </a:xfrm>
          <a:prstGeom prst="rect">
            <a:avLst/>
          </a:prstGeom>
        </p:spPr>
      </p:pic>
      <p:sp>
        <p:nvSpPr>
          <p:cNvPr id="22" name="矩形 21"/>
          <p:cNvSpPr>
            <a:spLocks noGrp="1"/>
          </p:cNvSpPr>
          <p:nvPr/>
        </p:nvSpPr>
        <p:spPr>
          <a:xfrm>
            <a:off x="1352550" y="9696450"/>
            <a:ext cx="4381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香港中文大学（深圳） 数据科学学院</a:t>
            </a:r>
            <a:endParaRPr sz="1650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352550" y="9963150"/>
            <a:ext cx="4381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CUHK-SZ School of Data Science</a:t>
            </a:r>
            <a:endParaRPr sz="1275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9144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79949"/>
            <a:ext cx="723900" cy="573552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1200150" y="209550"/>
            <a:ext cx="15278100" cy="6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REMAC Evidence: Simulation</a:t>
            </a:r>
            <a:endParaRPr sz="4000" b="1" i="0">
              <a:solidFill>
                <a:srgbClr val="1F497D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6649700" y="228600"/>
            <a:ext cx="1333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31/40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0" y="914400"/>
            <a:ext cx="18288000" cy="76200"/>
          </a:xfrm>
          <a:prstGeom prst="rect">
            <a:avLst/>
          </a:prstGeom>
          <a:solidFill>
            <a:srgbClr val="990099"/>
          </a:solidFill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880" y="2270740"/>
            <a:ext cx="8839200" cy="3876079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1028700" y="6542005"/>
            <a:ext cx="8991600" cy="5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Fig. 25. REMAC Kinetix performance under inference delays.</a:t>
            </a:r>
            <a:endParaRPr sz="2200" b="0" i="1">
              <a:solidFill>
                <a:srgbClr val="66666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705023" y="2270760"/>
            <a:ext cx="2031444" cy="495300"/>
          </a:xfrm>
          <a:prstGeom prst="rect">
            <a:avLst/>
          </a:prstGeom>
          <a:solidFill>
            <a:srgbClr val="F7E9F7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772650" y="2385060"/>
            <a:ext cx="18859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Method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736467" y="2270760"/>
            <a:ext cx="2031444" cy="495300"/>
          </a:xfrm>
          <a:prstGeom prst="rect">
            <a:avLst/>
          </a:prstGeom>
          <a:solidFill>
            <a:srgbClr val="F7E9F7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1811000" y="2385060"/>
            <a:ext cx="18859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d=0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3767911" y="2270760"/>
            <a:ext cx="2031444" cy="495300"/>
          </a:xfrm>
          <a:prstGeom prst="rect">
            <a:avLst/>
          </a:prstGeom>
          <a:solidFill>
            <a:srgbClr val="F7E9F7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3849350" y="2385060"/>
            <a:ext cx="18859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d=2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5799356" y="2270760"/>
            <a:ext cx="2031444" cy="495300"/>
          </a:xfrm>
          <a:prstGeom prst="rect">
            <a:avLst/>
          </a:prstGeom>
          <a:solidFill>
            <a:srgbClr val="F7E9F7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5868650" y="2385060"/>
            <a:ext cx="18859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d=4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705023" y="2766060"/>
            <a:ext cx="2031444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9772650" y="2861310"/>
            <a:ext cx="18859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Naive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1736467" y="2766060"/>
            <a:ext cx="2031444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1811000" y="2861310"/>
            <a:ext cx="18859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0.828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3767911" y="2766060"/>
            <a:ext cx="2031444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3849350" y="2861310"/>
            <a:ext cx="18859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0.639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5799356" y="2766060"/>
            <a:ext cx="2031444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5868650" y="2861310"/>
            <a:ext cx="18859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0.451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705023" y="3318510"/>
            <a:ext cx="2031444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9772650" y="3413760"/>
            <a:ext cx="1885950" cy="914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+ Prefix mask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1736467" y="3318510"/>
            <a:ext cx="2031444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11811000" y="3413760"/>
            <a:ext cx="18859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0.863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3767911" y="3318510"/>
            <a:ext cx="2031444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13849350" y="3413760"/>
            <a:ext cx="18859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0.752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5799356" y="3318510"/>
            <a:ext cx="2031444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15868650" y="3413760"/>
            <a:ext cx="18859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0.636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9705023" y="3870960"/>
            <a:ext cx="2031444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9772650" y="3966210"/>
            <a:ext cx="1885950" cy="914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+ Curriculum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1736467" y="3870960"/>
            <a:ext cx="2031444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11811000" y="3966210"/>
            <a:ext cx="18859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0.848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3767911" y="3870960"/>
            <a:ext cx="2031444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13849350" y="3966210"/>
            <a:ext cx="18859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0.805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15799356" y="3870960"/>
            <a:ext cx="2031444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15868650" y="3966210"/>
            <a:ext cx="18859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0.710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9705023" y="4423410"/>
            <a:ext cx="2031444" cy="552450"/>
          </a:xfrm>
          <a:prstGeom prst="rect">
            <a:avLst/>
          </a:prstGeom>
          <a:solidFill>
            <a:srgbClr val="F7E9F7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9772650" y="4518660"/>
            <a:ext cx="18859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REMAC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11736467" y="4423410"/>
            <a:ext cx="2031444" cy="552450"/>
          </a:xfrm>
          <a:prstGeom prst="rect">
            <a:avLst/>
          </a:prstGeom>
          <a:solidFill>
            <a:srgbClr val="F7E9F7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11811000" y="4518660"/>
            <a:ext cx="18859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0.888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13767911" y="4423410"/>
            <a:ext cx="2031444" cy="552450"/>
          </a:xfrm>
          <a:prstGeom prst="rect">
            <a:avLst/>
          </a:prstGeom>
          <a:solidFill>
            <a:srgbClr val="F7E9F7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13849350" y="4518660"/>
            <a:ext cx="18859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0.859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15799356" y="4423410"/>
            <a:ext cx="2031444" cy="552450"/>
          </a:xfrm>
          <a:prstGeom prst="rect">
            <a:avLst/>
          </a:prstGeom>
          <a:solidFill>
            <a:srgbClr val="F7E9F7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15868650" y="4518660"/>
            <a:ext cx="18859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0.779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9715500" y="5109210"/>
            <a:ext cx="8115300" cy="1952625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3106" y="5185410"/>
            <a:ext cx="4760089" cy="1800225"/>
          </a:xfrm>
          <a:prstGeom prst="rect">
            <a:avLst/>
          </a:prstGeom>
        </p:spPr>
      </p:pic>
      <p:sp>
        <p:nvSpPr>
          <p:cNvPr id="53" name="矩形 52"/>
          <p:cNvSpPr>
            <a:spLocks noGrp="1"/>
          </p:cNvSpPr>
          <p:nvPr/>
        </p:nvSpPr>
        <p:spPr>
          <a:xfrm>
            <a:off x="9715500" y="7147560"/>
            <a:ext cx="8115300" cy="5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Fig. 26. REMAC ablations on mask coverage and mask embedding.</a:t>
            </a:r>
            <a:endParaRPr sz="2200" b="0" i="1">
              <a:solidFill>
                <a:srgbClr val="66666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0" y="9601200"/>
            <a:ext cx="18288000" cy="723900"/>
          </a:xfrm>
          <a:prstGeom prst="rect">
            <a:avLst/>
          </a:prstGeom>
          <a:solidFill>
            <a:srgbClr val="990099"/>
          </a:solidFill>
        </p:spPr>
      </p:sp>
      <p:pic>
        <p:nvPicPr>
          <p:cNvPr id="55" name="图片 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948" y="9639300"/>
            <a:ext cx="745354" cy="590550"/>
          </a:xfrm>
          <a:prstGeom prst="rect">
            <a:avLst/>
          </a:prstGeom>
        </p:spPr>
      </p:pic>
      <p:sp>
        <p:nvSpPr>
          <p:cNvPr id="56" name="矩形 55"/>
          <p:cNvSpPr>
            <a:spLocks noGrp="1"/>
          </p:cNvSpPr>
          <p:nvPr/>
        </p:nvSpPr>
        <p:spPr>
          <a:xfrm>
            <a:off x="1352550" y="9696450"/>
            <a:ext cx="4381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香港中文大学（深圳） 数据科学学院</a:t>
            </a:r>
            <a:endParaRPr sz="1650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1352550" y="9963150"/>
            <a:ext cx="4381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CUHK-SZ School of Data Science</a:t>
            </a:r>
            <a:endParaRPr sz="1275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9144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79949"/>
            <a:ext cx="723900" cy="573552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1200150" y="209550"/>
            <a:ext cx="15278100" cy="6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REMAC Evidence: Real Robot</a:t>
            </a:r>
            <a:endParaRPr sz="4000" b="1" i="0">
              <a:solidFill>
                <a:srgbClr val="1F497D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6649700" y="228600"/>
            <a:ext cx="1333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32/40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0" y="914400"/>
            <a:ext cx="18288000" cy="76200"/>
          </a:xfrm>
          <a:prstGeom prst="rect">
            <a:avLst/>
          </a:prstGeom>
          <a:solidFill>
            <a:srgbClr val="990099"/>
          </a:solidFill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830" y="2302510"/>
            <a:ext cx="4518660" cy="4634865"/>
          </a:xfrm>
          <a:prstGeom prst="rect">
            <a:avLst/>
          </a:prstGeom>
        </p:spPr>
      </p:pic>
      <p:sp>
        <p:nvSpPr>
          <p:cNvPr id="11" name="矩形 10"/>
          <p:cNvSpPr>
            <a:spLocks noGrp="1"/>
          </p:cNvSpPr>
          <p:nvPr/>
        </p:nvSpPr>
        <p:spPr>
          <a:xfrm>
            <a:off x="8362950" y="1894205"/>
            <a:ext cx="811530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150" y="2138604"/>
            <a:ext cx="7962900" cy="1892452"/>
          </a:xfrm>
          <a:prstGeom prst="rect">
            <a:avLst/>
          </a:prstGeom>
        </p:spPr>
      </p:pic>
      <p:sp>
        <p:nvSpPr>
          <p:cNvPr id="13" name="矩形 12"/>
          <p:cNvSpPr>
            <a:spLocks noGrp="1"/>
          </p:cNvSpPr>
          <p:nvPr/>
        </p:nvSpPr>
        <p:spPr>
          <a:xfrm>
            <a:off x="8362950" y="4351655"/>
            <a:ext cx="8115300" cy="5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Fig. 28. REMAC real-robot setup with Franka arm for grasp-and-place tasks.</a:t>
            </a:r>
            <a:endParaRPr sz="2200" b="0" i="1">
              <a:solidFill>
                <a:srgbClr val="66666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361521" y="4656455"/>
            <a:ext cx="2029182" cy="495300"/>
          </a:xfrm>
          <a:prstGeom prst="rect">
            <a:avLst/>
          </a:prstGeom>
          <a:solidFill>
            <a:srgbClr val="F7E9F7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439150" y="4770755"/>
            <a:ext cx="18859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Method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390703" y="4656455"/>
            <a:ext cx="2029182" cy="495300"/>
          </a:xfrm>
          <a:prstGeom prst="rect">
            <a:avLst/>
          </a:prstGeom>
          <a:solidFill>
            <a:srgbClr val="F7E9F7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0458450" y="4770755"/>
            <a:ext cx="18859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Easy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2419886" y="4656455"/>
            <a:ext cx="2029182" cy="495300"/>
          </a:xfrm>
          <a:prstGeom prst="rect">
            <a:avLst/>
          </a:prstGeom>
          <a:solidFill>
            <a:srgbClr val="F7E9F7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2496800" y="4770755"/>
            <a:ext cx="18859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Medium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4449068" y="4656455"/>
            <a:ext cx="2029182" cy="495300"/>
          </a:xfrm>
          <a:prstGeom prst="rect">
            <a:avLst/>
          </a:prstGeom>
          <a:solidFill>
            <a:srgbClr val="F7E9F7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4516100" y="4770755"/>
            <a:ext cx="18859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Hard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361521" y="5151755"/>
            <a:ext cx="2029182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8439150" y="5247005"/>
            <a:ext cx="18859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Sync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0390703" y="5151755"/>
            <a:ext cx="2029182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0458450" y="5247005"/>
            <a:ext cx="18859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0.805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2419886" y="5151755"/>
            <a:ext cx="2029182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2496800" y="5247005"/>
            <a:ext cx="18859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0.718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4449068" y="5151755"/>
            <a:ext cx="2029182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14516100" y="5247005"/>
            <a:ext cx="18859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0.670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361521" y="5647055"/>
            <a:ext cx="2029182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8439150" y="5742305"/>
            <a:ext cx="18859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Naive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0390703" y="5647055"/>
            <a:ext cx="2029182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10458450" y="5742305"/>
            <a:ext cx="18859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0.825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2419886" y="5647055"/>
            <a:ext cx="2029182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12496800" y="5742305"/>
            <a:ext cx="18859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0.825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14449068" y="5647055"/>
            <a:ext cx="2029182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14516100" y="5742305"/>
            <a:ext cx="18859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0.460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361521" y="6142355"/>
            <a:ext cx="2029182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8439150" y="6237605"/>
            <a:ext cx="18859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RTC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10390703" y="6142355"/>
            <a:ext cx="2029182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10458450" y="6237605"/>
            <a:ext cx="18859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0.823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12419886" y="6142355"/>
            <a:ext cx="2029182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12496800" y="6237605"/>
            <a:ext cx="18859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0.848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14449068" y="6142355"/>
            <a:ext cx="2029182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14516100" y="6237605"/>
            <a:ext cx="18859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0.753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8361521" y="6637655"/>
            <a:ext cx="2029182" cy="495300"/>
          </a:xfrm>
          <a:prstGeom prst="rect">
            <a:avLst/>
          </a:prstGeom>
          <a:solidFill>
            <a:srgbClr val="F7E9F7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8439150" y="6732905"/>
            <a:ext cx="18859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REMAC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10390703" y="6637655"/>
            <a:ext cx="2029182" cy="495300"/>
          </a:xfrm>
          <a:prstGeom prst="rect">
            <a:avLst/>
          </a:prstGeom>
          <a:solidFill>
            <a:srgbClr val="F7E9F7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10458450" y="6732905"/>
            <a:ext cx="18859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0.903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12419886" y="6637655"/>
            <a:ext cx="2029182" cy="495300"/>
          </a:xfrm>
          <a:prstGeom prst="rect">
            <a:avLst/>
          </a:prstGeom>
          <a:solidFill>
            <a:srgbClr val="F7E9F7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12496800" y="6732905"/>
            <a:ext cx="18859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0.943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14449068" y="6637655"/>
            <a:ext cx="2029182" cy="495300"/>
          </a:xfrm>
          <a:prstGeom prst="rect">
            <a:avLst/>
          </a:prstGeom>
          <a:solidFill>
            <a:srgbClr val="F7E9F7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14516100" y="6732905"/>
            <a:ext cx="18859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0.812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0" y="9601200"/>
            <a:ext cx="18288000" cy="723900"/>
          </a:xfrm>
          <a:prstGeom prst="rect">
            <a:avLst/>
          </a:prstGeom>
          <a:solidFill>
            <a:srgbClr val="990099"/>
          </a:solidFill>
        </p:spPr>
      </p:sp>
      <p:pic>
        <p:nvPicPr>
          <p:cNvPr id="55" name="图片 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948" y="9639300"/>
            <a:ext cx="745354" cy="590550"/>
          </a:xfrm>
          <a:prstGeom prst="rect">
            <a:avLst/>
          </a:prstGeom>
        </p:spPr>
      </p:pic>
      <p:sp>
        <p:nvSpPr>
          <p:cNvPr id="56" name="矩形 55"/>
          <p:cNvSpPr>
            <a:spLocks noGrp="1"/>
          </p:cNvSpPr>
          <p:nvPr/>
        </p:nvSpPr>
        <p:spPr>
          <a:xfrm>
            <a:off x="1352550" y="9696450"/>
            <a:ext cx="4381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香港中文大学（深圳） 数据科学学院</a:t>
            </a:r>
            <a:endParaRPr sz="1650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1352550" y="9963150"/>
            <a:ext cx="4381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CUHK-SZ School of Data Science</a:t>
            </a:r>
            <a:endParaRPr sz="1275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8" name="Figure caption 27"/>
          <p:cNvSpPr>
            <a:spLocks noGrp="1"/>
          </p:cNvSpPr>
          <p:nvPr/>
        </p:nvSpPr>
        <p:spPr>
          <a:xfrm>
            <a:off x="1687830" y="7017375"/>
            <a:ext cx="4518660" cy="5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Fig. 27. REMAC real-world </a:t>
            </a:r>
            <a:r>
              <a:rPr lang="en-US"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robot.</a:t>
            </a:r>
            <a:endParaRPr lang="en-US" sz="2200" b="0" i="1">
              <a:solidFill>
                <a:srgbClr val="66666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9144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79949"/>
            <a:ext cx="723900" cy="573552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1200150" y="209550"/>
            <a:ext cx="15278100" cy="6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ACT vs. RTC vs. REMAC</a:t>
            </a:r>
            <a:endParaRPr sz="4000" b="1" i="0">
              <a:solidFill>
                <a:srgbClr val="1F497D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6649700" y="228600"/>
            <a:ext cx="1333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33/40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0" y="914400"/>
            <a:ext cx="18288000" cy="76200"/>
          </a:xfrm>
          <a:prstGeom prst="rect">
            <a:avLst/>
          </a:prstGeom>
          <a:solidFill>
            <a:srgbClr val="990099"/>
          </a:solidFill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457200" y="1466850"/>
            <a:ext cx="4343400" cy="666750"/>
          </a:xfrm>
          <a:prstGeom prst="rect">
            <a:avLst/>
          </a:prstGeom>
          <a:solidFill>
            <a:srgbClr val="F7E9F7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533400" y="1581150"/>
            <a:ext cx="41910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Paper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800600" y="1466850"/>
            <a:ext cx="4343400" cy="666750"/>
          </a:xfrm>
          <a:prstGeom prst="rect">
            <a:avLst/>
          </a:prstGeom>
          <a:solidFill>
            <a:srgbClr val="F7E9F7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876800" y="1581150"/>
            <a:ext cx="41910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What it schedules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144000" y="1466850"/>
            <a:ext cx="4343400" cy="666750"/>
          </a:xfrm>
          <a:prstGeom prst="rect">
            <a:avLst/>
          </a:prstGeom>
          <a:solidFill>
            <a:srgbClr val="F7E9F7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9220200" y="1581150"/>
            <a:ext cx="41910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When it intervenes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3487400" y="1466850"/>
            <a:ext cx="4343400" cy="666750"/>
          </a:xfrm>
          <a:prstGeom prst="rect">
            <a:avLst/>
          </a:prstGeom>
          <a:solidFill>
            <a:srgbClr val="F7E9F7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3563600" y="1581150"/>
            <a:ext cx="41910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Main contribution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57200" y="2133600"/>
            <a:ext cx="4343400" cy="876300"/>
          </a:xfrm>
          <a:prstGeom prst="rect">
            <a:avLst/>
          </a:prstGeom>
          <a:solidFill>
            <a:srgbClr val="F7E9F7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533400" y="2228850"/>
            <a:ext cx="41910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ACT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800600" y="2133600"/>
            <a:ext cx="4343400" cy="876300"/>
          </a:xfrm>
          <a:prstGeom prst="rect">
            <a:avLst/>
          </a:prstGeom>
          <a:solidFill>
            <a:srgbClr val="F7E9F7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4876800" y="2228850"/>
            <a:ext cx="41910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future action sequence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0" y="2133600"/>
            <a:ext cx="4343400" cy="876300"/>
          </a:xfrm>
          <a:prstGeom prst="rect">
            <a:avLst/>
          </a:prstGeom>
          <a:solidFill>
            <a:srgbClr val="F7E9F7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9220200" y="2228850"/>
            <a:ext cx="41910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policy output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3487400" y="2133600"/>
            <a:ext cx="4343400" cy="876300"/>
          </a:xfrm>
          <a:prstGeom prst="rect">
            <a:avLst/>
          </a:prstGeom>
          <a:solidFill>
            <a:srgbClr val="F7E9F7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3563600" y="2228850"/>
            <a:ext cx="41910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turn BC into action chunks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57200" y="3009900"/>
            <a:ext cx="43434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533400" y="3105150"/>
            <a:ext cx="41910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RTC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4800600" y="3009900"/>
            <a:ext cx="43434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4876800" y="3105150"/>
            <a:ext cx="41910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queue + inference job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144000" y="3009900"/>
            <a:ext cx="43434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9220200" y="3105150"/>
            <a:ext cx="41910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test-time runtime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3487400" y="3009900"/>
            <a:ext cx="43434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13563600" y="3105150"/>
            <a:ext cx="41910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freeze prefix; inpaint suffix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457200" y="3886200"/>
            <a:ext cx="43434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533400" y="3981450"/>
            <a:ext cx="41910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REMAC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4800600" y="3886200"/>
            <a:ext cx="43434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4876800" y="3981450"/>
            <a:ext cx="41910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prefix + correction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9144000" y="3886200"/>
            <a:ext cx="43434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9220200" y="3981450"/>
            <a:ext cx="41910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training/adaptation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13487400" y="3886200"/>
            <a:ext cx="43434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13563600" y="3981450"/>
            <a:ext cx="41910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robust to async mismatch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457200" y="4762500"/>
            <a:ext cx="43434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533400" y="4857750"/>
            <a:ext cx="41910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SmolVLA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4800600" y="4762500"/>
            <a:ext cx="43434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4876800" y="4857750"/>
            <a:ext cx="41910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client/server queues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9144000" y="4762500"/>
            <a:ext cx="43434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9220200" y="4857750"/>
            <a:ext cx="41910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deployment stack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13487400" y="4762500"/>
            <a:ext cx="43434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13563600" y="4857750"/>
            <a:ext cx="41910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decouple predict / execute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3333750" y="6774180"/>
            <a:ext cx="3048000" cy="1200150"/>
          </a:xfrm>
          <a:prstGeom prst="rect">
            <a:avLst/>
          </a:prstGeom>
          <a:solidFill>
            <a:srgbClr val="FFFFFF"/>
          </a:solidFill>
          <a:ln w="19050">
            <a:solidFill>
              <a:srgbClr val="990099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3467100" y="6907530"/>
            <a:ext cx="27813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ACT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3467100" y="7402830"/>
            <a:ext cx="27813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chunked actions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6553200" y="7155180"/>
            <a:ext cx="4191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➜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7143750" y="6774180"/>
            <a:ext cx="3429000" cy="1200150"/>
          </a:xfrm>
          <a:prstGeom prst="rect">
            <a:avLst/>
          </a:prstGeom>
          <a:solidFill>
            <a:srgbClr val="FFFFFF"/>
          </a:solidFill>
          <a:ln w="19050">
            <a:solidFill>
              <a:srgbClr val="990099"/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7277100" y="6907530"/>
            <a:ext cx="31623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2E75B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2E75B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RTC</a:t>
            </a:r>
            <a:endParaRPr sz="3000" b="1" i="0">
              <a:solidFill>
                <a:srgbClr val="2E75B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7277100" y="7402830"/>
            <a:ext cx="31623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async chunks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10744200" y="7155180"/>
            <a:ext cx="4191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➜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11334750" y="6774180"/>
            <a:ext cx="3619500" cy="1200150"/>
          </a:xfrm>
          <a:prstGeom prst="rect">
            <a:avLst/>
          </a:prstGeom>
          <a:solidFill>
            <a:srgbClr val="FFFFFF"/>
          </a:solidFill>
          <a:ln w="19050">
            <a:solidFill>
              <a:srgbClr val="990099"/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11468100" y="6907530"/>
            <a:ext cx="33528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A05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A05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REMAC</a:t>
            </a:r>
            <a:endParaRPr sz="3000" b="1" i="0">
              <a:solidFill>
                <a:srgbClr val="00A05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11468100" y="7402830"/>
            <a:ext cx="33528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robust async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0" y="9601200"/>
            <a:ext cx="18288000" cy="723900"/>
          </a:xfrm>
          <a:prstGeom prst="rect">
            <a:avLst/>
          </a:prstGeom>
          <a:solidFill>
            <a:srgbClr val="990099"/>
          </a:solidFill>
        </p:spPr>
      </p:sp>
      <p:pic>
        <p:nvPicPr>
          <p:cNvPr id="60" name="图片 5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948" y="9639300"/>
            <a:ext cx="745354" cy="590550"/>
          </a:xfrm>
          <a:prstGeom prst="rect">
            <a:avLst/>
          </a:prstGeom>
        </p:spPr>
      </p:pic>
      <p:sp>
        <p:nvSpPr>
          <p:cNvPr id="61" name="矩形 60"/>
          <p:cNvSpPr>
            <a:spLocks noGrp="1"/>
          </p:cNvSpPr>
          <p:nvPr/>
        </p:nvSpPr>
        <p:spPr>
          <a:xfrm>
            <a:off x="1352550" y="9696450"/>
            <a:ext cx="4381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香港中文大学（深圳） 数据科学学院</a:t>
            </a:r>
            <a:endParaRPr sz="1650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1352550" y="9963150"/>
            <a:ext cx="4381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CUHK-SZ School of Data Science</a:t>
            </a:r>
            <a:endParaRPr sz="1275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9144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79949"/>
            <a:ext cx="723900" cy="573552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1200150" y="228600"/>
            <a:ext cx="15278100" cy="457200"/>
          </a:xfrm>
          <a:prstGeom prst="rect">
            <a:avLst/>
          </a:prstGeom>
        </p:spPr>
        <p:txBody>
          <a:bodyPr lIns="0" tIns="0" rIns="0" bIns="0"/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6649700" y="228600"/>
            <a:ext cx="1333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34/40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0" y="914400"/>
            <a:ext cx="18288000" cy="76200"/>
          </a:xfrm>
          <a:prstGeom prst="rect">
            <a:avLst/>
          </a:prstGeom>
          <a:solidFill>
            <a:srgbClr val="990099"/>
          </a:solidFill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1447800"/>
            <a:ext cx="47625" cy="1257300"/>
          </a:xfrm>
          <a:prstGeom prst="rect">
            <a:avLst/>
          </a:prstGeom>
          <a:solidFill>
            <a:srgbClr val="92278F"/>
          </a:solidFill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66750" y="2857500"/>
            <a:ext cx="64579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15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PART 5</a:t>
            </a:r>
            <a:endParaRPr sz="315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66750" y="3505200"/>
            <a:ext cx="645795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405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System View</a:t>
            </a:r>
            <a:endParaRPr sz="4050" b="1" i="0">
              <a:solidFill>
                <a:srgbClr val="1F497D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66750" y="4305300"/>
            <a:ext cx="6457950" cy="914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From paper algorithms to deployable asynchronous inference stacks.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2"/>
          <a:srcRect l="8538" r="8538"/>
          <a:stretch>
            <a:fillRect/>
          </a:stretch>
        </p:blipFill>
        <p:spPr>
          <a:xfrm>
            <a:off x="7124700" y="1062990"/>
            <a:ext cx="4991100" cy="3207258"/>
          </a:xfrm>
          <a:prstGeom prst="rect">
            <a:avLst/>
          </a:prstGeom>
        </p:spPr>
      </p:pic>
      <p:sp>
        <p:nvSpPr>
          <p:cNvPr id="27" name="矩形 26"/>
          <p:cNvSpPr>
            <a:spLocks noGrp="1"/>
          </p:cNvSpPr>
          <p:nvPr/>
        </p:nvSpPr>
        <p:spPr>
          <a:xfrm>
            <a:off x="10001250" y="4648200"/>
            <a:ext cx="9525" cy="9525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3000" y="1859598"/>
            <a:ext cx="4838700" cy="1403223"/>
          </a:xfrm>
          <a:prstGeom prst="rect">
            <a:avLst/>
          </a:prstGeom>
        </p:spPr>
      </p:pic>
      <p:sp>
        <p:nvSpPr>
          <p:cNvPr id="30" name="矩形 29"/>
          <p:cNvSpPr>
            <a:spLocks noGrp="1"/>
          </p:cNvSpPr>
          <p:nvPr/>
        </p:nvSpPr>
        <p:spPr>
          <a:xfrm>
            <a:off x="15125700" y="4648200"/>
            <a:ext cx="9525" cy="9525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9062" y="4893183"/>
            <a:ext cx="7307875" cy="4126992"/>
          </a:xfrm>
          <a:prstGeom prst="rect">
            <a:avLst/>
          </a:prstGeom>
        </p:spPr>
      </p:pic>
      <p:sp>
        <p:nvSpPr>
          <p:cNvPr id="33" name="矩形 32"/>
          <p:cNvSpPr>
            <a:spLocks noGrp="1"/>
          </p:cNvSpPr>
          <p:nvPr/>
        </p:nvSpPr>
        <p:spPr>
          <a:xfrm>
            <a:off x="12573000" y="9182100"/>
            <a:ext cx="9525" cy="952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0" y="9601200"/>
            <a:ext cx="18288000" cy="723900"/>
          </a:xfrm>
          <a:prstGeom prst="rect">
            <a:avLst/>
          </a:prstGeom>
          <a:solidFill>
            <a:srgbClr val="990099"/>
          </a:solidFill>
        </p:spPr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948" y="9639300"/>
            <a:ext cx="745354" cy="590550"/>
          </a:xfrm>
          <a:prstGeom prst="rect">
            <a:avLst/>
          </a:prstGeom>
        </p:spPr>
      </p:pic>
      <p:sp>
        <p:nvSpPr>
          <p:cNvPr id="36" name="矩形 35"/>
          <p:cNvSpPr>
            <a:spLocks noGrp="1"/>
          </p:cNvSpPr>
          <p:nvPr/>
        </p:nvSpPr>
        <p:spPr>
          <a:xfrm>
            <a:off x="1352550" y="9696450"/>
            <a:ext cx="4381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香港中文大学（深圳） 数据科学学院</a:t>
            </a:r>
            <a:endParaRPr sz="1650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352550" y="9963150"/>
            <a:ext cx="4381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CUHK-SZ School of Data Science</a:t>
            </a:r>
            <a:endParaRPr sz="1275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8" name="Figure caption 28"/>
          <p:cNvSpPr>
            <a:spLocks noGrp="1"/>
          </p:cNvSpPr>
          <p:nvPr/>
        </p:nvSpPr>
        <p:spPr>
          <a:xfrm>
            <a:off x="6879590" y="4299448"/>
            <a:ext cx="4991100" cy="5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Fig. 29. Asynchronous inference timeline for decoupled prediction and execution.</a:t>
            </a:r>
            <a:endParaRPr sz="2200" b="0" i="1">
              <a:solidFill>
                <a:srgbClr val="66666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9" name="Figure caption 29"/>
          <p:cNvSpPr>
            <a:spLocks noGrp="1"/>
          </p:cNvSpPr>
          <p:nvPr/>
        </p:nvSpPr>
        <p:spPr>
          <a:xfrm rot="10800000" flipV="1">
            <a:off x="12887325" y="3600450"/>
            <a:ext cx="4838700" cy="107251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Fig. 30. SmolVLA asynchronous inference stack overview.</a:t>
            </a:r>
            <a:endParaRPr sz="2200" b="0" i="1">
              <a:solidFill>
                <a:srgbClr val="66666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0" name="Figure caption 30"/>
          <p:cNvSpPr>
            <a:spLocks noGrp="1"/>
          </p:cNvSpPr>
          <p:nvPr/>
        </p:nvSpPr>
        <p:spPr>
          <a:xfrm>
            <a:off x="8919210" y="9021445"/>
            <a:ext cx="8226425" cy="489585"/>
          </a:xfrm>
          <a:prstGeom prst="rect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  <p:txBody>
          <a:bodyPr lIns="0" tIns="0" rIns="0" bIns="0"/>
          <a:lstStyle/>
          <a:p>
            <a:pPr>
              <a:def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Fig. 31. System-view stack connecting datasets, policies, and deployment.</a:t>
            </a:r>
            <a:endParaRPr sz="2200" b="0" i="1">
              <a:solidFill>
                <a:srgbClr val="66666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9144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79949"/>
            <a:ext cx="723900" cy="573552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1200150" y="209550"/>
            <a:ext cx="15278100" cy="6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SmolVLA / LeRobot Stack</a:t>
            </a:r>
            <a:endParaRPr sz="4000" b="1" i="0">
              <a:solidFill>
                <a:srgbClr val="1F497D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6649700" y="228600"/>
            <a:ext cx="1333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35/40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0" y="914400"/>
            <a:ext cx="18288000" cy="76200"/>
          </a:xfrm>
          <a:prstGeom prst="rect">
            <a:avLst/>
          </a:prstGeom>
          <a:solidFill>
            <a:srgbClr val="990099"/>
          </a:solidFill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0" y="990600"/>
            <a:ext cx="18288000" cy="8572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908" y="1219200"/>
            <a:ext cx="5612785" cy="2990850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457200" y="4362450"/>
            <a:ext cx="9220200" cy="5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Fig. 32. SmolVLA RobotClient and PolicyServer asynchronous inference timeline.</a:t>
            </a:r>
            <a:endParaRPr sz="2200" b="0" i="1">
              <a:solidFill>
                <a:srgbClr val="66666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5600319"/>
            <a:ext cx="9067800" cy="2629662"/>
          </a:xfrm>
          <a:prstGeom prst="rect">
            <a:avLst/>
          </a:prstGeom>
        </p:spPr>
      </p:pic>
      <p:sp>
        <p:nvSpPr>
          <p:cNvPr id="13" name="矩形 12"/>
          <p:cNvSpPr>
            <a:spLocks noGrp="1"/>
          </p:cNvSpPr>
          <p:nvPr/>
        </p:nvSpPr>
        <p:spPr>
          <a:xfrm>
            <a:off x="819150" y="8603215"/>
            <a:ext cx="9220200" cy="5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Fig. 34. SmolVLA excerpt showing decoupled prediction and execution.</a:t>
            </a:r>
            <a:endParaRPr sz="2200" b="0" i="1">
              <a:solidFill>
                <a:srgbClr val="66666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8630" y="1113790"/>
            <a:ext cx="6021070" cy="2258060"/>
          </a:xfrm>
          <a:prstGeom prst="rect">
            <a:avLst/>
          </a:prstGeom>
        </p:spPr>
      </p:pic>
      <p:sp>
        <p:nvSpPr>
          <p:cNvPr id="16" name="矩形 15"/>
          <p:cNvSpPr>
            <a:spLocks noGrp="1"/>
          </p:cNvSpPr>
          <p:nvPr/>
        </p:nvSpPr>
        <p:spPr>
          <a:xfrm>
            <a:off x="9944100" y="3467100"/>
            <a:ext cx="7886700" cy="5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Fig. 33. SmolVLA action queue threshold controlling inference triggers.</a:t>
            </a:r>
            <a:endParaRPr sz="2200" b="0" i="1">
              <a:solidFill>
                <a:srgbClr val="66666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961626" y="4463415"/>
            <a:ext cx="2623058" cy="495300"/>
          </a:xfrm>
          <a:prstGeom prst="rect">
            <a:avLst/>
          </a:prstGeom>
          <a:solidFill>
            <a:srgbClr val="F7E9F7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0039350" y="4587240"/>
            <a:ext cx="2476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Mode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2584684" y="4463415"/>
            <a:ext cx="2623058" cy="495300"/>
          </a:xfrm>
          <a:prstGeom prst="rect">
            <a:avLst/>
          </a:prstGeom>
          <a:solidFill>
            <a:srgbClr val="F7E9F7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2668250" y="4587240"/>
            <a:ext cx="2476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Time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5207742" y="4463415"/>
            <a:ext cx="2623058" cy="495300"/>
          </a:xfrm>
          <a:prstGeom prst="rect">
            <a:avLst/>
          </a:prstGeom>
          <a:solidFill>
            <a:srgbClr val="F7E9F7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5278100" y="4587240"/>
            <a:ext cx="2476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# Cubes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961626" y="4958715"/>
            <a:ext cx="2623058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0039350" y="5063490"/>
            <a:ext cx="2476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Sync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2584684" y="4958715"/>
            <a:ext cx="2623058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2668250" y="5063490"/>
            <a:ext cx="2476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13.75s avg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5207742" y="4958715"/>
            <a:ext cx="2623058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15278100" y="5063490"/>
            <a:ext cx="2476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1.8 avg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961626" y="5568315"/>
            <a:ext cx="2623058" cy="609600"/>
          </a:xfrm>
          <a:prstGeom prst="rect">
            <a:avLst/>
          </a:prstGeom>
          <a:solidFill>
            <a:srgbClr val="F7E9F7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10039350" y="5673090"/>
            <a:ext cx="2476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Async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2584684" y="5568315"/>
            <a:ext cx="2623058" cy="609600"/>
          </a:xfrm>
          <a:prstGeom prst="rect">
            <a:avLst/>
          </a:prstGeom>
          <a:solidFill>
            <a:srgbClr val="F7E9F7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12668250" y="5673090"/>
            <a:ext cx="2476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9.70s avg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5207742" y="5568315"/>
            <a:ext cx="2623058" cy="609600"/>
          </a:xfrm>
          <a:prstGeom prst="rect">
            <a:avLst/>
          </a:prstGeom>
          <a:solidFill>
            <a:srgbClr val="F7E9F7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15278100" y="5673090"/>
            <a:ext cx="2476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3.8 avg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9961626" y="6311265"/>
            <a:ext cx="7869174" cy="2152650"/>
          </a:xfrm>
          <a:prstGeom prst="rect">
            <a:avLst/>
          </a:prstGeom>
          <a:solidFill>
            <a:srgbClr val="F7E9F7"/>
          </a:solidFill>
          <a:ln w="19050">
            <a:solidFill>
              <a:srgbClr val="92278F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10134600" y="6454140"/>
            <a:ext cx="75247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Why not a main paper?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0134600" y="6968490"/>
            <a:ext cx="7524750" cy="1371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SmolVLA is valuable as engineering context, but the async stack is not its only central contribution.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0" y="9601200"/>
            <a:ext cx="18288000" cy="723900"/>
          </a:xfrm>
          <a:prstGeom prst="rect">
            <a:avLst/>
          </a:prstGeom>
          <a:solidFill>
            <a:srgbClr val="990099"/>
          </a:solidFill>
        </p:spPr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948" y="9639300"/>
            <a:ext cx="745354" cy="590550"/>
          </a:xfrm>
          <a:prstGeom prst="rect">
            <a:avLst/>
          </a:prstGeom>
        </p:spPr>
      </p:pic>
      <p:sp>
        <p:nvSpPr>
          <p:cNvPr id="40" name="矩形 39"/>
          <p:cNvSpPr>
            <a:spLocks noGrp="1"/>
          </p:cNvSpPr>
          <p:nvPr/>
        </p:nvSpPr>
        <p:spPr>
          <a:xfrm>
            <a:off x="1352550" y="9696450"/>
            <a:ext cx="4381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香港中文大学（深圳） 数据科学学院</a:t>
            </a:r>
            <a:endParaRPr sz="1650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1352550" y="9963150"/>
            <a:ext cx="4381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CUHK-SZ School of Data Science</a:t>
            </a:r>
            <a:endParaRPr sz="1275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9144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79949"/>
            <a:ext cx="723900" cy="573552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1200150" y="209550"/>
            <a:ext cx="15278100" cy="6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Rule 1: Keep Queue Non-Empty</a:t>
            </a:r>
            <a:endParaRPr sz="4000" b="1" i="0">
              <a:solidFill>
                <a:srgbClr val="1F497D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6649700" y="228600"/>
            <a:ext cx="1333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36/40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0" y="914400"/>
            <a:ext cx="18288000" cy="76200"/>
          </a:xfrm>
          <a:prstGeom prst="rect">
            <a:avLst/>
          </a:prstGeom>
          <a:solidFill>
            <a:srgbClr val="990099"/>
          </a:solidFill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457200" y="1143000"/>
            <a:ext cx="8116729" cy="1238250"/>
          </a:xfrm>
          <a:prstGeom prst="rect">
            <a:avLst/>
          </a:prstGeom>
          <a:solidFill>
            <a:srgbClr val="EAF6EA"/>
          </a:solidFill>
          <a:ln w="19050">
            <a:solidFill>
              <a:srgbClr val="00A050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28650" y="1276350"/>
            <a:ext cx="77724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Trigger early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28650" y="1790700"/>
            <a:ext cx="77724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Start inference before the current queue drains.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57200" y="2543175"/>
            <a:ext cx="8116729" cy="1695450"/>
          </a:xfrm>
          <a:prstGeom prst="rect">
            <a:avLst/>
          </a:prstGeom>
          <a:solidFill>
            <a:srgbClr val="FFFFFF"/>
          </a:solidFill>
          <a:ln w="19050">
            <a:solidFill>
              <a:srgbClr val="92278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686050"/>
            <a:ext cx="77724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Estimate delay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28650" y="3200400"/>
            <a:ext cx="7772400" cy="914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Use recent latency measurements to pick a conservative delay d.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57200" y="4400550"/>
            <a:ext cx="8116729" cy="1695450"/>
          </a:xfrm>
          <a:prstGeom prst="rect">
            <a:avLst/>
          </a:prstGeom>
          <a:solidFill>
            <a:srgbClr val="FCE8E8"/>
          </a:solidFill>
          <a:ln w="19050">
            <a:solidFill>
              <a:srgbClr val="D00000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28650" y="4533900"/>
            <a:ext cx="77724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Avoid stale queues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28650" y="5048250"/>
            <a:ext cx="7772400" cy="914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Async is useful only if the returned chunk is still aligned with the robot state.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156700" y="6595110"/>
            <a:ext cx="2629376" cy="1104900"/>
          </a:xfrm>
          <a:prstGeom prst="rect">
            <a:avLst/>
          </a:prstGeom>
          <a:solidFill>
            <a:srgbClr val="FFFFFF"/>
          </a:solidFill>
          <a:ln w="19050">
            <a:solidFill>
              <a:srgbClr val="990099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9290050" y="6718935"/>
            <a:ext cx="23622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g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290050" y="7214235"/>
            <a:ext cx="23622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threshold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1900376" y="6595110"/>
            <a:ext cx="2629376" cy="1104900"/>
          </a:xfrm>
          <a:prstGeom prst="rect">
            <a:avLst/>
          </a:prstGeom>
          <a:solidFill>
            <a:srgbClr val="FFFFFF"/>
          </a:solidFill>
          <a:ln w="19050">
            <a:solidFill>
              <a:srgbClr val="990099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2033250" y="6718935"/>
            <a:ext cx="23622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|Q|</a:t>
            </a:r>
            <a:endParaRPr sz="3000" b="1" i="0">
              <a:solidFill>
                <a:srgbClr val="1F497D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2033250" y="7214235"/>
            <a:ext cx="23622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queue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4644053" y="6595110"/>
            <a:ext cx="2629376" cy="1104900"/>
          </a:xfrm>
          <a:prstGeom prst="rect">
            <a:avLst/>
          </a:prstGeom>
          <a:solidFill>
            <a:srgbClr val="FFFFFF"/>
          </a:solidFill>
          <a:ln w="19050">
            <a:solidFill>
              <a:srgbClr val="990099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4776450" y="6718935"/>
            <a:ext cx="23622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D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D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</a:t>
            </a:r>
            <a:endParaRPr sz="3000" b="1" i="0">
              <a:solidFill>
                <a:srgbClr val="D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4776450" y="7214235"/>
            <a:ext cx="23622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delay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457200" y="6381750"/>
            <a:ext cx="8116729" cy="1695450"/>
          </a:xfrm>
          <a:prstGeom prst="rect">
            <a:avLst/>
          </a:prstGeom>
          <a:solidFill>
            <a:srgbClr val="F7E9F7"/>
          </a:solidFill>
          <a:ln w="19050">
            <a:solidFill>
              <a:srgbClr val="92278F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28650" y="6515100"/>
            <a:ext cx="77724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Runtime invariant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28650" y="7029450"/>
            <a:ext cx="7772400" cy="914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 controller should never discover at tick t that the next action was not produced.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1905" y="1343025"/>
            <a:ext cx="9022715" cy="5038725"/>
          </a:xfrm>
          <a:prstGeom prst="rect">
            <a:avLst/>
          </a:prstGeom>
        </p:spPr>
      </p:pic>
      <p:sp>
        <p:nvSpPr>
          <p:cNvPr id="31" name="矩形 30"/>
          <p:cNvSpPr>
            <a:spLocks noGrp="1"/>
          </p:cNvSpPr>
          <p:nvPr/>
        </p:nvSpPr>
        <p:spPr>
          <a:xfrm>
            <a:off x="9029700" y="7949165"/>
            <a:ext cx="8953500" cy="5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Fig. 35. SmolVLA asynchronous inference control-loop pseudocode.</a:t>
            </a:r>
            <a:endParaRPr sz="2200" b="0" i="1">
              <a:solidFill>
                <a:srgbClr val="66666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0" y="9601200"/>
            <a:ext cx="18288000" cy="723900"/>
          </a:xfrm>
          <a:prstGeom prst="rect">
            <a:avLst/>
          </a:prstGeom>
          <a:solidFill>
            <a:srgbClr val="990099"/>
          </a:solidFill>
        </p:spPr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948" y="9639300"/>
            <a:ext cx="745354" cy="590550"/>
          </a:xfrm>
          <a:prstGeom prst="rect">
            <a:avLst/>
          </a:prstGeom>
        </p:spPr>
      </p:pic>
      <p:sp>
        <p:nvSpPr>
          <p:cNvPr id="34" name="矩形 33"/>
          <p:cNvSpPr>
            <a:spLocks noGrp="1"/>
          </p:cNvSpPr>
          <p:nvPr/>
        </p:nvSpPr>
        <p:spPr>
          <a:xfrm>
            <a:off x="1352550" y="9696450"/>
            <a:ext cx="4381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香港中文大学（深圳） 数据科学学院</a:t>
            </a:r>
            <a:endParaRPr sz="1650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1352550" y="9963150"/>
            <a:ext cx="4381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CUHK-SZ School of Data Science</a:t>
            </a:r>
            <a:endParaRPr sz="1275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9144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79949"/>
            <a:ext cx="723900" cy="573552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1200150" y="209550"/>
            <a:ext cx="15278100" cy="6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Rule 2: Committed vs Mutable</a:t>
            </a:r>
            <a:endParaRPr sz="4000" b="1" i="0">
              <a:solidFill>
                <a:srgbClr val="1F497D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6649700" y="228600"/>
            <a:ext cx="1333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37/40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0" y="914400"/>
            <a:ext cx="18288000" cy="76200"/>
          </a:xfrm>
          <a:prstGeom prst="rect">
            <a:avLst/>
          </a:prstGeom>
          <a:solidFill>
            <a:srgbClr val="990099"/>
          </a:solidFill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457200" y="2263140"/>
            <a:ext cx="85344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New chunk must respect time.</a:t>
            </a:r>
            <a:endParaRPr sz="3000" b="1" i="0">
              <a:solidFill>
                <a:srgbClr val="1F497D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57200" y="2872740"/>
            <a:ext cx="1200150" cy="609600"/>
          </a:xfrm>
          <a:prstGeom prst="rect">
            <a:avLst/>
          </a:prstGeom>
          <a:solidFill>
            <a:srgbClr val="EFEFEF"/>
          </a:solidFill>
          <a:ln w="19050">
            <a:solidFill>
              <a:srgbClr val="666666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95300" y="2948940"/>
            <a:ext cx="11239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past</a:t>
            </a:r>
            <a:endParaRPr sz="3000" b="1" i="0">
              <a:solidFill>
                <a:srgbClr val="66666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733550" y="2872740"/>
            <a:ext cx="1200150" cy="609600"/>
          </a:xfrm>
          <a:prstGeom prst="rect">
            <a:avLst/>
          </a:prstGeom>
          <a:solidFill>
            <a:srgbClr val="FCE8E8"/>
          </a:solidFill>
          <a:ln w="19050">
            <a:solidFill>
              <a:srgbClr val="D00000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771650" y="2948940"/>
            <a:ext cx="11239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D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D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fix</a:t>
            </a:r>
            <a:endParaRPr sz="3000" b="1" i="0">
              <a:solidFill>
                <a:srgbClr val="D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009900" y="2872740"/>
            <a:ext cx="1200150" cy="609600"/>
          </a:xfrm>
          <a:prstGeom prst="rect">
            <a:avLst/>
          </a:prstGeom>
          <a:solidFill>
            <a:srgbClr val="FCE8E8"/>
          </a:solidFill>
          <a:ln w="19050">
            <a:solidFill>
              <a:srgbClr val="D00000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3048000" y="2948940"/>
            <a:ext cx="11239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D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D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fix</a:t>
            </a:r>
            <a:endParaRPr sz="3000" b="1" i="0">
              <a:solidFill>
                <a:srgbClr val="D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286250" y="2872740"/>
            <a:ext cx="1200150" cy="609600"/>
          </a:xfrm>
          <a:prstGeom prst="rect">
            <a:avLst/>
          </a:prstGeom>
          <a:solidFill>
            <a:srgbClr val="F7E9F7"/>
          </a:solidFill>
          <a:ln w="19050">
            <a:solidFill>
              <a:srgbClr val="990099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324350" y="2948940"/>
            <a:ext cx="11239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soft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562600" y="2872740"/>
            <a:ext cx="1200150" cy="609600"/>
          </a:xfrm>
          <a:prstGeom prst="rect">
            <a:avLst/>
          </a:prstGeom>
          <a:solidFill>
            <a:srgbClr val="EAF6EA"/>
          </a:solidFill>
          <a:ln w="19050">
            <a:solidFill>
              <a:srgbClr val="00A050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5600700" y="2948940"/>
            <a:ext cx="11239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A05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A05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new</a:t>
            </a:r>
            <a:endParaRPr sz="3000" b="1" i="0">
              <a:solidFill>
                <a:srgbClr val="00A05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838950" y="2872740"/>
            <a:ext cx="1200150" cy="609600"/>
          </a:xfrm>
          <a:prstGeom prst="rect">
            <a:avLst/>
          </a:prstGeom>
          <a:solidFill>
            <a:srgbClr val="EAF6EA"/>
          </a:solidFill>
          <a:ln w="19050">
            <a:solidFill>
              <a:srgbClr val="00A050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877050" y="2948940"/>
            <a:ext cx="11239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A05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A05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new</a:t>
            </a:r>
            <a:endParaRPr sz="3000" b="1" i="0">
              <a:solidFill>
                <a:srgbClr val="00A05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57200" y="3625215"/>
            <a:ext cx="8524875" cy="1695450"/>
          </a:xfrm>
          <a:prstGeom prst="rect">
            <a:avLst/>
          </a:prstGeom>
          <a:solidFill>
            <a:srgbClr val="F7E9F7"/>
          </a:solidFill>
          <a:ln w="19050">
            <a:solidFill>
              <a:srgbClr val="92278F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28650" y="3768090"/>
            <a:ext cx="8191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Invariant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4282440"/>
            <a:ext cx="8191500" cy="914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Never let a late inference job rewrite actions that are already physically committed.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57200" y="5473065"/>
            <a:ext cx="8534400" cy="219075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8603" y="5549265"/>
            <a:ext cx="5271595" cy="2038350"/>
          </a:xfrm>
          <a:prstGeom prst="rect">
            <a:avLst/>
          </a:prstGeom>
        </p:spPr>
      </p:pic>
      <p:sp>
        <p:nvSpPr>
          <p:cNvPr id="26" name="矩形 25"/>
          <p:cNvSpPr>
            <a:spLocks noGrp="1"/>
          </p:cNvSpPr>
          <p:nvPr/>
        </p:nvSpPr>
        <p:spPr>
          <a:xfrm>
            <a:off x="457200" y="7749540"/>
            <a:ext cx="8534400" cy="5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200" b="0" i="1">
                <a:solidFill>
                  <a:srgbClr val="66666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Fig. 36. RTC committed-prefix diagram illustrating mutable future suffix.</a:t>
            </a:r>
            <a:endParaRPr sz="2200" b="0" i="1">
              <a:solidFill>
                <a:srgbClr val="66666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305925" y="1786890"/>
            <a:ext cx="8524875" cy="2400300"/>
          </a:xfrm>
          <a:prstGeom prst="rect">
            <a:avLst/>
          </a:prstGeom>
          <a:solidFill>
            <a:srgbClr val="F8F8F8"/>
          </a:solidFill>
          <a:ln w="19050">
            <a:solidFill>
              <a:srgbClr val="92278F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9505950" y="1958340"/>
            <a:ext cx="81534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400" b="0" i="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on chunk_ready(A_new, d):</a:t>
            </a:r>
            <a:endParaRPr sz="2400" b="0" i="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505950" y="2491740"/>
            <a:ext cx="81534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400" b="0" i="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freeze committed prefix</a:t>
            </a:r>
            <a:endParaRPr sz="2400" b="0" i="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505950" y="3025140"/>
            <a:ext cx="81534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400" b="0" i="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regenerate mutable suffix</a:t>
            </a:r>
            <a:endParaRPr sz="2400" b="0" i="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9505950" y="3558540"/>
            <a:ext cx="81534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400" b="0" i="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swap queue atomically</a:t>
            </a:r>
            <a:endParaRPr sz="2400" b="0" i="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305925" y="4358640"/>
            <a:ext cx="8524875" cy="1695450"/>
          </a:xfrm>
          <a:prstGeom prst="rect">
            <a:avLst/>
          </a:prstGeom>
          <a:solidFill>
            <a:srgbClr val="F7E9F7"/>
          </a:solidFill>
          <a:ln w="19050">
            <a:solidFill>
              <a:srgbClr val="92278F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9486900" y="4491990"/>
            <a:ext cx="8191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Scheduling contract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9486900" y="5006340"/>
            <a:ext cx="8191500" cy="914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Prefix actions are a hardware commitment; suffix actions are still a software decision.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9305925" y="6225540"/>
            <a:ext cx="8524875" cy="2152650"/>
          </a:xfrm>
          <a:prstGeom prst="rect">
            <a:avLst/>
          </a:prstGeom>
          <a:solidFill>
            <a:srgbClr val="EAF6EA"/>
          </a:solidFill>
          <a:ln w="19050">
            <a:solidFill>
              <a:srgbClr val="00A050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9486900" y="6358890"/>
            <a:ext cx="8191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System implication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9486900" y="6873240"/>
            <a:ext cx="8191500" cy="1371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 runtime API should expose prefix masks and delay estimates instead of hiding them inside the policy.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0" y="9601200"/>
            <a:ext cx="18288000" cy="723900"/>
          </a:xfrm>
          <a:prstGeom prst="rect">
            <a:avLst/>
          </a:prstGeom>
          <a:solidFill>
            <a:srgbClr val="990099"/>
          </a:solidFill>
        </p:spPr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948" y="9639300"/>
            <a:ext cx="745354" cy="590550"/>
          </a:xfrm>
          <a:prstGeom prst="rect">
            <a:avLst/>
          </a:prstGeom>
        </p:spPr>
      </p:pic>
      <p:sp>
        <p:nvSpPr>
          <p:cNvPr id="40" name="矩形 39"/>
          <p:cNvSpPr>
            <a:spLocks noGrp="1"/>
          </p:cNvSpPr>
          <p:nvPr/>
        </p:nvSpPr>
        <p:spPr>
          <a:xfrm>
            <a:off x="1352550" y="9696450"/>
            <a:ext cx="4381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香港中文大学（深圳） 数据科学学院</a:t>
            </a:r>
            <a:endParaRPr sz="1650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1352550" y="9963150"/>
            <a:ext cx="4381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CUHK-SZ School of Data Science</a:t>
            </a:r>
            <a:endParaRPr sz="1275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9144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79949"/>
            <a:ext cx="723900" cy="573552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1200150" y="209550"/>
            <a:ext cx="15278100" cy="6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Open Problems for OS Systems</a:t>
            </a:r>
            <a:endParaRPr sz="4000" b="1" i="0">
              <a:solidFill>
                <a:srgbClr val="1F497D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6649700" y="228600"/>
            <a:ext cx="1333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38/40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0" y="914400"/>
            <a:ext cx="18288000" cy="76200"/>
          </a:xfrm>
          <a:prstGeom prst="rect">
            <a:avLst/>
          </a:prstGeom>
          <a:solidFill>
            <a:srgbClr val="990099"/>
          </a:solidFill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457200" y="1423670"/>
            <a:ext cx="8534400" cy="2152650"/>
          </a:xfrm>
          <a:prstGeom prst="rect">
            <a:avLst/>
          </a:prstGeom>
          <a:solidFill>
            <a:srgbClr val="FFFFFF"/>
          </a:solidFill>
          <a:ln w="19050">
            <a:solidFill>
              <a:srgbClr val="92278F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28650" y="1557020"/>
            <a:ext cx="8191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Deadline miss policy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28650" y="2071370"/>
            <a:ext cx="8191500" cy="1371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If inference returns too late, should the robot hold, slow down, reuse old actions, or fall back to a small controller?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57200" y="3728720"/>
            <a:ext cx="8534400" cy="1695450"/>
          </a:xfrm>
          <a:prstGeom prst="rect">
            <a:avLst/>
          </a:prstGeom>
          <a:solidFill>
            <a:srgbClr val="EAF2FB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3862070"/>
            <a:ext cx="8191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Multi-rate perception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28650" y="4376420"/>
            <a:ext cx="8191500" cy="914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Cameras, proprioception, language, and action queues update on different clocks.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57200" y="5576570"/>
            <a:ext cx="8534400" cy="1695450"/>
          </a:xfrm>
          <a:prstGeom prst="rect">
            <a:avLst/>
          </a:prstGeom>
          <a:solidFill>
            <a:srgbClr val="FCE8E8"/>
          </a:solidFill>
          <a:ln w="19050">
            <a:solidFill>
              <a:srgbClr val="D00000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28650" y="5709920"/>
            <a:ext cx="8191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Remote inference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28650" y="6224270"/>
            <a:ext cx="8191500" cy="914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Network jitter makes delay a distribution, not a constant.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296400" y="1423670"/>
            <a:ext cx="8534400" cy="1695450"/>
          </a:xfrm>
          <a:prstGeom prst="rect">
            <a:avLst/>
          </a:prstGeom>
          <a:solidFill>
            <a:srgbClr val="FFFFFF"/>
          </a:solidFill>
          <a:ln w="19050">
            <a:solidFill>
              <a:srgbClr val="92278F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9467850" y="1557020"/>
            <a:ext cx="8191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Safety envelope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467850" y="2071370"/>
            <a:ext cx="8191500" cy="914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Committed actions should still respect collision, force, joint, and workspace constraints.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296400" y="3271520"/>
            <a:ext cx="8534400" cy="2152650"/>
          </a:xfrm>
          <a:prstGeom prst="rect">
            <a:avLst/>
          </a:prstGeom>
          <a:solidFill>
            <a:srgbClr val="F7E9F7"/>
          </a:solidFill>
          <a:ln w="19050">
            <a:solidFill>
              <a:srgbClr val="92278F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9467850" y="3404870"/>
            <a:ext cx="8191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Backpressure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467850" y="3919220"/>
            <a:ext cx="8191500" cy="1371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If observations arrive faster than inference can consume them, which observations should be dropped?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296400" y="5576570"/>
            <a:ext cx="8534400" cy="1695450"/>
          </a:xfrm>
          <a:prstGeom prst="rect">
            <a:avLst/>
          </a:prstGeom>
          <a:solidFill>
            <a:srgbClr val="EAF6EA"/>
          </a:solidFill>
          <a:ln w="19050">
            <a:solidFill>
              <a:srgbClr val="00A050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9467850" y="5709920"/>
            <a:ext cx="8191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Policy-aware runtime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467850" y="6224270"/>
            <a:ext cx="8191500" cy="914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Future runtimes may expose prefix masks, horizons, and delay estimates as first-class scheduling APIs.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0" y="9601200"/>
            <a:ext cx="18288000" cy="723900"/>
          </a:xfrm>
          <a:prstGeom prst="rect">
            <a:avLst/>
          </a:prstGeom>
          <a:solidFill>
            <a:srgbClr val="990099"/>
          </a:solidFill>
        </p:spPr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948" y="9639300"/>
            <a:ext cx="745354" cy="590550"/>
          </a:xfrm>
          <a:prstGeom prst="rect">
            <a:avLst/>
          </a:prstGeom>
        </p:spPr>
      </p:pic>
      <p:sp>
        <p:nvSpPr>
          <p:cNvPr id="28" name="矩形 27"/>
          <p:cNvSpPr>
            <a:spLocks noGrp="1"/>
          </p:cNvSpPr>
          <p:nvPr/>
        </p:nvSpPr>
        <p:spPr>
          <a:xfrm>
            <a:off x="1352550" y="9696450"/>
            <a:ext cx="4381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香港中文大学（深圳） 数据科学学院</a:t>
            </a:r>
            <a:endParaRPr sz="1650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352550" y="9963150"/>
            <a:ext cx="4381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CUHK-SZ School of Data Science</a:t>
            </a:r>
            <a:endParaRPr sz="1275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9144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79949"/>
            <a:ext cx="723900" cy="573552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1200150" y="209550"/>
            <a:ext cx="15278100" cy="6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Final Takeaways</a:t>
            </a:r>
            <a:endParaRPr sz="4000" b="1" i="0">
              <a:solidFill>
                <a:srgbClr val="1F497D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6649700" y="228600"/>
            <a:ext cx="1333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39/40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0" y="914400"/>
            <a:ext cx="18288000" cy="76200"/>
          </a:xfrm>
          <a:prstGeom prst="rect">
            <a:avLst/>
          </a:prstGeom>
          <a:solidFill>
            <a:srgbClr val="990099"/>
          </a:solidFill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0" y="990600"/>
            <a:ext cx="18288000" cy="85725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457200" y="2114550"/>
            <a:ext cx="8096250" cy="609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9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9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Final Takeaway</a:t>
            </a:r>
            <a:endParaRPr sz="3900" b="1" i="0">
              <a:solidFill>
                <a:srgbClr val="1F497D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57200" y="2914650"/>
            <a:ext cx="8096250" cy="914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Action chunking started as a policy representation trick.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57200" y="4019550"/>
            <a:ext cx="8096250" cy="1371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 modern VLA systems, it becomes the scheduling interface between slow inference and real-time robot execution.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57200" y="5574030"/>
            <a:ext cx="8098631" cy="2857500"/>
          </a:xfrm>
          <a:prstGeom prst="rect">
            <a:avLst/>
          </a:prstGeom>
          <a:solidFill>
            <a:srgbClr val="F8F8F8"/>
          </a:solidFill>
          <a:ln w="19050">
            <a:solidFill>
              <a:srgbClr val="92278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47700" y="5753100"/>
            <a:ext cx="77152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400" b="0" i="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slow producer:  VLA inference</a:t>
            </a:r>
            <a:endParaRPr sz="2400" b="0" i="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47700" y="6286500"/>
            <a:ext cx="77152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400" b="0" i="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fast consumer:  robot controller</a:t>
            </a:r>
            <a:endParaRPr sz="2400" b="0" i="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47700" y="6819900"/>
            <a:ext cx="7715250" cy="914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400" b="0" i="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contract:       prefix cannot change</a:t>
            </a:r>
            <a:endParaRPr sz="2400" b="0" i="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47700" y="7810500"/>
            <a:ext cx="77152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400" b="0" i="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correction:     suffix can update</a:t>
            </a:r>
            <a:endParaRPr sz="2400" b="0" i="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879681" y="2057400"/>
            <a:ext cx="4475559" cy="628650"/>
          </a:xfrm>
          <a:prstGeom prst="rect">
            <a:avLst/>
          </a:prstGeom>
          <a:solidFill>
            <a:srgbClr val="F7E9F7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953500" y="2171700"/>
            <a:ext cx="43243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Paper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3355241" y="2057400"/>
            <a:ext cx="4475559" cy="628650"/>
          </a:xfrm>
          <a:prstGeom prst="rect">
            <a:avLst/>
          </a:prstGeom>
          <a:solidFill>
            <a:srgbClr val="F7E9F7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3430250" y="2171700"/>
            <a:ext cx="43243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One-line role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879681" y="2686050"/>
            <a:ext cx="4475559" cy="819150"/>
          </a:xfrm>
          <a:prstGeom prst="rect">
            <a:avLst/>
          </a:prstGeom>
          <a:solidFill>
            <a:srgbClr val="F7E9F7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953500" y="2781300"/>
            <a:ext cx="43243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ACT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3355241" y="2686050"/>
            <a:ext cx="4475559" cy="819150"/>
          </a:xfrm>
          <a:prstGeom prst="rect">
            <a:avLst/>
          </a:prstGeom>
          <a:solidFill>
            <a:srgbClr val="F7E9F7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3430250" y="2781300"/>
            <a:ext cx="43243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defines action chunks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879681" y="3505200"/>
            <a:ext cx="4475559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8953500" y="3600450"/>
            <a:ext cx="43243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RTC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3355241" y="3505200"/>
            <a:ext cx="4475559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3430250" y="3600450"/>
            <a:ext cx="43243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runtime scheduling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879681" y="4324350"/>
            <a:ext cx="4475559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8953500" y="4419600"/>
            <a:ext cx="43243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REMAC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3355241" y="4324350"/>
            <a:ext cx="4475559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92278F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13430250" y="4419600"/>
            <a:ext cx="43243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async-mismatch training</a:t>
            </a:r>
            <a:endParaRPr sz="30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879681" y="5295900"/>
            <a:ext cx="2894806" cy="121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990099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9010650" y="5429250"/>
            <a:ext cx="26289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ACT</a:t>
            </a:r>
            <a:endParaRPr sz="30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9010650" y="5924550"/>
            <a:ext cx="26289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chunked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11907838" y="5295900"/>
            <a:ext cx="2894806" cy="121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990099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12039600" y="5429250"/>
            <a:ext cx="26289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2E75B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2E75B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RTC</a:t>
            </a:r>
            <a:endParaRPr sz="3000" b="1" i="0">
              <a:solidFill>
                <a:srgbClr val="2E75B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2039600" y="5924550"/>
            <a:ext cx="26289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async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14935994" y="5295900"/>
            <a:ext cx="2894806" cy="121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990099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15068550" y="5429250"/>
            <a:ext cx="26289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A05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A05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REMAC</a:t>
            </a:r>
            <a:endParaRPr sz="3000" b="1" i="0">
              <a:solidFill>
                <a:srgbClr val="00A05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15068550" y="5924550"/>
            <a:ext cx="26289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robust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8877300" y="6667500"/>
            <a:ext cx="8953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 i="0">
                <a:solidFill>
                  <a:srgbClr val="666666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3000" b="0" i="0">
                <a:solidFill>
                  <a:srgbClr val="66666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time -&gt;</a:t>
            </a:r>
            <a:endParaRPr sz="3000" b="0" i="0">
              <a:solidFill>
                <a:srgbClr val="66666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8877300" y="7315200"/>
            <a:ext cx="11430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Exec.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10156031" y="7277100"/>
            <a:ext cx="685800" cy="533400"/>
          </a:xfrm>
          <a:prstGeom prst="rect">
            <a:avLst/>
          </a:prstGeom>
          <a:solidFill>
            <a:srgbClr val="F1D4F2"/>
          </a:solidFill>
          <a:ln w="19050">
            <a:solidFill>
              <a:srgbClr val="92278F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10191750" y="7353300"/>
            <a:ext cx="6096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2278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2278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a₀</a:t>
            </a:r>
            <a:endParaRPr sz="3000" b="1" i="0">
              <a:solidFill>
                <a:srgbClr val="92278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10918031" y="7277100"/>
            <a:ext cx="685800" cy="533400"/>
          </a:xfrm>
          <a:prstGeom prst="rect">
            <a:avLst/>
          </a:prstGeom>
          <a:solidFill>
            <a:srgbClr val="F1D4F2"/>
          </a:solidFill>
          <a:ln w="19050">
            <a:solidFill>
              <a:srgbClr val="92278F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10953750" y="7353300"/>
            <a:ext cx="6096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2278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2278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a₁</a:t>
            </a:r>
            <a:endParaRPr sz="3000" b="1" i="0">
              <a:solidFill>
                <a:srgbClr val="92278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11680031" y="7277100"/>
            <a:ext cx="685800" cy="533400"/>
          </a:xfrm>
          <a:prstGeom prst="rect">
            <a:avLst/>
          </a:prstGeom>
          <a:solidFill>
            <a:srgbClr val="F1D4F2"/>
          </a:solidFill>
          <a:ln w="19050">
            <a:solidFill>
              <a:srgbClr val="92278F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11715750" y="7353300"/>
            <a:ext cx="6096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2278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2278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a₂</a:t>
            </a:r>
            <a:endParaRPr sz="3000" b="1" i="0">
              <a:solidFill>
                <a:srgbClr val="92278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12442031" y="7277100"/>
            <a:ext cx="685800" cy="533400"/>
          </a:xfrm>
          <a:prstGeom prst="rect">
            <a:avLst/>
          </a:prstGeom>
          <a:solidFill>
            <a:srgbClr val="F9E7F9"/>
          </a:solidFill>
          <a:ln w="19050">
            <a:solidFill>
              <a:srgbClr val="92278F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12477750" y="7353300"/>
            <a:ext cx="6096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2278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2278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a₃</a:t>
            </a:r>
            <a:endParaRPr sz="3000" b="1" i="0">
              <a:solidFill>
                <a:srgbClr val="92278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13204031" y="7277100"/>
            <a:ext cx="685800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92278F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13239750" y="7353300"/>
            <a:ext cx="6096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2278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2278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a₄</a:t>
            </a:r>
            <a:endParaRPr sz="3000" b="1" i="0">
              <a:solidFill>
                <a:srgbClr val="92278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13966031" y="7277100"/>
            <a:ext cx="685800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92278F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14001750" y="7353300"/>
            <a:ext cx="6096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92278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92278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a₅</a:t>
            </a:r>
            <a:endParaRPr sz="3000" b="1" i="0">
              <a:solidFill>
                <a:srgbClr val="92278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8877300" y="8001000"/>
            <a:ext cx="11430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Infer.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10172700" y="8229600"/>
            <a:ext cx="685800" cy="952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10975181" y="7962900"/>
            <a:ext cx="2000250" cy="533400"/>
          </a:xfrm>
          <a:prstGeom prst="rect">
            <a:avLst/>
          </a:prstGeom>
          <a:solidFill>
            <a:srgbClr val="EAF6EA"/>
          </a:solidFill>
          <a:ln w="19050">
            <a:solidFill>
              <a:srgbClr val="00A050"/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11049000" y="8058150"/>
            <a:ext cx="18478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A05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A05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infer next</a:t>
            </a:r>
            <a:endParaRPr sz="3000" b="1" i="0">
              <a:solidFill>
                <a:srgbClr val="00A05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13106400" y="8001000"/>
            <a:ext cx="4191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A05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A05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➜</a:t>
            </a:r>
            <a:endParaRPr sz="3000" b="1" i="0">
              <a:solidFill>
                <a:srgbClr val="00A05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13661231" y="7962900"/>
            <a:ext cx="2000250" cy="533400"/>
          </a:xfrm>
          <a:prstGeom prst="rect">
            <a:avLst/>
          </a:prstGeom>
          <a:solidFill>
            <a:srgbClr val="EAF6EA"/>
          </a:solidFill>
          <a:ln w="19050">
            <a:solidFill>
              <a:srgbClr val="00A050"/>
            </a:solidFill>
            <a:prstDash val="solid"/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13735050" y="8058150"/>
            <a:ext cx="18478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A05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A05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infer later</a:t>
            </a:r>
            <a:endParaRPr sz="3000" b="1" i="0">
              <a:solidFill>
                <a:srgbClr val="00A05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0" y="9601200"/>
            <a:ext cx="18288000" cy="723900"/>
          </a:xfrm>
          <a:prstGeom prst="rect">
            <a:avLst/>
          </a:prstGeom>
          <a:solidFill>
            <a:srgbClr val="990099"/>
          </a:solidFill>
        </p:spPr>
      </p:sp>
      <p:pic>
        <p:nvPicPr>
          <p:cNvPr id="63" name="图片 6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948" y="9639300"/>
            <a:ext cx="745354" cy="590550"/>
          </a:xfrm>
          <a:prstGeom prst="rect">
            <a:avLst/>
          </a:prstGeom>
        </p:spPr>
      </p:pic>
      <p:sp>
        <p:nvSpPr>
          <p:cNvPr id="64" name="矩形 63"/>
          <p:cNvSpPr>
            <a:spLocks noGrp="1"/>
          </p:cNvSpPr>
          <p:nvPr/>
        </p:nvSpPr>
        <p:spPr>
          <a:xfrm>
            <a:off x="1352550" y="9696450"/>
            <a:ext cx="4381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香港中文大学（深圳） 数据科学学院</a:t>
            </a:r>
            <a:endParaRPr sz="1650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1352550" y="9963150"/>
            <a:ext cx="4381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CUHK-SZ School of Data Science</a:t>
            </a:r>
            <a:endParaRPr sz="1275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9144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79949"/>
            <a:ext cx="723900" cy="573552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1200150" y="209550"/>
            <a:ext cx="15278100" cy="6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400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Q &amp; A</a:t>
            </a:r>
            <a:endParaRPr sz="4000" b="1" i="0">
              <a:solidFill>
                <a:srgbClr val="1F497D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6649700" y="228600"/>
            <a:ext cx="1333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40/40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0" y="914400"/>
            <a:ext cx="18288000" cy="76200"/>
          </a:xfrm>
          <a:prstGeom prst="rect">
            <a:avLst/>
          </a:prstGeom>
          <a:solidFill>
            <a:srgbClr val="990099"/>
          </a:solidFill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2211705" y="2990850"/>
            <a:ext cx="7486650" cy="895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85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5850" b="1" i="0">
                <a:solidFill>
                  <a:srgbClr val="1F497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Thank You</a:t>
            </a:r>
            <a:endParaRPr sz="5850" b="1" i="0">
              <a:solidFill>
                <a:srgbClr val="1F497D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211705" y="4114800"/>
            <a:ext cx="7486650" cy="838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4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5400" b="1" i="0">
                <a:solidFill>
                  <a:srgbClr val="99009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Q &amp; A</a:t>
            </a:r>
            <a:endParaRPr sz="5400" b="1" i="0">
              <a:solidFill>
                <a:srgbClr val="99009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211705" y="5162550"/>
            <a:ext cx="7486650" cy="914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Scheduling Asynchronous Inference in Robotic Systems</a:t>
            </a:r>
            <a:endParaRPr sz="30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211705" y="6286500"/>
            <a:ext cx="7467600" cy="28575"/>
          </a:xfrm>
          <a:prstGeom prst="rect">
            <a:avLst/>
          </a:prstGeom>
          <a:solidFill>
            <a:srgbClr val="990099"/>
          </a:solidFill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2211705" y="6572250"/>
            <a:ext cx="74866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0A05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000" b="1" i="0">
                <a:solidFill>
                  <a:srgbClr val="00A05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ACT -&gt; RTC -&gt; REMAC</a:t>
            </a:r>
            <a:endParaRPr sz="3000" b="1" i="0">
              <a:solidFill>
                <a:srgbClr val="00A05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0" y="9601200"/>
            <a:ext cx="18288000" cy="723900"/>
          </a:xfrm>
          <a:prstGeom prst="rect">
            <a:avLst/>
          </a:prstGeom>
          <a:solidFill>
            <a:srgbClr val="990099"/>
          </a:solidFill>
        </p:spPr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948" y="9639300"/>
            <a:ext cx="745354" cy="590550"/>
          </a:xfrm>
          <a:prstGeom prst="rect">
            <a:avLst/>
          </a:prstGeom>
        </p:spPr>
      </p:pic>
      <p:sp>
        <p:nvSpPr>
          <p:cNvPr id="24" name="矩形 23"/>
          <p:cNvSpPr>
            <a:spLocks noGrp="1"/>
          </p:cNvSpPr>
          <p:nvPr/>
        </p:nvSpPr>
        <p:spPr>
          <a:xfrm>
            <a:off x="1352550" y="9696450"/>
            <a:ext cx="4381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香港中文大学（深圳） 数据科学学院</a:t>
            </a:r>
            <a:endParaRPr sz="1650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352550" y="9963150"/>
            <a:ext cx="4381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1" i="0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CUHK-SZ School of Data Science</a:t>
            </a:r>
            <a:endParaRPr sz="1275" b="1" i="0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15432</Words>
  <Application>WPS 演示</Application>
  <PresentationFormat>Converted Presentation</PresentationFormat>
  <Paragraphs>1253</Paragraphs>
  <Slides>40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61" baseType="lpstr">
      <vt:lpstr>Arial</vt:lpstr>
      <vt:lpstr>宋体</vt:lpstr>
      <vt:lpstr>Wingdings</vt:lpstr>
      <vt:lpstr>Times New Roman</vt:lpstr>
      <vt:lpstr>Calibri</vt:lpstr>
      <vt:lpstr>Helvetica Neue</vt:lpstr>
      <vt:lpstr>標楷體</vt:lpstr>
      <vt:lpstr>汉仪楷体简</vt:lpstr>
      <vt:lpstr>PMingLiU</vt:lpstr>
      <vt:lpstr>宋体-繁</vt:lpstr>
      <vt:lpstr>Menlo</vt:lpstr>
      <vt:lpstr>Times New Roman</vt:lpstr>
      <vt:lpstr>宋体</vt:lpstr>
      <vt:lpstr>汉仪书宋二KW</vt:lpstr>
      <vt:lpstr>微软雅黑</vt:lpstr>
      <vt:lpstr>汉仪旗黑</vt:lpstr>
      <vt:lpstr>Arial Unicode MS</vt:lpstr>
      <vt:lpstr>Menlo</vt:lpstr>
      <vt:lpstr>標楷體</vt:lpstr>
      <vt:lpstr>宋体-简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Reshine</cp:lastModifiedBy>
  <cp:revision>34</cp:revision>
  <dcterms:created xsi:type="dcterms:W3CDTF">2026-04-28T17:39:25Z</dcterms:created>
  <dcterms:modified xsi:type="dcterms:W3CDTF">2026-04-28T17:39:25Z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2052-12.1.25869.25869</vt:lpwstr>
  </property>
  <property fmtid="{D5CDD505-2E9C-101B-9397-08002B2CF9AE}" pid="3" name="ICV">
    <vt:lpwstr>9DB1401F62F05B94F098EF69B73470A0_42</vt:lpwstr>
  </property>
</Properties>
</file>