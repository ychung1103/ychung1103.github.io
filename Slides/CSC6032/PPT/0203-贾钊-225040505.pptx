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60" r:id="rId2"/>
  </p:sldMasterIdLst>
  <p:notesMasterIdLst>
    <p:notesMasterId r:id="rId42"/>
  </p:notesMasterIdLst>
  <p:sldIdLst>
    <p:sldId id="256" r:id="rId3"/>
    <p:sldId id="258" r:id="rId4"/>
    <p:sldId id="289" r:id="rId5"/>
    <p:sldId id="516" r:id="rId6"/>
    <p:sldId id="519" r:id="rId7"/>
    <p:sldId id="520" r:id="rId8"/>
    <p:sldId id="523" r:id="rId9"/>
    <p:sldId id="522" r:id="rId10"/>
    <p:sldId id="525" r:id="rId11"/>
    <p:sldId id="563" r:id="rId12"/>
    <p:sldId id="564" r:id="rId13"/>
    <p:sldId id="530" r:id="rId14"/>
    <p:sldId id="528" r:id="rId15"/>
    <p:sldId id="534" r:id="rId16"/>
    <p:sldId id="535" r:id="rId17"/>
    <p:sldId id="536" r:id="rId18"/>
    <p:sldId id="537" r:id="rId19"/>
    <p:sldId id="538" r:id="rId20"/>
    <p:sldId id="540" r:id="rId21"/>
    <p:sldId id="543" r:id="rId22"/>
    <p:sldId id="544" r:id="rId23"/>
    <p:sldId id="546" r:id="rId24"/>
    <p:sldId id="547" r:id="rId25"/>
    <p:sldId id="548" r:id="rId26"/>
    <p:sldId id="549" r:id="rId27"/>
    <p:sldId id="539" r:id="rId28"/>
    <p:sldId id="550" r:id="rId29"/>
    <p:sldId id="553" r:id="rId30"/>
    <p:sldId id="542" r:id="rId31"/>
    <p:sldId id="554" r:id="rId32"/>
    <p:sldId id="555" r:id="rId33"/>
    <p:sldId id="556" r:id="rId34"/>
    <p:sldId id="559" r:id="rId35"/>
    <p:sldId id="557" r:id="rId36"/>
    <p:sldId id="558" r:id="rId37"/>
    <p:sldId id="560" r:id="rId38"/>
    <p:sldId id="561" r:id="rId39"/>
    <p:sldId id="562" r:id="rId40"/>
    <p:sldId id="565" r:id="rId4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5E50BD18-57BE-41C6-B98B-D3C774CE6C59}">
          <p14:sldIdLst>
            <p14:sldId id="256"/>
            <p14:sldId id="258"/>
            <p14:sldId id="289"/>
            <p14:sldId id="516"/>
            <p14:sldId id="519"/>
            <p14:sldId id="520"/>
            <p14:sldId id="523"/>
            <p14:sldId id="522"/>
            <p14:sldId id="525"/>
            <p14:sldId id="563"/>
            <p14:sldId id="564"/>
            <p14:sldId id="530"/>
            <p14:sldId id="528"/>
            <p14:sldId id="534"/>
            <p14:sldId id="535"/>
            <p14:sldId id="536"/>
            <p14:sldId id="537"/>
            <p14:sldId id="538"/>
            <p14:sldId id="540"/>
            <p14:sldId id="543"/>
            <p14:sldId id="544"/>
            <p14:sldId id="546"/>
            <p14:sldId id="547"/>
            <p14:sldId id="548"/>
            <p14:sldId id="549"/>
            <p14:sldId id="539"/>
            <p14:sldId id="550"/>
            <p14:sldId id="553"/>
            <p14:sldId id="542"/>
            <p14:sldId id="554"/>
            <p14:sldId id="555"/>
            <p14:sldId id="556"/>
            <p14:sldId id="559"/>
            <p14:sldId id="557"/>
            <p14:sldId id="558"/>
            <p14:sldId id="560"/>
            <p14:sldId id="561"/>
            <p14:sldId id="562"/>
            <p14:sldId id="5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0" autoAdjust="0"/>
    <p:restoredTop sz="94660"/>
  </p:normalViewPr>
  <p:slideViewPr>
    <p:cSldViewPr snapToGrid="0">
      <p:cViewPr varScale="1">
        <p:scale>
          <a:sx n="80" d="100"/>
          <a:sy n="80" d="100"/>
        </p:scale>
        <p:origin x="54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panose="02020603050405020304" pitchFamily="18" charset="0"/>
              </a:defRPr>
            </a:lvl1pPr>
          </a:lstStyle>
          <a:p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3C1F4A7B-8284-4E61-88F9-84C6CA6E31E8}" type="datetimeFigureOut">
              <a:rPr lang="zh-TW" altLang="en-US" smtClean="0"/>
              <a:pPr/>
              <a:t>2026/2/3</a:t>
            </a:fld>
            <a:endParaRPr lang="zh-TW" altLang="en-US" dirty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 dirty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panose="02020603050405020304" pitchFamily="18" charset="0"/>
              </a:defRPr>
            </a:lvl1pPr>
          </a:lstStyle>
          <a:p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B11D5518-E2B7-47D3-A483-775D3998244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37007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01118-E267-0B8B-3174-77392EE50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AE5E1F88-A7DF-F4A1-946C-F7DBC81A64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D19EBF2-7882-3B69-E9DC-209B89C35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DCD30C1-D78F-EB36-F52A-338329A42D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20D120-4707-426F-9B85-873E256A663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7749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4351C-CDCF-89EE-EDA8-4FEE11206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B22EF095-4DB7-8A5B-061E-888645998A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54966FB-AE88-0576-7449-4C78A8C836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AC94EE-45AC-E390-DAB8-7108772C22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20D120-4707-426F-9B85-873E256A663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64049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 MA model assumes that workload variations are mainly caused by recent random disturbances, rather than by historical workload levels.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39663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10D63-D9C7-EAB9-65CA-7B4978DF3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2A5A88DB-12A2-4DF3-C038-2E7DBC23EB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75D40A8-DD0F-F081-A75B-9BF9389F93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6D496F3-A382-F4D2-F7C3-6E19160754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20D120-4707-426F-9B85-873E256A663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83844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BBDAA-F1D7-1A95-E60A-0F727A376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82E3E363-3CC5-3345-34C5-9E0DADC476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DCAF49E-8220-891A-B3C5-A9639898B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4286F4B-94B8-EF71-9C91-C44DED2DD5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20D120-4707-426F-9B85-873E256A663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9860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667"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defRPr>
            </a:lvl3pPr>
            <a:lvl4pPr>
              <a:defRPr sz="2400"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defRPr>
            </a:lvl4pPr>
            <a:lvl5pPr>
              <a:defRPr sz="2133"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4839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267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733"/>
            </a:lvl1pPr>
            <a:lvl2pPr marL="457177" indent="0">
              <a:buNone/>
              <a:defRPr sz="1801"/>
            </a:lvl2pPr>
            <a:lvl3pPr marL="914354" indent="0">
              <a:buNone/>
              <a:defRPr sz="1600"/>
            </a:lvl3pPr>
            <a:lvl4pPr marL="1371531" indent="0">
              <a:buNone/>
              <a:defRPr sz="1401"/>
            </a:lvl4pPr>
            <a:lvl5pPr marL="1828709" indent="0">
              <a:buNone/>
              <a:defRPr sz="1401"/>
            </a:lvl5pPr>
            <a:lvl6pPr marL="2285886" indent="0">
              <a:buNone/>
              <a:defRPr sz="1401"/>
            </a:lvl6pPr>
            <a:lvl7pPr marL="2743063" indent="0">
              <a:buNone/>
              <a:defRPr sz="1401"/>
            </a:lvl7pPr>
            <a:lvl8pPr marL="3200240" indent="0">
              <a:buNone/>
              <a:defRPr sz="1401"/>
            </a:lvl8pPr>
            <a:lvl9pPr marL="3657417" indent="0">
              <a:buNone/>
              <a:defRPr sz="14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603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>
                <a:latin typeface="Times New Roman" panose="02020603050405020304" pitchFamily="18" charset="0"/>
              </a:defRPr>
            </a:lvl3pPr>
            <a:lvl4pPr>
              <a:defRPr sz="2133">
                <a:latin typeface="Times New Roman" panose="02020603050405020304" pitchFamily="18" charset="0"/>
              </a:defRPr>
            </a:lvl4pPr>
            <a:lvl5pPr>
              <a:defRPr sz="2133">
                <a:latin typeface="Times New Roman" panose="02020603050405020304" pitchFamily="18" charset="0"/>
              </a:defRPr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>
                <a:latin typeface="Times New Roman" panose="02020603050405020304" pitchFamily="18" charset="0"/>
              </a:defRPr>
            </a:lvl3pPr>
            <a:lvl4pPr>
              <a:defRPr sz="2133">
                <a:latin typeface="Times New Roman" panose="02020603050405020304" pitchFamily="18" charset="0"/>
              </a:defRPr>
            </a:lvl4pPr>
            <a:lvl5pPr>
              <a:defRPr sz="2133">
                <a:latin typeface="Times New Roman" panose="02020603050405020304" pitchFamily="18" charset="0"/>
              </a:defRPr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4985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2" y="1268773"/>
            <a:ext cx="5386917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2" y="1908535"/>
            <a:ext cx="5386917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>
                <a:latin typeface="Times New Roman" panose="02020603050405020304" pitchFamily="18" charset="0"/>
              </a:defRPr>
            </a:lvl3pPr>
            <a:lvl4pPr>
              <a:defRPr sz="1867">
                <a:latin typeface="Times New Roman" panose="02020603050405020304" pitchFamily="18" charset="0"/>
              </a:defRPr>
            </a:lvl4pPr>
            <a:lvl5pPr>
              <a:defRPr sz="1867">
                <a:latin typeface="Times New Roman" panose="02020603050405020304" pitchFamily="18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268773"/>
            <a:ext cx="5389033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1908535"/>
            <a:ext cx="5389033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>
                <a:latin typeface="Times New Roman" panose="02020603050405020304" pitchFamily="18" charset="0"/>
              </a:defRPr>
            </a:lvl3pPr>
            <a:lvl4pPr>
              <a:defRPr sz="1867">
                <a:latin typeface="Times New Roman" panose="02020603050405020304" pitchFamily="18" charset="0"/>
              </a:defRPr>
            </a:lvl4pPr>
            <a:lvl5pPr>
              <a:defRPr sz="1867">
                <a:latin typeface="Times New Roman" panose="02020603050405020304" pitchFamily="18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624421" y="144466"/>
            <a:ext cx="10943167" cy="692151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794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0701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3319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6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4" y="273056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>
                <a:latin typeface="Times New Roman" panose="02020603050405020304" pitchFamily="18" charset="0"/>
              </a:defRPr>
            </a:lvl3pPr>
            <a:lvl4pPr>
              <a:defRPr sz="2000">
                <a:latin typeface="Times New Roman" panose="02020603050405020304" pitchFamily="18" charset="0"/>
              </a:defRPr>
            </a:lvl4pPr>
            <a:lvl5pPr>
              <a:defRPr sz="2000">
                <a:latin typeface="Times New Roman" panose="020206030504050203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6" y="1435104"/>
            <a:ext cx="4011084" cy="46910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048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1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5657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3pPr>
              <a:defRPr>
                <a:latin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3676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3043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09600" y="73028"/>
            <a:ext cx="10972800" cy="1700213"/>
          </a:xfrm>
        </p:spPr>
        <p:txBody>
          <a:bodyPr/>
          <a:lstStyle>
            <a:lvl3pPr>
              <a:defRPr>
                <a:latin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86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09600" y="1125542"/>
            <a:ext cx="10972800" cy="647700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9221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>
            <a:lvl1pPr algn="ctr">
              <a:defRPr sz="5333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77" indent="0" algn="ctr">
              <a:buNone/>
              <a:defRPr/>
            </a:lvl2pPr>
            <a:lvl3pPr marL="914354" indent="0" algn="ctr">
              <a:buNone/>
              <a:defRPr/>
            </a:lvl3pPr>
            <a:lvl4pPr marL="1371531" indent="0" algn="ctr">
              <a:buNone/>
              <a:defRPr/>
            </a:lvl4pPr>
            <a:lvl5pPr marL="1828709" indent="0" algn="ctr">
              <a:buNone/>
              <a:defRPr/>
            </a:lvl5pPr>
            <a:lvl6pPr marL="2285886" indent="0" algn="ctr">
              <a:buNone/>
              <a:defRPr/>
            </a:lvl6pPr>
            <a:lvl7pPr marL="2743063" indent="0" algn="ctr">
              <a:buNone/>
              <a:defRPr/>
            </a:lvl7pPr>
            <a:lvl8pPr marL="3200240" indent="0" algn="ctr">
              <a:buNone/>
              <a:defRPr/>
            </a:lvl8pPr>
            <a:lvl9pPr marL="3657417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9947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9865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83935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34368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37830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55558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84383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88628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85375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79622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8278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736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1049867" y="144466"/>
            <a:ext cx="10517721" cy="692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25537"/>
            <a:ext cx="10972800" cy="4895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3" y="6357940"/>
            <a:ext cx="5111751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912552" y="6581777"/>
            <a:ext cx="33353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National Tsing Hua University ® copyright OIA</a:t>
            </a:r>
            <a:endParaRPr lang="zh-TW" altLang="en-US" sz="1200" b="1" dirty="0">
              <a:solidFill>
                <a:schemeClr val="bg1"/>
              </a:solidFill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908055"/>
            <a:ext cx="12192000" cy="144463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 dirty="0">
              <a:latin typeface="Times New Roman" panose="02020603050405020304" pitchFamily="18" charset="0"/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6165849"/>
            <a:ext cx="12192000" cy="719139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 dirty="0">
              <a:latin typeface="Times New Roman" panose="02020603050405020304" pitchFamily="18" charset="0"/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08017" y="6524628"/>
            <a:ext cx="28448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1"/>
                </a:solidFill>
                <a:latin typeface="Times New Roman" panose="02020603050405020304" pitchFamily="18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80" y="124614"/>
            <a:ext cx="916587" cy="672311"/>
          </a:xfrm>
          <a:prstGeom prst="rect">
            <a:avLst/>
          </a:prstGeom>
        </p:spPr>
      </p:pic>
      <p:grpSp>
        <p:nvGrpSpPr>
          <p:cNvPr id="2" name="群組 1"/>
          <p:cNvGrpSpPr/>
          <p:nvPr userDrawn="1"/>
        </p:nvGrpSpPr>
        <p:grpSpPr>
          <a:xfrm>
            <a:off x="86980" y="6239920"/>
            <a:ext cx="3223375" cy="569415"/>
            <a:chOff x="86980" y="6239920"/>
            <a:chExt cx="3223375" cy="569415"/>
          </a:xfrm>
        </p:grpSpPr>
        <p:pic>
          <p:nvPicPr>
            <p:cNvPr id="12" name="圖片 11"/>
            <p:cNvPicPr>
              <a:picLocks noChangeAspect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980" y="6239920"/>
              <a:ext cx="817930" cy="569415"/>
            </a:xfrm>
            <a:prstGeom prst="rect">
              <a:avLst/>
            </a:prstGeom>
          </p:spPr>
        </p:pic>
        <p:sp>
          <p:nvSpPr>
            <p:cNvPr id="15" name="矩形 14"/>
            <p:cNvSpPr/>
            <p:nvPr userDrawn="1"/>
          </p:nvSpPr>
          <p:spPr>
            <a:xfrm>
              <a:off x="829837" y="6347770"/>
              <a:ext cx="2480518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altLang="zh-TW" sz="1200" kern="1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香港中文大学（深圳）数据科学院</a:t>
              </a:r>
              <a:endParaRPr lang="zh-TW" altLang="zh-TW" sz="1200" kern="1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  <a:p>
              <a:pPr algn="ctr">
                <a:spcAft>
                  <a:spcPts val="0"/>
                </a:spcAft>
              </a:pP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CUHK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DengXian"/>
                  <a:cs typeface="Times New Roman" panose="02020603050405020304" pitchFamily="18" charset="0"/>
                </a:rPr>
                <a:t>-SZ Sc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hool of Data Science</a:t>
              </a:r>
              <a:endParaRPr lang="zh-TW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6231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Times New Roman" panose="02020603050405020304" pitchFamily="18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457177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914354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371531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828709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342882" indent="-342882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3733">
          <a:solidFill>
            <a:schemeClr val="tx1"/>
          </a:solidFill>
          <a:latin typeface="Times New Roman" panose="02020603050405020304" pitchFamily="18" charset="0"/>
          <a:ea typeface="標楷體" pitchFamily="65" charset="-120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3200">
          <a:solidFill>
            <a:schemeClr val="tx1"/>
          </a:solidFill>
          <a:latin typeface="Times New Roman" panose="02020603050405020304" pitchFamily="18" charset="0"/>
          <a:ea typeface="標楷體" pitchFamily="65" charset="-120"/>
        </a:defRPr>
      </a:lvl2pPr>
      <a:lvl3pPr marL="1142943" indent="-228589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121" indent="-228589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476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652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829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007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1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zh-TW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FA11D65F-25B7-47C5-85DC-B1A2A3BE76D7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56871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1471" y="1406845"/>
            <a:ext cx="11396871" cy="1882455"/>
          </a:xfrm>
        </p:spPr>
        <p:txBody>
          <a:bodyPr/>
          <a:lstStyle/>
          <a:p>
            <a:r>
              <a:rPr lang="en-US" altLang="zh-CN" sz="3200" dirty="0"/>
              <a:t>Elastic Resource Provisioning in Cloud Platforms via Workload Prediction and Performance Modeling</a:t>
            </a:r>
            <a:endParaRPr lang="zh-TW" altLang="en-US" sz="3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55632"/>
            <a:ext cx="8534400" cy="1882455"/>
          </a:xfrm>
        </p:spPr>
        <p:txBody>
          <a:bodyPr/>
          <a:lstStyle/>
          <a:p>
            <a:r>
              <a:rPr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Qixu Chen</a:t>
            </a:r>
          </a:p>
          <a:p>
            <a:r>
              <a:rPr lang="en-US" altLang="zh-TW" sz="3200" dirty="0"/>
              <a:t>School of </a:t>
            </a:r>
            <a:r>
              <a:rPr lang="en-US" altLang="zh-CN" sz="3200" dirty="0"/>
              <a:t>Data </a:t>
            </a:r>
            <a:r>
              <a:rPr lang="en-US" altLang="zh-TW" sz="3200" dirty="0"/>
              <a:t>Science</a:t>
            </a:r>
          </a:p>
          <a:p>
            <a:r>
              <a:rPr lang="en-US" altLang="zh-TW" sz="3200" dirty="0"/>
              <a:t>Chinese University of Hong Kong, Shenzhen</a:t>
            </a:r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Method1:Workload Prediction for Cloud Computing Elasticity Mechanism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ICCCBDA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Method2: Empirical prediction models for adaptive resource provisioning in the cloud (FGCS)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Method3:Efficient resource provisioning for elastic Cloud services based on machine learning techniques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JoCC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C8F1849A-008E-6EF5-AB10-F46E38150E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Elastic Resource Provisioning in Cloud Platforms via Workload Prediction and Performance Modeling</a:t>
            </a:r>
            <a:endParaRPr lang="zh-TW" altLang="en-US" sz="2800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2209800" y="1844826"/>
            <a:ext cx="7772400" cy="2562077"/>
          </a:xfrm>
        </p:spPr>
        <p:txBody>
          <a:bodyPr>
            <a:no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altLang="zh-TW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Method1:Traditional Forecasting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Method2: ML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Method3:ML+queuing theory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92B67B-1436-E4F4-D617-281427E822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-</a:t>
            </a:r>
            <a:r>
              <a:rPr lang="en-US" altLang="zh-CN" sz="3200" dirty="0"/>
              <a:t>Elasticity in Cloud Computing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A4D8AE41-E9DB-DC4B-0813-8BAB041C68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5B0703B-2CEC-0868-A3E1-BB8836E618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9463" y="1327419"/>
            <a:ext cx="935704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has become the backbone of today’s digital economy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Elasticity enables systems to scale resources automatically with workload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However, resource provisioning is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instantaneous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practice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31" lvl="1" indent="0" eaLnBrk="0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VM / Container initialization incurs non-negligible delay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creates a fundamental mismatch between:</a:t>
            </a:r>
          </a:p>
          <a:p>
            <a:pPr marL="400031" lvl="1" indent="0" eaLnBrk="0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Rapid workload dynamics</a:t>
            </a:r>
          </a:p>
          <a:p>
            <a:pPr marL="400031" lvl="1" indent="0" eaLnBrk="0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Delayed resource availability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285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F2A14-61B3-EFFA-0581-05C0EE53A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B551C-630B-3641-3622-ACE408062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–The Core </a:t>
            </a:r>
            <a:r>
              <a:rPr lang="en-US" altLang="zh-CN" sz="3200" dirty="0">
                <a:cs typeface="Times New Roman" panose="02020603050405020304" pitchFamily="18" charset="0"/>
              </a:rPr>
              <a:t>C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hallenge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763910EB-E4B8-225C-2751-4E1154E7A7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16C6A2F-61AA-79DE-9A8A-8D3F76901C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9030" y="1373589"/>
            <a:ext cx="8869095" cy="4702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37160" tIns="137160" rIns="137160" bIns="137160" numCol="1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undesirable extremes:</a:t>
            </a:r>
          </a:p>
          <a:p>
            <a:pPr lvl="1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Under-provisioning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response time</a:t>
            </a:r>
          </a:p>
          <a:p>
            <a:pPr lvl="2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overflow, SLA (Service Level Agreement )violations</a:t>
            </a:r>
          </a:p>
          <a:p>
            <a:pPr lvl="1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Over-provisioning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Idle resources</a:t>
            </a:r>
          </a:p>
          <a:p>
            <a:pPr lvl="2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operational cost and energy waste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b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 resource supply to demand ahead 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of time,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after the fact.</a:t>
            </a:r>
          </a:p>
          <a:p>
            <a:pPr marL="0" lvl="0" indent="0" eaLnBrk="0" hangingPunct="0">
              <a:spcBef>
                <a:spcPct val="0"/>
              </a:spcBef>
              <a:buClrTx/>
              <a:buSzTx/>
              <a:buNone/>
            </a:pPr>
            <a:endParaRPr lang="en-US" altLang="zh-CN" sz="2000" dirty="0"/>
          </a:p>
          <a:p>
            <a:pPr marL="0" lvl="0" indent="0" eaLnBrk="0" hangingPunct="0">
              <a:spcBef>
                <a:spcPct val="0"/>
              </a:spcBef>
              <a:buClrTx/>
              <a:buSz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0474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66D6AE6A-21A0-412A-6F43-ADF3C9364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Introduction -Why Prediction Is Necessary</a:t>
            </a:r>
            <a:endParaRPr lang="zh-CN" altLang="en-US" sz="3200" dirty="0"/>
          </a:p>
        </p:txBody>
      </p:sp>
      <p:graphicFrame>
        <p:nvGraphicFramePr>
          <p:cNvPr id="7" name="内容占位符 6">
            <a:extLst>
              <a:ext uri="{FF2B5EF4-FFF2-40B4-BE49-F238E27FC236}">
                <a16:creationId xmlns:a16="http://schemas.microsoft.com/office/drawing/2014/main" id="{23E2FA00-C650-2804-47FE-4FD914E335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6733316"/>
              </p:ext>
            </p:extLst>
          </p:nvPr>
        </p:nvGraphicFramePr>
        <p:xfrm>
          <a:off x="428625" y="1498967"/>
          <a:ext cx="10966961" cy="2362200"/>
        </p:xfrm>
        <a:graphic>
          <a:graphicData uri="http://schemas.openxmlformats.org/drawingml/2006/table">
            <a:tbl>
              <a:tblPr/>
              <a:tblGrid>
                <a:gridCol w="3349987">
                  <a:extLst>
                    <a:ext uri="{9D8B030D-6E8A-4147-A177-3AD203B41FA5}">
                      <a16:colId xmlns:a16="http://schemas.microsoft.com/office/drawing/2014/main" val="20825411"/>
                    </a:ext>
                  </a:extLst>
                </a:gridCol>
                <a:gridCol w="3264418">
                  <a:extLst>
                    <a:ext uri="{9D8B030D-6E8A-4147-A177-3AD203B41FA5}">
                      <a16:colId xmlns:a16="http://schemas.microsoft.com/office/drawing/2014/main" val="1792560017"/>
                    </a:ext>
                  </a:extLst>
                </a:gridCol>
                <a:gridCol w="4352556">
                  <a:extLst>
                    <a:ext uri="{9D8B030D-6E8A-4147-A177-3AD203B41FA5}">
                      <a16:colId xmlns:a16="http://schemas.microsoft.com/office/drawing/2014/main" val="34498874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Workload Feature</a:t>
                      </a:r>
                    </a:p>
                  </a:txBody>
                  <a:tcPr marL="114300" marR="114300" marT="114300" marB="114300" anchor="ctr">
                    <a:lnL>
                      <a:solidFill>
                        <a:srgbClr val="FFC94A"/>
                      </a:solidFill>
                      <a:prstDash val="solid"/>
                    </a:lnL>
                    <a:lnR>
                      <a:solidFill>
                        <a:srgbClr val="FFC94A"/>
                      </a:solidFill>
                      <a:prstDash val="solid"/>
                    </a:lnR>
                    <a:lnT>
                      <a:solidFill>
                        <a:srgbClr val="FFC94A"/>
                      </a:solidFill>
                      <a:prstDash val="solid"/>
                    </a:lnT>
                    <a:lnB>
                      <a:solidFill>
                        <a:srgbClr val="FFC94A"/>
                      </a:solidFill>
                      <a:prstDash val="solid"/>
                    </a:lnB>
                    <a:solidFill>
                      <a:srgbClr val="FFC9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Manifestation</a:t>
                      </a:r>
                    </a:p>
                  </a:txBody>
                  <a:tcPr marL="114300" marR="114300" marT="114300" marB="114300" anchor="ctr">
                    <a:lnL>
                      <a:solidFill>
                        <a:srgbClr val="FFC94A"/>
                      </a:solidFill>
                      <a:prstDash val="solid"/>
                    </a:lnL>
                    <a:lnR>
                      <a:solidFill>
                        <a:srgbClr val="FFC94A"/>
                      </a:solidFill>
                      <a:prstDash val="solid"/>
                    </a:lnR>
                    <a:lnT>
                      <a:solidFill>
                        <a:srgbClr val="FFC94A"/>
                      </a:solidFill>
                      <a:prstDash val="solid"/>
                    </a:lnT>
                    <a:lnB>
                      <a:solidFill>
                        <a:srgbClr val="FFC94A"/>
                      </a:solidFill>
                      <a:prstDash val="solid"/>
                    </a:lnB>
                    <a:solidFill>
                      <a:srgbClr val="FFC9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Impact on Scaling Decisions</a:t>
                      </a:r>
                    </a:p>
                  </a:txBody>
                  <a:tcPr marL="114300" marR="114300" marT="114300" marB="114300" anchor="ctr">
                    <a:lnL>
                      <a:solidFill>
                        <a:srgbClr val="FFC94A"/>
                      </a:solidFill>
                      <a:prstDash val="solid"/>
                    </a:lnL>
                    <a:lnR>
                      <a:solidFill>
                        <a:srgbClr val="FFC94A"/>
                      </a:solidFill>
                      <a:prstDash val="solid"/>
                    </a:lnR>
                    <a:lnT>
                      <a:solidFill>
                        <a:srgbClr val="FFC94A"/>
                      </a:solidFill>
                      <a:prstDash val="solid"/>
                    </a:lnT>
                    <a:lnB>
                      <a:solidFill>
                        <a:srgbClr val="FFC94A"/>
                      </a:solidFill>
                      <a:prstDash val="solid"/>
                    </a:lnB>
                    <a:solidFill>
                      <a:srgbClr val="FFC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821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Cyclicity</a:t>
                      </a:r>
                    </a:p>
                  </a:txBody>
                  <a:tcPr marL="114300" marR="114300" marT="114300" marB="114300" anchor="ctr">
                    <a:lnL>
                      <a:solidFill>
                        <a:srgbClr val="FFC94A"/>
                      </a:solidFill>
                      <a:prstDash val="solid"/>
                    </a:lnL>
                    <a:lnR>
                      <a:solidFill>
                        <a:srgbClr val="FFC94A"/>
                      </a:solidFill>
                      <a:prstDash val="solid"/>
                    </a:lnR>
                    <a:lnT>
                      <a:solidFill>
                        <a:srgbClr val="FFC94A"/>
                      </a:solidFill>
                      <a:prstDash val="solid"/>
                    </a:lnT>
                    <a:lnB>
                      <a:solidFill>
                        <a:srgbClr val="FFC94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Daily / weekly patterns</a:t>
                      </a:r>
                    </a:p>
                  </a:txBody>
                  <a:tcPr marL="114300" marR="114300" marT="114300" marB="114300" anchor="ctr">
                    <a:lnL>
                      <a:solidFill>
                        <a:srgbClr val="FFC94A"/>
                      </a:solidFill>
                      <a:prstDash val="solid"/>
                    </a:lnL>
                    <a:lnR>
                      <a:solidFill>
                        <a:srgbClr val="FFC94A"/>
                      </a:solidFill>
                      <a:prstDash val="solid"/>
                    </a:lnR>
                    <a:lnT>
                      <a:solidFill>
                        <a:srgbClr val="FFC94A"/>
                      </a:solidFill>
                      <a:prstDash val="solid"/>
                    </a:lnT>
                    <a:lnB>
                      <a:solidFill>
                        <a:srgbClr val="FFC94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Enables time-series forecasting</a:t>
                      </a:r>
                    </a:p>
                  </a:txBody>
                  <a:tcPr marL="114300" marR="114300" marT="114300" marB="114300" anchor="ctr">
                    <a:lnL>
                      <a:solidFill>
                        <a:srgbClr val="FFC94A"/>
                      </a:solidFill>
                      <a:prstDash val="solid"/>
                    </a:lnL>
                    <a:lnR>
                      <a:solidFill>
                        <a:srgbClr val="FFC94A"/>
                      </a:solidFill>
                      <a:prstDash val="solid"/>
                    </a:lnR>
                    <a:lnT>
                      <a:solidFill>
                        <a:srgbClr val="FFC94A"/>
                      </a:solidFill>
                      <a:prstDash val="solid"/>
                    </a:lnT>
                    <a:lnB>
                      <a:solidFill>
                        <a:srgbClr val="FFC94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5085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Non-stationarity</a:t>
                      </a:r>
                    </a:p>
                  </a:txBody>
                  <a:tcPr marL="114300" marR="114300" marT="114300" marB="114300" anchor="ctr">
                    <a:lnL>
                      <a:solidFill>
                        <a:srgbClr val="FFC94A"/>
                      </a:solidFill>
                      <a:prstDash val="solid"/>
                    </a:lnL>
                    <a:lnR>
                      <a:solidFill>
                        <a:srgbClr val="FFC94A"/>
                      </a:solidFill>
                      <a:prstDash val="solid"/>
                    </a:lnR>
                    <a:lnT>
                      <a:solidFill>
                        <a:srgbClr val="FFC94A"/>
                      </a:solidFill>
                      <a:prstDash val="solid"/>
                    </a:lnT>
                    <a:lnB>
                      <a:solidFill>
                        <a:srgbClr val="FFC94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Changing mean &amp; variance</a:t>
                      </a:r>
                    </a:p>
                  </a:txBody>
                  <a:tcPr marL="114300" marR="114300" marT="114300" marB="114300" anchor="ctr">
                    <a:lnL>
                      <a:solidFill>
                        <a:srgbClr val="FFC94A"/>
                      </a:solidFill>
                      <a:prstDash val="solid"/>
                    </a:lnL>
                    <a:lnR>
                      <a:solidFill>
                        <a:srgbClr val="FFC94A"/>
                      </a:solidFill>
                      <a:prstDash val="solid"/>
                    </a:lnR>
                    <a:lnT>
                      <a:solidFill>
                        <a:srgbClr val="FFC94A"/>
                      </a:solidFill>
                      <a:prstDash val="solid"/>
                    </a:lnT>
                    <a:lnB>
                      <a:solidFill>
                        <a:srgbClr val="FFC94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Requires adaptive or online models</a:t>
                      </a:r>
                    </a:p>
                  </a:txBody>
                  <a:tcPr marL="114300" marR="114300" marT="114300" marB="114300" anchor="ctr">
                    <a:lnL>
                      <a:solidFill>
                        <a:srgbClr val="FFC94A"/>
                      </a:solidFill>
                      <a:prstDash val="solid"/>
                    </a:lnL>
                    <a:lnR>
                      <a:solidFill>
                        <a:srgbClr val="FFC94A"/>
                      </a:solidFill>
                      <a:prstDash val="solid"/>
                    </a:lnR>
                    <a:lnT>
                      <a:solidFill>
                        <a:srgbClr val="FFC94A"/>
                      </a:solidFill>
                      <a:prstDash val="solid"/>
                    </a:lnT>
                    <a:lnB>
                      <a:solidFill>
                        <a:srgbClr val="FFC94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928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Burstiness</a:t>
                      </a:r>
                    </a:p>
                  </a:txBody>
                  <a:tcPr marL="114300" marR="114300" marT="114300" marB="114300" anchor="ctr">
                    <a:lnL>
                      <a:solidFill>
                        <a:srgbClr val="FFC94A"/>
                      </a:solidFill>
                      <a:prstDash val="solid"/>
                    </a:lnL>
                    <a:lnR>
                      <a:solidFill>
                        <a:srgbClr val="FFC94A"/>
                      </a:solidFill>
                      <a:prstDash val="solid"/>
                    </a:lnR>
                    <a:lnT>
                      <a:solidFill>
                        <a:srgbClr val="FFC94A"/>
                      </a:solidFill>
                      <a:prstDash val="solid"/>
                    </a:lnT>
                    <a:lnB>
                      <a:solidFill>
                        <a:srgbClr val="FFC94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Sudden traffic spikes</a:t>
                      </a:r>
                    </a:p>
                  </a:txBody>
                  <a:tcPr marL="114300" marR="114300" marT="114300" marB="114300" anchor="ctr">
                    <a:lnL>
                      <a:solidFill>
                        <a:srgbClr val="FFC94A"/>
                      </a:solidFill>
                      <a:prstDash val="solid"/>
                    </a:lnL>
                    <a:lnR>
                      <a:solidFill>
                        <a:srgbClr val="FFC94A"/>
                      </a:solidFill>
                      <a:prstDash val="solid"/>
                    </a:lnR>
                    <a:lnT>
                      <a:solidFill>
                        <a:srgbClr val="FFC94A"/>
                      </a:solidFill>
                      <a:prstDash val="solid"/>
                    </a:lnT>
                    <a:lnB>
                      <a:solidFill>
                        <a:srgbClr val="FFC94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Breaks simple linear predictors</a:t>
                      </a:r>
                    </a:p>
                  </a:txBody>
                  <a:tcPr marL="114300" marR="114300" marT="114300" marB="114300" anchor="ctr">
                    <a:lnL>
                      <a:solidFill>
                        <a:srgbClr val="FFC94A"/>
                      </a:solidFill>
                      <a:prstDash val="solid"/>
                    </a:lnL>
                    <a:lnR>
                      <a:solidFill>
                        <a:srgbClr val="FFC94A"/>
                      </a:solidFill>
                      <a:prstDash val="solid"/>
                    </a:lnR>
                    <a:lnT>
                      <a:solidFill>
                        <a:srgbClr val="FFC94A"/>
                      </a:solidFill>
                      <a:prstDash val="solid"/>
                    </a:lnT>
                    <a:lnB>
                      <a:solidFill>
                        <a:srgbClr val="FFC94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946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Multi-resource correlation</a:t>
                      </a:r>
                    </a:p>
                  </a:txBody>
                  <a:tcPr marL="114300" marR="114300" marT="114300" marB="114300" anchor="ctr">
                    <a:lnL>
                      <a:solidFill>
                        <a:srgbClr val="FFC94A"/>
                      </a:solidFill>
                      <a:prstDash val="solid"/>
                    </a:lnL>
                    <a:lnR>
                      <a:solidFill>
                        <a:srgbClr val="FFC94A"/>
                      </a:solidFill>
                      <a:prstDash val="solid"/>
                    </a:lnR>
                    <a:lnT>
                      <a:solidFill>
                        <a:srgbClr val="FFC94A"/>
                      </a:solidFill>
                      <a:prstDash val="solid"/>
                    </a:lnT>
                    <a:lnB>
                      <a:solidFill>
                        <a:srgbClr val="FFC94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CPU, memory, I/O coupling</a:t>
                      </a:r>
                    </a:p>
                  </a:txBody>
                  <a:tcPr marL="114300" marR="114300" marT="114300" marB="114300" anchor="ctr">
                    <a:lnL>
                      <a:solidFill>
                        <a:srgbClr val="FFC94A"/>
                      </a:solidFill>
                      <a:prstDash val="solid"/>
                    </a:lnL>
                    <a:lnR>
                      <a:solidFill>
                        <a:srgbClr val="FFC94A"/>
                      </a:solidFill>
                      <a:prstDash val="solid"/>
                    </a:lnR>
                    <a:lnT>
                      <a:solidFill>
                        <a:srgbClr val="FFC94A"/>
                      </a:solidFill>
                      <a:prstDash val="solid"/>
                    </a:lnT>
                    <a:lnB>
                      <a:solidFill>
                        <a:srgbClr val="FFC94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Calls for multivariate prediction</a:t>
                      </a:r>
                    </a:p>
                  </a:txBody>
                  <a:tcPr marL="114300" marR="114300" marT="114300" marB="114300" anchor="ctr">
                    <a:lnL>
                      <a:solidFill>
                        <a:srgbClr val="FFC94A"/>
                      </a:solidFill>
                      <a:prstDash val="solid"/>
                    </a:lnL>
                    <a:lnR>
                      <a:solidFill>
                        <a:srgbClr val="FFC94A"/>
                      </a:solidFill>
                      <a:prstDash val="solid"/>
                    </a:lnR>
                    <a:lnT>
                      <a:solidFill>
                        <a:srgbClr val="FFC94A"/>
                      </a:solidFill>
                      <a:prstDash val="solid"/>
                    </a:lnT>
                    <a:lnB>
                      <a:solidFill>
                        <a:srgbClr val="FFC94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422801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1F1CA4-6627-AE59-2CDA-454CF13851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DE2AE1-325F-27AE-0882-97B4CF3D519A}"/>
              </a:ext>
            </a:extLst>
          </p:cNvPr>
          <p:cNvSpPr txBox="1"/>
          <p:nvPr/>
        </p:nvSpPr>
        <p:spPr>
          <a:xfrm>
            <a:off x="428625" y="4061852"/>
            <a:ext cx="994041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Challenge: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prediction mechanism that is accurate, efficient, and robust enough to cover resource initialization delay while satisfying QoS constraints</a:t>
            </a:r>
            <a:r>
              <a:rPr lang="en-US" altLang="zh-CN" sz="2400" b="1" dirty="0">
                <a:latin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539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BD451FC9-DF87-661C-DD3A-BB608B27A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575" y="144466"/>
            <a:ext cx="10396013" cy="692151"/>
          </a:xfrm>
        </p:spPr>
        <p:txBody>
          <a:bodyPr/>
          <a:lstStyle/>
          <a:p>
            <a:r>
              <a:rPr lang="en-US" altLang="zh-CN" sz="3200" dirty="0"/>
              <a:t>Introduction-What we want to do</a:t>
            </a:r>
            <a:endParaRPr lang="zh-CN" altLang="en-US" sz="32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4A3AD2-8B8E-A968-8EBF-7EDB66718D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B6BDF2-6896-4B98-8776-C18582F63BA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新細明體" pitchFamily="18" charset="-120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97A09A9-0F9F-A09F-78B1-DB27B92514F9}"/>
              </a:ext>
            </a:extLst>
          </p:cNvPr>
          <p:cNvSpPr txBox="1"/>
          <p:nvPr/>
        </p:nvSpPr>
        <p:spPr>
          <a:xfrm>
            <a:off x="239183" y="1120676"/>
            <a:ext cx="5151967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/>
                <a:cs typeface="+mn-cs"/>
              </a:rPr>
              <a:t>The goal of our researches is to reduce the scaling delay, improve the QoS and meet the user SLA.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/>
                <a:cs typeface="+mn-cs"/>
              </a:rPr>
              <a:t>Firstly, the system collects performance data, including CPU, memory, disk etc.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/>
                <a:cs typeface="+mn-cs"/>
              </a:rPr>
              <a:t>Secondly, the system analyzes and predicts the workload based on the monitoring data.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/>
                <a:cs typeface="+mn-cs"/>
              </a:rPr>
              <a:t>Then, the trigger strategy decides when and how to trigger the elasticity mechanism based on the predicted result.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/>
              <a:cs typeface="+mn-cs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3D2E0D8-2C92-36F1-397B-FC22E2C31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5925" y="1357023"/>
            <a:ext cx="6354062" cy="4143953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DB30598-F899-23C0-0A8D-04CBD3ED04E4}"/>
              </a:ext>
            </a:extLst>
          </p:cNvPr>
          <p:cNvSpPr txBox="1"/>
          <p:nvPr/>
        </p:nvSpPr>
        <p:spPr>
          <a:xfrm>
            <a:off x="6369581" y="5547142"/>
            <a:ext cx="4305300" cy="276999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sz="1200" dirty="0"/>
              <a:t>Figure 1 Workload predicting system</a:t>
            </a:r>
            <a:endParaRPr lang="zh-CN" altLang="en-US" sz="1200" dirty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8807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20F03-0857-ECF6-F2C3-5D762DB73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5B8AB02-69EA-7C8F-2A1F-148F18A0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Elastic Resource Provisioning in Cloud Platforms via Workload Prediction and Performance Modeling</a:t>
            </a:r>
            <a:endParaRPr lang="zh-TW" altLang="en-US" sz="2800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5EB8EBB-EEFE-B5D3-2C39-735E2C8D86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9800" y="1844826"/>
            <a:ext cx="7772400" cy="2562077"/>
          </a:xfrm>
        </p:spPr>
        <p:txBody>
          <a:bodyPr>
            <a:no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Related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Method1:Traditional Forecasting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Method2: ML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Method3:ML+queuing theory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3682E38-D567-B816-CC33-9E4B75E5F1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B6BDF2-6896-4B98-8776-C18582F63BA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6931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8FFD50B3-893C-B4C8-ED68-47A4FE5F9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Related work(1/3)</a:t>
            </a:r>
            <a:endParaRPr lang="zh-CN" altLang="en-US" sz="3200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367BBA9-5F6C-BF36-0EBB-A52DFFCD3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Reactive Auto-Scaling Mechanisms</a:t>
            </a:r>
          </a:p>
          <a:p>
            <a:r>
              <a:rPr lang="en-US" altLang="zh-CN" sz="2800" dirty="0"/>
              <a:t>Widely adopted in industrial cloud platforms such as </a:t>
            </a:r>
            <a:r>
              <a:rPr lang="en-US" altLang="zh-CN" sz="2800" b="1" dirty="0"/>
              <a:t>Amazon EC2</a:t>
            </a:r>
            <a:r>
              <a:rPr lang="en-US" altLang="zh-CN" sz="2800" dirty="0"/>
              <a:t>, </a:t>
            </a:r>
            <a:r>
              <a:rPr lang="en-US" altLang="zh-CN" sz="2800" b="1" dirty="0"/>
              <a:t>RightScale</a:t>
            </a:r>
            <a:r>
              <a:rPr lang="en-US" altLang="zh-CN" sz="2800" dirty="0"/>
              <a:t>, and </a:t>
            </a:r>
            <a:r>
              <a:rPr lang="en-US" altLang="zh-CN" sz="2800" b="1" dirty="0"/>
              <a:t>OpenNebula</a:t>
            </a:r>
          </a:p>
          <a:p>
            <a:r>
              <a:rPr lang="en-US" altLang="zh-CN" sz="2800" dirty="0"/>
              <a:t> Triggered by thresholds (CPU, memory, sessions)</a:t>
            </a:r>
          </a:p>
          <a:p>
            <a:r>
              <a:rPr lang="en-US" altLang="zh-CN" sz="2800" dirty="0"/>
              <a:t>Simple and easy to deploy</a:t>
            </a:r>
          </a:p>
          <a:p>
            <a:r>
              <a:rPr lang="en-US" altLang="zh-CN" sz="2800" dirty="0"/>
              <a:t>Limitation: reacts after overload, slow under sudden spikes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30A8CD-FE39-5346-E848-DC38F27F17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2301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588C1D6-D90A-5CA6-7D27-EF87A9ABC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Related Work(2/3)</a:t>
            </a:r>
            <a:endParaRPr lang="zh-CN" altLang="en-US" sz="3200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FDBA224-D049-8DEE-0CD9-A4097A377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/>
              <a:t>Time-Series Forecasting (Classical Models)</a:t>
            </a:r>
          </a:p>
          <a:p>
            <a:pPr lvl="1"/>
            <a:r>
              <a:rPr lang="en-US" altLang="zh-CN" sz="2400" dirty="0"/>
              <a:t>Statistical time-series models</a:t>
            </a:r>
          </a:p>
          <a:p>
            <a:pPr lvl="2"/>
            <a:r>
              <a:rPr lang="en-US" altLang="zh-CN" sz="2400" dirty="0"/>
              <a:t>Moving Average (MA), Auto-Regressive (AR), ARMA, ARIMA [Hoffmann et al., IEEE Transactions on Reliability, 2007]</a:t>
            </a:r>
          </a:p>
          <a:p>
            <a:pPr lvl="1"/>
            <a:r>
              <a:rPr lang="en-US" altLang="zh-CN" sz="2400" dirty="0"/>
              <a:t>Pattern-based and probabilistic models</a:t>
            </a:r>
          </a:p>
          <a:p>
            <a:pPr lvl="2"/>
            <a:r>
              <a:rPr lang="en-US" altLang="zh-CN" sz="2400" dirty="0"/>
              <a:t>Hidden Markov Models [Khan et al., IEEE NOMS, 2012]</a:t>
            </a:r>
          </a:p>
          <a:p>
            <a:r>
              <a:rPr lang="en-US" altLang="zh-CN" sz="2400" dirty="0"/>
              <a:t>Machine Learning Forecasting</a:t>
            </a:r>
          </a:p>
          <a:p>
            <a:pPr lvl="1"/>
            <a:r>
              <a:rPr lang="en-US" altLang="zh-CN" sz="2400" dirty="0"/>
              <a:t>Learns nonlinear mapping from history → future workload</a:t>
            </a:r>
          </a:p>
          <a:p>
            <a:pPr lvl="1"/>
            <a:r>
              <a:rPr lang="en-US" altLang="zh-CN" sz="2400" dirty="0"/>
              <a:t>Examples: SVR / Neural Networks / Deep models (e.g., LSTM)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B9B480-1628-C785-E84F-51A2572FF0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6701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CCBC2335-0145-3C95-0B15-0C3339CF2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Related Work(3/3)</a:t>
            </a:r>
            <a:endParaRPr lang="zh-CN" altLang="en-US" sz="3200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FA9F97C-7E72-7DDA-EF9D-FFE7CCDAF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Integrated Prediction + Resource Control (Emerging Direction)</a:t>
            </a:r>
          </a:p>
          <a:p>
            <a:r>
              <a:rPr lang="en-US" altLang="zh-CN" sz="2800" dirty="0"/>
              <a:t>Instead of “forecast only”, recent work builds a closed loop:</a:t>
            </a:r>
          </a:p>
          <a:p>
            <a:pPr lvl="1"/>
            <a:r>
              <a:rPr lang="en-US" altLang="zh-CN" sz="2800" dirty="0"/>
              <a:t>Prediction model → estimate future load</a:t>
            </a:r>
          </a:p>
          <a:p>
            <a:pPr lvl="1"/>
            <a:r>
              <a:rPr lang="en-US" altLang="zh-CN" sz="2800" dirty="0"/>
              <a:t>Decision model → choose resource level under SLA constraints</a:t>
            </a:r>
          </a:p>
          <a:p>
            <a:r>
              <a:rPr lang="en-US" altLang="zh-CN" sz="2800" dirty="0"/>
              <a:t>Examples of decision components:</a:t>
            </a:r>
          </a:p>
          <a:p>
            <a:pPr lvl="1"/>
            <a:r>
              <a:rPr lang="en-US" altLang="zh-CN" sz="2800" dirty="0"/>
              <a:t>Queueing theory (e.g., M/M/c)</a:t>
            </a:r>
          </a:p>
          <a:p>
            <a:pPr lvl="1"/>
            <a:r>
              <a:rPr lang="en-US" altLang="zh-CN" sz="2800" dirty="0"/>
              <a:t>Reinforcement learning policies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25979C-D74A-3B60-C1A9-68FE17652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9746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EF194-D311-B7B0-64B1-64A724D26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1173417E-26B7-00CE-6890-35AB1FDC2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/>
              <a:t>Elastic Resource Provisioning in Cloud Platforms via Workload Prediction and Performance Modeling</a:t>
            </a:r>
            <a:endParaRPr lang="zh-TW" altLang="en-US" sz="2800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077AD39-976A-48CD-2D6F-92FB52288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81200" y="1759101"/>
            <a:ext cx="7772400" cy="2562077"/>
          </a:xfrm>
        </p:spPr>
        <p:txBody>
          <a:bodyPr>
            <a:normAutofit/>
          </a:bodyPr>
          <a:lstStyle/>
          <a:p>
            <a:r>
              <a:rPr lang="en-US" altLang="zh-C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altLang="zh-TW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</a:t>
            </a:r>
            <a:r>
              <a:rPr lang="zh-CN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r>
              <a:rPr lang="en-US" altLang="zh-CN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</a:p>
          <a:p>
            <a:r>
              <a:rPr lang="en-US" altLang="zh-C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</a:t>
            </a:r>
          </a:p>
          <a:p>
            <a:r>
              <a:rPr lang="en-US" altLang="zh-C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D2EBF50-D30A-4D4A-925A-DBEAB91239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B6BDF2-6896-4B98-8776-C18582F63BA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3962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518C4138-1B1E-2BA1-D3BC-1014049E8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Method1: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Forecasting(Time Series) (1/2)</a:t>
            </a:r>
            <a:endParaRPr lang="zh-CN" altLang="en-US" sz="3200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0408F21-4B06-4F6E-1F09-5302369AB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150" y="1232697"/>
            <a:ext cx="10972800" cy="4895851"/>
          </a:xfrm>
        </p:spPr>
        <p:txBody>
          <a:bodyPr/>
          <a:lstStyle/>
          <a:p>
            <a:r>
              <a:rPr lang="en-US" altLang="zh-CN" sz="2400" dirty="0"/>
              <a:t>First, classical time-series models such as MA, AR, and ARIMA are used to capture regular workload patterns and short-term temporal dependencies.</a:t>
            </a:r>
          </a:p>
          <a:p>
            <a:r>
              <a:rPr lang="en-US" altLang="zh-CN" sz="2400" dirty="0"/>
              <a:t>MA — Moving Average Model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59EA4B-E9DD-BC98-D963-26E960AF6C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F8E4913-C861-A73A-84ED-90F86717E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977" y="2504813"/>
            <a:ext cx="7820623" cy="3423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867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386C5067-6404-5BDC-41EB-BB563847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Method1: Traditional forecasting(Time Series)(2/2) </a:t>
            </a:r>
            <a:endParaRPr lang="zh-CN" altLang="en-US" sz="3200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D013A0A-4182-0840-95BA-7F63FC9E4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/>
              <a:t>All five methods attempt to approximate workload evolution as:</a:t>
            </a:r>
          </a:p>
          <a:p>
            <a:pPr marL="0" indent="0">
              <a:buNone/>
            </a:pPr>
            <a:r>
              <a:rPr lang="zh-CN" altLang="en-US" sz="2400" dirty="0"/>
              <a:t>                                                      𝑥𝑡</a:t>
            </a:r>
            <a:r>
              <a:rPr lang="en-US" altLang="zh-CN" sz="2400" dirty="0"/>
              <a:t>= </a:t>
            </a:r>
            <a:r>
              <a:rPr lang="zh-CN" altLang="en-US" sz="2400" dirty="0"/>
              <a:t>𝑓</a:t>
            </a:r>
            <a:r>
              <a:rPr lang="en-US" altLang="zh-CN" sz="2400" dirty="0"/>
              <a:t>(</a:t>
            </a:r>
            <a:r>
              <a:rPr lang="zh-CN" altLang="en-US" sz="2400" dirty="0"/>
              <a:t>𝑥𝑡−</a:t>
            </a:r>
            <a:r>
              <a:rPr lang="en-US" altLang="zh-CN" sz="2400" dirty="0"/>
              <a:t>1,</a:t>
            </a:r>
            <a:r>
              <a:rPr lang="zh-CN" altLang="en-US" sz="2400" dirty="0"/>
              <a:t>𝑥𝑡−</a:t>
            </a:r>
            <a:r>
              <a:rPr lang="en-US" altLang="zh-CN" sz="2400" dirty="0"/>
              <a:t>2,…)+</a:t>
            </a:r>
            <a:r>
              <a:rPr lang="zh-CN" altLang="en-US" sz="2400" dirty="0"/>
              <a:t>𝜀𝑡</a:t>
            </a:r>
            <a:endParaRPr lang="en-US" altLang="zh-CN" sz="2400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82BBDC-B9C8-F0BF-48FF-CC8E7F40DD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943A8F9-AFB6-284B-AA3C-4BE76F401E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391535"/>
              </p:ext>
            </p:extLst>
          </p:nvPr>
        </p:nvGraphicFramePr>
        <p:xfrm>
          <a:off x="609600" y="2475802"/>
          <a:ext cx="10972800" cy="2195322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151861055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992991495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8172416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Model</a:t>
                      </a:r>
                    </a:p>
                  </a:txBody>
                  <a:tcPr anchor="ctr">
                    <a:lnL>
                      <a:solidFill>
                        <a:srgbClr val="FFC94A"/>
                      </a:solidFill>
                      <a:prstDash val="solid"/>
                    </a:lnL>
                    <a:lnR>
                      <a:solidFill>
                        <a:srgbClr val="FFC94A"/>
                      </a:solidFill>
                      <a:prstDash val="solid"/>
                    </a:lnR>
                    <a:lnT>
                      <a:solidFill>
                        <a:srgbClr val="FFC94A"/>
                      </a:solidFill>
                      <a:prstDash val="solid"/>
                    </a:lnT>
                    <a:lnB>
                      <a:solidFill>
                        <a:srgbClr val="FFC94A"/>
                      </a:solidFill>
                      <a:prstDash val="solid"/>
                    </a:lnB>
                    <a:solidFill>
                      <a:srgbClr val="FFC9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Primary Focus</a:t>
                      </a:r>
                    </a:p>
                  </a:txBody>
                  <a:tcPr anchor="ctr">
                    <a:lnL>
                      <a:solidFill>
                        <a:srgbClr val="FFC94A"/>
                      </a:solidFill>
                      <a:prstDash val="solid"/>
                    </a:lnL>
                    <a:lnR>
                      <a:solidFill>
                        <a:srgbClr val="FFC94A"/>
                      </a:solidFill>
                      <a:prstDash val="solid"/>
                    </a:lnR>
                    <a:lnT>
                      <a:solidFill>
                        <a:srgbClr val="FFC94A"/>
                      </a:solidFill>
                      <a:prstDash val="solid"/>
                    </a:lnT>
                    <a:lnB>
                      <a:solidFill>
                        <a:srgbClr val="FFC94A"/>
                      </a:solidFill>
                      <a:prstDash val="solid"/>
                    </a:lnB>
                    <a:solidFill>
                      <a:srgbClr val="FFC9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Statistical Role</a:t>
                      </a:r>
                    </a:p>
                  </a:txBody>
                  <a:tcPr anchor="ctr">
                    <a:lnL>
                      <a:solidFill>
                        <a:srgbClr val="FFC94A"/>
                      </a:solidFill>
                      <a:prstDash val="solid"/>
                    </a:lnL>
                    <a:lnR>
                      <a:solidFill>
                        <a:srgbClr val="FFC94A"/>
                      </a:solidFill>
                      <a:prstDash val="solid"/>
                    </a:lnR>
                    <a:lnT>
                      <a:solidFill>
                        <a:srgbClr val="FFC94A"/>
                      </a:solidFill>
                      <a:prstDash val="solid"/>
                    </a:lnT>
                    <a:lnB>
                      <a:solidFill>
                        <a:srgbClr val="FFC94A"/>
                      </a:solidFill>
                      <a:prstDash val="solid"/>
                    </a:lnB>
                    <a:solidFill>
                      <a:srgbClr val="FFC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3370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MA</a:t>
                      </a:r>
                    </a:p>
                  </a:txBody>
                  <a:tcPr anchor="ctr">
                    <a:lnL>
                      <a:solidFill>
                        <a:srgbClr val="FFC94A"/>
                      </a:solidFill>
                      <a:prstDash val="solid"/>
                    </a:lnL>
                    <a:lnR>
                      <a:solidFill>
                        <a:srgbClr val="FFC94A"/>
                      </a:solidFill>
                      <a:prstDash val="solid"/>
                    </a:lnR>
                    <a:lnT>
                      <a:solidFill>
                        <a:srgbClr val="FFC94A"/>
                      </a:solidFill>
                      <a:prstDash val="solid"/>
                    </a:lnT>
                    <a:lnB>
                      <a:solidFill>
                        <a:srgbClr val="FFC94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Noise</a:t>
                      </a:r>
                    </a:p>
                  </a:txBody>
                  <a:tcPr anchor="ctr">
                    <a:lnL>
                      <a:solidFill>
                        <a:srgbClr val="FFC94A"/>
                      </a:solidFill>
                      <a:prstDash val="solid"/>
                    </a:lnL>
                    <a:lnR>
                      <a:solidFill>
                        <a:srgbClr val="FFC94A"/>
                      </a:solidFill>
                      <a:prstDash val="solid"/>
                    </a:lnR>
                    <a:lnT>
                      <a:solidFill>
                        <a:srgbClr val="FFC94A"/>
                      </a:solidFill>
                      <a:prstDash val="solid"/>
                    </a:lnT>
                    <a:lnB>
                      <a:solidFill>
                        <a:srgbClr val="FFC94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Error smoothing</a:t>
                      </a:r>
                    </a:p>
                  </a:txBody>
                  <a:tcPr anchor="ctr">
                    <a:lnL>
                      <a:solidFill>
                        <a:srgbClr val="FFC94A"/>
                      </a:solidFill>
                      <a:prstDash val="solid"/>
                    </a:lnL>
                    <a:lnR>
                      <a:solidFill>
                        <a:srgbClr val="FFC94A"/>
                      </a:solidFill>
                      <a:prstDash val="solid"/>
                    </a:lnR>
                    <a:lnT>
                      <a:solidFill>
                        <a:srgbClr val="FFC94A"/>
                      </a:solidFill>
                      <a:prstDash val="solid"/>
                    </a:lnT>
                    <a:lnB>
                      <a:solidFill>
                        <a:srgbClr val="FFC94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371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AR</a:t>
                      </a:r>
                    </a:p>
                  </a:txBody>
                  <a:tcPr anchor="ctr">
                    <a:lnL>
                      <a:solidFill>
                        <a:srgbClr val="FFC94A"/>
                      </a:solidFill>
                      <a:prstDash val="solid"/>
                    </a:lnL>
                    <a:lnR>
                      <a:solidFill>
                        <a:srgbClr val="FFC94A"/>
                      </a:solidFill>
                      <a:prstDash val="solid"/>
                    </a:lnR>
                    <a:lnT>
                      <a:solidFill>
                        <a:srgbClr val="FFC94A"/>
                      </a:solidFill>
                      <a:prstDash val="solid"/>
                    </a:lnT>
                    <a:lnB>
                      <a:solidFill>
                        <a:srgbClr val="FFC94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Level</a:t>
                      </a:r>
                    </a:p>
                  </a:txBody>
                  <a:tcPr anchor="ctr">
                    <a:lnL>
                      <a:solidFill>
                        <a:srgbClr val="FFC94A"/>
                      </a:solidFill>
                      <a:prstDash val="solid"/>
                    </a:lnL>
                    <a:lnR>
                      <a:solidFill>
                        <a:srgbClr val="FFC94A"/>
                      </a:solidFill>
                      <a:prstDash val="solid"/>
                    </a:lnR>
                    <a:lnT>
                      <a:solidFill>
                        <a:srgbClr val="FFC94A"/>
                      </a:solidFill>
                      <a:prstDash val="solid"/>
                    </a:lnT>
                    <a:lnB>
                      <a:solidFill>
                        <a:srgbClr val="FFC94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Temporal dependency</a:t>
                      </a:r>
                    </a:p>
                  </a:txBody>
                  <a:tcPr anchor="ctr">
                    <a:lnL>
                      <a:solidFill>
                        <a:srgbClr val="FFC94A"/>
                      </a:solidFill>
                      <a:prstDash val="solid"/>
                    </a:lnL>
                    <a:lnR>
                      <a:solidFill>
                        <a:srgbClr val="FFC94A"/>
                      </a:solidFill>
                      <a:prstDash val="solid"/>
                    </a:lnR>
                    <a:lnT>
                      <a:solidFill>
                        <a:srgbClr val="FFC94A"/>
                      </a:solidFill>
                      <a:prstDash val="solid"/>
                    </a:lnT>
                    <a:lnB>
                      <a:solidFill>
                        <a:srgbClr val="FFC94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603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ARIMA</a:t>
                      </a:r>
                    </a:p>
                  </a:txBody>
                  <a:tcPr anchor="ctr">
                    <a:lnL>
                      <a:solidFill>
                        <a:srgbClr val="FFC94A"/>
                      </a:solidFill>
                      <a:prstDash val="solid"/>
                    </a:lnL>
                    <a:lnR>
                      <a:solidFill>
                        <a:srgbClr val="FFC94A"/>
                      </a:solidFill>
                      <a:prstDash val="solid"/>
                    </a:lnR>
                    <a:lnT>
                      <a:solidFill>
                        <a:srgbClr val="FFC94A"/>
                      </a:solidFill>
                      <a:prstDash val="solid"/>
                    </a:lnT>
                    <a:lnB>
                      <a:solidFill>
                        <a:srgbClr val="FFC94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Trend</a:t>
                      </a:r>
                    </a:p>
                  </a:txBody>
                  <a:tcPr anchor="ctr">
                    <a:lnL>
                      <a:solidFill>
                        <a:srgbClr val="FFC94A"/>
                      </a:solidFill>
                      <a:prstDash val="solid"/>
                    </a:lnL>
                    <a:lnR>
                      <a:solidFill>
                        <a:srgbClr val="FFC94A"/>
                      </a:solidFill>
                      <a:prstDash val="solid"/>
                    </a:lnR>
                    <a:lnT>
                      <a:solidFill>
                        <a:srgbClr val="FFC94A"/>
                      </a:solidFill>
                      <a:prstDash val="solid"/>
                    </a:lnT>
                    <a:lnB>
                      <a:solidFill>
                        <a:srgbClr val="FFC94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Stationarization</a:t>
                      </a:r>
                      <a:endParaRPr lang="en-US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>
                      <a:solidFill>
                        <a:srgbClr val="FFC94A"/>
                      </a:solidFill>
                      <a:prstDash val="solid"/>
                    </a:lnL>
                    <a:lnR>
                      <a:solidFill>
                        <a:srgbClr val="FFC94A"/>
                      </a:solidFill>
                      <a:prstDash val="solid"/>
                    </a:lnR>
                    <a:lnT>
                      <a:solidFill>
                        <a:srgbClr val="FFC94A"/>
                      </a:solidFill>
                      <a:prstDash val="solid"/>
                    </a:lnT>
                    <a:lnB>
                      <a:solidFill>
                        <a:srgbClr val="FFC94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356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DM</a:t>
                      </a:r>
                    </a:p>
                  </a:txBody>
                  <a:tcPr anchor="ctr">
                    <a:lnL>
                      <a:solidFill>
                        <a:srgbClr val="FFC94A"/>
                      </a:solidFill>
                      <a:prstDash val="solid"/>
                    </a:lnL>
                    <a:lnR>
                      <a:solidFill>
                        <a:srgbClr val="FFC94A"/>
                      </a:solidFill>
                      <a:prstDash val="solid"/>
                    </a:lnR>
                    <a:lnT>
                      <a:solidFill>
                        <a:srgbClr val="FFC94A"/>
                      </a:solidFill>
                      <a:prstDash val="solid"/>
                    </a:lnT>
                    <a:lnB>
                      <a:solidFill>
                        <a:srgbClr val="FFC94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Change</a:t>
                      </a:r>
                    </a:p>
                  </a:txBody>
                  <a:tcPr anchor="ctr">
                    <a:lnL>
                      <a:solidFill>
                        <a:srgbClr val="FFC94A"/>
                      </a:solidFill>
                      <a:prstDash val="solid"/>
                    </a:lnL>
                    <a:lnR>
                      <a:solidFill>
                        <a:srgbClr val="FFC94A"/>
                      </a:solidFill>
                      <a:prstDash val="solid"/>
                    </a:lnR>
                    <a:lnT>
                      <a:solidFill>
                        <a:srgbClr val="FFC94A"/>
                      </a:solidFill>
                      <a:prstDash val="solid"/>
                    </a:lnT>
                    <a:lnB>
                      <a:solidFill>
                        <a:srgbClr val="FFC94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Increment modeling</a:t>
                      </a:r>
                    </a:p>
                  </a:txBody>
                  <a:tcPr anchor="ctr">
                    <a:lnL>
                      <a:solidFill>
                        <a:srgbClr val="FFC94A"/>
                      </a:solidFill>
                      <a:prstDash val="solid"/>
                    </a:lnL>
                    <a:lnR>
                      <a:solidFill>
                        <a:srgbClr val="FFC94A"/>
                      </a:solidFill>
                      <a:prstDash val="solid"/>
                    </a:lnR>
                    <a:lnT>
                      <a:solidFill>
                        <a:srgbClr val="FFC94A"/>
                      </a:solidFill>
                      <a:prstDash val="solid"/>
                    </a:lnT>
                    <a:lnB>
                      <a:solidFill>
                        <a:srgbClr val="FFC94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3872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MM</a:t>
                      </a:r>
                    </a:p>
                  </a:txBody>
                  <a:tcPr anchor="ctr">
                    <a:lnL>
                      <a:solidFill>
                        <a:srgbClr val="FFC94A"/>
                      </a:solidFill>
                      <a:prstDash val="solid"/>
                    </a:lnL>
                    <a:lnR>
                      <a:solidFill>
                        <a:srgbClr val="FFC94A"/>
                      </a:solidFill>
                      <a:prstDash val="solid"/>
                    </a:lnR>
                    <a:lnT>
                      <a:solidFill>
                        <a:srgbClr val="FFC94A"/>
                      </a:solidFill>
                      <a:prstDash val="solid"/>
                    </a:lnT>
                    <a:lnB>
                      <a:solidFill>
                        <a:srgbClr val="FFC94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Robustness</a:t>
                      </a:r>
                    </a:p>
                  </a:txBody>
                  <a:tcPr anchor="ctr">
                    <a:lnL>
                      <a:solidFill>
                        <a:srgbClr val="FFC94A"/>
                      </a:solidFill>
                      <a:prstDash val="solid"/>
                    </a:lnL>
                    <a:lnR>
                      <a:solidFill>
                        <a:srgbClr val="FFC94A"/>
                      </a:solidFill>
                      <a:prstDash val="solid"/>
                    </a:lnR>
                    <a:lnT>
                      <a:solidFill>
                        <a:srgbClr val="FFC94A"/>
                      </a:solidFill>
                      <a:prstDash val="solid"/>
                    </a:lnT>
                    <a:lnB>
                      <a:solidFill>
                        <a:srgbClr val="FFC94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Outlier filtering</a:t>
                      </a:r>
                    </a:p>
                  </a:txBody>
                  <a:tcPr anchor="ctr">
                    <a:lnL>
                      <a:solidFill>
                        <a:srgbClr val="FFC94A"/>
                      </a:solidFill>
                      <a:prstDash val="solid"/>
                    </a:lnL>
                    <a:lnR>
                      <a:solidFill>
                        <a:srgbClr val="FFC94A"/>
                      </a:solidFill>
                      <a:prstDash val="solid"/>
                    </a:lnR>
                    <a:lnT>
                      <a:solidFill>
                        <a:srgbClr val="FFC94A"/>
                      </a:solidFill>
                      <a:prstDash val="solid"/>
                    </a:lnT>
                    <a:lnB>
                      <a:solidFill>
                        <a:srgbClr val="FFC94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934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1009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8EB60E0-10CC-F5AD-E41A-A80502B1C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Method1:Traditional Forecasting(Kalman Filter)</a:t>
            </a:r>
            <a:endParaRPr lang="zh-CN" altLang="en-US" sz="3200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30E3026-B68E-A600-38CC-2DF9B7216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/>
              <a:t>Core Idea</a:t>
            </a:r>
          </a:p>
          <a:p>
            <a:r>
              <a:rPr lang="en-US" altLang="zh-CN" sz="2400" dirty="0"/>
              <a:t>Kalman Filter is a real-time state estimation method</a:t>
            </a:r>
          </a:p>
          <a:p>
            <a:r>
              <a:rPr lang="en-US" altLang="zh-CN" sz="2400" dirty="0"/>
              <a:t>It estimates the true CPU workload state by combining:</a:t>
            </a:r>
          </a:p>
          <a:p>
            <a:pPr lvl="1"/>
            <a:r>
              <a:rPr lang="en-US" altLang="zh-CN" sz="2400" dirty="0"/>
              <a:t>model-based prediction</a:t>
            </a:r>
          </a:p>
          <a:p>
            <a:pPr lvl="1"/>
            <a:r>
              <a:rPr lang="en-US" altLang="zh-CN" sz="2400" dirty="0"/>
              <a:t>noisy observed measurements</a:t>
            </a:r>
          </a:p>
          <a:p>
            <a:r>
              <a:rPr lang="en-US" altLang="zh-CN" sz="2400" dirty="0"/>
              <a:t>Working Mechanism (High-Level)</a:t>
            </a:r>
          </a:p>
          <a:p>
            <a:pPr lvl="1"/>
            <a:r>
              <a:rPr lang="en-US" altLang="zh-CN" sz="2400" dirty="0"/>
              <a:t>Operates in a recursive two-step loop:</a:t>
            </a:r>
          </a:p>
          <a:p>
            <a:pPr lvl="1"/>
            <a:r>
              <a:rPr lang="en-US" altLang="zh-CN" sz="2400" dirty="0"/>
              <a:t>Prediction: Estimate current workload based on the previous state and system dynamics</a:t>
            </a:r>
          </a:p>
          <a:p>
            <a:pPr lvl="1"/>
            <a:r>
              <a:rPr lang="en-US" altLang="zh-CN" sz="2400" dirty="0"/>
              <a:t>Update: Correct the prediction using newly observed CPU measurements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E80055-0819-E358-824D-C2797B94B2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2024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06CDEB8-2D2E-EC19-0463-472120A46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Method1:Traditional Forecasting(Pattern Matching)</a:t>
            </a:r>
            <a:endParaRPr lang="zh-CN" altLang="en-US" sz="3200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BEE81A8-B572-7D30-329F-96FF0830B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25537"/>
            <a:ext cx="4933950" cy="5208588"/>
          </a:xfrm>
        </p:spPr>
        <p:txBody>
          <a:bodyPr/>
          <a:lstStyle/>
          <a:p>
            <a:r>
              <a:rPr lang="en-US" altLang="zh-CN" sz="2400" dirty="0"/>
              <a:t>1. Pre-processing (Pattern Encoding)</a:t>
            </a:r>
          </a:p>
          <a:p>
            <a:r>
              <a:rPr lang="en-US" altLang="zh-CN" sz="2400" dirty="0"/>
              <a:t>Convert raw CPU workload time series into a trend-based representation Steps:</a:t>
            </a:r>
          </a:p>
          <a:p>
            <a:r>
              <a:rPr lang="en-US" altLang="zh-CN" sz="2400" dirty="0"/>
              <a:t>Apply first-order differencing to capture workload changes</a:t>
            </a:r>
          </a:p>
          <a:p>
            <a:r>
              <a:rPr lang="en-US" altLang="zh-CN" sz="2400" dirty="0"/>
              <a:t>Discretize changes into symbolic strings</a:t>
            </a:r>
          </a:p>
          <a:p>
            <a:r>
              <a:rPr lang="en-US" altLang="zh-CN" sz="2400" dirty="0"/>
              <a:t>Result: continuous workload → compact pattern string</a:t>
            </a:r>
            <a:endParaRPr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C96C4B-44AC-37D4-85B5-CC3AE6014E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A4BD2D7-32E5-9C7A-D06A-5A5A1214F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7467" y="918803"/>
            <a:ext cx="5912035" cy="4710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0672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1C099C62-8F5A-2787-B967-CAE2ABB46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Method1:Traditional Forecasting(Pattern Matching)</a:t>
            </a:r>
            <a:endParaRPr lang="zh-CN" altLang="en-US" sz="3200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020CCBD-0566-6BD9-AD27-E4253265D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/>
              <a:t>Matching</a:t>
            </a:r>
          </a:p>
          <a:p>
            <a:r>
              <a:rPr lang="en-US" altLang="zh-CN" sz="2400" dirty="0"/>
              <a:t>Pattern Library</a:t>
            </a:r>
          </a:p>
          <a:p>
            <a:pPr lvl="1"/>
            <a:r>
              <a:rPr lang="en-US" altLang="zh-CN" sz="2400" dirty="0"/>
              <a:t>Maintain a set C of historical workload pattern strings</a:t>
            </a:r>
          </a:p>
          <a:p>
            <a:pPr lvl="1"/>
            <a:r>
              <a:rPr lang="en-US" altLang="zh-CN" sz="2400" dirty="0"/>
              <a:t>Each pattern represents a typical workload evolution</a:t>
            </a:r>
          </a:p>
          <a:p>
            <a:pPr lvl="1"/>
            <a:r>
              <a:rPr lang="en-US" altLang="zh-CN" sz="2400" dirty="0"/>
              <a:t>If a new pattern is not in C, it is added to the library</a:t>
            </a:r>
          </a:p>
          <a:p>
            <a:r>
              <a:rPr lang="en-US" altLang="zh-CN" sz="2400" dirty="0"/>
              <a:t>The exact matching process:</a:t>
            </a:r>
          </a:p>
          <a:p>
            <a:pPr lvl="1"/>
            <a:r>
              <a:rPr lang="en-US" altLang="zh-CN" sz="2400" dirty="0"/>
              <a:t>Use KMP to check whether s exactly matches any pattern in C</a:t>
            </a:r>
          </a:p>
          <a:p>
            <a:pPr lvl="1"/>
            <a:r>
              <a:rPr lang="en-US" altLang="zh-CN" sz="2400" dirty="0"/>
              <a:t>If an exact match exists, return the corresponding historical pattern</a:t>
            </a:r>
          </a:p>
          <a:p>
            <a:pPr lvl="1"/>
            <a:r>
              <a:rPr lang="en-US" altLang="zh-CN" sz="2400" dirty="0"/>
              <a:t>If no exact match is found, compute the distance between s and each pattern in C, Select the pattern with the minimum distance as the most similar one</a:t>
            </a:r>
            <a:endParaRPr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6336A3-00FE-A183-68FB-AC281D8B4C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7255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2FEE6AF-68E8-EE8F-E509-7987AB3A4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Method1:Traditional Forecasting(Triggering Strategy)</a:t>
            </a:r>
            <a:endParaRPr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D74CBF5D-5668-AAC6-C6F1-D6A9EA1DB5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2000" b="1" dirty="0"/>
                  <a:t>Predict Future Workload Trend</a:t>
                </a:r>
                <a:endParaRPr lang="en-US" altLang="zh-CN" sz="2000" dirty="0"/>
              </a:p>
              <a:p>
                <a:pPr lvl="1"/>
                <a:r>
                  <a:rPr lang="en-US" altLang="zh-CN" sz="2000" dirty="0"/>
                  <a:t>The pattern encodes whether workload is </a:t>
                </a:r>
                <a:r>
                  <a:rPr lang="en-US" altLang="zh-CN" sz="2000" b="1" dirty="0"/>
                  <a:t>continuously increasing or decreasing</a:t>
                </a:r>
                <a:endParaRPr lang="en-US" altLang="zh-CN" sz="2000" dirty="0"/>
              </a:p>
              <a:p>
                <a:r>
                  <a:rPr lang="en-US" altLang="zh-CN" sz="2000" b="1" dirty="0"/>
                  <a:t>Check Current System State</a:t>
                </a:r>
                <a:endParaRPr lang="en-US" altLang="zh-CN" sz="2000" dirty="0"/>
              </a:p>
              <a:p>
                <a:pPr lvl="1"/>
                <a:r>
                  <a:rPr lang="en-US" altLang="zh-CN" sz="2000" dirty="0"/>
                  <a:t>Observe current CPU utilization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ar-AE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ar-AE" altLang="zh-CN" sz="2000" dirty="0"/>
              </a:p>
              <a:p>
                <a:pPr lvl="1"/>
                <a:r>
                  <a:rPr lang="en-US" altLang="zh-CN" sz="2000" dirty="0"/>
                  <a:t>Compare with predefined thresholds (</a:t>
                </a:r>
                <a:r>
                  <a:rPr lang="en-US" altLang="zh-CN" sz="2000" dirty="0" err="1"/>
                  <a:t>threadup</a:t>
                </a:r>
                <a:r>
                  <a:rPr lang="en-US" altLang="zh-CN" sz="2000" dirty="0"/>
                  <a:t>, </a:t>
                </a:r>
                <a:r>
                  <a:rPr lang="en-US" altLang="zh-CN" sz="2000" dirty="0" err="1"/>
                  <a:t>threaddown</a:t>
                </a:r>
                <a:r>
                  <a:rPr lang="en-US" altLang="zh-CN" sz="2000" dirty="0"/>
                  <a:t>)</a:t>
                </a:r>
              </a:p>
              <a:p>
                <a:r>
                  <a:rPr lang="en-US" altLang="zh-CN" sz="2000" b="1" dirty="0"/>
                  <a:t>Make Trigger Decision</a:t>
                </a:r>
                <a:endParaRPr lang="en-US" altLang="zh-CN" sz="2000" dirty="0"/>
              </a:p>
              <a:p>
                <a:pPr lvl="1"/>
                <a:r>
                  <a:rPr lang="en-US" altLang="zh-CN" sz="2000" b="1" dirty="0"/>
                  <a:t>Scale Up</a:t>
                </a:r>
                <a:endParaRPr lang="en-US" altLang="zh-CN" sz="2000" dirty="0"/>
              </a:p>
              <a:p>
                <a:pPr lvl="2"/>
                <a:r>
                  <a:rPr lang="en-US" altLang="zh-CN" sz="2000" dirty="0"/>
                  <a:t>Predicted trend shows sustained increase AND current CPU usage is above the upper threshold</a:t>
                </a:r>
              </a:p>
              <a:p>
                <a:pPr lvl="1"/>
                <a:r>
                  <a:rPr lang="en-US" altLang="zh-CN" sz="2000" b="1" dirty="0"/>
                  <a:t>Scale Down</a:t>
                </a:r>
                <a:endParaRPr lang="en-US" altLang="zh-CN" sz="2000" dirty="0"/>
              </a:p>
              <a:p>
                <a:pPr lvl="2"/>
                <a:r>
                  <a:rPr lang="en-US" altLang="zh-CN" sz="2000" dirty="0"/>
                  <a:t>Predicted trend shows sustained decrease AND current CPU usage is below the lower threshold</a:t>
                </a:r>
              </a:p>
              <a:p>
                <a:pPr lvl="1"/>
                <a:r>
                  <a:rPr lang="en-US" altLang="zh-CN" sz="2000" b="1" dirty="0"/>
                  <a:t>No Action</a:t>
                </a:r>
                <a:r>
                  <a:rPr lang="en-US" altLang="zh-CN" sz="2000" dirty="0"/>
                  <a:t> otherwise (to avoid oscillation)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D74CBF5D-5668-AAC6-C6F1-D6A9EA1DB5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22" t="-7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78F1D3-41D0-CE05-31B8-3D2A25C154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46125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D5B7901-BE57-3DC3-8C1C-658582B51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567" y="144461"/>
            <a:ext cx="10517721" cy="692151"/>
          </a:xfrm>
        </p:spPr>
        <p:txBody>
          <a:bodyPr/>
          <a:lstStyle/>
          <a:p>
            <a:r>
              <a:rPr lang="en-US" altLang="zh-CN" sz="3200" dirty="0"/>
              <a:t>Method2:Neural Network +Linear Regression</a:t>
            </a:r>
            <a:endParaRPr lang="zh-CN" altLang="en-US" sz="3200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EBD71FB-2E55-1399-08A0-09220F9D7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/>
              <a:t>Traditional methods: ARMA / ARIMA </a:t>
            </a:r>
          </a:p>
          <a:p>
            <a:r>
              <a:rPr lang="en-US" altLang="zh-CN" sz="2400" dirty="0"/>
              <a:t>Pros: simple, fast, widely used</a:t>
            </a:r>
          </a:p>
          <a:p>
            <a:r>
              <a:rPr lang="en-US" altLang="zh-CN" sz="2400" dirty="0"/>
              <a:t>Limitation: mainly linear → often insufficient for real-world nonlinear workloads</a:t>
            </a:r>
          </a:p>
          <a:p>
            <a:r>
              <a:rPr lang="en-US" altLang="zh-CN" sz="2400" dirty="0"/>
              <a:t>Learning task</a:t>
            </a:r>
          </a:p>
          <a:p>
            <a:pPr lvl="1"/>
            <a:r>
              <a:rPr lang="fr-FR" altLang="zh-CN" sz="2400" dirty="0"/>
              <a:t>Past CPU usage  →  Future CPU usage (t + 12)  (</a:t>
            </a:r>
            <a:r>
              <a:rPr lang="en-US" altLang="zh-CN" sz="2400" dirty="0"/>
              <a:t>VM startup time: 5–15 minutes)</a:t>
            </a:r>
          </a:p>
          <a:p>
            <a:pPr lvl="1"/>
            <a:r>
              <a:rPr lang="en-US" altLang="zh-CN" sz="2400" dirty="0"/>
              <a:t>Setting A (Single-point): CPU(t) → CPU(t+12)</a:t>
            </a:r>
          </a:p>
          <a:p>
            <a:pPr lvl="1"/>
            <a:r>
              <a:rPr lang="en-US" altLang="zh-CN" sz="2400" dirty="0"/>
              <a:t>Setting B (Sliding window): [CPU(t−N+1)…CPU(t)] → CPU(t+12), N=2–9</a:t>
            </a:r>
          </a:p>
          <a:p>
            <a:pPr lvl="1"/>
            <a:r>
              <a:rPr lang="en-US" altLang="zh-CN" sz="2400" dirty="0"/>
              <a:t>Models: ECNN vs Linear Regression</a:t>
            </a:r>
          </a:p>
          <a:p>
            <a:pPr marL="0" indent="0">
              <a:buNone/>
            </a:pPr>
            <a:endParaRPr lang="en-US" altLang="zh-CN" sz="2400" dirty="0"/>
          </a:p>
          <a:p>
            <a:endParaRPr lang="fr-FR" altLang="zh-CN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CB8782-1FF1-E809-447E-8FCCB5F83C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47593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EBABD71-DE36-FF8E-5750-53E9DE2E8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Method3:ML + Queuing Theory: Prediction (1/2)</a:t>
            </a:r>
            <a:endParaRPr lang="zh-CN" altLang="en-US" sz="3200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7E970FE-1370-A791-F312-9C4C1C53D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/>
              <a:t>ML-based forecasting:</a:t>
            </a:r>
          </a:p>
          <a:p>
            <a:pPr lvl="1"/>
            <a:r>
              <a:rPr lang="en-US" altLang="zh-CN" sz="2400" dirty="0"/>
              <a:t> ANN / SVMANN: strong nonlinear modeling, but may converge to local minima; solutions not unique</a:t>
            </a:r>
          </a:p>
          <a:p>
            <a:pPr lvl="1"/>
            <a:r>
              <a:rPr lang="en-US" altLang="zh-CN" sz="2400" dirty="0"/>
              <a:t>Neural Network: global optimum solution + strong generalization (structural risk minimization)→ This work adopts Support Vector Regression (SVR).</a:t>
            </a:r>
            <a:endParaRPr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0FA181-6538-8820-E3D9-2211F44050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12C1BAA-01EC-B202-8DB3-D9F71E99D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9511" y="3680085"/>
            <a:ext cx="6601746" cy="198147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F89B639-4A0D-C0B0-38FD-7C33937A1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1536" y="3573462"/>
            <a:ext cx="5151563" cy="172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3847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BDE48C59-DAB6-E5F4-3CF2-FD2826712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Method3:ML + Queuing Theory: Prediction (2/2)</a:t>
            </a:r>
            <a:endParaRPr lang="zh-CN" altLang="en-US" sz="3200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478E9777-6153-BD37-5EE6-9EE47BF50C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585338" y="1125538"/>
            <a:ext cx="9021323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0CE5D3-ED98-69C9-2C35-6CCA5A95BE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862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91B33-4CB0-D4A7-5E0A-A3DD55251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F527173D-A8AB-8121-7BF9-FA3CE2FA1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Method3:ML+ Queuing Theory</a:t>
            </a:r>
            <a:r>
              <a:rPr lang="zh-CN" altLang="en-US" sz="3200" dirty="0"/>
              <a:t>：</a:t>
            </a:r>
            <a:r>
              <a:rPr lang="en-US" altLang="zh-CN" sz="3200" dirty="0"/>
              <a:t>Performance Model(1/3)</a:t>
            </a:r>
            <a:endParaRPr lang="zh-CN" altLang="en-US" sz="3200" dirty="0"/>
          </a:p>
        </p:txBody>
      </p: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8DD1311D-0983-D984-F91B-CC45C17F9D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223323" y="3429000"/>
            <a:ext cx="9154803" cy="19433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4C3634-8E70-265E-F0CD-821F7C49AB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B6BDF2-6896-4B98-8776-C18582F63BA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新細明體" pitchFamily="18" charset="-120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E55ED8C-9E58-D19E-1F2D-398276CC34E0}"/>
              </a:ext>
            </a:extLst>
          </p:cNvPr>
          <p:cNvSpPr txBox="1"/>
          <p:nvPr/>
        </p:nvSpPr>
        <p:spPr>
          <a:xfrm>
            <a:off x="971550" y="1186934"/>
            <a:ext cx="1059603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/>
                <a:cs typeface="+mn-cs"/>
              </a:rPr>
              <a:t>M/M/c queue model for the distributed server.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/>
                <a:cs typeface="+mn-cs"/>
              </a:rPr>
              <a:t> c is the number of parallel servers in the system.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/>
                <a:cs typeface="+mn-cs"/>
              </a:rPr>
              <a:t> λ is  the arrival rate, i.e., the average number of requests that reach the system per time unit, modeled as a Poisson distribution.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/>
                <a:cs typeface="+mn-cs"/>
              </a:rPr>
              <a:t> μ is the service rate, i.e., the average number of requests that a server can process per time unit</a:t>
            </a:r>
          </a:p>
          <a:p>
            <a:pPr lvl="0"/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新細明體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ρ is the system utilization factor, which is defined as </a:t>
            </a:r>
            <a:r>
              <a:rPr lang="el-GR" altLang="zh-CN" dirty="0">
                <a:latin typeface="Times New Roman" panose="02020603050405020304" pitchFamily="18" charset="0"/>
              </a:rPr>
              <a:t>ρ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l-GR" altLang="zh-CN" dirty="0">
                <a:latin typeface="Times New Roman" panose="02020603050405020304" pitchFamily="18" charset="0"/>
              </a:rPr>
              <a:t>λ</a:t>
            </a:r>
            <a:r>
              <a:rPr lang="en-US" altLang="zh-CN" dirty="0">
                <a:latin typeface="Times New Roman" panose="02020603050405020304" pitchFamily="18" charset="0"/>
              </a:rPr>
              <a:t>/</a:t>
            </a:r>
            <a:r>
              <a:rPr lang="en-US" altLang="zh-CN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μ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新細明體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6914CC6-4E9C-E785-3700-7BBE27E8500D}"/>
              </a:ext>
            </a:extLst>
          </p:cNvPr>
          <p:cNvSpPr txBox="1"/>
          <p:nvPr/>
        </p:nvSpPr>
        <p:spPr>
          <a:xfrm>
            <a:off x="2847975" y="5442184"/>
            <a:ext cx="6000750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sz="1400" dirty="0">
                <a:ea typeface="標楷體" pitchFamily="65" charset="-120"/>
                <a:cs typeface="Calibri" pitchFamily="34" charset="0"/>
              </a:rPr>
              <a:t>Fig3. </a:t>
            </a:r>
            <a:r>
              <a:rPr lang="en-US" altLang="zh-CN" sz="1400" dirty="0"/>
              <a:t>M/M/c queue model for the distributed server</a:t>
            </a:r>
            <a:endParaRPr lang="zh-CN" altLang="en-US" sz="1400" dirty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44372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64741E6-58B9-BB92-834F-2246B9F70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Method3:ML+ Queuing Theory</a:t>
            </a:r>
            <a:r>
              <a:rPr lang="zh-CN" altLang="en-US" sz="3200" dirty="0"/>
              <a:t>：</a:t>
            </a:r>
            <a:r>
              <a:rPr lang="en-US" altLang="zh-CN" sz="3200" dirty="0"/>
              <a:t>Performance Model(2/3)</a:t>
            </a:r>
            <a:endParaRPr lang="zh-CN" altLang="en-US" sz="3200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1574EC2A-475E-88ED-59FD-BF6C960108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5755" y="4109615"/>
            <a:ext cx="8918845" cy="1895478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F0C271-D578-17AB-3015-14F4F60BBE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23</a:t>
            </a:fld>
            <a:endParaRPr lang="zh-TW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9BCDAA8-4094-6BC6-A9FC-155431006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3406" y="852907"/>
            <a:ext cx="7225394" cy="332015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65EB232-0BD7-0F30-F9BF-792D5D5CF800}"/>
              </a:ext>
            </a:extLst>
          </p:cNvPr>
          <p:cNvSpPr txBox="1"/>
          <p:nvPr/>
        </p:nvSpPr>
        <p:spPr>
          <a:xfrm>
            <a:off x="2835728" y="6110972"/>
            <a:ext cx="6000750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sz="1400" dirty="0">
                <a:ea typeface="標楷體" pitchFamily="65" charset="-120"/>
                <a:cs typeface="Calibri" pitchFamily="34" charset="0"/>
              </a:rPr>
              <a:t>Fig3. </a:t>
            </a:r>
            <a:r>
              <a:rPr lang="en-US" altLang="zh-CN" sz="1400" dirty="0"/>
              <a:t>M/M/c queue model for the distributed server</a:t>
            </a:r>
            <a:endParaRPr lang="zh-CN" altLang="en-US" sz="1400" dirty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2014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5354FFE3-40EE-13BC-634B-1BFDFB0E8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Method3:ML+ Queuing Theory</a:t>
            </a:r>
            <a:r>
              <a:rPr lang="zh-CN" altLang="en-US" sz="3200" dirty="0"/>
              <a:t>：</a:t>
            </a:r>
            <a:r>
              <a:rPr lang="en-US" altLang="zh-CN" sz="3200" dirty="0"/>
              <a:t>Performance Model(3/3)</a:t>
            </a:r>
            <a:endParaRPr lang="zh-CN" altLang="en-US" sz="3200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ADBFDED-A4AE-48B9-BBB2-96BB725B5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/>
              <a:t>Every hour, the system performs the following steps:</a:t>
            </a:r>
          </a:p>
          <a:p>
            <a:pPr lvl="1"/>
            <a:r>
              <a:rPr lang="en-US" altLang="zh-CN" sz="2400" dirty="0"/>
              <a:t>Use the forecasting model to predict the average load (arrival rate) for the next hour, </a:t>
            </a:r>
            <a:r>
              <a:rPr lang="zh-CN" altLang="en-US" sz="2400" dirty="0"/>
              <a:t>𝜆</a:t>
            </a:r>
            <a:r>
              <a:rPr lang="en-US" altLang="zh-CN" sz="2400" dirty="0"/>
              <a:t>.</a:t>
            </a:r>
          </a:p>
          <a:p>
            <a:pPr lvl="1"/>
            <a:r>
              <a:rPr lang="en-US" altLang="zh-CN" sz="2400" dirty="0"/>
              <a:t>Try candidate server counts </a:t>
            </a:r>
            <a:r>
              <a:rPr lang="zh-CN" altLang="en-US" sz="2400" dirty="0"/>
              <a:t>𝑐</a:t>
            </a:r>
            <a:r>
              <a:rPr lang="en-US" altLang="zh-CN" sz="2400" dirty="0"/>
              <a:t>=1,2,3,… sequentially.</a:t>
            </a:r>
          </a:p>
          <a:p>
            <a:pPr lvl="1"/>
            <a:r>
              <a:rPr lang="en-US" altLang="zh-CN" sz="2400" dirty="0"/>
              <a:t>For each </a:t>
            </a:r>
            <a:r>
              <a:rPr lang="zh-CN" altLang="en-US" sz="2400" dirty="0"/>
              <a:t>𝑐</a:t>
            </a:r>
            <a:r>
              <a:rPr lang="en-US" altLang="zh-CN" sz="2400" dirty="0"/>
              <a:t>, compute ρ, </a:t>
            </a:r>
            <a:r>
              <a:rPr lang="zh-CN" altLang="en-US" sz="2400" dirty="0"/>
              <a:t>𝑊𝑞</a:t>
            </a:r>
            <a:r>
              <a:rPr lang="en-US" altLang="zh-CN" sz="2400" dirty="0"/>
              <a:t>​, and </a:t>
            </a:r>
            <a:r>
              <a:rPr lang="zh-CN" altLang="en-US" sz="2400" dirty="0"/>
              <a:t>𝑊</a:t>
            </a:r>
            <a:r>
              <a:rPr lang="en-US" altLang="zh-CN" sz="2400" dirty="0"/>
              <a:t>.Find the first (minimum) </a:t>
            </a:r>
            <a:r>
              <a:rPr lang="zh-CN" altLang="en-US" sz="2400" dirty="0"/>
              <a:t>𝑐</a:t>
            </a:r>
            <a:r>
              <a:rPr lang="en-US" altLang="zh-CN" sz="2400" dirty="0"/>
              <a:t> that satisfies the SLA constraints. </a:t>
            </a:r>
          </a:p>
          <a:p>
            <a:pPr lvl="1"/>
            <a:r>
              <a:rPr lang="en-US" altLang="zh-CN" sz="2400" dirty="0"/>
              <a:t>Scale the system to this </a:t>
            </a:r>
            <a:r>
              <a:rPr lang="zh-CN" altLang="en-US" sz="2400" dirty="0"/>
              <a:t>𝑐</a:t>
            </a:r>
            <a:r>
              <a:rPr lang="en-US" altLang="zh-CN" sz="2400" dirty="0"/>
              <a:t> and keep it for one hour.</a:t>
            </a:r>
            <a:endParaRPr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E0A227-EF71-02C5-3F4D-9B58DF9A31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24</a:t>
            </a:fld>
            <a:endParaRPr lang="zh-TW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DCEEB0A-69C6-63D4-FC1C-FA354C7C7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066" y="4509815"/>
            <a:ext cx="8925318" cy="189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6619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C68FC-57A7-4FCE-A8E2-7EA1619EA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7654360A-052A-208F-5587-63A419D4F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Elastic Resource Provisioning in Cloud Platforms via Workload Prediction and Performance Modeling</a:t>
            </a:r>
            <a:endParaRPr lang="zh-TW" altLang="en-US" sz="2800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39B3378-5E70-2752-FE27-F6AEBFBE0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81200" y="1759101"/>
            <a:ext cx="7772400" cy="2562077"/>
          </a:xfrm>
        </p:spPr>
        <p:txBody>
          <a:bodyPr>
            <a:normAutofit/>
          </a:bodyPr>
          <a:lstStyle/>
          <a:p>
            <a:r>
              <a:rPr lang="en-US" altLang="zh-C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altLang="zh-TW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</a:t>
            </a:r>
            <a:r>
              <a:rPr lang="zh-CN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r>
              <a:rPr lang="en-US" altLang="zh-C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</a:p>
          <a:p>
            <a:r>
              <a:rPr lang="en-US" altLang="zh-CN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</a:t>
            </a:r>
          </a:p>
          <a:p>
            <a:r>
              <a:rPr lang="en-US" altLang="zh-C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DBCC7AC-5CF2-943D-15D0-9C4AEA255C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B6BDF2-6896-4B98-8776-C18582F63BA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16317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8640DB27-4521-DF73-6316-D0E176A43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Method1:Experiment Setup</a:t>
            </a:r>
            <a:endParaRPr lang="zh-CN" altLang="en-US" sz="3200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8948999-DEC2-10BB-C14A-9174F4CD5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Experiment Setup (</a:t>
            </a:r>
            <a:r>
              <a:rPr lang="en-US" altLang="zh-CN" sz="2800" dirty="0" err="1"/>
              <a:t>Aliyun</a:t>
            </a:r>
            <a:r>
              <a:rPr lang="en-US" altLang="zh-CN" sz="2800" dirty="0"/>
              <a:t>)</a:t>
            </a:r>
          </a:p>
          <a:p>
            <a:r>
              <a:rPr lang="en-US" altLang="zh-CN" sz="2800" dirty="0"/>
              <a:t>Deployed on </a:t>
            </a:r>
            <a:r>
              <a:rPr lang="en-US" altLang="zh-CN" sz="2800" dirty="0" err="1"/>
              <a:t>Aliyun</a:t>
            </a:r>
            <a:r>
              <a:rPr lang="en-US" altLang="zh-CN" sz="2800" dirty="0"/>
              <a:t> Cloud VMs with Elastic Scaling Service (ESS)</a:t>
            </a:r>
          </a:p>
          <a:p>
            <a:r>
              <a:rPr lang="en-US" altLang="zh-CN" sz="2800" dirty="0"/>
              <a:t>Instance type: </a:t>
            </a:r>
            <a:r>
              <a:rPr lang="en-US" altLang="zh-CN" sz="2800" dirty="0" err="1"/>
              <a:t>esc.tl.small</a:t>
            </a:r>
            <a:r>
              <a:rPr lang="en-US" altLang="zh-CN" sz="2800" dirty="0"/>
              <a:t> (1 GB RAM)</a:t>
            </a:r>
          </a:p>
          <a:p>
            <a:r>
              <a:rPr lang="en-US" altLang="zh-CN" sz="2800" dirty="0"/>
              <a:t>Workloads: CPU time series + compute-intensive, web, and memory-intensive applications</a:t>
            </a:r>
            <a:endParaRPr lang="zh-CN" altLang="en-US" sz="2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A152A2-545C-48AF-0E8F-EB7BBD760B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B6BDF2-6896-4B98-8776-C18582F63BA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97947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3FC3DF72-992A-95DB-B751-E3AAED57E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Method1:Evaluation  Summary</a:t>
            </a:r>
            <a:endParaRPr lang="zh-CN" altLang="en-US" sz="3200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E5A4390-15AF-3E36-E581-B745FEC4A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/>
              <a:t>ARIMA is the best among MA / AR / DM (lowest error among time-series baselines)</a:t>
            </a:r>
          </a:p>
          <a:p>
            <a:r>
              <a:rPr lang="en-US" altLang="zh-CN" sz="2400" dirty="0"/>
              <a:t>Kalman Filter smooths noise but loses fine-grained changes</a:t>
            </a:r>
          </a:p>
          <a:p>
            <a:r>
              <a:rPr lang="en-US" altLang="zh-CN" sz="2400" dirty="0"/>
              <a:t>Pattern Matching captures trend shifts but struggles near inflection points</a:t>
            </a:r>
          </a:p>
          <a:p>
            <a:r>
              <a:rPr lang="en-US" altLang="zh-CN" sz="2400" dirty="0"/>
              <a:t>All three methods suffer from prediction delay</a:t>
            </a:r>
            <a:endParaRPr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6F7E66-AE2A-EF77-5E5E-1FE86ADCD7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27</a:t>
            </a:fld>
            <a:endParaRPr lang="zh-TW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D0512DA-2C2F-B436-1F4D-B3FF47736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29166"/>
            <a:ext cx="4810125" cy="1767357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65796BF4-4695-5750-E60F-06CFFFAEC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825" y="2906478"/>
            <a:ext cx="4624178" cy="181857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824CAEC-0BAB-C18A-A25D-F435FEA99A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42" b="8333"/>
          <a:stretch>
            <a:fillRect/>
          </a:stretch>
        </p:blipFill>
        <p:spPr>
          <a:xfrm>
            <a:off x="3083983" y="4796523"/>
            <a:ext cx="5059891" cy="191701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79E5AED-B631-8529-067E-16152A857B8B}"/>
              </a:ext>
            </a:extLst>
          </p:cNvPr>
          <p:cNvSpPr txBox="1"/>
          <p:nvPr/>
        </p:nvSpPr>
        <p:spPr>
          <a:xfrm>
            <a:off x="495300" y="4760075"/>
            <a:ext cx="3819525" cy="276999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sz="1200" dirty="0"/>
              <a:t>Fig4. Evaluation results of time series approach </a:t>
            </a:r>
            <a:endParaRPr lang="zh-CN" altLang="en-US" sz="1200" dirty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F155081-080B-7112-7B66-773CC9969D94}"/>
              </a:ext>
            </a:extLst>
          </p:cNvPr>
          <p:cNvSpPr txBox="1"/>
          <p:nvPr/>
        </p:nvSpPr>
        <p:spPr>
          <a:xfrm>
            <a:off x="7284509" y="4760074"/>
            <a:ext cx="3819525" cy="276999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sz="1200" dirty="0"/>
              <a:t>Fig5. Evaluation results of Kalman Filter approach </a:t>
            </a:r>
            <a:endParaRPr lang="zh-CN" altLang="en-US" sz="1200" dirty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FC0F21C-4EAB-A03A-20F2-849743B7252A}"/>
              </a:ext>
            </a:extLst>
          </p:cNvPr>
          <p:cNvSpPr txBox="1"/>
          <p:nvPr/>
        </p:nvSpPr>
        <p:spPr>
          <a:xfrm>
            <a:off x="3464984" y="6531054"/>
            <a:ext cx="3819525" cy="276999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sz="1200" dirty="0"/>
              <a:t>Fig6. Evaluation results of Pattern Matching approach </a:t>
            </a:r>
            <a:endParaRPr lang="zh-CN" altLang="en-US" sz="1200" dirty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4413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3EA6F64-B936-C203-118C-2F62181E1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Method1:Quantitative Results + Scaling Benefit</a:t>
            </a:r>
            <a:endParaRPr lang="zh-CN" altLang="en-US" sz="3200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F49E12A-E3BF-8B71-79D6-692A08B7E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/>
              <a:t>Metric: Mean Absolute Percentage Error (lower is better)</a:t>
            </a:r>
          </a:p>
          <a:p>
            <a:r>
              <a:rPr lang="en-US" altLang="zh-CN" sz="2400" dirty="0"/>
              <a:t>Kalman filter model and pattern have lower predicting error than the time series approach. </a:t>
            </a:r>
          </a:p>
          <a:p>
            <a:r>
              <a:rPr lang="en-US" altLang="zh-CN" sz="2400" dirty="0"/>
              <a:t>Pattern matching performs slightly worse than Kalman filtering due to incomplete or imperfect historical pattern strings.</a:t>
            </a:r>
          </a:p>
          <a:p>
            <a:r>
              <a:rPr lang="en-US" altLang="zh-CN" sz="2400" dirty="0"/>
              <a:t>the new trigger strategy can predict the scaling up and down ahead of the threshold approach. Time reduction: 57.14% (scale-up), 62.5% (scale-down)</a:t>
            </a:r>
            <a:endParaRPr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FBC970-F715-181B-372F-4A28EA74BE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28</a:t>
            </a:fld>
            <a:endParaRPr lang="zh-TW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4D30E04-BDCE-E2D1-E073-2F514E38DE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" t="15880"/>
          <a:stretch>
            <a:fillRect/>
          </a:stretch>
        </p:blipFill>
        <p:spPr>
          <a:xfrm>
            <a:off x="2476500" y="3943350"/>
            <a:ext cx="6789102" cy="1900233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3EA4AF4-DC6A-817D-9105-024E77750089}"/>
              </a:ext>
            </a:extLst>
          </p:cNvPr>
          <p:cNvSpPr txBox="1"/>
          <p:nvPr/>
        </p:nvSpPr>
        <p:spPr>
          <a:xfrm>
            <a:off x="2688642" y="5747852"/>
            <a:ext cx="6364817" cy="338554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sz="1600" dirty="0">
                <a:ea typeface="標楷體" pitchFamily="65" charset="-120"/>
                <a:cs typeface="Calibri" pitchFamily="34" charset="0"/>
              </a:rPr>
              <a:t>Table1 Error of Predicting</a:t>
            </a:r>
            <a:endParaRPr lang="zh-CN" altLang="en-US" sz="1600" dirty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2259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B5DE3DCD-4BCD-DD9D-ACEE-8027F1C67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Method2: Experiment Setup</a:t>
            </a:r>
            <a:endParaRPr lang="zh-CN" altLang="en-US" sz="3200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35EE3A4-2145-E6E4-CDC9-0229BA2C5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25537"/>
            <a:ext cx="5810250" cy="5587997"/>
          </a:xfrm>
        </p:spPr>
        <p:txBody>
          <a:bodyPr/>
          <a:lstStyle/>
          <a:p>
            <a:r>
              <a:rPr lang="en-US" altLang="zh-CN" sz="2400" dirty="0"/>
              <a:t>Benchmark &amp; Workload (TPC-W on EC2)</a:t>
            </a:r>
          </a:p>
          <a:p>
            <a:r>
              <a:rPr lang="en-US" altLang="zh-CN" sz="2400" dirty="0"/>
              <a:t>TPC-W e-commerce benchmark (online bookstore simulation)</a:t>
            </a:r>
          </a:p>
          <a:p>
            <a:r>
              <a:rPr lang="en-US" altLang="zh-CN" sz="2400" dirty="0"/>
              <a:t>Concurrent sessions: browse / order / transaction</a:t>
            </a:r>
          </a:p>
          <a:p>
            <a:r>
              <a:rPr lang="en-US" altLang="zh-CN" sz="2400" dirty="0"/>
              <a:t>Workload pattern: linearly increasing request rate (flash-crowd ramp-up)</a:t>
            </a:r>
          </a:p>
          <a:p>
            <a:r>
              <a:rPr lang="en-US" altLang="zh-CN" sz="2400" dirty="0"/>
              <a:t>Deployed on Amazon EC2 with Auto Scaling API (static rules)</a:t>
            </a:r>
          </a:p>
          <a:p>
            <a:r>
              <a:rPr lang="en-US" altLang="zh-CN" sz="2400" dirty="0"/>
              <a:t>Focus: prediction accuracy, not scaling policy optimization</a:t>
            </a:r>
            <a:endParaRPr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5395E0-16B0-6682-A78E-5393FA0B43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B6BDF2-6896-4B98-8776-C18582F63BA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新細明體" pitchFamily="18" charset="-120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37C86BD-FDDC-C632-6D30-84EDBB44F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024" y="1309391"/>
            <a:ext cx="5426960" cy="4423072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57CF3E2-3B37-1595-906A-E4C536711B8B}"/>
              </a:ext>
            </a:extLst>
          </p:cNvPr>
          <p:cNvSpPr txBox="1"/>
          <p:nvPr/>
        </p:nvSpPr>
        <p:spPr>
          <a:xfrm>
            <a:off x="7062263" y="5817529"/>
            <a:ext cx="4505325" cy="338554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sz="1600" dirty="0">
                <a:ea typeface="標楷體" pitchFamily="65" charset="-120"/>
                <a:cs typeface="Calibri" pitchFamily="34" charset="0"/>
              </a:rPr>
              <a:t>Fig7. </a:t>
            </a:r>
            <a:r>
              <a:rPr lang="en-US" altLang="zh-CN" sz="1600" dirty="0"/>
              <a:t>Data collection architecture</a:t>
            </a:r>
            <a:endParaRPr lang="zh-CN" altLang="en-US" sz="1600" dirty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17740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8EB4D543-96E0-955E-9445-893E3B5A1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092" y="144461"/>
            <a:ext cx="10517721" cy="692151"/>
          </a:xfrm>
        </p:spPr>
        <p:txBody>
          <a:bodyPr/>
          <a:lstStyle/>
          <a:p>
            <a:r>
              <a:rPr lang="en-US" altLang="zh-CN" sz="3200" dirty="0"/>
              <a:t>Method2: Key Observation</a:t>
            </a:r>
            <a:endParaRPr lang="zh-CN" altLang="en-US" sz="32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1A9449-10B7-526E-2D77-9E04E24755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30</a:t>
            </a:fld>
            <a:endParaRPr lang="zh-TW" altLang="en-US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AC3260E1-7A0F-5DF0-3850-9C14464CE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/>
              <a:t>Without sliding window</a:t>
            </a:r>
          </a:p>
          <a:p>
            <a:pPr lvl="1"/>
            <a:r>
              <a:rPr lang="en-US" altLang="zh-CN" sz="2400" dirty="0"/>
              <a:t>NN consistently outperforms LR in prediction accuracy</a:t>
            </a:r>
          </a:p>
          <a:p>
            <a:r>
              <a:rPr lang="en-US" altLang="zh-CN" sz="2400" dirty="0"/>
              <a:t>With sliding window</a:t>
            </a:r>
          </a:p>
          <a:p>
            <a:pPr lvl="1"/>
            <a:r>
              <a:rPr lang="en-US" altLang="zh-CN" sz="2400" dirty="0"/>
              <a:t>NN remains more accurate than LR across all window sizes</a:t>
            </a:r>
          </a:p>
          <a:p>
            <a:pPr lvl="1"/>
            <a:r>
              <a:rPr lang="en-US" altLang="zh-CN" sz="2400" dirty="0"/>
              <a:t>NN achieves ~50% lower MAPE than LR for each window size</a:t>
            </a:r>
            <a:endParaRPr lang="zh-CN" altLang="en-US" sz="24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37A720F-2508-EFDF-3455-1FB232260D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" t="9330"/>
          <a:stretch>
            <a:fillRect/>
          </a:stretch>
        </p:blipFill>
        <p:spPr>
          <a:xfrm>
            <a:off x="114299" y="3305174"/>
            <a:ext cx="14062077" cy="2087563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E89C6D5-602D-A150-ECAB-2A5CEEBDE06D}"/>
              </a:ext>
            </a:extLst>
          </p:cNvPr>
          <p:cNvSpPr txBox="1"/>
          <p:nvPr/>
        </p:nvSpPr>
        <p:spPr>
          <a:xfrm>
            <a:off x="945092" y="5434340"/>
            <a:ext cx="9551458" cy="52322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sz="1400" dirty="0"/>
              <a:t>Table 2 Comparison of predictive accuracy between Neural Network (NN) and Linear Regression (LR) models with and without the sliding window technique.</a:t>
            </a:r>
            <a:endParaRPr lang="zh-CN" altLang="en-US" sz="1400" dirty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1012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34E99DCE-3518-012B-0D46-92C8AF3A9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717" y="144461"/>
            <a:ext cx="10517721" cy="692151"/>
          </a:xfrm>
        </p:spPr>
        <p:txBody>
          <a:bodyPr/>
          <a:lstStyle/>
          <a:p>
            <a:br>
              <a:rPr lang="en-US" altLang="zh-CN" sz="2400" dirty="0"/>
            </a:br>
            <a:br>
              <a:rPr lang="en-US" altLang="zh-CN" sz="2400" dirty="0"/>
            </a:br>
            <a:r>
              <a:rPr lang="en-US" altLang="zh-CN" sz="3200" dirty="0"/>
              <a:t>Method2:Sliding Window Impact &amp; Sensitivity Analysis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0E2ECAC-83D9-7F37-8E06-B4C049361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/>
              <a:t>Sliding window inputs improve accuracy (↓MAPE/RMSE, ↑PRED(25))</a:t>
            </a:r>
          </a:p>
          <a:p>
            <a:r>
              <a:rPr lang="en-US" altLang="zh-CN" sz="2400" dirty="0"/>
              <a:t>NN benefits from larger windows → best at window = 8 (MAPE ≈ 17.72)</a:t>
            </a:r>
          </a:p>
          <a:p>
            <a:r>
              <a:rPr lang="en-US" altLang="zh-CN" sz="2400" dirty="0"/>
              <a:t>LR works best with small windows (1–3) and degrades as window grows</a:t>
            </a:r>
          </a:p>
          <a:p>
            <a:r>
              <a:rPr lang="en-US" altLang="zh-CN" sz="2400" dirty="0"/>
              <a:t>Takeaway: NN + optimal window achieves the best forecasting performance</a:t>
            </a:r>
            <a:endParaRPr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CD967A-A95C-A7F7-57F8-A3B302709E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31</a:t>
            </a:fld>
            <a:endParaRPr lang="zh-TW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663B8A5-D244-C8E9-AB6B-B23154D70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66" y="3428999"/>
            <a:ext cx="12227986" cy="151447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60B201C-2CA7-4F2F-C270-ED84169CB080}"/>
              </a:ext>
            </a:extLst>
          </p:cNvPr>
          <p:cNvSpPr txBox="1"/>
          <p:nvPr/>
        </p:nvSpPr>
        <p:spPr>
          <a:xfrm>
            <a:off x="1409700" y="5232399"/>
            <a:ext cx="91249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Table 2 Comparison of predictive accuracy between Neural Network (NN) and Linear Regression (LR) models with and without the sliding window technique.</a:t>
            </a:r>
          </a:p>
        </p:txBody>
      </p:sp>
    </p:spTree>
    <p:extLst>
      <p:ext uri="{BB962C8B-B14F-4D97-AF65-F5344CB8AC3E}">
        <p14:creationId xmlns:p14="http://schemas.microsoft.com/office/powerpoint/2010/main" val="26834752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81431DA4-7B60-53DA-40BB-158C57610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Method3:Experiment Setup</a:t>
            </a:r>
            <a:endParaRPr lang="zh-CN" altLang="en-US" sz="3200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90C2FEF-49B9-A536-0856-BAB141A85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/>
              <a:t>Dataset</a:t>
            </a:r>
          </a:p>
          <a:p>
            <a:pPr lvl="1"/>
            <a:r>
              <a:rPr lang="en-US" altLang="zh-CN" sz="2400" dirty="0"/>
              <a:t>Real Web service logs (U. Complutense of Madrid), 4 weeks, hourly load (req/s)</a:t>
            </a:r>
          </a:p>
          <a:p>
            <a:pPr lvl="1"/>
            <a:r>
              <a:rPr lang="en-US" altLang="zh-CN" sz="2400" dirty="0"/>
              <a:t>Train: 672 hours · Test: 24 hours (ground truth available)</a:t>
            </a:r>
          </a:p>
          <a:p>
            <a:pPr lvl="1"/>
            <a:r>
              <a:rPr lang="en-US" altLang="zh-CN" sz="2400" dirty="0"/>
              <a:t>Load scaled ×10 to emulate high traffic</a:t>
            </a:r>
          </a:p>
          <a:p>
            <a:r>
              <a:rPr lang="en-US" altLang="zh-CN" sz="2400" dirty="0"/>
              <a:t>Forecast target: Next-hour server load</a:t>
            </a:r>
          </a:p>
          <a:p>
            <a:pPr lvl="1"/>
            <a:r>
              <a:rPr lang="en-US" altLang="zh-CN" sz="1867" dirty="0"/>
              <a:t>One-step ahead: predict next-hour load (rolling)</a:t>
            </a:r>
          </a:p>
          <a:p>
            <a:pPr lvl="1"/>
            <a:r>
              <a:rPr lang="en-US" altLang="zh-CN" sz="1867" dirty="0"/>
              <a:t>Daily seasonality → lag T = 24h</a:t>
            </a:r>
          </a:p>
          <a:p>
            <a:r>
              <a:rPr lang="en-US" altLang="zh-CN" sz="2400" dirty="0"/>
              <a:t>Models compared </a:t>
            </a:r>
          </a:p>
          <a:p>
            <a:pPr lvl="1"/>
            <a:r>
              <a:rPr lang="en-US" altLang="zh-CN" sz="2400" dirty="0"/>
              <a:t>Baselines: Last value, MA(3), AR(24)</a:t>
            </a:r>
          </a:p>
          <a:p>
            <a:pPr lvl="1"/>
            <a:r>
              <a:rPr lang="en-US" altLang="zh-CN" sz="2400" dirty="0"/>
              <a:t>SVM/SVR Models Polynomial kernel (p=1)</a:t>
            </a:r>
          </a:p>
          <a:p>
            <a:pPr lvl="1"/>
            <a:r>
              <a:rPr lang="en-US" altLang="zh-CN" sz="2400" dirty="0"/>
              <a:t>Normalized polynomial kernel (p=2)</a:t>
            </a:r>
          </a:p>
          <a:p>
            <a:pPr lvl="1"/>
            <a:r>
              <a:rPr lang="en-US" altLang="zh-CN" sz="2400" dirty="0"/>
              <a:t>RBF kernel with </a:t>
            </a:r>
            <a:r>
              <a:rPr lang="zh-CN" altLang="en-US" sz="2400" dirty="0"/>
              <a:t>𝛾∈</a:t>
            </a:r>
            <a:r>
              <a:rPr lang="en-US" altLang="zh-CN" sz="2400" dirty="0"/>
              <a:t>{0.2,0.6,1.0}</a:t>
            </a:r>
            <a:endParaRPr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1DBAE0-5E8F-188E-FC38-2C8DF53B50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33543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81B8E224-6DEB-991A-D1A3-E600627C8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067" y="144461"/>
            <a:ext cx="10517721" cy="692151"/>
          </a:xfrm>
        </p:spPr>
        <p:txBody>
          <a:bodyPr/>
          <a:lstStyle/>
          <a:p>
            <a:r>
              <a:rPr lang="en-US" altLang="zh-CN" sz="3200" dirty="0"/>
              <a:t>Method3: Evaluation for Prediction</a:t>
            </a:r>
            <a:endParaRPr lang="zh-CN" altLang="en-US" sz="3200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7695DF7-4C5A-DD5E-CC58-35FEE43B0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Key observations: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D5E677-610B-3C3A-68C2-2CA574E4B5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33</a:t>
            </a:fld>
            <a:endParaRPr lang="zh-TW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80F5975-68E0-D518-64D5-6D6A87D85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68" y="1817142"/>
            <a:ext cx="7802064" cy="391532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9F8C5D2-0132-D874-6AAB-2FE4AB95103A}"/>
              </a:ext>
            </a:extLst>
          </p:cNvPr>
          <p:cNvSpPr txBox="1"/>
          <p:nvPr/>
        </p:nvSpPr>
        <p:spPr>
          <a:xfrm>
            <a:off x="8115845" y="1957035"/>
            <a:ext cx="3518943" cy="4801314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Fcast #1 to #3:last values, MA, linear regression (baseline)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#4:</a:t>
            </a:r>
            <a:r>
              <a:rPr lang="en-US" altLang="zh-CN" sz="2400" dirty="0">
                <a:latin typeface="Times New Roman" panose="02020603050405020304" pitchFamily="18" charset="0"/>
              </a:rPr>
              <a:t>Polynomial kernel </a:t>
            </a:r>
            <a:endParaRPr lang="en-US" altLang="zh-CN" sz="2400" dirty="0"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#5:Normalized polynomial kernel (p=2)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#6:RBF kernel with </a:t>
            </a:r>
            <a:r>
              <a:rPr lang="zh-CN" altLang="en-US" sz="2400" dirty="0"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𝛾</a:t>
            </a:r>
            <a:r>
              <a:rPr lang="en-US" altLang="zh-CN" sz="2400" dirty="0"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=0.2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#7:</a:t>
            </a:r>
            <a:r>
              <a:rPr lang="en-US" altLang="zh-CN" sz="2400" dirty="0">
                <a:latin typeface="Times New Roman" panose="02020603050405020304" pitchFamily="18" charset="0"/>
              </a:rPr>
              <a:t>RBF kernel with </a:t>
            </a:r>
            <a:r>
              <a:rPr lang="zh-CN" altLang="en-US" sz="2400" dirty="0">
                <a:latin typeface="Times New Roman" panose="02020603050405020304" pitchFamily="18" charset="0"/>
              </a:rPr>
              <a:t>𝛾</a:t>
            </a:r>
            <a:r>
              <a:rPr lang="en-US" altLang="zh-CN" sz="2400" dirty="0">
                <a:latin typeface="Times New Roman" panose="02020603050405020304" pitchFamily="18" charset="0"/>
              </a:rPr>
              <a:t>=0.6</a:t>
            </a:r>
          </a:p>
          <a:p>
            <a:r>
              <a:rPr lang="en-US" altLang="zh-CN" sz="2400" dirty="0">
                <a:latin typeface="Times New Roman" panose="02020603050405020304" pitchFamily="18" charset="0"/>
              </a:rPr>
              <a:t>#8:RBF kernel with </a:t>
            </a:r>
            <a:r>
              <a:rPr lang="zh-CN" altLang="en-US" sz="2400" dirty="0">
                <a:latin typeface="Times New Roman" panose="02020603050405020304" pitchFamily="18" charset="0"/>
              </a:rPr>
              <a:t>𝛾</a:t>
            </a:r>
            <a:r>
              <a:rPr lang="en-US" altLang="zh-CN" sz="2400" dirty="0">
                <a:latin typeface="Times New Roman" panose="02020603050405020304" pitchFamily="18" charset="0"/>
              </a:rPr>
              <a:t>=1.0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  <a:p>
            <a:endParaRPr lang="zh-CN" altLang="en-US" dirty="0"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D54476F-1140-700C-1207-05BA0A5C3FC0}"/>
              </a:ext>
            </a:extLst>
          </p:cNvPr>
          <p:cNvSpPr txBox="1"/>
          <p:nvPr/>
        </p:nvSpPr>
        <p:spPr>
          <a:xfrm>
            <a:off x="1117067" y="5776543"/>
            <a:ext cx="7051165" cy="52322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sz="1400" dirty="0">
                <a:ea typeface="標楷體" pitchFamily="65" charset="-120"/>
                <a:cs typeface="Calibri" pitchFamily="34" charset="0"/>
              </a:rPr>
              <a:t>Figure8. </a:t>
            </a:r>
            <a:r>
              <a:rPr lang="en-US" altLang="zh-CN" sz="1400" dirty="0"/>
              <a:t>Accuracy of different forecasting models (real prediction error for the forecasting period) </a:t>
            </a:r>
            <a:endParaRPr lang="zh-CN" altLang="en-US" sz="1400" dirty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96013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DDC1D781-5C4A-721D-85FA-F4E2CE022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Method3:Auto-Scaling Evaluation</a:t>
            </a:r>
            <a:endParaRPr lang="zh-CN" altLang="en-US" sz="3200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8790874-5E88-22C0-B6F8-E7CC5BB8A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/>
              <a:t>Use predicted load as arrival rate </a:t>
            </a:r>
            <a:r>
              <a:rPr lang="el-GR" altLang="zh-CN" sz="2400" dirty="0"/>
              <a:t>λ </a:t>
            </a:r>
            <a:r>
              <a:rPr lang="en-US" altLang="zh-CN" sz="2400" dirty="0"/>
              <a:t>to compute required backend servers c</a:t>
            </a:r>
          </a:p>
          <a:p>
            <a:pPr lvl="1"/>
            <a:r>
              <a:rPr lang="en-US" altLang="zh-CN" sz="2400" dirty="0"/>
              <a:t>Service rate per server: </a:t>
            </a:r>
            <a:r>
              <a:rPr lang="el-GR" altLang="zh-CN" sz="2400" dirty="0"/>
              <a:t>μ=200 </a:t>
            </a:r>
            <a:r>
              <a:rPr lang="en-US" altLang="zh-CN" sz="2400" dirty="0"/>
              <a:t>requests/s</a:t>
            </a:r>
          </a:p>
          <a:p>
            <a:pPr lvl="1"/>
            <a:r>
              <a:rPr lang="en-US" altLang="zh-CN" sz="2400" dirty="0"/>
              <a:t>Stability constraint: </a:t>
            </a:r>
            <a:r>
              <a:rPr lang="el-GR" altLang="zh-CN" sz="2400" dirty="0"/>
              <a:t>ρ&lt;1</a:t>
            </a:r>
            <a:endParaRPr lang="en-US" altLang="zh-CN" sz="2400" dirty="0"/>
          </a:p>
          <a:p>
            <a:pPr lvl="1"/>
            <a:r>
              <a:rPr lang="en-US" altLang="zh-CN" sz="2400" dirty="0"/>
              <a:t>SLA constraint (response time):</a:t>
            </a:r>
          </a:p>
          <a:p>
            <a:pPr lvl="2"/>
            <a:r>
              <a:rPr lang="en-US" altLang="zh-CN" sz="2400" dirty="0" err="1"/>
              <a:t>Wq</a:t>
            </a:r>
            <a:r>
              <a:rPr lang="en-US" altLang="zh-CN" sz="2400" dirty="0"/>
              <a:t>​≤2.5ms</a:t>
            </a:r>
          </a:p>
          <a:p>
            <a:pPr lvl="2"/>
            <a:r>
              <a:rPr lang="en-US" altLang="zh-CN" sz="2400" dirty="0"/>
              <a:t>W=1/</a:t>
            </a:r>
            <a:r>
              <a:rPr lang="el-GR" altLang="zh-CN" sz="2400" dirty="0"/>
              <a:t>μ+</a:t>
            </a:r>
            <a:r>
              <a:rPr lang="en-US" altLang="zh-CN" sz="2400" dirty="0"/>
              <a:t>Wq≤7.5ms</a:t>
            </a:r>
          </a:p>
          <a:p>
            <a:pPr lvl="1"/>
            <a:r>
              <a:rPr lang="en-US" altLang="zh-CN" sz="2400" dirty="0"/>
              <a:t>Compare:</a:t>
            </a:r>
          </a:p>
          <a:p>
            <a:pPr lvl="2"/>
            <a:r>
              <a:rPr lang="en-US" altLang="zh-CN" sz="2400" dirty="0"/>
              <a:t>Optimal allocation: computed from real load</a:t>
            </a:r>
          </a:p>
          <a:p>
            <a:pPr lvl="2"/>
            <a:r>
              <a:rPr lang="en-US" altLang="zh-CN" sz="2400" dirty="0"/>
              <a:t>Estimated allocation: computed from forecast load</a:t>
            </a:r>
          </a:p>
          <a:p>
            <a:pPr lvl="2"/>
            <a:r>
              <a:rPr lang="en-US" altLang="zh-CN" sz="2400" dirty="0"/>
              <a:t>Identify Over / Under / Correct provisioning</a:t>
            </a:r>
            <a:endParaRPr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788638-ED28-4C32-A150-5D480EFF38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4178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C94331C0-58ED-9AEC-630A-74C482F0E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Method3:Auto-Scaling Evaluation</a:t>
            </a:r>
            <a:endParaRPr lang="zh-CN" altLang="en-US" sz="3200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1036632-5CC5-D4D4-39C2-90E0C94B3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>
                <a:latin typeface="Times New Roman" panose="02020603050405020304" pitchFamily="18" charset="0"/>
              </a:rPr>
              <a:t>Evaluate auto-scaling quality using 3 outcomes: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</a:rPr>
              <a:t>Provisioned resources (cost proxy)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</a:rPr>
              <a:t>SLA violations: </a:t>
            </a:r>
            <a:r>
              <a:rPr lang="zh-CN" altLang="en-US" sz="2400" dirty="0">
                <a:latin typeface="Times New Roman" panose="02020603050405020304" pitchFamily="18" charset="0"/>
              </a:rPr>
              <a:t>𝑊</a:t>
            </a:r>
            <a:r>
              <a:rPr lang="en-US" altLang="zh-CN" sz="2400" dirty="0">
                <a:latin typeface="Times New Roman" panose="02020603050405020304" pitchFamily="18" charset="0"/>
              </a:rPr>
              <a:t>&gt;7.5 </a:t>
            </a:r>
            <a:r>
              <a:rPr lang="en-US" altLang="zh-CN" sz="2400" dirty="0" err="1">
                <a:latin typeface="Times New Roman" panose="02020603050405020304" pitchFamily="18" charset="0"/>
              </a:rPr>
              <a:t>ms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</a:rPr>
              <a:t>Unserved requests: timeout &gt;1s</a:t>
            </a:r>
          </a:p>
          <a:p>
            <a:r>
              <a:rPr lang="en-US" altLang="zh-CN" sz="2400" dirty="0">
                <a:latin typeface="Times New Roman" panose="02020603050405020304" pitchFamily="18" charset="0"/>
              </a:rPr>
              <a:t>Robust allocation</a:t>
            </a:r>
          </a:p>
          <a:p>
            <a:pPr marL="0" indent="0"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</a:t>
            </a:r>
          </a:p>
          <a:p>
            <a:pPr lvl="1"/>
            <a:endParaRPr lang="en-US" altLang="zh-CN" sz="2400" dirty="0">
              <a:latin typeface="Times New Roman" panose="02020603050405020304" pitchFamily="18" charset="0"/>
            </a:endParaRP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</a:rPr>
              <a:t>a more conservative arrival rate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</a:rPr>
              <a:t>Here, the expected error represent the expected forecasting uncertainty (estimated using training RMSE).</a:t>
            </a:r>
          </a:p>
          <a:p>
            <a:endParaRPr lang="en-US" altLang="zh-CN" sz="2400" dirty="0"/>
          </a:p>
          <a:p>
            <a:pPr marL="457176" lvl="1" indent="0">
              <a:buNone/>
            </a:pPr>
            <a:endParaRPr lang="en-US" altLang="zh-CN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245498-1137-BAC5-0E0B-B3EDA07F9A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35</a:t>
            </a:fld>
            <a:endParaRPr lang="zh-TW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ED501FC-0B93-6444-2053-31A2B704D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917" y="3429000"/>
            <a:ext cx="5526554" cy="793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6231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1887F2B-6B1C-007C-4983-14AE5EB9D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Method3:Auto-Scaling Evaluation</a:t>
            </a:r>
            <a:endParaRPr lang="zh-CN" altLang="en-US" sz="3200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1D7020B4-AAB6-DF2D-A289-626D5C1AE9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860796" y="1233282"/>
            <a:ext cx="4925112" cy="2943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FC0495-2D2F-ACF8-94F2-8E48ECF4D2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36</a:t>
            </a:fld>
            <a:endParaRPr lang="zh-TW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EE4ECEC-BA48-2DFD-9CC8-EA5495015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727" y="1161990"/>
            <a:ext cx="5022477" cy="308621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D1688AC2-86B1-8C8C-E629-288C0D5D3024}"/>
              </a:ext>
            </a:extLst>
          </p:cNvPr>
          <p:cNvSpPr txBox="1"/>
          <p:nvPr/>
        </p:nvSpPr>
        <p:spPr>
          <a:xfrm>
            <a:off x="657225" y="4248209"/>
            <a:ext cx="5438775" cy="2123658"/>
          </a:xfrm>
          <a:prstGeom prst="rect">
            <a:avLst/>
          </a:prstGeom>
          <a:noFill/>
        </p:spPr>
        <p:txBody>
          <a:bodyPr wrap="square" rtlCol="0" anchor="t" anchorCtr="1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</a:rPr>
              <a:t>Table 3. Percentage of SLA violations and unserved requests</a:t>
            </a:r>
          </a:p>
          <a:p>
            <a:r>
              <a:rPr lang="en-US" altLang="zh-CN" sz="1400" dirty="0">
                <a:latin typeface="Times New Roman" panose="02020603050405020304" pitchFamily="18" charset="0"/>
              </a:rPr>
              <a:t>over total number of requests for the 24 h test interval with point forecast only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SLA violations remain high (~40–50%) across all models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Unserved requests are mostly low; best cases: #5 and #8(Normalized polynomial kernel , RBF kernel with </a:t>
            </a:r>
            <a:r>
              <a:rPr lang="zh-CN" altLang="en-US" dirty="0"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𝛾</a:t>
            </a:r>
            <a:r>
              <a:rPr lang="en-US" altLang="zh-CN" dirty="0"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=1.0</a:t>
            </a:r>
            <a:endParaRPr lang="zh-CN" altLang="en-US" dirty="0"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A0A313B-F7BD-0AD4-D607-95E8515EA39D}"/>
              </a:ext>
            </a:extLst>
          </p:cNvPr>
          <p:cNvSpPr txBox="1"/>
          <p:nvPr/>
        </p:nvSpPr>
        <p:spPr>
          <a:xfrm>
            <a:off x="6238874" y="4253924"/>
            <a:ext cx="5514975" cy="156966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Table 4. Percentage of SLA violations and unserved requests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over total number of requests for the 24 h test interval with provision using forecast + 0.5 × expected error</a:t>
            </a:r>
          </a:p>
          <a:p>
            <a:endParaRPr lang="en-US" altLang="zh-CN" dirty="0"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SLA violations drop significantly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標楷體" pitchFamily="65" charset="-120"/>
                <a:cs typeface="Calibri" pitchFamily="34" charset="0"/>
              </a:rPr>
              <a:t>Best overall trade-off: #5 (Normalized polynomial kernel )</a:t>
            </a:r>
            <a:endParaRPr lang="zh-CN" altLang="en-US" dirty="0">
              <a:latin typeface="Times New Roman" panose="02020603050405020304" pitchFamily="18" charset="0"/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98923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53CBF-7D05-B829-0878-CB8371859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646A2392-990C-6FC4-4644-0074B4995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Elastic Resource Provisioning in Cloud Platforms via Workload Prediction and Performance Modeling</a:t>
            </a:r>
            <a:endParaRPr lang="zh-TW" altLang="en-US" sz="2800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EB83242-C169-4AA4-2962-C0E12B2F4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81200" y="1759101"/>
            <a:ext cx="7772400" cy="2562077"/>
          </a:xfrm>
        </p:spPr>
        <p:txBody>
          <a:bodyPr>
            <a:normAutofit/>
          </a:bodyPr>
          <a:lstStyle/>
          <a:p>
            <a:r>
              <a:rPr lang="en-US" altLang="zh-C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altLang="zh-TW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</a:t>
            </a:r>
            <a:r>
              <a:rPr lang="zh-CN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r>
              <a:rPr lang="en-US" altLang="zh-C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</a:p>
          <a:p>
            <a:r>
              <a:rPr lang="en-US" altLang="zh-C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</a:t>
            </a:r>
          </a:p>
          <a:p>
            <a:r>
              <a:rPr lang="en-US" altLang="zh-CN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DCA64E4-B6C7-C1D9-3FBF-D01C879D31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B6BDF2-6896-4B98-8776-C18582F63BA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新細明體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09429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36F6F658-9906-4107-98B6-A089F0F27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Conclusions</a:t>
            </a:r>
            <a:endParaRPr lang="zh-CN" altLang="en-US" sz="3200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7768B50-4125-4003-DBF8-3C663155F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>
                <a:latin typeface="Times New Roman" panose="02020603050405020304" pitchFamily="18" charset="0"/>
              </a:rPr>
              <a:t>Focus: proactive auto-scaling via workload prediction</a:t>
            </a: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</a:rPr>
              <a:t>Methods: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</a:rPr>
              <a:t>Traditional forecasting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</a:rPr>
              <a:t>Machine learning forecasting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</a:rPr>
              <a:t>Performance Model (Queuing theory)</a:t>
            </a:r>
          </a:p>
          <a:p>
            <a:pPr marL="457176" lvl="1" indent="0">
              <a:buNone/>
            </a:pPr>
            <a:endParaRPr lang="en-US" altLang="zh-CN" sz="2400" dirty="0">
              <a:latin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</a:rPr>
              <a:t>Findings: </a:t>
            </a:r>
            <a:r>
              <a:rPr lang="en-US" altLang="zh-CN" sz="2400" b="1" dirty="0"/>
              <a:t>E</a:t>
            </a:r>
            <a:r>
              <a:rPr lang="en-US" altLang="zh-CN" sz="2400" b="1" dirty="0">
                <a:latin typeface="Times New Roman" panose="02020603050405020304" pitchFamily="18" charset="0"/>
              </a:rPr>
              <a:t>arlier scaling, fewer SLA violations, less over-provisioning</a:t>
            </a:r>
          </a:p>
          <a:p>
            <a:pPr marL="0" indent="0">
              <a:buNone/>
            </a:pPr>
            <a:endParaRPr lang="en-US" altLang="zh-CN" sz="2400" b="1" dirty="0">
              <a:latin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</a:rPr>
              <a:t>Common future directions</a:t>
            </a:r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BA8193-F06E-8DF6-E042-B7A21DF98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48230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AD6A698-0683-0898-3D0F-B8497DFE0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References</a:t>
            </a:r>
            <a:endParaRPr lang="zh-CN" altLang="en-US" sz="3200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7871C46-8F0F-89D3-5093-3644FD6ED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/>
              <a:t>1.Yazhou Hu, Bo Deng, </a:t>
            </a:r>
            <a:r>
              <a:rPr lang="en-US" altLang="zh-CN" sz="1800" dirty="0" err="1"/>
              <a:t>Fuyang</a:t>
            </a:r>
            <a:r>
              <a:rPr lang="en-US" altLang="zh-CN" sz="1800" dirty="0"/>
              <a:t> Peng, and </a:t>
            </a:r>
            <a:r>
              <a:rPr lang="en-US" altLang="zh-CN" sz="1800" dirty="0" err="1"/>
              <a:t>Dongxia</a:t>
            </a:r>
            <a:r>
              <a:rPr lang="en-US" altLang="zh-CN" sz="1800" dirty="0"/>
              <a:t> Wang. 2016. </a:t>
            </a:r>
            <a:r>
              <a:rPr lang="en-US" altLang="zh-CN" sz="1800" i="1" dirty="0"/>
              <a:t>Workload prediction for cloud computing elasticity mechanism</a:t>
            </a:r>
            <a:r>
              <a:rPr lang="en-US" altLang="zh-CN" sz="1800" dirty="0"/>
              <a:t>. In </a:t>
            </a:r>
            <a:r>
              <a:rPr lang="en-US" altLang="zh-CN" sz="1800" b="1" dirty="0"/>
              <a:t>Proceedings of the 2016 IEEE International Conference on Cloud Computing and Big Data Analysis (ICCCBDA 2016)</a:t>
            </a:r>
            <a:r>
              <a:rPr lang="en-US" altLang="zh-CN" sz="1800" dirty="0"/>
              <a:t>, Chengdu, China, July 5–7, 2016. IEEE, 244–249. DOI: 10.1109/ICCCBDA.2016.7529565.</a:t>
            </a:r>
          </a:p>
          <a:p>
            <a:r>
              <a:rPr lang="en-US" altLang="zh-CN" sz="1800" dirty="0"/>
              <a:t>2. </a:t>
            </a:r>
            <a:r>
              <a:rPr lang="en-US" altLang="zh-CN" sz="1800" dirty="0" err="1"/>
              <a:t>Sadeka</a:t>
            </a:r>
            <a:r>
              <a:rPr lang="en-US" altLang="zh-CN" sz="1800" dirty="0"/>
              <a:t> Islam, Jacky Keung, Kevin Lee, and Anna Liu. 2012. </a:t>
            </a:r>
            <a:r>
              <a:rPr lang="en-US" altLang="zh-CN" sz="1800" i="1" dirty="0"/>
              <a:t>Empirical prediction models for adaptive resource provisioning in the cloud</a:t>
            </a:r>
            <a:r>
              <a:rPr lang="en-US" altLang="zh-CN" sz="1800" dirty="0"/>
              <a:t>. </a:t>
            </a:r>
            <a:r>
              <a:rPr lang="en-US" altLang="zh-CN" sz="1800" b="1" dirty="0"/>
              <a:t>Future Generation Computer Systems</a:t>
            </a:r>
            <a:r>
              <a:rPr lang="en-US" altLang="zh-CN" sz="1800" dirty="0"/>
              <a:t> 28, 1 (2012), 155–162. DOI: 10.1016/J.FUTURE.2011.05.027.</a:t>
            </a:r>
          </a:p>
          <a:p>
            <a:r>
              <a:rPr lang="en-US" altLang="zh-CN" sz="1800" dirty="0"/>
              <a:t>3. Rafael Moreno-</a:t>
            </a:r>
            <a:r>
              <a:rPr lang="en-US" altLang="zh-CN" sz="1800" dirty="0" err="1"/>
              <a:t>Vozmediano</a:t>
            </a:r>
            <a:r>
              <a:rPr lang="en-US" altLang="zh-CN" sz="1800" dirty="0"/>
              <a:t>, Rubén S. Montero, Eduardo </a:t>
            </a:r>
            <a:r>
              <a:rPr lang="en-US" altLang="zh-CN" sz="1800" dirty="0" err="1"/>
              <a:t>Huedo</a:t>
            </a:r>
            <a:r>
              <a:rPr lang="en-US" altLang="zh-CN" sz="1800" dirty="0"/>
              <a:t>, and Ignacio M. Llorente. 2019. Efficient resource provisioning for elastic Cloud services based on machine learning techniques. </a:t>
            </a:r>
            <a:r>
              <a:rPr lang="en-US" altLang="zh-CN" sz="1800" b="1" dirty="0"/>
              <a:t>Journal of Cloud Computing </a:t>
            </a:r>
            <a:r>
              <a:rPr lang="en-US" altLang="zh-CN" sz="1800" dirty="0"/>
              <a:t>8</a:t>
            </a:r>
            <a:r>
              <a:rPr lang="en-US" altLang="zh-CN" sz="1800" b="1" dirty="0"/>
              <a:t> </a:t>
            </a:r>
            <a:r>
              <a:rPr lang="en-US" altLang="zh-CN" sz="1800" dirty="0"/>
              <a:t>(2019), Article 5. DOI: 10.1186/s13677-019-0128-9.</a:t>
            </a:r>
          </a:p>
          <a:p>
            <a:r>
              <a:rPr lang="en-US" altLang="zh-CN" sz="1800" dirty="0"/>
              <a:t>4. Günther A. Hoffmann, Kishor S. Trivedi, and Miroslaw Malek. 2007. A Best Practice Guide to Resource Forecasting for Computing Systems. </a:t>
            </a:r>
            <a:r>
              <a:rPr lang="en-US" altLang="zh-CN" sz="1800" b="1" dirty="0"/>
              <a:t>IEEE Transactions on Reliability </a:t>
            </a:r>
            <a:r>
              <a:rPr lang="en-US" altLang="zh-CN" sz="1800" dirty="0"/>
              <a:t>56, 4 (2007), 615–628. DOI: 10.1109/TR.2007.909764.</a:t>
            </a:r>
          </a:p>
          <a:p>
            <a:r>
              <a:rPr lang="en-US" altLang="zh-CN" sz="1800" dirty="0"/>
              <a:t>5. Arijit Khan, Xifeng Yan, Shu Tao, and Nikos </a:t>
            </a:r>
            <a:r>
              <a:rPr lang="en-US" altLang="zh-CN" sz="1800" dirty="0" err="1"/>
              <a:t>Anerousis</a:t>
            </a:r>
            <a:r>
              <a:rPr lang="en-US" altLang="zh-CN" sz="1800" dirty="0"/>
              <a:t>. 2012. </a:t>
            </a:r>
            <a:r>
              <a:rPr lang="en-US" altLang="zh-CN" sz="1800" i="1" dirty="0"/>
              <a:t>Workload characterization and prediction in the cloud: A multiple time series approach</a:t>
            </a:r>
            <a:r>
              <a:rPr lang="en-US" altLang="zh-CN" sz="1800" dirty="0"/>
              <a:t>. In </a:t>
            </a:r>
            <a:r>
              <a:rPr lang="en-US" altLang="zh-CN" sz="1800" b="1" dirty="0"/>
              <a:t>Proceedings of the 2012 IEEE/IFIP Network Operations and Management Symposium (NOMS 2012)</a:t>
            </a:r>
            <a:r>
              <a:rPr lang="en-US" altLang="zh-CN" sz="1800" dirty="0"/>
              <a:t>, Maui, Hawaii, USA, April 16–20, 2012. IEEE, 1287–1294. DOI: 10.1109/NOMS.2012.6212065. 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F767CB-AC76-A046-2998-CF336CC28F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6976308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19775</TotalTime>
  <Words>2722</Words>
  <Application>Microsoft Office PowerPoint</Application>
  <PresentationFormat>宽屏</PresentationFormat>
  <Paragraphs>372</Paragraphs>
  <Slides>39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39</vt:i4>
      </vt:variant>
    </vt:vector>
  </HeadingPairs>
  <TitlesOfParts>
    <vt:vector size="51" baseType="lpstr">
      <vt:lpstr>標楷體</vt:lpstr>
      <vt:lpstr>MS Sans Serif</vt:lpstr>
      <vt:lpstr>新細明體</vt:lpstr>
      <vt:lpstr>楷体</vt:lpstr>
      <vt:lpstr>Arial</vt:lpstr>
      <vt:lpstr>Calibri</vt:lpstr>
      <vt:lpstr>Calibri Light</vt:lpstr>
      <vt:lpstr>Cambria Math</vt:lpstr>
      <vt:lpstr>Times New Roman</vt:lpstr>
      <vt:lpstr>Wingdings</vt:lpstr>
      <vt:lpstr>NTHU UniCloud</vt:lpstr>
      <vt:lpstr>自訂設計</vt:lpstr>
      <vt:lpstr>Elastic Resource Provisioning in Cloud Platforms via Workload Prediction and Performance Modeling</vt:lpstr>
      <vt:lpstr>Outline</vt:lpstr>
      <vt:lpstr>Elastic Resource Provisioning in Cloud Platforms via Workload Prediction and Performance Modeling</vt:lpstr>
      <vt:lpstr>Introduction -Elasticity in Cloud Computing</vt:lpstr>
      <vt:lpstr>Introduction –The Core Challenge</vt:lpstr>
      <vt:lpstr>Introduction -Why Prediction Is Necessary</vt:lpstr>
      <vt:lpstr>Introduction-What we want to do</vt:lpstr>
      <vt:lpstr>Elastic Resource Provisioning in Cloud Platforms via Workload Prediction and Performance Modeling</vt:lpstr>
      <vt:lpstr>Related work(1/3)</vt:lpstr>
      <vt:lpstr>Related Work(2/3)</vt:lpstr>
      <vt:lpstr>Related Work(3/3)</vt:lpstr>
      <vt:lpstr>Elastic Resource Provisioning in Cloud Platforms via Workload Prediction and Performance Modeling</vt:lpstr>
      <vt:lpstr>Method1: Traditional Forecasting(Time Series) (1/2)</vt:lpstr>
      <vt:lpstr>Method1: Traditional forecasting(Time Series)(2/2) </vt:lpstr>
      <vt:lpstr>Method1:Traditional Forecasting(Kalman Filter)</vt:lpstr>
      <vt:lpstr>Method1:Traditional Forecasting(Pattern Matching)</vt:lpstr>
      <vt:lpstr>Method1:Traditional Forecasting(Pattern Matching)</vt:lpstr>
      <vt:lpstr>Method1:Traditional Forecasting(Triggering Strategy)</vt:lpstr>
      <vt:lpstr>Method2:Neural Network +Linear Regression</vt:lpstr>
      <vt:lpstr>Method3:ML + Queuing Theory: Prediction (1/2)</vt:lpstr>
      <vt:lpstr>Method3:ML + Queuing Theory: Prediction (2/2)</vt:lpstr>
      <vt:lpstr>Method3:ML+ Queuing Theory：Performance Model(1/3)</vt:lpstr>
      <vt:lpstr>Method3:ML+ Queuing Theory：Performance Model(2/3)</vt:lpstr>
      <vt:lpstr>Method3:ML+ Queuing Theory：Performance Model(3/3)</vt:lpstr>
      <vt:lpstr>Elastic Resource Provisioning in Cloud Platforms via Workload Prediction and Performance Modeling</vt:lpstr>
      <vt:lpstr>Method1:Experiment Setup</vt:lpstr>
      <vt:lpstr>Method1:Evaluation  Summary</vt:lpstr>
      <vt:lpstr>Method1:Quantitative Results + Scaling Benefit</vt:lpstr>
      <vt:lpstr>Method2: Experiment Setup</vt:lpstr>
      <vt:lpstr>Method2: Key Observation</vt:lpstr>
      <vt:lpstr>  Method2:Sliding Window Impact &amp; Sensitivity Analysis </vt:lpstr>
      <vt:lpstr>Method3:Experiment Setup</vt:lpstr>
      <vt:lpstr>Method3: Evaluation for Prediction</vt:lpstr>
      <vt:lpstr>Method3:Auto-Scaling Evaluation</vt:lpstr>
      <vt:lpstr>Method3:Auto-Scaling Evaluation</vt:lpstr>
      <vt:lpstr>Method3:Auto-Scaling Evaluation</vt:lpstr>
      <vt:lpstr>Elastic Resource Provisioning in Cloud Platforms via Workload Prediction and Performance Modeling</vt:lpstr>
      <vt:lpstr>Conclusions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香港中文大学(深圳)数据科学院 School of Data Science</dc:title>
  <dc:creator>Windows 使用者</dc:creator>
  <cp:lastModifiedBy>qixu chen</cp:lastModifiedBy>
  <cp:revision>32</cp:revision>
  <dcterms:created xsi:type="dcterms:W3CDTF">2020-07-15T11:13:39Z</dcterms:created>
  <dcterms:modified xsi:type="dcterms:W3CDTF">2026-02-03T08:59:00Z</dcterms:modified>
</cp:coreProperties>
</file>