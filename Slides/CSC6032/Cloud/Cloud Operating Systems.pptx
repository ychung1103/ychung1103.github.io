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668" y="1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26262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26262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26262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031" y="6197203"/>
            <a:ext cx="446484" cy="455414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50718" y="5214937"/>
            <a:ext cx="892968" cy="60721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8241" y="4277320"/>
            <a:ext cx="651867" cy="901898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2171" y="232171"/>
            <a:ext cx="8688585" cy="9911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0" i="0">
                <a:solidFill>
                  <a:srgbClr val="26262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50031" y="6197203"/>
            <a:ext cx="446484" cy="4554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1243" y="2694483"/>
            <a:ext cx="7161513" cy="382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0" i="0">
                <a:solidFill>
                  <a:srgbClr val="262626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43853" y="3002062"/>
            <a:ext cx="5002530" cy="28721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2.png"/><Relationship Id="rId5" Type="http://schemas.openxmlformats.org/officeDocument/2006/relationships/image" Target="../media/image31.jpg"/><Relationship Id="rId4" Type="http://schemas.openxmlformats.org/officeDocument/2006/relationships/image" Target="../media/image30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jpg"/><Relationship Id="rId7" Type="http://schemas.openxmlformats.org/officeDocument/2006/relationships/image" Target="../media/image40.pn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9.png"/><Relationship Id="rId11" Type="http://schemas.openxmlformats.org/officeDocument/2006/relationships/image" Target="../media/image42.jpg"/><Relationship Id="rId5" Type="http://schemas.openxmlformats.org/officeDocument/2006/relationships/image" Target="../media/image38.png"/><Relationship Id="rId10" Type="http://schemas.openxmlformats.org/officeDocument/2006/relationships/hyperlink" Target="http://www.darkr&#239;dge.com/jpr%24/doc/gnuteIla.html" TargetMode="External"/><Relationship Id="rId4" Type="http://schemas.openxmlformats.org/officeDocument/2006/relationships/image" Target="../media/image37.png"/><Relationship Id="rId9" Type="http://schemas.openxmlformats.org/officeDocument/2006/relationships/hyperlink" Target="http://setJathome.berkeley.adu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45" y="133945"/>
            <a:ext cx="8885039" cy="61704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05370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48492" y="2674639"/>
            <a:ext cx="1630045" cy="3530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150" dirty="0">
                <a:solidFill>
                  <a:srgbClr val="60BADF"/>
                </a:solidFill>
              </a:rPr>
              <a:t>*</a:t>
            </a:r>
            <a:r>
              <a:rPr sz="2150" spc="45" dirty="0">
                <a:solidFill>
                  <a:srgbClr val="60BADF"/>
                </a:solidFill>
              </a:rPr>
              <a:t>  </a:t>
            </a:r>
            <a:r>
              <a:rPr sz="2150" spc="-40" dirty="0">
                <a:solidFill>
                  <a:srgbClr val="2A2A2A"/>
                </a:solidFill>
              </a:rPr>
              <a:t>Introduction</a:t>
            </a:r>
            <a:endParaRPr sz="2150"/>
          </a:p>
        </p:txBody>
      </p:sp>
      <p:sp>
        <p:nvSpPr>
          <p:cNvPr id="4" name="object 4"/>
          <p:cNvSpPr txBox="1"/>
          <p:nvPr/>
        </p:nvSpPr>
        <p:spPr>
          <a:xfrm>
            <a:off x="943853" y="3002062"/>
            <a:ext cx="5002530" cy="287210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292100" indent="-279400">
              <a:lnSpc>
                <a:spcPct val="100000"/>
              </a:lnSpc>
              <a:spcBef>
                <a:spcPts val="400"/>
              </a:spcBef>
              <a:buClr>
                <a:srgbClr val="59A8D1"/>
              </a:buClr>
              <a:buChar char="•"/>
              <a:tabLst>
                <a:tab pos="292100" algn="l"/>
              </a:tabLst>
            </a:pPr>
            <a:r>
              <a:rPr sz="2150" spc="-10" dirty="0">
                <a:solidFill>
                  <a:srgbClr val="313131"/>
                </a:solidFill>
                <a:latin typeface="Calibri"/>
                <a:cs typeface="Calibri"/>
              </a:rPr>
              <a:t>Definitions</a:t>
            </a:r>
            <a:endParaRPr sz="2150">
              <a:latin typeface="Calibri"/>
              <a:cs typeface="Calibri"/>
            </a:endParaRPr>
          </a:p>
          <a:p>
            <a:pPr marL="293370" indent="-280670">
              <a:lnSpc>
                <a:spcPct val="100000"/>
              </a:lnSpc>
              <a:spcBef>
                <a:spcPts val="305"/>
              </a:spcBef>
              <a:buClr>
                <a:srgbClr val="4F9ABA"/>
              </a:buClr>
              <a:buChar char="•"/>
              <a:tabLst>
                <a:tab pos="293370" algn="l"/>
              </a:tabLst>
            </a:pPr>
            <a:r>
              <a:rPr sz="2150" spc="-35" dirty="0">
                <a:solidFill>
                  <a:srgbClr val="282828"/>
                </a:solidFill>
                <a:latin typeface="Calibri"/>
                <a:cs typeface="Calibri"/>
              </a:rPr>
              <a:t>Cloud</a:t>
            </a:r>
            <a:r>
              <a:rPr sz="2150" spc="-9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2150" spc="-25" dirty="0">
                <a:solidFill>
                  <a:srgbClr val="363636"/>
                </a:solidFill>
                <a:latin typeface="Calibri"/>
                <a:cs typeface="Calibri"/>
              </a:rPr>
              <a:t>Operating</a:t>
            </a:r>
            <a:r>
              <a:rPr sz="2150" spc="-1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150" spc="-10" dirty="0">
                <a:solidFill>
                  <a:srgbClr val="213454"/>
                </a:solidFill>
                <a:latin typeface="Calibri"/>
                <a:cs typeface="Calibri"/>
              </a:rPr>
              <a:t>Systems</a:t>
            </a:r>
            <a:endParaRPr sz="2150">
              <a:latin typeface="Calibri"/>
              <a:cs typeface="Calibri"/>
            </a:endParaRPr>
          </a:p>
          <a:p>
            <a:pPr marL="596900" lvl="1" indent="-274955">
              <a:lnSpc>
                <a:spcPct val="100000"/>
              </a:lnSpc>
              <a:spcBef>
                <a:spcPts val="170"/>
              </a:spcBef>
              <a:buClr>
                <a:srgbClr val="7CAABA"/>
              </a:buClr>
              <a:buChar char="*"/>
              <a:tabLst>
                <a:tab pos="596900" algn="l"/>
              </a:tabLst>
            </a:pPr>
            <a:r>
              <a:rPr sz="2000" spc="-10" dirty="0">
                <a:solidFill>
                  <a:srgbClr val="2D2D2D"/>
                </a:solidFill>
                <a:latin typeface="Calibri"/>
                <a:cs typeface="Calibri"/>
              </a:rPr>
              <a:t>Paradigm</a:t>
            </a:r>
            <a:endParaRPr sz="2000">
              <a:latin typeface="Calibri"/>
              <a:cs typeface="Calibri"/>
            </a:endParaRPr>
          </a:p>
          <a:p>
            <a:pPr marL="596265" lvl="1" indent="-273685">
              <a:lnSpc>
                <a:spcPct val="100000"/>
              </a:lnSpc>
              <a:spcBef>
                <a:spcPts val="254"/>
              </a:spcBef>
              <a:buClr>
                <a:srgbClr val="70BFDD"/>
              </a:buClr>
              <a:buChar char="*"/>
              <a:tabLst>
                <a:tab pos="596265" algn="l"/>
              </a:tabLst>
            </a:pPr>
            <a:r>
              <a:rPr sz="1950" spc="-10" dirty="0">
                <a:solidFill>
                  <a:srgbClr val="36485B"/>
                </a:solidFill>
                <a:latin typeface="Calibri"/>
                <a:cs typeface="Calibri"/>
              </a:rPr>
              <a:t>Architecture</a:t>
            </a:r>
            <a:endParaRPr sz="1950">
              <a:latin typeface="Calibri"/>
              <a:cs typeface="Calibri"/>
            </a:endParaRPr>
          </a:p>
          <a:p>
            <a:pPr marL="293370">
              <a:lnSpc>
                <a:spcPct val="100000"/>
              </a:lnSpc>
              <a:spcBef>
                <a:spcPts val="405"/>
              </a:spcBef>
            </a:pPr>
            <a:r>
              <a:rPr sz="2050" spc="-10" dirty="0">
                <a:solidFill>
                  <a:srgbClr val="1A2F46"/>
                </a:solidFill>
                <a:latin typeface="Calibri"/>
                <a:cs typeface="Calibri"/>
              </a:rPr>
              <a:t>Challenges</a:t>
            </a:r>
            <a:endParaRPr sz="205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475"/>
              </a:spcBef>
              <a:tabLst>
                <a:tab pos="294005" algn="l"/>
              </a:tabLst>
            </a:pPr>
            <a:r>
              <a:rPr sz="2000" spc="-50" dirty="0">
                <a:solidFill>
                  <a:srgbClr val="85D4F4"/>
                </a:solidFill>
                <a:latin typeface="Calibri"/>
                <a:cs typeface="Calibri"/>
              </a:rPr>
              <a:t>*</a:t>
            </a:r>
            <a:r>
              <a:rPr sz="2000" dirty="0">
                <a:solidFill>
                  <a:srgbClr val="85D4F4"/>
                </a:solidFill>
                <a:latin typeface="Calibri"/>
                <a:cs typeface="Calibri"/>
              </a:rPr>
              <a:t>	</a:t>
            </a:r>
            <a:r>
              <a:rPr sz="2000" dirty="0">
                <a:solidFill>
                  <a:srgbClr val="2D3852"/>
                </a:solidFill>
                <a:latin typeface="Calibri"/>
                <a:cs typeface="Calibri"/>
              </a:rPr>
              <a:t>Current</a:t>
            </a:r>
            <a:r>
              <a:rPr sz="2000" spc="200" dirty="0">
                <a:solidFill>
                  <a:srgbClr val="2D38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D2D69"/>
                </a:solidFill>
                <a:latin typeface="Calibri"/>
                <a:cs typeface="Calibri"/>
              </a:rPr>
              <a:t>Cloud</a:t>
            </a:r>
            <a:r>
              <a:rPr sz="2000" spc="100" dirty="0">
                <a:solidFill>
                  <a:srgbClr val="1D2D6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C2D46"/>
                </a:solidFill>
                <a:latin typeface="Calibri"/>
                <a:cs typeface="Calibri"/>
              </a:rPr>
              <a:t>Operating</a:t>
            </a:r>
            <a:r>
              <a:rPr sz="2000" spc="235" dirty="0">
                <a:solidFill>
                  <a:srgbClr val="1C2D46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262626"/>
                </a:solidFill>
                <a:latin typeface="Calibri"/>
                <a:cs typeface="Calibri"/>
              </a:rPr>
              <a:t>Systems</a:t>
            </a:r>
            <a:r>
              <a:rPr sz="2000" spc="1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D3D3D"/>
                </a:solidFill>
                <a:latin typeface="Calibri"/>
                <a:cs typeface="Calibri"/>
              </a:rPr>
              <a:t>(Samples)</a:t>
            </a:r>
            <a:endParaRPr sz="2000">
              <a:latin typeface="Calibri"/>
              <a:cs typeface="Calibri"/>
            </a:endParaRPr>
          </a:p>
          <a:p>
            <a:pPr marL="294005" indent="-280035">
              <a:lnSpc>
                <a:spcPct val="100000"/>
              </a:lnSpc>
              <a:spcBef>
                <a:spcPts val="445"/>
              </a:spcBef>
              <a:buClr>
                <a:srgbClr val="5DB5DB"/>
              </a:buClr>
              <a:buChar char="•"/>
              <a:tabLst>
                <a:tab pos="294005" algn="l"/>
              </a:tabLst>
            </a:pPr>
            <a:r>
              <a:rPr sz="2000" spc="-10" dirty="0">
                <a:solidFill>
                  <a:srgbClr val="1D3154"/>
                </a:solidFill>
                <a:latin typeface="Calibri"/>
                <a:cs typeface="Calibri"/>
              </a:rPr>
              <a:t>Conclusion</a:t>
            </a:r>
            <a:endParaRPr sz="2000">
              <a:latin typeface="Calibri"/>
              <a:cs typeface="Calibri"/>
            </a:endParaRPr>
          </a:p>
          <a:p>
            <a:pPr marL="292735">
              <a:lnSpc>
                <a:spcPct val="100000"/>
              </a:lnSpc>
              <a:spcBef>
                <a:spcPts val="434"/>
              </a:spcBef>
            </a:pPr>
            <a:r>
              <a:rPr sz="2050" spc="-10" dirty="0">
                <a:solidFill>
                  <a:srgbClr val="243B52"/>
                </a:solidFill>
                <a:latin typeface="Calibri"/>
                <a:cs typeface="Calibri"/>
              </a:rPr>
              <a:t>References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1654" y="6434906"/>
            <a:ext cx="314769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r>
              <a:rPr sz="1050" spc="-25" dirty="0">
                <a:solidFill>
                  <a:srgbClr val="2A2A2A"/>
                </a:solidFill>
                <a:latin typeface="Calibri"/>
                <a:cs typeface="Calibri"/>
              </a:rPr>
              <a:t>Mazandaran</a:t>
            </a:r>
            <a:r>
              <a:rPr sz="1050" spc="-3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B4B4B"/>
                </a:solidFill>
                <a:latin typeface="Calibri"/>
                <a:cs typeface="Calibri"/>
              </a:rPr>
              <a:t>University</a:t>
            </a:r>
            <a:r>
              <a:rPr sz="1050" spc="-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B5B5B"/>
                </a:solidFill>
                <a:latin typeface="Calibri"/>
                <a:cs typeface="Calibri"/>
              </a:rPr>
              <a:t>of </a:t>
            </a:r>
            <a:r>
              <a:rPr sz="1050" spc="-20" dirty="0">
                <a:solidFill>
                  <a:srgbClr val="262626"/>
                </a:solidFill>
                <a:latin typeface="Calibri"/>
                <a:cs typeface="Calibri"/>
              </a:rPr>
              <a:t>Science</a:t>
            </a:r>
            <a:r>
              <a:rPr sz="105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1050" spc="-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13131"/>
                </a:solidFill>
                <a:latin typeface="Calibri"/>
                <a:cs typeface="Calibri"/>
              </a:rPr>
              <a:t>Technology</a:t>
            </a:r>
            <a:r>
              <a:rPr sz="1050" spc="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A3A3A"/>
                </a:solidFill>
                <a:latin typeface="Calibri"/>
                <a:cs typeface="Calibri"/>
              </a:rPr>
              <a:t>(MUSf)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1654" y="6248995"/>
            <a:ext cx="253682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5" dirty="0">
                <a:solidFill>
                  <a:srgbClr val="484848"/>
                </a:solidFill>
                <a:latin typeface="Calibri"/>
                <a:cs typeface="Calibri"/>
              </a:rPr>
              <a:t>Milad</a:t>
            </a:r>
            <a:r>
              <a:rPr sz="1050" spc="-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343434"/>
                </a:solidFill>
                <a:latin typeface="Calibri"/>
                <a:cs typeface="Calibri"/>
              </a:rPr>
              <a:t>Jalalimehr</a:t>
            </a:r>
            <a:r>
              <a:rPr sz="1050" spc="-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39393"/>
                </a:solidFill>
                <a:latin typeface="Calibri"/>
                <a:cs typeface="Calibri"/>
              </a:rPr>
              <a:t>-</a:t>
            </a:r>
            <a:r>
              <a:rPr sz="1050" spc="105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94949"/>
                </a:solidFill>
                <a:latin typeface="Calibri"/>
                <a:cs typeface="Calibri"/>
              </a:rPr>
              <a:t>Operating</a:t>
            </a:r>
            <a:r>
              <a:rPr sz="1050" spc="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D2D2D"/>
                </a:solidFill>
                <a:latin typeface="Calibri"/>
                <a:cs typeface="Calibri"/>
              </a:rPr>
              <a:t>System</a:t>
            </a:r>
            <a:r>
              <a:rPr sz="1050" spc="-2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05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4646"/>
                </a:solidFill>
                <a:latin typeface="Calibri"/>
                <a:cs typeface="Calibri"/>
              </a:rPr>
              <a:t>Clouds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63646" y="6319688"/>
            <a:ext cx="396240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55" dirty="0">
                <a:solidFill>
                  <a:srgbClr val="4F5975"/>
                </a:solidFill>
                <a:latin typeface="Calibri"/>
                <a:cs typeface="Calibri"/>
              </a:rPr>
              <a:t>2</a:t>
            </a:r>
            <a:r>
              <a:rPr sz="1200" spc="45" dirty="0">
                <a:solidFill>
                  <a:srgbClr val="4F5975"/>
                </a:solidFill>
                <a:latin typeface="Calibri"/>
                <a:cs typeface="Calibri"/>
              </a:rPr>
              <a:t> </a:t>
            </a:r>
            <a:r>
              <a:rPr sz="1200" spc="-125" dirty="0">
                <a:solidFill>
                  <a:srgbClr val="6B6B6B"/>
                </a:solidFill>
                <a:latin typeface="Calibri"/>
                <a:cs typeface="Calibri"/>
              </a:rPr>
              <a:t>/</a:t>
            </a:r>
            <a:r>
              <a:rPr sz="1200" spc="-20" dirty="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sz="1200" spc="25" dirty="0">
                <a:solidFill>
                  <a:srgbClr val="333333"/>
                </a:solidFill>
                <a:latin typeface="Calibri"/>
                <a:cs typeface="Calibri"/>
              </a:rPr>
              <a:t>18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1965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3789" y="2694483"/>
            <a:ext cx="3428365" cy="15646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1305" indent="-268605">
              <a:lnSpc>
                <a:spcPct val="100000"/>
              </a:lnSpc>
              <a:spcBef>
                <a:spcPts val="90"/>
              </a:spcBef>
              <a:buClr>
                <a:srgbClr val="5DAADB"/>
              </a:buClr>
              <a:buChar char="•"/>
              <a:tabLst>
                <a:tab pos="281305" algn="l"/>
              </a:tabLst>
            </a:pPr>
            <a:r>
              <a:rPr sz="2350" spc="-10" dirty="0">
                <a:solidFill>
                  <a:srgbClr val="1C3D66"/>
                </a:solidFill>
                <a:latin typeface="Arial"/>
                <a:cs typeface="Arial"/>
              </a:rPr>
              <a:t>Definitions:</a:t>
            </a:r>
            <a:endParaRPr sz="2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Clr>
                <a:srgbClr val="5DAADB"/>
              </a:buClr>
              <a:buFont typeface="Arial"/>
              <a:buChar char="•"/>
            </a:pPr>
            <a:endParaRPr sz="2350">
              <a:latin typeface="Arial"/>
              <a:cs typeface="Arial"/>
            </a:endParaRPr>
          </a:p>
          <a:p>
            <a:pPr marL="864869" lvl="1" indent="-226060">
              <a:lnSpc>
                <a:spcPct val="100000"/>
              </a:lnSpc>
              <a:buClr>
                <a:srgbClr val="5BBADD"/>
              </a:buClr>
              <a:buChar char="•"/>
              <a:tabLst>
                <a:tab pos="864869" algn="l"/>
              </a:tabLst>
            </a:pPr>
            <a:r>
              <a:rPr sz="2100" spc="-65" dirty="0">
                <a:solidFill>
                  <a:srgbClr val="2F2F2F"/>
                </a:solidFill>
                <a:latin typeface="Arial"/>
                <a:cs typeface="Arial"/>
              </a:rPr>
              <a:t>Distributed</a:t>
            </a:r>
            <a:r>
              <a:rPr sz="2100" spc="-3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2100" spc="-165" dirty="0">
                <a:solidFill>
                  <a:srgbClr val="2D3D4F"/>
                </a:solidFill>
                <a:latin typeface="Arial"/>
                <a:cs typeface="Arial"/>
              </a:rPr>
              <a:t>System</a:t>
            </a:r>
            <a:r>
              <a:rPr sz="2100" spc="-100" dirty="0">
                <a:solidFill>
                  <a:srgbClr val="2D3D4F"/>
                </a:solidFill>
                <a:latin typeface="Arial"/>
                <a:cs typeface="Arial"/>
              </a:rPr>
              <a:t> </a:t>
            </a:r>
            <a:r>
              <a:rPr sz="2100" spc="-140" dirty="0">
                <a:solidFill>
                  <a:srgbClr val="26385E"/>
                </a:solidFill>
                <a:latin typeface="Arial"/>
                <a:cs typeface="Arial"/>
              </a:rPr>
              <a:t>(DS)</a:t>
            </a:r>
            <a:endParaRPr sz="2100">
              <a:latin typeface="Arial"/>
              <a:cs typeface="Arial"/>
            </a:endParaRPr>
          </a:p>
          <a:p>
            <a:pPr marL="862965" lvl="1" indent="-224154">
              <a:lnSpc>
                <a:spcPct val="100000"/>
              </a:lnSpc>
              <a:spcBef>
                <a:spcPts val="360"/>
              </a:spcBef>
              <a:buClr>
                <a:srgbClr val="62A5BF"/>
              </a:buClr>
              <a:buChar char="•"/>
              <a:tabLst>
                <a:tab pos="862965" algn="l"/>
              </a:tabLst>
            </a:pPr>
            <a:r>
              <a:rPr sz="2100" spc="-10" dirty="0">
                <a:solidFill>
                  <a:srgbClr val="242424"/>
                </a:solidFill>
                <a:latin typeface="Arial"/>
                <a:cs typeface="Arial"/>
              </a:rPr>
              <a:t>Cloud</a:t>
            </a:r>
            <a:endParaRPr sz="2100">
              <a:latin typeface="Arial"/>
              <a:cs typeface="Arial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05945" y="4330898"/>
            <a:ext cx="3241476" cy="148232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62880" y="6413723"/>
            <a:ext cx="3138805" cy="178435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050" spc="-85" dirty="0">
                <a:solidFill>
                  <a:srgbClr val="2A2A2A"/>
                </a:solidFill>
                <a:latin typeface="Arial"/>
                <a:cs typeface="Arial"/>
              </a:rPr>
              <a:t>Mazandaran</a:t>
            </a:r>
            <a:r>
              <a:rPr sz="1050" spc="-15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4B4B4B"/>
                </a:solidFill>
                <a:latin typeface="Arial"/>
                <a:cs typeface="Arial"/>
              </a:rPr>
              <a:t>University</a:t>
            </a:r>
            <a:r>
              <a:rPr sz="1050" spc="45" dirty="0">
                <a:solidFill>
                  <a:srgbClr val="4B4B4B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5B5B5B"/>
                </a:solidFill>
                <a:latin typeface="Arial"/>
                <a:cs typeface="Arial"/>
              </a:rPr>
              <a:t>of</a:t>
            </a:r>
            <a:r>
              <a:rPr sz="1050" spc="5" dirty="0">
                <a:solidFill>
                  <a:srgbClr val="5B5B5B"/>
                </a:solidFill>
                <a:latin typeface="Arial"/>
                <a:cs typeface="Arial"/>
              </a:rPr>
              <a:t> </a:t>
            </a:r>
            <a:r>
              <a:rPr sz="1050" spc="-110" dirty="0">
                <a:solidFill>
                  <a:srgbClr val="262626"/>
                </a:solidFill>
                <a:latin typeface="Arial"/>
                <a:cs typeface="Arial"/>
              </a:rPr>
              <a:t>Science</a:t>
            </a:r>
            <a:r>
              <a:rPr sz="105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050" spc="-85" dirty="0">
                <a:solidFill>
                  <a:srgbClr val="2F2F2F"/>
                </a:solidFill>
                <a:latin typeface="Arial"/>
                <a:cs typeface="Arial"/>
              </a:rPr>
              <a:t>and</a:t>
            </a:r>
            <a:r>
              <a:rPr sz="1050" spc="-5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050" spc="-70" dirty="0">
                <a:solidFill>
                  <a:srgbClr val="313131"/>
                </a:solidFill>
                <a:latin typeface="Arial"/>
                <a:cs typeface="Arial"/>
              </a:rPr>
              <a:t>Technology</a:t>
            </a:r>
            <a:r>
              <a:rPr sz="1050" spc="2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3A3A3A"/>
                </a:solidFill>
                <a:latin typeface="Arial"/>
                <a:cs typeface="Arial"/>
              </a:rPr>
              <a:t>(MUSf)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880" y="6248995"/>
            <a:ext cx="252920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60" dirty="0">
                <a:solidFill>
                  <a:srgbClr val="484848"/>
                </a:solidFill>
                <a:latin typeface="Arial"/>
                <a:cs typeface="Arial"/>
              </a:rPr>
              <a:t>Milad</a:t>
            </a:r>
            <a:r>
              <a:rPr sz="1050" spc="-65" dirty="0">
                <a:solidFill>
                  <a:srgbClr val="484848"/>
                </a:solidFill>
                <a:latin typeface="Arial"/>
                <a:cs typeface="Arial"/>
              </a:rPr>
              <a:t> </a:t>
            </a:r>
            <a:r>
              <a:rPr sz="1050" spc="-65" dirty="0">
                <a:solidFill>
                  <a:srgbClr val="343434"/>
                </a:solidFill>
                <a:latin typeface="Arial"/>
                <a:cs typeface="Arial"/>
              </a:rPr>
              <a:t>Jalalimehr</a:t>
            </a:r>
            <a:r>
              <a:rPr sz="1050" dirty="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939393"/>
                </a:solidFill>
                <a:latin typeface="Arial"/>
                <a:cs typeface="Arial"/>
              </a:rPr>
              <a:t>-</a:t>
            </a:r>
            <a:r>
              <a:rPr sz="1050" spc="90" dirty="0">
                <a:solidFill>
                  <a:srgbClr val="939393"/>
                </a:solidFill>
                <a:latin typeface="Arial"/>
                <a:cs typeface="Arial"/>
              </a:rPr>
              <a:t> </a:t>
            </a:r>
            <a:r>
              <a:rPr sz="1050" spc="-55" dirty="0">
                <a:solidFill>
                  <a:srgbClr val="494949"/>
                </a:solidFill>
                <a:latin typeface="Arial"/>
                <a:cs typeface="Arial"/>
              </a:rPr>
              <a:t>Operating</a:t>
            </a:r>
            <a:r>
              <a:rPr sz="1050" spc="-30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050" spc="-85" dirty="0">
                <a:solidFill>
                  <a:srgbClr val="2D2D2D"/>
                </a:solidFill>
                <a:latin typeface="Arial"/>
                <a:cs typeface="Arial"/>
              </a:rPr>
              <a:t>System</a:t>
            </a:r>
            <a:r>
              <a:rPr sz="1050" spc="1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3F3F3F"/>
                </a:solidFill>
                <a:latin typeface="Arial"/>
                <a:cs typeface="Arial"/>
              </a:rPr>
              <a:t>for</a:t>
            </a:r>
            <a:r>
              <a:rPr sz="1050" spc="-25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050" spc="-55" dirty="0">
                <a:solidFill>
                  <a:srgbClr val="464646"/>
                </a:solidFill>
                <a:latin typeface="Arial"/>
                <a:cs typeface="Arial"/>
              </a:rPr>
              <a:t>Clouds</a:t>
            </a:r>
            <a:endParaRPr sz="1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65828" y="6313487"/>
            <a:ext cx="39243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60" dirty="0">
                <a:solidFill>
                  <a:srgbClr val="627995"/>
                </a:solidFill>
                <a:latin typeface="Arial"/>
                <a:cs typeface="Arial"/>
              </a:rPr>
              <a:t>§</a:t>
            </a:r>
            <a:r>
              <a:rPr sz="1250" spc="-30" dirty="0">
                <a:solidFill>
                  <a:srgbClr val="627995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3D3D3D"/>
                </a:solidFill>
                <a:latin typeface="Arial"/>
                <a:cs typeface="Arial"/>
              </a:rPr>
              <a:t>/</a:t>
            </a:r>
            <a:r>
              <a:rPr sz="1250" spc="-12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250" spc="-25" dirty="0">
                <a:solidFill>
                  <a:srgbClr val="2A2A2A"/>
                </a:solidFill>
                <a:latin typeface="Arial"/>
                <a:cs typeface="Arial"/>
              </a:rPr>
              <a:t>18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9911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38594" y="2700684"/>
            <a:ext cx="7250430" cy="24999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</a:pPr>
            <a:r>
              <a:rPr sz="2300" spc="-114" dirty="0">
                <a:solidFill>
                  <a:srgbClr val="5DAADB"/>
                </a:solidFill>
                <a:latin typeface="Consolas"/>
                <a:cs typeface="Consolas"/>
              </a:rPr>
              <a:t>*</a:t>
            </a:r>
            <a:r>
              <a:rPr sz="2300" spc="-195" dirty="0">
                <a:solidFill>
                  <a:srgbClr val="5DAADB"/>
                </a:solidFill>
                <a:latin typeface="Consolas"/>
                <a:cs typeface="Consolas"/>
              </a:rPr>
              <a:t> </a:t>
            </a:r>
            <a:r>
              <a:rPr sz="2300" spc="-114" dirty="0">
                <a:solidFill>
                  <a:srgbClr val="1F3D5E"/>
                </a:solidFill>
                <a:latin typeface="Consolas"/>
                <a:cs typeface="Consolas"/>
              </a:rPr>
              <a:t>Proceedin</a:t>
            </a:r>
            <a:r>
              <a:rPr sz="2300" spc="-535" dirty="0">
                <a:solidFill>
                  <a:srgbClr val="1F3D5E"/>
                </a:solidFill>
                <a:latin typeface="Consolas"/>
                <a:cs typeface="Consolas"/>
              </a:rPr>
              <a:t> </a:t>
            </a:r>
            <a:r>
              <a:rPr sz="2300" spc="-110" dirty="0">
                <a:solidFill>
                  <a:srgbClr val="0A2848"/>
                </a:solidFill>
                <a:latin typeface="Consolas"/>
                <a:cs typeface="Consolas"/>
              </a:rPr>
              <a:t>use</a:t>
            </a:r>
            <a:r>
              <a:rPr sz="2300" spc="-675" dirty="0">
                <a:solidFill>
                  <a:srgbClr val="0A2848"/>
                </a:solidFill>
                <a:latin typeface="Consolas"/>
                <a:cs typeface="Consolas"/>
              </a:rPr>
              <a:t> </a:t>
            </a:r>
            <a:r>
              <a:rPr sz="2300" spc="-60" dirty="0">
                <a:solidFill>
                  <a:srgbClr val="343434"/>
                </a:solidFill>
                <a:latin typeface="Consolas"/>
                <a:cs typeface="Consolas"/>
              </a:rPr>
              <a:t>ofcomputingservices.</a:t>
            </a:r>
            <a:endParaRPr sz="23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2300">
              <a:latin typeface="Consolas"/>
              <a:cs typeface="Consolas"/>
            </a:endParaRPr>
          </a:p>
          <a:p>
            <a:pPr marL="294640" marR="5080" indent="-282575">
              <a:lnSpc>
                <a:spcPts val="2880"/>
              </a:lnSpc>
              <a:buClr>
                <a:srgbClr val="57B1D6"/>
              </a:buClr>
              <a:buChar char="•"/>
              <a:tabLst>
                <a:tab pos="296545" algn="l"/>
              </a:tabLst>
            </a:pPr>
            <a:r>
              <a:rPr sz="2550" dirty="0">
                <a:solidFill>
                  <a:srgbClr val="1D4877"/>
                </a:solidFill>
                <a:latin typeface="Calibri"/>
                <a:cs typeface="Calibri"/>
              </a:rPr>
              <a:t>Clouds</a:t>
            </a:r>
            <a:r>
              <a:rPr sz="2550" spc="90" dirty="0">
                <a:solidFill>
                  <a:srgbClr val="1D4877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63457"/>
                </a:solidFill>
                <a:latin typeface="Calibri"/>
                <a:cs typeface="Calibri"/>
              </a:rPr>
              <a:t>have</a:t>
            </a:r>
            <a:r>
              <a:rPr sz="2550" spc="140" dirty="0">
                <a:solidFill>
                  <a:srgbClr val="263457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82F4F"/>
                </a:solidFill>
                <a:latin typeface="Calibri"/>
                <a:cs typeface="Calibri"/>
              </a:rPr>
              <a:t>the</a:t>
            </a:r>
            <a:r>
              <a:rPr sz="2550" spc="40" dirty="0">
                <a:solidFill>
                  <a:srgbClr val="182F4F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83866"/>
                </a:solidFill>
                <a:latin typeface="Calibri"/>
                <a:cs typeface="Calibri"/>
              </a:rPr>
              <a:t>potential</a:t>
            </a:r>
            <a:r>
              <a:rPr sz="2550" spc="140" dirty="0">
                <a:solidFill>
                  <a:srgbClr val="183866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3A5D"/>
                </a:solidFill>
                <a:latin typeface="Calibri"/>
                <a:cs typeface="Calibri"/>
              </a:rPr>
              <a:t>to</a:t>
            </a:r>
            <a:r>
              <a:rPr sz="2550" spc="25" dirty="0">
                <a:solidFill>
                  <a:srgbClr val="1C3A5D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3B5D"/>
                </a:solidFill>
                <a:latin typeface="Calibri"/>
                <a:cs typeface="Calibri"/>
              </a:rPr>
              <a:t>provide</a:t>
            </a:r>
            <a:r>
              <a:rPr sz="2550" spc="95" dirty="0">
                <a:solidFill>
                  <a:srgbClr val="1D3B5D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333333"/>
                </a:solidFill>
                <a:latin typeface="Calibri"/>
                <a:cs typeface="Calibri"/>
              </a:rPr>
              <a:t>novel</a:t>
            </a:r>
            <a:r>
              <a:rPr sz="2550" spc="1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2D445E"/>
                </a:solidFill>
                <a:latin typeface="Calibri"/>
                <a:cs typeface="Calibri"/>
              </a:rPr>
              <a:t>compute 	</a:t>
            </a:r>
            <a:r>
              <a:rPr sz="2550" spc="-30" dirty="0">
                <a:solidFill>
                  <a:srgbClr val="152B5D"/>
                </a:solidFill>
                <a:latin typeface="Calibri"/>
                <a:cs typeface="Calibri"/>
              </a:rPr>
              <a:t>capacity</a:t>
            </a:r>
            <a:r>
              <a:rPr sz="2550" spc="35" dirty="0">
                <a:solidFill>
                  <a:srgbClr val="152B5D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1385D"/>
                </a:solidFill>
                <a:latin typeface="Calibri"/>
                <a:cs typeface="Calibri"/>
              </a:rPr>
              <a:t>to</a:t>
            </a:r>
            <a:r>
              <a:rPr sz="2550" spc="-145" dirty="0">
                <a:solidFill>
                  <a:srgbClr val="21385D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3650"/>
                </a:solidFill>
                <a:latin typeface="Calibri"/>
                <a:cs typeface="Calibri"/>
              </a:rPr>
              <a:t>the</a:t>
            </a:r>
            <a:r>
              <a:rPr sz="2550" spc="-145" dirty="0">
                <a:solidFill>
                  <a:srgbClr val="1F3650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rgbClr val="1C1C1C"/>
                </a:solidFill>
                <a:latin typeface="Calibri"/>
                <a:cs typeface="Calibri"/>
              </a:rPr>
              <a:t>average</a:t>
            </a:r>
            <a:r>
              <a:rPr sz="2550" spc="-6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313131"/>
                </a:solidFill>
                <a:latin typeface="Calibri"/>
                <a:cs typeface="Calibri"/>
              </a:rPr>
              <a:t>user.</a:t>
            </a:r>
            <a:endParaRPr sz="2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5"/>
              </a:spcBef>
              <a:buFont typeface="Calibri"/>
              <a:buChar char="•"/>
            </a:pPr>
            <a:endParaRPr sz="2550">
              <a:latin typeface="Calibri"/>
              <a:cs typeface="Calibri"/>
            </a:endParaRPr>
          </a:p>
          <a:p>
            <a:pPr marL="295275" indent="-281305">
              <a:lnSpc>
                <a:spcPct val="100000"/>
              </a:lnSpc>
              <a:buClr>
                <a:srgbClr val="77A7C3"/>
              </a:buClr>
              <a:buChar char="•"/>
              <a:tabLst>
                <a:tab pos="295275" algn="l"/>
              </a:tabLst>
            </a:pPr>
            <a:r>
              <a:rPr sz="2450" dirty="0">
                <a:solidFill>
                  <a:srgbClr val="23446D"/>
                </a:solidFill>
                <a:latin typeface="Calibri"/>
                <a:cs typeface="Calibri"/>
              </a:rPr>
              <a:t>Also</a:t>
            </a:r>
            <a:r>
              <a:rPr sz="2450" spc="20" dirty="0">
                <a:solidFill>
                  <a:srgbClr val="23446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6345D"/>
                </a:solidFill>
                <a:latin typeface="Calibri"/>
                <a:cs typeface="Calibri"/>
              </a:rPr>
              <a:t>provides</a:t>
            </a:r>
            <a:r>
              <a:rPr sz="2450" spc="135" dirty="0">
                <a:solidFill>
                  <a:srgbClr val="26345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52B4D"/>
                </a:solidFill>
                <a:latin typeface="Calibri"/>
                <a:cs typeface="Calibri"/>
              </a:rPr>
              <a:t>more</a:t>
            </a:r>
            <a:r>
              <a:rPr sz="2450" spc="15" dirty="0">
                <a:solidFill>
                  <a:srgbClr val="152B4D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3315B"/>
                </a:solidFill>
                <a:latin typeface="Calibri"/>
                <a:cs typeface="Calibri"/>
              </a:rPr>
              <a:t>facilities</a:t>
            </a:r>
            <a:r>
              <a:rPr sz="2450" spc="75" dirty="0">
                <a:solidFill>
                  <a:srgbClr val="13315B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D4475"/>
                </a:solidFill>
                <a:latin typeface="Calibri"/>
                <a:cs typeface="Calibri"/>
              </a:rPr>
              <a:t>for</a:t>
            </a:r>
            <a:r>
              <a:rPr sz="2450" spc="-25" dirty="0">
                <a:solidFill>
                  <a:srgbClr val="2D4475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13F60"/>
                </a:solidFill>
                <a:latin typeface="Calibri"/>
                <a:cs typeface="Calibri"/>
              </a:rPr>
              <a:t>IT</a:t>
            </a:r>
            <a:r>
              <a:rPr sz="2450" spc="-95" dirty="0">
                <a:solidFill>
                  <a:srgbClr val="213F60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1F365D"/>
                </a:solidFill>
                <a:latin typeface="Calibri"/>
                <a:cs typeface="Calibri"/>
              </a:rPr>
              <a:t>professionals.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654" y="6283101"/>
            <a:ext cx="3147695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85"/>
              </a:lnSpc>
            </a:pPr>
            <a:r>
              <a:rPr sz="1050" spc="-25" dirty="0">
                <a:solidFill>
                  <a:srgbClr val="484848"/>
                </a:solidFill>
                <a:latin typeface="Calibri"/>
                <a:cs typeface="Calibri"/>
              </a:rPr>
              <a:t>Milad</a:t>
            </a:r>
            <a:r>
              <a:rPr sz="1050" spc="-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343434"/>
                </a:solidFill>
                <a:latin typeface="Calibri"/>
                <a:cs typeface="Calibri"/>
              </a:rPr>
              <a:t>Jalalimehr</a:t>
            </a:r>
            <a:r>
              <a:rPr sz="1050" spc="-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39393"/>
                </a:solidFill>
                <a:latin typeface="Calibri"/>
                <a:cs typeface="Calibri"/>
              </a:rPr>
              <a:t>-</a:t>
            </a:r>
            <a:r>
              <a:rPr sz="1050" spc="105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94949"/>
                </a:solidFill>
                <a:latin typeface="Calibri"/>
                <a:cs typeface="Calibri"/>
              </a:rPr>
              <a:t>Operating</a:t>
            </a:r>
            <a:r>
              <a:rPr sz="1050" spc="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D2D2D"/>
                </a:solidFill>
                <a:latin typeface="Calibri"/>
                <a:cs typeface="Calibri"/>
              </a:rPr>
              <a:t>System</a:t>
            </a:r>
            <a:r>
              <a:rPr sz="1050" spc="-2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05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4646"/>
                </a:solidFill>
                <a:latin typeface="Calibri"/>
                <a:cs typeface="Calibri"/>
              </a:rPr>
              <a:t>Clouds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230"/>
              </a:lnSpc>
            </a:pPr>
            <a:r>
              <a:rPr sz="1050" spc="-25" dirty="0">
                <a:solidFill>
                  <a:srgbClr val="2A2A2A"/>
                </a:solidFill>
                <a:latin typeface="Calibri"/>
                <a:cs typeface="Calibri"/>
              </a:rPr>
              <a:t>Mazandaran</a:t>
            </a:r>
            <a:r>
              <a:rPr sz="1050" spc="-3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B4B4B"/>
                </a:solidFill>
                <a:latin typeface="Calibri"/>
                <a:cs typeface="Calibri"/>
              </a:rPr>
              <a:t>University</a:t>
            </a:r>
            <a:r>
              <a:rPr sz="1050" spc="-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B5B5B"/>
                </a:solidFill>
                <a:latin typeface="Calibri"/>
                <a:cs typeface="Calibri"/>
              </a:rPr>
              <a:t>of </a:t>
            </a:r>
            <a:r>
              <a:rPr sz="1050" spc="-20" dirty="0">
                <a:solidFill>
                  <a:srgbClr val="262626"/>
                </a:solidFill>
                <a:latin typeface="Calibri"/>
                <a:cs typeface="Calibri"/>
              </a:rPr>
              <a:t>Science</a:t>
            </a:r>
            <a:r>
              <a:rPr sz="105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1050" spc="-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13131"/>
                </a:solidFill>
                <a:latin typeface="Calibri"/>
                <a:cs typeface="Calibri"/>
              </a:rPr>
              <a:t>Technology</a:t>
            </a:r>
            <a:r>
              <a:rPr sz="1050" spc="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A3A3A"/>
                </a:solidFill>
                <a:latin typeface="Calibri"/>
                <a:cs typeface="Calibri"/>
              </a:rPr>
              <a:t>(MUSf)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59422" y="6358073"/>
            <a:ext cx="398145" cy="1930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50"/>
              </a:lnSpc>
            </a:pPr>
            <a:r>
              <a:rPr sz="1300" spc="50" dirty="0">
                <a:solidFill>
                  <a:srgbClr val="1F3144"/>
                </a:solidFill>
                <a:latin typeface="Calibri"/>
                <a:cs typeface="Calibri"/>
              </a:rPr>
              <a:t>4</a:t>
            </a:r>
            <a:r>
              <a:rPr sz="1300" spc="65" dirty="0">
                <a:solidFill>
                  <a:srgbClr val="1F3144"/>
                </a:solidFill>
                <a:latin typeface="Calibri"/>
                <a:cs typeface="Calibri"/>
              </a:rPr>
              <a:t> </a:t>
            </a:r>
            <a:r>
              <a:rPr sz="1300" spc="-155" dirty="0">
                <a:solidFill>
                  <a:srgbClr val="606972"/>
                </a:solidFill>
                <a:latin typeface="Calibri"/>
                <a:cs typeface="Calibri"/>
              </a:rPr>
              <a:t>/</a:t>
            </a:r>
            <a:r>
              <a:rPr sz="1300" spc="-50" dirty="0">
                <a:solidFill>
                  <a:srgbClr val="606972"/>
                </a:solidFill>
                <a:latin typeface="Calibri"/>
                <a:cs typeface="Calibri"/>
              </a:rPr>
              <a:t> </a:t>
            </a:r>
            <a:r>
              <a:rPr sz="1300" spc="-25" dirty="0">
                <a:solidFill>
                  <a:srgbClr val="232323"/>
                </a:solidFill>
                <a:latin typeface="Calibri"/>
                <a:cs typeface="Calibri"/>
              </a:rPr>
              <a:t>18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10471" y="2665213"/>
            <a:ext cx="7315200" cy="113919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 indent="5080" algn="just">
              <a:lnSpc>
                <a:spcPct val="94600"/>
              </a:lnSpc>
              <a:spcBef>
                <a:spcPts val="300"/>
              </a:spcBef>
            </a:pPr>
            <a:r>
              <a:rPr sz="2500" dirty="0">
                <a:solidFill>
                  <a:srgbClr val="113B66"/>
                </a:solidFill>
              </a:rPr>
              <a:t>In</a:t>
            </a:r>
            <a:r>
              <a:rPr sz="2500" spc="355" dirty="0">
                <a:solidFill>
                  <a:srgbClr val="113B66"/>
                </a:solidFill>
              </a:rPr>
              <a:t> </a:t>
            </a:r>
            <a:r>
              <a:rPr sz="2500" dirty="0">
                <a:solidFill>
                  <a:srgbClr val="163159"/>
                </a:solidFill>
              </a:rPr>
              <a:t>order</a:t>
            </a:r>
            <a:r>
              <a:rPr sz="2500" spc="450" dirty="0">
                <a:solidFill>
                  <a:srgbClr val="163159"/>
                </a:solidFill>
              </a:rPr>
              <a:t> </a:t>
            </a:r>
            <a:r>
              <a:rPr sz="2500" dirty="0">
                <a:solidFill>
                  <a:srgbClr val="1F3870"/>
                </a:solidFill>
              </a:rPr>
              <a:t>for</a:t>
            </a:r>
            <a:r>
              <a:rPr sz="2500" spc="455" dirty="0">
                <a:solidFill>
                  <a:srgbClr val="1F3870"/>
                </a:solidFill>
              </a:rPr>
              <a:t> </a:t>
            </a:r>
            <a:r>
              <a:rPr sz="2500" dirty="0">
                <a:solidFill>
                  <a:srgbClr val="0E3872"/>
                </a:solidFill>
              </a:rPr>
              <a:t>the</a:t>
            </a:r>
            <a:r>
              <a:rPr sz="2500" spc="450" dirty="0">
                <a:solidFill>
                  <a:srgbClr val="0E3872"/>
                </a:solidFill>
              </a:rPr>
              <a:t> </a:t>
            </a:r>
            <a:r>
              <a:rPr sz="2500" dirty="0">
                <a:solidFill>
                  <a:srgbClr val="162A49"/>
                </a:solidFill>
              </a:rPr>
              <a:t>user</a:t>
            </a:r>
            <a:r>
              <a:rPr sz="2500" spc="505" dirty="0">
                <a:solidFill>
                  <a:srgbClr val="162A49"/>
                </a:solidFill>
              </a:rPr>
              <a:t> </a:t>
            </a:r>
            <a:r>
              <a:rPr sz="2500" dirty="0">
                <a:solidFill>
                  <a:srgbClr val="0E3159"/>
                </a:solidFill>
              </a:rPr>
              <a:t>to</a:t>
            </a:r>
            <a:r>
              <a:rPr sz="2500" spc="445" dirty="0">
                <a:solidFill>
                  <a:srgbClr val="0E3159"/>
                </a:solidFill>
              </a:rPr>
              <a:t> </a:t>
            </a:r>
            <a:r>
              <a:rPr sz="2500" dirty="0">
                <a:solidFill>
                  <a:srgbClr val="083854"/>
                </a:solidFill>
              </a:rPr>
              <a:t>effectively</a:t>
            </a:r>
            <a:r>
              <a:rPr sz="2500" spc="70" dirty="0">
                <a:solidFill>
                  <a:srgbClr val="083854"/>
                </a:solidFill>
              </a:rPr>
              <a:t>  </a:t>
            </a:r>
            <a:r>
              <a:rPr sz="2500" dirty="0">
                <a:solidFill>
                  <a:srgbClr val="1A3D67"/>
                </a:solidFill>
              </a:rPr>
              <a:t>control</a:t>
            </a:r>
            <a:r>
              <a:rPr sz="2500" spc="545" dirty="0">
                <a:solidFill>
                  <a:srgbClr val="1A3D67"/>
                </a:solidFill>
              </a:rPr>
              <a:t> </a:t>
            </a:r>
            <a:r>
              <a:rPr sz="2500" dirty="0">
                <a:solidFill>
                  <a:srgbClr val="183D5B"/>
                </a:solidFill>
              </a:rPr>
              <a:t>all</a:t>
            </a:r>
            <a:r>
              <a:rPr sz="2500" spc="450" dirty="0">
                <a:solidFill>
                  <a:srgbClr val="183D5B"/>
                </a:solidFill>
              </a:rPr>
              <a:t> </a:t>
            </a:r>
            <a:r>
              <a:rPr sz="2500" dirty="0">
                <a:solidFill>
                  <a:srgbClr val="263D60"/>
                </a:solidFill>
              </a:rPr>
              <a:t>of</a:t>
            </a:r>
            <a:r>
              <a:rPr sz="2500" spc="500" dirty="0">
                <a:solidFill>
                  <a:srgbClr val="263D60"/>
                </a:solidFill>
              </a:rPr>
              <a:t> </a:t>
            </a:r>
            <a:r>
              <a:rPr sz="2500" spc="-20" dirty="0">
                <a:solidFill>
                  <a:srgbClr val="0C386B"/>
                </a:solidFill>
              </a:rPr>
              <a:t>this </a:t>
            </a:r>
            <a:r>
              <a:rPr sz="2550" spc="-30" dirty="0">
                <a:solidFill>
                  <a:srgbClr val="313131"/>
                </a:solidFill>
              </a:rPr>
              <a:t>computational</a:t>
            </a:r>
            <a:r>
              <a:rPr sz="2550" spc="-65" dirty="0">
                <a:solidFill>
                  <a:srgbClr val="313131"/>
                </a:solidFill>
              </a:rPr>
              <a:t> </a:t>
            </a:r>
            <a:r>
              <a:rPr sz="2550" dirty="0">
                <a:solidFill>
                  <a:srgbClr val="1D3167"/>
                </a:solidFill>
              </a:rPr>
              <a:t>power,</a:t>
            </a:r>
            <a:r>
              <a:rPr sz="2550" spc="-85" dirty="0">
                <a:solidFill>
                  <a:srgbClr val="1D3167"/>
                </a:solidFill>
              </a:rPr>
              <a:t> </a:t>
            </a:r>
            <a:r>
              <a:rPr sz="2550" spc="-100" dirty="0">
                <a:solidFill>
                  <a:srgbClr val="3F5977"/>
                </a:solidFill>
              </a:rPr>
              <a:t>We</a:t>
            </a:r>
            <a:r>
              <a:rPr sz="2550" spc="-45" dirty="0">
                <a:solidFill>
                  <a:srgbClr val="3F5977"/>
                </a:solidFill>
              </a:rPr>
              <a:t> </a:t>
            </a:r>
            <a:r>
              <a:rPr sz="2550" dirty="0">
                <a:solidFill>
                  <a:srgbClr val="233B5D"/>
                </a:solidFill>
              </a:rPr>
              <a:t>need</a:t>
            </a:r>
            <a:r>
              <a:rPr sz="2550" spc="-105" dirty="0">
                <a:solidFill>
                  <a:srgbClr val="233B5D"/>
                </a:solidFill>
              </a:rPr>
              <a:t> </a:t>
            </a:r>
            <a:r>
              <a:rPr sz="2550" dirty="0">
                <a:solidFill>
                  <a:srgbClr val="243662"/>
                </a:solidFill>
              </a:rPr>
              <a:t>an</a:t>
            </a:r>
            <a:r>
              <a:rPr sz="2550" spc="-135" dirty="0">
                <a:solidFill>
                  <a:srgbClr val="243662"/>
                </a:solidFill>
              </a:rPr>
              <a:t> </a:t>
            </a:r>
            <a:r>
              <a:rPr sz="2550" dirty="0">
                <a:solidFill>
                  <a:srgbClr val="343434"/>
                </a:solidFill>
              </a:rPr>
              <a:t>operating</a:t>
            </a:r>
            <a:r>
              <a:rPr sz="2550" spc="5" dirty="0">
                <a:solidFill>
                  <a:srgbClr val="343434"/>
                </a:solidFill>
              </a:rPr>
              <a:t> </a:t>
            </a:r>
            <a:r>
              <a:rPr sz="2550" spc="-10" dirty="0">
                <a:solidFill>
                  <a:srgbClr val="1D3869"/>
                </a:solidFill>
              </a:rPr>
              <a:t>system</a:t>
            </a:r>
            <a:r>
              <a:rPr sz="2550" spc="-80" dirty="0">
                <a:solidFill>
                  <a:srgbClr val="1D3869"/>
                </a:solidFill>
              </a:rPr>
              <a:t> </a:t>
            </a:r>
            <a:r>
              <a:rPr sz="2550" spc="-25" dirty="0">
                <a:solidFill>
                  <a:srgbClr val="1F3856"/>
                </a:solidFill>
              </a:rPr>
              <a:t>for </a:t>
            </a:r>
            <a:r>
              <a:rPr sz="2500" dirty="0">
                <a:solidFill>
                  <a:srgbClr val="0A3D74"/>
                </a:solidFill>
              </a:rPr>
              <a:t>these</a:t>
            </a:r>
            <a:r>
              <a:rPr sz="2500" spc="-110" dirty="0">
                <a:solidFill>
                  <a:srgbClr val="0A3D74"/>
                </a:solidFill>
              </a:rPr>
              <a:t> </a:t>
            </a:r>
            <a:r>
              <a:rPr sz="2500" dirty="0">
                <a:solidFill>
                  <a:srgbClr val="283F50"/>
                </a:solidFill>
              </a:rPr>
              <a:t>new</a:t>
            </a:r>
            <a:r>
              <a:rPr sz="2500" spc="-140" dirty="0">
                <a:solidFill>
                  <a:srgbClr val="283F50"/>
                </a:solidFill>
              </a:rPr>
              <a:t> </a:t>
            </a:r>
            <a:r>
              <a:rPr sz="2500" spc="-10" dirty="0">
                <a:solidFill>
                  <a:srgbClr val="2D2D2D"/>
                </a:solidFill>
              </a:rPr>
              <a:t>hardware</a:t>
            </a:r>
            <a:r>
              <a:rPr sz="2500" spc="-75" dirty="0">
                <a:solidFill>
                  <a:srgbClr val="2D2D2D"/>
                </a:solidFill>
              </a:rPr>
              <a:t> </a:t>
            </a:r>
            <a:r>
              <a:rPr sz="2500" spc="-10" dirty="0">
                <a:solidFill>
                  <a:srgbClr val="313131"/>
                </a:solidFill>
              </a:rPr>
              <a:t>platforms.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761654" y="6283101"/>
            <a:ext cx="3147695" cy="313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85"/>
              </a:lnSpc>
            </a:pPr>
            <a:r>
              <a:rPr sz="1050" spc="-25" dirty="0">
                <a:solidFill>
                  <a:srgbClr val="484848"/>
                </a:solidFill>
                <a:latin typeface="Calibri"/>
                <a:cs typeface="Calibri"/>
              </a:rPr>
              <a:t>Milad</a:t>
            </a:r>
            <a:r>
              <a:rPr sz="1050" spc="-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343434"/>
                </a:solidFill>
                <a:latin typeface="Calibri"/>
                <a:cs typeface="Calibri"/>
              </a:rPr>
              <a:t>Jalalimehr</a:t>
            </a:r>
            <a:r>
              <a:rPr sz="1050" spc="-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39393"/>
                </a:solidFill>
                <a:latin typeface="Calibri"/>
                <a:cs typeface="Calibri"/>
              </a:rPr>
              <a:t>-</a:t>
            </a:r>
            <a:r>
              <a:rPr sz="1050" spc="105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94949"/>
                </a:solidFill>
                <a:latin typeface="Calibri"/>
                <a:cs typeface="Calibri"/>
              </a:rPr>
              <a:t>Operating</a:t>
            </a:r>
            <a:r>
              <a:rPr sz="1050" spc="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D2D2D"/>
                </a:solidFill>
                <a:latin typeface="Calibri"/>
                <a:cs typeface="Calibri"/>
              </a:rPr>
              <a:t>System</a:t>
            </a:r>
            <a:r>
              <a:rPr sz="1050" spc="-2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05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4646"/>
                </a:solidFill>
                <a:latin typeface="Calibri"/>
                <a:cs typeface="Calibri"/>
              </a:rPr>
              <a:t>Clouds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ts val="1230"/>
              </a:lnSpc>
            </a:pPr>
            <a:r>
              <a:rPr sz="1050" spc="-25" dirty="0">
                <a:solidFill>
                  <a:srgbClr val="2A2A2A"/>
                </a:solidFill>
                <a:latin typeface="Calibri"/>
                <a:cs typeface="Calibri"/>
              </a:rPr>
              <a:t>Mazandaran</a:t>
            </a:r>
            <a:r>
              <a:rPr sz="1050" spc="-3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B4B4B"/>
                </a:solidFill>
                <a:latin typeface="Calibri"/>
                <a:cs typeface="Calibri"/>
              </a:rPr>
              <a:t>University</a:t>
            </a:r>
            <a:r>
              <a:rPr sz="1050" spc="-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B5B5B"/>
                </a:solidFill>
                <a:latin typeface="Calibri"/>
                <a:cs typeface="Calibri"/>
              </a:rPr>
              <a:t>of </a:t>
            </a:r>
            <a:r>
              <a:rPr sz="1050" spc="-20" dirty="0">
                <a:solidFill>
                  <a:srgbClr val="262626"/>
                </a:solidFill>
                <a:latin typeface="Calibri"/>
                <a:cs typeface="Calibri"/>
              </a:rPr>
              <a:t>Science</a:t>
            </a:r>
            <a:r>
              <a:rPr sz="105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1050" spc="-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13131"/>
                </a:solidFill>
                <a:latin typeface="Calibri"/>
                <a:cs typeface="Calibri"/>
              </a:rPr>
              <a:t>Technology</a:t>
            </a:r>
            <a:r>
              <a:rPr sz="1050" spc="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A3A3A"/>
                </a:solidFill>
                <a:latin typeface="Calibri"/>
                <a:cs typeface="Calibri"/>
              </a:rPr>
              <a:t>(MUSf)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65828" y="6328760"/>
            <a:ext cx="392430" cy="20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50" spc="-60" dirty="0">
                <a:solidFill>
                  <a:srgbClr val="363636"/>
                </a:solidFill>
                <a:latin typeface="Arial"/>
                <a:cs typeface="Arial"/>
              </a:rPr>
              <a:t>§</a:t>
            </a:r>
            <a:r>
              <a:rPr sz="1250" spc="-3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3B3B3B"/>
                </a:solidFill>
                <a:latin typeface="Arial"/>
                <a:cs typeface="Arial"/>
              </a:rPr>
              <a:t>/</a:t>
            </a:r>
            <a:r>
              <a:rPr sz="1250" spc="-120" dirty="0">
                <a:solidFill>
                  <a:srgbClr val="3B3B3B"/>
                </a:solidFill>
                <a:latin typeface="Arial"/>
                <a:cs typeface="Arial"/>
              </a:rPr>
              <a:t> </a:t>
            </a:r>
            <a:r>
              <a:rPr sz="1250" spc="-25" dirty="0">
                <a:solidFill>
                  <a:srgbClr val="2A2A2A"/>
                </a:solidFill>
                <a:latin typeface="Arial"/>
                <a:cs typeface="Arial"/>
              </a:rPr>
              <a:t>18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053703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6188273" y="3061394"/>
            <a:ext cx="1200150" cy="0"/>
          </a:xfrm>
          <a:custGeom>
            <a:avLst/>
            <a:gdLst/>
            <a:ahLst/>
            <a:cxnLst/>
            <a:rect l="l" t="t" r="r" b="b"/>
            <a:pathLst>
              <a:path w="1200150">
                <a:moveTo>
                  <a:pt x="0" y="0"/>
                </a:moveTo>
                <a:lnTo>
                  <a:pt x="1199555" y="0"/>
                </a:lnTo>
              </a:path>
            </a:pathLst>
          </a:custGeom>
          <a:ln w="3175">
            <a:solidFill>
              <a:srgbClr val="7C7C7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50" dirty="0">
                <a:solidFill>
                  <a:srgbClr val="232D57"/>
                </a:solidFill>
              </a:rPr>
              <a:t>A</a:t>
            </a:r>
            <a:r>
              <a:rPr sz="2350" spc="275" dirty="0">
                <a:solidFill>
                  <a:srgbClr val="232D57"/>
                </a:solidFill>
              </a:rPr>
              <a:t> </a:t>
            </a:r>
            <a:r>
              <a:rPr sz="2350" dirty="0">
                <a:solidFill>
                  <a:srgbClr val="2A2A2A"/>
                </a:solidFill>
              </a:rPr>
              <a:t>simple</a:t>
            </a:r>
            <a:r>
              <a:rPr sz="2350" spc="85" dirty="0">
                <a:solidFill>
                  <a:srgbClr val="2A2A2A"/>
                </a:solidFill>
              </a:rPr>
              <a:t> </a:t>
            </a:r>
            <a:r>
              <a:rPr sz="2350" spc="-10" dirty="0">
                <a:solidFill>
                  <a:srgbClr val="1C3F67"/>
                </a:solidFill>
              </a:rPr>
              <a:t>definition:</a:t>
            </a:r>
            <a:endParaRPr sz="2350"/>
          </a:p>
        </p:txBody>
      </p:sp>
      <p:sp>
        <p:nvSpPr>
          <p:cNvPr id="15" name="object 15"/>
          <p:cNvSpPr txBox="1"/>
          <p:nvPr/>
        </p:nvSpPr>
        <p:spPr>
          <a:xfrm>
            <a:off x="6202362" y="3078211"/>
            <a:ext cx="1171575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u="sng" spc="195" dirty="0">
                <a:solidFill>
                  <a:srgbClr val="363636"/>
                </a:solidFill>
                <a:uFill>
                  <a:solidFill>
                    <a:srgbClr val="7C7C7C"/>
                  </a:solidFill>
                </a:uFill>
                <a:latin typeface="Calibri"/>
                <a:cs typeface="Calibri"/>
              </a:rPr>
              <a:t>  </a:t>
            </a:r>
            <a:r>
              <a:rPr sz="1200" u="sng" spc="-20" dirty="0">
                <a:solidFill>
                  <a:srgbClr val="363636"/>
                </a:solidFill>
                <a:uFill>
                  <a:solidFill>
                    <a:srgbClr val="7C7C7C"/>
                  </a:solidFill>
                </a:uFill>
                <a:latin typeface="Calibri"/>
                <a:cs typeface="Calibri"/>
              </a:rPr>
              <a:t>Clou</a:t>
            </a:r>
            <a:r>
              <a:rPr sz="1200" u="none" spc="-20" dirty="0">
                <a:solidFill>
                  <a:srgbClr val="363636"/>
                </a:solidFill>
                <a:latin typeface="Calibri"/>
                <a:cs typeface="Calibri"/>
              </a:rPr>
              <a:t>d</a:t>
            </a:r>
            <a:r>
              <a:rPr sz="1200" u="sng" spc="25" dirty="0">
                <a:solidFill>
                  <a:srgbClr val="424242"/>
                </a:solidFill>
                <a:uFill>
                  <a:solidFill>
                    <a:srgbClr val="7C7C7C"/>
                  </a:solidFill>
                </a:uFill>
                <a:latin typeface="Calibri"/>
                <a:cs typeface="Calibri"/>
              </a:rPr>
              <a:t> </a:t>
            </a:r>
            <a:r>
              <a:rPr sz="1200" u="sng" spc="-10" dirty="0">
                <a:solidFill>
                  <a:srgbClr val="424242"/>
                </a:solidFill>
                <a:uFill>
                  <a:solidFill>
                    <a:srgbClr val="7C7C7C"/>
                  </a:solidFill>
                </a:uFill>
                <a:latin typeface="Calibri"/>
                <a:cs typeface="Calibri"/>
              </a:rPr>
              <a:t>In</a:t>
            </a:r>
            <a:r>
              <a:rPr sz="1200" u="none" spc="-10" dirty="0">
                <a:solidFill>
                  <a:srgbClr val="424242"/>
                </a:solidFill>
                <a:latin typeface="Calibri"/>
                <a:cs typeface="Calibri"/>
              </a:rPr>
              <a:t>te</a:t>
            </a:r>
            <a:r>
              <a:rPr sz="1200" u="sng" spc="-10" dirty="0">
                <a:solidFill>
                  <a:srgbClr val="424242"/>
                </a:solidFill>
                <a:uFill>
                  <a:solidFill>
                    <a:srgbClr val="7C7C7C"/>
                  </a:solidFill>
                </a:uFill>
                <a:latin typeface="Calibri"/>
                <a:cs typeface="Calibri"/>
              </a:rPr>
              <a:t>rface</a:t>
            </a:r>
            <a:r>
              <a:rPr sz="1200" u="sng" spc="500" dirty="0">
                <a:solidFill>
                  <a:srgbClr val="424242"/>
                </a:solidFill>
                <a:uFill>
                  <a:solidFill>
                    <a:srgbClr val="7C7C7C"/>
                  </a:solidFill>
                </a:uFill>
                <a:latin typeface="Calibri"/>
                <a:cs typeface="Calibri"/>
              </a:rPr>
              <a:t> 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18990" y="3519487"/>
            <a:ext cx="4016375" cy="204914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 indent="1905" algn="just">
              <a:lnSpc>
                <a:spcPct val="96800"/>
              </a:lnSpc>
              <a:spcBef>
                <a:spcPts val="180"/>
              </a:spcBef>
            </a:pPr>
            <a:r>
              <a:rPr sz="2250" dirty="0">
                <a:solidFill>
                  <a:srgbClr val="1D364D"/>
                </a:solidFill>
                <a:latin typeface="Calibri"/>
                <a:cs typeface="Calibri"/>
              </a:rPr>
              <a:t>The</a:t>
            </a:r>
            <a:r>
              <a:rPr sz="2250" spc="170" dirty="0">
                <a:solidFill>
                  <a:srgbClr val="1D364D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233354"/>
                </a:solidFill>
                <a:latin typeface="Calibri"/>
                <a:cs typeface="Calibri"/>
              </a:rPr>
              <a:t>Cloud</a:t>
            </a:r>
            <a:r>
              <a:rPr sz="2250" spc="150" dirty="0">
                <a:solidFill>
                  <a:srgbClr val="233354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1D384F"/>
                </a:solidFill>
                <a:latin typeface="Calibri"/>
                <a:cs typeface="Calibri"/>
              </a:rPr>
              <a:t>OS</a:t>
            </a:r>
            <a:r>
              <a:rPr sz="2250" spc="110" dirty="0">
                <a:solidFill>
                  <a:srgbClr val="1D384F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283854"/>
                </a:solidFill>
                <a:latin typeface="Calibri"/>
                <a:cs typeface="Calibri"/>
              </a:rPr>
              <a:t>manages</a:t>
            </a:r>
            <a:r>
              <a:rPr sz="2250" spc="285" dirty="0">
                <a:solidFill>
                  <a:srgbClr val="283854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2A3B69"/>
                </a:solidFill>
                <a:latin typeface="Calibri"/>
                <a:cs typeface="Calibri"/>
              </a:rPr>
              <a:t>a</a:t>
            </a:r>
            <a:r>
              <a:rPr sz="2250" spc="5" dirty="0">
                <a:solidFill>
                  <a:srgbClr val="2A3B69"/>
                </a:solidFill>
                <a:latin typeface="Calibri"/>
                <a:cs typeface="Calibri"/>
              </a:rPr>
              <a:t> </a:t>
            </a:r>
            <a:r>
              <a:rPr sz="2250" spc="-10" dirty="0">
                <a:solidFill>
                  <a:srgbClr val="1A2F48"/>
                </a:solidFill>
                <a:latin typeface="Calibri"/>
                <a:cs typeface="Calibri"/>
              </a:rPr>
              <a:t>number </a:t>
            </a:r>
            <a:r>
              <a:rPr sz="2250" dirty="0">
                <a:solidFill>
                  <a:srgbClr val="0E314F"/>
                </a:solidFill>
                <a:latin typeface="Calibri"/>
                <a:cs typeface="Calibri"/>
              </a:rPr>
              <a:t>of</a:t>
            </a:r>
            <a:r>
              <a:rPr sz="2250" spc="165" dirty="0">
                <a:solidFill>
                  <a:srgbClr val="0E314F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A3A3A"/>
                </a:solidFill>
                <a:latin typeface="Calibri"/>
                <a:cs typeface="Calibri"/>
              </a:rPr>
              <a:t>servers</a:t>
            </a:r>
            <a:r>
              <a:rPr sz="2250" spc="30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31485E"/>
                </a:solidFill>
                <a:latin typeface="Calibri"/>
                <a:cs typeface="Calibri"/>
              </a:rPr>
              <a:t>and</a:t>
            </a:r>
            <a:r>
              <a:rPr sz="2250" spc="90" dirty="0">
                <a:solidFill>
                  <a:srgbClr val="31485E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1D3454"/>
                </a:solidFill>
                <a:latin typeface="Calibri"/>
                <a:cs typeface="Calibri"/>
              </a:rPr>
              <a:t>hardware</a:t>
            </a:r>
            <a:r>
              <a:rPr sz="2250" spc="270" dirty="0">
                <a:solidFill>
                  <a:srgbClr val="1D3454"/>
                </a:solidFill>
                <a:latin typeface="Calibri"/>
                <a:cs typeface="Calibri"/>
              </a:rPr>
              <a:t> </a:t>
            </a:r>
            <a:r>
              <a:rPr sz="2250" spc="-10" dirty="0">
                <a:solidFill>
                  <a:srgbClr val="263B4F"/>
                </a:solidFill>
                <a:latin typeface="Calibri"/>
                <a:cs typeface="Calibri"/>
              </a:rPr>
              <a:t>devices, </a:t>
            </a:r>
            <a:r>
              <a:rPr sz="2250" dirty="0">
                <a:solidFill>
                  <a:srgbClr val="2F2F2F"/>
                </a:solidFill>
                <a:latin typeface="Calibri"/>
                <a:cs typeface="Calibri"/>
              </a:rPr>
              <a:t>Giving</a:t>
            </a:r>
            <a:r>
              <a:rPr sz="2250" spc="60" dirty="0">
                <a:solidFill>
                  <a:srgbClr val="2F2F2F"/>
                </a:solidFill>
                <a:latin typeface="Calibri"/>
                <a:cs typeface="Calibri"/>
              </a:rPr>
              <a:t>  </a:t>
            </a:r>
            <a:r>
              <a:rPr sz="2250" dirty="0">
                <a:solidFill>
                  <a:srgbClr val="213D54"/>
                </a:solidFill>
                <a:latin typeface="Calibri"/>
                <a:cs typeface="Calibri"/>
              </a:rPr>
              <a:t>the</a:t>
            </a:r>
            <a:r>
              <a:rPr sz="2250" spc="490" dirty="0">
                <a:solidFill>
                  <a:srgbClr val="213D54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05233D"/>
                </a:solidFill>
                <a:latin typeface="Calibri"/>
                <a:cs typeface="Calibri"/>
              </a:rPr>
              <a:t>users</a:t>
            </a:r>
            <a:r>
              <a:rPr sz="2250" spc="40" dirty="0">
                <a:solidFill>
                  <a:srgbClr val="05233D"/>
                </a:solidFill>
                <a:latin typeface="Calibri"/>
                <a:cs typeface="Calibri"/>
              </a:rPr>
              <a:t>  </a:t>
            </a:r>
            <a:r>
              <a:rPr sz="2250" dirty="0">
                <a:solidFill>
                  <a:srgbClr val="0F2A46"/>
                </a:solidFill>
                <a:latin typeface="Calibri"/>
                <a:cs typeface="Calibri"/>
              </a:rPr>
              <a:t>the</a:t>
            </a:r>
            <a:r>
              <a:rPr sz="2250" spc="30" dirty="0">
                <a:solidFill>
                  <a:srgbClr val="0F2A46"/>
                </a:solidFill>
                <a:latin typeface="Calibri"/>
                <a:cs typeface="Calibri"/>
              </a:rPr>
              <a:t>  </a:t>
            </a:r>
            <a:r>
              <a:rPr sz="2250" spc="-10" dirty="0">
                <a:solidFill>
                  <a:srgbClr val="1F3454"/>
                </a:solidFill>
                <a:latin typeface="Calibri"/>
                <a:cs typeface="Calibri"/>
              </a:rPr>
              <a:t>impression </a:t>
            </a:r>
            <a:r>
              <a:rPr sz="2300" dirty="0">
                <a:solidFill>
                  <a:srgbClr val="2D2D2D"/>
                </a:solidFill>
                <a:latin typeface="Calibri"/>
                <a:cs typeface="Calibri"/>
              </a:rPr>
              <a:t>that</a:t>
            </a:r>
            <a:r>
              <a:rPr sz="2300" spc="38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3F3F3F"/>
                </a:solidFill>
                <a:latin typeface="Calibri"/>
                <a:cs typeface="Calibri"/>
              </a:rPr>
              <a:t>they</a:t>
            </a:r>
            <a:r>
              <a:rPr sz="2300" spc="434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F4262"/>
                </a:solidFill>
                <a:latin typeface="Calibri"/>
                <a:cs typeface="Calibri"/>
              </a:rPr>
              <a:t>are</a:t>
            </a:r>
            <a:r>
              <a:rPr sz="2300" spc="370" dirty="0">
                <a:solidFill>
                  <a:srgbClr val="2F4262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F2F2F"/>
                </a:solidFill>
                <a:latin typeface="Calibri"/>
                <a:cs typeface="Calibri"/>
              </a:rPr>
              <a:t>interacting</a:t>
            </a:r>
            <a:r>
              <a:rPr sz="2300" spc="459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300" dirty="0">
                <a:solidFill>
                  <a:srgbClr val="2F2F2F"/>
                </a:solidFill>
                <a:latin typeface="Calibri"/>
                <a:cs typeface="Calibri"/>
              </a:rPr>
              <a:t>with</a:t>
            </a:r>
            <a:r>
              <a:rPr sz="2300" spc="3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300" spc="25" dirty="0">
                <a:solidFill>
                  <a:srgbClr val="1A2460"/>
                </a:solidFill>
                <a:latin typeface="Calibri"/>
                <a:cs typeface="Calibri"/>
              </a:rPr>
              <a:t>a </a:t>
            </a:r>
            <a:r>
              <a:rPr sz="2250" dirty="0">
                <a:solidFill>
                  <a:srgbClr val="1C385D"/>
                </a:solidFill>
                <a:latin typeface="Calibri"/>
                <a:cs typeface="Calibri"/>
              </a:rPr>
              <a:t>single</a:t>
            </a:r>
            <a:r>
              <a:rPr sz="2250" spc="40" dirty="0">
                <a:solidFill>
                  <a:srgbClr val="1C385D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163A5D"/>
                </a:solidFill>
                <a:latin typeface="Calibri"/>
                <a:cs typeface="Calibri"/>
              </a:rPr>
              <a:t>infinite</a:t>
            </a:r>
            <a:r>
              <a:rPr sz="2250" spc="170" dirty="0">
                <a:solidFill>
                  <a:srgbClr val="163A5D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182B49"/>
                </a:solidFill>
                <a:latin typeface="Calibri"/>
                <a:cs typeface="Calibri"/>
              </a:rPr>
              <a:t>capacity</a:t>
            </a:r>
            <a:r>
              <a:rPr sz="2250" spc="204" dirty="0">
                <a:solidFill>
                  <a:srgbClr val="182B49"/>
                </a:solidFill>
                <a:latin typeface="Calibri"/>
                <a:cs typeface="Calibri"/>
              </a:rPr>
              <a:t> </a:t>
            </a:r>
            <a:r>
              <a:rPr sz="2250" dirty="0">
                <a:solidFill>
                  <a:srgbClr val="2F4862"/>
                </a:solidFill>
                <a:latin typeface="Calibri"/>
                <a:cs typeface="Calibri"/>
              </a:rPr>
              <a:t>and</a:t>
            </a:r>
            <a:r>
              <a:rPr sz="2250" spc="65" dirty="0">
                <a:solidFill>
                  <a:srgbClr val="2F4862"/>
                </a:solidFill>
                <a:latin typeface="Calibri"/>
                <a:cs typeface="Calibri"/>
              </a:rPr>
              <a:t> </a:t>
            </a:r>
            <a:r>
              <a:rPr sz="2250" spc="-10" dirty="0">
                <a:solidFill>
                  <a:srgbClr val="183146"/>
                </a:solidFill>
                <a:latin typeface="Calibri"/>
                <a:cs typeface="Calibri"/>
              </a:rPr>
              <a:t>elastic </a:t>
            </a:r>
            <a:r>
              <a:rPr sz="2350" spc="-10" dirty="0">
                <a:solidFill>
                  <a:srgbClr val="2A4159"/>
                </a:solidFill>
                <a:latin typeface="Calibri"/>
                <a:cs typeface="Calibri"/>
              </a:rPr>
              <a:t>cloud.</a:t>
            </a:r>
            <a:endParaRPr sz="235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43687" y="3348633"/>
            <a:ext cx="321468" cy="428625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387668" y="3632596"/>
            <a:ext cx="45656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83540" algn="l"/>
              </a:tabLst>
            </a:pPr>
            <a:r>
              <a:rPr sz="1050" spc="-10" dirty="0">
                <a:solidFill>
                  <a:srgbClr val="727272"/>
                </a:solidFill>
                <a:latin typeface="Calibri"/>
                <a:cs typeface="Calibri"/>
              </a:rPr>
              <a:t>A</a:t>
            </a:r>
            <a:r>
              <a:rPr sz="1050" spc="-10" dirty="0">
                <a:solidFill>
                  <a:srgbClr val="757575"/>
                </a:solidFill>
                <a:latin typeface="Calibri"/>
                <a:cs typeface="Calibri"/>
              </a:rPr>
              <a:t>S</a:t>
            </a:r>
            <a:r>
              <a:rPr sz="1050" spc="-10" dirty="0">
                <a:solidFill>
                  <a:srgbClr val="727272"/>
                </a:solidFill>
                <a:latin typeface="Calibri"/>
                <a:cs typeface="Calibri"/>
              </a:rPr>
              <a:t>rc</a:t>
            </a:r>
            <a:r>
              <a:rPr sz="1050" spc="-10" dirty="0">
                <a:solidFill>
                  <a:srgbClr val="757575"/>
                </a:solidFill>
                <a:latin typeface="Calibri"/>
                <a:cs typeface="Calibri"/>
              </a:rPr>
              <a:t>t</a:t>
            </a:r>
            <a:r>
              <a:rPr sz="1050" dirty="0">
                <a:solidFill>
                  <a:srgbClr val="757575"/>
                </a:solidFill>
                <a:latin typeface="Calibri"/>
                <a:cs typeface="Calibri"/>
              </a:rPr>
              <a:t>	</a:t>
            </a:r>
            <a:r>
              <a:rPr sz="1050" spc="-50" dirty="0">
                <a:solidFill>
                  <a:srgbClr val="858585"/>
                </a:solidFill>
                <a:latin typeface="Calibri"/>
                <a:cs typeface="Calibri"/>
              </a:rPr>
              <a:t>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96417" y="3632596"/>
            <a:ext cx="20320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5" dirty="0">
                <a:solidFill>
                  <a:srgbClr val="777777"/>
                </a:solidFill>
                <a:latin typeface="Calibri"/>
                <a:cs typeface="Calibri"/>
              </a:rPr>
              <a:t>ect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20570" y="3847207"/>
            <a:ext cx="1235710" cy="0"/>
          </a:xfrm>
          <a:custGeom>
            <a:avLst/>
            <a:gdLst/>
            <a:ahLst/>
            <a:cxnLst/>
            <a:rect l="l" t="t" r="r" b="b"/>
            <a:pathLst>
              <a:path w="1235709">
                <a:moveTo>
                  <a:pt x="0" y="0"/>
                </a:moveTo>
                <a:lnTo>
                  <a:pt x="1235274" y="0"/>
                </a:lnTo>
              </a:path>
            </a:pathLst>
          </a:custGeom>
          <a:ln w="3175">
            <a:solidFill>
              <a:srgbClr val="74747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object 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8241" y="3911202"/>
            <a:ext cx="1732360" cy="99119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5457527" y="5066108"/>
            <a:ext cx="0" cy="410845"/>
          </a:xfrm>
          <a:custGeom>
            <a:avLst/>
            <a:gdLst/>
            <a:ahLst/>
            <a:cxnLst/>
            <a:rect l="l" t="t" r="r" b="b"/>
            <a:pathLst>
              <a:path h="410845">
                <a:moveTo>
                  <a:pt x="0" y="410765"/>
                </a:moveTo>
                <a:lnTo>
                  <a:pt x="0" y="0"/>
                </a:lnTo>
              </a:path>
            </a:pathLst>
          </a:custGeom>
          <a:ln w="8929">
            <a:solidFill>
              <a:srgbClr val="6464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453062" y="5033366"/>
            <a:ext cx="2652395" cy="443865"/>
            <a:chOff x="5453062" y="5033366"/>
            <a:chExt cx="2652395" cy="443865"/>
          </a:xfrm>
        </p:grpSpPr>
        <p:sp>
          <p:nvSpPr>
            <p:cNvPr id="7" name="object 7"/>
            <p:cNvSpPr/>
            <p:nvPr/>
          </p:nvSpPr>
          <p:spPr>
            <a:xfrm>
              <a:off x="8100714" y="5066108"/>
              <a:ext cx="0" cy="410845"/>
            </a:xfrm>
            <a:custGeom>
              <a:avLst/>
              <a:gdLst/>
              <a:ahLst/>
              <a:cxnLst/>
              <a:rect l="l" t="t" r="r" b="b"/>
              <a:pathLst>
                <a:path h="410845">
                  <a:moveTo>
                    <a:pt x="0" y="410765"/>
                  </a:moveTo>
                  <a:lnTo>
                    <a:pt x="0" y="0"/>
                  </a:lnTo>
                </a:path>
              </a:pathLst>
            </a:custGeom>
            <a:ln w="8929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622976" y="5070573"/>
              <a:ext cx="482600" cy="0"/>
            </a:xfrm>
            <a:custGeom>
              <a:avLst/>
              <a:gdLst/>
              <a:ahLst/>
              <a:cxnLst/>
              <a:rect l="l" t="t" r="r" b="b"/>
              <a:pathLst>
                <a:path w="482600">
                  <a:moveTo>
                    <a:pt x="0" y="0"/>
                  </a:moveTo>
                  <a:lnTo>
                    <a:pt x="482203" y="0"/>
                  </a:lnTo>
                </a:path>
              </a:pathLst>
            </a:custGeom>
            <a:ln w="8929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453062" y="5472410"/>
              <a:ext cx="2652395" cy="0"/>
            </a:xfrm>
            <a:custGeom>
              <a:avLst/>
              <a:gdLst/>
              <a:ahLst/>
              <a:cxnLst/>
              <a:rect l="l" t="t" r="r" b="b"/>
              <a:pathLst>
                <a:path w="2652395">
                  <a:moveTo>
                    <a:pt x="0" y="0"/>
                  </a:moveTo>
                  <a:lnTo>
                    <a:pt x="2652118" y="0"/>
                  </a:lnTo>
                </a:path>
              </a:pathLst>
            </a:custGeom>
            <a:ln w="8929">
              <a:solidFill>
                <a:srgbClr val="6464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518547" y="5043784"/>
              <a:ext cx="262255" cy="0"/>
            </a:xfrm>
            <a:custGeom>
              <a:avLst/>
              <a:gdLst/>
              <a:ahLst/>
              <a:cxnLst/>
              <a:rect l="l" t="t" r="r" b="b"/>
              <a:pathLst>
                <a:path w="262254">
                  <a:moveTo>
                    <a:pt x="0" y="0"/>
                  </a:moveTo>
                  <a:lnTo>
                    <a:pt x="261937" y="0"/>
                  </a:lnTo>
                </a:path>
              </a:pathLst>
            </a:custGeom>
            <a:ln w="2083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461992" y="5064075"/>
            <a:ext cx="2634615" cy="37528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40080" marR="77470" indent="-506730">
              <a:lnSpc>
                <a:spcPct val="106500"/>
              </a:lnSpc>
              <a:spcBef>
                <a:spcPts val="35"/>
              </a:spcBef>
            </a:pPr>
            <a:r>
              <a:rPr sz="1100" spc="10" dirty="0">
                <a:solidFill>
                  <a:srgbClr val="232323"/>
                </a:solidFill>
                <a:latin typeface="Calibri"/>
                <a:cs typeface="Calibri"/>
              </a:rPr>
              <a:t>Infrastructure</a:t>
            </a:r>
            <a:r>
              <a:rPr sz="1100" spc="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3D3D3D"/>
                </a:solidFill>
                <a:latin typeface="Calibri"/>
                <a:cs typeface="Calibri"/>
              </a:rPr>
              <a:t>services</a:t>
            </a:r>
            <a:r>
              <a:rPr sz="1100" spc="1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100" spc="10" dirty="0">
                <a:solidFill>
                  <a:srgbClr val="2F2F2F"/>
                </a:solidFill>
                <a:latin typeface="Calibri"/>
                <a:cs typeface="Calibri"/>
              </a:rPr>
              <a:t>for</a:t>
            </a:r>
            <a:r>
              <a:rPr sz="1100" spc="1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262626"/>
                </a:solidFill>
                <a:latin typeface="Calibri"/>
                <a:cs typeface="Calibri"/>
              </a:rPr>
              <a:t>virtualization, </a:t>
            </a:r>
            <a:r>
              <a:rPr sz="1100" dirty="0">
                <a:solidFill>
                  <a:srgbClr val="343434"/>
                </a:solidFill>
                <a:latin typeface="Calibri"/>
                <a:cs typeface="Calibri"/>
              </a:rPr>
              <a:t>storage</a:t>
            </a:r>
            <a:r>
              <a:rPr sz="1100" spc="16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494949"/>
                </a:solidFill>
                <a:latin typeface="Calibri"/>
                <a:cs typeface="Calibri"/>
              </a:rPr>
              <a:t>and</a:t>
            </a:r>
            <a:r>
              <a:rPr sz="1100" spc="120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100" spc="-10" dirty="0">
                <a:solidFill>
                  <a:srgbClr val="3B3B3B"/>
                </a:solidFill>
                <a:latin typeface="Calibri"/>
                <a:cs typeface="Calibri"/>
              </a:rPr>
              <a:t>networking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62175" y="6287752"/>
            <a:ext cx="3145790" cy="307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65"/>
              </a:lnSpc>
            </a:pPr>
            <a:r>
              <a:rPr sz="1000" dirty="0">
                <a:solidFill>
                  <a:srgbClr val="2F2F2F"/>
                </a:solidFill>
                <a:latin typeface="Calibri"/>
                <a:cs typeface="Calibri"/>
              </a:rPr>
              <a:t>Milad</a:t>
            </a:r>
            <a:r>
              <a:rPr sz="1000" spc="4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43434"/>
                </a:solidFill>
                <a:latin typeface="Calibri"/>
                <a:cs typeface="Calibri"/>
              </a:rPr>
              <a:t>Jalalimehr</a:t>
            </a:r>
            <a:r>
              <a:rPr sz="1000" spc="1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39393"/>
                </a:solidFill>
                <a:latin typeface="Calibri"/>
                <a:cs typeface="Calibri"/>
              </a:rPr>
              <a:t>-</a:t>
            </a:r>
            <a:r>
              <a:rPr sz="1000" spc="229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45454"/>
                </a:solidFill>
                <a:latin typeface="Calibri"/>
                <a:cs typeface="Calibri"/>
              </a:rPr>
              <a:t>Operating</a:t>
            </a:r>
            <a:r>
              <a:rPr sz="1000" spc="10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D2D2D"/>
                </a:solidFill>
                <a:latin typeface="Calibri"/>
                <a:cs typeface="Calibri"/>
              </a:rPr>
              <a:t>System</a:t>
            </a:r>
            <a:r>
              <a:rPr sz="1000" spc="10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A3A3A"/>
                </a:solidFill>
                <a:latin typeface="Calibri"/>
                <a:cs typeface="Calibri"/>
              </a:rPr>
              <a:t>for</a:t>
            </a:r>
            <a:r>
              <a:rPr sz="1000" spc="2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64646"/>
                </a:solidFill>
                <a:latin typeface="Calibri"/>
                <a:cs typeface="Calibri"/>
              </a:rPr>
              <a:t>Clouds</a:t>
            </a:r>
            <a:endParaRPr sz="1000">
              <a:latin typeface="Calibri"/>
              <a:cs typeface="Calibri"/>
            </a:endParaRPr>
          </a:p>
          <a:p>
            <a:pPr marL="12700">
              <a:lnSpc>
                <a:spcPts val="1200"/>
              </a:lnSpc>
            </a:pPr>
            <a:r>
              <a:rPr sz="1000" dirty="0">
                <a:solidFill>
                  <a:srgbClr val="363636"/>
                </a:solidFill>
                <a:latin typeface="Calibri"/>
                <a:cs typeface="Calibri"/>
              </a:rPr>
              <a:t>Mazandaran</a:t>
            </a:r>
            <a:r>
              <a:rPr sz="1000" spc="4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39393"/>
                </a:solidFill>
                <a:latin typeface="Calibri"/>
                <a:cs typeface="Calibri"/>
              </a:rPr>
              <a:t>University</a:t>
            </a:r>
            <a:r>
              <a:rPr sz="1000" spc="105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B5B5B"/>
                </a:solidFill>
                <a:latin typeface="Calibri"/>
                <a:cs typeface="Calibri"/>
              </a:rPr>
              <a:t>of</a:t>
            </a:r>
            <a:r>
              <a:rPr sz="1000" spc="65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D3D3D"/>
                </a:solidFill>
                <a:latin typeface="Calibri"/>
                <a:cs typeface="Calibri"/>
              </a:rPr>
              <a:t>Science</a:t>
            </a:r>
            <a:r>
              <a:rPr sz="1000" spc="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1000" spc="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43434"/>
                </a:solidFill>
                <a:latin typeface="Calibri"/>
                <a:cs typeface="Calibri"/>
              </a:rPr>
              <a:t>Technology</a:t>
            </a:r>
            <a:r>
              <a:rPr sz="1000" spc="8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3A3A3A"/>
                </a:solidFill>
                <a:latin typeface="Calibri"/>
                <a:cs typeface="Calibri"/>
              </a:rPr>
              <a:t>(MUST)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363851" y="6358259"/>
            <a:ext cx="393700" cy="186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0"/>
              </a:lnSpc>
            </a:pPr>
            <a:r>
              <a:rPr sz="1250" dirty="0">
                <a:solidFill>
                  <a:srgbClr val="3F3F3F"/>
                </a:solidFill>
                <a:latin typeface="Calibri"/>
                <a:cs typeface="Calibri"/>
              </a:rPr>
              <a:t>6</a:t>
            </a:r>
            <a:r>
              <a:rPr sz="1250" spc="1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250" spc="-150" dirty="0">
                <a:solidFill>
                  <a:srgbClr val="464646"/>
                </a:solidFill>
                <a:latin typeface="Calibri"/>
                <a:cs typeface="Calibri"/>
              </a:rPr>
              <a:t>/</a:t>
            </a:r>
            <a:r>
              <a:rPr sz="1250" spc="-2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282828"/>
                </a:solidFill>
                <a:latin typeface="Calibri"/>
                <a:cs typeface="Calibri"/>
              </a:rPr>
              <a:t>1g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062632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0190">
              <a:lnSpc>
                <a:spcPct val="100000"/>
              </a:lnSpc>
              <a:spcBef>
                <a:spcPts val="90"/>
              </a:spcBef>
            </a:pPr>
            <a:r>
              <a:rPr dirty="0">
                <a:solidFill>
                  <a:srgbClr val="183D6B"/>
                </a:solidFill>
              </a:rPr>
              <a:t>Paradigm</a:t>
            </a:r>
            <a:r>
              <a:rPr spc="10" dirty="0">
                <a:solidFill>
                  <a:srgbClr val="183D6B"/>
                </a:solidFill>
              </a:rPr>
              <a:t> </a:t>
            </a:r>
            <a:r>
              <a:rPr dirty="0">
                <a:solidFill>
                  <a:srgbClr val="0E2A52"/>
                </a:solidFill>
              </a:rPr>
              <a:t>used</a:t>
            </a:r>
            <a:r>
              <a:rPr spc="-55" dirty="0">
                <a:solidFill>
                  <a:srgbClr val="0E2A52"/>
                </a:solidFill>
              </a:rPr>
              <a:t> </a:t>
            </a:r>
            <a:r>
              <a:rPr dirty="0">
                <a:solidFill>
                  <a:srgbClr val="2F2F2F"/>
                </a:solidFill>
              </a:rPr>
              <a:t>in</a:t>
            </a:r>
            <a:r>
              <a:rPr spc="-15" dirty="0">
                <a:solidFill>
                  <a:srgbClr val="2F2F2F"/>
                </a:solidFill>
              </a:rPr>
              <a:t> </a:t>
            </a:r>
            <a:r>
              <a:rPr dirty="0">
                <a:solidFill>
                  <a:srgbClr val="213D64"/>
                </a:solidFill>
              </a:rPr>
              <a:t>Cloud</a:t>
            </a:r>
            <a:r>
              <a:rPr spc="75" dirty="0">
                <a:solidFill>
                  <a:srgbClr val="213D64"/>
                </a:solidFill>
              </a:rPr>
              <a:t> </a:t>
            </a:r>
            <a:r>
              <a:rPr dirty="0"/>
              <a:t>Operating</a:t>
            </a:r>
            <a:r>
              <a:rPr spc="165" dirty="0"/>
              <a:t> </a:t>
            </a:r>
            <a:r>
              <a:rPr spc="-10" dirty="0">
                <a:solidFill>
                  <a:srgbClr val="11315D"/>
                </a:solidFill>
              </a:rPr>
              <a:t>System: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526975" y="3239938"/>
            <a:ext cx="2500630" cy="2068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solidFill>
                  <a:srgbClr val="2B2B2B"/>
                </a:solidFill>
                <a:latin typeface="Calibri"/>
                <a:cs typeface="Calibri"/>
              </a:rPr>
              <a:t>Object</a:t>
            </a:r>
            <a:endParaRPr sz="2200">
              <a:latin typeface="Calibri"/>
              <a:cs typeface="Calibri"/>
            </a:endParaRPr>
          </a:p>
          <a:p>
            <a:pPr marL="15240">
              <a:lnSpc>
                <a:spcPct val="100000"/>
              </a:lnSpc>
              <a:spcBef>
                <a:spcPts val="1875"/>
              </a:spcBef>
            </a:pPr>
            <a:r>
              <a:rPr sz="2150" spc="-10" dirty="0">
                <a:solidFill>
                  <a:srgbClr val="283352"/>
                </a:solidFill>
                <a:latin typeface="Calibri"/>
                <a:cs typeface="Calibri"/>
              </a:rPr>
              <a:t>Thread</a:t>
            </a: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1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21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300" spc="-60" dirty="0">
                <a:solidFill>
                  <a:srgbClr val="263F60"/>
                </a:solidFill>
                <a:latin typeface="Calibri"/>
                <a:cs typeface="Calibri"/>
              </a:rPr>
              <a:t>Object-</a:t>
            </a:r>
            <a:r>
              <a:rPr sz="2300" spc="-25" dirty="0">
                <a:solidFill>
                  <a:srgbClr val="263F60"/>
                </a:solidFill>
                <a:latin typeface="Calibri"/>
                <a:cs typeface="Calibri"/>
              </a:rPr>
              <a:t>Thread</a:t>
            </a:r>
            <a:r>
              <a:rPr sz="2300" spc="60" dirty="0">
                <a:solidFill>
                  <a:srgbClr val="263F60"/>
                </a:solidFill>
                <a:latin typeface="Calibri"/>
                <a:cs typeface="Calibri"/>
              </a:rPr>
              <a:t> </a:t>
            </a:r>
            <a:r>
              <a:rPr sz="2300" spc="-10" dirty="0">
                <a:solidFill>
                  <a:srgbClr val="1D334D"/>
                </a:solidFill>
                <a:latin typeface="Calibri"/>
                <a:cs typeface="Calibri"/>
              </a:rPr>
              <a:t>Model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3510" y="6256932"/>
            <a:ext cx="3136265" cy="332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998219" algn="l"/>
              </a:tabLst>
            </a:pPr>
            <a:r>
              <a:rPr sz="950" spc="-40" dirty="0">
                <a:solidFill>
                  <a:srgbClr val="4D4D4D"/>
                </a:solidFill>
                <a:latin typeface="Calibri"/>
                <a:cs typeface="Calibri"/>
              </a:rPr>
              <a:t>.\'\iIad</a:t>
            </a:r>
            <a:r>
              <a:rPr sz="950" spc="2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343434"/>
                </a:solidFill>
                <a:latin typeface="Calibri"/>
                <a:cs typeface="Calibri"/>
              </a:rPr>
              <a:t>.!a|a|imchr</a:t>
            </a:r>
            <a:r>
              <a:rPr sz="950" dirty="0">
                <a:solidFill>
                  <a:srgbClr val="343434"/>
                </a:solidFill>
                <a:latin typeface="Calibri"/>
                <a:cs typeface="Calibri"/>
              </a:rPr>
              <a:t>	</a:t>
            </a:r>
            <a:r>
              <a:rPr sz="950" dirty="0">
                <a:solidFill>
                  <a:srgbClr val="313131"/>
                </a:solidFill>
                <a:latin typeface="Calibri"/>
                <a:cs typeface="Calibri"/>
              </a:rPr>
              <a:t>Opera-ine,</a:t>
            </a:r>
            <a:r>
              <a:rPr sz="950" spc="14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313131"/>
                </a:solidFill>
                <a:latin typeface="Calibri"/>
                <a:cs typeface="Calibri"/>
              </a:rPr>
              <a:t>System</a:t>
            </a:r>
            <a:r>
              <a:rPr sz="950" spc="21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950" dirty="0">
                <a:solidFill>
                  <a:srgbClr val="565656"/>
                </a:solidFill>
                <a:latin typeface="Calibri"/>
                <a:cs typeface="Calibri"/>
              </a:rPr>
              <a:t>for</a:t>
            </a:r>
            <a:r>
              <a:rPr sz="950" spc="10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950" spc="-10" dirty="0">
                <a:solidFill>
                  <a:srgbClr val="444444"/>
                </a:solidFill>
                <a:latin typeface="Calibri"/>
                <a:cs typeface="Calibri"/>
              </a:rPr>
              <a:t>Clouds</a:t>
            </a:r>
            <a:endParaRPr sz="9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000" spc="-40" dirty="0">
                <a:solidFill>
                  <a:srgbClr val="3F3F3F"/>
                </a:solidFill>
                <a:latin typeface="Calibri"/>
                <a:cs typeface="Calibri"/>
              </a:rPr>
              <a:t>.\Jnza</a:t>
            </a:r>
            <a:r>
              <a:rPr sz="1000" spc="-1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000" spc="-55" dirty="0">
                <a:solidFill>
                  <a:srgbClr val="262626"/>
                </a:solidFill>
                <a:latin typeface="Calibri"/>
                <a:cs typeface="Calibri"/>
              </a:rPr>
              <a:t>nc!nrnn</a:t>
            </a:r>
            <a:r>
              <a:rPr sz="1000" spc="-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00" spc="-20" dirty="0">
                <a:solidFill>
                  <a:srgbClr val="444444"/>
                </a:solidFill>
                <a:latin typeface="Calibri"/>
                <a:cs typeface="Calibri"/>
              </a:rPr>
              <a:t>UniveFsit</a:t>
            </a:r>
            <a:r>
              <a:rPr sz="1000" spc="-5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000" spc="-85" dirty="0">
                <a:solidFill>
                  <a:srgbClr val="757575"/>
                </a:solidFill>
                <a:latin typeface="Calibri"/>
                <a:cs typeface="Calibri"/>
              </a:rPr>
              <a:t>y</a:t>
            </a:r>
            <a:r>
              <a:rPr sz="1000" spc="10" dirty="0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1000" spc="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F2F2F"/>
                </a:solidFill>
                <a:latin typeface="Calibri"/>
                <a:cs typeface="Calibri"/>
              </a:rPr>
              <a:t>Science</a:t>
            </a:r>
            <a:r>
              <a:rPr sz="1000" spc="1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00" spc="-55" dirty="0">
                <a:solidFill>
                  <a:srgbClr val="494949"/>
                </a:solidFill>
                <a:latin typeface="Calibri"/>
                <a:cs typeface="Calibri"/>
              </a:rPr>
              <a:t>anc!</a:t>
            </a:r>
            <a:r>
              <a:rPr sz="1000" spc="1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F1F1F"/>
                </a:solidFill>
                <a:latin typeface="Calibri"/>
                <a:cs typeface="Calibri"/>
              </a:rPr>
              <a:t>Tecl*nolo</a:t>
            </a:r>
            <a:r>
              <a:rPr sz="1000" spc="45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F1F1F"/>
                </a:solidFill>
                <a:latin typeface="Calibri"/>
                <a:cs typeface="Calibri"/>
              </a:rPr>
              <a:t>y</a:t>
            </a:r>
            <a:r>
              <a:rPr sz="1000" spc="-1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313131"/>
                </a:solidFill>
                <a:latin typeface="Calibri"/>
                <a:cs typeface="Calibri"/>
              </a:rPr>
              <a:t>(MUST)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4976" y="6366867"/>
            <a:ext cx="348257" cy="1518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196578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9757" y="3098601"/>
            <a:ext cx="7224116" cy="26699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586047" y="3284339"/>
            <a:ext cx="85407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latin typeface="Arial"/>
                <a:cs typeface="Arial"/>
              </a:rPr>
              <a:t>Application</a:t>
            </a:r>
            <a:r>
              <a:rPr sz="1050" spc="345" dirty="0"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0F0F0F"/>
                </a:solidFill>
                <a:latin typeface="Arial"/>
                <a:cs typeface="Arial"/>
              </a:rPr>
              <a:t>A</a:t>
            </a:r>
            <a:endParaRPr sz="10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14797" y="3284339"/>
            <a:ext cx="84137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latin typeface="Arial"/>
                <a:cs typeface="Arial"/>
              </a:rPr>
              <a:t>Application</a:t>
            </a:r>
            <a:r>
              <a:rPr sz="1050" spc="275" dirty="0">
                <a:latin typeface="Arial"/>
                <a:cs typeface="Arial"/>
              </a:rPr>
              <a:t> </a:t>
            </a:r>
            <a:r>
              <a:rPr sz="1050" spc="-50" dirty="0">
                <a:latin typeface="Arial"/>
                <a:cs typeface="Arial"/>
              </a:rPr>
              <a:t>B</a:t>
            </a:r>
            <a:endParaRPr sz="10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07828" y="3108721"/>
            <a:ext cx="848360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" marR="5080" indent="-24765">
              <a:lnSpc>
                <a:spcPct val="142300"/>
              </a:lnSpc>
              <a:spcBef>
                <a:spcPts val="95"/>
              </a:spcBef>
            </a:pPr>
            <a:r>
              <a:rPr sz="1050" dirty="0">
                <a:latin typeface="Arial"/>
                <a:cs typeface="Arial"/>
              </a:rPr>
              <a:t>Application</a:t>
            </a:r>
            <a:r>
              <a:rPr sz="1050" spc="300" dirty="0">
                <a:latin typeface="Arial"/>
                <a:cs typeface="Arial"/>
              </a:rPr>
              <a:t> </a:t>
            </a:r>
            <a:r>
              <a:rPr sz="1050" spc="-80" dirty="0">
                <a:solidFill>
                  <a:srgbClr val="494949"/>
                </a:solidFill>
                <a:latin typeface="Arial"/>
                <a:cs typeface="Arial"/>
              </a:rPr>
              <a:t>C </a:t>
            </a:r>
            <a:r>
              <a:rPr sz="1050" dirty="0">
                <a:solidFill>
                  <a:srgbClr val="0F0F0F"/>
                </a:solidFill>
                <a:latin typeface="Arial"/>
                <a:cs typeface="Arial"/>
              </a:rPr>
              <a:t>User</a:t>
            </a:r>
            <a:r>
              <a:rPr sz="1050" spc="70" dirty="0">
                <a:solidFill>
                  <a:srgbClr val="0F0F0F"/>
                </a:solidFill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Library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7866" y="3607048"/>
            <a:ext cx="1012190" cy="4381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7620" algn="ctr">
              <a:lnSpc>
                <a:spcPts val="1614"/>
              </a:lnSpc>
              <a:spcBef>
                <a:spcPts val="114"/>
              </a:spcBef>
            </a:pPr>
            <a:r>
              <a:rPr sz="1400" spc="105" dirty="0">
                <a:latin typeface="Calibri"/>
                <a:cs typeface="Calibri"/>
              </a:rPr>
              <a:t>Cloud</a:t>
            </a:r>
            <a:endParaRPr sz="1400">
              <a:latin typeface="Calibri"/>
              <a:cs typeface="Calibri"/>
            </a:endParaRPr>
          </a:p>
          <a:p>
            <a:pPr algn="ctr">
              <a:lnSpc>
                <a:spcPts val="1614"/>
              </a:lnSpc>
            </a:pPr>
            <a:r>
              <a:rPr sz="1400" dirty="0">
                <a:latin typeface="Arial"/>
                <a:cs typeface="Arial"/>
              </a:rPr>
              <a:t>User</a:t>
            </a:r>
            <a:r>
              <a:rPr sz="1400" spc="27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Space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85764" y="4025502"/>
            <a:ext cx="72072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latin typeface="Arial"/>
                <a:cs typeface="Arial"/>
              </a:rPr>
              <a:t>Replication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51125" y="4025502"/>
            <a:ext cx="51308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latin typeface="Arial"/>
                <a:cs typeface="Arial"/>
              </a:rPr>
              <a:t>Storage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31322" y="3143448"/>
            <a:ext cx="1416050" cy="15494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269240" marR="276860" indent="7620" algn="ctr">
              <a:lnSpc>
                <a:spcPts val="1270"/>
              </a:lnSpc>
              <a:spcBef>
                <a:spcPts val="350"/>
              </a:spcBef>
            </a:pPr>
            <a:r>
              <a:rPr sz="1250" spc="-20" dirty="0">
                <a:latin typeface="Arial"/>
                <a:cs typeface="Arial"/>
              </a:rPr>
              <a:t>User </a:t>
            </a:r>
            <a:r>
              <a:rPr sz="1250" spc="-10" dirty="0">
                <a:latin typeface="Arial"/>
                <a:cs typeface="Arial"/>
              </a:rPr>
              <a:t>Appllcatio»s</a:t>
            </a:r>
            <a:endParaRPr sz="1250">
              <a:latin typeface="Arial"/>
              <a:cs typeface="Arial"/>
            </a:endParaRPr>
          </a:p>
          <a:p>
            <a:pPr marL="10160" algn="ctr">
              <a:lnSpc>
                <a:spcPct val="100000"/>
              </a:lnSpc>
              <a:spcBef>
                <a:spcPts val="1085"/>
              </a:spcBef>
            </a:pPr>
            <a:r>
              <a:rPr sz="1050" spc="60" dirty="0">
                <a:latin typeface="Arial"/>
                <a:cs typeface="Arial"/>
              </a:rPr>
              <a:t>Cloud</a:t>
            </a:r>
            <a:r>
              <a:rPr sz="1050" spc="85" dirty="0">
                <a:latin typeface="Arial"/>
                <a:cs typeface="Arial"/>
              </a:rPr>
              <a:t> </a:t>
            </a:r>
            <a:r>
              <a:rPr sz="1050" spc="105" dirty="0">
                <a:latin typeface="Arial"/>
                <a:cs typeface="Arial"/>
              </a:rPr>
              <a:t>Library</a:t>
            </a:r>
            <a:r>
              <a:rPr sz="1050" spc="110" dirty="0">
                <a:latin typeface="Arial"/>
                <a:cs typeface="Arial"/>
              </a:rPr>
              <a:t> </a:t>
            </a:r>
            <a:r>
              <a:rPr sz="1050" spc="35" dirty="0">
                <a:latin typeface="Arial"/>
                <a:cs typeface="Arial"/>
              </a:rPr>
              <a:t>API</a:t>
            </a:r>
            <a:endParaRPr sz="1050">
              <a:latin typeface="Arial"/>
              <a:cs typeface="Arial"/>
            </a:endParaRPr>
          </a:p>
          <a:p>
            <a:pPr marL="237490" marR="168275" indent="-64769">
              <a:lnSpc>
                <a:spcPct val="81900"/>
              </a:lnSpc>
              <a:spcBef>
                <a:spcPts val="655"/>
              </a:spcBef>
            </a:pPr>
            <a:r>
              <a:rPr sz="1050" spc="60" dirty="0">
                <a:latin typeface="Arial"/>
                <a:cs typeface="Arial"/>
              </a:rPr>
              <a:t>Cloud</a:t>
            </a:r>
            <a:r>
              <a:rPr sz="1050" spc="90" dirty="0">
                <a:latin typeface="Arial"/>
                <a:cs typeface="Arial"/>
              </a:rPr>
              <a:t> </a:t>
            </a:r>
            <a:r>
              <a:rPr sz="1050" spc="80" dirty="0">
                <a:latin typeface="Arial"/>
                <a:cs typeface="Arial"/>
              </a:rPr>
              <a:t>Libraries </a:t>
            </a:r>
            <a:r>
              <a:rPr sz="1050" dirty="0">
                <a:solidFill>
                  <a:srgbClr val="6E6E6E"/>
                </a:solidFill>
                <a:latin typeface="Arial"/>
                <a:cs typeface="Arial"/>
              </a:rPr>
              <a:t>a</a:t>
            </a:r>
            <a:r>
              <a:rPr sz="1050" spc="125" dirty="0">
                <a:solidFill>
                  <a:srgbClr val="6E6E6E"/>
                </a:solidFill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standard</a:t>
            </a:r>
            <a:r>
              <a:rPr sz="1050" spc="254" dirty="0">
                <a:latin typeface="Arial"/>
                <a:cs typeface="Arial"/>
              </a:rPr>
              <a:t> </a:t>
            </a:r>
            <a:r>
              <a:rPr sz="1050" spc="-25" dirty="0">
                <a:solidFill>
                  <a:srgbClr val="2D2D2D"/>
                </a:solidFill>
                <a:latin typeface="Arial"/>
                <a:cs typeface="Arial"/>
              </a:rPr>
              <a:t>set </a:t>
            </a:r>
            <a:r>
              <a:rPr sz="1150" dirty="0">
                <a:latin typeface="Arial"/>
                <a:cs typeface="Arial"/>
              </a:rPr>
              <a:t>of</a:t>
            </a:r>
            <a:r>
              <a:rPr sz="1150" spc="-30" dirty="0">
                <a:latin typeface="Arial"/>
                <a:cs typeface="Arial"/>
              </a:rPr>
              <a:t> </a:t>
            </a:r>
            <a:r>
              <a:rPr sz="1150" spc="-10" dirty="0">
                <a:latin typeface="Arial"/>
                <a:cs typeface="Arial"/>
              </a:rPr>
              <a:t>distr|</a:t>
            </a:r>
            <a:r>
              <a:rPr sz="1150" spc="-10" dirty="0">
                <a:solidFill>
                  <a:srgbClr val="1A1A1A"/>
                </a:solidFill>
                <a:latin typeface="Arial"/>
                <a:cs typeface="Arial"/>
              </a:rPr>
              <a:t>buted</a:t>
            </a:r>
            <a:endParaRPr sz="1150">
              <a:latin typeface="Arial"/>
              <a:cs typeface="Arial"/>
            </a:endParaRPr>
          </a:p>
          <a:p>
            <a:pPr algn="ctr">
              <a:lnSpc>
                <a:spcPts val="1220"/>
              </a:lnSpc>
            </a:pPr>
            <a:r>
              <a:rPr sz="1100" spc="-10" dirty="0">
                <a:latin typeface="Arial"/>
                <a:cs typeface="Arial"/>
              </a:rPr>
              <a:t>systems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25"/>
              </a:spcBef>
            </a:pPr>
            <a:r>
              <a:rPr sz="1050" spc="60" dirty="0">
                <a:latin typeface="Arial"/>
                <a:cs typeface="Arial"/>
              </a:rPr>
              <a:t>Cloud</a:t>
            </a:r>
            <a:r>
              <a:rPr sz="1050" spc="480" dirty="0">
                <a:latin typeface="Arial"/>
                <a:cs typeface="Arial"/>
              </a:rPr>
              <a:t> </a:t>
            </a:r>
            <a:r>
              <a:rPr sz="1050" spc="114" dirty="0">
                <a:latin typeface="Arial"/>
                <a:cs typeface="Arial"/>
              </a:rPr>
              <a:t>system</a:t>
            </a:r>
            <a:r>
              <a:rPr sz="1050" spc="140" dirty="0"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Calls</a:t>
            </a:r>
            <a:endParaRPr sz="10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194" y="4922440"/>
            <a:ext cx="1197610" cy="44323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635" algn="ctr">
              <a:lnSpc>
                <a:spcPts val="1695"/>
              </a:lnSpc>
              <a:spcBef>
                <a:spcPts val="115"/>
              </a:spcBef>
            </a:pPr>
            <a:r>
              <a:rPr sz="1450" spc="85" dirty="0">
                <a:latin typeface="Calibri"/>
                <a:cs typeface="Calibri"/>
              </a:rPr>
              <a:t>Cloud</a:t>
            </a:r>
            <a:endParaRPr sz="1450">
              <a:latin typeface="Calibri"/>
              <a:cs typeface="Calibri"/>
            </a:endParaRPr>
          </a:p>
          <a:p>
            <a:pPr algn="ctr">
              <a:lnSpc>
                <a:spcPts val="1575"/>
              </a:lnSpc>
            </a:pPr>
            <a:r>
              <a:rPr sz="1350" spc="175" dirty="0">
                <a:latin typeface="Calibri"/>
                <a:cs typeface="Calibri"/>
              </a:rPr>
              <a:t>Kernel</a:t>
            </a:r>
            <a:r>
              <a:rPr sz="1350" spc="130" dirty="0">
                <a:latin typeface="Calibri"/>
                <a:cs typeface="Calibri"/>
              </a:rPr>
              <a:t> </a:t>
            </a:r>
            <a:r>
              <a:rPr sz="1350" spc="165" dirty="0">
                <a:latin typeface="Calibri"/>
                <a:cs typeface="Calibri"/>
              </a:rPr>
              <a:t>Space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22730" y="4864893"/>
            <a:ext cx="186182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latin typeface="Arial"/>
                <a:cs typeface="Arial"/>
              </a:rPr>
              <a:t>Virtual</a:t>
            </a:r>
            <a:r>
              <a:rPr sz="1050" spc="185" dirty="0"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0E0E0E"/>
                </a:solidFill>
                <a:latin typeface="Arial"/>
                <a:cs typeface="Arial"/>
              </a:rPr>
              <a:t>Machine</a:t>
            </a:r>
            <a:r>
              <a:rPr sz="1050" spc="135" dirty="0">
                <a:solidFill>
                  <a:srgbClr val="0E0E0E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111111"/>
                </a:solidFill>
                <a:latin typeface="Arial"/>
                <a:cs typeface="Arial"/>
              </a:rPr>
              <a:t>Management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61333" y="4864893"/>
            <a:ext cx="1362710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dirty="0">
                <a:solidFill>
                  <a:srgbClr val="212121"/>
                </a:solidFill>
                <a:latin typeface="Arial"/>
                <a:cs typeface="Arial"/>
              </a:rPr>
              <a:t>Process</a:t>
            </a:r>
            <a:r>
              <a:rPr sz="1050" spc="-15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050" spc="-10" dirty="0">
                <a:latin typeface="Arial"/>
                <a:cs typeface="Arial"/>
              </a:rPr>
              <a:t>Nanagement</a:t>
            </a:r>
            <a:endParaRPr sz="10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53271" y="5325764"/>
            <a:ext cx="889000" cy="2044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50" spc="-25" dirty="0">
                <a:latin typeface="Arial"/>
                <a:cs typeface="Arial"/>
              </a:rPr>
              <a:t>Measurement</a:t>
            </a:r>
            <a:endParaRPr sz="11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00547" y="5338166"/>
            <a:ext cx="950594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solidFill>
                  <a:srgbClr val="111111"/>
                </a:solidFill>
                <a:latin typeface="Arial"/>
                <a:cs typeface="Arial"/>
              </a:rPr>
              <a:t>Authentication</a:t>
            </a:r>
            <a:endParaRPr sz="10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45926" y="4784526"/>
            <a:ext cx="1378585" cy="9328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476884">
              <a:lnSpc>
                <a:spcPct val="100000"/>
              </a:lnSpc>
              <a:spcBef>
                <a:spcPts val="125"/>
              </a:spcBef>
            </a:pPr>
            <a:r>
              <a:rPr sz="1050" spc="80" dirty="0">
                <a:latin typeface="Arial"/>
                <a:cs typeface="Arial"/>
              </a:rPr>
              <a:t>Kernel</a:t>
            </a:r>
            <a:endParaRPr sz="1050">
              <a:latin typeface="Arial"/>
              <a:cs typeface="Arial"/>
            </a:endParaRPr>
          </a:p>
          <a:p>
            <a:pPr marL="120650" marR="65405" indent="10795">
              <a:lnSpc>
                <a:spcPct val="67000"/>
              </a:lnSpc>
              <a:spcBef>
                <a:spcPts val="420"/>
              </a:spcBef>
            </a:pPr>
            <a:r>
              <a:rPr sz="1050" spc="60" dirty="0">
                <a:latin typeface="Arial"/>
                <a:cs typeface="Arial"/>
              </a:rPr>
              <a:t>Cloud</a:t>
            </a:r>
            <a:r>
              <a:rPr sz="1050" spc="90" dirty="0">
                <a:latin typeface="Arial"/>
                <a:cs typeface="Arial"/>
              </a:rPr>
              <a:t> </a:t>
            </a:r>
            <a:r>
              <a:rPr sz="1050" spc="55" dirty="0">
                <a:latin typeface="Arial"/>
                <a:cs typeface="Arial"/>
              </a:rPr>
              <a:t>Processes </a:t>
            </a:r>
            <a:r>
              <a:rPr sz="1050" dirty="0">
                <a:latin typeface="Arial"/>
                <a:cs typeface="Arial"/>
              </a:rPr>
              <a:t>provide</a:t>
            </a:r>
            <a:r>
              <a:rPr sz="1050" spc="305" dirty="0">
                <a:latin typeface="Arial"/>
                <a:cs typeface="Arial"/>
              </a:rPr>
              <a:t> </a:t>
            </a:r>
            <a:r>
              <a:rPr sz="1050" dirty="0">
                <a:latin typeface="Arial"/>
                <a:cs typeface="Arial"/>
              </a:rPr>
              <a:t>cloud-</a:t>
            </a:r>
            <a:r>
              <a:rPr sz="1050" spc="-20" dirty="0">
                <a:latin typeface="Arial"/>
                <a:cs typeface="Arial"/>
              </a:rPr>
              <a:t>wide</a:t>
            </a:r>
            <a:endParaRPr sz="1050">
              <a:latin typeface="Arial"/>
              <a:cs typeface="Arial"/>
            </a:endParaRPr>
          </a:p>
          <a:p>
            <a:pPr algn="ctr">
              <a:lnSpc>
                <a:spcPts val="1250"/>
              </a:lnSpc>
            </a:pPr>
            <a:r>
              <a:rPr sz="1200" spc="-50" dirty="0">
                <a:latin typeface="Arial"/>
                <a:cs typeface="Arial"/>
              </a:rPr>
              <a:t>resource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40" dirty="0">
                <a:solidFill>
                  <a:srgbClr val="151515"/>
                </a:solidFill>
                <a:latin typeface="Arial"/>
                <a:cs typeface="Arial"/>
              </a:rPr>
              <a:t>abstract‹ons</a:t>
            </a:r>
            <a:endParaRPr sz="1200">
              <a:latin typeface="Arial"/>
              <a:cs typeface="Arial"/>
            </a:endParaRPr>
          </a:p>
          <a:p>
            <a:pPr marL="6985" algn="ctr">
              <a:lnSpc>
                <a:spcPts val="1165"/>
              </a:lnSpc>
            </a:pPr>
            <a:r>
              <a:rPr sz="105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05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0C0C0C"/>
                </a:solidFill>
                <a:latin typeface="Arial"/>
                <a:cs typeface="Arial"/>
              </a:rPr>
              <a:t>management</a:t>
            </a:r>
            <a:endParaRPr sz="1050">
              <a:latin typeface="Arial"/>
              <a:cs typeface="Arial"/>
            </a:endParaRPr>
          </a:p>
          <a:p>
            <a:pPr marL="52069" algn="ctr">
              <a:lnSpc>
                <a:spcPts val="1335"/>
              </a:lnSpc>
            </a:pPr>
            <a:r>
              <a:rPr sz="1150" spc="-10" dirty="0">
                <a:latin typeface="Arial"/>
                <a:cs typeface="Arial"/>
              </a:rPr>
              <a:t>interfaces</a:t>
            </a:r>
            <a:endParaRPr sz="11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2880" y="6248995"/>
            <a:ext cx="3129915" cy="34099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15"/>
              </a:spcBef>
            </a:pPr>
            <a:r>
              <a:rPr sz="1050" spc="-60" dirty="0">
                <a:solidFill>
                  <a:srgbClr val="2F2F2F"/>
                </a:solidFill>
                <a:latin typeface="Arial"/>
                <a:cs typeface="Arial"/>
              </a:rPr>
              <a:t>Milad</a:t>
            </a:r>
            <a:r>
              <a:rPr sz="1050" spc="-6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050" spc="-55" dirty="0">
                <a:solidFill>
                  <a:srgbClr val="343434"/>
                </a:solidFill>
                <a:latin typeface="Arial"/>
                <a:cs typeface="Arial"/>
              </a:rPr>
              <a:t>Jalalimehr</a:t>
            </a:r>
            <a:r>
              <a:rPr sz="1050" spc="80" dirty="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sz="1050" spc="-705" dirty="0">
                <a:solidFill>
                  <a:srgbClr val="999999"/>
                </a:solidFill>
                <a:latin typeface="Arial"/>
                <a:cs typeface="Arial"/>
              </a:rPr>
              <a:t>—</a:t>
            </a:r>
            <a:r>
              <a:rPr sz="1050" spc="5" dirty="0">
                <a:solidFill>
                  <a:srgbClr val="999999"/>
                </a:solidFill>
                <a:latin typeface="Arial"/>
                <a:cs typeface="Arial"/>
              </a:rPr>
              <a:t> </a:t>
            </a:r>
            <a:r>
              <a:rPr sz="1050" spc="-70" dirty="0">
                <a:solidFill>
                  <a:srgbClr val="494949"/>
                </a:solidFill>
                <a:latin typeface="Arial"/>
                <a:cs typeface="Arial"/>
              </a:rPr>
              <a:t>Operating</a:t>
            </a:r>
            <a:r>
              <a:rPr sz="1050" spc="-15" dirty="0">
                <a:solidFill>
                  <a:srgbClr val="494949"/>
                </a:solidFill>
                <a:latin typeface="Arial"/>
                <a:cs typeface="Arial"/>
              </a:rPr>
              <a:t> </a:t>
            </a:r>
            <a:r>
              <a:rPr sz="1050" spc="-90" dirty="0">
                <a:solidFill>
                  <a:srgbClr val="5D5D5D"/>
                </a:solidFill>
                <a:latin typeface="Arial"/>
                <a:cs typeface="Arial"/>
              </a:rPr>
              <a:t>System</a:t>
            </a:r>
            <a:r>
              <a:rPr sz="1050" spc="80" dirty="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5D5D5D"/>
                </a:solidFill>
                <a:latin typeface="Arial"/>
                <a:cs typeface="Arial"/>
              </a:rPr>
              <a:t>for</a:t>
            </a:r>
            <a:r>
              <a:rPr sz="1050" spc="-35" dirty="0">
                <a:solidFill>
                  <a:srgbClr val="5D5D5D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545454"/>
                </a:solidFill>
                <a:latin typeface="Arial"/>
                <a:cs typeface="Arial"/>
              </a:rPr>
              <a:t>Clouds </a:t>
            </a:r>
            <a:r>
              <a:rPr sz="1050" spc="-85" dirty="0">
                <a:solidFill>
                  <a:srgbClr val="262626"/>
                </a:solidFill>
                <a:latin typeface="Arial"/>
                <a:cs typeface="Arial"/>
              </a:rPr>
              <a:t>Mazandaran</a:t>
            </a:r>
            <a:r>
              <a:rPr sz="1050" spc="-15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4F4F4F"/>
                </a:solidFill>
                <a:latin typeface="Arial"/>
                <a:cs typeface="Arial"/>
              </a:rPr>
              <a:t>University</a:t>
            </a:r>
            <a:r>
              <a:rPr sz="1050" spc="45" dirty="0">
                <a:solidFill>
                  <a:srgbClr val="4F4F4F"/>
                </a:solidFill>
                <a:latin typeface="Arial"/>
                <a:cs typeface="Arial"/>
              </a:rPr>
              <a:t> </a:t>
            </a:r>
            <a:r>
              <a:rPr sz="1050" dirty="0">
                <a:solidFill>
                  <a:srgbClr val="333333"/>
                </a:solidFill>
                <a:latin typeface="Arial"/>
                <a:cs typeface="Arial"/>
              </a:rPr>
              <a:t>of</a:t>
            </a:r>
            <a:r>
              <a:rPr sz="1050" spc="5" dirty="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sz="1050" spc="-110" dirty="0">
                <a:solidFill>
                  <a:srgbClr val="444444"/>
                </a:solidFill>
                <a:latin typeface="Arial"/>
                <a:cs typeface="Arial"/>
              </a:rPr>
              <a:t>Science</a:t>
            </a:r>
            <a:r>
              <a:rPr sz="1050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050" spc="-85" dirty="0">
                <a:solidFill>
                  <a:srgbClr val="798999"/>
                </a:solidFill>
                <a:latin typeface="Arial"/>
                <a:cs typeface="Arial"/>
              </a:rPr>
              <a:t>and</a:t>
            </a:r>
            <a:r>
              <a:rPr sz="1050" spc="-55" dirty="0">
                <a:solidFill>
                  <a:srgbClr val="798999"/>
                </a:solidFill>
                <a:latin typeface="Arial"/>
                <a:cs typeface="Arial"/>
              </a:rPr>
              <a:t> </a:t>
            </a:r>
            <a:r>
              <a:rPr sz="1050" spc="-70" dirty="0">
                <a:solidFill>
                  <a:srgbClr val="343434"/>
                </a:solidFill>
                <a:latin typeface="Arial"/>
                <a:cs typeface="Arial"/>
              </a:rPr>
              <a:t>Technology</a:t>
            </a:r>
            <a:r>
              <a:rPr sz="1050" spc="25" dirty="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3A3A3A"/>
                </a:solidFill>
                <a:latin typeface="Arial"/>
                <a:cs typeface="Arial"/>
              </a:rPr>
              <a:t>(MUST)</a:t>
            </a:r>
            <a:endParaRPr sz="10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365157" y="6301085"/>
            <a:ext cx="39497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88925" algn="l"/>
              </a:tabLst>
            </a:pPr>
            <a:r>
              <a:rPr sz="1350" spc="-25" dirty="0">
                <a:solidFill>
                  <a:srgbClr val="363636"/>
                </a:solidFill>
                <a:latin typeface="Arial"/>
                <a:cs typeface="Arial"/>
              </a:rPr>
              <a:t>8/</a:t>
            </a:r>
            <a:r>
              <a:rPr sz="1350" dirty="0">
                <a:solidFill>
                  <a:srgbClr val="363636"/>
                </a:solidFill>
                <a:latin typeface="Arial"/>
                <a:cs typeface="Arial"/>
              </a:rPr>
              <a:t>	</a:t>
            </a:r>
            <a:r>
              <a:rPr sz="1350" spc="-50" dirty="0">
                <a:solidFill>
                  <a:srgbClr val="363636"/>
                </a:solidFill>
                <a:latin typeface="Arial"/>
                <a:cs typeface="Arial"/>
              </a:rPr>
              <a:t>8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05370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0347" y="2682081"/>
            <a:ext cx="2940685" cy="160337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2735" marR="5080" indent="-280670">
              <a:lnSpc>
                <a:spcPts val="2880"/>
              </a:lnSpc>
              <a:spcBef>
                <a:spcPts val="235"/>
              </a:spcBef>
              <a:buClr>
                <a:srgbClr val="5BACDB"/>
              </a:buClr>
              <a:buChar char="•"/>
              <a:tabLst>
                <a:tab pos="295910" algn="l"/>
                <a:tab pos="1340485" algn="l"/>
              </a:tabLst>
            </a:pPr>
            <a:r>
              <a:rPr sz="2450" spc="-10" dirty="0">
                <a:solidFill>
                  <a:srgbClr val="1C3B59"/>
                </a:solidFill>
                <a:latin typeface="Calibri"/>
                <a:cs typeface="Calibri"/>
              </a:rPr>
              <a:t>Cloud</a:t>
            </a:r>
            <a:r>
              <a:rPr sz="2450" dirty="0">
                <a:solidFill>
                  <a:srgbClr val="1C3B59"/>
                </a:solidFill>
                <a:latin typeface="Calibri"/>
                <a:cs typeface="Calibri"/>
              </a:rPr>
              <a:t>	</a:t>
            </a:r>
            <a:r>
              <a:rPr sz="2450" spc="-10" dirty="0">
                <a:solidFill>
                  <a:srgbClr val="153446"/>
                </a:solidFill>
                <a:latin typeface="Calibri"/>
                <a:cs typeface="Calibri"/>
              </a:rPr>
              <a:t>computing 	</a:t>
            </a:r>
            <a:r>
              <a:rPr sz="2450" dirty="0">
                <a:solidFill>
                  <a:srgbClr val="132D52"/>
                </a:solidFill>
                <a:latin typeface="Calibri"/>
                <a:cs typeface="Calibri"/>
              </a:rPr>
              <a:t>common</a:t>
            </a:r>
            <a:r>
              <a:rPr sz="2450" spc="85" dirty="0">
                <a:solidFill>
                  <a:srgbClr val="132D52"/>
                </a:solidFill>
                <a:latin typeface="Calibri"/>
                <a:cs typeface="Calibri"/>
              </a:rPr>
              <a:t>  </a:t>
            </a:r>
            <a:r>
              <a:rPr sz="2450" spc="-10" dirty="0">
                <a:solidFill>
                  <a:srgbClr val="183662"/>
                </a:solidFill>
                <a:latin typeface="Calibri"/>
                <a:cs typeface="Calibri"/>
              </a:rPr>
              <a:t>challenges 	</a:t>
            </a:r>
            <a:r>
              <a:rPr sz="2450" dirty="0">
                <a:solidFill>
                  <a:srgbClr val="363636"/>
                </a:solidFill>
                <a:latin typeface="Calibri"/>
                <a:cs typeface="Calibri"/>
              </a:rPr>
              <a:t>system.</a:t>
            </a:r>
            <a:r>
              <a:rPr sz="2450" spc="2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3B3B3B"/>
                </a:solidFill>
                <a:latin typeface="Calibri"/>
                <a:cs typeface="Calibri"/>
              </a:rPr>
              <a:t>Such</a:t>
            </a:r>
            <a:r>
              <a:rPr sz="2450" spc="6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50" spc="-25" dirty="0">
                <a:solidFill>
                  <a:srgbClr val="082446"/>
                </a:solidFill>
                <a:latin typeface="Calibri"/>
                <a:cs typeface="Calibri"/>
              </a:rPr>
              <a:t>as:</a:t>
            </a:r>
            <a:endParaRPr sz="2450">
              <a:latin typeface="Calibri"/>
              <a:cs typeface="Calibri"/>
            </a:endParaRPr>
          </a:p>
          <a:p>
            <a:pPr marL="324485">
              <a:lnSpc>
                <a:spcPct val="100000"/>
              </a:lnSpc>
              <a:spcBef>
                <a:spcPts val="1125"/>
              </a:spcBef>
              <a:tabLst>
                <a:tab pos="603885" algn="l"/>
              </a:tabLst>
            </a:pPr>
            <a:r>
              <a:rPr sz="2100" spc="-50" dirty="0">
                <a:solidFill>
                  <a:srgbClr val="52AFCF"/>
                </a:solidFill>
                <a:latin typeface="Calibri"/>
                <a:cs typeface="Calibri"/>
              </a:rPr>
              <a:t>*</a:t>
            </a:r>
            <a:r>
              <a:rPr sz="2100" dirty="0">
                <a:solidFill>
                  <a:srgbClr val="52AFCF"/>
                </a:solidFill>
                <a:latin typeface="Calibri"/>
                <a:cs typeface="Calibri"/>
              </a:rPr>
              <a:t>	</a:t>
            </a:r>
            <a:r>
              <a:rPr sz="2100" spc="-10" dirty="0">
                <a:solidFill>
                  <a:srgbClr val="23364B"/>
                </a:solidFill>
                <a:latin typeface="Calibri"/>
                <a:cs typeface="Calibri"/>
              </a:rPr>
              <a:t>Scalability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58735" y="2682081"/>
            <a:ext cx="4228465" cy="76390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95885" marR="5080" indent="-83820">
              <a:lnSpc>
                <a:spcPts val="2880"/>
              </a:lnSpc>
              <a:spcBef>
                <a:spcPts val="235"/>
              </a:spcBef>
              <a:tabLst>
                <a:tab pos="2089785" algn="l"/>
                <a:tab pos="3509645" algn="l"/>
              </a:tabLst>
            </a:pPr>
            <a:r>
              <a:rPr sz="2450" spc="-10" dirty="0">
                <a:solidFill>
                  <a:srgbClr val="183664"/>
                </a:solidFill>
                <a:latin typeface="Calibri"/>
                <a:cs typeface="Calibri"/>
              </a:rPr>
              <a:t>infrastructure</a:t>
            </a:r>
            <a:r>
              <a:rPr sz="2450" dirty="0">
                <a:solidFill>
                  <a:srgbClr val="183664"/>
                </a:solidFill>
                <a:latin typeface="Calibri"/>
                <a:cs typeface="Calibri"/>
              </a:rPr>
              <a:t>	</a:t>
            </a:r>
            <a:r>
              <a:rPr sz="2450" spc="-10" dirty="0">
                <a:solidFill>
                  <a:srgbClr val="0A2864"/>
                </a:solidFill>
                <a:latin typeface="Calibri"/>
                <a:cs typeface="Calibri"/>
              </a:rPr>
              <a:t>presents</a:t>
            </a:r>
            <a:r>
              <a:rPr sz="2450" dirty="0">
                <a:solidFill>
                  <a:srgbClr val="0A2864"/>
                </a:solidFill>
                <a:latin typeface="Calibri"/>
                <a:cs typeface="Calibri"/>
              </a:rPr>
              <a:t>	</a:t>
            </a:r>
            <a:r>
              <a:rPr sz="2450" spc="-20" dirty="0">
                <a:solidFill>
                  <a:srgbClr val="184266"/>
                </a:solidFill>
                <a:latin typeface="Calibri"/>
                <a:cs typeface="Calibri"/>
              </a:rPr>
              <a:t>many </a:t>
            </a:r>
            <a:r>
              <a:rPr sz="2450" dirty="0">
                <a:solidFill>
                  <a:srgbClr val="1D2F56"/>
                </a:solidFill>
                <a:latin typeface="Calibri"/>
                <a:cs typeface="Calibri"/>
              </a:rPr>
              <a:t>with</a:t>
            </a:r>
            <a:r>
              <a:rPr sz="2450" spc="65" dirty="0">
                <a:solidFill>
                  <a:srgbClr val="1D2F56"/>
                </a:solidFill>
                <a:latin typeface="Calibri"/>
                <a:cs typeface="Calibri"/>
              </a:rPr>
              <a:t>  </a:t>
            </a:r>
            <a:r>
              <a:rPr sz="2450" dirty="0">
                <a:solidFill>
                  <a:srgbClr val="18314D"/>
                </a:solidFill>
                <a:latin typeface="Calibri"/>
                <a:cs typeface="Calibri"/>
              </a:rPr>
              <a:t>respect</a:t>
            </a:r>
            <a:r>
              <a:rPr sz="2450" spc="145" dirty="0">
                <a:solidFill>
                  <a:srgbClr val="18314D"/>
                </a:solidFill>
                <a:latin typeface="Calibri"/>
                <a:cs typeface="Calibri"/>
              </a:rPr>
              <a:t>  </a:t>
            </a:r>
            <a:r>
              <a:rPr sz="2450" dirty="0">
                <a:solidFill>
                  <a:srgbClr val="1C3846"/>
                </a:solidFill>
                <a:latin typeface="Calibri"/>
                <a:cs typeface="Calibri"/>
              </a:rPr>
              <a:t>to</a:t>
            </a:r>
            <a:r>
              <a:rPr sz="2450" spc="85" dirty="0">
                <a:solidFill>
                  <a:srgbClr val="1C3846"/>
                </a:solidFill>
                <a:latin typeface="Calibri"/>
                <a:cs typeface="Calibri"/>
              </a:rPr>
              <a:t>  </a:t>
            </a:r>
            <a:r>
              <a:rPr sz="2450" dirty="0">
                <a:solidFill>
                  <a:srgbClr val="1C4275"/>
                </a:solidFill>
                <a:latin typeface="Calibri"/>
                <a:cs typeface="Calibri"/>
              </a:rPr>
              <a:t>the</a:t>
            </a:r>
            <a:r>
              <a:rPr sz="2450" spc="80" dirty="0">
                <a:solidFill>
                  <a:srgbClr val="1C4275"/>
                </a:solidFill>
                <a:latin typeface="Calibri"/>
                <a:cs typeface="Calibri"/>
              </a:rPr>
              <a:t>  </a:t>
            </a:r>
            <a:r>
              <a:rPr sz="2450" spc="-10" dirty="0">
                <a:solidFill>
                  <a:srgbClr val="112D3F"/>
                </a:solidFill>
                <a:latin typeface="Calibri"/>
                <a:cs typeface="Calibri"/>
              </a:rPr>
              <a:t>operating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27600" y="4457848"/>
            <a:ext cx="2200910" cy="86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20" dirty="0">
                <a:solidFill>
                  <a:srgbClr val="233854"/>
                </a:solidFill>
                <a:latin typeface="Calibri"/>
                <a:cs typeface="Calibri"/>
              </a:rPr>
              <a:t>Elasticity</a:t>
            </a:r>
            <a:r>
              <a:rPr sz="2100" spc="5" dirty="0">
                <a:solidFill>
                  <a:srgbClr val="233854"/>
                </a:solidFill>
                <a:latin typeface="Calibri"/>
                <a:cs typeface="Calibri"/>
              </a:rPr>
              <a:t> </a:t>
            </a:r>
            <a:r>
              <a:rPr sz="2100" dirty="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sz="21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solidFill>
                  <a:srgbClr val="333333"/>
                </a:solidFill>
                <a:latin typeface="Calibri"/>
                <a:cs typeface="Calibri"/>
              </a:rPr>
              <a:t>Demand</a:t>
            </a:r>
            <a:endParaRPr sz="2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2100" spc="-10" dirty="0">
                <a:solidFill>
                  <a:srgbClr val="242424"/>
                </a:solidFill>
                <a:latin typeface="Calibri"/>
                <a:cs typeface="Calibri"/>
              </a:rPr>
              <a:t>Faults</a:t>
            </a:r>
            <a:endParaRPr sz="2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654" y="6248995"/>
            <a:ext cx="3147695" cy="340995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15"/>
              </a:spcBef>
            </a:pPr>
            <a:r>
              <a:rPr sz="1050" spc="-25" dirty="0">
                <a:solidFill>
                  <a:srgbClr val="2F2F2F"/>
                </a:solidFill>
                <a:latin typeface="Calibri"/>
                <a:cs typeface="Calibri"/>
              </a:rPr>
              <a:t>Milad</a:t>
            </a:r>
            <a:r>
              <a:rPr sz="1050" spc="-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343434"/>
                </a:solidFill>
                <a:latin typeface="Calibri"/>
                <a:cs typeface="Calibri"/>
              </a:rPr>
              <a:t>Jalalimehr</a:t>
            </a:r>
            <a:r>
              <a:rPr sz="1050" spc="-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39393"/>
                </a:solidFill>
                <a:latin typeface="Calibri"/>
                <a:cs typeface="Calibri"/>
              </a:rPr>
              <a:t>-</a:t>
            </a:r>
            <a:r>
              <a:rPr sz="1050" spc="105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94949"/>
                </a:solidFill>
                <a:latin typeface="Calibri"/>
                <a:cs typeface="Calibri"/>
              </a:rPr>
              <a:t>Operating</a:t>
            </a:r>
            <a:r>
              <a:rPr sz="1050" spc="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D2D2D"/>
                </a:solidFill>
                <a:latin typeface="Calibri"/>
                <a:cs typeface="Calibri"/>
              </a:rPr>
              <a:t>System</a:t>
            </a:r>
            <a:r>
              <a:rPr sz="1050" spc="-2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05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4646"/>
                </a:solidFill>
                <a:latin typeface="Calibri"/>
                <a:cs typeface="Calibri"/>
              </a:rPr>
              <a:t>Clouds </a:t>
            </a:r>
            <a:r>
              <a:rPr sz="1050" spc="-25" dirty="0">
                <a:solidFill>
                  <a:srgbClr val="2A2A2A"/>
                </a:solidFill>
                <a:latin typeface="Calibri"/>
                <a:cs typeface="Calibri"/>
              </a:rPr>
              <a:t>Mazandaran</a:t>
            </a:r>
            <a:r>
              <a:rPr sz="1050" spc="-3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B4B4B"/>
                </a:solidFill>
                <a:latin typeface="Calibri"/>
                <a:cs typeface="Calibri"/>
              </a:rPr>
              <a:t>University</a:t>
            </a:r>
            <a:r>
              <a:rPr sz="1050" spc="-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B5B5B"/>
                </a:solidFill>
                <a:latin typeface="Calibri"/>
                <a:cs typeface="Calibri"/>
              </a:rPr>
              <a:t>of </a:t>
            </a:r>
            <a:r>
              <a:rPr sz="1050" spc="-20" dirty="0">
                <a:solidFill>
                  <a:srgbClr val="262626"/>
                </a:solidFill>
                <a:latin typeface="Calibri"/>
                <a:cs typeface="Calibri"/>
              </a:rPr>
              <a:t>Science</a:t>
            </a:r>
            <a:r>
              <a:rPr sz="105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1050" spc="-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13131"/>
                </a:solidFill>
                <a:latin typeface="Calibri"/>
                <a:cs typeface="Calibri"/>
              </a:rPr>
              <a:t>Technology</a:t>
            </a:r>
            <a:r>
              <a:rPr sz="1050" spc="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A3A3A"/>
                </a:solidFill>
                <a:latin typeface="Calibri"/>
                <a:cs typeface="Calibri"/>
              </a:rPr>
              <a:t>(MUSf)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66067" y="6333083"/>
            <a:ext cx="391795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55" dirty="0">
                <a:solidFill>
                  <a:srgbClr val="606060"/>
                </a:solidFill>
                <a:latin typeface="Calibri"/>
                <a:cs typeface="Calibri"/>
              </a:rPr>
              <a:t>9</a:t>
            </a:r>
            <a:r>
              <a:rPr sz="1200" spc="95" dirty="0">
                <a:solidFill>
                  <a:srgbClr val="606060"/>
                </a:solidFill>
                <a:latin typeface="Calibri"/>
                <a:cs typeface="Calibri"/>
              </a:rPr>
              <a:t> </a:t>
            </a:r>
            <a:r>
              <a:rPr sz="1200" spc="-125" dirty="0">
                <a:solidFill>
                  <a:srgbClr val="424242"/>
                </a:solidFill>
                <a:latin typeface="Calibri"/>
                <a:cs typeface="Calibri"/>
              </a:rPr>
              <a:t>/</a:t>
            </a:r>
            <a:r>
              <a:rPr sz="1200" spc="-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200" spc="-200" dirty="0">
                <a:solidFill>
                  <a:srgbClr val="363636"/>
                </a:solidFill>
                <a:latin typeface="Calibri"/>
                <a:cs typeface="Calibri"/>
              </a:rPr>
              <a:t>1@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053703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8547" y="4116585"/>
            <a:ext cx="2357437" cy="16698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49277" y="2682081"/>
            <a:ext cx="7246620" cy="272224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77495" marR="5080" indent="-265430" algn="just">
              <a:lnSpc>
                <a:spcPts val="2880"/>
              </a:lnSpc>
              <a:spcBef>
                <a:spcPts val="235"/>
              </a:spcBef>
              <a:buChar char="•"/>
              <a:tabLst>
                <a:tab pos="277495" algn="l"/>
                <a:tab pos="287655" algn="l"/>
              </a:tabLst>
            </a:pPr>
            <a:r>
              <a:rPr sz="2450" dirty="0">
                <a:solidFill>
                  <a:srgbClr val="75A7B8"/>
                </a:solidFill>
                <a:latin typeface="Calibri"/>
                <a:cs typeface="Calibri"/>
              </a:rPr>
              <a:t>	</a:t>
            </a:r>
            <a:r>
              <a:rPr sz="2450" dirty="0">
                <a:solidFill>
                  <a:srgbClr val="213859"/>
                </a:solidFill>
                <a:latin typeface="Calibri"/>
                <a:cs typeface="Calibri"/>
              </a:rPr>
              <a:t>The</a:t>
            </a:r>
            <a:r>
              <a:rPr sz="2450" spc="175" dirty="0">
                <a:solidFill>
                  <a:srgbClr val="213859"/>
                </a:solidFill>
                <a:latin typeface="Calibri"/>
                <a:cs typeface="Calibri"/>
              </a:rPr>
              <a:t>  </a:t>
            </a:r>
            <a:r>
              <a:rPr sz="2450" dirty="0">
                <a:solidFill>
                  <a:srgbClr val="1C3854"/>
                </a:solidFill>
                <a:latin typeface="Calibri"/>
                <a:cs typeface="Calibri"/>
              </a:rPr>
              <a:t>number</a:t>
            </a:r>
            <a:r>
              <a:rPr sz="2450" spc="200" dirty="0">
                <a:solidFill>
                  <a:srgbClr val="1C3854"/>
                </a:solidFill>
                <a:latin typeface="Calibri"/>
                <a:cs typeface="Calibri"/>
              </a:rPr>
              <a:t>  </a:t>
            </a:r>
            <a:r>
              <a:rPr sz="2450" dirty="0">
                <a:solidFill>
                  <a:srgbClr val="162D54"/>
                </a:solidFill>
                <a:latin typeface="Calibri"/>
                <a:cs typeface="Calibri"/>
              </a:rPr>
              <a:t>of</a:t>
            </a:r>
            <a:r>
              <a:rPr sz="2450" spc="170" dirty="0">
                <a:solidFill>
                  <a:srgbClr val="162D54"/>
                </a:solidFill>
                <a:latin typeface="Calibri"/>
                <a:cs typeface="Calibri"/>
              </a:rPr>
              <a:t>  </a:t>
            </a:r>
            <a:r>
              <a:rPr sz="2450" dirty="0">
                <a:solidFill>
                  <a:srgbClr val="28425D"/>
                </a:solidFill>
                <a:latin typeface="Calibri"/>
                <a:cs typeface="Calibri"/>
              </a:rPr>
              <a:t>computers</a:t>
            </a:r>
            <a:r>
              <a:rPr sz="2450" spc="215" dirty="0">
                <a:solidFill>
                  <a:srgbClr val="28425D"/>
                </a:solidFill>
                <a:latin typeface="Calibri"/>
                <a:cs typeface="Calibri"/>
              </a:rPr>
              <a:t>  </a:t>
            </a:r>
            <a:r>
              <a:rPr sz="2450" dirty="0">
                <a:solidFill>
                  <a:srgbClr val="162F57"/>
                </a:solidFill>
                <a:latin typeface="Calibri"/>
                <a:cs typeface="Calibri"/>
              </a:rPr>
              <a:t>being</a:t>
            </a:r>
            <a:r>
              <a:rPr sz="2450" spc="155" dirty="0">
                <a:solidFill>
                  <a:srgbClr val="162F57"/>
                </a:solidFill>
                <a:latin typeface="Calibri"/>
                <a:cs typeface="Calibri"/>
              </a:rPr>
              <a:t>  </a:t>
            </a:r>
            <a:r>
              <a:rPr sz="2450" dirty="0">
                <a:solidFill>
                  <a:srgbClr val="283B60"/>
                </a:solidFill>
                <a:latin typeface="Calibri"/>
                <a:cs typeface="Calibri"/>
              </a:rPr>
              <a:t>added</a:t>
            </a:r>
            <a:r>
              <a:rPr sz="2450" spc="145" dirty="0">
                <a:solidFill>
                  <a:srgbClr val="283B60"/>
                </a:solidFill>
                <a:latin typeface="Calibri"/>
                <a:cs typeface="Calibri"/>
              </a:rPr>
              <a:t>  </a:t>
            </a:r>
            <a:r>
              <a:rPr sz="2450" dirty="0">
                <a:solidFill>
                  <a:srgbClr val="343434"/>
                </a:solidFill>
                <a:latin typeface="Calibri"/>
                <a:cs typeface="Calibri"/>
              </a:rPr>
              <a:t>by</a:t>
            </a:r>
            <a:r>
              <a:rPr sz="2450" spc="175" dirty="0">
                <a:solidFill>
                  <a:srgbClr val="343434"/>
                </a:solidFill>
                <a:latin typeface="Calibri"/>
                <a:cs typeface="Calibri"/>
              </a:rPr>
              <a:t>  </a:t>
            </a:r>
            <a:r>
              <a:rPr sz="2450" spc="-10" dirty="0">
                <a:solidFill>
                  <a:srgbClr val="163357"/>
                </a:solidFill>
                <a:latin typeface="Calibri"/>
                <a:cs typeface="Calibri"/>
              </a:rPr>
              <a:t>cloud </a:t>
            </a:r>
            <a:r>
              <a:rPr sz="2450" dirty="0">
                <a:solidFill>
                  <a:srgbClr val="152F54"/>
                </a:solidFill>
                <a:latin typeface="Calibri"/>
                <a:cs typeface="Calibri"/>
              </a:rPr>
              <a:t>computing</a:t>
            </a:r>
            <a:r>
              <a:rPr sz="2450" spc="254" dirty="0">
                <a:solidFill>
                  <a:srgbClr val="152F54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F425B"/>
                </a:solidFill>
                <a:latin typeface="Calibri"/>
                <a:cs typeface="Calibri"/>
              </a:rPr>
              <a:t>providers</a:t>
            </a:r>
            <a:r>
              <a:rPr sz="2450" spc="215" dirty="0">
                <a:solidFill>
                  <a:srgbClr val="1F425B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62D48"/>
                </a:solidFill>
                <a:latin typeface="Calibri"/>
                <a:cs typeface="Calibri"/>
              </a:rPr>
              <a:t>has</a:t>
            </a:r>
            <a:r>
              <a:rPr sz="2450" spc="95" dirty="0">
                <a:solidFill>
                  <a:srgbClr val="162D48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D3664"/>
                </a:solidFill>
                <a:latin typeface="Calibri"/>
                <a:cs typeface="Calibri"/>
              </a:rPr>
              <a:t>been</a:t>
            </a:r>
            <a:r>
              <a:rPr sz="2450" spc="170" dirty="0">
                <a:solidFill>
                  <a:srgbClr val="1D3664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34167"/>
                </a:solidFill>
                <a:latin typeface="Calibri"/>
                <a:cs typeface="Calibri"/>
              </a:rPr>
              <a:t>growing</a:t>
            </a:r>
            <a:r>
              <a:rPr sz="2450" spc="185" dirty="0">
                <a:solidFill>
                  <a:srgbClr val="234167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0C313F"/>
                </a:solidFill>
                <a:latin typeface="Calibri"/>
                <a:cs typeface="Calibri"/>
              </a:rPr>
              <a:t>at</a:t>
            </a:r>
            <a:r>
              <a:rPr sz="2450" spc="120" dirty="0">
                <a:solidFill>
                  <a:srgbClr val="0C313F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D345E"/>
                </a:solidFill>
                <a:latin typeface="Calibri"/>
                <a:cs typeface="Calibri"/>
              </a:rPr>
              <a:t>a</a:t>
            </a:r>
            <a:r>
              <a:rPr sz="2450" spc="130" dirty="0">
                <a:solidFill>
                  <a:srgbClr val="1D345E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D4F7E"/>
                </a:solidFill>
                <a:latin typeface="Calibri"/>
                <a:cs typeface="Calibri"/>
              </a:rPr>
              <a:t>vast</a:t>
            </a:r>
            <a:r>
              <a:rPr sz="2450" spc="80" dirty="0">
                <a:solidFill>
                  <a:srgbClr val="2D4F7E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213148"/>
                </a:solidFill>
                <a:latin typeface="Calibri"/>
                <a:cs typeface="Calibri"/>
              </a:rPr>
              <a:t>rate, </a:t>
            </a:r>
            <a:r>
              <a:rPr sz="2450" dirty="0">
                <a:solidFill>
                  <a:srgbClr val="232323"/>
                </a:solidFill>
                <a:latin typeface="Calibri"/>
                <a:cs typeface="Calibri"/>
              </a:rPr>
              <a:t>driven</a:t>
            </a:r>
            <a:r>
              <a:rPr sz="2450" spc="27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B2B2B"/>
                </a:solidFill>
                <a:latin typeface="Calibri"/>
                <a:cs typeface="Calibri"/>
              </a:rPr>
              <a:t>largely</a:t>
            </a:r>
            <a:r>
              <a:rPr sz="2450" spc="25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13F59"/>
                </a:solidFill>
                <a:latin typeface="Calibri"/>
                <a:cs typeface="Calibri"/>
              </a:rPr>
              <a:t>by</a:t>
            </a:r>
            <a:r>
              <a:rPr sz="2450" spc="195" dirty="0">
                <a:solidFill>
                  <a:srgbClr val="213F59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32A4B"/>
                </a:solidFill>
                <a:latin typeface="Calibri"/>
                <a:cs typeface="Calibri"/>
              </a:rPr>
              <a:t>user</a:t>
            </a:r>
            <a:r>
              <a:rPr sz="2450" spc="310" dirty="0">
                <a:solidFill>
                  <a:srgbClr val="132A4B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33864"/>
                </a:solidFill>
                <a:latin typeface="Calibri"/>
                <a:cs typeface="Calibri"/>
              </a:rPr>
              <a:t>demand</a:t>
            </a:r>
            <a:r>
              <a:rPr sz="2450" spc="345" dirty="0">
                <a:solidFill>
                  <a:srgbClr val="233864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313131"/>
                </a:solidFill>
                <a:latin typeface="Calibri"/>
                <a:cs typeface="Calibri"/>
              </a:rPr>
              <a:t>for</a:t>
            </a:r>
            <a:r>
              <a:rPr sz="2450" spc="19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3365B"/>
                </a:solidFill>
                <a:latin typeface="Calibri"/>
                <a:cs typeface="Calibri"/>
              </a:rPr>
              <a:t>hosted</a:t>
            </a:r>
            <a:r>
              <a:rPr sz="2450" spc="295" dirty="0">
                <a:solidFill>
                  <a:srgbClr val="13365B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2D4B70"/>
                </a:solidFill>
                <a:latin typeface="Calibri"/>
                <a:cs typeface="Calibri"/>
              </a:rPr>
              <a:t>computing </a:t>
            </a:r>
            <a:r>
              <a:rPr sz="2450" spc="-10" dirty="0">
                <a:solidFill>
                  <a:srgbClr val="343434"/>
                </a:solidFill>
                <a:latin typeface="Calibri"/>
                <a:cs typeface="Calibri"/>
              </a:rPr>
              <a:t>platforms.</a:t>
            </a:r>
            <a:endParaRPr sz="2450">
              <a:latin typeface="Calibri"/>
              <a:cs typeface="Calibri"/>
            </a:endParaRPr>
          </a:p>
          <a:p>
            <a:pPr marL="295275" marR="3278504" indent="-270510" algn="just">
              <a:lnSpc>
                <a:spcPct val="94800"/>
              </a:lnSpc>
              <a:spcBef>
                <a:spcPts val="980"/>
              </a:spcBef>
            </a:pPr>
            <a:r>
              <a:rPr sz="2550" dirty="0">
                <a:solidFill>
                  <a:srgbClr val="44A0D1"/>
                </a:solidFill>
                <a:latin typeface="Calibri"/>
                <a:cs typeface="Calibri"/>
              </a:rPr>
              <a:t>*</a:t>
            </a:r>
            <a:r>
              <a:rPr sz="2550" spc="229" dirty="0">
                <a:solidFill>
                  <a:srgbClr val="44A0D1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D3454"/>
                </a:solidFill>
                <a:latin typeface="Calibri"/>
                <a:cs typeface="Calibri"/>
              </a:rPr>
              <a:t>Cloud</a:t>
            </a:r>
            <a:r>
              <a:rPr sz="2550" spc="-10" dirty="0">
                <a:solidFill>
                  <a:srgbClr val="1D3454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C3652"/>
                </a:solidFill>
                <a:latin typeface="Calibri"/>
                <a:cs typeface="Calibri"/>
              </a:rPr>
              <a:t>OS's</a:t>
            </a:r>
            <a:r>
              <a:rPr sz="2550" spc="-65" dirty="0">
                <a:solidFill>
                  <a:srgbClr val="1C3652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83A4D"/>
                </a:solidFill>
                <a:latin typeface="Calibri"/>
                <a:cs typeface="Calibri"/>
              </a:rPr>
              <a:t>need</a:t>
            </a:r>
            <a:r>
              <a:rPr sz="2550" spc="-60" dirty="0">
                <a:solidFill>
                  <a:srgbClr val="283A4D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83B62"/>
                </a:solidFill>
                <a:latin typeface="Calibri"/>
                <a:cs typeface="Calibri"/>
              </a:rPr>
              <a:t>to</a:t>
            </a:r>
            <a:r>
              <a:rPr sz="2550" spc="-50" dirty="0">
                <a:solidFill>
                  <a:srgbClr val="183B62"/>
                </a:solidFill>
                <a:latin typeface="Calibri"/>
                <a:cs typeface="Calibri"/>
              </a:rPr>
              <a:t> </a:t>
            </a:r>
            <a:r>
              <a:rPr sz="2550" spc="-35" dirty="0">
                <a:solidFill>
                  <a:srgbClr val="2D425B"/>
                </a:solidFill>
                <a:latin typeface="Calibri"/>
                <a:cs typeface="Calibri"/>
              </a:rPr>
              <a:t>embrace </a:t>
            </a:r>
            <a:r>
              <a:rPr sz="2500" dirty="0">
                <a:solidFill>
                  <a:srgbClr val="182D3F"/>
                </a:solidFill>
                <a:latin typeface="Calibri"/>
                <a:cs typeface="Calibri"/>
              </a:rPr>
              <a:t>scalability</a:t>
            </a:r>
            <a:r>
              <a:rPr sz="2500" spc="30" dirty="0">
                <a:solidFill>
                  <a:srgbClr val="182D3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1A3466"/>
                </a:solidFill>
                <a:latin typeface="Calibri"/>
                <a:cs typeface="Calibri"/>
              </a:rPr>
              <a:t>and</a:t>
            </a:r>
            <a:r>
              <a:rPr sz="2500" spc="-114" dirty="0">
                <a:solidFill>
                  <a:srgbClr val="1A3466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63F5B"/>
                </a:solidFill>
                <a:latin typeface="Calibri"/>
                <a:cs typeface="Calibri"/>
              </a:rPr>
              <a:t>make</a:t>
            </a:r>
            <a:r>
              <a:rPr sz="2500" spc="-20" dirty="0">
                <a:solidFill>
                  <a:srgbClr val="263F5B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459"/>
                </a:solidFill>
                <a:latin typeface="Calibri"/>
                <a:cs typeface="Calibri"/>
              </a:rPr>
              <a:t>it</a:t>
            </a:r>
            <a:r>
              <a:rPr sz="2500" spc="-75" dirty="0">
                <a:solidFill>
                  <a:srgbClr val="244459"/>
                </a:solidFill>
                <a:latin typeface="Calibri"/>
                <a:cs typeface="Calibri"/>
              </a:rPr>
              <a:t> </a:t>
            </a:r>
            <a:r>
              <a:rPr sz="2500" spc="80" dirty="0">
                <a:solidFill>
                  <a:srgbClr val="1F3162"/>
                </a:solidFill>
                <a:latin typeface="Calibri"/>
                <a:cs typeface="Calibri"/>
              </a:rPr>
              <a:t>a</a:t>
            </a:r>
            <a:r>
              <a:rPr sz="2500" spc="-140" dirty="0">
                <a:solidFill>
                  <a:srgbClr val="1F3162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1C3459"/>
                </a:solidFill>
                <a:latin typeface="Calibri"/>
                <a:cs typeface="Calibri"/>
              </a:rPr>
              <a:t>first </a:t>
            </a:r>
            <a:r>
              <a:rPr sz="2500" dirty="0">
                <a:solidFill>
                  <a:srgbClr val="333333"/>
                </a:solidFill>
                <a:latin typeface="Calibri"/>
                <a:cs typeface="Calibri"/>
              </a:rPr>
              <a:t>order</a:t>
            </a:r>
            <a:r>
              <a:rPr sz="2500" spc="-6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384B67"/>
                </a:solidFill>
                <a:latin typeface="Calibri"/>
                <a:cs typeface="Calibri"/>
              </a:rPr>
              <a:t>design</a:t>
            </a:r>
            <a:r>
              <a:rPr sz="2500" spc="-30" dirty="0">
                <a:solidFill>
                  <a:srgbClr val="384B67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2D2D2D"/>
                </a:solidFill>
                <a:latin typeface="Calibri"/>
                <a:cs typeface="Calibri"/>
              </a:rPr>
              <a:t>constraint.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2175" y="6255196"/>
            <a:ext cx="2534920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4D4D4D"/>
                </a:solidFill>
                <a:latin typeface="Calibri"/>
                <a:cs typeface="Calibri"/>
              </a:rPr>
              <a:t>Milad</a:t>
            </a:r>
            <a:r>
              <a:rPr sz="1000" spc="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43434"/>
                </a:solidFill>
                <a:latin typeface="Calibri"/>
                <a:cs typeface="Calibri"/>
              </a:rPr>
              <a:t>Jalalimehr</a:t>
            </a:r>
            <a:r>
              <a:rPr sz="1000" spc="1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39393"/>
                </a:solidFill>
                <a:latin typeface="Calibri"/>
                <a:cs typeface="Calibri"/>
              </a:rPr>
              <a:t>-</a:t>
            </a:r>
            <a:r>
              <a:rPr sz="1000" spc="229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45454"/>
                </a:solidFill>
                <a:latin typeface="Calibri"/>
                <a:cs typeface="Calibri"/>
              </a:rPr>
              <a:t>Operating</a:t>
            </a:r>
            <a:r>
              <a:rPr sz="1000" spc="10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D2D2D"/>
                </a:solidFill>
                <a:latin typeface="Calibri"/>
                <a:cs typeface="Calibri"/>
              </a:rPr>
              <a:t>System</a:t>
            </a:r>
            <a:r>
              <a:rPr sz="1000" spc="10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A3A3A"/>
                </a:solidFill>
                <a:latin typeface="Calibri"/>
                <a:cs typeface="Calibri"/>
              </a:rPr>
              <a:t>for</a:t>
            </a:r>
            <a:r>
              <a:rPr sz="1000" spc="2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64646"/>
                </a:solidFill>
                <a:latin typeface="Calibri"/>
                <a:cs typeface="Calibri"/>
              </a:rPr>
              <a:t>Clouds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24965" y="6338292"/>
            <a:ext cx="470534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297815" algn="l"/>
              </a:tabLst>
            </a:pPr>
            <a:r>
              <a:rPr sz="1050" spc="-175" dirty="0">
                <a:solidFill>
                  <a:srgbClr val="343434"/>
                </a:solidFill>
                <a:latin typeface="Calibri"/>
                <a:cs typeface="Calibri"/>
              </a:rPr>
              <a:t>1</a:t>
            </a:r>
            <a:r>
              <a:rPr sz="1050" spc="-6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50" spc="-60" dirty="0">
                <a:solidFill>
                  <a:srgbClr val="2D2D2D"/>
                </a:solidFill>
                <a:latin typeface="Calibri"/>
                <a:cs typeface="Calibri"/>
              </a:rPr>
              <a:t>0</a:t>
            </a:r>
            <a:r>
              <a:rPr sz="1050" dirty="0">
                <a:solidFill>
                  <a:srgbClr val="2D2D2D"/>
                </a:solidFill>
                <a:latin typeface="Calibri"/>
                <a:cs typeface="Calibri"/>
              </a:rPr>
              <a:t>	</a:t>
            </a:r>
            <a:r>
              <a:rPr sz="1050" spc="-90" dirty="0">
                <a:solidFill>
                  <a:srgbClr val="494949"/>
                </a:solidFill>
                <a:latin typeface="Calibri"/>
                <a:cs typeface="Calibri"/>
              </a:rPr>
              <a:t>1</a:t>
            </a:r>
            <a:r>
              <a:rPr sz="1050" spc="-90" dirty="0">
                <a:solidFill>
                  <a:srgbClr val="424242"/>
                </a:solidFill>
                <a:latin typeface="Calibri"/>
                <a:cs typeface="Calibri"/>
              </a:rPr>
              <a:t>@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2175" y="6439557"/>
            <a:ext cx="3145790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0"/>
              </a:lnSpc>
            </a:pPr>
            <a:r>
              <a:rPr sz="1000" dirty="0">
                <a:solidFill>
                  <a:srgbClr val="313131"/>
                </a:solidFill>
                <a:latin typeface="Calibri"/>
                <a:cs typeface="Calibri"/>
              </a:rPr>
              <a:t>Mazandaran</a:t>
            </a:r>
            <a:r>
              <a:rPr sz="1000" spc="4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39393"/>
                </a:solidFill>
                <a:latin typeface="Calibri"/>
                <a:cs typeface="Calibri"/>
              </a:rPr>
              <a:t>University</a:t>
            </a:r>
            <a:r>
              <a:rPr sz="1000" spc="105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B5B5B"/>
                </a:solidFill>
                <a:latin typeface="Calibri"/>
                <a:cs typeface="Calibri"/>
              </a:rPr>
              <a:t>of</a:t>
            </a:r>
            <a:r>
              <a:rPr sz="1000" spc="65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D3D3D"/>
                </a:solidFill>
                <a:latin typeface="Calibri"/>
                <a:cs typeface="Calibri"/>
              </a:rPr>
              <a:t>Science</a:t>
            </a:r>
            <a:r>
              <a:rPr sz="1000" spc="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1000" spc="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43434"/>
                </a:solidFill>
                <a:latin typeface="Calibri"/>
                <a:cs typeface="Calibri"/>
              </a:rPr>
              <a:t>Technology</a:t>
            </a:r>
            <a:r>
              <a:rPr sz="1000" spc="8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3A3A3A"/>
                </a:solidFill>
                <a:latin typeface="Calibri"/>
                <a:cs typeface="Calibri"/>
              </a:rPr>
              <a:t>(MUST)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05370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49277" y="2688282"/>
            <a:ext cx="7244715" cy="19297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4480" marR="6350" indent="-271780" algn="just">
              <a:lnSpc>
                <a:spcPct val="100000"/>
              </a:lnSpc>
              <a:spcBef>
                <a:spcPts val="90"/>
              </a:spcBef>
              <a:buClr>
                <a:srgbClr val="70A8B8"/>
              </a:buClr>
              <a:buChar char="•"/>
              <a:tabLst>
                <a:tab pos="286385" algn="l"/>
              </a:tabLst>
            </a:pPr>
            <a:r>
              <a:rPr sz="2400" spc="65" dirty="0">
                <a:solidFill>
                  <a:srgbClr val="234189"/>
                </a:solidFill>
                <a:latin typeface="Calibri"/>
                <a:cs typeface="Calibri"/>
              </a:rPr>
              <a:t>A</a:t>
            </a:r>
            <a:r>
              <a:rPr sz="2400" spc="114" dirty="0">
                <a:solidFill>
                  <a:srgbClr val="234189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33A64"/>
                </a:solidFill>
                <a:latin typeface="Calibri"/>
                <a:cs typeface="Calibri"/>
              </a:rPr>
              <a:t>major</a:t>
            </a:r>
            <a:r>
              <a:rPr sz="2400" spc="155" dirty="0">
                <a:solidFill>
                  <a:srgbClr val="233A64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F2D52"/>
                </a:solidFill>
                <a:latin typeface="Calibri"/>
                <a:cs typeface="Calibri"/>
              </a:rPr>
              <a:t>commonality</a:t>
            </a:r>
            <a:r>
              <a:rPr sz="2400" spc="265" dirty="0">
                <a:solidFill>
                  <a:srgbClr val="1F2D52"/>
                </a:solidFill>
                <a:latin typeface="Calibri"/>
                <a:cs typeface="Calibri"/>
              </a:rPr>
              <a:t>  </a:t>
            </a:r>
            <a:r>
              <a:rPr sz="2400" spc="45" dirty="0">
                <a:solidFill>
                  <a:srgbClr val="16346E"/>
                </a:solidFill>
                <a:latin typeface="Calibri"/>
                <a:cs typeface="Calibri"/>
              </a:rPr>
              <a:t>between</a:t>
            </a:r>
            <a:r>
              <a:rPr sz="2400" spc="210" dirty="0">
                <a:solidFill>
                  <a:srgbClr val="16346E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283859"/>
                </a:solidFill>
                <a:latin typeface="Calibri"/>
                <a:cs typeface="Calibri"/>
              </a:rPr>
              <a:t>clouds</a:t>
            </a:r>
            <a:r>
              <a:rPr sz="2400" spc="235" dirty="0">
                <a:solidFill>
                  <a:srgbClr val="283859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C3D56"/>
                </a:solidFill>
                <a:latin typeface="Calibri"/>
                <a:cs typeface="Calibri"/>
              </a:rPr>
              <a:t>is</a:t>
            </a:r>
            <a:r>
              <a:rPr sz="2400" spc="155" dirty="0">
                <a:solidFill>
                  <a:srgbClr val="1C3D56"/>
                </a:solidFill>
                <a:latin typeface="Calibri"/>
                <a:cs typeface="Calibri"/>
              </a:rPr>
              <a:t>  </a:t>
            </a:r>
            <a:r>
              <a:rPr sz="2400" dirty="0">
                <a:solidFill>
                  <a:srgbClr val="112D48"/>
                </a:solidFill>
                <a:latin typeface="Calibri"/>
                <a:cs typeface="Calibri"/>
              </a:rPr>
              <a:t>that</a:t>
            </a:r>
            <a:r>
              <a:rPr sz="2400" spc="160" dirty="0">
                <a:solidFill>
                  <a:srgbClr val="112D48"/>
                </a:solidFill>
                <a:latin typeface="Calibri"/>
                <a:cs typeface="Calibri"/>
              </a:rPr>
              <a:t>  </a:t>
            </a:r>
            <a:r>
              <a:rPr sz="2400" spc="-25" dirty="0">
                <a:solidFill>
                  <a:srgbClr val="0F2B41"/>
                </a:solidFill>
                <a:latin typeface="Calibri"/>
                <a:cs typeface="Calibri"/>
              </a:rPr>
              <a:t>the 	</a:t>
            </a:r>
            <a:r>
              <a:rPr sz="2400" dirty="0">
                <a:solidFill>
                  <a:srgbClr val="152D59"/>
                </a:solidFill>
                <a:latin typeface="Calibri"/>
                <a:cs typeface="Calibri"/>
              </a:rPr>
              <a:t>demand</a:t>
            </a:r>
            <a:r>
              <a:rPr sz="2400" spc="90" dirty="0">
                <a:solidFill>
                  <a:srgbClr val="152D59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F365D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1F365D"/>
                </a:solidFill>
                <a:latin typeface="Calibri"/>
                <a:cs typeface="Calibri"/>
              </a:rPr>
              <a:t> </a:t>
            </a:r>
            <a:r>
              <a:rPr sz="2400" spc="50" dirty="0">
                <a:solidFill>
                  <a:srgbClr val="2D3B56"/>
                </a:solidFill>
                <a:latin typeface="Calibri"/>
                <a:cs typeface="Calibri"/>
              </a:rPr>
              <a:t>not</a:t>
            </a:r>
            <a:r>
              <a:rPr sz="2400" spc="110" dirty="0">
                <a:solidFill>
                  <a:srgbClr val="2D3B56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F4969"/>
                </a:solidFill>
                <a:latin typeface="Calibri"/>
                <a:cs typeface="Calibri"/>
              </a:rPr>
              <a:t>static.</a:t>
            </a:r>
            <a:endParaRPr sz="2400">
              <a:latin typeface="Calibri"/>
              <a:cs typeface="Calibri"/>
            </a:endParaRPr>
          </a:p>
          <a:p>
            <a:pPr marL="276225" marR="5080" indent="-264160" algn="just">
              <a:lnSpc>
                <a:spcPts val="2880"/>
              </a:lnSpc>
              <a:spcBef>
                <a:spcPts val="665"/>
              </a:spcBef>
              <a:buChar char="•"/>
              <a:tabLst>
                <a:tab pos="276225" algn="l"/>
                <a:tab pos="290830" algn="l"/>
              </a:tabLst>
            </a:pPr>
            <a:r>
              <a:rPr sz="2450" dirty="0">
                <a:solidFill>
                  <a:srgbClr val="75A5B1"/>
                </a:solidFill>
                <a:latin typeface="Calibri"/>
                <a:cs typeface="Calibri"/>
              </a:rPr>
              <a:t>	</a:t>
            </a:r>
            <a:r>
              <a:rPr sz="2450" dirty="0">
                <a:solidFill>
                  <a:srgbClr val="263856"/>
                </a:solidFill>
                <a:latin typeface="Calibri"/>
                <a:cs typeface="Calibri"/>
              </a:rPr>
              <a:t>Furthermore,</a:t>
            </a:r>
            <a:r>
              <a:rPr sz="2450" spc="130" dirty="0">
                <a:solidFill>
                  <a:srgbClr val="263856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52346"/>
                </a:solidFill>
                <a:latin typeface="Calibri"/>
                <a:cs typeface="Calibri"/>
              </a:rPr>
              <a:t>the</a:t>
            </a:r>
            <a:r>
              <a:rPr sz="2450" spc="5" dirty="0">
                <a:solidFill>
                  <a:srgbClr val="152346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313131"/>
                </a:solidFill>
                <a:latin typeface="Calibri"/>
                <a:cs typeface="Calibri"/>
              </a:rPr>
              <a:t>variability</a:t>
            </a:r>
            <a:r>
              <a:rPr sz="2450" spc="8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A3D66"/>
                </a:solidFill>
                <a:latin typeface="Calibri"/>
                <a:cs typeface="Calibri"/>
              </a:rPr>
              <a:t>of</a:t>
            </a:r>
            <a:r>
              <a:rPr sz="2450" spc="-45" dirty="0">
                <a:solidFill>
                  <a:srgbClr val="1A3D66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62D46"/>
                </a:solidFill>
                <a:latin typeface="Calibri"/>
                <a:cs typeface="Calibri"/>
              </a:rPr>
              <a:t>demand</a:t>
            </a:r>
            <a:r>
              <a:rPr sz="2450" spc="-55" dirty="0">
                <a:solidFill>
                  <a:srgbClr val="162D46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33B59"/>
                </a:solidFill>
                <a:latin typeface="Calibri"/>
                <a:cs typeface="Calibri"/>
              </a:rPr>
              <a:t>is</a:t>
            </a:r>
            <a:r>
              <a:rPr sz="2450" spc="-100" dirty="0">
                <a:solidFill>
                  <a:srgbClr val="233B59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A3A56"/>
                </a:solidFill>
                <a:latin typeface="Calibri"/>
                <a:cs typeface="Calibri"/>
              </a:rPr>
              <a:t>much</a:t>
            </a:r>
            <a:r>
              <a:rPr sz="2450" spc="-30" dirty="0">
                <a:solidFill>
                  <a:srgbClr val="2A3A56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3B3B3B"/>
                </a:solidFill>
                <a:latin typeface="Calibri"/>
                <a:cs typeface="Calibri"/>
              </a:rPr>
              <a:t>higher </a:t>
            </a:r>
            <a:r>
              <a:rPr sz="2450" dirty="0">
                <a:solidFill>
                  <a:srgbClr val="011F41"/>
                </a:solidFill>
                <a:latin typeface="Calibri"/>
                <a:cs typeface="Calibri"/>
              </a:rPr>
              <a:t>than</a:t>
            </a:r>
            <a:r>
              <a:rPr sz="2450" spc="35" dirty="0">
                <a:solidFill>
                  <a:srgbClr val="011F41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A2A2A"/>
                </a:solidFill>
                <a:latin typeface="Calibri"/>
                <a:cs typeface="Calibri"/>
              </a:rPr>
              <a:t>in</a:t>
            </a:r>
            <a:r>
              <a:rPr sz="2450" spc="2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83B69"/>
                </a:solidFill>
                <a:latin typeface="Calibri"/>
                <a:cs typeface="Calibri"/>
              </a:rPr>
              <a:t>previous</a:t>
            </a:r>
            <a:r>
              <a:rPr sz="2450" spc="275" dirty="0">
                <a:solidFill>
                  <a:srgbClr val="283B69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62626"/>
                </a:solidFill>
                <a:latin typeface="Calibri"/>
                <a:cs typeface="Calibri"/>
              </a:rPr>
              <a:t>systems</a:t>
            </a:r>
            <a:r>
              <a:rPr sz="2450" spc="20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051D3A"/>
                </a:solidFill>
                <a:latin typeface="Calibri"/>
                <a:cs typeface="Calibri"/>
              </a:rPr>
              <a:t>and</a:t>
            </a:r>
            <a:r>
              <a:rPr sz="2450" spc="145" dirty="0">
                <a:solidFill>
                  <a:srgbClr val="051D3A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2450" spc="15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A3670"/>
                </a:solidFill>
                <a:latin typeface="Calibri"/>
                <a:cs typeface="Calibri"/>
              </a:rPr>
              <a:t>amount</a:t>
            </a:r>
            <a:r>
              <a:rPr sz="2450" spc="180" dirty="0">
                <a:solidFill>
                  <a:srgbClr val="1A3670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32849"/>
                </a:solidFill>
                <a:latin typeface="Calibri"/>
                <a:cs typeface="Calibri"/>
              </a:rPr>
              <a:t>of</a:t>
            </a:r>
            <a:r>
              <a:rPr sz="2450" spc="110" dirty="0">
                <a:solidFill>
                  <a:srgbClr val="132849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1C2D46"/>
                </a:solidFill>
                <a:latin typeface="Calibri"/>
                <a:cs typeface="Calibri"/>
              </a:rPr>
              <a:t>available </a:t>
            </a:r>
            <a:r>
              <a:rPr sz="2500" dirty="0">
                <a:solidFill>
                  <a:srgbClr val="1F3449"/>
                </a:solidFill>
                <a:latin typeface="Calibri"/>
                <a:cs typeface="Calibri"/>
              </a:rPr>
              <a:t>resources</a:t>
            </a:r>
            <a:r>
              <a:rPr sz="2500" spc="-55" dirty="0">
                <a:solidFill>
                  <a:srgbClr val="1F3449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0A1A49"/>
                </a:solidFill>
                <a:latin typeface="Calibri"/>
                <a:cs typeface="Calibri"/>
              </a:rPr>
              <a:t>can</a:t>
            </a:r>
            <a:r>
              <a:rPr sz="2500" spc="-80" dirty="0">
                <a:solidFill>
                  <a:srgbClr val="0A1A49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153359"/>
                </a:solidFill>
                <a:latin typeface="Calibri"/>
                <a:cs typeface="Calibri"/>
              </a:rPr>
              <a:t>be</a:t>
            </a:r>
            <a:r>
              <a:rPr sz="2500" spc="-70" dirty="0">
                <a:solidFill>
                  <a:srgbClr val="153359"/>
                </a:solidFill>
                <a:latin typeface="Calibri"/>
                <a:cs typeface="Calibri"/>
              </a:rPr>
              <a:t> </a:t>
            </a:r>
            <a:r>
              <a:rPr sz="2500" spc="-20" dirty="0">
                <a:solidFill>
                  <a:srgbClr val="2F486B"/>
                </a:solidFill>
                <a:latin typeface="Calibri"/>
                <a:cs typeface="Calibri"/>
              </a:rPr>
              <a:t>varied</a:t>
            </a:r>
            <a:r>
              <a:rPr sz="2500" spc="-60" dirty="0">
                <a:solidFill>
                  <a:srgbClr val="2F486B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182F54"/>
                </a:solidFill>
                <a:latin typeface="Calibri"/>
                <a:cs typeface="Calibri"/>
              </a:rPr>
              <a:t>over</a:t>
            </a:r>
            <a:r>
              <a:rPr sz="2500" spc="-140" dirty="0">
                <a:solidFill>
                  <a:srgbClr val="182F54"/>
                </a:solidFill>
                <a:latin typeface="Calibri"/>
                <a:cs typeface="Calibri"/>
              </a:rPr>
              <a:t> </a:t>
            </a:r>
            <a:r>
              <a:rPr sz="2500" spc="70" dirty="0">
                <a:solidFill>
                  <a:srgbClr val="2B3D72"/>
                </a:solidFill>
                <a:latin typeface="Calibri"/>
                <a:cs typeface="Calibri"/>
              </a:rPr>
              <a:t>a</a:t>
            </a:r>
            <a:r>
              <a:rPr sz="2500" spc="-160" dirty="0">
                <a:solidFill>
                  <a:srgbClr val="2B3D72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133442"/>
                </a:solidFill>
                <a:latin typeface="Calibri"/>
                <a:cs typeface="Calibri"/>
              </a:rPr>
              <a:t>much</a:t>
            </a:r>
            <a:r>
              <a:rPr sz="2500" spc="-50" dirty="0">
                <a:solidFill>
                  <a:srgbClr val="133442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183362"/>
                </a:solidFill>
                <a:latin typeface="Calibri"/>
                <a:cs typeface="Calibri"/>
              </a:rPr>
              <a:t>broader</a:t>
            </a:r>
            <a:r>
              <a:rPr sz="2500" spc="-60" dirty="0">
                <a:solidFill>
                  <a:srgbClr val="183362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163350"/>
                </a:solidFill>
                <a:latin typeface="Calibri"/>
                <a:cs typeface="Calibri"/>
              </a:rPr>
              <a:t>range.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384351" y="4697014"/>
            <a:ext cx="2402205" cy="1491615"/>
            <a:chOff x="3384351" y="4697014"/>
            <a:chExt cx="2402205" cy="1491615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4351" y="4714874"/>
              <a:ext cx="2402085" cy="14733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75547" y="4697014"/>
              <a:ext cx="125015" cy="55364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84351" y="4710409"/>
              <a:ext cx="2335113" cy="1477863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62175" y="6255196"/>
            <a:ext cx="2534920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dirty="0">
                <a:solidFill>
                  <a:srgbClr val="4D4D4D"/>
                </a:solidFill>
                <a:latin typeface="Calibri"/>
                <a:cs typeface="Calibri"/>
              </a:rPr>
              <a:t>Milad</a:t>
            </a:r>
            <a:r>
              <a:rPr sz="1000" spc="40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43434"/>
                </a:solidFill>
                <a:latin typeface="Calibri"/>
                <a:cs typeface="Calibri"/>
              </a:rPr>
              <a:t>Jalalimehr</a:t>
            </a:r>
            <a:r>
              <a:rPr sz="1000" spc="1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39393"/>
                </a:solidFill>
                <a:latin typeface="Calibri"/>
                <a:cs typeface="Calibri"/>
              </a:rPr>
              <a:t>-</a:t>
            </a:r>
            <a:r>
              <a:rPr sz="1000" spc="229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45454"/>
                </a:solidFill>
                <a:latin typeface="Calibri"/>
                <a:cs typeface="Calibri"/>
              </a:rPr>
              <a:t>Operating</a:t>
            </a:r>
            <a:r>
              <a:rPr sz="1000" spc="10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D2D2D"/>
                </a:solidFill>
                <a:latin typeface="Calibri"/>
                <a:cs typeface="Calibri"/>
              </a:rPr>
              <a:t>System</a:t>
            </a:r>
            <a:r>
              <a:rPr sz="1000" spc="10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A3A3A"/>
                </a:solidFill>
                <a:latin typeface="Calibri"/>
                <a:cs typeface="Calibri"/>
              </a:rPr>
              <a:t>for</a:t>
            </a:r>
            <a:r>
              <a:rPr sz="1000" spc="2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464646"/>
                </a:solidFill>
                <a:latin typeface="Calibri"/>
                <a:cs typeface="Calibri"/>
              </a:rPr>
              <a:t>Clouds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340352" y="6344493"/>
            <a:ext cx="430530" cy="1822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00" spc="-20" dirty="0">
                <a:solidFill>
                  <a:srgbClr val="2A2A2A"/>
                </a:solidFill>
                <a:latin typeface="Arial"/>
                <a:cs typeface="Arial"/>
              </a:rPr>
              <a:t>11</a:t>
            </a:r>
            <a:r>
              <a:rPr sz="1000" spc="-3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3A3A3A"/>
                </a:solidFill>
                <a:latin typeface="Arial"/>
                <a:cs typeface="Arial"/>
              </a:rPr>
              <a:t>/</a:t>
            </a:r>
            <a:r>
              <a:rPr sz="1000" spc="20" dirty="0">
                <a:solidFill>
                  <a:srgbClr val="3A3A3A"/>
                </a:solidFill>
                <a:latin typeface="Arial"/>
                <a:cs typeface="Arial"/>
              </a:rPr>
              <a:t> </a:t>
            </a:r>
            <a:r>
              <a:rPr sz="1000" spc="-110" dirty="0">
                <a:solidFill>
                  <a:srgbClr val="2D2D2D"/>
                </a:solidFill>
                <a:latin typeface="Arial"/>
                <a:cs typeface="Arial"/>
              </a:rPr>
              <a:t>1@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2175" y="6439557"/>
            <a:ext cx="3145790" cy="1562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70"/>
              </a:lnSpc>
            </a:pPr>
            <a:r>
              <a:rPr sz="1000" dirty="0">
                <a:solidFill>
                  <a:srgbClr val="313131"/>
                </a:solidFill>
                <a:latin typeface="Calibri"/>
                <a:cs typeface="Calibri"/>
              </a:rPr>
              <a:t>Mazandaran</a:t>
            </a:r>
            <a:r>
              <a:rPr sz="1000" spc="4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939393"/>
                </a:solidFill>
                <a:latin typeface="Calibri"/>
                <a:cs typeface="Calibri"/>
              </a:rPr>
              <a:t>University</a:t>
            </a:r>
            <a:r>
              <a:rPr sz="1000" spc="105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5B5B5B"/>
                </a:solidFill>
                <a:latin typeface="Calibri"/>
                <a:cs typeface="Calibri"/>
              </a:rPr>
              <a:t>of</a:t>
            </a:r>
            <a:r>
              <a:rPr sz="1000" spc="65" dirty="0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D3D3D"/>
                </a:solidFill>
                <a:latin typeface="Calibri"/>
                <a:cs typeface="Calibri"/>
              </a:rPr>
              <a:t>Science</a:t>
            </a:r>
            <a:r>
              <a:rPr sz="1000" spc="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1000" spc="2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43434"/>
                </a:solidFill>
                <a:latin typeface="Calibri"/>
                <a:cs typeface="Calibri"/>
              </a:rPr>
              <a:t>Technology</a:t>
            </a:r>
            <a:r>
              <a:rPr sz="1000" spc="8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3A3A3A"/>
                </a:solidFill>
                <a:latin typeface="Calibri"/>
                <a:cs typeface="Calibri"/>
              </a:rPr>
              <a:t>(MUST)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99119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40347" y="2682081"/>
            <a:ext cx="7257415" cy="23749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292735" marR="5080" indent="-280670">
              <a:lnSpc>
                <a:spcPts val="2880"/>
              </a:lnSpc>
              <a:spcBef>
                <a:spcPts val="235"/>
              </a:spcBef>
              <a:buClr>
                <a:srgbClr val="5BACDB"/>
              </a:buClr>
              <a:buChar char="•"/>
              <a:tabLst>
                <a:tab pos="295910" algn="l"/>
              </a:tabLst>
            </a:pPr>
            <a:r>
              <a:rPr sz="2450" dirty="0">
                <a:solidFill>
                  <a:srgbClr val="1C3A59"/>
                </a:solidFill>
                <a:latin typeface="Calibri"/>
                <a:cs typeface="Calibri"/>
              </a:rPr>
              <a:t>Cloud</a:t>
            </a:r>
            <a:r>
              <a:rPr sz="2450" spc="105" dirty="0">
                <a:solidFill>
                  <a:srgbClr val="1C3A59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3365E"/>
                </a:solidFill>
                <a:latin typeface="Calibri"/>
                <a:cs typeface="Calibri"/>
              </a:rPr>
              <a:t>applications</a:t>
            </a:r>
            <a:r>
              <a:rPr sz="2450" spc="265" dirty="0">
                <a:solidFill>
                  <a:srgbClr val="23365E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13F5B"/>
                </a:solidFill>
                <a:latin typeface="Calibri"/>
                <a:cs typeface="Calibri"/>
              </a:rPr>
              <a:t>usually</a:t>
            </a:r>
            <a:r>
              <a:rPr sz="2450" spc="229" dirty="0">
                <a:solidFill>
                  <a:srgbClr val="213F5B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83D52"/>
                </a:solidFill>
                <a:latin typeface="Calibri"/>
                <a:cs typeface="Calibri"/>
              </a:rPr>
              <a:t>share</a:t>
            </a:r>
            <a:r>
              <a:rPr sz="2450" spc="190" dirty="0">
                <a:solidFill>
                  <a:srgbClr val="283D52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0E2A4B"/>
                </a:solidFill>
                <a:latin typeface="Calibri"/>
                <a:cs typeface="Calibri"/>
              </a:rPr>
              <a:t>cloud</a:t>
            </a:r>
            <a:r>
              <a:rPr sz="2450" spc="45" dirty="0">
                <a:solidFill>
                  <a:srgbClr val="0E2A4B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82B56"/>
                </a:solidFill>
                <a:latin typeface="Calibri"/>
                <a:cs typeface="Calibri"/>
              </a:rPr>
              <a:t>resources</a:t>
            </a:r>
            <a:r>
              <a:rPr sz="2450" spc="229" dirty="0">
                <a:solidFill>
                  <a:srgbClr val="182B56"/>
                </a:solidFill>
                <a:latin typeface="Calibri"/>
                <a:cs typeface="Calibri"/>
              </a:rPr>
              <a:t> </a:t>
            </a:r>
            <a:r>
              <a:rPr sz="2450" spc="-20" dirty="0">
                <a:solidFill>
                  <a:srgbClr val="2F5085"/>
                </a:solidFill>
                <a:latin typeface="Calibri"/>
                <a:cs typeface="Calibri"/>
              </a:rPr>
              <a:t>with 	</a:t>
            </a:r>
            <a:r>
              <a:rPr sz="2450" dirty="0">
                <a:solidFill>
                  <a:srgbClr val="183156"/>
                </a:solidFill>
                <a:latin typeface="Calibri"/>
                <a:cs typeface="Calibri"/>
              </a:rPr>
              <a:t>other</a:t>
            </a:r>
            <a:r>
              <a:rPr sz="2450" spc="-55" dirty="0">
                <a:solidFill>
                  <a:srgbClr val="183156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F3F66"/>
                </a:solidFill>
                <a:latin typeface="Calibri"/>
                <a:cs typeface="Calibri"/>
              </a:rPr>
              <a:t>users</a:t>
            </a:r>
            <a:r>
              <a:rPr sz="2450" spc="-30" dirty="0">
                <a:solidFill>
                  <a:srgbClr val="1F3F66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62A54"/>
                </a:solidFill>
                <a:latin typeface="Calibri"/>
                <a:cs typeface="Calibri"/>
              </a:rPr>
              <a:t>and</a:t>
            </a:r>
            <a:r>
              <a:rPr sz="2450" spc="-30" dirty="0">
                <a:solidFill>
                  <a:srgbClr val="162A54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63D5B"/>
                </a:solidFill>
                <a:latin typeface="Calibri"/>
                <a:cs typeface="Calibri"/>
              </a:rPr>
              <a:t>applications</a:t>
            </a:r>
            <a:r>
              <a:rPr sz="2450" spc="190" dirty="0">
                <a:solidFill>
                  <a:srgbClr val="263D5B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1C3349"/>
                </a:solidFill>
                <a:latin typeface="Calibri"/>
                <a:cs typeface="Calibri"/>
              </a:rPr>
              <a:t>in</a:t>
            </a:r>
            <a:r>
              <a:rPr sz="2450" spc="-80" dirty="0">
                <a:solidFill>
                  <a:srgbClr val="1C3349"/>
                </a:solidFill>
                <a:latin typeface="Calibri"/>
                <a:cs typeface="Calibri"/>
              </a:rPr>
              <a:t> </a:t>
            </a:r>
            <a:r>
              <a:rPr sz="2450" dirty="0">
                <a:solidFill>
                  <a:srgbClr val="2F2F2F"/>
                </a:solidFill>
                <a:latin typeface="Calibri"/>
                <a:cs typeface="Calibri"/>
              </a:rPr>
              <a:t>the</a:t>
            </a:r>
            <a:r>
              <a:rPr sz="2450" spc="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450" spc="-10" dirty="0">
                <a:solidFill>
                  <a:srgbClr val="1D3459"/>
                </a:solidFill>
                <a:latin typeface="Calibri"/>
                <a:cs typeface="Calibri"/>
              </a:rPr>
              <a:t>cloud.</a:t>
            </a:r>
            <a:endParaRPr sz="24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2450">
              <a:latin typeface="Calibri"/>
              <a:cs typeface="Calibri"/>
            </a:endParaRPr>
          </a:p>
          <a:p>
            <a:pPr marL="291465" marR="11430" indent="6350" algn="just">
              <a:lnSpc>
                <a:spcPct val="94600"/>
              </a:lnSpc>
              <a:spcBef>
                <a:spcPts val="5"/>
              </a:spcBef>
            </a:pPr>
            <a:r>
              <a:rPr sz="2550" dirty="0">
                <a:solidFill>
                  <a:srgbClr val="233D52"/>
                </a:solidFill>
                <a:latin typeface="Calibri"/>
                <a:cs typeface="Calibri"/>
              </a:rPr>
              <a:t>The</a:t>
            </a:r>
            <a:r>
              <a:rPr sz="2550" spc="125" dirty="0">
                <a:solidFill>
                  <a:srgbClr val="233D52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13F6B"/>
                </a:solidFill>
                <a:latin typeface="Calibri"/>
                <a:cs typeface="Calibri"/>
              </a:rPr>
              <a:t>likelihood</a:t>
            </a:r>
            <a:r>
              <a:rPr sz="2550" spc="265" dirty="0">
                <a:solidFill>
                  <a:srgbClr val="213F6B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F3D60"/>
                </a:solidFill>
                <a:latin typeface="Calibri"/>
                <a:cs typeface="Calibri"/>
              </a:rPr>
              <a:t>of</a:t>
            </a:r>
            <a:r>
              <a:rPr sz="2550" spc="220" dirty="0">
                <a:solidFill>
                  <a:srgbClr val="1F3D60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13475"/>
                </a:solidFill>
                <a:latin typeface="Calibri"/>
                <a:cs typeface="Calibri"/>
              </a:rPr>
              <a:t>software</a:t>
            </a:r>
            <a:r>
              <a:rPr sz="2550" spc="300" dirty="0">
                <a:solidFill>
                  <a:srgbClr val="213475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33356"/>
                </a:solidFill>
                <a:latin typeface="Calibri"/>
                <a:cs typeface="Calibri"/>
              </a:rPr>
              <a:t>faults</a:t>
            </a:r>
            <a:r>
              <a:rPr sz="2550" spc="254" dirty="0">
                <a:solidFill>
                  <a:srgbClr val="233356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8365D"/>
                </a:solidFill>
                <a:latin typeface="Calibri"/>
                <a:cs typeface="Calibri"/>
              </a:rPr>
              <a:t>in</a:t>
            </a:r>
            <a:r>
              <a:rPr sz="2550" spc="105" dirty="0">
                <a:solidFill>
                  <a:srgbClr val="18365D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2D4159"/>
                </a:solidFill>
                <a:latin typeface="Calibri"/>
                <a:cs typeface="Calibri"/>
              </a:rPr>
              <a:t>clouds</a:t>
            </a:r>
            <a:r>
              <a:rPr sz="2550" spc="220" dirty="0">
                <a:solidFill>
                  <a:srgbClr val="2D4159"/>
                </a:solidFill>
                <a:latin typeface="Calibri"/>
                <a:cs typeface="Calibri"/>
              </a:rPr>
              <a:t> </a:t>
            </a:r>
            <a:r>
              <a:rPr sz="2550" dirty="0">
                <a:solidFill>
                  <a:srgbClr val="163D64"/>
                </a:solidFill>
                <a:latin typeface="Calibri"/>
                <a:cs typeface="Calibri"/>
              </a:rPr>
              <a:t>are</a:t>
            </a:r>
            <a:r>
              <a:rPr sz="2550" spc="170" dirty="0">
                <a:solidFill>
                  <a:srgbClr val="163D64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2F2F2F"/>
                </a:solidFill>
                <a:latin typeface="Calibri"/>
                <a:cs typeface="Calibri"/>
              </a:rPr>
              <a:t>high, </a:t>
            </a:r>
            <a:r>
              <a:rPr sz="2500" dirty="0">
                <a:solidFill>
                  <a:srgbClr val="182854"/>
                </a:solidFill>
                <a:latin typeface="Calibri"/>
                <a:cs typeface="Calibri"/>
              </a:rPr>
              <a:t>Due</a:t>
            </a:r>
            <a:r>
              <a:rPr sz="2500" spc="-95" dirty="0">
                <a:solidFill>
                  <a:srgbClr val="182854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2424"/>
                </a:solidFill>
                <a:latin typeface="Calibri"/>
                <a:cs typeface="Calibri"/>
              </a:rPr>
              <a:t>to</a:t>
            </a:r>
            <a:r>
              <a:rPr sz="2500" spc="-14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314B5D"/>
                </a:solidFill>
                <a:latin typeface="Calibri"/>
                <a:cs typeface="Calibri"/>
              </a:rPr>
              <a:t>the</a:t>
            </a:r>
            <a:r>
              <a:rPr sz="2500" spc="-114" dirty="0">
                <a:solidFill>
                  <a:srgbClr val="314B5D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182D42"/>
                </a:solidFill>
                <a:latin typeface="Calibri"/>
                <a:cs typeface="Calibri"/>
              </a:rPr>
              <a:t>inherent</a:t>
            </a:r>
            <a:r>
              <a:rPr sz="2500" spc="25" dirty="0">
                <a:solidFill>
                  <a:srgbClr val="182D42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1F315E"/>
                </a:solidFill>
                <a:latin typeface="Calibri"/>
                <a:cs typeface="Calibri"/>
              </a:rPr>
              <a:t>difficulty</a:t>
            </a:r>
            <a:r>
              <a:rPr sz="2500" spc="75" dirty="0">
                <a:solidFill>
                  <a:srgbClr val="1F315E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383838"/>
                </a:solidFill>
                <a:latin typeface="Calibri"/>
                <a:cs typeface="Calibri"/>
              </a:rPr>
              <a:t>of</a:t>
            </a:r>
            <a:r>
              <a:rPr sz="2500" spc="-10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4B648C"/>
                </a:solidFill>
                <a:latin typeface="Calibri"/>
                <a:cs typeface="Calibri"/>
              </a:rPr>
              <a:t>writing</a:t>
            </a:r>
            <a:r>
              <a:rPr sz="2500" spc="-130" dirty="0">
                <a:solidFill>
                  <a:srgbClr val="4B648C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2F2F2F"/>
                </a:solidFill>
                <a:latin typeface="Calibri"/>
                <a:cs typeface="Calibri"/>
              </a:rPr>
              <a:t>multithreaded </a:t>
            </a:r>
            <a:r>
              <a:rPr sz="2550" spc="-10" dirty="0">
                <a:solidFill>
                  <a:srgbClr val="1D385D"/>
                </a:solidFill>
                <a:latin typeface="Calibri"/>
                <a:cs typeface="Calibri"/>
              </a:rPr>
              <a:t>applications.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654" y="6434906"/>
            <a:ext cx="314769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r>
              <a:rPr sz="1050" spc="-25" dirty="0">
                <a:solidFill>
                  <a:srgbClr val="2A2A2A"/>
                </a:solidFill>
                <a:latin typeface="Calibri"/>
                <a:cs typeface="Calibri"/>
              </a:rPr>
              <a:t>Mazandaran</a:t>
            </a:r>
            <a:r>
              <a:rPr sz="1050" spc="-3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B4B4B"/>
                </a:solidFill>
                <a:latin typeface="Calibri"/>
                <a:cs typeface="Calibri"/>
              </a:rPr>
              <a:t>University</a:t>
            </a:r>
            <a:r>
              <a:rPr sz="1050" spc="-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B5B5B"/>
                </a:solidFill>
                <a:latin typeface="Calibri"/>
                <a:cs typeface="Calibri"/>
              </a:rPr>
              <a:t>of </a:t>
            </a:r>
            <a:r>
              <a:rPr sz="1050" spc="-20" dirty="0">
                <a:solidFill>
                  <a:srgbClr val="262626"/>
                </a:solidFill>
                <a:latin typeface="Calibri"/>
                <a:cs typeface="Calibri"/>
              </a:rPr>
              <a:t>Science</a:t>
            </a:r>
            <a:r>
              <a:rPr sz="105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1050" spc="-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13131"/>
                </a:solidFill>
                <a:latin typeface="Calibri"/>
                <a:cs typeface="Calibri"/>
              </a:rPr>
              <a:t>Technology</a:t>
            </a:r>
            <a:r>
              <a:rPr sz="1050" spc="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A3A3A"/>
                </a:solidFill>
                <a:latin typeface="Calibri"/>
                <a:cs typeface="Calibri"/>
              </a:rPr>
              <a:t>(MUSf)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654" y="6248995"/>
            <a:ext cx="253682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5" dirty="0">
                <a:solidFill>
                  <a:srgbClr val="484848"/>
                </a:solidFill>
                <a:latin typeface="Calibri"/>
                <a:cs typeface="Calibri"/>
              </a:rPr>
              <a:t>Milad</a:t>
            </a:r>
            <a:r>
              <a:rPr sz="1050" spc="-5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343434"/>
                </a:solidFill>
                <a:latin typeface="Calibri"/>
                <a:cs typeface="Calibri"/>
              </a:rPr>
              <a:t>Jalalimehr</a:t>
            </a:r>
            <a:r>
              <a:rPr sz="1050" spc="-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39393"/>
                </a:solidFill>
                <a:latin typeface="Calibri"/>
                <a:cs typeface="Calibri"/>
              </a:rPr>
              <a:t>-</a:t>
            </a:r>
            <a:r>
              <a:rPr sz="1050" spc="105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94949"/>
                </a:solidFill>
                <a:latin typeface="Calibri"/>
                <a:cs typeface="Calibri"/>
              </a:rPr>
              <a:t>Operating</a:t>
            </a:r>
            <a:r>
              <a:rPr sz="1050" spc="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D2D2D"/>
                </a:solidFill>
                <a:latin typeface="Calibri"/>
                <a:cs typeface="Calibri"/>
              </a:rPr>
              <a:t>System</a:t>
            </a:r>
            <a:r>
              <a:rPr sz="1050" spc="-2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05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4646"/>
                </a:solidFill>
                <a:latin typeface="Calibri"/>
                <a:cs typeface="Calibri"/>
              </a:rPr>
              <a:t>Clouds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32315" y="6319688"/>
            <a:ext cx="452755" cy="2114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00" spc="-10" dirty="0">
                <a:solidFill>
                  <a:srgbClr val="2D2D2D"/>
                </a:solidFill>
                <a:latin typeface="Calibri"/>
                <a:cs typeface="Calibri"/>
              </a:rPr>
              <a:t>12</a:t>
            </a:r>
            <a:r>
              <a:rPr sz="1200" spc="-5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200" spc="-50" dirty="0">
                <a:solidFill>
                  <a:srgbClr val="3D3D3D"/>
                </a:solidFill>
                <a:latin typeface="Calibri"/>
                <a:cs typeface="Calibri"/>
              </a:rPr>
              <a:t>/</a:t>
            </a:r>
            <a:r>
              <a:rPr sz="1200" spc="-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383838"/>
                </a:solidFill>
                <a:latin typeface="Calibri"/>
                <a:cs typeface="Calibri"/>
              </a:rPr>
              <a:t>1B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19657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01078" y="2607337"/>
            <a:ext cx="5691505" cy="2124075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33375" indent="-282575">
              <a:lnSpc>
                <a:spcPct val="100000"/>
              </a:lnSpc>
              <a:spcBef>
                <a:spcPts val="630"/>
              </a:spcBef>
              <a:buClr>
                <a:srgbClr val="79C4EF"/>
              </a:buClr>
              <a:buChar char="•"/>
              <a:tabLst>
                <a:tab pos="333375" algn="l"/>
              </a:tabLst>
            </a:pPr>
            <a:r>
              <a:rPr sz="2500" spc="-10" dirty="0">
                <a:solidFill>
                  <a:srgbClr val="2B2B2B"/>
                </a:solidFill>
                <a:latin typeface="Calibri"/>
                <a:cs typeface="Calibri"/>
              </a:rPr>
              <a:t>Available</a:t>
            </a:r>
            <a:r>
              <a:rPr sz="2500" spc="-5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262626"/>
                </a:solidFill>
                <a:latin typeface="Calibri"/>
                <a:cs typeface="Calibri"/>
              </a:rPr>
              <a:t>Cloud</a:t>
            </a:r>
            <a:r>
              <a:rPr sz="2500" spc="-13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244264"/>
                </a:solidFill>
                <a:latin typeface="Calibri"/>
                <a:cs typeface="Calibri"/>
              </a:rPr>
              <a:t>Operating</a:t>
            </a:r>
            <a:r>
              <a:rPr sz="2500" spc="-55" dirty="0">
                <a:solidFill>
                  <a:srgbClr val="244264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1A2848"/>
                </a:solidFill>
                <a:latin typeface="Calibri"/>
                <a:cs typeface="Calibri"/>
              </a:rPr>
              <a:t>Systems:</a:t>
            </a:r>
            <a:endParaRPr sz="2500">
              <a:latin typeface="Calibri"/>
              <a:cs typeface="Calibri"/>
            </a:endParaRPr>
          </a:p>
          <a:p>
            <a:pPr marL="630555" lvl="1" indent="-274320">
              <a:lnSpc>
                <a:spcPct val="100000"/>
              </a:lnSpc>
              <a:spcBef>
                <a:spcPts val="455"/>
              </a:spcBef>
              <a:buClr>
                <a:srgbClr val="70CAE4"/>
              </a:buClr>
              <a:buChar char="•"/>
              <a:tabLst>
                <a:tab pos="630555" algn="l"/>
              </a:tabLst>
            </a:pPr>
            <a:r>
              <a:rPr sz="2350" spc="-65" dirty="0">
                <a:solidFill>
                  <a:srgbClr val="6980A7"/>
                </a:solidFill>
                <a:latin typeface="Calibri"/>
                <a:cs typeface="Calibri"/>
              </a:rPr>
              <a:t>VMware </a:t>
            </a:r>
            <a:r>
              <a:rPr sz="2350" spc="-10" dirty="0">
                <a:solidFill>
                  <a:srgbClr val="363636"/>
                </a:solidFill>
                <a:latin typeface="Calibri"/>
                <a:cs typeface="Calibri"/>
              </a:rPr>
              <a:t>vsphere</a:t>
            </a:r>
            <a:r>
              <a:rPr sz="2350" spc="-8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3525" spc="-75" baseline="-7092" dirty="0">
                <a:solidFill>
                  <a:srgbClr val="133459"/>
                </a:solidFill>
                <a:latin typeface="Calibri"/>
                <a:cs typeface="Calibri"/>
              </a:rPr>
              <a:t>4</a:t>
            </a:r>
            <a:endParaRPr sz="3525" baseline="-7092">
              <a:latin typeface="Calibri"/>
              <a:cs typeface="Calibri"/>
            </a:endParaRPr>
          </a:p>
          <a:p>
            <a:pPr marL="637540" lvl="1" indent="-281305">
              <a:lnSpc>
                <a:spcPct val="100000"/>
              </a:lnSpc>
              <a:spcBef>
                <a:spcPts val="270"/>
              </a:spcBef>
              <a:buClr>
                <a:srgbClr val="89DBFF"/>
              </a:buClr>
              <a:buChar char="•"/>
              <a:tabLst>
                <a:tab pos="637540" algn="l"/>
              </a:tabLst>
            </a:pPr>
            <a:r>
              <a:rPr sz="2350" spc="-40" dirty="0">
                <a:solidFill>
                  <a:srgbClr val="1C3A62"/>
                </a:solidFill>
                <a:latin typeface="Calibri"/>
                <a:cs typeface="Calibri"/>
              </a:rPr>
              <a:t>Ubuntu</a:t>
            </a:r>
            <a:r>
              <a:rPr sz="2350" spc="-95" dirty="0">
                <a:solidFill>
                  <a:srgbClr val="1C3A62"/>
                </a:solidFill>
                <a:latin typeface="Calibri"/>
                <a:cs typeface="Calibri"/>
              </a:rPr>
              <a:t> </a:t>
            </a:r>
            <a:r>
              <a:rPr sz="2350" spc="-40" dirty="0">
                <a:solidFill>
                  <a:srgbClr val="163B5B"/>
                </a:solidFill>
                <a:latin typeface="Calibri"/>
                <a:cs typeface="Calibri"/>
              </a:rPr>
              <a:t>Enterprise</a:t>
            </a:r>
            <a:r>
              <a:rPr sz="2350" spc="-70" dirty="0">
                <a:solidFill>
                  <a:srgbClr val="163B5B"/>
                </a:solidFill>
                <a:latin typeface="Calibri"/>
                <a:cs typeface="Calibri"/>
              </a:rPr>
              <a:t> </a:t>
            </a:r>
            <a:r>
              <a:rPr sz="2350" spc="-25" dirty="0">
                <a:solidFill>
                  <a:srgbClr val="1F364D"/>
                </a:solidFill>
                <a:latin typeface="Calibri"/>
                <a:cs typeface="Calibri"/>
              </a:rPr>
              <a:t>OS</a:t>
            </a:r>
            <a:endParaRPr sz="23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</a:pPr>
            <a:endParaRPr sz="2350">
              <a:latin typeface="Calibri"/>
              <a:cs typeface="Calibri"/>
            </a:endParaRPr>
          </a:p>
          <a:p>
            <a:pPr marL="334010">
              <a:lnSpc>
                <a:spcPct val="100000"/>
              </a:lnSpc>
            </a:pPr>
            <a:r>
              <a:rPr sz="2550" spc="-35" dirty="0">
                <a:solidFill>
                  <a:srgbClr val="1C2F60"/>
                </a:solidFill>
                <a:latin typeface="Calibri"/>
                <a:cs typeface="Calibri"/>
              </a:rPr>
              <a:t>And</a:t>
            </a:r>
            <a:r>
              <a:rPr sz="2550" spc="-140" dirty="0">
                <a:solidFill>
                  <a:srgbClr val="1C2F60"/>
                </a:solidFill>
                <a:latin typeface="Calibri"/>
                <a:cs typeface="Calibri"/>
              </a:rPr>
              <a:t> </a:t>
            </a:r>
            <a:r>
              <a:rPr sz="2550" spc="-85" dirty="0">
                <a:solidFill>
                  <a:srgbClr val="214272"/>
                </a:solidFill>
                <a:latin typeface="Calibri"/>
                <a:cs typeface="Calibri"/>
              </a:rPr>
              <a:t>Web-</a:t>
            </a:r>
            <a:r>
              <a:rPr sz="2550" spc="-30" dirty="0">
                <a:solidFill>
                  <a:srgbClr val="214272"/>
                </a:solidFill>
                <a:latin typeface="Calibri"/>
                <a:cs typeface="Calibri"/>
              </a:rPr>
              <a:t>Based</a:t>
            </a:r>
            <a:r>
              <a:rPr sz="2550" spc="-90" dirty="0">
                <a:solidFill>
                  <a:srgbClr val="214272"/>
                </a:solidFill>
                <a:latin typeface="Calibri"/>
                <a:cs typeface="Calibri"/>
              </a:rPr>
              <a:t> </a:t>
            </a:r>
            <a:r>
              <a:rPr sz="2550" spc="-40" dirty="0">
                <a:solidFill>
                  <a:srgbClr val="2D3F62"/>
                </a:solidFill>
                <a:latin typeface="Calibri"/>
                <a:cs typeface="Calibri"/>
              </a:rPr>
              <a:t>Cloud</a:t>
            </a:r>
            <a:r>
              <a:rPr sz="2550" spc="-95" dirty="0">
                <a:solidFill>
                  <a:srgbClr val="2D3F62"/>
                </a:solidFill>
                <a:latin typeface="Calibri"/>
                <a:cs typeface="Calibri"/>
              </a:rPr>
              <a:t> </a:t>
            </a:r>
            <a:r>
              <a:rPr sz="2550" spc="-20" dirty="0">
                <a:solidFill>
                  <a:srgbClr val="1C3460"/>
                </a:solidFill>
                <a:latin typeface="Calibri"/>
                <a:cs typeface="Calibri"/>
              </a:rPr>
              <a:t>Operating</a:t>
            </a:r>
            <a:r>
              <a:rPr sz="2550" spc="10" dirty="0">
                <a:solidFill>
                  <a:srgbClr val="1C3460"/>
                </a:solidFill>
                <a:latin typeface="Calibri"/>
                <a:cs typeface="Calibri"/>
              </a:rPr>
              <a:t> </a:t>
            </a:r>
            <a:r>
              <a:rPr sz="2550" spc="-10" dirty="0">
                <a:solidFill>
                  <a:srgbClr val="2F415D"/>
                </a:solidFill>
                <a:latin typeface="Calibri"/>
                <a:cs typeface="Calibri"/>
              </a:rPr>
              <a:t>Systems</a:t>
            </a:r>
            <a:endParaRPr sz="25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654" y="6434906"/>
            <a:ext cx="314769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r>
              <a:rPr sz="1050" spc="-25" dirty="0">
                <a:solidFill>
                  <a:srgbClr val="2A2A2A"/>
                </a:solidFill>
                <a:latin typeface="Calibri"/>
                <a:cs typeface="Calibri"/>
              </a:rPr>
              <a:t>Mazandaran</a:t>
            </a:r>
            <a:r>
              <a:rPr sz="1050" spc="-3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B4B4B"/>
                </a:solidFill>
                <a:latin typeface="Calibri"/>
                <a:cs typeface="Calibri"/>
              </a:rPr>
              <a:t>University</a:t>
            </a:r>
            <a:r>
              <a:rPr sz="1050" spc="-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B5B5B"/>
                </a:solidFill>
                <a:latin typeface="Calibri"/>
                <a:cs typeface="Calibri"/>
              </a:rPr>
              <a:t>of </a:t>
            </a:r>
            <a:r>
              <a:rPr sz="1050" spc="-20" dirty="0">
                <a:solidFill>
                  <a:srgbClr val="262626"/>
                </a:solidFill>
                <a:latin typeface="Calibri"/>
                <a:cs typeface="Calibri"/>
              </a:rPr>
              <a:t>Science</a:t>
            </a:r>
            <a:r>
              <a:rPr sz="105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1050" spc="-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13131"/>
                </a:solidFill>
                <a:latin typeface="Calibri"/>
                <a:cs typeface="Calibri"/>
              </a:rPr>
              <a:t>Technology</a:t>
            </a:r>
            <a:r>
              <a:rPr sz="1050" spc="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A3A3A"/>
                </a:solidFill>
                <a:latin typeface="Calibri"/>
                <a:cs typeface="Calibri"/>
              </a:rPr>
              <a:t>(MUSf)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654" y="6248995"/>
            <a:ext cx="253682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5" dirty="0">
                <a:solidFill>
                  <a:srgbClr val="464646"/>
                </a:solidFill>
                <a:latin typeface="Calibri"/>
                <a:cs typeface="Calibri"/>
              </a:rPr>
              <a:t>Milad</a:t>
            </a:r>
            <a:r>
              <a:rPr sz="1050" spc="-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343434"/>
                </a:solidFill>
                <a:latin typeface="Calibri"/>
                <a:cs typeface="Calibri"/>
              </a:rPr>
              <a:t>Jalalimehr</a:t>
            </a:r>
            <a:r>
              <a:rPr sz="1050" spc="-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39393"/>
                </a:solidFill>
                <a:latin typeface="Calibri"/>
                <a:cs typeface="Calibri"/>
              </a:rPr>
              <a:t>-</a:t>
            </a:r>
            <a:r>
              <a:rPr sz="1050" spc="105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94949"/>
                </a:solidFill>
                <a:latin typeface="Calibri"/>
                <a:cs typeface="Calibri"/>
              </a:rPr>
              <a:t>Operating</a:t>
            </a:r>
            <a:r>
              <a:rPr sz="1050" spc="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D2D2D"/>
                </a:solidFill>
                <a:latin typeface="Calibri"/>
                <a:cs typeface="Calibri"/>
              </a:rPr>
              <a:t>System</a:t>
            </a:r>
            <a:r>
              <a:rPr sz="1050" spc="-2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05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4646"/>
                </a:solidFill>
                <a:latin typeface="Calibri"/>
                <a:cs typeface="Calibri"/>
              </a:rPr>
              <a:t>Clouds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302674" y="6317952"/>
            <a:ext cx="492125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250" spc="-20" dirty="0">
                <a:solidFill>
                  <a:srgbClr val="2B2B2B"/>
                </a:solidFill>
                <a:latin typeface="Arial"/>
                <a:cs typeface="Arial"/>
              </a:rPr>
              <a:t>1</a:t>
            </a:r>
            <a:r>
              <a:rPr sz="1875" spc="-30" baseline="-8888" dirty="0">
                <a:solidFill>
                  <a:srgbClr val="2B2B2B"/>
                </a:solidFill>
                <a:latin typeface="Arial"/>
                <a:cs typeface="Arial"/>
              </a:rPr>
              <a:t>3</a:t>
            </a:r>
            <a:r>
              <a:rPr sz="1250" spc="-20" dirty="0">
                <a:solidFill>
                  <a:srgbClr val="2B2B2B"/>
                </a:solidFill>
                <a:latin typeface="Arial"/>
                <a:cs typeface="Arial"/>
              </a:rPr>
              <a:t>/18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19657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38594" y="2626117"/>
            <a:ext cx="1391285" cy="1777364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88925" indent="-276225">
              <a:lnSpc>
                <a:spcPct val="100000"/>
              </a:lnSpc>
              <a:spcBef>
                <a:spcPts val="480"/>
              </a:spcBef>
              <a:buClr>
                <a:srgbClr val="79C4EF"/>
              </a:buClr>
              <a:buChar char="•"/>
              <a:tabLst>
                <a:tab pos="288925" algn="l"/>
              </a:tabLst>
            </a:pPr>
            <a:r>
              <a:rPr sz="2500" spc="-10" dirty="0">
                <a:solidFill>
                  <a:srgbClr val="1C3456"/>
                </a:solidFill>
                <a:latin typeface="Calibri"/>
                <a:cs typeface="Calibri"/>
              </a:rPr>
              <a:t>iCloud</a:t>
            </a:r>
            <a:endParaRPr sz="2500">
              <a:latin typeface="Calibri"/>
              <a:cs typeface="Calibri"/>
            </a:endParaRPr>
          </a:p>
          <a:p>
            <a:pPr marL="293370" marR="5080" indent="-281305">
              <a:lnSpc>
                <a:spcPct val="111500"/>
              </a:lnSpc>
              <a:spcBef>
                <a:spcPts val="45"/>
              </a:spcBef>
              <a:buChar char="•"/>
              <a:tabLst>
                <a:tab pos="293370" algn="l"/>
                <a:tab pos="295275" algn="l"/>
              </a:tabLst>
            </a:pPr>
            <a:r>
              <a:rPr sz="2550" dirty="0">
                <a:solidFill>
                  <a:srgbClr val="72B5E2"/>
                </a:solidFill>
                <a:latin typeface="Calibri"/>
                <a:cs typeface="Calibri"/>
              </a:rPr>
              <a:t>	</a:t>
            </a:r>
            <a:r>
              <a:rPr sz="2550" spc="-10" dirty="0">
                <a:solidFill>
                  <a:srgbClr val="0C284F"/>
                </a:solidFill>
                <a:latin typeface="Calibri"/>
                <a:cs typeface="Calibri"/>
              </a:rPr>
              <a:t>eyeOS </a:t>
            </a:r>
            <a:r>
              <a:rPr sz="2550" spc="-65" dirty="0">
                <a:solidFill>
                  <a:srgbClr val="1D2A44"/>
                </a:solidFill>
                <a:latin typeface="Calibri"/>
                <a:cs typeface="Calibri"/>
              </a:rPr>
              <a:t>Glide </a:t>
            </a:r>
            <a:r>
              <a:rPr sz="2550" spc="-25" dirty="0">
                <a:solidFill>
                  <a:srgbClr val="0A3A6E"/>
                </a:solidFill>
                <a:latin typeface="Calibri"/>
                <a:cs typeface="Calibri"/>
              </a:rPr>
              <a:t>OS </a:t>
            </a:r>
            <a:r>
              <a:rPr sz="2650" spc="-10" dirty="0">
                <a:solidFill>
                  <a:srgbClr val="213349"/>
                </a:solidFill>
                <a:latin typeface="Calibri"/>
                <a:cs typeface="Calibri"/>
              </a:rPr>
              <a:t>g.ho.st</a:t>
            </a:r>
            <a:endParaRPr sz="2650">
              <a:latin typeface="Calibri"/>
              <a:cs typeface="Calibri"/>
            </a:endParaRPr>
          </a:p>
        </p:txBody>
      </p:sp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7562" y="2741414"/>
            <a:ext cx="4822031" cy="291107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61654" y="6434906"/>
            <a:ext cx="3147695" cy="1619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15"/>
              </a:lnSpc>
            </a:pPr>
            <a:r>
              <a:rPr sz="1050" spc="-25" dirty="0">
                <a:solidFill>
                  <a:srgbClr val="2A2A2A"/>
                </a:solidFill>
                <a:latin typeface="Calibri"/>
                <a:cs typeface="Calibri"/>
              </a:rPr>
              <a:t>Mazandaran</a:t>
            </a:r>
            <a:r>
              <a:rPr sz="1050" spc="-3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B4B4B"/>
                </a:solidFill>
                <a:latin typeface="Calibri"/>
                <a:cs typeface="Calibri"/>
              </a:rPr>
              <a:t>University</a:t>
            </a:r>
            <a:r>
              <a:rPr sz="1050" spc="-5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5B5B5B"/>
                </a:solidFill>
                <a:latin typeface="Calibri"/>
                <a:cs typeface="Calibri"/>
              </a:rPr>
              <a:t>of </a:t>
            </a:r>
            <a:r>
              <a:rPr sz="1050" spc="-20" dirty="0">
                <a:solidFill>
                  <a:srgbClr val="262626"/>
                </a:solidFill>
                <a:latin typeface="Calibri"/>
                <a:cs typeface="Calibri"/>
              </a:rPr>
              <a:t>Science</a:t>
            </a:r>
            <a:r>
              <a:rPr sz="105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sz="1050" spc="-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13131"/>
                </a:solidFill>
                <a:latin typeface="Calibri"/>
                <a:cs typeface="Calibri"/>
              </a:rPr>
              <a:t>Technology</a:t>
            </a:r>
            <a:r>
              <a:rPr sz="1050" spc="3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3A3A3A"/>
                </a:solidFill>
                <a:latin typeface="Calibri"/>
                <a:cs typeface="Calibri"/>
              </a:rPr>
              <a:t>(MUSf)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1654" y="6248995"/>
            <a:ext cx="2536825" cy="1892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050" spc="-25" dirty="0">
                <a:solidFill>
                  <a:srgbClr val="2F2F2F"/>
                </a:solidFill>
                <a:latin typeface="Calibri"/>
                <a:cs typeface="Calibri"/>
              </a:rPr>
              <a:t>Milad</a:t>
            </a:r>
            <a:r>
              <a:rPr sz="1050" spc="-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050" spc="-20" dirty="0">
                <a:solidFill>
                  <a:srgbClr val="343434"/>
                </a:solidFill>
                <a:latin typeface="Calibri"/>
                <a:cs typeface="Calibri"/>
              </a:rPr>
              <a:t>Jalalimehr</a:t>
            </a:r>
            <a:r>
              <a:rPr sz="1050" spc="-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939393"/>
                </a:solidFill>
                <a:latin typeface="Calibri"/>
                <a:cs typeface="Calibri"/>
              </a:rPr>
              <a:t>-</a:t>
            </a:r>
            <a:r>
              <a:rPr sz="1050" spc="105" dirty="0">
                <a:solidFill>
                  <a:srgbClr val="939393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94949"/>
                </a:solidFill>
                <a:latin typeface="Calibri"/>
                <a:cs typeface="Calibri"/>
              </a:rPr>
              <a:t>Operating</a:t>
            </a:r>
            <a:r>
              <a:rPr sz="1050" spc="55" dirty="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2D2D2D"/>
                </a:solidFill>
                <a:latin typeface="Calibri"/>
                <a:cs typeface="Calibri"/>
              </a:rPr>
              <a:t>System</a:t>
            </a:r>
            <a:r>
              <a:rPr sz="1050" spc="-2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050" dirty="0">
                <a:solidFill>
                  <a:srgbClr val="3F3F3F"/>
                </a:solidFill>
                <a:latin typeface="Calibri"/>
                <a:cs typeface="Calibri"/>
              </a:rPr>
              <a:t>for</a:t>
            </a:r>
            <a:r>
              <a:rPr sz="105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050" spc="-10" dirty="0">
                <a:solidFill>
                  <a:srgbClr val="464646"/>
                </a:solidFill>
                <a:latin typeface="Calibri"/>
                <a:cs typeface="Calibri"/>
              </a:rPr>
              <a:t>Clouds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06159" y="6313487"/>
            <a:ext cx="48768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1875" spc="44" baseline="-6666" dirty="0">
                <a:solidFill>
                  <a:srgbClr val="262626"/>
                </a:solidFill>
                <a:latin typeface="Arial"/>
                <a:cs typeface="Arial"/>
              </a:rPr>
              <a:t>*4</a:t>
            </a:r>
            <a:r>
              <a:rPr sz="1250" spc="30" dirty="0">
                <a:solidFill>
                  <a:srgbClr val="262626"/>
                </a:solidFill>
                <a:latin typeface="Arial"/>
                <a:cs typeface="Arial"/>
              </a:rPr>
              <a:t>/18</a:t>
            </a:r>
            <a:endParaRPr sz="1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196578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5309" y="2657276"/>
            <a:ext cx="6109970" cy="28835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04800" indent="-279400">
              <a:lnSpc>
                <a:spcPct val="100000"/>
              </a:lnSpc>
              <a:spcBef>
                <a:spcPts val="135"/>
              </a:spcBef>
              <a:buClr>
                <a:srgbClr val="5DAADB"/>
              </a:buClr>
              <a:buChar char="•"/>
              <a:tabLst>
                <a:tab pos="304800" algn="l"/>
              </a:tabLst>
            </a:pPr>
            <a:r>
              <a:rPr sz="2600" spc="-25" dirty="0">
                <a:solidFill>
                  <a:srgbClr val="153D74"/>
                </a:solidFill>
                <a:latin typeface="Calibri"/>
                <a:cs typeface="Calibri"/>
              </a:rPr>
              <a:t>Design</a:t>
            </a:r>
            <a:r>
              <a:rPr sz="2600" spc="-100" dirty="0">
                <a:solidFill>
                  <a:srgbClr val="153D74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214275"/>
                </a:solidFill>
                <a:latin typeface="Calibri"/>
                <a:cs typeface="Calibri"/>
              </a:rPr>
              <a:t>goals</a:t>
            </a:r>
            <a:r>
              <a:rPr sz="2600" spc="-80" dirty="0">
                <a:solidFill>
                  <a:srgbClr val="214275"/>
                </a:solidFill>
                <a:latin typeface="Calibri"/>
                <a:cs typeface="Calibri"/>
              </a:rPr>
              <a:t> </a:t>
            </a:r>
            <a:r>
              <a:rPr sz="2600" spc="-45" dirty="0">
                <a:solidFill>
                  <a:srgbClr val="2A3F75"/>
                </a:solidFill>
                <a:latin typeface="Calibri"/>
                <a:cs typeface="Calibri"/>
              </a:rPr>
              <a:t>and</a:t>
            </a:r>
            <a:r>
              <a:rPr sz="2600" spc="-100" dirty="0">
                <a:solidFill>
                  <a:srgbClr val="2A3F75"/>
                </a:solidFill>
                <a:latin typeface="Calibri"/>
                <a:cs typeface="Calibri"/>
              </a:rPr>
              <a:t> </a:t>
            </a:r>
            <a:r>
              <a:rPr sz="2600" spc="-60" dirty="0">
                <a:solidFill>
                  <a:srgbClr val="183A5D"/>
                </a:solidFill>
                <a:latin typeface="Calibri"/>
                <a:cs typeface="Calibri"/>
              </a:rPr>
              <a:t>chief</a:t>
            </a:r>
            <a:r>
              <a:rPr sz="2600" spc="-90" dirty="0">
                <a:solidFill>
                  <a:srgbClr val="183A5D"/>
                </a:solidFill>
                <a:latin typeface="Calibri"/>
                <a:cs typeface="Calibri"/>
              </a:rPr>
              <a:t> </a:t>
            </a:r>
            <a:r>
              <a:rPr sz="2600" spc="-25" dirty="0">
                <a:solidFill>
                  <a:srgbClr val="2F2F2F"/>
                </a:solidFill>
                <a:latin typeface="Calibri"/>
                <a:cs typeface="Calibri"/>
              </a:rPr>
              <a:t>design</a:t>
            </a:r>
            <a:r>
              <a:rPr sz="2600" spc="-10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2600" spc="-10" dirty="0">
                <a:solidFill>
                  <a:srgbClr val="1F3D69"/>
                </a:solidFill>
                <a:latin typeface="Calibri"/>
                <a:cs typeface="Calibri"/>
              </a:rPr>
              <a:t>features: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5"/>
              </a:spcBef>
              <a:buClr>
                <a:srgbClr val="5DAADB"/>
              </a:buClr>
              <a:buFont typeface="Calibri"/>
              <a:buChar char="•"/>
            </a:pPr>
            <a:endParaRPr sz="2600">
              <a:latin typeface="Calibri"/>
              <a:cs typeface="Calibri"/>
            </a:endParaRPr>
          </a:p>
          <a:p>
            <a:pPr marL="603885">
              <a:lnSpc>
                <a:spcPct val="100000"/>
              </a:lnSpc>
            </a:pPr>
            <a:r>
              <a:rPr sz="2250" spc="-85" dirty="0">
                <a:solidFill>
                  <a:srgbClr val="1F344D"/>
                </a:solidFill>
                <a:latin typeface="Cambria"/>
                <a:cs typeface="Cambria"/>
              </a:rPr>
              <a:t>Support</a:t>
            </a:r>
            <a:r>
              <a:rPr sz="2250" spc="15" dirty="0">
                <a:solidFill>
                  <a:srgbClr val="1F344D"/>
                </a:solidFill>
                <a:latin typeface="Cambria"/>
                <a:cs typeface="Cambria"/>
              </a:rPr>
              <a:t> </a:t>
            </a:r>
            <a:r>
              <a:rPr sz="2250" spc="-80" dirty="0">
                <a:solidFill>
                  <a:srgbClr val="213B59"/>
                </a:solidFill>
                <a:latin typeface="Cambria"/>
                <a:cs typeface="Cambria"/>
              </a:rPr>
              <a:t>{or</a:t>
            </a:r>
            <a:r>
              <a:rPr sz="2250" spc="-160" dirty="0">
                <a:solidFill>
                  <a:srgbClr val="213B59"/>
                </a:solidFill>
                <a:latin typeface="Cambria"/>
                <a:cs typeface="Cambria"/>
              </a:rPr>
              <a:t> </a:t>
            </a:r>
            <a:r>
              <a:rPr sz="2250" spc="-80" dirty="0">
                <a:solidFill>
                  <a:srgbClr val="343434"/>
                </a:solidFill>
                <a:latin typeface="Cambria"/>
                <a:cs typeface="Cambria"/>
              </a:rPr>
              <a:t>object-thread</a:t>
            </a:r>
            <a:r>
              <a:rPr sz="2250" spc="-40" dirty="0">
                <a:solidFill>
                  <a:srgbClr val="343434"/>
                </a:solidFill>
                <a:latin typeface="Cambria"/>
                <a:cs typeface="Cambria"/>
              </a:rPr>
              <a:t> </a:t>
            </a:r>
            <a:r>
              <a:rPr sz="2250" spc="-70" dirty="0">
                <a:solidFill>
                  <a:srgbClr val="001A56"/>
                </a:solidFill>
                <a:latin typeface="Cambria"/>
                <a:cs typeface="Cambria"/>
              </a:rPr>
              <a:t>computational</a:t>
            </a:r>
            <a:r>
              <a:rPr sz="2250" spc="190" dirty="0">
                <a:solidFill>
                  <a:srgbClr val="001A56"/>
                </a:solidFill>
                <a:latin typeface="Cambria"/>
                <a:cs typeface="Cambria"/>
              </a:rPr>
              <a:t> </a:t>
            </a:r>
            <a:r>
              <a:rPr sz="2250" spc="-10" dirty="0">
                <a:solidFill>
                  <a:srgbClr val="6D87AC"/>
                </a:solidFill>
                <a:latin typeface="Cambria"/>
                <a:cs typeface="Cambria"/>
              </a:rPr>
              <a:t>model</a:t>
            </a:r>
            <a:endParaRPr sz="2250">
              <a:latin typeface="Cambria"/>
              <a:cs typeface="Cambria"/>
            </a:endParaRPr>
          </a:p>
          <a:p>
            <a:pPr marL="342900">
              <a:lnSpc>
                <a:spcPct val="100000"/>
              </a:lnSpc>
              <a:spcBef>
                <a:spcPts val="500"/>
              </a:spcBef>
            </a:pPr>
            <a:r>
              <a:rPr sz="2250" dirty="0">
                <a:solidFill>
                  <a:srgbClr val="7BD8F6"/>
                </a:solidFill>
                <a:latin typeface="Cambria"/>
                <a:cs typeface="Cambria"/>
              </a:rPr>
              <a:t>&lt;</a:t>
            </a:r>
            <a:r>
              <a:rPr sz="2250" spc="340" dirty="0">
                <a:solidFill>
                  <a:srgbClr val="7BD8F6"/>
                </a:solidFill>
                <a:latin typeface="Cambria"/>
                <a:cs typeface="Cambria"/>
              </a:rPr>
              <a:t> </a:t>
            </a:r>
            <a:r>
              <a:rPr sz="2250" spc="-114" dirty="0">
                <a:solidFill>
                  <a:srgbClr val="212121"/>
                </a:solidFill>
                <a:latin typeface="Cambria"/>
                <a:cs typeface="Cambria"/>
              </a:rPr>
              <a:t>Network-</a:t>
            </a:r>
            <a:r>
              <a:rPr sz="2250" spc="-110" dirty="0">
                <a:solidFill>
                  <a:srgbClr val="212121"/>
                </a:solidFill>
                <a:latin typeface="Cambria"/>
                <a:cs typeface="Cambria"/>
              </a:rPr>
              <a:t>trnnspnrent</a:t>
            </a:r>
            <a:r>
              <a:rPr sz="2250" spc="-130" dirty="0">
                <a:solidFill>
                  <a:srgbClr val="212121"/>
                </a:solidFill>
                <a:latin typeface="Cambria"/>
                <a:cs typeface="Cambria"/>
              </a:rPr>
              <a:t> </a:t>
            </a:r>
            <a:r>
              <a:rPr sz="2250" spc="-55" dirty="0">
                <a:solidFill>
                  <a:srgbClr val="2F2F2F"/>
                </a:solidFill>
                <a:latin typeface="Cambria"/>
                <a:cs typeface="Cambria"/>
              </a:rPr>
              <a:t>obJect</a:t>
            </a:r>
            <a:r>
              <a:rPr sz="2250" spc="50" dirty="0">
                <a:solidFill>
                  <a:srgbClr val="2F2F2F"/>
                </a:solidFill>
                <a:latin typeface="Cambria"/>
                <a:cs typeface="Cambria"/>
              </a:rPr>
              <a:t> </a:t>
            </a:r>
            <a:r>
              <a:rPr sz="2250" spc="-10" dirty="0">
                <a:solidFill>
                  <a:srgbClr val="2B2B2B"/>
                </a:solidFill>
                <a:latin typeface="Cambria"/>
                <a:cs typeface="Cambria"/>
              </a:rPr>
              <a:t>invocation</a:t>
            </a:r>
            <a:endParaRPr sz="2250">
              <a:latin typeface="Cambria"/>
              <a:cs typeface="Cambria"/>
            </a:endParaRPr>
          </a:p>
          <a:p>
            <a:pPr marL="603250" marR="2597785" lvl="1" indent="-264795">
              <a:lnSpc>
                <a:spcPct val="114599"/>
              </a:lnSpc>
              <a:spcBef>
                <a:spcPts val="45"/>
              </a:spcBef>
              <a:buClr>
                <a:srgbClr val="67C1E1"/>
              </a:buClr>
              <a:buChar char="•"/>
              <a:tabLst>
                <a:tab pos="603250" algn="l"/>
              </a:tabLst>
            </a:pPr>
            <a:r>
              <a:rPr sz="2300" spc="-10" dirty="0">
                <a:solidFill>
                  <a:srgbClr val="21344D"/>
                </a:solidFill>
                <a:latin typeface="Cambria"/>
                <a:cs typeface="Cambria"/>
              </a:rPr>
              <a:t>Pecistent</a:t>
            </a:r>
            <a:r>
              <a:rPr sz="2300" spc="-35" dirty="0">
                <a:solidFill>
                  <a:srgbClr val="21344D"/>
                </a:solidFill>
                <a:latin typeface="Cambria"/>
                <a:cs typeface="Cambria"/>
              </a:rPr>
              <a:t> </a:t>
            </a:r>
            <a:r>
              <a:rPr sz="2300" spc="-10" dirty="0">
                <a:solidFill>
                  <a:srgbClr val="26364D"/>
                </a:solidFill>
                <a:latin typeface="Cambria"/>
                <a:cs typeface="Cambria"/>
              </a:rPr>
              <a:t>storage </a:t>
            </a:r>
            <a:r>
              <a:rPr sz="2300" spc="-100" dirty="0">
                <a:solidFill>
                  <a:srgbClr val="313131"/>
                </a:solidFill>
                <a:latin typeface="Cambria"/>
                <a:cs typeface="Cambria"/>
              </a:rPr>
              <a:t>Sharing</a:t>
            </a:r>
            <a:r>
              <a:rPr sz="2300" spc="-10" dirty="0">
                <a:solidFill>
                  <a:srgbClr val="313131"/>
                </a:solidFill>
                <a:latin typeface="Cambria"/>
                <a:cs typeface="Cambria"/>
              </a:rPr>
              <a:t> </a:t>
            </a:r>
            <a:r>
              <a:rPr sz="2300" spc="-215" dirty="0">
                <a:solidFill>
                  <a:srgbClr val="4B6E89"/>
                </a:solidFill>
                <a:latin typeface="Cambria"/>
                <a:cs typeface="Cambria"/>
              </a:rPr>
              <a:t>vin</a:t>
            </a:r>
            <a:r>
              <a:rPr sz="2300" spc="-70" dirty="0">
                <a:solidFill>
                  <a:srgbClr val="4B6E89"/>
                </a:solidFill>
                <a:latin typeface="Cambria"/>
                <a:cs typeface="Cambria"/>
              </a:rPr>
              <a:t> </a:t>
            </a:r>
            <a:r>
              <a:rPr sz="3450" spc="60" baseline="3623" dirty="0">
                <a:solidFill>
                  <a:srgbClr val="213B60"/>
                </a:solidFill>
                <a:latin typeface="Cambria"/>
                <a:cs typeface="Cambria"/>
              </a:rPr>
              <a:t>o</a:t>
            </a:r>
            <a:r>
              <a:rPr sz="3450" spc="60" baseline="-7246" dirty="0">
                <a:solidFill>
                  <a:srgbClr val="213B60"/>
                </a:solidFill>
                <a:latin typeface="Cambria"/>
                <a:cs typeface="Cambria"/>
              </a:rPr>
              <a:t>*i</a:t>
            </a:r>
            <a:r>
              <a:rPr sz="1350" spc="40" dirty="0">
                <a:solidFill>
                  <a:srgbClr val="213B60"/>
                </a:solidFill>
                <a:latin typeface="Cambria"/>
                <a:cs typeface="Cambria"/>
              </a:rPr>
              <a:t>e</a:t>
            </a:r>
            <a:r>
              <a:rPr sz="2300" spc="40" dirty="0">
                <a:solidFill>
                  <a:srgbClr val="213B60"/>
                </a:solidFill>
                <a:latin typeface="Cambria"/>
                <a:cs typeface="Cambria"/>
              </a:rPr>
              <a:t>c</a:t>
            </a:r>
            <a:r>
              <a:rPr sz="3450" spc="60" baseline="4830" dirty="0">
                <a:solidFill>
                  <a:srgbClr val="213B60"/>
                </a:solidFill>
                <a:latin typeface="Cambria"/>
                <a:cs typeface="Cambria"/>
              </a:rPr>
              <a:t>ts </a:t>
            </a:r>
            <a:r>
              <a:rPr sz="2300" spc="-90" dirty="0">
                <a:solidFill>
                  <a:srgbClr val="2A2A2A"/>
                </a:solidFill>
                <a:latin typeface="Cambria"/>
                <a:cs typeface="Cambria"/>
              </a:rPr>
              <a:t>Automatic</a:t>
            </a:r>
            <a:r>
              <a:rPr sz="2300" spc="-10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2300" i="1" spc="-80" dirty="0">
                <a:solidFill>
                  <a:srgbClr val="383838"/>
                </a:solidFill>
                <a:latin typeface="Cambria"/>
                <a:cs typeface="Cambria"/>
              </a:rPr>
              <a:t>load</a:t>
            </a:r>
            <a:r>
              <a:rPr sz="2300" i="1" spc="-25" dirty="0">
                <a:solidFill>
                  <a:srgbClr val="383838"/>
                </a:solidFill>
                <a:latin typeface="Cambria"/>
                <a:cs typeface="Cambria"/>
              </a:rPr>
              <a:t> </a:t>
            </a:r>
            <a:r>
              <a:rPr sz="2300" spc="-110" dirty="0">
                <a:solidFill>
                  <a:srgbClr val="26385B"/>
                </a:solidFill>
                <a:latin typeface="Cambria"/>
                <a:cs typeface="Cambria"/>
              </a:rPr>
              <a:t>balancing</a:t>
            </a:r>
            <a:endParaRPr sz="23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1134" y="6430255"/>
            <a:ext cx="3141980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0"/>
              </a:lnSpc>
            </a:pPr>
            <a:r>
              <a:rPr sz="1100" spc="-50" dirty="0">
                <a:solidFill>
                  <a:srgbClr val="262626"/>
                </a:solidFill>
                <a:latin typeface="Calibri"/>
                <a:cs typeface="Calibri"/>
              </a:rPr>
              <a:t>Mazaridaran</a:t>
            </a:r>
            <a:r>
              <a:rPr sz="1100" spc="-3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444444"/>
                </a:solidFill>
                <a:latin typeface="Calibri"/>
                <a:cs typeface="Calibri"/>
              </a:rPr>
              <a:t>University</a:t>
            </a:r>
            <a:r>
              <a:rPr sz="110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43434"/>
                </a:solidFill>
                <a:latin typeface="Calibri"/>
                <a:cs typeface="Calibri"/>
              </a:rPr>
              <a:t>of</a:t>
            </a:r>
            <a:r>
              <a:rPr sz="1100" spc="-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4B4B4B"/>
                </a:solidFill>
                <a:latin typeface="Calibri"/>
                <a:cs typeface="Calibri"/>
              </a:rPr>
              <a:t>Science</a:t>
            </a:r>
            <a:r>
              <a:rPr sz="110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7C8995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7C8995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343434"/>
                </a:solidFill>
                <a:latin typeface="Calibri"/>
                <a:cs typeface="Calibri"/>
              </a:rPr>
              <a:t>Technology</a:t>
            </a:r>
            <a:r>
              <a:rPr sz="1100" spc="6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100" spc="40" dirty="0">
                <a:solidFill>
                  <a:srgbClr val="3A3A3A"/>
                </a:solidFill>
                <a:latin typeface="Calibri"/>
                <a:cs typeface="Calibri"/>
              </a:rPr>
              <a:t>(yUST}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1134" y="6242794"/>
            <a:ext cx="253365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45" dirty="0">
                <a:solidFill>
                  <a:srgbClr val="484848"/>
                </a:solidFill>
                <a:latin typeface="Calibri"/>
                <a:cs typeface="Calibri"/>
              </a:rPr>
              <a:t>Milad</a:t>
            </a:r>
            <a:r>
              <a:rPr sz="1100" spc="-60" dirty="0">
                <a:solidFill>
                  <a:srgbClr val="484848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343434"/>
                </a:solidFill>
                <a:latin typeface="Calibri"/>
                <a:cs typeface="Calibri"/>
              </a:rPr>
              <a:t>JaJalimahr</a:t>
            </a:r>
            <a:r>
              <a:rPr sz="1100" spc="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9999"/>
                </a:solidFill>
                <a:latin typeface="Calibri"/>
                <a:cs typeface="Calibri"/>
              </a:rPr>
              <a:t>-</a:t>
            </a:r>
            <a:r>
              <a:rPr sz="1100" spc="140" dirty="0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3D3D3D"/>
                </a:solidFill>
                <a:latin typeface="Calibri"/>
                <a:cs typeface="Calibri"/>
              </a:rPr>
              <a:t>Operating</a:t>
            </a:r>
            <a:r>
              <a:rPr sz="1100" spc="-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5D5D5D"/>
                </a:solidFill>
                <a:latin typeface="Calibri"/>
                <a:cs typeface="Calibri"/>
              </a:rPr>
              <a:t>System</a:t>
            </a:r>
            <a:r>
              <a:rPr sz="1100" spc="-55" dirty="0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1100" spc="-10" dirty="0">
                <a:solidFill>
                  <a:srgbClr val="444444"/>
                </a:solidFill>
                <a:latin typeface="Calibri"/>
                <a:cs typeface="Calibri"/>
              </a:rPr>
              <a:t>Clouds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95350" y="6302077"/>
            <a:ext cx="522605" cy="2489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2175" spc="-15" baseline="7662" dirty="0">
                <a:solidFill>
                  <a:srgbClr val="242424"/>
                </a:solidFill>
                <a:latin typeface="Calibri"/>
                <a:cs typeface="Calibri"/>
              </a:rPr>
              <a:t>1</a:t>
            </a:r>
            <a:r>
              <a:rPr sz="2175" spc="-15" baseline="-3831" dirty="0">
                <a:solidFill>
                  <a:srgbClr val="242424"/>
                </a:solidFill>
                <a:latin typeface="Calibri"/>
                <a:cs typeface="Calibri"/>
              </a:rPr>
              <a:t>5</a:t>
            </a:r>
            <a:r>
              <a:rPr sz="1450" spc="-10" dirty="0">
                <a:solidFill>
                  <a:srgbClr val="242424"/>
                </a:solidFill>
                <a:latin typeface="Calibri"/>
                <a:cs typeface="Calibri"/>
              </a:rPr>
              <a:t>/</a:t>
            </a:r>
            <a:r>
              <a:rPr sz="2175" spc="-15" baseline="1915" dirty="0">
                <a:solidFill>
                  <a:srgbClr val="2F2F2F"/>
                </a:solidFill>
                <a:latin typeface="Calibri"/>
                <a:cs typeface="Calibri"/>
              </a:rPr>
              <a:t>18</a:t>
            </a:r>
            <a:endParaRPr sz="2175" baseline="1915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19657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6914" y="2955726"/>
            <a:ext cx="35718" cy="11162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7414" y="2937866"/>
            <a:ext cx="401836" cy="14287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491758" y="2937866"/>
            <a:ext cx="696515" cy="142875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311947" y="2880021"/>
            <a:ext cx="895985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01625" algn="l"/>
                <a:tab pos="493395" algn="l"/>
              </a:tabLst>
            </a:pPr>
            <a:r>
              <a:rPr sz="1250" spc="-25" dirty="0">
                <a:solidFill>
                  <a:srgbClr val="3A3A3A"/>
                </a:solidFill>
                <a:latin typeface="Calibri"/>
                <a:cs typeface="Calibri"/>
              </a:rPr>
              <a:t>s,</a:t>
            </a:r>
            <a:r>
              <a:rPr sz="1250" dirty="0">
                <a:solidFill>
                  <a:srgbClr val="3A3A3A"/>
                </a:solidFill>
                <a:latin typeface="Calibri"/>
                <a:cs typeface="Calibri"/>
              </a:rPr>
              <a:t>	</a:t>
            </a:r>
            <a:r>
              <a:rPr sz="1250" spc="-50" dirty="0">
                <a:solidFill>
                  <a:srgbClr val="343434"/>
                </a:solidFill>
                <a:latin typeface="Calibri"/>
                <a:cs typeface="Calibri"/>
              </a:rPr>
              <a:t>.</a:t>
            </a:r>
            <a:r>
              <a:rPr sz="1250" dirty="0">
                <a:solidFill>
                  <a:srgbClr val="343434"/>
                </a:solidFill>
                <a:latin typeface="Calibri"/>
                <a:cs typeface="Calibri"/>
              </a:rPr>
              <a:t>	</a:t>
            </a:r>
            <a:r>
              <a:rPr sz="1250" spc="60" dirty="0">
                <a:solidFill>
                  <a:srgbClr val="383838"/>
                </a:solidFill>
                <a:latin typeface="Calibri"/>
                <a:cs typeface="Calibri"/>
              </a:rPr>
              <a:t>ener,</a:t>
            </a:r>
            <a:endParaRPr sz="125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29437" y="2973585"/>
            <a:ext cx="62507" cy="8929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49325" y="2865883"/>
            <a:ext cx="7240270" cy="241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401310" algn="l"/>
              </a:tabLst>
            </a:pPr>
            <a:r>
              <a:rPr sz="1725" spc="15" baseline="2415" dirty="0">
                <a:solidFill>
                  <a:srgbClr val="282828"/>
                </a:solidFill>
                <a:latin typeface="Arial"/>
                <a:cs typeface="Arial"/>
              </a:rPr>
              <a:t>t1]</a:t>
            </a:r>
            <a:r>
              <a:rPr sz="1725" spc="-179" baseline="241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725" spc="15" baseline="2415" dirty="0">
                <a:solidFill>
                  <a:srgbClr val="212121"/>
                </a:solidFill>
                <a:latin typeface="Arial"/>
                <a:cs typeface="Arial"/>
              </a:rPr>
              <a:t>F.Pian</a:t>
            </a:r>
            <a:r>
              <a:rPr sz="1350" spc="10" dirty="0">
                <a:solidFill>
                  <a:srgbClr val="2A2A2A"/>
                </a:solidFill>
                <a:latin typeface="Consolas"/>
                <a:cs typeface="Consolas"/>
              </a:rPr>
              <a:t>xe,</a:t>
            </a:r>
            <a:r>
              <a:rPr sz="1350" spc="-615" dirty="0">
                <a:solidFill>
                  <a:srgbClr val="2A2A2A"/>
                </a:solidFill>
                <a:latin typeface="Consolas"/>
                <a:cs typeface="Consolas"/>
              </a:rPr>
              <a:t> </a:t>
            </a:r>
            <a:r>
              <a:rPr sz="1950" spc="15" baseline="2136" dirty="0">
                <a:solidFill>
                  <a:srgbClr val="282828"/>
                </a:solidFill>
                <a:latin typeface="Calibri"/>
                <a:cs typeface="Calibri"/>
              </a:rPr>
              <a:t>P.Bosch,</a:t>
            </a:r>
            <a:r>
              <a:rPr sz="1950" spc="82" baseline="2136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950" spc="15" baseline="2136" dirty="0">
                <a:solidFill>
                  <a:srgbClr val="2B2B2B"/>
                </a:solidFill>
                <a:latin typeface="Calibri"/>
                <a:cs typeface="Calibri"/>
              </a:rPr>
              <a:t>A.Duminuco,</a:t>
            </a:r>
            <a:r>
              <a:rPr sz="1950" spc="195" baseline="2136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950" b="1" spc="15" baseline="2136" dirty="0">
                <a:solidFill>
                  <a:srgbClr val="2A2A2A"/>
                </a:solidFill>
                <a:latin typeface="Calibri"/>
                <a:cs typeface="Calibri"/>
              </a:rPr>
              <a:t>N.Janssens,</a:t>
            </a:r>
            <a:r>
              <a:rPr sz="1950" b="1" spc="307" baseline="2136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82828"/>
                </a:solidFill>
                <a:latin typeface="Calibri"/>
                <a:cs typeface="Calibri"/>
              </a:rPr>
              <a:t>T</a:t>
            </a:r>
            <a:r>
              <a:rPr sz="1875" spc="-15" baseline="2222" dirty="0">
                <a:solidFill>
                  <a:srgbClr val="2B2B2B"/>
                </a:solidFill>
                <a:latin typeface="Calibri"/>
                <a:cs typeface="Calibri"/>
              </a:rPr>
              <a:t>.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Stath</a:t>
            </a:r>
            <a:r>
              <a:rPr sz="1875" spc="-15" baseline="2222" dirty="0">
                <a:solidFill>
                  <a:srgbClr val="333333"/>
                </a:solidFill>
                <a:latin typeface="Calibri"/>
                <a:cs typeface="Calibri"/>
              </a:rPr>
              <a:t>opou</a:t>
            </a:r>
            <a:r>
              <a:rPr sz="1875" baseline="2222" dirty="0">
                <a:solidFill>
                  <a:srgbClr val="333333"/>
                </a:solidFill>
                <a:latin typeface="Calibri"/>
                <a:cs typeface="Calibri"/>
              </a:rPr>
              <a:t>	</a:t>
            </a:r>
            <a:r>
              <a:rPr sz="1950" baseline="2136" dirty="0">
                <a:solidFill>
                  <a:srgbClr val="38485E"/>
                </a:solidFill>
                <a:latin typeface="Consolas"/>
                <a:cs typeface="Consolas"/>
              </a:rPr>
              <a:t>T</a:t>
            </a:r>
            <a:r>
              <a:rPr sz="1875" baseline="2222" dirty="0">
                <a:solidFill>
                  <a:srgbClr val="343434"/>
                </a:solidFill>
                <a:latin typeface="Calibri"/>
                <a:cs typeface="Calibri"/>
              </a:rPr>
              <a:t>owar</a:t>
            </a:r>
            <a:r>
              <a:rPr sz="1950" baseline="2136" dirty="0">
                <a:solidFill>
                  <a:srgbClr val="313131"/>
                </a:solidFill>
                <a:latin typeface="Consolas"/>
                <a:cs typeface="Consolas"/>
              </a:rPr>
              <a:t>d</a:t>
            </a:r>
            <a:r>
              <a:rPr sz="1950" spc="-457" baseline="2136" dirty="0">
                <a:solidFill>
                  <a:srgbClr val="313131"/>
                </a:solidFill>
                <a:latin typeface="Consolas"/>
                <a:cs typeface="Consolas"/>
              </a:rPr>
              <a:t> </a:t>
            </a:r>
            <a:r>
              <a:rPr sz="1875" baseline="2222" dirty="0">
                <a:solidFill>
                  <a:srgbClr val="444444"/>
                </a:solidFill>
                <a:latin typeface="Calibri"/>
                <a:cs typeface="Calibri"/>
              </a:rPr>
              <a:t>a</a:t>
            </a:r>
            <a:r>
              <a:rPr sz="1875" spc="52" baseline="2222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43434"/>
                </a:solidFill>
                <a:latin typeface="Calibri"/>
                <a:cs typeface="Calibri"/>
              </a:rPr>
              <a:t>Cloud</a:t>
            </a:r>
            <a:r>
              <a:rPr sz="1350" spc="-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13131"/>
                </a:solidFill>
                <a:latin typeface="Calibri"/>
                <a:cs typeface="Calibri"/>
              </a:rPr>
              <a:t>Operating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5512" y="3017688"/>
            <a:ext cx="7261225" cy="95885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9209" algn="just">
              <a:lnSpc>
                <a:spcPts val="1639"/>
              </a:lnSpc>
              <a:spcBef>
                <a:spcPts val="114"/>
              </a:spcBef>
            </a:pPr>
            <a:r>
              <a:rPr sz="1350" spc="-65" dirty="0">
                <a:solidFill>
                  <a:srgbClr val="1C1C1C"/>
                </a:solidFill>
                <a:latin typeface="Arial"/>
                <a:cs typeface="Arial"/>
              </a:rPr>
              <a:t>System,"</a:t>
            </a:r>
            <a:r>
              <a:rPr sz="1350" spc="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400" spc="-30" dirty="0">
                <a:solidFill>
                  <a:srgbClr val="363636"/>
                </a:solidFill>
                <a:latin typeface="Calibri"/>
                <a:cs typeface="Calibri"/>
              </a:rPr>
              <a:t>Network</a:t>
            </a:r>
            <a:r>
              <a:rPr sz="1400" spc="11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2F2F2F"/>
                </a:solidFill>
                <a:latin typeface="Calibri"/>
                <a:cs typeface="Calibri"/>
              </a:rPr>
              <a:t>Operations</a:t>
            </a:r>
            <a:r>
              <a:rPr sz="1400" spc="18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283F5E"/>
                </a:solidFill>
                <a:latin typeface="Calibri"/>
                <a:cs typeface="Calibri"/>
              </a:rPr>
              <a:t>and</a:t>
            </a:r>
            <a:r>
              <a:rPr sz="1400" spc="-55" dirty="0">
                <a:solidFill>
                  <a:srgbClr val="283F5E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2D2D2D"/>
                </a:solidFill>
                <a:latin typeface="Calibri"/>
                <a:cs typeface="Calibri"/>
              </a:rPr>
              <a:t>Management</a:t>
            </a:r>
            <a:r>
              <a:rPr sz="1400" spc="22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1C344F"/>
                </a:solidFill>
                <a:latin typeface="Calibri"/>
                <a:cs typeface="Calibri"/>
              </a:rPr>
              <a:t>Symposium</a:t>
            </a:r>
            <a:r>
              <a:rPr sz="1250" b="1" spc="55" dirty="0">
                <a:solidFill>
                  <a:srgbClr val="1C344F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2A2A2A"/>
                </a:solidFill>
                <a:latin typeface="Calibri"/>
                <a:cs typeface="Calibri"/>
              </a:rPr>
              <a:t>Workshops</a:t>
            </a:r>
            <a:r>
              <a:rPr sz="1250" b="1" spc="14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313131"/>
                </a:solidFill>
                <a:latin typeface="Calibri"/>
                <a:cs typeface="Calibri"/>
              </a:rPr>
              <a:t>(NOMS</a:t>
            </a:r>
            <a:r>
              <a:rPr sz="1250" b="1" spc="10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250" b="1" dirty="0">
                <a:solidFill>
                  <a:srgbClr val="3D3D3D"/>
                </a:solidFill>
                <a:latin typeface="Calibri"/>
                <a:cs typeface="Calibri"/>
              </a:rPr>
              <a:t>Wksps},</a:t>
            </a:r>
            <a:r>
              <a:rPr sz="1250" b="1" spc="19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900" b="1" spc="90" dirty="0">
                <a:solidFill>
                  <a:srgbClr val="2D2D2D"/>
                </a:solidFill>
                <a:latin typeface="Arial"/>
                <a:cs typeface="Arial"/>
              </a:rPr>
              <a:t>2010.</a:t>
            </a:r>
            <a:endParaRPr sz="900">
              <a:latin typeface="Arial"/>
              <a:cs typeface="Arial"/>
            </a:endParaRPr>
          </a:p>
          <a:p>
            <a:pPr marL="20955" marR="5080" indent="-8890" algn="just">
              <a:lnSpc>
                <a:spcPct val="76900"/>
              </a:lnSpc>
              <a:spcBef>
                <a:spcPts val="330"/>
              </a:spcBef>
            </a:pPr>
            <a:r>
              <a:rPr sz="1350" dirty="0">
                <a:solidFill>
                  <a:srgbClr val="758797"/>
                </a:solidFill>
                <a:latin typeface="Calibri"/>
                <a:cs typeface="Calibri"/>
              </a:rPr>
              <a:t>[2{</a:t>
            </a:r>
            <a:r>
              <a:rPr sz="1350" spc="-5" dirty="0">
                <a:solidFill>
                  <a:srgbClr val="75879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2A2A"/>
                </a:solidFill>
                <a:latin typeface="Calibri"/>
                <a:cs typeface="Calibri"/>
              </a:rPr>
              <a:t>I.</a:t>
            </a:r>
            <a:r>
              <a:rPr sz="1350" spc="-2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13131"/>
                </a:solidFill>
                <a:latin typeface="Calibri"/>
                <a:cs typeface="Calibri"/>
              </a:rPr>
              <a:t>Foster,</a:t>
            </a:r>
            <a:r>
              <a:rPr sz="1350" spc="10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383838"/>
                </a:solidFill>
                <a:latin typeface="Calibri"/>
                <a:cs typeface="Calibri"/>
              </a:rPr>
              <a:t>C.</a:t>
            </a:r>
            <a:r>
              <a:rPr sz="1350" spc="-5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D2D2D"/>
                </a:solidFill>
                <a:latin typeface="Calibri"/>
                <a:cs typeface="Calibri"/>
              </a:rPr>
              <a:t>Kesselman,</a:t>
            </a:r>
            <a:r>
              <a:rPr sz="1350" spc="15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82828"/>
                </a:solidFill>
                <a:latin typeface="Calibri"/>
                <a:cs typeface="Calibri"/>
              </a:rPr>
              <a:t>J.</a:t>
            </a:r>
            <a:r>
              <a:rPr sz="1350" spc="7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B2B2B"/>
                </a:solidFill>
                <a:latin typeface="Calibri"/>
                <a:cs typeface="Calibri"/>
              </a:rPr>
              <a:t>M.</a:t>
            </a:r>
            <a:r>
              <a:rPr sz="1350" spc="-5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13131"/>
                </a:solidFill>
                <a:latin typeface="Calibri"/>
                <a:cs typeface="Calibri"/>
              </a:rPr>
              <a:t>Nick,</a:t>
            </a:r>
            <a:r>
              <a:rPr sz="1350" spc="2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43434"/>
                </a:solidFill>
                <a:latin typeface="Calibri"/>
                <a:cs typeface="Calibri"/>
              </a:rPr>
              <a:t>and</a:t>
            </a:r>
            <a:r>
              <a:rPr sz="1350" spc="-7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62626"/>
                </a:solidFill>
                <a:latin typeface="Calibri"/>
                <a:cs typeface="Calibri"/>
              </a:rPr>
              <a:t>5.</a:t>
            </a:r>
            <a:r>
              <a:rPr sz="1350" spc="-5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F3F3F"/>
                </a:solidFill>
                <a:latin typeface="Calibri"/>
                <a:cs typeface="Calibri"/>
              </a:rPr>
              <a:t>Tuecke,</a:t>
            </a:r>
            <a:r>
              <a:rPr sz="1350" spc="3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44444"/>
                </a:solidFill>
                <a:latin typeface="Calibri"/>
                <a:cs typeface="Calibri"/>
              </a:rPr>
              <a:t>“The</a:t>
            </a:r>
            <a:r>
              <a:rPr sz="1350" spc="6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D2D2D"/>
                </a:solidFill>
                <a:latin typeface="Calibri"/>
                <a:cs typeface="Calibri"/>
              </a:rPr>
              <a:t>physiology</a:t>
            </a:r>
            <a:r>
              <a:rPr sz="1350" spc="13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24242"/>
                </a:solidFill>
                <a:latin typeface="Calibri"/>
                <a:cs typeface="Calibri"/>
              </a:rPr>
              <a:t>of</a:t>
            </a:r>
            <a:r>
              <a:rPr sz="1350" spc="6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14141"/>
                </a:solidFill>
                <a:latin typeface="Calibri"/>
                <a:cs typeface="Calibri"/>
              </a:rPr>
              <a:t>the</a:t>
            </a:r>
            <a:r>
              <a:rPr sz="1350" spc="-1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62626"/>
                </a:solidFill>
                <a:latin typeface="Calibri"/>
                <a:cs typeface="Calibri"/>
              </a:rPr>
              <a:t>grid:</a:t>
            </a:r>
            <a:r>
              <a:rPr sz="1350" spc="-2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D3D3D"/>
                </a:solidFill>
                <a:latin typeface="Calibri"/>
                <a:cs typeface="Calibri"/>
              </a:rPr>
              <a:t>An</a:t>
            </a:r>
            <a:r>
              <a:rPr sz="1350" spc="-3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13131"/>
                </a:solidFill>
                <a:latin typeface="Calibri"/>
                <a:cs typeface="Calibri"/>
              </a:rPr>
              <a:t>open</a:t>
            </a:r>
            <a:r>
              <a:rPr sz="1350" spc="3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D3D3D"/>
                </a:solidFill>
                <a:latin typeface="Calibri"/>
                <a:cs typeface="Calibri"/>
              </a:rPr>
              <a:t>grid</a:t>
            </a:r>
            <a:r>
              <a:rPr sz="1350" spc="-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63636"/>
                </a:solidFill>
                <a:latin typeface="Calibri"/>
                <a:cs typeface="Calibri"/>
              </a:rPr>
              <a:t>services </a:t>
            </a:r>
            <a:r>
              <a:rPr sz="1350" dirty="0">
                <a:solidFill>
                  <a:srgbClr val="383838"/>
                </a:solidFill>
                <a:latin typeface="Calibri"/>
                <a:cs typeface="Calibri"/>
              </a:rPr>
              <a:t>architecture</a:t>
            </a:r>
            <a:r>
              <a:rPr sz="1350" spc="13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64257"/>
                </a:solidFill>
                <a:latin typeface="Calibri"/>
                <a:cs typeface="Calibri"/>
              </a:rPr>
              <a:t>for</a:t>
            </a:r>
            <a:r>
              <a:rPr sz="1350" spc="45" dirty="0">
                <a:solidFill>
                  <a:srgbClr val="26425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B4F69"/>
                </a:solidFill>
                <a:latin typeface="Calibri"/>
                <a:cs typeface="Calibri"/>
              </a:rPr>
              <a:t>distributed</a:t>
            </a:r>
            <a:r>
              <a:rPr sz="1350" spc="40" dirty="0">
                <a:solidFill>
                  <a:srgbClr val="3B4F6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64B64"/>
                </a:solidFill>
                <a:latin typeface="Calibri"/>
                <a:cs typeface="Calibri"/>
              </a:rPr>
              <a:t>systems</a:t>
            </a:r>
            <a:r>
              <a:rPr sz="1350" spc="105" dirty="0">
                <a:solidFill>
                  <a:srgbClr val="364B6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83838"/>
                </a:solidFill>
                <a:latin typeface="Calibri"/>
                <a:cs typeface="Calibri"/>
              </a:rPr>
              <a:t>integratian,”</a:t>
            </a:r>
            <a:r>
              <a:rPr sz="1350" spc="6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34456"/>
                </a:solidFill>
                <a:latin typeface="Calibri"/>
                <a:cs typeface="Calibri"/>
              </a:rPr>
              <a:t>in</a:t>
            </a:r>
            <a:r>
              <a:rPr sz="1350" spc="-35" dirty="0">
                <a:solidFill>
                  <a:srgbClr val="33445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43434"/>
                </a:solidFill>
                <a:latin typeface="Calibri"/>
                <a:cs typeface="Calibri"/>
              </a:rPr>
              <a:t>Open</a:t>
            </a:r>
            <a:r>
              <a:rPr sz="1350" spc="6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D2D2D"/>
                </a:solidFill>
                <a:latin typeface="Calibri"/>
                <a:cs typeface="Calibri"/>
              </a:rPr>
              <a:t>Grid</a:t>
            </a:r>
            <a:r>
              <a:rPr sz="1350" spc="6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546474"/>
                </a:solidFill>
                <a:latin typeface="Calibri"/>
                <a:cs typeface="Calibri"/>
              </a:rPr>
              <a:t>Servica</a:t>
            </a:r>
            <a:r>
              <a:rPr sz="1350" spc="60" dirty="0">
                <a:solidFill>
                  <a:srgbClr val="546474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183146"/>
                </a:solidFill>
                <a:latin typeface="Calibri"/>
                <a:cs typeface="Calibri"/>
              </a:rPr>
              <a:t>infrastructure</a:t>
            </a:r>
            <a:r>
              <a:rPr sz="1350" b="1" spc="40" dirty="0">
                <a:solidFill>
                  <a:srgbClr val="18314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64646"/>
                </a:solidFill>
                <a:latin typeface="Calibri"/>
                <a:cs typeface="Calibri"/>
              </a:rPr>
              <a:t>WG,</a:t>
            </a:r>
            <a:r>
              <a:rPr sz="1350" spc="7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B607C"/>
                </a:solidFill>
                <a:latin typeface="Calibri"/>
                <a:cs typeface="Calibri"/>
              </a:rPr>
              <a:t>Global</a:t>
            </a:r>
            <a:r>
              <a:rPr sz="1350" spc="60" dirty="0">
                <a:solidFill>
                  <a:srgbClr val="4B607C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9AAABF"/>
                </a:solidFill>
                <a:latin typeface="Calibri"/>
                <a:cs typeface="Calibri"/>
              </a:rPr>
              <a:t>Grfd </a:t>
            </a:r>
            <a:r>
              <a:rPr sz="1400" spc="-30" dirty="0">
                <a:solidFill>
                  <a:srgbClr val="2F425B"/>
                </a:solidFill>
                <a:latin typeface="Calibri"/>
                <a:cs typeface="Calibri"/>
              </a:rPr>
              <a:t>Forum,</a:t>
            </a:r>
            <a:r>
              <a:rPr sz="1400" spc="-35" dirty="0">
                <a:solidFill>
                  <a:srgbClr val="2F425B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83838"/>
                </a:solidFill>
                <a:latin typeface="Calibri"/>
                <a:cs typeface="Calibri"/>
              </a:rPr>
              <a:t>zooz.</a:t>
            </a:r>
            <a:endParaRPr sz="1400">
              <a:latin typeface="Calibri"/>
              <a:cs typeface="Calibri"/>
            </a:endParaRPr>
          </a:p>
          <a:p>
            <a:pPr marL="25400" algn="just">
              <a:lnSpc>
                <a:spcPts val="1570"/>
              </a:lnSpc>
            </a:pPr>
            <a:r>
              <a:rPr sz="1350" dirty="0">
                <a:solidFill>
                  <a:srgbClr val="363636"/>
                </a:solidFill>
                <a:latin typeface="Calibri"/>
                <a:cs typeface="Calibri"/>
              </a:rPr>
              <a:t>f3]</a:t>
            </a:r>
            <a:r>
              <a:rPr sz="1350" spc="-6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333333"/>
                </a:solidFill>
                <a:latin typeface="Calibri"/>
                <a:cs typeface="Calibri"/>
              </a:rPr>
              <a:t>"Amazon</a:t>
            </a:r>
            <a:r>
              <a:rPr sz="1350" b="1" spc="3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13131"/>
                </a:solidFill>
                <a:latin typeface="Calibri"/>
                <a:cs typeface="Calibri"/>
              </a:rPr>
              <a:t>ECz.”</a:t>
            </a:r>
            <a:r>
              <a:rPr sz="1350" spc="-9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383838"/>
                </a:solidFill>
                <a:latin typeface="Calibri"/>
                <a:cs typeface="Calibri"/>
              </a:rPr>
              <a:t>[Online]</a:t>
            </a:r>
            <a:r>
              <a:rPr sz="1350" b="1" spc="4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A2A2A"/>
                </a:solidFill>
                <a:latin typeface="Calibri"/>
                <a:cs typeface="Calibri"/>
              </a:rPr>
              <a:t>kttp://aws.amazon.com/ecz.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5512" y="3934717"/>
            <a:ext cx="7259955" cy="39497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0955" marR="5080" indent="-8890">
              <a:lnSpc>
                <a:spcPct val="78100"/>
              </a:lnSpc>
              <a:spcBef>
                <a:spcPts val="470"/>
              </a:spcBef>
              <a:tabLst>
                <a:tab pos="1976120" algn="l"/>
              </a:tabLst>
            </a:pPr>
            <a:r>
              <a:rPr sz="1350" dirty="0">
                <a:solidFill>
                  <a:srgbClr val="3A3A3A"/>
                </a:solidFill>
                <a:latin typeface="Calibri"/>
                <a:cs typeface="Calibri"/>
              </a:rPr>
              <a:t>[4]</a:t>
            </a:r>
            <a:r>
              <a:rPr sz="1350" spc="31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13131"/>
                </a:solidFill>
                <a:latin typeface="Calibri"/>
                <a:cs typeface="Calibri"/>
              </a:rPr>
              <a:t>D.</a:t>
            </a:r>
            <a:r>
              <a:rPr sz="1350" spc="9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63636"/>
                </a:solidFill>
                <a:latin typeface="Calibri"/>
                <a:cs typeface="Calibri"/>
              </a:rPr>
              <a:t>Nurmi,</a:t>
            </a:r>
            <a:r>
              <a:rPr sz="1350" spc="14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F2F2F"/>
                </a:solidFill>
                <a:latin typeface="Calibri"/>
                <a:cs typeface="Calibri"/>
              </a:rPr>
              <a:t>R.</a:t>
            </a:r>
            <a:r>
              <a:rPr sz="1350" spc="1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D3D3D"/>
                </a:solidFill>
                <a:latin typeface="Calibri"/>
                <a:cs typeface="Calibri"/>
              </a:rPr>
              <a:t>Wolski,</a:t>
            </a:r>
            <a:r>
              <a:rPr sz="1350" spc="-10" dirty="0">
                <a:solidFill>
                  <a:srgbClr val="262D50"/>
                </a:solidFill>
                <a:latin typeface="Calibri"/>
                <a:cs typeface="Calibri"/>
              </a:rPr>
              <a:t>1</a:t>
            </a:r>
            <a:r>
              <a:rPr sz="1350" dirty="0">
                <a:solidFill>
                  <a:srgbClr val="262D50"/>
                </a:solidFill>
                <a:latin typeface="Calibri"/>
                <a:cs typeface="Calibri"/>
              </a:rPr>
              <a:t>	</a:t>
            </a:r>
            <a:r>
              <a:rPr sz="1350" dirty="0">
                <a:solidFill>
                  <a:srgbClr val="2F2F2F"/>
                </a:solidFill>
                <a:latin typeface="Calibri"/>
                <a:cs typeface="Calibri"/>
              </a:rPr>
              <a:t>Grzegorczyk,</a:t>
            </a:r>
            <a:r>
              <a:rPr sz="1350" spc="17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12121"/>
                </a:solidFill>
                <a:latin typeface="Calibri"/>
                <a:cs typeface="Calibri"/>
              </a:rPr>
              <a:t>G.</a:t>
            </a:r>
            <a:r>
              <a:rPr sz="1350" spc="5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50" spc="-55" dirty="0">
                <a:solidFill>
                  <a:srgbClr val="282828"/>
                </a:solidFill>
                <a:latin typeface="Calibri"/>
                <a:cs typeface="Calibri"/>
              </a:rPr>
              <a:t>Oberte\\l,</a:t>
            </a:r>
            <a:r>
              <a:rPr sz="1350" spc="16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12121"/>
                </a:solidFill>
                <a:latin typeface="Calibri"/>
                <a:cs typeface="Calibri"/>
              </a:rPr>
              <a:t>5.</a:t>
            </a:r>
            <a:r>
              <a:rPr sz="1350" b="1" spc="7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232323"/>
                </a:solidFill>
                <a:latin typeface="Calibri"/>
                <a:cs typeface="Calibri"/>
              </a:rPr>
              <a:t>Soman,</a:t>
            </a:r>
            <a:r>
              <a:rPr sz="1350" b="1" spc="14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5B6B7B"/>
                </a:solidFill>
                <a:latin typeface="Calibri"/>
                <a:cs typeface="Calibri"/>
              </a:rPr>
              <a:t>L</a:t>
            </a:r>
            <a:r>
              <a:rPr sz="1350" spc="445" dirty="0">
                <a:solidFill>
                  <a:srgbClr val="5B6B7B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F2F2F"/>
                </a:solidFill>
                <a:latin typeface="Calibri"/>
                <a:cs typeface="Calibri"/>
              </a:rPr>
              <a:t>Youseff,</a:t>
            </a:r>
            <a:r>
              <a:rPr sz="1350" b="1" spc="13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sz="1350" b="1" spc="5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363636"/>
                </a:solidFill>
                <a:latin typeface="Calibri"/>
                <a:cs typeface="Calibri"/>
              </a:rPr>
              <a:t>D.</a:t>
            </a:r>
            <a:r>
              <a:rPr sz="1350" b="1" spc="8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D2D2D"/>
                </a:solidFill>
                <a:latin typeface="Calibri"/>
                <a:cs typeface="Calibri"/>
              </a:rPr>
              <a:t>Zagorodnov,</a:t>
            </a:r>
            <a:r>
              <a:rPr sz="1350" spc="12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15243F"/>
                </a:solidFill>
                <a:latin typeface="Calibri"/>
                <a:cs typeface="Calibri"/>
              </a:rPr>
              <a:t>“The </a:t>
            </a:r>
            <a:r>
              <a:rPr sz="1350" spc="-10" dirty="0">
                <a:solidFill>
                  <a:srgbClr val="343434"/>
                </a:solidFill>
                <a:latin typeface="Calibri"/>
                <a:cs typeface="Calibri"/>
              </a:rPr>
              <a:t>eucalyptus</a:t>
            </a:r>
            <a:r>
              <a:rPr sz="1350" spc="204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350" spc="-30" dirty="0">
                <a:solidFill>
                  <a:srgbClr val="383838"/>
                </a:solidFill>
                <a:latin typeface="Calibri"/>
                <a:cs typeface="Calibri"/>
              </a:rPr>
              <a:t>open-</a:t>
            </a:r>
            <a:r>
              <a:rPr sz="1350" dirty="0">
                <a:solidFill>
                  <a:srgbClr val="383838"/>
                </a:solidFill>
                <a:latin typeface="Calibri"/>
                <a:cs typeface="Calibri"/>
              </a:rPr>
              <a:t>source</a:t>
            </a:r>
            <a:r>
              <a:rPr sz="1350" spc="19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3364B"/>
                </a:solidFill>
                <a:latin typeface="Calibri"/>
                <a:cs typeface="Calibri"/>
              </a:rPr>
              <a:t>cloud-</a:t>
            </a:r>
            <a:r>
              <a:rPr sz="1350" dirty="0">
                <a:solidFill>
                  <a:srgbClr val="23364B"/>
                </a:solidFill>
                <a:latin typeface="Calibri"/>
                <a:cs typeface="Calibri"/>
              </a:rPr>
              <a:t>computing</a:t>
            </a:r>
            <a:r>
              <a:rPr sz="1350" spc="20" dirty="0">
                <a:solidFill>
                  <a:srgbClr val="23364B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3D3D3D"/>
                </a:solidFill>
                <a:latin typeface="Calibri"/>
                <a:cs typeface="Calibri"/>
              </a:rPr>
              <a:t>system,"</a:t>
            </a:r>
            <a:r>
              <a:rPr sz="1350" b="1" spc="9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464646"/>
                </a:solidFill>
                <a:latin typeface="Calibri"/>
                <a:cs typeface="Calibri"/>
              </a:rPr>
              <a:t>in</a:t>
            </a:r>
            <a:r>
              <a:rPr sz="1350" b="1" spc="110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350" b="1" dirty="0">
                <a:solidFill>
                  <a:srgbClr val="2D2D2D"/>
                </a:solidFill>
                <a:latin typeface="Calibri"/>
                <a:cs typeface="Calibri"/>
              </a:rPr>
              <a:t>Proc.</a:t>
            </a:r>
            <a:r>
              <a:rPr sz="1350" b="1" spc="10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3D54"/>
                </a:solidFill>
                <a:latin typeface="Calibri"/>
                <a:cs typeface="Calibri"/>
              </a:rPr>
              <a:t>of</a:t>
            </a:r>
            <a:r>
              <a:rPr sz="1350" spc="100" dirty="0">
                <a:solidFill>
                  <a:srgbClr val="2A3D54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132838"/>
                </a:solidFill>
                <a:latin typeface="Calibri"/>
                <a:cs typeface="Calibri"/>
              </a:rPr>
              <a:t>Ctoud</a:t>
            </a:r>
            <a:r>
              <a:rPr sz="1350" spc="175" dirty="0">
                <a:solidFill>
                  <a:srgbClr val="132838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D2D2D"/>
                </a:solidFill>
                <a:latin typeface="Calibri"/>
                <a:cs typeface="Calibri"/>
              </a:rPr>
              <a:t>Computing</a:t>
            </a:r>
            <a:r>
              <a:rPr sz="1350" spc="13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414141"/>
                </a:solidFill>
                <a:latin typeface="Calibri"/>
                <a:cs typeface="Calibri"/>
              </a:rPr>
              <a:t>and</a:t>
            </a:r>
            <a:r>
              <a:rPr sz="1350" spc="9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798C93"/>
                </a:solidFill>
                <a:latin typeface="Calibri"/>
                <a:cs typeface="Calibri"/>
              </a:rPr>
              <a:t>Its</a:t>
            </a:r>
            <a:r>
              <a:rPr sz="1350" spc="130" dirty="0">
                <a:solidFill>
                  <a:srgbClr val="798C9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161616"/>
                </a:solidFill>
                <a:latin typeface="Calibri"/>
                <a:cs typeface="Calibri"/>
              </a:rPr>
              <a:t>Applications,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964406" y="4509491"/>
            <a:ext cx="964565" cy="321945"/>
            <a:chOff x="964406" y="4509491"/>
            <a:chExt cx="964565" cy="321945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3000" y="4545210"/>
              <a:ext cx="785812" cy="2857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64406" y="4509491"/>
              <a:ext cx="187523" cy="169664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945532" y="4607173"/>
            <a:ext cx="158750" cy="241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spc="-25" dirty="0">
                <a:solidFill>
                  <a:srgbClr val="363636"/>
                </a:solidFill>
                <a:latin typeface="Calibri"/>
                <a:cs typeface="Calibri"/>
              </a:rPr>
              <a:t>E.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43612" y="4262387"/>
            <a:ext cx="744855" cy="42799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455"/>
              </a:lnSpc>
              <a:spcBef>
                <a:spcPts val="114"/>
              </a:spcBef>
            </a:pPr>
            <a:r>
              <a:rPr sz="1300" dirty="0">
                <a:solidFill>
                  <a:srgbClr val="282828"/>
                </a:solidFill>
                <a:latin typeface="Calibri"/>
                <a:cs typeface="Calibri"/>
              </a:rPr>
              <a:t>Oct.</a:t>
            </a:r>
            <a:r>
              <a:rPr sz="1300" spc="15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300" spc="-10" dirty="0">
                <a:solidFill>
                  <a:srgbClr val="2D2D2D"/>
                </a:solidFill>
                <a:latin typeface="Calibri"/>
                <a:cs typeface="Calibri"/>
              </a:rPr>
              <a:t>y008.</a:t>
            </a:r>
            <a:endParaRPr sz="1300">
              <a:latin typeface="Calibri"/>
              <a:cs typeface="Calibri"/>
            </a:endParaRPr>
          </a:p>
          <a:p>
            <a:pPr marL="255270">
              <a:lnSpc>
                <a:spcPts val="1695"/>
              </a:lnSpc>
            </a:pPr>
            <a:r>
              <a:rPr sz="1400" dirty="0">
                <a:solidFill>
                  <a:srgbClr val="343434"/>
                </a:solidFill>
                <a:latin typeface="Calibri"/>
                <a:cs typeface="Calibri"/>
              </a:rPr>
              <a:t>F</a:t>
            </a:r>
            <a:r>
              <a:rPr sz="1400" spc="34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500" spc="-25" dirty="0">
                <a:solidFill>
                  <a:srgbClr val="242424"/>
                </a:solidFill>
                <a:latin typeface="Calibri"/>
                <a:cs typeface="Calibri"/>
              </a:rPr>
              <a:t>Ch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79777" y="4446438"/>
            <a:ext cx="6323330" cy="241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J.</a:t>
            </a:r>
            <a:r>
              <a:rPr sz="1400" spc="-8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ACBCCF"/>
                </a:solidFill>
                <a:latin typeface="Calibri"/>
                <a:cs typeface="Calibri"/>
              </a:rPr>
              <a:t>Dean,</a:t>
            </a:r>
            <a:r>
              <a:rPr sz="1400" spc="10" dirty="0">
                <a:solidFill>
                  <a:srgbClr val="ACBCC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2844"/>
                </a:solidFill>
                <a:latin typeface="Calibri"/>
                <a:cs typeface="Calibri"/>
              </a:rPr>
              <a:t>S.</a:t>
            </a:r>
            <a:r>
              <a:rPr sz="1400" spc="-70" dirty="0">
                <a:solidFill>
                  <a:srgbClr val="1A2844"/>
                </a:solidFill>
                <a:latin typeface="Calibri"/>
                <a:cs typeface="Calibri"/>
              </a:rPr>
              <a:t> </a:t>
            </a:r>
            <a:r>
              <a:rPr sz="1400" spc="-45" dirty="0">
                <a:solidFill>
                  <a:srgbClr val="3F3F3F"/>
                </a:solidFill>
                <a:latin typeface="Calibri"/>
                <a:cs typeface="Calibri"/>
              </a:rPr>
              <a:t>Ghemawat,</a:t>
            </a:r>
            <a:r>
              <a:rPr sz="1400" spc="8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262626"/>
                </a:solidFill>
                <a:latin typeface="Calibri"/>
                <a:cs typeface="Calibri"/>
              </a:rPr>
              <a:t>W.</a:t>
            </a:r>
            <a:r>
              <a:rPr sz="1400" spc="-3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62626"/>
                </a:solidFill>
                <a:latin typeface="Calibri"/>
                <a:cs typeface="Calibri"/>
              </a:rPr>
              <a:t>C.</a:t>
            </a:r>
            <a:r>
              <a:rPr sz="1400" spc="-6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B8B8B8"/>
                </a:solidFill>
                <a:latin typeface="Calibri"/>
                <a:cs typeface="Calibri"/>
              </a:rPr>
              <a:t>Hsleh,</a:t>
            </a:r>
            <a:r>
              <a:rPr sz="1400" spc="-5" dirty="0">
                <a:solidFill>
                  <a:srgbClr val="B8B8B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62626"/>
                </a:solidFill>
                <a:latin typeface="Calibri"/>
                <a:cs typeface="Calibri"/>
              </a:rPr>
              <a:t>D.</a:t>
            </a:r>
            <a:r>
              <a:rPr sz="1400" spc="-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43434"/>
                </a:solidFill>
                <a:latin typeface="Calibri"/>
                <a:cs typeface="Calibri"/>
              </a:rPr>
              <a:t>A.</a:t>
            </a:r>
            <a:r>
              <a:rPr sz="1400" spc="-9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242424"/>
                </a:solidFill>
                <a:latin typeface="Calibri"/>
                <a:cs typeface="Calibri"/>
              </a:rPr>
              <a:t>Wallach,</a:t>
            </a:r>
            <a:r>
              <a:rPr sz="1400" spc="-25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62626"/>
                </a:solidFill>
                <a:latin typeface="Calibri"/>
                <a:cs typeface="Calibri"/>
              </a:rPr>
              <a:t>M.</a:t>
            </a:r>
            <a:r>
              <a:rPr sz="1400" spc="-3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A5A5A5"/>
                </a:solidFill>
                <a:latin typeface="Calibri"/>
                <a:cs typeface="Calibri"/>
              </a:rPr>
              <a:t>Burrows,</a:t>
            </a:r>
            <a:r>
              <a:rPr sz="1400" spc="5" dirty="0">
                <a:solidFill>
                  <a:srgbClr val="A5A5A5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D2D2D"/>
                </a:solidFill>
                <a:latin typeface="Calibri"/>
                <a:cs typeface="Calibri"/>
              </a:rPr>
              <a:t>T.</a:t>
            </a:r>
            <a:r>
              <a:rPr sz="1400" spc="-6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A2A2A"/>
                </a:solidFill>
                <a:latin typeface="Calibri"/>
                <a:cs typeface="Calibri"/>
              </a:rPr>
              <a:t>Chandra,</a:t>
            </a:r>
            <a:r>
              <a:rPr sz="1400" spc="3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A1A1A"/>
                </a:solidFill>
                <a:latin typeface="Calibri"/>
                <a:cs typeface="Calibri"/>
              </a:rPr>
              <a:t>A.</a:t>
            </a:r>
            <a:r>
              <a:rPr sz="1400" spc="-100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62626"/>
                </a:solidFill>
                <a:latin typeface="Calibri"/>
                <a:cs typeface="Calibri"/>
              </a:rPr>
              <a:t>Fikes,</a:t>
            </a:r>
            <a:r>
              <a:rPr sz="1400" spc="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4545E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44545E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62626"/>
                </a:solidFill>
                <a:latin typeface="Calibri"/>
                <a:cs typeface="Calibri"/>
              </a:rPr>
              <a:t>R.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20388" y="4607173"/>
            <a:ext cx="6282055" cy="241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gtable:</a:t>
            </a:r>
            <a:r>
              <a:rPr sz="1400" spc="8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D6277"/>
                </a:solidFill>
                <a:latin typeface="Calibri"/>
                <a:cs typeface="Calibri"/>
              </a:rPr>
              <a:t>A</a:t>
            </a:r>
            <a:r>
              <a:rPr sz="1400" spc="45" dirty="0">
                <a:solidFill>
                  <a:srgbClr val="4D6277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262626"/>
                </a:solidFill>
                <a:latin typeface="Calibri"/>
                <a:cs typeface="Calibri"/>
              </a:rPr>
              <a:t>distributed</a:t>
            </a:r>
            <a:r>
              <a:rPr sz="1400" spc="8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44444"/>
                </a:solidFill>
                <a:latin typeface="Calibri"/>
                <a:cs typeface="Calibri"/>
              </a:rPr>
              <a:t>storage</a:t>
            </a:r>
            <a:r>
              <a:rPr sz="1400" spc="8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13131"/>
                </a:solidFill>
                <a:latin typeface="Calibri"/>
                <a:cs typeface="Calibri"/>
              </a:rPr>
              <a:t>system</a:t>
            </a:r>
            <a:r>
              <a:rPr sz="1400" spc="2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345D"/>
                </a:solidFill>
                <a:latin typeface="Calibri"/>
                <a:cs typeface="Calibri"/>
              </a:rPr>
              <a:t>for</a:t>
            </a:r>
            <a:r>
              <a:rPr sz="1400" spc="-55" dirty="0">
                <a:solidFill>
                  <a:srgbClr val="1C345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33333"/>
                </a:solidFill>
                <a:latin typeface="Calibri"/>
                <a:cs typeface="Calibri"/>
              </a:rPr>
              <a:t>structured</a:t>
            </a:r>
            <a:r>
              <a:rPr sz="1400" spc="8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F2F2F"/>
                </a:solidFill>
                <a:latin typeface="Calibri"/>
                <a:cs typeface="Calibri"/>
              </a:rPr>
              <a:t>data,'</a:t>
            </a:r>
            <a:r>
              <a:rPr sz="1400" spc="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63636"/>
                </a:solidFill>
                <a:latin typeface="Calibri"/>
                <a:cs typeface="Calibri"/>
              </a:rPr>
              <a:t>in</a:t>
            </a:r>
            <a:r>
              <a:rPr sz="1400" spc="-3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D4D"/>
                </a:solidFill>
                <a:latin typeface="Calibri"/>
                <a:cs typeface="Calibri"/>
              </a:rPr>
              <a:t>7th</a:t>
            </a:r>
            <a:r>
              <a:rPr sz="1400" spc="15" dirty="0">
                <a:solidFill>
                  <a:srgbClr val="212D4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63636"/>
                </a:solidFill>
                <a:latin typeface="Calibri"/>
                <a:cs typeface="Calibri"/>
              </a:rPr>
              <a:t>USENIX</a:t>
            </a:r>
            <a:r>
              <a:rPr sz="1400" spc="114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2A2A2A"/>
                </a:solidFill>
                <a:latin typeface="Calibri"/>
                <a:cs typeface="Calibri"/>
              </a:rPr>
              <a:t>Symposium</a:t>
            </a:r>
            <a:r>
              <a:rPr sz="1400" spc="9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424242"/>
                </a:solidFill>
                <a:latin typeface="Calibri"/>
                <a:cs typeface="Calibri"/>
              </a:rPr>
              <a:t>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43312" y="4769644"/>
            <a:ext cx="7259320" cy="4362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575"/>
              </a:lnSpc>
              <a:spcBef>
                <a:spcPts val="114"/>
              </a:spcBef>
            </a:pPr>
            <a:r>
              <a:rPr sz="1350" spc="-10" dirty="0">
                <a:solidFill>
                  <a:srgbClr val="363636"/>
                </a:solidFill>
                <a:latin typeface="Calibri"/>
                <a:cs typeface="Calibri"/>
              </a:rPr>
              <a:t>Operating</a:t>
            </a:r>
            <a:r>
              <a:rPr sz="1350" spc="12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12121"/>
                </a:solidFill>
                <a:latin typeface="Calibri"/>
                <a:cs typeface="Calibri"/>
              </a:rPr>
              <a:t>Systems</a:t>
            </a:r>
            <a:r>
              <a:rPr sz="1350" spc="12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33333"/>
                </a:solidFill>
                <a:latin typeface="Calibri"/>
                <a:cs typeface="Calibri"/>
              </a:rPr>
              <a:t>Design</a:t>
            </a:r>
            <a:r>
              <a:rPr sz="1350" spc="-2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32323"/>
                </a:solidFill>
                <a:latin typeface="Calibri"/>
                <a:cs typeface="Calibri"/>
              </a:rPr>
              <a:t>and</a:t>
            </a:r>
            <a:r>
              <a:rPr sz="1350" spc="-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4B4B4B"/>
                </a:solidFill>
                <a:latin typeface="Calibri"/>
                <a:cs typeface="Calibri"/>
              </a:rPr>
              <a:t>Implementation</a:t>
            </a:r>
            <a:r>
              <a:rPr sz="1350" spc="-6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32323"/>
                </a:solidFill>
                <a:latin typeface="Calibri"/>
                <a:cs typeface="Calibri"/>
              </a:rPr>
              <a:t>(OSDI\</a:t>
            </a:r>
            <a:r>
              <a:rPr sz="1350" spc="15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A2A2A"/>
                </a:solidFill>
                <a:latin typeface="Calibri"/>
                <a:cs typeface="Calibri"/>
              </a:rPr>
              <a:t>2006.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ts val="1635"/>
              </a:lnSpc>
            </a:pPr>
            <a:r>
              <a:rPr sz="1400" spc="50" dirty="0">
                <a:solidFill>
                  <a:srgbClr val="2D2D2D"/>
                </a:solidFill>
                <a:latin typeface="Calibri"/>
                <a:cs typeface="Calibri"/>
              </a:rPr>
              <a:t>[6]</a:t>
            </a:r>
            <a:r>
              <a:rPr sz="1400" spc="-8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13131"/>
                </a:solidFill>
                <a:latin typeface="Calibri"/>
                <a:cs typeface="Calibri"/>
              </a:rPr>
              <a:t>S.</a:t>
            </a:r>
            <a:r>
              <a:rPr sz="1400" spc="-7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2D2D"/>
                </a:solidFill>
                <a:latin typeface="Calibri"/>
                <a:cs typeface="Calibri"/>
              </a:rPr>
              <a:t>J.</a:t>
            </a:r>
            <a:r>
              <a:rPr sz="1400" spc="-7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343434"/>
                </a:solidFill>
                <a:latin typeface="Calibri"/>
                <a:cs typeface="Calibri"/>
              </a:rPr>
              <a:t>Mallender,</a:t>
            </a:r>
            <a:r>
              <a:rPr sz="1400" spc="114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G.</a:t>
            </a:r>
            <a:r>
              <a:rPr sz="1400" spc="-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343434"/>
                </a:solidFill>
                <a:latin typeface="Calibri"/>
                <a:cs typeface="Calibri"/>
              </a:rPr>
              <a:t>van</a:t>
            </a:r>
            <a:r>
              <a:rPr sz="1400" spc="-7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24242"/>
                </a:solidFill>
                <a:latin typeface="Calibri"/>
                <a:cs typeface="Calibri"/>
              </a:rPr>
              <a:t>Rossum,</a:t>
            </a:r>
            <a:r>
              <a:rPr sz="1400" spc="35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43434"/>
                </a:solidFill>
                <a:latin typeface="Calibri"/>
                <a:cs typeface="Calibri"/>
              </a:rPr>
              <a:t>A.</a:t>
            </a:r>
            <a:r>
              <a:rPr sz="1400" spc="-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14141"/>
                </a:solidFill>
                <a:latin typeface="Calibri"/>
                <a:cs typeface="Calibri"/>
              </a:rPr>
              <a:t>S.</a:t>
            </a:r>
            <a:r>
              <a:rPr sz="1400" spc="-2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2D2D2D"/>
                </a:solidFill>
                <a:latin typeface="Calibri"/>
                <a:cs typeface="Calibri"/>
              </a:rPr>
              <a:t>Tanenbaum,</a:t>
            </a:r>
            <a:r>
              <a:rPr sz="1400" spc="13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63636"/>
                </a:solidFill>
                <a:latin typeface="Calibri"/>
                <a:cs typeface="Calibri"/>
              </a:rPr>
              <a:t>8.</a:t>
            </a:r>
            <a:r>
              <a:rPr sz="1400" spc="-9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D5D5D"/>
                </a:solidFill>
                <a:latin typeface="Calibri"/>
                <a:cs typeface="Calibri"/>
              </a:rPr>
              <a:t>van</a:t>
            </a:r>
            <a:r>
              <a:rPr sz="1400" spc="-20" dirty="0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82828"/>
                </a:solidFill>
                <a:latin typeface="Calibri"/>
                <a:cs typeface="Calibri"/>
              </a:rPr>
              <a:t>Renesse,</a:t>
            </a:r>
            <a:r>
              <a:rPr sz="1400" spc="3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60728A"/>
                </a:solidFill>
                <a:latin typeface="Calibri"/>
                <a:cs typeface="Calibri"/>
              </a:rPr>
              <a:t>and</a:t>
            </a:r>
            <a:r>
              <a:rPr sz="1400" spc="-35" dirty="0">
                <a:solidFill>
                  <a:srgbClr val="60728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82828"/>
                </a:solidFill>
                <a:latin typeface="Calibri"/>
                <a:cs typeface="Calibri"/>
              </a:rPr>
              <a:t>H.</a:t>
            </a:r>
            <a:r>
              <a:rPr sz="1400" spc="-1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43434"/>
                </a:solidFill>
                <a:latin typeface="Calibri"/>
                <a:cs typeface="Calibri"/>
              </a:rPr>
              <a:t>van</a:t>
            </a:r>
            <a:r>
              <a:rPr sz="1400" spc="-2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Staveren,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A2A2A"/>
                </a:solidFill>
                <a:latin typeface="Calibri"/>
                <a:cs typeface="Calibri"/>
              </a:rPr>
              <a:t>"Amoeba: </a:t>
            </a:r>
            <a:r>
              <a:rPr sz="1400" spc="5" dirty="0">
                <a:solidFill>
                  <a:srgbClr val="313F52"/>
                </a:solidFill>
                <a:latin typeface="Calibri"/>
                <a:cs typeface="Calibri"/>
              </a:rPr>
              <a:t>A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43567" y="5131295"/>
            <a:ext cx="5367020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spc="-10" dirty="0">
                <a:solidFill>
                  <a:srgbClr val="2F2F2F"/>
                </a:solidFill>
                <a:latin typeface="Calibri"/>
                <a:cs typeface="Calibri"/>
              </a:rPr>
              <a:t>distributed</a:t>
            </a:r>
            <a:r>
              <a:rPr sz="1350" spc="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A2A2A"/>
                </a:solidFill>
                <a:latin typeface="Calibri"/>
                <a:cs typeface="Calibri"/>
              </a:rPr>
              <a:t>operating</a:t>
            </a:r>
            <a:r>
              <a:rPr sz="1350" spc="9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565656"/>
                </a:solidFill>
                <a:latin typeface="Calibri"/>
                <a:cs typeface="Calibri"/>
              </a:rPr>
              <a:t>system</a:t>
            </a:r>
            <a:r>
              <a:rPr sz="1350" spc="25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F2F2F"/>
                </a:solidFill>
                <a:latin typeface="Calibri"/>
                <a:cs typeface="Calibri"/>
              </a:rPr>
              <a:t>for</a:t>
            </a:r>
            <a:r>
              <a:rPr sz="1350" spc="-9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14D75"/>
                </a:solidFill>
                <a:latin typeface="Calibri"/>
                <a:cs typeface="Calibri"/>
              </a:rPr>
              <a:t>the</a:t>
            </a:r>
            <a:r>
              <a:rPr sz="1350" spc="-25" dirty="0">
                <a:solidFill>
                  <a:srgbClr val="314D75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62626"/>
                </a:solidFill>
                <a:latin typeface="Calibri"/>
                <a:cs typeface="Calibri"/>
              </a:rPr>
              <a:t>‹ggos,”</a:t>
            </a:r>
            <a:r>
              <a:rPr sz="1350" spc="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43434"/>
                </a:solidFill>
                <a:latin typeface="Calibri"/>
                <a:cs typeface="Calibri"/>
              </a:rPr>
              <a:t>IEEE</a:t>
            </a:r>
            <a:r>
              <a:rPr sz="1350" spc="-4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D2D2D"/>
                </a:solidFill>
                <a:latin typeface="Calibri"/>
                <a:cs typeface="Calibri"/>
              </a:rPr>
              <a:t>Computer,</a:t>
            </a:r>
            <a:r>
              <a:rPr sz="1350" spc="14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2D2D2D"/>
                </a:solidFill>
                <a:latin typeface="Calibri"/>
                <a:cs typeface="Calibri"/>
              </a:rPr>
              <a:t>vol.</a:t>
            </a:r>
            <a:r>
              <a:rPr sz="1350" spc="-6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50" spc="-50" dirty="0">
                <a:solidFill>
                  <a:srgbClr val="2D2D2D"/>
                </a:solidFill>
                <a:latin typeface="Calibri"/>
                <a:cs typeface="Calibri"/>
              </a:rPr>
              <a:t>23,</a:t>
            </a:r>
            <a:r>
              <a:rPr sz="1350" spc="-9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83838"/>
                </a:solidFill>
                <a:latin typeface="Calibri"/>
                <a:cs typeface="Calibri"/>
              </a:rPr>
              <a:t>no.</a:t>
            </a:r>
            <a:r>
              <a:rPr sz="1350" spc="-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350" spc="-40" dirty="0">
                <a:solidFill>
                  <a:srgbClr val="424242"/>
                </a:solidFill>
                <a:latin typeface="Calibri"/>
                <a:cs typeface="Calibri"/>
              </a:rPr>
              <a:t>$,</a:t>
            </a:r>
            <a:r>
              <a:rPr sz="1350" spc="-12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212121"/>
                </a:solidFill>
                <a:latin typeface="Calibri"/>
                <a:cs typeface="Calibri"/>
              </a:rPr>
              <a:t>PP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360416" y="5158084"/>
            <a:ext cx="815975" cy="2343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2025" baseline="8230" dirty="0">
                <a:solidFill>
                  <a:srgbClr val="414141"/>
                </a:solidFill>
                <a:latin typeface="Calibri"/>
                <a:cs typeface="Calibri"/>
              </a:rPr>
              <a:t>44</a:t>
            </a:r>
            <a:r>
              <a:rPr sz="2025" spc="577" baseline="823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1350" spc="-165" dirty="0">
                <a:solidFill>
                  <a:srgbClr val="414141"/>
                </a:solidFill>
                <a:latin typeface="Calibri"/>
                <a:cs typeface="Calibri"/>
              </a:rPr>
              <a:t>53•</a:t>
            </a:r>
            <a:r>
              <a:rPr sz="1350" spc="-10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282828"/>
                </a:solidFill>
                <a:latin typeface="Calibri"/>
                <a:cs typeface="Calibri"/>
              </a:rPr>
              <a:t>*99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43863" y="5321548"/>
            <a:ext cx="7258050" cy="55308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 marR="5080" indent="-635" algn="just">
              <a:lnSpc>
                <a:spcPct val="75700"/>
              </a:lnSpc>
              <a:spcBef>
                <a:spcPts val="525"/>
              </a:spcBef>
            </a:pPr>
            <a:r>
              <a:rPr sz="1400" dirty="0">
                <a:solidFill>
                  <a:srgbClr val="2D2D2D"/>
                </a:solidFill>
                <a:latin typeface="Calibri"/>
                <a:cs typeface="Calibri"/>
              </a:rPr>
              <a:t>[y]</a:t>
            </a:r>
            <a:r>
              <a:rPr sz="1400" spc="30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2323"/>
                </a:solidFill>
                <a:latin typeface="Calibri"/>
                <a:cs typeface="Calibri"/>
              </a:rPr>
              <a:t>E.</a:t>
            </a:r>
            <a:r>
              <a:rPr sz="1400" spc="17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3838"/>
                </a:solidFill>
                <a:latin typeface="Calibri"/>
                <a:cs typeface="Calibri"/>
              </a:rPr>
              <a:t>V.</a:t>
            </a:r>
            <a:r>
              <a:rPr sz="1400" spc="2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A2A2A"/>
                </a:solidFill>
                <a:latin typeface="Calibri"/>
                <a:cs typeface="Calibri"/>
              </a:rPr>
              <a:t>Hensbergen,</a:t>
            </a:r>
            <a:r>
              <a:rPr sz="1400" spc="28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2D2D"/>
                </a:solidFill>
                <a:latin typeface="Calibri"/>
                <a:cs typeface="Calibri"/>
              </a:rPr>
              <a:t>N.</a:t>
            </a:r>
            <a:r>
              <a:rPr sz="1400" spc="15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13131"/>
                </a:solidFill>
                <a:latin typeface="Calibri"/>
                <a:cs typeface="Calibri"/>
              </a:rPr>
              <a:t>P.</a:t>
            </a:r>
            <a:r>
              <a:rPr sz="1400" spc="13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43434"/>
                </a:solidFill>
                <a:latin typeface="Calibri"/>
                <a:cs typeface="Calibri"/>
              </a:rPr>
              <a:t>Evans,</a:t>
            </a:r>
            <a:r>
              <a:rPr sz="1400" spc="2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2D2D"/>
                </a:solidFill>
                <a:latin typeface="Calibri"/>
                <a:cs typeface="Calibri"/>
              </a:rPr>
              <a:t>and</a:t>
            </a:r>
            <a:r>
              <a:rPr sz="1400" spc="16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A3A3A"/>
                </a:solidFill>
                <a:latin typeface="Calibri"/>
                <a:cs typeface="Calibri"/>
              </a:rPr>
              <a:t>P.</a:t>
            </a:r>
            <a:r>
              <a:rPr sz="1400" spc="12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5tanley-</a:t>
            </a:r>
            <a:r>
              <a:rPr sz="1400" spc="-10" dirty="0">
                <a:solidFill>
                  <a:srgbClr val="333333"/>
                </a:solidFill>
                <a:latin typeface="Calibri"/>
                <a:cs typeface="Calibri"/>
              </a:rPr>
              <a:t>Marbell,</a:t>
            </a:r>
            <a:r>
              <a:rPr sz="1400" spc="1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55" dirty="0">
                <a:solidFill>
                  <a:srgbClr val="1F1F1F"/>
                </a:solidFill>
                <a:latin typeface="Calibri"/>
                <a:cs typeface="Calibri"/>
              </a:rPr>
              <a:t>"A</a:t>
            </a:r>
            <a:r>
              <a:rPr sz="1400" spc="16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43434"/>
                </a:solidFill>
                <a:latin typeface="Calibri"/>
                <a:cs typeface="Calibri"/>
              </a:rPr>
              <a:t>unified</a:t>
            </a:r>
            <a:r>
              <a:rPr sz="1400" spc="2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2D2D"/>
                </a:solidFill>
                <a:latin typeface="Calibri"/>
                <a:cs typeface="Calibri"/>
              </a:rPr>
              <a:t>execution</a:t>
            </a:r>
            <a:r>
              <a:rPr sz="1400" spc="26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45454"/>
                </a:solidFill>
                <a:latin typeface="Calibri"/>
                <a:cs typeface="Calibri"/>
              </a:rPr>
              <a:t>model</a:t>
            </a:r>
            <a:r>
              <a:rPr sz="1400" spc="220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62846"/>
                </a:solidFill>
                <a:latin typeface="Calibri"/>
                <a:cs typeface="Calibri"/>
              </a:rPr>
              <a:t>for</a:t>
            </a:r>
            <a:r>
              <a:rPr sz="1400" spc="155" dirty="0">
                <a:solidFill>
                  <a:srgbClr val="16284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62626"/>
                </a:solidFill>
                <a:latin typeface="Calibri"/>
                <a:cs typeface="Calibri"/>
              </a:rPr>
              <a:t>cloud </a:t>
            </a:r>
            <a:r>
              <a:rPr sz="1350" dirty="0">
                <a:solidFill>
                  <a:srgbClr val="313131"/>
                </a:solidFill>
                <a:latin typeface="Calibri"/>
                <a:cs typeface="Calibri"/>
              </a:rPr>
              <a:t>cO</a:t>
            </a:r>
            <a:r>
              <a:rPr sz="1350" spc="484" dirty="0">
                <a:solidFill>
                  <a:srgbClr val="313131"/>
                </a:solidFill>
                <a:latin typeface="Calibri"/>
                <a:cs typeface="Calibri"/>
              </a:rPr>
              <a:t>  </a:t>
            </a:r>
            <a:r>
              <a:rPr sz="1350" spc="-25" dirty="0">
                <a:solidFill>
                  <a:srgbClr val="313131"/>
                </a:solidFill>
                <a:latin typeface="Calibri"/>
                <a:cs typeface="Calibri"/>
              </a:rPr>
              <a:t>Mting,”</a:t>
            </a:r>
            <a:r>
              <a:rPr sz="1350" spc="12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82828"/>
                </a:solidFill>
                <a:latin typeface="Calibri"/>
                <a:cs typeface="Calibri"/>
              </a:rPr>
              <a:t>in</a:t>
            </a:r>
            <a:r>
              <a:rPr sz="1350" spc="8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A2A2A"/>
                </a:solidFill>
                <a:latin typeface="Calibri"/>
                <a:cs typeface="Calibri"/>
              </a:rPr>
              <a:t>In</a:t>
            </a:r>
            <a:r>
              <a:rPr sz="1350" spc="13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82828"/>
                </a:solidFill>
                <a:latin typeface="Calibri"/>
                <a:cs typeface="Calibri"/>
              </a:rPr>
              <a:t>Proc.</a:t>
            </a:r>
            <a:r>
              <a:rPr sz="1350" spc="17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F2F2F"/>
                </a:solidFill>
                <a:latin typeface="Calibri"/>
                <a:cs typeface="Calibri"/>
              </a:rPr>
              <a:t>of</a:t>
            </a:r>
            <a:r>
              <a:rPr sz="1350" spc="1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F2F46"/>
                </a:solidFill>
                <a:latin typeface="Calibri"/>
                <a:cs typeface="Calibri"/>
              </a:rPr>
              <a:t>the</a:t>
            </a:r>
            <a:r>
              <a:rPr sz="1350" spc="65" dirty="0">
                <a:solidFill>
                  <a:srgbClr val="1F2F46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F4B5B"/>
                </a:solidFill>
                <a:latin typeface="Calibri"/>
                <a:cs typeface="Calibri"/>
              </a:rPr>
              <a:t>Ord</a:t>
            </a:r>
            <a:r>
              <a:rPr sz="1350" spc="130" dirty="0">
                <a:solidFill>
                  <a:srgbClr val="3F4B5B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F3657"/>
                </a:solidFill>
                <a:latin typeface="Calibri"/>
                <a:cs typeface="Calibri"/>
              </a:rPr>
              <a:t>ACM</a:t>
            </a:r>
            <a:r>
              <a:rPr sz="1350" spc="165" dirty="0">
                <a:solidFill>
                  <a:srgbClr val="1F3657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F2F2F"/>
                </a:solidFill>
                <a:latin typeface="Calibri"/>
                <a:cs typeface="Calibri"/>
              </a:rPr>
              <a:t>SIGOFS</a:t>
            </a:r>
            <a:r>
              <a:rPr sz="1350" spc="20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350" b="1" spc="-10" dirty="0">
                <a:solidFill>
                  <a:srgbClr val="2D2D2D"/>
                </a:solidFill>
                <a:latin typeface="Calibri"/>
                <a:cs typeface="Calibri"/>
              </a:rPr>
              <a:t>International</a:t>
            </a:r>
            <a:r>
              <a:rPr sz="1350" b="1" spc="28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D2D2D"/>
                </a:solidFill>
                <a:latin typeface="Calibri"/>
                <a:cs typeface="Calibri"/>
              </a:rPr>
              <a:t>Workshop</a:t>
            </a:r>
            <a:r>
              <a:rPr sz="1350" spc="254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13131"/>
                </a:solidFill>
                <a:latin typeface="Calibri"/>
                <a:cs typeface="Calibri"/>
              </a:rPr>
              <a:t>on</a:t>
            </a:r>
            <a:r>
              <a:rPr sz="1350" spc="10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163159"/>
                </a:solidFill>
                <a:latin typeface="Calibri"/>
                <a:cs typeface="Calibri"/>
              </a:rPr>
              <a:t>Large</a:t>
            </a:r>
            <a:r>
              <a:rPr sz="1350" spc="204" dirty="0">
                <a:solidFill>
                  <a:srgbClr val="163159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A3A3A"/>
                </a:solidFill>
                <a:latin typeface="Calibri"/>
                <a:cs typeface="Calibri"/>
              </a:rPr>
              <a:t>Scale</a:t>
            </a:r>
            <a:r>
              <a:rPr sz="1350" spc="22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63636"/>
                </a:solidFill>
                <a:latin typeface="Calibri"/>
                <a:cs typeface="Calibri"/>
              </a:rPr>
              <a:t>Distributed </a:t>
            </a:r>
            <a:r>
              <a:rPr sz="1350" b="1" spc="-10" dirty="0">
                <a:solidFill>
                  <a:srgbClr val="545454"/>
                </a:solidFill>
                <a:latin typeface="Calibri"/>
                <a:cs typeface="Calibri"/>
              </a:rPr>
              <a:t>Systems</a:t>
            </a:r>
            <a:r>
              <a:rPr sz="1350" b="1" spc="5" dirty="0">
                <a:solidFill>
                  <a:srgbClr val="54545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282828"/>
                </a:solidFill>
                <a:latin typeface="Calibri"/>
                <a:cs typeface="Calibri"/>
              </a:rPr>
              <a:t>and</a:t>
            </a:r>
            <a:r>
              <a:rPr sz="1350" spc="-2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333333"/>
                </a:solidFill>
                <a:latin typeface="Calibri"/>
                <a:cs typeface="Calibri"/>
              </a:rPr>
              <a:t>Middleware</a:t>
            </a:r>
            <a:r>
              <a:rPr sz="1350" spc="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43434"/>
                </a:solidFill>
                <a:latin typeface="Calibri"/>
                <a:cs typeface="Calibri"/>
              </a:rPr>
              <a:t>(LADIS),</a:t>
            </a:r>
            <a:r>
              <a:rPr sz="1350" spc="9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13131"/>
                </a:solidFill>
                <a:latin typeface="Calibri"/>
                <a:cs typeface="Calibri"/>
              </a:rPr>
              <a:t>zooq.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61134" y="6430255"/>
            <a:ext cx="3141980" cy="168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60"/>
              </a:lnSpc>
            </a:pPr>
            <a:r>
              <a:rPr sz="1100" spc="-50" dirty="0">
                <a:solidFill>
                  <a:srgbClr val="262626"/>
                </a:solidFill>
                <a:latin typeface="Calibri"/>
                <a:cs typeface="Calibri"/>
              </a:rPr>
              <a:t>Mazaridaran</a:t>
            </a:r>
            <a:r>
              <a:rPr sz="1100" spc="-3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444444"/>
                </a:solidFill>
                <a:latin typeface="Calibri"/>
                <a:cs typeface="Calibri"/>
              </a:rPr>
              <a:t>University</a:t>
            </a:r>
            <a:r>
              <a:rPr sz="1100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43434"/>
                </a:solidFill>
                <a:latin typeface="Calibri"/>
                <a:cs typeface="Calibri"/>
              </a:rPr>
              <a:t>of</a:t>
            </a:r>
            <a:r>
              <a:rPr sz="1100" spc="-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4B4B4B"/>
                </a:solidFill>
                <a:latin typeface="Calibri"/>
                <a:cs typeface="Calibri"/>
              </a:rPr>
              <a:t>Science</a:t>
            </a:r>
            <a:r>
              <a:rPr sz="110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7C8995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7C8995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343434"/>
                </a:solidFill>
                <a:latin typeface="Calibri"/>
                <a:cs typeface="Calibri"/>
              </a:rPr>
              <a:t>Technology</a:t>
            </a:r>
            <a:r>
              <a:rPr sz="1100" spc="6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100" spc="40" dirty="0">
                <a:solidFill>
                  <a:srgbClr val="3A3A3A"/>
                </a:solidFill>
                <a:latin typeface="Calibri"/>
                <a:cs typeface="Calibri"/>
              </a:rPr>
              <a:t>(yUST}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61134" y="6242794"/>
            <a:ext cx="2533650" cy="1968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spc="-45" dirty="0">
                <a:solidFill>
                  <a:srgbClr val="2F2F2F"/>
                </a:solidFill>
                <a:latin typeface="Calibri"/>
                <a:cs typeface="Calibri"/>
              </a:rPr>
              <a:t>Milad</a:t>
            </a:r>
            <a:r>
              <a:rPr sz="1100" spc="-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343434"/>
                </a:solidFill>
                <a:latin typeface="Calibri"/>
                <a:cs typeface="Calibri"/>
              </a:rPr>
              <a:t>JaJalimahr</a:t>
            </a:r>
            <a:r>
              <a:rPr sz="1100" spc="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9999"/>
                </a:solidFill>
                <a:latin typeface="Calibri"/>
                <a:cs typeface="Calibri"/>
              </a:rPr>
              <a:t>-</a:t>
            </a:r>
            <a:r>
              <a:rPr sz="1100" spc="140" dirty="0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3D3D3D"/>
                </a:solidFill>
                <a:latin typeface="Calibri"/>
                <a:cs typeface="Calibri"/>
              </a:rPr>
              <a:t>Operating</a:t>
            </a:r>
            <a:r>
              <a:rPr sz="1100" spc="-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464646"/>
                </a:solidFill>
                <a:latin typeface="Calibri"/>
                <a:cs typeface="Calibri"/>
              </a:rPr>
              <a:t>System</a:t>
            </a:r>
            <a:r>
              <a:rPr sz="1100" spc="-5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1100" spc="-10" dirty="0">
                <a:solidFill>
                  <a:srgbClr val="444444"/>
                </a:solidFill>
                <a:latin typeface="Calibri"/>
                <a:cs typeface="Calibri"/>
              </a:rPr>
              <a:t>Clouds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29551" y="6317952"/>
            <a:ext cx="463550" cy="2190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dirty="0">
                <a:solidFill>
                  <a:srgbClr val="28384D"/>
                </a:solidFill>
                <a:latin typeface="Calibri"/>
                <a:cs typeface="Calibri"/>
              </a:rPr>
              <a:t>z6</a:t>
            </a:r>
            <a:r>
              <a:rPr sz="1250" spc="95" dirty="0">
                <a:solidFill>
                  <a:srgbClr val="28384D"/>
                </a:solidFill>
                <a:latin typeface="Calibri"/>
                <a:cs typeface="Calibri"/>
              </a:rPr>
              <a:t> </a:t>
            </a:r>
            <a:r>
              <a:rPr sz="1250" spc="-25" dirty="0">
                <a:solidFill>
                  <a:srgbClr val="1C1C1C"/>
                </a:solidFill>
                <a:latin typeface="Calibri"/>
                <a:cs typeface="Calibri"/>
              </a:rPr>
              <a:t>/18</a:t>
            </a:r>
            <a:endParaRPr sz="12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171" y="232171"/>
            <a:ext cx="8688585" cy="141089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4406" y="2982515"/>
            <a:ext cx="678656" cy="1696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32672" y="4268391"/>
            <a:ext cx="410765" cy="14287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80991" y="4259460"/>
            <a:ext cx="232171" cy="12501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02460" y="4254996"/>
            <a:ext cx="473273" cy="15180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43625" y="4254996"/>
            <a:ext cx="142875" cy="15180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84726" y="4254996"/>
            <a:ext cx="142875" cy="15180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860403" y="2919462"/>
            <a:ext cx="7399020" cy="289687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90170" marR="58419" indent="783590">
              <a:lnSpc>
                <a:spcPct val="75300"/>
              </a:lnSpc>
              <a:spcBef>
                <a:spcPts val="530"/>
              </a:spcBef>
              <a:tabLst>
                <a:tab pos="4586605" algn="l"/>
              </a:tabLst>
            </a:pPr>
            <a:r>
              <a:rPr sz="1400" spc="-25" dirty="0">
                <a:solidFill>
                  <a:srgbClr val="3F3F3F"/>
                </a:solidFill>
                <a:latin typeface="Calibri"/>
                <a:cs typeface="Calibri"/>
              </a:rPr>
              <a:t>Maximlll</a:t>
            </a:r>
            <a:r>
              <a:rPr sz="1400" spc="-25" dirty="0">
                <a:solidFill>
                  <a:srgbClr val="343434"/>
                </a:solidFill>
                <a:latin typeface="Calibri"/>
                <a:cs typeface="Calibri"/>
              </a:rPr>
              <a:t>en,</a:t>
            </a:r>
            <a:r>
              <a:rPr sz="1400" spc="24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D5672"/>
                </a:solidFill>
                <a:latin typeface="Calibri"/>
                <a:cs typeface="Calibri"/>
              </a:rPr>
              <a:t>A</a:t>
            </a:r>
            <a:r>
              <a:rPr sz="1400" dirty="0">
                <a:solidFill>
                  <a:srgbClr val="363636"/>
                </a:solidFill>
                <a:latin typeface="Calibri"/>
                <a:cs typeface="Calibri"/>
              </a:rPr>
              <a:t>.</a:t>
            </a:r>
            <a:r>
              <a:rPr sz="1400" spc="254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A4D67"/>
                </a:solidFill>
                <a:latin typeface="Calibri"/>
                <a:cs typeface="Calibri"/>
              </a:rPr>
              <a:t>R</a:t>
            </a:r>
            <a:r>
              <a:rPr sz="1400" spc="-10" dirty="0">
                <a:solidFill>
                  <a:srgbClr val="1F3B56"/>
                </a:solidFill>
                <a:latin typeface="Calibri"/>
                <a:cs typeface="Calibri"/>
              </a:rPr>
              <a:t>ana</a:t>
            </a:r>
            <a:r>
              <a:rPr sz="1400" spc="-10" dirty="0">
                <a:solidFill>
                  <a:srgbClr val="AEBAD1"/>
                </a:solidFill>
                <a:latin typeface="Calibri"/>
                <a:cs typeface="Calibri"/>
              </a:rPr>
              <a:t>b</a:t>
            </a:r>
            <a:r>
              <a:rPr sz="1400" spc="-10" dirty="0">
                <a:solidFill>
                  <a:srgbClr val="3B597B"/>
                </a:solidFill>
                <a:latin typeface="Calibri"/>
                <a:cs typeface="Calibri"/>
              </a:rPr>
              <a:t>a</a:t>
            </a:r>
            <a:r>
              <a:rPr sz="1400" spc="-10" dirty="0">
                <a:solidFill>
                  <a:srgbClr val="283D4F"/>
                </a:solidFill>
                <a:latin typeface="Calibri"/>
                <a:cs typeface="Calibri"/>
              </a:rPr>
              <a:t>h</a:t>
            </a:r>
            <a:r>
              <a:rPr sz="1400" spc="-10" dirty="0">
                <a:solidFill>
                  <a:srgbClr val="708595"/>
                </a:solidFill>
                <a:latin typeface="Calibri"/>
                <a:cs typeface="Calibri"/>
              </a:rPr>
              <a:t>u,</a:t>
            </a:r>
            <a:r>
              <a:rPr sz="1400" spc="215" dirty="0">
                <a:solidFill>
                  <a:srgbClr val="70859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F4456"/>
                </a:solidFill>
                <a:latin typeface="Calibri"/>
                <a:cs typeface="Calibri"/>
              </a:rPr>
              <a:t>R</a:t>
            </a:r>
            <a:r>
              <a:rPr sz="1400" dirty="0">
                <a:solidFill>
                  <a:srgbClr val="282828"/>
                </a:solidFill>
                <a:latin typeface="Calibri"/>
                <a:cs typeface="Calibri"/>
              </a:rPr>
              <a:t>.</a:t>
            </a:r>
            <a:r>
              <a:rPr sz="1400" spc="24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D6B7E"/>
                </a:solidFill>
                <a:latin typeface="Calibri"/>
                <a:cs typeface="Calibri"/>
              </a:rPr>
              <a:t>E</a:t>
            </a:r>
            <a:r>
              <a:rPr sz="1400" spc="-10" dirty="0">
                <a:solidFill>
                  <a:srgbClr val="213F5D"/>
                </a:solidFill>
                <a:latin typeface="Calibri"/>
                <a:cs typeface="Calibri"/>
              </a:rPr>
              <a:t>nge</a:t>
            </a:r>
            <a:r>
              <a:rPr sz="1400" spc="-10" dirty="0">
                <a:solidFill>
                  <a:srgbClr val="606060"/>
                </a:solidFill>
                <a:latin typeface="Calibri"/>
                <a:cs typeface="Calibri"/>
              </a:rPr>
              <a:t>h</a:t>
            </a:r>
            <a:r>
              <a:rPr sz="1400" spc="-10" dirty="0">
                <a:solidFill>
                  <a:srgbClr val="2A2A2A"/>
                </a:solidFill>
                <a:latin typeface="Calibri"/>
                <a:cs typeface="Calibri"/>
              </a:rPr>
              <a:t>ausen,</a:t>
            </a:r>
            <a:r>
              <a:rPr sz="1400" spc="26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and</a:t>
            </a:r>
            <a:r>
              <a:rPr sz="1400" spc="22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525252"/>
                </a:solidFill>
                <a:latin typeface="Calibri"/>
                <a:cs typeface="Calibri"/>
              </a:rPr>
              <a:t>L</a:t>
            </a:r>
            <a:r>
              <a:rPr sz="1400" dirty="0">
                <a:solidFill>
                  <a:srgbClr val="525252"/>
                </a:solidFill>
                <a:latin typeface="Calibri"/>
                <a:cs typeface="Calibri"/>
              </a:rPr>
              <a:t>	</a:t>
            </a:r>
            <a:r>
              <a:rPr sz="1400" dirty="0">
                <a:solidFill>
                  <a:srgbClr val="2F2F2F"/>
                </a:solidFill>
                <a:latin typeface="Calibri"/>
                <a:cs typeface="Calibri"/>
              </a:rPr>
              <a:t>C.</a:t>
            </a:r>
            <a:r>
              <a:rPr sz="1400" spc="14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F3F3F"/>
                </a:solidFill>
                <a:latin typeface="Calibri"/>
                <a:cs typeface="Calibri"/>
              </a:rPr>
              <a:t>Anderson,</a:t>
            </a:r>
            <a:r>
              <a:rPr sz="1400" spc="26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43434"/>
                </a:solidFill>
                <a:latin typeface="Calibri"/>
                <a:cs typeface="Calibri"/>
              </a:rPr>
              <a:t>"Toward</a:t>
            </a:r>
            <a:r>
              <a:rPr sz="1400" spc="2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2D2D2D"/>
                </a:solidFill>
                <a:latin typeface="Calibri"/>
                <a:cs typeface="Calibri"/>
              </a:rPr>
              <a:t>cloud-</a:t>
            </a:r>
            <a:r>
              <a:rPr sz="1400" spc="-10" dirty="0">
                <a:solidFill>
                  <a:srgbClr val="2D2D2D"/>
                </a:solidFill>
                <a:latin typeface="Calibri"/>
                <a:cs typeface="Calibri"/>
              </a:rPr>
              <a:t>agnostic </a:t>
            </a:r>
            <a:r>
              <a:rPr sz="1400" spc="-25" dirty="0">
                <a:solidFill>
                  <a:srgbClr val="3F3F3F"/>
                </a:solidFill>
                <a:latin typeface="Calibri"/>
                <a:cs typeface="Calibri"/>
              </a:rPr>
              <a:t>mlddlewares,"</a:t>
            </a:r>
            <a:r>
              <a:rPr sz="1400" spc="1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414141"/>
                </a:solidFill>
                <a:latin typeface="Calibri"/>
                <a:cs typeface="Calibri"/>
              </a:rPr>
              <a:t>in</a:t>
            </a:r>
            <a:r>
              <a:rPr sz="1400" spc="-35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212121"/>
                </a:solidFill>
                <a:latin typeface="Calibri"/>
                <a:cs typeface="Calibri"/>
              </a:rPr>
              <a:t>Proceedings</a:t>
            </a:r>
            <a:r>
              <a:rPr sz="1400" spc="3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6E7C87"/>
                </a:solidFill>
                <a:latin typeface="Calibri"/>
                <a:cs typeface="Calibri"/>
              </a:rPr>
              <a:t>of</a:t>
            </a:r>
            <a:r>
              <a:rPr sz="1400" spc="-5" dirty="0">
                <a:solidFill>
                  <a:srgbClr val="6E7C87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43434"/>
                </a:solidFill>
                <a:latin typeface="Calibri"/>
                <a:cs typeface="Calibri"/>
              </a:rPr>
              <a:t>OOPSLA</a:t>
            </a:r>
            <a:r>
              <a:rPr sz="1400" spc="6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43434"/>
                </a:solidFill>
                <a:latin typeface="Calibri"/>
                <a:cs typeface="Calibri"/>
              </a:rPr>
              <a:t>’og,</a:t>
            </a:r>
            <a:r>
              <a:rPr sz="1400" spc="-114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C3342"/>
                </a:solidFill>
                <a:latin typeface="Calibri"/>
                <a:cs typeface="Calibri"/>
              </a:rPr>
              <a:t>(New</a:t>
            </a:r>
            <a:r>
              <a:rPr sz="1400" spc="15" dirty="0">
                <a:solidFill>
                  <a:srgbClr val="1C3342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444444"/>
                </a:solidFill>
                <a:latin typeface="Calibri"/>
                <a:cs typeface="Calibri"/>
              </a:rPr>
              <a:t>York,</a:t>
            </a:r>
            <a:r>
              <a:rPr sz="1400" spc="-4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200" spc="-40" dirty="0">
                <a:solidFill>
                  <a:srgbClr val="2D2D2D"/>
                </a:solidFill>
                <a:latin typeface="Arial"/>
                <a:cs typeface="Arial"/>
              </a:rPr>
              <a:t>NY,</a:t>
            </a:r>
            <a:r>
              <a:rPr sz="1200" spc="-7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32323"/>
                </a:solidFill>
                <a:latin typeface="Arial"/>
                <a:cs typeface="Arial"/>
              </a:rPr>
              <a:t>USA),</a:t>
            </a:r>
            <a:r>
              <a:rPr sz="1200" spc="-5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200" spc="-145" dirty="0">
                <a:solidFill>
                  <a:srgbClr val="282828"/>
                </a:solidFill>
                <a:latin typeface="Arial"/>
                <a:cs typeface="Arial"/>
              </a:rPr>
              <a:t>]0{2.</a:t>
            </a:r>
            <a:r>
              <a:rPr sz="1200" spc="20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200" spc="-125" dirty="0">
                <a:solidFill>
                  <a:srgbClr val="2F2F2F"/>
                </a:solidFill>
                <a:latin typeface="Arial"/>
                <a:cs typeface="Arial"/>
              </a:rPr>
              <a:t>61§—</a:t>
            </a:r>
            <a:r>
              <a:rPr sz="1200" spc="-90" dirty="0">
                <a:solidFill>
                  <a:srgbClr val="2F2F2F"/>
                </a:solidFill>
                <a:latin typeface="Arial"/>
                <a:cs typeface="Arial"/>
              </a:rPr>
              <a:t>626,</a:t>
            </a:r>
            <a:r>
              <a:rPr sz="1200" spc="-5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343434"/>
                </a:solidFill>
                <a:latin typeface="Arial"/>
                <a:cs typeface="Arial"/>
              </a:rPr>
              <a:t>ACM,</a:t>
            </a:r>
            <a:r>
              <a:rPr sz="1200" spc="-60" dirty="0">
                <a:solidFill>
                  <a:srgbClr val="343434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A1A1A"/>
                </a:solidFill>
                <a:latin typeface="Arial"/>
                <a:cs typeface="Arial"/>
              </a:rPr>
              <a:t>Hoog.</a:t>
            </a:r>
            <a:endParaRPr sz="1200">
              <a:latin typeface="Arial"/>
              <a:cs typeface="Arial"/>
            </a:endParaRPr>
          </a:p>
          <a:p>
            <a:pPr marL="96520" marR="77470" indent="-3810">
              <a:lnSpc>
                <a:spcPct val="87900"/>
              </a:lnSpc>
              <a:spcBef>
                <a:spcPts val="240"/>
              </a:spcBef>
            </a:pPr>
            <a:r>
              <a:rPr sz="1200" dirty="0">
                <a:solidFill>
                  <a:srgbClr val="262626"/>
                </a:solidFill>
                <a:latin typeface="Arial"/>
                <a:cs typeface="Arial"/>
              </a:rPr>
              <a:t>[g]</a:t>
            </a:r>
            <a:r>
              <a:rPr sz="1200" spc="90" dirty="0">
                <a:solidFill>
                  <a:srgbClr val="262626"/>
                </a:solidFill>
                <a:latin typeface="Arial"/>
                <a:cs typeface="Arial"/>
              </a:rPr>
              <a:t>  </a:t>
            </a:r>
            <a:r>
              <a:rPr sz="1200" dirty="0">
                <a:solidFill>
                  <a:srgbClr val="313131"/>
                </a:solidFill>
                <a:latin typeface="Arial"/>
                <a:cs typeface="Arial"/>
              </a:rPr>
              <a:t>E.</a:t>
            </a:r>
            <a:r>
              <a:rPr sz="1200" spc="17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K.</a:t>
            </a:r>
            <a:r>
              <a:rPr sz="1200" spc="85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13131"/>
                </a:solidFill>
                <a:latin typeface="Arial"/>
                <a:cs typeface="Arial"/>
              </a:rPr>
              <a:t>Lua,</a:t>
            </a:r>
            <a:r>
              <a:rPr sz="1200" spc="8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D2D2D"/>
                </a:solidFill>
                <a:latin typeface="Arial"/>
                <a:cs typeface="Arial"/>
              </a:rPr>
              <a:t>J.</a:t>
            </a:r>
            <a:r>
              <a:rPr sz="1200" spc="30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B2B2B"/>
                </a:solidFill>
                <a:latin typeface="Arial"/>
                <a:cs typeface="Arial"/>
              </a:rPr>
              <a:t>Crowctoft,</a:t>
            </a:r>
            <a:r>
              <a:rPr sz="1200" spc="135" dirty="0">
                <a:solidFill>
                  <a:srgbClr val="2B2B2B"/>
                </a:solidFill>
                <a:latin typeface="Arial"/>
                <a:cs typeface="Arial"/>
              </a:rPr>
              <a:t> </a:t>
            </a:r>
            <a:r>
              <a:rPr sz="1200" spc="50" dirty="0">
                <a:solidFill>
                  <a:srgbClr val="282828"/>
                </a:solidFill>
                <a:latin typeface="Arial"/>
                <a:cs typeface="Arial"/>
              </a:rPr>
              <a:t>M.</a:t>
            </a:r>
            <a:r>
              <a:rPr sz="1200" spc="65" dirty="0">
                <a:solidFill>
                  <a:srgbClr val="282828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A2A2A"/>
                </a:solidFill>
                <a:latin typeface="Arial"/>
                <a:cs typeface="Arial"/>
              </a:rPr>
              <a:t>Pias,</a:t>
            </a:r>
            <a:r>
              <a:rPr sz="1200" spc="120" dirty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12121"/>
                </a:solidFill>
                <a:latin typeface="Arial"/>
                <a:cs typeface="Arial"/>
              </a:rPr>
              <a:t>R.</a:t>
            </a:r>
            <a:r>
              <a:rPr sz="1200" spc="40" dirty="0">
                <a:solidFill>
                  <a:srgbClr val="21212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D3D3D"/>
                </a:solidFill>
                <a:latin typeface="Arial"/>
                <a:cs typeface="Arial"/>
              </a:rPr>
              <a:t>Sharma,</a:t>
            </a:r>
            <a:r>
              <a:rPr sz="1200" spc="110" dirty="0">
                <a:solidFill>
                  <a:srgbClr val="3D3D3D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D2D2D"/>
                </a:solidFill>
                <a:latin typeface="Arial"/>
                <a:cs typeface="Arial"/>
              </a:rPr>
              <a:t>and</a:t>
            </a:r>
            <a:r>
              <a:rPr sz="1200" spc="75" dirty="0">
                <a:solidFill>
                  <a:srgbClr val="2D2D2D"/>
                </a:solidFill>
                <a:latin typeface="Arial"/>
                <a:cs typeface="Arial"/>
              </a:rPr>
              <a:t> </a:t>
            </a:r>
            <a:r>
              <a:rPr sz="1200" spc="-30" dirty="0">
                <a:solidFill>
                  <a:srgbClr val="262626"/>
                </a:solidFill>
                <a:latin typeface="Arial"/>
                <a:cs typeface="Arial"/>
              </a:rPr>
              <a:t>S.</a:t>
            </a:r>
            <a:r>
              <a:rPr sz="1200" spc="20" dirty="0">
                <a:solidFill>
                  <a:srgbClr val="262626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44444"/>
                </a:solidFill>
                <a:latin typeface="Arial"/>
                <a:cs typeface="Arial"/>
              </a:rPr>
              <a:t>Lim,</a:t>
            </a:r>
            <a:r>
              <a:rPr sz="1200" spc="45" dirty="0">
                <a:solidFill>
                  <a:srgbClr val="444444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424242"/>
                </a:solidFill>
                <a:latin typeface="Arial"/>
                <a:cs typeface="Arial"/>
              </a:rPr>
              <a:t>“A</a:t>
            </a:r>
            <a:r>
              <a:rPr sz="1200" spc="335" dirty="0">
                <a:solidFill>
                  <a:srgbClr val="42424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F2F2F"/>
                </a:solidFill>
                <a:latin typeface="Arial"/>
                <a:cs typeface="Arial"/>
              </a:rPr>
              <a:t>survey</a:t>
            </a:r>
            <a:r>
              <a:rPr sz="1200" spc="130" dirty="0">
                <a:solidFill>
                  <a:srgbClr val="2F2F2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F3F3F"/>
                </a:solidFill>
                <a:latin typeface="Arial"/>
                <a:cs typeface="Arial"/>
              </a:rPr>
              <a:t>and</a:t>
            </a:r>
            <a:r>
              <a:rPr sz="1200" spc="90" dirty="0">
                <a:solidFill>
                  <a:srgbClr val="3F3F3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313131"/>
                </a:solidFill>
                <a:latin typeface="Arial"/>
                <a:cs typeface="Arial"/>
              </a:rPr>
              <a:t>comparison</a:t>
            </a:r>
            <a:r>
              <a:rPr sz="1200" spc="155" dirty="0">
                <a:solidFill>
                  <a:srgbClr val="31313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D3F52"/>
                </a:solidFill>
                <a:latin typeface="Arial"/>
                <a:cs typeface="Arial"/>
              </a:rPr>
              <a:t>of</a:t>
            </a:r>
            <a:r>
              <a:rPr sz="1200" spc="235" dirty="0">
                <a:solidFill>
                  <a:srgbClr val="2D3F52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B2B2B"/>
                </a:solidFill>
                <a:latin typeface="Arial"/>
                <a:cs typeface="Arial"/>
              </a:rPr>
              <a:t>peer-to-</a:t>
            </a:r>
            <a:r>
              <a:rPr sz="1200" spc="-20" dirty="0">
                <a:solidFill>
                  <a:srgbClr val="2B2B2B"/>
                </a:solidFill>
                <a:latin typeface="Arial"/>
                <a:cs typeface="Arial"/>
              </a:rPr>
              <a:t>peer </a:t>
            </a:r>
            <a:r>
              <a:rPr sz="1300" dirty="0">
                <a:solidFill>
                  <a:srgbClr val="2D2D2D"/>
                </a:solidFill>
                <a:latin typeface="Calibri"/>
                <a:cs typeface="Calibri"/>
              </a:rPr>
              <a:t>overlap</a:t>
            </a:r>
            <a:r>
              <a:rPr sz="1300" spc="1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565656"/>
                </a:solidFill>
                <a:latin typeface="Calibri"/>
                <a:cs typeface="Calibri"/>
              </a:rPr>
              <a:t>network</a:t>
            </a:r>
            <a:r>
              <a:rPr sz="1300" spc="80" dirty="0">
                <a:solidFill>
                  <a:srgbClr val="56565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82828"/>
                </a:solidFill>
                <a:latin typeface="Calibri"/>
                <a:cs typeface="Calibri"/>
              </a:rPr>
              <a:t>schemes,”</a:t>
            </a:r>
            <a:r>
              <a:rPr sz="1300" spc="2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300" spc="50" dirty="0">
                <a:solidFill>
                  <a:srgbClr val="282828"/>
                </a:solidFill>
                <a:latin typeface="Calibri"/>
                <a:cs typeface="Calibri"/>
              </a:rPr>
              <a:t>IEEE</a:t>
            </a:r>
            <a:r>
              <a:rPr sz="1300" spc="-1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262626"/>
                </a:solidFill>
                <a:latin typeface="Calibri"/>
                <a:cs typeface="Calibri"/>
              </a:rPr>
              <a:t>Communications</a:t>
            </a:r>
            <a:r>
              <a:rPr sz="1300" b="1" spc="2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343434"/>
                </a:solidFill>
                <a:latin typeface="Calibri"/>
                <a:cs typeface="Calibri"/>
              </a:rPr>
              <a:t>Survey</a:t>
            </a:r>
            <a:r>
              <a:rPr sz="1300" b="1" spc="8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A3A3A"/>
                </a:solidFill>
                <a:latin typeface="Calibri"/>
                <a:cs typeface="Calibri"/>
              </a:rPr>
              <a:t>and </a:t>
            </a:r>
            <a:r>
              <a:rPr sz="1300" b="1" spc="-10" dirty="0">
                <a:solidFill>
                  <a:srgbClr val="262626"/>
                </a:solidFill>
                <a:latin typeface="Calibri"/>
                <a:cs typeface="Calibri"/>
              </a:rPr>
              <a:t>Tutorial,</a:t>
            </a:r>
            <a:r>
              <a:rPr sz="1300" b="1" spc="18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383838"/>
                </a:solidFill>
                <a:latin typeface="Calibri"/>
                <a:cs typeface="Calibri"/>
              </a:rPr>
              <a:t>vol</a:t>
            </a:r>
            <a:r>
              <a:rPr sz="1300" spc="3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300" spc="-85" dirty="0">
                <a:solidFill>
                  <a:srgbClr val="3B3B3B"/>
                </a:solidFill>
                <a:latin typeface="Calibri"/>
                <a:cs typeface="Calibri"/>
              </a:rPr>
              <a:t>7›</a:t>
            </a:r>
            <a:r>
              <a:rPr sz="1300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242424"/>
                </a:solidFill>
                <a:latin typeface="Calibri"/>
                <a:cs typeface="Calibri"/>
              </a:rPr>
              <a:t>pp.</a:t>
            </a:r>
            <a:r>
              <a:rPr sz="1300" spc="20" dirty="0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sz="1300" spc="-105" dirty="0">
                <a:solidFill>
                  <a:srgbClr val="262626"/>
                </a:solidFill>
                <a:latin typeface="Calibri"/>
                <a:cs typeface="Calibri"/>
              </a:rPr>
              <a:t>z›—</a:t>
            </a:r>
            <a:r>
              <a:rPr sz="1300" spc="-90" dirty="0">
                <a:solidFill>
                  <a:srgbClr val="262626"/>
                </a:solidFill>
                <a:latin typeface="Calibri"/>
                <a:cs typeface="Calibri"/>
              </a:rPr>
              <a:t>93a</a:t>
            </a:r>
            <a:r>
              <a:rPr sz="1300" spc="5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300" b="1" dirty="0">
                <a:solidFill>
                  <a:srgbClr val="627EAE"/>
                </a:solidFill>
                <a:latin typeface="Calibri"/>
                <a:cs typeface="Calibri"/>
              </a:rPr>
              <a:t>March</a:t>
            </a:r>
            <a:r>
              <a:rPr sz="1300" b="1" spc="25" dirty="0">
                <a:solidFill>
                  <a:srgbClr val="627EAE"/>
                </a:solidFill>
                <a:latin typeface="Calibri"/>
                <a:cs typeface="Calibri"/>
              </a:rPr>
              <a:t> </a:t>
            </a:r>
            <a:r>
              <a:rPr sz="1300" b="1" spc="-10" dirty="0">
                <a:solidFill>
                  <a:srgbClr val="2B2B2B"/>
                </a:solidFill>
                <a:latin typeface="Calibri"/>
                <a:cs typeface="Calibri"/>
              </a:rPr>
              <a:t>2OOz[. </a:t>
            </a:r>
            <a:r>
              <a:rPr sz="1400" spc="-120" dirty="0">
                <a:solidFill>
                  <a:srgbClr val="4B4B4B"/>
                </a:solidFill>
                <a:latin typeface="Calibri"/>
                <a:cs typeface="Calibri"/>
              </a:rPr>
              <a:t>t1O]</a:t>
            </a:r>
            <a:r>
              <a:rPr sz="1400" spc="-8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62626"/>
                </a:solidFill>
                <a:latin typeface="Calibri"/>
                <a:cs typeface="Calibri"/>
              </a:rPr>
              <a:t>SETI@Home.</a:t>
            </a:r>
            <a:r>
              <a:rPr sz="1400" spc="3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F2F2F"/>
                </a:solidFill>
                <a:latin typeface="Calibri"/>
                <a:cs typeface="Calibri"/>
              </a:rPr>
              <a:t>[Online]</a:t>
            </a:r>
            <a:r>
              <a:rPr sz="1400" spc="-5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A2A2A"/>
                </a:solidFill>
                <a:latin typeface="Calibri"/>
                <a:cs typeface="Calibri"/>
                <a:hlinkClick r:id="rId9"/>
              </a:rPr>
              <a:t>http://setJathome.berkeley.adu</a:t>
            </a:r>
            <a:r>
              <a:rPr sz="1400" spc="-20" dirty="0">
                <a:solidFill>
                  <a:srgbClr val="2A2A2A"/>
                </a:solidFill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88900">
              <a:lnSpc>
                <a:spcPts val="1355"/>
              </a:lnSpc>
            </a:pPr>
            <a:r>
              <a:rPr sz="1400" dirty="0">
                <a:solidFill>
                  <a:srgbClr val="1A1A1A"/>
                </a:solidFill>
                <a:latin typeface="Calibri"/>
                <a:cs typeface="Calibri"/>
              </a:rPr>
              <a:t>UI]</a:t>
            </a:r>
            <a:r>
              <a:rPr sz="1400" spc="195" dirty="0">
                <a:solidFill>
                  <a:srgbClr val="1A1A1A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F2F2F"/>
                </a:solidFill>
                <a:latin typeface="Calibri"/>
                <a:cs typeface="Calibri"/>
              </a:rPr>
              <a:t>C.</a:t>
            </a:r>
            <a:r>
              <a:rPr sz="1400" spc="18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43434"/>
                </a:solidFill>
                <a:latin typeface="Calibri"/>
                <a:cs typeface="Calibri"/>
              </a:rPr>
              <a:t>F0x,</a:t>
            </a:r>
            <a:r>
              <a:rPr sz="1400" spc="-8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D.</a:t>
            </a:r>
            <a:r>
              <a:rPr sz="1400" spc="-6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282828"/>
                </a:solidFill>
                <a:latin typeface="Calibri"/>
                <a:cs typeface="Calibri"/>
              </a:rPr>
              <a:t>Gannon,</a:t>
            </a:r>
            <a:r>
              <a:rPr sz="1400" spc="4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1F1F1F"/>
                </a:solidFill>
                <a:latin typeface="Calibri"/>
                <a:cs typeface="Calibri"/>
              </a:rPr>
              <a:t>S.-</a:t>
            </a:r>
            <a:r>
              <a:rPr sz="1400" dirty="0">
                <a:solidFill>
                  <a:srgbClr val="1F1F1F"/>
                </a:solidFill>
                <a:latin typeface="Calibri"/>
                <a:cs typeface="Calibri"/>
              </a:rPr>
              <a:t>H.</a:t>
            </a:r>
            <a:r>
              <a:rPr sz="1400" spc="-10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82828"/>
                </a:solidFill>
                <a:latin typeface="Calibri"/>
                <a:cs typeface="Calibri"/>
              </a:rPr>
              <a:t>Ko,</a:t>
            </a:r>
            <a:r>
              <a:rPr sz="1400" spc="-2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3838"/>
                </a:solidFill>
                <a:latin typeface="Calibri"/>
                <a:cs typeface="Calibri"/>
              </a:rPr>
              <a:t>S.</a:t>
            </a:r>
            <a:r>
              <a:rPr sz="1400" spc="-5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82828"/>
                </a:solidFill>
                <a:latin typeface="Calibri"/>
                <a:cs typeface="Calibri"/>
              </a:rPr>
              <a:t>Lee,</a:t>
            </a:r>
            <a:r>
              <a:rPr sz="1400" spc="-2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S.</a:t>
            </a:r>
            <a:r>
              <a:rPr sz="1400" spc="-5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3F3F3F"/>
                </a:solidFill>
                <a:latin typeface="Calibri"/>
                <a:cs typeface="Calibri"/>
              </a:rPr>
              <a:t>PalllcLara,</a:t>
            </a:r>
            <a:r>
              <a:rPr sz="1400" spc="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A2A2A"/>
                </a:solidFill>
                <a:latin typeface="Calibri"/>
                <a:cs typeface="Calibri"/>
              </a:rPr>
              <a:t>M.</a:t>
            </a:r>
            <a:r>
              <a:rPr sz="1400" spc="-2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858585"/>
                </a:solidFill>
                <a:latin typeface="Calibri"/>
                <a:cs typeface="Calibri"/>
              </a:rPr>
              <a:t>Plerce,</a:t>
            </a:r>
            <a:r>
              <a:rPr sz="1400" spc="50" dirty="0">
                <a:solidFill>
                  <a:srgbClr val="858585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14141"/>
                </a:solidFill>
                <a:latin typeface="Calibri"/>
                <a:cs typeface="Calibri"/>
              </a:rPr>
              <a:t>X.</a:t>
            </a:r>
            <a:r>
              <a:rPr sz="1400" spc="-20" dirty="0">
                <a:solidFill>
                  <a:srgbClr val="41414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82828"/>
                </a:solidFill>
                <a:latin typeface="Calibri"/>
                <a:cs typeface="Calibri"/>
              </a:rPr>
              <a:t>Alu,</a:t>
            </a:r>
            <a:r>
              <a:rPr sz="1400" spc="-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B3B3B"/>
                </a:solidFill>
                <a:latin typeface="Calibri"/>
                <a:cs typeface="Calibri"/>
              </a:rPr>
              <a:t>X.</a:t>
            </a:r>
            <a:r>
              <a:rPr sz="1400" spc="-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D2D2D"/>
                </a:solidFill>
                <a:latin typeface="Calibri"/>
                <a:cs typeface="Calibri"/>
              </a:rPr>
              <a:t>Rao,</a:t>
            </a:r>
            <a:r>
              <a:rPr sz="1400" spc="-6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F2F2F"/>
                </a:solidFill>
                <a:latin typeface="Calibri"/>
                <a:cs typeface="Calibri"/>
              </a:rPr>
              <a:t>A.</a:t>
            </a:r>
            <a:r>
              <a:rPr sz="1400" spc="-10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333333"/>
                </a:solidFill>
                <a:latin typeface="Calibri"/>
                <a:cs typeface="Calibri"/>
              </a:rPr>
              <a:t>Uyar,</a:t>
            </a:r>
            <a:r>
              <a:rPr sz="1400" spc="-5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A2A2A"/>
                </a:solidFill>
                <a:latin typeface="Calibri"/>
                <a:cs typeface="Calibri"/>
              </a:rPr>
              <a:t>M.</a:t>
            </a:r>
            <a:r>
              <a:rPr sz="1400" spc="-75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3A3A3A"/>
                </a:solidFill>
                <a:latin typeface="Calibri"/>
                <a:cs typeface="Calibri"/>
              </a:rPr>
              <a:t>Wang,</a:t>
            </a:r>
            <a:r>
              <a:rPr sz="140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3384F"/>
                </a:solidFill>
                <a:latin typeface="Calibri"/>
                <a:cs typeface="Calibri"/>
              </a:rPr>
              <a:t>and</a:t>
            </a:r>
            <a:r>
              <a:rPr sz="1400" spc="-20" dirty="0">
                <a:solidFill>
                  <a:srgbClr val="23384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D2D2D"/>
                </a:solidFill>
                <a:latin typeface="Calibri"/>
                <a:cs typeface="Calibri"/>
              </a:rPr>
              <a:t>W.</a:t>
            </a:r>
            <a:endParaRPr sz="1400">
              <a:latin typeface="Calibri"/>
              <a:cs typeface="Calibri"/>
            </a:endParaRPr>
          </a:p>
          <a:p>
            <a:pPr marL="98425">
              <a:lnSpc>
                <a:spcPts val="1380"/>
              </a:lnSpc>
              <a:tabLst>
                <a:tab pos="3773804" algn="l"/>
              </a:tabLst>
            </a:pPr>
            <a:r>
              <a:rPr sz="1400" spc="-60" dirty="0">
                <a:solidFill>
                  <a:srgbClr val="3F3F3F"/>
                </a:solidFill>
                <a:latin typeface="Calibri"/>
                <a:cs typeface="Calibri"/>
              </a:rPr>
              <a:t>Wu,</a:t>
            </a:r>
            <a:r>
              <a:rPr sz="1400" spc="-5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400" spc="-60" dirty="0">
                <a:solidFill>
                  <a:srgbClr val="232323"/>
                </a:solidFill>
                <a:latin typeface="Calibri"/>
                <a:cs typeface="Calibri"/>
              </a:rPr>
              <a:t>Peer-</a:t>
            </a:r>
            <a:r>
              <a:rPr sz="1400" spc="-55" dirty="0">
                <a:solidFill>
                  <a:srgbClr val="232323"/>
                </a:solidFill>
                <a:latin typeface="Calibri"/>
                <a:cs typeface="Calibri"/>
              </a:rPr>
              <a:t>to-</a:t>
            </a:r>
            <a:r>
              <a:rPr sz="1400" spc="-50" dirty="0">
                <a:solidFill>
                  <a:srgbClr val="232323"/>
                </a:solidFill>
                <a:latin typeface="Calibri"/>
                <a:cs typeface="Calibri"/>
              </a:rPr>
              <a:t>Peer</a:t>
            </a:r>
            <a:r>
              <a:rPr sz="1400" spc="-3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3D5464"/>
                </a:solidFill>
                <a:latin typeface="Calibri"/>
                <a:cs typeface="Calibri"/>
              </a:rPr>
              <a:t>G</a:t>
            </a:r>
            <a:r>
              <a:rPr sz="1400" i="1" spc="-30" dirty="0">
                <a:solidFill>
                  <a:srgbClr val="313131"/>
                </a:solidFill>
                <a:latin typeface="Calibri"/>
                <a:cs typeface="Calibri"/>
              </a:rPr>
              <a:t>Ads.</a:t>
            </a:r>
            <a:r>
              <a:rPr sz="1400" i="1" spc="-2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43434"/>
                </a:solidFill>
                <a:latin typeface="Calibri"/>
                <a:cs typeface="Calibri"/>
              </a:rPr>
              <a:t>John</a:t>
            </a:r>
            <a:r>
              <a:rPr sz="1400" spc="-6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00" spc="-65" dirty="0">
                <a:solidFill>
                  <a:srgbClr val="232323"/>
                </a:solidFill>
                <a:latin typeface="Calibri"/>
                <a:cs typeface="Calibri"/>
              </a:rPr>
              <a:t>Wiley</a:t>
            </a:r>
            <a:r>
              <a:rPr sz="140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82828"/>
                </a:solidFill>
                <a:latin typeface="Calibri"/>
                <a:cs typeface="Calibri"/>
              </a:rPr>
              <a:t>and</a:t>
            </a:r>
            <a:r>
              <a:rPr sz="1400" spc="-3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32323"/>
                </a:solidFill>
                <a:latin typeface="Calibri"/>
                <a:cs typeface="Calibri"/>
              </a:rPr>
              <a:t>Sons</a:t>
            </a:r>
            <a:r>
              <a:rPr sz="1400" spc="4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B2B2B"/>
                </a:solidFill>
                <a:latin typeface="Calibri"/>
                <a:cs typeface="Calibri"/>
              </a:rPr>
              <a:t>Ltd,</a:t>
            </a:r>
            <a:r>
              <a:rPr sz="1400" spc="-10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spc="-50" dirty="0">
                <a:solidFill>
                  <a:srgbClr val="282828"/>
                </a:solidFill>
                <a:latin typeface="Calibri"/>
                <a:cs typeface="Calibri"/>
              </a:rPr>
              <a:t>2</a:t>
            </a:r>
            <a:r>
              <a:rPr sz="1400" dirty="0">
                <a:solidFill>
                  <a:srgbClr val="282828"/>
                </a:solidFill>
                <a:latin typeface="Calibri"/>
                <a:cs typeface="Calibri"/>
              </a:rPr>
              <a:t>	</a:t>
            </a:r>
            <a:r>
              <a:rPr sz="1400" spc="-50" dirty="0">
                <a:solidFill>
                  <a:srgbClr val="282828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  <a:p>
            <a:pPr marL="100965">
              <a:lnSpc>
                <a:spcPts val="1395"/>
              </a:lnSpc>
              <a:tabLst>
                <a:tab pos="3595370" algn="l"/>
                <a:tab pos="4533265" algn="l"/>
                <a:tab pos="5742940" algn="l"/>
              </a:tabLst>
            </a:pPr>
            <a:r>
              <a:rPr sz="1400" spc="-40" dirty="0">
                <a:solidFill>
                  <a:srgbClr val="383838"/>
                </a:solidFill>
                <a:latin typeface="Calibri"/>
                <a:cs typeface="Calibri"/>
              </a:rPr>
              <a:t>t12]</a:t>
            </a:r>
            <a:r>
              <a:rPr sz="1400" spc="25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I.</a:t>
            </a:r>
            <a:r>
              <a:rPr sz="1400" spc="229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2D2D"/>
                </a:solidFill>
                <a:latin typeface="Calibri"/>
                <a:cs typeface="Calibri"/>
              </a:rPr>
              <a:t>Foster</a:t>
            </a:r>
            <a:r>
              <a:rPr sz="1400" spc="28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A2F49"/>
                </a:solidFill>
                <a:latin typeface="Calibri"/>
                <a:cs typeface="Calibri"/>
              </a:rPr>
              <a:t>and</a:t>
            </a:r>
            <a:r>
              <a:rPr sz="1400" spc="215" dirty="0">
                <a:solidFill>
                  <a:srgbClr val="1A2F4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8415B"/>
                </a:solidFill>
                <a:latin typeface="Calibri"/>
                <a:cs typeface="Calibri"/>
              </a:rPr>
              <a:t>A.</a:t>
            </a:r>
            <a:r>
              <a:rPr sz="1400" spc="245" dirty="0">
                <a:solidFill>
                  <a:srgbClr val="28415B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D2D2D"/>
                </a:solidFill>
                <a:latin typeface="Calibri"/>
                <a:cs typeface="Calibri"/>
              </a:rPr>
              <a:t>lamnitchi,</a:t>
            </a:r>
            <a:r>
              <a:rPr sz="1400" spc="23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12121"/>
                </a:solidFill>
                <a:latin typeface="Calibri"/>
                <a:cs typeface="Calibri"/>
              </a:rPr>
              <a:t>“On</a:t>
            </a:r>
            <a:r>
              <a:rPr sz="1400" spc="240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63636"/>
                </a:solidFill>
                <a:latin typeface="Calibri"/>
                <a:cs typeface="Calibri"/>
              </a:rPr>
              <a:t>death,</a:t>
            </a:r>
            <a:r>
              <a:rPr sz="1400" dirty="0">
                <a:solidFill>
                  <a:srgbClr val="363636"/>
                </a:solidFill>
                <a:latin typeface="Calibri"/>
                <a:cs typeface="Calibri"/>
              </a:rPr>
              <a:t>	</a:t>
            </a:r>
            <a:r>
              <a:rPr sz="1450" dirty="0">
                <a:solidFill>
                  <a:srgbClr val="343434"/>
                </a:solidFill>
                <a:latin typeface="Calibri"/>
                <a:cs typeface="Calibri"/>
              </a:rPr>
              <a:t>es,</a:t>
            </a:r>
            <a:r>
              <a:rPr sz="1450" spc="19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50" dirty="0">
                <a:solidFill>
                  <a:srgbClr val="384967"/>
                </a:solidFill>
                <a:latin typeface="Calibri"/>
                <a:cs typeface="Calibri"/>
              </a:rPr>
              <a:t>an</a:t>
            </a:r>
            <a:r>
              <a:rPr sz="1400" dirty="0">
                <a:solidFill>
                  <a:srgbClr val="1A2A4B"/>
                </a:solidFill>
                <a:latin typeface="Calibri"/>
                <a:cs typeface="Calibri"/>
              </a:rPr>
              <a:t>d</a:t>
            </a:r>
            <a:r>
              <a:rPr sz="1400" spc="140" dirty="0">
                <a:solidFill>
                  <a:srgbClr val="1A2A4B"/>
                </a:solidFill>
                <a:latin typeface="Calibri"/>
                <a:cs typeface="Calibri"/>
              </a:rPr>
              <a:t> </a:t>
            </a:r>
            <a:r>
              <a:rPr sz="1450" spc="-50" dirty="0">
                <a:solidFill>
                  <a:srgbClr val="707983"/>
                </a:solidFill>
                <a:latin typeface="Calibri"/>
                <a:cs typeface="Calibri"/>
              </a:rPr>
              <a:t>t</a:t>
            </a:r>
            <a:r>
              <a:rPr sz="1450" dirty="0">
                <a:solidFill>
                  <a:srgbClr val="707983"/>
                </a:solidFill>
                <a:latin typeface="Calibri"/>
                <a:cs typeface="Calibri"/>
              </a:rPr>
              <a:t>	</a:t>
            </a:r>
            <a:r>
              <a:rPr sz="1450" spc="-50" dirty="0">
                <a:solidFill>
                  <a:srgbClr val="2F2F2F"/>
                </a:solidFill>
                <a:latin typeface="Calibri"/>
                <a:cs typeface="Calibri"/>
              </a:rPr>
              <a:t>convergence</a:t>
            </a:r>
            <a:r>
              <a:rPr sz="1450" spc="31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50" i="1" spc="-50" dirty="0">
                <a:solidFill>
                  <a:srgbClr val="343434"/>
                </a:solidFill>
                <a:latin typeface="Calibri"/>
                <a:cs typeface="Calibri"/>
              </a:rPr>
              <a:t>a</a:t>
            </a:r>
            <a:r>
              <a:rPr sz="1450" i="1" dirty="0">
                <a:solidFill>
                  <a:srgbClr val="343434"/>
                </a:solidFill>
                <a:latin typeface="Calibri"/>
                <a:cs typeface="Calibri"/>
              </a:rPr>
              <a:t>	</a:t>
            </a:r>
            <a:r>
              <a:rPr sz="1400" spc="-60" dirty="0">
                <a:solidFill>
                  <a:srgbClr val="2D2D2D"/>
                </a:solidFill>
                <a:latin typeface="Calibri"/>
                <a:cs typeface="Calibri"/>
              </a:rPr>
              <a:t>peer-</a:t>
            </a:r>
            <a:r>
              <a:rPr sz="1400" spc="-55" dirty="0">
                <a:solidFill>
                  <a:srgbClr val="2D2D2D"/>
                </a:solidFill>
                <a:latin typeface="Calibri"/>
                <a:cs typeface="Calibri"/>
              </a:rPr>
              <a:t>to-</a:t>
            </a:r>
            <a:r>
              <a:rPr sz="1400" dirty="0">
                <a:solidFill>
                  <a:srgbClr val="2D2D2D"/>
                </a:solidFill>
                <a:latin typeface="Calibri"/>
                <a:cs typeface="Calibri"/>
              </a:rPr>
              <a:t>peer</a:t>
            </a:r>
            <a:r>
              <a:rPr sz="1400" spc="31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F3F5B"/>
                </a:solidFill>
                <a:latin typeface="Calibri"/>
                <a:cs typeface="Calibri"/>
              </a:rPr>
              <a:t>and</a:t>
            </a:r>
            <a:r>
              <a:rPr sz="1400" spc="170" dirty="0">
                <a:solidFill>
                  <a:srgbClr val="2F3F5B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83838"/>
                </a:solidFill>
                <a:latin typeface="Calibri"/>
                <a:cs typeface="Calibri"/>
              </a:rPr>
              <a:t>grid</a:t>
            </a:r>
            <a:endParaRPr sz="1400">
              <a:latin typeface="Calibri"/>
              <a:cs typeface="Calibri"/>
            </a:endParaRPr>
          </a:p>
          <a:p>
            <a:pPr marL="95250">
              <a:lnSpc>
                <a:spcPts val="1430"/>
              </a:lnSpc>
            </a:pPr>
            <a:r>
              <a:rPr sz="1450" spc="-50" dirty="0">
                <a:solidFill>
                  <a:srgbClr val="3A3A3A"/>
                </a:solidFill>
                <a:latin typeface="Calibri"/>
                <a:cs typeface="Calibri"/>
              </a:rPr>
              <a:t>cömputlng,”</a:t>
            </a:r>
            <a:r>
              <a:rPr sz="1450" spc="-30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82828"/>
                </a:solidFill>
                <a:latin typeface="Calibri"/>
                <a:cs typeface="Calibri"/>
              </a:rPr>
              <a:t>in</a:t>
            </a:r>
            <a:r>
              <a:rPr sz="1450" spc="-11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B6B6B6"/>
                </a:solidFill>
                <a:latin typeface="Calibri"/>
                <a:cs typeface="Calibri"/>
              </a:rPr>
              <a:t>In</a:t>
            </a:r>
            <a:r>
              <a:rPr sz="1450" spc="-130" dirty="0">
                <a:solidFill>
                  <a:srgbClr val="B6B6B6"/>
                </a:solidFill>
                <a:latin typeface="Calibri"/>
                <a:cs typeface="Calibri"/>
              </a:rPr>
              <a:t> </a:t>
            </a:r>
            <a:r>
              <a:rPr sz="1450" spc="-80" dirty="0">
                <a:solidFill>
                  <a:srgbClr val="4F4F4F"/>
                </a:solidFill>
                <a:latin typeface="Calibri"/>
                <a:cs typeface="Calibri"/>
              </a:rPr>
              <a:t>and</a:t>
            </a:r>
            <a:r>
              <a:rPr sz="1450" spc="-5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450" spc="-60" dirty="0">
                <a:solidFill>
                  <a:srgbClr val="3B3B3B"/>
                </a:solidFill>
                <a:latin typeface="Calibri"/>
                <a:cs typeface="Calibri"/>
              </a:rPr>
              <a:t>International</a:t>
            </a:r>
            <a:r>
              <a:rPr sz="1450" spc="10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450" spc="-75" dirty="0">
                <a:solidFill>
                  <a:srgbClr val="383838"/>
                </a:solidFill>
                <a:latin typeface="Calibri"/>
                <a:cs typeface="Calibri"/>
              </a:rPr>
              <a:t>Workshop</a:t>
            </a:r>
            <a:r>
              <a:rPr sz="1450" spc="4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2F2F2F"/>
                </a:solidFill>
                <a:latin typeface="Calibri"/>
                <a:cs typeface="Calibri"/>
              </a:rPr>
              <a:t>on</a:t>
            </a:r>
            <a:r>
              <a:rPr sz="1450" spc="-1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50" spc="-80" dirty="0">
                <a:solidFill>
                  <a:srgbClr val="363636"/>
                </a:solidFill>
                <a:latin typeface="Calibri"/>
                <a:cs typeface="Calibri"/>
              </a:rPr>
              <a:t>Peer-</a:t>
            </a:r>
            <a:r>
              <a:rPr sz="1450" spc="-75" dirty="0">
                <a:solidFill>
                  <a:srgbClr val="363636"/>
                </a:solidFill>
                <a:latin typeface="Calibri"/>
                <a:cs typeface="Calibri"/>
              </a:rPr>
              <a:t>to-Peer</a:t>
            </a:r>
            <a:r>
              <a:rPr sz="1450" spc="15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450" spc="-65" dirty="0">
                <a:solidFill>
                  <a:srgbClr val="3D3D3D"/>
                </a:solidFill>
                <a:latin typeface="Calibri"/>
                <a:cs typeface="Calibri"/>
              </a:rPr>
              <a:t>Systems</a:t>
            </a:r>
            <a:r>
              <a:rPr sz="1450" spc="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450" spc="-25" dirty="0">
                <a:solidFill>
                  <a:srgbClr val="313131"/>
                </a:solidFill>
                <a:latin typeface="Calibri"/>
                <a:cs typeface="Calibri"/>
              </a:rPr>
              <a:t>(IPTPS),</a:t>
            </a:r>
            <a:r>
              <a:rPr sz="1450" spc="-15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63636"/>
                </a:solidFill>
                <a:latin typeface="Arial"/>
                <a:cs typeface="Arial"/>
              </a:rPr>
              <a:t>pp.</a:t>
            </a:r>
            <a:r>
              <a:rPr sz="1350" spc="-250" dirty="0">
                <a:solidFill>
                  <a:srgbClr val="363636"/>
                </a:solidFill>
                <a:latin typeface="Arial"/>
                <a:cs typeface="Arial"/>
              </a:rPr>
              <a:t> </a:t>
            </a:r>
            <a:r>
              <a:rPr sz="1350" spc="-200" dirty="0">
                <a:solidFill>
                  <a:srgbClr val="232323"/>
                </a:solidFill>
                <a:latin typeface="Arial"/>
                <a:cs typeface="Arial"/>
              </a:rPr>
              <a:t>1i8—</a:t>
            </a:r>
            <a:r>
              <a:rPr sz="1350" spc="-170" dirty="0">
                <a:solidFill>
                  <a:srgbClr val="232323"/>
                </a:solidFill>
                <a:latin typeface="Arial"/>
                <a:cs typeface="Arial"/>
              </a:rPr>
              <a:t>128,</a:t>
            </a:r>
            <a:r>
              <a:rPr sz="1350" spc="80" dirty="0">
                <a:solidFill>
                  <a:srgbClr val="232323"/>
                </a:solidFill>
                <a:latin typeface="Arial"/>
                <a:cs typeface="Arial"/>
              </a:rPr>
              <a:t> </a:t>
            </a:r>
            <a:r>
              <a:rPr sz="1350" spc="-10" dirty="0">
                <a:solidFill>
                  <a:srgbClr val="2A2A2A"/>
                </a:solidFill>
                <a:latin typeface="Arial"/>
                <a:cs typeface="Arial"/>
              </a:rPr>
              <a:t>zooy.</a:t>
            </a:r>
            <a:endParaRPr sz="1350">
              <a:latin typeface="Arial"/>
              <a:cs typeface="Arial"/>
            </a:endParaRPr>
          </a:p>
          <a:p>
            <a:pPr marL="88900">
              <a:lnSpc>
                <a:spcPts val="1375"/>
              </a:lnSpc>
            </a:pPr>
            <a:r>
              <a:rPr sz="2100" baseline="-7936" dirty="0">
                <a:solidFill>
                  <a:srgbClr val="2B2B2B"/>
                </a:solidFill>
                <a:latin typeface="Calibri"/>
                <a:cs typeface="Calibri"/>
              </a:rPr>
              <a:t>I</a:t>
            </a:r>
            <a:r>
              <a:rPr sz="2100" baseline="1984" dirty="0">
                <a:solidFill>
                  <a:srgbClr val="2B2B2B"/>
                </a:solidFill>
                <a:latin typeface="Calibri"/>
                <a:cs typeface="Calibri"/>
              </a:rPr>
              <a:t>1§]</a:t>
            </a:r>
            <a:r>
              <a:rPr sz="2100" spc="390" baseline="1984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33333"/>
                </a:solidFill>
                <a:latin typeface="Calibri"/>
                <a:cs typeface="Calibri"/>
              </a:rPr>
              <a:t>N.</a:t>
            </a:r>
            <a:r>
              <a:rPr sz="1400" spc="190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24242"/>
                </a:solidFill>
                <a:latin typeface="Calibri"/>
                <a:cs typeface="Calibri"/>
              </a:rPr>
              <a:t>Drost,</a:t>
            </a:r>
            <a:r>
              <a:rPr sz="1400" spc="30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D2D2D"/>
                </a:solidFill>
                <a:latin typeface="Calibri"/>
                <a:cs typeface="Calibri"/>
              </a:rPr>
              <a:t>R.</a:t>
            </a:r>
            <a:r>
              <a:rPr sz="1400" spc="21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D5670"/>
                </a:solidFill>
                <a:latin typeface="Calibri"/>
                <a:cs typeface="Calibri"/>
              </a:rPr>
              <a:t>van</a:t>
            </a:r>
            <a:r>
              <a:rPr sz="1400" spc="250" dirty="0">
                <a:solidFill>
                  <a:srgbClr val="3D5670"/>
                </a:solidFill>
                <a:latin typeface="Calibri"/>
                <a:cs typeface="Calibri"/>
              </a:rPr>
              <a:t> </a:t>
            </a:r>
            <a:r>
              <a:rPr sz="1100" b="1" spc="-60" dirty="0">
                <a:solidFill>
                  <a:srgbClr val="2D2D2D"/>
                </a:solidFill>
                <a:latin typeface="Calibri"/>
                <a:cs typeface="Calibri"/>
              </a:rPr>
              <a:t>l’diGtsW]</a:t>
            </a:r>
            <a:r>
              <a:rPr sz="1100" b="1" spc="215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100" b="1" i="1" dirty="0">
                <a:solidFill>
                  <a:srgbClr val="2D2D2D"/>
                </a:solidFill>
                <a:latin typeface="Calibri"/>
                <a:cs typeface="Calibri"/>
              </a:rPr>
              <a:t>OOft</a:t>
            </a:r>
            <a:r>
              <a:rPr sz="1100" b="1" i="1" spc="190" dirty="0">
                <a:solidFill>
                  <a:srgbClr val="2D2D2D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4F4F4F"/>
                </a:solidFill>
                <a:latin typeface="Calibri"/>
                <a:cs typeface="Calibri"/>
              </a:rPr>
              <a:t>and</a:t>
            </a:r>
            <a:r>
              <a:rPr sz="1400" spc="310" dirty="0">
                <a:solidFill>
                  <a:srgbClr val="4F4F4F"/>
                </a:solidFill>
                <a:latin typeface="Calibri"/>
                <a:cs typeface="Calibri"/>
              </a:rPr>
              <a:t> </a:t>
            </a:r>
            <a:r>
              <a:rPr sz="1300" dirty="0">
                <a:solidFill>
                  <a:srgbClr val="626B77"/>
                </a:solidFill>
                <a:latin typeface="Cambria"/>
                <a:cs typeface="Cambria"/>
              </a:rPr>
              <a:t>H.</a:t>
            </a:r>
            <a:r>
              <a:rPr sz="1300" spc="320" dirty="0">
                <a:solidFill>
                  <a:srgbClr val="626B77"/>
                </a:solidFill>
                <a:latin typeface="Cambria"/>
                <a:cs typeface="Cambria"/>
              </a:rPr>
              <a:t> </a:t>
            </a:r>
            <a:r>
              <a:rPr sz="1400" dirty="0">
                <a:solidFill>
                  <a:srgbClr val="282828"/>
                </a:solidFill>
                <a:latin typeface="Calibri"/>
                <a:cs typeface="Calibri"/>
              </a:rPr>
              <a:t>Bal,</a:t>
            </a:r>
            <a:r>
              <a:rPr sz="1400" spc="245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313131"/>
                </a:solidFill>
                <a:latin typeface="Calibri"/>
                <a:cs typeface="Calibri"/>
              </a:rPr>
              <a:t>“Simpte</a:t>
            </a:r>
            <a:r>
              <a:rPr sz="1400" spc="250" dirty="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2F2F2F"/>
                </a:solidFill>
                <a:latin typeface="Calibri"/>
                <a:cs typeface="Calibri"/>
              </a:rPr>
              <a:t>locality-</a:t>
            </a:r>
            <a:r>
              <a:rPr sz="1400" dirty="0">
                <a:solidFill>
                  <a:srgbClr val="2F2F2F"/>
                </a:solidFill>
                <a:latin typeface="Calibri"/>
                <a:cs typeface="Calibri"/>
              </a:rPr>
              <a:t>aware</a:t>
            </a:r>
            <a:r>
              <a:rPr sz="1400" spc="25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B2B2B"/>
                </a:solidFill>
                <a:latin typeface="Calibri"/>
                <a:cs typeface="Calibri"/>
              </a:rPr>
              <a:t>coallocation</a:t>
            </a:r>
            <a:r>
              <a:rPr sz="1400" spc="2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F3F3F"/>
                </a:solidFill>
                <a:latin typeface="Calibri"/>
                <a:cs typeface="Calibri"/>
              </a:rPr>
              <a:t>in</a:t>
            </a:r>
            <a:r>
              <a:rPr sz="1400" spc="19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400" spc="-60" dirty="0">
                <a:solidFill>
                  <a:srgbClr val="363636"/>
                </a:solidFill>
                <a:latin typeface="Calibri"/>
                <a:cs typeface="Calibri"/>
              </a:rPr>
              <a:t>peer-</a:t>
            </a:r>
            <a:r>
              <a:rPr sz="1400" spc="-55" dirty="0">
                <a:solidFill>
                  <a:srgbClr val="363636"/>
                </a:solidFill>
                <a:latin typeface="Calibri"/>
                <a:cs typeface="Calibri"/>
              </a:rPr>
              <a:t>to-</a:t>
            </a:r>
            <a:r>
              <a:rPr sz="1400" spc="-20" dirty="0">
                <a:solidFill>
                  <a:srgbClr val="363636"/>
                </a:solidFill>
                <a:latin typeface="Calibri"/>
                <a:cs typeface="Calibri"/>
              </a:rPr>
              <a:t>peer</a:t>
            </a:r>
            <a:endParaRPr sz="1400">
              <a:latin typeface="Calibri"/>
              <a:cs typeface="Calibri"/>
            </a:endParaRPr>
          </a:p>
          <a:p>
            <a:pPr marL="96520" algn="just">
              <a:lnSpc>
                <a:spcPts val="1435"/>
              </a:lnSpc>
            </a:pPr>
            <a:r>
              <a:rPr sz="1450" spc="-50" dirty="0">
                <a:solidFill>
                  <a:srgbClr val="343434"/>
                </a:solidFill>
                <a:latin typeface="Calibri"/>
                <a:cs typeface="Calibri"/>
              </a:rPr>
              <a:t>supercomputlng,”</a:t>
            </a:r>
            <a:r>
              <a:rPr sz="1450" spc="-95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450" spc="-10" dirty="0">
                <a:solidFill>
                  <a:srgbClr val="4D4D4D"/>
                </a:solidFill>
                <a:latin typeface="Calibri"/>
                <a:cs typeface="Calibri"/>
              </a:rPr>
              <a:t>in</a:t>
            </a:r>
            <a:r>
              <a:rPr sz="1450" spc="-114" dirty="0">
                <a:solidFill>
                  <a:srgbClr val="4D4D4D"/>
                </a:solidFill>
                <a:latin typeface="Calibri"/>
                <a:cs typeface="Calibri"/>
              </a:rPr>
              <a:t> </a:t>
            </a:r>
            <a:r>
              <a:rPr sz="1450" spc="-45" dirty="0">
                <a:solidFill>
                  <a:srgbClr val="262626"/>
                </a:solidFill>
                <a:latin typeface="Calibri"/>
                <a:cs typeface="Calibri"/>
              </a:rPr>
              <a:t>Proceedings</a:t>
            </a:r>
            <a:r>
              <a:rPr sz="1400" spc="-45" dirty="0">
                <a:solidFill>
                  <a:srgbClr val="1A3449"/>
                </a:solidFill>
                <a:latin typeface="Calibri"/>
                <a:cs typeface="Calibri"/>
              </a:rPr>
              <a:t>@</a:t>
            </a:r>
            <a:r>
              <a:rPr sz="1400" spc="195" dirty="0">
                <a:solidFill>
                  <a:srgbClr val="1A3449"/>
                </a:solidFill>
                <a:latin typeface="Calibri"/>
                <a:cs typeface="Calibri"/>
              </a:rPr>
              <a:t> </a:t>
            </a:r>
            <a:r>
              <a:rPr sz="1400" spc="-45" dirty="0">
                <a:solidFill>
                  <a:srgbClr val="464646"/>
                </a:solidFill>
                <a:latin typeface="Calibri"/>
                <a:cs typeface="Calibri"/>
              </a:rPr>
              <a:t>the</a:t>
            </a:r>
            <a:r>
              <a:rPr sz="1400" spc="-6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A3A3A"/>
                </a:solidFill>
                <a:latin typeface="Calibri"/>
                <a:cs typeface="Calibri"/>
              </a:rPr>
              <a:t>6th</a:t>
            </a:r>
            <a:r>
              <a:rPr sz="1400" spc="-85" dirty="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sz="1400" spc="-60" dirty="0">
                <a:solidFill>
                  <a:srgbClr val="2F2F2F"/>
                </a:solidFill>
                <a:latin typeface="Calibri"/>
                <a:cs typeface="Calibri"/>
              </a:rPr>
              <a:t>IEEE/ACM</a:t>
            </a:r>
            <a:r>
              <a:rPr sz="1400" spc="3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62626"/>
                </a:solidFill>
                <a:latin typeface="Calibri"/>
                <a:cs typeface="Calibri"/>
              </a:rPr>
              <a:t>cCGrid</a:t>
            </a:r>
            <a:r>
              <a:rPr sz="1400" spc="-70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2D2D2D"/>
                </a:solidFill>
                <a:latin typeface="Calibri"/>
                <a:cs typeface="Calibri"/>
              </a:rPr>
              <a:t>Symposium,</a:t>
            </a:r>
            <a:r>
              <a:rPr sz="1400" spc="14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13131"/>
                </a:solidFill>
                <a:latin typeface="Calibri"/>
                <a:cs typeface="Calibri"/>
              </a:rPr>
              <a:t>zoo6.</a:t>
            </a:r>
            <a:endParaRPr sz="1400">
              <a:latin typeface="Calibri"/>
              <a:cs typeface="Calibri"/>
            </a:endParaRPr>
          </a:p>
          <a:p>
            <a:pPr marL="107314" marR="67945" indent="-6985" algn="just">
              <a:lnSpc>
                <a:spcPct val="75300"/>
              </a:lnSpc>
              <a:spcBef>
                <a:spcPts val="345"/>
              </a:spcBef>
            </a:pPr>
            <a:r>
              <a:rPr sz="1400" dirty="0">
                <a:solidFill>
                  <a:srgbClr val="383838"/>
                </a:solidFill>
                <a:latin typeface="Calibri"/>
                <a:cs typeface="Calibri"/>
              </a:rPr>
              <a:t>t1§/</a:t>
            </a:r>
            <a:r>
              <a:rPr sz="1400" spc="210" dirty="0">
                <a:solidFill>
                  <a:srgbClr val="383838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B2B2B"/>
                </a:solidFill>
                <a:latin typeface="Calibri"/>
                <a:cs typeface="Calibri"/>
              </a:rPr>
              <a:t>J.</a:t>
            </a:r>
            <a:r>
              <a:rPr sz="1400" spc="140" dirty="0">
                <a:solidFill>
                  <a:srgbClr val="2B2B2B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83838"/>
                </a:solidFill>
                <a:latin typeface="Calibri"/>
                <a:cs typeface="Calibri"/>
              </a:rPr>
              <a:t>Ritter,</a:t>
            </a:r>
            <a:r>
              <a:rPr sz="1400" spc="155" dirty="0">
                <a:solidFill>
                  <a:srgbClr val="383838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43434"/>
                </a:solidFill>
                <a:latin typeface="Calibri"/>
                <a:cs typeface="Calibri"/>
              </a:rPr>
              <a:t>“Why</a:t>
            </a:r>
            <a:r>
              <a:rPr sz="1400" spc="175" dirty="0">
                <a:solidFill>
                  <a:srgbClr val="343434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B3B3B"/>
                </a:solidFill>
                <a:latin typeface="Calibri"/>
                <a:cs typeface="Calibri"/>
              </a:rPr>
              <a:t>gnutella</a:t>
            </a:r>
            <a:r>
              <a:rPr sz="1400" spc="195" dirty="0">
                <a:solidFill>
                  <a:srgbClr val="3B3B3B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343434"/>
                </a:solidFill>
                <a:latin typeface="Calibri"/>
                <a:cs typeface="Calibri"/>
              </a:rPr>
              <a:t>can't</a:t>
            </a:r>
            <a:r>
              <a:rPr sz="1400" spc="185" dirty="0">
                <a:solidFill>
                  <a:srgbClr val="343434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62626"/>
                </a:solidFill>
                <a:latin typeface="Calibri"/>
                <a:cs typeface="Calibri"/>
              </a:rPr>
              <a:t>scale.</a:t>
            </a:r>
            <a:r>
              <a:rPr sz="1400" spc="165" dirty="0">
                <a:solidFill>
                  <a:srgbClr val="262626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4B4B4B"/>
                </a:solidFill>
                <a:latin typeface="Calibri"/>
                <a:cs typeface="Calibri"/>
              </a:rPr>
              <a:t>No,</a:t>
            </a:r>
            <a:r>
              <a:rPr sz="1400" spc="165" dirty="0">
                <a:solidFill>
                  <a:srgbClr val="4B4B4B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A2A2A"/>
                </a:solidFill>
                <a:latin typeface="Calibri"/>
                <a:cs typeface="Calibri"/>
              </a:rPr>
              <a:t>rea\ly.“</a:t>
            </a:r>
            <a:r>
              <a:rPr sz="1400" spc="175" dirty="0">
                <a:solidFill>
                  <a:srgbClr val="2A2A2A"/>
                </a:solidFill>
                <a:latin typeface="Calibri"/>
                <a:cs typeface="Calibri"/>
              </a:rPr>
              <a:t>  </a:t>
            </a:r>
            <a:r>
              <a:rPr sz="1400" dirty="0">
                <a:solidFill>
                  <a:srgbClr val="2D2D2D"/>
                </a:solidFill>
                <a:latin typeface="Calibri"/>
                <a:cs typeface="Calibri"/>
              </a:rPr>
              <a:t>[Onfine]</a:t>
            </a:r>
            <a:r>
              <a:rPr sz="1400" spc="145" dirty="0">
                <a:solidFill>
                  <a:srgbClr val="2D2D2D"/>
                </a:solidFill>
                <a:latin typeface="Calibri"/>
                <a:cs typeface="Calibri"/>
              </a:rPr>
              <a:t> 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  <a:hlinkClick r:id="rId10"/>
              </a:rPr>
              <a:t>http://www.darkrïdge.com/ </a:t>
            </a:r>
            <a:r>
              <a:rPr sz="1400" spc="-60" dirty="0">
                <a:solidFill>
                  <a:srgbClr val="282828"/>
                </a:solidFill>
                <a:latin typeface="Calibri"/>
                <a:cs typeface="Calibri"/>
                <a:hlinkClick r:id="rId10"/>
              </a:rPr>
              <a:t>jpr$/doc/gnuteIla.html.</a:t>
            </a:r>
            <a:r>
              <a:rPr sz="1400" spc="-60" dirty="0">
                <a:solidFill>
                  <a:srgbClr val="282828"/>
                </a:solidFill>
                <a:latin typeface="Calibri"/>
                <a:cs typeface="Calibri"/>
              </a:rPr>
              <a:t>,</a:t>
            </a:r>
            <a:r>
              <a:rPr sz="1400" spc="-4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A2A2A"/>
                </a:solidFill>
                <a:latin typeface="Calibri"/>
                <a:cs typeface="Calibri"/>
              </a:rPr>
              <a:t>Feb</a:t>
            </a:r>
            <a:r>
              <a:rPr sz="1400" spc="130" dirty="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A2A2A"/>
                </a:solidFill>
                <a:latin typeface="Calibri"/>
                <a:cs typeface="Calibri"/>
              </a:rPr>
              <a:t>zoom.</a:t>
            </a:r>
            <a:endParaRPr sz="1400">
              <a:latin typeface="Calibri"/>
              <a:cs typeface="Calibri"/>
            </a:endParaRPr>
          </a:p>
          <a:p>
            <a:pPr marL="97790" marR="67945" indent="3175" algn="just">
              <a:lnSpc>
                <a:spcPct val="75400"/>
              </a:lnSpc>
              <a:spcBef>
                <a:spcPts val="280"/>
              </a:spcBef>
            </a:pPr>
            <a:r>
              <a:rPr sz="1400" spc="-95" dirty="0">
                <a:solidFill>
                  <a:srgbClr val="1C1C1C"/>
                </a:solidFill>
                <a:latin typeface="Calibri"/>
                <a:cs typeface="Calibri"/>
              </a:rPr>
              <a:t>t1$]</a:t>
            </a:r>
            <a:r>
              <a:rPr sz="1400" spc="15" dirty="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63636"/>
                </a:solidFill>
                <a:latin typeface="Calibri"/>
                <a:cs typeface="Calibri"/>
              </a:rPr>
              <a:t>J.</a:t>
            </a:r>
            <a:r>
              <a:rPr sz="1400" spc="114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32323"/>
                </a:solidFill>
                <a:latin typeface="Calibri"/>
                <a:cs typeface="Calibri"/>
              </a:rPr>
              <a:t>Albrecht,</a:t>
            </a:r>
            <a:r>
              <a:rPr sz="1400" spc="6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F3F3F"/>
                </a:solidFill>
                <a:latin typeface="Calibri"/>
                <a:cs typeface="Calibri"/>
              </a:rPr>
              <a:t>R.</a:t>
            </a:r>
            <a:r>
              <a:rPr sz="1400" spc="-6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0F213F"/>
                </a:solidFill>
                <a:latin typeface="Calibri"/>
                <a:cs typeface="Calibri"/>
              </a:rPr>
              <a:t>Braud,</a:t>
            </a:r>
            <a:r>
              <a:rPr sz="1400" spc="15" dirty="0">
                <a:solidFill>
                  <a:srgbClr val="0F213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F2F2F"/>
                </a:solidFill>
                <a:latin typeface="Calibri"/>
                <a:cs typeface="Calibri"/>
              </a:rPr>
              <a:t>D.</a:t>
            </a:r>
            <a:r>
              <a:rPr sz="1400" spc="-4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F2F2F"/>
                </a:solidFill>
                <a:latin typeface="Calibri"/>
                <a:cs typeface="Calibri"/>
              </a:rPr>
              <a:t>Dao,</a:t>
            </a:r>
            <a:r>
              <a:rPr sz="1400" spc="5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62626"/>
                </a:solidFill>
                <a:latin typeface="Calibri"/>
                <a:cs typeface="Calibri"/>
              </a:rPr>
              <a:t>N.</a:t>
            </a:r>
            <a:r>
              <a:rPr sz="1400" spc="-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23384F"/>
                </a:solidFill>
                <a:latin typeface="Calibri"/>
                <a:cs typeface="Calibri"/>
              </a:rPr>
              <a:t>Topllsld,</a:t>
            </a:r>
            <a:r>
              <a:rPr sz="1400" spc="45" dirty="0">
                <a:solidFill>
                  <a:srgbClr val="23384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13131"/>
                </a:solidFill>
                <a:latin typeface="Calibri"/>
                <a:cs typeface="Calibri"/>
              </a:rPr>
              <a:t>C. </a:t>
            </a:r>
            <a:r>
              <a:rPr sz="1400" spc="-60" dirty="0">
                <a:solidFill>
                  <a:srgbClr val="3F3F3F"/>
                </a:solidFill>
                <a:latin typeface="Calibri"/>
                <a:cs typeface="Calibri"/>
              </a:rPr>
              <a:t>TutHe,</a:t>
            </a:r>
            <a:r>
              <a:rPr sz="1400" spc="-20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D6779"/>
                </a:solidFill>
                <a:latin typeface="Calibri"/>
                <a:cs typeface="Calibri"/>
              </a:rPr>
              <a:t>A.</a:t>
            </a:r>
            <a:r>
              <a:rPr sz="1400" dirty="0">
                <a:solidFill>
                  <a:srgbClr val="2F2F2F"/>
                </a:solidFill>
                <a:latin typeface="Calibri"/>
                <a:cs typeface="Calibri"/>
              </a:rPr>
              <a:t>1</a:t>
            </a:r>
            <a:r>
              <a:rPr sz="1400" spc="225" dirty="0">
                <a:solidFill>
                  <a:srgbClr val="2F2F2F"/>
                </a:solidFill>
                <a:latin typeface="Calibri"/>
                <a:cs typeface="Calibri"/>
              </a:rPr>
              <a:t>  </a:t>
            </a:r>
            <a:r>
              <a:rPr sz="1400" spc="-20" dirty="0">
                <a:solidFill>
                  <a:srgbClr val="424242"/>
                </a:solidFill>
                <a:latin typeface="Calibri"/>
                <a:cs typeface="Calibri"/>
              </a:rPr>
              <a:t>Snoeren,</a:t>
            </a:r>
            <a:r>
              <a:rPr sz="1400" spc="40" dirty="0">
                <a:solidFill>
                  <a:srgbClr val="424242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B3D59"/>
                </a:solidFill>
                <a:latin typeface="Calibri"/>
                <a:cs typeface="Calibri"/>
              </a:rPr>
              <a:t>and</a:t>
            </a:r>
            <a:r>
              <a:rPr sz="1400" spc="-65" dirty="0">
                <a:solidFill>
                  <a:srgbClr val="2B3D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63636"/>
                </a:solidFill>
                <a:latin typeface="Calibri"/>
                <a:cs typeface="Calibri"/>
              </a:rPr>
              <a:t>A.</a:t>
            </a:r>
            <a:r>
              <a:rPr sz="1400" spc="-20" dirty="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3838"/>
                </a:solidFill>
                <a:latin typeface="Calibri"/>
                <a:cs typeface="Calibri"/>
              </a:rPr>
              <a:t>vahdat,"Remote</a:t>
            </a:r>
            <a:r>
              <a:rPr sz="1400" spc="20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2D2D2D"/>
                </a:solidFill>
                <a:latin typeface="Calibri"/>
                <a:cs typeface="Calibri"/>
              </a:rPr>
              <a:t>Control: </a:t>
            </a:r>
            <a:r>
              <a:rPr sz="1400" spc="-20" dirty="0">
                <a:solidFill>
                  <a:srgbClr val="383838"/>
                </a:solidFill>
                <a:latin typeface="Calibri"/>
                <a:cs typeface="Calibri"/>
              </a:rPr>
              <a:t>Distributed</a:t>
            </a:r>
            <a:r>
              <a:rPr sz="1400" spc="8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D2D2D"/>
                </a:solidFill>
                <a:latin typeface="Calibri"/>
                <a:cs typeface="Calibri"/>
              </a:rPr>
              <a:t>Application</a:t>
            </a:r>
            <a:r>
              <a:rPr sz="1400" spc="50" dirty="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82828"/>
                </a:solidFill>
                <a:latin typeface="Calibri"/>
                <a:cs typeface="Calibri"/>
              </a:rPr>
              <a:t>Configuration,</a:t>
            </a:r>
            <a:r>
              <a:rPr sz="1400" spc="-10" dirty="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sz="1400" spc="-30" dirty="0">
                <a:solidFill>
                  <a:srgbClr val="3D3D3D"/>
                </a:solidFill>
                <a:latin typeface="Calibri"/>
                <a:cs typeface="Calibri"/>
              </a:rPr>
              <a:t>Management,</a:t>
            </a:r>
            <a:r>
              <a:rPr sz="1400" spc="70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33459"/>
                </a:solidFill>
                <a:latin typeface="Calibri"/>
                <a:cs typeface="Calibri"/>
              </a:rPr>
              <a:t>and</a:t>
            </a:r>
            <a:r>
              <a:rPr sz="1400" spc="25" dirty="0">
                <a:solidFill>
                  <a:srgbClr val="233459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212121"/>
                </a:solidFill>
                <a:latin typeface="Calibri"/>
                <a:cs typeface="Calibri"/>
              </a:rPr>
              <a:t>Yisuallzation</a:t>
            </a:r>
            <a:r>
              <a:rPr sz="1400" spc="35" dirty="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383838"/>
                </a:solidFill>
                <a:latin typeface="Calibri"/>
                <a:cs typeface="Calibri"/>
              </a:rPr>
              <a:t>with</a:t>
            </a:r>
            <a:r>
              <a:rPr sz="1400" spc="15" dirty="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1F1F1F"/>
                </a:solidFill>
                <a:latin typeface="Calibri"/>
                <a:cs typeface="Calibri"/>
              </a:rPr>
              <a:t>Plush,”</a:t>
            </a:r>
            <a:r>
              <a:rPr sz="1400" spc="-35" dirty="0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2A3A52"/>
                </a:solidFill>
                <a:latin typeface="Calibri"/>
                <a:cs typeface="Calibri"/>
              </a:rPr>
              <a:t>in</a:t>
            </a:r>
            <a:r>
              <a:rPr sz="1400" spc="-15" dirty="0">
                <a:solidFill>
                  <a:srgbClr val="2A3A52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3F3F3F"/>
                </a:solidFill>
                <a:latin typeface="Calibri"/>
                <a:cs typeface="Calibri"/>
              </a:rPr>
              <a:t>Proceedings</a:t>
            </a:r>
            <a:r>
              <a:rPr sz="1400" spc="85" dirty="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sz="1400" spc="-25" dirty="0">
                <a:solidFill>
                  <a:srgbClr val="2A4160"/>
                </a:solidFill>
                <a:latin typeface="Calibri"/>
                <a:cs typeface="Calibri"/>
              </a:rPr>
              <a:t>of </a:t>
            </a:r>
            <a:r>
              <a:rPr sz="1350" dirty="0">
                <a:solidFill>
                  <a:srgbClr val="232323"/>
                </a:solidFill>
                <a:latin typeface="Calibri"/>
                <a:cs typeface="Calibri"/>
              </a:rPr>
              <a:t>the</a:t>
            </a:r>
            <a:r>
              <a:rPr sz="1350" spc="-15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350" spc="-40" dirty="0">
                <a:solidFill>
                  <a:srgbClr val="232323"/>
                </a:solidFill>
                <a:latin typeface="Calibri"/>
                <a:cs typeface="Calibri"/>
              </a:rPr>
              <a:t>Twenty-</a:t>
            </a:r>
            <a:r>
              <a:rPr sz="1350" dirty="0">
                <a:solidFill>
                  <a:srgbClr val="232323"/>
                </a:solidFill>
                <a:latin typeface="Calibri"/>
                <a:cs typeface="Calibri"/>
              </a:rPr>
              <a:t>fimt</a:t>
            </a:r>
            <a:r>
              <a:rPr sz="1350" spc="50" dirty="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sz="1350" dirty="0">
                <a:solidFill>
                  <a:srgbClr val="3D3D3D"/>
                </a:solidFill>
                <a:latin typeface="Calibri"/>
                <a:cs typeface="Calibri"/>
              </a:rPr>
              <a:t>USENIX</a:t>
            </a:r>
            <a:r>
              <a:rPr sz="1350" spc="-5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350" spc="70" dirty="0">
                <a:solidFill>
                  <a:srgbClr val="333333"/>
                </a:solidFill>
                <a:latin typeface="Calibri"/>
                <a:cs typeface="Calibri"/>
              </a:rPr>
              <a:t>USA</a:t>
            </a:r>
            <a:r>
              <a:rPr sz="1350" spc="-45" dirty="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2B2B2B"/>
                </a:solidFill>
                <a:latin typeface="Calibri"/>
                <a:cs typeface="Calibri"/>
              </a:rPr>
              <a:t>Conferenca,</a:t>
            </a:r>
            <a:r>
              <a:rPr sz="1350" spc="60" dirty="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sz="1350" spc="-10" dirty="0">
                <a:solidFill>
                  <a:srgbClr val="3B3B3B"/>
                </a:solidFill>
                <a:latin typeface="Calibri"/>
                <a:cs typeface="Calibri"/>
              </a:rPr>
              <a:t>November</a:t>
            </a:r>
            <a:r>
              <a:rPr sz="1350" spc="7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25" spc="-30" baseline="4115" dirty="0">
                <a:solidFill>
                  <a:srgbClr val="2A2A2A"/>
                </a:solidFill>
                <a:latin typeface="Calibri"/>
                <a:cs typeface="Calibri"/>
              </a:rPr>
              <a:t>z0</a:t>
            </a:r>
            <a:r>
              <a:rPr sz="2025" spc="-30" baseline="-4115" dirty="0">
                <a:solidFill>
                  <a:srgbClr val="2A2A2A"/>
                </a:solidFill>
                <a:latin typeface="Calibri"/>
                <a:cs typeface="Calibri"/>
              </a:rPr>
              <a:t>o7</a:t>
            </a:r>
            <a:endParaRPr sz="2025" baseline="-4115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1134" y="6242794"/>
            <a:ext cx="3141980" cy="34861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60"/>
              </a:spcBef>
            </a:pPr>
            <a:r>
              <a:rPr sz="1100" spc="-45" dirty="0">
                <a:solidFill>
                  <a:srgbClr val="2F2F2F"/>
                </a:solidFill>
                <a:latin typeface="Calibri"/>
                <a:cs typeface="Calibri"/>
              </a:rPr>
              <a:t>Milad</a:t>
            </a:r>
            <a:r>
              <a:rPr sz="1100" spc="-60" dirty="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343434"/>
                </a:solidFill>
                <a:latin typeface="Calibri"/>
                <a:cs typeface="Calibri"/>
              </a:rPr>
              <a:t>JaJalimahr</a:t>
            </a:r>
            <a:r>
              <a:rPr sz="1100" spc="2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999999"/>
                </a:solidFill>
                <a:latin typeface="Calibri"/>
                <a:cs typeface="Calibri"/>
              </a:rPr>
              <a:t>-</a:t>
            </a:r>
            <a:r>
              <a:rPr sz="1100" spc="140" dirty="0">
                <a:solidFill>
                  <a:srgbClr val="999999"/>
                </a:solidFill>
                <a:latin typeface="Calibri"/>
                <a:cs typeface="Calibri"/>
              </a:rPr>
              <a:t> </a:t>
            </a:r>
            <a:r>
              <a:rPr sz="1100" spc="-30" dirty="0">
                <a:solidFill>
                  <a:srgbClr val="3D3D3D"/>
                </a:solidFill>
                <a:latin typeface="Calibri"/>
                <a:cs typeface="Calibri"/>
              </a:rPr>
              <a:t>Operating</a:t>
            </a:r>
            <a:r>
              <a:rPr sz="1100" spc="-25" dirty="0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sz="1100" spc="-40" dirty="0">
                <a:solidFill>
                  <a:srgbClr val="464646"/>
                </a:solidFill>
                <a:latin typeface="Calibri"/>
                <a:cs typeface="Calibri"/>
              </a:rPr>
              <a:t>System</a:t>
            </a:r>
            <a:r>
              <a:rPr sz="1100" spc="-55" dirty="0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sz="1100" dirty="0">
                <a:solidFill>
                  <a:srgbClr val="3F3F3F"/>
                </a:solidFill>
                <a:latin typeface="Calibri"/>
                <a:cs typeface="Calibri"/>
              </a:rPr>
              <a:t>for </a:t>
            </a:r>
            <a:r>
              <a:rPr sz="1100" spc="-10" dirty="0">
                <a:solidFill>
                  <a:srgbClr val="444444"/>
                </a:solidFill>
                <a:latin typeface="Calibri"/>
                <a:cs typeface="Calibri"/>
              </a:rPr>
              <a:t>Clouds </a:t>
            </a:r>
            <a:r>
              <a:rPr sz="1100" spc="-50" dirty="0">
                <a:solidFill>
                  <a:srgbClr val="262626"/>
                </a:solidFill>
                <a:latin typeface="Calibri"/>
                <a:cs typeface="Calibri"/>
              </a:rPr>
              <a:t>Mazaridarän</a:t>
            </a:r>
            <a:r>
              <a:rPr sz="1100" spc="-15" dirty="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sz="1100" b="1" spc="-55" dirty="0">
                <a:solidFill>
                  <a:srgbClr val="444444"/>
                </a:solidFill>
                <a:latin typeface="Calibri"/>
                <a:cs typeface="Calibri"/>
              </a:rPr>
              <a:t>University</a:t>
            </a:r>
            <a:r>
              <a:rPr sz="1100" b="1" spc="-5" dirty="0">
                <a:solidFill>
                  <a:srgbClr val="444444"/>
                </a:solidFill>
                <a:latin typeface="Calibri"/>
                <a:cs typeface="Calibri"/>
              </a:rPr>
              <a:t> </a:t>
            </a:r>
            <a:r>
              <a:rPr sz="1100" b="1" spc="-10" dirty="0">
                <a:solidFill>
                  <a:srgbClr val="343434"/>
                </a:solidFill>
                <a:latin typeface="Calibri"/>
                <a:cs typeface="Calibri"/>
              </a:rPr>
              <a:t>of</a:t>
            </a:r>
            <a:r>
              <a:rPr sz="1100" b="1" spc="-5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4B4B4B"/>
                </a:solidFill>
                <a:latin typeface="Calibri"/>
                <a:cs typeface="Calibri"/>
              </a:rPr>
              <a:t>Science</a:t>
            </a:r>
            <a:r>
              <a:rPr sz="1100" dirty="0">
                <a:solidFill>
                  <a:srgbClr val="4B4B4B"/>
                </a:solidFill>
                <a:latin typeface="Calibri"/>
                <a:cs typeface="Calibri"/>
              </a:rPr>
              <a:t> </a:t>
            </a:r>
            <a:r>
              <a:rPr sz="1100" spc="-45" dirty="0">
                <a:solidFill>
                  <a:srgbClr val="7C8995"/>
                </a:solidFill>
                <a:latin typeface="Calibri"/>
                <a:cs typeface="Calibri"/>
              </a:rPr>
              <a:t>and</a:t>
            </a:r>
            <a:r>
              <a:rPr sz="1100" spc="-10" dirty="0">
                <a:solidFill>
                  <a:srgbClr val="7C8995"/>
                </a:solidFill>
                <a:latin typeface="Calibri"/>
                <a:cs typeface="Calibri"/>
              </a:rPr>
              <a:t> </a:t>
            </a:r>
            <a:r>
              <a:rPr sz="1100" spc="-35" dirty="0">
                <a:solidFill>
                  <a:srgbClr val="343434"/>
                </a:solidFill>
                <a:latin typeface="Calibri"/>
                <a:cs typeface="Calibri"/>
              </a:rPr>
              <a:t>Technology</a:t>
            </a:r>
            <a:r>
              <a:rPr sz="1100" spc="60" dirty="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sz="1100" spc="40" dirty="0">
                <a:solidFill>
                  <a:srgbClr val="3A3A3A"/>
                </a:solidFill>
                <a:latin typeface="Calibri"/>
                <a:cs typeface="Calibri"/>
              </a:rPr>
              <a:t>(yUST}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58187" y="6357937"/>
            <a:ext cx="410765" cy="1696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45" y="125015"/>
            <a:ext cx="8885039" cy="646509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1423</Words>
  <Application>Microsoft Office PowerPoint</Application>
  <PresentationFormat>全屏显示(4:3)</PresentationFormat>
  <Paragraphs>147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演示文稿</vt:lpstr>
      <vt:lpstr>*  Introduction</vt:lpstr>
      <vt:lpstr>PowerPoint 演示文稿</vt:lpstr>
      <vt:lpstr>PowerPoint 演示文稿</vt:lpstr>
      <vt:lpstr>In order for the user to effectively  control all of this computational power, We need an operating system for these new hardware platforms.</vt:lpstr>
      <vt:lpstr>A simple definition:</vt:lpstr>
      <vt:lpstr>Paradigm used in Cloud Operating System: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Yeh-Ching Chung</cp:lastModifiedBy>
  <cp:revision>1</cp:revision>
  <dcterms:created xsi:type="dcterms:W3CDTF">2026-09-29T06:42:21Z</dcterms:created>
  <dcterms:modified xsi:type="dcterms:W3CDTF">2026-09-29T06:45:24Z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2026-09-29T00:00:00Z</vt:filetime>
  </property>
  <property fmtid="{D5CDD505-2E9C-101B-9397-08002B2CF9AE}" pid="4" name="Producer">
    <vt:lpwstr>jsPDF 1.3.2 2016-09-30T20:33:17.116Z:jameshall</vt:lpwstr>
  </property>
  <property fmtid="{D5CDD505-2E9C-101B-9397-08002B2CF9AE}" pid="5" name="LastSaved">
    <vt:filetime>2026-09-29T00:00:00Z</vt:filetime>
  </property>
</Properties>
</file>