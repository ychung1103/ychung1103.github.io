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0058400" cy="7772400"/>
  <p:notesSz cx="10058400" cy="7772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9" d="100"/>
          <a:sy n="49" d="100"/>
        </p:scale>
        <p:origin x="1568" y="5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9017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9017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9017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9017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9017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165338" y="468774"/>
            <a:ext cx="7727723" cy="12306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93045" y="1989174"/>
            <a:ext cx="8073390" cy="38779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882873" y="6921482"/>
            <a:ext cx="295275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9017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.png"/><Relationship Id="rId4" Type="http://schemas.openxmlformats.org/officeDocument/2006/relationships/image" Target="../media/image3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.png"/><Relationship Id="rId4" Type="http://schemas.openxmlformats.org/officeDocument/2006/relationships/image" Target="../media/image7.jp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634267" y="918568"/>
            <a:ext cx="278701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0" dirty="0">
                <a:latin typeface="Calibri"/>
                <a:cs typeface="Calibri"/>
              </a:rPr>
              <a:t>Lecture</a:t>
            </a:r>
            <a:r>
              <a:rPr b="0" spc="-110" dirty="0">
                <a:latin typeface="Calibri"/>
                <a:cs typeface="Calibri"/>
              </a:rPr>
              <a:t> </a:t>
            </a:r>
            <a:r>
              <a:rPr b="0" spc="-50" dirty="0">
                <a:latin typeface="Calibri"/>
                <a:cs typeface="Calibri"/>
              </a:rPr>
              <a:t>Two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64857" y="2008234"/>
            <a:ext cx="6327140" cy="129984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788035" marR="5080" indent="-775970">
              <a:lnSpc>
                <a:spcPts val="4750"/>
              </a:lnSpc>
              <a:spcBef>
                <a:spcPts val="700"/>
              </a:spcBef>
            </a:pPr>
            <a:r>
              <a:rPr sz="4400" b="1" dirty="0">
                <a:latin typeface="Arial"/>
                <a:cs typeface="Arial"/>
              </a:rPr>
              <a:t>Introduction</a:t>
            </a:r>
            <a:r>
              <a:rPr sz="4400" b="1" spc="-65" dirty="0">
                <a:latin typeface="Arial"/>
                <a:cs typeface="Arial"/>
              </a:rPr>
              <a:t> </a:t>
            </a:r>
            <a:r>
              <a:rPr sz="4400" b="1" dirty="0">
                <a:latin typeface="Arial"/>
                <a:cs typeface="Arial"/>
              </a:rPr>
              <a:t>to</a:t>
            </a:r>
            <a:r>
              <a:rPr sz="4400" b="1" spc="-65" dirty="0">
                <a:latin typeface="Arial"/>
                <a:cs typeface="Arial"/>
              </a:rPr>
              <a:t> </a:t>
            </a:r>
            <a:r>
              <a:rPr sz="4400" b="1" spc="-10" dirty="0">
                <a:latin typeface="Arial"/>
                <a:cs typeface="Arial"/>
              </a:rPr>
              <a:t>Network </a:t>
            </a:r>
            <a:r>
              <a:rPr sz="4400" b="1" dirty="0">
                <a:latin typeface="Arial"/>
                <a:cs typeface="Arial"/>
              </a:rPr>
              <a:t>Operating</a:t>
            </a:r>
            <a:r>
              <a:rPr sz="4400" b="1" spc="-135" dirty="0">
                <a:latin typeface="Arial"/>
                <a:cs typeface="Arial"/>
              </a:rPr>
              <a:t> </a:t>
            </a:r>
            <a:r>
              <a:rPr sz="4400" b="1" spc="-10" dirty="0">
                <a:latin typeface="Arial"/>
                <a:cs typeface="Arial"/>
              </a:rPr>
              <a:t>Systems</a:t>
            </a:r>
            <a:endParaRPr sz="4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51453" y="3877480"/>
            <a:ext cx="6751320" cy="2372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77340" marR="1567815" indent="-1270" algn="ctr">
              <a:lnSpc>
                <a:spcPct val="110000"/>
              </a:lnSpc>
              <a:spcBef>
                <a:spcPts val="100"/>
              </a:spcBef>
            </a:pPr>
            <a:r>
              <a:rPr sz="2800" spc="-90" dirty="0">
                <a:latin typeface="Calibri"/>
                <a:cs typeface="Calibri"/>
              </a:rPr>
              <a:t>Dr.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35" dirty="0">
                <a:latin typeface="Calibri"/>
                <a:cs typeface="Calibri"/>
              </a:rPr>
              <a:t>Tarfa</a:t>
            </a:r>
            <a:r>
              <a:rPr sz="2800" spc="-12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Yaseen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Hamed </a:t>
            </a:r>
            <a:r>
              <a:rPr sz="2800" dirty="0">
                <a:latin typeface="Calibri"/>
                <a:cs typeface="Calibri"/>
              </a:rPr>
              <a:t>Department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Networks</a:t>
            </a:r>
            <a:endParaRPr sz="2800">
              <a:latin typeface="Calibri"/>
              <a:cs typeface="Calibri"/>
            </a:endParaRPr>
          </a:p>
          <a:p>
            <a:pPr marL="12700" marR="5080" algn="ctr">
              <a:lnSpc>
                <a:spcPct val="110000"/>
              </a:lnSpc>
            </a:pPr>
            <a:r>
              <a:rPr sz="2800" dirty="0">
                <a:latin typeface="Calibri"/>
                <a:cs typeface="Calibri"/>
              </a:rPr>
              <a:t>College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Computer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Science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Mathematics University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Mosul</a:t>
            </a:r>
            <a:endParaRPr sz="2800">
              <a:latin typeface="Calibri"/>
              <a:cs typeface="Calibri"/>
            </a:endParaRPr>
          </a:p>
          <a:p>
            <a:pPr marL="1270" algn="ctr">
              <a:lnSpc>
                <a:spcPct val="100000"/>
              </a:lnSpc>
              <a:spcBef>
                <a:spcPts val="335"/>
              </a:spcBef>
            </a:pPr>
            <a:r>
              <a:rPr sz="2800" spc="-20" dirty="0">
                <a:latin typeface="Calibri"/>
                <a:cs typeface="Calibri"/>
              </a:rPr>
              <a:t>2025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0170">
              <a:lnSpc>
                <a:spcPts val="1240"/>
              </a:lnSpc>
            </a:pPr>
            <a:fld id="{81D60167-4931-47E6-BA6A-407CBD079E47}" type="slidenum">
              <a:rPr spc="-50" dirty="0"/>
              <a:t>1</a:t>
            </a:fld>
            <a:endParaRPr spc="-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977831" y="1122573"/>
            <a:ext cx="810260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What</a:t>
            </a:r>
            <a:r>
              <a:rPr spc="-70" dirty="0"/>
              <a:t> </a:t>
            </a:r>
            <a:r>
              <a:rPr dirty="0"/>
              <a:t>is</a:t>
            </a:r>
            <a:r>
              <a:rPr spc="-40" dirty="0"/>
              <a:t> </a:t>
            </a:r>
            <a:r>
              <a:rPr dirty="0"/>
              <a:t>an</a:t>
            </a:r>
            <a:r>
              <a:rPr spc="-55" dirty="0"/>
              <a:t> </a:t>
            </a:r>
            <a:r>
              <a:rPr dirty="0"/>
              <a:t>Operating</a:t>
            </a:r>
            <a:r>
              <a:rPr spc="-60" dirty="0"/>
              <a:t> </a:t>
            </a:r>
            <a:r>
              <a:rPr spc="-10" dirty="0"/>
              <a:t>System?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993045" y="2229782"/>
            <a:ext cx="8301990" cy="35369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715" indent="230504" algn="just">
              <a:lnSpc>
                <a:spcPct val="140000"/>
              </a:lnSpc>
              <a:spcBef>
                <a:spcPts val="95"/>
              </a:spcBef>
              <a:buFont typeface="Arial"/>
              <a:buChar char="•"/>
              <a:tabLst>
                <a:tab pos="243204" algn="l"/>
              </a:tabLst>
            </a:pPr>
            <a:r>
              <a:rPr sz="3200" b="1" dirty="0">
                <a:latin typeface="Arial"/>
                <a:cs typeface="Arial"/>
              </a:rPr>
              <a:t>Definition</a:t>
            </a:r>
            <a:r>
              <a:rPr sz="3200" dirty="0">
                <a:latin typeface="Arial"/>
                <a:cs typeface="Arial"/>
              </a:rPr>
              <a:t>:</a:t>
            </a:r>
            <a:r>
              <a:rPr sz="3200" spc="62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An</a:t>
            </a:r>
            <a:r>
              <a:rPr sz="3200" spc="59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OS</a:t>
            </a:r>
            <a:r>
              <a:rPr sz="3200" spc="66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is</a:t>
            </a:r>
            <a:r>
              <a:rPr sz="3200" spc="61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system</a:t>
            </a:r>
            <a:r>
              <a:rPr sz="3200" spc="63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software</a:t>
            </a:r>
            <a:r>
              <a:rPr sz="3200" spc="630" dirty="0">
                <a:latin typeface="Arial"/>
                <a:cs typeface="Arial"/>
              </a:rPr>
              <a:t> </a:t>
            </a:r>
            <a:r>
              <a:rPr sz="3200" spc="-20" dirty="0">
                <a:latin typeface="Arial"/>
                <a:cs typeface="Arial"/>
              </a:rPr>
              <a:t>that </a:t>
            </a:r>
            <a:r>
              <a:rPr sz="3200" dirty="0">
                <a:latin typeface="Arial"/>
                <a:cs typeface="Arial"/>
              </a:rPr>
              <a:t>manages</a:t>
            </a:r>
            <a:r>
              <a:rPr sz="3200" spc="-5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hardware</a:t>
            </a:r>
            <a:r>
              <a:rPr sz="3200" spc="-5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and</a:t>
            </a:r>
            <a:r>
              <a:rPr sz="3200" spc="-2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software</a:t>
            </a:r>
            <a:r>
              <a:rPr sz="3200" spc="-80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resources.</a:t>
            </a:r>
            <a:endParaRPr sz="3200">
              <a:latin typeface="Arial"/>
              <a:cs typeface="Arial"/>
            </a:endParaRPr>
          </a:p>
          <a:p>
            <a:pPr marL="12700" marR="5080" indent="288925" algn="just">
              <a:lnSpc>
                <a:spcPct val="140000"/>
              </a:lnSpc>
              <a:spcBef>
                <a:spcPts val="770"/>
              </a:spcBef>
              <a:buFont typeface="Arial"/>
              <a:buChar char="•"/>
              <a:tabLst>
                <a:tab pos="301625" algn="l"/>
              </a:tabLst>
            </a:pPr>
            <a:r>
              <a:rPr sz="3200" b="1" dirty="0">
                <a:latin typeface="Arial"/>
                <a:cs typeface="Arial"/>
              </a:rPr>
              <a:t>Types</a:t>
            </a:r>
            <a:r>
              <a:rPr sz="3200" dirty="0">
                <a:latin typeface="Arial"/>
                <a:cs typeface="Arial"/>
              </a:rPr>
              <a:t>:</a:t>
            </a:r>
            <a:r>
              <a:rPr sz="3200" spc="434" dirty="0">
                <a:latin typeface="Arial"/>
                <a:cs typeface="Arial"/>
              </a:rPr>
              <a:t>  </a:t>
            </a:r>
            <a:r>
              <a:rPr sz="3200" dirty="0">
                <a:latin typeface="Arial"/>
                <a:cs typeface="Arial"/>
              </a:rPr>
              <a:t>Standalone</a:t>
            </a:r>
            <a:r>
              <a:rPr sz="3200" spc="440" dirty="0">
                <a:latin typeface="Arial"/>
                <a:cs typeface="Arial"/>
              </a:rPr>
              <a:t>  </a:t>
            </a:r>
            <a:r>
              <a:rPr sz="3200" dirty="0">
                <a:latin typeface="Arial"/>
                <a:cs typeface="Arial"/>
              </a:rPr>
              <a:t>OS</a:t>
            </a:r>
            <a:r>
              <a:rPr sz="3200" spc="440" dirty="0">
                <a:latin typeface="Arial"/>
                <a:cs typeface="Arial"/>
              </a:rPr>
              <a:t>  </a:t>
            </a:r>
            <a:r>
              <a:rPr sz="3200" dirty="0">
                <a:latin typeface="Arial"/>
                <a:cs typeface="Arial"/>
              </a:rPr>
              <a:t>(e.g.,</a:t>
            </a:r>
            <a:r>
              <a:rPr sz="3200" spc="440" dirty="0">
                <a:latin typeface="Arial"/>
                <a:cs typeface="Arial"/>
              </a:rPr>
              <a:t>  </a:t>
            </a:r>
            <a:r>
              <a:rPr sz="3200" spc="-10" dirty="0">
                <a:latin typeface="Arial"/>
                <a:cs typeface="Arial"/>
              </a:rPr>
              <a:t>Windows, </a:t>
            </a:r>
            <a:r>
              <a:rPr sz="3200" dirty="0">
                <a:latin typeface="Arial"/>
                <a:cs typeface="Arial"/>
              </a:rPr>
              <a:t>Linux) vs.</a:t>
            </a:r>
            <a:r>
              <a:rPr sz="3200" spc="1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Network</a:t>
            </a:r>
            <a:r>
              <a:rPr sz="3200" spc="1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OS</a:t>
            </a:r>
            <a:r>
              <a:rPr sz="3200" spc="1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(e.g.,</a:t>
            </a:r>
            <a:r>
              <a:rPr sz="3200" spc="1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Windows</a:t>
            </a:r>
            <a:r>
              <a:rPr sz="3200" spc="10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Server, Linux-</a:t>
            </a:r>
            <a:r>
              <a:rPr sz="3200" dirty="0">
                <a:latin typeface="Arial"/>
                <a:cs typeface="Arial"/>
              </a:rPr>
              <a:t>based</a:t>
            </a:r>
            <a:r>
              <a:rPr sz="3200" spc="-40" dirty="0">
                <a:latin typeface="Arial"/>
                <a:cs typeface="Arial"/>
              </a:rPr>
              <a:t> </a:t>
            </a:r>
            <a:r>
              <a:rPr sz="3200" spc="-20" dirty="0">
                <a:latin typeface="Arial"/>
                <a:cs typeface="Arial"/>
              </a:rPr>
              <a:t>NOS).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0170">
              <a:lnSpc>
                <a:spcPts val="1240"/>
              </a:lnSpc>
            </a:pPr>
            <a:fld id="{81D60167-4931-47E6-BA6A-407CBD079E47}" type="slidenum">
              <a:rPr spc="-50" dirty="0"/>
              <a:t>2</a:t>
            </a:fld>
            <a:endParaRPr spc="-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211057" y="505369"/>
            <a:ext cx="7632700" cy="13677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51760" marR="5080" indent="-2639695">
              <a:lnSpc>
                <a:spcPct val="100000"/>
              </a:lnSpc>
              <a:spcBef>
                <a:spcPts val="100"/>
              </a:spcBef>
            </a:pPr>
            <a:r>
              <a:rPr dirty="0"/>
              <a:t>What</a:t>
            </a:r>
            <a:r>
              <a:rPr spc="-65" dirty="0"/>
              <a:t> </a:t>
            </a:r>
            <a:r>
              <a:rPr dirty="0"/>
              <a:t>is</a:t>
            </a:r>
            <a:r>
              <a:rPr spc="-35" dirty="0"/>
              <a:t> </a:t>
            </a:r>
            <a:r>
              <a:rPr dirty="0"/>
              <a:t>a</a:t>
            </a:r>
            <a:r>
              <a:rPr spc="-30" dirty="0"/>
              <a:t> </a:t>
            </a:r>
            <a:r>
              <a:rPr dirty="0"/>
              <a:t>Network</a:t>
            </a:r>
            <a:r>
              <a:rPr spc="-75" dirty="0"/>
              <a:t> </a:t>
            </a:r>
            <a:r>
              <a:rPr spc="-10" dirty="0"/>
              <a:t>Operating System?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57" y="1912680"/>
            <a:ext cx="8607425" cy="4610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3060" marR="8890" indent="-340995">
              <a:lnSpc>
                <a:spcPct val="150000"/>
              </a:lnSpc>
              <a:spcBef>
                <a:spcPts val="100"/>
              </a:spcBef>
              <a:buChar char="•"/>
              <a:tabLst>
                <a:tab pos="355600" algn="l"/>
              </a:tabLst>
            </a:pPr>
            <a:r>
              <a:rPr sz="3200" dirty="0">
                <a:latin typeface="Arial"/>
                <a:cs typeface="Arial"/>
              </a:rPr>
              <a:t>A</a:t>
            </a:r>
            <a:r>
              <a:rPr sz="3200" spc="-19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NOS</a:t>
            </a:r>
            <a:r>
              <a:rPr sz="3200" spc="-1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is</a:t>
            </a:r>
            <a:r>
              <a:rPr sz="3200" spc="-2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an</a:t>
            </a:r>
            <a:r>
              <a:rPr sz="3200" spc="-4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OS</a:t>
            </a:r>
            <a:r>
              <a:rPr sz="3200" spc="-3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designed</a:t>
            </a:r>
            <a:r>
              <a:rPr sz="3200" spc="-4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to</a:t>
            </a:r>
            <a:r>
              <a:rPr sz="3200" spc="-4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manage</a:t>
            </a:r>
            <a:r>
              <a:rPr sz="3200" spc="-35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network 	resources.</a:t>
            </a:r>
            <a:endParaRPr sz="3200">
              <a:latin typeface="Arial"/>
              <a:cs typeface="Arial"/>
            </a:endParaRPr>
          </a:p>
          <a:p>
            <a:pPr marL="354330" marR="5080" indent="-342265">
              <a:lnSpc>
                <a:spcPct val="150000"/>
              </a:lnSpc>
              <a:spcBef>
                <a:spcPts val="765"/>
              </a:spcBef>
              <a:buChar char="•"/>
              <a:tabLst>
                <a:tab pos="355600" algn="l"/>
              </a:tabLst>
            </a:pPr>
            <a:r>
              <a:rPr sz="3200" dirty="0">
                <a:latin typeface="Arial"/>
                <a:cs typeface="Arial"/>
              </a:rPr>
              <a:t>Enables</a:t>
            </a:r>
            <a:r>
              <a:rPr sz="3200" spc="49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multiple</a:t>
            </a:r>
            <a:r>
              <a:rPr sz="3200" spc="49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computers</a:t>
            </a:r>
            <a:r>
              <a:rPr sz="3200" spc="484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to</a:t>
            </a:r>
            <a:r>
              <a:rPr sz="3200" spc="459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communicate 	</a:t>
            </a:r>
            <a:r>
              <a:rPr sz="3200" dirty="0">
                <a:latin typeface="Arial"/>
                <a:cs typeface="Arial"/>
              </a:rPr>
              <a:t>and</a:t>
            </a:r>
            <a:r>
              <a:rPr sz="3200" spc="-4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share</a:t>
            </a:r>
            <a:r>
              <a:rPr sz="3200" spc="-55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resources.</a:t>
            </a:r>
            <a:endParaRPr sz="3200">
              <a:latin typeface="Arial"/>
              <a:cs typeface="Arial"/>
            </a:endParaRPr>
          </a:p>
          <a:p>
            <a:pPr marL="354330" marR="5080" indent="-342265">
              <a:lnSpc>
                <a:spcPct val="150000"/>
              </a:lnSpc>
              <a:spcBef>
                <a:spcPts val="770"/>
              </a:spcBef>
              <a:buFont typeface="Arial"/>
              <a:buChar char="•"/>
              <a:tabLst>
                <a:tab pos="355600" algn="l"/>
              </a:tabLst>
            </a:pPr>
            <a:r>
              <a:rPr sz="3200" b="1" dirty="0">
                <a:latin typeface="Arial"/>
                <a:cs typeface="Arial"/>
              </a:rPr>
              <a:t>Examples</a:t>
            </a:r>
            <a:r>
              <a:rPr sz="3200" dirty="0">
                <a:latin typeface="Arial"/>
                <a:cs typeface="Arial"/>
              </a:rPr>
              <a:t>:</a:t>
            </a:r>
            <a:r>
              <a:rPr sz="3200" spc="73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Windows</a:t>
            </a:r>
            <a:r>
              <a:rPr sz="3200" spc="73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Server,</a:t>
            </a:r>
            <a:r>
              <a:rPr sz="3200" spc="73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Linux</a:t>
            </a:r>
            <a:r>
              <a:rPr sz="3200" spc="725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(Ubuntu 	Server,</a:t>
            </a:r>
            <a:r>
              <a:rPr sz="3200" spc="-9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Red</a:t>
            </a:r>
            <a:r>
              <a:rPr sz="3200" spc="-5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Hat),</a:t>
            </a:r>
            <a:r>
              <a:rPr sz="3200" spc="-6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Cisco</a:t>
            </a:r>
            <a:r>
              <a:rPr sz="3200" spc="-55" dirty="0">
                <a:latin typeface="Arial"/>
                <a:cs typeface="Arial"/>
              </a:rPr>
              <a:t> </a:t>
            </a:r>
            <a:r>
              <a:rPr sz="3200" spc="-20" dirty="0">
                <a:latin typeface="Arial"/>
                <a:cs typeface="Arial"/>
              </a:rPr>
              <a:t>IOS.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0170">
              <a:lnSpc>
                <a:spcPts val="1240"/>
              </a:lnSpc>
            </a:pPr>
            <a:fld id="{81D60167-4931-47E6-BA6A-407CBD079E47}" type="slidenum">
              <a:rPr spc="-50" dirty="0"/>
              <a:t>3</a:t>
            </a:fld>
            <a:endParaRPr spc="-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83795" rIns="0" bIns="0" rtlCol="0">
            <a:spAutoFit/>
          </a:bodyPr>
          <a:lstStyle/>
          <a:p>
            <a:pPr marL="723900">
              <a:lnSpc>
                <a:spcPct val="100000"/>
              </a:lnSpc>
              <a:spcBef>
                <a:spcPts val="100"/>
              </a:spcBef>
            </a:pPr>
            <a:r>
              <a:rPr dirty="0"/>
              <a:t>NOS</a:t>
            </a:r>
            <a:r>
              <a:rPr spc="-114" dirty="0"/>
              <a:t> </a:t>
            </a:r>
            <a:r>
              <a:rPr dirty="0"/>
              <a:t>vs.</a:t>
            </a:r>
            <a:r>
              <a:rPr spc="-60" dirty="0"/>
              <a:t> </a:t>
            </a:r>
            <a:r>
              <a:rPr dirty="0"/>
              <a:t>Standalone</a:t>
            </a:r>
            <a:r>
              <a:rPr spc="-50" dirty="0"/>
              <a:t> </a:t>
            </a:r>
            <a:r>
              <a:rPr spc="-25" dirty="0"/>
              <a:t>OS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40827" y="1767391"/>
            <a:ext cx="2317750" cy="1397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5080" indent="-342900">
              <a:lnSpc>
                <a:spcPct val="150000"/>
              </a:lnSpc>
              <a:spcBef>
                <a:spcPts val="100"/>
              </a:spcBef>
              <a:buChar char="•"/>
              <a:tabLst>
                <a:tab pos="354965" algn="l"/>
                <a:tab pos="1669414" algn="l"/>
                <a:tab pos="1953895" algn="l"/>
              </a:tabLst>
            </a:pPr>
            <a:r>
              <a:rPr sz="3000" dirty="0">
                <a:latin typeface="Arial"/>
                <a:cs typeface="Arial"/>
              </a:rPr>
              <a:t>A</a:t>
            </a:r>
            <a:r>
              <a:rPr sz="3000" spc="140" dirty="0">
                <a:latin typeface="Arial"/>
                <a:cs typeface="Arial"/>
              </a:rPr>
              <a:t>  </a:t>
            </a:r>
            <a:r>
              <a:rPr sz="3000" b="1" spc="-25" dirty="0">
                <a:latin typeface="Arial"/>
                <a:cs typeface="Arial"/>
              </a:rPr>
              <a:t>NOS</a:t>
            </a:r>
            <a:r>
              <a:rPr sz="3000" b="1" dirty="0">
                <a:latin typeface="Arial"/>
                <a:cs typeface="Arial"/>
              </a:rPr>
              <a:t>	</a:t>
            </a:r>
            <a:r>
              <a:rPr sz="3000" spc="-25" dirty="0">
                <a:latin typeface="Arial"/>
                <a:cs typeface="Arial"/>
              </a:rPr>
              <a:t>is </a:t>
            </a:r>
            <a:r>
              <a:rPr sz="3000" spc="-10" dirty="0">
                <a:latin typeface="Arial"/>
                <a:cs typeface="Arial"/>
              </a:rPr>
              <a:t>users</a:t>
            </a:r>
            <a:r>
              <a:rPr sz="3000" dirty="0">
                <a:latin typeface="Arial"/>
                <a:cs typeface="Arial"/>
              </a:rPr>
              <a:t>	</a:t>
            </a:r>
            <a:r>
              <a:rPr sz="3000" spc="-25" dirty="0">
                <a:latin typeface="Arial"/>
                <a:cs typeface="Arial"/>
              </a:rPr>
              <a:t>and</a:t>
            </a:r>
            <a:endParaRPr sz="3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327113" y="1767391"/>
            <a:ext cx="5890260" cy="1397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0660" marR="5080" indent="-188595">
              <a:lnSpc>
                <a:spcPct val="150000"/>
              </a:lnSpc>
              <a:spcBef>
                <a:spcPts val="100"/>
              </a:spcBef>
              <a:tabLst>
                <a:tab pos="1913255" algn="l"/>
                <a:tab pos="2625725" algn="l"/>
                <a:tab pos="4075429" algn="l"/>
                <a:tab pos="4565015" algn="l"/>
                <a:tab pos="5687060" algn="l"/>
              </a:tabLst>
            </a:pPr>
            <a:r>
              <a:rPr sz="3000" spc="-10" dirty="0">
                <a:latin typeface="Arial"/>
                <a:cs typeface="Arial"/>
              </a:rPr>
              <a:t>optimized</a:t>
            </a:r>
            <a:r>
              <a:rPr sz="3000" dirty="0">
                <a:latin typeface="Arial"/>
                <a:cs typeface="Arial"/>
              </a:rPr>
              <a:t>	</a:t>
            </a:r>
            <a:r>
              <a:rPr sz="3000" spc="-25" dirty="0">
                <a:latin typeface="Arial"/>
                <a:cs typeface="Arial"/>
              </a:rPr>
              <a:t>for</a:t>
            </a:r>
            <a:r>
              <a:rPr sz="3000" dirty="0">
                <a:latin typeface="Arial"/>
                <a:cs typeface="Arial"/>
              </a:rPr>
              <a:t>	</a:t>
            </a:r>
            <a:r>
              <a:rPr sz="3000" spc="-10" dirty="0">
                <a:latin typeface="Arial"/>
                <a:cs typeface="Arial"/>
              </a:rPr>
              <a:t>managing</a:t>
            </a:r>
            <a:r>
              <a:rPr sz="3000" dirty="0">
                <a:latin typeface="Arial"/>
                <a:cs typeface="Arial"/>
              </a:rPr>
              <a:t>	</a:t>
            </a:r>
            <a:r>
              <a:rPr sz="3000" spc="-10" dirty="0">
                <a:latin typeface="Arial"/>
                <a:cs typeface="Arial"/>
              </a:rPr>
              <a:t>multiple network</a:t>
            </a:r>
            <a:r>
              <a:rPr sz="3000" dirty="0">
                <a:latin typeface="Arial"/>
                <a:cs typeface="Arial"/>
              </a:rPr>
              <a:t>	</a:t>
            </a:r>
            <a:r>
              <a:rPr sz="3000" spc="-830" dirty="0">
                <a:latin typeface="Arial"/>
                <a:cs typeface="Arial"/>
              </a:rPr>
              <a:t> </a:t>
            </a:r>
            <a:r>
              <a:rPr sz="3000" spc="-10" dirty="0">
                <a:latin typeface="Arial"/>
                <a:cs typeface="Arial"/>
              </a:rPr>
              <a:t>resources,</a:t>
            </a:r>
            <a:r>
              <a:rPr sz="3000" dirty="0">
                <a:latin typeface="Arial"/>
                <a:cs typeface="Arial"/>
              </a:rPr>
              <a:t>	</a:t>
            </a:r>
            <a:r>
              <a:rPr sz="3000" spc="-10" dirty="0">
                <a:latin typeface="Arial"/>
                <a:cs typeface="Arial"/>
              </a:rPr>
              <a:t>making</a:t>
            </a:r>
            <a:r>
              <a:rPr sz="3000" dirty="0">
                <a:latin typeface="Arial"/>
                <a:cs typeface="Arial"/>
              </a:rPr>
              <a:t>	</a:t>
            </a:r>
            <a:r>
              <a:rPr sz="3000" spc="-25" dirty="0">
                <a:latin typeface="Arial"/>
                <a:cs typeface="Arial"/>
              </a:rPr>
              <a:t>it</a:t>
            </a:r>
            <a:endParaRPr sz="3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83584" y="3146391"/>
            <a:ext cx="8032750" cy="2121535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 marR="5080" algn="just">
              <a:lnSpc>
                <a:spcPct val="150000"/>
              </a:lnSpc>
              <a:spcBef>
                <a:spcPts val="40"/>
              </a:spcBef>
            </a:pPr>
            <a:r>
              <a:rPr sz="3000" dirty="0">
                <a:latin typeface="Arial"/>
                <a:cs typeface="Arial"/>
              </a:rPr>
              <a:t>essential</a:t>
            </a:r>
            <a:r>
              <a:rPr sz="3000" spc="180" dirty="0">
                <a:latin typeface="Arial"/>
                <a:cs typeface="Arial"/>
              </a:rPr>
              <a:t>  </a:t>
            </a:r>
            <a:r>
              <a:rPr sz="3000" dirty="0">
                <a:latin typeface="Arial"/>
                <a:cs typeface="Arial"/>
              </a:rPr>
              <a:t>for</a:t>
            </a:r>
            <a:r>
              <a:rPr sz="3000" spc="200" dirty="0">
                <a:latin typeface="Arial"/>
                <a:cs typeface="Arial"/>
              </a:rPr>
              <a:t>  </a:t>
            </a:r>
            <a:r>
              <a:rPr sz="3000" dirty="0">
                <a:latin typeface="Arial"/>
                <a:cs typeface="Arial"/>
              </a:rPr>
              <a:t>businesses,</a:t>
            </a:r>
            <a:r>
              <a:rPr sz="3000" spc="185" dirty="0">
                <a:latin typeface="Arial"/>
                <a:cs typeface="Arial"/>
              </a:rPr>
              <a:t>  </a:t>
            </a:r>
            <a:r>
              <a:rPr sz="3000" dirty="0">
                <a:latin typeface="Arial"/>
                <a:cs typeface="Arial"/>
              </a:rPr>
              <a:t>data</a:t>
            </a:r>
            <a:r>
              <a:rPr sz="3000" spc="190" dirty="0">
                <a:latin typeface="Arial"/>
                <a:cs typeface="Arial"/>
              </a:rPr>
              <a:t>  </a:t>
            </a:r>
            <a:r>
              <a:rPr sz="3000" dirty="0">
                <a:latin typeface="Arial"/>
                <a:cs typeface="Arial"/>
              </a:rPr>
              <a:t>centers,</a:t>
            </a:r>
            <a:r>
              <a:rPr sz="3000" spc="190" dirty="0">
                <a:latin typeface="Arial"/>
                <a:cs typeface="Arial"/>
              </a:rPr>
              <a:t>  </a:t>
            </a:r>
            <a:r>
              <a:rPr sz="3000" spc="-25" dirty="0">
                <a:latin typeface="Arial"/>
                <a:cs typeface="Arial"/>
              </a:rPr>
              <a:t>and </a:t>
            </a:r>
            <a:r>
              <a:rPr sz="3200" dirty="0">
                <a:latin typeface="Arial"/>
                <a:cs typeface="Arial"/>
              </a:rPr>
              <a:t>enterprise</a:t>
            </a:r>
            <a:r>
              <a:rPr sz="3200" spc="-20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environments,</a:t>
            </a:r>
            <a:r>
              <a:rPr sz="3000" spc="60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whereas</a:t>
            </a:r>
            <a:r>
              <a:rPr sz="3000" spc="55" dirty="0">
                <a:latin typeface="Arial"/>
                <a:cs typeface="Arial"/>
              </a:rPr>
              <a:t> </a:t>
            </a:r>
            <a:r>
              <a:rPr sz="3000" b="1" spc="-10" dirty="0">
                <a:latin typeface="Arial"/>
                <a:cs typeface="Arial"/>
              </a:rPr>
              <a:t>standalone </a:t>
            </a:r>
            <a:r>
              <a:rPr sz="3000" dirty="0">
                <a:latin typeface="Arial"/>
                <a:cs typeface="Arial"/>
              </a:rPr>
              <a:t>OS</a:t>
            </a:r>
            <a:r>
              <a:rPr sz="3000" spc="-40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are</a:t>
            </a:r>
            <a:r>
              <a:rPr sz="3000" spc="-35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better suited</a:t>
            </a:r>
            <a:r>
              <a:rPr sz="3000" spc="-35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for</a:t>
            </a:r>
            <a:r>
              <a:rPr sz="3000" spc="-30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personal</a:t>
            </a:r>
            <a:r>
              <a:rPr sz="3000" spc="-50" dirty="0">
                <a:latin typeface="Arial"/>
                <a:cs typeface="Arial"/>
              </a:rPr>
              <a:t> </a:t>
            </a:r>
            <a:r>
              <a:rPr sz="3000" spc="-10" dirty="0">
                <a:latin typeface="Arial"/>
                <a:cs typeface="Arial"/>
              </a:rPr>
              <a:t>computing.</a:t>
            </a:r>
            <a:endParaRPr sz="30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0170">
              <a:lnSpc>
                <a:spcPts val="1240"/>
              </a:lnSpc>
            </a:pPr>
            <a:fld id="{81D60167-4931-47E6-BA6A-407CBD079E47}" type="slidenum">
              <a:rPr spc="-50" dirty="0"/>
              <a:t>4</a:t>
            </a:fld>
            <a:endParaRPr spc="-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01468" rIns="0" bIns="0" rtlCol="0">
            <a:spAutoFit/>
          </a:bodyPr>
          <a:lstStyle/>
          <a:p>
            <a:pPr marL="167640">
              <a:lnSpc>
                <a:spcPct val="100000"/>
              </a:lnSpc>
              <a:spcBef>
                <a:spcPts val="95"/>
              </a:spcBef>
            </a:pPr>
            <a:r>
              <a:rPr sz="4000" dirty="0"/>
              <a:t>NOS</a:t>
            </a:r>
            <a:r>
              <a:rPr sz="4000" spc="-85" dirty="0"/>
              <a:t> </a:t>
            </a:r>
            <a:r>
              <a:rPr sz="4000" dirty="0"/>
              <a:t>vs.</a:t>
            </a:r>
            <a:r>
              <a:rPr sz="4000" spc="-85" dirty="0"/>
              <a:t> </a:t>
            </a:r>
            <a:r>
              <a:rPr sz="4000" dirty="0"/>
              <a:t>Standalone</a:t>
            </a:r>
            <a:r>
              <a:rPr sz="4000" spc="-40" dirty="0"/>
              <a:t> </a:t>
            </a:r>
            <a:r>
              <a:rPr sz="4000" dirty="0"/>
              <a:t>OS</a:t>
            </a:r>
            <a:r>
              <a:rPr sz="4000" spc="-85" dirty="0"/>
              <a:t> </a:t>
            </a:r>
            <a:r>
              <a:rPr sz="4000" spc="-10" dirty="0"/>
              <a:t>(cont.)</a:t>
            </a:r>
            <a:endParaRPr sz="4000"/>
          </a:p>
        </p:txBody>
      </p:sp>
      <p:sp>
        <p:nvSpPr>
          <p:cNvPr id="3" name="object 3"/>
          <p:cNvSpPr/>
          <p:nvPr/>
        </p:nvSpPr>
        <p:spPr>
          <a:xfrm>
            <a:off x="457200" y="3886200"/>
            <a:ext cx="9144000" cy="3429000"/>
          </a:xfrm>
          <a:custGeom>
            <a:avLst/>
            <a:gdLst/>
            <a:ahLst/>
            <a:cxnLst/>
            <a:rect l="l" t="t" r="r" b="b"/>
            <a:pathLst>
              <a:path w="9144000" h="3429000">
                <a:moveTo>
                  <a:pt x="9144000" y="3429000"/>
                </a:moveTo>
                <a:lnTo>
                  <a:pt x="0" y="3429000"/>
                </a:lnTo>
                <a:lnTo>
                  <a:pt x="0" y="0"/>
                </a:lnTo>
                <a:lnTo>
                  <a:pt x="9144000" y="0"/>
                </a:lnTo>
                <a:lnTo>
                  <a:pt x="9144000" y="34290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908304" y="2051304"/>
          <a:ext cx="8319770" cy="36855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33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95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Feature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0BC"/>
                    </a:solidFill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Standalone</a:t>
                      </a:r>
                      <a:r>
                        <a:rPr sz="2000" b="1" spc="-10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0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OS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0BC"/>
                    </a:solidFill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Network</a:t>
                      </a:r>
                      <a:r>
                        <a:rPr sz="2000" b="1" spc="-9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0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OS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0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325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User</a:t>
                      </a:r>
                      <a:r>
                        <a:rPr sz="2400" spc="-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spc="-20" dirty="0">
                          <a:latin typeface="Arial"/>
                          <a:cs typeface="Arial"/>
                        </a:rPr>
                        <a:t>Focus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68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FD8E8"/>
                    </a:solidFill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Single</a:t>
                      </a:r>
                      <a:r>
                        <a:rPr sz="2400" spc="-7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spc="-20" dirty="0">
                          <a:latin typeface="Arial"/>
                          <a:cs typeface="Arial"/>
                        </a:rPr>
                        <a:t>user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68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FD8E8"/>
                    </a:solidFill>
                  </a:tcPr>
                </a:tc>
                <a:tc>
                  <a:txBody>
                    <a:bodyPr/>
                    <a:lstStyle/>
                    <a:p>
                      <a:pPr marL="90170" marR="8667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400" spc="-10" dirty="0">
                          <a:latin typeface="Arial"/>
                          <a:cs typeface="Arial"/>
                        </a:rPr>
                        <a:t>Multi-user,</a:t>
                      </a:r>
                      <a:r>
                        <a:rPr sz="2400" spc="-1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spc="-10" dirty="0">
                          <a:latin typeface="Arial"/>
                          <a:cs typeface="Arial"/>
                        </a:rPr>
                        <a:t>multi-device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68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F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8330">
                <a:tc>
                  <a:txBody>
                    <a:bodyPr/>
                    <a:lstStyle/>
                    <a:p>
                      <a:pPr marL="90170" marR="255904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2400" spc="-10" dirty="0">
                          <a:latin typeface="Arial"/>
                          <a:cs typeface="Arial"/>
                        </a:rPr>
                        <a:t>Resource Management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Local</a:t>
                      </a:r>
                      <a:r>
                        <a:rPr sz="2400" spc="-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spc="-10" dirty="0">
                          <a:latin typeface="Arial"/>
                          <a:cs typeface="Arial"/>
                        </a:rPr>
                        <a:t>resources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68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Network</a:t>
                      </a:r>
                      <a:r>
                        <a:rPr sz="2400" spc="-7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spc="-10" dirty="0">
                          <a:latin typeface="Arial"/>
                          <a:cs typeface="Arial"/>
                        </a:rPr>
                        <a:t>resources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68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solidFill>
                      <a:srgbClr val="E8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3995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8EDF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2325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400" spc="-10" dirty="0">
                          <a:latin typeface="Arial"/>
                          <a:cs typeface="Arial"/>
                        </a:rPr>
                        <a:t>Security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FD8E8"/>
                    </a:solidFill>
                  </a:tcPr>
                </a:tc>
                <a:tc>
                  <a:txBody>
                    <a:bodyPr/>
                    <a:lstStyle/>
                    <a:p>
                      <a:pPr marL="90170" marR="934719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Local</a:t>
                      </a:r>
                      <a:r>
                        <a:rPr sz="2400" spc="-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spc="-10" dirty="0">
                          <a:latin typeface="Arial"/>
                          <a:cs typeface="Arial"/>
                        </a:rPr>
                        <a:t>security policies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FD8E8"/>
                    </a:solidFill>
                  </a:tcPr>
                </a:tc>
                <a:tc>
                  <a:txBody>
                    <a:bodyPr/>
                    <a:lstStyle/>
                    <a:p>
                      <a:pPr marL="90170" marR="422909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Centralized</a:t>
                      </a:r>
                      <a:r>
                        <a:rPr sz="2400" spc="-1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spc="-10" dirty="0">
                          <a:latin typeface="Arial"/>
                          <a:cs typeface="Arial"/>
                        </a:rPr>
                        <a:t>security policies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F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400" spc="-10" dirty="0">
                          <a:latin typeface="Arial"/>
                          <a:cs typeface="Arial"/>
                        </a:rPr>
                        <a:t>Examples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6830" marB="0"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pPr marL="90170" marR="107569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Windows</a:t>
                      </a:r>
                      <a:r>
                        <a:rPr sz="2400" spc="-9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spc="-55" dirty="0">
                          <a:latin typeface="Arial"/>
                          <a:cs typeface="Arial"/>
                        </a:rPr>
                        <a:t>11, </a:t>
                      </a:r>
                      <a:r>
                        <a:rPr sz="2400" spc="-10" dirty="0">
                          <a:latin typeface="Arial"/>
                          <a:cs typeface="Arial"/>
                        </a:rPr>
                        <a:t>macOS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6830" marB="0"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8EDF4"/>
                    </a:solidFill>
                  </a:tcPr>
                </a:tc>
                <a:tc>
                  <a:txBody>
                    <a:bodyPr/>
                    <a:lstStyle/>
                    <a:p>
                      <a:pPr marL="90170" marR="81343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Windows</a:t>
                      </a:r>
                      <a:r>
                        <a:rPr sz="2400" spc="-9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spc="-20" dirty="0">
                          <a:latin typeface="Arial"/>
                          <a:cs typeface="Arial"/>
                        </a:rPr>
                        <a:t>Server, </a:t>
                      </a:r>
                      <a:r>
                        <a:rPr sz="2400" dirty="0">
                          <a:latin typeface="Arial"/>
                          <a:cs typeface="Arial"/>
                        </a:rPr>
                        <a:t>Linux</a:t>
                      </a:r>
                      <a:r>
                        <a:rPr sz="2400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spc="-10" dirty="0">
                          <a:latin typeface="Arial"/>
                          <a:cs typeface="Arial"/>
                        </a:rPr>
                        <a:t>Server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6830" marB="0"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8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0170">
              <a:lnSpc>
                <a:spcPts val="1240"/>
              </a:lnSpc>
            </a:pPr>
            <a:fld id="{81D60167-4931-47E6-BA6A-407CBD079E47}" type="slidenum">
              <a:rPr spc="-50" dirty="0"/>
              <a:t>5</a:t>
            </a:fld>
            <a:endParaRPr spc="-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83795" rIns="0" bIns="0" rtlCol="0">
            <a:spAutoFit/>
          </a:bodyPr>
          <a:lstStyle/>
          <a:p>
            <a:pPr marL="913130">
              <a:lnSpc>
                <a:spcPct val="100000"/>
              </a:lnSpc>
              <a:spcBef>
                <a:spcPts val="100"/>
              </a:spcBef>
            </a:pPr>
            <a:r>
              <a:rPr dirty="0"/>
              <a:t>Key</a:t>
            </a:r>
            <a:r>
              <a:rPr spc="-65" dirty="0"/>
              <a:t> </a:t>
            </a:r>
            <a:r>
              <a:rPr dirty="0"/>
              <a:t>Functions</a:t>
            </a:r>
            <a:r>
              <a:rPr spc="-65" dirty="0"/>
              <a:t> </a:t>
            </a:r>
            <a:r>
              <a:rPr dirty="0"/>
              <a:t>of</a:t>
            </a:r>
            <a:r>
              <a:rPr spc="-50" dirty="0"/>
              <a:t> </a:t>
            </a:r>
            <a:r>
              <a:rPr spc="-25" dirty="0"/>
              <a:t>NOS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3045" y="1814609"/>
            <a:ext cx="7031990" cy="4415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4965" algn="l"/>
              </a:tabLst>
            </a:pPr>
            <a:r>
              <a:rPr sz="3200" dirty="0">
                <a:latin typeface="Calibri"/>
                <a:cs typeface="Calibri"/>
              </a:rPr>
              <a:t>Network</a:t>
            </a:r>
            <a:r>
              <a:rPr sz="3200" spc="-1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Resource</a:t>
            </a:r>
            <a:r>
              <a:rPr sz="3200" spc="-12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Management</a:t>
            </a:r>
            <a:endParaRPr sz="32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2305"/>
              </a:spcBef>
              <a:buFont typeface="Arial"/>
              <a:buChar char="•"/>
              <a:tabLst>
                <a:tab pos="354965" algn="l"/>
              </a:tabLst>
            </a:pPr>
            <a:r>
              <a:rPr sz="3200" spc="-20" dirty="0">
                <a:latin typeface="Calibri"/>
                <a:cs typeface="Calibri"/>
              </a:rPr>
              <a:t>Multi-</a:t>
            </a:r>
            <a:r>
              <a:rPr sz="3200" dirty="0">
                <a:latin typeface="Calibri"/>
                <a:cs typeface="Calibri"/>
              </a:rPr>
              <a:t>user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Access</a:t>
            </a:r>
            <a:r>
              <a:rPr sz="3200" spc="-2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&amp;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Authentication</a:t>
            </a:r>
            <a:endParaRPr sz="32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2305"/>
              </a:spcBef>
              <a:buFont typeface="Arial"/>
              <a:buChar char="•"/>
              <a:tabLst>
                <a:tab pos="354965" algn="l"/>
              </a:tabLst>
            </a:pPr>
            <a:r>
              <a:rPr sz="3200" dirty="0">
                <a:latin typeface="Calibri"/>
                <a:cs typeface="Calibri"/>
              </a:rPr>
              <a:t>Security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&amp;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Data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Protection</a:t>
            </a:r>
            <a:endParaRPr sz="32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2305"/>
              </a:spcBef>
              <a:buFont typeface="Arial"/>
              <a:buChar char="•"/>
              <a:tabLst>
                <a:tab pos="354965" algn="l"/>
              </a:tabLst>
            </a:pPr>
            <a:r>
              <a:rPr sz="3200" dirty="0">
                <a:latin typeface="Calibri"/>
                <a:cs typeface="Calibri"/>
              </a:rPr>
              <a:t>Remote</a:t>
            </a:r>
            <a:r>
              <a:rPr sz="3200" spc="-17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Access</a:t>
            </a:r>
            <a:endParaRPr sz="32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2305"/>
              </a:spcBef>
              <a:buFont typeface="Arial"/>
              <a:buChar char="•"/>
              <a:tabLst>
                <a:tab pos="354965" algn="l"/>
              </a:tabLst>
            </a:pPr>
            <a:r>
              <a:rPr sz="3200" dirty="0">
                <a:latin typeface="Calibri"/>
                <a:cs typeface="Calibri"/>
              </a:rPr>
              <a:t>Network</a:t>
            </a:r>
            <a:r>
              <a:rPr sz="3200" spc="-14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Communication</a:t>
            </a:r>
            <a:r>
              <a:rPr sz="3200" spc="-2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&amp;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Routing</a:t>
            </a:r>
            <a:endParaRPr sz="32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2300"/>
              </a:spcBef>
              <a:buFont typeface="Arial"/>
              <a:buChar char="•"/>
              <a:tabLst>
                <a:tab pos="354965" algn="l"/>
              </a:tabLst>
            </a:pPr>
            <a:r>
              <a:rPr sz="3200" spc="-10" dirty="0">
                <a:latin typeface="Calibri"/>
                <a:cs typeface="Calibri"/>
              </a:rPr>
              <a:t>Performance</a:t>
            </a:r>
            <a:r>
              <a:rPr sz="3200" spc="-1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Monitoring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&amp;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Optimization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0170">
              <a:lnSpc>
                <a:spcPts val="1240"/>
              </a:lnSpc>
            </a:pPr>
            <a:fld id="{81D60167-4931-47E6-BA6A-407CBD079E47}" type="slidenum">
              <a:rPr spc="-50" dirty="0"/>
              <a:t>6</a:t>
            </a:fld>
            <a:endParaRPr spc="-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83795" rIns="0" bIns="0" rtlCol="0">
            <a:spAutoFit/>
          </a:bodyPr>
          <a:lstStyle/>
          <a:p>
            <a:pPr marL="958850">
              <a:lnSpc>
                <a:spcPct val="100000"/>
              </a:lnSpc>
              <a:spcBef>
                <a:spcPts val="100"/>
              </a:spcBef>
            </a:pPr>
            <a:r>
              <a:rPr dirty="0"/>
              <a:t>Architecture</a:t>
            </a:r>
            <a:r>
              <a:rPr spc="-85" dirty="0"/>
              <a:t> </a:t>
            </a:r>
            <a:r>
              <a:rPr dirty="0"/>
              <a:t>of</a:t>
            </a:r>
            <a:r>
              <a:rPr spc="-65" dirty="0"/>
              <a:t> </a:t>
            </a:r>
            <a:r>
              <a:rPr dirty="0"/>
              <a:t>a</a:t>
            </a:r>
            <a:r>
              <a:rPr spc="-35" dirty="0"/>
              <a:t> </a:t>
            </a:r>
            <a:r>
              <a:rPr spc="-25" dirty="0"/>
              <a:t>NOS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3045" y="1989174"/>
            <a:ext cx="8071484" cy="30492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3060" marR="5080" indent="-340995">
              <a:lnSpc>
                <a:spcPct val="150000"/>
              </a:lnSpc>
              <a:spcBef>
                <a:spcPts val="95"/>
              </a:spcBef>
              <a:buChar char="•"/>
              <a:tabLst>
                <a:tab pos="355600" algn="l"/>
                <a:tab pos="3007360" algn="l"/>
                <a:tab pos="6840220" algn="l"/>
              </a:tabLst>
            </a:pPr>
            <a:r>
              <a:rPr sz="3200" spc="-10" dirty="0">
                <a:latin typeface="Arial"/>
                <a:cs typeface="Arial"/>
              </a:rPr>
              <a:t>Client-Server</a:t>
            </a:r>
            <a:r>
              <a:rPr sz="3200" dirty="0">
                <a:latin typeface="Arial"/>
                <a:cs typeface="Arial"/>
              </a:rPr>
              <a:t>	Model:</a:t>
            </a:r>
            <a:r>
              <a:rPr sz="3200" spc="185" dirty="0">
                <a:latin typeface="Arial"/>
                <a:cs typeface="Arial"/>
              </a:rPr>
              <a:t>  </a:t>
            </a:r>
            <a:r>
              <a:rPr sz="3200" spc="-10" dirty="0">
                <a:latin typeface="Arial"/>
                <a:cs typeface="Arial"/>
              </a:rPr>
              <a:t>Centralized</a:t>
            </a:r>
            <a:r>
              <a:rPr sz="3200" dirty="0">
                <a:latin typeface="Arial"/>
                <a:cs typeface="Arial"/>
              </a:rPr>
              <a:t>	</a:t>
            </a:r>
            <a:r>
              <a:rPr sz="3200" spc="-10" dirty="0">
                <a:latin typeface="Arial"/>
                <a:cs typeface="Arial"/>
              </a:rPr>
              <a:t>control 	</a:t>
            </a:r>
            <a:r>
              <a:rPr sz="3200" dirty="0">
                <a:latin typeface="Arial"/>
                <a:cs typeface="Arial"/>
              </a:rPr>
              <a:t>with</a:t>
            </a:r>
            <a:r>
              <a:rPr sz="3200" spc="-5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client</a:t>
            </a:r>
            <a:r>
              <a:rPr sz="3200" spc="-20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machines.</a:t>
            </a:r>
            <a:endParaRPr sz="3200">
              <a:latin typeface="Arial"/>
              <a:cs typeface="Arial"/>
            </a:endParaRPr>
          </a:p>
          <a:p>
            <a:pPr marL="354330" marR="5080" indent="-342265">
              <a:lnSpc>
                <a:spcPct val="150000"/>
              </a:lnSpc>
              <a:spcBef>
                <a:spcPts val="770"/>
              </a:spcBef>
              <a:buChar char="•"/>
              <a:tabLst>
                <a:tab pos="355600" algn="l"/>
                <a:tab pos="2997835" algn="l"/>
                <a:tab pos="4533900" algn="l"/>
                <a:tab pos="7335520" algn="l"/>
              </a:tabLst>
            </a:pPr>
            <a:r>
              <a:rPr sz="3200" spc="-10" dirty="0">
                <a:latin typeface="Arial"/>
                <a:cs typeface="Arial"/>
              </a:rPr>
              <a:t>Peer-</a:t>
            </a:r>
            <a:r>
              <a:rPr sz="3200" spc="-20" dirty="0">
                <a:latin typeface="Arial"/>
                <a:cs typeface="Arial"/>
              </a:rPr>
              <a:t>to-Peer</a:t>
            </a:r>
            <a:r>
              <a:rPr sz="3200" dirty="0">
                <a:latin typeface="Arial"/>
                <a:cs typeface="Arial"/>
              </a:rPr>
              <a:t>	</a:t>
            </a:r>
            <a:r>
              <a:rPr sz="3200" spc="-10" dirty="0">
                <a:latin typeface="Arial"/>
                <a:cs typeface="Arial"/>
              </a:rPr>
              <a:t>Model:</a:t>
            </a:r>
            <a:r>
              <a:rPr sz="3200" dirty="0">
                <a:latin typeface="Arial"/>
                <a:cs typeface="Arial"/>
              </a:rPr>
              <a:t>	</a:t>
            </a:r>
            <a:r>
              <a:rPr sz="3200" spc="-10" dirty="0">
                <a:latin typeface="Arial"/>
                <a:cs typeface="Arial"/>
              </a:rPr>
              <a:t>Decentralized</a:t>
            </a:r>
            <a:r>
              <a:rPr sz="3200" dirty="0">
                <a:latin typeface="Arial"/>
                <a:cs typeface="Arial"/>
              </a:rPr>
              <a:t>	</a:t>
            </a:r>
            <a:r>
              <a:rPr sz="3200" spc="-20" dirty="0">
                <a:latin typeface="Arial"/>
                <a:cs typeface="Arial"/>
              </a:rPr>
              <a:t>with 	</a:t>
            </a:r>
            <a:r>
              <a:rPr sz="3200" dirty="0">
                <a:latin typeface="Arial"/>
                <a:cs typeface="Arial"/>
              </a:rPr>
              <a:t>equal</a:t>
            </a:r>
            <a:r>
              <a:rPr sz="3200" spc="-65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devices.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0170">
              <a:lnSpc>
                <a:spcPts val="1240"/>
              </a:lnSpc>
            </a:pPr>
            <a:fld id="{81D60167-4931-47E6-BA6A-407CBD079E47}" type="slidenum">
              <a:rPr spc="-50" dirty="0"/>
              <a:t>7</a:t>
            </a:fld>
            <a:endParaRPr spc="-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83795" rIns="0" bIns="0" rtlCol="0">
            <a:spAutoFit/>
          </a:bodyPr>
          <a:lstStyle/>
          <a:p>
            <a:pPr marL="123761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Client-</a:t>
            </a:r>
            <a:r>
              <a:rPr dirty="0"/>
              <a:t>Server</a:t>
            </a:r>
            <a:r>
              <a:rPr spc="-130" dirty="0"/>
              <a:t> </a:t>
            </a:r>
            <a:r>
              <a:rPr spc="-10" dirty="0"/>
              <a:t>Model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648967" y="2039112"/>
            <a:ext cx="6762115" cy="4563110"/>
            <a:chOff x="1648967" y="2039112"/>
            <a:chExt cx="6762115" cy="456311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87067" y="2077212"/>
              <a:ext cx="6685787" cy="180898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48967" y="2039112"/>
              <a:ext cx="6761988" cy="1847088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648967" y="2039112"/>
              <a:ext cx="6762115" cy="1847214"/>
            </a:xfrm>
            <a:custGeom>
              <a:avLst/>
              <a:gdLst/>
              <a:ahLst/>
              <a:cxnLst/>
              <a:rect l="l" t="t" r="r" b="b"/>
              <a:pathLst>
                <a:path w="6762115" h="1847214">
                  <a:moveTo>
                    <a:pt x="38100" y="1847088"/>
                  </a:moveTo>
                  <a:lnTo>
                    <a:pt x="0" y="1847088"/>
                  </a:lnTo>
                  <a:lnTo>
                    <a:pt x="0" y="0"/>
                  </a:lnTo>
                  <a:lnTo>
                    <a:pt x="6761988" y="0"/>
                  </a:lnTo>
                  <a:lnTo>
                    <a:pt x="6761988" y="19812"/>
                  </a:lnTo>
                  <a:lnTo>
                    <a:pt x="38100" y="19812"/>
                  </a:lnTo>
                  <a:lnTo>
                    <a:pt x="18288" y="38100"/>
                  </a:lnTo>
                  <a:lnTo>
                    <a:pt x="38100" y="38100"/>
                  </a:lnTo>
                  <a:lnTo>
                    <a:pt x="38100" y="1847088"/>
                  </a:lnTo>
                  <a:close/>
                </a:path>
                <a:path w="6762115" h="1847214">
                  <a:moveTo>
                    <a:pt x="38100" y="38100"/>
                  </a:moveTo>
                  <a:lnTo>
                    <a:pt x="18288" y="38100"/>
                  </a:lnTo>
                  <a:lnTo>
                    <a:pt x="38100" y="19812"/>
                  </a:lnTo>
                  <a:lnTo>
                    <a:pt x="38100" y="38100"/>
                  </a:lnTo>
                  <a:close/>
                </a:path>
                <a:path w="6762115" h="1847214">
                  <a:moveTo>
                    <a:pt x="6723888" y="38100"/>
                  </a:moveTo>
                  <a:lnTo>
                    <a:pt x="38100" y="38100"/>
                  </a:lnTo>
                  <a:lnTo>
                    <a:pt x="38100" y="19812"/>
                  </a:lnTo>
                  <a:lnTo>
                    <a:pt x="6723888" y="19812"/>
                  </a:lnTo>
                  <a:lnTo>
                    <a:pt x="6723888" y="38100"/>
                  </a:lnTo>
                  <a:close/>
                </a:path>
                <a:path w="6762115" h="1847214">
                  <a:moveTo>
                    <a:pt x="6761988" y="1847088"/>
                  </a:moveTo>
                  <a:lnTo>
                    <a:pt x="6723888" y="1847088"/>
                  </a:lnTo>
                  <a:lnTo>
                    <a:pt x="6723888" y="19812"/>
                  </a:lnTo>
                  <a:lnTo>
                    <a:pt x="6743700" y="38100"/>
                  </a:lnTo>
                  <a:lnTo>
                    <a:pt x="6761988" y="38100"/>
                  </a:lnTo>
                  <a:lnTo>
                    <a:pt x="6761988" y="1847088"/>
                  </a:lnTo>
                  <a:close/>
                </a:path>
                <a:path w="6762115" h="1847214">
                  <a:moveTo>
                    <a:pt x="6761988" y="38100"/>
                  </a:moveTo>
                  <a:lnTo>
                    <a:pt x="6743700" y="38100"/>
                  </a:lnTo>
                  <a:lnTo>
                    <a:pt x="6723888" y="19812"/>
                  </a:lnTo>
                  <a:lnTo>
                    <a:pt x="6761988" y="19812"/>
                  </a:lnTo>
                  <a:lnTo>
                    <a:pt x="6761988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87067" y="3886200"/>
              <a:ext cx="6685787" cy="2677667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48967" y="3886200"/>
              <a:ext cx="6761988" cy="2715768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648967" y="3886200"/>
              <a:ext cx="6762115" cy="2715895"/>
            </a:xfrm>
            <a:custGeom>
              <a:avLst/>
              <a:gdLst/>
              <a:ahLst/>
              <a:cxnLst/>
              <a:rect l="l" t="t" r="r" b="b"/>
              <a:pathLst>
                <a:path w="6762115" h="2715895">
                  <a:moveTo>
                    <a:pt x="6761988" y="2715768"/>
                  </a:moveTo>
                  <a:lnTo>
                    <a:pt x="0" y="2715768"/>
                  </a:lnTo>
                  <a:lnTo>
                    <a:pt x="0" y="0"/>
                  </a:lnTo>
                  <a:lnTo>
                    <a:pt x="38100" y="0"/>
                  </a:lnTo>
                  <a:lnTo>
                    <a:pt x="38100" y="2677668"/>
                  </a:lnTo>
                  <a:lnTo>
                    <a:pt x="18288" y="2677668"/>
                  </a:lnTo>
                  <a:lnTo>
                    <a:pt x="38100" y="2697480"/>
                  </a:lnTo>
                  <a:lnTo>
                    <a:pt x="6761988" y="2697480"/>
                  </a:lnTo>
                  <a:lnTo>
                    <a:pt x="6761988" y="2715768"/>
                  </a:lnTo>
                  <a:close/>
                </a:path>
                <a:path w="6762115" h="2715895">
                  <a:moveTo>
                    <a:pt x="6723888" y="2697480"/>
                  </a:moveTo>
                  <a:lnTo>
                    <a:pt x="6723888" y="0"/>
                  </a:lnTo>
                  <a:lnTo>
                    <a:pt x="6761988" y="0"/>
                  </a:lnTo>
                  <a:lnTo>
                    <a:pt x="6761988" y="2677668"/>
                  </a:lnTo>
                  <a:lnTo>
                    <a:pt x="6743700" y="2677668"/>
                  </a:lnTo>
                  <a:lnTo>
                    <a:pt x="6723888" y="2697480"/>
                  </a:lnTo>
                  <a:close/>
                </a:path>
                <a:path w="6762115" h="2715895">
                  <a:moveTo>
                    <a:pt x="38100" y="2697480"/>
                  </a:moveTo>
                  <a:lnTo>
                    <a:pt x="18288" y="2677668"/>
                  </a:lnTo>
                  <a:lnTo>
                    <a:pt x="38100" y="2677668"/>
                  </a:lnTo>
                  <a:lnTo>
                    <a:pt x="38100" y="2697480"/>
                  </a:lnTo>
                  <a:close/>
                </a:path>
                <a:path w="6762115" h="2715895">
                  <a:moveTo>
                    <a:pt x="6723888" y="2697480"/>
                  </a:moveTo>
                  <a:lnTo>
                    <a:pt x="38100" y="2697480"/>
                  </a:lnTo>
                  <a:lnTo>
                    <a:pt x="38100" y="2677668"/>
                  </a:lnTo>
                  <a:lnTo>
                    <a:pt x="6723888" y="2677668"/>
                  </a:lnTo>
                  <a:lnTo>
                    <a:pt x="6723888" y="2697480"/>
                  </a:lnTo>
                  <a:close/>
                </a:path>
                <a:path w="6762115" h="2715895">
                  <a:moveTo>
                    <a:pt x="6761988" y="2697480"/>
                  </a:moveTo>
                  <a:lnTo>
                    <a:pt x="6723888" y="2697480"/>
                  </a:lnTo>
                  <a:lnTo>
                    <a:pt x="6743700" y="2677668"/>
                  </a:lnTo>
                  <a:lnTo>
                    <a:pt x="6761988" y="2677668"/>
                  </a:lnTo>
                  <a:lnTo>
                    <a:pt x="6761988" y="269748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0170">
              <a:lnSpc>
                <a:spcPts val="1240"/>
              </a:lnSpc>
            </a:pPr>
            <a:fld id="{81D60167-4931-47E6-BA6A-407CBD079E47}" type="slidenum">
              <a:rPr spc="-50" dirty="0"/>
              <a:t>8</a:t>
            </a:fld>
            <a:endParaRPr spc="-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83795" rIns="0" bIns="0" rtlCol="0">
            <a:spAutoFit/>
          </a:bodyPr>
          <a:lstStyle/>
          <a:p>
            <a:pPr marL="131572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Peer-</a:t>
            </a:r>
            <a:r>
              <a:rPr dirty="0"/>
              <a:t>to-Peer</a:t>
            </a:r>
            <a:r>
              <a:rPr spc="-80" dirty="0"/>
              <a:t> </a:t>
            </a:r>
            <a:r>
              <a:rPr spc="-10" dirty="0"/>
              <a:t>Model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676144" y="2019299"/>
            <a:ext cx="4707890" cy="4602480"/>
            <a:chOff x="2676144" y="2019299"/>
            <a:chExt cx="4707890" cy="460248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66722" y="2336961"/>
              <a:ext cx="3681845" cy="154923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76144" y="2019299"/>
              <a:ext cx="4707636" cy="186690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676144" y="2019299"/>
              <a:ext cx="4707890" cy="1866900"/>
            </a:xfrm>
            <a:custGeom>
              <a:avLst/>
              <a:gdLst/>
              <a:ahLst/>
              <a:cxnLst/>
              <a:rect l="l" t="t" r="r" b="b"/>
              <a:pathLst>
                <a:path w="4707890" h="1866900">
                  <a:moveTo>
                    <a:pt x="38100" y="1866900"/>
                  </a:moveTo>
                  <a:lnTo>
                    <a:pt x="0" y="1866900"/>
                  </a:lnTo>
                  <a:lnTo>
                    <a:pt x="0" y="0"/>
                  </a:lnTo>
                  <a:lnTo>
                    <a:pt x="4707636" y="0"/>
                  </a:lnTo>
                  <a:lnTo>
                    <a:pt x="4707636" y="19812"/>
                  </a:lnTo>
                  <a:lnTo>
                    <a:pt x="38100" y="19812"/>
                  </a:lnTo>
                  <a:lnTo>
                    <a:pt x="19812" y="38100"/>
                  </a:lnTo>
                  <a:lnTo>
                    <a:pt x="38100" y="38100"/>
                  </a:lnTo>
                  <a:lnTo>
                    <a:pt x="38100" y="1866900"/>
                  </a:lnTo>
                  <a:close/>
                </a:path>
                <a:path w="4707890" h="1866900">
                  <a:moveTo>
                    <a:pt x="38100" y="38100"/>
                  </a:moveTo>
                  <a:lnTo>
                    <a:pt x="19812" y="38100"/>
                  </a:lnTo>
                  <a:lnTo>
                    <a:pt x="38100" y="19812"/>
                  </a:lnTo>
                  <a:lnTo>
                    <a:pt x="38100" y="38100"/>
                  </a:lnTo>
                  <a:close/>
                </a:path>
                <a:path w="4707890" h="1866900">
                  <a:moveTo>
                    <a:pt x="4669536" y="38100"/>
                  </a:moveTo>
                  <a:lnTo>
                    <a:pt x="38100" y="38100"/>
                  </a:lnTo>
                  <a:lnTo>
                    <a:pt x="38100" y="19812"/>
                  </a:lnTo>
                  <a:lnTo>
                    <a:pt x="4669536" y="19812"/>
                  </a:lnTo>
                  <a:lnTo>
                    <a:pt x="4669536" y="38100"/>
                  </a:lnTo>
                  <a:close/>
                </a:path>
                <a:path w="4707890" h="1866900">
                  <a:moveTo>
                    <a:pt x="4707636" y="1866900"/>
                  </a:moveTo>
                  <a:lnTo>
                    <a:pt x="4669536" y="1866900"/>
                  </a:lnTo>
                  <a:lnTo>
                    <a:pt x="4669536" y="19812"/>
                  </a:lnTo>
                  <a:lnTo>
                    <a:pt x="4687824" y="38100"/>
                  </a:lnTo>
                  <a:lnTo>
                    <a:pt x="4707636" y="38100"/>
                  </a:lnTo>
                  <a:lnTo>
                    <a:pt x="4707636" y="1866900"/>
                  </a:lnTo>
                  <a:close/>
                </a:path>
                <a:path w="4707890" h="1866900">
                  <a:moveTo>
                    <a:pt x="4707636" y="38100"/>
                  </a:moveTo>
                  <a:lnTo>
                    <a:pt x="4687824" y="38100"/>
                  </a:lnTo>
                  <a:lnTo>
                    <a:pt x="4669536" y="19812"/>
                  </a:lnTo>
                  <a:lnTo>
                    <a:pt x="4707636" y="19812"/>
                  </a:lnTo>
                  <a:lnTo>
                    <a:pt x="4707636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366722" y="3886200"/>
              <a:ext cx="3681845" cy="2511446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676144" y="3886200"/>
              <a:ext cx="4707636" cy="2735580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2676144" y="3886200"/>
              <a:ext cx="4707890" cy="2735580"/>
            </a:xfrm>
            <a:custGeom>
              <a:avLst/>
              <a:gdLst/>
              <a:ahLst/>
              <a:cxnLst/>
              <a:rect l="l" t="t" r="r" b="b"/>
              <a:pathLst>
                <a:path w="4707890" h="2735579">
                  <a:moveTo>
                    <a:pt x="4707636" y="2735580"/>
                  </a:moveTo>
                  <a:lnTo>
                    <a:pt x="0" y="2735580"/>
                  </a:lnTo>
                  <a:lnTo>
                    <a:pt x="0" y="0"/>
                  </a:lnTo>
                  <a:lnTo>
                    <a:pt x="38100" y="0"/>
                  </a:lnTo>
                  <a:lnTo>
                    <a:pt x="38100" y="2697480"/>
                  </a:lnTo>
                  <a:lnTo>
                    <a:pt x="19812" y="2697480"/>
                  </a:lnTo>
                  <a:lnTo>
                    <a:pt x="38100" y="2717292"/>
                  </a:lnTo>
                  <a:lnTo>
                    <a:pt x="4707636" y="2717292"/>
                  </a:lnTo>
                  <a:lnTo>
                    <a:pt x="4707636" y="2735580"/>
                  </a:lnTo>
                  <a:close/>
                </a:path>
                <a:path w="4707890" h="2735579">
                  <a:moveTo>
                    <a:pt x="4669536" y="2717292"/>
                  </a:moveTo>
                  <a:lnTo>
                    <a:pt x="4669536" y="0"/>
                  </a:lnTo>
                  <a:lnTo>
                    <a:pt x="4707636" y="0"/>
                  </a:lnTo>
                  <a:lnTo>
                    <a:pt x="4707636" y="2697480"/>
                  </a:lnTo>
                  <a:lnTo>
                    <a:pt x="4687824" y="2697480"/>
                  </a:lnTo>
                  <a:lnTo>
                    <a:pt x="4669536" y="2717292"/>
                  </a:lnTo>
                  <a:close/>
                </a:path>
                <a:path w="4707890" h="2735579">
                  <a:moveTo>
                    <a:pt x="38100" y="2717292"/>
                  </a:moveTo>
                  <a:lnTo>
                    <a:pt x="19812" y="2697480"/>
                  </a:lnTo>
                  <a:lnTo>
                    <a:pt x="38100" y="2697480"/>
                  </a:lnTo>
                  <a:lnTo>
                    <a:pt x="38100" y="2717292"/>
                  </a:lnTo>
                  <a:close/>
                </a:path>
                <a:path w="4707890" h="2735579">
                  <a:moveTo>
                    <a:pt x="4669536" y="2717292"/>
                  </a:moveTo>
                  <a:lnTo>
                    <a:pt x="38100" y="2717292"/>
                  </a:lnTo>
                  <a:lnTo>
                    <a:pt x="38100" y="2697480"/>
                  </a:lnTo>
                  <a:lnTo>
                    <a:pt x="4669536" y="2697480"/>
                  </a:lnTo>
                  <a:lnTo>
                    <a:pt x="4669536" y="2717292"/>
                  </a:lnTo>
                  <a:close/>
                </a:path>
                <a:path w="4707890" h="2735579">
                  <a:moveTo>
                    <a:pt x="4707636" y="2717292"/>
                  </a:moveTo>
                  <a:lnTo>
                    <a:pt x="4669536" y="2717292"/>
                  </a:lnTo>
                  <a:lnTo>
                    <a:pt x="4687824" y="2697480"/>
                  </a:lnTo>
                  <a:lnTo>
                    <a:pt x="4707636" y="2697480"/>
                  </a:lnTo>
                  <a:lnTo>
                    <a:pt x="4707636" y="271729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0170">
              <a:lnSpc>
                <a:spcPts val="1240"/>
              </a:lnSpc>
            </a:pPr>
            <a:fld id="{81D60167-4931-47E6-BA6A-407CBD079E47}" type="slidenum">
              <a:rPr spc="-50" dirty="0"/>
              <a:t>9</a:t>
            </a:fld>
            <a:endParaRPr spc="-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83795" rIns="0" bIns="0" rtlCol="0">
            <a:spAutoFit/>
          </a:bodyPr>
          <a:lstStyle/>
          <a:p>
            <a:pPr marL="1531620">
              <a:lnSpc>
                <a:spcPct val="100000"/>
              </a:lnSpc>
              <a:spcBef>
                <a:spcPts val="100"/>
              </a:spcBef>
            </a:pPr>
            <a:r>
              <a:rPr dirty="0"/>
              <a:t>Examples</a:t>
            </a:r>
            <a:r>
              <a:rPr spc="-70" dirty="0"/>
              <a:t> </a:t>
            </a:r>
            <a:r>
              <a:rPr dirty="0"/>
              <a:t>of</a:t>
            </a:r>
            <a:r>
              <a:rPr spc="-90" dirty="0"/>
              <a:t> </a:t>
            </a:r>
            <a:r>
              <a:rPr spc="-25" dirty="0"/>
              <a:t>NOS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3045" y="2000896"/>
            <a:ext cx="8072120" cy="4415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3060" marR="5080" indent="-340995">
              <a:lnSpc>
                <a:spcPct val="140000"/>
              </a:lnSpc>
              <a:spcBef>
                <a:spcPts val="100"/>
              </a:spcBef>
              <a:buChar char="•"/>
              <a:tabLst>
                <a:tab pos="355600" algn="l"/>
                <a:tab pos="2372360" algn="l"/>
                <a:tab pos="4394835" algn="l"/>
                <a:tab pos="6071235" algn="l"/>
              </a:tabLst>
            </a:pPr>
            <a:r>
              <a:rPr sz="3200" spc="-10" dirty="0">
                <a:latin typeface="Arial"/>
                <a:cs typeface="Arial"/>
              </a:rPr>
              <a:t>Microsoft</a:t>
            </a:r>
            <a:r>
              <a:rPr sz="3200" dirty="0">
                <a:latin typeface="Arial"/>
                <a:cs typeface="Arial"/>
              </a:rPr>
              <a:t>	</a:t>
            </a:r>
            <a:r>
              <a:rPr sz="3200" spc="-10" dirty="0">
                <a:latin typeface="Arial"/>
                <a:cs typeface="Arial"/>
              </a:rPr>
              <a:t>Windows</a:t>
            </a:r>
            <a:r>
              <a:rPr sz="3200" dirty="0">
                <a:latin typeface="Arial"/>
                <a:cs typeface="Arial"/>
              </a:rPr>
              <a:t>	</a:t>
            </a:r>
            <a:r>
              <a:rPr sz="3200" spc="-10" dirty="0">
                <a:latin typeface="Arial"/>
                <a:cs typeface="Arial"/>
              </a:rPr>
              <a:t>Server:</a:t>
            </a:r>
            <a:r>
              <a:rPr sz="3200" dirty="0">
                <a:latin typeface="Arial"/>
                <a:cs typeface="Arial"/>
              </a:rPr>
              <a:t>	Enterprise-	grade</a:t>
            </a:r>
            <a:r>
              <a:rPr sz="3200" spc="-4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server</a:t>
            </a:r>
            <a:r>
              <a:rPr sz="3200" spc="-35" dirty="0">
                <a:latin typeface="Arial"/>
                <a:cs typeface="Arial"/>
              </a:rPr>
              <a:t> </a:t>
            </a:r>
            <a:r>
              <a:rPr sz="3200" spc="-25" dirty="0">
                <a:latin typeface="Arial"/>
                <a:cs typeface="Arial"/>
              </a:rPr>
              <a:t>OS</a:t>
            </a:r>
            <a:endParaRPr sz="3200">
              <a:latin typeface="Arial"/>
              <a:cs typeface="Arial"/>
            </a:endParaRPr>
          </a:p>
          <a:p>
            <a:pPr marL="354330" marR="5080" indent="-342265">
              <a:lnSpc>
                <a:spcPct val="140000"/>
              </a:lnSpc>
              <a:spcBef>
                <a:spcPts val="765"/>
              </a:spcBef>
              <a:buChar char="•"/>
              <a:tabLst>
                <a:tab pos="355600" algn="l"/>
                <a:tab pos="2856230" algn="l"/>
                <a:tab pos="4139565" algn="l"/>
                <a:tab pos="5737860" algn="l"/>
                <a:tab pos="7315200" algn="l"/>
              </a:tabLst>
            </a:pPr>
            <a:r>
              <a:rPr sz="3200" spc="-10" dirty="0">
                <a:latin typeface="Arial"/>
                <a:cs typeface="Arial"/>
              </a:rPr>
              <a:t>Linux-based</a:t>
            </a:r>
            <a:r>
              <a:rPr sz="3200" dirty="0">
                <a:latin typeface="Arial"/>
                <a:cs typeface="Arial"/>
              </a:rPr>
              <a:t>	</a:t>
            </a:r>
            <a:r>
              <a:rPr sz="3200" spc="-20" dirty="0">
                <a:latin typeface="Arial"/>
                <a:cs typeface="Arial"/>
              </a:rPr>
              <a:t>NOS:</a:t>
            </a:r>
            <a:r>
              <a:rPr sz="3200" dirty="0">
                <a:latin typeface="Arial"/>
                <a:cs typeface="Arial"/>
              </a:rPr>
              <a:t>	</a:t>
            </a:r>
            <a:r>
              <a:rPr sz="3200" spc="-10" dirty="0">
                <a:latin typeface="Arial"/>
                <a:cs typeface="Arial"/>
              </a:rPr>
              <a:t>Ubuntu</a:t>
            </a:r>
            <a:r>
              <a:rPr sz="3200" dirty="0">
                <a:latin typeface="Arial"/>
                <a:cs typeface="Arial"/>
              </a:rPr>
              <a:t>	</a:t>
            </a:r>
            <a:r>
              <a:rPr sz="3200" spc="-10" dirty="0">
                <a:latin typeface="Arial"/>
                <a:cs typeface="Arial"/>
              </a:rPr>
              <a:t>Server,</a:t>
            </a:r>
            <a:r>
              <a:rPr sz="3200" dirty="0">
                <a:latin typeface="Arial"/>
                <a:cs typeface="Arial"/>
              </a:rPr>
              <a:t>	</a:t>
            </a:r>
            <a:r>
              <a:rPr sz="3200" spc="-25" dirty="0">
                <a:latin typeface="Arial"/>
                <a:cs typeface="Arial"/>
              </a:rPr>
              <a:t>Red 	</a:t>
            </a:r>
            <a:r>
              <a:rPr sz="3200" dirty="0">
                <a:latin typeface="Arial"/>
                <a:cs typeface="Arial"/>
              </a:rPr>
              <a:t>Hat</a:t>
            </a:r>
            <a:r>
              <a:rPr sz="3200" spc="-6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Enterprise</a:t>
            </a:r>
            <a:r>
              <a:rPr sz="3200" spc="-55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Linux</a:t>
            </a:r>
            <a:endParaRPr sz="3200">
              <a:latin typeface="Arial"/>
              <a:cs typeface="Arial"/>
            </a:endParaRPr>
          </a:p>
          <a:p>
            <a:pPr marL="353695" indent="-340995">
              <a:lnSpc>
                <a:spcPct val="100000"/>
              </a:lnSpc>
              <a:spcBef>
                <a:spcPts val="2305"/>
              </a:spcBef>
              <a:buChar char="•"/>
              <a:tabLst>
                <a:tab pos="353695" algn="l"/>
              </a:tabLst>
            </a:pPr>
            <a:r>
              <a:rPr sz="3200" dirty="0">
                <a:latin typeface="Arial"/>
                <a:cs typeface="Arial"/>
              </a:rPr>
              <a:t>Unix-based</a:t>
            </a:r>
            <a:r>
              <a:rPr sz="3200" spc="-8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NOS:</a:t>
            </a:r>
            <a:r>
              <a:rPr sz="3200" spc="-6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Solaris,</a:t>
            </a:r>
            <a:r>
              <a:rPr sz="3200" spc="-55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FreeBSD</a:t>
            </a:r>
            <a:endParaRPr sz="3200">
              <a:latin typeface="Arial"/>
              <a:cs typeface="Arial"/>
            </a:endParaRPr>
          </a:p>
          <a:p>
            <a:pPr marL="353695" indent="-340995">
              <a:lnSpc>
                <a:spcPct val="100000"/>
              </a:lnSpc>
              <a:spcBef>
                <a:spcPts val="2305"/>
              </a:spcBef>
              <a:buChar char="•"/>
              <a:tabLst>
                <a:tab pos="353695" algn="l"/>
              </a:tabLst>
            </a:pPr>
            <a:r>
              <a:rPr sz="3200" dirty="0">
                <a:latin typeface="Arial"/>
                <a:cs typeface="Arial"/>
              </a:rPr>
              <a:t>Cisco</a:t>
            </a:r>
            <a:r>
              <a:rPr sz="3200" spc="-5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IOS:</a:t>
            </a:r>
            <a:r>
              <a:rPr sz="3200" spc="-2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Used</a:t>
            </a:r>
            <a:r>
              <a:rPr sz="3200" spc="-5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in</a:t>
            </a:r>
            <a:r>
              <a:rPr sz="3200" spc="-2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networking</a:t>
            </a:r>
            <a:r>
              <a:rPr sz="3200" spc="-50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devices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882873" y="6921482"/>
            <a:ext cx="18097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spc="-25" dirty="0">
                <a:solidFill>
                  <a:srgbClr val="898989"/>
                </a:solidFill>
                <a:latin typeface="Calibri"/>
                <a:cs typeface="Calibri"/>
              </a:rPr>
              <a:t>10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051102" y="491819"/>
            <a:ext cx="772604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dirty="0"/>
              <a:t>Network</a:t>
            </a:r>
            <a:r>
              <a:rPr sz="4000" spc="-145" dirty="0"/>
              <a:t> </a:t>
            </a:r>
            <a:r>
              <a:rPr sz="4000" dirty="0"/>
              <a:t>Resource</a:t>
            </a:r>
            <a:r>
              <a:rPr sz="4000" spc="-110" dirty="0"/>
              <a:t> </a:t>
            </a:r>
            <a:r>
              <a:rPr sz="4000" spc="-10" dirty="0"/>
              <a:t>Management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764557" y="1150205"/>
            <a:ext cx="8530590" cy="35375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330" marR="9525" indent="-342265" algn="just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5600" algn="l"/>
              </a:tabLst>
            </a:pPr>
            <a:r>
              <a:rPr sz="3200" b="1" dirty="0">
                <a:latin typeface="Calibri"/>
                <a:cs typeface="Calibri"/>
              </a:rPr>
              <a:t>File and</a:t>
            </a:r>
            <a:r>
              <a:rPr sz="3200" b="1" spc="20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Print</a:t>
            </a:r>
            <a:r>
              <a:rPr sz="3200" b="1" spc="25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Sharing:</a:t>
            </a:r>
            <a:r>
              <a:rPr sz="3200" b="1" spc="2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Manages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shared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access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to 	</a:t>
            </a:r>
            <a:r>
              <a:rPr sz="3200" dirty="0">
                <a:latin typeface="Calibri"/>
                <a:cs typeface="Calibri"/>
              </a:rPr>
              <a:t>files</a:t>
            </a:r>
            <a:r>
              <a:rPr sz="3200" spc="60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and</a:t>
            </a:r>
            <a:r>
              <a:rPr sz="3200" spc="62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printers</a:t>
            </a:r>
            <a:r>
              <a:rPr sz="3200" spc="60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across</a:t>
            </a:r>
            <a:r>
              <a:rPr sz="3200" spc="60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62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network,</a:t>
            </a:r>
            <a:r>
              <a:rPr sz="3200" spc="61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ensuring 	</a:t>
            </a:r>
            <a:r>
              <a:rPr sz="3200" dirty="0">
                <a:latin typeface="Calibri"/>
                <a:cs typeface="Calibri"/>
              </a:rPr>
              <a:t>users</a:t>
            </a:r>
            <a:r>
              <a:rPr sz="3200" spc="-13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have</a:t>
            </a:r>
            <a:r>
              <a:rPr sz="3200" spc="-14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appropriate</a:t>
            </a:r>
            <a:r>
              <a:rPr sz="3200" spc="-114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permissions.</a:t>
            </a:r>
            <a:endParaRPr sz="3200">
              <a:latin typeface="Calibri"/>
              <a:cs typeface="Calibri"/>
            </a:endParaRPr>
          </a:p>
          <a:p>
            <a:pPr marL="354330" marR="5080" indent="-342265" algn="just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5600" algn="l"/>
              </a:tabLst>
            </a:pPr>
            <a:r>
              <a:rPr sz="3200" b="1" dirty="0">
                <a:latin typeface="Calibri"/>
                <a:cs typeface="Calibri"/>
              </a:rPr>
              <a:t>User</a:t>
            </a:r>
            <a:r>
              <a:rPr sz="3200" b="1" spc="735" dirty="0">
                <a:latin typeface="Calibri"/>
                <a:cs typeface="Calibri"/>
              </a:rPr>
              <a:t>   </a:t>
            </a:r>
            <a:r>
              <a:rPr sz="3200" b="1" dirty="0">
                <a:latin typeface="Calibri"/>
                <a:cs typeface="Calibri"/>
              </a:rPr>
              <a:t>and</a:t>
            </a:r>
            <a:r>
              <a:rPr sz="3200" b="1" spc="735" dirty="0">
                <a:latin typeface="Calibri"/>
                <a:cs typeface="Calibri"/>
              </a:rPr>
              <a:t>   </a:t>
            </a:r>
            <a:r>
              <a:rPr sz="3200" b="1" dirty="0">
                <a:latin typeface="Calibri"/>
                <a:cs typeface="Calibri"/>
              </a:rPr>
              <a:t>Group</a:t>
            </a:r>
            <a:r>
              <a:rPr sz="3200" b="1" spc="720" dirty="0">
                <a:latin typeface="Calibri"/>
                <a:cs typeface="Calibri"/>
              </a:rPr>
              <a:t>   </a:t>
            </a:r>
            <a:r>
              <a:rPr sz="3200" b="1" dirty="0">
                <a:latin typeface="Calibri"/>
                <a:cs typeface="Calibri"/>
              </a:rPr>
              <a:t>Management</a:t>
            </a:r>
            <a:r>
              <a:rPr sz="3200" dirty="0">
                <a:latin typeface="Calibri"/>
                <a:cs typeface="Calibri"/>
              </a:rPr>
              <a:t>:</a:t>
            </a:r>
            <a:r>
              <a:rPr sz="3200" spc="735" dirty="0">
                <a:latin typeface="Calibri"/>
                <a:cs typeface="Calibri"/>
              </a:rPr>
              <a:t>   </a:t>
            </a:r>
            <a:r>
              <a:rPr sz="3200" spc="-10" dirty="0">
                <a:latin typeface="Calibri"/>
                <a:cs typeface="Calibri"/>
              </a:rPr>
              <a:t>Allows 	</a:t>
            </a:r>
            <a:r>
              <a:rPr sz="3200" dirty="0">
                <a:latin typeface="Calibri"/>
                <a:cs typeface="Calibri"/>
              </a:rPr>
              <a:t>administrators</a:t>
            </a:r>
            <a:r>
              <a:rPr sz="3200" spc="60" dirty="0">
                <a:latin typeface="Calibri"/>
                <a:cs typeface="Calibri"/>
              </a:rPr>
              <a:t>  </a:t>
            </a:r>
            <a:r>
              <a:rPr sz="3200" dirty="0">
                <a:latin typeface="Calibri"/>
                <a:cs typeface="Calibri"/>
              </a:rPr>
              <a:t>to</a:t>
            </a:r>
            <a:r>
              <a:rPr sz="3200" spc="55" dirty="0">
                <a:latin typeface="Calibri"/>
                <a:cs typeface="Calibri"/>
              </a:rPr>
              <a:t>  </a:t>
            </a:r>
            <a:r>
              <a:rPr sz="3200" dirty="0">
                <a:latin typeface="Calibri"/>
                <a:cs typeface="Calibri"/>
              </a:rPr>
              <a:t>create,</a:t>
            </a:r>
            <a:r>
              <a:rPr sz="3200" spc="45" dirty="0">
                <a:latin typeface="Calibri"/>
                <a:cs typeface="Calibri"/>
              </a:rPr>
              <a:t>  </a:t>
            </a:r>
            <a:r>
              <a:rPr sz="3200" dirty="0">
                <a:latin typeface="Calibri"/>
                <a:cs typeface="Calibri"/>
              </a:rPr>
              <a:t>modify,</a:t>
            </a:r>
            <a:r>
              <a:rPr sz="3200" spc="65" dirty="0">
                <a:latin typeface="Calibri"/>
                <a:cs typeface="Calibri"/>
              </a:rPr>
              <a:t>  </a:t>
            </a:r>
            <a:r>
              <a:rPr sz="3200" dirty="0">
                <a:latin typeface="Calibri"/>
                <a:cs typeface="Calibri"/>
              </a:rPr>
              <a:t>and</a:t>
            </a:r>
            <a:r>
              <a:rPr sz="3200" spc="75" dirty="0">
                <a:latin typeface="Calibri"/>
                <a:cs typeface="Calibri"/>
              </a:rPr>
              <a:t>  </a:t>
            </a:r>
            <a:r>
              <a:rPr sz="3200" spc="-10" dirty="0">
                <a:latin typeface="Calibri"/>
                <a:cs typeface="Calibri"/>
              </a:rPr>
              <a:t>manage 	</a:t>
            </a:r>
            <a:r>
              <a:rPr sz="3200" dirty="0">
                <a:latin typeface="Calibri"/>
                <a:cs typeface="Calibri"/>
              </a:rPr>
              <a:t>user</a:t>
            </a:r>
            <a:r>
              <a:rPr sz="3200" spc="305" dirty="0">
                <a:latin typeface="Calibri"/>
                <a:cs typeface="Calibri"/>
              </a:rPr>
              <a:t>  </a:t>
            </a:r>
            <a:r>
              <a:rPr sz="3200" dirty="0">
                <a:latin typeface="Calibri"/>
                <a:cs typeface="Calibri"/>
              </a:rPr>
              <a:t>accounts</a:t>
            </a:r>
            <a:r>
              <a:rPr sz="3200" spc="295" dirty="0">
                <a:latin typeface="Calibri"/>
                <a:cs typeface="Calibri"/>
              </a:rPr>
              <a:t>  </a:t>
            </a:r>
            <a:r>
              <a:rPr sz="3200" dirty="0">
                <a:latin typeface="Calibri"/>
                <a:cs typeface="Calibri"/>
              </a:rPr>
              <a:t>and</a:t>
            </a:r>
            <a:r>
              <a:rPr sz="3200" spc="300" dirty="0">
                <a:latin typeface="Calibri"/>
                <a:cs typeface="Calibri"/>
              </a:rPr>
              <a:t>  </a:t>
            </a:r>
            <a:r>
              <a:rPr sz="3200" dirty="0">
                <a:latin typeface="Calibri"/>
                <a:cs typeface="Calibri"/>
              </a:rPr>
              <a:t>group</a:t>
            </a:r>
            <a:r>
              <a:rPr sz="3200" spc="305" dirty="0">
                <a:latin typeface="Calibri"/>
                <a:cs typeface="Calibri"/>
              </a:rPr>
              <a:t>  </a:t>
            </a:r>
            <a:r>
              <a:rPr sz="3200" dirty="0">
                <a:latin typeface="Calibri"/>
                <a:cs typeface="Calibri"/>
              </a:rPr>
              <a:t>policies</a:t>
            </a:r>
            <a:r>
              <a:rPr sz="3200" spc="295" dirty="0">
                <a:latin typeface="Calibri"/>
                <a:cs typeface="Calibri"/>
              </a:rPr>
              <a:t>  </a:t>
            </a:r>
            <a:r>
              <a:rPr sz="3200" dirty="0">
                <a:latin typeface="Calibri"/>
                <a:cs typeface="Calibri"/>
              </a:rPr>
              <a:t>to</a:t>
            </a:r>
            <a:r>
              <a:rPr sz="3200" spc="310" dirty="0">
                <a:latin typeface="Calibri"/>
                <a:cs typeface="Calibri"/>
              </a:rPr>
              <a:t>  </a:t>
            </a:r>
            <a:r>
              <a:rPr sz="3200" spc="-10" dirty="0">
                <a:latin typeface="Calibri"/>
                <a:cs typeface="Calibri"/>
              </a:rPr>
              <a:t>control 	</a:t>
            </a:r>
            <a:r>
              <a:rPr sz="3200" dirty="0">
                <a:latin typeface="Calibri"/>
                <a:cs typeface="Calibri"/>
              </a:rPr>
              <a:t>access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and</a:t>
            </a:r>
            <a:r>
              <a:rPr sz="3200" spc="-2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security.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64557" y="4758928"/>
            <a:ext cx="567626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4965" algn="l"/>
                <a:tab pos="1559560" algn="l"/>
                <a:tab pos="3260725" algn="l"/>
                <a:tab pos="4387850" algn="l"/>
              </a:tabLst>
            </a:pPr>
            <a:r>
              <a:rPr sz="3200" b="1" spc="-20" dirty="0">
                <a:latin typeface="Calibri"/>
                <a:cs typeface="Calibri"/>
              </a:rPr>
              <a:t>Disk</a:t>
            </a:r>
            <a:r>
              <a:rPr sz="3200" b="1" dirty="0">
                <a:latin typeface="Calibri"/>
                <a:cs typeface="Calibri"/>
              </a:rPr>
              <a:t>	</a:t>
            </a:r>
            <a:r>
              <a:rPr sz="3200" b="1" spc="-10" dirty="0">
                <a:latin typeface="Calibri"/>
                <a:cs typeface="Calibri"/>
              </a:rPr>
              <a:t>Quotas</a:t>
            </a:r>
            <a:r>
              <a:rPr sz="3200" b="1" dirty="0">
                <a:latin typeface="Calibri"/>
                <a:cs typeface="Calibri"/>
              </a:rPr>
              <a:t>	</a:t>
            </a:r>
            <a:r>
              <a:rPr sz="3200" b="1" spc="-25" dirty="0">
                <a:latin typeface="Calibri"/>
                <a:cs typeface="Calibri"/>
              </a:rPr>
              <a:t>and</a:t>
            </a:r>
            <a:r>
              <a:rPr sz="3200" b="1" dirty="0">
                <a:latin typeface="Calibri"/>
                <a:cs typeface="Calibri"/>
              </a:rPr>
              <a:t>	</a:t>
            </a:r>
            <a:r>
              <a:rPr sz="3200" b="1" spc="-20" dirty="0">
                <a:latin typeface="Calibri"/>
                <a:cs typeface="Calibri"/>
              </a:rPr>
              <a:t>Storage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01853" y="4758928"/>
            <a:ext cx="239141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-10" dirty="0">
                <a:latin typeface="Calibri"/>
                <a:cs typeface="Calibri"/>
              </a:rPr>
              <a:t>Management</a:t>
            </a:r>
            <a:r>
              <a:rPr sz="3200" spc="-10" dirty="0">
                <a:latin typeface="Calibri"/>
                <a:cs typeface="Calibri"/>
              </a:rPr>
              <a:t>: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809355" y="5246701"/>
            <a:ext cx="297878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45614" algn="l"/>
              </a:tabLst>
            </a:pPr>
            <a:r>
              <a:rPr sz="3200" spc="-10" dirty="0">
                <a:latin typeface="Calibri"/>
                <a:cs typeface="Calibri"/>
              </a:rPr>
              <a:t>allocates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20" dirty="0">
                <a:latin typeface="Calibri"/>
                <a:cs typeface="Calibri"/>
              </a:rPr>
              <a:t>storage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07488" y="5246701"/>
            <a:ext cx="3108960" cy="10013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1566545" algn="l"/>
                <a:tab pos="1806575" algn="l"/>
              </a:tabLst>
            </a:pPr>
            <a:r>
              <a:rPr sz="3200" spc="-10" dirty="0">
                <a:latin typeface="Calibri"/>
                <a:cs typeface="Calibri"/>
              </a:rPr>
              <a:t>Monitors</a:t>
            </a:r>
            <a:r>
              <a:rPr sz="3200" dirty="0">
                <a:latin typeface="Calibri"/>
                <a:cs typeface="Calibri"/>
              </a:rPr>
              <a:t>		</a:t>
            </a:r>
            <a:r>
              <a:rPr sz="3200" spc="-25" dirty="0">
                <a:latin typeface="Calibri"/>
                <a:cs typeface="Calibri"/>
              </a:rPr>
              <a:t>and </a:t>
            </a:r>
            <a:r>
              <a:rPr sz="3200" spc="-10" dirty="0">
                <a:latin typeface="Calibri"/>
                <a:cs typeface="Calibri"/>
              </a:rPr>
              <a:t>prevent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30" dirty="0">
                <a:latin typeface="Calibri"/>
                <a:cs typeface="Calibri"/>
              </a:rPr>
              <a:t>excessive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044271" y="5246701"/>
            <a:ext cx="224663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884045" algn="l"/>
              </a:tabLst>
            </a:pPr>
            <a:r>
              <a:rPr sz="3200" spc="-10" dirty="0">
                <a:latin typeface="Calibri"/>
                <a:cs typeface="Calibri"/>
              </a:rPr>
              <a:t>resources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25" dirty="0">
                <a:latin typeface="Calibri"/>
                <a:cs typeface="Calibri"/>
              </a:rPr>
              <a:t>to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464477" y="5734275"/>
            <a:ext cx="482727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245235" algn="l"/>
                <a:tab pos="2140585" algn="l"/>
                <a:tab pos="3544570" algn="l"/>
              </a:tabLst>
            </a:pPr>
            <a:r>
              <a:rPr sz="3200" spc="-10" dirty="0">
                <a:latin typeface="Calibri"/>
                <a:cs typeface="Calibri"/>
              </a:rPr>
              <a:t>usage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25" dirty="0">
                <a:latin typeface="Calibri"/>
                <a:cs typeface="Calibri"/>
              </a:rPr>
              <a:t>and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10" dirty="0">
                <a:latin typeface="Calibri"/>
                <a:cs typeface="Calibri"/>
              </a:rPr>
              <a:t>ensure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10" dirty="0">
                <a:latin typeface="Calibri"/>
                <a:cs typeface="Calibri"/>
              </a:rPr>
              <a:t>optimal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07488" y="6222048"/>
            <a:ext cx="226441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10" dirty="0">
                <a:latin typeface="Calibri"/>
                <a:cs typeface="Calibri"/>
              </a:rPr>
              <a:t>performance.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882873" y="6921482"/>
            <a:ext cx="18097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spc="-25" dirty="0">
                <a:solidFill>
                  <a:srgbClr val="898989"/>
                </a:solidFill>
                <a:latin typeface="Calibri"/>
                <a:cs typeface="Calibri"/>
              </a:rPr>
              <a:t>11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3088005" marR="5080" indent="-3075940">
              <a:lnSpc>
                <a:spcPts val="4690"/>
              </a:lnSpc>
              <a:spcBef>
                <a:spcPts val="305"/>
              </a:spcBef>
            </a:pPr>
            <a:r>
              <a:rPr sz="4000" dirty="0"/>
              <a:t>Network</a:t>
            </a:r>
            <a:r>
              <a:rPr sz="4000" spc="-145" dirty="0"/>
              <a:t> </a:t>
            </a:r>
            <a:r>
              <a:rPr sz="4000" dirty="0"/>
              <a:t>Resource</a:t>
            </a:r>
            <a:r>
              <a:rPr sz="4000" spc="-110" dirty="0"/>
              <a:t> </a:t>
            </a:r>
            <a:r>
              <a:rPr sz="4000" spc="-10" dirty="0"/>
              <a:t>Management (cont.)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612190" y="1941036"/>
            <a:ext cx="8834120" cy="4963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6235" indent="-343535" algn="just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6235" algn="l"/>
              </a:tabLst>
            </a:pPr>
            <a:r>
              <a:rPr sz="3000" b="1" dirty="0">
                <a:latin typeface="Arial"/>
                <a:cs typeface="Arial"/>
              </a:rPr>
              <a:t>Resource</a:t>
            </a:r>
            <a:r>
              <a:rPr sz="3000" b="1" spc="300" dirty="0">
                <a:latin typeface="Arial"/>
                <a:cs typeface="Arial"/>
              </a:rPr>
              <a:t>   </a:t>
            </a:r>
            <a:r>
              <a:rPr sz="3000" b="1" dirty="0">
                <a:latin typeface="Arial"/>
                <a:cs typeface="Arial"/>
              </a:rPr>
              <a:t>Allocation</a:t>
            </a:r>
            <a:r>
              <a:rPr sz="3000" b="1" spc="310" dirty="0">
                <a:latin typeface="Arial"/>
                <a:cs typeface="Arial"/>
              </a:rPr>
              <a:t>   </a:t>
            </a:r>
            <a:r>
              <a:rPr sz="3000" b="1" dirty="0">
                <a:latin typeface="Arial"/>
                <a:cs typeface="Arial"/>
              </a:rPr>
              <a:t>&amp;</a:t>
            </a:r>
            <a:r>
              <a:rPr sz="3000" b="1" spc="315" dirty="0">
                <a:latin typeface="Arial"/>
                <a:cs typeface="Arial"/>
              </a:rPr>
              <a:t>   </a:t>
            </a:r>
            <a:r>
              <a:rPr sz="3000" b="1" dirty="0">
                <a:latin typeface="Arial"/>
                <a:cs typeface="Arial"/>
              </a:rPr>
              <a:t>Load</a:t>
            </a:r>
            <a:r>
              <a:rPr sz="3000" b="1" spc="320" dirty="0">
                <a:latin typeface="Arial"/>
                <a:cs typeface="Arial"/>
              </a:rPr>
              <a:t>   </a:t>
            </a:r>
            <a:r>
              <a:rPr sz="3000" b="1" spc="-10" dirty="0">
                <a:latin typeface="Arial"/>
                <a:cs typeface="Arial"/>
              </a:rPr>
              <a:t>Balancing</a:t>
            </a:r>
            <a:r>
              <a:rPr sz="3000" spc="-10" dirty="0">
                <a:latin typeface="Arial"/>
                <a:cs typeface="Arial"/>
              </a:rPr>
              <a:t>:</a:t>
            </a:r>
            <a:endParaRPr sz="3000">
              <a:latin typeface="Arial"/>
              <a:cs typeface="Arial"/>
            </a:endParaRPr>
          </a:p>
          <a:p>
            <a:pPr marL="354965" marR="6350" algn="just">
              <a:lnSpc>
                <a:spcPct val="160000"/>
              </a:lnSpc>
            </a:pPr>
            <a:r>
              <a:rPr sz="3000" dirty="0">
                <a:latin typeface="Arial"/>
                <a:cs typeface="Arial"/>
              </a:rPr>
              <a:t>Distributes</a:t>
            </a:r>
            <a:r>
              <a:rPr sz="3000" spc="305" dirty="0">
                <a:latin typeface="Arial"/>
                <a:cs typeface="Arial"/>
              </a:rPr>
              <a:t>   </a:t>
            </a:r>
            <a:r>
              <a:rPr sz="3000" dirty="0">
                <a:latin typeface="Arial"/>
                <a:cs typeface="Arial"/>
              </a:rPr>
              <a:t>network</a:t>
            </a:r>
            <a:r>
              <a:rPr sz="3000" spc="305" dirty="0">
                <a:latin typeface="Arial"/>
                <a:cs typeface="Arial"/>
              </a:rPr>
              <a:t>   </a:t>
            </a:r>
            <a:r>
              <a:rPr sz="3000" dirty="0">
                <a:latin typeface="Arial"/>
                <a:cs typeface="Arial"/>
              </a:rPr>
              <a:t>resources</a:t>
            </a:r>
            <a:r>
              <a:rPr sz="3000" spc="305" dirty="0">
                <a:latin typeface="Arial"/>
                <a:cs typeface="Arial"/>
              </a:rPr>
              <a:t>   </a:t>
            </a:r>
            <a:r>
              <a:rPr sz="3000" dirty="0">
                <a:latin typeface="Arial"/>
                <a:cs typeface="Arial"/>
              </a:rPr>
              <a:t>efficiently</a:t>
            </a:r>
            <a:r>
              <a:rPr sz="3000" spc="295" dirty="0">
                <a:latin typeface="Arial"/>
                <a:cs typeface="Arial"/>
              </a:rPr>
              <a:t>   </a:t>
            </a:r>
            <a:r>
              <a:rPr sz="3000" spc="-25" dirty="0">
                <a:latin typeface="Arial"/>
                <a:cs typeface="Arial"/>
              </a:rPr>
              <a:t>to </a:t>
            </a:r>
            <a:r>
              <a:rPr sz="3000" dirty="0">
                <a:latin typeface="Arial"/>
                <a:cs typeface="Arial"/>
              </a:rPr>
              <a:t>prevent</a:t>
            </a:r>
            <a:r>
              <a:rPr sz="3000" spc="459" dirty="0">
                <a:latin typeface="Arial"/>
                <a:cs typeface="Arial"/>
              </a:rPr>
              <a:t>   </a:t>
            </a:r>
            <a:r>
              <a:rPr sz="3000" dirty="0">
                <a:latin typeface="Arial"/>
                <a:cs typeface="Arial"/>
              </a:rPr>
              <a:t>bottlenecks</a:t>
            </a:r>
            <a:r>
              <a:rPr sz="3000" spc="459" dirty="0">
                <a:latin typeface="Arial"/>
                <a:cs typeface="Arial"/>
              </a:rPr>
              <a:t>   </a:t>
            </a:r>
            <a:r>
              <a:rPr sz="3000" dirty="0">
                <a:latin typeface="Arial"/>
                <a:cs typeface="Arial"/>
              </a:rPr>
              <a:t>and</a:t>
            </a:r>
            <a:r>
              <a:rPr sz="3000" spc="455" dirty="0">
                <a:latin typeface="Arial"/>
                <a:cs typeface="Arial"/>
              </a:rPr>
              <a:t>   </a:t>
            </a:r>
            <a:r>
              <a:rPr sz="3000" dirty="0">
                <a:latin typeface="Arial"/>
                <a:cs typeface="Arial"/>
              </a:rPr>
              <a:t>maintain</a:t>
            </a:r>
            <a:r>
              <a:rPr sz="3000" spc="455" dirty="0">
                <a:latin typeface="Arial"/>
                <a:cs typeface="Arial"/>
              </a:rPr>
              <a:t>   </a:t>
            </a:r>
            <a:r>
              <a:rPr sz="3000" spc="-10" dirty="0">
                <a:latin typeface="Arial"/>
                <a:cs typeface="Arial"/>
              </a:rPr>
              <a:t>system performance.</a:t>
            </a:r>
            <a:endParaRPr sz="3000">
              <a:latin typeface="Arial"/>
              <a:cs typeface="Arial"/>
            </a:endParaRPr>
          </a:p>
          <a:p>
            <a:pPr marL="354965" marR="5080" indent="-342900" algn="just">
              <a:lnSpc>
                <a:spcPct val="160000"/>
              </a:lnSpc>
              <a:spcBef>
                <a:spcPts val="715"/>
              </a:spcBef>
              <a:buFont typeface="Arial"/>
              <a:buChar char="•"/>
              <a:tabLst>
                <a:tab pos="354965" algn="l"/>
              </a:tabLst>
            </a:pPr>
            <a:r>
              <a:rPr sz="3000" b="1" dirty="0">
                <a:latin typeface="Arial"/>
                <a:cs typeface="Arial"/>
              </a:rPr>
              <a:t>Peripheral  Device</a:t>
            </a:r>
            <a:r>
              <a:rPr sz="3000" b="1" spc="10" dirty="0">
                <a:latin typeface="Arial"/>
                <a:cs typeface="Arial"/>
              </a:rPr>
              <a:t>  </a:t>
            </a:r>
            <a:r>
              <a:rPr sz="3000" b="1" dirty="0">
                <a:latin typeface="Arial"/>
                <a:cs typeface="Arial"/>
              </a:rPr>
              <a:t>Management</a:t>
            </a:r>
            <a:r>
              <a:rPr sz="3000" dirty="0">
                <a:latin typeface="Arial"/>
                <a:cs typeface="Arial"/>
              </a:rPr>
              <a:t>:  Controls</a:t>
            </a:r>
            <a:r>
              <a:rPr sz="3000" spc="5" dirty="0">
                <a:latin typeface="Arial"/>
                <a:cs typeface="Arial"/>
              </a:rPr>
              <a:t>  </a:t>
            </a:r>
            <a:r>
              <a:rPr sz="3000" spc="-25" dirty="0">
                <a:latin typeface="Arial"/>
                <a:cs typeface="Arial"/>
              </a:rPr>
              <a:t>and </a:t>
            </a:r>
            <a:r>
              <a:rPr sz="3000" dirty="0">
                <a:latin typeface="Arial"/>
                <a:cs typeface="Arial"/>
              </a:rPr>
              <a:t>monitors</a:t>
            </a:r>
            <a:r>
              <a:rPr sz="3000" spc="710" dirty="0">
                <a:latin typeface="Arial"/>
                <a:cs typeface="Arial"/>
              </a:rPr>
              <a:t>  </a:t>
            </a:r>
            <a:r>
              <a:rPr sz="3000" spc="-10" dirty="0">
                <a:latin typeface="Arial"/>
                <a:cs typeface="Arial"/>
              </a:rPr>
              <a:t>network-</a:t>
            </a:r>
            <a:r>
              <a:rPr sz="3000" dirty="0">
                <a:latin typeface="Arial"/>
                <a:cs typeface="Arial"/>
              </a:rPr>
              <a:t>attached</a:t>
            </a:r>
            <a:r>
              <a:rPr sz="3000" spc="720" dirty="0">
                <a:latin typeface="Arial"/>
                <a:cs typeface="Arial"/>
              </a:rPr>
              <a:t>  </a:t>
            </a:r>
            <a:r>
              <a:rPr sz="3000" dirty="0">
                <a:latin typeface="Arial"/>
                <a:cs typeface="Arial"/>
              </a:rPr>
              <a:t>devices</a:t>
            </a:r>
            <a:r>
              <a:rPr sz="3000" spc="725" dirty="0">
                <a:latin typeface="Arial"/>
                <a:cs typeface="Arial"/>
              </a:rPr>
              <a:t>  </a:t>
            </a:r>
            <a:r>
              <a:rPr sz="3000" dirty="0">
                <a:latin typeface="Arial"/>
                <a:cs typeface="Arial"/>
              </a:rPr>
              <a:t>such</a:t>
            </a:r>
            <a:r>
              <a:rPr sz="3000" spc="720" dirty="0">
                <a:latin typeface="Arial"/>
                <a:cs typeface="Arial"/>
              </a:rPr>
              <a:t>  </a:t>
            </a:r>
            <a:r>
              <a:rPr sz="3000" spc="-25" dirty="0">
                <a:latin typeface="Arial"/>
                <a:cs typeface="Arial"/>
              </a:rPr>
              <a:t>as </a:t>
            </a:r>
            <a:r>
              <a:rPr sz="3000" dirty="0">
                <a:latin typeface="Arial"/>
                <a:cs typeface="Arial"/>
              </a:rPr>
              <a:t>scanners,</a:t>
            </a:r>
            <a:r>
              <a:rPr sz="3000" spc="-75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printers,</a:t>
            </a:r>
            <a:r>
              <a:rPr sz="3000" spc="-50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and</a:t>
            </a:r>
            <a:r>
              <a:rPr sz="3000" spc="-40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external</a:t>
            </a:r>
            <a:r>
              <a:rPr sz="3000" spc="-25" dirty="0">
                <a:latin typeface="Arial"/>
                <a:cs typeface="Arial"/>
              </a:rPr>
              <a:t> </a:t>
            </a:r>
            <a:r>
              <a:rPr sz="3000" spc="-10" dirty="0">
                <a:latin typeface="Arial"/>
                <a:cs typeface="Arial"/>
              </a:rPr>
              <a:t>storage.</a:t>
            </a:r>
            <a:endParaRPr sz="30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25" dirty="0"/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83795" rIns="0" bIns="0" rtlCol="0">
            <a:spAutoFit/>
          </a:bodyPr>
          <a:lstStyle/>
          <a:p>
            <a:pPr marL="445134">
              <a:lnSpc>
                <a:spcPct val="100000"/>
              </a:lnSpc>
              <a:spcBef>
                <a:spcPts val="100"/>
              </a:spcBef>
            </a:pPr>
            <a:r>
              <a:rPr dirty="0"/>
              <a:t>User</a:t>
            </a:r>
            <a:r>
              <a:rPr spc="-60" dirty="0"/>
              <a:t> </a:t>
            </a:r>
            <a:r>
              <a:rPr dirty="0"/>
              <a:t>Management</a:t>
            </a:r>
            <a:r>
              <a:rPr spc="-110" dirty="0"/>
              <a:t> </a:t>
            </a:r>
            <a:r>
              <a:rPr dirty="0"/>
              <a:t>in</a:t>
            </a:r>
            <a:r>
              <a:rPr spc="-60" dirty="0"/>
              <a:t> </a:t>
            </a:r>
            <a:r>
              <a:rPr spc="-25" dirty="0"/>
              <a:t>NOS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330" marR="7620" indent="-342265">
              <a:lnSpc>
                <a:spcPct val="150000"/>
              </a:lnSpc>
              <a:spcBef>
                <a:spcPts val="95"/>
              </a:spcBef>
              <a:buFont typeface="Arial"/>
              <a:buChar char="•"/>
              <a:tabLst>
                <a:tab pos="355600" algn="l"/>
              </a:tabLst>
            </a:pPr>
            <a:r>
              <a:rPr b="1" dirty="0">
                <a:latin typeface="Arial"/>
                <a:cs typeface="Arial"/>
              </a:rPr>
              <a:t>Authentication</a:t>
            </a:r>
            <a:r>
              <a:rPr b="1" spc="75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(Usernames,</a:t>
            </a:r>
            <a:r>
              <a:rPr spc="770" dirty="0">
                <a:latin typeface="Arial"/>
                <a:cs typeface="Arial"/>
              </a:rPr>
              <a:t> </a:t>
            </a:r>
            <a:r>
              <a:rPr spc="-10" dirty="0">
                <a:latin typeface="Arial"/>
                <a:cs typeface="Arial"/>
              </a:rPr>
              <a:t>Passwords, 	Multi-factor</a:t>
            </a:r>
            <a:r>
              <a:rPr spc="-150" dirty="0">
                <a:latin typeface="Arial"/>
                <a:cs typeface="Arial"/>
              </a:rPr>
              <a:t> </a:t>
            </a:r>
            <a:r>
              <a:rPr spc="-10" dirty="0">
                <a:latin typeface="Arial"/>
                <a:cs typeface="Arial"/>
              </a:rPr>
              <a:t>Authentication)</a:t>
            </a:r>
          </a:p>
          <a:p>
            <a:pPr marL="354330" marR="5080" indent="-342265">
              <a:lnSpc>
                <a:spcPct val="150000"/>
              </a:lnSpc>
              <a:spcBef>
                <a:spcPts val="770"/>
              </a:spcBef>
              <a:buFont typeface="Arial"/>
              <a:buChar char="•"/>
              <a:tabLst>
                <a:tab pos="355600" algn="l"/>
                <a:tab pos="3630295" algn="l"/>
                <a:tab pos="6750050" algn="l"/>
              </a:tabLst>
            </a:pPr>
            <a:r>
              <a:rPr b="1" spc="-10" dirty="0">
                <a:latin typeface="Arial"/>
                <a:cs typeface="Arial"/>
              </a:rPr>
              <a:t>Authorization</a:t>
            </a:r>
            <a:r>
              <a:rPr b="1" dirty="0">
                <a:latin typeface="Arial"/>
                <a:cs typeface="Arial"/>
              </a:rPr>
              <a:t>	</a:t>
            </a:r>
            <a:r>
              <a:rPr spc="-10" dirty="0">
                <a:latin typeface="Arial"/>
                <a:cs typeface="Arial"/>
              </a:rPr>
              <a:t>(Permissions,</a:t>
            </a:r>
            <a:r>
              <a:rPr dirty="0">
                <a:latin typeface="Arial"/>
                <a:cs typeface="Arial"/>
              </a:rPr>
              <a:t>	</a:t>
            </a:r>
            <a:r>
              <a:rPr spc="-10" dirty="0">
                <a:latin typeface="Arial"/>
                <a:cs typeface="Arial"/>
              </a:rPr>
              <a:t>Access 	</a:t>
            </a:r>
            <a:r>
              <a:rPr dirty="0">
                <a:latin typeface="Arial"/>
                <a:cs typeface="Arial"/>
              </a:rPr>
              <a:t>Control</a:t>
            </a:r>
            <a:r>
              <a:rPr spc="-60" dirty="0">
                <a:latin typeface="Arial"/>
                <a:cs typeface="Arial"/>
              </a:rPr>
              <a:t> </a:t>
            </a:r>
            <a:r>
              <a:rPr spc="-10" dirty="0">
                <a:latin typeface="Arial"/>
                <a:cs typeface="Arial"/>
              </a:rPr>
              <a:t>Lists)</a:t>
            </a:r>
          </a:p>
          <a:p>
            <a:pPr marL="353695" indent="-340995">
              <a:lnSpc>
                <a:spcPct val="100000"/>
              </a:lnSpc>
              <a:spcBef>
                <a:spcPts val="2690"/>
              </a:spcBef>
              <a:buChar char="•"/>
              <a:tabLst>
                <a:tab pos="353695" algn="l"/>
              </a:tabLst>
            </a:pPr>
            <a:r>
              <a:rPr dirty="0">
                <a:latin typeface="Arial"/>
                <a:cs typeface="Arial"/>
              </a:rPr>
              <a:t>User</a:t>
            </a:r>
            <a:r>
              <a:rPr spc="-5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Roles</a:t>
            </a:r>
            <a:r>
              <a:rPr spc="-1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and</a:t>
            </a:r>
            <a:r>
              <a:rPr spc="-30" dirty="0">
                <a:latin typeface="Arial"/>
                <a:cs typeface="Arial"/>
              </a:rPr>
              <a:t> </a:t>
            </a:r>
            <a:r>
              <a:rPr spc="-10" dirty="0">
                <a:latin typeface="Arial"/>
                <a:cs typeface="Arial"/>
              </a:rPr>
              <a:t>Policies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25" dirty="0"/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83795" rIns="0" bIns="0" rtlCol="0">
            <a:spAutoFit/>
          </a:bodyPr>
          <a:lstStyle/>
          <a:p>
            <a:pPr marL="507365">
              <a:lnSpc>
                <a:spcPct val="100000"/>
              </a:lnSpc>
              <a:spcBef>
                <a:spcPts val="100"/>
              </a:spcBef>
            </a:pPr>
            <a:r>
              <a:rPr dirty="0"/>
              <a:t>Security</a:t>
            </a:r>
            <a:r>
              <a:rPr spc="-120" dirty="0"/>
              <a:t> </a:t>
            </a:r>
            <a:r>
              <a:rPr dirty="0"/>
              <a:t>Features</a:t>
            </a:r>
            <a:r>
              <a:rPr spc="-80" dirty="0"/>
              <a:t> </a:t>
            </a:r>
            <a:r>
              <a:rPr dirty="0"/>
              <a:t>in</a:t>
            </a:r>
            <a:r>
              <a:rPr spc="-100" dirty="0"/>
              <a:t> </a:t>
            </a:r>
            <a:r>
              <a:rPr spc="-25" dirty="0"/>
              <a:t>NOS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3045" y="2232246"/>
            <a:ext cx="6101080" cy="30010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3695" indent="-340995">
              <a:lnSpc>
                <a:spcPct val="100000"/>
              </a:lnSpc>
              <a:spcBef>
                <a:spcPts val="100"/>
              </a:spcBef>
              <a:buChar char="•"/>
              <a:tabLst>
                <a:tab pos="353695" algn="l"/>
              </a:tabLst>
            </a:pPr>
            <a:r>
              <a:rPr sz="3200" dirty="0">
                <a:latin typeface="Arial"/>
                <a:cs typeface="Arial"/>
              </a:rPr>
              <a:t>Firewalls</a:t>
            </a:r>
            <a:r>
              <a:rPr sz="3200" spc="-7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&amp;</a:t>
            </a:r>
            <a:r>
              <a:rPr sz="3200" spc="-3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Intrusion</a:t>
            </a:r>
            <a:r>
              <a:rPr sz="3200" spc="-55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Detection</a:t>
            </a:r>
            <a:endParaRPr sz="3200">
              <a:latin typeface="Arial"/>
              <a:cs typeface="Arial"/>
            </a:endParaRPr>
          </a:p>
          <a:p>
            <a:pPr marL="353695" indent="-340995">
              <a:lnSpc>
                <a:spcPct val="100000"/>
              </a:lnSpc>
              <a:spcBef>
                <a:spcPts val="2690"/>
              </a:spcBef>
              <a:buChar char="•"/>
              <a:tabLst>
                <a:tab pos="353695" algn="l"/>
              </a:tabLst>
            </a:pPr>
            <a:r>
              <a:rPr sz="3200" dirty="0">
                <a:latin typeface="Arial"/>
                <a:cs typeface="Arial"/>
              </a:rPr>
              <a:t>Encryption</a:t>
            </a:r>
            <a:r>
              <a:rPr sz="3200" spc="-9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(TLS,</a:t>
            </a:r>
            <a:r>
              <a:rPr sz="3200" spc="-65" dirty="0">
                <a:latin typeface="Arial"/>
                <a:cs typeface="Arial"/>
              </a:rPr>
              <a:t> </a:t>
            </a:r>
            <a:r>
              <a:rPr sz="3200" spc="-20" dirty="0">
                <a:latin typeface="Arial"/>
                <a:cs typeface="Arial"/>
              </a:rPr>
              <a:t>SSL)</a:t>
            </a:r>
            <a:endParaRPr sz="3200">
              <a:latin typeface="Arial"/>
              <a:cs typeface="Arial"/>
            </a:endParaRPr>
          </a:p>
          <a:p>
            <a:pPr marL="353695" indent="-340995">
              <a:lnSpc>
                <a:spcPct val="100000"/>
              </a:lnSpc>
              <a:spcBef>
                <a:spcPts val="2690"/>
              </a:spcBef>
              <a:buChar char="•"/>
              <a:tabLst>
                <a:tab pos="353695" algn="l"/>
              </a:tabLst>
            </a:pPr>
            <a:r>
              <a:rPr sz="3200" dirty="0">
                <a:latin typeface="Arial"/>
                <a:cs typeface="Arial"/>
              </a:rPr>
              <a:t>VPN</a:t>
            </a:r>
            <a:r>
              <a:rPr sz="3200" spc="-4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&amp;</a:t>
            </a:r>
            <a:r>
              <a:rPr sz="3200" spc="10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Remote</a:t>
            </a:r>
            <a:r>
              <a:rPr sz="3200" spc="-21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Access</a:t>
            </a:r>
            <a:r>
              <a:rPr sz="3200" spc="-35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Security</a:t>
            </a:r>
            <a:endParaRPr sz="3200">
              <a:latin typeface="Arial"/>
              <a:cs typeface="Arial"/>
            </a:endParaRPr>
          </a:p>
          <a:p>
            <a:pPr marL="353695" indent="-340995">
              <a:lnSpc>
                <a:spcPct val="100000"/>
              </a:lnSpc>
              <a:spcBef>
                <a:spcPts val="2685"/>
              </a:spcBef>
              <a:buChar char="•"/>
              <a:tabLst>
                <a:tab pos="353695" algn="l"/>
              </a:tabLst>
            </a:pPr>
            <a:r>
              <a:rPr sz="3200" spc="-10" dirty="0">
                <a:latin typeface="Arial"/>
                <a:cs typeface="Arial"/>
              </a:rPr>
              <a:t>Role-</a:t>
            </a:r>
            <a:r>
              <a:rPr sz="3200" dirty="0">
                <a:latin typeface="Arial"/>
                <a:cs typeface="Arial"/>
              </a:rPr>
              <a:t>based</a:t>
            </a:r>
            <a:r>
              <a:rPr sz="3200" spc="-3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access</a:t>
            </a:r>
            <a:r>
              <a:rPr sz="3200" spc="-10" dirty="0">
                <a:latin typeface="Arial"/>
                <a:cs typeface="Arial"/>
              </a:rPr>
              <a:t> control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25" dirty="0"/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83795" rIns="0" bIns="0" rtlCol="0">
            <a:spAutoFit/>
          </a:bodyPr>
          <a:lstStyle/>
          <a:p>
            <a:pPr marL="782320">
              <a:lnSpc>
                <a:spcPct val="100000"/>
              </a:lnSpc>
              <a:spcBef>
                <a:spcPts val="100"/>
              </a:spcBef>
            </a:pPr>
            <a:r>
              <a:rPr dirty="0"/>
              <a:t>Remote</a:t>
            </a:r>
            <a:r>
              <a:rPr spc="-254" dirty="0"/>
              <a:t> </a:t>
            </a:r>
            <a:r>
              <a:rPr dirty="0"/>
              <a:t>Access</a:t>
            </a:r>
            <a:r>
              <a:rPr spc="-85" dirty="0"/>
              <a:t> </a:t>
            </a:r>
            <a:r>
              <a:rPr dirty="0"/>
              <a:t>in</a:t>
            </a:r>
            <a:r>
              <a:rPr spc="-60" dirty="0"/>
              <a:t> </a:t>
            </a:r>
            <a:r>
              <a:rPr spc="-25" dirty="0"/>
              <a:t>NOS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3045" y="2232246"/>
            <a:ext cx="6236335" cy="30010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3695" indent="-340995">
              <a:lnSpc>
                <a:spcPct val="100000"/>
              </a:lnSpc>
              <a:spcBef>
                <a:spcPts val="100"/>
              </a:spcBef>
              <a:buChar char="•"/>
              <a:tabLst>
                <a:tab pos="353695" algn="l"/>
              </a:tabLst>
            </a:pPr>
            <a:r>
              <a:rPr sz="3200" dirty="0">
                <a:latin typeface="Arial"/>
                <a:cs typeface="Arial"/>
              </a:rPr>
              <a:t>Remote</a:t>
            </a:r>
            <a:r>
              <a:rPr sz="3200" spc="-4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Desktop</a:t>
            </a:r>
            <a:r>
              <a:rPr sz="3200" spc="-7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Protocol</a:t>
            </a:r>
            <a:r>
              <a:rPr sz="3200" spc="-55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(RDP)</a:t>
            </a:r>
            <a:endParaRPr sz="3200">
              <a:latin typeface="Arial"/>
              <a:cs typeface="Arial"/>
            </a:endParaRPr>
          </a:p>
          <a:p>
            <a:pPr marL="353695" indent="-340995">
              <a:lnSpc>
                <a:spcPct val="100000"/>
              </a:lnSpc>
              <a:spcBef>
                <a:spcPts val="2690"/>
              </a:spcBef>
              <a:buChar char="•"/>
              <a:tabLst>
                <a:tab pos="353695" algn="l"/>
              </a:tabLst>
            </a:pPr>
            <a:r>
              <a:rPr sz="3200" dirty="0">
                <a:latin typeface="Arial"/>
                <a:cs typeface="Arial"/>
              </a:rPr>
              <a:t>Secure</a:t>
            </a:r>
            <a:r>
              <a:rPr sz="3200" spc="-7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Shell</a:t>
            </a:r>
            <a:r>
              <a:rPr sz="3200" spc="-60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(SSH)</a:t>
            </a:r>
            <a:endParaRPr sz="3200">
              <a:latin typeface="Arial"/>
              <a:cs typeface="Arial"/>
            </a:endParaRPr>
          </a:p>
          <a:p>
            <a:pPr marL="353695" indent="-340995">
              <a:lnSpc>
                <a:spcPct val="100000"/>
              </a:lnSpc>
              <a:spcBef>
                <a:spcPts val="2690"/>
              </a:spcBef>
              <a:buChar char="•"/>
              <a:tabLst>
                <a:tab pos="353695" algn="l"/>
              </a:tabLst>
            </a:pPr>
            <a:r>
              <a:rPr sz="3200" dirty="0">
                <a:latin typeface="Arial"/>
                <a:cs typeface="Arial"/>
              </a:rPr>
              <a:t>Virtual</a:t>
            </a:r>
            <a:r>
              <a:rPr sz="3200" spc="-7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Private</a:t>
            </a:r>
            <a:r>
              <a:rPr sz="3200" spc="-8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Networks</a:t>
            </a:r>
            <a:r>
              <a:rPr sz="3200" spc="-65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(VPNs)</a:t>
            </a:r>
            <a:endParaRPr sz="3200">
              <a:latin typeface="Arial"/>
              <a:cs typeface="Arial"/>
            </a:endParaRPr>
          </a:p>
          <a:p>
            <a:pPr marL="353695" indent="-340995">
              <a:lnSpc>
                <a:spcPct val="100000"/>
              </a:lnSpc>
              <a:spcBef>
                <a:spcPts val="2685"/>
              </a:spcBef>
              <a:buChar char="•"/>
              <a:tabLst>
                <a:tab pos="353695" algn="l"/>
              </a:tabLst>
            </a:pPr>
            <a:r>
              <a:rPr sz="3200" spc="-30" dirty="0">
                <a:latin typeface="Arial"/>
                <a:cs typeface="Arial"/>
              </a:rPr>
              <a:t>Web-</a:t>
            </a:r>
            <a:r>
              <a:rPr sz="3200" dirty="0">
                <a:latin typeface="Arial"/>
                <a:cs typeface="Arial"/>
              </a:rPr>
              <a:t>based</a:t>
            </a:r>
            <a:r>
              <a:rPr sz="3200" spc="-4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access</a:t>
            </a:r>
            <a:r>
              <a:rPr sz="3200" spc="-20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portals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25" dirty="0"/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136345" y="592425"/>
            <a:ext cx="778192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dirty="0"/>
              <a:t>Remote</a:t>
            </a:r>
            <a:r>
              <a:rPr sz="4000" spc="-95" dirty="0"/>
              <a:t> </a:t>
            </a:r>
            <a:r>
              <a:rPr sz="4000" dirty="0"/>
              <a:t>Desktop</a:t>
            </a:r>
            <a:r>
              <a:rPr sz="4000" spc="-114" dirty="0"/>
              <a:t> </a:t>
            </a:r>
            <a:r>
              <a:rPr sz="4000" dirty="0"/>
              <a:t>Protocol</a:t>
            </a:r>
            <a:r>
              <a:rPr sz="4000" spc="-95" dirty="0"/>
              <a:t> </a:t>
            </a:r>
            <a:r>
              <a:rPr sz="4000" spc="-10" dirty="0"/>
              <a:t>(RDP)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840653" y="1379210"/>
            <a:ext cx="8375650" cy="52438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330" marR="5715" indent="-342265" algn="just">
              <a:lnSpc>
                <a:spcPct val="150000"/>
              </a:lnSpc>
              <a:spcBef>
                <a:spcPts val="100"/>
              </a:spcBef>
              <a:buFont typeface="Arial"/>
              <a:buChar char="•"/>
              <a:tabLst>
                <a:tab pos="355600" algn="l"/>
              </a:tabLst>
            </a:pPr>
            <a:r>
              <a:rPr sz="3200" dirty="0">
                <a:latin typeface="Calibri"/>
                <a:cs typeface="Calibri"/>
              </a:rPr>
              <a:t>RDP</a:t>
            </a:r>
            <a:r>
              <a:rPr sz="3200" spc="43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is</a:t>
            </a:r>
            <a:r>
              <a:rPr sz="3200" spc="4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</a:t>
            </a:r>
            <a:r>
              <a:rPr sz="3200" spc="42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protocol</a:t>
            </a:r>
            <a:r>
              <a:rPr sz="3200" spc="42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developed</a:t>
            </a:r>
            <a:r>
              <a:rPr sz="3200" spc="4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by</a:t>
            </a:r>
            <a:r>
              <a:rPr sz="3200" spc="41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Microsoft</a:t>
            </a:r>
            <a:r>
              <a:rPr sz="3200" spc="44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that 	</a:t>
            </a:r>
            <a:r>
              <a:rPr sz="3200" dirty="0">
                <a:latin typeface="Calibri"/>
                <a:cs typeface="Calibri"/>
              </a:rPr>
              <a:t>allows</a:t>
            </a:r>
            <a:r>
              <a:rPr sz="3200" spc="5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users</a:t>
            </a:r>
            <a:r>
              <a:rPr sz="3200" spc="5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to</a:t>
            </a:r>
            <a:r>
              <a:rPr sz="3200" spc="5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remotely</a:t>
            </a:r>
            <a:r>
              <a:rPr sz="3200" spc="5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access</a:t>
            </a:r>
            <a:r>
              <a:rPr sz="3200" spc="5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and</a:t>
            </a:r>
            <a:r>
              <a:rPr sz="3200" spc="5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control</a:t>
            </a:r>
            <a:r>
              <a:rPr sz="3200" spc="545" dirty="0">
                <a:latin typeface="Calibri"/>
                <a:cs typeface="Calibri"/>
              </a:rPr>
              <a:t> </a:t>
            </a:r>
            <a:r>
              <a:rPr sz="3200" spc="-50" dirty="0">
                <a:latin typeface="Calibri"/>
                <a:cs typeface="Calibri"/>
              </a:rPr>
              <a:t>a 	</a:t>
            </a:r>
            <a:r>
              <a:rPr sz="3200" dirty="0">
                <a:latin typeface="Calibri"/>
                <a:cs typeface="Calibri"/>
              </a:rPr>
              <a:t>computer</a:t>
            </a:r>
            <a:r>
              <a:rPr sz="3200" spc="-1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running</a:t>
            </a:r>
            <a:r>
              <a:rPr sz="3200" spc="-10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Windows.</a:t>
            </a:r>
            <a:endParaRPr sz="3200">
              <a:latin typeface="Calibri"/>
              <a:cs typeface="Calibri"/>
            </a:endParaRPr>
          </a:p>
          <a:p>
            <a:pPr marL="354330" marR="5080" indent="-342265" algn="just">
              <a:lnSpc>
                <a:spcPct val="150000"/>
              </a:lnSpc>
              <a:spcBef>
                <a:spcPts val="765"/>
              </a:spcBef>
              <a:buFont typeface="Arial"/>
              <a:buChar char="•"/>
              <a:tabLst>
                <a:tab pos="355600" algn="l"/>
              </a:tabLst>
            </a:pPr>
            <a:r>
              <a:rPr sz="3200" dirty="0">
                <a:latin typeface="Calibri"/>
                <a:cs typeface="Calibri"/>
              </a:rPr>
              <a:t>It</a:t>
            </a:r>
            <a:r>
              <a:rPr sz="3200" spc="5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provides</a:t>
            </a:r>
            <a:r>
              <a:rPr sz="3200" spc="5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</a:t>
            </a:r>
            <a:r>
              <a:rPr sz="3200" spc="5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graphical</a:t>
            </a:r>
            <a:r>
              <a:rPr sz="3200" spc="5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user</a:t>
            </a:r>
            <a:r>
              <a:rPr sz="3200" spc="5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interface</a:t>
            </a:r>
            <a:r>
              <a:rPr sz="3200" spc="5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(GUI)</a:t>
            </a:r>
            <a:r>
              <a:rPr sz="3200" spc="575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so 	</a:t>
            </a:r>
            <a:r>
              <a:rPr sz="3200" dirty="0">
                <a:latin typeface="Calibri"/>
                <a:cs typeface="Calibri"/>
              </a:rPr>
              <a:t>you</a:t>
            </a:r>
            <a:r>
              <a:rPr sz="3200" spc="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can</a:t>
            </a:r>
            <a:r>
              <a:rPr sz="3200" spc="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see</a:t>
            </a:r>
            <a:r>
              <a:rPr sz="3200" spc="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desktop</a:t>
            </a:r>
            <a:r>
              <a:rPr sz="3200" spc="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of</a:t>
            </a:r>
            <a:r>
              <a:rPr sz="3200" spc="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9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remote</a:t>
            </a:r>
            <a:r>
              <a:rPr sz="3200" spc="6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machine 	</a:t>
            </a:r>
            <a:r>
              <a:rPr sz="3200" dirty="0">
                <a:latin typeface="Calibri"/>
                <a:cs typeface="Calibri"/>
              </a:rPr>
              <a:t>and</a:t>
            </a:r>
            <a:r>
              <a:rPr sz="3200" spc="1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interact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with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it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as</a:t>
            </a:r>
            <a:r>
              <a:rPr sz="3200" spc="-3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if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you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were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sitting in</a:t>
            </a:r>
            <a:r>
              <a:rPr sz="3200" spc="-10" dirty="0">
                <a:latin typeface="Calibri"/>
                <a:cs typeface="Calibri"/>
              </a:rPr>
              <a:t> front 	</a:t>
            </a:r>
            <a:r>
              <a:rPr sz="3200" dirty="0">
                <a:latin typeface="Calibri"/>
                <a:cs typeface="Calibri"/>
              </a:rPr>
              <a:t>of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it.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25" dirty="0"/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66863" rIns="0" bIns="0" rtlCol="0">
            <a:spAutoFit/>
          </a:bodyPr>
          <a:lstStyle/>
          <a:p>
            <a:pPr marL="1345565">
              <a:lnSpc>
                <a:spcPct val="100000"/>
              </a:lnSpc>
              <a:spcBef>
                <a:spcPts val="100"/>
              </a:spcBef>
            </a:pPr>
            <a:r>
              <a:rPr dirty="0"/>
              <a:t>Secure</a:t>
            </a:r>
            <a:r>
              <a:rPr spc="-110" dirty="0"/>
              <a:t> </a:t>
            </a:r>
            <a:r>
              <a:rPr dirty="0"/>
              <a:t>Shell</a:t>
            </a:r>
            <a:r>
              <a:rPr spc="-75" dirty="0"/>
              <a:t> </a:t>
            </a:r>
            <a:r>
              <a:rPr spc="-10" dirty="0"/>
              <a:t>(SSH)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330" marR="5080" indent="-342265" algn="just">
              <a:lnSpc>
                <a:spcPct val="150000"/>
              </a:lnSpc>
              <a:spcBef>
                <a:spcPts val="95"/>
              </a:spcBef>
              <a:buFont typeface="Arial"/>
              <a:buChar char="•"/>
              <a:tabLst>
                <a:tab pos="355600" algn="l"/>
              </a:tabLst>
            </a:pPr>
            <a:r>
              <a:rPr dirty="0"/>
              <a:t>A</a:t>
            </a:r>
            <a:r>
              <a:rPr spc="280" dirty="0"/>
              <a:t> </a:t>
            </a:r>
            <a:r>
              <a:rPr dirty="0"/>
              <a:t>cryptographic</a:t>
            </a:r>
            <a:r>
              <a:rPr spc="275" dirty="0"/>
              <a:t> </a:t>
            </a:r>
            <a:r>
              <a:rPr dirty="0"/>
              <a:t>network</a:t>
            </a:r>
            <a:r>
              <a:rPr spc="295" dirty="0"/>
              <a:t> </a:t>
            </a:r>
            <a:r>
              <a:rPr dirty="0"/>
              <a:t>protocol</a:t>
            </a:r>
            <a:r>
              <a:rPr spc="250" dirty="0"/>
              <a:t> </a:t>
            </a:r>
            <a:r>
              <a:rPr dirty="0"/>
              <a:t>that</a:t>
            </a:r>
            <a:r>
              <a:rPr spc="295" dirty="0"/>
              <a:t> </a:t>
            </a:r>
            <a:r>
              <a:rPr spc="-10" dirty="0"/>
              <a:t>allows 	</a:t>
            </a:r>
            <a:r>
              <a:rPr dirty="0"/>
              <a:t>secure</a:t>
            </a:r>
            <a:r>
              <a:rPr spc="-15" dirty="0"/>
              <a:t> </a:t>
            </a:r>
            <a:r>
              <a:rPr dirty="0"/>
              <a:t>remote</a:t>
            </a:r>
            <a:r>
              <a:rPr spc="-10" dirty="0"/>
              <a:t> </a:t>
            </a:r>
            <a:r>
              <a:rPr dirty="0"/>
              <a:t>login and other</a:t>
            </a:r>
            <a:r>
              <a:rPr spc="-20" dirty="0"/>
              <a:t> </a:t>
            </a:r>
            <a:r>
              <a:rPr dirty="0"/>
              <a:t>secure</a:t>
            </a:r>
            <a:r>
              <a:rPr spc="25" dirty="0"/>
              <a:t> </a:t>
            </a:r>
            <a:r>
              <a:rPr spc="-10" dirty="0"/>
              <a:t>network 	</a:t>
            </a:r>
            <a:r>
              <a:rPr dirty="0"/>
              <a:t>services</a:t>
            </a:r>
            <a:r>
              <a:rPr spc="-105" dirty="0"/>
              <a:t> </a:t>
            </a:r>
            <a:r>
              <a:rPr dirty="0"/>
              <a:t>over</a:t>
            </a:r>
            <a:r>
              <a:rPr spc="-65" dirty="0"/>
              <a:t> </a:t>
            </a:r>
            <a:r>
              <a:rPr dirty="0"/>
              <a:t>an</a:t>
            </a:r>
            <a:r>
              <a:rPr spc="-50" dirty="0"/>
              <a:t> </a:t>
            </a:r>
            <a:r>
              <a:rPr dirty="0"/>
              <a:t>unsecured</a:t>
            </a:r>
            <a:r>
              <a:rPr spc="-70" dirty="0"/>
              <a:t> </a:t>
            </a:r>
            <a:r>
              <a:rPr spc="-10" dirty="0"/>
              <a:t>network.</a:t>
            </a:r>
          </a:p>
          <a:p>
            <a:pPr marL="354330" marR="8255" indent="-342265" algn="just">
              <a:lnSpc>
                <a:spcPct val="150000"/>
              </a:lnSpc>
              <a:spcBef>
                <a:spcPts val="770"/>
              </a:spcBef>
              <a:buFont typeface="Arial"/>
              <a:buChar char="•"/>
              <a:tabLst>
                <a:tab pos="355600" algn="l"/>
              </a:tabLst>
            </a:pPr>
            <a:r>
              <a:rPr dirty="0"/>
              <a:t>It</a:t>
            </a:r>
            <a:r>
              <a:rPr spc="645" dirty="0"/>
              <a:t>  </a:t>
            </a:r>
            <a:r>
              <a:rPr dirty="0"/>
              <a:t>provides</a:t>
            </a:r>
            <a:r>
              <a:rPr spc="640" dirty="0"/>
              <a:t>  </a:t>
            </a:r>
            <a:r>
              <a:rPr dirty="0"/>
              <a:t>confidentiality,</a:t>
            </a:r>
            <a:r>
              <a:rPr spc="655" dirty="0"/>
              <a:t>  </a:t>
            </a:r>
            <a:r>
              <a:rPr dirty="0"/>
              <a:t>integrity,</a:t>
            </a:r>
            <a:r>
              <a:rPr spc="640" dirty="0"/>
              <a:t>  </a:t>
            </a:r>
            <a:r>
              <a:rPr spc="-25" dirty="0"/>
              <a:t>and 	</a:t>
            </a:r>
            <a:r>
              <a:rPr spc="-10" dirty="0"/>
              <a:t>authentication.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25" dirty="0"/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195817" y="598373"/>
            <a:ext cx="7665084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dirty="0"/>
              <a:t>Virtual</a:t>
            </a:r>
            <a:r>
              <a:rPr sz="4000" spc="-170" dirty="0"/>
              <a:t> </a:t>
            </a:r>
            <a:r>
              <a:rPr sz="4000" dirty="0"/>
              <a:t>Private</a:t>
            </a:r>
            <a:r>
              <a:rPr sz="4000" spc="-135" dirty="0"/>
              <a:t> </a:t>
            </a:r>
            <a:r>
              <a:rPr sz="4000" dirty="0"/>
              <a:t>Networks</a:t>
            </a:r>
            <a:r>
              <a:rPr sz="4000" spc="-95" dirty="0"/>
              <a:t> </a:t>
            </a:r>
            <a:r>
              <a:rPr sz="4000" spc="-10" dirty="0"/>
              <a:t>(VPNs)</a:t>
            </a:r>
            <a:endParaRPr sz="4000"/>
          </a:p>
        </p:txBody>
      </p:sp>
      <p:sp>
        <p:nvSpPr>
          <p:cNvPr id="3" name="object 3"/>
          <p:cNvSpPr/>
          <p:nvPr/>
        </p:nvSpPr>
        <p:spPr>
          <a:xfrm>
            <a:off x="457200" y="3886200"/>
            <a:ext cx="9144000" cy="3429000"/>
          </a:xfrm>
          <a:custGeom>
            <a:avLst/>
            <a:gdLst/>
            <a:ahLst/>
            <a:cxnLst/>
            <a:rect l="l" t="t" r="r" b="b"/>
            <a:pathLst>
              <a:path w="9144000" h="3429000">
                <a:moveTo>
                  <a:pt x="9144000" y="3429000"/>
                </a:moveTo>
                <a:lnTo>
                  <a:pt x="0" y="3429000"/>
                </a:lnTo>
                <a:lnTo>
                  <a:pt x="0" y="0"/>
                </a:lnTo>
                <a:lnTo>
                  <a:pt x="9144000" y="0"/>
                </a:lnTo>
                <a:lnTo>
                  <a:pt x="9144000" y="34290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64515" y="1395329"/>
            <a:ext cx="8607425" cy="51282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5080" indent="-342900" algn="just">
              <a:lnSpc>
                <a:spcPct val="150000"/>
              </a:lnSpc>
              <a:spcBef>
                <a:spcPts val="100"/>
              </a:spcBef>
              <a:buChar char="•"/>
              <a:tabLst>
                <a:tab pos="354965" algn="l"/>
              </a:tabLst>
            </a:pPr>
            <a:r>
              <a:rPr sz="2700" dirty="0">
                <a:latin typeface="Arial"/>
                <a:cs typeface="Arial"/>
              </a:rPr>
              <a:t>A</a:t>
            </a:r>
            <a:r>
              <a:rPr sz="2700" spc="630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Virtual</a:t>
            </a:r>
            <a:r>
              <a:rPr sz="2700" spc="-5" dirty="0">
                <a:latin typeface="Arial"/>
                <a:cs typeface="Arial"/>
              </a:rPr>
              <a:t>  </a:t>
            </a:r>
            <a:r>
              <a:rPr sz="2700" dirty="0">
                <a:latin typeface="Arial"/>
                <a:cs typeface="Arial"/>
              </a:rPr>
              <a:t>Private</a:t>
            </a:r>
            <a:r>
              <a:rPr sz="2700" spc="10" dirty="0">
                <a:latin typeface="Arial"/>
                <a:cs typeface="Arial"/>
              </a:rPr>
              <a:t>  </a:t>
            </a:r>
            <a:r>
              <a:rPr sz="2700" dirty="0">
                <a:latin typeface="Arial"/>
                <a:cs typeface="Arial"/>
              </a:rPr>
              <a:t>Network</a:t>
            </a:r>
            <a:r>
              <a:rPr sz="2700" spc="15" dirty="0">
                <a:latin typeface="Arial"/>
                <a:cs typeface="Arial"/>
              </a:rPr>
              <a:t>  </a:t>
            </a:r>
            <a:r>
              <a:rPr sz="2700" dirty="0">
                <a:latin typeface="Arial"/>
                <a:cs typeface="Arial"/>
              </a:rPr>
              <a:t>(VPN)</a:t>
            </a:r>
            <a:r>
              <a:rPr sz="2700" spc="10" dirty="0">
                <a:latin typeface="Arial"/>
                <a:cs typeface="Arial"/>
              </a:rPr>
              <a:t>  </a:t>
            </a:r>
            <a:r>
              <a:rPr sz="2700" dirty="0">
                <a:latin typeface="Arial"/>
                <a:cs typeface="Arial"/>
              </a:rPr>
              <a:t>extends</a:t>
            </a:r>
            <a:r>
              <a:rPr sz="2700" spc="20" dirty="0">
                <a:latin typeface="Arial"/>
                <a:cs typeface="Arial"/>
              </a:rPr>
              <a:t>  </a:t>
            </a:r>
            <a:r>
              <a:rPr sz="2700" dirty="0">
                <a:latin typeface="Arial"/>
                <a:cs typeface="Arial"/>
              </a:rPr>
              <a:t>a</a:t>
            </a:r>
            <a:r>
              <a:rPr sz="2700" spc="5" dirty="0">
                <a:latin typeface="Arial"/>
                <a:cs typeface="Arial"/>
              </a:rPr>
              <a:t>  </a:t>
            </a:r>
            <a:r>
              <a:rPr sz="2700" spc="-10" dirty="0">
                <a:latin typeface="Arial"/>
                <a:cs typeface="Arial"/>
              </a:rPr>
              <a:t>private </a:t>
            </a:r>
            <a:r>
              <a:rPr sz="2700" dirty="0">
                <a:latin typeface="Arial"/>
                <a:cs typeface="Arial"/>
              </a:rPr>
              <a:t>network</a:t>
            </a:r>
            <a:r>
              <a:rPr sz="2700" spc="-40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across</a:t>
            </a:r>
            <a:r>
              <a:rPr sz="2700" spc="-10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a</a:t>
            </a:r>
            <a:r>
              <a:rPr sz="2700" spc="-30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public</a:t>
            </a:r>
            <a:r>
              <a:rPr sz="2700" spc="-10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network,</a:t>
            </a:r>
            <a:r>
              <a:rPr sz="2700" spc="-35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such</a:t>
            </a:r>
            <a:r>
              <a:rPr sz="2700" spc="-30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as</a:t>
            </a:r>
            <a:r>
              <a:rPr sz="2700" spc="-10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the</a:t>
            </a:r>
            <a:r>
              <a:rPr sz="2700" spc="-30" dirty="0">
                <a:latin typeface="Arial"/>
                <a:cs typeface="Arial"/>
              </a:rPr>
              <a:t> </a:t>
            </a:r>
            <a:r>
              <a:rPr sz="2700" spc="-10" dirty="0">
                <a:latin typeface="Arial"/>
                <a:cs typeface="Arial"/>
              </a:rPr>
              <a:t>Internet.</a:t>
            </a:r>
            <a:endParaRPr sz="2700">
              <a:latin typeface="Arial"/>
              <a:cs typeface="Arial"/>
            </a:endParaRPr>
          </a:p>
          <a:p>
            <a:pPr marL="354965" marR="5080" indent="-342900" algn="just">
              <a:lnSpc>
                <a:spcPct val="150000"/>
              </a:lnSpc>
              <a:spcBef>
                <a:spcPts val="645"/>
              </a:spcBef>
              <a:buChar char="•"/>
              <a:tabLst>
                <a:tab pos="354965" algn="l"/>
              </a:tabLst>
            </a:pPr>
            <a:r>
              <a:rPr sz="2700" dirty="0">
                <a:latin typeface="Arial"/>
                <a:cs typeface="Arial"/>
              </a:rPr>
              <a:t>It</a:t>
            </a:r>
            <a:r>
              <a:rPr sz="2700" spc="40" dirty="0">
                <a:latin typeface="Arial"/>
                <a:cs typeface="Arial"/>
              </a:rPr>
              <a:t>  </a:t>
            </a:r>
            <a:r>
              <a:rPr sz="2700" dirty="0">
                <a:latin typeface="Arial"/>
                <a:cs typeface="Arial"/>
              </a:rPr>
              <a:t>enables</a:t>
            </a:r>
            <a:r>
              <a:rPr sz="2700" spc="40" dirty="0">
                <a:latin typeface="Arial"/>
                <a:cs typeface="Arial"/>
              </a:rPr>
              <a:t>  </a:t>
            </a:r>
            <a:r>
              <a:rPr sz="2700" dirty="0">
                <a:latin typeface="Arial"/>
                <a:cs typeface="Arial"/>
              </a:rPr>
              <a:t>users</a:t>
            </a:r>
            <a:r>
              <a:rPr sz="2700" spc="35" dirty="0">
                <a:latin typeface="Arial"/>
                <a:cs typeface="Arial"/>
              </a:rPr>
              <a:t>  </a:t>
            </a:r>
            <a:r>
              <a:rPr sz="2700" dirty="0">
                <a:latin typeface="Arial"/>
                <a:cs typeface="Arial"/>
              </a:rPr>
              <a:t>to</a:t>
            </a:r>
            <a:r>
              <a:rPr sz="2700" spc="45" dirty="0">
                <a:latin typeface="Arial"/>
                <a:cs typeface="Arial"/>
              </a:rPr>
              <a:t>  </a:t>
            </a:r>
            <a:r>
              <a:rPr sz="2700" dirty="0">
                <a:latin typeface="Arial"/>
                <a:cs typeface="Arial"/>
              </a:rPr>
              <a:t>send</a:t>
            </a:r>
            <a:r>
              <a:rPr sz="2700" spc="45" dirty="0">
                <a:latin typeface="Arial"/>
                <a:cs typeface="Arial"/>
              </a:rPr>
              <a:t>  </a:t>
            </a:r>
            <a:r>
              <a:rPr sz="2700" dirty="0">
                <a:latin typeface="Arial"/>
                <a:cs typeface="Arial"/>
              </a:rPr>
              <a:t>and</a:t>
            </a:r>
            <a:r>
              <a:rPr sz="2700" spc="45" dirty="0">
                <a:latin typeface="Arial"/>
                <a:cs typeface="Arial"/>
              </a:rPr>
              <a:t>  </a:t>
            </a:r>
            <a:r>
              <a:rPr sz="2700" dirty="0">
                <a:latin typeface="Arial"/>
                <a:cs typeface="Arial"/>
              </a:rPr>
              <a:t>receive</a:t>
            </a:r>
            <a:r>
              <a:rPr sz="2700" spc="40" dirty="0">
                <a:latin typeface="Arial"/>
                <a:cs typeface="Arial"/>
              </a:rPr>
              <a:t>  </a:t>
            </a:r>
            <a:r>
              <a:rPr sz="2700" dirty="0">
                <a:latin typeface="Arial"/>
                <a:cs typeface="Arial"/>
              </a:rPr>
              <a:t>data</a:t>
            </a:r>
            <a:r>
              <a:rPr sz="2700" spc="45" dirty="0">
                <a:latin typeface="Arial"/>
                <a:cs typeface="Arial"/>
              </a:rPr>
              <a:t>  </a:t>
            </a:r>
            <a:r>
              <a:rPr sz="2700" spc="-10" dirty="0">
                <a:latin typeface="Arial"/>
                <a:cs typeface="Arial"/>
              </a:rPr>
              <a:t>across </a:t>
            </a:r>
            <a:r>
              <a:rPr sz="2700" dirty="0">
                <a:latin typeface="Arial"/>
                <a:cs typeface="Arial"/>
              </a:rPr>
              <a:t>shared</a:t>
            </a:r>
            <a:r>
              <a:rPr sz="2700" spc="275" dirty="0">
                <a:latin typeface="Arial"/>
                <a:cs typeface="Arial"/>
              </a:rPr>
              <a:t>  </a:t>
            </a:r>
            <a:r>
              <a:rPr sz="2700" dirty="0">
                <a:latin typeface="Arial"/>
                <a:cs typeface="Arial"/>
              </a:rPr>
              <a:t>or</a:t>
            </a:r>
            <a:r>
              <a:rPr sz="2700" spc="275" dirty="0">
                <a:latin typeface="Arial"/>
                <a:cs typeface="Arial"/>
              </a:rPr>
              <a:t>  </a:t>
            </a:r>
            <a:r>
              <a:rPr sz="2700" dirty="0">
                <a:latin typeface="Arial"/>
                <a:cs typeface="Arial"/>
              </a:rPr>
              <a:t>public</a:t>
            </a:r>
            <a:r>
              <a:rPr sz="2700" spc="265" dirty="0">
                <a:latin typeface="Arial"/>
                <a:cs typeface="Arial"/>
              </a:rPr>
              <a:t>  </a:t>
            </a:r>
            <a:r>
              <a:rPr sz="2700" dirty="0">
                <a:latin typeface="Arial"/>
                <a:cs typeface="Arial"/>
              </a:rPr>
              <a:t>networks</a:t>
            </a:r>
            <a:r>
              <a:rPr sz="2700" spc="275" dirty="0">
                <a:latin typeface="Arial"/>
                <a:cs typeface="Arial"/>
              </a:rPr>
              <a:t>  </a:t>
            </a:r>
            <a:r>
              <a:rPr sz="2700" dirty="0">
                <a:latin typeface="Arial"/>
                <a:cs typeface="Arial"/>
              </a:rPr>
              <a:t>as</a:t>
            </a:r>
            <a:r>
              <a:rPr sz="2700" spc="265" dirty="0">
                <a:latin typeface="Arial"/>
                <a:cs typeface="Arial"/>
              </a:rPr>
              <a:t>  </a:t>
            </a:r>
            <a:r>
              <a:rPr sz="2700" dirty="0">
                <a:latin typeface="Arial"/>
                <a:cs typeface="Arial"/>
              </a:rPr>
              <a:t>if</a:t>
            </a:r>
            <a:r>
              <a:rPr sz="2700" spc="270" dirty="0">
                <a:latin typeface="Arial"/>
                <a:cs typeface="Arial"/>
              </a:rPr>
              <a:t>  </a:t>
            </a:r>
            <a:r>
              <a:rPr sz="2700" dirty="0">
                <a:latin typeface="Arial"/>
                <a:cs typeface="Arial"/>
              </a:rPr>
              <a:t>their</a:t>
            </a:r>
            <a:r>
              <a:rPr sz="2700" spc="270" dirty="0">
                <a:latin typeface="Arial"/>
                <a:cs typeface="Arial"/>
              </a:rPr>
              <a:t>  </a:t>
            </a:r>
            <a:r>
              <a:rPr sz="2700" spc="-10" dirty="0">
                <a:latin typeface="Arial"/>
                <a:cs typeface="Arial"/>
              </a:rPr>
              <a:t>computing </a:t>
            </a:r>
            <a:r>
              <a:rPr sz="2700" dirty="0">
                <a:latin typeface="Arial"/>
                <a:cs typeface="Arial"/>
              </a:rPr>
              <a:t>devices</a:t>
            </a:r>
            <a:r>
              <a:rPr sz="2700" spc="470" dirty="0">
                <a:latin typeface="Arial"/>
                <a:cs typeface="Arial"/>
              </a:rPr>
              <a:t>  </a:t>
            </a:r>
            <a:r>
              <a:rPr sz="2700" dirty="0">
                <a:latin typeface="Arial"/>
                <a:cs typeface="Arial"/>
              </a:rPr>
              <a:t>were</a:t>
            </a:r>
            <a:r>
              <a:rPr sz="2700" spc="459" dirty="0">
                <a:latin typeface="Arial"/>
                <a:cs typeface="Arial"/>
              </a:rPr>
              <a:t>  </a:t>
            </a:r>
            <a:r>
              <a:rPr sz="2700" dirty="0">
                <a:latin typeface="Arial"/>
                <a:cs typeface="Arial"/>
              </a:rPr>
              <a:t>directly</a:t>
            </a:r>
            <a:r>
              <a:rPr sz="2700" spc="475" dirty="0">
                <a:latin typeface="Arial"/>
                <a:cs typeface="Arial"/>
              </a:rPr>
              <a:t>  </a:t>
            </a:r>
            <a:r>
              <a:rPr sz="2700" dirty="0">
                <a:latin typeface="Arial"/>
                <a:cs typeface="Arial"/>
              </a:rPr>
              <a:t>connected</a:t>
            </a:r>
            <a:r>
              <a:rPr sz="2700" spc="459" dirty="0">
                <a:latin typeface="Arial"/>
                <a:cs typeface="Arial"/>
              </a:rPr>
              <a:t>  </a:t>
            </a:r>
            <a:r>
              <a:rPr sz="2700" dirty="0">
                <a:latin typeface="Arial"/>
                <a:cs typeface="Arial"/>
              </a:rPr>
              <a:t>to</a:t>
            </a:r>
            <a:r>
              <a:rPr sz="2700" spc="480" dirty="0">
                <a:latin typeface="Arial"/>
                <a:cs typeface="Arial"/>
              </a:rPr>
              <a:t>  </a:t>
            </a:r>
            <a:r>
              <a:rPr sz="2700" dirty="0">
                <a:latin typeface="Arial"/>
                <a:cs typeface="Arial"/>
              </a:rPr>
              <a:t>the</a:t>
            </a:r>
            <a:r>
              <a:rPr sz="2700" spc="459" dirty="0">
                <a:latin typeface="Arial"/>
                <a:cs typeface="Arial"/>
              </a:rPr>
              <a:t>  </a:t>
            </a:r>
            <a:r>
              <a:rPr sz="2700" spc="-10" dirty="0">
                <a:latin typeface="Arial"/>
                <a:cs typeface="Arial"/>
              </a:rPr>
              <a:t>private network.</a:t>
            </a:r>
            <a:endParaRPr sz="2700">
              <a:latin typeface="Arial"/>
              <a:cs typeface="Arial"/>
            </a:endParaRPr>
          </a:p>
          <a:p>
            <a:pPr marL="354965" marR="8255" indent="-342900" algn="just">
              <a:lnSpc>
                <a:spcPct val="150000"/>
              </a:lnSpc>
              <a:spcBef>
                <a:spcPts val="650"/>
              </a:spcBef>
              <a:buChar char="•"/>
              <a:tabLst>
                <a:tab pos="354965" algn="l"/>
              </a:tabLst>
            </a:pPr>
            <a:r>
              <a:rPr sz="2700" dirty="0">
                <a:latin typeface="Arial"/>
                <a:cs typeface="Arial"/>
              </a:rPr>
              <a:t>In</a:t>
            </a:r>
            <a:r>
              <a:rPr sz="2700" spc="620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a</a:t>
            </a:r>
            <a:r>
              <a:rPr sz="2700" spc="620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NOS</a:t>
            </a:r>
            <a:r>
              <a:rPr sz="2700" spc="615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context,</a:t>
            </a:r>
            <a:r>
              <a:rPr sz="2700" spc="640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a</a:t>
            </a:r>
            <a:r>
              <a:rPr sz="2700" spc="620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VPN</a:t>
            </a:r>
            <a:r>
              <a:rPr sz="2700" spc="585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allows</a:t>
            </a:r>
            <a:r>
              <a:rPr sz="2700" spc="590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secure</a:t>
            </a:r>
            <a:r>
              <a:rPr sz="2700" spc="620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access</a:t>
            </a:r>
            <a:r>
              <a:rPr sz="2700" spc="610" dirty="0">
                <a:latin typeface="Arial"/>
                <a:cs typeface="Arial"/>
              </a:rPr>
              <a:t> </a:t>
            </a:r>
            <a:r>
              <a:rPr sz="2700" spc="-25" dirty="0">
                <a:latin typeface="Arial"/>
                <a:cs typeface="Arial"/>
              </a:rPr>
              <a:t>to </a:t>
            </a:r>
            <a:r>
              <a:rPr sz="2700" dirty="0">
                <a:latin typeface="Arial"/>
                <a:cs typeface="Arial"/>
              </a:rPr>
              <a:t>network</a:t>
            </a:r>
            <a:r>
              <a:rPr sz="2700" spc="-50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resources</a:t>
            </a:r>
            <a:r>
              <a:rPr sz="2700" spc="-50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from</a:t>
            </a:r>
            <a:r>
              <a:rPr sz="2700" spc="-30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remote</a:t>
            </a:r>
            <a:r>
              <a:rPr sz="2700" spc="-40" dirty="0">
                <a:latin typeface="Arial"/>
                <a:cs typeface="Arial"/>
              </a:rPr>
              <a:t> </a:t>
            </a:r>
            <a:r>
              <a:rPr sz="2700" spc="-10" dirty="0">
                <a:latin typeface="Arial"/>
                <a:cs typeface="Arial"/>
              </a:rPr>
              <a:t>locations.</a:t>
            </a:r>
            <a:endParaRPr sz="27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25" dirty="0"/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8430" rIns="0" bIns="0" rtlCol="0">
            <a:spAutoFit/>
          </a:bodyPr>
          <a:lstStyle/>
          <a:p>
            <a:pPr marL="356870">
              <a:lnSpc>
                <a:spcPct val="100000"/>
              </a:lnSpc>
              <a:spcBef>
                <a:spcPts val="100"/>
              </a:spcBef>
            </a:pPr>
            <a:r>
              <a:rPr spc="-40" dirty="0"/>
              <a:t>Web-</a:t>
            </a:r>
            <a:r>
              <a:rPr dirty="0"/>
              <a:t>based</a:t>
            </a:r>
            <a:r>
              <a:rPr spc="-114" dirty="0"/>
              <a:t> </a:t>
            </a:r>
            <a:r>
              <a:rPr dirty="0"/>
              <a:t>access</a:t>
            </a:r>
            <a:r>
              <a:rPr spc="-125" dirty="0"/>
              <a:t> </a:t>
            </a:r>
            <a:r>
              <a:rPr spc="-10" dirty="0"/>
              <a:t>portals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3149" y="1701878"/>
            <a:ext cx="8073390" cy="3037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6870" indent="-344170">
              <a:lnSpc>
                <a:spcPct val="100000"/>
              </a:lnSpc>
              <a:spcBef>
                <a:spcPts val="100"/>
              </a:spcBef>
              <a:buChar char="•"/>
              <a:tabLst>
                <a:tab pos="356870" algn="l"/>
              </a:tabLst>
            </a:pPr>
            <a:r>
              <a:rPr sz="2600" spc="-30" dirty="0">
                <a:latin typeface="Arial"/>
                <a:cs typeface="Arial"/>
              </a:rPr>
              <a:t>Web-</a:t>
            </a:r>
            <a:r>
              <a:rPr sz="2600" dirty="0">
                <a:latin typeface="Arial"/>
                <a:cs typeface="Arial"/>
              </a:rPr>
              <a:t>based</a:t>
            </a:r>
            <a:r>
              <a:rPr sz="2600" spc="204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access</a:t>
            </a:r>
            <a:r>
              <a:rPr sz="2600" spc="2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portals</a:t>
            </a:r>
            <a:r>
              <a:rPr sz="2600" spc="20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provide</a:t>
            </a:r>
            <a:r>
              <a:rPr sz="2600" spc="204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a</a:t>
            </a:r>
            <a:r>
              <a:rPr sz="2600" spc="21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single</a:t>
            </a:r>
            <a:r>
              <a:rPr sz="2600" spc="204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point</a:t>
            </a:r>
            <a:r>
              <a:rPr sz="2600" spc="204" dirty="0">
                <a:latin typeface="Arial"/>
                <a:cs typeface="Arial"/>
              </a:rPr>
              <a:t> </a:t>
            </a:r>
            <a:r>
              <a:rPr sz="2600" spc="-25" dirty="0">
                <a:latin typeface="Arial"/>
                <a:cs typeface="Arial"/>
              </a:rPr>
              <a:t>of</a:t>
            </a:r>
            <a:endParaRPr sz="2600">
              <a:latin typeface="Arial"/>
              <a:cs typeface="Arial"/>
            </a:endParaRPr>
          </a:p>
          <a:p>
            <a:pPr marL="354965" marR="5080">
              <a:lnSpc>
                <a:spcPct val="160000"/>
              </a:lnSpc>
              <a:tabLst>
                <a:tab pos="1350645" algn="l"/>
                <a:tab pos="1998980" algn="l"/>
                <a:tab pos="3067050" algn="l"/>
                <a:tab pos="3606165" algn="l"/>
                <a:tab pos="4892675" algn="l"/>
                <a:tab pos="6218555" algn="l"/>
              </a:tabLst>
            </a:pPr>
            <a:r>
              <a:rPr sz="2600" spc="-10" dirty="0">
                <a:latin typeface="Arial"/>
                <a:cs typeface="Arial"/>
              </a:rPr>
              <a:t>entry</a:t>
            </a:r>
            <a:r>
              <a:rPr sz="2600" dirty="0">
                <a:latin typeface="Arial"/>
                <a:cs typeface="Arial"/>
              </a:rPr>
              <a:t>	</a:t>
            </a:r>
            <a:r>
              <a:rPr sz="2600" spc="-25" dirty="0">
                <a:latin typeface="Arial"/>
                <a:cs typeface="Arial"/>
              </a:rPr>
              <a:t>for</a:t>
            </a:r>
            <a:r>
              <a:rPr sz="2600" dirty="0">
                <a:latin typeface="Arial"/>
                <a:cs typeface="Arial"/>
              </a:rPr>
              <a:t>	</a:t>
            </a:r>
            <a:r>
              <a:rPr sz="2600" spc="-20" dirty="0">
                <a:latin typeface="Arial"/>
                <a:cs typeface="Arial"/>
              </a:rPr>
              <a:t>users</a:t>
            </a:r>
            <a:r>
              <a:rPr sz="2600" dirty="0">
                <a:latin typeface="Arial"/>
                <a:cs typeface="Arial"/>
              </a:rPr>
              <a:t>	</a:t>
            </a:r>
            <a:r>
              <a:rPr sz="2600" spc="-25" dirty="0">
                <a:latin typeface="Arial"/>
                <a:cs typeface="Arial"/>
              </a:rPr>
              <a:t>to</a:t>
            </a:r>
            <a:r>
              <a:rPr sz="2600" dirty="0">
                <a:latin typeface="Arial"/>
                <a:cs typeface="Arial"/>
              </a:rPr>
              <a:t>	</a:t>
            </a:r>
            <a:r>
              <a:rPr sz="2600" spc="-10" dirty="0">
                <a:latin typeface="Arial"/>
                <a:cs typeface="Arial"/>
              </a:rPr>
              <a:t>access</a:t>
            </a:r>
            <a:r>
              <a:rPr sz="2600" dirty="0">
                <a:latin typeface="Arial"/>
                <a:cs typeface="Arial"/>
              </a:rPr>
              <a:t>	</a:t>
            </a:r>
            <a:r>
              <a:rPr sz="2600" spc="-10" dirty="0">
                <a:latin typeface="Arial"/>
                <a:cs typeface="Arial"/>
              </a:rPr>
              <a:t>various</a:t>
            </a:r>
            <a:r>
              <a:rPr sz="2600" dirty="0">
                <a:latin typeface="Arial"/>
                <a:cs typeface="Arial"/>
              </a:rPr>
              <a:t>	</a:t>
            </a:r>
            <a:r>
              <a:rPr sz="2600" spc="-10" dirty="0">
                <a:latin typeface="Arial"/>
                <a:cs typeface="Arial"/>
              </a:rPr>
              <a:t>applications, </a:t>
            </a:r>
            <a:r>
              <a:rPr sz="2600" dirty="0">
                <a:latin typeface="Arial"/>
                <a:cs typeface="Arial"/>
              </a:rPr>
              <a:t>resources,</a:t>
            </a:r>
            <a:r>
              <a:rPr sz="2600" spc="-9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and</a:t>
            </a:r>
            <a:r>
              <a:rPr sz="2600" spc="-6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information</a:t>
            </a:r>
            <a:r>
              <a:rPr sz="2600" spc="-6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through</a:t>
            </a:r>
            <a:r>
              <a:rPr sz="2600" spc="-6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a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web</a:t>
            </a:r>
            <a:r>
              <a:rPr sz="2600" spc="-60" dirty="0">
                <a:latin typeface="Arial"/>
                <a:cs typeface="Arial"/>
              </a:rPr>
              <a:t> </a:t>
            </a:r>
            <a:r>
              <a:rPr sz="2600" spc="-10" dirty="0">
                <a:latin typeface="Arial"/>
                <a:cs typeface="Arial"/>
              </a:rPr>
              <a:t>browser.</a:t>
            </a:r>
            <a:endParaRPr sz="2600">
              <a:latin typeface="Arial"/>
              <a:cs typeface="Arial"/>
            </a:endParaRPr>
          </a:p>
          <a:p>
            <a:pPr marL="354965" marR="8255" indent="-342900">
              <a:lnSpc>
                <a:spcPct val="160000"/>
              </a:lnSpc>
              <a:spcBef>
                <a:spcPts val="625"/>
              </a:spcBef>
              <a:buChar char="•"/>
              <a:tabLst>
                <a:tab pos="354965" algn="l"/>
              </a:tabLst>
            </a:pPr>
            <a:r>
              <a:rPr sz="2600" dirty="0">
                <a:latin typeface="Arial"/>
                <a:cs typeface="Arial"/>
              </a:rPr>
              <a:t>They</a:t>
            </a:r>
            <a:r>
              <a:rPr sz="2600" spc="26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offer</a:t>
            </a:r>
            <a:r>
              <a:rPr sz="2600" spc="254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a</a:t>
            </a:r>
            <a:r>
              <a:rPr sz="2600" spc="26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centralized</a:t>
            </a:r>
            <a:r>
              <a:rPr sz="2600" spc="26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and</a:t>
            </a:r>
            <a:r>
              <a:rPr sz="2600" spc="250" dirty="0">
                <a:latin typeface="Arial"/>
                <a:cs typeface="Arial"/>
              </a:rPr>
              <a:t> </a:t>
            </a:r>
            <a:r>
              <a:rPr sz="2600" spc="-10" dirty="0">
                <a:latin typeface="Arial"/>
                <a:cs typeface="Arial"/>
              </a:rPr>
              <a:t>user-</a:t>
            </a:r>
            <a:r>
              <a:rPr sz="2600" dirty="0">
                <a:latin typeface="Arial"/>
                <a:cs typeface="Arial"/>
              </a:rPr>
              <a:t>friendly</a:t>
            </a:r>
            <a:r>
              <a:rPr sz="2600" spc="270" dirty="0">
                <a:latin typeface="Arial"/>
                <a:cs typeface="Arial"/>
              </a:rPr>
              <a:t> </a:t>
            </a:r>
            <a:r>
              <a:rPr sz="2600" spc="-10" dirty="0">
                <a:latin typeface="Arial"/>
                <a:cs typeface="Arial"/>
              </a:rPr>
              <a:t>interface, </a:t>
            </a:r>
            <a:r>
              <a:rPr sz="2600" dirty="0">
                <a:latin typeface="Arial"/>
                <a:cs typeface="Arial"/>
              </a:rPr>
              <a:t>simplifying</a:t>
            </a:r>
            <a:r>
              <a:rPr sz="2600" spc="-8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access</a:t>
            </a:r>
            <a:r>
              <a:rPr sz="2600" spc="-8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and</a:t>
            </a:r>
            <a:r>
              <a:rPr sz="2600" spc="-4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improving</a:t>
            </a:r>
            <a:r>
              <a:rPr sz="2600" spc="-80" dirty="0">
                <a:latin typeface="Arial"/>
                <a:cs typeface="Arial"/>
              </a:rPr>
              <a:t> </a:t>
            </a:r>
            <a:r>
              <a:rPr sz="2600" spc="-10" dirty="0">
                <a:latin typeface="Arial"/>
                <a:cs typeface="Arial"/>
              </a:rPr>
              <a:t>productivity.</a:t>
            </a:r>
            <a:endParaRPr sz="26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93149" y="5030272"/>
            <a:ext cx="5812790" cy="16903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6870" indent="-344170">
              <a:lnSpc>
                <a:spcPct val="100000"/>
              </a:lnSpc>
              <a:spcBef>
                <a:spcPts val="100"/>
              </a:spcBef>
              <a:buChar char="•"/>
              <a:tabLst>
                <a:tab pos="356870" algn="l"/>
              </a:tabLst>
            </a:pPr>
            <a:r>
              <a:rPr sz="2600" dirty="0">
                <a:latin typeface="Arial"/>
                <a:cs typeface="Arial"/>
              </a:rPr>
              <a:t>In</a:t>
            </a:r>
            <a:r>
              <a:rPr sz="2600" spc="114" dirty="0">
                <a:latin typeface="Arial"/>
                <a:cs typeface="Arial"/>
              </a:rPr>
              <a:t>  </a:t>
            </a:r>
            <a:r>
              <a:rPr sz="2600" dirty="0">
                <a:latin typeface="Arial"/>
                <a:cs typeface="Arial"/>
              </a:rPr>
              <a:t>a</a:t>
            </a:r>
            <a:r>
              <a:rPr sz="2600" spc="120" dirty="0">
                <a:latin typeface="Arial"/>
                <a:cs typeface="Arial"/>
              </a:rPr>
              <a:t>  </a:t>
            </a:r>
            <a:r>
              <a:rPr sz="2600" dirty="0">
                <a:latin typeface="Arial"/>
                <a:cs typeface="Arial"/>
              </a:rPr>
              <a:t>(NOS)</a:t>
            </a:r>
            <a:r>
              <a:rPr sz="2600" spc="114" dirty="0">
                <a:latin typeface="Arial"/>
                <a:cs typeface="Arial"/>
              </a:rPr>
              <a:t>  </a:t>
            </a:r>
            <a:r>
              <a:rPr sz="2600" dirty="0">
                <a:latin typeface="Arial"/>
                <a:cs typeface="Arial"/>
              </a:rPr>
              <a:t>context,</a:t>
            </a:r>
            <a:r>
              <a:rPr sz="2600" spc="105" dirty="0">
                <a:latin typeface="Arial"/>
                <a:cs typeface="Arial"/>
              </a:rPr>
              <a:t>  </a:t>
            </a:r>
            <a:r>
              <a:rPr sz="2600" dirty="0">
                <a:latin typeface="Arial"/>
                <a:cs typeface="Arial"/>
              </a:rPr>
              <a:t>these</a:t>
            </a:r>
            <a:r>
              <a:rPr sz="2600" spc="105" dirty="0">
                <a:latin typeface="Arial"/>
                <a:cs typeface="Arial"/>
              </a:rPr>
              <a:t>  </a:t>
            </a:r>
            <a:r>
              <a:rPr sz="2600" spc="-10" dirty="0">
                <a:latin typeface="Arial"/>
                <a:cs typeface="Arial"/>
              </a:rPr>
              <a:t>portals</a:t>
            </a:r>
            <a:endParaRPr sz="2600">
              <a:latin typeface="Arial"/>
              <a:cs typeface="Arial"/>
            </a:endParaRPr>
          </a:p>
          <a:p>
            <a:pPr marL="354965" marR="23495">
              <a:lnSpc>
                <a:spcPct val="160000"/>
              </a:lnSpc>
              <a:tabLst>
                <a:tab pos="1624965" algn="l"/>
                <a:tab pos="2141220" algn="l"/>
                <a:tab pos="3536315" algn="l"/>
                <a:tab pos="5229860" algn="l"/>
              </a:tabLst>
            </a:pPr>
            <a:r>
              <a:rPr sz="2600" spc="-10" dirty="0">
                <a:latin typeface="Arial"/>
                <a:cs typeface="Arial"/>
              </a:rPr>
              <a:t>access</a:t>
            </a:r>
            <a:r>
              <a:rPr sz="2600" dirty="0">
                <a:latin typeface="Arial"/>
                <a:cs typeface="Arial"/>
              </a:rPr>
              <a:t>	</a:t>
            </a:r>
            <a:r>
              <a:rPr sz="2600" spc="-25" dirty="0">
                <a:latin typeface="Arial"/>
                <a:cs typeface="Arial"/>
              </a:rPr>
              <a:t>to</a:t>
            </a:r>
            <a:r>
              <a:rPr sz="2600" dirty="0">
                <a:latin typeface="Arial"/>
                <a:cs typeface="Arial"/>
              </a:rPr>
              <a:t>	</a:t>
            </a:r>
            <a:r>
              <a:rPr sz="2600" spc="-10" dirty="0">
                <a:latin typeface="Arial"/>
                <a:cs typeface="Arial"/>
              </a:rPr>
              <a:t>network</a:t>
            </a:r>
            <a:r>
              <a:rPr sz="2600" dirty="0">
                <a:latin typeface="Arial"/>
                <a:cs typeface="Arial"/>
              </a:rPr>
              <a:t>	</a:t>
            </a:r>
            <a:r>
              <a:rPr sz="2600" spc="-10" dirty="0">
                <a:latin typeface="Arial"/>
                <a:cs typeface="Arial"/>
              </a:rPr>
              <a:t>resources</a:t>
            </a:r>
            <a:r>
              <a:rPr sz="2600" dirty="0">
                <a:latin typeface="Arial"/>
                <a:cs typeface="Arial"/>
              </a:rPr>
              <a:t>	</a:t>
            </a:r>
            <a:r>
              <a:rPr sz="2600" spc="-25" dirty="0">
                <a:latin typeface="Arial"/>
                <a:cs typeface="Arial"/>
              </a:rPr>
              <a:t>and </a:t>
            </a:r>
            <a:r>
              <a:rPr sz="2600" spc="-10" dirty="0">
                <a:latin typeface="Arial"/>
                <a:cs typeface="Arial"/>
              </a:rPr>
              <a:t>tools.</a:t>
            </a:r>
            <a:endParaRPr sz="26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000994" y="5030272"/>
            <a:ext cx="2065020" cy="1056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00"/>
              </a:spcBef>
            </a:pPr>
            <a:r>
              <a:rPr sz="2600" dirty="0">
                <a:latin typeface="Arial"/>
                <a:cs typeface="Arial"/>
              </a:rPr>
              <a:t>often</a:t>
            </a:r>
            <a:r>
              <a:rPr sz="2600" spc="95" dirty="0">
                <a:latin typeface="Arial"/>
                <a:cs typeface="Arial"/>
              </a:rPr>
              <a:t>  </a:t>
            </a:r>
            <a:r>
              <a:rPr sz="2600" spc="-10" dirty="0">
                <a:latin typeface="Arial"/>
                <a:cs typeface="Arial"/>
              </a:rPr>
              <a:t>provide</a:t>
            </a:r>
            <a:endParaRPr sz="2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875"/>
              </a:spcBef>
            </a:pPr>
            <a:r>
              <a:rPr sz="2600" spc="-10" dirty="0">
                <a:latin typeface="Arial"/>
                <a:cs typeface="Arial"/>
              </a:rPr>
              <a:t>administrative</a:t>
            </a:r>
            <a:endParaRPr sz="26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25" dirty="0"/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015915" y="618197"/>
            <a:ext cx="787082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dirty="0">
                <a:latin typeface="Calibri"/>
                <a:cs typeface="Calibri"/>
              </a:rPr>
              <a:t>Network</a:t>
            </a:r>
            <a:r>
              <a:rPr sz="4000" spc="-105" dirty="0">
                <a:latin typeface="Calibri"/>
                <a:cs typeface="Calibri"/>
              </a:rPr>
              <a:t> </a:t>
            </a:r>
            <a:r>
              <a:rPr sz="4000" spc="-10" dirty="0">
                <a:latin typeface="Calibri"/>
                <a:cs typeface="Calibri"/>
              </a:rPr>
              <a:t>Communication</a:t>
            </a:r>
            <a:r>
              <a:rPr sz="4000" spc="-90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&amp;</a:t>
            </a:r>
            <a:r>
              <a:rPr sz="4000" spc="-114" dirty="0">
                <a:latin typeface="Calibri"/>
                <a:cs typeface="Calibri"/>
              </a:rPr>
              <a:t> </a:t>
            </a:r>
            <a:r>
              <a:rPr sz="4000" spc="-10" dirty="0">
                <a:latin typeface="Calibri"/>
                <a:cs typeface="Calibri"/>
              </a:rPr>
              <a:t>Protocols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4478" y="1546345"/>
            <a:ext cx="8238490" cy="5146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6235" indent="-343535">
              <a:lnSpc>
                <a:spcPct val="100000"/>
              </a:lnSpc>
              <a:spcBef>
                <a:spcPts val="100"/>
              </a:spcBef>
              <a:buChar char="•"/>
              <a:tabLst>
                <a:tab pos="356235" algn="l"/>
              </a:tabLst>
            </a:pPr>
            <a:r>
              <a:rPr sz="2100" dirty="0">
                <a:latin typeface="Arial"/>
                <a:cs typeface="Arial"/>
              </a:rPr>
              <a:t>TCP/IP</a:t>
            </a:r>
            <a:r>
              <a:rPr sz="2100" spc="-85" dirty="0">
                <a:latin typeface="Arial"/>
                <a:cs typeface="Arial"/>
              </a:rPr>
              <a:t> </a:t>
            </a:r>
            <a:r>
              <a:rPr sz="2100" spc="-20" dirty="0">
                <a:latin typeface="Arial"/>
                <a:cs typeface="Arial"/>
              </a:rPr>
              <a:t>model</a:t>
            </a:r>
            <a:endParaRPr sz="2100">
              <a:latin typeface="Arial"/>
              <a:cs typeface="Arial"/>
            </a:endParaRPr>
          </a:p>
          <a:p>
            <a:pPr marL="356235" indent="-343535">
              <a:lnSpc>
                <a:spcPct val="100000"/>
              </a:lnSpc>
              <a:spcBef>
                <a:spcPts val="2265"/>
              </a:spcBef>
              <a:buChar char="•"/>
              <a:tabLst>
                <a:tab pos="356235" algn="l"/>
              </a:tabLst>
            </a:pPr>
            <a:r>
              <a:rPr sz="2100" dirty="0">
                <a:latin typeface="Arial"/>
                <a:cs typeface="Arial"/>
              </a:rPr>
              <a:t>Network</a:t>
            </a:r>
            <a:r>
              <a:rPr sz="2100" spc="-75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Protocols</a:t>
            </a:r>
            <a:r>
              <a:rPr sz="2100" spc="-75" dirty="0">
                <a:latin typeface="Arial"/>
                <a:cs typeface="Arial"/>
              </a:rPr>
              <a:t> </a:t>
            </a:r>
            <a:r>
              <a:rPr sz="2100" spc="-35" dirty="0">
                <a:latin typeface="Arial"/>
                <a:cs typeface="Arial"/>
              </a:rPr>
              <a:t>(DHCP,</a:t>
            </a:r>
            <a:r>
              <a:rPr sz="2100" spc="-55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DNS,</a:t>
            </a:r>
            <a:r>
              <a:rPr sz="2100" spc="-50" dirty="0">
                <a:latin typeface="Arial"/>
                <a:cs typeface="Arial"/>
              </a:rPr>
              <a:t> </a:t>
            </a:r>
            <a:r>
              <a:rPr sz="2100" spc="-55" dirty="0">
                <a:latin typeface="Arial"/>
                <a:cs typeface="Arial"/>
              </a:rPr>
              <a:t>FTP, </a:t>
            </a:r>
            <a:r>
              <a:rPr sz="2100" spc="-50" dirty="0">
                <a:latin typeface="Arial"/>
                <a:cs typeface="Arial"/>
              </a:rPr>
              <a:t>SMTP, </a:t>
            </a:r>
            <a:r>
              <a:rPr sz="2100" spc="-10" dirty="0">
                <a:latin typeface="Arial"/>
                <a:cs typeface="Arial"/>
              </a:rPr>
              <a:t>HTTP/HTTPS)</a:t>
            </a:r>
            <a:endParaRPr sz="2100">
              <a:latin typeface="Arial"/>
              <a:cs typeface="Arial"/>
            </a:endParaRPr>
          </a:p>
          <a:p>
            <a:pPr marL="356235" indent="-343535">
              <a:lnSpc>
                <a:spcPct val="100000"/>
              </a:lnSpc>
              <a:spcBef>
                <a:spcPts val="2270"/>
              </a:spcBef>
              <a:buChar char="•"/>
              <a:tabLst>
                <a:tab pos="356235" algn="l"/>
              </a:tabLst>
            </a:pPr>
            <a:r>
              <a:rPr sz="2100" dirty="0">
                <a:latin typeface="Arial"/>
                <a:cs typeface="Arial"/>
              </a:rPr>
              <a:t>Packet</a:t>
            </a:r>
            <a:r>
              <a:rPr sz="2100" spc="-45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Switching</a:t>
            </a:r>
            <a:r>
              <a:rPr sz="2100" spc="-35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&amp;</a:t>
            </a:r>
            <a:r>
              <a:rPr sz="2100" spc="5" dirty="0">
                <a:latin typeface="Arial"/>
                <a:cs typeface="Arial"/>
              </a:rPr>
              <a:t> </a:t>
            </a:r>
            <a:r>
              <a:rPr sz="2100" spc="-10" dirty="0">
                <a:latin typeface="Arial"/>
                <a:cs typeface="Arial"/>
              </a:rPr>
              <a:t>Routing</a:t>
            </a:r>
            <a:endParaRPr sz="2100">
              <a:latin typeface="Arial"/>
              <a:cs typeface="Arial"/>
            </a:endParaRPr>
          </a:p>
          <a:p>
            <a:pPr marL="356235" indent="-343535">
              <a:lnSpc>
                <a:spcPct val="100000"/>
              </a:lnSpc>
              <a:spcBef>
                <a:spcPts val="2265"/>
              </a:spcBef>
              <a:buChar char="•"/>
              <a:tabLst>
                <a:tab pos="356235" algn="l"/>
              </a:tabLst>
            </a:pPr>
            <a:r>
              <a:rPr sz="2100" dirty="0">
                <a:latin typeface="Arial"/>
                <a:cs typeface="Arial"/>
              </a:rPr>
              <a:t>Internet</a:t>
            </a:r>
            <a:r>
              <a:rPr sz="2100" spc="-50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Printing</a:t>
            </a:r>
            <a:r>
              <a:rPr sz="2100" spc="-60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Protocol</a:t>
            </a:r>
            <a:r>
              <a:rPr sz="2100" spc="-55" dirty="0">
                <a:latin typeface="Arial"/>
                <a:cs typeface="Arial"/>
              </a:rPr>
              <a:t> </a:t>
            </a:r>
            <a:r>
              <a:rPr sz="2100" spc="-10" dirty="0">
                <a:latin typeface="Arial"/>
                <a:cs typeface="Arial"/>
              </a:rPr>
              <a:t>(IPP)</a:t>
            </a:r>
            <a:endParaRPr sz="2100">
              <a:latin typeface="Arial"/>
              <a:cs typeface="Arial"/>
            </a:endParaRPr>
          </a:p>
          <a:p>
            <a:pPr marL="360045">
              <a:lnSpc>
                <a:spcPct val="100000"/>
              </a:lnSpc>
              <a:spcBef>
                <a:spcPts val="2270"/>
              </a:spcBef>
              <a:tabLst>
                <a:tab pos="637540" algn="l"/>
              </a:tabLst>
            </a:pPr>
            <a:r>
              <a:rPr sz="2100" spc="-50" dirty="0">
                <a:latin typeface="Calibri"/>
                <a:cs typeface="Calibri"/>
              </a:rPr>
              <a:t>⁻</a:t>
            </a:r>
            <a:r>
              <a:rPr sz="2100" dirty="0">
                <a:latin typeface="Calibri"/>
                <a:cs typeface="Calibri"/>
              </a:rPr>
              <a:t>	</a:t>
            </a:r>
            <a:r>
              <a:rPr sz="2100" dirty="0">
                <a:latin typeface="Arial"/>
                <a:cs typeface="Arial"/>
              </a:rPr>
              <a:t>Enables</a:t>
            </a:r>
            <a:r>
              <a:rPr sz="2100" spc="-65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remote</a:t>
            </a:r>
            <a:r>
              <a:rPr sz="2100" spc="-35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printing</a:t>
            </a:r>
            <a:r>
              <a:rPr sz="2100" spc="-35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over</a:t>
            </a:r>
            <a:r>
              <a:rPr sz="2100" spc="-30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networks</a:t>
            </a:r>
            <a:r>
              <a:rPr sz="2100" spc="-45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or</a:t>
            </a:r>
            <a:r>
              <a:rPr sz="2100" spc="-30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the</a:t>
            </a:r>
            <a:r>
              <a:rPr sz="2100" spc="-20" dirty="0">
                <a:latin typeface="Arial"/>
                <a:cs typeface="Arial"/>
              </a:rPr>
              <a:t> </a:t>
            </a:r>
            <a:r>
              <a:rPr sz="2100" spc="-10" dirty="0">
                <a:latin typeface="Arial"/>
                <a:cs typeface="Arial"/>
              </a:rPr>
              <a:t>internet.</a:t>
            </a:r>
            <a:endParaRPr sz="2100">
              <a:latin typeface="Arial"/>
              <a:cs typeface="Arial"/>
            </a:endParaRPr>
          </a:p>
          <a:p>
            <a:pPr marL="360045">
              <a:lnSpc>
                <a:spcPct val="100000"/>
              </a:lnSpc>
              <a:spcBef>
                <a:spcPts val="2270"/>
              </a:spcBef>
              <a:tabLst>
                <a:tab pos="637540" algn="l"/>
              </a:tabLst>
            </a:pPr>
            <a:r>
              <a:rPr sz="2100" spc="-50" dirty="0">
                <a:latin typeface="Calibri"/>
                <a:cs typeface="Calibri"/>
              </a:rPr>
              <a:t>⁻</a:t>
            </a:r>
            <a:r>
              <a:rPr sz="2100" dirty="0">
                <a:latin typeface="Calibri"/>
                <a:cs typeface="Calibri"/>
              </a:rPr>
              <a:t>	</a:t>
            </a:r>
            <a:r>
              <a:rPr sz="2100" dirty="0">
                <a:latin typeface="Arial"/>
                <a:cs typeface="Arial"/>
              </a:rPr>
              <a:t>Uses</a:t>
            </a:r>
            <a:r>
              <a:rPr sz="2100" spc="-55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HTTP/HTTPS</a:t>
            </a:r>
            <a:r>
              <a:rPr sz="2100" spc="-25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for</a:t>
            </a:r>
            <a:r>
              <a:rPr sz="2100" spc="-25" dirty="0">
                <a:latin typeface="Arial"/>
                <a:cs typeface="Arial"/>
              </a:rPr>
              <a:t> </a:t>
            </a:r>
            <a:r>
              <a:rPr sz="2100" spc="-10" dirty="0">
                <a:latin typeface="Arial"/>
                <a:cs typeface="Arial"/>
              </a:rPr>
              <a:t>communication.</a:t>
            </a:r>
            <a:endParaRPr sz="2100">
              <a:latin typeface="Arial"/>
              <a:cs typeface="Arial"/>
            </a:endParaRPr>
          </a:p>
          <a:p>
            <a:pPr marL="360045">
              <a:lnSpc>
                <a:spcPct val="100000"/>
              </a:lnSpc>
              <a:spcBef>
                <a:spcPts val="2265"/>
              </a:spcBef>
              <a:tabLst>
                <a:tab pos="637540" algn="l"/>
              </a:tabLst>
            </a:pPr>
            <a:r>
              <a:rPr sz="2100" spc="-50" dirty="0">
                <a:latin typeface="Calibri"/>
                <a:cs typeface="Calibri"/>
              </a:rPr>
              <a:t>⁻</a:t>
            </a:r>
            <a:r>
              <a:rPr sz="2100" dirty="0">
                <a:latin typeface="Calibri"/>
                <a:cs typeface="Calibri"/>
              </a:rPr>
              <a:t>	</a:t>
            </a:r>
            <a:r>
              <a:rPr sz="2100" dirty="0">
                <a:latin typeface="Arial"/>
                <a:cs typeface="Arial"/>
              </a:rPr>
              <a:t>Supports</a:t>
            </a:r>
            <a:r>
              <a:rPr sz="2100" spc="-65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encryption,</a:t>
            </a:r>
            <a:r>
              <a:rPr sz="2100" spc="-35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authentication,</a:t>
            </a:r>
            <a:r>
              <a:rPr sz="2100" spc="-75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and</a:t>
            </a:r>
            <a:r>
              <a:rPr sz="2100" spc="-30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print</a:t>
            </a:r>
            <a:r>
              <a:rPr sz="2100" spc="-40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job</a:t>
            </a:r>
            <a:r>
              <a:rPr sz="2100" spc="-30" dirty="0">
                <a:latin typeface="Arial"/>
                <a:cs typeface="Arial"/>
              </a:rPr>
              <a:t> </a:t>
            </a:r>
            <a:r>
              <a:rPr sz="2100" spc="-10" dirty="0">
                <a:latin typeface="Arial"/>
                <a:cs typeface="Arial"/>
              </a:rPr>
              <a:t>management.</a:t>
            </a:r>
            <a:endParaRPr sz="2100">
              <a:latin typeface="Arial"/>
              <a:cs typeface="Arial"/>
            </a:endParaRPr>
          </a:p>
          <a:p>
            <a:pPr marL="637540" marR="5080" indent="-277495">
              <a:lnSpc>
                <a:spcPct val="170000"/>
              </a:lnSpc>
              <a:spcBef>
                <a:spcPts val="505"/>
              </a:spcBef>
              <a:tabLst>
                <a:tab pos="637540" algn="l"/>
              </a:tabLst>
            </a:pPr>
            <a:r>
              <a:rPr sz="2100" spc="-50" dirty="0">
                <a:latin typeface="Calibri"/>
                <a:cs typeface="Calibri"/>
              </a:rPr>
              <a:t>⁻</a:t>
            </a:r>
            <a:r>
              <a:rPr sz="2100" dirty="0">
                <a:latin typeface="Calibri"/>
                <a:cs typeface="Calibri"/>
              </a:rPr>
              <a:t>	</a:t>
            </a:r>
            <a:r>
              <a:rPr sz="2100" dirty="0">
                <a:latin typeface="Arial"/>
                <a:cs typeface="Arial"/>
              </a:rPr>
              <a:t>Commonly</a:t>
            </a:r>
            <a:r>
              <a:rPr sz="2100" spc="-55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used</a:t>
            </a:r>
            <a:r>
              <a:rPr sz="2100" spc="-45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in</a:t>
            </a:r>
            <a:r>
              <a:rPr sz="2100" spc="-25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enterprise</a:t>
            </a:r>
            <a:r>
              <a:rPr sz="2100" spc="-45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printing</a:t>
            </a:r>
            <a:r>
              <a:rPr sz="2100" spc="-40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and</a:t>
            </a:r>
            <a:r>
              <a:rPr sz="2100" spc="-45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CUPS</a:t>
            </a:r>
            <a:r>
              <a:rPr sz="2100" spc="-50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(Common</a:t>
            </a:r>
            <a:r>
              <a:rPr sz="2100" spc="-40" dirty="0">
                <a:latin typeface="Arial"/>
                <a:cs typeface="Arial"/>
              </a:rPr>
              <a:t> </a:t>
            </a:r>
            <a:r>
              <a:rPr sz="2100" spc="-20" dirty="0">
                <a:latin typeface="Arial"/>
                <a:cs typeface="Arial"/>
              </a:rPr>
              <a:t>Unix </a:t>
            </a:r>
            <a:r>
              <a:rPr sz="2100" dirty="0">
                <a:latin typeface="Arial"/>
                <a:cs typeface="Arial"/>
              </a:rPr>
              <a:t>Printing</a:t>
            </a:r>
            <a:r>
              <a:rPr sz="2100" spc="-50" dirty="0">
                <a:latin typeface="Arial"/>
                <a:cs typeface="Arial"/>
              </a:rPr>
              <a:t> </a:t>
            </a:r>
            <a:r>
              <a:rPr sz="2100" spc="-10" dirty="0">
                <a:latin typeface="Arial"/>
                <a:cs typeface="Arial"/>
              </a:rPr>
              <a:t>System).</a:t>
            </a:r>
            <a:endParaRPr sz="21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882873" y="6921482"/>
            <a:ext cx="18097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spc="-25" dirty="0">
                <a:solidFill>
                  <a:srgbClr val="898989"/>
                </a:solidFill>
                <a:latin typeface="Calibri"/>
                <a:cs typeface="Calibri"/>
              </a:rPr>
              <a:t>20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1509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dirty="0"/>
              <a:t>Performance</a:t>
            </a:r>
            <a:r>
              <a:rPr sz="4000" spc="-85" dirty="0"/>
              <a:t> </a:t>
            </a:r>
            <a:r>
              <a:rPr sz="4000" dirty="0"/>
              <a:t>Monitoring</a:t>
            </a:r>
            <a:r>
              <a:rPr sz="4000" spc="-105" dirty="0"/>
              <a:t> </a:t>
            </a:r>
            <a:r>
              <a:rPr sz="4000" dirty="0"/>
              <a:t>in</a:t>
            </a:r>
            <a:r>
              <a:rPr sz="4000" spc="-100" dirty="0"/>
              <a:t> </a:t>
            </a:r>
            <a:r>
              <a:rPr sz="4000" spc="-25" dirty="0"/>
              <a:t>NOS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993045" y="2232246"/>
            <a:ext cx="6428740" cy="2172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3695" indent="-340995">
              <a:lnSpc>
                <a:spcPct val="100000"/>
              </a:lnSpc>
              <a:spcBef>
                <a:spcPts val="100"/>
              </a:spcBef>
              <a:buChar char="•"/>
              <a:tabLst>
                <a:tab pos="353695" algn="l"/>
              </a:tabLst>
            </a:pPr>
            <a:r>
              <a:rPr sz="3200" dirty="0">
                <a:latin typeface="Arial"/>
                <a:cs typeface="Arial"/>
              </a:rPr>
              <a:t>Network</a:t>
            </a:r>
            <a:r>
              <a:rPr sz="3200" spc="-90" dirty="0">
                <a:latin typeface="Arial"/>
                <a:cs typeface="Arial"/>
              </a:rPr>
              <a:t> </a:t>
            </a:r>
            <a:r>
              <a:rPr sz="3200" spc="-35" dirty="0">
                <a:latin typeface="Arial"/>
                <a:cs typeface="Arial"/>
              </a:rPr>
              <a:t>Traffic</a:t>
            </a:r>
            <a:r>
              <a:rPr sz="3200" spc="-185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Analysis</a:t>
            </a:r>
            <a:endParaRPr sz="3200">
              <a:latin typeface="Arial"/>
              <a:cs typeface="Arial"/>
            </a:endParaRPr>
          </a:p>
          <a:p>
            <a:pPr marL="353695" indent="-340995">
              <a:lnSpc>
                <a:spcPct val="100000"/>
              </a:lnSpc>
              <a:spcBef>
                <a:spcPts val="2690"/>
              </a:spcBef>
              <a:buChar char="•"/>
              <a:tabLst>
                <a:tab pos="353695" algn="l"/>
              </a:tabLst>
            </a:pPr>
            <a:r>
              <a:rPr sz="3200" dirty="0">
                <a:latin typeface="Arial"/>
                <a:cs typeface="Arial"/>
              </a:rPr>
              <a:t>Resource</a:t>
            </a:r>
            <a:r>
              <a:rPr sz="3200" spc="-8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Utilization</a:t>
            </a:r>
            <a:r>
              <a:rPr sz="3200" spc="-45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Monitoring</a:t>
            </a:r>
            <a:endParaRPr sz="3200">
              <a:latin typeface="Arial"/>
              <a:cs typeface="Arial"/>
            </a:endParaRPr>
          </a:p>
          <a:p>
            <a:pPr marL="353695" indent="-340995">
              <a:lnSpc>
                <a:spcPct val="100000"/>
              </a:lnSpc>
              <a:spcBef>
                <a:spcPts val="2690"/>
              </a:spcBef>
              <a:buChar char="•"/>
              <a:tabLst>
                <a:tab pos="353695" algn="l"/>
              </a:tabLst>
            </a:pPr>
            <a:r>
              <a:rPr sz="3200" dirty="0">
                <a:latin typeface="Arial"/>
                <a:cs typeface="Arial"/>
              </a:rPr>
              <a:t>Load</a:t>
            </a:r>
            <a:r>
              <a:rPr sz="3200" spc="-7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Balancing</a:t>
            </a:r>
            <a:r>
              <a:rPr sz="3200" spc="-4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&amp;</a:t>
            </a:r>
            <a:r>
              <a:rPr sz="3200" spc="-4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Fault</a:t>
            </a:r>
            <a:r>
              <a:rPr sz="3200" spc="-80" dirty="0">
                <a:latin typeface="Arial"/>
                <a:cs typeface="Arial"/>
              </a:rPr>
              <a:t> </a:t>
            </a:r>
            <a:r>
              <a:rPr sz="3200" spc="-20" dirty="0">
                <a:latin typeface="Arial"/>
                <a:cs typeface="Arial"/>
              </a:rPr>
              <a:t>Tolerance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25" dirty="0"/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83795" rIns="0" bIns="0" rtlCol="0">
            <a:spAutoFit/>
          </a:bodyPr>
          <a:lstStyle/>
          <a:p>
            <a:pPr marL="370840">
              <a:lnSpc>
                <a:spcPct val="100000"/>
              </a:lnSpc>
              <a:spcBef>
                <a:spcPts val="100"/>
              </a:spcBef>
            </a:pPr>
            <a:r>
              <a:rPr dirty="0"/>
              <a:t>Windows</a:t>
            </a:r>
            <a:r>
              <a:rPr spc="-110" dirty="0"/>
              <a:t> </a:t>
            </a:r>
            <a:r>
              <a:rPr dirty="0"/>
              <a:t>Server</a:t>
            </a:r>
            <a:r>
              <a:rPr spc="-114" dirty="0"/>
              <a:t> </a:t>
            </a:r>
            <a:r>
              <a:rPr spc="-10" dirty="0"/>
              <a:t>Overview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3045" y="2232246"/>
            <a:ext cx="8067675" cy="2074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4965" algn="l"/>
              </a:tabLst>
            </a:pPr>
            <a:r>
              <a:rPr sz="3200" b="1" spc="-10" dirty="0">
                <a:latin typeface="Calibri"/>
                <a:cs typeface="Calibri"/>
              </a:rPr>
              <a:t>Features</a:t>
            </a:r>
            <a:r>
              <a:rPr sz="3200" spc="-10" dirty="0">
                <a:latin typeface="Calibri"/>
                <a:cs typeface="Calibri"/>
              </a:rPr>
              <a:t>: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Active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Directory,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IIS,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Hyper-</a:t>
            </a:r>
            <a:r>
              <a:rPr sz="3200" spc="-50" dirty="0">
                <a:latin typeface="Calibri"/>
                <a:cs typeface="Calibri"/>
              </a:rPr>
              <a:t>V</a:t>
            </a:r>
            <a:endParaRPr sz="3200">
              <a:latin typeface="Calibri"/>
              <a:cs typeface="Calibri"/>
            </a:endParaRPr>
          </a:p>
          <a:p>
            <a:pPr marL="354330" marR="5080" indent="-342265">
              <a:lnSpc>
                <a:spcPct val="150000"/>
              </a:lnSpc>
              <a:spcBef>
                <a:spcPts val="770"/>
              </a:spcBef>
              <a:buFont typeface="Arial"/>
              <a:buChar char="•"/>
              <a:tabLst>
                <a:tab pos="355600" algn="l"/>
                <a:tab pos="2121535" algn="l"/>
                <a:tab pos="3258820" algn="l"/>
                <a:tab pos="5187950" algn="l"/>
                <a:tab pos="7104380" algn="l"/>
              </a:tabLst>
            </a:pPr>
            <a:r>
              <a:rPr sz="3200" b="1" spc="-10" dirty="0">
                <a:latin typeface="Calibri"/>
                <a:cs typeface="Calibri"/>
              </a:rPr>
              <a:t>Common</a:t>
            </a:r>
            <a:r>
              <a:rPr sz="3200" b="1" dirty="0">
                <a:latin typeface="Calibri"/>
                <a:cs typeface="Calibri"/>
              </a:rPr>
              <a:t>	</a:t>
            </a:r>
            <a:r>
              <a:rPr sz="3200" b="1" spc="-20" dirty="0">
                <a:latin typeface="Calibri"/>
                <a:cs typeface="Calibri"/>
              </a:rPr>
              <a:t>Uses</a:t>
            </a:r>
            <a:r>
              <a:rPr sz="3200" spc="-20" dirty="0">
                <a:latin typeface="Calibri"/>
                <a:cs typeface="Calibri"/>
              </a:rPr>
              <a:t>: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10" dirty="0">
                <a:latin typeface="Calibri"/>
                <a:cs typeface="Calibri"/>
              </a:rPr>
              <a:t>Enterprise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10" dirty="0">
                <a:latin typeface="Calibri"/>
                <a:cs typeface="Calibri"/>
              </a:rPr>
              <a:t>Networks,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20" dirty="0">
                <a:latin typeface="Calibri"/>
                <a:cs typeface="Calibri"/>
              </a:rPr>
              <a:t>Cloud 	</a:t>
            </a:r>
            <a:r>
              <a:rPr sz="3200" spc="-10" dirty="0">
                <a:latin typeface="Calibri"/>
                <a:cs typeface="Calibri"/>
              </a:rPr>
              <a:t>Services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25" dirty="0"/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83795" rIns="0" bIns="0" rtlCol="0">
            <a:spAutoFit/>
          </a:bodyPr>
          <a:lstStyle/>
          <a:p>
            <a:pPr marL="18161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Linux-</a:t>
            </a:r>
            <a:r>
              <a:rPr dirty="0"/>
              <a:t>Based</a:t>
            </a:r>
            <a:r>
              <a:rPr spc="-90" dirty="0"/>
              <a:t> </a:t>
            </a:r>
            <a:r>
              <a:rPr dirty="0"/>
              <a:t>NOS</a:t>
            </a:r>
            <a:r>
              <a:rPr spc="-50" dirty="0"/>
              <a:t> </a:t>
            </a:r>
            <a:r>
              <a:rPr spc="-10" dirty="0"/>
              <a:t>Overview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3045" y="2232246"/>
            <a:ext cx="8071484" cy="2074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4965" algn="l"/>
              </a:tabLst>
            </a:pPr>
            <a:r>
              <a:rPr sz="3200" b="1" dirty="0">
                <a:latin typeface="Arial"/>
                <a:cs typeface="Arial"/>
              </a:rPr>
              <a:t>Features</a:t>
            </a:r>
            <a:r>
              <a:rPr sz="3200" dirty="0">
                <a:latin typeface="Arial"/>
                <a:cs typeface="Arial"/>
              </a:rPr>
              <a:t>:</a:t>
            </a:r>
            <a:r>
              <a:rPr sz="3200" spc="-65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Open-</a:t>
            </a:r>
            <a:r>
              <a:rPr sz="3200" dirty="0">
                <a:latin typeface="Arial"/>
                <a:cs typeface="Arial"/>
              </a:rPr>
              <a:t>source,</a:t>
            </a:r>
            <a:r>
              <a:rPr sz="3200" spc="-6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Secure,</a:t>
            </a:r>
            <a:r>
              <a:rPr sz="3200" spc="-65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Flexible</a:t>
            </a:r>
            <a:endParaRPr sz="3200">
              <a:latin typeface="Arial"/>
              <a:cs typeface="Arial"/>
            </a:endParaRPr>
          </a:p>
          <a:p>
            <a:pPr marL="354330" marR="5080" indent="-342265">
              <a:lnSpc>
                <a:spcPct val="150000"/>
              </a:lnSpc>
              <a:spcBef>
                <a:spcPts val="770"/>
              </a:spcBef>
              <a:buFont typeface="Arial"/>
              <a:buChar char="•"/>
              <a:tabLst>
                <a:tab pos="355600" algn="l"/>
                <a:tab pos="2532380" algn="l"/>
                <a:tab pos="4031615" algn="l"/>
                <a:tab pos="5276850" algn="l"/>
                <a:tab pos="7201534" algn="l"/>
              </a:tabLst>
            </a:pPr>
            <a:r>
              <a:rPr sz="3200" b="1" spc="-10" dirty="0">
                <a:latin typeface="Arial"/>
                <a:cs typeface="Arial"/>
              </a:rPr>
              <a:t>Common</a:t>
            </a:r>
            <a:r>
              <a:rPr sz="3200" b="1" dirty="0">
                <a:latin typeface="Arial"/>
                <a:cs typeface="Arial"/>
              </a:rPr>
              <a:t>	</a:t>
            </a:r>
            <a:r>
              <a:rPr sz="3200" b="1" spc="-10" dirty="0">
                <a:latin typeface="Arial"/>
                <a:cs typeface="Arial"/>
              </a:rPr>
              <a:t>Uses</a:t>
            </a:r>
            <a:r>
              <a:rPr sz="3200" spc="-10" dirty="0">
                <a:latin typeface="Arial"/>
                <a:cs typeface="Arial"/>
              </a:rPr>
              <a:t>:</a:t>
            </a:r>
            <a:r>
              <a:rPr sz="3200" dirty="0">
                <a:latin typeface="Arial"/>
                <a:cs typeface="Arial"/>
              </a:rPr>
              <a:t>	</a:t>
            </a:r>
            <a:r>
              <a:rPr sz="3200" spc="-25" dirty="0">
                <a:latin typeface="Arial"/>
                <a:cs typeface="Arial"/>
              </a:rPr>
              <a:t>Web</a:t>
            </a:r>
            <a:r>
              <a:rPr sz="3200" dirty="0">
                <a:latin typeface="Arial"/>
                <a:cs typeface="Arial"/>
              </a:rPr>
              <a:t>	</a:t>
            </a:r>
            <a:r>
              <a:rPr sz="3200" spc="-10" dirty="0">
                <a:latin typeface="Arial"/>
                <a:cs typeface="Arial"/>
              </a:rPr>
              <a:t>Servers,</a:t>
            </a:r>
            <a:r>
              <a:rPr sz="3200" dirty="0">
                <a:latin typeface="Arial"/>
                <a:cs typeface="Arial"/>
              </a:rPr>
              <a:t>	</a:t>
            </a:r>
            <a:r>
              <a:rPr sz="3200" spc="-20" dirty="0">
                <a:latin typeface="Arial"/>
                <a:cs typeface="Arial"/>
              </a:rPr>
              <a:t>Data 	</a:t>
            </a:r>
            <a:r>
              <a:rPr sz="3200" spc="-10" dirty="0">
                <a:latin typeface="Arial"/>
                <a:cs typeface="Arial"/>
              </a:rPr>
              <a:t>Centers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25" dirty="0"/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47522" y="511643"/>
            <a:ext cx="824039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dirty="0">
                <a:latin typeface="Calibri"/>
                <a:cs typeface="Calibri"/>
              </a:rPr>
              <a:t>Case</a:t>
            </a:r>
            <a:r>
              <a:rPr sz="4000" spc="-114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Study</a:t>
            </a:r>
            <a:r>
              <a:rPr sz="4000" spc="-114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–</a:t>
            </a:r>
            <a:r>
              <a:rPr sz="4000" spc="-95" dirty="0">
                <a:latin typeface="Calibri"/>
                <a:cs typeface="Calibri"/>
              </a:rPr>
              <a:t> </a:t>
            </a:r>
            <a:r>
              <a:rPr sz="4000" spc="-10" dirty="0">
                <a:latin typeface="Calibri"/>
                <a:cs typeface="Calibri"/>
              </a:rPr>
              <a:t>Enterprise</a:t>
            </a:r>
            <a:r>
              <a:rPr sz="4000" spc="-80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Network</a:t>
            </a:r>
            <a:r>
              <a:rPr sz="4000" spc="-105" dirty="0">
                <a:latin typeface="Calibri"/>
                <a:cs typeface="Calibri"/>
              </a:rPr>
              <a:t> </a:t>
            </a:r>
            <a:r>
              <a:rPr sz="4000" spc="-10" dirty="0">
                <a:latin typeface="Calibri"/>
                <a:cs typeface="Calibri"/>
              </a:rPr>
              <a:t>Setup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4495" y="1243118"/>
            <a:ext cx="8530590" cy="52565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3535">
              <a:lnSpc>
                <a:spcPct val="100000"/>
              </a:lnSpc>
              <a:spcBef>
                <a:spcPts val="100"/>
              </a:spcBef>
              <a:buChar char="•"/>
              <a:tabLst>
                <a:tab pos="355600" algn="l"/>
              </a:tabLst>
            </a:pPr>
            <a:r>
              <a:rPr sz="2600" dirty="0">
                <a:latin typeface="Arial"/>
                <a:cs typeface="Arial"/>
              </a:rPr>
              <a:t>A</a:t>
            </a:r>
            <a:r>
              <a:rPr sz="2600" spc="45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large</a:t>
            </a:r>
            <a:r>
              <a:rPr sz="2600" spc="60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organization</a:t>
            </a:r>
            <a:r>
              <a:rPr sz="2600" spc="60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with</a:t>
            </a:r>
            <a:r>
              <a:rPr sz="2600" spc="60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multiple</a:t>
            </a:r>
            <a:r>
              <a:rPr sz="2600" spc="63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departments</a:t>
            </a:r>
            <a:r>
              <a:rPr sz="2600" spc="595" dirty="0">
                <a:latin typeface="Arial"/>
                <a:cs typeface="Arial"/>
              </a:rPr>
              <a:t> </a:t>
            </a:r>
            <a:r>
              <a:rPr sz="2600" spc="-10" dirty="0">
                <a:latin typeface="Arial"/>
                <a:cs typeface="Arial"/>
              </a:rPr>
              <a:t>using </a:t>
            </a:r>
            <a:r>
              <a:rPr sz="2600" dirty="0">
                <a:latin typeface="Arial"/>
                <a:cs typeface="Arial"/>
              </a:rPr>
              <a:t>Windows</a:t>
            </a:r>
            <a:r>
              <a:rPr sz="2600" spc="-6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Server</a:t>
            </a:r>
            <a:r>
              <a:rPr sz="2600" spc="-4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and</a:t>
            </a:r>
            <a:r>
              <a:rPr sz="2600" spc="-50" dirty="0">
                <a:latin typeface="Arial"/>
                <a:cs typeface="Arial"/>
              </a:rPr>
              <a:t> </a:t>
            </a:r>
            <a:r>
              <a:rPr sz="2600" spc="-10" dirty="0">
                <a:latin typeface="Arial"/>
                <a:cs typeface="Arial"/>
              </a:rPr>
              <a:t>Linux-</a:t>
            </a:r>
            <a:r>
              <a:rPr sz="2600" dirty="0">
                <a:latin typeface="Arial"/>
                <a:cs typeface="Arial"/>
              </a:rPr>
              <a:t>based</a:t>
            </a:r>
            <a:r>
              <a:rPr sz="2600" spc="-80" dirty="0">
                <a:latin typeface="Arial"/>
                <a:cs typeface="Arial"/>
              </a:rPr>
              <a:t> </a:t>
            </a:r>
            <a:r>
              <a:rPr sz="2600" spc="-20" dirty="0">
                <a:latin typeface="Arial"/>
                <a:cs typeface="Arial"/>
              </a:rPr>
              <a:t>NOS.</a:t>
            </a:r>
            <a:endParaRPr sz="2600">
              <a:latin typeface="Arial"/>
              <a:cs typeface="Arial"/>
            </a:endParaRPr>
          </a:p>
          <a:p>
            <a:pPr marL="356870" indent="-344170">
              <a:lnSpc>
                <a:spcPct val="100000"/>
              </a:lnSpc>
              <a:spcBef>
                <a:spcPts val="625"/>
              </a:spcBef>
              <a:buChar char="•"/>
              <a:tabLst>
                <a:tab pos="356870" algn="l"/>
              </a:tabLst>
            </a:pPr>
            <a:r>
              <a:rPr sz="2600" dirty="0">
                <a:latin typeface="Arial"/>
                <a:cs typeface="Arial"/>
              </a:rPr>
              <a:t>Centralized</a:t>
            </a:r>
            <a:r>
              <a:rPr sz="2600" spc="-15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authentication</a:t>
            </a:r>
            <a:r>
              <a:rPr sz="2600" spc="-70" dirty="0">
                <a:latin typeface="Arial"/>
                <a:cs typeface="Arial"/>
              </a:rPr>
              <a:t> </a:t>
            </a:r>
            <a:r>
              <a:rPr sz="2600" spc="-10" dirty="0">
                <a:latin typeface="Arial"/>
                <a:cs typeface="Arial"/>
              </a:rPr>
              <a:t>using</a:t>
            </a:r>
            <a:r>
              <a:rPr sz="2600" spc="-17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Active</a:t>
            </a:r>
            <a:r>
              <a:rPr sz="2600" spc="-90" dirty="0">
                <a:latin typeface="Arial"/>
                <a:cs typeface="Arial"/>
              </a:rPr>
              <a:t> </a:t>
            </a:r>
            <a:r>
              <a:rPr sz="2600" spc="-10" dirty="0">
                <a:latin typeface="Arial"/>
                <a:cs typeface="Arial"/>
              </a:rPr>
              <a:t>Directory.</a:t>
            </a:r>
            <a:endParaRPr sz="2600">
              <a:latin typeface="Arial"/>
              <a:cs typeface="Arial"/>
            </a:endParaRPr>
          </a:p>
          <a:p>
            <a:pPr marL="356870" indent="-344170">
              <a:lnSpc>
                <a:spcPct val="100000"/>
              </a:lnSpc>
              <a:spcBef>
                <a:spcPts val="625"/>
              </a:spcBef>
              <a:buChar char="•"/>
              <a:tabLst>
                <a:tab pos="356870" algn="l"/>
              </a:tabLst>
            </a:pPr>
            <a:r>
              <a:rPr sz="2600" dirty="0">
                <a:latin typeface="Arial"/>
                <a:cs typeface="Arial"/>
              </a:rPr>
              <a:t>Challenges</a:t>
            </a:r>
            <a:r>
              <a:rPr sz="2600" spc="-140" dirty="0">
                <a:latin typeface="Arial"/>
                <a:cs typeface="Arial"/>
              </a:rPr>
              <a:t> </a:t>
            </a:r>
            <a:r>
              <a:rPr sz="2600" spc="-10" dirty="0">
                <a:latin typeface="Arial"/>
                <a:cs typeface="Arial"/>
              </a:rPr>
              <a:t>faced:</a:t>
            </a:r>
            <a:endParaRPr sz="2600">
              <a:latin typeface="Arial"/>
              <a:cs typeface="Arial"/>
            </a:endParaRPr>
          </a:p>
          <a:p>
            <a:pPr marL="523240" marR="7620" indent="-221615">
              <a:lnSpc>
                <a:spcPct val="100000"/>
              </a:lnSpc>
              <a:spcBef>
                <a:spcPts val="625"/>
              </a:spcBef>
            </a:pPr>
            <a:r>
              <a:rPr sz="2600" dirty="0">
                <a:latin typeface="Calibri"/>
                <a:cs typeface="Calibri"/>
              </a:rPr>
              <a:t>₋</a:t>
            </a:r>
            <a:r>
              <a:rPr sz="2600" spc="165" dirty="0">
                <a:latin typeface="Calibri"/>
                <a:cs typeface="Calibri"/>
              </a:rPr>
              <a:t> </a:t>
            </a:r>
            <a:r>
              <a:rPr sz="2600" b="1" dirty="0">
                <a:latin typeface="Arial"/>
                <a:cs typeface="Arial"/>
              </a:rPr>
              <a:t>Scalability</a:t>
            </a:r>
            <a:r>
              <a:rPr sz="2600" dirty="0">
                <a:latin typeface="Arial"/>
                <a:cs typeface="Arial"/>
              </a:rPr>
              <a:t>:</a:t>
            </a:r>
            <a:r>
              <a:rPr sz="2600" spc="459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Managing</a:t>
            </a:r>
            <a:r>
              <a:rPr sz="2600" spc="46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increasing</a:t>
            </a:r>
            <a:r>
              <a:rPr sz="2600" spc="434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users</a:t>
            </a:r>
            <a:r>
              <a:rPr sz="2600" spc="45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and</a:t>
            </a:r>
            <a:r>
              <a:rPr sz="2600" spc="434" dirty="0">
                <a:latin typeface="Arial"/>
                <a:cs typeface="Arial"/>
              </a:rPr>
              <a:t> </a:t>
            </a:r>
            <a:r>
              <a:rPr sz="2600" spc="-10" dirty="0">
                <a:latin typeface="Arial"/>
                <a:cs typeface="Arial"/>
              </a:rPr>
              <a:t>network traffic.</a:t>
            </a:r>
            <a:endParaRPr sz="2600">
              <a:latin typeface="Arial"/>
              <a:cs typeface="Arial"/>
            </a:endParaRPr>
          </a:p>
          <a:p>
            <a:pPr marL="523240" marR="5715" indent="-221615">
              <a:lnSpc>
                <a:spcPct val="100000"/>
              </a:lnSpc>
              <a:spcBef>
                <a:spcPts val="625"/>
              </a:spcBef>
              <a:tabLst>
                <a:tab pos="2077085" algn="l"/>
                <a:tab pos="3302000" algn="l"/>
                <a:tab pos="4856480" algn="l"/>
                <a:tab pos="5749290" algn="l"/>
                <a:tab pos="7452359" algn="l"/>
              </a:tabLst>
            </a:pPr>
            <a:r>
              <a:rPr sz="2600" dirty="0">
                <a:latin typeface="Calibri"/>
                <a:cs typeface="Calibri"/>
              </a:rPr>
              <a:t>₋</a:t>
            </a:r>
            <a:r>
              <a:rPr sz="2600" spc="204" dirty="0">
                <a:latin typeface="Calibri"/>
                <a:cs typeface="Calibri"/>
              </a:rPr>
              <a:t> </a:t>
            </a:r>
            <a:r>
              <a:rPr sz="2600" b="1" spc="-10" dirty="0">
                <a:latin typeface="Arial"/>
                <a:cs typeface="Arial"/>
              </a:rPr>
              <a:t>Security</a:t>
            </a:r>
            <a:r>
              <a:rPr sz="2600" b="1" dirty="0">
                <a:latin typeface="Arial"/>
                <a:cs typeface="Arial"/>
              </a:rPr>
              <a:t>	</a:t>
            </a:r>
            <a:r>
              <a:rPr sz="2600" b="1" spc="-10" dirty="0">
                <a:latin typeface="Arial"/>
                <a:cs typeface="Arial"/>
              </a:rPr>
              <a:t>Risks</a:t>
            </a:r>
            <a:r>
              <a:rPr sz="2600" spc="-10" dirty="0">
                <a:latin typeface="Arial"/>
                <a:cs typeface="Arial"/>
              </a:rPr>
              <a:t>:</a:t>
            </a:r>
            <a:r>
              <a:rPr sz="2600" dirty="0">
                <a:latin typeface="Arial"/>
                <a:cs typeface="Arial"/>
              </a:rPr>
              <a:t>	</a:t>
            </a:r>
            <a:r>
              <a:rPr sz="2600" spc="-10" dirty="0">
                <a:latin typeface="Arial"/>
                <a:cs typeface="Arial"/>
              </a:rPr>
              <a:t>Ensuring</a:t>
            </a:r>
            <a:r>
              <a:rPr sz="2600" dirty="0">
                <a:latin typeface="Arial"/>
                <a:cs typeface="Arial"/>
              </a:rPr>
              <a:t>	</a:t>
            </a:r>
            <a:r>
              <a:rPr sz="2600" spc="-20" dirty="0">
                <a:latin typeface="Arial"/>
                <a:cs typeface="Arial"/>
              </a:rPr>
              <a:t>data</a:t>
            </a:r>
            <a:r>
              <a:rPr sz="2600" dirty="0">
                <a:latin typeface="Arial"/>
                <a:cs typeface="Arial"/>
              </a:rPr>
              <a:t>	</a:t>
            </a:r>
            <a:r>
              <a:rPr sz="2600" spc="-10" dirty="0">
                <a:latin typeface="Arial"/>
                <a:cs typeface="Arial"/>
              </a:rPr>
              <a:t>protection</a:t>
            </a:r>
            <a:r>
              <a:rPr sz="2600" dirty="0">
                <a:latin typeface="Arial"/>
                <a:cs typeface="Arial"/>
              </a:rPr>
              <a:t>	</a:t>
            </a:r>
            <a:r>
              <a:rPr sz="2600" spc="-10" dirty="0">
                <a:latin typeface="Arial"/>
                <a:cs typeface="Arial"/>
              </a:rPr>
              <a:t>against </a:t>
            </a:r>
            <a:r>
              <a:rPr sz="2600" dirty="0">
                <a:latin typeface="Arial"/>
                <a:cs typeface="Arial"/>
              </a:rPr>
              <a:t>cyber</a:t>
            </a:r>
            <a:r>
              <a:rPr sz="2600" spc="-40" dirty="0">
                <a:latin typeface="Arial"/>
                <a:cs typeface="Arial"/>
              </a:rPr>
              <a:t> </a:t>
            </a:r>
            <a:r>
              <a:rPr sz="2600" spc="-10" dirty="0">
                <a:latin typeface="Arial"/>
                <a:cs typeface="Arial"/>
              </a:rPr>
              <a:t>threats.</a:t>
            </a:r>
            <a:endParaRPr sz="2600">
              <a:latin typeface="Arial"/>
              <a:cs typeface="Arial"/>
            </a:endParaRPr>
          </a:p>
          <a:p>
            <a:pPr marL="523240" marR="5080" indent="-221615">
              <a:lnSpc>
                <a:spcPct val="100000"/>
              </a:lnSpc>
              <a:spcBef>
                <a:spcPts val="620"/>
              </a:spcBef>
              <a:tabLst>
                <a:tab pos="3462020" algn="l"/>
                <a:tab pos="5485765" algn="l"/>
                <a:tab pos="7132955" algn="l"/>
              </a:tabLst>
            </a:pPr>
            <a:r>
              <a:rPr sz="2600" dirty="0">
                <a:latin typeface="Calibri"/>
                <a:cs typeface="Calibri"/>
              </a:rPr>
              <a:t>₋</a:t>
            </a:r>
            <a:r>
              <a:rPr sz="2600" spc="204" dirty="0">
                <a:latin typeface="Calibri"/>
                <a:cs typeface="Calibri"/>
              </a:rPr>
              <a:t> </a:t>
            </a:r>
            <a:r>
              <a:rPr sz="2600" b="1" spc="-10" dirty="0">
                <a:latin typeface="Arial"/>
                <a:cs typeface="Arial"/>
              </a:rPr>
              <a:t>Interoperability</a:t>
            </a:r>
            <a:r>
              <a:rPr sz="2600" spc="-10" dirty="0">
                <a:latin typeface="Arial"/>
                <a:cs typeface="Arial"/>
              </a:rPr>
              <a:t>:</a:t>
            </a:r>
            <a:r>
              <a:rPr sz="2600" dirty="0">
                <a:latin typeface="Arial"/>
                <a:cs typeface="Arial"/>
              </a:rPr>
              <a:t>	</a:t>
            </a:r>
            <a:r>
              <a:rPr sz="2600" spc="-10" dirty="0">
                <a:latin typeface="Arial"/>
                <a:cs typeface="Arial"/>
              </a:rPr>
              <a:t>Integrating</a:t>
            </a:r>
            <a:r>
              <a:rPr sz="2600" dirty="0">
                <a:latin typeface="Arial"/>
                <a:cs typeface="Arial"/>
              </a:rPr>
              <a:t>	</a:t>
            </a:r>
            <a:r>
              <a:rPr sz="2600" spc="-10" dirty="0">
                <a:latin typeface="Arial"/>
                <a:cs typeface="Arial"/>
              </a:rPr>
              <a:t>different</a:t>
            </a:r>
            <a:r>
              <a:rPr sz="2600" dirty="0">
                <a:latin typeface="Arial"/>
                <a:cs typeface="Arial"/>
              </a:rPr>
              <a:t>	</a:t>
            </a:r>
            <a:r>
              <a:rPr sz="2600" spc="-10" dirty="0">
                <a:latin typeface="Arial"/>
                <a:cs typeface="Arial"/>
              </a:rPr>
              <a:t>operating </a:t>
            </a:r>
            <a:r>
              <a:rPr sz="2600" dirty="0">
                <a:latin typeface="Arial"/>
                <a:cs typeface="Arial"/>
              </a:rPr>
              <a:t>systems</a:t>
            </a:r>
            <a:r>
              <a:rPr sz="2600" spc="-7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and</a:t>
            </a:r>
            <a:r>
              <a:rPr sz="2600" spc="-40" dirty="0">
                <a:latin typeface="Arial"/>
                <a:cs typeface="Arial"/>
              </a:rPr>
              <a:t> </a:t>
            </a:r>
            <a:r>
              <a:rPr sz="2600" spc="-10" dirty="0">
                <a:latin typeface="Arial"/>
                <a:cs typeface="Arial"/>
              </a:rPr>
              <a:t>applications.</a:t>
            </a:r>
            <a:endParaRPr sz="2600">
              <a:latin typeface="Arial"/>
              <a:cs typeface="Arial"/>
            </a:endParaRPr>
          </a:p>
          <a:p>
            <a:pPr marL="523240" marR="5080" indent="-221615">
              <a:lnSpc>
                <a:spcPct val="100000"/>
              </a:lnSpc>
              <a:spcBef>
                <a:spcPts val="625"/>
              </a:spcBef>
              <a:tabLst>
                <a:tab pos="2818130" algn="l"/>
                <a:tab pos="3354070" algn="l"/>
                <a:tab pos="5318760" algn="l"/>
                <a:tab pos="6915784" algn="l"/>
              </a:tabLst>
            </a:pPr>
            <a:r>
              <a:rPr sz="2600" dirty="0">
                <a:latin typeface="Calibri"/>
                <a:cs typeface="Calibri"/>
              </a:rPr>
              <a:t>₋</a:t>
            </a:r>
            <a:r>
              <a:rPr sz="2600" spc="204" dirty="0">
                <a:latin typeface="Calibri"/>
                <a:cs typeface="Calibri"/>
              </a:rPr>
              <a:t> </a:t>
            </a:r>
            <a:r>
              <a:rPr sz="2600" b="1" spc="-10" dirty="0">
                <a:latin typeface="Arial"/>
                <a:cs typeface="Arial"/>
              </a:rPr>
              <a:t>Maintenance</a:t>
            </a:r>
            <a:r>
              <a:rPr sz="2600" b="1" dirty="0">
                <a:latin typeface="Arial"/>
                <a:cs typeface="Arial"/>
              </a:rPr>
              <a:t>	</a:t>
            </a:r>
            <a:r>
              <a:rPr sz="2600" b="1" spc="-50" dirty="0">
                <a:latin typeface="Arial"/>
                <a:cs typeface="Arial"/>
              </a:rPr>
              <a:t>&amp;</a:t>
            </a:r>
            <a:r>
              <a:rPr sz="2600" b="1" dirty="0">
                <a:latin typeface="Arial"/>
                <a:cs typeface="Arial"/>
              </a:rPr>
              <a:t>	</a:t>
            </a:r>
            <a:r>
              <a:rPr sz="2600" b="1" spc="-10" dirty="0">
                <a:latin typeface="Arial"/>
                <a:cs typeface="Arial"/>
              </a:rPr>
              <a:t>Downtime</a:t>
            </a:r>
            <a:r>
              <a:rPr sz="2600" spc="-10" dirty="0">
                <a:latin typeface="Arial"/>
                <a:cs typeface="Arial"/>
              </a:rPr>
              <a:t>:</a:t>
            </a:r>
            <a:r>
              <a:rPr sz="2600" dirty="0">
                <a:latin typeface="Arial"/>
                <a:cs typeface="Arial"/>
              </a:rPr>
              <a:t>	</a:t>
            </a:r>
            <a:r>
              <a:rPr sz="2600" spc="-10" dirty="0">
                <a:latin typeface="Arial"/>
                <a:cs typeface="Arial"/>
              </a:rPr>
              <a:t>Ensuring</a:t>
            </a:r>
            <a:r>
              <a:rPr sz="2600" dirty="0">
                <a:latin typeface="Arial"/>
                <a:cs typeface="Arial"/>
              </a:rPr>
              <a:t>	</a:t>
            </a:r>
            <a:r>
              <a:rPr sz="2600" spc="-10" dirty="0">
                <a:latin typeface="Arial"/>
                <a:cs typeface="Arial"/>
              </a:rPr>
              <a:t>continuous </a:t>
            </a:r>
            <a:r>
              <a:rPr sz="2600" dirty="0">
                <a:latin typeface="Arial"/>
                <a:cs typeface="Arial"/>
              </a:rPr>
              <a:t>network</a:t>
            </a:r>
            <a:r>
              <a:rPr sz="2600" spc="-7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availability</a:t>
            </a:r>
            <a:r>
              <a:rPr sz="2600" spc="-7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and</a:t>
            </a:r>
            <a:r>
              <a:rPr sz="2600" spc="-4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quick</a:t>
            </a:r>
            <a:r>
              <a:rPr sz="2600" spc="-6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recovery</a:t>
            </a:r>
            <a:r>
              <a:rPr sz="2600" spc="-7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from</a:t>
            </a:r>
            <a:r>
              <a:rPr sz="2600" spc="-55" dirty="0">
                <a:latin typeface="Arial"/>
                <a:cs typeface="Arial"/>
              </a:rPr>
              <a:t> </a:t>
            </a:r>
            <a:r>
              <a:rPr sz="2600" spc="-10" dirty="0">
                <a:latin typeface="Arial"/>
                <a:cs typeface="Arial"/>
              </a:rPr>
              <a:t>failures.</a:t>
            </a:r>
            <a:endParaRPr sz="26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25" dirty="0"/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71200" y="648676"/>
            <a:ext cx="8240395" cy="1244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429000" marR="5080" indent="-3416935">
              <a:lnSpc>
                <a:spcPct val="100000"/>
              </a:lnSpc>
              <a:spcBef>
                <a:spcPts val="95"/>
              </a:spcBef>
            </a:pPr>
            <a:r>
              <a:rPr sz="4000" dirty="0">
                <a:latin typeface="Calibri"/>
                <a:cs typeface="Calibri"/>
              </a:rPr>
              <a:t>Case</a:t>
            </a:r>
            <a:r>
              <a:rPr sz="4000" spc="-114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Study</a:t>
            </a:r>
            <a:r>
              <a:rPr sz="4000" spc="-114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–</a:t>
            </a:r>
            <a:r>
              <a:rPr sz="4000" spc="-95" dirty="0">
                <a:latin typeface="Calibri"/>
                <a:cs typeface="Calibri"/>
              </a:rPr>
              <a:t> </a:t>
            </a:r>
            <a:r>
              <a:rPr sz="4000" spc="-10" dirty="0">
                <a:latin typeface="Calibri"/>
                <a:cs typeface="Calibri"/>
              </a:rPr>
              <a:t>Enterprise</a:t>
            </a:r>
            <a:r>
              <a:rPr sz="4000" spc="-80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Network</a:t>
            </a:r>
            <a:r>
              <a:rPr sz="4000" spc="-105" dirty="0">
                <a:latin typeface="Calibri"/>
                <a:cs typeface="Calibri"/>
              </a:rPr>
              <a:t> </a:t>
            </a:r>
            <a:r>
              <a:rPr sz="4000" spc="-10" dirty="0">
                <a:latin typeface="Calibri"/>
                <a:cs typeface="Calibri"/>
              </a:rPr>
              <a:t>Setup (cont.)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3045" y="2078265"/>
            <a:ext cx="8072755" cy="36353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3060" marR="6350" indent="-340995" algn="just">
              <a:lnSpc>
                <a:spcPct val="100000"/>
              </a:lnSpc>
              <a:spcBef>
                <a:spcPts val="100"/>
              </a:spcBef>
              <a:buChar char="•"/>
              <a:tabLst>
                <a:tab pos="355600" algn="l"/>
              </a:tabLst>
            </a:pPr>
            <a:r>
              <a:rPr sz="3200" dirty="0">
                <a:latin typeface="Arial"/>
                <a:cs typeface="Arial"/>
              </a:rPr>
              <a:t>Solutions</a:t>
            </a:r>
            <a:r>
              <a:rPr sz="3200" spc="725" dirty="0">
                <a:latin typeface="Arial"/>
                <a:cs typeface="Arial"/>
              </a:rPr>
              <a:t>   </a:t>
            </a:r>
            <a:r>
              <a:rPr sz="3200" dirty="0">
                <a:latin typeface="Arial"/>
                <a:cs typeface="Arial"/>
              </a:rPr>
              <a:t>and</a:t>
            </a:r>
            <a:r>
              <a:rPr sz="3200" spc="725" dirty="0">
                <a:latin typeface="Arial"/>
                <a:cs typeface="Arial"/>
              </a:rPr>
              <a:t>   </a:t>
            </a:r>
            <a:r>
              <a:rPr sz="3200" dirty="0">
                <a:latin typeface="Arial"/>
                <a:cs typeface="Arial"/>
              </a:rPr>
              <a:t>best</a:t>
            </a:r>
            <a:r>
              <a:rPr sz="3200" spc="735" dirty="0">
                <a:latin typeface="Arial"/>
                <a:cs typeface="Arial"/>
              </a:rPr>
              <a:t>   </a:t>
            </a:r>
            <a:r>
              <a:rPr sz="3200" dirty="0">
                <a:latin typeface="Arial"/>
                <a:cs typeface="Arial"/>
              </a:rPr>
              <a:t>practices</a:t>
            </a:r>
            <a:r>
              <a:rPr sz="3200" spc="730" dirty="0">
                <a:latin typeface="Arial"/>
                <a:cs typeface="Arial"/>
              </a:rPr>
              <a:t>   </a:t>
            </a:r>
            <a:r>
              <a:rPr sz="3200" spc="-25" dirty="0">
                <a:latin typeface="Arial"/>
                <a:cs typeface="Arial"/>
              </a:rPr>
              <a:t>for 	</a:t>
            </a:r>
            <a:r>
              <a:rPr sz="3200" dirty="0">
                <a:latin typeface="Arial"/>
                <a:cs typeface="Arial"/>
              </a:rPr>
              <a:t>overcoming</a:t>
            </a:r>
            <a:r>
              <a:rPr sz="3200" spc="-8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these</a:t>
            </a:r>
            <a:r>
              <a:rPr sz="3200" spc="-50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challenges.</a:t>
            </a:r>
            <a:endParaRPr sz="3200">
              <a:latin typeface="Arial"/>
              <a:cs typeface="Arial"/>
            </a:endParaRPr>
          </a:p>
          <a:p>
            <a:pPr marL="353060" marR="5080" indent="-340995" algn="just">
              <a:lnSpc>
                <a:spcPct val="100000"/>
              </a:lnSpc>
              <a:spcBef>
                <a:spcPts val="770"/>
              </a:spcBef>
              <a:buChar char="•"/>
              <a:tabLst>
                <a:tab pos="355600" algn="l"/>
              </a:tabLst>
            </a:pPr>
            <a:r>
              <a:rPr sz="3200" dirty="0">
                <a:latin typeface="Arial"/>
                <a:cs typeface="Arial"/>
              </a:rPr>
              <a:t>A</a:t>
            </a:r>
            <a:r>
              <a:rPr sz="3200" spc="495" dirty="0">
                <a:latin typeface="Arial"/>
                <a:cs typeface="Arial"/>
              </a:rPr>
              <a:t>   </a:t>
            </a:r>
            <a:r>
              <a:rPr sz="3200" dirty="0">
                <a:latin typeface="Arial"/>
                <a:cs typeface="Arial"/>
              </a:rPr>
              <a:t>large</a:t>
            </a:r>
            <a:r>
              <a:rPr sz="3200" spc="555" dirty="0">
                <a:latin typeface="Arial"/>
                <a:cs typeface="Arial"/>
              </a:rPr>
              <a:t>   </a:t>
            </a:r>
            <a:r>
              <a:rPr sz="3200" dirty="0">
                <a:latin typeface="Arial"/>
                <a:cs typeface="Arial"/>
              </a:rPr>
              <a:t>organization</a:t>
            </a:r>
            <a:r>
              <a:rPr sz="3200" spc="550" dirty="0">
                <a:latin typeface="Arial"/>
                <a:cs typeface="Arial"/>
              </a:rPr>
              <a:t>   </a:t>
            </a:r>
            <a:r>
              <a:rPr sz="3200" dirty="0">
                <a:latin typeface="Arial"/>
                <a:cs typeface="Arial"/>
              </a:rPr>
              <a:t>with</a:t>
            </a:r>
            <a:r>
              <a:rPr sz="3200" spc="555" dirty="0">
                <a:latin typeface="Arial"/>
                <a:cs typeface="Arial"/>
              </a:rPr>
              <a:t>   </a:t>
            </a:r>
            <a:r>
              <a:rPr sz="3200" spc="-10" dirty="0">
                <a:latin typeface="Arial"/>
                <a:cs typeface="Arial"/>
              </a:rPr>
              <a:t>multiple 	</a:t>
            </a:r>
            <a:r>
              <a:rPr sz="3200" dirty="0">
                <a:latin typeface="Arial"/>
                <a:cs typeface="Arial"/>
              </a:rPr>
              <a:t>departments</a:t>
            </a:r>
            <a:r>
              <a:rPr sz="3200" spc="25" dirty="0">
                <a:latin typeface="Arial"/>
                <a:cs typeface="Arial"/>
              </a:rPr>
              <a:t>  </a:t>
            </a:r>
            <a:r>
              <a:rPr sz="3200" dirty="0">
                <a:latin typeface="Arial"/>
                <a:cs typeface="Arial"/>
              </a:rPr>
              <a:t>using</a:t>
            </a:r>
            <a:r>
              <a:rPr sz="3200" spc="15" dirty="0">
                <a:latin typeface="Arial"/>
                <a:cs typeface="Arial"/>
              </a:rPr>
              <a:t>  </a:t>
            </a:r>
            <a:r>
              <a:rPr sz="3200" dirty="0">
                <a:latin typeface="Arial"/>
                <a:cs typeface="Arial"/>
              </a:rPr>
              <a:t>Windows</a:t>
            </a:r>
            <a:r>
              <a:rPr sz="3200" spc="25" dirty="0">
                <a:latin typeface="Arial"/>
                <a:cs typeface="Arial"/>
              </a:rPr>
              <a:t>  </a:t>
            </a:r>
            <a:r>
              <a:rPr sz="3200" dirty="0">
                <a:latin typeface="Arial"/>
                <a:cs typeface="Arial"/>
              </a:rPr>
              <a:t>Server</a:t>
            </a:r>
            <a:r>
              <a:rPr sz="3200" spc="25" dirty="0">
                <a:latin typeface="Arial"/>
                <a:cs typeface="Arial"/>
              </a:rPr>
              <a:t>  </a:t>
            </a:r>
            <a:r>
              <a:rPr sz="3200" spc="-25" dirty="0">
                <a:latin typeface="Arial"/>
                <a:cs typeface="Arial"/>
              </a:rPr>
              <a:t>and 	</a:t>
            </a:r>
            <a:r>
              <a:rPr sz="3200" spc="-10" dirty="0">
                <a:latin typeface="Arial"/>
                <a:cs typeface="Arial"/>
              </a:rPr>
              <a:t>Linux-</a:t>
            </a:r>
            <a:r>
              <a:rPr sz="3200" dirty="0">
                <a:latin typeface="Arial"/>
                <a:cs typeface="Arial"/>
              </a:rPr>
              <a:t>based</a:t>
            </a:r>
            <a:r>
              <a:rPr sz="3200" spc="-40" dirty="0">
                <a:latin typeface="Arial"/>
                <a:cs typeface="Arial"/>
              </a:rPr>
              <a:t> </a:t>
            </a:r>
            <a:r>
              <a:rPr sz="3200" spc="-20" dirty="0">
                <a:latin typeface="Arial"/>
                <a:cs typeface="Arial"/>
              </a:rPr>
              <a:t>NOS.</a:t>
            </a:r>
            <a:endParaRPr sz="3200">
              <a:latin typeface="Arial"/>
              <a:cs typeface="Arial"/>
            </a:endParaRPr>
          </a:p>
          <a:p>
            <a:pPr marL="353060" marR="5080" indent="-340995" algn="just">
              <a:lnSpc>
                <a:spcPct val="100000"/>
              </a:lnSpc>
              <a:spcBef>
                <a:spcPts val="770"/>
              </a:spcBef>
              <a:buChar char="•"/>
              <a:tabLst>
                <a:tab pos="355600" algn="l"/>
              </a:tabLst>
            </a:pPr>
            <a:r>
              <a:rPr sz="3200" dirty="0">
                <a:latin typeface="Arial"/>
                <a:cs typeface="Arial"/>
              </a:rPr>
              <a:t>Centralized</a:t>
            </a:r>
            <a:r>
              <a:rPr sz="3200" spc="445" dirty="0">
                <a:latin typeface="Arial"/>
                <a:cs typeface="Arial"/>
              </a:rPr>
              <a:t>  </a:t>
            </a:r>
            <a:r>
              <a:rPr sz="3200" dirty="0">
                <a:latin typeface="Arial"/>
                <a:cs typeface="Arial"/>
              </a:rPr>
              <a:t>authentication</a:t>
            </a:r>
            <a:r>
              <a:rPr sz="3200" spc="450" dirty="0">
                <a:latin typeface="Arial"/>
                <a:cs typeface="Arial"/>
              </a:rPr>
              <a:t>  </a:t>
            </a:r>
            <a:r>
              <a:rPr sz="3200" dirty="0">
                <a:latin typeface="Arial"/>
                <a:cs typeface="Arial"/>
              </a:rPr>
              <a:t>using</a:t>
            </a:r>
            <a:r>
              <a:rPr sz="3200" spc="450" dirty="0">
                <a:latin typeface="Arial"/>
                <a:cs typeface="Arial"/>
              </a:rPr>
              <a:t>  </a:t>
            </a:r>
            <a:r>
              <a:rPr sz="3200" spc="-10" dirty="0">
                <a:latin typeface="Arial"/>
                <a:cs typeface="Arial"/>
              </a:rPr>
              <a:t>Active 	Directory.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25" dirty="0"/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142326" y="566543"/>
            <a:ext cx="576834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Future</a:t>
            </a:r>
            <a:r>
              <a:rPr spc="-130" dirty="0"/>
              <a:t> </a:t>
            </a:r>
            <a:r>
              <a:rPr dirty="0"/>
              <a:t>Trends</a:t>
            </a:r>
            <a:r>
              <a:rPr spc="-130" dirty="0"/>
              <a:t> </a:t>
            </a:r>
            <a:r>
              <a:rPr dirty="0"/>
              <a:t>in</a:t>
            </a:r>
            <a:r>
              <a:rPr spc="-110" dirty="0"/>
              <a:t> </a:t>
            </a:r>
            <a:r>
              <a:rPr spc="-25" dirty="0"/>
              <a:t>NOS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3045" y="1392402"/>
            <a:ext cx="8301990" cy="1489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330" marR="5080" indent="-342265" algn="just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5600" algn="l"/>
              </a:tabLst>
            </a:pPr>
            <a:r>
              <a:rPr sz="3200" b="1" spc="-10" dirty="0">
                <a:latin typeface="Arial"/>
                <a:cs typeface="Arial"/>
              </a:rPr>
              <a:t>Cloud-</a:t>
            </a:r>
            <a:r>
              <a:rPr sz="3200" b="1" dirty="0">
                <a:latin typeface="Arial"/>
                <a:cs typeface="Arial"/>
              </a:rPr>
              <a:t>based</a:t>
            </a:r>
            <a:r>
              <a:rPr sz="3200" b="1" spc="85" dirty="0">
                <a:latin typeface="Arial"/>
                <a:cs typeface="Arial"/>
              </a:rPr>
              <a:t>  </a:t>
            </a:r>
            <a:r>
              <a:rPr sz="3200" b="1" dirty="0">
                <a:latin typeface="Arial"/>
                <a:cs typeface="Arial"/>
              </a:rPr>
              <a:t>NOS</a:t>
            </a:r>
            <a:r>
              <a:rPr sz="3200" b="1" spc="90" dirty="0">
                <a:latin typeface="Arial"/>
                <a:cs typeface="Arial"/>
              </a:rPr>
              <a:t>  </a:t>
            </a:r>
            <a:r>
              <a:rPr sz="3200" b="1" dirty="0">
                <a:latin typeface="Arial"/>
                <a:cs typeface="Arial"/>
              </a:rPr>
              <a:t>solutions</a:t>
            </a:r>
            <a:r>
              <a:rPr sz="3200" dirty="0">
                <a:latin typeface="Arial"/>
                <a:cs typeface="Arial"/>
              </a:rPr>
              <a:t>:</a:t>
            </a:r>
            <a:r>
              <a:rPr sz="3200" spc="90" dirty="0">
                <a:latin typeface="Arial"/>
                <a:cs typeface="Arial"/>
              </a:rPr>
              <a:t>  </a:t>
            </a:r>
            <a:r>
              <a:rPr sz="3200" spc="-10" dirty="0">
                <a:latin typeface="Arial"/>
                <a:cs typeface="Arial"/>
              </a:rPr>
              <a:t>Enhancing 	</a:t>
            </a:r>
            <a:r>
              <a:rPr sz="3200" dirty="0">
                <a:latin typeface="Arial"/>
                <a:cs typeface="Arial"/>
              </a:rPr>
              <a:t>scalability</a:t>
            </a:r>
            <a:r>
              <a:rPr sz="3200" spc="28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and</a:t>
            </a:r>
            <a:r>
              <a:rPr sz="3200" spc="29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reducing</a:t>
            </a:r>
            <a:r>
              <a:rPr sz="3200" spc="26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infrastructure</a:t>
            </a:r>
            <a:r>
              <a:rPr sz="3200" spc="265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costs 	</a:t>
            </a:r>
            <a:r>
              <a:rPr sz="3200" dirty="0">
                <a:latin typeface="Arial"/>
                <a:cs typeface="Arial"/>
              </a:rPr>
              <a:t>for</a:t>
            </a:r>
            <a:r>
              <a:rPr sz="3200" spc="-50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businesses.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93045" y="2953077"/>
            <a:ext cx="348424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4965" algn="l"/>
                <a:tab pos="1156970" algn="l"/>
                <a:tab pos="1848485" algn="l"/>
              </a:tabLst>
            </a:pPr>
            <a:r>
              <a:rPr sz="3200" b="1" spc="-25" dirty="0">
                <a:latin typeface="Arial"/>
                <a:cs typeface="Arial"/>
              </a:rPr>
              <a:t>AI</a:t>
            </a:r>
            <a:r>
              <a:rPr sz="3200" b="1" dirty="0">
                <a:latin typeface="Arial"/>
                <a:cs typeface="Arial"/>
              </a:rPr>
              <a:t>	</a:t>
            </a:r>
            <a:r>
              <a:rPr sz="3200" b="1" spc="-50" dirty="0">
                <a:latin typeface="Arial"/>
                <a:cs typeface="Arial"/>
              </a:rPr>
              <a:t>&amp;</a:t>
            </a:r>
            <a:r>
              <a:rPr sz="3200" b="1" dirty="0">
                <a:latin typeface="Arial"/>
                <a:cs typeface="Arial"/>
              </a:rPr>
              <a:t>	</a:t>
            </a:r>
            <a:r>
              <a:rPr sz="3200" b="1" spc="-10" dirty="0">
                <a:latin typeface="Arial"/>
                <a:cs typeface="Arial"/>
              </a:rPr>
              <a:t>Machine</a:t>
            </a:r>
            <a:endParaRPr sz="3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35976" y="2953077"/>
            <a:ext cx="7959090" cy="10013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511550">
              <a:lnSpc>
                <a:spcPct val="100000"/>
              </a:lnSpc>
              <a:spcBef>
                <a:spcPts val="100"/>
              </a:spcBef>
              <a:tabLst>
                <a:tab pos="3335020" algn="l"/>
                <a:tab pos="5631815" algn="l"/>
                <a:tab pos="5821680" algn="l"/>
                <a:tab pos="6388735" algn="l"/>
              </a:tabLst>
            </a:pPr>
            <a:r>
              <a:rPr sz="3200" b="1" spc="-10" dirty="0">
                <a:latin typeface="Arial"/>
                <a:cs typeface="Arial"/>
              </a:rPr>
              <a:t>Learning</a:t>
            </a:r>
            <a:r>
              <a:rPr sz="3200" b="1" dirty="0">
                <a:latin typeface="Arial"/>
                <a:cs typeface="Arial"/>
              </a:rPr>
              <a:t>	</a:t>
            </a:r>
            <a:r>
              <a:rPr sz="3200" b="1" spc="-25" dirty="0">
                <a:latin typeface="Arial"/>
                <a:cs typeface="Arial"/>
              </a:rPr>
              <a:t>in</a:t>
            </a:r>
            <a:r>
              <a:rPr sz="3200" b="1" dirty="0">
                <a:latin typeface="Arial"/>
                <a:cs typeface="Arial"/>
              </a:rPr>
              <a:t>	</a:t>
            </a:r>
            <a:r>
              <a:rPr sz="3200" b="1" spc="-10" dirty="0">
                <a:latin typeface="Arial"/>
                <a:cs typeface="Arial"/>
              </a:rPr>
              <a:t>network management</a:t>
            </a:r>
            <a:r>
              <a:rPr sz="3200" spc="-10" dirty="0">
                <a:latin typeface="Arial"/>
                <a:cs typeface="Arial"/>
              </a:rPr>
              <a:t>:</a:t>
            </a:r>
            <a:r>
              <a:rPr sz="3200" dirty="0">
                <a:latin typeface="Arial"/>
                <a:cs typeface="Arial"/>
              </a:rPr>
              <a:t>	</a:t>
            </a:r>
            <a:r>
              <a:rPr sz="3200" spc="-10" dirty="0">
                <a:latin typeface="Arial"/>
                <a:cs typeface="Arial"/>
              </a:rPr>
              <a:t>Improving</a:t>
            </a:r>
            <a:r>
              <a:rPr sz="3200" dirty="0">
                <a:latin typeface="Arial"/>
                <a:cs typeface="Arial"/>
              </a:rPr>
              <a:t>		</a:t>
            </a:r>
            <a:r>
              <a:rPr sz="3200" spc="-10" dirty="0">
                <a:latin typeface="Arial"/>
                <a:cs typeface="Arial"/>
              </a:rPr>
              <a:t>automation,</a:t>
            </a:r>
            <a:endParaRPr sz="32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57200" y="3886200"/>
            <a:ext cx="9144000" cy="3429000"/>
          </a:xfrm>
          <a:custGeom>
            <a:avLst/>
            <a:gdLst/>
            <a:ahLst/>
            <a:cxnLst/>
            <a:rect l="l" t="t" r="r" b="b"/>
            <a:pathLst>
              <a:path w="9144000" h="3429000">
                <a:moveTo>
                  <a:pt x="9144000" y="3429000"/>
                </a:moveTo>
                <a:lnTo>
                  <a:pt x="0" y="3429000"/>
                </a:lnTo>
                <a:lnTo>
                  <a:pt x="0" y="0"/>
                </a:lnTo>
                <a:lnTo>
                  <a:pt x="9144000" y="0"/>
                </a:lnTo>
                <a:lnTo>
                  <a:pt x="9144000" y="34290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335976" y="3928423"/>
            <a:ext cx="669417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20" dirty="0">
                <a:latin typeface="Arial"/>
                <a:cs typeface="Arial"/>
              </a:rPr>
              <a:t>security,</a:t>
            </a:r>
            <a:r>
              <a:rPr sz="3200" spc="-9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and</a:t>
            </a:r>
            <a:r>
              <a:rPr sz="3200" spc="-6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predictive</a:t>
            </a:r>
            <a:r>
              <a:rPr sz="3200" spc="-60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maintenance.</a:t>
            </a:r>
            <a:endParaRPr sz="32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93045" y="4513552"/>
            <a:ext cx="392557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4965" algn="l"/>
                <a:tab pos="1771014" algn="l"/>
              </a:tabLst>
            </a:pPr>
            <a:r>
              <a:rPr sz="3200" b="1" spc="-20" dirty="0">
                <a:latin typeface="Arial"/>
                <a:cs typeface="Arial"/>
              </a:rPr>
              <a:t>Edge</a:t>
            </a:r>
            <a:r>
              <a:rPr sz="3200" b="1" dirty="0">
                <a:latin typeface="Arial"/>
                <a:cs typeface="Arial"/>
              </a:rPr>
              <a:t>	</a:t>
            </a:r>
            <a:r>
              <a:rPr sz="3200" b="1" spc="-10" dirty="0">
                <a:latin typeface="Arial"/>
                <a:cs typeface="Arial"/>
              </a:rPr>
              <a:t>Computing</a:t>
            </a:r>
            <a:endParaRPr sz="32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315534" y="4513552"/>
            <a:ext cx="31940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-50" dirty="0">
                <a:latin typeface="Arial"/>
                <a:cs typeface="Arial"/>
              </a:rPr>
              <a:t>&amp;</a:t>
            </a:r>
            <a:endParaRPr sz="32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027622" y="4513552"/>
            <a:ext cx="326707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42035" algn="l"/>
              </a:tabLst>
            </a:pPr>
            <a:r>
              <a:rPr sz="3200" b="1" spc="-25" dirty="0">
                <a:latin typeface="Arial"/>
                <a:cs typeface="Arial"/>
              </a:rPr>
              <a:t>IoT</a:t>
            </a:r>
            <a:r>
              <a:rPr sz="3200" b="1" dirty="0">
                <a:latin typeface="Arial"/>
                <a:cs typeface="Arial"/>
              </a:rPr>
              <a:t>	</a:t>
            </a:r>
            <a:r>
              <a:rPr sz="3200" b="1" spc="-10" dirty="0">
                <a:latin typeface="Arial"/>
                <a:cs typeface="Arial"/>
              </a:rPr>
              <a:t>Integration</a:t>
            </a:r>
            <a:r>
              <a:rPr sz="3200" spc="-10" dirty="0">
                <a:latin typeface="Arial"/>
                <a:cs typeface="Arial"/>
              </a:rPr>
              <a:t>:</a:t>
            </a:r>
            <a:endParaRPr sz="32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35976" y="5001324"/>
            <a:ext cx="511048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823085" algn="l"/>
                <a:tab pos="3133090" algn="l"/>
              </a:tabLst>
            </a:pPr>
            <a:r>
              <a:rPr sz="3200" spc="-10" dirty="0">
                <a:latin typeface="Arial"/>
                <a:cs typeface="Arial"/>
              </a:rPr>
              <a:t>Allowing</a:t>
            </a:r>
            <a:r>
              <a:rPr sz="3200" dirty="0">
                <a:latin typeface="Arial"/>
                <a:cs typeface="Arial"/>
              </a:rPr>
              <a:t>	</a:t>
            </a:r>
            <a:r>
              <a:rPr sz="3200" spc="-10" dirty="0">
                <a:latin typeface="Arial"/>
                <a:cs typeface="Arial"/>
              </a:rPr>
              <a:t>faster</a:t>
            </a:r>
            <a:r>
              <a:rPr sz="3200" dirty="0">
                <a:latin typeface="Arial"/>
                <a:cs typeface="Arial"/>
              </a:rPr>
              <a:t>	</a:t>
            </a:r>
            <a:r>
              <a:rPr sz="3200" spc="-10" dirty="0">
                <a:latin typeface="Arial"/>
                <a:cs typeface="Arial"/>
              </a:rPr>
              <a:t>processing</a:t>
            </a:r>
            <a:endParaRPr sz="32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719365" y="5001324"/>
            <a:ext cx="257556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81075" algn="l"/>
              </a:tabLst>
            </a:pPr>
            <a:r>
              <a:rPr sz="3200" spc="-25" dirty="0">
                <a:latin typeface="Arial"/>
                <a:cs typeface="Arial"/>
              </a:rPr>
              <a:t>and</a:t>
            </a:r>
            <a:r>
              <a:rPr sz="3200" dirty="0">
                <a:latin typeface="Arial"/>
                <a:cs typeface="Arial"/>
              </a:rPr>
              <a:t>	</a:t>
            </a:r>
            <a:r>
              <a:rPr sz="3200" spc="-10" dirty="0">
                <a:latin typeface="Arial"/>
                <a:cs typeface="Arial"/>
              </a:rPr>
              <a:t>real-</a:t>
            </a:r>
            <a:r>
              <a:rPr sz="3200" spc="-20" dirty="0">
                <a:latin typeface="Arial"/>
                <a:cs typeface="Arial"/>
              </a:rPr>
              <a:t>time</a:t>
            </a:r>
            <a:endParaRPr sz="32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335976" y="5488899"/>
            <a:ext cx="7956550" cy="10020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3540125" algn="l"/>
                <a:tab pos="4606290" algn="l"/>
                <a:tab pos="5550535" algn="l"/>
              </a:tabLst>
            </a:pPr>
            <a:r>
              <a:rPr sz="3200" spc="-10" dirty="0">
                <a:latin typeface="Arial"/>
                <a:cs typeface="Arial"/>
              </a:rPr>
              <a:t>decision-making</a:t>
            </a:r>
            <a:r>
              <a:rPr sz="3200" dirty="0">
                <a:latin typeface="Arial"/>
                <a:cs typeface="Arial"/>
              </a:rPr>
              <a:t>	</a:t>
            </a:r>
            <a:r>
              <a:rPr sz="3200" spc="-25" dirty="0">
                <a:latin typeface="Arial"/>
                <a:cs typeface="Arial"/>
              </a:rPr>
              <a:t>for</a:t>
            </a:r>
            <a:r>
              <a:rPr sz="3200" dirty="0">
                <a:latin typeface="Arial"/>
                <a:cs typeface="Arial"/>
              </a:rPr>
              <a:t>	</a:t>
            </a:r>
            <a:r>
              <a:rPr sz="3200" spc="-25" dirty="0">
                <a:latin typeface="Arial"/>
                <a:cs typeface="Arial"/>
              </a:rPr>
              <a:t>IT</a:t>
            </a:r>
            <a:r>
              <a:rPr sz="3200" dirty="0">
                <a:latin typeface="Arial"/>
                <a:cs typeface="Arial"/>
              </a:rPr>
              <a:t>	</a:t>
            </a:r>
            <a:r>
              <a:rPr sz="3200" spc="-10" dirty="0">
                <a:latin typeface="Arial"/>
                <a:cs typeface="Arial"/>
              </a:rPr>
              <a:t>professionals </a:t>
            </a:r>
            <a:r>
              <a:rPr sz="3200" dirty="0">
                <a:latin typeface="Arial"/>
                <a:cs typeface="Arial"/>
              </a:rPr>
              <a:t>managing</a:t>
            </a:r>
            <a:r>
              <a:rPr sz="3200" spc="-45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large-</a:t>
            </a:r>
            <a:r>
              <a:rPr sz="3200" dirty="0">
                <a:latin typeface="Arial"/>
                <a:cs typeface="Arial"/>
              </a:rPr>
              <a:t>scale</a:t>
            </a:r>
            <a:r>
              <a:rPr sz="3200" spc="-40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networks.</a:t>
            </a:r>
            <a:endParaRPr sz="3200">
              <a:latin typeface="Arial"/>
              <a:cs typeface="Arial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25" dirty="0"/>
              <a:t>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1121</Words>
  <Application>Microsoft Office PowerPoint</Application>
  <PresentationFormat>自定义</PresentationFormat>
  <Paragraphs>163</Paragraphs>
  <Slides>26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30" baseType="lpstr">
      <vt:lpstr>Arial</vt:lpstr>
      <vt:lpstr>Calibri</vt:lpstr>
      <vt:lpstr>Times New Roman</vt:lpstr>
      <vt:lpstr>Office Theme</vt:lpstr>
      <vt:lpstr>Lecture Two</vt:lpstr>
      <vt:lpstr>What is an Operating System?</vt:lpstr>
      <vt:lpstr>What is a Network Operating System?</vt:lpstr>
      <vt:lpstr>NOS vs. Standalone OS</vt:lpstr>
      <vt:lpstr>NOS vs. Standalone OS (cont.)</vt:lpstr>
      <vt:lpstr>Key Functions of NOS</vt:lpstr>
      <vt:lpstr>Architecture of a NOS</vt:lpstr>
      <vt:lpstr>Client-Server Model</vt:lpstr>
      <vt:lpstr>Peer-to-Peer Model</vt:lpstr>
      <vt:lpstr>Examples of NOS</vt:lpstr>
      <vt:lpstr>Network Resource Management</vt:lpstr>
      <vt:lpstr>Network Resource Management (cont.)</vt:lpstr>
      <vt:lpstr>User Management in NOS</vt:lpstr>
      <vt:lpstr>Security Features in NOS</vt:lpstr>
      <vt:lpstr>Remote Access in NOS</vt:lpstr>
      <vt:lpstr>Remote Desktop Protocol (RDP)</vt:lpstr>
      <vt:lpstr>Secure Shell (SSH)</vt:lpstr>
      <vt:lpstr>Virtual Private Networks (VPNs)</vt:lpstr>
      <vt:lpstr>Web-based access portals</vt:lpstr>
      <vt:lpstr>Network Communication &amp; Protocols</vt:lpstr>
      <vt:lpstr>Performance Monitoring in NOS</vt:lpstr>
      <vt:lpstr>Windows Server Overview</vt:lpstr>
      <vt:lpstr>Linux-Based NOS Overview</vt:lpstr>
      <vt:lpstr>Case Study – Enterprise Network Setup</vt:lpstr>
      <vt:lpstr>Case Study – Enterprise Network Setup (cont.)</vt:lpstr>
      <vt:lpstr>Future Trends in NOS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PowerPoint - Lecture One</dc:title>
  <dc:creator>Tarfa Hamed</dc:creator>
  <cp:lastModifiedBy>Yeh-Ching Chung</cp:lastModifiedBy>
  <cp:revision>1</cp:revision>
  <dcterms:created xsi:type="dcterms:W3CDTF">2026-09-28T07:58:22Z</dcterms:created>
  <dcterms:modified xsi:type="dcterms:W3CDTF">2026-09-28T08:01:10Z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2025-02-05T00:00:00Z</vt:filetime>
  </property>
  <property fmtid="{D5CDD505-2E9C-101B-9397-08002B2CF9AE}" pid="4" name="LastSaved">
    <vt:filetime>2026-09-28T00:00:00Z</vt:filetime>
  </property>
  <property fmtid="{D5CDD505-2E9C-101B-9397-08002B2CF9AE}" pid="5" name="Producer">
    <vt:lpwstr>Microsoft: Print To PDF</vt:lpwstr>
  </property>
</Properties>
</file>