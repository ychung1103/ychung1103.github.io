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media/image4.jpg" ContentType="image/jpg"/>
  <Override PartName="/ppt/media/image5.jpg" ContentType="image/jpg"/>
  <Override PartName="/ppt/theme/theme2.xml" ContentType="application/vnd.openxmlformats-officedocument.theme+xml"/>
  <Override PartName="/ppt/theme/theme3.xml" ContentType="application/vnd.openxmlformats-officedocument.theme+xml"/>
  <Override PartName="/ppt/media/image6.jpg" ContentType="image/jpg"/>
  <Override PartName="/ppt/media/image7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2.jpg" ContentType="image/jpg"/>
  <Override PartName="/ppt/media/image23.jpg" ContentType="image/jpg"/>
  <Override PartName="/ppt/media/image24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258" r:id="rId4"/>
    <p:sldId id="259" r:id="rId5"/>
    <p:sldId id="260" r:id="rId6"/>
    <p:sldId id="319" r:id="rId7"/>
    <p:sldId id="262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271" r:id="rId16"/>
    <p:sldId id="327" r:id="rId17"/>
    <p:sldId id="335" r:id="rId18"/>
    <p:sldId id="328" r:id="rId19"/>
    <p:sldId id="329" r:id="rId20"/>
    <p:sldId id="330" r:id="rId21"/>
    <p:sldId id="331" r:id="rId22"/>
    <p:sldId id="332" r:id="rId23"/>
    <p:sldId id="333" r:id="rId24"/>
    <p:sldId id="337" r:id="rId25"/>
    <p:sldId id="336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32" y="26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13" b="0" i="0">
                <a:solidFill>
                  <a:srgbClr val="36348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5566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667" y="1371658"/>
            <a:ext cx="5814695" cy="617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13" b="0" i="0">
                <a:solidFill>
                  <a:srgbClr val="36348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33136" y="2921086"/>
            <a:ext cx="5877729" cy="3808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75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551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54" y="743397"/>
            <a:ext cx="3134320" cy="7902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9086" y="890737"/>
            <a:ext cx="2187773" cy="3147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545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  <p:sldLayoutId id="2147483676" r:id="rId15"/>
    <p:sldLayoutId id="2147483677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njava.com/pub/a/webservices/2002/03/12/jxta.html" TargetMode="External"/><Relationship Id="rId13" Type="http://schemas.openxmlformats.org/officeDocument/2006/relationships/hyperlink" Target="http://www.sce.carieton.ca/netmanage/papers/WhiteJuIy2001.ppt" TargetMode="External"/><Relationship Id="rId3" Type="http://schemas.openxmlformats.org/officeDocument/2006/relationships/image" Target="../media/image23.jpg"/><Relationship Id="rId7" Type="http://schemas.openxmlformats.org/officeDocument/2006/relationships/hyperlink" Target="http://www.&#322;avaworld.com/javaworld/jw-10-2001/jw-1019-jxta.html" TargetMode="External"/><Relationship Id="rId12" Type="http://schemas.openxmlformats.org/officeDocument/2006/relationships/hyperlink" Target="http://www.openp2p.com/pub/a/p2p/2001/06/06/1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ownload.jxta.orq/servlets/DomainHome" TargetMode="External"/><Relationship Id="rId11" Type="http://schemas.openxmlformats.org/officeDocument/2006/relationships/hyperlink" Target="http://www.openp2p.com/pub/a/p2p/2001/04/25/i" TargetMode="External"/><Relationship Id="rId5" Type="http://schemas.openxmlformats.org/officeDocument/2006/relationships/hyperlink" Target="http://spec.lxta.orq/v1.0/docbook/JXTAProtoco&#236;s.html" TargetMode="External"/><Relationship Id="rId10" Type="http://schemas.openxmlformats.org/officeDocument/2006/relationships/hyperlink" Target="http://www.openp2p.com/pub/a/p2p/2001/06/05/i" TargetMode="External"/><Relationship Id="rId4" Type="http://schemas.openxmlformats.org/officeDocument/2006/relationships/hyperlink" Target="http://spec.&#239;xta.org/prolecUwww/docs/DomainFA&#199;%2Chtml" TargetMode="External"/><Relationship Id="rId9" Type="http://schemas.openxmlformats.org/officeDocument/2006/relationships/hyperlink" Target="http://www.openp2p.com/pub/a/p2p/2001/06/11/liponq.html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Peer-to-Peer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A50AF9-FA4B-3F4C-6AE4-1DC58B06C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56032" y="887958"/>
            <a:ext cx="6609688" cy="190805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352425" indent="-342900">
              <a:spcBef>
                <a:spcPts val="79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tabLst>
                <a:tab pos="247174" algn="l"/>
              </a:tabLst>
            </a:pPr>
            <a:r>
              <a:rPr sz="2400" dirty="0">
                <a:solidFill>
                  <a:srgbClr val="010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Peer to Peer (P2P)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79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tabLst>
                <a:tab pos="247174" algn="l"/>
              </a:tabLst>
            </a:pPr>
            <a:r>
              <a:rPr sz="2400" dirty="0">
                <a:solidFill>
                  <a:srgbClr val="010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JXTA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79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tabLst>
                <a:tab pos="247174" algn="l"/>
              </a:tabLst>
            </a:pPr>
            <a:r>
              <a:rPr sz="2400" dirty="0">
                <a:solidFill>
                  <a:srgbClr val="010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JXTA 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79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tabLst>
                <a:tab pos="247174" algn="l"/>
              </a:tabLst>
            </a:pPr>
            <a:r>
              <a:rPr sz="2400" dirty="0">
                <a:solidFill>
                  <a:srgbClr val="010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 Wrap-Up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spcBef>
                <a:spcPts val="79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tabLst>
                <a:tab pos="247174" algn="l"/>
              </a:tabLst>
            </a:pPr>
            <a:r>
              <a:rPr sz="2400" dirty="0">
                <a:solidFill>
                  <a:srgbClr val="0101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Summary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B68B502-8068-0924-EE2B-E0D2A399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" y="108349"/>
            <a:ext cx="7753670" cy="519113"/>
          </a:xfrm>
        </p:spPr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35425E-A86D-A204-23F7-5B11174A5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0601" y="48327"/>
            <a:ext cx="5742582" cy="566020"/>
          </a:xfrm>
          <a:prstGeom prst="rect">
            <a:avLst/>
          </a:prstGeom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94"/>
              </a:spcBef>
            </a:pPr>
            <a:r>
              <a:rPr dirty="0"/>
              <a:t>A</a:t>
            </a:r>
            <a:r>
              <a:rPr spc="-176" dirty="0"/>
              <a:t> </a:t>
            </a:r>
            <a:r>
              <a:rPr spc="-30" dirty="0"/>
              <a:t>Basic</a:t>
            </a:r>
            <a:r>
              <a:rPr spc="-79" dirty="0"/>
              <a:t> </a:t>
            </a:r>
            <a:r>
              <a:rPr spc="-131" dirty="0"/>
              <a:t>Definition</a:t>
            </a:r>
            <a:r>
              <a:rPr spc="10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spc="-64" dirty="0"/>
              <a:t>P2P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990602" y="832026"/>
            <a:ext cx="6815666" cy="1623009"/>
          </a:xfrm>
          <a:prstGeom prst="rect">
            <a:avLst/>
          </a:prstGeom>
        </p:spPr>
        <p:txBody>
          <a:bodyPr vert="horz" wrap="square" lIns="0" tIns="71438" rIns="0" bIns="0" rtlCol="0">
            <a:spAutoFit/>
          </a:bodyPr>
          <a:lstStyle/>
          <a:p>
            <a:pPr marL="352425" indent="-342900">
              <a:lnSpc>
                <a:spcPts val="3143"/>
              </a:lnSpc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908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exchange of data (documents, MP3s, voice) between two “peers” that can act as both the client and the server</a:t>
            </a:r>
          </a:p>
          <a:p>
            <a:pPr marL="352425" indent="-342900">
              <a:lnSpc>
                <a:spcPts val="3143"/>
              </a:lnSpc>
              <a:buClr>
                <a:srgbClr val="3631D3"/>
              </a:buClr>
              <a:buFont typeface="Wingdings" panose="05000000000000000000" pitchFamily="2" charset="2"/>
              <a:buChar char="l"/>
              <a:tabLst>
                <a:tab pos="25908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basic example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lnSpc>
                <a:spcPts val="3143"/>
              </a:lnSpc>
              <a:buClr>
                <a:srgbClr val="3631D3"/>
              </a:buClr>
              <a:buFont typeface="Symbol" panose="05050102010706020507" pitchFamily="18" charset="2"/>
              <a:buChar char="-"/>
              <a:tabLst>
                <a:tab pos="25908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typical telephone call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B9B4CF0-5142-F8FA-EDD9-C418721EF3DA}"/>
              </a:ext>
            </a:extLst>
          </p:cNvPr>
          <p:cNvSpPr txBox="1"/>
          <p:nvPr/>
        </p:nvSpPr>
        <p:spPr>
          <a:xfrm>
            <a:off x="1363132" y="2672714"/>
            <a:ext cx="6815666" cy="372667"/>
          </a:xfrm>
          <a:prstGeom prst="rect">
            <a:avLst/>
          </a:prstGeom>
        </p:spPr>
        <p:txBody>
          <a:bodyPr vert="horz" wrap="square" lIns="0" tIns="71438" rIns="0" bIns="0" rtlCol="0">
            <a:spAutoFit/>
          </a:bodyPr>
          <a:lstStyle/>
          <a:p>
            <a:pPr marR="224314" indent="-211455" algn="ctr">
              <a:lnSpc>
                <a:spcPts val="2534"/>
              </a:lnSpc>
              <a:spcBef>
                <a:spcPts val="472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“peers” act as producers (by talking) and as consumers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1B1C56-7D23-AD55-68F9-9793768BA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0601" y="873147"/>
            <a:ext cx="7357532" cy="1959671"/>
          </a:xfrm>
          <a:prstGeom prst="rect">
            <a:avLst/>
          </a:prstGeom>
        </p:spPr>
        <p:txBody>
          <a:bodyPr vert="horz" wrap="square" lIns="0" tIns="81439" rIns="0" bIns="0" rtlCol="0">
            <a:spAutoFit/>
          </a:bodyPr>
          <a:lstStyle/>
          <a:p>
            <a:pPr marL="351949" marR="3810" indent="-342900">
              <a:lnSpc>
                <a:spcPct val="80300"/>
              </a:lnSpc>
              <a:spcBef>
                <a:spcPts val="641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0508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the internet was created for the sharing of information and resources between peers.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949" marR="3810" indent="-342900">
              <a:lnSpc>
                <a:spcPct val="80300"/>
              </a:lnSpc>
              <a:spcBef>
                <a:spcPts val="641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0508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paradigm shifted to a client / server architecture where there was a state of over-consumption.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949" marR="3810" indent="-342900">
              <a:lnSpc>
                <a:spcPct val="80300"/>
              </a:lnSpc>
              <a:spcBef>
                <a:spcPts val="641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0508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goals of P2P is to return to the original intent of the internet, creating an equilibrium between production 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on as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sumption.</a:t>
            </a:r>
          </a:p>
        </p:txBody>
      </p:sp>
      <p:sp>
        <p:nvSpPr>
          <p:cNvPr id="5" name="object 3" descr="$PPTXTitle">
            <a:extLst>
              <a:ext uri="{FF2B5EF4-FFF2-40B4-BE49-F238E27FC236}">
                <a16:creationId xmlns:a16="http://schemas.microsoft.com/office/drawing/2014/main" id="{3FC586BF-47C2-40D5-08CF-4FE472DBA1C7}"/>
              </a:ext>
            </a:extLst>
          </p:cNvPr>
          <p:cNvSpPr txBox="1">
            <a:spLocks/>
          </p:cNvSpPr>
          <p:nvPr/>
        </p:nvSpPr>
        <p:spPr bwMode="auto">
          <a:xfrm>
            <a:off x="990601" y="48327"/>
            <a:ext cx="5742582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>
              <a:spcBef>
                <a:spcPts val="94"/>
              </a:spcBef>
            </a:pPr>
            <a:r>
              <a:rPr lang="en-US" altLang="zh-CN" sz="3600" dirty="0"/>
              <a:t>P2P</a:t>
            </a:r>
            <a:r>
              <a:rPr lang="en-US" altLang="zh-CN" sz="3600" spc="191" dirty="0"/>
              <a:t> </a:t>
            </a:r>
            <a:r>
              <a:rPr lang="en-US" altLang="zh-CN" sz="3600" spc="-199" dirty="0"/>
              <a:t>and</a:t>
            </a:r>
            <a:r>
              <a:rPr lang="en-US" altLang="zh-CN" sz="3600" spc="68" dirty="0"/>
              <a:t> </a:t>
            </a:r>
            <a:r>
              <a:rPr lang="en-US" altLang="zh-CN" sz="3600" spc="-26" dirty="0"/>
              <a:t>the</a:t>
            </a:r>
            <a:r>
              <a:rPr lang="en-US" altLang="zh-CN" sz="3600" spc="-113" dirty="0"/>
              <a:t> </a:t>
            </a:r>
            <a:r>
              <a:rPr lang="en-US" altLang="zh-CN" sz="3600" spc="-8" dirty="0"/>
              <a:t>Internet</a:t>
            </a:r>
            <a:endParaRPr lang="en-US" kern="0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EA6257D-FA54-E721-C44B-F36679A50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98325" y="860425"/>
            <a:ext cx="5051622" cy="2646526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sz="20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sz="2000" spc="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sz="20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</a:t>
            </a:r>
            <a:r>
              <a:rPr sz="2000" spc="-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Directivity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sz="2000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 descr="$PPTXTitle">
            <a:extLst>
              <a:ext uri="{FF2B5EF4-FFF2-40B4-BE49-F238E27FC236}">
                <a16:creationId xmlns:a16="http://schemas.microsoft.com/office/drawing/2014/main" id="{0F1B87E9-699A-8426-37F6-2CC9F50D6BBD}"/>
              </a:ext>
            </a:extLst>
          </p:cNvPr>
          <p:cNvSpPr txBox="1">
            <a:spLocks/>
          </p:cNvSpPr>
          <p:nvPr/>
        </p:nvSpPr>
        <p:spPr bwMode="auto">
          <a:xfrm>
            <a:off x="999067" y="50800"/>
            <a:ext cx="5742582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>
              <a:spcBef>
                <a:spcPts val="94"/>
              </a:spcBef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US" altLang="zh-CN" sz="3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spc="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3600" spc="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endParaRPr lang="en-US" kern="0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F81EDF2-E26C-9161-BE0E-C7DEAC7F4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98325" y="860425"/>
            <a:ext cx="7602868" cy="3405259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users means more server power and bandwidth is required.</a:t>
            </a: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 only where someone is willing to invest resources.</a:t>
            </a:r>
          </a:p>
          <a:p>
            <a:pPr marL="809625" lvl="1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location stores all the data.</a:t>
            </a:r>
          </a:p>
          <a:p>
            <a:pPr marL="364331" marR="3810" indent="-342900">
              <a:lnSpc>
                <a:spcPct val="87900"/>
              </a:lnSpc>
              <a:spcBef>
                <a:spcPts val="600"/>
              </a:spcBef>
              <a:buClr>
                <a:srgbClr val="0000FF"/>
              </a:buClr>
              <a:buSzPct val="75000"/>
              <a:buFont typeface="Wingdings" panose="05000000000000000000" pitchFamily="2" charset="2"/>
              <a:buChar char="l"/>
              <a:tabLst>
                <a:tab pos="262414" algn="l"/>
                <a:tab pos="263843" algn="l"/>
              </a:tabLst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4331" marR="3810" indent="-342900">
              <a:lnSpc>
                <a:spcPct val="87900"/>
              </a:lnSpc>
              <a:spcBef>
                <a:spcPts val="600"/>
              </a:spcBef>
              <a:buClr>
                <a:srgbClr val="0000FF"/>
              </a:buClr>
              <a:buSzPct val="75000"/>
              <a:buFont typeface="Wingdings" panose="05000000000000000000" pitchFamily="2" charset="2"/>
              <a:buChar char="l"/>
              <a:tabLst>
                <a:tab pos="262414" algn="l"/>
                <a:tab pos="263843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System</a:t>
            </a:r>
          </a:p>
          <a:p>
            <a:pPr marL="821531" marR="3810" lvl="1" indent="-342900">
              <a:lnSpc>
                <a:spcPct val="87900"/>
              </a:lnSpc>
              <a:spcBef>
                <a:spcPts val="600"/>
              </a:spcBef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262414" algn="l"/>
                <a:tab pos="263843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users means more resources are able to share the load.</a:t>
            </a:r>
          </a:p>
          <a:p>
            <a:pPr marL="821531" marR="3810" lvl="1" indent="-342900">
              <a:lnSpc>
                <a:spcPct val="87900"/>
              </a:lnSpc>
              <a:spcBef>
                <a:spcPts val="600"/>
              </a:spcBef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262414" algn="l"/>
                <a:tab pos="263843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exist without any person or company supporting them.</a:t>
            </a:r>
          </a:p>
          <a:p>
            <a:pPr marL="821531" marR="3810" lvl="1" indent="-342900">
              <a:lnSpc>
                <a:spcPct val="87900"/>
              </a:lnSpc>
              <a:spcBef>
                <a:spcPts val="600"/>
              </a:spcBef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262414" algn="l"/>
                <a:tab pos="263843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must be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retrieved from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locations.</a:t>
            </a:r>
          </a:p>
          <a:p>
            <a:pPr marL="265271" marR="192881" indent="-236696">
              <a:lnSpc>
                <a:spcPts val="2138"/>
              </a:lnSpc>
              <a:spcBef>
                <a:spcPts val="488"/>
              </a:spcBef>
              <a:buClr>
                <a:srgbClr val="6666EB"/>
              </a:buClr>
              <a:buChar char="•"/>
              <a:tabLst>
                <a:tab pos="265271" algn="l"/>
              </a:tabLst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 descr="$PPTXTitle">
            <a:extLst>
              <a:ext uri="{FF2B5EF4-FFF2-40B4-BE49-F238E27FC236}">
                <a16:creationId xmlns:a16="http://schemas.microsoft.com/office/drawing/2014/main" id="{0F1B87E9-699A-8426-37F6-2CC9F50D6BBD}"/>
              </a:ext>
            </a:extLst>
          </p:cNvPr>
          <p:cNvSpPr txBox="1">
            <a:spLocks/>
          </p:cNvSpPr>
          <p:nvPr/>
        </p:nvSpPr>
        <p:spPr bwMode="auto">
          <a:xfrm>
            <a:off x="999067" y="50800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>
              <a:spcBef>
                <a:spcPts val="94"/>
              </a:spcBef>
            </a:pPr>
            <a:r>
              <a:rPr lang="en-US" altLang="zh-CN" dirty="0"/>
              <a:t>Centralized &amp; Peer-to-Peer Systems</a:t>
            </a:r>
            <a:endParaRPr lang="en-US" kern="0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F81EDF2-E26C-9161-BE0E-C7DEAC7F4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08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C9AD0-748A-C0E6-D166-3ADA47DE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E657E6E8-0D4C-53E6-1A3A-DF73E5B3AA62}"/>
              </a:ext>
            </a:extLst>
          </p:cNvPr>
          <p:cNvSpPr txBox="1">
            <a:spLocks/>
          </p:cNvSpPr>
          <p:nvPr/>
        </p:nvSpPr>
        <p:spPr bwMode="auto">
          <a:xfrm>
            <a:off x="1000047" y="61285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>
              <a:spcBef>
                <a:spcPts val="94"/>
              </a:spcBef>
            </a:pPr>
            <a:r>
              <a:rPr lang="en-US" altLang="zh-CN" dirty="0"/>
              <a:t>P2P vs. Distributed Systems</a:t>
            </a:r>
            <a:endParaRPr lang="en-US" kern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7D05FB7-955E-BA30-85E9-99B16520FB06}"/>
              </a:ext>
            </a:extLst>
          </p:cNvPr>
          <p:cNvSpPr txBox="1"/>
          <p:nvPr/>
        </p:nvSpPr>
        <p:spPr>
          <a:xfrm>
            <a:off x="1074044" y="927802"/>
            <a:ext cx="7317160" cy="196685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Computing means resources are shared between nodes</a:t>
            </a: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P2P means that there is communication between these nodes</a:t>
            </a: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implies a “peer“ relationship while Distributed Computing relationships may be unbalanced.</a:t>
            </a: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Computing can also be P2P</a:t>
            </a: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C9AD0-748A-C0E6-D166-3ADA47DE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E657E6E8-0D4C-53E6-1A3A-DF73E5B3AA62}"/>
              </a:ext>
            </a:extLst>
          </p:cNvPr>
          <p:cNvSpPr txBox="1">
            <a:spLocks/>
          </p:cNvSpPr>
          <p:nvPr/>
        </p:nvSpPr>
        <p:spPr bwMode="auto">
          <a:xfrm>
            <a:off x="1000047" y="61285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>
              <a:spcBef>
                <a:spcPts val="94"/>
              </a:spcBef>
            </a:pPr>
            <a:r>
              <a:rPr lang="en-US" altLang="zh-CN" sz="3600" dirty="0"/>
              <a:t>Types of P2P Communication</a:t>
            </a:r>
            <a:endParaRPr lang="en-US" kern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7D05FB7-955E-BA30-85E9-99B16520FB06}"/>
              </a:ext>
            </a:extLst>
          </p:cNvPr>
          <p:cNvSpPr txBox="1"/>
          <p:nvPr/>
        </p:nvSpPr>
        <p:spPr>
          <a:xfrm>
            <a:off x="1074044" y="927802"/>
            <a:ext cx="7317160" cy="131282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(Wannabe P2P)</a:t>
            </a: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Brokered</a:t>
            </a: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(Pure P2P)</a:t>
            </a: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8491AC-21B2-81C7-19A4-6F325EFC08BB}"/>
              </a:ext>
            </a:extLst>
          </p:cNvPr>
          <p:cNvSpPr txBox="1"/>
          <p:nvPr/>
        </p:nvSpPr>
        <p:spPr>
          <a:xfrm>
            <a:off x="851836" y="2240630"/>
            <a:ext cx="4591250" cy="60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30" marR="3810" indent="-1429" algn="ctr">
              <a:lnSpc>
                <a:spcPct val="87800"/>
              </a:lnSpc>
              <a:spcBef>
                <a:spcPts val="4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participants always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contribute something of value to the network.</a:t>
            </a:r>
          </a:p>
        </p:txBody>
      </p:sp>
    </p:spTree>
    <p:extLst>
      <p:ext uri="{BB962C8B-B14F-4D97-AF65-F5344CB8AC3E}">
        <p14:creationId xmlns:p14="http://schemas.microsoft.com/office/powerpoint/2010/main" val="323619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C9AD0-748A-C0E6-D166-3ADA47DE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E657E6E8-0D4C-53E6-1A3A-DF73E5B3AA62}"/>
              </a:ext>
            </a:extLst>
          </p:cNvPr>
          <p:cNvSpPr txBox="1">
            <a:spLocks/>
          </p:cNvSpPr>
          <p:nvPr/>
        </p:nvSpPr>
        <p:spPr bwMode="auto">
          <a:xfrm>
            <a:off x="1000047" y="61285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Familiar Examples</a:t>
            </a:r>
            <a:endParaRPr kumimoji="1" lang="en-US" sz="3600" b="1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7D05FB7-955E-BA30-85E9-99B16520FB06}"/>
              </a:ext>
            </a:extLst>
          </p:cNvPr>
          <p:cNvSpPr txBox="1"/>
          <p:nvPr/>
        </p:nvSpPr>
        <p:spPr>
          <a:xfrm>
            <a:off x="1074044" y="927802"/>
            <a:ext cx="7317160" cy="2935900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Gnutella (Decentralized Peer to Peer)</a:t>
            </a:r>
          </a:p>
          <a:p>
            <a:pPr marL="702469" marR="249079" lvl="1" indent="-342900">
              <a:lnSpc>
                <a:spcPts val="2160"/>
              </a:lnSpc>
              <a:spcBef>
                <a:spcPts val="413"/>
              </a:spcBef>
              <a:buFont typeface="Symbol" panose="05050102010706020507" pitchFamily="18" charset="2"/>
              <a:buChar char="-"/>
              <a:tabLst>
                <a:tab pos="566738" algn="l"/>
                <a:tab pos="56769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peers are interchangeable (act as clients and servers).</a:t>
            </a:r>
          </a:p>
          <a:p>
            <a:pPr marL="702469" marR="249079" lvl="1" indent="-342900">
              <a:lnSpc>
                <a:spcPts val="2160"/>
              </a:lnSpc>
              <a:spcBef>
                <a:spcPts val="413"/>
              </a:spcBef>
              <a:buFont typeface="Symbol" panose="05050102010706020507" pitchFamily="18" charset="2"/>
              <a:buChar char="-"/>
              <a:tabLst>
                <a:tab pos="566738" algn="l"/>
                <a:tab pos="56769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propagates through network.</a:t>
            </a:r>
          </a:p>
          <a:p>
            <a:pPr marL="352425" marR="0" lvl="0" indent="-342900" algn="l" defTabSz="914400" rtl="0" eaLnBrk="1" fontAlgn="auto" latinLnBrk="0" hangingPunct="1">
              <a:lnSpc>
                <a:spcPts val="2453"/>
              </a:lnSpc>
              <a:spcBef>
                <a:spcPts val="94"/>
              </a:spcBef>
              <a:spcAft>
                <a:spcPts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CN" sz="20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52425" indent="-342900">
              <a:lnSpc>
                <a:spcPts val="2453"/>
              </a:lnSpc>
              <a:spcBef>
                <a:spcPts val="94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Napster (Brokered Peer to Peer)</a:t>
            </a:r>
          </a:p>
          <a:p>
            <a:pPr marL="691515" marR="46196" lvl="1" indent="-342900">
              <a:lnSpc>
                <a:spcPts val="2160"/>
              </a:lnSpc>
              <a:spcBef>
                <a:spcPts val="476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61499" algn="l"/>
              </a:tabLst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is made to a central server, which returns a list of peers who posses the desired mp3 file.</a:t>
            </a:r>
          </a:p>
          <a:p>
            <a:pPr marL="691515" marR="46196" lvl="1" indent="-342900">
              <a:lnSpc>
                <a:spcPts val="2160"/>
              </a:lnSpc>
              <a:spcBef>
                <a:spcPts val="476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61499" algn="l"/>
              </a:tabLst>
            </a:pPr>
            <a:r>
              <a:rPr lang="en-US" altLang="zh-CN" sz="20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host then selects a peer and </a:t>
            </a:r>
            <a:r>
              <a:rPr lang="en-US" altLang="zh-CN" sz="206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direcf</a:t>
            </a:r>
            <a:r>
              <a:rPr lang="en-US" altLang="zh-CN" sz="20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/y transfers </a:t>
            </a:r>
            <a:r>
              <a:rPr lang="en-US" altLang="zh-CN" sz="20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desired mp3 file.</a:t>
            </a:r>
          </a:p>
        </p:txBody>
      </p:sp>
    </p:spTree>
    <p:extLst>
      <p:ext uri="{BB962C8B-B14F-4D97-AF65-F5344CB8AC3E}">
        <p14:creationId xmlns:p14="http://schemas.microsoft.com/office/powerpoint/2010/main" val="210760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C9AD0-748A-C0E6-D166-3ADA47DE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E657E6E8-0D4C-53E6-1A3A-DF73E5B3AA62}"/>
              </a:ext>
            </a:extLst>
          </p:cNvPr>
          <p:cNvSpPr txBox="1">
            <a:spLocks/>
          </p:cNvSpPr>
          <p:nvPr/>
        </p:nvSpPr>
        <p:spPr bwMode="auto">
          <a:xfrm>
            <a:off x="1000047" y="61285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/>
              <a:t>Categories of P2P</a:t>
            </a:r>
            <a:endParaRPr kumimoji="1" lang="en-US" sz="3600" b="1" i="0" u="none" strike="noStrike" kern="0" cap="none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7D05FB7-955E-BA30-85E9-99B16520FB06}"/>
              </a:ext>
            </a:extLst>
          </p:cNvPr>
          <p:cNvSpPr txBox="1"/>
          <p:nvPr/>
        </p:nvSpPr>
        <p:spPr>
          <a:xfrm>
            <a:off x="1000047" y="850942"/>
            <a:ext cx="7670323" cy="335870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52425" indent="-342900">
              <a:lnSpc>
                <a:spcPts val="2453"/>
              </a:lnSpc>
              <a:spcBef>
                <a:spcPts val="3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Resource Products and Services</a:t>
            </a:r>
          </a:p>
          <a:p>
            <a:pPr marL="708660" marR="39052" lvl="1" indent="-342900">
              <a:lnSpc>
                <a:spcPts val="2265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65785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resources that each peer owns and controls.</a:t>
            </a:r>
          </a:p>
          <a:p>
            <a:pPr marL="708660" marR="39052" lvl="1" indent="-342900">
              <a:lnSpc>
                <a:spcPts val="2265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65785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include raw resources such as network bandwidth, disk space and processing power.</a:t>
            </a:r>
          </a:p>
          <a:p>
            <a:pPr marL="708660" marR="39052" lvl="1" indent="-342900">
              <a:lnSpc>
                <a:spcPts val="2265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65785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Centers around the information and services section of the P2P definition.</a:t>
            </a:r>
            <a:endParaRPr kumimoji="0" lang="en-US" altLang="zh-CN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marL="352425" indent="-342900">
              <a:lnSpc>
                <a:spcPts val="2453"/>
              </a:lnSpc>
              <a:spcBef>
                <a:spcPts val="3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42900">
              <a:lnSpc>
                <a:spcPts val="2453"/>
              </a:lnSpc>
              <a:spcBef>
                <a:spcPts val="3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Collaboration Products and Services</a:t>
            </a:r>
          </a:p>
          <a:p>
            <a:pPr marL="703897" marR="3810" indent="-342900">
              <a:lnSpc>
                <a:spcPts val="2534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58165" algn="l"/>
                <a:tab pos="564833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goal of P2P is to allow for communication between peers to accomplish business or personal goals.</a:t>
            </a:r>
          </a:p>
          <a:p>
            <a:pPr marL="703897" marR="3810" indent="-342900">
              <a:lnSpc>
                <a:spcPts val="2534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58165" algn="l"/>
                <a:tab pos="564833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Centers more on the mutual exchange section of the definition of P2P.</a:t>
            </a:r>
          </a:p>
        </p:txBody>
      </p:sp>
    </p:spTree>
    <p:extLst>
      <p:ext uri="{BB962C8B-B14F-4D97-AF65-F5344CB8AC3E}">
        <p14:creationId xmlns:p14="http://schemas.microsoft.com/office/powerpoint/2010/main" val="171814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C9AD0-748A-C0E6-D166-3ADA47DE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E657E6E8-0D4C-53E6-1A3A-DF73E5B3AA62}"/>
              </a:ext>
            </a:extLst>
          </p:cNvPr>
          <p:cNvSpPr txBox="1">
            <a:spLocks/>
          </p:cNvSpPr>
          <p:nvPr/>
        </p:nvSpPr>
        <p:spPr bwMode="auto">
          <a:xfrm>
            <a:off x="1000047" y="61285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/>
              <a:t>Resource Products and Services</a:t>
            </a:r>
            <a:endParaRPr kumimoji="1" lang="en-US" sz="3600" b="1" i="0" u="none" strike="noStrike" kern="0" cap="none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7D05FB7-955E-BA30-85E9-99B16520FB06}"/>
              </a:ext>
            </a:extLst>
          </p:cNvPr>
          <p:cNvSpPr txBox="1"/>
          <p:nvPr/>
        </p:nvSpPr>
        <p:spPr>
          <a:xfrm>
            <a:off x="1085695" y="850942"/>
            <a:ext cx="7516437" cy="2422939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52425" indent="-342900">
              <a:lnSpc>
                <a:spcPts val="2453"/>
              </a:lnSpc>
              <a:spcBef>
                <a:spcPts val="3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File Sharing (Freenet)</a:t>
            </a:r>
          </a:p>
          <a:p>
            <a:pPr marL="689610" marR="333375" lvl="1" indent="-342900">
              <a:lnSpc>
                <a:spcPts val="2160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51974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it: Simply an area to store documents and allow others to retrieve them.</a:t>
            </a:r>
          </a:p>
          <a:p>
            <a:pPr marL="689610" marR="333375" lvl="1" indent="-342900">
              <a:lnSpc>
                <a:spcPts val="2160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51974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 Allows two or more people to share products/services without the burden of having filters and media control over information.</a:t>
            </a:r>
          </a:p>
          <a:p>
            <a:pPr marL="689610" marR="333375" lvl="1" indent="-342900">
              <a:lnSpc>
                <a:spcPts val="2160"/>
              </a:lnSpc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51974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 Files that are not popular and are not replicated often through the community will cease to exist on the network.</a:t>
            </a:r>
          </a:p>
        </p:txBody>
      </p:sp>
    </p:spTree>
    <p:extLst>
      <p:ext uri="{BB962C8B-B14F-4D97-AF65-F5344CB8AC3E}">
        <p14:creationId xmlns:p14="http://schemas.microsoft.com/office/powerpoint/2010/main" val="143540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C9AD0-748A-C0E6-D166-3ADA47DE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E657E6E8-0D4C-53E6-1A3A-DF73E5B3AA62}"/>
              </a:ext>
            </a:extLst>
          </p:cNvPr>
          <p:cNvSpPr txBox="1">
            <a:spLocks/>
          </p:cNvSpPr>
          <p:nvPr/>
        </p:nvSpPr>
        <p:spPr bwMode="auto">
          <a:xfrm>
            <a:off x="1000047" y="61285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/>
              <a:t>Collaboration Products and Services</a:t>
            </a:r>
            <a:endParaRPr kumimoji="1" lang="en-US" sz="3600" b="1" i="0" u="none" strike="noStrike" kern="0" cap="none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7D05FB7-955E-BA30-85E9-99B16520FB06}"/>
              </a:ext>
            </a:extLst>
          </p:cNvPr>
          <p:cNvSpPr txBox="1"/>
          <p:nvPr/>
        </p:nvSpPr>
        <p:spPr>
          <a:xfrm>
            <a:off x="1085696" y="850942"/>
            <a:ext cx="7317160" cy="20624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81952" indent="-342900" algn="just">
              <a:spcBef>
                <a:spcPts val="1796"/>
              </a:spcBef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Collaboration Services (Groove)</a:t>
            </a:r>
          </a:p>
          <a:p>
            <a:pPr marL="720566" marR="3810" lvl="1" indent="-342900" algn="just">
              <a:lnSpc>
                <a:spcPct val="89000"/>
              </a:lnSpc>
              <a:spcBef>
                <a:spcPts val="431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91503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it: A collaborative workspace that allows an individual to create P2P space and allow others to participate.</a:t>
            </a:r>
          </a:p>
          <a:p>
            <a:pPr marL="720566" marR="3810" lvl="1" indent="-342900" algn="just">
              <a:lnSpc>
                <a:spcPct val="89000"/>
              </a:lnSpc>
              <a:spcBef>
                <a:spcPts val="431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91503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 Allows users to create instant and direct online connections with others to share and 	collaborate.</a:t>
            </a:r>
          </a:p>
          <a:p>
            <a:pPr marL="720566" marR="3810" lvl="1" indent="-342900" algn="just">
              <a:lnSpc>
                <a:spcPct val="89000"/>
              </a:lnSpc>
              <a:spcBef>
                <a:spcPts val="431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591503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 It is a very ambitious project that is not complete. There is a range of possibility that has not been explored yet by developers.</a:t>
            </a:r>
          </a:p>
        </p:txBody>
      </p:sp>
    </p:spTree>
    <p:extLst>
      <p:ext uri="{BB962C8B-B14F-4D97-AF65-F5344CB8AC3E}">
        <p14:creationId xmlns:p14="http://schemas.microsoft.com/office/powerpoint/2010/main" val="236113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C9AD0-748A-C0E6-D166-3ADA47DE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E657E6E8-0D4C-53E6-1A3A-DF73E5B3AA62}"/>
              </a:ext>
            </a:extLst>
          </p:cNvPr>
          <p:cNvSpPr txBox="1">
            <a:spLocks/>
          </p:cNvSpPr>
          <p:nvPr/>
        </p:nvSpPr>
        <p:spPr bwMode="auto">
          <a:xfrm>
            <a:off x="1000047" y="61285"/>
            <a:ext cx="7317160" cy="56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9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/>
              <a:t>The Importance</a:t>
            </a:r>
            <a:r>
              <a:rPr lang="en-US" altLang="zh-CN" dirty="0"/>
              <a:t> of </a:t>
            </a:r>
            <a:r>
              <a:rPr lang="en-US" altLang="zh-CN" sz="3600" dirty="0"/>
              <a:t>P2P</a:t>
            </a:r>
            <a:endParaRPr kumimoji="1" lang="en-US" sz="3600" b="1" i="0" u="none" strike="noStrike" kern="0" cap="none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B7D05FB7-955E-BA30-85E9-99B16520FB06}"/>
              </a:ext>
            </a:extLst>
          </p:cNvPr>
          <p:cNvSpPr txBox="1"/>
          <p:nvPr/>
        </p:nvSpPr>
        <p:spPr>
          <a:xfrm>
            <a:off x="1173480" y="904059"/>
            <a:ext cx="5142653" cy="2358819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offers the information and services that are most Important to the user.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incurs a minimal cost.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saves time.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gives the user control.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is collaborative.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can be anonymous.</a:t>
            </a:r>
          </a:p>
        </p:txBody>
      </p:sp>
    </p:spTree>
    <p:extLst>
      <p:ext uri="{BB962C8B-B14F-4D97-AF65-F5344CB8AC3E}">
        <p14:creationId xmlns:p14="http://schemas.microsoft.com/office/powerpoint/2010/main" val="2527732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0653" y="68958"/>
            <a:ext cx="7363326" cy="562655"/>
          </a:xfrm>
          <a:prstGeom prst="rect">
            <a:avLst/>
          </a:prstGeom>
        </p:spPr>
        <p:txBody>
          <a:bodyPr vert="horz" wrap="square" lIns="0" tIns="857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68"/>
              </a:spcBef>
            </a:pPr>
            <a:r>
              <a:rPr dirty="0"/>
              <a:t>P2P Will Not Solve World</a:t>
            </a:r>
            <a:r>
              <a:rPr lang="en-US" dirty="0"/>
              <a:t> Hunger</a:t>
            </a:r>
            <a:endParaRPr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061C4-5DC1-4BEA-CFDB-DF1EB8100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9911484-B55F-15EE-3581-30A0304CCBF9}"/>
              </a:ext>
            </a:extLst>
          </p:cNvPr>
          <p:cNvSpPr txBox="1"/>
          <p:nvPr/>
        </p:nvSpPr>
        <p:spPr>
          <a:xfrm>
            <a:off x="1097280" y="870192"/>
            <a:ext cx="7074568" cy="3205204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SzPct val="80000"/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Unpredictability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SzPct val="80000"/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SzPct val="80000"/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Unpredictability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SzPct val="80000"/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SzPct val="80000"/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and Content Control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SzPct val="80000"/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Problems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SzPct val="80000"/>
              <a:buFont typeface="Wingdings" panose="05000000000000000000" pitchFamily="2" charset="2"/>
              <a:buChar char="l"/>
              <a:tabLst>
                <a:tab pos="289560" algn="l"/>
              </a:tabLs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381952" indent="-342900" algn="just">
              <a:spcAft>
                <a:spcPts val="300"/>
              </a:spcAft>
              <a:buClr>
                <a:srgbClr val="6669FF"/>
              </a:buClr>
              <a:buFont typeface="Wingdings" panose="05000000000000000000" pitchFamily="2" charset="2"/>
              <a:buChar char="l"/>
              <a:tabLst>
                <a:tab pos="289560" algn="l"/>
              </a:tabLst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92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4081" y="907937"/>
            <a:ext cx="7668656" cy="2206021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51949" marR="435293" indent="-342900">
              <a:lnSpc>
                <a:spcPts val="2872"/>
              </a:lnSpc>
              <a:spcBef>
                <a:spcPts val="559"/>
              </a:spcBef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JXTA platform standardizes the manner in which peers: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149" marR="435293" lvl="1" indent="-342900">
              <a:lnSpc>
                <a:spcPts val="2872"/>
              </a:lnSpc>
              <a:spcBef>
                <a:spcPts val="559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each other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149" marR="435293" lvl="1" indent="-342900">
              <a:lnSpc>
                <a:spcPts val="2872"/>
              </a:lnSpc>
              <a:spcBef>
                <a:spcPts val="559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Advertise network resources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149" marR="435293" lvl="1" indent="-342900">
              <a:lnSpc>
                <a:spcPts val="2872"/>
              </a:lnSpc>
              <a:spcBef>
                <a:spcPts val="559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each other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149" marR="435293" lvl="1" indent="-342900">
              <a:lnSpc>
                <a:spcPts val="2872"/>
              </a:lnSpc>
              <a:spcBef>
                <a:spcPts val="559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Cooperate with each other to form secure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groups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7888289" cy="519113"/>
          </a:xfrm>
        </p:spPr>
        <p:txBody>
          <a:bodyPr/>
          <a:lstStyle/>
          <a:p>
            <a:r>
              <a:rPr lang="en-US" altLang="zh-CN" sz="3600" spc="-15" dirty="0"/>
              <a:t>What</a:t>
            </a:r>
            <a:r>
              <a:rPr lang="en-US" altLang="zh-CN" sz="3600" spc="94" dirty="0"/>
              <a:t> </a:t>
            </a:r>
            <a:r>
              <a:rPr lang="en-US" altLang="zh-CN" sz="3600" dirty="0"/>
              <a:t>is</a:t>
            </a:r>
            <a:r>
              <a:rPr lang="en-US" altLang="zh-CN" sz="3600" spc="11" dirty="0"/>
              <a:t> </a:t>
            </a:r>
            <a:r>
              <a:rPr lang="en-US" altLang="zh-CN" sz="3600" spc="-8" dirty="0"/>
              <a:t>JXTA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4081" y="907937"/>
            <a:ext cx="7668656" cy="1456649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51949" marR="435293" indent="-342900">
              <a:spcBef>
                <a:spcPts val="559"/>
              </a:spcBef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Pronounced</a:t>
            </a:r>
            <a:r>
              <a:rPr lang="en-US" altLang="zh-CN" sz="2000" spc="2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“Juxtapose”</a:t>
            </a:r>
            <a:r>
              <a:rPr lang="en-US" altLang="zh-CN" sz="2000" spc="2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CN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“Juxta”</a:t>
            </a:r>
            <a:r>
              <a:rPr lang="en-US" altLang="zh-CN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zh-CN" sz="2000" spc="2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</a:t>
            </a:r>
            <a:r>
              <a:rPr lang="en-US" altLang="zh-CN" sz="20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altLang="zh-CN" sz="2000" spc="1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acronym).</a:t>
            </a:r>
          </a:p>
          <a:p>
            <a:pPr marL="351949" marR="435293" indent="-342900">
              <a:spcBef>
                <a:spcPts val="559"/>
              </a:spcBef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lang="en-US" altLang="zh-CN" sz="20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000" spc="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lang="en-US" altLang="zh-CN" sz="2000" spc="2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en-US" altLang="zh-CN" sz="2000" spc="3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“juxtaposed” to</a:t>
            </a:r>
            <a:r>
              <a:rPr lang="en-US" altLang="zh-CN" sz="2000" spc="2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2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lang="en-US" altLang="zh-CN" sz="20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3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  <a:r>
              <a:rPr lang="en-US" altLang="zh-CN" sz="2000" spc="4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altLang="zh-CN" sz="2000" spc="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model.</a:t>
            </a:r>
          </a:p>
          <a:p>
            <a:pPr marL="351949" marR="435293" indent="-342900">
              <a:spcBef>
                <a:spcPts val="559"/>
              </a:spcBef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altLang="zh-CN" sz="2000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spc="17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altLang="zh-CN" sz="20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</a:t>
            </a:r>
            <a:r>
              <a:rPr lang="en-US" altLang="zh-CN" sz="200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r>
              <a:rPr lang="en-US" altLang="zh-CN" sz="2000" spc="2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en-US" altLang="zh-CN" sz="2000" spc="2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000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7888289" cy="519113"/>
          </a:xfrm>
        </p:spPr>
        <p:txBody>
          <a:bodyPr/>
          <a:lstStyle/>
          <a:p>
            <a:r>
              <a:rPr lang="en-US" altLang="zh-CN" sz="3600" spc="-15" dirty="0"/>
              <a:t>What</a:t>
            </a:r>
            <a:r>
              <a:rPr lang="en-US" altLang="zh-CN" sz="3600" spc="94" dirty="0"/>
              <a:t> </a:t>
            </a:r>
            <a:r>
              <a:rPr lang="en-US" altLang="zh-CN" spc="94" dirty="0"/>
              <a:t>D</a:t>
            </a:r>
            <a:r>
              <a:rPr lang="en-US" altLang="zh-CN" sz="3600" dirty="0"/>
              <a:t>oes</a:t>
            </a:r>
            <a:r>
              <a:rPr lang="en-US" altLang="zh-CN" sz="3600" spc="11" dirty="0"/>
              <a:t> </a:t>
            </a:r>
            <a:r>
              <a:rPr lang="en-US" altLang="zh-CN" sz="3600" spc="-8" dirty="0"/>
              <a:t>JXTA Mean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83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81314" y="850186"/>
            <a:ext cx="7244539" cy="2672366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51949" marR="435293" indent="-342900">
              <a:spcBef>
                <a:spcPts val="559"/>
              </a:spcBef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809149" marR="435293" lvl="1" indent="-342900">
              <a:spcBef>
                <a:spcPts val="559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developers build using the JXTA framework.</a:t>
            </a:r>
          </a:p>
          <a:p>
            <a:pPr marL="809149" marR="435293" lvl="1" indent="-342900">
              <a:spcBef>
                <a:spcPts val="559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P2P instant messaging, entertainment content management and delivery, email systems, distributed auction systems, and more.</a:t>
            </a:r>
          </a:p>
          <a:p>
            <a:pPr marL="809149" marR="435293" lvl="1" indent="-342900">
              <a:spcBef>
                <a:spcPts val="559"/>
              </a:spcBef>
              <a:buClr>
                <a:srgbClr val="0000FF"/>
              </a:buClr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boundary between services and applications is not rigid.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7888289" cy="519113"/>
          </a:xfrm>
        </p:spPr>
        <p:txBody>
          <a:bodyPr/>
          <a:lstStyle/>
          <a:p>
            <a:r>
              <a:rPr lang="en-US" altLang="zh-CN" sz="3600" dirty="0"/>
              <a:t>The JXTA Model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5986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4081" y="907937"/>
            <a:ext cx="7780338" cy="1918313"/>
          </a:xfrm>
          <a:prstGeom prst="rect">
            <a:avLst/>
          </a:prstGeom>
        </p:spPr>
        <p:txBody>
          <a:bodyPr vert="horz" wrap="square" lIns="0" tIns="70961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</a:t>
            </a:r>
            <a:r>
              <a:rPr lang="en-US" altLang="zh-CN" sz="22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</a:t>
            </a:r>
            <a:r>
              <a:rPr lang="en-US" altLang="zh-CN" sz="220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2200" spc="4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spc="3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</a:t>
            </a:r>
            <a:r>
              <a:rPr lang="en-US" altLang="zh-CN" sz="2200" spc="3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Microsystems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altLang="zh-CN" sz="2200" spc="3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zh-CN" sz="22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2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</a:t>
            </a:r>
            <a:r>
              <a:rPr lang="en-US" altLang="zh-CN" sz="2200" spc="3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2001.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</a:t>
            </a:r>
            <a:r>
              <a:rPr lang="en-US" altLang="zh-CN" sz="2200" spc="3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altLang="zh-CN" sz="2200" spc="2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spearheaded</a:t>
            </a:r>
            <a:r>
              <a:rPr lang="en-US" altLang="zh-CN" sz="2200" spc="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zh-CN" sz="2200" spc="3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</a:t>
            </a:r>
            <a:r>
              <a:rPr lang="en-US" altLang="zh-CN" sz="2200" spc="3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Joy,</a:t>
            </a:r>
            <a:r>
              <a:rPr lang="en-US" altLang="zh-CN" sz="2200" spc="3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chief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en-US" altLang="zh-CN" sz="2200" spc="3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CN" sz="22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JXTA.org</a:t>
            </a:r>
            <a:r>
              <a:rPr lang="en-US" altLang="zh-CN" sz="2200" spc="3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(Project</a:t>
            </a:r>
            <a:r>
              <a:rPr lang="en-US" altLang="zh-CN" sz="22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JXTA)</a:t>
            </a:r>
            <a:r>
              <a:rPr lang="en-US" altLang="zh-CN" sz="2200" spc="2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altLang="zh-CN" sz="2200" spc="1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altLang="zh-CN" sz="2200" spc="4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altLang="zh-CN" sz="2200" spc="3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en-US" altLang="zh-CN" sz="2200" spc="3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200" spc="2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</a:t>
            </a:r>
            <a:r>
              <a:rPr lang="en-US" altLang="zh-CN" sz="22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zh-CN" sz="2200" spc="3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license</a:t>
            </a:r>
            <a:r>
              <a:rPr lang="en-US" altLang="zh-CN" sz="2200" spc="3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(open</a:t>
            </a:r>
            <a:r>
              <a:rPr lang="en-US" altLang="zh-CN" sz="2200" spc="29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source).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7888289" cy="519113"/>
          </a:xfrm>
        </p:spPr>
        <p:txBody>
          <a:bodyPr/>
          <a:lstStyle/>
          <a:p>
            <a:r>
              <a:rPr lang="en-US" altLang="zh-CN" sz="3600" dirty="0"/>
              <a:t>Who</a:t>
            </a:r>
            <a:r>
              <a:rPr lang="en-US" altLang="zh-CN" sz="3600" spc="79" dirty="0"/>
              <a:t> </a:t>
            </a:r>
            <a:r>
              <a:rPr lang="en-US" altLang="zh-CN" sz="3600" spc="71" dirty="0"/>
              <a:t>is</a:t>
            </a:r>
            <a:r>
              <a:rPr lang="en-US" altLang="zh-CN" sz="3600" spc="-38" dirty="0"/>
              <a:t> </a:t>
            </a:r>
            <a:r>
              <a:rPr lang="en-US" altLang="zh-CN" spc="-38" dirty="0"/>
              <a:t>R</a:t>
            </a:r>
            <a:r>
              <a:rPr lang="en-US" altLang="zh-CN" sz="3600" dirty="0"/>
              <a:t>esponsible</a:t>
            </a:r>
            <a:r>
              <a:rPr lang="en-US" altLang="zh-CN" sz="3600" spc="285" dirty="0"/>
              <a:t> </a:t>
            </a:r>
            <a:r>
              <a:rPr lang="en-US" altLang="zh-CN" sz="3600" dirty="0"/>
              <a:t>for</a:t>
            </a:r>
            <a:r>
              <a:rPr lang="en-US" altLang="zh-CN" sz="3600" spc="86" dirty="0"/>
              <a:t> </a:t>
            </a:r>
            <a:r>
              <a:rPr lang="en-US" altLang="zh-CN" sz="3600" spc="-8" dirty="0"/>
              <a:t>JXTA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6018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7888289" cy="519113"/>
          </a:xfrm>
        </p:spPr>
        <p:txBody>
          <a:bodyPr/>
          <a:lstStyle/>
          <a:p>
            <a:r>
              <a:rPr lang="en-US" altLang="zh-CN" sz="3600" spc="-113" dirty="0"/>
              <a:t>Why </a:t>
            </a:r>
            <a:r>
              <a:rPr lang="en-US" altLang="zh-CN" sz="3600" spc="-8" dirty="0"/>
              <a:t>JXTA</a:t>
            </a:r>
            <a:endParaRPr lang="zh-CN" alt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DB251C4-ABA1-8364-BADF-DA23F8B62A54}"/>
              </a:ext>
            </a:extLst>
          </p:cNvPr>
          <p:cNvSpPr txBox="1"/>
          <p:nvPr/>
        </p:nvSpPr>
        <p:spPr>
          <a:xfrm>
            <a:off x="1158117" y="820346"/>
            <a:ext cx="6827765" cy="3290324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Applications are breaking new ground Sun expects more in the future.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P2P programs usually address only a single function.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P2P programs typically run on only a single platform (negating the usefulness of P2P)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P2P applications are unable to directly share data with similar (not identical) applications 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Kazaa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/Gnutella, IC@AIM/MSIM).</a:t>
            </a:r>
          </a:p>
        </p:txBody>
      </p:sp>
    </p:spTree>
    <p:extLst>
      <p:ext uri="{BB962C8B-B14F-4D97-AF65-F5344CB8AC3E}">
        <p14:creationId xmlns:p14="http://schemas.microsoft.com/office/powerpoint/2010/main" val="2809508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7888289" cy="519113"/>
          </a:xfrm>
        </p:spPr>
        <p:txBody>
          <a:bodyPr/>
          <a:lstStyle/>
          <a:p>
            <a:r>
              <a:rPr lang="en-US" altLang="zh-CN" sz="3600" dirty="0"/>
              <a:t>What is JXTA for?</a:t>
            </a:r>
            <a:endParaRPr lang="zh-CN" alt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DB251C4-ABA1-8364-BADF-DA23F8B62A54}"/>
              </a:ext>
            </a:extLst>
          </p:cNvPr>
          <p:cNvSpPr txBox="1"/>
          <p:nvPr/>
        </p:nvSpPr>
        <p:spPr>
          <a:xfrm>
            <a:off x="1070048" y="964725"/>
            <a:ext cx="7236554" cy="1520609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</a:t>
            </a:r>
            <a:r>
              <a:rPr lang="en-US" altLang="zh-CN"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</a:t>
            </a:r>
            <a:r>
              <a:rPr lang="en-US" altLang="zh-CN"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en-US" altLang="zh-CN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altLang="zh-CN" sz="2200" spc="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altLang="zh-CN" sz="2200" spc="-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</a:t>
            </a:r>
            <a:r>
              <a:rPr lang="en-US" altLang="zh-CN" sz="2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lang="en-US" altLang="zh-CN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en-US" altLang="zh-CN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</a:t>
            </a:r>
            <a:r>
              <a:rPr lang="en-US" altLang="zh-CN"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US" altLang="zh-CN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</a:t>
            </a:r>
            <a:r>
              <a:rPr lang="en-US" altLang="zh-CN"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theory).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</a:t>
            </a:r>
            <a:r>
              <a:rPr lang="en-US" altLang="zh-CN"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altLang="zh-CN"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  <a:r>
              <a:rPr lang="en-US" altLang="zh-CN"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en-US" altLang="zh-CN"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altLang="zh-CN"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altLang="zh-CN"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011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8078483" cy="519113"/>
          </a:xfrm>
        </p:spPr>
        <p:txBody>
          <a:bodyPr/>
          <a:lstStyle/>
          <a:p>
            <a:pPr marL="26670">
              <a:lnSpc>
                <a:spcPts val="3990"/>
              </a:lnSpc>
              <a:spcBef>
                <a:spcPts val="101"/>
              </a:spcBef>
            </a:pPr>
            <a:r>
              <a:rPr lang="en-US" altLang="zh-CN" sz="3200" dirty="0"/>
              <a:t>What Programming Language and Protocol</a:t>
            </a:r>
            <a:endParaRPr lang="zh-CN" altLang="en-US" sz="3200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DB251C4-ABA1-8364-BADF-DA23F8B62A54}"/>
              </a:ext>
            </a:extLst>
          </p:cNvPr>
          <p:cNvSpPr txBox="1"/>
          <p:nvPr/>
        </p:nvSpPr>
        <p:spPr>
          <a:xfrm>
            <a:off x="1059601" y="897348"/>
            <a:ext cx="7024798" cy="3054491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 is independent of programming languages. It is a framework, not an API.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 APIs are available for C/C++, Java, Perl, Python, Ruby, Objective C, Smalltalk and more.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 is independent of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protocols.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 can be implemented on top of TCP/IP, over HTTP, using Bluetooth, or anything else!</a:t>
            </a:r>
          </a:p>
          <a:p>
            <a:pPr marL="254318">
              <a:lnSpc>
                <a:spcPts val="3124"/>
              </a:lnSpc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688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8078483" cy="519113"/>
          </a:xfrm>
        </p:spPr>
        <p:txBody>
          <a:bodyPr/>
          <a:lstStyle/>
          <a:p>
            <a:pPr marL="26670">
              <a:lnSpc>
                <a:spcPts val="3990"/>
              </a:lnSpc>
              <a:spcBef>
                <a:spcPts val="101"/>
              </a:spcBef>
            </a:pPr>
            <a:r>
              <a:rPr lang="en-US" altLang="zh-CN" spc="-94" dirty="0"/>
              <a:t>What</a:t>
            </a:r>
            <a:r>
              <a:rPr lang="en-US" altLang="zh-CN" spc="-49" dirty="0"/>
              <a:t> </a:t>
            </a:r>
            <a:r>
              <a:rPr lang="en-US" altLang="zh-CN" spc="-38" dirty="0"/>
              <a:t>is</a:t>
            </a:r>
            <a:r>
              <a:rPr lang="en-US" altLang="zh-CN" spc="-203" dirty="0"/>
              <a:t> </a:t>
            </a:r>
            <a:r>
              <a:rPr lang="en-US" altLang="zh-CN" dirty="0"/>
              <a:t>the</a:t>
            </a:r>
            <a:r>
              <a:rPr lang="en-US" altLang="zh-CN" spc="-124" dirty="0"/>
              <a:t> </a:t>
            </a:r>
            <a:r>
              <a:rPr lang="en-US" altLang="zh-CN" spc="-53" dirty="0"/>
              <a:t>state</a:t>
            </a:r>
            <a:r>
              <a:rPr lang="en-US" altLang="zh-CN" spc="-146" dirty="0"/>
              <a:t> </a:t>
            </a:r>
            <a:r>
              <a:rPr lang="en-US" altLang="zh-CN" dirty="0"/>
              <a:t>of</a:t>
            </a:r>
            <a:r>
              <a:rPr lang="en-US" altLang="zh-CN" spc="-180" dirty="0"/>
              <a:t> </a:t>
            </a:r>
            <a:r>
              <a:rPr lang="en-US" altLang="zh-CN" spc="-431" dirty="0"/>
              <a:t>JXTA</a:t>
            </a:r>
            <a:endParaRPr lang="zh-CN" alt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DB251C4-ABA1-8364-BADF-DA23F8B62A54}"/>
              </a:ext>
            </a:extLst>
          </p:cNvPr>
          <p:cNvSpPr txBox="1"/>
          <p:nvPr/>
        </p:nvSpPr>
        <p:spPr>
          <a:xfrm>
            <a:off x="1141004" y="926224"/>
            <a:ext cx="6861992" cy="295177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code that is available is early release or prototype quality.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is changed (sometimes improved) by jxta.org community members.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is considered to be usable code, with a caution that it has not been through quality assurance processes (other than peer review).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JXTA is supported by Sun.</a:t>
            </a:r>
          </a:p>
        </p:txBody>
      </p:sp>
    </p:spTree>
    <p:extLst>
      <p:ext uri="{BB962C8B-B14F-4D97-AF65-F5344CB8AC3E}">
        <p14:creationId xmlns:p14="http://schemas.microsoft.com/office/powerpoint/2010/main" val="2411588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8078483" cy="519113"/>
          </a:xfrm>
        </p:spPr>
        <p:txBody>
          <a:bodyPr/>
          <a:lstStyle/>
          <a:p>
            <a:pPr marL="26670">
              <a:lnSpc>
                <a:spcPts val="3990"/>
              </a:lnSpc>
              <a:spcBef>
                <a:spcPts val="101"/>
              </a:spcBef>
            </a:pPr>
            <a:r>
              <a:rPr lang="en-US" altLang="zh-CN" sz="3200" dirty="0"/>
              <a:t>The JXTA Model (IMAGE)</a:t>
            </a:r>
            <a:endParaRPr lang="zh-CN" altLang="en-US" sz="32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3E0A74B-8216-7AFB-5D1C-122F4A076F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500" y="933652"/>
            <a:ext cx="5381452" cy="359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18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8078483" cy="519113"/>
          </a:xfrm>
        </p:spPr>
        <p:txBody>
          <a:bodyPr/>
          <a:lstStyle/>
          <a:p>
            <a:pPr marL="26670">
              <a:lnSpc>
                <a:spcPts val="3990"/>
              </a:lnSpc>
              <a:spcBef>
                <a:spcPts val="101"/>
              </a:spcBef>
            </a:pPr>
            <a:r>
              <a:rPr lang="en-US" altLang="zh-CN" spc="-94" dirty="0"/>
              <a:t>Peers</a:t>
            </a:r>
            <a:endParaRPr lang="zh-CN" alt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DB251C4-ABA1-8364-BADF-DA23F8B62A54}"/>
              </a:ext>
            </a:extLst>
          </p:cNvPr>
          <p:cNvSpPr txBox="1"/>
          <p:nvPr/>
        </p:nvSpPr>
        <p:spPr>
          <a:xfrm>
            <a:off x="1141004" y="926224"/>
            <a:ext cx="6790213" cy="216694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peer is a single participant in the JXTA network.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is referred to by an XML advertisement.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is identified by a unique peer ID.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peer belongs to one or more peer groups.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peer can be a server, PC, PDA, some 	manufacturing  or medical equipment, even a cellular phone.</a:t>
            </a:r>
          </a:p>
        </p:txBody>
      </p:sp>
    </p:spTree>
    <p:extLst>
      <p:ext uri="{BB962C8B-B14F-4D97-AF65-F5344CB8AC3E}">
        <p14:creationId xmlns:p14="http://schemas.microsoft.com/office/powerpoint/2010/main" val="2040936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8078483" cy="519113"/>
          </a:xfrm>
        </p:spPr>
        <p:txBody>
          <a:bodyPr/>
          <a:lstStyle/>
          <a:p>
            <a:pPr marL="26670">
              <a:lnSpc>
                <a:spcPts val="3990"/>
              </a:lnSpc>
              <a:spcBef>
                <a:spcPts val="101"/>
              </a:spcBef>
            </a:pPr>
            <a:r>
              <a:rPr lang="en-US" altLang="zh-CN" spc="-94" dirty="0"/>
              <a:t>Peers Groups</a:t>
            </a:r>
            <a:endParaRPr lang="zh-CN" alt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DB251C4-ABA1-8364-BADF-DA23F8B62A54}"/>
              </a:ext>
            </a:extLst>
          </p:cNvPr>
          <p:cNvSpPr txBox="1"/>
          <p:nvPr/>
        </p:nvSpPr>
        <p:spPr>
          <a:xfrm>
            <a:off x="1141004" y="926224"/>
            <a:ext cx="6861992" cy="2323393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 cooperate and function similarly and under a unified set of capabilities and restrictions.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policies and methods of authentication are not defined in any single fashion, but delegated to the group itself.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peer joins a JXTA group, it can query that group for anything it may want, such as a service or another peer.</a:t>
            </a:r>
          </a:p>
        </p:txBody>
      </p:sp>
    </p:spTree>
    <p:extLst>
      <p:ext uri="{BB962C8B-B14F-4D97-AF65-F5344CB8AC3E}">
        <p14:creationId xmlns:p14="http://schemas.microsoft.com/office/powerpoint/2010/main" val="2527594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9AE5B-4720-EABF-14D3-9F7018B7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D9676DB-6C29-E89B-B17D-966474EC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30" y="84260"/>
            <a:ext cx="8078483" cy="519113"/>
          </a:xfrm>
        </p:spPr>
        <p:txBody>
          <a:bodyPr/>
          <a:lstStyle/>
          <a:p>
            <a:pPr marL="26670">
              <a:lnSpc>
                <a:spcPts val="3990"/>
              </a:lnSpc>
              <a:spcBef>
                <a:spcPts val="101"/>
              </a:spcBef>
            </a:pPr>
            <a:r>
              <a:rPr lang="en-US" altLang="zh-CN" sz="3600" dirty="0"/>
              <a:t>Peer Pipes</a:t>
            </a:r>
            <a:endParaRPr lang="zh-CN" alt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DB251C4-ABA1-8364-BADF-DA23F8B62A54}"/>
              </a:ext>
            </a:extLst>
          </p:cNvPr>
          <p:cNvSpPr txBox="1"/>
          <p:nvPr/>
        </p:nvSpPr>
        <p:spPr>
          <a:xfrm>
            <a:off x="1141004" y="926224"/>
            <a:ext cx="7059720" cy="2705549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channels similar to the Unix command-line concept of piping.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Pipes provide the primary channels for communication.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 (can be coupled and uncoupled between peers dynamically)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Pipes in Project JXTA are indiscriminate they will support binary code, data strings, Java technology-based objects, and/or applets.</a:t>
            </a:r>
          </a:p>
        </p:txBody>
      </p:sp>
    </p:spTree>
    <p:extLst>
      <p:ext uri="{BB962C8B-B14F-4D97-AF65-F5344CB8AC3E}">
        <p14:creationId xmlns:p14="http://schemas.microsoft.com/office/powerpoint/2010/main" val="2006445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7" y="79836"/>
            <a:ext cx="7888289" cy="519113"/>
          </a:xfrm>
        </p:spPr>
        <p:txBody>
          <a:bodyPr/>
          <a:lstStyle/>
          <a:p>
            <a:r>
              <a:rPr lang="en-US" altLang="zh-CN" kern="0" dirty="0"/>
              <a:t>Peer Monitoring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141004" y="926224"/>
            <a:ext cx="7059720" cy="1474443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authentication/authorization of peers 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for peer metering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 may want to limit the availability of their services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 may want to track the usage of their services</a:t>
            </a:r>
          </a:p>
        </p:txBody>
      </p:sp>
    </p:spTree>
    <p:extLst>
      <p:ext uri="{BB962C8B-B14F-4D97-AF65-F5344CB8AC3E}">
        <p14:creationId xmlns:p14="http://schemas.microsoft.com/office/powerpoint/2010/main" val="2007980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7" y="79836"/>
            <a:ext cx="7888289" cy="519113"/>
          </a:xfrm>
        </p:spPr>
        <p:txBody>
          <a:bodyPr/>
          <a:lstStyle/>
          <a:p>
            <a:r>
              <a:rPr lang="en-US" altLang="zh-CN" kern="0" dirty="0"/>
              <a:t>Services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141004" y="926224"/>
            <a:ext cx="7059720" cy="1012778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is a capability running inside a peer group.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service may be running on all peers, or just a few within the group</a:t>
            </a:r>
          </a:p>
        </p:txBody>
      </p:sp>
    </p:spTree>
    <p:extLst>
      <p:ext uri="{BB962C8B-B14F-4D97-AF65-F5344CB8AC3E}">
        <p14:creationId xmlns:p14="http://schemas.microsoft.com/office/powerpoint/2010/main" val="4105219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79836"/>
            <a:ext cx="7830181" cy="519113"/>
          </a:xfrm>
        </p:spPr>
        <p:txBody>
          <a:bodyPr/>
          <a:lstStyle/>
          <a:p>
            <a:r>
              <a:rPr lang="en-US" altLang="zh-CN" sz="3600" spc="-90" dirty="0"/>
              <a:t>Advert</a:t>
            </a:r>
            <a:r>
              <a:rPr lang="en-US" altLang="zh-CN" spc="-135" dirty="0"/>
              <a:t>is</a:t>
            </a:r>
            <a:r>
              <a:rPr lang="en-US" altLang="zh-CN" sz="3600" spc="-116" dirty="0"/>
              <a:t>ements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141004" y="926224"/>
            <a:ext cx="7030844" cy="239777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advertisement is a description of a particular pipe or service.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Rendezvous points on the network are used by JXTA to cache advertisements.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XTA can use IP multicasting to find other peers on the same physical subnet.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75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79836"/>
            <a:ext cx="7830181" cy="519113"/>
          </a:xfrm>
        </p:spPr>
        <p:txBody>
          <a:bodyPr/>
          <a:lstStyle/>
          <a:p>
            <a:r>
              <a:rPr lang="en-US" altLang="zh-CN" sz="3600" dirty="0"/>
              <a:t>Messages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141004" y="926224"/>
            <a:ext cx="7088596" cy="208999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communication in the JXTA network is achieved by sending and receiving messages.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JXTA messages adhere to a standard format, which is key to interoperability.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messages are defined using XML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237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79836"/>
            <a:ext cx="7830181" cy="519113"/>
          </a:xfrm>
        </p:spPr>
        <p:txBody>
          <a:bodyPr/>
          <a:lstStyle/>
          <a:p>
            <a:r>
              <a:rPr lang="en-US" altLang="zh-CN" sz="3600" spc="56" dirty="0"/>
              <a:t>XNL</a:t>
            </a:r>
            <a:r>
              <a:rPr lang="en-US" altLang="zh-CN" sz="3600" spc="206" dirty="0"/>
              <a:t> </a:t>
            </a:r>
            <a:r>
              <a:rPr lang="en-US" altLang="zh-CN" spc="-127" dirty="0"/>
              <a:t>F</a:t>
            </a:r>
            <a:r>
              <a:rPr lang="en-US" altLang="zh-CN" sz="3600" spc="-127" dirty="0"/>
              <a:t>ormat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904775" y="926224"/>
            <a:ext cx="7680959" cy="329648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solidFill>
                  <a:srgbClr val="E92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CN" sz="2000" dirty="0">
                <a:solidFill>
                  <a:srgbClr val="C6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altLang="zh-CN" sz="2000" dirty="0">
                <a:solidFill>
                  <a:srgbClr val="CC23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2000" dirty="0">
                <a:solidFill>
                  <a:srgbClr val="C31F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CN" sz="2000" dirty="0">
                <a:solidFill>
                  <a:srgbClr val="D8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Advertisement </a:t>
            </a:r>
            <a:r>
              <a:rPr lang="en-US" altLang="zh-CN" sz="2000" dirty="0">
                <a:solidFill>
                  <a:srgbClr val="AF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sz="2000" dirty="0">
                <a:solidFill>
                  <a:srgbClr val="EF13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</a:p>
          <a:p>
            <a:pPr marL="370523">
              <a:spcBef>
                <a:spcPts val="124"/>
              </a:spcBef>
            </a:pPr>
            <a:r>
              <a:rPr lang="en-US" altLang="zh-CN" sz="20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altLang="zh-CN" sz="200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xmI</a:t>
            </a:r>
            <a:r>
              <a:rPr lang="en-US" altLang="zh-CN" sz="20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version=”1.0"?&gt;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3863">
              <a:spcBef>
                <a:spcPts val="150"/>
              </a:spcBef>
            </a:pPr>
            <a:r>
              <a:rPr lang="en-US" altLang="zh-C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</a:t>
            </a:r>
            <a:r>
              <a:rPr lang="en-US" altLang="zh-CN" sz="20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jxta:PipeAdvertisement</a:t>
            </a: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523">
              <a:spcBef>
                <a:spcPts val="143"/>
              </a:spcBef>
            </a:pP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jxta:PipeAdvertisement</a:t>
            </a: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999">
              <a:lnSpc>
                <a:spcPts val="1616"/>
              </a:lnSpc>
              <a:spcBef>
                <a:spcPts val="199"/>
              </a:spcBef>
            </a:pPr>
            <a:r>
              <a:rPr lang="en-US" altLang="zh-CN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&lt;id&gt;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8166" marR="3810" indent="6668">
              <a:lnSpc>
                <a:spcPct val="89000"/>
              </a:lnSpc>
              <a:spcBef>
                <a:spcPts val="109"/>
              </a:spcBef>
            </a:pP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jxta://59616261646162614A787461503250333DA9279761254559B </a:t>
            </a:r>
            <a:r>
              <a:rPr lang="en-US" altLang="zh-CN" sz="20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209922 </a:t>
            </a:r>
            <a:r>
              <a:rPr lang="en-US" altLang="zh-CN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BACA69E19000000000000000000000000000000000000000000000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4834">
              <a:lnSpc>
                <a:spcPts val="1654"/>
              </a:lnSpc>
            </a:pPr>
            <a:r>
              <a:rPr lang="en-US" altLang="zh-CN" sz="2000" dirty="0">
                <a:solidFill>
                  <a:srgbClr val="1F3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00000000 00000000</a:t>
            </a:r>
            <a:r>
              <a:rPr lang="en-US" altLang="zh-CN" sz="2000" dirty="0">
                <a:solidFill>
                  <a:srgbClr val="152A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301 </a:t>
            </a:r>
            <a:r>
              <a:rPr lang="en-US" altLang="zh-CN" sz="20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&lt;/id&gt;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523">
              <a:spcBef>
                <a:spcPts val="64"/>
              </a:spcBef>
            </a:pPr>
            <a:r>
              <a:rPr lang="en-US" altLang="zh-CN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&lt;name&gt; </a:t>
            </a:r>
            <a:r>
              <a:rPr lang="en-US" altLang="zh-CN" sz="20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JxtaTaIkUserName:raeI</a:t>
            </a: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&lt;/name&gt;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046">
              <a:spcBef>
                <a:spcPts val="68"/>
              </a:spcBef>
            </a:pP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zh-CN" sz="20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jxta:PipeAdvertisement</a:t>
            </a:r>
            <a:r>
              <a:rPr lang="en-US" altLang="zh-CN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778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79836"/>
            <a:ext cx="7830181" cy="519113"/>
          </a:xfrm>
        </p:spPr>
        <p:txBody>
          <a:bodyPr/>
          <a:lstStyle/>
          <a:p>
            <a:r>
              <a:rPr lang="en-US" altLang="zh-CN" sz="3600" dirty="0"/>
              <a:t>JXTA</a:t>
            </a:r>
            <a:r>
              <a:rPr lang="en-US" altLang="zh-CN" sz="3600" spc="23" dirty="0"/>
              <a:t> </a:t>
            </a:r>
            <a:r>
              <a:rPr lang="en-US" altLang="zh-CN" sz="3600" spc="-116" dirty="0"/>
              <a:t>Protocols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029904" y="926224"/>
            <a:ext cx="7103444" cy="3013325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JXTA platform is defined by six networking protocols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six protocols needs not be implemented by every peer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Discovery Protocol (PDP) 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Resolver Protocol (PRP) 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Information Protocol (PIP) 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Membership Protocol (PMP) 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 Binding Protocol (PBP) 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Endpoint Protocol (PEP)</a:t>
            </a:r>
            <a:endParaRPr lang="en-US" altLang="zh-CN" sz="2000" dirty="0">
              <a:solidFill>
                <a:srgbClr val="EF131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9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79836"/>
            <a:ext cx="7830181" cy="519113"/>
          </a:xfrm>
        </p:spPr>
        <p:txBody>
          <a:bodyPr/>
          <a:lstStyle/>
          <a:p>
            <a:r>
              <a:rPr lang="en-US" altLang="zh-CN" sz="3600" dirty="0"/>
              <a:t>JXTA Applications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029903" y="926224"/>
            <a:ext cx="7382577" cy="2274662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and Tutorials are available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services comes first, applications will become common later</a:t>
            </a:r>
          </a:p>
          <a:p>
            <a:pPr marL="351949" marR="435293" indent="-342900">
              <a:spcAft>
                <a:spcPts val="6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conference in December, Sun presenters had no knowledge of any real-world JXTA applications in use yet.</a:t>
            </a:r>
          </a:p>
          <a:p>
            <a:pPr marL="809149" marR="435293" lvl="1" indent="-342900">
              <a:spcAft>
                <a:spcPts val="6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endParaRPr lang="en-US" altLang="zh-CN" sz="2200" dirty="0">
              <a:solidFill>
                <a:srgbClr val="EF131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86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79836"/>
            <a:ext cx="7830181" cy="519113"/>
          </a:xfrm>
        </p:spPr>
        <p:txBody>
          <a:bodyPr/>
          <a:lstStyle/>
          <a:p>
            <a:r>
              <a:rPr lang="en-US" altLang="zh-CN" sz="3600" dirty="0"/>
              <a:t>JXTA Securi</a:t>
            </a:r>
            <a:r>
              <a:rPr lang="en-US" altLang="zh-CN" dirty="0"/>
              <a:t>ty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051574" y="878097"/>
            <a:ext cx="7332029" cy="3244158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Credentials</a:t>
            </a:r>
          </a:p>
          <a:p>
            <a:pPr marL="809149" marR="435293" lvl="1" indent="-342900">
              <a:spcAft>
                <a:spcPts val="3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like in PGP, the JXTA network is used to exchange public keys among its members.</a:t>
            </a:r>
          </a:p>
          <a:p>
            <a:pPr marL="809149" marR="435293" lvl="1" indent="-342900">
              <a:spcAft>
                <a:spcPts val="3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group policy may permit some members to be more trusted and thus more privileged than others.</a:t>
            </a:r>
          </a:p>
          <a:p>
            <a:pPr marL="809149" marR="435293" lvl="1" indent="-342900">
              <a:spcAft>
                <a:spcPts val="300"/>
              </a:spcAft>
              <a:buClr>
                <a:srgbClr val="0000FF"/>
              </a:buClr>
              <a:buSzPct val="80000"/>
              <a:buFont typeface="Symbol" panose="05050102010706020507" pitchFamily="18" charset="2"/>
              <a:buChar char="-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 in modules allow JXTA policies that require 	authorization  using  well-known  certificate  authorities 	(exchange of X509v3 CA signed certificates).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high-level security requirements like end-to-end encryption, a security framework needs to be built on top of JXTA</a:t>
            </a:r>
          </a:p>
        </p:txBody>
      </p:sp>
    </p:spTree>
    <p:extLst>
      <p:ext uri="{BB962C8B-B14F-4D97-AF65-F5344CB8AC3E}">
        <p14:creationId xmlns:p14="http://schemas.microsoft.com/office/powerpoint/2010/main" val="28660742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79836"/>
            <a:ext cx="7830181" cy="519113"/>
          </a:xfrm>
        </p:spPr>
        <p:txBody>
          <a:bodyPr/>
          <a:lstStyle/>
          <a:p>
            <a:r>
              <a:rPr lang="en-US" altLang="zh-CN" sz="3600" dirty="0"/>
              <a:t>JXTA Firewall Routing Services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051574" y="878097"/>
            <a:ext cx="7197277" cy="197458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peer joins the network from behind a firewall, it can find another peer who will perform a routing service to bypass the firewall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will not be aware of this firewall traversal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Firewalls were a major limitation of early P2P systems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080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836"/>
            <a:ext cx="7820556" cy="519113"/>
          </a:xfrm>
        </p:spPr>
        <p:txBody>
          <a:bodyPr/>
          <a:lstStyle/>
          <a:p>
            <a:r>
              <a:rPr lang="en-US" altLang="zh-CN" sz="3600" dirty="0"/>
              <a:t>The JXTA Shell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051575" y="878097"/>
            <a:ext cx="7149150" cy="2320828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JXTA Shell is considered a reference peer service.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JXTA Shell enables users to interact with the JXTA platform through a command-line interpreter.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and Development would be much more difficult without this tool.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JXTA Shell is not part of the JXTA  core.</a:t>
            </a:r>
          </a:p>
          <a:p>
            <a:pPr marL="351949" marR="435293" indent="-342900"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9705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FEA3A-95BA-2C71-FCB9-BE1AE6785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EF2F3C6-8AD9-B9C1-629C-2CCF89AB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836"/>
            <a:ext cx="7820556" cy="519113"/>
          </a:xfrm>
        </p:spPr>
        <p:txBody>
          <a:bodyPr/>
          <a:lstStyle/>
          <a:p>
            <a:r>
              <a:rPr lang="en-US" altLang="zh-CN" dirty="0"/>
              <a:t>Producer</a:t>
            </a:r>
            <a:endParaRPr lang="zh-CN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09F25DE-6649-64DA-F144-4F6ACF3FB369}"/>
              </a:ext>
            </a:extLst>
          </p:cNvPr>
          <p:cNvSpPr txBox="1"/>
          <p:nvPr/>
        </p:nvSpPr>
        <p:spPr>
          <a:xfrm>
            <a:off x="1051574" y="878097"/>
            <a:ext cx="7255027" cy="3459730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351949" marR="435293" indent="-342900">
              <a:spcBef>
                <a:spcPts val="600"/>
              </a:spcBef>
              <a:spcAft>
                <a:spcPts val="30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tabLst>
                <a:tab pos="257175" algn="l"/>
                <a:tab pos="260509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the Objects</a:t>
            </a:r>
          </a:p>
          <a:p>
            <a:pPr marL="9525">
              <a:lnSpc>
                <a:spcPts val="1931"/>
              </a:lnSpc>
              <a:spcBef>
                <a:spcPts val="600"/>
              </a:spcBef>
              <a:tabLst>
                <a:tab pos="463391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1. Create a Peer Group.</a:t>
            </a:r>
          </a:p>
          <a:p>
            <a:pPr marL="467678">
              <a:lnSpc>
                <a:spcPts val="1931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group 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PeerGroupFactory.newNetPeerGroup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67678">
              <a:lnSpc>
                <a:spcPts val="1931"/>
              </a:lnSpc>
              <a:spcBef>
                <a:spcPts val="600"/>
              </a:spcBef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Get the Advertisement for the Group.</a:t>
            </a:r>
          </a:p>
          <a:p>
            <a:pPr marL="695325" marR="646748" indent="-234791">
              <a:lnSpc>
                <a:spcPts val="1793"/>
              </a:lnSpc>
              <a:spcBef>
                <a:spcPts val="600"/>
              </a:spcBef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groupAdvertisement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95325" marR="646748" indent="-234791">
              <a:lnSpc>
                <a:spcPts val="1793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group.getPeerGroupAdvertisement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64344">
              <a:lnSpc>
                <a:spcPts val="1841"/>
              </a:lnSpc>
              <a:spcBef>
                <a:spcPts val="600"/>
              </a:spcBef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Create a Discovery Service.</a:t>
            </a:r>
          </a:p>
          <a:p>
            <a:pPr marL="468154">
              <a:lnSpc>
                <a:spcPts val="1841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disco 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group.getDiscoveryService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57676">
              <a:lnSpc>
                <a:spcPts val="1856"/>
              </a:lnSpc>
              <a:spcBef>
                <a:spcPts val="600"/>
              </a:spcBef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Create a Pipe Service.</a:t>
            </a:r>
          </a:p>
          <a:p>
            <a:pPr marL="461486">
              <a:lnSpc>
                <a:spcPts val="1856"/>
              </a:lnSpc>
              <a:spcBef>
                <a:spcPts val="600"/>
              </a:spcBef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pipes 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group.getPipeService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522925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297162" cy="79027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43276" y="25796"/>
            <a:ext cx="8200724" cy="500266"/>
          </a:xfrm>
          <a:prstGeom prst="rect">
            <a:avLst/>
          </a:prstGeom>
        </p:spPr>
        <p:txBody>
          <a:bodyPr vert="horz" wrap="square" lIns="0" tIns="123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8574">
              <a:lnSpc>
                <a:spcPts val="4080"/>
              </a:lnSpc>
              <a:spcBef>
                <a:spcPts val="98"/>
              </a:spcBef>
            </a:pPr>
            <a:r>
              <a:rPr sz="3200" spc="-199" dirty="0">
                <a:solidFill>
                  <a:srgbClr val="363689"/>
                </a:solidFill>
                <a:latin typeface="Arial"/>
                <a:cs typeface="Arial"/>
              </a:rPr>
              <a:t>Building</a:t>
            </a:r>
            <a:r>
              <a:rPr sz="3200" spc="146" dirty="0">
                <a:solidFill>
                  <a:srgbClr val="363689"/>
                </a:solidFill>
                <a:latin typeface="Arial"/>
                <a:cs typeface="Arial"/>
              </a:rPr>
              <a:t> </a:t>
            </a:r>
            <a:r>
              <a:rPr sz="3200" spc="-75" dirty="0">
                <a:solidFill>
                  <a:srgbClr val="3B3689"/>
                </a:solidFill>
                <a:latin typeface="Arial"/>
                <a:cs typeface="Arial"/>
              </a:rPr>
              <a:t>our</a:t>
            </a:r>
            <a:r>
              <a:rPr sz="3200" spc="53" dirty="0">
                <a:solidFill>
                  <a:srgbClr val="3B3689"/>
                </a:solidFill>
                <a:latin typeface="Arial"/>
                <a:cs typeface="Arial"/>
              </a:rPr>
              <a:t> </a:t>
            </a:r>
            <a:r>
              <a:rPr sz="3200" spc="-363" dirty="0">
                <a:solidFill>
                  <a:srgbClr val="363895"/>
                </a:solidFill>
                <a:latin typeface="Arial"/>
                <a:cs typeface="Arial"/>
              </a:rPr>
              <a:t>Peer</a:t>
            </a:r>
            <a:r>
              <a:rPr sz="3200" spc="139" dirty="0">
                <a:solidFill>
                  <a:srgbClr val="363895"/>
                </a:solidFill>
                <a:latin typeface="Arial"/>
                <a:cs typeface="Arial"/>
              </a:rPr>
              <a:t> </a:t>
            </a:r>
            <a:r>
              <a:rPr sz="3200" spc="-274" dirty="0">
                <a:solidFill>
                  <a:srgbClr val="363195"/>
                </a:solidFill>
                <a:latin typeface="Arial"/>
                <a:cs typeface="Arial"/>
              </a:rPr>
              <a:t>Existence</a:t>
            </a:r>
            <a:r>
              <a:rPr lang="en-US" sz="3200" spc="-274" dirty="0">
                <a:solidFill>
                  <a:srgbClr val="363195"/>
                </a:solidFill>
                <a:latin typeface="Arial"/>
                <a:cs typeface="Arial"/>
              </a:rPr>
              <a:t> </a:t>
            </a:r>
            <a:r>
              <a:rPr sz="3200" spc="-289" dirty="0">
                <a:solidFill>
                  <a:srgbClr val="343189"/>
                </a:solidFill>
                <a:latin typeface="Arial"/>
                <a:cs typeface="Arial"/>
              </a:rPr>
              <a:t>Adve1isement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7371" y="1509824"/>
            <a:ext cx="5350669" cy="4964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lnSpc>
                <a:spcPts val="1931"/>
              </a:lnSpc>
              <a:spcBef>
                <a:spcPts val="71"/>
              </a:spcBef>
              <a:tabLst>
                <a:tab pos="474821" algn="l"/>
              </a:tabLst>
            </a:pPr>
            <a:r>
              <a:rPr sz="1725" spc="-19" dirty="0">
                <a:solidFill>
                  <a:srgbClr val="444444"/>
                </a:solidFill>
                <a:latin typeface="Calibri"/>
                <a:cs typeface="Calibri"/>
              </a:rPr>
              <a:t>›.</a:t>
            </a:r>
            <a:r>
              <a:rPr sz="1725" dirty="0">
                <a:solidFill>
                  <a:srgbClr val="444444"/>
                </a:solidFill>
                <a:latin typeface="Calibri"/>
                <a:cs typeface="Calibri"/>
              </a:rPr>
              <a:t>	</a:t>
            </a:r>
            <a:r>
              <a:rPr sz="1725" spc="-53" dirty="0">
                <a:latin typeface="Calibri"/>
                <a:cs typeface="Calibri"/>
              </a:rPr>
              <a:t>Create</a:t>
            </a:r>
            <a:r>
              <a:rPr sz="1725" spc="-49" dirty="0">
                <a:latin typeface="Calibri"/>
                <a:cs typeface="Calibri"/>
              </a:rPr>
              <a:t> </a:t>
            </a:r>
            <a:r>
              <a:rPr sz="1725" dirty="0">
                <a:latin typeface="Calibri"/>
                <a:cs typeface="Calibri"/>
              </a:rPr>
              <a:t>an</a:t>
            </a:r>
            <a:r>
              <a:rPr sz="1725" spc="-86" dirty="0">
                <a:latin typeface="Calibri"/>
                <a:cs typeface="Calibri"/>
              </a:rPr>
              <a:t> </a:t>
            </a:r>
            <a:r>
              <a:rPr sz="1725" spc="-8" dirty="0">
                <a:latin typeface="Calibri"/>
                <a:cs typeface="Calibri"/>
              </a:rPr>
              <a:t>Advelisement</a:t>
            </a:r>
            <a:r>
              <a:rPr sz="1725" spc="-4" dirty="0">
                <a:latin typeface="Calibri"/>
                <a:cs typeface="Calibri"/>
              </a:rPr>
              <a:t> </a:t>
            </a:r>
            <a:r>
              <a:rPr sz="1725" spc="-41" dirty="0">
                <a:latin typeface="Calibri"/>
                <a:cs typeface="Calibri"/>
              </a:rPr>
              <a:t>for</a:t>
            </a:r>
            <a:r>
              <a:rPr sz="1725" spc="-34" dirty="0">
                <a:latin typeface="Calibri"/>
                <a:cs typeface="Calibri"/>
              </a:rPr>
              <a:t> </a:t>
            </a:r>
            <a:r>
              <a:rPr sz="1725" spc="-23" dirty="0">
                <a:latin typeface="Calibri"/>
                <a:cs typeface="Calibri"/>
              </a:rPr>
              <a:t>our </a:t>
            </a:r>
            <a:r>
              <a:rPr sz="1725" spc="-8" dirty="0">
                <a:latin typeface="Calibri"/>
                <a:cs typeface="Calibri"/>
              </a:rPr>
              <a:t>Service.</a:t>
            </a:r>
            <a:endParaRPr sz="1725" dirty="0">
              <a:latin typeface="Calibri"/>
              <a:cs typeface="Calibri"/>
            </a:endParaRPr>
          </a:p>
          <a:p>
            <a:pPr marL="469106">
              <a:lnSpc>
                <a:spcPts val="1931"/>
              </a:lnSpc>
              <a:tabLst>
                <a:tab pos="1338739" algn="l"/>
              </a:tabLst>
            </a:pPr>
            <a:r>
              <a:rPr sz="1725" spc="-34" dirty="0">
                <a:solidFill>
                  <a:srgbClr val="A12328"/>
                </a:solidFill>
                <a:latin typeface="Calibri"/>
                <a:cs typeface="Calibri"/>
              </a:rPr>
              <a:t>mcadv</a:t>
            </a:r>
            <a:r>
              <a:rPr sz="1725" spc="8" dirty="0">
                <a:solidFill>
                  <a:srgbClr val="A12328"/>
                </a:solidFill>
                <a:latin typeface="Calibri"/>
                <a:cs typeface="Calibri"/>
              </a:rPr>
              <a:t> </a:t>
            </a:r>
            <a:r>
              <a:rPr sz="1725" spc="-38" dirty="0">
                <a:solidFill>
                  <a:srgbClr val="803431"/>
                </a:solidFill>
                <a:latin typeface="Calibri"/>
                <a:cs typeface="Calibri"/>
              </a:rPr>
              <a:t>=</a:t>
            </a:r>
            <a:r>
              <a:rPr sz="1725" dirty="0">
                <a:solidFill>
                  <a:srgbClr val="803431"/>
                </a:solidFill>
                <a:latin typeface="Calibri"/>
                <a:cs typeface="Calibri"/>
              </a:rPr>
              <a:t>	</a:t>
            </a:r>
            <a:r>
              <a:rPr sz="1725" spc="-64" dirty="0">
                <a:solidFill>
                  <a:srgbClr val="ED6966"/>
                </a:solidFill>
                <a:latin typeface="Calibri"/>
                <a:cs typeface="Calibri"/>
              </a:rPr>
              <a:t>AdvertisementFactory.newAdvertisement(type);</a:t>
            </a:r>
            <a:endParaRPr sz="1725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0709" y="2156519"/>
            <a:ext cx="87064" cy="870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4868" y="2607431"/>
            <a:ext cx="120968" cy="161101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75" spc="-19" dirty="0">
                <a:solidFill>
                  <a:srgbClr val="424242"/>
                </a:solidFill>
                <a:latin typeface="Calibri"/>
                <a:cs typeface="Calibri"/>
              </a:rPr>
              <a:t>3.</a:t>
            </a:r>
            <a:endParaRPr sz="975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8803" y="3016709"/>
            <a:ext cx="89059" cy="274595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725" spc="-38" dirty="0">
                <a:solidFill>
                  <a:srgbClr val="3F3B64"/>
                </a:solidFill>
                <a:latin typeface="Calibri"/>
                <a:cs typeface="Calibri"/>
              </a:rPr>
              <a:t>‹</a:t>
            </a:r>
            <a:endParaRPr sz="1725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7962" y="2016770"/>
            <a:ext cx="5199221" cy="2482828"/>
          </a:xfrm>
          <a:prstGeom prst="rect">
            <a:avLst/>
          </a:prstGeom>
        </p:spPr>
        <p:txBody>
          <a:bodyPr vert="horz" wrap="square" lIns="0" tIns="14764" rIns="0" bIns="0" rtlCol="0">
            <a:spAutoFit/>
          </a:bodyPr>
          <a:lstStyle/>
          <a:p>
            <a:pPr marL="458629" marR="1361123" indent="8096">
              <a:lnSpc>
                <a:spcPct val="97700"/>
              </a:lnSpc>
              <a:spcBef>
                <a:spcPts val="116"/>
              </a:spcBef>
            </a:pPr>
            <a:r>
              <a:rPr sz="1688" dirty="0">
                <a:latin typeface="Calibri"/>
                <a:cs typeface="Calibri"/>
              </a:rPr>
              <a:t>Set</a:t>
            </a:r>
            <a:r>
              <a:rPr sz="1688" spc="-56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the</a:t>
            </a:r>
            <a:r>
              <a:rPr sz="1688" spc="-34" dirty="0">
                <a:latin typeface="Calibri"/>
                <a:cs typeface="Calibri"/>
              </a:rPr>
              <a:t> </a:t>
            </a:r>
            <a:r>
              <a:rPr sz="1688" spc="-38" dirty="0">
                <a:latin typeface="Calibri"/>
                <a:cs typeface="Calibri"/>
              </a:rPr>
              <a:t>name</a:t>
            </a:r>
            <a:r>
              <a:rPr sz="1688" spc="-53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of</a:t>
            </a:r>
            <a:r>
              <a:rPr sz="1688" spc="-60" dirty="0">
                <a:latin typeface="Calibri"/>
                <a:cs typeface="Calibri"/>
              </a:rPr>
              <a:t> </a:t>
            </a:r>
            <a:r>
              <a:rPr sz="1688" spc="-15" dirty="0">
                <a:latin typeface="Calibri"/>
                <a:cs typeface="Calibri"/>
              </a:rPr>
              <a:t>the</a:t>
            </a:r>
            <a:r>
              <a:rPr sz="1688" spc="-34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advelisement. </a:t>
            </a:r>
            <a:r>
              <a:rPr sz="1688" spc="-41" dirty="0">
                <a:solidFill>
                  <a:srgbClr val="913133"/>
                </a:solidFill>
                <a:latin typeface="Calibri"/>
                <a:cs typeface="Calibri"/>
              </a:rPr>
              <a:t>mcadv.setName("JXTAMOD:JXTA-</a:t>
            </a:r>
            <a:r>
              <a:rPr sz="1688" spc="-8" dirty="0">
                <a:solidFill>
                  <a:srgbClr val="913133"/>
                </a:solidFill>
                <a:latin typeface="Calibri"/>
                <a:cs typeface="Calibri"/>
              </a:rPr>
              <a:t>EX1"); </a:t>
            </a:r>
            <a:r>
              <a:rPr sz="1688" dirty="0">
                <a:latin typeface="Calibri"/>
                <a:cs typeface="Calibri"/>
              </a:rPr>
              <a:t>Set</a:t>
            </a:r>
            <a:r>
              <a:rPr sz="1688" spc="-56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a</a:t>
            </a:r>
            <a:r>
              <a:rPr sz="1688" spc="-8" dirty="0">
                <a:latin typeface="Calibri"/>
                <a:cs typeface="Calibri"/>
              </a:rPr>
              <a:t> </a:t>
            </a:r>
            <a:r>
              <a:rPr sz="1688" spc="-49" dirty="0">
                <a:latin typeface="Calibri"/>
                <a:cs typeface="Calibri"/>
              </a:rPr>
              <a:t>description</a:t>
            </a:r>
            <a:r>
              <a:rPr sz="1688" spc="86" dirty="0">
                <a:latin typeface="Calibri"/>
                <a:cs typeface="Calibri"/>
              </a:rPr>
              <a:t> </a:t>
            </a:r>
            <a:r>
              <a:rPr sz="1688" spc="-23" dirty="0">
                <a:latin typeface="Calibri"/>
                <a:cs typeface="Calibri"/>
              </a:rPr>
              <a:t>for</a:t>
            </a:r>
            <a:r>
              <a:rPr sz="1688" dirty="0">
                <a:latin typeface="Calibri"/>
                <a:cs typeface="Calibri"/>
              </a:rPr>
              <a:t> </a:t>
            </a:r>
            <a:r>
              <a:rPr sz="1688" spc="-15" dirty="0">
                <a:latin typeface="Calibri"/>
                <a:cs typeface="Calibri"/>
              </a:rPr>
              <a:t>the</a:t>
            </a:r>
            <a:r>
              <a:rPr sz="1688" spc="-41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advelisement.</a:t>
            </a:r>
            <a:endParaRPr sz="1688" dirty="0">
              <a:latin typeface="Calibri"/>
              <a:cs typeface="Calibri"/>
            </a:endParaRPr>
          </a:p>
          <a:p>
            <a:pPr marL="458153">
              <a:lnSpc>
                <a:spcPts val="1800"/>
              </a:lnSpc>
            </a:pPr>
            <a:r>
              <a:rPr sz="1725" spc="-64" dirty="0">
                <a:solidFill>
                  <a:srgbClr val="912D2D"/>
                </a:solidFill>
                <a:latin typeface="Calibri"/>
                <a:cs typeface="Calibri"/>
              </a:rPr>
              <a:t>mcadv.setDescriptiong‘Example</a:t>
            </a:r>
            <a:r>
              <a:rPr sz="1725" spc="68" dirty="0">
                <a:solidFill>
                  <a:srgbClr val="912D2D"/>
                </a:solidFill>
                <a:latin typeface="Calibri"/>
                <a:cs typeface="Calibri"/>
              </a:rPr>
              <a:t> </a:t>
            </a:r>
            <a:r>
              <a:rPr sz="1725" spc="-8" dirty="0">
                <a:solidFill>
                  <a:srgbClr val="A82A36"/>
                </a:solidFill>
                <a:latin typeface="Calibri"/>
                <a:cs typeface="Calibri"/>
              </a:rPr>
              <a:t>advertisement");</a:t>
            </a:r>
            <a:endParaRPr sz="1725" dirty="0">
              <a:latin typeface="Calibri"/>
              <a:cs typeface="Calibri"/>
            </a:endParaRPr>
          </a:p>
          <a:p>
            <a:pPr marL="458153" marR="1363979" indent="6191">
              <a:lnSpc>
                <a:spcPct val="87300"/>
              </a:lnSpc>
              <a:spcBef>
                <a:spcPts val="356"/>
              </a:spcBef>
            </a:pPr>
            <a:r>
              <a:rPr sz="1725" spc="-45" dirty="0">
                <a:latin typeface="Calibri"/>
                <a:cs typeface="Calibri"/>
              </a:rPr>
              <a:t>Give </a:t>
            </a:r>
            <a:r>
              <a:rPr sz="1725" spc="-38" dirty="0">
                <a:latin typeface="Calibri"/>
                <a:cs typeface="Calibri"/>
              </a:rPr>
              <a:t>the</a:t>
            </a:r>
            <a:r>
              <a:rPr sz="1725" spc="-34" dirty="0">
                <a:latin typeface="Calibri"/>
                <a:cs typeface="Calibri"/>
              </a:rPr>
              <a:t> </a:t>
            </a:r>
            <a:r>
              <a:rPr sz="1725" spc="-68" dirty="0">
                <a:latin typeface="Calibri"/>
                <a:cs typeface="Calibri"/>
              </a:rPr>
              <a:t>advertisement</a:t>
            </a:r>
            <a:r>
              <a:rPr sz="1725" spc="60" dirty="0">
                <a:latin typeface="Calibri"/>
                <a:cs typeface="Calibri"/>
              </a:rPr>
              <a:t> </a:t>
            </a:r>
            <a:r>
              <a:rPr sz="1725" spc="56" dirty="0">
                <a:latin typeface="Calibri"/>
                <a:cs typeface="Calibri"/>
              </a:rPr>
              <a:t>a</a:t>
            </a:r>
            <a:r>
              <a:rPr sz="1725" spc="-98" dirty="0">
                <a:latin typeface="Calibri"/>
                <a:cs typeface="Calibri"/>
              </a:rPr>
              <a:t> </a:t>
            </a:r>
            <a:r>
              <a:rPr sz="1725" spc="-71" dirty="0">
                <a:latin typeface="Calibri"/>
                <a:cs typeface="Calibri"/>
              </a:rPr>
              <a:t>unique</a:t>
            </a:r>
            <a:r>
              <a:rPr sz="1725" spc="-30" dirty="0">
                <a:latin typeface="Calibri"/>
                <a:cs typeface="Calibri"/>
              </a:rPr>
              <a:t> </a:t>
            </a:r>
            <a:r>
              <a:rPr sz="1725" spc="41" dirty="0">
                <a:latin typeface="Calibri"/>
                <a:cs typeface="Calibri"/>
              </a:rPr>
              <a:t>ID. </a:t>
            </a:r>
            <a:r>
              <a:rPr sz="1725" dirty="0">
                <a:solidFill>
                  <a:srgbClr val="BF4649"/>
                </a:solidFill>
                <a:latin typeface="Calibri"/>
                <a:cs typeface="Calibri"/>
              </a:rPr>
              <a:t>mcID</a:t>
            </a:r>
            <a:r>
              <a:rPr sz="1725" spc="113" dirty="0">
                <a:solidFill>
                  <a:srgbClr val="BF4649"/>
                </a:solidFill>
                <a:latin typeface="Calibri"/>
                <a:cs typeface="Calibri"/>
              </a:rPr>
              <a:t> </a:t>
            </a:r>
            <a:r>
              <a:rPr sz="1725" dirty="0">
                <a:solidFill>
                  <a:srgbClr val="803636"/>
                </a:solidFill>
                <a:latin typeface="Calibri"/>
                <a:cs typeface="Calibri"/>
              </a:rPr>
              <a:t>=</a:t>
            </a:r>
            <a:r>
              <a:rPr sz="1725" spc="176" dirty="0">
                <a:solidFill>
                  <a:srgbClr val="803636"/>
                </a:solidFill>
                <a:latin typeface="Calibri"/>
                <a:cs typeface="Calibri"/>
              </a:rPr>
              <a:t> </a:t>
            </a:r>
            <a:r>
              <a:rPr sz="1725" spc="-45" dirty="0">
                <a:solidFill>
                  <a:srgbClr val="951813"/>
                </a:solidFill>
                <a:latin typeface="Calibri"/>
                <a:cs typeface="Calibri"/>
              </a:rPr>
              <a:t>IDFactory.newModuleCIassID(); </a:t>
            </a:r>
            <a:r>
              <a:rPr sz="1725" spc="-26" dirty="0">
                <a:solidFill>
                  <a:srgbClr val="8C2A2D"/>
                </a:solidFill>
                <a:latin typeface="Calibri"/>
                <a:cs typeface="Calibri"/>
              </a:rPr>
              <a:t>mcadv.setModuIeCIassID(mcID);</a:t>
            </a:r>
            <a:endParaRPr sz="1725" dirty="0">
              <a:latin typeface="Calibri"/>
              <a:cs typeface="Calibri"/>
            </a:endParaRPr>
          </a:p>
          <a:p>
            <a:pPr marL="458629" marR="3810" indent="-449580">
              <a:lnSpc>
                <a:spcPct val="94900"/>
              </a:lnSpc>
              <a:spcBef>
                <a:spcPts val="338"/>
              </a:spcBef>
              <a:tabLst>
                <a:tab pos="464344" algn="l"/>
              </a:tabLst>
            </a:pPr>
            <a:r>
              <a:rPr sz="1575" spc="-19" dirty="0">
                <a:solidFill>
                  <a:srgbClr val="464646"/>
                </a:solidFill>
                <a:latin typeface="Calibri"/>
                <a:cs typeface="Calibri"/>
              </a:rPr>
              <a:t>t.</a:t>
            </a:r>
            <a:r>
              <a:rPr sz="1575" dirty="0">
                <a:solidFill>
                  <a:srgbClr val="464646"/>
                </a:solidFill>
                <a:latin typeface="Calibri"/>
                <a:cs typeface="Calibri"/>
              </a:rPr>
              <a:t>		</a:t>
            </a:r>
            <a:r>
              <a:rPr sz="1575" dirty="0">
                <a:latin typeface="Calibri"/>
                <a:cs typeface="Calibri"/>
              </a:rPr>
              <a:t>Publish</a:t>
            </a:r>
            <a:r>
              <a:rPr sz="1575" spc="94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the</a:t>
            </a:r>
            <a:r>
              <a:rPr sz="1575" spc="34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new</a:t>
            </a:r>
            <a:r>
              <a:rPr sz="1575" spc="30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Advertisement</a:t>
            </a:r>
            <a:r>
              <a:rPr sz="1575" spc="153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in</a:t>
            </a:r>
            <a:r>
              <a:rPr sz="1575" spc="30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our</a:t>
            </a:r>
            <a:r>
              <a:rPr sz="1575" spc="86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Discovery</a:t>
            </a:r>
            <a:r>
              <a:rPr sz="1575" spc="180" dirty="0">
                <a:latin typeface="Calibri"/>
                <a:cs typeface="Calibri"/>
              </a:rPr>
              <a:t> </a:t>
            </a:r>
            <a:r>
              <a:rPr sz="1575" spc="-8" dirty="0">
                <a:latin typeface="Calibri"/>
                <a:cs typeface="Calibri"/>
              </a:rPr>
              <a:t>Service. </a:t>
            </a:r>
            <a:r>
              <a:rPr sz="1575" dirty="0">
                <a:solidFill>
                  <a:srgbClr val="A83838"/>
                </a:solidFill>
                <a:latin typeface="Calibri"/>
                <a:cs typeface="Calibri"/>
              </a:rPr>
              <a:t>disco.publish(mcadv,</a:t>
            </a:r>
            <a:r>
              <a:rPr sz="1575" spc="188" dirty="0">
                <a:solidFill>
                  <a:srgbClr val="A83838"/>
                </a:solidFill>
                <a:latin typeface="Calibri"/>
                <a:cs typeface="Calibri"/>
              </a:rPr>
              <a:t> </a:t>
            </a:r>
            <a:r>
              <a:rPr sz="1575" spc="-8" dirty="0">
                <a:solidFill>
                  <a:srgbClr val="A5262D"/>
                </a:solidFill>
                <a:latin typeface="Calibri"/>
                <a:cs typeface="Calibri"/>
              </a:rPr>
              <a:t>DiscoveryService.ADV); </a:t>
            </a:r>
            <a:r>
              <a:rPr sz="1575" dirty="0">
                <a:solidFill>
                  <a:srgbClr val="A32B2D"/>
                </a:solidFill>
                <a:latin typeface="Calibri"/>
                <a:cs typeface="Calibri"/>
              </a:rPr>
              <a:t>disco.remotePubIish(mcadv,</a:t>
            </a:r>
            <a:r>
              <a:rPr sz="1575" spc="304" dirty="0">
                <a:solidFill>
                  <a:srgbClr val="A32B2D"/>
                </a:solidFill>
                <a:latin typeface="Calibri"/>
                <a:cs typeface="Calibri"/>
              </a:rPr>
              <a:t> </a:t>
            </a:r>
            <a:r>
              <a:rPr sz="1575" spc="-8" dirty="0">
                <a:solidFill>
                  <a:srgbClr val="B3282B"/>
                </a:solidFill>
                <a:latin typeface="Calibri"/>
                <a:cs typeface="Calibri"/>
              </a:rPr>
              <a:t>DiscoveryService.ADV);</a:t>
            </a:r>
            <a:endParaRPr sz="1575" dirty="0">
              <a:latin typeface="Calibri"/>
              <a:cs typeface="Calibri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1EC47C-534D-5D27-0291-269CEEC541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323951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20278" y="-17340"/>
            <a:ext cx="7353701" cy="586539"/>
          </a:xfrm>
          <a:prstGeom prst="rect">
            <a:avLst/>
          </a:prstGeom>
        </p:spPr>
        <p:txBody>
          <a:bodyPr vert="horz" wrap="square" lIns="0" tIns="7286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718" marR="3810" indent="-1429">
              <a:lnSpc>
                <a:spcPts val="3953"/>
              </a:lnSpc>
              <a:spcBef>
                <a:spcPts val="574"/>
              </a:spcBef>
            </a:pPr>
            <a:r>
              <a:rPr sz="3638" spc="-214" dirty="0">
                <a:solidFill>
                  <a:srgbClr val="383495"/>
                </a:solidFill>
                <a:latin typeface="Arial"/>
                <a:cs typeface="Arial"/>
              </a:rPr>
              <a:t>Buiiding</a:t>
            </a:r>
            <a:r>
              <a:rPr sz="3638" spc="191" dirty="0">
                <a:solidFill>
                  <a:srgbClr val="383495"/>
                </a:solidFill>
                <a:latin typeface="Arial"/>
                <a:cs typeface="Arial"/>
              </a:rPr>
              <a:t> </a:t>
            </a:r>
            <a:r>
              <a:rPr sz="3638" spc="-195" dirty="0">
                <a:solidFill>
                  <a:srgbClr val="383491"/>
                </a:solidFill>
                <a:latin typeface="Arial"/>
                <a:cs typeface="Arial"/>
              </a:rPr>
              <a:t>our</a:t>
            </a:r>
            <a:r>
              <a:rPr sz="3638" spc="139" dirty="0">
                <a:solidFill>
                  <a:srgbClr val="383491"/>
                </a:solidFill>
                <a:latin typeface="Arial"/>
                <a:cs typeface="Arial"/>
              </a:rPr>
              <a:t> </a:t>
            </a:r>
            <a:r>
              <a:rPr sz="3638" spc="-289" dirty="0">
                <a:solidFill>
                  <a:srgbClr val="383D8E"/>
                </a:solidFill>
                <a:latin typeface="Arial"/>
                <a:cs typeface="Arial"/>
              </a:rPr>
              <a:t>Service </a:t>
            </a:r>
            <a:r>
              <a:rPr sz="3638" spc="-248" dirty="0">
                <a:solidFill>
                  <a:srgbClr val="363391"/>
                </a:solidFill>
                <a:latin typeface="Arial"/>
                <a:cs typeface="Arial"/>
              </a:rPr>
              <a:t>Advertisement</a:t>
            </a:r>
            <a:endParaRPr sz="3638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3908" y="1596144"/>
            <a:ext cx="110490" cy="161101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75" spc="-19" dirty="0">
                <a:solidFill>
                  <a:srgbClr val="414141"/>
                </a:solidFill>
                <a:latin typeface="Calibri"/>
                <a:cs typeface="Calibri"/>
              </a:rPr>
              <a:t>1.</a:t>
            </a:r>
            <a:endParaRPr sz="975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0890" y="2098439"/>
            <a:ext cx="114300" cy="161101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75" spc="-19" dirty="0">
                <a:solidFill>
                  <a:srgbClr val="444444"/>
                </a:solidFill>
                <a:latin typeface="Calibri"/>
                <a:cs typeface="Calibri"/>
              </a:rPr>
              <a:t>2.</a:t>
            </a:r>
            <a:endParaRPr sz="975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4868" y="2607431"/>
            <a:ext cx="120968" cy="161101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75" spc="-19" dirty="0">
                <a:solidFill>
                  <a:srgbClr val="464646"/>
                </a:solidFill>
                <a:latin typeface="Calibri"/>
                <a:cs typeface="Calibri"/>
              </a:rPr>
              <a:t>3.</a:t>
            </a:r>
            <a:endParaRPr sz="975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3788" y="1525079"/>
            <a:ext cx="4877276" cy="2021483"/>
          </a:xfrm>
          <a:prstGeom prst="rect">
            <a:avLst/>
          </a:prstGeom>
        </p:spPr>
        <p:txBody>
          <a:bodyPr vert="horz" wrap="square" lIns="0" tIns="5239" rIns="0" bIns="0" rtlCol="0">
            <a:spAutoFit/>
          </a:bodyPr>
          <a:lstStyle/>
          <a:p>
            <a:pPr marL="10478" marR="3810" indent="-1429">
              <a:lnSpc>
                <a:spcPct val="101699"/>
              </a:lnSpc>
              <a:spcBef>
                <a:spcPts val="41"/>
              </a:spcBef>
            </a:pPr>
            <a:r>
              <a:rPr sz="1575" dirty="0">
                <a:latin typeface="Calibri"/>
                <a:cs typeface="Calibri"/>
              </a:rPr>
              <a:t>Create</a:t>
            </a:r>
            <a:r>
              <a:rPr sz="1575" spc="109" dirty="0">
                <a:latin typeface="Calibri"/>
                <a:cs typeface="Calibri"/>
              </a:rPr>
              <a:t> </a:t>
            </a:r>
            <a:r>
              <a:rPr sz="1575" spc="53" dirty="0">
                <a:latin typeface="Calibri"/>
                <a:cs typeface="Calibri"/>
              </a:rPr>
              <a:t>an</a:t>
            </a:r>
            <a:r>
              <a:rPr sz="1575" spc="45" dirty="0">
                <a:latin typeface="Calibri"/>
                <a:cs typeface="Calibri"/>
              </a:rPr>
              <a:t> Advelisement</a:t>
            </a:r>
            <a:r>
              <a:rPr sz="1575" spc="165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for</a:t>
            </a:r>
            <a:r>
              <a:rPr sz="1575" spc="101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the</a:t>
            </a:r>
            <a:r>
              <a:rPr sz="1575" spc="116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Service</a:t>
            </a:r>
            <a:r>
              <a:rPr sz="1575" spc="143" dirty="0">
                <a:latin typeface="Calibri"/>
                <a:cs typeface="Calibri"/>
              </a:rPr>
              <a:t> </a:t>
            </a:r>
            <a:r>
              <a:rPr sz="1575" spc="45" dirty="0">
                <a:latin typeface="Calibri"/>
                <a:cs typeface="Calibri"/>
              </a:rPr>
              <a:t>(just</a:t>
            </a:r>
            <a:r>
              <a:rPr sz="1575" spc="83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like</a:t>
            </a:r>
            <a:r>
              <a:rPr sz="1575" spc="127" dirty="0">
                <a:latin typeface="Calibri"/>
                <a:cs typeface="Calibri"/>
              </a:rPr>
              <a:t> </a:t>
            </a:r>
            <a:r>
              <a:rPr sz="1575" spc="-8" dirty="0">
                <a:latin typeface="Calibri"/>
                <a:cs typeface="Calibri"/>
              </a:rPr>
              <a:t>before). </a:t>
            </a:r>
            <a:r>
              <a:rPr sz="1575" dirty="0">
                <a:solidFill>
                  <a:srgbClr val="8C2D33"/>
                </a:solidFill>
                <a:latin typeface="Calibri"/>
                <a:cs typeface="Calibri"/>
              </a:rPr>
              <a:t>mdadv</a:t>
            </a:r>
            <a:r>
              <a:rPr sz="1575" spc="259" dirty="0">
                <a:solidFill>
                  <a:srgbClr val="8C2D33"/>
                </a:solidFill>
                <a:latin typeface="Calibri"/>
                <a:cs typeface="Calibri"/>
              </a:rPr>
              <a:t> </a:t>
            </a:r>
            <a:r>
              <a:rPr sz="1575" dirty="0">
                <a:solidFill>
                  <a:srgbClr val="BC6E72"/>
                </a:solidFill>
                <a:latin typeface="Calibri"/>
                <a:cs typeface="Calibri"/>
              </a:rPr>
              <a:t>=</a:t>
            </a:r>
            <a:r>
              <a:rPr sz="1575" spc="311" dirty="0">
                <a:solidFill>
                  <a:srgbClr val="BC6E72"/>
                </a:solidFill>
                <a:latin typeface="Calibri"/>
                <a:cs typeface="Calibri"/>
              </a:rPr>
              <a:t> </a:t>
            </a:r>
            <a:r>
              <a:rPr sz="1575" spc="-8" dirty="0">
                <a:solidFill>
                  <a:srgbClr val="9E2A2D"/>
                </a:solidFill>
                <a:latin typeface="Calibri"/>
                <a:cs typeface="Calibri"/>
              </a:rPr>
              <a:t>AdvertisementFactory.nevvAdvertisement(type); </a:t>
            </a:r>
            <a:r>
              <a:rPr sz="1688" dirty="0">
                <a:latin typeface="Calibri"/>
                <a:cs typeface="Calibri"/>
              </a:rPr>
              <a:t>Set</a:t>
            </a:r>
            <a:r>
              <a:rPr sz="1688" spc="-38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the</a:t>
            </a:r>
            <a:r>
              <a:rPr sz="1688" spc="-45" dirty="0">
                <a:latin typeface="Calibri"/>
                <a:cs typeface="Calibri"/>
              </a:rPr>
              <a:t> </a:t>
            </a:r>
            <a:r>
              <a:rPr sz="1688" spc="-19" dirty="0">
                <a:latin typeface="Calibri"/>
                <a:cs typeface="Calibri"/>
              </a:rPr>
              <a:t>name</a:t>
            </a:r>
            <a:r>
              <a:rPr sz="1688" spc="-23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of</a:t>
            </a:r>
            <a:r>
              <a:rPr sz="1688" spc="-71" dirty="0">
                <a:latin typeface="Calibri"/>
                <a:cs typeface="Calibri"/>
              </a:rPr>
              <a:t> </a:t>
            </a:r>
            <a:r>
              <a:rPr sz="1688" spc="-15" dirty="0">
                <a:latin typeface="Calibri"/>
                <a:cs typeface="Calibri"/>
              </a:rPr>
              <a:t>the</a:t>
            </a:r>
            <a:r>
              <a:rPr sz="1688" spc="-53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Advelisement</a:t>
            </a:r>
            <a:r>
              <a:rPr sz="1688" spc="64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(just</a:t>
            </a:r>
            <a:r>
              <a:rPr sz="1688" spc="-49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like</a:t>
            </a:r>
            <a:r>
              <a:rPr sz="1688" spc="-34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before).</a:t>
            </a:r>
            <a:endParaRPr sz="1688">
              <a:latin typeface="Calibri"/>
              <a:cs typeface="Calibri"/>
            </a:endParaRPr>
          </a:p>
          <a:p>
            <a:pPr marL="9525">
              <a:lnSpc>
                <a:spcPts val="1793"/>
              </a:lnSpc>
            </a:pPr>
            <a:r>
              <a:rPr sz="1688" spc="-34" dirty="0">
                <a:solidFill>
                  <a:srgbClr val="8A2F34"/>
                </a:solidFill>
                <a:latin typeface="Calibri"/>
                <a:cs typeface="Calibri"/>
              </a:rPr>
              <a:t>mdadv.setName("JXTASPEC:JXTA-</a:t>
            </a:r>
            <a:r>
              <a:rPr sz="1688" spc="-8" dirty="0">
                <a:solidFill>
                  <a:srgbClr val="8A2F34"/>
                </a:solidFill>
                <a:latin typeface="Calibri"/>
                <a:cs typeface="Calibri"/>
              </a:rPr>
              <a:t>EX1");</a:t>
            </a:r>
            <a:endParaRPr sz="1688">
              <a:latin typeface="Calibri"/>
              <a:cs typeface="Calibri"/>
            </a:endParaRPr>
          </a:p>
          <a:p>
            <a:pPr marL="9525" marR="286703" indent="1429">
              <a:lnSpc>
                <a:spcPts val="1793"/>
              </a:lnSpc>
              <a:spcBef>
                <a:spcPts val="416"/>
              </a:spcBef>
            </a:pPr>
            <a:r>
              <a:rPr sz="1688" dirty="0">
                <a:latin typeface="Calibri"/>
                <a:cs typeface="Calibri"/>
              </a:rPr>
              <a:t>Set</a:t>
            </a:r>
            <a:r>
              <a:rPr sz="1688" spc="-45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a</a:t>
            </a:r>
            <a:r>
              <a:rPr sz="1688" spc="-41" dirty="0">
                <a:latin typeface="Calibri"/>
                <a:cs typeface="Calibri"/>
              </a:rPr>
              <a:t> </a:t>
            </a:r>
            <a:r>
              <a:rPr sz="1688" spc="-34" dirty="0">
                <a:latin typeface="Calibri"/>
                <a:cs typeface="Calibri"/>
              </a:rPr>
              <a:t>version</a:t>
            </a:r>
            <a:r>
              <a:rPr sz="1688" spc="26" dirty="0">
                <a:latin typeface="Calibri"/>
                <a:cs typeface="Calibri"/>
              </a:rPr>
              <a:t> </a:t>
            </a:r>
            <a:r>
              <a:rPr sz="1688" spc="-23" dirty="0">
                <a:latin typeface="Calibri"/>
                <a:cs typeface="Calibri"/>
              </a:rPr>
              <a:t>for </a:t>
            </a:r>
            <a:r>
              <a:rPr sz="1688" dirty="0">
                <a:latin typeface="Calibri"/>
                <a:cs typeface="Calibri"/>
              </a:rPr>
              <a:t>the</a:t>
            </a:r>
            <a:r>
              <a:rPr sz="1688" spc="-19" dirty="0">
                <a:latin typeface="Calibri"/>
                <a:cs typeface="Calibri"/>
              </a:rPr>
              <a:t> </a:t>
            </a:r>
            <a:r>
              <a:rPr sz="1688" spc="-60" dirty="0">
                <a:latin typeface="Calibri"/>
                <a:cs typeface="Calibri"/>
              </a:rPr>
              <a:t>Advertisement</a:t>
            </a:r>
            <a:r>
              <a:rPr sz="1688" spc="-4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(many</a:t>
            </a:r>
            <a:r>
              <a:rPr sz="1688" spc="-26" dirty="0">
                <a:latin typeface="Calibri"/>
                <a:cs typeface="Calibri"/>
              </a:rPr>
              <a:t> </a:t>
            </a:r>
            <a:r>
              <a:rPr sz="1688" spc="-34" dirty="0">
                <a:latin typeface="Calibri"/>
                <a:cs typeface="Calibri"/>
              </a:rPr>
              <a:t>properties). </a:t>
            </a:r>
            <a:r>
              <a:rPr sz="1688" spc="-49" dirty="0">
                <a:solidFill>
                  <a:srgbClr val="8E2A28"/>
                </a:solidFill>
                <a:latin typeface="Calibri"/>
                <a:cs typeface="Calibri"/>
              </a:rPr>
              <a:t>mdadv.setVersion</a:t>
            </a:r>
            <a:r>
              <a:rPr sz="1688" spc="139" dirty="0">
                <a:solidFill>
                  <a:srgbClr val="8E2A28"/>
                </a:solidFill>
                <a:latin typeface="Calibri"/>
                <a:cs typeface="Calibri"/>
              </a:rPr>
              <a:t> </a:t>
            </a:r>
            <a:r>
              <a:rPr sz="1688" spc="-49" dirty="0">
                <a:solidFill>
                  <a:srgbClr val="8E2A28"/>
                </a:solidFill>
                <a:latin typeface="Calibri"/>
                <a:cs typeface="Calibri"/>
              </a:rPr>
              <a:t>‘Version</a:t>
            </a:r>
            <a:r>
              <a:rPr sz="1688" spc="38" dirty="0">
                <a:solidFill>
                  <a:srgbClr val="8E2A28"/>
                </a:solidFill>
                <a:latin typeface="Calibri"/>
                <a:cs typeface="Calibri"/>
              </a:rPr>
              <a:t> </a:t>
            </a:r>
            <a:r>
              <a:rPr sz="1688" spc="-8" dirty="0">
                <a:solidFill>
                  <a:srgbClr val="B12823"/>
                </a:solidFill>
                <a:latin typeface="Calibri"/>
                <a:cs typeface="Calibri"/>
              </a:rPr>
              <a:t>1.0”);</a:t>
            </a:r>
            <a:endParaRPr sz="1688">
              <a:latin typeface="Calibri"/>
              <a:cs typeface="Calibri"/>
            </a:endParaRPr>
          </a:p>
          <a:p>
            <a:pPr marL="9525" marR="40481" indent="-476">
              <a:lnSpc>
                <a:spcPts val="1793"/>
              </a:lnSpc>
              <a:spcBef>
                <a:spcPts val="371"/>
              </a:spcBef>
            </a:pPr>
            <a:r>
              <a:rPr sz="1688" spc="-8" dirty="0">
                <a:latin typeface="Calibri"/>
                <a:cs typeface="Calibri"/>
              </a:rPr>
              <a:t>Give</a:t>
            </a:r>
            <a:r>
              <a:rPr sz="1688" spc="-11" dirty="0">
                <a:latin typeface="Calibri"/>
                <a:cs typeface="Calibri"/>
              </a:rPr>
              <a:t> </a:t>
            </a:r>
            <a:r>
              <a:rPr sz="1688" spc="-23" dirty="0">
                <a:latin typeface="Calibri"/>
                <a:cs typeface="Calibri"/>
              </a:rPr>
              <a:t>the</a:t>
            </a:r>
            <a:r>
              <a:rPr sz="1688" dirty="0">
                <a:latin typeface="Calibri"/>
                <a:cs typeface="Calibri"/>
              </a:rPr>
              <a:t> </a:t>
            </a:r>
            <a:r>
              <a:rPr sz="1688" spc="-56" dirty="0">
                <a:latin typeface="Calibri"/>
                <a:cs typeface="Calibri"/>
              </a:rPr>
              <a:t>Advertisement</a:t>
            </a:r>
            <a:r>
              <a:rPr sz="1688" spc="23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a</a:t>
            </a:r>
            <a:r>
              <a:rPr sz="1688" spc="-30" dirty="0">
                <a:latin typeface="Calibri"/>
                <a:cs typeface="Calibri"/>
              </a:rPr>
              <a:t> </a:t>
            </a:r>
            <a:r>
              <a:rPr sz="1688" spc="-53" dirty="0">
                <a:latin typeface="Calibri"/>
                <a:cs typeface="Calibri"/>
              </a:rPr>
              <a:t>unique</a:t>
            </a:r>
            <a:r>
              <a:rPr sz="1688" spc="-23" dirty="0">
                <a:latin typeface="Calibri"/>
                <a:cs typeface="Calibri"/>
              </a:rPr>
              <a:t> </a:t>
            </a:r>
            <a:r>
              <a:rPr sz="1688" spc="34" dirty="0">
                <a:latin typeface="Calibri"/>
                <a:cs typeface="Calibri"/>
              </a:rPr>
              <a:t>ID. </a:t>
            </a:r>
            <a:r>
              <a:rPr sz="1688" spc="-41" dirty="0">
                <a:solidFill>
                  <a:srgbClr val="903634"/>
                </a:solidFill>
                <a:latin typeface="Calibri"/>
                <a:cs typeface="Calibri"/>
              </a:rPr>
              <a:t>mdadv.setModuleSpecID(IDFactory.newModuleSpecID());</a:t>
            </a:r>
            <a:endParaRPr sz="1688">
              <a:latin typeface="Calibri"/>
              <a:cs typeface="Calibri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C68DC28-43A4-912F-0709-5D88BD684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297162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97280" y="6785"/>
            <a:ext cx="8046720" cy="538289"/>
          </a:xfrm>
          <a:prstGeom prst="rect">
            <a:avLst/>
          </a:prstGeom>
        </p:spPr>
        <p:txBody>
          <a:bodyPr vert="horz" wrap="square" lIns="0" tIns="123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241">
              <a:lnSpc>
                <a:spcPts val="4114"/>
              </a:lnSpc>
              <a:spcBef>
                <a:spcPts val="98"/>
              </a:spcBef>
            </a:pPr>
            <a:r>
              <a:rPr spc="-214" dirty="0">
                <a:solidFill>
                  <a:srgbClr val="332D91"/>
                </a:solidFill>
                <a:latin typeface="Arial"/>
                <a:cs typeface="Arial"/>
              </a:rPr>
              <a:t>Buiiding</a:t>
            </a:r>
            <a:r>
              <a:rPr spc="158" dirty="0">
                <a:solidFill>
                  <a:srgbClr val="332D91"/>
                </a:solidFill>
                <a:latin typeface="Arial"/>
                <a:cs typeface="Arial"/>
              </a:rPr>
              <a:t> </a:t>
            </a:r>
            <a:r>
              <a:rPr spc="-71" dirty="0">
                <a:solidFill>
                  <a:srgbClr val="342F8C"/>
                </a:solidFill>
                <a:latin typeface="Arial"/>
                <a:cs typeface="Arial"/>
              </a:rPr>
              <a:t>our</a:t>
            </a:r>
            <a:r>
              <a:rPr spc="8" dirty="0">
                <a:solidFill>
                  <a:srgbClr val="342F8C"/>
                </a:solidFill>
                <a:latin typeface="Arial"/>
                <a:cs typeface="Arial"/>
              </a:rPr>
              <a:t> </a:t>
            </a:r>
            <a:r>
              <a:rPr spc="-270" dirty="0">
                <a:solidFill>
                  <a:srgbClr val="383489"/>
                </a:solidFill>
                <a:latin typeface="Arial"/>
                <a:cs typeface="Arial"/>
              </a:rPr>
              <a:t>Service</a:t>
            </a:r>
            <a:r>
              <a:rPr lang="en-US" spc="-270" dirty="0">
                <a:solidFill>
                  <a:srgbClr val="383489"/>
                </a:solidFill>
                <a:latin typeface="Arial"/>
                <a:cs typeface="Arial"/>
              </a:rPr>
              <a:t> </a:t>
            </a:r>
            <a:r>
              <a:rPr sz="3675" spc="-259" dirty="0">
                <a:solidFill>
                  <a:srgbClr val="3B3497"/>
                </a:solidFill>
                <a:latin typeface="Arial"/>
                <a:cs typeface="Arial"/>
              </a:rPr>
              <a:t>Advertisement</a:t>
            </a:r>
            <a:r>
              <a:rPr sz="3675" spc="566" dirty="0">
                <a:solidFill>
                  <a:srgbClr val="3B3497"/>
                </a:solidFill>
                <a:latin typeface="Arial"/>
                <a:cs typeface="Arial"/>
              </a:rPr>
              <a:t> </a:t>
            </a:r>
            <a:r>
              <a:rPr sz="3675" spc="-19" dirty="0">
                <a:solidFill>
                  <a:srgbClr val="383689"/>
                </a:solidFill>
                <a:latin typeface="Arial"/>
                <a:cs typeface="Arial"/>
              </a:rPr>
              <a:t>(2)</a:t>
            </a:r>
            <a:endParaRPr sz="367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1016" y="1576052"/>
            <a:ext cx="113348" cy="161101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75" spc="-19" dirty="0">
                <a:solidFill>
                  <a:srgbClr val="484848"/>
                </a:solidFill>
                <a:latin typeface="Arial"/>
                <a:cs typeface="Arial"/>
              </a:rPr>
              <a:t>1.</a:t>
            </a:r>
            <a:endParaRPr sz="97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4190" y="2234431"/>
            <a:ext cx="102870" cy="166936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013" spc="-79" dirty="0">
                <a:solidFill>
                  <a:srgbClr val="4B4B4B"/>
                </a:solidFill>
                <a:latin typeface="Arial"/>
                <a:cs typeface="Arial"/>
              </a:rPr>
              <a:t>2.</a:t>
            </a:r>
            <a:endParaRPr sz="101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5714" y="3721225"/>
            <a:ext cx="120015" cy="166936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013" spc="-19" dirty="0">
                <a:solidFill>
                  <a:srgbClr val="464646"/>
                </a:solidFill>
                <a:latin typeface="Arial"/>
                <a:cs typeface="Arial"/>
              </a:rPr>
              <a:t>3.</a:t>
            </a:r>
            <a:endParaRPr sz="101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2948" y="1506289"/>
            <a:ext cx="5047298" cy="2843118"/>
          </a:xfrm>
          <a:prstGeom prst="rect">
            <a:avLst/>
          </a:prstGeom>
        </p:spPr>
        <p:txBody>
          <a:bodyPr vert="horz" wrap="square" lIns="0" tIns="40481" rIns="0" bIns="0" rtlCol="0">
            <a:spAutoFit/>
          </a:bodyPr>
          <a:lstStyle/>
          <a:p>
            <a:pPr marL="28575" marR="22860" indent="1429">
              <a:lnSpc>
                <a:spcPct val="86800"/>
              </a:lnSpc>
              <a:spcBef>
                <a:spcPts val="319"/>
              </a:spcBef>
            </a:pPr>
            <a:r>
              <a:rPr sz="1538" spc="-41" dirty="0">
                <a:latin typeface="Arial"/>
                <a:cs typeface="Arial"/>
              </a:rPr>
              <a:t>Create</a:t>
            </a:r>
            <a:r>
              <a:rPr sz="1538" spc="-30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a</a:t>
            </a:r>
            <a:r>
              <a:rPr sz="1538" spc="-8" dirty="0">
                <a:latin typeface="Arial"/>
                <a:cs typeface="Arial"/>
              </a:rPr>
              <a:t> </a:t>
            </a:r>
            <a:r>
              <a:rPr sz="1538" spc="-45" dirty="0">
                <a:latin typeface="Arial"/>
                <a:cs typeface="Arial"/>
              </a:rPr>
              <a:t>Pipe</a:t>
            </a:r>
            <a:r>
              <a:rPr sz="1538" spc="4" dirty="0">
                <a:latin typeface="Arial"/>
                <a:cs typeface="Arial"/>
              </a:rPr>
              <a:t> </a:t>
            </a:r>
            <a:r>
              <a:rPr sz="1538" spc="-30" dirty="0">
                <a:latin typeface="Arial"/>
                <a:cs typeface="Arial"/>
              </a:rPr>
              <a:t>Advertisement</a:t>
            </a:r>
            <a:r>
              <a:rPr sz="1538" spc="60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for</a:t>
            </a:r>
            <a:r>
              <a:rPr sz="1538" spc="-41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the</a:t>
            </a:r>
            <a:r>
              <a:rPr sz="1538" spc="-90" dirty="0">
                <a:latin typeface="Arial"/>
                <a:cs typeface="Arial"/>
              </a:rPr>
              <a:t> </a:t>
            </a:r>
            <a:r>
              <a:rPr sz="1538" spc="-41" dirty="0">
                <a:latin typeface="Arial"/>
                <a:cs typeface="Arial"/>
              </a:rPr>
              <a:t>Service</a:t>
            </a:r>
            <a:r>
              <a:rPr sz="1538" spc="-15" dirty="0">
                <a:latin typeface="Arial"/>
                <a:cs typeface="Arial"/>
              </a:rPr>
              <a:t> </a:t>
            </a:r>
            <a:r>
              <a:rPr sz="1538" spc="-23" dirty="0">
                <a:latin typeface="Arial"/>
                <a:cs typeface="Arial"/>
              </a:rPr>
              <a:t>Advertisement. </a:t>
            </a:r>
            <a:r>
              <a:rPr sz="1575" spc="-34" dirty="0">
                <a:latin typeface="Arial"/>
                <a:cs typeface="Arial"/>
              </a:rPr>
              <a:t>The</a:t>
            </a:r>
            <a:r>
              <a:rPr sz="1575" spc="-68" dirty="0">
                <a:latin typeface="Arial"/>
                <a:cs typeface="Arial"/>
              </a:rPr>
              <a:t> </a:t>
            </a:r>
            <a:r>
              <a:rPr sz="1575" spc="-53" dirty="0">
                <a:latin typeface="Arial"/>
                <a:cs typeface="Arial"/>
              </a:rPr>
              <a:t>steps</a:t>
            </a:r>
            <a:r>
              <a:rPr sz="1575" spc="-4" dirty="0">
                <a:latin typeface="Arial"/>
                <a:cs typeface="Arial"/>
              </a:rPr>
              <a:t> </a:t>
            </a:r>
            <a:r>
              <a:rPr sz="1575" spc="-30" dirty="0">
                <a:latin typeface="Arial"/>
                <a:cs typeface="Arial"/>
              </a:rPr>
              <a:t>are</a:t>
            </a:r>
            <a:r>
              <a:rPr sz="1575" spc="-79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the</a:t>
            </a:r>
            <a:r>
              <a:rPr sz="1575" spc="-56" dirty="0">
                <a:latin typeface="Arial"/>
                <a:cs typeface="Arial"/>
              </a:rPr>
              <a:t> </a:t>
            </a:r>
            <a:r>
              <a:rPr sz="1575" spc="-83" dirty="0">
                <a:latin typeface="Arial"/>
                <a:cs typeface="Arial"/>
              </a:rPr>
              <a:t>same</a:t>
            </a:r>
            <a:r>
              <a:rPr sz="1575" spc="-26" dirty="0">
                <a:latin typeface="Arial"/>
                <a:cs typeface="Arial"/>
              </a:rPr>
              <a:t> </a:t>
            </a:r>
            <a:r>
              <a:rPr sz="1575" spc="-68" dirty="0">
                <a:latin typeface="Arial"/>
                <a:cs typeface="Arial"/>
              </a:rPr>
              <a:t>as</a:t>
            </a:r>
            <a:r>
              <a:rPr sz="1575" spc="-45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the</a:t>
            </a:r>
            <a:r>
              <a:rPr sz="1575" spc="-60" dirty="0">
                <a:latin typeface="Arial"/>
                <a:cs typeface="Arial"/>
              </a:rPr>
              <a:t> </a:t>
            </a:r>
            <a:r>
              <a:rPr sz="1575" spc="-41" dirty="0">
                <a:latin typeface="Arial"/>
                <a:cs typeface="Arial"/>
              </a:rPr>
              <a:t>previous</a:t>
            </a:r>
            <a:r>
              <a:rPr sz="1575" spc="41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two</a:t>
            </a:r>
            <a:r>
              <a:rPr sz="1575" spc="8" dirty="0">
                <a:latin typeface="Arial"/>
                <a:cs typeface="Arial"/>
              </a:rPr>
              <a:t> </a:t>
            </a:r>
            <a:r>
              <a:rPr sz="1575" spc="-8" dirty="0">
                <a:latin typeface="Arial"/>
                <a:cs typeface="Arial"/>
              </a:rPr>
              <a:t>advertisement </a:t>
            </a:r>
            <a:r>
              <a:rPr sz="1538" spc="-15" dirty="0">
                <a:latin typeface="Arial"/>
                <a:cs typeface="Arial"/>
              </a:rPr>
              <a:t>types</a:t>
            </a:r>
            <a:r>
              <a:rPr sz="1538" spc="-83" dirty="0">
                <a:latin typeface="Arial"/>
                <a:cs typeface="Arial"/>
              </a:rPr>
              <a:t> </a:t>
            </a:r>
            <a:r>
              <a:rPr sz="1538" spc="-8" dirty="0">
                <a:latin typeface="Arial"/>
                <a:cs typeface="Arial"/>
              </a:rPr>
              <a:t>shown.</a:t>
            </a:r>
            <a:endParaRPr sz="1538">
              <a:latin typeface="Arial"/>
              <a:cs typeface="Arial"/>
            </a:endParaRPr>
          </a:p>
          <a:p>
            <a:pPr marL="30480" marR="36195">
              <a:lnSpc>
                <a:spcPct val="88100"/>
              </a:lnSpc>
              <a:spcBef>
                <a:spcPts val="353"/>
              </a:spcBef>
            </a:pPr>
            <a:r>
              <a:rPr sz="1538" spc="-30" dirty="0">
                <a:latin typeface="Arial"/>
                <a:cs typeface="Arial"/>
              </a:rPr>
              <a:t>Store</a:t>
            </a:r>
            <a:r>
              <a:rPr sz="1538" spc="-15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the</a:t>
            </a:r>
            <a:r>
              <a:rPr sz="1538" spc="-83" dirty="0">
                <a:latin typeface="Arial"/>
                <a:cs typeface="Arial"/>
              </a:rPr>
              <a:t> </a:t>
            </a:r>
            <a:r>
              <a:rPr sz="1538" spc="-45" dirty="0">
                <a:latin typeface="Arial"/>
                <a:cs typeface="Arial"/>
              </a:rPr>
              <a:t>Pipe</a:t>
            </a:r>
            <a:r>
              <a:rPr sz="1538" spc="11" dirty="0">
                <a:latin typeface="Arial"/>
                <a:cs typeface="Arial"/>
              </a:rPr>
              <a:t> </a:t>
            </a:r>
            <a:r>
              <a:rPr sz="1538" spc="-30" dirty="0">
                <a:latin typeface="Arial"/>
                <a:cs typeface="Arial"/>
              </a:rPr>
              <a:t>Advertisement</a:t>
            </a:r>
            <a:r>
              <a:rPr sz="1538" spc="41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in</a:t>
            </a:r>
            <a:r>
              <a:rPr sz="1538" spc="-53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the</a:t>
            </a:r>
            <a:r>
              <a:rPr sz="1538" spc="-34" dirty="0">
                <a:latin typeface="Arial"/>
                <a:cs typeface="Arial"/>
              </a:rPr>
              <a:t> </a:t>
            </a:r>
            <a:r>
              <a:rPr sz="1538" spc="-45" dirty="0">
                <a:latin typeface="Arial"/>
                <a:cs typeface="Arial"/>
              </a:rPr>
              <a:t>Service</a:t>
            </a:r>
            <a:r>
              <a:rPr sz="1538" spc="34" dirty="0">
                <a:latin typeface="Arial"/>
                <a:cs typeface="Arial"/>
              </a:rPr>
              <a:t> </a:t>
            </a:r>
            <a:r>
              <a:rPr sz="1538" spc="-15" dirty="0">
                <a:latin typeface="Arial"/>
                <a:cs typeface="Arial"/>
              </a:rPr>
              <a:t>Advertisement. </a:t>
            </a:r>
            <a:r>
              <a:rPr sz="1538" spc="-8" dirty="0">
                <a:latin typeface="Arial"/>
                <a:cs typeface="Arial"/>
              </a:rPr>
              <a:t>First</a:t>
            </a:r>
            <a:r>
              <a:rPr sz="1538" spc="-26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we</a:t>
            </a:r>
            <a:r>
              <a:rPr sz="1538" spc="-83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must</a:t>
            </a:r>
            <a:r>
              <a:rPr sz="1538" spc="-68" dirty="0">
                <a:latin typeface="Arial"/>
                <a:cs typeface="Arial"/>
              </a:rPr>
              <a:t> </a:t>
            </a:r>
            <a:r>
              <a:rPr sz="1538" spc="-8" dirty="0">
                <a:latin typeface="Arial"/>
                <a:cs typeface="Arial"/>
              </a:rPr>
              <a:t>store</a:t>
            </a:r>
            <a:r>
              <a:rPr sz="1538" spc="-86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the</a:t>
            </a:r>
            <a:r>
              <a:rPr sz="1538" spc="-98" dirty="0">
                <a:latin typeface="Arial"/>
                <a:cs typeface="Arial"/>
              </a:rPr>
              <a:t> </a:t>
            </a:r>
            <a:r>
              <a:rPr sz="1538" spc="-45" dirty="0">
                <a:latin typeface="Arial"/>
                <a:cs typeface="Arial"/>
              </a:rPr>
              <a:t>Pipe</a:t>
            </a:r>
            <a:r>
              <a:rPr sz="1538" spc="-15" dirty="0">
                <a:latin typeface="Arial"/>
                <a:cs typeface="Arial"/>
              </a:rPr>
              <a:t> </a:t>
            </a:r>
            <a:r>
              <a:rPr sz="1538" spc="-30" dirty="0">
                <a:latin typeface="Arial"/>
                <a:cs typeface="Arial"/>
              </a:rPr>
              <a:t>Advertisement</a:t>
            </a:r>
            <a:r>
              <a:rPr sz="1538" spc="11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as</a:t>
            </a:r>
            <a:r>
              <a:rPr sz="1538" spc="-86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an</a:t>
            </a:r>
            <a:r>
              <a:rPr sz="1538" spc="-41" dirty="0">
                <a:latin typeface="Arial"/>
                <a:cs typeface="Arial"/>
              </a:rPr>
              <a:t> </a:t>
            </a:r>
            <a:r>
              <a:rPr sz="1538" spc="-19" dirty="0">
                <a:latin typeface="Arial"/>
                <a:cs typeface="Arial"/>
              </a:rPr>
              <a:t>XML </a:t>
            </a:r>
            <a:r>
              <a:rPr sz="1538" spc="-26" dirty="0">
                <a:latin typeface="Arial"/>
                <a:cs typeface="Arial"/>
              </a:rPr>
              <a:t>document,</a:t>
            </a:r>
            <a:r>
              <a:rPr sz="1538" spc="60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then</a:t>
            </a:r>
            <a:r>
              <a:rPr sz="1538" spc="-41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add</a:t>
            </a:r>
            <a:r>
              <a:rPr sz="1538" spc="-11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that</a:t>
            </a:r>
            <a:r>
              <a:rPr sz="1538" spc="-26" dirty="0">
                <a:latin typeface="Arial"/>
                <a:cs typeface="Arial"/>
              </a:rPr>
              <a:t> </a:t>
            </a:r>
            <a:r>
              <a:rPr sz="1538" spc="-19" dirty="0">
                <a:latin typeface="Arial"/>
                <a:cs typeface="Arial"/>
              </a:rPr>
              <a:t>document</a:t>
            </a:r>
            <a:r>
              <a:rPr sz="1538" spc="49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to</a:t>
            </a:r>
            <a:r>
              <a:rPr sz="1538" spc="-30" dirty="0">
                <a:latin typeface="Arial"/>
                <a:cs typeface="Arial"/>
              </a:rPr>
              <a:t> </a:t>
            </a:r>
            <a:r>
              <a:rPr sz="1538" dirty="0">
                <a:latin typeface="Arial"/>
                <a:cs typeface="Arial"/>
              </a:rPr>
              <a:t>the</a:t>
            </a:r>
            <a:r>
              <a:rPr sz="1538" spc="-11" dirty="0">
                <a:latin typeface="Arial"/>
                <a:cs typeface="Arial"/>
              </a:rPr>
              <a:t> </a:t>
            </a:r>
            <a:r>
              <a:rPr sz="1538" spc="-8" dirty="0">
                <a:latin typeface="Arial"/>
                <a:cs typeface="Arial"/>
              </a:rPr>
              <a:t>Service Advertisement!</a:t>
            </a:r>
            <a:endParaRPr sz="1538">
              <a:latin typeface="Arial"/>
              <a:cs typeface="Arial"/>
            </a:endParaRPr>
          </a:p>
          <a:p>
            <a:pPr marL="33338">
              <a:lnSpc>
                <a:spcPts val="1519"/>
              </a:lnSpc>
            </a:pPr>
            <a:r>
              <a:rPr sz="1575" spc="-64" dirty="0">
                <a:solidFill>
                  <a:srgbClr val="992628"/>
                </a:solidFill>
                <a:latin typeface="Arial"/>
                <a:cs typeface="Arial"/>
              </a:rPr>
              <a:t>paramDoc</a:t>
            </a:r>
            <a:r>
              <a:rPr sz="1575" spc="161" dirty="0">
                <a:solidFill>
                  <a:srgbClr val="992628"/>
                </a:solidFill>
                <a:latin typeface="Arial"/>
                <a:cs typeface="Arial"/>
              </a:rPr>
              <a:t> </a:t>
            </a:r>
            <a:r>
              <a:rPr sz="1575" dirty="0">
                <a:solidFill>
                  <a:srgbClr val="7C3438"/>
                </a:solidFill>
                <a:latin typeface="Arial"/>
                <a:cs typeface="Arial"/>
              </a:rPr>
              <a:t>=</a:t>
            </a:r>
            <a:r>
              <a:rPr sz="1575" spc="-11" dirty="0">
                <a:solidFill>
                  <a:srgbClr val="7C3438"/>
                </a:solidFill>
                <a:latin typeface="Arial"/>
                <a:cs typeface="Arial"/>
              </a:rPr>
              <a:t> </a:t>
            </a:r>
            <a:r>
              <a:rPr sz="1575" spc="-19" dirty="0">
                <a:solidFill>
                  <a:srgbClr val="87382D"/>
                </a:solidFill>
                <a:latin typeface="Arial"/>
                <a:cs typeface="Arial"/>
              </a:rPr>
              <a:t>pipeadv.getDocument(</a:t>
            </a:r>
            <a:endParaRPr sz="1575">
              <a:latin typeface="Arial"/>
              <a:cs typeface="Arial"/>
            </a:endParaRPr>
          </a:p>
          <a:p>
            <a:pPr marL="33338" marR="649605" indent="227648">
              <a:lnSpc>
                <a:spcPts val="1583"/>
              </a:lnSpc>
              <a:spcBef>
                <a:spcPts val="176"/>
              </a:spcBef>
            </a:pPr>
            <a:r>
              <a:rPr sz="1538" spc="-8" dirty="0">
                <a:solidFill>
                  <a:srgbClr val="A52A34"/>
                </a:solidFill>
                <a:latin typeface="Arial"/>
                <a:cs typeface="Arial"/>
              </a:rPr>
              <a:t>new</a:t>
            </a:r>
            <a:r>
              <a:rPr sz="1538" spc="-34" dirty="0">
                <a:solidFill>
                  <a:srgbClr val="A52A34"/>
                </a:solidFill>
                <a:latin typeface="Arial"/>
                <a:cs typeface="Arial"/>
              </a:rPr>
              <a:t> </a:t>
            </a:r>
            <a:r>
              <a:rPr sz="1538" spc="-8" dirty="0">
                <a:solidFill>
                  <a:srgbClr val="C62828"/>
                </a:solidFill>
                <a:latin typeface="Arial"/>
                <a:cs typeface="Arial"/>
              </a:rPr>
              <a:t>MimeMediaType(”text/xml")</a:t>
            </a:r>
            <a:r>
              <a:rPr sz="2306" spc="-11" baseline="-9485" dirty="0">
                <a:solidFill>
                  <a:srgbClr val="C62828"/>
                </a:solidFill>
                <a:latin typeface="Arial"/>
                <a:cs typeface="Arial"/>
              </a:rPr>
              <a:t>)</a:t>
            </a:r>
            <a:r>
              <a:rPr sz="2306" i="1" spc="-11" baseline="-5420" dirty="0">
                <a:solidFill>
                  <a:srgbClr val="7E2D2F"/>
                </a:solidFill>
                <a:latin typeface="Arial"/>
                <a:cs typeface="Arial"/>
              </a:rPr>
              <a:t>f</a:t>
            </a:r>
            <a:r>
              <a:rPr sz="2306" i="1" spc="-11" baseline="5420" dirty="0">
                <a:solidFill>
                  <a:srgbClr val="7E2D2F"/>
                </a:solidFill>
                <a:latin typeface="Arial"/>
                <a:cs typeface="Arial"/>
              </a:rPr>
              <a:t>' </a:t>
            </a:r>
            <a:r>
              <a:rPr sz="1538" spc="-38" dirty="0">
                <a:solidFill>
                  <a:srgbClr val="832B2A"/>
                </a:solidFill>
                <a:latin typeface="Arial"/>
                <a:cs typeface="Arial"/>
              </a:rPr>
              <a:t>mdadv.setParam((StructuredDocument)</a:t>
            </a:r>
            <a:r>
              <a:rPr sz="1538" spc="116" dirty="0">
                <a:solidFill>
                  <a:srgbClr val="832B2A"/>
                </a:solidFill>
                <a:latin typeface="Arial"/>
                <a:cs typeface="Arial"/>
              </a:rPr>
              <a:t> </a:t>
            </a:r>
            <a:r>
              <a:rPr sz="1538" spc="-30" dirty="0">
                <a:solidFill>
                  <a:srgbClr val="873138"/>
                </a:solidFill>
                <a:latin typeface="Arial"/>
                <a:cs typeface="Arial"/>
              </a:rPr>
              <a:t>paramDoc);</a:t>
            </a:r>
            <a:endParaRPr sz="1538">
              <a:latin typeface="Arial"/>
              <a:cs typeface="Arial"/>
            </a:endParaRPr>
          </a:p>
          <a:p>
            <a:pPr marL="33338" marR="55721" indent="-2381">
              <a:lnSpc>
                <a:spcPts val="1605"/>
              </a:lnSpc>
              <a:spcBef>
                <a:spcPts val="375"/>
              </a:spcBef>
            </a:pPr>
            <a:r>
              <a:rPr sz="1575" spc="-60" dirty="0">
                <a:latin typeface="Arial"/>
                <a:cs typeface="Arial"/>
              </a:rPr>
              <a:t>Publish</a:t>
            </a:r>
            <a:r>
              <a:rPr sz="1575" spc="-4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the</a:t>
            </a:r>
            <a:r>
              <a:rPr sz="1575" spc="-64" dirty="0">
                <a:latin typeface="Arial"/>
                <a:cs typeface="Arial"/>
              </a:rPr>
              <a:t> Service</a:t>
            </a:r>
            <a:r>
              <a:rPr sz="1575" spc="4" dirty="0">
                <a:latin typeface="Arial"/>
                <a:cs typeface="Arial"/>
              </a:rPr>
              <a:t> </a:t>
            </a:r>
            <a:r>
              <a:rPr sz="1575" spc="-53" dirty="0">
                <a:latin typeface="Arial"/>
                <a:cs typeface="Arial"/>
              </a:rPr>
              <a:t>Advertisement</a:t>
            </a:r>
            <a:r>
              <a:rPr sz="1575" spc="75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in</a:t>
            </a:r>
            <a:r>
              <a:rPr sz="1575" spc="-71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the</a:t>
            </a:r>
            <a:r>
              <a:rPr sz="1575" spc="-60" dirty="0">
                <a:latin typeface="Arial"/>
                <a:cs typeface="Arial"/>
              </a:rPr>
              <a:t> Discovery</a:t>
            </a:r>
            <a:r>
              <a:rPr sz="1575" spc="8" dirty="0">
                <a:latin typeface="Arial"/>
                <a:cs typeface="Arial"/>
              </a:rPr>
              <a:t> </a:t>
            </a:r>
            <a:r>
              <a:rPr sz="1575" spc="-68" dirty="0">
                <a:latin typeface="Arial"/>
                <a:cs typeface="Arial"/>
              </a:rPr>
              <a:t>Service. </a:t>
            </a:r>
            <a:r>
              <a:rPr sz="1538" spc="-38" dirty="0">
                <a:solidFill>
                  <a:srgbClr val="9E281F"/>
                </a:solidFill>
                <a:latin typeface="Arial"/>
                <a:cs typeface="Arial"/>
              </a:rPr>
              <a:t>disco.publish(mdadv,</a:t>
            </a:r>
            <a:r>
              <a:rPr sz="1538" spc="34" dirty="0">
                <a:solidFill>
                  <a:srgbClr val="9E281F"/>
                </a:solidFill>
                <a:latin typeface="Arial"/>
                <a:cs typeface="Arial"/>
              </a:rPr>
              <a:t> </a:t>
            </a:r>
            <a:r>
              <a:rPr sz="1538" spc="-19" dirty="0">
                <a:solidFill>
                  <a:srgbClr val="9C2123"/>
                </a:solidFill>
                <a:latin typeface="Arial"/>
                <a:cs typeface="Arial"/>
              </a:rPr>
              <a:t>DiscoveryService.ADV); </a:t>
            </a:r>
            <a:r>
              <a:rPr sz="1538" spc="-45" dirty="0">
                <a:solidFill>
                  <a:srgbClr val="8C2A1C"/>
                </a:solidFill>
                <a:latin typeface="Arial"/>
                <a:cs typeface="Arial"/>
              </a:rPr>
              <a:t>disco.remotePubIish(mdadv,</a:t>
            </a:r>
            <a:r>
              <a:rPr sz="1538" spc="83" dirty="0">
                <a:solidFill>
                  <a:srgbClr val="8C2A1C"/>
                </a:solidFill>
                <a:latin typeface="Arial"/>
                <a:cs typeface="Arial"/>
              </a:rPr>
              <a:t> </a:t>
            </a:r>
            <a:r>
              <a:rPr sz="1538" spc="-19" dirty="0">
                <a:solidFill>
                  <a:srgbClr val="A32D33"/>
                </a:solidFill>
                <a:latin typeface="Arial"/>
                <a:cs typeface="Arial"/>
              </a:rPr>
              <a:t>DiscoveryService.ADV);</a:t>
            </a:r>
            <a:endParaRPr sz="1538">
              <a:latin typeface="Arial"/>
              <a:cs typeface="Arial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CE6546F-4456-6782-28EC-BB52D044C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297162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60918" y="717279"/>
            <a:ext cx="5611916" cy="583879"/>
          </a:xfrm>
          <a:prstGeom prst="rect">
            <a:avLst/>
          </a:prstGeom>
        </p:spPr>
        <p:txBody>
          <a:bodyPr vert="horz" wrap="square" lIns="0" tIns="123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98"/>
              </a:spcBef>
              <a:tabLst>
                <a:tab pos="2750344" algn="l"/>
              </a:tabLst>
            </a:pPr>
            <a:r>
              <a:rPr sz="3713" dirty="0">
                <a:solidFill>
                  <a:srgbClr val="383487"/>
                </a:solidFill>
              </a:rPr>
              <a:t>The</a:t>
            </a:r>
            <a:r>
              <a:rPr sz="3713" spc="8" dirty="0">
                <a:solidFill>
                  <a:srgbClr val="383487"/>
                </a:solidFill>
              </a:rPr>
              <a:t> </a:t>
            </a:r>
            <a:r>
              <a:rPr sz="3713" spc="-34" dirty="0">
                <a:solidFill>
                  <a:srgbClr val="363390"/>
                </a:solidFill>
              </a:rPr>
              <a:t>Service</a:t>
            </a:r>
            <a:r>
              <a:rPr sz="3713" spc="11" dirty="0">
                <a:solidFill>
                  <a:srgbClr val="363390"/>
                </a:solidFill>
              </a:rPr>
              <a:t> </a:t>
            </a:r>
            <a:r>
              <a:rPr sz="3713" spc="-38" dirty="0"/>
              <a:t>i</a:t>
            </a:r>
            <a:r>
              <a:rPr sz="3713" dirty="0"/>
              <a:t>	</a:t>
            </a:r>
            <a:r>
              <a:rPr sz="3713" spc="-135" dirty="0">
                <a:solidFill>
                  <a:srgbClr val="3F339C"/>
                </a:solidFill>
              </a:rPr>
              <a:t>Action</a:t>
            </a:r>
            <a:endParaRPr sz="3713" dirty="0"/>
          </a:p>
        </p:txBody>
      </p:sp>
      <p:sp>
        <p:nvSpPr>
          <p:cNvPr id="4" name="object 4"/>
          <p:cNvSpPr txBox="1"/>
          <p:nvPr/>
        </p:nvSpPr>
        <p:spPr>
          <a:xfrm>
            <a:off x="2082271" y="1509824"/>
            <a:ext cx="5391626" cy="262450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73393" marR="247650" indent="-3334">
              <a:lnSpc>
                <a:spcPts val="1793"/>
              </a:lnSpc>
              <a:spcBef>
                <a:spcPts val="360"/>
              </a:spcBef>
            </a:pPr>
            <a:r>
              <a:rPr sz="1725" dirty="0">
                <a:latin typeface="Arial"/>
                <a:cs typeface="Arial"/>
              </a:rPr>
              <a:t>Now that our DiscoveryService is advelising a Pipe, we should listen for messages on that Pipe.</a:t>
            </a:r>
          </a:p>
          <a:p>
            <a:pPr marL="470535">
              <a:lnSpc>
                <a:spcPts val="1781"/>
              </a:lnSpc>
            </a:pPr>
            <a:r>
              <a:rPr sz="1725" dirty="0">
                <a:solidFill>
                  <a:srgbClr val="9A282D"/>
                </a:solidFill>
                <a:latin typeface="Arial"/>
                <a:cs typeface="Arial"/>
              </a:rPr>
              <a:t>Message </a:t>
            </a:r>
            <a:r>
              <a:rPr sz="1725" dirty="0">
                <a:solidFill>
                  <a:srgbClr val="7E282A"/>
                </a:solidFill>
                <a:latin typeface="Arial"/>
                <a:cs typeface="Arial"/>
              </a:rPr>
              <a:t>msg </a:t>
            </a:r>
            <a:r>
              <a:rPr sz="1725" dirty="0">
                <a:solidFill>
                  <a:srgbClr val="B17077"/>
                </a:solidFill>
                <a:latin typeface="Arial"/>
                <a:cs typeface="Arial"/>
              </a:rPr>
              <a:t>-  </a:t>
            </a:r>
            <a:r>
              <a:rPr sz="1725" dirty="0">
                <a:solidFill>
                  <a:srgbClr val="9E1C23"/>
                </a:solidFill>
                <a:latin typeface="Arial"/>
                <a:cs typeface="Arial"/>
              </a:rPr>
              <a:t>myPipe.waitForMessage();</a:t>
            </a:r>
            <a:endParaRPr sz="1725" dirty="0">
              <a:latin typeface="Arial"/>
              <a:cs typeface="Arial"/>
            </a:endParaRPr>
          </a:p>
          <a:p>
            <a:pPr marL="470059" marR="3810" indent="-455295">
              <a:lnSpc>
                <a:spcPts val="1793"/>
              </a:lnSpc>
              <a:spcBef>
                <a:spcPts val="382"/>
              </a:spcBef>
              <a:tabLst>
                <a:tab pos="468630" algn="l"/>
              </a:tabLst>
            </a:pPr>
            <a:r>
              <a:rPr sz="1725" dirty="0">
                <a:solidFill>
                  <a:srgbClr val="4D4D4D"/>
                </a:solidFill>
                <a:latin typeface="Arial"/>
                <a:cs typeface="Arial"/>
              </a:rPr>
              <a:t>›.	</a:t>
            </a:r>
            <a:r>
              <a:rPr sz="1725" dirty="0">
                <a:latin typeface="Arial"/>
                <a:cs typeface="Arial"/>
              </a:rPr>
              <a:t>The producer and consumer must agree on Tag Names for their messages.</a:t>
            </a:r>
          </a:p>
          <a:p>
            <a:pPr marL="470059">
              <a:lnSpc>
                <a:spcPts val="1781"/>
              </a:lnSpc>
            </a:pPr>
            <a:r>
              <a:rPr sz="1725" dirty="0">
                <a:solidFill>
                  <a:srgbClr val="9A2B23"/>
                </a:solidFill>
                <a:latin typeface="Arial"/>
                <a:cs typeface="Arial"/>
              </a:rPr>
              <a:t>String </a:t>
            </a:r>
            <a:r>
              <a:rPr sz="1725" dirty="0">
                <a:solidFill>
                  <a:srgbClr val="8E3136"/>
                </a:solidFill>
                <a:latin typeface="Arial"/>
                <a:cs typeface="Arial"/>
              </a:rPr>
              <a:t>myMessageString </a:t>
            </a:r>
            <a:r>
              <a:rPr sz="1725" dirty="0">
                <a:solidFill>
                  <a:srgbClr val="7C3133"/>
                </a:solidFill>
                <a:latin typeface="Arial"/>
                <a:cs typeface="Arial"/>
              </a:rPr>
              <a:t>= </a:t>
            </a:r>
            <a:r>
              <a:rPr sz="1725" dirty="0">
                <a:solidFill>
                  <a:srgbClr val="972124"/>
                </a:solidFill>
                <a:latin typeface="Arial"/>
                <a:cs typeface="Arial"/>
              </a:rPr>
              <a:t>msg.getString "DataTag");</a:t>
            </a:r>
            <a:endParaRPr sz="1725" dirty="0">
              <a:latin typeface="Arial"/>
              <a:cs typeface="Arial"/>
            </a:endParaRPr>
          </a:p>
          <a:p>
            <a:pPr>
              <a:spcBef>
                <a:spcPts val="371"/>
              </a:spcBef>
            </a:pPr>
            <a:endParaRPr sz="1725" dirty="0">
              <a:latin typeface="Arial"/>
              <a:cs typeface="Arial"/>
            </a:endParaRPr>
          </a:p>
          <a:p>
            <a:pPr marL="9525"/>
            <a:r>
              <a:rPr sz="2363" dirty="0">
                <a:latin typeface="Calibri"/>
                <a:cs typeface="Calibri"/>
              </a:rPr>
              <a:t>That's all! Now for the consumer code...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D324A8-A251-82D4-26BD-AA94BAFD2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330648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551" y="-262760"/>
            <a:ext cx="5916217" cy="1077379"/>
          </a:xfrm>
          <a:prstGeom prst="rect">
            <a:avLst/>
          </a:prstGeom>
        </p:spPr>
        <p:txBody>
          <a:bodyPr vert="horz" wrap="square" lIns="0" tIns="1285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193">
              <a:lnSpc>
                <a:spcPts val="3975"/>
              </a:lnSpc>
              <a:spcBef>
                <a:spcPts val="101"/>
              </a:spcBef>
            </a:pPr>
            <a:r>
              <a:rPr sz="3525" spc="-225" dirty="0">
                <a:solidFill>
                  <a:srgbClr val="383885"/>
                </a:solidFill>
                <a:latin typeface="Arial"/>
                <a:cs typeface="Arial"/>
              </a:rPr>
              <a:t>Consumer:</a:t>
            </a:r>
            <a:endParaRPr sz="3525">
              <a:latin typeface="Arial"/>
              <a:cs typeface="Arial"/>
            </a:endParaRPr>
          </a:p>
          <a:p>
            <a:pPr marL="14764">
              <a:lnSpc>
                <a:spcPts val="4290"/>
              </a:lnSpc>
            </a:pPr>
            <a:r>
              <a:rPr sz="3788" spc="-311" dirty="0">
                <a:solidFill>
                  <a:srgbClr val="312F82"/>
                </a:solidFill>
                <a:latin typeface="Arial"/>
                <a:cs typeface="Arial"/>
              </a:rPr>
              <a:t>Creating</a:t>
            </a:r>
            <a:r>
              <a:rPr sz="3788" spc="221" dirty="0">
                <a:solidFill>
                  <a:srgbClr val="312F82"/>
                </a:solidFill>
                <a:latin typeface="Arial"/>
                <a:cs typeface="Arial"/>
              </a:rPr>
              <a:t> </a:t>
            </a:r>
            <a:r>
              <a:rPr sz="3788" spc="-199" dirty="0">
                <a:solidFill>
                  <a:srgbClr val="383689"/>
                </a:solidFill>
                <a:latin typeface="Arial"/>
                <a:cs typeface="Arial"/>
              </a:rPr>
              <a:t>the</a:t>
            </a:r>
            <a:r>
              <a:rPr sz="3788" spc="-68" dirty="0">
                <a:solidFill>
                  <a:srgbClr val="383689"/>
                </a:solidFill>
                <a:latin typeface="Arial"/>
                <a:cs typeface="Arial"/>
              </a:rPr>
              <a:t> </a:t>
            </a:r>
            <a:r>
              <a:rPr sz="3788" spc="-304" dirty="0">
                <a:solidFill>
                  <a:srgbClr val="383489"/>
                </a:solidFill>
                <a:latin typeface="Arial"/>
                <a:cs typeface="Arial"/>
              </a:rPr>
              <a:t>Objects</a:t>
            </a:r>
            <a:endParaRPr sz="37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8799" y="1444015"/>
            <a:ext cx="5326856" cy="2689839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9525">
              <a:spcBef>
                <a:spcPts val="495"/>
              </a:spcBef>
            </a:pPr>
            <a:r>
              <a:rPr sz="2400" spc="-49" dirty="0">
                <a:latin typeface="Calibri"/>
                <a:cs typeface="Calibri"/>
              </a:rPr>
              <a:t>Note:</a:t>
            </a:r>
            <a:r>
              <a:rPr sz="2400" spc="1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94" dirty="0">
                <a:latin typeface="Calibri"/>
                <a:cs typeface="Calibri"/>
              </a:rPr>
              <a:t> </a:t>
            </a:r>
            <a:r>
              <a:rPr sz="2400" spc="-34" dirty="0">
                <a:latin typeface="Calibri"/>
                <a:cs typeface="Calibri"/>
              </a:rPr>
              <a:t>the</a:t>
            </a:r>
            <a:r>
              <a:rPr sz="2400" spc="-83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same</a:t>
            </a:r>
            <a:r>
              <a:rPr sz="2400" spc="-6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98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our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-79" dirty="0">
                <a:latin typeface="Calibri"/>
                <a:cs typeface="Calibri"/>
              </a:rPr>
              <a:t>Producer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spc="-49" dirty="0">
                <a:latin typeface="Calibri"/>
                <a:cs typeface="Calibri"/>
              </a:rPr>
              <a:t>code!</a:t>
            </a:r>
            <a:endParaRPr sz="2400">
              <a:latin typeface="Calibri"/>
              <a:cs typeface="Calibri"/>
            </a:endParaRPr>
          </a:p>
          <a:p>
            <a:pPr marL="467201" indent="-436245">
              <a:lnSpc>
                <a:spcPts val="1830"/>
              </a:lnSpc>
              <a:spcBef>
                <a:spcPts val="263"/>
              </a:spcBef>
              <a:buClr>
                <a:srgbClr val="3838CD"/>
              </a:buClr>
              <a:buChar char="•"/>
              <a:tabLst>
                <a:tab pos="467201" algn="l"/>
              </a:tabLst>
            </a:pPr>
            <a:r>
              <a:rPr sz="1575" spc="-56" dirty="0">
                <a:latin typeface="Arial"/>
                <a:cs typeface="Arial"/>
              </a:rPr>
              <a:t>Create</a:t>
            </a:r>
            <a:r>
              <a:rPr sz="1575" spc="-23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a</a:t>
            </a:r>
            <a:r>
              <a:rPr sz="1575" spc="-45" dirty="0">
                <a:latin typeface="Arial"/>
                <a:cs typeface="Arial"/>
              </a:rPr>
              <a:t> </a:t>
            </a:r>
            <a:r>
              <a:rPr sz="1575" spc="-105" dirty="0">
                <a:latin typeface="Arial"/>
                <a:cs typeface="Arial"/>
              </a:rPr>
              <a:t>Peer</a:t>
            </a:r>
            <a:r>
              <a:rPr sz="1575" spc="-4" dirty="0">
                <a:latin typeface="Arial"/>
                <a:cs typeface="Arial"/>
              </a:rPr>
              <a:t> </a:t>
            </a:r>
            <a:r>
              <a:rPr sz="1575" spc="-8" dirty="0">
                <a:latin typeface="Arial"/>
                <a:cs typeface="Arial"/>
              </a:rPr>
              <a:t>Group.</a:t>
            </a:r>
            <a:endParaRPr sz="1575">
              <a:latin typeface="Arial"/>
              <a:cs typeface="Arial"/>
            </a:endParaRPr>
          </a:p>
          <a:p>
            <a:pPr marL="477203">
              <a:lnSpc>
                <a:spcPts val="1830"/>
              </a:lnSpc>
            </a:pPr>
            <a:r>
              <a:rPr sz="1575" spc="-19" dirty="0">
                <a:solidFill>
                  <a:srgbClr val="B82824"/>
                </a:solidFill>
                <a:latin typeface="Arial"/>
                <a:cs typeface="Arial"/>
              </a:rPr>
              <a:t>group</a:t>
            </a:r>
            <a:r>
              <a:rPr sz="1575" spc="11" dirty="0">
                <a:solidFill>
                  <a:srgbClr val="B82824"/>
                </a:solidFill>
                <a:latin typeface="Arial"/>
                <a:cs typeface="Arial"/>
              </a:rPr>
              <a:t> </a:t>
            </a:r>
            <a:r>
              <a:rPr sz="1575" dirty="0">
                <a:solidFill>
                  <a:srgbClr val="7B383D"/>
                </a:solidFill>
                <a:latin typeface="Arial"/>
                <a:cs typeface="Arial"/>
              </a:rPr>
              <a:t>=</a:t>
            </a:r>
            <a:r>
              <a:rPr sz="1575" spc="79" dirty="0">
                <a:solidFill>
                  <a:srgbClr val="7B383D"/>
                </a:solidFill>
                <a:latin typeface="Arial"/>
                <a:cs typeface="Arial"/>
              </a:rPr>
              <a:t> </a:t>
            </a:r>
            <a:r>
              <a:rPr sz="1575" spc="-53" dirty="0">
                <a:solidFill>
                  <a:srgbClr val="B51F26"/>
                </a:solidFill>
                <a:latin typeface="Arial"/>
                <a:cs typeface="Arial"/>
              </a:rPr>
              <a:t>PeerGroupFactory.newNetPeerGroup();</a:t>
            </a:r>
            <a:endParaRPr sz="1575">
              <a:latin typeface="Arial"/>
              <a:cs typeface="Arial"/>
            </a:endParaRPr>
          </a:p>
          <a:p>
            <a:pPr marL="471011" marR="1727359" indent="-451485">
              <a:lnSpc>
                <a:spcPts val="1823"/>
              </a:lnSpc>
              <a:spcBef>
                <a:spcPts val="390"/>
              </a:spcBef>
              <a:buChar char="•"/>
              <a:tabLst>
                <a:tab pos="471011" algn="l"/>
                <a:tab pos="473393" algn="l"/>
              </a:tabLst>
            </a:pPr>
            <a:r>
              <a:rPr sz="1838" dirty="0">
                <a:solidFill>
                  <a:srgbClr val="3633C4"/>
                </a:solidFill>
                <a:latin typeface="Calibri"/>
                <a:cs typeface="Calibri"/>
              </a:rPr>
              <a:t>	</a:t>
            </a:r>
            <a:r>
              <a:rPr sz="1838" spc="-131" dirty="0">
                <a:latin typeface="Calibri"/>
                <a:cs typeface="Calibri"/>
              </a:rPr>
              <a:t>Get</a:t>
            </a:r>
            <a:r>
              <a:rPr sz="1838" spc="-4" dirty="0">
                <a:latin typeface="Calibri"/>
                <a:cs typeface="Calibri"/>
              </a:rPr>
              <a:t> </a:t>
            </a:r>
            <a:r>
              <a:rPr sz="1838" spc="-124" dirty="0">
                <a:latin typeface="Calibri"/>
                <a:cs typeface="Calibri"/>
              </a:rPr>
              <a:t>the</a:t>
            </a:r>
            <a:r>
              <a:rPr sz="1838" spc="4" dirty="0">
                <a:latin typeface="Calibri"/>
                <a:cs typeface="Calibri"/>
              </a:rPr>
              <a:t> </a:t>
            </a:r>
            <a:r>
              <a:rPr sz="1838" spc="-127" dirty="0">
                <a:latin typeface="Calibri"/>
                <a:cs typeface="Calibri"/>
              </a:rPr>
              <a:t>Advertisement</a:t>
            </a:r>
            <a:r>
              <a:rPr sz="1838" spc="124" dirty="0">
                <a:latin typeface="Calibri"/>
                <a:cs typeface="Calibri"/>
              </a:rPr>
              <a:t> </a:t>
            </a:r>
            <a:r>
              <a:rPr sz="1838" spc="-124" dirty="0">
                <a:latin typeface="Calibri"/>
                <a:cs typeface="Calibri"/>
              </a:rPr>
              <a:t>for</a:t>
            </a:r>
            <a:r>
              <a:rPr sz="1838" spc="49" dirty="0">
                <a:latin typeface="Calibri"/>
                <a:cs typeface="Calibri"/>
              </a:rPr>
              <a:t> </a:t>
            </a:r>
            <a:r>
              <a:rPr sz="1838" spc="-124" dirty="0">
                <a:latin typeface="Calibri"/>
                <a:cs typeface="Calibri"/>
              </a:rPr>
              <a:t>the</a:t>
            </a:r>
            <a:r>
              <a:rPr sz="1838" spc="8" dirty="0">
                <a:latin typeface="Calibri"/>
                <a:cs typeface="Calibri"/>
              </a:rPr>
              <a:t> </a:t>
            </a:r>
            <a:r>
              <a:rPr sz="1838" spc="-113" dirty="0">
                <a:latin typeface="Calibri"/>
                <a:cs typeface="Calibri"/>
              </a:rPr>
              <a:t>Group. </a:t>
            </a:r>
            <a:r>
              <a:rPr sz="1838" spc="-120" dirty="0">
                <a:solidFill>
                  <a:srgbClr val="A12128"/>
                </a:solidFill>
                <a:latin typeface="Calibri"/>
                <a:cs typeface="Calibri"/>
              </a:rPr>
              <a:t>groupAdvertisement</a:t>
            </a:r>
            <a:r>
              <a:rPr sz="1838" spc="23" dirty="0">
                <a:solidFill>
                  <a:srgbClr val="A12128"/>
                </a:solidFill>
                <a:latin typeface="Calibri"/>
                <a:cs typeface="Calibri"/>
              </a:rPr>
              <a:t> </a:t>
            </a:r>
            <a:r>
              <a:rPr sz="1838" spc="-38" dirty="0">
                <a:solidFill>
                  <a:srgbClr val="773134"/>
                </a:solidFill>
                <a:latin typeface="Calibri"/>
                <a:cs typeface="Calibri"/>
              </a:rPr>
              <a:t>=</a:t>
            </a:r>
            <a:endParaRPr sz="1838">
              <a:latin typeface="Calibri"/>
              <a:cs typeface="Calibri"/>
            </a:endParaRPr>
          </a:p>
          <a:p>
            <a:pPr marL="705326">
              <a:lnSpc>
                <a:spcPts val="1793"/>
              </a:lnSpc>
            </a:pPr>
            <a:r>
              <a:rPr sz="1838" spc="-90" dirty="0">
                <a:solidFill>
                  <a:srgbClr val="A11C1A"/>
                </a:solidFill>
                <a:latin typeface="Calibri"/>
                <a:cs typeface="Calibri"/>
              </a:rPr>
              <a:t>group.getPeerGroupAdvertisement();</a:t>
            </a:r>
            <a:endParaRPr sz="1838">
              <a:latin typeface="Calibri"/>
              <a:cs typeface="Calibri"/>
            </a:endParaRPr>
          </a:p>
          <a:p>
            <a:pPr marL="466725" indent="-435769">
              <a:lnSpc>
                <a:spcPts val="1864"/>
              </a:lnSpc>
              <a:spcBef>
                <a:spcPts val="183"/>
              </a:spcBef>
              <a:buClr>
                <a:srgbClr val="3434C6"/>
              </a:buClr>
              <a:buChar char="•"/>
              <a:tabLst>
                <a:tab pos="466725" algn="l"/>
              </a:tabLst>
            </a:pPr>
            <a:r>
              <a:rPr sz="1613" spc="-86" dirty="0">
                <a:latin typeface="Arial"/>
                <a:cs typeface="Arial"/>
              </a:rPr>
              <a:t>Create</a:t>
            </a:r>
            <a:r>
              <a:rPr sz="1613" spc="-26" dirty="0">
                <a:latin typeface="Arial"/>
                <a:cs typeface="Arial"/>
              </a:rPr>
              <a:t> </a:t>
            </a:r>
            <a:r>
              <a:rPr sz="1613" dirty="0">
                <a:latin typeface="Arial"/>
                <a:cs typeface="Arial"/>
              </a:rPr>
              <a:t>a</a:t>
            </a:r>
            <a:r>
              <a:rPr sz="1613" spc="-56" dirty="0">
                <a:latin typeface="Arial"/>
                <a:cs typeface="Arial"/>
              </a:rPr>
              <a:t> </a:t>
            </a:r>
            <a:r>
              <a:rPr sz="1613" spc="-90" dirty="0">
                <a:latin typeface="Arial"/>
                <a:cs typeface="Arial"/>
              </a:rPr>
              <a:t>Discovery</a:t>
            </a:r>
            <a:r>
              <a:rPr sz="1613" spc="-23" dirty="0">
                <a:latin typeface="Arial"/>
                <a:cs typeface="Arial"/>
              </a:rPr>
              <a:t> </a:t>
            </a:r>
            <a:r>
              <a:rPr sz="1613" spc="-8" dirty="0">
                <a:latin typeface="Arial"/>
                <a:cs typeface="Arial"/>
              </a:rPr>
              <a:t>Service.</a:t>
            </a:r>
            <a:endParaRPr sz="1613">
              <a:latin typeface="Arial"/>
              <a:cs typeface="Arial"/>
            </a:endParaRPr>
          </a:p>
          <a:p>
            <a:pPr marL="470535">
              <a:lnSpc>
                <a:spcPts val="1864"/>
              </a:lnSpc>
            </a:pPr>
            <a:r>
              <a:rPr sz="1613" spc="-60" dirty="0">
                <a:solidFill>
                  <a:srgbClr val="AA2831"/>
                </a:solidFill>
                <a:latin typeface="Arial"/>
                <a:cs typeface="Arial"/>
              </a:rPr>
              <a:t>disco</a:t>
            </a:r>
            <a:r>
              <a:rPr sz="1613" spc="41" dirty="0">
                <a:solidFill>
                  <a:srgbClr val="AA2831"/>
                </a:solidFill>
                <a:latin typeface="Arial"/>
                <a:cs typeface="Arial"/>
              </a:rPr>
              <a:t> </a:t>
            </a:r>
            <a:r>
              <a:rPr sz="1613" dirty="0">
                <a:solidFill>
                  <a:srgbClr val="82363D"/>
                </a:solidFill>
                <a:latin typeface="Arial"/>
                <a:cs typeface="Arial"/>
              </a:rPr>
              <a:t>=</a:t>
            </a:r>
            <a:r>
              <a:rPr sz="1613" spc="-19" dirty="0">
                <a:solidFill>
                  <a:srgbClr val="82363D"/>
                </a:solidFill>
                <a:latin typeface="Arial"/>
                <a:cs typeface="Arial"/>
              </a:rPr>
              <a:t> </a:t>
            </a:r>
            <a:r>
              <a:rPr sz="1613" spc="-34" dirty="0">
                <a:solidFill>
                  <a:srgbClr val="AE181A"/>
                </a:solidFill>
                <a:latin typeface="Arial"/>
                <a:cs typeface="Arial"/>
              </a:rPr>
              <a:t>group.getDiscoveryService();</a:t>
            </a:r>
            <a:endParaRPr sz="1613">
              <a:latin typeface="Arial"/>
              <a:cs typeface="Arial"/>
            </a:endParaRPr>
          </a:p>
          <a:p>
            <a:pPr marL="472916" indent="-442913">
              <a:lnSpc>
                <a:spcPts val="1931"/>
              </a:lnSpc>
              <a:spcBef>
                <a:spcPts val="113"/>
              </a:spcBef>
              <a:buClr>
                <a:srgbClr val="3F38C3"/>
              </a:buClr>
              <a:buChar char="•"/>
              <a:tabLst>
                <a:tab pos="472916" algn="l"/>
              </a:tabLst>
            </a:pPr>
            <a:r>
              <a:rPr sz="1725" spc="-158" dirty="0">
                <a:latin typeface="Arial"/>
                <a:cs typeface="Arial"/>
              </a:rPr>
              <a:t>Create</a:t>
            </a:r>
            <a:r>
              <a:rPr sz="1725" spc="56" dirty="0">
                <a:latin typeface="Arial"/>
                <a:cs typeface="Arial"/>
              </a:rPr>
              <a:t> </a:t>
            </a:r>
            <a:r>
              <a:rPr sz="1725" spc="-188" dirty="0">
                <a:latin typeface="Arial"/>
                <a:cs typeface="Arial"/>
              </a:rPr>
              <a:t>a</a:t>
            </a:r>
            <a:r>
              <a:rPr sz="1725" spc="-4" dirty="0">
                <a:latin typeface="Arial"/>
                <a:cs typeface="Arial"/>
              </a:rPr>
              <a:t> </a:t>
            </a:r>
            <a:r>
              <a:rPr sz="1725" spc="-195" dirty="0">
                <a:latin typeface="Arial"/>
                <a:cs typeface="Arial"/>
              </a:rPr>
              <a:t>Pipe</a:t>
            </a:r>
            <a:r>
              <a:rPr sz="1725" spc="71" dirty="0">
                <a:latin typeface="Arial"/>
                <a:cs typeface="Arial"/>
              </a:rPr>
              <a:t> </a:t>
            </a:r>
            <a:r>
              <a:rPr sz="1725" spc="-56" dirty="0">
                <a:latin typeface="Arial"/>
                <a:cs typeface="Arial"/>
              </a:rPr>
              <a:t>Service.</a:t>
            </a:r>
            <a:endParaRPr sz="1725">
              <a:latin typeface="Arial"/>
              <a:cs typeface="Arial"/>
            </a:endParaRPr>
          </a:p>
          <a:p>
            <a:pPr marL="469583">
              <a:lnSpc>
                <a:spcPts val="1931"/>
              </a:lnSpc>
            </a:pPr>
            <a:r>
              <a:rPr sz="1725" spc="-124" dirty="0">
                <a:solidFill>
                  <a:srgbClr val="AC2428"/>
                </a:solidFill>
                <a:latin typeface="Arial"/>
                <a:cs typeface="Arial"/>
              </a:rPr>
              <a:t>pipes</a:t>
            </a:r>
            <a:r>
              <a:rPr sz="1725" spc="19" dirty="0">
                <a:solidFill>
                  <a:srgbClr val="AC2428"/>
                </a:solidFill>
                <a:latin typeface="Arial"/>
                <a:cs typeface="Arial"/>
              </a:rPr>
              <a:t> </a:t>
            </a:r>
            <a:r>
              <a:rPr sz="1725" dirty="0">
                <a:solidFill>
                  <a:srgbClr val="853838"/>
                </a:solidFill>
                <a:latin typeface="Arial"/>
                <a:cs typeface="Arial"/>
              </a:rPr>
              <a:t>=</a:t>
            </a:r>
            <a:r>
              <a:rPr sz="1725" spc="19" dirty="0">
                <a:solidFill>
                  <a:srgbClr val="853838"/>
                </a:solidFill>
                <a:latin typeface="Arial"/>
                <a:cs typeface="Arial"/>
              </a:rPr>
              <a:t> </a:t>
            </a:r>
            <a:r>
              <a:rPr sz="1725" spc="-86" dirty="0">
                <a:solidFill>
                  <a:srgbClr val="A82A23"/>
                </a:solidFill>
                <a:latin typeface="Arial"/>
                <a:cs typeface="Arial"/>
              </a:rPr>
              <a:t>group.getPipeService();</a:t>
            </a:r>
            <a:endParaRPr sz="1725">
              <a:latin typeface="Arial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DED97E-8DF4-1361-5DD6-6BF5D7E08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270373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551" y="-268931"/>
            <a:ext cx="5916217" cy="1089722"/>
          </a:xfrm>
          <a:prstGeom prst="rect">
            <a:avLst/>
          </a:prstGeom>
        </p:spPr>
        <p:txBody>
          <a:bodyPr vert="horz" wrap="square" lIns="0" tIns="123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621">
              <a:lnSpc>
                <a:spcPts val="4223"/>
              </a:lnSpc>
              <a:spcBef>
                <a:spcPts val="98"/>
              </a:spcBef>
            </a:pPr>
            <a:r>
              <a:rPr sz="3713" spc="-285" dirty="0">
                <a:solidFill>
                  <a:srgbClr val="363389"/>
                </a:solidFill>
                <a:latin typeface="Arial"/>
                <a:cs typeface="Arial"/>
              </a:rPr>
              <a:t>Looking</a:t>
            </a:r>
            <a:r>
              <a:rPr sz="3713" spc="169" dirty="0">
                <a:solidFill>
                  <a:srgbClr val="363389"/>
                </a:solidFill>
                <a:latin typeface="Arial"/>
                <a:cs typeface="Arial"/>
              </a:rPr>
              <a:t> </a:t>
            </a:r>
            <a:r>
              <a:rPr sz="3713" spc="-229" dirty="0">
                <a:solidFill>
                  <a:srgbClr val="36318A"/>
                </a:solidFill>
                <a:latin typeface="Arial"/>
                <a:cs typeface="Arial"/>
              </a:rPr>
              <a:t>up</a:t>
            </a:r>
            <a:r>
              <a:rPr sz="3713" spc="-26" dirty="0">
                <a:solidFill>
                  <a:srgbClr val="36318A"/>
                </a:solidFill>
                <a:latin typeface="Arial"/>
                <a:cs typeface="Arial"/>
              </a:rPr>
              <a:t> </a:t>
            </a:r>
            <a:r>
              <a:rPr sz="3713" spc="-394" dirty="0">
                <a:solidFill>
                  <a:srgbClr val="3A3685"/>
                </a:solidFill>
                <a:latin typeface="Arial"/>
                <a:cs typeface="Arial"/>
              </a:rPr>
              <a:t>a</a:t>
            </a:r>
            <a:r>
              <a:rPr sz="3713" spc="49" dirty="0">
                <a:solidFill>
                  <a:srgbClr val="3A3685"/>
                </a:solidFill>
                <a:latin typeface="Arial"/>
                <a:cs typeface="Arial"/>
              </a:rPr>
              <a:t> </a:t>
            </a:r>
            <a:r>
              <a:rPr sz="3713" spc="-330" dirty="0">
                <a:solidFill>
                  <a:srgbClr val="36368C"/>
                </a:solidFill>
                <a:latin typeface="Arial"/>
                <a:cs typeface="Arial"/>
              </a:rPr>
              <a:t>Service</a:t>
            </a:r>
            <a:endParaRPr sz="3713">
              <a:latin typeface="Arial"/>
              <a:cs typeface="Arial"/>
            </a:endParaRPr>
          </a:p>
          <a:p>
            <a:pPr marL="25718">
              <a:lnSpc>
                <a:spcPts val="4178"/>
              </a:lnSpc>
            </a:pPr>
            <a:r>
              <a:rPr sz="3675" spc="-266" dirty="0">
                <a:solidFill>
                  <a:srgbClr val="2F2B8C"/>
                </a:solidFill>
                <a:latin typeface="Arial"/>
                <a:cs typeface="Arial"/>
              </a:rPr>
              <a:t>Adve1isement</a:t>
            </a:r>
            <a:endParaRPr sz="367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1975" y="1509824"/>
            <a:ext cx="5532596" cy="245390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5240">
              <a:lnSpc>
                <a:spcPts val="1950"/>
              </a:lnSpc>
              <a:spcBef>
                <a:spcPts val="71"/>
              </a:spcBef>
              <a:tabLst>
                <a:tab pos="469106" algn="l"/>
              </a:tabLst>
            </a:pPr>
            <a:r>
              <a:rPr sz="1725" spc="-38" dirty="0">
                <a:solidFill>
                  <a:srgbClr val="564F7E"/>
                </a:solidFill>
                <a:latin typeface="Arial"/>
                <a:cs typeface="Arial"/>
              </a:rPr>
              <a:t>›</a:t>
            </a:r>
            <a:r>
              <a:rPr sz="1725" dirty="0">
                <a:solidFill>
                  <a:srgbClr val="564F7E"/>
                </a:solidFill>
                <a:latin typeface="Arial"/>
                <a:cs typeface="Arial"/>
              </a:rPr>
              <a:t>	</a:t>
            </a:r>
            <a:r>
              <a:rPr sz="1725" spc="-116" dirty="0">
                <a:latin typeface="Arial"/>
                <a:cs typeface="Arial"/>
              </a:rPr>
              <a:t>First</a:t>
            </a:r>
            <a:r>
              <a:rPr sz="1725" spc="4" dirty="0">
                <a:latin typeface="Arial"/>
                <a:cs typeface="Arial"/>
              </a:rPr>
              <a:t> </a:t>
            </a:r>
            <a:r>
              <a:rPr sz="1725" spc="-161" dirty="0">
                <a:latin typeface="Arial"/>
                <a:cs typeface="Arial"/>
              </a:rPr>
              <a:t>check</a:t>
            </a:r>
            <a:r>
              <a:rPr sz="1725" spc="49" dirty="0">
                <a:latin typeface="Arial"/>
                <a:cs typeface="Arial"/>
              </a:rPr>
              <a:t> </a:t>
            </a:r>
            <a:r>
              <a:rPr sz="1725" spc="-86" dirty="0">
                <a:latin typeface="Arial"/>
                <a:cs typeface="Arial"/>
              </a:rPr>
              <a:t>the</a:t>
            </a:r>
            <a:r>
              <a:rPr sz="1725" spc="-38" dirty="0">
                <a:latin typeface="Arial"/>
                <a:cs typeface="Arial"/>
              </a:rPr>
              <a:t> </a:t>
            </a:r>
            <a:r>
              <a:rPr sz="1725" spc="-172" dirty="0">
                <a:latin typeface="Arial"/>
                <a:cs typeface="Arial"/>
              </a:rPr>
              <a:t>Local</a:t>
            </a:r>
            <a:r>
              <a:rPr sz="1725" spc="23" dirty="0">
                <a:latin typeface="Arial"/>
                <a:cs typeface="Arial"/>
              </a:rPr>
              <a:t> </a:t>
            </a:r>
            <a:r>
              <a:rPr sz="1725" spc="-191" dirty="0">
                <a:latin typeface="Arial"/>
                <a:cs typeface="Arial"/>
              </a:rPr>
              <a:t>Cache,</a:t>
            </a:r>
            <a:r>
              <a:rPr sz="1725" spc="41" dirty="0">
                <a:latin typeface="Arial"/>
                <a:cs typeface="Arial"/>
              </a:rPr>
              <a:t> </a:t>
            </a:r>
            <a:r>
              <a:rPr sz="1725" spc="-188" dirty="0">
                <a:latin typeface="Arial"/>
                <a:cs typeface="Arial"/>
              </a:rPr>
              <a:t>a</a:t>
            </a:r>
            <a:r>
              <a:rPr sz="1725" spc="19" dirty="0">
                <a:latin typeface="Arial"/>
                <a:cs typeface="Arial"/>
              </a:rPr>
              <a:t> </a:t>
            </a:r>
            <a:r>
              <a:rPr sz="1725" spc="-109" dirty="0">
                <a:latin typeface="Arial"/>
                <a:cs typeface="Arial"/>
              </a:rPr>
              <a:t>store</a:t>
            </a:r>
            <a:r>
              <a:rPr sz="1725" spc="23" dirty="0">
                <a:latin typeface="Arial"/>
                <a:cs typeface="Arial"/>
              </a:rPr>
              <a:t> </a:t>
            </a:r>
            <a:r>
              <a:rPr sz="1725" spc="-68" dirty="0">
                <a:latin typeface="Arial"/>
                <a:cs typeface="Arial"/>
              </a:rPr>
              <a:t>of</a:t>
            </a:r>
            <a:r>
              <a:rPr sz="1725" spc="-30" dirty="0">
                <a:latin typeface="Arial"/>
                <a:cs typeface="Arial"/>
              </a:rPr>
              <a:t> </a:t>
            </a:r>
            <a:r>
              <a:rPr sz="1725" spc="-120" dirty="0">
                <a:latin typeface="Arial"/>
                <a:cs typeface="Arial"/>
              </a:rPr>
              <a:t>previously</a:t>
            </a:r>
            <a:r>
              <a:rPr sz="1725" spc="98" dirty="0">
                <a:latin typeface="Arial"/>
                <a:cs typeface="Arial"/>
              </a:rPr>
              <a:t> </a:t>
            </a:r>
            <a:r>
              <a:rPr sz="1725" spc="-8" dirty="0">
                <a:latin typeface="Arial"/>
                <a:cs typeface="Arial"/>
              </a:rPr>
              <a:t>found</a:t>
            </a:r>
            <a:endParaRPr sz="1725">
              <a:latin typeface="Arial"/>
              <a:cs typeface="Arial"/>
            </a:endParaRPr>
          </a:p>
          <a:p>
            <a:pPr marL="474345">
              <a:lnSpc>
                <a:spcPts val="1770"/>
              </a:lnSpc>
            </a:pPr>
            <a:r>
              <a:rPr sz="1688" spc="-113" dirty="0">
                <a:latin typeface="Arial"/>
                <a:cs typeface="Arial"/>
              </a:rPr>
              <a:t>Advertisements</a:t>
            </a:r>
            <a:r>
              <a:rPr sz="1688" spc="-90" dirty="0">
                <a:latin typeface="Arial"/>
                <a:cs typeface="Arial"/>
              </a:rPr>
              <a:t> kept</a:t>
            </a:r>
            <a:r>
              <a:rPr sz="1688" spc="34" dirty="0">
                <a:latin typeface="Arial"/>
                <a:cs typeface="Arial"/>
              </a:rPr>
              <a:t> </a:t>
            </a:r>
            <a:r>
              <a:rPr sz="1688" spc="-124" dirty="0">
                <a:latin typeface="Arial"/>
                <a:cs typeface="Arial"/>
              </a:rPr>
              <a:t>by</a:t>
            </a:r>
            <a:r>
              <a:rPr sz="1688" spc="26" dirty="0">
                <a:latin typeface="Arial"/>
                <a:cs typeface="Arial"/>
              </a:rPr>
              <a:t> </a:t>
            </a:r>
            <a:r>
              <a:rPr sz="1688" spc="-79" dirty="0">
                <a:latin typeface="Arial"/>
                <a:cs typeface="Arial"/>
              </a:rPr>
              <a:t>the</a:t>
            </a:r>
            <a:r>
              <a:rPr sz="1688" spc="-53" dirty="0">
                <a:latin typeface="Arial"/>
                <a:cs typeface="Arial"/>
              </a:rPr>
              <a:t> </a:t>
            </a:r>
            <a:r>
              <a:rPr sz="1688" spc="-251" dirty="0">
                <a:latin typeface="Arial"/>
                <a:cs typeface="Arial"/>
              </a:rPr>
              <a:t>JXTA</a:t>
            </a:r>
            <a:r>
              <a:rPr sz="1688" spc="26" dirty="0">
                <a:latin typeface="Arial"/>
                <a:cs typeface="Arial"/>
              </a:rPr>
              <a:t> </a:t>
            </a:r>
            <a:r>
              <a:rPr sz="1688" spc="-45" dirty="0">
                <a:latin typeface="Arial"/>
                <a:cs typeface="Arial"/>
              </a:rPr>
              <a:t>Framework.</a:t>
            </a:r>
            <a:endParaRPr sz="1688">
              <a:latin typeface="Arial"/>
              <a:cs typeface="Arial"/>
            </a:endParaRPr>
          </a:p>
          <a:p>
            <a:pPr marL="463391">
              <a:lnSpc>
                <a:spcPts val="1815"/>
              </a:lnSpc>
            </a:pPr>
            <a:r>
              <a:rPr sz="1725" spc="-143" dirty="0">
                <a:solidFill>
                  <a:srgbClr val="9E1C0F"/>
                </a:solidFill>
                <a:latin typeface="Arial"/>
                <a:cs typeface="Arial"/>
              </a:rPr>
              <a:t>Enumeration</a:t>
            </a:r>
            <a:r>
              <a:rPr sz="1725" spc="94" dirty="0">
                <a:solidFill>
                  <a:srgbClr val="9E1C0F"/>
                </a:solidFill>
                <a:latin typeface="Arial"/>
                <a:cs typeface="Arial"/>
              </a:rPr>
              <a:t> </a:t>
            </a:r>
            <a:r>
              <a:rPr sz="1725" spc="-146" dirty="0">
                <a:solidFill>
                  <a:srgbClr val="B52331"/>
                </a:solidFill>
                <a:latin typeface="Arial"/>
                <a:cs typeface="Arial"/>
              </a:rPr>
              <a:t>enum</a:t>
            </a:r>
            <a:r>
              <a:rPr sz="1725" spc="45" dirty="0">
                <a:solidFill>
                  <a:srgbClr val="B52331"/>
                </a:solidFill>
                <a:latin typeface="Arial"/>
                <a:cs typeface="Arial"/>
              </a:rPr>
              <a:t> </a:t>
            </a:r>
            <a:r>
              <a:rPr sz="1725" dirty="0">
                <a:solidFill>
                  <a:srgbClr val="7E3B44"/>
                </a:solidFill>
                <a:latin typeface="Arial"/>
                <a:cs typeface="Arial"/>
              </a:rPr>
              <a:t>=</a:t>
            </a:r>
            <a:r>
              <a:rPr sz="1725" spc="4" dirty="0">
                <a:solidFill>
                  <a:srgbClr val="7E3B44"/>
                </a:solidFill>
                <a:latin typeface="Arial"/>
                <a:cs typeface="Arial"/>
              </a:rPr>
              <a:t> </a:t>
            </a:r>
            <a:r>
              <a:rPr sz="1725" spc="-101" dirty="0">
                <a:solidFill>
                  <a:srgbClr val="AA2116"/>
                </a:solidFill>
                <a:latin typeface="Arial"/>
                <a:cs typeface="Arial"/>
              </a:rPr>
              <a:t>disco.getLocaIAdvertisements(</a:t>
            </a:r>
            <a:endParaRPr sz="1725">
              <a:latin typeface="Arial"/>
              <a:cs typeface="Arial"/>
            </a:endParaRPr>
          </a:p>
          <a:p>
            <a:pPr marL="698658">
              <a:lnSpc>
                <a:spcPts val="1905"/>
              </a:lnSpc>
            </a:pPr>
            <a:r>
              <a:rPr sz="1688" spc="-146" dirty="0">
                <a:solidFill>
                  <a:srgbClr val="A52B31"/>
                </a:solidFill>
                <a:latin typeface="Arial"/>
                <a:cs typeface="Arial"/>
              </a:rPr>
              <a:t>DiscoveryService.ADV,</a:t>
            </a:r>
            <a:r>
              <a:rPr sz="1688" spc="30" dirty="0">
                <a:solidFill>
                  <a:srgbClr val="A52B31"/>
                </a:solidFill>
                <a:latin typeface="Arial"/>
                <a:cs typeface="Arial"/>
              </a:rPr>
              <a:t> </a:t>
            </a:r>
            <a:r>
              <a:rPr sz="1688" spc="-109" dirty="0">
                <a:solidFill>
                  <a:srgbClr val="952F3B"/>
                </a:solidFill>
                <a:latin typeface="Arial"/>
                <a:cs typeface="Arial"/>
              </a:rPr>
              <a:t>"Name",</a:t>
            </a:r>
            <a:r>
              <a:rPr sz="1688" spc="34" dirty="0">
                <a:solidFill>
                  <a:srgbClr val="952F3B"/>
                </a:solidFill>
                <a:latin typeface="Arial"/>
                <a:cs typeface="Arial"/>
              </a:rPr>
              <a:t> </a:t>
            </a:r>
            <a:r>
              <a:rPr sz="1688" spc="-195" dirty="0">
                <a:solidFill>
                  <a:srgbClr val="902328"/>
                </a:solidFill>
                <a:latin typeface="Arial"/>
                <a:cs typeface="Arial"/>
              </a:rPr>
              <a:t>"JXTASPEC:3XTA-</a:t>
            </a:r>
            <a:r>
              <a:rPr sz="1688" spc="-8" dirty="0">
                <a:solidFill>
                  <a:srgbClr val="902328"/>
                </a:solidFill>
                <a:latin typeface="Arial"/>
                <a:cs typeface="Arial"/>
              </a:rPr>
              <a:t>EX1”);</a:t>
            </a:r>
            <a:endParaRPr sz="1688">
              <a:latin typeface="Arial"/>
              <a:cs typeface="Arial"/>
            </a:endParaRPr>
          </a:p>
          <a:p>
            <a:pPr marL="466249" marR="183356" indent="-453866">
              <a:lnSpc>
                <a:spcPct val="87400"/>
              </a:lnSpc>
              <a:spcBef>
                <a:spcPts val="390"/>
              </a:spcBef>
              <a:tabLst>
                <a:tab pos="470535" algn="l"/>
              </a:tabLst>
            </a:pPr>
            <a:r>
              <a:rPr sz="1688" spc="-506" dirty="0">
                <a:solidFill>
                  <a:srgbClr val="464646"/>
                </a:solidFill>
                <a:latin typeface="Arial"/>
                <a:cs typeface="Arial"/>
              </a:rPr>
              <a:t>2</a:t>
            </a:r>
            <a:r>
              <a:rPr sz="1688" dirty="0">
                <a:solidFill>
                  <a:srgbClr val="464646"/>
                </a:solidFill>
                <a:latin typeface="Arial"/>
                <a:cs typeface="Arial"/>
              </a:rPr>
              <a:t>		</a:t>
            </a:r>
            <a:r>
              <a:rPr sz="1688" spc="-184" dirty="0">
                <a:latin typeface="Arial"/>
                <a:cs typeface="Arial"/>
              </a:rPr>
              <a:t>Send</a:t>
            </a:r>
            <a:r>
              <a:rPr sz="1688" spc="19" dirty="0">
                <a:latin typeface="Arial"/>
                <a:cs typeface="Arial"/>
              </a:rPr>
              <a:t> </a:t>
            </a:r>
            <a:r>
              <a:rPr sz="1688" spc="-225" dirty="0">
                <a:latin typeface="Arial"/>
                <a:cs typeface="Arial"/>
              </a:rPr>
              <a:t>a</a:t>
            </a:r>
            <a:r>
              <a:rPr sz="1688" spc="79" dirty="0">
                <a:latin typeface="Arial"/>
                <a:cs typeface="Arial"/>
              </a:rPr>
              <a:t> </a:t>
            </a:r>
            <a:r>
              <a:rPr sz="1688" spc="-113" dirty="0">
                <a:latin typeface="Arial"/>
                <a:cs typeface="Arial"/>
              </a:rPr>
              <a:t>remote</a:t>
            </a:r>
            <a:r>
              <a:rPr sz="1688" spc="-4" dirty="0">
                <a:latin typeface="Arial"/>
                <a:cs typeface="Arial"/>
              </a:rPr>
              <a:t> </a:t>
            </a:r>
            <a:r>
              <a:rPr sz="1688" spc="-116" dirty="0">
                <a:latin typeface="Arial"/>
                <a:cs typeface="Arial"/>
              </a:rPr>
              <a:t>discovery</a:t>
            </a:r>
            <a:r>
              <a:rPr sz="1688" dirty="0">
                <a:latin typeface="Arial"/>
                <a:cs typeface="Arial"/>
              </a:rPr>
              <a:t> </a:t>
            </a:r>
            <a:r>
              <a:rPr sz="1688" spc="-113" dirty="0">
                <a:latin typeface="Arial"/>
                <a:cs typeface="Arial"/>
              </a:rPr>
              <a:t>request</a:t>
            </a:r>
            <a:r>
              <a:rPr sz="1688" spc="-8" dirty="0">
                <a:latin typeface="Arial"/>
                <a:cs typeface="Arial"/>
              </a:rPr>
              <a:t> </a:t>
            </a:r>
            <a:r>
              <a:rPr sz="1688" spc="-116" dirty="0">
                <a:latin typeface="Arial"/>
                <a:cs typeface="Arial"/>
              </a:rPr>
              <a:t>searching</a:t>
            </a:r>
            <a:r>
              <a:rPr sz="1688" spc="45" dirty="0">
                <a:latin typeface="Arial"/>
                <a:cs typeface="Arial"/>
              </a:rPr>
              <a:t> </a:t>
            </a:r>
            <a:r>
              <a:rPr sz="1688" spc="-49" dirty="0">
                <a:latin typeface="Arial"/>
                <a:cs typeface="Arial"/>
              </a:rPr>
              <a:t>for</a:t>
            </a:r>
            <a:r>
              <a:rPr sz="1688" spc="-11" dirty="0">
                <a:latin typeface="Arial"/>
                <a:cs typeface="Arial"/>
              </a:rPr>
              <a:t> </a:t>
            </a:r>
            <a:r>
              <a:rPr sz="1688" spc="-64" dirty="0">
                <a:latin typeface="Arial"/>
                <a:cs typeface="Arial"/>
              </a:rPr>
              <a:t>the</a:t>
            </a:r>
            <a:r>
              <a:rPr sz="1688" spc="-53" dirty="0">
                <a:latin typeface="Arial"/>
                <a:cs typeface="Arial"/>
              </a:rPr>
              <a:t> </a:t>
            </a:r>
            <a:r>
              <a:rPr sz="1688" spc="-75" dirty="0">
                <a:latin typeface="Arial"/>
                <a:cs typeface="Arial"/>
              </a:rPr>
              <a:t>service </a:t>
            </a:r>
            <a:r>
              <a:rPr sz="1725" spc="-105" dirty="0">
                <a:latin typeface="Arial"/>
                <a:cs typeface="Arial"/>
              </a:rPr>
              <a:t>advertisement.</a:t>
            </a:r>
            <a:r>
              <a:rPr sz="1725" spc="-68" dirty="0">
                <a:latin typeface="Arial"/>
                <a:cs typeface="Arial"/>
              </a:rPr>
              <a:t> </a:t>
            </a:r>
            <a:r>
              <a:rPr sz="1725" spc="-165" dirty="0">
                <a:latin typeface="Arial"/>
                <a:cs typeface="Arial"/>
              </a:rPr>
              <a:t>Results</a:t>
            </a:r>
            <a:r>
              <a:rPr sz="1725" spc="79" dirty="0">
                <a:latin typeface="Arial"/>
                <a:cs typeface="Arial"/>
              </a:rPr>
              <a:t> </a:t>
            </a:r>
            <a:r>
              <a:rPr sz="1725" spc="-150" dirty="0">
                <a:latin typeface="Arial"/>
                <a:cs typeface="Arial"/>
              </a:rPr>
              <a:t>end</a:t>
            </a:r>
            <a:r>
              <a:rPr sz="1725" spc="4" dirty="0">
                <a:latin typeface="Arial"/>
                <a:cs typeface="Arial"/>
              </a:rPr>
              <a:t> </a:t>
            </a:r>
            <a:r>
              <a:rPr sz="1725" spc="-113" dirty="0">
                <a:latin typeface="Arial"/>
                <a:cs typeface="Arial"/>
              </a:rPr>
              <a:t>up</a:t>
            </a:r>
            <a:r>
              <a:rPr sz="1725" spc="-60" dirty="0">
                <a:latin typeface="Arial"/>
                <a:cs typeface="Arial"/>
              </a:rPr>
              <a:t> </a:t>
            </a:r>
            <a:r>
              <a:rPr sz="1725" spc="-56" dirty="0">
                <a:latin typeface="Arial"/>
                <a:cs typeface="Arial"/>
              </a:rPr>
              <a:t>in</a:t>
            </a:r>
            <a:r>
              <a:rPr sz="1725" spc="-41" dirty="0">
                <a:latin typeface="Arial"/>
                <a:cs typeface="Arial"/>
              </a:rPr>
              <a:t> </a:t>
            </a:r>
            <a:r>
              <a:rPr sz="1725" spc="-86" dirty="0">
                <a:latin typeface="Arial"/>
                <a:cs typeface="Arial"/>
              </a:rPr>
              <a:t>the</a:t>
            </a:r>
            <a:r>
              <a:rPr sz="1725" spc="-26" dirty="0">
                <a:latin typeface="Arial"/>
                <a:cs typeface="Arial"/>
              </a:rPr>
              <a:t> </a:t>
            </a:r>
            <a:r>
              <a:rPr sz="1725" spc="-172" dirty="0">
                <a:latin typeface="Arial"/>
                <a:cs typeface="Arial"/>
              </a:rPr>
              <a:t>Local</a:t>
            </a:r>
            <a:r>
              <a:rPr sz="1725" spc="45" dirty="0">
                <a:latin typeface="Arial"/>
                <a:cs typeface="Arial"/>
              </a:rPr>
              <a:t> </a:t>
            </a:r>
            <a:r>
              <a:rPr sz="1725" spc="-45" dirty="0">
                <a:latin typeface="Arial"/>
                <a:cs typeface="Arial"/>
              </a:rPr>
              <a:t>Cache! </a:t>
            </a:r>
            <a:r>
              <a:rPr sz="1725" spc="-101" dirty="0">
                <a:solidFill>
                  <a:srgbClr val="91282D"/>
                </a:solidFill>
                <a:latin typeface="Arial"/>
                <a:cs typeface="Arial"/>
              </a:rPr>
              <a:t>disco.getRemoteAdvertisements(</a:t>
            </a:r>
            <a:endParaRPr sz="1725">
              <a:latin typeface="Arial"/>
              <a:cs typeface="Arial"/>
            </a:endParaRPr>
          </a:p>
          <a:p>
            <a:pPr marL="698658">
              <a:lnSpc>
                <a:spcPts val="1785"/>
              </a:lnSpc>
            </a:pPr>
            <a:r>
              <a:rPr sz="1688" spc="-146" dirty="0">
                <a:solidFill>
                  <a:srgbClr val="9A3131"/>
                </a:solidFill>
                <a:latin typeface="Arial"/>
                <a:cs typeface="Arial"/>
              </a:rPr>
              <a:t>DiscoveryService.ADV,</a:t>
            </a:r>
            <a:r>
              <a:rPr sz="1688" spc="45" dirty="0">
                <a:solidFill>
                  <a:srgbClr val="9A3131"/>
                </a:solidFill>
                <a:latin typeface="Arial"/>
                <a:cs typeface="Arial"/>
              </a:rPr>
              <a:t> </a:t>
            </a:r>
            <a:r>
              <a:rPr sz="1688" spc="-109" dirty="0">
                <a:solidFill>
                  <a:srgbClr val="8E2A2D"/>
                </a:solidFill>
                <a:latin typeface="Arial"/>
                <a:cs typeface="Arial"/>
              </a:rPr>
              <a:t>"Name",</a:t>
            </a:r>
            <a:r>
              <a:rPr sz="1688" spc="64" dirty="0">
                <a:solidFill>
                  <a:srgbClr val="8E2A2D"/>
                </a:solidFill>
                <a:latin typeface="Arial"/>
                <a:cs typeface="Arial"/>
              </a:rPr>
              <a:t> </a:t>
            </a:r>
            <a:r>
              <a:rPr sz="1688" spc="-191" dirty="0">
                <a:solidFill>
                  <a:srgbClr val="90282B"/>
                </a:solidFill>
                <a:latin typeface="Arial"/>
                <a:cs typeface="Arial"/>
              </a:rPr>
              <a:t>"JXTASPEC:JXTA-</a:t>
            </a:r>
            <a:r>
              <a:rPr sz="1688" spc="-86" dirty="0">
                <a:solidFill>
                  <a:srgbClr val="90282B"/>
                </a:solidFill>
                <a:latin typeface="Arial"/>
                <a:cs typeface="Arial"/>
              </a:rPr>
              <a:t>EX1",1);</a:t>
            </a:r>
            <a:endParaRPr sz="1688">
              <a:latin typeface="Arial"/>
              <a:cs typeface="Arial"/>
            </a:endParaRPr>
          </a:p>
          <a:p>
            <a:pPr marL="9525">
              <a:lnSpc>
                <a:spcPts val="1864"/>
              </a:lnSpc>
              <a:spcBef>
                <a:spcPts val="214"/>
              </a:spcBef>
              <a:tabLst>
                <a:tab pos="461486" algn="l"/>
              </a:tabLst>
            </a:pPr>
            <a:r>
              <a:rPr sz="1613" spc="-19" dirty="0">
                <a:solidFill>
                  <a:srgbClr val="3D3D3D"/>
                </a:solidFill>
                <a:latin typeface="Arial"/>
                <a:cs typeface="Arial"/>
              </a:rPr>
              <a:t>›.</a:t>
            </a:r>
            <a:r>
              <a:rPr sz="1613" dirty="0">
                <a:solidFill>
                  <a:srgbClr val="3D3D3D"/>
                </a:solidFill>
                <a:latin typeface="Arial"/>
                <a:cs typeface="Arial"/>
              </a:rPr>
              <a:t>	</a:t>
            </a:r>
            <a:r>
              <a:rPr sz="1613" dirty="0">
                <a:latin typeface="Arial"/>
                <a:cs typeface="Arial"/>
              </a:rPr>
              <a:t>If</a:t>
            </a:r>
            <a:r>
              <a:rPr sz="1613" spc="233" dirty="0">
                <a:latin typeface="Arial"/>
                <a:cs typeface="Arial"/>
              </a:rPr>
              <a:t> </a:t>
            </a:r>
            <a:r>
              <a:rPr sz="1613" spc="-60" dirty="0">
                <a:latin typeface="Arial"/>
                <a:cs typeface="Arial"/>
              </a:rPr>
              <a:t>we're</a:t>
            </a:r>
            <a:r>
              <a:rPr sz="1613" spc="-41" dirty="0">
                <a:latin typeface="Arial"/>
                <a:cs typeface="Arial"/>
              </a:rPr>
              <a:t> </a:t>
            </a:r>
            <a:r>
              <a:rPr sz="1613" spc="-45" dirty="0">
                <a:latin typeface="Arial"/>
                <a:cs typeface="Arial"/>
              </a:rPr>
              <a:t>lucky</a:t>
            </a:r>
            <a:r>
              <a:rPr sz="1613" spc="38" dirty="0">
                <a:latin typeface="Arial"/>
                <a:cs typeface="Arial"/>
              </a:rPr>
              <a:t> </a:t>
            </a:r>
            <a:r>
              <a:rPr sz="1613" spc="-60" dirty="0">
                <a:latin typeface="Arial"/>
                <a:cs typeface="Arial"/>
              </a:rPr>
              <a:t>we</a:t>
            </a:r>
            <a:r>
              <a:rPr sz="1613" spc="-53" dirty="0">
                <a:latin typeface="Arial"/>
                <a:cs typeface="Arial"/>
              </a:rPr>
              <a:t> </a:t>
            </a:r>
            <a:r>
              <a:rPr sz="1613" spc="-34" dirty="0">
                <a:latin typeface="Arial"/>
                <a:cs typeface="Arial"/>
              </a:rPr>
              <a:t>find</a:t>
            </a:r>
            <a:r>
              <a:rPr sz="1613" spc="-79" dirty="0">
                <a:latin typeface="Arial"/>
                <a:cs typeface="Arial"/>
              </a:rPr>
              <a:t> </a:t>
            </a:r>
            <a:r>
              <a:rPr sz="1613" spc="-15" dirty="0">
                <a:latin typeface="Arial"/>
                <a:cs typeface="Arial"/>
              </a:rPr>
              <a:t>the</a:t>
            </a:r>
            <a:r>
              <a:rPr sz="1613" spc="-94" dirty="0">
                <a:latin typeface="Arial"/>
                <a:cs typeface="Arial"/>
              </a:rPr>
              <a:t> Service</a:t>
            </a:r>
            <a:r>
              <a:rPr sz="1613" spc="-19" dirty="0">
                <a:latin typeface="Arial"/>
                <a:cs typeface="Arial"/>
              </a:rPr>
              <a:t> </a:t>
            </a:r>
            <a:r>
              <a:rPr sz="1613" spc="-8" dirty="0">
                <a:latin typeface="Arial"/>
                <a:cs typeface="Arial"/>
              </a:rPr>
              <a:t>Advelisement.</a:t>
            </a:r>
            <a:endParaRPr sz="1613">
              <a:latin typeface="Arial"/>
              <a:cs typeface="Arial"/>
            </a:endParaRPr>
          </a:p>
          <a:p>
            <a:pPr marL="471964">
              <a:lnSpc>
                <a:spcPts val="1864"/>
              </a:lnSpc>
            </a:pPr>
            <a:r>
              <a:rPr sz="1613" spc="-94" dirty="0">
                <a:solidFill>
                  <a:srgbClr val="FB7579"/>
                </a:solidFill>
                <a:latin typeface="Arial"/>
                <a:cs typeface="Arial"/>
              </a:rPr>
              <a:t>ModuleSpecAdvertisement</a:t>
            </a:r>
            <a:r>
              <a:rPr sz="1613" spc="11" dirty="0">
                <a:solidFill>
                  <a:srgbClr val="FB7579"/>
                </a:solidFill>
                <a:latin typeface="Arial"/>
                <a:cs typeface="Arial"/>
              </a:rPr>
              <a:t> </a:t>
            </a:r>
            <a:r>
              <a:rPr sz="1613" spc="-83" dirty="0">
                <a:solidFill>
                  <a:srgbClr val="8C2D3B"/>
                </a:solidFill>
                <a:latin typeface="Arial"/>
                <a:cs typeface="Arial"/>
              </a:rPr>
              <a:t>mdsadv</a:t>
            </a:r>
            <a:r>
              <a:rPr sz="1613" spc="109" dirty="0">
                <a:solidFill>
                  <a:srgbClr val="8C2D3B"/>
                </a:solidFill>
                <a:latin typeface="Arial"/>
                <a:cs typeface="Arial"/>
              </a:rPr>
              <a:t> </a:t>
            </a:r>
            <a:r>
              <a:rPr sz="1613" dirty="0">
                <a:solidFill>
                  <a:srgbClr val="743338"/>
                </a:solidFill>
                <a:latin typeface="Arial"/>
                <a:cs typeface="Arial"/>
              </a:rPr>
              <a:t>=</a:t>
            </a:r>
            <a:r>
              <a:rPr sz="1613" spc="30" dirty="0">
                <a:solidFill>
                  <a:srgbClr val="743338"/>
                </a:solidFill>
                <a:latin typeface="Arial"/>
                <a:cs typeface="Arial"/>
              </a:rPr>
              <a:t> </a:t>
            </a:r>
            <a:r>
              <a:rPr sz="1613" spc="-19" dirty="0">
                <a:solidFill>
                  <a:srgbClr val="952D2F"/>
                </a:solidFill>
                <a:latin typeface="Arial"/>
                <a:cs typeface="Arial"/>
              </a:rPr>
              <a:t>enum.nextEIement();</a:t>
            </a:r>
            <a:endParaRPr sz="1613">
              <a:latin typeface="Arial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54232D-EB96-78C7-5C8F-C601B09A9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297162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551" y="-262519"/>
            <a:ext cx="5916217" cy="1076898"/>
          </a:xfrm>
          <a:prstGeom prst="rect">
            <a:avLst/>
          </a:prstGeom>
        </p:spPr>
        <p:txBody>
          <a:bodyPr vert="horz" wrap="square" lIns="0" tIns="123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0955">
              <a:lnSpc>
                <a:spcPts val="4121"/>
              </a:lnSpc>
              <a:spcBef>
                <a:spcPts val="98"/>
              </a:spcBef>
            </a:pPr>
            <a:r>
              <a:rPr sz="3638" spc="-244" dirty="0">
                <a:solidFill>
                  <a:srgbClr val="383485"/>
                </a:solidFill>
                <a:latin typeface="Arial"/>
                <a:cs typeface="Arial"/>
              </a:rPr>
              <a:t>Finding</a:t>
            </a:r>
            <a:r>
              <a:rPr sz="3638" spc="184" dirty="0">
                <a:solidFill>
                  <a:srgbClr val="383485"/>
                </a:solidFill>
                <a:latin typeface="Arial"/>
                <a:cs typeface="Arial"/>
              </a:rPr>
              <a:t> </a:t>
            </a:r>
            <a:r>
              <a:rPr sz="3638" spc="-90" dirty="0">
                <a:solidFill>
                  <a:srgbClr val="36317C"/>
                </a:solidFill>
                <a:latin typeface="Arial"/>
                <a:cs typeface="Arial"/>
              </a:rPr>
              <a:t>the</a:t>
            </a:r>
            <a:r>
              <a:rPr sz="3638" spc="-41" dirty="0">
                <a:solidFill>
                  <a:srgbClr val="36317C"/>
                </a:solidFill>
                <a:latin typeface="Arial"/>
                <a:cs typeface="Arial"/>
              </a:rPr>
              <a:t> </a:t>
            </a:r>
            <a:r>
              <a:rPr sz="3638" spc="-349" dirty="0">
                <a:solidFill>
                  <a:srgbClr val="363190"/>
                </a:solidFill>
                <a:latin typeface="Arial"/>
                <a:cs typeface="Arial"/>
              </a:rPr>
              <a:t>Pipe</a:t>
            </a:r>
            <a:endParaRPr sz="3638">
              <a:latin typeface="Arial"/>
              <a:cs typeface="Arial"/>
            </a:endParaRPr>
          </a:p>
          <a:p>
            <a:pPr marL="26194">
              <a:lnSpc>
                <a:spcPts val="4211"/>
              </a:lnSpc>
            </a:pPr>
            <a:r>
              <a:rPr sz="3713" spc="-270" dirty="0">
                <a:solidFill>
                  <a:srgbClr val="343190"/>
                </a:solidFill>
                <a:latin typeface="Arial"/>
                <a:cs typeface="Arial"/>
              </a:rPr>
              <a:t>Advertisement</a:t>
            </a:r>
            <a:endParaRPr sz="371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1016" y="1596144"/>
            <a:ext cx="113348" cy="161101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975" spc="-19" dirty="0">
                <a:solidFill>
                  <a:srgbClr val="424242"/>
                </a:solidFill>
                <a:latin typeface="Arial"/>
                <a:cs typeface="Arial"/>
              </a:rPr>
              <a:t>1.</a:t>
            </a:r>
            <a:endParaRPr sz="97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4190" y="2783608"/>
            <a:ext cx="102870" cy="166936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013" spc="-79" dirty="0">
                <a:solidFill>
                  <a:srgbClr val="505050"/>
                </a:solidFill>
                <a:latin typeface="Arial"/>
                <a:cs typeface="Arial"/>
              </a:rPr>
              <a:t>2.</a:t>
            </a:r>
            <a:endParaRPr sz="101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3831" y="1515777"/>
            <a:ext cx="5124926" cy="2853858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8574" marR="3810" indent="-9525">
              <a:lnSpc>
                <a:spcPct val="88400"/>
              </a:lnSpc>
              <a:spcBef>
                <a:spcPts val="300"/>
              </a:spcBef>
            </a:pPr>
            <a:r>
              <a:rPr sz="1650" spc="45" dirty="0">
                <a:latin typeface="Arial"/>
                <a:cs typeface="Arial"/>
              </a:rPr>
              <a:t>In</a:t>
            </a:r>
            <a:r>
              <a:rPr sz="1650" spc="-116" dirty="0">
                <a:latin typeface="Arial"/>
                <a:cs typeface="Arial"/>
              </a:rPr>
              <a:t> </a:t>
            </a:r>
            <a:r>
              <a:rPr sz="1650" spc="-214" dirty="0">
                <a:latin typeface="Arial"/>
                <a:cs typeface="Arial"/>
              </a:rPr>
              <a:t>a</a:t>
            </a:r>
            <a:r>
              <a:rPr sz="1650" spc="94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reversal</a:t>
            </a:r>
            <a:r>
              <a:rPr sz="1650" spc="-19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of</a:t>
            </a:r>
            <a:r>
              <a:rPr sz="1650" spc="-41" dirty="0">
                <a:latin typeface="Arial"/>
                <a:cs typeface="Arial"/>
              </a:rPr>
              <a:t> </a:t>
            </a:r>
            <a:r>
              <a:rPr sz="1650" spc="-64" dirty="0">
                <a:latin typeface="Arial"/>
                <a:cs typeface="Arial"/>
              </a:rPr>
              <a:t>our</a:t>
            </a:r>
            <a:r>
              <a:rPr sz="1650" spc="11" dirty="0">
                <a:latin typeface="Arial"/>
                <a:cs typeface="Arial"/>
              </a:rPr>
              <a:t> </a:t>
            </a:r>
            <a:r>
              <a:rPr sz="1650" spc="-94" dirty="0">
                <a:latin typeface="Arial"/>
                <a:cs typeface="Arial"/>
              </a:rPr>
              <a:t>producer's</a:t>
            </a:r>
            <a:r>
              <a:rPr sz="1650" spc="26" dirty="0">
                <a:latin typeface="Arial"/>
                <a:cs typeface="Arial"/>
              </a:rPr>
              <a:t> </a:t>
            </a:r>
            <a:r>
              <a:rPr sz="1650" spc="-105" dirty="0">
                <a:latin typeface="Arial"/>
                <a:cs typeface="Arial"/>
              </a:rPr>
              <a:t>behavior,</a:t>
            </a:r>
            <a:r>
              <a:rPr sz="1650" spc="75" dirty="0">
                <a:latin typeface="Arial"/>
                <a:cs typeface="Arial"/>
              </a:rPr>
              <a:t> </a:t>
            </a:r>
            <a:r>
              <a:rPr sz="1650" spc="-109" dirty="0">
                <a:latin typeface="Arial"/>
                <a:cs typeface="Arial"/>
              </a:rPr>
              <a:t>we</a:t>
            </a:r>
            <a:r>
              <a:rPr sz="1650" spc="-8" dirty="0">
                <a:latin typeface="Arial"/>
                <a:cs typeface="Arial"/>
              </a:rPr>
              <a:t> </a:t>
            </a:r>
            <a:r>
              <a:rPr sz="1650" spc="-98" dirty="0">
                <a:latin typeface="Arial"/>
                <a:cs typeface="Arial"/>
              </a:rPr>
              <a:t>must</a:t>
            </a:r>
            <a:r>
              <a:rPr sz="1650" spc="-19" dirty="0">
                <a:latin typeface="Arial"/>
                <a:cs typeface="Arial"/>
              </a:rPr>
              <a:t> </a:t>
            </a:r>
            <a:r>
              <a:rPr sz="1650" spc="-53" dirty="0">
                <a:latin typeface="Arial"/>
                <a:cs typeface="Arial"/>
              </a:rPr>
              <a:t>extract</a:t>
            </a:r>
            <a:r>
              <a:rPr sz="1650" spc="23" dirty="0">
                <a:latin typeface="Arial"/>
                <a:cs typeface="Arial"/>
              </a:rPr>
              <a:t> </a:t>
            </a:r>
            <a:r>
              <a:rPr sz="1650" spc="-19" dirty="0">
                <a:latin typeface="Arial"/>
                <a:cs typeface="Arial"/>
              </a:rPr>
              <a:t>the </a:t>
            </a:r>
            <a:r>
              <a:rPr sz="1725" spc="-195" dirty="0">
                <a:latin typeface="Arial"/>
                <a:cs typeface="Arial"/>
              </a:rPr>
              <a:t>Pipe</a:t>
            </a:r>
            <a:r>
              <a:rPr sz="1725" spc="75" dirty="0">
                <a:latin typeface="Arial"/>
                <a:cs typeface="Arial"/>
              </a:rPr>
              <a:t> </a:t>
            </a:r>
            <a:r>
              <a:rPr sz="1725" spc="-135" dirty="0">
                <a:latin typeface="Arial"/>
                <a:cs typeface="Arial"/>
              </a:rPr>
              <a:t>Advertisement</a:t>
            </a:r>
            <a:r>
              <a:rPr sz="1725" spc="113" dirty="0">
                <a:latin typeface="Arial"/>
                <a:cs typeface="Arial"/>
              </a:rPr>
              <a:t> </a:t>
            </a:r>
            <a:r>
              <a:rPr sz="1725" spc="-101" dirty="0">
                <a:latin typeface="Arial"/>
                <a:cs typeface="Arial"/>
              </a:rPr>
              <a:t>from</a:t>
            </a:r>
            <a:r>
              <a:rPr sz="1725" spc="-4" dirty="0">
                <a:latin typeface="Arial"/>
                <a:cs typeface="Arial"/>
              </a:rPr>
              <a:t> </a:t>
            </a:r>
            <a:r>
              <a:rPr sz="1725" spc="-90" dirty="0">
                <a:latin typeface="Arial"/>
                <a:cs typeface="Arial"/>
              </a:rPr>
              <a:t>the</a:t>
            </a:r>
            <a:r>
              <a:rPr sz="1725" spc="-30" dirty="0">
                <a:latin typeface="Arial"/>
                <a:cs typeface="Arial"/>
              </a:rPr>
              <a:t> </a:t>
            </a:r>
            <a:r>
              <a:rPr sz="1725" spc="-158" dirty="0">
                <a:latin typeface="Arial"/>
                <a:cs typeface="Arial"/>
              </a:rPr>
              <a:t>Service</a:t>
            </a:r>
            <a:r>
              <a:rPr sz="1725" spc="60" dirty="0">
                <a:latin typeface="Arial"/>
                <a:cs typeface="Arial"/>
              </a:rPr>
              <a:t> </a:t>
            </a:r>
            <a:r>
              <a:rPr sz="1725" spc="-53" dirty="0">
                <a:latin typeface="Arial"/>
                <a:cs typeface="Arial"/>
              </a:rPr>
              <a:t>Advertisement. </a:t>
            </a:r>
            <a:r>
              <a:rPr sz="1688" spc="-139" dirty="0">
                <a:solidFill>
                  <a:srgbClr val="972626"/>
                </a:solidFill>
                <a:latin typeface="Arial"/>
                <a:cs typeface="Arial"/>
              </a:rPr>
              <a:t>paramDoc</a:t>
            </a:r>
            <a:r>
              <a:rPr sz="1688" spc="143" dirty="0">
                <a:solidFill>
                  <a:srgbClr val="972626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BF7075"/>
                </a:solidFill>
                <a:latin typeface="Arial"/>
                <a:cs typeface="Arial"/>
              </a:rPr>
              <a:t>-</a:t>
            </a:r>
            <a:r>
              <a:rPr sz="1688" spc="304" dirty="0">
                <a:solidFill>
                  <a:srgbClr val="BF7075"/>
                </a:solidFill>
                <a:latin typeface="Arial"/>
                <a:cs typeface="Arial"/>
              </a:rPr>
              <a:t> </a:t>
            </a:r>
            <a:r>
              <a:rPr sz="1688" spc="-64" dirty="0">
                <a:solidFill>
                  <a:srgbClr val="973841"/>
                </a:solidFill>
                <a:latin typeface="Arial"/>
                <a:cs typeface="Arial"/>
              </a:rPr>
              <a:t>mdsadv.getParam();</a:t>
            </a:r>
            <a:endParaRPr sz="1688">
              <a:latin typeface="Arial"/>
              <a:cs typeface="Arial"/>
            </a:endParaRPr>
          </a:p>
          <a:p>
            <a:pPr marL="249079" marR="695801" indent="-230505">
              <a:lnSpc>
                <a:spcPts val="1793"/>
              </a:lnSpc>
              <a:spcBef>
                <a:spcPts val="23"/>
              </a:spcBef>
            </a:pPr>
            <a:r>
              <a:rPr sz="1688" spc="-127" dirty="0">
                <a:solidFill>
                  <a:srgbClr val="9C2F2B"/>
                </a:solidFill>
                <a:latin typeface="Arial"/>
                <a:cs typeface="Arial"/>
              </a:rPr>
              <a:t>Enumeration</a:t>
            </a:r>
            <a:r>
              <a:rPr sz="1688" spc="38" dirty="0">
                <a:solidFill>
                  <a:srgbClr val="9C2F2B"/>
                </a:solidFill>
                <a:latin typeface="Arial"/>
                <a:cs typeface="Arial"/>
              </a:rPr>
              <a:t> </a:t>
            </a:r>
            <a:r>
              <a:rPr sz="1688" spc="-113" dirty="0">
                <a:solidFill>
                  <a:srgbClr val="AC2A2A"/>
                </a:solidFill>
                <a:latin typeface="Arial"/>
                <a:cs typeface="Arial"/>
              </a:rPr>
              <a:t>elements</a:t>
            </a:r>
            <a:r>
              <a:rPr sz="1688" spc="60" dirty="0">
                <a:solidFill>
                  <a:srgbClr val="AC2A2A"/>
                </a:solidFill>
                <a:latin typeface="Arial"/>
                <a:cs typeface="Arial"/>
              </a:rPr>
              <a:t> </a:t>
            </a:r>
            <a:r>
              <a:rPr sz="1688" spc="-38" dirty="0">
                <a:solidFill>
                  <a:srgbClr val="75383D"/>
                </a:solidFill>
                <a:latin typeface="Arial"/>
                <a:cs typeface="Arial"/>
              </a:rPr>
              <a:t>= </a:t>
            </a:r>
            <a:r>
              <a:rPr sz="1688" spc="-94" dirty="0">
                <a:solidFill>
                  <a:srgbClr val="B31C21"/>
                </a:solidFill>
                <a:latin typeface="Arial"/>
                <a:cs typeface="Arial"/>
              </a:rPr>
              <a:t>paramDoc.getChildren("jxta:</a:t>
            </a:r>
            <a:r>
              <a:rPr sz="1688" spc="-94" dirty="0">
                <a:solidFill>
                  <a:srgbClr val="932F34"/>
                </a:solidFill>
                <a:latin typeface="Arial"/>
                <a:cs typeface="Arial"/>
              </a:rPr>
              <a:t>PipeAdvertisement");</a:t>
            </a:r>
            <a:endParaRPr sz="1688">
              <a:latin typeface="Arial"/>
              <a:cs typeface="Arial"/>
            </a:endParaRPr>
          </a:p>
          <a:p>
            <a:pPr marL="19526">
              <a:lnSpc>
                <a:spcPts val="1950"/>
              </a:lnSpc>
              <a:spcBef>
                <a:spcPts val="79"/>
              </a:spcBef>
            </a:pPr>
            <a:r>
              <a:rPr sz="1725" spc="-206" dirty="0">
                <a:latin typeface="Arial"/>
                <a:cs typeface="Arial"/>
              </a:rPr>
              <a:t>Because</a:t>
            </a:r>
            <a:r>
              <a:rPr sz="1725" spc="60" dirty="0">
                <a:latin typeface="Arial"/>
                <a:cs typeface="Arial"/>
              </a:rPr>
              <a:t> </a:t>
            </a:r>
            <a:r>
              <a:rPr sz="1725" spc="-98" dirty="0">
                <a:latin typeface="Arial"/>
                <a:cs typeface="Arial"/>
              </a:rPr>
              <a:t>there</a:t>
            </a:r>
            <a:r>
              <a:rPr sz="1725" spc="-23" dirty="0">
                <a:latin typeface="Arial"/>
                <a:cs typeface="Arial"/>
              </a:rPr>
              <a:t> </a:t>
            </a:r>
            <a:r>
              <a:rPr sz="1725" spc="-158" dirty="0">
                <a:latin typeface="Arial"/>
                <a:cs typeface="Arial"/>
              </a:rPr>
              <a:t>can</a:t>
            </a:r>
            <a:r>
              <a:rPr sz="1725" spc="-8" dirty="0">
                <a:latin typeface="Arial"/>
                <a:cs typeface="Arial"/>
              </a:rPr>
              <a:t> </a:t>
            </a:r>
            <a:r>
              <a:rPr sz="1725" spc="-169" dirty="0">
                <a:latin typeface="Arial"/>
                <a:cs typeface="Arial"/>
              </a:rPr>
              <a:t>be</a:t>
            </a:r>
            <a:r>
              <a:rPr sz="1725" spc="-15" dirty="0">
                <a:latin typeface="Arial"/>
                <a:cs typeface="Arial"/>
              </a:rPr>
              <a:t> </a:t>
            </a:r>
            <a:r>
              <a:rPr sz="1725" spc="-94" dirty="0">
                <a:latin typeface="Arial"/>
                <a:cs typeface="Arial"/>
              </a:rPr>
              <a:t>multiple</a:t>
            </a:r>
            <a:r>
              <a:rPr sz="1725" spc="68" dirty="0">
                <a:latin typeface="Arial"/>
                <a:cs typeface="Arial"/>
              </a:rPr>
              <a:t> </a:t>
            </a:r>
            <a:r>
              <a:rPr sz="1725" spc="-131" dirty="0">
                <a:latin typeface="Arial"/>
                <a:cs typeface="Arial"/>
              </a:rPr>
              <a:t>parameters</a:t>
            </a:r>
            <a:r>
              <a:rPr sz="1725" spc="26" dirty="0">
                <a:latin typeface="Arial"/>
                <a:cs typeface="Arial"/>
              </a:rPr>
              <a:t> </a:t>
            </a:r>
            <a:r>
              <a:rPr sz="1725" spc="-68" dirty="0">
                <a:latin typeface="Arial"/>
                <a:cs typeface="Arial"/>
              </a:rPr>
              <a:t>(Advertisements)</a:t>
            </a:r>
            <a:endParaRPr sz="1725">
              <a:latin typeface="Arial"/>
              <a:cs typeface="Arial"/>
            </a:endParaRPr>
          </a:p>
          <a:p>
            <a:pPr marL="17145" marR="234315" indent="4286">
              <a:lnSpc>
                <a:spcPct val="89200"/>
              </a:lnSpc>
              <a:spcBef>
                <a:spcPts val="101"/>
              </a:spcBef>
            </a:pPr>
            <a:r>
              <a:rPr sz="1688" spc="-64" dirty="0">
                <a:latin typeface="Arial"/>
                <a:cs typeface="Arial"/>
              </a:rPr>
              <a:t>within</a:t>
            </a:r>
            <a:r>
              <a:rPr sz="1688" spc="-49" dirty="0">
                <a:latin typeface="Arial"/>
                <a:cs typeface="Arial"/>
              </a:rPr>
              <a:t> </a:t>
            </a:r>
            <a:r>
              <a:rPr sz="1688" spc="-169" dirty="0">
                <a:latin typeface="Arial"/>
                <a:cs typeface="Arial"/>
              </a:rPr>
              <a:t>a</a:t>
            </a:r>
            <a:r>
              <a:rPr sz="1688" dirty="0">
                <a:latin typeface="Arial"/>
                <a:cs typeface="Arial"/>
              </a:rPr>
              <a:t> </a:t>
            </a:r>
            <a:r>
              <a:rPr sz="1688" spc="-135" dirty="0">
                <a:latin typeface="Arial"/>
                <a:cs typeface="Arial"/>
              </a:rPr>
              <a:t>Service</a:t>
            </a:r>
            <a:r>
              <a:rPr sz="1688" spc="98" dirty="0">
                <a:latin typeface="Arial"/>
                <a:cs typeface="Arial"/>
              </a:rPr>
              <a:t> </a:t>
            </a:r>
            <a:r>
              <a:rPr sz="1688" spc="-105" dirty="0">
                <a:latin typeface="Arial"/>
                <a:cs typeface="Arial"/>
              </a:rPr>
              <a:t>Advertisement,</a:t>
            </a:r>
            <a:r>
              <a:rPr sz="1688" spc="-19" dirty="0">
                <a:latin typeface="Arial"/>
                <a:cs typeface="Arial"/>
              </a:rPr>
              <a:t> </a:t>
            </a:r>
            <a:r>
              <a:rPr sz="1688" spc="-158" dirty="0">
                <a:latin typeface="Arial"/>
                <a:cs typeface="Arial"/>
              </a:rPr>
              <a:t>we</a:t>
            </a:r>
            <a:r>
              <a:rPr sz="1688" spc="-26" dirty="0">
                <a:latin typeface="Arial"/>
                <a:cs typeface="Arial"/>
              </a:rPr>
              <a:t> </a:t>
            </a:r>
            <a:r>
              <a:rPr sz="1688" spc="-109" dirty="0">
                <a:latin typeface="Arial"/>
                <a:cs typeface="Arial"/>
              </a:rPr>
              <a:t>must</a:t>
            </a:r>
            <a:r>
              <a:rPr sz="1688" spc="38" dirty="0">
                <a:latin typeface="Arial"/>
                <a:cs typeface="Arial"/>
              </a:rPr>
              <a:t> </a:t>
            </a:r>
            <a:r>
              <a:rPr sz="1688" spc="-158" dirty="0">
                <a:latin typeface="Arial"/>
                <a:cs typeface="Arial"/>
              </a:rPr>
              <a:t>choose</a:t>
            </a:r>
            <a:r>
              <a:rPr sz="1688" spc="38" dirty="0">
                <a:latin typeface="Arial"/>
                <a:cs typeface="Arial"/>
              </a:rPr>
              <a:t> </a:t>
            </a:r>
            <a:r>
              <a:rPr sz="1688" spc="-15" dirty="0">
                <a:latin typeface="Arial"/>
                <a:cs typeface="Arial"/>
              </a:rPr>
              <a:t>one. </a:t>
            </a:r>
            <a:r>
              <a:rPr sz="1688" spc="-127" dirty="0">
                <a:solidFill>
                  <a:srgbClr val="9C2828"/>
                </a:solidFill>
                <a:latin typeface="Arial"/>
                <a:cs typeface="Arial"/>
              </a:rPr>
              <a:t>Enumeration</a:t>
            </a:r>
            <a:r>
              <a:rPr sz="1688" spc="64" dirty="0">
                <a:solidFill>
                  <a:srgbClr val="9C2828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972326"/>
                </a:solidFill>
                <a:latin typeface="Arial"/>
                <a:cs typeface="Arial"/>
              </a:rPr>
              <a:t>e</a:t>
            </a:r>
            <a:r>
              <a:rPr sz="1688" spc="-41" dirty="0">
                <a:solidFill>
                  <a:srgbClr val="972326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703B38"/>
                </a:solidFill>
                <a:latin typeface="Arial"/>
                <a:cs typeface="Arial"/>
              </a:rPr>
              <a:t>=</a:t>
            </a:r>
            <a:r>
              <a:rPr sz="1688" spc="-23" dirty="0">
                <a:solidFill>
                  <a:srgbClr val="703B38"/>
                </a:solidFill>
                <a:latin typeface="Arial"/>
                <a:cs typeface="Arial"/>
              </a:rPr>
              <a:t> </a:t>
            </a:r>
            <a:r>
              <a:rPr sz="1688" spc="-79" dirty="0">
                <a:solidFill>
                  <a:srgbClr val="97262D"/>
                </a:solidFill>
                <a:latin typeface="Arial"/>
                <a:cs typeface="Arial"/>
              </a:rPr>
              <a:t>(elements.nextEIement()).getChildren(); </a:t>
            </a:r>
            <a:r>
              <a:rPr sz="1688" spc="-135" dirty="0">
                <a:solidFill>
                  <a:srgbClr val="8A2F38"/>
                </a:solidFill>
                <a:latin typeface="Arial"/>
                <a:cs typeface="Arial"/>
              </a:rPr>
              <a:t>TextElement</a:t>
            </a:r>
            <a:r>
              <a:rPr sz="1688" spc="83" dirty="0">
                <a:solidFill>
                  <a:srgbClr val="8A2F38"/>
                </a:solidFill>
                <a:latin typeface="Arial"/>
                <a:cs typeface="Arial"/>
              </a:rPr>
              <a:t> </a:t>
            </a:r>
            <a:r>
              <a:rPr sz="1688" spc="-113" dirty="0">
                <a:solidFill>
                  <a:srgbClr val="A02624"/>
                </a:solidFill>
                <a:latin typeface="Arial"/>
                <a:cs typeface="Arial"/>
              </a:rPr>
              <a:t>elem</a:t>
            </a:r>
            <a:r>
              <a:rPr sz="1688" spc="45" dirty="0">
                <a:solidFill>
                  <a:srgbClr val="A02624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8C313A"/>
                </a:solidFill>
                <a:latin typeface="Arial"/>
                <a:cs typeface="Arial"/>
              </a:rPr>
              <a:t>=</a:t>
            </a:r>
            <a:r>
              <a:rPr sz="1688" spc="-75" dirty="0">
                <a:solidFill>
                  <a:srgbClr val="8C313A"/>
                </a:solidFill>
                <a:latin typeface="Arial"/>
                <a:cs typeface="Arial"/>
              </a:rPr>
              <a:t> </a:t>
            </a:r>
            <a:r>
              <a:rPr sz="1688" spc="-60" dirty="0">
                <a:solidFill>
                  <a:srgbClr val="972A26"/>
                </a:solidFill>
                <a:latin typeface="Arial"/>
                <a:cs typeface="Arial"/>
              </a:rPr>
              <a:t>elements.nextElement();</a:t>
            </a:r>
            <a:endParaRPr sz="1688">
              <a:latin typeface="Arial"/>
              <a:cs typeface="Arial"/>
            </a:endParaRPr>
          </a:p>
          <a:p>
            <a:pPr marL="21431" marR="2601753" indent="-2858">
              <a:lnSpc>
                <a:spcPts val="1793"/>
              </a:lnSpc>
              <a:spcBef>
                <a:spcPts val="19"/>
              </a:spcBef>
            </a:pPr>
            <a:r>
              <a:rPr sz="1688" spc="-86" dirty="0">
                <a:solidFill>
                  <a:srgbClr val="A12621"/>
                </a:solidFill>
                <a:latin typeface="Arial"/>
                <a:cs typeface="Arial"/>
              </a:rPr>
              <a:t>String</a:t>
            </a:r>
            <a:r>
              <a:rPr sz="1688" spc="-8" dirty="0">
                <a:solidFill>
                  <a:srgbClr val="A12621"/>
                </a:solidFill>
                <a:latin typeface="Arial"/>
                <a:cs typeface="Arial"/>
              </a:rPr>
              <a:t> </a:t>
            </a:r>
            <a:r>
              <a:rPr sz="1688" spc="-116" dirty="0">
                <a:solidFill>
                  <a:srgbClr val="8C312D"/>
                </a:solidFill>
                <a:latin typeface="Arial"/>
                <a:cs typeface="Arial"/>
              </a:rPr>
              <a:t>nm</a:t>
            </a:r>
            <a:r>
              <a:rPr sz="1688" spc="38" dirty="0">
                <a:solidFill>
                  <a:srgbClr val="8C312D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954F56"/>
                </a:solidFill>
                <a:latin typeface="Arial"/>
                <a:cs typeface="Arial"/>
              </a:rPr>
              <a:t>=</a:t>
            </a:r>
            <a:r>
              <a:rPr sz="1688" spc="-15" dirty="0">
                <a:solidFill>
                  <a:srgbClr val="954F56"/>
                </a:solidFill>
                <a:latin typeface="Arial"/>
                <a:cs typeface="Arial"/>
              </a:rPr>
              <a:t> </a:t>
            </a:r>
            <a:r>
              <a:rPr sz="1688" spc="-94" dirty="0">
                <a:solidFill>
                  <a:srgbClr val="A0282A"/>
                </a:solidFill>
                <a:latin typeface="Arial"/>
                <a:cs typeface="Arial"/>
              </a:rPr>
              <a:t>elem.getName(); </a:t>
            </a:r>
            <a:r>
              <a:rPr sz="1688" dirty="0">
                <a:solidFill>
                  <a:srgbClr val="952128"/>
                </a:solidFill>
                <a:latin typeface="Arial"/>
                <a:cs typeface="Arial"/>
              </a:rPr>
              <a:t>plD</a:t>
            </a:r>
            <a:r>
              <a:rPr sz="1688" spc="8" dirty="0">
                <a:solidFill>
                  <a:srgbClr val="952128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AE7575"/>
                </a:solidFill>
                <a:latin typeface="Arial"/>
                <a:cs typeface="Arial"/>
              </a:rPr>
              <a:t>-</a:t>
            </a:r>
            <a:r>
              <a:rPr sz="1688" spc="341" dirty="0">
                <a:solidFill>
                  <a:srgbClr val="AE7575"/>
                </a:solidFill>
                <a:latin typeface="Arial"/>
                <a:cs typeface="Arial"/>
              </a:rPr>
              <a:t> </a:t>
            </a:r>
            <a:r>
              <a:rPr sz="1688" spc="-75" dirty="0">
                <a:solidFill>
                  <a:srgbClr val="973633"/>
                </a:solidFill>
                <a:latin typeface="Arial"/>
                <a:cs typeface="Arial"/>
              </a:rPr>
              <a:t>elem.getTextVaIue();</a:t>
            </a:r>
            <a:endParaRPr sz="1688">
              <a:latin typeface="Arial"/>
              <a:cs typeface="Arial"/>
            </a:endParaRPr>
          </a:p>
          <a:p>
            <a:pPr marL="21431">
              <a:lnSpc>
                <a:spcPts val="1800"/>
              </a:lnSpc>
            </a:pPr>
            <a:r>
              <a:rPr sz="1688" spc="-169" dirty="0">
                <a:solidFill>
                  <a:srgbClr val="8E2828"/>
                </a:solidFill>
                <a:latin typeface="Arial"/>
                <a:cs typeface="Arial"/>
              </a:rPr>
              <a:t>pType</a:t>
            </a:r>
            <a:r>
              <a:rPr sz="1688" spc="79" dirty="0">
                <a:solidFill>
                  <a:srgbClr val="8E2828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793438"/>
                </a:solidFill>
                <a:latin typeface="Arial"/>
                <a:cs typeface="Arial"/>
              </a:rPr>
              <a:t>=</a:t>
            </a:r>
            <a:r>
              <a:rPr sz="1688" spc="34" dirty="0">
                <a:solidFill>
                  <a:srgbClr val="793438"/>
                </a:solidFill>
                <a:latin typeface="Arial"/>
                <a:cs typeface="Arial"/>
              </a:rPr>
              <a:t> </a:t>
            </a:r>
            <a:r>
              <a:rPr sz="1688" spc="-64" dirty="0">
                <a:solidFill>
                  <a:srgbClr val="912A2F"/>
                </a:solidFill>
                <a:latin typeface="Arial"/>
                <a:cs typeface="Arial"/>
              </a:rPr>
              <a:t>elem.getTextValue();</a:t>
            </a:r>
            <a:endParaRPr sz="1688">
              <a:latin typeface="Arial"/>
              <a:cs typeface="Arial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C003DD-7148-5D30-0D47-E97645B10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323951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551" y="-266626"/>
            <a:ext cx="5916217" cy="1085112"/>
          </a:xfrm>
          <a:prstGeom prst="rect">
            <a:avLst/>
          </a:prstGeom>
        </p:spPr>
        <p:txBody>
          <a:bodyPr vert="horz" wrap="square" lIns="0" tIns="54305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">
              <a:spcBef>
                <a:spcPts val="101"/>
              </a:spcBef>
            </a:pPr>
            <a:r>
              <a:rPr sz="3488" spc="-217" dirty="0">
                <a:solidFill>
                  <a:srgbClr val="3A348E"/>
                </a:solidFill>
                <a:latin typeface="Arial"/>
                <a:cs typeface="Arial"/>
              </a:rPr>
              <a:t>Using</a:t>
            </a:r>
            <a:r>
              <a:rPr sz="3488" spc="165" dirty="0">
                <a:solidFill>
                  <a:srgbClr val="3A348E"/>
                </a:solidFill>
                <a:latin typeface="Arial"/>
                <a:cs typeface="Arial"/>
              </a:rPr>
              <a:t> </a:t>
            </a:r>
            <a:r>
              <a:rPr sz="3488" dirty="0">
                <a:solidFill>
                  <a:srgbClr val="343182"/>
                </a:solidFill>
                <a:latin typeface="Arial"/>
                <a:cs typeface="Arial"/>
              </a:rPr>
              <a:t>the</a:t>
            </a:r>
            <a:r>
              <a:rPr sz="3488" spc="4" dirty="0">
                <a:solidFill>
                  <a:srgbClr val="343182"/>
                </a:solidFill>
                <a:latin typeface="Arial"/>
                <a:cs typeface="Arial"/>
              </a:rPr>
              <a:t> </a:t>
            </a:r>
            <a:r>
              <a:rPr sz="3488" spc="-248" dirty="0">
                <a:solidFill>
                  <a:srgbClr val="383689"/>
                </a:solidFill>
                <a:latin typeface="Arial"/>
                <a:cs typeface="Arial"/>
              </a:rPr>
              <a:t>Pipe</a:t>
            </a:r>
            <a:r>
              <a:rPr sz="3488" spc="83" dirty="0">
                <a:solidFill>
                  <a:srgbClr val="383689"/>
                </a:solidFill>
                <a:latin typeface="Arial"/>
                <a:cs typeface="Arial"/>
              </a:rPr>
              <a:t> </a:t>
            </a:r>
            <a:r>
              <a:rPr sz="3488" spc="-135" dirty="0">
                <a:solidFill>
                  <a:srgbClr val="342D9E"/>
                </a:solidFill>
                <a:latin typeface="Arial"/>
                <a:cs typeface="Arial"/>
              </a:rPr>
              <a:t>Advertisement</a:t>
            </a:r>
            <a:endParaRPr sz="34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2185" y="1514475"/>
            <a:ext cx="5570696" cy="2483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470059">
              <a:lnSpc>
                <a:spcPts val="1927"/>
              </a:lnSpc>
              <a:spcBef>
                <a:spcPts val="71"/>
              </a:spcBef>
            </a:pPr>
            <a:r>
              <a:rPr sz="1688" spc="-34" dirty="0">
                <a:latin typeface="Calibri"/>
                <a:cs typeface="Calibri"/>
              </a:rPr>
              <a:t>Create</a:t>
            </a:r>
            <a:r>
              <a:rPr sz="1688" spc="-41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a</a:t>
            </a:r>
            <a:r>
              <a:rPr sz="1688" spc="15" dirty="0">
                <a:latin typeface="Calibri"/>
                <a:cs typeface="Calibri"/>
              </a:rPr>
              <a:t> </a:t>
            </a:r>
            <a:r>
              <a:rPr sz="1688" spc="-30" dirty="0">
                <a:latin typeface="Calibri"/>
                <a:cs typeface="Calibri"/>
              </a:rPr>
              <a:t>new </a:t>
            </a:r>
            <a:r>
              <a:rPr sz="1688" spc="-19" dirty="0">
                <a:latin typeface="Calibri"/>
                <a:cs typeface="Calibri"/>
              </a:rPr>
              <a:t>Pipe</a:t>
            </a:r>
            <a:r>
              <a:rPr sz="1688" spc="-4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Advertisement.</a:t>
            </a:r>
            <a:endParaRPr sz="1688">
              <a:latin typeface="Calibri"/>
              <a:cs typeface="Calibri"/>
            </a:endParaRPr>
          </a:p>
          <a:p>
            <a:pPr marL="471488">
              <a:lnSpc>
                <a:spcPts val="1883"/>
              </a:lnSpc>
            </a:pPr>
            <a:r>
              <a:rPr sz="1650" spc="-15" dirty="0">
                <a:solidFill>
                  <a:srgbClr val="972D2A"/>
                </a:solidFill>
                <a:latin typeface="Calibri"/>
                <a:cs typeface="Calibri"/>
              </a:rPr>
              <a:t>pipeadv</a:t>
            </a:r>
            <a:r>
              <a:rPr sz="1650" spc="225" dirty="0">
                <a:solidFill>
                  <a:srgbClr val="972D2A"/>
                </a:solidFill>
                <a:latin typeface="Calibri"/>
                <a:cs typeface="Calibri"/>
              </a:rPr>
              <a:t> </a:t>
            </a:r>
            <a:r>
              <a:rPr sz="1650" spc="-38" dirty="0">
                <a:solidFill>
                  <a:srgbClr val="BA7577"/>
                </a:solidFill>
                <a:latin typeface="Calibri"/>
                <a:cs typeface="Calibri"/>
              </a:rPr>
              <a:t>=AdvertisementFactory.newAdvertisement</a:t>
            </a:r>
            <a:r>
              <a:rPr sz="1650" spc="49" dirty="0">
                <a:solidFill>
                  <a:srgbClr val="BA7577"/>
                </a:solidFill>
                <a:latin typeface="Calibri"/>
                <a:cs typeface="Calibri"/>
              </a:rPr>
              <a:t> </a:t>
            </a:r>
            <a:r>
              <a:rPr sz="1650" spc="-8" dirty="0">
                <a:solidFill>
                  <a:srgbClr val="BA7577"/>
                </a:solidFill>
                <a:latin typeface="Calibri"/>
                <a:cs typeface="Calibri"/>
              </a:rPr>
              <a:t>type);</a:t>
            </a:r>
            <a:endParaRPr sz="1650">
              <a:latin typeface="Calibri"/>
              <a:cs typeface="Calibri"/>
            </a:endParaRPr>
          </a:p>
          <a:p>
            <a:pPr marL="470059" marR="3810" indent="-2858">
              <a:lnSpc>
                <a:spcPct val="88400"/>
              </a:lnSpc>
              <a:spcBef>
                <a:spcPts val="353"/>
              </a:spcBef>
            </a:pPr>
            <a:r>
              <a:rPr sz="1688" spc="-60" dirty="0">
                <a:latin typeface="Calibri"/>
                <a:cs typeface="Calibri"/>
              </a:rPr>
              <a:t>We</a:t>
            </a:r>
            <a:r>
              <a:rPr sz="1688" spc="-38" dirty="0">
                <a:latin typeface="Calibri"/>
                <a:cs typeface="Calibri"/>
              </a:rPr>
              <a:t> </a:t>
            </a:r>
            <a:r>
              <a:rPr sz="1688" spc="-45" dirty="0">
                <a:latin typeface="Calibri"/>
                <a:cs typeface="Calibri"/>
              </a:rPr>
              <a:t>want</a:t>
            </a:r>
            <a:r>
              <a:rPr sz="1688" spc="-53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our</a:t>
            </a:r>
            <a:r>
              <a:rPr sz="1688" spc="-64" dirty="0">
                <a:latin typeface="Calibri"/>
                <a:cs typeface="Calibri"/>
              </a:rPr>
              <a:t> </a:t>
            </a:r>
            <a:r>
              <a:rPr sz="1688" spc="-56" dirty="0">
                <a:latin typeface="Calibri"/>
                <a:cs typeface="Calibri"/>
              </a:rPr>
              <a:t>Advertisement</a:t>
            </a:r>
            <a:r>
              <a:rPr sz="1688" spc="41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to</a:t>
            </a:r>
            <a:r>
              <a:rPr sz="1688" spc="-79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use</a:t>
            </a:r>
            <a:r>
              <a:rPr sz="1688" spc="-26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the</a:t>
            </a:r>
            <a:r>
              <a:rPr sz="1688" spc="-60" dirty="0">
                <a:latin typeface="Calibri"/>
                <a:cs typeface="Calibri"/>
              </a:rPr>
              <a:t> </a:t>
            </a:r>
            <a:r>
              <a:rPr sz="1688" spc="-64" dirty="0">
                <a:latin typeface="Calibri"/>
                <a:cs typeface="Calibri"/>
              </a:rPr>
              <a:t>information</a:t>
            </a:r>
            <a:r>
              <a:rPr sz="1688" spc="60" dirty="0">
                <a:latin typeface="Calibri"/>
                <a:cs typeface="Calibri"/>
              </a:rPr>
              <a:t> </a:t>
            </a:r>
            <a:r>
              <a:rPr sz="1688" spc="-26" dirty="0">
                <a:latin typeface="Calibri"/>
                <a:cs typeface="Calibri"/>
              </a:rPr>
              <a:t>extracted </a:t>
            </a:r>
            <a:r>
              <a:rPr sz="1688" spc="-49" dirty="0">
                <a:latin typeface="Calibri"/>
                <a:cs typeface="Calibri"/>
              </a:rPr>
              <a:t>from</a:t>
            </a:r>
            <a:r>
              <a:rPr sz="1688" spc="-23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the</a:t>
            </a:r>
            <a:r>
              <a:rPr sz="1688" spc="-64" dirty="0">
                <a:latin typeface="Calibri"/>
                <a:cs typeface="Calibri"/>
              </a:rPr>
              <a:t> </a:t>
            </a:r>
            <a:r>
              <a:rPr sz="1688" spc="-15" dirty="0">
                <a:latin typeface="Calibri"/>
                <a:cs typeface="Calibri"/>
              </a:rPr>
              <a:t>Service</a:t>
            </a:r>
            <a:r>
              <a:rPr sz="1688" spc="-49" dirty="0">
                <a:latin typeface="Calibri"/>
                <a:cs typeface="Calibri"/>
              </a:rPr>
              <a:t> </a:t>
            </a:r>
            <a:r>
              <a:rPr sz="1688" spc="-56" dirty="0">
                <a:latin typeface="Calibri"/>
                <a:cs typeface="Calibri"/>
              </a:rPr>
              <a:t>Advertisement</a:t>
            </a:r>
            <a:r>
              <a:rPr sz="1688" spc="60" dirty="0">
                <a:latin typeface="Calibri"/>
                <a:cs typeface="Calibri"/>
              </a:rPr>
              <a:t> </a:t>
            </a:r>
            <a:r>
              <a:rPr sz="1688" spc="-23" dirty="0">
                <a:latin typeface="Calibri"/>
                <a:cs typeface="Calibri"/>
              </a:rPr>
              <a:t>we</a:t>
            </a:r>
            <a:r>
              <a:rPr sz="1688" spc="-75" dirty="0">
                <a:latin typeface="Calibri"/>
                <a:cs typeface="Calibri"/>
              </a:rPr>
              <a:t> </a:t>
            </a:r>
            <a:r>
              <a:rPr sz="1688" spc="-8" dirty="0">
                <a:latin typeface="Calibri"/>
                <a:cs typeface="Calibri"/>
              </a:rPr>
              <a:t>found. </a:t>
            </a:r>
            <a:r>
              <a:rPr sz="1688" spc="-38" dirty="0">
                <a:solidFill>
                  <a:srgbClr val="952F2A"/>
                </a:solidFill>
                <a:latin typeface="Calibri"/>
                <a:cs typeface="Calibri"/>
              </a:rPr>
              <a:t>pipeadv.setPipeID(</a:t>
            </a:r>
            <a:r>
              <a:rPr sz="1688" spc="15" dirty="0">
                <a:solidFill>
                  <a:srgbClr val="952F2A"/>
                </a:solidFill>
                <a:latin typeface="Calibri"/>
                <a:cs typeface="Calibri"/>
              </a:rPr>
              <a:t> </a:t>
            </a:r>
            <a:r>
              <a:rPr sz="1688" spc="-41" dirty="0">
                <a:solidFill>
                  <a:srgbClr val="AA2F33"/>
                </a:solidFill>
                <a:latin typeface="Calibri"/>
                <a:cs typeface="Calibri"/>
              </a:rPr>
              <a:t>IDFactory.fromURL(new</a:t>
            </a:r>
            <a:r>
              <a:rPr sz="1688" spc="45" dirty="0">
                <a:solidFill>
                  <a:srgbClr val="AA2F33"/>
                </a:solidFill>
                <a:latin typeface="Calibri"/>
                <a:cs typeface="Calibri"/>
              </a:rPr>
              <a:t> </a:t>
            </a:r>
            <a:r>
              <a:rPr sz="1688" dirty="0">
                <a:solidFill>
                  <a:srgbClr val="A72F31"/>
                </a:solidFill>
                <a:latin typeface="Calibri"/>
                <a:cs typeface="Calibri"/>
              </a:rPr>
              <a:t>URL(pID)</a:t>
            </a:r>
            <a:r>
              <a:rPr sz="1688" spc="139" dirty="0">
                <a:solidFill>
                  <a:srgbClr val="A72F31"/>
                </a:solidFill>
                <a:latin typeface="Calibri"/>
                <a:cs typeface="Calibri"/>
              </a:rPr>
              <a:t> </a:t>
            </a:r>
            <a:r>
              <a:rPr sz="1688" spc="-19" dirty="0">
                <a:solidFill>
                  <a:srgbClr val="893A36"/>
                </a:solidFill>
                <a:latin typeface="Calibri"/>
                <a:cs typeface="Calibri"/>
              </a:rPr>
              <a:t>); </a:t>
            </a:r>
            <a:r>
              <a:rPr sz="1725" spc="-34" dirty="0">
                <a:solidFill>
                  <a:srgbClr val="953136"/>
                </a:solidFill>
                <a:latin typeface="Calibri"/>
                <a:cs typeface="Calibri"/>
              </a:rPr>
              <a:t>pipeadv.setType(pType);</a:t>
            </a:r>
            <a:endParaRPr sz="1725">
              <a:latin typeface="Calibri"/>
              <a:cs typeface="Calibri"/>
            </a:endParaRPr>
          </a:p>
          <a:p>
            <a:pPr marL="14288">
              <a:spcBef>
                <a:spcPts val="131"/>
              </a:spcBef>
              <a:tabLst>
                <a:tab pos="467201" algn="l"/>
              </a:tabLst>
            </a:pPr>
            <a:r>
              <a:rPr sz="1688" spc="-439" dirty="0">
                <a:solidFill>
                  <a:srgbClr val="4F4D75"/>
                </a:solidFill>
                <a:latin typeface="Calibri"/>
                <a:cs typeface="Calibri"/>
              </a:rPr>
              <a:t>3</a:t>
            </a:r>
            <a:r>
              <a:rPr sz="1688" dirty="0">
                <a:solidFill>
                  <a:srgbClr val="4F4D75"/>
                </a:solidFill>
                <a:latin typeface="Calibri"/>
                <a:cs typeface="Calibri"/>
              </a:rPr>
              <a:t>	</a:t>
            </a:r>
            <a:r>
              <a:rPr sz="1688" spc="-90" dirty="0">
                <a:latin typeface="Calibri"/>
                <a:cs typeface="Calibri"/>
              </a:rPr>
              <a:t>We</a:t>
            </a:r>
            <a:r>
              <a:rPr sz="1688" spc="-8" dirty="0">
                <a:latin typeface="Calibri"/>
                <a:cs typeface="Calibri"/>
              </a:rPr>
              <a:t> </a:t>
            </a:r>
            <a:r>
              <a:rPr sz="1688" spc="-49" dirty="0">
                <a:latin typeface="Calibri"/>
                <a:cs typeface="Calibri"/>
              </a:rPr>
              <a:t>now</a:t>
            </a:r>
            <a:r>
              <a:rPr sz="1688" spc="-38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have</a:t>
            </a:r>
            <a:r>
              <a:rPr sz="1688" spc="-26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a</a:t>
            </a:r>
            <a:r>
              <a:rPr sz="1688" spc="-41" dirty="0">
                <a:latin typeface="Calibri"/>
                <a:cs typeface="Calibri"/>
              </a:rPr>
              <a:t> </a:t>
            </a:r>
            <a:r>
              <a:rPr sz="1688" spc="-56" dirty="0">
                <a:latin typeface="Calibri"/>
                <a:cs typeface="Calibri"/>
              </a:rPr>
              <a:t>PipeAdvertisement</a:t>
            </a:r>
            <a:r>
              <a:rPr sz="1688" spc="-41" dirty="0">
                <a:latin typeface="Calibri"/>
                <a:cs typeface="Calibri"/>
              </a:rPr>
              <a:t> </a:t>
            </a:r>
            <a:r>
              <a:rPr sz="1688" spc="-15" dirty="0">
                <a:latin typeface="Calibri"/>
                <a:cs typeface="Calibri"/>
              </a:rPr>
              <a:t>that</a:t>
            </a:r>
            <a:r>
              <a:rPr sz="1688" spc="19" dirty="0">
                <a:latin typeface="Calibri"/>
                <a:cs typeface="Calibri"/>
              </a:rPr>
              <a:t> </a:t>
            </a:r>
            <a:r>
              <a:rPr sz="1688" spc="-15" dirty="0">
                <a:latin typeface="Calibri"/>
                <a:cs typeface="Calibri"/>
              </a:rPr>
              <a:t>we</a:t>
            </a:r>
            <a:r>
              <a:rPr sz="1688" spc="-49" dirty="0">
                <a:latin typeface="Calibri"/>
                <a:cs typeface="Calibri"/>
              </a:rPr>
              <a:t> </a:t>
            </a:r>
            <a:r>
              <a:rPr sz="1688" dirty="0">
                <a:latin typeface="Calibri"/>
                <a:cs typeface="Calibri"/>
              </a:rPr>
              <a:t>can</a:t>
            </a:r>
            <a:r>
              <a:rPr sz="1688" spc="11" dirty="0">
                <a:latin typeface="Calibri"/>
                <a:cs typeface="Calibri"/>
              </a:rPr>
              <a:t> </a:t>
            </a:r>
            <a:r>
              <a:rPr sz="1688" spc="-15" dirty="0">
                <a:latin typeface="Calibri"/>
                <a:cs typeface="Calibri"/>
              </a:rPr>
              <a:t>use!</a:t>
            </a:r>
            <a:endParaRPr sz="1688">
              <a:latin typeface="Calibri"/>
              <a:cs typeface="Calibri"/>
            </a:endParaRPr>
          </a:p>
          <a:p>
            <a:pPr marL="473869" marR="561975" indent="-464820">
              <a:lnSpc>
                <a:spcPts val="1793"/>
              </a:lnSpc>
              <a:spcBef>
                <a:spcPts val="390"/>
              </a:spcBef>
              <a:tabLst>
                <a:tab pos="469106" algn="l"/>
              </a:tabLst>
            </a:pPr>
            <a:r>
              <a:rPr sz="1575" spc="-19" dirty="0">
                <a:solidFill>
                  <a:srgbClr val="464646"/>
                </a:solidFill>
                <a:latin typeface="Arial"/>
                <a:cs typeface="Arial"/>
              </a:rPr>
              <a:t>‹.</a:t>
            </a:r>
            <a:r>
              <a:rPr sz="1575" dirty="0">
                <a:solidFill>
                  <a:srgbClr val="464646"/>
                </a:solidFill>
                <a:latin typeface="Arial"/>
                <a:cs typeface="Arial"/>
              </a:rPr>
              <a:t>	</a:t>
            </a:r>
            <a:r>
              <a:rPr sz="1575" spc="-34" dirty="0">
                <a:latin typeface="Arial"/>
                <a:cs typeface="Arial"/>
              </a:rPr>
              <a:t>The</a:t>
            </a:r>
            <a:r>
              <a:rPr sz="1575" spc="-79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next</a:t>
            </a:r>
            <a:r>
              <a:rPr sz="1575" spc="-94" dirty="0">
                <a:latin typeface="Arial"/>
                <a:cs typeface="Arial"/>
              </a:rPr>
              <a:t> </a:t>
            </a:r>
            <a:r>
              <a:rPr sz="1575" spc="-38" dirty="0">
                <a:latin typeface="Arial"/>
                <a:cs typeface="Arial"/>
              </a:rPr>
              <a:t>step</a:t>
            </a:r>
            <a:r>
              <a:rPr sz="1575" spc="-75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is</a:t>
            </a:r>
            <a:r>
              <a:rPr sz="1575" spc="-109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to</a:t>
            </a:r>
            <a:r>
              <a:rPr sz="1575" spc="-60" dirty="0">
                <a:latin typeface="Arial"/>
                <a:cs typeface="Arial"/>
              </a:rPr>
              <a:t> </a:t>
            </a:r>
            <a:r>
              <a:rPr sz="1575" spc="-30" dirty="0">
                <a:latin typeface="Arial"/>
                <a:cs typeface="Arial"/>
              </a:rPr>
              <a:t>construct</a:t>
            </a:r>
            <a:r>
              <a:rPr sz="1575" spc="-4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an</a:t>
            </a:r>
            <a:r>
              <a:rPr sz="1575" spc="-86" dirty="0">
                <a:latin typeface="Arial"/>
                <a:cs typeface="Arial"/>
              </a:rPr>
              <a:t> </a:t>
            </a:r>
            <a:r>
              <a:rPr sz="1575" spc="-8" dirty="0">
                <a:latin typeface="Arial"/>
                <a:cs typeface="Arial"/>
              </a:rPr>
              <a:t>Output</a:t>
            </a:r>
            <a:r>
              <a:rPr sz="1575" spc="-11" dirty="0">
                <a:latin typeface="Arial"/>
                <a:cs typeface="Arial"/>
              </a:rPr>
              <a:t> </a:t>
            </a:r>
            <a:r>
              <a:rPr sz="1575" spc="-75" dirty="0">
                <a:latin typeface="Arial"/>
                <a:cs typeface="Arial"/>
              </a:rPr>
              <a:t>Pipe</a:t>
            </a:r>
            <a:r>
              <a:rPr sz="1575" spc="-19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from</a:t>
            </a:r>
            <a:r>
              <a:rPr sz="1575" spc="-19" dirty="0">
                <a:latin typeface="Arial"/>
                <a:cs typeface="Arial"/>
              </a:rPr>
              <a:t> </a:t>
            </a:r>
            <a:r>
              <a:rPr sz="1575" spc="-15" dirty="0">
                <a:latin typeface="Arial"/>
                <a:cs typeface="Arial"/>
              </a:rPr>
              <a:t>this </a:t>
            </a:r>
            <a:r>
              <a:rPr sz="1575" spc="-8" dirty="0">
                <a:latin typeface="Arial"/>
                <a:cs typeface="Arial"/>
              </a:rPr>
              <a:t>Advertisement.</a:t>
            </a:r>
            <a:endParaRPr sz="1575">
              <a:latin typeface="Arial"/>
              <a:cs typeface="Arial"/>
            </a:endParaRPr>
          </a:p>
          <a:p>
            <a:pPr marL="473869">
              <a:lnSpc>
                <a:spcPts val="1751"/>
              </a:lnSpc>
            </a:pPr>
            <a:r>
              <a:rPr sz="1575" spc="-68" dirty="0">
                <a:solidFill>
                  <a:srgbClr val="83383A"/>
                </a:solidFill>
                <a:latin typeface="Arial"/>
                <a:cs typeface="Arial"/>
              </a:rPr>
              <a:t>myPipe</a:t>
            </a:r>
            <a:r>
              <a:rPr sz="1575" spc="127" dirty="0">
                <a:solidFill>
                  <a:srgbClr val="83383A"/>
                </a:solidFill>
                <a:latin typeface="Arial"/>
                <a:cs typeface="Arial"/>
              </a:rPr>
              <a:t> </a:t>
            </a:r>
            <a:r>
              <a:rPr sz="1575" dirty="0">
                <a:solidFill>
                  <a:srgbClr val="7E3D3B"/>
                </a:solidFill>
                <a:latin typeface="Arial"/>
                <a:cs typeface="Arial"/>
              </a:rPr>
              <a:t>=</a:t>
            </a:r>
            <a:r>
              <a:rPr sz="1575" spc="79" dirty="0">
                <a:solidFill>
                  <a:srgbClr val="7E3D3B"/>
                </a:solidFill>
                <a:latin typeface="Arial"/>
                <a:cs typeface="Arial"/>
              </a:rPr>
              <a:t> </a:t>
            </a:r>
            <a:r>
              <a:rPr sz="1575" spc="-56" dirty="0">
                <a:solidFill>
                  <a:srgbClr val="B11F1F"/>
                </a:solidFill>
                <a:latin typeface="Arial"/>
                <a:cs typeface="Arial"/>
              </a:rPr>
              <a:t>pipes.createOutputPipe(pipeadv,</a:t>
            </a:r>
            <a:r>
              <a:rPr sz="1575" spc="60" dirty="0">
                <a:solidFill>
                  <a:srgbClr val="B11F1F"/>
                </a:solidFill>
                <a:latin typeface="Arial"/>
                <a:cs typeface="Arial"/>
              </a:rPr>
              <a:t> </a:t>
            </a:r>
            <a:r>
              <a:rPr sz="1575" spc="-8" dirty="0">
                <a:solidFill>
                  <a:srgbClr val="BF2326"/>
                </a:solidFill>
                <a:latin typeface="Arial"/>
                <a:cs typeface="Arial"/>
              </a:rPr>
              <a:t>timeout);</a:t>
            </a:r>
            <a:endParaRPr sz="1575">
              <a:latin typeface="Arial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3E56B2-FFD5-0BDC-D83D-0BD49E655E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297162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551" y="-268317"/>
            <a:ext cx="5916217" cy="1088493"/>
          </a:xfrm>
          <a:prstGeom prst="rect">
            <a:avLst/>
          </a:prstGeom>
        </p:spPr>
        <p:txBody>
          <a:bodyPr vert="horz" wrap="square" lIns="0" tIns="54640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8098">
              <a:spcBef>
                <a:spcPts val="101"/>
              </a:spcBef>
            </a:pPr>
            <a:r>
              <a:rPr sz="3488" spc="-206" dirty="0">
                <a:solidFill>
                  <a:srgbClr val="3B3491"/>
                </a:solidFill>
                <a:latin typeface="Arial"/>
                <a:cs typeface="Arial"/>
              </a:rPr>
              <a:t>Sending</a:t>
            </a:r>
            <a:r>
              <a:rPr sz="3488" spc="300" dirty="0">
                <a:solidFill>
                  <a:srgbClr val="3B3491"/>
                </a:solidFill>
                <a:latin typeface="Arial"/>
                <a:cs typeface="Arial"/>
              </a:rPr>
              <a:t> </a:t>
            </a:r>
            <a:r>
              <a:rPr sz="3488" spc="-330" dirty="0">
                <a:solidFill>
                  <a:srgbClr val="363190"/>
                </a:solidFill>
                <a:latin typeface="Arial"/>
                <a:cs typeface="Arial"/>
              </a:rPr>
              <a:t>a</a:t>
            </a:r>
            <a:r>
              <a:rPr sz="3488" spc="172" dirty="0">
                <a:solidFill>
                  <a:srgbClr val="363190"/>
                </a:solidFill>
                <a:latin typeface="Arial"/>
                <a:cs typeface="Arial"/>
              </a:rPr>
              <a:t> </a:t>
            </a:r>
            <a:r>
              <a:rPr sz="3488" spc="-296" dirty="0">
                <a:solidFill>
                  <a:srgbClr val="363190"/>
                </a:solidFill>
                <a:latin typeface="Arial"/>
                <a:cs typeface="Arial"/>
              </a:rPr>
              <a:t>Message</a:t>
            </a:r>
            <a:endParaRPr sz="34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3910" y="1515777"/>
            <a:ext cx="5681186" cy="30727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469583">
              <a:lnSpc>
                <a:spcPts val="1864"/>
              </a:lnSpc>
              <a:spcBef>
                <a:spcPts val="71"/>
              </a:spcBef>
            </a:pPr>
            <a:r>
              <a:rPr sz="1650" spc="-214" dirty="0">
                <a:latin typeface="Arial"/>
                <a:cs typeface="Arial"/>
              </a:rPr>
              <a:t>We</a:t>
            </a:r>
            <a:r>
              <a:rPr sz="1650" dirty="0">
                <a:latin typeface="Arial"/>
                <a:cs typeface="Arial"/>
              </a:rPr>
              <a:t> </a:t>
            </a:r>
            <a:r>
              <a:rPr sz="1650" spc="-124" dirty="0">
                <a:latin typeface="Arial"/>
                <a:cs typeface="Arial"/>
              </a:rPr>
              <a:t>can</a:t>
            </a:r>
            <a:r>
              <a:rPr sz="1650" spc="8" dirty="0">
                <a:latin typeface="Arial"/>
                <a:cs typeface="Arial"/>
              </a:rPr>
              <a:t> </a:t>
            </a:r>
            <a:r>
              <a:rPr sz="1650" spc="-94" dirty="0">
                <a:latin typeface="Arial"/>
                <a:cs typeface="Arial"/>
              </a:rPr>
              <a:t>create</a:t>
            </a:r>
            <a:r>
              <a:rPr sz="1650" spc="-23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</a:t>
            </a:r>
            <a:r>
              <a:rPr sz="1650" spc="-113" dirty="0">
                <a:latin typeface="Arial"/>
                <a:cs typeface="Arial"/>
              </a:rPr>
              <a:t> </a:t>
            </a:r>
            <a:r>
              <a:rPr sz="1650" spc="-94" dirty="0">
                <a:latin typeface="Arial"/>
                <a:cs typeface="Arial"/>
              </a:rPr>
              <a:t>simple</a:t>
            </a:r>
            <a:r>
              <a:rPr sz="1650" spc="-11" dirty="0">
                <a:latin typeface="Arial"/>
                <a:cs typeface="Arial"/>
              </a:rPr>
              <a:t> </a:t>
            </a:r>
            <a:r>
              <a:rPr sz="1650" spc="-169" dirty="0">
                <a:latin typeface="Arial"/>
                <a:cs typeface="Arial"/>
              </a:rPr>
              <a:t>Message</a:t>
            </a:r>
            <a:r>
              <a:rPr sz="1650" spc="53" dirty="0">
                <a:latin typeface="Arial"/>
                <a:cs typeface="Arial"/>
              </a:rPr>
              <a:t> </a:t>
            </a:r>
            <a:r>
              <a:rPr sz="1650" spc="-60" dirty="0">
                <a:latin typeface="Arial"/>
                <a:cs typeface="Arial"/>
              </a:rPr>
              <a:t>object</a:t>
            </a:r>
            <a:r>
              <a:rPr sz="1650" spc="-11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to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131" dirty="0">
                <a:latin typeface="Arial"/>
                <a:cs typeface="Arial"/>
              </a:rPr>
              <a:t>send</a:t>
            </a:r>
            <a:r>
              <a:rPr sz="1650" spc="15" dirty="0">
                <a:latin typeface="Arial"/>
                <a:cs typeface="Arial"/>
              </a:rPr>
              <a:t> </a:t>
            </a:r>
            <a:r>
              <a:rPr sz="1650" spc="-79" dirty="0">
                <a:latin typeface="Arial"/>
                <a:cs typeface="Arial"/>
              </a:rPr>
              <a:t>over</a:t>
            </a:r>
            <a:r>
              <a:rPr sz="1650" dirty="0">
                <a:latin typeface="Arial"/>
                <a:cs typeface="Arial"/>
              </a:rPr>
              <a:t> </a:t>
            </a:r>
            <a:r>
              <a:rPr sz="1650" spc="-45" dirty="0">
                <a:latin typeface="Arial"/>
                <a:cs typeface="Arial"/>
              </a:rPr>
              <a:t>the</a:t>
            </a:r>
            <a:r>
              <a:rPr sz="1650" spc="-68" dirty="0">
                <a:latin typeface="Arial"/>
                <a:cs typeface="Arial"/>
              </a:rPr>
              <a:t> </a:t>
            </a:r>
            <a:r>
              <a:rPr sz="1650" spc="-38" dirty="0">
                <a:latin typeface="Arial"/>
                <a:cs typeface="Arial"/>
              </a:rPr>
              <a:t>Pipe.</a:t>
            </a:r>
            <a:endParaRPr sz="1650">
              <a:latin typeface="Arial"/>
              <a:cs typeface="Arial"/>
            </a:endParaRPr>
          </a:p>
          <a:p>
            <a:pPr marL="466725">
              <a:lnSpc>
                <a:spcPts val="1834"/>
              </a:lnSpc>
            </a:pPr>
            <a:r>
              <a:rPr sz="1725" spc="-143" dirty="0">
                <a:latin typeface="Arial"/>
                <a:cs typeface="Arial"/>
              </a:rPr>
              <a:t>This</a:t>
            </a:r>
            <a:r>
              <a:rPr sz="1725" spc="-11" dirty="0">
                <a:latin typeface="Arial"/>
                <a:cs typeface="Arial"/>
              </a:rPr>
              <a:t> </a:t>
            </a:r>
            <a:r>
              <a:rPr sz="1725" spc="-98" dirty="0">
                <a:latin typeface="Arial"/>
                <a:cs typeface="Arial"/>
              </a:rPr>
              <a:t>object</a:t>
            </a:r>
            <a:r>
              <a:rPr sz="1725" spc="-23" dirty="0">
                <a:latin typeface="Arial"/>
                <a:cs typeface="Arial"/>
              </a:rPr>
              <a:t> </a:t>
            </a:r>
            <a:r>
              <a:rPr sz="1725" spc="-124" dirty="0">
                <a:latin typeface="Arial"/>
                <a:cs typeface="Arial"/>
              </a:rPr>
              <a:t>is</a:t>
            </a:r>
            <a:r>
              <a:rPr sz="1725" spc="-23" dirty="0">
                <a:latin typeface="Arial"/>
                <a:cs typeface="Arial"/>
              </a:rPr>
              <a:t> </a:t>
            </a:r>
            <a:r>
              <a:rPr sz="1725" spc="-105" dirty="0">
                <a:latin typeface="Arial"/>
                <a:cs typeface="Arial"/>
              </a:rPr>
              <a:t>really</a:t>
            </a:r>
            <a:r>
              <a:rPr sz="1725" spc="-15" dirty="0">
                <a:latin typeface="Arial"/>
                <a:cs typeface="Arial"/>
              </a:rPr>
              <a:t> </a:t>
            </a:r>
            <a:r>
              <a:rPr sz="1725" spc="-131" dirty="0">
                <a:latin typeface="Arial"/>
                <a:cs typeface="Arial"/>
              </a:rPr>
              <a:t>represented</a:t>
            </a:r>
            <a:r>
              <a:rPr sz="1725" spc="83" dirty="0">
                <a:latin typeface="Arial"/>
                <a:cs typeface="Arial"/>
              </a:rPr>
              <a:t> </a:t>
            </a:r>
            <a:r>
              <a:rPr sz="1725" spc="-38" dirty="0">
                <a:latin typeface="Arial"/>
                <a:cs typeface="Arial"/>
              </a:rPr>
              <a:t>in</a:t>
            </a:r>
            <a:r>
              <a:rPr sz="1725" spc="-15" dirty="0">
                <a:latin typeface="Arial"/>
                <a:cs typeface="Arial"/>
              </a:rPr>
              <a:t> </a:t>
            </a:r>
            <a:r>
              <a:rPr sz="1725" spc="-263" dirty="0">
                <a:latin typeface="Arial"/>
                <a:cs typeface="Arial"/>
              </a:rPr>
              <a:t>XML</a:t>
            </a:r>
            <a:r>
              <a:rPr sz="1725" spc="-4" dirty="0">
                <a:latin typeface="Arial"/>
                <a:cs typeface="Arial"/>
              </a:rPr>
              <a:t> </a:t>
            </a:r>
            <a:r>
              <a:rPr sz="1725" spc="-172" dirty="0">
                <a:latin typeface="Arial"/>
                <a:cs typeface="Arial"/>
              </a:rPr>
              <a:t>when</a:t>
            </a:r>
            <a:r>
              <a:rPr sz="1725" spc="34" dirty="0">
                <a:latin typeface="Arial"/>
                <a:cs typeface="Arial"/>
              </a:rPr>
              <a:t> </a:t>
            </a:r>
            <a:r>
              <a:rPr sz="1725" spc="-8" dirty="0">
                <a:latin typeface="Arial"/>
                <a:cs typeface="Arial"/>
              </a:rPr>
              <a:t>sent.</a:t>
            </a:r>
            <a:endParaRPr sz="1725">
              <a:latin typeface="Arial"/>
              <a:cs typeface="Arial"/>
            </a:endParaRPr>
          </a:p>
          <a:p>
            <a:pPr marL="469106">
              <a:lnSpc>
                <a:spcPts val="1905"/>
              </a:lnSpc>
            </a:pPr>
            <a:r>
              <a:rPr sz="1688" spc="-199" dirty="0">
                <a:solidFill>
                  <a:srgbClr val="9A2B2F"/>
                </a:solidFill>
                <a:latin typeface="Arial"/>
                <a:cs typeface="Arial"/>
              </a:rPr>
              <a:t>Message</a:t>
            </a:r>
            <a:r>
              <a:rPr sz="1688" spc="75" dirty="0">
                <a:solidFill>
                  <a:srgbClr val="9A2B2F"/>
                </a:solidFill>
                <a:latin typeface="Arial"/>
                <a:cs typeface="Arial"/>
              </a:rPr>
              <a:t> </a:t>
            </a:r>
            <a:r>
              <a:rPr sz="1688" spc="-127" dirty="0">
                <a:solidFill>
                  <a:srgbClr val="822831"/>
                </a:solidFill>
                <a:latin typeface="Arial"/>
                <a:cs typeface="Arial"/>
              </a:rPr>
              <a:t>msg</a:t>
            </a:r>
            <a:r>
              <a:rPr sz="1688" spc="116" dirty="0">
                <a:solidFill>
                  <a:srgbClr val="822831"/>
                </a:solidFill>
                <a:latin typeface="Arial"/>
                <a:cs typeface="Arial"/>
              </a:rPr>
              <a:t> </a:t>
            </a:r>
            <a:r>
              <a:rPr sz="1688" dirty="0">
                <a:solidFill>
                  <a:srgbClr val="AF7079"/>
                </a:solidFill>
                <a:latin typeface="Arial"/>
                <a:cs typeface="Arial"/>
              </a:rPr>
              <a:t>-  </a:t>
            </a:r>
            <a:r>
              <a:rPr sz="1688" spc="-135" dirty="0">
                <a:solidFill>
                  <a:srgbClr val="AC1D16"/>
                </a:solidFill>
                <a:latin typeface="Arial"/>
                <a:cs typeface="Arial"/>
              </a:rPr>
              <a:t>pipes.createMessage</a:t>
            </a:r>
            <a:r>
              <a:rPr sz="1688" spc="11" dirty="0">
                <a:solidFill>
                  <a:srgbClr val="AC1D16"/>
                </a:solidFill>
                <a:latin typeface="Arial"/>
                <a:cs typeface="Arial"/>
              </a:rPr>
              <a:t> </a:t>
            </a:r>
            <a:r>
              <a:rPr sz="1688" spc="-19" dirty="0">
                <a:solidFill>
                  <a:srgbClr val="AC1D16"/>
                </a:solidFill>
                <a:latin typeface="Arial"/>
                <a:cs typeface="Arial"/>
              </a:rPr>
              <a:t>);</a:t>
            </a:r>
            <a:endParaRPr sz="1688">
              <a:latin typeface="Arial"/>
              <a:cs typeface="Arial"/>
            </a:endParaRPr>
          </a:p>
          <a:p>
            <a:pPr marL="471011" marR="329565" indent="-2858">
              <a:lnSpc>
                <a:spcPts val="1793"/>
              </a:lnSpc>
              <a:spcBef>
                <a:spcPts val="390"/>
              </a:spcBef>
            </a:pPr>
            <a:r>
              <a:rPr sz="1725" spc="-195" dirty="0">
                <a:latin typeface="Arial"/>
                <a:cs typeface="Arial"/>
              </a:rPr>
              <a:t>Remember</a:t>
            </a:r>
            <a:r>
              <a:rPr sz="1725" spc="79" dirty="0">
                <a:latin typeface="Arial"/>
                <a:cs typeface="Arial"/>
              </a:rPr>
              <a:t> </a:t>
            </a:r>
            <a:r>
              <a:rPr sz="1725" spc="-41" dirty="0">
                <a:latin typeface="Arial"/>
                <a:cs typeface="Arial"/>
              </a:rPr>
              <a:t>that</a:t>
            </a:r>
            <a:r>
              <a:rPr sz="1725" spc="38" dirty="0">
                <a:latin typeface="Arial"/>
                <a:cs typeface="Arial"/>
              </a:rPr>
              <a:t> </a:t>
            </a:r>
            <a:r>
              <a:rPr sz="1725" spc="-120" dirty="0">
                <a:latin typeface="Arial"/>
                <a:cs typeface="Arial"/>
              </a:rPr>
              <a:t>our</a:t>
            </a:r>
            <a:r>
              <a:rPr sz="1725" spc="-19" dirty="0">
                <a:latin typeface="Arial"/>
                <a:cs typeface="Arial"/>
              </a:rPr>
              <a:t> </a:t>
            </a:r>
            <a:r>
              <a:rPr sz="1725" spc="-210" dirty="0">
                <a:latin typeface="Arial"/>
                <a:cs typeface="Arial"/>
              </a:rPr>
              <a:t>Tag</a:t>
            </a:r>
            <a:r>
              <a:rPr sz="1725" spc="-15" dirty="0">
                <a:latin typeface="Arial"/>
                <a:cs typeface="Arial"/>
              </a:rPr>
              <a:t> </a:t>
            </a:r>
            <a:r>
              <a:rPr sz="1725" spc="-210" dirty="0">
                <a:latin typeface="Arial"/>
                <a:cs typeface="Arial"/>
              </a:rPr>
              <a:t>Name</a:t>
            </a:r>
            <a:r>
              <a:rPr sz="1725" spc="49" dirty="0">
                <a:latin typeface="Arial"/>
                <a:cs typeface="Arial"/>
              </a:rPr>
              <a:t> </a:t>
            </a:r>
            <a:r>
              <a:rPr sz="1725" spc="-135" dirty="0">
                <a:latin typeface="Arial"/>
                <a:cs typeface="Arial"/>
              </a:rPr>
              <a:t>must</a:t>
            </a:r>
            <a:r>
              <a:rPr sz="1725" spc="49" dirty="0">
                <a:latin typeface="Arial"/>
                <a:cs typeface="Arial"/>
              </a:rPr>
              <a:t> </a:t>
            </a:r>
            <a:r>
              <a:rPr sz="1725" spc="-169" dirty="0">
                <a:latin typeface="Arial"/>
                <a:cs typeface="Arial"/>
              </a:rPr>
              <a:t>be</a:t>
            </a:r>
            <a:r>
              <a:rPr sz="1725" spc="-34" dirty="0">
                <a:latin typeface="Arial"/>
                <a:cs typeface="Arial"/>
              </a:rPr>
              <a:t> </a:t>
            </a:r>
            <a:r>
              <a:rPr sz="1725" spc="-79" dirty="0">
                <a:latin typeface="Arial"/>
                <a:cs typeface="Arial"/>
              </a:rPr>
              <a:t>the</a:t>
            </a:r>
            <a:r>
              <a:rPr sz="1725" spc="-30" dirty="0">
                <a:latin typeface="Arial"/>
                <a:cs typeface="Arial"/>
              </a:rPr>
              <a:t> </a:t>
            </a:r>
            <a:r>
              <a:rPr sz="1725" spc="-206" dirty="0">
                <a:latin typeface="Arial"/>
                <a:cs typeface="Arial"/>
              </a:rPr>
              <a:t>same</a:t>
            </a:r>
            <a:r>
              <a:rPr sz="1725" spc="19" dirty="0">
                <a:latin typeface="Arial"/>
                <a:cs typeface="Arial"/>
              </a:rPr>
              <a:t> </a:t>
            </a:r>
            <a:r>
              <a:rPr sz="1725" spc="-113" dirty="0">
                <a:latin typeface="Arial"/>
                <a:cs typeface="Arial"/>
              </a:rPr>
              <a:t>beWeen </a:t>
            </a:r>
            <a:r>
              <a:rPr sz="1725" spc="-124" dirty="0">
                <a:latin typeface="Arial"/>
                <a:cs typeface="Arial"/>
              </a:rPr>
              <a:t>producer</a:t>
            </a:r>
            <a:r>
              <a:rPr sz="1725" spc="4" dirty="0">
                <a:latin typeface="Arial"/>
                <a:cs typeface="Arial"/>
              </a:rPr>
              <a:t> </a:t>
            </a:r>
            <a:r>
              <a:rPr sz="1725" spc="-158" dirty="0">
                <a:latin typeface="Arial"/>
                <a:cs typeface="Arial"/>
              </a:rPr>
              <a:t>and</a:t>
            </a:r>
            <a:r>
              <a:rPr sz="1725" dirty="0">
                <a:latin typeface="Arial"/>
                <a:cs typeface="Arial"/>
              </a:rPr>
              <a:t> </a:t>
            </a:r>
            <a:r>
              <a:rPr sz="1725" spc="-146" dirty="0">
                <a:latin typeface="Arial"/>
                <a:cs typeface="Arial"/>
              </a:rPr>
              <a:t>consumer</a:t>
            </a:r>
            <a:r>
              <a:rPr sz="1725" spc="94" dirty="0">
                <a:latin typeface="Arial"/>
                <a:cs typeface="Arial"/>
              </a:rPr>
              <a:t> </a:t>
            </a:r>
            <a:r>
              <a:rPr sz="1725" dirty="0">
                <a:latin typeface="Arial"/>
                <a:cs typeface="Arial"/>
              </a:rPr>
              <a:t>if</a:t>
            </a:r>
            <a:r>
              <a:rPr sz="1725" spc="-19" dirty="0">
                <a:latin typeface="Arial"/>
                <a:cs typeface="Arial"/>
              </a:rPr>
              <a:t> </a:t>
            </a:r>
            <a:r>
              <a:rPr sz="1725" spc="-184" dirty="0">
                <a:latin typeface="Arial"/>
                <a:cs typeface="Arial"/>
              </a:rPr>
              <a:t>we</a:t>
            </a:r>
            <a:r>
              <a:rPr sz="1725" spc="-38" dirty="0">
                <a:latin typeface="Arial"/>
                <a:cs typeface="Arial"/>
              </a:rPr>
              <a:t> </a:t>
            </a:r>
            <a:r>
              <a:rPr sz="1725" spc="-120" dirty="0">
                <a:latin typeface="Arial"/>
                <a:cs typeface="Arial"/>
              </a:rPr>
              <a:t>are</a:t>
            </a:r>
            <a:r>
              <a:rPr sz="1725" dirty="0">
                <a:latin typeface="Arial"/>
                <a:cs typeface="Arial"/>
              </a:rPr>
              <a:t> </a:t>
            </a:r>
            <a:r>
              <a:rPr sz="1725" spc="-38" dirty="0">
                <a:latin typeface="Arial"/>
                <a:cs typeface="Arial"/>
              </a:rPr>
              <a:t>to</a:t>
            </a:r>
            <a:r>
              <a:rPr sz="1725" spc="-68" dirty="0">
                <a:latin typeface="Arial"/>
                <a:cs typeface="Arial"/>
              </a:rPr>
              <a:t> </a:t>
            </a:r>
            <a:r>
              <a:rPr sz="1725" spc="-184" dirty="0">
                <a:latin typeface="Arial"/>
                <a:cs typeface="Arial"/>
              </a:rPr>
              <a:t>use</a:t>
            </a:r>
            <a:r>
              <a:rPr sz="1725" spc="11" dirty="0">
                <a:latin typeface="Arial"/>
                <a:cs typeface="Arial"/>
              </a:rPr>
              <a:t> </a:t>
            </a:r>
            <a:r>
              <a:rPr sz="1725" spc="-19" dirty="0">
                <a:latin typeface="Arial"/>
                <a:cs typeface="Arial"/>
              </a:rPr>
              <a:t>it. </a:t>
            </a:r>
            <a:r>
              <a:rPr sz="1688" spc="-101" dirty="0">
                <a:solidFill>
                  <a:srgbClr val="932F3B"/>
                </a:solidFill>
                <a:latin typeface="Arial"/>
                <a:cs typeface="Arial"/>
              </a:rPr>
              <a:t>msg.setString(”DataTag”,</a:t>
            </a:r>
            <a:r>
              <a:rPr sz="1688" spc="-26" dirty="0">
                <a:solidFill>
                  <a:srgbClr val="932F3B"/>
                </a:solidFill>
                <a:latin typeface="Arial"/>
                <a:cs typeface="Arial"/>
              </a:rPr>
              <a:t> </a:t>
            </a:r>
            <a:r>
              <a:rPr sz="1688" spc="-8" dirty="0">
                <a:solidFill>
                  <a:srgbClr val="9E2824"/>
                </a:solidFill>
                <a:latin typeface="Arial"/>
                <a:cs typeface="Arial"/>
              </a:rPr>
              <a:t>data);</a:t>
            </a:r>
            <a:endParaRPr sz="1688">
              <a:latin typeface="Arial"/>
              <a:cs typeface="Arial"/>
            </a:endParaRPr>
          </a:p>
          <a:p>
            <a:pPr marL="471964" marR="2359819" indent="-2858">
              <a:lnSpc>
                <a:spcPts val="1793"/>
              </a:lnSpc>
              <a:spcBef>
                <a:spcPts val="371"/>
              </a:spcBef>
            </a:pPr>
            <a:r>
              <a:rPr sz="1575" spc="-94" dirty="0">
                <a:latin typeface="Arial"/>
                <a:cs typeface="Arial"/>
              </a:rPr>
              <a:t>Send</a:t>
            </a:r>
            <a:r>
              <a:rPr sz="1575" spc="-19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the</a:t>
            </a:r>
            <a:r>
              <a:rPr sz="1575" spc="-109" dirty="0">
                <a:latin typeface="Arial"/>
                <a:cs typeface="Arial"/>
              </a:rPr>
              <a:t> </a:t>
            </a:r>
            <a:r>
              <a:rPr sz="1575" spc="-90" dirty="0">
                <a:latin typeface="Arial"/>
                <a:cs typeface="Arial"/>
              </a:rPr>
              <a:t>message</a:t>
            </a:r>
            <a:r>
              <a:rPr sz="1575" spc="-23" dirty="0">
                <a:latin typeface="Arial"/>
                <a:cs typeface="Arial"/>
              </a:rPr>
              <a:t> </a:t>
            </a:r>
            <a:r>
              <a:rPr sz="1575" spc="-26" dirty="0">
                <a:latin typeface="Arial"/>
                <a:cs typeface="Arial"/>
              </a:rPr>
              <a:t>using</a:t>
            </a:r>
            <a:r>
              <a:rPr sz="1575" spc="-19" dirty="0">
                <a:latin typeface="Arial"/>
                <a:cs typeface="Arial"/>
              </a:rPr>
              <a:t> </a:t>
            </a:r>
            <a:r>
              <a:rPr sz="1575" dirty="0">
                <a:latin typeface="Arial"/>
                <a:cs typeface="Arial"/>
              </a:rPr>
              <a:t>our</a:t>
            </a:r>
            <a:r>
              <a:rPr sz="1575" spc="11" dirty="0">
                <a:latin typeface="Arial"/>
                <a:cs typeface="Arial"/>
              </a:rPr>
              <a:t> </a:t>
            </a:r>
            <a:r>
              <a:rPr sz="1575" spc="-75" dirty="0">
                <a:latin typeface="Arial"/>
                <a:cs typeface="Arial"/>
              </a:rPr>
              <a:t>Pipe! </a:t>
            </a:r>
            <a:r>
              <a:rPr sz="1575" spc="-75" dirty="0">
                <a:solidFill>
                  <a:srgbClr val="8C2F33"/>
                </a:solidFill>
                <a:latin typeface="Arial"/>
                <a:cs typeface="Arial"/>
              </a:rPr>
              <a:t>myPipe.send</a:t>
            </a:r>
            <a:r>
              <a:rPr sz="1575" spc="8" dirty="0">
                <a:solidFill>
                  <a:srgbClr val="8C2F33"/>
                </a:solidFill>
                <a:latin typeface="Arial"/>
                <a:cs typeface="Arial"/>
              </a:rPr>
              <a:t> </a:t>
            </a:r>
            <a:r>
              <a:rPr sz="1575" spc="-8" dirty="0">
                <a:solidFill>
                  <a:srgbClr val="A12D2D"/>
                </a:solidFill>
                <a:latin typeface="Arial"/>
                <a:cs typeface="Arial"/>
              </a:rPr>
              <a:t>(msg);</a:t>
            </a:r>
            <a:endParaRPr sz="1575">
              <a:latin typeface="Arial"/>
              <a:cs typeface="Arial"/>
            </a:endParaRPr>
          </a:p>
          <a:p>
            <a:pPr>
              <a:spcBef>
                <a:spcPts val="814"/>
              </a:spcBef>
            </a:pPr>
            <a:endParaRPr sz="1575">
              <a:latin typeface="Arial"/>
              <a:cs typeface="Arial"/>
            </a:endParaRPr>
          </a:p>
          <a:p>
            <a:pPr marL="9525">
              <a:lnSpc>
                <a:spcPts val="2940"/>
              </a:lnSpc>
            </a:pPr>
            <a:r>
              <a:rPr sz="2475" spc="-26" dirty="0">
                <a:latin typeface="Arial"/>
                <a:cs typeface="Arial"/>
              </a:rPr>
              <a:t>That's</a:t>
            </a:r>
            <a:r>
              <a:rPr sz="2475" spc="-68" dirty="0">
                <a:latin typeface="Arial"/>
                <a:cs typeface="Arial"/>
              </a:rPr>
              <a:t> </a:t>
            </a:r>
            <a:r>
              <a:rPr sz="2475" dirty="0">
                <a:latin typeface="Arial"/>
                <a:cs typeface="Arial"/>
              </a:rPr>
              <a:t>all</a:t>
            </a:r>
            <a:r>
              <a:rPr sz="2475" spc="-60" dirty="0">
                <a:latin typeface="Arial"/>
                <a:cs typeface="Arial"/>
              </a:rPr>
              <a:t> </a:t>
            </a:r>
            <a:r>
              <a:rPr sz="2475" dirty="0">
                <a:latin typeface="Arial"/>
                <a:cs typeface="Arial"/>
              </a:rPr>
              <a:t>there</a:t>
            </a:r>
            <a:r>
              <a:rPr sz="2475" spc="-49" dirty="0">
                <a:latin typeface="Arial"/>
                <a:cs typeface="Arial"/>
              </a:rPr>
              <a:t> </a:t>
            </a:r>
            <a:r>
              <a:rPr sz="2475" dirty="0">
                <a:latin typeface="Arial"/>
                <a:cs typeface="Arial"/>
              </a:rPr>
              <a:t>is</a:t>
            </a:r>
            <a:r>
              <a:rPr sz="2475" spc="-105" dirty="0">
                <a:latin typeface="Arial"/>
                <a:cs typeface="Arial"/>
              </a:rPr>
              <a:t> </a:t>
            </a:r>
            <a:r>
              <a:rPr sz="2475" dirty="0">
                <a:latin typeface="Arial"/>
                <a:cs typeface="Arial"/>
              </a:rPr>
              <a:t>in</a:t>
            </a:r>
            <a:r>
              <a:rPr sz="2475" spc="-105" dirty="0">
                <a:latin typeface="Arial"/>
                <a:cs typeface="Arial"/>
              </a:rPr>
              <a:t> </a:t>
            </a:r>
            <a:r>
              <a:rPr sz="2475" dirty="0">
                <a:latin typeface="Arial"/>
                <a:cs typeface="Arial"/>
              </a:rPr>
              <a:t>our</a:t>
            </a:r>
            <a:r>
              <a:rPr sz="2475" spc="-19" dirty="0">
                <a:latin typeface="Arial"/>
                <a:cs typeface="Arial"/>
              </a:rPr>
              <a:t> </a:t>
            </a:r>
            <a:r>
              <a:rPr sz="2475" spc="-53" dirty="0">
                <a:latin typeface="Arial"/>
                <a:cs typeface="Arial"/>
              </a:rPr>
              <a:t>Demo,</a:t>
            </a:r>
            <a:r>
              <a:rPr sz="2475" spc="-4" dirty="0">
                <a:latin typeface="Arial"/>
                <a:cs typeface="Arial"/>
              </a:rPr>
              <a:t> </a:t>
            </a:r>
            <a:r>
              <a:rPr sz="2475" dirty="0">
                <a:latin typeface="Arial"/>
                <a:cs typeface="Arial"/>
              </a:rPr>
              <a:t>but</a:t>
            </a:r>
            <a:r>
              <a:rPr sz="2475" spc="-45" dirty="0">
                <a:latin typeface="Arial"/>
                <a:cs typeface="Arial"/>
              </a:rPr>
              <a:t> </a:t>
            </a:r>
            <a:r>
              <a:rPr sz="2475" spc="-19" dirty="0">
                <a:latin typeface="Arial"/>
                <a:cs typeface="Arial"/>
              </a:rPr>
              <a:t>you</a:t>
            </a:r>
            <a:endParaRPr sz="2475">
              <a:latin typeface="Arial"/>
              <a:cs typeface="Arial"/>
            </a:endParaRPr>
          </a:p>
          <a:p>
            <a:pPr marL="466249">
              <a:lnSpc>
                <a:spcPts val="2895"/>
              </a:lnSpc>
            </a:pPr>
            <a:r>
              <a:rPr sz="2438" spc="-15" dirty="0">
                <a:latin typeface="Arial"/>
                <a:cs typeface="Arial"/>
              </a:rPr>
              <a:t>can</a:t>
            </a:r>
            <a:r>
              <a:rPr sz="2438" spc="-68" dirty="0">
                <a:latin typeface="Arial"/>
                <a:cs typeface="Arial"/>
              </a:rPr>
              <a:t> </a:t>
            </a:r>
            <a:r>
              <a:rPr sz="2438" dirty="0">
                <a:latin typeface="Arial"/>
                <a:cs typeface="Arial"/>
              </a:rPr>
              <a:t>do</a:t>
            </a:r>
            <a:r>
              <a:rPr sz="2438" spc="-105" dirty="0">
                <a:latin typeface="Arial"/>
                <a:cs typeface="Arial"/>
              </a:rPr>
              <a:t> </a:t>
            </a:r>
            <a:r>
              <a:rPr sz="2438" spc="-8" dirty="0">
                <a:latin typeface="Arial"/>
                <a:cs typeface="Arial"/>
              </a:rPr>
              <a:t>much</a:t>
            </a:r>
            <a:r>
              <a:rPr sz="2438" spc="-83" dirty="0">
                <a:latin typeface="Arial"/>
                <a:cs typeface="Arial"/>
              </a:rPr>
              <a:t> </a:t>
            </a:r>
            <a:r>
              <a:rPr sz="2438" dirty="0">
                <a:latin typeface="Arial"/>
                <a:cs typeface="Arial"/>
              </a:rPr>
              <a:t>more</a:t>
            </a:r>
            <a:r>
              <a:rPr sz="2438" spc="-101" dirty="0">
                <a:latin typeface="Arial"/>
                <a:cs typeface="Arial"/>
              </a:rPr>
              <a:t> </a:t>
            </a:r>
            <a:r>
              <a:rPr sz="2438" spc="-23" dirty="0">
                <a:latin typeface="Arial"/>
                <a:cs typeface="Arial"/>
              </a:rPr>
              <a:t>using</a:t>
            </a:r>
            <a:r>
              <a:rPr sz="2438" spc="-109" dirty="0">
                <a:latin typeface="Arial"/>
                <a:cs typeface="Arial"/>
              </a:rPr>
              <a:t> </a:t>
            </a:r>
            <a:r>
              <a:rPr sz="2438" spc="-199" dirty="0">
                <a:latin typeface="Arial"/>
                <a:cs typeface="Arial"/>
              </a:rPr>
              <a:t>JXTA!</a:t>
            </a:r>
            <a:endParaRPr sz="2438">
              <a:latin typeface="Arial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9D4C8F-22F0-58DA-169F-52FFC15F1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313" y="1828354"/>
            <a:ext cx="2491382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30709" y="1628107"/>
            <a:ext cx="2645093" cy="583879"/>
          </a:xfrm>
          <a:prstGeom prst="rect">
            <a:avLst/>
          </a:prstGeom>
        </p:spPr>
        <p:txBody>
          <a:bodyPr vert="horz" wrap="square" lIns="0" tIns="123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98"/>
              </a:spcBef>
            </a:pPr>
            <a:r>
              <a:rPr sz="3713" spc="-548" dirty="0">
                <a:solidFill>
                  <a:srgbClr val="313385"/>
                </a:solidFill>
                <a:latin typeface="Arial"/>
                <a:cs typeface="Arial"/>
              </a:rPr>
              <a:t>JXTA</a:t>
            </a:r>
            <a:r>
              <a:rPr sz="3713" spc="176" dirty="0">
                <a:solidFill>
                  <a:srgbClr val="313385"/>
                </a:solidFill>
                <a:latin typeface="Arial"/>
                <a:cs typeface="Arial"/>
              </a:rPr>
              <a:t> </a:t>
            </a:r>
            <a:r>
              <a:rPr sz="3713" spc="-330" dirty="0">
                <a:solidFill>
                  <a:srgbClr val="343191"/>
                </a:solidFill>
                <a:latin typeface="Arial"/>
                <a:cs typeface="Arial"/>
              </a:rPr>
              <a:t>Wrap-</a:t>
            </a:r>
            <a:r>
              <a:rPr sz="3713" spc="-405" dirty="0">
                <a:solidFill>
                  <a:srgbClr val="343191"/>
                </a:solidFill>
                <a:latin typeface="Arial"/>
                <a:cs typeface="Arial"/>
              </a:rPr>
              <a:t>Up</a:t>
            </a:r>
            <a:endParaRPr sz="3713">
              <a:latin typeface="Arial"/>
              <a:cs typeface="Arial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B3E49B-779D-AEB5-5FF7-01EA7CC6AA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310556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551" y="-266626"/>
            <a:ext cx="5916217" cy="1085112"/>
          </a:xfrm>
          <a:prstGeom prst="rect">
            <a:avLst/>
          </a:prstGeom>
        </p:spPr>
        <p:txBody>
          <a:bodyPr vert="horz" wrap="square" lIns="0" tIns="54305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335">
              <a:spcBef>
                <a:spcPts val="101"/>
              </a:spcBef>
            </a:pPr>
            <a:r>
              <a:rPr sz="3488" spc="-409" dirty="0">
                <a:solidFill>
                  <a:srgbClr val="343680"/>
                </a:solidFill>
                <a:latin typeface="Arial"/>
                <a:cs typeface="Arial"/>
              </a:rPr>
              <a:t>JXTA</a:t>
            </a:r>
            <a:r>
              <a:rPr sz="3488" spc="169" dirty="0">
                <a:solidFill>
                  <a:srgbClr val="343680"/>
                </a:solidFill>
                <a:latin typeface="Arial"/>
                <a:cs typeface="Arial"/>
              </a:rPr>
              <a:t> </a:t>
            </a:r>
            <a:r>
              <a:rPr sz="3488" spc="-83" dirty="0">
                <a:solidFill>
                  <a:srgbClr val="36338C"/>
                </a:solidFill>
                <a:latin typeface="Arial"/>
                <a:cs typeface="Arial"/>
              </a:rPr>
              <a:t>and</a:t>
            </a:r>
            <a:r>
              <a:rPr sz="3488" spc="-161" dirty="0">
                <a:solidFill>
                  <a:srgbClr val="36338C"/>
                </a:solidFill>
                <a:latin typeface="Arial"/>
                <a:cs typeface="Arial"/>
              </a:rPr>
              <a:t> </a:t>
            </a:r>
            <a:r>
              <a:rPr sz="3488" spc="-79" dirty="0">
                <a:solidFill>
                  <a:srgbClr val="38348C"/>
                </a:solidFill>
                <a:latin typeface="Arial"/>
                <a:cs typeface="Arial"/>
              </a:rPr>
              <a:t>Other</a:t>
            </a:r>
            <a:r>
              <a:rPr sz="3488" spc="-135" dirty="0">
                <a:solidFill>
                  <a:srgbClr val="38348C"/>
                </a:solidFill>
                <a:latin typeface="Arial"/>
                <a:cs typeface="Arial"/>
              </a:rPr>
              <a:t> </a:t>
            </a:r>
            <a:r>
              <a:rPr sz="3488" spc="-217" dirty="0">
                <a:solidFill>
                  <a:srgbClr val="363389"/>
                </a:solidFill>
                <a:latin typeface="Arial"/>
                <a:cs typeface="Arial"/>
              </a:rPr>
              <a:t>Technologies</a:t>
            </a:r>
            <a:endParaRPr sz="34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5443" y="1438096"/>
            <a:ext cx="5530691" cy="2787206"/>
          </a:xfrm>
          <a:prstGeom prst="rect">
            <a:avLst/>
          </a:prstGeom>
        </p:spPr>
        <p:txBody>
          <a:bodyPr vert="horz" wrap="square" lIns="0" tIns="48101" rIns="0" bIns="0" rtlCol="0">
            <a:spAutoFit/>
          </a:bodyPr>
          <a:lstStyle/>
          <a:p>
            <a:pPr marL="238601" indent="-229076">
              <a:spcBef>
                <a:spcPts val="379"/>
              </a:spcBef>
              <a:buClr>
                <a:srgbClr val="3636C4"/>
              </a:buClr>
              <a:buChar char="•"/>
              <a:tabLst>
                <a:tab pos="238601" algn="l"/>
              </a:tabLst>
            </a:pPr>
            <a:r>
              <a:rPr sz="2850" spc="-491" dirty="0">
                <a:latin typeface="Arial"/>
                <a:cs typeface="Arial"/>
              </a:rPr>
              <a:t>JXTA</a:t>
            </a:r>
            <a:r>
              <a:rPr sz="2850" spc="68" dirty="0">
                <a:latin typeface="Arial"/>
                <a:cs typeface="Arial"/>
              </a:rPr>
              <a:t> </a:t>
            </a:r>
            <a:r>
              <a:rPr sz="2850" spc="-289" dirty="0">
                <a:latin typeface="Arial"/>
                <a:cs typeface="Arial"/>
              </a:rPr>
              <a:t>and</a:t>
            </a:r>
            <a:r>
              <a:rPr sz="2850" spc="19" dirty="0">
                <a:latin typeface="Arial"/>
                <a:cs typeface="Arial"/>
              </a:rPr>
              <a:t> </a:t>
            </a:r>
            <a:r>
              <a:rPr sz="2850" spc="-574" dirty="0">
                <a:latin typeface="Arial"/>
                <a:cs typeface="Arial"/>
              </a:rPr>
              <a:t>SOAP</a:t>
            </a:r>
            <a:endParaRPr sz="2850">
              <a:latin typeface="Arial"/>
              <a:cs typeface="Arial"/>
            </a:endParaRPr>
          </a:p>
          <a:p>
            <a:pPr marL="544354" marR="541973" lvl="1" indent="-194309">
              <a:lnSpc>
                <a:spcPts val="2160"/>
              </a:lnSpc>
              <a:spcBef>
                <a:spcPts val="420"/>
              </a:spcBef>
              <a:buClr>
                <a:srgbClr val="EF0500"/>
              </a:buClr>
              <a:buChar char="•"/>
              <a:tabLst>
                <a:tab pos="556736" algn="l"/>
              </a:tabLst>
            </a:pPr>
            <a:r>
              <a:rPr sz="1913" spc="-64" dirty="0">
                <a:latin typeface="Arial"/>
                <a:cs typeface="Arial"/>
              </a:rPr>
              <a:t>JXTA</a:t>
            </a:r>
            <a:r>
              <a:rPr sz="1913" spc="413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provides</a:t>
            </a:r>
            <a:r>
              <a:rPr sz="1913" spc="401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additional</a:t>
            </a:r>
            <a:r>
              <a:rPr sz="1913" spc="-11" dirty="0">
                <a:latin typeface="Arial"/>
                <a:cs typeface="Arial"/>
              </a:rPr>
              <a:t>  </a:t>
            </a:r>
            <a:r>
              <a:rPr sz="1913" dirty="0">
                <a:latin typeface="Arial"/>
                <a:cs typeface="Arial"/>
              </a:rPr>
              <a:t>protocols</a:t>
            </a:r>
            <a:r>
              <a:rPr sz="1913" spc="443" dirty="0">
                <a:latin typeface="Arial"/>
                <a:cs typeface="Arial"/>
              </a:rPr>
              <a:t> </a:t>
            </a:r>
            <a:r>
              <a:rPr sz="1913" spc="-19" dirty="0">
                <a:latin typeface="Arial"/>
                <a:cs typeface="Arial"/>
              </a:rPr>
              <a:t>and 	</a:t>
            </a:r>
            <a:r>
              <a:rPr sz="1913" dirty="0">
                <a:latin typeface="Arial"/>
                <a:cs typeface="Arial"/>
              </a:rPr>
              <a:t>services</a:t>
            </a:r>
            <a:r>
              <a:rPr sz="1913" spc="311" dirty="0">
                <a:latin typeface="Arial"/>
                <a:cs typeface="Arial"/>
              </a:rPr>
              <a:t> </a:t>
            </a:r>
            <a:r>
              <a:rPr sz="1913" spc="53" dirty="0">
                <a:latin typeface="Arial"/>
                <a:cs typeface="Arial"/>
              </a:rPr>
              <a:t>to</a:t>
            </a:r>
            <a:r>
              <a:rPr sz="1913" spc="191" dirty="0">
                <a:latin typeface="Arial"/>
                <a:cs typeface="Arial"/>
              </a:rPr>
              <a:t> </a:t>
            </a:r>
            <a:r>
              <a:rPr sz="1913" spc="53" dirty="0">
                <a:latin typeface="Arial"/>
                <a:cs typeface="Arial"/>
              </a:rPr>
              <a:t>implement</a:t>
            </a:r>
            <a:r>
              <a:rPr sz="1913" spc="353" dirty="0">
                <a:latin typeface="Arial"/>
                <a:cs typeface="Arial"/>
              </a:rPr>
              <a:t> </a:t>
            </a:r>
            <a:r>
              <a:rPr sz="1913" spc="-15" dirty="0">
                <a:latin typeface="Arial"/>
                <a:cs typeface="Arial"/>
              </a:rPr>
              <a:t>P2P.</a:t>
            </a:r>
            <a:endParaRPr sz="1913">
              <a:latin typeface="Arial"/>
              <a:cs typeface="Arial"/>
            </a:endParaRPr>
          </a:p>
          <a:p>
            <a:pPr marL="547211" lvl="1" indent="-203359">
              <a:spcBef>
                <a:spcPts val="278"/>
              </a:spcBef>
              <a:buClr>
                <a:srgbClr val="F20100"/>
              </a:buClr>
              <a:buChar char="•"/>
              <a:tabLst>
                <a:tab pos="547211" algn="l"/>
              </a:tabLst>
            </a:pPr>
            <a:r>
              <a:rPr sz="1875" spc="-240" dirty="0">
                <a:latin typeface="Arial"/>
                <a:cs typeface="Arial"/>
              </a:rPr>
              <a:t>SOAP</a:t>
            </a:r>
            <a:r>
              <a:rPr sz="1875" spc="109" dirty="0">
                <a:latin typeface="Arial"/>
                <a:cs typeface="Arial"/>
              </a:rPr>
              <a:t> </a:t>
            </a:r>
            <a:r>
              <a:rPr sz="1875" spc="-94" dirty="0">
                <a:latin typeface="Arial"/>
                <a:cs typeface="Arial"/>
              </a:rPr>
              <a:t>messages</a:t>
            </a:r>
            <a:r>
              <a:rPr sz="1875" spc="-38" dirty="0">
                <a:latin typeface="Arial"/>
                <a:cs typeface="Arial"/>
              </a:rPr>
              <a:t> </a:t>
            </a:r>
            <a:r>
              <a:rPr sz="1875" spc="-34" dirty="0">
                <a:latin typeface="Arial"/>
                <a:cs typeface="Arial"/>
              </a:rPr>
              <a:t>can</a:t>
            </a:r>
            <a:r>
              <a:rPr sz="1875" spc="-98" dirty="0">
                <a:latin typeface="Arial"/>
                <a:cs typeface="Arial"/>
              </a:rPr>
              <a:t> </a:t>
            </a:r>
            <a:r>
              <a:rPr sz="1875" dirty="0">
                <a:latin typeface="Arial"/>
                <a:cs typeface="Arial"/>
              </a:rPr>
              <a:t>be</a:t>
            </a:r>
            <a:r>
              <a:rPr sz="1875" spc="-131" dirty="0">
                <a:latin typeface="Arial"/>
                <a:cs typeface="Arial"/>
              </a:rPr>
              <a:t> </a:t>
            </a:r>
            <a:r>
              <a:rPr sz="1875" spc="-34" dirty="0">
                <a:latin typeface="Arial"/>
                <a:cs typeface="Arial"/>
              </a:rPr>
              <a:t>sent</a:t>
            </a:r>
            <a:r>
              <a:rPr sz="1875" spc="-86" dirty="0">
                <a:latin typeface="Arial"/>
                <a:cs typeface="Arial"/>
              </a:rPr>
              <a:t> </a:t>
            </a:r>
            <a:r>
              <a:rPr sz="1875" spc="-8" dirty="0">
                <a:latin typeface="Arial"/>
                <a:cs typeface="Arial"/>
              </a:rPr>
              <a:t>through</a:t>
            </a:r>
            <a:r>
              <a:rPr sz="1875" spc="-30" dirty="0">
                <a:latin typeface="Arial"/>
                <a:cs typeface="Arial"/>
              </a:rPr>
              <a:t> </a:t>
            </a:r>
            <a:r>
              <a:rPr sz="1875" spc="-8" dirty="0">
                <a:latin typeface="Arial"/>
                <a:cs typeface="Arial"/>
              </a:rPr>
              <a:t>Pipes.</a:t>
            </a:r>
            <a:endParaRPr sz="1875">
              <a:latin typeface="Arial"/>
              <a:cs typeface="Arial"/>
            </a:endParaRPr>
          </a:p>
          <a:p>
            <a:pPr marL="239554" indent="-229553">
              <a:spcBef>
                <a:spcPts val="210"/>
              </a:spcBef>
              <a:buClr>
                <a:srgbClr val="4241DA"/>
              </a:buClr>
              <a:buChar char="•"/>
              <a:tabLst>
                <a:tab pos="239554" algn="l"/>
              </a:tabLst>
            </a:pPr>
            <a:r>
              <a:rPr sz="2738" spc="-424" dirty="0">
                <a:latin typeface="Arial"/>
                <a:cs typeface="Arial"/>
              </a:rPr>
              <a:t>JXTA</a:t>
            </a:r>
            <a:r>
              <a:rPr sz="2738" spc="90" dirty="0">
                <a:latin typeface="Arial"/>
                <a:cs typeface="Arial"/>
              </a:rPr>
              <a:t> </a:t>
            </a:r>
            <a:r>
              <a:rPr sz="2738" spc="-233" dirty="0">
                <a:latin typeface="Arial"/>
                <a:cs typeface="Arial"/>
              </a:rPr>
              <a:t>and</a:t>
            </a:r>
            <a:r>
              <a:rPr sz="2738" spc="19" dirty="0">
                <a:latin typeface="Arial"/>
                <a:cs typeface="Arial"/>
              </a:rPr>
              <a:t> </a:t>
            </a:r>
            <a:r>
              <a:rPr sz="2738" spc="-15" dirty="0">
                <a:latin typeface="Arial"/>
                <a:cs typeface="Arial"/>
              </a:rPr>
              <a:t>JINI</a:t>
            </a:r>
            <a:endParaRPr sz="2738">
              <a:latin typeface="Arial"/>
              <a:cs typeface="Arial"/>
            </a:endParaRPr>
          </a:p>
          <a:p>
            <a:pPr marL="542925" marR="3810" lvl="1" indent="-200501">
              <a:lnSpc>
                <a:spcPts val="2160"/>
              </a:lnSpc>
              <a:spcBef>
                <a:spcPts val="469"/>
              </a:spcBef>
              <a:buClr>
                <a:srgbClr val="EF0301"/>
              </a:buClr>
              <a:buChar char="•"/>
              <a:tabLst>
                <a:tab pos="548164" algn="l"/>
              </a:tabLst>
            </a:pPr>
            <a:r>
              <a:rPr sz="2063" dirty="0">
                <a:latin typeface="Arial"/>
                <a:cs typeface="Arial"/>
              </a:rPr>
              <a:t>JINI</a:t>
            </a:r>
            <a:r>
              <a:rPr sz="2063" spc="11" dirty="0">
                <a:latin typeface="Arial"/>
                <a:cs typeface="Arial"/>
              </a:rPr>
              <a:t> </a:t>
            </a:r>
            <a:r>
              <a:rPr sz="2063" dirty="0">
                <a:latin typeface="Arial"/>
                <a:cs typeface="Arial"/>
              </a:rPr>
              <a:t>is</a:t>
            </a:r>
            <a:r>
              <a:rPr sz="2063" spc="60" dirty="0">
                <a:latin typeface="Arial"/>
                <a:cs typeface="Arial"/>
              </a:rPr>
              <a:t> </a:t>
            </a:r>
            <a:r>
              <a:rPr sz="2063" dirty="0">
                <a:latin typeface="Arial"/>
                <a:cs typeface="Arial"/>
              </a:rPr>
              <a:t>for</a:t>
            </a:r>
            <a:r>
              <a:rPr sz="2063" spc="56" dirty="0">
                <a:latin typeface="Arial"/>
                <a:cs typeface="Arial"/>
              </a:rPr>
              <a:t> </a:t>
            </a:r>
            <a:r>
              <a:rPr sz="2063" spc="-19" dirty="0">
                <a:latin typeface="Arial"/>
                <a:cs typeface="Arial"/>
              </a:rPr>
              <a:t>connecting</a:t>
            </a:r>
            <a:r>
              <a:rPr sz="2063" spc="165" dirty="0">
                <a:latin typeface="Arial"/>
                <a:cs typeface="Arial"/>
              </a:rPr>
              <a:t> </a:t>
            </a:r>
            <a:r>
              <a:rPr sz="2063" dirty="0">
                <a:latin typeface="Arial"/>
                <a:cs typeface="Arial"/>
              </a:rPr>
              <a:t>distributed</a:t>
            </a:r>
            <a:r>
              <a:rPr sz="2063" spc="240" dirty="0">
                <a:latin typeface="Arial"/>
                <a:cs typeface="Arial"/>
              </a:rPr>
              <a:t> </a:t>
            </a:r>
            <a:r>
              <a:rPr sz="2063" spc="-8" dirty="0">
                <a:latin typeface="Arial"/>
                <a:cs typeface="Arial"/>
              </a:rPr>
              <a:t>services 	</a:t>
            </a:r>
            <a:r>
              <a:rPr sz="2100" dirty="0">
                <a:latin typeface="Arial"/>
                <a:cs typeface="Arial"/>
              </a:rPr>
              <a:t>within</a:t>
            </a:r>
            <a:r>
              <a:rPr sz="2100" spc="-79" dirty="0">
                <a:latin typeface="Arial"/>
                <a:cs typeface="Arial"/>
              </a:rPr>
              <a:t> </a:t>
            </a:r>
            <a:r>
              <a:rPr sz="2100" spc="-225" dirty="0">
                <a:latin typeface="Arial"/>
                <a:cs typeface="Arial"/>
              </a:rPr>
              <a:t>a</a:t>
            </a:r>
            <a:r>
              <a:rPr sz="2100" spc="26" dirty="0">
                <a:latin typeface="Arial"/>
                <a:cs typeface="Arial"/>
              </a:rPr>
              <a:t> </a:t>
            </a:r>
            <a:r>
              <a:rPr sz="2100" spc="-34" dirty="0">
                <a:latin typeface="Arial"/>
                <a:cs typeface="Arial"/>
              </a:rPr>
              <a:t>3'ava</a:t>
            </a:r>
            <a:r>
              <a:rPr sz="2100" spc="-83" dirty="0">
                <a:latin typeface="Arial"/>
                <a:cs typeface="Arial"/>
              </a:rPr>
              <a:t> </a:t>
            </a:r>
            <a:r>
              <a:rPr sz="2100" spc="-8" dirty="0">
                <a:latin typeface="Arial"/>
                <a:cs typeface="Arial"/>
              </a:rPr>
              <a:t>network</a:t>
            </a:r>
            <a:r>
              <a:rPr sz="2100" spc="64" dirty="0">
                <a:latin typeface="Arial"/>
                <a:cs typeface="Arial"/>
              </a:rPr>
              <a:t> </a:t>
            </a:r>
            <a:r>
              <a:rPr sz="2100" spc="-26" dirty="0">
                <a:latin typeface="Arial"/>
                <a:cs typeface="Arial"/>
              </a:rPr>
              <a:t>using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spc="-225" dirty="0">
                <a:latin typeface="Arial"/>
                <a:cs typeface="Arial"/>
              </a:rPr>
              <a:t>a</a:t>
            </a:r>
            <a:r>
              <a:rPr sz="2100" spc="79" dirty="0">
                <a:latin typeface="Arial"/>
                <a:cs typeface="Arial"/>
              </a:rPr>
              <a:t> </a:t>
            </a:r>
            <a:r>
              <a:rPr sz="2100" i="1" spc="53" dirty="0">
                <a:latin typeface="Arial"/>
                <a:cs typeface="Arial"/>
              </a:rPr>
              <a:t>centralized 	</a:t>
            </a:r>
            <a:r>
              <a:rPr sz="2138" i="1" spc="71" dirty="0">
                <a:latin typeface="Arial"/>
                <a:cs typeface="Arial"/>
              </a:rPr>
              <a:t>broker.</a:t>
            </a:r>
            <a:endParaRPr sz="2138">
              <a:latin typeface="Arial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6D45C9-FC53-29AF-8D57-7E160125E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297162" cy="79027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551" y="-573661"/>
            <a:ext cx="5916217" cy="1699181"/>
          </a:xfrm>
          <a:prstGeom prst="rect">
            <a:avLst/>
          </a:prstGeom>
        </p:spPr>
        <p:txBody>
          <a:bodyPr vert="horz" wrap="square" lIns="0" tIns="48247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3813">
              <a:spcBef>
                <a:spcPts val="90"/>
              </a:spcBef>
            </a:pPr>
            <a:r>
              <a:rPr sz="3938" spc="-60" dirty="0">
                <a:solidFill>
                  <a:srgbClr val="363489"/>
                </a:solidFill>
              </a:rPr>
              <a:t>JXTA</a:t>
            </a:r>
            <a:r>
              <a:rPr sz="3938" spc="53" dirty="0">
                <a:solidFill>
                  <a:srgbClr val="363489"/>
                </a:solidFill>
              </a:rPr>
              <a:t> </a:t>
            </a:r>
            <a:r>
              <a:rPr sz="3938" spc="-323" dirty="0">
                <a:solidFill>
                  <a:srgbClr val="383375"/>
                </a:solidFill>
              </a:rPr>
              <a:t>/</a:t>
            </a:r>
            <a:r>
              <a:rPr sz="3938" spc="98" dirty="0">
                <a:solidFill>
                  <a:srgbClr val="383375"/>
                </a:solidFill>
              </a:rPr>
              <a:t> </a:t>
            </a:r>
            <a:r>
              <a:rPr sz="3938" spc="-217" dirty="0">
                <a:solidFill>
                  <a:srgbClr val="36348A"/>
                </a:solidFill>
              </a:rPr>
              <a:t>HAILSTORM</a:t>
            </a:r>
            <a:r>
              <a:rPr sz="3938" spc="360" dirty="0">
                <a:solidFill>
                  <a:srgbClr val="36348A"/>
                </a:solidFill>
              </a:rPr>
              <a:t> </a:t>
            </a:r>
            <a:r>
              <a:rPr sz="3938" spc="-23" dirty="0">
                <a:solidFill>
                  <a:srgbClr val="383389"/>
                </a:solidFill>
              </a:rPr>
              <a:t>(.NET)</a:t>
            </a:r>
            <a:endParaRPr sz="3938"/>
          </a:p>
        </p:txBody>
      </p:sp>
      <p:sp>
        <p:nvSpPr>
          <p:cNvPr id="4" name="object 4"/>
          <p:cNvSpPr txBox="1"/>
          <p:nvPr/>
        </p:nvSpPr>
        <p:spPr>
          <a:xfrm>
            <a:off x="2104169" y="1504800"/>
            <a:ext cx="5629751" cy="2997552"/>
          </a:xfrm>
          <a:prstGeom prst="rect">
            <a:avLst/>
          </a:prstGeom>
        </p:spPr>
        <p:txBody>
          <a:bodyPr vert="horz" wrap="square" lIns="0" tIns="52388" rIns="0" bIns="0" rtlCol="0">
            <a:spAutoFit/>
          </a:bodyPr>
          <a:lstStyle/>
          <a:p>
            <a:pPr marL="244316" marR="300990" indent="-235268">
              <a:lnSpc>
                <a:spcPct val="87100"/>
              </a:lnSpc>
              <a:spcBef>
                <a:spcPts val="413"/>
              </a:spcBef>
              <a:buClr>
                <a:srgbClr val="5257E4"/>
              </a:buClr>
              <a:buChar char="•"/>
              <a:tabLst>
                <a:tab pos="248603" algn="l"/>
              </a:tabLst>
            </a:pPr>
            <a:r>
              <a:rPr sz="2025" spc="-124" dirty="0">
                <a:latin typeface="Arial"/>
                <a:cs typeface="Arial"/>
              </a:rPr>
              <a:t>Both</a:t>
            </a:r>
            <a:r>
              <a:rPr sz="2025" spc="-19" dirty="0">
                <a:latin typeface="Arial"/>
                <a:cs typeface="Arial"/>
              </a:rPr>
              <a:t> </a:t>
            </a:r>
            <a:r>
              <a:rPr sz="2025" spc="-165" dirty="0">
                <a:latin typeface="Arial"/>
                <a:cs typeface="Arial"/>
              </a:rPr>
              <a:t>an</a:t>
            </a:r>
            <a:r>
              <a:rPr sz="2025" spc="-19" dirty="0">
                <a:latin typeface="Arial"/>
                <a:cs typeface="Arial"/>
              </a:rPr>
              <a:t> </a:t>
            </a:r>
            <a:r>
              <a:rPr sz="2025" spc="-116" dirty="0">
                <a:latin typeface="Arial"/>
                <a:cs typeface="Arial"/>
              </a:rPr>
              <a:t>open,</a:t>
            </a:r>
            <a:r>
              <a:rPr sz="2025" spc="-23" dirty="0">
                <a:latin typeface="Arial"/>
                <a:cs typeface="Arial"/>
              </a:rPr>
              <a:t> </a:t>
            </a:r>
            <a:r>
              <a:rPr sz="2025" spc="-135" dirty="0">
                <a:latin typeface="Arial"/>
                <a:cs typeface="Arial"/>
              </a:rPr>
              <a:t>plaPorm</a:t>
            </a:r>
            <a:r>
              <a:rPr sz="2025" spc="49" dirty="0">
                <a:latin typeface="Arial"/>
                <a:cs typeface="Arial"/>
              </a:rPr>
              <a:t> </a:t>
            </a:r>
            <a:r>
              <a:rPr sz="2025" spc="-143" dirty="0">
                <a:latin typeface="Arial"/>
                <a:cs typeface="Arial"/>
              </a:rPr>
              <a:t>and</a:t>
            </a:r>
            <a:r>
              <a:rPr sz="2025" dirty="0">
                <a:latin typeface="Arial"/>
                <a:cs typeface="Arial"/>
              </a:rPr>
              <a:t> </a:t>
            </a:r>
            <a:r>
              <a:rPr sz="2025" spc="-143" dirty="0">
                <a:latin typeface="Arial"/>
                <a:cs typeface="Arial"/>
              </a:rPr>
              <a:t>language</a:t>
            </a:r>
            <a:r>
              <a:rPr sz="2025" spc="8" dirty="0">
                <a:latin typeface="Arial"/>
                <a:cs typeface="Arial"/>
              </a:rPr>
              <a:t> </a:t>
            </a:r>
            <a:r>
              <a:rPr sz="2025" spc="-127" dirty="0">
                <a:latin typeface="Arial"/>
                <a:cs typeface="Arial"/>
              </a:rPr>
              <a:t>independent 	</a:t>
            </a:r>
            <a:r>
              <a:rPr sz="2025" spc="-113" dirty="0">
                <a:latin typeface="Arial"/>
                <a:cs typeface="Arial"/>
              </a:rPr>
              <a:t>framework</a:t>
            </a:r>
            <a:r>
              <a:rPr sz="2025" spc="-30" dirty="0">
                <a:latin typeface="Arial"/>
                <a:cs typeface="Arial"/>
              </a:rPr>
              <a:t> </a:t>
            </a:r>
            <a:r>
              <a:rPr sz="2025" spc="-34" dirty="0">
                <a:latin typeface="Arial"/>
                <a:cs typeface="Arial"/>
              </a:rPr>
              <a:t>for</a:t>
            </a:r>
            <a:r>
              <a:rPr sz="2025" spc="-105" dirty="0">
                <a:latin typeface="Arial"/>
                <a:cs typeface="Arial"/>
              </a:rPr>
              <a:t> </a:t>
            </a:r>
            <a:r>
              <a:rPr sz="2025" spc="-143" dirty="0">
                <a:latin typeface="Arial"/>
                <a:cs typeface="Arial"/>
              </a:rPr>
              <a:t>peer</a:t>
            </a:r>
            <a:r>
              <a:rPr sz="2025" spc="4" dirty="0">
                <a:latin typeface="Arial"/>
                <a:cs typeface="Arial"/>
              </a:rPr>
              <a:t> </a:t>
            </a:r>
            <a:r>
              <a:rPr sz="2025" spc="-90" dirty="0">
                <a:latin typeface="Arial"/>
                <a:cs typeface="Arial"/>
              </a:rPr>
              <a:t>interaction</a:t>
            </a:r>
            <a:r>
              <a:rPr sz="2025" spc="19" dirty="0">
                <a:latin typeface="Arial"/>
                <a:cs typeface="Arial"/>
              </a:rPr>
              <a:t> </a:t>
            </a:r>
            <a:r>
              <a:rPr sz="2025" spc="-150" dirty="0">
                <a:latin typeface="Arial"/>
                <a:cs typeface="Arial"/>
              </a:rPr>
              <a:t>and</a:t>
            </a:r>
            <a:r>
              <a:rPr sz="2025" spc="8" dirty="0">
                <a:latin typeface="Arial"/>
                <a:cs typeface="Arial"/>
              </a:rPr>
              <a:t> </a:t>
            </a:r>
            <a:r>
              <a:rPr sz="2025" spc="-68" dirty="0">
                <a:latin typeface="Arial"/>
                <a:cs typeface="Arial"/>
              </a:rPr>
              <a:t>interoperable 	</a:t>
            </a:r>
            <a:r>
              <a:rPr sz="2100" spc="-206" dirty="0">
                <a:latin typeface="Arial"/>
                <a:cs typeface="Arial"/>
              </a:rPr>
              <a:t>services.</a:t>
            </a:r>
            <a:endParaRPr sz="2100">
              <a:latin typeface="Arial"/>
              <a:cs typeface="Arial"/>
            </a:endParaRPr>
          </a:p>
          <a:p>
            <a:pPr marL="246221" marR="397193" indent="-236220">
              <a:lnSpc>
                <a:spcPts val="2160"/>
              </a:lnSpc>
              <a:spcBef>
                <a:spcPts val="435"/>
              </a:spcBef>
              <a:buClr>
                <a:srgbClr val="595DED"/>
              </a:buClr>
              <a:buChar char="•"/>
              <a:tabLst>
                <a:tab pos="249555" algn="l"/>
              </a:tabLst>
            </a:pPr>
            <a:r>
              <a:rPr sz="1875" spc="-41" dirty="0">
                <a:latin typeface="Arial"/>
                <a:cs typeface="Arial"/>
              </a:rPr>
              <a:t>Microsoft</a:t>
            </a:r>
            <a:r>
              <a:rPr sz="1875" spc="45" dirty="0">
                <a:latin typeface="Arial"/>
                <a:cs typeface="Arial"/>
              </a:rPr>
              <a:t> </a:t>
            </a:r>
            <a:r>
              <a:rPr sz="1875" spc="-75" dirty="0">
                <a:latin typeface="Arial"/>
                <a:cs typeface="Arial"/>
              </a:rPr>
              <a:t>focuses</a:t>
            </a:r>
            <a:r>
              <a:rPr sz="1875" spc="-4" dirty="0">
                <a:latin typeface="Arial"/>
                <a:cs typeface="Arial"/>
              </a:rPr>
              <a:t> </a:t>
            </a:r>
            <a:r>
              <a:rPr sz="1875" dirty="0">
                <a:latin typeface="Arial"/>
                <a:cs typeface="Arial"/>
              </a:rPr>
              <a:t>on</a:t>
            </a:r>
            <a:r>
              <a:rPr sz="1875" spc="-113" dirty="0">
                <a:latin typeface="Arial"/>
                <a:cs typeface="Arial"/>
              </a:rPr>
              <a:t> </a:t>
            </a:r>
            <a:r>
              <a:rPr sz="1875" spc="-19" dirty="0">
                <a:latin typeface="Arial"/>
                <a:cs typeface="Arial"/>
              </a:rPr>
              <a:t>integration</a:t>
            </a:r>
            <a:r>
              <a:rPr sz="1875" spc="19" dirty="0">
                <a:latin typeface="Arial"/>
                <a:cs typeface="Arial"/>
              </a:rPr>
              <a:t> </a:t>
            </a:r>
            <a:r>
              <a:rPr sz="1875" dirty="0">
                <a:latin typeface="Arial"/>
                <a:cs typeface="Arial"/>
              </a:rPr>
              <a:t>with</a:t>
            </a:r>
            <a:r>
              <a:rPr sz="1875" spc="-56" dirty="0">
                <a:latin typeface="Arial"/>
                <a:cs typeface="Arial"/>
              </a:rPr>
              <a:t> </a:t>
            </a:r>
            <a:r>
              <a:rPr sz="1875" dirty="0">
                <a:latin typeface="Arial"/>
                <a:cs typeface="Arial"/>
              </a:rPr>
              <a:t>its</a:t>
            </a:r>
            <a:r>
              <a:rPr sz="1875" spc="-71" dirty="0">
                <a:latin typeface="Arial"/>
                <a:cs typeface="Arial"/>
              </a:rPr>
              <a:t> </a:t>
            </a:r>
            <a:r>
              <a:rPr sz="1875" spc="-60" dirty="0">
                <a:latin typeface="Arial"/>
                <a:cs typeface="Arial"/>
              </a:rPr>
              <a:t>Windows 	</a:t>
            </a:r>
            <a:r>
              <a:rPr sz="1875" spc="-34" dirty="0">
                <a:latin typeface="Arial"/>
                <a:cs typeface="Arial"/>
              </a:rPr>
              <a:t>operating</a:t>
            </a:r>
            <a:r>
              <a:rPr sz="1875" spc="-45" dirty="0">
                <a:latin typeface="Arial"/>
                <a:cs typeface="Arial"/>
              </a:rPr>
              <a:t> </a:t>
            </a:r>
            <a:r>
              <a:rPr sz="1875" spc="-56" dirty="0">
                <a:latin typeface="Arial"/>
                <a:cs typeface="Arial"/>
              </a:rPr>
              <a:t>system</a:t>
            </a:r>
            <a:r>
              <a:rPr sz="1875" spc="-26" dirty="0">
                <a:latin typeface="Arial"/>
                <a:cs typeface="Arial"/>
              </a:rPr>
              <a:t> </a:t>
            </a:r>
            <a:r>
              <a:rPr sz="1875" spc="-34" dirty="0">
                <a:latin typeface="Arial"/>
                <a:cs typeface="Arial"/>
              </a:rPr>
              <a:t>and</a:t>
            </a:r>
            <a:r>
              <a:rPr sz="1875" spc="-98" dirty="0">
                <a:latin typeface="Arial"/>
                <a:cs typeface="Arial"/>
              </a:rPr>
              <a:t> </a:t>
            </a:r>
            <a:r>
              <a:rPr sz="1875" spc="-71" dirty="0">
                <a:latin typeface="Arial"/>
                <a:cs typeface="Arial"/>
              </a:rPr>
              <a:t>associated</a:t>
            </a:r>
            <a:r>
              <a:rPr sz="1875" spc="34" dirty="0">
                <a:latin typeface="Arial"/>
                <a:cs typeface="Arial"/>
              </a:rPr>
              <a:t> </a:t>
            </a:r>
            <a:r>
              <a:rPr sz="1875" spc="-8" dirty="0">
                <a:latin typeface="Arial"/>
                <a:cs typeface="Arial"/>
              </a:rPr>
              <a:t>devices.</a:t>
            </a:r>
            <a:endParaRPr sz="1875">
              <a:latin typeface="Arial"/>
              <a:cs typeface="Arial"/>
            </a:endParaRPr>
          </a:p>
          <a:p>
            <a:pPr marL="244793" marR="3810" indent="-234791">
              <a:lnSpc>
                <a:spcPct val="94800"/>
              </a:lnSpc>
              <a:spcBef>
                <a:spcPts val="390"/>
              </a:spcBef>
              <a:buClr>
                <a:srgbClr val="4D46DA"/>
              </a:buClr>
              <a:buChar char="•"/>
              <a:tabLst>
                <a:tab pos="247650" algn="l"/>
              </a:tabLst>
            </a:pPr>
            <a:r>
              <a:rPr sz="1913" spc="-53" dirty="0">
                <a:latin typeface="Arial"/>
                <a:cs typeface="Arial"/>
              </a:rPr>
              <a:t>Hailstorm</a:t>
            </a:r>
            <a:r>
              <a:rPr sz="1913" spc="-83" dirty="0">
                <a:latin typeface="Arial"/>
                <a:cs typeface="Arial"/>
              </a:rPr>
              <a:t> </a:t>
            </a:r>
            <a:r>
              <a:rPr sz="1913" spc="-105" dirty="0">
                <a:latin typeface="Arial"/>
                <a:cs typeface="Arial"/>
              </a:rPr>
              <a:t>uses</a:t>
            </a:r>
            <a:r>
              <a:rPr sz="1913" spc="-30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the</a:t>
            </a:r>
            <a:r>
              <a:rPr sz="1913" spc="-120" dirty="0">
                <a:latin typeface="Arial"/>
                <a:cs typeface="Arial"/>
              </a:rPr>
              <a:t> </a:t>
            </a:r>
            <a:r>
              <a:rPr sz="1913" spc="-71" dirty="0">
                <a:latin typeface="Arial"/>
                <a:cs typeface="Arial"/>
              </a:rPr>
              <a:t>Microsoh</a:t>
            </a:r>
            <a:r>
              <a:rPr sz="1913" spc="-60" dirty="0">
                <a:latin typeface="Arial"/>
                <a:cs typeface="Arial"/>
              </a:rPr>
              <a:t> </a:t>
            </a:r>
            <a:r>
              <a:rPr sz="1913" spc="-98" dirty="0">
                <a:latin typeface="Arial"/>
                <a:cs typeface="Arial"/>
              </a:rPr>
              <a:t>Passport</a:t>
            </a:r>
            <a:r>
              <a:rPr sz="1913" spc="26" dirty="0">
                <a:latin typeface="Arial"/>
                <a:cs typeface="Arial"/>
              </a:rPr>
              <a:t> </a:t>
            </a:r>
            <a:r>
              <a:rPr sz="1913" spc="-68" dirty="0">
                <a:latin typeface="Arial"/>
                <a:cs typeface="Arial"/>
              </a:rPr>
              <a:t>service.</a:t>
            </a:r>
            <a:r>
              <a:rPr sz="1913" spc="8" dirty="0">
                <a:latin typeface="Arial"/>
                <a:cs typeface="Arial"/>
              </a:rPr>
              <a:t> </a:t>
            </a:r>
            <a:r>
              <a:rPr sz="1913" spc="-19" dirty="0">
                <a:latin typeface="Arial"/>
                <a:cs typeface="Arial"/>
              </a:rPr>
              <a:t>(A 	</a:t>
            </a:r>
            <a:r>
              <a:rPr sz="1913" spc="-71" dirty="0">
                <a:latin typeface="Arial"/>
                <a:cs typeface="Arial"/>
              </a:rPr>
              <a:t>centralized</a:t>
            </a:r>
            <a:r>
              <a:rPr sz="1913" spc="34" dirty="0">
                <a:latin typeface="Arial"/>
                <a:cs typeface="Arial"/>
              </a:rPr>
              <a:t> </a:t>
            </a:r>
            <a:r>
              <a:rPr sz="1913" spc="-45" dirty="0">
                <a:latin typeface="Arial"/>
                <a:cs typeface="Arial"/>
              </a:rPr>
              <a:t>authentication</a:t>
            </a:r>
            <a:r>
              <a:rPr sz="1913" spc="-90" dirty="0">
                <a:latin typeface="Arial"/>
                <a:cs typeface="Arial"/>
              </a:rPr>
              <a:t> </a:t>
            </a:r>
            <a:r>
              <a:rPr sz="1913" spc="-71" dirty="0">
                <a:latin typeface="Arial"/>
                <a:cs typeface="Arial"/>
              </a:rPr>
              <a:t>and</a:t>
            </a:r>
            <a:r>
              <a:rPr sz="1913" spc="-45" dirty="0">
                <a:latin typeface="Arial"/>
                <a:cs typeface="Arial"/>
              </a:rPr>
              <a:t> </a:t>
            </a:r>
            <a:r>
              <a:rPr sz="1913" spc="-94" dirty="0">
                <a:latin typeface="Arial"/>
                <a:cs typeface="Arial"/>
              </a:rPr>
              <a:t>presence</a:t>
            </a:r>
            <a:r>
              <a:rPr sz="1913" spc="26" dirty="0">
                <a:latin typeface="Arial"/>
                <a:cs typeface="Arial"/>
              </a:rPr>
              <a:t> </a:t>
            </a:r>
            <a:r>
              <a:rPr sz="1913" spc="-75" dirty="0">
                <a:latin typeface="Arial"/>
                <a:cs typeface="Arial"/>
              </a:rPr>
              <a:t>management 	</a:t>
            </a:r>
            <a:r>
              <a:rPr sz="1913" spc="-8" dirty="0">
                <a:latin typeface="Arial"/>
                <a:cs typeface="Arial"/>
              </a:rPr>
              <a:t>system).</a:t>
            </a:r>
            <a:endParaRPr sz="1913">
              <a:latin typeface="Arial"/>
              <a:cs typeface="Arial"/>
            </a:endParaRPr>
          </a:p>
          <a:p>
            <a:pPr marL="244316" marR="566261" indent="-234315">
              <a:lnSpc>
                <a:spcPts val="2190"/>
              </a:lnSpc>
              <a:spcBef>
                <a:spcPts val="424"/>
              </a:spcBef>
              <a:buClr>
                <a:srgbClr val="4D52DF"/>
              </a:buClr>
              <a:buChar char="•"/>
              <a:tabLst>
                <a:tab pos="247650" algn="l"/>
              </a:tabLst>
            </a:pPr>
            <a:r>
              <a:rPr sz="1913" spc="-53" dirty="0">
                <a:latin typeface="Arial"/>
                <a:cs typeface="Arial"/>
              </a:rPr>
              <a:t>Hailstorm</a:t>
            </a:r>
            <a:r>
              <a:rPr sz="1913" spc="-83" dirty="0">
                <a:latin typeface="Arial"/>
                <a:cs typeface="Arial"/>
              </a:rPr>
              <a:t> </a:t>
            </a:r>
            <a:r>
              <a:rPr sz="1913" spc="-30" dirty="0">
                <a:latin typeface="Arial"/>
                <a:cs typeface="Arial"/>
              </a:rPr>
              <a:t>content</a:t>
            </a:r>
            <a:r>
              <a:rPr sz="1913" spc="-79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is</a:t>
            </a:r>
            <a:r>
              <a:rPr sz="1913" spc="-135" dirty="0">
                <a:latin typeface="Arial"/>
                <a:cs typeface="Arial"/>
              </a:rPr>
              <a:t> </a:t>
            </a:r>
            <a:r>
              <a:rPr sz="1913" spc="-86" dirty="0">
                <a:latin typeface="Arial"/>
                <a:cs typeface="Arial"/>
              </a:rPr>
              <a:t>managed</a:t>
            </a:r>
            <a:r>
              <a:rPr sz="1913" spc="-4" dirty="0">
                <a:latin typeface="Arial"/>
                <a:cs typeface="Arial"/>
              </a:rPr>
              <a:t> </a:t>
            </a:r>
            <a:r>
              <a:rPr sz="1913" spc="-68" dirty="0">
                <a:latin typeface="Arial"/>
                <a:cs typeface="Arial"/>
              </a:rPr>
              <a:t>and</a:t>
            </a:r>
            <a:r>
              <a:rPr sz="1913" spc="-71" dirty="0">
                <a:latin typeface="Arial"/>
                <a:cs typeface="Arial"/>
              </a:rPr>
              <a:t> </a:t>
            </a:r>
            <a:r>
              <a:rPr sz="1913" spc="-8" dirty="0">
                <a:latin typeface="Arial"/>
                <a:cs typeface="Arial"/>
              </a:rPr>
              <a:t>defined 	</a:t>
            </a:r>
            <a:r>
              <a:rPr sz="1913" spc="-64" dirty="0">
                <a:latin typeface="Arial"/>
                <a:cs typeface="Arial"/>
              </a:rPr>
              <a:t>conceptually</a:t>
            </a:r>
            <a:r>
              <a:rPr sz="1913" spc="-30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at</a:t>
            </a:r>
            <a:r>
              <a:rPr sz="1913" spc="-41" dirty="0">
                <a:latin typeface="Arial"/>
                <a:cs typeface="Arial"/>
              </a:rPr>
              <a:t> </a:t>
            </a:r>
            <a:r>
              <a:rPr sz="1913" spc="-225" dirty="0">
                <a:latin typeface="Arial"/>
                <a:cs typeface="Arial"/>
              </a:rPr>
              <a:t>a</a:t>
            </a:r>
            <a:r>
              <a:rPr sz="1913" spc="90" dirty="0">
                <a:latin typeface="Arial"/>
                <a:cs typeface="Arial"/>
              </a:rPr>
              <a:t> </a:t>
            </a:r>
            <a:r>
              <a:rPr sz="1913" spc="-71" dirty="0">
                <a:latin typeface="Arial"/>
                <a:cs typeface="Arial"/>
              </a:rPr>
              <a:t>centralized</a:t>
            </a:r>
            <a:r>
              <a:rPr sz="1913" spc="83" dirty="0">
                <a:latin typeface="Arial"/>
                <a:cs typeface="Arial"/>
              </a:rPr>
              <a:t> </a:t>
            </a:r>
            <a:r>
              <a:rPr sz="1913" spc="-90" dirty="0">
                <a:latin typeface="Arial"/>
                <a:cs typeface="Arial"/>
              </a:rPr>
              <a:t>source</a:t>
            </a:r>
            <a:r>
              <a:rPr sz="1913" spc="-23" dirty="0">
                <a:latin typeface="Arial"/>
                <a:cs typeface="Arial"/>
              </a:rPr>
              <a:t> </a:t>
            </a:r>
            <a:r>
              <a:rPr sz="1913" spc="-38" dirty="0">
                <a:latin typeface="Arial"/>
                <a:cs typeface="Arial"/>
              </a:rPr>
              <a:t>(Microsoft).</a:t>
            </a:r>
            <a:endParaRPr sz="1913">
              <a:latin typeface="Arial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BD1518-161B-65F7-02E4-18C0CBEFE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5856" y="1500149"/>
            <a:ext cx="5674043" cy="2839753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260985" indent="-240506">
              <a:spcBef>
                <a:spcPts val="98"/>
              </a:spcBef>
              <a:buClr>
                <a:srgbClr val="4249D8"/>
              </a:buClr>
              <a:buChar char="•"/>
              <a:tabLst>
                <a:tab pos="260985" algn="l"/>
              </a:tabLst>
            </a:pPr>
            <a:r>
              <a:rPr sz="2063" spc="-334" dirty="0">
                <a:latin typeface="Arial"/>
                <a:cs typeface="Arial"/>
              </a:rPr>
              <a:t>JXTA</a:t>
            </a:r>
            <a:r>
              <a:rPr sz="2063" spc="49" dirty="0">
                <a:latin typeface="Arial"/>
                <a:cs typeface="Arial"/>
              </a:rPr>
              <a:t> </a:t>
            </a:r>
            <a:r>
              <a:rPr sz="2063" spc="-124" dirty="0">
                <a:latin typeface="Arial"/>
                <a:cs typeface="Arial"/>
              </a:rPr>
              <a:t>is</a:t>
            </a:r>
            <a:r>
              <a:rPr sz="2063" spc="-49" dirty="0">
                <a:latin typeface="Arial"/>
                <a:cs typeface="Arial"/>
              </a:rPr>
              <a:t> </a:t>
            </a:r>
            <a:r>
              <a:rPr sz="2063" spc="-158" dirty="0">
                <a:latin typeface="Arial"/>
                <a:cs typeface="Arial"/>
              </a:rPr>
              <a:t>new,</a:t>
            </a:r>
            <a:r>
              <a:rPr sz="2063" spc="15" dirty="0">
                <a:latin typeface="Arial"/>
                <a:cs typeface="Arial"/>
              </a:rPr>
              <a:t> </a:t>
            </a:r>
            <a:r>
              <a:rPr sz="2063" spc="-120" dirty="0">
                <a:latin typeface="Arial"/>
                <a:cs typeface="Arial"/>
              </a:rPr>
              <a:t>rapidly</a:t>
            </a:r>
            <a:r>
              <a:rPr sz="2063" spc="-19" dirty="0">
                <a:latin typeface="Arial"/>
                <a:cs typeface="Arial"/>
              </a:rPr>
              <a:t> </a:t>
            </a:r>
            <a:r>
              <a:rPr sz="2063" spc="-150" dirty="0">
                <a:latin typeface="Arial"/>
                <a:cs typeface="Arial"/>
              </a:rPr>
              <a:t>changing</a:t>
            </a:r>
            <a:r>
              <a:rPr sz="2063" spc="98" dirty="0">
                <a:latin typeface="Arial"/>
                <a:cs typeface="Arial"/>
              </a:rPr>
              <a:t> </a:t>
            </a:r>
            <a:r>
              <a:rPr sz="2063" spc="-180" dirty="0">
                <a:latin typeface="Arial"/>
                <a:cs typeface="Arial"/>
              </a:rPr>
              <a:t>and</a:t>
            </a:r>
            <a:r>
              <a:rPr sz="2063" spc="-26" dirty="0">
                <a:latin typeface="Arial"/>
                <a:cs typeface="Arial"/>
              </a:rPr>
              <a:t> </a:t>
            </a:r>
            <a:r>
              <a:rPr sz="2063" spc="-109" dirty="0">
                <a:latin typeface="Arial"/>
                <a:cs typeface="Arial"/>
              </a:rPr>
              <a:t>undocumented.</a:t>
            </a:r>
            <a:endParaRPr sz="2063">
              <a:latin typeface="Arial"/>
              <a:cs typeface="Arial"/>
            </a:endParaRPr>
          </a:p>
          <a:p>
            <a:pPr marL="260985" indent="-240506">
              <a:spcBef>
                <a:spcPts val="109"/>
              </a:spcBef>
              <a:buClr>
                <a:srgbClr val="383BCC"/>
              </a:buClr>
              <a:buChar char="•"/>
              <a:tabLst>
                <a:tab pos="260985" algn="l"/>
              </a:tabLst>
            </a:pPr>
            <a:r>
              <a:rPr sz="2063" spc="-240" dirty="0">
                <a:latin typeface="Arial"/>
                <a:cs typeface="Arial"/>
              </a:rPr>
              <a:t>Peer</a:t>
            </a:r>
            <a:r>
              <a:rPr sz="2063" spc="94" dirty="0">
                <a:latin typeface="Arial"/>
                <a:cs typeface="Arial"/>
              </a:rPr>
              <a:t> </a:t>
            </a:r>
            <a:r>
              <a:rPr sz="2063" spc="-244" dirty="0">
                <a:latin typeface="Arial"/>
                <a:cs typeface="Arial"/>
              </a:rPr>
              <a:t>2</a:t>
            </a:r>
            <a:r>
              <a:rPr sz="2063" dirty="0">
                <a:latin typeface="Arial"/>
                <a:cs typeface="Arial"/>
              </a:rPr>
              <a:t> </a:t>
            </a:r>
            <a:r>
              <a:rPr sz="2063" spc="-251" dirty="0">
                <a:latin typeface="Arial"/>
                <a:cs typeface="Arial"/>
              </a:rPr>
              <a:t>Peer</a:t>
            </a:r>
            <a:r>
              <a:rPr sz="2063" spc="105" dirty="0">
                <a:latin typeface="Arial"/>
                <a:cs typeface="Arial"/>
              </a:rPr>
              <a:t> </a:t>
            </a:r>
            <a:r>
              <a:rPr sz="2063" spc="-143" dirty="0">
                <a:latin typeface="Arial"/>
                <a:cs typeface="Arial"/>
              </a:rPr>
              <a:t>is</a:t>
            </a:r>
            <a:r>
              <a:rPr sz="2063" dirty="0">
                <a:latin typeface="Arial"/>
                <a:cs typeface="Arial"/>
              </a:rPr>
              <a:t> </a:t>
            </a:r>
            <a:r>
              <a:rPr sz="2063" spc="-150" dirty="0">
                <a:latin typeface="Arial"/>
                <a:cs typeface="Arial"/>
              </a:rPr>
              <a:t>being</a:t>
            </a:r>
            <a:r>
              <a:rPr sz="2063" spc="71" dirty="0">
                <a:latin typeface="Arial"/>
                <a:cs typeface="Arial"/>
              </a:rPr>
              <a:t> </a:t>
            </a:r>
            <a:r>
              <a:rPr sz="2063" spc="-131" dirty="0">
                <a:latin typeface="Arial"/>
                <a:cs typeface="Arial"/>
              </a:rPr>
              <a:t>fueled</a:t>
            </a:r>
            <a:r>
              <a:rPr sz="2063" spc="41" dirty="0">
                <a:latin typeface="Arial"/>
                <a:cs typeface="Arial"/>
              </a:rPr>
              <a:t> </a:t>
            </a:r>
            <a:r>
              <a:rPr sz="2063" spc="-153" dirty="0">
                <a:latin typeface="Arial"/>
                <a:cs typeface="Arial"/>
              </a:rPr>
              <a:t>by</a:t>
            </a:r>
            <a:r>
              <a:rPr sz="2063" spc="30" dirty="0">
                <a:latin typeface="Arial"/>
                <a:cs typeface="Arial"/>
              </a:rPr>
              <a:t> </a:t>
            </a:r>
            <a:r>
              <a:rPr sz="2063" spc="-98" dirty="0">
                <a:latin typeface="Arial"/>
                <a:cs typeface="Arial"/>
              </a:rPr>
              <a:t>Napsterism.</a:t>
            </a:r>
            <a:endParaRPr sz="2063">
              <a:latin typeface="Arial"/>
              <a:cs typeface="Arial"/>
            </a:endParaRPr>
          </a:p>
          <a:p>
            <a:pPr marL="266700" marR="54293" indent="-245269">
              <a:lnSpc>
                <a:spcPts val="2160"/>
              </a:lnSpc>
              <a:spcBef>
                <a:spcPts val="472"/>
              </a:spcBef>
              <a:buChar char="•"/>
              <a:tabLst>
                <a:tab pos="266700" algn="l"/>
                <a:tab pos="272891" algn="l"/>
              </a:tabLst>
            </a:pPr>
            <a:r>
              <a:rPr sz="1913" dirty="0">
                <a:solidFill>
                  <a:srgbClr val="6060F9"/>
                </a:solidFill>
                <a:latin typeface="Arial"/>
                <a:cs typeface="Arial"/>
              </a:rPr>
              <a:t>	</a:t>
            </a:r>
            <a:r>
              <a:rPr sz="1913" spc="-98" dirty="0">
                <a:latin typeface="Arial"/>
                <a:cs typeface="Arial"/>
              </a:rPr>
              <a:t>Well-</a:t>
            </a:r>
            <a:r>
              <a:rPr sz="1913" spc="-60" dirty="0">
                <a:latin typeface="Arial"/>
                <a:cs typeface="Arial"/>
              </a:rPr>
              <a:t>defined</a:t>
            </a:r>
            <a:r>
              <a:rPr sz="1913" spc="53" dirty="0">
                <a:latin typeface="Arial"/>
                <a:cs typeface="Arial"/>
              </a:rPr>
              <a:t> </a:t>
            </a:r>
            <a:r>
              <a:rPr sz="1913" spc="-56" dirty="0">
                <a:latin typeface="Arial"/>
                <a:cs typeface="Arial"/>
              </a:rPr>
              <a:t>protocols</a:t>
            </a:r>
            <a:r>
              <a:rPr sz="1913" spc="-15" dirty="0">
                <a:latin typeface="Arial"/>
                <a:cs typeface="Arial"/>
              </a:rPr>
              <a:t> </a:t>
            </a:r>
            <a:r>
              <a:rPr sz="1913" spc="-83" dirty="0">
                <a:latin typeface="Arial"/>
                <a:cs typeface="Arial"/>
              </a:rPr>
              <a:t>can</a:t>
            </a:r>
            <a:r>
              <a:rPr sz="1913" spc="-45" dirty="0">
                <a:latin typeface="Arial"/>
                <a:cs typeface="Arial"/>
              </a:rPr>
              <a:t> </a:t>
            </a:r>
            <a:r>
              <a:rPr sz="1913" spc="-101" dirty="0">
                <a:latin typeface="Arial"/>
                <a:cs typeface="Arial"/>
              </a:rPr>
              <a:t>squash</a:t>
            </a:r>
            <a:r>
              <a:rPr sz="1913" spc="-38" dirty="0">
                <a:latin typeface="Arial"/>
                <a:cs typeface="Arial"/>
              </a:rPr>
              <a:t> </a:t>
            </a:r>
            <a:r>
              <a:rPr sz="1913" spc="-34" dirty="0">
                <a:latin typeface="Arial"/>
                <a:cs typeface="Arial"/>
              </a:rPr>
              <a:t>creativity</a:t>
            </a:r>
            <a:r>
              <a:rPr sz="1913" spc="26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in</a:t>
            </a:r>
            <a:r>
              <a:rPr sz="1913" spc="-124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a</a:t>
            </a:r>
            <a:r>
              <a:rPr sz="1913" spc="-94" dirty="0">
                <a:latin typeface="Arial"/>
                <a:cs typeface="Arial"/>
              </a:rPr>
              <a:t> </a:t>
            </a:r>
            <a:r>
              <a:rPr sz="1913" spc="-19" dirty="0">
                <a:latin typeface="Arial"/>
                <a:cs typeface="Arial"/>
              </a:rPr>
              <a:t>new </a:t>
            </a:r>
            <a:r>
              <a:rPr sz="1913" spc="-83" dirty="0">
                <a:latin typeface="Arial"/>
                <a:cs typeface="Arial"/>
              </a:rPr>
              <a:t>research</a:t>
            </a:r>
            <a:r>
              <a:rPr sz="1913" spc="-26" dirty="0">
                <a:latin typeface="Arial"/>
                <a:cs typeface="Arial"/>
              </a:rPr>
              <a:t> </a:t>
            </a:r>
            <a:r>
              <a:rPr sz="1913" spc="-15" dirty="0">
                <a:latin typeface="Arial"/>
                <a:cs typeface="Arial"/>
              </a:rPr>
              <a:t>area.</a:t>
            </a:r>
            <a:endParaRPr sz="1913">
              <a:latin typeface="Arial"/>
              <a:cs typeface="Arial"/>
            </a:endParaRPr>
          </a:p>
          <a:p>
            <a:pPr marL="263366" indent="-241935">
              <a:spcBef>
                <a:spcPts val="240"/>
              </a:spcBef>
              <a:buClr>
                <a:srgbClr val="6259EF"/>
              </a:buClr>
              <a:buChar char="•"/>
              <a:tabLst>
                <a:tab pos="263366" algn="l"/>
              </a:tabLst>
            </a:pPr>
            <a:r>
              <a:rPr sz="1913" spc="-109" dirty="0">
                <a:latin typeface="Arial"/>
                <a:cs typeface="Arial"/>
              </a:rPr>
              <a:t>Reliance</a:t>
            </a:r>
            <a:r>
              <a:rPr sz="1913" spc="-26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on</a:t>
            </a:r>
            <a:r>
              <a:rPr sz="1913" spc="-135" dirty="0">
                <a:latin typeface="Arial"/>
                <a:cs typeface="Arial"/>
              </a:rPr>
              <a:t> </a:t>
            </a:r>
            <a:r>
              <a:rPr sz="1913" spc="-214" dirty="0">
                <a:latin typeface="Arial"/>
                <a:cs typeface="Arial"/>
              </a:rPr>
              <a:t>XML</a:t>
            </a:r>
            <a:r>
              <a:rPr sz="1913" spc="53" dirty="0">
                <a:latin typeface="Arial"/>
                <a:cs typeface="Arial"/>
              </a:rPr>
              <a:t> </a:t>
            </a:r>
            <a:r>
              <a:rPr sz="1913" spc="-64" dirty="0">
                <a:latin typeface="Arial"/>
                <a:cs typeface="Arial"/>
              </a:rPr>
              <a:t>forces</a:t>
            </a:r>
            <a:r>
              <a:rPr sz="1913" spc="-4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the</a:t>
            </a:r>
            <a:r>
              <a:rPr sz="1913" spc="-60" dirty="0">
                <a:latin typeface="Arial"/>
                <a:cs typeface="Arial"/>
              </a:rPr>
              <a:t> </a:t>
            </a:r>
            <a:r>
              <a:rPr sz="1913" spc="-64" dirty="0">
                <a:latin typeface="Arial"/>
                <a:cs typeface="Arial"/>
              </a:rPr>
              <a:t>hand</a:t>
            </a:r>
            <a:r>
              <a:rPr sz="1913" spc="-8" dirty="0">
                <a:latin typeface="Arial"/>
                <a:cs typeface="Arial"/>
              </a:rPr>
              <a:t> </a:t>
            </a:r>
            <a:r>
              <a:rPr sz="1913" dirty="0">
                <a:latin typeface="Arial"/>
                <a:cs typeface="Arial"/>
              </a:rPr>
              <a:t>of</a:t>
            </a:r>
            <a:r>
              <a:rPr sz="1913" spc="-83" dirty="0">
                <a:latin typeface="Arial"/>
                <a:cs typeface="Arial"/>
              </a:rPr>
              <a:t> </a:t>
            </a:r>
            <a:r>
              <a:rPr sz="1913" spc="-26" dirty="0">
                <a:latin typeface="Arial"/>
                <a:cs typeface="Arial"/>
              </a:rPr>
              <a:t>developers.</a:t>
            </a:r>
            <a:endParaRPr sz="1913">
              <a:latin typeface="Arial"/>
              <a:cs typeface="Arial"/>
            </a:endParaRPr>
          </a:p>
          <a:p>
            <a:pPr marL="264319" marR="717233" indent="-255270">
              <a:lnSpc>
                <a:spcPts val="2160"/>
              </a:lnSpc>
              <a:spcBef>
                <a:spcPts val="472"/>
              </a:spcBef>
              <a:buChar char="•"/>
              <a:tabLst>
                <a:tab pos="264319" algn="l"/>
                <a:tab pos="268129" algn="l"/>
              </a:tabLst>
            </a:pPr>
            <a:r>
              <a:rPr sz="2100" dirty="0">
                <a:solidFill>
                  <a:srgbClr val="6460FB"/>
                </a:solidFill>
                <a:latin typeface="Calibri"/>
                <a:cs typeface="Calibri"/>
              </a:rPr>
              <a:t>	</a:t>
            </a:r>
            <a:r>
              <a:rPr sz="2100" spc="-15" dirty="0">
                <a:latin typeface="Calibri"/>
                <a:cs typeface="Calibri"/>
              </a:rPr>
              <a:t>JXTA</a:t>
            </a:r>
            <a:r>
              <a:rPr sz="2100" spc="-7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98" dirty="0">
                <a:latin typeface="Calibri"/>
                <a:cs typeface="Calibri"/>
              </a:rPr>
              <a:t> too</a:t>
            </a:r>
            <a:r>
              <a:rPr sz="2100" spc="-23" dirty="0">
                <a:latin typeface="Calibri"/>
                <a:cs typeface="Calibri"/>
              </a:rPr>
              <a:t> </a:t>
            </a:r>
            <a:r>
              <a:rPr sz="2100" spc="-34" dirty="0">
                <a:latin typeface="Calibri"/>
                <a:cs typeface="Calibri"/>
              </a:rPr>
              <a:t>late,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79" dirty="0">
                <a:latin typeface="Calibri"/>
                <a:cs typeface="Calibri"/>
              </a:rPr>
              <a:t>there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spc="-45" dirty="0">
                <a:latin typeface="Calibri"/>
                <a:cs typeface="Calibri"/>
              </a:rPr>
              <a:t>are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60" dirty="0">
                <a:latin typeface="Calibri"/>
                <a:cs typeface="Calibri"/>
              </a:rPr>
              <a:t>already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83" dirty="0">
                <a:latin typeface="Calibri"/>
                <a:cs typeface="Calibri"/>
              </a:rPr>
              <a:t>popular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68" dirty="0">
                <a:latin typeface="Calibri"/>
                <a:cs typeface="Calibri"/>
              </a:rPr>
              <a:t>P2P </a:t>
            </a:r>
            <a:r>
              <a:rPr sz="2100" spc="-94" dirty="0">
                <a:latin typeface="Calibri"/>
                <a:cs typeface="Calibri"/>
              </a:rPr>
              <a:t>Applications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71" dirty="0">
                <a:latin typeface="Calibri"/>
                <a:cs typeface="Calibri"/>
              </a:rPr>
              <a:t>out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there.</a:t>
            </a:r>
            <a:endParaRPr sz="2100">
              <a:latin typeface="Calibri"/>
              <a:cs typeface="Calibri"/>
            </a:endParaRPr>
          </a:p>
          <a:p>
            <a:pPr marL="263366" indent="-235744">
              <a:lnSpc>
                <a:spcPts val="2276"/>
              </a:lnSpc>
              <a:spcBef>
                <a:spcPts val="131"/>
              </a:spcBef>
              <a:buClr>
                <a:srgbClr val="5D62F2"/>
              </a:buClr>
              <a:buChar char="•"/>
              <a:tabLst>
                <a:tab pos="263366" algn="l"/>
              </a:tabLst>
            </a:pPr>
            <a:r>
              <a:rPr sz="2025" spc="-191" dirty="0">
                <a:latin typeface="Arial"/>
                <a:cs typeface="Arial"/>
              </a:rPr>
              <a:t>Since</a:t>
            </a:r>
            <a:r>
              <a:rPr sz="2025" spc="11" dirty="0">
                <a:latin typeface="Arial"/>
                <a:cs typeface="Arial"/>
              </a:rPr>
              <a:t> </a:t>
            </a:r>
            <a:r>
              <a:rPr sz="2025" spc="-300" dirty="0">
                <a:latin typeface="Arial"/>
                <a:cs typeface="Arial"/>
              </a:rPr>
              <a:t>JXTA</a:t>
            </a:r>
            <a:r>
              <a:rPr sz="2025" spc="86" dirty="0">
                <a:latin typeface="Arial"/>
                <a:cs typeface="Arial"/>
              </a:rPr>
              <a:t> </a:t>
            </a:r>
            <a:r>
              <a:rPr sz="2025" spc="-139" dirty="0">
                <a:latin typeface="Arial"/>
                <a:cs typeface="Arial"/>
              </a:rPr>
              <a:t>is</a:t>
            </a:r>
            <a:r>
              <a:rPr sz="2025" spc="-23" dirty="0">
                <a:latin typeface="Arial"/>
                <a:cs typeface="Arial"/>
              </a:rPr>
              <a:t> </a:t>
            </a:r>
            <a:r>
              <a:rPr sz="2025" spc="-8" dirty="0">
                <a:latin typeface="Arial"/>
                <a:cs typeface="Arial"/>
              </a:rPr>
              <a:t>in</a:t>
            </a:r>
            <a:r>
              <a:rPr sz="2025" spc="-135" dirty="0">
                <a:latin typeface="Arial"/>
                <a:cs typeface="Arial"/>
              </a:rPr>
              <a:t> </a:t>
            </a:r>
            <a:r>
              <a:rPr sz="2025" spc="-41" dirty="0">
                <a:latin typeface="Arial"/>
                <a:cs typeface="Arial"/>
              </a:rPr>
              <a:t>its</a:t>
            </a:r>
            <a:r>
              <a:rPr sz="2025" spc="-98" dirty="0">
                <a:latin typeface="Arial"/>
                <a:cs typeface="Arial"/>
              </a:rPr>
              <a:t> </a:t>
            </a:r>
            <a:r>
              <a:rPr sz="2025" spc="-124" dirty="0">
                <a:latin typeface="Arial"/>
                <a:cs typeface="Arial"/>
              </a:rPr>
              <a:t>infancy,</a:t>
            </a:r>
            <a:r>
              <a:rPr sz="2025" spc="-19" dirty="0">
                <a:latin typeface="Arial"/>
                <a:cs typeface="Arial"/>
              </a:rPr>
              <a:t> </a:t>
            </a:r>
            <a:r>
              <a:rPr sz="2025" dirty="0">
                <a:latin typeface="Arial"/>
                <a:cs typeface="Arial"/>
              </a:rPr>
              <a:t>it</a:t>
            </a:r>
            <a:r>
              <a:rPr sz="2025" spc="-83" dirty="0">
                <a:latin typeface="Arial"/>
                <a:cs typeface="Arial"/>
              </a:rPr>
              <a:t> </a:t>
            </a:r>
            <a:r>
              <a:rPr sz="2025" spc="-75" dirty="0">
                <a:latin typeface="Arial"/>
                <a:cs typeface="Arial"/>
              </a:rPr>
              <a:t>is</a:t>
            </a:r>
            <a:r>
              <a:rPr sz="2025" spc="-8" dirty="0">
                <a:latin typeface="Arial"/>
                <a:cs typeface="Arial"/>
              </a:rPr>
              <a:t> </a:t>
            </a:r>
            <a:r>
              <a:rPr sz="2025" spc="-49" dirty="0">
                <a:latin typeface="Arial"/>
                <a:cs typeface="Arial"/>
              </a:rPr>
              <a:t>still</a:t>
            </a:r>
            <a:r>
              <a:rPr sz="2025" spc="-26" dirty="0">
                <a:latin typeface="Arial"/>
                <a:cs typeface="Arial"/>
              </a:rPr>
              <a:t> </a:t>
            </a:r>
            <a:r>
              <a:rPr sz="2025" spc="-94" dirty="0">
                <a:latin typeface="Arial"/>
                <a:cs typeface="Arial"/>
              </a:rPr>
              <a:t>too</a:t>
            </a:r>
            <a:r>
              <a:rPr sz="2025" spc="-45" dirty="0">
                <a:latin typeface="Arial"/>
                <a:cs typeface="Arial"/>
              </a:rPr>
              <a:t> </a:t>
            </a:r>
            <a:r>
              <a:rPr sz="2025" spc="-101" dirty="0">
                <a:latin typeface="Arial"/>
                <a:cs typeface="Arial"/>
              </a:rPr>
              <a:t>early</a:t>
            </a:r>
            <a:r>
              <a:rPr sz="2025" spc="19" dirty="0">
                <a:latin typeface="Arial"/>
                <a:cs typeface="Arial"/>
              </a:rPr>
              <a:t> </a:t>
            </a:r>
            <a:r>
              <a:rPr sz="2025" dirty="0">
                <a:latin typeface="Arial"/>
                <a:cs typeface="Arial"/>
              </a:rPr>
              <a:t>to</a:t>
            </a:r>
            <a:r>
              <a:rPr sz="2025" spc="-41" dirty="0">
                <a:latin typeface="Arial"/>
                <a:cs typeface="Arial"/>
              </a:rPr>
              <a:t> </a:t>
            </a:r>
            <a:r>
              <a:rPr sz="2025" spc="-79" dirty="0">
                <a:latin typeface="Arial"/>
                <a:cs typeface="Arial"/>
              </a:rPr>
              <a:t>judge</a:t>
            </a:r>
            <a:endParaRPr sz="2025">
              <a:latin typeface="Arial"/>
              <a:cs typeface="Arial"/>
            </a:endParaRPr>
          </a:p>
          <a:p>
            <a:pPr marL="264795">
              <a:lnSpc>
                <a:spcPts val="2321"/>
              </a:lnSpc>
            </a:pPr>
            <a:r>
              <a:rPr sz="2063" spc="-90" dirty="0">
                <a:latin typeface="Arial"/>
                <a:cs typeface="Arial"/>
              </a:rPr>
              <a:t>the</a:t>
            </a:r>
            <a:r>
              <a:rPr sz="2063" spc="-26" dirty="0">
                <a:latin typeface="Arial"/>
                <a:cs typeface="Arial"/>
              </a:rPr>
              <a:t> </a:t>
            </a:r>
            <a:r>
              <a:rPr sz="2063" spc="-225" dirty="0">
                <a:latin typeface="Arial"/>
                <a:cs typeface="Arial"/>
              </a:rPr>
              <a:t>success</a:t>
            </a:r>
            <a:r>
              <a:rPr sz="2063" spc="127" dirty="0">
                <a:latin typeface="Arial"/>
                <a:cs typeface="Arial"/>
              </a:rPr>
              <a:t> </a:t>
            </a:r>
            <a:r>
              <a:rPr sz="2063" spc="-90" dirty="0">
                <a:latin typeface="Arial"/>
                <a:cs typeface="Arial"/>
              </a:rPr>
              <a:t>of</a:t>
            </a:r>
            <a:r>
              <a:rPr sz="2063" spc="-56" dirty="0">
                <a:latin typeface="Arial"/>
                <a:cs typeface="Arial"/>
              </a:rPr>
              <a:t> </a:t>
            </a:r>
            <a:r>
              <a:rPr sz="2063" spc="-281" dirty="0">
                <a:latin typeface="Arial"/>
                <a:cs typeface="Arial"/>
              </a:rPr>
              <a:t>JXTA.</a:t>
            </a:r>
            <a:endParaRPr sz="2063">
              <a:latin typeface="Arial"/>
              <a:cs typeface="Arial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F07CFE-9C47-0C5D-ADA9-89FE6A7D16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303859" cy="79027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33551" y="-266626"/>
            <a:ext cx="5916217" cy="1085112"/>
          </a:xfrm>
          <a:prstGeom prst="rect">
            <a:avLst/>
          </a:prstGeom>
        </p:spPr>
        <p:txBody>
          <a:bodyPr vert="horz" wrap="square" lIns="0" tIns="54305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5240">
              <a:spcBef>
                <a:spcPts val="101"/>
              </a:spcBef>
            </a:pPr>
            <a:r>
              <a:rPr sz="3488" spc="-98" dirty="0">
                <a:solidFill>
                  <a:srgbClr val="383489"/>
                </a:solidFill>
                <a:latin typeface="Arial"/>
                <a:cs typeface="Arial"/>
              </a:rPr>
              <a:t>The</a:t>
            </a:r>
            <a:r>
              <a:rPr sz="3488" spc="-146" dirty="0">
                <a:solidFill>
                  <a:srgbClr val="383489"/>
                </a:solidFill>
                <a:latin typeface="Arial"/>
                <a:cs typeface="Arial"/>
              </a:rPr>
              <a:t> </a:t>
            </a:r>
            <a:r>
              <a:rPr sz="3488" spc="-90" dirty="0">
                <a:latin typeface="Arial"/>
                <a:cs typeface="Arial"/>
              </a:rPr>
              <a:t>Future</a:t>
            </a:r>
            <a:r>
              <a:rPr sz="3488" spc="-49" dirty="0">
                <a:latin typeface="Arial"/>
                <a:cs typeface="Arial"/>
              </a:rPr>
              <a:t> </a:t>
            </a:r>
            <a:r>
              <a:rPr sz="3488" dirty="0">
                <a:latin typeface="Arial"/>
                <a:cs typeface="Arial"/>
              </a:rPr>
              <a:t>of</a:t>
            </a:r>
            <a:r>
              <a:rPr sz="3488" spc="-180" dirty="0">
                <a:latin typeface="Arial"/>
                <a:cs typeface="Arial"/>
              </a:rPr>
              <a:t> </a:t>
            </a:r>
            <a:r>
              <a:rPr sz="3488" spc="-424" dirty="0">
                <a:solidFill>
                  <a:srgbClr val="3B3895"/>
                </a:solidFill>
                <a:latin typeface="Arial"/>
                <a:cs typeface="Arial"/>
              </a:rPr>
              <a:t>JXTA</a:t>
            </a:r>
            <a:endParaRPr sz="3488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7041" y="3663405"/>
            <a:ext cx="33486" cy="66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05937" y="1474842"/>
            <a:ext cx="4956334" cy="2530886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39554" indent="-227648">
              <a:spcBef>
                <a:spcPts val="540"/>
              </a:spcBef>
              <a:buClr>
                <a:srgbClr val="2F2FC6"/>
              </a:buClr>
              <a:buChar char="•"/>
              <a:tabLst>
                <a:tab pos="239554" algn="l"/>
              </a:tabLst>
            </a:pPr>
            <a:r>
              <a:rPr sz="2400" spc="-210" dirty="0">
                <a:latin typeface="Arial"/>
                <a:cs typeface="Arial"/>
              </a:rPr>
              <a:t>JXTA</a:t>
            </a:r>
            <a:r>
              <a:rPr sz="2400" spc="10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91" dirty="0">
                <a:latin typeface="Arial"/>
                <a:cs typeface="Arial"/>
              </a:rPr>
              <a:t>J2SE</a:t>
            </a:r>
            <a:r>
              <a:rPr sz="2400" spc="94" dirty="0">
                <a:latin typeface="Arial"/>
                <a:cs typeface="Arial"/>
              </a:rPr>
              <a:t> </a:t>
            </a:r>
            <a:r>
              <a:rPr sz="2400" spc="-23" dirty="0">
                <a:latin typeface="Arial"/>
                <a:cs typeface="Arial"/>
              </a:rPr>
              <a:t>Micro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8" dirty="0">
                <a:latin typeface="Arial"/>
                <a:cs typeface="Arial"/>
              </a:rPr>
              <a:t>Edition</a:t>
            </a:r>
            <a:endParaRPr sz="2400">
              <a:latin typeface="Arial"/>
              <a:cs typeface="Arial"/>
            </a:endParaRPr>
          </a:p>
          <a:p>
            <a:pPr marL="241935" marR="718185" indent="-230981">
              <a:lnSpc>
                <a:spcPts val="2850"/>
              </a:lnSpc>
              <a:spcBef>
                <a:spcPts val="720"/>
              </a:spcBef>
              <a:buClr>
                <a:srgbClr val="2F31C1"/>
              </a:buClr>
              <a:buChar char="•"/>
              <a:tabLst>
                <a:tab pos="248126" algn="l"/>
              </a:tabLst>
            </a:pPr>
            <a:r>
              <a:rPr sz="2513" spc="-41" dirty="0">
                <a:latin typeface="Arial"/>
                <a:cs typeface="Arial"/>
              </a:rPr>
              <a:t>Further</a:t>
            </a:r>
            <a:r>
              <a:rPr sz="2513" spc="23" dirty="0">
                <a:latin typeface="Arial"/>
                <a:cs typeface="Arial"/>
              </a:rPr>
              <a:t> </a:t>
            </a:r>
            <a:r>
              <a:rPr sz="2513" spc="-86" dirty="0">
                <a:latin typeface="Arial"/>
                <a:cs typeface="Arial"/>
              </a:rPr>
              <a:t>expansion</a:t>
            </a:r>
            <a:r>
              <a:rPr sz="2513" spc="19" dirty="0">
                <a:latin typeface="Arial"/>
                <a:cs typeface="Arial"/>
              </a:rPr>
              <a:t> </a:t>
            </a:r>
            <a:r>
              <a:rPr sz="2513" dirty="0">
                <a:latin typeface="Arial"/>
                <a:cs typeface="Arial"/>
              </a:rPr>
              <a:t>of</a:t>
            </a:r>
            <a:r>
              <a:rPr sz="2513" spc="-94" dirty="0">
                <a:latin typeface="Arial"/>
                <a:cs typeface="Arial"/>
              </a:rPr>
              <a:t> </a:t>
            </a:r>
            <a:r>
              <a:rPr sz="2513" dirty="0">
                <a:latin typeface="Arial"/>
                <a:cs typeface="Arial"/>
              </a:rPr>
              <a:t>the</a:t>
            </a:r>
            <a:r>
              <a:rPr sz="2513" spc="-172" dirty="0">
                <a:latin typeface="Arial"/>
                <a:cs typeface="Arial"/>
              </a:rPr>
              <a:t> </a:t>
            </a:r>
            <a:r>
              <a:rPr sz="2513" spc="-206" dirty="0">
                <a:latin typeface="Arial"/>
                <a:cs typeface="Arial"/>
              </a:rPr>
              <a:t>Java 	</a:t>
            </a:r>
            <a:r>
              <a:rPr sz="2513" spc="-8" dirty="0">
                <a:latin typeface="Arial"/>
                <a:cs typeface="Arial"/>
              </a:rPr>
              <a:t>implementation.</a:t>
            </a:r>
            <a:endParaRPr sz="2513">
              <a:latin typeface="Arial"/>
              <a:cs typeface="Arial"/>
            </a:endParaRPr>
          </a:p>
          <a:p>
            <a:pPr marL="228600" marR="3810" indent="-219551">
              <a:lnSpc>
                <a:spcPts val="2872"/>
              </a:lnSpc>
              <a:spcBef>
                <a:spcPts val="611"/>
              </a:spcBef>
              <a:buClr>
                <a:srgbClr val="3131C6"/>
              </a:buClr>
              <a:buChar char="•"/>
              <a:tabLst>
                <a:tab pos="240983" algn="l"/>
              </a:tabLst>
            </a:pPr>
            <a:r>
              <a:rPr sz="2775" spc="-158" dirty="0">
                <a:latin typeface="Arial"/>
                <a:cs typeface="Arial"/>
              </a:rPr>
              <a:t>Implementation</a:t>
            </a:r>
            <a:r>
              <a:rPr sz="2775" spc="-64" dirty="0">
                <a:latin typeface="Arial"/>
                <a:cs typeface="Arial"/>
              </a:rPr>
              <a:t> </a:t>
            </a:r>
            <a:r>
              <a:rPr sz="2775" spc="-127" dirty="0">
                <a:latin typeface="Arial"/>
                <a:cs typeface="Arial"/>
              </a:rPr>
              <a:t>in</a:t>
            </a:r>
            <a:r>
              <a:rPr sz="2775" spc="-4" dirty="0">
                <a:latin typeface="Arial"/>
                <a:cs typeface="Arial"/>
              </a:rPr>
              <a:t> </a:t>
            </a:r>
            <a:r>
              <a:rPr sz="2775" spc="-191" dirty="0">
                <a:latin typeface="Arial"/>
                <a:cs typeface="Arial"/>
              </a:rPr>
              <a:t>other</a:t>
            </a:r>
            <a:r>
              <a:rPr sz="2775" spc="191" dirty="0">
                <a:latin typeface="Arial"/>
                <a:cs typeface="Arial"/>
              </a:rPr>
              <a:t> </a:t>
            </a:r>
            <a:r>
              <a:rPr sz="2775" spc="-266" dirty="0">
                <a:latin typeface="Arial"/>
                <a:cs typeface="Arial"/>
              </a:rPr>
              <a:t>languages 	</a:t>
            </a:r>
            <a:r>
              <a:rPr sz="2775" spc="-98" dirty="0">
                <a:latin typeface="Arial"/>
                <a:cs typeface="Arial"/>
              </a:rPr>
              <a:t>(C/C++/C#,</a:t>
            </a:r>
            <a:r>
              <a:rPr sz="2775" spc="56" dirty="0">
                <a:latin typeface="Arial"/>
                <a:cs typeface="Arial"/>
              </a:rPr>
              <a:t> </a:t>
            </a:r>
            <a:r>
              <a:rPr sz="2775" spc="-233" dirty="0">
                <a:latin typeface="Arial"/>
                <a:cs typeface="Arial"/>
              </a:rPr>
              <a:t>Perl,</a:t>
            </a:r>
            <a:r>
              <a:rPr sz="2775" spc="41" dirty="0">
                <a:latin typeface="Arial"/>
                <a:cs typeface="Arial"/>
              </a:rPr>
              <a:t> </a:t>
            </a:r>
            <a:r>
              <a:rPr sz="2775" spc="-221" dirty="0">
                <a:latin typeface="Arial"/>
                <a:cs typeface="Arial"/>
              </a:rPr>
              <a:t>Python,</a:t>
            </a:r>
            <a:r>
              <a:rPr sz="2775" spc="68" dirty="0">
                <a:latin typeface="Arial"/>
                <a:cs typeface="Arial"/>
              </a:rPr>
              <a:t> </a:t>
            </a:r>
            <a:r>
              <a:rPr sz="2775" spc="-8" dirty="0">
                <a:latin typeface="Arial"/>
                <a:cs typeface="Arial"/>
              </a:rPr>
              <a:t>etc).</a:t>
            </a:r>
            <a:endParaRPr sz="2775">
              <a:latin typeface="Arial"/>
              <a:cs typeface="Arial"/>
            </a:endParaRPr>
          </a:p>
          <a:p>
            <a:pPr marL="231458" indent="-220504">
              <a:spcBef>
                <a:spcPts val="368"/>
              </a:spcBef>
              <a:buClr>
                <a:srgbClr val="312FC8"/>
              </a:buClr>
              <a:buChar char="•"/>
              <a:tabLst>
                <a:tab pos="231458" algn="l"/>
              </a:tabLst>
            </a:pPr>
            <a:r>
              <a:rPr sz="2513" dirty="0">
                <a:latin typeface="Arial"/>
                <a:cs typeface="Arial"/>
              </a:rPr>
              <a:t>Industry </a:t>
            </a:r>
            <a:r>
              <a:rPr sz="2513" spc="-53" dirty="0">
                <a:latin typeface="Arial"/>
                <a:cs typeface="Arial"/>
              </a:rPr>
              <a:t>acceptance</a:t>
            </a:r>
            <a:endParaRPr sz="2513">
              <a:latin typeface="Arial"/>
              <a:cs typeface="Arial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ACBF01-565A-C645-FE72-4E60CD27C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33551" y="-272352"/>
            <a:ext cx="5916217" cy="1096563"/>
          </a:xfrm>
          <a:prstGeom prst="rect">
            <a:avLst/>
          </a:prstGeom>
        </p:spPr>
        <p:txBody>
          <a:bodyPr vert="horz" wrap="square" lIns="0" tIns="48581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669">
              <a:spcBef>
                <a:spcPts val="90"/>
              </a:spcBef>
            </a:pPr>
            <a:r>
              <a:rPr sz="3938" spc="-229" dirty="0">
                <a:solidFill>
                  <a:srgbClr val="383880"/>
                </a:solidFill>
              </a:rPr>
              <a:t>Presentation</a:t>
            </a:r>
            <a:r>
              <a:rPr sz="3938" spc="420" dirty="0">
                <a:solidFill>
                  <a:srgbClr val="383880"/>
                </a:solidFill>
              </a:rPr>
              <a:t> </a:t>
            </a:r>
            <a:r>
              <a:rPr sz="3938" spc="-251" dirty="0">
                <a:solidFill>
                  <a:srgbClr val="363189"/>
                </a:solidFill>
              </a:rPr>
              <a:t>Summary</a:t>
            </a:r>
            <a:endParaRPr sz="3938"/>
          </a:p>
        </p:txBody>
      </p:sp>
      <p:sp>
        <p:nvSpPr>
          <p:cNvPr id="3" name="object 3"/>
          <p:cNvSpPr txBox="1"/>
          <p:nvPr/>
        </p:nvSpPr>
        <p:spPr>
          <a:xfrm>
            <a:off x="2105937" y="1490104"/>
            <a:ext cx="5600224" cy="2709203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38125" marR="30004" indent="-229076">
              <a:lnSpc>
                <a:spcPct val="87400"/>
              </a:lnSpc>
              <a:spcBef>
                <a:spcPts val="495"/>
              </a:spcBef>
              <a:buChar char="•"/>
              <a:tabLst>
                <a:tab pos="238125" algn="l"/>
                <a:tab pos="240983" algn="l"/>
              </a:tabLst>
            </a:pPr>
            <a:r>
              <a:rPr sz="2738" dirty="0">
                <a:solidFill>
                  <a:srgbClr val="3131C8"/>
                </a:solidFill>
                <a:latin typeface="Arial"/>
                <a:cs typeface="Arial"/>
              </a:rPr>
              <a:t>	</a:t>
            </a:r>
            <a:r>
              <a:rPr sz="2738" spc="-330" dirty="0">
                <a:latin typeface="Arial"/>
                <a:cs typeface="Arial"/>
              </a:rPr>
              <a:t>P2P:</a:t>
            </a:r>
            <a:r>
              <a:rPr sz="2738" spc="158" dirty="0">
                <a:latin typeface="Arial"/>
                <a:cs typeface="Arial"/>
              </a:rPr>
              <a:t> </a:t>
            </a:r>
            <a:r>
              <a:rPr sz="2738" spc="-236" dirty="0">
                <a:latin typeface="Arial"/>
                <a:cs typeface="Arial"/>
              </a:rPr>
              <a:t>Simply</a:t>
            </a:r>
            <a:r>
              <a:rPr sz="2738" spc="172" dirty="0">
                <a:latin typeface="Arial"/>
                <a:cs typeface="Arial"/>
              </a:rPr>
              <a:t> </a:t>
            </a:r>
            <a:r>
              <a:rPr sz="2738" spc="-143" dirty="0">
                <a:latin typeface="Arial"/>
                <a:cs typeface="Arial"/>
              </a:rPr>
              <a:t>the</a:t>
            </a:r>
            <a:r>
              <a:rPr sz="2738" spc="-53" dirty="0">
                <a:latin typeface="Arial"/>
                <a:cs typeface="Arial"/>
              </a:rPr>
              <a:t> </a:t>
            </a:r>
            <a:r>
              <a:rPr sz="2738" spc="-259" dirty="0">
                <a:latin typeface="Arial"/>
                <a:cs typeface="Arial"/>
              </a:rPr>
              <a:t>exchange</a:t>
            </a:r>
            <a:r>
              <a:rPr sz="2738" spc="221" dirty="0">
                <a:latin typeface="Arial"/>
                <a:cs typeface="Arial"/>
              </a:rPr>
              <a:t> </a:t>
            </a:r>
            <a:r>
              <a:rPr sz="2738" spc="-71" dirty="0">
                <a:latin typeface="Arial"/>
                <a:cs typeface="Arial"/>
              </a:rPr>
              <a:t>of</a:t>
            </a:r>
            <a:r>
              <a:rPr sz="2738" spc="-34" dirty="0">
                <a:latin typeface="Arial"/>
                <a:cs typeface="Arial"/>
              </a:rPr>
              <a:t> </a:t>
            </a:r>
            <a:r>
              <a:rPr sz="2738" spc="-221" dirty="0">
                <a:latin typeface="Arial"/>
                <a:cs typeface="Arial"/>
              </a:rPr>
              <a:t>data </a:t>
            </a:r>
            <a:r>
              <a:rPr sz="2738" spc="-225" dirty="0">
                <a:latin typeface="Arial"/>
                <a:cs typeface="Arial"/>
              </a:rPr>
              <a:t>between</a:t>
            </a:r>
            <a:r>
              <a:rPr sz="2738" spc="113" dirty="0">
                <a:latin typeface="Arial"/>
                <a:cs typeface="Arial"/>
              </a:rPr>
              <a:t> </a:t>
            </a:r>
            <a:r>
              <a:rPr sz="2738" spc="-98" dirty="0">
                <a:latin typeface="Arial"/>
                <a:cs typeface="Arial"/>
              </a:rPr>
              <a:t>two</a:t>
            </a:r>
            <a:r>
              <a:rPr sz="2738" spc="-15" dirty="0">
                <a:latin typeface="Arial"/>
                <a:cs typeface="Arial"/>
              </a:rPr>
              <a:t> </a:t>
            </a:r>
            <a:r>
              <a:rPr sz="2738" spc="-233" dirty="0">
                <a:latin typeface="Arial"/>
                <a:cs typeface="Arial"/>
              </a:rPr>
              <a:t>peers</a:t>
            </a:r>
            <a:r>
              <a:rPr sz="2738" spc="109" dirty="0">
                <a:latin typeface="Arial"/>
                <a:cs typeface="Arial"/>
              </a:rPr>
              <a:t> </a:t>
            </a:r>
            <a:r>
              <a:rPr sz="2738" spc="-240" dirty="0">
                <a:latin typeface="Arial"/>
                <a:cs typeface="Arial"/>
              </a:rPr>
              <a:t>who</a:t>
            </a:r>
            <a:r>
              <a:rPr sz="2738" spc="-19" dirty="0">
                <a:latin typeface="Arial"/>
                <a:cs typeface="Arial"/>
              </a:rPr>
              <a:t> </a:t>
            </a:r>
            <a:r>
              <a:rPr sz="2738" spc="-143" dirty="0">
                <a:latin typeface="Arial"/>
                <a:cs typeface="Arial"/>
              </a:rPr>
              <a:t>act</a:t>
            </a:r>
            <a:r>
              <a:rPr sz="2738" spc="15" dirty="0">
                <a:latin typeface="Arial"/>
                <a:cs typeface="Arial"/>
              </a:rPr>
              <a:t> </a:t>
            </a:r>
            <a:r>
              <a:rPr sz="2738" spc="-289" dirty="0">
                <a:latin typeface="Arial"/>
                <a:cs typeface="Arial"/>
              </a:rPr>
              <a:t>as</a:t>
            </a:r>
            <a:r>
              <a:rPr sz="2738" spc="-34" dirty="0">
                <a:latin typeface="Arial"/>
                <a:cs typeface="Arial"/>
              </a:rPr>
              <a:t> </a:t>
            </a:r>
            <a:r>
              <a:rPr sz="2738" spc="-8" dirty="0">
                <a:latin typeface="Arial"/>
                <a:cs typeface="Arial"/>
              </a:rPr>
              <a:t>client </a:t>
            </a:r>
            <a:r>
              <a:rPr sz="2738" spc="-233" dirty="0">
                <a:latin typeface="Arial"/>
                <a:cs typeface="Arial"/>
              </a:rPr>
              <a:t>and</a:t>
            </a:r>
            <a:r>
              <a:rPr sz="2738" spc="30" dirty="0">
                <a:latin typeface="Arial"/>
                <a:cs typeface="Arial"/>
              </a:rPr>
              <a:t> </a:t>
            </a:r>
            <a:r>
              <a:rPr sz="2738" spc="-289" dirty="0">
                <a:latin typeface="Arial"/>
                <a:cs typeface="Arial"/>
              </a:rPr>
              <a:t>as</a:t>
            </a:r>
            <a:r>
              <a:rPr sz="2738" spc="-11" dirty="0">
                <a:latin typeface="Arial"/>
                <a:cs typeface="Arial"/>
              </a:rPr>
              <a:t> </a:t>
            </a:r>
            <a:r>
              <a:rPr sz="2738" spc="-233" dirty="0">
                <a:latin typeface="Arial"/>
                <a:cs typeface="Arial"/>
              </a:rPr>
              <a:t>server,</a:t>
            </a:r>
            <a:r>
              <a:rPr sz="2738" spc="41" dirty="0">
                <a:latin typeface="Arial"/>
                <a:cs typeface="Arial"/>
              </a:rPr>
              <a:t> </a:t>
            </a:r>
            <a:r>
              <a:rPr sz="2738" spc="-75" dirty="0">
                <a:latin typeface="Arial"/>
                <a:cs typeface="Arial"/>
              </a:rPr>
              <a:t>but</a:t>
            </a:r>
            <a:r>
              <a:rPr sz="2738" spc="-116" dirty="0">
                <a:latin typeface="Arial"/>
                <a:cs typeface="Arial"/>
              </a:rPr>
              <a:t> </a:t>
            </a:r>
            <a:r>
              <a:rPr sz="2738" spc="-113" dirty="0">
                <a:latin typeface="Arial"/>
                <a:cs typeface="Arial"/>
              </a:rPr>
              <a:t>the</a:t>
            </a:r>
            <a:r>
              <a:rPr sz="2738" spc="-56" dirty="0">
                <a:latin typeface="Arial"/>
                <a:cs typeface="Arial"/>
              </a:rPr>
              <a:t> </a:t>
            </a:r>
            <a:r>
              <a:rPr sz="2738" spc="-120" dirty="0">
                <a:latin typeface="Arial"/>
                <a:cs typeface="Arial"/>
              </a:rPr>
              <a:t>definition</a:t>
            </a:r>
            <a:r>
              <a:rPr sz="2738" spc="71" dirty="0">
                <a:latin typeface="Arial"/>
                <a:cs typeface="Arial"/>
              </a:rPr>
              <a:t> </a:t>
            </a:r>
            <a:r>
              <a:rPr sz="2738" spc="-184" dirty="0">
                <a:latin typeface="Arial"/>
                <a:cs typeface="Arial"/>
              </a:rPr>
              <a:t>is</a:t>
            </a:r>
            <a:r>
              <a:rPr sz="2738" spc="-30" dirty="0">
                <a:latin typeface="Arial"/>
                <a:cs typeface="Arial"/>
              </a:rPr>
              <a:t> </a:t>
            </a:r>
            <a:r>
              <a:rPr sz="2738" spc="-263" dirty="0">
                <a:latin typeface="Arial"/>
                <a:cs typeface="Arial"/>
              </a:rPr>
              <a:t>open </a:t>
            </a:r>
            <a:r>
              <a:rPr sz="2775" spc="-56" dirty="0">
                <a:latin typeface="Arial"/>
                <a:cs typeface="Arial"/>
              </a:rPr>
              <a:t>to</a:t>
            </a:r>
            <a:r>
              <a:rPr sz="2775" spc="-83" dirty="0">
                <a:latin typeface="Arial"/>
                <a:cs typeface="Arial"/>
              </a:rPr>
              <a:t> </a:t>
            </a:r>
            <a:r>
              <a:rPr sz="2775" spc="-214" dirty="0">
                <a:latin typeface="Arial"/>
                <a:cs typeface="Arial"/>
              </a:rPr>
              <a:t>diPerent</a:t>
            </a:r>
            <a:r>
              <a:rPr sz="2775" spc="195" dirty="0">
                <a:latin typeface="Arial"/>
                <a:cs typeface="Arial"/>
              </a:rPr>
              <a:t> </a:t>
            </a:r>
            <a:r>
              <a:rPr sz="2775" spc="-143" dirty="0">
                <a:latin typeface="Arial"/>
                <a:cs typeface="Arial"/>
              </a:rPr>
              <a:t>interpretations </a:t>
            </a:r>
            <a:r>
              <a:rPr sz="2775" spc="-221" dirty="0">
                <a:latin typeface="Arial"/>
                <a:cs typeface="Arial"/>
              </a:rPr>
              <a:t>(De-</a:t>
            </a:r>
            <a:r>
              <a:rPr sz="2738" spc="-214" dirty="0">
                <a:latin typeface="Arial"/>
                <a:cs typeface="Arial"/>
              </a:rPr>
              <a:t>Centralized,</a:t>
            </a:r>
            <a:r>
              <a:rPr sz="2738" spc="356" dirty="0">
                <a:latin typeface="Arial"/>
                <a:cs typeface="Arial"/>
              </a:rPr>
              <a:t> </a:t>
            </a:r>
            <a:r>
              <a:rPr sz="2738" spc="-225" dirty="0">
                <a:latin typeface="Arial"/>
                <a:cs typeface="Arial"/>
              </a:rPr>
              <a:t>Brokered)</a:t>
            </a:r>
            <a:endParaRPr sz="2738">
              <a:latin typeface="Arial"/>
              <a:cs typeface="Arial"/>
            </a:endParaRPr>
          </a:p>
          <a:p>
            <a:pPr marL="239078" indent="-229553">
              <a:lnSpc>
                <a:spcPts val="3098"/>
              </a:lnSpc>
              <a:spcBef>
                <a:spcPts val="135"/>
              </a:spcBef>
              <a:buClr>
                <a:srgbClr val="3334CC"/>
              </a:buClr>
              <a:buChar char="•"/>
              <a:tabLst>
                <a:tab pos="239078" algn="l"/>
              </a:tabLst>
            </a:pPr>
            <a:r>
              <a:rPr sz="2775" spc="-353" dirty="0">
                <a:latin typeface="Arial"/>
                <a:cs typeface="Arial"/>
              </a:rPr>
              <a:t>JXTA:</a:t>
            </a:r>
            <a:r>
              <a:rPr sz="2775" spc="188" dirty="0">
                <a:latin typeface="Arial"/>
                <a:cs typeface="Arial"/>
              </a:rPr>
              <a:t> </a:t>
            </a:r>
            <a:r>
              <a:rPr sz="2775" spc="-428" dirty="0">
                <a:latin typeface="Arial"/>
                <a:cs typeface="Arial"/>
              </a:rPr>
              <a:t>A</a:t>
            </a:r>
            <a:r>
              <a:rPr sz="2775" spc="-8" dirty="0">
                <a:latin typeface="Arial"/>
                <a:cs typeface="Arial"/>
              </a:rPr>
              <a:t> </a:t>
            </a:r>
            <a:r>
              <a:rPr sz="2775" spc="-259" dirty="0">
                <a:latin typeface="Arial"/>
                <a:cs typeface="Arial"/>
              </a:rPr>
              <a:t>Standard</a:t>
            </a:r>
            <a:r>
              <a:rPr sz="2775" spc="233" dirty="0">
                <a:latin typeface="Arial"/>
                <a:cs typeface="Arial"/>
              </a:rPr>
              <a:t> </a:t>
            </a:r>
            <a:r>
              <a:rPr sz="2775" spc="-293" dirty="0">
                <a:latin typeface="Arial"/>
                <a:cs typeface="Arial"/>
              </a:rPr>
              <a:t>PlaPorm</a:t>
            </a:r>
            <a:r>
              <a:rPr sz="2775" spc="210" dirty="0">
                <a:latin typeface="Arial"/>
                <a:cs typeface="Arial"/>
              </a:rPr>
              <a:t> </a:t>
            </a:r>
            <a:r>
              <a:rPr sz="2775" spc="-251" dirty="0">
                <a:latin typeface="Arial"/>
                <a:cs typeface="Arial"/>
              </a:rPr>
              <a:t>on</a:t>
            </a:r>
            <a:r>
              <a:rPr sz="2775" spc="98" dirty="0">
                <a:latin typeface="Arial"/>
                <a:cs typeface="Arial"/>
              </a:rPr>
              <a:t> </a:t>
            </a:r>
            <a:r>
              <a:rPr sz="2775" spc="-248" dirty="0">
                <a:latin typeface="Arial"/>
                <a:cs typeface="Arial"/>
              </a:rPr>
              <a:t>which</a:t>
            </a:r>
            <a:r>
              <a:rPr sz="2775" spc="188" dirty="0">
                <a:latin typeface="Arial"/>
                <a:cs typeface="Arial"/>
              </a:rPr>
              <a:t> </a:t>
            </a:r>
            <a:r>
              <a:rPr sz="2775" spc="-307" dirty="0">
                <a:latin typeface="Arial"/>
                <a:cs typeface="Arial"/>
              </a:rPr>
              <a:t>we</a:t>
            </a:r>
            <a:endParaRPr sz="2775">
              <a:latin typeface="Arial"/>
              <a:cs typeface="Arial"/>
            </a:endParaRPr>
          </a:p>
          <a:p>
            <a:pPr marL="241459">
              <a:lnSpc>
                <a:spcPts val="3143"/>
              </a:lnSpc>
            </a:pPr>
            <a:r>
              <a:rPr sz="2813" spc="-293" dirty="0">
                <a:latin typeface="Arial"/>
                <a:cs typeface="Arial"/>
              </a:rPr>
              <a:t>can</a:t>
            </a:r>
            <a:r>
              <a:rPr sz="2813" spc="41" dirty="0">
                <a:latin typeface="Arial"/>
                <a:cs typeface="Arial"/>
              </a:rPr>
              <a:t> </a:t>
            </a:r>
            <a:r>
              <a:rPr sz="2813" spc="-274" dirty="0">
                <a:latin typeface="Arial"/>
                <a:cs typeface="Arial"/>
              </a:rPr>
              <a:t>develop</a:t>
            </a:r>
            <a:r>
              <a:rPr sz="2813" spc="180" dirty="0">
                <a:latin typeface="Arial"/>
                <a:cs typeface="Arial"/>
              </a:rPr>
              <a:t> </a:t>
            </a:r>
            <a:r>
              <a:rPr sz="2813" spc="-484" dirty="0">
                <a:latin typeface="Arial"/>
                <a:cs typeface="Arial"/>
              </a:rPr>
              <a:t>P2P</a:t>
            </a:r>
            <a:r>
              <a:rPr sz="2813" spc="45" dirty="0">
                <a:latin typeface="Arial"/>
                <a:cs typeface="Arial"/>
              </a:rPr>
              <a:t> </a:t>
            </a:r>
            <a:r>
              <a:rPr sz="2813" spc="-229" dirty="0">
                <a:latin typeface="Arial"/>
                <a:cs typeface="Arial"/>
              </a:rPr>
              <a:t>applications.</a:t>
            </a:r>
            <a:endParaRPr sz="2813">
              <a:latin typeface="Arial"/>
              <a:cs typeface="Arial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010810-D500-63E3-BCE1-BA18A27587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303859" cy="79027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33551" y="-243346"/>
            <a:ext cx="5916217" cy="1038550"/>
          </a:xfrm>
          <a:prstGeom prst="rect">
            <a:avLst/>
          </a:prstGeom>
        </p:spPr>
        <p:txBody>
          <a:bodyPr vert="horz" wrap="square" lIns="0" tIns="47986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90"/>
              </a:spcBef>
            </a:pPr>
            <a:r>
              <a:rPr spc="-248" dirty="0"/>
              <a:t>References</a:t>
            </a: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5205" y="2739181"/>
            <a:ext cx="4031754" cy="1406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6865" y="1486755"/>
            <a:ext cx="5454491" cy="3050483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291465" marR="41910" indent="-244316">
              <a:lnSpc>
                <a:spcPct val="77100"/>
              </a:lnSpc>
              <a:spcBef>
                <a:spcPts val="469"/>
              </a:spcBef>
              <a:buClr>
                <a:srgbClr val="493FD1"/>
              </a:buClr>
              <a:buChar char="•"/>
              <a:tabLst>
                <a:tab pos="291465" algn="l"/>
              </a:tabLst>
            </a:pPr>
            <a:r>
              <a:rPr sz="1425" spc="-120" dirty="0">
                <a:latin typeface="Arial"/>
                <a:cs typeface="Arial"/>
              </a:rPr>
              <a:t>Noore,</a:t>
            </a:r>
            <a:r>
              <a:rPr sz="1425" spc="90" dirty="0">
                <a:latin typeface="Arial"/>
                <a:cs typeface="Arial"/>
              </a:rPr>
              <a:t> </a:t>
            </a:r>
            <a:r>
              <a:rPr sz="1425" spc="-203" dirty="0">
                <a:latin typeface="Arial"/>
                <a:cs typeface="Arial"/>
              </a:rPr>
              <a:t>Dana</a:t>
            </a:r>
            <a:r>
              <a:rPr sz="1425" spc="86" dirty="0">
                <a:latin typeface="Arial"/>
                <a:cs typeface="Arial"/>
              </a:rPr>
              <a:t> </a:t>
            </a:r>
            <a:r>
              <a:rPr sz="1425" spc="-169" dirty="0">
                <a:latin typeface="Arial"/>
                <a:cs typeface="Arial"/>
              </a:rPr>
              <a:t>and</a:t>
            </a:r>
            <a:r>
              <a:rPr sz="1425" spc="30" dirty="0">
                <a:latin typeface="Arial"/>
                <a:cs typeface="Arial"/>
              </a:rPr>
              <a:t> </a:t>
            </a:r>
            <a:r>
              <a:rPr sz="1425" spc="-172" dirty="0">
                <a:latin typeface="Arial"/>
                <a:cs typeface="Arial"/>
              </a:rPr>
              <a:t>John</a:t>
            </a:r>
            <a:r>
              <a:rPr sz="1425" spc="-26" dirty="0">
                <a:latin typeface="Arial"/>
                <a:cs typeface="Arial"/>
              </a:rPr>
              <a:t> </a:t>
            </a:r>
            <a:r>
              <a:rPr sz="1425" spc="-165" dirty="0">
                <a:latin typeface="Arial"/>
                <a:cs typeface="Arial"/>
              </a:rPr>
              <a:t>Hebeler.</a:t>
            </a:r>
            <a:r>
              <a:rPr sz="1425" spc="11" dirty="0">
                <a:latin typeface="Arial"/>
                <a:cs typeface="Arial"/>
              </a:rPr>
              <a:t> </a:t>
            </a:r>
            <a:r>
              <a:rPr sz="1425" u="sng" spc="-1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“Peer</a:t>
            </a:r>
            <a:r>
              <a:rPr sz="1425" u="sng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25" u="sng" spc="-5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425" u="sng" spc="-4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25" u="sng" spc="-17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Peer.”</a:t>
            </a:r>
            <a:r>
              <a:rPr sz="1425" spc="-30" dirty="0">
                <a:latin typeface="Arial"/>
                <a:cs typeface="Arial"/>
              </a:rPr>
              <a:t> </a:t>
            </a:r>
            <a:r>
              <a:rPr sz="1425" spc="-161" dirty="0">
                <a:latin typeface="Arial"/>
                <a:cs typeface="Arial"/>
              </a:rPr>
              <a:t>Ed.</a:t>
            </a:r>
            <a:r>
              <a:rPr sz="1425" spc="83" dirty="0">
                <a:latin typeface="Arial"/>
                <a:cs typeface="Arial"/>
              </a:rPr>
              <a:t> </a:t>
            </a:r>
            <a:r>
              <a:rPr sz="1425" spc="-180" dirty="0">
                <a:latin typeface="Arial"/>
                <a:cs typeface="Arial"/>
              </a:rPr>
              <a:t>Andrew</a:t>
            </a:r>
            <a:r>
              <a:rPr sz="1425" spc="64" dirty="0">
                <a:latin typeface="Arial"/>
                <a:cs typeface="Arial"/>
              </a:rPr>
              <a:t> </a:t>
            </a:r>
            <a:r>
              <a:rPr sz="1425" spc="-139" dirty="0">
                <a:latin typeface="Arial"/>
                <a:cs typeface="Arial"/>
              </a:rPr>
              <a:t>Saff.NcGraw-</a:t>
            </a:r>
            <a:r>
              <a:rPr sz="1425" spc="-8" dirty="0">
                <a:latin typeface="Arial"/>
                <a:cs typeface="Arial"/>
              </a:rPr>
              <a:t>Hill. </a:t>
            </a:r>
            <a:r>
              <a:rPr sz="1425" spc="-146" dirty="0">
                <a:latin typeface="Arial"/>
                <a:cs typeface="Arial"/>
              </a:rPr>
              <a:t>Berkeley,</a:t>
            </a:r>
            <a:r>
              <a:rPr sz="1425" dirty="0">
                <a:latin typeface="Arial"/>
                <a:cs typeface="Arial"/>
              </a:rPr>
              <a:t> </a:t>
            </a:r>
            <a:r>
              <a:rPr sz="1425" spc="-116" dirty="0">
                <a:latin typeface="Arial"/>
                <a:cs typeface="Arial"/>
              </a:rPr>
              <a:t>California,</a:t>
            </a:r>
            <a:r>
              <a:rPr sz="1425" spc="105" dirty="0">
                <a:latin typeface="Arial"/>
                <a:cs typeface="Arial"/>
              </a:rPr>
              <a:t> </a:t>
            </a:r>
            <a:r>
              <a:rPr sz="1425" spc="-229" dirty="0">
                <a:latin typeface="Arial"/>
                <a:cs typeface="Arial"/>
              </a:rPr>
              <a:t>USA.</a:t>
            </a:r>
            <a:r>
              <a:rPr sz="1425" spc="90" dirty="0">
                <a:latin typeface="Arial"/>
                <a:cs typeface="Arial"/>
              </a:rPr>
              <a:t> </a:t>
            </a:r>
            <a:r>
              <a:rPr sz="1425" spc="-8" dirty="0">
                <a:latin typeface="Arial"/>
                <a:cs typeface="Arial"/>
              </a:rPr>
              <a:t>2002.</a:t>
            </a:r>
            <a:endParaRPr sz="1425">
              <a:latin typeface="Arial"/>
              <a:cs typeface="Arial"/>
            </a:endParaRPr>
          </a:p>
          <a:p>
            <a:pPr marL="293846" indent="-245745">
              <a:lnSpc>
                <a:spcPts val="1534"/>
              </a:lnSpc>
              <a:buClr>
                <a:srgbClr val="3636BA"/>
              </a:buClr>
              <a:buChar char="•"/>
              <a:tabLst>
                <a:tab pos="293846" algn="l"/>
              </a:tabLst>
            </a:pPr>
            <a:r>
              <a:rPr sz="1313" u="sng" spc="-38" dirty="0">
                <a:solidFill>
                  <a:srgbClr val="852F34"/>
                </a:solidFill>
                <a:uFill>
                  <a:solidFill>
                    <a:srgbClr val="804F54"/>
                  </a:solidFill>
                </a:uFill>
                <a:latin typeface="Arial"/>
                <a:cs typeface="Arial"/>
                <a:hlinkClick r:id="rId4"/>
              </a:rPr>
              <a:t>http://spec.Ïxta.org/prolecUwww/docs/DomainFAÇ,html</a:t>
            </a:r>
            <a:endParaRPr sz="1313">
              <a:latin typeface="Arial"/>
              <a:cs typeface="Arial"/>
            </a:endParaRPr>
          </a:p>
          <a:p>
            <a:pPr marL="293846" indent="-245745">
              <a:lnSpc>
                <a:spcPts val="1571"/>
              </a:lnSpc>
              <a:spcBef>
                <a:spcPts val="8"/>
              </a:spcBef>
              <a:buClr>
                <a:srgbClr val="4138C8"/>
              </a:buClr>
              <a:buChar char="•"/>
              <a:tabLst>
                <a:tab pos="293846" algn="l"/>
              </a:tabLst>
            </a:pPr>
            <a:r>
              <a:rPr sz="1313" u="sng" spc="-41" dirty="0">
                <a:solidFill>
                  <a:srgbClr val="7C362D"/>
                </a:solidFill>
                <a:uFill>
                  <a:solidFill>
                    <a:srgbClr val="774848"/>
                  </a:solidFill>
                </a:uFill>
                <a:latin typeface="Arial"/>
                <a:cs typeface="Arial"/>
                <a:hlinkClick r:id="rId5"/>
              </a:rPr>
              <a:t>http://spec.lxta.orq/v1.0/docbook/JXTAProtocoìs.html</a:t>
            </a:r>
            <a:endParaRPr sz="1313">
              <a:latin typeface="Arial"/>
              <a:cs typeface="Arial"/>
            </a:endParaRPr>
          </a:p>
          <a:p>
            <a:pPr marL="293370" indent="-245269">
              <a:lnSpc>
                <a:spcPts val="1598"/>
              </a:lnSpc>
              <a:buClr>
                <a:srgbClr val="3B2FC1"/>
              </a:buClr>
              <a:buChar char="•"/>
              <a:tabLst>
                <a:tab pos="293370" algn="l"/>
              </a:tabLst>
            </a:pPr>
            <a:r>
              <a:rPr sz="1350" u="sng" spc="-49" dirty="0">
                <a:solidFill>
                  <a:srgbClr val="803134"/>
                </a:solidFill>
                <a:uFill>
                  <a:solidFill>
                    <a:srgbClr val="744848"/>
                  </a:solidFill>
                </a:uFill>
                <a:latin typeface="Arial"/>
                <a:cs typeface="Arial"/>
                <a:hlinkClick r:id="rId6"/>
              </a:rPr>
              <a:t>http://download.jxta.orq/servlets/DomainHome</a:t>
            </a:r>
            <a:endParaRPr sz="1350">
              <a:latin typeface="Arial"/>
              <a:cs typeface="Arial"/>
            </a:endParaRPr>
          </a:p>
          <a:p>
            <a:pPr marL="293370" indent="-245269">
              <a:lnSpc>
                <a:spcPts val="1583"/>
              </a:lnSpc>
              <a:buClr>
                <a:srgbClr val="3431BC"/>
              </a:buClr>
              <a:buChar char="•"/>
              <a:tabLst>
                <a:tab pos="293370" algn="l"/>
              </a:tabLst>
            </a:pPr>
            <a:r>
              <a:rPr sz="1350" u="sng" spc="-60" dirty="0">
                <a:solidFill>
                  <a:srgbClr val="82282D"/>
                </a:solidFill>
                <a:uFill>
                  <a:solidFill>
                    <a:srgbClr val="6B3B3B"/>
                  </a:solidFill>
                </a:uFill>
                <a:latin typeface="Arial"/>
                <a:cs typeface="Arial"/>
                <a:hlinkClick r:id="rId7"/>
              </a:rPr>
              <a:t>http://www.łavaworld.com/javaworld/jw-10-2001/jw-</a:t>
            </a:r>
            <a:r>
              <a:rPr sz="1350" u="sng" spc="-64" dirty="0">
                <a:solidFill>
                  <a:srgbClr val="82282D"/>
                </a:solidFill>
                <a:uFill>
                  <a:solidFill>
                    <a:srgbClr val="6B3B3B"/>
                  </a:solidFill>
                </a:uFill>
                <a:latin typeface="Arial"/>
                <a:cs typeface="Arial"/>
                <a:hlinkClick r:id="rId7"/>
              </a:rPr>
              <a:t>1019-</a:t>
            </a:r>
            <a:r>
              <a:rPr sz="1350" u="sng" spc="-8" dirty="0">
                <a:solidFill>
                  <a:srgbClr val="82282D"/>
                </a:solidFill>
                <a:uFill>
                  <a:solidFill>
                    <a:srgbClr val="6B3B3B"/>
                  </a:solidFill>
                </a:uFill>
                <a:latin typeface="Arial"/>
                <a:cs typeface="Arial"/>
                <a:hlinkClick r:id="rId7"/>
              </a:rPr>
              <a:t>jxta.html</a:t>
            </a:r>
            <a:endParaRPr sz="1350">
              <a:latin typeface="Arial"/>
              <a:cs typeface="Arial"/>
            </a:endParaRPr>
          </a:p>
          <a:p>
            <a:pPr marL="293370" indent="-245269">
              <a:lnSpc>
                <a:spcPts val="1583"/>
              </a:lnSpc>
              <a:buClr>
                <a:srgbClr val="413FC6"/>
              </a:buClr>
              <a:buChar char="•"/>
              <a:tabLst>
                <a:tab pos="293370" algn="l"/>
                <a:tab pos="739616" algn="l"/>
                <a:tab pos="2891790" algn="l"/>
                <a:tab pos="3514725" algn="l"/>
              </a:tabLst>
            </a:pPr>
            <a:r>
              <a:rPr sz="1350" spc="-19" dirty="0">
                <a:solidFill>
                  <a:srgbClr val="793638"/>
                </a:solidFill>
                <a:latin typeface="Arial"/>
                <a:cs typeface="Arial"/>
              </a:rPr>
              <a:t>htt</a:t>
            </a:r>
            <a:r>
              <a:rPr sz="1350" dirty="0">
                <a:solidFill>
                  <a:srgbClr val="793638"/>
                </a:solidFill>
                <a:latin typeface="Arial"/>
                <a:cs typeface="Arial"/>
              </a:rPr>
              <a:t>	</a:t>
            </a:r>
            <a:r>
              <a:rPr sz="1350" spc="-109" dirty="0">
                <a:solidFill>
                  <a:srgbClr val="BF5759"/>
                </a:solidFill>
                <a:latin typeface="Arial"/>
                <a:cs typeface="Arial"/>
              </a:rPr>
              <a:t>www.on</a:t>
            </a:r>
            <a:r>
              <a:rPr sz="1350" spc="34" dirty="0">
                <a:solidFill>
                  <a:srgbClr val="BF5759"/>
                </a:solidFill>
                <a:latin typeface="Arial"/>
                <a:cs typeface="Arial"/>
              </a:rPr>
              <a:t> </a:t>
            </a:r>
            <a:r>
              <a:rPr sz="1350" spc="-8" dirty="0">
                <a:solidFill>
                  <a:srgbClr val="822B2A"/>
                </a:solidFill>
                <a:latin typeface="Arial"/>
                <a:cs typeface="Arial"/>
              </a:rPr>
              <a:t>ava.com</a:t>
            </a:r>
            <a:r>
              <a:rPr sz="1350" dirty="0">
                <a:solidFill>
                  <a:srgbClr val="822B2A"/>
                </a:solidFill>
                <a:latin typeface="Arial"/>
                <a:cs typeface="Arial"/>
              </a:rPr>
              <a:t>	</a:t>
            </a:r>
            <a:r>
              <a:rPr sz="1350" spc="-15" dirty="0">
                <a:solidFill>
                  <a:srgbClr val="FD9595"/>
                </a:solidFill>
                <a:latin typeface="Arial"/>
                <a:cs typeface="Arial"/>
              </a:rPr>
              <a:t>2001</a:t>
            </a:r>
            <a:r>
              <a:rPr sz="1350" dirty="0">
                <a:solidFill>
                  <a:srgbClr val="FD9595"/>
                </a:solidFill>
                <a:latin typeface="Arial"/>
                <a:cs typeface="Arial"/>
              </a:rPr>
              <a:t>	</a:t>
            </a:r>
            <a:r>
              <a:rPr sz="1350" spc="-64" dirty="0">
                <a:solidFill>
                  <a:srgbClr val="A53138"/>
                </a:solidFill>
                <a:latin typeface="Arial"/>
                <a:cs typeface="Arial"/>
              </a:rPr>
              <a:t>25</a:t>
            </a:r>
            <a:r>
              <a:rPr sz="1350" spc="-15" dirty="0">
                <a:solidFill>
                  <a:srgbClr val="A53138"/>
                </a:solidFill>
                <a:latin typeface="Arial"/>
                <a:cs typeface="Arial"/>
              </a:rPr>
              <a:t> </a:t>
            </a:r>
            <a:r>
              <a:rPr sz="1350" spc="-8" dirty="0">
                <a:solidFill>
                  <a:srgbClr val="803434"/>
                </a:solidFill>
                <a:latin typeface="Arial"/>
                <a:cs typeface="Arial"/>
              </a:rPr>
              <a:t>ixta.html</a:t>
            </a:r>
            <a:endParaRPr sz="1350">
              <a:latin typeface="Arial"/>
              <a:cs typeface="Arial"/>
            </a:endParaRPr>
          </a:p>
          <a:p>
            <a:pPr marL="293370" indent="-245269">
              <a:lnSpc>
                <a:spcPts val="1583"/>
              </a:lnSpc>
              <a:buClr>
                <a:srgbClr val="3B33BC"/>
              </a:buClr>
              <a:buChar char="•"/>
              <a:tabLst>
                <a:tab pos="293370" algn="l"/>
              </a:tabLst>
            </a:pPr>
            <a:r>
              <a:rPr sz="1350" u="sng" spc="-45" dirty="0">
                <a:solidFill>
                  <a:srgbClr val="852F2F"/>
                </a:solidFill>
                <a:uFill>
                  <a:solidFill>
                    <a:srgbClr val="703B3B"/>
                  </a:solidFill>
                </a:uFill>
                <a:latin typeface="Arial"/>
                <a:cs typeface="Arial"/>
                <a:hlinkClick r:id="rId8"/>
              </a:rPr>
              <a:t>http://www.onjava.com/pub/a/webservices/2002/03/12/jxta.html</a:t>
            </a:r>
            <a:endParaRPr sz="1350">
              <a:latin typeface="Arial"/>
              <a:cs typeface="Arial"/>
            </a:endParaRPr>
          </a:p>
          <a:p>
            <a:pPr marL="293370" indent="-245269">
              <a:lnSpc>
                <a:spcPts val="1583"/>
              </a:lnSpc>
              <a:buClr>
                <a:srgbClr val="3D31BC"/>
              </a:buClr>
              <a:buChar char="•"/>
              <a:tabLst>
                <a:tab pos="293370" algn="l"/>
              </a:tabLst>
            </a:pPr>
            <a:r>
              <a:rPr sz="1350" u="sng" spc="-45" dirty="0">
                <a:solidFill>
                  <a:srgbClr val="8A3436"/>
                </a:solidFill>
                <a:uFill>
                  <a:solidFill>
                    <a:srgbClr val="703838"/>
                  </a:solidFill>
                </a:uFill>
                <a:latin typeface="Arial"/>
                <a:cs typeface="Arial"/>
              </a:rPr>
              <a:t>hEp://</a:t>
            </a:r>
            <a:r>
              <a:rPr sz="1350" u="sng" spc="-45" dirty="0">
                <a:solidFill>
                  <a:srgbClr val="8A3436"/>
                </a:solidFill>
                <a:uFill>
                  <a:solidFill>
                    <a:srgbClr val="703838"/>
                  </a:solidFill>
                </a:uFill>
                <a:latin typeface="Arial"/>
                <a:cs typeface="Arial"/>
                <a:hlinkClick r:id="rId9"/>
              </a:rPr>
              <a:t>www.openp2p.com/pub/a/p2p/2001/06/11/liponq.html</a:t>
            </a:r>
            <a:endParaRPr sz="1350">
              <a:latin typeface="Arial"/>
              <a:cs typeface="Arial"/>
            </a:endParaRPr>
          </a:p>
          <a:p>
            <a:pPr marL="293370" indent="-245269">
              <a:lnSpc>
                <a:spcPts val="1583"/>
              </a:lnSpc>
              <a:buClr>
                <a:srgbClr val="3B31C8"/>
              </a:buClr>
              <a:buChar char="•"/>
              <a:tabLst>
                <a:tab pos="293370" algn="l"/>
                <a:tab pos="3854768" algn="l"/>
              </a:tabLst>
            </a:pPr>
            <a:r>
              <a:rPr sz="1350" u="sng" spc="-30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0"/>
              </a:rPr>
              <a:t>http://www.openp2p.com/pub/a/p2p/2001/06/05</a:t>
            </a:r>
            <a:r>
              <a:rPr sz="2025" u="sng" spc="-45" baseline="-6172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0"/>
              </a:rPr>
              <a:t>/i</a:t>
            </a:r>
            <a:r>
              <a:rPr sz="2025" u="sng" baseline="-6172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	</a:t>
            </a:r>
            <a:r>
              <a:rPr sz="1350" u="sng" spc="-38" dirty="0">
                <a:solidFill>
                  <a:srgbClr val="893331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achat.html?paoe=</a:t>
            </a:r>
            <a:r>
              <a:rPr sz="1350" u="sng" spc="-38" dirty="0">
                <a:solidFill>
                  <a:srgbClr val="A1282F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  <a:p>
            <a:pPr marL="293370" indent="-245269">
              <a:lnSpc>
                <a:spcPts val="1601"/>
              </a:lnSpc>
              <a:buClr>
                <a:srgbClr val="463FC8"/>
              </a:buClr>
              <a:buChar char="•"/>
              <a:tabLst>
                <a:tab pos="293370" algn="l"/>
                <a:tab pos="3854768" algn="l"/>
              </a:tabLst>
            </a:pPr>
            <a:r>
              <a:rPr sz="1350" u="sng" spc="-30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  <a:hlinkClick r:id="rId11"/>
              </a:rPr>
              <a:t>http://www.openp2p.com/pub/a/p2p/2001/04/25</a:t>
            </a:r>
            <a:r>
              <a:rPr sz="2025" u="sng" spc="-45" baseline="-6172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  <a:hlinkClick r:id="rId11"/>
              </a:rPr>
              <a:t>/i</a:t>
            </a:r>
            <a:r>
              <a:rPr sz="2025" u="sng" baseline="-6172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	</a:t>
            </a:r>
            <a:r>
              <a:rPr sz="1350" u="sng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a</a:t>
            </a:r>
            <a:r>
              <a:rPr sz="1350" u="sng" spc="139" dirty="0">
                <a:solidFill>
                  <a:srgbClr val="8C3433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 </a:t>
            </a:r>
            <a:r>
              <a:rPr sz="1350" u="sng" spc="-23" dirty="0">
                <a:solidFill>
                  <a:srgbClr val="902D2A"/>
                </a:solidFill>
                <a:uFill>
                  <a:solidFill>
                    <a:srgbClr val="773834"/>
                  </a:solidFill>
                </a:uFill>
                <a:latin typeface="Arial"/>
                <a:cs typeface="Arial"/>
              </a:rPr>
              <a:t>position.html</a:t>
            </a:r>
            <a:endParaRPr sz="1350">
              <a:latin typeface="Arial"/>
              <a:cs typeface="Arial"/>
            </a:endParaRPr>
          </a:p>
          <a:p>
            <a:pPr marL="293846" indent="-245745">
              <a:lnSpc>
                <a:spcPts val="1560"/>
              </a:lnSpc>
              <a:buClr>
                <a:srgbClr val="3A2FB8"/>
              </a:buClr>
              <a:buChar char="•"/>
              <a:tabLst>
                <a:tab pos="293846" algn="l"/>
              </a:tabLst>
            </a:pPr>
            <a:r>
              <a:rPr sz="1313" u="sng" spc="-38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2"/>
              </a:rPr>
              <a:t>http://www.openp2p.com/pub/a/p2p/2001/06/06</a:t>
            </a:r>
            <a:r>
              <a:rPr sz="1969" u="sng" spc="-56" baseline="-6349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  <a:hlinkClick r:id="rId12"/>
              </a:rPr>
              <a:t>/1</a:t>
            </a:r>
            <a:r>
              <a:rPr sz="1969" u="sng" spc="539" baseline="-6349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 </a:t>
            </a:r>
            <a:r>
              <a:rPr sz="1313" u="sng" spc="-19" dirty="0">
                <a:solidFill>
                  <a:srgbClr val="7C342D"/>
                </a:solidFill>
                <a:uFill>
                  <a:solidFill>
                    <a:srgbClr val="743838"/>
                  </a:solidFill>
                </a:uFill>
                <a:latin typeface="Arial"/>
                <a:cs typeface="Arial"/>
              </a:rPr>
              <a:t>asearch.html</a:t>
            </a:r>
            <a:endParaRPr sz="1313">
              <a:latin typeface="Arial"/>
              <a:cs typeface="Arial"/>
            </a:endParaRPr>
          </a:p>
          <a:p>
            <a:pPr marL="293370" indent="-245269">
              <a:lnSpc>
                <a:spcPts val="1549"/>
              </a:lnSpc>
              <a:buClr>
                <a:srgbClr val="3F34C1"/>
              </a:buClr>
              <a:buChar char="•"/>
              <a:tabLst>
                <a:tab pos="293370" algn="l"/>
              </a:tabLst>
            </a:pPr>
            <a:r>
              <a:rPr sz="1350" u="sng" spc="-45" dirty="0">
                <a:solidFill>
                  <a:srgbClr val="87342B"/>
                </a:solidFill>
                <a:uFill>
                  <a:solidFill>
                    <a:srgbClr val="773838"/>
                  </a:solidFill>
                </a:uFill>
                <a:latin typeface="Arial"/>
                <a:cs typeface="Arial"/>
              </a:rPr>
              <a:t>htto://instantp2p.lxta.org/servlets/ProjectHome</a:t>
            </a:r>
            <a:endParaRPr sz="1350">
              <a:latin typeface="Arial"/>
              <a:cs typeface="Arial"/>
            </a:endParaRPr>
          </a:p>
          <a:p>
            <a:pPr marL="292894" indent="-245269">
              <a:lnSpc>
                <a:spcPts val="1654"/>
              </a:lnSpc>
              <a:buClr>
                <a:srgbClr val="3B38C1"/>
              </a:buClr>
              <a:buChar char="•"/>
              <a:tabLst>
                <a:tab pos="292894" algn="l"/>
                <a:tab pos="773906" algn="l"/>
                <a:tab pos="1724501" algn="l"/>
                <a:tab pos="3057525" algn="l"/>
                <a:tab pos="3694271" algn="l"/>
                <a:tab pos="4155758" algn="l"/>
              </a:tabLst>
            </a:pPr>
            <a:r>
              <a:rPr sz="1425" spc="-38" dirty="0">
                <a:solidFill>
                  <a:srgbClr val="82363B"/>
                </a:solidFill>
                <a:latin typeface="Arial"/>
                <a:cs typeface="Arial"/>
              </a:rPr>
              <a:t>h</a:t>
            </a:r>
            <a:r>
              <a:rPr sz="1425" dirty="0">
                <a:solidFill>
                  <a:srgbClr val="82363B"/>
                </a:solidFill>
                <a:latin typeface="Arial"/>
                <a:cs typeface="Arial"/>
              </a:rPr>
              <a:t>	</a:t>
            </a:r>
            <a:r>
              <a:rPr sz="1425" spc="-188" dirty="0">
                <a:solidFill>
                  <a:srgbClr val="972D33"/>
                </a:solidFill>
                <a:latin typeface="Arial"/>
                <a:cs typeface="Arial"/>
              </a:rPr>
              <a:t>ava</a:t>
            </a:r>
            <a:r>
              <a:rPr sz="1425" spc="60" dirty="0">
                <a:solidFill>
                  <a:srgbClr val="972D33"/>
                </a:solidFill>
                <a:latin typeface="Arial"/>
                <a:cs typeface="Arial"/>
              </a:rPr>
              <a:t> </a:t>
            </a:r>
            <a:r>
              <a:rPr sz="1425" spc="-176" dirty="0">
                <a:solidFill>
                  <a:srgbClr val="932A31"/>
                </a:solidFill>
                <a:latin typeface="Arial"/>
                <a:cs typeface="Arial"/>
              </a:rPr>
              <a:t>sun</a:t>
            </a:r>
            <a:r>
              <a:rPr sz="1425" spc="-8" dirty="0">
                <a:solidFill>
                  <a:srgbClr val="932A31"/>
                </a:solidFill>
                <a:latin typeface="Arial"/>
                <a:cs typeface="Arial"/>
              </a:rPr>
              <a:t> </a:t>
            </a:r>
            <a:r>
              <a:rPr sz="1425" spc="-19" dirty="0">
                <a:solidFill>
                  <a:srgbClr val="973F42"/>
                </a:solidFill>
                <a:latin typeface="Arial"/>
                <a:cs typeface="Arial"/>
              </a:rPr>
              <a:t>co</a:t>
            </a:r>
            <a:r>
              <a:rPr sz="1425" dirty="0">
                <a:solidFill>
                  <a:srgbClr val="973F42"/>
                </a:solidFill>
                <a:latin typeface="Arial"/>
                <a:cs typeface="Arial"/>
              </a:rPr>
              <a:t>	</a:t>
            </a:r>
            <a:r>
              <a:rPr sz="1425" spc="-131" dirty="0">
                <a:solidFill>
                  <a:srgbClr val="913F3B"/>
                </a:solidFill>
                <a:latin typeface="Arial"/>
                <a:cs typeface="Arial"/>
              </a:rPr>
              <a:t>eatu</a:t>
            </a:r>
            <a:r>
              <a:rPr sz="1425" spc="60" dirty="0">
                <a:solidFill>
                  <a:srgbClr val="913F3B"/>
                </a:solidFill>
                <a:latin typeface="Arial"/>
                <a:cs typeface="Arial"/>
              </a:rPr>
              <a:t> </a:t>
            </a:r>
            <a:r>
              <a:rPr sz="1425" spc="-180" dirty="0">
                <a:solidFill>
                  <a:srgbClr val="90363D"/>
                </a:solidFill>
                <a:latin typeface="Arial"/>
                <a:cs typeface="Arial"/>
              </a:rPr>
              <a:t>es</a:t>
            </a:r>
            <a:r>
              <a:rPr sz="1425" spc="86" dirty="0">
                <a:solidFill>
                  <a:srgbClr val="90363D"/>
                </a:solidFill>
                <a:latin typeface="Arial"/>
                <a:cs typeface="Arial"/>
              </a:rPr>
              <a:t> </a:t>
            </a:r>
            <a:r>
              <a:rPr sz="1425" spc="-143" dirty="0">
                <a:solidFill>
                  <a:srgbClr val="972831"/>
                </a:solidFill>
                <a:latin typeface="Arial"/>
                <a:cs typeface="Arial"/>
              </a:rPr>
              <a:t>2001</a:t>
            </a:r>
            <a:r>
              <a:rPr sz="1425" spc="-26" dirty="0">
                <a:solidFill>
                  <a:srgbClr val="972831"/>
                </a:solidFill>
                <a:latin typeface="Arial"/>
                <a:cs typeface="Arial"/>
              </a:rPr>
              <a:t> </a:t>
            </a:r>
            <a:r>
              <a:rPr sz="1425" spc="-19" dirty="0">
                <a:solidFill>
                  <a:srgbClr val="903138"/>
                </a:solidFill>
                <a:latin typeface="Arial"/>
                <a:cs typeface="Arial"/>
              </a:rPr>
              <a:t>02</a:t>
            </a:r>
            <a:r>
              <a:rPr sz="1425" dirty="0">
                <a:solidFill>
                  <a:srgbClr val="903138"/>
                </a:solidFill>
                <a:latin typeface="Arial"/>
                <a:cs typeface="Arial"/>
              </a:rPr>
              <a:t>	</a:t>
            </a:r>
            <a:r>
              <a:rPr sz="1425" dirty="0">
                <a:solidFill>
                  <a:srgbClr val="D45956"/>
                </a:solidFill>
                <a:latin typeface="Arial"/>
                <a:cs typeface="Arial"/>
              </a:rPr>
              <a:t>e</a:t>
            </a:r>
            <a:r>
              <a:rPr sz="1425" spc="105" dirty="0">
                <a:solidFill>
                  <a:srgbClr val="D45956"/>
                </a:solidFill>
                <a:latin typeface="Arial"/>
                <a:cs typeface="Arial"/>
              </a:rPr>
              <a:t> </a:t>
            </a:r>
            <a:r>
              <a:rPr sz="1425" dirty="0">
                <a:solidFill>
                  <a:srgbClr val="833634"/>
                </a:solidFill>
                <a:latin typeface="Arial"/>
                <a:cs typeface="Arial"/>
              </a:rPr>
              <a:t>ht</a:t>
            </a:r>
            <a:r>
              <a:rPr sz="1425" spc="-4" dirty="0">
                <a:solidFill>
                  <a:srgbClr val="833634"/>
                </a:solidFill>
                <a:latin typeface="Arial"/>
                <a:cs typeface="Arial"/>
              </a:rPr>
              <a:t>  </a:t>
            </a:r>
            <a:r>
              <a:rPr sz="1425" spc="-38" dirty="0">
                <a:solidFill>
                  <a:srgbClr val="753831"/>
                </a:solidFill>
                <a:latin typeface="Arial"/>
                <a:cs typeface="Arial"/>
              </a:rPr>
              <a:t>I</a:t>
            </a:r>
            <a:r>
              <a:rPr sz="1425" dirty="0">
                <a:solidFill>
                  <a:srgbClr val="753831"/>
                </a:solidFill>
                <a:latin typeface="Arial"/>
                <a:cs typeface="Arial"/>
              </a:rPr>
              <a:t>	</a:t>
            </a:r>
            <a:r>
              <a:rPr sz="1425" spc="-19" dirty="0">
                <a:solidFill>
                  <a:srgbClr val="993D46"/>
                </a:solidFill>
                <a:latin typeface="Arial"/>
                <a:cs typeface="Arial"/>
              </a:rPr>
              <a:t>on</a:t>
            </a:r>
            <a:r>
              <a:rPr sz="1425" dirty="0">
                <a:solidFill>
                  <a:srgbClr val="993D46"/>
                </a:solidFill>
                <a:latin typeface="Arial"/>
                <a:cs typeface="Arial"/>
              </a:rPr>
              <a:t>	</a:t>
            </a:r>
            <a:r>
              <a:rPr sz="1425" dirty="0">
                <a:solidFill>
                  <a:srgbClr val="97282F"/>
                </a:solidFill>
                <a:latin typeface="Arial"/>
                <a:cs typeface="Arial"/>
              </a:rPr>
              <a:t>e</a:t>
            </a:r>
            <a:r>
              <a:rPr sz="1425" spc="-101" dirty="0">
                <a:solidFill>
                  <a:srgbClr val="97282F"/>
                </a:solidFill>
                <a:latin typeface="Arial"/>
                <a:cs typeface="Arial"/>
              </a:rPr>
              <a:t> </a:t>
            </a:r>
            <a:r>
              <a:rPr sz="1425" spc="-64" dirty="0">
                <a:solidFill>
                  <a:srgbClr val="972A2A"/>
                </a:solidFill>
                <a:latin typeface="Arial"/>
                <a:cs typeface="Arial"/>
              </a:rPr>
              <a:t>ba</a:t>
            </a:r>
            <a:r>
              <a:rPr sz="1425" spc="90" dirty="0">
                <a:solidFill>
                  <a:srgbClr val="972A2A"/>
                </a:solidFill>
                <a:latin typeface="Arial"/>
                <a:cs typeface="Arial"/>
              </a:rPr>
              <a:t> </a:t>
            </a:r>
            <a:r>
              <a:rPr sz="1425" spc="-19" dirty="0">
                <a:solidFill>
                  <a:srgbClr val="7C363B"/>
                </a:solidFill>
                <a:latin typeface="Arial"/>
                <a:cs typeface="Arial"/>
              </a:rPr>
              <a:t>ner</a:t>
            </a:r>
            <a:endParaRPr sz="1425">
              <a:latin typeface="Arial"/>
              <a:cs typeface="Arial"/>
            </a:endParaRPr>
          </a:p>
          <a:p>
            <a:pPr marL="297656" indent="-249079">
              <a:spcBef>
                <a:spcPts val="60"/>
              </a:spcBef>
              <a:buClr>
                <a:srgbClr val="312FBD"/>
              </a:buClr>
              <a:buChar char="•"/>
              <a:tabLst>
                <a:tab pos="297656" algn="l"/>
              </a:tabLst>
            </a:pPr>
            <a:r>
              <a:rPr sz="1238" spc="-15" dirty="0">
                <a:solidFill>
                  <a:srgbClr val="3F3F3F"/>
                </a:solidFill>
                <a:latin typeface="Arial"/>
                <a:cs typeface="Arial"/>
                <a:hlinkClick r:id="rId13"/>
              </a:rPr>
              <a:t>www.sce.carIeton.ca/netmanage/papers/WhiteJuIy2001.ppt</a:t>
            </a:r>
            <a:endParaRPr sz="1238">
              <a:latin typeface="Arial"/>
              <a:cs typeface="Arial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F739AA-D6FC-2953-380A-FD5BF79A6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1166" y="743397"/>
            <a:ext cx="2330648" cy="790277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2054233" y="747452"/>
            <a:ext cx="4439126" cy="543899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3450" spc="-75" dirty="0">
                <a:solidFill>
                  <a:srgbClr val="3B3387"/>
                </a:solidFill>
                <a:latin typeface="Arial"/>
                <a:cs typeface="Arial"/>
              </a:rPr>
              <a:t>Thank</a:t>
            </a:r>
            <a:r>
              <a:rPr sz="3450" spc="45" dirty="0">
                <a:solidFill>
                  <a:srgbClr val="3B3387"/>
                </a:solidFill>
                <a:latin typeface="Arial"/>
                <a:cs typeface="Arial"/>
              </a:rPr>
              <a:t> </a:t>
            </a:r>
            <a:r>
              <a:rPr sz="3450" spc="-330" dirty="0">
                <a:solidFill>
                  <a:srgbClr val="34318E"/>
                </a:solidFill>
                <a:latin typeface="Arial"/>
                <a:cs typeface="Arial"/>
              </a:rPr>
              <a:t>You</a:t>
            </a:r>
            <a:r>
              <a:rPr sz="3450" spc="90" dirty="0">
                <a:solidFill>
                  <a:srgbClr val="34318E"/>
                </a:solidFill>
                <a:latin typeface="Arial"/>
                <a:cs typeface="Arial"/>
              </a:rPr>
              <a:t> </a:t>
            </a:r>
            <a:r>
              <a:rPr sz="3450" spc="-244" dirty="0">
                <a:solidFill>
                  <a:srgbClr val="3A3490"/>
                </a:solidFill>
                <a:latin typeface="Arial"/>
                <a:cs typeface="Arial"/>
              </a:rPr>
              <a:t>For</a:t>
            </a:r>
            <a:r>
              <a:rPr sz="3450" spc="143" dirty="0">
                <a:solidFill>
                  <a:srgbClr val="3A3490"/>
                </a:solidFill>
                <a:latin typeface="Arial"/>
                <a:cs typeface="Arial"/>
              </a:rPr>
              <a:t> </a:t>
            </a:r>
            <a:r>
              <a:rPr sz="3450" spc="-113" dirty="0">
                <a:solidFill>
                  <a:srgbClr val="2F2F8C"/>
                </a:solidFill>
                <a:latin typeface="Arial"/>
                <a:cs typeface="Arial"/>
              </a:rPr>
              <a:t>Listening</a:t>
            </a:r>
            <a:endParaRPr sz="3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3589" y="1735483"/>
            <a:ext cx="2056924" cy="2030685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 marL="9525" marR="3810" algn="ctr">
              <a:lnSpc>
                <a:spcPct val="132000"/>
              </a:lnSpc>
              <a:spcBef>
                <a:spcPts val="68"/>
              </a:spcBef>
            </a:pPr>
            <a:r>
              <a:rPr sz="3413" spc="-109" dirty="0">
                <a:latin typeface="Calibri"/>
                <a:cs typeface="Calibri"/>
              </a:rPr>
              <a:t>Amit</a:t>
            </a:r>
            <a:r>
              <a:rPr sz="3413" spc="-79" dirty="0">
                <a:latin typeface="Calibri"/>
                <a:cs typeface="Calibri"/>
              </a:rPr>
              <a:t> </a:t>
            </a:r>
            <a:r>
              <a:rPr sz="3413" spc="-217" dirty="0">
                <a:latin typeface="Calibri"/>
                <a:cs typeface="Calibri"/>
              </a:rPr>
              <a:t>Minhas </a:t>
            </a:r>
            <a:r>
              <a:rPr sz="3413" dirty="0">
                <a:latin typeface="Calibri"/>
                <a:cs typeface="Calibri"/>
              </a:rPr>
              <a:t>Kris</a:t>
            </a:r>
            <a:r>
              <a:rPr sz="3413" spc="-109" dirty="0">
                <a:latin typeface="Calibri"/>
                <a:cs typeface="Calibri"/>
              </a:rPr>
              <a:t> </a:t>
            </a:r>
            <a:r>
              <a:rPr sz="3413" spc="-15" dirty="0">
                <a:latin typeface="Calibri"/>
                <a:cs typeface="Calibri"/>
              </a:rPr>
              <a:t>Read </a:t>
            </a:r>
            <a:r>
              <a:rPr sz="3413" spc="-26" dirty="0">
                <a:latin typeface="Calibri"/>
                <a:cs typeface="Calibri"/>
              </a:rPr>
              <a:t>Ryan</a:t>
            </a:r>
            <a:r>
              <a:rPr sz="3413" spc="-124" dirty="0">
                <a:latin typeface="Calibri"/>
                <a:cs typeface="Calibri"/>
              </a:rPr>
              <a:t> </a:t>
            </a:r>
            <a:r>
              <a:rPr sz="3413" spc="-34" dirty="0">
                <a:latin typeface="Calibri"/>
                <a:cs typeface="Calibri"/>
              </a:rPr>
              <a:t>Peters</a:t>
            </a:r>
            <a:endParaRPr sz="3413">
              <a:latin typeface="Calibri"/>
              <a:cs typeface="Calibri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C01EF6-3DED-B960-1010-5047BEF16A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54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2818</TotalTime>
  <Words>3214</Words>
  <Application>Microsoft Office PowerPoint</Application>
  <PresentationFormat>全屏显示(16:9)</PresentationFormat>
  <Paragraphs>389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1" baseType="lpstr">
      <vt:lpstr>MS Sans Serif</vt:lpstr>
      <vt:lpstr>Arial</vt:lpstr>
      <vt:lpstr>Calibri</vt:lpstr>
      <vt:lpstr>Symbol</vt:lpstr>
      <vt:lpstr>Times New Roman</vt:lpstr>
      <vt:lpstr>Wingdings</vt:lpstr>
      <vt:lpstr>NTHU UniCloud</vt:lpstr>
      <vt:lpstr>CSC6032 – Advanced Operating Systems Peer-to-Peer Systems</vt:lpstr>
      <vt:lpstr>Outline</vt:lpstr>
      <vt:lpstr>A Basic Definition of P2P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P2P Will Not Solve World Hunger</vt:lpstr>
      <vt:lpstr>What is JXTA</vt:lpstr>
      <vt:lpstr>What Does JXTA Mean</vt:lpstr>
      <vt:lpstr>The JXTA Model</vt:lpstr>
      <vt:lpstr>Who is Responsible for JXTA</vt:lpstr>
      <vt:lpstr>Why JXTA</vt:lpstr>
      <vt:lpstr>What is JXTA for?</vt:lpstr>
      <vt:lpstr>What Programming Language and Protocol</vt:lpstr>
      <vt:lpstr>What is the state of JXTA</vt:lpstr>
      <vt:lpstr>The JXTA Model (IMAGE)</vt:lpstr>
      <vt:lpstr>Peers</vt:lpstr>
      <vt:lpstr>Peers Groups</vt:lpstr>
      <vt:lpstr>Peer Pipes</vt:lpstr>
      <vt:lpstr>Peer Monitoring</vt:lpstr>
      <vt:lpstr>Services</vt:lpstr>
      <vt:lpstr>Advertisements</vt:lpstr>
      <vt:lpstr>Messages</vt:lpstr>
      <vt:lpstr>XNL Format</vt:lpstr>
      <vt:lpstr>JXTA Protocols</vt:lpstr>
      <vt:lpstr>JXTA Applications</vt:lpstr>
      <vt:lpstr>JXTA Security</vt:lpstr>
      <vt:lpstr>JXTA Firewall Routing Services</vt:lpstr>
      <vt:lpstr>The JXTA Shell</vt:lpstr>
      <vt:lpstr>Producer</vt:lpstr>
      <vt:lpstr>Building our Peer Existence Adve1isement</vt:lpstr>
      <vt:lpstr>Buiiding our Service Advertisement</vt:lpstr>
      <vt:lpstr>Buiiding our Service Advertisement (2)</vt:lpstr>
      <vt:lpstr>The Service i Action</vt:lpstr>
      <vt:lpstr>Consumer: Creating the Objects</vt:lpstr>
      <vt:lpstr>Looking up a Service Adve1isement</vt:lpstr>
      <vt:lpstr>Finding the Pipe Advertisement</vt:lpstr>
      <vt:lpstr>Using the Pipe Advertisement</vt:lpstr>
      <vt:lpstr>Sending a Message</vt:lpstr>
      <vt:lpstr>JXTA Wrap-Up</vt:lpstr>
      <vt:lpstr>JXTA and Other Technologies</vt:lpstr>
      <vt:lpstr>JXTA / HAILSTORM (.NET)</vt:lpstr>
      <vt:lpstr>PowerPoint 演示文稿</vt:lpstr>
      <vt:lpstr>The Future of JXTA</vt:lpstr>
      <vt:lpstr>Presentation Summary</vt:lpstr>
      <vt:lpstr>References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312</cp:revision>
  <dcterms:created xsi:type="dcterms:W3CDTF">2015-06-05T07:23:35Z</dcterms:created>
  <dcterms:modified xsi:type="dcterms:W3CDTF">2026-09-26T21:27:07Z</dcterms:modified>
</cp:coreProperties>
</file>